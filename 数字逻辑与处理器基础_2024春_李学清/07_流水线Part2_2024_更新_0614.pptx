
<file path=[Content_Types].xml><?xml version="1.0" encoding="utf-8"?>
<Types xmlns="http://schemas.openxmlformats.org/package/2006/content-types">
  <Default Extension="png" ContentType="image/png"/>
  <Default Extension="tmp" ContentType="image/png"/>
  <Default Extension="emf" ContentType="image/x-emf"/>
  <Default Extension="wmf" ContentType="image/x-wmf"/>
  <Default Extension="jpeg" ContentType="image/jpeg"/>
  <Default Extension="rels" ContentType="application/vnd.openxmlformats-package.relationships+xml"/>
  <Default Extension="xml" ContentType="application/xml"/>
  <Default Extension="jpg" ContentType="image/jpeg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Masters/slideMaster2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0.xml" ContentType="application/vnd.openxmlformats-officedocument.presentationml.slide+xml"/>
  <Override PartName="/ppt/slides/slide51.xml" ContentType="application/vnd.openxmlformats-officedocument.presentationml.slide+xml"/>
  <Override PartName="/ppt/slides/slide52.xml" ContentType="application/vnd.openxmlformats-officedocument.presentationml.slide+xml"/>
  <Override PartName="/ppt/slides/slide53.xml" ContentType="application/vnd.openxmlformats-officedocument.presentationml.slide+xml"/>
  <Override PartName="/ppt/slides/slide54.xml" ContentType="application/vnd.openxmlformats-officedocument.presentationml.slide+xml"/>
  <Override PartName="/ppt/slides/slide55.xml" ContentType="application/vnd.openxmlformats-officedocument.presentationml.slide+xml"/>
  <Override PartName="/ppt/slides/slide56.xml" ContentType="application/vnd.openxmlformats-officedocument.presentationml.slide+xml"/>
  <Override PartName="/ppt/slides/slide57.xml" ContentType="application/vnd.openxmlformats-officedocument.presentationml.slide+xml"/>
  <Override PartName="/ppt/slides/slide58.xml" ContentType="application/vnd.openxmlformats-officedocument.presentationml.slide+xml"/>
  <Override PartName="/ppt/slides/slide59.xml" ContentType="application/vnd.openxmlformats-officedocument.presentationml.slide+xml"/>
  <Override PartName="/ppt/slides/slide60.xml" ContentType="application/vnd.openxmlformats-officedocument.presentationml.slide+xml"/>
  <Override PartName="/ppt/slides/slide61.xml" ContentType="application/vnd.openxmlformats-officedocument.presentationml.slide+xml"/>
  <Override PartName="/ppt/slides/slide62.xml" ContentType="application/vnd.openxmlformats-officedocument.presentationml.slide+xml"/>
  <Override PartName="/ppt/slides/slide63.xml" ContentType="application/vnd.openxmlformats-officedocument.presentationml.slide+xml"/>
  <Override PartName="/ppt/slides/slide64.xml" ContentType="application/vnd.openxmlformats-officedocument.presentationml.slide+xml"/>
  <Override PartName="/ppt/slides/slide65.xml" ContentType="application/vnd.openxmlformats-officedocument.presentationml.slide+xml"/>
  <Override PartName="/ppt/slides/slide66.xml" ContentType="application/vnd.openxmlformats-officedocument.presentationml.slide+xml"/>
  <Override PartName="/ppt/slides/slide67.xml" ContentType="application/vnd.openxmlformats-officedocument.presentationml.slide+xml"/>
  <Override PartName="/ppt/slides/slide68.xml" ContentType="application/vnd.openxmlformats-officedocument.presentationml.slide+xml"/>
  <Override PartName="/ppt/slides/slide69.xml" ContentType="application/vnd.openxmlformats-officedocument.presentationml.slide+xml"/>
  <Override PartName="/ppt/slides/slide70.xml" ContentType="application/vnd.openxmlformats-officedocument.presentationml.slide+xml"/>
  <Override PartName="/ppt/slides/slide71.xml" ContentType="application/vnd.openxmlformats-officedocument.presentationml.slide+xml"/>
  <Override PartName="/ppt/slides/slide72.xml" ContentType="application/vnd.openxmlformats-officedocument.presentationml.slide+xml"/>
  <Override PartName="/ppt/slides/slide73.xml" ContentType="application/vnd.openxmlformats-officedocument.presentationml.slide+xml"/>
  <Override PartName="/ppt/slides/slide74.xml" ContentType="application/vnd.openxmlformats-officedocument.presentationml.slide+xml"/>
  <Override PartName="/ppt/slides/slide75.xml" ContentType="application/vnd.openxmlformats-officedocument.presentationml.slide+xml"/>
  <Override PartName="/ppt/slides/slide76.xml" ContentType="application/vnd.openxmlformats-officedocument.presentationml.slide+xml"/>
  <Override PartName="/ppt/slides/slide77.xml" ContentType="application/vnd.openxmlformats-officedocument.presentationml.slide+xml"/>
  <Override PartName="/ppt/slides/slide78.xml" ContentType="application/vnd.openxmlformats-officedocument.presentationml.slide+xml"/>
  <Override PartName="/ppt/slides/slide79.xml" ContentType="application/vnd.openxmlformats-officedocument.presentationml.slide+xml"/>
  <Override PartName="/ppt/slides/slide80.xml" ContentType="application/vnd.openxmlformats-officedocument.presentationml.slide+xml"/>
  <Override PartName="/ppt/slides/slide81.xml" ContentType="application/vnd.openxmlformats-officedocument.presentationml.slide+xml"/>
  <Override PartName="/ppt/slides/slide82.xml" ContentType="application/vnd.openxmlformats-officedocument.presentationml.slide+xml"/>
  <Override PartName="/ppt/slides/slide83.xml" ContentType="application/vnd.openxmlformats-officedocument.presentationml.slide+xml"/>
  <Override PartName="/ppt/slides/slide84.xml" ContentType="application/vnd.openxmlformats-officedocument.presentationml.slide+xml"/>
  <Override PartName="/ppt/slides/slide85.xml" ContentType="application/vnd.openxmlformats-officedocument.presentationml.slide+xml"/>
  <Override PartName="/ppt/slides/slide86.xml" ContentType="application/vnd.openxmlformats-officedocument.presentationml.slide+xml"/>
  <Override PartName="/ppt/slides/slide87.xml" ContentType="application/vnd.openxmlformats-officedocument.presentationml.slide+xml"/>
  <Override PartName="/ppt/slides/slide88.xml" ContentType="application/vnd.openxmlformats-officedocument.presentationml.slide+xml"/>
  <Override PartName="/ppt/slides/slide89.xml" ContentType="application/vnd.openxmlformats-officedocument.presentationml.slide+xml"/>
  <Override PartName="/ppt/slides/slide90.xml" ContentType="application/vnd.openxmlformats-officedocument.presentationml.slide+xml"/>
  <Override PartName="/ppt/slides/slide91.xml" ContentType="application/vnd.openxmlformats-officedocument.presentationml.slide+xml"/>
  <Override PartName="/ppt/slides/slide92.xml" ContentType="application/vnd.openxmlformats-officedocument.presentationml.slide+xml"/>
  <Override PartName="/ppt/slides/slide93.xml" ContentType="application/vnd.openxmlformats-officedocument.presentationml.slide+xml"/>
  <Override PartName="/ppt/slides/slide94.xml" ContentType="application/vnd.openxmlformats-officedocument.presentationml.slide+xml"/>
  <Override PartName="/ppt/slides/slide95.xml" ContentType="application/vnd.openxmlformats-officedocument.presentationml.slide+xml"/>
  <Override PartName="/ppt/slides/slide96.xml" ContentType="application/vnd.openxmlformats-officedocument.presentationml.slide+xml"/>
  <Override PartName="/ppt/slides/slide97.xml" ContentType="application/vnd.openxmlformats-officedocument.presentationml.slide+xml"/>
  <Override PartName="/ppt/slides/slide98.xml" ContentType="application/vnd.openxmlformats-officedocument.presentationml.slide+xml"/>
  <Override PartName="/ppt/slides/slide99.xml" ContentType="application/vnd.openxmlformats-officedocument.presentationml.slide+xml"/>
  <Override PartName="/ppt/slides/slide100.xml" ContentType="application/vnd.openxmlformats-officedocument.presentationml.slide+xml"/>
  <Override PartName="/ppt/slides/slide101.xml" ContentType="application/vnd.openxmlformats-officedocument.presentationml.slide+xml"/>
  <Override PartName="/ppt/slides/slide102.xml" ContentType="application/vnd.openxmlformats-officedocument.presentationml.slide+xml"/>
  <Override PartName="/ppt/slides/slide103.xml" ContentType="application/vnd.openxmlformats-officedocument.presentationml.slide+xml"/>
  <Override PartName="/ppt/slides/slide104.xml" ContentType="application/vnd.openxmlformats-officedocument.presentationml.slide+xml"/>
  <Override PartName="/ppt/slides/slide105.xml" ContentType="application/vnd.openxmlformats-officedocument.presentationml.slide+xml"/>
  <Override PartName="/ppt/slides/slide106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17.xml" ContentType="application/vnd.openxmlformats-officedocument.presentationml.slideLayout+xml"/>
  <Override PartName="/ppt/slideLayouts/slideLayout18.xml" ContentType="application/vnd.openxmlformats-officedocument.presentationml.slideLayout+xml"/>
  <Override PartName="/ppt/slideLayouts/slideLayout19.xml" ContentType="application/vnd.openxmlformats-officedocument.presentationml.slideLayout+xml"/>
  <Override PartName="/ppt/slideLayouts/slideLayout20.xml" ContentType="application/vnd.openxmlformats-officedocument.presentationml.slideLayout+xml"/>
  <Override PartName="/ppt/slideLayouts/slideLayout21.xml" ContentType="application/vnd.openxmlformats-officedocument.presentationml.slideLayout+xml"/>
  <Override PartName="/ppt/slideLayouts/slideLayout22.xml" ContentType="application/vnd.openxmlformats-officedocument.presentationml.slideLayout+xml"/>
  <Override PartName="/ppt/slideLayouts/slideLayout23.xml" ContentType="application/vnd.openxmlformats-officedocument.presentationml.slideLayout+xml"/>
  <Override PartName="/ppt/slideLayouts/slideLayout24.xml" ContentType="application/vnd.openxmlformats-officedocument.presentationml.slideLayout+xml"/>
  <Override PartName="/ppt/slideLayouts/slideLayout25.xml" ContentType="application/vnd.openxmlformats-officedocument.presentationml.slideLayout+xml"/>
  <Override PartName="/ppt/slideLayouts/slideLayout26.xml" ContentType="application/vnd.openxmlformats-officedocument.presentationml.slideLayout+xml"/>
  <Override PartName="/ppt/theme/theme2.xml" ContentType="application/vnd.openxmlformats-officedocument.theme+xml"/>
  <Override PartName="/ppt/theme/theme3.xml" ContentType="application/vnd.openxmlformats-officedocument.theme+xml"/>
  <Override PartName="/ppt/notesSlides/notesSlide1.xml" ContentType="application/vnd.openxmlformats-officedocument.presentationml.notesSlide+xml"/>
  <Override PartName="/ppt/ink/ink1.xml" ContentType="application/inkml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ink/ink2.xml" ContentType="application/inkml+xml"/>
  <Override PartName="/ppt/notesSlides/notesSlide8.xml" ContentType="application/vnd.openxmlformats-officedocument.presentationml.notesSlide+xml"/>
  <Override PartName="/ppt/ink/ink3.xml" ContentType="application/inkml+xml"/>
  <Override PartName="/ppt/notesSlides/notesSlide9.xml" ContentType="application/vnd.openxmlformats-officedocument.presentationml.notesSlide+xml"/>
  <Override PartName="/ppt/notesSlides/notesSlide10.xml" ContentType="application/vnd.openxmlformats-officedocument.presentationml.notesSlide+xml"/>
  <Override PartName="/ppt/notesSlides/notesSlide11.xml" ContentType="application/vnd.openxmlformats-officedocument.presentationml.notesSlide+xml"/>
  <Override PartName="/ppt/notesSlides/notesSlide12.xml" ContentType="application/vnd.openxmlformats-officedocument.presentationml.notesSlide+xml"/>
  <Override PartName="/ppt/ink/ink4.xml" ContentType="application/inkml+xml"/>
  <Override PartName="/ppt/ink/ink5.xml" ContentType="application/inkml+xml"/>
  <Override PartName="/ppt/notesSlides/notesSlide13.xml" ContentType="application/vnd.openxmlformats-officedocument.presentationml.notesSlide+xml"/>
  <Override PartName="/ppt/ink/ink6.xml" ContentType="application/inkml+xml"/>
  <Override PartName="/ppt/ink/ink7.xml" ContentType="application/inkml+xml"/>
  <Override PartName="/ppt/notesSlides/notesSlide14.xml" ContentType="application/vnd.openxmlformats-officedocument.presentationml.notesSlide+xml"/>
  <Override PartName="/ppt/ink/ink8.xml" ContentType="application/inkml+xml"/>
  <Override PartName="/ppt/notesSlides/notesSlide15.xml" ContentType="application/vnd.openxmlformats-officedocument.presentationml.notesSlide+xml"/>
  <Override PartName="/ppt/ink/ink9.xml" ContentType="application/inkml+xml"/>
  <Override PartName="/ppt/notesSlides/notesSlide16.xml" ContentType="application/vnd.openxmlformats-officedocument.presentationml.notesSlide+xml"/>
  <Override PartName="/ppt/ink/ink10.xml" ContentType="application/inkml+xml"/>
  <Override PartName="/ppt/ink/ink11.xml" ContentType="application/inkml+xml"/>
  <Override PartName="/ppt/notesSlides/notesSlide17.xml" ContentType="application/vnd.openxmlformats-officedocument.presentationml.notesSlide+xml"/>
  <Override PartName="/ppt/tags/tag1.xml" ContentType="application/vnd.openxmlformats-officedocument.presentationml.tags+xml"/>
  <Override PartName="/ppt/tags/tag2.xml" ContentType="application/vnd.openxmlformats-officedocument.presentationml.tags+xml"/>
  <Override PartName="/ppt/tags/tag3.xml" ContentType="application/vnd.openxmlformats-officedocument.presentationml.tags+xml"/>
  <Override PartName="/ppt/tags/tag4.xml" ContentType="application/vnd.openxmlformats-officedocument.presentationml.tags+xml"/>
  <Override PartName="/ppt/tags/tag5.xml" ContentType="application/vnd.openxmlformats-officedocument.presentationml.tags+xml"/>
  <Override PartName="/ppt/tags/tag6.xml" ContentType="application/vnd.openxmlformats-officedocument.presentationml.tags+xml"/>
  <Override PartName="/ppt/tags/tag7.xml" ContentType="application/vnd.openxmlformats-officedocument.presentationml.tags+xml"/>
  <Override PartName="/ppt/tags/tag8.xml" ContentType="application/vnd.openxmlformats-officedocument.presentationml.tags+xml"/>
  <Override PartName="/ppt/tags/tag9.xml" ContentType="application/vnd.openxmlformats-officedocument.presentationml.tags+xml"/>
  <Override PartName="/ppt/tags/tag10.xml" ContentType="application/vnd.openxmlformats-officedocument.presentationml.tags+xml"/>
  <Override PartName="/ppt/tags/tag11.xml" ContentType="application/vnd.openxmlformats-officedocument.presentationml.tags+xml"/>
  <Override PartName="/ppt/tags/tag12.xml" ContentType="application/vnd.openxmlformats-officedocument.presentationml.tags+xml"/>
  <Override PartName="/ppt/tags/tag13.xml" ContentType="application/vnd.openxmlformats-officedocument.presentationml.tags+xml"/>
  <Override PartName="/ppt/tags/tag14.xml" ContentType="application/vnd.openxmlformats-officedocument.presentationml.tags+xml"/>
  <Override PartName="/ppt/tags/tag15.xml" ContentType="application/vnd.openxmlformats-officedocument.presentationml.tags+xml"/>
  <Override PartName="/ppt/notesSlides/notesSlide18.xml" ContentType="application/vnd.openxmlformats-officedocument.presentationml.notesSlide+xml"/>
  <Override PartName="/ppt/notesSlides/notesSlide19.xml" ContentType="application/vnd.openxmlformats-officedocument.presentationml.notesSlide+xml"/>
  <Override PartName="/ppt/notesSlides/notesSlide20.xml" ContentType="application/vnd.openxmlformats-officedocument.presentationml.notesSlide+xml"/>
  <Override PartName="/ppt/ink/ink12.xml" ContentType="application/inkml+xml"/>
  <Override PartName="/ppt/ink/ink13.xml" ContentType="application/inkml+xml"/>
  <Override PartName="/ppt/ink/ink14.xml" ContentType="application/inkml+xml"/>
  <Override PartName="/ppt/ink/ink15.xml" ContentType="application/inkml+xml"/>
  <Override PartName="/ppt/notesSlides/notesSlide21.xml" ContentType="application/vnd.openxmlformats-officedocument.presentationml.notesSlide+xml"/>
  <Override PartName="/ppt/ink/ink16.xml" ContentType="application/inkml+xml"/>
  <Override PartName="/ppt/tags/tag16.xml" ContentType="application/vnd.openxmlformats-officedocument.presentationml.tags+xml"/>
  <Override PartName="/ppt/tags/tag17.xml" ContentType="application/vnd.openxmlformats-officedocument.presentationml.tags+xml"/>
  <Override PartName="/ppt/tags/tag18.xml" ContentType="application/vnd.openxmlformats-officedocument.presentationml.tags+xml"/>
  <Override PartName="/ppt/tags/tag19.xml" ContentType="application/vnd.openxmlformats-officedocument.presentationml.tags+xml"/>
  <Override PartName="/ppt/tags/tag20.xml" ContentType="application/vnd.openxmlformats-officedocument.presentationml.tags+xml"/>
  <Override PartName="/ppt/tags/tag21.xml" ContentType="application/vnd.openxmlformats-officedocument.presentationml.tags+xml"/>
  <Override PartName="/ppt/tags/tag22.xml" ContentType="application/vnd.openxmlformats-officedocument.presentationml.tags+xml"/>
  <Override PartName="/ppt/tags/tag23.xml" ContentType="application/vnd.openxmlformats-officedocument.presentationml.tags+xml"/>
  <Override PartName="/ppt/tags/tag24.xml" ContentType="application/vnd.openxmlformats-officedocument.presentationml.tags+xml"/>
  <Override PartName="/ppt/tags/tag25.xml" ContentType="application/vnd.openxmlformats-officedocument.presentationml.tags+xml"/>
  <Override PartName="/ppt/tags/tag26.xml" ContentType="application/vnd.openxmlformats-officedocument.presentationml.tags+xml"/>
  <Override PartName="/ppt/tags/tag27.xml" ContentType="application/vnd.openxmlformats-officedocument.presentationml.tags+xml"/>
  <Override PartName="/ppt/tags/tag28.xml" ContentType="application/vnd.openxmlformats-officedocument.presentationml.tags+xml"/>
  <Override PartName="/ppt/tags/tag29.xml" ContentType="application/vnd.openxmlformats-officedocument.presentationml.tags+xml"/>
  <Override PartName="/ppt/tags/tag30.xml" ContentType="application/vnd.openxmlformats-officedocument.presentationml.tags+xml"/>
  <Override PartName="/ppt/tags/tag31.xml" ContentType="application/vnd.openxmlformats-officedocument.presentationml.tags+xml"/>
  <Override PartName="/ppt/tags/tag32.xml" ContentType="application/vnd.openxmlformats-officedocument.presentationml.tags+xml"/>
  <Override PartName="/ppt/ink/ink17.xml" ContentType="application/inkml+xml"/>
  <Override PartName="/ppt/notesSlides/notesSlide22.xml" ContentType="application/vnd.openxmlformats-officedocument.presentationml.notesSlide+xml"/>
  <Override PartName="/ppt/notesSlides/notesSlide23.xml" ContentType="application/vnd.openxmlformats-officedocument.presentationml.notesSlide+xml"/>
  <Override PartName="/ppt/notesSlides/notesSlide24.xml" ContentType="application/vnd.openxmlformats-officedocument.presentationml.notesSlide+xml"/>
  <Override PartName="/ppt/notesSlides/notesSlide25.xml" ContentType="application/vnd.openxmlformats-officedocument.presentationml.notesSlide+xml"/>
  <Override PartName="/ppt/notesSlides/notesSlide26.xml" ContentType="application/vnd.openxmlformats-officedocument.presentationml.notesSlide+xml"/>
  <Override PartName="/ppt/notesSlides/notesSlide27.xml" ContentType="application/vnd.openxmlformats-officedocument.presentationml.notesSlide+xml"/>
  <Override PartName="/ppt/notesSlides/notesSlide28.xml" ContentType="application/vnd.openxmlformats-officedocument.presentationml.notesSlide+xml"/>
  <Override PartName="/ppt/notesSlides/notesSlide29.xml" ContentType="application/vnd.openxmlformats-officedocument.presentationml.notesSlide+xml"/>
  <Override PartName="/ppt/notesSlides/notesSlide30.xml" ContentType="application/vnd.openxmlformats-officedocument.presentationml.notesSlide+xml"/>
  <Override PartName="/ppt/notesSlides/notesSlide31.xml" ContentType="application/vnd.openxmlformats-officedocument.presentationml.notesSlide+xml"/>
  <Override PartName="/ppt/notesSlides/notesSlide32.xml" ContentType="application/vnd.openxmlformats-officedocument.presentationml.notesSlide+xml"/>
  <Override PartName="/ppt/notesSlides/notesSlide33.xml" ContentType="application/vnd.openxmlformats-officedocument.presentationml.notesSlide+xml"/>
  <Override PartName="/ppt/notesSlides/notesSlide34.xml" ContentType="application/vnd.openxmlformats-officedocument.presentationml.notesSlide+xml"/>
  <Override PartName="/ppt/notesSlides/notesSlide35.xml" ContentType="application/vnd.openxmlformats-officedocument.presentationml.notesSlide+xml"/>
  <Override PartName="/ppt/notesSlides/notesSlide36.xml" ContentType="application/vnd.openxmlformats-officedocument.presentationml.notesSlide+xml"/>
  <Override PartName="/ppt/notesSlides/notesSlide37.xml" ContentType="application/vnd.openxmlformats-officedocument.presentationml.notesSlide+xml"/>
  <Override PartName="/ppt/notesSlides/notesSlide38.xml" ContentType="application/vnd.openxmlformats-officedocument.presentationml.notesSlide+xml"/>
  <Override PartName="/ppt/notesSlides/notesSlide39.xml" ContentType="application/vnd.openxmlformats-officedocument.presentationml.notesSlide+xml"/>
  <Override PartName="/ppt/notesSlides/notesSlide40.xml" ContentType="application/vnd.openxmlformats-officedocument.presentationml.notesSlide+xml"/>
  <Override PartName="/ppt/ink/ink18.xml" ContentType="application/inkml+xml"/>
  <Override PartName="/ppt/notesSlides/notesSlide41.xml" ContentType="application/vnd.openxmlformats-officedocument.presentationml.notesSlide+xml"/>
  <Override PartName="/ppt/notesSlides/notesSlide42.xml" ContentType="application/vnd.openxmlformats-officedocument.presentationml.notesSlide+xml"/>
  <Override PartName="/ppt/ink/ink19.xml" ContentType="application/inkml+xml"/>
  <Override PartName="/ppt/notesSlides/notesSlide43.xml" ContentType="application/vnd.openxmlformats-officedocument.presentationml.notesSlide+xml"/>
  <Override PartName="/ppt/notesSlides/notesSlide44.xml" ContentType="application/vnd.openxmlformats-officedocument.presentationml.notesSlide+xml"/>
  <Override PartName="/ppt/ink/ink20.xml" ContentType="application/inkml+xml"/>
  <Override PartName="/ppt/notesSlides/notesSlide45.xml" ContentType="application/vnd.openxmlformats-officedocument.presentationml.notesSlide+xml"/>
  <Override PartName="/ppt/notesSlides/notesSlide46.xml" ContentType="application/vnd.openxmlformats-officedocument.presentationml.notesSlide+xml"/>
  <Override PartName="/ppt/notesSlides/notesSlide47.xml" ContentType="application/vnd.openxmlformats-officedocument.presentationml.notesSlide+xml"/>
  <Override PartName="/ppt/notesSlides/notesSlide48.xml" ContentType="application/vnd.openxmlformats-officedocument.presentationml.notesSlide+xml"/>
  <Override PartName="/ppt/notesSlides/notesSlide49.xml" ContentType="application/vnd.openxmlformats-officedocument.presentationml.notesSlide+xml"/>
  <Override PartName="/ppt/notesSlides/notesSlide50.xml" ContentType="application/vnd.openxmlformats-officedocument.presentationml.notesSlide+xml"/>
  <Override PartName="/ppt/notesSlides/notesSlide51.xml" ContentType="application/vnd.openxmlformats-officedocument.presentationml.notesSlide+xml"/>
  <Override PartName="/ppt/notesSlides/notesSlide52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howSpecialPlsOnTitleSld="0" saveSubsetFonts="1">
  <p:sldMasterIdLst>
    <p:sldMasterId id="2147483660" r:id="rId1"/>
    <p:sldMasterId id="2147483672" r:id="rId2"/>
  </p:sldMasterIdLst>
  <p:notesMasterIdLst>
    <p:notesMasterId r:id="rId109"/>
  </p:notesMasterIdLst>
  <p:sldIdLst>
    <p:sldId id="1939" r:id="rId3"/>
    <p:sldId id="1940" r:id="rId4"/>
    <p:sldId id="1938" r:id="rId5"/>
    <p:sldId id="1845" r:id="rId6"/>
    <p:sldId id="1870" r:id="rId7"/>
    <p:sldId id="1553" r:id="rId8"/>
    <p:sldId id="1786" r:id="rId9"/>
    <p:sldId id="600" r:id="rId10"/>
    <p:sldId id="1846" r:id="rId11"/>
    <p:sldId id="616" r:id="rId12"/>
    <p:sldId id="1862" r:id="rId13"/>
    <p:sldId id="620" r:id="rId14"/>
    <p:sldId id="1848" r:id="rId15"/>
    <p:sldId id="1849" r:id="rId16"/>
    <p:sldId id="621" r:id="rId17"/>
    <p:sldId id="1646" r:id="rId18"/>
    <p:sldId id="624" r:id="rId19"/>
    <p:sldId id="1810" r:id="rId20"/>
    <p:sldId id="1811" r:id="rId21"/>
    <p:sldId id="1936" r:id="rId22"/>
    <p:sldId id="628" r:id="rId23"/>
    <p:sldId id="1560" r:id="rId24"/>
    <p:sldId id="630" r:id="rId25"/>
    <p:sldId id="1937" r:id="rId26"/>
    <p:sldId id="631" r:id="rId27"/>
    <p:sldId id="1647" r:id="rId28"/>
    <p:sldId id="627" r:id="rId29"/>
    <p:sldId id="1867" r:id="rId30"/>
    <p:sldId id="1868" r:id="rId31"/>
    <p:sldId id="632" r:id="rId32"/>
    <p:sldId id="634" r:id="rId33"/>
    <p:sldId id="635" r:id="rId34"/>
    <p:sldId id="636" r:id="rId35"/>
    <p:sldId id="637" r:id="rId36"/>
    <p:sldId id="1648" r:id="rId37"/>
    <p:sldId id="651" r:id="rId38"/>
    <p:sldId id="1852" r:id="rId39"/>
    <p:sldId id="1271" r:id="rId40"/>
    <p:sldId id="1571" r:id="rId41"/>
    <p:sldId id="1272" r:id="rId42"/>
    <p:sldId id="1273" r:id="rId43"/>
    <p:sldId id="1274" r:id="rId44"/>
    <p:sldId id="1275" r:id="rId45"/>
    <p:sldId id="1276" r:id="rId46"/>
    <p:sldId id="1277" r:id="rId47"/>
    <p:sldId id="1286" r:id="rId48"/>
    <p:sldId id="1826" r:id="rId49"/>
    <p:sldId id="1572" r:id="rId50"/>
    <p:sldId id="1280" r:id="rId51"/>
    <p:sldId id="1281" r:id="rId52"/>
    <p:sldId id="1283" r:id="rId53"/>
    <p:sldId id="1284" r:id="rId54"/>
    <p:sldId id="1282" r:id="rId55"/>
    <p:sldId id="1637" r:id="rId56"/>
    <p:sldId id="1638" r:id="rId57"/>
    <p:sldId id="1855" r:id="rId58"/>
    <p:sldId id="1854" r:id="rId59"/>
    <p:sldId id="657" r:id="rId60"/>
    <p:sldId id="658" r:id="rId61"/>
    <p:sldId id="659" r:id="rId62"/>
    <p:sldId id="660" r:id="rId63"/>
    <p:sldId id="661" r:id="rId64"/>
    <p:sldId id="662" r:id="rId65"/>
    <p:sldId id="1287" r:id="rId66"/>
    <p:sldId id="1577" r:id="rId67"/>
    <p:sldId id="1213" r:id="rId68"/>
    <p:sldId id="1478" r:id="rId69"/>
    <p:sldId id="1479" r:id="rId70"/>
    <p:sldId id="1480" r:id="rId71"/>
    <p:sldId id="1481" r:id="rId72"/>
    <p:sldId id="1482" r:id="rId73"/>
    <p:sldId id="1483" r:id="rId74"/>
    <p:sldId id="1484" r:id="rId75"/>
    <p:sldId id="1485" r:id="rId76"/>
    <p:sldId id="664" r:id="rId77"/>
    <p:sldId id="1288" r:id="rId78"/>
    <p:sldId id="666" r:id="rId79"/>
    <p:sldId id="1576" r:id="rId80"/>
    <p:sldId id="667" r:id="rId81"/>
    <p:sldId id="668" r:id="rId82"/>
    <p:sldId id="1827" r:id="rId83"/>
    <p:sldId id="1828" r:id="rId84"/>
    <p:sldId id="1644" r:id="rId85"/>
    <p:sldId id="1642" r:id="rId86"/>
    <p:sldId id="1589" r:id="rId87"/>
    <p:sldId id="1829" r:id="rId88"/>
    <p:sldId id="671" r:id="rId89"/>
    <p:sldId id="1290" r:id="rId90"/>
    <p:sldId id="1830" r:id="rId91"/>
    <p:sldId id="672" r:id="rId92"/>
    <p:sldId id="673" r:id="rId93"/>
    <p:sldId id="674" r:id="rId94"/>
    <p:sldId id="675" r:id="rId95"/>
    <p:sldId id="676" r:id="rId96"/>
    <p:sldId id="677" r:id="rId97"/>
    <p:sldId id="1591" r:id="rId98"/>
    <p:sldId id="679" r:id="rId99"/>
    <p:sldId id="1864" r:id="rId100"/>
    <p:sldId id="1865" r:id="rId101"/>
    <p:sldId id="1538" r:id="rId102"/>
    <p:sldId id="1549" r:id="rId103"/>
    <p:sldId id="1809" r:id="rId104"/>
    <p:sldId id="1551" r:id="rId105"/>
    <p:sldId id="1587" r:id="rId106"/>
    <p:sldId id="1652" r:id="rId107"/>
    <p:sldId id="1598" r:id="rId108"/>
  </p:sldIdLst>
  <p:sldSz cx="9144000" cy="6858000" type="screen4x3"/>
  <p:notesSz cx="6858000" cy="9144000"/>
  <p:defaultTextStyle>
    <a:defPPr>
      <a:defRPr lang="zh-CN"/>
    </a:defPPr>
    <a:lvl1pPr algn="l" rtl="0" fontAlgn="base">
      <a:spcBef>
        <a:spcPct val="0"/>
      </a:spcBef>
      <a:spcAft>
        <a:spcPct val="0"/>
      </a:spcAft>
      <a:defRPr kern="1200">
        <a:solidFill>
          <a:schemeClr val="tx1"/>
        </a:solidFill>
        <a:latin typeface="Arial" charset="0"/>
        <a:ea typeface="宋体" charset="-122"/>
        <a:cs typeface="+mn-cs"/>
      </a:defRPr>
    </a:lvl1pPr>
    <a:lvl2pPr marL="457200" algn="l" rtl="0" fontAlgn="base">
      <a:spcBef>
        <a:spcPct val="0"/>
      </a:spcBef>
      <a:spcAft>
        <a:spcPct val="0"/>
      </a:spcAft>
      <a:defRPr kern="1200">
        <a:solidFill>
          <a:schemeClr val="tx1"/>
        </a:solidFill>
        <a:latin typeface="Arial" charset="0"/>
        <a:ea typeface="宋体" charset="-122"/>
        <a:cs typeface="+mn-cs"/>
      </a:defRPr>
    </a:lvl2pPr>
    <a:lvl3pPr marL="914400" algn="l" rtl="0" fontAlgn="base">
      <a:spcBef>
        <a:spcPct val="0"/>
      </a:spcBef>
      <a:spcAft>
        <a:spcPct val="0"/>
      </a:spcAft>
      <a:defRPr kern="1200">
        <a:solidFill>
          <a:schemeClr val="tx1"/>
        </a:solidFill>
        <a:latin typeface="Arial" charset="0"/>
        <a:ea typeface="宋体" charset="-122"/>
        <a:cs typeface="+mn-cs"/>
      </a:defRPr>
    </a:lvl3pPr>
    <a:lvl4pPr marL="1371600" algn="l" rtl="0" fontAlgn="base">
      <a:spcBef>
        <a:spcPct val="0"/>
      </a:spcBef>
      <a:spcAft>
        <a:spcPct val="0"/>
      </a:spcAft>
      <a:defRPr kern="1200">
        <a:solidFill>
          <a:schemeClr val="tx1"/>
        </a:solidFill>
        <a:latin typeface="Arial" charset="0"/>
        <a:ea typeface="宋体" charset="-122"/>
        <a:cs typeface="+mn-cs"/>
      </a:defRPr>
    </a:lvl4pPr>
    <a:lvl5pPr marL="1828800" algn="l" rtl="0" fontAlgn="base">
      <a:spcBef>
        <a:spcPct val="0"/>
      </a:spcBef>
      <a:spcAft>
        <a:spcPct val="0"/>
      </a:spcAft>
      <a:defRPr kern="1200">
        <a:solidFill>
          <a:schemeClr val="tx1"/>
        </a:solidFill>
        <a:latin typeface="Arial" charset="0"/>
        <a:ea typeface="宋体" charset="-122"/>
        <a:cs typeface="+mn-cs"/>
      </a:defRPr>
    </a:lvl5pPr>
    <a:lvl6pPr marL="2286000" algn="l" defTabSz="914400" rtl="0" eaLnBrk="1" latinLnBrk="0" hangingPunct="1">
      <a:defRPr kern="1200">
        <a:solidFill>
          <a:schemeClr val="tx1"/>
        </a:solidFill>
        <a:latin typeface="Arial" charset="0"/>
        <a:ea typeface="宋体" charset="-122"/>
        <a:cs typeface="+mn-cs"/>
      </a:defRPr>
    </a:lvl6pPr>
    <a:lvl7pPr marL="2743200" algn="l" defTabSz="914400" rtl="0" eaLnBrk="1" latinLnBrk="0" hangingPunct="1">
      <a:defRPr kern="1200">
        <a:solidFill>
          <a:schemeClr val="tx1"/>
        </a:solidFill>
        <a:latin typeface="Arial" charset="0"/>
        <a:ea typeface="宋体" charset="-122"/>
        <a:cs typeface="+mn-cs"/>
      </a:defRPr>
    </a:lvl7pPr>
    <a:lvl8pPr marL="3200400" algn="l" defTabSz="914400" rtl="0" eaLnBrk="1" latinLnBrk="0" hangingPunct="1">
      <a:defRPr kern="1200">
        <a:solidFill>
          <a:schemeClr val="tx1"/>
        </a:solidFill>
        <a:latin typeface="Arial" charset="0"/>
        <a:ea typeface="宋体" charset="-122"/>
        <a:cs typeface="+mn-cs"/>
      </a:defRPr>
    </a:lvl8pPr>
    <a:lvl9pPr marL="3657600" algn="l" defTabSz="914400" rtl="0" eaLnBrk="1" latinLnBrk="0" hangingPunct="1">
      <a:defRPr kern="1200">
        <a:solidFill>
          <a:schemeClr val="tx1"/>
        </a:solidFill>
        <a:latin typeface="Arial" charset="0"/>
        <a:ea typeface="宋体" charset="-122"/>
        <a:cs typeface="+mn-cs"/>
      </a:defRPr>
    </a:lvl9pPr>
  </p:defaultTextStyle>
  <p:extLst>
    <p:ext uri="{EFAFB233-063F-42B5-8137-9DF3F51BA10A}">
      <p15:sldGuideLst xmlns:p15="http://schemas.microsoft.com/office/powerpoint/2012/main"/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clrMru>
    <a:srgbClr val="3333FF"/>
    <a:srgbClr val="3C09F7"/>
    <a:srgbClr val="009900"/>
    <a:srgbClr val="0432FF"/>
    <a:srgbClr val="0070C0"/>
    <a:srgbClr val="3366FF"/>
    <a:srgbClr val="F28032"/>
    <a:srgbClr val="B4C6E7"/>
    <a:srgbClr val="F8C19B"/>
    <a:srgbClr val="B9D0A0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>
    <p:restoredLeft sz="16113" autoAdjust="0"/>
    <p:restoredTop sz="91565" autoAdjust="0"/>
  </p:normalViewPr>
  <p:slideViewPr>
    <p:cSldViewPr snapToGrid="0">
      <p:cViewPr varScale="1">
        <p:scale>
          <a:sx n="88" d="100"/>
          <a:sy n="88" d="100"/>
        </p:scale>
        <p:origin x="1287" y="48"/>
      </p:cViewPr>
      <p:guideLst/>
    </p:cSldViewPr>
  </p:slideViewPr>
  <p:notesTextViewPr>
    <p:cViewPr>
      <p:scale>
        <a:sx n="1" d="1"/>
        <a:sy n="1" d="1"/>
      </p:scale>
      <p:origin x="0" y="0"/>
    </p:cViewPr>
  </p:notesTextViewPr>
  <p:sorterViewPr>
    <p:cViewPr>
      <p:scale>
        <a:sx n="140" d="100"/>
        <a:sy n="140" d="100"/>
      </p:scale>
      <p:origin x="0" y="0"/>
    </p:cViewPr>
  </p:sorterViewPr>
  <p:gridSpacing cx="72008" cy="72008"/>
</p:viewPr>
</file>

<file path=ppt/_rels/presentation.xml.rels><?xml version="1.0" encoding="UTF-8" standalone="yes"?>
<Relationships xmlns="http://schemas.openxmlformats.org/package/2006/relationships"><Relationship Id="rId26" Type="http://schemas.openxmlformats.org/officeDocument/2006/relationships/slide" Target="slides/slide24.xml"/><Relationship Id="rId21" Type="http://schemas.openxmlformats.org/officeDocument/2006/relationships/slide" Target="slides/slide19.xml"/><Relationship Id="rId42" Type="http://schemas.openxmlformats.org/officeDocument/2006/relationships/slide" Target="slides/slide40.xml"/><Relationship Id="rId47" Type="http://schemas.openxmlformats.org/officeDocument/2006/relationships/slide" Target="slides/slide45.xml"/><Relationship Id="rId63" Type="http://schemas.openxmlformats.org/officeDocument/2006/relationships/slide" Target="slides/slide61.xml"/><Relationship Id="rId68" Type="http://schemas.openxmlformats.org/officeDocument/2006/relationships/slide" Target="slides/slide66.xml"/><Relationship Id="rId84" Type="http://schemas.openxmlformats.org/officeDocument/2006/relationships/slide" Target="slides/slide82.xml"/><Relationship Id="rId89" Type="http://schemas.openxmlformats.org/officeDocument/2006/relationships/slide" Target="slides/slide87.xml"/><Relationship Id="rId112" Type="http://schemas.openxmlformats.org/officeDocument/2006/relationships/theme" Target="theme/theme1.xml"/><Relationship Id="rId16" Type="http://schemas.openxmlformats.org/officeDocument/2006/relationships/slide" Target="slides/slide14.xml"/><Relationship Id="rId107" Type="http://schemas.openxmlformats.org/officeDocument/2006/relationships/slide" Target="slides/slide105.xml"/><Relationship Id="rId11" Type="http://schemas.openxmlformats.org/officeDocument/2006/relationships/slide" Target="slides/slide9.xml"/><Relationship Id="rId32" Type="http://schemas.openxmlformats.org/officeDocument/2006/relationships/slide" Target="slides/slide30.xml"/><Relationship Id="rId37" Type="http://schemas.openxmlformats.org/officeDocument/2006/relationships/slide" Target="slides/slide35.xml"/><Relationship Id="rId53" Type="http://schemas.openxmlformats.org/officeDocument/2006/relationships/slide" Target="slides/slide51.xml"/><Relationship Id="rId58" Type="http://schemas.openxmlformats.org/officeDocument/2006/relationships/slide" Target="slides/slide56.xml"/><Relationship Id="rId74" Type="http://schemas.openxmlformats.org/officeDocument/2006/relationships/slide" Target="slides/slide72.xml"/><Relationship Id="rId79" Type="http://schemas.openxmlformats.org/officeDocument/2006/relationships/slide" Target="slides/slide77.xml"/><Relationship Id="rId102" Type="http://schemas.openxmlformats.org/officeDocument/2006/relationships/slide" Target="slides/slide100.xml"/><Relationship Id="rId5" Type="http://schemas.openxmlformats.org/officeDocument/2006/relationships/slide" Target="slides/slide3.xml"/><Relationship Id="rId90" Type="http://schemas.openxmlformats.org/officeDocument/2006/relationships/slide" Target="slides/slide88.xml"/><Relationship Id="rId95" Type="http://schemas.openxmlformats.org/officeDocument/2006/relationships/slide" Target="slides/slide93.xml"/><Relationship Id="rId22" Type="http://schemas.openxmlformats.org/officeDocument/2006/relationships/slide" Target="slides/slide20.xml"/><Relationship Id="rId27" Type="http://schemas.openxmlformats.org/officeDocument/2006/relationships/slide" Target="slides/slide25.xml"/><Relationship Id="rId43" Type="http://schemas.openxmlformats.org/officeDocument/2006/relationships/slide" Target="slides/slide41.xml"/><Relationship Id="rId48" Type="http://schemas.openxmlformats.org/officeDocument/2006/relationships/slide" Target="slides/slide46.xml"/><Relationship Id="rId64" Type="http://schemas.openxmlformats.org/officeDocument/2006/relationships/slide" Target="slides/slide62.xml"/><Relationship Id="rId69" Type="http://schemas.openxmlformats.org/officeDocument/2006/relationships/slide" Target="slides/slide67.xml"/><Relationship Id="rId113" Type="http://schemas.openxmlformats.org/officeDocument/2006/relationships/tableStyles" Target="tableStyles.xml"/><Relationship Id="rId80" Type="http://schemas.openxmlformats.org/officeDocument/2006/relationships/slide" Target="slides/slide78.xml"/><Relationship Id="rId85" Type="http://schemas.openxmlformats.org/officeDocument/2006/relationships/slide" Target="slides/slide83.xml"/><Relationship Id="rId12" Type="http://schemas.openxmlformats.org/officeDocument/2006/relationships/slide" Target="slides/slide10.xml"/><Relationship Id="rId17" Type="http://schemas.openxmlformats.org/officeDocument/2006/relationships/slide" Target="slides/slide15.xml"/><Relationship Id="rId33" Type="http://schemas.openxmlformats.org/officeDocument/2006/relationships/slide" Target="slides/slide31.xml"/><Relationship Id="rId38" Type="http://schemas.openxmlformats.org/officeDocument/2006/relationships/slide" Target="slides/slide36.xml"/><Relationship Id="rId59" Type="http://schemas.openxmlformats.org/officeDocument/2006/relationships/slide" Target="slides/slide57.xml"/><Relationship Id="rId103" Type="http://schemas.openxmlformats.org/officeDocument/2006/relationships/slide" Target="slides/slide101.xml"/><Relationship Id="rId108" Type="http://schemas.openxmlformats.org/officeDocument/2006/relationships/slide" Target="slides/slide106.xml"/><Relationship Id="rId54" Type="http://schemas.openxmlformats.org/officeDocument/2006/relationships/slide" Target="slides/slide52.xml"/><Relationship Id="rId70" Type="http://schemas.openxmlformats.org/officeDocument/2006/relationships/slide" Target="slides/slide68.xml"/><Relationship Id="rId75" Type="http://schemas.openxmlformats.org/officeDocument/2006/relationships/slide" Target="slides/slide73.xml"/><Relationship Id="rId91" Type="http://schemas.openxmlformats.org/officeDocument/2006/relationships/slide" Target="slides/slide89.xml"/><Relationship Id="rId96" Type="http://schemas.openxmlformats.org/officeDocument/2006/relationships/slide" Target="slides/slide94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4.xml"/><Relationship Id="rId15" Type="http://schemas.openxmlformats.org/officeDocument/2006/relationships/slide" Target="slides/slide13.xml"/><Relationship Id="rId23" Type="http://schemas.openxmlformats.org/officeDocument/2006/relationships/slide" Target="slides/slide21.xml"/><Relationship Id="rId28" Type="http://schemas.openxmlformats.org/officeDocument/2006/relationships/slide" Target="slides/slide26.xml"/><Relationship Id="rId36" Type="http://schemas.openxmlformats.org/officeDocument/2006/relationships/slide" Target="slides/slide34.xml"/><Relationship Id="rId49" Type="http://schemas.openxmlformats.org/officeDocument/2006/relationships/slide" Target="slides/slide47.xml"/><Relationship Id="rId57" Type="http://schemas.openxmlformats.org/officeDocument/2006/relationships/slide" Target="slides/slide55.xml"/><Relationship Id="rId106" Type="http://schemas.openxmlformats.org/officeDocument/2006/relationships/slide" Target="slides/slide104.xml"/><Relationship Id="rId10" Type="http://schemas.openxmlformats.org/officeDocument/2006/relationships/slide" Target="slides/slide8.xml"/><Relationship Id="rId31" Type="http://schemas.openxmlformats.org/officeDocument/2006/relationships/slide" Target="slides/slide29.xml"/><Relationship Id="rId44" Type="http://schemas.openxmlformats.org/officeDocument/2006/relationships/slide" Target="slides/slide42.xml"/><Relationship Id="rId52" Type="http://schemas.openxmlformats.org/officeDocument/2006/relationships/slide" Target="slides/slide50.xml"/><Relationship Id="rId60" Type="http://schemas.openxmlformats.org/officeDocument/2006/relationships/slide" Target="slides/slide58.xml"/><Relationship Id="rId65" Type="http://schemas.openxmlformats.org/officeDocument/2006/relationships/slide" Target="slides/slide63.xml"/><Relationship Id="rId73" Type="http://schemas.openxmlformats.org/officeDocument/2006/relationships/slide" Target="slides/slide71.xml"/><Relationship Id="rId78" Type="http://schemas.openxmlformats.org/officeDocument/2006/relationships/slide" Target="slides/slide76.xml"/><Relationship Id="rId81" Type="http://schemas.openxmlformats.org/officeDocument/2006/relationships/slide" Target="slides/slide79.xml"/><Relationship Id="rId86" Type="http://schemas.openxmlformats.org/officeDocument/2006/relationships/slide" Target="slides/slide84.xml"/><Relationship Id="rId94" Type="http://schemas.openxmlformats.org/officeDocument/2006/relationships/slide" Target="slides/slide92.xml"/><Relationship Id="rId99" Type="http://schemas.openxmlformats.org/officeDocument/2006/relationships/slide" Target="slides/slide97.xml"/><Relationship Id="rId101" Type="http://schemas.openxmlformats.org/officeDocument/2006/relationships/slide" Target="slides/slide99.xml"/><Relationship Id="rId4" Type="http://schemas.openxmlformats.org/officeDocument/2006/relationships/slide" Target="slides/slide2.xml"/><Relationship Id="rId9" Type="http://schemas.openxmlformats.org/officeDocument/2006/relationships/slide" Target="slides/slide7.xml"/><Relationship Id="rId13" Type="http://schemas.openxmlformats.org/officeDocument/2006/relationships/slide" Target="slides/slide11.xml"/><Relationship Id="rId18" Type="http://schemas.openxmlformats.org/officeDocument/2006/relationships/slide" Target="slides/slide16.xml"/><Relationship Id="rId39" Type="http://schemas.openxmlformats.org/officeDocument/2006/relationships/slide" Target="slides/slide37.xml"/><Relationship Id="rId109" Type="http://schemas.openxmlformats.org/officeDocument/2006/relationships/notesMaster" Target="notesMasters/notesMaster1.xml"/><Relationship Id="rId34" Type="http://schemas.openxmlformats.org/officeDocument/2006/relationships/slide" Target="slides/slide32.xml"/><Relationship Id="rId50" Type="http://schemas.openxmlformats.org/officeDocument/2006/relationships/slide" Target="slides/slide48.xml"/><Relationship Id="rId55" Type="http://schemas.openxmlformats.org/officeDocument/2006/relationships/slide" Target="slides/slide53.xml"/><Relationship Id="rId76" Type="http://schemas.openxmlformats.org/officeDocument/2006/relationships/slide" Target="slides/slide74.xml"/><Relationship Id="rId97" Type="http://schemas.openxmlformats.org/officeDocument/2006/relationships/slide" Target="slides/slide95.xml"/><Relationship Id="rId104" Type="http://schemas.openxmlformats.org/officeDocument/2006/relationships/slide" Target="slides/slide102.xml"/><Relationship Id="rId7" Type="http://schemas.openxmlformats.org/officeDocument/2006/relationships/slide" Target="slides/slide5.xml"/><Relationship Id="rId71" Type="http://schemas.openxmlformats.org/officeDocument/2006/relationships/slide" Target="slides/slide69.xml"/><Relationship Id="rId92" Type="http://schemas.openxmlformats.org/officeDocument/2006/relationships/slide" Target="slides/slide90.xml"/><Relationship Id="rId2" Type="http://schemas.openxmlformats.org/officeDocument/2006/relationships/slideMaster" Target="slideMasters/slideMaster2.xml"/><Relationship Id="rId29" Type="http://schemas.openxmlformats.org/officeDocument/2006/relationships/slide" Target="slides/slide27.xml"/><Relationship Id="rId24" Type="http://schemas.openxmlformats.org/officeDocument/2006/relationships/slide" Target="slides/slide22.xml"/><Relationship Id="rId40" Type="http://schemas.openxmlformats.org/officeDocument/2006/relationships/slide" Target="slides/slide38.xml"/><Relationship Id="rId45" Type="http://schemas.openxmlformats.org/officeDocument/2006/relationships/slide" Target="slides/slide43.xml"/><Relationship Id="rId66" Type="http://schemas.openxmlformats.org/officeDocument/2006/relationships/slide" Target="slides/slide64.xml"/><Relationship Id="rId87" Type="http://schemas.openxmlformats.org/officeDocument/2006/relationships/slide" Target="slides/slide85.xml"/><Relationship Id="rId110" Type="http://schemas.openxmlformats.org/officeDocument/2006/relationships/presProps" Target="presProps.xml"/><Relationship Id="rId61" Type="http://schemas.openxmlformats.org/officeDocument/2006/relationships/slide" Target="slides/slide59.xml"/><Relationship Id="rId82" Type="http://schemas.openxmlformats.org/officeDocument/2006/relationships/slide" Target="slides/slide80.xml"/><Relationship Id="rId19" Type="http://schemas.openxmlformats.org/officeDocument/2006/relationships/slide" Target="slides/slide17.xml"/><Relationship Id="rId14" Type="http://schemas.openxmlformats.org/officeDocument/2006/relationships/slide" Target="slides/slide12.xml"/><Relationship Id="rId30" Type="http://schemas.openxmlformats.org/officeDocument/2006/relationships/slide" Target="slides/slide28.xml"/><Relationship Id="rId35" Type="http://schemas.openxmlformats.org/officeDocument/2006/relationships/slide" Target="slides/slide33.xml"/><Relationship Id="rId56" Type="http://schemas.openxmlformats.org/officeDocument/2006/relationships/slide" Target="slides/slide54.xml"/><Relationship Id="rId77" Type="http://schemas.openxmlformats.org/officeDocument/2006/relationships/slide" Target="slides/slide75.xml"/><Relationship Id="rId100" Type="http://schemas.openxmlformats.org/officeDocument/2006/relationships/slide" Target="slides/slide98.xml"/><Relationship Id="rId105" Type="http://schemas.openxmlformats.org/officeDocument/2006/relationships/slide" Target="slides/slide103.xml"/><Relationship Id="rId8" Type="http://schemas.openxmlformats.org/officeDocument/2006/relationships/slide" Target="slides/slide6.xml"/><Relationship Id="rId51" Type="http://schemas.openxmlformats.org/officeDocument/2006/relationships/slide" Target="slides/slide49.xml"/><Relationship Id="rId72" Type="http://schemas.openxmlformats.org/officeDocument/2006/relationships/slide" Target="slides/slide70.xml"/><Relationship Id="rId93" Type="http://schemas.openxmlformats.org/officeDocument/2006/relationships/slide" Target="slides/slide91.xml"/><Relationship Id="rId98" Type="http://schemas.openxmlformats.org/officeDocument/2006/relationships/slide" Target="slides/slide96.xml"/><Relationship Id="rId3" Type="http://schemas.openxmlformats.org/officeDocument/2006/relationships/slide" Target="slides/slide1.xml"/><Relationship Id="rId25" Type="http://schemas.openxmlformats.org/officeDocument/2006/relationships/slide" Target="slides/slide23.xml"/><Relationship Id="rId46" Type="http://schemas.openxmlformats.org/officeDocument/2006/relationships/slide" Target="slides/slide44.xml"/><Relationship Id="rId67" Type="http://schemas.openxmlformats.org/officeDocument/2006/relationships/slide" Target="slides/slide65.xml"/><Relationship Id="rId20" Type="http://schemas.openxmlformats.org/officeDocument/2006/relationships/slide" Target="slides/slide18.xml"/><Relationship Id="rId41" Type="http://schemas.openxmlformats.org/officeDocument/2006/relationships/slide" Target="slides/slide39.xml"/><Relationship Id="rId62" Type="http://schemas.openxmlformats.org/officeDocument/2006/relationships/slide" Target="slides/slide60.xml"/><Relationship Id="rId83" Type="http://schemas.openxmlformats.org/officeDocument/2006/relationships/slide" Target="slides/slide81.xml"/><Relationship Id="rId88" Type="http://schemas.openxmlformats.org/officeDocument/2006/relationships/slide" Target="slides/slide86.xml"/><Relationship Id="rId111" Type="http://schemas.openxmlformats.org/officeDocument/2006/relationships/viewProps" Target="viewProps.xml"/></Relationships>
</file>

<file path=ppt/ink/ink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1920" max="3000" units="cm"/>
          <inkml:channel name="Y" type="integer" max="2000" units="cm"/>
          <inkml:channel name="T" type="integer" max="2.14748E9" units="dev"/>
        </inkml:traceFormat>
        <inkml:channelProperties>
          <inkml:channelProperty channel="X" name="resolution" value="172.63158" units="1/cm"/>
          <inkml:channelProperty channel="Y" name="resolution" value="105.26316" units="1/cm"/>
          <inkml:channelProperty channel="T" name="resolution" value="1" units="1/dev"/>
        </inkml:channelProperties>
      </inkml:inkSource>
      <inkml:timestamp xml:id="ts0" timeString="2024-05-21T11:20:29.327"/>
    </inkml:context>
    <inkml:brush xml:id="br0">
      <inkml:brushProperty name="width" value="0.05292" units="cm"/>
      <inkml:brushProperty name="height" value="0.05292" units="cm"/>
      <inkml:brushProperty name="color" value="#FF0000"/>
    </inkml:brush>
  </inkml:definitions>
  <inkml:trace contextRef="#ctx0" brushRef="#br0">20483 10687 0</inkml:trace>
</inkml:ink>
</file>

<file path=ppt/ink/ink2.xml><?xml version="1.0" encoding="utf-8"?>
<inkml:ink xmlns:inkml="http://www.w3.org/2003/InkML">
  <inkml:definitions>
    <inkml:context xml:id="ctx0">
      <inkml:inkSource xml:id="inkSrc0">
        <inkml:traceFormat>
          <inkml:channel name="X" type="integer" max="18176" units="cm"/>
          <inkml:channel name="Y" type="integer" max="12032" units="cm"/>
          <inkml:channel name="F" type="integer" max="4096" units="dev"/>
          <inkml:channel name="T" type="integer" max="2.14748E9" units="dev"/>
        </inkml:traceFormat>
        <inkml:channelProperties>
          <inkml:channelProperty channel="X" name="resolution" value="637.75439" units="1/cm"/>
          <inkml:channelProperty channel="Y" name="resolution" value="633.26318" units="1/cm"/>
          <inkml:channelProperty channel="F" name="resolution" value="0" units="1/dev"/>
          <inkml:channelProperty channel="T" name="resolution" value="1" units="1/dev"/>
        </inkml:channelProperties>
      </inkml:inkSource>
      <inkml:timestamp xml:id="ts0" timeString="2024-05-21T11:42:33.458"/>
    </inkml:context>
    <inkml:brush xml:id="br0">
      <inkml:brushProperty name="width" value="0.05292" units="cm"/>
      <inkml:brushProperty name="height" value="0.05292" units="cm"/>
      <inkml:brushProperty name="color" value="#FF0000"/>
    </inkml:brush>
  </inkml:definitions>
  <inkml:trace contextRef="#ctx0" brushRef="#br0">16539 5105 12 0,'0'-4'0'0,"0"4"0"0,-7-5 0 16,7 5 45-16,-2 0 0 0,2 0 0 0,0-2-1 16,0 2 48-16,0-4 0 0,0 4 0 0,0-5 0 0,0 5-22 15,0 0 1-15,0 0-1 0,0 0 1 0,0 0 0 16,5 0 0-16,-5 0-1 0,4 0 1 0,-4 0-40 16,4 7 1-16,-4-7-1 0,5 27 2 0,4-7-7 15,4 6-1-15,-11 1 1 0,5-3 0 0,-7 3-2 16,-3-5-1-16,-1 3 1 0,4 1-1 0,4-4-5 15,1 5 1-15,-3-5 0 0,-2 5 0 0,0 4-5 0,7 0-1 16,-5 5 1-16,0-5 0 0,5 6-2 0,-1 1 0 16,3 0 0-16,-2 2 1 0,-1-2-2 0,1-1 1 15,0 6 1-15,-3-6-1 0,0 3-4 0,-4 3 1 16,5-6 0-16,-5 5 0 0,0 5 0 0,0-5 1 16,0 3-1-16,0-3 1 0,0 5 1 0,-5 1 1 0,-1 3 0 15,4-8 0-15,-3-1 3 0,3 0 0 0,-2 0 0 16,1-4 1-16,1 2-1 0,2 0 2 0,2 0 0 15,-2 2 0-15,0 0 5 0,0 0 1 0,3-4-1 16,1-2 1-16,-4 1 1 0,4-3 1 0,1 1 0 16,1 1 0-16,-1 2-2 0,6-1-1 0,-7 6 1 15,1-1-1-15,-1 4-3 0,-4-1 0 0,7 1 0 16,-7 3 1-16,2 2-4 0,-2 3 1 0,-2-1 0 16,-5-2 0-16,5-4-4 0,-5 1 2 0,3-1-2 15,-1-2 2-15,-1 1-4 0,6 1 2 0,-5-3-1 16,-1 1 0-16,1-3-2 0,1 0 2 0,0 0-1 0,1-2 0 15,1 0-1-15,2-2 0 0,0-3 0 0,0-1 0 16,0 1-1-16,0-4 1 0,0 7 1 0,2 0-1 16,1 4-1-16,1 0 1 0,-4 5-1 0,0-9 1 15,0-3-1-15,0 3 0 0,-4-5 0 0,-1 3 1 0,1-5-1 16,2 0 0-16,2 0 0 0,-5-2 1 0,3 2-3 16,2-4-1-16,0 4 1 0,2 0 1 0,3 2-2 15,-5 3 0-15,2-8 0 0,0 1 1 0,0-6-2 16,0-3 2-16,1-7 0 0,1 2-1 0,0 1-1 0,3-1 1 15,2 5-1-15,-5 0 1 0,7 9-2 0,-6 0 2 16,-1 0-2-16,5-5 2 0,0-6-3 0,-5-2 2 16,-4-3-2-16,0-4 2 0,0-5-2 0,0 1 0 15,2-1 1-15,-2-4-1 0,5 3-1 0,-3-3 1 16,0-7-1-16,0-4 1 0,-2-9-2 0,5-7 2 16</inkml:trace>
  <inkml:trace contextRef="#ctx0" brushRef="#br0" timeOffset="418.63">16680 7739 1608 0,'7'-9'0'0,"-7"9"0"0,2-2 0 16,-2 2 20-16,2 0 0 0,-2 0 0 0,11-5 2 15,-11 5 11-15,9-11 1 0,-9 11 0 0,9-20 0 0,-9 20-11 16,15-18-1-16,-15 18 1 0,24-15-1 16,-24 15-15-16,36-5 0 0,-36 5-1 0,42 0 1 0,-14 5-1 15,3 2 0-15,0-1 0 0,7-1 1 0,6-1 6 16,-2 1 2-16,6-1-1 0,5-2 1 0,-2 3 9 0,2-1-1 15,2-2 1-15,4-2-1 0,-1-2 2 0,-3-2 0 16,2 4-1-16,3-5 1 0,1 1 3 0,1 2 1 16,-4-3-1-16,-8-2 1 0,-8 5-3 0,-7 0 0 15,-1 2 0-15,-1 0 1 0,0 2-7 0,0 3 1 16,-7-1-1-16,-4 1 2 0,-6-3-8 0,-3 0 1 16,-4 0 0-16,-3 3 0 0,-6-5-5 0,0 4 0 15,0-4 1-15,0 2-1 0,0 1-5 0,0-1 2 0,0 2-1 16,0-4 0-16,-6 0-3 0,-3 0-1 0</inkml:trace>
  <inkml:trace contextRef="#ctx0" brushRef="#br0" timeOffset="733.38">17798 7486 1255 0,'7'4'0'0,"-7"-4"0"0,4 0 0 15,-4 0 22-15,11 0 0 0,-11 0 0 0,13 0 1 16,-13 0 20-16,23 0 0 0,-23 0 0 0,30 7 1 16,-8 2-16-16,5-3 1 0,2 3-1 0,-7 2 1 15,0 0-12-15,2 5 0 0,0 2 0 0,0 2-1 16,-1-5-3-16,-4 5-1 0,-3 2 1 0,-1-6 0 0,-2 2 8 16,-1-3 1-16,-8 1-1 0,7-3 0 0,-11-2 11 15,0 0-1-15,-7 1 1 0,3-1 0 0,2 0 3 16,0 0 0-16,-12 4-1 0,-1 5 2 0,-3 5-4 15,-6-1 0-15,-3 5 0 0,-3-7 0 0,-6-2-6 16,-3-4 0-16,-3 6 0 0,-5-4 0 0,-8 2-7 0,-2 0 0 16,2-5 0-16,0 1 0 0,-3-5-12 0,1-7-1 15</inkml:trace>
</inkml:ink>
</file>

<file path=ppt/ink/ink3.xml><?xml version="1.0" encoding="utf-8"?>
<inkml:ink xmlns:inkml="http://www.w3.org/2003/InkML">
  <inkml:definitions>
    <inkml:context xml:id="ctx0">
      <inkml:inkSource xml:id="inkSrc0">
        <inkml:traceFormat>
          <inkml:channel name="X" type="integer" max="3408" units="cm"/>
          <inkml:channel name="Y" type="integer" max="2256" units="cm"/>
          <inkml:channel name="T" type="integer" max="2.14748E9" units="dev"/>
        </inkml:traceFormat>
        <inkml:channelProperties>
          <inkml:channelProperty channel="X" name="resolution" value="119.57895" units="1/cm"/>
          <inkml:channelProperty channel="Y" name="resolution" value="118.73684" units="1/cm"/>
          <inkml:channelProperty channel="T" name="resolution" value="1" units="1/dev"/>
        </inkml:channelProperties>
      </inkml:inkSource>
      <inkml:timestamp xml:id="ts0" timeString="2024-05-21T11:43:49.196"/>
    </inkml:context>
    <inkml:brush xml:id="br0">
      <inkml:brushProperty name="width" value="0.05292" units="cm"/>
      <inkml:brushProperty name="height" value="0.05292" units="cm"/>
      <inkml:brushProperty name="color" value="#FF0000"/>
    </inkml:brush>
    <inkml:context xml:id="ctx1">
      <inkml:inkSource xml:id="inkSrc1">
        <inkml:traceFormat>
          <inkml:channel name="X" type="integer" max="18176" units="cm"/>
          <inkml:channel name="Y" type="integer" max="12032" units="cm"/>
          <inkml:channel name="F" type="integer" max="4096" units="dev"/>
          <inkml:channel name="T" type="integer" max="2.14748E9" units="dev"/>
        </inkml:traceFormat>
        <inkml:channelProperties>
          <inkml:channelProperty channel="X" name="resolution" value="637.75439" units="1/cm"/>
          <inkml:channelProperty channel="Y" name="resolution" value="633.26318" units="1/cm"/>
          <inkml:channelProperty channel="F" name="resolution" value="0" units="1/dev"/>
          <inkml:channelProperty channel="T" name="resolution" value="1" units="1/dev"/>
        </inkml:channelProperties>
      </inkml:inkSource>
      <inkml:timestamp xml:id="ts1" timeString="2024-05-21T11:43:49.992"/>
    </inkml:context>
  </inkml:definitions>
  <inkml:trace contextRef="#ctx0" brushRef="#br0">18999 10253 0,'0'0'0,"0"0"0,0 0 0,0 0 15,0 0 1,12 12-16,0 0 16,-12-12-1,12 12-15</inkml:trace>
  <inkml:trace contextRef="#ctx1" brushRef="#br0">13945 4706 12 0,'3'4'0'0,"-3"-4"0"0,8 11 0 0,-8-11 5 16,14 16 1-16,-14-16 0 0,15 17 0 0,-15-17 99 15,7 9-1-15,-7-9 1 0,6 16 0 0,-6-16-17 16,9 15-1-16,-9-15 1 0,11 23 0 0,-11-23 9 16,18 35 0-16,-18-35 1 0,18 38 0 0,-18-38-59 15,6 31 1-15,-6-31 0 0,9 38 0 0,-9-38-12 0,7 42 1 16,-5-22 0-16,2 2 1 0,3-2-1 0,-1 2 0 15,-1 0 0-15,-1-2 0 0,-4-8-1 0,0 3 2 16,0-6-1-16,0 4 0 0,5 1-7 0,-5-3 1 16,0 0-1-16,0-2 1 0,2-3-5 0,0 1 1 15,-2-3 0-15,0 1 0 0,2-3-5 0,3 0 2 16,-5 1-1-16,4 1 0 0,-4-4-7 0,2 4 0 0,1-4 0 16,-1 0 1-16,2 0-7 0,-4 0 0 0,5 0 1 15,-5 3-1-15,2 1-2 0,0 1 0 0,-2-1 0 16,7 3 0-16,-7 8-7 0,-7 1 0 0,5-1 1 15,0 8 0-15,-3 1-19 0,-1 3 1 0,1-1-1 16,-6 1 2-16,2-5-19 0,5 0 2 0,-3 5-2 16,3 4 2-16,-1 5-4 0,1-3 1 0,0 2-1 15,-1-1 2-15,1-3 6 0,-3-2 1 0,5 4 0 16,-9-2 1-16,0-4 18 0,6-1 0 0,1 5 0 16,-5-4 2-16,3 4 12 0,1-4-1 0,1-1 1 15,-1 1 0-15,3-5 2 0,-2 3 0 0</inkml:trace>
  <inkml:trace contextRef="#ctx1" brushRef="#br0" timeOffset="599.04">14016 6509 740 0,'2'6'0'0,"-2"-6"0"0,5 23 0 0,-5-23 15 0,6 20-1 16,-6-20 1-16,2 20 0 0,-2-20 19 0,0 26 2 15,0-26-1-15,0 18 1 0,0-18-5 0,0 13 2 16,0-13-2-16,-4 27 2 0,4-27-7 0,-15 38-1 16,15-38 1-16,-5 33 0 0,5-33-2 0,-6 24-1 15,6-24 1-15,-3 16-1 0,3-16-2 0,5 2 0 16,-5-2-1-16,0 9 1 0,0-9-3 0,4 7 0 16,-4-7 0-16,0 9 0 0,0-9-7 0,5 11 2 15,-5-11-1-15,0 24 0 0,0-24-12 0,4 29 0 0,-4-29 0 16,0 38 2-16,0-14-10 0,0-4 0 0,0 2 0 15,0-4 1-15,0 0-23 0,0 0 0 0,0-3-1 16,2 1 2-16,-2-1-17 0,0 1 0 0,5-1 0 16,-5 8 0-16,4-6 1 0,-4 3 0 0,0 3 0 15,0 1 1-15,2-2 12 0,0 5 1 0,1-1-1 16,-3-1 1-16,-3-3 30 0,1-2 1 0,2-2-1 16,2-3 1-16,-2-1 3 0,-2-3 2 0,0 0-2 15,2 0 1-15,0-2 13 0,2-2 1 0,0 1-1 16,1 4 1-16,-1 1-8 0,-2 0 1 0,6-2 1 0,-3 0-1 15,-1-2-10-15,0-2 0 0,3 0 0 0,-5 1 1 16,4 4-3-16,-4-4 0 0,0 8 0 0,0 6 0 0,0-2-13 16,0 2 2-16,-4 1 0 0,-3-1-1 0,-4 2-15 15,2-4 1-15,0 5-1 0,3 4 1 0,1-1 0 16,5 3 2-16,-4-4-2 0,2 0 1 0,2-1 6 16,2-1-1-16,2-3 1 0,-4-2 0 0,5-2 1 15,-5-3 0-15,4 1 0 0,-2-5 1 0,3-2 0 0,-5-2 0 16,4 1 0-16,-2 1 0 0,3 0 6 0,-3 0-1 15,4 0 1-15,-6 2 1 0,5 2 1 0,2 1 1 16,-7-1-1-16,4 0 1 0,-2 3-12 0,-2-5 1 16,5 5 0-16,-3-1 0 0,0 5 5 0,0 2 2 15,-2-4-1-15,5 2 1 0,-5-4 3 0,0-1 0 16,0 1 0-16,2-1-1 0,-2 7 4 0,-2 1 0 16,-3 1-1-16,5-6 1 0,0-18-123 0</inkml:trace>
  <inkml:trace contextRef="#ctx1" brushRef="#br0" timeOffset="634.99">14060 8652 12 0,'0'4'0'0,"0"0"0"16,0 3 0-16,0-7-10 0</inkml:trace>
  <inkml:trace contextRef="#ctx1" brushRef="#br0" timeOffset="659.829">14054 8778 12 0,'0'5'0'0,"0"6"0"16,0-7 0-16,0-4-10 0</inkml:trace>
  <inkml:trace contextRef="#ctx1" brushRef="#br0" timeOffset="1267.23">14012 9038 12 0,'0'9'0'0,"4"-5"0"16,-2-2 0-16,3-4 0 0,-1-2 0 0,0 4 0 15,-1 2 0-15,-3 7 0 0,0 2 0 0,0 2 0 16,0 1 0-16,0-3 0 0,0-2 0 0,0 2 0 0,0 9 0 15,0 2 0-15,0 9 0 0,-3-4 0 0,-1-5 0 16,0 2 2-16,4-1 1 0,0-4 1 0,0-1-1 16,4 2 13-16,-4-4 0 0,0-5-1 0,0 4 1 15,-4-3 5-15,4 3 1 0,0-4-1 0,0 3 0 0,0 3 11 16,0-1-1-16,0 2 1 0,0-3 0 0,-7 3 5 16,3 0 0-16,4-1 0 0,-5 1 0 0,5 0 14 15,-4 4 0-15,2-2 0 0,-1-4 0 0,1-1-3 16,2-4 0-16,-4 3-1 0,4-1 1 0,-5 0-8 15,3 1-1-15,2-1 0 0,0 0 1 0,0 1-10 0,0-1-1 16,0 0 0-16,0 1 0 0,-2 1-6 0,-5 3-1 16,7 0 1-16,-4 2-1 0,2-5-4 0,0 7 0 15,-3-4 0-15,3 7 1 0,-3-5-3 0,-1 2-1 16,1-2 1-16,-1-2 1 0,6-7-1 0,-2 0 0 16,-1 2 0-16,1-2 1 0,-2 0 1 0,4 5 0 15,-2-5 0-15,2 2 1 0,-5 1-2 0,3-1 0 0,0 0-1 16,0 1 1-16,2-1-3 0,-5 0 0 0,5-2 1 15,-6 0-1-15,6 0-1 0,-3-2-1 0,1 2 1 16,2 1 0-16,-4-1-2 0,4 0 0 0,0 2 1 16,0 3-1-16,0 1-1 0,0 3 0 0,0-4 0 15,0 2 1-15,0 2-1 0,0-5 2 0,0 1-1 16,0-1 0-16,0-4-1 0,0 1 0 0,0-8 0 16,0 7 2-16,0-4-2 0,0 2 0 0,0 2 0 15,0-5 0-15,0 3-1 0,-7 0 1 0,3 0 0 16,4 0 0-16,0 0-3 0,0 0 1 0,0-3-1 15,0 3 1-15,-5 0-4 0,5 0 1 0,-4 0-1 0,-3 0 2 16,7 2-5-16,0 4 1 0,0 5-1 0,0-4 1 16,0-1-2-16,0 3 1 0,0 2-1 0,0-4 2 15,0-5-2-15,0 0 0 0,0 0 0 0,7-2 0 0,-7-2 0 16,4-1 0-16,-4 1 0 0,0 0 0 0,0-1-2 16,0 3 2-16,5-4 0 0,-3 1 0 0,0 1-1 15,0-3 1-15,-2 1 0 0,0-1 0 0,5 1-1 16,-5 1 1-16,0-6-1 0,0 3 1 0,0-1-2 15,0 0 0-15</inkml:trace>
</inkml:ink>
</file>

<file path=ppt/ink/ink4.xml><?xml version="1.0" encoding="utf-8"?>
<inkml:ink xmlns:inkml="http://www.w3.org/2003/InkML">
  <inkml:definitions>
    <inkml:context xml:id="ctx0">
      <inkml:inkSource xml:id="inkSrc0">
        <inkml:traceFormat>
          <inkml:channel name="X" type="integer" max="3408" units="cm"/>
          <inkml:channel name="Y" type="integer" max="2256" units="cm"/>
          <inkml:channel name="T" type="integer" max="2.14748E9" units="dev"/>
        </inkml:traceFormat>
        <inkml:channelProperties>
          <inkml:channelProperty channel="X" name="resolution" value="119.57895" units="1/cm"/>
          <inkml:channelProperty channel="Y" name="resolution" value="118.73684" units="1/cm"/>
          <inkml:channelProperty channel="T" name="resolution" value="1" units="1/dev"/>
        </inkml:channelProperties>
      </inkml:inkSource>
      <inkml:timestamp xml:id="ts0" timeString="2024-05-21T11:53:13.111"/>
    </inkml:context>
    <inkml:brush xml:id="br0">
      <inkml:brushProperty name="width" value="0.05292" units="cm"/>
      <inkml:brushProperty name="height" value="0.05292" units="cm"/>
      <inkml:brushProperty name="color" value="#FF0000"/>
    </inkml:brush>
    <inkml:context xml:id="ctx1">
      <inkml:inkSource xml:id="inkSrc1">
        <inkml:traceFormat>
          <inkml:channel name="X" type="integer" max="18176" units="cm"/>
          <inkml:channel name="Y" type="integer" max="12032" units="cm"/>
          <inkml:channel name="F" type="integer" max="4096" units="dev"/>
          <inkml:channel name="T" type="integer" max="2.14748E9" units="dev"/>
        </inkml:traceFormat>
        <inkml:channelProperties>
          <inkml:channelProperty channel="X" name="resolution" value="637.75439" units="1/cm"/>
          <inkml:channelProperty channel="Y" name="resolution" value="633.26318" units="1/cm"/>
          <inkml:channelProperty channel="F" name="resolution" value="0" units="1/dev"/>
          <inkml:channelProperty channel="T" name="resolution" value="1" units="1/dev"/>
        </inkml:channelProperties>
      </inkml:inkSource>
      <inkml:timestamp xml:id="ts1" timeString="2024-05-21T11:53:13.992"/>
    </inkml:context>
  </inkml:definitions>
  <inkml:trace contextRef="#ctx0" brushRef="#br0">8696 15239 0,'0'0'0,"0"0"0,-12 0 0,12 0 16,0 0 0,0 0-1</inkml:trace>
  <inkml:trace contextRef="#ctx1" brushRef="#br0">4670 9511 24 0,'0'0'0'0,"0"0"0"15,-5 4 0-15,5-4 76 0,-4 7 2 0,4-7-1 16,0 4 1-16,0-4 22 0,0-2 1 0,0 2 0 16,0 2 0-16,0-2 4 0,0 3 1 0,0-3-1 15,0-3 2-15,0 3-66 0,0 0 1 0,0 0-1 0,-7 0 2 16,7 0-9-16,-8 12 0 0,8-12 1 0,-20 20 0 16,20-20-4-16,-27 40 2 0,16-14-1 0,-4-1 1 15,-1 1-7-15,1-4 1 0,-1 3-1 0,3 2 0 16,7-5-3-16,1 0-1 0,-4 2 1 0,3 3 0 0,-5 4-2 15,4 0 0-15,-4-2-1 0,4 2 1 0,1 0 0 16,-5 3 0-16,2 5 0 0,-2-3 1 0,-2 2-1 16,2 2 0-16,-5 0 1 0,3-3-1 0,0-1 0 15,-3-3 2-15,1 3-2 0,0-5 1 0,1 2-4 16,-1 3 1-16,-1-5 1 0,1 0-1 0,2-2-3 16,0-3 1-16,-1 3 0 0,3-2 0 0,0 0-4 0,0 1 2 15,7 1-2-15,-3-4 2 0,3-1-3 0,-5 3 1 16,-2-7-1-16,7 2 0 0,4-2-3 0,-5-2 2 15,1-3-1-15,-3 1 0 0,-2 2 1 0,3-1 0 16,-3-3 0-16,2 1 2 0,3 3-3 0,-3 2 1 16,-4 0 0-16,7 0 0 0,-1-2-2 0,-3-3 0 15,1-1 0-15,7-3 2 0,-5 0-4 0,5-2 1 16,-6-3 0-16,6-1 1 0,0-1-4 0,0-2 0 0,0 3 0 16,0-5 0-16,0 2-4 0,0-2 2 0,0-2-1 15,0 2 0-15,6-5-2 0,-6 1 0 0</inkml:trace>
  <inkml:trace contextRef="#ctx1" brushRef="#br0" timeOffset="1199.97">4895 10046 979 0,'0'0'0'0,"0"0"0"15,0 5 0-15,0-5 16 0,0 4 0 0,0-4-1 16,0 4 2-16,0-4 3 0,0 0 2 0,0 0-1 15,0 0 0-15,0 0-13 0,0 0 1 0,0 0-1 16,0 0 1-16,0 0-1 0,0 7 1 0,0-7 0 16,-13 16 0-16,13-16 0 0,-18 24 1 0,18-24 0 15,-16 36 0-15,8-12 3 0,-8 3 1 0,5-1-1 16,0 1 1-16,-2-3 4 0,2 3 1 0,0 0 0 16,-5-1 0-16,3 1 0 0,-2 0 0 0,-1-1 0 0,5-1 2 15,-4-3-1-15,4 0 1 0,-2-2-1 0,2-4 2 16,4-5-8-16,3-7 2 0,4 1-2 0,-5 1 2 15,5-6-6-15,0 2 0 0,0 1 0 16,0-1 2-16,0-2-7 0,0 0 2 0,0-2 0 0,5-1-1 16,-5 1-1-16,4-4-1 0,-2-3 1 0,7-14-1 0,6-5 0 15,1-1-1-15,1-2 1 0,6 4-1 0,-10 3 1 16,7 1 1-16,-1 1-1 0,1 0 2 0,-6 2 0 16,8-4-1-16,-9 6 1 0,4 2-1 0,3-4 0 15,-4 3-1-15,-1 3 1 0,1 3 1 0,-5 4-3 0,-3-4 0 16,-3 7 1-16,2-3-1 0,-1 5 0 0,3 0 2 15,-7 0-2-15,7-1 2 0,-5 3-2 0,1-4 2 16,-5 4-2-16,4 0 1 0,-2 0 0 0,-2 0 0 16,0 0 1-16,5 0-1 0,-5 0 4 0,4 0 0 15,-4 4 0-15,0 5 0 0,0 9 2 0,0 0 1 16,-4 6 0-16,-3-2 0 0,-2 5 7 0,-4 0 0 0,2-1 0 16,5-1 1-16,-1-5 7 0,-4 2 1 15,4-4-1-15,1-1 1 0,6-1 0 0,-5-5 1 0,5 0-1 16,0-6 1-16,0 1-8 0,0-1 1 0,0-1 0 15,0 3 0-15,5-5-5 0,-5 3 0 0,4-1 0 16,-4 0 1-16,7-1-6 0,-5 1 2 0,4 1-1 16,6-5 0-16,-6 4-6 0,5-4 1 0,2 2-2 15,3-2 2-15,-7-2-4 0,2 2 1 0,4-4-1 16,-6-1 1-16,9-2-2 0,-1-1-1 0,1-4 0 16,2 1 0-16,2-4-1 0,2-1 0 0,0-2 0 0,-10 3 0 15,3 2-1-15,-6-1 0 0,-4 1 0 0,2 0-1 16,-1 4-4-16,-1-2 0 0,-3 4-1 0,1-2 2 15,1-2-8-15,-1-2 1 0,-5 2 0 0,4 4 1 16,-4 0-5-16,0 3 1 0,0-5 0 0,0 2 0 16,0 3 5-16,0 4 0 0,0-2 0 0,0-1 0 0,0 3 6 15,0 0 2-15,0 0 0 0,0 0-1 0,0 0 3 16,-4 3 0-16,-5 5 0 0,2 6 0 0,-8 1 2 16,2 8-1-16,2-3 0 0,-2 2 1 0,6 0 1 15,0-2 2-15,3 0-1 0,4-2 1 0,0-5 0 16,0-2 1-16,4 0 0 0,-1 0-1 0,1-6 1 0,3 1 0 15,1 1-1-15,6-2 2 0,-3-1-5 0,4 0 0 16,-4-1 1-16,2-1 0 0,9-2-2 0,-8-2 0 16,8-1 0-16,-7-5 0 0,-6 1-1 0,6-4 0 15,-4-5 0-15,5 1 0 0,-7-1 0 0,2-4 0 16,0 2 0-16,-2-6 0 0,-5 2 0 0,7 0 0 0,-9 2 0 16,-2-5 0-16,0-4 0 0,0-2 2 15,0 0-2-15,-2 2 1 0,-2 9 1 0,4-2 1 0,-7 6 1 16,7 3-1-16,-2 6 4 0,0 1 1 0,-5 4 0 15,5-1-1-15,-9 3 5 0,6-4 0 0,-6 4-1 16,7 0 2-16,-7 0 1 0,2 0 1 0,-2 4-1 16,0 3 1-16,11 4-2 0,-4 0 1 0,-1 3-1 15,5-3 1-15,-4-5-8 0,4 3 2 0</inkml:trace>
  <inkml:trace contextRef="#ctx1" brushRef="#br0" timeOffset="1883.71">5768 9977 1595 0,'0'2'0'0,"0"-2"0"0,-4 3 0 16,4-3 24-16,-7 0-1 0,7 0 1 0,-4 6 0 0,4-6 14 16,0 7 1-16,0-7-1 0,0 7 1 0,0-7-22 15,-11 6 1-15,11-6-1 0,-22 20 1 16,22-20-6-16,-36 45 1 0,23-16-1 0,-2-7 1 0,6-2-1 15,2 2 0-15,-2-2 0 0,3 7 1 0,-7 4-2 0,10-2 1 16,-8 6 1-16,0-2-1 0,0 3 5 0,-2 2 0 16,9 2-1-16,-7 0 2 0,2 0-3 0,2-5 1 15,-2 3-2-15,0 0 2 0,3-5-6 0,-3 2 1 16,2-3-1-16,-1-6 2 0,3 1-6 0,5-5 2 0,0-2 0 16,0-9 0-16,0-4-5 0,0-3 2 15,0-2-2-15,0 1 2 0,0-3-5 0,5 0 0 0,-1-5 0 16,-4-1 0-16,4-6-8 0,1-3 1 0,-1-12 0 15,3-4 1-15,4-11-20 0,2-11 1 0,-2 2 0 16,-4 4 1-16,2 5-28 0,-5 0 1 0,3-3-1 16,-1-4 1-16,3-2-28 0,0-6 0 0,-5 8-1 15,7 2 2-15,-4 5 2 0,2 4 0 0,2 7 0 16,-2 4 1-16,-3 5 27 0,-1 7-1 0,-1 6 1 16,7-2 0-16,0 6 30 0,2 3 1 0,-2 2-1 15,-6 0 1-15,1 0 12 0,-6 0 0 0,3 0 0 0,5 0 0 16,1 0 5-16,2 0 0 0,5 2 0 0,8 5 0 15,-2 2 9-15,7-3 1 0,-3 3 0 0,-6-4 0 16,0 1 29-16,-3 1 0 0,-3 2-1 0,3 2 1 16,-3 2 16-16,-3 1 0 0,-7-1 0 0,-2-2 1 15,3 0-3-15,-1 0 1 0,-4-2 0 0,4-2 0 0,-4 0-11 16,0 1 1-16,0-5 0 0,0 1 1 0,0 1-8 16,0-1 0-16,-4 0 0 0,-5 3 1 0,7-2-2 15,-7 6 1-15,-4-5-1 0,0 3 1 0,-12 2-6 16,-1-4 1-16,0 2-1 0,1-3 1 0,3-1-3 0,2-1 0 15,-4-4 0-15,2 3 0 0,-2-3-5 16,0-3 1-16,-1 3-1 0,8-2 1 0,-3 0-3 16,2 2 2-16,1-5-2 0,1 3 2 0,5 0-5 0,-4 0 0 15,4 2 0-15,0-5 1 0,2-1-2 0,-2 1 2 16,-3-4-3-16,8 3 3 0,-3 1-6 0,2 3 2 16,3 0-2-16,-5 0 2 0,9 2-5 0,-2-5 1 15,2 5-1-15,0 0 1 0,0 0-6 0,0 0 1 16</inkml:trace>
  <inkml:trace contextRef="#ctx1" brushRef="#br0" timeOffset="8401.52">4758 11476 12 0,'0'0'0'0,"0"0"0"15,0 0 0-15,0 0 64 0,0 2 0 0,0-2 0 16,0 5 0-16,0-5 59 0,0 6 2 0,0-6-2 16,0 0 2-16,0 0-66 0,0 0 2 0,0 0-1 15,0 0 1-15,0 0-11 0,0 0 2 0,0 0 0 16,0 0-1-16,0 0-20 0,0 3 0 0,0-3 0 15,-11 17 1-15,11-17 2 0,-9 34-1 0,3-12 1 0,1 2 1 16,-1 3-7-16,-5 0 0 0,6 4 0 0,-4 0 0 16,-2 0 3-16,0 2 1 0,2 3-1 0,-2-1 1 15,3 1-1-15,-3 2 0 0,2 2 1 0,2-3 0 0,-4 1-2 16,2 0-1-16,0 2 0 0,-2 2 0 16,-2 0-10-16,0 0 0 0,2-4 0 0,-2 2 2 15,2-2-3-15,0 0 1 0,6-3-1 0,-4-2 1 0,7-2-5 16,-7-2 1-16,3 0-1 0,-1 0 1 15,7 0-3-15,-2 0 1 0,2 0-1 0,0-5 1 0,0 1 2 16,0-5 1-16,0-3-1 0,0-1 1 0,0-3-1 16,0-2-1-16,0 0 1 0,0 0 0 0,0 3-4 15,0-1 1-15,0 3-1 0,-4-3 2 0,-1 5-5 16,3 4 1-16,-3-6-1 0,5-1 1 0,-6-4-5 16,1 0-1-16,-1 0 1 0,4-2 0 0,-1-2-3 0,-1 0 1 15,0-1 1-15,-3 1-1 0,3-5-2 0,-1 3 0 16,1-3 0-16,4 4 1 0,-5-6-1 0,3 3 0 15,2-1 0-15,-4 0 1 0,4-2-2 0,-5 0 1 0</inkml:trace>
  <inkml:trace contextRef="#ctx1" brushRef="#br0" timeOffset="9737.94">4981 12160 1243 0,'0'0'0'0,"0"0"0"16,0 7 0-16,0-7 21 0,0 0 2 0,0 0-2 16,0 0 1-16,0 0 10 0,0 0-1 0,0 0 1 0,0 0-1 15,0 0-21-15,0 9 0 0,0-9 0 0,0 15 2 16,0-15-12-16,0 22 1 0,0-22 0 0,-7 34 0 16,5-12-2-16,-7 2 1 0,7 3-1 0,-2-3 1 0,-3 3-1 15,5-5 1-15,-1 3 0 0,-3 1 0 0,-1 1 0 16,1 0 0-16,-5-1 0 0,6-1 0 0,-4-1 1 15,3 1 0-15,1-3 0 0,-3-2 1 0,5-5 3 16,-1-1-1-16,0-8 1 0,-1 1 0 0,5-7 2 16,0 0 1-16,0 0 0 0,5 0 0 15,-1 0-1-15,-4 0 2 0,4 0 0 0,-4-7 0 0,5 1 2 16,1-3-1-16,5-9 0 0,3-6 1 0,-3-3 0 16,2-4 0-16,5 2 1 0,-3 4-1 0,0 5-1 0,-6 1 1 15,2 1 0-15,-4 0 1 0,2 0-5 0,2 3 1 16,-2-1 0-16,-5 1 1 0,7-1-4 0,0 0 0 15,-2 3 1-15,6 0-1 0,-4 6-2 0,5-2-1 16,-10 5 0-16,3 2 2 0,-4-5-1 0,-3 3 0 16,0-1 1-16,0 3 0 0,3 0 1 0,-5 2 0 0,0 0 1 15,0-3-1-15,4 1 6 0,-4 0 0 0,0 2-1 16,4 0 1-16,-4 0 7 0,-4 0 0 0,4 2 0 16,0 3 1-16,0 4 2 0,4-3 1 0,-1 5-1 15,1 9 0-15,-4 7-2 0,0 6 0 0,0 1 1 16,0-3-1-16,0-2-3 0,0-3 1 0,0 1 0 15,0-1 1-15,-7 1-4 0,3 0 0 0,4-3 1 16,0-2-1-16,0-2 0 0,0-4-1 0,0-1 1 0,0-3-1 16,0-4 1-16,4-1-1 0,-1-5 1 0,1 3-1 15,-4-1-3-15,4 1 1 0,-4-1-1 0,5-2 2 16,-5 3-4-16,4-5-1 0,3 0 1 0,-3-5 0 16,3 3-6-16,0-2 2 0,4-5-2 0,11-5 1 0,4-3-3 15,-2-6 0-15,1 1 0 0,-1 0 0 0,-4 2-1 16,-7-7 1-16,2 5 0 0,1 2 0 0,-1 5-4 15,-4-5-1-15,-2 2 1 0,0 2 0 0,2 3-3 16,-4 0-1-16,-3 2 0 0,-2 2 1 0,-2 4-1 16,0 3 1-16,0 0 1 0,0 0-1 0,0-1 3 15,0 3-1-15,0 0 1 0,0 0 0 0,0 0 1 0,0 0 1 16,0 0-1-16,0 0 1 0,0 0 1 0,0 0 1 16,-2 3 0-16,-2 3 0 0,-3 3 0 0,3 2 0 15,-5 0 0-15,2 7 0 0,3 7 0 0,-7 6 1 16,6-5-1-16,1-6 1 0,4 3 0 0,4-3 0 15,-4-3 1-15,2-3-1 0,1-3 0 0,-3-2 0 16,6-5 0-16,-1 0 0 0,-5 1-1 0,6-5 0 0,1 2 0 16,2 0 1-16,0-2-2 0,2 0 1 0,-5-2-1 15,3 0 1-15,2-7-3 0,2 2-1 0,-2-2 1 16,0-2 0-16,3 0-4 0,-10 0 0 0,7 0 0 16,-4-2 2-16,-1-1-3 0,3-1 1 0,-7-1 0 15,7-4 1-15,0 3 5 0,-2-1-1 0,1 0 1 16,-3 0 0-16,-5 1 1 0,0-1 0 0,0-2 0 15,0-2 0-15,-5-1 1 0,-3-1 2 0,5 4-1 16,-1 2 0-16,-1 7 5 0,1 7 0 0,2-3-1 16,-5 3 1-16,5-1 7 0,-7 3-1 0,7 0 0 15,-2-1 2-15,-3 1 4 0,7 0 1 0,-4 2-1 0,-3-4 2 16,3 4 0-16,-1 0 1 0,5 0 0 0,-4 0 0 16,4 0-10-16,-5 0 2 0,3 4-1 0,2-2 1 15,-4 5-12-15,4 0 0 0</inkml:trace>
  <inkml:trace contextRef="#ctx1" brushRef="#br0" timeOffset="10166.83">5817 12182 1494 0,'0'0'0'16,"0"0"0"-16,-3 5 0 0,3-5 20 0,0 4 2 0,0-4-2 16,0 5 1-16,0-5 13 0,0 6 1 0,0-6 0 15,0 0-1-15,0 0-2 0,0 0-1 0,0 0 1 16,-6 0 0-16,6 0-14 0,-9 9 1 0,9-9-1 16,-7 18 1-16,7-18-5 0,-2 18-1 0,2-18 1 15,-2 24 0-15,2-24 2 0,-11 33 0 0,6-8-1 16,1-5 2-16,0 11 1 0,-7 4 1 0,6 1-1 15,-1-1 1-15,1-3 1 0,1 1 1 0,-3 2-1 16,-2 3 0-16,-6-2-4 0,4 1 1 0,-2-1-1 16,6-3 1-16,-4-2-3 0,11-4 0 0,-4 2 0 15,4 0 0-15,-5 0-2 0,5-1 0 0,5-1 0 0,-5-2 1 16,0-8-12-16,0-3 1 0,0-1-1 0,0-2 1 16,0-6-2-16,0 1 0 0,0-1 0 0,0-1 0 15,0 3-3-15,4-5 1 0,-4 2-1 0,0-1 1 0,0-1-6 16,0-2 2-16,0 0-1 0,0-2 0 0,0-1-4 15,7 1 0-15,-7 0 0 0,4-5-1 0,3-4-2 16,-1 0-1-16</inkml:trace>
  <inkml:trace contextRef="#ctx1" brushRef="#br0" timeOffset="10651.859">5828 12227 1054 0,'0'0'0'0,"0"0"0"16,6-5 0-16,-6 5 16 0,7 0 1 0,-7 0 0 15,9-4 0-15,-9 4 2 0,11-9 0 0,-11 9 0 16,9-5 0-16,-9 5 7 0,11-2 1 0,-11 2 0 15,6-11-1-15,-6 11-1 0,18-9 0 0,-18 9 0 16,15-4-1-16,-15 4 4 0,27-2 0 0,-27 2 0 0,24-5 2 16,-24 5 3-16,26 5 2 0,-26-5 0 0,20 4 0 15,-20-4 3-15,22 11 0 0,-22-11 0 0,20 18 0 16,-20-18-7-16,16 15 0 0,-16-15 0 0,15 23 1 16,-15-23-8-16,15 22 2 0,-15-22-1 0,12 18 1 15,-12-18-8-15,8 17 1 0,-8-17-1 0,3 25 1 16,-3-25 0-16,8 42 0 0,-8-42 0 0,0 31 1 15,0-31-3-15,-4 27 0 0,4-27 0 0,-4 15 0 0,4-15-1 16,-3 11 1-16,3-11 0 0,-8 16 1 16,8-16-1-16,-16 11 1 0,16-11-1 0,-22 16 1 0,22-16-2 15,-26 11 2-15,26-11 0 0,-29 11 0 0,29-11-1 0,-35 4 1 16,35-4 0-16,-31 5 0 0,31-5-2 16,-33-5 1-16,33 5-2 0,-25-4 2 0,25 4-2 0,-19-5 0 15,19 5 1-15,-11-6 0 0,11 6-4 0,-18-11 2 16,18 11-1-16,-7-12 1 0,7 12-4 15,-6-6 0-15</inkml:trace>
</inkml:ink>
</file>

<file path=ppt/ink/ink5.xml><?xml version="1.0" encoding="utf-8"?>
<inkml:ink xmlns:inkml="http://www.w3.org/2003/InkML">
  <inkml:definitions>
    <inkml:context xml:id="ctx0">
      <inkml:inkSource xml:id="inkSrc0">
        <inkml:traceFormat>
          <inkml:channel name="X" type="integer" max="3408" units="cm"/>
          <inkml:channel name="Y" type="integer" max="2256" units="cm"/>
          <inkml:channel name="T" type="integer" max="2.14748E9" units="dev"/>
        </inkml:traceFormat>
        <inkml:channelProperties>
          <inkml:channelProperty channel="X" name="resolution" value="119.57895" units="1/cm"/>
          <inkml:channelProperty channel="Y" name="resolution" value="118.73684" units="1/cm"/>
          <inkml:channelProperty channel="T" name="resolution" value="1" units="1/dev"/>
        </inkml:channelProperties>
      </inkml:inkSource>
      <inkml:timestamp xml:id="ts0" timeString="2024-05-21T11:58:06.713"/>
    </inkml:context>
    <inkml:brush xml:id="br0">
      <inkml:brushProperty name="width" value="0.05292" units="cm"/>
      <inkml:brushProperty name="height" value="0.05292" units="cm"/>
      <inkml:brushProperty name="color" value="#FF0000"/>
    </inkml:brush>
    <inkml:context xml:id="ctx1">
      <inkml:inkSource xml:id="inkSrc1">
        <inkml:traceFormat>
          <inkml:channel name="X" type="integer" max="18176" units="cm"/>
          <inkml:channel name="Y" type="integer" max="12032" units="cm"/>
          <inkml:channel name="F" type="integer" max="4096" units="dev"/>
          <inkml:channel name="T" type="integer" max="2.14748E9" units="dev"/>
        </inkml:traceFormat>
        <inkml:channelProperties>
          <inkml:channelProperty channel="X" name="resolution" value="637.75439" units="1/cm"/>
          <inkml:channelProperty channel="Y" name="resolution" value="633.26318" units="1/cm"/>
          <inkml:channelProperty channel="F" name="resolution" value="0" units="1/dev"/>
          <inkml:channelProperty channel="T" name="resolution" value="1" units="1/dev"/>
        </inkml:channelProperties>
      </inkml:inkSource>
      <inkml:timestamp xml:id="ts1" timeString="2024-05-21T11:58:07.510"/>
    </inkml:context>
  </inkml:definitions>
  <inkml:trace contextRef="#ctx0" brushRef="#br0">19964 11201 0,'0'0'0,"0"0"0,0 0 0,0 0 15,0 0 1</inkml:trace>
  <inkml:trace contextRef="#ctx1" brushRef="#br0">11844 8509 12 0,'-2'5'0'0,"2"-5"0"16,-9 4 0-16,9-4 73 0,-5 3 0 0,5-3 0 15,-4 0 0-15,4 0 76 0,0 4 0 0,0-4 0 16,0 4 1-16,0-4-95 0,0 3 0 0,0-3 0 0,0 4 1 16,0-4 33-16,0 5 2 0,0-5-1 0,0 4 1 15,0-4-63-15,0 7 1 0,0-7 0 16,9 4 1-16,-9-4-8 0,15 16 2 0,-15-16-2 0,24 37 2 16,-4-14 1-16,-2 3 1 0,2 1 0 0,-5-3 0 15,-4-4 4-15,2 2 2 0,-1-6-1 0,3 4 0 0,-6 2 3 16,8-4 0-16,-1 2-1 0,-1 0 2 15,3 2-2-15,0-6 0 0,1 10 0 0,-3 1 1 0,4 9-2 16,-3 1 1-16,3 5-1 0,-4-6 2 16,3 2-7-16,-3-1 1 0,-3-1 0 0,3 2 0 0,-1 0-4 15,-4-3-1-15,0 3 1 0,0-5-1 0,2 3-2 16,-6-1 0-16,6 3 0 0,-8 0 0 0,1-1-3 16,1-1 0-16,2 2 0 0,-5 2 0 0,0 2-2 15,3 2 0-15,-3-2-1 0,-4-4 2 0,5-2-2 0,2-5-1 16,-5 2 1-16,-2 3 1 0,0-5-3 0,4 2 2 15,-2-2-1-15,3 0 1 0,-5-4 0 0,6 0 0 16,-3-1 1-16,-1-8 0 0,-2 2-1 0,0 0 2 0,2-9-1 16,-2 5 1-16,4-5-4 0,-4 0 2 0,-4-2-2 15,4-3 2-15,0-1-3 0,0-1 1 0,0 1-1 16,0 1 1-16,0-3-3 0,0 1 1 0,0 0-1 16,0 1 0-16,0-3-2 0,-2 0-1 0,-3 0 1 15,-1 3 1-15,6-5-3 0,-2 4 1 0,-3-4-2 16,-1-4 2-16,-3-1-5 0,2-1 2 0</inkml:trace>
  <inkml:trace contextRef="#ctx1" brushRef="#br0" timeOffset="483">12038 9775 1344 0,'0'0'0'16,"0"0"0"-16,0 0 0 0,0 0 44 0,4 0-1 15,-4 0 1-15,0 0 1 0,0 0-1 0,-13-9 1 16,13 9-2-16,-2-6 2 0,2 6-36 0,-16-7 0 15,16 7 0-15,-11-4 1 0,11 4-6 0,-11 0 0 16,11 0 0-16,-4 4 0 0,4-4-3 0,-4 15 1 16,4-15 1-16,0 34-1 0,4-10 1 0,-2 10 2 15,7-1-2-15,6-2 2 0,1 0 5 0,4 2 1 0,-5 1-1 16,5-1 1-16,2 2 6 0,2 3 0 0,1-7 0 16,1 0 1-16,-8-4 4 0,6-3 1 0,-4 1-1 15,0-7 1-15,-5 2 5 0,0 0 1 0,-1-5 0 16,3-4 0-16,-6-6-4 0,0-3 0 0,3 0-1 15,-3 0 1-15,-3 3-5 0,3-5 0 0,1 0 0 16,-1-9 2-16,0-2-6 0,2-5-1 0,-2-6 1 16,2-2 1-16,0-3-4 0,1-6 1 0,1-3-1 15,0 3 1-15,1-5-1 0,-3 3 2 0,5-1-1 0,-12 3 1 16,8-5-2-16,-3 2 2 0,2 3-2 0,-2-2 2 16,-5-1-3-16,3 3 1 0,-4-3-1 0,-1 5 0 15,-4 2-4-15,0 3 0 0</inkml:trace>
  <inkml:trace contextRef="#ctx1" brushRef="#br0" timeOffset="1215.81">11903 8905 1394 0,'0'0'0'16,"0"0"0"-16,-9 0 0 0,9 0 15 0,-15 9 0 15,15-9-1-15,-11 17 1 0,11-17 3 0,2 27 1 16,-2-27-1-16,2 27 1 0,-2-27-9 0,11 31 0 16,-6-9 0-16,4 5 0 0,2 8-8 0,2 1 1 15,-2 4-1-15,7 0 1 0,-3-3 0 0,1 6-1 16,3 3 0-16,-1-4 1 0,2 3 2 0,0 1-1 0,0 3 1 16,-5-2-1-16,0-5 6 0,1 0 1 0,-5 3-1 15,4 4 0-15,-4-3 5 0,0 3 2 0,-2-7 0 16,4 0 0-16,-2-11 1 0,-2 1 0 0,2-4 0 15,-6-1 1-15,1-3-1 0,-1-1 1 0,-1-3 0 16,3-3 0-16,2 1-2 0,-5 0 0 0,0-7 0 16,5-2 1-16,-4-2 2 0,-1-1 0 0,-4-1 0 15,4-1 1-15,-1 1-1 0,1-5-1 0,-4 2 0 16,4 0 1-16,-4-2-4 0,3 0-1 0,-3 0 1 0,4-2 1 16,-4 0-9-16,-4 2 1 0</inkml:trace>
</inkml:ink>
</file>

<file path=ppt/ink/ink6.xml><?xml version="1.0" encoding="utf-8"?>
<inkml:ink xmlns:inkml="http://www.w3.org/2003/InkML">
  <inkml:definitions>
    <inkml:context xml:id="ctx0">
      <inkml:inkSource xml:id="inkSrc0">
        <inkml:traceFormat>
          <inkml:channel name="X" type="integer" max="18176" units="cm"/>
          <inkml:channel name="Y" type="integer" max="12032" units="cm"/>
          <inkml:channel name="F" type="integer" max="4096" units="dev"/>
          <inkml:channel name="T" type="integer" max="2.14748E9" units="dev"/>
        </inkml:traceFormat>
        <inkml:channelProperties>
          <inkml:channelProperty channel="X" name="resolution" value="637.75439" units="1/cm"/>
          <inkml:channelProperty channel="Y" name="resolution" value="633.26318" units="1/cm"/>
          <inkml:channelProperty channel="F" name="resolution" value="0" units="1/dev"/>
          <inkml:channelProperty channel="T" name="resolution" value="1" units="1/dev"/>
        </inkml:channelProperties>
      </inkml:inkSource>
      <inkml:timestamp xml:id="ts0" timeString="2024-05-20T11:57:03.603"/>
    </inkml:context>
    <inkml:brush xml:id="br0">
      <inkml:brushProperty name="width" value="0.05292" units="cm"/>
      <inkml:brushProperty name="height" value="0.05292" units="cm"/>
      <inkml:brushProperty name="color" value="#FF0000"/>
    </inkml:brush>
  </inkml:definitions>
  <inkml:trace contextRef="#ctx0" brushRef="#br0">14896 9702 12 0,'-2'4'0'0,"2"-4"0"0,-5 3 0 0,5-3 0 0,-4 4 0 15,4-4 0-15,-4 9 0 0,4-9 1 0,0 11 0 16,0-11 0-16,0 7 0 0,0-7 32 0,0 9 1 16,0-9-2-16,0 11 2 0,0-11-1 0,-5 4 2 15,5-4-1-15,-7 7 1 0,7-7-5 0,-4 9 0 16,4-9 1-16,-7 11-1 0,7-11-9 0,-4 6 2 16,4-6-1-16,-4 9 1 0,4-9-3 0,-5 7 1 0,5-7 0 15,-6 9 1-15,6-9-5 0,-9 4 0 0,9-4 1 16,-7 7 0-16,7-7 1 0,-9 2 1 0,9-2-1 15,-8 5 0-15,8-5-1 0,-9 8 1 0,9-8 0 16,-7 5 0-16,7-5-5 0,-2 2 2 0,2-2 0 16,-7 0 0-16,7 0-6 0,-4 0 1 0,4 0-1 15,-5 0 1-15,5 0-1 0,-4 0 2 0,4 0-1 16,-4 0 0-16,4 0 1 0,0 5 1 0,0-5-1 0,0 4 1 16,0-4 0-16,0 4 0 0,0-4 0 0,0 7 0 15,0-7 1-15,0 2-1 0,0-2 1 0,0 14-1 16,0-14 3-16,0 15 1 0,0-15-2 0,0 22 2 15,0-22 1-15,0 23 1 0,0-23-1 0,0 24 1 16,0-24-2-16,0 27 0 0,0-27 0 0,4 26 1 16,-4-26-3-16,0 36 1 0,0-36 0 0,4 33 1 0,-4-33-4 15,3 31 0-15,-3-31 1 0,6 22 1 0,-6-22-4 16,7 23 1-16,-7-23 0 0,4 24 1 0,-4-24 3 16,5 20 0-16,-5-20 0 0,6 27 1 0,-6-27-1 15,3 24-1-15,-3-24 1 0,4 25 0 0,-4-25 2 16,4 24 0-16,-4-24 0 0,9 27 0 0,-9-27-2 0,7 26 1 15,-7-26 0-15,4 27 0 0,-4-27-4 0,5 22 2 16,-5-22 0-16,2 22-1 0,-2-22-3 0,9 25 1 16,-9-25-1-16,4 26 0 0,-4-26-7 0,7 27 2 15,-7-27-1-15,4 27 0 0,-4-27-1 0,4 24-1 16,-4-24 0-16,5 29 2 0,-5-29-4 0,7 31 1 16,-7-31 0-16,-5 31 1 0,5-31-2 0,-7 36 0 0,7-36 0 15,-4 42 0-15,0-18 1 0,1 3 1 0,1 0-1 16,0-3 0-16,2 0 1 0,-4 1 2 0,4-1-2 15,0 3 2-15,0-7-1 0,0 4 1 0,0 1-1 16,0-7 1-16,0 2 2 0,0 0 0 0,4-5 1 16,-4 1 0-16,-4-3 0 0,4 0 1 0,0 1-1 15,0 1 1-15,0 5 0 0,0 0 0 0,0 0 0 16,4 2 0-16,-4-4 3 0,2 6 0 0,-2-4 1 16,-2 3 0-16,2-3 2 0,-4 2-1 0,4 0 1 15,4 0-1-15,-4 3-6 0,4-5 1 0,3 2-1 0,-3-4 1 16,-1 2-5-16,1 0 0 0,1-7-1 0,-1 5 2 15,-2-1-4-15,-2-1 1 0,-2 4 0 0,2-2 1 16,0 2-3-16,0 2 1 0,0 2 0 0,0-4 0 0,0 5-1 16,0-1 1-16,-4 3-1 0,-1-5 1 0,1 5 0 15,1 2 1-15,-5-3-1 0,1 1 0 0,-6 0 2 16,11-1 1-16,-7 1-1 0,2-5 0 0,1 0 2 16,-1 3 0-16,0-5 0 0,3 2 0 0,-3 2 1 15,5 1 0-15,-7-1-1 0,5-2 1 0,-1 3 1 0,1-1 1 16,-3 1-2-16,3-1 2 0,4-2 0 0,0 5 0 15,0-5 0-15,0 0 0 0,0-2-1 0,0 0 2 16,0-4-1-16,0-1 1 0,-4 3-1 0,4-2 1 16,-5-3 0-16,3 0 0 0,2 1-2 0,2-1-1 15,-2-2 1-15,0-2 0 0,5-2-1 0,-5-3 0 16,0 1 0-16,0-3 1 0,0 0-2 0,0 0 1 16,0 0-1-16,0 1 1 0,0 1-3 0,4-4 2 0,-4-4-1 15,0 1 1-15,4-1-2 0,-1 0 1 0,1-12-1 16,3-4 1-16,-1-7 0 0,5-4 0 0,0 0 1 15,-8 2-1-15,3 3 0 0,-4-1-1 0,1-2 0 16,3-2 2-16,-4 2-3 0,1-4 2 0,-3 2-1 16,0 0 0-16,0 0-1 0,0-7 1 0,0 2-1 15,0-1 1-15,0-1-2 0,0-2 1 0,0 2-1 16,0-4 1-16,-3 0-2 0,1 0 1 0,-4-3 0 16,6 1 0-16,0-1-1 0,0 1 0 0,0 2 0 0,0-3 1 15,-3 3-1-15,1 0 0 0,-4-16 0 0,3 9 0 16,-1 9 0-16,2 3 0 0,2 10 0 0,0-9 2 15,2 3-2-15,2-2 0 0,-4 1 0 0,3-1 1 16,-3 1-1-16,4 3 0 0,-2-4 0 0,0 2 1 0,1 1-1 16,-3-3 1-16,6 6-1 0,-6-2 1 0,0 0-1 15,0-5 0-15,0 5 0 0,2 2 0 0,1-2-1 16,-1-2 0-16,2 6 0 0,-4 3 0 0,5-3-6 16,-3 1 1-16,7-1-1 0,-5 3 2 0,0 1-7 15,3-3-1-15,0 1 1 0,-3-1 1 0,1 1-4 16,-1 1 0-16,-2-1 1 0,0 1 0 0,-2-1 1 0,0-1-1 15,-2-1 1-15,0 1 1 0,2-1 7 0,-4 0 2 16,-1 12-2-16,3-8 2 0,-3 3 0 0,1 5-1 16,4 4 1-16,-4-2 1 0,1 4-2 0,1 0 2 15,0 4-1-15,2 1 0 0,0 2-1 0,0-5 1 16,0 3-1-16,0-1 1 0,0 1-2 0,0-1 2 16,-4 3-2-16,4-2 2 0,0-1-1 0,0 3-1 15,-5 0 1-15,5-1 0 0,-4-3 3 0,4 1 1 0,0 3-1 16,0 0 1-16,0 2 0 0,0-5 0 0,0 3 0 15,0 0 0-15,0 0 1 0,0 2 1 0,0-5-1 16,0 5 2-16,-2 0-1 0,2-4 1 0,0 2 0 16,0-1 0-16,0 1 0 0,0 2 1 0,0-4-1 15,0 2 2-15,0-1-2 0,0 1 0 0,0 2 1 16,0-2-1-16,0 2-1 0,0 0 2 0,0 0-2 16,0 0 1-16,0 0-3 0,0 0 0 0,0 0 0 15,0 0 1-15,-5 2-2 0,5 0 0 0,-9 18 0 0,7 0 1 16,-4 7-5-16,3 2 1 0,1 6 0 0,2-1 0 15,0-3-4-15,2 4 0 0,1-1 1 0,3 1 0 16,-4 3 2-16,3-3 1 0,-1 12-1 0,1-3 2 16,-5 3 2-16,2 0 0 0,7 33 0 0,-5-20 0 0,-4 0-1 15,0 0 2-15,0-3 0 0,0 1 0 0,-4 2 0 16,-1 0 0-16,1-22 0 0,4 4 0 0,-2 0 0 16,2 2 0-16,0 8 0 0,0-6 2 0,2 1-2 15,7-3 0-15,-5-4 0 0,-2 0 1 0,3-2-1 16,-1 2 0-16,0-7 0 0,3 3 1 0,2-1-1 0,-5-1 0 15,3 1 0-15,-3 3 0 0,5 0-1 0,-4-1 1 16,1-8 0-16,-1 0 0 0,1 0-1 0,-1-2-1 16,-3-5 1-16,2-4 1 0,1 2 0 0,-3 0 0 15,2-16 0-15,-4 3 0 0,0-1 0 0,0 3 0 16,0-7 0-16,0 7 1 0,0-4 1 0,0-1-1 16,0 3 0-16,0-7 0 0,0 2-1 0,-4 0 1 15</inkml:trace>
  <inkml:trace contextRef="#ctx0" brushRef="#br0" timeOffset="2100.42">14936 10903 1067 0,'0'0'0'0,"0"0"0"0,0 0 0 16,0 0 24-16,-5 7 2 0,5-7 0 0,-6 4 0 16,6-4 4-16,-5 5 2 0,5-5-1 0,0 2 0 0,0-2-32 15,0 0 1-15,0 0-1 0,0 0 1 0,0 0-53 16,0-2 1-16,0 2-1 0,0 0 0 0,0 0-85 15,0 0 1-15,0 0-1 0,0 0 1 0,0 0 101 0,0 0 0 16,0 0 1-16,0 0-1 0,0 0 23 0,0 0 2 16,0 0 0-16,0 0 0 0,0 0 11 0,0 0 0 15,0 0 0-15,0 0 1 0,0 0 21 0,0 0 2 16,0 0-2-16,0 0 2 0,0 0 27 0,0 0 1 16,0 0 0-16,0 0-1 0,0 0-4 0,0 0 1 15,0 0-1-15,0 0 0 0,0 0-3 0,0 0 0 16,0 0 1-16,0 0 0 0,0 0-8 0,0 0 0 0,0 0 0 15,0 0 0-15,0 0-3 0,0 0 0 0,0 0-1 16,0 0 2-16,0 0-5 0,5 0 1 0,-5 0-1 16,6 2 0-16,-6-2-5 0,5 9 0 0,-5-9-1 15,2 4 1-15,-2-4 4 0,9 9 0 0,-9-9 1 16,15 5 0-16,-15-5-1 0,16 4 1 0,-16-4 1 16,24 5-1-16,-24-5-2 0,20 2 1 0,-20-2-1 15,28 4 1-15,-28-4-3 0,25 5 1 0,-25-5-1 16,24 4 1-16,-24-4-5 0,22 4 1 0,-22-4-1 15,24 9 2-15,-24-9-1 0,27 5 2 0,-27-5-1 0,35 9 0 16,-35-9-1-16,40 11 0 0,-40-11 1 0,37 18-1 16,-37-18 0-16,29 13 1 0,-29-13-2 0,22 13 2 15,-22-13-4-15,24 16 1 0,-24-16 0 0,31 20 1 16,-31-20-9-16,33 35 1 0,-33-35-1 0,35 29 2 0,-35-29-4 16,31 31 1-16,-31-31-1 0,24 31 2 0,-24-31-3 15,23 31 0-15,-23-31 0 0,22 31 1 16,-22-31-2-16,22 29 1 0,-22-29 0 0,22 31 1 0,-22-31-2 15,15 32 1-15,-15-32-1 0,13 31 1 0,-13-31-1 16,5 31 0-16,-5-31 0 0,4 31 1 0,-4-31-1 0,2 38 0 16,-2-38 0-16,5 33 1 0,-5-33-2 0,0 35 0 15,0-35-1-15,0 38 1 0,0-16 0 0,0-4 0 16,-7 4 0-16,3 1 1 0,-1 1-2 0,-6 3 0 16,2-5 0-16,3 4 1 0,1 3-2 0,-3 0 0 15,1-2 1-15,-6-1 0 0,0 1-2 0,-1-2 1 16,3 1 0-16,-4 1 0 0,-1 4 0 0,3-4 0 0,0-1-1 15,-5 1 1-15,3 0-2 0,-1-1 1 0,1-1-1 16,-3-3 1-16,3 0-2 0,-5 0 2 0,0 3-1 16,3 1 1-16,-1 1-2 0,-6 4 1 0,2 0 1 15,2-4-1-15,0-5 0 0,0 0 0 0,0 3 1 16,3-1-1-16,-8 0 0 0,3 3-1 0,-2 0 0 16,0-3 2-16,2 1-2 0,-5-5 1 0,1 2-1 15,-3 0 1-15,3 0 0 0,-3-2-1 0,3-2 1 16,-1 2 0-16,-2-5-2 0,-4 3 2 0,5 0-1 15,1 0 0-15,-4 0 1 0,-2-1 0 0,5 1 0 16,-3-2 0-16,-2-1 1 0,0 1 0 0,-3-1 0 0,1-4 0 16,-3 5 0-16,3-7 0 0,0 4 0 0,-5 0 0 15,0 3 0-15,-1 2 1 0,1-7-1 0,0 2 1 16,1-2-2-16,3 0 2 0,-3 0-2 0,1-4 2 0,3 2-3 16,2-2 2-16,0-1-2 0,-3-1 2 0,5-5-2 15,1-2 0-15,-6-1 1 0,1 1-1 0,-3 2 1 16,3-7-1-16,0 3 0 0,0 0 1 0,6-3-2 15,-4-2 1-15,2 0-1 0,2 0 2 0,3 0-2 16,-3 0 0-16,1 1 1 0,3-1-1 0,-1-7 0 16,2 5 0-16,-3-4 1 0,-4-3 0 0,7 2 0 0,0-2 1 15,2 1-1-15,-3-3 0 0,6-2 1 0,1-3 0 16,2 1 0-16,-3-1 0 0,3 3-1 0,5 0 2 16,-4 0-2-16,6-1 2 0,-2 6-2 0,0-3 2 15,6 0-1-15,-3-3 1 0,1 3-2 0,3-2 0 16,-3 0 1-16,3 0 0 0,4-3-2 0,0 1 2 15,0 0-1-15,0-1 1 0,0 3-2 0,0-5 1 16,0-2 1-16,0 3-1 0,0-1-1 0,0 0 0 0,0 3 1 16,-5 0 0-16,5-3-1 0,5 0 0 0,-5 1 1 15,0-1-1-15,0-2-1 16,4-2 1-16,-2-2 1 0,3 2-1 0,-5 0-1 0,0-3 1 0,4 12 0 16,-4-5 1-16,4 7-2 0,1-6 0 0,4 1 0 15,-1 1 1-15,-3 0-2 0,1-1 1 0,1 5 1 16,0 0-1-16,-1 5-1 0,-1-5 1 0,-1 9-1 15,-2-5 1-15,-2 5-1 0,5-5 1 0,-1 7-1 16,-4 1 1-16,5 1-1 0,-5 5 1 0,2-5-1 16,0 3 1-16,0-1-1 0,3 1 0 0,-5 1 0 0,0 1 2 15,0 0-2-15,0 2 0 0,0-4 0 0,0 1 1 16,4 1-1-16,-4 0 0 0,0 0 0 0,0-1 0 16,0 3 0-16,0-4 0 0,0 2 0 0,0 0 0 0,0-1 0 15,0 1 0-15,0 0 0 0,0 2 0 16,0-5 0-16,0 3 0 0,0 2 0 0,0 0 0 0,0 0 0 15,0-2 0-15,0 2 0 0,0 0 0 0,0 0 0 16,0 0 0-16,0-2 0 0,2 2 0 0,-2-5 0 16,0 3 0-16,2 0 0 0,1 0 0 0,1 2 0 15,-4-2 0-15,4-1 0 0,-4 3 0 0,3-4 0 0,-1 2 0 16,-2-1 0-16,6 1 0 0,-1 0 0 0,-1 0 0 16,3-3 0-16,-5 1 0 0,3 2 0 0,1-5 0 15,1 3 0-15,-1-1 0 0,3 1-1 0,0-1 1 16,2 1 0-16,-4-3 0 0,1 0-2 0,4 1 2 15,-8-1 0-15,7 0 0 0,-2 1-1 0,2 1 1 16,0-6-1-16,0 2 1 0,2-2-1 0,3 0 1 0,-1 0-1 16,0-4 1-16,1 3-1 0,-1-1 1 0,-8 11 0 15,0-7 0-15,-1 2-1 0,-1 3 1 0,1-1-1 16,-1 3 1-16,-1-2-2 0,3-1 2 0,-7 3-1 16,2 0 1-16,-2 0-1 0,4 2 1 0,-2-5 0 15,1 3 0-15,-1 0-1 0,0 0 1 0,-2 2 0 16,0 0 0-16,0 0-1 0,0 0 1 0,0 0 0 15,0 0 0-15,0 0-1 0,0 0 1 0,0 0 0 16,0 0 0-16,0 0-1 0,0 0 1 0,0 0-1 16,0 0 1-16,0 0-2 0,0 0 1 0,0 0 0 15,0 0 1-15,0 0-2 0,0 0 1 0,0 0-1 0,0 0 0 16,0 0-1-16,0 0 0 0</inkml:trace>
  <inkml:trace contextRef="#ctx0" brushRef="#br0" timeOffset="2639.23">13107 11167 1771 0,'3'3'0'16,"-3"-3"0"-16,4 13 0 0,-4-13 33 0,-9 11 1 15,9-11-1-15,0 5 1 0,0-5-25 0,0 6 1 16,0-6 0-16,0 0 0 0,0 0-13 0,0 0 1 15,0 0-2-15,0 0 2 0,0 0-50 0,0 0 2 16,0 0-2-16,0 0 2 0,0 0-19 0,0 0 1 16,0 0-1-16,0 0 2 0,0 0 35 0,0 0 0 0,0 0 1 15,0 0-1-15,0 0 28 0,2 0-1 0,-2 0 1 16,7 9-1-16,-7-9 5 0,9 0 0 0,-9 0 0 16,18 0 0-16,-18 0 4 0,24 7 0 0,-24-7 1 15,31 6-1-15,-31-6 16 0,35 9 1 0,-35-9-1 16,35 11 1-16,-13-2-2 0,3 0 1 0,-8-2-1 15,1-1 2-15,-3 1-5 0,3 2 1 0,-3-5 0 16,1 3 0-16,-1-2-4 0,-2 1 2 0,-6 1 0 16,6-3-1-16,-6 1 6 0,2-1 2 0,-3 1-1 15,-1-3 0-15,-1 2 1 0,-4-4-1 0,2 3 0 0,1-1 2 16,-3 0-1-16,6-2 1 0,-6 0-1 0,5 0 1 16,-5 0 1-16,0 0 1 0,0 0 0 0,0 0-1 0,0 0-2 15,0 0 0-15,0 0 1 0,0 0-1 16,0 0-1-16,0 0 2 0,0 0-1 0,0 0 1 0,0 0-2 15,0 0 1-15,0 2 1 0,-5 5-1 0,-1 0-2 16,1 1 1-16,1-3-1 0,-3 2 1 0,3-1-4 16,-1 3 1-16,-6 2 0 0,-2 5 0 0,6 4-2 15,-4 2 0-15,3-2 0 0,-3 4 1 0,-3 3-2 0,1 2-1 16,0 4 1-16,2 5 0 0,-5 6-1 16,3 5 1-16,-2 2-1 0,-1 3 1 0,3 3-3 0,0 1 0 15,2-2 1-15,-5-1 0 0,5 1-2 0,3-1 1 16</inkml:trace>
</inkml:ink>
</file>

<file path=ppt/ink/ink7.xml><?xml version="1.0" encoding="utf-8"?>
<inkml:ink xmlns:inkml="http://www.w3.org/2003/InkML">
  <inkml:definitions>
    <inkml:context xml:id="ctx0">
      <inkml:inkSource xml:id="inkSrc0">
        <inkml:traceFormat>
          <inkml:channel name="X" type="integer" max="18176" units="cm"/>
          <inkml:channel name="Y" type="integer" max="12032" units="cm"/>
          <inkml:channel name="F" type="integer" max="4096" units="dev"/>
          <inkml:channel name="T" type="integer" max="2.14748E9" units="dev"/>
        </inkml:traceFormat>
        <inkml:channelProperties>
          <inkml:channelProperty channel="X" name="resolution" value="637.75439" units="1/cm"/>
          <inkml:channelProperty channel="Y" name="resolution" value="633.26318" units="1/cm"/>
          <inkml:channelProperty channel="F" name="resolution" value="0" units="1/dev"/>
          <inkml:channelProperty channel="T" name="resolution" value="1" units="1/dev"/>
        </inkml:channelProperties>
      </inkml:inkSource>
      <inkml:timestamp xml:id="ts0" timeString="2024-05-21T12:04:28.777"/>
    </inkml:context>
    <inkml:brush xml:id="br0">
      <inkml:brushProperty name="width" value="0.05292" units="cm"/>
      <inkml:brushProperty name="height" value="0.05292" units="cm"/>
      <inkml:brushProperty name="color" value="#FF0000"/>
    </inkml:brush>
  </inkml:definitions>
  <inkml:trace contextRef="#ctx0" brushRef="#br0">18114 12182 12 0,'0'-6'0'15,"0"6"0"-15,0-14 0 0,0 14 57 0,0-2 1 16,0 2 1-16,0-4-1 0,0 4-2 16,0-11 1-16,0 11 0 0,0-16 0 0,0 16 7 0,0-11 1 15,0 11 0-15,0-16 0 0,0 16-5 0,-7-11-1 16,7 11 0-16,-9-9 2 0,9 9-31 0,-2 0 1 15,2 0-1-15,-5-2 1 0,5 2-6 0,-6 0 1 16,6 0 0-16,-11 18 0 0,11-18-4 0,-18 40 2 0,7-13-1 16,2 1 1-16,3 3-3 0,-5 5 1 15,2-3 1-15,0 3-1 0,-2 8 0 0,4 3 0 0,1 0 1 16,-1-1-1-16,1 1 0 0,1-1 1 0,1 3-1 16,2-4 1-16,-9 6 0 0,4 2 2 0,0 3 0 15,3-3-1-15,2 0-9 0,-3 0 1 0,5 1-1 16,0-5 1-16,0 2-5 0,0-5 2 0,5 1-2 15,-3-3 1-15,0-1-4 0,5-4 0 0,-5 1 0 16,5 0 1-16,-1-2 0 0,1 0 1 0,2-3 0 0,-7-1 0 16,7-1 6-16,-1-2-1 0,-3-4 1 0,1-1 1 15,1 3 0-15,0-6 1 0,-1 1 0 0,1-2 0 16,-3 0-5-16,1 1 2 0,-5 1-2 0,2-4 2 16,0 2-8-16,-2-6-1 0,0-1 1 0,0-1 0 0,0-1-4 15,0-2 0-15,0 0 1 0,0-2-1 16,2-2-3-16,1-3 1 0,-3-2-1 0,2 1 1 0,-2-1-1 15,0-2 0-15,0 0 0 0,0 0 0 0,0 0-1 16,0 0 0-16,0-2 0 0,-2-3 0 0,-3 1-2 16,3-7-1-16,2-14 1 0,0-4 1 0,0-13-3 0,0 0 1 15,0-5-1-15,0 3 1 0,0-1-2 0,0 1 2 16,0 0-2-16,0-5 1 0,0-2 2 16,-2-3 1-16,-3 1-2 0,3 4 2 0,0 3 0 15,0 3 1-15,0-5-1 0,-1-8 1 0,3-4-2 0,-4-9 2 16,2 0 0-16,2 12 0 0,2 1 0 0,2 3 0 15,-1 2 0-15,1 2-1 0,0 5 1 0,1 1 1 16,-1 1 0-16,1 0 0 0,1 0 0 0,-1 2 0 16,6 2 0-16,-7 5 0 0,3 2-1 0,1 0 1 15,-3 2-1-15,1 2 1 0,-1-2-1 0,-3 0 0 0,-2 5 0 16,7 2 0-16,-5 2-3 0,0 2 2 0,-2 2 0 16,5 3-1-16,-3 6 1 0,0-1 0 0,-2 1 0 15,0-2 1-15,0 2-2 0,0 3 2 0,0 2-1 16,0-3 1-16,0 1-1 0,0-1 1 0,0 3-1 15,0 2 1-15,0-4 1 0,0 4 0 0,-2 0 0 16,-5 0 0-16,5 4 1 0,0 1 2 0,-5 3-2 16,0 10 1-16,-10 13 2 0,-1 7 1 0,1 2-1 0,3 0 2 15,3 2 2-15,-2 0 0 0,2 7 0 0,4 2-1 16,-4 5 0-16,3 2 0 0,-3 2 0 0,0-3-1 16,4 8 2-16,-2-3 1 0,0 2-1 0,0 1 1 0,3-1-1 15,-3-2 1-15,5 0 0 0,-3-4 0 16,3-5 0-16,-1 1 1 0,1-8 0 0,2 1 0 15,2-3 4-15,2-1-1 0,-2-1 1 0,6-2-1 16,1 0-4-16,-3 0 0 0,-1-3 0 0,1-3 0 0,0-5 2 16,1-1 0-16,-1 1 1 0,1 0-1 0,1-2 0 15,-1-3 1-15,1-4 0 0,-1 0 0 0,-3-4 0 0,0-3 1 16,3 0-1-16,1 1 0 0,-6-3-3 0,0 4 0 16,0-6 0-16,5 0 1 0,-5-2-1 0,2-1 0 15,-2-1 0-15,0 4 0 0,0 0-2 0,0-5 1 16,0 3 0-16,0 2 0 0,0-5-7 0,0 3 1 15,0-1-1-15,0 3 1 0,0-6-2 0,-2 1 0 16,-3 0 0-16,-1 1 0 0,6-3 0 0,-3 0 0 16,3 1 0-16,0 1 0 0,0-4 0 0,0 2 0 15,0 0 0-15,0 1 0 0,0-1 0 0,0-2 1 0,0-2-1 16,-2-5 2-16,-2-4-1 0,-1-5 1 0,3-6-1 16,0-2 1-16,0 1-1 0,2-8 2 0,0-2-2 15,2 2 1-15,0 2-2 0,5 0 0 0,-7-2 0 16,2-2 0-16,0-3-4 0,3-1-1 0,-5 1 1 15,0-2-1-15,0 3-10 0,6 4 2 0,-6-3-2 16,-6-1 2-16,6-1-8 0,0 1-1 0,0-1 1 16,0 1 0-16,-3 4-2 0,-1 2 2 0,2 2 0 15,-5-2-1-15,3-6 3 0,-1-5 0 0,5 2 0 0,0 0 1 16,0 3 3-16,0-1 2 0,0 10 0 0,0 3-1 16,0-3 5-16,0 1 1 0,0 10-1 0,0-1 1 15,0 3 3-15,0-3 0 0,0 1 0 0,5 4 0 0,-3-5 1 16,0 3 0-16,0-1 1 0,3-1 0 0,-5-1 2 15,4 1-1-15,1 4 1 0,1-5 0 0,-1 5 0 16,-3-4 0-16,0 3 0 0,0 1 0 0,3 0 0 16,-5 5-1-16,2-3 1 0,-2 0 1 0,4 0-1 15,-2 2 0-15,1 1 0 0,-1 1 1 0,-2-4-1 16,6 3 1-16,-6-1-1 0,3 3 1 0,-3-3 0 0,0 2 0 16,0 1 0-16,0 0 0 0,0-1 1 0,0 3 0 15,0-3 0-15,0 3 0 0,0 0 3 0,0 0-1 16,0 0 0-16,0-1 1 0,0 3-1 0,0-4 0 15,0 2 1-15,0-1 0 0,0 1-2 0,0 0 2 16</inkml:trace>
  <inkml:trace contextRef="#ctx0" brushRef="#br0" timeOffset="3283.45">18030 13217 954 0,'0'0'0'0,"0"0"0"0,-7 5 0 0,7-5 8 16,-4 4 0-16,4-4 0 0,-5 4 0 15,5-4-9-15,-4 5 0 0,4-5 0 0,-5 2 1 0,5-2-43 16,-4 0 1-16,4 0 0 0,-2 0 0 16,2 0-37-16,-9 0-1 0,9 0 0 0,-2 7 2 0,2-7 41 15,-5 6 1-15,5-6-1 0,-6 3 1 0,6-3 29 16,-2 0 1-16,2 0 0 0,-5 0 0 0,5 0 13 15,-4 0 0-15,4 0-1 0,-2 0 1 0,2 0 31 0,-7 0 1 16,7 0 0-16,0 0 0 0,0 0 15 0,0 0 1 16,0 0-1-16,0 0 1 0,0 0 4 0,0 0 1 15,0 0-1-15,0 0 2 0,0 0-1 0,0 0 1 0,0 0-1 16,2 4 2-16,-2-4-24 0,0 4 0 0,0-4 1 16,0 5-1-16,0-5-2 0,0 7 0 0,0-7-1 15,0 2 1-15,0-2-9 0,0 4 0 0,0-4 0 16,0 5 0-16,0-5-4 0,0 0-1 0,0 0 0 15,0 0 2-15,0 0-6 0,0 0 1 0,0 0 0 16,5 0 0-16,-5 0-4 0,2 0-1 0,-2 0 1 16,4 0 1-16,-4 0-4 0,0 0 1 0,0 0 0 15,0 0 0-15,0 0-3 0,0 0 0 0,0 0 1 16,2 0-1-16,-2 0-1 0,5 0 1 0,-5 0-1 0,0 0 1 16,0 0-3-16,0 0-1 0,0 0 1 0,0 2 1 15,0-2-4-15,0 4 1 0,0-4-1 0,6 5 1 16,-6-5 2-16,3 4-1 0,-3-4 1 0,0 5 0 15,0-5 5-15,0 4 2 0,0-4-2 0,4 7 1 0,-4-7 3 16,4 2 0-16,-4-2 0 0,5 4-1 0,-5-4 2 16,2 5 1-16,-2-5-1 0,7 4 1 0,-7-4-2 15,6 3 0-15,-6-3 0 0,3 0 1 0,-3 0-4 16,4 0 2-16,-4 0-2 0,4 0 2 0,-4 0-6 16,9 8 1-16,-9-8 0 0,11 5 0 0,-11-5-3 15,5 4 0-15,-5-4-1 0,11 3 2 0,-11-3-2 0,8 4 0 16,-8-4-1-16,11 2 2 0,-11-2-1 0,5 0 0 15,-5 0 0-15,11 0 1 0,-11 0-1 0,9 9 1 16,-9-9 0-16,9 7 0 0,-9-7 0 0,13 9 2 16,-13-9 0-16,15 8 0 0,-15-8 1 0,11 7 1 15,-11-7-1-15,13 7 0 0,-13-7 0 0,14 6 0 16,-14-6 0-16,15 9 0 0,-15-9-2 0,18 11 1 0,-18-11 0 16,15 20 0-16,-15-20-1 0,18 12 1 0,-18-12 0 15,18 15 0-15,-18-15-3 0,17 22 2 0,-17-22 0 16,18 16 0-16,-18-16-1 0,13 20-1 0,-13-20 1 15,13 15 0-15,-13-15-1 0,13 16 0 0,-13-16 0 16,18 15 1-16,0 3 2 0,-18-18-5 16,17 14 2-16,-17-14-2 0,18 11 1 0,-18-11-1 15,18 11 1-15,-18-11-2 0,17 9 0 0,-17-9 1 16,11 17 0-16,-11-17 0 0,3 7-1 0,-3-7 0 16,11 16 2-16,-11-16-3 0,8 11 1 0,-8-11 1 0,9 11-1 15,-9-11-1-15,7 9 1 0,-7-9-1 0,6 9 1 16,-6-9 0-16,7 15 0 0,-7-15-1 0,13 16 1 15,-13-16 0-15,3 17-1 0,-3-17 0 0,4 16 0 16,-4-16 1-16,4 16-1 0,-4-16 0 0,5 17 2 0,-5-17-2 16,0 25 1-16,0-25-1 0,0 17 2 15,0-17-2-15,0 18 0 0,0-18 1 0,0 18 0 0,0-18-1 16,0 11 1-16,0-11 0 0,0 20 0 0,0-20-1 16,0 16 1-16,0-16-1 0,0 17 1 0,0-17-1 15,0 20 1-15,0-20-1 0,0 16 1 0,0-16 0 16,0 15-1-16,0-15 0 0,0 18 0 0,0-18-1 15,0 31 2-15,0-31-1 0,0 36 0 0,0-36 0 0,-7 22 1 16,7-22-1-16,-6 20 0 0,6-20-1 0,-3 18 1 16,3-18 1-16,-4 18-1 0,4-18-1 0,-9 26 0 15,9-26 0-15,-2 34 2 0,2-34-2 0,-9 31 0 16,9-31 0-16,-4 26 0 0,4-26-1 0,-5 22 1 16,5-22 0-16,-4 20 0 0,4-20-1 0,-5 9 2 0,5-9-1 15,-6 9 0-15,6-9 0 0,-2 9 0 0,2-9 0 16,-5 16 0-16,5-16-1 0,-9 26 1 0,9-26 1 15,-8 23-1-15,8-23-1 0,-7 26 1 0,7-26 0 16,-2 5 0-16,2-5-1 0,-5 4 1 0,5-4 0 16,-11 13 0-16,11-13 1 0,-4 14-1 0,4-14 0 15,-11 15 0-15,11-15 0 0,-13 11 0 0,13-11 0 16,-14 16 0-16,14-16 0 0,-13 11 1 0,13-11-1 16,-24 27 0-16,24-27-1 0,-29 26 1 0,29-26 0 15,-17 22 0-15,17-22 0 0,-18 18 0 0,18-18 1 0,-18 18-1 16,18-18 0-16,-20 22 0 0,20-22 0 0,-13 25 0 15,13-25 0-15,-22 20 0 0,22-20 1 0,-20 24 0 16,20-24-1-16,-17 24 0 0,17-24 0 0,-11 16 1 16,11-16 0-16,-16 18 0 0,16-18-1 0,-15 18 1 0,15-18-1 15,-20 15 2-15,20-15-1 0,-22 18 0 0,22-18-1 16,-20 18 1-16,20-18 1 0,-20 17-1 0,20-17 0 16,-15 14 1-16,15-14 0 0,-20 13 0 15,20-13 2-15,-20 13-1 0,20-13 1 0,-15 14-1 0,15-14 2 16,-18 17-1-16,18-17 1 0,-24 20 1 0,24-20-2 15,-29 18 1-15,29-18-1 0,-31 18 2 0,31-18-2 0,-31 18 0 16,31-18 0-16,-33 17 0 0,33-17 0 16,-28 16-1-16,28-16 1 0,-31 13 0 0,31-13 0 0,-31 14-1 15,31-14 1-15,-27 13-1 0,27-13 1 0,-33 16-1 16,33-16 1-16,-33 11-1 0,33-11 1 0,-35 15 0 16,35-15 1-16,-31 16 0 0,31-16-2 0,-31 11 2 0,31-11-1 15,-33 15 1-15,33-15-2 0,-31 11 2 16,31-11 0-16,-33 14-1 0,33-14 0 0,-44 13 0 0,22-6 0 15,-2-1 1-15,2 1-2 0,-7-5 0 0,-2 5 1 16,0 0 1-16,-2-1-2 0,9-1 1 0,-7-1-1 16,-2-2 2-16,2 1-2 0,0-1 1 0,9 2-1 15,-4-4 2-15,1 0-3 0,1-4 2 0,-5 2-2 16,1-1 1-16,1 1 0 0,-6 0 0 0,-13 0 0 16,0-5 0-16,4 5-2 0,0 2 2 0,7-2-1 15,-7-1 1-15,2 1-2 0,5 0 1 0,6 2-1 0,3-2 2 16,-1 2-1-16,1 0 0 0,-19 0 1 0,8-2-1 15,-5-1 1-15,2 1-1 0,1 2 0 0,3-7 2 16,-1 3-2-16,-5 0 2 0,18 4-2 0,-3-7 2 16,3 2-2-16,-5 1 0 0,7 2 1 0,-4-3-1 0,2 1-1 15,2-3 0-15,2 1 1 0,-2-1-1 0,2 0-1 16,0 1 1-16,0 1-1 0,5 1 2 0,-1-5-1 16,-1 2 0-16,3 1 0 0,-1-1 2 15,-1-2-1-15,1 0 1 0,0 0-1 0,6 0 0 0,-7-2 1 16,3 2 0-16,0-2-1 0,4 2 2 0,-2-2-2 15,-2 0 2-15,0-2-1 0,-1 0 1 0,3-1-2 16,-4-1 1-16,-1-1-1 0,3-2 1 0,7 1-1 0,-5-3 0 16,-3 0 0-16,3 0 1 0,2 2-2 0,1-4 0 15,-1 2 0-15,0-5 2 0,2 3-3 0,-4 0 0 16,7 6 0-16,0-1 1 0,-3-1 0 0,3 2-1 16,-1 1 0-16,1-1 0 0,-1 3 0 0,1-3 0 15,2 1 0-15,-7-1 0 0,7 1 1 0,-3-1 0 16,1 1-1-16,-1-1 1 0,-3-2 0 0,5 3 1 0,-3-3-1 15,1 2 0-15,1 1 0 0,-5-1 1 0,0 1-1 16,7-1 1-16,-2 3-1 0,1 2 2 0,-5-7-1 16,1 2 1-16,3-4-1 0,-5 0 0 0,2 3 1 15,3 1-1-15,-1 1-2 0,1-1 1 0,2 3 0 16,-3-1 0-16,-3 3-1 0,5-4 0 0,-1 4 0 16,-5-5 1-16,0 3 0 0,5 0-1 0,-1-1 0 15,1 3 0-15,0 0 0 0,-3 4 0 0,7 1 0 0,-2 1 0 16,0 1 0-16,2-1 1 0,-7 1-1 0,7 2 0 15,-2-5 0-15,0 3 0 0,-1-1 0 0,1 1 0 16,2 1-1-16,-4-1 1 0,4 0 1 0,-5-1-1 16,3 1-1-16,-2 1 1 0,4-3-1 0,0 1 1 0,0 1-1 15,-5-1 0-15,5 1 0 0,-4 0 1 0,2 1-1 16,-1-3 0-16,3 1 0 0,0 1 0 0,0-1 0 16,0 1 0-16,0 2 0 0,0-5 0 0,-2 3 0 15,2-1 0-15,0 1 0 0,0-1 0 16,-4 3 0-16,4-5 0 0,-5 3 0 0,5 2 0 0,-2 0 0 15,2 2 0-15,-2-5 0 0,2 3 0 0,0 0 0 16,0-3 0-16,-2 3 0 0,2-5 0 0,0 3 0 16,0-1 0-16,-5 3 0 0,5 0 0 0,0 0 0 15,-4-3 0-15,2 1 0 0,0-1 0 0,-3 1 0 0,5 2 0 16,-2-3 0-16,2 1 0 0,0 2 0 0,0 2 0 16,-4-5 0-16,4 3 0 0,-3 0 0 0,1 0 0 15,2-1 0-15,0 1 0 0,0 2 0 0,0-4 0 16,-2 2 0-16,0-1 0 0,0 1 0 0,2 0 0 0,0 0 0 15,0 2 0-15,0-5 0 0,0 3 0 0,0 0 0 16,0 0 0-16,0 2 0 0,-7-5 0 0,7 3 0 16,0 0 0-16,-2-1 0 0,2 1 0 0,-2 0 0 15,2 2 0-15,-3-4 0 0,-1 1 0 0,4 1 0 16,-2 0 0-16,2 0 0 0,-5-1 0 0,5 1 0 16,0 0 0-16,0 2 0 0,0 0 0 0,0 0 0 15,0 0 0-15,-2 0 0 0,-2 0 0 0,4 0 0 16,0 0 0-16,-5 0 0 0,5 0 0 0,-6 0 0 15,6 0 0-15,-3 2 0 0,1 0 0 0,-2 5 0 0,-5 2 0 16,2 2 0-16,-4 0 0 0,-2 5 0 0,7 4 0 16,-8-5 0-16,3 3 0 0,0 2 0 0,2-4 0 0,1 1 0 15,-1 1 0-15,0-5 0 0,2 1 1 0,3-1-1 16,-5 0 1-16,5-2-1 0,1 1 1 0,-1-1-1 16,-3-5 2-16,5-1-1 0,0-1 0 0,2 1-1 15,-4-1 1-15,4 3-1 0,-5-5 1 16,1 2-1-16,4 1 0 0,0-1 0 0,0-4 1 0,0 3-1 15,0-1 0-15,0 0 0 0,0-2 0 0,0 0-2 16,0-2 1-16,4-3-1 0,1 1 0 0,-1-1-20 16,-4 1 1-16,2 2-1 0,3-5 1 0,-1 3-31 15,-4-1 1-15,4-4-1 0,1 3 1 0,2-1-30 0,-3 3 0 16,-2-3 0-16,0 2 0 0,5 1-17 0,-3 0-1 16,1-3 0-16,-1-4 0 0,1 2 13 0,1 2 0 15,-6 1-1-15,2 1 1 0,1 1 12 0,-3-1 0 16,6 1 0-16,-6-1 1 0,5 3 15 0,-5-7 2 15,2 7 0-15,0-5 0 0,0 3 32 0,3 0 1 0,-5-1-1 16,2 1 1-16,-2-1 13 0,4 3 1 0,-1-5-1 16,-1 3 1-16,2-1 6 0,-4 1 2 0,5 0 0 15,-5 1 0-15,4-3 2 0,-2 1 0 0,7 1 0 16,-2-5 2-16,1 2 9 0,1 1 0 0,2 1 1 16,-6-1 0-16,6 1 12 0,2 1 1 0,-4 4-1 15,2-5 1-15,2 5 11 0,-4 0 0 0,2 5 0 16,0-5 1-16,0 4-1 0,-2 1 2 0,2 1-1 15,2 1 0-15,-2 2 3 0,4-5 1 0,1 5 0 0,-1-2-1 16,1-1-3-16,-1 1 1 0,-8 2 0 0,6-5 0 16,-2 3-7-16,0 0 1 0,-2-5 0 0,-5 0 0 15,3 3-7-15,-3-5 1 0</inkml:trace>
</inkml:ink>
</file>

<file path=ppt/ink/ink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1920" max="3000" units="cm"/>
          <inkml:channel name="Y" type="integer" max="2000" units="cm"/>
          <inkml:channel name="T" type="integer" max="2.14748E9" units="dev"/>
        </inkml:traceFormat>
        <inkml:channelProperties>
          <inkml:channelProperty channel="X" name="resolution" value="172.63158" units="1/cm"/>
          <inkml:channelProperty channel="Y" name="resolution" value="105.26316" units="1/cm"/>
          <inkml:channelProperty channel="T" name="resolution" value="1" units="1/dev"/>
        </inkml:channelProperties>
      </inkml:inkSource>
      <inkml:timestamp xml:id="ts0" timeString="2024-05-21T12:12:22.566"/>
    </inkml:context>
    <inkml:brush xml:id="br0">
      <inkml:brushProperty name="width" value="0.05292" units="cm"/>
      <inkml:brushProperty name="height" value="0.05292" units="cm"/>
      <inkml:brushProperty name="color" value="#FF0000"/>
    </inkml:brush>
  </inkml:definitions>
  <inkml:trace contextRef="#ctx0" brushRef="#br0">17998 4475 0</inkml:trace>
</inkml:ink>
</file>

<file path=ppt/ink/ink9.xml><?xml version="1.0" encoding="utf-8"?>
<inkml:ink xmlns:inkml="http://www.w3.org/2003/InkML">
  <inkml:definitions>
    <inkml:context xml:id="ctx0">
      <inkml:inkSource xml:id="inkSrc0">
        <inkml:traceFormat>
          <inkml:channel name="X" type="integer" max="18176" units="cm"/>
          <inkml:channel name="Y" type="integer" max="12032" units="cm"/>
          <inkml:channel name="F" type="integer" max="4096" units="dev"/>
          <inkml:channel name="T" type="integer" max="2.14748E9" units="dev"/>
        </inkml:traceFormat>
        <inkml:channelProperties>
          <inkml:channelProperty channel="X" name="resolution" value="637.75439" units="1/cm"/>
          <inkml:channelProperty channel="Y" name="resolution" value="633.26318" units="1/cm"/>
          <inkml:channelProperty channel="F" name="resolution" value="0" units="1/dev"/>
          <inkml:channelProperty channel="T" name="resolution" value="1" units="1/dev"/>
        </inkml:channelProperties>
      </inkml:inkSource>
      <inkml:timestamp xml:id="ts0" timeString="2024-05-21T12:18:24.044"/>
    </inkml:context>
    <inkml:brush xml:id="br0">
      <inkml:brushProperty name="width" value="0.05292" units="cm"/>
      <inkml:brushProperty name="height" value="0.05292" units="cm"/>
      <inkml:brushProperty name="color" value="#FF0000"/>
    </inkml:brush>
  </inkml:definitions>
  <inkml:trace contextRef="#ctx0" brushRef="#br0">15258 12067 12 0,'0'0'0'0,"0"0"0"0,0 0 0 0,0 0 0 15,4 9 0-15,-4-9 0 0,0 4 0 0,0-4 20 16,0 0 0-16,0 0 0 0,0 0 1 0,0 0 36 16,0 0 1-16,0 0-1 0,0 0 2 0,0 0 13 15,0 0 1-15,0 0-2 0,0 0 2 0,0 0-24 0,0 0-1 16,0 0 0-16,0 0 1 0,0 0-10 0,-4 0-1 16,4 0 0-16,-14 0 0 0,14 0-6 0,-13 0 0 15,13 0 1-15,-9 0-1 0,9 0-6 0,-8 0 1 16,8 0 0-16,-3 0 0 0,3 0-5 0,-4 0 1 15,4 0-1-15,0 0 2 0,0 0-4 0,0 0 1 16,0 0-1-16,0 0 2 0,0 0-5 0,0 0 0 0,0 0 1 16,0 5 0-16,0-5-5 0,0 6 0 0,0-6 1 15,4 5-1-15,-4-5-4 0,11 11 0 0,-11-11 0 16,7 2 1-16,-7-2-4 0,4 2 1 0,-4-2-1 16,5-2 1-16,-5 2-1 0,4 0 0 0,-4 0 1 15,5-2 0-15,-5 2-2 0,2-9 1 0,-2 9 0 16,9-7 0-16,-9 7 1 0,2-11 1 0,-2 11 0 15,2-11 0-15,-2 11 0 0,0-13-1 0,0 13 1 0,0-7 1 16,0 7-1-16,0-7 1 0,0 7-1 0,-9-9 1 16,9 9-1-16,-4 0 1 0,4 0 0 0,-2-6 0 15,2 6-1-15,0 0 0 0,0 0 1 0,0 0 0 16,0 0 0-16,-9 11 0 0,9-11 0 0,-16 13 0 0,16-13 0 16,-8 14 0-16,8-14 0 0,-3 11 0 0,3-11 6 15,0 6 1-15,0-6-2 0,3 9 2 0,-3-9 4 16,4 2 0-16,-4-2 0 0,4 5 1 0,-4-5-3 15,5 0 1-15,-5 0-1 0,4 0 1 16,-4 0-4-16,7-5 1 0,-7 5 0 0,4-2 0 0,-4 2-11 16,2-9 2-16,-2 9-1 0,0-17 0 0,0 17-4 15,0-27 1-15,0 27-1 0,-2-31 0 0,2 31-2 16,-15-25 1-16,15 25 0 0,-16-11 1 0,16 11-2 16,-4-13 0-16,4 13 0 0,-4-4 0 0,4 4 0 0,-7 0 0 15,7 0 0-15,-9 0 0 0,9 0 1 0,-4 0 0 16,4 0 0-16,-5 6 0 0,5-6 2 0,-2 20 2 15,2-20-2-15,-7 11 2 0,7-11 0 0,-4 18 1 16,4-18 0-16,4 20 0 0,-4-20 0 0,7 11 1 0,-7-11-2 16,9 9 2-16,-9-9 0 0,4 4 0 0,-4-4-1 15,9 5 2-15,-9-5-3 0,5 0-1 0,-5 0 1 16,4-2 0-16,-4 2-1 0,4-5-1 0,-4 5 0 16,3-2 2-16,-3 2-2 0,0-7 1 0,0 7-1 15,0-9 1-15,0 9 0 0,0-26-1 0,0 26 0 16,-7-27 2-16,7 27-1 0,-11-31 1 0,11 31-1 15,-9-22 1-15,9 22-1 0,-4-5 1 0,4 5-1 16,-5-8 2-16,5 8 0 0,-2-3-1 0,2 3 1 16,-7 0-1-16,7 0 1 0,-4 0 1 0,4 0 0 0,0 11-1 15,0-11-1-15,0 18 0 0,0-18 1 0,0 34 0 16,0-12-1-16,0 0 1 0,0 0-1 0,0-6 2 16,4-5-2-16,-1-2-1 0,1-5 1 0,-4-2 0 15,2 1-3-15,0-3 2 0,1 0-1 0,-1 0 1 0,0 0-2 16,0 0 0-16,-2 0 0 0,7-3 2 0,-7 1-3 15,0 2 1-15,0-4 0 0,4-3 0 0,7-6 1 16,0-5 0-16,0-4-1 0,-2-3 2 0,-4 1-1 16,-3-5 0-16,-2 5 1 0,4 1 0 0,-4 6 1 15,-4 1-1-15,2 1 1 0,-3-1 0 0,1 0 0 0,-7 1 0 16,-2 4 1-16,10 0 0 0,3 6-3 0,-4-4 2 16,4 3-1-16,-4-1 1 0,-1 3-2 0,3 4 0 15,-5-5 1-15,5 3 0 0,0 0-1 0,2 2 2 16,0 2-1-16,0 5 1 0,0-3-1 0,-2 5 2 15,-3 6-1-15,3 12 0 0,2 9 0 0,0 10-1 16,2-4 1-16,3 1-1 0,1-12 1 0,5 2 0 0,0-4 1 16,0-2-1-16,-6-5-2 0,-5-7 0 0,2-1-1 15,0-5 2-15,-2-3-4 0,0-1 1 0,0-1 0 16,2-2 0-16,-2 1-2 0,0-1 1 0,0 0 0 16,0 0 0-16,0-2-5 0,0-2 2 0,0 0-1 15,0-5 0-15,0-4-7 0,0-5 0 0,0-4 0 16,0-6-1-16,-2-10-7 0,0-8 1 0,0 2 0 15,2-5 0-15,-5 0-2 0,5 3 1 0,-4-5-1 16,0 2 1-16,1 3 9 0,3 0 1 0,-4 1-1 16,4 1 1-16,-4 0 1 0,1 0 1 0,3 9 0 0,0-1 1 15,0 5 4-15,0-2 1 0,3 7 0 0,1 2 0 16,-4 2 1-16,4 2 0 0,-4 7 0 0,0 2 0 0,0 2 0 16,0-2 1-16,0 5 0 0,0 2 0 0,0-3 2 15,0 3 0-15,0 0-1 0,0 0 2 16,0 2 0-16,0 0 2 0,0 0-1 0,0 0 1 0,0 0 0 15,0 0-1-15,0 0 1 0,0 0 1 0,0 0-1 16,0 0 1-16,0 0 0 0,0 0 1 0,0 0-3 16,0 0 2-16,0 0 0 0,0 0-1 0,0 0-2 0,0 0 0 15,0 0 1-15,0 0-1 0,0 0-1 16,0 0 0-16,0 0-1 0,0 0 2 0,0 0-4 0,0 0 0 16,0 0 0-16,0 0 0 0,0 0-4 15,0 0 2-15,0 0-1 0,0 0 0 0,0 0-10 16,0 0-1-16,0 0 1 0,0 0-1 0,0 0-9 0,0 0-1 15,0 0 1-15,0 0 0 0,0 0-6 0,0 0 0 0,3 64 0 16,1 52 1-16,0 88 4 0,1 60 2 0,-3-62-2 16,0-42 2-16,-2-87 5 0,-2-64 1 0,0-13-1 15,2-7 2-15,-5-9 4 0,5-3 3 0,-8-23-3 16,5-3 2-16,-1-4 4 0,0-3 0 0,-1 1 1 16,3-1-1-16,-7-2 2 0,2 1 1 0,3 1-2 15,-7 3 2-15,7 2 2 0,-3 2 0 0,3 2 0 16,-1-4 0-16,1 5 2 0,4 1 2 0,-5 7-1 15,3 3 0-15,-2 2 9 0,4 4-1 0,0 11 0 16,0-4 1-16,0 2 5 0,0 4 1 0,0 5 0 16,0-4 0-16,0 3 1 0,0 1 0 0,0 2 0 0,0 3 2 15,0 1-6-15,0-4 1 0,0 7 0 0,0-2 1 16,0-3-3-16,0 3 1 0,0 4-1 0,0-5 2 16,0 3-5-16,0 0 1 0,0 2-1 0,0 0 1 15,0 2-7-15,0 5 0 0,-9 13 1 0,4 6-1 0,3 5-2 16,-2 3 0-16,-3 15 0 0,5-3 1 0,0 3-3 15,2 2 1-15,0 2-1 0,0 3 1 0,0 4-2 16,0-2 2-16,0 4-1 0,2 4 0 0,0 6-1 16,0 3 0-16,3-2 0 0,-5 1 1 0,4-1-1 15,-4 0 0-15,2-4 0 0,1-5 0 0,3-6-3 16,-1-2-1-16,-5-5 1 0,4-2 1 0,-2-5-10 0,3-2 2 16,-1-17-1-16,-4 3 1 0,2-5-8 0,1-1 0 15,-3-11 0-15,0-2 0 0,0 0-5 0,0 0-1 16,0-5 0-16,0 0 2 0,0 1 0 0,0-1 0 15,0-1 0-15,0-1 0 0,0-2 3 0,0 0 0 16,0 0 0-16,0-7 1 0,-3-4 1 0,1-7 1 16,2-24-1-16,-4 0 0 0,4 0 1 0,-5 0 2 0,3-1-2 15,2 1 1-15,0-7 4 0,0 3 1 0,0-1-1 16,0-2 1-16,0 3 1 0,0-8 0 0,0 3 0 16,0-2 1-16,0 0 1 0,0-5 2 0,-4 7-2 15,4-3 1-15,0 6 2 0,-5-3 0 0,1 11 0 16,2 0 1-16,-1 4 0 0,1 1 1 0,2 10 0 15,-4-2 0-15,4 3 0 0,0 0 2 0,0 10-1 16,0 1 1-16,0 4 0 0,0-4 0 0,0 6 0 16,0 0 0-16,0 1 4 0,0 1-1 0,0 3 0 0,0 0 1 15,0 2 6-15,0-5 0 0,0 5 0 0,0 0 1 16,0 0 8-16,0 0 2 0,0 5-2 0,0 6 1 16,0 11 3-16,0 7 2 0,0 29 0 0,0 0-1 15,0 4-1-15,0 2-1 0,4 3 1 0,-4 2-1 0,2-1-3 16,1 3 0-16,-1 1 0 0,2-1 2 0,1-3-7 15,-5-3 2-15,4-1 0 0,3-2-1 0,-3-4-7 16,-2 0 0-16,3-9 0 0,-3-3 1 0,5-8-8 16,-3-2 1-16,0-16-1 0,-1 0 2 0,1-3-3 15,-4-1 0-15,0-7 0 0,0 0 0 16,0 0-3-16,0-3 1 0,0-1 0 0,0-1 0 0,0 1-6 16,0-3 0-16,0-2 0 0,0 0 1 0,0 0-9 15,0 0 0-15,2-2 0 0,-2-7 0 0,0-7-7 16,-2-6-1-16,2-22 1 0,-7-1-1 0,3-2-30 0,0 1 0 15,4 4 1-15,-7-1-1 0,7 6-62 0,7-1 2 16,-7 7-1-16,2 0 1 0,0 2-68 0,5 0 0 16</inkml:trace>
  <inkml:trace contextRef="#ctx0" brushRef="#br0" timeOffset="50.97">15176 12058 12 0,'0'-5'0'0,"2"3"0"16,0 0 0-16,-2 2-10 0</inkml:trace>
  <inkml:trace contextRef="#ctx0" brushRef="#br0" timeOffset="84.169">15178 11996 12 0,'0'-5'0'0,"0"5"0"16,0 0 0-16,0 0-10 0</inkml:trace>
  <inkml:trace contextRef="#ctx0" brushRef="#br0" timeOffset="118.76">15176 11971 12 0,'0'0'0'0,"0"0"0"16,0 0 0-16,0 0-10 0</inkml:trace>
  <inkml:trace contextRef="#ctx0" brushRef="#br0" timeOffset="1967.01">15172 11967 112 0,'4'0'0'0,"-4"0"0"15,0 0 0-15,0 0 14 0,2 0 2 0,0 0-1 16,1 0 0-16,-3 0 34 0,0 0-1 0,0 0 0 0,0 0 0 16,0 0 19-16,0 0-1 0,0 0 0 0,0 0 0 15,0 0 3-15,0 0-1 0,0 0 1 0,0 0-1 16,0 0-15-16,0 0-1 0,0 0 1 0,0 0 1 15,0 0-8-15,0 0 1 0,0 0-1 0,0 0 1 0,0 0-11 16,0 0 0-16,0 0 0 0,0 0 1 0,0 0-8 16,0 0 0-16,0 0 1 0,0 0 0 0,0 0-6 15,0 0-1-15,0 0 1 0,0 0 0 0,0 2 1 16,2 3 0-16,-2-3-1 0,0 2 1 0,0-4 2 0,0 2 0 16,0-2 0-16,0 3 1 0,0-1-1 0,2-2 0 15,-2 0 0-15,0 0 1 0,0 0-1 0,0 0 1 16,2 0-1-16,-2 0 1 0,7 0-4 0,-7 0 2 15,2 0-1-15,0 0 1 0,1 4-5 0,1 1 2 16,-4-1-1-16,4 3 0 0,-4-3-1 0,0 1-1 16,0 1 0-16,3-6 1 0,5 5-4 0,-3 1 1 15,6-6 0-15,-5 5 0 0,8-3-2 0,-6 3-1 0,3-1 1 16,-2-4 1-16,-2 2-1 0,4 0 1 0,-4 3-2 16,1 2 2-16,1-5 1 0,2 2 0 0,-4 5 0 15,4-2 1-15,2 2-1 0,3-3 1 0,-1 1-1 16,0 2 1-16,-6 2-2 0,2 0 0 0,0-2 0 15,0 2-1-15,-2-2-2 0,-2 4 0 0,2 1 1 16,-3-1 0-16,3 2-5 0,-5 5 1 0,3-4 0 16,2 2 0-16,-3 0 0 0,3 4-1 0,-4-7 0 15,-1 5 0-15,-2-2-2 0,3-2 1 0,-5-1-1 0,4 3 0 16,-4 2-2-16,2 0 1 0,1 0-2 16,-1 0 2-16,0 0-2 0,-2 2-1 0,7 0 1 0,-7-2 0 15,0-2-2-15,0-2 0 0,0-1 0 0,0 1 1 16,0 1-2-16,0-8 0 0,0 5 0 0,0-1 1 0,0 2-2 15,0 3 0-15,0 0 0 0,0-5 1 0,0 1-1 16,-7-1 0-16,3-2 1 0,1 0-1 0,1 0-1 16,2-2 1-16,-4-2-1 0,-3 2 1 0,3 0-1 15,4-1 0-15,-5 1 0 0,-1 2 1 0,3 5-1 16,-1 2 0-16,2-3 0 0,-7-1 1 0,2-3-1 0,-1 0 0 16,1 0 0-16,3-2 0 0,-5 2 0 15,2-4 0-15,1 1 0 0,-3-1 0 0,-2 2 0 0,0 2 0 16,2-4 0-16,0 2 0 0,2 2 0 0,-4 4 0 15,3-6 0-15,-1 0 0 0,2 0-1 0,-4 0 1 16,2-3 0-16,0 1 0 0,3 2 0 0,-3-7 0 16,2 3 0-16,-4-1 0 0,0 3 0 0,7 2 0 15,-7 0 0-15,2-3 0 0,-2 1 0 0,7 2 0 0,-7 2 0 16,2-7 0-16,0 3 0 0,2 0 0 0,-1 1 0 16,5-3 0-16,-5 2 0 0,1-1 0 0,0 1 0 15,3 0 0-15,-1-5 0 0,1 2 0 0,0 1 0 16,-3-1 1-16,3 1-1 0,-5 1 1 0,2-4 0 15,-2 3 1-15,3-1 0 0,1 1 0 0,-4-1 0 16,3-2 2-16,-3 3-2 0,2-5 1 0,-6 4 1 16,7 1-1-16,-3 1 1 0,0-3 1 0,-2-1-1 15,-2 0 1-15,2 0-1 0,2 1 1 0,-2 1-1 16,-2-2 2-16,2 3 0 0,0-1-1 0,-3 0 1 16,1 1-1-16,4 2 1 0,-2-5 0 0,-4 0-1 0,-1 0 1 15,8 0-2-15,-4 1 2 0,1 1 0 0,3-4-1 16,-3 2 0-16,-3 1 0 0,3-1 1 0,0 2 0 0,0-4-2 15,0 0 2-15,2 0-2 0,-6 0 2 0,6 0-3 16,-2 0 2-16,2 0-2 0,3 0 1 0,-3 0 0 16,2 0-1-16,-2 0 1 0,3 0-1 0,-5 0-1 15,2 0 2-15,-2 0-2 0,7 0 1 0,-7 0-1 16,2 0 1-16,-2 0-1 0,2 0 0 0,-2 0 0 16,0 2 1-16,-2 3-1 0,2-3 0 0,0-2 0 15,0 0 1-15,-1 0-1 0,4 0 1 0,-3 0-1 0,6 0 2 16,-6 0-1-16,2 0 1 0,1 0-1 0,1 2 0 15,-4 3 1-15,2-3-1 0,2-2-1 0,-4 0 0 16,3 0 1-16,-3 0-1 0,6 0-1 0,-6 0 1 16,9 0 1-16,0 0-1 0,2 0-1 0,-5 0 1 15,-1 0 0-15,1 0 1 0,-3 0-2 0,1 0 1 16,-9-2-1-16,3 2 1 0,2-5 0 0,-6 3 0 0,6 2-1 16,-1-2 1-16,-1 0-1 0,4-1 0 0,-2 3 1 15,0-2 0-15,3 2-1 0,-6 0 0 0,8 0 0 16,-8 0 0-16,8 0 0 0,-1 0 1 0,-4 0-1 15,0 0 0-15,5 0 0 0,-1 0 0 0,-6 0 0 16,2 0 1-16,0-4-2 0,0 2 1 0,-3-1 1 16,-1 1-1-16,0 2 0 0,-1-4 0 0,-6 1 0 15,-2 1 0-15,-3 2 0 0,7 0 0 0,-8 2 1 16,4 1-1-16,-1 1-1 0,5-4 1 0,-8 2 0 16,6 1 0-16,-3 3 0 0,3-4 0 0,-4 1 0 0,2-1 1 15,-1 0-1-15,1 0 0 0,4 3 0 0,0-5 0 16,1 2 0-16,3 0 0 0,3 0 0 0,0 1 1 15,0-3-1-15,1 0 0 0,-3 0 0 0,0-3 0 16,-1 1 0-16,1 0 0 0,-5 0 0 0,0-5 1 0,0 0-1 16,0-1 1-16,3-1-1 0,-3 0 1 0,-2 0-1 15,0 2 2-15,6 1-1 0,-1-1 0 0,1 3-1 16,-4-3 1-16,5 2 1 0,-5-3-1 0,5 1 0 16,-5 0 0-16,2 3 1 0,1-5-1 0,-1 2-1 15,0-4 1-15,3 2 1 0,-1 3-1 0,3-1-1 16,0 0 1-16,-9-2-1 0,6 0 2 0,-3-2-2 0,3 0 0 15,-4-2 0-15,5 0 1 0,-7-3-1 0,9 1 2 16,-10-1-2-16,10 0 1 0,-7 1-1 0,5-1 1 16,4 5-1-16,-4-4 2 0,3 4-2 0,-3-5 1 15,-5 1 0-15,5-1 0 0,-1 5 0 0,-4-9 0 0,1 4-1 16,3 1 1-16,-6 1-1 0,9 1 2 0,-3 0-1 16,5 4 0-16,-4-2-1 0,2-2 1 0,-3-1 1 15,3 1-1-15,0 0-1 0,2-1 0 0,-5 1 0 16,3-3 0-16,0 1 1 0,4-1-1 0,-2 1 0 15,-2-3 0-15,2 0-1 0,2 0 1 0,-2 3-1 16,4-1 1-16,-1-4-1 0,-1 3 0 0,7 1 0 16,-7 1 1-16,2 1-1 0,0 1 0 0,3 2 0 15,-5 0 1-15,3 2-1 0,1-2 0 0,-4-3 0 16,3 3 1-16,-3 0-1 0,5 0 2 0,-3 0-2 16,0 0 1-16,1 0-1 0,-1 0 1 0,0 2 0 15,3 0 0-15,-5 2-1 0,0-4 1 0,9 7 0 0,-2-1 0 16,0 1-1-16,0 2 2 0,0-5-2 0,2 2 1 15,-5 1-1-15,-1 0 1 0,1-1-1 0,1 3 1 16,-1-3-1-16,1 3 0 0,2 0 0 0,0 0 1 0,-1 0-1 16,-1-1 0-16,-1 3 0 0,-1-4 1 0,6 2-1 15,-5-1 0-15,-3 3 0 0,5 0 1 0,-1 0-1 16,0 0 0-16,-1 0 0 0,3 3 1 0,-5-1-1 16,1 2 0-16,-7 7 0 0,4 5 2 0,-5 0-2 15,8-1 1-15,-5 5-1 0,0 2 1 0,2 1-1 16,2-1 1-16,3 2 0 0,0-4 0 0,-3 2-1 0,0-4 1 15,7-2 0-15,-2-3 1 0,2 0-2 0,-4 1 1 16,4-8 0-16,0 1 0 0,0 0-1 0,0-1 1 16,0-1 0-16,0 1 0 0,0-3-1 0,0-1 1 15,0 2 1-15,0 3-1 0,0-5-1 0,0 3 0 16,0-3 0-16,0 0 1 0,0 2-1 0,0-4 0 16,0 0 0-16,0 0 0 0,0 0-1 0,0 0 1 0,0 0 0 15,0-4 0-15,0 0-8 0,0-1 1 0,4-8-1 16,-2-1 1-16,3-1-26 0,-1-1-1 0</inkml:trace>
  <inkml:trace contextRef="#ctx0" brushRef="#br0" timeOffset="2200.759">12153 12307 1269 0,'-3'0'0'0,"1"0"0"15,2 0 0-15,2 0 0 0,1 0 0 0,-3 0 0 16,0 0 1-16,0-3-2 0,0 1 1 0,0 2 0 16,0 0 0-16,0 0-8 0,0 0 0 0,0 0 0 15,0 0 1-15,0 0-18 0,0 0 0 0,0 0 0 0,0 0 1 16,0-4 21-16,-3 2 1 0,-1 2 0 0,2 2 1 15,-5 2 1-15,7-4 1 0,-2 2 0 0,2-2 0 16,2 0 11-16,-2 0 1 0,7 0-1 0,-1 0 0 16,5 0 23-16,9 3 0 0,4 1 0 0,7 3 1 0,-4-7 14 15,1 2 2-15,-1 0-2 0,-3 0 2 16,-4 3 1-16,-5-5 1 0,3 2-1 0,-5 0 1 0,-2 0 0 16,-4 3 1-16,4-1-1 0,2 1 1 0,-2-1-9 15,3 3 0-15,-3-3 0 0,0 7 0 0,-3 1-10 16,-3-1 0-16</inkml:trace>
</inkml:ink>
</file>

<file path=ppt/ink/ink10.xml><?xml version="1.0" encoding="utf-8"?>
<inkml:ink xmlns:inkml="http://www.w3.org/2003/InkML">
  <inkml:definitions>
    <inkml:context xml:id="ctx0">
      <inkml:inkSource xml:id="inkSrc0">
        <inkml:traceFormat>
          <inkml:channel name="X" type="integer" max="18176" units="cm"/>
          <inkml:channel name="Y" type="integer" max="12032" units="cm"/>
          <inkml:channel name="F" type="integer" max="4096" units="dev"/>
          <inkml:channel name="T" type="integer" max="2.14748E9" units="dev"/>
        </inkml:traceFormat>
        <inkml:channelProperties>
          <inkml:channelProperty channel="X" name="resolution" value="637.75439" units="1/cm"/>
          <inkml:channelProperty channel="Y" name="resolution" value="633.26318" units="1/cm"/>
          <inkml:channelProperty channel="F" name="resolution" value="0" units="1/dev"/>
          <inkml:channelProperty channel="T" name="resolution" value="1" units="1/dev"/>
        </inkml:channelProperties>
      </inkml:inkSource>
      <inkml:timestamp xml:id="ts0" timeString="2024-05-20T12:04:23.270"/>
    </inkml:context>
    <inkml:brush xml:id="br0">
      <inkml:brushProperty name="width" value="0.05292" units="cm"/>
      <inkml:brushProperty name="height" value="0.05292" units="cm"/>
      <inkml:brushProperty name="color" value="#FF0000"/>
    </inkml:brush>
  </inkml:definitions>
  <inkml:trace contextRef="#ctx0" brushRef="#br0">6580 13326 12 0,'0'-5'0'16,"0"5"0"-16,0 5 0 0,0-5 0 0,6 7 0 0,-6-7 0 16,5-3 0-16,-5 3 31 0,0-4 1 0,0 4-1 15,0-11 2-15,0 11 54 0,0-9 2 0,0 9-2 16,-7-16 2-16,7 16-14 0,-11-17 2 0,11 17-1 15,-2-16 0-15,2 16-32 0,-7-16 0 0,7 16-1 16,-11-11 1-16,11 11-1 0,-15-15 1 0,15 15-2 16,-20-16 2-16,20 16-8 0,-24-11 0 0,24 11 0 0,-29-9 0 15,29 9 1-15,-26-6 0 0,26 6 0 0,-38-5 1 16,38 5 2-16,-44 5 2 0,20-3-1 0,-1 2 1 16,6-1 1-16,-10-1 0 0,7 2 0 0,-9 1 1 15,4 1-3-15,-1 5 1 0,1 3-1 0,-6-1 2 16,5 0-3-16,-3 3 2 0,0 2-1 0,0-7 1 0,2 0-8 15,-2 0-1-15,1 0 1 0,-1 2 1 0,-2-1-5 16,4 3 0-16,-2-4 1 0,0 2 0 0,0 1-1 16,3-3 2-16,1 2-2 0,-1 3 1 0,1 2-5 0,1 2 1 15,-1-3 0-15,3-1 0 0,-5-1 1 0,5-1 1 16,0-1-1-16,4-2 1 0,0 0-3 0,-2 3 0 16,0-3 0-16,-2 4 1 0,4 5-5 0,0 2 1 15,4-6-1-15,-3 2 2 0,3-3-7 0,5 3 1 16,-2 0-2-16,6-7 2 0,3-2-5 0,4-3 0 15,0 1-1-15,4 2 2 0,-4 2-3 0,3 0 0 16,5 3 1-16,1-1-1 0,2 0-2 0,5 3 0 16,3 1 0-16,1-1 0 0,2 0-4 0,3-1 2 0,-3-2 0 15,2 1 0-15,7-3-3 0,-5 0 2 0,3-2-2 16,-3-3 2-16,1 1-3 0,2-2 2 0,-1-3-2 16,5 0 1-16,3 2 0 0,1-4-1 0,1 0 1 15,6-4 0-15,0 2-2 0,9-5 2 0,-9 0-1 16,2 3 0-16,0 2 0 0,5-3 0 0,-7-1 0 15,9 1 1-15,-6-4-2 0,-6 3 0 0,4-1 0 16,1-2 1-16,5 0-2 0,-5-2 1 0,-2 0-1 16,-2 0 1-16,0 2 0 0,-5 0-1 0,3 0 0 0,0 0 0 15,-7 3-1-15,2-5 1 0,0 0 0 16,1-3 0-16,-3 1-1 0,0-3 0 0,-2-1 0 0,4-1 1 16,5-2-1-16,2-2 0 0,-7 2 0 0,-2 2 2 15,-7-2-2-15,-1 2 0 0,-6 3 0 0,1-1 0 16,-11 1 0-16,7 1 0 0,-10 5 0 0,3 0 0 0,-5 1 0 15,3 1 0-15,-7 2 0 0,4 3 0 16,-1-2 0-16,-3-1 0 0,4 1 0 0,0-3 0 0,-4 1 0 16,0-3 0-16,0 0 0 0,-4-2 1 0,-3 0-1 15,-4 0 0-15,0-1 0 0,3-3 1 0,-12-1 0 16,0 5 0-16,-11-4 0 0,0 4 0 0,-4-5 2 16,-7 1-1-16,0-1 0 0,2 0 0 0,-4-1 2 15,-4-1-1-15,8 0 0 0,5 3 1 0,2 3-1 0,8 1 2 16,-3 0-2-16,1 2 1 0,-1 7 0 0,1 2 0 15,1 2 1-15,1 3-1 0,3 4-3 0,-2 0 2 16</inkml:trace>
  <inkml:trace contextRef="#ctx0" brushRef="#br0" timeOffset="616">5376 14187 1947 0,'0'0'0'0,"0"0"0"16,8 0 0-16,-8 0 42 0,18 0 1 0,-18 0-1 16,15 0 1-16,-15 0 18 0,9 3 0 0,-9-3 0 15,11 22 1-15,-11-22-29 0,18 42 2 0,-5-15 0 16,-2-1 0-16,2 5-23 0,-4-4 0 0,2-2 1 0,5-1 0 16,-5-4-6-16,-2-5 1 0,2 1-1 0,0-7 0 15,-5 0-2-15,3-5-1 0,-7 1 1 0,5-1 0 16,-5 1-2-16,2 1 0 0</inkml:trace>
  <inkml:trace contextRef="#ctx0" brushRef="#br0" timeOffset="867.05">5660 14161 1683 0,'0'0'0'15,"0"0"0"-15,0-2 0 0,0 2 30 0,0-5 0 16,0 5 1-16,7-4-1 0,-7 4 15 0,0 0 1 16,0 0-1-16,0 0 1 0,0 0-16 0,0 0 2 15,0 0-1-15,4 9 0 0,-4-9-19 0,7 24 0 0,-7-24-1 16,15 40 1-16,-2-9 3 0,-2 0 1 0,5 0-1 16,-5-2 1-16,4-4 4 0,1-5 2 0,-3 0-2 15,-2-3 1-15,4-1 11 0,-1-1-1 0,-1-1 1 16,-2-3 0-16,2-2-4 0,-4-3 1 0</inkml:trace>
  <inkml:trace contextRef="#ctx0" brushRef="#br0" timeOffset="1417.07">4782 14898 1080 0,'0'0'0'0,"0"0"0"16,0 2 0-16,0-2 55 0,11 5 1 0,-11-5 0 16,0 4 0-16,0-4 43 0,-24 9 0 0,24-9 0 0,-37 24-1 15,15 1-34-15,-3 2 2 0,5 4-1 0,1 2 0 16,3 0-27-16,1 5 0 0,-1 4 0 0,5 5 0 15,-4 4-4-15,6 4 1 0,-2-1-2 0,0-12 2 0,7 0-7 16,-1-4 0-16,-6-5 0 0,7-4 0 0,-1-7-3 16,3-6 0-16,2-5 0 0,0-4 0 0,0-5-4 15,0-2-1-15</inkml:trace>
  <inkml:trace contextRef="#ctx0" brushRef="#br0" timeOffset="1800.159">4657 14956 1569 0,'4'0'0'16,"-4"0"0"-16,4 4 0 0,-4-4 44 0,7 5 0 16,-7-5 0-16,2 4 1 0,-2-4 25 0,7 5 2 15,-7-5-1-15,11 20 1 0,-11-20-31 0,24 46 2 16,-8-17-2-16,-5 2 2 0,0 5-18 0,2 1-1 0,-2 3 1 16,-7 0 1-16,7 0-3 0,-2-2 1 0,-4 0 0 15,6-3 0-15,0-10-4 0,-9 1 2 0,7-3-1 16,-1-6 0-16,-1-3-3 0,-7-5 0 0,4-5 0 15,1-2 1-15,-5 0-4 0,0-2 0 0,0 0-1 16,2-2 2-16,-2 0-5 0,5-2 0 0,-1-8 1 16,3-10-1-16,1-11-3 0,1-9-1 0,-2 2 1 15,-3 0 1-15,1 4-4 0,-5 3 0 0,0 0 0 16,6-1 0-16,-6 3-3 0,5 2-1 0,-1 7 0 0,-2 4 1 16,3 7-2-16,3 5 0 0,-5 1 0 15,-1 3 1-15,-2 2-1 0,7 0 0 0,-7 0 0 0,4 0 0 16,-2 2 0-16,7 5 0 0,-7 6 0 0,11 5 0 15,3 11 0-15,-1 4 1 0,-4 5 0 0,3-7 1 16,-10 2 0-16,3 1 0 0,-3-1 0 0,7-2 2 0,-2 2 2 16,2-6 1-16,-7 2 0 0,3-5 0 0,-3-6 3 15,-2-5 1-15,-2-4-1 0,9-2 1 0,-9-7-1 16,5 2 0-16</inkml:trace>
  <inkml:trace contextRef="#ctx0" brushRef="#br0" timeOffset="2101.39">5197 15040 1771 0,'7'-4'0'15,"-7"4"0"-15,17-3 0 0,-17 3 50 0,11 7 0 16,-11-7 0-16,11 2 0 0,-11-2 32 0,5 0 1 16,-5 0 0-16,8 3 0 0,-8-3-48 0,3 15 1 0,-3-15-1 15,8 27 1-15,-3-1-21 0,-3 8 1 0,2-1 0 16,-4-2 1-16,-4 0-7 0,2 0 0 0,2 0 0 15,2 0 1-15,2 3 1 0,-4 1 1 0,5-8-1 16,-5 0 0-16,4-5 2 0,3-2 1 0,-3-2-2 16,1-5 2-16,1-6-2 0,-3-3 2 0,3-2-1 15,-1 0 1-15,6 1-2 0,0-1 2 0,0-2-1 16,2-2 1-16,9-3-4 0,-2-4 1 0,0-2-1 16,2-4 1-16,2-3-4 0,-4-2 0 0,0 0 0 15,-5 0 1-15,1 0-5 0,-5 2 2 0,-7-2-1 0,7 0 1 16,-9 2-4-16,-2 3 0 0</inkml:trace>
  <inkml:trace contextRef="#ctx0" brushRef="#br0" timeOffset="2285.5">5237 15014 1821 0,'2'2'0'0,"-2"-2"0"0,4 9 0 0,-4-9 35 15,5 0 1-15,-5 0-2 0,0 0 2 0,0 0 26 16,4 0 1-16,-4 0 0 0,15-7-1 0,-15 7-19 15,31-16 1-15,-11 8 0 0,2-4-1 0,3 1-21 0,-3 0 0 16,2 0 1-16,-9 2-1 0,1 9-4 0,-7 0 1 16,2 0-1-16,-7 0 1 0,3 0-4 0,-7 5-1 15</inkml:trace>
  <inkml:trace contextRef="#ctx0" brushRef="#br0" timeOffset="2439">5345 15382 1695 0,'8'-4'0'0,"-8"4"0"16,12 0 0-16,-12 0 39 0,4-5 1 0,-4 5-1 16,15-2 1-16,-15 2 16 0,18-7 2 0,-18 7-1 15,35-17 0-15,-10 1-24 0,1-2-1 0,-2 1 1 16,-2-1-1-16,-4 0-23 0,0 2 0 0</inkml:trace>
  <inkml:trace contextRef="#ctx0" brushRef="#br0" timeOffset="2983.36">5742 14918 1457 0,'0'0'0'0,"0"0"0"0,-5 4 0 0,5-4 28 15,-4 5 1-15,4-5 0 0,-7 4 0 0,7-4 5 16,-6 9 2-16,6-9-1 0,-3 16 1 0,3-16-8 16,-6 22 0-16,6-22 0 0,-16 40 0 0,12-13-1 15,-5-1 1-15,2 5-1 0,-1 3 1 0,1-1 0 0,7 2 2 16,0-1-1-16,-4-1 0 0,4-2 10 15,0-2 0-15,0-2 1 0,0-3 0 0,0-6 0 0,0-5 1 16,0 1-1-16,0-8 2 0,0-1-9 0,0-3 2 16,0-2-1-16,0 0 1 0,0-2-11 0,0-1 1 15,4-1 0-15,-4-5 1 0,7-4-12 0,-3-9 2 16,3-7 0-16,-1-2-1 0,1-3-9 0,-3-6 0 16,7 3-1-16,-6 1 2 0,1 7-6 0,-3 3 0 15,3 3 0-15,-4 3 1 0,3 5-2 0,4 4 0 0,-7 2 0 16,2 4 0-16,-4 5-1 0,0 0 1 0,5 0 0 15,-5 0 0-15,4 0-1 0,-4 0 1 0,7 5 0 16,-3 4 0-16,0 4 0 0,8 7 0 0,-4 4 0 16,8 1 0-16,-7 4 0 0,2-3 1 0,0 1-1 15,0-5 1-15,0-2 3 0,-7-2-1 0,3-2 1 16,2-8 0-16,-9-3 3 0,0-3 0 0,0 0-1 16,4 1 2-16,-4 1 1 0,2-4 1 0,-2 0-1 15,5 0 1-15,-1-9-1 0,0 0 1 0,1-4 0 16,1-9 1-16,-1-7-5 0,-1-5 1 0,1 1 0 15,1 4 0-15,-1 7-3 0,-5 4 2 0,0 5-2 0,6 2 2 16,-6 4-4-16,-6 3 1 0,6 4 1 0,0-7-1 16,0 5-1-16,0 2 1 0,0 0-1 0,0-2 0 15,0 2 0-15,0 4 2 0,6 3-1 0,-1 2 0 16,-1 8 2-16,1 3-1 0,6 5 1 0,4-1 0 0,-4 3 2 16,4 4 0-16,-4-4 0 0,3-7-1 0,1-5 2 15,-4-4 0-15,-2-2 0 0,2-4 0 0,-4-3 0 16,-1-2 1-16</inkml:trace>
  <inkml:trace contextRef="#ctx0" brushRef="#br0" timeOffset="3216.37">6269 14583 1960 0,'4'-5'0'0,"-4"5"0"15,5 0 0-15,-5 0 47 0,0 9 1 0,0-9 1 16,0 9-1-16,0-9 12 0,0 11 2 0,0-11-1 16,-9 38 1-16,4-7-30 0,1-2 1 0,2 4-1 15,-3 7 2-15,-6 7-23 0,0 2 1 0,2-1 1 16,-2-1-1-16,7 0-3 0,-5-1 1 0,7 1 0 16,-2 2 0-16,-1 2-1 0,-2-2 0 0,3 0 0 15,4-7 0-15,-4-4-2 0,4-5 1 0</inkml:trace>
  <inkml:trace contextRef="#ctx0" brushRef="#br0" timeOffset="3732.83">6361 14874 1733 0,'5'4'0'0,"-5"-4"0"0,2 7 0 0,-2-7 46 15,7 4 0-15,-7-4 0 0,0 5 0 0,0-5 24 0,6 6-1 16,-6-6 1-16,5 22 1 0,-5 1-26 0,4 6 0 16,-4 2-1-16,7 0 1 0,-7 0-20 0,4-2 1 15,0 0-2-15,1-3 2 0,-3 1-8 0,2-1 1 16,-4-3 0-16,5-6 0 0,-5-5-3 0,2-8 1 16,0-2-1-16,0-2 1 0,3 0-5 0,-1 0 0 15,1-4 1-15,1-1-1 0,3-6-4 0,0-4 1 16,4-3 0-16,-2-7 0 0,-2 1-5 0,-2-3 2 0,1 3-1 15,-3-3 1-15,-1 3-5 0,-1 6 0 0,1-2 0 16,0 7 2-16,-4 4-3 0,0 5 0 0,-4-1 0 16,4 1 1-16,0 1-1 0,0 3 0 0,0 0 0 15,0 0 0-15,0 0-1 0,4 3 1 0,-4 6 0 16,3 4 0-16,1 9-1 0,0 7 1 0,5 0 0 16,-2 2 0-16,2 2 0 0,2-2 0 0,4 0 0 15,-4-4 0-15,2-7 0 0,1-2 0 0,-1-3 0 16,-7-4 0-16,3-4 0 0,-4-2 1 0,1-1-1 15,3-4 1-15,-2-4 0 0,-3 1 1 0,3-3-1 16,6-5 2-16,-2-3-1 0,0-4 1 0,2-4 1 0,-6-2-1 16,2-1 1-16,-3-6 2 0,-1 2-2 0,-1 5 2 15,-2-3 2-15,-2 12 1 0,0-10-1 0,0 1 1 0,-2-3 3 16,-7 1 2-16,3 1-2 0,-3-1 1 0,2-1 1 16,-2 5 0-16,1 2 0 0,5 0 0 0,3 2 3 15,0 5 0-15,-4 6 0 0,4-2 1 0,-7 7-7 16,7 0 1-16</inkml:trace>
  <inkml:trace contextRef="#ctx0" brushRef="#br0" timeOffset="4016.99">6957 14667 2086 0,'0'5'0'16,"0"-5"0"-16,0 4 0 0,0-4 45 0,4 0 1 0,-4 0 0 16,-4 0 0-16,4 0 25 0,-5 9 1 0,5-9 0 15,-11 11 1-15,11-11-32 0,-9 24 2 0,9-24-1 16,-11 45 0-16,7-12-23 0,0 5 0 0,4 2 1 16,4-2-1-16,-4-5-5 0,4 2 2 0,1-6-1 15,1 2 0-15,-1-4-1 0,-1 0-1 0,1-3 1 16,1 1 0-16,-1-3-1 0,6 0-1 0,-9-2 0 15,7-9 1-15,-7-4-6 0,5-5 1 0,-7-2 0 0,2 0 0 16,0-2-5-16,0-1 1 0</inkml:trace>
  <inkml:trace contextRef="#ctx0" brushRef="#br0" timeOffset="4449.87">6970 14891 1419 0,'-2'-15'0'0,"-3"2"0"0,3 1 0 16,-2 1 39-16,4 0 2 0,0-4-1 0,-5-1 1 0,-1-2 29 15,4-2 2-15,-1 5 0 0,3 4 0 0,0 6-24 16,0-1 1-16,5 6 0 0,1-5 0 0,-1 1-20 15,6-1 1-15,-2 1 1 0,4-3-1 0,2 1 3 16,5-1 0-16,0 0 1 0,-7 5 0 0,0-2 4 16,1 1 0-16,-3 3 0 0,0 0 1 0,-5 0 1 0,1 0-1 15,-5 3 0-15,3 1 2 0,-1 0-6 0,-4 1 1 16,4-1 0-16,-4 1 0 0,3 4-4 0,-3-3 0 16,4 8 0-16,-4-1 0 0,-4 7-8 0,-3 2-1 15,-2 0 1-15,0-2-1 0,-2 3-6 0,-2-1 1 16,-2-5 0-16,-5-1 0 0,4 0-6 0,1-8 2 15,-3 4-2-15,3-4 2 0,4-1-8 0,0 0 2 0,0-3 0 16,11 1 0-16,-5-3-4 0,5 0 1 0,-6 0-1 16,6 1 2-16,0-3-4 0,0 0 2 0,0 0-2 15,6-3 1-15,-1 1-2 0,-1 0 1 0,9 0-1 16,12-3 1-16,6 1-2 0,4-3 1 0,-4 0 0 16,-5 5 0-16,-2 2-1 0,-8 0 1 0,-1 0 1 15,-6 2-1-15,2 1 0 0,-6 1 0 0,-3 3 0 16,4-1 0-16,1 1 0 0,-3 2 2 0,3 4-1 15,-7 3 0-15,0 4 0 0,-7 2 2 0,3-2-1 0,4 0 0 16,-9 0 1-16,3-2-1 0,-10 0 0 0,7-1 2 16,-6 1-1-16,-1 2 1 0,1-2-1 0,-5-5 2 15,5-2-3-15,-3-2 2 0,5-2-1 0,2-3 1 0,2-2-3 16,2-2 1-16,3 0 0 0,0-2 0 0,-3 0-3 16,3 0 1-16</inkml:trace>
  <inkml:trace contextRef="#ctx0" brushRef="#br0" timeOffset="4716.52">7413 15087 2086 0,'0'0'0'0,"0"0"0"16,0 0 0-16,0 0 40 0,0 6 2 0,0-6-2 15,0 7 1-15,0-7 28 0,0 5 1 0,0-5-1 16,0 4 1-16,0-4-27 0,0 4 1 0,0-4 0 16,0 5 0-16,0-5-26 0,0 7 0 0,0-7 0 15,2 2 0-15,-2-2-7 0,7 4 1 0</inkml:trace>
  <inkml:trace contextRef="#ctx0" brushRef="#br0" timeOffset="5433.03">7713 14485 1796 0,'0'0'0'0,"0"0"0"0,0 0 0 0,0 0 48 15,5 0 1-15,-5 0-1 0,0 0 1 0,0 0 21 16,0 0-1-16,0 0 1 0,0 2 0 0,0-2-14 0,0 16 0 16,0-16 0-16,-9 24 0 0,9-24-27 0,-7 40 1 15,3-11 0-15,4 2 0 0,0 2-5 0,0 3-1 16,4-3 1-16,-4-2 1 0,0-2-3 0,0 0 1 15,0-2 0-15,0-1-1 0,0 1-2 0,-4 0 1 16,-3-3-1-16,7-4 0 0,-2-4-5 0,0-3 1 0,2-6 0 16,-5-3 0-16,5-2-6 0,-4 1 0 0,4-1 0 15,-5-2 0-15,5 0-7 0,0-2 0 0</inkml:trace>
  <inkml:trace contextRef="#ctx0" brushRef="#br0" timeOffset="5866.41">7748 14465 1897 0,'0'0'0'0,"0"0"0"0,3 0 0 15,-3 0 43-15,8 0-1 0,-8 0 1 0,9 2 1 16,-9-2 28-16,11 9-1 0,-11-9 1 0,7 20 1 16,-7-20-32-16,18 40 0 0,-12-13 0 0,1 4 0 15,-1 9-22-15,5 2 1 0,-4-4-1 0,2-5 2 0,-2-2-5 16,-5-2 1-16,7-2 0 0,-5-5 1 0,0-7-3 15,-4-4 0-15,5-2 0 0,-5-2 1 0,2-7-4 16,-2 2 1-16,4 0 1 0,1-2-1 0,-5-2-1 16,4 0 0-16,-4-2-1 0,2-3 2 0,1-6-6 15,-1-5 2-15,2-7-1 0,-4-1 1 0,5-5-3 16,-5-5 1-16,2 3-2 0,0 0 2 0,-2 6-3 0,0 0 1 16,0 5-1-16,0 4 2 0,0 5-3 0,0 2 1 15,2 2-1-15,3 2 2 0,-1 3-3 0,1 4 1 16,-5-7-1-16,6 3 2 0,-6-1-2 0,5 1 1 15,-5 2 0-15,4 2 0 0,3 0 1 0,-3-3 1 16,0 3-1-16,-1 3 1 0,-1 1 2 0,9 3 1 16,-5 4-1-16,8 7 1 0,1 6 3 0,3 5 2 0,-3 0-1 15,-2-3 1-15,-2 1 2 0,0-2 1 0,1-6 0 16,1 4 0-16,-7-1 0 0,-1-2 0 0,-1-2 0 16,3-3 0-16,-3-10-2 0,1-1 1 0,-5-2-1 15,4 1 1-15,-4-1-6 0,0 0 1 0,0 0 0 16,0-2 0-16,0-2-6 0,0 0 2 0</inkml:trace>
  <inkml:trace contextRef="#ctx0" brushRef="#br0" timeOffset="6133.72">8225 14414 1934 0,'0'0'0'0,"0"0"0"0,4 0 0 0,-4 0 50 16,2 0-1-16,-2 0 0 0,7 0 2 0,-7 0 18 16,0 9 2-16,0-9-1 0,2 7 0 0,-2-7-26 15,5 19 0-15,-5-19 0 0,4 32-1 0,-4-32-22 16,7 35-1-16,-7-35 0 0,11 45 0 0,2-19 2 0,-6 5 0 16,1-4 0-16,1-3 1 0,-9-1 0 0,0-1 1 15,7-5 0-15,-3 1-1 0,1-7 1 0,-5 0-1 16,2-6 1-16,2 2-1 0,1-1-5 0,-5 1 0 15,4-3 0-15,-4 1 1 0,0-3-5 0,0 0-1 16</inkml:trace>
  <inkml:trace contextRef="#ctx0" brushRef="#br0" timeOffset="6432.91">8203 14365 1922 0,'0'-7'0'0,"0"7"0"16,-5-13 0-16,5 13 46 0,9-11 0 0,-9 11 0 15,11-11 1-15,-11 11 25 0,0-13 0 0,0 13-1 16,7-9 1-16,-7 9-29 0,6-9 1 0,-6 9-1 16,14-9 1-16,-14 9-26 0,20-9 1 0,-20 9 0 15,22-4 0-15,-22 4-4 0,24 0 0 0,-24 0-1 16,24 0 2-16,-24 0 0 0,20 11 0 0,-20-11 1 0,20 24 0 16,-20-24 1-16,24 29 1 0,-24-29-1 0,22 38 1 15,-15-18-1-15,-3 2 1 0,-4-2 0 0,0 0 0 16,0 0-2-16,0-2 0 0,0-3 0 0,-4 1 1 15,-3-1-3-15,3 1 1 0,-1 2 0 0,-8 2 1 0,6 6-6 16,1-4 1-16,1-2 1 0,-3 0-1 0,-1-4-3 16,7-3 1-16,-7-2-1 0,7-2 1 0,-3-4-5 15,-1 1 0-15,6 1 1 0,-3-3-1 0,3-1-3 16,0-1-1-16</inkml:trace>
  <inkml:trace contextRef="#ctx0" brushRef="#br0" timeOffset="7135.02">8496 14274 1683 0,'0'0'0'0,"0"0"0"16,4-4 0-16,-4 4 46 0,5 0 0 0,-5 0 0 15,2-3 0-15,-2 3 5 0,0 0 1 0,0 0 0 16,0 0 0-16,0 0-9 0,0 9 0 0,0-9-1 15,7 29 1-15,-5-2-19 0,0 8-1 0,-2-1 1 16,0-1 0-16,0-2-3 0,0-2 0 0,2-2 0 16,3 1 1-16,-1-1-1 0,-2-3 0 0,7 1 1 15,-4-5-1-15,-5-2 0 0,2-5 0 0,0-4 1 0,0-2 0 16,3-3-5-16,-5-2 1 0,4 3-1 0,-4-5 1 16,2-5-8-16,0 3 0 0,1 0 0 0,1 0 1 15,-4-1-7-15,4 1 0 0,-4-2 0 0,5-3 0 16,-5-13-8-16,0-2-1 0,0-3 1 0,0 1-1 15,0 2-59-15,0 2 1 0,0 0-1 0,-5 0 1 0,1 2-41 16,0 2 1-16,-1 1-1 0,3-3 0 0,2 0 20 16,-4 1 1-16,4 1 0 0,0 3 0 0,0-3 53 15,0 1-1-15,4-1 1 0,-4 1 0 0,4 1 21 16,3 3 1-16,-3 0-1 0,1 0 1 0,-5 2 8 16,6 2 1-16,-1 1 0 0,2-3 0 0,-1 2 21 0,5 3 0 15,0 2 1-15,-4-1-1 0,-1 3 32 0,8 0 0 16,1 0 0-16,1 0 1 0,-1 5 3 0,5 1 0 15,-5 6 1-15,-2-6-1 0,5 3-10 0,-7 0 1 16,2-2-1-16,-6-1 0 0,-3 1-9 0,1-3 1 16,-1 1-1-16,3-1 1 0,-7 1-7 0,4-1-1 15,-4 1 1-15,0-1 1 0,0 0-9 0,0 1 1 0,0-1 0 16,0 1 0-16,0 1-6 0,-4-3 0 0,-7 3 1 16,6 3 0-16,-3 0-5 0,1 0-1 0,-6-2 1 15,2 2 1-15,-3-1-7 0,1 1 1 0,2 0-1 16,0-2 1-16,7 0-4 0,-1-3 1 0,-3 0 0 15,5-1 0-15,-1-1-4 0,4 0 1 0,-4 2-1 16,4-4 1-16,0 3-3 0,0-3 0 0,0 0 0 16,0 0 1-16,0 0-2 0,0 0 0 0,0 2 0 15,0 2 0-15,4 3-1 0,-4-5 1 0,4 3 0 16,1-1 1-16,1-2-2 0,-1 1 1 0,6 1-1 0,-5 3 1 16,5-3-1-16,0 7 1 0,7-4 0 0,-11 0 0 15,6-1 0-15,-2 3 0 0,0 0 1 0,-2-2 0 16,-5-1 1-16,-4 1 2 0,7 4-2 0,2-4 1 15,-5 2 2-15,1 2 0 0,6 0-1 0,-11-2 1 16,6-5 1-16,-6 3-1 0</inkml:trace>
</inkml:ink>
</file>

<file path=ppt/ink/ink11.xml><?xml version="1.0" encoding="utf-8"?>
<inkml:ink xmlns:inkml="http://www.w3.org/2003/InkML">
  <inkml:definitions>
    <inkml:context xml:id="ctx0">
      <inkml:inkSource xml:id="inkSrc0">
        <inkml:traceFormat>
          <inkml:channel name="X" type="integer" max="4920" units="cm"/>
          <inkml:channel name="Y" type="integer" max="2000" units="cm"/>
          <inkml:channel name="T" type="integer" max="2.14748E9" units="dev"/>
        </inkml:traceFormat>
        <inkml:channelProperties>
          <inkml:channelProperty channel="X" name="resolution" value="172.63158" units="1/cm"/>
          <inkml:channelProperty channel="Y" name="resolution" value="105.26316" units="1/cm"/>
          <inkml:channelProperty channel="T" name="resolution" value="1" units="1/dev"/>
        </inkml:channelProperties>
      </inkml:inkSource>
      <inkml:timestamp xml:id="ts0" timeString="2024-05-20T12:11:01.044"/>
    </inkml:context>
    <inkml:brush xml:id="br0">
      <inkml:brushProperty name="width" value="0.05292" units="cm"/>
      <inkml:brushProperty name="height" value="0.05292" units="cm"/>
      <inkml:brushProperty name="color" value="#FF0000"/>
    </inkml:brush>
  </inkml:definitions>
  <inkml:trace contextRef="#ctx0" brushRef="#br0">19949 5490 0</inkml:trace>
</inkml:ink>
</file>

<file path=ppt/ink/ink12.xml><?xml version="1.0" encoding="utf-8"?>
<inkml:ink xmlns:inkml="http://www.w3.org/2003/InkML">
  <inkml:definitions>
    <inkml:context xml:id="ctx0">
      <inkml:inkSource xml:id="inkSrc0">
        <inkml:traceFormat>
          <inkml:channel name="X" type="integer" max="18176" units="cm"/>
          <inkml:channel name="Y" type="integer" max="12032" units="cm"/>
          <inkml:channel name="F" type="integer" max="4096" units="dev"/>
          <inkml:channel name="T" type="integer" max="2.14748E9" units="dev"/>
        </inkml:traceFormat>
        <inkml:channelProperties>
          <inkml:channelProperty channel="X" name="resolution" value="637.75439" units="1/cm"/>
          <inkml:channelProperty channel="Y" name="resolution" value="633.26318" units="1/cm"/>
          <inkml:channelProperty channel="F" name="resolution" value="0" units="1/dev"/>
          <inkml:channelProperty channel="T" name="resolution" value="1" units="1/dev"/>
        </inkml:channelProperties>
      </inkml:inkSource>
      <inkml:timestamp xml:id="ts0" timeString="2024-05-21T12:32:29.313"/>
    </inkml:context>
    <inkml:brush xml:id="br0">
      <inkml:brushProperty name="width" value="0.05292" units="cm"/>
      <inkml:brushProperty name="height" value="0.05292" units="cm"/>
      <inkml:brushProperty name="color" value="#FF0000"/>
    </inkml:brush>
  </inkml:definitions>
  <inkml:trace contextRef="#ctx0" brushRef="#br0">12042 9047 703 0,'-4'2'0'0,"4"-2"0"16,-16 2 0-16,16-2 37 0,-22 0 0 0,22 0 0 15,-35-4 1-15,11-1-8 0,2-4 0 0,-7 1 0 0,3-1 0 16,-1 2 5-16,1 3 1 0,-3-10-1 0,-2 1 1 0,0-3-6 16,-4 1 2-16,4-1-1 0,-6 1 0 0,-1-1-7 15,1 5 0-15,-5 0-1 0,6 0 2 0,-8 6-4 16,2-3 0-16,-4 1 1 0,-2 0-1 0,6 3-3 16,0-5 0-16,-9 5 0 0,-2 1 1 0,-2-1 9 15,-5-3 1-15,-1 3-1 0,-1-5 1 0,0 7 1 16,0-3 0-16,-4 3 0 0,-4 0 1 0,-1 0-5 15,3 2 1-15,-3 4 0 0,-2 3 1 0,-4 4-1 0,5 4 1 16,-3 1-1-16,0-1 1 0,-3 5-12 0,3 3 1 16,3-1 0-16,1 2 0 0,9 3-6 0,1 2 0 15,3 6 0-15,1-1 0 0,8 6-4 0,-6 2 1 16,2 2 0-16,9 3 0 0,2 2-4 0,3 2 2 16,3 2-1-16,5 3 1 0,5 3 0 0,4-1-1 15,4 2 1-15,3 2 0 0,4 3-2 0,4 1 2 0,3 3-1 16,4-9 1-16,6 7-1 0,8-5 1 0,3-2 0 15,12-2 0-15,8-5 1 0,8-6 1 0,5-1 0 16,12-8 0-16,4-3-3 0,11-1 2 0,-2-3 0 16,7-9 0-16,11 0 0 0,6-4 1 0,7-2 0 15,-3-5 0-15,12 0-2 0,8 0 0 0,-6-7 0 16,7-4 1-16,-7-4-1 0,2-5 1 0,2 0 0 16,-4 0 0-16,0-6-1 0,-2-1 2 0,1 1-1 15,1-3 1-15,-2-2 1 0,-7-5 1 0,0 3 0 16,0 0 0-16,-6-2 2 0,-5 1 1 0,-16-3-1 15,1-1 0-15,-14 0 3 0,-2-4 0 0,-8 0-1 16,-1 0 1-16,-8 2 0 0,-5 0 1 0,-13 1 0 0,-5-1 1 16,-6 2-4-16,-7 3 2 0,-6-3-1 0,-5-2 1 15,-4 0-2-15,-9 0 1 0,-3-2-1 0,-1-2 2 0,-7-3-3 16,-2-1 1-16,-5-1-1 0,-4 0 0 0,-2-2 0 16,-5-4-1-16,5 2 0 0,-3-5 0 0,3 5-2 15,4-5 0-15,-11 3 0 0,7 2 1 0,-9 6-1 16,2 1 0-16,-4 3 0 0,-3 6 0 0,5 1-1 15,-5 1 1-15,-4 2 0 0,3 6 0 0,-1 5-3 0,-4 2-1 16,-2 3 1-16,-5 1-1 0,-4 10-1 0,-1-5-1 16,-7 4 0-16,1 3 2 0,-9 4-3 0,1 4 0 15</inkml:trace>
  <inkml:trace contextRef="#ctx0" brushRef="#br0" timeOffset="33619.83">11736 5354 288 0,'-7'0'0'16,"7"0"0"-16,-4 20 0 0,4-20 13 0,-14 40 1 15,8-13-1-15,-3 1 1 0,-2 6 9 0,-4 3 1 16,-1 6-1-16,1 1 1 0,-1 5 43 0,1-2 1 16,-1 1-1-16,1-1 0 0,-1 6-13 0,-3-4 1 15,-3 7 0-15,0 8 0 0,-1 1-30 0,1 3 1 16,-2 3-1-16,-2 0 1 0,-3 3 0 0,3-1 1 15,-5 0 0-15,2 7 0 0,0-2 13 0,5 4 1 0,-2 0-1 16,1 3 1-16,-1-5-2 0,-5-5 1 0,7 7-1 16,-3-4 2-16,3 4 5 0,0 0 0 0,2-2 0 15,-3-4 0-15,3 1-3 0,-4-3 0 0,4-5 1 16,4 4 0-16,-2-9-9 0,5-2-1 0,0 3 1 16,-1-7 0-16,1-1-2 0,-1-3 0 0,-1 3 1 15,3 3 0-15,-1 0-3 0,-1 0 1 0,1-2 0 16,0-11 0-16,-1-3-5 0,3-4 1 0,2-2-1 15,-7-7 1-15,7-5-4 0,-2-3 0 0,2-3-1 16,2-5 1-16,9-4-2 0,-4-6 1 0,4-3-1 16,-5-2 2-16,5-2-9 0,0-3 1 0,5-6 0 0,-1-9-1 15,5-11-4-15,2-7 0 0</inkml:trace>
  <inkml:trace contextRef="#ctx0" brushRef="#br0" timeOffset="34249.91">10607 8136 1746 0,'0'3'0'0,"0"-3"0"0,0 6 0 16,0-6 32-16,0 7 1 0,0-7-1 0,0 9 1 0,0-9-6 16,4 18 1-16,-4-18 0 0,0 28 0 0,0-28-19 15,0 38 0-15,-2-16 0 0,0 5 0 0,-7 9-9 16,2-3 0-16,3 7 0 0,-5 2 0 0,2 0-2 15,-4 5 0-15,7-3 0 0,-5 3 1 0,0-5-1 16,7 2 0-16,-7 1-1 0,7-3 1 0,-2-4 2 16,-3-3 0-16,5-1 0 0,0 1 0 0,2 3 2 0,-7-5 2 15,7 3-1-15,0-5 0 0,-2 0 9 0,2-2-1 16,-7 0 0-16,5-5 0 0,0 1 8 0,2-8 0 16,-5-3 1-16,5-1 0 0,0-4 2 0,0-5 1 15,0 1-1-15,0-3 1 0,0 2-4 0,0-4 0 16,7 0 0-16,4-8 1 0,7-6-3 0,8-4 1 15,5-6-1-15,9-7 1 0,6-16-3 0,5-6 1 16,2-3 0-16,11 1-1 0,2-3-2 0,4 0 0 0,3 5 1 16,-2 2-1-16,6 2-5 0,-7 3 0 0,3-1 0 15,0-2 1-15,2-2-5 0,-9 2 2 0</inkml:trace>
  <inkml:trace contextRef="#ctx0" brushRef="#br0" timeOffset="82218.66">23289 12744 941 0,'-11'-18'0'0,"11"18"0"0,-26-35 0 0,26 35 28 16,-11-20 1-16,11 20 0 0,-18-31 1 0,1 0 31 0,1-5 1 15,-4 3 0-15,1-3-1 0,-1 5 35 16,-2 2 0-16,6 3 1 0,-4-1-1 0,7 3-36 16,2 1 0-16,4 8 1 0,-6-1 0 0,2 5-30 0,5 5 1 15,-8 1-1-15,3 3 0 0,0 2 2 0,-2 0-1 16,-5 0 1-16,-4 4 0 0,-8 5-3 0,1 7 1 16,-9-1 0-16,1 12 0 0,-5 2-5 0,-4 6 1 15,4 8-1-15,0 3 0 0,2 5-1 0,0 3 0 0,3-1 0 16,4 5 0-16,0 6-1 0,2-2-1 15,-2 9 1-15,-5 7 0 0,-4 8-3 0,-4 12 0 0,2 2 1 16,-4 4-1-16,-1 14-7 0,-2 9 2 0,3-1-1 16,6 8 0-16,4-1-1 0,3-2 1 0,4 0-1 15,0-5 1-15,3 1-6 0,3 0 1 0,3-12 0 16,2-4 0-16,3-11-6 0,1-16 2 0,8 1 0 16,3-1-1-16,7-8-2 0,5 1-1 0,2-12 0 15,2-3 1-15,9-13-3 0,-3-5 2 0,3 1-1 0,2-3 0 16,-2-2-1-16,2 0 0 0,5-3 0 0,1-3 0 15,5-1-1-15,3-6 1 0,1-1-1 0,3-1 1 16,-5-3-5-16,5-2 2 0,0-4-2 0,-1-5 2 16,1-9-12-16,-3-2 2 0,8-7-2 0,-10-4 2 0,4-7-12 15,1-2 0-15,2-4 1 0,-2-7 0 0,8-7 2 16,-1-4 0-16,-3-11 0 0,4 4 1 0,1-9 6 16,-1-4 0-16,-1-9 1 0,-3-7-1 0,2-6 6 15,-6-10 0-15,4-1 0 0,2-3 0 0,3-2 8 16,-7-2 1-16,-1-4 0 0,6-3 0 0,-3-5 2 15,-2-1 1-15,2 0-1 0,-11-3 0 0,-2-2 9 16,2 2 2-16,-9 1-1 0,-2 3 0 0,-4 1 11 0,-3 2-1 16,-6 4 1-16,2 5 0 0,-4 2 3 0,-1-4 1 15,-6 9-1-15,0 6 1 0,5 2-3 0,-5 3 2 16,-5 4 0-16,-1 2 0 0,-3 0-6 0,-7 5 1 0,-1 4 0 16,1 5 0-16,-1 13-4 0,1 2 1 15,-4 7 0-15,-8 4 0 0,-1 7-5 0,-4 4 2 0,-2 7-1 16,-5 7 1-16,-4 6-3 0,-2 7 1 0,-3 7-1 15,1 6 1-15,-12 9-4 0,5 5 1 0,-9 6 1 16,-2 5-1-16,-14 7-2 0,-3 6-1 0</inkml:trace>
</inkml:ink>
</file>

<file path=ppt/ink/ink13.xml><?xml version="1.0" encoding="utf-8"?>
<inkml:ink xmlns:inkml="http://www.w3.org/2003/InkML">
  <inkml:definitions>
    <inkml:context xml:id="ctx0">
      <inkml:inkSource xml:id="inkSrc0">
        <inkml:traceFormat>
          <inkml:channel name="X" type="integer" max="18176" units="cm"/>
          <inkml:channel name="Y" type="integer" max="12032" units="cm"/>
          <inkml:channel name="F" type="integer" max="4096" units="dev"/>
          <inkml:channel name="T" type="integer" max="2.14748E9" units="dev"/>
        </inkml:traceFormat>
        <inkml:channelProperties>
          <inkml:channelProperty channel="X" name="resolution" value="637.75439" units="1/cm"/>
          <inkml:channelProperty channel="Y" name="resolution" value="633.26318" units="1/cm"/>
          <inkml:channelProperty channel="F" name="resolution" value="0" units="1/dev"/>
          <inkml:channelProperty channel="T" name="resolution" value="1" units="1/dev"/>
        </inkml:channelProperties>
      </inkml:inkSource>
      <inkml:timestamp xml:id="ts0" timeString="2024-05-21T12:40:03.964"/>
    </inkml:context>
    <inkml:brush xml:id="br0">
      <inkml:brushProperty name="width" value="0.05292" units="cm"/>
      <inkml:brushProperty name="height" value="0.05292" units="cm"/>
      <inkml:brushProperty name="color" value="#FF0000"/>
    </inkml:brush>
  </inkml:definitions>
  <inkml:trace contextRef="#ctx0" brushRef="#br0">18515 657 1947 0,'-22'-15'0'0,"9"-1"44"0,2 1 1 0,-5-1 0 0,-10 1 0 0,-5-1 26 0,-7 1 1 16,1-3-1-16,-5 2 1 0,2 1-31 0,3-1 0 15,-3 1 1-15,-6-1-1 0,-1 5-26 0,-1 2 0 0,-3 2 0 16,-2-4 1-16,5 7-7 0,-5-3 1 16,-2 7 0-16,2 0 0 0,-2 0-3 0,-5 2 1 0,5 7-1 15,-2-2 1-15,-1 2-1 0,1 2 1 0,-5-4 0 16,3 2 0-16,-3 2-2 0,-4-5 1 0,-3 8 0 16,1-1 0-16,0 7-3 0,1 0 2 0,-3-2-1 15,-1 2 1-15,3 2-2 0,-9 2 2 0,2 3-2 16,2-5 2-16,-2 3-1 0,2-3-1 0,-4 4 1 15,7 6 0-15,-5-1 2 0,2 2 1 0,-2 2-1 16,6-1 0-16,-1 1 1 0,1-1 0 0,3 6 0 16,0-3 0-16,0 10 0 0,0-3 1 0,4 3 0 0,0-5 0 15,9 0 1-15,-2 1 0 0,7-6 0 0,1 3 0 16,-3-2-1-16,3 0 1 0,-3 4 0 0,3 0 0 0,3 5-1 16,5 6 1-16,1-6 0 0,1-3 1 15,4 3-3-15,2-5 3 0,2 5-2 0,5 1 1 0,8 4-2 16,1 1-1-16,4-7 1 0,4 8 1 0,5-1-2 15,2 0 1-15,2-2-1 0,5 3 0 0,4-1-1 16,0 0 0-16,0-2-1 0,7 3 1 0,4-1-2 16,-5 0 2-16,12 1-2 0,0-3 2 0,4 2-3 15,6 0 2-15,-1-4-2 0,6 2 2 0,2-9-3 0,5 5 0 16,0-9 0-16,6 4 2 0,-2-4-2 0,3-1 0 16,1-1 1-16,9 2 0 0,3 2-1 0,4 2 2 15,2-9-2-15,3-2 1 0,-1 0-1 0,5-2 1 16,2 0-1-16,2-7 1 0,2 0 0 0,1-2-1 15,6-4 0-15,-5-5 0 0,3-2 0 0,0-2 1 16,0-3-1-16,-5-2 0 0,7-4-1 0,-2-2 2 16,0-3-1-16,0 3 0 0,-2-8-1 0,1 1 1 0,3-2 0 15,-4-3 0-15,0-1-1 0,-1-3 1 0,-1-2 0 16,1-3 1-16,1 3-2 0,-3-5 1 0,-1-4 0 16,-3-2 1-16,-3-3-2 0,6-1 1 0,-8 1-1 15,-6 3 1-15,-2 2-1 0,-5-5 0 0,-6 3 1 16,2-3 0-16,-9 3-1 0,2-3 0 0,-12-1 0 15,1-5 0-15,-9-1 0 0,-6 1 1 0,-2-5-1 16,2 1 0-16,-5 1-1 0,-4-6 1 0,3 3 0 16,-3-6 0-16,-7 3 0 0,-2 2 0 0,-4-2 1 15,0-2-1-15,0-7 0 0,0-2 0 0,-7-3 0 0,2 3 0 16,-4 4 0-16,0 1 0 0,-4-1 1 0,-3-2-1 16,-6-2 0-16,-3 4 0 0,1 0 0 0,-5 1 1 15,-6 3-2-15,-1 1 1 0,-8 0 1 0,0 2-1 0,-3 2-1 16,-1-2 1-16,-3 6 0 0,-7-1 0 0,1-1 0 15,-10-2 0-15,8 7 0 0,-1 0 1 0,-4 0-1 16,4 6 0-16,-2-6 0 0,0 4 1 0,0 7-1 16,2-2 0-16,-4-3 0 0,2 3 1 0,0 2-1 15,5 4 0-15,-7-4 0 0,2 5 0 0,4-6-1 0,1 1 1 16,-3 5 0-16,-4-1 0 0,-5-4-1 16,-4 4 0-16</inkml:trace>
</inkml:ink>
</file>

<file path=ppt/ink/ink14.xml><?xml version="1.0" encoding="utf-8"?>
<inkml:ink xmlns:inkml="http://www.w3.org/2003/InkML">
  <inkml:definitions>
    <inkml:context xml:id="ctx0">
      <inkml:inkSource xml:id="inkSrc0">
        <inkml:traceFormat>
          <inkml:channel name="X" type="integer" max="18176" units="cm"/>
          <inkml:channel name="Y" type="integer" max="12032" units="cm"/>
          <inkml:channel name="F" type="integer" max="4096" units="dev"/>
          <inkml:channel name="T" type="integer" max="2.14748E9" units="dev"/>
        </inkml:traceFormat>
        <inkml:channelProperties>
          <inkml:channelProperty channel="X" name="resolution" value="637.75439" units="1/cm"/>
          <inkml:channelProperty channel="Y" name="resolution" value="633.26318" units="1/cm"/>
          <inkml:channelProperty channel="F" name="resolution" value="0" units="1/dev"/>
          <inkml:channelProperty channel="T" name="resolution" value="1" units="1/dev"/>
        </inkml:channelProperties>
      </inkml:inkSource>
      <inkml:timestamp xml:id="ts0" timeString="2024-05-20T12:31:54.064"/>
    </inkml:context>
    <inkml:brush xml:id="br0">
      <inkml:brushProperty name="width" value="0.05292" units="cm"/>
      <inkml:brushProperty name="height" value="0.05292" units="cm"/>
      <inkml:brushProperty name="color" value="#FF0000"/>
    </inkml:brush>
  </inkml:definitions>
  <inkml:trace contextRef="#ctx0" brushRef="#br0">5916 12811 12 0,'-9'-3'0'0,"9"3"0"0,-15 7 0 0,15-7 0 15,-11 11 0-15,11-11 0 0,-11 11 0 0,11-11 12 16,-18 5 1-16,18-5-1 0,-7 0 1 0,7 0 46 16,-11-5 0-16,11 5 0 0,-9-11 0 0,9 11 11 15,-8-24-1-15,5 2 1 0,3-5-1 0,3-6-25 0,5-5 0 16,6 2 0-16,-3-1-1 0,4-1-11 0,1 2 0 15,3 5 0-15,1 2 0 0,-4 5 3 0,4 4 1 16,-5 4-1-16,-2 3 1 0,5-2-5 0,-3-1 2 16,-4 7-1-16,0 0 1 0,0 3-2 0,3 3 1 15,1-1-1-15,-4 2 2 0,-2-1-2 0,6 1 0 16,-1 2 1-16,8 5 0 0,4 4 7 0,-2 4-1 0,1 7 0 16,3 2 0-16,-12 7-5 0,-1 2-1 0,1 0 1 15,-8 0 0-15,8 3-4 0,-7 1 2 0,-1 1-1 16,-3 1 0-16,-1-6-2 0,-4 5 2 0,0-3-2 15,0 1 1-15,-4 1-3 0,-3-4-1 0,1 3 1 16,-1 1 0-16,0-4-3 0,3 2-1 0,-7-1 0 16,0-6 1-16,2 1-5 0,-2-3 1 0,-4-2 0 15,1-6 0-15,3 0-8 0,0-1 0 0</inkml:trace>
  <inkml:trace contextRef="#ctx0" brushRef="#br0" timeOffset="158.66">6308 13353 1683 0,'7'6'0'0,"-3"3"0"0,-4 0 0 0,0 0 22 15,0 4 1-15,0-2-1 0,5 5 2 0,4-1 10 16,2 1 1-16,0-1 0 0,0-3 1 0,-9-1-11 16,-2-7-1-16</inkml:trace>
</inkml:ink>
</file>

<file path=ppt/ink/ink15.xml><?xml version="1.0" encoding="utf-8"?>
<inkml:ink xmlns:inkml="http://www.w3.org/2003/InkML">
  <inkml:definitions>
    <inkml:context xml:id="ctx0">
      <inkml:inkSource xml:id="inkSrc0">
        <inkml:traceFormat>
          <inkml:channel name="X" type="integer" max="3408" units="cm"/>
          <inkml:channel name="Y" type="integer" max="2256" units="cm"/>
          <inkml:channel name="T" type="integer" max="2.14748E9" units="dev"/>
        </inkml:traceFormat>
        <inkml:channelProperties>
          <inkml:channelProperty channel="X" name="resolution" value="119.57895" units="1/cm"/>
          <inkml:channelProperty channel="Y" name="resolution" value="118.73684" units="1/cm"/>
          <inkml:channelProperty channel="T" name="resolution" value="1" units="1/dev"/>
        </inkml:channelProperties>
      </inkml:inkSource>
      <inkml:timestamp xml:id="ts0" timeString="2024-05-21T12:45:58.803"/>
    </inkml:context>
    <inkml:brush xml:id="br0">
      <inkml:brushProperty name="width" value="0.05292" units="cm"/>
      <inkml:brushProperty name="height" value="0.05292" units="cm"/>
      <inkml:brushProperty name="color" value="#FF0000"/>
    </inkml:brush>
    <inkml:context xml:id="ctx1">
      <inkml:inkSource xml:id="inkSrc1">
        <inkml:traceFormat>
          <inkml:channel name="X" type="integer" max="18176" units="cm"/>
          <inkml:channel name="Y" type="integer" max="12032" units="cm"/>
          <inkml:channel name="F" type="integer" max="4096" units="dev"/>
          <inkml:channel name="T" type="integer" max="2.14748E9" units="dev"/>
        </inkml:traceFormat>
        <inkml:channelProperties>
          <inkml:channelProperty channel="X" name="resolution" value="637.75439" units="1/cm"/>
          <inkml:channelProperty channel="Y" name="resolution" value="633.26318" units="1/cm"/>
          <inkml:channelProperty channel="F" name="resolution" value="0" units="1/dev"/>
          <inkml:channelProperty channel="T" name="resolution" value="1" units="1/dev"/>
        </inkml:channelProperties>
      </inkml:inkSource>
      <inkml:timestamp xml:id="ts1" timeString="2024-05-21T12:45:59.781"/>
    </inkml:context>
  </inkml:definitions>
  <inkml:trace contextRef="#ctx0" brushRef="#br0">16424 16341 0,'0'0'0,"0"0"0,0 0 0,0 0 0,0 0 0,0 0 16,0 0-16,0 0 16,0 0-1,0 0 1,0 12-16,0-12 15,0 0 1,0 0-16</inkml:trace>
  <inkml:trace contextRef="#ctx1" brushRef="#br0">8679 13985 517 0,'-6'-4'0'16,"6"4"0"-16,-12-2 0 0,12 2 36 0,-4 6 1 16,4-6-1-16,4 3 1 0,-4-3 41 0,0 0 2 15,0 0-2-15,0 0 2 0,0 0-2 0,0 8-1 16,0-8 0-16,0 12 2 0,0-12-13 0,-4 8 0 0,4-8 1 16,-9 12 0-16,9-12-25 0,-4 6 0 15,4-6 1-15,-7 20-1 0,7-20-2 0,-11 42-1 0,11-42 0 16,-4 36 2-16,4-36-7 0,-7 22 2 0,7-22-1 15,0 16 1-15,0-16-1 0,7 20 0 0,-7-20-1 16,6 35 1-16,-1-13-4 0,1 3 0 0,1 1 0 16,0 3 1-16,-7 0-8 0,4-2 1 0,0 2 0 15,-1 0 1-15,1-1-5 0,1 1 1 0,-1 0 1 16,3 0-1-16,-3-2-5 0,0-1 0 0,3 1 0 16,2-3 0-16,2-1-3 0,-5-3 2 0,5 0 0 15,0-3-1-15,1 3-2 0,-1 3 0 0,0 1 0 0,0 3 0 16,-3 2-2-16,-1-1 0 0,2 1 1 15,0 2 0-15,2 3-3 0,-5-1 1 0,3-2-1 0,2-2 1 16,-6 2-3-16,1-7 0 0,1 1-1 0,4-1 2 16,-5 3-3-16,1-5 0 0,2 3 1 0,-5-3 0 15,3 0-2-15,2-2 0 0,-5 0 1 0,3-2 1 0,2 2-4 16,-3-7 1-16,-1 3 1 0,1-1-1 0,1 10-1 16,4-3 0-16,0 4 1 0,-4 1-1 0,-1 0-1 15,7-1 1-15,-4-1 1 0,2-1-1 16,-2-2 0-16,2 1 0 0,0-1 1 0,-2 0-1 0,2 0-1 15,2-2 1-15,-2 2 0 0,0-2 1 0,2 0-1 16,1-2 0-16,1 0 0 0,-4-3 1 0,-2-3-2 0,2 3 1 16,-2-4 0-16,2 3 0 0,0 3 0 15,0-1-1-15,2 2 0 0,-2-3 0 0,5 1 0 0,-5-1 0 16,2 1 0-16,-2-1 0 0,0 1 1 0,2-1-1 16,-2 1 0-16,0 4 0 0,5 2 0 0,-5 3 0 15,2-1 0-15,-2-2 0 0,0 3 1 0,0-5-1 0,2 2 0 16,3 0 1-16,-5 0-1 0,0-2 1 0,2 0 1 15,-6 0-1-15,-1-2 0 0,1-3 0 0,4 1 1 16,0-5-1-16,-2-2 0 0,2-2 0 0,4 2 1 16,1 2 0-16,-5 2-1 0,4-2 0 0,0 0 1 15,5 0 0-15,-4-2-1 0,-1 0 2 0,1 0-2 16,1 0 1-16,1 4-1 0,0-2 2 0,4 5-2 16,-5-7 1-16,-4 0 0 0,3-3-1 0,-1 3 0 15,1 0 2-15,-7-2-2 0,2 2 1 0,-5-5-1 0,1 0 2 16,6-1-2-16,-9-1 1 0,1 0 1 0,-3 0-1 15,-2 1 1-15,5-3-1 0,-5 0 0 0,4 0 1 16,-4 0-2-16,2 0 0 0</inkml:trace>
  <inkml:trace contextRef="#ctx1" brushRef="#br0" timeOffset="467.31">9372 16581 1796 0,'2'5'0'0,"-2"-5"0"16,9 4 0-16,-9-4 46 0,2-2 0 0,-2 2 0 16,9-5 0-16,-9 5 19 0,4 0 1 0,-4 0 0 15,11 0 0-15,-11 0-31 0,24 7-1 0,-24-7 1 16,47 22 0-16,-23-11-24 0,9 5 1 0,0 0 1 16,-2-3-1-16,0 0-7 0,-5 3 0 0,5-5 1 15,-4 4-1-15,1-4-1 0,-1 3 0 0,-3-3 0 16,-4 0 0-16,2-4 0 0,-2-3 0 0,-5-4 1 15,1 2-1-15,-8-2 1 0,3-2 0 0,-6 2 1 0,2 0-1 16,-1 0 1-16,3-4 1 0,-5-3-2 0,1-4 2 16,-3-2 2-16,2-3 0 0,-4-8 0 0,-4-5 1 15,-3-9 0-15,3-4 1 0,-7-7-1 0,-9 0 2 16,-2 0 5-16,-2 0 1 0,-5-4-2 0,0-2 2 16,1-5 4-16,-10 0 0 0,7 2-1 0,3 9 2 0,1 7-1 15,1 6 1-15,2 3-1 0,4 2 2 0,-2 4-11 16,4 3 1-16</inkml:trace>
  <inkml:trace contextRef="#ctx1" brushRef="#br0" timeOffset="40066.33">15136 3555 515 0,'5'-6'0'0,"-5"6"0"0,4-5 0 0,-4 5 50 16,5-4 2-16,-5 4-1 0,4-5 1 0,-4 5 29 16,-2-2 0-16,2 2-1 0,-2-4 2 0,2 4-16 15,0-5 2-15,0 5-2 0,0 0 1 0,0 0-16 0,0 0-1 16,0 0 1-16,-3 5-1 0,3-5-17 0,-13 15-1 16,13-15 1-16,-4 16 0 0,4-16-9 0,-11 26 2 15,11-26 0-15,-5 38 0 0,1-16-3 0,-3-2 1 16,5 0-1-16,2 3 2 0,2-4-3 0,5-3 1 0,-7 2-1 15,0 8 1-15,0 6-1 0,0 3 1 0,0-2-1 16,0 5 1-16,0 7-1 0,-5 3 0 0,1-1 1 16,2 2-1-16,-3-2-1 0,5 1 0 0,-6 6-1 15,-1 3 1-15,7 1-3 0,-2 4 0 0,-5-4 0 16,5 6 0-16,0 1-2 0,0 1 1 0,0-6-2 16,2-2 2-16,-7 4-2 0,7-4-1 0,-2 6 1 15,0 3 1-15,-1 2-4 0,3 0 2 0,0 0-2 16,0-1 1-16,0-3-1 0,0 1 0 0,0-6-1 15,-4 7 2-15,2 4-5 0,-3 2 3 0,3 1-2 0,-2-12 1 16,4-4-2-16,0-3-1 0,0 1 1 0,0 1 0 16,4 1-1-16,3 2 0 0,-5-2-1 0,2-1 2 15,1 1-2-15,-3 0 0 0,5-5 0 0,-3 7 1 16,0 0 0-16,3 0-1 0,-5 2 1 0,5 7 0 16,-1 0 1-16,1 0-1 0,-3 0 1 0,1-5 1 15,-5-6-2-15,4-7 1 0,1 2 0 0,-3-2 0 0,-2 0-1 16,0 0 1-16,4 0 0 0,-4 0 0 0,5 1-1 15,-5-4 1-15,0 3-2 0,0 1 2 0,-5-4-1 16,-1-1 1-16,3 2 0 0,1-7 0 0,2 0-2 16,0 0 2-16,0 1 0 0,0-6 0 0,-4 3 0 15,-1 0 0-15,3-4-1 0,0-5 2 0,0-13-2 0,2 0 1 16,-5-7-1-16,5-5 1 0,0-1-2 0,0-10 1 16,0-6 0-16,-6-9-1 0,-1-9-1 0,-2-11-1 15</inkml:trace>
  <inkml:trace contextRef="#ctx1" brushRef="#br0" timeOffset="41500.619">15099 3491 1595 0,'2'-5'0'15,"-2"5"0"-15,9-4 0 0,-9 4 24 0,9 0-1 16,-9 0 1-16,15-4 0 0,-15 4 4 0,13-7 0 16,-13 7 0-16,29-22 0 0,-9 8-15 0,2 3 1 15,2 5-1-15,-4-3 1 0,4 2-11 0,5-2 0 16,-3 7 1-16,3-2-1 0,-5-3-2 0,5 2 0 15,0 1 0-15,2 0 1 0,-5 1 1 0,3-1 1 16,2-1 1-16,-1 3-1 0,1 0 5 0,0 0 1 0,0 2 1 16,0 0-1-16,0 0 5 0,0 2 2 0,2 0 0 15,4-2 0-15,1-2 9 0,4 0 0 0,0 2-1 16,4 2 1-16,-4 2 1 0,2 1 0 0,-2-1 0 16,-9 3 1-16,0-3-7 0,-7 1 2 0,3 2-1 15,2-3 1-15,-2 3-5 0,4-3 1 0,-2 1 0 16,-1 1 0-16,1 3-1 0,0-2 0 0,0-3 0 15,4-2 0-15,-6 1-3 0,9-1 1 0,-8 2 0 16,-1-4 1-16,-5 5-4 0,5 1 1 0,-5-1-1 0,-2-5 2 16,-2 0-5-16,0 0 1 0,0 0 0 0,-2 0 0 15,-7 2-2-15,2 0 0 0,-4 0 0 0,2-2 0 16,2 0-3-16,0 0-1 0,-2 0 1 0,0 0 0 0,-4 5-3 16,2-1 2-16,-1-1-2 0,-1-3 1 15,0 0 0-15,-1 0 0 0,1 0 0 0,2 0 0 0,-1 0-1 16,4 0 1-16,-1 0-1 0,2-3 2 0,4 3-2 15,1-4 2-15,4-3-2 0,-2 3 1 0,2-1 0 16,-2-1-1-16,-5 1 1 0,-6 1-1 16,4 4-1-16,-4 0 2 0,0-2-2 0,2-1 1 0,0 3-1 15,-7 0 2-15,5 0-2 0,2-2 1 0,0 2 0 0,-2-4-1 16,2 4 0-16,5 0 1 0,-10 0 0 0,3 0 0 16,-5 0-1-16,7 0 2 0,-8 0-2 0,6 0 0 15,-3-5 0-15,3 3 1 0,0 2-2 0,2 0 0 16,-7 0 0-16,3 0 1 0,2-4-1 0,-5 4 0 15,7 0 1-15,-6 0-1 0,6 0 0 0,-3 0 0 16,1 0 0-16,4 0 1 0,-2 4-1 0,3-4 2 0,-3 7-2 16,0-7 1-16,-2 4-1 0,2-4 1 0,0 2 0 15,-5-2 0-15,-1 0-1 0,-3 0 1 0,9 0-1 16,0 0 2-16,4 3-3 0,-4 3 1 0,0-1-1 16,3-5 1-16,1 2-1 0,0 2 0 0,-3-4 0 15,1 0 1-15,-2 0-1 0,-2 0 0 0,-1 0 0 16,3 0 1-16,-4 0-1 0,-3 0 0 0,3 0 0 15,-3 0 1-15,3 0-1 0,2 0 0 0,-5 5 0 16,3-3 1-16,0 2-1 0,-1 1 1 0,1-5-1 16,-3 0 2-16,-4 0-2 0,5 0 1 0,-3 0 0 15,2 0 0-15,-4 0-1 0,2 0 1 0,1 4 0 0,-1-1 0 16,2 1-1-16,-2 0 1 0,5-4 1 0,-3 5-1 16,3-5-1-16,-2 2 1 0,-3 3 0 0,2-5 0 15,1 4 0-15,-3-4 0 0,4 4 0 0,1 3 0 0,-7-2 1 16,4-3-1-16,-4 7 0 0,5 2 0 0,-3 0 0 15,-2 2 0-15,4 0 0 0,1 7 2 0,-5 0-1 16,2-2 0-16,0 2 0 0,3 0 1 0,1 2 0 16,-6 1 0-16,0 1 1 0,0 3-1 0,0 2 2 15,0 6-1-15,0 1 0 0,0 6 1 0,0 0 1 0,0 7-1 16,0 0 1-16,-6 2-1 0,1-5 1 16,1 3 0-16,-1-2-1 0,1 0 2 0,-3 1-1 15,-1-5-1-15,-1 3 1 0,7-8-1 0,2 9 0 0,-5-5-1 16,1 0 1-16,4 0-1 0,-2 0 0 0,2-4-1 15,-5 4 0-15,5-8 2 0,-4 6-2 0,1-7 1 16,1 5-1-16,0 2 2 0,-5 4-3 0,5 3 1 16,-2-1 1-16,-1 1-1 0,3-3-1 0,-4 7 2 0,1-4-1 15,3 2 0-15,0-7 1 0,-5 0-1 0,5 0 0 16,0-4 1-16,0 4-1 0,-1 1 2 0,3 3-1 16,-4 1 1-16,4-1-1 0,-4 3 2 0,1 0-1 15,-1-2 1-15,4-1-2 0,0 1 2 0,-4 2 0 16,4 2-1-16,-5 0 0 0,1 0 0 0,4 0 1 15,-3 7 0-15,-1 6-1 0,0-4 1 0,1 2-1 16,1-4 2-16,0-4-1 0,2-3-1 0,2 4 1 16,-2 3 0-16,0 4-1 0,0-2 2 0,0-18 0 0,0 9-1 15,0-2 1-15,0 7 0 0,0-3 0 16,0 5 0-16,0-5 0 0,0-2 0 0,0 5 0 0,0-1-1 16,-2 1 0-16,2-1 1 0,0-2-2 0,0 1 2 15,0-5-1-15,0 2-1 0,-2-3 1 0,2-1-1 0,-5 0-1 16,5-5 0-16,-2-13 0 0,0 2 0 0,-5-2-3 15,5-3 0-15,2-12 1 0,-4-1 0 0,2-2-2 16,-1 0 0-16</inkml:trace>
  <inkml:trace contextRef="#ctx1" brushRef="#br0" timeOffset="42154.82">15249 4066 1859 0,'-5'0'0'15,"5"0"0"-15,-13-4 0 0,13 4 22 0,7-5 1 16,-7 5-1-16,0 5 2 0,0-5-1 0,0 0 1 16,0 0 0-16,-9 0 0 0,9 0-16 0,-2 0 1 15,2 0 0-15,2 0 0 0,-2 0-9 0,18 4 0 0,12 3 0 16,12 2 0-16,18 2-3 0,15 0 0 0,4 0 1 16,3 0 0-16,-3 0 0 0,5-2-1 0,0 2 1 15,6-6 1-15,1-3 1 0,12 0 0 0,-6 0 0 16,3 3 0-16,3-5 2 0,5 4 1 0,-6 0-1 15,-10 3 0-15,1-2 9 0,-3 1 1 0,-1 1-1 16,-1 2 1-16,-4 2 7 0,-3 0 0 0,-4-2 0 16,-6 2 2-16,-7-4-2 0,-4 2 0 0,-14 2 0 15,-2-2 0-15,-7 4-5 0,-8 7 1 0</inkml:trace>
  <inkml:trace contextRef="#ctx1" brushRef="#br0" timeOffset="42516.81">15189 5054 1532 0,'25'-20'0'16,"-1"7"0"-16,-4 0 0 0,-1 6 35 0,8-4 1 15,8 0-1-15,12-5 1 0,12-4 22 0,14 0 2 0,4 5-1 16,-4 4 1-16,8 4-45 0,1 2 2 0,4 3-1 16,0 0 1-16,7 0-15 0,-1 2 0 0,3 4 0 15,2 3 1-15,-4 4-1 0,4-2 1 0,-7 2 1 16,-2 0-1-16,-6-7 5 0,0 3 1 0,-7 0-1 15,2 2 1-15,0 2 2 0,-4 0 1 0,-9 0 1 16,-7 2-1-16,-17-2-2 0,-7 5 0 0,-4 0 0 16,-5-1 1-16,-2-4-5 0,-9 0 0 0</inkml:trace>
  <inkml:trace contextRef="#ctx1" brushRef="#br0" timeOffset="42801.06">15330 5838 1255 0,'56'-4'0'15,"-6"-1"0"-15,-3 5 0 0,-3-4 13 0,4 2 0 16,16-3-1-16,11 1 2 0,24-3 11 0,16-9 0 15,0 5 1-15,2 7 0 0,2-5-6 0,0 2 1 16,-5 3 0-16,-3 2 0 0,-10 2-18 0,-2 2 2 16,-2 2-1-16,-2-4 1 0,-4 5-4 0,-7-5 0 15,-5 2 0-15,-6 2 1 0,-14 3-2 0,-4-2 0 0,-11 3 0 16,-6-1 0-16,-12 4 0 0,-6-2 0 0</inkml:trace>
  <inkml:trace contextRef="#ctx1" brushRef="#br0" timeOffset="43083.41">15487 6424 791 0,'11'0'0'0,"-11"0"0"0,26 3 0 16,-26-3 10-16,34 11 0 0,-8-7 0 0,12-4 1 15,10-4 14-15,12 1 0 0,12-1-1 0,6-3 2 0,12 3-1 16,7-3-1-16,7-2 1 0,-1-2 0 16,3 0-4-16,2-2 0 0,0-1 1 0,-2 1 0 0,-9 2-2 15,0 4 2-15,-9-2-1 0,3 5 0 0,-10 2 12 16,-3 2 1-16,-8 4-2 0,-6 3 2 0,-11-3 3 16,-7 1 0-16,-4 6 0 0,-6 0 1 0,-12 0-13 0,-2 5-1 15,-11-5 1-15,-2 4 0 0,-14-4-13 0,-4 5 2 16</inkml:trace>
  <inkml:trace contextRef="#ctx1" brushRef="#br0" timeOffset="43350">15154 7364 1017 0,'9'0'0'0,"-9"0"0"15,22 0 0-15,-22 0 8 0,26-5 0 0,1 5 0 16,8 0 1-16,14-4 16 0,15-1-1 0,4-1 1 16,11-1 0-16,3-6-1 0,4-1 2 0,9-1-1 15,2-1 1-15,9 1-12 0,4-8 1 0,0 6-1 16,7-1 2-16,-2 2-7 0,4 1 1 0,-18 8-1 16,-8-4 1-16,-9 7 12 0,-5-1-1 0,-6 1 0 15,-3 2 2-15,-3 2 5 0,-10 2 0 0,-6 7 0 16,-7-5 0-16,-11 7-10 0,-9-4 0 0</inkml:trace>
  <inkml:trace contextRef="#ctx1" brushRef="#br0" timeOffset="43599.83">15280 8110 1155 0,'13'0'0'16,"9"-3"0"-16,9 3 0 0,24-4 15 0,7 0 0 16,11-3-1-16,6-9 1 0,11 1 3 0,7-7 1 15,11-3 0-15,5 3 0 0,15 0-9 0,2 2 1 16,0 4 0-16,-2-1 1 0,-11 3-2 0,6 3 0 16,-15 2 0-16,-2 0 1 0,-7 5-1 0,-4 4 0 0,-13-5 0 15,-1-6 1-15,-3 0-1 0,-12 0 1 0,0 2 0 16,-9 3 0-16,3 6-3 0,-12 0 1 0</inkml:trace>
  <inkml:trace contextRef="#ctx0" brushRef="#br0" timeOffset="47828.74">20364 7802 0,'0'0'0,"0"0"0,23-24 16,-23 24 0,71-47-16,-36 11 15,-35 36 1,12-12-16,-24 24 16,-11 0-16,23-12 15,0 0 1</inkml:trace>
  <inkml:trace contextRef="#ctx1" brushRef="#br0" timeOffset="47366.78">16023 3433 1192 0,'0'-4'0'0,"0"4"0"0,-5-7 0 16,5 7 73-16,-4-9 1 0,4 9 0 0,0-6 1 15,0 6 43-15,0-12 3 0,0 12-2 0,0-4 1 16,0 4-42-16,0-4 2 0,0 4-1 0,0 0 1 0,0 0-23 15,0 0 1-15,0 0-1 0,0 0 1 0,0 0-25 16,0 8 0-16,0-8 0 0,0 38 1 0,0-7-6 16,0 11 0-16,0 1 0 0,0-3 0 0,0 0-6 15,4-3 2-15,-4-1-1 0,5 2 1 0,-5-7-6 16,2-2 1-16,0 2 0 0,-2 0 0 0,0 4-5 0,0 3-1 16,-2-5 1-16,0-4 0 0,2-2-5 0,0-9 1 15,0-3-1-15,0-4 1 0,0-6-3 0,0-5 0 16,0 0 0-16,0 0-1 0,0 0-4 0,0 0 2 15,0-5-2-15,0-1 1 0,0-6-3 0,0-8 0 16</inkml:trace>
  <inkml:trace contextRef="#ctx1" brushRef="#br0" timeOffset="47603.94">15988 3617 1419 0,'0'-4'0'0,"0"4"0"16,4-4 0-16,-4 4 25 0,2-3 1 0,-2 3-1 15,11-4 1-15,-11 4 2 0,18-5 1 0,-18 5-1 16,26-11 2-16,-8 2-15 0,6 3 2 0,5 1-1 15,-7 3 1-15,-2 4-12 0,0 3 1 0,-5 1 0 16,-6 3-1-16,-5-6 12 0,3-1 0 0,-7 4 0 16,4-1 1-16,3 6 14 0,-3-4 1 0,-4 4-1 15,3 2 2-15,-3 5 3 0,0 2 0 0,0 0 0 16,-3-2 0-16,-5-3-1 0,1-4 0 0,-4 0 0 16,2-2 0-16,0 2-7 0,-4-2 1 0,4-2-1 0,-6-3 2 15,4-1-9-15,-2-1 1 0,2 0-1 0,-3-2 0 0,3-2-6 16,5-3 0-16,-5 1 0 0,4-1-1 0,7-1-5 15,0 1 0-15</inkml:trace>
  <inkml:trace contextRef="#ctx1" brushRef="#br0" timeOffset="47900.689">16554 3546 1545 0,'0'0'0'15,"0"0"0"-15,-6 0 0 0,6 0 18 0,-5 0 1 16,5 0 0-16,-4 0 0 0,4 0 17 0,-15-2 0 16,15 2 0-16,-27 2 0 0,27-2-12 0,-24 9 1 0,24-9 0 15,-33 9-1-15,33-9-12 0,-40 18-1 0,40-18 0 16,-33 20 0-16,33-20 8 0,-24 22 2 0,24-22-2 16,-11 25 1-16,11-25 8 0,-14 33 0 0,14-33 0 15,-4 33 1-15,4-33 4 0,-7 36 0 0,7-36 0 16,7 26 1-16,-7-26-3 0,11 23 0 0,-11-23 1 15,18 24-1-15,-18-24-6 0,24 27 1 0,-24-27 0 16,33 11-1-16,-33-11-2 0,46-16-1 0,-19 5 1 16,-1-4-1-16,-1-1-12 0,5-2 0 0</inkml:trace>
  <inkml:trace contextRef="#ctx1" brushRef="#br0" timeOffset="48067.52">16817 3540 1683 0,'0'4'0'0,"0"-4"0"0,0 11 0 0,0-11 36 16,0 5 1-16,0-5 0 0,0 22 0 0,0-22 29 16,0 47 0-16,-5-21 0 0,3 5 2 0,-2-2-18 15,-3 7 2-15,7-1-1 0,-4 3 1 0,-3 4-25 16,3 0 0-16,-1-4 0 0,5 4 1 0,-4-4-10 16,4 2 1-16</inkml:trace>
  <inkml:trace contextRef="#ctx1" brushRef="#br0" timeOffset="48417.38">16190 4279 1444 0,'-2'0'0'0,"2"0"0"0,-2 5 0 15,2-5 38-15,-4 9 1 0,4-9-1 0,-7 11 2 16,7-11 28-16,-2 6 1 0,2-6-1 0,-5 36 0 15,3-3-27-15,-7 7-1 0,3-2 1 0,6 0 0 16,-5 4-22-16,5 0 1 0,5-4 1 0,-5-3-1 0,0-1-9 16,4 1 1-16,-2-8 0 0,-2-1 0 0,3-10-4 15,-1-9 1-15,-2 1 0 0,0-3 0 0,0-5-6 16,4-5 2-16</inkml:trace>
  <inkml:trace contextRef="#ctx1" brushRef="#br0" timeOffset="48616.37">16102 4299 1344 0,'5'0'0'16,"-5"0"0"-16,4 5 0 0,-4-5 25 0,9 4-1 16,-9-4 1-16,7 7 0 0,-7-7 22 0,8 0 0 15,-8 0 0-15,20 0 1 0,-20 0-2 0,42 11 0 0,-20 0 0 16,-6 0 1-16,1 2-18 0,-4-2 0 0,-4-4-1 16,-2 2 1-16,-5-7-7 0,3 3 1 0,-5 4-1 15,2-3 2-15,2 5-1 0,-4 3 2 0,-4-1 0 16,-3 7-1-16,3 0-1 0,-7-2 0 0,0 2 1 15,2-9 0-15,-4-2-10 0,2-3 1 0</inkml:trace>
  <inkml:trace contextRef="#ctx1" brushRef="#br0" timeOffset="48884.18">16524 4337 1281 0,'0'4'0'0,"0"-4"0"0,-5 7 0 0,5-7 20 16,-7 9 2-16,7-9-1 0,-4 4 0 0,4-4 13 15,-15 11 0-15,15-11-1 0,-31 18 1 0,9 2-15 16,-3 0 1-16,6-2-1 0,-1-2 1 0,7-1-11 16,1 1 2-16,1-1-3 0,3 5 3 0,5-4 10 15,-1-1 0-15,4 3 1 0,4-2-1 0,-4-1 10 16,0 1 2-16,3-1-2 0,1 1 2 0,3-5 4 0,1-5 1 15,4-1 0-15,1-1 0 0,-2-1 3 0,4-3-1 16,5-3 0-16,-2-6 1 0,6-2-10 0,5-4 1 16</inkml:trace>
  <inkml:trace contextRef="#ctx1" brushRef="#br0" timeOffset="49134.759">16740 4348 1130 0,'8'0'0'0,"-8"0"0"15,16 4 0-15,-16-4 33 0,11 9 1 0,-11-9 0 16,13 7-1-16,-13-7 21 0,16 0 1 0,-16 0 0 16,13 0 0-16,-13 0-17 0,13 4 1 0,-13-4 0 15,15 7 0-15,-15-7-18 0,12 16 1 0,-12-16-1 16,4 24 1-16,-4-24-5 0,-7 38 0 0,1-12 0 16,3-3 1-16,-1 1 4 0,-3-2 2 0,-4-6-2 15,7-1 2-15,-3-8 2 0,3 2 1 0,0-7-1 0,-1 3 1 16,5-1 3-16,0-4-1 0,0 5 0 0,0-5 1 15,0 2-7-15,0 2 0 0,5-4 0 0,-1 5 0 16,0-5-6-16,1 2 1 0</inkml:trace>
  <inkml:trace contextRef="#ctx1" brushRef="#br0" timeOffset="49605.15">16250 5185 1632 0,'-2'5'0'0,"2"-5"0"0,-5 11 0 0,5-11 35 15,-4 6 0-15,4-6 0 0,-7 20-1 0,7-20 30 16,-8 34 0-16,3-10 0 0,3-2 0 0,-5 9-35 16,5 1 1-16,0-1-1 0,2-3 1 0,2-3-20 15,0-3 1-15,-2-2 1 0,7 2-1 0,-7 0-7 16,-7 3 2-16,7-7 0 0,7-3-1 0,-7-6-4 15,0-4 0-15</inkml:trace>
  <inkml:trace contextRef="#ctx1" brushRef="#br0" timeOffset="49817.02">16248 5132 1306 0,'9'0'0'15,"-9"0"0"-15,13 0 0 0,-13 0 12 0,13-5 0 0,-13 5 1 16,16 5 0-16,-16-5 25 0,19 2 1 0,-19-2-1 15,25 16 1-15,-25-16 2 0,24 24 2 0,-24-24-1 16,29 22 0-16,-29-22-13 0,19 20 1 0,-19-20-1 16,11 22 1-16,-11-22 2 0,5 23-1 0,-5-23 0 15,-5 24 2-15,5-24-2 0,-4 27 1 0,4-27-1 16,-11 22 2-16,11-22-6 0,-26 24 1 0,26-24-1 16,-25 14 1-16,25-14-11 0,-17 9-1 0</inkml:trace>
  <inkml:trace contextRef="#ctx1" brushRef="#br0" timeOffset="50068.03">16579 5223 1293 0,'2'-4'0'0,"-2"4"0"0,2-3 0 0,-2 3 14 16,-2-4-1-16,2 4 1 0,-5 0 0 0,5 0 2 15,-6 0 1-15,6 0 0 0,-13 7 0 0,13-7 1 16,-14 8-1-16,14-8 1 0,-19 11 2 0,19-11-8 0,-27 23 0 15,27-23 1-15,-22 20 0 0,22-20 4 0,-13 20 0 16,13-20 0-16,-5 22 0 0,5-22 14 0,-6 22-1 16,6-22 0-16,0 20 2 0,0-20 6 0,6 20 1 15,-6-20 1-15,7 16-1 0,-7-16-3 0,11 17 1 16,-11-17-1-16,22 14 1 0,-22-14-4 0,27 13 2 16,-27-13 0-16,30 11 0 0,-30-11-13 0,22 2 2 15</inkml:trace>
  <inkml:trace contextRef="#ctx1" brushRef="#br0" timeOffset="50466.81">16799 5105 1507 0,'0'0'0'0,"0"0"0"16,0-4 0-16,0 4 38 0,5-7 1 0,-5 7 0 0,8-9 1 15,-8 9 24-15,27-4 0 0,-27 4-1 0,29 0 1 16,-29 0-27-16,33 0 2 0,-33 0-1 0,26 9 0 16,-26-9-21-16,16 6 0 0,-16-6-1 0,2 9 1 15,-2-9-4-15,9 11-1 0,-9-11 0 0,-3 16 1 0,3-16-4 16,-8 27 0-16,8-27 0 0,-27 26 1 0,27-26-2 16,-35 36-1-16,35-36 1 0,-33 29 0 0,33-29-7 15,-18 15 1-15,18-15 0 0,-18 9 0 0,18-9-3 16,-6 0 1-16,6 0-1 0,-7 0 1 0,7 0-4 15,0 2 1-15,0-2-1 0,-4 9 1 0,4-9-5 16,4 2 2-16,-4-2-2 0,5-2 1 0,-5 2 1 0,17 0 2 16,-17 0-2-16,40 2 2 0,-16 7 3 0,5 7 0 15,-5-5-1-15,-6 0 1 0,-5 0 1 0,-4 2 1 16,-7-1-1-16,-2 3 2 0,0-4 1 0,0 5 1 16,-2 1 1-16,-3 3-1 0,-12-4 5 0,4 2 0 15,-3 0 0-15,1-5 1 0,-1-4 4 0,5-3 0 16</inkml:trace>
  <inkml:trace contextRef="#ctx1" brushRef="#br0" timeOffset="51317.13">16493 5929 1632 0,'0'5'0'0,"0"-5"0"15,0 6 0-15,0-6 3 0,0 16-1 0,0-16 0 16,0 15 0-16,0-15 6 0,0 11 0 0,0-11 0 16,0 9 1-16,0-9-11 0,0 7 0 0</inkml:trace>
  <inkml:trace contextRef="#ctx1" brushRef="#br0" timeOffset="51467.46">16451 6355 878 0,'6'16'0'0,"-6"-16"0"0,-6 33 0 16,6-33 19-16,0 20 1 0,0-20 0 0,-5 18 0 16,5-18 18-16,-6 36 1 0,6-36 0 0,0 26 1 0,0-26-13 15,0 7 1-15,0-7 0 0,6 9 0 0,-6-9-14 16,5 6 1-16</inkml:trace>
  <inkml:trace contextRef="#ctx1" brushRef="#br0" timeOffset="51583.78">16482 6657 829 0,'0'0'0'0,"0"0"0"0,-3 16 0 0,3-16 13 0,-11 33 1 16,5-8-1-16,1-8 2 0,-1 3 14 0,4-4 1 15,-3-7-1-15,1 0 2 0,4 0-14 0,0-5-1 16</inkml:trace>
  <inkml:trace contextRef="#ctx1" brushRef="#br0" timeOffset="51717.3">16415 7155 552 0,'0'9'0'0,"0"-3"0"15,-2-1 0-15,2-1 1 0,0-4 1 0</inkml:trace>
  <inkml:trace contextRef="#ctx1" brushRef="#br0" timeOffset="52083.83">16102 7486 351 0,'0'0'0'15,"0"0"0"-15,-2 0 0 0,2 0 11 0,-4 0 0 0,4 0 0 16,-5 0 1-16,5 0 18 0,-4 11 1 16,4-11 0-16,-2 20 0 0,2-20 15 0,-7 15 0 0,7-15 0 15,-4 38 1-15,-3-7 24 0,5 7 1 0,-3-7-2 16,1 0 2-16,-3-9 25 0,-1 3 0 0,1-3 0 16,7 0 1-16,-4-2-23 0,4-2 0 0,4-3 0 15,-4-3 1-15,-4-4-15 0,1-3 0 0</inkml:trace>
  <inkml:trace contextRef="#ctx1" brushRef="#br0" timeOffset="52350.24">16067 7497 1306 0,'9'-5'0'0,"-9"5"0"0,13-6 0 0,-13 6 52 15,18-11 1-15,-18 11 0 0,20-16 1 0,-20 16 21 16,24-11 0-16,-24 11 0 0,24-9 2 0,-24 9-34 15,22 0 2-15,-22 0 0 0,13 0 0 0,-13 0-24 16,14 0 2-16,-14 0-1 0,11 9 1 0,-11-9-6 16,8 16-1-16,-8-16 1 0,5 22 0 0,-5-22-1 15,-9 37 1-15,2-17-2 0,-1 3 2 0,-6-1-1 0,3 2 1 16,2-8 0-16,1-1-1 0,-6-4 1 0,6-2 0 16,-1-2 0-16,4-3 1 0,-6-1-4 0,-4 1 1 15,2-4 0-15,2 0-1 0,0 0-3 0,2 0 1 16,0-4-1-16,7-1 1 0,-5 3-7 0,5-7-1 15</inkml:trace>
  <inkml:trace contextRef="#ctx1" brushRef="#br0" timeOffset="52752.87">16508 7386 1457 0,'0'0'0'0,"0"0"0"0,0 0 0 16,0 0 15-16,-4 0-1 0,4 0 1 0,-9 0 1 0,9 0 14 15,-2-7 0-15,2 7 1 0,-5 0 0 16,5 0-10-16,-13 0 2 0,13 0-1 0,-7 0 1 0,7 0-6 16,-8 0-1-16,8 0 1 0,-20 11 1 0,20-11 6 15,-25 27 0-15,25-27 0 0,-19 42 1 0,14-22 4 16,-4 4 0-16,7 1 0 0,-2-5 1 0,-1 2 0 0,1 0-1 16,4 3 0-16,0-7 1 0,4 1-2 0,1-1 2 15,1-2-1-15,3-3 0 0,0-8-3 0,2 1 0 16,4-6-1-16,-1 0 1 0,3 0-3 0,1-4-1 15,6-1 0-15,1-1 1 0,-6-10-11 0,8-2 2 16,-7 1-1-16,-3 1 1 0,3 3-11 0,-4-3 1 16</inkml:trace>
  <inkml:trace contextRef="#ctx1" brushRef="#br0" timeOffset="52950.759">16845 7386 1369 0,'0'0'0'0,"0"0"0"16,0 0 0-16,0 0 15 0,-8 0 1 0,8 0 0 15,-7 6-1-15,7-6 17 0,-7 18 0 0,7-18 0 16,-6 34 0-16,1-8-6 0,-1 5 1 0,-1-4-1 0,-4-9 1 16,7 2-13-16,-1 0 2 0,1-5-1 0,2-4 0 15,-1 0-3-15,1-2 0 0</inkml:trace>
  <inkml:trace contextRef="#ctx1" brushRef="#br0" timeOffset="53283.03">16808 7390 1080 0,'2'0'0'15,"0"0"0"-15,3 0 0 0,-3 0 26 0,0 0 0 16,0 0 0-16,5 0-1 0,-5 7 28 0,0 4 0 15,3 2 0-15,1 1 1 0,3 1-20 0,2 5 2 16,-4 0 0-16,4-2 0 0,2 6-20 0,-4-6-1 16,2 2 1-16,0-4 1 0,-2-5-8 0,-2-5 1 0,-5-1 0 15,4-1 0-15,-1-4 0 0,4 0 2 0,-5 0-2 16,-4 0 1-16,0-4 1 0,4 2 1 0,1-3-1 16,-3 1 1-16,2-7 5 0,1 0 1 0,-1-5 1 15,1-8-1-15,-1 1 5 0,3-10 1 0,-7 2 0 16,2 4-1-16,0-2 7 0,0 1-1 0,0 1 0 15,1-4 2-15,1 4 0 0,1 3 2 0,-1 6 0 16,3 2-1-16,-7 5 0 0,0 7-1 0,0-1 1 16,0 3 1-16,0 0-4 0,0 0 0 0,0 2 0 15,0-5 1-15,0 5-7 0,0 0 1 0</inkml:trace>
  <inkml:trace contextRef="#ctx0" brushRef="#br0" timeOffset="77261.6">11695 14896 0,'0'0'0,"0"0"0,12 0 15,0 0-15,-12 0 16,35-24-16,12 0 15,-47 24 1,47-23-16,-23 11 16</inkml:trace>
  <inkml:trace contextRef="#ctx1" brushRef="#br0" timeOffset="77050.7">7504 10266 1067 0,'0'2'0'15,"0"-2"0"-15,0 2 0 0,0-2 20 0,0 5 0 16,0-5 0-16,0 6 1 0,0-6 21 0,0 3 1 16,0-3-1-16,0 4 1 0,0-4 35 0,4 11-1 0,-4-11 0 15,2 29 1-15,3-4-42 0,-1 6 1 0,1 0-1 16,-5-2 1-16,0-1-13 0,0 4 1 0,0-1 0 15,-5 0 1-15,1 2-1 0,-1-2 1 0,5 5 0 16,-2 4 0-16,2 2-2 0,2 2 2 0,-2 5 0 16,5-7 0-16,-1 5-6 0,1-3 0 0,-3 1 1 15,7-3 0-15,-5-2-4 0,3 0 1 0,-3 6 0 16,0 8 0-16,-4 6 1 0,5 9 0 0,-5-1 0 16,6-5 0-16,-12-3-2 0,6-5 0 0,0-2-1 15,-5 5 2-15,1 4-2 0,-3 3 0 0,3-8-1 0,0 1 1 16,4-2-2-16,0-1-1 0,0 1 1 0,4-1-1 15,-4-6-2-15,2 0 2 0,0-3-1 0,5 6 0 16,-3-6-3-16,1 1 1 0,-5 2-1 0,6 4 1 0,-6 5-2 16,0-5 0-16,-6 5 0 0,1-1 1 0,-6-3-2 15,3 4-1-15,-3-7 1 0,-3 0 1 0,3 0-2 16,-2 0 0-16,2 2 0 0,-2 0 1 0,2 3-3 16,-2 4 1-16,-3-7-1 0,7 0 2 0,3-1-2 15,-5-4 2-15,2 1-1 0,0-2 1 0,2-1 0 0,1-3 0 16,1-1 0-16,-3-4 1 0,5-5 1 0,1 0 0 15,-2 1-1-15,4-8 1 0,0 5-1 0,0-4 1 16,4 0 0-16,-2 4 0 0,1 0 0 0,-1 2 1 16,-2 3 0-16,6 1 0 0,-3-3 0 0,1 3 0 15,0 6 0-15,-4-1 0 0,5 0 0 0,-3 5 0 16,7-3 0-16,-5-2 1 0,3-2-3 0,2-2 0 0,-3-3 0 16,3 1 0-16,-5-7-4 0,3-3-1 0,2 3 0 15,-2 0 2-15,1 0-3 0,-3-2 0 0,6 2 0 16,-5 2 0-16,1 4 0 0,6-4 0 0,-8 0 0 15,1-2 0-15,3 0 1 0,-4-2-1 0,-1-3 0 16,-2-6 1-16,3-5-2 0,-1-4 1 0,-4-4 0 16,0-3 0-16,0 0-1 0,2 0 0 0,-2 3 0 15,-2-5 2-15,-2-5-2 0,-3 1 0 0,-2-12 0 16,-6-13 0-16,-10-15-2 0,3-11 2 0</inkml:trace>
  <inkml:trace contextRef="#ctx1" brushRef="#br0" timeOffset="77617.35">7347 10621 1683 0,'7'0'0'16,"-7"0"0"-16,11-2 0 0,-11 2 26 0,6-7 1 16,-6 7-2-16,16-20 2 0,-16 20 8 0,15-35 1 15,-15 35 0-15,16-29 0 0,-16 29-15 0,4-9 0 16,-4 9 1-16,4-11 0 0,-4 11-15 0,0-4 1 16,0 4-1-16,5-5 0 0,-5 5-2 0,2 0-1 15,-2 0 1-15,0 0 0 0,0 0 3 0,5 9 1 0,-5-9 0 16,0 38 0-16,0 4 5 0,0 9 0 0,0 9 0 15,-12 7 0-15,8 8 2 0,-5 12 1 0,3 6 0 16,-5 11 0-16,-7 7 7 0,7 5 1 0,4 6 0 16,-1 4 0-16,3 1-1 0,1 2 1 0,4-5-1 15,0-11 1-15,6-4-4 0,-1-2 2 0,4-3-1 16,-1-2 1-16,-3 3-5 0,6-1 1 0,-2-6 0 16,-3 2 0-16,3-3-2 0,2 3 0 0,-7-2-1 15,12-5 1-15,-7-4-4 0,2-7-1 0,0 0 0 16,2-2 2-16,0-2-6 0,-2-5 1 0,5 1 0 0,-3 1 0 15,-2-8-2-15,-2-3 1 0,2 3 0 0,-7-3 1 16,3 1-1-16,-5-1 0 0,-2-2 0 0,0 3 1 16,0-1-2-16,0 3 1 0,0-5 0 0,-7 2 1 15,1-8-2-15,-5 1 1 0,11-1 0 0,-5-3-1 0,1-2 0 16,-3 0 0-16,3-6 0 0,-5-3-1 0,3-4 0 16,1-9 1-16,1-5-2 0,-1-4 2 0,5-7-1 15,0-4-1-15,0-2 1 0,0-3 0 0,0 1-2 16,0-5 0-16,0-7 1 0,-2 3-1 0,-2-5-1 15,-7-2-1-15,2-12 0 0,-7-3 0 0,-1-10-2 0,4-8 2 16</inkml:trace>
  <inkml:trace contextRef="#ctx1" brushRef="#br0" timeOffset="78166.35">7493 12280 1658 0,'-7'-4'0'0,"7"4"0"0,-13 0 0 0,13 0 27 16,-11-5 1-16,11 5-1 0,-11 0 1 0,11 0 15 15,-7-4-1-15,7 4 1 0,-6-5 1 0,6 5-18 16,-7-2-1-16,7 2 1 0,-5-7 0 0,5 7-17 0,-4-4 0 16,4 4 0-16,0-5 0 0,0 5 3 0,0-4 1 15,0 4-1-15,4-4 1 0,-4 4 5 0,16-3 1 16,-16 3-1-16,42-9 1 0,-2 5 12 0,1-3-1 16,4 1 0-16,1 1 1 0,0-4 0 0,0 3 2 15,1-1-1-15,4 3 1 0,-5-3 4 0,0 7 0 16,-2 0 0-16,5-2 0 0,-5 0-3 0,4 2 0 15,-4 2 1-15,-8 2 0 0,-8 3-8 0,6 2 0 0,-12-3 0 16,-5-3 0-16,1-1-8 0,-5 2 1 0,-2-4-1 16,-6 0 1-16,-3 0-7 0,-2 0-1 0,-2 0 0 15,2 0 2-15,0-4-8 0,0 2 2 0</inkml:trace>
  <inkml:trace contextRef="#ctx1" brushRef="#br0" timeOffset="78456.73">7510 12522 1658 0,'9'0'0'0,"-9"0"0"0,5-2 0 0,-5 2 35 15,0-2 1-15,0 2 0 0,0-5 0 0,0 5 0 16,0 0 1-16,0 0-2 0,0 0 3 0,0 0-18 15,0 0 0-15,0 0 0 0,11 9 1 0,-11-9-15 16,24 18 0-16,-2-16-1 0,4 2 1 0,5-1 3 0,4-1 0 16,1 2 0-16,-1-4 0 0,5 0 3 0,-1 0 0 15,3 0 1-15,0 0-1 0,0-4 11 0,4 2 0 16,3-1 0-16,-3 3 0 0,1 3 3 0,-1-1 1 16,-6 2-1-16,-7-1 1 0,-5 1-3 0,-1 5 2 15,-3-9 0-15,-8 0 0 0,-3-5-9 0,-4 1 1 16</inkml:trace>
  <inkml:trace contextRef="#ctx1" brushRef="#br0" timeOffset="78916.34">7881 12007 1695 0,'0'0'0'0,"0"0"0"0,6 0 0 16,-6 0 42-16,11 0 0 0,-11 0 0 0,14 0 0 16,-14 0 13-16,0-7 0 0,0 7 0 0,11-4 2 15,-11 4-19-15,15-11 1 0,-15 11-1 0,29-14 1 16,-29 14-22-16,37-17 1 0,-37 17 0 0,40-16 0 16,-40 16-6-16,37-13 1 0,-37 13-1 0,40 0 2 0,-20 2 0 15,2 5 1-15,2 4-1 0,-4 0 2 0,4 0 1 16,1 2 1-16,3 3-1 0,-8-3 1 0,-2 3-3 15,-3-1 2-15,1-2 0 0,1 1 0 0,1-1 0 16,2-2 0-16,0-2-1 0,0 2 2 0,-3 3-1 16,7-1 1-16,1 0-1 0,-8 1 1 0,1-1-4 0,-3 0 1 15,1 0 0-15,-5 1-1 0,2-3-3 0,-2 0 1 16,0 2-1-16,-9 1 1 0,7-1-3 0,-9 3 0 16,2 6 0-16,-2-5 1 0,0 10-1 0,0 2 0 15,-2 0 0-15,-7-2 0 0,3-3-1 0,-5 3 1 16,2-5 0-16,2 4 0 0,-8 3 0 0,2 0 1 15,-5 0 0-15,-2 4 0 0,-2-2 5 0,-2 5-1 0,0 4 1 16,-3 2 1-16,-8 5 2 0,0 2 0 0,-5-3 0 16,-2-4 0-16,-7-4-3 0,1 2 1 0,-7-2 0 15,2-7-1-15,2-4-1 0,-6-7-1 0</inkml:trace>
  <inkml:trace contextRef="#ctx0" brushRef="#br0" timeOffset="140681.889">23504 7672 0,'0'0'0,"-12"0"0,12 0 0,-11 0 0,-1-12 15,12 12 1,0 0-16,0 0 16,0 0-16,0 0 15,0 0 1,0 0 0,0 0-1</inkml:trace>
  <inkml:trace contextRef="#ctx1" brushRef="#br0" timeOffset="141752.96">17878 3482 215 0,'-5'0'0'0,"1"0"0"0,4 0 0 0,-2 0 62 15,2 0 1-15,0 0-2 0,0 0 2 0,0 0 80 16,0 0-1-16,0 4 1 0,0-4-1 0,0 5-59 15,0-5 1-15,0 2 1 0,0 3-1 0,2-5-28 16,-2 0 1-16,4 0-1 0,1 0 1 0,-1 0-18 16,3 4 0-16,1 0 0 0,3 3 0 0,3 0-5 0,1 2 1 15,1-5-2-15,-3-2 2 0,4 3-9 0,-1-5 0 16,4 4 0-16,2-4 0 0,6 2-5 0,6 1 1 16,-4-1 1-16,8 2-1 0,-3-4-4 0,-2 5 1 15,3-5-1-15,-1 2 1 0,-2 0 0 0,-2 0 2 16,2-2-2-16,-2 0 1 0,-7 0-2 0,0 0 1 15,1-2 0-15,1 0 0 0,3 0-1 0,2 2 1 16,-5-5-1-16,5 5 1 0,2-4-2 0,0 2 0 0,-2-1 0 16,2 1-1-16,0-2-2 0,0-3 0 0,0 3 0 15,-2-1 0-15,-7 1-3 0,7 2 0 0,-9-3 0 16,-2 1 0-16,-2 4-3 0,-1-3 0 0,3 1 0 16,-7 0 0-16,1 2-2 0,-1-4 1 0,0 4 0 15,11 0 0-15,1 0-2 0,6 0 1 0,-5-5-1 16,-2 3 2-16,-2 2-2 0,-2 0-1 0,0 0 1 15,-5 0-1-15,1 0 1 0,-1 0-1 0,5 0 1 16,-4 0-1-16,-1 0-1 0,7 0 2 0,-2 0-1 16,-5 0 1-16,-4 0-3 0,-2-5 0 0,-2 5 1 0,6 0-1 15,-4 0-1-15,-2 0 0 0,-1 0 0 0,7 0 0 16,-2 0-1-16,0 0 0 0,0-4 0 0,-2 4 0 16,-4 0 0-16,-3 0 0 0,0 0 0 0,5 0 0 0,2 0-1 15,-5 0 0-15,3 4 0 0,-1 1 1 0,1-3-2 16,-3 3 0-16,5-5-1 0,0 4 2 0,-7-4-1 15,0 2 1-15,0 0 0 0,7 1 0 0,-2 1-1 16,2-4 2-16,2 5-1 0,2-5 1 0,0 2-1 16,-2-2 1-16,7 0 0 0,-11 0 0 0,1 0 0 0,1 0 0 15,2 0 0-15,0 0 0 0,0 0 0 0,-2 2 0 16,7 5 0-16,-8-3 0 0,3-4 0 0,0 2 0 16,0 3 0-16,0-5 0 0,3 0 0 0,-6 0 0 15,4 0 0-15,-1 0 0 0,0 0 0 0,-3 0 0 16,6 0 0-16,-3 0 0 0,4 0-1 0,-2-5 0 15,-2 5 0-15,-2 0 1 0,-2 0-4 0,-3 0 2 16,1 0-1-16,1 0 1 0,1 0-3 0,-1-2 1 16,-6 2-1-16,5 0 1 0,-5 0-1 0,2 0 1 0,2 0-1 15,1 0 2-15,-1 0-2 0,1 0 2 0,-5 0-2 16,4 0 2-16,-2 0 0 0,-2 0-1 0,0 0 1 16,5 0 1-16,-5 0-1 0,2 0 2 0,0 0 0 15,0 2 0-15,-2 3 0 0,0-1 1 0,0 1-1 16,0 1 1-16,0-1 0 0,0-1 0 0,0 9 0 15,0 3 0-15,0 4 0 0,0-4 0 0,0 1 0 16,0 3 1-16,0-4 0 0,-2 4 1 0,-2-5 1 16,4 3-1-16,0-2 1 0,0-1 1 0,0 1-1 15,0 4 0-15,0 6 1 0,-7 1 0 0,3 0 0 0,1-1 0 16,1 1-1-16,2 0 1 0,-4-5-1 0,4 2 2 16,0-2-2-16,4 1 0 0,-4 1 1 0,0-4 0 0,0-2-2 15,0 2 2-15,0 2-1 0,0-2 1 16,0 7-2-16,0-5 0 0,0 0 0 0,2 3 2 0,1 1-2 15,-3-4 0-15,0 3 0 0,0 1 1 0,4 6-2 16,-4 1 1-16,0-2-1 0,0 0 1 0,0 2-1 16,0 3 1-16,2-5-1 0,3 2 1 0,-5 3-1 15,2 2 0-15,0-7 0 0,0 2 2 0,-2-2-2 0,-2 5 0 16,2-3 0-16,2 2 0 0,1 3 0 0,1-2 1 16,0 1 1-16,1 1-1 0,-3 0 1 0,5 2 1 15,-5-7-1-15,-2 5 2 0,0 2-2 0,2 2 1 16,-2 0 1-16,0-4-1 0,2 4 1 0,-2-4-1 15,5 2 1-15,-1 2-1 0,-4 0 1 0,2 3-1 16,-2 1 1-16,7 1-1 0,-1-5 0 0,-1 0 0 0,-5-4-1 16,0 4 2-16,0-6-3 0,2 2 2 0,-2-1-1 15,0 6 0-15,0-1 0 0,0 0-1 0,0-18 0 16,0 3 1-16,0 6 0 0,2-2-1 0,-2 5 0 16,3 2 0-16,-3-5 0 0,0 3 0 0,0-8-1 15,0 4 1-15,0-1-1 0,0 0 0 0,0-5 1 16,0-1-1-16,4 1-1 0,0 1 1 0,-4 4 0 15,3 2 0-15,-3-1-1 0,2-1 1 0,-2-5 0 16,2 1 0-16,-2 0-1 0,2-1 1 0,-2-4-1 16,2 3 2-16,-2 1-2 0,0 1 0 0,0 0 0 0,0-1 1 15,0-1-1-15,0 2 0 0,0-3 0 0,0 0 0 16,0 3 0-16,0-7 0 0,0 2 0 0,0 3 0 16,-2-3 0-16,0 4 0 0,0-10 0 0,2 2 0 15,0-3-1-15,0 1 1 0,0-1 0 0,0 1 0 0,0 0-2 16,0-1 2-16,0 1-1 0,0-1 1 0,0 1-1 15,0-3 1-15,0 0-1 0,0 1 1 0,0-1-1 16,0 0 0-16,0 1 0 0,0 1 1 0,-2-4-1 16,2 0 0-16,0 0-1 0,0-2 2 0,0 2-1 15,0 1 0-15,0-4 0 0,0 4 0 0,0-8 0 0,-3 3 0 16,3-1 0-16,0 3-1 0,-4-4 1 0,4 1 0 16,0-1 0-16,0-1 1 0,0 3-1 0,0-5 1 15,0 3 0-15,0-1 0 0,-4 0 0 0,4 1 0 16,-3 1 0-16,1-1 0 0,0-3 0 0,2 0 1 15,-5 5-1-15,5-5 1 0,-4 3 1 0,2-1 1 16,0 1-1-16,-3-5 0 0,5 2 3 0,-2 0-1 16,2 0 1-16,-4 3-1 0,-1-5 2 0,5 4 0 0,-4-4 0 15,2 2 1-15,-5 1-2 0,3-1 2 0,-3 2-1 16,0-4 0-16,1 0 1 0,-5 0 0 0,-5 0 0 16,1 0 1-16,-3 0-3 0,5 0 2 0,-2 0 0 15,-5 0-1-15,4 0 1 0,-4 0 0 0,7 0 0 16,-2 0 0-16,-1 0-1 0,1 0 0 0,-5 0-1 15,0 2 1-15,3 1-2 0,-6-1 2 0,4 2 0 16,-3-4-1-16,6 5-1 0,-4-5 0 0,0 2 0 16,3 0 1-16,-1 0-2 0,0 3 2 0,-6-5-2 15,2 0 2-15,-2 0-2 0,-3 0 2 0,1 0-2 0,0-5 1 16,-1 3 0-16,3 0 0 0,-5 0 0 0,7 2 0 16,-4-5-1-16,1 1 1 0,1-1-1 0,2 3 1 15,-4-4-1-15,-1 3 0 0,5 1 1 0,0 2 0 16,-4-4 0-16,1 4-1 0,-3 0 0 0,-1 0 2 15,-2 0-2-15,0 0 2 0,-20 4-2 0,5-4 1 0,0 2 0 16,0 3 0-16,21-1 0 0,-1-4 0 0,-3 2 0 16,0 1-1-16,5-1 0 0,0 2 1 0,-5-4-1 15,7 5 0-15,-2-3 1 0,2 0-1 0,0 5-1 16,2-3 2-16,-2-4-1 0,0 3 0 0,0-1 1 16,-2 0-1-16,-16 2 1 0,2 1 0 0,3 2-1 0,-7-3 2 15,22-4-2-15,1 2 2 0,-8 0-1 0,3 1 2 16,2 1-2-16,-2-4 2 0,-1 5-2 0,3-5 2 15,-6 0-1-15,-1 0 0 0,5 0-1 0,-3-5-1 16,-2 1 0-16,1-3 1 0,-1-4-4 0,3-5 1 16</inkml:trace>
  <inkml:trace contextRef="#ctx1" brushRef="#br0" timeOffset="142369.03">17867 4184 1419 0,'0'0'0'15,"0"0"0"-15,0 9 0 0,0-9 18 0,0 17 1 16,0-17-1-16,-9 14 1 0,9-14 8 0,0 11 0 0,0-11 0 16,0 2 1-16,0-2-17 0,9 4 2 0,-9-4-2 15,2 5 1-15,-2-5-11 0,17 4 1 0,-17-4 0 16,40 7 0-16,-11-7-2 0,2 0 0 0,0 0 0 15,-3 0 0-15,-1-4-1 0,-1-1 1 0,9 5 0 16,3 2 0-16,6 5 1 0,0-3 0 0,2-1 0 16,-1 6 0-16,7-3 7 0,-7 3 0 0,7-7 0 15,4 3 1-15,3-1 11 0,10 1 1 0,-1-3 1 16,7 0-1-16,0 0 5 0,6 3 1 0,8-5 0 16,-1 0 0-16,4 0-1 0,14 0 3 0,-9-5-1 0,-6 5 0 15,-12 5-5-15,-4-5 1 0,-6 4-1 0,-1 3 2 16,-6-3-6-16,-1 7 1 0,-8 5-1 0,-9-1 2 15,-8 1-17-15,-5-5 2 0,-14 5-1 0,3-1 1 16,-7 1-5-16,-8-5 0 0</inkml:trace>
  <inkml:trace contextRef="#ctx1" brushRef="#br0" timeOffset="142916.319">17942 4825 904 0,'-5'3'0'0,"5"-3"0"15,-4 15 0-15,4-15 24 0,-9 20-1 0,9-20 1 16,-7 11 0-16,7-11-3 0,-9 7-1 0,9-7 0 0,-4 4 1 16,4-4-17-16,-2 5 0 0,2-5 1 15,0 4-1-15,0-4-4 0,-9 7 0 0,9-7 0 0,-7 4 0 16,7-4-7-16,-4 3 2 0,4-3-1 0,-7 4 1 15,7-4-8-15,-6 5 1 0,6-5 0 0,0 4 0 0,0-4 11 16,6 4 1-16,-6-4 0 0,7 7 0 0,-7-7 2 16,20 4 1-16,-20-4-1 0,46 3 1 0,-11 1 11 15,7-4 0-15,5 5 1 0,3-5 0 0,8 2 20 16,1 0 1-16,3 0 0 0,0 3 0 0,4-5 5 16,0-5-1-16,5 5 0 0,1 5 2 0,12-1-8 15,9-2 0-15,-1-2 1 0,-8 0 0 0,-4 0-6 0,-3 3 0 16,-7 3 0-16,-1-6 2 0,8 0-11 0,-2 0 0 15,-4 5 0-15,-14-5 2 0,-6 0-9 0,-14 2 2 16,1 2-1-16,-1-4 1 0,-2 0-6 0,-4 0 1 16,0 0-1-16,-2-4 1 0,-3 4-3 0,-8 0 0 15,2-2-1-15,-5-3 1 0,-4 1-5 0,-4-1 0 16</inkml:trace>
  <inkml:trace contextRef="#ctx1" brushRef="#br0" timeOffset="143382.849">17847 5518 815 0,'0'-4'0'0,"0"4"0"0,0 0 0 0,0 0 8 16,0 9 1-16,0-9 0 0,0 4 0 0,0-4 6 15,0 2-1-15,0-2 1 0,0 0 1 0,0 0-5 16,0 0 1-16,0 0 1 0,0 0-1 0,0 0-7 0,0 0 2 15,0 0-1-15,9 0 1 0,-9 0-2 0,22 9 2 16,6 2 0-16,8 0-1 0,8 5 8 0,6 0-1 16,5-5 1-16,5 4 0 0,6-4 7 0,7 0 0 15,0-2-1-15,2-4 1 0,-7 1 4 0,9-6 0 16,-2 5-1-16,2-5 1 0,14-5-2 0,-3-1 0 16,7 1 0-16,-2 5 0 0,-3 0 3 0,3-4 1 0,-7 4-1 15,-7-5 1-15,-8 3-9 0,-5 2 0 0,-7 2 0 16,1 3-1-16,-9 2 6 0,4 1-1 0,-9 1 1 15,-4-2 0-15,2 4 0 0,-9-4-1 0,-6 2 1 16,-5-1-1-16,-6 4-6 0,-5-6 0 0</inkml:trace>
  <inkml:trace contextRef="#ctx1" brushRef="#br0" timeOffset="143916.6">17774 6287 791 0,'0'0'0'0,"0"0"0"15,0 0 0-15,0 0 6 0,0-3 2 0,0 3-1 16,7 0 1-16,-7 0-6 0,4 0 0 0,-4 0 1 16,7 0 0-16,-7 0-3 0,13 0 0 0,-13 0 0 15,37 9 0-15,-10-4-6 0,10-5 1 0,-1 2-1 16,5 0 2-16,-3 0-2 0,2 3 0 0,4-5 1 16,4 4-1-16,5 3 5 0,7 0 1 0,-1 1-1 15,3-3 1-15,-5 2 3 0,-2-1 2 0,-2-1-1 16,9-1 1-16,9 1 17 0,4-1 2 0,0-2-1 0,-3 3 1 15,-5-5 10-15,-6-5 0 0,6 3 1 0,-1-2 0 16,11-1 14-16,4-2 2 0,-3 3-2 0,-8-7 2 16,-8 0-4-16,-2 2 0 0,-3-2 0 0,-6 4 0 0,-5 3-13 15,-4 4 1-15,0 0-1 0,-3 0 1 0,1 0-11 16,-9 2-1-16</inkml:trace>
  <inkml:trace contextRef="#ctx1" brushRef="#br0" timeOffset="144366.29">17847 6937 866 0,'4'0'0'0,"-4"0"0"16,5 5 0-16,-5-5 3 0,2 4 2 0,-2-4-2 15,20 7 2-15,-20-7 0 0,33 15 2 0,-9-10-2 0,7 1 2 16,4 3-3-16,14 2 0 0,-1-4-1 0,7 2 2 16,7 2-1-16,4 0 1 0,3-2-1 0,3-2 2 15,-1-1 11-15,2-1 0 0,-1-1 0 0,8-4-1 0,4 0 12 16,6-4 0-16,0-5 1 0,-1 2-1 0,3 1 5 16,-4-8 2-16,-4 3 0 0,5 0 0 0,-12 0-6 15,-2 0 1-15,-3 2 0 0,-1 2 1 0,-5-4-7 16,0 7 1-16,-2-5 0 0,-6 2-1 0,-10 3-4 15,-6 2 0-15,-4-1 0 0,-5 1 0 0,-7 4-10 16,-6 7 0-16</inkml:trace>
  <inkml:trace contextRef="#ctx1" brushRef="#br0" timeOffset="165099.97">18555 3720 12 0,'0'4'0'0,"0"-4"0"15,0 4 0-15,0-4 96 0,4 7 2 0,-4-7-2 16,2 0 2-16,-2 0 4 0,0 0 1 0,0 0 1 15,0 0-1-15,0 0-37 0,0 0 2 0,0 0-1 16,0 0 0-16,0 0-7 0,0 0-1 0,0 0 1 16,0 0 0-16,0 0-26 0,0 0 1 0,0 0-1 15,0-4 1-15,0 4-10 0,5-3 0 0,-5 3-1 16,0-4 1-16,0 4-6 0,0-7 1 0,0 7-1 16,0-2 2-16,0 2-2 0,0 0 1 0,0 0-1 15,4-2 1-15,-4 2-4 0,4 0 0 0,-4 0-1 0,3 0 1 16,-3 0-8-16,0-4 1 0,0 4 0 0,2 0 0 15,-2 0-6-15,4 0 2 0,-4 0-1 0,5-5 1 16,-5 5-4-16,9-2 1 0,-9 2 0 0,6 0 0 0,-6 0-2 16,9 0 0-16,-9 0 0 0,2 0 0 0,-2 0-4 15,5 0-1-15,-5 0 1 0,2 0-1 0,-2 0-10 16,0 0-1-16,0 0 0 0,0 0 1 0,0 0-12 16,0 0 0-16,0 0 0 0,0 0 0 0,0 0 3 15,0 0 1-15,0 0-1 0,0-5 2 0,0 5 7 0,0 0 2 16,0 0-1-16,0-4 1 0,0 4 4 0,0-7 1 15,0 7 0-15,-9-11 0 0,9 11 4 0,-15-13 0 16,15 13 0-16,-9-13 0 0,9 13 2 0,-5-5 1 16,5 5-1-16,-4-9 1 0,4 9 1 0,0-4 0 15,0 4 0-15,0-2 0 0,0 2 1 0,0-5 0 16,0 5 0-16,0-7 1 0,0 7 1 0,-2-4 0 16,2 4 0-16,-7-4 1 0,7 4 0 0,0-5 2 0,0 5-2 15,0-2 2-15,0 2 0 0,0-5 0 0,0 5 0 16,0 0 1-16,0 0-2 0,0 0 2 0,0 0-1 15,0-4 0-15,0 4 0 0,0-4 0 0,0 4-1 16,0-3 2-16,0 3-3 0,0 0 1 0,0 0-1 16,0 0 1-16,0 0-1 0,0 0 1 0,0 0-1 15,0 0 1-15,0 0-2 0,0 0 1 0,0 0-1 16,0 3 1-16,0-3-1 0,-4 17 0 0,4-17 0 0,-11 29 1 16,11-29-2-16,-5 36 0 0,5-36 0 15,-9 33 2-15,9-33-2 0,-4 31 0 0,4-31 1 0,-2 25 0 16,2-25-2-16,-7 26 1 0,7-26-1 0,-4 42 2 15,2-15-2-15,-1 4 0 0,3 2 0 0,-4 3 1 16,4-7 0-16,-4 6 1 0,-1-4-1 0,5-4 0 16,-2-5 0-16,2-2 1 0,-5-4-1 0,5-1 1 15,0-1 0-15,0-5 0 0,0-5-1 0,0-2 2 0,0 3-1 16,5-1 0-16,-5-4 1 0,0 5-1 0,0-5 1 16,0 2 2-16,0 2-1 0,2-4 0 0,-2 5 0 15,5-5 0-15,-1 0 1 0,-4 0 0 0,4 0 0 16,-4 0 1-16,5 0 0 0,-1 0 1 0,3-5-2 0,-3 1 1 15</inkml:trace>
  <inkml:trace contextRef="#ctx1" brushRef="#br0" timeOffset="165351.28">18275 3744 904 0,'4'2'0'0,"-4"-2"0"16,18 5 0-16,-18-5 12 0,17 4 2 0,-17-4-2 16,29 5 2-16,-29-5 13 0,31 2 1 0,-31-2 0 15,44-2 0-15,-22 4-8 0,2-2 1 0,0 0 1 0,-1-2-1 16,-6-1-12-16,-1 1 0 0</inkml:trace>
  <inkml:trace contextRef="#ctx1" brushRef="#br0" timeOffset="165984.28">18958 4066 414 0,'0'0'0'16,"0"0"0"-16,0 0 0 0,0 0 2 0,0-4 1 16,0 4-1-16,0-5 2 0,0 5-2 0,0 0 0 15,0 0 1-15,5-4-1 0,-5 4-2 0,6-7 1 16,-6 7-1-16,5-16 1 0,-5 16-1 0,2-37 0 16,-2 37 0-16,4-38 0 0,-4 38-1 0,5-36 0 15,-5 36 0-15,0-26 1 0,0 26 9 0,0-22 0 0,0 22 0 16,0-16 1-16,0 16 29 0,0-9 0 0,0 9 1 15,0-6 0-15,0 6 8 0,-9-12 2 0,9 12-2 16,-24-8 1-16,24 8-2 0,-34-5 0 0,12 5 1 16,3 5 0-16,-6-1-12 0,3 0 1 0,2 8-1 15,5 3 1-15,0 7-6 0,-3 0 1 0,2 7-1 16,3 5 2-16,2 1 6 0,0 7 0 0,5-4 0 16,-1-7 2-16,3 0-4 0,4-4 1 0,0 0-1 15,4-10 1-15,-4-1-3 0,11-5 0 0,-4-7-1 16,-1 1 1-16,1-5-2 0,-1 0 0 0,5-5 1 0,9-1 0 15,5-5-6-15,-1-5 0 0,2-4 0 0,-1 0 0 16,-8-2-8-16,1-2 0 0,-5-1 1 0,0-4-1 0,-2 0-7 16,0 1 2-16,-2-1-1 0,-4 2 1 15,1-2-7-15,-6 7 1 0,0 0 0 0,5 2 0 0,-5 0-6 16,2 6 1-16,0-1-1 0,0-1 1 0,0 7-2 16,1 3 0-16,-3 1-1 0,0 1 1 0,0 2-1 15,0-3 0-15,0 5 1 0,0 5-1 0,0-3 4 16,0 2 2-16,0 5-1 0,0 9 0 0,0 18 7 15,0 1-1-15,-3 5 0 0,-1-6 1 0,0-3 4 0,4 3 1 16,0-10-2-16,0 1 2 0,2-9-4 0,0-5 0 16,0-2 1-16,-2-4 0 0,0-3-6 0,2-4 0 15,1 0-1-15,-1-4 1 0,4 0-6 0,1 1-1 16,2-6 0-16,2 3 2 0,0-5-4 0,2-5 0 16,0 1 0-16,1-1 0 0,-8 0-4 0,-1 5 1 15,-1 0-1-15,1 2 2 0,-3 7-9 0,0-2 1 0,5 4 0 16,-5-5 0-16,2-1-12 0,1 1 1 0</inkml:trace>
  <inkml:trace contextRef="#ctx1" brushRef="#br0" timeOffset="166270.849">19234 3793 1067 0,'0'4'0'0,"0"3"0"16,-7-3 0-16,7 1 4 0,-2-3 2 0,2 7-2 15,0-2 2-15,0 6 5 0,0 0 1 0,0 7 0 16,0 2 0-16,0 7-2 0,0 5 0 0,0-3 0 15,0-5 2-15,0-3-3 0,-2-3 1 0,0-5-1 16,-1-4 1-16,1-2 4 0,2-2 2 0,0-3-1 0,0 3 0 16,0 0 12-16,-2-3 0 0,-2 0 0 0,1 1 1 15,3-5 5-15,0 2-1 0,0 0 1 0,0 1 0 16,0-3-8-16,0 0 1 0,0 0-1 0,0 0 0 0,0 0-1 16,0-3 1-16,-4-1-1 0,2-1 1 0,0-6 1 15,2-4 1-15,2-7 0 0,0 2 0 0,9-7-1 16,-4 5 0-16,-1 6 1 0,5 3 0 0,-4 6 0 15,-1 1 0-15,8 1 0 0,-8 1 0 0,3-3 1 0,-2-2 1 16,6 2 0-16,-2 3 1 0,9-5-11 0,-5 2 0 16,3 1 0-16,-3 1 0 0,-1 5-8 0,1 0 0 15</inkml:trace>
  <inkml:trace contextRef="#ctx1" brushRef="#br0" timeOffset="166633.81">19565 3897 1231 0,'0'0'0'0,"0"0"0"15,0 0 0-15,0-4 12 0,0-1 0 0,0 1 1 16,0 2-1-16,0-7 14 0,0 2 1 0,2-4-2 16,2 7 2-16,-4-3-6 0,2 5 0 0,-2 0 0 15,0-3 1-15,0 5-3 0,0-4 0 0,-2 1 0 16,-4 3 0-16,-3 3 4 0,0 1 2 0,-2 5-1 16,-4 4 0-16,-14 7 15 0,5 7-1 0,-1-5 0 15,1 3 0-15,4-5-2 0,3 2 0 0,1-7 0 16,5 1 0-16,7-10-6 0,2-6 0 0,2 5 1 15,0-5-1-15,0 0-11 0,0 0 1 0,0 0-1 0,2 0 1 16,0-5-6-16,0 5 0 0,0-4 0 0,1 2 1 16,8-3-11-16,2 1 0 0,-2 0 1 0,2 1-1 15,3 6-4-15,-3 1 2 0,-2 0-1 0,0 1 0 16,-9 6-1-16,0 0 0 0,0 5 0 0,1 4 0 16,3 6-1-16,-6-4 1 0,2 5 0 0,-2-3 0 0,-2-1-1 15,-7-3 1-15,-2 2 0 0,0-4 0 0,-4 2 0 16,-5 0 0-16,5-3 0 0,-7 3 0 0,2-4 0 15,0-1 0-15,0-3 0 0,-4-4 1 0,11-1 0 16,-1-7 1-16,3-4-1 0,7 1 1 0,-3-1 0 0,5 0-1 16</inkml:trace>
  <inkml:trace contextRef="#ctx1" brushRef="#br0" timeOffset="167202.15">19695 3862 1042 0,'4'-7'0'0,"-4"7"0"16,5-4 0-16,-5 4 16 0,0-7 1 0,0 7-2 16,0-9 2-16,0 9 0 0,0-27 0 0,0 27 0 15,0-20 1-15,0 20-11 0,0-6 2 0,0 6 0 16,-9-9 0-16,9 9-9 0,-7-11 1 0,7 11 1 15,-4-11-1-15,4 11 1 0,-5-5 0 0,5 5 0 16,-4-6 1-16,4 6 3 0,-7 0 2 0,7 0-1 0,-11 11 1 16,11-11 17-16,-9 20-1 0,5 2 1 0,-5 9 1 15,3 7 16-15,-1 8 1 0,-2 1 0 0,5-5 0 16,2 0 6-16,-5-4-1 0,7-5 0 0,0-4 2 0,0-4-13 16,7-8 1-16,-5-3 0 0,2-5 0 0,1-5-10 15,-1-2 1-15,3-2-1 0,-1-2 2 0,7-2-9 16,-2-1 1-16,5-6 0 0,4-4 0 0,4-8-7 15,0-5-1-15,1 3 1 0,-3-4 1 0,-3 3-5 16,-3-1 0-16,-1 0 0 0,3-6 0 0,0 2-3 16,-1 0 0-16,-1 4 0 0,-5-4 0 0,0 4-6 0,2 1 0 15,-2-1 1-15,0 0-1 0,2 3-2 0,-4 2 0 16,0 2 0-16,2 2 0 0,-7 5 0 0,-1 2 0 16,-1 4 0-16,0-2 0 0,-2 7 0 0,0-3 0 15,0-1 0-15,0 1 0 0,0 5 0 0,0 0 1 16,0-4-1-16,0 4 1 0,0-5 2 0,0 5 2 15,0 5-1-15,-2-1 1 0,-7 3 5 0,2 4 1 0,-6 9 0 16,-2 2 1-16,4 9 7 0,-5 7 1 0,1 4-1 16,4-2 1-16,4 3 2 0,-2-1 0 0,5-5 0 15,2 1 1-15,-3-2-2 0,5-5 1 0,0-5-1 16,0-3 0-16,5-8-3 0,1 1 0 0,3-12 0 16,-4 3 1-16,-1-7-5 0,-2 4-1 0,3-4 1 15,-1 0-1-15,3 0-6 0,1-4 1 0</inkml:trace>
  <inkml:trace contextRef="#ctx1" brushRef="#br0" timeOffset="167417.07">19796 3800 1746 0,'0'0'0'0,"0"0"0"0,5 8 0 0,-5-8 14 16,4 5 1-16,-4-5-1 0,15 0 2 0,-15 0 7 15,29-5 0-15,-7 1 0 0,5 0 0 0,4 1-12 16,4-6 2-16,-2 3-1 0,-4 1 0 0,-7 1-10 16,-5 4-1-16,-1 4 0 0,-3-4 1 0,-4 5-2 0,-3-5 0 15,1 4 0-15,2-2 0 0,0 3-2 0,-3-1 1 16</inkml:trace>
  <inkml:trace contextRef="#ctx1" brushRef="#br0" timeOffset="167883.59">20310 3666 1143 0,'0'5'0'0,"0"-5"0"16,-2 6 0-16,2-6 5 0,-16 12-1 0,16-12 0 16,-15 24 1-16,15-24 4 0,-15 31 0 0,8-13 0 15,-2 6 1-15,0 10 24 0,0 1 0 0,1 3 1 16,-1 0 0-16,2 4 23 0,-4 0 2 0,2 0-2 15,1 0 2-15,-3-2 7 0,4 2 0 0,-2-2 1 16,0 0 0-16,7-11-5 0,-7-4 0 0,9-5 0 16,-2-5 1-16,2-1-15 0,2-6 2 0,-2-3-1 0,0-3 1 15,0-2-17-15,0 0 2 0,0-2 0 0,0 0 0 16,0-1-12-16,5-1-1 0,-1-12 1 0,-2-6-1 0,3-9-18 16,3-7 0-16,-3-2 1 0,-1 0 0 15,-1 5-8-15,-3-3 2 0,4-4 0 0,0 0 0 0,-4 0-15 16,5-9 0-16,-1 6-1 0,3 3 2 0,2 6-25 15,2 5 0-15,2 5 0 0,0-1 1 0,-4 7-14 16,2 2 1-16,4 5-1 0,-6 2 2 0,4 4 23 16,3 1 1-16,-3 3-1 0,3 1 1 0,-8 2 10 0,-1 0 2 15,-3 0-1-15,10 5 1 0,-3 1 10 0,6-1 1 16,-10 1 0-16,6 10-1 0,-2-1 4 0,-2 3 0 16,-2 2 0-16,-3 0 1 0,-2-2 8 0,-2 2 0 15,-2 0 0-15,-7 2 0 0,-2-2 11 0,-2 2 1 16,0-2-1-16,2-2 0 0,0-5 7 0,0-2 1 15,-3 1 0-15,10-8 0 0,-5 3-8 0,3-1 2 0,1-1-1 16,1-1 0-16,1 1-9 0,-1-3-1 0</inkml:trace>
  <inkml:trace contextRef="#ctx1" brushRef="#br0" timeOffset="168200">20716 3777 1332 0,'0'5'0'0,"0"-5"0"0,0 4 0 16,0-4 25-16,0 2 2 0,0-2-1 0,0 0 1 15,0 0 9-15,-7-2 0 0,7 2 0 0,-4 0 1 16,4 0-1-16,-7-4 1 0,7 4-1 0,-6 0 1 16,6 0-13-16,-16 0 1 0,16 0 0 0,-31 4-1 15,31-4 19-15,-42 18 0 0,18-2-1 0,6 4 2 16,-1-3 6-16,3 8-1 0,3-3 0 0,2-2 1 0,4 2-3 15,1 0 1-15,3 3-1 0,1-7 1 0,2 1-6 16,2 1 1-16,1-4-2 0,3 0 2 0,-1-3-12 16,6 0 2-16,-5-6-1 0,3 4 1 0,2 0-9 15,0-2 2-15,2-2 0 0,-2-3 0 0,3 1-6 0,1-3 0 16,3 0 1-16,-1-2-1 0,5-4-8 0,-2-5 2 16,0 2-2-16,-2-4 1 0,-5 2-7 0,-2 2 0 15</inkml:trace>
  <inkml:trace contextRef="#ctx0" brushRef="#br0" timeOffset="184695.83">23681 8323 0,'0'12'0,"0"-12"0,11 12 0,13-1 16,-24-11-1,23 12-15</inkml:trace>
  <inkml:trace contextRef="#ctx1" brushRef="#br0" timeOffset="184366.75">21913 3022 175 0,'-6'-9'0'0,"6"9"0"0,-16-11 0 0,16 11 0 16,-13-2 0-16,13 2 0 0,-33-20 0 0,2 0 28 15,-4-2 1-15,-7 0-1 0,0-7 1 0,-4 2 22 16,-5-2 0-16,-2 3 0 0,-2 1 0 15,-9-1 27-15,0-1 0 0,-4 5 1 0,-5 2-1 0,-4 0-44 16,-14 2 1-16,5-2 0 0,2 5-1 0,-4-1 7 16,4 0 0-16,1 3 1 0,-8 4-1 0,7-2-4 15,-2 0 2-15,-4 7-2 0,2-3 1 0,-9 7-9 0,0 2 0 16,0 3 0-16,-5-1 2 0,-1 3-7 0,-3 2 1 16,0 4 0-16,2 2 0 0,-4 5-1 0,7-4 0 15,-7 6-1-15,-3 9 1 0,-1 7 5 0,4 2 1 16,0 4 0-16,6 7 1 0,1 9 1 0,4 7 1 15,4-3-1-15,3 1 2 0,2 1-6 0,10 3 1 16,-1 5-1-16,6 1 2 0,3 5-5 0,4 7 2 0,10-7-1 16,8 0 1-16,13-7-1 0,4 0 1 0,11-2-1 15,9 0 0-15,13-2-2 0,16-5 1 0,13-6-1 16,10 0 1-16,19-11-6 0,6-3 1 0,18 3 1 16,6 1-1-16,18 3-3 0,12 3 1 0,7-3-2 15,15-2 2-15,8 0-2 0,6-3 0 0,-6-8 0 16,7-3-1-16,-3-3-1 0,-6-6-1 0,8-6 1 15,1-2-1-15,0-7-2 0,-1-2 2 0,3-7-2 16,0-2 1-16,2-6-3 0,4-3 1 0,3-5-1 0,-7 1 1 16,2 0-2-16,-2-1 0 0,-18-3 0 0,1-3 1 15,-10-3-6-15,-4-1 2 0,-15-5-1 0,0-6 1 16,-7-8-3-16,-5 1 0 0,-8-11 0 0,-9 0 2 16,-9-5-3-16,0 0 1 0,-10 0 0 0,-1-6 1 0,-11-3-2 15,-2-1 0-15,-9-1 0 0,-2-5 0 0,-9-1-1 16,0 2 1-16,-11-5-1 0,-2 7 1 0,-9-2-2 15,-4-1 1-15,-10 5-1 0,-3 1 1 0,-10-6-4 16,-1 5 0-16,-10 1 1 0,-6 1 0 0,-7 7-2 16,-8 2 1-16,-5-6-1 0,-4 2 2 0,-5-3-2 15,-4-1 1-15,-11 8-1 0,-3 0 2 0,-10 5 2 16,-10-5 0-16,-5 1 0 0,-1 1-1 0,-2 0 2 16,8 3 0-16,-5 9 0 0,-3 2 0 0,4 11 0 0,-2-1 2 15,-9 10-2-15,5 7 1 0,-5 1 1 0,-4 8 0 16,7 1 0-16,8 10 1 0,7 1-1 0,7 3 1 15,8 7 1-15,5 10-1 0,11 6-2 0,8 5 0 16</inkml:trace>
  <inkml:trace contextRef="#ctx1" brushRef="#br0" timeOffset="185717.65">9954 14940 715 0,'-5'-20'0'0,"5"20"0"0,-6-29 0 0,6 29 7 16,-13-17 0-16,13 17 0 0,-18-31 1 0,2 8 44 0,-3-1 2 16,-6 2 0-16,-6-1 0 0,-8 1 45 15,-3 2 0-15,-9 5 1 0,-2 1 0 0,-6 6-50 0,-3 3-1 16,-4 5 0-16,-9 2 2 0,-5 5-23 0,-1 2 0 15,-5 9 0-15,0 4 0 0,4 13 3 0,-8 3 1 16,2 11-1-16,-1 4 2 0,-8 12 3 0,-4 10 1 16,-1 10-1-16,1 8 1 0,2 13-17 0,-3 8 0 15,12 1 0-15,13-2 1 0,6-2-10 0,14 0 1 16,13-15 0-16,11-12 1 0,13-15-6 0,9-7 0 16,13-2 0-16,11-9 1 0,11-6-5 0,14-8 2 0,8-5-2 15,12-10 2-15,12-4-2 0,5-5 2 0,11-9-1 16,5-4 1-16,8-9-1 0,9-4 2 0,2-9-2 15,16-9 2-15,6-14-2 0,7-8 2 0,-7-7-2 16,5-9 2-16,-5-4-3 0,1-9 2 0,-16-5-1 16,-3-8 1-16,-3-1-2 0,-8-8 1 0,-17-3-1 15,-13 3 0-15,-13 0 1 0,-10-5-1 0,-14 11 0 16,-10 11 1-16,-6 10-2 0,-9-3 1 0,-11 11 0 0,-11 7 0 16,-13 6-1-16,-7 7 2 0,-11 12-1 0,-4 10 0 15,-12 7 0-15,3 9-1 0,-11 11 0 0,-5 7 1 16,-12 10-3-16,-1 10 0 0</inkml:trace>
</inkml:ink>
</file>

<file path=ppt/ink/ink16.xml><?xml version="1.0" encoding="utf-8"?>
<inkml:ink xmlns:inkml="http://www.w3.org/2003/InkML">
  <inkml:definitions>
    <inkml:context xml:id="ctx0">
      <inkml:inkSource xml:id="inkSrc0">
        <inkml:traceFormat>
          <inkml:channel name="X" type="integer" max="4920" units="cm"/>
          <inkml:channel name="Y" type="integer" max="2000" units="cm"/>
          <inkml:channel name="T" type="integer" max="2.14748E9" units="dev"/>
        </inkml:traceFormat>
        <inkml:channelProperties>
          <inkml:channelProperty channel="X" name="resolution" value="172.63158" units="1/cm"/>
          <inkml:channelProperty channel="Y" name="resolution" value="105.26316" units="1/cm"/>
          <inkml:channelProperty channel="T" name="resolution" value="1" units="1/dev"/>
        </inkml:channelProperties>
      </inkml:inkSource>
      <inkml:timestamp xml:id="ts0" timeString="2024-05-20T12:35:33.920"/>
    </inkml:context>
    <inkml:brush xml:id="br0">
      <inkml:brushProperty name="width" value="0.05292" units="cm"/>
      <inkml:brushProperty name="height" value="0.05292" units="cm"/>
      <inkml:brushProperty name="color" value="#FF0000"/>
    </inkml:brush>
  </inkml:definitions>
  <inkml:trace contextRef="#ctx0" brushRef="#br0">6374 13506 0</inkml:trace>
</inkml:ink>
</file>

<file path=ppt/ink/ink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1920" max="3000" units="cm"/>
          <inkml:channel name="Y" type="integer" max="2000" units="cm"/>
          <inkml:channel name="T" type="integer" max="2.14748E9" units="dev"/>
        </inkml:traceFormat>
        <inkml:channelProperties>
          <inkml:channelProperty channel="X" name="resolution" value="172.63158" units="1/cm"/>
          <inkml:channelProperty channel="Y" name="resolution" value="105.26316" units="1/cm"/>
          <inkml:channelProperty channel="T" name="resolution" value="1" units="1/dev"/>
        </inkml:channelProperties>
      </inkml:inkSource>
      <inkml:timestamp xml:id="ts0" timeString="2024-05-21T13:01:36.627"/>
    </inkml:context>
    <inkml:brush xml:id="br0">
      <inkml:brushProperty name="width" value="0.05292" units="cm"/>
      <inkml:brushProperty name="height" value="0.05292" units="cm"/>
      <inkml:brushProperty name="color" value="#FF0000"/>
    </inkml:brush>
  </inkml:definitions>
  <inkml:trace contextRef="#ctx0" brushRef="#br0">19014 5985 0</inkml:trace>
  <inkml:trace contextRef="#ctx0" brushRef="#br0" timeOffset="12340.31">19014 5985 0</inkml:trace>
</inkml:ink>
</file>

<file path=ppt/ink/ink18.xml><?xml version="1.0" encoding="utf-8"?>
<inkml:ink xmlns:inkml="http://www.w3.org/2003/InkML">
  <inkml:definitions>
    <inkml:context xml:id="ctx0">
      <inkml:inkSource xml:id="inkSrc0">
        <inkml:traceFormat>
          <inkml:channel name="X" type="integer" max="3408" units="cm"/>
          <inkml:channel name="Y" type="integer" max="2256" units="cm"/>
          <inkml:channel name="T" type="integer" max="2.14748E9" units="dev"/>
        </inkml:traceFormat>
        <inkml:channelProperties>
          <inkml:channelProperty channel="X" name="resolution" value="119.57895" units="1/cm"/>
          <inkml:channelProperty channel="Y" name="resolution" value="118.73684" units="1/cm"/>
          <inkml:channelProperty channel="T" name="resolution" value="1" units="1/dev"/>
        </inkml:channelProperties>
      </inkml:inkSource>
      <inkml:timestamp xml:id="ts0" timeString="2024-05-21T13:14:05.278"/>
    </inkml:context>
    <inkml:brush xml:id="br0">
      <inkml:brushProperty name="width" value="0.05292" units="cm"/>
      <inkml:brushProperty name="height" value="0.05292" units="cm"/>
      <inkml:brushProperty name="color" value="#FF0000"/>
    </inkml:brush>
    <inkml:context xml:id="ctx1">
      <inkml:inkSource xml:id="inkSrc1">
        <inkml:traceFormat>
          <inkml:channel name="X" type="integer" max="18176" units="cm"/>
          <inkml:channel name="Y" type="integer" max="12032" units="cm"/>
          <inkml:channel name="F" type="integer" max="4096" units="dev"/>
          <inkml:channel name="T" type="integer" max="2.14748E9" units="dev"/>
        </inkml:traceFormat>
        <inkml:channelProperties>
          <inkml:channelProperty channel="X" name="resolution" value="637.75439" units="1/cm"/>
          <inkml:channelProperty channel="Y" name="resolution" value="633.26318" units="1/cm"/>
          <inkml:channelProperty channel="F" name="resolution" value="0" units="1/dev"/>
          <inkml:channelProperty channel="T" name="resolution" value="1" units="1/dev"/>
        </inkml:channelProperties>
      </inkml:inkSource>
      <inkml:timestamp xml:id="ts1" timeString="2024-05-21T13:14:05.951"/>
    </inkml:context>
  </inkml:definitions>
  <inkml:trace contextRef="#ctx0" brushRef="#br0">7555 15879 0,'0'0'0,"0"0"0,0 0 0,0 0 0</inkml:trace>
  <inkml:trace contextRef="#ctx1" brushRef="#br0">2553 11780 250 0,'-5'-4'0'0,"5"4"0"0,0-7 0 16,0 7 73-16,9-11 1 0,-9 11-1 0,0-9 1 15,0 9 21-15,-4-6 1 0,4 6-1 0,-7-5 0 0,7 5-26 16,-11-2-1-16,11 2 1 0,-4-5-1 16,4 5-3-16,-9-4 1 0,9 4 1 0,-11-7-1 0,11 7-35 15,-5-4 2-15,5 4-2 0,-6 0 2 0,6 0-2 0,-5 0 1 16,5 0-1-16,-4 0 2 0,4 0 4 0,-4 7 0 16,4-7 0-16,0 4 1 0,0-4-2 0,4 4 0 15,-4-4 0-15,4 14-1 0,-4-14-1 0,11 31 1 16,0-4 0-16,3 1-1 0,1 4-3 0,3 3 0 15,-1 1 0-15,1-1 0 0,2-2-4 0,0 5 0 16,-5 2 0-16,-2-9 0 0,5 3-5 0,-3-3 2 16,1-3-2-16,-1 1 2 0,-4-2-5 0,3-5 0 0,-3 0 0 15,-3 3 0-15,8-7-2 0,-10 6 0 0,3-8-1 16,-4-1 1-16,6-13-4 0,-9-2-1 0,7-9 0 16,2-6 2-16,9-12-4 0,0-4 1 0,-1-4 0 15,8-8 1-15,-3 1-3 0,7 0 0 0,-5-11 0 16,3-14 0-16,4-8-3 0,-2-19 2 0,0 8 0 15,0 8 0-15,-3 14 2 0,3 6 0 0,-4 0 0 16,-3-4 0-16,-9-2 3 0,5-1-1 0,2 7 0 16,-6 10 1-16,-1 12-1 0,-4 5 1 0,3 9 0 0,-8 6 0 15,-1 12-6-15,-1 4 1 0,-4 4 0 0,2-4-1 16,-2 2-5-16,0 1 0 0</inkml:trace>
  <inkml:trace contextRef="#ctx1" brushRef="#br0" timeOffset="552.8">2500 12529 1632 0,'0'-5'0'0,"0"5"0"16,-5-9 0-16,5 9 40 0,0-6-1 0,0 6 0 15,0-7 2-15,0 7 11 0,-8-9 1 0,8 9 0 16,-7-4-1-16,7 4-21 0,-4-3 0 0,4 3 1 0,0 7-1 16,0-7-13-16,6 20 0 0,-6-20 0 0,24 45 0 0,-4-12-2 15,2 7-1-15,3-2 1 0,-3-7 0 0,2-2 1 16,0-5 1-16,-2-2-2 0,-2-2 2 0,-2-2 0 15,4-3 0-15,-5 3 0 0,3 0 0 0,0 0-2 16,-5 0 1-16,-1-3-1 0,8-4 1 0,-7-6 0 16,1-8 0-16,-1-3 0 0,5-3 1 15,2 0 0-15,0-9 1 0,0 0 0 0,5 1 0 0,-3-8 1 16,7 1 0-16,-3-12 1 0,10-13-1 0,4-13-1 0,-3-15 1 16,8-3-1-16,-1-3 1 0,0 1-1 0,1 0 0 15,8 2 1-15,7 2-1 0,-3 3-6 0,14 6 2 16,-14 7-1-16,-6 13 1 0,-17 14-7 0,-5 10 1 15</inkml:trace>
</inkml:ink>
</file>

<file path=ppt/ink/ink19.xml><?xml version="1.0" encoding="utf-8"?>
<inkml:ink xmlns:inkml="http://www.w3.org/2003/InkML">
  <inkml:definitions>
    <inkml:context xml:id="ctx0">
      <inkml:inkSource xml:id="inkSrc0">
        <inkml:traceFormat>
          <inkml:channel name="X" type="integer" max="18176" units="cm"/>
          <inkml:channel name="Y" type="integer" max="12032" units="cm"/>
          <inkml:channel name="F" type="integer" max="4096" units="dev"/>
          <inkml:channel name="T" type="integer" max="2.14748E9" units="dev"/>
        </inkml:traceFormat>
        <inkml:channelProperties>
          <inkml:channelProperty channel="X" name="resolution" value="637.75439" units="1/cm"/>
          <inkml:channelProperty channel="Y" name="resolution" value="633.26318" units="1/cm"/>
          <inkml:channelProperty channel="F" name="resolution" value="0" units="1/dev"/>
          <inkml:channelProperty channel="T" name="resolution" value="1" units="1/dev"/>
        </inkml:channelProperties>
      </inkml:inkSource>
      <inkml:timestamp xml:id="ts0" timeString="2024-05-21T13:16:30.701"/>
    </inkml:context>
    <inkml:brush xml:id="br0">
      <inkml:brushProperty name="width" value="0.05292" units="cm"/>
      <inkml:brushProperty name="height" value="0.05292" units="cm"/>
      <inkml:brushProperty name="color" value="#FF0000"/>
    </inkml:brush>
  </inkml:definitions>
  <inkml:trace contextRef="#ctx0" brushRef="#br0">17437 4694 187 0,'6'0'0'15,"-6"0"0"-15,13 5 0 0,-13-5 0 0,18 2 0 0,-18-2 0 16,11 5 0-16,-11-5 22 0,4-7 1 0,-4 7-1 16,5-5 2-16,-5 5 45 0,2 0 2 0,-2 0-1 15,0-4 0-15,0 4 32 0,0-4 2 0,0 4-2 16,-2-3 1-16,2 3-66 0,-13-4 0 0,13 4 0 16,-14-11 0-16,14 11-8 0,-15-11 1 0,15 11-1 15,-31-14 0-15,11 12 5 0,-6 2-1 0,1 0 1 16,-5 0 1-16,-3 0 2 0,-1 0 0 0,-1 0 0 15,4 0 1-15,-4 0-3 0,-5 0 0 0,3 0-1 16,-3 7 1-16,5-3-8 0,2-4 1 0,-3 5-1 0,1 1 1 16,-7-1-1-16,-2-1 0 0,2 3 0 0,-2-3 1 15,0-1-9-15,7 1 0 0,-5-4 0 0,0 4 1 0,-2-4-7 16,-3-4-1-16,5 4 0 0,-2-4 2 0,5 1-1 16,3-6 1-16,-1 3-1 0,-1 1 2 0,-1-1-5 15,-3-3 1-15,2 2-1 0,-4 3 1 0,4-7-4 16,1 2 0-16,-6 2 0 0,4-4-1 0,-1 2 1 15,0-2 0-15,2 0 0 0,-4 0-1 0,2 0 2 16,0 2 0-16,2-2 0 0,-1-5 0 0,-8 1-1 16,3-1 0-16,2 1 0 0,6-1 1 0,1 3-2 0,-3-5-1 15,2 0 1-15,3 3 1 0,-4-5-2 0,1 2 2 16,3 2-2-16,-5 5 2 0,-4-2-2 0,0 2 0 16,-2 0 0-16,-3 0 0 0,-2 2 1 0,-2 2 1 15,-2-4-1-15,2 2 1 0,3 2 0 0,-1 1 1 16,-2 1-1-16,0 1 0 0,-2-1 0 0,-2 3 0 0,-1 0 0 15,3 0-1-15,0 2-1 0,2 0 0 16,-2 0 1-16,0 0 0 0,2 0-2 0,-5-5 2 0,3 5-2 16,0-4 2-16,-2 2-2 0,-1 2 1 0,3-5-1 15,5-2 2-15,-1 3-3 0,5 0 2 0,-5-1-2 16,0-1 2-16,-4 1-2 0,4-2 1 0,-2-1 0 16,3 1 0-16,-5 2-1 0,2-3-1 0,4 1 0 15,1 0 1-15,-3 3 1 0,0-5 0 0,0 2 0 16,-2 1 0-16,-2 1 2 0,0-4-1 0,-2 3 1 15,6-1 1-15,5-2-1 0,6 2 1 0,-6-2 0 16,2 3 1-16,0-3-3 0,-1 2 1 0,4 3 0 16,-6-7 0-16,3 2-2 0,-2 2 0 0,0-2 0 0,-3 3 0 15,5 1-2-15,-2 3 2 0,-1 2-1 0,3-4 0 16,2-1 0-16,-4 1 0 0,2 4 0 0,-2-3 1 16,-1 3-2-16,-3 0 1 0,1 0 1 0,5 0-1 0,-2 0 0 15,-3-4 1-15,5 4-1 0,4 0 1 0,-2 0-1 16,5 0 0-16,-1 0 1 0,-1 4 0 0,-3-4 0 15,0 3-1-15,0 1 0 0,4 1 2 0,-3-1-2 16,-1 3 2-16,2-3-2 0,3 1 1 0,1 6 0 0,1-5-1 16,4 3 1-16,-4-2-1 0,4 0-2 0,-4 6 0 15,-1-2 0-15,1-4 0 0,2 1-1 0,4-1 0 16,-6 2 0-16,2 2 2 0,4 0-2 0,-2-2 0 16,5 2 0-16,2-4 0 0,-3 0-2 0,3 6 1 15,2-2 0-15,2 5 1 0,-4-5-1 0,4 4 0 16,2-4 0-16,3 5 0 0,-3 4 0 0,3-5-1 15,-1 1 1-15,3-3 1 0,4-2-1 0,-2 3 0 0,7-3 0 16,-5 0 1-16,0-2-1 0,7 4 1 0,-7 3-1 16,3 4 1-16,-1 2-1 0,3 2 1 0,-5-2 0 15,4 3 0-15,-1-1 0 0,-5 1 0 0,-5 1 0 16,7 5 0-16,-2 3 0 0,-2 1 0 0,7-4 0 16,-3-4 0-16,2 0 0 0,0-1 0 0,1 1 0 15,4 0 1-15,-3-3 0 0,3 0 0 0,2 1 0 16,0 2 0-16,0-5 1 0,2 2 1 0,3-2-1 15,-3-2 0-15,4 3 0 0,5-1 2 0,-4 2-1 16,2-4 0-16,2 5 1 0,-2-1-1 0,2-6 1 0,-2 0-1 16,2-1-1-16,4-6 2 0,-6 3-1 0,4 3 0 15,3-1 0-15,3 0-1 0,-8-1 0 0,7 1 1 16,-2 1 0-16,-3 3 0 0,0 0-1 0,7-2 2 16,-3-5-1-16,8 1 0 0,-5-1 1 0,-5 0 0 0,0 1 0 15,1-1 0-15,2 0-1 0,1-1 2 0,6 3-2 16,1-4 1-16,3 0-1 0,-3 0 0 0,1 0 0 15,1-2 0-15,-1 2 0 0,-1 1 1 0,3-1-2 16,-3 2 1-16,-1-2 1 0,1-4-1 0,1 2-1 16,-1-3 2-16,3 3-1 0,-3 2 0 0,3 0 1 15,0-2-1-15,4 2 1 0,-2 0-1 0,-5 1-1 0,3-1 2 16,4 4-1-16,2-4 0 0,-6 3-1 0,6-1 1 16,-2 0-1-16,-2 1 1 0,2-1-2 0,0-6 2 15,2 2-2-15,1 2 1 0,-1 0-1 0,0-5 0 16,-2 3 0-16,0 2 1 0,0-4-2 0,3 2 1 15,3 2 0-15,8 0 0 0,-10 0-1 0,7 3 1 16,-13-3-1-16,7 0 1 0,-3-2-1 0,-2 2 1 0,2 0 0 16,3 0 1-16,-3-2-2 0,-4 2 1 0,15 2-1 15,-6 1 1-15,6 1-1 0,-4-4 0 0,-2 0 0 16,6 0 1-16,-6-2-1 0,2 2 0 0,4-4 0 16,-4 2 0-16,2 2 0 0,2-7 0 0,3 8 0 15,0-8 0-15,-3 3 0 0,-4 2 0 0,6 2 0 16,1 0 0-16,2 0 0 0,-1-2 0 0,-8 0 0 15,2 0 0-15,-4-5 0 0,2 3 0 0,4 2 0 16,0 2 0-16,-4 4 0 0,7-4 0 0,-3 5 0 16,0-5 0-16,1-2 0 0,4 2 0 0,-14 0 0 15,7-4 1-15,-4 2-1 0,2-5 1 0,8 7-1 0,1 0 1 16,-2 0-1-16,6 5 1 0,-4-5-1 0,-5 0 2 16,5 2-2-16,-1 1 1 0,-8-3 0 0,5 2 0 0,-3-2 0 15,-2-4 0-15,-1 6 0 0,6 1 0 0,1-1 0 16,-1 2 1-16,-1-1-1 0,0-1 0 0,-4 0 0 15,2 1 1-15,3 1-1 0,-1-4 2 0,-2 5-2 16,0-5 0-16,5 5 0 0,1-1 1 0,1 1-1 16,2-1 0-16,17 7 1 0,-8-11-1 0,-7 1-1 15,3-4 1-15,-23-5 0 0,0 1 0 0,5 1-1 16,2-1 1-16,44 7-1 0,-18-4 1 0,-2 2-1 0,-4-7 1 16,-22 0-1-16,4 0 2 0,4 3-2 0,3-3 1 15,31 2-1-15,-14 1 1 0,-8-1-1 0,-1 1 1 16,-21-3-1-16,6 2 1 0,4 1-1 0,8-1 1 15,16 5-1-15,-10 0 1 0,-7 2-1 0,0 2 1 16,-19-6-1-16,3 0 2 0,10-3-2 0,2 1 1 0,37 1-1 16,-20-1 1-16,-4 1 0 0,-7-1 0 15,-21-1 0-15,6-4 0 0,4 0 0 0,5 0 0 0,41 5 1 16,-19-3-1-16,-11 2-1 0,2 1 1 0,-33-3 0 16,6 0 0-16,5 5 0 0,2-3 0 0,38 3 0 15,-16 0 1-15,-11 2-1 0,2-5 0 0,-24 1 0 16,12-3 0-16,-1 2 0 0,9-4 0 0,22 0 0 15,-12 0 1-15,-3 5-1 0,-9-5 0 0,4 0 0 16,2-5 0-16,1-1-1 0,3 1 1 0,-21 5 0 16,6-4 0-16,3-3 1 0,-1 3-1 0,34-3 0 15,-16-2 0-15,-6 0 0 0,-3 2 0 0,-24-1 0 0,7 1 0 16,4 0 1-16,2-2-1 0,3 3 0 0,-1-8 0 16,-1 3-1-16,-1 0 1 0,20-9 0 0,-11 2 0 15,-2-2-1-15,-2 5 1 0,-23 4 1 0,3 0-1 0,11-7-1 16,-6 0 1-16,5-4 0 0,-1 0 0 0,-2-5-1 15,1 0 1-15,-8 7 0 0,-2-6 0 0,0 4-1 16,-1-3 1-16,-1 3 1 0,1-2-1 0,-3 1-1 16,8 1 1-16,-13-2-1 0,2 1 1 0,0 1-1 15,-3 2 0-15,-3-2 0 0,2-5 1 0,-5 3-1 16,0 2 0-16,-4-5 0 0,2 3 1 0,-5 2-1 0,3-5 0 16,-7 2 0-16,1 1 1 0,-3 4-1 0,0-7 1 15,0 3-1-15,0 2 2 0,-5-5-2 0,1 5 1 16,-3-5-1-16,-2 3 1 0,1 2-1 0,-3-5 1 15,-5 0 0-15,1 1 0 0,-1-1 0 0,-1 3 0 16,-8-7 1-16,-1 2 0 0,-3 4-1 0,-2-1 1 16,1-1-1-16,-6 0 2 0,1 3-2 0,2 2 1 0,-5 2-1 15,1 2 1-15,-3 2-1 0,-2 1 2 0,-24-7-2 16,9 6 1-16,4 1-1 0,0 3 1 0,22 8 1 16,0-7-1-16,-9 2-1 0,1 2 1 0,-10-4-1 15,1 0 2-15,1 2-2 0,1-9 0 0,-20 1 0 16,9-1 1-16,6 7-1 0,0-5 0 0,25 5 1 15,-5 0 0-15,0-4-1 0,-4-1 0 0,-7-4 0 16,0-7 0-16,4 3-1 0,1 0 1 0,2 4-1 16,-1-7 2-16,-1 7-2 0,4-7 1 0,-5 5-1 15,3-5 1-15,-5 3-1 0,5-3 0 0,2 5 0 0,0-5 1 16,0 8-1-16,0-4 0 0,0 3 0 0,6-2 1 16,-2 2-1-16,1-2 0 0,-5 2 0 0,2-2 0 0,-4 2 0 15,-1-2 0-15,-1-3 0 0,-1 3 0 16,-1 2 0-16,-1 2 0 0,5 3 0 0,-7-1 1 0,2 1-1 15,-4-1 1-15,-2 5-1 0,-1 0 1 0,1 2-1 16,-3 2 2-16,-23 3-2 0,8-3 1 0,9 7 0 16,-5 0 1-16,29 0-1 0,-6 0 1 0,-5 0 2 15,2 0-1-15,-46 2 0 0,20 3 2 0,2 1-3 16,9 3 2-16</inkml:trace>
</inkml:ink>
</file>

<file path=ppt/ink/ink20.xml><?xml version="1.0" encoding="utf-8"?>
<inkml:ink xmlns:inkml="http://www.w3.org/2003/InkML">
  <inkml:definitions>
    <inkml:context xml:id="ctx0">
      <inkml:inkSource xml:id="inkSrc0">
        <inkml:traceFormat>
          <inkml:channel name="X" type="integer" max="4920" units="cm"/>
          <inkml:channel name="Y" type="integer" max="2000" units="cm"/>
          <inkml:channel name="T" type="integer" max="2.14748E9" units="dev"/>
        </inkml:traceFormat>
        <inkml:channelProperties>
          <inkml:channelProperty channel="X" name="resolution" value="172.63158" units="1/cm"/>
          <inkml:channelProperty channel="Y" name="resolution" value="105.26316" units="1/cm"/>
          <inkml:channelProperty channel="T" name="resolution" value="1" units="1/dev"/>
        </inkml:channelProperties>
      </inkml:inkSource>
      <inkml:timestamp xml:id="ts0" timeString="2024-05-20T13:05:34.547"/>
    </inkml:context>
    <inkml:brush xml:id="br0">
      <inkml:brushProperty name="width" value="0.05292" units="cm"/>
      <inkml:brushProperty name="height" value="0.05292" units="cm"/>
      <inkml:brushProperty name="color" value="#FF0000"/>
    </inkml:brush>
  </inkml:definitions>
  <inkml:trace contextRef="#ctx0" brushRef="#br0">18025 7788 0</inkml:trace>
  <inkml:trace contextRef="#ctx0" brushRef="#br0" timeOffset="1613.649">18025 7788 0</inkml:trace>
</inkml:ink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3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页眉占位符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 b="0" i="0">
                <a:ea typeface="SimHei" panose="02010609060101010101" pitchFamily="49" charset="-122"/>
              </a:defRPr>
            </a:lvl1pPr>
          </a:lstStyle>
          <a:p>
            <a:endParaRPr lang="zh-CN" altLang="en-US" dirty="0"/>
          </a:p>
        </p:txBody>
      </p:sp>
      <p:sp>
        <p:nvSpPr>
          <p:cNvPr id="3" name="日期占位符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 b="0" i="0">
                <a:ea typeface="SimHei" panose="02010609060101010101" pitchFamily="49" charset="-122"/>
              </a:defRPr>
            </a:lvl1pPr>
          </a:lstStyle>
          <a:p>
            <a:fld id="{98FE6102-7EE9-46A5-B031-5B8AF3BB1CD5}" type="datetimeFigureOut">
              <a:rPr lang="zh-CN" altLang="en-US" smtClean="0"/>
              <a:pPr/>
              <a:t>2024/6/14</a:t>
            </a:fld>
            <a:endParaRPr lang="zh-CN" altLang="en-US" dirty="0"/>
          </a:p>
        </p:txBody>
      </p:sp>
      <p:sp>
        <p:nvSpPr>
          <p:cNvPr id="4" name="幻灯片图像占位符 3"/>
          <p:cNvSpPr>
            <a:spLocks noGrp="1" noRot="1" noChangeAspect="1"/>
          </p:cNvSpPr>
          <p:nvPr>
            <p:ph type="sldImg" idx="2"/>
          </p:nvPr>
        </p:nvSpPr>
        <p:spPr>
          <a:xfrm>
            <a:off x="1371600" y="1143000"/>
            <a:ext cx="41148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zh-CN" altLang="en-US"/>
          </a:p>
        </p:txBody>
      </p:sp>
      <p:sp>
        <p:nvSpPr>
          <p:cNvPr id="5" name="备注占位符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zh-CN" altLang="en-US"/>
              <a:t>单击此处编辑母版文本样式</a:t>
            </a:r>
          </a:p>
          <a:p>
            <a:pPr lvl="1"/>
            <a:r>
              <a:rPr lang="zh-CN" altLang="en-US"/>
              <a:t>二级</a:t>
            </a:r>
          </a:p>
          <a:p>
            <a:pPr lvl="2"/>
            <a:r>
              <a:rPr lang="zh-CN" altLang="en-US"/>
              <a:t>三级</a:t>
            </a:r>
          </a:p>
          <a:p>
            <a:pPr lvl="3"/>
            <a:r>
              <a:rPr lang="zh-CN" altLang="en-US"/>
              <a:t>四级</a:t>
            </a:r>
          </a:p>
          <a:p>
            <a:pPr lvl="4"/>
            <a:r>
              <a:rPr lang="zh-CN" altLang="en-US"/>
              <a:t>五级</a:t>
            </a:r>
          </a:p>
        </p:txBody>
      </p:sp>
      <p:sp>
        <p:nvSpPr>
          <p:cNvPr id="6" name="页脚占位符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 b="0" i="0">
                <a:ea typeface="SimHei" panose="02010609060101010101" pitchFamily="49" charset="-122"/>
              </a:defRPr>
            </a:lvl1pPr>
          </a:lstStyle>
          <a:p>
            <a:endParaRPr lang="zh-CN" altLang="en-US" dirty="0"/>
          </a:p>
        </p:txBody>
      </p:sp>
      <p:sp>
        <p:nvSpPr>
          <p:cNvPr id="7" name="灯片编号占位符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 b="0" i="0">
                <a:ea typeface="SimHei" panose="02010609060101010101" pitchFamily="49" charset="-122"/>
              </a:defRPr>
            </a:lvl1pPr>
          </a:lstStyle>
          <a:p>
            <a:fld id="{43BC7509-23FA-40FA-8415-DBE86E406177}" type="slidenum">
              <a:rPr lang="zh-CN" altLang="en-US" smtClean="0"/>
              <a:pPr/>
              <a:t>‹#›</a:t>
            </a:fld>
            <a:endParaRPr lang="zh-CN" altLang="en-US" dirty="0"/>
          </a:p>
        </p:txBody>
      </p:sp>
    </p:spTree>
    <p:extLst>
      <p:ext uri="{BB962C8B-B14F-4D97-AF65-F5344CB8AC3E}">
        <p14:creationId xmlns:p14="http://schemas.microsoft.com/office/powerpoint/2010/main" val="2601821295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.xml"/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.xml"/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1.xml"/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3.xml"/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5.xml"/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6.xml"/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1.xml"/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3.xml"/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6.xml"/><Relationship Id="rId1" Type="http://schemas.openxmlformats.org/officeDocument/2006/relationships/notesMaster" Target="../notesMasters/notesMaster1.xml"/></Relationships>
</file>

<file path=ppt/notesSlides/_rels/notesSlide1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8.xml"/><Relationship Id="rId1" Type="http://schemas.openxmlformats.org/officeDocument/2006/relationships/notesMaster" Target="../notesMasters/notesMaster1.xml"/></Relationships>
</file>

<file path=ppt/notesSlides/_rels/notesSlide2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9.xml"/><Relationship Id="rId1" Type="http://schemas.openxmlformats.org/officeDocument/2006/relationships/notesMaster" Target="../notesMasters/notesMaster1.xml"/></Relationships>
</file>

<file path=ppt/notesSlides/_rels/notesSlide2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1.xml"/><Relationship Id="rId1" Type="http://schemas.openxmlformats.org/officeDocument/2006/relationships/notesMaster" Target="../notesMasters/notesMaster1.xml"/></Relationships>
</file>

<file path=ppt/notesSlides/_rels/notesSlide2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5.xml"/><Relationship Id="rId1" Type="http://schemas.openxmlformats.org/officeDocument/2006/relationships/notesMaster" Target="../notesMasters/notesMaster1.xml"/></Relationships>
</file>

<file path=ppt/notesSlides/_rels/notesSlide2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6.xml"/><Relationship Id="rId1" Type="http://schemas.openxmlformats.org/officeDocument/2006/relationships/notesMaster" Target="../notesMasters/notesMaster1.xml"/></Relationships>
</file>

<file path=ppt/notesSlides/_rels/notesSlide2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7.xml"/><Relationship Id="rId1" Type="http://schemas.openxmlformats.org/officeDocument/2006/relationships/notesMaster" Target="../notesMasters/notesMaster1.xml"/></Relationships>
</file>

<file path=ppt/notesSlides/_rels/notesSlide2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8.xml"/><Relationship Id="rId1" Type="http://schemas.openxmlformats.org/officeDocument/2006/relationships/notesMaster" Target="../notesMasters/notesMaster1.xml"/></Relationships>
</file>

<file path=ppt/notesSlides/_rels/notesSlide2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9.xml"/><Relationship Id="rId1" Type="http://schemas.openxmlformats.org/officeDocument/2006/relationships/notesMaster" Target="../notesMasters/notesMaster1.xml"/></Relationships>
</file>

<file path=ppt/notesSlides/_rels/notesSlide2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0.xml"/><Relationship Id="rId1" Type="http://schemas.openxmlformats.org/officeDocument/2006/relationships/notesMaster" Target="../notesMasters/notesMaster1.xml"/></Relationships>
</file>

<file path=ppt/notesSlides/_rels/notesSlide2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1.xml"/><Relationship Id="rId1" Type="http://schemas.openxmlformats.org/officeDocument/2006/relationships/notesMaster" Target="../notesMasters/notesMaster1.xml"/></Relationships>
</file>

<file path=ppt/notesSlides/_rels/notesSlide2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2.xml"/><Relationship Id="rId1" Type="http://schemas.openxmlformats.org/officeDocument/2006/relationships/notesMaster" Target="../notesMasters/notesMaster1.xml"/></Relationships>
</file>

<file path=ppt/notesSlides/_rels/notesSlide3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3.xml"/><Relationship Id="rId1" Type="http://schemas.openxmlformats.org/officeDocument/2006/relationships/notesMaster" Target="../notesMasters/notesMaster1.xml"/></Relationships>
</file>

<file path=ppt/notesSlides/_rels/notesSlide3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4.xml"/><Relationship Id="rId1" Type="http://schemas.openxmlformats.org/officeDocument/2006/relationships/notesMaster" Target="../notesMasters/notesMaster1.xml"/></Relationships>
</file>

<file path=ppt/notesSlides/_rels/notesSlide3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5.xml"/><Relationship Id="rId1" Type="http://schemas.openxmlformats.org/officeDocument/2006/relationships/notesMaster" Target="../notesMasters/notesMaster1.xml"/></Relationships>
</file>

<file path=ppt/notesSlides/_rels/notesSlide3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6.xml"/><Relationship Id="rId1" Type="http://schemas.openxmlformats.org/officeDocument/2006/relationships/notesMaster" Target="../notesMasters/notesMaster1.xml"/></Relationships>
</file>

<file path=ppt/notesSlides/_rels/notesSlide3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7.xml"/><Relationship Id="rId1" Type="http://schemas.openxmlformats.org/officeDocument/2006/relationships/notesMaster" Target="../notesMasters/notesMaster1.xml"/></Relationships>
</file>

<file path=ppt/notesSlides/_rels/notesSlide3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8.xml"/><Relationship Id="rId1" Type="http://schemas.openxmlformats.org/officeDocument/2006/relationships/notesMaster" Target="../notesMasters/notesMaster1.xml"/></Relationships>
</file>

<file path=ppt/notesSlides/_rels/notesSlide3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1.xml"/><Relationship Id="rId1" Type="http://schemas.openxmlformats.org/officeDocument/2006/relationships/notesMaster" Target="../notesMasters/notesMaster1.xml"/></Relationships>
</file>

<file path=ppt/notesSlides/_rels/notesSlide3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2.xml"/><Relationship Id="rId1" Type="http://schemas.openxmlformats.org/officeDocument/2006/relationships/notesMaster" Target="../notesMasters/notesMaster1.xml"/></Relationships>
</file>

<file path=ppt/notesSlides/_rels/notesSlide3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4.xml"/><Relationship Id="rId1" Type="http://schemas.openxmlformats.org/officeDocument/2006/relationships/notesMaster" Target="../notesMasters/notesMaster1.xml"/></Relationships>
</file>

<file path=ppt/notesSlides/_rels/notesSlide3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7.xml"/><Relationship Id="rId1" Type="http://schemas.openxmlformats.org/officeDocument/2006/relationships/notesMaster" Target="../notesMasters/notesMaster1.xml"/></Relationships>
</file>

<file path=ppt/notesSlides/_rels/notesSlide4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8.xml"/><Relationship Id="rId1" Type="http://schemas.openxmlformats.org/officeDocument/2006/relationships/notesMaster" Target="../notesMasters/notesMaster1.xml"/></Relationships>
</file>

<file path=ppt/notesSlides/_rels/notesSlide4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9.xml"/><Relationship Id="rId1" Type="http://schemas.openxmlformats.org/officeDocument/2006/relationships/notesMaster" Target="../notesMasters/notesMaster1.xml"/></Relationships>
</file>

<file path=ppt/notesSlides/_rels/notesSlide4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0.xml"/><Relationship Id="rId1" Type="http://schemas.openxmlformats.org/officeDocument/2006/relationships/notesMaster" Target="../notesMasters/notesMaster1.xml"/></Relationships>
</file>

<file path=ppt/notesSlides/_rels/notesSlide4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2.xml"/><Relationship Id="rId1" Type="http://schemas.openxmlformats.org/officeDocument/2006/relationships/notesMaster" Target="../notesMasters/notesMaster1.xml"/></Relationships>
</file>

<file path=ppt/notesSlides/_rels/notesSlide4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4.xml"/><Relationship Id="rId1" Type="http://schemas.openxmlformats.org/officeDocument/2006/relationships/notesMaster" Target="../notesMasters/notesMaster1.xml"/></Relationships>
</file>

<file path=ppt/notesSlides/_rels/notesSlide4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5.xml"/><Relationship Id="rId1" Type="http://schemas.openxmlformats.org/officeDocument/2006/relationships/notesMaster" Target="../notesMasters/notesMaster1.xml"/></Relationships>
</file>

<file path=ppt/notesSlides/_rels/notesSlide4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6.xml"/><Relationship Id="rId1" Type="http://schemas.openxmlformats.org/officeDocument/2006/relationships/notesMaster" Target="../notesMasters/notesMaster1.xml"/></Relationships>
</file>

<file path=ppt/notesSlides/_rels/notesSlide4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7.xml"/><Relationship Id="rId1" Type="http://schemas.openxmlformats.org/officeDocument/2006/relationships/notesMaster" Target="../notesMasters/notesMaster1.xml"/></Relationships>
</file>

<file path=ppt/notesSlides/_rels/notesSlide4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8.xml"/><Relationship Id="rId1" Type="http://schemas.openxmlformats.org/officeDocument/2006/relationships/notesMaster" Target="../notesMasters/notesMaster1.xml"/></Relationships>
</file>

<file path=ppt/notesSlides/_rels/notesSlide4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9.xml"/><Relationship Id="rId1" Type="http://schemas.openxmlformats.org/officeDocument/2006/relationships/notesMaster" Target="../notesMasters/notesMaster1.xml"/></Relationships>
</file>

<file path=ppt/notesSlides/_rels/notesSlide5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2.xml"/><Relationship Id="rId1" Type="http://schemas.openxmlformats.org/officeDocument/2006/relationships/notesMaster" Target="../notesMasters/notesMaster1.xml"/></Relationships>
</file>

<file path=ppt/notesSlides/_rels/notesSlide5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3.xml"/><Relationship Id="rId1" Type="http://schemas.openxmlformats.org/officeDocument/2006/relationships/notesMaster" Target="../notesMasters/notesMaster1.xml"/></Relationships>
</file>

<file path=ppt/notesSlides/_rels/notesSlide5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6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en-US" altLang="zh-CN" dirty="0"/>
          </a:p>
          <a:p>
            <a:endParaRPr kumimoji="1" lang="zh-CN" altLang="en-US" dirty="0"/>
          </a:p>
        </p:txBody>
      </p:sp>
      <p:sp>
        <p:nvSpPr>
          <p:cNvPr id="4" name="幻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AFADF04F-F2F9-486C-A752-12D4B1C511A4}" type="slidenum">
              <a:rPr kumimoji="0" lang="en-US" altLang="zh-C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SimHei" panose="02010609060101010101" pitchFamily="49" charset="-122"/>
                <a:cs typeface="+mn-cs"/>
              </a:rPr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1</a:t>
            </a:fld>
            <a:endParaRPr kumimoji="0" lang="en-US" altLang="zh-CN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charset="0"/>
              <a:ea typeface="SimHei" panose="02010609060101010101" pitchFamily="49" charset="-122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681313741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>
          <a:xfrm>
            <a:off x="992188" y="768350"/>
            <a:ext cx="5114925" cy="3836988"/>
          </a:xfrm>
        </p:spPr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CN" sz="120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>
              <a:defRPr/>
            </a:pPr>
            <a:fld id="{6143918E-A2CB-491E-8B36-A1C0952C99F6}" type="slidenum">
              <a:rPr lang="zh-CN" altLang="en-US" smtClean="0"/>
              <a:pPr>
                <a:defRPr/>
              </a:pPr>
              <a:t>2</a:t>
            </a:fld>
            <a:endParaRPr lang="en-US" altLang="zh-CN" dirty="0"/>
          </a:p>
        </p:txBody>
      </p:sp>
    </p:spTree>
    <p:extLst>
      <p:ext uri="{BB962C8B-B14F-4D97-AF65-F5344CB8AC3E}">
        <p14:creationId xmlns:p14="http://schemas.microsoft.com/office/powerpoint/2010/main" val="1028501389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>n: </a:t>
            </a:r>
            <a:r>
              <a:rPr lang="zh-CN" altLang="en-CN" dirty="0"/>
              <a:t>指令数</a:t>
            </a:r>
            <a:endParaRPr lang="en-US" altLang="zh-CN" dirty="0"/>
          </a:p>
          <a:p>
            <a:r>
              <a:rPr lang="en-CN" dirty="0"/>
              <a:t>(𝒌+𝒏−𝟏)𝚫𝐭</a:t>
            </a:r>
            <a:r>
              <a:rPr lang="zh-CN" altLang="en-US" dirty="0"/>
              <a:t>：周期数</a:t>
            </a:r>
            <a:endParaRPr lang="en-CN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8B46F709-C76F-40B1-9739-9B95F5471B01}" type="slidenum">
              <a:rPr lang="zh-CN" altLang="en-US" smtClean="0"/>
              <a:t>5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96640679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8B46F709-C76F-40B1-9739-9B95F5471B01}" type="slidenum">
              <a:rPr lang="zh-CN" altLang="en-US" smtClean="0"/>
              <a:t>8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2236590690"/>
      </p:ext>
    </p:extLst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200" kern="1200" dirty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R</a:t>
            </a:r>
            <a:r>
              <a:rPr lang="zh-CN" altLang="en-US" sz="1200" kern="1200" dirty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型指令</a:t>
            </a:r>
            <a:r>
              <a:rPr lang="en-US" sz="1200" kern="1200" dirty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ADD</a:t>
            </a:r>
            <a:r>
              <a:rPr lang="zh-CN" altLang="en-US" sz="1200" kern="1200" dirty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的</a:t>
            </a:r>
            <a:r>
              <a:rPr lang="en-US" sz="1200" kern="1200" dirty="0" err="1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ALUConf</a:t>
            </a:r>
            <a:r>
              <a:rPr lang="zh-CN" altLang="en-US" sz="1200" kern="1200" dirty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是在</a:t>
            </a:r>
            <a:r>
              <a:rPr lang="en-US" altLang="zh-CN" sz="1200" kern="1200" dirty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EX</a:t>
            </a:r>
            <a:r>
              <a:rPr lang="zh-CN" altLang="en-US" sz="1200" kern="1200" dirty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段根据</a:t>
            </a:r>
            <a:r>
              <a:rPr lang="en-US" altLang="zh-CN" sz="1200" kern="1200" dirty="0" err="1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funct</a:t>
            </a:r>
            <a:r>
              <a:rPr lang="zh-CN" altLang="en-US" sz="1200" kern="1200" dirty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和</a:t>
            </a:r>
            <a:r>
              <a:rPr lang="en-US" altLang="zh-CN" sz="1200" kern="1200" dirty="0" err="1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ALUOp</a:t>
            </a:r>
            <a:r>
              <a:rPr lang="zh-CN" altLang="en-US" sz="1200" kern="1200" dirty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解析的，</a:t>
            </a:r>
            <a:r>
              <a:rPr lang="en-US" altLang="zh-CN" sz="1200" kern="1200" dirty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ID</a:t>
            </a:r>
            <a:r>
              <a:rPr lang="zh-CN" altLang="en-US" sz="1200" kern="1200" dirty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只解析除了</a:t>
            </a:r>
            <a:r>
              <a:rPr lang="en-US" altLang="zh-CN" sz="1200" kern="1200" dirty="0" err="1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ALUOp</a:t>
            </a:r>
            <a:r>
              <a:rPr lang="zh-CN" altLang="en-US" sz="1200" kern="1200" dirty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，因此没有体现</a:t>
            </a:r>
            <a:r>
              <a:rPr lang="en-US" altLang="zh-CN" sz="1200" kern="1200" dirty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ALU</a:t>
            </a:r>
            <a:r>
              <a:rPr lang="zh-CN" altLang="en-US" sz="1200" kern="1200" dirty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的具体操作</a:t>
            </a:r>
            <a:endParaRPr lang="en-US" altLang="zh-CN" sz="1200" kern="1200" dirty="0">
              <a:solidFill>
                <a:schemeClr val="tx1"/>
              </a:solidFill>
              <a:effectLst/>
              <a:latin typeface="+mn-lt"/>
              <a:ea typeface="+mn-ea"/>
              <a:cs typeface="+mn-cs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lang="en-US" altLang="zh-CN" sz="1200" kern="1200" dirty="0">
              <a:solidFill>
                <a:schemeClr val="tx1"/>
              </a:solidFill>
              <a:effectLst/>
              <a:latin typeface="+mn-lt"/>
              <a:ea typeface="+mn-ea"/>
              <a:cs typeface="+mn-cs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zh-CN" altLang="en-US" sz="1800" b="0" i="0" u="none" strike="noStrike" baseline="0" dirty="0">
                <a:solidFill>
                  <a:srgbClr val="000000"/>
                </a:solidFill>
                <a:latin typeface="黑体" panose="02010609060101010101" pitchFamily="49" charset="-122"/>
                <a:ea typeface="黑体" panose="02010609060101010101" pitchFamily="49" charset="-122"/>
              </a:rPr>
              <a:t>根据</a:t>
            </a:r>
            <a:r>
              <a:rPr lang="en-US" altLang="zh-CN" sz="1800" b="0" i="0" u="none" strike="noStrike" baseline="0" dirty="0">
                <a:solidFill>
                  <a:srgbClr val="000000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opcode</a:t>
            </a:r>
            <a:r>
              <a:rPr lang="zh-CN" altLang="en-US" sz="1800" b="0" i="0" u="none" strike="noStrike" baseline="0" dirty="0">
                <a:solidFill>
                  <a:srgbClr val="000000"/>
                </a:solidFill>
                <a:latin typeface="黑体" panose="02010609060101010101" pitchFamily="49" charset="-122"/>
                <a:ea typeface="黑体" panose="02010609060101010101" pitchFamily="49" charset="-122"/>
              </a:rPr>
              <a:t>和</a:t>
            </a:r>
            <a:r>
              <a:rPr lang="en-US" altLang="zh-CN" sz="1800" b="0" i="0" u="none" strike="noStrike" baseline="0" dirty="0" err="1">
                <a:solidFill>
                  <a:srgbClr val="000000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funct</a:t>
            </a:r>
            <a:r>
              <a:rPr lang="zh-CN" altLang="en-US" sz="1800" b="0" i="0" u="none" strike="noStrike" baseline="0" dirty="0">
                <a:solidFill>
                  <a:srgbClr val="000000"/>
                </a:solidFill>
                <a:latin typeface="黑体" panose="02010609060101010101" pitchFamily="49" charset="-122"/>
                <a:ea typeface="黑体" panose="02010609060101010101" pitchFamily="49" charset="-122"/>
              </a:rPr>
              <a:t>，依次生成</a:t>
            </a:r>
            <a:r>
              <a:rPr lang="en-US" altLang="zh-CN" sz="1800" b="0" i="0" u="none" strike="noStrike" baseline="0" dirty="0" err="1">
                <a:solidFill>
                  <a:srgbClr val="000000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ALUOp</a:t>
            </a:r>
            <a:r>
              <a:rPr lang="zh-CN" altLang="en-US" sz="1800" b="0" i="0" u="none" strike="noStrike" baseline="0" dirty="0">
                <a:solidFill>
                  <a:srgbClr val="000000"/>
                </a:solidFill>
                <a:latin typeface="黑体" panose="02010609060101010101" pitchFamily="49" charset="-122"/>
                <a:ea typeface="黑体" panose="02010609060101010101" pitchFamily="49" charset="-122"/>
              </a:rPr>
              <a:t>和</a:t>
            </a:r>
            <a:r>
              <a:rPr lang="en-US" altLang="zh-CN" sz="1800" b="0" i="0" u="none" strike="noStrike" baseline="0" dirty="0">
                <a:solidFill>
                  <a:srgbClr val="000000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ALU</a:t>
            </a:r>
            <a:r>
              <a:rPr lang="zh-CN" altLang="en-US" sz="1800" b="0" i="0" u="none" strike="noStrike" baseline="0" dirty="0">
                <a:solidFill>
                  <a:srgbClr val="000000"/>
                </a:solidFill>
                <a:latin typeface="黑体" panose="02010609060101010101" pitchFamily="49" charset="-122"/>
                <a:ea typeface="黑体" panose="02010609060101010101" pitchFamily="49" charset="-122"/>
              </a:rPr>
              <a:t>控制码。当</a:t>
            </a:r>
            <a:r>
              <a:rPr lang="en-US" altLang="zh-CN" sz="1800" b="0" i="0" u="none" strike="noStrike" baseline="0" dirty="0" err="1">
                <a:solidFill>
                  <a:srgbClr val="000000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ALUOp</a:t>
            </a:r>
            <a:r>
              <a:rPr lang="zh-CN" altLang="en-US" sz="1800" b="0" i="0" u="none" strike="noStrike" baseline="0" dirty="0">
                <a:solidFill>
                  <a:srgbClr val="000000"/>
                </a:solidFill>
                <a:latin typeface="黑体" panose="02010609060101010101" pitchFamily="49" charset="-122"/>
                <a:ea typeface="黑体" panose="02010609060101010101" pitchFamily="49" charset="-122"/>
              </a:rPr>
              <a:t>为</a:t>
            </a:r>
            <a:r>
              <a:rPr lang="en-US" altLang="zh-CN" sz="1800" b="0" i="0" u="none" strike="noStrike" baseline="0" dirty="0">
                <a:solidFill>
                  <a:srgbClr val="000000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00</a:t>
            </a:r>
            <a:r>
              <a:rPr lang="zh-CN" altLang="en-US" sz="1800" b="0" i="0" u="none" strike="noStrike" baseline="0" dirty="0">
                <a:solidFill>
                  <a:srgbClr val="000000"/>
                </a:solidFill>
                <a:latin typeface="黑体" panose="02010609060101010101" pitchFamily="49" charset="-122"/>
                <a:ea typeface="黑体" panose="02010609060101010101" pitchFamily="49" charset="-122"/>
              </a:rPr>
              <a:t>或</a:t>
            </a:r>
            <a:r>
              <a:rPr lang="en-US" altLang="zh-CN" sz="1800" b="0" i="0" u="none" strike="noStrike" baseline="0" dirty="0">
                <a:solidFill>
                  <a:srgbClr val="000000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01</a:t>
            </a:r>
            <a:r>
              <a:rPr lang="zh-CN" altLang="en-US" sz="1800" b="0" i="0" u="none" strike="noStrike" baseline="0" dirty="0">
                <a:solidFill>
                  <a:srgbClr val="000000"/>
                </a:solidFill>
                <a:latin typeface="黑体" panose="02010609060101010101" pitchFamily="49" charset="-122"/>
                <a:ea typeface="黑体" panose="02010609060101010101" pitchFamily="49" charset="-122"/>
              </a:rPr>
              <a:t>时，</a:t>
            </a:r>
            <a:r>
              <a:rPr lang="en-US" altLang="zh-CN" sz="1800" b="0" i="0" u="none" strike="noStrike" baseline="0" dirty="0">
                <a:solidFill>
                  <a:srgbClr val="000000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ALU</a:t>
            </a:r>
            <a:r>
              <a:rPr lang="zh-CN" altLang="en-US" sz="1800" b="0" i="0" u="none" strike="noStrike" baseline="0" dirty="0">
                <a:solidFill>
                  <a:srgbClr val="000000"/>
                </a:solidFill>
                <a:latin typeface="黑体" panose="02010609060101010101" pitchFamily="49" charset="-122"/>
                <a:ea typeface="黑体" panose="02010609060101010101" pitchFamily="49" charset="-122"/>
              </a:rPr>
              <a:t>控制码由</a:t>
            </a:r>
            <a:r>
              <a:rPr lang="en-US" altLang="zh-CN" sz="1800" b="0" i="0" u="none" strike="noStrike" baseline="0" dirty="0" err="1">
                <a:solidFill>
                  <a:srgbClr val="000000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ALUOp</a:t>
            </a:r>
            <a:r>
              <a:rPr lang="zh-CN" altLang="en-US" sz="1800" b="0" i="0" u="none" strike="noStrike" baseline="0" dirty="0">
                <a:solidFill>
                  <a:srgbClr val="000000"/>
                </a:solidFill>
                <a:latin typeface="黑体" panose="02010609060101010101" pitchFamily="49" charset="-122"/>
                <a:ea typeface="黑体" panose="02010609060101010101" pitchFamily="49" charset="-122"/>
              </a:rPr>
              <a:t>确定；当</a:t>
            </a:r>
            <a:r>
              <a:rPr lang="en-US" altLang="zh-CN" sz="1800" b="0" i="0" u="none" strike="noStrike" baseline="0" dirty="0" err="1">
                <a:solidFill>
                  <a:srgbClr val="000000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ALUOp</a:t>
            </a:r>
            <a:r>
              <a:rPr lang="zh-CN" altLang="en-US" sz="1800" b="0" i="0" u="none" strike="noStrike" baseline="0" dirty="0">
                <a:solidFill>
                  <a:srgbClr val="000000"/>
                </a:solidFill>
                <a:latin typeface="黑体" panose="02010609060101010101" pitchFamily="49" charset="-122"/>
                <a:ea typeface="黑体" panose="02010609060101010101" pitchFamily="49" charset="-122"/>
              </a:rPr>
              <a:t>为</a:t>
            </a:r>
            <a:r>
              <a:rPr lang="en-US" altLang="zh-CN" sz="1800" b="0" i="0" u="none" strike="noStrike" baseline="0" dirty="0">
                <a:solidFill>
                  <a:srgbClr val="000000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10</a:t>
            </a:r>
            <a:r>
              <a:rPr lang="zh-CN" altLang="en-US" sz="1800" b="0" i="0" u="none" strike="noStrike" baseline="0" dirty="0">
                <a:solidFill>
                  <a:srgbClr val="000000"/>
                </a:solidFill>
                <a:latin typeface="黑体" panose="02010609060101010101" pitchFamily="49" charset="-122"/>
                <a:ea typeface="黑体" panose="02010609060101010101" pitchFamily="49" charset="-122"/>
              </a:rPr>
              <a:t>时，</a:t>
            </a:r>
            <a:r>
              <a:rPr lang="en-US" altLang="zh-CN" sz="1800" b="0" i="0" u="none" strike="noStrike" baseline="0" dirty="0">
                <a:solidFill>
                  <a:srgbClr val="000000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ALU</a:t>
            </a:r>
            <a:r>
              <a:rPr lang="zh-CN" altLang="en-US" sz="1800" b="0" i="0" u="none" strike="noStrike" baseline="0" dirty="0">
                <a:solidFill>
                  <a:srgbClr val="000000"/>
                </a:solidFill>
                <a:latin typeface="黑体" panose="02010609060101010101" pitchFamily="49" charset="-122"/>
                <a:ea typeface="黑体" panose="02010609060101010101" pitchFamily="49" charset="-122"/>
              </a:rPr>
              <a:t>控制码由</a:t>
            </a:r>
            <a:r>
              <a:rPr lang="en-US" altLang="zh-CN" sz="1800" b="0" i="0" u="none" strike="noStrike" baseline="0" dirty="0" err="1">
                <a:solidFill>
                  <a:srgbClr val="000000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funct</a:t>
            </a:r>
            <a:r>
              <a:rPr lang="zh-CN" altLang="en-US" sz="1800" b="0" i="0" u="none" strike="noStrike" baseline="0" dirty="0">
                <a:solidFill>
                  <a:srgbClr val="000000"/>
                </a:solidFill>
                <a:latin typeface="黑体" panose="02010609060101010101" pitchFamily="49" charset="-122"/>
                <a:ea typeface="黑体" panose="02010609060101010101" pitchFamily="49" charset="-122"/>
              </a:rPr>
              <a:t>进一步确定。 </a:t>
            </a:r>
            <a:endParaRPr lang="en-CN" sz="1200" kern="1200" dirty="0">
              <a:solidFill>
                <a:schemeClr val="tx1"/>
              </a:solidFill>
              <a:effectLst/>
              <a:latin typeface="+mn-lt"/>
              <a:ea typeface="+mn-ea"/>
              <a:cs typeface="+mn-cs"/>
            </a:endParaRPr>
          </a:p>
          <a:p>
            <a:endParaRPr lang="en-US" altLang="zh-CN" dirty="0"/>
          </a:p>
          <a:p>
            <a:r>
              <a:rPr lang="zh-CN" altLang="en-US" dirty="0"/>
              <a:t>注意，之前有同学说</a:t>
            </a:r>
            <a:r>
              <a:rPr lang="en-US" altLang="zh-CN" dirty="0" err="1"/>
              <a:t>RegDst</a:t>
            </a:r>
            <a:r>
              <a:rPr lang="zh-CN" altLang="en-US" dirty="0"/>
              <a:t>应该传到</a:t>
            </a:r>
            <a:r>
              <a:rPr lang="en-US" altLang="zh-CN" dirty="0"/>
              <a:t>WB</a:t>
            </a:r>
            <a:r>
              <a:rPr lang="zh-CN" altLang="en-US" dirty="0"/>
              <a:t>阶段，其实不用，因为这里的</a:t>
            </a:r>
            <a:r>
              <a:rPr lang="en-US" altLang="zh-CN" dirty="0" err="1"/>
              <a:t>RegDst</a:t>
            </a:r>
            <a:r>
              <a:rPr lang="zh-CN" altLang="en-US" dirty="0"/>
              <a:t>指的是流水线的</a:t>
            </a:r>
            <a:r>
              <a:rPr lang="en-US" altLang="zh-CN" dirty="0"/>
              <a:t>EX</a:t>
            </a:r>
            <a:r>
              <a:rPr lang="zh-CN" altLang="en-US" dirty="0"/>
              <a:t>阶段选择写哪个寄存器的</a:t>
            </a:r>
            <a:r>
              <a:rPr lang="en-US" altLang="zh-CN" dirty="0"/>
              <a:t>MUX</a:t>
            </a:r>
            <a:r>
              <a:rPr lang="zh-CN" altLang="en-US" dirty="0"/>
              <a:t>的控制信号，而不是真正的存的寄存器的序号，因此不用传到最后，这个序号一直在级间寄存器里保存。</a:t>
            </a:r>
            <a:endParaRPr lang="en-CN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8B46F709-C76F-40B1-9739-9B95F5471B01}" type="slidenum">
              <a:rPr lang="zh-CN" altLang="en-US" smtClean="0"/>
              <a:t>9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2797836716"/>
      </p:ext>
    </p:extLst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marR="0" indent="0" algn="just" defTabSz="914400" rtl="0" eaLnBrk="0" fontAlgn="base" latinLnBrk="0" hangingPunct="0">
              <a:lnSpc>
                <a:spcPct val="90000"/>
              </a:lnSpc>
              <a:spcBef>
                <a:spcPct val="4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zh-CN" altLang="en-US" sz="1200" baseline="0" dirty="0"/>
              <a:t>在流水线设计中，我们一直会用到下面这个表格，它表示了不同的指令在不同的流水线级上完成的工作。不同的行表示不同的流水级，不同的列表示不同的指令。</a:t>
            </a:r>
            <a:endParaRPr lang="en-US" altLang="zh-CN" sz="1200" baseline="0" dirty="0"/>
          </a:p>
          <a:p>
            <a:pPr marL="0" marR="0" indent="0" algn="just" defTabSz="914400" rtl="0" eaLnBrk="0" fontAlgn="base" latinLnBrk="0" hangingPunct="0">
              <a:lnSpc>
                <a:spcPct val="90000"/>
              </a:lnSpc>
              <a:spcBef>
                <a:spcPct val="4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lang="en-US" altLang="zh-CN" sz="1200" baseline="0" dirty="0"/>
          </a:p>
          <a:p>
            <a:pPr marL="0" marR="0" indent="0" algn="just" defTabSz="914400" rtl="0" eaLnBrk="0" fontAlgn="base" latinLnBrk="0" hangingPunct="0">
              <a:lnSpc>
                <a:spcPct val="90000"/>
              </a:lnSpc>
              <a:spcBef>
                <a:spcPct val="4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zh-CN" altLang="en-US" sz="1200" baseline="0" dirty="0"/>
              <a:t>在这个表格中，不在一行但使用相同资源的操作就可能引起结构冒险。这里的资源指的不是单纯的寄存器或指令存储器，而是寄存器的读写口和指令存储器的读口。如果寄存器的设计中有两个写口，那么这里的写冲突问题就不存在。</a:t>
            </a:r>
            <a:endParaRPr lang="en-US" altLang="zh-CN" sz="1200" baseline="0" dirty="0"/>
          </a:p>
          <a:p>
            <a:pPr marL="0" marR="0" indent="0" algn="just" defTabSz="914400" rtl="0" eaLnBrk="0" fontAlgn="base" latinLnBrk="0" hangingPunct="0">
              <a:lnSpc>
                <a:spcPct val="90000"/>
              </a:lnSpc>
              <a:spcBef>
                <a:spcPct val="4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lang="en-US" altLang="zh-CN" sz="1200" baseline="0" dirty="0"/>
          </a:p>
          <a:p>
            <a:pPr marL="0" marR="0" indent="0" algn="just" defTabSz="914400" rtl="0" eaLnBrk="0" fontAlgn="base" latinLnBrk="0" hangingPunct="0">
              <a:lnSpc>
                <a:spcPct val="90000"/>
              </a:lnSpc>
              <a:spcBef>
                <a:spcPct val="4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zh-CN" altLang="en-US" dirty="0"/>
              <a:t>这里我们按照上一页讲的进行修改，是不是就没有资源冒险了呢？</a:t>
            </a:r>
            <a:endParaRPr lang="en-US" altLang="zh-CN" dirty="0"/>
          </a:p>
          <a:p>
            <a:pPr marL="0" marR="0" indent="0" algn="just" defTabSz="914400" rtl="0" eaLnBrk="0" fontAlgn="base" latinLnBrk="0" hangingPunct="0">
              <a:lnSpc>
                <a:spcPct val="90000"/>
              </a:lnSpc>
              <a:spcBef>
                <a:spcPct val="4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zh-CN" altLang="en-US" dirty="0"/>
              <a:t>注意到</a:t>
            </a:r>
            <a:r>
              <a:rPr lang="en-US" altLang="zh-CN" dirty="0"/>
              <a:t>PC</a:t>
            </a:r>
            <a:r>
              <a:rPr lang="zh-CN" altLang="en-US" dirty="0"/>
              <a:t>也有冲突，事实上这是后面我们会提到的控制冒险。</a:t>
            </a:r>
          </a:p>
          <a:p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8B46F709-C76F-40B1-9739-9B95F5471B01}" type="slidenum">
              <a:rPr lang="zh-CN" altLang="en-US" smtClean="0"/>
              <a:t>13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2986267105"/>
      </p:ext>
    </p:extLst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zh-CN" altLang="en-US" dirty="0"/>
              <a:t>指令格式不完整</a:t>
            </a:r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8B46F709-C76F-40B1-9739-9B95F5471B01}" type="slidenum">
              <a:rPr lang="zh-CN" altLang="en-US" smtClean="0"/>
              <a:t>15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203822729"/>
      </p:ext>
    </p:extLst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43BC7509-23FA-40FA-8415-DBE86E406177}" type="slidenum">
              <a:rPr lang="zh-CN" altLang="en-US" smtClean="0"/>
              <a:t>16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400198255"/>
      </p:ext>
    </p:extLst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43BC7509-23FA-40FA-8415-DBE86E406177}" type="slidenum">
              <a:rPr lang="zh-CN" altLang="en-US" smtClean="0"/>
              <a:t>17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059869852"/>
      </p:ext>
    </p:extLst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43BC7509-23FA-40FA-8415-DBE86E406177}" type="slidenum">
              <a:rPr lang="zh-CN" altLang="en-US" smtClean="0"/>
              <a:t>18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4150751138"/>
      </p:ext>
    </p:extLst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zh-CN" altLang="en-US" dirty="0"/>
              <a:t>增加图注</a:t>
            </a:r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43BC7509-23FA-40FA-8415-DBE86E406177}" type="slidenum">
              <a:rPr lang="zh-CN" altLang="en-US" smtClean="0"/>
              <a:t>19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2006274992"/>
      </p:ext>
    </p:extLst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zh-CN" altLang="en-CN" dirty="0"/>
              <a:t>问题</a:t>
            </a:r>
            <a:r>
              <a:rPr lang="zh-CN" altLang="en-US" dirty="0"/>
              <a:t>：</a:t>
            </a:r>
            <a:r>
              <a:rPr lang="zh-CN" altLang="en-US" sz="1200" kern="1200" dirty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这个的控制是如何实现的？用寄存器存放写入的地址并与之后的指令的读出地址比较，还是在编译时提前确定</a:t>
            </a:r>
            <a:endParaRPr lang="en-CN" sz="1200" kern="1200" dirty="0">
              <a:solidFill>
                <a:schemeClr val="tx1"/>
              </a:solidFill>
              <a:effectLst/>
              <a:latin typeface="+mn-lt"/>
              <a:ea typeface="+mn-ea"/>
              <a:cs typeface="+mn-cs"/>
            </a:endParaRPr>
          </a:p>
          <a:p>
            <a:endParaRPr lang="en-CN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8B46F709-C76F-40B1-9739-9B95F5471B01}" type="slidenum">
              <a:rPr lang="zh-CN" altLang="en-US" smtClean="0"/>
              <a:t>21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639931462"/>
      </p:ext>
    </p:extLst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eaLnBrk="1" hangingPunct="1"/>
            <a:r>
              <a:rPr lang="zh-CN" altLang="en-US" dirty="0">
                <a:latin typeface="Arial" pitchFamily="34" charset="0"/>
              </a:rPr>
              <a:t>找到最早能够得到结果的位置，那么之后的计算使用数据至少在它之后。</a:t>
            </a:r>
            <a:endParaRPr lang="en-US" altLang="zh-CN" dirty="0">
              <a:latin typeface="Arial" pitchFamily="34" charset="0"/>
            </a:endParaRPr>
          </a:p>
          <a:p>
            <a:pPr eaLnBrk="1" hangingPunct="1"/>
            <a:r>
              <a:rPr lang="zh-CN" altLang="en-US" dirty="0">
                <a:latin typeface="Arial" pitchFamily="34" charset="0"/>
              </a:rPr>
              <a:t>这里我们看到在</a:t>
            </a:r>
            <a:r>
              <a:rPr lang="en-US" altLang="zh-CN" dirty="0">
                <a:latin typeface="Arial" pitchFamily="34" charset="0"/>
              </a:rPr>
              <a:t>ALU</a:t>
            </a:r>
            <a:r>
              <a:rPr lang="zh-CN" altLang="en-US" dirty="0">
                <a:latin typeface="Arial" pitchFamily="34" charset="0"/>
              </a:rPr>
              <a:t>的输出和输入接入反向数据通路，可以保证不插入</a:t>
            </a:r>
            <a:r>
              <a:rPr lang="en-US" altLang="zh-CN" dirty="0">
                <a:latin typeface="Arial" pitchFamily="34" charset="0"/>
              </a:rPr>
              <a:t>stall</a:t>
            </a:r>
          </a:p>
          <a:p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8B46F709-C76F-40B1-9739-9B95F5471B01}" type="slidenum">
              <a:rPr lang="zh-CN" altLang="en-US" smtClean="0"/>
              <a:t>23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229832908"/>
      </p:ext>
    </p:extLst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marR="0" indent="0" algn="just" defTabSz="914400" rtl="0" eaLnBrk="0" fontAlgn="base" latinLnBrk="0" hangingPunct="0">
              <a:lnSpc>
                <a:spcPct val="90000"/>
              </a:lnSpc>
              <a:spcBef>
                <a:spcPct val="4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zh-CN" altLang="en-US" dirty="0"/>
              <a:t>因此在这里，需要对操作数</a:t>
            </a:r>
            <a:r>
              <a:rPr lang="en-US" altLang="zh-CN" dirty="0"/>
              <a:t>A</a:t>
            </a:r>
            <a:r>
              <a:rPr lang="zh-CN" altLang="en-US" dirty="0"/>
              <a:t>和</a:t>
            </a:r>
            <a:r>
              <a:rPr lang="en-US" altLang="zh-CN" dirty="0"/>
              <a:t>B</a:t>
            </a:r>
            <a:r>
              <a:rPr lang="zh-CN" altLang="en-US" dirty="0"/>
              <a:t>进行选择，从</a:t>
            </a:r>
            <a:r>
              <a:rPr lang="en-US" altLang="zh-CN" dirty="0"/>
              <a:t>EX/MEM</a:t>
            </a:r>
            <a:r>
              <a:rPr lang="zh-CN" altLang="en-US" dirty="0"/>
              <a:t>以及</a:t>
            </a:r>
            <a:r>
              <a:rPr lang="en-US" altLang="zh-CN" dirty="0"/>
              <a:t>MEM/WB</a:t>
            </a:r>
            <a:r>
              <a:rPr lang="zh-CN" altLang="en-US" dirty="0"/>
              <a:t>两个阶段取数然后通过多路选择器选择需要的数据。</a:t>
            </a:r>
            <a:endParaRPr lang="en-US" altLang="zh-CN" dirty="0"/>
          </a:p>
          <a:p>
            <a:pPr marL="0" marR="0" indent="0" algn="just" defTabSz="914400" rtl="0" eaLnBrk="0" fontAlgn="base" latinLnBrk="0" hangingPunct="0">
              <a:lnSpc>
                <a:spcPct val="90000"/>
              </a:lnSpc>
              <a:spcBef>
                <a:spcPct val="4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lang="en-US" altLang="zh-CN" dirty="0"/>
          </a:p>
          <a:p>
            <a:pPr marL="0" marR="0" indent="0" algn="just" defTabSz="914400" rtl="0" eaLnBrk="0" fontAlgn="base" latinLnBrk="0" hangingPunct="0">
              <a:lnSpc>
                <a:spcPct val="90000"/>
              </a:lnSpc>
              <a:spcBef>
                <a:spcPct val="4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altLang="zh-CN" dirty="0"/>
              <a:t>A</a:t>
            </a:r>
            <a:r>
              <a:rPr lang="zh-CN" altLang="en-US" dirty="0"/>
              <a:t>或者</a:t>
            </a:r>
            <a:r>
              <a:rPr lang="en-US" altLang="zh-CN" dirty="0"/>
              <a:t>B</a:t>
            </a:r>
            <a:r>
              <a:rPr lang="zh-CN" altLang="en-US" dirty="0"/>
              <a:t>可能是红色部分</a:t>
            </a:r>
          </a:p>
          <a:p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8B46F709-C76F-40B1-9739-9B95F5471B01}" type="slidenum">
              <a:rPr lang="zh-CN" altLang="en-US" smtClean="0"/>
              <a:t>25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958324693"/>
      </p:ext>
    </p:extLst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zh-CN" altLang="en-US" dirty="0"/>
              <a:t>一个周期内，需要写入到寄存器堆的数据，可以</a:t>
            </a:r>
            <a:r>
              <a:rPr lang="en-US" altLang="zh-CN" dirty="0"/>
              <a:t>forwarding</a:t>
            </a:r>
            <a:r>
              <a:rPr lang="zh-CN" altLang="en-US" dirty="0"/>
              <a:t>到寄存器堆的读取端口，</a:t>
            </a:r>
            <a:endParaRPr lang="en-US" altLang="zh-CN" dirty="0"/>
          </a:p>
          <a:p>
            <a:r>
              <a:rPr lang="zh-CN" altLang="en-US" dirty="0"/>
              <a:t>对于寄存器堆外部，相当于一个周期内，先写入，然后再读取。</a:t>
            </a:r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8B46F709-C76F-40B1-9739-9B95F5471B01}" type="slidenum">
              <a:rPr lang="zh-CN" altLang="en-US" smtClean="0"/>
              <a:t>26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233217726"/>
      </p:ext>
    </p:extLst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altLang="zh-CN" dirty="0"/>
              <a:t>EXE MDR </a:t>
            </a:r>
            <a:r>
              <a:rPr lang="zh-CN" altLang="en-US" dirty="0"/>
              <a:t>两个列都有</a:t>
            </a:r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8B46F709-C76F-40B1-9739-9B95F5471B01}" type="slidenum">
              <a:rPr lang="zh-CN" altLang="en-US" smtClean="0"/>
              <a:t>31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2172766807"/>
      </p:ext>
    </p:extLst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>L</a:t>
            </a:r>
            <a:r>
              <a:rPr lang="en-CN" dirty="0"/>
              <a:t>oad</a:t>
            </a:r>
            <a:r>
              <a:rPr lang="zh-CN" altLang="en-CN" dirty="0"/>
              <a:t>之后</a:t>
            </a:r>
            <a:r>
              <a:rPr lang="zh-CN" altLang="en-US" dirty="0"/>
              <a:t>立即使用，</a:t>
            </a:r>
            <a:r>
              <a:rPr lang="zh-CN" altLang="en-CN" dirty="0"/>
              <a:t>会阻塞</a:t>
            </a:r>
            <a:endParaRPr lang="en-US" altLang="zh-CN" dirty="0"/>
          </a:p>
          <a:p>
            <a:r>
              <a:rPr lang="zh-CN" altLang="en-CN" dirty="0"/>
              <a:t>把其他的</a:t>
            </a:r>
            <a:r>
              <a:rPr lang="zh-CN" altLang="en-US" dirty="0"/>
              <a:t>不阻塞的操作插入，可以腾出时间</a:t>
            </a:r>
            <a:endParaRPr lang="en-CN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8B46F709-C76F-40B1-9739-9B95F5471B01}" type="slidenum">
              <a:rPr lang="zh-CN" altLang="en-US" smtClean="0"/>
              <a:t>33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2624651799"/>
      </p:ext>
    </p:extLst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altLang="zh-CN" sz="1200" dirty="0">
                <a:solidFill>
                  <a:srgbClr val="00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  <a:sym typeface="Microsoft Yahei" panose="020B0503020204020204" pitchFamily="34" charset="-122"/>
              </a:rPr>
              <a:t>C. WB</a:t>
            </a:r>
            <a:r>
              <a:rPr lang="zh-CN" altLang="en-US" sz="1200" dirty="0">
                <a:solidFill>
                  <a:srgbClr val="00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  <a:sym typeface="Microsoft Yahei" panose="020B0503020204020204" pitchFamily="34" charset="-122"/>
              </a:rPr>
              <a:t>之后，已经写入的数据已经存在了寄存器堆之中，如果寄存器堆支持“先写后读的操作”，</a:t>
            </a:r>
            <a:r>
              <a:rPr lang="en-US" altLang="zh-CN" sz="1200" dirty="0">
                <a:solidFill>
                  <a:srgbClr val="00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  <a:sym typeface="Microsoft Yahei" panose="020B0503020204020204" pitchFamily="34" charset="-122"/>
              </a:rPr>
              <a:t>ALU</a:t>
            </a:r>
            <a:r>
              <a:rPr lang="zh-CN" altLang="en-US" sz="1200" dirty="0">
                <a:solidFill>
                  <a:srgbClr val="00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  <a:sym typeface="Microsoft Yahei" panose="020B0503020204020204" pitchFamily="34" charset="-122"/>
              </a:rPr>
              <a:t>的操作数直接从寄存器堆读取就好了。而且</a:t>
            </a:r>
            <a:r>
              <a:rPr lang="en-US" altLang="zh-CN" sz="1200" dirty="0">
                <a:solidFill>
                  <a:srgbClr val="00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  <a:sym typeface="Microsoft Yahei" panose="020B0503020204020204" pitchFamily="34" charset="-122"/>
              </a:rPr>
              <a:t>WB</a:t>
            </a:r>
            <a:r>
              <a:rPr lang="zh-CN" altLang="en-US" sz="1200" dirty="0">
                <a:solidFill>
                  <a:srgbClr val="00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  <a:sym typeface="Microsoft Yahei" panose="020B0503020204020204" pitchFamily="34" charset="-122"/>
              </a:rPr>
              <a:t>之后已经没有流水线寄存器了，也无法实现转发。</a:t>
            </a:r>
            <a:endParaRPr lang="en-US" altLang="zh-CN" sz="1200" dirty="0">
              <a:solidFill>
                <a:srgbClr val="000000"/>
              </a:solidFill>
              <a:latin typeface="Microsoft Yahei" panose="020B0503020204020204" pitchFamily="34" charset="-122"/>
              <a:ea typeface="Microsoft Yahei" panose="020B0503020204020204" pitchFamily="34" charset="-122"/>
              <a:sym typeface="Microsoft Yahei" panose="020B0503020204020204" pitchFamily="34" charset="-122"/>
            </a:endParaRPr>
          </a:p>
          <a:p>
            <a:endParaRPr lang="en-US" altLang="zh-CN" sz="1200" dirty="0">
              <a:solidFill>
                <a:srgbClr val="000000"/>
              </a:solidFill>
              <a:latin typeface="Microsoft Yahei" panose="020B0503020204020204" pitchFamily="34" charset="-122"/>
              <a:ea typeface="Microsoft Yahei" panose="020B0503020204020204" pitchFamily="34" charset="-122"/>
              <a:sym typeface="Microsoft Yahei" panose="020B0503020204020204" pitchFamily="34" charset="-122"/>
            </a:endParaRPr>
          </a:p>
          <a:p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8B46F709-C76F-40B1-9739-9B95F5471B01}" type="slidenum">
              <a:rPr lang="zh-CN" altLang="en-US" smtClean="0"/>
              <a:t>36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942744789"/>
      </p:ext>
    </p:extLst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43BC7509-23FA-40FA-8415-DBE86E406177}" type="slidenum">
              <a:rPr lang="zh-CN" altLang="en-US" smtClean="0"/>
              <a:t>38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2620568914"/>
      </p:ext>
    </p:extLst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marR="0" indent="0" algn="just" defTabSz="914400" rtl="0" eaLnBrk="0" fontAlgn="base" latinLnBrk="0" hangingPunct="0">
              <a:lnSpc>
                <a:spcPct val="90000"/>
              </a:lnSpc>
              <a:spcBef>
                <a:spcPct val="4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zh-CN" altLang="en-US" sz="1200" baseline="0" dirty="0"/>
              <a:t>在流水线设计中，我们一直会用到下面这个表格，它表示了不同的指令在不同的流水线级上完成的工作。不同的行表示不同的流水级，不同的列表示不同的指令。</a:t>
            </a:r>
            <a:endParaRPr lang="en-US" altLang="zh-CN" sz="1200" baseline="0" dirty="0"/>
          </a:p>
          <a:p>
            <a:pPr marL="0" marR="0" indent="0" algn="just" defTabSz="914400" rtl="0" eaLnBrk="0" fontAlgn="base" latinLnBrk="0" hangingPunct="0">
              <a:lnSpc>
                <a:spcPct val="90000"/>
              </a:lnSpc>
              <a:spcBef>
                <a:spcPct val="4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lang="en-US" altLang="zh-CN" sz="1200" baseline="0" dirty="0"/>
          </a:p>
          <a:p>
            <a:pPr marL="0" marR="0" indent="0" algn="just" defTabSz="914400" rtl="0" eaLnBrk="0" fontAlgn="base" latinLnBrk="0" hangingPunct="0">
              <a:lnSpc>
                <a:spcPct val="90000"/>
              </a:lnSpc>
              <a:spcBef>
                <a:spcPct val="4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zh-CN" altLang="en-US" sz="1200" baseline="0" dirty="0"/>
              <a:t>在这个表格中，不在一行但使用相同资源的操作就可能引起结构冒险。这里的资源指的不是单纯的寄存器或指令存储器，而是寄存器的读写口和指令存储器的读口。如果寄存器的设计中有两个写口，那么这里的写冲突问题就不存在。</a:t>
            </a:r>
            <a:endParaRPr lang="en-US" altLang="zh-CN" sz="1200" baseline="0" dirty="0"/>
          </a:p>
          <a:p>
            <a:pPr marL="0" marR="0" indent="0" algn="just" defTabSz="914400" rtl="0" eaLnBrk="0" fontAlgn="base" latinLnBrk="0" hangingPunct="0">
              <a:lnSpc>
                <a:spcPct val="90000"/>
              </a:lnSpc>
              <a:spcBef>
                <a:spcPct val="4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lang="en-US" altLang="zh-CN" sz="1200" baseline="0" dirty="0"/>
          </a:p>
          <a:p>
            <a:pPr marL="0" marR="0" indent="0" algn="just" defTabSz="914400" rtl="0" eaLnBrk="0" fontAlgn="base" latinLnBrk="0" hangingPunct="0">
              <a:lnSpc>
                <a:spcPct val="90000"/>
              </a:lnSpc>
              <a:spcBef>
                <a:spcPct val="4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zh-CN" altLang="en-US" dirty="0"/>
              <a:t>这里我们按照上一页讲的进行修改，是不是就没有资源冒险了呢？</a:t>
            </a:r>
            <a:endParaRPr lang="en-US" altLang="zh-CN" dirty="0"/>
          </a:p>
          <a:p>
            <a:pPr marL="0" marR="0" indent="0" algn="just" defTabSz="914400" rtl="0" eaLnBrk="0" fontAlgn="base" latinLnBrk="0" hangingPunct="0">
              <a:lnSpc>
                <a:spcPct val="90000"/>
              </a:lnSpc>
              <a:spcBef>
                <a:spcPct val="4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zh-CN" altLang="en-US" dirty="0"/>
              <a:t>注意到</a:t>
            </a:r>
            <a:r>
              <a:rPr lang="en-US" altLang="zh-CN" dirty="0"/>
              <a:t>PC</a:t>
            </a:r>
            <a:r>
              <a:rPr lang="zh-CN" altLang="en-US" dirty="0"/>
              <a:t>也有冲突，事实上这是后面我们会提到的控制冒险。</a:t>
            </a:r>
          </a:p>
          <a:p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8B46F709-C76F-40B1-9739-9B95F5471B01}" type="slidenum">
              <a:rPr lang="zh-CN" altLang="en-US" smtClean="0"/>
              <a:t>39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2986267105"/>
      </p:ext>
    </p:extLst>
  </p:cSld>
  <p:clrMapOvr>
    <a:masterClrMapping/>
  </p:clrMapOvr>
</p:notes>
</file>

<file path=ppt/notesSlides/notesSlide2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43BC7509-23FA-40FA-8415-DBE86E406177}" type="slidenum">
              <a:rPr lang="zh-CN" altLang="en-US" smtClean="0"/>
              <a:t>51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2363721630"/>
      </p:ext>
    </p:extLst>
  </p:cSld>
  <p:clrMapOvr>
    <a:masterClrMapping/>
  </p:clrMapOvr>
</p:notes>
</file>

<file path=ppt/notesSlides/notesSlide2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altLang="zh-CN" dirty="0">
                <a:latin typeface="Arial" pitchFamily="34" charset="0"/>
              </a:rPr>
              <a:t>138bit + control bits</a:t>
            </a:r>
            <a:endParaRPr lang="en-US" altLang="zh-CN" dirty="0"/>
          </a:p>
          <a:p>
            <a:endParaRPr lang="en-US" altLang="zh-CN" dirty="0"/>
          </a:p>
          <a:p>
            <a:r>
              <a:rPr lang="en-US" altLang="zh-CN" dirty="0"/>
              <a:t>IF/ID: 32*2=64</a:t>
            </a:r>
          </a:p>
          <a:p>
            <a:r>
              <a:rPr lang="en-US" altLang="zh-CN" dirty="0"/>
              <a:t>ID/EX: 32*4 + 5(reg </a:t>
            </a:r>
            <a:r>
              <a:rPr lang="en-US" altLang="zh-CN" dirty="0" err="1"/>
              <a:t>dst</a:t>
            </a:r>
            <a:r>
              <a:rPr lang="en-US" altLang="zh-CN" dirty="0"/>
              <a:t>)*2 = 138</a:t>
            </a:r>
          </a:p>
          <a:p>
            <a:r>
              <a:rPr lang="en-US" altLang="zh-CN" dirty="0"/>
              <a:t>EX/MEM: 32*3 + 1(Zero) + 5(reg</a:t>
            </a:r>
            <a:r>
              <a:rPr lang="zh-CN" altLang="en-US" dirty="0"/>
              <a:t> </a:t>
            </a:r>
            <a:r>
              <a:rPr lang="en-US" altLang="zh-CN" dirty="0" err="1"/>
              <a:t>dst</a:t>
            </a:r>
            <a:r>
              <a:rPr lang="en-US" altLang="zh-CN" dirty="0"/>
              <a:t>)= 102</a:t>
            </a:r>
          </a:p>
          <a:p>
            <a:r>
              <a:rPr lang="en-US" altLang="zh-CN" dirty="0"/>
              <a:t>MEM/WB: 32*2 + 5(reg </a:t>
            </a:r>
            <a:r>
              <a:rPr lang="en-US" altLang="zh-CN" dirty="0" err="1"/>
              <a:t>dst</a:t>
            </a:r>
            <a:r>
              <a:rPr lang="en-US" altLang="zh-CN" dirty="0"/>
              <a:t>) = 69</a:t>
            </a:r>
          </a:p>
          <a:p>
            <a:r>
              <a:rPr lang="en-US" altLang="zh-CN" dirty="0"/>
              <a:t>“+” </a:t>
            </a:r>
            <a:r>
              <a:rPr lang="zh-CN" altLang="en-US" dirty="0"/>
              <a:t>表示，后续讲解中会逐渐增加</a:t>
            </a:r>
            <a:endParaRPr lang="en-US" altLang="zh-CN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43BC7509-23FA-40FA-8415-DBE86E406177}" type="slidenum">
              <a:rPr lang="zh-CN" altLang="en-US" smtClean="0"/>
              <a:t>65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827643341"/>
      </p:ext>
    </p:extLst>
  </p:cSld>
  <p:clrMapOvr>
    <a:masterClrMapping/>
  </p:clrMapOvr>
</p:notes>
</file>

<file path=ppt/notesSlides/notesSlide2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9682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909638" y="639763"/>
            <a:ext cx="4951412" cy="3714750"/>
          </a:xfrm>
        </p:spPr>
      </p:sp>
      <p:sp>
        <p:nvSpPr>
          <p:cNvPr id="199683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508028" y="4720132"/>
            <a:ext cx="5826642" cy="4474887"/>
          </a:xfrm>
          <a:noFill/>
        </p:spPr>
        <p:txBody>
          <a:bodyPr/>
          <a:lstStyle/>
          <a:p>
            <a:pPr marL="209550" indent="-209550" eaLnBrk="1" hangingPunct="1"/>
            <a:r>
              <a:rPr lang="zh-CN" altLang="en-US" dirty="0">
                <a:latin typeface="Arial" pitchFamily="34" charset="0"/>
              </a:rPr>
              <a:t>这个运行示例可以让大家自己回去再看</a:t>
            </a:r>
            <a:endParaRPr lang="en-US" altLang="zh-CN" dirty="0">
              <a:latin typeface="Arial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108523884"/>
      </p:ext>
    </p:extLst>
  </p:cSld>
  <p:clrMapOvr>
    <a:masterClrMapping/>
  </p:clrMapOvr>
</p:notes>
</file>

<file path=ppt/notesSlides/notesSlide2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209550" indent="-209550" eaLnBrk="1" hangingPunct="1"/>
            <a:r>
              <a:rPr lang="zh-CN" altLang="en-US" dirty="0">
                <a:latin typeface="Arial" pitchFamily="34" charset="0"/>
              </a:rPr>
              <a:t>这个运行示例可以让大家自己回去再看</a:t>
            </a:r>
            <a:endParaRPr lang="en-US" altLang="zh-CN" dirty="0">
              <a:latin typeface="Arial" pitchFamily="34" charset="0"/>
            </a:endParaRPr>
          </a:p>
          <a:p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43BC7509-23FA-40FA-8415-DBE86E406177}" type="slidenum">
              <a:rPr lang="zh-CN" altLang="en-US" smtClean="0"/>
              <a:t>67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779588901"/>
      </p:ext>
    </p:extLst>
  </p:cSld>
  <p:clrMapOvr>
    <a:masterClrMapping/>
  </p:clrMapOvr>
</p:notes>
</file>

<file path=ppt/notesSlides/notesSlide2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zh-CN" altLang="en-US" dirty="0">
                <a:latin typeface="Arial" pitchFamily="34" charset="0"/>
              </a:rPr>
              <a:t>这个运行示例可以让大家自己回去再看</a:t>
            </a:r>
            <a:endParaRPr lang="en-US" altLang="zh-CN" dirty="0">
              <a:latin typeface="Arial" pitchFamily="34" charset="0"/>
            </a:endParaRPr>
          </a:p>
          <a:p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43BC7509-23FA-40FA-8415-DBE86E406177}" type="slidenum">
              <a:rPr lang="zh-CN" altLang="en-US" smtClean="0"/>
              <a:t>68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550323296"/>
      </p:ext>
    </p:extLst>
  </p:cSld>
  <p:clrMapOvr>
    <a:masterClrMapping/>
  </p:clrMapOvr>
</p:notes>
</file>

<file path=ppt/notesSlides/notesSlide2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zh-CN" altLang="en-US" dirty="0">
                <a:latin typeface="Arial" pitchFamily="34" charset="0"/>
              </a:rPr>
              <a:t>这个运行示例可以让大家自己回去再看</a:t>
            </a:r>
            <a:endParaRPr lang="en-US" altLang="zh-CN" dirty="0">
              <a:latin typeface="Arial" pitchFamily="34" charset="0"/>
            </a:endParaRPr>
          </a:p>
          <a:p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43BC7509-23FA-40FA-8415-DBE86E406177}" type="slidenum">
              <a:rPr lang="zh-CN" altLang="en-US" smtClean="0"/>
              <a:t>69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2622660459"/>
      </p:ext>
    </p:extLst>
  </p:cSld>
  <p:clrMapOvr>
    <a:masterClrMapping/>
  </p:clrMapOvr>
</p:notes>
</file>

<file path=ppt/notesSlides/notesSlide2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zh-CN" altLang="en-US" dirty="0">
                <a:latin typeface="Arial" pitchFamily="34" charset="0"/>
              </a:rPr>
              <a:t>这个运行示例可以让大家自己回去再看</a:t>
            </a:r>
            <a:endParaRPr lang="en-US" altLang="zh-CN" dirty="0">
              <a:latin typeface="Arial" pitchFamily="34" charset="0"/>
            </a:endParaRPr>
          </a:p>
          <a:p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43BC7509-23FA-40FA-8415-DBE86E406177}" type="slidenum">
              <a:rPr lang="zh-CN" altLang="en-US" smtClean="0"/>
              <a:t>70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2434245494"/>
      </p:ext>
    </p:extLst>
  </p:cSld>
  <p:clrMapOvr>
    <a:masterClrMapping/>
  </p:clrMapOvr>
</p:notes>
</file>

<file path=ppt/notesSlides/notesSlide2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zh-CN" altLang="en-US" dirty="0">
                <a:latin typeface="Arial" pitchFamily="34" charset="0"/>
              </a:rPr>
              <a:t>这个运行示例可以让大家自己回去再看</a:t>
            </a:r>
            <a:endParaRPr lang="en-US" altLang="zh-CN" dirty="0">
              <a:latin typeface="Arial" pitchFamily="34" charset="0"/>
            </a:endParaRPr>
          </a:p>
          <a:p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43BC7509-23FA-40FA-8415-DBE86E406177}" type="slidenum">
              <a:rPr lang="zh-CN" altLang="en-US" smtClean="0"/>
              <a:t>71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605785863"/>
      </p:ext>
    </p:extLst>
  </p:cSld>
  <p:clrMapOvr>
    <a:masterClrMapping/>
  </p:clrMapOvr>
</p:notes>
</file>

<file path=ppt/notesSlides/notesSlide2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zh-CN" altLang="en-US" dirty="0">
                <a:latin typeface="Arial" pitchFamily="34" charset="0"/>
              </a:rPr>
              <a:t>这个运行示例可以让大家自己回去再看</a:t>
            </a:r>
            <a:endParaRPr lang="en-US" altLang="zh-CN" dirty="0">
              <a:latin typeface="Arial" pitchFamily="34" charset="0"/>
            </a:endParaRPr>
          </a:p>
          <a:p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43BC7509-23FA-40FA-8415-DBE86E406177}" type="slidenum">
              <a:rPr lang="zh-CN" altLang="en-US" smtClean="0"/>
              <a:t>72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655870884"/>
      </p:ext>
    </p:extLst>
  </p:cSld>
  <p:clrMapOvr>
    <a:masterClrMapping/>
  </p:clrMapOvr>
</p:notes>
</file>

<file path=ppt/notesSlides/notesSlide3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zh-CN" altLang="en-US" dirty="0">
                <a:latin typeface="Arial" pitchFamily="34" charset="0"/>
              </a:rPr>
              <a:t>这个运行示例可以让大家自己回去再看</a:t>
            </a:r>
            <a:endParaRPr lang="en-US" altLang="zh-CN" dirty="0">
              <a:latin typeface="Arial" pitchFamily="34" charset="0"/>
            </a:endParaRPr>
          </a:p>
          <a:p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43BC7509-23FA-40FA-8415-DBE86E406177}" type="slidenum">
              <a:rPr lang="zh-CN" altLang="en-US" smtClean="0"/>
              <a:t>73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057860264"/>
      </p:ext>
    </p:extLst>
  </p:cSld>
  <p:clrMapOvr>
    <a:masterClrMapping/>
  </p:clrMapOvr>
</p:notes>
</file>

<file path=ppt/notesSlides/notesSlide3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zh-CN" altLang="en-US" dirty="0">
                <a:latin typeface="Arial" pitchFamily="34" charset="0"/>
              </a:rPr>
              <a:t>这个运行示例可以让大家自己回去再看</a:t>
            </a:r>
            <a:endParaRPr lang="en-US" altLang="zh-CN" dirty="0">
              <a:latin typeface="Arial" pitchFamily="34" charset="0"/>
            </a:endParaRPr>
          </a:p>
          <a:p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43BC7509-23FA-40FA-8415-DBE86E406177}" type="slidenum">
              <a:rPr lang="zh-CN" altLang="en-US" smtClean="0"/>
              <a:t>74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778425290"/>
      </p:ext>
    </p:extLst>
  </p:cSld>
  <p:clrMapOvr>
    <a:masterClrMapping/>
  </p:clrMapOvr>
</p:notes>
</file>

<file path=ppt/notesSlides/notesSlide3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209550" indent="-209550" eaLnBrk="1" hangingPunct="1"/>
            <a:r>
              <a:rPr lang="en-US" altLang="zh-CN" dirty="0">
                <a:latin typeface="Arial" pitchFamily="34" charset="0"/>
              </a:rPr>
              <a:t>ID/EX (4): </a:t>
            </a:r>
            <a:r>
              <a:rPr lang="en-US" altLang="zh-CN" dirty="0" err="1">
                <a:latin typeface="Arial" pitchFamily="34" charset="0"/>
              </a:rPr>
              <a:t>RegDst</a:t>
            </a:r>
            <a:r>
              <a:rPr lang="en-US" altLang="zh-CN" dirty="0">
                <a:latin typeface="Arial" pitchFamily="34" charset="0"/>
              </a:rPr>
              <a:t>, </a:t>
            </a:r>
            <a:r>
              <a:rPr lang="en-US" altLang="zh-CN" dirty="0" err="1">
                <a:latin typeface="Arial" pitchFamily="34" charset="0"/>
              </a:rPr>
              <a:t>ALUOp</a:t>
            </a:r>
            <a:r>
              <a:rPr lang="en-US" altLang="zh-CN" dirty="0">
                <a:latin typeface="Arial" pitchFamily="34" charset="0"/>
              </a:rPr>
              <a:t>[1:0], </a:t>
            </a:r>
            <a:r>
              <a:rPr lang="en-US" altLang="zh-CN" dirty="0" err="1">
                <a:latin typeface="Arial" pitchFamily="34" charset="0"/>
              </a:rPr>
              <a:t>ALUSrc</a:t>
            </a:r>
            <a:r>
              <a:rPr lang="en-US" altLang="zh-CN" dirty="0">
                <a:latin typeface="Arial" pitchFamily="34" charset="0"/>
              </a:rPr>
              <a:t>,</a:t>
            </a:r>
            <a:r>
              <a:rPr lang="en-US" altLang="zh-CN" baseline="0" dirty="0">
                <a:latin typeface="Arial" pitchFamily="34" charset="0"/>
              </a:rPr>
              <a:t> </a:t>
            </a:r>
            <a:r>
              <a:rPr lang="zh-CN" altLang="en-US" baseline="0" dirty="0">
                <a:latin typeface="Arial" pitchFamily="34" charset="0"/>
              </a:rPr>
              <a:t>这是本级用的，实际保留</a:t>
            </a:r>
            <a:r>
              <a:rPr lang="en-US" altLang="zh-CN" baseline="0" dirty="0">
                <a:latin typeface="Arial" pitchFamily="34" charset="0"/>
              </a:rPr>
              <a:t>4+3+2=9</a:t>
            </a:r>
            <a:endParaRPr lang="en-US" altLang="zh-CN" dirty="0">
              <a:latin typeface="Arial" pitchFamily="34" charset="0"/>
            </a:endParaRPr>
          </a:p>
          <a:p>
            <a:pPr marL="209550" indent="-209550" eaLnBrk="1" hangingPunct="1"/>
            <a:r>
              <a:rPr lang="en-US" altLang="zh-CN" dirty="0">
                <a:latin typeface="Arial" pitchFamily="34" charset="0"/>
              </a:rPr>
              <a:t>EX/MEM(3): Branch, </a:t>
            </a:r>
            <a:r>
              <a:rPr lang="en-US" altLang="zh-CN" dirty="0" err="1">
                <a:latin typeface="Arial" pitchFamily="34" charset="0"/>
              </a:rPr>
              <a:t>MemRead</a:t>
            </a:r>
            <a:r>
              <a:rPr lang="en-US" altLang="zh-CN" dirty="0">
                <a:latin typeface="Arial" pitchFamily="34" charset="0"/>
              </a:rPr>
              <a:t>, </a:t>
            </a:r>
            <a:r>
              <a:rPr lang="en-US" altLang="zh-CN" dirty="0" err="1">
                <a:latin typeface="Arial" pitchFamily="34" charset="0"/>
              </a:rPr>
              <a:t>MemWrite</a:t>
            </a:r>
            <a:r>
              <a:rPr lang="zh-CN" altLang="en-US" dirty="0">
                <a:latin typeface="Arial" pitchFamily="34" charset="0"/>
              </a:rPr>
              <a:t>，保留</a:t>
            </a:r>
            <a:r>
              <a:rPr lang="en-US" altLang="zh-CN" dirty="0">
                <a:latin typeface="Arial" pitchFamily="34" charset="0"/>
              </a:rPr>
              <a:t>3+2=5</a:t>
            </a:r>
          </a:p>
          <a:p>
            <a:pPr marL="209550" indent="-209550" eaLnBrk="1" hangingPunct="1"/>
            <a:r>
              <a:rPr lang="en-US" altLang="zh-CN" dirty="0">
                <a:latin typeface="Arial" pitchFamily="34" charset="0"/>
              </a:rPr>
              <a:t>MEM/WB(2): </a:t>
            </a:r>
            <a:r>
              <a:rPr lang="en-US" altLang="zh-CN" dirty="0" err="1">
                <a:latin typeface="Arial" pitchFamily="34" charset="0"/>
              </a:rPr>
              <a:t>RegWrite</a:t>
            </a:r>
            <a:r>
              <a:rPr lang="en-US" altLang="zh-CN" dirty="0">
                <a:latin typeface="Arial" pitchFamily="34" charset="0"/>
              </a:rPr>
              <a:t>,</a:t>
            </a:r>
            <a:r>
              <a:rPr lang="en-US" altLang="zh-CN" baseline="0" dirty="0">
                <a:latin typeface="Arial" pitchFamily="34" charset="0"/>
              </a:rPr>
              <a:t> </a:t>
            </a:r>
            <a:r>
              <a:rPr lang="en-US" altLang="zh-CN" baseline="0" dirty="0" err="1">
                <a:latin typeface="Arial" pitchFamily="34" charset="0"/>
              </a:rPr>
              <a:t>MemtoReg</a:t>
            </a:r>
            <a:r>
              <a:rPr lang="zh-CN" altLang="en-US" baseline="0" dirty="0">
                <a:latin typeface="Arial" pitchFamily="34" charset="0"/>
              </a:rPr>
              <a:t>，保留</a:t>
            </a:r>
            <a:r>
              <a:rPr lang="en-US" altLang="zh-CN" baseline="0" dirty="0">
                <a:latin typeface="Arial" pitchFamily="34" charset="0"/>
              </a:rPr>
              <a:t>2</a:t>
            </a:r>
          </a:p>
          <a:p>
            <a:pPr marL="209550" indent="-209550" eaLnBrk="1" hangingPunct="1"/>
            <a:endParaRPr lang="en-US" altLang="zh-CN" baseline="0" dirty="0">
              <a:latin typeface="Arial" pitchFamily="34" charset="0"/>
            </a:endParaRPr>
          </a:p>
          <a:p>
            <a:pPr marL="209550" indent="-209550" eaLnBrk="1" hangingPunct="1"/>
            <a:r>
              <a:rPr lang="en-US" altLang="zh-CN" baseline="0" dirty="0">
                <a:latin typeface="Arial" pitchFamily="34" charset="0"/>
              </a:rPr>
              <a:t>ID/EX: 128 + 9 + 10(</a:t>
            </a:r>
            <a:r>
              <a:rPr lang="en-US" altLang="zh-CN" baseline="0" dirty="0" err="1">
                <a:latin typeface="Arial" pitchFamily="34" charset="0"/>
              </a:rPr>
              <a:t>rd</a:t>
            </a:r>
            <a:r>
              <a:rPr lang="en-US" altLang="zh-CN" baseline="0" dirty="0">
                <a:latin typeface="Arial" pitchFamily="34" charset="0"/>
              </a:rPr>
              <a:t> &amp; rt: 5 + 5) = 147</a:t>
            </a:r>
          </a:p>
          <a:p>
            <a:pPr marL="209550" indent="-209550" eaLnBrk="1" hangingPunct="1"/>
            <a:r>
              <a:rPr lang="en-US" altLang="zh-CN" baseline="0" dirty="0">
                <a:latin typeface="Arial" pitchFamily="34" charset="0"/>
              </a:rPr>
              <a:t>EX/MEM: 97 + 5 + 5 (destination reg) = 107</a:t>
            </a:r>
          </a:p>
          <a:p>
            <a:pPr marL="209550" indent="-209550" eaLnBrk="1" hangingPunct="1"/>
            <a:r>
              <a:rPr lang="en-US" altLang="zh-CN" baseline="0" dirty="0">
                <a:latin typeface="Arial" pitchFamily="34" charset="0"/>
              </a:rPr>
              <a:t>MEM/WB: 64 + 2 + 5(destination reg) = 71</a:t>
            </a:r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43BC7509-23FA-40FA-8415-DBE86E406177}" type="slidenum">
              <a:rPr lang="zh-CN" altLang="en-US" smtClean="0"/>
              <a:t>75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137913314"/>
      </p:ext>
    </p:extLst>
  </p:cSld>
  <p:clrMapOvr>
    <a:masterClrMapping/>
  </p:clrMapOvr>
</p:notes>
</file>

<file path=ppt/notesSlides/notesSlide3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209550" indent="-209550" eaLnBrk="1" hangingPunct="1"/>
            <a:r>
              <a:rPr lang="en-US" altLang="zh-CN" dirty="0">
                <a:latin typeface="Arial" pitchFamily="34" charset="0"/>
              </a:rPr>
              <a:t>ID/EX (4): </a:t>
            </a:r>
            <a:r>
              <a:rPr lang="en-US" altLang="zh-CN" dirty="0" err="1">
                <a:latin typeface="Arial" pitchFamily="34" charset="0"/>
              </a:rPr>
              <a:t>RegDst</a:t>
            </a:r>
            <a:r>
              <a:rPr lang="en-US" altLang="zh-CN" dirty="0">
                <a:latin typeface="Arial" pitchFamily="34" charset="0"/>
              </a:rPr>
              <a:t>, </a:t>
            </a:r>
            <a:r>
              <a:rPr lang="en-US" altLang="zh-CN" dirty="0" err="1">
                <a:latin typeface="Arial" pitchFamily="34" charset="0"/>
              </a:rPr>
              <a:t>ALUOp</a:t>
            </a:r>
            <a:r>
              <a:rPr lang="en-US" altLang="zh-CN" dirty="0">
                <a:latin typeface="Arial" pitchFamily="34" charset="0"/>
              </a:rPr>
              <a:t>[1:0], </a:t>
            </a:r>
            <a:r>
              <a:rPr lang="en-US" altLang="zh-CN" dirty="0" err="1">
                <a:latin typeface="Arial" pitchFamily="34" charset="0"/>
              </a:rPr>
              <a:t>ALUSrc</a:t>
            </a:r>
            <a:r>
              <a:rPr lang="en-US" altLang="zh-CN" dirty="0">
                <a:latin typeface="Arial" pitchFamily="34" charset="0"/>
              </a:rPr>
              <a:t>,</a:t>
            </a:r>
            <a:r>
              <a:rPr lang="en-US" altLang="zh-CN" baseline="0" dirty="0">
                <a:latin typeface="Arial" pitchFamily="34" charset="0"/>
              </a:rPr>
              <a:t> </a:t>
            </a:r>
            <a:r>
              <a:rPr lang="zh-CN" altLang="en-US" baseline="0" dirty="0">
                <a:latin typeface="Arial" pitchFamily="34" charset="0"/>
              </a:rPr>
              <a:t>这是本级用的，实际保留</a:t>
            </a:r>
            <a:r>
              <a:rPr lang="en-US" altLang="zh-CN" baseline="0" dirty="0">
                <a:latin typeface="Arial" pitchFamily="34" charset="0"/>
              </a:rPr>
              <a:t>4+3+2=9</a:t>
            </a:r>
            <a:endParaRPr lang="en-US" altLang="zh-CN" dirty="0">
              <a:latin typeface="Arial" pitchFamily="34" charset="0"/>
            </a:endParaRPr>
          </a:p>
          <a:p>
            <a:pPr marL="209550" indent="-209550" eaLnBrk="1" hangingPunct="1"/>
            <a:r>
              <a:rPr lang="en-US" altLang="zh-CN" dirty="0">
                <a:latin typeface="Arial" pitchFamily="34" charset="0"/>
              </a:rPr>
              <a:t>EX/MEM(3): Branch, </a:t>
            </a:r>
            <a:r>
              <a:rPr lang="en-US" altLang="zh-CN" dirty="0" err="1">
                <a:latin typeface="Arial" pitchFamily="34" charset="0"/>
              </a:rPr>
              <a:t>MemRead</a:t>
            </a:r>
            <a:r>
              <a:rPr lang="en-US" altLang="zh-CN" dirty="0">
                <a:latin typeface="Arial" pitchFamily="34" charset="0"/>
              </a:rPr>
              <a:t>, </a:t>
            </a:r>
            <a:r>
              <a:rPr lang="en-US" altLang="zh-CN" dirty="0" err="1">
                <a:latin typeface="Arial" pitchFamily="34" charset="0"/>
              </a:rPr>
              <a:t>MemWrite</a:t>
            </a:r>
            <a:r>
              <a:rPr lang="zh-CN" altLang="en-US" dirty="0">
                <a:latin typeface="Arial" pitchFamily="34" charset="0"/>
              </a:rPr>
              <a:t>，保留</a:t>
            </a:r>
            <a:r>
              <a:rPr lang="en-US" altLang="zh-CN" dirty="0">
                <a:latin typeface="Arial" pitchFamily="34" charset="0"/>
              </a:rPr>
              <a:t>3+2=5</a:t>
            </a:r>
          </a:p>
          <a:p>
            <a:pPr marL="209550" indent="-209550" eaLnBrk="1" hangingPunct="1"/>
            <a:r>
              <a:rPr lang="en-US" altLang="zh-CN" dirty="0">
                <a:latin typeface="Arial" pitchFamily="34" charset="0"/>
              </a:rPr>
              <a:t>MEM/WB(2): </a:t>
            </a:r>
            <a:r>
              <a:rPr lang="en-US" altLang="zh-CN" dirty="0" err="1">
                <a:latin typeface="Arial" pitchFamily="34" charset="0"/>
              </a:rPr>
              <a:t>RegWrite</a:t>
            </a:r>
            <a:r>
              <a:rPr lang="en-US" altLang="zh-CN" dirty="0">
                <a:latin typeface="Arial" pitchFamily="34" charset="0"/>
              </a:rPr>
              <a:t>,</a:t>
            </a:r>
            <a:r>
              <a:rPr lang="en-US" altLang="zh-CN" baseline="0" dirty="0">
                <a:latin typeface="Arial" pitchFamily="34" charset="0"/>
              </a:rPr>
              <a:t> </a:t>
            </a:r>
            <a:r>
              <a:rPr lang="en-US" altLang="zh-CN" baseline="0" dirty="0" err="1">
                <a:latin typeface="Arial" pitchFamily="34" charset="0"/>
              </a:rPr>
              <a:t>MemtoReg</a:t>
            </a:r>
            <a:r>
              <a:rPr lang="zh-CN" altLang="en-US" baseline="0" dirty="0">
                <a:latin typeface="Arial" pitchFamily="34" charset="0"/>
              </a:rPr>
              <a:t>，保留</a:t>
            </a:r>
            <a:r>
              <a:rPr lang="en-US" altLang="zh-CN" baseline="0" dirty="0">
                <a:latin typeface="Arial" pitchFamily="34" charset="0"/>
              </a:rPr>
              <a:t>2</a:t>
            </a:r>
          </a:p>
          <a:p>
            <a:pPr marL="209550" indent="-209550" eaLnBrk="1" hangingPunct="1"/>
            <a:endParaRPr lang="en-US" altLang="zh-CN" baseline="0" dirty="0">
              <a:latin typeface="Arial" pitchFamily="34" charset="0"/>
            </a:endParaRPr>
          </a:p>
          <a:p>
            <a:pPr marL="209550" indent="-209550" eaLnBrk="1" hangingPunct="1"/>
            <a:endParaRPr lang="en-US" altLang="zh-CN" dirty="0">
              <a:latin typeface="Arial" pitchFamily="34" charset="0"/>
            </a:endParaRPr>
          </a:p>
          <a:p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43BC7509-23FA-40FA-8415-DBE86E406177}" type="slidenum">
              <a:rPr lang="zh-CN" altLang="en-US" smtClean="0"/>
              <a:t>76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041839700"/>
      </p:ext>
    </p:extLst>
  </p:cSld>
  <p:clrMapOvr>
    <a:masterClrMapping/>
  </p:clrMapOvr>
</p:notes>
</file>

<file path=ppt/notesSlides/notesSlide3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zh-CN" altLang="en-US" dirty="0"/>
              <a:t>这里</a:t>
            </a:r>
            <a:r>
              <a:rPr lang="en-US" altLang="zh-CN" dirty="0"/>
              <a:t>R</a:t>
            </a:r>
            <a:r>
              <a:rPr lang="zh-CN" altLang="en-US" dirty="0"/>
              <a:t>型的</a:t>
            </a:r>
            <a:r>
              <a:rPr lang="en-US" altLang="zh-CN" dirty="0" err="1"/>
              <a:t>MemRead</a:t>
            </a:r>
            <a:r>
              <a:rPr lang="zh-CN" altLang="en-US" dirty="0"/>
              <a:t>实际可以是</a:t>
            </a:r>
            <a:r>
              <a:rPr lang="en-US" altLang="zh-CN" dirty="0"/>
              <a:t>x</a:t>
            </a:r>
            <a:r>
              <a:rPr lang="zh-CN" altLang="en-US" dirty="0"/>
              <a:t>，但是出于访问存储器代价很高的原因，尽量不去读存储器</a:t>
            </a:r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43BC7509-23FA-40FA-8415-DBE86E406177}" type="slidenum">
              <a:rPr lang="zh-CN" altLang="en-US" smtClean="0"/>
              <a:t>77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312366551"/>
      </p:ext>
    </p:extLst>
  </p:cSld>
  <p:clrMapOvr>
    <a:masterClrMapping/>
  </p:clrMapOvr>
</p:notes>
</file>

<file path=ppt/notesSlides/notesSlide3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209550" indent="-209550" eaLnBrk="1" hangingPunct="1"/>
            <a:r>
              <a:rPr lang="en-US" altLang="zh-CN" dirty="0">
                <a:latin typeface="Arial" pitchFamily="34" charset="0"/>
              </a:rPr>
              <a:t>ID/EX (4): </a:t>
            </a:r>
            <a:r>
              <a:rPr lang="en-US" altLang="zh-CN" dirty="0" err="1">
                <a:latin typeface="Arial" pitchFamily="34" charset="0"/>
              </a:rPr>
              <a:t>RegDst</a:t>
            </a:r>
            <a:r>
              <a:rPr lang="en-US" altLang="zh-CN" dirty="0">
                <a:latin typeface="Arial" pitchFamily="34" charset="0"/>
              </a:rPr>
              <a:t>, </a:t>
            </a:r>
            <a:r>
              <a:rPr lang="en-US" altLang="zh-CN" dirty="0" err="1">
                <a:latin typeface="Arial" pitchFamily="34" charset="0"/>
              </a:rPr>
              <a:t>ALUOp</a:t>
            </a:r>
            <a:r>
              <a:rPr lang="en-US" altLang="zh-CN" dirty="0">
                <a:latin typeface="Arial" pitchFamily="34" charset="0"/>
              </a:rPr>
              <a:t>[1:0], </a:t>
            </a:r>
            <a:r>
              <a:rPr lang="en-US" altLang="zh-CN" dirty="0" err="1">
                <a:latin typeface="Arial" pitchFamily="34" charset="0"/>
              </a:rPr>
              <a:t>ALUSrc</a:t>
            </a:r>
            <a:r>
              <a:rPr lang="en-US" altLang="zh-CN" dirty="0">
                <a:latin typeface="Arial" pitchFamily="34" charset="0"/>
              </a:rPr>
              <a:t>,</a:t>
            </a:r>
            <a:r>
              <a:rPr lang="en-US" altLang="zh-CN" baseline="0" dirty="0">
                <a:latin typeface="Arial" pitchFamily="34" charset="0"/>
              </a:rPr>
              <a:t> </a:t>
            </a:r>
            <a:r>
              <a:rPr lang="zh-CN" altLang="en-US" baseline="0" dirty="0">
                <a:latin typeface="Arial" pitchFamily="34" charset="0"/>
              </a:rPr>
              <a:t>这是本级用的，实际保留</a:t>
            </a:r>
            <a:r>
              <a:rPr lang="en-US" altLang="zh-CN" baseline="0" dirty="0">
                <a:latin typeface="Arial" pitchFamily="34" charset="0"/>
              </a:rPr>
              <a:t>4+3+2=9</a:t>
            </a:r>
            <a:endParaRPr lang="en-US" altLang="zh-CN" dirty="0">
              <a:latin typeface="Arial" pitchFamily="34" charset="0"/>
            </a:endParaRPr>
          </a:p>
          <a:p>
            <a:pPr marL="209550" indent="-209550" eaLnBrk="1" hangingPunct="1"/>
            <a:r>
              <a:rPr lang="en-US" altLang="zh-CN" dirty="0">
                <a:latin typeface="Arial" pitchFamily="34" charset="0"/>
              </a:rPr>
              <a:t>EX/MEM(3): Branch, </a:t>
            </a:r>
            <a:r>
              <a:rPr lang="en-US" altLang="zh-CN" dirty="0" err="1">
                <a:latin typeface="Arial" pitchFamily="34" charset="0"/>
              </a:rPr>
              <a:t>MemRead</a:t>
            </a:r>
            <a:r>
              <a:rPr lang="en-US" altLang="zh-CN" dirty="0">
                <a:latin typeface="Arial" pitchFamily="34" charset="0"/>
              </a:rPr>
              <a:t>, </a:t>
            </a:r>
            <a:r>
              <a:rPr lang="en-US" altLang="zh-CN" dirty="0" err="1">
                <a:latin typeface="Arial" pitchFamily="34" charset="0"/>
              </a:rPr>
              <a:t>MemWrite</a:t>
            </a:r>
            <a:r>
              <a:rPr lang="zh-CN" altLang="en-US" dirty="0">
                <a:latin typeface="Arial" pitchFamily="34" charset="0"/>
              </a:rPr>
              <a:t>，保留</a:t>
            </a:r>
            <a:r>
              <a:rPr lang="en-US" altLang="zh-CN" dirty="0">
                <a:latin typeface="Arial" pitchFamily="34" charset="0"/>
              </a:rPr>
              <a:t>3+2=5</a:t>
            </a:r>
          </a:p>
          <a:p>
            <a:pPr marL="209550" indent="-209550" eaLnBrk="1" hangingPunct="1"/>
            <a:r>
              <a:rPr lang="en-US" altLang="zh-CN" dirty="0">
                <a:latin typeface="Arial" pitchFamily="34" charset="0"/>
              </a:rPr>
              <a:t>MEM/WB(2): </a:t>
            </a:r>
            <a:r>
              <a:rPr lang="en-US" altLang="zh-CN" dirty="0" err="1">
                <a:latin typeface="Arial" pitchFamily="34" charset="0"/>
              </a:rPr>
              <a:t>RegWrite</a:t>
            </a:r>
            <a:r>
              <a:rPr lang="en-US" altLang="zh-CN" dirty="0">
                <a:latin typeface="Arial" pitchFamily="34" charset="0"/>
              </a:rPr>
              <a:t>,</a:t>
            </a:r>
            <a:r>
              <a:rPr lang="en-US" altLang="zh-CN" baseline="0" dirty="0">
                <a:latin typeface="Arial" pitchFamily="34" charset="0"/>
              </a:rPr>
              <a:t> </a:t>
            </a:r>
            <a:r>
              <a:rPr lang="en-US" altLang="zh-CN" baseline="0" dirty="0" err="1">
                <a:latin typeface="Arial" pitchFamily="34" charset="0"/>
              </a:rPr>
              <a:t>MemtoReg</a:t>
            </a:r>
            <a:r>
              <a:rPr lang="zh-CN" altLang="en-US" baseline="0" dirty="0">
                <a:latin typeface="Arial" pitchFamily="34" charset="0"/>
              </a:rPr>
              <a:t>，保留</a:t>
            </a:r>
            <a:r>
              <a:rPr lang="en-US" altLang="zh-CN" baseline="0" dirty="0">
                <a:latin typeface="Arial" pitchFamily="34" charset="0"/>
              </a:rPr>
              <a:t>2</a:t>
            </a:r>
          </a:p>
          <a:p>
            <a:pPr marL="209550" indent="-209550" eaLnBrk="1" hangingPunct="1"/>
            <a:endParaRPr lang="en-US" altLang="zh-CN" baseline="0" dirty="0">
              <a:latin typeface="Arial" pitchFamily="34" charset="0"/>
            </a:endParaRPr>
          </a:p>
          <a:p>
            <a:pPr marL="209550" indent="-209550" eaLnBrk="1" hangingPunct="1"/>
            <a:endParaRPr lang="en-US" altLang="zh-CN" dirty="0">
              <a:latin typeface="Arial" pitchFamily="34" charset="0"/>
            </a:endParaRPr>
          </a:p>
          <a:p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43BC7509-23FA-40FA-8415-DBE86E406177}" type="slidenum">
              <a:rPr lang="zh-CN" altLang="en-US" smtClean="0"/>
              <a:t>78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014358079"/>
      </p:ext>
    </p:extLst>
  </p:cSld>
  <p:clrMapOvr>
    <a:masterClrMapping/>
  </p:clrMapOvr>
</p:notes>
</file>

<file path=ppt/notesSlides/notesSlide3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zh-CN" altLang="en-US" dirty="0"/>
              <a:t>指令格式不完整</a:t>
            </a:r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8B46F709-C76F-40B1-9739-9B95F5471B01}" type="slidenum">
              <a:rPr lang="zh-CN" altLang="en-US" smtClean="0"/>
              <a:t>81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203822729"/>
      </p:ext>
    </p:extLst>
  </p:cSld>
  <p:clrMapOvr>
    <a:masterClrMapping/>
  </p:clrMapOvr>
</p:notes>
</file>

<file path=ppt/notesSlides/notesSlide3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zh-CN" altLang="en-US" dirty="0"/>
              <a:t>多周期</a:t>
            </a:r>
            <a:r>
              <a:rPr lang="en-US" altLang="zh-CN" dirty="0"/>
              <a:t>p34</a:t>
            </a:r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8B46F709-C76F-40B1-9739-9B95F5471B01}" type="slidenum">
              <a:rPr lang="zh-CN" altLang="en-US" smtClean="0"/>
              <a:t>82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491212243"/>
      </p:ext>
    </p:extLst>
  </p:cSld>
  <p:clrMapOvr>
    <a:masterClrMapping/>
  </p:clrMapOvr>
</p:notes>
</file>

<file path=ppt/notesSlides/notesSlide3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zh-CN" altLang="en-US" dirty="0"/>
              <a:t>左图：写入数据在时钟触发沿就已经准备好，时钟沿到来时数据通过</a:t>
            </a:r>
            <a:r>
              <a:rPr lang="en-US" altLang="zh-CN" dirty="0"/>
              <a:t>rt</a:t>
            </a:r>
            <a:r>
              <a:rPr lang="zh-CN" altLang="en-US" dirty="0"/>
              <a:t>（</a:t>
            </a:r>
            <a:r>
              <a:rPr lang="en-US" altLang="zh-CN" dirty="0"/>
              <a:t>5bit</a:t>
            </a:r>
            <a:r>
              <a:rPr lang="zh-CN" altLang="en-US" dirty="0"/>
              <a:t>）和</a:t>
            </a:r>
            <a:r>
              <a:rPr lang="en-US" altLang="zh-CN" dirty="0"/>
              <a:t>RW</a:t>
            </a:r>
            <a:r>
              <a:rPr lang="zh-CN" altLang="en-US" dirty="0"/>
              <a:t>使能（</a:t>
            </a:r>
            <a:r>
              <a:rPr lang="en-US" altLang="zh-CN" dirty="0"/>
              <a:t>1bit</a:t>
            </a:r>
            <a:r>
              <a:rPr lang="zh-CN" altLang="en-US" dirty="0"/>
              <a:t>）写入寄存器，然后通过</a:t>
            </a:r>
            <a:r>
              <a:rPr lang="en-US" altLang="zh-CN" dirty="0" err="1"/>
              <a:t>rs</a:t>
            </a:r>
            <a:r>
              <a:rPr lang="zh-CN" altLang="en-US" dirty="0"/>
              <a:t>（</a:t>
            </a:r>
            <a:r>
              <a:rPr lang="en-US" altLang="zh-CN" dirty="0"/>
              <a:t>5bit</a:t>
            </a:r>
            <a:r>
              <a:rPr lang="zh-CN" altLang="en-US" dirty="0"/>
              <a:t>）选出寄存器读出数据，这样即使</a:t>
            </a:r>
            <a:r>
              <a:rPr lang="en-US" altLang="zh-CN" dirty="0"/>
              <a:t>rt</a:t>
            </a:r>
            <a:r>
              <a:rPr lang="zh-CN" altLang="en-US" dirty="0"/>
              <a:t>和</a:t>
            </a:r>
            <a:r>
              <a:rPr lang="en-US" altLang="zh-CN" dirty="0" err="1"/>
              <a:t>rs</a:t>
            </a:r>
            <a:r>
              <a:rPr lang="zh-CN" altLang="en-US" dirty="0"/>
              <a:t>是一样的，也是先写入后读出，只不过有一个寄存器的写延时。</a:t>
            </a:r>
            <a:endParaRPr lang="en-US" altLang="zh-CN" dirty="0"/>
          </a:p>
          <a:p>
            <a:endParaRPr lang="en-US" altLang="zh-CN" dirty="0"/>
          </a:p>
          <a:p>
            <a:r>
              <a:rPr lang="zh-CN" altLang="en-US" dirty="0"/>
              <a:t>右图：为了降低读出数据的延时，可以使用辅助旁路，当检测到</a:t>
            </a:r>
            <a:r>
              <a:rPr lang="en-US" altLang="zh-CN" dirty="0" err="1"/>
              <a:t>rs</a:t>
            </a:r>
            <a:r>
              <a:rPr lang="zh-CN" altLang="en-US" dirty="0"/>
              <a:t>与</a:t>
            </a:r>
            <a:r>
              <a:rPr lang="en-US" altLang="zh-CN" dirty="0"/>
              <a:t>rt</a:t>
            </a:r>
            <a:r>
              <a:rPr lang="zh-CN" altLang="en-US" dirty="0"/>
              <a:t>相同时，直接把要写入的数据送给输出，</a:t>
            </a:r>
            <a:r>
              <a:rPr lang="en-US" altLang="zh-CN" dirty="0"/>
              <a:t>bypass</a:t>
            </a:r>
            <a:r>
              <a:rPr lang="zh-CN" altLang="en-US" dirty="0"/>
              <a:t>掉了写寄存器的部分，读出延时比左图小。</a:t>
            </a:r>
            <a:endParaRPr lang="en-US" altLang="zh-CN" dirty="0"/>
          </a:p>
          <a:p>
            <a:r>
              <a:rPr lang="zh-CN" altLang="en-US" dirty="0"/>
              <a:t>图中的</a:t>
            </a:r>
            <a:r>
              <a:rPr lang="en-US" altLang="zh-CN" dirty="0"/>
              <a:t>rt</a:t>
            </a:r>
            <a:r>
              <a:rPr lang="zh-CN" altLang="en-US" dirty="0"/>
              <a:t>和</a:t>
            </a:r>
            <a:r>
              <a:rPr lang="en-US" altLang="zh-CN" dirty="0"/>
              <a:t>write data</a:t>
            </a:r>
            <a:r>
              <a:rPr lang="zh-CN" altLang="en-US" dirty="0"/>
              <a:t>的寄存器代表一种通用的设计</a:t>
            </a:r>
            <a:r>
              <a:rPr lang="en-US" altLang="zh-CN" dirty="0"/>
              <a:t>.</a:t>
            </a:r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43BC7509-23FA-40FA-8415-DBE86E406177}" type="slidenum">
              <a:rPr lang="zh-CN" altLang="en-US" smtClean="0"/>
              <a:t>84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883895902"/>
      </p:ext>
    </p:extLst>
  </p:cSld>
  <p:clrMapOvr>
    <a:masterClrMapping/>
  </p:clrMapOvr>
</p:notes>
</file>

<file path=ppt/notesSlides/notesSlide3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CN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43BC7509-23FA-40FA-8415-DBE86E406177}" type="slidenum">
              <a:rPr lang="zh-CN" altLang="en-US" smtClean="0"/>
              <a:t>87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923943514"/>
      </p:ext>
    </p:extLst>
  </p:cSld>
  <p:clrMapOvr>
    <a:masterClrMapping/>
  </p:clrMapOvr>
</p:notes>
</file>

<file path=ppt/notesSlides/notesSlide4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CN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43BC7509-23FA-40FA-8415-DBE86E406177}" type="slidenum">
              <a:rPr lang="zh-CN" altLang="en-US" smtClean="0"/>
              <a:t>88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327159257"/>
      </p:ext>
    </p:extLst>
  </p:cSld>
  <p:clrMapOvr>
    <a:masterClrMapping/>
  </p:clrMapOvr>
</p:notes>
</file>

<file path=ppt/notesSlides/notesSlide4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zh-CN" altLang="en-US" dirty="0">
                <a:latin typeface="Arial" pitchFamily="34" charset="0"/>
              </a:rPr>
              <a:t>为了完成</a:t>
            </a:r>
            <a:r>
              <a:rPr lang="en-US" altLang="zh-CN" dirty="0">
                <a:latin typeface="Arial" pitchFamily="34" charset="0"/>
              </a:rPr>
              <a:t>forwarding</a:t>
            </a:r>
            <a:r>
              <a:rPr lang="zh-CN" altLang="en-US" dirty="0">
                <a:latin typeface="Arial" pitchFamily="34" charset="0"/>
              </a:rPr>
              <a:t>，逻辑部分需要</a:t>
            </a:r>
            <a:r>
              <a:rPr lang="en-US" altLang="zh-CN" dirty="0">
                <a:latin typeface="Arial" pitchFamily="34" charset="0"/>
              </a:rPr>
              <a:t>ID/EX</a:t>
            </a:r>
            <a:r>
              <a:rPr lang="zh-CN" altLang="en-US" dirty="0">
                <a:latin typeface="Arial" pitchFamily="34" charset="0"/>
              </a:rPr>
              <a:t>中存放读取的寄存器的地址，</a:t>
            </a:r>
            <a:r>
              <a:rPr lang="en-US" altLang="zh-CN" dirty="0">
                <a:latin typeface="Arial" pitchFamily="34" charset="0"/>
              </a:rPr>
              <a:t>EX/MEM</a:t>
            </a:r>
            <a:r>
              <a:rPr lang="zh-CN" altLang="en-US" dirty="0">
                <a:latin typeface="Arial" pitchFamily="34" charset="0"/>
              </a:rPr>
              <a:t>和</a:t>
            </a:r>
            <a:r>
              <a:rPr lang="en-US" altLang="zh-CN" dirty="0">
                <a:latin typeface="Arial" pitchFamily="34" charset="0"/>
              </a:rPr>
              <a:t>MEM/WB</a:t>
            </a:r>
            <a:r>
              <a:rPr lang="zh-CN" altLang="en-US" dirty="0">
                <a:latin typeface="Arial" pitchFamily="34" charset="0"/>
              </a:rPr>
              <a:t>中的写回寄存器的地址</a:t>
            </a:r>
            <a:endParaRPr lang="en-US" altLang="zh-CN" dirty="0">
              <a:latin typeface="Arial" pitchFamily="34" charset="0"/>
            </a:endParaRPr>
          </a:p>
          <a:p>
            <a:pPr marL="209550" indent="-209550" eaLnBrk="1" hangingPunct="1"/>
            <a:endParaRPr lang="en-US" altLang="zh-CN" dirty="0">
              <a:latin typeface="Arial" pitchFamily="34" charset="0"/>
            </a:endParaRPr>
          </a:p>
          <a:p>
            <a:pPr marL="209550" indent="-209550" eaLnBrk="1" hangingPunct="1"/>
            <a:r>
              <a:rPr lang="en-US" altLang="zh-CN" dirty="0">
                <a:latin typeface="Arial" pitchFamily="34" charset="0"/>
              </a:rPr>
              <a:t>Control line inputs to Forward Unit EX/</a:t>
            </a:r>
            <a:r>
              <a:rPr lang="en-US" altLang="zh-CN" dirty="0" err="1">
                <a:latin typeface="Arial" pitchFamily="34" charset="0"/>
              </a:rPr>
              <a:t>MEM.RegWrite</a:t>
            </a:r>
            <a:r>
              <a:rPr lang="en-US" altLang="zh-CN" dirty="0">
                <a:latin typeface="Arial" pitchFamily="34" charset="0"/>
              </a:rPr>
              <a:t> and MEM/</a:t>
            </a:r>
            <a:r>
              <a:rPr lang="en-US" altLang="zh-CN" dirty="0" err="1">
                <a:latin typeface="Arial" pitchFamily="34" charset="0"/>
              </a:rPr>
              <a:t>WB.RegWrite</a:t>
            </a:r>
            <a:r>
              <a:rPr lang="en-US" altLang="zh-CN" dirty="0">
                <a:latin typeface="Arial" pitchFamily="34" charset="0"/>
              </a:rPr>
              <a:t> not shown on diagram</a:t>
            </a:r>
          </a:p>
          <a:p>
            <a:endParaRPr lang="zh-CN" altLang="en-US" dirty="0"/>
          </a:p>
          <a:p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43BC7509-23FA-40FA-8415-DBE86E406177}" type="slidenum">
              <a:rPr lang="zh-CN" altLang="en-US" smtClean="0"/>
              <a:t>89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823612165"/>
      </p:ext>
    </p:extLst>
  </p:cSld>
  <p:clrMapOvr>
    <a:masterClrMapping/>
  </p:clrMapOvr>
</p:notes>
</file>

<file path=ppt/notesSlides/notesSlide4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altLang="zh-CN" sz="1200" dirty="0" err="1">
                <a:solidFill>
                  <a:srgbClr val="C00000"/>
                </a:solidFill>
                <a:latin typeface="Arial" pitchFamily="34" charset="0"/>
              </a:rPr>
              <a:t>forwardA</a:t>
            </a:r>
            <a:r>
              <a:rPr lang="zh-CN" altLang="en-US" sz="1200" dirty="0">
                <a:solidFill>
                  <a:srgbClr val="C00000"/>
                </a:solidFill>
                <a:latin typeface="Arial" pitchFamily="34" charset="0"/>
              </a:rPr>
              <a:t>和</a:t>
            </a:r>
            <a:r>
              <a:rPr lang="en-US" altLang="zh-CN" sz="1200" dirty="0" err="1">
                <a:solidFill>
                  <a:srgbClr val="C00000"/>
                </a:solidFill>
                <a:latin typeface="Arial" pitchFamily="34" charset="0"/>
              </a:rPr>
              <a:t>forwardB</a:t>
            </a:r>
            <a:r>
              <a:rPr lang="zh-CN" altLang="en-US" sz="1200" dirty="0">
                <a:solidFill>
                  <a:srgbClr val="C00000"/>
                </a:solidFill>
                <a:latin typeface="Arial" pitchFamily="34" charset="0"/>
              </a:rPr>
              <a:t>是什么关系</a:t>
            </a:r>
            <a:r>
              <a:rPr lang="en-US" altLang="zh-CN" sz="1200" dirty="0">
                <a:solidFill>
                  <a:srgbClr val="C00000"/>
                </a:solidFill>
                <a:latin typeface="Arial" pitchFamily="34" charset="0"/>
              </a:rPr>
              <a:t>? </a:t>
            </a:r>
            <a:r>
              <a:rPr lang="zh-CN" altLang="en-US" sz="1200" dirty="0">
                <a:solidFill>
                  <a:srgbClr val="C00000"/>
                </a:solidFill>
                <a:latin typeface="Arial" pitchFamily="34" charset="0"/>
              </a:rPr>
              <a:t>分别对应</a:t>
            </a:r>
            <a:r>
              <a:rPr lang="en-US" altLang="zh-CN" sz="1200" dirty="0">
                <a:solidFill>
                  <a:srgbClr val="C00000"/>
                </a:solidFill>
                <a:latin typeface="Arial" pitchFamily="34" charset="0"/>
              </a:rPr>
              <a:t>Rs</a:t>
            </a:r>
            <a:r>
              <a:rPr lang="zh-CN" altLang="en-US" sz="1200" dirty="0">
                <a:solidFill>
                  <a:srgbClr val="C00000"/>
                </a:solidFill>
                <a:latin typeface="Arial" pitchFamily="34" charset="0"/>
              </a:rPr>
              <a:t> </a:t>
            </a:r>
            <a:r>
              <a:rPr lang="en-US" altLang="zh-CN" sz="1200" dirty="0">
                <a:solidFill>
                  <a:srgbClr val="C00000"/>
                </a:solidFill>
                <a:latin typeface="Arial" pitchFamily="34" charset="0"/>
              </a:rPr>
              <a:t>&amp;</a:t>
            </a:r>
            <a:r>
              <a:rPr lang="zh-CN" altLang="en-US" sz="1200" dirty="0">
                <a:solidFill>
                  <a:srgbClr val="C00000"/>
                </a:solidFill>
                <a:latin typeface="Arial" pitchFamily="34" charset="0"/>
              </a:rPr>
              <a:t> </a:t>
            </a:r>
            <a:r>
              <a:rPr lang="en-US" altLang="zh-CN" sz="1200" dirty="0">
                <a:solidFill>
                  <a:srgbClr val="C00000"/>
                </a:solidFill>
                <a:latin typeface="Arial" pitchFamily="34" charset="0"/>
              </a:rPr>
              <a:t>Rt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lang="en-US" altLang="zh-CN" sz="1200" dirty="0">
              <a:solidFill>
                <a:srgbClr val="C00000"/>
              </a:solidFill>
              <a:latin typeface="Arial" pitchFamily="34" charset="0"/>
            </a:endParaRPr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43BC7509-23FA-40FA-8415-DBE86E406177}" type="slidenum">
              <a:rPr lang="zh-CN" altLang="en-US" smtClean="0"/>
              <a:t>90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92917884"/>
      </p:ext>
    </p:extLst>
  </p:cSld>
  <p:clrMapOvr>
    <a:masterClrMapping/>
  </p:clrMapOvr>
</p:notes>
</file>

<file path=ppt/notesSlides/notesSlide4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CN" dirty="0"/>
              <a:t>SLLv: </a:t>
            </a:r>
            <a:r>
              <a:rPr lang="en-US" sz="1200" kern="1200" dirty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Shift Word Left Logical Variable </a:t>
            </a:r>
            <a:endParaRPr lang="en-US" dirty="0"/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200" kern="1200" dirty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SLLV </a:t>
            </a:r>
            <a:r>
              <a:rPr lang="en-US" sz="1200" kern="1200" dirty="0" err="1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rd</a:t>
            </a:r>
            <a:r>
              <a:rPr lang="en-US" sz="1200" kern="1200" dirty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, rt, </a:t>
            </a:r>
            <a:r>
              <a:rPr lang="en-US" sz="1200" kern="1200" dirty="0" err="1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rs</a:t>
            </a:r>
            <a:r>
              <a:rPr lang="en-US" sz="1200" kern="1200" dirty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 </a:t>
            </a:r>
            <a:endParaRPr lang="en-US" dirty="0"/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200" kern="1200" dirty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GPR[</a:t>
            </a:r>
            <a:r>
              <a:rPr lang="en-US" sz="1200" kern="1200" dirty="0" err="1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rd</a:t>
            </a:r>
            <a:r>
              <a:rPr lang="en-US" sz="1200" kern="1200" dirty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] </a:t>
            </a:r>
            <a:r>
              <a:rPr lang="en-US" sz="1200" kern="1200" dirty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  <a:sym typeface="Wingdings" pitchFamily="2" charset="2"/>
              </a:rPr>
              <a:t></a:t>
            </a:r>
            <a:r>
              <a:rPr lang="en-US" sz="1200" kern="1200" dirty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 GPR[rt] &lt;&lt; GPR[</a:t>
            </a:r>
            <a:r>
              <a:rPr lang="en-US" sz="1200" kern="1200" dirty="0" err="1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rs</a:t>
            </a:r>
            <a:r>
              <a:rPr lang="en-US" sz="1200" kern="1200" dirty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]</a:t>
            </a:r>
            <a:br>
              <a:rPr lang="en-US" sz="1200" kern="1200" dirty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</a:br>
            <a:endParaRPr lang="en-US" dirty="0"/>
          </a:p>
          <a:p>
            <a:r>
              <a:rPr lang="en-US" sz="1200" kern="1200" dirty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The contents of the low-order 32-bit word of GPR </a:t>
            </a:r>
            <a:r>
              <a:rPr lang="en-US" sz="1200" i="1" kern="1200" dirty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rt </a:t>
            </a:r>
            <a:r>
              <a:rPr lang="en-US" sz="1200" kern="1200" dirty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are shifted left, inserting zeros into the emptied bits. The resulting word is placed in GPR </a:t>
            </a:r>
            <a:r>
              <a:rPr lang="en-US" sz="1200" i="1" kern="1200" dirty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rd</a:t>
            </a:r>
            <a:r>
              <a:rPr lang="en-US" sz="1200" kern="1200" dirty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. The bit-shift amount is specified by the low-order 5 bits of GPR </a:t>
            </a:r>
            <a:r>
              <a:rPr lang="en-US" sz="1200" i="1" kern="1200" dirty="0" err="1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rs</a:t>
            </a:r>
            <a:r>
              <a:rPr lang="en-US" sz="1200" kern="1200" dirty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. </a:t>
            </a:r>
            <a:endParaRPr lang="en-US" dirty="0"/>
          </a:p>
          <a:p>
            <a:endParaRPr lang="en-CN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43BC7509-23FA-40FA-8415-DBE86E406177}" type="slidenum">
              <a:rPr lang="zh-CN" altLang="en-US" smtClean="0"/>
              <a:t>92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617550294"/>
      </p:ext>
    </p:extLst>
  </p:cSld>
  <p:clrMapOvr>
    <a:masterClrMapping/>
  </p:clrMapOvr>
</p:notes>
</file>

<file path=ppt/notesSlides/notesSlide4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zh-CN" altLang="en-US" dirty="0">
                <a:latin typeface="Arial" pitchFamily="34" charset="0"/>
              </a:rPr>
              <a:t>如果前面个两条指令写了同一个寄存器，</a:t>
            </a:r>
            <a:r>
              <a:rPr lang="en-US" altLang="zh-CN" dirty="0">
                <a:latin typeface="Arial" pitchFamily="34" charset="0"/>
              </a:rPr>
              <a:t>forward</a:t>
            </a:r>
            <a:r>
              <a:rPr lang="zh-CN" altLang="en-US" dirty="0">
                <a:latin typeface="Arial" pitchFamily="34" charset="0"/>
              </a:rPr>
              <a:t>谁？应该</a:t>
            </a:r>
            <a:r>
              <a:rPr lang="en-US" altLang="zh-CN" dirty="0">
                <a:latin typeface="Arial" pitchFamily="34" charset="0"/>
              </a:rPr>
              <a:t>forward</a:t>
            </a:r>
            <a:r>
              <a:rPr lang="zh-CN" altLang="en-US" dirty="0">
                <a:latin typeface="Arial" pitchFamily="34" charset="0"/>
              </a:rPr>
              <a:t>最新的寄存器，即</a:t>
            </a:r>
            <a:r>
              <a:rPr lang="en-US" altLang="zh-CN" dirty="0">
                <a:latin typeface="Arial" pitchFamily="34" charset="0"/>
              </a:rPr>
              <a:t>EX/MEM</a:t>
            </a:r>
            <a:r>
              <a:rPr lang="zh-CN" altLang="en-US" dirty="0">
                <a:latin typeface="Arial" pitchFamily="34" charset="0"/>
              </a:rPr>
              <a:t>中的数据</a:t>
            </a:r>
          </a:p>
          <a:p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43BC7509-23FA-40FA-8415-DBE86E406177}" type="slidenum">
              <a:rPr lang="zh-CN" altLang="en-US" smtClean="0"/>
              <a:t>94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685035290"/>
      </p:ext>
    </p:extLst>
  </p:cSld>
  <p:clrMapOvr>
    <a:masterClrMapping/>
  </p:clrMapOvr>
</p:notes>
</file>

<file path=ppt/notesSlides/notesSlide4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eaLnBrk="1" hangingPunct="1"/>
            <a:r>
              <a:rPr lang="zh-CN" altLang="en-US" dirty="0">
                <a:latin typeface="Arial" pitchFamily="34" charset="0"/>
              </a:rPr>
              <a:t>加一张图，来自上一页</a:t>
            </a:r>
            <a:endParaRPr lang="en-US" altLang="zh-CN" dirty="0">
              <a:latin typeface="Arial" pitchFamily="34" charset="0"/>
            </a:endParaRPr>
          </a:p>
          <a:p>
            <a:pPr eaLnBrk="1" hangingPunct="1"/>
            <a:r>
              <a:rPr lang="zh-CN" altLang="en-US" dirty="0">
                <a:latin typeface="Arial" pitchFamily="34" charset="0"/>
              </a:rPr>
              <a:t>前提相关，</a:t>
            </a:r>
            <a:r>
              <a:rPr lang="en-US" altLang="zh-CN" dirty="0">
                <a:latin typeface="Arial" pitchFamily="34" charset="0"/>
              </a:rPr>
              <a:t>Rs</a:t>
            </a:r>
            <a:r>
              <a:rPr lang="zh-CN" altLang="en-US" dirty="0">
                <a:latin typeface="Arial" pitchFamily="34" charset="0"/>
              </a:rPr>
              <a:t>与</a:t>
            </a:r>
            <a:r>
              <a:rPr lang="en-US" altLang="zh-CN" dirty="0">
                <a:latin typeface="Arial" pitchFamily="34" charset="0"/>
              </a:rPr>
              <a:t>Rt</a:t>
            </a:r>
            <a:r>
              <a:rPr lang="zh-CN" altLang="en-US" dirty="0">
                <a:latin typeface="Arial" pitchFamily="34" charset="0"/>
              </a:rPr>
              <a:t>独立</a:t>
            </a:r>
            <a:endParaRPr lang="en-US" altLang="zh-CN" dirty="0">
              <a:latin typeface="Arial" pitchFamily="34" charset="0"/>
            </a:endParaRPr>
          </a:p>
          <a:p>
            <a:pPr eaLnBrk="1" hangingPunct="1"/>
            <a:endParaRPr lang="en-US" altLang="zh-CN" dirty="0">
              <a:latin typeface="Arial" pitchFamily="34" charset="0"/>
            </a:endParaRPr>
          </a:p>
          <a:p>
            <a:pPr eaLnBrk="1" hangingPunct="1"/>
            <a:r>
              <a:rPr lang="en-US" altLang="zh-CN" dirty="0">
                <a:latin typeface="Arial" pitchFamily="34" charset="0"/>
              </a:rPr>
              <a:t>10: </a:t>
            </a:r>
            <a:r>
              <a:rPr lang="zh-CN" altLang="en-US" dirty="0">
                <a:latin typeface="Arial" pitchFamily="34" charset="0"/>
              </a:rPr>
              <a:t>从</a:t>
            </a:r>
            <a:r>
              <a:rPr lang="en-US" altLang="zh-CN" dirty="0">
                <a:latin typeface="Arial" pitchFamily="34" charset="0"/>
              </a:rPr>
              <a:t>(EX/MEM pipeline registers)</a:t>
            </a:r>
            <a:r>
              <a:rPr lang="zh-CN" altLang="en-US" dirty="0">
                <a:latin typeface="Arial" pitchFamily="34" charset="0"/>
              </a:rPr>
              <a:t>前一条指令</a:t>
            </a:r>
            <a:r>
              <a:rPr lang="en-US" altLang="zh-CN" dirty="0">
                <a:latin typeface="Arial" pitchFamily="34" charset="0"/>
              </a:rPr>
              <a:t>forward</a:t>
            </a:r>
          </a:p>
          <a:p>
            <a:pPr eaLnBrk="1" hangingPunct="1"/>
            <a:br>
              <a:rPr lang="en-US" altLang="zh-CN" dirty="0">
                <a:latin typeface="Arial" pitchFamily="34" charset="0"/>
              </a:rPr>
            </a:br>
            <a:r>
              <a:rPr lang="en-US" altLang="zh-CN" dirty="0">
                <a:latin typeface="Arial" pitchFamily="34" charset="0"/>
              </a:rPr>
              <a:t>01: </a:t>
            </a:r>
            <a:r>
              <a:rPr lang="zh-CN" altLang="en-US" dirty="0">
                <a:latin typeface="Arial" pitchFamily="34" charset="0"/>
              </a:rPr>
              <a:t>从</a:t>
            </a:r>
            <a:r>
              <a:rPr lang="en-US" altLang="zh-CN" dirty="0">
                <a:latin typeface="Arial" pitchFamily="34" charset="0"/>
              </a:rPr>
              <a:t>(MEM/WB pipeline registers)</a:t>
            </a:r>
            <a:r>
              <a:rPr lang="zh-CN" altLang="en-US" dirty="0">
                <a:latin typeface="Arial" pitchFamily="34" charset="0"/>
              </a:rPr>
              <a:t>前两条指令</a:t>
            </a:r>
            <a:r>
              <a:rPr lang="en-US" altLang="zh-CN" dirty="0">
                <a:latin typeface="Arial" pitchFamily="34" charset="0"/>
              </a:rPr>
              <a:t>forward</a:t>
            </a:r>
          </a:p>
          <a:p>
            <a:pPr eaLnBrk="1" hangingPunct="1"/>
            <a:endParaRPr lang="en-US" altLang="zh-CN" dirty="0">
              <a:latin typeface="Arial" pitchFamily="34" charset="0"/>
            </a:endParaRPr>
          </a:p>
          <a:p>
            <a:pPr marL="0" marR="0" indent="0" algn="just" defTabSz="914400" rtl="0" eaLnBrk="1" fontAlgn="base" latinLnBrk="0" hangingPunct="1">
              <a:lnSpc>
                <a:spcPct val="90000"/>
              </a:lnSpc>
              <a:spcBef>
                <a:spcPct val="4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zh-CN" altLang="en-US" dirty="0">
                <a:latin typeface="Arial" pitchFamily="34" charset="0"/>
              </a:rPr>
              <a:t>对于单独的</a:t>
            </a:r>
            <a:r>
              <a:rPr lang="en-US" altLang="zh-CN" dirty="0">
                <a:latin typeface="Arial" pitchFamily="34" charset="0"/>
              </a:rPr>
              <a:t>Rs</a:t>
            </a:r>
            <a:r>
              <a:rPr lang="zh-CN" altLang="en-US" dirty="0">
                <a:latin typeface="Arial" pitchFamily="34" charset="0"/>
              </a:rPr>
              <a:t>和</a:t>
            </a:r>
            <a:r>
              <a:rPr lang="en-US" altLang="zh-CN" dirty="0">
                <a:latin typeface="Arial" pitchFamily="34" charset="0"/>
              </a:rPr>
              <a:t>Rt</a:t>
            </a:r>
            <a:r>
              <a:rPr lang="zh-CN" altLang="en-US" dirty="0">
                <a:latin typeface="Arial" pitchFamily="34" charset="0"/>
              </a:rPr>
              <a:t>，需要有先后顺序，可以写成</a:t>
            </a:r>
            <a:r>
              <a:rPr lang="en-US" altLang="zh-CN" dirty="0">
                <a:latin typeface="Arial" pitchFamily="34" charset="0"/>
              </a:rPr>
              <a:t>if…else if… else</a:t>
            </a:r>
            <a:r>
              <a:rPr lang="zh-CN" altLang="en-US" dirty="0">
                <a:latin typeface="Arial" pitchFamily="34" charset="0"/>
              </a:rPr>
              <a:t>的形式。</a:t>
            </a:r>
          </a:p>
          <a:p>
            <a:pPr eaLnBrk="1" hangingPunct="1"/>
            <a:endParaRPr lang="zh-CN" altLang="en-US" dirty="0">
              <a:latin typeface="Arial" pitchFamily="34" charset="0"/>
            </a:endParaRPr>
          </a:p>
          <a:p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43BC7509-23FA-40FA-8415-DBE86E406177}" type="slidenum">
              <a:rPr lang="zh-CN" altLang="en-US" smtClean="0"/>
              <a:t>95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86713834"/>
      </p:ext>
    </p:extLst>
  </p:cSld>
  <p:clrMapOvr>
    <a:masterClrMapping/>
  </p:clrMapOvr>
</p:notes>
</file>

<file path=ppt/notesSlides/notesSlide4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eaLnBrk="1" hangingPunct="1"/>
            <a:r>
              <a:rPr lang="zh-CN" altLang="en-US" dirty="0">
                <a:latin typeface="Arial" pitchFamily="34" charset="0"/>
              </a:rPr>
              <a:t>加一张图，来自上一页</a:t>
            </a:r>
            <a:endParaRPr lang="en-US" altLang="zh-CN" dirty="0">
              <a:latin typeface="Arial" pitchFamily="34" charset="0"/>
            </a:endParaRPr>
          </a:p>
          <a:p>
            <a:pPr eaLnBrk="1" hangingPunct="1"/>
            <a:r>
              <a:rPr lang="zh-CN" altLang="en-US" dirty="0">
                <a:latin typeface="Arial" pitchFamily="34" charset="0"/>
              </a:rPr>
              <a:t>前提相关，</a:t>
            </a:r>
            <a:r>
              <a:rPr lang="en-US" altLang="zh-CN" dirty="0">
                <a:latin typeface="Arial" pitchFamily="34" charset="0"/>
              </a:rPr>
              <a:t>Rs</a:t>
            </a:r>
            <a:r>
              <a:rPr lang="zh-CN" altLang="en-US" dirty="0">
                <a:latin typeface="Arial" pitchFamily="34" charset="0"/>
              </a:rPr>
              <a:t>与</a:t>
            </a:r>
            <a:r>
              <a:rPr lang="en-US" altLang="zh-CN" dirty="0">
                <a:latin typeface="Arial" pitchFamily="34" charset="0"/>
              </a:rPr>
              <a:t>Rt</a:t>
            </a:r>
            <a:r>
              <a:rPr lang="zh-CN" altLang="en-US" dirty="0">
                <a:latin typeface="Arial" pitchFamily="34" charset="0"/>
              </a:rPr>
              <a:t>独立</a:t>
            </a:r>
            <a:endParaRPr lang="en-US" altLang="zh-CN" dirty="0">
              <a:latin typeface="Arial" pitchFamily="34" charset="0"/>
            </a:endParaRPr>
          </a:p>
          <a:p>
            <a:pPr eaLnBrk="1" hangingPunct="1"/>
            <a:endParaRPr lang="en-US" altLang="zh-CN" dirty="0">
              <a:latin typeface="Arial" pitchFamily="34" charset="0"/>
            </a:endParaRPr>
          </a:p>
          <a:p>
            <a:pPr eaLnBrk="1" hangingPunct="1"/>
            <a:r>
              <a:rPr lang="en-US" altLang="zh-CN" dirty="0">
                <a:latin typeface="Arial" pitchFamily="34" charset="0"/>
              </a:rPr>
              <a:t>10: </a:t>
            </a:r>
            <a:r>
              <a:rPr lang="zh-CN" altLang="en-US" dirty="0">
                <a:latin typeface="Arial" pitchFamily="34" charset="0"/>
              </a:rPr>
              <a:t>从</a:t>
            </a:r>
            <a:r>
              <a:rPr lang="en-US" altLang="zh-CN" dirty="0">
                <a:latin typeface="Arial" pitchFamily="34" charset="0"/>
              </a:rPr>
              <a:t>(EX/MEM pipeline registers)</a:t>
            </a:r>
            <a:r>
              <a:rPr lang="zh-CN" altLang="en-US" dirty="0">
                <a:latin typeface="Arial" pitchFamily="34" charset="0"/>
              </a:rPr>
              <a:t>前一条指令</a:t>
            </a:r>
            <a:r>
              <a:rPr lang="en-US" altLang="zh-CN" dirty="0">
                <a:latin typeface="Arial" pitchFamily="34" charset="0"/>
              </a:rPr>
              <a:t>forward</a:t>
            </a:r>
          </a:p>
          <a:p>
            <a:pPr eaLnBrk="1" hangingPunct="1"/>
            <a:br>
              <a:rPr lang="en-US" altLang="zh-CN" dirty="0">
                <a:latin typeface="Arial" pitchFamily="34" charset="0"/>
              </a:rPr>
            </a:br>
            <a:r>
              <a:rPr lang="en-US" altLang="zh-CN" dirty="0">
                <a:latin typeface="Arial" pitchFamily="34" charset="0"/>
              </a:rPr>
              <a:t>01: </a:t>
            </a:r>
            <a:r>
              <a:rPr lang="zh-CN" altLang="en-US" dirty="0">
                <a:latin typeface="Arial" pitchFamily="34" charset="0"/>
              </a:rPr>
              <a:t>从</a:t>
            </a:r>
            <a:r>
              <a:rPr lang="en-US" altLang="zh-CN" dirty="0">
                <a:latin typeface="Arial" pitchFamily="34" charset="0"/>
              </a:rPr>
              <a:t>(MEM/WB pipeline registers)</a:t>
            </a:r>
            <a:r>
              <a:rPr lang="zh-CN" altLang="en-US" dirty="0">
                <a:latin typeface="Arial" pitchFamily="34" charset="0"/>
              </a:rPr>
              <a:t>前两条指令</a:t>
            </a:r>
            <a:r>
              <a:rPr lang="en-US" altLang="zh-CN" dirty="0">
                <a:latin typeface="Arial" pitchFamily="34" charset="0"/>
              </a:rPr>
              <a:t>forward</a:t>
            </a:r>
          </a:p>
          <a:p>
            <a:pPr eaLnBrk="1" hangingPunct="1"/>
            <a:endParaRPr lang="en-US" altLang="zh-CN" dirty="0">
              <a:latin typeface="Arial" pitchFamily="34" charset="0"/>
            </a:endParaRPr>
          </a:p>
          <a:p>
            <a:pPr marL="0" marR="0" indent="0" algn="just" defTabSz="914400" rtl="0" eaLnBrk="1" fontAlgn="base" latinLnBrk="0" hangingPunct="1">
              <a:lnSpc>
                <a:spcPct val="90000"/>
              </a:lnSpc>
              <a:spcBef>
                <a:spcPct val="4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zh-CN" altLang="en-US" dirty="0">
                <a:latin typeface="Arial" pitchFamily="34" charset="0"/>
              </a:rPr>
              <a:t>对于单独的</a:t>
            </a:r>
            <a:r>
              <a:rPr lang="en-US" altLang="zh-CN" dirty="0">
                <a:latin typeface="Arial" pitchFamily="34" charset="0"/>
              </a:rPr>
              <a:t>Rs</a:t>
            </a:r>
            <a:r>
              <a:rPr lang="zh-CN" altLang="en-US" dirty="0">
                <a:latin typeface="Arial" pitchFamily="34" charset="0"/>
              </a:rPr>
              <a:t>和</a:t>
            </a:r>
            <a:r>
              <a:rPr lang="en-US" altLang="zh-CN" dirty="0">
                <a:latin typeface="Arial" pitchFamily="34" charset="0"/>
              </a:rPr>
              <a:t>Rt</a:t>
            </a:r>
            <a:r>
              <a:rPr lang="zh-CN" altLang="en-US" dirty="0">
                <a:latin typeface="Arial" pitchFamily="34" charset="0"/>
              </a:rPr>
              <a:t>，需要有先后顺序，可以写成</a:t>
            </a:r>
            <a:r>
              <a:rPr lang="en-US" altLang="zh-CN" dirty="0">
                <a:latin typeface="Arial" pitchFamily="34" charset="0"/>
              </a:rPr>
              <a:t>if…else if… else</a:t>
            </a:r>
            <a:r>
              <a:rPr lang="zh-CN" altLang="en-US" dirty="0">
                <a:latin typeface="Arial" pitchFamily="34" charset="0"/>
              </a:rPr>
              <a:t>的形式。</a:t>
            </a:r>
          </a:p>
          <a:p>
            <a:pPr eaLnBrk="1" hangingPunct="1"/>
            <a:endParaRPr lang="zh-CN" altLang="en-US" dirty="0">
              <a:latin typeface="Arial" pitchFamily="34" charset="0"/>
            </a:endParaRPr>
          </a:p>
          <a:p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43BC7509-23FA-40FA-8415-DBE86E406177}" type="slidenum">
              <a:rPr lang="zh-CN" altLang="en-US" smtClean="0"/>
              <a:t>96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537533173"/>
      </p:ext>
    </p:extLst>
  </p:cSld>
  <p:clrMapOvr>
    <a:masterClrMapping/>
  </p:clrMapOvr>
</p:notes>
</file>

<file path=ppt/notesSlides/notesSlide4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zh-CN" altLang="en-US" dirty="0">
                <a:latin typeface="Arial" pitchFamily="34" charset="0"/>
              </a:rPr>
              <a:t>为了完成</a:t>
            </a:r>
            <a:r>
              <a:rPr lang="en-US" altLang="zh-CN" dirty="0">
                <a:latin typeface="Arial" pitchFamily="34" charset="0"/>
              </a:rPr>
              <a:t>forwarding</a:t>
            </a:r>
            <a:r>
              <a:rPr lang="zh-CN" altLang="en-US" dirty="0">
                <a:latin typeface="Arial" pitchFamily="34" charset="0"/>
              </a:rPr>
              <a:t>，逻辑部分需要</a:t>
            </a:r>
            <a:r>
              <a:rPr lang="en-US" altLang="zh-CN" dirty="0">
                <a:latin typeface="Arial" pitchFamily="34" charset="0"/>
              </a:rPr>
              <a:t>ID/EX</a:t>
            </a:r>
            <a:r>
              <a:rPr lang="zh-CN" altLang="en-US" dirty="0">
                <a:latin typeface="Arial" pitchFamily="34" charset="0"/>
              </a:rPr>
              <a:t>中存放读取的寄存器的地址，</a:t>
            </a:r>
            <a:r>
              <a:rPr lang="en-US" altLang="zh-CN" dirty="0">
                <a:latin typeface="Arial" pitchFamily="34" charset="0"/>
              </a:rPr>
              <a:t>EX/MEM</a:t>
            </a:r>
            <a:r>
              <a:rPr lang="zh-CN" altLang="en-US" dirty="0">
                <a:latin typeface="Arial" pitchFamily="34" charset="0"/>
              </a:rPr>
              <a:t>和</a:t>
            </a:r>
            <a:r>
              <a:rPr lang="en-US" altLang="zh-CN" dirty="0">
                <a:latin typeface="Arial" pitchFamily="34" charset="0"/>
              </a:rPr>
              <a:t>MEM/WB</a:t>
            </a:r>
            <a:r>
              <a:rPr lang="zh-CN" altLang="en-US" dirty="0">
                <a:latin typeface="Arial" pitchFamily="34" charset="0"/>
              </a:rPr>
              <a:t>中的写回寄存器的地址</a:t>
            </a:r>
            <a:endParaRPr lang="en-US" altLang="zh-CN" dirty="0">
              <a:latin typeface="Arial" pitchFamily="34" charset="0"/>
            </a:endParaRPr>
          </a:p>
          <a:p>
            <a:pPr marL="209550" indent="-209550" eaLnBrk="1" hangingPunct="1"/>
            <a:endParaRPr lang="en-US" altLang="zh-CN" dirty="0">
              <a:latin typeface="Arial" pitchFamily="34" charset="0"/>
            </a:endParaRPr>
          </a:p>
          <a:p>
            <a:pPr marL="209550" indent="-209550" eaLnBrk="1" hangingPunct="1"/>
            <a:r>
              <a:rPr lang="en-US" altLang="zh-CN" dirty="0">
                <a:latin typeface="Arial" pitchFamily="34" charset="0"/>
              </a:rPr>
              <a:t>Control line inputs to Forward Unit EX/</a:t>
            </a:r>
            <a:r>
              <a:rPr lang="en-US" altLang="zh-CN" dirty="0" err="1">
                <a:latin typeface="Arial" pitchFamily="34" charset="0"/>
              </a:rPr>
              <a:t>MEM.RegWrite</a:t>
            </a:r>
            <a:r>
              <a:rPr lang="en-US" altLang="zh-CN" dirty="0">
                <a:latin typeface="Arial" pitchFamily="34" charset="0"/>
              </a:rPr>
              <a:t> and MEM/</a:t>
            </a:r>
            <a:r>
              <a:rPr lang="en-US" altLang="zh-CN" dirty="0" err="1">
                <a:latin typeface="Arial" pitchFamily="34" charset="0"/>
              </a:rPr>
              <a:t>WB.RegWrite</a:t>
            </a:r>
            <a:r>
              <a:rPr lang="en-US" altLang="zh-CN" dirty="0">
                <a:latin typeface="Arial" pitchFamily="34" charset="0"/>
              </a:rPr>
              <a:t> not shown on diagram</a:t>
            </a:r>
          </a:p>
          <a:p>
            <a:endParaRPr lang="zh-CN" altLang="en-US" dirty="0"/>
          </a:p>
          <a:p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43BC7509-23FA-40FA-8415-DBE86E406177}" type="slidenum">
              <a:rPr lang="zh-CN" altLang="en-US" smtClean="0"/>
              <a:t>97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4113057511"/>
      </p:ext>
    </p:extLst>
  </p:cSld>
  <p:clrMapOvr>
    <a:masterClrMapping/>
  </p:clrMapOvr>
</p:notes>
</file>

<file path=ppt/notesSlides/notesSlide4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zh-CN" altLang="en-US" dirty="0">
                <a:latin typeface="Arial" pitchFamily="34" charset="0"/>
              </a:rPr>
              <a:t>为了完成</a:t>
            </a:r>
            <a:r>
              <a:rPr lang="en-US" altLang="zh-CN" dirty="0">
                <a:latin typeface="Arial" pitchFamily="34" charset="0"/>
              </a:rPr>
              <a:t>forwarding</a:t>
            </a:r>
            <a:r>
              <a:rPr lang="zh-CN" altLang="en-US" dirty="0">
                <a:latin typeface="Arial" pitchFamily="34" charset="0"/>
              </a:rPr>
              <a:t>，逻辑部分需要</a:t>
            </a:r>
            <a:r>
              <a:rPr lang="en-US" altLang="zh-CN" dirty="0">
                <a:latin typeface="Arial" pitchFamily="34" charset="0"/>
              </a:rPr>
              <a:t>ID/EX</a:t>
            </a:r>
            <a:r>
              <a:rPr lang="zh-CN" altLang="en-US" dirty="0">
                <a:latin typeface="Arial" pitchFamily="34" charset="0"/>
              </a:rPr>
              <a:t>中存放读取的寄存器的地址，</a:t>
            </a:r>
            <a:r>
              <a:rPr lang="en-US" altLang="zh-CN" dirty="0">
                <a:latin typeface="Arial" pitchFamily="34" charset="0"/>
              </a:rPr>
              <a:t>EX/MEM</a:t>
            </a:r>
            <a:r>
              <a:rPr lang="zh-CN" altLang="en-US" dirty="0">
                <a:latin typeface="Arial" pitchFamily="34" charset="0"/>
              </a:rPr>
              <a:t>和</a:t>
            </a:r>
            <a:r>
              <a:rPr lang="en-US" altLang="zh-CN" dirty="0">
                <a:latin typeface="Arial" pitchFamily="34" charset="0"/>
              </a:rPr>
              <a:t>MEM/WB</a:t>
            </a:r>
            <a:r>
              <a:rPr lang="zh-CN" altLang="en-US" dirty="0">
                <a:latin typeface="Arial" pitchFamily="34" charset="0"/>
              </a:rPr>
              <a:t>中的写回寄存器的地址</a:t>
            </a:r>
            <a:endParaRPr lang="en-US" altLang="zh-CN" dirty="0">
              <a:latin typeface="Arial" pitchFamily="34" charset="0"/>
            </a:endParaRPr>
          </a:p>
          <a:p>
            <a:pPr marL="209550" indent="-209550" eaLnBrk="1" hangingPunct="1"/>
            <a:endParaRPr lang="en-US" altLang="zh-CN" dirty="0">
              <a:latin typeface="Arial" pitchFamily="34" charset="0"/>
            </a:endParaRPr>
          </a:p>
          <a:p>
            <a:pPr marL="209550" indent="-209550" eaLnBrk="1" hangingPunct="1"/>
            <a:r>
              <a:rPr lang="en-US" altLang="zh-CN" dirty="0">
                <a:latin typeface="Arial" pitchFamily="34" charset="0"/>
              </a:rPr>
              <a:t>Control line inputs to Forward Unit EX/</a:t>
            </a:r>
            <a:r>
              <a:rPr lang="en-US" altLang="zh-CN" dirty="0" err="1">
                <a:latin typeface="Arial" pitchFamily="34" charset="0"/>
              </a:rPr>
              <a:t>MEM.RegWrite</a:t>
            </a:r>
            <a:r>
              <a:rPr lang="en-US" altLang="zh-CN" dirty="0">
                <a:latin typeface="Arial" pitchFamily="34" charset="0"/>
              </a:rPr>
              <a:t> and MEM/</a:t>
            </a:r>
            <a:r>
              <a:rPr lang="en-US" altLang="zh-CN" dirty="0" err="1">
                <a:latin typeface="Arial" pitchFamily="34" charset="0"/>
              </a:rPr>
              <a:t>WB.RegWrite</a:t>
            </a:r>
            <a:r>
              <a:rPr lang="en-US" altLang="zh-CN" dirty="0">
                <a:latin typeface="Arial" pitchFamily="34" charset="0"/>
              </a:rPr>
              <a:t> not shown on diagram</a:t>
            </a:r>
          </a:p>
          <a:p>
            <a:endParaRPr lang="zh-CN" altLang="en-US" dirty="0"/>
          </a:p>
          <a:p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43BC7509-23FA-40FA-8415-DBE86E406177}" type="slidenum">
              <a:rPr lang="zh-CN" altLang="en-US" smtClean="0"/>
              <a:t>98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631502309"/>
      </p:ext>
    </p:extLst>
  </p:cSld>
  <p:clrMapOvr>
    <a:masterClrMapping/>
  </p:clrMapOvr>
</p:notes>
</file>

<file path=ppt/notesSlides/notesSlide4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zh-CN" altLang="en-US" dirty="0">
                <a:latin typeface="Arial" pitchFamily="34" charset="0"/>
              </a:rPr>
              <a:t>为了完成</a:t>
            </a:r>
            <a:r>
              <a:rPr lang="en-US" altLang="zh-CN" dirty="0">
                <a:latin typeface="Arial" pitchFamily="34" charset="0"/>
              </a:rPr>
              <a:t>forwarding</a:t>
            </a:r>
            <a:r>
              <a:rPr lang="zh-CN" altLang="en-US" dirty="0">
                <a:latin typeface="Arial" pitchFamily="34" charset="0"/>
              </a:rPr>
              <a:t>，逻辑部分需要</a:t>
            </a:r>
            <a:r>
              <a:rPr lang="en-US" altLang="zh-CN" dirty="0">
                <a:latin typeface="Arial" pitchFamily="34" charset="0"/>
              </a:rPr>
              <a:t>ID/EX</a:t>
            </a:r>
            <a:r>
              <a:rPr lang="zh-CN" altLang="en-US" dirty="0">
                <a:latin typeface="Arial" pitchFamily="34" charset="0"/>
              </a:rPr>
              <a:t>中存放读取的寄存器的地址，</a:t>
            </a:r>
            <a:r>
              <a:rPr lang="en-US" altLang="zh-CN" dirty="0">
                <a:latin typeface="Arial" pitchFamily="34" charset="0"/>
              </a:rPr>
              <a:t>EX/MEM</a:t>
            </a:r>
            <a:r>
              <a:rPr lang="zh-CN" altLang="en-US" dirty="0">
                <a:latin typeface="Arial" pitchFamily="34" charset="0"/>
              </a:rPr>
              <a:t>和</a:t>
            </a:r>
            <a:r>
              <a:rPr lang="en-US" altLang="zh-CN" dirty="0">
                <a:latin typeface="Arial" pitchFamily="34" charset="0"/>
              </a:rPr>
              <a:t>MEM/WB</a:t>
            </a:r>
            <a:r>
              <a:rPr lang="zh-CN" altLang="en-US" dirty="0">
                <a:latin typeface="Arial" pitchFamily="34" charset="0"/>
              </a:rPr>
              <a:t>中的写回寄存器的地址</a:t>
            </a:r>
            <a:endParaRPr lang="en-US" altLang="zh-CN" dirty="0">
              <a:latin typeface="Arial" pitchFamily="34" charset="0"/>
            </a:endParaRPr>
          </a:p>
          <a:p>
            <a:pPr marL="209550" indent="-209550" eaLnBrk="1" hangingPunct="1"/>
            <a:endParaRPr lang="en-US" altLang="zh-CN" dirty="0">
              <a:latin typeface="Arial" pitchFamily="34" charset="0"/>
            </a:endParaRPr>
          </a:p>
          <a:p>
            <a:pPr marL="209550" indent="-209550" eaLnBrk="1" hangingPunct="1"/>
            <a:r>
              <a:rPr lang="en-US" altLang="zh-CN" dirty="0">
                <a:latin typeface="Arial" pitchFamily="34" charset="0"/>
              </a:rPr>
              <a:t>Control line inputs to Forward Unit EX/</a:t>
            </a:r>
            <a:r>
              <a:rPr lang="en-US" altLang="zh-CN" dirty="0" err="1">
                <a:latin typeface="Arial" pitchFamily="34" charset="0"/>
              </a:rPr>
              <a:t>MEM.RegWrite</a:t>
            </a:r>
            <a:r>
              <a:rPr lang="en-US" altLang="zh-CN" dirty="0">
                <a:latin typeface="Arial" pitchFamily="34" charset="0"/>
              </a:rPr>
              <a:t> and MEM/</a:t>
            </a:r>
            <a:r>
              <a:rPr lang="en-US" altLang="zh-CN" dirty="0" err="1">
                <a:latin typeface="Arial" pitchFamily="34" charset="0"/>
              </a:rPr>
              <a:t>WB.RegWrite</a:t>
            </a:r>
            <a:r>
              <a:rPr lang="en-US" altLang="zh-CN" dirty="0">
                <a:latin typeface="Arial" pitchFamily="34" charset="0"/>
              </a:rPr>
              <a:t> not shown on diagram</a:t>
            </a:r>
          </a:p>
          <a:p>
            <a:endParaRPr lang="zh-CN" altLang="en-US" dirty="0"/>
          </a:p>
          <a:p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43BC7509-23FA-40FA-8415-DBE86E406177}" type="slidenum">
              <a:rPr lang="zh-CN" altLang="en-US" smtClean="0"/>
              <a:t>99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777807434"/>
      </p:ext>
    </p:extLst>
  </p:cSld>
  <p:clrMapOvr>
    <a:masterClrMapping/>
  </p:clrMapOvr>
</p:notes>
</file>

<file path=ppt/notesSlides/notesSlide5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AFADF04F-F2F9-486C-A752-12D4B1C511A4}" type="slidenum">
              <a:rPr lang="en-US" altLang="zh-CN" smtClean="0"/>
              <a:pPr/>
              <a:t>102</a:t>
            </a:fld>
            <a:endParaRPr lang="en-US" altLang="zh-CN"/>
          </a:p>
        </p:txBody>
      </p:sp>
    </p:spTree>
    <p:extLst>
      <p:ext uri="{BB962C8B-B14F-4D97-AF65-F5344CB8AC3E}">
        <p14:creationId xmlns:p14="http://schemas.microsoft.com/office/powerpoint/2010/main" val="3405145615"/>
      </p:ext>
    </p:extLst>
  </p:cSld>
  <p:clrMapOvr>
    <a:masterClrMapping/>
  </p:clrMapOvr>
</p:notes>
</file>

<file path=ppt/notesSlides/notesSlide5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zh-CN" altLang="en-US" dirty="0"/>
              <a:t>分支提前到</a:t>
            </a:r>
            <a:r>
              <a:rPr lang="en-US" altLang="zh-CN" dirty="0"/>
              <a:t>ID</a:t>
            </a:r>
            <a:r>
              <a:rPr lang="zh-CN" altLang="en-US" dirty="0"/>
              <a:t>阶段这里的</a:t>
            </a:r>
            <a:r>
              <a:rPr lang="en-US" altLang="zh-CN" dirty="0"/>
              <a:t>A==B</a:t>
            </a:r>
            <a:r>
              <a:rPr lang="zh-CN" altLang="en-US" dirty="0"/>
              <a:t>其实也会有冒险，留给同学们自己去分析，</a:t>
            </a:r>
            <a:r>
              <a:rPr lang="en-US" altLang="zh-CN" dirty="0"/>
              <a:t>ppt</a:t>
            </a:r>
            <a:r>
              <a:rPr lang="zh-CN" altLang="en-US" dirty="0"/>
              <a:t>里没有具体分析。</a:t>
            </a:r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43BC7509-23FA-40FA-8415-DBE86E406177}" type="slidenum">
              <a:rPr lang="zh-CN" altLang="en-US" smtClean="0"/>
              <a:t>103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675661006"/>
      </p:ext>
    </p:extLst>
  </p:cSld>
  <p:clrMapOvr>
    <a:masterClrMapping/>
  </p:clrMapOvr>
</p:notes>
</file>

<file path=ppt/notesSlides/notesSlide5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CN" dirty="0"/>
              <a:t>讲座p</a:t>
            </a:r>
            <a:r>
              <a:rPr lang="en-US" altLang="zh-CN" dirty="0"/>
              <a:t>93</a:t>
            </a:r>
            <a:endParaRPr lang="en-CN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AFADF04F-F2F9-486C-A752-12D4B1C511A4}" type="slidenum">
              <a:rPr lang="en-US" altLang="zh-CN" smtClean="0"/>
              <a:pPr/>
              <a:t>106</a:t>
            </a:fld>
            <a:endParaRPr lang="en-US" altLang="zh-CN"/>
          </a:p>
        </p:txBody>
      </p:sp>
    </p:spTree>
    <p:extLst>
      <p:ext uri="{BB962C8B-B14F-4D97-AF65-F5344CB8AC3E}">
        <p14:creationId xmlns:p14="http://schemas.microsoft.com/office/powerpoint/2010/main" val="147148203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2.xml"/></Relationships>
</file>

<file path=ppt/slideLayouts/_rels/slideLayout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标题幻灯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ctrTitle"/>
          </p:nvPr>
        </p:nvSpPr>
        <p:spPr>
          <a:xfrm>
            <a:off x="685800" y="2130429"/>
            <a:ext cx="7772400" cy="1470025"/>
          </a:xfrm>
        </p:spPr>
        <p:txBody>
          <a:bodyPr/>
          <a:lstStyle/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副标题 2"/>
          <p:cNvSpPr>
            <a:spLocks noGrp="1"/>
          </p:cNvSpPr>
          <p:nvPr>
            <p:ph type="subTitle" idx="1"/>
          </p:nvPr>
        </p:nvSpPr>
        <p:spPr>
          <a:xfrm>
            <a:off x="1371600" y="3886200"/>
            <a:ext cx="6400800" cy="1752600"/>
          </a:xfrm>
        </p:spPr>
        <p:txBody>
          <a:bodyPr/>
          <a:lstStyle>
            <a:lvl1pPr marL="0" indent="0" algn="ctr">
              <a:buNone/>
              <a:defRPr/>
            </a:lvl1pPr>
            <a:lvl2pPr marL="342900" indent="0" algn="ctr">
              <a:buNone/>
              <a:defRPr/>
            </a:lvl2pPr>
            <a:lvl3pPr marL="685800" indent="0" algn="ctr">
              <a:buNone/>
              <a:defRPr/>
            </a:lvl3pPr>
            <a:lvl4pPr marL="1028700" indent="0" algn="ctr">
              <a:buNone/>
              <a:defRPr/>
            </a:lvl4pPr>
            <a:lvl5pPr marL="1371600" indent="0" algn="ctr">
              <a:buNone/>
              <a:defRPr/>
            </a:lvl5pPr>
            <a:lvl6pPr marL="1714500" indent="0" algn="ctr">
              <a:buNone/>
              <a:defRPr/>
            </a:lvl6pPr>
            <a:lvl7pPr marL="2057400" indent="0" algn="ctr">
              <a:buNone/>
              <a:defRPr/>
            </a:lvl7pPr>
            <a:lvl8pPr marL="2400300" indent="0" algn="ctr">
              <a:buNone/>
              <a:defRPr/>
            </a:lvl8pPr>
            <a:lvl9pPr marL="2743200" indent="0" algn="ctr">
              <a:buNone/>
              <a:defRPr/>
            </a:lvl9pPr>
          </a:lstStyle>
          <a:p>
            <a:r>
              <a:rPr lang="zh-CN" altLang="en-US"/>
              <a:t>单击此处编辑母版副标题样式</a:t>
            </a:r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fld id="{F7C79243-752F-DF47-B6D4-756C566A026A}" type="datetime1">
              <a:rPr lang="en-US" altLang="zh-CN" smtClean="0"/>
              <a:t>6/14/2024</a:t>
            </a:fld>
            <a:endParaRPr lang="zh-CN" altLang="en-US"/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endParaRPr lang="zh-CN" altLang="en-US"/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B1806CE5-282B-4233-8654-09F35EA875E2}" type="slidenum">
              <a:rPr lang="zh-CN" altLang="en-US" smtClean="0"/>
              <a:t>‹#›</a:t>
            </a:fld>
            <a:endParaRPr lang="zh-CN" altLang="en-US"/>
          </a:p>
        </p:txBody>
      </p:sp>
      <p:pic>
        <p:nvPicPr>
          <p:cNvPr id="9" name="图片 8">
            <a:extLst>
              <a:ext uri="{FF2B5EF4-FFF2-40B4-BE49-F238E27FC236}">
                <a16:creationId xmlns:a16="http://schemas.microsoft.com/office/drawing/2014/main" id="{D2643867-3CED-6309-9BAC-C2B12010D42C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/>
          <a:srcRect r="84159"/>
          <a:stretch/>
        </p:blipFill>
        <p:spPr>
          <a:xfrm>
            <a:off x="0" y="0"/>
            <a:ext cx="1340427" cy="1357258"/>
          </a:xfrm>
          <a:prstGeom prst="rect">
            <a:avLst/>
          </a:prstGeom>
        </p:spPr>
      </p:pic>
      <p:pic>
        <p:nvPicPr>
          <p:cNvPr id="10" name="图片 9">
            <a:extLst>
              <a:ext uri="{FF2B5EF4-FFF2-40B4-BE49-F238E27FC236}">
                <a16:creationId xmlns:a16="http://schemas.microsoft.com/office/drawing/2014/main" id="{EA3E6F9D-009F-5988-41FA-2D3D29833CE7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/>
          <a:srcRect l="17445" r="66386"/>
          <a:stretch/>
        </p:blipFill>
        <p:spPr>
          <a:xfrm>
            <a:off x="7775848" y="0"/>
            <a:ext cx="1368152" cy="1357258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335127314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标题和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 sz="3600"/>
            </a:lvl1pPr>
          </a:lstStyle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内容占位符 2"/>
          <p:cNvSpPr>
            <a:spLocks noGrp="1"/>
          </p:cNvSpPr>
          <p:nvPr>
            <p:ph idx="1"/>
          </p:nvPr>
        </p:nvSpPr>
        <p:spPr>
          <a:xfrm>
            <a:off x="457200" y="1166020"/>
            <a:ext cx="8229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600"/>
            </a:lvl4pPr>
            <a:lvl5pPr>
              <a:defRPr sz="1600"/>
            </a:lvl5pPr>
          </a:lstStyle>
          <a:p>
            <a:pPr lvl="0"/>
            <a:r>
              <a:rPr lang="zh-CN" altLang="en-US"/>
              <a:t>单击此处编辑母版文本样式</a:t>
            </a:r>
          </a:p>
          <a:p>
            <a:pPr lvl="1"/>
            <a:r>
              <a:rPr lang="zh-CN" altLang="en-US"/>
              <a:t>二级</a:t>
            </a:r>
          </a:p>
          <a:p>
            <a:pPr lvl="2"/>
            <a:r>
              <a:rPr lang="zh-CN" altLang="en-US"/>
              <a:t>三级</a:t>
            </a:r>
          </a:p>
          <a:p>
            <a:pPr lvl="3"/>
            <a:r>
              <a:rPr lang="zh-CN" altLang="en-US"/>
              <a:t>四级</a:t>
            </a:r>
          </a:p>
          <a:p>
            <a:pPr lvl="4"/>
            <a:r>
              <a:rPr lang="zh-CN" altLang="en-US"/>
              <a:t>五级</a:t>
            </a:r>
            <a:endParaRPr lang="zh-CN" altLang="en-US" dirty="0"/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fld id="{4845AFC4-5D56-9E4D-960E-96CF80556026}" type="datetime1">
              <a:rPr lang="en-US" altLang="zh-CN" smtClean="0"/>
              <a:t>6/14/2024</a:t>
            </a:fld>
            <a:endParaRPr lang="zh-CN" altLang="en-US"/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endParaRPr lang="zh-CN" altLang="en-US"/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B1806CE5-282B-4233-8654-09F35EA875E2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2812130044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节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722313" y="4406904"/>
            <a:ext cx="7772400" cy="1362075"/>
          </a:xfrm>
        </p:spPr>
        <p:txBody>
          <a:bodyPr anchor="t"/>
          <a:lstStyle>
            <a:lvl1pPr algn="l">
              <a:defRPr sz="3000" b="1" cap="all"/>
            </a:lvl1pPr>
          </a:lstStyle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1500"/>
            </a:lvl1pPr>
            <a:lvl2pPr marL="342900" indent="0">
              <a:buNone/>
              <a:defRPr sz="1350"/>
            </a:lvl2pPr>
            <a:lvl3pPr marL="685800" indent="0">
              <a:buNone/>
              <a:defRPr sz="1200"/>
            </a:lvl3pPr>
            <a:lvl4pPr marL="1028700" indent="0">
              <a:buNone/>
              <a:defRPr sz="1050"/>
            </a:lvl4pPr>
            <a:lvl5pPr marL="1371600" indent="0">
              <a:buNone/>
              <a:defRPr sz="1050"/>
            </a:lvl5pPr>
            <a:lvl6pPr marL="1714500" indent="0">
              <a:buNone/>
              <a:defRPr sz="1050"/>
            </a:lvl6pPr>
            <a:lvl7pPr marL="2057400" indent="0">
              <a:buNone/>
              <a:defRPr sz="1050"/>
            </a:lvl7pPr>
            <a:lvl8pPr marL="2400300" indent="0">
              <a:buNone/>
              <a:defRPr sz="1050"/>
            </a:lvl8pPr>
            <a:lvl9pPr marL="2743200" indent="0">
              <a:buNone/>
              <a:defRPr sz="1050"/>
            </a:lvl9pPr>
          </a:lstStyle>
          <a:p>
            <a:pPr lvl="0"/>
            <a:r>
              <a:rPr lang="zh-CN" altLang="en-US"/>
              <a:t>单击此处编辑母版文本样式</a:t>
            </a:r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fld id="{1DBF26C3-45FA-7841-91B3-D1A1061DB1A2}" type="datetime1">
              <a:rPr lang="en-US" altLang="zh-CN" smtClean="0"/>
              <a:t>6/14/2024</a:t>
            </a:fld>
            <a:endParaRPr lang="zh-CN" altLang="en-US"/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endParaRPr lang="zh-CN" altLang="en-US"/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B1806CE5-282B-4233-8654-09F35EA875E2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4163033128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两栏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内容占位符 2"/>
          <p:cNvSpPr>
            <a:spLocks noGrp="1"/>
          </p:cNvSpPr>
          <p:nvPr>
            <p:ph sz="half" idx="1"/>
          </p:nvPr>
        </p:nvSpPr>
        <p:spPr>
          <a:xfrm>
            <a:off x="457200" y="1600204"/>
            <a:ext cx="4038600" cy="4525963"/>
          </a:xfrm>
        </p:spPr>
        <p:txBody>
          <a:bodyPr/>
          <a:lstStyle>
            <a:lvl1pPr>
              <a:defRPr sz="2100"/>
            </a:lvl1pPr>
            <a:lvl2pPr>
              <a:defRPr sz="1800"/>
            </a:lvl2pPr>
            <a:lvl3pPr>
              <a:defRPr sz="1500"/>
            </a:lvl3pPr>
            <a:lvl4pPr>
              <a:defRPr sz="1350"/>
            </a:lvl4pPr>
            <a:lvl5pPr>
              <a:defRPr sz="1350"/>
            </a:lvl5pPr>
            <a:lvl6pPr>
              <a:defRPr sz="1350"/>
            </a:lvl6pPr>
            <a:lvl7pPr>
              <a:defRPr sz="1350"/>
            </a:lvl7pPr>
            <a:lvl8pPr>
              <a:defRPr sz="1350"/>
            </a:lvl8pPr>
            <a:lvl9pPr>
              <a:defRPr sz="1350"/>
            </a:lvl9pPr>
          </a:lstStyle>
          <a:p>
            <a:pPr lvl="0"/>
            <a:r>
              <a:rPr lang="zh-CN" altLang="en-US"/>
              <a:t>单击此处编辑母版文本样式</a:t>
            </a:r>
          </a:p>
          <a:p>
            <a:pPr lvl="1"/>
            <a:r>
              <a:rPr lang="zh-CN" altLang="en-US"/>
              <a:t>二级</a:t>
            </a:r>
          </a:p>
          <a:p>
            <a:pPr lvl="2"/>
            <a:r>
              <a:rPr lang="zh-CN" altLang="en-US"/>
              <a:t>三级</a:t>
            </a:r>
          </a:p>
          <a:p>
            <a:pPr lvl="3"/>
            <a:r>
              <a:rPr lang="zh-CN" altLang="en-US"/>
              <a:t>四级</a:t>
            </a:r>
          </a:p>
          <a:p>
            <a:pPr lvl="4"/>
            <a:r>
              <a:rPr lang="zh-CN" altLang="en-US"/>
              <a:t>五级</a:t>
            </a:r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</p:nvPr>
        </p:nvSpPr>
        <p:spPr>
          <a:xfrm>
            <a:off x="4648200" y="1600204"/>
            <a:ext cx="4038600" cy="4525963"/>
          </a:xfrm>
        </p:spPr>
        <p:txBody>
          <a:bodyPr/>
          <a:lstStyle>
            <a:lvl1pPr>
              <a:defRPr sz="2100"/>
            </a:lvl1pPr>
            <a:lvl2pPr>
              <a:defRPr sz="1800"/>
            </a:lvl2pPr>
            <a:lvl3pPr>
              <a:defRPr sz="1500"/>
            </a:lvl3pPr>
            <a:lvl4pPr>
              <a:defRPr sz="1350"/>
            </a:lvl4pPr>
            <a:lvl5pPr>
              <a:defRPr sz="1350"/>
            </a:lvl5pPr>
            <a:lvl6pPr>
              <a:defRPr sz="1350"/>
            </a:lvl6pPr>
            <a:lvl7pPr>
              <a:defRPr sz="1350"/>
            </a:lvl7pPr>
            <a:lvl8pPr>
              <a:defRPr sz="1350"/>
            </a:lvl8pPr>
            <a:lvl9pPr>
              <a:defRPr sz="1350"/>
            </a:lvl9pPr>
          </a:lstStyle>
          <a:p>
            <a:pPr lvl="0"/>
            <a:r>
              <a:rPr lang="zh-CN" altLang="en-US"/>
              <a:t>单击此处编辑母版文本样式</a:t>
            </a:r>
          </a:p>
          <a:p>
            <a:pPr lvl="1"/>
            <a:r>
              <a:rPr lang="zh-CN" altLang="en-US"/>
              <a:t>二级</a:t>
            </a:r>
          </a:p>
          <a:p>
            <a:pPr lvl="2"/>
            <a:r>
              <a:rPr lang="zh-CN" altLang="en-US"/>
              <a:t>三级</a:t>
            </a:r>
          </a:p>
          <a:p>
            <a:pPr lvl="3"/>
            <a:r>
              <a:rPr lang="zh-CN" altLang="en-US"/>
              <a:t>四级</a:t>
            </a:r>
          </a:p>
          <a:p>
            <a:pPr lvl="4"/>
            <a:r>
              <a:rPr lang="zh-CN" altLang="en-US"/>
              <a:t>五级</a:t>
            </a:r>
          </a:p>
        </p:txBody>
      </p:sp>
      <p:sp>
        <p:nvSpPr>
          <p:cNvPr id="5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fld id="{D98A5DE4-6B76-514B-9C85-46D3C195F145}" type="datetime1">
              <a:rPr lang="en-US" altLang="zh-CN" smtClean="0"/>
              <a:t>6/14/2024</a:t>
            </a:fld>
            <a:endParaRPr lang="zh-CN" altLang="en-US"/>
          </a:p>
        </p:txBody>
      </p:sp>
      <p:sp>
        <p:nvSpPr>
          <p:cNvPr id="6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endParaRPr lang="zh-CN" altLang="en-US"/>
          </a:p>
        </p:txBody>
      </p:sp>
      <p:sp>
        <p:nvSpPr>
          <p:cNvPr id="7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B1806CE5-282B-4233-8654-09F35EA875E2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866100419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比较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1800" b="1"/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/>
            <a:r>
              <a:rPr lang="zh-CN" altLang="en-US"/>
              <a:t>单击此处编辑母版文本样式</a:t>
            </a:r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1800"/>
            </a:lvl1pPr>
            <a:lvl2pPr>
              <a:defRPr sz="1500"/>
            </a:lvl2pPr>
            <a:lvl3pPr>
              <a:defRPr sz="1350"/>
            </a:lvl3pPr>
            <a:lvl4pPr>
              <a:defRPr sz="1200"/>
            </a:lvl4pPr>
            <a:lvl5pPr>
              <a:defRPr sz="1200"/>
            </a:lvl5pPr>
            <a:lvl6pPr>
              <a:defRPr sz="1200"/>
            </a:lvl6pPr>
            <a:lvl7pPr>
              <a:defRPr sz="1200"/>
            </a:lvl7pPr>
            <a:lvl8pPr>
              <a:defRPr sz="1200"/>
            </a:lvl8pPr>
            <a:lvl9pPr>
              <a:defRPr sz="1200"/>
            </a:lvl9pPr>
          </a:lstStyle>
          <a:p>
            <a:pPr lvl="0"/>
            <a:r>
              <a:rPr lang="zh-CN" altLang="en-US"/>
              <a:t>单击此处编辑母版文本样式</a:t>
            </a:r>
          </a:p>
          <a:p>
            <a:pPr lvl="1"/>
            <a:r>
              <a:rPr lang="zh-CN" altLang="en-US"/>
              <a:t>二级</a:t>
            </a:r>
          </a:p>
          <a:p>
            <a:pPr lvl="2"/>
            <a:r>
              <a:rPr lang="zh-CN" altLang="en-US"/>
              <a:t>三级</a:t>
            </a:r>
          </a:p>
          <a:p>
            <a:pPr lvl="3"/>
            <a:r>
              <a:rPr lang="zh-CN" altLang="en-US"/>
              <a:t>四级</a:t>
            </a:r>
          </a:p>
          <a:p>
            <a:pPr lvl="4"/>
            <a:r>
              <a:rPr lang="zh-CN" altLang="en-US"/>
              <a:t>五级</a:t>
            </a:r>
          </a:p>
        </p:txBody>
      </p:sp>
      <p:sp>
        <p:nvSpPr>
          <p:cNvPr id="5" name="文本占位符 4"/>
          <p:cNvSpPr>
            <a:spLocks noGrp="1"/>
          </p:cNvSpPr>
          <p:nvPr>
            <p:ph type="body" sz="quarter" idx="3"/>
          </p:nvPr>
        </p:nvSpPr>
        <p:spPr>
          <a:xfrm>
            <a:off x="4645027" y="1535113"/>
            <a:ext cx="4041775" cy="639762"/>
          </a:xfrm>
        </p:spPr>
        <p:txBody>
          <a:bodyPr anchor="b"/>
          <a:lstStyle>
            <a:lvl1pPr marL="0" indent="0">
              <a:buNone/>
              <a:defRPr sz="1800" b="1"/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/>
            <a:r>
              <a:rPr lang="zh-CN" altLang="en-US"/>
              <a:t>单击此处编辑母版文本样式</a:t>
            </a:r>
          </a:p>
        </p:txBody>
      </p:sp>
      <p:sp>
        <p:nvSpPr>
          <p:cNvPr id="6" name="内容占位符 5"/>
          <p:cNvSpPr>
            <a:spLocks noGrp="1"/>
          </p:cNvSpPr>
          <p:nvPr>
            <p:ph sz="quarter" idx="4"/>
          </p:nvPr>
        </p:nvSpPr>
        <p:spPr>
          <a:xfrm>
            <a:off x="4645027" y="2174875"/>
            <a:ext cx="4041775" cy="3951288"/>
          </a:xfrm>
        </p:spPr>
        <p:txBody>
          <a:bodyPr/>
          <a:lstStyle>
            <a:lvl1pPr>
              <a:defRPr sz="1800"/>
            </a:lvl1pPr>
            <a:lvl2pPr>
              <a:defRPr sz="1500"/>
            </a:lvl2pPr>
            <a:lvl3pPr>
              <a:defRPr sz="1350"/>
            </a:lvl3pPr>
            <a:lvl4pPr>
              <a:defRPr sz="1200"/>
            </a:lvl4pPr>
            <a:lvl5pPr>
              <a:defRPr sz="1200"/>
            </a:lvl5pPr>
            <a:lvl6pPr>
              <a:defRPr sz="1200"/>
            </a:lvl6pPr>
            <a:lvl7pPr>
              <a:defRPr sz="1200"/>
            </a:lvl7pPr>
            <a:lvl8pPr>
              <a:defRPr sz="1200"/>
            </a:lvl8pPr>
            <a:lvl9pPr>
              <a:defRPr sz="1200"/>
            </a:lvl9pPr>
          </a:lstStyle>
          <a:p>
            <a:pPr lvl="0"/>
            <a:r>
              <a:rPr lang="zh-CN" altLang="en-US"/>
              <a:t>单击此处编辑母版文本样式</a:t>
            </a:r>
          </a:p>
          <a:p>
            <a:pPr lvl="1"/>
            <a:r>
              <a:rPr lang="zh-CN" altLang="en-US"/>
              <a:t>二级</a:t>
            </a:r>
          </a:p>
          <a:p>
            <a:pPr lvl="2"/>
            <a:r>
              <a:rPr lang="zh-CN" altLang="en-US"/>
              <a:t>三级</a:t>
            </a:r>
          </a:p>
          <a:p>
            <a:pPr lvl="3"/>
            <a:r>
              <a:rPr lang="zh-CN" altLang="en-US"/>
              <a:t>四级</a:t>
            </a:r>
          </a:p>
          <a:p>
            <a:pPr lvl="4"/>
            <a:r>
              <a:rPr lang="zh-CN" altLang="en-US"/>
              <a:t>五级</a:t>
            </a:r>
          </a:p>
        </p:txBody>
      </p:sp>
      <p:sp>
        <p:nvSpPr>
          <p:cNvPr id="7" name="日期占位符 6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fld id="{5C6A05FC-335B-8C47-829B-195C5628D3E2}" type="datetime1">
              <a:rPr lang="en-US" altLang="zh-CN" smtClean="0"/>
              <a:t>6/14/2024</a:t>
            </a:fld>
            <a:endParaRPr lang="zh-CN" altLang="en-US"/>
          </a:p>
        </p:txBody>
      </p:sp>
      <p:sp>
        <p:nvSpPr>
          <p:cNvPr id="8" name="页脚占位符 7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endParaRPr lang="zh-CN" altLang="en-US"/>
          </a:p>
        </p:txBody>
      </p:sp>
      <p:sp>
        <p:nvSpPr>
          <p:cNvPr id="9" name="灯片编号占位符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B1806CE5-282B-4233-8654-09F35EA875E2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2045917728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仅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日期占位符 2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fld id="{A09323FE-D334-C941-AFD5-A89894881CDB}" type="datetime1">
              <a:rPr lang="en-US" altLang="zh-CN" smtClean="0"/>
              <a:t>6/14/2024</a:t>
            </a:fld>
            <a:endParaRPr lang="zh-CN" altLang="en-US"/>
          </a:p>
        </p:txBody>
      </p:sp>
      <p:sp>
        <p:nvSpPr>
          <p:cNvPr id="4" name="页脚占位符 3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endParaRPr lang="zh-CN" altLang="en-US"/>
          </a:p>
        </p:txBody>
      </p:sp>
      <p:sp>
        <p:nvSpPr>
          <p:cNvPr id="5" name="灯片编号占位符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B1806CE5-282B-4233-8654-09F35EA875E2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2190126384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空白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日期占位符 1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fld id="{6AD4ABB2-ECCD-D243-95A1-B013631202D5}" type="datetime1">
              <a:rPr lang="en-US" altLang="zh-CN" smtClean="0"/>
              <a:t>6/14/2024</a:t>
            </a:fld>
            <a:endParaRPr lang="zh-CN" altLang="en-US"/>
          </a:p>
        </p:txBody>
      </p:sp>
      <p:sp>
        <p:nvSpPr>
          <p:cNvPr id="3" name="页脚占位符 2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B1806CE5-282B-4233-8654-09F35EA875E2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316338604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内容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457202" y="273050"/>
            <a:ext cx="3008313" cy="1162050"/>
          </a:xfrm>
        </p:spPr>
        <p:txBody>
          <a:bodyPr anchor="b"/>
          <a:lstStyle>
            <a:lvl1pPr algn="l">
              <a:defRPr sz="1500" b="1"/>
            </a:lvl1pPr>
          </a:lstStyle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内容占位符 2"/>
          <p:cNvSpPr>
            <a:spLocks noGrp="1"/>
          </p:cNvSpPr>
          <p:nvPr>
            <p:ph idx="1"/>
          </p:nvPr>
        </p:nvSpPr>
        <p:spPr>
          <a:xfrm>
            <a:off x="3575050" y="273054"/>
            <a:ext cx="5111750" cy="5853113"/>
          </a:xfrm>
        </p:spPr>
        <p:txBody>
          <a:bodyPr/>
          <a:lstStyle>
            <a:lvl1pPr>
              <a:defRPr sz="2400"/>
            </a:lvl1pPr>
            <a:lvl2pPr>
              <a:defRPr sz="2100"/>
            </a:lvl2pPr>
            <a:lvl3pPr>
              <a:defRPr sz="1800"/>
            </a:lvl3pPr>
            <a:lvl4pPr>
              <a:defRPr sz="1500"/>
            </a:lvl4pPr>
            <a:lvl5pPr>
              <a:defRPr sz="1500"/>
            </a:lvl5pPr>
            <a:lvl6pPr>
              <a:defRPr sz="1500"/>
            </a:lvl6pPr>
            <a:lvl7pPr>
              <a:defRPr sz="1500"/>
            </a:lvl7pPr>
            <a:lvl8pPr>
              <a:defRPr sz="1500"/>
            </a:lvl8pPr>
            <a:lvl9pPr>
              <a:defRPr sz="1500"/>
            </a:lvl9pPr>
          </a:lstStyle>
          <a:p>
            <a:pPr lvl="0"/>
            <a:r>
              <a:rPr lang="zh-CN" altLang="en-US"/>
              <a:t>单击此处编辑母版文本样式</a:t>
            </a:r>
          </a:p>
          <a:p>
            <a:pPr lvl="1"/>
            <a:r>
              <a:rPr lang="zh-CN" altLang="en-US"/>
              <a:t>二级</a:t>
            </a:r>
          </a:p>
          <a:p>
            <a:pPr lvl="2"/>
            <a:r>
              <a:rPr lang="zh-CN" altLang="en-US"/>
              <a:t>三级</a:t>
            </a:r>
          </a:p>
          <a:p>
            <a:pPr lvl="3"/>
            <a:r>
              <a:rPr lang="zh-CN" altLang="en-US"/>
              <a:t>四级</a:t>
            </a:r>
          </a:p>
          <a:p>
            <a:pPr lvl="4"/>
            <a:r>
              <a:rPr lang="zh-CN" altLang="en-US"/>
              <a:t>五级</a:t>
            </a:r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/>
          </p:nvPr>
        </p:nvSpPr>
        <p:spPr>
          <a:xfrm>
            <a:off x="457202" y="1435103"/>
            <a:ext cx="3008313" cy="4691063"/>
          </a:xfrm>
        </p:spPr>
        <p:txBody>
          <a:bodyPr/>
          <a:lstStyle>
            <a:lvl1pPr marL="0" indent="0">
              <a:buNone/>
              <a:defRPr sz="1050"/>
            </a:lvl1pPr>
            <a:lvl2pPr marL="342900" indent="0">
              <a:buNone/>
              <a:defRPr sz="900"/>
            </a:lvl2pPr>
            <a:lvl3pPr marL="685800" indent="0">
              <a:buNone/>
              <a:defRPr sz="750"/>
            </a:lvl3pPr>
            <a:lvl4pPr marL="1028700" indent="0">
              <a:buNone/>
              <a:defRPr sz="675"/>
            </a:lvl4pPr>
            <a:lvl5pPr marL="1371600" indent="0">
              <a:buNone/>
              <a:defRPr sz="675"/>
            </a:lvl5pPr>
            <a:lvl6pPr marL="1714500" indent="0">
              <a:buNone/>
              <a:defRPr sz="675"/>
            </a:lvl6pPr>
            <a:lvl7pPr marL="2057400" indent="0">
              <a:buNone/>
              <a:defRPr sz="675"/>
            </a:lvl7pPr>
            <a:lvl8pPr marL="2400300" indent="0">
              <a:buNone/>
              <a:defRPr sz="675"/>
            </a:lvl8pPr>
            <a:lvl9pPr marL="2743200" indent="0">
              <a:buNone/>
              <a:defRPr sz="675"/>
            </a:lvl9pPr>
          </a:lstStyle>
          <a:p>
            <a:pPr lvl="0"/>
            <a:r>
              <a:rPr lang="zh-CN" altLang="en-US"/>
              <a:t>单击此处编辑母版文本样式</a:t>
            </a:r>
          </a:p>
        </p:txBody>
      </p:sp>
      <p:sp>
        <p:nvSpPr>
          <p:cNvPr id="5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fld id="{E715D010-23F8-7447-A50B-C42956F25B7A}" type="datetime1">
              <a:rPr lang="en-US" altLang="zh-CN" smtClean="0"/>
              <a:t>6/14/2024</a:t>
            </a:fld>
            <a:endParaRPr lang="zh-CN" altLang="en-US"/>
          </a:p>
        </p:txBody>
      </p:sp>
      <p:sp>
        <p:nvSpPr>
          <p:cNvPr id="6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endParaRPr lang="zh-CN" altLang="en-US"/>
          </a:p>
        </p:txBody>
      </p:sp>
      <p:sp>
        <p:nvSpPr>
          <p:cNvPr id="7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B1806CE5-282B-4233-8654-09F35EA875E2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581286443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图片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1500" b="1"/>
            </a:lvl1pPr>
          </a:lstStyle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图片占位符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2400"/>
            </a:lvl1pPr>
            <a:lvl2pPr marL="342900" indent="0">
              <a:buNone/>
              <a:defRPr sz="2100"/>
            </a:lvl2pPr>
            <a:lvl3pPr marL="685800" indent="0">
              <a:buNone/>
              <a:defRPr sz="1800"/>
            </a:lvl3pPr>
            <a:lvl4pPr marL="1028700" indent="0">
              <a:buNone/>
              <a:defRPr sz="1500"/>
            </a:lvl4pPr>
            <a:lvl5pPr marL="1371600" indent="0">
              <a:buNone/>
              <a:defRPr sz="1500"/>
            </a:lvl5pPr>
            <a:lvl6pPr marL="1714500" indent="0">
              <a:buNone/>
              <a:defRPr sz="1500"/>
            </a:lvl6pPr>
            <a:lvl7pPr marL="2057400" indent="0">
              <a:buNone/>
              <a:defRPr sz="1500"/>
            </a:lvl7pPr>
            <a:lvl8pPr marL="2400300" indent="0">
              <a:buNone/>
              <a:defRPr sz="1500"/>
            </a:lvl8pPr>
            <a:lvl9pPr marL="2743200" indent="0">
              <a:buNone/>
              <a:defRPr sz="1500"/>
            </a:lvl9pPr>
          </a:lstStyle>
          <a:p>
            <a:r>
              <a:rPr lang="zh-CN" altLang="en-US"/>
              <a:t>单击图标添加图片</a:t>
            </a:r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050"/>
            </a:lvl1pPr>
            <a:lvl2pPr marL="342900" indent="0">
              <a:buNone/>
              <a:defRPr sz="900"/>
            </a:lvl2pPr>
            <a:lvl3pPr marL="685800" indent="0">
              <a:buNone/>
              <a:defRPr sz="750"/>
            </a:lvl3pPr>
            <a:lvl4pPr marL="1028700" indent="0">
              <a:buNone/>
              <a:defRPr sz="675"/>
            </a:lvl4pPr>
            <a:lvl5pPr marL="1371600" indent="0">
              <a:buNone/>
              <a:defRPr sz="675"/>
            </a:lvl5pPr>
            <a:lvl6pPr marL="1714500" indent="0">
              <a:buNone/>
              <a:defRPr sz="675"/>
            </a:lvl6pPr>
            <a:lvl7pPr marL="2057400" indent="0">
              <a:buNone/>
              <a:defRPr sz="675"/>
            </a:lvl7pPr>
            <a:lvl8pPr marL="2400300" indent="0">
              <a:buNone/>
              <a:defRPr sz="675"/>
            </a:lvl8pPr>
            <a:lvl9pPr marL="2743200" indent="0">
              <a:buNone/>
              <a:defRPr sz="675"/>
            </a:lvl9pPr>
          </a:lstStyle>
          <a:p>
            <a:pPr lvl="0"/>
            <a:r>
              <a:rPr lang="zh-CN" altLang="en-US"/>
              <a:t>单击此处编辑母版文本样式</a:t>
            </a:r>
          </a:p>
        </p:txBody>
      </p:sp>
      <p:sp>
        <p:nvSpPr>
          <p:cNvPr id="5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fld id="{F676EB90-D37C-6C45-AA62-36B4DB0EB232}" type="datetime1">
              <a:rPr lang="en-US" altLang="zh-CN" smtClean="0"/>
              <a:t>6/14/2024</a:t>
            </a:fld>
            <a:endParaRPr lang="zh-CN" altLang="en-US"/>
          </a:p>
        </p:txBody>
      </p:sp>
      <p:sp>
        <p:nvSpPr>
          <p:cNvPr id="6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endParaRPr lang="zh-CN" altLang="en-US"/>
          </a:p>
        </p:txBody>
      </p:sp>
      <p:sp>
        <p:nvSpPr>
          <p:cNvPr id="7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B1806CE5-282B-4233-8654-09F35EA875E2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2564862956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标题和竖排文字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zh-CN" altLang="en-US"/>
              <a:t>单击此处编辑母版文本样式</a:t>
            </a:r>
          </a:p>
          <a:p>
            <a:pPr lvl="1"/>
            <a:r>
              <a:rPr lang="zh-CN" altLang="en-US"/>
              <a:t>二级</a:t>
            </a:r>
          </a:p>
          <a:p>
            <a:pPr lvl="2"/>
            <a:r>
              <a:rPr lang="zh-CN" altLang="en-US"/>
              <a:t>三级</a:t>
            </a:r>
          </a:p>
          <a:p>
            <a:pPr lvl="3"/>
            <a:r>
              <a:rPr lang="zh-CN" altLang="en-US"/>
              <a:t>四级</a:t>
            </a:r>
          </a:p>
          <a:p>
            <a:pPr lvl="4"/>
            <a:r>
              <a:rPr lang="zh-CN" altLang="en-US"/>
              <a:t>五级</a:t>
            </a:r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fld id="{9C4D3958-10B6-8640-872C-5A3340696B79}" type="datetime1">
              <a:rPr lang="en-US" altLang="zh-CN" smtClean="0"/>
              <a:t>6/14/2024</a:t>
            </a:fld>
            <a:endParaRPr lang="zh-CN" altLang="en-US"/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endParaRPr lang="zh-CN" altLang="en-US"/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B1806CE5-282B-4233-8654-09F35EA875E2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290050719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垂直排列标题与文本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竖排标题 1"/>
          <p:cNvSpPr>
            <a:spLocks noGrp="1"/>
          </p:cNvSpPr>
          <p:nvPr>
            <p:ph type="title" orient="vert"/>
          </p:nvPr>
        </p:nvSpPr>
        <p:spPr>
          <a:xfrm>
            <a:off x="6629400" y="274642"/>
            <a:ext cx="2057400" cy="5851525"/>
          </a:xfrm>
        </p:spPr>
        <p:txBody>
          <a:bodyPr vert="eaVert"/>
          <a:lstStyle/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/>
          </p:nvPr>
        </p:nvSpPr>
        <p:spPr>
          <a:xfrm>
            <a:off x="457200" y="274642"/>
            <a:ext cx="6019800" cy="5851525"/>
          </a:xfrm>
        </p:spPr>
        <p:txBody>
          <a:bodyPr vert="eaVert"/>
          <a:lstStyle/>
          <a:p>
            <a:pPr lvl="0"/>
            <a:r>
              <a:rPr lang="zh-CN" altLang="en-US"/>
              <a:t>单击此处编辑母版文本样式</a:t>
            </a:r>
          </a:p>
          <a:p>
            <a:pPr lvl="1"/>
            <a:r>
              <a:rPr lang="zh-CN" altLang="en-US"/>
              <a:t>二级</a:t>
            </a:r>
          </a:p>
          <a:p>
            <a:pPr lvl="2"/>
            <a:r>
              <a:rPr lang="zh-CN" altLang="en-US"/>
              <a:t>三级</a:t>
            </a:r>
          </a:p>
          <a:p>
            <a:pPr lvl="3"/>
            <a:r>
              <a:rPr lang="zh-CN" altLang="en-US"/>
              <a:t>四级</a:t>
            </a:r>
          </a:p>
          <a:p>
            <a:pPr lvl="4"/>
            <a:r>
              <a:rPr lang="zh-CN" altLang="en-US"/>
              <a:t>五级</a:t>
            </a:r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fld id="{4568A385-D8EF-7645-A81A-FF8377BC6CF1}" type="datetime1">
              <a:rPr lang="en-US" altLang="zh-CN" smtClean="0"/>
              <a:t>6/14/2024</a:t>
            </a:fld>
            <a:endParaRPr lang="zh-CN" altLang="en-US"/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endParaRPr lang="zh-CN" altLang="en-US"/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B1806CE5-282B-4233-8654-09F35EA875E2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434622888"/>
      </p:ext>
    </p:extLst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标题幻灯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ctrTitle"/>
          </p:nvPr>
        </p:nvSpPr>
        <p:spPr>
          <a:xfrm>
            <a:off x="685800" y="2130425"/>
            <a:ext cx="7772400" cy="1470025"/>
          </a:xfrm>
        </p:spPr>
        <p:txBody>
          <a:bodyPr/>
          <a:lstStyle/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副标题 2"/>
          <p:cNvSpPr>
            <a:spLocks noGrp="1"/>
          </p:cNvSpPr>
          <p:nvPr>
            <p:ph type="subTitle" idx="1"/>
          </p:nvPr>
        </p:nvSpPr>
        <p:spPr>
          <a:xfrm>
            <a:off x="1371600" y="3886200"/>
            <a:ext cx="6400800" cy="1752600"/>
          </a:xfrm>
        </p:spPr>
        <p:txBody>
          <a:bodyPr/>
          <a:lstStyle>
            <a:lvl1pPr marL="0" indent="0" algn="ctr">
              <a:buNone/>
              <a:defRPr/>
            </a:lvl1pPr>
            <a:lvl2pPr marL="457200" indent="0" algn="ctr">
              <a:buNone/>
              <a:defRPr/>
            </a:lvl2pPr>
            <a:lvl3pPr marL="914400" indent="0" algn="ctr">
              <a:buNone/>
              <a:defRPr/>
            </a:lvl3pPr>
            <a:lvl4pPr marL="1371600" indent="0" algn="ctr">
              <a:buNone/>
              <a:defRPr/>
            </a:lvl4pPr>
            <a:lvl5pPr marL="1828800" indent="0" algn="ctr">
              <a:buNone/>
              <a:defRPr/>
            </a:lvl5pPr>
            <a:lvl6pPr marL="2286000" indent="0" algn="ctr">
              <a:buNone/>
              <a:defRPr/>
            </a:lvl6pPr>
            <a:lvl7pPr marL="2743200" indent="0" algn="ctr">
              <a:buNone/>
              <a:defRPr/>
            </a:lvl7pPr>
            <a:lvl8pPr marL="3200400" indent="0" algn="ctr">
              <a:buNone/>
              <a:defRPr/>
            </a:lvl8pPr>
            <a:lvl9pPr marL="3657600" indent="0" algn="ctr">
              <a:buNone/>
              <a:defRPr/>
            </a:lvl9pPr>
          </a:lstStyle>
          <a:p>
            <a:r>
              <a:rPr lang="zh-CN" altLang="en-US"/>
              <a:t>单击此处编辑母版副标题样式</a:t>
            </a:r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zh-CN"/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zh-CN"/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80E919B8-A1B4-420E-AADF-E63307EE92DF}" type="slidenum">
              <a:rPr lang="en-US" altLang="zh-CN"/>
              <a:pPr/>
              <a:t>‹#›</a:t>
            </a:fld>
            <a:endParaRPr lang="en-US" altLang="zh-CN"/>
          </a:p>
        </p:txBody>
      </p:sp>
      <p:pic>
        <p:nvPicPr>
          <p:cNvPr id="11" name="Picture 6">
            <a:extLst>
              <a:ext uri="{FF2B5EF4-FFF2-40B4-BE49-F238E27FC236}">
                <a16:creationId xmlns:a16="http://schemas.microsoft.com/office/drawing/2014/main" id="{37208F54-42C8-22EF-69A4-AE45819566B5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830429" y="10392"/>
            <a:ext cx="1313572" cy="1313572"/>
          </a:xfrm>
          <a:prstGeom prst="rect">
            <a:avLst/>
          </a:prstGeom>
        </p:spPr>
      </p:pic>
      <p:pic>
        <p:nvPicPr>
          <p:cNvPr id="12" name="Picture 7">
            <a:extLst>
              <a:ext uri="{FF2B5EF4-FFF2-40B4-BE49-F238E27FC236}">
                <a16:creationId xmlns:a16="http://schemas.microsoft.com/office/drawing/2014/main" id="{5E99BBB1-8EEB-46FB-201E-508C9D0759BB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3"/>
          <a:srcRect l="7528" t="909" r="12068" b="1273"/>
          <a:stretch/>
        </p:blipFill>
        <p:spPr>
          <a:xfrm>
            <a:off x="31172" y="10392"/>
            <a:ext cx="1340427" cy="131357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145014377"/>
      </p:ext>
    </p:extLst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标题和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 sz="4000"/>
            </a:lvl1pPr>
          </a:lstStyle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内容占位符 2"/>
          <p:cNvSpPr>
            <a:spLocks noGrp="1"/>
          </p:cNvSpPr>
          <p:nvPr>
            <p:ph idx="1"/>
          </p:nvPr>
        </p:nvSpPr>
        <p:spPr>
          <a:xfrm>
            <a:off x="457200" y="1551432"/>
            <a:ext cx="8229600" cy="4525963"/>
          </a:xfrm>
        </p:spPr>
        <p:txBody>
          <a:bodyPr/>
          <a:lstStyle/>
          <a:p>
            <a:pPr lvl="0"/>
            <a:r>
              <a:rPr lang="zh-CN" altLang="en-US" dirty="0"/>
              <a:t>单击此处编辑母版文本样式</a:t>
            </a:r>
          </a:p>
          <a:p>
            <a:pPr lvl="1"/>
            <a:r>
              <a:rPr lang="zh-CN" altLang="en-US" dirty="0"/>
              <a:t>第二级</a:t>
            </a:r>
          </a:p>
          <a:p>
            <a:pPr lvl="2"/>
            <a:r>
              <a:rPr lang="zh-CN" altLang="en-US" dirty="0"/>
              <a:t>第三级</a:t>
            </a:r>
          </a:p>
          <a:p>
            <a:pPr lvl="3"/>
            <a:r>
              <a:rPr lang="zh-CN" altLang="en-US" dirty="0"/>
              <a:t>第四级</a:t>
            </a:r>
          </a:p>
          <a:p>
            <a:pPr lvl="4"/>
            <a:r>
              <a:rPr lang="zh-CN" altLang="en-US" dirty="0"/>
              <a:t>第五级</a:t>
            </a:r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zh-CN"/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zh-CN"/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14659731-6BD7-46E7-8D3C-2F3AC07E20B1}" type="slidenum">
              <a:rPr lang="en-US" altLang="zh-CN"/>
              <a:pPr/>
              <a:t>‹#›</a:t>
            </a:fld>
            <a:endParaRPr lang="en-US" altLang="zh-CN"/>
          </a:p>
        </p:txBody>
      </p:sp>
    </p:spTree>
    <p:extLst>
      <p:ext uri="{BB962C8B-B14F-4D97-AF65-F5344CB8AC3E}">
        <p14:creationId xmlns:p14="http://schemas.microsoft.com/office/powerpoint/2010/main" val="385071807"/>
      </p:ext>
    </p:extLst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节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zh-CN" altLang="en-US"/>
              <a:t>单击此处编辑母版文本样式</a:t>
            </a:r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zh-CN"/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zh-CN"/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EF8AC4FE-4EB1-4196-830A-993FA99EEC9B}" type="slidenum">
              <a:rPr lang="en-US" altLang="zh-CN"/>
              <a:pPr/>
              <a:t>‹#›</a:t>
            </a:fld>
            <a:endParaRPr lang="en-US" altLang="zh-CN"/>
          </a:p>
        </p:txBody>
      </p:sp>
    </p:spTree>
    <p:extLst>
      <p:ext uri="{BB962C8B-B14F-4D97-AF65-F5344CB8AC3E}">
        <p14:creationId xmlns:p14="http://schemas.microsoft.com/office/powerpoint/2010/main" val="4277696616"/>
      </p:ext>
    </p:extLst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两栏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内容占位符 2"/>
          <p:cNvSpPr>
            <a:spLocks noGrp="1"/>
          </p:cNvSpPr>
          <p:nvPr>
            <p:ph sz="half" idx="1"/>
          </p:nvPr>
        </p:nvSpPr>
        <p:spPr>
          <a:xfrm>
            <a:off x="457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zh-CN" altLang="en-US"/>
              <a:t>单击此处编辑母版文本样式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</p:nvPr>
        </p:nvSpPr>
        <p:spPr>
          <a:xfrm>
            <a:off x="4648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zh-CN" altLang="en-US"/>
              <a:t>单击此处编辑母版文本样式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</a:p>
        </p:txBody>
      </p:sp>
      <p:sp>
        <p:nvSpPr>
          <p:cNvPr id="5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zh-CN"/>
          </a:p>
        </p:txBody>
      </p:sp>
      <p:sp>
        <p:nvSpPr>
          <p:cNvPr id="6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zh-CN"/>
          </a:p>
        </p:txBody>
      </p:sp>
      <p:sp>
        <p:nvSpPr>
          <p:cNvPr id="7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8B93EBDF-DAB8-41D8-86B3-1BFF07A18FF9}" type="slidenum">
              <a:rPr lang="en-US" altLang="zh-CN"/>
              <a:pPr/>
              <a:t>‹#›</a:t>
            </a:fld>
            <a:endParaRPr lang="en-US" altLang="zh-CN"/>
          </a:p>
        </p:txBody>
      </p:sp>
    </p:spTree>
    <p:extLst>
      <p:ext uri="{BB962C8B-B14F-4D97-AF65-F5344CB8AC3E}">
        <p14:creationId xmlns:p14="http://schemas.microsoft.com/office/powerpoint/2010/main" val="790353361"/>
      </p:ext>
    </p:extLst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比较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/>
              <a:t>单击此处编辑母版文本样式</a:t>
            </a:r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zh-CN" altLang="en-US"/>
              <a:t>单击此处编辑母版文本样式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</a:p>
        </p:txBody>
      </p:sp>
      <p:sp>
        <p:nvSpPr>
          <p:cNvPr id="5" name="文本占位符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/>
              <a:t>单击此处编辑母版文本样式</a:t>
            </a:r>
          </a:p>
        </p:txBody>
      </p:sp>
      <p:sp>
        <p:nvSpPr>
          <p:cNvPr id="6" name="内容占位符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zh-CN" altLang="en-US"/>
              <a:t>单击此处编辑母版文本样式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</a:p>
        </p:txBody>
      </p:sp>
      <p:sp>
        <p:nvSpPr>
          <p:cNvPr id="7" name="日期占位符 6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zh-CN"/>
          </a:p>
        </p:txBody>
      </p:sp>
      <p:sp>
        <p:nvSpPr>
          <p:cNvPr id="8" name="页脚占位符 7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zh-CN"/>
          </a:p>
        </p:txBody>
      </p:sp>
      <p:sp>
        <p:nvSpPr>
          <p:cNvPr id="9" name="灯片编号占位符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E7C22BC1-7FC1-4B65-8DCC-88E2F449497B}" type="slidenum">
              <a:rPr lang="en-US" altLang="zh-CN"/>
              <a:pPr/>
              <a:t>‹#›</a:t>
            </a:fld>
            <a:endParaRPr lang="en-US" altLang="zh-CN"/>
          </a:p>
        </p:txBody>
      </p:sp>
    </p:spTree>
    <p:extLst>
      <p:ext uri="{BB962C8B-B14F-4D97-AF65-F5344CB8AC3E}">
        <p14:creationId xmlns:p14="http://schemas.microsoft.com/office/powerpoint/2010/main" val="1916862645"/>
      </p:ext>
    </p:extLst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仅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日期占位符 2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zh-CN"/>
          </a:p>
        </p:txBody>
      </p:sp>
      <p:sp>
        <p:nvSpPr>
          <p:cNvPr id="4" name="页脚占位符 3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zh-CN"/>
          </a:p>
        </p:txBody>
      </p:sp>
      <p:sp>
        <p:nvSpPr>
          <p:cNvPr id="5" name="灯片编号占位符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6C23D995-88A0-46FA-B356-FA459EF841CD}" type="slidenum">
              <a:rPr lang="en-US" altLang="zh-CN"/>
              <a:pPr/>
              <a:t>‹#›</a:t>
            </a:fld>
            <a:endParaRPr lang="en-US" altLang="zh-CN"/>
          </a:p>
        </p:txBody>
      </p:sp>
    </p:spTree>
    <p:extLst>
      <p:ext uri="{BB962C8B-B14F-4D97-AF65-F5344CB8AC3E}">
        <p14:creationId xmlns:p14="http://schemas.microsoft.com/office/powerpoint/2010/main" val="3128912680"/>
      </p:ext>
    </p:extLst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空白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日期占位符 1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zh-CN"/>
          </a:p>
        </p:txBody>
      </p:sp>
      <p:sp>
        <p:nvSpPr>
          <p:cNvPr id="3" name="页脚占位符 2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zh-CN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3F2AB43A-8F39-40F7-AB51-66BE5F0EDC88}" type="slidenum">
              <a:rPr lang="en-US" altLang="zh-CN"/>
              <a:pPr/>
              <a:t>‹#›</a:t>
            </a:fld>
            <a:endParaRPr lang="en-US" altLang="zh-CN"/>
          </a:p>
        </p:txBody>
      </p:sp>
    </p:spTree>
    <p:extLst>
      <p:ext uri="{BB962C8B-B14F-4D97-AF65-F5344CB8AC3E}">
        <p14:creationId xmlns:p14="http://schemas.microsoft.com/office/powerpoint/2010/main" val="1369352023"/>
      </p:ext>
    </p:extLst>
  </p:cSld>
  <p:clrMapOvr>
    <a:masterClrMapping/>
  </p:clrMapOvr>
</p:sldLayout>
</file>

<file path=ppt/slideLayouts/slideLayout19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内容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内容占位符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zh-CN" altLang="en-US"/>
              <a:t>单击此处编辑母版文本样式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zh-CN" altLang="en-US"/>
              <a:t>单击此处编辑母版文本样式</a:t>
            </a:r>
          </a:p>
        </p:txBody>
      </p:sp>
      <p:sp>
        <p:nvSpPr>
          <p:cNvPr id="5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zh-CN"/>
          </a:p>
        </p:txBody>
      </p:sp>
      <p:sp>
        <p:nvSpPr>
          <p:cNvPr id="6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zh-CN"/>
          </a:p>
        </p:txBody>
      </p:sp>
      <p:sp>
        <p:nvSpPr>
          <p:cNvPr id="7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C2D2373F-9A07-4B83-AD01-C0E1FFF861AA}" type="slidenum">
              <a:rPr lang="en-US" altLang="zh-CN"/>
              <a:pPr/>
              <a:t>‹#›</a:t>
            </a:fld>
            <a:endParaRPr lang="en-US" altLang="zh-CN"/>
          </a:p>
        </p:txBody>
      </p:sp>
    </p:spTree>
    <p:extLst>
      <p:ext uri="{BB962C8B-B14F-4D97-AF65-F5344CB8AC3E}">
        <p14:creationId xmlns:p14="http://schemas.microsoft.com/office/powerpoint/2010/main" val="3185163965"/>
      </p:ext>
    </p:extLst>
  </p:cSld>
  <p:clrMapOvr>
    <a:masterClrMapping/>
  </p:clrMapOvr>
</p:sldLayout>
</file>

<file path=ppt/slideLayouts/slideLayout20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图片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图片占位符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zh-CN" altLang="en-US"/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zh-CN" altLang="en-US"/>
              <a:t>单击此处编辑母版文本样式</a:t>
            </a:r>
          </a:p>
        </p:txBody>
      </p:sp>
      <p:sp>
        <p:nvSpPr>
          <p:cNvPr id="5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zh-CN"/>
          </a:p>
        </p:txBody>
      </p:sp>
      <p:sp>
        <p:nvSpPr>
          <p:cNvPr id="6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zh-CN"/>
          </a:p>
        </p:txBody>
      </p:sp>
      <p:sp>
        <p:nvSpPr>
          <p:cNvPr id="7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1FA0F13C-7485-4D41-9A6D-469650A33C06}" type="slidenum">
              <a:rPr lang="en-US" altLang="zh-CN"/>
              <a:pPr/>
              <a:t>‹#›</a:t>
            </a:fld>
            <a:endParaRPr lang="en-US" altLang="zh-CN"/>
          </a:p>
        </p:txBody>
      </p:sp>
    </p:spTree>
    <p:extLst>
      <p:ext uri="{BB962C8B-B14F-4D97-AF65-F5344CB8AC3E}">
        <p14:creationId xmlns:p14="http://schemas.microsoft.com/office/powerpoint/2010/main" val="3077531577"/>
      </p:ext>
    </p:extLst>
  </p:cSld>
  <p:clrMapOvr>
    <a:masterClrMapping/>
  </p:clrMapOvr>
</p:sldLayout>
</file>

<file path=ppt/slideLayouts/slideLayout2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标题和竖排文字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zh-CN" altLang="en-US"/>
              <a:t>单击此处编辑母版文本样式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zh-CN"/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zh-CN"/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773C9E0C-B70F-4EE2-835C-E91EA4A4E95C}" type="slidenum">
              <a:rPr lang="en-US" altLang="zh-CN"/>
              <a:pPr/>
              <a:t>‹#›</a:t>
            </a:fld>
            <a:endParaRPr lang="en-US" altLang="zh-CN"/>
          </a:p>
        </p:txBody>
      </p:sp>
    </p:spTree>
    <p:extLst>
      <p:ext uri="{BB962C8B-B14F-4D97-AF65-F5344CB8AC3E}">
        <p14:creationId xmlns:p14="http://schemas.microsoft.com/office/powerpoint/2010/main" val="2505370309"/>
      </p:ext>
    </p:extLst>
  </p:cSld>
  <p:clrMapOvr>
    <a:masterClrMapping/>
  </p:clrMapOvr>
</p:sldLayout>
</file>

<file path=ppt/slideLayouts/slideLayout22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垂直排列标题与文本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竖排标题 1"/>
          <p:cNvSpPr>
            <a:spLocks noGrp="1"/>
          </p:cNvSpPr>
          <p:nvPr>
            <p:ph type="title" orient="vert"/>
          </p:nvPr>
        </p:nvSpPr>
        <p:spPr>
          <a:xfrm>
            <a:off x="6629400" y="274638"/>
            <a:ext cx="2057400" cy="5851525"/>
          </a:xfrm>
        </p:spPr>
        <p:txBody>
          <a:bodyPr vert="eaVert"/>
          <a:lstStyle/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/>
          </p:nvPr>
        </p:nvSpPr>
        <p:spPr>
          <a:xfrm>
            <a:off x="457200" y="274638"/>
            <a:ext cx="6019800" cy="5851525"/>
          </a:xfrm>
        </p:spPr>
        <p:txBody>
          <a:bodyPr vert="eaVert"/>
          <a:lstStyle/>
          <a:p>
            <a:pPr lvl="0"/>
            <a:r>
              <a:rPr lang="zh-CN" altLang="en-US"/>
              <a:t>单击此处编辑母版文本样式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zh-CN"/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zh-CN"/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37AE7160-E460-44BC-A56A-E2A6D1A944F5}" type="slidenum">
              <a:rPr lang="en-US" altLang="zh-CN"/>
              <a:pPr/>
              <a:t>‹#›</a:t>
            </a:fld>
            <a:endParaRPr lang="en-US" altLang="zh-CN"/>
          </a:p>
        </p:txBody>
      </p:sp>
    </p:spTree>
    <p:extLst>
      <p:ext uri="{BB962C8B-B14F-4D97-AF65-F5344CB8AC3E}">
        <p14:creationId xmlns:p14="http://schemas.microsoft.com/office/powerpoint/2010/main" val="653918597"/>
      </p:ext>
    </p:extLst>
  </p:cSld>
  <p:clrMapOvr>
    <a:masterClrMapping/>
  </p:clrMapOvr>
</p:sldLayout>
</file>

<file path=ppt/slideLayouts/slideLayout2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自定义版式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1783981409"/>
      </p:ext>
    </p:extLst>
  </p:cSld>
  <p:clrMapOvr>
    <a:masterClrMapping/>
  </p:clrMapOvr>
</p:sldLayout>
</file>

<file path=ppt/slideLayouts/slideLayout24.xml><?xml version="1.0" encoding="utf-8"?>
<p:sldLayout xmlns:a="http://schemas.openxmlformats.org/drawingml/2006/main" xmlns:r="http://schemas.openxmlformats.org/officeDocument/2006/relationships" xmlns:p="http://schemas.openxmlformats.org/presentationml/2006/main" type="tbl">
  <p:cSld name="标题和表格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685800" y="115888"/>
            <a:ext cx="5470525" cy="936625"/>
          </a:xfrm>
        </p:spPr>
        <p:txBody>
          <a:bodyPr/>
          <a:lstStyle/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表格占位符 2"/>
          <p:cNvSpPr>
            <a:spLocks noGrp="1"/>
          </p:cNvSpPr>
          <p:nvPr>
            <p:ph type="tbl" idx="1"/>
          </p:nvPr>
        </p:nvSpPr>
        <p:spPr>
          <a:xfrm>
            <a:off x="457200" y="1447800"/>
            <a:ext cx="8229600" cy="4716463"/>
          </a:xfrm>
        </p:spPr>
        <p:txBody>
          <a:bodyPr/>
          <a:lstStyle/>
          <a:p>
            <a:pPr lvl="0"/>
            <a:endParaRPr lang="zh-CN" altLang="en-US" noProof="0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/>
          </a:p>
        </p:txBody>
      </p:sp>
      <p:sp>
        <p:nvSpPr>
          <p:cNvPr id="5" name="Rectangle 6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2EA1E184-7EFF-4B48-9C82-609CF6442F2C}" type="slidenum">
              <a:rPr lang="zh-CN" altLang="en-US"/>
              <a:pPr>
                <a:defRPr/>
              </a:pPr>
              <a:t>‹#›</a:t>
            </a:fld>
            <a:endParaRPr lang="en-US" altLang="zh-CN"/>
          </a:p>
        </p:txBody>
      </p:sp>
    </p:spTree>
    <p:extLst>
      <p:ext uri="{BB962C8B-B14F-4D97-AF65-F5344CB8AC3E}">
        <p14:creationId xmlns:p14="http://schemas.microsoft.com/office/powerpoint/2010/main" val="326855818"/>
      </p:ext>
    </p:extLst>
  </p:cSld>
  <p:clrMapOvr>
    <a:masterClrMapping/>
  </p:clrMapOvr>
  <p:transition>
    <p:wipe dir="r"/>
  </p:transition>
</p:sldLayout>
</file>

<file path=ppt/slideLayouts/slideLayout25.xml><?xml version="1.0" encoding="utf-8"?>
<p:sldLayout xmlns:a="http://schemas.openxmlformats.org/drawingml/2006/main" xmlns:r="http://schemas.openxmlformats.org/officeDocument/2006/relationships" xmlns:p="http://schemas.openxmlformats.org/presentationml/2006/main" type="objAndTwoObj">
  <p:cSld name="标题，一项大型内容和两项小型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195263" y="228600"/>
            <a:ext cx="8015287" cy="914400"/>
          </a:xfrm>
        </p:spPr>
        <p:txBody>
          <a:bodyPr/>
          <a:lstStyle/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内容占位符 2"/>
          <p:cNvSpPr>
            <a:spLocks noGrp="1"/>
          </p:cNvSpPr>
          <p:nvPr>
            <p:ph sz="half" idx="1"/>
          </p:nvPr>
        </p:nvSpPr>
        <p:spPr>
          <a:xfrm>
            <a:off x="457200" y="1447800"/>
            <a:ext cx="3962400" cy="5029200"/>
          </a:xfrm>
        </p:spPr>
        <p:txBody>
          <a:bodyPr/>
          <a:lstStyle/>
          <a:p>
            <a:pPr lvl="0"/>
            <a:r>
              <a:rPr lang="zh-CN" altLang="en-US"/>
              <a:t>单击此处编辑母版文本样式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</a:p>
        </p:txBody>
      </p:sp>
      <p:sp>
        <p:nvSpPr>
          <p:cNvPr id="4" name="内容占位符 3"/>
          <p:cNvSpPr>
            <a:spLocks noGrp="1"/>
          </p:cNvSpPr>
          <p:nvPr>
            <p:ph sz="quarter" idx="2"/>
          </p:nvPr>
        </p:nvSpPr>
        <p:spPr>
          <a:xfrm>
            <a:off x="4572000" y="1447800"/>
            <a:ext cx="3962400" cy="2438400"/>
          </a:xfrm>
        </p:spPr>
        <p:txBody>
          <a:bodyPr/>
          <a:lstStyle/>
          <a:p>
            <a:pPr lvl="0"/>
            <a:r>
              <a:rPr lang="zh-CN" altLang="en-US"/>
              <a:t>单击此处编辑母版文本样式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</a:p>
        </p:txBody>
      </p:sp>
      <p:sp>
        <p:nvSpPr>
          <p:cNvPr id="5" name="内容占位符 4"/>
          <p:cNvSpPr>
            <a:spLocks noGrp="1"/>
          </p:cNvSpPr>
          <p:nvPr>
            <p:ph sz="quarter" idx="3"/>
          </p:nvPr>
        </p:nvSpPr>
        <p:spPr>
          <a:xfrm>
            <a:off x="4572000" y="4038600"/>
            <a:ext cx="3962400" cy="2438400"/>
          </a:xfrm>
        </p:spPr>
        <p:txBody>
          <a:bodyPr/>
          <a:lstStyle/>
          <a:p>
            <a:pPr lvl="0"/>
            <a:r>
              <a:rPr lang="zh-CN" altLang="en-US"/>
              <a:t>单击此处编辑母版文本样式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</a:p>
        </p:txBody>
      </p:sp>
      <p:sp>
        <p:nvSpPr>
          <p:cNvPr id="6" name="Rectangle 8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/>
          </a:p>
        </p:txBody>
      </p:sp>
      <p:sp>
        <p:nvSpPr>
          <p:cNvPr id="7" name="Rectangle 9"/>
          <p:cNvSpPr>
            <a:spLocks noGrp="1" noChangeArrowheads="1"/>
          </p:cNvSpPr>
          <p:nvPr>
            <p:ph type="ftr" sz="quarter" idx="11"/>
          </p:nvPr>
        </p:nvSpPr>
        <p:spPr>
          <a:xfrm>
            <a:off x="3124200" y="6248400"/>
            <a:ext cx="2895600" cy="457200"/>
          </a:xfrm>
          <a:prstGeom prst="rect">
            <a:avLst/>
          </a:prstGeom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/>
          </a:p>
        </p:txBody>
      </p:sp>
      <p:sp>
        <p:nvSpPr>
          <p:cNvPr id="8" name="Rectangle 10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A338B9D4-5D11-464B-BDF0-A23355FE4558}" type="slidenum">
              <a:rPr lang="en-US" altLang="zh-CN"/>
              <a:pPr>
                <a:defRPr/>
              </a:pPr>
              <a:t>‹#›</a:t>
            </a:fld>
            <a:endParaRPr lang="en-US" altLang="zh-CN" dirty="0"/>
          </a:p>
        </p:txBody>
      </p:sp>
    </p:spTree>
    <p:extLst>
      <p:ext uri="{BB962C8B-B14F-4D97-AF65-F5344CB8AC3E}">
        <p14:creationId xmlns:p14="http://schemas.microsoft.com/office/powerpoint/2010/main" val="2699562824"/>
      </p:ext>
    </p:extLst>
  </p:cSld>
  <p:clrMapOvr>
    <a:masterClrMapping/>
  </p:clrMapOvr>
</p:sldLayout>
</file>

<file path=ppt/slideLayouts/slideLayout26.xml><?xml version="1.0" encoding="utf-8"?>
<p:sldLayout xmlns:a="http://schemas.openxmlformats.org/drawingml/2006/main" xmlns:r="http://schemas.openxmlformats.org/officeDocument/2006/relationships" xmlns:p="http://schemas.openxmlformats.org/presentationml/2006/main" type="txAndObj">
  <p:cSld name="标题，文本与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685800" y="115888"/>
            <a:ext cx="5470525" cy="936625"/>
          </a:xfrm>
        </p:spPr>
        <p:txBody>
          <a:bodyPr/>
          <a:lstStyle/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文本占位符 2"/>
          <p:cNvSpPr>
            <a:spLocks noGrp="1"/>
          </p:cNvSpPr>
          <p:nvPr>
            <p:ph type="body" sz="half" idx="1"/>
          </p:nvPr>
        </p:nvSpPr>
        <p:spPr>
          <a:xfrm>
            <a:off x="457200" y="1447800"/>
            <a:ext cx="4038600" cy="4716463"/>
          </a:xfrm>
        </p:spPr>
        <p:txBody>
          <a:bodyPr/>
          <a:lstStyle/>
          <a:p>
            <a:pPr lvl="0"/>
            <a:r>
              <a:rPr lang="zh-CN" altLang="en-US"/>
              <a:t>单击此处编辑母版文本样式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</p:nvPr>
        </p:nvSpPr>
        <p:spPr>
          <a:xfrm>
            <a:off x="4648200" y="1447800"/>
            <a:ext cx="4038600" cy="4716463"/>
          </a:xfrm>
        </p:spPr>
        <p:txBody>
          <a:bodyPr/>
          <a:lstStyle/>
          <a:p>
            <a:pPr lvl="0"/>
            <a:r>
              <a:rPr lang="zh-CN" altLang="en-US"/>
              <a:t>单击此处编辑母版文本样式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</a:p>
        </p:txBody>
      </p:sp>
      <p:sp>
        <p:nvSpPr>
          <p:cNvPr id="5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/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C1262F62-C03C-45EC-8E1C-78F85E4B8487}" type="slidenum">
              <a:rPr lang="zh-CN" altLang="en-US"/>
              <a:pPr>
                <a:defRPr/>
              </a:pPr>
              <a:t>‹#›</a:t>
            </a:fld>
            <a:endParaRPr lang="en-US" altLang="zh-CN"/>
          </a:p>
        </p:txBody>
      </p:sp>
    </p:spTree>
    <p:extLst>
      <p:ext uri="{BB962C8B-B14F-4D97-AF65-F5344CB8AC3E}">
        <p14:creationId xmlns:p14="http://schemas.microsoft.com/office/powerpoint/2010/main" val="3653463097"/>
      </p:ext>
    </p:extLst>
  </p:cSld>
  <p:clrMapOvr>
    <a:masterClrMapping/>
  </p:clrMapOvr>
  <p:transition>
    <p:wipe dir="r"/>
  </p:transition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/Relationships>
</file>

<file path=ppt/slideMasters/_rels/slideMaster2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19.xml"/><Relationship Id="rId13" Type="http://schemas.openxmlformats.org/officeDocument/2006/relationships/slideLayout" Target="../slideLayouts/slideLayout24.xml"/><Relationship Id="rId3" Type="http://schemas.openxmlformats.org/officeDocument/2006/relationships/slideLayout" Target="../slideLayouts/slideLayout14.xml"/><Relationship Id="rId7" Type="http://schemas.openxmlformats.org/officeDocument/2006/relationships/slideLayout" Target="../slideLayouts/slideLayout18.xml"/><Relationship Id="rId12" Type="http://schemas.openxmlformats.org/officeDocument/2006/relationships/slideLayout" Target="../slideLayouts/slideLayout23.xml"/><Relationship Id="rId2" Type="http://schemas.openxmlformats.org/officeDocument/2006/relationships/slideLayout" Target="../slideLayouts/slideLayout13.xml"/><Relationship Id="rId16" Type="http://schemas.openxmlformats.org/officeDocument/2006/relationships/theme" Target="../theme/theme2.xml"/><Relationship Id="rId1" Type="http://schemas.openxmlformats.org/officeDocument/2006/relationships/slideLayout" Target="../slideLayouts/slideLayout12.xml"/><Relationship Id="rId6" Type="http://schemas.openxmlformats.org/officeDocument/2006/relationships/slideLayout" Target="../slideLayouts/slideLayout17.xml"/><Relationship Id="rId11" Type="http://schemas.openxmlformats.org/officeDocument/2006/relationships/slideLayout" Target="../slideLayouts/slideLayout22.xml"/><Relationship Id="rId5" Type="http://schemas.openxmlformats.org/officeDocument/2006/relationships/slideLayout" Target="../slideLayouts/slideLayout16.xml"/><Relationship Id="rId15" Type="http://schemas.openxmlformats.org/officeDocument/2006/relationships/slideLayout" Target="../slideLayouts/slideLayout26.xml"/><Relationship Id="rId10" Type="http://schemas.openxmlformats.org/officeDocument/2006/relationships/slideLayout" Target="../slideLayouts/slideLayout21.xml"/><Relationship Id="rId4" Type="http://schemas.openxmlformats.org/officeDocument/2006/relationships/slideLayout" Target="../slideLayouts/slideLayout15.xml"/><Relationship Id="rId9" Type="http://schemas.openxmlformats.org/officeDocument/2006/relationships/slideLayout" Target="../slideLayouts/slideLayout20.xml"/><Relationship Id="rId14" Type="http://schemas.openxmlformats.org/officeDocument/2006/relationships/slideLayout" Target="../slideLayouts/slideLayout25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6" name="Rectangle 2"/>
          <p:cNvSpPr>
            <a:spLocks noGrp="1" noChangeArrowheads="1"/>
          </p:cNvSpPr>
          <p:nvPr>
            <p:ph type="title"/>
          </p:nvPr>
        </p:nvSpPr>
        <p:spPr bwMode="auto">
          <a:xfrm>
            <a:off x="254000" y="136525"/>
            <a:ext cx="8648700" cy="82695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lvl="0"/>
            <a:r>
              <a:rPr lang="zh-CN" altLang="en-US" dirty="0"/>
              <a:t>单击此处编辑母版标题样式</a:t>
            </a:r>
          </a:p>
        </p:txBody>
      </p:sp>
      <p:sp>
        <p:nvSpPr>
          <p:cNvPr id="1027" name="Rectangle 3"/>
          <p:cNvSpPr>
            <a:spLocks noGrp="1" noChangeArrowheads="1"/>
          </p:cNvSpPr>
          <p:nvPr>
            <p:ph type="body" idx="1"/>
          </p:nvPr>
        </p:nvSpPr>
        <p:spPr bwMode="auto">
          <a:xfrm>
            <a:off x="457200" y="1222968"/>
            <a:ext cx="8229600" cy="45259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zh-CN" altLang="en-US"/>
              <a:t>单击此处编辑母版文本样式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</a:p>
        </p:txBody>
      </p:sp>
      <p:sp>
        <p:nvSpPr>
          <p:cNvPr id="1028" name="Rectangle 4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457200" y="6245225"/>
            <a:ext cx="2133600" cy="4762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sz="1050" b="0" i="0">
                <a:ea typeface="SimHei" panose="02010609060101010101" pitchFamily="49" charset="-122"/>
              </a:defRPr>
            </a:lvl1pPr>
          </a:lstStyle>
          <a:p>
            <a:fld id="{ED937CD1-4ED1-F54D-9170-DAEC6AA9BB82}" type="datetime1">
              <a:rPr lang="en-US" altLang="zh-CN" smtClean="0"/>
              <a:pPr/>
              <a:t>6/14/2024</a:t>
            </a:fld>
            <a:endParaRPr lang="zh-CN" altLang="en-US" dirty="0"/>
          </a:p>
        </p:txBody>
      </p:sp>
      <p:sp>
        <p:nvSpPr>
          <p:cNvPr id="1029" name="Rectangle 5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5225"/>
            <a:ext cx="2895600" cy="4762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ctr">
              <a:defRPr sz="1050" b="0" i="0">
                <a:ea typeface="SimHei" panose="02010609060101010101" pitchFamily="49" charset="-122"/>
              </a:defRPr>
            </a:lvl1pPr>
          </a:lstStyle>
          <a:p>
            <a:endParaRPr lang="zh-CN" altLang="en-US" dirty="0"/>
          </a:p>
        </p:txBody>
      </p:sp>
      <p:sp>
        <p:nvSpPr>
          <p:cNvPr id="1030" name="Rectangle 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5225"/>
            <a:ext cx="2133600" cy="4762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r">
              <a:defRPr sz="1400" b="1" i="0">
                <a:latin typeface="+mn-lt"/>
                <a:ea typeface="SimHei" panose="02010609060101010101" pitchFamily="49" charset="-122"/>
              </a:defRPr>
            </a:lvl1pPr>
          </a:lstStyle>
          <a:p>
            <a:fld id="{B1806CE5-282B-4233-8654-09F35EA875E2}" type="slidenum">
              <a:rPr lang="zh-CN" altLang="en-US" smtClean="0"/>
              <a:pPr/>
              <a:t>‹#›</a:t>
            </a:fld>
            <a:endParaRPr lang="zh-CN" altLang="en-US" dirty="0"/>
          </a:p>
        </p:txBody>
      </p:sp>
      <p:grpSp>
        <p:nvGrpSpPr>
          <p:cNvPr id="1031" name="Group 7"/>
          <p:cNvGrpSpPr>
            <a:grpSpLocks/>
          </p:cNvGrpSpPr>
          <p:nvPr/>
        </p:nvGrpSpPr>
        <p:grpSpPr bwMode="auto">
          <a:xfrm>
            <a:off x="684214" y="956460"/>
            <a:ext cx="8459787" cy="152400"/>
            <a:chOff x="431" y="799"/>
            <a:chExt cx="5329" cy="96"/>
          </a:xfrm>
        </p:grpSpPr>
        <p:sp>
          <p:nvSpPr>
            <p:cNvPr id="1032" name="Rectangle 8"/>
            <p:cNvSpPr>
              <a:spLocks noChangeArrowheads="1"/>
            </p:cNvSpPr>
            <p:nvPr/>
          </p:nvSpPr>
          <p:spPr bwMode="auto">
            <a:xfrm>
              <a:off x="431" y="799"/>
              <a:ext cx="1488" cy="96"/>
            </a:xfrm>
            <a:prstGeom prst="rect">
              <a:avLst/>
            </a:prstGeom>
            <a:solidFill>
              <a:srgbClr val="FF0000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350" b="0" i="0" dirty="0">
                <a:ea typeface="SimHei" panose="02010609060101010101" pitchFamily="49" charset="-122"/>
              </a:endParaRPr>
            </a:p>
          </p:txBody>
        </p:sp>
        <p:sp>
          <p:nvSpPr>
            <p:cNvPr id="1033" name="Rectangle 9"/>
            <p:cNvSpPr>
              <a:spLocks noChangeArrowheads="1"/>
            </p:cNvSpPr>
            <p:nvPr/>
          </p:nvSpPr>
          <p:spPr bwMode="auto">
            <a:xfrm>
              <a:off x="1920" y="799"/>
              <a:ext cx="3840" cy="96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ctr"/>
              <a:endParaRPr kumimoji="1" lang="zh-CN" altLang="zh-CN" sz="1800" b="0" i="0" dirty="0">
                <a:solidFill>
                  <a:schemeClr val="accent2"/>
                </a:solidFill>
                <a:latin typeface="Times New Roman" pitchFamily="18" charset="0"/>
                <a:ea typeface="SimHei" panose="02010609060101010101" pitchFamily="49" charset="-122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984245580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61" r:id="rId1"/>
    <p:sldLayoutId id="2147483662" r:id="rId2"/>
    <p:sldLayoutId id="2147483663" r:id="rId3"/>
    <p:sldLayoutId id="2147483664" r:id="rId4"/>
    <p:sldLayoutId id="2147483665" r:id="rId5"/>
    <p:sldLayoutId id="2147483666" r:id="rId6"/>
    <p:sldLayoutId id="2147483667" r:id="rId7"/>
    <p:sldLayoutId id="2147483668" r:id="rId8"/>
    <p:sldLayoutId id="2147483669" r:id="rId9"/>
    <p:sldLayoutId id="2147483670" r:id="rId10"/>
    <p:sldLayoutId id="2147483671" r:id="rId11"/>
  </p:sldLayoutIdLst>
  <p:hf hdr="0" ftr="0" dt="0"/>
  <p:txStyles>
    <p:titleStyle>
      <a:lvl1pPr algn="ctr" rtl="0" eaLnBrk="1" fontAlgn="base" hangingPunct="1">
        <a:spcBef>
          <a:spcPct val="0"/>
        </a:spcBef>
        <a:spcAft>
          <a:spcPct val="0"/>
        </a:spcAft>
        <a:defRPr sz="3600" b="1">
          <a:solidFill>
            <a:schemeClr val="tx2"/>
          </a:solidFill>
          <a:latin typeface="+mj-lt"/>
          <a:ea typeface="+mj-ea"/>
          <a:cs typeface="+mj-cs"/>
        </a:defRPr>
      </a:lvl1pPr>
      <a:lvl2pPr algn="ctr" rtl="0" eaLnBrk="1" fontAlgn="base" hangingPunct="1">
        <a:spcBef>
          <a:spcPct val="0"/>
        </a:spcBef>
        <a:spcAft>
          <a:spcPct val="0"/>
        </a:spcAft>
        <a:defRPr sz="3300" b="1">
          <a:solidFill>
            <a:schemeClr val="tx2"/>
          </a:solidFill>
          <a:latin typeface="Arial" charset="0"/>
          <a:ea typeface="宋体" charset="-122"/>
        </a:defRPr>
      </a:lvl2pPr>
      <a:lvl3pPr algn="ctr" rtl="0" eaLnBrk="1" fontAlgn="base" hangingPunct="1">
        <a:spcBef>
          <a:spcPct val="0"/>
        </a:spcBef>
        <a:spcAft>
          <a:spcPct val="0"/>
        </a:spcAft>
        <a:defRPr sz="3300" b="1">
          <a:solidFill>
            <a:schemeClr val="tx2"/>
          </a:solidFill>
          <a:latin typeface="Arial" charset="0"/>
          <a:ea typeface="宋体" charset="-122"/>
        </a:defRPr>
      </a:lvl3pPr>
      <a:lvl4pPr algn="ctr" rtl="0" eaLnBrk="1" fontAlgn="base" hangingPunct="1">
        <a:spcBef>
          <a:spcPct val="0"/>
        </a:spcBef>
        <a:spcAft>
          <a:spcPct val="0"/>
        </a:spcAft>
        <a:defRPr sz="3300" b="1">
          <a:solidFill>
            <a:schemeClr val="tx2"/>
          </a:solidFill>
          <a:latin typeface="Arial" charset="0"/>
          <a:ea typeface="宋体" charset="-122"/>
        </a:defRPr>
      </a:lvl4pPr>
      <a:lvl5pPr algn="ctr" rtl="0" eaLnBrk="1" fontAlgn="base" hangingPunct="1">
        <a:spcBef>
          <a:spcPct val="0"/>
        </a:spcBef>
        <a:spcAft>
          <a:spcPct val="0"/>
        </a:spcAft>
        <a:defRPr sz="3300" b="1">
          <a:solidFill>
            <a:schemeClr val="tx2"/>
          </a:solidFill>
          <a:latin typeface="Arial" charset="0"/>
          <a:ea typeface="宋体" charset="-122"/>
        </a:defRPr>
      </a:lvl5pPr>
      <a:lvl6pPr marL="342900" algn="ctr" rtl="0" eaLnBrk="1" fontAlgn="base" hangingPunct="1">
        <a:spcBef>
          <a:spcPct val="0"/>
        </a:spcBef>
        <a:spcAft>
          <a:spcPct val="0"/>
        </a:spcAft>
        <a:defRPr sz="3300" b="1">
          <a:solidFill>
            <a:schemeClr val="tx2"/>
          </a:solidFill>
          <a:latin typeface="Arial" charset="0"/>
          <a:ea typeface="宋体" charset="-122"/>
        </a:defRPr>
      </a:lvl6pPr>
      <a:lvl7pPr marL="685800" algn="ctr" rtl="0" eaLnBrk="1" fontAlgn="base" hangingPunct="1">
        <a:spcBef>
          <a:spcPct val="0"/>
        </a:spcBef>
        <a:spcAft>
          <a:spcPct val="0"/>
        </a:spcAft>
        <a:defRPr sz="3300" b="1">
          <a:solidFill>
            <a:schemeClr val="tx2"/>
          </a:solidFill>
          <a:latin typeface="Arial" charset="0"/>
          <a:ea typeface="宋体" charset="-122"/>
        </a:defRPr>
      </a:lvl7pPr>
      <a:lvl8pPr marL="1028700" algn="ctr" rtl="0" eaLnBrk="1" fontAlgn="base" hangingPunct="1">
        <a:spcBef>
          <a:spcPct val="0"/>
        </a:spcBef>
        <a:spcAft>
          <a:spcPct val="0"/>
        </a:spcAft>
        <a:defRPr sz="3300" b="1">
          <a:solidFill>
            <a:schemeClr val="tx2"/>
          </a:solidFill>
          <a:latin typeface="Arial" charset="0"/>
          <a:ea typeface="宋体" charset="-122"/>
        </a:defRPr>
      </a:lvl8pPr>
      <a:lvl9pPr marL="1371600" algn="ctr" rtl="0" eaLnBrk="1" fontAlgn="base" hangingPunct="1">
        <a:spcBef>
          <a:spcPct val="0"/>
        </a:spcBef>
        <a:spcAft>
          <a:spcPct val="0"/>
        </a:spcAft>
        <a:defRPr sz="3300" b="1">
          <a:solidFill>
            <a:schemeClr val="tx2"/>
          </a:solidFill>
          <a:latin typeface="Arial" charset="0"/>
          <a:ea typeface="宋体" charset="-122"/>
        </a:defRPr>
      </a:lvl9pPr>
    </p:titleStyle>
    <p:bodyStyle>
      <a:lvl1pPr marL="257175" indent="-257175" algn="l" rtl="0" eaLnBrk="1" fontAlgn="base" hangingPunct="1">
        <a:spcBef>
          <a:spcPct val="20000"/>
        </a:spcBef>
        <a:spcAft>
          <a:spcPct val="0"/>
        </a:spcAft>
        <a:buChar char="•"/>
        <a:defRPr sz="2400" b="1">
          <a:solidFill>
            <a:schemeClr val="tx1"/>
          </a:solidFill>
          <a:latin typeface="+mn-lt"/>
          <a:ea typeface="+mn-ea"/>
          <a:cs typeface="+mn-cs"/>
        </a:defRPr>
      </a:lvl1pPr>
      <a:lvl2pPr marL="557213" indent="-214313" algn="l" rtl="0" eaLnBrk="1" fontAlgn="base" hangingPunct="1">
        <a:spcBef>
          <a:spcPct val="20000"/>
        </a:spcBef>
        <a:spcAft>
          <a:spcPct val="0"/>
        </a:spcAft>
        <a:buChar char="–"/>
        <a:defRPr sz="2100" b="1">
          <a:solidFill>
            <a:schemeClr val="tx1"/>
          </a:solidFill>
          <a:latin typeface="+mn-lt"/>
          <a:ea typeface="+mn-ea"/>
        </a:defRPr>
      </a:lvl2pPr>
      <a:lvl3pPr marL="857250" indent="-171450" algn="l" rtl="0" eaLnBrk="1" fontAlgn="base" hangingPunct="1">
        <a:spcBef>
          <a:spcPct val="20000"/>
        </a:spcBef>
        <a:spcAft>
          <a:spcPct val="0"/>
        </a:spcAft>
        <a:buChar char="•"/>
        <a:defRPr sz="1800" b="1">
          <a:solidFill>
            <a:schemeClr val="tx1"/>
          </a:solidFill>
          <a:latin typeface="+mn-lt"/>
          <a:ea typeface="+mn-ea"/>
        </a:defRPr>
      </a:lvl3pPr>
      <a:lvl4pPr marL="1200150" indent="-171450" algn="l" rtl="0" eaLnBrk="1" fontAlgn="base" hangingPunct="1">
        <a:spcBef>
          <a:spcPct val="20000"/>
        </a:spcBef>
        <a:spcAft>
          <a:spcPct val="0"/>
        </a:spcAft>
        <a:buChar char="–"/>
        <a:defRPr sz="1500" b="1">
          <a:solidFill>
            <a:schemeClr val="tx1"/>
          </a:solidFill>
          <a:latin typeface="+mn-lt"/>
          <a:ea typeface="+mn-ea"/>
        </a:defRPr>
      </a:lvl4pPr>
      <a:lvl5pPr marL="1543050" indent="-171450" algn="l" rtl="0" eaLnBrk="1" fontAlgn="base" hangingPunct="1">
        <a:spcBef>
          <a:spcPct val="20000"/>
        </a:spcBef>
        <a:spcAft>
          <a:spcPct val="0"/>
        </a:spcAft>
        <a:buChar char="»"/>
        <a:defRPr sz="1500" b="1">
          <a:solidFill>
            <a:schemeClr val="tx1"/>
          </a:solidFill>
          <a:latin typeface="+mn-lt"/>
          <a:ea typeface="+mn-ea"/>
        </a:defRPr>
      </a:lvl5pPr>
      <a:lvl6pPr marL="1885950" indent="-171450" algn="l" rtl="0" eaLnBrk="1" fontAlgn="base" hangingPunct="1">
        <a:spcBef>
          <a:spcPct val="20000"/>
        </a:spcBef>
        <a:spcAft>
          <a:spcPct val="0"/>
        </a:spcAft>
        <a:buChar char="»"/>
        <a:defRPr sz="1500" b="1">
          <a:solidFill>
            <a:schemeClr val="tx1"/>
          </a:solidFill>
          <a:latin typeface="+mn-lt"/>
          <a:ea typeface="+mn-ea"/>
        </a:defRPr>
      </a:lvl6pPr>
      <a:lvl7pPr marL="2228850" indent="-171450" algn="l" rtl="0" eaLnBrk="1" fontAlgn="base" hangingPunct="1">
        <a:spcBef>
          <a:spcPct val="20000"/>
        </a:spcBef>
        <a:spcAft>
          <a:spcPct val="0"/>
        </a:spcAft>
        <a:buChar char="»"/>
        <a:defRPr sz="1500" b="1">
          <a:solidFill>
            <a:schemeClr val="tx1"/>
          </a:solidFill>
          <a:latin typeface="+mn-lt"/>
          <a:ea typeface="+mn-ea"/>
        </a:defRPr>
      </a:lvl7pPr>
      <a:lvl8pPr marL="2571750" indent="-171450" algn="l" rtl="0" eaLnBrk="1" fontAlgn="base" hangingPunct="1">
        <a:spcBef>
          <a:spcPct val="20000"/>
        </a:spcBef>
        <a:spcAft>
          <a:spcPct val="0"/>
        </a:spcAft>
        <a:buChar char="»"/>
        <a:defRPr sz="1500" b="1">
          <a:solidFill>
            <a:schemeClr val="tx1"/>
          </a:solidFill>
          <a:latin typeface="+mn-lt"/>
          <a:ea typeface="+mn-ea"/>
        </a:defRPr>
      </a:lvl8pPr>
      <a:lvl9pPr marL="2914650" indent="-171450" algn="l" rtl="0" eaLnBrk="1" fontAlgn="base" hangingPunct="1">
        <a:spcBef>
          <a:spcPct val="20000"/>
        </a:spcBef>
        <a:spcAft>
          <a:spcPct val="0"/>
        </a:spcAft>
        <a:buChar char="»"/>
        <a:defRPr sz="1500" b="1">
          <a:solidFill>
            <a:schemeClr val="tx1"/>
          </a:solidFill>
          <a:latin typeface="+mn-lt"/>
          <a:ea typeface="+mn-ea"/>
        </a:defRPr>
      </a:lvl9pPr>
    </p:bodyStyle>
    <p:otherStyle>
      <a:defPPr>
        <a:defRPr lang="zh-CN"/>
      </a:defPPr>
      <a:lvl1pPr marL="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1pPr>
      <a:lvl2pPr marL="3429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2pPr>
      <a:lvl3pPr marL="6858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3pPr>
      <a:lvl4pPr marL="10287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4pPr>
      <a:lvl5pPr marL="13716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5pPr>
      <a:lvl6pPr marL="17145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6pPr>
      <a:lvl7pPr marL="20574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7pPr>
      <a:lvl8pPr marL="24003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8pPr>
      <a:lvl9pPr marL="27432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6" name="Rectangle 2"/>
          <p:cNvSpPr>
            <a:spLocks noGrp="1" noChangeArrowheads="1"/>
          </p:cNvSpPr>
          <p:nvPr>
            <p:ph type="title"/>
          </p:nvPr>
        </p:nvSpPr>
        <p:spPr bwMode="auto">
          <a:xfrm>
            <a:off x="457200" y="136525"/>
            <a:ext cx="8229600" cy="11430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lvl="0"/>
            <a:r>
              <a:rPr lang="zh-CN" altLang="en-US" dirty="0"/>
              <a:t>单击此处编辑母版标题样式</a:t>
            </a:r>
          </a:p>
        </p:txBody>
      </p:sp>
      <p:sp>
        <p:nvSpPr>
          <p:cNvPr id="1027" name="Rectangle 3"/>
          <p:cNvSpPr>
            <a:spLocks noGrp="1" noChangeArrowheads="1"/>
          </p:cNvSpPr>
          <p:nvPr>
            <p:ph type="body" idx="1"/>
          </p:nvPr>
        </p:nvSpPr>
        <p:spPr bwMode="auto">
          <a:xfrm>
            <a:off x="457200" y="1368552"/>
            <a:ext cx="8229600" cy="45259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zh-CN" altLang="en-US" dirty="0"/>
              <a:t>单击此处编辑母版文本样式</a:t>
            </a:r>
          </a:p>
          <a:p>
            <a:pPr lvl="1"/>
            <a:r>
              <a:rPr lang="zh-CN" altLang="en-US" dirty="0"/>
              <a:t>第二级</a:t>
            </a:r>
          </a:p>
          <a:p>
            <a:pPr lvl="2"/>
            <a:r>
              <a:rPr lang="zh-CN" altLang="en-US" dirty="0"/>
              <a:t>第三级</a:t>
            </a:r>
          </a:p>
          <a:p>
            <a:pPr lvl="3"/>
            <a:r>
              <a:rPr lang="zh-CN" altLang="en-US" dirty="0"/>
              <a:t>第四级</a:t>
            </a:r>
          </a:p>
          <a:p>
            <a:pPr lvl="4"/>
            <a:r>
              <a:rPr lang="zh-CN" altLang="en-US" dirty="0"/>
              <a:t>第五级</a:t>
            </a:r>
          </a:p>
        </p:txBody>
      </p:sp>
      <p:sp>
        <p:nvSpPr>
          <p:cNvPr id="1028" name="Rectangle 4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457200" y="6245225"/>
            <a:ext cx="2133600" cy="4762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sz="1400" b="1">
                <a:ea typeface="黑体" panose="02010609060101010101" pitchFamily="49" charset="-122"/>
              </a:defRPr>
            </a:lvl1pPr>
          </a:lstStyle>
          <a:p>
            <a:endParaRPr lang="en-US" altLang="zh-CN" dirty="0"/>
          </a:p>
        </p:txBody>
      </p:sp>
      <p:sp>
        <p:nvSpPr>
          <p:cNvPr id="1029" name="Rectangle 5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5225"/>
            <a:ext cx="2895600" cy="4762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ctr">
              <a:defRPr sz="1400" b="1">
                <a:ea typeface="黑体" panose="02010609060101010101" pitchFamily="49" charset="-122"/>
              </a:defRPr>
            </a:lvl1pPr>
          </a:lstStyle>
          <a:p>
            <a:endParaRPr lang="en-US" altLang="zh-CN" dirty="0"/>
          </a:p>
        </p:txBody>
      </p:sp>
      <p:sp>
        <p:nvSpPr>
          <p:cNvPr id="1030" name="Rectangle 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5225"/>
            <a:ext cx="2133600" cy="4762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r">
              <a:defRPr sz="1400" b="1">
                <a:ea typeface="黑体" panose="02010609060101010101" pitchFamily="49" charset="-122"/>
              </a:defRPr>
            </a:lvl1pPr>
          </a:lstStyle>
          <a:p>
            <a:fld id="{B36EB2BA-E18C-44D4-9F8D-4FCE250BF3FA}" type="slidenum">
              <a:rPr lang="en-US" altLang="zh-CN" smtClean="0"/>
              <a:pPr/>
              <a:t>‹#›</a:t>
            </a:fld>
            <a:endParaRPr lang="en-US" altLang="zh-CN" dirty="0"/>
          </a:p>
        </p:txBody>
      </p:sp>
      <p:grpSp>
        <p:nvGrpSpPr>
          <p:cNvPr id="1031" name="Group 7"/>
          <p:cNvGrpSpPr>
            <a:grpSpLocks/>
          </p:cNvGrpSpPr>
          <p:nvPr userDrawn="1"/>
        </p:nvGrpSpPr>
        <p:grpSpPr bwMode="auto">
          <a:xfrm>
            <a:off x="684213" y="1110456"/>
            <a:ext cx="8459787" cy="152400"/>
            <a:chOff x="431" y="799"/>
            <a:chExt cx="5329" cy="96"/>
          </a:xfrm>
        </p:grpSpPr>
        <p:sp>
          <p:nvSpPr>
            <p:cNvPr id="1032" name="Rectangle 8"/>
            <p:cNvSpPr>
              <a:spLocks noChangeArrowheads="1"/>
            </p:cNvSpPr>
            <p:nvPr/>
          </p:nvSpPr>
          <p:spPr bwMode="auto">
            <a:xfrm>
              <a:off x="431" y="799"/>
              <a:ext cx="1488" cy="96"/>
            </a:xfrm>
            <a:prstGeom prst="rect">
              <a:avLst/>
            </a:prstGeom>
            <a:solidFill>
              <a:srgbClr val="FF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dirty="0">
                <a:ea typeface="黑体" panose="02010609060101010101" pitchFamily="49" charset="-122"/>
              </a:endParaRPr>
            </a:p>
          </p:txBody>
        </p:sp>
        <p:sp>
          <p:nvSpPr>
            <p:cNvPr id="1033" name="Rectangle 9"/>
            <p:cNvSpPr>
              <a:spLocks noChangeArrowheads="1"/>
            </p:cNvSpPr>
            <p:nvPr/>
          </p:nvSpPr>
          <p:spPr bwMode="auto">
            <a:xfrm>
              <a:off x="1920" y="799"/>
              <a:ext cx="3840" cy="96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ctr"/>
              <a:endParaRPr kumimoji="1" lang="zh-CN" altLang="zh-CN" sz="2400" b="1" dirty="0">
                <a:solidFill>
                  <a:schemeClr val="accent2"/>
                </a:solidFill>
                <a:latin typeface="Times New Roman" pitchFamily="18" charset="0"/>
                <a:ea typeface="黑体" panose="02010609060101010101" pitchFamily="49" charset="-122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489806379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73" r:id="rId1"/>
    <p:sldLayoutId id="2147483674" r:id="rId2"/>
    <p:sldLayoutId id="2147483675" r:id="rId3"/>
    <p:sldLayoutId id="2147483676" r:id="rId4"/>
    <p:sldLayoutId id="2147483677" r:id="rId5"/>
    <p:sldLayoutId id="2147483678" r:id="rId6"/>
    <p:sldLayoutId id="2147483679" r:id="rId7"/>
    <p:sldLayoutId id="2147483680" r:id="rId8"/>
    <p:sldLayoutId id="2147483681" r:id="rId9"/>
    <p:sldLayoutId id="2147483682" r:id="rId10"/>
    <p:sldLayoutId id="2147483683" r:id="rId11"/>
    <p:sldLayoutId id="2147483684" r:id="rId12"/>
    <p:sldLayoutId id="2147483685" r:id="rId13"/>
    <p:sldLayoutId id="2147483686" r:id="rId14"/>
    <p:sldLayoutId id="2147483687" r:id="rId15"/>
  </p:sldLayoutIdLst>
  <p:hf hdr="0" ftr="0" dt="0"/>
  <p:txStyles>
    <p:titleStyle>
      <a:lvl1pPr algn="ctr" rtl="0" fontAlgn="base">
        <a:spcBef>
          <a:spcPct val="0"/>
        </a:spcBef>
        <a:spcAft>
          <a:spcPct val="0"/>
        </a:spcAft>
        <a:defRPr sz="4000" b="1">
          <a:solidFill>
            <a:schemeClr val="tx2"/>
          </a:solidFill>
          <a:latin typeface="+mj-lt"/>
          <a:ea typeface="黑体" panose="02010609060101010101" pitchFamily="49" charset="-122"/>
          <a:cs typeface="+mj-cs"/>
        </a:defRPr>
      </a:lvl1pPr>
      <a:lvl2pPr algn="ctr" rtl="0" fontAlgn="base">
        <a:spcBef>
          <a:spcPct val="0"/>
        </a:spcBef>
        <a:spcAft>
          <a:spcPct val="0"/>
        </a:spcAft>
        <a:defRPr sz="4400" b="1">
          <a:solidFill>
            <a:schemeClr val="tx2"/>
          </a:solidFill>
          <a:latin typeface="Arial" charset="0"/>
          <a:ea typeface="宋体" charset="-122"/>
        </a:defRPr>
      </a:lvl2pPr>
      <a:lvl3pPr algn="ctr" rtl="0" fontAlgn="base">
        <a:spcBef>
          <a:spcPct val="0"/>
        </a:spcBef>
        <a:spcAft>
          <a:spcPct val="0"/>
        </a:spcAft>
        <a:defRPr sz="4400" b="1">
          <a:solidFill>
            <a:schemeClr val="tx2"/>
          </a:solidFill>
          <a:latin typeface="Arial" charset="0"/>
          <a:ea typeface="宋体" charset="-122"/>
        </a:defRPr>
      </a:lvl3pPr>
      <a:lvl4pPr algn="ctr" rtl="0" fontAlgn="base">
        <a:spcBef>
          <a:spcPct val="0"/>
        </a:spcBef>
        <a:spcAft>
          <a:spcPct val="0"/>
        </a:spcAft>
        <a:defRPr sz="4400" b="1">
          <a:solidFill>
            <a:schemeClr val="tx2"/>
          </a:solidFill>
          <a:latin typeface="Arial" charset="0"/>
          <a:ea typeface="宋体" charset="-122"/>
        </a:defRPr>
      </a:lvl4pPr>
      <a:lvl5pPr algn="ctr" rtl="0" fontAlgn="base">
        <a:spcBef>
          <a:spcPct val="0"/>
        </a:spcBef>
        <a:spcAft>
          <a:spcPct val="0"/>
        </a:spcAft>
        <a:defRPr sz="4400" b="1">
          <a:solidFill>
            <a:schemeClr val="tx2"/>
          </a:solidFill>
          <a:latin typeface="Arial" charset="0"/>
          <a:ea typeface="宋体" charset="-122"/>
        </a:defRPr>
      </a:lvl5pPr>
      <a:lvl6pPr marL="457200" algn="ctr" rtl="0" fontAlgn="base">
        <a:spcBef>
          <a:spcPct val="0"/>
        </a:spcBef>
        <a:spcAft>
          <a:spcPct val="0"/>
        </a:spcAft>
        <a:defRPr sz="4400" b="1">
          <a:solidFill>
            <a:schemeClr val="tx2"/>
          </a:solidFill>
          <a:latin typeface="Arial" charset="0"/>
          <a:ea typeface="宋体" charset="-122"/>
        </a:defRPr>
      </a:lvl6pPr>
      <a:lvl7pPr marL="914400" algn="ctr" rtl="0" fontAlgn="base">
        <a:spcBef>
          <a:spcPct val="0"/>
        </a:spcBef>
        <a:spcAft>
          <a:spcPct val="0"/>
        </a:spcAft>
        <a:defRPr sz="4400" b="1">
          <a:solidFill>
            <a:schemeClr val="tx2"/>
          </a:solidFill>
          <a:latin typeface="Arial" charset="0"/>
          <a:ea typeface="宋体" charset="-122"/>
        </a:defRPr>
      </a:lvl7pPr>
      <a:lvl8pPr marL="1371600" algn="ctr" rtl="0" fontAlgn="base">
        <a:spcBef>
          <a:spcPct val="0"/>
        </a:spcBef>
        <a:spcAft>
          <a:spcPct val="0"/>
        </a:spcAft>
        <a:defRPr sz="4400" b="1">
          <a:solidFill>
            <a:schemeClr val="tx2"/>
          </a:solidFill>
          <a:latin typeface="Arial" charset="0"/>
          <a:ea typeface="宋体" charset="-122"/>
        </a:defRPr>
      </a:lvl8pPr>
      <a:lvl9pPr marL="1828800" algn="ctr" rtl="0" fontAlgn="base">
        <a:spcBef>
          <a:spcPct val="0"/>
        </a:spcBef>
        <a:spcAft>
          <a:spcPct val="0"/>
        </a:spcAft>
        <a:defRPr sz="4400" b="1">
          <a:solidFill>
            <a:schemeClr val="tx2"/>
          </a:solidFill>
          <a:latin typeface="Arial" charset="0"/>
          <a:ea typeface="宋体" charset="-122"/>
        </a:defRPr>
      </a:lvl9pPr>
    </p:titleStyle>
    <p:bodyStyle>
      <a:lvl1pPr marL="342900" indent="-342900" algn="l" rtl="0" fontAlgn="base">
        <a:spcBef>
          <a:spcPct val="20000"/>
        </a:spcBef>
        <a:spcAft>
          <a:spcPct val="0"/>
        </a:spcAft>
        <a:buChar char="•"/>
        <a:defRPr sz="3200" b="1">
          <a:solidFill>
            <a:schemeClr val="tx1"/>
          </a:solidFill>
          <a:latin typeface="+mn-lt"/>
          <a:ea typeface="黑体" panose="02010609060101010101" pitchFamily="49" charset="-122"/>
          <a:cs typeface="+mn-cs"/>
        </a:defRPr>
      </a:lvl1pPr>
      <a:lvl2pPr marL="742950" indent="-285750" algn="l" rtl="0" fontAlgn="base">
        <a:spcBef>
          <a:spcPct val="20000"/>
        </a:spcBef>
        <a:spcAft>
          <a:spcPct val="0"/>
        </a:spcAft>
        <a:buChar char="–"/>
        <a:defRPr sz="2800" b="1">
          <a:solidFill>
            <a:schemeClr val="tx1"/>
          </a:solidFill>
          <a:latin typeface="+mn-lt"/>
          <a:ea typeface="黑体" panose="02010609060101010101" pitchFamily="49" charset="-122"/>
        </a:defRPr>
      </a:lvl2pPr>
      <a:lvl3pPr marL="1143000" indent="-228600" algn="l" rtl="0" fontAlgn="base">
        <a:spcBef>
          <a:spcPct val="20000"/>
        </a:spcBef>
        <a:spcAft>
          <a:spcPct val="0"/>
        </a:spcAft>
        <a:buChar char="•"/>
        <a:defRPr sz="2400" b="1">
          <a:solidFill>
            <a:schemeClr val="tx1"/>
          </a:solidFill>
          <a:latin typeface="+mn-lt"/>
          <a:ea typeface="黑体" panose="02010609060101010101" pitchFamily="49" charset="-122"/>
        </a:defRPr>
      </a:lvl3pPr>
      <a:lvl4pPr marL="1600200" indent="-228600" algn="l" rtl="0" fontAlgn="base">
        <a:spcBef>
          <a:spcPct val="20000"/>
        </a:spcBef>
        <a:spcAft>
          <a:spcPct val="0"/>
        </a:spcAft>
        <a:buChar char="–"/>
        <a:defRPr sz="2000" b="1">
          <a:solidFill>
            <a:schemeClr val="tx1"/>
          </a:solidFill>
          <a:latin typeface="+mn-lt"/>
          <a:ea typeface="黑体" panose="02010609060101010101" pitchFamily="49" charset="-122"/>
        </a:defRPr>
      </a:lvl4pPr>
      <a:lvl5pPr marL="2057400" indent="-228600" algn="l" rtl="0" fontAlgn="base">
        <a:spcBef>
          <a:spcPct val="20000"/>
        </a:spcBef>
        <a:spcAft>
          <a:spcPct val="0"/>
        </a:spcAft>
        <a:buChar char="»"/>
        <a:defRPr sz="2000" b="1">
          <a:solidFill>
            <a:schemeClr val="tx1"/>
          </a:solidFill>
          <a:latin typeface="+mn-lt"/>
          <a:ea typeface="黑体" panose="02010609060101010101" pitchFamily="49" charset="-122"/>
        </a:defRPr>
      </a:lvl5pPr>
      <a:lvl6pPr marL="2514600" indent="-228600" algn="l" rtl="0" fontAlgn="base">
        <a:spcBef>
          <a:spcPct val="20000"/>
        </a:spcBef>
        <a:spcAft>
          <a:spcPct val="0"/>
        </a:spcAft>
        <a:buChar char="»"/>
        <a:defRPr sz="2000" b="1">
          <a:solidFill>
            <a:schemeClr val="tx1"/>
          </a:solidFill>
          <a:latin typeface="+mn-lt"/>
          <a:ea typeface="+mn-ea"/>
        </a:defRPr>
      </a:lvl6pPr>
      <a:lvl7pPr marL="2971800" indent="-228600" algn="l" rtl="0" fontAlgn="base">
        <a:spcBef>
          <a:spcPct val="20000"/>
        </a:spcBef>
        <a:spcAft>
          <a:spcPct val="0"/>
        </a:spcAft>
        <a:buChar char="»"/>
        <a:defRPr sz="2000" b="1">
          <a:solidFill>
            <a:schemeClr val="tx1"/>
          </a:solidFill>
          <a:latin typeface="+mn-lt"/>
          <a:ea typeface="+mn-ea"/>
        </a:defRPr>
      </a:lvl7pPr>
      <a:lvl8pPr marL="3429000" indent="-228600" algn="l" rtl="0" fontAlgn="base">
        <a:spcBef>
          <a:spcPct val="20000"/>
        </a:spcBef>
        <a:spcAft>
          <a:spcPct val="0"/>
        </a:spcAft>
        <a:buChar char="»"/>
        <a:defRPr sz="2000" b="1">
          <a:solidFill>
            <a:schemeClr val="tx1"/>
          </a:solidFill>
          <a:latin typeface="+mn-lt"/>
          <a:ea typeface="+mn-ea"/>
        </a:defRPr>
      </a:lvl8pPr>
      <a:lvl9pPr marL="3886200" indent="-228600" algn="l" rtl="0" fontAlgn="base">
        <a:spcBef>
          <a:spcPct val="20000"/>
        </a:spcBef>
        <a:spcAft>
          <a:spcPct val="0"/>
        </a:spcAft>
        <a:buChar char="»"/>
        <a:defRPr sz="2000" b="1">
          <a:solidFill>
            <a:schemeClr val="tx1"/>
          </a:solidFill>
          <a:latin typeface="+mn-lt"/>
          <a:ea typeface="+mn-ea"/>
        </a:defRPr>
      </a:lvl9pPr>
    </p:bodyStyle>
    <p:otherStyle>
      <a:defPPr>
        <a:defRPr lang="zh-CN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3" Type="http://schemas.openxmlformats.org/officeDocument/2006/relationships/customXml" Target="../ink/ink1.xml"/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1.xml"/><Relationship Id="rId4" Type="http://schemas.openxmlformats.org/officeDocument/2006/relationships/image" Target="../media/image4.png"/></Relationships>
</file>

<file path=ppt/slides/_rels/slide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2.xml"/></Relationships>
</file>

<file path=ppt/slides/_rels/slide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png"/><Relationship Id="rId1" Type="http://schemas.openxmlformats.org/officeDocument/2006/relationships/slideLayout" Target="../slideLayouts/slideLayout2.xml"/></Relationships>
</file>

<file path=ppt/slides/_rels/slide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80.png"/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40.png"/></Relationships>
</file>

<file path=ppt/slides/_rels/slide6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png"/><Relationship Id="rId1" Type="http://schemas.openxmlformats.org/officeDocument/2006/relationships/slideLayout" Target="../slideLayouts/slideLayout2.xml"/></Relationships>
</file>

<file path=ppt/slides/_rels/slide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8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2.xml"/></Relationships>
</file>

<file path=ppt/slides/_rels/slide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2.xml"/></Relationships>
</file>

<file path=ppt/slides/_rels/slide1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2.xml"/></Relationships>
</file>

<file path=ppt/slides/_rels/slide1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5.xml.rels><?xml version="1.0" encoding="UTF-8" standalone="yes"?>
<Relationships xmlns="http://schemas.openxmlformats.org/package/2006/relationships"><Relationship Id="rId3" Type="http://schemas.openxmlformats.org/officeDocument/2006/relationships/customXml" Target="../ink/ink2.xml"/><Relationship Id="rId2" Type="http://schemas.openxmlformats.org/officeDocument/2006/relationships/notesSlide" Target="../notesSlides/notesSlide7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6.png"/></Relationships>
</file>

<file path=ppt/slides/_rels/slide16.xml.rels><?xml version="1.0" encoding="UTF-8" standalone="yes"?>
<Relationships xmlns="http://schemas.openxmlformats.org/package/2006/relationships"><Relationship Id="rId3" Type="http://schemas.openxmlformats.org/officeDocument/2006/relationships/customXml" Target="../ink/ink3.xml"/><Relationship Id="rId2" Type="http://schemas.openxmlformats.org/officeDocument/2006/relationships/notesSlide" Target="../notesSlides/notesSlide8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7.png"/></Relationships>
</file>

<file path=ppt/slides/_rels/slide1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9.xml"/><Relationship Id="rId1" Type="http://schemas.openxmlformats.org/officeDocument/2006/relationships/slideLayout" Target="../slideLayouts/slideLayout2.xml"/></Relationships>
</file>

<file path=ppt/slides/_rels/slide1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0.xml"/><Relationship Id="rId1" Type="http://schemas.openxmlformats.org/officeDocument/2006/relationships/slideLayout" Target="../slideLayouts/slideLayout2.xml"/></Relationships>
</file>

<file path=ppt/slides/_rels/slide1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1.xml"/><Relationship Id="rId1" Type="http://schemas.openxmlformats.org/officeDocument/2006/relationships/slideLayout" Target="../slideLayouts/slideLayout2.xml"/></Relationships>
</file>

<file path=ppt/slides/_rels/slide2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1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emf"/><Relationship Id="rId2" Type="http://schemas.openxmlformats.org/officeDocument/2006/relationships/notesSlide" Target="../notesSlides/notesSlide12.xml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9.png"/><Relationship Id="rId4" Type="http://schemas.openxmlformats.org/officeDocument/2006/relationships/customXml" Target="../ink/ink4.xml"/></Relationships>
</file>

<file path=ppt/slides/_rels/slide22.xml.rels><?xml version="1.0" encoding="UTF-8" standalone="yes"?>
<Relationships xmlns="http://schemas.openxmlformats.org/package/2006/relationships"><Relationship Id="rId3" Type="http://schemas.openxmlformats.org/officeDocument/2006/relationships/customXml" Target="../ink/ink5.xml"/><Relationship Id="rId2" Type="http://schemas.openxmlformats.org/officeDocument/2006/relationships/image" Target="../media/image7.emf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11.png"/></Relationships>
</file>

<file path=ppt/slides/_rels/slide23.xml.rels><?xml version="1.0" encoding="UTF-8" standalone="yes"?>
<Relationships xmlns="http://schemas.openxmlformats.org/package/2006/relationships"><Relationship Id="rId3" Type="http://schemas.openxmlformats.org/officeDocument/2006/relationships/customXml" Target="../ink/ink6.xml"/><Relationship Id="rId2" Type="http://schemas.openxmlformats.org/officeDocument/2006/relationships/notesSlide" Target="../notesSlides/notesSlide13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2.png"/><Relationship Id="rId5" Type="http://schemas.openxmlformats.org/officeDocument/2006/relationships/customXml" Target="../ink/ink7.xml"/><Relationship Id="rId4" Type="http://schemas.openxmlformats.org/officeDocument/2006/relationships/image" Target="../media/image70.png"/></Relationships>
</file>

<file path=ppt/slides/_rels/slide2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5.xml.rels><?xml version="1.0" encoding="UTF-8" standalone="yes"?>
<Relationships xmlns="http://schemas.openxmlformats.org/package/2006/relationships"><Relationship Id="rId3" Type="http://schemas.openxmlformats.org/officeDocument/2006/relationships/customXml" Target="../ink/ink8.xml"/><Relationship Id="rId2" Type="http://schemas.openxmlformats.org/officeDocument/2006/relationships/notesSlide" Target="../notesSlides/notesSlide14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4.png"/></Relationships>
</file>

<file path=ppt/slides/_rels/slide2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5.xml"/><Relationship Id="rId1" Type="http://schemas.openxmlformats.org/officeDocument/2006/relationships/slideLayout" Target="../slideLayouts/slideLayout2.xml"/></Relationships>
</file>

<file path=ppt/slides/_rels/slide27.xml.rels><?xml version="1.0" encoding="UTF-8" standalone="yes"?>
<Relationships xmlns="http://schemas.openxmlformats.org/package/2006/relationships"><Relationship Id="rId2" Type="http://schemas.openxmlformats.org/officeDocument/2006/relationships/image" Target="../media/image8.emf"/><Relationship Id="rId1" Type="http://schemas.openxmlformats.org/officeDocument/2006/relationships/slideLayout" Target="../slideLayouts/slideLayout2.xml"/></Relationships>
</file>

<file path=ppt/slides/_rels/slide28.xml.rels><?xml version="1.0" encoding="UTF-8" standalone="yes"?>
<Relationships xmlns="http://schemas.openxmlformats.org/package/2006/relationships"><Relationship Id="rId2" Type="http://schemas.openxmlformats.org/officeDocument/2006/relationships/image" Target="../media/image9.emf"/><Relationship Id="rId1" Type="http://schemas.openxmlformats.org/officeDocument/2006/relationships/slideLayout" Target="../slideLayouts/slideLayout2.xml"/></Relationships>
</file>

<file path=ppt/slides/_rels/slide2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.png"/><Relationship Id="rId2" Type="http://schemas.openxmlformats.org/officeDocument/2006/relationships/customXml" Target="../ink/ink9.xml"/><Relationship Id="rId1" Type="http://schemas.openxmlformats.org/officeDocument/2006/relationships/slideLayout" Target="../slideLayouts/slideLayout2.xml"/></Relationships>
</file>

<file path=ppt/slides/_rels/slide31.xml.rels><?xml version="1.0" encoding="UTF-8" standalone="yes"?>
<Relationships xmlns="http://schemas.openxmlformats.org/package/2006/relationships"><Relationship Id="rId3" Type="http://schemas.openxmlformats.org/officeDocument/2006/relationships/customXml" Target="../ink/ink10.xml"/><Relationship Id="rId2" Type="http://schemas.openxmlformats.org/officeDocument/2006/relationships/notesSlide" Target="../notesSlides/notesSlide16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10.png"/></Relationships>
</file>

<file path=ppt/slides/_rels/slide3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0.png"/><Relationship Id="rId2" Type="http://schemas.openxmlformats.org/officeDocument/2006/relationships/customXml" Target="../ink/ink11.xml"/><Relationship Id="rId1" Type="http://schemas.openxmlformats.org/officeDocument/2006/relationships/slideLayout" Target="../slideLayouts/slideLayout2.xml"/></Relationships>
</file>

<file path=ppt/slides/_rels/slide3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7.xml"/><Relationship Id="rId1" Type="http://schemas.openxmlformats.org/officeDocument/2006/relationships/slideLayout" Target="../slideLayouts/slideLayout2.xml"/></Relationships>
</file>

<file path=ppt/slides/_rels/slide3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Layout" Target="../slideLayouts/slideLayout2.xml"/></Relationships>
</file>

<file path=ppt/slides/_rels/slide35.xml.rels><?xml version="1.0" encoding="UTF-8" standalone="yes"?>
<Relationships xmlns="http://schemas.openxmlformats.org/package/2006/relationships"><Relationship Id="rId8" Type="http://schemas.openxmlformats.org/officeDocument/2006/relationships/tags" Target="../tags/tag8.xml"/><Relationship Id="rId13" Type="http://schemas.openxmlformats.org/officeDocument/2006/relationships/tags" Target="../tags/tag13.xml"/><Relationship Id="rId3" Type="http://schemas.openxmlformats.org/officeDocument/2006/relationships/tags" Target="../tags/tag3.xml"/><Relationship Id="rId7" Type="http://schemas.openxmlformats.org/officeDocument/2006/relationships/tags" Target="../tags/tag7.xml"/><Relationship Id="rId12" Type="http://schemas.openxmlformats.org/officeDocument/2006/relationships/tags" Target="../tags/tag12.xml"/><Relationship Id="rId17" Type="http://schemas.openxmlformats.org/officeDocument/2006/relationships/image" Target="../media/image14.tmp"/><Relationship Id="rId2" Type="http://schemas.openxmlformats.org/officeDocument/2006/relationships/tags" Target="../tags/tag2.xml"/><Relationship Id="rId16" Type="http://schemas.openxmlformats.org/officeDocument/2006/relationships/slideLayout" Target="../slideLayouts/slideLayout7.xml"/><Relationship Id="rId1" Type="http://schemas.openxmlformats.org/officeDocument/2006/relationships/tags" Target="../tags/tag1.xml"/><Relationship Id="rId6" Type="http://schemas.openxmlformats.org/officeDocument/2006/relationships/tags" Target="../tags/tag6.xml"/><Relationship Id="rId11" Type="http://schemas.openxmlformats.org/officeDocument/2006/relationships/tags" Target="../tags/tag11.xml"/><Relationship Id="rId5" Type="http://schemas.openxmlformats.org/officeDocument/2006/relationships/tags" Target="../tags/tag5.xml"/><Relationship Id="rId15" Type="http://schemas.openxmlformats.org/officeDocument/2006/relationships/tags" Target="../tags/tag15.xml"/><Relationship Id="rId10" Type="http://schemas.openxmlformats.org/officeDocument/2006/relationships/tags" Target="../tags/tag10.xml"/><Relationship Id="rId4" Type="http://schemas.openxmlformats.org/officeDocument/2006/relationships/tags" Target="../tags/tag4.xml"/><Relationship Id="rId9" Type="http://schemas.openxmlformats.org/officeDocument/2006/relationships/tags" Target="../tags/tag9.xml"/><Relationship Id="rId14" Type="http://schemas.openxmlformats.org/officeDocument/2006/relationships/tags" Target="../tags/tag14.xml"/></Relationships>
</file>

<file path=ppt/slides/_rels/slide3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8.xml"/><Relationship Id="rId1" Type="http://schemas.openxmlformats.org/officeDocument/2006/relationships/slideLayout" Target="../slideLayouts/slideLayout2.xml"/></Relationships>
</file>

<file path=ppt/slides/_rels/slide3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9.xml"/><Relationship Id="rId1" Type="http://schemas.openxmlformats.org/officeDocument/2006/relationships/slideLayout" Target="../slideLayouts/slideLayout2.xml"/></Relationships>
</file>

<file path=ppt/slides/_rels/slide3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0.xml"/><Relationship Id="rId1" Type="http://schemas.openxmlformats.org/officeDocument/2006/relationships/slideLayout" Target="../slideLayouts/slideLayout2.xml"/></Relationships>
</file>

<file path=ppt/slides/_rels/slide4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8.png"/><Relationship Id="rId2" Type="http://schemas.openxmlformats.org/officeDocument/2006/relationships/customXml" Target="../ink/ink12.xml"/><Relationship Id="rId1" Type="http://schemas.openxmlformats.org/officeDocument/2006/relationships/slideLayout" Target="../slideLayouts/slideLayout2.xml"/></Relationships>
</file>

<file path=ppt/slides/_rels/slide4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9.png"/><Relationship Id="rId2" Type="http://schemas.openxmlformats.org/officeDocument/2006/relationships/customXml" Target="../ink/ink13.xml"/><Relationship Id="rId1" Type="http://schemas.openxmlformats.org/officeDocument/2006/relationships/slideLayout" Target="../slideLayouts/slideLayout2.xml"/></Relationships>
</file>

<file path=ppt/slides/_rels/slide4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.png"/><Relationship Id="rId2" Type="http://schemas.openxmlformats.org/officeDocument/2006/relationships/customXml" Target="../ink/ink14.xml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20.png"/><Relationship Id="rId4" Type="http://schemas.openxmlformats.org/officeDocument/2006/relationships/customXml" Target="../ink/ink15.xml"/></Relationships>
</file>

<file path=ppt/slides/_rels/slide5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1.xml"/><Relationship Id="rId1" Type="http://schemas.openxmlformats.org/officeDocument/2006/relationships/slideLayout" Target="../slideLayouts/slideLayout2.xml"/></Relationships>
</file>

<file path=ppt/slides/_rels/slide5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0.png"/><Relationship Id="rId2" Type="http://schemas.openxmlformats.org/officeDocument/2006/relationships/customXml" Target="../ink/ink16.xml"/><Relationship Id="rId1" Type="http://schemas.openxmlformats.org/officeDocument/2006/relationships/slideLayout" Target="../slideLayouts/slideLayout2.xml"/></Relationships>
</file>

<file path=ppt/slides/_rels/slide54.xml.rels><?xml version="1.0" encoding="UTF-8" standalone="yes"?>
<Relationships xmlns="http://schemas.openxmlformats.org/package/2006/relationships"><Relationship Id="rId8" Type="http://schemas.openxmlformats.org/officeDocument/2006/relationships/tags" Target="../tags/tag23.xml"/><Relationship Id="rId13" Type="http://schemas.openxmlformats.org/officeDocument/2006/relationships/tags" Target="../tags/tag28.xml"/><Relationship Id="rId18" Type="http://schemas.openxmlformats.org/officeDocument/2006/relationships/slideLayout" Target="../slideLayouts/slideLayout7.xml"/><Relationship Id="rId3" Type="http://schemas.openxmlformats.org/officeDocument/2006/relationships/tags" Target="../tags/tag18.xml"/><Relationship Id="rId7" Type="http://schemas.openxmlformats.org/officeDocument/2006/relationships/tags" Target="../tags/tag22.xml"/><Relationship Id="rId12" Type="http://schemas.openxmlformats.org/officeDocument/2006/relationships/tags" Target="../tags/tag27.xml"/><Relationship Id="rId17" Type="http://schemas.openxmlformats.org/officeDocument/2006/relationships/tags" Target="../tags/tag32.xml"/><Relationship Id="rId2" Type="http://schemas.openxmlformats.org/officeDocument/2006/relationships/tags" Target="../tags/tag17.xml"/><Relationship Id="rId16" Type="http://schemas.openxmlformats.org/officeDocument/2006/relationships/tags" Target="../tags/tag31.xml"/><Relationship Id="rId1" Type="http://schemas.openxmlformats.org/officeDocument/2006/relationships/tags" Target="../tags/tag16.xml"/><Relationship Id="rId6" Type="http://schemas.openxmlformats.org/officeDocument/2006/relationships/tags" Target="../tags/tag21.xml"/><Relationship Id="rId11" Type="http://schemas.openxmlformats.org/officeDocument/2006/relationships/tags" Target="../tags/tag26.xml"/><Relationship Id="rId5" Type="http://schemas.openxmlformats.org/officeDocument/2006/relationships/tags" Target="../tags/tag20.xml"/><Relationship Id="rId15" Type="http://schemas.openxmlformats.org/officeDocument/2006/relationships/tags" Target="../tags/tag30.xml"/><Relationship Id="rId10" Type="http://schemas.openxmlformats.org/officeDocument/2006/relationships/tags" Target="../tags/tag25.xml"/><Relationship Id="rId19" Type="http://schemas.openxmlformats.org/officeDocument/2006/relationships/image" Target="../media/image14.tmp"/><Relationship Id="rId4" Type="http://schemas.openxmlformats.org/officeDocument/2006/relationships/tags" Target="../tags/tag19.xml"/><Relationship Id="rId9" Type="http://schemas.openxmlformats.org/officeDocument/2006/relationships/tags" Target="../tags/tag24.xml"/><Relationship Id="rId14" Type="http://schemas.openxmlformats.org/officeDocument/2006/relationships/tags" Target="../tags/tag29.xml"/></Relationships>
</file>

<file path=ppt/slides/_rels/slide5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1.png"/><Relationship Id="rId2" Type="http://schemas.openxmlformats.org/officeDocument/2006/relationships/customXml" Target="../ink/ink17.xml"/><Relationship Id="rId1" Type="http://schemas.openxmlformats.org/officeDocument/2006/relationships/slideLayout" Target="../slideLayouts/slideLayout2.xml"/></Relationships>
</file>

<file path=ppt/slides/_rels/slide5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1.xml.rels><?xml version="1.0" encoding="UTF-8" standalone="yes"?>
<Relationships xmlns="http://schemas.openxmlformats.org/package/2006/relationships"><Relationship Id="rId2" Type="http://schemas.openxmlformats.org/officeDocument/2006/relationships/image" Target="../media/image9.emf"/><Relationship Id="rId1" Type="http://schemas.openxmlformats.org/officeDocument/2006/relationships/slideLayout" Target="../slideLayouts/slideLayout2.xml"/></Relationships>
</file>

<file path=ppt/slides/_rels/slide6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6.png"/><Relationship Id="rId1" Type="http://schemas.openxmlformats.org/officeDocument/2006/relationships/slideLayout" Target="../slideLayouts/slideLayout6.xml"/></Relationships>
</file>

<file path=ppt/slides/_rels/slide6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2.xml"/><Relationship Id="rId1" Type="http://schemas.openxmlformats.org/officeDocument/2006/relationships/slideLayout" Target="../slideLayouts/slideLayout2.xml"/></Relationships>
</file>

<file path=ppt/slides/_rels/slide6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7.wmf"/><Relationship Id="rId2" Type="http://schemas.openxmlformats.org/officeDocument/2006/relationships/notesSlide" Target="../notesSlides/notesSlide23.xml"/><Relationship Id="rId1" Type="http://schemas.openxmlformats.org/officeDocument/2006/relationships/slideLayout" Target="../slideLayouts/slideLayout6.xml"/></Relationships>
</file>

<file path=ppt/slides/_rels/slide6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7.wmf"/><Relationship Id="rId2" Type="http://schemas.openxmlformats.org/officeDocument/2006/relationships/notesSlide" Target="../notesSlides/notesSlide24.xml"/><Relationship Id="rId1" Type="http://schemas.openxmlformats.org/officeDocument/2006/relationships/slideLayout" Target="../slideLayouts/slideLayout2.xml"/></Relationships>
</file>

<file path=ppt/slides/_rels/slide6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8.wmf"/><Relationship Id="rId2" Type="http://schemas.openxmlformats.org/officeDocument/2006/relationships/notesSlide" Target="../notesSlides/notesSlide25.xml"/><Relationship Id="rId1" Type="http://schemas.openxmlformats.org/officeDocument/2006/relationships/slideLayout" Target="../slideLayouts/slideLayout2.xml"/></Relationships>
</file>

<file path=ppt/slides/_rels/slide6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8.wmf"/><Relationship Id="rId2" Type="http://schemas.openxmlformats.org/officeDocument/2006/relationships/notesSlide" Target="../notesSlides/notesSlide26.xml"/><Relationship Id="rId1" Type="http://schemas.openxmlformats.org/officeDocument/2006/relationships/slideLayout" Target="../slideLayouts/slideLayout2.xml"/></Relationships>
</file>

<file path=ppt/slides/_rels/slide7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9.wmf"/><Relationship Id="rId2" Type="http://schemas.openxmlformats.org/officeDocument/2006/relationships/notesSlide" Target="../notesSlides/notesSlide27.xml"/><Relationship Id="rId1" Type="http://schemas.openxmlformats.org/officeDocument/2006/relationships/slideLayout" Target="../slideLayouts/slideLayout2.xml"/></Relationships>
</file>

<file path=ppt/slides/_rels/slide7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9.wmf"/><Relationship Id="rId2" Type="http://schemas.openxmlformats.org/officeDocument/2006/relationships/notesSlide" Target="../notesSlides/notesSlide28.xml"/><Relationship Id="rId1" Type="http://schemas.openxmlformats.org/officeDocument/2006/relationships/slideLayout" Target="../slideLayouts/slideLayout2.xml"/></Relationships>
</file>

<file path=ppt/slides/_rels/slide7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.wmf"/><Relationship Id="rId2" Type="http://schemas.openxmlformats.org/officeDocument/2006/relationships/notesSlide" Target="../notesSlides/notesSlide29.xml"/><Relationship Id="rId1" Type="http://schemas.openxmlformats.org/officeDocument/2006/relationships/slideLayout" Target="../slideLayouts/slideLayout2.xml"/></Relationships>
</file>

<file path=ppt/slides/_rels/slide7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.wmf"/><Relationship Id="rId2" Type="http://schemas.openxmlformats.org/officeDocument/2006/relationships/notesSlide" Target="../notesSlides/notesSlide30.xml"/><Relationship Id="rId1" Type="http://schemas.openxmlformats.org/officeDocument/2006/relationships/slideLayout" Target="../slideLayouts/slideLayout2.xml"/></Relationships>
</file>

<file path=ppt/slides/_rels/slide7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1.wmf"/><Relationship Id="rId2" Type="http://schemas.openxmlformats.org/officeDocument/2006/relationships/notesSlide" Target="../notesSlides/notesSlide31.xml"/><Relationship Id="rId1" Type="http://schemas.openxmlformats.org/officeDocument/2006/relationships/slideLayout" Target="../slideLayouts/slideLayout2.xml"/></Relationships>
</file>

<file path=ppt/slides/_rels/slide7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2.xml"/><Relationship Id="rId1" Type="http://schemas.openxmlformats.org/officeDocument/2006/relationships/slideLayout" Target="../slideLayouts/slideLayout2.xml"/></Relationships>
</file>

<file path=ppt/slides/_rels/slide7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3.xml"/><Relationship Id="rId1" Type="http://schemas.openxmlformats.org/officeDocument/2006/relationships/slideLayout" Target="../slideLayouts/slideLayout2.xml"/></Relationships>
</file>

<file path=ppt/slides/_rels/slide7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4.xml"/><Relationship Id="rId1" Type="http://schemas.openxmlformats.org/officeDocument/2006/relationships/slideLayout" Target="../slideLayouts/slideLayout2.xml"/></Relationships>
</file>

<file path=ppt/slides/_rels/slide7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5.xml"/><Relationship Id="rId1" Type="http://schemas.openxmlformats.org/officeDocument/2006/relationships/slideLayout" Target="../slideLayouts/slideLayout2.xml"/></Relationships>
</file>

<file path=ppt/slides/_rels/slide7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8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8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6.xml"/><Relationship Id="rId1" Type="http://schemas.openxmlformats.org/officeDocument/2006/relationships/slideLayout" Target="../slideLayouts/slideLayout2.xml"/></Relationships>
</file>

<file path=ppt/slides/_rels/slide8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7.xml"/><Relationship Id="rId1" Type="http://schemas.openxmlformats.org/officeDocument/2006/relationships/slideLayout" Target="../slideLayouts/slideLayout2.xml"/></Relationships>
</file>

<file path=ppt/slides/_rels/slide8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8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8.xml"/><Relationship Id="rId1" Type="http://schemas.openxmlformats.org/officeDocument/2006/relationships/slideLayout" Target="../slideLayouts/slideLayout2.xml"/></Relationships>
</file>

<file path=ppt/slides/_rels/slide8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8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8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2.emf"/><Relationship Id="rId2" Type="http://schemas.openxmlformats.org/officeDocument/2006/relationships/notesSlide" Target="../notesSlides/notesSlide39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23.emf"/></Relationships>
</file>

<file path=ppt/slides/_rels/slide88.xml.rels><?xml version="1.0" encoding="UTF-8" standalone="yes"?>
<Relationships xmlns="http://schemas.openxmlformats.org/package/2006/relationships"><Relationship Id="rId3" Type="http://schemas.openxmlformats.org/officeDocument/2006/relationships/customXml" Target="../ink/ink18.xml"/><Relationship Id="rId2" Type="http://schemas.openxmlformats.org/officeDocument/2006/relationships/notesSlide" Target="../notesSlides/notesSlide40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24.emf"/></Relationships>
</file>

<file path=ppt/slides/_rels/slide8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1.xml"/><Relationship Id="rId1" Type="http://schemas.openxmlformats.org/officeDocument/2006/relationships/slideLayout" Target="../slideLayouts/slideLayout2.xml"/></Relationships>
</file>

<file path=ppt/slides/_rels/slide90.xml.rels><?xml version="1.0" encoding="UTF-8" standalone="yes"?>
<Relationships xmlns="http://schemas.openxmlformats.org/package/2006/relationships"><Relationship Id="rId3" Type="http://schemas.openxmlformats.org/officeDocument/2006/relationships/customXml" Target="../ink/ink19.xml"/><Relationship Id="rId2" Type="http://schemas.openxmlformats.org/officeDocument/2006/relationships/notesSlide" Target="../notesSlides/notesSlide42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31.png"/></Relationships>
</file>

<file path=ppt/slides/_rels/slide9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9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5.png"/><Relationship Id="rId2" Type="http://schemas.openxmlformats.org/officeDocument/2006/relationships/notesSlide" Target="../notesSlides/notesSlide43.xml"/><Relationship Id="rId1" Type="http://schemas.openxmlformats.org/officeDocument/2006/relationships/slideLayout" Target="../slideLayouts/slideLayout2.xml"/></Relationships>
</file>

<file path=ppt/slides/_rels/slide9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94.xml.rels><?xml version="1.0" encoding="UTF-8" standalone="yes"?>
<Relationships xmlns="http://schemas.openxmlformats.org/package/2006/relationships"><Relationship Id="rId3" Type="http://schemas.openxmlformats.org/officeDocument/2006/relationships/customXml" Target="../ink/ink20.xml"/><Relationship Id="rId2" Type="http://schemas.openxmlformats.org/officeDocument/2006/relationships/notesSlide" Target="../notesSlides/notesSlide44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24.png"/></Relationships>
</file>

<file path=ppt/slides/_rels/slide9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.png"/><Relationship Id="rId2" Type="http://schemas.openxmlformats.org/officeDocument/2006/relationships/notesSlide" Target="../notesSlides/notesSlide45.xml"/><Relationship Id="rId1" Type="http://schemas.openxmlformats.org/officeDocument/2006/relationships/slideLayout" Target="../slideLayouts/slideLayout2.xml"/></Relationships>
</file>

<file path=ppt/slides/_rels/slide9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6.xml"/><Relationship Id="rId1" Type="http://schemas.openxmlformats.org/officeDocument/2006/relationships/slideLayout" Target="../slideLayouts/slideLayout2.xml"/></Relationships>
</file>

<file path=ppt/slides/_rels/slide9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7.xml"/><Relationship Id="rId1" Type="http://schemas.openxmlformats.org/officeDocument/2006/relationships/slideLayout" Target="../slideLayouts/slideLayout2.xml"/></Relationships>
</file>

<file path=ppt/slides/_rels/slide9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8.xml"/><Relationship Id="rId1" Type="http://schemas.openxmlformats.org/officeDocument/2006/relationships/slideLayout" Target="../slideLayouts/slideLayout2.xml"/></Relationships>
</file>

<file path=ppt/slides/_rels/slide9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9.xml"/><Relationship Id="rId1" Type="http://schemas.openxmlformats.org/officeDocument/2006/relationships/slideLayout" Target="../slideLayouts/slideLayout2.xml"/></Relationships>
</file>

<file path=ppt/slides/_rels/slide10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0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0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0.xml"/><Relationship Id="rId1" Type="http://schemas.openxmlformats.org/officeDocument/2006/relationships/slideLayout" Target="../slideLayouts/slideLayout2.xml"/></Relationships>
</file>

<file path=ppt/slides/_rels/slide10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1.xml"/><Relationship Id="rId1" Type="http://schemas.openxmlformats.org/officeDocument/2006/relationships/slideLayout" Target="../slideLayouts/slideLayout2.xml"/></Relationships>
</file>

<file path=ppt/slides/_rels/slide10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0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0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2.xml"/><Relationship Id="rId1" Type="http://schemas.openxmlformats.org/officeDocument/2006/relationships/slideLayout" Target="../slideLayouts/slideLayout2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64" name="Rectangle 16"/>
          <p:cNvSpPr>
            <a:spLocks noChangeArrowheads="1"/>
          </p:cNvSpPr>
          <p:nvPr/>
        </p:nvSpPr>
        <p:spPr bwMode="auto">
          <a:xfrm>
            <a:off x="0" y="1581417"/>
            <a:ext cx="9144000" cy="211740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4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imHei" panose="02010609060101010101" pitchFamily="49" charset="-122"/>
                <a:ea typeface="SimHei" panose="02010609060101010101" pitchFamily="49" charset="-122"/>
                <a:cs typeface="+mn-cs"/>
              </a:rPr>
              <a:t>第</a:t>
            </a:r>
            <a:r>
              <a:rPr lang="zh-CN" altLang="en-US" sz="4800" b="1" dirty="0">
                <a:solidFill>
                  <a:srgbClr val="000000"/>
                </a:solidFill>
                <a:latin typeface="SimHei" panose="02010609060101010101" pitchFamily="49" charset="-122"/>
                <a:ea typeface="SimHei" panose="02010609060101010101" pitchFamily="49" charset="-122"/>
              </a:rPr>
              <a:t>七</a:t>
            </a:r>
            <a:r>
              <a:rPr kumimoji="0" lang="zh-CN" altLang="en-US" sz="4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imHei" panose="02010609060101010101" pitchFamily="49" charset="-122"/>
                <a:ea typeface="SimHei" panose="02010609060101010101" pitchFamily="49" charset="-122"/>
                <a:cs typeface="+mn-cs"/>
              </a:rPr>
              <a:t>讲 流水线技术</a:t>
            </a:r>
            <a:endParaRPr kumimoji="0" lang="en-US" altLang="zh-CN" sz="4800" b="1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imHei" panose="02010609060101010101" pitchFamily="49" charset="-122"/>
              <a:ea typeface="SimHei" panose="02010609060101010101" pitchFamily="49" charset="-122"/>
              <a:cs typeface="+mn-cs"/>
            </a:endParaRPr>
          </a:p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3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imHei" panose="02010609060101010101" pitchFamily="49" charset="-122"/>
                <a:ea typeface="SimHei" panose="02010609060101010101" pitchFamily="49" charset="-122"/>
                <a:cs typeface="+mn-cs"/>
              </a:rPr>
              <a:t>第</a:t>
            </a:r>
            <a:r>
              <a:rPr kumimoji="0" lang="en-US" altLang="zh-CN" sz="3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/>
                <a:ea typeface="SimHei" panose="02010609060101010101" pitchFamily="49" charset="-122"/>
                <a:cs typeface="+mn-cs"/>
              </a:rPr>
              <a:t>2</a:t>
            </a:r>
            <a:r>
              <a:rPr kumimoji="0" lang="zh-CN" altLang="en-US" sz="3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imHei" panose="02010609060101010101" pitchFamily="49" charset="-122"/>
                <a:ea typeface="SimHei" panose="02010609060101010101" pitchFamily="49" charset="-122"/>
                <a:cs typeface="+mn-cs"/>
              </a:rPr>
              <a:t>部分 冒险、包含冒险的数据通路</a:t>
            </a:r>
            <a:endParaRPr kumimoji="0" lang="en-US" altLang="zh-CN" sz="3600" b="1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imHei" panose="02010609060101010101" pitchFamily="49" charset="-122"/>
              <a:ea typeface="SimHei" panose="02010609060101010101" pitchFamily="49" charset="-122"/>
              <a:cs typeface="+mn-cs"/>
            </a:endParaRPr>
          </a:p>
        </p:txBody>
      </p:sp>
      <p:sp>
        <p:nvSpPr>
          <p:cNvPr id="5" name="Rectangle 16"/>
          <p:cNvSpPr>
            <a:spLocks noChangeArrowheads="1"/>
          </p:cNvSpPr>
          <p:nvPr/>
        </p:nvSpPr>
        <p:spPr bwMode="auto">
          <a:xfrm>
            <a:off x="0" y="-170523"/>
            <a:ext cx="9144000" cy="134207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3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imHei" panose="02010609060101010101" pitchFamily="49" charset="-122"/>
                <a:ea typeface="SimHei" panose="02010609060101010101" pitchFamily="49" charset="-122"/>
                <a:cs typeface="+mn-cs"/>
              </a:rPr>
              <a:t>数字逻辑与处理器基础</a:t>
            </a:r>
            <a:endParaRPr kumimoji="0" lang="en-US" altLang="zh-CN" sz="36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imHei" panose="02010609060101010101" pitchFamily="49" charset="-122"/>
              <a:ea typeface="SimHei" panose="02010609060101010101" pitchFamily="49" charset="-122"/>
              <a:cs typeface="+mn-cs"/>
            </a:endParaRPr>
          </a:p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SimHei" panose="02010609060101010101" pitchFamily="49" charset="-122"/>
                <a:cs typeface="Arial" panose="020B0604020202020204" pitchFamily="34" charset="0"/>
              </a:rPr>
              <a:t>Fundamentals of Digital Logic and Processor</a:t>
            </a:r>
            <a:endParaRPr kumimoji="0" lang="zh-CN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SimHei" panose="02010609060101010101" pitchFamily="49" charset="-122"/>
              <a:cs typeface="Arial" panose="020B0604020202020204" pitchFamily="34" charset="0"/>
            </a:endParaRPr>
          </a:p>
        </p:txBody>
      </p:sp>
      <p:sp>
        <p:nvSpPr>
          <p:cNvPr id="4" name="Rectangle 9">
            <a:extLst>
              <a:ext uri="{FF2B5EF4-FFF2-40B4-BE49-F238E27FC236}">
                <a16:creationId xmlns:a16="http://schemas.microsoft.com/office/drawing/2014/main" id="{FED8B3C9-A3AD-3350-FEFA-9CE0EAD03C12}"/>
              </a:ext>
            </a:extLst>
          </p:cNvPr>
          <p:cNvSpPr>
            <a:spLocks noChangeArrowheads="1"/>
          </p:cNvSpPr>
          <p:nvPr/>
        </p:nvSpPr>
        <p:spPr bwMode="gray">
          <a:xfrm>
            <a:off x="0" y="4332513"/>
            <a:ext cx="9143999" cy="227621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/>
          <a:lstStyle/>
          <a:p>
            <a:pPr algn="ctr">
              <a:spcBef>
                <a:spcPct val="20000"/>
              </a:spcBef>
              <a:buClr>
                <a:schemeClr val="hlink"/>
              </a:buClr>
              <a:buFont typeface="Wingdings" pitchFamily="2" charset="2"/>
              <a:buNone/>
            </a:pPr>
            <a:r>
              <a:rPr lang="zh-CN" altLang="en-US" sz="3600" b="0" dirty="0">
                <a:solidFill>
                  <a:schemeClr val="tx1"/>
                </a:solidFill>
                <a:latin typeface="+mn-lt"/>
                <a:ea typeface="黑体" pitchFamily="2" charset="-122"/>
              </a:rPr>
              <a:t>李学清</a:t>
            </a:r>
            <a:endParaRPr lang="en-US" altLang="zh-CN" sz="2800" b="0" dirty="0">
              <a:solidFill>
                <a:schemeClr val="tx1"/>
              </a:solidFill>
              <a:latin typeface="+mn-lt"/>
              <a:ea typeface="黑体" pitchFamily="2" charset="-122"/>
            </a:endParaRPr>
          </a:p>
          <a:p>
            <a:pPr algn="ctr">
              <a:spcBef>
                <a:spcPct val="20000"/>
              </a:spcBef>
              <a:buClr>
                <a:schemeClr val="hlink"/>
              </a:buClr>
              <a:buFont typeface="Wingdings" pitchFamily="2" charset="2"/>
              <a:buNone/>
            </a:pPr>
            <a:r>
              <a:rPr lang="en-US" altLang="zh-CN" sz="2800" b="0" dirty="0">
                <a:solidFill>
                  <a:schemeClr val="tx1"/>
                </a:solidFill>
                <a:latin typeface="+mn-lt"/>
                <a:ea typeface="黑体" pitchFamily="2" charset="-122"/>
              </a:rPr>
              <a:t>#</a:t>
            </a:r>
            <a:r>
              <a:rPr lang="zh-CN" altLang="en-US" sz="2800" b="0" dirty="0">
                <a:solidFill>
                  <a:schemeClr val="tx1"/>
                </a:solidFill>
                <a:latin typeface="+mn-lt"/>
                <a:ea typeface="黑体" pitchFamily="2" charset="-122"/>
              </a:rPr>
              <a:t>腾讯会议：</a:t>
            </a:r>
            <a:r>
              <a:rPr lang="en-US" altLang="zh-CN" sz="2800" b="0" dirty="0">
                <a:solidFill>
                  <a:schemeClr val="tx1"/>
                </a:solidFill>
                <a:latin typeface="+mn-lt"/>
                <a:ea typeface="黑体" pitchFamily="2" charset="-122"/>
              </a:rPr>
              <a:t>858-8541-2550</a:t>
            </a:r>
            <a:endParaRPr lang="zh-CN" altLang="en-US" sz="2800" b="0" dirty="0">
              <a:solidFill>
                <a:schemeClr val="tx1"/>
              </a:solidFill>
              <a:latin typeface="+mn-lt"/>
              <a:ea typeface="黑体" pitchFamily="2" charset="-122"/>
            </a:endParaRPr>
          </a:p>
          <a:p>
            <a:pPr algn="ctr">
              <a:spcBef>
                <a:spcPct val="20000"/>
              </a:spcBef>
              <a:buClr>
                <a:schemeClr val="hlink"/>
              </a:buClr>
            </a:pPr>
            <a:r>
              <a:rPr lang="en-US" altLang="zh-CN" sz="2800" b="0" dirty="0">
                <a:solidFill>
                  <a:schemeClr val="tx1"/>
                </a:solidFill>
                <a:latin typeface="+mn-lt"/>
                <a:ea typeface="黑体" pitchFamily="2" charset="-122"/>
              </a:rPr>
              <a:t>2024</a:t>
            </a:r>
            <a:r>
              <a:rPr lang="zh-CN" altLang="en-US" sz="2800" b="0" dirty="0">
                <a:solidFill>
                  <a:schemeClr val="tx1"/>
                </a:solidFill>
                <a:latin typeface="+mn-lt"/>
                <a:ea typeface="黑体" pitchFamily="2" charset="-122"/>
              </a:rPr>
              <a:t>年</a:t>
            </a:r>
            <a:r>
              <a:rPr lang="en-US" altLang="zh-CN" sz="2800" dirty="0">
                <a:latin typeface="+mn-lt"/>
                <a:ea typeface="黑体" pitchFamily="2" charset="-122"/>
              </a:rPr>
              <a:t>5</a:t>
            </a:r>
            <a:r>
              <a:rPr lang="zh-CN" altLang="en-US" sz="2800" b="0" dirty="0">
                <a:solidFill>
                  <a:schemeClr val="tx1"/>
                </a:solidFill>
                <a:latin typeface="+mn-lt"/>
                <a:ea typeface="黑体" pitchFamily="2" charset="-122"/>
              </a:rPr>
              <a:t>月</a:t>
            </a:r>
            <a:r>
              <a:rPr lang="en-US" altLang="zh-CN" sz="2800" dirty="0">
                <a:latin typeface="+mn-lt"/>
                <a:ea typeface="黑体" pitchFamily="2" charset="-122"/>
              </a:rPr>
              <a:t>21</a:t>
            </a:r>
            <a:r>
              <a:rPr lang="zh-CN" altLang="en-US" sz="2800" b="0" dirty="0">
                <a:solidFill>
                  <a:schemeClr val="tx1"/>
                </a:solidFill>
                <a:latin typeface="+mn-lt"/>
                <a:ea typeface="黑体" pitchFamily="2" charset="-122"/>
              </a:rPr>
              <a:t>日</a:t>
            </a:r>
            <a:endParaRPr lang="en-US" sz="2800" b="0" dirty="0">
              <a:solidFill>
                <a:schemeClr val="tx1"/>
              </a:solidFill>
              <a:latin typeface="+mn-lt"/>
              <a:ea typeface="黑体" pitchFamily="2" charset="-122"/>
            </a:endParaRPr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3">
            <p14:nvContentPartPr>
              <p14:cNvPr id="2" name="墨迹 1">
                <a:extLst>
                  <a:ext uri="{FF2B5EF4-FFF2-40B4-BE49-F238E27FC236}">
                    <a16:creationId xmlns:a16="http://schemas.microsoft.com/office/drawing/2014/main" id="{B8E6A756-6E95-61FB-011A-27EFD9458DBE}"/>
                  </a:ext>
                </a:extLst>
              </p14:cNvPr>
              <p14:cNvContentPartPr/>
              <p14:nvPr/>
            </p14:nvContentPartPr>
            <p14:xfrm>
              <a:off x="7373880" y="3847320"/>
              <a:ext cx="360" cy="360"/>
            </p14:xfrm>
          </p:contentPart>
        </mc:Choice>
        <mc:Fallback xmlns="">
          <p:pic>
            <p:nvPicPr>
              <p:cNvPr id="2" name="墨迹 1">
                <a:extLst>
                  <a:ext uri="{FF2B5EF4-FFF2-40B4-BE49-F238E27FC236}">
                    <a16:creationId xmlns:a16="http://schemas.microsoft.com/office/drawing/2014/main" id="{B8E6A756-6E95-61FB-011A-27EFD9458DBE}"/>
                  </a:ext>
                </a:extLst>
              </p:cNvPr>
              <p:cNvPicPr/>
              <p:nvPr/>
            </p:nvPicPr>
            <p:blipFill>
              <a:blip r:embed="rId4"/>
              <a:stretch>
                <a:fillRect/>
              </a:stretch>
            </p:blipFill>
            <p:spPr>
              <a:xfrm>
                <a:off x="7364520" y="3837960"/>
                <a:ext cx="19080" cy="1908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45606379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"/>
    </mc:Choice>
    <mc:Fallback xmlns="">
      <p:transition/>
    </mc:Fallback>
  </mc:AlternateContent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4D6CF03-9B07-6A4B-85FB-680FDCDD7B9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dirty="0">
                <a:latin typeface="SimHei" panose="02010609060101010101" pitchFamily="49" charset="-122"/>
              </a:rPr>
              <a:t>微体系结构</a:t>
            </a:r>
            <a:endParaRPr lang="en-CN" dirty="0">
              <a:latin typeface="SimHei" panose="02010609060101010101" pitchFamily="49" charset="-122"/>
            </a:endParaRPr>
          </a:p>
        </p:txBody>
      </p:sp>
      <p:sp>
        <p:nvSpPr>
          <p:cNvPr id="14" name="Slide Number Placeholder 3">
            <a:extLst>
              <a:ext uri="{FF2B5EF4-FFF2-40B4-BE49-F238E27FC236}">
                <a16:creationId xmlns:a16="http://schemas.microsoft.com/office/drawing/2014/main" id="{CC604ACD-5754-9F4F-AC2A-F5A8E2D5937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4659731-6BD7-46E7-8D3C-2F3AC07E20B1}" type="slidenum">
              <a:rPr lang="en-US" altLang="zh-CN" smtClean="0"/>
              <a:pPr/>
              <a:t>2</a:t>
            </a:fld>
            <a:endParaRPr lang="en-US" altLang="zh-CN" dirty="0"/>
          </a:p>
        </p:txBody>
      </p:sp>
      <p:cxnSp>
        <p:nvCxnSpPr>
          <p:cNvPr id="16" name="Straight Connector 15">
            <a:extLst>
              <a:ext uri="{FF2B5EF4-FFF2-40B4-BE49-F238E27FC236}">
                <a16:creationId xmlns:a16="http://schemas.microsoft.com/office/drawing/2014/main" id="{0921A072-E7F7-460A-8CDA-1F33B6B9FE37}"/>
              </a:ext>
            </a:extLst>
          </p:cNvPr>
          <p:cNvCxnSpPr>
            <a:cxnSpLocks/>
          </p:cNvCxnSpPr>
          <p:nvPr/>
        </p:nvCxnSpPr>
        <p:spPr>
          <a:xfrm flipV="1">
            <a:off x="525583" y="3810457"/>
            <a:ext cx="0" cy="639149"/>
          </a:xfrm>
          <a:prstGeom prst="line">
            <a:avLst/>
          </a:prstGeom>
          <a:ln w="38100" cap="rnd">
            <a:solidFill>
              <a:schemeClr val="tx1"/>
            </a:solidFill>
            <a:tailEnd type="triangle" w="med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" name="Straight Connector 16">
            <a:extLst>
              <a:ext uri="{FF2B5EF4-FFF2-40B4-BE49-F238E27FC236}">
                <a16:creationId xmlns:a16="http://schemas.microsoft.com/office/drawing/2014/main" id="{28CC1EAB-A398-495E-B820-5463D7961843}"/>
              </a:ext>
            </a:extLst>
          </p:cNvPr>
          <p:cNvCxnSpPr>
            <a:cxnSpLocks/>
          </p:cNvCxnSpPr>
          <p:nvPr/>
        </p:nvCxnSpPr>
        <p:spPr>
          <a:xfrm>
            <a:off x="532184" y="5017479"/>
            <a:ext cx="0" cy="981040"/>
          </a:xfrm>
          <a:prstGeom prst="line">
            <a:avLst/>
          </a:prstGeom>
          <a:ln w="38100" cap="rnd">
            <a:solidFill>
              <a:schemeClr val="tx1"/>
            </a:solidFill>
            <a:tailEnd type="triangle" w="med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" name="Straight Connector 17">
            <a:extLst>
              <a:ext uri="{FF2B5EF4-FFF2-40B4-BE49-F238E27FC236}">
                <a16:creationId xmlns:a16="http://schemas.microsoft.com/office/drawing/2014/main" id="{C201B781-19FA-4DB6-8601-5232956DD816}"/>
              </a:ext>
            </a:extLst>
          </p:cNvPr>
          <p:cNvCxnSpPr>
            <a:cxnSpLocks/>
          </p:cNvCxnSpPr>
          <p:nvPr/>
        </p:nvCxnSpPr>
        <p:spPr>
          <a:xfrm flipH="1" flipV="1">
            <a:off x="529916" y="1482390"/>
            <a:ext cx="6843" cy="971820"/>
          </a:xfrm>
          <a:prstGeom prst="line">
            <a:avLst/>
          </a:prstGeom>
          <a:ln w="38100" cap="rnd">
            <a:solidFill>
              <a:schemeClr val="tx1"/>
            </a:solidFill>
            <a:tailEnd type="triangle" w="med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9" name="Straight Connector 21">
            <a:extLst>
              <a:ext uri="{FF2B5EF4-FFF2-40B4-BE49-F238E27FC236}">
                <a16:creationId xmlns:a16="http://schemas.microsoft.com/office/drawing/2014/main" id="{EA88E30F-39ED-47A2-B237-ACC2C6B2048C}"/>
              </a:ext>
            </a:extLst>
          </p:cNvPr>
          <p:cNvCxnSpPr>
            <a:cxnSpLocks/>
          </p:cNvCxnSpPr>
          <p:nvPr/>
        </p:nvCxnSpPr>
        <p:spPr>
          <a:xfrm>
            <a:off x="83118" y="3810457"/>
            <a:ext cx="1227927" cy="0"/>
          </a:xfrm>
          <a:prstGeom prst="line">
            <a:avLst/>
          </a:prstGeom>
          <a:ln w="38100" cap="rnd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20" name="Table 9">
            <a:extLst>
              <a:ext uri="{FF2B5EF4-FFF2-40B4-BE49-F238E27FC236}">
                <a16:creationId xmlns:a16="http://schemas.microsoft.com/office/drawing/2014/main" id="{52807708-A919-4E61-A0DD-DF1CB0390A36}"/>
              </a:ext>
            </a:extLst>
          </p:cNvPr>
          <p:cNvGraphicFramePr>
            <a:graphicFrameLocks/>
          </p:cNvGraphicFramePr>
          <p:nvPr/>
        </p:nvGraphicFramePr>
        <p:xfrm>
          <a:off x="1229032" y="1482388"/>
          <a:ext cx="2870863" cy="4660776"/>
        </p:xfrm>
        <a:graphic>
          <a:graphicData uri="http://schemas.openxmlformats.org/drawingml/2006/table">
            <a:tbl>
              <a:tblPr firstRow="1" bandRow="1">
                <a:tableStyleId>{073A0DAA-6AF3-43AB-8588-CEC1D06C72B9}</a:tableStyleId>
              </a:tblPr>
              <a:tblGrid>
                <a:gridCol w="2870863">
                  <a:extLst>
                    <a:ext uri="{9D8B030D-6E8A-4147-A177-3AD203B41FA5}">
                      <a16:colId xmlns:a16="http://schemas.microsoft.com/office/drawing/2014/main" val="1946283791"/>
                    </a:ext>
                  </a:extLst>
                </a:gridCol>
              </a:tblGrid>
              <a:tr h="517864">
                <a:tc>
                  <a:txBody>
                    <a:bodyPr/>
                    <a:lstStyle/>
                    <a:p>
                      <a:pPr algn="ctr"/>
                      <a:r>
                        <a:rPr lang="zh-CN" altLang="en-US" sz="2000" b="0" i="0" dirty="0">
                          <a:solidFill>
                            <a:schemeClr val="tx1"/>
                          </a:solidFill>
                          <a:latin typeface="+mn-lt"/>
                          <a:ea typeface="SimHei" panose="02010609060101010101" pitchFamily="49" charset="-122"/>
                        </a:rPr>
                        <a:t>应用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86554620"/>
                  </a:ext>
                </a:extLst>
              </a:tr>
              <a:tr h="517864">
                <a:tc>
                  <a:txBody>
                    <a:bodyPr/>
                    <a:lstStyle/>
                    <a:p>
                      <a:pPr algn="ctr"/>
                      <a:r>
                        <a:rPr lang="zh-CN" altLang="en-US" sz="2000" b="0" i="0" dirty="0">
                          <a:solidFill>
                            <a:schemeClr val="tx1"/>
                          </a:solidFill>
                          <a:latin typeface="+mn-lt"/>
                          <a:ea typeface="SimHei" panose="02010609060101010101" pitchFamily="49" charset="-122"/>
                        </a:rPr>
                        <a:t>算法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823496159"/>
                  </a:ext>
                </a:extLst>
              </a:tr>
              <a:tr h="517864">
                <a:tc>
                  <a:txBody>
                    <a:bodyPr/>
                    <a:lstStyle/>
                    <a:p>
                      <a:pPr algn="ctr"/>
                      <a:r>
                        <a:rPr lang="zh-CN" altLang="en-US" sz="2000" b="0" i="0" dirty="0">
                          <a:solidFill>
                            <a:schemeClr val="tx1"/>
                          </a:solidFill>
                          <a:latin typeface="+mn-lt"/>
                          <a:ea typeface="SimHei" panose="02010609060101010101" pitchFamily="49" charset="-122"/>
                        </a:rPr>
                        <a:t>操作系统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78177615"/>
                  </a:ext>
                </a:extLst>
              </a:tr>
              <a:tr h="517864">
                <a:tc>
                  <a:txBody>
                    <a:bodyPr/>
                    <a:lstStyle/>
                    <a:p>
                      <a:pPr algn="ctr"/>
                      <a:r>
                        <a:rPr lang="zh-CN" altLang="en-US" sz="2000" b="0" i="0" dirty="0">
                          <a:solidFill>
                            <a:schemeClr val="tx1"/>
                          </a:solidFill>
                          <a:latin typeface="+mn-lt"/>
                          <a:ea typeface="SimHei" panose="02010609060101010101" pitchFamily="49" charset="-122"/>
                        </a:rPr>
                        <a:t>编译器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32005890"/>
                  </a:ext>
                </a:extLst>
              </a:tr>
              <a:tr h="517864">
                <a:tc>
                  <a:txBody>
                    <a:bodyPr/>
                    <a:lstStyle/>
                    <a:p>
                      <a:pPr algn="ctr"/>
                      <a:r>
                        <a:rPr lang="zh-CN" altLang="en-US" sz="2000" b="0" i="0" dirty="0">
                          <a:solidFill>
                            <a:schemeClr val="tx1"/>
                          </a:solidFill>
                          <a:latin typeface="+mn-lt"/>
                          <a:ea typeface="SimHei" panose="02010609060101010101" pitchFamily="49" charset="-122"/>
                        </a:rPr>
                        <a:t>计算机指令系统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00806289"/>
                  </a:ext>
                </a:extLst>
              </a:tr>
              <a:tr h="517864">
                <a:tc>
                  <a:txBody>
                    <a:bodyPr/>
                    <a:lstStyle/>
                    <a:p>
                      <a:pPr marL="0" algn="ctr" defTabSz="914400" rtl="0" eaLnBrk="1" latinLnBrk="0" hangingPunct="1"/>
                      <a:r>
                        <a:rPr lang="zh-CN" altLang="en-US" sz="2000" b="0" i="0" kern="1200" dirty="0">
                          <a:solidFill>
                            <a:srgbClr val="0432FF"/>
                          </a:solidFill>
                          <a:latin typeface="+mn-lt"/>
                          <a:ea typeface="SimHei" panose="02010609060101010101" pitchFamily="49" charset="-122"/>
                          <a:cs typeface="+mn-cs"/>
                        </a:rPr>
                        <a:t>微体系结构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26812972"/>
                  </a:ext>
                </a:extLst>
              </a:tr>
              <a:tr h="517864">
                <a:tc>
                  <a:txBody>
                    <a:bodyPr/>
                    <a:lstStyle/>
                    <a:p>
                      <a:pPr marL="0" algn="ctr" defTabSz="914400" rtl="0" eaLnBrk="1" latinLnBrk="0" hangingPunct="1"/>
                      <a:r>
                        <a:rPr lang="en-US" altLang="zh-CN" sz="2000" b="0" i="0" kern="1200" dirty="0">
                          <a:solidFill>
                            <a:srgbClr val="0432FF"/>
                          </a:solidFill>
                          <a:latin typeface="+mn-lt"/>
                          <a:ea typeface="SimHei" panose="02010609060101010101" pitchFamily="49" charset="-122"/>
                          <a:cs typeface="+mn-cs"/>
                        </a:rPr>
                        <a:t>CPU/DSP/…</a:t>
                      </a:r>
                      <a:endParaRPr lang="zh-CN" altLang="en-US" sz="2000" b="0" i="0" kern="1200" dirty="0">
                        <a:solidFill>
                          <a:srgbClr val="0432FF"/>
                        </a:solidFill>
                        <a:latin typeface="+mn-lt"/>
                        <a:ea typeface="SimHei" panose="02010609060101010101" pitchFamily="49" charset="-122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4C3E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97467303"/>
                  </a:ext>
                </a:extLst>
              </a:tr>
              <a:tr h="517864">
                <a:tc>
                  <a:txBody>
                    <a:bodyPr/>
                    <a:lstStyle/>
                    <a:p>
                      <a:pPr algn="ctr"/>
                      <a:r>
                        <a:rPr lang="zh-CN" altLang="en-US" sz="2000" b="0" i="0" dirty="0">
                          <a:solidFill>
                            <a:schemeClr val="tx1"/>
                          </a:solidFill>
                          <a:latin typeface="+mn-lt"/>
                          <a:ea typeface="SimHei" panose="02010609060101010101" pitchFamily="49" charset="-122"/>
                        </a:rPr>
                        <a:t>电路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19204186"/>
                  </a:ext>
                </a:extLst>
              </a:tr>
              <a:tr h="517864">
                <a:tc>
                  <a:txBody>
                    <a:bodyPr/>
                    <a:lstStyle/>
                    <a:p>
                      <a:pPr algn="ctr"/>
                      <a:r>
                        <a:rPr lang="zh-CN" altLang="en-US" sz="2000" b="0" i="0" dirty="0">
                          <a:solidFill>
                            <a:schemeClr val="tx1"/>
                          </a:solidFill>
                          <a:latin typeface="+mn-lt"/>
                          <a:ea typeface="SimHei" panose="02010609060101010101" pitchFamily="49" charset="-122"/>
                        </a:rPr>
                        <a:t>器件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32963798"/>
                  </a:ext>
                </a:extLst>
              </a:tr>
            </a:tbl>
          </a:graphicData>
        </a:graphic>
      </p:graphicFrame>
      <p:sp>
        <p:nvSpPr>
          <p:cNvPr id="21" name="TextBox 25">
            <a:extLst>
              <a:ext uri="{FF2B5EF4-FFF2-40B4-BE49-F238E27FC236}">
                <a16:creationId xmlns:a16="http://schemas.microsoft.com/office/drawing/2014/main" id="{CE921038-380C-462D-8759-1D8F7FD316C6}"/>
              </a:ext>
            </a:extLst>
          </p:cNvPr>
          <p:cNvSpPr txBox="1"/>
          <p:nvPr/>
        </p:nvSpPr>
        <p:spPr>
          <a:xfrm>
            <a:off x="1804122" y="6131646"/>
            <a:ext cx="1723550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sz="2400" dirty="0">
                <a:solidFill>
                  <a:schemeClr val="tx1"/>
                </a:solidFill>
                <a:latin typeface="SimHei" panose="02010609060101010101" pitchFamily="49" charset="-122"/>
                <a:ea typeface="SimHei" panose="02010609060101010101" pitchFamily="49" charset="-122"/>
              </a:rPr>
              <a:t>计算机系统</a:t>
            </a:r>
          </a:p>
        </p:txBody>
      </p:sp>
      <p:cxnSp>
        <p:nvCxnSpPr>
          <p:cNvPr id="22" name="Straight Connector 26">
            <a:extLst>
              <a:ext uri="{FF2B5EF4-FFF2-40B4-BE49-F238E27FC236}">
                <a16:creationId xmlns:a16="http://schemas.microsoft.com/office/drawing/2014/main" id="{D9648051-9A30-43AB-B9F8-96D81F2207CB}"/>
              </a:ext>
            </a:extLst>
          </p:cNvPr>
          <p:cNvCxnSpPr>
            <a:cxnSpLocks/>
          </p:cNvCxnSpPr>
          <p:nvPr/>
        </p:nvCxnSpPr>
        <p:spPr>
          <a:xfrm>
            <a:off x="525583" y="3038525"/>
            <a:ext cx="0" cy="771932"/>
          </a:xfrm>
          <a:prstGeom prst="line">
            <a:avLst/>
          </a:prstGeom>
          <a:ln w="38100" cap="rnd">
            <a:solidFill>
              <a:schemeClr val="tx1"/>
            </a:solidFill>
            <a:tailEnd type="triangle" w="med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3" name="TextBox 28">
            <a:extLst>
              <a:ext uri="{FF2B5EF4-FFF2-40B4-BE49-F238E27FC236}">
                <a16:creationId xmlns:a16="http://schemas.microsoft.com/office/drawing/2014/main" id="{BE731097-E7F9-4EBE-9269-4CD4F0A4BCD3}"/>
              </a:ext>
            </a:extLst>
          </p:cNvPr>
          <p:cNvSpPr txBox="1"/>
          <p:nvPr/>
        </p:nvSpPr>
        <p:spPr>
          <a:xfrm>
            <a:off x="187945" y="2568869"/>
            <a:ext cx="697627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sz="2000" dirty="0">
                <a:latin typeface="SimHei" panose="02010609060101010101" pitchFamily="49" charset="-122"/>
                <a:ea typeface="SimHei" panose="02010609060101010101" pitchFamily="49" charset="-122"/>
              </a:rPr>
              <a:t>软件</a:t>
            </a:r>
          </a:p>
        </p:txBody>
      </p:sp>
      <p:sp>
        <p:nvSpPr>
          <p:cNvPr id="24" name="TextBox 29">
            <a:extLst>
              <a:ext uri="{FF2B5EF4-FFF2-40B4-BE49-F238E27FC236}">
                <a16:creationId xmlns:a16="http://schemas.microsoft.com/office/drawing/2014/main" id="{4E8CDB25-D623-4634-8167-87F91560DAB2}"/>
              </a:ext>
            </a:extLst>
          </p:cNvPr>
          <p:cNvSpPr txBox="1"/>
          <p:nvPr/>
        </p:nvSpPr>
        <p:spPr>
          <a:xfrm>
            <a:off x="183375" y="4502710"/>
            <a:ext cx="697627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sz="2000" dirty="0">
                <a:latin typeface="SimHei" panose="02010609060101010101" pitchFamily="49" charset="-122"/>
                <a:ea typeface="SimHei" panose="02010609060101010101" pitchFamily="49" charset="-122"/>
              </a:rPr>
              <a:t>硬件</a:t>
            </a:r>
          </a:p>
        </p:txBody>
      </p:sp>
      <p:graphicFrame>
        <p:nvGraphicFramePr>
          <p:cNvPr id="3" name="Table 4">
            <a:extLst>
              <a:ext uri="{FF2B5EF4-FFF2-40B4-BE49-F238E27FC236}">
                <a16:creationId xmlns:a16="http://schemas.microsoft.com/office/drawing/2014/main" id="{DD390940-5AF8-49CE-4A39-701C665F1C1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439249428"/>
              </p:ext>
            </p:extLst>
          </p:nvPr>
        </p:nvGraphicFramePr>
        <p:xfrm>
          <a:off x="4391980" y="1394516"/>
          <a:ext cx="4049389" cy="5158684"/>
        </p:xfrm>
        <a:graphic>
          <a:graphicData uri="http://schemas.openxmlformats.org/drawingml/2006/table">
            <a:tbl>
              <a:tblPr firstRow="1">
                <a:tableStyleId>{72833802-FEF1-4C79-8D5D-14CF1EAF98D9}</a:tableStyleId>
              </a:tblPr>
              <a:tblGrid>
                <a:gridCol w="772096">
                  <a:extLst>
                    <a:ext uri="{9D8B030D-6E8A-4147-A177-3AD203B41FA5}">
                      <a16:colId xmlns:a16="http://schemas.microsoft.com/office/drawing/2014/main" val="2649625643"/>
                    </a:ext>
                  </a:extLst>
                </a:gridCol>
                <a:gridCol w="723402">
                  <a:extLst>
                    <a:ext uri="{9D8B030D-6E8A-4147-A177-3AD203B41FA5}">
                      <a16:colId xmlns:a16="http://schemas.microsoft.com/office/drawing/2014/main" val="3191345124"/>
                    </a:ext>
                  </a:extLst>
                </a:gridCol>
                <a:gridCol w="2553891">
                  <a:extLst>
                    <a:ext uri="{9D8B030D-6E8A-4147-A177-3AD203B41FA5}">
                      <a16:colId xmlns:a16="http://schemas.microsoft.com/office/drawing/2014/main" val="3013045087"/>
                    </a:ext>
                  </a:extLst>
                </a:gridCol>
              </a:tblGrid>
              <a:tr h="303452">
                <a:tc>
                  <a:txBody>
                    <a:bodyPr/>
                    <a:lstStyle/>
                    <a:p>
                      <a:pPr algn="ctr" fontAlgn="ctr"/>
                      <a:r>
                        <a:rPr lang="zh-CN" altLang="en-US" sz="180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周</a:t>
                      </a:r>
                      <a:endParaRPr lang="zh-CN" altLang="en-US" sz="1800" b="0" i="0" u="none" strike="noStrike" dirty="0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CN" altLang="en-US" sz="180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日期</a:t>
                      </a:r>
                      <a:endParaRPr lang="zh-CN" altLang="en-US" sz="1800" b="0" i="0" u="none" strike="noStrike" dirty="0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CN" altLang="en-US" sz="180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暂定主要内容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24227359"/>
                  </a:ext>
                </a:extLst>
              </a:tr>
              <a:tr h="303452"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en-US" sz="1800" kern="100" dirty="0">
                          <a:effectLst/>
                          <a:latin typeface="+mn-lt"/>
                          <a:ea typeface="+mn-ea"/>
                        </a:rPr>
                        <a:t>1</a:t>
                      </a:r>
                      <a:endParaRPr lang="en-CN" sz="1800" kern="100" dirty="0">
                        <a:effectLst/>
                        <a:latin typeface="+mn-lt"/>
                        <a:ea typeface="+mn-ea"/>
                      </a:endParaRPr>
                    </a:p>
                  </a:txBody>
                  <a:tcPr marL="17780" marR="1778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en-US" sz="1800" kern="100" dirty="0">
                          <a:effectLst/>
                          <a:latin typeface="+mn-lt"/>
                          <a:ea typeface="+mn-ea"/>
                        </a:rPr>
                        <a:t>2/2</a:t>
                      </a:r>
                      <a:r>
                        <a:rPr lang="en-US" altLang="zh-CN" sz="1800" kern="100" dirty="0">
                          <a:effectLst/>
                          <a:latin typeface="+mn-lt"/>
                          <a:ea typeface="+mn-ea"/>
                        </a:rPr>
                        <a:t>7</a:t>
                      </a:r>
                      <a:endParaRPr lang="en-CN" sz="1800" kern="100" dirty="0">
                        <a:effectLst/>
                        <a:latin typeface="+mn-lt"/>
                        <a:ea typeface="+mn-ea"/>
                      </a:endParaRPr>
                    </a:p>
                  </a:txBody>
                  <a:tcPr marL="17780" marR="1778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zh-CN" sz="1800" kern="100" dirty="0">
                          <a:effectLst/>
                          <a:latin typeface="+mn-lt"/>
                          <a:ea typeface="+mn-ea"/>
                        </a:rPr>
                        <a:t>概论</a:t>
                      </a:r>
                      <a:endParaRPr lang="en-CN" sz="1800" kern="100" dirty="0">
                        <a:effectLst/>
                        <a:latin typeface="+mn-lt"/>
                        <a:ea typeface="+mn-ea"/>
                      </a:endParaRPr>
                    </a:p>
                  </a:txBody>
                  <a:tcPr marL="17780" marR="1778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38216603"/>
                  </a:ext>
                </a:extLst>
              </a:tr>
              <a:tr h="303452"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en-US" sz="1800" kern="1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2</a:t>
                      </a:r>
                      <a:endParaRPr lang="en-CN" sz="1800" kern="100" dirty="0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17780" marR="1778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en-US" altLang="zh-CN" sz="1800" kern="1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3/5</a:t>
                      </a:r>
                      <a:endParaRPr lang="en-CN" sz="1800" kern="100" dirty="0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17780" marR="1778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zh-CN" altLang="en-US" sz="1800" kern="1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布尔代数</a:t>
                      </a:r>
                      <a:endParaRPr lang="en-CN" sz="1800" kern="100" dirty="0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17780" marR="1778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72337287"/>
                  </a:ext>
                </a:extLst>
              </a:tr>
              <a:tr h="303452"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en-US" sz="1800" kern="1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3</a:t>
                      </a:r>
                      <a:endParaRPr lang="en-CN" sz="1800" kern="100" dirty="0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17780" marR="1778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en-US" sz="1800" kern="1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3/</a:t>
                      </a:r>
                      <a:r>
                        <a:rPr lang="en-US" altLang="zh-CN" sz="1800" kern="1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12</a:t>
                      </a:r>
                      <a:endParaRPr lang="en-CN" sz="1800" kern="100" dirty="0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17780" marR="1778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zh-CN" altLang="en-US" sz="1800" kern="1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组合逻辑</a:t>
                      </a:r>
                      <a:endParaRPr lang="en-CN" sz="1800" kern="100" dirty="0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17780" marR="1778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16521860"/>
                  </a:ext>
                </a:extLst>
              </a:tr>
              <a:tr h="303452"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en-US" sz="1800" kern="100" dirty="0">
                          <a:effectLst/>
                          <a:latin typeface="+mn-lt"/>
                          <a:ea typeface="+mn-ea"/>
                        </a:rPr>
                        <a:t>4</a:t>
                      </a:r>
                      <a:endParaRPr lang="en-CN" sz="1800" kern="100" dirty="0">
                        <a:effectLst/>
                        <a:latin typeface="+mn-lt"/>
                        <a:ea typeface="+mn-ea"/>
                      </a:endParaRPr>
                    </a:p>
                  </a:txBody>
                  <a:tcPr marL="17780" marR="1778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en-US" sz="1800" kern="100" dirty="0">
                          <a:effectLst/>
                          <a:latin typeface="+mn-lt"/>
                          <a:ea typeface="+mn-ea"/>
                        </a:rPr>
                        <a:t>3/1</a:t>
                      </a:r>
                      <a:r>
                        <a:rPr lang="en-US" altLang="zh-CN" sz="1800" kern="100" dirty="0">
                          <a:effectLst/>
                          <a:latin typeface="+mn-lt"/>
                          <a:ea typeface="+mn-ea"/>
                        </a:rPr>
                        <a:t>9</a:t>
                      </a:r>
                      <a:endParaRPr lang="en-CN" sz="1800" kern="100" dirty="0">
                        <a:effectLst/>
                        <a:latin typeface="+mn-lt"/>
                        <a:ea typeface="+mn-ea"/>
                      </a:endParaRPr>
                    </a:p>
                  </a:txBody>
                  <a:tcPr marL="17780" marR="1778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zh-CN" sz="1800" kern="100" dirty="0">
                          <a:effectLst/>
                          <a:latin typeface="+mn-lt"/>
                          <a:ea typeface="+mn-ea"/>
                        </a:rPr>
                        <a:t>时序逻辑</a:t>
                      </a:r>
                      <a:endParaRPr lang="en-CN" sz="1800" kern="100">
                        <a:effectLst/>
                        <a:latin typeface="+mn-lt"/>
                        <a:ea typeface="+mn-ea"/>
                      </a:endParaRPr>
                    </a:p>
                  </a:txBody>
                  <a:tcPr marL="17780" marR="1778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7502044"/>
                  </a:ext>
                </a:extLst>
              </a:tr>
              <a:tr h="303452"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spcAft>
                          <a:spcPts val="0"/>
                        </a:spcAft>
                      </a:pPr>
                      <a:r>
                        <a:rPr lang="en-US" sz="1800" kern="1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5</a:t>
                      </a:r>
                      <a:endParaRPr lang="en-CN" sz="1800" kern="100" dirty="0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17780" marR="1778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spcAft>
                          <a:spcPts val="0"/>
                        </a:spcAft>
                      </a:pPr>
                      <a:r>
                        <a:rPr lang="en-US" sz="1800" kern="1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3/2</a:t>
                      </a:r>
                      <a:r>
                        <a:rPr lang="en-US" altLang="zh-CN" sz="1800" kern="1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6</a:t>
                      </a:r>
                      <a:endParaRPr lang="en-CN" sz="1800" kern="100" dirty="0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17780" marR="1778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spcAft>
                          <a:spcPts val="0"/>
                        </a:spcAft>
                      </a:pPr>
                      <a:r>
                        <a:rPr lang="zh-CN" altLang="en-US" sz="1800" kern="1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时序逻辑</a:t>
                      </a:r>
                      <a:endParaRPr lang="en-CN" sz="1800" kern="100" dirty="0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17780" marR="1778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03171284"/>
                  </a:ext>
                </a:extLst>
              </a:tr>
              <a:tr h="303452"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en-US" sz="1800" kern="100" dirty="0">
                          <a:effectLst/>
                          <a:latin typeface="+mn-lt"/>
                          <a:ea typeface="+mn-ea"/>
                        </a:rPr>
                        <a:t>6</a:t>
                      </a:r>
                      <a:endParaRPr lang="en-CN" sz="1800" kern="100" dirty="0">
                        <a:effectLst/>
                        <a:latin typeface="+mn-lt"/>
                        <a:ea typeface="+mn-ea"/>
                      </a:endParaRPr>
                    </a:p>
                  </a:txBody>
                  <a:tcPr marL="17780" marR="1778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en-US" altLang="zh-CN" sz="1800" kern="100" dirty="0">
                          <a:effectLst/>
                          <a:latin typeface="+mn-lt"/>
                          <a:ea typeface="+mn-ea"/>
                        </a:rPr>
                        <a:t>4</a:t>
                      </a:r>
                      <a:r>
                        <a:rPr lang="en-US" sz="1800" kern="100" dirty="0">
                          <a:effectLst/>
                          <a:latin typeface="+mn-lt"/>
                          <a:ea typeface="+mn-ea"/>
                        </a:rPr>
                        <a:t>/2</a:t>
                      </a:r>
                      <a:endParaRPr lang="en-CN" sz="1800" kern="100" dirty="0">
                        <a:effectLst/>
                        <a:latin typeface="+mn-lt"/>
                        <a:ea typeface="+mn-ea"/>
                      </a:endParaRPr>
                    </a:p>
                  </a:txBody>
                  <a:tcPr marL="17780" marR="1778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zh-CN" sz="1800" kern="100" dirty="0">
                          <a:effectLst/>
                          <a:latin typeface="+mn-lt"/>
                          <a:ea typeface="+mn-ea"/>
                        </a:rPr>
                        <a:t>计算机指令系统</a:t>
                      </a:r>
                      <a:endParaRPr lang="en-CN" sz="1800" kern="100" dirty="0">
                        <a:effectLst/>
                        <a:latin typeface="+mn-lt"/>
                        <a:ea typeface="+mn-ea"/>
                      </a:endParaRPr>
                    </a:p>
                  </a:txBody>
                  <a:tcPr marL="17780" marR="1778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99144793"/>
                  </a:ext>
                </a:extLst>
              </a:tr>
              <a:tr h="303452">
                <a:tc>
                  <a:txBody>
                    <a:bodyPr/>
                    <a:lstStyle/>
                    <a:p>
                      <a:pPr marL="0" algn="ctr" defTabSz="914400" rtl="0" eaLnBrk="1" latinLnBrk="0" hangingPunct="1">
                        <a:spcAft>
                          <a:spcPts val="0"/>
                        </a:spcAft>
                      </a:pPr>
                      <a:r>
                        <a:rPr lang="en-US" sz="1800" kern="1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7</a:t>
                      </a:r>
                      <a:endParaRPr lang="en-CN" sz="1800" kern="100" dirty="0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17780" marR="1778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0" hangingPunct="1">
                        <a:spcAft>
                          <a:spcPts val="0"/>
                        </a:spcAft>
                      </a:pPr>
                      <a:r>
                        <a:rPr lang="en-US" sz="1800" kern="1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4/</a:t>
                      </a:r>
                      <a:r>
                        <a:rPr lang="en-US" altLang="zh-CN" sz="1800" kern="1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9</a:t>
                      </a:r>
                      <a:endParaRPr lang="en-CN" sz="1800" kern="100" dirty="0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17780" marR="1778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CN" altLang="zh-CN" sz="1800" kern="100" dirty="0">
                          <a:effectLst/>
                          <a:latin typeface="+mn-lt"/>
                          <a:ea typeface="+mn-ea"/>
                        </a:rPr>
                        <a:t>计算机指令系统</a:t>
                      </a:r>
                      <a:endParaRPr lang="en-CN" altLang="zh-CN" sz="1800" kern="100" dirty="0">
                        <a:effectLst/>
                        <a:latin typeface="+mn-lt"/>
                        <a:ea typeface="+mn-ea"/>
                      </a:endParaRPr>
                    </a:p>
                  </a:txBody>
                  <a:tcPr marL="17780" marR="1778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25838581"/>
                  </a:ext>
                </a:extLst>
              </a:tr>
              <a:tr h="303452"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en-US" sz="1800" kern="100" dirty="0">
                          <a:effectLst/>
                          <a:latin typeface="+mn-lt"/>
                          <a:ea typeface="+mn-ea"/>
                        </a:rPr>
                        <a:t>8</a:t>
                      </a:r>
                      <a:endParaRPr lang="en-CN" sz="1800" kern="100" dirty="0">
                        <a:effectLst/>
                        <a:latin typeface="+mn-lt"/>
                        <a:ea typeface="+mn-ea"/>
                      </a:endParaRPr>
                    </a:p>
                  </a:txBody>
                  <a:tcPr marL="17780" marR="1778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en-US" sz="1800" kern="1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4/1</a:t>
                      </a:r>
                      <a:r>
                        <a:rPr lang="en-US" altLang="zh-CN" sz="1800" kern="1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</a:rPr>
                        <a:t>6</a:t>
                      </a:r>
                      <a:endParaRPr lang="en-CN" sz="1800" kern="100" dirty="0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</a:endParaRPr>
                    </a:p>
                  </a:txBody>
                  <a:tcPr marL="17780" marR="1778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CN" altLang="en-US" sz="1800" kern="100" dirty="0">
                          <a:effectLst/>
                          <a:latin typeface="+mn-lt"/>
                          <a:ea typeface="+mn-ea"/>
                        </a:rPr>
                        <a:t>微处理器</a:t>
                      </a:r>
                      <a:endParaRPr lang="en-CN" altLang="zh-CN" sz="1800" kern="100" dirty="0">
                        <a:effectLst/>
                        <a:latin typeface="+mn-lt"/>
                        <a:ea typeface="+mn-ea"/>
                      </a:endParaRPr>
                    </a:p>
                  </a:txBody>
                  <a:tcPr marL="17780" marR="1778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9159880"/>
                  </a:ext>
                </a:extLst>
              </a:tr>
              <a:tr h="303452"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en-US" altLang="zh-CN" sz="1800" b="0" kern="1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9</a:t>
                      </a:r>
                      <a:endParaRPr lang="en-CN" sz="1800" b="0" kern="100" dirty="0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17780" marR="1778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zh-CN" altLang="en-US" sz="1800" kern="100" dirty="0">
                          <a:effectLst/>
                          <a:latin typeface="+mn-lt"/>
                          <a:ea typeface="+mn-ea"/>
                        </a:rPr>
                        <a:t>待定</a:t>
                      </a:r>
                      <a:endParaRPr lang="en-CN" sz="1800" kern="100" dirty="0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17780" marR="1778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zh-CN" altLang="en-US" sz="1800" kern="100" dirty="0">
                          <a:effectLst/>
                          <a:latin typeface="+mn-lt"/>
                          <a:ea typeface="+mn-ea"/>
                        </a:rPr>
                        <a:t>期中考试</a:t>
                      </a:r>
                      <a:endParaRPr lang="en-CN" sz="1800" kern="100" dirty="0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17780" marR="1778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0427551"/>
                  </a:ext>
                </a:extLst>
              </a:tr>
              <a:tr h="303452"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en-US" sz="1800" b="0" kern="1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10</a:t>
                      </a:r>
                      <a:endParaRPr lang="en-CN" sz="1800" b="0" kern="100" dirty="0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17780" marR="1778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CCCC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en-US" sz="1800" b="0" i="0" kern="1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4/</a:t>
                      </a:r>
                      <a:r>
                        <a:rPr lang="en-US" altLang="zh-CN" sz="1800" b="0" i="0" kern="1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30</a:t>
                      </a:r>
                      <a:endParaRPr lang="en-CN" sz="1800" b="0" i="0" kern="100" dirty="0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17780" marR="1778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CCCC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zh-CN" altLang="en-US" sz="1800" b="0" kern="1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劳动节放假</a:t>
                      </a:r>
                      <a:endParaRPr lang="en-CN" sz="1800" b="0" kern="100" dirty="0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17780" marR="1778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CC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0011716"/>
                  </a:ext>
                </a:extLst>
              </a:tr>
              <a:tr h="303452"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en-US" sz="1800" kern="1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11</a:t>
                      </a:r>
                      <a:endParaRPr lang="en-CN" sz="1800" kern="100" dirty="0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17780" marR="1778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en-US" sz="1800" kern="1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5/</a:t>
                      </a:r>
                      <a:r>
                        <a:rPr lang="en-US" altLang="zh-CN" sz="1800" kern="1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7</a:t>
                      </a:r>
                      <a:endParaRPr lang="en-CN" sz="1800" kern="100" dirty="0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17780" marR="1778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CN" altLang="en-US" sz="1800" kern="1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微处理器</a:t>
                      </a:r>
                    </a:p>
                  </a:txBody>
                  <a:tcPr marL="17780" marR="1778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50714810"/>
                  </a:ext>
                </a:extLst>
              </a:tr>
              <a:tr h="303452"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spcAft>
                          <a:spcPts val="0"/>
                        </a:spcAft>
                      </a:pPr>
                      <a:r>
                        <a:rPr lang="en-US" sz="1800" kern="10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12</a:t>
                      </a:r>
                      <a:endParaRPr lang="en-CN" sz="1800" kern="100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17780" marR="1778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spcAft>
                          <a:spcPts val="0"/>
                        </a:spcAft>
                      </a:pPr>
                      <a:r>
                        <a:rPr lang="en-US" sz="1800" kern="1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5/</a:t>
                      </a:r>
                      <a:r>
                        <a:rPr lang="en-US" altLang="zh-CN" sz="1800" kern="1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14</a:t>
                      </a:r>
                      <a:endParaRPr lang="en-CN" sz="1800" kern="100" dirty="0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17780" marR="1778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spcAft>
                          <a:spcPts val="0"/>
                        </a:spcAft>
                      </a:pPr>
                      <a:r>
                        <a:rPr lang="zh-CN" altLang="en-US" sz="1800" kern="1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流水线</a:t>
                      </a:r>
                      <a:endParaRPr lang="en-CN" sz="1800" kern="100" dirty="0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17780" marR="1778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96459178"/>
                  </a:ext>
                </a:extLst>
              </a:tr>
              <a:tr h="303452"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spcAft>
                          <a:spcPts val="0"/>
                        </a:spcAft>
                      </a:pPr>
                      <a:r>
                        <a:rPr lang="en-US" sz="1800" b="1" kern="100" dirty="0">
                          <a:solidFill>
                            <a:srgbClr val="3333FF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13</a:t>
                      </a:r>
                      <a:endParaRPr lang="en-CN" sz="1800" b="1" kern="100">
                        <a:solidFill>
                          <a:srgbClr val="3333FF"/>
                        </a:solidFill>
                        <a:effectLst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17780" marR="1778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spcAft>
                          <a:spcPts val="0"/>
                        </a:spcAft>
                      </a:pPr>
                      <a:r>
                        <a:rPr lang="en-US" sz="1800" b="1" kern="100" dirty="0">
                          <a:solidFill>
                            <a:srgbClr val="3333FF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5/</a:t>
                      </a:r>
                      <a:r>
                        <a:rPr lang="en-US" altLang="zh-CN" sz="1800" b="1" kern="100" dirty="0">
                          <a:solidFill>
                            <a:srgbClr val="3333FF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21</a:t>
                      </a:r>
                      <a:endParaRPr lang="en-CN" sz="1800" b="1" kern="100" dirty="0">
                        <a:solidFill>
                          <a:srgbClr val="3333FF"/>
                        </a:solidFill>
                        <a:effectLst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17780" marR="1778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spcAft>
                          <a:spcPts val="0"/>
                        </a:spcAft>
                      </a:pPr>
                      <a:r>
                        <a:rPr lang="zh-CN" altLang="en-US" sz="1800" b="1" kern="100" dirty="0">
                          <a:solidFill>
                            <a:srgbClr val="3333FF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流水线</a:t>
                      </a:r>
                      <a:endParaRPr lang="en-CN" sz="1800" b="1" kern="100" dirty="0">
                        <a:solidFill>
                          <a:srgbClr val="3333FF"/>
                        </a:solidFill>
                        <a:effectLst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17780" marR="1778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09920872"/>
                  </a:ext>
                </a:extLst>
              </a:tr>
              <a:tr h="303452"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en-US" sz="1800" kern="100" dirty="0">
                          <a:effectLst/>
                          <a:latin typeface="+mn-lt"/>
                          <a:ea typeface="+mn-ea"/>
                        </a:rPr>
                        <a:t>14</a:t>
                      </a:r>
                      <a:endParaRPr lang="en-CN" sz="1800" kern="100">
                        <a:effectLst/>
                        <a:latin typeface="+mn-lt"/>
                        <a:ea typeface="+mn-ea"/>
                      </a:endParaRPr>
                    </a:p>
                  </a:txBody>
                  <a:tcPr marL="17780" marR="1778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en-US" sz="1800" kern="100" dirty="0">
                          <a:effectLst/>
                          <a:latin typeface="+mn-lt"/>
                          <a:ea typeface="+mn-ea"/>
                        </a:rPr>
                        <a:t>5/</a:t>
                      </a:r>
                      <a:r>
                        <a:rPr lang="en-US" altLang="zh-CN" sz="1800" kern="100" dirty="0">
                          <a:effectLst/>
                          <a:latin typeface="+mn-lt"/>
                          <a:ea typeface="+mn-ea"/>
                        </a:rPr>
                        <a:t>28</a:t>
                      </a:r>
                      <a:endParaRPr lang="en-CN" sz="1800" kern="100" dirty="0">
                        <a:effectLst/>
                        <a:latin typeface="+mn-lt"/>
                        <a:ea typeface="+mn-ea"/>
                      </a:endParaRPr>
                    </a:p>
                  </a:txBody>
                  <a:tcPr marL="17780" marR="1778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zh-CN" sz="1800" kern="100" dirty="0">
                          <a:effectLst/>
                          <a:latin typeface="+mn-lt"/>
                          <a:ea typeface="+mn-ea"/>
                        </a:rPr>
                        <a:t>流水线</a:t>
                      </a:r>
                      <a:r>
                        <a:rPr lang="en-US" altLang="zh-CN" sz="1800" kern="100" dirty="0">
                          <a:effectLst/>
                          <a:latin typeface="+mn-lt"/>
                          <a:ea typeface="+mn-ea"/>
                        </a:rPr>
                        <a:t>/</a:t>
                      </a:r>
                      <a:r>
                        <a:rPr lang="zh-CN" altLang="en-US" sz="1800" kern="100" dirty="0">
                          <a:effectLst/>
                          <a:latin typeface="+mn-lt"/>
                          <a:ea typeface="+mn-ea"/>
                        </a:rPr>
                        <a:t>存储器</a:t>
                      </a:r>
                      <a:endParaRPr lang="en-CN" sz="1800" kern="100" dirty="0">
                        <a:effectLst/>
                        <a:latin typeface="+mn-lt"/>
                        <a:ea typeface="+mn-ea"/>
                      </a:endParaRPr>
                    </a:p>
                  </a:txBody>
                  <a:tcPr marL="17780" marR="1778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37062504"/>
                  </a:ext>
                </a:extLst>
              </a:tr>
              <a:tr h="303452"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en-US" sz="1800" kern="100" dirty="0">
                          <a:effectLst/>
                          <a:latin typeface="+mn-lt"/>
                          <a:ea typeface="+mn-ea"/>
                        </a:rPr>
                        <a:t>15</a:t>
                      </a:r>
                      <a:endParaRPr lang="en-CN" sz="1800" kern="100">
                        <a:effectLst/>
                        <a:latin typeface="+mn-lt"/>
                        <a:ea typeface="+mn-ea"/>
                      </a:endParaRPr>
                    </a:p>
                  </a:txBody>
                  <a:tcPr marL="17780" marR="1778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en-US" altLang="zh-CN" sz="1800" kern="100" dirty="0">
                          <a:effectLst/>
                          <a:latin typeface="+mn-lt"/>
                          <a:ea typeface="+mn-ea"/>
                        </a:rPr>
                        <a:t>6</a:t>
                      </a:r>
                      <a:r>
                        <a:rPr lang="en-US" sz="1800" kern="100" dirty="0">
                          <a:effectLst/>
                          <a:latin typeface="+mn-lt"/>
                          <a:ea typeface="+mn-ea"/>
                        </a:rPr>
                        <a:t>/</a:t>
                      </a:r>
                      <a:r>
                        <a:rPr lang="en-US" altLang="zh-CN" sz="1800" kern="100" dirty="0">
                          <a:effectLst/>
                          <a:latin typeface="+mn-lt"/>
                          <a:ea typeface="+mn-ea"/>
                        </a:rPr>
                        <a:t>4</a:t>
                      </a:r>
                      <a:endParaRPr lang="en-CN" sz="1800" kern="100" dirty="0">
                        <a:effectLst/>
                        <a:latin typeface="+mn-lt"/>
                        <a:ea typeface="+mn-ea"/>
                      </a:endParaRPr>
                    </a:p>
                  </a:txBody>
                  <a:tcPr marL="17780" marR="1778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zh-CN" sz="1800" kern="100" dirty="0">
                          <a:effectLst/>
                          <a:latin typeface="+mn-lt"/>
                          <a:ea typeface="+mn-ea"/>
                        </a:rPr>
                        <a:t>存储器</a:t>
                      </a:r>
                      <a:endParaRPr lang="en-CN" sz="1800" kern="100" dirty="0">
                        <a:effectLst/>
                        <a:latin typeface="+mn-lt"/>
                        <a:ea typeface="+mn-ea"/>
                      </a:endParaRPr>
                    </a:p>
                  </a:txBody>
                  <a:tcPr marL="17780" marR="1778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492450"/>
                  </a:ext>
                </a:extLst>
              </a:tr>
              <a:tr h="303452"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en-US" altLang="zh-CN" sz="1800" kern="100" dirty="0">
                          <a:effectLst/>
                          <a:latin typeface="+mn-lt"/>
                          <a:ea typeface="+mn-ea"/>
                        </a:rPr>
                        <a:t>16</a:t>
                      </a:r>
                      <a:endParaRPr lang="en-CN" sz="1800" kern="100">
                        <a:effectLst/>
                        <a:latin typeface="+mn-lt"/>
                        <a:ea typeface="+mn-ea"/>
                      </a:endParaRPr>
                    </a:p>
                  </a:txBody>
                  <a:tcPr marL="17780" marR="1778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en-US" altLang="zh-CN" sz="1800" kern="100" dirty="0">
                          <a:effectLst/>
                          <a:latin typeface="+mn-lt"/>
                          <a:ea typeface="+mn-ea"/>
                        </a:rPr>
                        <a:t>6/11</a:t>
                      </a:r>
                      <a:endParaRPr lang="en-CN" sz="1800" kern="100" dirty="0">
                        <a:effectLst/>
                        <a:latin typeface="+mn-lt"/>
                        <a:ea typeface="+mn-ea"/>
                      </a:endParaRPr>
                    </a:p>
                  </a:txBody>
                  <a:tcPr marL="17780" marR="1778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en-US" altLang="zh-CN" sz="1800" kern="100" dirty="0">
                          <a:effectLst/>
                          <a:latin typeface="+mn-lt"/>
                          <a:ea typeface="+mn-ea"/>
                        </a:rPr>
                        <a:t>IO</a:t>
                      </a:r>
                      <a:r>
                        <a:rPr lang="zh-CN" altLang="en-US" sz="1800" kern="100" dirty="0">
                          <a:effectLst/>
                          <a:latin typeface="+mn-lt"/>
                          <a:ea typeface="+mn-ea"/>
                        </a:rPr>
                        <a:t>与总线</a:t>
                      </a:r>
                      <a:r>
                        <a:rPr lang="en-US" altLang="zh-CN" sz="1800" kern="100" dirty="0">
                          <a:effectLst/>
                          <a:latin typeface="+mn-lt"/>
                          <a:ea typeface="+mn-ea"/>
                        </a:rPr>
                        <a:t>/</a:t>
                      </a:r>
                      <a:r>
                        <a:rPr lang="zh-CN" altLang="en-US" sz="1800" kern="100" dirty="0">
                          <a:effectLst/>
                          <a:latin typeface="+mn-lt"/>
                          <a:ea typeface="+mn-ea"/>
                        </a:rPr>
                        <a:t>总结</a:t>
                      </a:r>
                      <a:endParaRPr lang="en-CN" sz="1800" kern="100" dirty="0">
                        <a:effectLst/>
                        <a:latin typeface="+mn-lt"/>
                        <a:ea typeface="+mn-ea"/>
                      </a:endParaRPr>
                    </a:p>
                  </a:txBody>
                  <a:tcPr marL="17780" marR="1778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11204958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430115025"/>
      </p:ext>
    </p:extLst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内容占位符 2"/>
          <p:cNvSpPr>
            <a:spLocks noGrp="1"/>
          </p:cNvSpPr>
          <p:nvPr>
            <p:ph idx="1"/>
          </p:nvPr>
        </p:nvSpPr>
        <p:spPr>
          <a:xfrm>
            <a:off x="457200" y="1600200"/>
            <a:ext cx="8229600" cy="4732506"/>
          </a:xfrm>
        </p:spPr>
        <p:txBody>
          <a:bodyPr/>
          <a:lstStyle/>
          <a:p>
            <a:r>
              <a:rPr lang="zh-CN" altLang="en-US" sz="3200" dirty="0"/>
              <a:t>复习、</a:t>
            </a:r>
            <a:r>
              <a:rPr lang="zh-CN" altLang="en-US" sz="3200" dirty="0">
                <a:cs typeface="+mn-cs"/>
              </a:rPr>
              <a:t>流水线基本概念</a:t>
            </a:r>
            <a:r>
              <a:rPr lang="en-US" altLang="zh-CN" sz="3200" dirty="0">
                <a:cs typeface="+mn-cs"/>
              </a:rPr>
              <a:t> P4</a:t>
            </a:r>
            <a:endParaRPr lang="en-US" altLang="zh-CN" sz="3200" dirty="0"/>
          </a:p>
          <a:p>
            <a:r>
              <a:rPr lang="zh-CN" altLang="en-US" sz="3200" dirty="0">
                <a:solidFill>
                  <a:schemeClr val="bg1">
                    <a:lumMod val="65000"/>
                  </a:schemeClr>
                </a:solidFill>
                <a:cs typeface="+mn-cs"/>
              </a:rPr>
              <a:t>流水线数据通路</a:t>
            </a:r>
            <a:r>
              <a:rPr lang="en-US" altLang="zh-CN" sz="3200" dirty="0">
                <a:solidFill>
                  <a:schemeClr val="bg1">
                    <a:lumMod val="65000"/>
                  </a:schemeClr>
                </a:solidFill>
                <a:cs typeface="+mn-cs"/>
              </a:rPr>
              <a:t> P6</a:t>
            </a:r>
            <a:endParaRPr lang="en-US" altLang="zh-CN" sz="3200" dirty="0">
              <a:solidFill>
                <a:schemeClr val="bg1">
                  <a:lumMod val="65000"/>
                </a:schemeClr>
              </a:solidFill>
            </a:endParaRPr>
          </a:p>
          <a:p>
            <a:r>
              <a:rPr lang="zh-CN" altLang="en-US" sz="3200" dirty="0">
                <a:solidFill>
                  <a:schemeClr val="bg1">
                    <a:lumMod val="65000"/>
                  </a:schemeClr>
                </a:solidFill>
                <a:cs typeface="+mn-cs"/>
              </a:rPr>
              <a:t>流水线的冒险</a:t>
            </a:r>
            <a:endParaRPr lang="en-US" altLang="zh-CN" sz="3200" dirty="0">
              <a:solidFill>
                <a:schemeClr val="bg1">
                  <a:lumMod val="65000"/>
                </a:schemeClr>
              </a:solidFill>
              <a:cs typeface="+mn-cs"/>
            </a:endParaRPr>
          </a:p>
          <a:p>
            <a:pPr lvl="1"/>
            <a:r>
              <a:rPr lang="zh-CN" altLang="en-US" sz="2800" dirty="0">
                <a:solidFill>
                  <a:schemeClr val="bg1">
                    <a:lumMod val="65000"/>
                  </a:schemeClr>
                </a:solidFill>
                <a:cs typeface="+mn-cs"/>
              </a:rPr>
              <a:t>结构冒险</a:t>
            </a:r>
            <a:r>
              <a:rPr lang="en-US" altLang="zh-CN" sz="2800" dirty="0">
                <a:solidFill>
                  <a:schemeClr val="bg1">
                    <a:lumMod val="65000"/>
                  </a:schemeClr>
                </a:solidFill>
                <a:cs typeface="+mn-cs"/>
              </a:rPr>
              <a:t> P10</a:t>
            </a:r>
            <a:endParaRPr lang="zh-CN" altLang="en-US" sz="2800" dirty="0">
              <a:solidFill>
                <a:schemeClr val="bg1">
                  <a:lumMod val="65000"/>
                </a:schemeClr>
              </a:solidFill>
              <a:cs typeface="+mn-cs"/>
            </a:endParaRPr>
          </a:p>
          <a:p>
            <a:pPr lvl="1"/>
            <a:r>
              <a:rPr lang="zh-CN" altLang="en-US" sz="2800" dirty="0">
                <a:cs typeface="+mn-cs"/>
              </a:rPr>
              <a:t>数据冒险</a:t>
            </a:r>
            <a:r>
              <a:rPr lang="en-US" altLang="zh-CN" sz="2800" dirty="0">
                <a:cs typeface="+mn-cs"/>
              </a:rPr>
              <a:t> P15</a:t>
            </a:r>
            <a:endParaRPr lang="zh-CN" altLang="en-US" sz="2800" dirty="0">
              <a:cs typeface="+mn-cs"/>
            </a:endParaRPr>
          </a:p>
          <a:p>
            <a:pPr lvl="1"/>
            <a:r>
              <a:rPr lang="zh-CN" altLang="en-US" sz="2800" dirty="0">
                <a:cs typeface="+mn-cs"/>
              </a:rPr>
              <a:t>控制冒险</a:t>
            </a:r>
            <a:r>
              <a:rPr lang="en-US" altLang="zh-CN" sz="2800" dirty="0">
                <a:cs typeface="+mn-cs"/>
              </a:rPr>
              <a:t> P38</a:t>
            </a:r>
            <a:endParaRPr lang="zh-CN" altLang="en-US" sz="2800" dirty="0">
              <a:cs typeface="+mn-cs"/>
            </a:endParaRPr>
          </a:p>
          <a:p>
            <a:r>
              <a:rPr lang="zh-CN" altLang="en-US" sz="3200" dirty="0"/>
              <a:t>数据通路的实现（考虑冒险）</a:t>
            </a:r>
            <a:r>
              <a:rPr lang="en-US" altLang="zh-CN" sz="3200" dirty="0"/>
              <a:t>P56</a:t>
            </a:r>
          </a:p>
          <a:p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4659731-6BD7-46E7-8D3C-2F3AC07E20B1}" type="slidenum">
              <a:rPr lang="en-US" altLang="zh-CN" smtClean="0"/>
              <a:pPr/>
              <a:t>3</a:t>
            </a:fld>
            <a:endParaRPr lang="en-US" altLang="zh-CN"/>
          </a:p>
        </p:txBody>
      </p:sp>
      <p:sp>
        <p:nvSpPr>
          <p:cNvPr id="8" name="标题 7">
            <a:extLst>
              <a:ext uri="{FF2B5EF4-FFF2-40B4-BE49-F238E27FC236}">
                <a16:creationId xmlns:a16="http://schemas.microsoft.com/office/drawing/2014/main" id="{A4AFA0D0-3ABC-9E4B-A473-CF0D454A0F5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dirty="0"/>
              <a:t>本节课目录</a:t>
            </a:r>
          </a:p>
        </p:txBody>
      </p:sp>
    </p:spTree>
    <p:extLst>
      <p:ext uri="{BB962C8B-B14F-4D97-AF65-F5344CB8AC3E}">
        <p14:creationId xmlns:p14="http://schemas.microsoft.com/office/powerpoint/2010/main" val="229866787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"/>
    </mc:Choice>
    <mc:Fallback xmlns="">
      <p:transition/>
    </mc:Fallback>
  </mc:AlternateContent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>
            <a:extLst>
              <a:ext uri="{FF2B5EF4-FFF2-40B4-BE49-F238E27FC236}">
                <a16:creationId xmlns:a16="http://schemas.microsoft.com/office/drawing/2014/main" id="{C8E90348-0EC6-4362-A518-279FDB8D062F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dirty="0"/>
              <a:t>回顾：流水线的基本概念</a:t>
            </a:r>
          </a:p>
        </p:txBody>
      </p:sp>
      <p:sp>
        <p:nvSpPr>
          <p:cNvPr id="3" name="内容占位符 2">
            <a:extLst>
              <a:ext uri="{FF2B5EF4-FFF2-40B4-BE49-F238E27FC236}">
                <a16:creationId xmlns:a16="http://schemas.microsoft.com/office/drawing/2014/main" id="{43388ADD-AFE7-45FC-A371-0FA941451C1B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r>
              <a:rPr lang="zh-CN" altLang="en-US" dirty="0"/>
              <a:t>每条指令的执行过程，可以划分为若干步骤</a:t>
            </a:r>
            <a:endParaRPr lang="en-US" altLang="zh-CN" dirty="0"/>
          </a:p>
          <a:p>
            <a:r>
              <a:rPr kumimoji="1" lang="zh-CN" altLang="en-US" dirty="0"/>
              <a:t>通常，一条</a:t>
            </a:r>
            <a:r>
              <a:rPr kumimoji="1" lang="en-US" altLang="zh-CN" dirty="0"/>
              <a:t>MIPS</a:t>
            </a:r>
            <a:r>
              <a:rPr kumimoji="1" lang="zh-CN" altLang="en-US" dirty="0"/>
              <a:t>指令包含</a:t>
            </a:r>
            <a:r>
              <a:rPr kumimoji="1" lang="en-US" altLang="zh-CN" dirty="0"/>
              <a:t>5</a:t>
            </a:r>
            <a:r>
              <a:rPr kumimoji="1" lang="zh-CN" altLang="en-US" dirty="0"/>
              <a:t>个处理步骤：</a:t>
            </a:r>
            <a:endParaRPr kumimoji="1" lang="en-US" altLang="zh-CN" dirty="0"/>
          </a:p>
          <a:p>
            <a:pPr lvl="1"/>
            <a:r>
              <a:rPr lang="en-US" altLang="zh-CN" dirty="0">
                <a:solidFill>
                  <a:srgbClr val="3333FF"/>
                </a:solidFill>
              </a:rPr>
              <a:t>Instruction Fetch (IF)</a:t>
            </a:r>
            <a:r>
              <a:rPr kumimoji="1" lang="zh-CN" altLang="en-US" dirty="0"/>
              <a:t>：取指，从存储器读取指令</a:t>
            </a:r>
            <a:endParaRPr kumimoji="1" lang="en-US" altLang="zh-CN" dirty="0"/>
          </a:p>
          <a:p>
            <a:pPr lvl="1"/>
            <a:r>
              <a:rPr lang="en-US" altLang="zh-CN" dirty="0">
                <a:solidFill>
                  <a:srgbClr val="3333FF"/>
                </a:solidFill>
              </a:rPr>
              <a:t>Instruction Decode / Register File (ID/RF)</a:t>
            </a:r>
            <a:r>
              <a:rPr kumimoji="1" lang="zh-CN" altLang="en-US" dirty="0"/>
              <a:t>：指令译码并读取寄存器</a:t>
            </a:r>
            <a:endParaRPr kumimoji="1" lang="en-US" altLang="zh-CN" dirty="0"/>
          </a:p>
          <a:p>
            <a:pPr lvl="1"/>
            <a:r>
              <a:rPr lang="en-US" altLang="zh-CN" dirty="0">
                <a:solidFill>
                  <a:srgbClr val="3333FF"/>
                </a:solidFill>
              </a:rPr>
              <a:t>ALU Execution (EX)</a:t>
            </a:r>
            <a:r>
              <a:rPr kumimoji="1" lang="zh-CN" altLang="en-US" dirty="0"/>
              <a:t>：执行运算或计算存储器地址</a:t>
            </a:r>
            <a:endParaRPr kumimoji="1" lang="en-US" altLang="zh-CN" dirty="0"/>
          </a:p>
          <a:p>
            <a:pPr lvl="1"/>
            <a:r>
              <a:rPr lang="en-US" altLang="zh-CN" dirty="0">
                <a:solidFill>
                  <a:srgbClr val="3333FF"/>
                </a:solidFill>
              </a:rPr>
              <a:t>Memory Data Access (MEM)</a:t>
            </a:r>
            <a:r>
              <a:rPr kumimoji="1" lang="zh-CN" altLang="en-US" dirty="0"/>
              <a:t>：访问存储器</a:t>
            </a:r>
            <a:endParaRPr kumimoji="1" lang="en-US" altLang="zh-CN" dirty="0"/>
          </a:p>
          <a:p>
            <a:pPr lvl="1"/>
            <a:r>
              <a:rPr lang="en-US" altLang="zh-CN" dirty="0">
                <a:solidFill>
                  <a:srgbClr val="3333FF"/>
                </a:solidFill>
              </a:rPr>
              <a:t>Register Write-Back (WB)</a:t>
            </a:r>
            <a:r>
              <a:rPr kumimoji="1" lang="zh-CN" altLang="en-US" dirty="0">
                <a:solidFill>
                  <a:srgbClr val="3333FF"/>
                </a:solidFill>
              </a:rPr>
              <a:t>：</a:t>
            </a:r>
            <a:r>
              <a:rPr kumimoji="1" lang="zh-CN" altLang="en-US" dirty="0"/>
              <a:t>将结果写回寄存器</a:t>
            </a:r>
            <a:endParaRPr lang="zh-CN" altLang="en-US" dirty="0"/>
          </a:p>
        </p:txBody>
      </p:sp>
      <p:sp>
        <p:nvSpPr>
          <p:cNvPr id="4" name="灯片编号占位符 3">
            <a:extLst>
              <a:ext uri="{FF2B5EF4-FFF2-40B4-BE49-F238E27FC236}">
                <a16:creationId xmlns:a16="http://schemas.microsoft.com/office/drawing/2014/main" id="{40B8E1D7-CE50-4B91-98F1-0F745E0701B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0626FCE3-5FF9-430D-BA0B-DE80AAE71673}" type="slidenum">
              <a:rPr lang="zh-CN" altLang="en-US" smtClean="0"/>
              <a:t>4</a:t>
            </a:fld>
            <a:endParaRPr lang="zh-CN" altLang="en-US"/>
          </a:p>
        </p:txBody>
      </p:sp>
      <p:pic>
        <p:nvPicPr>
          <p:cNvPr id="5" name="图片 4">
            <a:extLst>
              <a:ext uri="{FF2B5EF4-FFF2-40B4-BE49-F238E27FC236}">
                <a16:creationId xmlns:a16="http://schemas.microsoft.com/office/drawing/2014/main" id="{AA7E54E2-9196-4E4E-9CA5-789C725C323D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2198451" y="4691779"/>
            <a:ext cx="4747098" cy="200040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133083982"/>
      </p:ext>
    </p:extLst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>
            <a:extLst>
              <a:ext uri="{FF2B5EF4-FFF2-40B4-BE49-F238E27FC236}">
                <a16:creationId xmlns:a16="http://schemas.microsoft.com/office/drawing/2014/main" id="{B7C6F668-CB12-459D-A95F-07898647353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dirty="0"/>
              <a:t>回顾：流水线的性能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" name="内容占位符 2">
                <a:extLst>
                  <a:ext uri="{FF2B5EF4-FFF2-40B4-BE49-F238E27FC236}">
                    <a16:creationId xmlns:a16="http://schemas.microsoft.com/office/drawing/2014/main" id="{65BF458A-3CDB-44FD-9CD0-01EF2E65CE3F}"/>
                  </a:ext>
                </a:extLst>
              </p:cNvPr>
              <p:cNvSpPr>
                <a:spLocks noGrp="1"/>
              </p:cNvSpPr>
              <p:nvPr>
                <p:ph idx="1"/>
              </p:nvPr>
            </p:nvSpPr>
            <p:spPr/>
            <p:txBody>
              <a:bodyPr/>
              <a:lstStyle/>
              <a:p>
                <a:r>
                  <a:rPr lang="zh-CN" altLang="en-US" sz="3200" dirty="0"/>
                  <a:t>吞吐率</a:t>
                </a:r>
                <a:endParaRPr lang="en-US" altLang="zh-CN" sz="3200" dirty="0"/>
              </a:p>
              <a:p>
                <a:pPr lvl="1"/>
                <a:r>
                  <a:rPr lang="zh-CN" altLang="en-US" sz="2800" dirty="0"/>
                  <a:t>实际吞吐率：</a:t>
                </a:r>
                <a:endParaRPr lang="en-US" altLang="zh-CN" sz="2800" dirty="0"/>
              </a:p>
              <a:p>
                <a:pPr marL="0" indent="0" algn="ctr">
                  <a:buNone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altLang="zh-CN" sz="2400" b="1" i="1" smtClean="0">
                          <a:latin typeface="Cambria Math" panose="02040503050406030204" pitchFamily="18" charset="0"/>
                        </a:rPr>
                        <m:t>𝑻𝑷</m:t>
                      </m:r>
                      <m:r>
                        <a:rPr lang="en-US" altLang="zh-CN" sz="2400" b="1" i="1" smtClean="0"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US" altLang="zh-CN" sz="2400" b="1" i="1" smtClean="0"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US" altLang="zh-CN" sz="2400" b="1" i="1" smtClean="0">
                              <a:latin typeface="Cambria Math" panose="02040503050406030204" pitchFamily="18" charset="0"/>
                            </a:rPr>
                            <m:t>𝒏</m:t>
                          </m:r>
                        </m:num>
                        <m:den>
                          <m:sSub>
                            <m:sSubPr>
                              <m:ctrlPr>
                                <a:rPr lang="en-US" altLang="zh-CN" sz="2400" b="1" i="1" smtClean="0"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altLang="zh-CN" sz="2400" b="1" i="1" smtClean="0">
                                  <a:latin typeface="Cambria Math" panose="02040503050406030204" pitchFamily="18" charset="0"/>
                                </a:rPr>
                                <m:t>𝑻</m:t>
                              </m:r>
                            </m:e>
                            <m:sub>
                              <m:r>
                                <a:rPr lang="en-US" altLang="zh-CN" sz="2400" b="1" i="1" smtClean="0">
                                  <a:latin typeface="Cambria Math" panose="02040503050406030204" pitchFamily="18" charset="0"/>
                                </a:rPr>
                                <m:t>𝒌</m:t>
                              </m:r>
                            </m:sub>
                          </m:sSub>
                        </m:den>
                      </m:f>
                      <m:r>
                        <a:rPr lang="en-US" altLang="zh-CN" sz="2400" b="1" i="1" smtClean="0"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US" altLang="zh-CN" sz="2400" b="1" i="1" smtClean="0"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US" altLang="zh-CN" sz="2400" b="1" i="1" smtClean="0">
                              <a:latin typeface="Cambria Math" panose="02040503050406030204" pitchFamily="18" charset="0"/>
                            </a:rPr>
                            <m:t>𝒏</m:t>
                          </m:r>
                        </m:num>
                        <m:den>
                          <m:d>
                            <m:dPr>
                              <m:ctrlPr>
                                <a:rPr lang="en-US" altLang="zh-CN" sz="2400" b="1" i="1" smtClean="0"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en-US" altLang="zh-CN" sz="2400" b="1" i="1" smtClean="0">
                                  <a:latin typeface="Cambria Math" panose="02040503050406030204" pitchFamily="18" charset="0"/>
                                </a:rPr>
                                <m:t>𝒌</m:t>
                              </m:r>
                              <m:r>
                                <a:rPr lang="en-US" altLang="zh-CN" sz="2400" b="1" i="1" smtClean="0">
                                  <a:latin typeface="Cambria Math" panose="02040503050406030204" pitchFamily="18" charset="0"/>
                                </a:rPr>
                                <m:t>+</m:t>
                              </m:r>
                              <m:r>
                                <a:rPr lang="en-US" altLang="zh-CN" sz="2400" b="1" i="1" smtClean="0">
                                  <a:latin typeface="Cambria Math" panose="02040503050406030204" pitchFamily="18" charset="0"/>
                                </a:rPr>
                                <m:t>𝒏</m:t>
                              </m:r>
                              <m:r>
                                <a:rPr lang="en-US" altLang="zh-CN" sz="2400" b="1" i="1" smtClean="0"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r>
                                <a:rPr lang="en-US" altLang="zh-CN" sz="2400" b="1" i="1" smtClean="0">
                                  <a:latin typeface="Cambria Math" panose="02040503050406030204" pitchFamily="18" charset="0"/>
                                </a:rPr>
                                <m:t>𝟏</m:t>
                              </m:r>
                            </m:e>
                          </m:d>
                          <m:r>
                            <a:rPr lang="en-US" altLang="zh-CN" sz="2400" b="1" i="0" smtClean="0">
                              <a:latin typeface="Cambria Math" panose="02040503050406030204" pitchFamily="18" charset="0"/>
                            </a:rPr>
                            <m:t>𝚫</m:t>
                          </m:r>
                          <m:r>
                            <a:rPr lang="en-US" altLang="zh-CN" sz="2400" b="1" i="0" smtClean="0">
                              <a:latin typeface="Cambria Math" panose="02040503050406030204" pitchFamily="18" charset="0"/>
                            </a:rPr>
                            <m:t>𝐭</m:t>
                          </m:r>
                        </m:den>
                      </m:f>
                    </m:oMath>
                  </m:oMathPara>
                </a14:m>
                <a:endParaRPr lang="en-US" altLang="zh-CN" sz="2400" dirty="0"/>
              </a:p>
              <a:p>
                <a:pPr lvl="1"/>
                <a:r>
                  <a:rPr lang="zh-CN" altLang="en-US" sz="2800" dirty="0"/>
                  <a:t>最大吞吐率：</a:t>
                </a:r>
                <a:endParaRPr lang="en-US" altLang="zh-CN" sz="2800" dirty="0"/>
              </a:p>
              <a:p>
                <a:pPr marL="342900" lvl="1" indent="0" algn="ctr">
                  <a:buNone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altLang="zh-CN" b="1" i="1" smtClean="0"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altLang="zh-CN" b="1" i="1" smtClean="0">
                              <a:latin typeface="Cambria Math" panose="02040503050406030204" pitchFamily="18" charset="0"/>
                            </a:rPr>
                            <m:t>𝑻𝑷</m:t>
                          </m:r>
                        </m:e>
                        <m:sub>
                          <m:r>
                            <a:rPr lang="en-US" altLang="zh-CN" b="1" i="1" smtClean="0">
                              <a:latin typeface="Cambria Math" panose="02040503050406030204" pitchFamily="18" charset="0"/>
                            </a:rPr>
                            <m:t>𝒎𝒂𝒙</m:t>
                          </m:r>
                        </m:sub>
                      </m:sSub>
                      <m:r>
                        <a:rPr lang="en-US" altLang="zh-CN" b="1" i="1" smtClean="0"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US" altLang="zh-CN" b="1" i="1" smtClean="0">
                          <a:latin typeface="Cambria Math" panose="02040503050406030204" pitchFamily="18" charset="0"/>
                        </a:rPr>
                        <m:t>𝒍𝒊</m:t>
                      </m:r>
                      <m:sSub>
                        <m:sSubPr>
                          <m:ctrlPr>
                            <a:rPr lang="en-US" altLang="zh-CN" b="1" i="1" smtClean="0"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altLang="zh-CN" b="1" i="1" smtClean="0">
                              <a:latin typeface="Cambria Math" panose="02040503050406030204" pitchFamily="18" charset="0"/>
                            </a:rPr>
                            <m:t>𝒎</m:t>
                          </m:r>
                        </m:e>
                        <m:sub>
                          <m:r>
                            <a:rPr lang="en-US" altLang="zh-CN" b="1" i="1" smtClean="0">
                              <a:latin typeface="Cambria Math" panose="02040503050406030204" pitchFamily="18" charset="0"/>
                            </a:rPr>
                            <m:t>𝒏</m:t>
                          </m:r>
                          <m:r>
                            <a:rPr lang="en-US" altLang="zh-CN" b="1" i="1" smtClean="0">
                              <a:latin typeface="Cambria Math" panose="02040503050406030204" pitchFamily="18" charset="0"/>
                            </a:rPr>
                            <m:t>→∞</m:t>
                          </m:r>
                        </m:sub>
                      </m:sSub>
                      <m:f>
                        <m:fPr>
                          <m:ctrlPr>
                            <a:rPr lang="en-US" altLang="zh-CN" i="1"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US" altLang="zh-CN" i="1">
                              <a:latin typeface="Cambria Math" panose="02040503050406030204" pitchFamily="18" charset="0"/>
                            </a:rPr>
                            <m:t>𝒏</m:t>
                          </m:r>
                        </m:num>
                        <m:den>
                          <m:d>
                            <m:dPr>
                              <m:ctrlPr>
                                <a:rPr lang="en-US" altLang="zh-CN" i="1"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en-US" altLang="zh-CN" i="1">
                                  <a:latin typeface="Cambria Math" panose="02040503050406030204" pitchFamily="18" charset="0"/>
                                </a:rPr>
                                <m:t>𝒌</m:t>
                              </m:r>
                              <m:r>
                                <a:rPr lang="en-US" altLang="zh-CN" i="1">
                                  <a:latin typeface="Cambria Math" panose="02040503050406030204" pitchFamily="18" charset="0"/>
                                </a:rPr>
                                <m:t>+</m:t>
                              </m:r>
                              <m:r>
                                <a:rPr lang="en-US" altLang="zh-CN" i="1">
                                  <a:latin typeface="Cambria Math" panose="02040503050406030204" pitchFamily="18" charset="0"/>
                                </a:rPr>
                                <m:t>𝒏</m:t>
                              </m:r>
                              <m:r>
                                <a:rPr lang="en-US" altLang="zh-CN" i="1"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r>
                                <a:rPr lang="en-US" altLang="zh-CN" i="1">
                                  <a:latin typeface="Cambria Math" panose="02040503050406030204" pitchFamily="18" charset="0"/>
                                </a:rPr>
                                <m:t>𝟏</m:t>
                              </m:r>
                            </m:e>
                          </m:d>
                          <m:r>
                            <a:rPr lang="en-US" altLang="zh-CN">
                              <a:latin typeface="Cambria Math" panose="02040503050406030204" pitchFamily="18" charset="0"/>
                            </a:rPr>
                            <m:t>𝚫</m:t>
                          </m:r>
                          <m:r>
                            <a:rPr lang="en-US" altLang="zh-CN">
                              <a:latin typeface="Cambria Math" panose="02040503050406030204" pitchFamily="18" charset="0"/>
                            </a:rPr>
                            <m:t>𝐭</m:t>
                          </m:r>
                        </m:den>
                      </m:f>
                      <m:r>
                        <a:rPr lang="en-US" altLang="zh-CN" b="1" i="1" smtClean="0"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US" altLang="zh-CN" b="1" i="1" smtClean="0"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US" altLang="zh-CN" b="1" i="1" smtClean="0">
                              <a:latin typeface="Cambria Math" panose="02040503050406030204" pitchFamily="18" charset="0"/>
                            </a:rPr>
                            <m:t>𝟏</m:t>
                          </m:r>
                        </m:num>
                        <m:den>
                          <m:r>
                            <a:rPr lang="en-US" altLang="zh-CN" b="1" i="0" smtClean="0">
                              <a:latin typeface="Cambria Math" panose="02040503050406030204" pitchFamily="18" charset="0"/>
                            </a:rPr>
                            <m:t>𝚫</m:t>
                          </m:r>
                          <m:r>
                            <a:rPr lang="en-US" altLang="zh-CN" b="1" i="0" smtClean="0">
                              <a:latin typeface="Cambria Math" panose="02040503050406030204" pitchFamily="18" charset="0"/>
                            </a:rPr>
                            <m:t>𝐭</m:t>
                          </m:r>
                        </m:den>
                      </m:f>
                    </m:oMath>
                  </m:oMathPara>
                </a14:m>
                <a:endParaRPr lang="en-US" altLang="zh-CN" dirty="0"/>
              </a:p>
              <a:p>
                <a:endParaRPr lang="zh-CN" altLang="en-US" dirty="0"/>
              </a:p>
            </p:txBody>
          </p:sp>
        </mc:Choice>
        <mc:Fallback xmlns="">
          <p:sp>
            <p:nvSpPr>
              <p:cNvPr id="3" name="内容占位符 2">
                <a:extLst>
                  <a:ext uri="{FF2B5EF4-FFF2-40B4-BE49-F238E27FC236}">
                    <a16:creationId xmlns:a16="http://schemas.microsoft.com/office/drawing/2014/main" id="{65BF458A-3CDB-44FD-9CD0-01EF2E65CE3F}"/>
                  </a:ext>
                </a:extLst>
              </p:cNvPr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idx="1"/>
              </p:nvPr>
            </p:nvSpPr>
            <p:spPr>
              <a:blipFill>
                <a:blip r:embed="rId3"/>
                <a:stretch>
                  <a:fillRect l="-1704" t="-2153"/>
                </a:stretch>
              </a:blipFill>
            </p:spPr>
            <p:txBody>
              <a:bodyPr/>
              <a:lstStyle/>
              <a:p>
                <a:r>
                  <a:rPr lang="zh-CN" alt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6" name="Text Box 8">
            <a:extLst>
              <a:ext uri="{FF2B5EF4-FFF2-40B4-BE49-F238E27FC236}">
                <a16:creationId xmlns:a16="http://schemas.microsoft.com/office/drawing/2014/main" id="{BE5B6AB2-7AD1-4D11-90F8-B44658155F6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76325" y="3857625"/>
            <a:ext cx="234950" cy="298543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defRPr b="1">
                <a:solidFill>
                  <a:schemeClr val="tx1"/>
                </a:solidFill>
                <a:latin typeface="Arial" charset="0"/>
                <a:ea typeface="宋体" charset="-122"/>
              </a:defRPr>
            </a:lvl1pPr>
            <a:lvl2pPr marL="742950" indent="-285750" eaLnBrk="0" hangingPunct="0">
              <a:defRPr b="1">
                <a:solidFill>
                  <a:schemeClr val="tx1"/>
                </a:solidFill>
                <a:latin typeface="Arial" charset="0"/>
                <a:ea typeface="宋体" charset="-122"/>
              </a:defRPr>
            </a:lvl2pPr>
            <a:lvl3pPr marL="1143000" indent="-228600" eaLnBrk="0" hangingPunct="0">
              <a:defRPr b="1">
                <a:solidFill>
                  <a:schemeClr val="tx1"/>
                </a:solidFill>
                <a:latin typeface="Arial" charset="0"/>
                <a:ea typeface="宋体" charset="-122"/>
              </a:defRPr>
            </a:lvl3pPr>
            <a:lvl4pPr marL="1600200" indent="-228600" eaLnBrk="0" hangingPunct="0">
              <a:defRPr b="1">
                <a:solidFill>
                  <a:schemeClr val="tx1"/>
                </a:solidFill>
                <a:latin typeface="Arial" charset="0"/>
                <a:ea typeface="宋体" charset="-122"/>
              </a:defRPr>
            </a:lvl4pPr>
            <a:lvl5pPr marL="2057400" indent="-228600" eaLnBrk="0" hangingPunct="0">
              <a:defRPr b="1">
                <a:solidFill>
                  <a:schemeClr val="tx1"/>
                </a:solidFill>
                <a:latin typeface="Arial" charset="0"/>
                <a:ea typeface="宋体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charset="0"/>
                <a:ea typeface="宋体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charset="0"/>
                <a:ea typeface="宋体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charset="0"/>
                <a:ea typeface="宋体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charset="0"/>
                <a:ea typeface="宋体" charset="-122"/>
              </a:defRPr>
            </a:lvl9pPr>
          </a:lstStyle>
          <a:p>
            <a:pPr>
              <a:spcBef>
                <a:spcPct val="20000"/>
              </a:spcBef>
            </a:pPr>
            <a:endParaRPr lang="en-US" altLang="zh-CN" sz="2000" b="0" dirty="0">
              <a:solidFill>
                <a:schemeClr val="bg1"/>
              </a:solidFill>
              <a:ea typeface="SimHei" panose="02010609060101010101" pitchFamily="49" charset="-122"/>
            </a:endParaRPr>
          </a:p>
          <a:p>
            <a:pPr>
              <a:spcBef>
                <a:spcPct val="20000"/>
              </a:spcBef>
            </a:pPr>
            <a:r>
              <a:rPr lang="en-US" altLang="zh-CN" sz="2000" b="0" dirty="0">
                <a:solidFill>
                  <a:schemeClr val="bg1"/>
                </a:solidFill>
                <a:ea typeface="SimHei" panose="02010609060101010101" pitchFamily="49" charset="-122"/>
              </a:rPr>
              <a:t>7</a:t>
            </a:r>
          </a:p>
          <a:p>
            <a:pPr>
              <a:spcBef>
                <a:spcPct val="20000"/>
              </a:spcBef>
            </a:pPr>
            <a:r>
              <a:rPr lang="en-US" altLang="zh-CN" sz="2000" b="0" dirty="0">
                <a:solidFill>
                  <a:schemeClr val="bg1"/>
                </a:solidFill>
                <a:ea typeface="SimHei" panose="02010609060101010101" pitchFamily="49" charset="-122"/>
              </a:rPr>
              <a:t>6</a:t>
            </a:r>
          </a:p>
          <a:p>
            <a:pPr>
              <a:spcBef>
                <a:spcPct val="20000"/>
              </a:spcBef>
            </a:pPr>
            <a:r>
              <a:rPr lang="en-US" altLang="zh-CN" sz="2000" b="0" dirty="0">
                <a:solidFill>
                  <a:schemeClr val="bg1"/>
                </a:solidFill>
                <a:ea typeface="SimHei" panose="02010609060101010101" pitchFamily="49" charset="-122"/>
              </a:rPr>
              <a:t>5</a:t>
            </a:r>
          </a:p>
          <a:p>
            <a:pPr>
              <a:spcBef>
                <a:spcPct val="20000"/>
              </a:spcBef>
            </a:pPr>
            <a:r>
              <a:rPr lang="en-US" altLang="zh-CN" sz="2000" b="0" dirty="0">
                <a:solidFill>
                  <a:schemeClr val="bg1"/>
                </a:solidFill>
                <a:ea typeface="SimHei" panose="02010609060101010101" pitchFamily="49" charset="-122"/>
              </a:rPr>
              <a:t>4</a:t>
            </a:r>
          </a:p>
          <a:p>
            <a:pPr>
              <a:spcBef>
                <a:spcPct val="20000"/>
              </a:spcBef>
            </a:pPr>
            <a:r>
              <a:rPr lang="en-US" altLang="zh-CN" sz="2000" b="0" dirty="0">
                <a:solidFill>
                  <a:schemeClr val="bg1"/>
                </a:solidFill>
                <a:ea typeface="SimHei" panose="02010609060101010101" pitchFamily="49" charset="-122"/>
              </a:rPr>
              <a:t>3</a:t>
            </a:r>
          </a:p>
          <a:p>
            <a:pPr>
              <a:spcBef>
                <a:spcPct val="20000"/>
              </a:spcBef>
            </a:pPr>
            <a:r>
              <a:rPr lang="en-US" altLang="zh-CN" sz="2000" b="0" dirty="0">
                <a:solidFill>
                  <a:schemeClr val="bg1"/>
                </a:solidFill>
                <a:ea typeface="SimHei" panose="02010609060101010101" pitchFamily="49" charset="-122"/>
              </a:rPr>
              <a:t>2</a:t>
            </a:r>
          </a:p>
          <a:p>
            <a:pPr>
              <a:spcBef>
                <a:spcPct val="20000"/>
              </a:spcBef>
            </a:pPr>
            <a:r>
              <a:rPr lang="en-US" altLang="zh-CN" sz="2000" b="0" dirty="0">
                <a:solidFill>
                  <a:schemeClr val="bg1"/>
                </a:solidFill>
                <a:ea typeface="SimHei" panose="02010609060101010101" pitchFamily="49" charset="-122"/>
              </a:rPr>
              <a:t>1</a:t>
            </a:r>
          </a:p>
        </p:txBody>
      </p:sp>
      <p:sp>
        <p:nvSpPr>
          <p:cNvPr id="15" name="灯片编号占位符 14">
            <a:extLst>
              <a:ext uri="{FF2B5EF4-FFF2-40B4-BE49-F238E27FC236}">
                <a16:creationId xmlns:a16="http://schemas.microsoft.com/office/drawing/2014/main" id="{D4718B85-C701-498B-BEC8-67A70B49016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0626FCE3-5FF9-430D-BA0B-DE80AAE71673}" type="slidenum">
              <a:rPr lang="zh-CN" altLang="en-US" smtClean="0"/>
              <a:t>5</a:t>
            </a:fld>
            <a:endParaRPr lang="zh-CN" altLang="en-US"/>
          </a:p>
        </p:txBody>
      </p:sp>
      <p:grpSp>
        <p:nvGrpSpPr>
          <p:cNvPr id="38" name="组合 37">
            <a:extLst>
              <a:ext uri="{FF2B5EF4-FFF2-40B4-BE49-F238E27FC236}">
                <a16:creationId xmlns:a16="http://schemas.microsoft.com/office/drawing/2014/main" id="{9499C5C6-AD10-47E8-9C32-3E9751671625}"/>
              </a:ext>
            </a:extLst>
          </p:cNvPr>
          <p:cNvGrpSpPr/>
          <p:nvPr/>
        </p:nvGrpSpPr>
        <p:grpSpPr>
          <a:xfrm>
            <a:off x="531708" y="4112917"/>
            <a:ext cx="8419083" cy="2660915"/>
            <a:chOff x="531708" y="4112917"/>
            <a:chExt cx="8419083" cy="2660915"/>
          </a:xfrm>
        </p:grpSpPr>
        <p:sp>
          <p:nvSpPr>
            <p:cNvPr id="28" name="Line 4">
              <a:extLst>
                <a:ext uri="{FF2B5EF4-FFF2-40B4-BE49-F238E27FC236}">
                  <a16:creationId xmlns:a16="http://schemas.microsoft.com/office/drawing/2014/main" id="{D6EA38CC-3855-4101-8878-6C3985B896A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30940" y="4311355"/>
              <a:ext cx="6911789" cy="0"/>
            </a:xfrm>
            <a:prstGeom prst="line">
              <a:avLst/>
            </a:prstGeom>
            <a:ln>
              <a:headEnd/>
              <a:tailEnd type="triangle" w="med" len="med"/>
            </a:ln>
          </p:spPr>
          <p:style>
            <a:lnRef idx="2">
              <a:schemeClr val="dk1"/>
            </a:lnRef>
            <a:fillRef idx="0">
              <a:schemeClr val="dk1"/>
            </a:fillRef>
            <a:effectRef idx="1">
              <a:schemeClr val="dk1"/>
            </a:effectRef>
            <a:fontRef idx="minor">
              <a:schemeClr val="tx1"/>
            </a:fontRef>
          </p:style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29" name="Line 5">
              <a:extLst>
                <a:ext uri="{FF2B5EF4-FFF2-40B4-BE49-F238E27FC236}">
                  <a16:creationId xmlns:a16="http://schemas.microsoft.com/office/drawing/2014/main" id="{34FF54C0-9420-438B-A68F-856944CB1C1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30940" y="4311354"/>
              <a:ext cx="0" cy="2062368"/>
            </a:xfrm>
            <a:prstGeom prst="line">
              <a:avLst/>
            </a:prstGeom>
            <a:ln>
              <a:headEnd/>
              <a:tailEnd type="triangle" w="med" len="med"/>
            </a:ln>
          </p:spPr>
          <p:style>
            <a:lnRef idx="2">
              <a:schemeClr val="dk1"/>
            </a:lnRef>
            <a:fillRef idx="0">
              <a:schemeClr val="dk1"/>
            </a:fillRef>
            <a:effectRef idx="1">
              <a:schemeClr val="dk1"/>
            </a:effectRef>
            <a:fontRef idx="minor">
              <a:schemeClr val="tx1"/>
            </a:fontRef>
          </p:style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30" name="Text Box 6">
              <a:extLst>
                <a:ext uri="{FF2B5EF4-FFF2-40B4-BE49-F238E27FC236}">
                  <a16:creationId xmlns:a16="http://schemas.microsoft.com/office/drawing/2014/main" id="{C9BC8820-6EE9-4559-BE14-CFBCE0CA447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942729" y="4112917"/>
              <a:ext cx="1008062" cy="39687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defRPr b="1">
                  <a:solidFill>
                    <a:schemeClr val="tx1"/>
                  </a:solidFill>
                  <a:latin typeface="Arial" charset="0"/>
                  <a:ea typeface="宋体" charset="-122"/>
                </a:defRPr>
              </a:lvl1pPr>
              <a:lvl2pPr marL="742950" indent="-285750" eaLnBrk="0" hangingPunct="0">
                <a:defRPr b="1">
                  <a:solidFill>
                    <a:schemeClr val="tx1"/>
                  </a:solidFill>
                  <a:latin typeface="Arial" charset="0"/>
                  <a:ea typeface="宋体" charset="-122"/>
                </a:defRPr>
              </a:lvl2pPr>
              <a:lvl3pPr marL="1143000" indent="-228600" eaLnBrk="0" hangingPunct="0">
                <a:defRPr b="1">
                  <a:solidFill>
                    <a:schemeClr val="tx1"/>
                  </a:solidFill>
                  <a:latin typeface="Arial" charset="0"/>
                  <a:ea typeface="宋体" charset="-122"/>
                </a:defRPr>
              </a:lvl3pPr>
              <a:lvl4pPr marL="1600200" indent="-228600" eaLnBrk="0" hangingPunct="0">
                <a:defRPr b="1">
                  <a:solidFill>
                    <a:schemeClr val="tx1"/>
                  </a:solidFill>
                  <a:latin typeface="Arial" charset="0"/>
                  <a:ea typeface="宋体" charset="-122"/>
                </a:defRPr>
              </a:lvl4pPr>
              <a:lvl5pPr marL="2057400" indent="-228600" eaLnBrk="0" hangingPunct="0">
                <a:defRPr b="1">
                  <a:solidFill>
                    <a:schemeClr val="tx1"/>
                  </a:solidFill>
                  <a:latin typeface="Arial" charset="0"/>
                  <a:ea typeface="宋体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charset="0"/>
                  <a:ea typeface="宋体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charset="0"/>
                  <a:ea typeface="宋体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charset="0"/>
                  <a:ea typeface="宋体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charset="0"/>
                  <a:ea typeface="宋体" charset="-122"/>
                </a:defRPr>
              </a:lvl9pPr>
            </a:lstStyle>
            <a:p>
              <a:pPr>
                <a:spcBef>
                  <a:spcPct val="50000"/>
                </a:spcBef>
              </a:pPr>
              <a:r>
                <a:rPr lang="zh-CN" altLang="en-US" sz="2000" b="0" dirty="0">
                  <a:ea typeface="SimHei" panose="02010609060101010101" pitchFamily="49" charset="-122"/>
                </a:rPr>
                <a:t>时间</a:t>
              </a:r>
              <a:r>
                <a:rPr lang="en-US" altLang="zh-CN" sz="2000" b="0" dirty="0">
                  <a:ea typeface="SimHei" panose="02010609060101010101" pitchFamily="49" charset="-122"/>
                </a:rPr>
                <a:t>t</a:t>
              </a:r>
            </a:p>
          </p:txBody>
        </p:sp>
        <p:sp>
          <p:nvSpPr>
            <p:cNvPr id="31" name="Text Box 7">
              <a:extLst>
                <a:ext uri="{FF2B5EF4-FFF2-40B4-BE49-F238E27FC236}">
                  <a16:creationId xmlns:a16="http://schemas.microsoft.com/office/drawing/2014/main" id="{B4D27A25-C9EE-4B2D-9FE5-0BC9BB1060A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1708" y="6373722"/>
              <a:ext cx="1067115" cy="40011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>
              <a:spAutoFit/>
            </a:bodyPr>
            <a:lstStyle>
              <a:lvl1pPr eaLnBrk="0" hangingPunct="0">
                <a:defRPr b="1">
                  <a:solidFill>
                    <a:schemeClr val="tx1"/>
                  </a:solidFill>
                  <a:latin typeface="Arial" charset="0"/>
                  <a:ea typeface="宋体" charset="-122"/>
                </a:defRPr>
              </a:lvl1pPr>
              <a:lvl2pPr marL="742950" indent="-285750" eaLnBrk="0" hangingPunct="0">
                <a:defRPr b="1">
                  <a:solidFill>
                    <a:schemeClr val="tx1"/>
                  </a:solidFill>
                  <a:latin typeface="Arial" charset="0"/>
                  <a:ea typeface="宋体" charset="-122"/>
                </a:defRPr>
              </a:lvl2pPr>
              <a:lvl3pPr marL="1143000" indent="-228600" eaLnBrk="0" hangingPunct="0">
                <a:defRPr b="1">
                  <a:solidFill>
                    <a:schemeClr val="tx1"/>
                  </a:solidFill>
                  <a:latin typeface="Arial" charset="0"/>
                  <a:ea typeface="宋体" charset="-122"/>
                </a:defRPr>
              </a:lvl3pPr>
              <a:lvl4pPr marL="1600200" indent="-228600" eaLnBrk="0" hangingPunct="0">
                <a:defRPr b="1">
                  <a:solidFill>
                    <a:schemeClr val="tx1"/>
                  </a:solidFill>
                  <a:latin typeface="Arial" charset="0"/>
                  <a:ea typeface="宋体" charset="-122"/>
                </a:defRPr>
              </a:lvl4pPr>
              <a:lvl5pPr marL="2057400" indent="-228600" eaLnBrk="0" hangingPunct="0">
                <a:defRPr b="1">
                  <a:solidFill>
                    <a:schemeClr val="tx1"/>
                  </a:solidFill>
                  <a:latin typeface="Arial" charset="0"/>
                  <a:ea typeface="宋体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charset="0"/>
                  <a:ea typeface="宋体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charset="0"/>
                  <a:ea typeface="宋体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charset="0"/>
                  <a:ea typeface="宋体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charset="0"/>
                  <a:ea typeface="宋体" charset="-122"/>
                </a:defRPr>
              </a:lvl9pPr>
            </a:lstStyle>
            <a:p>
              <a:pPr>
                <a:spcBef>
                  <a:spcPct val="50000"/>
                </a:spcBef>
              </a:pPr>
              <a:r>
                <a:rPr lang="zh-CN" altLang="en-US" sz="2000" b="0" dirty="0">
                  <a:ea typeface="SimHei" panose="02010609060101010101" pitchFamily="49" charset="-122"/>
                </a:rPr>
                <a:t>指令数</a:t>
              </a:r>
            </a:p>
          </p:txBody>
        </p:sp>
        <p:graphicFrame>
          <p:nvGraphicFramePr>
            <p:cNvPr id="32" name="Group 39">
              <a:extLst>
                <a:ext uri="{FF2B5EF4-FFF2-40B4-BE49-F238E27FC236}">
                  <a16:creationId xmlns:a16="http://schemas.microsoft.com/office/drawing/2014/main" id="{38B655D9-D487-4246-A3D3-204BDD21B4A7}"/>
                </a:ext>
              </a:extLst>
            </p:cNvPr>
            <p:cNvGraphicFramePr>
              <a:graphicFrameLocks/>
            </p:cNvGraphicFramePr>
            <p:nvPr/>
          </p:nvGraphicFramePr>
          <p:xfrm>
            <a:off x="1030940" y="4311355"/>
            <a:ext cx="2832100" cy="327025"/>
          </p:xfrm>
          <a:graphic>
            <a:graphicData uri="http://schemas.openxmlformats.org/drawingml/2006/table">
              <a:tbl>
                <a:tblPr/>
                <a:tblGrid>
                  <a:gridCol w="566420">
                    <a:extLst>
                      <a:ext uri="{9D8B030D-6E8A-4147-A177-3AD203B41FA5}">
                        <a16:colId xmlns:a16="http://schemas.microsoft.com/office/drawing/2014/main" val="20000"/>
                      </a:ext>
                    </a:extLst>
                  </a:gridCol>
                  <a:gridCol w="566420">
                    <a:extLst>
                      <a:ext uri="{9D8B030D-6E8A-4147-A177-3AD203B41FA5}">
                        <a16:colId xmlns:a16="http://schemas.microsoft.com/office/drawing/2014/main" val="20001"/>
                      </a:ext>
                    </a:extLst>
                  </a:gridCol>
                  <a:gridCol w="566420">
                    <a:extLst>
                      <a:ext uri="{9D8B030D-6E8A-4147-A177-3AD203B41FA5}">
                        <a16:colId xmlns:a16="http://schemas.microsoft.com/office/drawing/2014/main" val="20002"/>
                      </a:ext>
                    </a:extLst>
                  </a:gridCol>
                  <a:gridCol w="566420">
                    <a:extLst>
                      <a:ext uri="{9D8B030D-6E8A-4147-A177-3AD203B41FA5}">
                        <a16:colId xmlns:a16="http://schemas.microsoft.com/office/drawing/2014/main" val="20003"/>
                      </a:ext>
                    </a:extLst>
                  </a:gridCol>
                  <a:gridCol w="566420">
                    <a:extLst>
                      <a:ext uri="{9D8B030D-6E8A-4147-A177-3AD203B41FA5}">
                        <a16:colId xmlns:a16="http://schemas.microsoft.com/office/drawing/2014/main" val="20004"/>
                      </a:ext>
                    </a:extLst>
                  </a:gridCol>
                </a:tblGrid>
                <a:tr h="327025">
                  <a:tc>
                    <a:txBody>
                      <a:bodyPr/>
                      <a:lstStyle/>
                      <a:p>
                        <a:pPr marL="0" marR="0" lvl="0" indent="0" algn="ctr" defTabSz="914400" rtl="0" eaLnBrk="1" fontAlgn="base" latinLnBrk="0" hangingPunct="1">
                          <a:lnSpc>
                            <a:spcPct val="100000"/>
                          </a:lnSpc>
                          <a:spcBef>
                            <a:spcPct val="20000"/>
                          </a:spcBef>
                          <a:spcAft>
                            <a:spcPct val="0"/>
                          </a:spcAft>
                          <a:buClr>
                            <a:schemeClr val="folHlink"/>
                          </a:buClr>
                          <a:buSzTx/>
                          <a:buFont typeface="Wingdings" pitchFamily="2" charset="2"/>
                          <a:buNone/>
                          <a:tabLst/>
                        </a:pPr>
                        <a:r>
                          <a:rPr kumimoji="0" lang="en-US" altLang="zh-CN" sz="1200" b="0" i="0" u="none" strike="noStrike" cap="none" normalizeH="0" baseline="0" dirty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latin typeface="Arial" charset="0"/>
                            <a:ea typeface="SimHei" panose="02010609060101010101" pitchFamily="49" charset="-122"/>
                          </a:rPr>
                          <a:t>IF 1</a:t>
                        </a:r>
                        <a:endParaRPr kumimoji="0" lang="zh-CN" altLang="en-US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SimHei" panose="02010609060101010101" pitchFamily="49" charset="-122"/>
                        </a:endParaRPr>
                      </a:p>
                    </a:txBody>
                    <a:tcPr marL="36000" marR="36000" marT="46125" marB="46125" anchor="ctr" horzOverflow="overflow">
                      <a:lnL w="28575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L>
                      <a:lnR w="1270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sm" len="sm"/>
                        <a:tailEnd type="none" w="sm" len="sm"/>
                      </a:lnR>
                      <a:lnT w="28575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T>
                      <a:lnB w="28575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B>
                      <a:lnTlToBr>
                        <a:noFill/>
                      </a:lnTlToBr>
                      <a:lnBlToTr>
                        <a:noFill/>
                      </a:lnBlToTr>
                      <a:noFill/>
                    </a:tcPr>
                  </a:tc>
                  <a:tc>
                    <a:txBody>
                      <a:bodyPr/>
                      <a:lstStyle/>
                      <a:p>
                        <a:pPr marL="0" marR="0" lvl="0" indent="0" algn="ctr" defTabSz="914400" rtl="0" eaLnBrk="1" fontAlgn="base" latinLnBrk="0" hangingPunct="1">
                          <a:lnSpc>
                            <a:spcPct val="100000"/>
                          </a:lnSpc>
                          <a:spcBef>
                            <a:spcPct val="20000"/>
                          </a:spcBef>
                          <a:spcAft>
                            <a:spcPct val="0"/>
                          </a:spcAft>
                          <a:buClr>
                            <a:schemeClr val="folHlink"/>
                          </a:buClr>
                          <a:buSzTx/>
                          <a:buFont typeface="Wingdings" pitchFamily="2" charset="2"/>
                          <a:buNone/>
                          <a:tabLst/>
                        </a:pPr>
                        <a:r>
                          <a:rPr kumimoji="0" lang="en-US" altLang="zh-CN" sz="1200" b="0" i="0" u="none" strike="noStrike" cap="none" normalizeH="0" baseline="0" dirty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latin typeface="Arial" charset="0"/>
                            <a:ea typeface="SimHei" panose="02010609060101010101" pitchFamily="49" charset="-122"/>
                          </a:rPr>
                          <a:t>ID 1</a:t>
                        </a:r>
                        <a:endParaRPr kumimoji="0" lang="zh-CN" altLang="en-US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SimHei" panose="02010609060101010101" pitchFamily="49" charset="-122"/>
                        </a:endParaRPr>
                      </a:p>
                    </a:txBody>
                    <a:tcPr marL="36000" marR="36000" marT="46125" marB="46125" anchor="ctr" horzOverflow="overflow">
                      <a:lnL w="1270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sm" len="sm"/>
                        <a:tailEnd type="none" w="sm" len="sm"/>
                      </a:lnL>
                      <a:lnR w="1270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sm" len="sm"/>
                        <a:tailEnd type="none" w="sm" len="sm"/>
                      </a:lnR>
                      <a:lnT w="28575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T>
                      <a:lnB w="28575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B>
                      <a:lnTlToBr>
                        <a:noFill/>
                      </a:lnTlToBr>
                      <a:lnBlToTr>
                        <a:noFill/>
                      </a:lnBlToTr>
                      <a:noFill/>
                    </a:tcPr>
                  </a:tc>
                  <a:tc>
                    <a:txBody>
                      <a:bodyPr/>
                      <a:lstStyle/>
                      <a:p>
                        <a:pPr marL="0" marR="0" lvl="0" indent="0" algn="ctr" defTabSz="914400" rtl="0" eaLnBrk="1" fontAlgn="base" latinLnBrk="0" hangingPunct="1">
                          <a:lnSpc>
                            <a:spcPct val="100000"/>
                          </a:lnSpc>
                          <a:spcBef>
                            <a:spcPct val="20000"/>
                          </a:spcBef>
                          <a:spcAft>
                            <a:spcPct val="0"/>
                          </a:spcAft>
                          <a:buClr>
                            <a:schemeClr val="folHlink"/>
                          </a:buClr>
                          <a:buSzTx/>
                          <a:buFont typeface="Wingdings" pitchFamily="2" charset="2"/>
                          <a:buNone/>
                          <a:tabLst/>
                        </a:pPr>
                        <a:r>
                          <a:rPr kumimoji="0" lang="en-US" altLang="zh-CN" sz="1200" b="0" i="0" u="none" strike="noStrike" cap="none" normalizeH="0" baseline="0" dirty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latin typeface="Arial" charset="0"/>
                            <a:ea typeface="SimHei" panose="02010609060101010101" pitchFamily="49" charset="-122"/>
                          </a:rPr>
                          <a:t>EX 1</a:t>
                        </a:r>
                        <a:endParaRPr kumimoji="0" lang="zh-CN" altLang="en-US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SimHei" panose="02010609060101010101" pitchFamily="49" charset="-122"/>
                        </a:endParaRPr>
                      </a:p>
                    </a:txBody>
                    <a:tcPr marL="36000" marR="36000" marT="46125" marB="46125" anchor="ctr" horzOverflow="overflow">
                      <a:lnL w="1270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sm" len="sm"/>
                        <a:tailEnd type="none" w="sm" len="sm"/>
                      </a:lnL>
                      <a:lnR w="1270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sm" len="sm"/>
                        <a:tailEnd type="none" w="sm" len="sm"/>
                      </a:lnR>
                      <a:lnT w="28575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T>
                      <a:lnB w="28575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B>
                      <a:lnTlToBr>
                        <a:noFill/>
                      </a:lnTlToBr>
                      <a:lnBlToTr>
                        <a:noFill/>
                      </a:lnBlToTr>
                      <a:noFill/>
                    </a:tcPr>
                  </a:tc>
                  <a:tc>
                    <a:txBody>
                      <a:bodyPr/>
                      <a:lstStyle/>
                      <a:p>
                        <a:pPr marL="0" marR="0" lvl="0" indent="0" algn="ctr" defTabSz="914400" rtl="0" eaLnBrk="1" fontAlgn="base" latinLnBrk="0" hangingPunct="1">
                          <a:lnSpc>
                            <a:spcPct val="100000"/>
                          </a:lnSpc>
                          <a:spcBef>
                            <a:spcPct val="20000"/>
                          </a:spcBef>
                          <a:spcAft>
                            <a:spcPct val="0"/>
                          </a:spcAft>
                          <a:buClr>
                            <a:schemeClr val="folHlink"/>
                          </a:buClr>
                          <a:buSzTx/>
                          <a:buFont typeface="Wingdings" pitchFamily="2" charset="2"/>
                          <a:buNone/>
                          <a:tabLst/>
                        </a:pPr>
                        <a:r>
                          <a:rPr kumimoji="0" lang="en-US" altLang="zh-CN" sz="1200" b="0" i="0" u="none" strike="noStrike" cap="none" normalizeH="0" baseline="0" dirty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latin typeface="Arial" charset="0"/>
                            <a:ea typeface="SimHei" panose="02010609060101010101" pitchFamily="49" charset="-122"/>
                          </a:rPr>
                          <a:t>MEM 1</a:t>
                        </a:r>
                        <a:endParaRPr kumimoji="0" lang="zh-CN" altLang="en-US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SimHei" panose="02010609060101010101" pitchFamily="49" charset="-122"/>
                        </a:endParaRPr>
                      </a:p>
                    </a:txBody>
                    <a:tcPr marL="36000" marR="36000" marT="46125" marB="46125" anchor="ctr" horzOverflow="overflow">
                      <a:lnL w="1270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sm" len="sm"/>
                        <a:tailEnd type="none" w="sm" len="sm"/>
                      </a:lnL>
                      <a:lnR w="1270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sm" len="sm"/>
                        <a:tailEnd type="none" w="sm" len="sm"/>
                      </a:lnR>
                      <a:lnT w="28575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T>
                      <a:lnB w="28575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B>
                      <a:lnTlToBr>
                        <a:noFill/>
                      </a:lnTlToBr>
                      <a:lnBlToTr>
                        <a:noFill/>
                      </a:lnBlToTr>
                      <a:noFill/>
                    </a:tcPr>
                  </a:tc>
                  <a:tc>
                    <a:txBody>
                      <a:bodyPr/>
                      <a:lstStyle/>
                      <a:p>
                        <a:pPr marL="0" marR="0" lvl="0" indent="0" algn="ctr" defTabSz="914400" rtl="0" eaLnBrk="1" fontAlgn="base" latinLnBrk="0" hangingPunct="1">
                          <a:lnSpc>
                            <a:spcPct val="100000"/>
                          </a:lnSpc>
                          <a:spcBef>
                            <a:spcPct val="20000"/>
                          </a:spcBef>
                          <a:spcAft>
                            <a:spcPct val="0"/>
                          </a:spcAft>
                          <a:buClr>
                            <a:schemeClr val="folHlink"/>
                          </a:buClr>
                          <a:buSzTx/>
                          <a:buFont typeface="Wingdings" pitchFamily="2" charset="2"/>
                          <a:buNone/>
                          <a:tabLst/>
                        </a:pPr>
                        <a:r>
                          <a:rPr kumimoji="0" lang="en-US" altLang="zh-CN" sz="1200" b="0" i="0" u="none" strike="noStrike" cap="none" normalizeH="0" baseline="0" dirty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latin typeface="Arial" charset="0"/>
                            <a:ea typeface="SimHei" panose="02010609060101010101" pitchFamily="49" charset="-122"/>
                          </a:rPr>
                          <a:t>WB 1</a:t>
                        </a:r>
                        <a:endParaRPr kumimoji="0" lang="zh-CN" altLang="en-US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SimHei" panose="02010609060101010101" pitchFamily="49" charset="-122"/>
                        </a:endParaRPr>
                      </a:p>
                    </a:txBody>
                    <a:tcPr marL="36000" marR="36000" marT="46125" marB="46125" anchor="ctr" horzOverflow="overflow">
                      <a:lnL w="1270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sm" len="sm"/>
                        <a:tailEnd type="none" w="sm" len="sm"/>
                      </a:lnL>
                      <a:lnR w="28575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R>
                      <a:lnT w="28575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T>
                      <a:lnB w="28575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B>
                      <a:lnTlToBr>
                        <a:noFill/>
                      </a:lnTlToBr>
                      <a:lnBlToTr>
                        <a:noFill/>
                      </a:lnBlToTr>
                      <a:noFill/>
                    </a:tcPr>
                  </a:tc>
                  <a:extLst>
                    <a:ext uri="{0D108BD9-81ED-4DB2-BD59-A6C34878D82A}">
                      <a16:rowId xmlns:a16="http://schemas.microsoft.com/office/drawing/2014/main" val="10000"/>
                    </a:ext>
                  </a:extLst>
                </a:tr>
              </a:tbl>
            </a:graphicData>
          </a:graphic>
        </p:graphicFrame>
        <p:graphicFrame>
          <p:nvGraphicFramePr>
            <p:cNvPr id="33" name="Group 39">
              <a:extLst>
                <a:ext uri="{FF2B5EF4-FFF2-40B4-BE49-F238E27FC236}">
                  <a16:creationId xmlns:a16="http://schemas.microsoft.com/office/drawing/2014/main" id="{49600E57-7202-4DC7-95BC-9B4FA088433B}"/>
                </a:ext>
              </a:extLst>
            </p:cNvPr>
            <p:cNvGraphicFramePr>
              <a:graphicFrameLocks/>
            </p:cNvGraphicFramePr>
            <p:nvPr/>
          </p:nvGraphicFramePr>
          <p:xfrm>
            <a:off x="1598823" y="4642009"/>
            <a:ext cx="2832100" cy="327025"/>
          </p:xfrm>
          <a:graphic>
            <a:graphicData uri="http://schemas.openxmlformats.org/drawingml/2006/table">
              <a:tbl>
                <a:tblPr/>
                <a:tblGrid>
                  <a:gridCol w="566420">
                    <a:extLst>
                      <a:ext uri="{9D8B030D-6E8A-4147-A177-3AD203B41FA5}">
                        <a16:colId xmlns:a16="http://schemas.microsoft.com/office/drawing/2014/main" val="20000"/>
                      </a:ext>
                    </a:extLst>
                  </a:gridCol>
                  <a:gridCol w="566420">
                    <a:extLst>
                      <a:ext uri="{9D8B030D-6E8A-4147-A177-3AD203B41FA5}">
                        <a16:colId xmlns:a16="http://schemas.microsoft.com/office/drawing/2014/main" val="20001"/>
                      </a:ext>
                    </a:extLst>
                  </a:gridCol>
                  <a:gridCol w="566420">
                    <a:extLst>
                      <a:ext uri="{9D8B030D-6E8A-4147-A177-3AD203B41FA5}">
                        <a16:colId xmlns:a16="http://schemas.microsoft.com/office/drawing/2014/main" val="20002"/>
                      </a:ext>
                    </a:extLst>
                  </a:gridCol>
                  <a:gridCol w="566420">
                    <a:extLst>
                      <a:ext uri="{9D8B030D-6E8A-4147-A177-3AD203B41FA5}">
                        <a16:colId xmlns:a16="http://schemas.microsoft.com/office/drawing/2014/main" val="20003"/>
                      </a:ext>
                    </a:extLst>
                  </a:gridCol>
                  <a:gridCol w="566420">
                    <a:extLst>
                      <a:ext uri="{9D8B030D-6E8A-4147-A177-3AD203B41FA5}">
                        <a16:colId xmlns:a16="http://schemas.microsoft.com/office/drawing/2014/main" val="20004"/>
                      </a:ext>
                    </a:extLst>
                  </a:gridCol>
                </a:tblGrid>
                <a:tr h="327025">
                  <a:tc>
                    <a:txBody>
                      <a:bodyPr/>
                      <a:lstStyle/>
                      <a:p>
                        <a:pPr marL="0" marR="0" lvl="0" indent="0" algn="ctr" defTabSz="914400" rtl="0" eaLnBrk="1" fontAlgn="base" latinLnBrk="0" hangingPunct="1">
                          <a:lnSpc>
                            <a:spcPct val="100000"/>
                          </a:lnSpc>
                          <a:spcBef>
                            <a:spcPct val="20000"/>
                          </a:spcBef>
                          <a:spcAft>
                            <a:spcPct val="0"/>
                          </a:spcAft>
                          <a:buClr>
                            <a:schemeClr val="folHlink"/>
                          </a:buClr>
                          <a:buSzTx/>
                          <a:buFont typeface="Wingdings" pitchFamily="2" charset="2"/>
                          <a:buNone/>
                          <a:tabLst/>
                        </a:pPr>
                        <a:r>
                          <a:rPr kumimoji="0" lang="en-US" altLang="zh-CN" sz="1200" b="0" i="0" u="none" strike="noStrike" cap="none" normalizeH="0" baseline="0" dirty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latin typeface="Arial" charset="0"/>
                            <a:ea typeface="SimHei" panose="02010609060101010101" pitchFamily="49" charset="-122"/>
                          </a:rPr>
                          <a:t>IF 2</a:t>
                        </a:r>
                        <a:endParaRPr kumimoji="0" lang="zh-CN" altLang="en-US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SimHei" panose="02010609060101010101" pitchFamily="49" charset="-122"/>
                        </a:endParaRPr>
                      </a:p>
                    </a:txBody>
                    <a:tcPr marL="36000" marR="36000" marT="46125" marB="46125" anchor="ctr" horzOverflow="overflow">
                      <a:lnL w="28575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L>
                      <a:lnR w="1270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sm" len="sm"/>
                        <a:tailEnd type="none" w="sm" len="sm"/>
                      </a:lnR>
                      <a:lnT w="28575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T>
                      <a:lnB w="28575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B>
                      <a:lnTlToBr>
                        <a:noFill/>
                      </a:lnTlToBr>
                      <a:lnBlToTr>
                        <a:noFill/>
                      </a:lnBlToTr>
                      <a:noFill/>
                    </a:tcPr>
                  </a:tc>
                  <a:tc>
                    <a:txBody>
                      <a:bodyPr/>
                      <a:lstStyle/>
                      <a:p>
                        <a:pPr marL="0" marR="0" lvl="0" indent="0" algn="ctr" defTabSz="914400" rtl="0" eaLnBrk="1" fontAlgn="base" latinLnBrk="0" hangingPunct="1">
                          <a:lnSpc>
                            <a:spcPct val="100000"/>
                          </a:lnSpc>
                          <a:spcBef>
                            <a:spcPct val="20000"/>
                          </a:spcBef>
                          <a:spcAft>
                            <a:spcPct val="0"/>
                          </a:spcAft>
                          <a:buClr>
                            <a:schemeClr val="folHlink"/>
                          </a:buClr>
                          <a:buSzTx/>
                          <a:buFont typeface="Wingdings" pitchFamily="2" charset="2"/>
                          <a:buNone/>
                          <a:tabLst/>
                        </a:pPr>
                        <a:r>
                          <a:rPr kumimoji="0" lang="en-US" altLang="zh-CN" sz="1200" b="0" i="0" u="none" strike="noStrike" cap="none" normalizeH="0" baseline="0" dirty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latin typeface="Arial" charset="0"/>
                            <a:ea typeface="SimHei" panose="02010609060101010101" pitchFamily="49" charset="-122"/>
                          </a:rPr>
                          <a:t>ID 2</a:t>
                        </a:r>
                        <a:endParaRPr kumimoji="0" lang="zh-CN" altLang="en-US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SimHei" panose="02010609060101010101" pitchFamily="49" charset="-122"/>
                        </a:endParaRPr>
                      </a:p>
                    </a:txBody>
                    <a:tcPr marL="36000" marR="36000" marT="46125" marB="46125" anchor="ctr" horzOverflow="overflow">
                      <a:lnL w="1270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sm" len="sm"/>
                        <a:tailEnd type="none" w="sm" len="sm"/>
                      </a:lnL>
                      <a:lnR w="1270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sm" len="sm"/>
                        <a:tailEnd type="none" w="sm" len="sm"/>
                      </a:lnR>
                      <a:lnT w="28575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T>
                      <a:lnB w="28575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B>
                      <a:lnTlToBr>
                        <a:noFill/>
                      </a:lnTlToBr>
                      <a:lnBlToTr>
                        <a:noFill/>
                      </a:lnBlToTr>
                      <a:noFill/>
                    </a:tcPr>
                  </a:tc>
                  <a:tc>
                    <a:txBody>
                      <a:bodyPr/>
                      <a:lstStyle/>
                      <a:p>
                        <a:pPr marL="0" marR="0" lvl="0" indent="0" algn="ctr" defTabSz="914400" rtl="0" eaLnBrk="1" fontAlgn="base" latinLnBrk="0" hangingPunct="1">
                          <a:lnSpc>
                            <a:spcPct val="100000"/>
                          </a:lnSpc>
                          <a:spcBef>
                            <a:spcPct val="20000"/>
                          </a:spcBef>
                          <a:spcAft>
                            <a:spcPct val="0"/>
                          </a:spcAft>
                          <a:buClr>
                            <a:schemeClr val="folHlink"/>
                          </a:buClr>
                          <a:buSzTx/>
                          <a:buFont typeface="Wingdings" pitchFamily="2" charset="2"/>
                          <a:buNone/>
                          <a:tabLst/>
                        </a:pPr>
                        <a:r>
                          <a:rPr kumimoji="0" lang="en-US" altLang="zh-CN" sz="1200" b="0" i="0" u="none" strike="noStrike" kern="1200" cap="none" normalizeH="0" baseline="0" dirty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latin typeface="Arial" charset="0"/>
                            <a:ea typeface="SimHei" panose="02010609060101010101" pitchFamily="49" charset="-122"/>
                            <a:cs typeface="+mn-cs"/>
                          </a:rPr>
                          <a:t>EX 2</a:t>
                        </a:r>
                        <a:endParaRPr kumimoji="0" lang="zh-CN" altLang="en-US" sz="12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SimHei" panose="02010609060101010101" pitchFamily="49" charset="-122"/>
                          <a:cs typeface="+mn-cs"/>
                        </a:endParaRPr>
                      </a:p>
                    </a:txBody>
                    <a:tcPr marL="36000" marR="36000" marT="46125" marB="46125" anchor="ctr" horzOverflow="overflow">
                      <a:lnL w="1270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sm" len="sm"/>
                        <a:tailEnd type="none" w="sm" len="sm"/>
                      </a:lnL>
                      <a:lnR w="1270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sm" len="sm"/>
                        <a:tailEnd type="none" w="sm" len="sm"/>
                      </a:lnR>
                      <a:lnT w="28575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T>
                      <a:lnB w="28575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B>
                      <a:lnTlToBr>
                        <a:noFill/>
                      </a:lnTlToBr>
                      <a:lnBlToTr>
                        <a:noFill/>
                      </a:lnBlToTr>
                      <a:noFill/>
                    </a:tcPr>
                  </a:tc>
                  <a:tc>
                    <a:txBody>
                      <a:bodyPr/>
                      <a:lstStyle/>
                      <a:p>
                        <a:pPr marL="0" marR="0" lvl="0" indent="0" algn="ctr" defTabSz="914400" rtl="0" eaLnBrk="1" fontAlgn="base" latinLnBrk="0" hangingPunct="1">
                          <a:lnSpc>
                            <a:spcPct val="100000"/>
                          </a:lnSpc>
                          <a:spcBef>
                            <a:spcPct val="20000"/>
                          </a:spcBef>
                          <a:spcAft>
                            <a:spcPct val="0"/>
                          </a:spcAft>
                          <a:buClr>
                            <a:schemeClr val="folHlink"/>
                          </a:buClr>
                          <a:buSzTx/>
                          <a:buFont typeface="Wingdings" pitchFamily="2" charset="2"/>
                          <a:buNone/>
                          <a:tabLst/>
                        </a:pPr>
                        <a:r>
                          <a:rPr kumimoji="0" lang="en-US" altLang="zh-CN" sz="1200" b="0" i="0" u="none" strike="noStrike" cap="none" normalizeH="0" baseline="0" dirty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latin typeface="Arial" charset="0"/>
                            <a:ea typeface="SimHei" panose="02010609060101010101" pitchFamily="49" charset="-122"/>
                          </a:rPr>
                          <a:t>MEM 2</a:t>
                        </a:r>
                        <a:endParaRPr kumimoji="0" lang="zh-CN" altLang="en-US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SimHei" panose="02010609060101010101" pitchFamily="49" charset="-122"/>
                        </a:endParaRPr>
                      </a:p>
                    </a:txBody>
                    <a:tcPr marL="36000" marR="36000" marT="46125" marB="46125" anchor="ctr" horzOverflow="overflow">
                      <a:lnL w="1270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sm" len="sm"/>
                        <a:tailEnd type="none" w="sm" len="sm"/>
                      </a:lnL>
                      <a:lnR w="1270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sm" len="sm"/>
                        <a:tailEnd type="none" w="sm" len="sm"/>
                      </a:lnR>
                      <a:lnT w="28575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T>
                      <a:lnB w="28575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B>
                      <a:lnTlToBr>
                        <a:noFill/>
                      </a:lnTlToBr>
                      <a:lnBlToTr>
                        <a:noFill/>
                      </a:lnBlToTr>
                      <a:noFill/>
                    </a:tcPr>
                  </a:tc>
                  <a:tc>
                    <a:txBody>
                      <a:bodyPr/>
                      <a:lstStyle/>
                      <a:p>
                        <a:pPr marL="0" marR="0" lvl="0" indent="0" algn="ctr" defTabSz="914400" rtl="0" eaLnBrk="1" fontAlgn="base" latinLnBrk="0" hangingPunct="1">
                          <a:lnSpc>
                            <a:spcPct val="100000"/>
                          </a:lnSpc>
                          <a:spcBef>
                            <a:spcPct val="20000"/>
                          </a:spcBef>
                          <a:spcAft>
                            <a:spcPct val="0"/>
                          </a:spcAft>
                          <a:buClr>
                            <a:schemeClr val="folHlink"/>
                          </a:buClr>
                          <a:buSzTx/>
                          <a:buFont typeface="Wingdings" pitchFamily="2" charset="2"/>
                          <a:buNone/>
                          <a:tabLst/>
                        </a:pPr>
                        <a:r>
                          <a:rPr kumimoji="0" lang="en-US" altLang="zh-CN" sz="1200" b="0" i="0" u="none" strike="noStrike" cap="none" normalizeH="0" baseline="0" dirty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latin typeface="Arial" charset="0"/>
                            <a:ea typeface="SimHei" panose="02010609060101010101" pitchFamily="49" charset="-122"/>
                          </a:rPr>
                          <a:t>WB 2</a:t>
                        </a:r>
                        <a:endParaRPr kumimoji="0" lang="zh-CN" altLang="en-US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SimHei" panose="02010609060101010101" pitchFamily="49" charset="-122"/>
                        </a:endParaRPr>
                      </a:p>
                    </a:txBody>
                    <a:tcPr marL="36000" marR="36000" marT="46125" marB="46125" anchor="ctr" horzOverflow="overflow">
                      <a:lnL w="1270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sm" len="sm"/>
                        <a:tailEnd type="none" w="sm" len="sm"/>
                      </a:lnL>
                      <a:lnR w="28575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R>
                      <a:lnT w="28575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T>
                      <a:lnB w="28575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B>
                      <a:lnTlToBr>
                        <a:noFill/>
                      </a:lnTlToBr>
                      <a:lnBlToTr>
                        <a:noFill/>
                      </a:lnBlToTr>
                      <a:noFill/>
                    </a:tcPr>
                  </a:tc>
                  <a:extLst>
                    <a:ext uri="{0D108BD9-81ED-4DB2-BD59-A6C34878D82A}">
                      <a16:rowId xmlns:a16="http://schemas.microsoft.com/office/drawing/2014/main" val="10000"/>
                    </a:ext>
                  </a:extLst>
                </a:tr>
              </a:tbl>
            </a:graphicData>
          </a:graphic>
        </p:graphicFrame>
        <p:graphicFrame>
          <p:nvGraphicFramePr>
            <p:cNvPr id="34" name="Group 39">
              <a:extLst>
                <a:ext uri="{FF2B5EF4-FFF2-40B4-BE49-F238E27FC236}">
                  <a16:creationId xmlns:a16="http://schemas.microsoft.com/office/drawing/2014/main" id="{7758BEEC-CFA9-4D26-84C9-44C69C4324CD}"/>
                </a:ext>
              </a:extLst>
            </p:cNvPr>
            <p:cNvGraphicFramePr>
              <a:graphicFrameLocks/>
            </p:cNvGraphicFramePr>
            <p:nvPr/>
          </p:nvGraphicFramePr>
          <p:xfrm>
            <a:off x="2166702" y="4972209"/>
            <a:ext cx="2832100" cy="327025"/>
          </p:xfrm>
          <a:graphic>
            <a:graphicData uri="http://schemas.openxmlformats.org/drawingml/2006/table">
              <a:tbl>
                <a:tblPr/>
                <a:tblGrid>
                  <a:gridCol w="566420">
                    <a:extLst>
                      <a:ext uri="{9D8B030D-6E8A-4147-A177-3AD203B41FA5}">
                        <a16:colId xmlns:a16="http://schemas.microsoft.com/office/drawing/2014/main" val="20000"/>
                      </a:ext>
                    </a:extLst>
                  </a:gridCol>
                  <a:gridCol w="566420">
                    <a:extLst>
                      <a:ext uri="{9D8B030D-6E8A-4147-A177-3AD203B41FA5}">
                        <a16:colId xmlns:a16="http://schemas.microsoft.com/office/drawing/2014/main" val="20001"/>
                      </a:ext>
                    </a:extLst>
                  </a:gridCol>
                  <a:gridCol w="566420">
                    <a:extLst>
                      <a:ext uri="{9D8B030D-6E8A-4147-A177-3AD203B41FA5}">
                        <a16:colId xmlns:a16="http://schemas.microsoft.com/office/drawing/2014/main" val="20002"/>
                      </a:ext>
                    </a:extLst>
                  </a:gridCol>
                  <a:gridCol w="566420">
                    <a:extLst>
                      <a:ext uri="{9D8B030D-6E8A-4147-A177-3AD203B41FA5}">
                        <a16:colId xmlns:a16="http://schemas.microsoft.com/office/drawing/2014/main" val="20003"/>
                      </a:ext>
                    </a:extLst>
                  </a:gridCol>
                  <a:gridCol w="566420">
                    <a:extLst>
                      <a:ext uri="{9D8B030D-6E8A-4147-A177-3AD203B41FA5}">
                        <a16:colId xmlns:a16="http://schemas.microsoft.com/office/drawing/2014/main" val="20004"/>
                      </a:ext>
                    </a:extLst>
                  </a:gridCol>
                </a:tblGrid>
                <a:tr h="327025">
                  <a:tc>
                    <a:txBody>
                      <a:bodyPr/>
                      <a:lstStyle/>
                      <a:p>
                        <a:pPr marL="0" marR="0" lvl="0" indent="0" algn="ctr" defTabSz="914400" rtl="0" eaLnBrk="1" fontAlgn="base" latinLnBrk="0" hangingPunct="1">
                          <a:lnSpc>
                            <a:spcPct val="100000"/>
                          </a:lnSpc>
                          <a:spcBef>
                            <a:spcPct val="20000"/>
                          </a:spcBef>
                          <a:spcAft>
                            <a:spcPct val="0"/>
                          </a:spcAft>
                          <a:buClr>
                            <a:schemeClr val="folHlink"/>
                          </a:buClr>
                          <a:buSzTx/>
                          <a:buFont typeface="Wingdings" pitchFamily="2" charset="2"/>
                          <a:buNone/>
                          <a:tabLst/>
                        </a:pPr>
                        <a:r>
                          <a:rPr kumimoji="0" lang="en-US" altLang="zh-CN" sz="1200" b="0" i="0" u="none" strike="noStrike" cap="none" normalizeH="0" baseline="0" dirty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latin typeface="Arial" charset="0"/>
                            <a:ea typeface="SimHei" panose="02010609060101010101" pitchFamily="49" charset="-122"/>
                          </a:rPr>
                          <a:t>IF 3</a:t>
                        </a:r>
                        <a:endParaRPr kumimoji="0" lang="zh-CN" altLang="en-US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SimHei" panose="02010609060101010101" pitchFamily="49" charset="-122"/>
                        </a:endParaRPr>
                      </a:p>
                    </a:txBody>
                    <a:tcPr marL="36000" marR="36000" marT="46125" marB="46125" anchor="ctr" horzOverflow="overflow">
                      <a:lnL w="28575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L>
                      <a:lnR w="1270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sm" len="sm"/>
                        <a:tailEnd type="none" w="sm" len="sm"/>
                      </a:lnR>
                      <a:lnT w="28575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T>
                      <a:lnB w="28575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B>
                      <a:lnTlToBr>
                        <a:noFill/>
                      </a:lnTlToBr>
                      <a:lnBlToTr>
                        <a:noFill/>
                      </a:lnBlToTr>
                      <a:noFill/>
                    </a:tcPr>
                  </a:tc>
                  <a:tc>
                    <a:txBody>
                      <a:bodyPr/>
                      <a:lstStyle/>
                      <a:p>
                        <a:pPr marL="0" marR="0" lvl="0" indent="0" algn="ctr" defTabSz="914400" rtl="0" eaLnBrk="1" fontAlgn="base" latinLnBrk="0" hangingPunct="1">
                          <a:lnSpc>
                            <a:spcPct val="100000"/>
                          </a:lnSpc>
                          <a:spcBef>
                            <a:spcPct val="20000"/>
                          </a:spcBef>
                          <a:spcAft>
                            <a:spcPct val="0"/>
                          </a:spcAft>
                          <a:buClr>
                            <a:schemeClr val="folHlink"/>
                          </a:buClr>
                          <a:buSzTx/>
                          <a:buFont typeface="Wingdings" pitchFamily="2" charset="2"/>
                          <a:buNone/>
                          <a:tabLst/>
                        </a:pPr>
                        <a:r>
                          <a:rPr kumimoji="0" lang="en-US" altLang="zh-CN" sz="1200" b="0" i="0" u="none" strike="noStrike" cap="none" normalizeH="0" baseline="0" dirty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latin typeface="Arial" charset="0"/>
                            <a:ea typeface="SimHei" panose="02010609060101010101" pitchFamily="49" charset="-122"/>
                          </a:rPr>
                          <a:t>ID 3</a:t>
                        </a:r>
                        <a:endParaRPr kumimoji="0" lang="zh-CN" altLang="en-US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SimHei" panose="02010609060101010101" pitchFamily="49" charset="-122"/>
                        </a:endParaRPr>
                      </a:p>
                    </a:txBody>
                    <a:tcPr marL="36000" marR="36000" marT="46125" marB="46125" anchor="ctr" horzOverflow="overflow">
                      <a:lnL w="1270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sm" len="sm"/>
                        <a:tailEnd type="none" w="sm" len="sm"/>
                      </a:lnL>
                      <a:lnR w="1270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sm" len="sm"/>
                        <a:tailEnd type="none" w="sm" len="sm"/>
                      </a:lnR>
                      <a:lnT w="28575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T>
                      <a:lnB w="28575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B>
                      <a:lnTlToBr>
                        <a:noFill/>
                      </a:lnTlToBr>
                      <a:lnBlToTr>
                        <a:noFill/>
                      </a:lnBlToTr>
                      <a:noFill/>
                    </a:tcPr>
                  </a:tc>
                  <a:tc>
                    <a:txBody>
                      <a:bodyPr/>
                      <a:lstStyle/>
                      <a:p>
                        <a:pPr marL="0" marR="0" lvl="0" indent="0" algn="ctr" defTabSz="914400" rtl="0" eaLnBrk="1" fontAlgn="base" latinLnBrk="0" hangingPunct="1">
                          <a:lnSpc>
                            <a:spcPct val="100000"/>
                          </a:lnSpc>
                          <a:spcBef>
                            <a:spcPct val="20000"/>
                          </a:spcBef>
                          <a:spcAft>
                            <a:spcPct val="0"/>
                          </a:spcAft>
                          <a:buClr>
                            <a:schemeClr val="folHlink"/>
                          </a:buClr>
                          <a:buSzTx/>
                          <a:buFont typeface="Wingdings" pitchFamily="2" charset="2"/>
                          <a:buNone/>
                          <a:tabLst/>
                        </a:pPr>
                        <a:r>
                          <a:rPr kumimoji="0" lang="en-US" altLang="zh-CN" sz="1200" b="0" i="0" u="none" strike="noStrike" cap="none" normalizeH="0" baseline="0" dirty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latin typeface="Arial" charset="0"/>
                            <a:ea typeface="SimHei" panose="02010609060101010101" pitchFamily="49" charset="-122"/>
                          </a:rPr>
                          <a:t>EX 3</a:t>
                        </a:r>
                        <a:endParaRPr kumimoji="0" lang="zh-CN" altLang="en-US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SimHei" panose="02010609060101010101" pitchFamily="49" charset="-122"/>
                        </a:endParaRPr>
                      </a:p>
                    </a:txBody>
                    <a:tcPr marL="36000" marR="36000" marT="46125" marB="46125" anchor="ctr" horzOverflow="overflow">
                      <a:lnL w="1270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sm" len="sm"/>
                        <a:tailEnd type="none" w="sm" len="sm"/>
                      </a:lnL>
                      <a:lnR w="1270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sm" len="sm"/>
                        <a:tailEnd type="none" w="sm" len="sm"/>
                      </a:lnR>
                      <a:lnT w="28575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T>
                      <a:lnB w="28575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B>
                      <a:lnTlToBr>
                        <a:noFill/>
                      </a:lnTlToBr>
                      <a:lnBlToTr>
                        <a:noFill/>
                      </a:lnBlToTr>
                      <a:noFill/>
                    </a:tcPr>
                  </a:tc>
                  <a:tc>
                    <a:txBody>
                      <a:bodyPr/>
                      <a:lstStyle/>
                      <a:p>
                        <a:pPr marL="0" marR="0" lvl="0" indent="0" algn="ctr" defTabSz="914400" rtl="0" eaLnBrk="1" fontAlgn="base" latinLnBrk="0" hangingPunct="1">
                          <a:lnSpc>
                            <a:spcPct val="100000"/>
                          </a:lnSpc>
                          <a:spcBef>
                            <a:spcPct val="20000"/>
                          </a:spcBef>
                          <a:spcAft>
                            <a:spcPct val="0"/>
                          </a:spcAft>
                          <a:buClr>
                            <a:schemeClr val="folHlink"/>
                          </a:buClr>
                          <a:buSzTx/>
                          <a:buFont typeface="Wingdings" pitchFamily="2" charset="2"/>
                          <a:buNone/>
                          <a:tabLst/>
                        </a:pPr>
                        <a:r>
                          <a:rPr kumimoji="0" lang="en-US" altLang="zh-CN" sz="1200" b="0" i="0" u="none" strike="noStrike" cap="none" normalizeH="0" baseline="0" dirty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latin typeface="Arial" charset="0"/>
                            <a:ea typeface="SimHei" panose="02010609060101010101" pitchFamily="49" charset="-122"/>
                          </a:rPr>
                          <a:t>MEM 3</a:t>
                        </a:r>
                        <a:endParaRPr kumimoji="0" lang="zh-CN" altLang="en-US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SimHei" panose="02010609060101010101" pitchFamily="49" charset="-122"/>
                        </a:endParaRPr>
                      </a:p>
                    </a:txBody>
                    <a:tcPr marL="36000" marR="36000" marT="46125" marB="46125" anchor="ctr" horzOverflow="overflow">
                      <a:lnL w="1270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sm" len="sm"/>
                        <a:tailEnd type="none" w="sm" len="sm"/>
                      </a:lnL>
                      <a:lnR w="1270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sm" len="sm"/>
                        <a:tailEnd type="none" w="sm" len="sm"/>
                      </a:lnR>
                      <a:lnT w="28575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T>
                      <a:lnB w="28575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B>
                      <a:lnTlToBr>
                        <a:noFill/>
                      </a:lnTlToBr>
                      <a:lnBlToTr>
                        <a:noFill/>
                      </a:lnBlToTr>
                      <a:noFill/>
                    </a:tcPr>
                  </a:tc>
                  <a:tc>
                    <a:txBody>
                      <a:bodyPr/>
                      <a:lstStyle/>
                      <a:p>
                        <a:pPr marL="0" marR="0" lvl="0" indent="0" algn="ctr" defTabSz="914400" rtl="0" eaLnBrk="1" fontAlgn="base" latinLnBrk="0" hangingPunct="1">
                          <a:lnSpc>
                            <a:spcPct val="100000"/>
                          </a:lnSpc>
                          <a:spcBef>
                            <a:spcPct val="20000"/>
                          </a:spcBef>
                          <a:spcAft>
                            <a:spcPct val="0"/>
                          </a:spcAft>
                          <a:buClr>
                            <a:schemeClr val="folHlink"/>
                          </a:buClr>
                          <a:buSzTx/>
                          <a:buFont typeface="Wingdings" pitchFamily="2" charset="2"/>
                          <a:buNone/>
                          <a:tabLst/>
                        </a:pPr>
                        <a:r>
                          <a:rPr kumimoji="0" lang="en-US" altLang="zh-CN" sz="1200" b="0" i="0" u="none" strike="noStrike" cap="none" normalizeH="0" baseline="0" dirty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latin typeface="Arial" charset="0"/>
                            <a:ea typeface="SimHei" panose="02010609060101010101" pitchFamily="49" charset="-122"/>
                          </a:rPr>
                          <a:t>WB 3</a:t>
                        </a:r>
                        <a:endParaRPr kumimoji="0" lang="zh-CN" altLang="en-US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SimHei" panose="02010609060101010101" pitchFamily="49" charset="-122"/>
                        </a:endParaRPr>
                      </a:p>
                    </a:txBody>
                    <a:tcPr marL="36000" marR="36000" marT="46125" marB="46125" anchor="ctr" horzOverflow="overflow">
                      <a:lnL w="1270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sm" len="sm"/>
                        <a:tailEnd type="none" w="sm" len="sm"/>
                      </a:lnL>
                      <a:lnR w="28575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R>
                      <a:lnT w="28575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T>
                      <a:lnB w="28575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B>
                      <a:lnTlToBr>
                        <a:noFill/>
                      </a:lnTlToBr>
                      <a:lnBlToTr>
                        <a:noFill/>
                      </a:lnBlToTr>
                      <a:noFill/>
                    </a:tcPr>
                  </a:tc>
                  <a:extLst>
                    <a:ext uri="{0D108BD9-81ED-4DB2-BD59-A6C34878D82A}">
                      <a16:rowId xmlns:a16="http://schemas.microsoft.com/office/drawing/2014/main" val="10000"/>
                    </a:ext>
                  </a:extLst>
                </a:tr>
              </a:tbl>
            </a:graphicData>
          </a:graphic>
        </p:graphicFrame>
        <p:graphicFrame>
          <p:nvGraphicFramePr>
            <p:cNvPr id="35" name="Group 39">
              <a:extLst>
                <a:ext uri="{FF2B5EF4-FFF2-40B4-BE49-F238E27FC236}">
                  <a16:creationId xmlns:a16="http://schemas.microsoft.com/office/drawing/2014/main" id="{E2E18A74-4E46-41F5-8621-1A989A26E28B}"/>
                </a:ext>
              </a:extLst>
            </p:cNvPr>
            <p:cNvGraphicFramePr>
              <a:graphicFrameLocks/>
            </p:cNvGraphicFramePr>
            <p:nvPr/>
          </p:nvGraphicFramePr>
          <p:xfrm>
            <a:off x="2732533" y="5297910"/>
            <a:ext cx="2832100" cy="327025"/>
          </p:xfrm>
          <a:graphic>
            <a:graphicData uri="http://schemas.openxmlformats.org/drawingml/2006/table">
              <a:tbl>
                <a:tblPr/>
                <a:tblGrid>
                  <a:gridCol w="566420">
                    <a:extLst>
                      <a:ext uri="{9D8B030D-6E8A-4147-A177-3AD203B41FA5}">
                        <a16:colId xmlns:a16="http://schemas.microsoft.com/office/drawing/2014/main" val="20000"/>
                      </a:ext>
                    </a:extLst>
                  </a:gridCol>
                  <a:gridCol w="566420">
                    <a:extLst>
                      <a:ext uri="{9D8B030D-6E8A-4147-A177-3AD203B41FA5}">
                        <a16:colId xmlns:a16="http://schemas.microsoft.com/office/drawing/2014/main" val="20001"/>
                      </a:ext>
                    </a:extLst>
                  </a:gridCol>
                  <a:gridCol w="566420">
                    <a:extLst>
                      <a:ext uri="{9D8B030D-6E8A-4147-A177-3AD203B41FA5}">
                        <a16:colId xmlns:a16="http://schemas.microsoft.com/office/drawing/2014/main" val="20002"/>
                      </a:ext>
                    </a:extLst>
                  </a:gridCol>
                  <a:gridCol w="566420">
                    <a:extLst>
                      <a:ext uri="{9D8B030D-6E8A-4147-A177-3AD203B41FA5}">
                        <a16:colId xmlns:a16="http://schemas.microsoft.com/office/drawing/2014/main" val="20003"/>
                      </a:ext>
                    </a:extLst>
                  </a:gridCol>
                  <a:gridCol w="566420">
                    <a:extLst>
                      <a:ext uri="{9D8B030D-6E8A-4147-A177-3AD203B41FA5}">
                        <a16:colId xmlns:a16="http://schemas.microsoft.com/office/drawing/2014/main" val="20004"/>
                      </a:ext>
                    </a:extLst>
                  </a:gridCol>
                </a:tblGrid>
                <a:tr h="327025">
                  <a:tc>
                    <a:txBody>
                      <a:bodyPr/>
                      <a:lstStyle/>
                      <a:p>
                        <a:pPr marL="0" marR="0" lvl="0" indent="0" algn="ctr" defTabSz="914400" rtl="0" eaLnBrk="1" fontAlgn="base" latinLnBrk="0" hangingPunct="1">
                          <a:lnSpc>
                            <a:spcPct val="100000"/>
                          </a:lnSpc>
                          <a:spcBef>
                            <a:spcPct val="20000"/>
                          </a:spcBef>
                          <a:spcAft>
                            <a:spcPct val="0"/>
                          </a:spcAft>
                          <a:buClr>
                            <a:schemeClr val="folHlink"/>
                          </a:buClr>
                          <a:buSzTx/>
                          <a:buFont typeface="Wingdings" pitchFamily="2" charset="2"/>
                          <a:buNone/>
                          <a:tabLst/>
                        </a:pPr>
                        <a:r>
                          <a:rPr kumimoji="0" lang="en-US" altLang="zh-CN" sz="1200" b="0" i="0" u="none" strike="noStrike" cap="none" normalizeH="0" baseline="0" dirty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latin typeface="Arial" charset="0"/>
                            <a:ea typeface="SimHei" panose="02010609060101010101" pitchFamily="49" charset="-122"/>
                          </a:rPr>
                          <a:t>IF 4</a:t>
                        </a:r>
                        <a:endParaRPr kumimoji="0" lang="zh-CN" altLang="en-US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SimHei" panose="02010609060101010101" pitchFamily="49" charset="-122"/>
                        </a:endParaRPr>
                      </a:p>
                    </a:txBody>
                    <a:tcPr marL="36000" marR="36000" marT="46125" marB="46125" anchor="ctr" horzOverflow="overflow">
                      <a:lnL w="28575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L>
                      <a:lnR w="1270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sm" len="sm"/>
                        <a:tailEnd type="none" w="sm" len="sm"/>
                      </a:lnR>
                      <a:lnT w="28575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T>
                      <a:lnB w="28575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B>
                      <a:lnTlToBr>
                        <a:noFill/>
                      </a:lnTlToBr>
                      <a:lnBlToTr>
                        <a:noFill/>
                      </a:lnBlToTr>
                      <a:noFill/>
                    </a:tcPr>
                  </a:tc>
                  <a:tc>
                    <a:txBody>
                      <a:bodyPr/>
                      <a:lstStyle/>
                      <a:p>
                        <a:pPr marL="0" marR="0" lvl="0" indent="0" algn="ctr" defTabSz="914400" rtl="0" eaLnBrk="1" fontAlgn="base" latinLnBrk="0" hangingPunct="1">
                          <a:lnSpc>
                            <a:spcPct val="100000"/>
                          </a:lnSpc>
                          <a:spcBef>
                            <a:spcPct val="20000"/>
                          </a:spcBef>
                          <a:spcAft>
                            <a:spcPct val="0"/>
                          </a:spcAft>
                          <a:buClr>
                            <a:schemeClr val="folHlink"/>
                          </a:buClr>
                          <a:buSzTx/>
                          <a:buFont typeface="Wingdings" pitchFamily="2" charset="2"/>
                          <a:buNone/>
                          <a:tabLst/>
                        </a:pPr>
                        <a:r>
                          <a:rPr kumimoji="0" lang="en-US" altLang="zh-CN" sz="1200" b="0" i="0" u="none" strike="noStrike" cap="none" normalizeH="0" baseline="0" dirty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latin typeface="Arial" charset="0"/>
                            <a:ea typeface="SimHei" panose="02010609060101010101" pitchFamily="49" charset="-122"/>
                          </a:rPr>
                          <a:t>ID 4</a:t>
                        </a:r>
                        <a:endParaRPr kumimoji="0" lang="zh-CN" altLang="en-US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SimHei" panose="02010609060101010101" pitchFamily="49" charset="-122"/>
                        </a:endParaRPr>
                      </a:p>
                    </a:txBody>
                    <a:tcPr marL="36000" marR="36000" marT="46125" marB="46125" anchor="ctr" horzOverflow="overflow">
                      <a:lnL w="1270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sm" len="sm"/>
                        <a:tailEnd type="none" w="sm" len="sm"/>
                      </a:lnL>
                      <a:lnR w="1270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sm" len="sm"/>
                        <a:tailEnd type="none" w="sm" len="sm"/>
                      </a:lnR>
                      <a:lnT w="28575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T>
                      <a:lnB w="28575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B>
                      <a:lnTlToBr>
                        <a:noFill/>
                      </a:lnTlToBr>
                      <a:lnBlToTr>
                        <a:noFill/>
                      </a:lnBlToTr>
                      <a:noFill/>
                    </a:tcPr>
                  </a:tc>
                  <a:tc>
                    <a:txBody>
                      <a:bodyPr/>
                      <a:lstStyle/>
                      <a:p>
                        <a:pPr marL="0" marR="0" lvl="0" indent="0" algn="ctr" defTabSz="914400" rtl="0" eaLnBrk="1" fontAlgn="base" latinLnBrk="0" hangingPunct="1">
                          <a:lnSpc>
                            <a:spcPct val="100000"/>
                          </a:lnSpc>
                          <a:spcBef>
                            <a:spcPct val="20000"/>
                          </a:spcBef>
                          <a:spcAft>
                            <a:spcPct val="0"/>
                          </a:spcAft>
                          <a:buClr>
                            <a:schemeClr val="folHlink"/>
                          </a:buClr>
                          <a:buSzTx/>
                          <a:buFont typeface="Wingdings" pitchFamily="2" charset="2"/>
                          <a:buNone/>
                          <a:tabLst/>
                        </a:pPr>
                        <a:r>
                          <a:rPr kumimoji="0" lang="en-US" altLang="zh-CN" sz="1200" b="0" i="0" u="none" strike="noStrike" cap="none" normalizeH="0" baseline="0" dirty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latin typeface="Arial" charset="0"/>
                            <a:ea typeface="SimHei" panose="02010609060101010101" pitchFamily="49" charset="-122"/>
                          </a:rPr>
                          <a:t>EX 4</a:t>
                        </a:r>
                        <a:endParaRPr kumimoji="0" lang="zh-CN" altLang="en-US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SimHei" panose="02010609060101010101" pitchFamily="49" charset="-122"/>
                        </a:endParaRPr>
                      </a:p>
                    </a:txBody>
                    <a:tcPr marL="36000" marR="36000" marT="46125" marB="46125" anchor="ctr" horzOverflow="overflow">
                      <a:lnL w="1270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sm" len="sm"/>
                        <a:tailEnd type="none" w="sm" len="sm"/>
                      </a:lnL>
                      <a:lnR w="1270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sm" len="sm"/>
                        <a:tailEnd type="none" w="sm" len="sm"/>
                      </a:lnR>
                      <a:lnT w="28575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T>
                      <a:lnB w="28575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B>
                      <a:lnTlToBr>
                        <a:noFill/>
                      </a:lnTlToBr>
                      <a:lnBlToTr>
                        <a:noFill/>
                      </a:lnBlToTr>
                      <a:noFill/>
                    </a:tcPr>
                  </a:tc>
                  <a:tc>
                    <a:txBody>
                      <a:bodyPr/>
                      <a:lstStyle/>
                      <a:p>
                        <a:pPr marL="0" marR="0" lvl="0" indent="0" algn="ctr" defTabSz="914400" rtl="0" eaLnBrk="1" fontAlgn="base" latinLnBrk="0" hangingPunct="1">
                          <a:lnSpc>
                            <a:spcPct val="100000"/>
                          </a:lnSpc>
                          <a:spcBef>
                            <a:spcPct val="20000"/>
                          </a:spcBef>
                          <a:spcAft>
                            <a:spcPct val="0"/>
                          </a:spcAft>
                          <a:buClr>
                            <a:schemeClr val="folHlink"/>
                          </a:buClr>
                          <a:buSzTx/>
                          <a:buFont typeface="Wingdings" pitchFamily="2" charset="2"/>
                          <a:buNone/>
                          <a:tabLst/>
                        </a:pPr>
                        <a:r>
                          <a:rPr kumimoji="0" lang="en-US" altLang="zh-CN" sz="1200" b="0" i="0" u="none" strike="noStrike" cap="none" normalizeH="0" baseline="0" dirty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latin typeface="Arial" charset="0"/>
                            <a:ea typeface="SimHei" panose="02010609060101010101" pitchFamily="49" charset="-122"/>
                          </a:rPr>
                          <a:t>MEM 4</a:t>
                        </a:r>
                        <a:endParaRPr kumimoji="0" lang="zh-CN" altLang="en-US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SimHei" panose="02010609060101010101" pitchFamily="49" charset="-122"/>
                        </a:endParaRPr>
                      </a:p>
                    </a:txBody>
                    <a:tcPr marL="36000" marR="36000" marT="46125" marB="46125" anchor="ctr" horzOverflow="overflow">
                      <a:lnL w="1270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sm" len="sm"/>
                        <a:tailEnd type="none" w="sm" len="sm"/>
                      </a:lnL>
                      <a:lnR w="1270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sm" len="sm"/>
                        <a:tailEnd type="none" w="sm" len="sm"/>
                      </a:lnR>
                      <a:lnT w="28575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T>
                      <a:lnB w="28575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B>
                      <a:lnTlToBr>
                        <a:noFill/>
                      </a:lnTlToBr>
                      <a:lnBlToTr>
                        <a:noFill/>
                      </a:lnBlToTr>
                      <a:noFill/>
                    </a:tcPr>
                  </a:tc>
                  <a:tc>
                    <a:txBody>
                      <a:bodyPr/>
                      <a:lstStyle/>
                      <a:p>
                        <a:pPr marL="0" marR="0" lvl="0" indent="0" algn="ctr" defTabSz="914400" rtl="0" eaLnBrk="1" fontAlgn="base" latinLnBrk="0" hangingPunct="1">
                          <a:lnSpc>
                            <a:spcPct val="100000"/>
                          </a:lnSpc>
                          <a:spcBef>
                            <a:spcPct val="20000"/>
                          </a:spcBef>
                          <a:spcAft>
                            <a:spcPct val="0"/>
                          </a:spcAft>
                          <a:buClr>
                            <a:schemeClr val="folHlink"/>
                          </a:buClr>
                          <a:buSzTx/>
                          <a:buFont typeface="Wingdings" pitchFamily="2" charset="2"/>
                          <a:buNone/>
                          <a:tabLst/>
                        </a:pPr>
                        <a:r>
                          <a:rPr kumimoji="0" lang="en-US" altLang="zh-CN" sz="1200" b="0" i="0" u="none" strike="noStrike" cap="none" normalizeH="0" baseline="0" dirty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latin typeface="Arial" charset="0"/>
                            <a:ea typeface="SimHei" panose="02010609060101010101" pitchFamily="49" charset="-122"/>
                          </a:rPr>
                          <a:t>WB 4</a:t>
                        </a:r>
                        <a:endParaRPr kumimoji="0" lang="zh-CN" altLang="en-US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SimHei" panose="02010609060101010101" pitchFamily="49" charset="-122"/>
                        </a:endParaRPr>
                      </a:p>
                    </a:txBody>
                    <a:tcPr marL="36000" marR="36000" marT="46125" marB="46125" anchor="ctr" horzOverflow="overflow">
                      <a:lnL w="1270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sm" len="sm"/>
                        <a:tailEnd type="none" w="sm" len="sm"/>
                      </a:lnL>
                      <a:lnR w="28575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R>
                      <a:lnT w="28575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T>
                      <a:lnB w="28575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B>
                      <a:lnTlToBr>
                        <a:noFill/>
                      </a:lnTlToBr>
                      <a:lnBlToTr>
                        <a:noFill/>
                      </a:lnBlToTr>
                      <a:noFill/>
                    </a:tcPr>
                  </a:tc>
                  <a:extLst>
                    <a:ext uri="{0D108BD9-81ED-4DB2-BD59-A6C34878D82A}">
                      <a16:rowId xmlns:a16="http://schemas.microsoft.com/office/drawing/2014/main" val="10000"/>
                    </a:ext>
                  </a:extLst>
                </a:tr>
              </a:tbl>
            </a:graphicData>
          </a:graphic>
        </p:graphicFrame>
        <p:graphicFrame>
          <p:nvGraphicFramePr>
            <p:cNvPr id="36" name="Group 39">
              <a:extLst>
                <a:ext uri="{FF2B5EF4-FFF2-40B4-BE49-F238E27FC236}">
                  <a16:creationId xmlns:a16="http://schemas.microsoft.com/office/drawing/2014/main" id="{C8D333BB-2EB2-4677-A6A6-DFF87574C797}"/>
                </a:ext>
              </a:extLst>
            </p:cNvPr>
            <p:cNvGraphicFramePr>
              <a:graphicFrameLocks/>
            </p:cNvGraphicFramePr>
            <p:nvPr/>
          </p:nvGraphicFramePr>
          <p:xfrm>
            <a:off x="3300416" y="5628564"/>
            <a:ext cx="2832100" cy="327025"/>
          </p:xfrm>
          <a:graphic>
            <a:graphicData uri="http://schemas.openxmlformats.org/drawingml/2006/table">
              <a:tbl>
                <a:tblPr/>
                <a:tblGrid>
                  <a:gridCol w="566420">
                    <a:extLst>
                      <a:ext uri="{9D8B030D-6E8A-4147-A177-3AD203B41FA5}">
                        <a16:colId xmlns:a16="http://schemas.microsoft.com/office/drawing/2014/main" val="20000"/>
                      </a:ext>
                    </a:extLst>
                  </a:gridCol>
                  <a:gridCol w="566420">
                    <a:extLst>
                      <a:ext uri="{9D8B030D-6E8A-4147-A177-3AD203B41FA5}">
                        <a16:colId xmlns:a16="http://schemas.microsoft.com/office/drawing/2014/main" val="20001"/>
                      </a:ext>
                    </a:extLst>
                  </a:gridCol>
                  <a:gridCol w="566420">
                    <a:extLst>
                      <a:ext uri="{9D8B030D-6E8A-4147-A177-3AD203B41FA5}">
                        <a16:colId xmlns:a16="http://schemas.microsoft.com/office/drawing/2014/main" val="20002"/>
                      </a:ext>
                    </a:extLst>
                  </a:gridCol>
                  <a:gridCol w="566420">
                    <a:extLst>
                      <a:ext uri="{9D8B030D-6E8A-4147-A177-3AD203B41FA5}">
                        <a16:colId xmlns:a16="http://schemas.microsoft.com/office/drawing/2014/main" val="20003"/>
                      </a:ext>
                    </a:extLst>
                  </a:gridCol>
                  <a:gridCol w="566420">
                    <a:extLst>
                      <a:ext uri="{9D8B030D-6E8A-4147-A177-3AD203B41FA5}">
                        <a16:colId xmlns:a16="http://schemas.microsoft.com/office/drawing/2014/main" val="20004"/>
                      </a:ext>
                    </a:extLst>
                  </a:gridCol>
                </a:tblGrid>
                <a:tr h="327025">
                  <a:tc>
                    <a:txBody>
                      <a:bodyPr/>
                      <a:lstStyle/>
                      <a:p>
                        <a:pPr marL="0" marR="0" lvl="0" indent="0" algn="ctr" defTabSz="914400" rtl="0" eaLnBrk="1" fontAlgn="base" latinLnBrk="0" hangingPunct="1">
                          <a:lnSpc>
                            <a:spcPct val="100000"/>
                          </a:lnSpc>
                          <a:spcBef>
                            <a:spcPct val="20000"/>
                          </a:spcBef>
                          <a:spcAft>
                            <a:spcPct val="0"/>
                          </a:spcAft>
                          <a:buClr>
                            <a:schemeClr val="folHlink"/>
                          </a:buClr>
                          <a:buSzTx/>
                          <a:buFont typeface="Wingdings" pitchFamily="2" charset="2"/>
                          <a:buNone/>
                          <a:tabLst/>
                        </a:pPr>
                        <a:r>
                          <a:rPr kumimoji="0" lang="en-US" altLang="zh-CN" sz="1200" b="0" i="0" u="none" strike="noStrike" cap="none" normalizeH="0" baseline="0" dirty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latin typeface="Arial" charset="0"/>
                            <a:ea typeface="SimHei" panose="02010609060101010101" pitchFamily="49" charset="-122"/>
                          </a:rPr>
                          <a:t>IF 5</a:t>
                        </a:r>
                        <a:endParaRPr kumimoji="0" lang="zh-CN" altLang="en-US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SimHei" panose="02010609060101010101" pitchFamily="49" charset="-122"/>
                        </a:endParaRPr>
                      </a:p>
                    </a:txBody>
                    <a:tcPr marL="36000" marR="36000" marT="46125" marB="46125" anchor="ctr" horzOverflow="overflow">
                      <a:lnL w="28575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L>
                      <a:lnR w="1270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sm" len="sm"/>
                        <a:tailEnd type="none" w="sm" len="sm"/>
                      </a:lnR>
                      <a:lnT w="28575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T>
                      <a:lnB w="28575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B>
                      <a:lnTlToBr>
                        <a:noFill/>
                      </a:lnTlToBr>
                      <a:lnBlToTr>
                        <a:noFill/>
                      </a:lnBlToTr>
                      <a:noFill/>
                    </a:tcPr>
                  </a:tc>
                  <a:tc>
                    <a:txBody>
                      <a:bodyPr/>
                      <a:lstStyle/>
                      <a:p>
                        <a:pPr marL="0" marR="0" lvl="0" indent="0" algn="ctr" defTabSz="914400" rtl="0" eaLnBrk="1" fontAlgn="base" latinLnBrk="0" hangingPunct="1">
                          <a:lnSpc>
                            <a:spcPct val="100000"/>
                          </a:lnSpc>
                          <a:spcBef>
                            <a:spcPct val="20000"/>
                          </a:spcBef>
                          <a:spcAft>
                            <a:spcPct val="0"/>
                          </a:spcAft>
                          <a:buClr>
                            <a:schemeClr val="folHlink"/>
                          </a:buClr>
                          <a:buSzTx/>
                          <a:buFont typeface="Wingdings" pitchFamily="2" charset="2"/>
                          <a:buNone/>
                          <a:tabLst/>
                        </a:pPr>
                        <a:r>
                          <a:rPr kumimoji="0" lang="en-US" altLang="zh-CN" sz="1200" b="0" i="0" u="none" strike="noStrike" cap="none" normalizeH="0" baseline="0" dirty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latin typeface="Arial" charset="0"/>
                            <a:ea typeface="SimHei" panose="02010609060101010101" pitchFamily="49" charset="-122"/>
                          </a:rPr>
                          <a:t>ID 5</a:t>
                        </a:r>
                        <a:endParaRPr kumimoji="0" lang="zh-CN" altLang="en-US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SimHei" panose="02010609060101010101" pitchFamily="49" charset="-122"/>
                        </a:endParaRPr>
                      </a:p>
                    </a:txBody>
                    <a:tcPr marL="36000" marR="36000" marT="46125" marB="46125" anchor="ctr" horzOverflow="overflow">
                      <a:lnL w="1270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sm" len="sm"/>
                        <a:tailEnd type="none" w="sm" len="sm"/>
                      </a:lnL>
                      <a:lnR w="1270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sm" len="sm"/>
                        <a:tailEnd type="none" w="sm" len="sm"/>
                      </a:lnR>
                      <a:lnT w="28575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T>
                      <a:lnB w="28575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B>
                      <a:lnTlToBr>
                        <a:noFill/>
                      </a:lnTlToBr>
                      <a:lnBlToTr>
                        <a:noFill/>
                      </a:lnBlToTr>
                      <a:noFill/>
                    </a:tcPr>
                  </a:tc>
                  <a:tc>
                    <a:txBody>
                      <a:bodyPr/>
                      <a:lstStyle/>
                      <a:p>
                        <a:pPr marL="0" marR="0" lvl="0" indent="0" algn="ctr" defTabSz="914400" rtl="0" eaLnBrk="1" fontAlgn="base" latinLnBrk="0" hangingPunct="1">
                          <a:lnSpc>
                            <a:spcPct val="100000"/>
                          </a:lnSpc>
                          <a:spcBef>
                            <a:spcPct val="20000"/>
                          </a:spcBef>
                          <a:spcAft>
                            <a:spcPct val="0"/>
                          </a:spcAft>
                          <a:buClr>
                            <a:schemeClr val="folHlink"/>
                          </a:buClr>
                          <a:buSzTx/>
                          <a:buFont typeface="Wingdings" pitchFamily="2" charset="2"/>
                          <a:buNone/>
                          <a:tabLst/>
                        </a:pPr>
                        <a:r>
                          <a:rPr kumimoji="0" lang="en-US" altLang="zh-CN" sz="1200" b="0" i="0" u="none" strike="noStrike" kern="1200" cap="none" normalizeH="0" baseline="0" dirty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latin typeface="Arial" charset="0"/>
                            <a:ea typeface="SimHei" panose="02010609060101010101" pitchFamily="49" charset="-122"/>
                            <a:cs typeface="+mn-cs"/>
                          </a:rPr>
                          <a:t>EX 5</a:t>
                        </a:r>
                        <a:endParaRPr kumimoji="0" lang="zh-CN" altLang="en-US" sz="12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SimHei" panose="02010609060101010101" pitchFamily="49" charset="-122"/>
                          <a:cs typeface="+mn-cs"/>
                        </a:endParaRPr>
                      </a:p>
                    </a:txBody>
                    <a:tcPr marL="36000" marR="36000" marT="46125" marB="46125" anchor="ctr" horzOverflow="overflow">
                      <a:lnL w="1270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sm" len="sm"/>
                        <a:tailEnd type="none" w="sm" len="sm"/>
                      </a:lnL>
                      <a:lnR w="1270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sm" len="sm"/>
                        <a:tailEnd type="none" w="sm" len="sm"/>
                      </a:lnR>
                      <a:lnT w="28575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T>
                      <a:lnB w="28575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B>
                      <a:lnTlToBr>
                        <a:noFill/>
                      </a:lnTlToBr>
                      <a:lnBlToTr>
                        <a:noFill/>
                      </a:lnBlToTr>
                      <a:noFill/>
                    </a:tcPr>
                  </a:tc>
                  <a:tc>
                    <a:txBody>
                      <a:bodyPr/>
                      <a:lstStyle/>
                      <a:p>
                        <a:pPr marL="0" marR="0" lvl="0" indent="0" algn="ctr" defTabSz="914400" rtl="0" eaLnBrk="1" fontAlgn="base" latinLnBrk="0" hangingPunct="1">
                          <a:lnSpc>
                            <a:spcPct val="100000"/>
                          </a:lnSpc>
                          <a:spcBef>
                            <a:spcPct val="20000"/>
                          </a:spcBef>
                          <a:spcAft>
                            <a:spcPct val="0"/>
                          </a:spcAft>
                          <a:buClr>
                            <a:schemeClr val="folHlink"/>
                          </a:buClr>
                          <a:buSzTx/>
                          <a:buFont typeface="Wingdings" pitchFamily="2" charset="2"/>
                          <a:buNone/>
                          <a:tabLst/>
                        </a:pPr>
                        <a:r>
                          <a:rPr kumimoji="0" lang="en-US" altLang="zh-CN" sz="1200" b="0" i="0" u="none" strike="noStrike" cap="none" normalizeH="0" baseline="0" dirty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latin typeface="Arial" charset="0"/>
                            <a:ea typeface="SimHei" panose="02010609060101010101" pitchFamily="49" charset="-122"/>
                          </a:rPr>
                          <a:t>MEM 5</a:t>
                        </a:r>
                        <a:endParaRPr kumimoji="0" lang="zh-CN" altLang="en-US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SimHei" panose="02010609060101010101" pitchFamily="49" charset="-122"/>
                        </a:endParaRPr>
                      </a:p>
                    </a:txBody>
                    <a:tcPr marL="36000" marR="36000" marT="46125" marB="46125" anchor="ctr" horzOverflow="overflow">
                      <a:lnL w="1270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sm" len="sm"/>
                        <a:tailEnd type="none" w="sm" len="sm"/>
                      </a:lnL>
                      <a:lnR w="1270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sm" len="sm"/>
                        <a:tailEnd type="none" w="sm" len="sm"/>
                      </a:lnR>
                      <a:lnT w="28575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T>
                      <a:lnB w="28575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B>
                      <a:lnTlToBr>
                        <a:noFill/>
                      </a:lnTlToBr>
                      <a:lnBlToTr>
                        <a:noFill/>
                      </a:lnBlToTr>
                      <a:noFill/>
                    </a:tcPr>
                  </a:tc>
                  <a:tc>
                    <a:txBody>
                      <a:bodyPr/>
                      <a:lstStyle/>
                      <a:p>
                        <a:pPr marL="0" marR="0" lvl="0" indent="0" algn="ctr" defTabSz="914400" rtl="0" eaLnBrk="1" fontAlgn="base" latinLnBrk="0" hangingPunct="1">
                          <a:lnSpc>
                            <a:spcPct val="100000"/>
                          </a:lnSpc>
                          <a:spcBef>
                            <a:spcPct val="20000"/>
                          </a:spcBef>
                          <a:spcAft>
                            <a:spcPct val="0"/>
                          </a:spcAft>
                          <a:buClr>
                            <a:schemeClr val="folHlink"/>
                          </a:buClr>
                          <a:buSzTx/>
                          <a:buFont typeface="Wingdings" pitchFamily="2" charset="2"/>
                          <a:buNone/>
                          <a:tabLst/>
                        </a:pPr>
                        <a:r>
                          <a:rPr kumimoji="0" lang="en-US" altLang="zh-CN" sz="1200" b="0" i="0" u="none" strike="noStrike" cap="none" normalizeH="0" baseline="0" dirty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latin typeface="Arial" charset="0"/>
                            <a:ea typeface="SimHei" panose="02010609060101010101" pitchFamily="49" charset="-122"/>
                          </a:rPr>
                          <a:t>WB 5</a:t>
                        </a:r>
                        <a:endParaRPr kumimoji="0" lang="zh-CN" altLang="en-US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SimHei" panose="02010609060101010101" pitchFamily="49" charset="-122"/>
                        </a:endParaRPr>
                      </a:p>
                    </a:txBody>
                    <a:tcPr marL="36000" marR="36000" marT="46125" marB="46125" anchor="ctr" horzOverflow="overflow">
                      <a:lnL w="1270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sm" len="sm"/>
                        <a:tailEnd type="none" w="sm" len="sm"/>
                      </a:lnL>
                      <a:lnR w="28575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R>
                      <a:lnT w="28575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T>
                      <a:lnB w="28575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B>
                      <a:lnTlToBr>
                        <a:noFill/>
                      </a:lnTlToBr>
                      <a:lnBlToTr>
                        <a:noFill/>
                      </a:lnBlToTr>
                      <a:noFill/>
                    </a:tcPr>
                  </a:tc>
                  <a:extLst>
                    <a:ext uri="{0D108BD9-81ED-4DB2-BD59-A6C34878D82A}">
                      <a16:rowId xmlns:a16="http://schemas.microsoft.com/office/drawing/2014/main" val="10000"/>
                    </a:ext>
                  </a:extLst>
                </a:tr>
              </a:tbl>
            </a:graphicData>
          </a:graphic>
        </p:graphicFrame>
        <p:graphicFrame>
          <p:nvGraphicFramePr>
            <p:cNvPr id="37" name="Group 39">
              <a:extLst>
                <a:ext uri="{FF2B5EF4-FFF2-40B4-BE49-F238E27FC236}">
                  <a16:creationId xmlns:a16="http://schemas.microsoft.com/office/drawing/2014/main" id="{C2B056E2-3E18-4121-9848-265170191E6C}"/>
                </a:ext>
              </a:extLst>
            </p:cNvPr>
            <p:cNvGraphicFramePr>
              <a:graphicFrameLocks/>
            </p:cNvGraphicFramePr>
            <p:nvPr/>
          </p:nvGraphicFramePr>
          <p:xfrm>
            <a:off x="3868295" y="5958764"/>
            <a:ext cx="2832100" cy="327025"/>
          </p:xfrm>
          <a:graphic>
            <a:graphicData uri="http://schemas.openxmlformats.org/drawingml/2006/table">
              <a:tbl>
                <a:tblPr/>
                <a:tblGrid>
                  <a:gridCol w="566420">
                    <a:extLst>
                      <a:ext uri="{9D8B030D-6E8A-4147-A177-3AD203B41FA5}">
                        <a16:colId xmlns:a16="http://schemas.microsoft.com/office/drawing/2014/main" val="20000"/>
                      </a:ext>
                    </a:extLst>
                  </a:gridCol>
                  <a:gridCol w="566420">
                    <a:extLst>
                      <a:ext uri="{9D8B030D-6E8A-4147-A177-3AD203B41FA5}">
                        <a16:colId xmlns:a16="http://schemas.microsoft.com/office/drawing/2014/main" val="20001"/>
                      </a:ext>
                    </a:extLst>
                  </a:gridCol>
                  <a:gridCol w="566420">
                    <a:extLst>
                      <a:ext uri="{9D8B030D-6E8A-4147-A177-3AD203B41FA5}">
                        <a16:colId xmlns:a16="http://schemas.microsoft.com/office/drawing/2014/main" val="20002"/>
                      </a:ext>
                    </a:extLst>
                  </a:gridCol>
                  <a:gridCol w="566420">
                    <a:extLst>
                      <a:ext uri="{9D8B030D-6E8A-4147-A177-3AD203B41FA5}">
                        <a16:colId xmlns:a16="http://schemas.microsoft.com/office/drawing/2014/main" val="20003"/>
                      </a:ext>
                    </a:extLst>
                  </a:gridCol>
                  <a:gridCol w="566420">
                    <a:extLst>
                      <a:ext uri="{9D8B030D-6E8A-4147-A177-3AD203B41FA5}">
                        <a16:colId xmlns:a16="http://schemas.microsoft.com/office/drawing/2014/main" val="20004"/>
                      </a:ext>
                    </a:extLst>
                  </a:gridCol>
                </a:tblGrid>
                <a:tr h="327025">
                  <a:tc>
                    <a:txBody>
                      <a:bodyPr/>
                      <a:lstStyle/>
                      <a:p>
                        <a:pPr marL="0" marR="0" lvl="0" indent="0" algn="ctr" defTabSz="914400" rtl="0" eaLnBrk="1" fontAlgn="base" latinLnBrk="0" hangingPunct="1">
                          <a:lnSpc>
                            <a:spcPct val="100000"/>
                          </a:lnSpc>
                          <a:spcBef>
                            <a:spcPct val="20000"/>
                          </a:spcBef>
                          <a:spcAft>
                            <a:spcPct val="0"/>
                          </a:spcAft>
                          <a:buClr>
                            <a:schemeClr val="folHlink"/>
                          </a:buClr>
                          <a:buSzTx/>
                          <a:buFont typeface="Wingdings" pitchFamily="2" charset="2"/>
                          <a:buNone/>
                          <a:tabLst/>
                        </a:pPr>
                        <a:r>
                          <a:rPr kumimoji="0" lang="en-US" altLang="zh-CN" sz="1200" b="0" i="0" u="none" strike="noStrike" cap="none" normalizeH="0" baseline="0" dirty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latin typeface="Arial" charset="0"/>
                            <a:ea typeface="SimHei" panose="02010609060101010101" pitchFamily="49" charset="-122"/>
                          </a:rPr>
                          <a:t>IF 6</a:t>
                        </a:r>
                        <a:endParaRPr kumimoji="0" lang="zh-CN" altLang="en-US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SimHei" panose="02010609060101010101" pitchFamily="49" charset="-122"/>
                        </a:endParaRPr>
                      </a:p>
                    </a:txBody>
                    <a:tcPr marL="36000" marR="36000" marT="46125" marB="46125" anchor="ctr" horzOverflow="overflow">
                      <a:lnL w="28575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L>
                      <a:lnR w="1270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sm" len="sm"/>
                        <a:tailEnd type="none" w="sm" len="sm"/>
                      </a:lnR>
                      <a:lnT w="28575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T>
                      <a:lnB w="28575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B>
                      <a:lnTlToBr>
                        <a:noFill/>
                      </a:lnTlToBr>
                      <a:lnBlToTr>
                        <a:noFill/>
                      </a:lnBlToTr>
                      <a:noFill/>
                    </a:tcPr>
                  </a:tc>
                  <a:tc>
                    <a:txBody>
                      <a:bodyPr/>
                      <a:lstStyle/>
                      <a:p>
                        <a:pPr marL="0" marR="0" lvl="0" indent="0" algn="ctr" defTabSz="914400" rtl="0" eaLnBrk="1" fontAlgn="base" latinLnBrk="0" hangingPunct="1">
                          <a:lnSpc>
                            <a:spcPct val="100000"/>
                          </a:lnSpc>
                          <a:spcBef>
                            <a:spcPct val="20000"/>
                          </a:spcBef>
                          <a:spcAft>
                            <a:spcPct val="0"/>
                          </a:spcAft>
                          <a:buClr>
                            <a:schemeClr val="folHlink"/>
                          </a:buClr>
                          <a:buSzTx/>
                          <a:buFont typeface="Wingdings" pitchFamily="2" charset="2"/>
                          <a:buNone/>
                          <a:tabLst/>
                        </a:pPr>
                        <a:r>
                          <a:rPr kumimoji="0" lang="en-US" altLang="zh-CN" sz="1200" b="0" i="0" u="none" strike="noStrike" cap="none" normalizeH="0" baseline="0" dirty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latin typeface="Arial" charset="0"/>
                            <a:ea typeface="SimHei" panose="02010609060101010101" pitchFamily="49" charset="-122"/>
                          </a:rPr>
                          <a:t>ID 6</a:t>
                        </a:r>
                        <a:endParaRPr kumimoji="0" lang="zh-CN" altLang="en-US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SimHei" panose="02010609060101010101" pitchFamily="49" charset="-122"/>
                        </a:endParaRPr>
                      </a:p>
                    </a:txBody>
                    <a:tcPr marL="36000" marR="36000" marT="46125" marB="46125" anchor="ctr" horzOverflow="overflow">
                      <a:lnL w="1270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sm" len="sm"/>
                        <a:tailEnd type="none" w="sm" len="sm"/>
                      </a:lnL>
                      <a:lnR w="1270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sm" len="sm"/>
                        <a:tailEnd type="none" w="sm" len="sm"/>
                      </a:lnR>
                      <a:lnT w="28575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T>
                      <a:lnB w="28575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B>
                      <a:lnTlToBr>
                        <a:noFill/>
                      </a:lnTlToBr>
                      <a:lnBlToTr>
                        <a:noFill/>
                      </a:lnBlToTr>
                      <a:noFill/>
                    </a:tcPr>
                  </a:tc>
                  <a:tc>
                    <a:txBody>
                      <a:bodyPr/>
                      <a:lstStyle/>
                      <a:p>
                        <a:pPr marL="0" marR="0" lvl="0" indent="0" algn="ctr" defTabSz="914400" rtl="0" eaLnBrk="1" fontAlgn="base" latinLnBrk="0" hangingPunct="1">
                          <a:lnSpc>
                            <a:spcPct val="100000"/>
                          </a:lnSpc>
                          <a:spcBef>
                            <a:spcPct val="20000"/>
                          </a:spcBef>
                          <a:spcAft>
                            <a:spcPct val="0"/>
                          </a:spcAft>
                          <a:buClr>
                            <a:schemeClr val="folHlink"/>
                          </a:buClr>
                          <a:buSzTx/>
                          <a:buFont typeface="Wingdings" pitchFamily="2" charset="2"/>
                          <a:buNone/>
                          <a:tabLst/>
                        </a:pPr>
                        <a:r>
                          <a:rPr kumimoji="0" lang="en-US" altLang="zh-CN" sz="1200" b="0" i="0" u="none" strike="noStrike" cap="none" normalizeH="0" baseline="0" dirty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latin typeface="Arial" charset="0"/>
                            <a:ea typeface="SimHei" panose="02010609060101010101" pitchFamily="49" charset="-122"/>
                          </a:rPr>
                          <a:t>EX 6</a:t>
                        </a:r>
                        <a:endParaRPr kumimoji="0" lang="zh-CN" altLang="en-US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SimHei" panose="02010609060101010101" pitchFamily="49" charset="-122"/>
                        </a:endParaRPr>
                      </a:p>
                    </a:txBody>
                    <a:tcPr marL="36000" marR="36000" marT="46125" marB="46125" anchor="ctr" horzOverflow="overflow">
                      <a:lnL w="1270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sm" len="sm"/>
                        <a:tailEnd type="none" w="sm" len="sm"/>
                      </a:lnL>
                      <a:lnR w="1270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sm" len="sm"/>
                        <a:tailEnd type="none" w="sm" len="sm"/>
                      </a:lnR>
                      <a:lnT w="28575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T>
                      <a:lnB w="28575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B>
                      <a:lnTlToBr>
                        <a:noFill/>
                      </a:lnTlToBr>
                      <a:lnBlToTr>
                        <a:noFill/>
                      </a:lnBlToTr>
                      <a:noFill/>
                    </a:tcPr>
                  </a:tc>
                  <a:tc>
                    <a:txBody>
                      <a:bodyPr/>
                      <a:lstStyle/>
                      <a:p>
                        <a:pPr marL="0" marR="0" lvl="0" indent="0" algn="ctr" defTabSz="914400" rtl="0" eaLnBrk="1" fontAlgn="base" latinLnBrk="0" hangingPunct="1">
                          <a:lnSpc>
                            <a:spcPct val="100000"/>
                          </a:lnSpc>
                          <a:spcBef>
                            <a:spcPct val="20000"/>
                          </a:spcBef>
                          <a:spcAft>
                            <a:spcPct val="0"/>
                          </a:spcAft>
                          <a:buClr>
                            <a:schemeClr val="folHlink"/>
                          </a:buClr>
                          <a:buSzTx/>
                          <a:buFont typeface="Wingdings" pitchFamily="2" charset="2"/>
                          <a:buNone/>
                          <a:tabLst/>
                        </a:pPr>
                        <a:r>
                          <a:rPr kumimoji="0" lang="en-US" altLang="zh-CN" sz="1200" b="0" i="0" u="none" strike="noStrike" cap="none" normalizeH="0" baseline="0" dirty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latin typeface="Arial" charset="0"/>
                            <a:ea typeface="SimHei" panose="02010609060101010101" pitchFamily="49" charset="-122"/>
                          </a:rPr>
                          <a:t>MEM 6</a:t>
                        </a:r>
                        <a:endParaRPr kumimoji="0" lang="zh-CN" altLang="en-US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SimHei" panose="02010609060101010101" pitchFamily="49" charset="-122"/>
                        </a:endParaRPr>
                      </a:p>
                    </a:txBody>
                    <a:tcPr marL="36000" marR="36000" marT="46125" marB="46125" anchor="ctr" horzOverflow="overflow">
                      <a:lnL w="1270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sm" len="sm"/>
                        <a:tailEnd type="none" w="sm" len="sm"/>
                      </a:lnL>
                      <a:lnR w="1270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sm" len="sm"/>
                        <a:tailEnd type="none" w="sm" len="sm"/>
                      </a:lnR>
                      <a:lnT w="28575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T>
                      <a:lnB w="28575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B>
                      <a:lnTlToBr>
                        <a:noFill/>
                      </a:lnTlToBr>
                      <a:lnBlToTr>
                        <a:noFill/>
                      </a:lnBlToTr>
                      <a:noFill/>
                    </a:tcPr>
                  </a:tc>
                  <a:tc>
                    <a:txBody>
                      <a:bodyPr/>
                      <a:lstStyle/>
                      <a:p>
                        <a:pPr marL="0" marR="0" lvl="0" indent="0" algn="ctr" defTabSz="914400" rtl="0" eaLnBrk="1" fontAlgn="base" latinLnBrk="0" hangingPunct="1">
                          <a:lnSpc>
                            <a:spcPct val="100000"/>
                          </a:lnSpc>
                          <a:spcBef>
                            <a:spcPct val="20000"/>
                          </a:spcBef>
                          <a:spcAft>
                            <a:spcPct val="0"/>
                          </a:spcAft>
                          <a:buClr>
                            <a:schemeClr val="folHlink"/>
                          </a:buClr>
                          <a:buSzTx/>
                          <a:buFont typeface="Wingdings" pitchFamily="2" charset="2"/>
                          <a:buNone/>
                          <a:tabLst/>
                        </a:pPr>
                        <a:r>
                          <a:rPr kumimoji="0" lang="en-US" altLang="zh-CN" sz="1200" b="0" i="0" u="none" strike="noStrike" cap="none" normalizeH="0" baseline="0" dirty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latin typeface="Arial" charset="0"/>
                            <a:ea typeface="SimHei" panose="02010609060101010101" pitchFamily="49" charset="-122"/>
                          </a:rPr>
                          <a:t>WB 6</a:t>
                        </a:r>
                        <a:endParaRPr kumimoji="0" lang="zh-CN" altLang="en-US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SimHei" panose="02010609060101010101" pitchFamily="49" charset="-122"/>
                        </a:endParaRPr>
                      </a:p>
                    </a:txBody>
                    <a:tcPr marL="36000" marR="36000" marT="46125" marB="46125" anchor="ctr" horzOverflow="overflow">
                      <a:lnL w="1270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sm" len="sm"/>
                        <a:tailEnd type="none" w="sm" len="sm"/>
                      </a:lnL>
                      <a:lnR w="28575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R>
                      <a:lnT w="28575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T>
                      <a:lnB w="28575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B>
                      <a:lnTlToBr>
                        <a:noFill/>
                      </a:lnTlToBr>
                      <a:lnBlToTr>
                        <a:noFill/>
                      </a:lnBlToTr>
                      <a:noFill/>
                    </a:tcPr>
                  </a:tc>
                  <a:extLst>
                    <a:ext uri="{0D108BD9-81ED-4DB2-BD59-A6C34878D82A}">
                      <a16:rowId xmlns:a16="http://schemas.microsoft.com/office/drawing/2014/main" val="10000"/>
                    </a:ext>
                  </a:extLst>
                </a:tr>
              </a:tbl>
            </a:graphicData>
          </a:graphic>
        </p:graphicFrame>
      </p:grpSp>
      <mc:AlternateContent xmlns:mc="http://schemas.openxmlformats.org/markup-compatibility/2006" xmlns:a14="http://schemas.microsoft.com/office/drawing/2010/main">
        <mc:Choice Requires="a14">
          <p:sp>
            <p:nvSpPr>
              <p:cNvPr id="21" name="文本框 20">
                <a:extLst>
                  <a:ext uri="{FF2B5EF4-FFF2-40B4-BE49-F238E27FC236}">
                    <a16:creationId xmlns:a16="http://schemas.microsoft.com/office/drawing/2014/main" id="{6AD84BE3-AA15-71C3-8E56-852DE3FAB463}"/>
                  </a:ext>
                </a:extLst>
              </p:cNvPr>
              <p:cNvSpPr txBox="1"/>
              <p:nvPr/>
            </p:nvSpPr>
            <p:spPr>
              <a:xfrm>
                <a:off x="3976168" y="1260414"/>
                <a:ext cx="5154064" cy="646331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14:m>
                  <m:oMath xmlns:m="http://schemas.openxmlformats.org/officeDocument/2006/math">
                    <m:r>
                      <a:rPr lang="en-US" altLang="zh-CN" dirty="0" smtClean="0">
                        <a:latin typeface="Cambria Math" panose="02040503050406030204" pitchFamily="18" charset="0"/>
                      </a:rPr>
                      <m:t>𝒏</m:t>
                    </m:r>
                  </m:oMath>
                </a14:m>
                <a:r>
                  <a:rPr lang="zh-CN" altLang="en-US" dirty="0">
                    <a:ea typeface="SimHei" panose="02010609060101010101" pitchFamily="49" charset="-122"/>
                  </a:rPr>
                  <a:t>条指令，</a:t>
                </a:r>
                <a14:m>
                  <m:oMath xmlns:m="http://schemas.openxmlformats.org/officeDocument/2006/math">
                    <m:r>
                      <a:rPr lang="en-US" altLang="zh-CN" dirty="0" smtClean="0">
                        <a:latin typeface="Cambria Math" panose="02040503050406030204" pitchFamily="18" charset="0"/>
                      </a:rPr>
                      <m:t>𝒌</m:t>
                    </m:r>
                  </m:oMath>
                </a14:m>
                <a:r>
                  <a:rPr lang="zh-CN" altLang="en-US" dirty="0">
                    <a:ea typeface="SimHei" panose="02010609060101010101" pitchFamily="49" charset="-122"/>
                  </a:rPr>
                  <a:t>级流水线，级间延时（周期）</a:t>
                </a:r>
                <a14:m>
                  <m:oMath xmlns:m="http://schemas.openxmlformats.org/officeDocument/2006/math">
                    <m:r>
                      <a:rPr lang="en-US" altLang="zh-CN" smtClean="0">
                        <a:latin typeface="Cambria Math" panose="02040503050406030204" pitchFamily="18" charset="0"/>
                      </a:rPr>
                      <m:t>𝚫</m:t>
                    </m:r>
                    <m:r>
                      <a:rPr lang="en-US" altLang="zh-CN" smtClean="0">
                        <a:latin typeface="Cambria Math" panose="02040503050406030204" pitchFamily="18" charset="0"/>
                      </a:rPr>
                      <m:t>𝐭</m:t>
                    </m:r>
                  </m:oMath>
                </a14:m>
                <a:endParaRPr lang="en-US" altLang="zh-CN" dirty="0">
                  <a:ea typeface="SimHei" panose="02010609060101010101" pitchFamily="49" charset="-122"/>
                </a:endParaRPr>
              </a:p>
              <a:p>
                <a14:m>
                  <m:oMath xmlns:m="http://schemas.openxmlformats.org/officeDocument/2006/math">
                    <m:sSub>
                      <m:sSubPr>
                        <m:ctrlPr>
                          <a:rPr lang="en-US" altLang="zh-CN" i="1" dirty="0" smtClean="0"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US" altLang="zh-CN" dirty="0" smtClean="0">
                            <a:latin typeface="Cambria Math" panose="02040503050406030204" pitchFamily="18" charset="0"/>
                          </a:rPr>
                          <m:t>𝑻</m:t>
                        </m:r>
                      </m:e>
                      <m:sub>
                        <m:r>
                          <a:rPr lang="en-US" altLang="zh-CN" dirty="0" smtClean="0">
                            <a:latin typeface="Cambria Math" panose="02040503050406030204" pitchFamily="18" charset="0"/>
                          </a:rPr>
                          <m:t>𝒌</m:t>
                        </m:r>
                      </m:sub>
                    </m:sSub>
                  </m:oMath>
                </a14:m>
                <a:r>
                  <a:rPr lang="zh-CN" altLang="en-US" dirty="0">
                    <a:ea typeface="SimHei" panose="02010609060101010101" pitchFamily="49" charset="-122"/>
                  </a:rPr>
                  <a:t>为</a:t>
                </a:r>
                <a14:m>
                  <m:oMath xmlns:m="http://schemas.openxmlformats.org/officeDocument/2006/math">
                    <m:r>
                      <a:rPr lang="en-US" altLang="zh-CN" dirty="0" smtClean="0">
                        <a:latin typeface="Cambria Math" panose="02040503050406030204" pitchFamily="18" charset="0"/>
                      </a:rPr>
                      <m:t>𝒌</m:t>
                    </m:r>
                  </m:oMath>
                </a14:m>
                <a:r>
                  <a:rPr lang="zh-CN" altLang="en-US" dirty="0">
                    <a:ea typeface="SimHei" panose="02010609060101010101" pitchFamily="49" charset="-122"/>
                  </a:rPr>
                  <a:t>级流水线处理</a:t>
                </a:r>
                <a14:m>
                  <m:oMath xmlns:m="http://schemas.openxmlformats.org/officeDocument/2006/math">
                    <m:r>
                      <a:rPr lang="en-US" altLang="zh-CN" dirty="0" smtClean="0">
                        <a:latin typeface="Cambria Math" panose="02040503050406030204" pitchFamily="18" charset="0"/>
                      </a:rPr>
                      <m:t>𝒏</m:t>
                    </m:r>
                  </m:oMath>
                </a14:m>
                <a:r>
                  <a:rPr lang="zh-CN" altLang="en-US" dirty="0">
                    <a:ea typeface="SimHei" panose="02010609060101010101" pitchFamily="49" charset="-122"/>
                  </a:rPr>
                  <a:t>条指令所用的时间</a:t>
                </a:r>
              </a:p>
            </p:txBody>
          </p:sp>
        </mc:Choice>
        <mc:Fallback xmlns="">
          <p:sp>
            <p:nvSpPr>
              <p:cNvPr id="21" name="文本框 20">
                <a:extLst>
                  <a:ext uri="{FF2B5EF4-FFF2-40B4-BE49-F238E27FC236}">
                    <a16:creationId xmlns:a16="http://schemas.microsoft.com/office/drawing/2014/main" id="{6AD84BE3-AA15-71C3-8E56-852DE3FAB46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976168" y="1260414"/>
                <a:ext cx="5154064" cy="646331"/>
              </a:xfrm>
              <a:prstGeom prst="rect">
                <a:avLst/>
              </a:prstGeom>
              <a:blipFill>
                <a:blip r:embed="rId4"/>
                <a:stretch>
                  <a:fillRect t="-5769" b="-9615"/>
                </a:stretch>
              </a:blipFill>
            </p:spPr>
            <p:txBody>
              <a:bodyPr/>
              <a:lstStyle/>
              <a:p>
                <a:r>
                  <a:rPr lang="zh-CN" altLang="en-US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892428399"/>
      </p:ext>
    </p:extLst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>
            <a:extLst>
              <a:ext uri="{FF2B5EF4-FFF2-40B4-BE49-F238E27FC236}">
                <a16:creationId xmlns:a16="http://schemas.microsoft.com/office/drawing/2014/main" id="{C8E90348-0EC6-4362-A518-279FDB8D062F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dirty="0"/>
              <a:t>回顾：流水线的数据通路</a:t>
            </a:r>
          </a:p>
        </p:txBody>
      </p:sp>
      <p:sp>
        <p:nvSpPr>
          <p:cNvPr id="3" name="内容占位符 2">
            <a:extLst>
              <a:ext uri="{FF2B5EF4-FFF2-40B4-BE49-F238E27FC236}">
                <a16:creationId xmlns:a16="http://schemas.microsoft.com/office/drawing/2014/main" id="{43388ADD-AFE7-45FC-A371-0FA941451C1B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457199" y="1166018"/>
            <a:ext cx="8571297" cy="4525963"/>
          </a:xfrm>
        </p:spPr>
        <p:txBody>
          <a:bodyPr/>
          <a:lstStyle/>
          <a:p>
            <a:r>
              <a:rPr lang="zh-CN" altLang="en-US" dirty="0"/>
              <a:t>可以分为</a:t>
            </a:r>
            <a:r>
              <a:rPr lang="en-US" altLang="zh-CN" dirty="0"/>
              <a:t>5</a:t>
            </a:r>
            <a:r>
              <a:rPr lang="zh-CN" altLang="en-US" dirty="0"/>
              <a:t>个步骤</a:t>
            </a:r>
            <a:endParaRPr lang="en-US" altLang="zh-CN" dirty="0"/>
          </a:p>
          <a:p>
            <a:pPr lvl="1"/>
            <a:r>
              <a:rPr lang="zh-CN" altLang="en-US" dirty="0"/>
              <a:t>输入：来自于上一步骤上一周期</a:t>
            </a:r>
            <a:endParaRPr lang="en-US" altLang="zh-CN" dirty="0"/>
          </a:p>
          <a:p>
            <a:pPr lvl="1"/>
            <a:r>
              <a:rPr lang="zh-CN" altLang="en-US" dirty="0"/>
              <a:t>输出：被下一步骤在下一周期使用</a:t>
            </a:r>
            <a:endParaRPr lang="en-US" altLang="zh-CN" dirty="0"/>
          </a:p>
          <a:p>
            <a:r>
              <a:rPr kumimoji="1" lang="zh-CN" altLang="en-US" dirty="0"/>
              <a:t>数据在不同周期间传递</a:t>
            </a:r>
            <a:endParaRPr kumimoji="1" lang="en-US" altLang="zh-CN" dirty="0"/>
          </a:p>
          <a:p>
            <a:pPr lvl="1"/>
            <a:r>
              <a:rPr kumimoji="1" lang="zh-CN" altLang="en-US" dirty="0"/>
              <a:t>需要</a:t>
            </a:r>
            <a:r>
              <a:rPr kumimoji="1" lang="zh-CN" altLang="en-US" dirty="0">
                <a:solidFill>
                  <a:srgbClr val="00B0F0"/>
                </a:solidFill>
              </a:rPr>
              <a:t>寄存器</a:t>
            </a:r>
            <a:r>
              <a:rPr kumimoji="1" lang="zh-CN" altLang="en-US" dirty="0"/>
              <a:t>保持中间数据</a:t>
            </a:r>
            <a:endParaRPr kumimoji="1" lang="en-US" altLang="zh-CN" dirty="0"/>
          </a:p>
        </p:txBody>
      </p:sp>
      <p:sp>
        <p:nvSpPr>
          <p:cNvPr id="5" name="灯片编号占位符 4">
            <a:extLst>
              <a:ext uri="{FF2B5EF4-FFF2-40B4-BE49-F238E27FC236}">
                <a16:creationId xmlns:a16="http://schemas.microsoft.com/office/drawing/2014/main" id="{BBCCFE62-813E-47BE-AA99-3AEDAEB78D9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0626FCE3-5FF9-430D-BA0B-DE80AAE71673}" type="slidenum">
              <a:rPr lang="zh-CN" altLang="en-US" smtClean="0"/>
              <a:t>6</a:t>
            </a:fld>
            <a:endParaRPr lang="zh-CN" altLang="en-US"/>
          </a:p>
        </p:txBody>
      </p:sp>
      <p:grpSp>
        <p:nvGrpSpPr>
          <p:cNvPr id="14" name="组合 13">
            <a:extLst>
              <a:ext uri="{FF2B5EF4-FFF2-40B4-BE49-F238E27FC236}">
                <a16:creationId xmlns:a16="http://schemas.microsoft.com/office/drawing/2014/main" id="{856E391E-4BB5-34E6-D853-007C023C77B2}"/>
              </a:ext>
            </a:extLst>
          </p:cNvPr>
          <p:cNvGrpSpPr/>
          <p:nvPr/>
        </p:nvGrpSpPr>
        <p:grpSpPr>
          <a:xfrm>
            <a:off x="1828800" y="3562016"/>
            <a:ext cx="5486400" cy="2759905"/>
            <a:chOff x="953407" y="3126769"/>
            <a:chExt cx="7237186" cy="3640630"/>
          </a:xfrm>
        </p:grpSpPr>
        <p:pic>
          <p:nvPicPr>
            <p:cNvPr id="4" name="图片 3">
              <a:extLst>
                <a:ext uri="{FF2B5EF4-FFF2-40B4-BE49-F238E27FC236}">
                  <a16:creationId xmlns:a16="http://schemas.microsoft.com/office/drawing/2014/main" id="{AF72E1B5-A747-4CD7-8D96-FAAA47C856EC}"/>
                </a:ext>
              </a:extLst>
            </p:cNvPr>
            <p:cNvPicPr>
              <a:picLocks noChangeAspect="1"/>
            </p:cNvPicPr>
            <p:nvPr/>
          </p:nvPicPr>
          <p:blipFill>
            <a:blip r:embed="rId2"/>
            <a:stretch>
              <a:fillRect/>
            </a:stretch>
          </p:blipFill>
          <p:spPr>
            <a:xfrm>
              <a:off x="953407" y="3671759"/>
              <a:ext cx="7237186" cy="3049716"/>
            </a:xfrm>
            <a:prstGeom prst="rect">
              <a:avLst/>
            </a:prstGeom>
          </p:spPr>
        </p:pic>
        <p:cxnSp>
          <p:nvCxnSpPr>
            <p:cNvPr id="7" name="直接连接符 6">
              <a:extLst>
                <a:ext uri="{FF2B5EF4-FFF2-40B4-BE49-F238E27FC236}">
                  <a16:creationId xmlns:a16="http://schemas.microsoft.com/office/drawing/2014/main" id="{6E1D1F8D-D89C-4480-82AA-8D4D04BA6602}"/>
                </a:ext>
              </a:extLst>
            </p:cNvPr>
            <p:cNvCxnSpPr>
              <a:cxnSpLocks/>
            </p:cNvCxnSpPr>
            <p:nvPr/>
          </p:nvCxnSpPr>
          <p:spPr>
            <a:xfrm>
              <a:off x="2374900" y="4155553"/>
              <a:ext cx="0" cy="2611846"/>
            </a:xfrm>
            <a:prstGeom prst="line">
              <a:avLst/>
            </a:prstGeom>
            <a:ln w="57150">
              <a:solidFill>
                <a:srgbClr val="00B0F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直接连接符 7">
              <a:extLst>
                <a:ext uri="{FF2B5EF4-FFF2-40B4-BE49-F238E27FC236}">
                  <a16:creationId xmlns:a16="http://schemas.microsoft.com/office/drawing/2014/main" id="{5C501D21-FB56-45AF-BC7F-096C6ED31DBB}"/>
                </a:ext>
              </a:extLst>
            </p:cNvPr>
            <p:cNvCxnSpPr/>
            <p:nvPr/>
          </p:nvCxnSpPr>
          <p:spPr>
            <a:xfrm>
              <a:off x="3886201" y="4155553"/>
              <a:ext cx="0" cy="2611846"/>
            </a:xfrm>
            <a:prstGeom prst="line">
              <a:avLst/>
            </a:prstGeom>
            <a:ln w="57150">
              <a:solidFill>
                <a:srgbClr val="00B0F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直接连接符 8">
              <a:extLst>
                <a:ext uri="{FF2B5EF4-FFF2-40B4-BE49-F238E27FC236}">
                  <a16:creationId xmlns:a16="http://schemas.microsoft.com/office/drawing/2014/main" id="{44CFB0AC-FCB3-4707-82B3-4964698F0AD6}"/>
                </a:ext>
              </a:extLst>
            </p:cNvPr>
            <p:cNvCxnSpPr/>
            <p:nvPr/>
          </p:nvCxnSpPr>
          <p:spPr>
            <a:xfrm>
              <a:off x="5207000" y="4155553"/>
              <a:ext cx="0" cy="2611846"/>
            </a:xfrm>
            <a:prstGeom prst="line">
              <a:avLst/>
            </a:prstGeom>
            <a:ln w="57150">
              <a:solidFill>
                <a:srgbClr val="00B0F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直接连接符 9">
              <a:extLst>
                <a:ext uri="{FF2B5EF4-FFF2-40B4-BE49-F238E27FC236}">
                  <a16:creationId xmlns:a16="http://schemas.microsoft.com/office/drawing/2014/main" id="{C1C25311-E929-41F5-8BE6-0BD67BD86396}"/>
                </a:ext>
              </a:extLst>
            </p:cNvPr>
            <p:cNvCxnSpPr/>
            <p:nvPr/>
          </p:nvCxnSpPr>
          <p:spPr>
            <a:xfrm>
              <a:off x="6896100" y="4155553"/>
              <a:ext cx="0" cy="2611846"/>
            </a:xfrm>
            <a:prstGeom prst="line">
              <a:avLst/>
            </a:prstGeom>
            <a:ln w="57150">
              <a:solidFill>
                <a:srgbClr val="00B0F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" name="文本框 10">
              <a:extLst>
                <a:ext uri="{FF2B5EF4-FFF2-40B4-BE49-F238E27FC236}">
                  <a16:creationId xmlns:a16="http://schemas.microsoft.com/office/drawing/2014/main" id="{5070D20A-6CA3-47E7-9905-1D43BFBF6749}"/>
                </a:ext>
              </a:extLst>
            </p:cNvPr>
            <p:cNvSpPr txBox="1"/>
            <p:nvPr/>
          </p:nvSpPr>
          <p:spPr>
            <a:xfrm>
              <a:off x="1540744" y="3146058"/>
              <a:ext cx="1491796" cy="85258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zh-CN" dirty="0">
                  <a:solidFill>
                    <a:srgbClr val="00B0F0"/>
                  </a:solidFill>
                  <a:ea typeface="SimHei" panose="02010609060101010101" pitchFamily="49" charset="-122"/>
                </a:rPr>
                <a:t>IF/ID</a:t>
              </a:r>
            </a:p>
            <a:p>
              <a:pPr algn="ctr"/>
              <a:r>
                <a:rPr lang="zh-CN" altLang="en-US" dirty="0">
                  <a:solidFill>
                    <a:srgbClr val="00B0F0"/>
                  </a:solidFill>
                  <a:ea typeface="SimHei" panose="02010609060101010101" pitchFamily="49" charset="-122"/>
                </a:rPr>
                <a:t>寄存器</a:t>
              </a:r>
            </a:p>
          </p:txBody>
        </p:sp>
        <p:sp>
          <p:nvSpPr>
            <p:cNvPr id="12" name="文本框 11">
              <a:extLst>
                <a:ext uri="{FF2B5EF4-FFF2-40B4-BE49-F238E27FC236}">
                  <a16:creationId xmlns:a16="http://schemas.microsoft.com/office/drawing/2014/main" id="{1F824B0A-C76C-452E-BED7-FD779D862632}"/>
                </a:ext>
              </a:extLst>
            </p:cNvPr>
            <p:cNvSpPr txBox="1"/>
            <p:nvPr/>
          </p:nvSpPr>
          <p:spPr>
            <a:xfrm>
              <a:off x="3014863" y="3126772"/>
              <a:ext cx="1492700" cy="85258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zh-CN" dirty="0">
                  <a:solidFill>
                    <a:srgbClr val="00B0F0"/>
                  </a:solidFill>
                  <a:ea typeface="SimHei" panose="02010609060101010101" pitchFamily="49" charset="-122"/>
                </a:rPr>
                <a:t>ID/EX</a:t>
              </a:r>
            </a:p>
            <a:p>
              <a:pPr algn="ctr"/>
              <a:r>
                <a:rPr lang="zh-CN" altLang="en-US" dirty="0">
                  <a:solidFill>
                    <a:srgbClr val="00B0F0"/>
                  </a:solidFill>
                  <a:ea typeface="SimHei" panose="02010609060101010101" pitchFamily="49" charset="-122"/>
                </a:rPr>
                <a:t>寄存器</a:t>
              </a:r>
            </a:p>
          </p:txBody>
        </p:sp>
        <p:sp>
          <p:nvSpPr>
            <p:cNvPr id="13" name="文本框 12">
              <a:extLst>
                <a:ext uri="{FF2B5EF4-FFF2-40B4-BE49-F238E27FC236}">
                  <a16:creationId xmlns:a16="http://schemas.microsoft.com/office/drawing/2014/main" id="{34FBB77C-DFEE-482B-AB59-0EB9591BE2EF}"/>
                </a:ext>
              </a:extLst>
            </p:cNvPr>
            <p:cNvSpPr txBox="1"/>
            <p:nvPr/>
          </p:nvSpPr>
          <p:spPr>
            <a:xfrm>
              <a:off x="4253373" y="3126770"/>
              <a:ext cx="1924504" cy="85258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zh-CN" dirty="0">
                  <a:solidFill>
                    <a:srgbClr val="00B0F0"/>
                  </a:solidFill>
                  <a:ea typeface="SimHei" panose="02010609060101010101" pitchFamily="49" charset="-122"/>
                </a:rPr>
                <a:t>EX/MEM</a:t>
              </a:r>
            </a:p>
            <a:p>
              <a:pPr algn="ctr"/>
              <a:r>
                <a:rPr lang="zh-CN" altLang="en-US" dirty="0">
                  <a:solidFill>
                    <a:srgbClr val="00B0F0"/>
                  </a:solidFill>
                  <a:ea typeface="SimHei" panose="02010609060101010101" pitchFamily="49" charset="-122"/>
                </a:rPr>
                <a:t>寄存器</a:t>
              </a:r>
            </a:p>
          </p:txBody>
        </p:sp>
        <p:sp>
          <p:nvSpPr>
            <p:cNvPr id="15" name="文本框 14">
              <a:extLst>
                <a:ext uri="{FF2B5EF4-FFF2-40B4-BE49-F238E27FC236}">
                  <a16:creationId xmlns:a16="http://schemas.microsoft.com/office/drawing/2014/main" id="{AC3DA9DB-709B-4EDC-B8F8-4998C225F067}"/>
                </a:ext>
              </a:extLst>
            </p:cNvPr>
            <p:cNvSpPr txBox="1"/>
            <p:nvPr/>
          </p:nvSpPr>
          <p:spPr>
            <a:xfrm>
              <a:off x="5962461" y="3126769"/>
              <a:ext cx="1855487" cy="85258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zh-CN" dirty="0">
                  <a:solidFill>
                    <a:srgbClr val="00B0F0"/>
                  </a:solidFill>
                  <a:ea typeface="SimHei" panose="02010609060101010101" pitchFamily="49" charset="-122"/>
                </a:rPr>
                <a:t>MEM/WB</a:t>
              </a:r>
            </a:p>
            <a:p>
              <a:pPr algn="ctr"/>
              <a:r>
                <a:rPr lang="zh-CN" altLang="en-US" dirty="0">
                  <a:solidFill>
                    <a:srgbClr val="00B0F0"/>
                  </a:solidFill>
                  <a:ea typeface="SimHei" panose="02010609060101010101" pitchFamily="49" charset="-122"/>
                </a:rPr>
                <a:t>寄存器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4248531130"/>
      </p:ext>
    </p:extLst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>
            <a:extLst>
              <a:ext uri="{FF2B5EF4-FFF2-40B4-BE49-F238E27FC236}">
                <a16:creationId xmlns:a16="http://schemas.microsoft.com/office/drawing/2014/main" id="{6702FEAB-CE3D-CA2B-CE1A-DD63B6FA304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dirty="0"/>
              <a:t>回顾：流水线的数据通路</a:t>
            </a:r>
          </a:p>
        </p:txBody>
      </p:sp>
      <p:sp>
        <p:nvSpPr>
          <p:cNvPr id="4" name="灯片编号占位符 3">
            <a:extLst>
              <a:ext uri="{FF2B5EF4-FFF2-40B4-BE49-F238E27FC236}">
                <a16:creationId xmlns:a16="http://schemas.microsoft.com/office/drawing/2014/main" id="{C7A910C8-2D9E-EEC8-63D1-24A1676723F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0626FCE3-5FF9-430D-BA0B-DE80AAE71673}" type="slidenum">
              <a:rPr lang="zh-CN" altLang="en-US" smtClean="0"/>
              <a:t>7</a:t>
            </a:fld>
            <a:endParaRPr lang="zh-CN" altLang="en-US"/>
          </a:p>
        </p:txBody>
      </p:sp>
      <p:grpSp>
        <p:nvGrpSpPr>
          <p:cNvPr id="5" name="组合 4">
            <a:extLst>
              <a:ext uri="{FF2B5EF4-FFF2-40B4-BE49-F238E27FC236}">
                <a16:creationId xmlns:a16="http://schemas.microsoft.com/office/drawing/2014/main" id="{1E8D4689-F2F7-E4BA-011C-135CC274396E}"/>
              </a:ext>
            </a:extLst>
          </p:cNvPr>
          <p:cNvGrpSpPr/>
          <p:nvPr/>
        </p:nvGrpSpPr>
        <p:grpSpPr>
          <a:xfrm>
            <a:off x="329006" y="1204898"/>
            <a:ext cx="8618119" cy="4511038"/>
            <a:chOff x="329006" y="1204898"/>
            <a:chExt cx="8618119" cy="4511038"/>
          </a:xfrm>
        </p:grpSpPr>
        <p:sp>
          <p:nvSpPr>
            <p:cNvPr id="7" name="Line 8">
              <a:extLst>
                <a:ext uri="{FF2B5EF4-FFF2-40B4-BE49-F238E27FC236}">
                  <a16:creationId xmlns:a16="http://schemas.microsoft.com/office/drawing/2014/main" id="{E27AE386-708E-FF3F-3D0E-C4C7A6CE40C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36345" y="5093530"/>
              <a:ext cx="1747538" cy="0"/>
            </a:xfrm>
            <a:prstGeom prst="line">
              <a:avLst/>
            </a:prstGeom>
            <a:noFill/>
            <a:ln w="19050">
              <a:solidFill>
                <a:sysClr val="windowText" lastClr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F0502020204030204"/>
                <a:ea typeface="等线" panose="02010600030101010101" pitchFamily="2" charset="-122"/>
              </a:endParaRPr>
            </a:p>
          </p:txBody>
        </p:sp>
        <p:sp>
          <p:nvSpPr>
            <p:cNvPr id="8" name="Line 9">
              <a:extLst>
                <a:ext uri="{FF2B5EF4-FFF2-40B4-BE49-F238E27FC236}">
                  <a16:creationId xmlns:a16="http://schemas.microsoft.com/office/drawing/2014/main" id="{AA3D82AD-5BC7-4E5E-463B-AC9DC5BA330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35843" y="5093530"/>
              <a:ext cx="262057" cy="0"/>
            </a:xfrm>
            <a:prstGeom prst="line">
              <a:avLst/>
            </a:prstGeom>
            <a:noFill/>
            <a:ln w="19050">
              <a:solidFill>
                <a:sysClr val="windowText" lastClr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F0502020204030204"/>
                <a:ea typeface="等线" panose="02010600030101010101" pitchFamily="2" charset="-122"/>
              </a:endParaRPr>
            </a:p>
          </p:txBody>
        </p:sp>
        <p:sp>
          <p:nvSpPr>
            <p:cNvPr id="9" name="Line 10">
              <a:extLst>
                <a:ext uri="{FF2B5EF4-FFF2-40B4-BE49-F238E27FC236}">
                  <a16:creationId xmlns:a16="http://schemas.microsoft.com/office/drawing/2014/main" id="{79CA08EC-6C1C-2291-8CBC-33FD44FD00D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407401" y="5093530"/>
              <a:ext cx="1671558" cy="0"/>
            </a:xfrm>
            <a:prstGeom prst="line">
              <a:avLst/>
            </a:prstGeom>
            <a:noFill/>
            <a:ln w="19050">
              <a:solidFill>
                <a:sysClr val="windowText" lastClr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F0502020204030204"/>
                <a:ea typeface="等线" panose="02010600030101010101" pitchFamily="2" charset="-122"/>
              </a:endParaRPr>
            </a:p>
          </p:txBody>
        </p:sp>
        <p:sp>
          <p:nvSpPr>
            <p:cNvPr id="10" name="Line 11">
              <a:extLst>
                <a:ext uri="{FF2B5EF4-FFF2-40B4-BE49-F238E27FC236}">
                  <a16:creationId xmlns:a16="http://schemas.microsoft.com/office/drawing/2014/main" id="{C01FA2EB-D989-B3A3-F186-9C6FC2FFC61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36345" y="4815770"/>
              <a:ext cx="0" cy="277759"/>
            </a:xfrm>
            <a:prstGeom prst="line">
              <a:avLst/>
            </a:prstGeom>
            <a:noFill/>
            <a:ln w="19050">
              <a:solidFill>
                <a:sysClr val="windowText" lastClr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F0502020204030204"/>
                <a:ea typeface="等线" panose="02010600030101010101" pitchFamily="2" charset="-122"/>
              </a:endParaRPr>
            </a:p>
          </p:txBody>
        </p:sp>
        <p:sp>
          <p:nvSpPr>
            <p:cNvPr id="11" name="Line 12">
              <a:extLst>
                <a:ext uri="{FF2B5EF4-FFF2-40B4-BE49-F238E27FC236}">
                  <a16:creationId xmlns:a16="http://schemas.microsoft.com/office/drawing/2014/main" id="{9C864AF8-CFD1-9FD6-3CFD-DF1286701D1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760365" y="5541548"/>
              <a:ext cx="5622515" cy="0"/>
            </a:xfrm>
            <a:prstGeom prst="line">
              <a:avLst/>
            </a:prstGeom>
            <a:noFill/>
            <a:ln w="19050">
              <a:solidFill>
                <a:sysClr val="windowText" lastClr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F0502020204030204"/>
                <a:ea typeface="等线" panose="02010600030101010101" pitchFamily="2" charset="-122"/>
              </a:endParaRPr>
            </a:p>
          </p:txBody>
        </p:sp>
        <p:sp>
          <p:nvSpPr>
            <p:cNvPr id="12" name="Line 13">
              <a:extLst>
                <a:ext uri="{FF2B5EF4-FFF2-40B4-BE49-F238E27FC236}">
                  <a16:creationId xmlns:a16="http://schemas.microsoft.com/office/drawing/2014/main" id="{A1CE735E-4F0D-1662-1238-A30FBDF7BDC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230920" y="5093530"/>
              <a:ext cx="151960" cy="0"/>
            </a:xfrm>
            <a:prstGeom prst="line">
              <a:avLst/>
            </a:prstGeom>
            <a:noFill/>
            <a:ln w="19050">
              <a:solidFill>
                <a:sysClr val="windowText" lastClr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F0502020204030204"/>
                <a:ea typeface="等线" panose="02010600030101010101" pitchFamily="2" charset="-122"/>
              </a:endParaRPr>
            </a:p>
          </p:txBody>
        </p:sp>
        <p:sp>
          <p:nvSpPr>
            <p:cNvPr id="13" name="Line 14">
              <a:extLst>
                <a:ext uri="{FF2B5EF4-FFF2-40B4-BE49-F238E27FC236}">
                  <a16:creationId xmlns:a16="http://schemas.microsoft.com/office/drawing/2014/main" id="{76412A8D-8C12-9576-2704-5A8D177977D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382879" y="5093530"/>
              <a:ext cx="0" cy="448018"/>
            </a:xfrm>
            <a:prstGeom prst="line">
              <a:avLst/>
            </a:prstGeom>
            <a:noFill/>
            <a:ln w="19050">
              <a:solidFill>
                <a:sysClr val="windowText" lastClr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F0502020204030204"/>
                <a:ea typeface="等线" panose="02010600030101010101" pitchFamily="2" charset="-122"/>
              </a:endParaRPr>
            </a:p>
          </p:txBody>
        </p:sp>
        <p:sp>
          <p:nvSpPr>
            <p:cNvPr id="14" name="Line 15">
              <a:extLst>
                <a:ext uri="{FF2B5EF4-FFF2-40B4-BE49-F238E27FC236}">
                  <a16:creationId xmlns:a16="http://schemas.microsoft.com/office/drawing/2014/main" id="{97639C20-6253-F468-49A4-DDA2DB7B62A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760365" y="3899306"/>
              <a:ext cx="0" cy="1642241"/>
            </a:xfrm>
            <a:prstGeom prst="line">
              <a:avLst/>
            </a:prstGeom>
            <a:noFill/>
            <a:ln w="19050">
              <a:solidFill>
                <a:sysClr val="windowText" lastClr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F0502020204030204"/>
                <a:ea typeface="等线" panose="02010600030101010101" pitchFamily="2" charset="-122"/>
              </a:endParaRPr>
            </a:p>
          </p:txBody>
        </p:sp>
        <p:sp>
          <p:nvSpPr>
            <p:cNvPr id="15" name="Line 16">
              <a:extLst>
                <a:ext uri="{FF2B5EF4-FFF2-40B4-BE49-F238E27FC236}">
                  <a16:creationId xmlns:a16="http://schemas.microsoft.com/office/drawing/2014/main" id="{7F0CFDC4-1570-755A-13E5-7413894CCF8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760365" y="3904769"/>
              <a:ext cx="379900" cy="0"/>
            </a:xfrm>
            <a:prstGeom prst="line">
              <a:avLst/>
            </a:prstGeom>
            <a:noFill/>
            <a:ln w="19050">
              <a:solidFill>
                <a:sysClr val="windowText" lastClr="000000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F0502020204030204"/>
                <a:ea typeface="等线" panose="02010600030101010101" pitchFamily="2" charset="-122"/>
              </a:endParaRPr>
            </a:p>
          </p:txBody>
        </p:sp>
        <p:sp>
          <p:nvSpPr>
            <p:cNvPr id="24" name="Rectangle 25">
              <a:extLst>
                <a:ext uri="{FF2B5EF4-FFF2-40B4-BE49-F238E27FC236}">
                  <a16:creationId xmlns:a16="http://schemas.microsoft.com/office/drawing/2014/main" id="{806C5395-F572-D0AD-129D-C02E158F10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88806" y="3010335"/>
              <a:ext cx="1291659" cy="1319357"/>
            </a:xfrm>
            <a:prstGeom prst="rect">
              <a:avLst/>
            </a:prstGeom>
            <a:noFill/>
            <a:ln w="19050">
              <a:solidFill>
                <a:sysClr val="windowText" lastClr="000000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F0502020204030204"/>
                <a:ea typeface="等线" panose="02010600030101010101" pitchFamily="2" charset="-122"/>
              </a:endParaRPr>
            </a:p>
          </p:txBody>
        </p:sp>
        <p:sp>
          <p:nvSpPr>
            <p:cNvPr id="25" name="Rectangle 26">
              <a:extLst>
                <a:ext uri="{FF2B5EF4-FFF2-40B4-BE49-F238E27FC236}">
                  <a16:creationId xmlns:a16="http://schemas.microsoft.com/office/drawing/2014/main" id="{E359A231-9EF5-EEC2-49E3-C0C39A7F3C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1008" y="3357534"/>
              <a:ext cx="243879" cy="763838"/>
            </a:xfrm>
            <a:prstGeom prst="rect">
              <a:avLst/>
            </a:prstGeom>
            <a:noFill/>
            <a:ln w="19050">
              <a:solidFill>
                <a:sysClr val="windowText" lastClr="000000"/>
              </a:solidFill>
              <a:miter lim="800000"/>
              <a:headEnd/>
              <a:tailEnd/>
            </a:ln>
            <a:effectLst/>
          </p:spPr>
          <p:txBody>
            <a:bodyPr wrap="none" lIns="0" rIns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altLang="zh-CN" sz="1400" kern="0" dirty="0">
                  <a:solidFill>
                    <a:prstClr val="black"/>
                  </a:solidFill>
                  <a:latin typeface="+mj-lt"/>
                  <a:ea typeface="等线" panose="02010600030101010101" pitchFamily="2" charset="-122"/>
                </a:rPr>
                <a:t>P</a:t>
              </a:r>
            </a:p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altLang="zh-CN" sz="1400" kern="0" dirty="0">
                  <a:solidFill>
                    <a:prstClr val="black"/>
                  </a:solidFill>
                  <a:latin typeface="+mj-lt"/>
                  <a:ea typeface="等线" panose="02010600030101010101" pitchFamily="2" charset="-122"/>
                </a:rPr>
                <a:t>C</a:t>
              </a:r>
              <a:endParaRPr kumimoji="0" lang="zh-CN" altLang="en-US" sz="14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等线" panose="02010600030101010101" pitchFamily="2" charset="-122"/>
              </a:endParaRPr>
            </a:p>
          </p:txBody>
        </p:sp>
        <p:sp>
          <p:nvSpPr>
            <p:cNvPr id="26" name="Line 27">
              <a:extLst>
                <a:ext uri="{FF2B5EF4-FFF2-40B4-BE49-F238E27FC236}">
                  <a16:creationId xmlns:a16="http://schemas.microsoft.com/office/drawing/2014/main" id="{7F60B4D2-D5EA-755C-D52C-11DBBECF870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84887" y="3704733"/>
              <a:ext cx="303920" cy="0"/>
            </a:xfrm>
            <a:prstGeom prst="line">
              <a:avLst/>
            </a:prstGeom>
            <a:noFill/>
            <a:ln w="19050">
              <a:solidFill>
                <a:sysClr val="windowText" lastClr="000000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F0502020204030204"/>
                <a:ea typeface="等线" panose="02010600030101010101" pitchFamily="2" charset="-122"/>
              </a:endParaRPr>
            </a:p>
          </p:txBody>
        </p:sp>
        <p:sp>
          <p:nvSpPr>
            <p:cNvPr id="27" name="Line 28">
              <a:extLst>
                <a:ext uri="{FF2B5EF4-FFF2-40B4-BE49-F238E27FC236}">
                  <a16:creationId xmlns:a16="http://schemas.microsoft.com/office/drawing/2014/main" id="{FBD8F2F9-8EE0-6D0A-4EA6-4E0EE5652D7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06394" y="2246497"/>
              <a:ext cx="866232" cy="0"/>
            </a:xfrm>
            <a:prstGeom prst="line">
              <a:avLst/>
            </a:prstGeom>
            <a:noFill/>
            <a:ln w="19050">
              <a:solidFill>
                <a:sysClr val="windowText" lastClr="000000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F0502020204030204"/>
                <a:ea typeface="等线" panose="02010600030101010101" pitchFamily="2" charset="-122"/>
              </a:endParaRPr>
            </a:p>
          </p:txBody>
        </p:sp>
        <p:sp>
          <p:nvSpPr>
            <p:cNvPr id="28" name="Line 29">
              <a:extLst>
                <a:ext uri="{FF2B5EF4-FFF2-40B4-BE49-F238E27FC236}">
                  <a16:creationId xmlns:a16="http://schemas.microsoft.com/office/drawing/2014/main" id="{DBFBD9CE-8050-1C5B-8156-E60988523B9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92726" y="2802015"/>
              <a:ext cx="379900" cy="0"/>
            </a:xfrm>
            <a:prstGeom prst="line">
              <a:avLst/>
            </a:prstGeom>
            <a:noFill/>
            <a:ln w="19050">
              <a:solidFill>
                <a:sysClr val="windowText" lastClr="000000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F0502020204030204"/>
                <a:ea typeface="等线" panose="02010600030101010101" pitchFamily="2" charset="-122"/>
              </a:endParaRPr>
            </a:p>
          </p:txBody>
        </p:sp>
        <p:sp>
          <p:nvSpPr>
            <p:cNvPr id="29" name="Text Box 30">
              <a:extLst>
                <a:ext uri="{FF2B5EF4-FFF2-40B4-BE49-F238E27FC236}">
                  <a16:creationId xmlns:a16="http://schemas.microsoft.com/office/drawing/2014/main" id="{16383385-07D7-1682-5592-B6377CC2FF3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20247" y="3473905"/>
              <a:ext cx="550120" cy="46165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1425" tIns="45713" rIns="91425" bIns="45713">
              <a:spAutoFit/>
            </a:bodyPr>
            <a:lstStyle>
              <a:lvl1pPr eaLnBrk="0" hangingPunct="0"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1pPr>
              <a:lvl2pPr marL="742950" indent="-285750" eaLnBrk="0" hangingPunct="0"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2pPr>
              <a:lvl3pPr marL="1143000" indent="-228600" eaLnBrk="0" hangingPunct="0"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3pPr>
              <a:lvl4pPr marL="1600200" indent="-228600" eaLnBrk="0" hangingPunct="0"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4pPr>
              <a:lvl5pPr marL="2057400" indent="-228600" eaLnBrk="0" hangingPunct="0"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9pPr>
            </a:lstStyle>
            <a:p>
              <a:pPr fontAlgn="auto">
                <a:spcBef>
                  <a:spcPts val="0"/>
                </a:spcBef>
                <a:spcAft>
                  <a:spcPts val="0"/>
                </a:spcAft>
              </a:pPr>
              <a:r>
                <a:rPr lang="en-US" altLang="zh-CN" sz="1200" b="0" dirty="0">
                  <a:solidFill>
                    <a:prstClr val="black"/>
                  </a:solidFill>
                  <a:latin typeface="Arial" pitchFamily="34" charset="0"/>
                  <a:ea typeface="SimHei" panose="02010609060101010101" pitchFamily="49" charset="-122"/>
                </a:rPr>
                <a:t>Read</a:t>
              </a:r>
            </a:p>
            <a:p>
              <a:pPr fontAlgn="auto">
                <a:spcBef>
                  <a:spcPts val="0"/>
                </a:spcBef>
                <a:spcAft>
                  <a:spcPts val="0"/>
                </a:spcAft>
              </a:pPr>
              <a:r>
                <a:rPr lang="en-US" altLang="zh-CN" sz="1200" b="0" dirty="0" err="1">
                  <a:solidFill>
                    <a:prstClr val="black"/>
                  </a:solidFill>
                  <a:latin typeface="Arial" pitchFamily="34" charset="0"/>
                  <a:ea typeface="SimHei" panose="02010609060101010101" pitchFamily="49" charset="-122"/>
                </a:rPr>
                <a:t>Addr</a:t>
              </a:r>
              <a:endParaRPr lang="en-US" altLang="zh-CN" sz="1200" b="0" dirty="0">
                <a:solidFill>
                  <a:prstClr val="black"/>
                </a:solidFill>
                <a:latin typeface="Arial" pitchFamily="34" charset="0"/>
                <a:ea typeface="SimHei" panose="02010609060101010101" pitchFamily="49" charset="-122"/>
              </a:endParaRPr>
            </a:p>
          </p:txBody>
        </p:sp>
        <p:sp>
          <p:nvSpPr>
            <p:cNvPr id="30" name="Text Box 31">
              <a:extLst>
                <a:ext uri="{FF2B5EF4-FFF2-40B4-BE49-F238E27FC236}">
                  <a16:creationId xmlns:a16="http://schemas.microsoft.com/office/drawing/2014/main" id="{DBCC198D-8F05-B0D7-867F-34D478CF737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168631" y="2960993"/>
              <a:ext cx="1132010" cy="58476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1425" tIns="45713" rIns="91425" bIns="45713">
              <a:spAutoFit/>
            </a:bodyPr>
            <a:lstStyle>
              <a:lvl1pPr eaLnBrk="0" hangingPunct="0"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1pPr>
              <a:lvl2pPr marL="742950" indent="-285750" eaLnBrk="0" hangingPunct="0"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2pPr>
              <a:lvl3pPr marL="1143000" indent="-228600" eaLnBrk="0" hangingPunct="0"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3pPr>
              <a:lvl4pPr marL="1600200" indent="-228600" eaLnBrk="0" hangingPunct="0"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4pPr>
              <a:lvl5pPr marL="2057400" indent="-228600" eaLnBrk="0" hangingPunct="0"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9pPr>
            </a:lstStyle>
            <a:p>
              <a:pPr algn="ctr" fontAlgn="auto">
                <a:spcBef>
                  <a:spcPts val="0"/>
                </a:spcBef>
                <a:spcAft>
                  <a:spcPts val="0"/>
                </a:spcAft>
              </a:pPr>
              <a:r>
                <a:rPr lang="en-US" altLang="zh-CN" sz="1600" b="0" dirty="0">
                  <a:solidFill>
                    <a:prstClr val="black"/>
                  </a:solidFill>
                  <a:latin typeface="Arial" pitchFamily="34" charset="0"/>
                  <a:ea typeface="SimHei" panose="02010609060101010101" pitchFamily="49" charset="-122"/>
                </a:rPr>
                <a:t>Instruction</a:t>
              </a: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</a:pPr>
              <a:r>
                <a:rPr lang="en-US" altLang="zh-CN" sz="1600" b="0" dirty="0">
                  <a:solidFill>
                    <a:prstClr val="black"/>
                  </a:solidFill>
                  <a:latin typeface="Arial" pitchFamily="34" charset="0"/>
                  <a:ea typeface="SimHei" panose="02010609060101010101" pitchFamily="49" charset="-122"/>
                </a:rPr>
                <a:t>Memory</a:t>
              </a:r>
            </a:p>
          </p:txBody>
        </p:sp>
        <p:sp>
          <p:nvSpPr>
            <p:cNvPr id="31" name="Text Box 32">
              <a:extLst>
                <a:ext uri="{FF2B5EF4-FFF2-40B4-BE49-F238E27FC236}">
                  <a16:creationId xmlns:a16="http://schemas.microsoft.com/office/drawing/2014/main" id="{DAA3C887-AD9F-24D9-7326-F1373E8DCA9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810940" y="2269663"/>
              <a:ext cx="314479" cy="55635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1425" tIns="45713" rIns="91425" bIns="45713">
              <a:spAutoFit/>
            </a:bodyPr>
            <a:lstStyle>
              <a:lvl1pPr eaLnBrk="0" hangingPunct="0"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1pPr>
              <a:lvl2pPr marL="742950" indent="-285750" eaLnBrk="0" hangingPunct="0"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2pPr>
              <a:lvl3pPr marL="1143000" indent="-228600" eaLnBrk="0" hangingPunct="0"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3pPr>
              <a:lvl4pPr marL="1600200" indent="-228600" eaLnBrk="0" hangingPunct="0"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4pPr>
              <a:lvl5pPr marL="2057400" indent="-228600" eaLnBrk="0" hangingPunct="0"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9pPr>
            </a:lstStyle>
            <a:p>
              <a:pPr fontAlgn="auto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lang="en-US" altLang="zh-CN" sz="1400" b="0" dirty="0">
                  <a:solidFill>
                    <a:prstClr val="black"/>
                  </a:solidFill>
                  <a:latin typeface="Arial" pitchFamily="34" charset="0"/>
                  <a:ea typeface="SimHei" panose="02010609060101010101" pitchFamily="49" charset="-122"/>
                </a:rPr>
                <a:t>A</a:t>
              </a:r>
            </a:p>
            <a:p>
              <a:pPr fontAlgn="auto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lang="en-US" altLang="zh-CN" sz="1400" b="0" dirty="0">
                  <a:solidFill>
                    <a:prstClr val="black"/>
                  </a:solidFill>
                  <a:latin typeface="Arial" pitchFamily="34" charset="0"/>
                  <a:ea typeface="SimHei" panose="02010609060101010101" pitchFamily="49" charset="-122"/>
                </a:rPr>
                <a:t>D</a:t>
              </a:r>
            </a:p>
            <a:p>
              <a:pPr fontAlgn="auto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lang="en-US" altLang="zh-CN" sz="1400" b="0" dirty="0">
                  <a:solidFill>
                    <a:prstClr val="black"/>
                  </a:solidFill>
                  <a:latin typeface="Arial" pitchFamily="34" charset="0"/>
                  <a:ea typeface="SimHei" panose="02010609060101010101" pitchFamily="49" charset="-122"/>
                </a:rPr>
                <a:t>D</a:t>
              </a:r>
            </a:p>
          </p:txBody>
        </p:sp>
        <p:sp>
          <p:nvSpPr>
            <p:cNvPr id="33" name="Line 34">
              <a:extLst>
                <a:ext uri="{FF2B5EF4-FFF2-40B4-BE49-F238E27FC236}">
                  <a16:creationId xmlns:a16="http://schemas.microsoft.com/office/drawing/2014/main" id="{2F8B6321-C512-CCE6-810D-F3C9202ADD4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9007" y="3704733"/>
              <a:ext cx="212001" cy="0"/>
            </a:xfrm>
            <a:prstGeom prst="line">
              <a:avLst/>
            </a:prstGeom>
            <a:noFill/>
            <a:ln w="19050">
              <a:solidFill>
                <a:sysClr val="windowText" lastClr="000000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F0502020204030204"/>
                <a:ea typeface="等线" panose="02010600030101010101" pitchFamily="2" charset="-122"/>
              </a:endParaRPr>
            </a:p>
          </p:txBody>
        </p:sp>
        <p:sp>
          <p:nvSpPr>
            <p:cNvPr id="34" name="Text Box 35">
              <a:extLst>
                <a:ext uri="{FF2B5EF4-FFF2-40B4-BE49-F238E27FC236}">
                  <a16:creationId xmlns:a16="http://schemas.microsoft.com/office/drawing/2014/main" id="{9DFB4336-EFB9-9F32-3E31-E5B67C28D87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164786" y="2663136"/>
              <a:ext cx="269595" cy="27698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1425" tIns="45713" rIns="91425" bIns="45713">
              <a:spAutoFit/>
            </a:bodyPr>
            <a:lstStyle>
              <a:lvl1pPr eaLnBrk="0" hangingPunct="0"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1pPr>
              <a:lvl2pPr marL="742950" indent="-285750" eaLnBrk="0" hangingPunct="0"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2pPr>
              <a:lvl3pPr marL="1143000" indent="-228600" eaLnBrk="0" hangingPunct="0"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3pPr>
              <a:lvl4pPr marL="1600200" indent="-228600" eaLnBrk="0" hangingPunct="0"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4pPr>
              <a:lvl5pPr marL="2057400" indent="-228600" eaLnBrk="0" hangingPunct="0"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9pPr>
            </a:lstStyle>
            <a:p>
              <a:pPr fontAlgn="auto">
                <a:spcBef>
                  <a:spcPts val="0"/>
                </a:spcBef>
                <a:spcAft>
                  <a:spcPts val="0"/>
                </a:spcAft>
              </a:pPr>
              <a:r>
                <a:rPr lang="en-US" altLang="zh-CN" sz="1200" b="0" dirty="0">
                  <a:solidFill>
                    <a:prstClr val="black"/>
                  </a:solidFill>
                  <a:latin typeface="Arial" pitchFamily="34" charset="0"/>
                  <a:ea typeface="SimHei" panose="02010609060101010101" pitchFamily="49" charset="-122"/>
                </a:rPr>
                <a:t>4</a:t>
              </a:r>
            </a:p>
          </p:txBody>
        </p:sp>
        <p:sp>
          <p:nvSpPr>
            <p:cNvPr id="35" name="Line 36">
              <a:extLst>
                <a:ext uri="{FF2B5EF4-FFF2-40B4-BE49-F238E27FC236}">
                  <a16:creationId xmlns:a16="http://schemas.microsoft.com/office/drawing/2014/main" id="{97CA3F66-EE6E-DD10-D924-B9B43550E8E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9007" y="1482658"/>
              <a:ext cx="0" cy="2222075"/>
            </a:xfrm>
            <a:prstGeom prst="line">
              <a:avLst/>
            </a:prstGeom>
            <a:noFill/>
            <a:ln w="19050">
              <a:solidFill>
                <a:sysClr val="windowText" lastClr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F0502020204030204"/>
                <a:ea typeface="等线" panose="02010600030101010101" pitchFamily="2" charset="-122"/>
              </a:endParaRPr>
            </a:p>
          </p:txBody>
        </p:sp>
        <p:sp>
          <p:nvSpPr>
            <p:cNvPr id="36" name="AutoShape 37">
              <a:extLst>
                <a:ext uri="{FF2B5EF4-FFF2-40B4-BE49-F238E27FC236}">
                  <a16:creationId xmlns:a16="http://schemas.microsoft.com/office/drawing/2014/main" id="{DC6E1BC9-6B97-A6EF-5397-ECF9994BCF10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 flipH="1">
              <a:off x="966277" y="1403408"/>
              <a:ext cx="624959" cy="227940"/>
            </a:xfrm>
            <a:custGeom>
              <a:avLst/>
              <a:gdLst>
                <a:gd name="T0" fmla="*/ 8 w 21600"/>
                <a:gd name="T1" fmla="*/ 0 h 21600"/>
                <a:gd name="T2" fmla="*/ 4 w 21600"/>
                <a:gd name="T3" fmla="*/ 1 h 21600"/>
                <a:gd name="T4" fmla="*/ 1 w 21600"/>
                <a:gd name="T5" fmla="*/ 0 h 21600"/>
                <a:gd name="T6" fmla="*/ 4 w 21600"/>
                <a:gd name="T7" fmla="*/ 0 h 21600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4500 w 21600"/>
                <a:gd name="T13" fmla="*/ 4500 h 21600"/>
                <a:gd name="T14" fmla="*/ 17100 w 21600"/>
                <a:gd name="T15" fmla="*/ 17100 h 2160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600" h="21600">
                  <a:moveTo>
                    <a:pt x="0" y="0"/>
                  </a:moveTo>
                  <a:lnTo>
                    <a:pt x="5400" y="21600"/>
                  </a:lnTo>
                  <a:lnTo>
                    <a:pt x="16200" y="21600"/>
                  </a:lnTo>
                  <a:lnTo>
                    <a:pt x="21600" y="0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9050">
              <a:solidFill>
                <a:sysClr val="windowText" lastClr="000000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F0502020204030204"/>
                <a:ea typeface="等线" panose="02010600030101010101" pitchFamily="2" charset="-122"/>
              </a:endParaRPr>
            </a:p>
          </p:txBody>
        </p:sp>
        <p:sp>
          <p:nvSpPr>
            <p:cNvPr id="37" name="Line 38">
              <a:extLst>
                <a:ext uri="{FF2B5EF4-FFF2-40B4-BE49-F238E27FC236}">
                  <a16:creationId xmlns:a16="http://schemas.microsoft.com/office/drawing/2014/main" id="{46C3802B-86B9-559A-8BC9-D3D3FEE41FD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29006" y="1482658"/>
              <a:ext cx="835779" cy="0"/>
            </a:xfrm>
            <a:prstGeom prst="line">
              <a:avLst/>
            </a:prstGeom>
            <a:noFill/>
            <a:ln w="19050">
              <a:solidFill>
                <a:sysClr val="windowText" lastClr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F0502020204030204"/>
                <a:ea typeface="等线" panose="02010600030101010101" pitchFamily="2" charset="-122"/>
              </a:endParaRPr>
            </a:p>
          </p:txBody>
        </p:sp>
        <p:sp>
          <p:nvSpPr>
            <p:cNvPr id="39" name="Line 41">
              <a:extLst>
                <a:ext uri="{FF2B5EF4-FFF2-40B4-BE49-F238E27FC236}">
                  <a16:creationId xmlns:a16="http://schemas.microsoft.com/office/drawing/2014/main" id="{EA015B30-84EC-AB56-FE22-B623FBA9414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392725" y="1343779"/>
              <a:ext cx="5541095" cy="0"/>
            </a:xfrm>
            <a:prstGeom prst="line">
              <a:avLst/>
            </a:prstGeom>
            <a:noFill/>
            <a:ln w="19050">
              <a:solidFill>
                <a:sysClr val="windowText" lastClr="000000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F0502020204030204"/>
                <a:ea typeface="等线" panose="02010600030101010101" pitchFamily="2" charset="-122"/>
              </a:endParaRPr>
            </a:p>
          </p:txBody>
        </p:sp>
        <p:sp>
          <p:nvSpPr>
            <p:cNvPr id="40" name="Line 42">
              <a:extLst>
                <a:ext uri="{FF2B5EF4-FFF2-40B4-BE49-F238E27FC236}">
                  <a16:creationId xmlns:a16="http://schemas.microsoft.com/office/drawing/2014/main" id="{9FDC48DA-0BCA-1E57-15E2-6616DCEB451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912325" y="5715936"/>
              <a:ext cx="5926434" cy="0"/>
            </a:xfrm>
            <a:prstGeom prst="line">
              <a:avLst/>
            </a:prstGeom>
            <a:noFill/>
            <a:ln w="19050">
              <a:solidFill>
                <a:sysClr val="windowText" lastClr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F0502020204030204"/>
                <a:ea typeface="等线" panose="02010600030101010101" pitchFamily="2" charset="-122"/>
              </a:endParaRPr>
            </a:p>
          </p:txBody>
        </p:sp>
        <p:sp>
          <p:nvSpPr>
            <p:cNvPr id="41" name="Rectangle 43">
              <a:extLst>
                <a:ext uri="{FF2B5EF4-FFF2-40B4-BE49-F238E27FC236}">
                  <a16:creationId xmlns:a16="http://schemas.microsoft.com/office/drawing/2014/main" id="{1A711A4B-AED4-9912-6E75-3B8BA33C70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40264" y="2913409"/>
              <a:ext cx="1291659" cy="1587077"/>
            </a:xfrm>
            <a:prstGeom prst="rect">
              <a:avLst/>
            </a:prstGeom>
            <a:noFill/>
            <a:ln w="19050">
              <a:solidFill>
                <a:sysClr val="windowText" lastClr="000000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20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F0502020204030204"/>
                <a:ea typeface="等线" panose="02010600030101010101" pitchFamily="2" charset="-122"/>
              </a:endParaRPr>
            </a:p>
          </p:txBody>
        </p:sp>
        <p:sp>
          <p:nvSpPr>
            <p:cNvPr id="42" name="Line 44">
              <a:extLst>
                <a:ext uri="{FF2B5EF4-FFF2-40B4-BE49-F238E27FC236}">
                  <a16:creationId xmlns:a16="http://schemas.microsoft.com/office/drawing/2014/main" id="{90BB6D75-7433-6FC3-00C4-C2BE06910BF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380465" y="3704733"/>
              <a:ext cx="151960" cy="0"/>
            </a:xfrm>
            <a:prstGeom prst="line">
              <a:avLst/>
            </a:prstGeom>
            <a:noFill/>
            <a:ln w="19050">
              <a:solidFill>
                <a:sysClr val="windowText" lastClr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F0502020204030204"/>
                <a:ea typeface="等线" panose="02010600030101010101" pitchFamily="2" charset="-122"/>
              </a:endParaRPr>
            </a:p>
          </p:txBody>
        </p:sp>
        <p:sp>
          <p:nvSpPr>
            <p:cNvPr id="43" name="Line 45">
              <a:extLst>
                <a:ext uri="{FF2B5EF4-FFF2-40B4-BE49-F238E27FC236}">
                  <a16:creationId xmlns:a16="http://schemas.microsoft.com/office/drawing/2014/main" id="{E96132F1-3649-9ABB-EA2A-9F8BDF057E7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36345" y="3496414"/>
              <a:ext cx="303920" cy="0"/>
            </a:xfrm>
            <a:prstGeom prst="line">
              <a:avLst/>
            </a:prstGeom>
            <a:noFill/>
            <a:ln w="19050">
              <a:solidFill>
                <a:sysClr val="windowText" lastClr="000000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F0502020204030204"/>
                <a:ea typeface="等线" panose="02010600030101010101" pitchFamily="2" charset="-122"/>
              </a:endParaRPr>
            </a:p>
          </p:txBody>
        </p:sp>
        <p:sp>
          <p:nvSpPr>
            <p:cNvPr id="44" name="Text Box 46">
              <a:extLst>
                <a:ext uri="{FF2B5EF4-FFF2-40B4-BE49-F238E27FC236}">
                  <a16:creationId xmlns:a16="http://schemas.microsoft.com/office/drawing/2014/main" id="{9C453617-4F3C-7E7B-05E7-27A3570F6AB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079726" y="4069515"/>
              <a:ext cx="540952" cy="40009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1425" tIns="45713" rIns="91425" bIns="45713">
              <a:spAutoFit/>
            </a:bodyPr>
            <a:lstStyle>
              <a:lvl1pPr eaLnBrk="0" hangingPunct="0"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1pPr>
              <a:lvl2pPr marL="742950" indent="-285750" eaLnBrk="0" hangingPunct="0"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2pPr>
              <a:lvl3pPr marL="1143000" indent="-228600" eaLnBrk="0" hangingPunct="0"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3pPr>
              <a:lvl4pPr marL="1600200" indent="-228600" eaLnBrk="0" hangingPunct="0"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4pPr>
              <a:lvl5pPr marL="2057400" indent="-228600" eaLnBrk="0" hangingPunct="0"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9pPr>
            </a:lstStyle>
            <a:p>
              <a:pPr fontAlgn="auto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lang="en-US" altLang="zh-CN" sz="1200" b="0" dirty="0">
                  <a:solidFill>
                    <a:prstClr val="black"/>
                  </a:solidFill>
                  <a:latin typeface="Arial" pitchFamily="34" charset="0"/>
                  <a:ea typeface="SimHei" panose="02010609060101010101" pitchFamily="49" charset="-122"/>
                </a:rPr>
                <a:t>Write</a:t>
              </a:r>
            </a:p>
            <a:p>
              <a:pPr fontAlgn="auto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lang="en-US" altLang="zh-CN" sz="1200" b="0" dirty="0">
                  <a:solidFill>
                    <a:prstClr val="black"/>
                  </a:solidFill>
                  <a:latin typeface="Arial" pitchFamily="34" charset="0"/>
                  <a:ea typeface="SimHei" panose="02010609060101010101" pitchFamily="49" charset="-122"/>
                </a:rPr>
                <a:t>Data</a:t>
              </a:r>
            </a:p>
          </p:txBody>
        </p:sp>
        <p:sp>
          <p:nvSpPr>
            <p:cNvPr id="45" name="Text Box 47">
              <a:extLst>
                <a:ext uri="{FF2B5EF4-FFF2-40B4-BE49-F238E27FC236}">
                  <a16:creationId xmlns:a16="http://schemas.microsoft.com/office/drawing/2014/main" id="{8AA49D62-398F-E1BB-8FBE-7F2BBB3D18D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070642" y="2967621"/>
              <a:ext cx="636682" cy="40009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1425" tIns="45713" rIns="91425" bIns="45713">
              <a:spAutoFit/>
            </a:bodyPr>
            <a:lstStyle>
              <a:lvl1pPr eaLnBrk="0" hangingPunct="0"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1pPr>
              <a:lvl2pPr marL="742950" indent="-285750" eaLnBrk="0" hangingPunct="0"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2pPr>
              <a:lvl3pPr marL="1143000" indent="-228600" eaLnBrk="0" hangingPunct="0"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3pPr>
              <a:lvl4pPr marL="1600200" indent="-228600" eaLnBrk="0" hangingPunct="0"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4pPr>
              <a:lvl5pPr marL="2057400" indent="-228600" eaLnBrk="0" hangingPunct="0"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9pPr>
            </a:lstStyle>
            <a:p>
              <a:pPr fontAlgn="auto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lang="en-US" altLang="zh-CN" sz="1200" b="0" dirty="0">
                  <a:solidFill>
                    <a:prstClr val="black"/>
                  </a:solidFill>
                  <a:latin typeface="Arial" pitchFamily="34" charset="0"/>
                  <a:ea typeface="SimHei" panose="02010609060101010101" pitchFamily="49" charset="-122"/>
                </a:rPr>
                <a:t>Read </a:t>
              </a:r>
            </a:p>
            <a:p>
              <a:pPr fontAlgn="auto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lang="en-US" altLang="zh-CN" sz="1200" b="0" dirty="0" err="1">
                  <a:solidFill>
                    <a:prstClr val="black"/>
                  </a:solidFill>
                  <a:latin typeface="Arial" pitchFamily="34" charset="0"/>
                  <a:ea typeface="SimHei" panose="02010609060101010101" pitchFamily="49" charset="-122"/>
                </a:rPr>
                <a:t>Addr</a:t>
              </a:r>
              <a:r>
                <a:rPr lang="en-US" altLang="zh-CN" sz="1200" b="0" dirty="0">
                  <a:solidFill>
                    <a:prstClr val="black"/>
                  </a:solidFill>
                  <a:latin typeface="Arial" pitchFamily="34" charset="0"/>
                  <a:ea typeface="SimHei" panose="02010609060101010101" pitchFamily="49" charset="-122"/>
                </a:rPr>
                <a:t> 1</a:t>
              </a:r>
            </a:p>
          </p:txBody>
        </p:sp>
        <p:sp>
          <p:nvSpPr>
            <p:cNvPr id="46" name="Text Box 48">
              <a:extLst>
                <a:ext uri="{FF2B5EF4-FFF2-40B4-BE49-F238E27FC236}">
                  <a16:creationId xmlns:a16="http://schemas.microsoft.com/office/drawing/2014/main" id="{883B4F85-0058-724F-C198-22807FA72B4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073432" y="3329446"/>
              <a:ext cx="636682" cy="40009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1425" tIns="45713" rIns="91425" bIns="45713">
              <a:spAutoFit/>
            </a:bodyPr>
            <a:lstStyle>
              <a:lvl1pPr eaLnBrk="0" hangingPunct="0"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1pPr>
              <a:lvl2pPr marL="742950" indent="-285750" eaLnBrk="0" hangingPunct="0"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2pPr>
              <a:lvl3pPr marL="1143000" indent="-228600" eaLnBrk="0" hangingPunct="0"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3pPr>
              <a:lvl4pPr marL="1600200" indent="-228600" eaLnBrk="0" hangingPunct="0"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4pPr>
              <a:lvl5pPr marL="2057400" indent="-228600" eaLnBrk="0" hangingPunct="0"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9pPr>
            </a:lstStyle>
            <a:p>
              <a:pPr fontAlgn="auto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lang="en-US" altLang="zh-CN" sz="1200" b="0" dirty="0">
                  <a:solidFill>
                    <a:prstClr val="black"/>
                  </a:solidFill>
                  <a:latin typeface="Arial" pitchFamily="34" charset="0"/>
                  <a:ea typeface="SimHei" panose="02010609060101010101" pitchFamily="49" charset="-122"/>
                </a:rPr>
                <a:t>Read </a:t>
              </a:r>
            </a:p>
            <a:p>
              <a:pPr fontAlgn="auto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lang="en-US" altLang="zh-CN" sz="1200" b="0" dirty="0" err="1">
                  <a:solidFill>
                    <a:prstClr val="black"/>
                  </a:solidFill>
                  <a:latin typeface="Arial" pitchFamily="34" charset="0"/>
                  <a:ea typeface="SimHei" panose="02010609060101010101" pitchFamily="49" charset="-122"/>
                </a:rPr>
                <a:t>Addr</a:t>
              </a:r>
              <a:r>
                <a:rPr lang="en-US" altLang="zh-CN" sz="1200" b="0" dirty="0">
                  <a:solidFill>
                    <a:prstClr val="black"/>
                  </a:solidFill>
                  <a:latin typeface="Arial" pitchFamily="34" charset="0"/>
                  <a:ea typeface="SimHei" panose="02010609060101010101" pitchFamily="49" charset="-122"/>
                </a:rPr>
                <a:t> 2</a:t>
              </a:r>
            </a:p>
          </p:txBody>
        </p:sp>
        <p:sp>
          <p:nvSpPr>
            <p:cNvPr id="47" name="Text Box 49">
              <a:extLst>
                <a:ext uri="{FF2B5EF4-FFF2-40B4-BE49-F238E27FC236}">
                  <a16:creationId xmlns:a16="http://schemas.microsoft.com/office/drawing/2014/main" id="{04DF9940-1A51-EE47-706B-174F3714351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079375" y="3715251"/>
              <a:ext cx="540952" cy="40009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1425" tIns="45713" rIns="91425" bIns="45713">
              <a:spAutoFit/>
            </a:bodyPr>
            <a:lstStyle>
              <a:lvl1pPr eaLnBrk="0" hangingPunct="0"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1pPr>
              <a:lvl2pPr marL="742950" indent="-285750" eaLnBrk="0" hangingPunct="0"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2pPr>
              <a:lvl3pPr marL="1143000" indent="-228600" eaLnBrk="0" hangingPunct="0"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3pPr>
              <a:lvl4pPr marL="1600200" indent="-228600" eaLnBrk="0" hangingPunct="0"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4pPr>
              <a:lvl5pPr marL="2057400" indent="-228600" eaLnBrk="0" hangingPunct="0"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9pPr>
            </a:lstStyle>
            <a:p>
              <a:pPr fontAlgn="auto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lang="en-US" altLang="zh-CN" sz="1200" b="0" dirty="0">
                  <a:solidFill>
                    <a:prstClr val="black"/>
                  </a:solidFill>
                  <a:latin typeface="Arial" pitchFamily="34" charset="0"/>
                  <a:ea typeface="SimHei" panose="02010609060101010101" pitchFamily="49" charset="-122"/>
                </a:rPr>
                <a:t>Write</a:t>
              </a:r>
            </a:p>
            <a:p>
              <a:pPr fontAlgn="auto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lang="en-US" altLang="zh-CN" sz="1200" b="0" dirty="0" err="1">
                  <a:solidFill>
                    <a:prstClr val="black"/>
                  </a:solidFill>
                  <a:latin typeface="Arial" pitchFamily="34" charset="0"/>
                  <a:ea typeface="SimHei" panose="02010609060101010101" pitchFamily="49" charset="-122"/>
                </a:rPr>
                <a:t>Addr</a:t>
              </a:r>
              <a:endParaRPr lang="en-US" altLang="zh-CN" sz="1200" b="0" dirty="0">
                <a:solidFill>
                  <a:prstClr val="black"/>
                </a:solidFill>
                <a:latin typeface="Arial" pitchFamily="34" charset="0"/>
                <a:ea typeface="SimHei" panose="02010609060101010101" pitchFamily="49" charset="-122"/>
              </a:endParaRPr>
            </a:p>
          </p:txBody>
        </p:sp>
        <p:sp>
          <p:nvSpPr>
            <p:cNvPr id="48" name="Text Box 50">
              <a:extLst>
                <a:ext uri="{FF2B5EF4-FFF2-40B4-BE49-F238E27FC236}">
                  <a16:creationId xmlns:a16="http://schemas.microsoft.com/office/drawing/2014/main" id="{3C91276F-4CAF-88F5-CED5-BE0DC74C9F6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745972" y="3523895"/>
              <a:ext cx="684773" cy="33854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1425" tIns="45713" rIns="91425" bIns="45713">
              <a:spAutoFit/>
            </a:bodyPr>
            <a:lstStyle>
              <a:lvl1pPr eaLnBrk="0" hangingPunct="0"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1pPr>
              <a:lvl2pPr marL="742950" indent="-285750" eaLnBrk="0" hangingPunct="0"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2pPr>
              <a:lvl3pPr marL="1143000" indent="-228600" eaLnBrk="0" hangingPunct="0"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3pPr>
              <a:lvl4pPr marL="1600200" indent="-228600" eaLnBrk="0" hangingPunct="0"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4pPr>
              <a:lvl5pPr marL="2057400" indent="-228600" eaLnBrk="0" hangingPunct="0"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9pPr>
            </a:lstStyle>
            <a:p>
              <a:pPr algn="ctr" fontAlgn="auto">
                <a:spcBef>
                  <a:spcPts val="0"/>
                </a:spcBef>
                <a:spcAft>
                  <a:spcPts val="0"/>
                </a:spcAft>
              </a:pPr>
              <a:r>
                <a:rPr lang="en-US" altLang="zh-CN" sz="1600" b="0" dirty="0">
                  <a:solidFill>
                    <a:prstClr val="black"/>
                  </a:solidFill>
                  <a:latin typeface="Arial" pitchFamily="34" charset="0"/>
                  <a:ea typeface="SimHei" panose="02010609060101010101" pitchFamily="49" charset="-122"/>
                </a:rPr>
                <a:t>Regs</a:t>
              </a:r>
            </a:p>
          </p:txBody>
        </p:sp>
        <p:sp>
          <p:nvSpPr>
            <p:cNvPr id="49" name="Text Box 51">
              <a:extLst>
                <a:ext uri="{FF2B5EF4-FFF2-40B4-BE49-F238E27FC236}">
                  <a16:creationId xmlns:a16="http://schemas.microsoft.com/office/drawing/2014/main" id="{FADA9C8D-EF5D-4087-C882-7175560EA88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807047" y="3141428"/>
              <a:ext cx="679963" cy="40009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1425" tIns="45713" rIns="91425" bIns="45713">
              <a:spAutoFit/>
            </a:bodyPr>
            <a:lstStyle>
              <a:lvl1pPr eaLnBrk="0" hangingPunct="0"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1pPr>
              <a:lvl2pPr marL="742950" indent="-285750" eaLnBrk="0" hangingPunct="0"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2pPr>
              <a:lvl3pPr marL="1143000" indent="-228600" eaLnBrk="0" hangingPunct="0"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3pPr>
              <a:lvl4pPr marL="1600200" indent="-228600" eaLnBrk="0" hangingPunct="0"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4pPr>
              <a:lvl5pPr marL="2057400" indent="-228600" eaLnBrk="0" hangingPunct="0"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9pPr>
            </a:lstStyle>
            <a:p>
              <a:pPr algn="r" fontAlgn="auto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lang="en-US" altLang="zh-CN" sz="1200" b="0" dirty="0">
                  <a:solidFill>
                    <a:prstClr val="black"/>
                  </a:solidFill>
                  <a:latin typeface="Arial" pitchFamily="34" charset="0"/>
                  <a:ea typeface="SimHei" panose="02010609060101010101" pitchFamily="49" charset="-122"/>
                </a:rPr>
                <a:t>Read</a:t>
              </a:r>
            </a:p>
            <a:p>
              <a:pPr algn="r" fontAlgn="auto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lang="en-US" altLang="zh-CN" sz="1200" b="0" dirty="0">
                  <a:solidFill>
                    <a:prstClr val="black"/>
                  </a:solidFill>
                  <a:latin typeface="Arial" pitchFamily="34" charset="0"/>
                  <a:ea typeface="SimHei" panose="02010609060101010101" pitchFamily="49" charset="-122"/>
                </a:rPr>
                <a:t> Data 1</a:t>
              </a:r>
            </a:p>
          </p:txBody>
        </p:sp>
        <p:sp>
          <p:nvSpPr>
            <p:cNvPr id="50" name="Text Box 52">
              <a:extLst>
                <a:ext uri="{FF2B5EF4-FFF2-40B4-BE49-F238E27FC236}">
                  <a16:creationId xmlns:a16="http://schemas.microsoft.com/office/drawing/2014/main" id="{1BF4C2A2-DA51-A3F2-66B1-C10748E71A7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797411" y="3892751"/>
              <a:ext cx="679963" cy="40009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1425" tIns="45713" rIns="91425" bIns="45713">
              <a:spAutoFit/>
            </a:bodyPr>
            <a:lstStyle>
              <a:lvl1pPr eaLnBrk="0" hangingPunct="0"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1pPr>
              <a:lvl2pPr marL="742950" indent="-285750" eaLnBrk="0" hangingPunct="0"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2pPr>
              <a:lvl3pPr marL="1143000" indent="-228600" eaLnBrk="0" hangingPunct="0"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3pPr>
              <a:lvl4pPr marL="1600200" indent="-228600" eaLnBrk="0" hangingPunct="0"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4pPr>
              <a:lvl5pPr marL="2057400" indent="-228600" eaLnBrk="0" hangingPunct="0"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9pPr>
            </a:lstStyle>
            <a:p>
              <a:pPr algn="r" fontAlgn="auto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lang="en-US" altLang="zh-CN" sz="1200" b="0" dirty="0">
                  <a:solidFill>
                    <a:prstClr val="black"/>
                  </a:solidFill>
                  <a:latin typeface="Arial" pitchFamily="34" charset="0"/>
                  <a:ea typeface="SimHei" panose="02010609060101010101" pitchFamily="49" charset="-122"/>
                </a:rPr>
                <a:t>Read</a:t>
              </a:r>
            </a:p>
            <a:p>
              <a:pPr algn="r" fontAlgn="auto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lang="en-US" altLang="zh-CN" sz="1200" b="0" dirty="0">
                  <a:solidFill>
                    <a:prstClr val="black"/>
                  </a:solidFill>
                  <a:latin typeface="Arial" pitchFamily="34" charset="0"/>
                  <a:ea typeface="SimHei" panose="02010609060101010101" pitchFamily="49" charset="-122"/>
                </a:rPr>
                <a:t> Data 2</a:t>
              </a:r>
            </a:p>
          </p:txBody>
        </p:sp>
        <p:sp>
          <p:nvSpPr>
            <p:cNvPr id="51" name="Line 53">
              <a:extLst>
                <a:ext uri="{FF2B5EF4-FFF2-40B4-BE49-F238E27FC236}">
                  <a16:creationId xmlns:a16="http://schemas.microsoft.com/office/drawing/2014/main" id="{0F56481A-9157-9866-7529-42EF0841E27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36345" y="4815770"/>
              <a:ext cx="379900" cy="0"/>
            </a:xfrm>
            <a:prstGeom prst="line">
              <a:avLst/>
            </a:prstGeom>
            <a:noFill/>
            <a:ln w="19050">
              <a:solidFill>
                <a:sysClr val="windowText" lastClr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F0502020204030204"/>
                <a:ea typeface="等线" panose="02010600030101010101" pitchFamily="2" charset="-122"/>
              </a:endParaRPr>
            </a:p>
          </p:txBody>
        </p:sp>
        <p:sp>
          <p:nvSpPr>
            <p:cNvPr id="52" name="Line 54">
              <a:extLst>
                <a:ext uri="{FF2B5EF4-FFF2-40B4-BE49-F238E27FC236}">
                  <a16:creationId xmlns:a16="http://schemas.microsoft.com/office/drawing/2014/main" id="{5F0BF8AA-4F8F-0163-DD6C-63BF3E41C8E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21543" y="4749518"/>
              <a:ext cx="75980" cy="138880"/>
            </a:xfrm>
            <a:prstGeom prst="line">
              <a:avLst/>
            </a:prstGeom>
            <a:noFill/>
            <a:ln w="12700">
              <a:solidFill>
                <a:sysClr val="windowText" lastClr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F0502020204030204"/>
                <a:ea typeface="等线" panose="02010600030101010101" pitchFamily="2" charset="-122"/>
              </a:endParaRPr>
            </a:p>
          </p:txBody>
        </p:sp>
        <p:sp>
          <p:nvSpPr>
            <p:cNvPr id="53" name="Line 55">
              <a:extLst>
                <a:ext uri="{FF2B5EF4-FFF2-40B4-BE49-F238E27FC236}">
                  <a16:creationId xmlns:a16="http://schemas.microsoft.com/office/drawing/2014/main" id="{D1C9C395-CA5C-44F7-F109-5285A2266F8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34054" y="4733847"/>
              <a:ext cx="75980" cy="138880"/>
            </a:xfrm>
            <a:prstGeom prst="line">
              <a:avLst/>
            </a:prstGeom>
            <a:noFill/>
            <a:ln w="12700">
              <a:solidFill>
                <a:sysClr val="windowText" lastClr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F0502020204030204"/>
                <a:ea typeface="等线" panose="02010600030101010101" pitchFamily="2" charset="-122"/>
              </a:endParaRPr>
            </a:p>
          </p:txBody>
        </p:sp>
        <p:sp>
          <p:nvSpPr>
            <p:cNvPr id="54" name="Text Box 56">
              <a:extLst>
                <a:ext uri="{FF2B5EF4-FFF2-40B4-BE49-F238E27FC236}">
                  <a16:creationId xmlns:a16="http://schemas.microsoft.com/office/drawing/2014/main" id="{85A318CD-23B8-5A23-1FDE-9CB4B083BA6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902832" y="4838245"/>
              <a:ext cx="379889" cy="27698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91425" tIns="45713" rIns="91425" bIns="45713">
              <a:spAutoFit/>
            </a:bodyPr>
            <a:lstStyle>
              <a:lvl1pPr eaLnBrk="0" hangingPunct="0"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1pPr>
              <a:lvl2pPr marL="742950" indent="-285750" eaLnBrk="0" hangingPunct="0"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2pPr>
              <a:lvl3pPr marL="1143000" indent="-228600" eaLnBrk="0" hangingPunct="0"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3pPr>
              <a:lvl4pPr marL="1600200" indent="-228600" eaLnBrk="0" hangingPunct="0"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4pPr>
              <a:lvl5pPr marL="2057400" indent="-228600" eaLnBrk="0" hangingPunct="0"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9pPr>
            </a:lstStyle>
            <a:p>
              <a:pPr fontAlgn="auto">
                <a:spcBef>
                  <a:spcPts val="0"/>
                </a:spcBef>
                <a:spcAft>
                  <a:spcPts val="0"/>
                </a:spcAft>
              </a:pPr>
              <a:r>
                <a:rPr lang="en-US" altLang="zh-CN" sz="1200" b="0" dirty="0">
                  <a:solidFill>
                    <a:prstClr val="black"/>
                  </a:solidFill>
                  <a:latin typeface="Arial" pitchFamily="34" charset="0"/>
                  <a:ea typeface="SimHei" panose="02010609060101010101" pitchFamily="49" charset="-122"/>
                </a:rPr>
                <a:t>16</a:t>
              </a:r>
            </a:p>
          </p:txBody>
        </p:sp>
        <p:sp>
          <p:nvSpPr>
            <p:cNvPr id="55" name="Text Box 57">
              <a:extLst>
                <a:ext uri="{FF2B5EF4-FFF2-40B4-BE49-F238E27FC236}">
                  <a16:creationId xmlns:a16="http://schemas.microsoft.com/office/drawing/2014/main" id="{029C29B3-C98C-2155-CC5E-B244DE78E43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28003" y="4815770"/>
              <a:ext cx="354554" cy="27698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1425" tIns="45713" rIns="91425" bIns="45713">
              <a:spAutoFit/>
            </a:bodyPr>
            <a:lstStyle>
              <a:lvl1pPr eaLnBrk="0" hangingPunct="0"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1pPr>
              <a:lvl2pPr marL="742950" indent="-285750" eaLnBrk="0" hangingPunct="0"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2pPr>
              <a:lvl3pPr marL="1143000" indent="-228600" eaLnBrk="0" hangingPunct="0"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3pPr>
              <a:lvl4pPr marL="1600200" indent="-228600" eaLnBrk="0" hangingPunct="0"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4pPr>
              <a:lvl5pPr marL="2057400" indent="-228600" eaLnBrk="0" hangingPunct="0"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9pPr>
            </a:lstStyle>
            <a:p>
              <a:pPr fontAlgn="auto">
                <a:spcBef>
                  <a:spcPts val="0"/>
                </a:spcBef>
                <a:spcAft>
                  <a:spcPts val="0"/>
                </a:spcAft>
              </a:pPr>
              <a:r>
                <a:rPr lang="en-US" altLang="zh-CN" sz="1200" b="0" dirty="0">
                  <a:solidFill>
                    <a:prstClr val="black"/>
                  </a:solidFill>
                  <a:latin typeface="Arial" pitchFamily="34" charset="0"/>
                  <a:ea typeface="SimHei" panose="02010609060101010101" pitchFamily="49" charset="-122"/>
                </a:rPr>
                <a:t>32</a:t>
              </a:r>
            </a:p>
          </p:txBody>
        </p:sp>
        <p:sp>
          <p:nvSpPr>
            <p:cNvPr id="56" name="Line 58">
              <a:extLst>
                <a:ext uri="{FF2B5EF4-FFF2-40B4-BE49-F238E27FC236}">
                  <a16:creationId xmlns:a16="http://schemas.microsoft.com/office/drawing/2014/main" id="{B659A95A-FA3F-E3C6-06DC-732977FD0D1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12325" y="4190812"/>
              <a:ext cx="227939" cy="0"/>
            </a:xfrm>
            <a:prstGeom prst="line">
              <a:avLst/>
            </a:prstGeom>
            <a:noFill/>
            <a:ln w="19050">
              <a:solidFill>
                <a:sysClr val="windowText" lastClr="000000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F0502020204030204"/>
                <a:ea typeface="等线" panose="02010600030101010101" pitchFamily="2" charset="-122"/>
              </a:endParaRPr>
            </a:p>
          </p:txBody>
        </p:sp>
        <p:sp>
          <p:nvSpPr>
            <p:cNvPr id="57" name="Line 59">
              <a:extLst>
                <a:ext uri="{FF2B5EF4-FFF2-40B4-BE49-F238E27FC236}">
                  <a16:creationId xmlns:a16="http://schemas.microsoft.com/office/drawing/2014/main" id="{EA8E67D8-A69F-BE6A-EAC7-887CD201962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843353" y="4329692"/>
              <a:ext cx="0" cy="486079"/>
            </a:xfrm>
            <a:prstGeom prst="line">
              <a:avLst/>
            </a:prstGeom>
            <a:noFill/>
            <a:ln w="19050">
              <a:solidFill>
                <a:sysClr val="windowText" lastClr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20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F0502020204030204"/>
                <a:ea typeface="等线" panose="02010600030101010101" pitchFamily="2" charset="-122"/>
              </a:endParaRPr>
            </a:p>
          </p:txBody>
        </p:sp>
        <p:sp>
          <p:nvSpPr>
            <p:cNvPr id="58" name="Line 60">
              <a:extLst>
                <a:ext uri="{FF2B5EF4-FFF2-40B4-BE49-F238E27FC236}">
                  <a16:creationId xmlns:a16="http://schemas.microsoft.com/office/drawing/2014/main" id="{D61446E3-E3F4-D5A3-78AA-09BDA550D64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431923" y="3982492"/>
              <a:ext cx="151960" cy="0"/>
            </a:xfrm>
            <a:prstGeom prst="line">
              <a:avLst/>
            </a:prstGeom>
            <a:noFill/>
            <a:ln w="19050">
              <a:solidFill>
                <a:sysClr val="windowText" lastClr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20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F0502020204030204"/>
                <a:ea typeface="等线" panose="02010600030101010101" pitchFamily="2" charset="-122"/>
              </a:endParaRPr>
            </a:p>
          </p:txBody>
        </p:sp>
        <p:sp>
          <p:nvSpPr>
            <p:cNvPr id="59" name="Line 61">
              <a:extLst>
                <a:ext uri="{FF2B5EF4-FFF2-40B4-BE49-F238E27FC236}">
                  <a16:creationId xmlns:a16="http://schemas.microsoft.com/office/drawing/2014/main" id="{F5705B44-0F51-7A32-3D9B-B520ECBDDE5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36345" y="3149214"/>
              <a:ext cx="0" cy="1666556"/>
            </a:xfrm>
            <a:prstGeom prst="line">
              <a:avLst/>
            </a:prstGeom>
            <a:noFill/>
            <a:ln w="19050">
              <a:solidFill>
                <a:sysClr val="windowText" lastClr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F0502020204030204"/>
                <a:ea typeface="等线" panose="02010600030101010101" pitchFamily="2" charset="-122"/>
              </a:endParaRPr>
            </a:p>
          </p:txBody>
        </p:sp>
        <p:sp>
          <p:nvSpPr>
            <p:cNvPr id="60" name="Line 62">
              <a:extLst>
                <a:ext uri="{FF2B5EF4-FFF2-40B4-BE49-F238E27FC236}">
                  <a16:creationId xmlns:a16="http://schemas.microsoft.com/office/drawing/2014/main" id="{687A9150-043D-298F-CB86-9A49902CD6C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36345" y="3149214"/>
              <a:ext cx="303920" cy="0"/>
            </a:xfrm>
            <a:prstGeom prst="line">
              <a:avLst/>
            </a:prstGeom>
            <a:noFill/>
            <a:ln w="19050">
              <a:solidFill>
                <a:sysClr val="windowText" lastClr="000000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F0502020204030204"/>
                <a:ea typeface="等线" panose="02010600030101010101" pitchFamily="2" charset="-122"/>
              </a:endParaRPr>
            </a:p>
          </p:txBody>
        </p:sp>
        <p:sp>
          <p:nvSpPr>
            <p:cNvPr id="61" name="Line 63">
              <a:extLst>
                <a:ext uri="{FF2B5EF4-FFF2-40B4-BE49-F238E27FC236}">
                  <a16:creationId xmlns:a16="http://schemas.microsoft.com/office/drawing/2014/main" id="{25406034-4438-F9BB-9CC2-7C6306ED4DD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35843" y="3982492"/>
              <a:ext cx="471997" cy="0"/>
            </a:xfrm>
            <a:prstGeom prst="line">
              <a:avLst/>
            </a:prstGeom>
            <a:noFill/>
            <a:ln w="19050">
              <a:solidFill>
                <a:sysClr val="windowText" lastClr="000000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F0502020204030204"/>
                <a:ea typeface="等线" panose="02010600030101010101" pitchFamily="2" charset="-122"/>
              </a:endParaRPr>
            </a:p>
          </p:txBody>
        </p:sp>
        <p:sp>
          <p:nvSpPr>
            <p:cNvPr id="62" name="Line 64">
              <a:extLst>
                <a:ext uri="{FF2B5EF4-FFF2-40B4-BE49-F238E27FC236}">
                  <a16:creationId xmlns:a16="http://schemas.microsoft.com/office/drawing/2014/main" id="{CFDFCBD3-51C8-DC60-AEE2-1ECF0AE1E13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103483" y="3774173"/>
              <a:ext cx="151514" cy="0"/>
            </a:xfrm>
            <a:prstGeom prst="line">
              <a:avLst/>
            </a:prstGeom>
            <a:noFill/>
            <a:ln w="19050">
              <a:solidFill>
                <a:sysClr val="windowText" lastClr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F0502020204030204"/>
                <a:ea typeface="等线" panose="02010600030101010101" pitchFamily="2" charset="-122"/>
              </a:endParaRPr>
            </a:p>
          </p:txBody>
        </p:sp>
        <p:sp>
          <p:nvSpPr>
            <p:cNvPr id="63" name="Freeform 65">
              <a:extLst>
                <a:ext uri="{FF2B5EF4-FFF2-40B4-BE49-F238E27FC236}">
                  <a16:creationId xmlns:a16="http://schemas.microsoft.com/office/drawing/2014/main" id="{81875826-2904-B6BD-B78C-38775DF452BF}"/>
                </a:ext>
              </a:extLst>
            </p:cNvPr>
            <p:cNvSpPr>
              <a:spLocks/>
            </p:cNvSpPr>
            <p:nvPr/>
          </p:nvSpPr>
          <p:spPr bwMode="auto">
            <a:xfrm>
              <a:off x="5571622" y="3149214"/>
              <a:ext cx="531860" cy="1180477"/>
            </a:xfrm>
            <a:custGeom>
              <a:avLst/>
              <a:gdLst>
                <a:gd name="T0" fmla="*/ 0 w 388"/>
                <a:gd name="T1" fmla="*/ 0 h 1099"/>
                <a:gd name="T2" fmla="*/ 0 w 388"/>
                <a:gd name="T3" fmla="*/ 235 h 1099"/>
                <a:gd name="T4" fmla="*/ 83 w 388"/>
                <a:gd name="T5" fmla="*/ 305 h 1099"/>
                <a:gd name="T6" fmla="*/ 0 w 388"/>
                <a:gd name="T7" fmla="*/ 370 h 1099"/>
                <a:gd name="T8" fmla="*/ 0 w 388"/>
                <a:gd name="T9" fmla="*/ 605 h 1099"/>
                <a:gd name="T10" fmla="*/ 290 w 388"/>
                <a:gd name="T11" fmla="*/ 436 h 1099"/>
                <a:gd name="T12" fmla="*/ 290 w 388"/>
                <a:gd name="T13" fmla="*/ 170 h 1099"/>
                <a:gd name="T14" fmla="*/ 0 w 388"/>
                <a:gd name="T15" fmla="*/ 0 h 109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88" h="1099">
                  <a:moveTo>
                    <a:pt x="0" y="0"/>
                  </a:moveTo>
                  <a:lnTo>
                    <a:pt x="0" y="427"/>
                  </a:lnTo>
                  <a:lnTo>
                    <a:pt x="111" y="553"/>
                  </a:lnTo>
                  <a:lnTo>
                    <a:pt x="0" y="671"/>
                  </a:lnTo>
                  <a:lnTo>
                    <a:pt x="0" y="1098"/>
                  </a:lnTo>
                  <a:lnTo>
                    <a:pt x="387" y="790"/>
                  </a:lnTo>
                  <a:lnTo>
                    <a:pt x="387" y="308"/>
                  </a:lnTo>
                  <a:lnTo>
                    <a:pt x="0" y="0"/>
                  </a:lnTo>
                </a:path>
              </a:pathLst>
            </a:custGeom>
            <a:noFill/>
            <a:ln w="19050" cap="rnd" cmpd="sng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</a:pPr>
              <a:endParaRPr lang="zh-CN" altLang="en-US">
                <a:solidFill>
                  <a:prstClr val="black"/>
                </a:solidFill>
                <a:latin typeface="等线" panose="020F0502020204030204"/>
                <a:ea typeface="等线" panose="02010600030101010101" pitchFamily="2" charset="-122"/>
              </a:endParaRPr>
            </a:p>
          </p:txBody>
        </p:sp>
        <p:sp>
          <p:nvSpPr>
            <p:cNvPr id="64" name="Rectangle 66">
              <a:extLst>
                <a:ext uri="{FF2B5EF4-FFF2-40B4-BE49-F238E27FC236}">
                  <a16:creationId xmlns:a16="http://schemas.microsoft.com/office/drawing/2014/main" id="{4F248D35-88F5-CEC6-A999-459AB8C340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68180" y="3626888"/>
              <a:ext cx="473292" cy="19851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19047" tIns="26984" rIns="19047" bIns="26984"/>
            <a:lstStyle/>
            <a:p>
              <a:pPr algn="ctr" defTabSz="903288" eaLnBrk="0" fontAlgn="auto" hangingPunct="0">
                <a:lnSpc>
                  <a:spcPts val="1600"/>
                </a:lnSpc>
                <a:spcBef>
                  <a:spcPts val="0"/>
                </a:spcBef>
                <a:spcAft>
                  <a:spcPts val="0"/>
                </a:spcAft>
                <a:tabLst>
                  <a:tab pos="452438" algn="l"/>
                  <a:tab pos="903288" algn="l"/>
                  <a:tab pos="1357313" algn="l"/>
                </a:tabLst>
              </a:pPr>
              <a:r>
                <a:rPr lang="en-US" altLang="zh-CN" sz="1400" b="1" dirty="0">
                  <a:solidFill>
                    <a:srgbClr val="000000"/>
                  </a:solidFill>
                  <a:latin typeface="Arial" pitchFamily="34" charset="0"/>
                  <a:ea typeface="等线" panose="02010600030101010101" pitchFamily="2" charset="-122"/>
                </a:rPr>
                <a:t>ALU</a:t>
              </a:r>
            </a:p>
          </p:txBody>
        </p:sp>
        <p:sp>
          <p:nvSpPr>
            <p:cNvPr id="65" name="AutoShape 67">
              <a:extLst>
                <a:ext uri="{FF2B5EF4-FFF2-40B4-BE49-F238E27FC236}">
                  <a16:creationId xmlns:a16="http://schemas.microsoft.com/office/drawing/2014/main" id="{E8778C98-357D-79B9-9717-A8A364F49C47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6200000">
              <a:off x="4974612" y="4005956"/>
              <a:ext cx="694398" cy="227940"/>
            </a:xfrm>
            <a:custGeom>
              <a:avLst/>
              <a:gdLst>
                <a:gd name="T0" fmla="*/ 9 w 21600"/>
                <a:gd name="T1" fmla="*/ 0 h 21600"/>
                <a:gd name="T2" fmla="*/ 5 w 21600"/>
                <a:gd name="T3" fmla="*/ 1 h 21600"/>
                <a:gd name="T4" fmla="*/ 1 w 21600"/>
                <a:gd name="T5" fmla="*/ 0 h 21600"/>
                <a:gd name="T6" fmla="*/ 5 w 21600"/>
                <a:gd name="T7" fmla="*/ 0 h 21600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4500 w 21600"/>
                <a:gd name="T13" fmla="*/ 4500 h 21600"/>
                <a:gd name="T14" fmla="*/ 17100 w 21600"/>
                <a:gd name="T15" fmla="*/ 17100 h 2160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600" h="21600">
                  <a:moveTo>
                    <a:pt x="0" y="0"/>
                  </a:moveTo>
                  <a:lnTo>
                    <a:pt x="5400" y="21600"/>
                  </a:lnTo>
                  <a:lnTo>
                    <a:pt x="16200" y="21600"/>
                  </a:lnTo>
                  <a:lnTo>
                    <a:pt x="21600" y="0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9050">
              <a:solidFill>
                <a:sysClr val="windowText" lastClr="000000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20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F0502020204030204"/>
                <a:ea typeface="等线" panose="02010600030101010101" pitchFamily="2" charset="-122"/>
              </a:endParaRPr>
            </a:p>
          </p:txBody>
        </p:sp>
        <p:sp>
          <p:nvSpPr>
            <p:cNvPr id="66" name="Line 68">
              <a:extLst>
                <a:ext uri="{FF2B5EF4-FFF2-40B4-BE49-F238E27FC236}">
                  <a16:creationId xmlns:a16="http://schemas.microsoft.com/office/drawing/2014/main" id="{E2FD2C93-8EF8-374E-6C26-E27D99D0D20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440813" y="4121372"/>
              <a:ext cx="130809" cy="0"/>
            </a:xfrm>
            <a:prstGeom prst="line">
              <a:avLst/>
            </a:prstGeom>
            <a:noFill/>
            <a:ln w="19050">
              <a:solidFill>
                <a:sysClr val="windowText" lastClr="000000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20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F0502020204030204"/>
                <a:ea typeface="等线" panose="02010600030101010101" pitchFamily="2" charset="-122"/>
              </a:endParaRPr>
            </a:p>
          </p:txBody>
        </p:sp>
        <p:sp>
          <p:nvSpPr>
            <p:cNvPr id="68" name="Line 71">
              <a:extLst>
                <a:ext uri="{FF2B5EF4-FFF2-40B4-BE49-F238E27FC236}">
                  <a16:creationId xmlns:a16="http://schemas.microsoft.com/office/drawing/2014/main" id="{94545124-B6AF-0C06-CD83-045D247DE00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843354" y="4329692"/>
              <a:ext cx="364486" cy="0"/>
            </a:xfrm>
            <a:prstGeom prst="line">
              <a:avLst/>
            </a:prstGeom>
            <a:noFill/>
            <a:ln w="19050">
              <a:solidFill>
                <a:sysClr val="windowText" lastClr="000000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20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F0502020204030204"/>
                <a:ea typeface="等线" panose="02010600030101010101" pitchFamily="2" charset="-122"/>
              </a:endParaRPr>
            </a:p>
          </p:txBody>
        </p:sp>
        <p:sp>
          <p:nvSpPr>
            <p:cNvPr id="69" name="Line 72">
              <a:extLst>
                <a:ext uri="{FF2B5EF4-FFF2-40B4-BE49-F238E27FC236}">
                  <a16:creationId xmlns:a16="http://schemas.microsoft.com/office/drawing/2014/main" id="{F4C5566B-55C4-393C-099B-810D39DAA7C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35843" y="3357534"/>
              <a:ext cx="810453" cy="0"/>
            </a:xfrm>
            <a:prstGeom prst="line">
              <a:avLst/>
            </a:prstGeom>
            <a:noFill/>
            <a:ln w="19050">
              <a:solidFill>
                <a:sysClr val="windowText" lastClr="000000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F0502020204030204"/>
                <a:ea typeface="等线" panose="02010600030101010101" pitchFamily="2" charset="-122"/>
              </a:endParaRPr>
            </a:p>
          </p:txBody>
        </p:sp>
        <p:sp>
          <p:nvSpPr>
            <p:cNvPr id="70" name="Oval 73">
              <a:extLst>
                <a:ext uri="{FF2B5EF4-FFF2-40B4-BE49-F238E27FC236}">
                  <a16:creationId xmlns:a16="http://schemas.microsoft.com/office/drawing/2014/main" id="{FA4C9470-D00A-EBC0-0E7F-09B9DEBB27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15743" y="2663136"/>
              <a:ext cx="455880" cy="486079"/>
            </a:xfrm>
            <a:prstGeom prst="ellipse">
              <a:avLst/>
            </a:prstGeom>
            <a:noFill/>
            <a:ln w="19050">
              <a:solidFill>
                <a:sysClr val="windowText" lastClr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F0502020204030204"/>
                <a:ea typeface="等线" panose="02010600030101010101" pitchFamily="2" charset="-122"/>
              </a:endParaRPr>
            </a:p>
          </p:txBody>
        </p:sp>
        <p:sp>
          <p:nvSpPr>
            <p:cNvPr id="71" name="Rectangle 74">
              <a:extLst>
                <a:ext uri="{FF2B5EF4-FFF2-40B4-BE49-F238E27FC236}">
                  <a16:creationId xmlns:a16="http://schemas.microsoft.com/office/drawing/2014/main" id="{943A9958-A332-D613-ADD4-7D623C1BA5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22714" y="2782822"/>
              <a:ext cx="441936" cy="239554"/>
            </a:xfrm>
            <a:prstGeom prst="rect">
              <a:avLst/>
            </a:prstGeom>
            <a:noFill/>
            <a:ln w="12700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19047" tIns="26984" rIns="19047" bIns="26984"/>
            <a:lstStyle/>
            <a:p>
              <a:pPr algn="ctr" defTabSz="903288" eaLnBrk="0" fontAlgn="auto" hangingPunct="0">
                <a:lnSpc>
                  <a:spcPts val="1600"/>
                </a:lnSpc>
                <a:spcBef>
                  <a:spcPts val="0"/>
                </a:spcBef>
                <a:spcAft>
                  <a:spcPts val="0"/>
                </a:spcAft>
                <a:tabLst>
                  <a:tab pos="452438" algn="l"/>
                  <a:tab pos="903288" algn="l"/>
                  <a:tab pos="1357313" algn="l"/>
                </a:tabLst>
              </a:pPr>
              <a:r>
                <a:rPr lang="en-US" altLang="zh-CN" sz="1400" dirty="0">
                  <a:solidFill>
                    <a:srgbClr val="000000"/>
                  </a:solidFill>
                  <a:latin typeface="Arial" pitchFamily="34" charset="0"/>
                  <a:ea typeface="等线" panose="02010600030101010101" pitchFamily="2" charset="-122"/>
                </a:rPr>
                <a:t>&lt;&lt;2</a:t>
              </a:r>
            </a:p>
          </p:txBody>
        </p:sp>
        <p:sp>
          <p:nvSpPr>
            <p:cNvPr id="72" name="Line 75">
              <a:extLst>
                <a:ext uri="{FF2B5EF4-FFF2-40B4-BE49-F238E27FC236}">
                  <a16:creationId xmlns:a16="http://schemas.microsoft.com/office/drawing/2014/main" id="{CDE0892F-9824-C384-17EC-9F69033420E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843353" y="2940895"/>
              <a:ext cx="272390" cy="0"/>
            </a:xfrm>
            <a:prstGeom prst="line">
              <a:avLst/>
            </a:prstGeom>
            <a:noFill/>
            <a:ln w="19050">
              <a:solidFill>
                <a:sysClr val="windowText" lastClr="000000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F0502020204030204"/>
                <a:ea typeface="等线" panose="02010600030101010101" pitchFamily="2" charset="-122"/>
              </a:endParaRPr>
            </a:p>
          </p:txBody>
        </p:sp>
        <p:sp>
          <p:nvSpPr>
            <p:cNvPr id="82" name="Line 85">
              <a:extLst>
                <a:ext uri="{FF2B5EF4-FFF2-40B4-BE49-F238E27FC236}">
                  <a16:creationId xmlns:a16="http://schemas.microsoft.com/office/drawing/2014/main" id="{5BECBDB3-7A0F-35E6-2FFF-F7EA685C006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566901" y="2940895"/>
              <a:ext cx="227940" cy="0"/>
            </a:xfrm>
            <a:prstGeom prst="line">
              <a:avLst/>
            </a:prstGeom>
            <a:noFill/>
            <a:ln w="19050">
              <a:solidFill>
                <a:sysClr val="windowText" lastClr="000000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F0502020204030204"/>
                <a:ea typeface="等线" panose="02010600030101010101" pitchFamily="2" charset="-122"/>
              </a:endParaRPr>
            </a:p>
          </p:txBody>
        </p:sp>
        <p:sp>
          <p:nvSpPr>
            <p:cNvPr id="83" name="Rectangle 86">
              <a:extLst>
                <a:ext uri="{FF2B5EF4-FFF2-40B4-BE49-F238E27FC236}">
                  <a16:creationId xmlns:a16="http://schemas.microsoft.com/office/drawing/2014/main" id="{FF2C69E3-FC08-CFC2-0475-5D71DADB1A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635341" y="3184998"/>
              <a:ext cx="1291659" cy="1117207"/>
            </a:xfrm>
            <a:prstGeom prst="rect">
              <a:avLst/>
            </a:prstGeom>
            <a:noFill/>
            <a:ln w="19050">
              <a:solidFill>
                <a:sysClr val="windowText" lastClr="000000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F0502020204030204"/>
                <a:ea typeface="等线" panose="02010600030101010101" pitchFamily="2" charset="-122"/>
              </a:endParaRPr>
            </a:p>
          </p:txBody>
        </p:sp>
        <p:sp>
          <p:nvSpPr>
            <p:cNvPr id="84" name="Line 87">
              <a:extLst>
                <a:ext uri="{FF2B5EF4-FFF2-40B4-BE49-F238E27FC236}">
                  <a16:creationId xmlns:a16="http://schemas.microsoft.com/office/drawing/2014/main" id="{CC366717-6C54-572E-F645-FA153A69724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407401" y="3774173"/>
              <a:ext cx="227940" cy="0"/>
            </a:xfrm>
            <a:prstGeom prst="line">
              <a:avLst/>
            </a:prstGeom>
            <a:noFill/>
            <a:ln w="19050">
              <a:solidFill>
                <a:sysClr val="windowText" lastClr="000000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F0502020204030204"/>
                <a:ea typeface="等线" panose="02010600030101010101" pitchFamily="2" charset="-122"/>
              </a:endParaRPr>
            </a:p>
          </p:txBody>
        </p:sp>
        <p:sp>
          <p:nvSpPr>
            <p:cNvPr id="85" name="Text Box 88">
              <a:extLst>
                <a:ext uri="{FF2B5EF4-FFF2-40B4-BE49-F238E27FC236}">
                  <a16:creationId xmlns:a16="http://schemas.microsoft.com/office/drawing/2014/main" id="{9A487E53-391C-9A52-8D21-7A3FF891153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863363" y="3164294"/>
              <a:ext cx="830645" cy="52320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1425" tIns="45713" rIns="91425" bIns="45713">
              <a:spAutoFit/>
            </a:bodyPr>
            <a:lstStyle>
              <a:lvl1pPr eaLnBrk="0" hangingPunct="0"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1pPr>
              <a:lvl2pPr marL="742950" indent="-285750" eaLnBrk="0" hangingPunct="0"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2pPr>
              <a:lvl3pPr marL="1143000" indent="-228600" eaLnBrk="0" hangingPunct="0"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3pPr>
              <a:lvl4pPr marL="1600200" indent="-228600" eaLnBrk="0" hangingPunct="0"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4pPr>
              <a:lvl5pPr marL="2057400" indent="-228600" eaLnBrk="0" hangingPunct="0"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9pPr>
            </a:lstStyle>
            <a:p>
              <a:pPr algn="ctr" fontAlgn="auto">
                <a:spcBef>
                  <a:spcPts val="0"/>
                </a:spcBef>
                <a:spcAft>
                  <a:spcPts val="0"/>
                </a:spcAft>
              </a:pPr>
              <a:r>
                <a:rPr lang="en-US" altLang="zh-CN" sz="1400" b="0" dirty="0">
                  <a:solidFill>
                    <a:prstClr val="black"/>
                  </a:solidFill>
                  <a:latin typeface="Arial" pitchFamily="34" charset="0"/>
                  <a:ea typeface="SimHei" panose="02010609060101010101" pitchFamily="49" charset="-122"/>
                </a:rPr>
                <a:t>Data</a:t>
              </a: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</a:pPr>
              <a:r>
                <a:rPr lang="en-US" altLang="zh-CN" sz="1400" b="0" dirty="0">
                  <a:solidFill>
                    <a:prstClr val="black"/>
                  </a:solidFill>
                  <a:latin typeface="Arial" pitchFamily="34" charset="0"/>
                  <a:ea typeface="SimHei" panose="02010609060101010101" pitchFamily="49" charset="-122"/>
                </a:rPr>
                <a:t>Memory</a:t>
              </a:r>
            </a:p>
          </p:txBody>
        </p:sp>
        <p:sp>
          <p:nvSpPr>
            <p:cNvPr id="86" name="Text Box 89">
              <a:extLst>
                <a:ext uri="{FF2B5EF4-FFF2-40B4-BE49-F238E27FC236}">
                  <a16:creationId xmlns:a16="http://schemas.microsoft.com/office/drawing/2014/main" id="{EB150BC4-6C6F-2A58-8545-D3AB587F460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579680" y="3635293"/>
              <a:ext cx="508442" cy="27698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1425" tIns="45713" rIns="91425" bIns="45713">
              <a:spAutoFit/>
            </a:bodyPr>
            <a:lstStyle>
              <a:lvl1pPr eaLnBrk="0" hangingPunct="0"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1pPr>
              <a:lvl2pPr marL="742950" indent="-285750" eaLnBrk="0" hangingPunct="0"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2pPr>
              <a:lvl3pPr marL="1143000" indent="-228600" eaLnBrk="0" hangingPunct="0"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3pPr>
              <a:lvl4pPr marL="1600200" indent="-228600" eaLnBrk="0" hangingPunct="0"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4pPr>
              <a:lvl5pPr marL="2057400" indent="-228600" eaLnBrk="0" hangingPunct="0"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9pPr>
            </a:lstStyle>
            <a:p>
              <a:pPr fontAlgn="auto">
                <a:spcBef>
                  <a:spcPts val="0"/>
                </a:spcBef>
                <a:spcAft>
                  <a:spcPts val="0"/>
                </a:spcAft>
              </a:pPr>
              <a:r>
                <a:rPr lang="en-US" altLang="zh-CN" sz="1200" b="0" dirty="0" err="1">
                  <a:solidFill>
                    <a:prstClr val="black"/>
                  </a:solidFill>
                  <a:latin typeface="Arial" pitchFamily="34" charset="0"/>
                  <a:ea typeface="SimHei" panose="02010609060101010101" pitchFamily="49" charset="-122"/>
                </a:rPr>
                <a:t>Addr</a:t>
              </a:r>
              <a:endParaRPr lang="en-US" altLang="zh-CN" sz="1200" b="0" dirty="0">
                <a:solidFill>
                  <a:prstClr val="black"/>
                </a:solidFill>
                <a:latin typeface="Arial" pitchFamily="34" charset="0"/>
                <a:ea typeface="SimHei" panose="02010609060101010101" pitchFamily="49" charset="-122"/>
              </a:endParaRPr>
            </a:p>
          </p:txBody>
        </p:sp>
        <p:sp>
          <p:nvSpPr>
            <p:cNvPr id="87" name="Text Box 90">
              <a:extLst>
                <a:ext uri="{FF2B5EF4-FFF2-40B4-BE49-F238E27FC236}">
                  <a16:creationId xmlns:a16="http://schemas.microsoft.com/office/drawing/2014/main" id="{447A0FD1-961A-40EE-D937-65E98523623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579680" y="3982492"/>
              <a:ext cx="908039" cy="27698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1425" tIns="45713" rIns="91425" bIns="45713">
              <a:spAutoFit/>
            </a:bodyPr>
            <a:lstStyle>
              <a:lvl1pPr eaLnBrk="0" hangingPunct="0"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1pPr>
              <a:lvl2pPr marL="742950" indent="-285750" eaLnBrk="0" hangingPunct="0"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2pPr>
              <a:lvl3pPr marL="1143000" indent="-228600" eaLnBrk="0" hangingPunct="0"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3pPr>
              <a:lvl4pPr marL="1600200" indent="-228600" eaLnBrk="0" hangingPunct="0"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4pPr>
              <a:lvl5pPr marL="2057400" indent="-228600" eaLnBrk="0" hangingPunct="0"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9pPr>
            </a:lstStyle>
            <a:p>
              <a:pPr fontAlgn="auto">
                <a:spcBef>
                  <a:spcPts val="0"/>
                </a:spcBef>
                <a:spcAft>
                  <a:spcPts val="0"/>
                </a:spcAft>
              </a:pPr>
              <a:r>
                <a:rPr lang="en-US" altLang="zh-CN" sz="1200" b="0" dirty="0">
                  <a:solidFill>
                    <a:prstClr val="black"/>
                  </a:solidFill>
                  <a:latin typeface="Arial" pitchFamily="34" charset="0"/>
                  <a:ea typeface="SimHei" panose="02010609060101010101" pitchFamily="49" charset="-122"/>
                </a:rPr>
                <a:t>Write Data</a:t>
              </a:r>
            </a:p>
          </p:txBody>
        </p:sp>
        <p:sp>
          <p:nvSpPr>
            <p:cNvPr id="88" name="Text Box 91">
              <a:extLst>
                <a:ext uri="{FF2B5EF4-FFF2-40B4-BE49-F238E27FC236}">
                  <a16:creationId xmlns:a16="http://schemas.microsoft.com/office/drawing/2014/main" id="{C93938C3-F62B-5F9F-C112-878EBC1E832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092245" y="3630802"/>
              <a:ext cx="917208" cy="27698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1425" tIns="45713" rIns="91425" bIns="45713">
              <a:spAutoFit/>
            </a:bodyPr>
            <a:lstStyle>
              <a:lvl1pPr eaLnBrk="0" hangingPunct="0"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1pPr>
              <a:lvl2pPr marL="742950" indent="-285750" eaLnBrk="0" hangingPunct="0"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2pPr>
              <a:lvl3pPr marL="1143000" indent="-228600" eaLnBrk="0" hangingPunct="0"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3pPr>
              <a:lvl4pPr marL="1600200" indent="-228600" eaLnBrk="0" hangingPunct="0"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4pPr>
              <a:lvl5pPr marL="2057400" indent="-228600" eaLnBrk="0" hangingPunct="0"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9pPr>
            </a:lstStyle>
            <a:p>
              <a:pPr fontAlgn="auto">
                <a:spcBef>
                  <a:spcPts val="0"/>
                </a:spcBef>
                <a:spcAft>
                  <a:spcPts val="0"/>
                </a:spcAft>
              </a:pPr>
              <a:r>
                <a:rPr lang="en-US" altLang="zh-CN" sz="1200" b="0" dirty="0">
                  <a:solidFill>
                    <a:prstClr val="black"/>
                  </a:solidFill>
                  <a:latin typeface="Arial" pitchFamily="34" charset="0"/>
                  <a:ea typeface="SimHei" panose="02010609060101010101" pitchFamily="49" charset="-122"/>
                </a:rPr>
                <a:t>Read Data</a:t>
              </a:r>
            </a:p>
          </p:txBody>
        </p:sp>
        <p:sp>
          <p:nvSpPr>
            <p:cNvPr id="89" name="Line 92">
              <a:extLst>
                <a:ext uri="{FF2B5EF4-FFF2-40B4-BE49-F238E27FC236}">
                  <a16:creationId xmlns:a16="http://schemas.microsoft.com/office/drawing/2014/main" id="{7838ECE6-1364-A505-5F77-23BF473554E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407401" y="4121372"/>
              <a:ext cx="227940" cy="0"/>
            </a:xfrm>
            <a:prstGeom prst="line">
              <a:avLst/>
            </a:prstGeom>
            <a:noFill/>
            <a:ln w="19050">
              <a:solidFill>
                <a:sysClr val="windowText" lastClr="000000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F0502020204030204"/>
                <a:ea typeface="等线" panose="02010600030101010101" pitchFamily="2" charset="-122"/>
              </a:endParaRPr>
            </a:p>
          </p:txBody>
        </p:sp>
        <p:sp>
          <p:nvSpPr>
            <p:cNvPr id="90" name="Line 93">
              <a:extLst>
                <a:ext uri="{FF2B5EF4-FFF2-40B4-BE49-F238E27FC236}">
                  <a16:creationId xmlns:a16="http://schemas.microsoft.com/office/drawing/2014/main" id="{8142F012-9748-5FD4-F65D-95184626A16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230920" y="4121372"/>
              <a:ext cx="227940" cy="1447"/>
            </a:xfrm>
            <a:prstGeom prst="line">
              <a:avLst/>
            </a:prstGeom>
            <a:noFill/>
            <a:ln w="19050">
              <a:solidFill>
                <a:sysClr val="windowText" lastClr="000000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F0502020204030204"/>
                <a:ea typeface="等线" panose="02010600030101010101" pitchFamily="2" charset="-122"/>
              </a:endParaRPr>
            </a:p>
          </p:txBody>
        </p:sp>
        <p:sp>
          <p:nvSpPr>
            <p:cNvPr id="91" name="AutoShape 94">
              <a:extLst>
                <a:ext uri="{FF2B5EF4-FFF2-40B4-BE49-F238E27FC236}">
                  <a16:creationId xmlns:a16="http://schemas.microsoft.com/office/drawing/2014/main" id="{C0E26AB4-7102-7BB5-15A3-DB9A980F94FE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6200000">
              <a:off x="8260350" y="3833803"/>
              <a:ext cx="624959" cy="227940"/>
            </a:xfrm>
            <a:custGeom>
              <a:avLst/>
              <a:gdLst>
                <a:gd name="T0" fmla="*/ 8 w 21600"/>
                <a:gd name="T1" fmla="*/ 0 h 21600"/>
                <a:gd name="T2" fmla="*/ 4 w 21600"/>
                <a:gd name="T3" fmla="*/ 1 h 21600"/>
                <a:gd name="T4" fmla="*/ 1 w 21600"/>
                <a:gd name="T5" fmla="*/ 0 h 21600"/>
                <a:gd name="T6" fmla="*/ 4 w 21600"/>
                <a:gd name="T7" fmla="*/ 0 h 21600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4500 w 21600"/>
                <a:gd name="T13" fmla="*/ 4500 h 21600"/>
                <a:gd name="T14" fmla="*/ 17100 w 21600"/>
                <a:gd name="T15" fmla="*/ 17100 h 2160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600" h="21600">
                  <a:moveTo>
                    <a:pt x="0" y="0"/>
                  </a:moveTo>
                  <a:lnTo>
                    <a:pt x="5400" y="21600"/>
                  </a:lnTo>
                  <a:lnTo>
                    <a:pt x="16200" y="21600"/>
                  </a:lnTo>
                  <a:lnTo>
                    <a:pt x="21600" y="0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9050">
              <a:solidFill>
                <a:sysClr val="windowText" lastClr="000000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F0502020204030204"/>
                <a:ea typeface="等线" panose="02010600030101010101" pitchFamily="2" charset="-122"/>
              </a:endParaRPr>
            </a:p>
          </p:txBody>
        </p:sp>
        <p:sp>
          <p:nvSpPr>
            <p:cNvPr id="92" name="Line 98">
              <a:extLst>
                <a:ext uri="{FF2B5EF4-FFF2-40B4-BE49-F238E27FC236}">
                  <a16:creationId xmlns:a16="http://schemas.microsoft.com/office/drawing/2014/main" id="{DD3A4DE6-7F49-0E6D-9BFC-E743597C77B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431923" y="3357534"/>
              <a:ext cx="151960" cy="0"/>
            </a:xfrm>
            <a:prstGeom prst="line">
              <a:avLst/>
            </a:prstGeom>
            <a:noFill/>
            <a:ln w="19050">
              <a:solidFill>
                <a:sysClr val="windowText" lastClr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20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F0502020204030204"/>
                <a:ea typeface="等线" panose="02010600030101010101" pitchFamily="2" charset="-122"/>
              </a:endParaRPr>
            </a:p>
          </p:txBody>
        </p:sp>
        <p:sp>
          <p:nvSpPr>
            <p:cNvPr id="93" name="Line 99">
              <a:extLst>
                <a:ext uri="{FF2B5EF4-FFF2-40B4-BE49-F238E27FC236}">
                  <a16:creationId xmlns:a16="http://schemas.microsoft.com/office/drawing/2014/main" id="{49256853-9C80-4F3F-DA0C-4789AA8711E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12325" y="4190812"/>
              <a:ext cx="0" cy="1525123"/>
            </a:xfrm>
            <a:prstGeom prst="line">
              <a:avLst/>
            </a:prstGeom>
            <a:noFill/>
            <a:ln w="19050">
              <a:solidFill>
                <a:sysClr val="windowText" lastClr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F0502020204030204"/>
                <a:ea typeface="等线" panose="02010600030101010101" pitchFamily="2" charset="-122"/>
              </a:endParaRPr>
            </a:p>
          </p:txBody>
        </p:sp>
        <p:sp>
          <p:nvSpPr>
            <p:cNvPr id="94" name="Line 100">
              <a:extLst>
                <a:ext uri="{FF2B5EF4-FFF2-40B4-BE49-F238E27FC236}">
                  <a16:creationId xmlns:a16="http://schemas.microsoft.com/office/drawing/2014/main" id="{BDB341A6-0659-739F-A77F-CFBAA0248EA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152525" y="2524256"/>
              <a:ext cx="227940" cy="0"/>
            </a:xfrm>
            <a:prstGeom prst="line">
              <a:avLst/>
            </a:prstGeom>
            <a:noFill/>
            <a:ln w="19050">
              <a:solidFill>
                <a:sysClr val="windowText" lastClr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F0502020204030204"/>
                <a:ea typeface="等线" panose="02010600030101010101" pitchFamily="2" charset="-122"/>
              </a:endParaRPr>
            </a:p>
          </p:txBody>
        </p:sp>
        <p:sp>
          <p:nvSpPr>
            <p:cNvPr id="95" name="Line 101">
              <a:extLst>
                <a:ext uri="{FF2B5EF4-FFF2-40B4-BE49-F238E27FC236}">
                  <a16:creationId xmlns:a16="http://schemas.microsoft.com/office/drawing/2014/main" id="{53A71A40-554E-4C9C-4D7F-5F7F68FA0A3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92726" y="1621538"/>
              <a:ext cx="911759" cy="0"/>
            </a:xfrm>
            <a:prstGeom prst="line">
              <a:avLst/>
            </a:prstGeom>
            <a:noFill/>
            <a:ln w="19050">
              <a:solidFill>
                <a:sysClr val="windowText" lastClr="000000"/>
              </a:solidFill>
              <a:round/>
              <a:headEnd type="triangle" w="med" len="med"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F0502020204030204"/>
                <a:ea typeface="等线" panose="02010600030101010101" pitchFamily="2" charset="-122"/>
              </a:endParaRPr>
            </a:p>
          </p:txBody>
        </p:sp>
        <p:sp>
          <p:nvSpPr>
            <p:cNvPr id="96" name="Line 102">
              <a:extLst>
                <a:ext uri="{FF2B5EF4-FFF2-40B4-BE49-F238E27FC236}">
                  <a16:creationId xmlns:a16="http://schemas.microsoft.com/office/drawing/2014/main" id="{82636A46-5EF8-6C50-DE60-2F1B25EA104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684385" y="3704733"/>
              <a:ext cx="151960" cy="0"/>
            </a:xfrm>
            <a:prstGeom prst="line">
              <a:avLst/>
            </a:prstGeom>
            <a:noFill/>
            <a:ln w="19050">
              <a:solidFill>
                <a:sysClr val="windowText" lastClr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F0502020204030204"/>
                <a:ea typeface="等线" panose="02010600030101010101" pitchFamily="2" charset="-122"/>
              </a:endParaRPr>
            </a:p>
          </p:txBody>
        </p:sp>
        <p:sp>
          <p:nvSpPr>
            <p:cNvPr id="97" name="Line 103">
              <a:extLst>
                <a:ext uri="{FF2B5EF4-FFF2-40B4-BE49-F238E27FC236}">
                  <a16:creationId xmlns:a16="http://schemas.microsoft.com/office/drawing/2014/main" id="{290A03FD-EA07-6F02-CD05-12FC8792BBC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927000" y="3774173"/>
              <a:ext cx="151609" cy="0"/>
            </a:xfrm>
            <a:prstGeom prst="line">
              <a:avLst/>
            </a:prstGeom>
            <a:noFill/>
            <a:ln w="19050">
              <a:solidFill>
                <a:sysClr val="windowText" lastClr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F0502020204030204"/>
                <a:ea typeface="等线" panose="02010600030101010101" pitchFamily="2" charset="-122"/>
              </a:endParaRPr>
            </a:p>
          </p:txBody>
        </p:sp>
        <p:sp>
          <p:nvSpPr>
            <p:cNvPr id="98" name="Rectangle 104">
              <a:extLst>
                <a:ext uri="{FF2B5EF4-FFF2-40B4-BE49-F238E27FC236}">
                  <a16:creationId xmlns:a16="http://schemas.microsoft.com/office/drawing/2014/main" id="{FE4E4301-1A3B-32D4-46DC-8F6CCDF8BD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32425" y="2315936"/>
              <a:ext cx="151960" cy="2013755"/>
            </a:xfrm>
            <a:prstGeom prst="rect">
              <a:avLst/>
            </a:prstGeom>
            <a:solidFill>
              <a:srgbClr val="A6E2F9"/>
            </a:solidFill>
            <a:ln w="19050">
              <a:solidFill>
                <a:sysClr val="windowText" lastClr="000000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F0502020204030204"/>
                <a:ea typeface="等线" panose="02010600030101010101" pitchFamily="2" charset="-122"/>
              </a:endParaRPr>
            </a:p>
          </p:txBody>
        </p:sp>
        <p:sp>
          <p:nvSpPr>
            <p:cNvPr id="99" name="Rectangle 105">
              <a:extLst>
                <a:ext uri="{FF2B5EF4-FFF2-40B4-BE49-F238E27FC236}">
                  <a16:creationId xmlns:a16="http://schemas.microsoft.com/office/drawing/2014/main" id="{0DDBC3A9-6F41-0A68-1210-8E1B9DA542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83882" y="1800567"/>
              <a:ext cx="158319" cy="3648398"/>
            </a:xfrm>
            <a:prstGeom prst="rect">
              <a:avLst/>
            </a:prstGeom>
            <a:solidFill>
              <a:srgbClr val="A6E2F9"/>
            </a:solidFill>
            <a:ln w="19050">
              <a:solidFill>
                <a:sysClr val="windowText" lastClr="000000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F0502020204030204"/>
                <a:ea typeface="等线" panose="02010600030101010101" pitchFamily="2" charset="-122"/>
              </a:endParaRPr>
            </a:p>
          </p:txBody>
        </p:sp>
        <p:sp>
          <p:nvSpPr>
            <p:cNvPr id="100" name="Line 106">
              <a:extLst>
                <a:ext uri="{FF2B5EF4-FFF2-40B4-BE49-F238E27FC236}">
                  <a16:creationId xmlns:a16="http://schemas.microsoft.com/office/drawing/2014/main" id="{99C67827-6D6A-1E95-5618-81925D28B4C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304485" y="2524256"/>
              <a:ext cx="227940" cy="0"/>
            </a:xfrm>
            <a:prstGeom prst="line">
              <a:avLst/>
            </a:prstGeom>
            <a:noFill/>
            <a:ln w="19050">
              <a:solidFill>
                <a:sysClr val="windowText" lastClr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F0502020204030204"/>
                <a:ea typeface="等线" panose="02010600030101010101" pitchFamily="2" charset="-122"/>
              </a:endParaRPr>
            </a:p>
          </p:txBody>
        </p:sp>
        <p:sp>
          <p:nvSpPr>
            <p:cNvPr id="101" name="Line 107">
              <a:extLst>
                <a:ext uri="{FF2B5EF4-FFF2-40B4-BE49-F238E27FC236}">
                  <a16:creationId xmlns:a16="http://schemas.microsoft.com/office/drawing/2014/main" id="{CE335AE4-D686-E337-9947-48E11F158B5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684385" y="2524256"/>
              <a:ext cx="1899498" cy="0"/>
            </a:xfrm>
            <a:prstGeom prst="line">
              <a:avLst/>
            </a:prstGeom>
            <a:noFill/>
            <a:ln w="19050">
              <a:solidFill>
                <a:sysClr val="windowText" lastClr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F0502020204030204"/>
                <a:ea typeface="等线" panose="02010600030101010101" pitchFamily="2" charset="-122"/>
              </a:endParaRPr>
            </a:p>
          </p:txBody>
        </p:sp>
        <p:sp>
          <p:nvSpPr>
            <p:cNvPr id="102" name="Line 108">
              <a:extLst>
                <a:ext uri="{FF2B5EF4-FFF2-40B4-BE49-F238E27FC236}">
                  <a16:creationId xmlns:a16="http://schemas.microsoft.com/office/drawing/2014/main" id="{A5900C28-091D-306D-630C-BEEE9939B13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155718" y="2732575"/>
              <a:ext cx="99724" cy="0"/>
            </a:xfrm>
            <a:prstGeom prst="line">
              <a:avLst/>
            </a:prstGeom>
            <a:noFill/>
            <a:ln w="19050">
              <a:solidFill>
                <a:sysClr val="windowText" lastClr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F0502020204030204"/>
                <a:ea typeface="等线" panose="02010600030101010101" pitchFamily="2" charset="-122"/>
              </a:endParaRPr>
            </a:p>
          </p:txBody>
        </p:sp>
        <p:sp>
          <p:nvSpPr>
            <p:cNvPr id="103" name="Line 109">
              <a:extLst>
                <a:ext uri="{FF2B5EF4-FFF2-40B4-BE49-F238E27FC236}">
                  <a16:creationId xmlns:a16="http://schemas.microsoft.com/office/drawing/2014/main" id="{BC109CAE-C108-CAFA-9592-7A207245F51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35843" y="4815770"/>
              <a:ext cx="107510" cy="0"/>
            </a:xfrm>
            <a:prstGeom prst="line">
              <a:avLst/>
            </a:prstGeom>
            <a:noFill/>
            <a:ln w="19050">
              <a:solidFill>
                <a:sysClr val="windowText" lastClr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F0502020204030204"/>
                <a:ea typeface="等线" panose="02010600030101010101" pitchFamily="2" charset="-122"/>
              </a:endParaRPr>
            </a:p>
          </p:txBody>
        </p:sp>
        <p:sp>
          <p:nvSpPr>
            <p:cNvPr id="104" name="Line 110">
              <a:extLst>
                <a:ext uri="{FF2B5EF4-FFF2-40B4-BE49-F238E27FC236}">
                  <a16:creationId xmlns:a16="http://schemas.microsoft.com/office/drawing/2014/main" id="{8B84CBAE-0C77-4FCC-6A19-0DD1D9705E1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963783" y="3982492"/>
              <a:ext cx="0" cy="833278"/>
            </a:xfrm>
            <a:prstGeom prst="line">
              <a:avLst/>
            </a:prstGeom>
            <a:noFill/>
            <a:ln w="19050">
              <a:solidFill>
                <a:sysClr val="windowText" lastClr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20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F0502020204030204"/>
                <a:ea typeface="等线" panose="02010600030101010101" pitchFamily="2" charset="-122"/>
              </a:endParaRPr>
            </a:p>
          </p:txBody>
        </p:sp>
        <p:sp>
          <p:nvSpPr>
            <p:cNvPr id="105" name="Line 111">
              <a:extLst>
                <a:ext uri="{FF2B5EF4-FFF2-40B4-BE49-F238E27FC236}">
                  <a16:creationId xmlns:a16="http://schemas.microsoft.com/office/drawing/2014/main" id="{9E92D52E-58A1-005D-D190-624895D3640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963783" y="4815770"/>
              <a:ext cx="1291659" cy="0"/>
            </a:xfrm>
            <a:prstGeom prst="line">
              <a:avLst/>
            </a:prstGeom>
            <a:noFill/>
            <a:ln w="19050">
              <a:solidFill>
                <a:sysClr val="windowText" lastClr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F0502020204030204"/>
                <a:ea typeface="等线" panose="02010600030101010101" pitchFamily="2" charset="-122"/>
              </a:endParaRPr>
            </a:p>
          </p:txBody>
        </p:sp>
        <p:sp>
          <p:nvSpPr>
            <p:cNvPr id="106" name="Rectangle 112">
              <a:extLst>
                <a:ext uri="{FF2B5EF4-FFF2-40B4-BE49-F238E27FC236}">
                  <a16:creationId xmlns:a16="http://schemas.microsoft.com/office/drawing/2014/main" id="{8CE8E128-DB07-2BA7-7A29-1FB91F28AC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078960" y="2690911"/>
              <a:ext cx="151960" cy="2541498"/>
            </a:xfrm>
            <a:prstGeom prst="rect">
              <a:avLst/>
            </a:prstGeom>
            <a:solidFill>
              <a:srgbClr val="A6E2F9"/>
            </a:solidFill>
            <a:ln w="19050">
              <a:solidFill>
                <a:sysClr val="windowText" lastClr="000000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F0502020204030204"/>
                <a:ea typeface="等线" panose="02010600030101010101" pitchFamily="2" charset="-122"/>
              </a:endParaRPr>
            </a:p>
          </p:txBody>
        </p:sp>
        <p:sp>
          <p:nvSpPr>
            <p:cNvPr id="107" name="Line 113">
              <a:extLst>
                <a:ext uri="{FF2B5EF4-FFF2-40B4-BE49-F238E27FC236}">
                  <a16:creationId xmlns:a16="http://schemas.microsoft.com/office/drawing/2014/main" id="{A8D44656-1826-E4DB-D6DF-D0BCFE686D8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483381" y="4815770"/>
              <a:ext cx="1595579" cy="0"/>
            </a:xfrm>
            <a:prstGeom prst="line">
              <a:avLst/>
            </a:prstGeom>
            <a:noFill/>
            <a:ln w="19050">
              <a:solidFill>
                <a:sysClr val="windowText" lastClr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F0502020204030204"/>
                <a:ea typeface="等线" panose="02010600030101010101" pitchFamily="2" charset="-122"/>
              </a:endParaRPr>
            </a:p>
          </p:txBody>
        </p:sp>
        <p:sp>
          <p:nvSpPr>
            <p:cNvPr id="108" name="Line 114">
              <a:extLst>
                <a:ext uri="{FF2B5EF4-FFF2-40B4-BE49-F238E27FC236}">
                  <a16:creationId xmlns:a16="http://schemas.microsoft.com/office/drawing/2014/main" id="{D639506D-72C1-D5FF-A0AF-43292640B11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230920" y="3774173"/>
              <a:ext cx="227940" cy="1447"/>
            </a:xfrm>
            <a:prstGeom prst="line">
              <a:avLst/>
            </a:prstGeom>
            <a:noFill/>
            <a:ln w="19050">
              <a:solidFill>
                <a:sysClr val="windowText" lastClr="000000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F0502020204030204"/>
                <a:ea typeface="等线" panose="02010600030101010101" pitchFamily="2" charset="-122"/>
              </a:endParaRPr>
            </a:p>
          </p:txBody>
        </p:sp>
        <p:sp>
          <p:nvSpPr>
            <p:cNvPr id="109" name="Line 115">
              <a:extLst>
                <a:ext uri="{FF2B5EF4-FFF2-40B4-BE49-F238E27FC236}">
                  <a16:creationId xmlns:a16="http://schemas.microsoft.com/office/drawing/2014/main" id="{557C5AC9-0946-CB26-BD66-D6B883459BD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838759" y="3913052"/>
              <a:ext cx="0" cy="1802883"/>
            </a:xfrm>
            <a:prstGeom prst="line">
              <a:avLst/>
            </a:prstGeom>
            <a:noFill/>
            <a:ln w="19050">
              <a:solidFill>
                <a:sysClr val="windowText" lastClr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F0502020204030204"/>
                <a:ea typeface="等线" panose="02010600030101010101" pitchFamily="2" charset="-122"/>
              </a:endParaRPr>
            </a:p>
          </p:txBody>
        </p:sp>
        <p:sp>
          <p:nvSpPr>
            <p:cNvPr id="110" name="Line 116">
              <a:extLst>
                <a:ext uri="{FF2B5EF4-FFF2-40B4-BE49-F238E27FC236}">
                  <a16:creationId xmlns:a16="http://schemas.microsoft.com/office/drawing/2014/main" id="{9D5F6BBC-1EA7-4B4F-407F-059D9ADCCF0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933821" y="1343777"/>
              <a:ext cx="0" cy="1388797"/>
            </a:xfrm>
            <a:prstGeom prst="line">
              <a:avLst/>
            </a:prstGeom>
            <a:noFill/>
            <a:ln w="19050">
              <a:solidFill>
                <a:sysClr val="windowText" lastClr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F0502020204030204"/>
                <a:ea typeface="等线" panose="02010600030101010101" pitchFamily="2" charset="-122"/>
              </a:endParaRPr>
            </a:p>
          </p:txBody>
        </p:sp>
        <p:sp>
          <p:nvSpPr>
            <p:cNvPr id="111" name="Line 117">
              <a:extLst>
                <a:ext uri="{FF2B5EF4-FFF2-40B4-BE49-F238E27FC236}">
                  <a16:creationId xmlns:a16="http://schemas.microsoft.com/office/drawing/2014/main" id="{EBFBF49D-8063-B317-C4A4-818A020DC8C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255441" y="4121372"/>
              <a:ext cx="151960" cy="694398"/>
            </a:xfrm>
            <a:prstGeom prst="line">
              <a:avLst/>
            </a:prstGeom>
            <a:noFill/>
            <a:ln w="28575" cap="rnd">
              <a:solidFill>
                <a:srgbClr val="ED7D31"/>
              </a:solidFill>
              <a:prstDash val="sysDot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F0502020204030204"/>
                <a:ea typeface="等线" panose="02010600030101010101" pitchFamily="2" charset="-122"/>
              </a:endParaRPr>
            </a:p>
          </p:txBody>
        </p:sp>
        <p:sp>
          <p:nvSpPr>
            <p:cNvPr id="113" name="Text Box 119">
              <a:extLst>
                <a:ext uri="{FF2B5EF4-FFF2-40B4-BE49-F238E27FC236}">
                  <a16:creationId xmlns:a16="http://schemas.microsoft.com/office/drawing/2014/main" id="{4C9A038A-AEE4-D392-F518-748D679FEF2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295221" y="1924885"/>
              <a:ext cx="684773" cy="36931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1425" tIns="45713" rIns="91425" bIns="45713">
              <a:spAutoFit/>
            </a:bodyPr>
            <a:lstStyle>
              <a:lvl1pPr eaLnBrk="0" hangingPunct="0"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1pPr>
              <a:lvl2pPr marL="742950" indent="-285750" eaLnBrk="0" hangingPunct="0"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2pPr>
              <a:lvl3pPr marL="1143000" indent="-228600" eaLnBrk="0" hangingPunct="0"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3pPr>
              <a:lvl4pPr marL="1600200" indent="-228600" eaLnBrk="0" hangingPunct="0"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4pPr>
              <a:lvl5pPr marL="2057400" indent="-228600" eaLnBrk="0" hangingPunct="0"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9pPr>
            </a:lstStyle>
            <a:p>
              <a:pPr fontAlgn="auto">
                <a:spcBef>
                  <a:spcPts val="0"/>
                </a:spcBef>
                <a:spcAft>
                  <a:spcPts val="0"/>
                </a:spcAft>
              </a:pPr>
              <a:r>
                <a:rPr lang="en-US" altLang="zh-CN" b="0" dirty="0">
                  <a:solidFill>
                    <a:prstClr val="black"/>
                  </a:solidFill>
                  <a:latin typeface="Arial" pitchFamily="34" charset="0"/>
                  <a:ea typeface="SimHei" panose="02010609060101010101" pitchFamily="49" charset="-122"/>
                </a:rPr>
                <a:t>IF/ID</a:t>
              </a:r>
            </a:p>
          </p:txBody>
        </p:sp>
        <p:sp>
          <p:nvSpPr>
            <p:cNvPr id="114" name="Line 120">
              <a:extLst>
                <a:ext uri="{FF2B5EF4-FFF2-40B4-BE49-F238E27FC236}">
                  <a16:creationId xmlns:a16="http://schemas.microsoft.com/office/drawing/2014/main" id="{28AD2B0E-5EFF-F06E-4F52-A795712D6AC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843353" y="2940895"/>
              <a:ext cx="0" cy="1388797"/>
            </a:xfrm>
            <a:prstGeom prst="line">
              <a:avLst/>
            </a:prstGeom>
            <a:noFill/>
            <a:ln w="19050">
              <a:solidFill>
                <a:sysClr val="windowText" lastClr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F0502020204030204"/>
                <a:ea typeface="等线" panose="02010600030101010101" pitchFamily="2" charset="-122"/>
              </a:endParaRPr>
            </a:p>
          </p:txBody>
        </p:sp>
        <p:sp>
          <p:nvSpPr>
            <p:cNvPr id="115" name="Line 121">
              <a:extLst>
                <a:ext uri="{FF2B5EF4-FFF2-40B4-BE49-F238E27FC236}">
                  <a16:creationId xmlns:a16="http://schemas.microsoft.com/office/drawing/2014/main" id="{C456D8F4-5FB7-1279-D1C4-5C3E0BB6712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13473" y="4815770"/>
              <a:ext cx="570411" cy="0"/>
            </a:xfrm>
            <a:prstGeom prst="line">
              <a:avLst/>
            </a:prstGeom>
            <a:noFill/>
            <a:ln w="19050">
              <a:solidFill>
                <a:sysClr val="windowText" lastClr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F0502020204030204"/>
                <a:ea typeface="等线" panose="02010600030101010101" pitchFamily="2" charset="-122"/>
              </a:endParaRPr>
            </a:p>
          </p:txBody>
        </p:sp>
        <p:sp>
          <p:nvSpPr>
            <p:cNvPr id="116" name="Line 122">
              <a:extLst>
                <a:ext uri="{FF2B5EF4-FFF2-40B4-BE49-F238E27FC236}">
                  <a16:creationId xmlns:a16="http://schemas.microsoft.com/office/drawing/2014/main" id="{D1D1F92A-00E6-436D-B2DF-2E60B191D9F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35843" y="2524256"/>
              <a:ext cx="1063719" cy="0"/>
            </a:xfrm>
            <a:prstGeom prst="line">
              <a:avLst/>
            </a:prstGeom>
            <a:noFill/>
            <a:ln w="19050">
              <a:solidFill>
                <a:sysClr val="windowText" lastClr="000000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F0502020204030204"/>
                <a:ea typeface="等线" panose="02010600030101010101" pitchFamily="2" charset="-122"/>
              </a:endParaRPr>
            </a:p>
          </p:txBody>
        </p:sp>
        <p:sp>
          <p:nvSpPr>
            <p:cNvPr id="117" name="Line 123">
              <a:extLst>
                <a:ext uri="{FF2B5EF4-FFF2-40B4-BE49-F238E27FC236}">
                  <a16:creationId xmlns:a16="http://schemas.microsoft.com/office/drawing/2014/main" id="{396F500F-1FA8-8FCF-CFDC-40D7E9F4983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304485" y="1621538"/>
              <a:ext cx="0" cy="902718"/>
            </a:xfrm>
            <a:prstGeom prst="line">
              <a:avLst/>
            </a:prstGeom>
            <a:noFill/>
            <a:ln w="19050">
              <a:solidFill>
                <a:sysClr val="windowText" lastClr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F0502020204030204"/>
                <a:ea typeface="等线" panose="02010600030101010101" pitchFamily="2" charset="-122"/>
              </a:endParaRPr>
            </a:p>
          </p:txBody>
        </p:sp>
        <p:sp>
          <p:nvSpPr>
            <p:cNvPr id="118" name="Line 124">
              <a:extLst>
                <a:ext uri="{FF2B5EF4-FFF2-40B4-BE49-F238E27FC236}">
                  <a16:creationId xmlns:a16="http://schemas.microsoft.com/office/drawing/2014/main" id="{37D8300E-99BD-3866-763F-E255E5EB1AA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027502" y="3037144"/>
              <a:ext cx="0" cy="389829"/>
            </a:xfrm>
            <a:prstGeom prst="line">
              <a:avLst/>
            </a:prstGeom>
            <a:noFill/>
            <a:ln w="19050">
              <a:solidFill>
                <a:sysClr val="windowText" lastClr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F0502020204030204"/>
                <a:ea typeface="等线" panose="02010600030101010101" pitchFamily="2" charset="-122"/>
              </a:endParaRPr>
            </a:p>
          </p:txBody>
        </p:sp>
        <p:sp>
          <p:nvSpPr>
            <p:cNvPr id="119" name="Line 125">
              <a:extLst>
                <a:ext uri="{FF2B5EF4-FFF2-40B4-BE49-F238E27FC236}">
                  <a16:creationId xmlns:a16="http://schemas.microsoft.com/office/drawing/2014/main" id="{15F5F541-D37A-79E9-0E09-DA625914CFA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06394" y="2246497"/>
              <a:ext cx="0" cy="1458237"/>
            </a:xfrm>
            <a:prstGeom prst="line">
              <a:avLst/>
            </a:prstGeom>
            <a:noFill/>
            <a:ln w="19050">
              <a:solidFill>
                <a:sysClr val="windowText" lastClr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F0502020204030204"/>
                <a:ea typeface="等线" panose="02010600030101010101" pitchFamily="2" charset="-122"/>
              </a:endParaRPr>
            </a:p>
          </p:txBody>
        </p:sp>
        <p:sp>
          <p:nvSpPr>
            <p:cNvPr id="120" name="Rectangle 126">
              <a:extLst>
                <a:ext uri="{FF2B5EF4-FFF2-40B4-BE49-F238E27FC236}">
                  <a16:creationId xmlns:a16="http://schemas.microsoft.com/office/drawing/2014/main" id="{81C77E3D-3293-7EB8-0900-D6167B9A38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55441" y="1966185"/>
              <a:ext cx="151960" cy="3266225"/>
            </a:xfrm>
            <a:prstGeom prst="rect">
              <a:avLst/>
            </a:prstGeom>
            <a:solidFill>
              <a:srgbClr val="A6E2F9"/>
            </a:solidFill>
            <a:ln w="19050">
              <a:solidFill>
                <a:sysClr val="windowText" lastClr="000000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F0502020204030204"/>
                <a:ea typeface="等线" panose="02010600030101010101" pitchFamily="2" charset="-122"/>
              </a:endParaRPr>
            </a:p>
          </p:txBody>
        </p:sp>
        <p:sp>
          <p:nvSpPr>
            <p:cNvPr id="121" name="Oval 127">
              <a:extLst>
                <a:ext uri="{FF2B5EF4-FFF2-40B4-BE49-F238E27FC236}">
                  <a16:creationId xmlns:a16="http://schemas.microsoft.com/office/drawing/2014/main" id="{FC74BE5D-0687-49D5-AAB4-1A22A3F394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16244" y="4607451"/>
              <a:ext cx="810453" cy="416639"/>
            </a:xfrm>
            <a:prstGeom prst="ellipse">
              <a:avLst/>
            </a:prstGeom>
            <a:solidFill>
              <a:sysClr val="window" lastClr="FFFFFF"/>
            </a:solidFill>
            <a:ln w="19050">
              <a:solidFill>
                <a:sysClr val="windowText" lastClr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F0502020204030204"/>
                <a:ea typeface="等线" panose="02010600030101010101" pitchFamily="2" charset="-122"/>
              </a:endParaRPr>
            </a:p>
          </p:txBody>
        </p:sp>
        <p:sp>
          <p:nvSpPr>
            <p:cNvPr id="122" name="Rectangle 128">
              <a:extLst>
                <a:ext uri="{FF2B5EF4-FFF2-40B4-BE49-F238E27FC236}">
                  <a16:creationId xmlns:a16="http://schemas.microsoft.com/office/drawing/2014/main" id="{670E99B1-8F8A-033F-21CD-13F4C85401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68204" y="4594606"/>
              <a:ext cx="531860" cy="41663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19047" tIns="26984" rIns="19047" bIns="26984"/>
            <a:lstStyle/>
            <a:p>
              <a:pPr algn="ctr" eaLnBrk="0" fontAlgn="auto" hangingPunct="0">
                <a:spcBef>
                  <a:spcPts val="0"/>
                </a:spcBef>
                <a:spcAft>
                  <a:spcPts val="0"/>
                </a:spcAft>
              </a:pPr>
              <a:r>
                <a:rPr lang="en-US" altLang="zh-CN" sz="1200" dirty="0">
                  <a:solidFill>
                    <a:srgbClr val="000000"/>
                  </a:solidFill>
                  <a:latin typeface="Arial" pitchFamily="34" charset="0"/>
                  <a:ea typeface="等线" panose="02010600030101010101" pitchFamily="2" charset="-122"/>
                </a:rPr>
                <a:t>Sign</a:t>
              </a:r>
            </a:p>
            <a:p>
              <a:pPr algn="ctr" eaLnBrk="0" fontAlgn="auto" hangingPunct="0">
                <a:spcBef>
                  <a:spcPts val="0"/>
                </a:spcBef>
                <a:spcAft>
                  <a:spcPts val="0"/>
                </a:spcAft>
              </a:pPr>
              <a:r>
                <a:rPr lang="en-US" altLang="zh-CN" sz="1200" dirty="0">
                  <a:solidFill>
                    <a:srgbClr val="000000"/>
                  </a:solidFill>
                  <a:latin typeface="Arial" pitchFamily="34" charset="0"/>
                  <a:ea typeface="等线" panose="02010600030101010101" pitchFamily="2" charset="-122"/>
                </a:rPr>
                <a:t>Extend</a:t>
              </a:r>
            </a:p>
          </p:txBody>
        </p:sp>
        <p:sp>
          <p:nvSpPr>
            <p:cNvPr id="123" name="Line 129">
              <a:extLst>
                <a:ext uri="{FF2B5EF4-FFF2-40B4-BE49-F238E27FC236}">
                  <a16:creationId xmlns:a16="http://schemas.microsoft.com/office/drawing/2014/main" id="{59E9BA4C-AF21-D428-116B-00F569E1D35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407400" y="2732575"/>
              <a:ext cx="526419" cy="0"/>
            </a:xfrm>
            <a:prstGeom prst="line">
              <a:avLst/>
            </a:prstGeom>
            <a:noFill/>
            <a:ln w="19050">
              <a:solidFill>
                <a:sysClr val="windowText" lastClr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F0502020204030204"/>
                <a:ea typeface="等线" panose="02010600030101010101" pitchFamily="2" charset="-122"/>
              </a:endParaRPr>
            </a:p>
          </p:txBody>
        </p:sp>
        <p:sp>
          <p:nvSpPr>
            <p:cNvPr id="124" name="Line 130">
              <a:extLst>
                <a:ext uri="{FF2B5EF4-FFF2-40B4-BE49-F238E27FC236}">
                  <a16:creationId xmlns:a16="http://schemas.microsoft.com/office/drawing/2014/main" id="{BA311DCE-4C69-F8F0-FE36-1391040E287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027502" y="3037145"/>
              <a:ext cx="227940" cy="0"/>
            </a:xfrm>
            <a:prstGeom prst="line">
              <a:avLst/>
            </a:prstGeom>
            <a:noFill/>
            <a:ln w="19050">
              <a:solidFill>
                <a:sysClr val="windowText" lastClr="000000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F0502020204030204"/>
                <a:ea typeface="等线" panose="02010600030101010101" pitchFamily="2" charset="-122"/>
              </a:endParaRPr>
            </a:p>
          </p:txBody>
        </p:sp>
        <p:sp>
          <p:nvSpPr>
            <p:cNvPr id="125" name="Line 131">
              <a:extLst>
                <a:ext uri="{FF2B5EF4-FFF2-40B4-BE49-F238E27FC236}">
                  <a16:creationId xmlns:a16="http://schemas.microsoft.com/office/drawing/2014/main" id="{1EBC9B02-BAF5-9A6F-12D4-5EEFFDFA23F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407400" y="3037145"/>
              <a:ext cx="835780" cy="0"/>
            </a:xfrm>
            <a:prstGeom prst="line">
              <a:avLst/>
            </a:prstGeom>
            <a:noFill/>
            <a:ln w="19050">
              <a:solidFill>
                <a:sysClr val="windowText" lastClr="000000"/>
              </a:solidFill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F0502020204030204"/>
                <a:ea typeface="等线" panose="02010600030101010101" pitchFamily="2" charset="-122"/>
              </a:endParaRPr>
            </a:p>
          </p:txBody>
        </p:sp>
        <p:sp>
          <p:nvSpPr>
            <p:cNvPr id="126" name="Line 132">
              <a:extLst>
                <a:ext uri="{FF2B5EF4-FFF2-40B4-BE49-F238E27FC236}">
                  <a16:creationId xmlns:a16="http://schemas.microsoft.com/office/drawing/2014/main" id="{AA3BC222-E3D9-2085-AEF8-048C303ACA8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483381" y="3774173"/>
              <a:ext cx="0" cy="1041598"/>
            </a:xfrm>
            <a:prstGeom prst="line">
              <a:avLst/>
            </a:prstGeom>
            <a:noFill/>
            <a:ln w="19050">
              <a:solidFill>
                <a:sysClr val="windowText" lastClr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F0502020204030204"/>
                <a:ea typeface="等线" panose="02010600030101010101" pitchFamily="2" charset="-122"/>
              </a:endParaRPr>
            </a:p>
          </p:txBody>
        </p:sp>
        <p:sp>
          <p:nvSpPr>
            <p:cNvPr id="127" name="Text Box 133">
              <a:extLst>
                <a:ext uri="{FF2B5EF4-FFF2-40B4-BE49-F238E27FC236}">
                  <a16:creationId xmlns:a16="http://schemas.microsoft.com/office/drawing/2014/main" id="{A2C95BC2-D9E3-69F6-79DE-D38EC9F9400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98678" y="1449977"/>
              <a:ext cx="787365" cy="36931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1425" tIns="45713" rIns="91425" bIns="45713">
              <a:spAutoFit/>
            </a:bodyPr>
            <a:lstStyle>
              <a:lvl1pPr eaLnBrk="0" hangingPunct="0"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1pPr>
              <a:lvl2pPr marL="742950" indent="-285750" eaLnBrk="0" hangingPunct="0"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2pPr>
              <a:lvl3pPr marL="1143000" indent="-228600" eaLnBrk="0" hangingPunct="0"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3pPr>
              <a:lvl4pPr marL="1600200" indent="-228600" eaLnBrk="0" hangingPunct="0"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4pPr>
              <a:lvl5pPr marL="2057400" indent="-228600" eaLnBrk="0" hangingPunct="0"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9pPr>
            </a:lstStyle>
            <a:p>
              <a:pPr fontAlgn="auto">
                <a:spcBef>
                  <a:spcPts val="0"/>
                </a:spcBef>
                <a:spcAft>
                  <a:spcPts val="0"/>
                </a:spcAft>
              </a:pPr>
              <a:r>
                <a:rPr lang="en-US" altLang="zh-CN" b="0" dirty="0">
                  <a:solidFill>
                    <a:prstClr val="black"/>
                  </a:solidFill>
                  <a:latin typeface="Arial" pitchFamily="34" charset="0"/>
                  <a:ea typeface="SimHei" panose="02010609060101010101" pitchFamily="49" charset="-122"/>
                </a:rPr>
                <a:t>ID/EX</a:t>
              </a:r>
            </a:p>
          </p:txBody>
        </p:sp>
        <p:sp>
          <p:nvSpPr>
            <p:cNvPr id="128" name="Text Box 134">
              <a:extLst>
                <a:ext uri="{FF2B5EF4-FFF2-40B4-BE49-F238E27FC236}">
                  <a16:creationId xmlns:a16="http://schemas.microsoft.com/office/drawing/2014/main" id="{77F84CA9-0BB9-145A-E0FA-6F2D9AD498A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838680" y="1626984"/>
              <a:ext cx="1095141" cy="36931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1425" tIns="45713" rIns="91425" bIns="45713">
              <a:spAutoFit/>
            </a:bodyPr>
            <a:lstStyle>
              <a:lvl1pPr eaLnBrk="0" hangingPunct="0"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1pPr>
              <a:lvl2pPr marL="742950" indent="-285750" eaLnBrk="0" hangingPunct="0"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2pPr>
              <a:lvl3pPr marL="1143000" indent="-228600" eaLnBrk="0" hangingPunct="0"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3pPr>
              <a:lvl4pPr marL="1600200" indent="-228600" eaLnBrk="0" hangingPunct="0"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4pPr>
              <a:lvl5pPr marL="2057400" indent="-228600" eaLnBrk="0" hangingPunct="0"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9pPr>
            </a:lstStyle>
            <a:p>
              <a:pPr fontAlgn="auto">
                <a:spcBef>
                  <a:spcPts val="0"/>
                </a:spcBef>
                <a:spcAft>
                  <a:spcPts val="0"/>
                </a:spcAft>
              </a:pPr>
              <a:r>
                <a:rPr lang="en-US" altLang="zh-CN" b="0" dirty="0">
                  <a:solidFill>
                    <a:prstClr val="black"/>
                  </a:solidFill>
                  <a:latin typeface="Arial" pitchFamily="34" charset="0"/>
                  <a:ea typeface="SimHei" panose="02010609060101010101" pitchFamily="49" charset="-122"/>
                </a:rPr>
                <a:t>EX/MEM</a:t>
              </a:r>
            </a:p>
          </p:txBody>
        </p:sp>
        <p:sp>
          <p:nvSpPr>
            <p:cNvPr id="129" name="Text Box 135">
              <a:extLst>
                <a:ext uri="{FF2B5EF4-FFF2-40B4-BE49-F238E27FC236}">
                  <a16:creationId xmlns:a16="http://schemas.microsoft.com/office/drawing/2014/main" id="{B7B7BDF4-D461-90B3-9297-8F802F34C94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775040" y="2394056"/>
              <a:ext cx="1172085" cy="36931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1425" tIns="45713" rIns="91425" bIns="45713">
              <a:spAutoFit/>
            </a:bodyPr>
            <a:lstStyle>
              <a:lvl1pPr eaLnBrk="0" hangingPunct="0"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1pPr>
              <a:lvl2pPr marL="742950" indent="-285750" eaLnBrk="0" hangingPunct="0"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2pPr>
              <a:lvl3pPr marL="1143000" indent="-228600" eaLnBrk="0" hangingPunct="0"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3pPr>
              <a:lvl4pPr marL="1600200" indent="-228600" eaLnBrk="0" hangingPunct="0"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4pPr>
              <a:lvl5pPr marL="2057400" indent="-228600" eaLnBrk="0" hangingPunct="0"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9pPr>
            </a:lstStyle>
            <a:p>
              <a:pPr fontAlgn="auto">
                <a:spcBef>
                  <a:spcPts val="0"/>
                </a:spcBef>
                <a:spcAft>
                  <a:spcPts val="0"/>
                </a:spcAft>
              </a:pPr>
              <a:r>
                <a:rPr lang="en-US" altLang="zh-CN" b="0" dirty="0">
                  <a:solidFill>
                    <a:prstClr val="black"/>
                  </a:solidFill>
                  <a:latin typeface="Arial" pitchFamily="34" charset="0"/>
                  <a:ea typeface="SimHei" panose="02010609060101010101" pitchFamily="49" charset="-122"/>
                </a:rPr>
                <a:t>MEM/WB</a:t>
              </a:r>
            </a:p>
          </p:txBody>
        </p:sp>
        <p:sp>
          <p:nvSpPr>
            <p:cNvPr id="154" name="Line 13">
              <a:extLst>
                <a:ext uri="{FF2B5EF4-FFF2-40B4-BE49-F238E27FC236}">
                  <a16:creationId xmlns:a16="http://schemas.microsoft.com/office/drawing/2014/main" id="{2FCE4DC9-2389-AE56-4E66-F2C569FC1AA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686799" y="3913053"/>
              <a:ext cx="151960" cy="0"/>
            </a:xfrm>
            <a:prstGeom prst="line">
              <a:avLst/>
            </a:prstGeom>
            <a:noFill/>
            <a:ln w="19050">
              <a:solidFill>
                <a:sysClr val="windowText" lastClr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F0502020204030204"/>
                <a:ea typeface="等线" panose="02010600030101010101" pitchFamily="2" charset="-122"/>
              </a:endParaRPr>
            </a:p>
          </p:txBody>
        </p:sp>
        <p:sp>
          <p:nvSpPr>
            <p:cNvPr id="155" name="Line 110">
              <a:extLst>
                <a:ext uri="{FF2B5EF4-FFF2-40B4-BE49-F238E27FC236}">
                  <a16:creationId xmlns:a16="http://schemas.microsoft.com/office/drawing/2014/main" id="{125412EB-0058-531A-120F-D6501A8BD5C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35723" y="5093529"/>
              <a:ext cx="0" cy="236873"/>
            </a:xfrm>
            <a:prstGeom prst="line">
              <a:avLst/>
            </a:prstGeom>
            <a:noFill/>
            <a:ln w="19050">
              <a:solidFill>
                <a:sysClr val="windowText" lastClr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F0502020204030204"/>
                <a:ea typeface="等线" panose="02010600030101010101" pitchFamily="2" charset="-122"/>
              </a:endParaRPr>
            </a:p>
          </p:txBody>
        </p:sp>
        <p:sp>
          <p:nvSpPr>
            <p:cNvPr id="156" name="Line 8">
              <a:extLst>
                <a:ext uri="{FF2B5EF4-FFF2-40B4-BE49-F238E27FC236}">
                  <a16:creationId xmlns:a16="http://schemas.microsoft.com/office/drawing/2014/main" id="{284F9856-FEA0-9912-730D-E60AF89D559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35723" y="5326892"/>
              <a:ext cx="1747538" cy="0"/>
            </a:xfrm>
            <a:prstGeom prst="line">
              <a:avLst/>
            </a:prstGeom>
            <a:noFill/>
            <a:ln w="19050">
              <a:solidFill>
                <a:sysClr val="windowText" lastClr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F0502020204030204"/>
                <a:ea typeface="等线" panose="02010600030101010101" pitchFamily="2" charset="-122"/>
              </a:endParaRPr>
            </a:p>
          </p:txBody>
        </p:sp>
        <p:sp>
          <p:nvSpPr>
            <p:cNvPr id="157" name="Line 9">
              <a:extLst>
                <a:ext uri="{FF2B5EF4-FFF2-40B4-BE49-F238E27FC236}">
                  <a16:creationId xmlns:a16="http://schemas.microsoft.com/office/drawing/2014/main" id="{EF50FE4F-426F-034A-176B-AD9CD875CF4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42201" y="5326892"/>
              <a:ext cx="262057" cy="0"/>
            </a:xfrm>
            <a:prstGeom prst="line">
              <a:avLst/>
            </a:prstGeom>
            <a:noFill/>
            <a:ln w="19050">
              <a:solidFill>
                <a:sysClr val="windowText" lastClr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F0502020204030204"/>
                <a:ea typeface="等线" panose="02010600030101010101" pitchFamily="2" charset="-122"/>
              </a:endParaRPr>
            </a:p>
          </p:txBody>
        </p:sp>
        <p:sp>
          <p:nvSpPr>
            <p:cNvPr id="158" name="AutoShape 67">
              <a:extLst>
                <a:ext uri="{FF2B5EF4-FFF2-40B4-BE49-F238E27FC236}">
                  <a16:creationId xmlns:a16="http://schemas.microsoft.com/office/drawing/2014/main" id="{B223882A-1F9C-A302-66BC-108C37337638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6200000">
              <a:off x="4840498" y="5024784"/>
              <a:ext cx="565593" cy="236773"/>
            </a:xfrm>
            <a:custGeom>
              <a:avLst/>
              <a:gdLst>
                <a:gd name="T0" fmla="*/ 9 w 21600"/>
                <a:gd name="T1" fmla="*/ 0 h 21600"/>
                <a:gd name="T2" fmla="*/ 5 w 21600"/>
                <a:gd name="T3" fmla="*/ 1 h 21600"/>
                <a:gd name="T4" fmla="*/ 1 w 21600"/>
                <a:gd name="T5" fmla="*/ 0 h 21600"/>
                <a:gd name="T6" fmla="*/ 5 w 21600"/>
                <a:gd name="T7" fmla="*/ 0 h 21600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4500 w 21600"/>
                <a:gd name="T13" fmla="*/ 4500 h 21600"/>
                <a:gd name="T14" fmla="*/ 17100 w 21600"/>
                <a:gd name="T15" fmla="*/ 17100 h 2160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600" h="21600">
                  <a:moveTo>
                    <a:pt x="0" y="0"/>
                  </a:moveTo>
                  <a:lnTo>
                    <a:pt x="5400" y="21600"/>
                  </a:lnTo>
                  <a:lnTo>
                    <a:pt x="16200" y="21600"/>
                  </a:lnTo>
                  <a:lnTo>
                    <a:pt x="21600" y="0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9050">
              <a:solidFill>
                <a:sysClr val="windowText" lastClr="000000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2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F0502020204030204"/>
                <a:ea typeface="等线" panose="02010600030101010101" pitchFamily="2" charset="-122"/>
              </a:endParaRPr>
            </a:p>
          </p:txBody>
        </p:sp>
        <p:sp>
          <p:nvSpPr>
            <p:cNvPr id="159" name="Rectangle 70">
              <a:extLst>
                <a:ext uri="{FF2B5EF4-FFF2-40B4-BE49-F238E27FC236}">
                  <a16:creationId xmlns:a16="http://schemas.microsoft.com/office/drawing/2014/main" id="{8BF9BEFE-6D26-7E08-B667-3D085B6687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39139" y="5177696"/>
              <a:ext cx="137639" cy="20832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19047" tIns="26984" rIns="19047" bIns="26984"/>
            <a:lstStyle/>
            <a:p>
              <a:pPr algn="ctr" eaLnBrk="0" fontAlgn="auto" hangingPunct="0">
                <a:lnSpc>
                  <a:spcPct val="75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en-US" altLang="zh-CN" sz="1400" dirty="0">
                  <a:solidFill>
                    <a:prstClr val="black"/>
                  </a:solidFill>
                  <a:latin typeface="Arial" pitchFamily="34" charset="0"/>
                  <a:ea typeface="等线" panose="02010600030101010101" pitchFamily="2" charset="-122"/>
                </a:rPr>
                <a:t>1</a:t>
              </a:r>
            </a:p>
          </p:txBody>
        </p:sp>
        <p:sp>
          <p:nvSpPr>
            <p:cNvPr id="160" name="Line 10">
              <a:extLst>
                <a:ext uri="{FF2B5EF4-FFF2-40B4-BE49-F238E27FC236}">
                  <a16:creationId xmlns:a16="http://schemas.microsoft.com/office/drawing/2014/main" id="{54CDD31E-E476-A86A-5A20-61473448019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234753" y="5093529"/>
              <a:ext cx="1008061" cy="0"/>
            </a:xfrm>
            <a:prstGeom prst="line">
              <a:avLst/>
            </a:prstGeom>
            <a:noFill/>
            <a:ln w="19050">
              <a:solidFill>
                <a:sysClr val="windowText" lastClr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F0502020204030204"/>
                <a:ea typeface="等线" panose="02010600030101010101" pitchFamily="2" charset="-122"/>
              </a:endParaRPr>
            </a:p>
          </p:txBody>
        </p:sp>
        <p:sp>
          <p:nvSpPr>
            <p:cNvPr id="163" name="Text Box 30">
              <a:extLst>
                <a:ext uri="{FF2B5EF4-FFF2-40B4-BE49-F238E27FC236}">
                  <a16:creationId xmlns:a16="http://schemas.microsoft.com/office/drawing/2014/main" id="{281B46CD-E4D4-9843-C9E9-B063CE2FDCB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663014" y="3367716"/>
              <a:ext cx="500428" cy="27698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1425" tIns="45713" rIns="91425" bIns="45713">
              <a:spAutoFit/>
            </a:bodyPr>
            <a:lstStyle>
              <a:lvl1pPr eaLnBrk="0" hangingPunct="0"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1pPr>
              <a:lvl2pPr marL="742950" indent="-285750" eaLnBrk="0" hangingPunct="0"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2pPr>
              <a:lvl3pPr marL="1143000" indent="-228600" eaLnBrk="0" hangingPunct="0"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3pPr>
              <a:lvl4pPr marL="1600200" indent="-228600" eaLnBrk="0" hangingPunct="0"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4pPr>
              <a:lvl5pPr marL="2057400" indent="-228600" eaLnBrk="0" hangingPunct="0"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9pPr>
            </a:lstStyle>
            <a:p>
              <a:pPr fontAlgn="auto">
                <a:spcBef>
                  <a:spcPts val="0"/>
                </a:spcBef>
                <a:spcAft>
                  <a:spcPts val="0"/>
                </a:spcAft>
              </a:pPr>
              <a:r>
                <a:rPr lang="en-US" altLang="zh-CN" sz="1200" b="0" dirty="0">
                  <a:solidFill>
                    <a:prstClr val="black"/>
                  </a:solidFill>
                  <a:latin typeface="Arial" pitchFamily="34" charset="0"/>
                  <a:ea typeface="SimHei" panose="02010609060101010101" pitchFamily="49" charset="-122"/>
                </a:rPr>
                <a:t>Zero</a:t>
              </a:r>
            </a:p>
          </p:txBody>
        </p:sp>
        <p:sp>
          <p:nvSpPr>
            <p:cNvPr id="164" name="Line 124">
              <a:extLst>
                <a:ext uri="{FF2B5EF4-FFF2-40B4-BE49-F238E27FC236}">
                  <a16:creationId xmlns:a16="http://schemas.microsoft.com/office/drawing/2014/main" id="{D6C77003-B91D-292A-D0ED-28834BAE00D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243180" y="1794328"/>
              <a:ext cx="0" cy="1236577"/>
            </a:xfrm>
            <a:prstGeom prst="line">
              <a:avLst/>
            </a:prstGeom>
            <a:noFill/>
            <a:ln w="19050">
              <a:solidFill>
                <a:sysClr val="windowText" lastClr="000000"/>
              </a:solidFill>
              <a:round/>
              <a:headEnd type="none" w="med" len="med"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F0502020204030204"/>
                <a:ea typeface="等线" panose="02010600030101010101" pitchFamily="2" charset="-122"/>
              </a:endParaRPr>
            </a:p>
          </p:txBody>
        </p:sp>
        <p:sp>
          <p:nvSpPr>
            <p:cNvPr id="166" name="Rectangle 70">
              <a:extLst>
                <a:ext uri="{FF2B5EF4-FFF2-40B4-BE49-F238E27FC236}">
                  <a16:creationId xmlns:a16="http://schemas.microsoft.com/office/drawing/2014/main" id="{B6F9E2BD-EC7F-9EA6-D2F5-99165ECAE0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3050" y="4958616"/>
              <a:ext cx="137639" cy="18354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19047" tIns="26984" rIns="19047" bIns="26984"/>
            <a:lstStyle/>
            <a:p>
              <a:pPr algn="ctr" eaLnBrk="0" fontAlgn="auto" hangingPunct="0">
                <a:lnSpc>
                  <a:spcPct val="75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en-US" altLang="zh-CN" sz="1400" dirty="0">
                  <a:solidFill>
                    <a:prstClr val="black"/>
                  </a:solidFill>
                  <a:latin typeface="Arial" pitchFamily="34" charset="0"/>
                  <a:ea typeface="等线" panose="02010600030101010101" pitchFamily="2" charset="-122"/>
                </a:rPr>
                <a:t>0</a:t>
              </a:r>
            </a:p>
          </p:txBody>
        </p:sp>
        <p:sp>
          <p:nvSpPr>
            <p:cNvPr id="167" name="Rectangle 70">
              <a:extLst>
                <a:ext uri="{FF2B5EF4-FFF2-40B4-BE49-F238E27FC236}">
                  <a16:creationId xmlns:a16="http://schemas.microsoft.com/office/drawing/2014/main" id="{029FD17A-58B6-584E-AA22-CB91D12FDD6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39380" y="4190812"/>
              <a:ext cx="137639" cy="20832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19047" tIns="26984" rIns="19047" bIns="26984"/>
            <a:lstStyle/>
            <a:p>
              <a:pPr algn="ctr" eaLnBrk="0" fontAlgn="auto" hangingPunct="0">
                <a:lnSpc>
                  <a:spcPct val="75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en-US" altLang="zh-CN" sz="1400" dirty="0">
                  <a:solidFill>
                    <a:prstClr val="black"/>
                  </a:solidFill>
                  <a:latin typeface="Arial" pitchFamily="34" charset="0"/>
                  <a:ea typeface="等线" panose="02010600030101010101" pitchFamily="2" charset="-122"/>
                </a:rPr>
                <a:t>1</a:t>
              </a:r>
            </a:p>
          </p:txBody>
        </p:sp>
        <p:sp>
          <p:nvSpPr>
            <p:cNvPr id="168" name="Rectangle 70">
              <a:extLst>
                <a:ext uri="{FF2B5EF4-FFF2-40B4-BE49-F238E27FC236}">
                  <a16:creationId xmlns:a16="http://schemas.microsoft.com/office/drawing/2014/main" id="{BCC79F90-FB79-A995-3187-AB5651073D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4337" y="3913052"/>
              <a:ext cx="137639" cy="18354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19047" tIns="26984" rIns="19047" bIns="26984"/>
            <a:lstStyle/>
            <a:p>
              <a:pPr algn="ctr" eaLnBrk="0" fontAlgn="auto" hangingPunct="0">
                <a:lnSpc>
                  <a:spcPct val="75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en-US" altLang="zh-CN" sz="1400" dirty="0">
                  <a:solidFill>
                    <a:prstClr val="black"/>
                  </a:solidFill>
                  <a:latin typeface="Arial" pitchFamily="34" charset="0"/>
                  <a:ea typeface="等线" panose="02010600030101010101" pitchFamily="2" charset="-122"/>
                </a:rPr>
                <a:t>0</a:t>
              </a:r>
            </a:p>
          </p:txBody>
        </p:sp>
        <p:sp>
          <p:nvSpPr>
            <p:cNvPr id="169" name="Rectangle 70">
              <a:extLst>
                <a:ext uri="{FF2B5EF4-FFF2-40B4-BE49-F238E27FC236}">
                  <a16:creationId xmlns:a16="http://schemas.microsoft.com/office/drawing/2014/main" id="{666865C7-399F-10BD-9AB1-82D7A26D494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34767" y="1292554"/>
              <a:ext cx="137639" cy="20832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19047" tIns="26984" rIns="19047" bIns="26984"/>
            <a:lstStyle/>
            <a:p>
              <a:pPr algn="ctr" eaLnBrk="0" fontAlgn="auto" hangingPunct="0">
                <a:lnSpc>
                  <a:spcPct val="75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en-US" altLang="zh-CN" sz="1400" dirty="0">
                  <a:solidFill>
                    <a:prstClr val="black"/>
                  </a:solidFill>
                  <a:latin typeface="Arial" pitchFamily="34" charset="0"/>
                  <a:ea typeface="等线" panose="02010600030101010101" pitchFamily="2" charset="-122"/>
                </a:rPr>
                <a:t>1</a:t>
              </a:r>
            </a:p>
          </p:txBody>
        </p:sp>
        <p:sp>
          <p:nvSpPr>
            <p:cNvPr id="170" name="Rectangle 70">
              <a:extLst>
                <a:ext uri="{FF2B5EF4-FFF2-40B4-BE49-F238E27FC236}">
                  <a16:creationId xmlns:a16="http://schemas.microsoft.com/office/drawing/2014/main" id="{2EB333AE-CD6F-4E7C-C89C-7281BEE18C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38678" y="1561154"/>
              <a:ext cx="137639" cy="18354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19047" tIns="26984" rIns="19047" bIns="26984"/>
            <a:lstStyle/>
            <a:p>
              <a:pPr algn="ctr" eaLnBrk="0" fontAlgn="auto" hangingPunct="0">
                <a:lnSpc>
                  <a:spcPct val="75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en-US" altLang="zh-CN" sz="1400" dirty="0">
                  <a:solidFill>
                    <a:prstClr val="black"/>
                  </a:solidFill>
                  <a:latin typeface="Arial" pitchFamily="34" charset="0"/>
                  <a:ea typeface="等线" panose="02010600030101010101" pitchFamily="2" charset="-122"/>
                </a:rPr>
                <a:t>0</a:t>
              </a:r>
            </a:p>
          </p:txBody>
        </p:sp>
        <p:sp>
          <p:nvSpPr>
            <p:cNvPr id="171" name="Text Box 32">
              <a:extLst>
                <a:ext uri="{FF2B5EF4-FFF2-40B4-BE49-F238E27FC236}">
                  <a16:creationId xmlns:a16="http://schemas.microsoft.com/office/drawing/2014/main" id="{BF7EFBE6-E30F-7AFE-367C-4187CA7F86F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825656" y="2480153"/>
              <a:ext cx="314479" cy="55635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1425" tIns="45713" rIns="91425" bIns="45713">
              <a:spAutoFit/>
            </a:bodyPr>
            <a:lstStyle>
              <a:lvl1pPr eaLnBrk="0" hangingPunct="0"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1pPr>
              <a:lvl2pPr marL="742950" indent="-285750" eaLnBrk="0" hangingPunct="0"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2pPr>
              <a:lvl3pPr marL="1143000" indent="-228600" eaLnBrk="0" hangingPunct="0"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3pPr>
              <a:lvl4pPr marL="1600200" indent="-228600" eaLnBrk="0" hangingPunct="0"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4pPr>
              <a:lvl5pPr marL="2057400" indent="-228600" eaLnBrk="0" hangingPunct="0"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9pPr>
            </a:lstStyle>
            <a:p>
              <a:pPr fontAlgn="auto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lang="en-US" altLang="zh-CN" sz="1400" b="0" dirty="0">
                  <a:solidFill>
                    <a:prstClr val="black"/>
                  </a:solidFill>
                  <a:latin typeface="Arial" pitchFamily="34" charset="0"/>
                  <a:ea typeface="SimHei" panose="02010609060101010101" pitchFamily="49" charset="-122"/>
                </a:rPr>
                <a:t>A</a:t>
              </a:r>
            </a:p>
            <a:p>
              <a:pPr fontAlgn="auto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lang="en-US" altLang="zh-CN" sz="1400" b="0" dirty="0">
                  <a:solidFill>
                    <a:prstClr val="black"/>
                  </a:solidFill>
                  <a:latin typeface="Arial" pitchFamily="34" charset="0"/>
                  <a:ea typeface="SimHei" panose="02010609060101010101" pitchFamily="49" charset="-122"/>
                </a:rPr>
                <a:t>D</a:t>
              </a:r>
            </a:p>
            <a:p>
              <a:pPr fontAlgn="auto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lang="en-US" altLang="zh-CN" sz="1400" b="0" dirty="0">
                  <a:solidFill>
                    <a:prstClr val="black"/>
                  </a:solidFill>
                  <a:latin typeface="Arial" pitchFamily="34" charset="0"/>
                  <a:ea typeface="SimHei" panose="02010609060101010101" pitchFamily="49" charset="-122"/>
                </a:rPr>
                <a:t>D</a:t>
              </a:r>
            </a:p>
          </p:txBody>
        </p:sp>
        <p:sp>
          <p:nvSpPr>
            <p:cNvPr id="172" name="Rectangle 70">
              <a:extLst>
                <a:ext uri="{FF2B5EF4-FFF2-40B4-BE49-F238E27FC236}">
                  <a16:creationId xmlns:a16="http://schemas.microsoft.com/office/drawing/2014/main" id="{807AD728-38B0-7D8D-93E5-1D6C0FDDB93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494772" y="3734735"/>
              <a:ext cx="137639" cy="20832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19047" tIns="26984" rIns="19047" bIns="26984"/>
            <a:lstStyle/>
            <a:p>
              <a:pPr algn="ctr" eaLnBrk="0" fontAlgn="auto" hangingPunct="0">
                <a:lnSpc>
                  <a:spcPct val="75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en-US" altLang="zh-CN" sz="1400" dirty="0">
                  <a:solidFill>
                    <a:prstClr val="black"/>
                  </a:solidFill>
                  <a:latin typeface="Arial" pitchFamily="34" charset="0"/>
                  <a:ea typeface="等线" panose="02010600030101010101" pitchFamily="2" charset="-122"/>
                </a:rPr>
                <a:t>1</a:t>
              </a:r>
            </a:p>
          </p:txBody>
        </p:sp>
        <p:sp>
          <p:nvSpPr>
            <p:cNvPr id="173" name="Rectangle 70">
              <a:extLst>
                <a:ext uri="{FF2B5EF4-FFF2-40B4-BE49-F238E27FC236}">
                  <a16:creationId xmlns:a16="http://schemas.microsoft.com/office/drawing/2014/main" id="{68E7A216-F9A6-307E-6BEA-17C1B1D184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498683" y="4003335"/>
              <a:ext cx="137639" cy="18354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19047" tIns="26984" rIns="19047" bIns="26984"/>
            <a:lstStyle/>
            <a:p>
              <a:pPr algn="ctr" eaLnBrk="0" fontAlgn="auto" hangingPunct="0">
                <a:lnSpc>
                  <a:spcPct val="75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en-US" altLang="zh-CN" sz="1400" dirty="0">
                  <a:solidFill>
                    <a:prstClr val="black"/>
                  </a:solidFill>
                  <a:latin typeface="Arial" pitchFamily="34" charset="0"/>
                  <a:ea typeface="等线" panose="02010600030101010101" pitchFamily="2" charset="-122"/>
                </a:rPr>
                <a:t>0</a:t>
              </a:r>
            </a:p>
          </p:txBody>
        </p:sp>
        <p:sp>
          <p:nvSpPr>
            <p:cNvPr id="153" name="Line 118">
              <a:extLst>
                <a:ext uri="{FF2B5EF4-FFF2-40B4-BE49-F238E27FC236}">
                  <a16:creationId xmlns:a16="http://schemas.microsoft.com/office/drawing/2014/main" id="{0FA0E142-B820-A5D6-4056-8D05A2A4D45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268069" y="4143847"/>
              <a:ext cx="118182" cy="694398"/>
            </a:xfrm>
            <a:prstGeom prst="line">
              <a:avLst/>
            </a:prstGeom>
            <a:noFill/>
            <a:ln w="28575" cap="rnd">
              <a:solidFill>
                <a:sysClr val="windowText" lastClr="000000"/>
              </a:solidFill>
              <a:prstDash val="sysDot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F0502020204030204"/>
                <a:ea typeface="等线" panose="02010600030101010101" pitchFamily="2" charset="-122"/>
              </a:endParaRPr>
            </a:p>
          </p:txBody>
        </p:sp>
        <p:sp>
          <p:nvSpPr>
            <p:cNvPr id="112" name="Line 118">
              <a:extLst>
                <a:ext uri="{FF2B5EF4-FFF2-40B4-BE49-F238E27FC236}">
                  <a16:creationId xmlns:a16="http://schemas.microsoft.com/office/drawing/2014/main" id="{FCA325FD-4210-4C70-198D-E99EDC7C089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078960" y="4121372"/>
              <a:ext cx="151960" cy="694398"/>
            </a:xfrm>
            <a:prstGeom prst="line">
              <a:avLst/>
            </a:prstGeom>
            <a:noFill/>
            <a:ln w="28575" cap="rnd">
              <a:solidFill>
                <a:sysClr val="windowText" lastClr="000000"/>
              </a:solidFill>
              <a:prstDash val="sysDot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F0502020204030204"/>
                <a:ea typeface="等线" panose="02010600030101010101" pitchFamily="2" charset="-122"/>
              </a:endParaRPr>
            </a:p>
          </p:txBody>
        </p:sp>
        <p:sp>
          <p:nvSpPr>
            <p:cNvPr id="3" name="任意多边形: 形状 2">
              <a:extLst>
                <a:ext uri="{FF2B5EF4-FFF2-40B4-BE49-F238E27FC236}">
                  <a16:creationId xmlns:a16="http://schemas.microsoft.com/office/drawing/2014/main" id="{172EC27F-0B7B-F9D9-9FC2-E75465E2022C}"/>
                </a:ext>
              </a:extLst>
            </p:cNvPr>
            <p:cNvSpPr/>
            <p:nvPr/>
          </p:nvSpPr>
          <p:spPr>
            <a:xfrm>
              <a:off x="1778065" y="2094312"/>
              <a:ext cx="372209" cy="842010"/>
            </a:xfrm>
            <a:custGeom>
              <a:avLst/>
              <a:gdLst>
                <a:gd name="connsiteX0" fmla="*/ 9525 w 386715"/>
                <a:gd name="connsiteY0" fmla="*/ 0 h 830580"/>
                <a:gd name="connsiteX1" fmla="*/ 386715 w 386715"/>
                <a:gd name="connsiteY1" fmla="*/ 245745 h 830580"/>
                <a:gd name="connsiteX2" fmla="*/ 384810 w 386715"/>
                <a:gd name="connsiteY2" fmla="*/ 579120 h 830580"/>
                <a:gd name="connsiteX3" fmla="*/ 0 w 386715"/>
                <a:gd name="connsiteY3" fmla="*/ 830580 h 830580"/>
                <a:gd name="connsiteX4" fmla="*/ 3810 w 386715"/>
                <a:gd name="connsiteY4" fmla="*/ 497205 h 830580"/>
                <a:gd name="connsiteX5" fmla="*/ 70485 w 386715"/>
                <a:gd name="connsiteY5" fmla="*/ 409575 h 830580"/>
                <a:gd name="connsiteX6" fmla="*/ 3810 w 386715"/>
                <a:gd name="connsiteY6" fmla="*/ 320040 h 830580"/>
                <a:gd name="connsiteX7" fmla="*/ 9525 w 386715"/>
                <a:gd name="connsiteY7" fmla="*/ 0 h 830580"/>
                <a:gd name="connsiteX0" fmla="*/ 9525 w 386715"/>
                <a:gd name="connsiteY0" fmla="*/ 0 h 830580"/>
                <a:gd name="connsiteX1" fmla="*/ 386715 w 386715"/>
                <a:gd name="connsiteY1" fmla="*/ 245745 h 830580"/>
                <a:gd name="connsiteX2" fmla="*/ 384810 w 386715"/>
                <a:gd name="connsiteY2" fmla="*/ 579120 h 830580"/>
                <a:gd name="connsiteX3" fmla="*/ 0 w 386715"/>
                <a:gd name="connsiteY3" fmla="*/ 830580 h 830580"/>
                <a:gd name="connsiteX4" fmla="*/ 3810 w 386715"/>
                <a:gd name="connsiteY4" fmla="*/ 497205 h 830580"/>
                <a:gd name="connsiteX5" fmla="*/ 70485 w 386715"/>
                <a:gd name="connsiteY5" fmla="*/ 409575 h 830580"/>
                <a:gd name="connsiteX6" fmla="*/ 7620 w 386715"/>
                <a:gd name="connsiteY6" fmla="*/ 318135 h 830580"/>
                <a:gd name="connsiteX7" fmla="*/ 9525 w 386715"/>
                <a:gd name="connsiteY7" fmla="*/ 0 h 830580"/>
                <a:gd name="connsiteX0" fmla="*/ 9525 w 386715"/>
                <a:gd name="connsiteY0" fmla="*/ 0 h 830580"/>
                <a:gd name="connsiteX1" fmla="*/ 386715 w 386715"/>
                <a:gd name="connsiteY1" fmla="*/ 245745 h 830580"/>
                <a:gd name="connsiteX2" fmla="*/ 384810 w 386715"/>
                <a:gd name="connsiteY2" fmla="*/ 579120 h 830580"/>
                <a:gd name="connsiteX3" fmla="*/ 0 w 386715"/>
                <a:gd name="connsiteY3" fmla="*/ 830580 h 830580"/>
                <a:gd name="connsiteX4" fmla="*/ 0 w 386715"/>
                <a:gd name="connsiteY4" fmla="*/ 508635 h 830580"/>
                <a:gd name="connsiteX5" fmla="*/ 70485 w 386715"/>
                <a:gd name="connsiteY5" fmla="*/ 409575 h 830580"/>
                <a:gd name="connsiteX6" fmla="*/ 7620 w 386715"/>
                <a:gd name="connsiteY6" fmla="*/ 318135 h 830580"/>
                <a:gd name="connsiteX7" fmla="*/ 9525 w 386715"/>
                <a:gd name="connsiteY7" fmla="*/ 0 h 830580"/>
                <a:gd name="connsiteX0" fmla="*/ 1905 w 386715"/>
                <a:gd name="connsiteY0" fmla="*/ 0 h 842010"/>
                <a:gd name="connsiteX1" fmla="*/ 386715 w 386715"/>
                <a:gd name="connsiteY1" fmla="*/ 257175 h 842010"/>
                <a:gd name="connsiteX2" fmla="*/ 384810 w 386715"/>
                <a:gd name="connsiteY2" fmla="*/ 590550 h 842010"/>
                <a:gd name="connsiteX3" fmla="*/ 0 w 386715"/>
                <a:gd name="connsiteY3" fmla="*/ 842010 h 842010"/>
                <a:gd name="connsiteX4" fmla="*/ 0 w 386715"/>
                <a:gd name="connsiteY4" fmla="*/ 520065 h 842010"/>
                <a:gd name="connsiteX5" fmla="*/ 70485 w 386715"/>
                <a:gd name="connsiteY5" fmla="*/ 421005 h 842010"/>
                <a:gd name="connsiteX6" fmla="*/ 7620 w 386715"/>
                <a:gd name="connsiteY6" fmla="*/ 329565 h 842010"/>
                <a:gd name="connsiteX7" fmla="*/ 1905 w 386715"/>
                <a:gd name="connsiteY7" fmla="*/ 0 h 842010"/>
                <a:gd name="connsiteX0" fmla="*/ 5715 w 390525"/>
                <a:gd name="connsiteY0" fmla="*/ 0 h 842010"/>
                <a:gd name="connsiteX1" fmla="*/ 390525 w 390525"/>
                <a:gd name="connsiteY1" fmla="*/ 257175 h 842010"/>
                <a:gd name="connsiteX2" fmla="*/ 388620 w 390525"/>
                <a:gd name="connsiteY2" fmla="*/ 590550 h 842010"/>
                <a:gd name="connsiteX3" fmla="*/ 3810 w 390525"/>
                <a:gd name="connsiteY3" fmla="*/ 842010 h 842010"/>
                <a:gd name="connsiteX4" fmla="*/ 3810 w 390525"/>
                <a:gd name="connsiteY4" fmla="*/ 520065 h 842010"/>
                <a:gd name="connsiteX5" fmla="*/ 74295 w 390525"/>
                <a:gd name="connsiteY5" fmla="*/ 421005 h 842010"/>
                <a:gd name="connsiteX6" fmla="*/ 0 w 390525"/>
                <a:gd name="connsiteY6" fmla="*/ 327660 h 842010"/>
                <a:gd name="connsiteX7" fmla="*/ 5715 w 390525"/>
                <a:gd name="connsiteY7" fmla="*/ 0 h 842010"/>
                <a:gd name="connsiteX0" fmla="*/ 1905 w 386715"/>
                <a:gd name="connsiteY0" fmla="*/ 0 h 842010"/>
                <a:gd name="connsiteX1" fmla="*/ 386715 w 386715"/>
                <a:gd name="connsiteY1" fmla="*/ 257175 h 842010"/>
                <a:gd name="connsiteX2" fmla="*/ 384810 w 386715"/>
                <a:gd name="connsiteY2" fmla="*/ 590550 h 842010"/>
                <a:gd name="connsiteX3" fmla="*/ 0 w 386715"/>
                <a:gd name="connsiteY3" fmla="*/ 842010 h 842010"/>
                <a:gd name="connsiteX4" fmla="*/ 0 w 386715"/>
                <a:gd name="connsiteY4" fmla="*/ 520065 h 842010"/>
                <a:gd name="connsiteX5" fmla="*/ 70485 w 386715"/>
                <a:gd name="connsiteY5" fmla="*/ 421005 h 842010"/>
                <a:gd name="connsiteX6" fmla="*/ 5715 w 386715"/>
                <a:gd name="connsiteY6" fmla="*/ 327660 h 842010"/>
                <a:gd name="connsiteX7" fmla="*/ 1905 w 386715"/>
                <a:gd name="connsiteY7" fmla="*/ 0 h 842010"/>
                <a:gd name="connsiteX0" fmla="*/ 1905 w 386715"/>
                <a:gd name="connsiteY0" fmla="*/ 0 h 842010"/>
                <a:gd name="connsiteX1" fmla="*/ 386715 w 386715"/>
                <a:gd name="connsiteY1" fmla="*/ 257175 h 842010"/>
                <a:gd name="connsiteX2" fmla="*/ 384810 w 386715"/>
                <a:gd name="connsiteY2" fmla="*/ 590550 h 842010"/>
                <a:gd name="connsiteX3" fmla="*/ 0 w 386715"/>
                <a:gd name="connsiteY3" fmla="*/ 842010 h 842010"/>
                <a:gd name="connsiteX4" fmla="*/ 0 w 386715"/>
                <a:gd name="connsiteY4" fmla="*/ 520065 h 842010"/>
                <a:gd name="connsiteX5" fmla="*/ 70485 w 386715"/>
                <a:gd name="connsiteY5" fmla="*/ 421005 h 842010"/>
                <a:gd name="connsiteX6" fmla="*/ 1905 w 386715"/>
                <a:gd name="connsiteY6" fmla="*/ 327660 h 842010"/>
                <a:gd name="connsiteX7" fmla="*/ 1905 w 386715"/>
                <a:gd name="connsiteY7" fmla="*/ 0 h 8420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6715" h="842010">
                  <a:moveTo>
                    <a:pt x="1905" y="0"/>
                  </a:moveTo>
                  <a:lnTo>
                    <a:pt x="386715" y="257175"/>
                  </a:lnTo>
                  <a:lnTo>
                    <a:pt x="384810" y="590550"/>
                  </a:lnTo>
                  <a:lnTo>
                    <a:pt x="0" y="842010"/>
                  </a:lnTo>
                  <a:lnTo>
                    <a:pt x="0" y="520065"/>
                  </a:lnTo>
                  <a:lnTo>
                    <a:pt x="70485" y="421005"/>
                  </a:lnTo>
                  <a:lnTo>
                    <a:pt x="1905" y="327660"/>
                  </a:lnTo>
                  <a:lnTo>
                    <a:pt x="1905" y="0"/>
                  </a:lnTo>
                  <a:close/>
                </a:path>
              </a:pathLst>
            </a:custGeom>
            <a:noFill/>
            <a:ln w="190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dirty="0"/>
            </a:p>
          </p:txBody>
        </p:sp>
        <p:sp>
          <p:nvSpPr>
            <p:cNvPr id="147" name="任意多边形: 形状 146">
              <a:extLst>
                <a:ext uri="{FF2B5EF4-FFF2-40B4-BE49-F238E27FC236}">
                  <a16:creationId xmlns:a16="http://schemas.microsoft.com/office/drawing/2014/main" id="{1001BBC3-8F5E-5382-C401-1639E88C0240}"/>
                </a:ext>
              </a:extLst>
            </p:cNvPr>
            <p:cNvSpPr/>
            <p:nvPr/>
          </p:nvSpPr>
          <p:spPr>
            <a:xfrm>
              <a:off x="5785707" y="2316635"/>
              <a:ext cx="372209" cy="842010"/>
            </a:xfrm>
            <a:custGeom>
              <a:avLst/>
              <a:gdLst>
                <a:gd name="connsiteX0" fmla="*/ 9525 w 386715"/>
                <a:gd name="connsiteY0" fmla="*/ 0 h 830580"/>
                <a:gd name="connsiteX1" fmla="*/ 386715 w 386715"/>
                <a:gd name="connsiteY1" fmla="*/ 245745 h 830580"/>
                <a:gd name="connsiteX2" fmla="*/ 384810 w 386715"/>
                <a:gd name="connsiteY2" fmla="*/ 579120 h 830580"/>
                <a:gd name="connsiteX3" fmla="*/ 0 w 386715"/>
                <a:gd name="connsiteY3" fmla="*/ 830580 h 830580"/>
                <a:gd name="connsiteX4" fmla="*/ 3810 w 386715"/>
                <a:gd name="connsiteY4" fmla="*/ 497205 h 830580"/>
                <a:gd name="connsiteX5" fmla="*/ 70485 w 386715"/>
                <a:gd name="connsiteY5" fmla="*/ 409575 h 830580"/>
                <a:gd name="connsiteX6" fmla="*/ 3810 w 386715"/>
                <a:gd name="connsiteY6" fmla="*/ 320040 h 830580"/>
                <a:gd name="connsiteX7" fmla="*/ 9525 w 386715"/>
                <a:gd name="connsiteY7" fmla="*/ 0 h 830580"/>
                <a:gd name="connsiteX0" fmla="*/ 9525 w 386715"/>
                <a:gd name="connsiteY0" fmla="*/ 0 h 830580"/>
                <a:gd name="connsiteX1" fmla="*/ 386715 w 386715"/>
                <a:gd name="connsiteY1" fmla="*/ 245745 h 830580"/>
                <a:gd name="connsiteX2" fmla="*/ 384810 w 386715"/>
                <a:gd name="connsiteY2" fmla="*/ 579120 h 830580"/>
                <a:gd name="connsiteX3" fmla="*/ 0 w 386715"/>
                <a:gd name="connsiteY3" fmla="*/ 830580 h 830580"/>
                <a:gd name="connsiteX4" fmla="*/ 3810 w 386715"/>
                <a:gd name="connsiteY4" fmla="*/ 497205 h 830580"/>
                <a:gd name="connsiteX5" fmla="*/ 70485 w 386715"/>
                <a:gd name="connsiteY5" fmla="*/ 409575 h 830580"/>
                <a:gd name="connsiteX6" fmla="*/ 7620 w 386715"/>
                <a:gd name="connsiteY6" fmla="*/ 318135 h 830580"/>
                <a:gd name="connsiteX7" fmla="*/ 9525 w 386715"/>
                <a:gd name="connsiteY7" fmla="*/ 0 h 830580"/>
                <a:gd name="connsiteX0" fmla="*/ 9525 w 386715"/>
                <a:gd name="connsiteY0" fmla="*/ 0 h 830580"/>
                <a:gd name="connsiteX1" fmla="*/ 386715 w 386715"/>
                <a:gd name="connsiteY1" fmla="*/ 245745 h 830580"/>
                <a:gd name="connsiteX2" fmla="*/ 384810 w 386715"/>
                <a:gd name="connsiteY2" fmla="*/ 579120 h 830580"/>
                <a:gd name="connsiteX3" fmla="*/ 0 w 386715"/>
                <a:gd name="connsiteY3" fmla="*/ 830580 h 830580"/>
                <a:gd name="connsiteX4" fmla="*/ 0 w 386715"/>
                <a:gd name="connsiteY4" fmla="*/ 508635 h 830580"/>
                <a:gd name="connsiteX5" fmla="*/ 70485 w 386715"/>
                <a:gd name="connsiteY5" fmla="*/ 409575 h 830580"/>
                <a:gd name="connsiteX6" fmla="*/ 7620 w 386715"/>
                <a:gd name="connsiteY6" fmla="*/ 318135 h 830580"/>
                <a:gd name="connsiteX7" fmla="*/ 9525 w 386715"/>
                <a:gd name="connsiteY7" fmla="*/ 0 h 830580"/>
                <a:gd name="connsiteX0" fmla="*/ 1905 w 386715"/>
                <a:gd name="connsiteY0" fmla="*/ 0 h 842010"/>
                <a:gd name="connsiteX1" fmla="*/ 386715 w 386715"/>
                <a:gd name="connsiteY1" fmla="*/ 257175 h 842010"/>
                <a:gd name="connsiteX2" fmla="*/ 384810 w 386715"/>
                <a:gd name="connsiteY2" fmla="*/ 590550 h 842010"/>
                <a:gd name="connsiteX3" fmla="*/ 0 w 386715"/>
                <a:gd name="connsiteY3" fmla="*/ 842010 h 842010"/>
                <a:gd name="connsiteX4" fmla="*/ 0 w 386715"/>
                <a:gd name="connsiteY4" fmla="*/ 520065 h 842010"/>
                <a:gd name="connsiteX5" fmla="*/ 70485 w 386715"/>
                <a:gd name="connsiteY5" fmla="*/ 421005 h 842010"/>
                <a:gd name="connsiteX6" fmla="*/ 7620 w 386715"/>
                <a:gd name="connsiteY6" fmla="*/ 329565 h 842010"/>
                <a:gd name="connsiteX7" fmla="*/ 1905 w 386715"/>
                <a:gd name="connsiteY7" fmla="*/ 0 h 842010"/>
                <a:gd name="connsiteX0" fmla="*/ 5715 w 390525"/>
                <a:gd name="connsiteY0" fmla="*/ 0 h 842010"/>
                <a:gd name="connsiteX1" fmla="*/ 390525 w 390525"/>
                <a:gd name="connsiteY1" fmla="*/ 257175 h 842010"/>
                <a:gd name="connsiteX2" fmla="*/ 388620 w 390525"/>
                <a:gd name="connsiteY2" fmla="*/ 590550 h 842010"/>
                <a:gd name="connsiteX3" fmla="*/ 3810 w 390525"/>
                <a:gd name="connsiteY3" fmla="*/ 842010 h 842010"/>
                <a:gd name="connsiteX4" fmla="*/ 3810 w 390525"/>
                <a:gd name="connsiteY4" fmla="*/ 520065 h 842010"/>
                <a:gd name="connsiteX5" fmla="*/ 74295 w 390525"/>
                <a:gd name="connsiteY5" fmla="*/ 421005 h 842010"/>
                <a:gd name="connsiteX6" fmla="*/ 0 w 390525"/>
                <a:gd name="connsiteY6" fmla="*/ 327660 h 842010"/>
                <a:gd name="connsiteX7" fmla="*/ 5715 w 390525"/>
                <a:gd name="connsiteY7" fmla="*/ 0 h 842010"/>
                <a:gd name="connsiteX0" fmla="*/ 1905 w 386715"/>
                <a:gd name="connsiteY0" fmla="*/ 0 h 842010"/>
                <a:gd name="connsiteX1" fmla="*/ 386715 w 386715"/>
                <a:gd name="connsiteY1" fmla="*/ 257175 h 842010"/>
                <a:gd name="connsiteX2" fmla="*/ 384810 w 386715"/>
                <a:gd name="connsiteY2" fmla="*/ 590550 h 842010"/>
                <a:gd name="connsiteX3" fmla="*/ 0 w 386715"/>
                <a:gd name="connsiteY3" fmla="*/ 842010 h 842010"/>
                <a:gd name="connsiteX4" fmla="*/ 0 w 386715"/>
                <a:gd name="connsiteY4" fmla="*/ 520065 h 842010"/>
                <a:gd name="connsiteX5" fmla="*/ 70485 w 386715"/>
                <a:gd name="connsiteY5" fmla="*/ 421005 h 842010"/>
                <a:gd name="connsiteX6" fmla="*/ 5715 w 386715"/>
                <a:gd name="connsiteY6" fmla="*/ 327660 h 842010"/>
                <a:gd name="connsiteX7" fmla="*/ 1905 w 386715"/>
                <a:gd name="connsiteY7" fmla="*/ 0 h 842010"/>
                <a:gd name="connsiteX0" fmla="*/ 1905 w 386715"/>
                <a:gd name="connsiteY0" fmla="*/ 0 h 842010"/>
                <a:gd name="connsiteX1" fmla="*/ 386715 w 386715"/>
                <a:gd name="connsiteY1" fmla="*/ 257175 h 842010"/>
                <a:gd name="connsiteX2" fmla="*/ 384810 w 386715"/>
                <a:gd name="connsiteY2" fmla="*/ 590550 h 842010"/>
                <a:gd name="connsiteX3" fmla="*/ 0 w 386715"/>
                <a:gd name="connsiteY3" fmla="*/ 842010 h 842010"/>
                <a:gd name="connsiteX4" fmla="*/ 0 w 386715"/>
                <a:gd name="connsiteY4" fmla="*/ 520065 h 842010"/>
                <a:gd name="connsiteX5" fmla="*/ 70485 w 386715"/>
                <a:gd name="connsiteY5" fmla="*/ 421005 h 842010"/>
                <a:gd name="connsiteX6" fmla="*/ 1905 w 386715"/>
                <a:gd name="connsiteY6" fmla="*/ 327660 h 842010"/>
                <a:gd name="connsiteX7" fmla="*/ 1905 w 386715"/>
                <a:gd name="connsiteY7" fmla="*/ 0 h 8420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6715" h="842010">
                  <a:moveTo>
                    <a:pt x="1905" y="0"/>
                  </a:moveTo>
                  <a:lnTo>
                    <a:pt x="386715" y="257175"/>
                  </a:lnTo>
                  <a:lnTo>
                    <a:pt x="384810" y="590550"/>
                  </a:lnTo>
                  <a:lnTo>
                    <a:pt x="0" y="842010"/>
                  </a:lnTo>
                  <a:lnTo>
                    <a:pt x="0" y="520065"/>
                  </a:lnTo>
                  <a:lnTo>
                    <a:pt x="70485" y="421005"/>
                  </a:lnTo>
                  <a:lnTo>
                    <a:pt x="1905" y="327660"/>
                  </a:lnTo>
                  <a:lnTo>
                    <a:pt x="1905" y="0"/>
                  </a:lnTo>
                  <a:close/>
                </a:path>
              </a:pathLst>
            </a:custGeom>
            <a:noFill/>
            <a:ln w="190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dirty="0"/>
            </a:p>
          </p:txBody>
        </p:sp>
      </p:grpSp>
      <p:sp>
        <p:nvSpPr>
          <p:cNvPr id="132" name="文本框 131">
            <a:extLst>
              <a:ext uri="{FF2B5EF4-FFF2-40B4-BE49-F238E27FC236}">
                <a16:creationId xmlns:a16="http://schemas.microsoft.com/office/drawing/2014/main" id="{B83C1A9C-2009-6CC1-3ECB-6119E9CE03E5}"/>
              </a:ext>
            </a:extLst>
          </p:cNvPr>
          <p:cNvSpPr txBox="1"/>
          <p:nvPr/>
        </p:nvSpPr>
        <p:spPr>
          <a:xfrm>
            <a:off x="1372406" y="6005244"/>
            <a:ext cx="6164160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zh-CN" dirty="0">
                <a:ea typeface="SimHei" panose="02010609060101010101" pitchFamily="49" charset="-122"/>
              </a:rPr>
              <a:t>IF</a:t>
            </a:r>
            <a:r>
              <a:rPr lang="zh-CN" altLang="en-US" dirty="0">
                <a:ea typeface="SimHei" panose="02010609060101010101" pitchFamily="49" charset="-122"/>
              </a:rPr>
              <a:t>，</a:t>
            </a:r>
            <a:r>
              <a:rPr lang="en-US" altLang="zh-CN" dirty="0">
                <a:ea typeface="SimHei" panose="02010609060101010101" pitchFamily="49" charset="-122"/>
              </a:rPr>
              <a:t>ID</a:t>
            </a:r>
            <a:r>
              <a:rPr lang="zh-CN" altLang="en-US" dirty="0">
                <a:ea typeface="SimHei" panose="02010609060101010101" pitchFamily="49" charset="-122"/>
              </a:rPr>
              <a:t>，</a:t>
            </a:r>
            <a:r>
              <a:rPr lang="en-US" altLang="zh-CN" dirty="0">
                <a:ea typeface="SimHei" panose="02010609060101010101" pitchFamily="49" charset="-122"/>
              </a:rPr>
              <a:t>EX</a:t>
            </a:r>
            <a:r>
              <a:rPr lang="zh-CN" altLang="en-US" dirty="0">
                <a:ea typeface="SimHei" panose="02010609060101010101" pitchFamily="49" charset="-122"/>
              </a:rPr>
              <a:t>，</a:t>
            </a:r>
            <a:r>
              <a:rPr lang="en-US" altLang="zh-CN" dirty="0">
                <a:ea typeface="SimHei" panose="02010609060101010101" pitchFamily="49" charset="-122"/>
              </a:rPr>
              <a:t>MEM</a:t>
            </a:r>
            <a:r>
              <a:rPr lang="zh-CN" altLang="en-US" dirty="0">
                <a:ea typeface="SimHei" panose="02010609060101010101" pitchFamily="49" charset="-122"/>
              </a:rPr>
              <a:t>，</a:t>
            </a:r>
            <a:r>
              <a:rPr lang="en-US" altLang="zh-CN" dirty="0">
                <a:ea typeface="SimHei" panose="02010609060101010101" pitchFamily="49" charset="-122"/>
              </a:rPr>
              <a:t>WB</a:t>
            </a:r>
            <a:r>
              <a:rPr lang="zh-CN" altLang="en-US" dirty="0">
                <a:ea typeface="SimHei" panose="02010609060101010101" pitchFamily="49" charset="-122"/>
              </a:rPr>
              <a:t>流水级间插入寄存器</a:t>
            </a:r>
            <a:endParaRPr lang="en-US" altLang="zh-CN" dirty="0">
              <a:ea typeface="SimHei" panose="02010609060101010101" pitchFamily="49" charset="-122"/>
            </a:endParaRPr>
          </a:p>
          <a:p>
            <a:pPr algn="ctr"/>
            <a:r>
              <a:rPr lang="en-US" altLang="zh-CN" dirty="0">
                <a:solidFill>
                  <a:srgbClr val="3333FF"/>
                </a:solidFill>
                <a:ea typeface="SimHei" panose="02010609060101010101" pitchFamily="49" charset="-122"/>
              </a:rPr>
              <a:t>IF/ID</a:t>
            </a:r>
            <a:r>
              <a:rPr lang="zh-CN" altLang="en-US" dirty="0">
                <a:solidFill>
                  <a:srgbClr val="3333FF"/>
                </a:solidFill>
                <a:ea typeface="SimHei" panose="02010609060101010101" pitchFamily="49" charset="-122"/>
              </a:rPr>
              <a:t>，</a:t>
            </a:r>
            <a:r>
              <a:rPr lang="en-US" altLang="zh-CN" dirty="0">
                <a:solidFill>
                  <a:srgbClr val="3333FF"/>
                </a:solidFill>
                <a:ea typeface="SimHei" panose="02010609060101010101" pitchFamily="49" charset="-122"/>
              </a:rPr>
              <a:t>ID/EX</a:t>
            </a:r>
            <a:r>
              <a:rPr lang="zh-CN" altLang="en-US" dirty="0">
                <a:solidFill>
                  <a:srgbClr val="3333FF"/>
                </a:solidFill>
                <a:ea typeface="SimHei" panose="02010609060101010101" pitchFamily="49" charset="-122"/>
              </a:rPr>
              <a:t>，</a:t>
            </a:r>
            <a:r>
              <a:rPr lang="en-US" altLang="zh-CN" dirty="0">
                <a:solidFill>
                  <a:srgbClr val="3333FF"/>
                </a:solidFill>
                <a:ea typeface="SimHei" panose="02010609060101010101" pitchFamily="49" charset="-122"/>
              </a:rPr>
              <a:t>EX/MEM</a:t>
            </a:r>
            <a:r>
              <a:rPr lang="zh-CN" altLang="en-US" dirty="0">
                <a:solidFill>
                  <a:srgbClr val="3333FF"/>
                </a:solidFill>
                <a:ea typeface="SimHei" panose="02010609060101010101" pitchFamily="49" charset="-122"/>
              </a:rPr>
              <a:t>，</a:t>
            </a:r>
            <a:r>
              <a:rPr lang="en-US" altLang="zh-CN" dirty="0">
                <a:solidFill>
                  <a:srgbClr val="3333FF"/>
                </a:solidFill>
                <a:ea typeface="SimHei" panose="02010609060101010101" pitchFamily="49" charset="-122"/>
              </a:rPr>
              <a:t>MEM/WB</a:t>
            </a:r>
            <a:endParaRPr lang="zh-CN" altLang="en-US" dirty="0">
              <a:solidFill>
                <a:srgbClr val="3333FF"/>
              </a:solidFill>
              <a:ea typeface="SimHei" panose="02010609060101010101" pitchFamily="49" charset="-122"/>
            </a:endParaRPr>
          </a:p>
        </p:txBody>
      </p:sp>
    </p:spTree>
    <p:extLst>
      <p:ext uri="{BB962C8B-B14F-4D97-AF65-F5344CB8AC3E}">
        <p14:creationId xmlns:p14="http://schemas.microsoft.com/office/powerpoint/2010/main" val="3792025055"/>
      </p:ext>
    </p:extLst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>
            <a:extLst>
              <a:ext uri="{FF2B5EF4-FFF2-40B4-BE49-F238E27FC236}">
                <a16:creationId xmlns:a16="http://schemas.microsoft.com/office/drawing/2014/main" id="{D68F0837-A439-469E-A965-6420B5441D3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dirty="0"/>
              <a:t>回顾：流水线的控制信号</a:t>
            </a:r>
          </a:p>
        </p:txBody>
      </p:sp>
      <p:sp>
        <p:nvSpPr>
          <p:cNvPr id="3" name="内容占位符 2">
            <a:extLst>
              <a:ext uri="{FF2B5EF4-FFF2-40B4-BE49-F238E27FC236}">
                <a16:creationId xmlns:a16="http://schemas.microsoft.com/office/drawing/2014/main" id="{40FDFF46-657C-43A0-A93F-5800E3D3186E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r>
              <a:rPr lang="zh-CN" altLang="en-US" dirty="0"/>
              <a:t>控制信号可在</a:t>
            </a:r>
            <a:r>
              <a:rPr lang="en-US" altLang="zh-CN" dirty="0"/>
              <a:t>IF</a:t>
            </a:r>
            <a:r>
              <a:rPr lang="zh-CN" altLang="en-US" dirty="0"/>
              <a:t>之后的 </a:t>
            </a:r>
            <a:r>
              <a:rPr lang="en-US" altLang="zh-CN" dirty="0"/>
              <a:t>ID </a:t>
            </a:r>
            <a:r>
              <a:rPr lang="zh-CN" altLang="en-US" dirty="0"/>
              <a:t>阶段产生</a:t>
            </a:r>
            <a:endParaRPr lang="en-US" altLang="zh-CN" dirty="0"/>
          </a:p>
          <a:p>
            <a:pPr lvl="1"/>
            <a:r>
              <a:rPr lang="zh-CN" altLang="en-US" dirty="0"/>
              <a:t>由控制逻辑电路译码生成</a:t>
            </a:r>
            <a:endParaRPr lang="en-US" altLang="zh-CN" dirty="0"/>
          </a:p>
          <a:p>
            <a:r>
              <a:rPr lang="zh-CN" altLang="en-US" dirty="0"/>
              <a:t>几个基本的控制信号</a:t>
            </a:r>
            <a:endParaRPr lang="en-US" altLang="zh-CN" dirty="0"/>
          </a:p>
          <a:p>
            <a:pPr lvl="1"/>
            <a:r>
              <a:rPr lang="zh-CN" altLang="en-US" dirty="0">
                <a:solidFill>
                  <a:srgbClr val="3333FF"/>
                </a:solidFill>
              </a:rPr>
              <a:t>针对</a:t>
            </a:r>
            <a:r>
              <a:rPr lang="en-US" altLang="zh-CN" dirty="0">
                <a:solidFill>
                  <a:srgbClr val="3333FF"/>
                </a:solidFill>
              </a:rPr>
              <a:t>EX</a:t>
            </a:r>
            <a:r>
              <a:rPr lang="zh-CN" altLang="en-US" dirty="0">
                <a:solidFill>
                  <a:srgbClr val="3333FF"/>
                </a:solidFill>
              </a:rPr>
              <a:t>阶段的控制信号</a:t>
            </a:r>
            <a:endParaRPr lang="en-US" altLang="zh-CN" dirty="0">
              <a:solidFill>
                <a:srgbClr val="3333FF"/>
              </a:solidFill>
            </a:endParaRPr>
          </a:p>
          <a:p>
            <a:pPr lvl="2"/>
            <a:r>
              <a:rPr lang="en-US" altLang="zh-CN" dirty="0" err="1"/>
              <a:t>ALUSrc</a:t>
            </a:r>
            <a:r>
              <a:rPr lang="zh-CN" altLang="en-US" dirty="0"/>
              <a:t>等</a:t>
            </a:r>
            <a:r>
              <a:rPr lang="en-US" altLang="zh-CN" dirty="0"/>
              <a:t>——</a:t>
            </a:r>
            <a:r>
              <a:rPr lang="zh-CN" altLang="en-US" dirty="0"/>
              <a:t>在第</a:t>
            </a:r>
            <a:r>
              <a:rPr lang="en-US" altLang="zh-CN" dirty="0"/>
              <a:t>3</a:t>
            </a:r>
            <a:r>
              <a:rPr lang="zh-CN" altLang="en-US" dirty="0"/>
              <a:t>个周期用到</a:t>
            </a:r>
            <a:endParaRPr lang="en-US" altLang="zh-CN" dirty="0"/>
          </a:p>
          <a:p>
            <a:pPr lvl="1"/>
            <a:r>
              <a:rPr lang="zh-CN" altLang="en-US" dirty="0">
                <a:solidFill>
                  <a:srgbClr val="3333FF"/>
                </a:solidFill>
              </a:rPr>
              <a:t>针对</a:t>
            </a:r>
            <a:r>
              <a:rPr lang="en-US" altLang="zh-CN" dirty="0">
                <a:solidFill>
                  <a:srgbClr val="3333FF"/>
                </a:solidFill>
              </a:rPr>
              <a:t>Memory Access</a:t>
            </a:r>
            <a:r>
              <a:rPr lang="zh-CN" altLang="en-US" dirty="0">
                <a:solidFill>
                  <a:srgbClr val="3333FF"/>
                </a:solidFill>
              </a:rPr>
              <a:t>的控制信号</a:t>
            </a:r>
            <a:endParaRPr lang="en-US" altLang="zh-CN" dirty="0">
              <a:solidFill>
                <a:srgbClr val="3333FF"/>
              </a:solidFill>
            </a:endParaRPr>
          </a:p>
          <a:p>
            <a:pPr lvl="2"/>
            <a:r>
              <a:rPr lang="en-US" altLang="zh-CN" dirty="0" err="1"/>
              <a:t>MemWr</a:t>
            </a:r>
            <a:r>
              <a:rPr lang="zh-CN" altLang="en-US" dirty="0"/>
              <a:t>，</a:t>
            </a:r>
            <a:r>
              <a:rPr lang="en-US" altLang="zh-CN" dirty="0"/>
              <a:t>Branch</a:t>
            </a:r>
            <a:r>
              <a:rPr lang="zh-CN" altLang="en-US" dirty="0"/>
              <a:t>等</a:t>
            </a:r>
            <a:r>
              <a:rPr lang="en-US" altLang="zh-CN" dirty="0"/>
              <a:t>——</a:t>
            </a:r>
            <a:r>
              <a:rPr lang="zh-CN" altLang="en-US" dirty="0"/>
              <a:t>在第</a:t>
            </a:r>
            <a:r>
              <a:rPr lang="en-US" altLang="zh-CN" dirty="0"/>
              <a:t>4</a:t>
            </a:r>
            <a:r>
              <a:rPr lang="zh-CN" altLang="en-US" dirty="0"/>
              <a:t>个周期用到</a:t>
            </a:r>
            <a:endParaRPr lang="en-US" altLang="zh-CN" dirty="0"/>
          </a:p>
          <a:p>
            <a:pPr lvl="1"/>
            <a:r>
              <a:rPr lang="zh-CN" altLang="en-US" dirty="0">
                <a:solidFill>
                  <a:srgbClr val="3333FF"/>
                </a:solidFill>
              </a:rPr>
              <a:t>针对</a:t>
            </a:r>
            <a:r>
              <a:rPr lang="en-US" altLang="zh-CN" dirty="0">
                <a:solidFill>
                  <a:srgbClr val="3333FF"/>
                </a:solidFill>
              </a:rPr>
              <a:t>Write</a:t>
            </a:r>
            <a:r>
              <a:rPr lang="zh-CN" altLang="en-US" dirty="0">
                <a:solidFill>
                  <a:srgbClr val="3333FF"/>
                </a:solidFill>
              </a:rPr>
              <a:t> </a:t>
            </a:r>
            <a:r>
              <a:rPr lang="en-US" altLang="zh-CN" dirty="0">
                <a:solidFill>
                  <a:srgbClr val="3333FF"/>
                </a:solidFill>
              </a:rPr>
              <a:t>Back</a:t>
            </a:r>
            <a:r>
              <a:rPr lang="zh-CN" altLang="en-US" dirty="0">
                <a:solidFill>
                  <a:srgbClr val="3333FF"/>
                </a:solidFill>
              </a:rPr>
              <a:t>的控制信号</a:t>
            </a:r>
            <a:endParaRPr lang="en-US" altLang="zh-CN" dirty="0">
              <a:solidFill>
                <a:srgbClr val="3333FF"/>
              </a:solidFill>
            </a:endParaRPr>
          </a:p>
          <a:p>
            <a:pPr lvl="2"/>
            <a:r>
              <a:rPr lang="en-US" altLang="zh-CN" dirty="0" err="1"/>
              <a:t>MemToReg</a:t>
            </a:r>
            <a:r>
              <a:rPr lang="zh-CN" altLang="en-US" dirty="0"/>
              <a:t>，</a:t>
            </a:r>
            <a:r>
              <a:rPr lang="en-US" altLang="zh-CN" dirty="0" err="1"/>
              <a:t>RegWr</a:t>
            </a:r>
            <a:r>
              <a:rPr lang="zh-CN" altLang="en-US" dirty="0"/>
              <a:t>等</a:t>
            </a:r>
            <a:r>
              <a:rPr lang="en-US" altLang="zh-CN" dirty="0"/>
              <a:t>——</a:t>
            </a:r>
            <a:r>
              <a:rPr lang="zh-CN" altLang="en-US" dirty="0"/>
              <a:t>在第</a:t>
            </a:r>
            <a:r>
              <a:rPr lang="en-US" altLang="zh-CN" dirty="0"/>
              <a:t>5</a:t>
            </a:r>
            <a:r>
              <a:rPr lang="zh-CN" altLang="en-US" dirty="0"/>
              <a:t>个周期用到</a:t>
            </a:r>
            <a:endParaRPr lang="en-US" altLang="zh-CN" dirty="0"/>
          </a:p>
          <a:p>
            <a:r>
              <a:rPr lang="zh-CN" altLang="en-US" dirty="0"/>
              <a:t>数据在流动，控制信号也一同流水线流动</a:t>
            </a:r>
            <a:endParaRPr lang="en-US" altLang="zh-CN" dirty="0"/>
          </a:p>
        </p:txBody>
      </p:sp>
      <p:sp>
        <p:nvSpPr>
          <p:cNvPr id="4" name="灯片编号占位符 3">
            <a:extLst>
              <a:ext uri="{FF2B5EF4-FFF2-40B4-BE49-F238E27FC236}">
                <a16:creationId xmlns:a16="http://schemas.microsoft.com/office/drawing/2014/main" id="{E776A422-AC77-4724-83B5-3B9311C9F46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0626FCE3-5FF9-430D-BA0B-DE80AAE71673}" type="slidenum">
              <a:rPr lang="zh-CN" altLang="en-US" smtClean="0"/>
              <a:t>8</a:t>
            </a:fld>
            <a:endParaRPr lang="zh-CN" altLang="en-US"/>
          </a:p>
        </p:txBody>
      </p:sp>
      <p:grpSp>
        <p:nvGrpSpPr>
          <p:cNvPr id="15" name="组合 14">
            <a:extLst>
              <a:ext uri="{FF2B5EF4-FFF2-40B4-BE49-F238E27FC236}">
                <a16:creationId xmlns:a16="http://schemas.microsoft.com/office/drawing/2014/main" id="{246496F0-0D71-65BF-DA23-10CA5A5187EF}"/>
              </a:ext>
            </a:extLst>
          </p:cNvPr>
          <p:cNvGrpSpPr/>
          <p:nvPr/>
        </p:nvGrpSpPr>
        <p:grpSpPr>
          <a:xfrm>
            <a:off x="5939935" y="1621536"/>
            <a:ext cx="3022425" cy="1497203"/>
            <a:chOff x="953407" y="5414375"/>
            <a:chExt cx="2638661" cy="1307100"/>
          </a:xfrm>
        </p:grpSpPr>
        <p:pic>
          <p:nvPicPr>
            <p:cNvPr id="5" name="图片 4">
              <a:extLst>
                <a:ext uri="{FF2B5EF4-FFF2-40B4-BE49-F238E27FC236}">
                  <a16:creationId xmlns:a16="http://schemas.microsoft.com/office/drawing/2014/main" id="{C0772E65-7F24-253C-9834-7D4731949E34}"/>
                </a:ext>
              </a:extLst>
            </p:cNvPr>
            <p:cNvPicPr>
              <a:picLocks noChangeAspect="1"/>
            </p:cNvPicPr>
            <p:nvPr/>
          </p:nvPicPr>
          <p:blipFill>
            <a:blip r:embed="rId3"/>
            <a:stretch>
              <a:fillRect/>
            </a:stretch>
          </p:blipFill>
          <p:spPr>
            <a:xfrm>
              <a:off x="953407" y="5607110"/>
              <a:ext cx="2559413" cy="1078525"/>
            </a:xfrm>
            <a:prstGeom prst="rect">
              <a:avLst/>
            </a:prstGeom>
          </p:spPr>
        </p:pic>
        <p:cxnSp>
          <p:nvCxnSpPr>
            <p:cNvPr id="6" name="直接连接符 5">
              <a:extLst>
                <a:ext uri="{FF2B5EF4-FFF2-40B4-BE49-F238E27FC236}">
                  <a16:creationId xmlns:a16="http://schemas.microsoft.com/office/drawing/2014/main" id="{CBAB18E0-FB68-5C04-35A1-1358882362EB}"/>
                </a:ext>
              </a:extLst>
            </p:cNvPr>
            <p:cNvCxnSpPr/>
            <p:nvPr/>
          </p:nvCxnSpPr>
          <p:spPr>
            <a:xfrm>
              <a:off x="1456114" y="5642950"/>
              <a:ext cx="0" cy="1078525"/>
            </a:xfrm>
            <a:prstGeom prst="line">
              <a:avLst/>
            </a:prstGeom>
            <a:ln w="57150">
              <a:solidFill>
                <a:srgbClr val="00B0F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" name="直接连接符 6">
              <a:extLst>
                <a:ext uri="{FF2B5EF4-FFF2-40B4-BE49-F238E27FC236}">
                  <a16:creationId xmlns:a16="http://schemas.microsoft.com/office/drawing/2014/main" id="{F589CB64-503D-6622-3F32-F1D27253C5E7}"/>
                </a:ext>
              </a:extLst>
            </p:cNvPr>
            <p:cNvCxnSpPr/>
            <p:nvPr/>
          </p:nvCxnSpPr>
          <p:spPr>
            <a:xfrm>
              <a:off x="1990582" y="5642950"/>
              <a:ext cx="0" cy="1078525"/>
            </a:xfrm>
            <a:prstGeom prst="line">
              <a:avLst/>
            </a:prstGeom>
            <a:ln w="57150">
              <a:solidFill>
                <a:srgbClr val="00B0F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直接连接符 7">
              <a:extLst>
                <a:ext uri="{FF2B5EF4-FFF2-40B4-BE49-F238E27FC236}">
                  <a16:creationId xmlns:a16="http://schemas.microsoft.com/office/drawing/2014/main" id="{31851E4D-1618-1CC0-4B16-4DEFBA59457E}"/>
                </a:ext>
              </a:extLst>
            </p:cNvPr>
            <p:cNvCxnSpPr/>
            <p:nvPr/>
          </p:nvCxnSpPr>
          <p:spPr>
            <a:xfrm>
              <a:off x="2457680" y="5642950"/>
              <a:ext cx="0" cy="1078525"/>
            </a:xfrm>
            <a:prstGeom prst="line">
              <a:avLst/>
            </a:prstGeom>
            <a:ln w="57150">
              <a:solidFill>
                <a:srgbClr val="00B0F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直接连接符 8">
              <a:extLst>
                <a:ext uri="{FF2B5EF4-FFF2-40B4-BE49-F238E27FC236}">
                  <a16:creationId xmlns:a16="http://schemas.microsoft.com/office/drawing/2014/main" id="{EF168C1E-95F6-B404-4D98-5D91E6CC0DF3}"/>
                </a:ext>
              </a:extLst>
            </p:cNvPr>
            <p:cNvCxnSpPr/>
            <p:nvPr/>
          </p:nvCxnSpPr>
          <p:spPr>
            <a:xfrm>
              <a:off x="3055026" y="5642950"/>
              <a:ext cx="0" cy="1078525"/>
            </a:xfrm>
            <a:prstGeom prst="line">
              <a:avLst/>
            </a:prstGeom>
            <a:ln w="57150">
              <a:solidFill>
                <a:srgbClr val="00B0F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0" name="文本框 9">
              <a:extLst>
                <a:ext uri="{FF2B5EF4-FFF2-40B4-BE49-F238E27FC236}">
                  <a16:creationId xmlns:a16="http://schemas.microsoft.com/office/drawing/2014/main" id="{F5FF2388-1537-CF22-5BE1-5A8AD0082654}"/>
                </a:ext>
              </a:extLst>
            </p:cNvPr>
            <p:cNvSpPr txBox="1"/>
            <p:nvPr/>
          </p:nvSpPr>
          <p:spPr>
            <a:xfrm>
              <a:off x="1192329" y="5421198"/>
              <a:ext cx="527570" cy="22839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zh-CN" sz="1100" dirty="0">
                  <a:solidFill>
                    <a:srgbClr val="00B0F0"/>
                  </a:solidFill>
                  <a:ea typeface="SimHei" panose="02010609060101010101" pitchFamily="49" charset="-122"/>
                </a:rPr>
                <a:t>IF/ID</a:t>
              </a:r>
              <a:endParaRPr lang="zh-CN" altLang="en-US" sz="1100" dirty="0">
                <a:solidFill>
                  <a:srgbClr val="00B0F0"/>
                </a:solidFill>
                <a:ea typeface="SimHei" panose="02010609060101010101" pitchFamily="49" charset="-122"/>
              </a:endParaRPr>
            </a:p>
          </p:txBody>
        </p:sp>
        <p:sp>
          <p:nvSpPr>
            <p:cNvPr id="11" name="文本框 10">
              <a:extLst>
                <a:ext uri="{FF2B5EF4-FFF2-40B4-BE49-F238E27FC236}">
                  <a16:creationId xmlns:a16="http://schemas.microsoft.com/office/drawing/2014/main" id="{8F8D584D-A598-3C95-BEA9-DE215EF9A09F}"/>
                </a:ext>
              </a:extLst>
            </p:cNvPr>
            <p:cNvSpPr txBox="1"/>
            <p:nvPr/>
          </p:nvSpPr>
          <p:spPr>
            <a:xfrm>
              <a:off x="1615548" y="5414375"/>
              <a:ext cx="659743" cy="22839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zh-CN" sz="1100" dirty="0">
                  <a:solidFill>
                    <a:srgbClr val="00B0F0"/>
                  </a:solidFill>
                  <a:ea typeface="SimHei" panose="02010609060101010101" pitchFamily="49" charset="-122"/>
                </a:rPr>
                <a:t>ID/EX</a:t>
              </a:r>
              <a:endParaRPr lang="zh-CN" altLang="en-US" sz="1100" dirty="0">
                <a:solidFill>
                  <a:srgbClr val="00B0F0"/>
                </a:solidFill>
                <a:ea typeface="SimHei" panose="02010609060101010101" pitchFamily="49" charset="-122"/>
              </a:endParaRPr>
            </a:p>
          </p:txBody>
        </p:sp>
        <p:sp>
          <p:nvSpPr>
            <p:cNvPr id="12" name="文本框 11">
              <a:extLst>
                <a:ext uri="{FF2B5EF4-FFF2-40B4-BE49-F238E27FC236}">
                  <a16:creationId xmlns:a16="http://schemas.microsoft.com/office/drawing/2014/main" id="{CFE91D43-AE00-3A23-8A15-AEBA182D57DB}"/>
                </a:ext>
              </a:extLst>
            </p:cNvPr>
            <p:cNvSpPr txBox="1"/>
            <p:nvPr/>
          </p:nvSpPr>
          <p:spPr>
            <a:xfrm>
              <a:off x="2065652" y="5414375"/>
              <a:ext cx="855915" cy="22839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zh-CN" sz="1100" dirty="0">
                  <a:solidFill>
                    <a:srgbClr val="00B0F0"/>
                  </a:solidFill>
                  <a:ea typeface="SimHei" panose="02010609060101010101" pitchFamily="49" charset="-122"/>
                </a:rPr>
                <a:t>EX/MEM</a:t>
              </a:r>
              <a:endParaRPr lang="zh-CN" altLang="en-US" sz="1100" dirty="0">
                <a:solidFill>
                  <a:srgbClr val="00B0F0"/>
                </a:solidFill>
                <a:ea typeface="SimHei" panose="02010609060101010101" pitchFamily="49" charset="-122"/>
              </a:endParaRPr>
            </a:p>
          </p:txBody>
        </p:sp>
        <p:sp>
          <p:nvSpPr>
            <p:cNvPr id="13" name="文本框 12">
              <a:extLst>
                <a:ext uri="{FF2B5EF4-FFF2-40B4-BE49-F238E27FC236}">
                  <a16:creationId xmlns:a16="http://schemas.microsoft.com/office/drawing/2014/main" id="{A63219D7-1101-58C3-DC47-A12DE89C0B9E}"/>
                </a:ext>
              </a:extLst>
            </p:cNvPr>
            <p:cNvSpPr txBox="1"/>
            <p:nvPr/>
          </p:nvSpPr>
          <p:spPr>
            <a:xfrm>
              <a:off x="2730137" y="5414375"/>
              <a:ext cx="861931" cy="22839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zh-CN" sz="1100" dirty="0">
                  <a:solidFill>
                    <a:srgbClr val="00B0F0"/>
                  </a:solidFill>
                  <a:ea typeface="SimHei" panose="02010609060101010101" pitchFamily="49" charset="-122"/>
                </a:rPr>
                <a:t>MEM/WB</a:t>
              </a:r>
              <a:endParaRPr lang="zh-CN" altLang="en-US" sz="1100" dirty="0">
                <a:solidFill>
                  <a:srgbClr val="00B0F0"/>
                </a:solidFill>
                <a:ea typeface="SimHei" panose="02010609060101010101" pitchFamily="49" charset="-122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503784392"/>
      </p:ext>
    </p:extLst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>
            <a:extLst>
              <a:ext uri="{FF2B5EF4-FFF2-40B4-BE49-F238E27FC236}">
                <a16:creationId xmlns:a16="http://schemas.microsoft.com/office/drawing/2014/main" id="{1323661A-0851-4B0A-9A0F-CE4DB6B531CF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dirty="0"/>
              <a:t>回顾：流水线的控制信号</a:t>
            </a:r>
          </a:p>
        </p:txBody>
      </p:sp>
      <p:sp>
        <p:nvSpPr>
          <p:cNvPr id="4" name="灯片编号占位符 3">
            <a:extLst>
              <a:ext uri="{FF2B5EF4-FFF2-40B4-BE49-F238E27FC236}">
                <a16:creationId xmlns:a16="http://schemas.microsoft.com/office/drawing/2014/main" id="{5B5DAB50-40DC-4A86-937E-AD7290B15B7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0626FCE3-5FF9-430D-BA0B-DE80AAE71673}" type="slidenum">
              <a:rPr lang="zh-CN" altLang="en-US" smtClean="0"/>
              <a:t>9</a:t>
            </a:fld>
            <a:endParaRPr lang="zh-CN" altLang="en-US"/>
          </a:p>
        </p:txBody>
      </p:sp>
      <p:grpSp>
        <p:nvGrpSpPr>
          <p:cNvPr id="169" name="组合 168">
            <a:extLst>
              <a:ext uri="{FF2B5EF4-FFF2-40B4-BE49-F238E27FC236}">
                <a16:creationId xmlns:a16="http://schemas.microsoft.com/office/drawing/2014/main" id="{5FBC86F7-50E3-2929-4269-784675EAB0FB}"/>
              </a:ext>
            </a:extLst>
          </p:cNvPr>
          <p:cNvGrpSpPr/>
          <p:nvPr/>
        </p:nvGrpSpPr>
        <p:grpSpPr>
          <a:xfrm>
            <a:off x="228600" y="1184434"/>
            <a:ext cx="8766531" cy="3455020"/>
            <a:chOff x="228600" y="1184434"/>
            <a:chExt cx="8766531" cy="3455020"/>
          </a:xfrm>
        </p:grpSpPr>
        <p:sp>
          <p:nvSpPr>
            <p:cNvPr id="3" name="矩形 2">
              <a:extLst>
                <a:ext uri="{FF2B5EF4-FFF2-40B4-BE49-F238E27FC236}">
                  <a16:creationId xmlns:a16="http://schemas.microsoft.com/office/drawing/2014/main" id="{D57BC2E4-9B1B-24B2-9164-381CFDEF3D9B}"/>
                </a:ext>
              </a:extLst>
            </p:cNvPr>
            <p:cNvSpPr/>
            <p:nvPr/>
          </p:nvSpPr>
          <p:spPr>
            <a:xfrm>
              <a:off x="765048" y="1691640"/>
              <a:ext cx="386454" cy="2947814"/>
            </a:xfrm>
            <a:prstGeom prst="rect">
              <a:avLst/>
            </a:pr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eaVert" rtlCol="0" anchor="ctr"/>
            <a:lstStyle/>
            <a:p>
              <a:pPr algn="ctr"/>
              <a:r>
                <a:rPr lang="en-US" altLang="zh-CN" b="1" dirty="0">
                  <a:solidFill>
                    <a:schemeClr val="tx1"/>
                  </a:solidFill>
                </a:rPr>
                <a:t>IF/ID Registers</a:t>
              </a:r>
              <a:endParaRPr lang="zh-CN" altLang="en-US" b="1" dirty="0">
                <a:solidFill>
                  <a:schemeClr val="tx1"/>
                </a:solidFill>
              </a:endParaRPr>
            </a:p>
          </p:txBody>
        </p:sp>
        <p:sp>
          <p:nvSpPr>
            <p:cNvPr id="10" name="矩形 9">
              <a:extLst>
                <a:ext uri="{FF2B5EF4-FFF2-40B4-BE49-F238E27FC236}">
                  <a16:creationId xmlns:a16="http://schemas.microsoft.com/office/drawing/2014/main" id="{4BA02E0A-70AA-1E15-2CFC-E91860D59AD4}"/>
                </a:ext>
              </a:extLst>
            </p:cNvPr>
            <p:cNvSpPr/>
            <p:nvPr/>
          </p:nvSpPr>
          <p:spPr>
            <a:xfrm>
              <a:off x="3553273" y="1691640"/>
              <a:ext cx="386454" cy="2947814"/>
            </a:xfrm>
            <a:prstGeom prst="rect">
              <a:avLst/>
            </a:pr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eaVert" rtlCol="0" anchor="ctr"/>
            <a:lstStyle/>
            <a:p>
              <a:pPr algn="ctr"/>
              <a:r>
                <a:rPr lang="en-US" altLang="zh-CN" b="1" dirty="0">
                  <a:solidFill>
                    <a:schemeClr val="tx1"/>
                  </a:solidFill>
                </a:rPr>
                <a:t>ID/EX Registers</a:t>
              </a:r>
              <a:endParaRPr lang="zh-CN" altLang="en-US" b="1" dirty="0">
                <a:solidFill>
                  <a:schemeClr val="tx1"/>
                </a:solidFill>
              </a:endParaRPr>
            </a:p>
          </p:txBody>
        </p:sp>
        <p:sp>
          <p:nvSpPr>
            <p:cNvPr id="11" name="矩形 10">
              <a:extLst>
                <a:ext uri="{FF2B5EF4-FFF2-40B4-BE49-F238E27FC236}">
                  <a16:creationId xmlns:a16="http://schemas.microsoft.com/office/drawing/2014/main" id="{428553C1-3194-1F7B-60E4-4FDC45F7CC70}"/>
                </a:ext>
              </a:extLst>
            </p:cNvPr>
            <p:cNvSpPr/>
            <p:nvPr/>
          </p:nvSpPr>
          <p:spPr>
            <a:xfrm>
              <a:off x="5416565" y="1691640"/>
              <a:ext cx="386454" cy="2947814"/>
            </a:xfrm>
            <a:prstGeom prst="rect">
              <a:avLst/>
            </a:pr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eaVert" rtlCol="0" anchor="ctr"/>
            <a:lstStyle/>
            <a:p>
              <a:pPr algn="ctr"/>
              <a:r>
                <a:rPr lang="en-US" altLang="zh-CN" b="1" dirty="0">
                  <a:solidFill>
                    <a:schemeClr val="tx1"/>
                  </a:solidFill>
                </a:rPr>
                <a:t>EX/MEM Registers</a:t>
              </a:r>
              <a:endParaRPr lang="zh-CN" altLang="en-US" b="1" dirty="0">
                <a:solidFill>
                  <a:schemeClr val="tx1"/>
                </a:solidFill>
              </a:endParaRPr>
            </a:p>
          </p:txBody>
        </p:sp>
        <p:sp>
          <p:nvSpPr>
            <p:cNvPr id="12" name="矩形 11">
              <a:extLst>
                <a:ext uri="{FF2B5EF4-FFF2-40B4-BE49-F238E27FC236}">
                  <a16:creationId xmlns:a16="http://schemas.microsoft.com/office/drawing/2014/main" id="{357CD387-E447-3CC8-06F5-17B8B5EA14A8}"/>
                </a:ext>
              </a:extLst>
            </p:cNvPr>
            <p:cNvSpPr/>
            <p:nvPr/>
          </p:nvSpPr>
          <p:spPr>
            <a:xfrm>
              <a:off x="7274430" y="1691640"/>
              <a:ext cx="386454" cy="2947814"/>
            </a:xfrm>
            <a:prstGeom prst="rect">
              <a:avLst/>
            </a:pr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eaVert" rtlCol="0" anchor="ctr"/>
            <a:lstStyle/>
            <a:p>
              <a:pPr algn="ctr"/>
              <a:r>
                <a:rPr lang="en-US" altLang="zh-CN" b="1" dirty="0">
                  <a:solidFill>
                    <a:schemeClr val="tx1"/>
                  </a:solidFill>
                </a:rPr>
                <a:t>MEM/WB Registers</a:t>
              </a:r>
              <a:endParaRPr lang="zh-CN" altLang="en-US" b="1" dirty="0">
                <a:solidFill>
                  <a:schemeClr val="tx1"/>
                </a:solidFill>
              </a:endParaRPr>
            </a:p>
          </p:txBody>
        </p:sp>
        <p:cxnSp>
          <p:nvCxnSpPr>
            <p:cNvPr id="9" name="直接连接符 8">
              <a:extLst>
                <a:ext uri="{FF2B5EF4-FFF2-40B4-BE49-F238E27FC236}">
                  <a16:creationId xmlns:a16="http://schemas.microsoft.com/office/drawing/2014/main" id="{1490D5A6-41DA-14F0-ECFD-ECBB6F31CD6B}"/>
                </a:ext>
              </a:extLst>
            </p:cNvPr>
            <p:cNvCxnSpPr>
              <a:stCxn id="3" idx="0"/>
            </p:cNvCxnSpPr>
            <p:nvPr/>
          </p:nvCxnSpPr>
          <p:spPr>
            <a:xfrm flipV="1">
              <a:off x="958275" y="1242693"/>
              <a:ext cx="0" cy="448947"/>
            </a:xfrm>
            <a:prstGeom prst="line">
              <a:avLst/>
            </a:prstGeom>
            <a:ln>
              <a:prstDash val="dash"/>
            </a:ln>
            <a:effectLst/>
          </p:spPr>
          <p:style>
            <a:lnRef idx="2">
              <a:schemeClr val="dk1"/>
            </a:lnRef>
            <a:fillRef idx="0">
              <a:schemeClr val="dk1"/>
            </a:fillRef>
            <a:effectRef idx="1">
              <a:schemeClr val="dk1"/>
            </a:effectRef>
            <a:fontRef idx="minor">
              <a:schemeClr val="tx1"/>
            </a:fontRef>
          </p:style>
        </p:cxnSp>
        <p:cxnSp>
          <p:nvCxnSpPr>
            <p:cNvPr id="17" name="直接连接符 16">
              <a:extLst>
                <a:ext uri="{FF2B5EF4-FFF2-40B4-BE49-F238E27FC236}">
                  <a16:creationId xmlns:a16="http://schemas.microsoft.com/office/drawing/2014/main" id="{9B2E5BC7-7316-EE62-71A7-A17558196B58}"/>
                </a:ext>
              </a:extLst>
            </p:cNvPr>
            <p:cNvCxnSpPr>
              <a:cxnSpLocks/>
              <a:stCxn id="10" idx="0"/>
            </p:cNvCxnSpPr>
            <p:nvPr/>
          </p:nvCxnSpPr>
          <p:spPr>
            <a:xfrm flipV="1">
              <a:off x="3746500" y="1242693"/>
              <a:ext cx="0" cy="448947"/>
            </a:xfrm>
            <a:prstGeom prst="line">
              <a:avLst/>
            </a:prstGeom>
            <a:ln>
              <a:prstDash val="dash"/>
            </a:ln>
            <a:effectLst/>
          </p:spPr>
          <p:style>
            <a:lnRef idx="2">
              <a:schemeClr val="dk1"/>
            </a:lnRef>
            <a:fillRef idx="0">
              <a:schemeClr val="dk1"/>
            </a:fillRef>
            <a:effectRef idx="1">
              <a:schemeClr val="dk1"/>
            </a:effectRef>
            <a:fontRef idx="minor">
              <a:schemeClr val="tx1"/>
            </a:fontRef>
          </p:style>
        </p:cxnSp>
        <p:cxnSp>
          <p:nvCxnSpPr>
            <p:cNvPr id="18" name="直接连接符 17">
              <a:extLst>
                <a:ext uri="{FF2B5EF4-FFF2-40B4-BE49-F238E27FC236}">
                  <a16:creationId xmlns:a16="http://schemas.microsoft.com/office/drawing/2014/main" id="{2E638B6C-9364-C1EA-75FC-F4E09F014C9C}"/>
                </a:ext>
              </a:extLst>
            </p:cNvPr>
            <p:cNvCxnSpPr>
              <a:cxnSpLocks/>
              <a:stCxn id="11" idx="0"/>
            </p:cNvCxnSpPr>
            <p:nvPr/>
          </p:nvCxnSpPr>
          <p:spPr>
            <a:xfrm flipV="1">
              <a:off x="5609792" y="1242693"/>
              <a:ext cx="0" cy="448947"/>
            </a:xfrm>
            <a:prstGeom prst="line">
              <a:avLst/>
            </a:prstGeom>
            <a:ln>
              <a:prstDash val="dash"/>
            </a:ln>
            <a:effectLst/>
          </p:spPr>
          <p:style>
            <a:lnRef idx="2">
              <a:schemeClr val="dk1"/>
            </a:lnRef>
            <a:fillRef idx="0">
              <a:schemeClr val="dk1"/>
            </a:fillRef>
            <a:effectRef idx="1">
              <a:schemeClr val="dk1"/>
            </a:effectRef>
            <a:fontRef idx="minor">
              <a:schemeClr val="tx1"/>
            </a:fontRef>
          </p:style>
        </p:cxnSp>
        <p:cxnSp>
          <p:nvCxnSpPr>
            <p:cNvPr id="21" name="直接连接符 20">
              <a:extLst>
                <a:ext uri="{FF2B5EF4-FFF2-40B4-BE49-F238E27FC236}">
                  <a16:creationId xmlns:a16="http://schemas.microsoft.com/office/drawing/2014/main" id="{D6E66392-3BDF-5F9B-28DE-A0F4A2DC3A46}"/>
                </a:ext>
              </a:extLst>
            </p:cNvPr>
            <p:cNvCxnSpPr>
              <a:cxnSpLocks/>
              <a:stCxn id="12" idx="0"/>
            </p:cNvCxnSpPr>
            <p:nvPr/>
          </p:nvCxnSpPr>
          <p:spPr>
            <a:xfrm flipV="1">
              <a:off x="7467657" y="1242692"/>
              <a:ext cx="0" cy="448948"/>
            </a:xfrm>
            <a:prstGeom prst="line">
              <a:avLst/>
            </a:prstGeom>
            <a:ln>
              <a:prstDash val="dash"/>
            </a:ln>
            <a:effectLst/>
          </p:spPr>
          <p:style>
            <a:lnRef idx="2">
              <a:schemeClr val="dk1"/>
            </a:lnRef>
            <a:fillRef idx="0">
              <a:schemeClr val="dk1"/>
            </a:fillRef>
            <a:effectRef idx="1">
              <a:schemeClr val="dk1"/>
            </a:effectRef>
            <a:fontRef idx="minor">
              <a:schemeClr val="tx1"/>
            </a:fontRef>
          </p:style>
        </p:cxnSp>
        <p:cxnSp>
          <p:nvCxnSpPr>
            <p:cNvPr id="25" name="直接箭头连接符 24">
              <a:extLst>
                <a:ext uri="{FF2B5EF4-FFF2-40B4-BE49-F238E27FC236}">
                  <a16:creationId xmlns:a16="http://schemas.microsoft.com/office/drawing/2014/main" id="{0A38CB40-C7D8-EE32-42CC-BEEF987EC18F}"/>
                </a:ext>
              </a:extLst>
            </p:cNvPr>
            <p:cNvCxnSpPr>
              <a:cxnSpLocks/>
            </p:cNvCxnSpPr>
            <p:nvPr/>
          </p:nvCxnSpPr>
          <p:spPr>
            <a:xfrm>
              <a:off x="958275" y="1564702"/>
              <a:ext cx="2788225" cy="0"/>
            </a:xfrm>
            <a:prstGeom prst="straightConnector1">
              <a:avLst/>
            </a:prstGeom>
            <a:ln>
              <a:headEnd type="triangle"/>
              <a:tailEnd type="triangle"/>
            </a:ln>
            <a:effectLst/>
          </p:spPr>
          <p:style>
            <a:lnRef idx="2">
              <a:schemeClr val="dk1"/>
            </a:lnRef>
            <a:fillRef idx="0">
              <a:schemeClr val="dk1"/>
            </a:fillRef>
            <a:effectRef idx="1">
              <a:schemeClr val="dk1"/>
            </a:effectRef>
            <a:fontRef idx="minor">
              <a:schemeClr val="tx1"/>
            </a:fontRef>
          </p:style>
        </p:cxnSp>
        <p:cxnSp>
          <p:nvCxnSpPr>
            <p:cNvPr id="26" name="直接箭头连接符 25">
              <a:extLst>
                <a:ext uri="{FF2B5EF4-FFF2-40B4-BE49-F238E27FC236}">
                  <a16:creationId xmlns:a16="http://schemas.microsoft.com/office/drawing/2014/main" id="{34E6EE87-749A-D2B4-413A-E95097206520}"/>
                </a:ext>
              </a:extLst>
            </p:cNvPr>
            <p:cNvCxnSpPr>
              <a:cxnSpLocks/>
            </p:cNvCxnSpPr>
            <p:nvPr/>
          </p:nvCxnSpPr>
          <p:spPr>
            <a:xfrm>
              <a:off x="3746500" y="1564702"/>
              <a:ext cx="1863292" cy="0"/>
            </a:xfrm>
            <a:prstGeom prst="straightConnector1">
              <a:avLst/>
            </a:prstGeom>
            <a:ln>
              <a:headEnd type="triangle"/>
              <a:tailEnd type="triangle"/>
            </a:ln>
            <a:effectLst/>
          </p:spPr>
          <p:style>
            <a:lnRef idx="2">
              <a:schemeClr val="dk1"/>
            </a:lnRef>
            <a:fillRef idx="0">
              <a:schemeClr val="dk1"/>
            </a:fillRef>
            <a:effectRef idx="1">
              <a:schemeClr val="dk1"/>
            </a:effectRef>
            <a:fontRef idx="minor">
              <a:schemeClr val="tx1"/>
            </a:fontRef>
          </p:style>
        </p:cxnSp>
        <p:cxnSp>
          <p:nvCxnSpPr>
            <p:cNvPr id="28" name="直接箭头连接符 27">
              <a:extLst>
                <a:ext uri="{FF2B5EF4-FFF2-40B4-BE49-F238E27FC236}">
                  <a16:creationId xmlns:a16="http://schemas.microsoft.com/office/drawing/2014/main" id="{6010623C-4E38-CBB9-8A0E-9C5E94E3EE1F}"/>
                </a:ext>
              </a:extLst>
            </p:cNvPr>
            <p:cNvCxnSpPr>
              <a:cxnSpLocks/>
            </p:cNvCxnSpPr>
            <p:nvPr/>
          </p:nvCxnSpPr>
          <p:spPr>
            <a:xfrm>
              <a:off x="5609792" y="1564702"/>
              <a:ext cx="1857865" cy="0"/>
            </a:xfrm>
            <a:prstGeom prst="straightConnector1">
              <a:avLst/>
            </a:prstGeom>
            <a:ln>
              <a:headEnd type="triangle"/>
              <a:tailEnd type="triangle"/>
            </a:ln>
            <a:effectLst/>
          </p:spPr>
          <p:style>
            <a:lnRef idx="2">
              <a:schemeClr val="dk1"/>
            </a:lnRef>
            <a:fillRef idx="0">
              <a:schemeClr val="dk1"/>
            </a:fillRef>
            <a:effectRef idx="1">
              <a:schemeClr val="dk1"/>
            </a:effectRef>
            <a:fontRef idx="minor">
              <a:schemeClr val="tx1"/>
            </a:fontRef>
          </p:style>
        </p:cxnSp>
        <p:cxnSp>
          <p:nvCxnSpPr>
            <p:cNvPr id="31" name="直接箭头连接符 30">
              <a:extLst>
                <a:ext uri="{FF2B5EF4-FFF2-40B4-BE49-F238E27FC236}">
                  <a16:creationId xmlns:a16="http://schemas.microsoft.com/office/drawing/2014/main" id="{5D855B59-F425-3066-EF13-BD9CD5BEFECD}"/>
                </a:ext>
              </a:extLst>
            </p:cNvPr>
            <p:cNvCxnSpPr>
              <a:cxnSpLocks/>
            </p:cNvCxnSpPr>
            <p:nvPr/>
          </p:nvCxnSpPr>
          <p:spPr>
            <a:xfrm>
              <a:off x="7467657" y="1564702"/>
              <a:ext cx="1379227" cy="0"/>
            </a:xfrm>
            <a:prstGeom prst="straightConnector1">
              <a:avLst/>
            </a:prstGeom>
            <a:ln>
              <a:headEnd type="triangle"/>
              <a:tailEnd type="triangle"/>
            </a:ln>
            <a:effectLst/>
          </p:spPr>
          <p:style>
            <a:lnRef idx="2">
              <a:schemeClr val="dk1"/>
            </a:lnRef>
            <a:fillRef idx="0">
              <a:schemeClr val="dk1"/>
            </a:fillRef>
            <a:effectRef idx="1">
              <a:schemeClr val="dk1"/>
            </a:effectRef>
            <a:fontRef idx="minor">
              <a:schemeClr val="tx1"/>
            </a:fontRef>
          </p:style>
        </p:cxnSp>
        <p:sp>
          <p:nvSpPr>
            <p:cNvPr id="32" name="文本框 31">
              <a:extLst>
                <a:ext uri="{FF2B5EF4-FFF2-40B4-BE49-F238E27FC236}">
                  <a16:creationId xmlns:a16="http://schemas.microsoft.com/office/drawing/2014/main" id="{55A9A7F3-E598-9E6A-B612-A97D4FDA5F60}"/>
                </a:ext>
              </a:extLst>
            </p:cNvPr>
            <p:cNvSpPr txBox="1"/>
            <p:nvPr/>
          </p:nvSpPr>
          <p:spPr>
            <a:xfrm>
              <a:off x="5615222" y="1184434"/>
              <a:ext cx="1863292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zh-CN" dirty="0">
                  <a:ea typeface="SimHei" panose="02010609060101010101" pitchFamily="49" charset="-122"/>
                </a:rPr>
                <a:t>MEM</a:t>
              </a:r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33" name="文本框 32">
              <a:extLst>
                <a:ext uri="{FF2B5EF4-FFF2-40B4-BE49-F238E27FC236}">
                  <a16:creationId xmlns:a16="http://schemas.microsoft.com/office/drawing/2014/main" id="{529F1462-9993-9231-5CDD-4CE0A5C2FE30}"/>
                </a:ext>
              </a:extLst>
            </p:cNvPr>
            <p:cNvSpPr txBox="1"/>
            <p:nvPr/>
          </p:nvSpPr>
          <p:spPr>
            <a:xfrm>
              <a:off x="3746500" y="1185198"/>
              <a:ext cx="1857864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zh-CN" dirty="0">
                  <a:ea typeface="SimHei" panose="02010609060101010101" pitchFamily="49" charset="-122"/>
                </a:rPr>
                <a:t>EX</a:t>
              </a:r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34" name="文本框 33">
              <a:extLst>
                <a:ext uri="{FF2B5EF4-FFF2-40B4-BE49-F238E27FC236}">
                  <a16:creationId xmlns:a16="http://schemas.microsoft.com/office/drawing/2014/main" id="{9F6EEAAB-9E1E-4334-2503-23C643004356}"/>
                </a:ext>
              </a:extLst>
            </p:cNvPr>
            <p:cNvSpPr txBox="1"/>
            <p:nvPr/>
          </p:nvSpPr>
          <p:spPr>
            <a:xfrm>
              <a:off x="7467656" y="1187377"/>
              <a:ext cx="1379228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zh-CN" dirty="0">
                  <a:ea typeface="SimHei" panose="02010609060101010101" pitchFamily="49" charset="-122"/>
                </a:rPr>
                <a:t>WB</a:t>
              </a:r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35" name="文本框 34">
              <a:extLst>
                <a:ext uri="{FF2B5EF4-FFF2-40B4-BE49-F238E27FC236}">
                  <a16:creationId xmlns:a16="http://schemas.microsoft.com/office/drawing/2014/main" id="{4001940B-751A-C747-CE12-3BCF2CECABB4}"/>
                </a:ext>
              </a:extLst>
            </p:cNvPr>
            <p:cNvSpPr txBox="1"/>
            <p:nvPr/>
          </p:nvSpPr>
          <p:spPr>
            <a:xfrm>
              <a:off x="947418" y="1194895"/>
              <a:ext cx="279908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zh-CN" dirty="0">
                  <a:ea typeface="SimHei" panose="02010609060101010101" pitchFamily="49" charset="-122"/>
                </a:rPr>
                <a:t>ID/RF</a:t>
              </a:r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39" name="文本框 38">
              <a:extLst>
                <a:ext uri="{FF2B5EF4-FFF2-40B4-BE49-F238E27FC236}">
                  <a16:creationId xmlns:a16="http://schemas.microsoft.com/office/drawing/2014/main" id="{6BFF065F-E212-B90D-B66E-93CAB26D4F79}"/>
                </a:ext>
              </a:extLst>
            </p:cNvPr>
            <p:cNvSpPr txBox="1"/>
            <p:nvPr/>
          </p:nvSpPr>
          <p:spPr>
            <a:xfrm>
              <a:off x="2287937" y="1632295"/>
              <a:ext cx="1188720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zh-CN" sz="1600" dirty="0" err="1">
                  <a:ea typeface="SimHei" panose="02010609060101010101" pitchFamily="49" charset="-122"/>
                </a:rPr>
                <a:t>ExtOp</a:t>
              </a:r>
              <a:endParaRPr lang="zh-CN" altLang="en-US" sz="1600" dirty="0">
                <a:ea typeface="SimHei" panose="02010609060101010101" pitchFamily="49" charset="-122"/>
              </a:endParaRPr>
            </a:p>
          </p:txBody>
        </p:sp>
        <p:cxnSp>
          <p:nvCxnSpPr>
            <p:cNvPr id="37" name="直接箭头连接符 36">
              <a:extLst>
                <a:ext uri="{FF2B5EF4-FFF2-40B4-BE49-F238E27FC236}">
                  <a16:creationId xmlns:a16="http://schemas.microsoft.com/office/drawing/2014/main" id="{8A434175-1409-135F-266D-9B46F7E08E89}"/>
                </a:ext>
              </a:extLst>
            </p:cNvPr>
            <p:cNvCxnSpPr>
              <a:cxnSpLocks/>
            </p:cNvCxnSpPr>
            <p:nvPr/>
          </p:nvCxnSpPr>
          <p:spPr>
            <a:xfrm>
              <a:off x="2333241" y="1935689"/>
              <a:ext cx="862079" cy="0"/>
            </a:xfrm>
            <a:prstGeom prst="straightConnector1">
              <a:avLst/>
            </a:prstGeom>
            <a:ln>
              <a:solidFill>
                <a:srgbClr val="0070C0"/>
              </a:solidFill>
              <a:headEnd type="none"/>
              <a:tailEnd type="triangle"/>
            </a:ln>
            <a:effectLst/>
          </p:spPr>
          <p:style>
            <a:lnRef idx="2">
              <a:schemeClr val="dk1"/>
            </a:lnRef>
            <a:fillRef idx="0">
              <a:schemeClr val="dk1"/>
            </a:fillRef>
            <a:effectRef idx="1">
              <a:schemeClr val="dk1"/>
            </a:effectRef>
            <a:fontRef idx="minor">
              <a:schemeClr val="tx1"/>
            </a:fontRef>
          </p:style>
        </p:cxnSp>
        <p:sp>
          <p:nvSpPr>
            <p:cNvPr id="52" name="矩形: 圆角 51">
              <a:extLst>
                <a:ext uri="{FF2B5EF4-FFF2-40B4-BE49-F238E27FC236}">
                  <a16:creationId xmlns:a16="http://schemas.microsoft.com/office/drawing/2014/main" id="{3E3D2B9A-FA2B-6B9E-391E-4A3581EA4752}"/>
                </a:ext>
              </a:extLst>
            </p:cNvPr>
            <p:cNvSpPr/>
            <p:nvPr/>
          </p:nvSpPr>
          <p:spPr>
            <a:xfrm>
              <a:off x="1392873" y="1734680"/>
              <a:ext cx="940368" cy="2864698"/>
            </a:xfrm>
            <a:prstGeom prst="roundRect">
              <a:avLst>
                <a:gd name="adj" fmla="val 19098"/>
              </a:avLst>
            </a:pr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0" rIns="0" rtlCol="0" anchor="ctr"/>
            <a:lstStyle/>
            <a:p>
              <a:pPr algn="ctr"/>
              <a:r>
                <a:rPr lang="en-US" altLang="zh-CN" b="1" dirty="0">
                  <a:solidFill>
                    <a:schemeClr val="tx1"/>
                  </a:solidFill>
                </a:rPr>
                <a:t>Control</a:t>
              </a:r>
            </a:p>
            <a:p>
              <a:pPr algn="ctr"/>
              <a:r>
                <a:rPr lang="en-US" altLang="zh-CN" b="1" dirty="0">
                  <a:solidFill>
                    <a:schemeClr val="tx1"/>
                  </a:solidFill>
                </a:rPr>
                <a:t>Unit</a:t>
              </a:r>
              <a:endParaRPr lang="zh-CN" altLang="en-US" b="1" dirty="0">
                <a:solidFill>
                  <a:schemeClr val="tx1"/>
                </a:solidFill>
              </a:endParaRPr>
            </a:p>
          </p:txBody>
        </p:sp>
        <p:sp>
          <p:nvSpPr>
            <p:cNvPr id="60" name="文本框 59">
              <a:extLst>
                <a:ext uri="{FF2B5EF4-FFF2-40B4-BE49-F238E27FC236}">
                  <a16:creationId xmlns:a16="http://schemas.microsoft.com/office/drawing/2014/main" id="{EF091AA8-0FAE-B370-4AB2-3DA25E8747BC}"/>
                </a:ext>
              </a:extLst>
            </p:cNvPr>
            <p:cNvSpPr txBox="1"/>
            <p:nvPr/>
          </p:nvSpPr>
          <p:spPr>
            <a:xfrm>
              <a:off x="2287937" y="1991635"/>
              <a:ext cx="1188720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zh-CN" sz="1600" dirty="0" err="1">
                  <a:ea typeface="SimHei" panose="02010609060101010101" pitchFamily="49" charset="-122"/>
                </a:rPr>
                <a:t>ALUSrc</a:t>
              </a:r>
              <a:endParaRPr lang="zh-CN" altLang="en-US" sz="1600" dirty="0">
                <a:ea typeface="SimHei" panose="02010609060101010101" pitchFamily="49" charset="-122"/>
              </a:endParaRPr>
            </a:p>
          </p:txBody>
        </p:sp>
        <p:cxnSp>
          <p:nvCxnSpPr>
            <p:cNvPr id="61" name="直接箭头连接符 60">
              <a:extLst>
                <a:ext uri="{FF2B5EF4-FFF2-40B4-BE49-F238E27FC236}">
                  <a16:creationId xmlns:a16="http://schemas.microsoft.com/office/drawing/2014/main" id="{073B3849-096C-EF94-A0C4-ED07C7624651}"/>
                </a:ext>
              </a:extLst>
            </p:cNvPr>
            <p:cNvCxnSpPr>
              <a:cxnSpLocks/>
            </p:cNvCxnSpPr>
            <p:nvPr/>
          </p:nvCxnSpPr>
          <p:spPr>
            <a:xfrm>
              <a:off x="2333241" y="2295029"/>
              <a:ext cx="1220032" cy="0"/>
            </a:xfrm>
            <a:prstGeom prst="straightConnector1">
              <a:avLst/>
            </a:prstGeom>
            <a:ln>
              <a:solidFill>
                <a:srgbClr val="0070C0"/>
              </a:solidFill>
              <a:headEnd type="none"/>
              <a:tailEnd type="triangle"/>
            </a:ln>
            <a:effectLst/>
          </p:spPr>
          <p:style>
            <a:lnRef idx="2">
              <a:schemeClr val="dk1"/>
            </a:lnRef>
            <a:fillRef idx="0">
              <a:schemeClr val="dk1"/>
            </a:fillRef>
            <a:effectRef idx="1">
              <a:schemeClr val="dk1"/>
            </a:effectRef>
            <a:fontRef idx="minor">
              <a:schemeClr val="tx1"/>
            </a:fontRef>
          </p:style>
        </p:cxnSp>
        <p:sp>
          <p:nvSpPr>
            <p:cNvPr id="63" name="文本框 62">
              <a:extLst>
                <a:ext uri="{FF2B5EF4-FFF2-40B4-BE49-F238E27FC236}">
                  <a16:creationId xmlns:a16="http://schemas.microsoft.com/office/drawing/2014/main" id="{6B29FEC1-5425-6DB8-1F88-9D12C157E569}"/>
                </a:ext>
              </a:extLst>
            </p:cNvPr>
            <p:cNvSpPr txBox="1"/>
            <p:nvPr/>
          </p:nvSpPr>
          <p:spPr>
            <a:xfrm>
              <a:off x="2287937" y="2350975"/>
              <a:ext cx="1188720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zh-CN" sz="1600" dirty="0" err="1">
                  <a:ea typeface="SimHei" panose="02010609060101010101" pitchFamily="49" charset="-122"/>
                </a:rPr>
                <a:t>ALUOp</a:t>
              </a:r>
              <a:endParaRPr lang="zh-CN" altLang="en-US" sz="1600" dirty="0">
                <a:ea typeface="SimHei" panose="02010609060101010101" pitchFamily="49" charset="-122"/>
              </a:endParaRPr>
            </a:p>
          </p:txBody>
        </p:sp>
        <p:cxnSp>
          <p:nvCxnSpPr>
            <p:cNvPr id="64" name="直接箭头连接符 63">
              <a:extLst>
                <a:ext uri="{FF2B5EF4-FFF2-40B4-BE49-F238E27FC236}">
                  <a16:creationId xmlns:a16="http://schemas.microsoft.com/office/drawing/2014/main" id="{D04CBA46-67C5-4FD9-7839-A4722D34E0EA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2333241" y="2654369"/>
              <a:ext cx="1220032" cy="2862"/>
            </a:xfrm>
            <a:prstGeom prst="straightConnector1">
              <a:avLst/>
            </a:prstGeom>
            <a:ln>
              <a:solidFill>
                <a:srgbClr val="0070C0"/>
              </a:solidFill>
              <a:headEnd type="none"/>
              <a:tailEnd type="triangle"/>
            </a:ln>
            <a:effectLst/>
          </p:spPr>
          <p:style>
            <a:lnRef idx="2">
              <a:schemeClr val="dk1"/>
            </a:lnRef>
            <a:fillRef idx="0">
              <a:schemeClr val="dk1"/>
            </a:fillRef>
            <a:effectRef idx="1">
              <a:schemeClr val="dk1"/>
            </a:effectRef>
            <a:fontRef idx="minor">
              <a:schemeClr val="tx1"/>
            </a:fontRef>
          </p:style>
        </p:cxnSp>
        <p:sp>
          <p:nvSpPr>
            <p:cNvPr id="66" name="文本框 65">
              <a:extLst>
                <a:ext uri="{FF2B5EF4-FFF2-40B4-BE49-F238E27FC236}">
                  <a16:creationId xmlns:a16="http://schemas.microsoft.com/office/drawing/2014/main" id="{9BAC401F-E216-EE3C-5246-BD774A6086CD}"/>
                </a:ext>
              </a:extLst>
            </p:cNvPr>
            <p:cNvSpPr txBox="1"/>
            <p:nvPr/>
          </p:nvSpPr>
          <p:spPr>
            <a:xfrm>
              <a:off x="2287937" y="2710315"/>
              <a:ext cx="1188720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zh-CN" sz="1600" dirty="0" err="1">
                  <a:ea typeface="SimHei" panose="02010609060101010101" pitchFamily="49" charset="-122"/>
                </a:rPr>
                <a:t>RegDst</a:t>
              </a:r>
              <a:endParaRPr lang="zh-CN" altLang="en-US" sz="1600" dirty="0">
                <a:ea typeface="SimHei" panose="02010609060101010101" pitchFamily="49" charset="-122"/>
              </a:endParaRPr>
            </a:p>
          </p:txBody>
        </p:sp>
        <p:cxnSp>
          <p:nvCxnSpPr>
            <p:cNvPr id="67" name="直接箭头连接符 66">
              <a:extLst>
                <a:ext uri="{FF2B5EF4-FFF2-40B4-BE49-F238E27FC236}">
                  <a16:creationId xmlns:a16="http://schemas.microsoft.com/office/drawing/2014/main" id="{55DA0D9D-E5C3-0A98-676E-2172828A645E}"/>
                </a:ext>
              </a:extLst>
            </p:cNvPr>
            <p:cNvCxnSpPr>
              <a:cxnSpLocks/>
            </p:cNvCxnSpPr>
            <p:nvPr/>
          </p:nvCxnSpPr>
          <p:spPr>
            <a:xfrm>
              <a:off x="2333241" y="3021329"/>
              <a:ext cx="1220032" cy="0"/>
            </a:xfrm>
            <a:prstGeom prst="straightConnector1">
              <a:avLst/>
            </a:prstGeom>
            <a:ln>
              <a:solidFill>
                <a:srgbClr val="0070C0"/>
              </a:solidFill>
              <a:headEnd type="none"/>
              <a:tailEnd type="triangle"/>
            </a:ln>
            <a:effectLst/>
          </p:spPr>
          <p:style>
            <a:lnRef idx="2">
              <a:schemeClr val="dk1"/>
            </a:lnRef>
            <a:fillRef idx="0">
              <a:schemeClr val="dk1"/>
            </a:fillRef>
            <a:effectRef idx="1">
              <a:schemeClr val="dk1"/>
            </a:effectRef>
            <a:fontRef idx="minor">
              <a:schemeClr val="tx1"/>
            </a:fontRef>
          </p:style>
        </p:cxnSp>
        <p:sp>
          <p:nvSpPr>
            <p:cNvPr id="69" name="文本框 68">
              <a:extLst>
                <a:ext uri="{FF2B5EF4-FFF2-40B4-BE49-F238E27FC236}">
                  <a16:creationId xmlns:a16="http://schemas.microsoft.com/office/drawing/2014/main" id="{5328FA9D-4C7B-ED16-FEBF-841845BC6CE4}"/>
                </a:ext>
              </a:extLst>
            </p:cNvPr>
            <p:cNvSpPr txBox="1"/>
            <p:nvPr/>
          </p:nvSpPr>
          <p:spPr>
            <a:xfrm>
              <a:off x="2287937" y="3069655"/>
              <a:ext cx="1188720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zh-CN" sz="1600" dirty="0" err="1">
                  <a:ea typeface="SimHei" panose="02010609060101010101" pitchFamily="49" charset="-122"/>
                </a:rPr>
                <a:t>MemWr</a:t>
              </a:r>
              <a:endParaRPr lang="zh-CN" altLang="en-US" sz="1600" dirty="0">
                <a:ea typeface="SimHei" panose="02010609060101010101" pitchFamily="49" charset="-122"/>
              </a:endParaRPr>
            </a:p>
          </p:txBody>
        </p:sp>
        <p:cxnSp>
          <p:nvCxnSpPr>
            <p:cNvPr id="70" name="直接箭头连接符 69">
              <a:extLst>
                <a:ext uri="{FF2B5EF4-FFF2-40B4-BE49-F238E27FC236}">
                  <a16:creationId xmlns:a16="http://schemas.microsoft.com/office/drawing/2014/main" id="{52162483-50DA-E754-A2ED-670061AD212F}"/>
                </a:ext>
              </a:extLst>
            </p:cNvPr>
            <p:cNvCxnSpPr>
              <a:cxnSpLocks/>
            </p:cNvCxnSpPr>
            <p:nvPr/>
          </p:nvCxnSpPr>
          <p:spPr>
            <a:xfrm>
              <a:off x="2333241" y="3380669"/>
              <a:ext cx="1220032" cy="0"/>
            </a:xfrm>
            <a:prstGeom prst="straightConnector1">
              <a:avLst/>
            </a:prstGeom>
            <a:ln>
              <a:solidFill>
                <a:srgbClr val="0070C0"/>
              </a:solidFill>
              <a:headEnd type="none"/>
              <a:tailEnd type="triangle"/>
            </a:ln>
            <a:effectLst/>
          </p:spPr>
          <p:style>
            <a:lnRef idx="2">
              <a:schemeClr val="dk1"/>
            </a:lnRef>
            <a:fillRef idx="0">
              <a:schemeClr val="dk1"/>
            </a:fillRef>
            <a:effectRef idx="1">
              <a:schemeClr val="dk1"/>
            </a:effectRef>
            <a:fontRef idx="minor">
              <a:schemeClr val="tx1"/>
            </a:fontRef>
          </p:style>
        </p:cxnSp>
        <p:sp>
          <p:nvSpPr>
            <p:cNvPr id="72" name="文本框 71">
              <a:extLst>
                <a:ext uri="{FF2B5EF4-FFF2-40B4-BE49-F238E27FC236}">
                  <a16:creationId xmlns:a16="http://schemas.microsoft.com/office/drawing/2014/main" id="{A34FCC9C-C0DA-4B53-0616-D3FF06C1527E}"/>
                </a:ext>
              </a:extLst>
            </p:cNvPr>
            <p:cNvSpPr txBox="1"/>
            <p:nvPr/>
          </p:nvSpPr>
          <p:spPr>
            <a:xfrm>
              <a:off x="2287936" y="3428995"/>
              <a:ext cx="1230980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zh-CN" sz="1600" dirty="0">
                  <a:ea typeface="SimHei" panose="02010609060101010101" pitchFamily="49" charset="-122"/>
                </a:rPr>
                <a:t>Branch</a:t>
              </a:r>
              <a:endParaRPr lang="zh-CN" altLang="en-US" sz="1600" dirty="0">
                <a:ea typeface="SimHei" panose="02010609060101010101" pitchFamily="49" charset="-122"/>
              </a:endParaRPr>
            </a:p>
          </p:txBody>
        </p:sp>
        <p:cxnSp>
          <p:nvCxnSpPr>
            <p:cNvPr id="73" name="直接箭头连接符 72">
              <a:extLst>
                <a:ext uri="{FF2B5EF4-FFF2-40B4-BE49-F238E27FC236}">
                  <a16:creationId xmlns:a16="http://schemas.microsoft.com/office/drawing/2014/main" id="{43A7E689-1442-B09B-1F7F-BBF277410E25}"/>
                </a:ext>
              </a:extLst>
            </p:cNvPr>
            <p:cNvCxnSpPr>
              <a:cxnSpLocks/>
            </p:cNvCxnSpPr>
            <p:nvPr/>
          </p:nvCxnSpPr>
          <p:spPr>
            <a:xfrm>
              <a:off x="2333241" y="3740009"/>
              <a:ext cx="1220032" cy="0"/>
            </a:xfrm>
            <a:prstGeom prst="straightConnector1">
              <a:avLst/>
            </a:prstGeom>
            <a:ln>
              <a:solidFill>
                <a:srgbClr val="0070C0"/>
              </a:solidFill>
              <a:headEnd type="none"/>
              <a:tailEnd type="triangle"/>
            </a:ln>
            <a:effectLst/>
          </p:spPr>
          <p:style>
            <a:lnRef idx="2">
              <a:schemeClr val="dk1"/>
            </a:lnRef>
            <a:fillRef idx="0">
              <a:schemeClr val="dk1"/>
            </a:fillRef>
            <a:effectRef idx="1">
              <a:schemeClr val="dk1"/>
            </a:effectRef>
            <a:fontRef idx="minor">
              <a:schemeClr val="tx1"/>
            </a:fontRef>
          </p:style>
        </p:cxnSp>
        <p:sp>
          <p:nvSpPr>
            <p:cNvPr id="75" name="文本框 74">
              <a:extLst>
                <a:ext uri="{FF2B5EF4-FFF2-40B4-BE49-F238E27FC236}">
                  <a16:creationId xmlns:a16="http://schemas.microsoft.com/office/drawing/2014/main" id="{74F4356A-ACFA-5FA6-A586-9C4FFF7587C5}"/>
                </a:ext>
              </a:extLst>
            </p:cNvPr>
            <p:cNvSpPr txBox="1"/>
            <p:nvPr/>
          </p:nvSpPr>
          <p:spPr>
            <a:xfrm>
              <a:off x="2287937" y="3788335"/>
              <a:ext cx="1309428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zh-CN" sz="1600" dirty="0" err="1">
                  <a:ea typeface="SimHei" panose="02010609060101010101" pitchFamily="49" charset="-122"/>
                </a:rPr>
                <a:t>MemToReg</a:t>
              </a:r>
              <a:endParaRPr lang="zh-CN" altLang="en-US" sz="1600" dirty="0">
                <a:ea typeface="SimHei" panose="02010609060101010101" pitchFamily="49" charset="-122"/>
              </a:endParaRPr>
            </a:p>
          </p:txBody>
        </p:sp>
        <p:cxnSp>
          <p:nvCxnSpPr>
            <p:cNvPr id="76" name="直接箭头连接符 75">
              <a:extLst>
                <a:ext uri="{FF2B5EF4-FFF2-40B4-BE49-F238E27FC236}">
                  <a16:creationId xmlns:a16="http://schemas.microsoft.com/office/drawing/2014/main" id="{1A822388-017F-6EDB-9EF2-F830580DAE68}"/>
                </a:ext>
              </a:extLst>
            </p:cNvPr>
            <p:cNvCxnSpPr>
              <a:cxnSpLocks/>
            </p:cNvCxnSpPr>
            <p:nvPr/>
          </p:nvCxnSpPr>
          <p:spPr>
            <a:xfrm>
              <a:off x="2333241" y="4099349"/>
              <a:ext cx="1220032" cy="0"/>
            </a:xfrm>
            <a:prstGeom prst="straightConnector1">
              <a:avLst/>
            </a:prstGeom>
            <a:ln>
              <a:solidFill>
                <a:srgbClr val="0070C0"/>
              </a:solidFill>
              <a:headEnd type="none"/>
              <a:tailEnd type="triangle"/>
            </a:ln>
            <a:effectLst/>
          </p:spPr>
          <p:style>
            <a:lnRef idx="2">
              <a:schemeClr val="dk1"/>
            </a:lnRef>
            <a:fillRef idx="0">
              <a:schemeClr val="dk1"/>
            </a:fillRef>
            <a:effectRef idx="1">
              <a:schemeClr val="dk1"/>
            </a:effectRef>
            <a:fontRef idx="minor">
              <a:schemeClr val="tx1"/>
            </a:fontRef>
          </p:style>
        </p:cxnSp>
        <p:sp>
          <p:nvSpPr>
            <p:cNvPr id="78" name="文本框 77">
              <a:extLst>
                <a:ext uri="{FF2B5EF4-FFF2-40B4-BE49-F238E27FC236}">
                  <a16:creationId xmlns:a16="http://schemas.microsoft.com/office/drawing/2014/main" id="{21AFF6A6-CBC8-064A-F30E-526B7EB591BE}"/>
                </a:ext>
              </a:extLst>
            </p:cNvPr>
            <p:cNvSpPr txBox="1"/>
            <p:nvPr/>
          </p:nvSpPr>
          <p:spPr>
            <a:xfrm>
              <a:off x="2287937" y="4147677"/>
              <a:ext cx="1188720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zh-CN" sz="1600" dirty="0" err="1">
                  <a:ea typeface="SimHei" panose="02010609060101010101" pitchFamily="49" charset="-122"/>
                </a:rPr>
                <a:t>RegWr</a:t>
              </a:r>
              <a:endParaRPr lang="zh-CN" altLang="en-US" sz="1600" dirty="0">
                <a:ea typeface="SimHei" panose="02010609060101010101" pitchFamily="49" charset="-122"/>
              </a:endParaRPr>
            </a:p>
          </p:txBody>
        </p:sp>
        <p:cxnSp>
          <p:nvCxnSpPr>
            <p:cNvPr id="79" name="直接箭头连接符 78">
              <a:extLst>
                <a:ext uri="{FF2B5EF4-FFF2-40B4-BE49-F238E27FC236}">
                  <a16:creationId xmlns:a16="http://schemas.microsoft.com/office/drawing/2014/main" id="{2CC188A7-87E6-C80E-76BA-20FEFC31D591}"/>
                </a:ext>
              </a:extLst>
            </p:cNvPr>
            <p:cNvCxnSpPr>
              <a:cxnSpLocks/>
            </p:cNvCxnSpPr>
            <p:nvPr/>
          </p:nvCxnSpPr>
          <p:spPr>
            <a:xfrm>
              <a:off x="2333241" y="4458691"/>
              <a:ext cx="1220032" cy="0"/>
            </a:xfrm>
            <a:prstGeom prst="straightConnector1">
              <a:avLst/>
            </a:prstGeom>
            <a:ln>
              <a:solidFill>
                <a:srgbClr val="0070C0"/>
              </a:solidFill>
              <a:headEnd type="none"/>
              <a:tailEnd type="triangle"/>
            </a:ln>
            <a:effectLst/>
          </p:spPr>
          <p:style>
            <a:lnRef idx="2">
              <a:schemeClr val="dk1"/>
            </a:lnRef>
            <a:fillRef idx="0">
              <a:schemeClr val="dk1"/>
            </a:fillRef>
            <a:effectRef idx="1">
              <a:schemeClr val="dk1"/>
            </a:effectRef>
            <a:fontRef idx="minor">
              <a:schemeClr val="tx1"/>
            </a:fontRef>
          </p:style>
        </p:cxnSp>
        <p:sp>
          <p:nvSpPr>
            <p:cNvPr id="84" name="文本框 83">
              <a:extLst>
                <a:ext uri="{FF2B5EF4-FFF2-40B4-BE49-F238E27FC236}">
                  <a16:creationId xmlns:a16="http://schemas.microsoft.com/office/drawing/2014/main" id="{954A7EF9-C4F2-66E9-2FA3-2A27F09895BA}"/>
                </a:ext>
              </a:extLst>
            </p:cNvPr>
            <p:cNvSpPr txBox="1"/>
            <p:nvPr/>
          </p:nvSpPr>
          <p:spPr>
            <a:xfrm>
              <a:off x="3900520" y="1994497"/>
              <a:ext cx="1188720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zh-CN" sz="1600" dirty="0" err="1">
                  <a:ea typeface="SimHei" panose="02010609060101010101" pitchFamily="49" charset="-122"/>
                </a:rPr>
                <a:t>ALUSrc</a:t>
              </a:r>
              <a:endParaRPr lang="zh-CN" altLang="en-US" sz="1600" dirty="0">
                <a:ea typeface="SimHei" panose="02010609060101010101" pitchFamily="49" charset="-122"/>
              </a:endParaRPr>
            </a:p>
          </p:txBody>
        </p:sp>
        <p:cxnSp>
          <p:nvCxnSpPr>
            <p:cNvPr id="85" name="直接箭头连接符 84">
              <a:extLst>
                <a:ext uri="{FF2B5EF4-FFF2-40B4-BE49-F238E27FC236}">
                  <a16:creationId xmlns:a16="http://schemas.microsoft.com/office/drawing/2014/main" id="{59E04E08-76A9-4FE1-32F6-D9E11EAE7F52}"/>
                </a:ext>
              </a:extLst>
            </p:cNvPr>
            <p:cNvCxnSpPr>
              <a:cxnSpLocks/>
            </p:cNvCxnSpPr>
            <p:nvPr/>
          </p:nvCxnSpPr>
          <p:spPr>
            <a:xfrm>
              <a:off x="3939728" y="2297891"/>
              <a:ext cx="1110304" cy="0"/>
            </a:xfrm>
            <a:prstGeom prst="straightConnector1">
              <a:avLst/>
            </a:prstGeom>
            <a:ln>
              <a:solidFill>
                <a:srgbClr val="ED7D31"/>
              </a:solidFill>
              <a:headEnd type="none"/>
              <a:tailEnd type="triangle"/>
            </a:ln>
            <a:effectLst/>
          </p:spPr>
          <p:style>
            <a:lnRef idx="2">
              <a:schemeClr val="dk1"/>
            </a:lnRef>
            <a:fillRef idx="0">
              <a:schemeClr val="dk1"/>
            </a:fillRef>
            <a:effectRef idx="1">
              <a:schemeClr val="dk1"/>
            </a:effectRef>
            <a:fontRef idx="minor">
              <a:schemeClr val="tx1"/>
            </a:fontRef>
          </p:style>
        </p:cxnSp>
        <p:sp>
          <p:nvSpPr>
            <p:cNvPr id="87" name="文本框 86">
              <a:extLst>
                <a:ext uri="{FF2B5EF4-FFF2-40B4-BE49-F238E27FC236}">
                  <a16:creationId xmlns:a16="http://schemas.microsoft.com/office/drawing/2014/main" id="{6EF2DEDF-1D4F-98E6-C282-559F12C902B3}"/>
                </a:ext>
              </a:extLst>
            </p:cNvPr>
            <p:cNvSpPr txBox="1"/>
            <p:nvPr/>
          </p:nvSpPr>
          <p:spPr>
            <a:xfrm>
              <a:off x="3900520" y="2353837"/>
              <a:ext cx="1188720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zh-CN" sz="1600" dirty="0" err="1">
                  <a:ea typeface="SimHei" panose="02010609060101010101" pitchFamily="49" charset="-122"/>
                </a:rPr>
                <a:t>ALUOp</a:t>
              </a:r>
              <a:endParaRPr lang="zh-CN" altLang="en-US" sz="1600" dirty="0">
                <a:ea typeface="SimHei" panose="02010609060101010101" pitchFamily="49" charset="-122"/>
              </a:endParaRPr>
            </a:p>
          </p:txBody>
        </p:sp>
        <p:cxnSp>
          <p:nvCxnSpPr>
            <p:cNvPr id="88" name="直接箭头连接符 87">
              <a:extLst>
                <a:ext uri="{FF2B5EF4-FFF2-40B4-BE49-F238E27FC236}">
                  <a16:creationId xmlns:a16="http://schemas.microsoft.com/office/drawing/2014/main" id="{F5013455-AFF5-2DE7-96D9-45E96B0A1347}"/>
                </a:ext>
              </a:extLst>
            </p:cNvPr>
            <p:cNvCxnSpPr>
              <a:cxnSpLocks/>
            </p:cNvCxnSpPr>
            <p:nvPr/>
          </p:nvCxnSpPr>
          <p:spPr>
            <a:xfrm>
              <a:off x="3939728" y="2657231"/>
              <a:ext cx="1110304" cy="0"/>
            </a:xfrm>
            <a:prstGeom prst="straightConnector1">
              <a:avLst/>
            </a:prstGeom>
            <a:ln>
              <a:solidFill>
                <a:srgbClr val="ED7D31"/>
              </a:solidFill>
              <a:headEnd type="none"/>
              <a:tailEnd type="triangle"/>
            </a:ln>
            <a:effectLst/>
          </p:spPr>
          <p:style>
            <a:lnRef idx="2">
              <a:schemeClr val="dk1"/>
            </a:lnRef>
            <a:fillRef idx="0">
              <a:schemeClr val="dk1"/>
            </a:fillRef>
            <a:effectRef idx="1">
              <a:schemeClr val="dk1"/>
            </a:effectRef>
            <a:fontRef idx="minor">
              <a:schemeClr val="tx1"/>
            </a:fontRef>
          </p:style>
        </p:cxnSp>
        <p:sp>
          <p:nvSpPr>
            <p:cNvPr id="90" name="文本框 89">
              <a:extLst>
                <a:ext uri="{FF2B5EF4-FFF2-40B4-BE49-F238E27FC236}">
                  <a16:creationId xmlns:a16="http://schemas.microsoft.com/office/drawing/2014/main" id="{2B8A00C9-8FBF-844F-CC66-2B4279E78399}"/>
                </a:ext>
              </a:extLst>
            </p:cNvPr>
            <p:cNvSpPr txBox="1"/>
            <p:nvPr/>
          </p:nvSpPr>
          <p:spPr>
            <a:xfrm>
              <a:off x="3900520" y="2713177"/>
              <a:ext cx="1188720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zh-CN" sz="1600" dirty="0" err="1">
                  <a:ea typeface="SimHei" panose="02010609060101010101" pitchFamily="49" charset="-122"/>
                </a:rPr>
                <a:t>RegDst</a:t>
              </a:r>
              <a:endParaRPr lang="zh-CN" altLang="en-US" sz="1600" dirty="0">
                <a:ea typeface="SimHei" panose="02010609060101010101" pitchFamily="49" charset="-122"/>
              </a:endParaRPr>
            </a:p>
          </p:txBody>
        </p:sp>
        <p:cxnSp>
          <p:nvCxnSpPr>
            <p:cNvPr id="91" name="直接箭头连接符 90">
              <a:extLst>
                <a:ext uri="{FF2B5EF4-FFF2-40B4-BE49-F238E27FC236}">
                  <a16:creationId xmlns:a16="http://schemas.microsoft.com/office/drawing/2014/main" id="{5C436905-F54B-E86B-5BA3-B016F9172F14}"/>
                </a:ext>
              </a:extLst>
            </p:cNvPr>
            <p:cNvCxnSpPr>
              <a:cxnSpLocks/>
            </p:cNvCxnSpPr>
            <p:nvPr/>
          </p:nvCxnSpPr>
          <p:spPr>
            <a:xfrm>
              <a:off x="3939728" y="3024191"/>
              <a:ext cx="1110304" cy="0"/>
            </a:xfrm>
            <a:prstGeom prst="straightConnector1">
              <a:avLst/>
            </a:prstGeom>
            <a:ln>
              <a:solidFill>
                <a:srgbClr val="ED7D31"/>
              </a:solidFill>
              <a:headEnd type="none"/>
              <a:tailEnd type="triangle"/>
            </a:ln>
            <a:effectLst/>
          </p:spPr>
          <p:style>
            <a:lnRef idx="2">
              <a:schemeClr val="dk1"/>
            </a:lnRef>
            <a:fillRef idx="0">
              <a:schemeClr val="dk1"/>
            </a:fillRef>
            <a:effectRef idx="1">
              <a:schemeClr val="dk1"/>
            </a:effectRef>
            <a:fontRef idx="minor">
              <a:schemeClr val="tx1"/>
            </a:fontRef>
          </p:style>
        </p:cxnSp>
        <p:sp>
          <p:nvSpPr>
            <p:cNvPr id="93" name="文本框 92">
              <a:extLst>
                <a:ext uri="{FF2B5EF4-FFF2-40B4-BE49-F238E27FC236}">
                  <a16:creationId xmlns:a16="http://schemas.microsoft.com/office/drawing/2014/main" id="{19D602A2-E64F-4B67-3F32-B0AB129721F1}"/>
                </a:ext>
              </a:extLst>
            </p:cNvPr>
            <p:cNvSpPr txBox="1"/>
            <p:nvPr/>
          </p:nvSpPr>
          <p:spPr>
            <a:xfrm>
              <a:off x="3900520" y="3072517"/>
              <a:ext cx="1188720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zh-CN" sz="1600" dirty="0" err="1">
                  <a:ea typeface="SimHei" panose="02010609060101010101" pitchFamily="49" charset="-122"/>
                </a:rPr>
                <a:t>MemWr</a:t>
              </a:r>
              <a:endParaRPr lang="zh-CN" altLang="en-US" sz="1600" dirty="0">
                <a:ea typeface="SimHei" panose="02010609060101010101" pitchFamily="49" charset="-122"/>
              </a:endParaRPr>
            </a:p>
          </p:txBody>
        </p:sp>
        <p:cxnSp>
          <p:nvCxnSpPr>
            <p:cNvPr id="94" name="直接箭头连接符 93">
              <a:extLst>
                <a:ext uri="{FF2B5EF4-FFF2-40B4-BE49-F238E27FC236}">
                  <a16:creationId xmlns:a16="http://schemas.microsoft.com/office/drawing/2014/main" id="{3B9AAE68-D535-0730-A223-29ED3ACD13C5}"/>
                </a:ext>
              </a:extLst>
            </p:cNvPr>
            <p:cNvCxnSpPr>
              <a:cxnSpLocks/>
            </p:cNvCxnSpPr>
            <p:nvPr/>
          </p:nvCxnSpPr>
          <p:spPr>
            <a:xfrm>
              <a:off x="3939728" y="3383531"/>
              <a:ext cx="1476837" cy="0"/>
            </a:xfrm>
            <a:prstGeom prst="straightConnector1">
              <a:avLst/>
            </a:prstGeom>
            <a:ln>
              <a:solidFill>
                <a:srgbClr val="ED7D31"/>
              </a:solidFill>
              <a:headEnd type="none"/>
              <a:tailEnd type="triangle"/>
            </a:ln>
            <a:effectLst/>
          </p:spPr>
          <p:style>
            <a:lnRef idx="2">
              <a:schemeClr val="dk1"/>
            </a:lnRef>
            <a:fillRef idx="0">
              <a:schemeClr val="dk1"/>
            </a:fillRef>
            <a:effectRef idx="1">
              <a:schemeClr val="dk1"/>
            </a:effectRef>
            <a:fontRef idx="minor">
              <a:schemeClr val="tx1"/>
            </a:fontRef>
          </p:style>
        </p:cxnSp>
        <p:sp>
          <p:nvSpPr>
            <p:cNvPr id="96" name="文本框 95">
              <a:extLst>
                <a:ext uri="{FF2B5EF4-FFF2-40B4-BE49-F238E27FC236}">
                  <a16:creationId xmlns:a16="http://schemas.microsoft.com/office/drawing/2014/main" id="{9B810BE1-9972-C282-09CB-94DD9175151C}"/>
                </a:ext>
              </a:extLst>
            </p:cNvPr>
            <p:cNvSpPr txBox="1"/>
            <p:nvPr/>
          </p:nvSpPr>
          <p:spPr>
            <a:xfrm>
              <a:off x="3899280" y="3431856"/>
              <a:ext cx="1273238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zh-CN" sz="1600" dirty="0">
                  <a:ea typeface="SimHei" panose="02010609060101010101" pitchFamily="49" charset="-122"/>
                </a:rPr>
                <a:t>Branch</a:t>
              </a:r>
              <a:endParaRPr lang="zh-CN" altLang="en-US" sz="1600" dirty="0">
                <a:ea typeface="SimHei" panose="02010609060101010101" pitchFamily="49" charset="-122"/>
              </a:endParaRPr>
            </a:p>
          </p:txBody>
        </p:sp>
        <p:cxnSp>
          <p:nvCxnSpPr>
            <p:cNvPr id="97" name="直接箭头连接符 96">
              <a:extLst>
                <a:ext uri="{FF2B5EF4-FFF2-40B4-BE49-F238E27FC236}">
                  <a16:creationId xmlns:a16="http://schemas.microsoft.com/office/drawing/2014/main" id="{EA321950-CAF3-AC75-57D0-E3E41D9491C3}"/>
                </a:ext>
              </a:extLst>
            </p:cNvPr>
            <p:cNvCxnSpPr>
              <a:cxnSpLocks/>
            </p:cNvCxnSpPr>
            <p:nvPr/>
          </p:nvCxnSpPr>
          <p:spPr>
            <a:xfrm>
              <a:off x="3939728" y="3742871"/>
              <a:ext cx="1476837" cy="0"/>
            </a:xfrm>
            <a:prstGeom prst="straightConnector1">
              <a:avLst/>
            </a:prstGeom>
            <a:ln>
              <a:solidFill>
                <a:srgbClr val="ED7D31"/>
              </a:solidFill>
              <a:headEnd type="none"/>
              <a:tailEnd type="triangle"/>
            </a:ln>
            <a:effectLst/>
          </p:spPr>
          <p:style>
            <a:lnRef idx="2">
              <a:schemeClr val="dk1"/>
            </a:lnRef>
            <a:fillRef idx="0">
              <a:schemeClr val="dk1"/>
            </a:fillRef>
            <a:effectRef idx="1">
              <a:schemeClr val="dk1"/>
            </a:effectRef>
            <a:fontRef idx="minor">
              <a:schemeClr val="tx1"/>
            </a:fontRef>
          </p:style>
        </p:cxnSp>
        <p:sp>
          <p:nvSpPr>
            <p:cNvPr id="99" name="文本框 98">
              <a:extLst>
                <a:ext uri="{FF2B5EF4-FFF2-40B4-BE49-F238E27FC236}">
                  <a16:creationId xmlns:a16="http://schemas.microsoft.com/office/drawing/2014/main" id="{3E949045-C293-749C-3D65-4EB615497293}"/>
                </a:ext>
              </a:extLst>
            </p:cNvPr>
            <p:cNvSpPr txBox="1"/>
            <p:nvPr/>
          </p:nvSpPr>
          <p:spPr>
            <a:xfrm>
              <a:off x="3900519" y="3791197"/>
              <a:ext cx="1303755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zh-CN" sz="1600" dirty="0" err="1">
                  <a:ea typeface="SimHei" panose="02010609060101010101" pitchFamily="49" charset="-122"/>
                </a:rPr>
                <a:t>MemToReg</a:t>
              </a:r>
              <a:endParaRPr lang="zh-CN" altLang="en-US" sz="1600" dirty="0">
                <a:ea typeface="SimHei" panose="02010609060101010101" pitchFamily="49" charset="-122"/>
              </a:endParaRPr>
            </a:p>
          </p:txBody>
        </p:sp>
        <p:cxnSp>
          <p:nvCxnSpPr>
            <p:cNvPr id="100" name="直接箭头连接符 99">
              <a:extLst>
                <a:ext uri="{FF2B5EF4-FFF2-40B4-BE49-F238E27FC236}">
                  <a16:creationId xmlns:a16="http://schemas.microsoft.com/office/drawing/2014/main" id="{40CD3102-AD26-EF18-0219-E9D45229BED8}"/>
                </a:ext>
              </a:extLst>
            </p:cNvPr>
            <p:cNvCxnSpPr>
              <a:cxnSpLocks/>
            </p:cNvCxnSpPr>
            <p:nvPr/>
          </p:nvCxnSpPr>
          <p:spPr>
            <a:xfrm>
              <a:off x="3939728" y="4102211"/>
              <a:ext cx="1476837" cy="0"/>
            </a:xfrm>
            <a:prstGeom prst="straightConnector1">
              <a:avLst/>
            </a:prstGeom>
            <a:ln>
              <a:solidFill>
                <a:srgbClr val="ED7D31"/>
              </a:solidFill>
              <a:headEnd type="none"/>
              <a:tailEnd type="triangle"/>
            </a:ln>
            <a:effectLst/>
          </p:spPr>
          <p:style>
            <a:lnRef idx="2">
              <a:schemeClr val="dk1"/>
            </a:lnRef>
            <a:fillRef idx="0">
              <a:schemeClr val="dk1"/>
            </a:fillRef>
            <a:effectRef idx="1">
              <a:schemeClr val="dk1"/>
            </a:effectRef>
            <a:fontRef idx="minor">
              <a:schemeClr val="tx1"/>
            </a:fontRef>
          </p:style>
        </p:cxnSp>
        <p:sp>
          <p:nvSpPr>
            <p:cNvPr id="102" name="文本框 101">
              <a:extLst>
                <a:ext uri="{FF2B5EF4-FFF2-40B4-BE49-F238E27FC236}">
                  <a16:creationId xmlns:a16="http://schemas.microsoft.com/office/drawing/2014/main" id="{8A608975-1CA9-21B9-597D-22FC34533931}"/>
                </a:ext>
              </a:extLst>
            </p:cNvPr>
            <p:cNvSpPr txBox="1"/>
            <p:nvPr/>
          </p:nvSpPr>
          <p:spPr>
            <a:xfrm>
              <a:off x="3900520" y="4150539"/>
              <a:ext cx="1188720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zh-CN" sz="1600" dirty="0" err="1">
                  <a:ea typeface="SimHei" panose="02010609060101010101" pitchFamily="49" charset="-122"/>
                </a:rPr>
                <a:t>RegWr</a:t>
              </a:r>
              <a:endParaRPr lang="zh-CN" altLang="en-US" sz="1600" dirty="0">
                <a:ea typeface="SimHei" panose="02010609060101010101" pitchFamily="49" charset="-122"/>
              </a:endParaRPr>
            </a:p>
          </p:txBody>
        </p:sp>
        <p:cxnSp>
          <p:nvCxnSpPr>
            <p:cNvPr id="103" name="直接箭头连接符 102">
              <a:extLst>
                <a:ext uri="{FF2B5EF4-FFF2-40B4-BE49-F238E27FC236}">
                  <a16:creationId xmlns:a16="http://schemas.microsoft.com/office/drawing/2014/main" id="{DDC03679-7012-9620-8916-64DE8637A7E5}"/>
                </a:ext>
              </a:extLst>
            </p:cNvPr>
            <p:cNvCxnSpPr>
              <a:cxnSpLocks/>
            </p:cNvCxnSpPr>
            <p:nvPr/>
          </p:nvCxnSpPr>
          <p:spPr>
            <a:xfrm>
              <a:off x="3939728" y="4461553"/>
              <a:ext cx="1476837" cy="0"/>
            </a:xfrm>
            <a:prstGeom prst="straightConnector1">
              <a:avLst/>
            </a:prstGeom>
            <a:ln>
              <a:solidFill>
                <a:srgbClr val="ED7D31"/>
              </a:solidFill>
              <a:headEnd type="none"/>
              <a:tailEnd type="triangle"/>
            </a:ln>
            <a:effectLst/>
          </p:spPr>
          <p:style>
            <a:lnRef idx="2">
              <a:schemeClr val="dk1"/>
            </a:lnRef>
            <a:fillRef idx="0">
              <a:schemeClr val="dk1"/>
            </a:fillRef>
            <a:effectRef idx="1">
              <a:schemeClr val="dk1"/>
            </a:effectRef>
            <a:fontRef idx="minor">
              <a:schemeClr val="tx1"/>
            </a:fontRef>
          </p:style>
        </p:cxnSp>
        <p:cxnSp>
          <p:nvCxnSpPr>
            <p:cNvPr id="113" name="直接箭头连接符 112">
              <a:extLst>
                <a:ext uri="{FF2B5EF4-FFF2-40B4-BE49-F238E27FC236}">
                  <a16:creationId xmlns:a16="http://schemas.microsoft.com/office/drawing/2014/main" id="{D459FE06-0765-9695-96AB-651D781EC78F}"/>
                </a:ext>
              </a:extLst>
            </p:cNvPr>
            <p:cNvCxnSpPr>
              <a:cxnSpLocks/>
              <a:stCxn id="3" idx="3"/>
              <a:endCxn id="52" idx="1"/>
            </p:cNvCxnSpPr>
            <p:nvPr/>
          </p:nvCxnSpPr>
          <p:spPr>
            <a:xfrm>
              <a:off x="1151502" y="3165547"/>
              <a:ext cx="241371" cy="1482"/>
            </a:xfrm>
            <a:prstGeom prst="straightConnector1">
              <a:avLst/>
            </a:prstGeom>
            <a:ln>
              <a:headEnd type="none"/>
              <a:tailEnd type="triangle"/>
            </a:ln>
            <a:effectLst/>
          </p:spPr>
          <p:style>
            <a:lnRef idx="2">
              <a:schemeClr val="dk1"/>
            </a:lnRef>
            <a:fillRef idx="0">
              <a:schemeClr val="dk1"/>
            </a:fillRef>
            <a:effectRef idx="1">
              <a:schemeClr val="dk1"/>
            </a:effectRef>
            <a:fontRef idx="minor">
              <a:schemeClr val="tx1"/>
            </a:fontRef>
          </p:style>
        </p:cxnSp>
        <p:sp>
          <p:nvSpPr>
            <p:cNvPr id="118" name="文本框 117">
              <a:extLst>
                <a:ext uri="{FF2B5EF4-FFF2-40B4-BE49-F238E27FC236}">
                  <a16:creationId xmlns:a16="http://schemas.microsoft.com/office/drawing/2014/main" id="{CF6B8DD3-5FD1-BF56-94CD-D7D1BD14BEA7}"/>
                </a:ext>
              </a:extLst>
            </p:cNvPr>
            <p:cNvSpPr txBox="1"/>
            <p:nvPr/>
          </p:nvSpPr>
          <p:spPr>
            <a:xfrm>
              <a:off x="5758928" y="3090441"/>
              <a:ext cx="1188720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zh-CN" sz="1600" dirty="0" err="1">
                  <a:ea typeface="SimHei" panose="02010609060101010101" pitchFamily="49" charset="-122"/>
                </a:rPr>
                <a:t>MemWr</a:t>
              </a:r>
              <a:endParaRPr lang="zh-CN" altLang="en-US" sz="1600" dirty="0">
                <a:ea typeface="SimHei" panose="02010609060101010101" pitchFamily="49" charset="-122"/>
              </a:endParaRPr>
            </a:p>
          </p:txBody>
        </p:sp>
        <p:sp>
          <p:nvSpPr>
            <p:cNvPr id="120" name="文本框 119">
              <a:extLst>
                <a:ext uri="{FF2B5EF4-FFF2-40B4-BE49-F238E27FC236}">
                  <a16:creationId xmlns:a16="http://schemas.microsoft.com/office/drawing/2014/main" id="{77EBA81A-5B4E-687A-014B-EF89BD9F4E9E}"/>
                </a:ext>
              </a:extLst>
            </p:cNvPr>
            <p:cNvSpPr txBox="1"/>
            <p:nvPr/>
          </p:nvSpPr>
          <p:spPr>
            <a:xfrm>
              <a:off x="5757688" y="3449780"/>
              <a:ext cx="1273238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zh-CN" sz="1600" dirty="0">
                  <a:ea typeface="SimHei" panose="02010609060101010101" pitchFamily="49" charset="-122"/>
                </a:rPr>
                <a:t>Branch</a:t>
              </a:r>
              <a:endParaRPr lang="zh-CN" altLang="en-US" sz="1600" dirty="0">
                <a:ea typeface="SimHei" panose="02010609060101010101" pitchFamily="49" charset="-122"/>
              </a:endParaRPr>
            </a:p>
          </p:txBody>
        </p:sp>
        <p:cxnSp>
          <p:nvCxnSpPr>
            <p:cNvPr id="121" name="直接箭头连接符 120">
              <a:extLst>
                <a:ext uri="{FF2B5EF4-FFF2-40B4-BE49-F238E27FC236}">
                  <a16:creationId xmlns:a16="http://schemas.microsoft.com/office/drawing/2014/main" id="{18BAFDD0-FF4A-819F-3683-A765AE9367D7}"/>
                </a:ext>
              </a:extLst>
            </p:cNvPr>
            <p:cNvCxnSpPr>
              <a:cxnSpLocks/>
            </p:cNvCxnSpPr>
            <p:nvPr/>
          </p:nvCxnSpPr>
          <p:spPr>
            <a:xfrm>
              <a:off x="5798136" y="3760795"/>
              <a:ext cx="1110304" cy="0"/>
            </a:xfrm>
            <a:prstGeom prst="straightConnector1">
              <a:avLst/>
            </a:prstGeom>
            <a:ln>
              <a:solidFill>
                <a:srgbClr val="00B050"/>
              </a:solidFill>
              <a:headEnd type="none"/>
              <a:tailEnd type="triangle"/>
            </a:ln>
            <a:effectLst/>
          </p:spPr>
          <p:style>
            <a:lnRef idx="2">
              <a:schemeClr val="dk1"/>
            </a:lnRef>
            <a:fillRef idx="0">
              <a:schemeClr val="dk1"/>
            </a:fillRef>
            <a:effectRef idx="1">
              <a:schemeClr val="dk1"/>
            </a:effectRef>
            <a:fontRef idx="minor">
              <a:schemeClr val="tx1"/>
            </a:fontRef>
          </p:style>
        </p:cxnSp>
        <p:sp>
          <p:nvSpPr>
            <p:cNvPr id="122" name="文本框 121">
              <a:extLst>
                <a:ext uri="{FF2B5EF4-FFF2-40B4-BE49-F238E27FC236}">
                  <a16:creationId xmlns:a16="http://schemas.microsoft.com/office/drawing/2014/main" id="{BD334F1B-00C5-CDA3-6338-A0A56315126C}"/>
                </a:ext>
              </a:extLst>
            </p:cNvPr>
            <p:cNvSpPr txBox="1"/>
            <p:nvPr/>
          </p:nvSpPr>
          <p:spPr>
            <a:xfrm>
              <a:off x="5758927" y="3809121"/>
              <a:ext cx="1473243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zh-CN" sz="1600" dirty="0" err="1">
                  <a:ea typeface="SimHei" panose="02010609060101010101" pitchFamily="49" charset="-122"/>
                </a:rPr>
                <a:t>MemToReg</a:t>
              </a:r>
              <a:endParaRPr lang="zh-CN" altLang="en-US" sz="1600" dirty="0">
                <a:ea typeface="SimHei" panose="02010609060101010101" pitchFamily="49" charset="-122"/>
              </a:endParaRPr>
            </a:p>
          </p:txBody>
        </p:sp>
        <p:cxnSp>
          <p:nvCxnSpPr>
            <p:cNvPr id="123" name="直接箭头连接符 122">
              <a:extLst>
                <a:ext uri="{FF2B5EF4-FFF2-40B4-BE49-F238E27FC236}">
                  <a16:creationId xmlns:a16="http://schemas.microsoft.com/office/drawing/2014/main" id="{472FC7A9-2725-7E89-9A2B-9D93AC7089D7}"/>
                </a:ext>
              </a:extLst>
            </p:cNvPr>
            <p:cNvCxnSpPr>
              <a:cxnSpLocks/>
            </p:cNvCxnSpPr>
            <p:nvPr/>
          </p:nvCxnSpPr>
          <p:spPr>
            <a:xfrm>
              <a:off x="5798136" y="4120135"/>
              <a:ext cx="1476837" cy="0"/>
            </a:xfrm>
            <a:prstGeom prst="straightConnector1">
              <a:avLst/>
            </a:prstGeom>
            <a:ln>
              <a:solidFill>
                <a:srgbClr val="00B050"/>
              </a:solidFill>
              <a:headEnd type="none"/>
              <a:tailEnd type="triangle"/>
            </a:ln>
            <a:effectLst/>
          </p:spPr>
          <p:style>
            <a:lnRef idx="2">
              <a:schemeClr val="dk1"/>
            </a:lnRef>
            <a:fillRef idx="0">
              <a:schemeClr val="dk1"/>
            </a:fillRef>
            <a:effectRef idx="1">
              <a:schemeClr val="dk1"/>
            </a:effectRef>
            <a:fontRef idx="minor">
              <a:schemeClr val="tx1"/>
            </a:fontRef>
          </p:style>
        </p:cxnSp>
        <p:sp>
          <p:nvSpPr>
            <p:cNvPr id="124" name="文本框 123">
              <a:extLst>
                <a:ext uri="{FF2B5EF4-FFF2-40B4-BE49-F238E27FC236}">
                  <a16:creationId xmlns:a16="http://schemas.microsoft.com/office/drawing/2014/main" id="{4FDC4D3F-1E2C-4AB6-B496-A9716836CC02}"/>
                </a:ext>
              </a:extLst>
            </p:cNvPr>
            <p:cNvSpPr txBox="1"/>
            <p:nvPr/>
          </p:nvSpPr>
          <p:spPr>
            <a:xfrm>
              <a:off x="5758928" y="4168463"/>
              <a:ext cx="1188720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zh-CN" sz="1600" dirty="0" err="1">
                  <a:ea typeface="SimHei" panose="02010609060101010101" pitchFamily="49" charset="-122"/>
                </a:rPr>
                <a:t>RegWr</a:t>
              </a:r>
              <a:endParaRPr lang="zh-CN" altLang="en-US" sz="1600" dirty="0">
                <a:ea typeface="SimHei" panose="02010609060101010101" pitchFamily="49" charset="-122"/>
              </a:endParaRPr>
            </a:p>
          </p:txBody>
        </p:sp>
        <p:cxnSp>
          <p:nvCxnSpPr>
            <p:cNvPr id="125" name="直接箭头连接符 124">
              <a:extLst>
                <a:ext uri="{FF2B5EF4-FFF2-40B4-BE49-F238E27FC236}">
                  <a16:creationId xmlns:a16="http://schemas.microsoft.com/office/drawing/2014/main" id="{0B77B686-28A8-6E30-C377-FD0E2F607930}"/>
                </a:ext>
              </a:extLst>
            </p:cNvPr>
            <p:cNvCxnSpPr>
              <a:cxnSpLocks/>
            </p:cNvCxnSpPr>
            <p:nvPr/>
          </p:nvCxnSpPr>
          <p:spPr>
            <a:xfrm>
              <a:off x="5798136" y="4479477"/>
              <a:ext cx="1476837" cy="0"/>
            </a:xfrm>
            <a:prstGeom prst="straightConnector1">
              <a:avLst/>
            </a:prstGeom>
            <a:ln>
              <a:solidFill>
                <a:srgbClr val="00B050"/>
              </a:solidFill>
              <a:headEnd type="none"/>
              <a:tailEnd type="triangle"/>
            </a:ln>
            <a:effectLst/>
          </p:spPr>
          <p:style>
            <a:lnRef idx="2">
              <a:schemeClr val="dk1"/>
            </a:lnRef>
            <a:fillRef idx="0">
              <a:schemeClr val="dk1"/>
            </a:fillRef>
            <a:effectRef idx="1">
              <a:schemeClr val="dk1"/>
            </a:effectRef>
            <a:fontRef idx="minor">
              <a:schemeClr val="tx1"/>
            </a:fontRef>
          </p:style>
        </p:cxnSp>
        <p:cxnSp>
          <p:nvCxnSpPr>
            <p:cNvPr id="127" name="直接箭头连接符 126">
              <a:extLst>
                <a:ext uri="{FF2B5EF4-FFF2-40B4-BE49-F238E27FC236}">
                  <a16:creationId xmlns:a16="http://schemas.microsoft.com/office/drawing/2014/main" id="{5556E95B-C997-9DCD-6607-E07D344C9E74}"/>
                </a:ext>
              </a:extLst>
            </p:cNvPr>
            <p:cNvCxnSpPr>
              <a:cxnSpLocks/>
            </p:cNvCxnSpPr>
            <p:nvPr/>
          </p:nvCxnSpPr>
          <p:spPr>
            <a:xfrm>
              <a:off x="5798136" y="3392621"/>
              <a:ext cx="1110304" cy="0"/>
            </a:xfrm>
            <a:prstGeom prst="straightConnector1">
              <a:avLst/>
            </a:prstGeom>
            <a:ln>
              <a:solidFill>
                <a:srgbClr val="00B050"/>
              </a:solidFill>
              <a:headEnd type="none"/>
              <a:tailEnd type="triangle"/>
            </a:ln>
            <a:effectLst/>
          </p:spPr>
          <p:style>
            <a:lnRef idx="2">
              <a:schemeClr val="dk1"/>
            </a:lnRef>
            <a:fillRef idx="0">
              <a:schemeClr val="dk1"/>
            </a:fillRef>
            <a:effectRef idx="1">
              <a:schemeClr val="dk1"/>
            </a:effectRef>
            <a:fontRef idx="minor">
              <a:schemeClr val="tx1"/>
            </a:fontRef>
          </p:style>
        </p:cxnSp>
        <p:sp>
          <p:nvSpPr>
            <p:cNvPr id="142" name="文本框 141">
              <a:extLst>
                <a:ext uri="{FF2B5EF4-FFF2-40B4-BE49-F238E27FC236}">
                  <a16:creationId xmlns:a16="http://schemas.microsoft.com/office/drawing/2014/main" id="{FE434CE0-41D9-1E37-580C-B17EB8F1052E}"/>
                </a:ext>
              </a:extLst>
            </p:cNvPr>
            <p:cNvSpPr txBox="1"/>
            <p:nvPr/>
          </p:nvSpPr>
          <p:spPr>
            <a:xfrm>
              <a:off x="7615905" y="3809120"/>
              <a:ext cx="1379226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zh-CN" sz="1600" dirty="0" err="1">
                  <a:ea typeface="SimHei" panose="02010609060101010101" pitchFamily="49" charset="-122"/>
                </a:rPr>
                <a:t>MemToReg</a:t>
              </a:r>
              <a:endParaRPr lang="zh-CN" altLang="en-US" sz="1600" dirty="0">
                <a:ea typeface="SimHei" panose="02010609060101010101" pitchFamily="49" charset="-122"/>
              </a:endParaRPr>
            </a:p>
          </p:txBody>
        </p:sp>
        <p:cxnSp>
          <p:nvCxnSpPr>
            <p:cNvPr id="143" name="直接箭头连接符 142">
              <a:extLst>
                <a:ext uri="{FF2B5EF4-FFF2-40B4-BE49-F238E27FC236}">
                  <a16:creationId xmlns:a16="http://schemas.microsoft.com/office/drawing/2014/main" id="{86D0292D-A398-DCCA-F7D1-0AEBAF246F94}"/>
                </a:ext>
              </a:extLst>
            </p:cNvPr>
            <p:cNvCxnSpPr>
              <a:cxnSpLocks/>
            </p:cNvCxnSpPr>
            <p:nvPr/>
          </p:nvCxnSpPr>
          <p:spPr>
            <a:xfrm>
              <a:off x="7655113" y="4120134"/>
              <a:ext cx="1191771" cy="1"/>
            </a:xfrm>
            <a:prstGeom prst="straightConnector1">
              <a:avLst/>
            </a:prstGeom>
            <a:ln>
              <a:solidFill>
                <a:srgbClr val="C00000"/>
              </a:solidFill>
              <a:headEnd type="none"/>
              <a:tailEnd type="triangle"/>
            </a:ln>
            <a:effectLst/>
          </p:spPr>
          <p:style>
            <a:lnRef idx="2">
              <a:schemeClr val="dk1"/>
            </a:lnRef>
            <a:fillRef idx="0">
              <a:schemeClr val="dk1"/>
            </a:fillRef>
            <a:effectRef idx="1">
              <a:schemeClr val="dk1"/>
            </a:effectRef>
            <a:fontRef idx="minor">
              <a:schemeClr val="tx1"/>
            </a:fontRef>
          </p:style>
        </p:cxnSp>
        <p:sp>
          <p:nvSpPr>
            <p:cNvPr id="144" name="文本框 143">
              <a:extLst>
                <a:ext uri="{FF2B5EF4-FFF2-40B4-BE49-F238E27FC236}">
                  <a16:creationId xmlns:a16="http://schemas.microsoft.com/office/drawing/2014/main" id="{960E2BD6-5C70-4113-C2E9-A1F4F10F4E8A}"/>
                </a:ext>
              </a:extLst>
            </p:cNvPr>
            <p:cNvSpPr txBox="1"/>
            <p:nvPr/>
          </p:nvSpPr>
          <p:spPr>
            <a:xfrm>
              <a:off x="7615905" y="4168462"/>
              <a:ext cx="1188720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zh-CN" sz="1600" dirty="0" err="1">
                  <a:ea typeface="SimHei" panose="02010609060101010101" pitchFamily="49" charset="-122"/>
                </a:rPr>
                <a:t>RegWr</a:t>
              </a:r>
              <a:endParaRPr lang="zh-CN" altLang="en-US" sz="1600" dirty="0">
                <a:ea typeface="SimHei" panose="02010609060101010101" pitchFamily="49" charset="-122"/>
              </a:endParaRPr>
            </a:p>
          </p:txBody>
        </p:sp>
        <p:cxnSp>
          <p:nvCxnSpPr>
            <p:cNvPr id="145" name="直接箭头连接符 144">
              <a:extLst>
                <a:ext uri="{FF2B5EF4-FFF2-40B4-BE49-F238E27FC236}">
                  <a16:creationId xmlns:a16="http://schemas.microsoft.com/office/drawing/2014/main" id="{42CBDA27-23EB-6D9A-5541-CBE229DC397C}"/>
                </a:ext>
              </a:extLst>
            </p:cNvPr>
            <p:cNvCxnSpPr>
              <a:cxnSpLocks/>
            </p:cNvCxnSpPr>
            <p:nvPr/>
          </p:nvCxnSpPr>
          <p:spPr>
            <a:xfrm>
              <a:off x="7655113" y="4479476"/>
              <a:ext cx="1191771" cy="0"/>
            </a:xfrm>
            <a:prstGeom prst="straightConnector1">
              <a:avLst/>
            </a:prstGeom>
            <a:ln>
              <a:solidFill>
                <a:srgbClr val="C00000"/>
              </a:solidFill>
              <a:headEnd type="none"/>
              <a:tailEnd type="triangle"/>
            </a:ln>
            <a:effectLst/>
          </p:spPr>
          <p:style>
            <a:lnRef idx="2">
              <a:schemeClr val="dk1"/>
            </a:lnRef>
            <a:fillRef idx="0">
              <a:schemeClr val="dk1"/>
            </a:fillRef>
            <a:effectRef idx="1">
              <a:schemeClr val="dk1"/>
            </a:effectRef>
            <a:fontRef idx="minor">
              <a:schemeClr val="tx1"/>
            </a:fontRef>
          </p:style>
        </p:cxnSp>
        <p:cxnSp>
          <p:nvCxnSpPr>
            <p:cNvPr id="162" name="直接箭头连接符 161">
              <a:extLst>
                <a:ext uri="{FF2B5EF4-FFF2-40B4-BE49-F238E27FC236}">
                  <a16:creationId xmlns:a16="http://schemas.microsoft.com/office/drawing/2014/main" id="{79F70E6F-BBB0-F7B0-B355-B58937D38677}"/>
                </a:ext>
              </a:extLst>
            </p:cNvPr>
            <p:cNvCxnSpPr>
              <a:cxnSpLocks/>
            </p:cNvCxnSpPr>
            <p:nvPr/>
          </p:nvCxnSpPr>
          <p:spPr>
            <a:xfrm>
              <a:off x="228600" y="1570334"/>
              <a:ext cx="729675" cy="0"/>
            </a:xfrm>
            <a:prstGeom prst="straightConnector1">
              <a:avLst/>
            </a:prstGeom>
            <a:ln>
              <a:headEnd type="triangle"/>
              <a:tailEnd type="triangle"/>
            </a:ln>
            <a:effectLst/>
          </p:spPr>
          <p:style>
            <a:lnRef idx="2">
              <a:schemeClr val="dk1"/>
            </a:lnRef>
            <a:fillRef idx="0">
              <a:schemeClr val="dk1"/>
            </a:fillRef>
            <a:effectRef idx="1">
              <a:schemeClr val="dk1"/>
            </a:effectRef>
            <a:fontRef idx="minor">
              <a:schemeClr val="tx1"/>
            </a:fontRef>
          </p:style>
        </p:cxnSp>
        <p:sp>
          <p:nvSpPr>
            <p:cNvPr id="163" name="文本框 162">
              <a:extLst>
                <a:ext uri="{FF2B5EF4-FFF2-40B4-BE49-F238E27FC236}">
                  <a16:creationId xmlns:a16="http://schemas.microsoft.com/office/drawing/2014/main" id="{B6FA15CF-5670-D4DA-7C04-04DE3442F49E}"/>
                </a:ext>
              </a:extLst>
            </p:cNvPr>
            <p:cNvSpPr txBox="1"/>
            <p:nvPr/>
          </p:nvSpPr>
          <p:spPr>
            <a:xfrm>
              <a:off x="228600" y="1197595"/>
              <a:ext cx="718818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zh-CN" dirty="0">
                  <a:ea typeface="SimHei" panose="02010609060101010101" pitchFamily="49" charset="-122"/>
                </a:rPr>
                <a:t>IF</a:t>
              </a:r>
              <a:endParaRPr lang="zh-CN" altLang="en-US" dirty="0">
                <a:ea typeface="SimHei" panose="02010609060101010101" pitchFamily="49" charset="-122"/>
              </a:endParaRPr>
            </a:p>
          </p:txBody>
        </p:sp>
      </p:grpSp>
      <p:sp>
        <p:nvSpPr>
          <p:cNvPr id="5" name="Rectangle 5">
            <a:extLst>
              <a:ext uri="{FF2B5EF4-FFF2-40B4-BE49-F238E27FC236}">
                <a16:creationId xmlns:a16="http://schemas.microsoft.com/office/drawing/2014/main" id="{A2D41EF3-820F-4199-AD81-2435C3BD002E}"/>
              </a:ext>
            </a:extLst>
          </p:cNvPr>
          <p:cNvSpPr>
            <a:spLocks noChangeArrowheads="1"/>
          </p:cNvSpPr>
          <p:nvPr/>
        </p:nvSpPr>
        <p:spPr bwMode="auto">
          <a:xfrm>
            <a:off x="970913" y="4948518"/>
            <a:ext cx="2488883" cy="1424204"/>
          </a:xfrm>
          <a:prstGeom prst="rect">
            <a:avLst/>
          </a:prstGeom>
          <a:noFill/>
          <a:ln>
            <a:noFill/>
          </a:ln>
        </p:spPr>
        <p:txBody>
          <a:bodyPr lIns="0" tIns="0" rIns="0" bIns="0" anchor="ctr"/>
          <a:lstStyle>
            <a:defPPr>
              <a:defRPr lang="zh-CN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宋体" charset="-122"/>
                <a:cs typeface="+mn-cs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宋体" charset="-122"/>
                <a:cs typeface="+mn-cs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宋体" charset="-122"/>
                <a:cs typeface="+mn-cs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宋体" charset="-122"/>
                <a:cs typeface="+mn-cs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宋体" charset="-122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Arial" charset="0"/>
                <a:ea typeface="宋体" charset="-122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Arial" charset="0"/>
                <a:ea typeface="宋体" charset="-122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Arial" charset="0"/>
                <a:ea typeface="宋体" charset="-122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Arial" charset="0"/>
                <a:ea typeface="宋体" charset="-122"/>
                <a:cs typeface="+mn-cs"/>
              </a:defRPr>
            </a:lvl9pPr>
          </a:lstStyle>
          <a:p>
            <a:pPr algn="ctr" defTabSz="828675">
              <a:tabLst>
                <a:tab pos="322263" algn="l"/>
                <a:tab pos="644525" algn="l"/>
                <a:tab pos="965200" algn="l"/>
                <a:tab pos="1287463" algn="l"/>
                <a:tab pos="1609725" algn="l"/>
                <a:tab pos="1931988" algn="l"/>
                <a:tab pos="2254250" algn="l"/>
                <a:tab pos="2574925" algn="l"/>
                <a:tab pos="2895600" algn="l"/>
                <a:tab pos="3219450" algn="l"/>
                <a:tab pos="3541713" algn="l"/>
                <a:tab pos="3863975" algn="l"/>
              </a:tabLst>
            </a:pPr>
            <a:r>
              <a:rPr lang="zh-CN" altLang="en-US" sz="2000" b="1" dirty="0">
                <a:solidFill>
                  <a:srgbClr val="0432FF"/>
                </a:solidFill>
                <a:latin typeface="+mj-lt"/>
                <a:ea typeface="+mj-ea"/>
                <a:sym typeface="Courier" charset="0"/>
              </a:rPr>
              <a:t>控制信号寄存器</a:t>
            </a:r>
            <a:endParaRPr lang="en-US" altLang="zh-CN" sz="2000" b="1" dirty="0">
              <a:solidFill>
                <a:srgbClr val="0432FF"/>
              </a:solidFill>
              <a:latin typeface="+mj-lt"/>
              <a:ea typeface="+mj-ea"/>
              <a:sym typeface="Courier" charset="0"/>
            </a:endParaRPr>
          </a:p>
          <a:p>
            <a:pPr algn="ctr" defTabSz="828675">
              <a:tabLst>
                <a:tab pos="322263" algn="l"/>
                <a:tab pos="644525" algn="l"/>
                <a:tab pos="965200" algn="l"/>
                <a:tab pos="1287463" algn="l"/>
                <a:tab pos="1609725" algn="l"/>
                <a:tab pos="1931988" algn="l"/>
                <a:tab pos="2254250" algn="l"/>
                <a:tab pos="2574925" algn="l"/>
                <a:tab pos="2895600" algn="l"/>
                <a:tab pos="3219450" algn="l"/>
                <a:tab pos="3541713" algn="l"/>
                <a:tab pos="3863975" algn="l"/>
              </a:tabLst>
            </a:pPr>
            <a:r>
              <a:rPr lang="en-US" altLang="zh-CN" sz="2000" b="1" dirty="0">
                <a:latin typeface="+mj-lt"/>
                <a:ea typeface="+mj-ea"/>
                <a:sym typeface="Courier" charset="0"/>
              </a:rPr>
              <a:t>ID/EX </a:t>
            </a:r>
            <a:r>
              <a:rPr lang="zh-CN" altLang="en-US" sz="2000" b="1" dirty="0">
                <a:latin typeface="+mj-lt"/>
                <a:ea typeface="+mj-ea"/>
                <a:sym typeface="Courier" charset="0"/>
              </a:rPr>
              <a:t>寄存器</a:t>
            </a:r>
            <a:endParaRPr lang="en-US" altLang="zh-CN" sz="2000" b="1" dirty="0">
              <a:latin typeface="+mj-lt"/>
              <a:ea typeface="+mj-ea"/>
              <a:sym typeface="Courier" charset="0"/>
            </a:endParaRPr>
          </a:p>
          <a:p>
            <a:pPr algn="ctr" defTabSz="828675">
              <a:tabLst>
                <a:tab pos="322263" algn="l"/>
                <a:tab pos="644525" algn="l"/>
                <a:tab pos="965200" algn="l"/>
                <a:tab pos="1287463" algn="l"/>
                <a:tab pos="1609725" algn="l"/>
                <a:tab pos="1931988" algn="l"/>
                <a:tab pos="2254250" algn="l"/>
                <a:tab pos="2574925" algn="l"/>
                <a:tab pos="2895600" algn="l"/>
                <a:tab pos="3219450" algn="l"/>
                <a:tab pos="3541713" algn="l"/>
                <a:tab pos="3863975" algn="l"/>
              </a:tabLst>
            </a:pPr>
            <a:r>
              <a:rPr lang="en-US" altLang="zh-CN" sz="2000" b="1" dirty="0">
                <a:latin typeface="+mj-lt"/>
                <a:ea typeface="+mj-ea"/>
                <a:sym typeface="Courier" charset="0"/>
              </a:rPr>
              <a:t>EX/MEM </a:t>
            </a:r>
            <a:r>
              <a:rPr lang="zh-CN" altLang="en-US" sz="2000" b="1" dirty="0">
                <a:latin typeface="+mj-lt"/>
                <a:ea typeface="+mj-ea"/>
                <a:sym typeface="Courier" charset="0"/>
              </a:rPr>
              <a:t>寄存器</a:t>
            </a:r>
            <a:endParaRPr lang="en-US" altLang="zh-CN" sz="2000" b="1" dirty="0">
              <a:latin typeface="+mj-lt"/>
              <a:ea typeface="+mj-ea"/>
              <a:sym typeface="Courier" charset="0"/>
            </a:endParaRPr>
          </a:p>
          <a:p>
            <a:pPr algn="ctr" defTabSz="828675">
              <a:tabLst>
                <a:tab pos="322263" algn="l"/>
                <a:tab pos="644525" algn="l"/>
                <a:tab pos="965200" algn="l"/>
                <a:tab pos="1287463" algn="l"/>
                <a:tab pos="1609725" algn="l"/>
                <a:tab pos="1931988" algn="l"/>
                <a:tab pos="2254250" algn="l"/>
                <a:tab pos="2574925" algn="l"/>
                <a:tab pos="2895600" algn="l"/>
                <a:tab pos="3219450" algn="l"/>
                <a:tab pos="3541713" algn="l"/>
                <a:tab pos="3863975" algn="l"/>
              </a:tabLst>
            </a:pPr>
            <a:r>
              <a:rPr lang="en-US" altLang="zh-CN" sz="2000" b="1" dirty="0">
                <a:latin typeface="+mj-lt"/>
                <a:ea typeface="+mj-ea"/>
                <a:sym typeface="Courier" charset="0"/>
              </a:rPr>
              <a:t>MEM/WB </a:t>
            </a:r>
            <a:r>
              <a:rPr lang="zh-CN" altLang="en-US" sz="2000" b="1" dirty="0">
                <a:latin typeface="+mj-lt"/>
                <a:ea typeface="+mj-ea"/>
                <a:sym typeface="Courier" charset="0"/>
              </a:rPr>
              <a:t>寄存器</a:t>
            </a:r>
            <a:endParaRPr lang="en-US" altLang="zh-CN" sz="2000" b="1" dirty="0">
              <a:latin typeface="+mj-lt"/>
              <a:ea typeface="+mj-ea"/>
              <a:sym typeface="Courier" charset="0"/>
            </a:endParaRPr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A40526AB-F312-4790-80E4-8E166EE90DB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91557" y="4964701"/>
            <a:ext cx="4551799" cy="643485"/>
          </a:xfrm>
          <a:prstGeom prst="rect">
            <a:avLst/>
          </a:prstGeom>
          <a:noFill/>
          <a:ln>
            <a:noFill/>
          </a:ln>
        </p:spPr>
        <p:txBody>
          <a:bodyPr lIns="0" tIns="0" rIns="0" bIns="0"/>
          <a:lstStyle>
            <a:defPPr>
              <a:defRPr lang="zh-CN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宋体" charset="-122"/>
                <a:cs typeface="+mn-cs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宋体" charset="-122"/>
                <a:cs typeface="+mn-cs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宋体" charset="-122"/>
                <a:cs typeface="+mn-cs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宋体" charset="-122"/>
                <a:cs typeface="+mn-cs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宋体" charset="-122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Arial" charset="0"/>
                <a:ea typeface="宋体" charset="-122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Arial" charset="0"/>
                <a:ea typeface="宋体" charset="-122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Arial" charset="0"/>
                <a:ea typeface="宋体" charset="-122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Arial" charset="0"/>
                <a:ea typeface="宋体" charset="-122"/>
                <a:cs typeface="+mn-cs"/>
              </a:defRPr>
            </a:lvl9pPr>
          </a:lstStyle>
          <a:p>
            <a:pPr algn="ctr" defTabSz="828675">
              <a:tabLst>
                <a:tab pos="322263" algn="l"/>
                <a:tab pos="644525" algn="l"/>
                <a:tab pos="965200" algn="l"/>
                <a:tab pos="1287463" algn="l"/>
                <a:tab pos="1609725" algn="l"/>
                <a:tab pos="1931988" algn="l"/>
                <a:tab pos="2254250" algn="l"/>
                <a:tab pos="2574925" algn="l"/>
                <a:tab pos="2895600" algn="l"/>
                <a:tab pos="3219450" algn="l"/>
                <a:tab pos="3541713" algn="l"/>
                <a:tab pos="3863975" algn="l"/>
              </a:tabLst>
            </a:pPr>
            <a:r>
              <a:rPr lang="en-US" altLang="zh-CN" sz="2000" b="1" dirty="0">
                <a:latin typeface="+mj-lt"/>
                <a:ea typeface="+mj-ea"/>
                <a:sym typeface="Courier" charset="0"/>
              </a:rPr>
              <a:t>MEM/</a:t>
            </a:r>
            <a:r>
              <a:rPr lang="en-US" altLang="zh-CN" sz="2000" b="1" dirty="0" err="1">
                <a:latin typeface="+mj-lt"/>
                <a:ea typeface="+mj-ea"/>
                <a:sym typeface="Courier" charset="0"/>
              </a:rPr>
              <a:t>WB</a:t>
            </a:r>
            <a:r>
              <a:rPr lang="en-US" altLang="zh-CN" sz="2000" b="1" dirty="0" err="1">
                <a:solidFill>
                  <a:srgbClr val="0432FF"/>
                </a:solidFill>
                <a:latin typeface="+mj-lt"/>
                <a:ea typeface="+mj-ea"/>
                <a:sym typeface="Courier" charset="0"/>
              </a:rPr>
              <a:t>.RegWr</a:t>
            </a:r>
            <a:r>
              <a:rPr lang="zh-CN" altLang="en-US" sz="2000" b="1" dirty="0">
                <a:latin typeface="+mj-lt"/>
                <a:ea typeface="+mj-ea"/>
                <a:sym typeface="Courier" charset="0"/>
              </a:rPr>
              <a:t>：</a:t>
            </a:r>
            <a:endParaRPr lang="en-US" altLang="zh-CN" sz="2000" b="1" dirty="0">
              <a:latin typeface="+mj-lt"/>
              <a:ea typeface="+mj-ea"/>
              <a:sym typeface="Courier" charset="0"/>
            </a:endParaRPr>
          </a:p>
          <a:p>
            <a:pPr algn="ctr" defTabSz="828675">
              <a:tabLst>
                <a:tab pos="322263" algn="l"/>
                <a:tab pos="644525" algn="l"/>
                <a:tab pos="965200" algn="l"/>
                <a:tab pos="1287463" algn="l"/>
                <a:tab pos="1609725" algn="l"/>
                <a:tab pos="1931988" algn="l"/>
                <a:tab pos="2254250" algn="l"/>
                <a:tab pos="2574925" algn="l"/>
                <a:tab pos="2895600" algn="l"/>
                <a:tab pos="3219450" algn="l"/>
                <a:tab pos="3541713" algn="l"/>
                <a:tab pos="3863975" algn="l"/>
              </a:tabLst>
            </a:pPr>
            <a:r>
              <a:rPr lang="en-US" altLang="zh-CN" sz="2000" b="1" dirty="0">
                <a:latin typeface="+mj-lt"/>
                <a:ea typeface="+mj-ea"/>
                <a:sym typeface="Courier" charset="0"/>
              </a:rPr>
              <a:t>MEM/WB</a:t>
            </a:r>
            <a:r>
              <a:rPr lang="zh-CN" altLang="en-US" sz="2000" b="1" dirty="0">
                <a:latin typeface="+mj-lt"/>
                <a:ea typeface="+mj-ea"/>
                <a:sym typeface="Courier" charset="0"/>
              </a:rPr>
              <a:t>寄存器中的</a:t>
            </a:r>
            <a:r>
              <a:rPr lang="en-US" altLang="zh-CN" sz="2000" b="1" dirty="0" err="1">
                <a:solidFill>
                  <a:srgbClr val="0432FF"/>
                </a:solidFill>
                <a:latin typeface="+mj-lt"/>
                <a:ea typeface="+mj-ea"/>
                <a:sym typeface="Courier" charset="0"/>
              </a:rPr>
              <a:t>RegWr</a:t>
            </a:r>
            <a:r>
              <a:rPr lang="zh-CN" altLang="en-US" sz="2000" b="1" dirty="0">
                <a:latin typeface="+mj-lt"/>
                <a:ea typeface="+mj-ea"/>
                <a:sym typeface="Courier" charset="0"/>
              </a:rPr>
              <a:t>控制信号</a:t>
            </a:r>
            <a:endParaRPr lang="en-US" altLang="zh-CN" sz="2000" b="1" dirty="0">
              <a:latin typeface="+mj-lt"/>
              <a:ea typeface="+mj-ea"/>
              <a:sym typeface="Courier" charset="0"/>
            </a:endParaRPr>
          </a:p>
        </p:txBody>
      </p:sp>
      <p:sp>
        <p:nvSpPr>
          <p:cNvPr id="8" name="TextBox 68">
            <a:extLst>
              <a:ext uri="{FF2B5EF4-FFF2-40B4-BE49-F238E27FC236}">
                <a16:creationId xmlns:a16="http://schemas.microsoft.com/office/drawing/2014/main" id="{5A6B1556-0325-B142-C10C-402B33D23293}"/>
              </a:ext>
            </a:extLst>
          </p:cNvPr>
          <p:cNvSpPr txBox="1"/>
          <p:nvPr/>
        </p:nvSpPr>
        <p:spPr>
          <a:xfrm>
            <a:off x="3591556" y="5946955"/>
            <a:ext cx="455179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zh-CN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宋体" charset="-122"/>
                <a:cs typeface="+mn-cs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宋体" charset="-122"/>
                <a:cs typeface="+mn-cs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宋体" charset="-122"/>
                <a:cs typeface="+mn-cs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宋体" charset="-122"/>
                <a:cs typeface="+mn-cs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宋体" charset="-122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Arial" charset="0"/>
                <a:ea typeface="宋体" charset="-122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Arial" charset="0"/>
                <a:ea typeface="宋体" charset="-122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Arial" charset="0"/>
                <a:ea typeface="宋体" charset="-122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Arial" charset="0"/>
                <a:ea typeface="宋体" charset="-122"/>
                <a:cs typeface="+mn-cs"/>
              </a:defRPr>
            </a:lvl9pPr>
          </a:lstStyle>
          <a:p>
            <a:pPr algn="ctr"/>
            <a:r>
              <a:rPr lang="zh-CN" altLang="en-US" sz="2000" b="1" dirty="0">
                <a:latin typeface="+mj-lt"/>
                <a:ea typeface="+mj-ea"/>
              </a:rPr>
              <a:t>注：一些控制信号可在</a:t>
            </a:r>
            <a:r>
              <a:rPr lang="zh-CN" altLang="en-US" sz="2000" b="1" dirty="0">
                <a:solidFill>
                  <a:srgbClr val="0432FF"/>
                </a:solidFill>
                <a:latin typeface="+mj-lt"/>
                <a:ea typeface="+mj-ea"/>
              </a:rPr>
              <a:t>不同阶段解码</a:t>
            </a:r>
            <a:endParaRPr lang="en-CN" sz="2000" dirty="0">
              <a:solidFill>
                <a:srgbClr val="0432FF"/>
              </a:solidFill>
              <a:latin typeface="+mj-lt"/>
              <a:ea typeface="SimHei" panose="02010609060101010101" pitchFamily="49" charset="-122"/>
            </a:endParaRPr>
          </a:p>
        </p:txBody>
      </p:sp>
    </p:spTree>
    <p:extLst>
      <p:ext uri="{BB962C8B-B14F-4D97-AF65-F5344CB8AC3E}">
        <p14:creationId xmlns:p14="http://schemas.microsoft.com/office/powerpoint/2010/main" val="36246839"/>
      </p:ext>
    </p:extLst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>
            <a:extLst>
              <a:ext uri="{FF2B5EF4-FFF2-40B4-BE49-F238E27FC236}">
                <a16:creationId xmlns:a16="http://schemas.microsoft.com/office/drawing/2014/main" id="{1DA3F9B4-F6F8-426F-A970-97A2665AE59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dirty="0"/>
              <a:t>回顾：结构冒险</a:t>
            </a:r>
          </a:p>
        </p:txBody>
      </p:sp>
      <p:sp>
        <p:nvSpPr>
          <p:cNvPr id="3" name="内容占位符 2">
            <a:extLst>
              <a:ext uri="{FF2B5EF4-FFF2-40B4-BE49-F238E27FC236}">
                <a16:creationId xmlns:a16="http://schemas.microsoft.com/office/drawing/2014/main" id="{48139D6C-EDC7-4B33-9CA2-DEED61A572F6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457200" y="1166018"/>
            <a:ext cx="8321040" cy="4525963"/>
          </a:xfrm>
        </p:spPr>
        <p:txBody>
          <a:bodyPr/>
          <a:lstStyle/>
          <a:p>
            <a:r>
              <a:rPr lang="zh-CN" altLang="en-US" dirty="0"/>
              <a:t>产生的原因</a:t>
            </a:r>
            <a:endParaRPr lang="en-US" altLang="zh-CN" dirty="0"/>
          </a:p>
          <a:p>
            <a:pPr lvl="1"/>
            <a:r>
              <a:rPr lang="zh-CN" altLang="en-US" dirty="0"/>
              <a:t>流水执行的</a:t>
            </a:r>
            <a:r>
              <a:rPr lang="zh-CN" altLang="en-US" dirty="0">
                <a:solidFill>
                  <a:srgbClr val="3333FF"/>
                </a:solidFill>
              </a:rPr>
              <a:t>多条</a:t>
            </a:r>
            <a:r>
              <a:rPr lang="zh-CN" altLang="en-US" dirty="0"/>
              <a:t>指令在</a:t>
            </a:r>
            <a:r>
              <a:rPr lang="zh-CN" altLang="en-US" dirty="0">
                <a:solidFill>
                  <a:srgbClr val="3333FF"/>
                </a:solidFill>
              </a:rPr>
              <a:t>同一个周期</a:t>
            </a:r>
            <a:r>
              <a:rPr lang="zh-CN" altLang="en-US" dirty="0"/>
              <a:t>使用</a:t>
            </a:r>
            <a:r>
              <a:rPr lang="zh-CN" altLang="en-US" dirty="0">
                <a:solidFill>
                  <a:srgbClr val="3333FF"/>
                </a:solidFill>
              </a:rPr>
              <a:t>同一个硬件资源</a:t>
            </a:r>
            <a:endParaRPr lang="en-US" altLang="zh-CN" dirty="0">
              <a:solidFill>
                <a:srgbClr val="3333FF"/>
              </a:solidFill>
            </a:endParaRPr>
          </a:p>
          <a:p>
            <a:endParaRPr lang="en-US" altLang="zh-CN" dirty="0"/>
          </a:p>
          <a:p>
            <a:r>
              <a:rPr lang="zh-CN" altLang="en-US" dirty="0"/>
              <a:t>解决方法：</a:t>
            </a:r>
            <a:endParaRPr lang="en-US" altLang="zh-CN" dirty="0"/>
          </a:p>
          <a:p>
            <a:pPr lvl="1"/>
            <a:r>
              <a:rPr lang="zh-CN" altLang="en-US" dirty="0"/>
              <a:t>增加资源</a:t>
            </a:r>
            <a:endParaRPr lang="en-US" altLang="zh-CN" dirty="0"/>
          </a:p>
          <a:p>
            <a:pPr lvl="2"/>
            <a:r>
              <a:rPr lang="zh-CN" altLang="en-US" dirty="0"/>
              <a:t>增加运算单元：例如</a:t>
            </a:r>
            <a:r>
              <a:rPr lang="en-US" altLang="zh-CN" dirty="0"/>
              <a:t>PC+4</a:t>
            </a:r>
            <a:r>
              <a:rPr lang="zh-CN" altLang="en-US" dirty="0"/>
              <a:t>和</a:t>
            </a:r>
            <a:r>
              <a:rPr lang="en-US" altLang="zh-CN" dirty="0"/>
              <a:t>ALU</a:t>
            </a:r>
            <a:r>
              <a:rPr lang="zh-CN" altLang="en-US" dirty="0"/>
              <a:t>运算分离</a:t>
            </a:r>
            <a:endParaRPr lang="en-US" altLang="zh-CN" dirty="0"/>
          </a:p>
          <a:p>
            <a:pPr lvl="2"/>
            <a:r>
              <a:rPr lang="zh-CN" altLang="en-US" dirty="0"/>
              <a:t>采用指令存储器和数据存储器分离的哈佛体系结构</a:t>
            </a:r>
            <a:endParaRPr lang="en-US" altLang="zh-CN" dirty="0"/>
          </a:p>
          <a:p>
            <a:pPr lvl="1"/>
            <a:r>
              <a:rPr lang="zh-CN" altLang="en-US" dirty="0"/>
              <a:t>调整指令对资源占用的周期</a:t>
            </a:r>
          </a:p>
        </p:txBody>
      </p:sp>
      <p:sp>
        <p:nvSpPr>
          <p:cNvPr id="4" name="灯片编号占位符 3">
            <a:extLst>
              <a:ext uri="{FF2B5EF4-FFF2-40B4-BE49-F238E27FC236}">
                <a16:creationId xmlns:a16="http://schemas.microsoft.com/office/drawing/2014/main" id="{083DF553-A9D0-46E1-A561-995236D031C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0626FCE3-5FF9-430D-BA0B-DE80AAE71673}" type="slidenum">
              <a:rPr lang="zh-CN" altLang="en-US" smtClean="0"/>
              <a:t>10</a:t>
            </a:fld>
            <a:endParaRPr lang="zh-CN" altLang="en-US"/>
          </a:p>
        </p:txBody>
      </p:sp>
      <p:sp>
        <p:nvSpPr>
          <p:cNvPr id="5" name="Rectangle 21">
            <a:extLst>
              <a:ext uri="{FF2B5EF4-FFF2-40B4-BE49-F238E27FC236}">
                <a16:creationId xmlns:a16="http://schemas.microsoft.com/office/drawing/2014/main" id="{7D21A6F9-D646-7B8D-E3CF-52644CAD9CE3}"/>
              </a:ext>
            </a:extLst>
          </p:cNvPr>
          <p:cNvSpPr>
            <a:spLocks noChangeArrowheads="1"/>
          </p:cNvSpPr>
          <p:nvPr/>
        </p:nvSpPr>
        <p:spPr bwMode="auto">
          <a:xfrm>
            <a:off x="1496378" y="5237451"/>
            <a:ext cx="580258" cy="30519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73" tIns="44442" rIns="90473" bIns="44442">
            <a:spAutoFit/>
          </a:bodyPr>
          <a:lstStyle/>
          <a:p>
            <a:r>
              <a:rPr lang="en-US" altLang="en-US" sz="1400" dirty="0">
                <a:latin typeface="Arial" pitchFamily="34" charset="0"/>
                <a:ea typeface="SimHei" panose="02010609060101010101" pitchFamily="49" charset="-122"/>
              </a:rPr>
              <a:t>Load</a:t>
            </a:r>
          </a:p>
        </p:txBody>
      </p:sp>
      <p:sp>
        <p:nvSpPr>
          <p:cNvPr id="6" name="Rectangle 22">
            <a:extLst>
              <a:ext uri="{FF2B5EF4-FFF2-40B4-BE49-F238E27FC236}">
                <a16:creationId xmlns:a16="http://schemas.microsoft.com/office/drawing/2014/main" id="{60CF47A1-0CE5-954A-95A0-C03EE56D38A2}"/>
              </a:ext>
            </a:extLst>
          </p:cNvPr>
          <p:cNvSpPr>
            <a:spLocks noChangeArrowheads="1"/>
          </p:cNvSpPr>
          <p:nvPr/>
        </p:nvSpPr>
        <p:spPr bwMode="auto">
          <a:xfrm>
            <a:off x="2433402" y="4913591"/>
            <a:ext cx="279374" cy="30234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73" tIns="44442" rIns="90473" bIns="44442">
            <a:spAutoFit/>
          </a:bodyPr>
          <a:lstStyle/>
          <a:p>
            <a:r>
              <a:rPr lang="en-US" altLang="en-US" sz="1400" dirty="0">
                <a:latin typeface="Arial" pitchFamily="34" charset="0"/>
                <a:ea typeface="SimHei" panose="02010609060101010101" pitchFamily="49" charset="-122"/>
              </a:rPr>
              <a:t>1</a:t>
            </a:r>
          </a:p>
        </p:txBody>
      </p:sp>
      <p:sp>
        <p:nvSpPr>
          <p:cNvPr id="7" name="Rectangle 23">
            <a:extLst>
              <a:ext uri="{FF2B5EF4-FFF2-40B4-BE49-F238E27FC236}">
                <a16:creationId xmlns:a16="http://schemas.microsoft.com/office/drawing/2014/main" id="{9E0CCC23-E58A-BF2F-3397-B4215262767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83086" y="4913591"/>
            <a:ext cx="279374" cy="30234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73" tIns="44442" rIns="90473" bIns="44442">
            <a:spAutoFit/>
          </a:bodyPr>
          <a:lstStyle/>
          <a:p>
            <a:r>
              <a:rPr lang="en-US" altLang="en-US" sz="1400" dirty="0">
                <a:latin typeface="Arial" pitchFamily="34" charset="0"/>
                <a:ea typeface="SimHei" panose="02010609060101010101" pitchFamily="49" charset="-122"/>
              </a:rPr>
              <a:t>2</a:t>
            </a:r>
          </a:p>
        </p:txBody>
      </p:sp>
      <p:sp>
        <p:nvSpPr>
          <p:cNvPr id="8" name="Rectangle 24">
            <a:extLst>
              <a:ext uri="{FF2B5EF4-FFF2-40B4-BE49-F238E27FC236}">
                <a16:creationId xmlns:a16="http://schemas.microsoft.com/office/drawing/2014/main" id="{FC38CF90-D1E1-8DC1-4E40-B6D0260F1C9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32770" y="4913591"/>
            <a:ext cx="279374" cy="30234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73" tIns="44442" rIns="90473" bIns="44442">
            <a:spAutoFit/>
          </a:bodyPr>
          <a:lstStyle/>
          <a:p>
            <a:r>
              <a:rPr lang="en-US" altLang="en-US" sz="1400" dirty="0">
                <a:latin typeface="Arial" pitchFamily="34" charset="0"/>
                <a:ea typeface="SimHei" panose="02010609060101010101" pitchFamily="49" charset="-122"/>
              </a:rPr>
              <a:t>3</a:t>
            </a:r>
          </a:p>
        </p:txBody>
      </p:sp>
      <p:sp>
        <p:nvSpPr>
          <p:cNvPr id="9" name="Rectangle 25">
            <a:extLst>
              <a:ext uri="{FF2B5EF4-FFF2-40B4-BE49-F238E27FC236}">
                <a16:creationId xmlns:a16="http://schemas.microsoft.com/office/drawing/2014/main" id="{1AFBE386-C382-1B8A-57D5-392000315F2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82454" y="4913591"/>
            <a:ext cx="279374" cy="30234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73" tIns="44442" rIns="90473" bIns="44442">
            <a:spAutoFit/>
          </a:bodyPr>
          <a:lstStyle/>
          <a:p>
            <a:r>
              <a:rPr lang="en-US" altLang="en-US" sz="1400" dirty="0">
                <a:latin typeface="Arial" pitchFamily="34" charset="0"/>
                <a:ea typeface="SimHei" panose="02010609060101010101" pitchFamily="49" charset="-122"/>
              </a:rPr>
              <a:t>4</a:t>
            </a:r>
          </a:p>
        </p:txBody>
      </p:sp>
      <p:sp>
        <p:nvSpPr>
          <p:cNvPr id="10" name="Rectangle 26">
            <a:extLst>
              <a:ext uri="{FF2B5EF4-FFF2-40B4-BE49-F238E27FC236}">
                <a16:creationId xmlns:a16="http://schemas.microsoft.com/office/drawing/2014/main" id="{1868670C-4938-0692-D10F-CC8496BFC2B7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32137" y="4913591"/>
            <a:ext cx="279374" cy="30234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73" tIns="44442" rIns="90473" bIns="44442">
            <a:spAutoFit/>
          </a:bodyPr>
          <a:lstStyle/>
          <a:p>
            <a:r>
              <a:rPr lang="en-US" altLang="en-US" sz="1400" dirty="0">
                <a:latin typeface="Arial" pitchFamily="34" charset="0"/>
                <a:ea typeface="SimHei" panose="02010609060101010101" pitchFamily="49" charset="-122"/>
              </a:rPr>
              <a:t>5</a:t>
            </a:r>
          </a:p>
        </p:txBody>
      </p:sp>
      <p:sp>
        <p:nvSpPr>
          <p:cNvPr id="11" name="Rectangle 7">
            <a:extLst>
              <a:ext uri="{FF2B5EF4-FFF2-40B4-BE49-F238E27FC236}">
                <a16:creationId xmlns:a16="http://schemas.microsoft.com/office/drawing/2014/main" id="{5CD427C4-CE57-BEC8-4C06-394C018D9D62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59272" y="5219208"/>
            <a:ext cx="846387" cy="343305"/>
          </a:xfrm>
          <a:prstGeom prst="rect">
            <a:avLst/>
          </a:prstGeom>
          <a:noFill/>
          <a:ln w="25400">
            <a:solidFill>
              <a:schemeClr val="tx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algn="ctr"/>
            <a:r>
              <a:rPr lang="en-US" altLang="zh-CN" sz="1400" dirty="0">
                <a:ea typeface="SimHei" panose="02010609060101010101" pitchFamily="49" charset="-122"/>
              </a:rPr>
              <a:t>IF</a:t>
            </a:r>
            <a:endParaRPr lang="zh-CN" altLang="en-US" sz="1400" dirty="0">
              <a:ea typeface="SimHei" panose="02010609060101010101" pitchFamily="49" charset="-122"/>
            </a:endParaRPr>
          </a:p>
        </p:txBody>
      </p:sp>
      <p:sp>
        <p:nvSpPr>
          <p:cNvPr id="12" name="Rectangle 7">
            <a:extLst>
              <a:ext uri="{FF2B5EF4-FFF2-40B4-BE49-F238E27FC236}">
                <a16:creationId xmlns:a16="http://schemas.microsoft.com/office/drawing/2014/main" id="{AC141886-579F-382B-E597-33E6AF375CA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09476" y="5219208"/>
            <a:ext cx="846387" cy="343305"/>
          </a:xfrm>
          <a:prstGeom prst="rect">
            <a:avLst/>
          </a:prstGeom>
          <a:noFill/>
          <a:ln w="25400">
            <a:solidFill>
              <a:schemeClr val="tx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algn="ctr"/>
            <a:r>
              <a:rPr lang="en-US" altLang="zh-CN" sz="1400" dirty="0">
                <a:ea typeface="SimHei" panose="02010609060101010101" pitchFamily="49" charset="-122"/>
              </a:rPr>
              <a:t>ID/Reg</a:t>
            </a:r>
            <a:endParaRPr lang="zh-CN" altLang="en-US" sz="1400" dirty="0">
              <a:ea typeface="SimHei" panose="02010609060101010101" pitchFamily="49" charset="-122"/>
            </a:endParaRPr>
          </a:p>
        </p:txBody>
      </p:sp>
      <p:sp>
        <p:nvSpPr>
          <p:cNvPr id="13" name="Rectangle 7">
            <a:extLst>
              <a:ext uri="{FF2B5EF4-FFF2-40B4-BE49-F238E27FC236}">
                <a16:creationId xmlns:a16="http://schemas.microsoft.com/office/drawing/2014/main" id="{BFD826C1-A5A1-AB8C-E7C0-5FC7B6BF5B0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55861" y="5219208"/>
            <a:ext cx="846387" cy="343305"/>
          </a:xfrm>
          <a:prstGeom prst="rect">
            <a:avLst/>
          </a:prstGeom>
          <a:noFill/>
          <a:ln w="25400">
            <a:solidFill>
              <a:schemeClr val="tx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algn="ctr"/>
            <a:r>
              <a:rPr lang="en-US" altLang="zh-CN" sz="1400" dirty="0">
                <a:ea typeface="SimHei" panose="02010609060101010101" pitchFamily="49" charset="-122"/>
              </a:rPr>
              <a:t>EX</a:t>
            </a:r>
            <a:endParaRPr lang="zh-CN" altLang="en-US" sz="1400" dirty="0">
              <a:ea typeface="SimHei" panose="02010609060101010101" pitchFamily="49" charset="-122"/>
            </a:endParaRPr>
          </a:p>
        </p:txBody>
      </p:sp>
      <p:sp>
        <p:nvSpPr>
          <p:cNvPr id="14" name="Rectangle 7">
            <a:extLst>
              <a:ext uri="{FF2B5EF4-FFF2-40B4-BE49-F238E27FC236}">
                <a16:creationId xmlns:a16="http://schemas.microsoft.com/office/drawing/2014/main" id="{96D236C3-5054-D1A7-513C-FB3FA3BD3E0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02246" y="5219208"/>
            <a:ext cx="846387" cy="343305"/>
          </a:xfrm>
          <a:prstGeom prst="rect">
            <a:avLst/>
          </a:prstGeom>
          <a:noFill/>
          <a:ln w="25400">
            <a:solidFill>
              <a:schemeClr val="tx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algn="ctr"/>
            <a:r>
              <a:rPr lang="en-US" altLang="zh-CN" sz="1400" dirty="0">
                <a:ea typeface="SimHei" panose="02010609060101010101" pitchFamily="49" charset="-122"/>
              </a:rPr>
              <a:t>MEM</a:t>
            </a:r>
            <a:endParaRPr lang="zh-CN" altLang="en-US" sz="1400" dirty="0">
              <a:ea typeface="SimHei" panose="02010609060101010101" pitchFamily="49" charset="-122"/>
            </a:endParaRPr>
          </a:p>
        </p:txBody>
      </p:sp>
      <p:sp>
        <p:nvSpPr>
          <p:cNvPr id="15" name="Rectangle 7">
            <a:extLst>
              <a:ext uri="{FF2B5EF4-FFF2-40B4-BE49-F238E27FC236}">
                <a16:creationId xmlns:a16="http://schemas.microsoft.com/office/drawing/2014/main" id="{3A686DA2-61F9-FFDA-7A43-88C81DF240C7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48631" y="5219208"/>
            <a:ext cx="846387" cy="343305"/>
          </a:xfrm>
          <a:prstGeom prst="rect">
            <a:avLst/>
          </a:prstGeom>
          <a:noFill/>
          <a:ln w="25400">
            <a:solidFill>
              <a:schemeClr val="tx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algn="ctr"/>
            <a:r>
              <a:rPr lang="en-US" altLang="zh-CN" sz="1400" dirty="0">
                <a:ea typeface="SimHei" panose="02010609060101010101" pitchFamily="49" charset="-122"/>
              </a:rPr>
              <a:t>WB</a:t>
            </a:r>
            <a:endParaRPr lang="zh-CN" altLang="en-US" sz="1400" dirty="0">
              <a:ea typeface="SimHei" panose="02010609060101010101" pitchFamily="49" charset="-122"/>
            </a:endParaRPr>
          </a:p>
        </p:txBody>
      </p:sp>
      <p:sp>
        <p:nvSpPr>
          <p:cNvPr id="16" name="Rectangle 21">
            <a:extLst>
              <a:ext uri="{FF2B5EF4-FFF2-40B4-BE49-F238E27FC236}">
                <a16:creationId xmlns:a16="http://schemas.microsoft.com/office/drawing/2014/main" id="{D6DFBA8A-B92B-B642-0BF3-B0E47479968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37846" y="5936809"/>
            <a:ext cx="710102" cy="30519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73" tIns="44442" rIns="90473" bIns="44442">
            <a:spAutoFit/>
          </a:bodyPr>
          <a:lstStyle/>
          <a:p>
            <a:r>
              <a:rPr lang="en-US" altLang="en-US" sz="1400" dirty="0">
                <a:latin typeface="Arial" pitchFamily="34" charset="0"/>
                <a:ea typeface="SimHei" panose="02010609060101010101" pitchFamily="49" charset="-122"/>
              </a:rPr>
              <a:t>R-type</a:t>
            </a:r>
          </a:p>
        </p:txBody>
      </p:sp>
      <p:sp>
        <p:nvSpPr>
          <p:cNvPr id="17" name="Rectangle 22">
            <a:extLst>
              <a:ext uri="{FF2B5EF4-FFF2-40B4-BE49-F238E27FC236}">
                <a16:creationId xmlns:a16="http://schemas.microsoft.com/office/drawing/2014/main" id="{96489332-21E2-8DC4-FBBB-A108BAB887E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4870" y="5614376"/>
            <a:ext cx="279374" cy="30234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73" tIns="44442" rIns="90473" bIns="44442">
            <a:spAutoFit/>
          </a:bodyPr>
          <a:lstStyle/>
          <a:p>
            <a:r>
              <a:rPr lang="en-US" altLang="en-US" sz="1400" dirty="0">
                <a:latin typeface="Arial" pitchFamily="34" charset="0"/>
                <a:ea typeface="SimHei" panose="02010609060101010101" pitchFamily="49" charset="-122"/>
              </a:rPr>
              <a:t>1</a:t>
            </a:r>
          </a:p>
        </p:txBody>
      </p:sp>
      <p:sp>
        <p:nvSpPr>
          <p:cNvPr id="18" name="Rectangle 23">
            <a:extLst>
              <a:ext uri="{FF2B5EF4-FFF2-40B4-BE49-F238E27FC236}">
                <a16:creationId xmlns:a16="http://schemas.microsoft.com/office/drawing/2014/main" id="{92CF58D7-3F1A-8BD3-D8F8-63FE3346C647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24554" y="5614376"/>
            <a:ext cx="279374" cy="30234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73" tIns="44442" rIns="90473" bIns="44442">
            <a:spAutoFit/>
          </a:bodyPr>
          <a:lstStyle/>
          <a:p>
            <a:r>
              <a:rPr lang="en-US" altLang="en-US" sz="1400" dirty="0">
                <a:latin typeface="Arial" pitchFamily="34" charset="0"/>
                <a:ea typeface="SimHei" panose="02010609060101010101" pitchFamily="49" charset="-122"/>
              </a:rPr>
              <a:t>2</a:t>
            </a:r>
          </a:p>
        </p:txBody>
      </p:sp>
      <p:sp>
        <p:nvSpPr>
          <p:cNvPr id="19" name="Rectangle 24">
            <a:extLst>
              <a:ext uri="{FF2B5EF4-FFF2-40B4-BE49-F238E27FC236}">
                <a16:creationId xmlns:a16="http://schemas.microsoft.com/office/drawing/2014/main" id="{C2279F6E-8425-0293-7004-16A2BFC05187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74238" y="5614376"/>
            <a:ext cx="279374" cy="30234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73" tIns="44442" rIns="90473" bIns="44442">
            <a:spAutoFit/>
          </a:bodyPr>
          <a:lstStyle/>
          <a:p>
            <a:r>
              <a:rPr lang="en-US" altLang="en-US" sz="1400" dirty="0">
                <a:latin typeface="Arial" pitchFamily="34" charset="0"/>
                <a:ea typeface="SimHei" panose="02010609060101010101" pitchFamily="49" charset="-122"/>
              </a:rPr>
              <a:t>3</a:t>
            </a:r>
          </a:p>
        </p:txBody>
      </p:sp>
      <p:sp>
        <p:nvSpPr>
          <p:cNvPr id="20" name="Rectangle 25">
            <a:extLst>
              <a:ext uri="{FF2B5EF4-FFF2-40B4-BE49-F238E27FC236}">
                <a16:creationId xmlns:a16="http://schemas.microsoft.com/office/drawing/2014/main" id="{5803EADA-3E48-2A05-F70C-67F87D1D0F41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23922" y="5614376"/>
            <a:ext cx="279374" cy="30234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73" tIns="44442" rIns="90473" bIns="44442">
            <a:spAutoFit/>
          </a:bodyPr>
          <a:lstStyle/>
          <a:p>
            <a:r>
              <a:rPr lang="en-US" altLang="en-US" sz="1400" dirty="0">
                <a:latin typeface="Arial" pitchFamily="34" charset="0"/>
                <a:ea typeface="SimHei" panose="02010609060101010101" pitchFamily="49" charset="-122"/>
              </a:rPr>
              <a:t>4</a:t>
            </a:r>
          </a:p>
        </p:txBody>
      </p:sp>
      <p:sp>
        <p:nvSpPr>
          <p:cNvPr id="21" name="Rectangle 7">
            <a:extLst>
              <a:ext uri="{FF2B5EF4-FFF2-40B4-BE49-F238E27FC236}">
                <a16:creationId xmlns:a16="http://schemas.microsoft.com/office/drawing/2014/main" id="{04689A35-21B0-55AA-72A5-DEC4E4DA2F9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00740" y="5918566"/>
            <a:ext cx="846387" cy="343305"/>
          </a:xfrm>
          <a:prstGeom prst="rect">
            <a:avLst/>
          </a:prstGeom>
          <a:noFill/>
          <a:ln w="25400">
            <a:solidFill>
              <a:schemeClr val="tx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algn="ctr"/>
            <a:r>
              <a:rPr lang="en-US" altLang="zh-CN" sz="1400" dirty="0">
                <a:ea typeface="SimHei" panose="02010609060101010101" pitchFamily="49" charset="-122"/>
              </a:rPr>
              <a:t>IF</a:t>
            </a:r>
            <a:endParaRPr lang="zh-CN" altLang="en-US" sz="1400" dirty="0">
              <a:ea typeface="SimHei" panose="02010609060101010101" pitchFamily="49" charset="-122"/>
            </a:endParaRPr>
          </a:p>
        </p:txBody>
      </p:sp>
      <p:sp>
        <p:nvSpPr>
          <p:cNvPr id="22" name="Rectangle 7">
            <a:extLst>
              <a:ext uri="{FF2B5EF4-FFF2-40B4-BE49-F238E27FC236}">
                <a16:creationId xmlns:a16="http://schemas.microsoft.com/office/drawing/2014/main" id="{F8631316-F2FA-EE3D-D2A7-F951A86F9E5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50944" y="5918566"/>
            <a:ext cx="846387" cy="343305"/>
          </a:xfrm>
          <a:prstGeom prst="rect">
            <a:avLst/>
          </a:prstGeom>
          <a:noFill/>
          <a:ln w="25400">
            <a:solidFill>
              <a:schemeClr val="tx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algn="ctr"/>
            <a:r>
              <a:rPr lang="en-US" altLang="zh-CN" sz="1400" dirty="0">
                <a:ea typeface="SimHei" panose="02010609060101010101" pitchFamily="49" charset="-122"/>
              </a:rPr>
              <a:t>ID/Reg</a:t>
            </a:r>
            <a:endParaRPr lang="zh-CN" altLang="en-US" sz="1400" dirty="0">
              <a:ea typeface="SimHei" panose="02010609060101010101" pitchFamily="49" charset="-122"/>
            </a:endParaRPr>
          </a:p>
        </p:txBody>
      </p:sp>
      <p:sp>
        <p:nvSpPr>
          <p:cNvPr id="23" name="Rectangle 7">
            <a:extLst>
              <a:ext uri="{FF2B5EF4-FFF2-40B4-BE49-F238E27FC236}">
                <a16:creationId xmlns:a16="http://schemas.microsoft.com/office/drawing/2014/main" id="{CFD5D606-A4B6-F114-E245-CDB0FF13FF7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97329" y="5918566"/>
            <a:ext cx="846387" cy="343305"/>
          </a:xfrm>
          <a:prstGeom prst="rect">
            <a:avLst/>
          </a:prstGeom>
          <a:noFill/>
          <a:ln w="25400">
            <a:solidFill>
              <a:schemeClr val="tx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algn="ctr"/>
            <a:r>
              <a:rPr lang="en-US" altLang="zh-CN" sz="1400" dirty="0">
                <a:ea typeface="SimHei" panose="02010609060101010101" pitchFamily="49" charset="-122"/>
              </a:rPr>
              <a:t>EX</a:t>
            </a:r>
            <a:endParaRPr lang="zh-CN" altLang="en-US" sz="1400" dirty="0">
              <a:ea typeface="SimHei" panose="02010609060101010101" pitchFamily="49" charset="-122"/>
            </a:endParaRPr>
          </a:p>
        </p:txBody>
      </p:sp>
      <p:sp>
        <p:nvSpPr>
          <p:cNvPr id="24" name="Rectangle 7">
            <a:extLst>
              <a:ext uri="{FF2B5EF4-FFF2-40B4-BE49-F238E27FC236}">
                <a16:creationId xmlns:a16="http://schemas.microsoft.com/office/drawing/2014/main" id="{830E970C-C67D-9E46-8BA8-B11DF0335105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43714" y="5918566"/>
            <a:ext cx="846387" cy="343305"/>
          </a:xfrm>
          <a:prstGeom prst="rect">
            <a:avLst/>
          </a:prstGeom>
          <a:solidFill>
            <a:srgbClr val="D9D9D9"/>
          </a:solidFill>
          <a:ln w="25400">
            <a:solidFill>
              <a:schemeClr val="tx1"/>
            </a:solidFill>
            <a:miter lim="800000"/>
            <a:headEnd/>
            <a:tailEnd/>
          </a:ln>
          <a:effectLst/>
        </p:spPr>
        <p:txBody>
          <a:bodyPr wrap="none" anchor="ctr"/>
          <a:lstStyle/>
          <a:p>
            <a:pPr algn="ctr"/>
            <a:r>
              <a:rPr lang="en-US" altLang="zh-CN" sz="1400" dirty="0">
                <a:solidFill>
                  <a:schemeClr val="bg1">
                    <a:lumMod val="65000"/>
                  </a:schemeClr>
                </a:solidFill>
                <a:ea typeface="SimHei" panose="02010609060101010101" pitchFamily="49" charset="-122"/>
              </a:rPr>
              <a:t>MEM</a:t>
            </a:r>
            <a:endParaRPr lang="zh-CN" altLang="en-US" sz="1400" dirty="0">
              <a:solidFill>
                <a:schemeClr val="bg1">
                  <a:lumMod val="65000"/>
                </a:schemeClr>
              </a:solidFill>
              <a:ea typeface="SimHei" panose="02010609060101010101" pitchFamily="49" charset="-122"/>
            </a:endParaRPr>
          </a:p>
        </p:txBody>
      </p:sp>
      <p:sp>
        <p:nvSpPr>
          <p:cNvPr id="25" name="Rectangle 7">
            <a:extLst>
              <a:ext uri="{FF2B5EF4-FFF2-40B4-BE49-F238E27FC236}">
                <a16:creationId xmlns:a16="http://schemas.microsoft.com/office/drawing/2014/main" id="{CFF8F003-B315-1DB5-1853-292391E95B3D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83500" y="5918566"/>
            <a:ext cx="846387" cy="343305"/>
          </a:xfrm>
          <a:prstGeom prst="rect">
            <a:avLst/>
          </a:prstGeom>
          <a:noFill/>
          <a:ln w="25400">
            <a:solidFill>
              <a:schemeClr val="tx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algn="ctr"/>
            <a:r>
              <a:rPr lang="en-US" altLang="zh-CN" sz="1400" dirty="0">
                <a:ea typeface="SimHei" panose="02010609060101010101" pitchFamily="49" charset="-122"/>
              </a:rPr>
              <a:t>WB</a:t>
            </a:r>
            <a:endParaRPr lang="zh-CN" altLang="en-US" sz="1400" dirty="0">
              <a:ea typeface="SimHei" panose="02010609060101010101" pitchFamily="49" charset="-122"/>
            </a:endParaRPr>
          </a:p>
        </p:txBody>
      </p:sp>
      <p:sp>
        <p:nvSpPr>
          <p:cNvPr id="26" name="Rectangle 25">
            <a:extLst>
              <a:ext uri="{FF2B5EF4-FFF2-40B4-BE49-F238E27FC236}">
                <a16:creationId xmlns:a16="http://schemas.microsoft.com/office/drawing/2014/main" id="{3B08A3B6-0EC1-7DF6-3547-E67AD338132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73606" y="5612949"/>
            <a:ext cx="282099" cy="30519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73" tIns="44442" rIns="90473" bIns="44442">
            <a:spAutoFit/>
          </a:bodyPr>
          <a:lstStyle/>
          <a:p>
            <a:r>
              <a:rPr lang="en-US" altLang="en-US" sz="1400" dirty="0">
                <a:latin typeface="Arial" pitchFamily="34" charset="0"/>
                <a:ea typeface="SimHei" panose="02010609060101010101" pitchFamily="49" charset="-122"/>
              </a:rPr>
              <a:t>5</a:t>
            </a:r>
          </a:p>
        </p:txBody>
      </p:sp>
    </p:spTree>
    <p:extLst>
      <p:ext uri="{BB962C8B-B14F-4D97-AF65-F5344CB8AC3E}">
        <p14:creationId xmlns:p14="http://schemas.microsoft.com/office/powerpoint/2010/main" val="528684258"/>
      </p:ext>
    </p:extLst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>
            <a:extLst>
              <a:ext uri="{FF2B5EF4-FFF2-40B4-BE49-F238E27FC236}">
                <a16:creationId xmlns:a16="http://schemas.microsoft.com/office/drawing/2014/main" id="{B7DACDB9-4EB8-4A55-BA79-D03025A18AFF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dirty="0"/>
              <a:t>回顾：结构冒险</a:t>
            </a:r>
          </a:p>
        </p:txBody>
      </p:sp>
      <p:sp>
        <p:nvSpPr>
          <p:cNvPr id="3" name="内容占位符 2">
            <a:extLst>
              <a:ext uri="{FF2B5EF4-FFF2-40B4-BE49-F238E27FC236}">
                <a16:creationId xmlns:a16="http://schemas.microsoft.com/office/drawing/2014/main" id="{39096BEC-CE80-44AF-BF77-6012CC1974A8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r>
              <a:rPr lang="zh-CN" altLang="en-US" dirty="0"/>
              <a:t>增加硬件资源：</a:t>
            </a:r>
            <a:endParaRPr lang="en-US" altLang="zh-CN" dirty="0"/>
          </a:p>
        </p:txBody>
      </p:sp>
      <p:sp>
        <p:nvSpPr>
          <p:cNvPr id="4" name="灯片编号占位符 3">
            <a:extLst>
              <a:ext uri="{FF2B5EF4-FFF2-40B4-BE49-F238E27FC236}">
                <a16:creationId xmlns:a16="http://schemas.microsoft.com/office/drawing/2014/main" id="{BFE2C79C-6BF9-4339-80D5-745D9B1A33E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0626FCE3-5FF9-430D-BA0B-DE80AAE71673}" type="slidenum">
              <a:rPr lang="zh-CN" altLang="en-US" smtClean="0"/>
              <a:t>11</a:t>
            </a:fld>
            <a:endParaRPr lang="zh-CN" altLang="en-US"/>
          </a:p>
        </p:txBody>
      </p:sp>
      <p:sp>
        <p:nvSpPr>
          <p:cNvPr id="6" name="文本框 5">
            <a:extLst>
              <a:ext uri="{FF2B5EF4-FFF2-40B4-BE49-F238E27FC236}">
                <a16:creationId xmlns:a16="http://schemas.microsoft.com/office/drawing/2014/main" id="{C5C63D33-B3C6-6C22-C1B9-0DE145B888D8}"/>
              </a:ext>
            </a:extLst>
          </p:cNvPr>
          <p:cNvSpPr txBox="1"/>
          <p:nvPr/>
        </p:nvSpPr>
        <p:spPr>
          <a:xfrm>
            <a:off x="3473590" y="1084888"/>
            <a:ext cx="4572000" cy="132343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altLang="zh-CN" sz="2000" dirty="0" err="1">
                <a:solidFill>
                  <a:srgbClr val="F28032"/>
                </a:solidFill>
                <a:ea typeface="SimHei" panose="02010609060101010101" pitchFamily="49" charset="-122"/>
              </a:rPr>
              <a:t>ALUOut</a:t>
            </a:r>
            <a:r>
              <a:rPr lang="zh-CN" altLang="en-US" sz="2000" dirty="0">
                <a:solidFill>
                  <a:srgbClr val="F28032"/>
                </a:solidFill>
                <a:ea typeface="SimHei" panose="02010609060101010101" pitchFamily="49" charset="-122"/>
              </a:rPr>
              <a:t>计算分解为</a:t>
            </a:r>
            <a:r>
              <a:rPr lang="en-US" altLang="zh-CN" sz="2000" dirty="0">
                <a:solidFill>
                  <a:srgbClr val="F28032"/>
                </a:solidFill>
                <a:ea typeface="SimHei" panose="02010609060101010101" pitchFamily="49" charset="-122"/>
              </a:rPr>
              <a:t>ALU</a:t>
            </a:r>
            <a:r>
              <a:rPr lang="zh-CN" altLang="en-US" sz="2000" dirty="0">
                <a:solidFill>
                  <a:srgbClr val="F28032"/>
                </a:solidFill>
                <a:ea typeface="SimHei" panose="02010609060101010101" pitchFamily="49" charset="-122"/>
              </a:rPr>
              <a:t>和</a:t>
            </a:r>
            <a:r>
              <a:rPr lang="en-US" altLang="zh-CN" sz="2000" dirty="0" err="1">
                <a:solidFill>
                  <a:srgbClr val="F28032"/>
                </a:solidFill>
                <a:ea typeface="SimHei" panose="02010609060101010101" pitchFamily="49" charset="-122"/>
              </a:rPr>
              <a:t>PCAdd</a:t>
            </a:r>
            <a:endParaRPr lang="en-US" altLang="zh-CN" sz="2000" dirty="0">
              <a:solidFill>
                <a:srgbClr val="F28032"/>
              </a:solidFill>
              <a:ea typeface="SimHei" panose="02010609060101010101" pitchFamily="49" charset="-122"/>
            </a:endParaRP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zh-CN" altLang="en-US" sz="2000" dirty="0">
                <a:solidFill>
                  <a:srgbClr val="00B050"/>
                </a:solidFill>
                <a:ea typeface="SimHei" panose="02010609060101010101" pitchFamily="49" charset="-122"/>
              </a:rPr>
              <a:t>额外的加法器用于</a:t>
            </a:r>
            <a:r>
              <a:rPr lang="en-US" altLang="zh-CN" sz="2000" dirty="0">
                <a:solidFill>
                  <a:srgbClr val="00B050"/>
                </a:solidFill>
                <a:ea typeface="SimHei" panose="02010609060101010101" pitchFamily="49" charset="-122"/>
              </a:rPr>
              <a:t>PC+4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zh-CN" altLang="en-US" sz="2000" dirty="0">
                <a:solidFill>
                  <a:schemeClr val="accent2">
                    <a:lumMod val="60000"/>
                    <a:lumOff val="40000"/>
                  </a:schemeClr>
                </a:solidFill>
                <a:ea typeface="SimHei" panose="02010609060101010101" pitchFamily="49" charset="-122"/>
              </a:rPr>
              <a:t>分离的指令</a:t>
            </a:r>
            <a:r>
              <a:rPr lang="en-US" altLang="zh-CN" sz="2000" dirty="0">
                <a:solidFill>
                  <a:schemeClr val="accent2">
                    <a:lumMod val="60000"/>
                    <a:lumOff val="40000"/>
                  </a:schemeClr>
                </a:solidFill>
                <a:ea typeface="SimHei" panose="02010609060101010101" pitchFamily="49" charset="-122"/>
              </a:rPr>
              <a:t>/</a:t>
            </a:r>
            <a:r>
              <a:rPr lang="zh-CN" altLang="en-US" sz="2000" dirty="0">
                <a:solidFill>
                  <a:schemeClr val="accent2">
                    <a:lumMod val="60000"/>
                    <a:lumOff val="40000"/>
                  </a:schemeClr>
                </a:solidFill>
                <a:ea typeface="SimHei" panose="02010609060101010101" pitchFamily="49" charset="-122"/>
              </a:rPr>
              <a:t>数据存储器</a:t>
            </a:r>
            <a:r>
              <a:rPr lang="en-US" altLang="zh-CN" sz="2000" dirty="0">
                <a:solidFill>
                  <a:schemeClr val="accent2">
                    <a:lumMod val="60000"/>
                    <a:lumOff val="40000"/>
                  </a:schemeClr>
                </a:solidFill>
                <a:ea typeface="SimHei" panose="02010609060101010101" pitchFamily="49" charset="-122"/>
              </a:rPr>
              <a:t> 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altLang="zh-CN" sz="2000" dirty="0">
                <a:solidFill>
                  <a:srgbClr val="C00000"/>
                </a:solidFill>
                <a:ea typeface="SimHei" panose="02010609060101010101" pitchFamily="49" charset="-122"/>
              </a:rPr>
              <a:t>R</a:t>
            </a:r>
            <a:r>
              <a:rPr lang="zh-CN" altLang="en-US" sz="2000" dirty="0">
                <a:solidFill>
                  <a:srgbClr val="C00000"/>
                </a:solidFill>
                <a:ea typeface="SimHei" panose="02010609060101010101" pitchFamily="49" charset="-122"/>
              </a:rPr>
              <a:t>型指令</a:t>
            </a:r>
            <a:r>
              <a:rPr lang="en-US" altLang="zh-CN" sz="2000" dirty="0">
                <a:solidFill>
                  <a:srgbClr val="C00000"/>
                </a:solidFill>
                <a:ea typeface="SimHei" panose="02010609060101010101" pitchFamily="49" charset="-122"/>
              </a:rPr>
              <a:t>WB</a:t>
            </a:r>
            <a:r>
              <a:rPr lang="zh-CN" altLang="en-US" sz="2000" dirty="0">
                <a:solidFill>
                  <a:srgbClr val="C00000"/>
                </a:solidFill>
                <a:ea typeface="SimHei" panose="02010609060101010101" pitchFamily="49" charset="-122"/>
              </a:rPr>
              <a:t>延迟一级</a:t>
            </a:r>
          </a:p>
        </p:txBody>
      </p:sp>
      <p:grpSp>
        <p:nvGrpSpPr>
          <p:cNvPr id="134" name="组合 133">
            <a:extLst>
              <a:ext uri="{FF2B5EF4-FFF2-40B4-BE49-F238E27FC236}">
                <a16:creationId xmlns:a16="http://schemas.microsoft.com/office/drawing/2014/main" id="{662A0333-F615-951B-B337-D8B2DE6808E2}"/>
              </a:ext>
            </a:extLst>
          </p:cNvPr>
          <p:cNvGrpSpPr/>
          <p:nvPr/>
        </p:nvGrpSpPr>
        <p:grpSpPr>
          <a:xfrm>
            <a:off x="254000" y="2260386"/>
            <a:ext cx="8618119" cy="4511038"/>
            <a:chOff x="262940" y="2123762"/>
            <a:chExt cx="8618119" cy="4511038"/>
          </a:xfrm>
        </p:grpSpPr>
        <p:sp>
          <p:nvSpPr>
            <p:cNvPr id="132" name="任意多边形: 形状 131">
              <a:extLst>
                <a:ext uri="{FF2B5EF4-FFF2-40B4-BE49-F238E27FC236}">
                  <a16:creationId xmlns:a16="http://schemas.microsoft.com/office/drawing/2014/main" id="{82E670E0-D286-89A5-FDE4-662DE60D84B4}"/>
                </a:ext>
              </a:extLst>
            </p:cNvPr>
            <p:cNvSpPr/>
            <p:nvPr/>
          </p:nvSpPr>
          <p:spPr>
            <a:xfrm>
              <a:off x="5719641" y="3235499"/>
              <a:ext cx="372209" cy="842010"/>
            </a:xfrm>
            <a:custGeom>
              <a:avLst/>
              <a:gdLst>
                <a:gd name="connsiteX0" fmla="*/ 9525 w 386715"/>
                <a:gd name="connsiteY0" fmla="*/ 0 h 830580"/>
                <a:gd name="connsiteX1" fmla="*/ 386715 w 386715"/>
                <a:gd name="connsiteY1" fmla="*/ 245745 h 830580"/>
                <a:gd name="connsiteX2" fmla="*/ 384810 w 386715"/>
                <a:gd name="connsiteY2" fmla="*/ 579120 h 830580"/>
                <a:gd name="connsiteX3" fmla="*/ 0 w 386715"/>
                <a:gd name="connsiteY3" fmla="*/ 830580 h 830580"/>
                <a:gd name="connsiteX4" fmla="*/ 3810 w 386715"/>
                <a:gd name="connsiteY4" fmla="*/ 497205 h 830580"/>
                <a:gd name="connsiteX5" fmla="*/ 70485 w 386715"/>
                <a:gd name="connsiteY5" fmla="*/ 409575 h 830580"/>
                <a:gd name="connsiteX6" fmla="*/ 3810 w 386715"/>
                <a:gd name="connsiteY6" fmla="*/ 320040 h 830580"/>
                <a:gd name="connsiteX7" fmla="*/ 9525 w 386715"/>
                <a:gd name="connsiteY7" fmla="*/ 0 h 830580"/>
                <a:gd name="connsiteX0" fmla="*/ 9525 w 386715"/>
                <a:gd name="connsiteY0" fmla="*/ 0 h 830580"/>
                <a:gd name="connsiteX1" fmla="*/ 386715 w 386715"/>
                <a:gd name="connsiteY1" fmla="*/ 245745 h 830580"/>
                <a:gd name="connsiteX2" fmla="*/ 384810 w 386715"/>
                <a:gd name="connsiteY2" fmla="*/ 579120 h 830580"/>
                <a:gd name="connsiteX3" fmla="*/ 0 w 386715"/>
                <a:gd name="connsiteY3" fmla="*/ 830580 h 830580"/>
                <a:gd name="connsiteX4" fmla="*/ 3810 w 386715"/>
                <a:gd name="connsiteY4" fmla="*/ 497205 h 830580"/>
                <a:gd name="connsiteX5" fmla="*/ 70485 w 386715"/>
                <a:gd name="connsiteY5" fmla="*/ 409575 h 830580"/>
                <a:gd name="connsiteX6" fmla="*/ 7620 w 386715"/>
                <a:gd name="connsiteY6" fmla="*/ 318135 h 830580"/>
                <a:gd name="connsiteX7" fmla="*/ 9525 w 386715"/>
                <a:gd name="connsiteY7" fmla="*/ 0 h 830580"/>
                <a:gd name="connsiteX0" fmla="*/ 9525 w 386715"/>
                <a:gd name="connsiteY0" fmla="*/ 0 h 830580"/>
                <a:gd name="connsiteX1" fmla="*/ 386715 w 386715"/>
                <a:gd name="connsiteY1" fmla="*/ 245745 h 830580"/>
                <a:gd name="connsiteX2" fmla="*/ 384810 w 386715"/>
                <a:gd name="connsiteY2" fmla="*/ 579120 h 830580"/>
                <a:gd name="connsiteX3" fmla="*/ 0 w 386715"/>
                <a:gd name="connsiteY3" fmla="*/ 830580 h 830580"/>
                <a:gd name="connsiteX4" fmla="*/ 0 w 386715"/>
                <a:gd name="connsiteY4" fmla="*/ 508635 h 830580"/>
                <a:gd name="connsiteX5" fmla="*/ 70485 w 386715"/>
                <a:gd name="connsiteY5" fmla="*/ 409575 h 830580"/>
                <a:gd name="connsiteX6" fmla="*/ 7620 w 386715"/>
                <a:gd name="connsiteY6" fmla="*/ 318135 h 830580"/>
                <a:gd name="connsiteX7" fmla="*/ 9525 w 386715"/>
                <a:gd name="connsiteY7" fmla="*/ 0 h 830580"/>
                <a:gd name="connsiteX0" fmla="*/ 1905 w 386715"/>
                <a:gd name="connsiteY0" fmla="*/ 0 h 842010"/>
                <a:gd name="connsiteX1" fmla="*/ 386715 w 386715"/>
                <a:gd name="connsiteY1" fmla="*/ 257175 h 842010"/>
                <a:gd name="connsiteX2" fmla="*/ 384810 w 386715"/>
                <a:gd name="connsiteY2" fmla="*/ 590550 h 842010"/>
                <a:gd name="connsiteX3" fmla="*/ 0 w 386715"/>
                <a:gd name="connsiteY3" fmla="*/ 842010 h 842010"/>
                <a:gd name="connsiteX4" fmla="*/ 0 w 386715"/>
                <a:gd name="connsiteY4" fmla="*/ 520065 h 842010"/>
                <a:gd name="connsiteX5" fmla="*/ 70485 w 386715"/>
                <a:gd name="connsiteY5" fmla="*/ 421005 h 842010"/>
                <a:gd name="connsiteX6" fmla="*/ 7620 w 386715"/>
                <a:gd name="connsiteY6" fmla="*/ 329565 h 842010"/>
                <a:gd name="connsiteX7" fmla="*/ 1905 w 386715"/>
                <a:gd name="connsiteY7" fmla="*/ 0 h 842010"/>
                <a:gd name="connsiteX0" fmla="*/ 5715 w 390525"/>
                <a:gd name="connsiteY0" fmla="*/ 0 h 842010"/>
                <a:gd name="connsiteX1" fmla="*/ 390525 w 390525"/>
                <a:gd name="connsiteY1" fmla="*/ 257175 h 842010"/>
                <a:gd name="connsiteX2" fmla="*/ 388620 w 390525"/>
                <a:gd name="connsiteY2" fmla="*/ 590550 h 842010"/>
                <a:gd name="connsiteX3" fmla="*/ 3810 w 390525"/>
                <a:gd name="connsiteY3" fmla="*/ 842010 h 842010"/>
                <a:gd name="connsiteX4" fmla="*/ 3810 w 390525"/>
                <a:gd name="connsiteY4" fmla="*/ 520065 h 842010"/>
                <a:gd name="connsiteX5" fmla="*/ 74295 w 390525"/>
                <a:gd name="connsiteY5" fmla="*/ 421005 h 842010"/>
                <a:gd name="connsiteX6" fmla="*/ 0 w 390525"/>
                <a:gd name="connsiteY6" fmla="*/ 327660 h 842010"/>
                <a:gd name="connsiteX7" fmla="*/ 5715 w 390525"/>
                <a:gd name="connsiteY7" fmla="*/ 0 h 842010"/>
                <a:gd name="connsiteX0" fmla="*/ 1905 w 386715"/>
                <a:gd name="connsiteY0" fmla="*/ 0 h 842010"/>
                <a:gd name="connsiteX1" fmla="*/ 386715 w 386715"/>
                <a:gd name="connsiteY1" fmla="*/ 257175 h 842010"/>
                <a:gd name="connsiteX2" fmla="*/ 384810 w 386715"/>
                <a:gd name="connsiteY2" fmla="*/ 590550 h 842010"/>
                <a:gd name="connsiteX3" fmla="*/ 0 w 386715"/>
                <a:gd name="connsiteY3" fmla="*/ 842010 h 842010"/>
                <a:gd name="connsiteX4" fmla="*/ 0 w 386715"/>
                <a:gd name="connsiteY4" fmla="*/ 520065 h 842010"/>
                <a:gd name="connsiteX5" fmla="*/ 70485 w 386715"/>
                <a:gd name="connsiteY5" fmla="*/ 421005 h 842010"/>
                <a:gd name="connsiteX6" fmla="*/ 5715 w 386715"/>
                <a:gd name="connsiteY6" fmla="*/ 327660 h 842010"/>
                <a:gd name="connsiteX7" fmla="*/ 1905 w 386715"/>
                <a:gd name="connsiteY7" fmla="*/ 0 h 842010"/>
                <a:gd name="connsiteX0" fmla="*/ 1905 w 386715"/>
                <a:gd name="connsiteY0" fmla="*/ 0 h 842010"/>
                <a:gd name="connsiteX1" fmla="*/ 386715 w 386715"/>
                <a:gd name="connsiteY1" fmla="*/ 257175 h 842010"/>
                <a:gd name="connsiteX2" fmla="*/ 384810 w 386715"/>
                <a:gd name="connsiteY2" fmla="*/ 590550 h 842010"/>
                <a:gd name="connsiteX3" fmla="*/ 0 w 386715"/>
                <a:gd name="connsiteY3" fmla="*/ 842010 h 842010"/>
                <a:gd name="connsiteX4" fmla="*/ 0 w 386715"/>
                <a:gd name="connsiteY4" fmla="*/ 520065 h 842010"/>
                <a:gd name="connsiteX5" fmla="*/ 70485 w 386715"/>
                <a:gd name="connsiteY5" fmla="*/ 421005 h 842010"/>
                <a:gd name="connsiteX6" fmla="*/ 1905 w 386715"/>
                <a:gd name="connsiteY6" fmla="*/ 327660 h 842010"/>
                <a:gd name="connsiteX7" fmla="*/ 1905 w 386715"/>
                <a:gd name="connsiteY7" fmla="*/ 0 h 8420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6715" h="842010">
                  <a:moveTo>
                    <a:pt x="1905" y="0"/>
                  </a:moveTo>
                  <a:lnTo>
                    <a:pt x="386715" y="257175"/>
                  </a:lnTo>
                  <a:lnTo>
                    <a:pt x="384810" y="590550"/>
                  </a:lnTo>
                  <a:lnTo>
                    <a:pt x="0" y="842010"/>
                  </a:lnTo>
                  <a:lnTo>
                    <a:pt x="0" y="520065"/>
                  </a:lnTo>
                  <a:lnTo>
                    <a:pt x="70485" y="421005"/>
                  </a:lnTo>
                  <a:lnTo>
                    <a:pt x="1905" y="327660"/>
                  </a:lnTo>
                  <a:lnTo>
                    <a:pt x="1905" y="0"/>
                  </a:lnTo>
                  <a:close/>
                </a:path>
              </a:pathLst>
            </a:custGeom>
            <a:solidFill>
              <a:srgbClr val="FFCC66"/>
            </a:solidFill>
            <a:ln w="190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dirty="0"/>
            </a:p>
          </p:txBody>
        </p:sp>
        <p:sp>
          <p:nvSpPr>
            <p:cNvPr id="131" name="任意多边形: 形状 130">
              <a:extLst>
                <a:ext uri="{FF2B5EF4-FFF2-40B4-BE49-F238E27FC236}">
                  <a16:creationId xmlns:a16="http://schemas.microsoft.com/office/drawing/2014/main" id="{00E048AF-04AB-11F4-8CD5-03D3A7603FC3}"/>
                </a:ext>
              </a:extLst>
            </p:cNvPr>
            <p:cNvSpPr/>
            <p:nvPr/>
          </p:nvSpPr>
          <p:spPr>
            <a:xfrm>
              <a:off x="1711999" y="3013176"/>
              <a:ext cx="372209" cy="842010"/>
            </a:xfrm>
            <a:custGeom>
              <a:avLst/>
              <a:gdLst>
                <a:gd name="connsiteX0" fmla="*/ 9525 w 386715"/>
                <a:gd name="connsiteY0" fmla="*/ 0 h 830580"/>
                <a:gd name="connsiteX1" fmla="*/ 386715 w 386715"/>
                <a:gd name="connsiteY1" fmla="*/ 245745 h 830580"/>
                <a:gd name="connsiteX2" fmla="*/ 384810 w 386715"/>
                <a:gd name="connsiteY2" fmla="*/ 579120 h 830580"/>
                <a:gd name="connsiteX3" fmla="*/ 0 w 386715"/>
                <a:gd name="connsiteY3" fmla="*/ 830580 h 830580"/>
                <a:gd name="connsiteX4" fmla="*/ 3810 w 386715"/>
                <a:gd name="connsiteY4" fmla="*/ 497205 h 830580"/>
                <a:gd name="connsiteX5" fmla="*/ 70485 w 386715"/>
                <a:gd name="connsiteY5" fmla="*/ 409575 h 830580"/>
                <a:gd name="connsiteX6" fmla="*/ 3810 w 386715"/>
                <a:gd name="connsiteY6" fmla="*/ 320040 h 830580"/>
                <a:gd name="connsiteX7" fmla="*/ 9525 w 386715"/>
                <a:gd name="connsiteY7" fmla="*/ 0 h 830580"/>
                <a:gd name="connsiteX0" fmla="*/ 9525 w 386715"/>
                <a:gd name="connsiteY0" fmla="*/ 0 h 830580"/>
                <a:gd name="connsiteX1" fmla="*/ 386715 w 386715"/>
                <a:gd name="connsiteY1" fmla="*/ 245745 h 830580"/>
                <a:gd name="connsiteX2" fmla="*/ 384810 w 386715"/>
                <a:gd name="connsiteY2" fmla="*/ 579120 h 830580"/>
                <a:gd name="connsiteX3" fmla="*/ 0 w 386715"/>
                <a:gd name="connsiteY3" fmla="*/ 830580 h 830580"/>
                <a:gd name="connsiteX4" fmla="*/ 3810 w 386715"/>
                <a:gd name="connsiteY4" fmla="*/ 497205 h 830580"/>
                <a:gd name="connsiteX5" fmla="*/ 70485 w 386715"/>
                <a:gd name="connsiteY5" fmla="*/ 409575 h 830580"/>
                <a:gd name="connsiteX6" fmla="*/ 7620 w 386715"/>
                <a:gd name="connsiteY6" fmla="*/ 318135 h 830580"/>
                <a:gd name="connsiteX7" fmla="*/ 9525 w 386715"/>
                <a:gd name="connsiteY7" fmla="*/ 0 h 830580"/>
                <a:gd name="connsiteX0" fmla="*/ 9525 w 386715"/>
                <a:gd name="connsiteY0" fmla="*/ 0 h 830580"/>
                <a:gd name="connsiteX1" fmla="*/ 386715 w 386715"/>
                <a:gd name="connsiteY1" fmla="*/ 245745 h 830580"/>
                <a:gd name="connsiteX2" fmla="*/ 384810 w 386715"/>
                <a:gd name="connsiteY2" fmla="*/ 579120 h 830580"/>
                <a:gd name="connsiteX3" fmla="*/ 0 w 386715"/>
                <a:gd name="connsiteY3" fmla="*/ 830580 h 830580"/>
                <a:gd name="connsiteX4" fmla="*/ 0 w 386715"/>
                <a:gd name="connsiteY4" fmla="*/ 508635 h 830580"/>
                <a:gd name="connsiteX5" fmla="*/ 70485 w 386715"/>
                <a:gd name="connsiteY5" fmla="*/ 409575 h 830580"/>
                <a:gd name="connsiteX6" fmla="*/ 7620 w 386715"/>
                <a:gd name="connsiteY6" fmla="*/ 318135 h 830580"/>
                <a:gd name="connsiteX7" fmla="*/ 9525 w 386715"/>
                <a:gd name="connsiteY7" fmla="*/ 0 h 830580"/>
                <a:gd name="connsiteX0" fmla="*/ 1905 w 386715"/>
                <a:gd name="connsiteY0" fmla="*/ 0 h 842010"/>
                <a:gd name="connsiteX1" fmla="*/ 386715 w 386715"/>
                <a:gd name="connsiteY1" fmla="*/ 257175 h 842010"/>
                <a:gd name="connsiteX2" fmla="*/ 384810 w 386715"/>
                <a:gd name="connsiteY2" fmla="*/ 590550 h 842010"/>
                <a:gd name="connsiteX3" fmla="*/ 0 w 386715"/>
                <a:gd name="connsiteY3" fmla="*/ 842010 h 842010"/>
                <a:gd name="connsiteX4" fmla="*/ 0 w 386715"/>
                <a:gd name="connsiteY4" fmla="*/ 520065 h 842010"/>
                <a:gd name="connsiteX5" fmla="*/ 70485 w 386715"/>
                <a:gd name="connsiteY5" fmla="*/ 421005 h 842010"/>
                <a:gd name="connsiteX6" fmla="*/ 7620 w 386715"/>
                <a:gd name="connsiteY6" fmla="*/ 329565 h 842010"/>
                <a:gd name="connsiteX7" fmla="*/ 1905 w 386715"/>
                <a:gd name="connsiteY7" fmla="*/ 0 h 842010"/>
                <a:gd name="connsiteX0" fmla="*/ 5715 w 390525"/>
                <a:gd name="connsiteY0" fmla="*/ 0 h 842010"/>
                <a:gd name="connsiteX1" fmla="*/ 390525 w 390525"/>
                <a:gd name="connsiteY1" fmla="*/ 257175 h 842010"/>
                <a:gd name="connsiteX2" fmla="*/ 388620 w 390525"/>
                <a:gd name="connsiteY2" fmla="*/ 590550 h 842010"/>
                <a:gd name="connsiteX3" fmla="*/ 3810 w 390525"/>
                <a:gd name="connsiteY3" fmla="*/ 842010 h 842010"/>
                <a:gd name="connsiteX4" fmla="*/ 3810 w 390525"/>
                <a:gd name="connsiteY4" fmla="*/ 520065 h 842010"/>
                <a:gd name="connsiteX5" fmla="*/ 74295 w 390525"/>
                <a:gd name="connsiteY5" fmla="*/ 421005 h 842010"/>
                <a:gd name="connsiteX6" fmla="*/ 0 w 390525"/>
                <a:gd name="connsiteY6" fmla="*/ 327660 h 842010"/>
                <a:gd name="connsiteX7" fmla="*/ 5715 w 390525"/>
                <a:gd name="connsiteY7" fmla="*/ 0 h 842010"/>
                <a:gd name="connsiteX0" fmla="*/ 1905 w 386715"/>
                <a:gd name="connsiteY0" fmla="*/ 0 h 842010"/>
                <a:gd name="connsiteX1" fmla="*/ 386715 w 386715"/>
                <a:gd name="connsiteY1" fmla="*/ 257175 h 842010"/>
                <a:gd name="connsiteX2" fmla="*/ 384810 w 386715"/>
                <a:gd name="connsiteY2" fmla="*/ 590550 h 842010"/>
                <a:gd name="connsiteX3" fmla="*/ 0 w 386715"/>
                <a:gd name="connsiteY3" fmla="*/ 842010 h 842010"/>
                <a:gd name="connsiteX4" fmla="*/ 0 w 386715"/>
                <a:gd name="connsiteY4" fmla="*/ 520065 h 842010"/>
                <a:gd name="connsiteX5" fmla="*/ 70485 w 386715"/>
                <a:gd name="connsiteY5" fmla="*/ 421005 h 842010"/>
                <a:gd name="connsiteX6" fmla="*/ 5715 w 386715"/>
                <a:gd name="connsiteY6" fmla="*/ 327660 h 842010"/>
                <a:gd name="connsiteX7" fmla="*/ 1905 w 386715"/>
                <a:gd name="connsiteY7" fmla="*/ 0 h 842010"/>
                <a:gd name="connsiteX0" fmla="*/ 1905 w 386715"/>
                <a:gd name="connsiteY0" fmla="*/ 0 h 842010"/>
                <a:gd name="connsiteX1" fmla="*/ 386715 w 386715"/>
                <a:gd name="connsiteY1" fmla="*/ 257175 h 842010"/>
                <a:gd name="connsiteX2" fmla="*/ 384810 w 386715"/>
                <a:gd name="connsiteY2" fmla="*/ 590550 h 842010"/>
                <a:gd name="connsiteX3" fmla="*/ 0 w 386715"/>
                <a:gd name="connsiteY3" fmla="*/ 842010 h 842010"/>
                <a:gd name="connsiteX4" fmla="*/ 0 w 386715"/>
                <a:gd name="connsiteY4" fmla="*/ 520065 h 842010"/>
                <a:gd name="connsiteX5" fmla="*/ 70485 w 386715"/>
                <a:gd name="connsiteY5" fmla="*/ 421005 h 842010"/>
                <a:gd name="connsiteX6" fmla="*/ 1905 w 386715"/>
                <a:gd name="connsiteY6" fmla="*/ 327660 h 842010"/>
                <a:gd name="connsiteX7" fmla="*/ 1905 w 386715"/>
                <a:gd name="connsiteY7" fmla="*/ 0 h 8420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6715" h="842010">
                  <a:moveTo>
                    <a:pt x="1905" y="0"/>
                  </a:moveTo>
                  <a:lnTo>
                    <a:pt x="386715" y="257175"/>
                  </a:lnTo>
                  <a:lnTo>
                    <a:pt x="384810" y="590550"/>
                  </a:lnTo>
                  <a:lnTo>
                    <a:pt x="0" y="842010"/>
                  </a:lnTo>
                  <a:lnTo>
                    <a:pt x="0" y="520065"/>
                  </a:lnTo>
                  <a:lnTo>
                    <a:pt x="70485" y="421005"/>
                  </a:lnTo>
                  <a:lnTo>
                    <a:pt x="1905" y="327660"/>
                  </a:lnTo>
                  <a:lnTo>
                    <a:pt x="1905" y="0"/>
                  </a:lnTo>
                  <a:close/>
                </a:path>
              </a:pathLst>
            </a:custGeom>
            <a:solidFill>
              <a:srgbClr val="92D050"/>
            </a:solidFill>
            <a:ln w="190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dirty="0"/>
            </a:p>
          </p:txBody>
        </p:sp>
        <p:sp>
          <p:nvSpPr>
            <p:cNvPr id="10" name="Line 8">
              <a:extLst>
                <a:ext uri="{FF2B5EF4-FFF2-40B4-BE49-F238E27FC236}">
                  <a16:creationId xmlns:a16="http://schemas.microsoft.com/office/drawing/2014/main" id="{382FC5D9-9988-FF09-2B97-F5B99DF4B0B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770279" y="6012394"/>
              <a:ext cx="1747538" cy="0"/>
            </a:xfrm>
            <a:prstGeom prst="line">
              <a:avLst/>
            </a:prstGeom>
            <a:noFill/>
            <a:ln w="19050">
              <a:solidFill>
                <a:sysClr val="windowText" lastClr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F0502020204030204"/>
                <a:ea typeface="等线" panose="02010600030101010101" pitchFamily="2" charset="-122"/>
              </a:endParaRPr>
            </a:p>
          </p:txBody>
        </p:sp>
        <p:sp>
          <p:nvSpPr>
            <p:cNvPr id="11" name="Line 9">
              <a:extLst>
                <a:ext uri="{FF2B5EF4-FFF2-40B4-BE49-F238E27FC236}">
                  <a16:creationId xmlns:a16="http://schemas.microsoft.com/office/drawing/2014/main" id="{22BFC7DA-C27A-E611-0EAD-452D969E894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69777" y="6012394"/>
              <a:ext cx="262057" cy="0"/>
            </a:xfrm>
            <a:prstGeom prst="line">
              <a:avLst/>
            </a:prstGeom>
            <a:noFill/>
            <a:ln w="19050">
              <a:solidFill>
                <a:sysClr val="windowText" lastClr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F0502020204030204"/>
                <a:ea typeface="等线" panose="02010600030101010101" pitchFamily="2" charset="-122"/>
              </a:endParaRPr>
            </a:p>
          </p:txBody>
        </p:sp>
        <p:sp>
          <p:nvSpPr>
            <p:cNvPr id="12" name="Line 10">
              <a:extLst>
                <a:ext uri="{FF2B5EF4-FFF2-40B4-BE49-F238E27FC236}">
                  <a16:creationId xmlns:a16="http://schemas.microsoft.com/office/drawing/2014/main" id="{DDBDC06C-9FB9-C505-2281-2E0F041AE81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341335" y="6012394"/>
              <a:ext cx="1671558" cy="0"/>
            </a:xfrm>
            <a:prstGeom prst="line">
              <a:avLst/>
            </a:prstGeom>
            <a:noFill/>
            <a:ln w="38100">
              <a:solidFill>
                <a:srgbClr val="C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F0502020204030204"/>
                <a:ea typeface="等线" panose="02010600030101010101" pitchFamily="2" charset="-122"/>
              </a:endParaRPr>
            </a:p>
          </p:txBody>
        </p:sp>
        <p:sp>
          <p:nvSpPr>
            <p:cNvPr id="13" name="Line 11">
              <a:extLst>
                <a:ext uri="{FF2B5EF4-FFF2-40B4-BE49-F238E27FC236}">
                  <a16:creationId xmlns:a16="http://schemas.microsoft.com/office/drawing/2014/main" id="{59C27E6D-1AA2-56A4-FEA7-3F8FAF935B8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770279" y="5734634"/>
              <a:ext cx="0" cy="277759"/>
            </a:xfrm>
            <a:prstGeom prst="line">
              <a:avLst/>
            </a:prstGeom>
            <a:noFill/>
            <a:ln w="19050">
              <a:solidFill>
                <a:sysClr val="windowText" lastClr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F0502020204030204"/>
                <a:ea typeface="等线" panose="02010600030101010101" pitchFamily="2" charset="-122"/>
              </a:endParaRPr>
            </a:p>
          </p:txBody>
        </p:sp>
        <p:sp>
          <p:nvSpPr>
            <p:cNvPr id="14" name="Line 12">
              <a:extLst>
                <a:ext uri="{FF2B5EF4-FFF2-40B4-BE49-F238E27FC236}">
                  <a16:creationId xmlns:a16="http://schemas.microsoft.com/office/drawing/2014/main" id="{1899FD51-2F69-6810-BC0B-29CCB78BD6B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694299" y="6460412"/>
              <a:ext cx="5622515" cy="0"/>
            </a:xfrm>
            <a:prstGeom prst="line">
              <a:avLst/>
            </a:prstGeom>
            <a:noFill/>
            <a:ln w="19050">
              <a:solidFill>
                <a:sysClr val="windowText" lastClr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F0502020204030204"/>
                <a:ea typeface="等线" panose="02010600030101010101" pitchFamily="2" charset="-122"/>
              </a:endParaRPr>
            </a:p>
          </p:txBody>
        </p:sp>
        <p:sp>
          <p:nvSpPr>
            <p:cNvPr id="15" name="Line 13">
              <a:extLst>
                <a:ext uri="{FF2B5EF4-FFF2-40B4-BE49-F238E27FC236}">
                  <a16:creationId xmlns:a16="http://schemas.microsoft.com/office/drawing/2014/main" id="{AF5E8736-B761-4941-2B5A-526B1375DFB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164854" y="6012394"/>
              <a:ext cx="151960" cy="0"/>
            </a:xfrm>
            <a:prstGeom prst="line">
              <a:avLst/>
            </a:prstGeom>
            <a:noFill/>
            <a:ln w="19050">
              <a:solidFill>
                <a:sysClr val="windowText" lastClr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F0502020204030204"/>
                <a:ea typeface="等线" panose="02010600030101010101" pitchFamily="2" charset="-122"/>
              </a:endParaRPr>
            </a:p>
          </p:txBody>
        </p:sp>
        <p:sp>
          <p:nvSpPr>
            <p:cNvPr id="16" name="Line 14">
              <a:extLst>
                <a:ext uri="{FF2B5EF4-FFF2-40B4-BE49-F238E27FC236}">
                  <a16:creationId xmlns:a16="http://schemas.microsoft.com/office/drawing/2014/main" id="{6543BB88-DAB2-D112-D1DE-BE49A08539F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316813" y="6012394"/>
              <a:ext cx="0" cy="448018"/>
            </a:xfrm>
            <a:prstGeom prst="line">
              <a:avLst/>
            </a:prstGeom>
            <a:noFill/>
            <a:ln w="19050">
              <a:solidFill>
                <a:sysClr val="windowText" lastClr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F0502020204030204"/>
                <a:ea typeface="等线" panose="02010600030101010101" pitchFamily="2" charset="-122"/>
              </a:endParaRPr>
            </a:p>
          </p:txBody>
        </p:sp>
        <p:sp>
          <p:nvSpPr>
            <p:cNvPr id="17" name="Line 15">
              <a:extLst>
                <a:ext uri="{FF2B5EF4-FFF2-40B4-BE49-F238E27FC236}">
                  <a16:creationId xmlns:a16="http://schemas.microsoft.com/office/drawing/2014/main" id="{0CF8CFB5-6318-01FA-B091-CB13B4D20F0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694299" y="4818170"/>
              <a:ext cx="0" cy="1642241"/>
            </a:xfrm>
            <a:prstGeom prst="line">
              <a:avLst/>
            </a:prstGeom>
            <a:noFill/>
            <a:ln w="19050">
              <a:solidFill>
                <a:sysClr val="windowText" lastClr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F0502020204030204"/>
                <a:ea typeface="等线" panose="02010600030101010101" pitchFamily="2" charset="-122"/>
              </a:endParaRPr>
            </a:p>
          </p:txBody>
        </p:sp>
        <p:sp>
          <p:nvSpPr>
            <p:cNvPr id="18" name="Line 16">
              <a:extLst>
                <a:ext uri="{FF2B5EF4-FFF2-40B4-BE49-F238E27FC236}">
                  <a16:creationId xmlns:a16="http://schemas.microsoft.com/office/drawing/2014/main" id="{17B31847-4580-1033-8609-2DB79F7F7E2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694299" y="4823633"/>
              <a:ext cx="379900" cy="0"/>
            </a:xfrm>
            <a:prstGeom prst="line">
              <a:avLst/>
            </a:prstGeom>
            <a:noFill/>
            <a:ln w="19050">
              <a:solidFill>
                <a:sysClr val="windowText" lastClr="000000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F0502020204030204"/>
                <a:ea typeface="等线" panose="02010600030101010101" pitchFamily="2" charset="-122"/>
              </a:endParaRPr>
            </a:p>
          </p:txBody>
        </p:sp>
        <p:sp>
          <p:nvSpPr>
            <p:cNvPr id="19" name="Rectangle 25">
              <a:extLst>
                <a:ext uri="{FF2B5EF4-FFF2-40B4-BE49-F238E27FC236}">
                  <a16:creationId xmlns:a16="http://schemas.microsoft.com/office/drawing/2014/main" id="{70683AFB-C983-570F-5C91-E577EBA1B7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22740" y="3929199"/>
              <a:ext cx="1291659" cy="1319357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19050">
              <a:solidFill>
                <a:sysClr val="windowText" lastClr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F0502020204030204"/>
                <a:ea typeface="等线" panose="02010600030101010101" pitchFamily="2" charset="-122"/>
              </a:endParaRPr>
            </a:p>
          </p:txBody>
        </p:sp>
        <p:sp>
          <p:nvSpPr>
            <p:cNvPr id="20" name="Rectangle 26">
              <a:extLst>
                <a:ext uri="{FF2B5EF4-FFF2-40B4-BE49-F238E27FC236}">
                  <a16:creationId xmlns:a16="http://schemas.microsoft.com/office/drawing/2014/main" id="{2663CA36-9B57-F3A9-A86D-30E7C08FDF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4942" y="4276398"/>
              <a:ext cx="243879" cy="763838"/>
            </a:xfrm>
            <a:prstGeom prst="rect">
              <a:avLst/>
            </a:prstGeom>
            <a:noFill/>
            <a:ln w="19050">
              <a:solidFill>
                <a:sysClr val="windowText" lastClr="000000"/>
              </a:solidFill>
              <a:miter lim="800000"/>
              <a:headEnd/>
              <a:tailEnd/>
            </a:ln>
            <a:effectLst/>
          </p:spPr>
          <p:txBody>
            <a:bodyPr wrap="none" lIns="0" rIns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altLang="zh-CN" sz="1400" kern="0" dirty="0">
                  <a:solidFill>
                    <a:prstClr val="black"/>
                  </a:solidFill>
                  <a:latin typeface="+mj-lt"/>
                  <a:ea typeface="等线" panose="02010600030101010101" pitchFamily="2" charset="-122"/>
                </a:rPr>
                <a:t>P</a:t>
              </a:r>
            </a:p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altLang="zh-CN" sz="1400" kern="0" dirty="0">
                  <a:solidFill>
                    <a:prstClr val="black"/>
                  </a:solidFill>
                  <a:latin typeface="+mj-lt"/>
                  <a:ea typeface="等线" panose="02010600030101010101" pitchFamily="2" charset="-122"/>
                </a:rPr>
                <a:t>C</a:t>
              </a:r>
              <a:endParaRPr kumimoji="0" lang="zh-CN" altLang="en-US" sz="14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等线" panose="02010600030101010101" pitchFamily="2" charset="-122"/>
              </a:endParaRPr>
            </a:p>
          </p:txBody>
        </p:sp>
        <p:sp>
          <p:nvSpPr>
            <p:cNvPr id="21" name="Line 27">
              <a:extLst>
                <a:ext uri="{FF2B5EF4-FFF2-40B4-BE49-F238E27FC236}">
                  <a16:creationId xmlns:a16="http://schemas.microsoft.com/office/drawing/2014/main" id="{54D87454-FB81-6E13-73B3-3157AB8FDEF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18821" y="4623597"/>
              <a:ext cx="303920" cy="0"/>
            </a:xfrm>
            <a:prstGeom prst="line">
              <a:avLst/>
            </a:prstGeom>
            <a:noFill/>
            <a:ln w="19050">
              <a:solidFill>
                <a:sysClr val="windowText" lastClr="000000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F0502020204030204"/>
                <a:ea typeface="等线" panose="02010600030101010101" pitchFamily="2" charset="-122"/>
              </a:endParaRPr>
            </a:p>
          </p:txBody>
        </p:sp>
        <p:sp>
          <p:nvSpPr>
            <p:cNvPr id="22" name="Line 28">
              <a:extLst>
                <a:ext uri="{FF2B5EF4-FFF2-40B4-BE49-F238E27FC236}">
                  <a16:creationId xmlns:a16="http://schemas.microsoft.com/office/drawing/2014/main" id="{0894F9FB-947E-9985-15DF-D38F56999F1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40328" y="3165361"/>
              <a:ext cx="866232" cy="0"/>
            </a:xfrm>
            <a:prstGeom prst="line">
              <a:avLst/>
            </a:prstGeom>
            <a:noFill/>
            <a:ln w="19050">
              <a:solidFill>
                <a:sysClr val="windowText" lastClr="000000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F0502020204030204"/>
                <a:ea typeface="等线" panose="02010600030101010101" pitchFamily="2" charset="-122"/>
              </a:endParaRPr>
            </a:p>
          </p:txBody>
        </p:sp>
        <p:sp>
          <p:nvSpPr>
            <p:cNvPr id="23" name="Line 29">
              <a:extLst>
                <a:ext uri="{FF2B5EF4-FFF2-40B4-BE49-F238E27FC236}">
                  <a16:creationId xmlns:a16="http://schemas.microsoft.com/office/drawing/2014/main" id="{7F810BC9-8DE9-0CAB-2742-6C1DA957057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26660" y="3720879"/>
              <a:ext cx="379900" cy="0"/>
            </a:xfrm>
            <a:prstGeom prst="line">
              <a:avLst/>
            </a:prstGeom>
            <a:noFill/>
            <a:ln w="19050">
              <a:solidFill>
                <a:sysClr val="windowText" lastClr="000000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F0502020204030204"/>
                <a:ea typeface="等线" panose="02010600030101010101" pitchFamily="2" charset="-122"/>
              </a:endParaRPr>
            </a:p>
          </p:txBody>
        </p:sp>
        <p:sp>
          <p:nvSpPr>
            <p:cNvPr id="24" name="Text Box 30">
              <a:extLst>
                <a:ext uri="{FF2B5EF4-FFF2-40B4-BE49-F238E27FC236}">
                  <a16:creationId xmlns:a16="http://schemas.microsoft.com/office/drawing/2014/main" id="{9AB6B213-047F-1486-DEE3-43B77DECFAA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54181" y="4392769"/>
              <a:ext cx="550120" cy="46165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1425" tIns="45713" rIns="91425" bIns="45713">
              <a:spAutoFit/>
            </a:bodyPr>
            <a:lstStyle>
              <a:lvl1pPr eaLnBrk="0" hangingPunct="0"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1pPr>
              <a:lvl2pPr marL="742950" indent="-285750" eaLnBrk="0" hangingPunct="0"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2pPr>
              <a:lvl3pPr marL="1143000" indent="-228600" eaLnBrk="0" hangingPunct="0"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3pPr>
              <a:lvl4pPr marL="1600200" indent="-228600" eaLnBrk="0" hangingPunct="0"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4pPr>
              <a:lvl5pPr marL="2057400" indent="-228600" eaLnBrk="0" hangingPunct="0"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9pPr>
            </a:lstStyle>
            <a:p>
              <a:pPr fontAlgn="auto">
                <a:spcBef>
                  <a:spcPts val="0"/>
                </a:spcBef>
                <a:spcAft>
                  <a:spcPts val="0"/>
                </a:spcAft>
              </a:pPr>
              <a:r>
                <a:rPr lang="en-US" altLang="zh-CN" sz="1200" b="0" dirty="0">
                  <a:solidFill>
                    <a:prstClr val="black"/>
                  </a:solidFill>
                  <a:latin typeface="Arial" pitchFamily="34" charset="0"/>
                  <a:ea typeface="SimHei" panose="02010609060101010101" pitchFamily="49" charset="-122"/>
                </a:rPr>
                <a:t>Read</a:t>
              </a:r>
            </a:p>
            <a:p>
              <a:pPr fontAlgn="auto">
                <a:spcBef>
                  <a:spcPts val="0"/>
                </a:spcBef>
                <a:spcAft>
                  <a:spcPts val="0"/>
                </a:spcAft>
              </a:pPr>
              <a:r>
                <a:rPr lang="en-US" altLang="zh-CN" sz="1200" b="0" dirty="0" err="1">
                  <a:solidFill>
                    <a:prstClr val="black"/>
                  </a:solidFill>
                  <a:latin typeface="Arial" pitchFamily="34" charset="0"/>
                  <a:ea typeface="SimHei" panose="02010609060101010101" pitchFamily="49" charset="-122"/>
                </a:rPr>
                <a:t>Addr</a:t>
              </a:r>
              <a:endParaRPr lang="en-US" altLang="zh-CN" sz="1200" b="0" dirty="0">
                <a:solidFill>
                  <a:prstClr val="black"/>
                </a:solidFill>
                <a:latin typeface="Arial" pitchFamily="34" charset="0"/>
                <a:ea typeface="SimHei" panose="02010609060101010101" pitchFamily="49" charset="-122"/>
              </a:endParaRPr>
            </a:p>
          </p:txBody>
        </p:sp>
        <p:sp>
          <p:nvSpPr>
            <p:cNvPr id="25" name="Text Box 31">
              <a:extLst>
                <a:ext uri="{FF2B5EF4-FFF2-40B4-BE49-F238E27FC236}">
                  <a16:creationId xmlns:a16="http://schemas.microsoft.com/office/drawing/2014/main" id="{ACD40A74-E123-8E8B-2D60-C81DF824EA8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102565" y="3879857"/>
              <a:ext cx="1132010" cy="58476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1425" tIns="45713" rIns="91425" bIns="45713">
              <a:spAutoFit/>
            </a:bodyPr>
            <a:lstStyle>
              <a:lvl1pPr eaLnBrk="0" hangingPunct="0"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1pPr>
              <a:lvl2pPr marL="742950" indent="-285750" eaLnBrk="0" hangingPunct="0"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2pPr>
              <a:lvl3pPr marL="1143000" indent="-228600" eaLnBrk="0" hangingPunct="0"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3pPr>
              <a:lvl4pPr marL="1600200" indent="-228600" eaLnBrk="0" hangingPunct="0"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4pPr>
              <a:lvl5pPr marL="2057400" indent="-228600" eaLnBrk="0" hangingPunct="0"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9pPr>
            </a:lstStyle>
            <a:p>
              <a:pPr algn="ctr" fontAlgn="auto">
                <a:spcBef>
                  <a:spcPts val="0"/>
                </a:spcBef>
                <a:spcAft>
                  <a:spcPts val="0"/>
                </a:spcAft>
              </a:pPr>
              <a:r>
                <a:rPr lang="en-US" altLang="zh-CN" sz="1600" b="0" dirty="0">
                  <a:solidFill>
                    <a:prstClr val="black"/>
                  </a:solidFill>
                  <a:latin typeface="Arial" pitchFamily="34" charset="0"/>
                  <a:ea typeface="SimHei" panose="02010609060101010101" pitchFamily="49" charset="-122"/>
                </a:rPr>
                <a:t>Instruction</a:t>
              </a: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</a:pPr>
              <a:r>
                <a:rPr lang="en-US" altLang="zh-CN" sz="1600" b="0" dirty="0">
                  <a:solidFill>
                    <a:prstClr val="black"/>
                  </a:solidFill>
                  <a:latin typeface="Arial" pitchFamily="34" charset="0"/>
                  <a:ea typeface="SimHei" panose="02010609060101010101" pitchFamily="49" charset="-122"/>
                </a:rPr>
                <a:t>Memory</a:t>
              </a:r>
            </a:p>
          </p:txBody>
        </p:sp>
        <p:sp>
          <p:nvSpPr>
            <p:cNvPr id="26" name="Text Box 32">
              <a:extLst>
                <a:ext uri="{FF2B5EF4-FFF2-40B4-BE49-F238E27FC236}">
                  <a16:creationId xmlns:a16="http://schemas.microsoft.com/office/drawing/2014/main" id="{B5E11EF1-50BA-EF0C-F24C-4697007935A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744874" y="3188527"/>
              <a:ext cx="314479" cy="55635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1425" tIns="45713" rIns="91425" bIns="45713">
              <a:spAutoFit/>
            </a:bodyPr>
            <a:lstStyle>
              <a:lvl1pPr eaLnBrk="0" hangingPunct="0"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1pPr>
              <a:lvl2pPr marL="742950" indent="-285750" eaLnBrk="0" hangingPunct="0"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2pPr>
              <a:lvl3pPr marL="1143000" indent="-228600" eaLnBrk="0" hangingPunct="0"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3pPr>
              <a:lvl4pPr marL="1600200" indent="-228600" eaLnBrk="0" hangingPunct="0"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4pPr>
              <a:lvl5pPr marL="2057400" indent="-228600" eaLnBrk="0" hangingPunct="0"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9pPr>
            </a:lstStyle>
            <a:p>
              <a:pPr fontAlgn="auto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lang="en-US" altLang="zh-CN" sz="1400" b="0" dirty="0">
                  <a:solidFill>
                    <a:prstClr val="black"/>
                  </a:solidFill>
                  <a:latin typeface="Arial" pitchFamily="34" charset="0"/>
                  <a:ea typeface="SimHei" panose="02010609060101010101" pitchFamily="49" charset="-122"/>
                </a:rPr>
                <a:t>A</a:t>
              </a:r>
            </a:p>
            <a:p>
              <a:pPr fontAlgn="auto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lang="en-US" altLang="zh-CN" sz="1400" b="0" dirty="0">
                  <a:solidFill>
                    <a:prstClr val="black"/>
                  </a:solidFill>
                  <a:latin typeface="Arial" pitchFamily="34" charset="0"/>
                  <a:ea typeface="SimHei" panose="02010609060101010101" pitchFamily="49" charset="-122"/>
                </a:rPr>
                <a:t>D</a:t>
              </a:r>
            </a:p>
            <a:p>
              <a:pPr fontAlgn="auto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lang="en-US" altLang="zh-CN" sz="1400" b="0" dirty="0">
                  <a:solidFill>
                    <a:prstClr val="black"/>
                  </a:solidFill>
                  <a:latin typeface="Arial" pitchFamily="34" charset="0"/>
                  <a:ea typeface="SimHei" panose="02010609060101010101" pitchFamily="49" charset="-122"/>
                </a:rPr>
                <a:t>D</a:t>
              </a:r>
            </a:p>
          </p:txBody>
        </p:sp>
        <p:sp>
          <p:nvSpPr>
            <p:cNvPr id="27" name="Line 34">
              <a:extLst>
                <a:ext uri="{FF2B5EF4-FFF2-40B4-BE49-F238E27FC236}">
                  <a16:creationId xmlns:a16="http://schemas.microsoft.com/office/drawing/2014/main" id="{A753628B-0F5F-AFBA-C44E-FC007354697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62941" y="4623597"/>
              <a:ext cx="212001" cy="0"/>
            </a:xfrm>
            <a:prstGeom prst="line">
              <a:avLst/>
            </a:prstGeom>
            <a:noFill/>
            <a:ln w="19050">
              <a:solidFill>
                <a:sysClr val="windowText" lastClr="000000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F0502020204030204"/>
                <a:ea typeface="等线" panose="02010600030101010101" pitchFamily="2" charset="-122"/>
              </a:endParaRPr>
            </a:p>
          </p:txBody>
        </p:sp>
        <p:sp>
          <p:nvSpPr>
            <p:cNvPr id="28" name="Text Box 35">
              <a:extLst>
                <a:ext uri="{FF2B5EF4-FFF2-40B4-BE49-F238E27FC236}">
                  <a16:creationId xmlns:a16="http://schemas.microsoft.com/office/drawing/2014/main" id="{0DD896F8-0F38-DBF1-955B-10D925F2A1C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98720" y="3582000"/>
              <a:ext cx="269595" cy="27698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1425" tIns="45713" rIns="91425" bIns="45713">
              <a:spAutoFit/>
            </a:bodyPr>
            <a:lstStyle>
              <a:lvl1pPr eaLnBrk="0" hangingPunct="0"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1pPr>
              <a:lvl2pPr marL="742950" indent="-285750" eaLnBrk="0" hangingPunct="0"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2pPr>
              <a:lvl3pPr marL="1143000" indent="-228600" eaLnBrk="0" hangingPunct="0"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3pPr>
              <a:lvl4pPr marL="1600200" indent="-228600" eaLnBrk="0" hangingPunct="0"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4pPr>
              <a:lvl5pPr marL="2057400" indent="-228600" eaLnBrk="0" hangingPunct="0"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9pPr>
            </a:lstStyle>
            <a:p>
              <a:pPr fontAlgn="auto">
                <a:spcBef>
                  <a:spcPts val="0"/>
                </a:spcBef>
                <a:spcAft>
                  <a:spcPts val="0"/>
                </a:spcAft>
              </a:pPr>
              <a:r>
                <a:rPr lang="en-US" altLang="zh-CN" sz="1200" b="0" dirty="0">
                  <a:solidFill>
                    <a:prstClr val="black"/>
                  </a:solidFill>
                  <a:latin typeface="Arial" pitchFamily="34" charset="0"/>
                  <a:ea typeface="SimHei" panose="02010609060101010101" pitchFamily="49" charset="-122"/>
                </a:rPr>
                <a:t>4</a:t>
              </a:r>
            </a:p>
          </p:txBody>
        </p:sp>
        <p:sp>
          <p:nvSpPr>
            <p:cNvPr id="29" name="Line 36">
              <a:extLst>
                <a:ext uri="{FF2B5EF4-FFF2-40B4-BE49-F238E27FC236}">
                  <a16:creationId xmlns:a16="http://schemas.microsoft.com/office/drawing/2014/main" id="{2DE83E66-BD7F-CFD1-CEF1-89925502CFD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62941" y="2401522"/>
              <a:ext cx="0" cy="2222075"/>
            </a:xfrm>
            <a:prstGeom prst="line">
              <a:avLst/>
            </a:prstGeom>
            <a:noFill/>
            <a:ln w="19050">
              <a:solidFill>
                <a:sysClr val="windowText" lastClr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F0502020204030204"/>
                <a:ea typeface="等线" panose="02010600030101010101" pitchFamily="2" charset="-122"/>
              </a:endParaRPr>
            </a:p>
          </p:txBody>
        </p:sp>
        <p:sp>
          <p:nvSpPr>
            <p:cNvPr id="30" name="AutoShape 37">
              <a:extLst>
                <a:ext uri="{FF2B5EF4-FFF2-40B4-BE49-F238E27FC236}">
                  <a16:creationId xmlns:a16="http://schemas.microsoft.com/office/drawing/2014/main" id="{262A9B9B-9495-06DC-196A-2F85B8949B71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 flipH="1">
              <a:off x="900211" y="2322272"/>
              <a:ext cx="624959" cy="227940"/>
            </a:xfrm>
            <a:custGeom>
              <a:avLst/>
              <a:gdLst>
                <a:gd name="T0" fmla="*/ 8 w 21600"/>
                <a:gd name="T1" fmla="*/ 0 h 21600"/>
                <a:gd name="T2" fmla="*/ 4 w 21600"/>
                <a:gd name="T3" fmla="*/ 1 h 21600"/>
                <a:gd name="T4" fmla="*/ 1 w 21600"/>
                <a:gd name="T5" fmla="*/ 0 h 21600"/>
                <a:gd name="T6" fmla="*/ 4 w 21600"/>
                <a:gd name="T7" fmla="*/ 0 h 21600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4500 w 21600"/>
                <a:gd name="T13" fmla="*/ 4500 h 21600"/>
                <a:gd name="T14" fmla="*/ 17100 w 21600"/>
                <a:gd name="T15" fmla="*/ 17100 h 2160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600" h="21600">
                  <a:moveTo>
                    <a:pt x="0" y="0"/>
                  </a:moveTo>
                  <a:lnTo>
                    <a:pt x="5400" y="21600"/>
                  </a:lnTo>
                  <a:lnTo>
                    <a:pt x="16200" y="21600"/>
                  </a:lnTo>
                  <a:lnTo>
                    <a:pt x="21600" y="0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9050">
              <a:solidFill>
                <a:sysClr val="windowText" lastClr="000000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F0502020204030204"/>
                <a:ea typeface="等线" panose="02010600030101010101" pitchFamily="2" charset="-122"/>
              </a:endParaRPr>
            </a:p>
          </p:txBody>
        </p:sp>
        <p:sp>
          <p:nvSpPr>
            <p:cNvPr id="31" name="Line 38">
              <a:extLst>
                <a:ext uri="{FF2B5EF4-FFF2-40B4-BE49-F238E27FC236}">
                  <a16:creationId xmlns:a16="http://schemas.microsoft.com/office/drawing/2014/main" id="{168F8698-93E3-7686-F7D9-55BB9FB8FFB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62940" y="2401522"/>
              <a:ext cx="835779" cy="0"/>
            </a:xfrm>
            <a:prstGeom prst="line">
              <a:avLst/>
            </a:prstGeom>
            <a:noFill/>
            <a:ln w="19050">
              <a:solidFill>
                <a:sysClr val="windowText" lastClr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F0502020204030204"/>
                <a:ea typeface="等线" panose="02010600030101010101" pitchFamily="2" charset="-122"/>
              </a:endParaRPr>
            </a:p>
          </p:txBody>
        </p:sp>
        <p:sp>
          <p:nvSpPr>
            <p:cNvPr id="32" name="Line 41">
              <a:extLst>
                <a:ext uri="{FF2B5EF4-FFF2-40B4-BE49-F238E27FC236}">
                  <a16:creationId xmlns:a16="http://schemas.microsoft.com/office/drawing/2014/main" id="{7A1CC4FD-801B-E970-326A-C01F662A00F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326659" y="2262643"/>
              <a:ext cx="5541095" cy="0"/>
            </a:xfrm>
            <a:prstGeom prst="line">
              <a:avLst/>
            </a:prstGeom>
            <a:noFill/>
            <a:ln w="19050">
              <a:solidFill>
                <a:sysClr val="windowText" lastClr="000000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F0502020204030204"/>
                <a:ea typeface="等线" panose="02010600030101010101" pitchFamily="2" charset="-122"/>
              </a:endParaRPr>
            </a:p>
          </p:txBody>
        </p:sp>
        <p:sp>
          <p:nvSpPr>
            <p:cNvPr id="33" name="Line 42">
              <a:extLst>
                <a:ext uri="{FF2B5EF4-FFF2-40B4-BE49-F238E27FC236}">
                  <a16:creationId xmlns:a16="http://schemas.microsoft.com/office/drawing/2014/main" id="{3F1145E3-39C2-B0B3-3DF0-CD93524D103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846259" y="6634800"/>
              <a:ext cx="5926434" cy="0"/>
            </a:xfrm>
            <a:prstGeom prst="line">
              <a:avLst/>
            </a:prstGeom>
            <a:noFill/>
            <a:ln w="19050">
              <a:solidFill>
                <a:sysClr val="windowText" lastClr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F0502020204030204"/>
                <a:ea typeface="等线" panose="02010600030101010101" pitchFamily="2" charset="-122"/>
              </a:endParaRPr>
            </a:p>
          </p:txBody>
        </p:sp>
        <p:sp>
          <p:nvSpPr>
            <p:cNvPr id="34" name="Rectangle 43">
              <a:extLst>
                <a:ext uri="{FF2B5EF4-FFF2-40B4-BE49-F238E27FC236}">
                  <a16:creationId xmlns:a16="http://schemas.microsoft.com/office/drawing/2014/main" id="{4AB952DD-1C5D-F622-2CCD-F47816936E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74198" y="3832273"/>
              <a:ext cx="1291659" cy="1587077"/>
            </a:xfrm>
            <a:prstGeom prst="rect">
              <a:avLst/>
            </a:prstGeom>
            <a:noFill/>
            <a:ln w="19050">
              <a:solidFill>
                <a:sysClr val="windowText" lastClr="000000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20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F0502020204030204"/>
                <a:ea typeface="等线" panose="02010600030101010101" pitchFamily="2" charset="-122"/>
              </a:endParaRPr>
            </a:p>
          </p:txBody>
        </p:sp>
        <p:sp>
          <p:nvSpPr>
            <p:cNvPr id="35" name="Line 44">
              <a:extLst>
                <a:ext uri="{FF2B5EF4-FFF2-40B4-BE49-F238E27FC236}">
                  <a16:creationId xmlns:a16="http://schemas.microsoft.com/office/drawing/2014/main" id="{8B4329DA-876D-EC93-24B7-1028A8043CE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314399" y="4623597"/>
              <a:ext cx="151960" cy="0"/>
            </a:xfrm>
            <a:prstGeom prst="line">
              <a:avLst/>
            </a:prstGeom>
            <a:noFill/>
            <a:ln w="19050">
              <a:solidFill>
                <a:sysClr val="windowText" lastClr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F0502020204030204"/>
                <a:ea typeface="等线" panose="02010600030101010101" pitchFamily="2" charset="-122"/>
              </a:endParaRPr>
            </a:p>
          </p:txBody>
        </p:sp>
        <p:sp>
          <p:nvSpPr>
            <p:cNvPr id="36" name="Line 45">
              <a:extLst>
                <a:ext uri="{FF2B5EF4-FFF2-40B4-BE49-F238E27FC236}">
                  <a16:creationId xmlns:a16="http://schemas.microsoft.com/office/drawing/2014/main" id="{9E43C237-7640-4B65-4690-84B3EF0A83E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770279" y="4415278"/>
              <a:ext cx="303920" cy="0"/>
            </a:xfrm>
            <a:prstGeom prst="line">
              <a:avLst/>
            </a:prstGeom>
            <a:noFill/>
            <a:ln w="19050">
              <a:solidFill>
                <a:sysClr val="windowText" lastClr="000000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F0502020204030204"/>
                <a:ea typeface="等线" panose="02010600030101010101" pitchFamily="2" charset="-122"/>
              </a:endParaRPr>
            </a:p>
          </p:txBody>
        </p:sp>
        <p:sp>
          <p:nvSpPr>
            <p:cNvPr id="37" name="Text Box 46">
              <a:extLst>
                <a:ext uri="{FF2B5EF4-FFF2-40B4-BE49-F238E27FC236}">
                  <a16:creationId xmlns:a16="http://schemas.microsoft.com/office/drawing/2014/main" id="{1E2A65DB-2462-DF27-CAEA-95C82BFA480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013660" y="4988379"/>
              <a:ext cx="540952" cy="40009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1425" tIns="45713" rIns="91425" bIns="45713">
              <a:spAutoFit/>
            </a:bodyPr>
            <a:lstStyle>
              <a:lvl1pPr eaLnBrk="0" hangingPunct="0"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1pPr>
              <a:lvl2pPr marL="742950" indent="-285750" eaLnBrk="0" hangingPunct="0"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2pPr>
              <a:lvl3pPr marL="1143000" indent="-228600" eaLnBrk="0" hangingPunct="0"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3pPr>
              <a:lvl4pPr marL="1600200" indent="-228600" eaLnBrk="0" hangingPunct="0"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4pPr>
              <a:lvl5pPr marL="2057400" indent="-228600" eaLnBrk="0" hangingPunct="0"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9pPr>
            </a:lstStyle>
            <a:p>
              <a:pPr fontAlgn="auto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lang="en-US" altLang="zh-CN" sz="1200" b="0" dirty="0">
                  <a:solidFill>
                    <a:prstClr val="black"/>
                  </a:solidFill>
                  <a:latin typeface="Arial" pitchFamily="34" charset="0"/>
                  <a:ea typeface="SimHei" panose="02010609060101010101" pitchFamily="49" charset="-122"/>
                </a:rPr>
                <a:t>Write</a:t>
              </a:r>
            </a:p>
            <a:p>
              <a:pPr fontAlgn="auto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lang="en-US" altLang="zh-CN" sz="1200" b="0" dirty="0">
                  <a:solidFill>
                    <a:prstClr val="black"/>
                  </a:solidFill>
                  <a:latin typeface="Arial" pitchFamily="34" charset="0"/>
                  <a:ea typeface="SimHei" panose="02010609060101010101" pitchFamily="49" charset="-122"/>
                </a:rPr>
                <a:t>Data</a:t>
              </a:r>
            </a:p>
          </p:txBody>
        </p:sp>
        <p:sp>
          <p:nvSpPr>
            <p:cNvPr id="38" name="Text Box 47">
              <a:extLst>
                <a:ext uri="{FF2B5EF4-FFF2-40B4-BE49-F238E27FC236}">
                  <a16:creationId xmlns:a16="http://schemas.microsoft.com/office/drawing/2014/main" id="{FD90CE6D-DC5C-7FC6-E8A2-E5840A14A15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004576" y="3886485"/>
              <a:ext cx="636682" cy="40009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1425" tIns="45713" rIns="91425" bIns="45713">
              <a:spAutoFit/>
            </a:bodyPr>
            <a:lstStyle>
              <a:lvl1pPr eaLnBrk="0" hangingPunct="0"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1pPr>
              <a:lvl2pPr marL="742950" indent="-285750" eaLnBrk="0" hangingPunct="0"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2pPr>
              <a:lvl3pPr marL="1143000" indent="-228600" eaLnBrk="0" hangingPunct="0"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3pPr>
              <a:lvl4pPr marL="1600200" indent="-228600" eaLnBrk="0" hangingPunct="0"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4pPr>
              <a:lvl5pPr marL="2057400" indent="-228600" eaLnBrk="0" hangingPunct="0"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9pPr>
            </a:lstStyle>
            <a:p>
              <a:pPr fontAlgn="auto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lang="en-US" altLang="zh-CN" sz="1200" b="0" dirty="0">
                  <a:solidFill>
                    <a:prstClr val="black"/>
                  </a:solidFill>
                  <a:latin typeface="Arial" pitchFamily="34" charset="0"/>
                  <a:ea typeface="SimHei" panose="02010609060101010101" pitchFamily="49" charset="-122"/>
                </a:rPr>
                <a:t>Read </a:t>
              </a:r>
            </a:p>
            <a:p>
              <a:pPr fontAlgn="auto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lang="en-US" altLang="zh-CN" sz="1200" b="0" dirty="0" err="1">
                  <a:solidFill>
                    <a:prstClr val="black"/>
                  </a:solidFill>
                  <a:latin typeface="Arial" pitchFamily="34" charset="0"/>
                  <a:ea typeface="SimHei" panose="02010609060101010101" pitchFamily="49" charset="-122"/>
                </a:rPr>
                <a:t>Addr</a:t>
              </a:r>
              <a:r>
                <a:rPr lang="en-US" altLang="zh-CN" sz="1200" b="0" dirty="0">
                  <a:solidFill>
                    <a:prstClr val="black"/>
                  </a:solidFill>
                  <a:latin typeface="Arial" pitchFamily="34" charset="0"/>
                  <a:ea typeface="SimHei" panose="02010609060101010101" pitchFamily="49" charset="-122"/>
                </a:rPr>
                <a:t> 1</a:t>
              </a:r>
            </a:p>
          </p:txBody>
        </p:sp>
        <p:sp>
          <p:nvSpPr>
            <p:cNvPr id="39" name="Text Box 48">
              <a:extLst>
                <a:ext uri="{FF2B5EF4-FFF2-40B4-BE49-F238E27FC236}">
                  <a16:creationId xmlns:a16="http://schemas.microsoft.com/office/drawing/2014/main" id="{84158BFA-BE29-83CA-EC1D-A6F79E9F530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007366" y="4248310"/>
              <a:ext cx="636682" cy="40009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1425" tIns="45713" rIns="91425" bIns="45713">
              <a:spAutoFit/>
            </a:bodyPr>
            <a:lstStyle>
              <a:lvl1pPr eaLnBrk="0" hangingPunct="0"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1pPr>
              <a:lvl2pPr marL="742950" indent="-285750" eaLnBrk="0" hangingPunct="0"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2pPr>
              <a:lvl3pPr marL="1143000" indent="-228600" eaLnBrk="0" hangingPunct="0"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3pPr>
              <a:lvl4pPr marL="1600200" indent="-228600" eaLnBrk="0" hangingPunct="0"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4pPr>
              <a:lvl5pPr marL="2057400" indent="-228600" eaLnBrk="0" hangingPunct="0"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9pPr>
            </a:lstStyle>
            <a:p>
              <a:pPr fontAlgn="auto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lang="en-US" altLang="zh-CN" sz="1200" b="0" dirty="0">
                  <a:solidFill>
                    <a:prstClr val="black"/>
                  </a:solidFill>
                  <a:latin typeface="Arial" pitchFamily="34" charset="0"/>
                  <a:ea typeface="SimHei" panose="02010609060101010101" pitchFamily="49" charset="-122"/>
                </a:rPr>
                <a:t>Read </a:t>
              </a:r>
            </a:p>
            <a:p>
              <a:pPr fontAlgn="auto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lang="en-US" altLang="zh-CN" sz="1200" b="0" dirty="0" err="1">
                  <a:solidFill>
                    <a:prstClr val="black"/>
                  </a:solidFill>
                  <a:latin typeface="Arial" pitchFamily="34" charset="0"/>
                  <a:ea typeface="SimHei" panose="02010609060101010101" pitchFamily="49" charset="-122"/>
                </a:rPr>
                <a:t>Addr</a:t>
              </a:r>
              <a:r>
                <a:rPr lang="en-US" altLang="zh-CN" sz="1200" b="0" dirty="0">
                  <a:solidFill>
                    <a:prstClr val="black"/>
                  </a:solidFill>
                  <a:latin typeface="Arial" pitchFamily="34" charset="0"/>
                  <a:ea typeface="SimHei" panose="02010609060101010101" pitchFamily="49" charset="-122"/>
                </a:rPr>
                <a:t> 2</a:t>
              </a:r>
            </a:p>
          </p:txBody>
        </p:sp>
        <p:sp>
          <p:nvSpPr>
            <p:cNvPr id="40" name="Text Box 49">
              <a:extLst>
                <a:ext uri="{FF2B5EF4-FFF2-40B4-BE49-F238E27FC236}">
                  <a16:creationId xmlns:a16="http://schemas.microsoft.com/office/drawing/2014/main" id="{EF304D09-48CB-EBD0-F934-4DCB7D8AC0A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013309" y="4634115"/>
              <a:ext cx="540952" cy="40009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1425" tIns="45713" rIns="91425" bIns="45713">
              <a:spAutoFit/>
            </a:bodyPr>
            <a:lstStyle>
              <a:lvl1pPr eaLnBrk="0" hangingPunct="0"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1pPr>
              <a:lvl2pPr marL="742950" indent="-285750" eaLnBrk="0" hangingPunct="0"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2pPr>
              <a:lvl3pPr marL="1143000" indent="-228600" eaLnBrk="0" hangingPunct="0"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3pPr>
              <a:lvl4pPr marL="1600200" indent="-228600" eaLnBrk="0" hangingPunct="0"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4pPr>
              <a:lvl5pPr marL="2057400" indent="-228600" eaLnBrk="0" hangingPunct="0"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9pPr>
            </a:lstStyle>
            <a:p>
              <a:pPr fontAlgn="auto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lang="en-US" altLang="zh-CN" sz="1200" b="0" dirty="0">
                  <a:solidFill>
                    <a:prstClr val="black"/>
                  </a:solidFill>
                  <a:latin typeface="Arial" pitchFamily="34" charset="0"/>
                  <a:ea typeface="SimHei" panose="02010609060101010101" pitchFamily="49" charset="-122"/>
                </a:rPr>
                <a:t>Write</a:t>
              </a:r>
            </a:p>
            <a:p>
              <a:pPr fontAlgn="auto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lang="en-US" altLang="zh-CN" sz="1200" b="0" dirty="0" err="1">
                  <a:solidFill>
                    <a:prstClr val="black"/>
                  </a:solidFill>
                  <a:latin typeface="Arial" pitchFamily="34" charset="0"/>
                  <a:ea typeface="SimHei" panose="02010609060101010101" pitchFamily="49" charset="-122"/>
                </a:rPr>
                <a:t>Addr</a:t>
              </a:r>
              <a:endParaRPr lang="en-US" altLang="zh-CN" sz="1200" b="0" dirty="0">
                <a:solidFill>
                  <a:prstClr val="black"/>
                </a:solidFill>
                <a:latin typeface="Arial" pitchFamily="34" charset="0"/>
                <a:ea typeface="SimHei" panose="02010609060101010101" pitchFamily="49" charset="-122"/>
              </a:endParaRPr>
            </a:p>
          </p:txBody>
        </p:sp>
        <p:sp>
          <p:nvSpPr>
            <p:cNvPr id="41" name="Text Box 50">
              <a:extLst>
                <a:ext uri="{FF2B5EF4-FFF2-40B4-BE49-F238E27FC236}">
                  <a16:creationId xmlns:a16="http://schemas.microsoft.com/office/drawing/2014/main" id="{9F7479EA-DD59-D1EE-D806-FCCAD16C8CB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679906" y="4442759"/>
              <a:ext cx="684773" cy="33854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1425" tIns="45713" rIns="91425" bIns="45713">
              <a:spAutoFit/>
            </a:bodyPr>
            <a:lstStyle>
              <a:lvl1pPr eaLnBrk="0" hangingPunct="0"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1pPr>
              <a:lvl2pPr marL="742950" indent="-285750" eaLnBrk="0" hangingPunct="0"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2pPr>
              <a:lvl3pPr marL="1143000" indent="-228600" eaLnBrk="0" hangingPunct="0"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3pPr>
              <a:lvl4pPr marL="1600200" indent="-228600" eaLnBrk="0" hangingPunct="0"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4pPr>
              <a:lvl5pPr marL="2057400" indent="-228600" eaLnBrk="0" hangingPunct="0"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9pPr>
            </a:lstStyle>
            <a:p>
              <a:pPr algn="ctr" fontAlgn="auto">
                <a:spcBef>
                  <a:spcPts val="0"/>
                </a:spcBef>
                <a:spcAft>
                  <a:spcPts val="0"/>
                </a:spcAft>
              </a:pPr>
              <a:r>
                <a:rPr lang="en-US" altLang="zh-CN" sz="1600" b="0" dirty="0">
                  <a:solidFill>
                    <a:prstClr val="black"/>
                  </a:solidFill>
                  <a:latin typeface="Arial" pitchFamily="34" charset="0"/>
                  <a:ea typeface="SimHei" panose="02010609060101010101" pitchFamily="49" charset="-122"/>
                </a:rPr>
                <a:t>Regs</a:t>
              </a:r>
            </a:p>
          </p:txBody>
        </p:sp>
        <p:sp>
          <p:nvSpPr>
            <p:cNvPr id="42" name="Text Box 51">
              <a:extLst>
                <a:ext uri="{FF2B5EF4-FFF2-40B4-BE49-F238E27FC236}">
                  <a16:creationId xmlns:a16="http://schemas.microsoft.com/office/drawing/2014/main" id="{72077DC3-D4E0-EB1A-8547-16C90302246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740981" y="4060292"/>
              <a:ext cx="679963" cy="40009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1425" tIns="45713" rIns="91425" bIns="45713">
              <a:spAutoFit/>
            </a:bodyPr>
            <a:lstStyle>
              <a:lvl1pPr eaLnBrk="0" hangingPunct="0"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1pPr>
              <a:lvl2pPr marL="742950" indent="-285750" eaLnBrk="0" hangingPunct="0"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2pPr>
              <a:lvl3pPr marL="1143000" indent="-228600" eaLnBrk="0" hangingPunct="0"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3pPr>
              <a:lvl4pPr marL="1600200" indent="-228600" eaLnBrk="0" hangingPunct="0"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4pPr>
              <a:lvl5pPr marL="2057400" indent="-228600" eaLnBrk="0" hangingPunct="0"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9pPr>
            </a:lstStyle>
            <a:p>
              <a:pPr algn="r" fontAlgn="auto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lang="en-US" altLang="zh-CN" sz="1200" b="0" dirty="0">
                  <a:solidFill>
                    <a:prstClr val="black"/>
                  </a:solidFill>
                  <a:latin typeface="Arial" pitchFamily="34" charset="0"/>
                  <a:ea typeface="SimHei" panose="02010609060101010101" pitchFamily="49" charset="-122"/>
                </a:rPr>
                <a:t>Read</a:t>
              </a:r>
            </a:p>
            <a:p>
              <a:pPr algn="r" fontAlgn="auto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lang="en-US" altLang="zh-CN" sz="1200" b="0" dirty="0">
                  <a:solidFill>
                    <a:prstClr val="black"/>
                  </a:solidFill>
                  <a:latin typeface="Arial" pitchFamily="34" charset="0"/>
                  <a:ea typeface="SimHei" panose="02010609060101010101" pitchFamily="49" charset="-122"/>
                </a:rPr>
                <a:t> Data 1</a:t>
              </a:r>
            </a:p>
          </p:txBody>
        </p:sp>
        <p:sp>
          <p:nvSpPr>
            <p:cNvPr id="43" name="Text Box 52">
              <a:extLst>
                <a:ext uri="{FF2B5EF4-FFF2-40B4-BE49-F238E27FC236}">
                  <a16:creationId xmlns:a16="http://schemas.microsoft.com/office/drawing/2014/main" id="{8284EB92-6576-20D5-F4C7-AEE91C685F4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731345" y="4811615"/>
              <a:ext cx="679963" cy="40009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1425" tIns="45713" rIns="91425" bIns="45713">
              <a:spAutoFit/>
            </a:bodyPr>
            <a:lstStyle>
              <a:lvl1pPr eaLnBrk="0" hangingPunct="0"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1pPr>
              <a:lvl2pPr marL="742950" indent="-285750" eaLnBrk="0" hangingPunct="0"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2pPr>
              <a:lvl3pPr marL="1143000" indent="-228600" eaLnBrk="0" hangingPunct="0"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3pPr>
              <a:lvl4pPr marL="1600200" indent="-228600" eaLnBrk="0" hangingPunct="0"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4pPr>
              <a:lvl5pPr marL="2057400" indent="-228600" eaLnBrk="0" hangingPunct="0"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9pPr>
            </a:lstStyle>
            <a:p>
              <a:pPr algn="r" fontAlgn="auto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lang="en-US" altLang="zh-CN" sz="1200" b="0" dirty="0">
                  <a:solidFill>
                    <a:prstClr val="black"/>
                  </a:solidFill>
                  <a:latin typeface="Arial" pitchFamily="34" charset="0"/>
                  <a:ea typeface="SimHei" panose="02010609060101010101" pitchFamily="49" charset="-122"/>
                </a:rPr>
                <a:t>Read</a:t>
              </a:r>
            </a:p>
            <a:p>
              <a:pPr algn="r" fontAlgn="auto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lang="en-US" altLang="zh-CN" sz="1200" b="0" dirty="0">
                  <a:solidFill>
                    <a:prstClr val="black"/>
                  </a:solidFill>
                  <a:latin typeface="Arial" pitchFamily="34" charset="0"/>
                  <a:ea typeface="SimHei" panose="02010609060101010101" pitchFamily="49" charset="-122"/>
                </a:rPr>
                <a:t> Data 2</a:t>
              </a:r>
            </a:p>
          </p:txBody>
        </p:sp>
        <p:sp>
          <p:nvSpPr>
            <p:cNvPr id="44" name="Line 53">
              <a:extLst>
                <a:ext uri="{FF2B5EF4-FFF2-40B4-BE49-F238E27FC236}">
                  <a16:creationId xmlns:a16="http://schemas.microsoft.com/office/drawing/2014/main" id="{5C6934C6-217C-8A7D-D142-5866A202304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770279" y="5734634"/>
              <a:ext cx="379900" cy="0"/>
            </a:xfrm>
            <a:prstGeom prst="line">
              <a:avLst/>
            </a:prstGeom>
            <a:noFill/>
            <a:ln w="19050">
              <a:solidFill>
                <a:sysClr val="windowText" lastClr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F0502020204030204"/>
                <a:ea typeface="等线" panose="02010600030101010101" pitchFamily="2" charset="-122"/>
              </a:endParaRPr>
            </a:p>
          </p:txBody>
        </p:sp>
        <p:sp>
          <p:nvSpPr>
            <p:cNvPr id="45" name="Line 54">
              <a:extLst>
                <a:ext uri="{FF2B5EF4-FFF2-40B4-BE49-F238E27FC236}">
                  <a16:creationId xmlns:a16="http://schemas.microsoft.com/office/drawing/2014/main" id="{053A22BA-96B8-09C1-A08D-8F75FA4CEBE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55477" y="5668382"/>
              <a:ext cx="75980" cy="138880"/>
            </a:xfrm>
            <a:prstGeom prst="line">
              <a:avLst/>
            </a:prstGeom>
            <a:noFill/>
            <a:ln w="12700">
              <a:solidFill>
                <a:sysClr val="windowText" lastClr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F0502020204030204"/>
                <a:ea typeface="等线" panose="02010600030101010101" pitchFamily="2" charset="-122"/>
              </a:endParaRPr>
            </a:p>
          </p:txBody>
        </p:sp>
        <p:sp>
          <p:nvSpPr>
            <p:cNvPr id="46" name="Line 55">
              <a:extLst>
                <a:ext uri="{FF2B5EF4-FFF2-40B4-BE49-F238E27FC236}">
                  <a16:creationId xmlns:a16="http://schemas.microsoft.com/office/drawing/2014/main" id="{D3F67623-788C-67D6-7028-96EBA3C27F8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167988" y="5652711"/>
              <a:ext cx="75980" cy="138880"/>
            </a:xfrm>
            <a:prstGeom prst="line">
              <a:avLst/>
            </a:prstGeom>
            <a:noFill/>
            <a:ln w="12700">
              <a:solidFill>
                <a:sysClr val="windowText" lastClr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F0502020204030204"/>
                <a:ea typeface="等线" panose="02010600030101010101" pitchFamily="2" charset="-122"/>
              </a:endParaRPr>
            </a:p>
          </p:txBody>
        </p:sp>
        <p:sp>
          <p:nvSpPr>
            <p:cNvPr id="47" name="Text Box 56">
              <a:extLst>
                <a:ext uri="{FF2B5EF4-FFF2-40B4-BE49-F238E27FC236}">
                  <a16:creationId xmlns:a16="http://schemas.microsoft.com/office/drawing/2014/main" id="{223105C8-0A14-85C5-B139-1F865FBCF1B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836766" y="5757109"/>
              <a:ext cx="379889" cy="27698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91425" tIns="45713" rIns="91425" bIns="45713">
              <a:spAutoFit/>
            </a:bodyPr>
            <a:lstStyle>
              <a:lvl1pPr eaLnBrk="0" hangingPunct="0"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1pPr>
              <a:lvl2pPr marL="742950" indent="-285750" eaLnBrk="0" hangingPunct="0"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2pPr>
              <a:lvl3pPr marL="1143000" indent="-228600" eaLnBrk="0" hangingPunct="0"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3pPr>
              <a:lvl4pPr marL="1600200" indent="-228600" eaLnBrk="0" hangingPunct="0"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4pPr>
              <a:lvl5pPr marL="2057400" indent="-228600" eaLnBrk="0" hangingPunct="0"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9pPr>
            </a:lstStyle>
            <a:p>
              <a:pPr fontAlgn="auto">
                <a:spcBef>
                  <a:spcPts val="0"/>
                </a:spcBef>
                <a:spcAft>
                  <a:spcPts val="0"/>
                </a:spcAft>
              </a:pPr>
              <a:r>
                <a:rPr lang="en-US" altLang="zh-CN" sz="1200" b="0" dirty="0">
                  <a:solidFill>
                    <a:prstClr val="black"/>
                  </a:solidFill>
                  <a:latin typeface="Arial" pitchFamily="34" charset="0"/>
                  <a:ea typeface="SimHei" panose="02010609060101010101" pitchFamily="49" charset="-122"/>
                </a:rPr>
                <a:t>16</a:t>
              </a:r>
            </a:p>
          </p:txBody>
        </p:sp>
        <p:sp>
          <p:nvSpPr>
            <p:cNvPr id="48" name="Text Box 57">
              <a:extLst>
                <a:ext uri="{FF2B5EF4-FFF2-40B4-BE49-F238E27FC236}">
                  <a16:creationId xmlns:a16="http://schemas.microsoft.com/office/drawing/2014/main" id="{DF438696-E4E6-5E86-EA74-AF198C90F1F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061937" y="5734634"/>
              <a:ext cx="354554" cy="27698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1425" tIns="45713" rIns="91425" bIns="45713">
              <a:spAutoFit/>
            </a:bodyPr>
            <a:lstStyle>
              <a:lvl1pPr eaLnBrk="0" hangingPunct="0"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1pPr>
              <a:lvl2pPr marL="742950" indent="-285750" eaLnBrk="0" hangingPunct="0"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2pPr>
              <a:lvl3pPr marL="1143000" indent="-228600" eaLnBrk="0" hangingPunct="0"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3pPr>
              <a:lvl4pPr marL="1600200" indent="-228600" eaLnBrk="0" hangingPunct="0"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4pPr>
              <a:lvl5pPr marL="2057400" indent="-228600" eaLnBrk="0" hangingPunct="0"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9pPr>
            </a:lstStyle>
            <a:p>
              <a:pPr fontAlgn="auto">
                <a:spcBef>
                  <a:spcPts val="0"/>
                </a:spcBef>
                <a:spcAft>
                  <a:spcPts val="0"/>
                </a:spcAft>
              </a:pPr>
              <a:r>
                <a:rPr lang="en-US" altLang="zh-CN" sz="1200" b="0" dirty="0">
                  <a:solidFill>
                    <a:prstClr val="black"/>
                  </a:solidFill>
                  <a:latin typeface="Arial" pitchFamily="34" charset="0"/>
                  <a:ea typeface="SimHei" panose="02010609060101010101" pitchFamily="49" charset="-122"/>
                </a:rPr>
                <a:t>32</a:t>
              </a:r>
            </a:p>
          </p:txBody>
        </p:sp>
        <p:sp>
          <p:nvSpPr>
            <p:cNvPr id="49" name="Line 58">
              <a:extLst>
                <a:ext uri="{FF2B5EF4-FFF2-40B4-BE49-F238E27FC236}">
                  <a16:creationId xmlns:a16="http://schemas.microsoft.com/office/drawing/2014/main" id="{2AD708D7-4FEE-FC2B-E292-7FFBEF4BC18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46259" y="5109676"/>
              <a:ext cx="227939" cy="0"/>
            </a:xfrm>
            <a:prstGeom prst="line">
              <a:avLst/>
            </a:prstGeom>
            <a:noFill/>
            <a:ln w="19050">
              <a:solidFill>
                <a:sysClr val="windowText" lastClr="000000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F0502020204030204"/>
                <a:ea typeface="等线" panose="02010600030101010101" pitchFamily="2" charset="-122"/>
              </a:endParaRPr>
            </a:p>
          </p:txBody>
        </p:sp>
        <p:sp>
          <p:nvSpPr>
            <p:cNvPr id="50" name="Line 59">
              <a:extLst>
                <a:ext uri="{FF2B5EF4-FFF2-40B4-BE49-F238E27FC236}">
                  <a16:creationId xmlns:a16="http://schemas.microsoft.com/office/drawing/2014/main" id="{1E02EB12-3227-EC68-0FD3-9979295006C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77287" y="5248556"/>
              <a:ext cx="0" cy="486079"/>
            </a:xfrm>
            <a:prstGeom prst="line">
              <a:avLst/>
            </a:prstGeom>
            <a:noFill/>
            <a:ln w="19050">
              <a:solidFill>
                <a:sysClr val="windowText" lastClr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20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F0502020204030204"/>
                <a:ea typeface="等线" panose="02010600030101010101" pitchFamily="2" charset="-122"/>
              </a:endParaRPr>
            </a:p>
          </p:txBody>
        </p:sp>
        <p:sp>
          <p:nvSpPr>
            <p:cNvPr id="51" name="Line 60">
              <a:extLst>
                <a:ext uri="{FF2B5EF4-FFF2-40B4-BE49-F238E27FC236}">
                  <a16:creationId xmlns:a16="http://schemas.microsoft.com/office/drawing/2014/main" id="{44F09C51-A95A-F0A4-C18E-D866037165A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65857" y="4901356"/>
              <a:ext cx="151960" cy="0"/>
            </a:xfrm>
            <a:prstGeom prst="line">
              <a:avLst/>
            </a:prstGeom>
            <a:noFill/>
            <a:ln w="19050">
              <a:solidFill>
                <a:sysClr val="windowText" lastClr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20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F0502020204030204"/>
                <a:ea typeface="等线" panose="02010600030101010101" pitchFamily="2" charset="-122"/>
              </a:endParaRPr>
            </a:p>
          </p:txBody>
        </p:sp>
        <p:sp>
          <p:nvSpPr>
            <p:cNvPr id="52" name="Line 61">
              <a:extLst>
                <a:ext uri="{FF2B5EF4-FFF2-40B4-BE49-F238E27FC236}">
                  <a16:creationId xmlns:a16="http://schemas.microsoft.com/office/drawing/2014/main" id="{8EE33649-28CA-CF78-513E-98FE3952787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770279" y="4068078"/>
              <a:ext cx="0" cy="1666556"/>
            </a:xfrm>
            <a:prstGeom prst="line">
              <a:avLst/>
            </a:prstGeom>
            <a:noFill/>
            <a:ln w="19050">
              <a:solidFill>
                <a:sysClr val="windowText" lastClr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F0502020204030204"/>
                <a:ea typeface="等线" panose="02010600030101010101" pitchFamily="2" charset="-122"/>
              </a:endParaRPr>
            </a:p>
          </p:txBody>
        </p:sp>
        <p:sp>
          <p:nvSpPr>
            <p:cNvPr id="53" name="Line 62">
              <a:extLst>
                <a:ext uri="{FF2B5EF4-FFF2-40B4-BE49-F238E27FC236}">
                  <a16:creationId xmlns:a16="http://schemas.microsoft.com/office/drawing/2014/main" id="{19670FD8-11C4-BFB6-3AB1-A153BAAFDEB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770279" y="4068078"/>
              <a:ext cx="303920" cy="0"/>
            </a:xfrm>
            <a:prstGeom prst="line">
              <a:avLst/>
            </a:prstGeom>
            <a:noFill/>
            <a:ln w="19050">
              <a:solidFill>
                <a:sysClr val="windowText" lastClr="000000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F0502020204030204"/>
                <a:ea typeface="等线" panose="02010600030101010101" pitchFamily="2" charset="-122"/>
              </a:endParaRPr>
            </a:p>
          </p:txBody>
        </p:sp>
        <p:sp>
          <p:nvSpPr>
            <p:cNvPr id="54" name="Line 63">
              <a:extLst>
                <a:ext uri="{FF2B5EF4-FFF2-40B4-BE49-F238E27FC236}">
                  <a16:creationId xmlns:a16="http://schemas.microsoft.com/office/drawing/2014/main" id="{3254B273-9F37-C694-5E9F-46D35FD7805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69777" y="4901356"/>
              <a:ext cx="471997" cy="0"/>
            </a:xfrm>
            <a:prstGeom prst="line">
              <a:avLst/>
            </a:prstGeom>
            <a:noFill/>
            <a:ln w="19050">
              <a:solidFill>
                <a:sysClr val="windowText" lastClr="000000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F0502020204030204"/>
                <a:ea typeface="等线" panose="02010600030101010101" pitchFamily="2" charset="-122"/>
              </a:endParaRPr>
            </a:p>
          </p:txBody>
        </p:sp>
        <p:sp>
          <p:nvSpPr>
            <p:cNvPr id="55" name="Line 64">
              <a:extLst>
                <a:ext uri="{FF2B5EF4-FFF2-40B4-BE49-F238E27FC236}">
                  <a16:creationId xmlns:a16="http://schemas.microsoft.com/office/drawing/2014/main" id="{BE60ADA1-D1FC-116B-703F-0B43512C857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037417" y="4693037"/>
              <a:ext cx="151514" cy="0"/>
            </a:xfrm>
            <a:prstGeom prst="line">
              <a:avLst/>
            </a:prstGeom>
            <a:noFill/>
            <a:ln w="19050">
              <a:solidFill>
                <a:sysClr val="windowText" lastClr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F0502020204030204"/>
                <a:ea typeface="等线" panose="02010600030101010101" pitchFamily="2" charset="-122"/>
              </a:endParaRPr>
            </a:p>
          </p:txBody>
        </p:sp>
        <p:sp>
          <p:nvSpPr>
            <p:cNvPr id="56" name="Freeform 65">
              <a:extLst>
                <a:ext uri="{FF2B5EF4-FFF2-40B4-BE49-F238E27FC236}">
                  <a16:creationId xmlns:a16="http://schemas.microsoft.com/office/drawing/2014/main" id="{6FAE77BC-1CF3-CDD2-26B0-7327C0BB6711}"/>
                </a:ext>
              </a:extLst>
            </p:cNvPr>
            <p:cNvSpPr>
              <a:spLocks/>
            </p:cNvSpPr>
            <p:nvPr/>
          </p:nvSpPr>
          <p:spPr bwMode="auto">
            <a:xfrm>
              <a:off x="5505556" y="4068078"/>
              <a:ext cx="531860" cy="1180477"/>
            </a:xfrm>
            <a:custGeom>
              <a:avLst/>
              <a:gdLst>
                <a:gd name="T0" fmla="*/ 0 w 388"/>
                <a:gd name="T1" fmla="*/ 0 h 1099"/>
                <a:gd name="T2" fmla="*/ 0 w 388"/>
                <a:gd name="T3" fmla="*/ 235 h 1099"/>
                <a:gd name="T4" fmla="*/ 83 w 388"/>
                <a:gd name="T5" fmla="*/ 305 h 1099"/>
                <a:gd name="T6" fmla="*/ 0 w 388"/>
                <a:gd name="T7" fmla="*/ 370 h 1099"/>
                <a:gd name="T8" fmla="*/ 0 w 388"/>
                <a:gd name="T9" fmla="*/ 605 h 1099"/>
                <a:gd name="T10" fmla="*/ 290 w 388"/>
                <a:gd name="T11" fmla="*/ 436 h 1099"/>
                <a:gd name="T12" fmla="*/ 290 w 388"/>
                <a:gd name="T13" fmla="*/ 170 h 1099"/>
                <a:gd name="T14" fmla="*/ 0 w 388"/>
                <a:gd name="T15" fmla="*/ 0 h 109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88" h="1099">
                  <a:moveTo>
                    <a:pt x="0" y="0"/>
                  </a:moveTo>
                  <a:lnTo>
                    <a:pt x="0" y="427"/>
                  </a:lnTo>
                  <a:lnTo>
                    <a:pt x="111" y="553"/>
                  </a:lnTo>
                  <a:lnTo>
                    <a:pt x="0" y="671"/>
                  </a:lnTo>
                  <a:lnTo>
                    <a:pt x="0" y="1098"/>
                  </a:lnTo>
                  <a:lnTo>
                    <a:pt x="387" y="790"/>
                  </a:lnTo>
                  <a:lnTo>
                    <a:pt x="387" y="308"/>
                  </a:lnTo>
                  <a:lnTo>
                    <a:pt x="0" y="0"/>
                  </a:lnTo>
                </a:path>
              </a:pathLst>
            </a:custGeom>
            <a:solidFill>
              <a:srgbClr val="FFCC66"/>
            </a:solidFill>
            <a:ln w="19050" cap="rnd" cmpd="sng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</a:pPr>
              <a:endParaRPr lang="zh-CN" altLang="en-US">
                <a:solidFill>
                  <a:prstClr val="black"/>
                </a:solidFill>
                <a:latin typeface="等线" panose="020F0502020204030204"/>
                <a:ea typeface="等线" panose="02010600030101010101" pitchFamily="2" charset="-122"/>
              </a:endParaRPr>
            </a:p>
          </p:txBody>
        </p:sp>
        <p:sp>
          <p:nvSpPr>
            <p:cNvPr id="57" name="Rectangle 66">
              <a:extLst>
                <a:ext uri="{FF2B5EF4-FFF2-40B4-BE49-F238E27FC236}">
                  <a16:creationId xmlns:a16="http://schemas.microsoft.com/office/drawing/2014/main" id="{C5CC0734-0DD6-10BB-85C4-DD140CCBC9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02114" y="4545752"/>
              <a:ext cx="473292" cy="19851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19047" tIns="26984" rIns="19047" bIns="26984"/>
            <a:lstStyle/>
            <a:p>
              <a:pPr algn="ctr" defTabSz="903288" eaLnBrk="0" fontAlgn="auto" hangingPunct="0">
                <a:lnSpc>
                  <a:spcPts val="1600"/>
                </a:lnSpc>
                <a:spcBef>
                  <a:spcPts val="0"/>
                </a:spcBef>
                <a:spcAft>
                  <a:spcPts val="0"/>
                </a:spcAft>
                <a:tabLst>
                  <a:tab pos="452438" algn="l"/>
                  <a:tab pos="903288" algn="l"/>
                  <a:tab pos="1357313" algn="l"/>
                </a:tabLst>
              </a:pPr>
              <a:r>
                <a:rPr lang="en-US" altLang="zh-CN" sz="1400" b="1" dirty="0">
                  <a:solidFill>
                    <a:srgbClr val="000000"/>
                  </a:solidFill>
                  <a:latin typeface="Arial" pitchFamily="34" charset="0"/>
                  <a:ea typeface="等线" panose="02010600030101010101" pitchFamily="2" charset="-122"/>
                </a:rPr>
                <a:t>ALU</a:t>
              </a:r>
            </a:p>
          </p:txBody>
        </p:sp>
        <p:sp>
          <p:nvSpPr>
            <p:cNvPr id="58" name="AutoShape 67">
              <a:extLst>
                <a:ext uri="{FF2B5EF4-FFF2-40B4-BE49-F238E27FC236}">
                  <a16:creationId xmlns:a16="http://schemas.microsoft.com/office/drawing/2014/main" id="{5003E706-B54E-B96B-2A60-EF2148A64A2D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6200000">
              <a:off x="4908546" y="4924820"/>
              <a:ext cx="694398" cy="227940"/>
            </a:xfrm>
            <a:custGeom>
              <a:avLst/>
              <a:gdLst>
                <a:gd name="T0" fmla="*/ 9 w 21600"/>
                <a:gd name="T1" fmla="*/ 0 h 21600"/>
                <a:gd name="T2" fmla="*/ 5 w 21600"/>
                <a:gd name="T3" fmla="*/ 1 h 21600"/>
                <a:gd name="T4" fmla="*/ 1 w 21600"/>
                <a:gd name="T5" fmla="*/ 0 h 21600"/>
                <a:gd name="T6" fmla="*/ 5 w 21600"/>
                <a:gd name="T7" fmla="*/ 0 h 21600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4500 w 21600"/>
                <a:gd name="T13" fmla="*/ 4500 h 21600"/>
                <a:gd name="T14" fmla="*/ 17100 w 21600"/>
                <a:gd name="T15" fmla="*/ 17100 h 2160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600" h="21600">
                  <a:moveTo>
                    <a:pt x="0" y="0"/>
                  </a:moveTo>
                  <a:lnTo>
                    <a:pt x="5400" y="21600"/>
                  </a:lnTo>
                  <a:lnTo>
                    <a:pt x="16200" y="21600"/>
                  </a:lnTo>
                  <a:lnTo>
                    <a:pt x="21600" y="0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9050">
              <a:solidFill>
                <a:sysClr val="windowText" lastClr="000000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20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F0502020204030204"/>
                <a:ea typeface="等线" panose="02010600030101010101" pitchFamily="2" charset="-122"/>
              </a:endParaRPr>
            </a:p>
          </p:txBody>
        </p:sp>
        <p:sp>
          <p:nvSpPr>
            <p:cNvPr id="59" name="Line 68">
              <a:extLst>
                <a:ext uri="{FF2B5EF4-FFF2-40B4-BE49-F238E27FC236}">
                  <a16:creationId xmlns:a16="http://schemas.microsoft.com/office/drawing/2014/main" id="{7B815BB3-E55D-A9D3-A122-6BFCAB1996F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374747" y="5040236"/>
              <a:ext cx="130809" cy="0"/>
            </a:xfrm>
            <a:prstGeom prst="line">
              <a:avLst/>
            </a:prstGeom>
            <a:noFill/>
            <a:ln w="19050">
              <a:solidFill>
                <a:sysClr val="windowText" lastClr="000000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20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F0502020204030204"/>
                <a:ea typeface="等线" panose="02010600030101010101" pitchFamily="2" charset="-122"/>
              </a:endParaRPr>
            </a:p>
          </p:txBody>
        </p:sp>
        <p:sp>
          <p:nvSpPr>
            <p:cNvPr id="60" name="Line 71">
              <a:extLst>
                <a:ext uri="{FF2B5EF4-FFF2-40B4-BE49-F238E27FC236}">
                  <a16:creationId xmlns:a16="http://schemas.microsoft.com/office/drawing/2014/main" id="{3A6141CC-5EFE-83A1-ECFB-E12BAFD7DAF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77288" y="5248556"/>
              <a:ext cx="364486" cy="0"/>
            </a:xfrm>
            <a:prstGeom prst="line">
              <a:avLst/>
            </a:prstGeom>
            <a:noFill/>
            <a:ln w="19050">
              <a:solidFill>
                <a:sysClr val="windowText" lastClr="000000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20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F0502020204030204"/>
                <a:ea typeface="等线" panose="02010600030101010101" pitchFamily="2" charset="-122"/>
              </a:endParaRPr>
            </a:p>
          </p:txBody>
        </p:sp>
        <p:sp>
          <p:nvSpPr>
            <p:cNvPr id="61" name="Line 72">
              <a:extLst>
                <a:ext uri="{FF2B5EF4-FFF2-40B4-BE49-F238E27FC236}">
                  <a16:creationId xmlns:a16="http://schemas.microsoft.com/office/drawing/2014/main" id="{FF40DA4E-1CD7-2302-99F2-33DBB2F2991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69777" y="4276398"/>
              <a:ext cx="810453" cy="0"/>
            </a:xfrm>
            <a:prstGeom prst="line">
              <a:avLst/>
            </a:prstGeom>
            <a:noFill/>
            <a:ln w="19050">
              <a:solidFill>
                <a:sysClr val="windowText" lastClr="000000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F0502020204030204"/>
                <a:ea typeface="等线" panose="02010600030101010101" pitchFamily="2" charset="-122"/>
              </a:endParaRPr>
            </a:p>
          </p:txBody>
        </p:sp>
        <p:sp>
          <p:nvSpPr>
            <p:cNvPr id="62" name="Oval 73">
              <a:extLst>
                <a:ext uri="{FF2B5EF4-FFF2-40B4-BE49-F238E27FC236}">
                  <a16:creationId xmlns:a16="http://schemas.microsoft.com/office/drawing/2014/main" id="{BD4FEDD0-2C41-3560-37E6-62A3206733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9677" y="3582000"/>
              <a:ext cx="455880" cy="486079"/>
            </a:xfrm>
            <a:prstGeom prst="ellipse">
              <a:avLst/>
            </a:prstGeom>
            <a:noFill/>
            <a:ln w="19050">
              <a:solidFill>
                <a:sysClr val="windowText" lastClr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F0502020204030204"/>
                <a:ea typeface="等线" panose="02010600030101010101" pitchFamily="2" charset="-122"/>
              </a:endParaRPr>
            </a:p>
          </p:txBody>
        </p:sp>
        <p:sp>
          <p:nvSpPr>
            <p:cNvPr id="63" name="Rectangle 74">
              <a:extLst>
                <a:ext uri="{FF2B5EF4-FFF2-40B4-BE49-F238E27FC236}">
                  <a16:creationId xmlns:a16="http://schemas.microsoft.com/office/drawing/2014/main" id="{A511930A-1954-5619-6043-ABA86E37DF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56648" y="3701686"/>
              <a:ext cx="441936" cy="239554"/>
            </a:xfrm>
            <a:prstGeom prst="rect">
              <a:avLst/>
            </a:prstGeom>
            <a:noFill/>
            <a:ln w="12700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19047" tIns="26984" rIns="19047" bIns="26984"/>
            <a:lstStyle/>
            <a:p>
              <a:pPr algn="ctr" defTabSz="903288" eaLnBrk="0" fontAlgn="auto" hangingPunct="0">
                <a:lnSpc>
                  <a:spcPts val="1600"/>
                </a:lnSpc>
                <a:spcBef>
                  <a:spcPts val="0"/>
                </a:spcBef>
                <a:spcAft>
                  <a:spcPts val="0"/>
                </a:spcAft>
                <a:tabLst>
                  <a:tab pos="452438" algn="l"/>
                  <a:tab pos="903288" algn="l"/>
                  <a:tab pos="1357313" algn="l"/>
                </a:tabLst>
              </a:pPr>
              <a:r>
                <a:rPr lang="en-US" altLang="zh-CN" sz="1400" dirty="0">
                  <a:solidFill>
                    <a:srgbClr val="000000"/>
                  </a:solidFill>
                  <a:latin typeface="Arial" pitchFamily="34" charset="0"/>
                  <a:ea typeface="等线" panose="02010600030101010101" pitchFamily="2" charset="-122"/>
                </a:rPr>
                <a:t>&lt;&lt;2</a:t>
              </a:r>
            </a:p>
          </p:txBody>
        </p:sp>
        <p:sp>
          <p:nvSpPr>
            <p:cNvPr id="64" name="Line 75">
              <a:extLst>
                <a:ext uri="{FF2B5EF4-FFF2-40B4-BE49-F238E27FC236}">
                  <a16:creationId xmlns:a16="http://schemas.microsoft.com/office/drawing/2014/main" id="{DC83A8E7-3337-78BB-AAB6-A1C51BB5196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77287" y="3859759"/>
              <a:ext cx="272390" cy="0"/>
            </a:xfrm>
            <a:prstGeom prst="line">
              <a:avLst/>
            </a:prstGeom>
            <a:noFill/>
            <a:ln w="19050">
              <a:solidFill>
                <a:sysClr val="windowText" lastClr="000000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F0502020204030204"/>
                <a:ea typeface="等线" panose="02010600030101010101" pitchFamily="2" charset="-122"/>
              </a:endParaRPr>
            </a:p>
          </p:txBody>
        </p:sp>
        <p:sp>
          <p:nvSpPr>
            <p:cNvPr id="65" name="Line 85">
              <a:extLst>
                <a:ext uri="{FF2B5EF4-FFF2-40B4-BE49-F238E27FC236}">
                  <a16:creationId xmlns:a16="http://schemas.microsoft.com/office/drawing/2014/main" id="{43EBCFA1-06CD-926A-CCAE-F65B0BACB31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500835" y="3859759"/>
              <a:ext cx="227940" cy="0"/>
            </a:xfrm>
            <a:prstGeom prst="line">
              <a:avLst/>
            </a:prstGeom>
            <a:noFill/>
            <a:ln w="19050">
              <a:solidFill>
                <a:sysClr val="windowText" lastClr="000000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F0502020204030204"/>
                <a:ea typeface="等线" panose="02010600030101010101" pitchFamily="2" charset="-122"/>
              </a:endParaRPr>
            </a:p>
          </p:txBody>
        </p:sp>
        <p:sp>
          <p:nvSpPr>
            <p:cNvPr id="66" name="Rectangle 86">
              <a:extLst>
                <a:ext uri="{FF2B5EF4-FFF2-40B4-BE49-F238E27FC236}">
                  <a16:creationId xmlns:a16="http://schemas.microsoft.com/office/drawing/2014/main" id="{5D402B52-8CB0-2B4F-0E00-D024E5CA5E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69275" y="4103862"/>
              <a:ext cx="1291659" cy="1117207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19050">
              <a:solidFill>
                <a:sysClr val="windowText" lastClr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F0502020204030204"/>
                <a:ea typeface="等线" panose="02010600030101010101" pitchFamily="2" charset="-122"/>
              </a:endParaRPr>
            </a:p>
          </p:txBody>
        </p:sp>
        <p:sp>
          <p:nvSpPr>
            <p:cNvPr id="67" name="Line 87">
              <a:extLst>
                <a:ext uri="{FF2B5EF4-FFF2-40B4-BE49-F238E27FC236}">
                  <a16:creationId xmlns:a16="http://schemas.microsoft.com/office/drawing/2014/main" id="{0EE8BF7B-D1DB-FE38-2F44-AB206EDF4CA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341335" y="4693037"/>
              <a:ext cx="227940" cy="0"/>
            </a:xfrm>
            <a:prstGeom prst="line">
              <a:avLst/>
            </a:prstGeom>
            <a:noFill/>
            <a:ln w="19050">
              <a:solidFill>
                <a:sysClr val="windowText" lastClr="000000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F0502020204030204"/>
                <a:ea typeface="等线" panose="02010600030101010101" pitchFamily="2" charset="-122"/>
              </a:endParaRPr>
            </a:p>
          </p:txBody>
        </p:sp>
        <p:sp>
          <p:nvSpPr>
            <p:cNvPr id="68" name="Text Box 88">
              <a:extLst>
                <a:ext uri="{FF2B5EF4-FFF2-40B4-BE49-F238E27FC236}">
                  <a16:creationId xmlns:a16="http://schemas.microsoft.com/office/drawing/2014/main" id="{FA621CB6-46D5-0267-FE44-7360672A56F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797297" y="4083158"/>
              <a:ext cx="830645" cy="52320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1425" tIns="45713" rIns="91425" bIns="45713">
              <a:spAutoFit/>
            </a:bodyPr>
            <a:lstStyle>
              <a:lvl1pPr eaLnBrk="0" hangingPunct="0"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1pPr>
              <a:lvl2pPr marL="742950" indent="-285750" eaLnBrk="0" hangingPunct="0"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2pPr>
              <a:lvl3pPr marL="1143000" indent="-228600" eaLnBrk="0" hangingPunct="0"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3pPr>
              <a:lvl4pPr marL="1600200" indent="-228600" eaLnBrk="0" hangingPunct="0"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4pPr>
              <a:lvl5pPr marL="2057400" indent="-228600" eaLnBrk="0" hangingPunct="0"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9pPr>
            </a:lstStyle>
            <a:p>
              <a:pPr algn="ctr" fontAlgn="auto">
                <a:spcBef>
                  <a:spcPts val="0"/>
                </a:spcBef>
                <a:spcAft>
                  <a:spcPts val="0"/>
                </a:spcAft>
              </a:pPr>
              <a:r>
                <a:rPr lang="en-US" altLang="zh-CN" sz="1400" b="0" dirty="0">
                  <a:solidFill>
                    <a:prstClr val="black"/>
                  </a:solidFill>
                  <a:latin typeface="Arial" pitchFamily="34" charset="0"/>
                  <a:ea typeface="SimHei" panose="02010609060101010101" pitchFamily="49" charset="-122"/>
                </a:rPr>
                <a:t>Data</a:t>
              </a: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</a:pPr>
              <a:r>
                <a:rPr lang="en-US" altLang="zh-CN" sz="1400" b="0" dirty="0">
                  <a:solidFill>
                    <a:prstClr val="black"/>
                  </a:solidFill>
                  <a:latin typeface="Arial" pitchFamily="34" charset="0"/>
                  <a:ea typeface="SimHei" panose="02010609060101010101" pitchFamily="49" charset="-122"/>
                </a:rPr>
                <a:t>Memory</a:t>
              </a:r>
            </a:p>
          </p:txBody>
        </p:sp>
        <p:sp>
          <p:nvSpPr>
            <p:cNvPr id="69" name="Text Box 89">
              <a:extLst>
                <a:ext uri="{FF2B5EF4-FFF2-40B4-BE49-F238E27FC236}">
                  <a16:creationId xmlns:a16="http://schemas.microsoft.com/office/drawing/2014/main" id="{AEC5D3AF-043B-7036-42DD-3F670DCCB56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513614" y="4554157"/>
              <a:ext cx="508442" cy="27698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1425" tIns="45713" rIns="91425" bIns="45713">
              <a:spAutoFit/>
            </a:bodyPr>
            <a:lstStyle>
              <a:lvl1pPr eaLnBrk="0" hangingPunct="0"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1pPr>
              <a:lvl2pPr marL="742950" indent="-285750" eaLnBrk="0" hangingPunct="0"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2pPr>
              <a:lvl3pPr marL="1143000" indent="-228600" eaLnBrk="0" hangingPunct="0"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3pPr>
              <a:lvl4pPr marL="1600200" indent="-228600" eaLnBrk="0" hangingPunct="0"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4pPr>
              <a:lvl5pPr marL="2057400" indent="-228600" eaLnBrk="0" hangingPunct="0"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9pPr>
            </a:lstStyle>
            <a:p>
              <a:pPr fontAlgn="auto">
                <a:spcBef>
                  <a:spcPts val="0"/>
                </a:spcBef>
                <a:spcAft>
                  <a:spcPts val="0"/>
                </a:spcAft>
              </a:pPr>
              <a:r>
                <a:rPr lang="en-US" altLang="zh-CN" sz="1200" b="0" dirty="0" err="1">
                  <a:solidFill>
                    <a:prstClr val="black"/>
                  </a:solidFill>
                  <a:latin typeface="Arial" pitchFamily="34" charset="0"/>
                  <a:ea typeface="SimHei" panose="02010609060101010101" pitchFamily="49" charset="-122"/>
                </a:rPr>
                <a:t>Addr</a:t>
              </a:r>
              <a:endParaRPr lang="en-US" altLang="zh-CN" sz="1200" b="0" dirty="0">
                <a:solidFill>
                  <a:prstClr val="black"/>
                </a:solidFill>
                <a:latin typeface="Arial" pitchFamily="34" charset="0"/>
                <a:ea typeface="SimHei" panose="02010609060101010101" pitchFamily="49" charset="-122"/>
              </a:endParaRPr>
            </a:p>
          </p:txBody>
        </p:sp>
        <p:sp>
          <p:nvSpPr>
            <p:cNvPr id="70" name="Text Box 90">
              <a:extLst>
                <a:ext uri="{FF2B5EF4-FFF2-40B4-BE49-F238E27FC236}">
                  <a16:creationId xmlns:a16="http://schemas.microsoft.com/office/drawing/2014/main" id="{51D979DC-CD68-26C8-DD39-9CB1FA6149C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513614" y="4901356"/>
              <a:ext cx="908039" cy="27698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1425" tIns="45713" rIns="91425" bIns="45713">
              <a:spAutoFit/>
            </a:bodyPr>
            <a:lstStyle>
              <a:lvl1pPr eaLnBrk="0" hangingPunct="0"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1pPr>
              <a:lvl2pPr marL="742950" indent="-285750" eaLnBrk="0" hangingPunct="0"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2pPr>
              <a:lvl3pPr marL="1143000" indent="-228600" eaLnBrk="0" hangingPunct="0"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3pPr>
              <a:lvl4pPr marL="1600200" indent="-228600" eaLnBrk="0" hangingPunct="0"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4pPr>
              <a:lvl5pPr marL="2057400" indent="-228600" eaLnBrk="0" hangingPunct="0"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9pPr>
            </a:lstStyle>
            <a:p>
              <a:pPr fontAlgn="auto">
                <a:spcBef>
                  <a:spcPts val="0"/>
                </a:spcBef>
                <a:spcAft>
                  <a:spcPts val="0"/>
                </a:spcAft>
              </a:pPr>
              <a:r>
                <a:rPr lang="en-US" altLang="zh-CN" sz="1200" b="0" dirty="0">
                  <a:solidFill>
                    <a:prstClr val="black"/>
                  </a:solidFill>
                  <a:latin typeface="Arial" pitchFamily="34" charset="0"/>
                  <a:ea typeface="SimHei" panose="02010609060101010101" pitchFamily="49" charset="-122"/>
                </a:rPr>
                <a:t>Write Data</a:t>
              </a:r>
            </a:p>
          </p:txBody>
        </p:sp>
        <p:sp>
          <p:nvSpPr>
            <p:cNvPr id="71" name="Text Box 91">
              <a:extLst>
                <a:ext uri="{FF2B5EF4-FFF2-40B4-BE49-F238E27FC236}">
                  <a16:creationId xmlns:a16="http://schemas.microsoft.com/office/drawing/2014/main" id="{E7CB6134-B1E7-3F7D-22D3-71C61AD8B1C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026179" y="4549666"/>
              <a:ext cx="917208" cy="27698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1425" tIns="45713" rIns="91425" bIns="45713">
              <a:spAutoFit/>
            </a:bodyPr>
            <a:lstStyle>
              <a:lvl1pPr eaLnBrk="0" hangingPunct="0"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1pPr>
              <a:lvl2pPr marL="742950" indent="-285750" eaLnBrk="0" hangingPunct="0"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2pPr>
              <a:lvl3pPr marL="1143000" indent="-228600" eaLnBrk="0" hangingPunct="0"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3pPr>
              <a:lvl4pPr marL="1600200" indent="-228600" eaLnBrk="0" hangingPunct="0"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4pPr>
              <a:lvl5pPr marL="2057400" indent="-228600" eaLnBrk="0" hangingPunct="0"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9pPr>
            </a:lstStyle>
            <a:p>
              <a:pPr fontAlgn="auto">
                <a:spcBef>
                  <a:spcPts val="0"/>
                </a:spcBef>
                <a:spcAft>
                  <a:spcPts val="0"/>
                </a:spcAft>
              </a:pPr>
              <a:r>
                <a:rPr lang="en-US" altLang="zh-CN" sz="1200" b="0" dirty="0">
                  <a:solidFill>
                    <a:prstClr val="black"/>
                  </a:solidFill>
                  <a:latin typeface="Arial" pitchFamily="34" charset="0"/>
                  <a:ea typeface="SimHei" panose="02010609060101010101" pitchFamily="49" charset="-122"/>
                </a:rPr>
                <a:t>Read Data</a:t>
              </a:r>
            </a:p>
          </p:txBody>
        </p:sp>
        <p:sp>
          <p:nvSpPr>
            <p:cNvPr id="72" name="Line 92">
              <a:extLst>
                <a:ext uri="{FF2B5EF4-FFF2-40B4-BE49-F238E27FC236}">
                  <a16:creationId xmlns:a16="http://schemas.microsoft.com/office/drawing/2014/main" id="{80F92898-C8CD-9D21-B1F3-CFA853C9F49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341335" y="5040236"/>
              <a:ext cx="227940" cy="0"/>
            </a:xfrm>
            <a:prstGeom prst="line">
              <a:avLst/>
            </a:prstGeom>
            <a:noFill/>
            <a:ln w="19050">
              <a:solidFill>
                <a:sysClr val="windowText" lastClr="000000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F0502020204030204"/>
                <a:ea typeface="等线" panose="02010600030101010101" pitchFamily="2" charset="-122"/>
              </a:endParaRPr>
            </a:p>
          </p:txBody>
        </p:sp>
        <p:sp>
          <p:nvSpPr>
            <p:cNvPr id="73" name="Line 93">
              <a:extLst>
                <a:ext uri="{FF2B5EF4-FFF2-40B4-BE49-F238E27FC236}">
                  <a16:creationId xmlns:a16="http://schemas.microsoft.com/office/drawing/2014/main" id="{7267139D-B681-0C72-84A0-95513220C2C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164854" y="5040236"/>
              <a:ext cx="227940" cy="1447"/>
            </a:xfrm>
            <a:prstGeom prst="line">
              <a:avLst/>
            </a:prstGeom>
            <a:noFill/>
            <a:ln w="38100">
              <a:solidFill>
                <a:srgbClr val="C00000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F0502020204030204"/>
                <a:ea typeface="等线" panose="02010600030101010101" pitchFamily="2" charset="-122"/>
              </a:endParaRPr>
            </a:p>
          </p:txBody>
        </p:sp>
        <p:sp>
          <p:nvSpPr>
            <p:cNvPr id="74" name="AutoShape 94">
              <a:extLst>
                <a:ext uri="{FF2B5EF4-FFF2-40B4-BE49-F238E27FC236}">
                  <a16:creationId xmlns:a16="http://schemas.microsoft.com/office/drawing/2014/main" id="{914FE94E-CE9B-8788-79DF-116061A1CCC1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6200000">
              <a:off x="8194284" y="4752667"/>
              <a:ext cx="624959" cy="227940"/>
            </a:xfrm>
            <a:custGeom>
              <a:avLst/>
              <a:gdLst>
                <a:gd name="T0" fmla="*/ 8 w 21600"/>
                <a:gd name="T1" fmla="*/ 0 h 21600"/>
                <a:gd name="T2" fmla="*/ 4 w 21600"/>
                <a:gd name="T3" fmla="*/ 1 h 21600"/>
                <a:gd name="T4" fmla="*/ 1 w 21600"/>
                <a:gd name="T5" fmla="*/ 0 h 21600"/>
                <a:gd name="T6" fmla="*/ 4 w 21600"/>
                <a:gd name="T7" fmla="*/ 0 h 21600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4500 w 21600"/>
                <a:gd name="T13" fmla="*/ 4500 h 21600"/>
                <a:gd name="T14" fmla="*/ 17100 w 21600"/>
                <a:gd name="T15" fmla="*/ 17100 h 2160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600" h="21600">
                  <a:moveTo>
                    <a:pt x="0" y="0"/>
                  </a:moveTo>
                  <a:lnTo>
                    <a:pt x="5400" y="21600"/>
                  </a:lnTo>
                  <a:lnTo>
                    <a:pt x="16200" y="21600"/>
                  </a:lnTo>
                  <a:lnTo>
                    <a:pt x="21600" y="0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9050">
              <a:solidFill>
                <a:sysClr val="windowText" lastClr="000000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F0502020204030204"/>
                <a:ea typeface="等线" panose="02010600030101010101" pitchFamily="2" charset="-122"/>
              </a:endParaRPr>
            </a:p>
          </p:txBody>
        </p:sp>
        <p:sp>
          <p:nvSpPr>
            <p:cNvPr id="75" name="Line 98">
              <a:extLst>
                <a:ext uri="{FF2B5EF4-FFF2-40B4-BE49-F238E27FC236}">
                  <a16:creationId xmlns:a16="http://schemas.microsoft.com/office/drawing/2014/main" id="{42B61773-A4AE-A300-7581-69C2937358C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65857" y="4276398"/>
              <a:ext cx="151960" cy="0"/>
            </a:xfrm>
            <a:prstGeom prst="line">
              <a:avLst/>
            </a:prstGeom>
            <a:noFill/>
            <a:ln w="19050">
              <a:solidFill>
                <a:sysClr val="windowText" lastClr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20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F0502020204030204"/>
                <a:ea typeface="等线" panose="02010600030101010101" pitchFamily="2" charset="-122"/>
              </a:endParaRPr>
            </a:p>
          </p:txBody>
        </p:sp>
        <p:sp>
          <p:nvSpPr>
            <p:cNvPr id="76" name="Line 99">
              <a:extLst>
                <a:ext uri="{FF2B5EF4-FFF2-40B4-BE49-F238E27FC236}">
                  <a16:creationId xmlns:a16="http://schemas.microsoft.com/office/drawing/2014/main" id="{801BA9C7-E19A-4EE3-46EB-88B064BE23E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46259" y="5109676"/>
              <a:ext cx="0" cy="1525123"/>
            </a:xfrm>
            <a:prstGeom prst="line">
              <a:avLst/>
            </a:prstGeom>
            <a:noFill/>
            <a:ln w="19050">
              <a:solidFill>
                <a:sysClr val="windowText" lastClr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F0502020204030204"/>
                <a:ea typeface="等线" panose="02010600030101010101" pitchFamily="2" charset="-122"/>
              </a:endParaRPr>
            </a:p>
          </p:txBody>
        </p:sp>
        <p:sp>
          <p:nvSpPr>
            <p:cNvPr id="77" name="Line 100">
              <a:extLst>
                <a:ext uri="{FF2B5EF4-FFF2-40B4-BE49-F238E27FC236}">
                  <a16:creationId xmlns:a16="http://schemas.microsoft.com/office/drawing/2014/main" id="{D7F8C9C5-016E-C9C9-DC6C-F72A0B1287F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086459" y="3443120"/>
              <a:ext cx="227940" cy="0"/>
            </a:xfrm>
            <a:prstGeom prst="line">
              <a:avLst/>
            </a:prstGeom>
            <a:noFill/>
            <a:ln w="19050">
              <a:solidFill>
                <a:sysClr val="windowText" lastClr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F0502020204030204"/>
                <a:ea typeface="等线" panose="02010600030101010101" pitchFamily="2" charset="-122"/>
              </a:endParaRPr>
            </a:p>
          </p:txBody>
        </p:sp>
        <p:sp>
          <p:nvSpPr>
            <p:cNvPr id="78" name="Line 101">
              <a:extLst>
                <a:ext uri="{FF2B5EF4-FFF2-40B4-BE49-F238E27FC236}">
                  <a16:creationId xmlns:a16="http://schemas.microsoft.com/office/drawing/2014/main" id="{B9E56A0B-781D-097F-89B9-87AF69FECC8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26660" y="2540402"/>
              <a:ext cx="911759" cy="0"/>
            </a:xfrm>
            <a:prstGeom prst="line">
              <a:avLst/>
            </a:prstGeom>
            <a:noFill/>
            <a:ln w="19050">
              <a:solidFill>
                <a:sysClr val="windowText" lastClr="000000"/>
              </a:solidFill>
              <a:round/>
              <a:headEnd type="triangle" w="med" len="med"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F0502020204030204"/>
                <a:ea typeface="等线" panose="02010600030101010101" pitchFamily="2" charset="-122"/>
              </a:endParaRPr>
            </a:p>
          </p:txBody>
        </p:sp>
        <p:sp>
          <p:nvSpPr>
            <p:cNvPr id="79" name="Line 102">
              <a:extLst>
                <a:ext uri="{FF2B5EF4-FFF2-40B4-BE49-F238E27FC236}">
                  <a16:creationId xmlns:a16="http://schemas.microsoft.com/office/drawing/2014/main" id="{43A195FA-B022-8344-53DC-C9BB10E7CBC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618319" y="4623597"/>
              <a:ext cx="151960" cy="0"/>
            </a:xfrm>
            <a:prstGeom prst="line">
              <a:avLst/>
            </a:prstGeom>
            <a:noFill/>
            <a:ln w="19050">
              <a:solidFill>
                <a:sysClr val="windowText" lastClr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F0502020204030204"/>
                <a:ea typeface="等线" panose="02010600030101010101" pitchFamily="2" charset="-122"/>
              </a:endParaRPr>
            </a:p>
          </p:txBody>
        </p:sp>
        <p:sp>
          <p:nvSpPr>
            <p:cNvPr id="80" name="Line 103">
              <a:extLst>
                <a:ext uri="{FF2B5EF4-FFF2-40B4-BE49-F238E27FC236}">
                  <a16:creationId xmlns:a16="http://schemas.microsoft.com/office/drawing/2014/main" id="{BBF3B4AB-AD0D-4171-71FC-9FCE8D7C0BB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860934" y="4693037"/>
              <a:ext cx="151609" cy="0"/>
            </a:xfrm>
            <a:prstGeom prst="line">
              <a:avLst/>
            </a:prstGeom>
            <a:noFill/>
            <a:ln w="19050">
              <a:solidFill>
                <a:sysClr val="windowText" lastClr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F0502020204030204"/>
                <a:ea typeface="等线" panose="02010600030101010101" pitchFamily="2" charset="-122"/>
              </a:endParaRPr>
            </a:p>
          </p:txBody>
        </p:sp>
        <p:sp>
          <p:nvSpPr>
            <p:cNvPr id="81" name="Rectangle 104">
              <a:extLst>
                <a:ext uri="{FF2B5EF4-FFF2-40B4-BE49-F238E27FC236}">
                  <a16:creationId xmlns:a16="http://schemas.microsoft.com/office/drawing/2014/main" id="{E109E4D1-AB1E-B83B-0760-0C0A48079B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66359" y="3234800"/>
              <a:ext cx="151960" cy="2013755"/>
            </a:xfrm>
            <a:prstGeom prst="rect">
              <a:avLst/>
            </a:prstGeom>
            <a:solidFill>
              <a:srgbClr val="A6E2F9"/>
            </a:solidFill>
            <a:ln w="19050">
              <a:solidFill>
                <a:sysClr val="windowText" lastClr="000000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F0502020204030204"/>
                <a:ea typeface="等线" panose="02010600030101010101" pitchFamily="2" charset="-122"/>
              </a:endParaRPr>
            </a:p>
          </p:txBody>
        </p:sp>
        <p:sp>
          <p:nvSpPr>
            <p:cNvPr id="82" name="Rectangle 105">
              <a:extLst>
                <a:ext uri="{FF2B5EF4-FFF2-40B4-BE49-F238E27FC236}">
                  <a16:creationId xmlns:a16="http://schemas.microsoft.com/office/drawing/2014/main" id="{CDD412C5-7319-CD62-5BCB-7CFD4CD16A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17816" y="2719431"/>
              <a:ext cx="158319" cy="3648398"/>
            </a:xfrm>
            <a:prstGeom prst="rect">
              <a:avLst/>
            </a:prstGeom>
            <a:solidFill>
              <a:srgbClr val="A6E2F9"/>
            </a:solidFill>
            <a:ln w="19050">
              <a:solidFill>
                <a:sysClr val="windowText" lastClr="000000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F0502020204030204"/>
                <a:ea typeface="等线" panose="02010600030101010101" pitchFamily="2" charset="-122"/>
              </a:endParaRPr>
            </a:p>
          </p:txBody>
        </p:sp>
        <p:sp>
          <p:nvSpPr>
            <p:cNvPr id="83" name="Line 106">
              <a:extLst>
                <a:ext uri="{FF2B5EF4-FFF2-40B4-BE49-F238E27FC236}">
                  <a16:creationId xmlns:a16="http://schemas.microsoft.com/office/drawing/2014/main" id="{6A80749D-D10C-3897-CA59-23AD9BDE441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238419" y="3443120"/>
              <a:ext cx="227940" cy="0"/>
            </a:xfrm>
            <a:prstGeom prst="line">
              <a:avLst/>
            </a:prstGeom>
            <a:noFill/>
            <a:ln w="19050">
              <a:solidFill>
                <a:sysClr val="windowText" lastClr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F0502020204030204"/>
                <a:ea typeface="等线" panose="02010600030101010101" pitchFamily="2" charset="-122"/>
              </a:endParaRPr>
            </a:p>
          </p:txBody>
        </p:sp>
        <p:sp>
          <p:nvSpPr>
            <p:cNvPr id="84" name="Line 107">
              <a:extLst>
                <a:ext uri="{FF2B5EF4-FFF2-40B4-BE49-F238E27FC236}">
                  <a16:creationId xmlns:a16="http://schemas.microsoft.com/office/drawing/2014/main" id="{B9FBAE0A-B874-766E-4212-28B9DB35C5A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618319" y="3443120"/>
              <a:ext cx="1899498" cy="0"/>
            </a:xfrm>
            <a:prstGeom prst="line">
              <a:avLst/>
            </a:prstGeom>
            <a:noFill/>
            <a:ln w="19050">
              <a:solidFill>
                <a:sysClr val="windowText" lastClr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F0502020204030204"/>
                <a:ea typeface="等线" panose="02010600030101010101" pitchFamily="2" charset="-122"/>
              </a:endParaRPr>
            </a:p>
          </p:txBody>
        </p:sp>
        <p:sp>
          <p:nvSpPr>
            <p:cNvPr id="85" name="Line 108">
              <a:extLst>
                <a:ext uri="{FF2B5EF4-FFF2-40B4-BE49-F238E27FC236}">
                  <a16:creationId xmlns:a16="http://schemas.microsoft.com/office/drawing/2014/main" id="{DA7936E8-D653-A8A1-EB96-67B5FB10D38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089652" y="3651439"/>
              <a:ext cx="99724" cy="0"/>
            </a:xfrm>
            <a:prstGeom prst="line">
              <a:avLst/>
            </a:prstGeom>
            <a:noFill/>
            <a:ln w="19050">
              <a:solidFill>
                <a:sysClr val="windowText" lastClr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F0502020204030204"/>
                <a:ea typeface="等线" panose="02010600030101010101" pitchFamily="2" charset="-122"/>
              </a:endParaRPr>
            </a:p>
          </p:txBody>
        </p:sp>
        <p:sp>
          <p:nvSpPr>
            <p:cNvPr id="86" name="Line 109">
              <a:extLst>
                <a:ext uri="{FF2B5EF4-FFF2-40B4-BE49-F238E27FC236}">
                  <a16:creationId xmlns:a16="http://schemas.microsoft.com/office/drawing/2014/main" id="{34F750D2-63B3-BF52-B115-FC1D903133F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69777" y="5734634"/>
              <a:ext cx="107510" cy="0"/>
            </a:xfrm>
            <a:prstGeom prst="line">
              <a:avLst/>
            </a:prstGeom>
            <a:noFill/>
            <a:ln w="19050">
              <a:solidFill>
                <a:sysClr val="windowText" lastClr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F0502020204030204"/>
                <a:ea typeface="等线" panose="02010600030101010101" pitchFamily="2" charset="-122"/>
              </a:endParaRPr>
            </a:p>
          </p:txBody>
        </p:sp>
        <p:sp>
          <p:nvSpPr>
            <p:cNvPr id="87" name="Line 110">
              <a:extLst>
                <a:ext uri="{FF2B5EF4-FFF2-40B4-BE49-F238E27FC236}">
                  <a16:creationId xmlns:a16="http://schemas.microsoft.com/office/drawing/2014/main" id="{C9C5FE02-D939-2061-F991-FD57E594F96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897717" y="4901356"/>
              <a:ext cx="0" cy="833278"/>
            </a:xfrm>
            <a:prstGeom prst="line">
              <a:avLst/>
            </a:prstGeom>
            <a:noFill/>
            <a:ln w="19050">
              <a:solidFill>
                <a:sysClr val="windowText" lastClr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20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F0502020204030204"/>
                <a:ea typeface="等线" panose="02010600030101010101" pitchFamily="2" charset="-122"/>
              </a:endParaRPr>
            </a:p>
          </p:txBody>
        </p:sp>
        <p:sp>
          <p:nvSpPr>
            <p:cNvPr id="88" name="Line 111">
              <a:extLst>
                <a:ext uri="{FF2B5EF4-FFF2-40B4-BE49-F238E27FC236}">
                  <a16:creationId xmlns:a16="http://schemas.microsoft.com/office/drawing/2014/main" id="{CCCCC108-190B-7DC9-8693-17348BA25B0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897717" y="5734634"/>
              <a:ext cx="1291659" cy="0"/>
            </a:xfrm>
            <a:prstGeom prst="line">
              <a:avLst/>
            </a:prstGeom>
            <a:noFill/>
            <a:ln w="19050">
              <a:solidFill>
                <a:sysClr val="windowText" lastClr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F0502020204030204"/>
                <a:ea typeface="等线" panose="02010600030101010101" pitchFamily="2" charset="-122"/>
              </a:endParaRPr>
            </a:p>
          </p:txBody>
        </p:sp>
        <p:sp>
          <p:nvSpPr>
            <p:cNvPr id="89" name="Rectangle 112">
              <a:extLst>
                <a:ext uri="{FF2B5EF4-FFF2-40B4-BE49-F238E27FC236}">
                  <a16:creationId xmlns:a16="http://schemas.microsoft.com/office/drawing/2014/main" id="{F3089D1B-0119-B163-853D-C01FF7B274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012894" y="3609775"/>
              <a:ext cx="151960" cy="2541498"/>
            </a:xfrm>
            <a:prstGeom prst="rect">
              <a:avLst/>
            </a:prstGeom>
            <a:solidFill>
              <a:srgbClr val="A6E2F9"/>
            </a:solidFill>
            <a:ln w="19050">
              <a:solidFill>
                <a:sysClr val="windowText" lastClr="000000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F0502020204030204"/>
                <a:ea typeface="等线" panose="02010600030101010101" pitchFamily="2" charset="-122"/>
              </a:endParaRPr>
            </a:p>
          </p:txBody>
        </p:sp>
        <p:sp>
          <p:nvSpPr>
            <p:cNvPr id="90" name="Line 113">
              <a:extLst>
                <a:ext uri="{FF2B5EF4-FFF2-40B4-BE49-F238E27FC236}">
                  <a16:creationId xmlns:a16="http://schemas.microsoft.com/office/drawing/2014/main" id="{BFE8A7F2-8D7F-7A2B-EB71-40A44E55EC0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417315" y="5734634"/>
              <a:ext cx="1595579" cy="0"/>
            </a:xfrm>
            <a:prstGeom prst="line">
              <a:avLst/>
            </a:prstGeom>
            <a:noFill/>
            <a:ln w="38100">
              <a:solidFill>
                <a:srgbClr val="C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F0502020204030204"/>
                <a:ea typeface="等线" panose="02010600030101010101" pitchFamily="2" charset="-122"/>
              </a:endParaRPr>
            </a:p>
          </p:txBody>
        </p:sp>
        <p:sp>
          <p:nvSpPr>
            <p:cNvPr id="91" name="Line 114">
              <a:extLst>
                <a:ext uri="{FF2B5EF4-FFF2-40B4-BE49-F238E27FC236}">
                  <a16:creationId xmlns:a16="http://schemas.microsoft.com/office/drawing/2014/main" id="{A3BC935B-F3A2-FE6C-7F92-B0AF5E9E5E8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164854" y="4693037"/>
              <a:ext cx="227940" cy="1447"/>
            </a:xfrm>
            <a:prstGeom prst="line">
              <a:avLst/>
            </a:prstGeom>
            <a:noFill/>
            <a:ln w="19050">
              <a:solidFill>
                <a:sysClr val="windowText" lastClr="000000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F0502020204030204"/>
                <a:ea typeface="等线" panose="02010600030101010101" pitchFamily="2" charset="-122"/>
              </a:endParaRPr>
            </a:p>
          </p:txBody>
        </p:sp>
        <p:sp>
          <p:nvSpPr>
            <p:cNvPr id="92" name="Line 115">
              <a:extLst>
                <a:ext uri="{FF2B5EF4-FFF2-40B4-BE49-F238E27FC236}">
                  <a16:creationId xmlns:a16="http://schemas.microsoft.com/office/drawing/2014/main" id="{1D7FD65E-148B-B5E2-7AE1-A8642650503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772693" y="4831916"/>
              <a:ext cx="0" cy="1802883"/>
            </a:xfrm>
            <a:prstGeom prst="line">
              <a:avLst/>
            </a:prstGeom>
            <a:noFill/>
            <a:ln w="19050">
              <a:solidFill>
                <a:sysClr val="windowText" lastClr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F0502020204030204"/>
                <a:ea typeface="等线" panose="02010600030101010101" pitchFamily="2" charset="-122"/>
              </a:endParaRPr>
            </a:p>
          </p:txBody>
        </p:sp>
        <p:sp>
          <p:nvSpPr>
            <p:cNvPr id="93" name="Line 116">
              <a:extLst>
                <a:ext uri="{FF2B5EF4-FFF2-40B4-BE49-F238E27FC236}">
                  <a16:creationId xmlns:a16="http://schemas.microsoft.com/office/drawing/2014/main" id="{48EBAA49-DC68-6DEA-F1C0-B794D717595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867755" y="2262641"/>
              <a:ext cx="0" cy="1388797"/>
            </a:xfrm>
            <a:prstGeom prst="line">
              <a:avLst/>
            </a:prstGeom>
            <a:noFill/>
            <a:ln w="19050">
              <a:solidFill>
                <a:sysClr val="windowText" lastClr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F0502020204030204"/>
                <a:ea typeface="等线" panose="02010600030101010101" pitchFamily="2" charset="-122"/>
              </a:endParaRPr>
            </a:p>
          </p:txBody>
        </p:sp>
        <p:sp>
          <p:nvSpPr>
            <p:cNvPr id="94" name="Line 117">
              <a:extLst>
                <a:ext uri="{FF2B5EF4-FFF2-40B4-BE49-F238E27FC236}">
                  <a16:creationId xmlns:a16="http://schemas.microsoft.com/office/drawing/2014/main" id="{9981C92D-897B-A559-1F07-06874EE6FE6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189375" y="5040236"/>
              <a:ext cx="151960" cy="694398"/>
            </a:xfrm>
            <a:prstGeom prst="line">
              <a:avLst/>
            </a:prstGeom>
            <a:noFill/>
            <a:ln w="28575" cap="rnd">
              <a:solidFill>
                <a:srgbClr val="ED7D31"/>
              </a:solidFill>
              <a:prstDash val="sysDot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F0502020204030204"/>
                <a:ea typeface="等线" panose="02010600030101010101" pitchFamily="2" charset="-122"/>
              </a:endParaRPr>
            </a:p>
          </p:txBody>
        </p:sp>
        <p:sp>
          <p:nvSpPr>
            <p:cNvPr id="95" name="Text Box 119">
              <a:extLst>
                <a:ext uri="{FF2B5EF4-FFF2-40B4-BE49-F238E27FC236}">
                  <a16:creationId xmlns:a16="http://schemas.microsoft.com/office/drawing/2014/main" id="{6DFCBA06-5B0D-1F1E-9E06-B01B934144E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229155" y="2843749"/>
              <a:ext cx="684773" cy="36931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1425" tIns="45713" rIns="91425" bIns="45713">
              <a:spAutoFit/>
            </a:bodyPr>
            <a:lstStyle>
              <a:lvl1pPr eaLnBrk="0" hangingPunct="0"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1pPr>
              <a:lvl2pPr marL="742950" indent="-285750" eaLnBrk="0" hangingPunct="0"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2pPr>
              <a:lvl3pPr marL="1143000" indent="-228600" eaLnBrk="0" hangingPunct="0"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3pPr>
              <a:lvl4pPr marL="1600200" indent="-228600" eaLnBrk="0" hangingPunct="0"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4pPr>
              <a:lvl5pPr marL="2057400" indent="-228600" eaLnBrk="0" hangingPunct="0"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9pPr>
            </a:lstStyle>
            <a:p>
              <a:pPr fontAlgn="auto">
                <a:spcBef>
                  <a:spcPts val="0"/>
                </a:spcBef>
                <a:spcAft>
                  <a:spcPts val="0"/>
                </a:spcAft>
              </a:pPr>
              <a:r>
                <a:rPr lang="en-US" altLang="zh-CN" b="0" dirty="0">
                  <a:solidFill>
                    <a:prstClr val="black"/>
                  </a:solidFill>
                  <a:latin typeface="Arial" pitchFamily="34" charset="0"/>
                  <a:ea typeface="SimHei" panose="02010609060101010101" pitchFamily="49" charset="-122"/>
                </a:rPr>
                <a:t>IF/ID</a:t>
              </a:r>
            </a:p>
          </p:txBody>
        </p:sp>
        <p:sp>
          <p:nvSpPr>
            <p:cNvPr id="96" name="Line 120">
              <a:extLst>
                <a:ext uri="{FF2B5EF4-FFF2-40B4-BE49-F238E27FC236}">
                  <a16:creationId xmlns:a16="http://schemas.microsoft.com/office/drawing/2014/main" id="{046465B8-C8FF-2500-8D2B-9CBB3CE28B3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777287" y="3859759"/>
              <a:ext cx="0" cy="1388797"/>
            </a:xfrm>
            <a:prstGeom prst="line">
              <a:avLst/>
            </a:prstGeom>
            <a:noFill/>
            <a:ln w="19050">
              <a:solidFill>
                <a:sysClr val="windowText" lastClr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F0502020204030204"/>
                <a:ea typeface="等线" panose="02010600030101010101" pitchFamily="2" charset="-122"/>
              </a:endParaRPr>
            </a:p>
          </p:txBody>
        </p:sp>
        <p:sp>
          <p:nvSpPr>
            <p:cNvPr id="97" name="Line 121">
              <a:extLst>
                <a:ext uri="{FF2B5EF4-FFF2-40B4-BE49-F238E27FC236}">
                  <a16:creationId xmlns:a16="http://schemas.microsoft.com/office/drawing/2014/main" id="{B6D862E1-6BDD-7C06-A5C6-840517D7102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947407" y="5734634"/>
              <a:ext cx="570411" cy="0"/>
            </a:xfrm>
            <a:prstGeom prst="line">
              <a:avLst/>
            </a:prstGeom>
            <a:noFill/>
            <a:ln w="19050">
              <a:solidFill>
                <a:sysClr val="windowText" lastClr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F0502020204030204"/>
                <a:ea typeface="等线" panose="02010600030101010101" pitchFamily="2" charset="-122"/>
              </a:endParaRPr>
            </a:p>
          </p:txBody>
        </p:sp>
        <p:sp>
          <p:nvSpPr>
            <p:cNvPr id="98" name="Line 122">
              <a:extLst>
                <a:ext uri="{FF2B5EF4-FFF2-40B4-BE49-F238E27FC236}">
                  <a16:creationId xmlns:a16="http://schemas.microsoft.com/office/drawing/2014/main" id="{8F0B323E-211F-8489-D538-0F48B239067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69777" y="3443120"/>
              <a:ext cx="1063719" cy="0"/>
            </a:xfrm>
            <a:prstGeom prst="line">
              <a:avLst/>
            </a:prstGeom>
            <a:noFill/>
            <a:ln w="19050">
              <a:solidFill>
                <a:sysClr val="windowText" lastClr="000000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F0502020204030204"/>
                <a:ea typeface="等线" panose="02010600030101010101" pitchFamily="2" charset="-122"/>
              </a:endParaRPr>
            </a:p>
          </p:txBody>
        </p:sp>
        <p:sp>
          <p:nvSpPr>
            <p:cNvPr id="99" name="Line 123">
              <a:extLst>
                <a:ext uri="{FF2B5EF4-FFF2-40B4-BE49-F238E27FC236}">
                  <a16:creationId xmlns:a16="http://schemas.microsoft.com/office/drawing/2014/main" id="{27DC9C69-AF1B-939C-FD5C-F062BE59269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238419" y="2540402"/>
              <a:ext cx="0" cy="902718"/>
            </a:xfrm>
            <a:prstGeom prst="line">
              <a:avLst/>
            </a:prstGeom>
            <a:noFill/>
            <a:ln w="19050">
              <a:solidFill>
                <a:sysClr val="windowText" lastClr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F0502020204030204"/>
                <a:ea typeface="等线" panose="02010600030101010101" pitchFamily="2" charset="-122"/>
              </a:endParaRPr>
            </a:p>
          </p:txBody>
        </p:sp>
        <p:sp>
          <p:nvSpPr>
            <p:cNvPr id="100" name="Line 124">
              <a:extLst>
                <a:ext uri="{FF2B5EF4-FFF2-40B4-BE49-F238E27FC236}">
                  <a16:creationId xmlns:a16="http://schemas.microsoft.com/office/drawing/2014/main" id="{BE476306-AA00-F813-45B1-4F087182477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961436" y="3956008"/>
              <a:ext cx="0" cy="389829"/>
            </a:xfrm>
            <a:prstGeom prst="line">
              <a:avLst/>
            </a:prstGeom>
            <a:noFill/>
            <a:ln w="19050">
              <a:solidFill>
                <a:sysClr val="windowText" lastClr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F0502020204030204"/>
                <a:ea typeface="等线" panose="02010600030101010101" pitchFamily="2" charset="-122"/>
              </a:endParaRPr>
            </a:p>
          </p:txBody>
        </p:sp>
        <p:sp>
          <p:nvSpPr>
            <p:cNvPr id="101" name="Line 125">
              <a:extLst>
                <a:ext uri="{FF2B5EF4-FFF2-40B4-BE49-F238E27FC236}">
                  <a16:creationId xmlns:a16="http://schemas.microsoft.com/office/drawing/2014/main" id="{451D6070-085D-1AD3-714F-E5BB421FA30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40328" y="3165361"/>
              <a:ext cx="0" cy="1458237"/>
            </a:xfrm>
            <a:prstGeom prst="line">
              <a:avLst/>
            </a:prstGeom>
            <a:noFill/>
            <a:ln w="19050">
              <a:solidFill>
                <a:sysClr val="windowText" lastClr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F0502020204030204"/>
                <a:ea typeface="等线" panose="02010600030101010101" pitchFamily="2" charset="-122"/>
              </a:endParaRPr>
            </a:p>
          </p:txBody>
        </p:sp>
        <p:sp>
          <p:nvSpPr>
            <p:cNvPr id="102" name="Rectangle 126">
              <a:extLst>
                <a:ext uri="{FF2B5EF4-FFF2-40B4-BE49-F238E27FC236}">
                  <a16:creationId xmlns:a16="http://schemas.microsoft.com/office/drawing/2014/main" id="{A260A785-6E34-0F7F-01CF-6C81809824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89375" y="2885049"/>
              <a:ext cx="151960" cy="3266225"/>
            </a:xfrm>
            <a:prstGeom prst="rect">
              <a:avLst/>
            </a:prstGeom>
            <a:solidFill>
              <a:srgbClr val="A6E2F9"/>
            </a:solidFill>
            <a:ln w="19050">
              <a:solidFill>
                <a:sysClr val="windowText" lastClr="000000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F0502020204030204"/>
                <a:ea typeface="等线" panose="02010600030101010101" pitchFamily="2" charset="-122"/>
              </a:endParaRPr>
            </a:p>
          </p:txBody>
        </p:sp>
        <p:sp>
          <p:nvSpPr>
            <p:cNvPr id="103" name="Oval 127">
              <a:extLst>
                <a:ext uri="{FF2B5EF4-FFF2-40B4-BE49-F238E27FC236}">
                  <a16:creationId xmlns:a16="http://schemas.microsoft.com/office/drawing/2014/main" id="{78CA31C9-1A1A-DB5F-DA63-7D064E96F1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50178" y="5526315"/>
              <a:ext cx="810453" cy="416639"/>
            </a:xfrm>
            <a:prstGeom prst="ellipse">
              <a:avLst/>
            </a:prstGeom>
            <a:solidFill>
              <a:sysClr val="window" lastClr="FFFFFF"/>
            </a:solidFill>
            <a:ln w="19050">
              <a:solidFill>
                <a:sysClr val="windowText" lastClr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F0502020204030204"/>
                <a:ea typeface="等线" panose="02010600030101010101" pitchFamily="2" charset="-122"/>
              </a:endParaRPr>
            </a:p>
          </p:txBody>
        </p:sp>
        <p:sp>
          <p:nvSpPr>
            <p:cNvPr id="104" name="Rectangle 128">
              <a:extLst>
                <a:ext uri="{FF2B5EF4-FFF2-40B4-BE49-F238E27FC236}">
                  <a16:creationId xmlns:a16="http://schemas.microsoft.com/office/drawing/2014/main" id="{E34CE5A3-7D94-09EE-5C89-82096C1760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02138" y="5513470"/>
              <a:ext cx="531860" cy="41663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19047" tIns="26984" rIns="19047" bIns="26984"/>
            <a:lstStyle/>
            <a:p>
              <a:pPr algn="ctr" eaLnBrk="0" fontAlgn="auto" hangingPunct="0">
                <a:spcBef>
                  <a:spcPts val="0"/>
                </a:spcBef>
                <a:spcAft>
                  <a:spcPts val="0"/>
                </a:spcAft>
              </a:pPr>
              <a:r>
                <a:rPr lang="en-US" altLang="zh-CN" sz="1200" dirty="0">
                  <a:solidFill>
                    <a:srgbClr val="000000"/>
                  </a:solidFill>
                  <a:latin typeface="Arial" pitchFamily="34" charset="0"/>
                  <a:ea typeface="等线" panose="02010600030101010101" pitchFamily="2" charset="-122"/>
                </a:rPr>
                <a:t>Sign</a:t>
              </a:r>
            </a:p>
            <a:p>
              <a:pPr algn="ctr" eaLnBrk="0" fontAlgn="auto" hangingPunct="0">
                <a:spcBef>
                  <a:spcPts val="0"/>
                </a:spcBef>
                <a:spcAft>
                  <a:spcPts val="0"/>
                </a:spcAft>
              </a:pPr>
              <a:r>
                <a:rPr lang="en-US" altLang="zh-CN" sz="1200" dirty="0">
                  <a:solidFill>
                    <a:srgbClr val="000000"/>
                  </a:solidFill>
                  <a:latin typeface="Arial" pitchFamily="34" charset="0"/>
                  <a:ea typeface="等线" panose="02010600030101010101" pitchFamily="2" charset="-122"/>
                </a:rPr>
                <a:t>Extend</a:t>
              </a:r>
            </a:p>
          </p:txBody>
        </p:sp>
        <p:sp>
          <p:nvSpPr>
            <p:cNvPr id="105" name="Line 129">
              <a:extLst>
                <a:ext uri="{FF2B5EF4-FFF2-40B4-BE49-F238E27FC236}">
                  <a16:creationId xmlns:a16="http://schemas.microsoft.com/office/drawing/2014/main" id="{574F59EB-2077-311E-29B5-AE9FD16D500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341334" y="3651439"/>
              <a:ext cx="526419" cy="0"/>
            </a:xfrm>
            <a:prstGeom prst="line">
              <a:avLst/>
            </a:prstGeom>
            <a:noFill/>
            <a:ln w="19050">
              <a:solidFill>
                <a:sysClr val="windowText" lastClr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F0502020204030204"/>
                <a:ea typeface="等线" panose="02010600030101010101" pitchFamily="2" charset="-122"/>
              </a:endParaRPr>
            </a:p>
          </p:txBody>
        </p:sp>
        <p:sp>
          <p:nvSpPr>
            <p:cNvPr id="106" name="Line 130">
              <a:extLst>
                <a:ext uri="{FF2B5EF4-FFF2-40B4-BE49-F238E27FC236}">
                  <a16:creationId xmlns:a16="http://schemas.microsoft.com/office/drawing/2014/main" id="{157FDF4A-9B27-B687-51A9-B6C8E2560C2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961436" y="3956009"/>
              <a:ext cx="227940" cy="0"/>
            </a:xfrm>
            <a:prstGeom prst="line">
              <a:avLst/>
            </a:prstGeom>
            <a:noFill/>
            <a:ln w="19050">
              <a:solidFill>
                <a:sysClr val="windowText" lastClr="000000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F0502020204030204"/>
                <a:ea typeface="等线" panose="02010600030101010101" pitchFamily="2" charset="-122"/>
              </a:endParaRPr>
            </a:p>
          </p:txBody>
        </p:sp>
        <p:sp>
          <p:nvSpPr>
            <p:cNvPr id="107" name="Line 131">
              <a:extLst>
                <a:ext uri="{FF2B5EF4-FFF2-40B4-BE49-F238E27FC236}">
                  <a16:creationId xmlns:a16="http://schemas.microsoft.com/office/drawing/2014/main" id="{5FC8ADBC-5E40-4476-43B2-BB5E0C1A6F4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341334" y="3956009"/>
              <a:ext cx="835780" cy="0"/>
            </a:xfrm>
            <a:prstGeom prst="line">
              <a:avLst/>
            </a:prstGeom>
            <a:noFill/>
            <a:ln w="19050">
              <a:solidFill>
                <a:sysClr val="windowText" lastClr="000000"/>
              </a:solidFill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F0502020204030204"/>
                <a:ea typeface="等线" panose="02010600030101010101" pitchFamily="2" charset="-122"/>
              </a:endParaRPr>
            </a:p>
          </p:txBody>
        </p:sp>
        <p:sp>
          <p:nvSpPr>
            <p:cNvPr id="108" name="Line 132">
              <a:extLst>
                <a:ext uri="{FF2B5EF4-FFF2-40B4-BE49-F238E27FC236}">
                  <a16:creationId xmlns:a16="http://schemas.microsoft.com/office/drawing/2014/main" id="{A7BB2E55-C00E-2FC7-5842-CA3247396FF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419482" y="4693037"/>
              <a:ext cx="0" cy="1062000"/>
            </a:xfrm>
            <a:prstGeom prst="line">
              <a:avLst/>
            </a:prstGeom>
            <a:noFill/>
            <a:ln w="38100">
              <a:solidFill>
                <a:srgbClr val="C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F0502020204030204"/>
                <a:ea typeface="等线" panose="02010600030101010101" pitchFamily="2" charset="-122"/>
              </a:endParaRPr>
            </a:p>
          </p:txBody>
        </p:sp>
        <p:sp>
          <p:nvSpPr>
            <p:cNvPr id="109" name="Text Box 133">
              <a:extLst>
                <a:ext uri="{FF2B5EF4-FFF2-40B4-BE49-F238E27FC236}">
                  <a16:creationId xmlns:a16="http://schemas.microsoft.com/office/drawing/2014/main" id="{18BE6AD9-EFCA-F5EA-46C6-58D6C7E802D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32612" y="2368841"/>
              <a:ext cx="787365" cy="36931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1425" tIns="45713" rIns="91425" bIns="45713">
              <a:spAutoFit/>
            </a:bodyPr>
            <a:lstStyle>
              <a:lvl1pPr eaLnBrk="0" hangingPunct="0"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1pPr>
              <a:lvl2pPr marL="742950" indent="-285750" eaLnBrk="0" hangingPunct="0"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2pPr>
              <a:lvl3pPr marL="1143000" indent="-228600" eaLnBrk="0" hangingPunct="0"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3pPr>
              <a:lvl4pPr marL="1600200" indent="-228600" eaLnBrk="0" hangingPunct="0"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4pPr>
              <a:lvl5pPr marL="2057400" indent="-228600" eaLnBrk="0" hangingPunct="0"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9pPr>
            </a:lstStyle>
            <a:p>
              <a:pPr fontAlgn="auto">
                <a:spcBef>
                  <a:spcPts val="0"/>
                </a:spcBef>
                <a:spcAft>
                  <a:spcPts val="0"/>
                </a:spcAft>
              </a:pPr>
              <a:r>
                <a:rPr lang="en-US" altLang="zh-CN" b="0" dirty="0">
                  <a:solidFill>
                    <a:prstClr val="black"/>
                  </a:solidFill>
                  <a:latin typeface="Arial" pitchFamily="34" charset="0"/>
                  <a:ea typeface="SimHei" panose="02010609060101010101" pitchFamily="49" charset="-122"/>
                </a:rPr>
                <a:t>ID/EX</a:t>
              </a:r>
            </a:p>
          </p:txBody>
        </p:sp>
        <p:sp>
          <p:nvSpPr>
            <p:cNvPr id="110" name="Text Box 134">
              <a:extLst>
                <a:ext uri="{FF2B5EF4-FFF2-40B4-BE49-F238E27FC236}">
                  <a16:creationId xmlns:a16="http://schemas.microsoft.com/office/drawing/2014/main" id="{D2F424A1-ED14-9318-8443-3DDAF09A499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772614" y="2545848"/>
              <a:ext cx="1095141" cy="36931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1425" tIns="45713" rIns="91425" bIns="45713">
              <a:spAutoFit/>
            </a:bodyPr>
            <a:lstStyle>
              <a:lvl1pPr eaLnBrk="0" hangingPunct="0"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1pPr>
              <a:lvl2pPr marL="742950" indent="-285750" eaLnBrk="0" hangingPunct="0"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2pPr>
              <a:lvl3pPr marL="1143000" indent="-228600" eaLnBrk="0" hangingPunct="0"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3pPr>
              <a:lvl4pPr marL="1600200" indent="-228600" eaLnBrk="0" hangingPunct="0"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4pPr>
              <a:lvl5pPr marL="2057400" indent="-228600" eaLnBrk="0" hangingPunct="0"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9pPr>
            </a:lstStyle>
            <a:p>
              <a:pPr fontAlgn="auto">
                <a:spcBef>
                  <a:spcPts val="0"/>
                </a:spcBef>
                <a:spcAft>
                  <a:spcPts val="0"/>
                </a:spcAft>
              </a:pPr>
              <a:r>
                <a:rPr lang="en-US" altLang="zh-CN" b="0" dirty="0">
                  <a:solidFill>
                    <a:prstClr val="black"/>
                  </a:solidFill>
                  <a:latin typeface="Arial" pitchFamily="34" charset="0"/>
                  <a:ea typeface="SimHei" panose="02010609060101010101" pitchFamily="49" charset="-122"/>
                </a:rPr>
                <a:t>EX/MEM</a:t>
              </a:r>
            </a:p>
          </p:txBody>
        </p:sp>
        <p:sp>
          <p:nvSpPr>
            <p:cNvPr id="111" name="Text Box 135">
              <a:extLst>
                <a:ext uri="{FF2B5EF4-FFF2-40B4-BE49-F238E27FC236}">
                  <a16:creationId xmlns:a16="http://schemas.microsoft.com/office/drawing/2014/main" id="{B4D45B78-BFF8-04EC-63DB-BCB4F356AFA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708974" y="3312920"/>
              <a:ext cx="1172085" cy="36931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1425" tIns="45713" rIns="91425" bIns="45713">
              <a:spAutoFit/>
            </a:bodyPr>
            <a:lstStyle>
              <a:lvl1pPr eaLnBrk="0" hangingPunct="0"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1pPr>
              <a:lvl2pPr marL="742950" indent="-285750" eaLnBrk="0" hangingPunct="0"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2pPr>
              <a:lvl3pPr marL="1143000" indent="-228600" eaLnBrk="0" hangingPunct="0"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3pPr>
              <a:lvl4pPr marL="1600200" indent="-228600" eaLnBrk="0" hangingPunct="0"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4pPr>
              <a:lvl5pPr marL="2057400" indent="-228600" eaLnBrk="0" hangingPunct="0"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9pPr>
            </a:lstStyle>
            <a:p>
              <a:pPr fontAlgn="auto">
                <a:spcBef>
                  <a:spcPts val="0"/>
                </a:spcBef>
                <a:spcAft>
                  <a:spcPts val="0"/>
                </a:spcAft>
              </a:pPr>
              <a:r>
                <a:rPr lang="en-US" altLang="zh-CN" b="0" dirty="0">
                  <a:solidFill>
                    <a:prstClr val="black"/>
                  </a:solidFill>
                  <a:latin typeface="Arial" pitchFamily="34" charset="0"/>
                  <a:ea typeface="SimHei" panose="02010609060101010101" pitchFamily="49" charset="-122"/>
                </a:rPr>
                <a:t>MEM/WB</a:t>
              </a:r>
            </a:p>
          </p:txBody>
        </p:sp>
        <p:sp>
          <p:nvSpPr>
            <p:cNvPr id="112" name="Line 13">
              <a:extLst>
                <a:ext uri="{FF2B5EF4-FFF2-40B4-BE49-F238E27FC236}">
                  <a16:creationId xmlns:a16="http://schemas.microsoft.com/office/drawing/2014/main" id="{8E1B267C-66ED-5888-4976-8393FC539B1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620733" y="4831917"/>
              <a:ext cx="151960" cy="0"/>
            </a:xfrm>
            <a:prstGeom prst="line">
              <a:avLst/>
            </a:prstGeom>
            <a:noFill/>
            <a:ln w="19050">
              <a:solidFill>
                <a:sysClr val="windowText" lastClr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F0502020204030204"/>
                <a:ea typeface="等线" panose="02010600030101010101" pitchFamily="2" charset="-122"/>
              </a:endParaRPr>
            </a:p>
          </p:txBody>
        </p:sp>
        <p:sp>
          <p:nvSpPr>
            <p:cNvPr id="113" name="Line 110">
              <a:extLst>
                <a:ext uri="{FF2B5EF4-FFF2-40B4-BE49-F238E27FC236}">
                  <a16:creationId xmlns:a16="http://schemas.microsoft.com/office/drawing/2014/main" id="{FAB78984-34F2-9826-05C1-F3B61379E28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769657" y="6012393"/>
              <a:ext cx="0" cy="236873"/>
            </a:xfrm>
            <a:prstGeom prst="line">
              <a:avLst/>
            </a:prstGeom>
            <a:noFill/>
            <a:ln w="19050">
              <a:solidFill>
                <a:sysClr val="windowText" lastClr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F0502020204030204"/>
                <a:ea typeface="等线" panose="02010600030101010101" pitchFamily="2" charset="-122"/>
              </a:endParaRPr>
            </a:p>
          </p:txBody>
        </p:sp>
        <p:sp>
          <p:nvSpPr>
            <p:cNvPr id="114" name="Line 8">
              <a:extLst>
                <a:ext uri="{FF2B5EF4-FFF2-40B4-BE49-F238E27FC236}">
                  <a16:creationId xmlns:a16="http://schemas.microsoft.com/office/drawing/2014/main" id="{BF004357-1F35-75A1-D272-DA5B23A9BB0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769657" y="6245756"/>
              <a:ext cx="1747538" cy="0"/>
            </a:xfrm>
            <a:prstGeom prst="line">
              <a:avLst/>
            </a:prstGeom>
            <a:noFill/>
            <a:ln w="19050">
              <a:solidFill>
                <a:sysClr val="windowText" lastClr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F0502020204030204"/>
                <a:ea typeface="等线" panose="02010600030101010101" pitchFamily="2" charset="-122"/>
              </a:endParaRPr>
            </a:p>
          </p:txBody>
        </p:sp>
        <p:sp>
          <p:nvSpPr>
            <p:cNvPr id="115" name="Line 9">
              <a:extLst>
                <a:ext uri="{FF2B5EF4-FFF2-40B4-BE49-F238E27FC236}">
                  <a16:creationId xmlns:a16="http://schemas.microsoft.com/office/drawing/2014/main" id="{B9A4ABD4-4E8B-F067-0BE2-0F16802557E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76135" y="6245756"/>
              <a:ext cx="262057" cy="0"/>
            </a:xfrm>
            <a:prstGeom prst="line">
              <a:avLst/>
            </a:prstGeom>
            <a:noFill/>
            <a:ln w="19050">
              <a:solidFill>
                <a:sysClr val="windowText" lastClr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F0502020204030204"/>
                <a:ea typeface="等线" panose="02010600030101010101" pitchFamily="2" charset="-122"/>
              </a:endParaRPr>
            </a:p>
          </p:txBody>
        </p:sp>
        <p:sp>
          <p:nvSpPr>
            <p:cNvPr id="116" name="AutoShape 67">
              <a:extLst>
                <a:ext uri="{FF2B5EF4-FFF2-40B4-BE49-F238E27FC236}">
                  <a16:creationId xmlns:a16="http://schemas.microsoft.com/office/drawing/2014/main" id="{08A9F1B1-43DC-D64A-65DE-5564D943A07A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6200000">
              <a:off x="4774432" y="5943648"/>
              <a:ext cx="565593" cy="236773"/>
            </a:xfrm>
            <a:custGeom>
              <a:avLst/>
              <a:gdLst>
                <a:gd name="T0" fmla="*/ 9 w 21600"/>
                <a:gd name="T1" fmla="*/ 0 h 21600"/>
                <a:gd name="T2" fmla="*/ 5 w 21600"/>
                <a:gd name="T3" fmla="*/ 1 h 21600"/>
                <a:gd name="T4" fmla="*/ 1 w 21600"/>
                <a:gd name="T5" fmla="*/ 0 h 21600"/>
                <a:gd name="T6" fmla="*/ 5 w 21600"/>
                <a:gd name="T7" fmla="*/ 0 h 21600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4500 w 21600"/>
                <a:gd name="T13" fmla="*/ 4500 h 21600"/>
                <a:gd name="T14" fmla="*/ 17100 w 21600"/>
                <a:gd name="T15" fmla="*/ 17100 h 2160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600" h="21600">
                  <a:moveTo>
                    <a:pt x="0" y="0"/>
                  </a:moveTo>
                  <a:lnTo>
                    <a:pt x="5400" y="21600"/>
                  </a:lnTo>
                  <a:lnTo>
                    <a:pt x="16200" y="21600"/>
                  </a:lnTo>
                  <a:lnTo>
                    <a:pt x="21600" y="0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9050">
              <a:solidFill>
                <a:sysClr val="windowText" lastClr="000000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2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F0502020204030204"/>
                <a:ea typeface="等线" panose="02010600030101010101" pitchFamily="2" charset="-122"/>
              </a:endParaRPr>
            </a:p>
          </p:txBody>
        </p:sp>
        <p:sp>
          <p:nvSpPr>
            <p:cNvPr id="117" name="Rectangle 70">
              <a:extLst>
                <a:ext uri="{FF2B5EF4-FFF2-40B4-BE49-F238E27FC236}">
                  <a16:creationId xmlns:a16="http://schemas.microsoft.com/office/drawing/2014/main" id="{B907A6EE-D28A-5F1B-53DF-FD36BE343D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73073" y="6096560"/>
              <a:ext cx="137639" cy="20832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19047" tIns="26984" rIns="19047" bIns="26984"/>
            <a:lstStyle/>
            <a:p>
              <a:pPr algn="ctr" eaLnBrk="0" fontAlgn="auto" hangingPunct="0">
                <a:lnSpc>
                  <a:spcPct val="75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en-US" altLang="zh-CN" sz="1400" dirty="0">
                  <a:solidFill>
                    <a:prstClr val="black"/>
                  </a:solidFill>
                  <a:latin typeface="Arial" pitchFamily="34" charset="0"/>
                  <a:ea typeface="等线" panose="02010600030101010101" pitchFamily="2" charset="-122"/>
                </a:rPr>
                <a:t>1</a:t>
              </a:r>
            </a:p>
          </p:txBody>
        </p:sp>
        <p:sp>
          <p:nvSpPr>
            <p:cNvPr id="118" name="Line 10">
              <a:extLst>
                <a:ext uri="{FF2B5EF4-FFF2-40B4-BE49-F238E27FC236}">
                  <a16:creationId xmlns:a16="http://schemas.microsoft.com/office/drawing/2014/main" id="{7FC56DDB-9830-2FA8-20C8-DBCC67854F8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68687" y="6012393"/>
              <a:ext cx="1008061" cy="0"/>
            </a:xfrm>
            <a:prstGeom prst="line">
              <a:avLst/>
            </a:prstGeom>
            <a:noFill/>
            <a:ln w="19050">
              <a:solidFill>
                <a:sysClr val="windowText" lastClr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F0502020204030204"/>
                <a:ea typeface="等线" panose="02010600030101010101" pitchFamily="2" charset="-122"/>
              </a:endParaRPr>
            </a:p>
          </p:txBody>
        </p:sp>
        <p:sp>
          <p:nvSpPr>
            <p:cNvPr id="119" name="Text Box 30">
              <a:extLst>
                <a:ext uri="{FF2B5EF4-FFF2-40B4-BE49-F238E27FC236}">
                  <a16:creationId xmlns:a16="http://schemas.microsoft.com/office/drawing/2014/main" id="{B2B43AEE-5B70-A146-9A19-BB16F4CA7A7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96948" y="4286580"/>
              <a:ext cx="500428" cy="27698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1425" tIns="45713" rIns="91425" bIns="45713">
              <a:spAutoFit/>
            </a:bodyPr>
            <a:lstStyle>
              <a:lvl1pPr eaLnBrk="0" hangingPunct="0"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1pPr>
              <a:lvl2pPr marL="742950" indent="-285750" eaLnBrk="0" hangingPunct="0"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2pPr>
              <a:lvl3pPr marL="1143000" indent="-228600" eaLnBrk="0" hangingPunct="0"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3pPr>
              <a:lvl4pPr marL="1600200" indent="-228600" eaLnBrk="0" hangingPunct="0"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4pPr>
              <a:lvl5pPr marL="2057400" indent="-228600" eaLnBrk="0" hangingPunct="0"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9pPr>
            </a:lstStyle>
            <a:p>
              <a:pPr fontAlgn="auto">
                <a:spcBef>
                  <a:spcPts val="0"/>
                </a:spcBef>
                <a:spcAft>
                  <a:spcPts val="0"/>
                </a:spcAft>
              </a:pPr>
              <a:r>
                <a:rPr lang="en-US" altLang="zh-CN" sz="1200" b="0" dirty="0">
                  <a:solidFill>
                    <a:prstClr val="black"/>
                  </a:solidFill>
                  <a:latin typeface="Arial" pitchFamily="34" charset="0"/>
                  <a:ea typeface="SimHei" panose="02010609060101010101" pitchFamily="49" charset="-122"/>
                </a:rPr>
                <a:t>Zero</a:t>
              </a:r>
            </a:p>
          </p:txBody>
        </p:sp>
        <p:sp>
          <p:nvSpPr>
            <p:cNvPr id="120" name="Line 124">
              <a:extLst>
                <a:ext uri="{FF2B5EF4-FFF2-40B4-BE49-F238E27FC236}">
                  <a16:creationId xmlns:a16="http://schemas.microsoft.com/office/drawing/2014/main" id="{C0AFBE44-2055-7F9A-1434-F4D6999DB0B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177114" y="2713192"/>
              <a:ext cx="0" cy="1236577"/>
            </a:xfrm>
            <a:prstGeom prst="line">
              <a:avLst/>
            </a:prstGeom>
            <a:noFill/>
            <a:ln w="19050">
              <a:solidFill>
                <a:sysClr val="windowText" lastClr="000000"/>
              </a:solidFill>
              <a:round/>
              <a:headEnd type="none" w="med" len="med"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F0502020204030204"/>
                <a:ea typeface="等线" panose="02010600030101010101" pitchFamily="2" charset="-122"/>
              </a:endParaRPr>
            </a:p>
          </p:txBody>
        </p:sp>
        <p:sp>
          <p:nvSpPr>
            <p:cNvPr id="121" name="Rectangle 70">
              <a:extLst>
                <a:ext uri="{FF2B5EF4-FFF2-40B4-BE49-F238E27FC236}">
                  <a16:creationId xmlns:a16="http://schemas.microsoft.com/office/drawing/2014/main" id="{1A8A50B2-ACCD-7A58-8DB0-D0481FF8DD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76984" y="5877480"/>
              <a:ext cx="137639" cy="18354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19047" tIns="26984" rIns="19047" bIns="26984"/>
            <a:lstStyle/>
            <a:p>
              <a:pPr algn="ctr" eaLnBrk="0" fontAlgn="auto" hangingPunct="0">
                <a:lnSpc>
                  <a:spcPct val="75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en-US" altLang="zh-CN" sz="1400" dirty="0">
                  <a:solidFill>
                    <a:prstClr val="black"/>
                  </a:solidFill>
                  <a:latin typeface="Arial" pitchFamily="34" charset="0"/>
                  <a:ea typeface="等线" panose="02010600030101010101" pitchFamily="2" charset="-122"/>
                </a:rPr>
                <a:t>0</a:t>
              </a:r>
            </a:p>
          </p:txBody>
        </p:sp>
        <p:sp>
          <p:nvSpPr>
            <p:cNvPr id="122" name="Rectangle 70">
              <a:extLst>
                <a:ext uri="{FF2B5EF4-FFF2-40B4-BE49-F238E27FC236}">
                  <a16:creationId xmlns:a16="http://schemas.microsoft.com/office/drawing/2014/main" id="{F0ED5AAA-6DFF-9796-FA47-A576ED94AB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73314" y="5109676"/>
              <a:ext cx="137639" cy="20832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19047" tIns="26984" rIns="19047" bIns="26984"/>
            <a:lstStyle/>
            <a:p>
              <a:pPr algn="ctr" eaLnBrk="0" fontAlgn="auto" hangingPunct="0">
                <a:lnSpc>
                  <a:spcPct val="75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en-US" altLang="zh-CN" sz="1400" dirty="0">
                  <a:solidFill>
                    <a:prstClr val="black"/>
                  </a:solidFill>
                  <a:latin typeface="Arial" pitchFamily="34" charset="0"/>
                  <a:ea typeface="等线" panose="02010600030101010101" pitchFamily="2" charset="-122"/>
                </a:rPr>
                <a:t>1</a:t>
              </a:r>
            </a:p>
          </p:txBody>
        </p:sp>
        <p:sp>
          <p:nvSpPr>
            <p:cNvPr id="123" name="Rectangle 70">
              <a:extLst>
                <a:ext uri="{FF2B5EF4-FFF2-40B4-BE49-F238E27FC236}">
                  <a16:creationId xmlns:a16="http://schemas.microsoft.com/office/drawing/2014/main" id="{608AC67C-5874-3B46-6618-F4E716750E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78271" y="4831916"/>
              <a:ext cx="137639" cy="18354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19047" tIns="26984" rIns="19047" bIns="26984"/>
            <a:lstStyle/>
            <a:p>
              <a:pPr algn="ctr" eaLnBrk="0" fontAlgn="auto" hangingPunct="0">
                <a:lnSpc>
                  <a:spcPct val="75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en-US" altLang="zh-CN" sz="1400" dirty="0">
                  <a:solidFill>
                    <a:prstClr val="black"/>
                  </a:solidFill>
                  <a:latin typeface="Arial" pitchFamily="34" charset="0"/>
                  <a:ea typeface="等线" panose="02010600030101010101" pitchFamily="2" charset="-122"/>
                </a:rPr>
                <a:t>0</a:t>
              </a:r>
            </a:p>
          </p:txBody>
        </p:sp>
        <p:sp>
          <p:nvSpPr>
            <p:cNvPr id="124" name="Rectangle 70">
              <a:extLst>
                <a:ext uri="{FF2B5EF4-FFF2-40B4-BE49-F238E27FC236}">
                  <a16:creationId xmlns:a16="http://schemas.microsoft.com/office/drawing/2014/main" id="{05CDCBA4-949E-1D6A-75A9-339164D568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68701" y="2211418"/>
              <a:ext cx="137639" cy="20832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19047" tIns="26984" rIns="19047" bIns="26984"/>
            <a:lstStyle/>
            <a:p>
              <a:pPr algn="ctr" eaLnBrk="0" fontAlgn="auto" hangingPunct="0">
                <a:lnSpc>
                  <a:spcPct val="75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en-US" altLang="zh-CN" sz="1400" dirty="0">
                  <a:solidFill>
                    <a:prstClr val="black"/>
                  </a:solidFill>
                  <a:latin typeface="Arial" pitchFamily="34" charset="0"/>
                  <a:ea typeface="等线" panose="02010600030101010101" pitchFamily="2" charset="-122"/>
                </a:rPr>
                <a:t>1</a:t>
              </a:r>
            </a:p>
          </p:txBody>
        </p:sp>
        <p:sp>
          <p:nvSpPr>
            <p:cNvPr id="125" name="Rectangle 70">
              <a:extLst>
                <a:ext uri="{FF2B5EF4-FFF2-40B4-BE49-F238E27FC236}">
                  <a16:creationId xmlns:a16="http://schemas.microsoft.com/office/drawing/2014/main" id="{D8854A85-2434-B14E-8B95-37A777FD50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72612" y="2480018"/>
              <a:ext cx="137639" cy="18354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19047" tIns="26984" rIns="19047" bIns="26984"/>
            <a:lstStyle/>
            <a:p>
              <a:pPr algn="ctr" eaLnBrk="0" fontAlgn="auto" hangingPunct="0">
                <a:lnSpc>
                  <a:spcPct val="75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en-US" altLang="zh-CN" sz="1400" dirty="0">
                  <a:solidFill>
                    <a:prstClr val="black"/>
                  </a:solidFill>
                  <a:latin typeface="Arial" pitchFamily="34" charset="0"/>
                  <a:ea typeface="等线" panose="02010600030101010101" pitchFamily="2" charset="-122"/>
                </a:rPr>
                <a:t>0</a:t>
              </a:r>
            </a:p>
          </p:txBody>
        </p:sp>
        <p:sp>
          <p:nvSpPr>
            <p:cNvPr id="126" name="Text Box 32">
              <a:extLst>
                <a:ext uri="{FF2B5EF4-FFF2-40B4-BE49-F238E27FC236}">
                  <a16:creationId xmlns:a16="http://schemas.microsoft.com/office/drawing/2014/main" id="{F23C734E-3A29-244A-8EF0-D12436128E6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759590" y="3399017"/>
              <a:ext cx="314479" cy="55635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1425" tIns="45713" rIns="91425" bIns="45713">
              <a:spAutoFit/>
            </a:bodyPr>
            <a:lstStyle>
              <a:lvl1pPr eaLnBrk="0" hangingPunct="0"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1pPr>
              <a:lvl2pPr marL="742950" indent="-285750" eaLnBrk="0" hangingPunct="0"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2pPr>
              <a:lvl3pPr marL="1143000" indent="-228600" eaLnBrk="0" hangingPunct="0"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3pPr>
              <a:lvl4pPr marL="1600200" indent="-228600" eaLnBrk="0" hangingPunct="0"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4pPr>
              <a:lvl5pPr marL="2057400" indent="-228600" eaLnBrk="0" hangingPunct="0"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9pPr>
            </a:lstStyle>
            <a:p>
              <a:pPr fontAlgn="auto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lang="en-US" altLang="zh-CN" sz="1400" b="0" dirty="0">
                  <a:solidFill>
                    <a:prstClr val="black"/>
                  </a:solidFill>
                  <a:latin typeface="Arial" pitchFamily="34" charset="0"/>
                  <a:ea typeface="SimHei" panose="02010609060101010101" pitchFamily="49" charset="-122"/>
                </a:rPr>
                <a:t>A</a:t>
              </a:r>
            </a:p>
            <a:p>
              <a:pPr fontAlgn="auto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lang="en-US" altLang="zh-CN" sz="1400" b="0" dirty="0">
                  <a:solidFill>
                    <a:prstClr val="black"/>
                  </a:solidFill>
                  <a:latin typeface="Arial" pitchFamily="34" charset="0"/>
                  <a:ea typeface="SimHei" panose="02010609060101010101" pitchFamily="49" charset="-122"/>
                </a:rPr>
                <a:t>D</a:t>
              </a:r>
            </a:p>
            <a:p>
              <a:pPr fontAlgn="auto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lang="en-US" altLang="zh-CN" sz="1400" b="0" dirty="0">
                  <a:solidFill>
                    <a:prstClr val="black"/>
                  </a:solidFill>
                  <a:latin typeface="Arial" pitchFamily="34" charset="0"/>
                  <a:ea typeface="SimHei" panose="02010609060101010101" pitchFamily="49" charset="-122"/>
                </a:rPr>
                <a:t>D</a:t>
              </a:r>
            </a:p>
          </p:txBody>
        </p:sp>
        <p:sp>
          <p:nvSpPr>
            <p:cNvPr id="127" name="Rectangle 70">
              <a:extLst>
                <a:ext uri="{FF2B5EF4-FFF2-40B4-BE49-F238E27FC236}">
                  <a16:creationId xmlns:a16="http://schemas.microsoft.com/office/drawing/2014/main" id="{0B66E311-88ED-347D-D800-154D7113C1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428706" y="4653599"/>
              <a:ext cx="137639" cy="20832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19047" tIns="26984" rIns="19047" bIns="26984"/>
            <a:lstStyle/>
            <a:p>
              <a:pPr algn="ctr" eaLnBrk="0" fontAlgn="auto" hangingPunct="0">
                <a:lnSpc>
                  <a:spcPct val="75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en-US" altLang="zh-CN" sz="1400" dirty="0">
                  <a:solidFill>
                    <a:prstClr val="black"/>
                  </a:solidFill>
                  <a:latin typeface="Arial" pitchFamily="34" charset="0"/>
                  <a:ea typeface="等线" panose="02010600030101010101" pitchFamily="2" charset="-122"/>
                </a:rPr>
                <a:t>1</a:t>
              </a:r>
            </a:p>
          </p:txBody>
        </p:sp>
        <p:sp>
          <p:nvSpPr>
            <p:cNvPr id="128" name="Rectangle 70">
              <a:extLst>
                <a:ext uri="{FF2B5EF4-FFF2-40B4-BE49-F238E27FC236}">
                  <a16:creationId xmlns:a16="http://schemas.microsoft.com/office/drawing/2014/main" id="{B4726D9C-A382-F06E-BBC4-8FCDBED22E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432617" y="4922199"/>
              <a:ext cx="137639" cy="18354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19047" tIns="26984" rIns="19047" bIns="26984"/>
            <a:lstStyle/>
            <a:p>
              <a:pPr algn="ctr" eaLnBrk="0" fontAlgn="auto" hangingPunct="0">
                <a:lnSpc>
                  <a:spcPct val="75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en-US" altLang="zh-CN" sz="1400" dirty="0">
                  <a:solidFill>
                    <a:prstClr val="black"/>
                  </a:solidFill>
                  <a:latin typeface="Arial" pitchFamily="34" charset="0"/>
                  <a:ea typeface="等线" panose="02010600030101010101" pitchFamily="2" charset="-122"/>
                </a:rPr>
                <a:t>0</a:t>
              </a:r>
            </a:p>
          </p:txBody>
        </p:sp>
        <p:sp>
          <p:nvSpPr>
            <p:cNvPr id="129" name="Line 118">
              <a:extLst>
                <a:ext uri="{FF2B5EF4-FFF2-40B4-BE49-F238E27FC236}">
                  <a16:creationId xmlns:a16="http://schemas.microsoft.com/office/drawing/2014/main" id="{7E758AC2-2B26-FA0D-D002-466026039FE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202003" y="5062711"/>
              <a:ext cx="118182" cy="694398"/>
            </a:xfrm>
            <a:prstGeom prst="line">
              <a:avLst/>
            </a:prstGeom>
            <a:noFill/>
            <a:ln w="28575" cap="rnd">
              <a:solidFill>
                <a:sysClr val="windowText" lastClr="000000"/>
              </a:solidFill>
              <a:prstDash val="sysDot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F0502020204030204"/>
                <a:ea typeface="等线" panose="02010600030101010101" pitchFamily="2" charset="-122"/>
              </a:endParaRPr>
            </a:p>
          </p:txBody>
        </p:sp>
        <p:sp>
          <p:nvSpPr>
            <p:cNvPr id="130" name="Line 118">
              <a:extLst>
                <a:ext uri="{FF2B5EF4-FFF2-40B4-BE49-F238E27FC236}">
                  <a16:creationId xmlns:a16="http://schemas.microsoft.com/office/drawing/2014/main" id="{2F5C281A-059E-4D0B-380C-77A7950C028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012894" y="5040236"/>
              <a:ext cx="151960" cy="694398"/>
            </a:xfrm>
            <a:prstGeom prst="line">
              <a:avLst/>
            </a:prstGeom>
            <a:noFill/>
            <a:ln w="38100" cap="rnd">
              <a:solidFill>
                <a:srgbClr val="C00000"/>
              </a:solidFill>
              <a:prstDash val="sysDot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F0502020204030204"/>
                <a:ea typeface="等线" panose="02010600030101010101" pitchFamily="2" charset="-122"/>
              </a:endParaRPr>
            </a:p>
          </p:txBody>
        </p:sp>
        <p:sp>
          <p:nvSpPr>
            <p:cNvPr id="133" name="Line 132">
              <a:extLst>
                <a:ext uri="{FF2B5EF4-FFF2-40B4-BE49-F238E27FC236}">
                  <a16:creationId xmlns:a16="http://schemas.microsoft.com/office/drawing/2014/main" id="{99395F3F-89A9-7D4C-5335-592AF6D75A8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341334" y="4700764"/>
              <a:ext cx="100800" cy="0"/>
            </a:xfrm>
            <a:prstGeom prst="line">
              <a:avLst/>
            </a:prstGeom>
            <a:noFill/>
            <a:ln w="38100">
              <a:solidFill>
                <a:srgbClr val="C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F0502020204030204"/>
                <a:ea typeface="等线" panose="02010600030101010101" pitchFamily="2" charset="-122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57412655"/>
      </p:ext>
    </p:extLst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>
            <a:extLst>
              <a:ext uri="{FF2B5EF4-FFF2-40B4-BE49-F238E27FC236}">
                <a16:creationId xmlns:a16="http://schemas.microsoft.com/office/drawing/2014/main" id="{CB964971-87B9-4A39-8873-CD6A2E83B4D4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dirty="0"/>
              <a:t>从结构冒险到数据冒险</a:t>
            </a:r>
          </a:p>
        </p:txBody>
      </p:sp>
      <p:sp>
        <p:nvSpPr>
          <p:cNvPr id="3" name="内容占位符 2">
            <a:extLst>
              <a:ext uri="{FF2B5EF4-FFF2-40B4-BE49-F238E27FC236}">
                <a16:creationId xmlns:a16="http://schemas.microsoft.com/office/drawing/2014/main" id="{91D7AA9F-088E-432B-A70E-DD4D98DFA9FA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457200" y="1166020"/>
            <a:ext cx="8229600" cy="5358605"/>
          </a:xfrm>
        </p:spPr>
        <p:txBody>
          <a:bodyPr/>
          <a:lstStyle/>
          <a:p>
            <a:r>
              <a:rPr lang="zh-CN" altLang="en-US" dirty="0"/>
              <a:t>结构冒险（</a:t>
            </a:r>
            <a:r>
              <a:rPr lang="en-US" altLang="zh-CN" dirty="0"/>
              <a:t>Structural Hazard or Resource Conflict</a:t>
            </a:r>
            <a:r>
              <a:rPr lang="zh-CN" altLang="en-US" dirty="0"/>
              <a:t>）：资源矛盾！</a:t>
            </a:r>
          </a:p>
          <a:p>
            <a:pPr lvl="1"/>
            <a:r>
              <a:rPr lang="zh-CN" altLang="en-US" dirty="0"/>
              <a:t>两条指令需要使用同样的硬件</a:t>
            </a:r>
          </a:p>
          <a:p>
            <a:pPr lvl="1"/>
            <a:r>
              <a:rPr lang="zh-CN" altLang="en-US" dirty="0"/>
              <a:t>解决方法：增加硬件资源；调整指令占用资源的时间</a:t>
            </a:r>
          </a:p>
          <a:p>
            <a:r>
              <a:rPr lang="zh-CN" altLang="en-US" dirty="0">
                <a:solidFill>
                  <a:srgbClr val="0432FF"/>
                </a:solidFill>
              </a:rPr>
              <a:t>数据关联冒险（</a:t>
            </a:r>
            <a:r>
              <a:rPr lang="en-US" altLang="zh-CN" dirty="0">
                <a:solidFill>
                  <a:srgbClr val="0432FF"/>
                </a:solidFill>
              </a:rPr>
              <a:t>Data Hazard</a:t>
            </a:r>
            <a:r>
              <a:rPr lang="zh-CN" altLang="en-US" dirty="0">
                <a:solidFill>
                  <a:srgbClr val="0432FF"/>
                </a:solidFill>
              </a:rPr>
              <a:t>）：操作数是否已经更新？</a:t>
            </a:r>
          </a:p>
          <a:p>
            <a:pPr lvl="1"/>
            <a:r>
              <a:rPr lang="zh-CN" altLang="en-US" dirty="0">
                <a:solidFill>
                  <a:srgbClr val="0432FF"/>
                </a:solidFill>
              </a:rPr>
              <a:t>指令依赖于流水线中运行的前序指令结果</a:t>
            </a:r>
          </a:p>
          <a:p>
            <a:r>
              <a:rPr lang="zh-CN" altLang="en-US" dirty="0"/>
              <a:t>控制冒险（</a:t>
            </a:r>
            <a:r>
              <a:rPr lang="en-US" altLang="zh-CN" dirty="0"/>
              <a:t>Control Hazard</a:t>
            </a:r>
            <a:r>
              <a:rPr lang="zh-CN" altLang="en-US" dirty="0"/>
              <a:t>）：下一条指令的</a:t>
            </a:r>
            <a:r>
              <a:rPr lang="en-US" altLang="zh-CN" dirty="0"/>
              <a:t>PC</a:t>
            </a:r>
            <a:r>
              <a:rPr lang="zh-CN" altLang="en-US" dirty="0"/>
              <a:t>是多少？</a:t>
            </a:r>
          </a:p>
          <a:p>
            <a:pPr lvl="1"/>
            <a:r>
              <a:rPr lang="zh-CN" altLang="en-US" dirty="0"/>
              <a:t>取指令依赖于流水线中前序指令的结果</a:t>
            </a:r>
          </a:p>
        </p:txBody>
      </p:sp>
      <p:sp>
        <p:nvSpPr>
          <p:cNvPr id="4" name="灯片编号占位符 3">
            <a:extLst>
              <a:ext uri="{FF2B5EF4-FFF2-40B4-BE49-F238E27FC236}">
                <a16:creationId xmlns:a16="http://schemas.microsoft.com/office/drawing/2014/main" id="{BA5DA19B-33E5-4B74-AA32-DDBC3C23618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0626FCE3-5FF9-430D-BA0B-DE80AAE71673}" type="slidenum">
              <a:rPr lang="zh-CN" altLang="en-US" smtClean="0"/>
              <a:t>12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265960737"/>
      </p:ext>
    </p:extLst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>
            <a:extLst>
              <a:ext uri="{FF2B5EF4-FFF2-40B4-BE49-F238E27FC236}">
                <a16:creationId xmlns:a16="http://schemas.microsoft.com/office/drawing/2014/main" id="{8F1FC19F-C0ED-4419-96FC-3FCB8209F67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dirty="0"/>
              <a:t>从结构冒险到数据冒险、控制冒险</a:t>
            </a:r>
          </a:p>
        </p:txBody>
      </p:sp>
      <p:sp>
        <p:nvSpPr>
          <p:cNvPr id="3" name="内容占位符 2">
            <a:extLst>
              <a:ext uri="{FF2B5EF4-FFF2-40B4-BE49-F238E27FC236}">
                <a16:creationId xmlns:a16="http://schemas.microsoft.com/office/drawing/2014/main" id="{74D28B6A-4951-4232-A549-C18F3C1B580A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457199" y="1166018"/>
            <a:ext cx="8686797" cy="4525963"/>
          </a:xfrm>
        </p:spPr>
        <p:txBody>
          <a:bodyPr/>
          <a:lstStyle/>
          <a:p>
            <a:r>
              <a:rPr lang="zh-CN" altLang="en-US" sz="2400" dirty="0">
                <a:solidFill>
                  <a:srgbClr val="0432FF"/>
                </a:solidFill>
                <a:latin typeface="+mj-ea"/>
                <a:ea typeface="+mj-ea"/>
              </a:rPr>
              <a:t>数据冒险</a:t>
            </a:r>
            <a:endParaRPr lang="en-US" altLang="zh-CN" sz="2400" dirty="0">
              <a:solidFill>
                <a:srgbClr val="0432FF"/>
              </a:solidFill>
              <a:latin typeface="+mj-ea"/>
              <a:ea typeface="+mj-ea"/>
            </a:endParaRPr>
          </a:p>
          <a:p>
            <a:pPr lvl="1"/>
            <a:r>
              <a:rPr lang="zh-CN" altLang="en-US" sz="2000" dirty="0">
                <a:solidFill>
                  <a:srgbClr val="0432FF"/>
                </a:solidFill>
                <a:latin typeface="+mj-ea"/>
                <a:ea typeface="+mj-ea"/>
              </a:rPr>
              <a:t>计算是否使用的是正确的数据？数据是否已经准备好？</a:t>
            </a:r>
            <a:endParaRPr lang="en-US" altLang="zh-CN" sz="2000" dirty="0">
              <a:solidFill>
                <a:srgbClr val="0432FF"/>
              </a:solidFill>
              <a:latin typeface="+mj-ea"/>
              <a:ea typeface="+mj-ea"/>
            </a:endParaRPr>
          </a:p>
          <a:p>
            <a:r>
              <a:rPr lang="zh-CN" altLang="en-US" sz="2400" dirty="0">
                <a:solidFill>
                  <a:srgbClr val="00B050"/>
                </a:solidFill>
                <a:latin typeface="+mj-ea"/>
                <a:ea typeface="+mj-ea"/>
              </a:rPr>
              <a:t>控制冒险</a:t>
            </a:r>
            <a:endParaRPr lang="en-US" altLang="zh-CN" sz="2400" dirty="0">
              <a:solidFill>
                <a:srgbClr val="00B050"/>
              </a:solidFill>
              <a:latin typeface="+mj-ea"/>
              <a:ea typeface="+mj-ea"/>
            </a:endParaRPr>
          </a:p>
          <a:p>
            <a:pPr lvl="1"/>
            <a:r>
              <a:rPr lang="zh-CN" altLang="en-US" sz="2000" dirty="0">
                <a:solidFill>
                  <a:srgbClr val="00B050"/>
                </a:solidFill>
                <a:latin typeface="+mj-ea"/>
                <a:ea typeface="+mj-ea"/>
              </a:rPr>
              <a:t>是否执行了正确的指令？</a:t>
            </a:r>
            <a:r>
              <a:rPr lang="en-US" altLang="zh-CN" sz="2000" dirty="0">
                <a:solidFill>
                  <a:srgbClr val="00B050"/>
                </a:solidFill>
                <a:latin typeface="+mj-ea"/>
                <a:ea typeface="+mj-ea"/>
              </a:rPr>
              <a:t>PC</a:t>
            </a:r>
            <a:r>
              <a:rPr lang="zh-CN" altLang="en-US" sz="2000" dirty="0">
                <a:solidFill>
                  <a:srgbClr val="00B050"/>
                </a:solidFill>
                <a:latin typeface="+mj-ea"/>
                <a:ea typeface="+mj-ea"/>
              </a:rPr>
              <a:t>寄存器是否正确？</a:t>
            </a:r>
          </a:p>
        </p:txBody>
      </p:sp>
      <p:sp>
        <p:nvSpPr>
          <p:cNvPr id="4" name="灯片编号占位符 3">
            <a:extLst>
              <a:ext uri="{FF2B5EF4-FFF2-40B4-BE49-F238E27FC236}">
                <a16:creationId xmlns:a16="http://schemas.microsoft.com/office/drawing/2014/main" id="{DA410218-2A46-4D73-872D-212389F1C3F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0626FCE3-5FF9-430D-BA0B-DE80AAE71673}" type="slidenum">
              <a:rPr lang="zh-CN" altLang="en-US" smtClean="0"/>
              <a:t>13</a:t>
            </a:fld>
            <a:endParaRPr lang="zh-CN" altLang="en-US"/>
          </a:p>
        </p:txBody>
      </p:sp>
      <p:graphicFrame>
        <p:nvGraphicFramePr>
          <p:cNvPr id="5" name="内容占位符 3">
            <a:extLst>
              <a:ext uri="{FF2B5EF4-FFF2-40B4-BE49-F238E27FC236}">
                <a16:creationId xmlns:a16="http://schemas.microsoft.com/office/drawing/2014/main" id="{5F283F97-C4F0-4624-8096-6357F4DE96DD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1206184569"/>
              </p:ext>
            </p:extLst>
          </p:nvPr>
        </p:nvGraphicFramePr>
        <p:xfrm>
          <a:off x="190501" y="2867025"/>
          <a:ext cx="8712199" cy="3854448"/>
        </p:xfrm>
        <a:graphic>
          <a:graphicData uri="http://schemas.openxmlformats.org/drawingml/2006/table">
            <a:tbl>
              <a:tblPr firstRow="1" bandRow="1">
                <a:tableStyleId>{E8B1032C-EA38-4F05-BA0D-38AFFFC7BED3}</a:tableStyleId>
              </a:tblPr>
              <a:tblGrid>
                <a:gridCol w="1443286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44328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968117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968117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889393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455526">
                <a:tc>
                  <a:txBody>
                    <a:bodyPr/>
                    <a:lstStyle/>
                    <a:p>
                      <a:pPr algn="ctr"/>
                      <a:r>
                        <a:rPr lang="zh-CN" altLang="en-US" sz="2000" dirty="0"/>
                        <a:t>流水线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4C6E7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2000" dirty="0"/>
                        <a:t>R</a:t>
                      </a:r>
                      <a:r>
                        <a:rPr lang="zh-CN" altLang="en-US" sz="2000" dirty="0"/>
                        <a:t>类型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4C6E7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CN" altLang="en-US" sz="2000" dirty="0"/>
                        <a:t>读存储器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4C6E7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CN" altLang="en-US" sz="2000" dirty="0"/>
                        <a:t>写存储器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4C6E7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CN" altLang="en-US" sz="2000" dirty="0"/>
                        <a:t>分支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4C6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20485"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800" dirty="0"/>
                        <a:t>IF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4">
                  <a:txBody>
                    <a:bodyPr/>
                    <a:lstStyle/>
                    <a:p>
                      <a:pPr algn="ctr"/>
                      <a:r>
                        <a:rPr lang="en-US" altLang="zh-CN" sz="1600" dirty="0"/>
                        <a:t>IR</a:t>
                      </a:r>
                      <a:r>
                        <a:rPr lang="en-US" altLang="zh-CN" sz="1600" dirty="0">
                          <a:sym typeface="Symbol"/>
                        </a:rPr>
                        <a:t>&lt;= </a:t>
                      </a:r>
                      <a:r>
                        <a:rPr lang="en-US" altLang="zh-CN" sz="1600" dirty="0" err="1"/>
                        <a:t>MemInst</a:t>
                      </a:r>
                      <a:r>
                        <a:rPr lang="en-US" altLang="zh-CN" sz="1600" dirty="0"/>
                        <a:t>[PC];  </a:t>
                      </a:r>
                      <a:r>
                        <a:rPr lang="en-US" altLang="zh-CN" sz="1600" dirty="0">
                          <a:solidFill>
                            <a:srgbClr val="00B050"/>
                          </a:solidFill>
                        </a:rPr>
                        <a:t>PC </a:t>
                      </a:r>
                      <a:r>
                        <a:rPr lang="en-US" altLang="zh-CN" sz="1600" dirty="0">
                          <a:solidFill>
                            <a:srgbClr val="00B050"/>
                          </a:solidFill>
                          <a:sym typeface="Symbol"/>
                        </a:rPr>
                        <a:t>&lt;= PC + 4</a:t>
                      </a:r>
                      <a:endParaRPr lang="en-US" altLang="zh-CN" sz="1600" dirty="0">
                        <a:solidFill>
                          <a:srgbClr val="00B050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n-US" altLang="zh-CN" sz="1400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zh-CN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zh-CN" altLang="en-US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420485">
                <a:tc>
                  <a:txBody>
                    <a:bodyPr/>
                    <a:lstStyle/>
                    <a:p>
                      <a:pPr marL="0" marR="0" lvl="1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CN" sz="1800" dirty="0"/>
                        <a:t>ID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4">
                  <a:txBody>
                    <a:bodyPr/>
                    <a:lstStyle/>
                    <a:p>
                      <a:pPr marL="0" marR="0" lvl="1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CN" sz="1600" dirty="0"/>
                        <a:t>op </a:t>
                      </a:r>
                      <a:r>
                        <a:rPr lang="en-US" altLang="zh-CN" sz="1600" dirty="0">
                          <a:sym typeface="Symbol"/>
                        </a:rPr>
                        <a:t>&lt;= </a:t>
                      </a:r>
                      <a:r>
                        <a:rPr lang="en-US" altLang="zh-CN" sz="1600" dirty="0"/>
                        <a:t>IR[31:26]; </a:t>
                      </a:r>
                      <a:r>
                        <a:rPr lang="en-US" altLang="zh-CN" sz="1600" dirty="0">
                          <a:solidFill>
                            <a:srgbClr val="00B0F0"/>
                          </a:solidFill>
                        </a:rPr>
                        <a:t>A </a:t>
                      </a:r>
                      <a:r>
                        <a:rPr lang="en-US" altLang="zh-CN" sz="1600" dirty="0">
                          <a:solidFill>
                            <a:srgbClr val="00B0F0"/>
                          </a:solidFill>
                          <a:sym typeface="Symbol"/>
                        </a:rPr>
                        <a:t>&lt;= </a:t>
                      </a:r>
                      <a:r>
                        <a:rPr lang="en-US" altLang="zh-CN" sz="1600" dirty="0">
                          <a:solidFill>
                            <a:srgbClr val="00B0F0"/>
                          </a:solidFill>
                        </a:rPr>
                        <a:t>Reg[IR[25:21]]; B </a:t>
                      </a:r>
                      <a:r>
                        <a:rPr lang="en-US" altLang="zh-CN" sz="1600" dirty="0">
                          <a:solidFill>
                            <a:srgbClr val="00B0F0"/>
                          </a:solidFill>
                          <a:sym typeface="Symbol"/>
                        </a:rPr>
                        <a:t>&lt;= </a:t>
                      </a:r>
                      <a:r>
                        <a:rPr lang="en-US" altLang="zh-CN" sz="1600" dirty="0">
                          <a:solidFill>
                            <a:srgbClr val="00B0F0"/>
                          </a:solidFill>
                        </a:rPr>
                        <a:t>Reg[IR[20:16]]; 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zh-CN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zh-CN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marL="0" marR="0" lvl="1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zh-CN" sz="1600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226416"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800" dirty="0"/>
                        <a:t>EX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600" dirty="0" err="1"/>
                        <a:t>ALUOut</a:t>
                      </a:r>
                      <a:r>
                        <a:rPr lang="en-US" altLang="zh-CN" sz="1600" dirty="0"/>
                        <a:t> </a:t>
                      </a:r>
                      <a:r>
                        <a:rPr lang="en-US" altLang="zh-CN" sz="1600" dirty="0">
                          <a:sym typeface="Symbol"/>
                        </a:rPr>
                        <a:t>&lt;= </a:t>
                      </a:r>
                    </a:p>
                    <a:p>
                      <a:pPr algn="ctr"/>
                      <a:r>
                        <a:rPr lang="en-US" altLang="zh-CN" sz="1600" dirty="0"/>
                        <a:t>A op B 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2"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CN" sz="1600" dirty="0" err="1"/>
                        <a:t>ALUOut</a:t>
                      </a:r>
                      <a:r>
                        <a:rPr lang="en-US" altLang="zh-CN" sz="1600" dirty="0"/>
                        <a:t> </a:t>
                      </a:r>
                      <a:r>
                        <a:rPr lang="en-US" altLang="zh-CN" sz="1600" dirty="0">
                          <a:sym typeface="Symbol"/>
                        </a:rPr>
                        <a:t>&lt;= </a:t>
                      </a:r>
                      <a:r>
                        <a:rPr lang="en-US" altLang="zh-CN" sz="1600" dirty="0"/>
                        <a:t>A + </a:t>
                      </a:r>
                      <a:r>
                        <a:rPr lang="en-US" altLang="zh-CN" sz="1600" dirty="0" err="1"/>
                        <a:t>signext</a:t>
                      </a:r>
                      <a:r>
                        <a:rPr lang="en-US" altLang="zh-CN" sz="1600" dirty="0"/>
                        <a:t>(IR[15:0])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zh-CN" sz="1600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1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CN" sz="1600" dirty="0" err="1"/>
                        <a:t>ALUOut</a:t>
                      </a:r>
                      <a:r>
                        <a:rPr lang="en-US" altLang="zh-CN" sz="1600" dirty="0"/>
                        <a:t> </a:t>
                      </a:r>
                      <a:r>
                        <a:rPr lang="en-US" altLang="zh-CN" sz="1600" dirty="0">
                          <a:sym typeface="Symbol"/>
                        </a:rPr>
                        <a:t>&lt;= </a:t>
                      </a:r>
                      <a:r>
                        <a:rPr lang="en-US" altLang="zh-CN" sz="1600" dirty="0"/>
                        <a:t>A - B </a:t>
                      </a:r>
                    </a:p>
                    <a:p>
                      <a:pPr marL="0" marR="0" lvl="1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CN" sz="1600" dirty="0" err="1"/>
                        <a:t>PCAdd</a:t>
                      </a:r>
                      <a:r>
                        <a:rPr lang="en-US" altLang="zh-CN" sz="1600" dirty="0"/>
                        <a:t> </a:t>
                      </a:r>
                      <a:r>
                        <a:rPr lang="en-US" altLang="zh-CN" sz="1600" dirty="0">
                          <a:sym typeface="Symbol"/>
                        </a:rPr>
                        <a:t>&lt;= </a:t>
                      </a:r>
                      <a:r>
                        <a:rPr lang="en-US" altLang="zh-CN" sz="1600" dirty="0"/>
                        <a:t>PC + </a:t>
                      </a:r>
                    </a:p>
                    <a:p>
                      <a:pPr marL="0" marR="0" lvl="1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CN" sz="1600" dirty="0" err="1"/>
                        <a:t>signext</a:t>
                      </a:r>
                      <a:r>
                        <a:rPr lang="en-US" altLang="zh-CN" sz="1600" dirty="0"/>
                        <a:t>(IR[15:0]) &lt;&lt; 2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665768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CN" sz="1800" dirty="0"/>
                        <a:t>MEM</a:t>
                      </a:r>
                      <a:endParaRPr lang="zh-CN" altLang="en-US" sz="1800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zh-CN" altLang="en-US" sz="1600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600" dirty="0"/>
                        <a:t>MDR </a:t>
                      </a:r>
                      <a:r>
                        <a:rPr lang="en-US" altLang="zh-CN" sz="1600" dirty="0">
                          <a:sym typeface="Symbol"/>
                        </a:rPr>
                        <a:t>&lt;= </a:t>
                      </a:r>
                    </a:p>
                    <a:p>
                      <a:pPr algn="ctr"/>
                      <a:r>
                        <a:rPr lang="en-US" altLang="zh-CN" sz="1600" dirty="0" err="1">
                          <a:sym typeface="Symbol"/>
                        </a:rPr>
                        <a:t>MemData</a:t>
                      </a:r>
                      <a:r>
                        <a:rPr lang="en-US" altLang="zh-CN" sz="1600" dirty="0">
                          <a:sym typeface="Symbol"/>
                        </a:rPr>
                        <a:t>[</a:t>
                      </a:r>
                      <a:r>
                        <a:rPr lang="en-US" altLang="zh-CN" sz="1600" dirty="0" err="1">
                          <a:sym typeface="Symbol"/>
                        </a:rPr>
                        <a:t>ALUOut</a:t>
                      </a:r>
                      <a:r>
                        <a:rPr lang="en-US" altLang="zh-CN" sz="1600" dirty="0">
                          <a:sym typeface="Symbol"/>
                        </a:rPr>
                        <a:t>];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600" dirty="0" err="1">
                          <a:sym typeface="Symbol"/>
                        </a:rPr>
                        <a:t>MemData</a:t>
                      </a:r>
                      <a:r>
                        <a:rPr lang="en-US" altLang="zh-CN" sz="1600" dirty="0">
                          <a:sym typeface="Symbol"/>
                        </a:rPr>
                        <a:t>[</a:t>
                      </a:r>
                      <a:r>
                        <a:rPr lang="en-US" altLang="zh-CN" sz="1600" dirty="0" err="1">
                          <a:sym typeface="Symbol"/>
                        </a:rPr>
                        <a:t>ALUout</a:t>
                      </a:r>
                      <a:r>
                        <a:rPr lang="en-US" altLang="zh-CN" sz="1600" dirty="0">
                          <a:sym typeface="Symbol"/>
                        </a:rPr>
                        <a:t>] &lt;= B</a:t>
                      </a:r>
                      <a:endParaRPr lang="zh-CN" altLang="en-US" sz="1600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CN" sz="1600" dirty="0"/>
                        <a:t>if (Zero) </a:t>
                      </a: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CN" sz="1600" dirty="0">
                          <a:solidFill>
                            <a:srgbClr val="00B050"/>
                          </a:solidFill>
                        </a:rPr>
                        <a:t>PC </a:t>
                      </a:r>
                      <a:r>
                        <a:rPr lang="en-US" altLang="zh-CN" sz="1600" dirty="0">
                          <a:solidFill>
                            <a:srgbClr val="00B050"/>
                          </a:solidFill>
                          <a:sym typeface="Symbol"/>
                        </a:rPr>
                        <a:t>&lt;= </a:t>
                      </a:r>
                      <a:r>
                        <a:rPr lang="en-US" altLang="zh-CN" sz="1600" dirty="0" err="1">
                          <a:solidFill>
                            <a:srgbClr val="00B050"/>
                          </a:solidFill>
                          <a:sym typeface="Symbol"/>
                        </a:rPr>
                        <a:t>PCAdd</a:t>
                      </a:r>
                      <a:endParaRPr lang="zh-CN" altLang="en-US" sz="1600" dirty="0">
                        <a:solidFill>
                          <a:srgbClr val="00B050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665768"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800" dirty="0"/>
                        <a:t>WB</a:t>
                      </a:r>
                      <a:endParaRPr lang="zh-CN" altLang="en-US" sz="1800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CN" sz="1600" dirty="0">
                          <a:solidFill>
                            <a:srgbClr val="00B0F0"/>
                          </a:solidFill>
                        </a:rPr>
                        <a:t>Reg[IR[15:11]]</a:t>
                      </a:r>
                      <a:r>
                        <a:rPr lang="en-US" altLang="zh-CN" sz="1600" dirty="0">
                          <a:solidFill>
                            <a:srgbClr val="00B0F0"/>
                          </a:solidFill>
                          <a:sym typeface="Symbol"/>
                        </a:rPr>
                        <a:t> &lt;= </a:t>
                      </a:r>
                      <a:r>
                        <a:rPr lang="en-US" altLang="zh-CN" sz="1600" dirty="0" err="1">
                          <a:solidFill>
                            <a:srgbClr val="00B0F0"/>
                          </a:solidFill>
                        </a:rPr>
                        <a:t>ALUOut</a:t>
                      </a:r>
                      <a:endParaRPr lang="zh-CN" altLang="en-US" sz="1600" dirty="0">
                        <a:solidFill>
                          <a:srgbClr val="00B0F0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600" dirty="0">
                          <a:solidFill>
                            <a:srgbClr val="00B0F0"/>
                          </a:solidFill>
                        </a:rPr>
                        <a:t>Reg[IR[20:16]] </a:t>
                      </a:r>
                      <a:r>
                        <a:rPr lang="en-US" altLang="zh-CN" sz="1600" dirty="0">
                          <a:solidFill>
                            <a:srgbClr val="00B0F0"/>
                          </a:solidFill>
                          <a:sym typeface="Symbol"/>
                        </a:rPr>
                        <a:t>&lt;= </a:t>
                      </a:r>
                    </a:p>
                    <a:p>
                      <a:pPr algn="ctr"/>
                      <a:r>
                        <a:rPr lang="en-US" altLang="zh-CN" sz="1600" dirty="0">
                          <a:solidFill>
                            <a:srgbClr val="00B0F0"/>
                          </a:solidFill>
                          <a:sym typeface="Symbol"/>
                        </a:rPr>
                        <a:t>MDR</a:t>
                      </a:r>
                      <a:endParaRPr lang="zh-CN" altLang="en-US" sz="1600" dirty="0">
                        <a:solidFill>
                          <a:srgbClr val="00B0F0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CN" altLang="en-US" sz="1600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CN" altLang="en-US" sz="1600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828990083"/>
      </p:ext>
    </p:extLst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内容占位符 2"/>
          <p:cNvSpPr>
            <a:spLocks noGrp="1"/>
          </p:cNvSpPr>
          <p:nvPr>
            <p:ph idx="1"/>
          </p:nvPr>
        </p:nvSpPr>
        <p:spPr>
          <a:xfrm>
            <a:off x="457200" y="1600200"/>
            <a:ext cx="8229600" cy="4732506"/>
          </a:xfrm>
        </p:spPr>
        <p:txBody>
          <a:bodyPr/>
          <a:lstStyle/>
          <a:p>
            <a:r>
              <a:rPr lang="zh-CN" altLang="en-US" sz="3200" dirty="0">
                <a:solidFill>
                  <a:schemeClr val="bg1">
                    <a:lumMod val="65000"/>
                  </a:schemeClr>
                </a:solidFill>
              </a:rPr>
              <a:t>复习与回顾</a:t>
            </a:r>
            <a:endParaRPr lang="en-US" altLang="zh-CN" sz="3200" dirty="0">
              <a:solidFill>
                <a:schemeClr val="bg1">
                  <a:lumMod val="65000"/>
                </a:schemeClr>
              </a:solidFill>
            </a:endParaRPr>
          </a:p>
          <a:p>
            <a:r>
              <a:rPr lang="zh-CN" altLang="en-US" sz="3200" dirty="0">
                <a:solidFill>
                  <a:schemeClr val="bg1">
                    <a:lumMod val="65000"/>
                  </a:schemeClr>
                </a:solidFill>
                <a:cs typeface="+mn-cs"/>
              </a:rPr>
              <a:t>流水线基本概念</a:t>
            </a:r>
            <a:r>
              <a:rPr lang="en-US" altLang="zh-CN" sz="3200" dirty="0">
                <a:solidFill>
                  <a:schemeClr val="bg1">
                    <a:lumMod val="65000"/>
                  </a:schemeClr>
                </a:solidFill>
                <a:cs typeface="+mn-cs"/>
              </a:rPr>
              <a:t> P4</a:t>
            </a:r>
            <a:endParaRPr lang="en-US" altLang="zh-CN" sz="3200" dirty="0">
              <a:solidFill>
                <a:schemeClr val="bg1">
                  <a:lumMod val="65000"/>
                </a:schemeClr>
              </a:solidFill>
            </a:endParaRPr>
          </a:p>
          <a:p>
            <a:r>
              <a:rPr lang="zh-CN" altLang="en-US" sz="3200" dirty="0">
                <a:solidFill>
                  <a:schemeClr val="bg1">
                    <a:lumMod val="65000"/>
                  </a:schemeClr>
                </a:solidFill>
                <a:cs typeface="+mn-cs"/>
              </a:rPr>
              <a:t>流水线数据通路</a:t>
            </a:r>
            <a:r>
              <a:rPr lang="en-US" altLang="zh-CN" sz="3200" dirty="0">
                <a:solidFill>
                  <a:schemeClr val="bg1">
                    <a:lumMod val="65000"/>
                  </a:schemeClr>
                </a:solidFill>
                <a:cs typeface="+mn-cs"/>
              </a:rPr>
              <a:t> P6</a:t>
            </a:r>
            <a:endParaRPr lang="en-US" altLang="zh-CN" sz="3200" dirty="0">
              <a:solidFill>
                <a:schemeClr val="bg1">
                  <a:lumMod val="65000"/>
                </a:schemeClr>
              </a:solidFill>
            </a:endParaRPr>
          </a:p>
          <a:p>
            <a:r>
              <a:rPr lang="zh-CN" altLang="en-US" sz="3200" dirty="0">
                <a:solidFill>
                  <a:schemeClr val="bg1">
                    <a:lumMod val="65000"/>
                  </a:schemeClr>
                </a:solidFill>
                <a:cs typeface="+mn-cs"/>
              </a:rPr>
              <a:t>流水线的冒险</a:t>
            </a:r>
            <a:endParaRPr lang="en-US" altLang="zh-CN" sz="3200" dirty="0">
              <a:solidFill>
                <a:schemeClr val="bg1">
                  <a:lumMod val="65000"/>
                </a:schemeClr>
              </a:solidFill>
              <a:cs typeface="+mn-cs"/>
            </a:endParaRPr>
          </a:p>
          <a:p>
            <a:pPr lvl="1"/>
            <a:r>
              <a:rPr lang="zh-CN" altLang="en-US" sz="2800" dirty="0">
                <a:solidFill>
                  <a:schemeClr val="bg1">
                    <a:lumMod val="65000"/>
                  </a:schemeClr>
                </a:solidFill>
                <a:cs typeface="+mn-cs"/>
              </a:rPr>
              <a:t>结构冒险</a:t>
            </a:r>
            <a:r>
              <a:rPr lang="en-US" altLang="zh-CN" sz="2800" dirty="0">
                <a:solidFill>
                  <a:schemeClr val="bg1">
                    <a:lumMod val="65000"/>
                  </a:schemeClr>
                </a:solidFill>
                <a:cs typeface="+mn-cs"/>
              </a:rPr>
              <a:t> P10</a:t>
            </a:r>
            <a:endParaRPr lang="zh-CN" altLang="en-US" sz="2800" dirty="0">
              <a:solidFill>
                <a:schemeClr val="bg1">
                  <a:lumMod val="65000"/>
                </a:schemeClr>
              </a:solidFill>
              <a:cs typeface="+mn-cs"/>
            </a:endParaRPr>
          </a:p>
          <a:p>
            <a:pPr lvl="1"/>
            <a:r>
              <a:rPr lang="zh-CN" altLang="en-US" sz="2800" dirty="0">
                <a:cs typeface="+mn-cs"/>
              </a:rPr>
              <a:t>数据冒险</a:t>
            </a:r>
            <a:r>
              <a:rPr lang="en-US" altLang="zh-CN" sz="2800" dirty="0">
                <a:cs typeface="+mn-cs"/>
              </a:rPr>
              <a:t> P15</a:t>
            </a:r>
            <a:endParaRPr lang="zh-CN" altLang="en-US" sz="2800" dirty="0">
              <a:cs typeface="+mn-cs"/>
            </a:endParaRPr>
          </a:p>
          <a:p>
            <a:pPr lvl="1"/>
            <a:r>
              <a:rPr lang="zh-CN" altLang="en-US" sz="2800" dirty="0">
                <a:solidFill>
                  <a:schemeClr val="bg1">
                    <a:lumMod val="65000"/>
                  </a:schemeClr>
                </a:solidFill>
                <a:cs typeface="+mn-cs"/>
              </a:rPr>
              <a:t>控制冒险</a:t>
            </a:r>
            <a:r>
              <a:rPr lang="en-US" altLang="zh-CN" sz="2800" dirty="0">
                <a:solidFill>
                  <a:schemeClr val="bg1">
                    <a:lumMod val="65000"/>
                  </a:schemeClr>
                </a:solidFill>
                <a:cs typeface="+mn-cs"/>
              </a:rPr>
              <a:t> P38</a:t>
            </a:r>
            <a:endParaRPr lang="zh-CN" altLang="en-US" sz="2800" dirty="0">
              <a:solidFill>
                <a:schemeClr val="bg1">
                  <a:lumMod val="65000"/>
                </a:schemeClr>
              </a:solidFill>
              <a:cs typeface="+mn-cs"/>
            </a:endParaRPr>
          </a:p>
          <a:p>
            <a:r>
              <a:rPr lang="zh-CN" altLang="en-US" sz="3200" dirty="0">
                <a:solidFill>
                  <a:schemeClr val="bg1">
                    <a:lumMod val="65000"/>
                  </a:schemeClr>
                </a:solidFill>
              </a:rPr>
              <a:t>数据通路的实现（考虑冒险）</a:t>
            </a:r>
            <a:r>
              <a:rPr lang="en-US" altLang="zh-CN" sz="3200" dirty="0">
                <a:solidFill>
                  <a:schemeClr val="bg1">
                    <a:lumMod val="65000"/>
                  </a:schemeClr>
                </a:solidFill>
              </a:rPr>
              <a:t>P55</a:t>
            </a:r>
          </a:p>
          <a:p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4659731-6BD7-46E7-8D3C-2F3AC07E20B1}" type="slidenum">
              <a:rPr lang="en-US" altLang="zh-CN" smtClean="0"/>
              <a:pPr/>
              <a:t>14</a:t>
            </a:fld>
            <a:endParaRPr lang="en-US" altLang="zh-CN"/>
          </a:p>
        </p:txBody>
      </p:sp>
      <p:sp>
        <p:nvSpPr>
          <p:cNvPr id="8" name="标题 7">
            <a:extLst>
              <a:ext uri="{FF2B5EF4-FFF2-40B4-BE49-F238E27FC236}">
                <a16:creationId xmlns:a16="http://schemas.microsoft.com/office/drawing/2014/main" id="{A4AFA0D0-3ABC-9E4B-A473-CF0D454A0F5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dirty="0"/>
              <a:t>本节课目录</a:t>
            </a:r>
          </a:p>
        </p:txBody>
      </p:sp>
    </p:spTree>
    <p:extLst>
      <p:ext uri="{BB962C8B-B14F-4D97-AF65-F5344CB8AC3E}">
        <p14:creationId xmlns:p14="http://schemas.microsoft.com/office/powerpoint/2010/main" val="119806583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"/>
    </mc:Choice>
    <mc:Fallback xmlns="">
      <p:transition/>
    </mc:Fallback>
  </mc:AlternateContent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>
            <a:extLst>
              <a:ext uri="{FF2B5EF4-FFF2-40B4-BE49-F238E27FC236}">
                <a16:creationId xmlns:a16="http://schemas.microsoft.com/office/drawing/2014/main" id="{DB90233C-5930-496A-A994-E0CCE245D808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dirty="0"/>
              <a:t>寄存器堆的访问</a:t>
            </a:r>
          </a:p>
        </p:txBody>
      </p:sp>
      <p:sp>
        <p:nvSpPr>
          <p:cNvPr id="3" name="内容占位符 2">
            <a:extLst>
              <a:ext uri="{FF2B5EF4-FFF2-40B4-BE49-F238E27FC236}">
                <a16:creationId xmlns:a16="http://schemas.microsoft.com/office/drawing/2014/main" id="{24E55C9B-D9F6-43BC-A55D-23D33779C319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457200" y="1165226"/>
            <a:ext cx="8229600" cy="4525963"/>
          </a:xfrm>
        </p:spPr>
        <p:txBody>
          <a:bodyPr/>
          <a:lstStyle/>
          <a:p>
            <a:r>
              <a:rPr lang="zh-CN" altLang="en-US" dirty="0"/>
              <a:t>同时对寄存器堆进行读取和写入：依靠硬件来解决冲突</a:t>
            </a:r>
          </a:p>
        </p:txBody>
      </p:sp>
      <p:sp>
        <p:nvSpPr>
          <p:cNvPr id="4" name="灯片编号占位符 3">
            <a:extLst>
              <a:ext uri="{FF2B5EF4-FFF2-40B4-BE49-F238E27FC236}">
                <a16:creationId xmlns:a16="http://schemas.microsoft.com/office/drawing/2014/main" id="{A4BE88F7-4CE4-42B1-B447-8DA41D4A4C6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0626FCE3-5FF9-430D-BA0B-DE80AAE71673}" type="slidenum">
              <a:rPr lang="zh-CN" altLang="en-US" smtClean="0"/>
              <a:t>15</a:t>
            </a:fld>
            <a:endParaRPr lang="zh-CN" altLang="en-US"/>
          </a:p>
        </p:txBody>
      </p:sp>
      <p:sp>
        <p:nvSpPr>
          <p:cNvPr id="7" name="AutoShape 3">
            <a:extLst>
              <a:ext uri="{FF2B5EF4-FFF2-40B4-BE49-F238E27FC236}">
                <a16:creationId xmlns:a16="http://schemas.microsoft.com/office/drawing/2014/main" id="{3A179BF2-9B6D-4D77-B5A3-AB7CC317378D}"/>
              </a:ext>
            </a:extLst>
          </p:cNvPr>
          <p:cNvSpPr>
            <a:spLocks noChangeAspect="1" noChangeArrowheads="1" noTextEdit="1"/>
          </p:cNvSpPr>
          <p:nvPr/>
        </p:nvSpPr>
        <p:spPr bwMode="auto">
          <a:xfrm>
            <a:off x="1101725" y="2074863"/>
            <a:ext cx="7091363" cy="44481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12" name="Rectangle 9">
            <a:extLst>
              <a:ext uri="{FF2B5EF4-FFF2-40B4-BE49-F238E27FC236}">
                <a16:creationId xmlns:a16="http://schemas.microsoft.com/office/drawing/2014/main" id="{698FC754-B871-4A98-9EF9-53CD13BD2F8A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2663" y="2979743"/>
            <a:ext cx="57708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zh-CN" altLang="zh-CN" sz="1600" i="1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rPr>
              <a:t>I</a:t>
            </a:r>
            <a:endParaRPr kumimoji="0" lang="zh-CN" altLang="zh-CN" sz="1800" i="1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  <a:ea typeface="SimHei" panose="02010609060101010101" pitchFamily="49" charset="-122"/>
            </a:endParaRPr>
          </a:p>
        </p:txBody>
      </p:sp>
      <p:sp>
        <p:nvSpPr>
          <p:cNvPr id="13" name="Rectangle 10">
            <a:extLst>
              <a:ext uri="{FF2B5EF4-FFF2-40B4-BE49-F238E27FC236}">
                <a16:creationId xmlns:a16="http://schemas.microsoft.com/office/drawing/2014/main" id="{1B536A9D-0594-466A-9260-49955AD8BD20}"/>
              </a:ext>
            </a:extLst>
          </p:cNvPr>
          <p:cNvSpPr>
            <a:spLocks noChangeArrowheads="1"/>
          </p:cNvSpPr>
          <p:nvPr/>
        </p:nvSpPr>
        <p:spPr bwMode="auto">
          <a:xfrm>
            <a:off x="717263" y="3219455"/>
            <a:ext cx="113814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zh-CN" altLang="zh-CN" sz="1600" i="1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rPr>
              <a:t>n</a:t>
            </a:r>
            <a:endParaRPr kumimoji="0" lang="zh-CN" altLang="zh-CN" sz="1800" i="1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  <a:ea typeface="SimHei" panose="02010609060101010101" pitchFamily="49" charset="-122"/>
            </a:endParaRPr>
          </a:p>
        </p:txBody>
      </p:sp>
      <p:sp>
        <p:nvSpPr>
          <p:cNvPr id="14" name="Rectangle 11">
            <a:extLst>
              <a:ext uri="{FF2B5EF4-FFF2-40B4-BE49-F238E27FC236}">
                <a16:creationId xmlns:a16="http://schemas.microsoft.com/office/drawing/2014/main" id="{8D107DC1-7AF8-4F2F-AA2A-32ABC8E36FBF}"/>
              </a:ext>
            </a:extLst>
          </p:cNvPr>
          <p:cNvSpPr>
            <a:spLocks noChangeArrowheads="1"/>
          </p:cNvSpPr>
          <p:nvPr/>
        </p:nvSpPr>
        <p:spPr bwMode="auto">
          <a:xfrm>
            <a:off x="717263" y="3462343"/>
            <a:ext cx="102592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zh-CN" altLang="zh-CN" sz="1600" i="1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rPr>
              <a:t>s</a:t>
            </a:r>
            <a:endParaRPr kumimoji="0" lang="zh-CN" altLang="zh-CN" sz="1800" i="1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  <a:ea typeface="SimHei" panose="02010609060101010101" pitchFamily="49" charset="-122"/>
            </a:endParaRPr>
          </a:p>
        </p:txBody>
      </p:sp>
      <p:sp>
        <p:nvSpPr>
          <p:cNvPr id="15" name="Rectangle 12">
            <a:extLst>
              <a:ext uri="{FF2B5EF4-FFF2-40B4-BE49-F238E27FC236}">
                <a16:creationId xmlns:a16="http://schemas.microsoft.com/office/drawing/2014/main" id="{16BC128B-72E5-45F4-8DB9-709BCEBD72EB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2663" y="3700468"/>
            <a:ext cx="57708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zh-CN" altLang="zh-CN" sz="1600" i="1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rPr>
              <a:t>t</a:t>
            </a:r>
            <a:endParaRPr kumimoji="0" lang="zh-CN" altLang="zh-CN" sz="1800" i="1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  <a:ea typeface="SimHei" panose="02010609060101010101" pitchFamily="49" charset="-122"/>
            </a:endParaRPr>
          </a:p>
        </p:txBody>
      </p:sp>
      <p:sp>
        <p:nvSpPr>
          <p:cNvPr id="16" name="Rectangle 13">
            <a:extLst>
              <a:ext uri="{FF2B5EF4-FFF2-40B4-BE49-F238E27FC236}">
                <a16:creationId xmlns:a16="http://schemas.microsoft.com/office/drawing/2014/main" id="{73F28E8A-22CF-44CB-9C6B-721490BD0F61}"/>
              </a:ext>
            </a:extLst>
          </p:cNvPr>
          <p:cNvSpPr>
            <a:spLocks noChangeArrowheads="1"/>
          </p:cNvSpPr>
          <p:nvPr/>
        </p:nvSpPr>
        <p:spPr bwMode="auto">
          <a:xfrm>
            <a:off x="709326" y="3940180"/>
            <a:ext cx="119007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zh-CN" altLang="zh-CN" sz="1600" i="1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rPr>
              <a:t>r.</a:t>
            </a:r>
            <a:endParaRPr kumimoji="0" lang="zh-CN" altLang="zh-CN" sz="1800" i="1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  <a:ea typeface="SimHei" panose="02010609060101010101" pitchFamily="49" charset="-122"/>
            </a:endParaRPr>
          </a:p>
        </p:txBody>
      </p:sp>
      <p:sp>
        <p:nvSpPr>
          <p:cNvPr id="17" name="Rectangle 14">
            <a:extLst>
              <a:ext uri="{FF2B5EF4-FFF2-40B4-BE49-F238E27FC236}">
                <a16:creationId xmlns:a16="http://schemas.microsoft.com/office/drawing/2014/main" id="{A60634C6-95D7-4655-85A8-55050532F54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91863" y="4414843"/>
            <a:ext cx="160300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zh-CN" altLang="zh-CN" sz="1600" i="1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rPr>
              <a:t>O</a:t>
            </a:r>
            <a:endParaRPr kumimoji="0" lang="zh-CN" altLang="zh-CN" sz="1800" i="1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  <a:ea typeface="SimHei" panose="02010609060101010101" pitchFamily="49" charset="-122"/>
            </a:endParaRPr>
          </a:p>
        </p:txBody>
      </p:sp>
      <p:sp>
        <p:nvSpPr>
          <p:cNvPr id="18" name="Rectangle 15">
            <a:extLst>
              <a:ext uri="{FF2B5EF4-FFF2-40B4-BE49-F238E27FC236}">
                <a16:creationId xmlns:a16="http://schemas.microsoft.com/office/drawing/2014/main" id="{2BB9F313-1D82-4A41-8C4F-34373DD364D0}"/>
              </a:ext>
            </a:extLst>
          </p:cNvPr>
          <p:cNvSpPr>
            <a:spLocks noChangeArrowheads="1"/>
          </p:cNvSpPr>
          <p:nvPr/>
        </p:nvSpPr>
        <p:spPr bwMode="auto">
          <a:xfrm>
            <a:off x="734726" y="4652968"/>
            <a:ext cx="68930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zh-CN" altLang="zh-CN" sz="1600" i="1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rPr>
              <a:t>r</a:t>
            </a:r>
            <a:endParaRPr kumimoji="0" lang="zh-CN" altLang="zh-CN" sz="1800" i="1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  <a:ea typeface="SimHei" panose="02010609060101010101" pitchFamily="49" charset="-122"/>
            </a:endParaRPr>
          </a:p>
        </p:txBody>
      </p:sp>
      <p:sp>
        <p:nvSpPr>
          <p:cNvPr id="19" name="Rectangle 16">
            <a:extLst>
              <a:ext uri="{FF2B5EF4-FFF2-40B4-BE49-F238E27FC236}">
                <a16:creationId xmlns:a16="http://schemas.microsoft.com/office/drawing/2014/main" id="{A6FAAF1B-46AF-4890-BDD6-477DC0A2DF59}"/>
              </a:ext>
            </a:extLst>
          </p:cNvPr>
          <p:cNvSpPr>
            <a:spLocks noChangeArrowheads="1"/>
          </p:cNvSpPr>
          <p:nvPr/>
        </p:nvSpPr>
        <p:spPr bwMode="auto">
          <a:xfrm>
            <a:off x="717263" y="4892680"/>
            <a:ext cx="113814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zh-CN" altLang="zh-CN" sz="1600" i="1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rPr>
              <a:t>d</a:t>
            </a:r>
            <a:endParaRPr kumimoji="0" lang="zh-CN" altLang="zh-CN" sz="1800" i="1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  <a:ea typeface="SimHei" panose="02010609060101010101" pitchFamily="49" charset="-122"/>
            </a:endParaRPr>
          </a:p>
        </p:txBody>
      </p:sp>
      <p:sp>
        <p:nvSpPr>
          <p:cNvPr id="20" name="Rectangle 17">
            <a:extLst>
              <a:ext uri="{FF2B5EF4-FFF2-40B4-BE49-F238E27FC236}">
                <a16:creationId xmlns:a16="http://schemas.microsoft.com/office/drawing/2014/main" id="{3CE7DDA1-18A0-4ECC-BD45-F3883A1EE408}"/>
              </a:ext>
            </a:extLst>
          </p:cNvPr>
          <p:cNvSpPr>
            <a:spLocks noChangeArrowheads="1"/>
          </p:cNvSpPr>
          <p:nvPr/>
        </p:nvSpPr>
        <p:spPr bwMode="auto">
          <a:xfrm>
            <a:off x="717263" y="5135568"/>
            <a:ext cx="113814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zh-CN" altLang="zh-CN" sz="1600" i="1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rPr>
              <a:t>e</a:t>
            </a:r>
            <a:endParaRPr kumimoji="0" lang="zh-CN" altLang="zh-CN" sz="1800" i="1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  <a:ea typeface="SimHei" panose="02010609060101010101" pitchFamily="49" charset="-122"/>
            </a:endParaRPr>
          </a:p>
        </p:txBody>
      </p:sp>
      <p:sp>
        <p:nvSpPr>
          <p:cNvPr id="21" name="Rectangle 18">
            <a:extLst>
              <a:ext uri="{FF2B5EF4-FFF2-40B4-BE49-F238E27FC236}">
                <a16:creationId xmlns:a16="http://schemas.microsoft.com/office/drawing/2014/main" id="{294AEB72-C43F-45F1-B3E7-137D85CD4754}"/>
              </a:ext>
            </a:extLst>
          </p:cNvPr>
          <p:cNvSpPr>
            <a:spLocks noChangeArrowheads="1"/>
          </p:cNvSpPr>
          <p:nvPr/>
        </p:nvSpPr>
        <p:spPr bwMode="auto">
          <a:xfrm>
            <a:off x="734726" y="5367343"/>
            <a:ext cx="68930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zh-CN" altLang="zh-CN" sz="1600" i="1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rPr>
              <a:t>r</a:t>
            </a:r>
            <a:endParaRPr kumimoji="0" lang="zh-CN" altLang="zh-CN" sz="1800" i="1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  <a:ea typeface="SimHei" panose="02010609060101010101" pitchFamily="49" charset="-122"/>
            </a:endParaRPr>
          </a:p>
        </p:txBody>
      </p:sp>
      <p:sp>
        <p:nvSpPr>
          <p:cNvPr id="22" name="Freeform 19">
            <a:extLst>
              <a:ext uri="{FF2B5EF4-FFF2-40B4-BE49-F238E27FC236}">
                <a16:creationId xmlns:a16="http://schemas.microsoft.com/office/drawing/2014/main" id="{7F69B967-582E-44C0-8876-9BA921C08C38}"/>
              </a:ext>
            </a:extLst>
          </p:cNvPr>
          <p:cNvSpPr>
            <a:spLocks noEditPoints="1"/>
          </p:cNvSpPr>
          <p:nvPr/>
        </p:nvSpPr>
        <p:spPr bwMode="auto">
          <a:xfrm>
            <a:off x="2332067" y="2365379"/>
            <a:ext cx="6354733" cy="73023"/>
          </a:xfrm>
          <a:custGeom>
            <a:avLst/>
            <a:gdLst>
              <a:gd name="T0" fmla="*/ 0 w 3568"/>
              <a:gd name="T1" fmla="*/ 14 h 41"/>
              <a:gd name="T2" fmla="*/ 3532 w 3568"/>
              <a:gd name="T3" fmla="*/ 14 h 41"/>
              <a:gd name="T4" fmla="*/ 3532 w 3568"/>
              <a:gd name="T5" fmla="*/ 28 h 41"/>
              <a:gd name="T6" fmla="*/ 0 w 3568"/>
              <a:gd name="T7" fmla="*/ 28 h 41"/>
              <a:gd name="T8" fmla="*/ 0 w 3568"/>
              <a:gd name="T9" fmla="*/ 14 h 41"/>
              <a:gd name="T10" fmla="*/ 3525 w 3568"/>
              <a:gd name="T11" fmla="*/ 0 h 41"/>
              <a:gd name="T12" fmla="*/ 3568 w 3568"/>
              <a:gd name="T13" fmla="*/ 21 h 41"/>
              <a:gd name="T14" fmla="*/ 3525 w 3568"/>
              <a:gd name="T15" fmla="*/ 41 h 41"/>
              <a:gd name="T16" fmla="*/ 3525 w 3568"/>
              <a:gd name="T17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3568" h="41">
                <a:moveTo>
                  <a:pt x="0" y="14"/>
                </a:moveTo>
                <a:lnTo>
                  <a:pt x="3532" y="14"/>
                </a:lnTo>
                <a:lnTo>
                  <a:pt x="3532" y="28"/>
                </a:lnTo>
                <a:lnTo>
                  <a:pt x="0" y="28"/>
                </a:lnTo>
                <a:lnTo>
                  <a:pt x="0" y="14"/>
                </a:lnTo>
                <a:close/>
                <a:moveTo>
                  <a:pt x="3525" y="0"/>
                </a:moveTo>
                <a:lnTo>
                  <a:pt x="3568" y="21"/>
                </a:lnTo>
                <a:lnTo>
                  <a:pt x="3525" y="41"/>
                </a:lnTo>
                <a:lnTo>
                  <a:pt x="3525" y="0"/>
                </a:lnTo>
                <a:close/>
              </a:path>
            </a:pathLst>
          </a:custGeom>
          <a:solidFill>
            <a:srgbClr val="000000"/>
          </a:solidFill>
          <a:ln w="0" cap="flat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23" name="Rectangle 20">
            <a:extLst>
              <a:ext uri="{FF2B5EF4-FFF2-40B4-BE49-F238E27FC236}">
                <a16:creationId xmlns:a16="http://schemas.microsoft.com/office/drawing/2014/main" id="{55F67915-B95E-4E85-A09D-46DE9241DDE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47699" y="2074863"/>
            <a:ext cx="1736437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zh-CN" altLang="zh-CN" sz="1600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rPr>
              <a:t>Time (clock cycles)</a:t>
            </a:r>
            <a:endParaRPr kumimoji="0" lang="zh-CN" altLang="zh-CN" sz="180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  <a:ea typeface="SimHei" panose="02010609060101010101" pitchFamily="49" charset="-122"/>
            </a:endParaRPr>
          </a:p>
        </p:txBody>
      </p:sp>
      <p:sp>
        <p:nvSpPr>
          <p:cNvPr id="24" name="Rectangle 21">
            <a:extLst>
              <a:ext uri="{FF2B5EF4-FFF2-40B4-BE49-F238E27FC236}">
                <a16:creationId xmlns:a16="http://schemas.microsoft.com/office/drawing/2014/main" id="{02015472-8991-44AF-8847-B9E75A1FC393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82388" y="2847980"/>
            <a:ext cx="522579" cy="3231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zh-CN" altLang="zh-CN" sz="2100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rPr>
              <a:t>add </a:t>
            </a:r>
            <a:endParaRPr kumimoji="0" lang="zh-CN" altLang="zh-CN" sz="180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  <a:ea typeface="SimHei" panose="02010609060101010101" pitchFamily="49" charset="-122"/>
            </a:endParaRPr>
          </a:p>
        </p:txBody>
      </p:sp>
      <p:sp>
        <p:nvSpPr>
          <p:cNvPr id="25" name="Rectangle 22">
            <a:extLst>
              <a:ext uri="{FF2B5EF4-FFF2-40B4-BE49-F238E27FC236}">
                <a16:creationId xmlns:a16="http://schemas.microsoft.com/office/drawing/2014/main" id="{620B5EFC-D7D8-4419-9A92-14A63223ADD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611026" y="2847980"/>
            <a:ext cx="238848" cy="3231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zh-CN" altLang="zh-CN" sz="2100" u="none" strike="noStrike" cap="none" normalizeH="0" baseline="0" dirty="0">
                <a:ln>
                  <a:noFill/>
                </a:ln>
                <a:solidFill>
                  <a:srgbClr val="DE2506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rPr>
              <a:t>r1</a:t>
            </a:r>
            <a:endParaRPr kumimoji="0" lang="zh-CN" altLang="zh-CN" sz="180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  <a:ea typeface="SimHei" panose="02010609060101010101" pitchFamily="49" charset="-122"/>
            </a:endParaRPr>
          </a:p>
        </p:txBody>
      </p:sp>
      <p:sp>
        <p:nvSpPr>
          <p:cNvPr id="26" name="Rectangle 23">
            <a:extLst>
              <a:ext uri="{FF2B5EF4-FFF2-40B4-BE49-F238E27FC236}">
                <a16:creationId xmlns:a16="http://schemas.microsoft.com/office/drawing/2014/main" id="{24CAB11D-00FF-4BC0-B001-203E5BCAC85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58676" y="2847980"/>
            <a:ext cx="779059" cy="3231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zh-CN" altLang="zh-CN" sz="2100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rPr>
              <a:t>,</a:t>
            </a:r>
            <a:r>
              <a:rPr kumimoji="0" lang="en-US" altLang="zh-CN" sz="2100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rPr>
              <a:t> r2, r3</a:t>
            </a:r>
            <a:endParaRPr kumimoji="0" lang="zh-CN" altLang="zh-CN" sz="180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  <a:ea typeface="SimHei" panose="02010609060101010101" pitchFamily="49" charset="-122"/>
            </a:endParaRPr>
          </a:p>
        </p:txBody>
      </p:sp>
      <p:sp>
        <p:nvSpPr>
          <p:cNvPr id="27" name="Rectangle 24">
            <a:extLst>
              <a:ext uri="{FF2B5EF4-FFF2-40B4-BE49-F238E27FC236}">
                <a16:creationId xmlns:a16="http://schemas.microsoft.com/office/drawing/2014/main" id="{096C3CE1-C7CD-49A8-B4D2-B9AAF81EEB34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82388" y="3576643"/>
            <a:ext cx="658835" cy="3231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zh-CN" altLang="zh-CN" sz="2100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rPr>
              <a:t>Inst 1</a:t>
            </a:r>
            <a:endParaRPr kumimoji="0" lang="zh-CN" altLang="zh-CN" sz="180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  <a:ea typeface="SimHei" panose="02010609060101010101" pitchFamily="49" charset="-122"/>
            </a:endParaRPr>
          </a:p>
        </p:txBody>
      </p:sp>
      <p:sp>
        <p:nvSpPr>
          <p:cNvPr id="28" name="Rectangle 25">
            <a:extLst>
              <a:ext uri="{FF2B5EF4-FFF2-40B4-BE49-F238E27FC236}">
                <a16:creationId xmlns:a16="http://schemas.microsoft.com/office/drawing/2014/main" id="{AE30804E-89E2-4972-B38B-89150749A2D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82388" y="4340230"/>
            <a:ext cx="658835" cy="3231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zh-CN" altLang="zh-CN" sz="2100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rPr>
              <a:t>Inst 2</a:t>
            </a:r>
            <a:endParaRPr kumimoji="0" lang="zh-CN" altLang="zh-CN" sz="180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  <a:ea typeface="SimHei" panose="02010609060101010101" pitchFamily="49" charset="-122"/>
            </a:endParaRPr>
          </a:p>
        </p:txBody>
      </p:sp>
      <p:sp>
        <p:nvSpPr>
          <p:cNvPr id="29" name="Rectangle 26">
            <a:extLst>
              <a:ext uri="{FF2B5EF4-FFF2-40B4-BE49-F238E27FC236}">
                <a16:creationId xmlns:a16="http://schemas.microsoft.com/office/drawing/2014/main" id="{02853D1B-282D-41C2-A24E-682FE84AEFF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82388" y="5829305"/>
            <a:ext cx="658835" cy="3231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zh-CN" altLang="zh-CN" sz="2100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rPr>
              <a:t>Inst 4</a:t>
            </a:r>
            <a:endParaRPr kumimoji="0" lang="zh-CN" altLang="zh-CN" sz="180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  <a:ea typeface="SimHei" panose="02010609060101010101" pitchFamily="49" charset="-122"/>
            </a:endParaRPr>
          </a:p>
        </p:txBody>
      </p:sp>
      <p:sp>
        <p:nvSpPr>
          <p:cNvPr id="38" name="Rectangle 35">
            <a:extLst>
              <a:ext uri="{FF2B5EF4-FFF2-40B4-BE49-F238E27FC236}">
                <a16:creationId xmlns:a16="http://schemas.microsoft.com/office/drawing/2014/main" id="{032D98E6-4151-4489-89F9-63561EAB30E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82388" y="5068893"/>
            <a:ext cx="912109" cy="3231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zh-CN" altLang="zh-CN" sz="2100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rPr>
              <a:t>add  r2,</a:t>
            </a:r>
            <a:endParaRPr kumimoji="0" lang="zh-CN" altLang="zh-CN" sz="180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  <a:ea typeface="SimHei" panose="02010609060101010101" pitchFamily="49" charset="-122"/>
            </a:endParaRPr>
          </a:p>
        </p:txBody>
      </p:sp>
      <p:sp>
        <p:nvSpPr>
          <p:cNvPr id="39" name="Rectangle 36">
            <a:extLst>
              <a:ext uri="{FF2B5EF4-FFF2-40B4-BE49-F238E27FC236}">
                <a16:creationId xmlns:a16="http://schemas.microsoft.com/office/drawing/2014/main" id="{1C95CF6D-5F9D-4FBA-98DB-71A0FF69461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12663" y="5068893"/>
            <a:ext cx="238848" cy="3231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zh-CN" altLang="zh-CN" sz="2100" u="none" strike="noStrike" cap="none" normalizeH="0" baseline="0" dirty="0">
                <a:ln>
                  <a:noFill/>
                </a:ln>
                <a:solidFill>
                  <a:srgbClr val="DE2506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rPr>
              <a:t>r1</a:t>
            </a:r>
            <a:endParaRPr kumimoji="0" lang="zh-CN" altLang="zh-CN" sz="180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  <a:ea typeface="SimHei" panose="02010609060101010101" pitchFamily="49" charset="-122"/>
            </a:endParaRPr>
          </a:p>
        </p:txBody>
      </p:sp>
      <p:sp>
        <p:nvSpPr>
          <p:cNvPr id="40" name="Rectangle 37">
            <a:extLst>
              <a:ext uri="{FF2B5EF4-FFF2-40B4-BE49-F238E27FC236}">
                <a16:creationId xmlns:a16="http://schemas.microsoft.com/office/drawing/2014/main" id="{D0D1ACA0-BA2B-4A87-AE1F-FC72096AF59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60313" y="5068893"/>
            <a:ext cx="314189" cy="3231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zh-CN" altLang="zh-CN" sz="2100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rPr>
              <a:t>,</a:t>
            </a:r>
            <a:r>
              <a:rPr lang="en-US" altLang="zh-CN" sz="2100" dirty="0">
                <a:solidFill>
                  <a:srgbClr val="000000"/>
                </a:solidFill>
                <a:ea typeface="SimHei" panose="02010609060101010101" pitchFamily="49" charset="-122"/>
              </a:rPr>
              <a:t>r3</a:t>
            </a:r>
            <a:endParaRPr kumimoji="0" lang="zh-CN" altLang="zh-CN" sz="180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  <a:ea typeface="SimHei" panose="02010609060101010101" pitchFamily="49" charset="-122"/>
            </a:endParaRPr>
          </a:p>
        </p:txBody>
      </p:sp>
      <p:sp>
        <p:nvSpPr>
          <p:cNvPr id="41" name="Freeform 38">
            <a:extLst>
              <a:ext uri="{FF2B5EF4-FFF2-40B4-BE49-F238E27FC236}">
                <a16:creationId xmlns:a16="http://schemas.microsoft.com/office/drawing/2014/main" id="{6D0CBAEF-E083-4B13-82A5-2C2CC82D098A}"/>
              </a:ext>
            </a:extLst>
          </p:cNvPr>
          <p:cNvSpPr>
            <a:spLocks noEditPoints="1"/>
          </p:cNvSpPr>
          <p:nvPr/>
        </p:nvSpPr>
        <p:spPr bwMode="auto">
          <a:xfrm>
            <a:off x="893476" y="2862268"/>
            <a:ext cx="77788" cy="3379788"/>
          </a:xfrm>
          <a:custGeom>
            <a:avLst/>
            <a:gdLst>
              <a:gd name="T0" fmla="*/ 32 w 49"/>
              <a:gd name="T1" fmla="*/ 0 h 2129"/>
              <a:gd name="T2" fmla="*/ 32 w 49"/>
              <a:gd name="T3" fmla="*/ 2089 h 2129"/>
              <a:gd name="T4" fmla="*/ 16 w 49"/>
              <a:gd name="T5" fmla="*/ 2089 h 2129"/>
              <a:gd name="T6" fmla="*/ 16 w 49"/>
              <a:gd name="T7" fmla="*/ 0 h 2129"/>
              <a:gd name="T8" fmla="*/ 32 w 49"/>
              <a:gd name="T9" fmla="*/ 0 h 2129"/>
              <a:gd name="T10" fmla="*/ 49 w 49"/>
              <a:gd name="T11" fmla="*/ 2082 h 2129"/>
              <a:gd name="T12" fmla="*/ 24 w 49"/>
              <a:gd name="T13" fmla="*/ 2129 h 2129"/>
              <a:gd name="T14" fmla="*/ 0 w 49"/>
              <a:gd name="T15" fmla="*/ 2082 h 2129"/>
              <a:gd name="T16" fmla="*/ 49 w 49"/>
              <a:gd name="T17" fmla="*/ 2082 h 21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49" h="2129">
                <a:moveTo>
                  <a:pt x="32" y="0"/>
                </a:moveTo>
                <a:lnTo>
                  <a:pt x="32" y="2089"/>
                </a:lnTo>
                <a:lnTo>
                  <a:pt x="16" y="2089"/>
                </a:lnTo>
                <a:lnTo>
                  <a:pt x="16" y="0"/>
                </a:lnTo>
                <a:lnTo>
                  <a:pt x="32" y="0"/>
                </a:lnTo>
                <a:close/>
                <a:moveTo>
                  <a:pt x="49" y="2082"/>
                </a:moveTo>
                <a:lnTo>
                  <a:pt x="24" y="2129"/>
                </a:lnTo>
                <a:lnTo>
                  <a:pt x="0" y="2082"/>
                </a:lnTo>
                <a:lnTo>
                  <a:pt x="49" y="2082"/>
                </a:lnTo>
                <a:close/>
              </a:path>
            </a:pathLst>
          </a:custGeom>
          <a:solidFill>
            <a:srgbClr val="000000"/>
          </a:solidFill>
          <a:ln w="0" cap="flat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grpSp>
        <p:nvGrpSpPr>
          <p:cNvPr id="6" name="组合 5">
            <a:extLst>
              <a:ext uri="{FF2B5EF4-FFF2-40B4-BE49-F238E27FC236}">
                <a16:creationId xmlns:a16="http://schemas.microsoft.com/office/drawing/2014/main" id="{4E5A1C88-D7D2-2FB9-318B-23182BE2EB33}"/>
              </a:ext>
            </a:extLst>
          </p:cNvPr>
          <p:cNvGrpSpPr/>
          <p:nvPr/>
        </p:nvGrpSpPr>
        <p:grpSpPr>
          <a:xfrm>
            <a:off x="2887693" y="2505080"/>
            <a:ext cx="5397500" cy="3894138"/>
            <a:chOff x="2887693" y="2505080"/>
            <a:chExt cx="5397500" cy="3894138"/>
          </a:xfrm>
        </p:grpSpPr>
        <p:sp>
          <p:nvSpPr>
            <p:cNvPr id="8" name="Rectangle 5">
              <a:extLst>
                <a:ext uri="{FF2B5EF4-FFF2-40B4-BE49-F238E27FC236}">
                  <a16:creationId xmlns:a16="http://schemas.microsoft.com/office/drawing/2014/main" id="{594B1346-4088-42A2-AE37-3185599850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07056" y="5048255"/>
              <a:ext cx="411163" cy="398463"/>
            </a:xfrm>
            <a:prstGeom prst="rect">
              <a:avLst/>
            </a:prstGeom>
            <a:solidFill>
              <a:srgbClr val="DE25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10" name="Rectangle 7">
              <a:extLst>
                <a:ext uri="{FF2B5EF4-FFF2-40B4-BE49-F238E27FC236}">
                  <a16:creationId xmlns:a16="http://schemas.microsoft.com/office/drawing/2014/main" id="{865E31EF-D7B0-4F2E-A6B2-5FFD11756D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26393" y="2862268"/>
              <a:ext cx="391826" cy="396875"/>
            </a:xfrm>
            <a:prstGeom prst="rect">
              <a:avLst/>
            </a:prstGeom>
            <a:solidFill>
              <a:srgbClr val="DE25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30" name="Freeform 27">
              <a:extLst>
                <a:ext uri="{FF2B5EF4-FFF2-40B4-BE49-F238E27FC236}">
                  <a16:creationId xmlns:a16="http://schemas.microsoft.com/office/drawing/2014/main" id="{F0EE03E9-5BD3-4A92-8E61-47D40BE3FF8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407114" y="2505080"/>
              <a:ext cx="23813" cy="3894138"/>
            </a:xfrm>
            <a:custGeom>
              <a:avLst/>
              <a:gdLst>
                <a:gd name="T0" fmla="*/ 15 w 15"/>
                <a:gd name="T1" fmla="*/ 42 h 2453"/>
                <a:gd name="T2" fmla="*/ 0 w 15"/>
                <a:gd name="T3" fmla="*/ 56 h 2453"/>
                <a:gd name="T4" fmla="*/ 15 w 15"/>
                <a:gd name="T5" fmla="*/ 112 h 2453"/>
                <a:gd name="T6" fmla="*/ 0 w 15"/>
                <a:gd name="T7" fmla="*/ 154 h 2453"/>
                <a:gd name="T8" fmla="*/ 15 w 15"/>
                <a:gd name="T9" fmla="*/ 167 h 2453"/>
                <a:gd name="T10" fmla="*/ 15 w 15"/>
                <a:gd name="T11" fmla="*/ 237 h 2453"/>
                <a:gd name="T12" fmla="*/ 0 w 15"/>
                <a:gd name="T13" fmla="*/ 251 h 2453"/>
                <a:gd name="T14" fmla="*/ 15 w 15"/>
                <a:gd name="T15" fmla="*/ 307 h 2453"/>
                <a:gd name="T16" fmla="*/ 0 w 15"/>
                <a:gd name="T17" fmla="*/ 348 h 2453"/>
                <a:gd name="T18" fmla="*/ 15 w 15"/>
                <a:gd name="T19" fmla="*/ 362 h 2453"/>
                <a:gd name="T20" fmla="*/ 15 w 15"/>
                <a:gd name="T21" fmla="*/ 432 h 2453"/>
                <a:gd name="T22" fmla="*/ 0 w 15"/>
                <a:gd name="T23" fmla="*/ 446 h 2453"/>
                <a:gd name="T24" fmla="*/ 15 w 15"/>
                <a:gd name="T25" fmla="*/ 501 h 2453"/>
                <a:gd name="T26" fmla="*/ 0 w 15"/>
                <a:gd name="T27" fmla="*/ 543 h 2453"/>
                <a:gd name="T28" fmla="*/ 15 w 15"/>
                <a:gd name="T29" fmla="*/ 557 h 2453"/>
                <a:gd name="T30" fmla="*/ 15 w 15"/>
                <a:gd name="T31" fmla="*/ 627 h 2453"/>
                <a:gd name="T32" fmla="*/ 0 w 15"/>
                <a:gd name="T33" fmla="*/ 641 h 2453"/>
                <a:gd name="T34" fmla="*/ 15 w 15"/>
                <a:gd name="T35" fmla="*/ 696 h 2453"/>
                <a:gd name="T36" fmla="*/ 0 w 15"/>
                <a:gd name="T37" fmla="*/ 738 h 2453"/>
                <a:gd name="T38" fmla="*/ 15 w 15"/>
                <a:gd name="T39" fmla="*/ 752 h 2453"/>
                <a:gd name="T40" fmla="*/ 15 w 15"/>
                <a:gd name="T41" fmla="*/ 822 h 2453"/>
                <a:gd name="T42" fmla="*/ 0 w 15"/>
                <a:gd name="T43" fmla="*/ 835 h 2453"/>
                <a:gd name="T44" fmla="*/ 15 w 15"/>
                <a:gd name="T45" fmla="*/ 891 h 2453"/>
                <a:gd name="T46" fmla="*/ 0 w 15"/>
                <a:gd name="T47" fmla="*/ 933 h 2453"/>
                <a:gd name="T48" fmla="*/ 15 w 15"/>
                <a:gd name="T49" fmla="*/ 947 h 2453"/>
                <a:gd name="T50" fmla="*/ 15 w 15"/>
                <a:gd name="T51" fmla="*/ 1016 h 2453"/>
                <a:gd name="T52" fmla="*/ 0 w 15"/>
                <a:gd name="T53" fmla="*/ 1030 h 2453"/>
                <a:gd name="T54" fmla="*/ 15 w 15"/>
                <a:gd name="T55" fmla="*/ 1086 h 2453"/>
                <a:gd name="T56" fmla="*/ 0 w 15"/>
                <a:gd name="T57" fmla="*/ 1127 h 2453"/>
                <a:gd name="T58" fmla="*/ 15 w 15"/>
                <a:gd name="T59" fmla="*/ 1141 h 2453"/>
                <a:gd name="T60" fmla="*/ 15 w 15"/>
                <a:gd name="T61" fmla="*/ 1211 h 2453"/>
                <a:gd name="T62" fmla="*/ 0 w 15"/>
                <a:gd name="T63" fmla="*/ 1225 h 2453"/>
                <a:gd name="T64" fmla="*/ 15 w 15"/>
                <a:gd name="T65" fmla="*/ 1281 h 2453"/>
                <a:gd name="T66" fmla="*/ 0 w 15"/>
                <a:gd name="T67" fmla="*/ 1322 h 2453"/>
                <a:gd name="T68" fmla="*/ 15 w 15"/>
                <a:gd name="T69" fmla="*/ 1336 h 2453"/>
                <a:gd name="T70" fmla="*/ 15 w 15"/>
                <a:gd name="T71" fmla="*/ 1406 h 2453"/>
                <a:gd name="T72" fmla="*/ 0 w 15"/>
                <a:gd name="T73" fmla="*/ 1420 h 2453"/>
                <a:gd name="T74" fmla="*/ 15 w 15"/>
                <a:gd name="T75" fmla="*/ 1475 h 2453"/>
                <a:gd name="T76" fmla="*/ 0 w 15"/>
                <a:gd name="T77" fmla="*/ 1517 h 2453"/>
                <a:gd name="T78" fmla="*/ 15 w 15"/>
                <a:gd name="T79" fmla="*/ 1531 h 2453"/>
                <a:gd name="T80" fmla="*/ 15 w 15"/>
                <a:gd name="T81" fmla="*/ 1601 h 2453"/>
                <a:gd name="T82" fmla="*/ 0 w 15"/>
                <a:gd name="T83" fmla="*/ 1615 h 2453"/>
                <a:gd name="T84" fmla="*/ 15 w 15"/>
                <a:gd name="T85" fmla="*/ 1670 h 2453"/>
                <a:gd name="T86" fmla="*/ 0 w 15"/>
                <a:gd name="T87" fmla="*/ 1712 h 2453"/>
                <a:gd name="T88" fmla="*/ 15 w 15"/>
                <a:gd name="T89" fmla="*/ 1726 h 2453"/>
                <a:gd name="T90" fmla="*/ 15 w 15"/>
                <a:gd name="T91" fmla="*/ 1795 h 2453"/>
                <a:gd name="T92" fmla="*/ 0 w 15"/>
                <a:gd name="T93" fmla="*/ 1809 h 2453"/>
                <a:gd name="T94" fmla="*/ 15 w 15"/>
                <a:gd name="T95" fmla="*/ 1865 h 2453"/>
                <a:gd name="T96" fmla="*/ 0 w 15"/>
                <a:gd name="T97" fmla="*/ 1907 h 2453"/>
                <a:gd name="T98" fmla="*/ 15 w 15"/>
                <a:gd name="T99" fmla="*/ 1921 h 2453"/>
                <a:gd name="T100" fmla="*/ 15 w 15"/>
                <a:gd name="T101" fmla="*/ 1990 h 2453"/>
                <a:gd name="T102" fmla="*/ 0 w 15"/>
                <a:gd name="T103" fmla="*/ 2004 h 2453"/>
                <a:gd name="T104" fmla="*/ 15 w 15"/>
                <a:gd name="T105" fmla="*/ 2060 h 2453"/>
                <a:gd name="T106" fmla="*/ 0 w 15"/>
                <a:gd name="T107" fmla="*/ 2102 h 2453"/>
                <a:gd name="T108" fmla="*/ 15 w 15"/>
                <a:gd name="T109" fmla="*/ 2116 h 2453"/>
                <a:gd name="T110" fmla="*/ 15 w 15"/>
                <a:gd name="T111" fmla="*/ 2185 h 2453"/>
                <a:gd name="T112" fmla="*/ 0 w 15"/>
                <a:gd name="T113" fmla="*/ 2199 h 2453"/>
                <a:gd name="T114" fmla="*/ 15 w 15"/>
                <a:gd name="T115" fmla="*/ 2254 h 2453"/>
                <a:gd name="T116" fmla="*/ 0 w 15"/>
                <a:gd name="T117" fmla="*/ 2296 h 2453"/>
                <a:gd name="T118" fmla="*/ 15 w 15"/>
                <a:gd name="T119" fmla="*/ 2310 h 2453"/>
                <a:gd name="T120" fmla="*/ 15 w 15"/>
                <a:gd name="T121" fmla="*/ 2380 h 2453"/>
                <a:gd name="T122" fmla="*/ 0 w 15"/>
                <a:gd name="T123" fmla="*/ 2394 h 2453"/>
                <a:gd name="T124" fmla="*/ 15 w 15"/>
                <a:gd name="T125" fmla="*/ 2449 h 24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5" h="2453">
                  <a:moveTo>
                    <a:pt x="15" y="0"/>
                  </a:moveTo>
                  <a:lnTo>
                    <a:pt x="15" y="14"/>
                  </a:lnTo>
                  <a:lnTo>
                    <a:pt x="0" y="14"/>
                  </a:lnTo>
                  <a:lnTo>
                    <a:pt x="0" y="0"/>
                  </a:lnTo>
                  <a:lnTo>
                    <a:pt x="15" y="0"/>
                  </a:lnTo>
                  <a:close/>
                  <a:moveTo>
                    <a:pt x="15" y="28"/>
                  </a:moveTo>
                  <a:lnTo>
                    <a:pt x="15" y="42"/>
                  </a:lnTo>
                  <a:lnTo>
                    <a:pt x="0" y="42"/>
                  </a:lnTo>
                  <a:lnTo>
                    <a:pt x="0" y="28"/>
                  </a:lnTo>
                  <a:lnTo>
                    <a:pt x="15" y="28"/>
                  </a:lnTo>
                  <a:close/>
                  <a:moveTo>
                    <a:pt x="15" y="56"/>
                  </a:moveTo>
                  <a:lnTo>
                    <a:pt x="15" y="70"/>
                  </a:lnTo>
                  <a:lnTo>
                    <a:pt x="0" y="70"/>
                  </a:lnTo>
                  <a:lnTo>
                    <a:pt x="0" y="56"/>
                  </a:lnTo>
                  <a:lnTo>
                    <a:pt x="15" y="56"/>
                  </a:lnTo>
                  <a:close/>
                  <a:moveTo>
                    <a:pt x="15" y="84"/>
                  </a:moveTo>
                  <a:lnTo>
                    <a:pt x="15" y="98"/>
                  </a:lnTo>
                  <a:lnTo>
                    <a:pt x="0" y="98"/>
                  </a:lnTo>
                  <a:lnTo>
                    <a:pt x="0" y="84"/>
                  </a:lnTo>
                  <a:lnTo>
                    <a:pt x="15" y="84"/>
                  </a:lnTo>
                  <a:close/>
                  <a:moveTo>
                    <a:pt x="15" y="112"/>
                  </a:moveTo>
                  <a:lnTo>
                    <a:pt x="15" y="126"/>
                  </a:lnTo>
                  <a:lnTo>
                    <a:pt x="0" y="126"/>
                  </a:lnTo>
                  <a:lnTo>
                    <a:pt x="0" y="112"/>
                  </a:lnTo>
                  <a:lnTo>
                    <a:pt x="15" y="112"/>
                  </a:lnTo>
                  <a:close/>
                  <a:moveTo>
                    <a:pt x="15" y="140"/>
                  </a:moveTo>
                  <a:lnTo>
                    <a:pt x="15" y="154"/>
                  </a:lnTo>
                  <a:lnTo>
                    <a:pt x="0" y="154"/>
                  </a:lnTo>
                  <a:lnTo>
                    <a:pt x="0" y="140"/>
                  </a:lnTo>
                  <a:lnTo>
                    <a:pt x="15" y="140"/>
                  </a:lnTo>
                  <a:close/>
                  <a:moveTo>
                    <a:pt x="15" y="167"/>
                  </a:moveTo>
                  <a:lnTo>
                    <a:pt x="15" y="181"/>
                  </a:lnTo>
                  <a:lnTo>
                    <a:pt x="0" y="181"/>
                  </a:lnTo>
                  <a:lnTo>
                    <a:pt x="0" y="167"/>
                  </a:lnTo>
                  <a:lnTo>
                    <a:pt x="15" y="167"/>
                  </a:lnTo>
                  <a:close/>
                  <a:moveTo>
                    <a:pt x="15" y="195"/>
                  </a:moveTo>
                  <a:lnTo>
                    <a:pt x="15" y="209"/>
                  </a:lnTo>
                  <a:lnTo>
                    <a:pt x="0" y="209"/>
                  </a:lnTo>
                  <a:lnTo>
                    <a:pt x="0" y="195"/>
                  </a:lnTo>
                  <a:lnTo>
                    <a:pt x="15" y="195"/>
                  </a:lnTo>
                  <a:close/>
                  <a:moveTo>
                    <a:pt x="15" y="223"/>
                  </a:moveTo>
                  <a:lnTo>
                    <a:pt x="15" y="237"/>
                  </a:lnTo>
                  <a:lnTo>
                    <a:pt x="0" y="237"/>
                  </a:lnTo>
                  <a:lnTo>
                    <a:pt x="0" y="223"/>
                  </a:lnTo>
                  <a:lnTo>
                    <a:pt x="15" y="223"/>
                  </a:lnTo>
                  <a:close/>
                  <a:moveTo>
                    <a:pt x="15" y="251"/>
                  </a:moveTo>
                  <a:lnTo>
                    <a:pt x="15" y="265"/>
                  </a:lnTo>
                  <a:lnTo>
                    <a:pt x="0" y="265"/>
                  </a:lnTo>
                  <a:lnTo>
                    <a:pt x="0" y="251"/>
                  </a:lnTo>
                  <a:lnTo>
                    <a:pt x="15" y="251"/>
                  </a:lnTo>
                  <a:close/>
                  <a:moveTo>
                    <a:pt x="15" y="279"/>
                  </a:moveTo>
                  <a:lnTo>
                    <a:pt x="15" y="293"/>
                  </a:lnTo>
                  <a:lnTo>
                    <a:pt x="0" y="293"/>
                  </a:lnTo>
                  <a:lnTo>
                    <a:pt x="0" y="279"/>
                  </a:lnTo>
                  <a:lnTo>
                    <a:pt x="15" y="279"/>
                  </a:lnTo>
                  <a:close/>
                  <a:moveTo>
                    <a:pt x="15" y="307"/>
                  </a:moveTo>
                  <a:lnTo>
                    <a:pt x="15" y="321"/>
                  </a:lnTo>
                  <a:lnTo>
                    <a:pt x="0" y="321"/>
                  </a:lnTo>
                  <a:lnTo>
                    <a:pt x="0" y="307"/>
                  </a:lnTo>
                  <a:lnTo>
                    <a:pt x="15" y="307"/>
                  </a:lnTo>
                  <a:close/>
                  <a:moveTo>
                    <a:pt x="15" y="334"/>
                  </a:moveTo>
                  <a:lnTo>
                    <a:pt x="15" y="348"/>
                  </a:lnTo>
                  <a:lnTo>
                    <a:pt x="0" y="348"/>
                  </a:lnTo>
                  <a:lnTo>
                    <a:pt x="0" y="334"/>
                  </a:lnTo>
                  <a:lnTo>
                    <a:pt x="15" y="334"/>
                  </a:lnTo>
                  <a:close/>
                  <a:moveTo>
                    <a:pt x="15" y="362"/>
                  </a:moveTo>
                  <a:lnTo>
                    <a:pt x="15" y="376"/>
                  </a:lnTo>
                  <a:lnTo>
                    <a:pt x="0" y="376"/>
                  </a:lnTo>
                  <a:lnTo>
                    <a:pt x="0" y="362"/>
                  </a:lnTo>
                  <a:lnTo>
                    <a:pt x="15" y="362"/>
                  </a:lnTo>
                  <a:close/>
                  <a:moveTo>
                    <a:pt x="15" y="390"/>
                  </a:moveTo>
                  <a:lnTo>
                    <a:pt x="15" y="404"/>
                  </a:lnTo>
                  <a:lnTo>
                    <a:pt x="0" y="404"/>
                  </a:lnTo>
                  <a:lnTo>
                    <a:pt x="0" y="390"/>
                  </a:lnTo>
                  <a:lnTo>
                    <a:pt x="15" y="390"/>
                  </a:lnTo>
                  <a:close/>
                  <a:moveTo>
                    <a:pt x="15" y="418"/>
                  </a:moveTo>
                  <a:lnTo>
                    <a:pt x="15" y="432"/>
                  </a:lnTo>
                  <a:lnTo>
                    <a:pt x="0" y="432"/>
                  </a:lnTo>
                  <a:lnTo>
                    <a:pt x="0" y="418"/>
                  </a:lnTo>
                  <a:lnTo>
                    <a:pt x="15" y="418"/>
                  </a:lnTo>
                  <a:close/>
                  <a:moveTo>
                    <a:pt x="15" y="446"/>
                  </a:moveTo>
                  <a:lnTo>
                    <a:pt x="15" y="460"/>
                  </a:lnTo>
                  <a:lnTo>
                    <a:pt x="0" y="460"/>
                  </a:lnTo>
                  <a:lnTo>
                    <a:pt x="0" y="446"/>
                  </a:lnTo>
                  <a:lnTo>
                    <a:pt x="15" y="446"/>
                  </a:lnTo>
                  <a:close/>
                  <a:moveTo>
                    <a:pt x="15" y="474"/>
                  </a:moveTo>
                  <a:lnTo>
                    <a:pt x="15" y="488"/>
                  </a:lnTo>
                  <a:lnTo>
                    <a:pt x="0" y="488"/>
                  </a:lnTo>
                  <a:lnTo>
                    <a:pt x="0" y="474"/>
                  </a:lnTo>
                  <a:lnTo>
                    <a:pt x="15" y="474"/>
                  </a:lnTo>
                  <a:close/>
                  <a:moveTo>
                    <a:pt x="15" y="501"/>
                  </a:moveTo>
                  <a:lnTo>
                    <a:pt x="15" y="515"/>
                  </a:lnTo>
                  <a:lnTo>
                    <a:pt x="0" y="515"/>
                  </a:lnTo>
                  <a:lnTo>
                    <a:pt x="0" y="501"/>
                  </a:lnTo>
                  <a:lnTo>
                    <a:pt x="15" y="501"/>
                  </a:lnTo>
                  <a:close/>
                  <a:moveTo>
                    <a:pt x="15" y="529"/>
                  </a:moveTo>
                  <a:lnTo>
                    <a:pt x="15" y="543"/>
                  </a:lnTo>
                  <a:lnTo>
                    <a:pt x="0" y="543"/>
                  </a:lnTo>
                  <a:lnTo>
                    <a:pt x="0" y="529"/>
                  </a:lnTo>
                  <a:lnTo>
                    <a:pt x="15" y="529"/>
                  </a:lnTo>
                  <a:close/>
                  <a:moveTo>
                    <a:pt x="15" y="557"/>
                  </a:moveTo>
                  <a:lnTo>
                    <a:pt x="15" y="571"/>
                  </a:lnTo>
                  <a:lnTo>
                    <a:pt x="0" y="571"/>
                  </a:lnTo>
                  <a:lnTo>
                    <a:pt x="0" y="557"/>
                  </a:lnTo>
                  <a:lnTo>
                    <a:pt x="15" y="557"/>
                  </a:lnTo>
                  <a:close/>
                  <a:moveTo>
                    <a:pt x="15" y="585"/>
                  </a:moveTo>
                  <a:lnTo>
                    <a:pt x="15" y="599"/>
                  </a:lnTo>
                  <a:lnTo>
                    <a:pt x="0" y="599"/>
                  </a:lnTo>
                  <a:lnTo>
                    <a:pt x="0" y="585"/>
                  </a:lnTo>
                  <a:lnTo>
                    <a:pt x="15" y="585"/>
                  </a:lnTo>
                  <a:close/>
                  <a:moveTo>
                    <a:pt x="15" y="613"/>
                  </a:moveTo>
                  <a:lnTo>
                    <a:pt x="15" y="627"/>
                  </a:lnTo>
                  <a:lnTo>
                    <a:pt x="0" y="627"/>
                  </a:lnTo>
                  <a:lnTo>
                    <a:pt x="0" y="613"/>
                  </a:lnTo>
                  <a:lnTo>
                    <a:pt x="15" y="613"/>
                  </a:lnTo>
                  <a:close/>
                  <a:moveTo>
                    <a:pt x="15" y="641"/>
                  </a:moveTo>
                  <a:lnTo>
                    <a:pt x="15" y="655"/>
                  </a:lnTo>
                  <a:lnTo>
                    <a:pt x="0" y="655"/>
                  </a:lnTo>
                  <a:lnTo>
                    <a:pt x="0" y="641"/>
                  </a:lnTo>
                  <a:lnTo>
                    <a:pt x="15" y="641"/>
                  </a:lnTo>
                  <a:close/>
                  <a:moveTo>
                    <a:pt x="15" y="668"/>
                  </a:moveTo>
                  <a:lnTo>
                    <a:pt x="15" y="682"/>
                  </a:lnTo>
                  <a:lnTo>
                    <a:pt x="0" y="682"/>
                  </a:lnTo>
                  <a:lnTo>
                    <a:pt x="0" y="668"/>
                  </a:lnTo>
                  <a:lnTo>
                    <a:pt x="15" y="668"/>
                  </a:lnTo>
                  <a:close/>
                  <a:moveTo>
                    <a:pt x="15" y="696"/>
                  </a:moveTo>
                  <a:lnTo>
                    <a:pt x="15" y="710"/>
                  </a:lnTo>
                  <a:lnTo>
                    <a:pt x="0" y="710"/>
                  </a:lnTo>
                  <a:lnTo>
                    <a:pt x="0" y="696"/>
                  </a:lnTo>
                  <a:lnTo>
                    <a:pt x="15" y="696"/>
                  </a:lnTo>
                  <a:close/>
                  <a:moveTo>
                    <a:pt x="15" y="724"/>
                  </a:moveTo>
                  <a:lnTo>
                    <a:pt x="15" y="738"/>
                  </a:lnTo>
                  <a:lnTo>
                    <a:pt x="0" y="738"/>
                  </a:lnTo>
                  <a:lnTo>
                    <a:pt x="0" y="724"/>
                  </a:lnTo>
                  <a:lnTo>
                    <a:pt x="15" y="724"/>
                  </a:lnTo>
                  <a:close/>
                  <a:moveTo>
                    <a:pt x="15" y="752"/>
                  </a:moveTo>
                  <a:lnTo>
                    <a:pt x="15" y="766"/>
                  </a:lnTo>
                  <a:lnTo>
                    <a:pt x="0" y="766"/>
                  </a:lnTo>
                  <a:lnTo>
                    <a:pt x="0" y="752"/>
                  </a:lnTo>
                  <a:lnTo>
                    <a:pt x="15" y="752"/>
                  </a:lnTo>
                  <a:close/>
                  <a:moveTo>
                    <a:pt x="15" y="780"/>
                  </a:moveTo>
                  <a:lnTo>
                    <a:pt x="15" y="793"/>
                  </a:lnTo>
                  <a:lnTo>
                    <a:pt x="0" y="793"/>
                  </a:lnTo>
                  <a:lnTo>
                    <a:pt x="0" y="780"/>
                  </a:lnTo>
                  <a:lnTo>
                    <a:pt x="15" y="780"/>
                  </a:lnTo>
                  <a:close/>
                  <a:moveTo>
                    <a:pt x="15" y="808"/>
                  </a:moveTo>
                  <a:lnTo>
                    <a:pt x="15" y="822"/>
                  </a:lnTo>
                  <a:lnTo>
                    <a:pt x="0" y="822"/>
                  </a:lnTo>
                  <a:lnTo>
                    <a:pt x="0" y="808"/>
                  </a:lnTo>
                  <a:lnTo>
                    <a:pt x="15" y="808"/>
                  </a:lnTo>
                  <a:close/>
                  <a:moveTo>
                    <a:pt x="15" y="835"/>
                  </a:moveTo>
                  <a:lnTo>
                    <a:pt x="15" y="849"/>
                  </a:lnTo>
                  <a:lnTo>
                    <a:pt x="0" y="849"/>
                  </a:lnTo>
                  <a:lnTo>
                    <a:pt x="0" y="835"/>
                  </a:lnTo>
                  <a:lnTo>
                    <a:pt x="15" y="835"/>
                  </a:lnTo>
                  <a:close/>
                  <a:moveTo>
                    <a:pt x="15" y="863"/>
                  </a:moveTo>
                  <a:lnTo>
                    <a:pt x="15" y="877"/>
                  </a:lnTo>
                  <a:lnTo>
                    <a:pt x="0" y="877"/>
                  </a:lnTo>
                  <a:lnTo>
                    <a:pt x="0" y="863"/>
                  </a:lnTo>
                  <a:lnTo>
                    <a:pt x="15" y="863"/>
                  </a:lnTo>
                  <a:close/>
                  <a:moveTo>
                    <a:pt x="15" y="891"/>
                  </a:moveTo>
                  <a:lnTo>
                    <a:pt x="15" y="905"/>
                  </a:lnTo>
                  <a:lnTo>
                    <a:pt x="0" y="905"/>
                  </a:lnTo>
                  <a:lnTo>
                    <a:pt x="0" y="891"/>
                  </a:lnTo>
                  <a:lnTo>
                    <a:pt x="15" y="891"/>
                  </a:lnTo>
                  <a:close/>
                  <a:moveTo>
                    <a:pt x="15" y="919"/>
                  </a:moveTo>
                  <a:lnTo>
                    <a:pt x="15" y="933"/>
                  </a:lnTo>
                  <a:lnTo>
                    <a:pt x="0" y="933"/>
                  </a:lnTo>
                  <a:lnTo>
                    <a:pt x="0" y="919"/>
                  </a:lnTo>
                  <a:lnTo>
                    <a:pt x="15" y="919"/>
                  </a:lnTo>
                  <a:close/>
                  <a:moveTo>
                    <a:pt x="15" y="947"/>
                  </a:moveTo>
                  <a:lnTo>
                    <a:pt x="15" y="960"/>
                  </a:lnTo>
                  <a:lnTo>
                    <a:pt x="0" y="960"/>
                  </a:lnTo>
                  <a:lnTo>
                    <a:pt x="0" y="947"/>
                  </a:lnTo>
                  <a:lnTo>
                    <a:pt x="15" y="947"/>
                  </a:lnTo>
                  <a:close/>
                  <a:moveTo>
                    <a:pt x="15" y="974"/>
                  </a:moveTo>
                  <a:lnTo>
                    <a:pt x="15" y="988"/>
                  </a:lnTo>
                  <a:lnTo>
                    <a:pt x="0" y="988"/>
                  </a:lnTo>
                  <a:lnTo>
                    <a:pt x="0" y="974"/>
                  </a:lnTo>
                  <a:lnTo>
                    <a:pt x="15" y="974"/>
                  </a:lnTo>
                  <a:close/>
                  <a:moveTo>
                    <a:pt x="15" y="1002"/>
                  </a:moveTo>
                  <a:lnTo>
                    <a:pt x="15" y="1016"/>
                  </a:lnTo>
                  <a:lnTo>
                    <a:pt x="0" y="1016"/>
                  </a:lnTo>
                  <a:lnTo>
                    <a:pt x="0" y="1002"/>
                  </a:lnTo>
                  <a:lnTo>
                    <a:pt x="15" y="1002"/>
                  </a:lnTo>
                  <a:close/>
                  <a:moveTo>
                    <a:pt x="15" y="1030"/>
                  </a:moveTo>
                  <a:lnTo>
                    <a:pt x="15" y="1044"/>
                  </a:lnTo>
                  <a:lnTo>
                    <a:pt x="0" y="1044"/>
                  </a:lnTo>
                  <a:lnTo>
                    <a:pt x="0" y="1030"/>
                  </a:lnTo>
                  <a:lnTo>
                    <a:pt x="15" y="1030"/>
                  </a:lnTo>
                  <a:close/>
                  <a:moveTo>
                    <a:pt x="15" y="1058"/>
                  </a:moveTo>
                  <a:lnTo>
                    <a:pt x="15" y="1072"/>
                  </a:lnTo>
                  <a:lnTo>
                    <a:pt x="0" y="1072"/>
                  </a:lnTo>
                  <a:lnTo>
                    <a:pt x="0" y="1058"/>
                  </a:lnTo>
                  <a:lnTo>
                    <a:pt x="15" y="1058"/>
                  </a:lnTo>
                  <a:close/>
                  <a:moveTo>
                    <a:pt x="15" y="1086"/>
                  </a:moveTo>
                  <a:lnTo>
                    <a:pt x="15" y="1100"/>
                  </a:lnTo>
                  <a:lnTo>
                    <a:pt x="0" y="1100"/>
                  </a:lnTo>
                  <a:lnTo>
                    <a:pt x="0" y="1086"/>
                  </a:lnTo>
                  <a:lnTo>
                    <a:pt x="15" y="1086"/>
                  </a:lnTo>
                  <a:close/>
                  <a:moveTo>
                    <a:pt x="15" y="1114"/>
                  </a:moveTo>
                  <a:lnTo>
                    <a:pt x="15" y="1127"/>
                  </a:lnTo>
                  <a:lnTo>
                    <a:pt x="0" y="1127"/>
                  </a:lnTo>
                  <a:lnTo>
                    <a:pt x="0" y="1114"/>
                  </a:lnTo>
                  <a:lnTo>
                    <a:pt x="15" y="1114"/>
                  </a:lnTo>
                  <a:close/>
                  <a:moveTo>
                    <a:pt x="15" y="1141"/>
                  </a:moveTo>
                  <a:lnTo>
                    <a:pt x="15" y="1155"/>
                  </a:lnTo>
                  <a:lnTo>
                    <a:pt x="0" y="1155"/>
                  </a:lnTo>
                  <a:lnTo>
                    <a:pt x="0" y="1141"/>
                  </a:lnTo>
                  <a:lnTo>
                    <a:pt x="15" y="1141"/>
                  </a:lnTo>
                  <a:close/>
                  <a:moveTo>
                    <a:pt x="15" y="1169"/>
                  </a:moveTo>
                  <a:lnTo>
                    <a:pt x="15" y="1183"/>
                  </a:lnTo>
                  <a:lnTo>
                    <a:pt x="0" y="1183"/>
                  </a:lnTo>
                  <a:lnTo>
                    <a:pt x="0" y="1169"/>
                  </a:lnTo>
                  <a:lnTo>
                    <a:pt x="15" y="1169"/>
                  </a:lnTo>
                  <a:close/>
                  <a:moveTo>
                    <a:pt x="15" y="1197"/>
                  </a:moveTo>
                  <a:lnTo>
                    <a:pt x="15" y="1211"/>
                  </a:lnTo>
                  <a:lnTo>
                    <a:pt x="0" y="1211"/>
                  </a:lnTo>
                  <a:lnTo>
                    <a:pt x="0" y="1197"/>
                  </a:lnTo>
                  <a:lnTo>
                    <a:pt x="15" y="1197"/>
                  </a:lnTo>
                  <a:close/>
                  <a:moveTo>
                    <a:pt x="15" y="1225"/>
                  </a:moveTo>
                  <a:lnTo>
                    <a:pt x="15" y="1239"/>
                  </a:lnTo>
                  <a:lnTo>
                    <a:pt x="0" y="1239"/>
                  </a:lnTo>
                  <a:lnTo>
                    <a:pt x="0" y="1225"/>
                  </a:lnTo>
                  <a:lnTo>
                    <a:pt x="15" y="1225"/>
                  </a:lnTo>
                  <a:close/>
                  <a:moveTo>
                    <a:pt x="15" y="1253"/>
                  </a:moveTo>
                  <a:lnTo>
                    <a:pt x="15" y="1267"/>
                  </a:lnTo>
                  <a:lnTo>
                    <a:pt x="0" y="1267"/>
                  </a:lnTo>
                  <a:lnTo>
                    <a:pt x="0" y="1253"/>
                  </a:lnTo>
                  <a:lnTo>
                    <a:pt x="15" y="1253"/>
                  </a:lnTo>
                  <a:close/>
                  <a:moveTo>
                    <a:pt x="15" y="1281"/>
                  </a:moveTo>
                  <a:lnTo>
                    <a:pt x="15" y="1294"/>
                  </a:lnTo>
                  <a:lnTo>
                    <a:pt x="0" y="1294"/>
                  </a:lnTo>
                  <a:lnTo>
                    <a:pt x="0" y="1281"/>
                  </a:lnTo>
                  <a:lnTo>
                    <a:pt x="15" y="1281"/>
                  </a:lnTo>
                  <a:close/>
                  <a:moveTo>
                    <a:pt x="15" y="1308"/>
                  </a:moveTo>
                  <a:lnTo>
                    <a:pt x="15" y="1322"/>
                  </a:lnTo>
                  <a:lnTo>
                    <a:pt x="0" y="1322"/>
                  </a:lnTo>
                  <a:lnTo>
                    <a:pt x="0" y="1308"/>
                  </a:lnTo>
                  <a:lnTo>
                    <a:pt x="15" y="1308"/>
                  </a:lnTo>
                  <a:close/>
                  <a:moveTo>
                    <a:pt x="15" y="1336"/>
                  </a:moveTo>
                  <a:lnTo>
                    <a:pt x="15" y="1350"/>
                  </a:lnTo>
                  <a:lnTo>
                    <a:pt x="0" y="1350"/>
                  </a:lnTo>
                  <a:lnTo>
                    <a:pt x="0" y="1336"/>
                  </a:lnTo>
                  <a:lnTo>
                    <a:pt x="15" y="1336"/>
                  </a:lnTo>
                  <a:close/>
                  <a:moveTo>
                    <a:pt x="15" y="1364"/>
                  </a:moveTo>
                  <a:lnTo>
                    <a:pt x="15" y="1378"/>
                  </a:lnTo>
                  <a:lnTo>
                    <a:pt x="0" y="1378"/>
                  </a:lnTo>
                  <a:lnTo>
                    <a:pt x="0" y="1364"/>
                  </a:lnTo>
                  <a:lnTo>
                    <a:pt x="15" y="1364"/>
                  </a:lnTo>
                  <a:close/>
                  <a:moveTo>
                    <a:pt x="15" y="1392"/>
                  </a:moveTo>
                  <a:lnTo>
                    <a:pt x="15" y="1406"/>
                  </a:lnTo>
                  <a:lnTo>
                    <a:pt x="0" y="1406"/>
                  </a:lnTo>
                  <a:lnTo>
                    <a:pt x="0" y="1392"/>
                  </a:lnTo>
                  <a:lnTo>
                    <a:pt x="15" y="1392"/>
                  </a:lnTo>
                  <a:close/>
                  <a:moveTo>
                    <a:pt x="15" y="1420"/>
                  </a:moveTo>
                  <a:lnTo>
                    <a:pt x="15" y="1434"/>
                  </a:lnTo>
                  <a:lnTo>
                    <a:pt x="0" y="1434"/>
                  </a:lnTo>
                  <a:lnTo>
                    <a:pt x="0" y="1420"/>
                  </a:lnTo>
                  <a:lnTo>
                    <a:pt x="15" y="1420"/>
                  </a:lnTo>
                  <a:close/>
                  <a:moveTo>
                    <a:pt x="15" y="1448"/>
                  </a:moveTo>
                  <a:lnTo>
                    <a:pt x="15" y="1461"/>
                  </a:lnTo>
                  <a:lnTo>
                    <a:pt x="0" y="1461"/>
                  </a:lnTo>
                  <a:lnTo>
                    <a:pt x="0" y="1448"/>
                  </a:lnTo>
                  <a:lnTo>
                    <a:pt x="15" y="1448"/>
                  </a:lnTo>
                  <a:close/>
                  <a:moveTo>
                    <a:pt x="15" y="1475"/>
                  </a:moveTo>
                  <a:lnTo>
                    <a:pt x="15" y="1489"/>
                  </a:lnTo>
                  <a:lnTo>
                    <a:pt x="0" y="1489"/>
                  </a:lnTo>
                  <a:lnTo>
                    <a:pt x="0" y="1475"/>
                  </a:lnTo>
                  <a:lnTo>
                    <a:pt x="15" y="1475"/>
                  </a:lnTo>
                  <a:close/>
                  <a:moveTo>
                    <a:pt x="15" y="1503"/>
                  </a:moveTo>
                  <a:lnTo>
                    <a:pt x="15" y="1517"/>
                  </a:lnTo>
                  <a:lnTo>
                    <a:pt x="0" y="1517"/>
                  </a:lnTo>
                  <a:lnTo>
                    <a:pt x="0" y="1503"/>
                  </a:lnTo>
                  <a:lnTo>
                    <a:pt x="15" y="1503"/>
                  </a:lnTo>
                  <a:close/>
                  <a:moveTo>
                    <a:pt x="15" y="1531"/>
                  </a:moveTo>
                  <a:lnTo>
                    <a:pt x="15" y="1545"/>
                  </a:lnTo>
                  <a:lnTo>
                    <a:pt x="0" y="1545"/>
                  </a:lnTo>
                  <a:lnTo>
                    <a:pt x="0" y="1531"/>
                  </a:lnTo>
                  <a:lnTo>
                    <a:pt x="15" y="1531"/>
                  </a:lnTo>
                  <a:close/>
                  <a:moveTo>
                    <a:pt x="15" y="1559"/>
                  </a:moveTo>
                  <a:lnTo>
                    <a:pt x="15" y="1573"/>
                  </a:lnTo>
                  <a:lnTo>
                    <a:pt x="0" y="1573"/>
                  </a:lnTo>
                  <a:lnTo>
                    <a:pt x="0" y="1559"/>
                  </a:lnTo>
                  <a:lnTo>
                    <a:pt x="15" y="1559"/>
                  </a:lnTo>
                  <a:close/>
                  <a:moveTo>
                    <a:pt x="15" y="1587"/>
                  </a:moveTo>
                  <a:lnTo>
                    <a:pt x="15" y="1601"/>
                  </a:lnTo>
                  <a:lnTo>
                    <a:pt x="0" y="1601"/>
                  </a:lnTo>
                  <a:lnTo>
                    <a:pt x="0" y="1587"/>
                  </a:lnTo>
                  <a:lnTo>
                    <a:pt x="15" y="1587"/>
                  </a:lnTo>
                  <a:close/>
                  <a:moveTo>
                    <a:pt x="15" y="1615"/>
                  </a:moveTo>
                  <a:lnTo>
                    <a:pt x="15" y="1628"/>
                  </a:lnTo>
                  <a:lnTo>
                    <a:pt x="0" y="1628"/>
                  </a:lnTo>
                  <a:lnTo>
                    <a:pt x="0" y="1615"/>
                  </a:lnTo>
                  <a:lnTo>
                    <a:pt x="15" y="1615"/>
                  </a:lnTo>
                  <a:close/>
                  <a:moveTo>
                    <a:pt x="15" y="1642"/>
                  </a:moveTo>
                  <a:lnTo>
                    <a:pt x="15" y="1656"/>
                  </a:lnTo>
                  <a:lnTo>
                    <a:pt x="0" y="1656"/>
                  </a:lnTo>
                  <a:lnTo>
                    <a:pt x="0" y="1642"/>
                  </a:lnTo>
                  <a:lnTo>
                    <a:pt x="15" y="1642"/>
                  </a:lnTo>
                  <a:close/>
                  <a:moveTo>
                    <a:pt x="15" y="1670"/>
                  </a:moveTo>
                  <a:lnTo>
                    <a:pt x="15" y="1684"/>
                  </a:lnTo>
                  <a:lnTo>
                    <a:pt x="0" y="1684"/>
                  </a:lnTo>
                  <a:lnTo>
                    <a:pt x="0" y="1670"/>
                  </a:lnTo>
                  <a:lnTo>
                    <a:pt x="15" y="1670"/>
                  </a:lnTo>
                  <a:close/>
                  <a:moveTo>
                    <a:pt x="15" y="1698"/>
                  </a:moveTo>
                  <a:lnTo>
                    <a:pt x="15" y="1712"/>
                  </a:lnTo>
                  <a:lnTo>
                    <a:pt x="0" y="1712"/>
                  </a:lnTo>
                  <a:lnTo>
                    <a:pt x="0" y="1698"/>
                  </a:lnTo>
                  <a:lnTo>
                    <a:pt x="15" y="1698"/>
                  </a:lnTo>
                  <a:close/>
                  <a:moveTo>
                    <a:pt x="15" y="1726"/>
                  </a:moveTo>
                  <a:lnTo>
                    <a:pt x="15" y="1740"/>
                  </a:lnTo>
                  <a:lnTo>
                    <a:pt x="0" y="1740"/>
                  </a:lnTo>
                  <a:lnTo>
                    <a:pt x="0" y="1726"/>
                  </a:lnTo>
                  <a:lnTo>
                    <a:pt x="15" y="1726"/>
                  </a:lnTo>
                  <a:close/>
                  <a:moveTo>
                    <a:pt x="15" y="1754"/>
                  </a:moveTo>
                  <a:lnTo>
                    <a:pt x="15" y="1768"/>
                  </a:lnTo>
                  <a:lnTo>
                    <a:pt x="0" y="1768"/>
                  </a:lnTo>
                  <a:lnTo>
                    <a:pt x="0" y="1754"/>
                  </a:lnTo>
                  <a:lnTo>
                    <a:pt x="15" y="1754"/>
                  </a:lnTo>
                  <a:close/>
                  <a:moveTo>
                    <a:pt x="15" y="1782"/>
                  </a:moveTo>
                  <a:lnTo>
                    <a:pt x="15" y="1795"/>
                  </a:lnTo>
                  <a:lnTo>
                    <a:pt x="0" y="1795"/>
                  </a:lnTo>
                  <a:lnTo>
                    <a:pt x="0" y="1782"/>
                  </a:lnTo>
                  <a:lnTo>
                    <a:pt x="15" y="1782"/>
                  </a:lnTo>
                  <a:close/>
                  <a:moveTo>
                    <a:pt x="15" y="1809"/>
                  </a:moveTo>
                  <a:lnTo>
                    <a:pt x="15" y="1823"/>
                  </a:lnTo>
                  <a:lnTo>
                    <a:pt x="0" y="1823"/>
                  </a:lnTo>
                  <a:lnTo>
                    <a:pt x="0" y="1809"/>
                  </a:lnTo>
                  <a:lnTo>
                    <a:pt x="15" y="1809"/>
                  </a:lnTo>
                  <a:close/>
                  <a:moveTo>
                    <a:pt x="15" y="1837"/>
                  </a:moveTo>
                  <a:lnTo>
                    <a:pt x="15" y="1851"/>
                  </a:lnTo>
                  <a:lnTo>
                    <a:pt x="0" y="1851"/>
                  </a:lnTo>
                  <a:lnTo>
                    <a:pt x="0" y="1837"/>
                  </a:lnTo>
                  <a:lnTo>
                    <a:pt x="15" y="1837"/>
                  </a:lnTo>
                  <a:close/>
                  <a:moveTo>
                    <a:pt x="15" y="1865"/>
                  </a:moveTo>
                  <a:lnTo>
                    <a:pt x="15" y="1879"/>
                  </a:lnTo>
                  <a:lnTo>
                    <a:pt x="0" y="1879"/>
                  </a:lnTo>
                  <a:lnTo>
                    <a:pt x="0" y="1865"/>
                  </a:lnTo>
                  <a:lnTo>
                    <a:pt x="15" y="1865"/>
                  </a:lnTo>
                  <a:close/>
                  <a:moveTo>
                    <a:pt x="15" y="1893"/>
                  </a:moveTo>
                  <a:lnTo>
                    <a:pt x="15" y="1907"/>
                  </a:lnTo>
                  <a:lnTo>
                    <a:pt x="0" y="1907"/>
                  </a:lnTo>
                  <a:lnTo>
                    <a:pt x="0" y="1893"/>
                  </a:lnTo>
                  <a:lnTo>
                    <a:pt x="15" y="1893"/>
                  </a:lnTo>
                  <a:close/>
                  <a:moveTo>
                    <a:pt x="15" y="1921"/>
                  </a:moveTo>
                  <a:lnTo>
                    <a:pt x="15" y="1935"/>
                  </a:lnTo>
                  <a:lnTo>
                    <a:pt x="0" y="1935"/>
                  </a:lnTo>
                  <a:lnTo>
                    <a:pt x="0" y="1921"/>
                  </a:lnTo>
                  <a:lnTo>
                    <a:pt x="15" y="1921"/>
                  </a:lnTo>
                  <a:close/>
                  <a:moveTo>
                    <a:pt x="15" y="1949"/>
                  </a:moveTo>
                  <a:lnTo>
                    <a:pt x="15" y="1962"/>
                  </a:lnTo>
                  <a:lnTo>
                    <a:pt x="0" y="1962"/>
                  </a:lnTo>
                  <a:lnTo>
                    <a:pt x="0" y="1949"/>
                  </a:lnTo>
                  <a:lnTo>
                    <a:pt x="15" y="1949"/>
                  </a:lnTo>
                  <a:close/>
                  <a:moveTo>
                    <a:pt x="15" y="1976"/>
                  </a:moveTo>
                  <a:lnTo>
                    <a:pt x="15" y="1990"/>
                  </a:lnTo>
                  <a:lnTo>
                    <a:pt x="0" y="1990"/>
                  </a:lnTo>
                  <a:lnTo>
                    <a:pt x="0" y="1976"/>
                  </a:lnTo>
                  <a:lnTo>
                    <a:pt x="15" y="1976"/>
                  </a:lnTo>
                  <a:close/>
                  <a:moveTo>
                    <a:pt x="15" y="2004"/>
                  </a:moveTo>
                  <a:lnTo>
                    <a:pt x="15" y="2018"/>
                  </a:lnTo>
                  <a:lnTo>
                    <a:pt x="0" y="2018"/>
                  </a:lnTo>
                  <a:lnTo>
                    <a:pt x="0" y="2004"/>
                  </a:lnTo>
                  <a:lnTo>
                    <a:pt x="15" y="2004"/>
                  </a:lnTo>
                  <a:close/>
                  <a:moveTo>
                    <a:pt x="15" y="2032"/>
                  </a:moveTo>
                  <a:lnTo>
                    <a:pt x="15" y="2046"/>
                  </a:lnTo>
                  <a:lnTo>
                    <a:pt x="0" y="2046"/>
                  </a:lnTo>
                  <a:lnTo>
                    <a:pt x="0" y="2032"/>
                  </a:lnTo>
                  <a:lnTo>
                    <a:pt x="15" y="2032"/>
                  </a:lnTo>
                  <a:close/>
                  <a:moveTo>
                    <a:pt x="15" y="2060"/>
                  </a:moveTo>
                  <a:lnTo>
                    <a:pt x="15" y="2074"/>
                  </a:lnTo>
                  <a:lnTo>
                    <a:pt x="0" y="2074"/>
                  </a:lnTo>
                  <a:lnTo>
                    <a:pt x="0" y="2060"/>
                  </a:lnTo>
                  <a:lnTo>
                    <a:pt x="15" y="2060"/>
                  </a:lnTo>
                  <a:close/>
                  <a:moveTo>
                    <a:pt x="15" y="2087"/>
                  </a:moveTo>
                  <a:lnTo>
                    <a:pt x="15" y="2102"/>
                  </a:lnTo>
                  <a:lnTo>
                    <a:pt x="0" y="2102"/>
                  </a:lnTo>
                  <a:lnTo>
                    <a:pt x="0" y="2087"/>
                  </a:lnTo>
                  <a:lnTo>
                    <a:pt x="15" y="2087"/>
                  </a:lnTo>
                  <a:close/>
                  <a:moveTo>
                    <a:pt x="15" y="2116"/>
                  </a:moveTo>
                  <a:lnTo>
                    <a:pt x="15" y="2129"/>
                  </a:lnTo>
                  <a:lnTo>
                    <a:pt x="0" y="2129"/>
                  </a:lnTo>
                  <a:lnTo>
                    <a:pt x="0" y="2116"/>
                  </a:lnTo>
                  <a:lnTo>
                    <a:pt x="15" y="2116"/>
                  </a:lnTo>
                  <a:close/>
                  <a:moveTo>
                    <a:pt x="15" y="2143"/>
                  </a:moveTo>
                  <a:lnTo>
                    <a:pt x="15" y="2157"/>
                  </a:lnTo>
                  <a:lnTo>
                    <a:pt x="0" y="2157"/>
                  </a:lnTo>
                  <a:lnTo>
                    <a:pt x="0" y="2143"/>
                  </a:lnTo>
                  <a:lnTo>
                    <a:pt x="15" y="2143"/>
                  </a:lnTo>
                  <a:close/>
                  <a:moveTo>
                    <a:pt x="15" y="2171"/>
                  </a:moveTo>
                  <a:lnTo>
                    <a:pt x="15" y="2185"/>
                  </a:lnTo>
                  <a:lnTo>
                    <a:pt x="0" y="2185"/>
                  </a:lnTo>
                  <a:lnTo>
                    <a:pt x="0" y="2171"/>
                  </a:lnTo>
                  <a:lnTo>
                    <a:pt x="15" y="2171"/>
                  </a:lnTo>
                  <a:close/>
                  <a:moveTo>
                    <a:pt x="15" y="2199"/>
                  </a:moveTo>
                  <a:lnTo>
                    <a:pt x="15" y="2213"/>
                  </a:lnTo>
                  <a:lnTo>
                    <a:pt x="0" y="2213"/>
                  </a:lnTo>
                  <a:lnTo>
                    <a:pt x="0" y="2199"/>
                  </a:lnTo>
                  <a:lnTo>
                    <a:pt x="15" y="2199"/>
                  </a:lnTo>
                  <a:close/>
                  <a:moveTo>
                    <a:pt x="15" y="2227"/>
                  </a:moveTo>
                  <a:lnTo>
                    <a:pt x="15" y="2241"/>
                  </a:lnTo>
                  <a:lnTo>
                    <a:pt x="0" y="2241"/>
                  </a:lnTo>
                  <a:lnTo>
                    <a:pt x="0" y="2227"/>
                  </a:lnTo>
                  <a:lnTo>
                    <a:pt x="15" y="2227"/>
                  </a:lnTo>
                  <a:close/>
                  <a:moveTo>
                    <a:pt x="15" y="2254"/>
                  </a:moveTo>
                  <a:lnTo>
                    <a:pt x="15" y="2268"/>
                  </a:lnTo>
                  <a:lnTo>
                    <a:pt x="0" y="2268"/>
                  </a:lnTo>
                  <a:lnTo>
                    <a:pt x="0" y="2254"/>
                  </a:lnTo>
                  <a:lnTo>
                    <a:pt x="15" y="2254"/>
                  </a:lnTo>
                  <a:close/>
                  <a:moveTo>
                    <a:pt x="15" y="2283"/>
                  </a:moveTo>
                  <a:lnTo>
                    <a:pt x="15" y="2296"/>
                  </a:lnTo>
                  <a:lnTo>
                    <a:pt x="0" y="2296"/>
                  </a:lnTo>
                  <a:lnTo>
                    <a:pt x="0" y="2283"/>
                  </a:lnTo>
                  <a:lnTo>
                    <a:pt x="15" y="2283"/>
                  </a:lnTo>
                  <a:close/>
                  <a:moveTo>
                    <a:pt x="15" y="2310"/>
                  </a:moveTo>
                  <a:lnTo>
                    <a:pt x="15" y="2324"/>
                  </a:lnTo>
                  <a:lnTo>
                    <a:pt x="0" y="2324"/>
                  </a:lnTo>
                  <a:lnTo>
                    <a:pt x="0" y="2310"/>
                  </a:lnTo>
                  <a:lnTo>
                    <a:pt x="15" y="2310"/>
                  </a:lnTo>
                  <a:close/>
                  <a:moveTo>
                    <a:pt x="15" y="2338"/>
                  </a:moveTo>
                  <a:lnTo>
                    <a:pt x="15" y="2352"/>
                  </a:lnTo>
                  <a:lnTo>
                    <a:pt x="0" y="2352"/>
                  </a:lnTo>
                  <a:lnTo>
                    <a:pt x="0" y="2338"/>
                  </a:lnTo>
                  <a:lnTo>
                    <a:pt x="15" y="2338"/>
                  </a:lnTo>
                  <a:close/>
                  <a:moveTo>
                    <a:pt x="15" y="2366"/>
                  </a:moveTo>
                  <a:lnTo>
                    <a:pt x="15" y="2380"/>
                  </a:lnTo>
                  <a:lnTo>
                    <a:pt x="0" y="2380"/>
                  </a:lnTo>
                  <a:lnTo>
                    <a:pt x="0" y="2366"/>
                  </a:lnTo>
                  <a:lnTo>
                    <a:pt x="15" y="2366"/>
                  </a:lnTo>
                  <a:close/>
                  <a:moveTo>
                    <a:pt x="15" y="2394"/>
                  </a:moveTo>
                  <a:lnTo>
                    <a:pt x="15" y="2408"/>
                  </a:lnTo>
                  <a:lnTo>
                    <a:pt x="0" y="2408"/>
                  </a:lnTo>
                  <a:lnTo>
                    <a:pt x="0" y="2394"/>
                  </a:lnTo>
                  <a:lnTo>
                    <a:pt x="15" y="2394"/>
                  </a:lnTo>
                  <a:close/>
                  <a:moveTo>
                    <a:pt x="15" y="2421"/>
                  </a:moveTo>
                  <a:lnTo>
                    <a:pt x="15" y="2435"/>
                  </a:lnTo>
                  <a:lnTo>
                    <a:pt x="0" y="2435"/>
                  </a:lnTo>
                  <a:lnTo>
                    <a:pt x="0" y="2421"/>
                  </a:lnTo>
                  <a:lnTo>
                    <a:pt x="15" y="2421"/>
                  </a:lnTo>
                  <a:close/>
                  <a:moveTo>
                    <a:pt x="15" y="2449"/>
                  </a:moveTo>
                  <a:lnTo>
                    <a:pt x="15" y="2453"/>
                  </a:lnTo>
                  <a:lnTo>
                    <a:pt x="0" y="2453"/>
                  </a:lnTo>
                  <a:lnTo>
                    <a:pt x="0" y="2449"/>
                  </a:lnTo>
                  <a:lnTo>
                    <a:pt x="15" y="2449"/>
                  </a:lnTo>
                  <a:close/>
                </a:path>
              </a:pathLst>
            </a:custGeom>
            <a:solidFill>
              <a:srgbClr val="000000"/>
            </a:solidFill>
            <a:ln w="0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31" name="Freeform 28">
              <a:extLst>
                <a:ext uri="{FF2B5EF4-FFF2-40B4-BE49-F238E27FC236}">
                  <a16:creationId xmlns:a16="http://schemas.microsoft.com/office/drawing/2014/main" id="{42A301AE-F035-4404-B66F-35DC5D26CF8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023064" y="2505080"/>
              <a:ext cx="22225" cy="3894138"/>
            </a:xfrm>
            <a:custGeom>
              <a:avLst/>
              <a:gdLst>
                <a:gd name="T0" fmla="*/ 14 w 14"/>
                <a:gd name="T1" fmla="*/ 42 h 2453"/>
                <a:gd name="T2" fmla="*/ 0 w 14"/>
                <a:gd name="T3" fmla="*/ 56 h 2453"/>
                <a:gd name="T4" fmla="*/ 14 w 14"/>
                <a:gd name="T5" fmla="*/ 112 h 2453"/>
                <a:gd name="T6" fmla="*/ 0 w 14"/>
                <a:gd name="T7" fmla="*/ 154 h 2453"/>
                <a:gd name="T8" fmla="*/ 14 w 14"/>
                <a:gd name="T9" fmla="*/ 167 h 2453"/>
                <a:gd name="T10" fmla="*/ 14 w 14"/>
                <a:gd name="T11" fmla="*/ 237 h 2453"/>
                <a:gd name="T12" fmla="*/ 0 w 14"/>
                <a:gd name="T13" fmla="*/ 251 h 2453"/>
                <a:gd name="T14" fmla="*/ 14 w 14"/>
                <a:gd name="T15" fmla="*/ 307 h 2453"/>
                <a:gd name="T16" fmla="*/ 0 w 14"/>
                <a:gd name="T17" fmla="*/ 348 h 2453"/>
                <a:gd name="T18" fmla="*/ 14 w 14"/>
                <a:gd name="T19" fmla="*/ 362 h 2453"/>
                <a:gd name="T20" fmla="*/ 14 w 14"/>
                <a:gd name="T21" fmla="*/ 432 h 2453"/>
                <a:gd name="T22" fmla="*/ 0 w 14"/>
                <a:gd name="T23" fmla="*/ 446 h 2453"/>
                <a:gd name="T24" fmla="*/ 14 w 14"/>
                <a:gd name="T25" fmla="*/ 501 h 2453"/>
                <a:gd name="T26" fmla="*/ 0 w 14"/>
                <a:gd name="T27" fmla="*/ 543 h 2453"/>
                <a:gd name="T28" fmla="*/ 14 w 14"/>
                <a:gd name="T29" fmla="*/ 557 h 2453"/>
                <a:gd name="T30" fmla="*/ 14 w 14"/>
                <a:gd name="T31" fmla="*/ 627 h 2453"/>
                <a:gd name="T32" fmla="*/ 0 w 14"/>
                <a:gd name="T33" fmla="*/ 641 h 2453"/>
                <a:gd name="T34" fmla="*/ 14 w 14"/>
                <a:gd name="T35" fmla="*/ 696 h 2453"/>
                <a:gd name="T36" fmla="*/ 0 w 14"/>
                <a:gd name="T37" fmla="*/ 738 h 2453"/>
                <a:gd name="T38" fmla="*/ 14 w 14"/>
                <a:gd name="T39" fmla="*/ 752 h 2453"/>
                <a:gd name="T40" fmla="*/ 14 w 14"/>
                <a:gd name="T41" fmla="*/ 822 h 2453"/>
                <a:gd name="T42" fmla="*/ 0 w 14"/>
                <a:gd name="T43" fmla="*/ 835 h 2453"/>
                <a:gd name="T44" fmla="*/ 14 w 14"/>
                <a:gd name="T45" fmla="*/ 891 h 2453"/>
                <a:gd name="T46" fmla="*/ 0 w 14"/>
                <a:gd name="T47" fmla="*/ 933 h 2453"/>
                <a:gd name="T48" fmla="*/ 14 w 14"/>
                <a:gd name="T49" fmla="*/ 947 h 2453"/>
                <a:gd name="T50" fmla="*/ 14 w 14"/>
                <a:gd name="T51" fmla="*/ 1016 h 2453"/>
                <a:gd name="T52" fmla="*/ 0 w 14"/>
                <a:gd name="T53" fmla="*/ 1030 h 2453"/>
                <a:gd name="T54" fmla="*/ 14 w 14"/>
                <a:gd name="T55" fmla="*/ 1086 h 2453"/>
                <a:gd name="T56" fmla="*/ 0 w 14"/>
                <a:gd name="T57" fmla="*/ 1127 h 2453"/>
                <a:gd name="T58" fmla="*/ 14 w 14"/>
                <a:gd name="T59" fmla="*/ 1141 h 2453"/>
                <a:gd name="T60" fmla="*/ 14 w 14"/>
                <a:gd name="T61" fmla="*/ 1211 h 2453"/>
                <a:gd name="T62" fmla="*/ 0 w 14"/>
                <a:gd name="T63" fmla="*/ 1225 h 2453"/>
                <a:gd name="T64" fmla="*/ 14 w 14"/>
                <a:gd name="T65" fmla="*/ 1281 h 2453"/>
                <a:gd name="T66" fmla="*/ 0 w 14"/>
                <a:gd name="T67" fmla="*/ 1322 h 2453"/>
                <a:gd name="T68" fmla="*/ 14 w 14"/>
                <a:gd name="T69" fmla="*/ 1336 h 2453"/>
                <a:gd name="T70" fmla="*/ 14 w 14"/>
                <a:gd name="T71" fmla="*/ 1406 h 2453"/>
                <a:gd name="T72" fmla="*/ 0 w 14"/>
                <a:gd name="T73" fmla="*/ 1420 h 2453"/>
                <a:gd name="T74" fmla="*/ 14 w 14"/>
                <a:gd name="T75" fmla="*/ 1475 h 2453"/>
                <a:gd name="T76" fmla="*/ 0 w 14"/>
                <a:gd name="T77" fmla="*/ 1517 h 2453"/>
                <a:gd name="T78" fmla="*/ 14 w 14"/>
                <a:gd name="T79" fmla="*/ 1531 h 2453"/>
                <a:gd name="T80" fmla="*/ 14 w 14"/>
                <a:gd name="T81" fmla="*/ 1601 h 2453"/>
                <a:gd name="T82" fmla="*/ 0 w 14"/>
                <a:gd name="T83" fmla="*/ 1615 h 2453"/>
                <a:gd name="T84" fmla="*/ 14 w 14"/>
                <a:gd name="T85" fmla="*/ 1670 h 2453"/>
                <a:gd name="T86" fmla="*/ 0 w 14"/>
                <a:gd name="T87" fmla="*/ 1712 h 2453"/>
                <a:gd name="T88" fmla="*/ 14 w 14"/>
                <a:gd name="T89" fmla="*/ 1726 h 2453"/>
                <a:gd name="T90" fmla="*/ 14 w 14"/>
                <a:gd name="T91" fmla="*/ 1795 h 2453"/>
                <a:gd name="T92" fmla="*/ 0 w 14"/>
                <a:gd name="T93" fmla="*/ 1809 h 2453"/>
                <a:gd name="T94" fmla="*/ 14 w 14"/>
                <a:gd name="T95" fmla="*/ 1865 h 2453"/>
                <a:gd name="T96" fmla="*/ 0 w 14"/>
                <a:gd name="T97" fmla="*/ 1907 h 2453"/>
                <a:gd name="T98" fmla="*/ 14 w 14"/>
                <a:gd name="T99" fmla="*/ 1921 h 2453"/>
                <a:gd name="T100" fmla="*/ 14 w 14"/>
                <a:gd name="T101" fmla="*/ 1990 h 2453"/>
                <a:gd name="T102" fmla="*/ 0 w 14"/>
                <a:gd name="T103" fmla="*/ 2004 h 2453"/>
                <a:gd name="T104" fmla="*/ 14 w 14"/>
                <a:gd name="T105" fmla="*/ 2060 h 2453"/>
                <a:gd name="T106" fmla="*/ 0 w 14"/>
                <a:gd name="T107" fmla="*/ 2102 h 2453"/>
                <a:gd name="T108" fmla="*/ 14 w 14"/>
                <a:gd name="T109" fmla="*/ 2116 h 2453"/>
                <a:gd name="T110" fmla="*/ 14 w 14"/>
                <a:gd name="T111" fmla="*/ 2185 h 2453"/>
                <a:gd name="T112" fmla="*/ 0 w 14"/>
                <a:gd name="T113" fmla="*/ 2199 h 2453"/>
                <a:gd name="T114" fmla="*/ 14 w 14"/>
                <a:gd name="T115" fmla="*/ 2254 h 2453"/>
                <a:gd name="T116" fmla="*/ 0 w 14"/>
                <a:gd name="T117" fmla="*/ 2296 h 2453"/>
                <a:gd name="T118" fmla="*/ 14 w 14"/>
                <a:gd name="T119" fmla="*/ 2310 h 2453"/>
                <a:gd name="T120" fmla="*/ 14 w 14"/>
                <a:gd name="T121" fmla="*/ 2380 h 2453"/>
                <a:gd name="T122" fmla="*/ 0 w 14"/>
                <a:gd name="T123" fmla="*/ 2394 h 2453"/>
                <a:gd name="T124" fmla="*/ 14 w 14"/>
                <a:gd name="T125" fmla="*/ 2449 h 24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4" h="2453">
                  <a:moveTo>
                    <a:pt x="14" y="0"/>
                  </a:moveTo>
                  <a:lnTo>
                    <a:pt x="14" y="14"/>
                  </a:lnTo>
                  <a:lnTo>
                    <a:pt x="0" y="14"/>
                  </a:lnTo>
                  <a:lnTo>
                    <a:pt x="0" y="0"/>
                  </a:lnTo>
                  <a:lnTo>
                    <a:pt x="14" y="0"/>
                  </a:lnTo>
                  <a:close/>
                  <a:moveTo>
                    <a:pt x="14" y="28"/>
                  </a:moveTo>
                  <a:lnTo>
                    <a:pt x="14" y="42"/>
                  </a:lnTo>
                  <a:lnTo>
                    <a:pt x="0" y="42"/>
                  </a:lnTo>
                  <a:lnTo>
                    <a:pt x="0" y="28"/>
                  </a:lnTo>
                  <a:lnTo>
                    <a:pt x="14" y="28"/>
                  </a:lnTo>
                  <a:close/>
                  <a:moveTo>
                    <a:pt x="14" y="56"/>
                  </a:moveTo>
                  <a:lnTo>
                    <a:pt x="14" y="70"/>
                  </a:lnTo>
                  <a:lnTo>
                    <a:pt x="0" y="70"/>
                  </a:lnTo>
                  <a:lnTo>
                    <a:pt x="0" y="56"/>
                  </a:lnTo>
                  <a:lnTo>
                    <a:pt x="14" y="56"/>
                  </a:lnTo>
                  <a:close/>
                  <a:moveTo>
                    <a:pt x="14" y="84"/>
                  </a:moveTo>
                  <a:lnTo>
                    <a:pt x="14" y="98"/>
                  </a:lnTo>
                  <a:lnTo>
                    <a:pt x="0" y="98"/>
                  </a:lnTo>
                  <a:lnTo>
                    <a:pt x="0" y="84"/>
                  </a:lnTo>
                  <a:lnTo>
                    <a:pt x="14" y="84"/>
                  </a:lnTo>
                  <a:close/>
                  <a:moveTo>
                    <a:pt x="14" y="112"/>
                  </a:moveTo>
                  <a:lnTo>
                    <a:pt x="14" y="126"/>
                  </a:lnTo>
                  <a:lnTo>
                    <a:pt x="0" y="126"/>
                  </a:lnTo>
                  <a:lnTo>
                    <a:pt x="0" y="112"/>
                  </a:lnTo>
                  <a:lnTo>
                    <a:pt x="14" y="112"/>
                  </a:lnTo>
                  <a:close/>
                  <a:moveTo>
                    <a:pt x="14" y="140"/>
                  </a:moveTo>
                  <a:lnTo>
                    <a:pt x="14" y="154"/>
                  </a:lnTo>
                  <a:lnTo>
                    <a:pt x="0" y="154"/>
                  </a:lnTo>
                  <a:lnTo>
                    <a:pt x="0" y="140"/>
                  </a:lnTo>
                  <a:lnTo>
                    <a:pt x="14" y="140"/>
                  </a:lnTo>
                  <a:close/>
                  <a:moveTo>
                    <a:pt x="14" y="167"/>
                  </a:moveTo>
                  <a:lnTo>
                    <a:pt x="14" y="181"/>
                  </a:lnTo>
                  <a:lnTo>
                    <a:pt x="0" y="181"/>
                  </a:lnTo>
                  <a:lnTo>
                    <a:pt x="0" y="167"/>
                  </a:lnTo>
                  <a:lnTo>
                    <a:pt x="14" y="167"/>
                  </a:lnTo>
                  <a:close/>
                  <a:moveTo>
                    <a:pt x="14" y="195"/>
                  </a:moveTo>
                  <a:lnTo>
                    <a:pt x="14" y="209"/>
                  </a:lnTo>
                  <a:lnTo>
                    <a:pt x="0" y="209"/>
                  </a:lnTo>
                  <a:lnTo>
                    <a:pt x="0" y="195"/>
                  </a:lnTo>
                  <a:lnTo>
                    <a:pt x="14" y="195"/>
                  </a:lnTo>
                  <a:close/>
                  <a:moveTo>
                    <a:pt x="14" y="223"/>
                  </a:moveTo>
                  <a:lnTo>
                    <a:pt x="14" y="237"/>
                  </a:lnTo>
                  <a:lnTo>
                    <a:pt x="0" y="237"/>
                  </a:lnTo>
                  <a:lnTo>
                    <a:pt x="0" y="223"/>
                  </a:lnTo>
                  <a:lnTo>
                    <a:pt x="14" y="223"/>
                  </a:lnTo>
                  <a:close/>
                  <a:moveTo>
                    <a:pt x="14" y="251"/>
                  </a:moveTo>
                  <a:lnTo>
                    <a:pt x="14" y="265"/>
                  </a:lnTo>
                  <a:lnTo>
                    <a:pt x="0" y="265"/>
                  </a:lnTo>
                  <a:lnTo>
                    <a:pt x="0" y="251"/>
                  </a:lnTo>
                  <a:lnTo>
                    <a:pt x="14" y="251"/>
                  </a:lnTo>
                  <a:close/>
                  <a:moveTo>
                    <a:pt x="14" y="279"/>
                  </a:moveTo>
                  <a:lnTo>
                    <a:pt x="14" y="293"/>
                  </a:lnTo>
                  <a:lnTo>
                    <a:pt x="0" y="293"/>
                  </a:lnTo>
                  <a:lnTo>
                    <a:pt x="0" y="279"/>
                  </a:lnTo>
                  <a:lnTo>
                    <a:pt x="14" y="279"/>
                  </a:lnTo>
                  <a:close/>
                  <a:moveTo>
                    <a:pt x="14" y="307"/>
                  </a:moveTo>
                  <a:lnTo>
                    <a:pt x="14" y="321"/>
                  </a:lnTo>
                  <a:lnTo>
                    <a:pt x="0" y="321"/>
                  </a:lnTo>
                  <a:lnTo>
                    <a:pt x="0" y="307"/>
                  </a:lnTo>
                  <a:lnTo>
                    <a:pt x="14" y="307"/>
                  </a:lnTo>
                  <a:close/>
                  <a:moveTo>
                    <a:pt x="14" y="334"/>
                  </a:moveTo>
                  <a:lnTo>
                    <a:pt x="14" y="348"/>
                  </a:lnTo>
                  <a:lnTo>
                    <a:pt x="0" y="348"/>
                  </a:lnTo>
                  <a:lnTo>
                    <a:pt x="0" y="334"/>
                  </a:lnTo>
                  <a:lnTo>
                    <a:pt x="14" y="334"/>
                  </a:lnTo>
                  <a:close/>
                  <a:moveTo>
                    <a:pt x="14" y="362"/>
                  </a:moveTo>
                  <a:lnTo>
                    <a:pt x="14" y="376"/>
                  </a:lnTo>
                  <a:lnTo>
                    <a:pt x="0" y="376"/>
                  </a:lnTo>
                  <a:lnTo>
                    <a:pt x="0" y="362"/>
                  </a:lnTo>
                  <a:lnTo>
                    <a:pt x="14" y="362"/>
                  </a:lnTo>
                  <a:close/>
                  <a:moveTo>
                    <a:pt x="14" y="390"/>
                  </a:moveTo>
                  <a:lnTo>
                    <a:pt x="14" y="404"/>
                  </a:lnTo>
                  <a:lnTo>
                    <a:pt x="0" y="404"/>
                  </a:lnTo>
                  <a:lnTo>
                    <a:pt x="0" y="390"/>
                  </a:lnTo>
                  <a:lnTo>
                    <a:pt x="14" y="390"/>
                  </a:lnTo>
                  <a:close/>
                  <a:moveTo>
                    <a:pt x="14" y="418"/>
                  </a:moveTo>
                  <a:lnTo>
                    <a:pt x="14" y="432"/>
                  </a:lnTo>
                  <a:lnTo>
                    <a:pt x="0" y="432"/>
                  </a:lnTo>
                  <a:lnTo>
                    <a:pt x="0" y="418"/>
                  </a:lnTo>
                  <a:lnTo>
                    <a:pt x="14" y="418"/>
                  </a:lnTo>
                  <a:close/>
                  <a:moveTo>
                    <a:pt x="14" y="446"/>
                  </a:moveTo>
                  <a:lnTo>
                    <a:pt x="14" y="460"/>
                  </a:lnTo>
                  <a:lnTo>
                    <a:pt x="0" y="460"/>
                  </a:lnTo>
                  <a:lnTo>
                    <a:pt x="0" y="446"/>
                  </a:lnTo>
                  <a:lnTo>
                    <a:pt x="14" y="446"/>
                  </a:lnTo>
                  <a:close/>
                  <a:moveTo>
                    <a:pt x="14" y="474"/>
                  </a:moveTo>
                  <a:lnTo>
                    <a:pt x="14" y="488"/>
                  </a:lnTo>
                  <a:lnTo>
                    <a:pt x="0" y="488"/>
                  </a:lnTo>
                  <a:lnTo>
                    <a:pt x="0" y="474"/>
                  </a:lnTo>
                  <a:lnTo>
                    <a:pt x="14" y="474"/>
                  </a:lnTo>
                  <a:close/>
                  <a:moveTo>
                    <a:pt x="14" y="501"/>
                  </a:moveTo>
                  <a:lnTo>
                    <a:pt x="14" y="515"/>
                  </a:lnTo>
                  <a:lnTo>
                    <a:pt x="0" y="515"/>
                  </a:lnTo>
                  <a:lnTo>
                    <a:pt x="0" y="501"/>
                  </a:lnTo>
                  <a:lnTo>
                    <a:pt x="14" y="501"/>
                  </a:lnTo>
                  <a:close/>
                  <a:moveTo>
                    <a:pt x="14" y="529"/>
                  </a:moveTo>
                  <a:lnTo>
                    <a:pt x="14" y="543"/>
                  </a:lnTo>
                  <a:lnTo>
                    <a:pt x="0" y="543"/>
                  </a:lnTo>
                  <a:lnTo>
                    <a:pt x="0" y="529"/>
                  </a:lnTo>
                  <a:lnTo>
                    <a:pt x="14" y="529"/>
                  </a:lnTo>
                  <a:close/>
                  <a:moveTo>
                    <a:pt x="14" y="557"/>
                  </a:moveTo>
                  <a:lnTo>
                    <a:pt x="14" y="571"/>
                  </a:lnTo>
                  <a:lnTo>
                    <a:pt x="0" y="571"/>
                  </a:lnTo>
                  <a:lnTo>
                    <a:pt x="0" y="557"/>
                  </a:lnTo>
                  <a:lnTo>
                    <a:pt x="14" y="557"/>
                  </a:lnTo>
                  <a:close/>
                  <a:moveTo>
                    <a:pt x="14" y="585"/>
                  </a:moveTo>
                  <a:lnTo>
                    <a:pt x="14" y="599"/>
                  </a:lnTo>
                  <a:lnTo>
                    <a:pt x="0" y="599"/>
                  </a:lnTo>
                  <a:lnTo>
                    <a:pt x="0" y="585"/>
                  </a:lnTo>
                  <a:lnTo>
                    <a:pt x="14" y="585"/>
                  </a:lnTo>
                  <a:close/>
                  <a:moveTo>
                    <a:pt x="14" y="613"/>
                  </a:moveTo>
                  <a:lnTo>
                    <a:pt x="14" y="627"/>
                  </a:lnTo>
                  <a:lnTo>
                    <a:pt x="0" y="627"/>
                  </a:lnTo>
                  <a:lnTo>
                    <a:pt x="0" y="613"/>
                  </a:lnTo>
                  <a:lnTo>
                    <a:pt x="14" y="613"/>
                  </a:lnTo>
                  <a:close/>
                  <a:moveTo>
                    <a:pt x="14" y="641"/>
                  </a:moveTo>
                  <a:lnTo>
                    <a:pt x="14" y="655"/>
                  </a:lnTo>
                  <a:lnTo>
                    <a:pt x="0" y="655"/>
                  </a:lnTo>
                  <a:lnTo>
                    <a:pt x="0" y="641"/>
                  </a:lnTo>
                  <a:lnTo>
                    <a:pt x="14" y="641"/>
                  </a:lnTo>
                  <a:close/>
                  <a:moveTo>
                    <a:pt x="14" y="668"/>
                  </a:moveTo>
                  <a:lnTo>
                    <a:pt x="14" y="682"/>
                  </a:lnTo>
                  <a:lnTo>
                    <a:pt x="0" y="682"/>
                  </a:lnTo>
                  <a:lnTo>
                    <a:pt x="0" y="668"/>
                  </a:lnTo>
                  <a:lnTo>
                    <a:pt x="14" y="668"/>
                  </a:lnTo>
                  <a:close/>
                  <a:moveTo>
                    <a:pt x="14" y="696"/>
                  </a:moveTo>
                  <a:lnTo>
                    <a:pt x="14" y="710"/>
                  </a:lnTo>
                  <a:lnTo>
                    <a:pt x="0" y="710"/>
                  </a:lnTo>
                  <a:lnTo>
                    <a:pt x="0" y="696"/>
                  </a:lnTo>
                  <a:lnTo>
                    <a:pt x="14" y="696"/>
                  </a:lnTo>
                  <a:close/>
                  <a:moveTo>
                    <a:pt x="14" y="724"/>
                  </a:moveTo>
                  <a:lnTo>
                    <a:pt x="14" y="738"/>
                  </a:lnTo>
                  <a:lnTo>
                    <a:pt x="0" y="738"/>
                  </a:lnTo>
                  <a:lnTo>
                    <a:pt x="0" y="724"/>
                  </a:lnTo>
                  <a:lnTo>
                    <a:pt x="14" y="724"/>
                  </a:lnTo>
                  <a:close/>
                  <a:moveTo>
                    <a:pt x="14" y="752"/>
                  </a:moveTo>
                  <a:lnTo>
                    <a:pt x="14" y="766"/>
                  </a:lnTo>
                  <a:lnTo>
                    <a:pt x="0" y="766"/>
                  </a:lnTo>
                  <a:lnTo>
                    <a:pt x="0" y="752"/>
                  </a:lnTo>
                  <a:lnTo>
                    <a:pt x="14" y="752"/>
                  </a:lnTo>
                  <a:close/>
                  <a:moveTo>
                    <a:pt x="14" y="780"/>
                  </a:moveTo>
                  <a:lnTo>
                    <a:pt x="14" y="793"/>
                  </a:lnTo>
                  <a:lnTo>
                    <a:pt x="0" y="793"/>
                  </a:lnTo>
                  <a:lnTo>
                    <a:pt x="0" y="780"/>
                  </a:lnTo>
                  <a:lnTo>
                    <a:pt x="14" y="780"/>
                  </a:lnTo>
                  <a:close/>
                  <a:moveTo>
                    <a:pt x="14" y="808"/>
                  </a:moveTo>
                  <a:lnTo>
                    <a:pt x="14" y="822"/>
                  </a:lnTo>
                  <a:lnTo>
                    <a:pt x="0" y="822"/>
                  </a:lnTo>
                  <a:lnTo>
                    <a:pt x="0" y="808"/>
                  </a:lnTo>
                  <a:lnTo>
                    <a:pt x="14" y="808"/>
                  </a:lnTo>
                  <a:close/>
                  <a:moveTo>
                    <a:pt x="14" y="835"/>
                  </a:moveTo>
                  <a:lnTo>
                    <a:pt x="14" y="849"/>
                  </a:lnTo>
                  <a:lnTo>
                    <a:pt x="0" y="849"/>
                  </a:lnTo>
                  <a:lnTo>
                    <a:pt x="0" y="835"/>
                  </a:lnTo>
                  <a:lnTo>
                    <a:pt x="14" y="835"/>
                  </a:lnTo>
                  <a:close/>
                  <a:moveTo>
                    <a:pt x="14" y="863"/>
                  </a:moveTo>
                  <a:lnTo>
                    <a:pt x="14" y="877"/>
                  </a:lnTo>
                  <a:lnTo>
                    <a:pt x="0" y="877"/>
                  </a:lnTo>
                  <a:lnTo>
                    <a:pt x="0" y="863"/>
                  </a:lnTo>
                  <a:lnTo>
                    <a:pt x="14" y="863"/>
                  </a:lnTo>
                  <a:close/>
                  <a:moveTo>
                    <a:pt x="14" y="891"/>
                  </a:moveTo>
                  <a:lnTo>
                    <a:pt x="14" y="905"/>
                  </a:lnTo>
                  <a:lnTo>
                    <a:pt x="0" y="905"/>
                  </a:lnTo>
                  <a:lnTo>
                    <a:pt x="0" y="891"/>
                  </a:lnTo>
                  <a:lnTo>
                    <a:pt x="14" y="891"/>
                  </a:lnTo>
                  <a:close/>
                  <a:moveTo>
                    <a:pt x="14" y="919"/>
                  </a:moveTo>
                  <a:lnTo>
                    <a:pt x="14" y="933"/>
                  </a:lnTo>
                  <a:lnTo>
                    <a:pt x="0" y="933"/>
                  </a:lnTo>
                  <a:lnTo>
                    <a:pt x="0" y="919"/>
                  </a:lnTo>
                  <a:lnTo>
                    <a:pt x="14" y="919"/>
                  </a:lnTo>
                  <a:close/>
                  <a:moveTo>
                    <a:pt x="14" y="947"/>
                  </a:moveTo>
                  <a:lnTo>
                    <a:pt x="14" y="960"/>
                  </a:lnTo>
                  <a:lnTo>
                    <a:pt x="0" y="960"/>
                  </a:lnTo>
                  <a:lnTo>
                    <a:pt x="0" y="947"/>
                  </a:lnTo>
                  <a:lnTo>
                    <a:pt x="14" y="947"/>
                  </a:lnTo>
                  <a:close/>
                  <a:moveTo>
                    <a:pt x="14" y="974"/>
                  </a:moveTo>
                  <a:lnTo>
                    <a:pt x="14" y="988"/>
                  </a:lnTo>
                  <a:lnTo>
                    <a:pt x="0" y="988"/>
                  </a:lnTo>
                  <a:lnTo>
                    <a:pt x="0" y="974"/>
                  </a:lnTo>
                  <a:lnTo>
                    <a:pt x="14" y="974"/>
                  </a:lnTo>
                  <a:close/>
                  <a:moveTo>
                    <a:pt x="14" y="1002"/>
                  </a:moveTo>
                  <a:lnTo>
                    <a:pt x="14" y="1016"/>
                  </a:lnTo>
                  <a:lnTo>
                    <a:pt x="0" y="1016"/>
                  </a:lnTo>
                  <a:lnTo>
                    <a:pt x="0" y="1002"/>
                  </a:lnTo>
                  <a:lnTo>
                    <a:pt x="14" y="1002"/>
                  </a:lnTo>
                  <a:close/>
                  <a:moveTo>
                    <a:pt x="14" y="1030"/>
                  </a:moveTo>
                  <a:lnTo>
                    <a:pt x="14" y="1044"/>
                  </a:lnTo>
                  <a:lnTo>
                    <a:pt x="0" y="1044"/>
                  </a:lnTo>
                  <a:lnTo>
                    <a:pt x="0" y="1030"/>
                  </a:lnTo>
                  <a:lnTo>
                    <a:pt x="14" y="1030"/>
                  </a:lnTo>
                  <a:close/>
                  <a:moveTo>
                    <a:pt x="14" y="1058"/>
                  </a:moveTo>
                  <a:lnTo>
                    <a:pt x="14" y="1072"/>
                  </a:lnTo>
                  <a:lnTo>
                    <a:pt x="0" y="1072"/>
                  </a:lnTo>
                  <a:lnTo>
                    <a:pt x="0" y="1058"/>
                  </a:lnTo>
                  <a:lnTo>
                    <a:pt x="14" y="1058"/>
                  </a:lnTo>
                  <a:close/>
                  <a:moveTo>
                    <a:pt x="14" y="1086"/>
                  </a:moveTo>
                  <a:lnTo>
                    <a:pt x="14" y="1100"/>
                  </a:lnTo>
                  <a:lnTo>
                    <a:pt x="0" y="1100"/>
                  </a:lnTo>
                  <a:lnTo>
                    <a:pt x="0" y="1086"/>
                  </a:lnTo>
                  <a:lnTo>
                    <a:pt x="14" y="1086"/>
                  </a:lnTo>
                  <a:close/>
                  <a:moveTo>
                    <a:pt x="14" y="1114"/>
                  </a:moveTo>
                  <a:lnTo>
                    <a:pt x="14" y="1127"/>
                  </a:lnTo>
                  <a:lnTo>
                    <a:pt x="0" y="1127"/>
                  </a:lnTo>
                  <a:lnTo>
                    <a:pt x="0" y="1114"/>
                  </a:lnTo>
                  <a:lnTo>
                    <a:pt x="14" y="1114"/>
                  </a:lnTo>
                  <a:close/>
                  <a:moveTo>
                    <a:pt x="14" y="1141"/>
                  </a:moveTo>
                  <a:lnTo>
                    <a:pt x="14" y="1155"/>
                  </a:lnTo>
                  <a:lnTo>
                    <a:pt x="0" y="1155"/>
                  </a:lnTo>
                  <a:lnTo>
                    <a:pt x="0" y="1141"/>
                  </a:lnTo>
                  <a:lnTo>
                    <a:pt x="14" y="1141"/>
                  </a:lnTo>
                  <a:close/>
                  <a:moveTo>
                    <a:pt x="14" y="1169"/>
                  </a:moveTo>
                  <a:lnTo>
                    <a:pt x="14" y="1183"/>
                  </a:lnTo>
                  <a:lnTo>
                    <a:pt x="0" y="1183"/>
                  </a:lnTo>
                  <a:lnTo>
                    <a:pt x="0" y="1169"/>
                  </a:lnTo>
                  <a:lnTo>
                    <a:pt x="14" y="1169"/>
                  </a:lnTo>
                  <a:close/>
                  <a:moveTo>
                    <a:pt x="14" y="1197"/>
                  </a:moveTo>
                  <a:lnTo>
                    <a:pt x="14" y="1211"/>
                  </a:lnTo>
                  <a:lnTo>
                    <a:pt x="0" y="1211"/>
                  </a:lnTo>
                  <a:lnTo>
                    <a:pt x="0" y="1197"/>
                  </a:lnTo>
                  <a:lnTo>
                    <a:pt x="14" y="1197"/>
                  </a:lnTo>
                  <a:close/>
                  <a:moveTo>
                    <a:pt x="14" y="1225"/>
                  </a:moveTo>
                  <a:lnTo>
                    <a:pt x="14" y="1239"/>
                  </a:lnTo>
                  <a:lnTo>
                    <a:pt x="0" y="1239"/>
                  </a:lnTo>
                  <a:lnTo>
                    <a:pt x="0" y="1225"/>
                  </a:lnTo>
                  <a:lnTo>
                    <a:pt x="14" y="1225"/>
                  </a:lnTo>
                  <a:close/>
                  <a:moveTo>
                    <a:pt x="14" y="1253"/>
                  </a:moveTo>
                  <a:lnTo>
                    <a:pt x="14" y="1267"/>
                  </a:lnTo>
                  <a:lnTo>
                    <a:pt x="0" y="1267"/>
                  </a:lnTo>
                  <a:lnTo>
                    <a:pt x="0" y="1253"/>
                  </a:lnTo>
                  <a:lnTo>
                    <a:pt x="14" y="1253"/>
                  </a:lnTo>
                  <a:close/>
                  <a:moveTo>
                    <a:pt x="14" y="1281"/>
                  </a:moveTo>
                  <a:lnTo>
                    <a:pt x="14" y="1294"/>
                  </a:lnTo>
                  <a:lnTo>
                    <a:pt x="0" y="1294"/>
                  </a:lnTo>
                  <a:lnTo>
                    <a:pt x="0" y="1281"/>
                  </a:lnTo>
                  <a:lnTo>
                    <a:pt x="14" y="1281"/>
                  </a:lnTo>
                  <a:close/>
                  <a:moveTo>
                    <a:pt x="14" y="1308"/>
                  </a:moveTo>
                  <a:lnTo>
                    <a:pt x="14" y="1322"/>
                  </a:lnTo>
                  <a:lnTo>
                    <a:pt x="0" y="1322"/>
                  </a:lnTo>
                  <a:lnTo>
                    <a:pt x="0" y="1308"/>
                  </a:lnTo>
                  <a:lnTo>
                    <a:pt x="14" y="1308"/>
                  </a:lnTo>
                  <a:close/>
                  <a:moveTo>
                    <a:pt x="14" y="1336"/>
                  </a:moveTo>
                  <a:lnTo>
                    <a:pt x="14" y="1350"/>
                  </a:lnTo>
                  <a:lnTo>
                    <a:pt x="0" y="1350"/>
                  </a:lnTo>
                  <a:lnTo>
                    <a:pt x="0" y="1336"/>
                  </a:lnTo>
                  <a:lnTo>
                    <a:pt x="14" y="1336"/>
                  </a:lnTo>
                  <a:close/>
                  <a:moveTo>
                    <a:pt x="14" y="1364"/>
                  </a:moveTo>
                  <a:lnTo>
                    <a:pt x="14" y="1378"/>
                  </a:lnTo>
                  <a:lnTo>
                    <a:pt x="0" y="1378"/>
                  </a:lnTo>
                  <a:lnTo>
                    <a:pt x="0" y="1364"/>
                  </a:lnTo>
                  <a:lnTo>
                    <a:pt x="14" y="1364"/>
                  </a:lnTo>
                  <a:close/>
                  <a:moveTo>
                    <a:pt x="14" y="1392"/>
                  </a:moveTo>
                  <a:lnTo>
                    <a:pt x="14" y="1406"/>
                  </a:lnTo>
                  <a:lnTo>
                    <a:pt x="0" y="1406"/>
                  </a:lnTo>
                  <a:lnTo>
                    <a:pt x="0" y="1392"/>
                  </a:lnTo>
                  <a:lnTo>
                    <a:pt x="14" y="1392"/>
                  </a:lnTo>
                  <a:close/>
                  <a:moveTo>
                    <a:pt x="14" y="1420"/>
                  </a:moveTo>
                  <a:lnTo>
                    <a:pt x="14" y="1434"/>
                  </a:lnTo>
                  <a:lnTo>
                    <a:pt x="0" y="1434"/>
                  </a:lnTo>
                  <a:lnTo>
                    <a:pt x="0" y="1420"/>
                  </a:lnTo>
                  <a:lnTo>
                    <a:pt x="14" y="1420"/>
                  </a:lnTo>
                  <a:close/>
                  <a:moveTo>
                    <a:pt x="14" y="1448"/>
                  </a:moveTo>
                  <a:lnTo>
                    <a:pt x="14" y="1461"/>
                  </a:lnTo>
                  <a:lnTo>
                    <a:pt x="0" y="1461"/>
                  </a:lnTo>
                  <a:lnTo>
                    <a:pt x="0" y="1448"/>
                  </a:lnTo>
                  <a:lnTo>
                    <a:pt x="14" y="1448"/>
                  </a:lnTo>
                  <a:close/>
                  <a:moveTo>
                    <a:pt x="14" y="1475"/>
                  </a:moveTo>
                  <a:lnTo>
                    <a:pt x="14" y="1489"/>
                  </a:lnTo>
                  <a:lnTo>
                    <a:pt x="0" y="1489"/>
                  </a:lnTo>
                  <a:lnTo>
                    <a:pt x="0" y="1475"/>
                  </a:lnTo>
                  <a:lnTo>
                    <a:pt x="14" y="1475"/>
                  </a:lnTo>
                  <a:close/>
                  <a:moveTo>
                    <a:pt x="14" y="1503"/>
                  </a:moveTo>
                  <a:lnTo>
                    <a:pt x="14" y="1517"/>
                  </a:lnTo>
                  <a:lnTo>
                    <a:pt x="0" y="1517"/>
                  </a:lnTo>
                  <a:lnTo>
                    <a:pt x="0" y="1503"/>
                  </a:lnTo>
                  <a:lnTo>
                    <a:pt x="14" y="1503"/>
                  </a:lnTo>
                  <a:close/>
                  <a:moveTo>
                    <a:pt x="14" y="1531"/>
                  </a:moveTo>
                  <a:lnTo>
                    <a:pt x="14" y="1545"/>
                  </a:lnTo>
                  <a:lnTo>
                    <a:pt x="0" y="1545"/>
                  </a:lnTo>
                  <a:lnTo>
                    <a:pt x="0" y="1531"/>
                  </a:lnTo>
                  <a:lnTo>
                    <a:pt x="14" y="1531"/>
                  </a:lnTo>
                  <a:close/>
                  <a:moveTo>
                    <a:pt x="14" y="1559"/>
                  </a:moveTo>
                  <a:lnTo>
                    <a:pt x="14" y="1573"/>
                  </a:lnTo>
                  <a:lnTo>
                    <a:pt x="0" y="1573"/>
                  </a:lnTo>
                  <a:lnTo>
                    <a:pt x="0" y="1559"/>
                  </a:lnTo>
                  <a:lnTo>
                    <a:pt x="14" y="1559"/>
                  </a:lnTo>
                  <a:close/>
                  <a:moveTo>
                    <a:pt x="14" y="1587"/>
                  </a:moveTo>
                  <a:lnTo>
                    <a:pt x="14" y="1601"/>
                  </a:lnTo>
                  <a:lnTo>
                    <a:pt x="0" y="1601"/>
                  </a:lnTo>
                  <a:lnTo>
                    <a:pt x="0" y="1587"/>
                  </a:lnTo>
                  <a:lnTo>
                    <a:pt x="14" y="1587"/>
                  </a:lnTo>
                  <a:close/>
                  <a:moveTo>
                    <a:pt x="14" y="1615"/>
                  </a:moveTo>
                  <a:lnTo>
                    <a:pt x="14" y="1628"/>
                  </a:lnTo>
                  <a:lnTo>
                    <a:pt x="0" y="1628"/>
                  </a:lnTo>
                  <a:lnTo>
                    <a:pt x="0" y="1615"/>
                  </a:lnTo>
                  <a:lnTo>
                    <a:pt x="14" y="1615"/>
                  </a:lnTo>
                  <a:close/>
                  <a:moveTo>
                    <a:pt x="14" y="1642"/>
                  </a:moveTo>
                  <a:lnTo>
                    <a:pt x="14" y="1656"/>
                  </a:lnTo>
                  <a:lnTo>
                    <a:pt x="0" y="1656"/>
                  </a:lnTo>
                  <a:lnTo>
                    <a:pt x="0" y="1642"/>
                  </a:lnTo>
                  <a:lnTo>
                    <a:pt x="14" y="1642"/>
                  </a:lnTo>
                  <a:close/>
                  <a:moveTo>
                    <a:pt x="14" y="1670"/>
                  </a:moveTo>
                  <a:lnTo>
                    <a:pt x="14" y="1684"/>
                  </a:lnTo>
                  <a:lnTo>
                    <a:pt x="0" y="1684"/>
                  </a:lnTo>
                  <a:lnTo>
                    <a:pt x="0" y="1670"/>
                  </a:lnTo>
                  <a:lnTo>
                    <a:pt x="14" y="1670"/>
                  </a:lnTo>
                  <a:close/>
                  <a:moveTo>
                    <a:pt x="14" y="1698"/>
                  </a:moveTo>
                  <a:lnTo>
                    <a:pt x="14" y="1712"/>
                  </a:lnTo>
                  <a:lnTo>
                    <a:pt x="0" y="1712"/>
                  </a:lnTo>
                  <a:lnTo>
                    <a:pt x="0" y="1698"/>
                  </a:lnTo>
                  <a:lnTo>
                    <a:pt x="14" y="1698"/>
                  </a:lnTo>
                  <a:close/>
                  <a:moveTo>
                    <a:pt x="14" y="1726"/>
                  </a:moveTo>
                  <a:lnTo>
                    <a:pt x="14" y="1740"/>
                  </a:lnTo>
                  <a:lnTo>
                    <a:pt x="0" y="1740"/>
                  </a:lnTo>
                  <a:lnTo>
                    <a:pt x="0" y="1726"/>
                  </a:lnTo>
                  <a:lnTo>
                    <a:pt x="14" y="1726"/>
                  </a:lnTo>
                  <a:close/>
                  <a:moveTo>
                    <a:pt x="14" y="1754"/>
                  </a:moveTo>
                  <a:lnTo>
                    <a:pt x="14" y="1768"/>
                  </a:lnTo>
                  <a:lnTo>
                    <a:pt x="0" y="1768"/>
                  </a:lnTo>
                  <a:lnTo>
                    <a:pt x="0" y="1754"/>
                  </a:lnTo>
                  <a:lnTo>
                    <a:pt x="14" y="1754"/>
                  </a:lnTo>
                  <a:close/>
                  <a:moveTo>
                    <a:pt x="14" y="1782"/>
                  </a:moveTo>
                  <a:lnTo>
                    <a:pt x="14" y="1795"/>
                  </a:lnTo>
                  <a:lnTo>
                    <a:pt x="0" y="1795"/>
                  </a:lnTo>
                  <a:lnTo>
                    <a:pt x="0" y="1782"/>
                  </a:lnTo>
                  <a:lnTo>
                    <a:pt x="14" y="1782"/>
                  </a:lnTo>
                  <a:close/>
                  <a:moveTo>
                    <a:pt x="14" y="1809"/>
                  </a:moveTo>
                  <a:lnTo>
                    <a:pt x="14" y="1823"/>
                  </a:lnTo>
                  <a:lnTo>
                    <a:pt x="0" y="1823"/>
                  </a:lnTo>
                  <a:lnTo>
                    <a:pt x="0" y="1809"/>
                  </a:lnTo>
                  <a:lnTo>
                    <a:pt x="14" y="1809"/>
                  </a:lnTo>
                  <a:close/>
                  <a:moveTo>
                    <a:pt x="14" y="1837"/>
                  </a:moveTo>
                  <a:lnTo>
                    <a:pt x="14" y="1851"/>
                  </a:lnTo>
                  <a:lnTo>
                    <a:pt x="0" y="1851"/>
                  </a:lnTo>
                  <a:lnTo>
                    <a:pt x="0" y="1837"/>
                  </a:lnTo>
                  <a:lnTo>
                    <a:pt x="14" y="1837"/>
                  </a:lnTo>
                  <a:close/>
                  <a:moveTo>
                    <a:pt x="14" y="1865"/>
                  </a:moveTo>
                  <a:lnTo>
                    <a:pt x="14" y="1879"/>
                  </a:lnTo>
                  <a:lnTo>
                    <a:pt x="0" y="1879"/>
                  </a:lnTo>
                  <a:lnTo>
                    <a:pt x="0" y="1865"/>
                  </a:lnTo>
                  <a:lnTo>
                    <a:pt x="14" y="1865"/>
                  </a:lnTo>
                  <a:close/>
                  <a:moveTo>
                    <a:pt x="14" y="1893"/>
                  </a:moveTo>
                  <a:lnTo>
                    <a:pt x="14" y="1907"/>
                  </a:lnTo>
                  <a:lnTo>
                    <a:pt x="0" y="1907"/>
                  </a:lnTo>
                  <a:lnTo>
                    <a:pt x="0" y="1893"/>
                  </a:lnTo>
                  <a:lnTo>
                    <a:pt x="14" y="1893"/>
                  </a:lnTo>
                  <a:close/>
                  <a:moveTo>
                    <a:pt x="14" y="1921"/>
                  </a:moveTo>
                  <a:lnTo>
                    <a:pt x="14" y="1935"/>
                  </a:lnTo>
                  <a:lnTo>
                    <a:pt x="0" y="1935"/>
                  </a:lnTo>
                  <a:lnTo>
                    <a:pt x="0" y="1921"/>
                  </a:lnTo>
                  <a:lnTo>
                    <a:pt x="14" y="1921"/>
                  </a:lnTo>
                  <a:close/>
                  <a:moveTo>
                    <a:pt x="14" y="1949"/>
                  </a:moveTo>
                  <a:lnTo>
                    <a:pt x="14" y="1962"/>
                  </a:lnTo>
                  <a:lnTo>
                    <a:pt x="0" y="1962"/>
                  </a:lnTo>
                  <a:lnTo>
                    <a:pt x="0" y="1949"/>
                  </a:lnTo>
                  <a:lnTo>
                    <a:pt x="14" y="1949"/>
                  </a:lnTo>
                  <a:close/>
                  <a:moveTo>
                    <a:pt x="14" y="1976"/>
                  </a:moveTo>
                  <a:lnTo>
                    <a:pt x="14" y="1990"/>
                  </a:lnTo>
                  <a:lnTo>
                    <a:pt x="0" y="1990"/>
                  </a:lnTo>
                  <a:lnTo>
                    <a:pt x="0" y="1976"/>
                  </a:lnTo>
                  <a:lnTo>
                    <a:pt x="14" y="1976"/>
                  </a:lnTo>
                  <a:close/>
                  <a:moveTo>
                    <a:pt x="14" y="2004"/>
                  </a:moveTo>
                  <a:lnTo>
                    <a:pt x="14" y="2018"/>
                  </a:lnTo>
                  <a:lnTo>
                    <a:pt x="0" y="2018"/>
                  </a:lnTo>
                  <a:lnTo>
                    <a:pt x="0" y="2004"/>
                  </a:lnTo>
                  <a:lnTo>
                    <a:pt x="14" y="2004"/>
                  </a:lnTo>
                  <a:close/>
                  <a:moveTo>
                    <a:pt x="14" y="2032"/>
                  </a:moveTo>
                  <a:lnTo>
                    <a:pt x="14" y="2046"/>
                  </a:lnTo>
                  <a:lnTo>
                    <a:pt x="0" y="2046"/>
                  </a:lnTo>
                  <a:lnTo>
                    <a:pt x="0" y="2032"/>
                  </a:lnTo>
                  <a:lnTo>
                    <a:pt x="14" y="2032"/>
                  </a:lnTo>
                  <a:close/>
                  <a:moveTo>
                    <a:pt x="14" y="2060"/>
                  </a:moveTo>
                  <a:lnTo>
                    <a:pt x="14" y="2074"/>
                  </a:lnTo>
                  <a:lnTo>
                    <a:pt x="0" y="2074"/>
                  </a:lnTo>
                  <a:lnTo>
                    <a:pt x="0" y="2060"/>
                  </a:lnTo>
                  <a:lnTo>
                    <a:pt x="14" y="2060"/>
                  </a:lnTo>
                  <a:close/>
                  <a:moveTo>
                    <a:pt x="14" y="2087"/>
                  </a:moveTo>
                  <a:lnTo>
                    <a:pt x="14" y="2102"/>
                  </a:lnTo>
                  <a:lnTo>
                    <a:pt x="0" y="2102"/>
                  </a:lnTo>
                  <a:lnTo>
                    <a:pt x="0" y="2087"/>
                  </a:lnTo>
                  <a:lnTo>
                    <a:pt x="14" y="2087"/>
                  </a:lnTo>
                  <a:close/>
                  <a:moveTo>
                    <a:pt x="14" y="2116"/>
                  </a:moveTo>
                  <a:lnTo>
                    <a:pt x="14" y="2129"/>
                  </a:lnTo>
                  <a:lnTo>
                    <a:pt x="0" y="2129"/>
                  </a:lnTo>
                  <a:lnTo>
                    <a:pt x="0" y="2116"/>
                  </a:lnTo>
                  <a:lnTo>
                    <a:pt x="14" y="2116"/>
                  </a:lnTo>
                  <a:close/>
                  <a:moveTo>
                    <a:pt x="14" y="2143"/>
                  </a:moveTo>
                  <a:lnTo>
                    <a:pt x="14" y="2157"/>
                  </a:lnTo>
                  <a:lnTo>
                    <a:pt x="0" y="2157"/>
                  </a:lnTo>
                  <a:lnTo>
                    <a:pt x="0" y="2143"/>
                  </a:lnTo>
                  <a:lnTo>
                    <a:pt x="14" y="2143"/>
                  </a:lnTo>
                  <a:close/>
                  <a:moveTo>
                    <a:pt x="14" y="2171"/>
                  </a:moveTo>
                  <a:lnTo>
                    <a:pt x="14" y="2185"/>
                  </a:lnTo>
                  <a:lnTo>
                    <a:pt x="0" y="2185"/>
                  </a:lnTo>
                  <a:lnTo>
                    <a:pt x="0" y="2171"/>
                  </a:lnTo>
                  <a:lnTo>
                    <a:pt x="14" y="2171"/>
                  </a:lnTo>
                  <a:close/>
                  <a:moveTo>
                    <a:pt x="14" y="2199"/>
                  </a:moveTo>
                  <a:lnTo>
                    <a:pt x="14" y="2213"/>
                  </a:lnTo>
                  <a:lnTo>
                    <a:pt x="0" y="2213"/>
                  </a:lnTo>
                  <a:lnTo>
                    <a:pt x="0" y="2199"/>
                  </a:lnTo>
                  <a:lnTo>
                    <a:pt x="14" y="2199"/>
                  </a:lnTo>
                  <a:close/>
                  <a:moveTo>
                    <a:pt x="14" y="2227"/>
                  </a:moveTo>
                  <a:lnTo>
                    <a:pt x="14" y="2241"/>
                  </a:lnTo>
                  <a:lnTo>
                    <a:pt x="0" y="2241"/>
                  </a:lnTo>
                  <a:lnTo>
                    <a:pt x="0" y="2227"/>
                  </a:lnTo>
                  <a:lnTo>
                    <a:pt x="14" y="2227"/>
                  </a:lnTo>
                  <a:close/>
                  <a:moveTo>
                    <a:pt x="14" y="2254"/>
                  </a:moveTo>
                  <a:lnTo>
                    <a:pt x="14" y="2268"/>
                  </a:lnTo>
                  <a:lnTo>
                    <a:pt x="0" y="2268"/>
                  </a:lnTo>
                  <a:lnTo>
                    <a:pt x="0" y="2254"/>
                  </a:lnTo>
                  <a:lnTo>
                    <a:pt x="14" y="2254"/>
                  </a:lnTo>
                  <a:close/>
                  <a:moveTo>
                    <a:pt x="14" y="2283"/>
                  </a:moveTo>
                  <a:lnTo>
                    <a:pt x="14" y="2296"/>
                  </a:lnTo>
                  <a:lnTo>
                    <a:pt x="0" y="2296"/>
                  </a:lnTo>
                  <a:lnTo>
                    <a:pt x="0" y="2283"/>
                  </a:lnTo>
                  <a:lnTo>
                    <a:pt x="14" y="2283"/>
                  </a:lnTo>
                  <a:close/>
                  <a:moveTo>
                    <a:pt x="14" y="2310"/>
                  </a:moveTo>
                  <a:lnTo>
                    <a:pt x="14" y="2324"/>
                  </a:lnTo>
                  <a:lnTo>
                    <a:pt x="0" y="2324"/>
                  </a:lnTo>
                  <a:lnTo>
                    <a:pt x="0" y="2310"/>
                  </a:lnTo>
                  <a:lnTo>
                    <a:pt x="14" y="2310"/>
                  </a:lnTo>
                  <a:close/>
                  <a:moveTo>
                    <a:pt x="14" y="2338"/>
                  </a:moveTo>
                  <a:lnTo>
                    <a:pt x="14" y="2352"/>
                  </a:lnTo>
                  <a:lnTo>
                    <a:pt x="0" y="2352"/>
                  </a:lnTo>
                  <a:lnTo>
                    <a:pt x="0" y="2338"/>
                  </a:lnTo>
                  <a:lnTo>
                    <a:pt x="14" y="2338"/>
                  </a:lnTo>
                  <a:close/>
                  <a:moveTo>
                    <a:pt x="14" y="2366"/>
                  </a:moveTo>
                  <a:lnTo>
                    <a:pt x="14" y="2380"/>
                  </a:lnTo>
                  <a:lnTo>
                    <a:pt x="0" y="2380"/>
                  </a:lnTo>
                  <a:lnTo>
                    <a:pt x="0" y="2366"/>
                  </a:lnTo>
                  <a:lnTo>
                    <a:pt x="14" y="2366"/>
                  </a:lnTo>
                  <a:close/>
                  <a:moveTo>
                    <a:pt x="14" y="2394"/>
                  </a:moveTo>
                  <a:lnTo>
                    <a:pt x="14" y="2408"/>
                  </a:lnTo>
                  <a:lnTo>
                    <a:pt x="0" y="2408"/>
                  </a:lnTo>
                  <a:lnTo>
                    <a:pt x="0" y="2394"/>
                  </a:lnTo>
                  <a:lnTo>
                    <a:pt x="14" y="2394"/>
                  </a:lnTo>
                  <a:close/>
                  <a:moveTo>
                    <a:pt x="14" y="2421"/>
                  </a:moveTo>
                  <a:lnTo>
                    <a:pt x="14" y="2435"/>
                  </a:lnTo>
                  <a:lnTo>
                    <a:pt x="0" y="2435"/>
                  </a:lnTo>
                  <a:lnTo>
                    <a:pt x="0" y="2421"/>
                  </a:lnTo>
                  <a:lnTo>
                    <a:pt x="14" y="2421"/>
                  </a:lnTo>
                  <a:close/>
                  <a:moveTo>
                    <a:pt x="14" y="2449"/>
                  </a:moveTo>
                  <a:lnTo>
                    <a:pt x="14" y="2453"/>
                  </a:lnTo>
                  <a:lnTo>
                    <a:pt x="0" y="2453"/>
                  </a:lnTo>
                  <a:lnTo>
                    <a:pt x="0" y="2449"/>
                  </a:lnTo>
                  <a:lnTo>
                    <a:pt x="14" y="2449"/>
                  </a:lnTo>
                  <a:close/>
                </a:path>
              </a:pathLst>
            </a:custGeom>
            <a:solidFill>
              <a:srgbClr val="000000"/>
            </a:solidFill>
            <a:ln w="0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32" name="Freeform 29">
              <a:extLst>
                <a:ext uri="{FF2B5EF4-FFF2-40B4-BE49-F238E27FC236}">
                  <a16:creationId xmlns:a16="http://schemas.microsoft.com/office/drawing/2014/main" id="{CD1A6A61-3A6B-48BF-8531-EB12B88EAD2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637427" y="2505080"/>
              <a:ext cx="23813" cy="3894138"/>
            </a:xfrm>
            <a:custGeom>
              <a:avLst/>
              <a:gdLst>
                <a:gd name="T0" fmla="*/ 15 w 15"/>
                <a:gd name="T1" fmla="*/ 42 h 2453"/>
                <a:gd name="T2" fmla="*/ 0 w 15"/>
                <a:gd name="T3" fmla="*/ 56 h 2453"/>
                <a:gd name="T4" fmla="*/ 15 w 15"/>
                <a:gd name="T5" fmla="*/ 112 h 2453"/>
                <a:gd name="T6" fmla="*/ 0 w 15"/>
                <a:gd name="T7" fmla="*/ 154 h 2453"/>
                <a:gd name="T8" fmla="*/ 15 w 15"/>
                <a:gd name="T9" fmla="*/ 167 h 2453"/>
                <a:gd name="T10" fmla="*/ 15 w 15"/>
                <a:gd name="T11" fmla="*/ 237 h 2453"/>
                <a:gd name="T12" fmla="*/ 0 w 15"/>
                <a:gd name="T13" fmla="*/ 251 h 2453"/>
                <a:gd name="T14" fmla="*/ 15 w 15"/>
                <a:gd name="T15" fmla="*/ 307 h 2453"/>
                <a:gd name="T16" fmla="*/ 0 w 15"/>
                <a:gd name="T17" fmla="*/ 348 h 2453"/>
                <a:gd name="T18" fmla="*/ 15 w 15"/>
                <a:gd name="T19" fmla="*/ 362 h 2453"/>
                <a:gd name="T20" fmla="*/ 15 w 15"/>
                <a:gd name="T21" fmla="*/ 432 h 2453"/>
                <a:gd name="T22" fmla="*/ 0 w 15"/>
                <a:gd name="T23" fmla="*/ 446 h 2453"/>
                <a:gd name="T24" fmla="*/ 15 w 15"/>
                <a:gd name="T25" fmla="*/ 501 h 2453"/>
                <a:gd name="T26" fmla="*/ 0 w 15"/>
                <a:gd name="T27" fmla="*/ 543 h 2453"/>
                <a:gd name="T28" fmla="*/ 15 w 15"/>
                <a:gd name="T29" fmla="*/ 557 h 2453"/>
                <a:gd name="T30" fmla="*/ 15 w 15"/>
                <a:gd name="T31" fmla="*/ 627 h 2453"/>
                <a:gd name="T32" fmla="*/ 0 w 15"/>
                <a:gd name="T33" fmla="*/ 641 h 2453"/>
                <a:gd name="T34" fmla="*/ 15 w 15"/>
                <a:gd name="T35" fmla="*/ 696 h 2453"/>
                <a:gd name="T36" fmla="*/ 0 w 15"/>
                <a:gd name="T37" fmla="*/ 738 h 2453"/>
                <a:gd name="T38" fmla="*/ 15 w 15"/>
                <a:gd name="T39" fmla="*/ 752 h 2453"/>
                <a:gd name="T40" fmla="*/ 15 w 15"/>
                <a:gd name="T41" fmla="*/ 822 h 2453"/>
                <a:gd name="T42" fmla="*/ 0 w 15"/>
                <a:gd name="T43" fmla="*/ 835 h 2453"/>
                <a:gd name="T44" fmla="*/ 15 w 15"/>
                <a:gd name="T45" fmla="*/ 891 h 2453"/>
                <a:gd name="T46" fmla="*/ 0 w 15"/>
                <a:gd name="T47" fmla="*/ 933 h 2453"/>
                <a:gd name="T48" fmla="*/ 15 w 15"/>
                <a:gd name="T49" fmla="*/ 947 h 2453"/>
                <a:gd name="T50" fmla="*/ 15 w 15"/>
                <a:gd name="T51" fmla="*/ 1016 h 2453"/>
                <a:gd name="T52" fmla="*/ 0 w 15"/>
                <a:gd name="T53" fmla="*/ 1030 h 2453"/>
                <a:gd name="T54" fmla="*/ 15 w 15"/>
                <a:gd name="T55" fmla="*/ 1086 h 2453"/>
                <a:gd name="T56" fmla="*/ 0 w 15"/>
                <a:gd name="T57" fmla="*/ 1127 h 2453"/>
                <a:gd name="T58" fmla="*/ 15 w 15"/>
                <a:gd name="T59" fmla="*/ 1141 h 2453"/>
                <a:gd name="T60" fmla="*/ 15 w 15"/>
                <a:gd name="T61" fmla="*/ 1211 h 2453"/>
                <a:gd name="T62" fmla="*/ 0 w 15"/>
                <a:gd name="T63" fmla="*/ 1225 h 2453"/>
                <a:gd name="T64" fmla="*/ 15 w 15"/>
                <a:gd name="T65" fmla="*/ 1281 h 2453"/>
                <a:gd name="T66" fmla="*/ 0 w 15"/>
                <a:gd name="T67" fmla="*/ 1322 h 2453"/>
                <a:gd name="T68" fmla="*/ 15 w 15"/>
                <a:gd name="T69" fmla="*/ 1336 h 2453"/>
                <a:gd name="T70" fmla="*/ 15 w 15"/>
                <a:gd name="T71" fmla="*/ 1406 h 2453"/>
                <a:gd name="T72" fmla="*/ 0 w 15"/>
                <a:gd name="T73" fmla="*/ 1420 h 2453"/>
                <a:gd name="T74" fmla="*/ 15 w 15"/>
                <a:gd name="T75" fmla="*/ 1475 h 2453"/>
                <a:gd name="T76" fmla="*/ 0 w 15"/>
                <a:gd name="T77" fmla="*/ 1517 h 2453"/>
                <a:gd name="T78" fmla="*/ 15 w 15"/>
                <a:gd name="T79" fmla="*/ 1531 h 2453"/>
                <a:gd name="T80" fmla="*/ 15 w 15"/>
                <a:gd name="T81" fmla="*/ 1601 h 2453"/>
                <a:gd name="T82" fmla="*/ 0 w 15"/>
                <a:gd name="T83" fmla="*/ 1615 h 2453"/>
                <a:gd name="T84" fmla="*/ 15 w 15"/>
                <a:gd name="T85" fmla="*/ 1670 h 2453"/>
                <a:gd name="T86" fmla="*/ 0 w 15"/>
                <a:gd name="T87" fmla="*/ 1712 h 2453"/>
                <a:gd name="T88" fmla="*/ 15 w 15"/>
                <a:gd name="T89" fmla="*/ 1726 h 2453"/>
                <a:gd name="T90" fmla="*/ 15 w 15"/>
                <a:gd name="T91" fmla="*/ 1795 h 2453"/>
                <a:gd name="T92" fmla="*/ 0 w 15"/>
                <a:gd name="T93" fmla="*/ 1809 h 2453"/>
                <a:gd name="T94" fmla="*/ 15 w 15"/>
                <a:gd name="T95" fmla="*/ 1865 h 2453"/>
                <a:gd name="T96" fmla="*/ 0 w 15"/>
                <a:gd name="T97" fmla="*/ 1907 h 2453"/>
                <a:gd name="T98" fmla="*/ 15 w 15"/>
                <a:gd name="T99" fmla="*/ 1921 h 2453"/>
                <a:gd name="T100" fmla="*/ 15 w 15"/>
                <a:gd name="T101" fmla="*/ 1990 h 2453"/>
                <a:gd name="T102" fmla="*/ 0 w 15"/>
                <a:gd name="T103" fmla="*/ 2004 h 2453"/>
                <a:gd name="T104" fmla="*/ 15 w 15"/>
                <a:gd name="T105" fmla="*/ 2060 h 2453"/>
                <a:gd name="T106" fmla="*/ 0 w 15"/>
                <a:gd name="T107" fmla="*/ 2102 h 2453"/>
                <a:gd name="T108" fmla="*/ 15 w 15"/>
                <a:gd name="T109" fmla="*/ 2116 h 2453"/>
                <a:gd name="T110" fmla="*/ 15 w 15"/>
                <a:gd name="T111" fmla="*/ 2185 h 2453"/>
                <a:gd name="T112" fmla="*/ 0 w 15"/>
                <a:gd name="T113" fmla="*/ 2199 h 2453"/>
                <a:gd name="T114" fmla="*/ 15 w 15"/>
                <a:gd name="T115" fmla="*/ 2254 h 2453"/>
                <a:gd name="T116" fmla="*/ 0 w 15"/>
                <a:gd name="T117" fmla="*/ 2296 h 2453"/>
                <a:gd name="T118" fmla="*/ 15 w 15"/>
                <a:gd name="T119" fmla="*/ 2310 h 2453"/>
                <a:gd name="T120" fmla="*/ 15 w 15"/>
                <a:gd name="T121" fmla="*/ 2380 h 2453"/>
                <a:gd name="T122" fmla="*/ 0 w 15"/>
                <a:gd name="T123" fmla="*/ 2394 h 2453"/>
                <a:gd name="T124" fmla="*/ 15 w 15"/>
                <a:gd name="T125" fmla="*/ 2449 h 24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5" h="2453">
                  <a:moveTo>
                    <a:pt x="15" y="0"/>
                  </a:moveTo>
                  <a:lnTo>
                    <a:pt x="15" y="14"/>
                  </a:lnTo>
                  <a:lnTo>
                    <a:pt x="0" y="14"/>
                  </a:lnTo>
                  <a:lnTo>
                    <a:pt x="0" y="0"/>
                  </a:lnTo>
                  <a:lnTo>
                    <a:pt x="15" y="0"/>
                  </a:lnTo>
                  <a:close/>
                  <a:moveTo>
                    <a:pt x="15" y="28"/>
                  </a:moveTo>
                  <a:lnTo>
                    <a:pt x="15" y="42"/>
                  </a:lnTo>
                  <a:lnTo>
                    <a:pt x="0" y="42"/>
                  </a:lnTo>
                  <a:lnTo>
                    <a:pt x="0" y="28"/>
                  </a:lnTo>
                  <a:lnTo>
                    <a:pt x="15" y="28"/>
                  </a:lnTo>
                  <a:close/>
                  <a:moveTo>
                    <a:pt x="15" y="56"/>
                  </a:moveTo>
                  <a:lnTo>
                    <a:pt x="15" y="70"/>
                  </a:lnTo>
                  <a:lnTo>
                    <a:pt x="0" y="70"/>
                  </a:lnTo>
                  <a:lnTo>
                    <a:pt x="0" y="56"/>
                  </a:lnTo>
                  <a:lnTo>
                    <a:pt x="15" y="56"/>
                  </a:lnTo>
                  <a:close/>
                  <a:moveTo>
                    <a:pt x="15" y="84"/>
                  </a:moveTo>
                  <a:lnTo>
                    <a:pt x="15" y="98"/>
                  </a:lnTo>
                  <a:lnTo>
                    <a:pt x="0" y="98"/>
                  </a:lnTo>
                  <a:lnTo>
                    <a:pt x="0" y="84"/>
                  </a:lnTo>
                  <a:lnTo>
                    <a:pt x="15" y="84"/>
                  </a:lnTo>
                  <a:close/>
                  <a:moveTo>
                    <a:pt x="15" y="112"/>
                  </a:moveTo>
                  <a:lnTo>
                    <a:pt x="15" y="126"/>
                  </a:lnTo>
                  <a:lnTo>
                    <a:pt x="0" y="126"/>
                  </a:lnTo>
                  <a:lnTo>
                    <a:pt x="0" y="112"/>
                  </a:lnTo>
                  <a:lnTo>
                    <a:pt x="15" y="112"/>
                  </a:lnTo>
                  <a:close/>
                  <a:moveTo>
                    <a:pt x="15" y="140"/>
                  </a:moveTo>
                  <a:lnTo>
                    <a:pt x="15" y="154"/>
                  </a:lnTo>
                  <a:lnTo>
                    <a:pt x="0" y="154"/>
                  </a:lnTo>
                  <a:lnTo>
                    <a:pt x="0" y="140"/>
                  </a:lnTo>
                  <a:lnTo>
                    <a:pt x="15" y="140"/>
                  </a:lnTo>
                  <a:close/>
                  <a:moveTo>
                    <a:pt x="15" y="167"/>
                  </a:moveTo>
                  <a:lnTo>
                    <a:pt x="15" y="181"/>
                  </a:lnTo>
                  <a:lnTo>
                    <a:pt x="0" y="181"/>
                  </a:lnTo>
                  <a:lnTo>
                    <a:pt x="0" y="167"/>
                  </a:lnTo>
                  <a:lnTo>
                    <a:pt x="15" y="167"/>
                  </a:lnTo>
                  <a:close/>
                  <a:moveTo>
                    <a:pt x="15" y="195"/>
                  </a:moveTo>
                  <a:lnTo>
                    <a:pt x="15" y="209"/>
                  </a:lnTo>
                  <a:lnTo>
                    <a:pt x="0" y="209"/>
                  </a:lnTo>
                  <a:lnTo>
                    <a:pt x="0" y="195"/>
                  </a:lnTo>
                  <a:lnTo>
                    <a:pt x="15" y="195"/>
                  </a:lnTo>
                  <a:close/>
                  <a:moveTo>
                    <a:pt x="15" y="223"/>
                  </a:moveTo>
                  <a:lnTo>
                    <a:pt x="15" y="237"/>
                  </a:lnTo>
                  <a:lnTo>
                    <a:pt x="0" y="237"/>
                  </a:lnTo>
                  <a:lnTo>
                    <a:pt x="0" y="223"/>
                  </a:lnTo>
                  <a:lnTo>
                    <a:pt x="15" y="223"/>
                  </a:lnTo>
                  <a:close/>
                  <a:moveTo>
                    <a:pt x="15" y="251"/>
                  </a:moveTo>
                  <a:lnTo>
                    <a:pt x="15" y="265"/>
                  </a:lnTo>
                  <a:lnTo>
                    <a:pt x="0" y="265"/>
                  </a:lnTo>
                  <a:lnTo>
                    <a:pt x="0" y="251"/>
                  </a:lnTo>
                  <a:lnTo>
                    <a:pt x="15" y="251"/>
                  </a:lnTo>
                  <a:close/>
                  <a:moveTo>
                    <a:pt x="15" y="279"/>
                  </a:moveTo>
                  <a:lnTo>
                    <a:pt x="15" y="293"/>
                  </a:lnTo>
                  <a:lnTo>
                    <a:pt x="0" y="293"/>
                  </a:lnTo>
                  <a:lnTo>
                    <a:pt x="0" y="279"/>
                  </a:lnTo>
                  <a:lnTo>
                    <a:pt x="15" y="279"/>
                  </a:lnTo>
                  <a:close/>
                  <a:moveTo>
                    <a:pt x="15" y="307"/>
                  </a:moveTo>
                  <a:lnTo>
                    <a:pt x="15" y="321"/>
                  </a:lnTo>
                  <a:lnTo>
                    <a:pt x="0" y="321"/>
                  </a:lnTo>
                  <a:lnTo>
                    <a:pt x="0" y="307"/>
                  </a:lnTo>
                  <a:lnTo>
                    <a:pt x="15" y="307"/>
                  </a:lnTo>
                  <a:close/>
                  <a:moveTo>
                    <a:pt x="15" y="334"/>
                  </a:moveTo>
                  <a:lnTo>
                    <a:pt x="15" y="348"/>
                  </a:lnTo>
                  <a:lnTo>
                    <a:pt x="0" y="348"/>
                  </a:lnTo>
                  <a:lnTo>
                    <a:pt x="0" y="334"/>
                  </a:lnTo>
                  <a:lnTo>
                    <a:pt x="15" y="334"/>
                  </a:lnTo>
                  <a:close/>
                  <a:moveTo>
                    <a:pt x="15" y="362"/>
                  </a:moveTo>
                  <a:lnTo>
                    <a:pt x="15" y="376"/>
                  </a:lnTo>
                  <a:lnTo>
                    <a:pt x="0" y="376"/>
                  </a:lnTo>
                  <a:lnTo>
                    <a:pt x="0" y="362"/>
                  </a:lnTo>
                  <a:lnTo>
                    <a:pt x="15" y="362"/>
                  </a:lnTo>
                  <a:close/>
                  <a:moveTo>
                    <a:pt x="15" y="390"/>
                  </a:moveTo>
                  <a:lnTo>
                    <a:pt x="15" y="404"/>
                  </a:lnTo>
                  <a:lnTo>
                    <a:pt x="0" y="404"/>
                  </a:lnTo>
                  <a:lnTo>
                    <a:pt x="0" y="390"/>
                  </a:lnTo>
                  <a:lnTo>
                    <a:pt x="15" y="390"/>
                  </a:lnTo>
                  <a:close/>
                  <a:moveTo>
                    <a:pt x="15" y="418"/>
                  </a:moveTo>
                  <a:lnTo>
                    <a:pt x="15" y="432"/>
                  </a:lnTo>
                  <a:lnTo>
                    <a:pt x="0" y="432"/>
                  </a:lnTo>
                  <a:lnTo>
                    <a:pt x="0" y="418"/>
                  </a:lnTo>
                  <a:lnTo>
                    <a:pt x="15" y="418"/>
                  </a:lnTo>
                  <a:close/>
                  <a:moveTo>
                    <a:pt x="15" y="446"/>
                  </a:moveTo>
                  <a:lnTo>
                    <a:pt x="15" y="460"/>
                  </a:lnTo>
                  <a:lnTo>
                    <a:pt x="0" y="460"/>
                  </a:lnTo>
                  <a:lnTo>
                    <a:pt x="0" y="446"/>
                  </a:lnTo>
                  <a:lnTo>
                    <a:pt x="15" y="446"/>
                  </a:lnTo>
                  <a:close/>
                  <a:moveTo>
                    <a:pt x="15" y="474"/>
                  </a:moveTo>
                  <a:lnTo>
                    <a:pt x="15" y="488"/>
                  </a:lnTo>
                  <a:lnTo>
                    <a:pt x="0" y="488"/>
                  </a:lnTo>
                  <a:lnTo>
                    <a:pt x="0" y="474"/>
                  </a:lnTo>
                  <a:lnTo>
                    <a:pt x="15" y="474"/>
                  </a:lnTo>
                  <a:close/>
                  <a:moveTo>
                    <a:pt x="15" y="501"/>
                  </a:moveTo>
                  <a:lnTo>
                    <a:pt x="15" y="515"/>
                  </a:lnTo>
                  <a:lnTo>
                    <a:pt x="0" y="515"/>
                  </a:lnTo>
                  <a:lnTo>
                    <a:pt x="0" y="501"/>
                  </a:lnTo>
                  <a:lnTo>
                    <a:pt x="15" y="501"/>
                  </a:lnTo>
                  <a:close/>
                  <a:moveTo>
                    <a:pt x="15" y="529"/>
                  </a:moveTo>
                  <a:lnTo>
                    <a:pt x="15" y="543"/>
                  </a:lnTo>
                  <a:lnTo>
                    <a:pt x="0" y="543"/>
                  </a:lnTo>
                  <a:lnTo>
                    <a:pt x="0" y="529"/>
                  </a:lnTo>
                  <a:lnTo>
                    <a:pt x="15" y="529"/>
                  </a:lnTo>
                  <a:close/>
                  <a:moveTo>
                    <a:pt x="15" y="557"/>
                  </a:moveTo>
                  <a:lnTo>
                    <a:pt x="15" y="571"/>
                  </a:lnTo>
                  <a:lnTo>
                    <a:pt x="0" y="571"/>
                  </a:lnTo>
                  <a:lnTo>
                    <a:pt x="0" y="557"/>
                  </a:lnTo>
                  <a:lnTo>
                    <a:pt x="15" y="557"/>
                  </a:lnTo>
                  <a:close/>
                  <a:moveTo>
                    <a:pt x="15" y="585"/>
                  </a:moveTo>
                  <a:lnTo>
                    <a:pt x="15" y="599"/>
                  </a:lnTo>
                  <a:lnTo>
                    <a:pt x="0" y="599"/>
                  </a:lnTo>
                  <a:lnTo>
                    <a:pt x="0" y="585"/>
                  </a:lnTo>
                  <a:lnTo>
                    <a:pt x="15" y="585"/>
                  </a:lnTo>
                  <a:close/>
                  <a:moveTo>
                    <a:pt x="15" y="613"/>
                  </a:moveTo>
                  <a:lnTo>
                    <a:pt x="15" y="627"/>
                  </a:lnTo>
                  <a:lnTo>
                    <a:pt x="0" y="627"/>
                  </a:lnTo>
                  <a:lnTo>
                    <a:pt x="0" y="613"/>
                  </a:lnTo>
                  <a:lnTo>
                    <a:pt x="15" y="613"/>
                  </a:lnTo>
                  <a:close/>
                  <a:moveTo>
                    <a:pt x="15" y="641"/>
                  </a:moveTo>
                  <a:lnTo>
                    <a:pt x="15" y="655"/>
                  </a:lnTo>
                  <a:lnTo>
                    <a:pt x="0" y="655"/>
                  </a:lnTo>
                  <a:lnTo>
                    <a:pt x="0" y="641"/>
                  </a:lnTo>
                  <a:lnTo>
                    <a:pt x="15" y="641"/>
                  </a:lnTo>
                  <a:close/>
                  <a:moveTo>
                    <a:pt x="15" y="668"/>
                  </a:moveTo>
                  <a:lnTo>
                    <a:pt x="15" y="682"/>
                  </a:lnTo>
                  <a:lnTo>
                    <a:pt x="0" y="682"/>
                  </a:lnTo>
                  <a:lnTo>
                    <a:pt x="0" y="668"/>
                  </a:lnTo>
                  <a:lnTo>
                    <a:pt x="15" y="668"/>
                  </a:lnTo>
                  <a:close/>
                  <a:moveTo>
                    <a:pt x="15" y="696"/>
                  </a:moveTo>
                  <a:lnTo>
                    <a:pt x="15" y="710"/>
                  </a:lnTo>
                  <a:lnTo>
                    <a:pt x="0" y="710"/>
                  </a:lnTo>
                  <a:lnTo>
                    <a:pt x="0" y="696"/>
                  </a:lnTo>
                  <a:lnTo>
                    <a:pt x="15" y="696"/>
                  </a:lnTo>
                  <a:close/>
                  <a:moveTo>
                    <a:pt x="15" y="724"/>
                  </a:moveTo>
                  <a:lnTo>
                    <a:pt x="15" y="738"/>
                  </a:lnTo>
                  <a:lnTo>
                    <a:pt x="0" y="738"/>
                  </a:lnTo>
                  <a:lnTo>
                    <a:pt x="0" y="724"/>
                  </a:lnTo>
                  <a:lnTo>
                    <a:pt x="15" y="724"/>
                  </a:lnTo>
                  <a:close/>
                  <a:moveTo>
                    <a:pt x="15" y="752"/>
                  </a:moveTo>
                  <a:lnTo>
                    <a:pt x="15" y="766"/>
                  </a:lnTo>
                  <a:lnTo>
                    <a:pt x="0" y="766"/>
                  </a:lnTo>
                  <a:lnTo>
                    <a:pt x="0" y="752"/>
                  </a:lnTo>
                  <a:lnTo>
                    <a:pt x="15" y="752"/>
                  </a:lnTo>
                  <a:close/>
                  <a:moveTo>
                    <a:pt x="15" y="780"/>
                  </a:moveTo>
                  <a:lnTo>
                    <a:pt x="15" y="793"/>
                  </a:lnTo>
                  <a:lnTo>
                    <a:pt x="0" y="793"/>
                  </a:lnTo>
                  <a:lnTo>
                    <a:pt x="0" y="780"/>
                  </a:lnTo>
                  <a:lnTo>
                    <a:pt x="15" y="780"/>
                  </a:lnTo>
                  <a:close/>
                  <a:moveTo>
                    <a:pt x="15" y="808"/>
                  </a:moveTo>
                  <a:lnTo>
                    <a:pt x="15" y="822"/>
                  </a:lnTo>
                  <a:lnTo>
                    <a:pt x="0" y="822"/>
                  </a:lnTo>
                  <a:lnTo>
                    <a:pt x="0" y="808"/>
                  </a:lnTo>
                  <a:lnTo>
                    <a:pt x="15" y="808"/>
                  </a:lnTo>
                  <a:close/>
                  <a:moveTo>
                    <a:pt x="15" y="835"/>
                  </a:moveTo>
                  <a:lnTo>
                    <a:pt x="15" y="849"/>
                  </a:lnTo>
                  <a:lnTo>
                    <a:pt x="0" y="849"/>
                  </a:lnTo>
                  <a:lnTo>
                    <a:pt x="0" y="835"/>
                  </a:lnTo>
                  <a:lnTo>
                    <a:pt x="15" y="835"/>
                  </a:lnTo>
                  <a:close/>
                  <a:moveTo>
                    <a:pt x="15" y="863"/>
                  </a:moveTo>
                  <a:lnTo>
                    <a:pt x="15" y="877"/>
                  </a:lnTo>
                  <a:lnTo>
                    <a:pt x="0" y="877"/>
                  </a:lnTo>
                  <a:lnTo>
                    <a:pt x="0" y="863"/>
                  </a:lnTo>
                  <a:lnTo>
                    <a:pt x="15" y="863"/>
                  </a:lnTo>
                  <a:close/>
                  <a:moveTo>
                    <a:pt x="15" y="891"/>
                  </a:moveTo>
                  <a:lnTo>
                    <a:pt x="15" y="905"/>
                  </a:lnTo>
                  <a:lnTo>
                    <a:pt x="0" y="905"/>
                  </a:lnTo>
                  <a:lnTo>
                    <a:pt x="0" y="891"/>
                  </a:lnTo>
                  <a:lnTo>
                    <a:pt x="15" y="891"/>
                  </a:lnTo>
                  <a:close/>
                  <a:moveTo>
                    <a:pt x="15" y="919"/>
                  </a:moveTo>
                  <a:lnTo>
                    <a:pt x="15" y="933"/>
                  </a:lnTo>
                  <a:lnTo>
                    <a:pt x="0" y="933"/>
                  </a:lnTo>
                  <a:lnTo>
                    <a:pt x="0" y="919"/>
                  </a:lnTo>
                  <a:lnTo>
                    <a:pt x="15" y="919"/>
                  </a:lnTo>
                  <a:close/>
                  <a:moveTo>
                    <a:pt x="15" y="947"/>
                  </a:moveTo>
                  <a:lnTo>
                    <a:pt x="15" y="960"/>
                  </a:lnTo>
                  <a:lnTo>
                    <a:pt x="0" y="960"/>
                  </a:lnTo>
                  <a:lnTo>
                    <a:pt x="0" y="947"/>
                  </a:lnTo>
                  <a:lnTo>
                    <a:pt x="15" y="947"/>
                  </a:lnTo>
                  <a:close/>
                  <a:moveTo>
                    <a:pt x="15" y="974"/>
                  </a:moveTo>
                  <a:lnTo>
                    <a:pt x="15" y="988"/>
                  </a:lnTo>
                  <a:lnTo>
                    <a:pt x="0" y="988"/>
                  </a:lnTo>
                  <a:lnTo>
                    <a:pt x="0" y="974"/>
                  </a:lnTo>
                  <a:lnTo>
                    <a:pt x="15" y="974"/>
                  </a:lnTo>
                  <a:close/>
                  <a:moveTo>
                    <a:pt x="15" y="1002"/>
                  </a:moveTo>
                  <a:lnTo>
                    <a:pt x="15" y="1016"/>
                  </a:lnTo>
                  <a:lnTo>
                    <a:pt x="0" y="1016"/>
                  </a:lnTo>
                  <a:lnTo>
                    <a:pt x="0" y="1002"/>
                  </a:lnTo>
                  <a:lnTo>
                    <a:pt x="15" y="1002"/>
                  </a:lnTo>
                  <a:close/>
                  <a:moveTo>
                    <a:pt x="15" y="1030"/>
                  </a:moveTo>
                  <a:lnTo>
                    <a:pt x="15" y="1044"/>
                  </a:lnTo>
                  <a:lnTo>
                    <a:pt x="0" y="1044"/>
                  </a:lnTo>
                  <a:lnTo>
                    <a:pt x="0" y="1030"/>
                  </a:lnTo>
                  <a:lnTo>
                    <a:pt x="15" y="1030"/>
                  </a:lnTo>
                  <a:close/>
                  <a:moveTo>
                    <a:pt x="15" y="1058"/>
                  </a:moveTo>
                  <a:lnTo>
                    <a:pt x="15" y="1072"/>
                  </a:lnTo>
                  <a:lnTo>
                    <a:pt x="0" y="1072"/>
                  </a:lnTo>
                  <a:lnTo>
                    <a:pt x="0" y="1058"/>
                  </a:lnTo>
                  <a:lnTo>
                    <a:pt x="15" y="1058"/>
                  </a:lnTo>
                  <a:close/>
                  <a:moveTo>
                    <a:pt x="15" y="1086"/>
                  </a:moveTo>
                  <a:lnTo>
                    <a:pt x="15" y="1100"/>
                  </a:lnTo>
                  <a:lnTo>
                    <a:pt x="0" y="1100"/>
                  </a:lnTo>
                  <a:lnTo>
                    <a:pt x="0" y="1086"/>
                  </a:lnTo>
                  <a:lnTo>
                    <a:pt x="15" y="1086"/>
                  </a:lnTo>
                  <a:close/>
                  <a:moveTo>
                    <a:pt x="15" y="1114"/>
                  </a:moveTo>
                  <a:lnTo>
                    <a:pt x="15" y="1127"/>
                  </a:lnTo>
                  <a:lnTo>
                    <a:pt x="0" y="1127"/>
                  </a:lnTo>
                  <a:lnTo>
                    <a:pt x="0" y="1114"/>
                  </a:lnTo>
                  <a:lnTo>
                    <a:pt x="15" y="1114"/>
                  </a:lnTo>
                  <a:close/>
                  <a:moveTo>
                    <a:pt x="15" y="1141"/>
                  </a:moveTo>
                  <a:lnTo>
                    <a:pt x="15" y="1155"/>
                  </a:lnTo>
                  <a:lnTo>
                    <a:pt x="0" y="1155"/>
                  </a:lnTo>
                  <a:lnTo>
                    <a:pt x="0" y="1141"/>
                  </a:lnTo>
                  <a:lnTo>
                    <a:pt x="15" y="1141"/>
                  </a:lnTo>
                  <a:close/>
                  <a:moveTo>
                    <a:pt x="15" y="1169"/>
                  </a:moveTo>
                  <a:lnTo>
                    <a:pt x="15" y="1183"/>
                  </a:lnTo>
                  <a:lnTo>
                    <a:pt x="0" y="1183"/>
                  </a:lnTo>
                  <a:lnTo>
                    <a:pt x="0" y="1169"/>
                  </a:lnTo>
                  <a:lnTo>
                    <a:pt x="15" y="1169"/>
                  </a:lnTo>
                  <a:close/>
                  <a:moveTo>
                    <a:pt x="15" y="1197"/>
                  </a:moveTo>
                  <a:lnTo>
                    <a:pt x="15" y="1211"/>
                  </a:lnTo>
                  <a:lnTo>
                    <a:pt x="0" y="1211"/>
                  </a:lnTo>
                  <a:lnTo>
                    <a:pt x="0" y="1197"/>
                  </a:lnTo>
                  <a:lnTo>
                    <a:pt x="15" y="1197"/>
                  </a:lnTo>
                  <a:close/>
                  <a:moveTo>
                    <a:pt x="15" y="1225"/>
                  </a:moveTo>
                  <a:lnTo>
                    <a:pt x="15" y="1239"/>
                  </a:lnTo>
                  <a:lnTo>
                    <a:pt x="0" y="1239"/>
                  </a:lnTo>
                  <a:lnTo>
                    <a:pt x="0" y="1225"/>
                  </a:lnTo>
                  <a:lnTo>
                    <a:pt x="15" y="1225"/>
                  </a:lnTo>
                  <a:close/>
                  <a:moveTo>
                    <a:pt x="15" y="1253"/>
                  </a:moveTo>
                  <a:lnTo>
                    <a:pt x="15" y="1267"/>
                  </a:lnTo>
                  <a:lnTo>
                    <a:pt x="0" y="1267"/>
                  </a:lnTo>
                  <a:lnTo>
                    <a:pt x="0" y="1253"/>
                  </a:lnTo>
                  <a:lnTo>
                    <a:pt x="15" y="1253"/>
                  </a:lnTo>
                  <a:close/>
                  <a:moveTo>
                    <a:pt x="15" y="1281"/>
                  </a:moveTo>
                  <a:lnTo>
                    <a:pt x="15" y="1294"/>
                  </a:lnTo>
                  <a:lnTo>
                    <a:pt x="0" y="1294"/>
                  </a:lnTo>
                  <a:lnTo>
                    <a:pt x="0" y="1281"/>
                  </a:lnTo>
                  <a:lnTo>
                    <a:pt x="15" y="1281"/>
                  </a:lnTo>
                  <a:close/>
                  <a:moveTo>
                    <a:pt x="15" y="1308"/>
                  </a:moveTo>
                  <a:lnTo>
                    <a:pt x="15" y="1322"/>
                  </a:lnTo>
                  <a:lnTo>
                    <a:pt x="0" y="1322"/>
                  </a:lnTo>
                  <a:lnTo>
                    <a:pt x="0" y="1308"/>
                  </a:lnTo>
                  <a:lnTo>
                    <a:pt x="15" y="1308"/>
                  </a:lnTo>
                  <a:close/>
                  <a:moveTo>
                    <a:pt x="15" y="1336"/>
                  </a:moveTo>
                  <a:lnTo>
                    <a:pt x="15" y="1350"/>
                  </a:lnTo>
                  <a:lnTo>
                    <a:pt x="0" y="1350"/>
                  </a:lnTo>
                  <a:lnTo>
                    <a:pt x="0" y="1336"/>
                  </a:lnTo>
                  <a:lnTo>
                    <a:pt x="15" y="1336"/>
                  </a:lnTo>
                  <a:close/>
                  <a:moveTo>
                    <a:pt x="15" y="1364"/>
                  </a:moveTo>
                  <a:lnTo>
                    <a:pt x="15" y="1378"/>
                  </a:lnTo>
                  <a:lnTo>
                    <a:pt x="0" y="1378"/>
                  </a:lnTo>
                  <a:lnTo>
                    <a:pt x="0" y="1364"/>
                  </a:lnTo>
                  <a:lnTo>
                    <a:pt x="15" y="1364"/>
                  </a:lnTo>
                  <a:close/>
                  <a:moveTo>
                    <a:pt x="15" y="1392"/>
                  </a:moveTo>
                  <a:lnTo>
                    <a:pt x="15" y="1406"/>
                  </a:lnTo>
                  <a:lnTo>
                    <a:pt x="0" y="1406"/>
                  </a:lnTo>
                  <a:lnTo>
                    <a:pt x="0" y="1392"/>
                  </a:lnTo>
                  <a:lnTo>
                    <a:pt x="15" y="1392"/>
                  </a:lnTo>
                  <a:close/>
                  <a:moveTo>
                    <a:pt x="15" y="1420"/>
                  </a:moveTo>
                  <a:lnTo>
                    <a:pt x="15" y="1434"/>
                  </a:lnTo>
                  <a:lnTo>
                    <a:pt x="0" y="1434"/>
                  </a:lnTo>
                  <a:lnTo>
                    <a:pt x="0" y="1420"/>
                  </a:lnTo>
                  <a:lnTo>
                    <a:pt x="15" y="1420"/>
                  </a:lnTo>
                  <a:close/>
                  <a:moveTo>
                    <a:pt x="15" y="1448"/>
                  </a:moveTo>
                  <a:lnTo>
                    <a:pt x="15" y="1461"/>
                  </a:lnTo>
                  <a:lnTo>
                    <a:pt x="0" y="1461"/>
                  </a:lnTo>
                  <a:lnTo>
                    <a:pt x="0" y="1448"/>
                  </a:lnTo>
                  <a:lnTo>
                    <a:pt x="15" y="1448"/>
                  </a:lnTo>
                  <a:close/>
                  <a:moveTo>
                    <a:pt x="15" y="1475"/>
                  </a:moveTo>
                  <a:lnTo>
                    <a:pt x="15" y="1489"/>
                  </a:lnTo>
                  <a:lnTo>
                    <a:pt x="0" y="1489"/>
                  </a:lnTo>
                  <a:lnTo>
                    <a:pt x="0" y="1475"/>
                  </a:lnTo>
                  <a:lnTo>
                    <a:pt x="15" y="1475"/>
                  </a:lnTo>
                  <a:close/>
                  <a:moveTo>
                    <a:pt x="15" y="1503"/>
                  </a:moveTo>
                  <a:lnTo>
                    <a:pt x="15" y="1517"/>
                  </a:lnTo>
                  <a:lnTo>
                    <a:pt x="0" y="1517"/>
                  </a:lnTo>
                  <a:lnTo>
                    <a:pt x="0" y="1503"/>
                  </a:lnTo>
                  <a:lnTo>
                    <a:pt x="15" y="1503"/>
                  </a:lnTo>
                  <a:close/>
                  <a:moveTo>
                    <a:pt x="15" y="1531"/>
                  </a:moveTo>
                  <a:lnTo>
                    <a:pt x="15" y="1545"/>
                  </a:lnTo>
                  <a:lnTo>
                    <a:pt x="0" y="1545"/>
                  </a:lnTo>
                  <a:lnTo>
                    <a:pt x="0" y="1531"/>
                  </a:lnTo>
                  <a:lnTo>
                    <a:pt x="15" y="1531"/>
                  </a:lnTo>
                  <a:close/>
                  <a:moveTo>
                    <a:pt x="15" y="1559"/>
                  </a:moveTo>
                  <a:lnTo>
                    <a:pt x="15" y="1573"/>
                  </a:lnTo>
                  <a:lnTo>
                    <a:pt x="0" y="1573"/>
                  </a:lnTo>
                  <a:lnTo>
                    <a:pt x="0" y="1559"/>
                  </a:lnTo>
                  <a:lnTo>
                    <a:pt x="15" y="1559"/>
                  </a:lnTo>
                  <a:close/>
                  <a:moveTo>
                    <a:pt x="15" y="1587"/>
                  </a:moveTo>
                  <a:lnTo>
                    <a:pt x="15" y="1601"/>
                  </a:lnTo>
                  <a:lnTo>
                    <a:pt x="0" y="1601"/>
                  </a:lnTo>
                  <a:lnTo>
                    <a:pt x="0" y="1587"/>
                  </a:lnTo>
                  <a:lnTo>
                    <a:pt x="15" y="1587"/>
                  </a:lnTo>
                  <a:close/>
                  <a:moveTo>
                    <a:pt x="15" y="1615"/>
                  </a:moveTo>
                  <a:lnTo>
                    <a:pt x="15" y="1628"/>
                  </a:lnTo>
                  <a:lnTo>
                    <a:pt x="0" y="1628"/>
                  </a:lnTo>
                  <a:lnTo>
                    <a:pt x="0" y="1615"/>
                  </a:lnTo>
                  <a:lnTo>
                    <a:pt x="15" y="1615"/>
                  </a:lnTo>
                  <a:close/>
                  <a:moveTo>
                    <a:pt x="15" y="1642"/>
                  </a:moveTo>
                  <a:lnTo>
                    <a:pt x="15" y="1656"/>
                  </a:lnTo>
                  <a:lnTo>
                    <a:pt x="0" y="1656"/>
                  </a:lnTo>
                  <a:lnTo>
                    <a:pt x="0" y="1642"/>
                  </a:lnTo>
                  <a:lnTo>
                    <a:pt x="15" y="1642"/>
                  </a:lnTo>
                  <a:close/>
                  <a:moveTo>
                    <a:pt x="15" y="1670"/>
                  </a:moveTo>
                  <a:lnTo>
                    <a:pt x="15" y="1684"/>
                  </a:lnTo>
                  <a:lnTo>
                    <a:pt x="0" y="1684"/>
                  </a:lnTo>
                  <a:lnTo>
                    <a:pt x="0" y="1670"/>
                  </a:lnTo>
                  <a:lnTo>
                    <a:pt x="15" y="1670"/>
                  </a:lnTo>
                  <a:close/>
                  <a:moveTo>
                    <a:pt x="15" y="1698"/>
                  </a:moveTo>
                  <a:lnTo>
                    <a:pt x="15" y="1712"/>
                  </a:lnTo>
                  <a:lnTo>
                    <a:pt x="0" y="1712"/>
                  </a:lnTo>
                  <a:lnTo>
                    <a:pt x="0" y="1698"/>
                  </a:lnTo>
                  <a:lnTo>
                    <a:pt x="15" y="1698"/>
                  </a:lnTo>
                  <a:close/>
                  <a:moveTo>
                    <a:pt x="15" y="1726"/>
                  </a:moveTo>
                  <a:lnTo>
                    <a:pt x="15" y="1740"/>
                  </a:lnTo>
                  <a:lnTo>
                    <a:pt x="0" y="1740"/>
                  </a:lnTo>
                  <a:lnTo>
                    <a:pt x="0" y="1726"/>
                  </a:lnTo>
                  <a:lnTo>
                    <a:pt x="15" y="1726"/>
                  </a:lnTo>
                  <a:close/>
                  <a:moveTo>
                    <a:pt x="15" y="1754"/>
                  </a:moveTo>
                  <a:lnTo>
                    <a:pt x="15" y="1768"/>
                  </a:lnTo>
                  <a:lnTo>
                    <a:pt x="0" y="1768"/>
                  </a:lnTo>
                  <a:lnTo>
                    <a:pt x="0" y="1754"/>
                  </a:lnTo>
                  <a:lnTo>
                    <a:pt x="15" y="1754"/>
                  </a:lnTo>
                  <a:close/>
                  <a:moveTo>
                    <a:pt x="15" y="1782"/>
                  </a:moveTo>
                  <a:lnTo>
                    <a:pt x="15" y="1795"/>
                  </a:lnTo>
                  <a:lnTo>
                    <a:pt x="0" y="1795"/>
                  </a:lnTo>
                  <a:lnTo>
                    <a:pt x="0" y="1782"/>
                  </a:lnTo>
                  <a:lnTo>
                    <a:pt x="15" y="1782"/>
                  </a:lnTo>
                  <a:close/>
                  <a:moveTo>
                    <a:pt x="15" y="1809"/>
                  </a:moveTo>
                  <a:lnTo>
                    <a:pt x="15" y="1823"/>
                  </a:lnTo>
                  <a:lnTo>
                    <a:pt x="0" y="1823"/>
                  </a:lnTo>
                  <a:lnTo>
                    <a:pt x="0" y="1809"/>
                  </a:lnTo>
                  <a:lnTo>
                    <a:pt x="15" y="1809"/>
                  </a:lnTo>
                  <a:close/>
                  <a:moveTo>
                    <a:pt x="15" y="1837"/>
                  </a:moveTo>
                  <a:lnTo>
                    <a:pt x="15" y="1851"/>
                  </a:lnTo>
                  <a:lnTo>
                    <a:pt x="0" y="1851"/>
                  </a:lnTo>
                  <a:lnTo>
                    <a:pt x="0" y="1837"/>
                  </a:lnTo>
                  <a:lnTo>
                    <a:pt x="15" y="1837"/>
                  </a:lnTo>
                  <a:close/>
                  <a:moveTo>
                    <a:pt x="15" y="1865"/>
                  </a:moveTo>
                  <a:lnTo>
                    <a:pt x="15" y="1879"/>
                  </a:lnTo>
                  <a:lnTo>
                    <a:pt x="0" y="1879"/>
                  </a:lnTo>
                  <a:lnTo>
                    <a:pt x="0" y="1865"/>
                  </a:lnTo>
                  <a:lnTo>
                    <a:pt x="15" y="1865"/>
                  </a:lnTo>
                  <a:close/>
                  <a:moveTo>
                    <a:pt x="15" y="1893"/>
                  </a:moveTo>
                  <a:lnTo>
                    <a:pt x="15" y="1907"/>
                  </a:lnTo>
                  <a:lnTo>
                    <a:pt x="0" y="1907"/>
                  </a:lnTo>
                  <a:lnTo>
                    <a:pt x="0" y="1893"/>
                  </a:lnTo>
                  <a:lnTo>
                    <a:pt x="15" y="1893"/>
                  </a:lnTo>
                  <a:close/>
                  <a:moveTo>
                    <a:pt x="15" y="1921"/>
                  </a:moveTo>
                  <a:lnTo>
                    <a:pt x="15" y="1935"/>
                  </a:lnTo>
                  <a:lnTo>
                    <a:pt x="0" y="1935"/>
                  </a:lnTo>
                  <a:lnTo>
                    <a:pt x="0" y="1921"/>
                  </a:lnTo>
                  <a:lnTo>
                    <a:pt x="15" y="1921"/>
                  </a:lnTo>
                  <a:close/>
                  <a:moveTo>
                    <a:pt x="15" y="1949"/>
                  </a:moveTo>
                  <a:lnTo>
                    <a:pt x="15" y="1962"/>
                  </a:lnTo>
                  <a:lnTo>
                    <a:pt x="0" y="1962"/>
                  </a:lnTo>
                  <a:lnTo>
                    <a:pt x="0" y="1949"/>
                  </a:lnTo>
                  <a:lnTo>
                    <a:pt x="15" y="1949"/>
                  </a:lnTo>
                  <a:close/>
                  <a:moveTo>
                    <a:pt x="15" y="1976"/>
                  </a:moveTo>
                  <a:lnTo>
                    <a:pt x="15" y="1990"/>
                  </a:lnTo>
                  <a:lnTo>
                    <a:pt x="0" y="1990"/>
                  </a:lnTo>
                  <a:lnTo>
                    <a:pt x="0" y="1976"/>
                  </a:lnTo>
                  <a:lnTo>
                    <a:pt x="15" y="1976"/>
                  </a:lnTo>
                  <a:close/>
                  <a:moveTo>
                    <a:pt x="15" y="2004"/>
                  </a:moveTo>
                  <a:lnTo>
                    <a:pt x="15" y="2018"/>
                  </a:lnTo>
                  <a:lnTo>
                    <a:pt x="0" y="2018"/>
                  </a:lnTo>
                  <a:lnTo>
                    <a:pt x="0" y="2004"/>
                  </a:lnTo>
                  <a:lnTo>
                    <a:pt x="15" y="2004"/>
                  </a:lnTo>
                  <a:close/>
                  <a:moveTo>
                    <a:pt x="15" y="2032"/>
                  </a:moveTo>
                  <a:lnTo>
                    <a:pt x="15" y="2046"/>
                  </a:lnTo>
                  <a:lnTo>
                    <a:pt x="0" y="2046"/>
                  </a:lnTo>
                  <a:lnTo>
                    <a:pt x="0" y="2032"/>
                  </a:lnTo>
                  <a:lnTo>
                    <a:pt x="15" y="2032"/>
                  </a:lnTo>
                  <a:close/>
                  <a:moveTo>
                    <a:pt x="15" y="2060"/>
                  </a:moveTo>
                  <a:lnTo>
                    <a:pt x="15" y="2074"/>
                  </a:lnTo>
                  <a:lnTo>
                    <a:pt x="0" y="2074"/>
                  </a:lnTo>
                  <a:lnTo>
                    <a:pt x="0" y="2060"/>
                  </a:lnTo>
                  <a:lnTo>
                    <a:pt x="15" y="2060"/>
                  </a:lnTo>
                  <a:close/>
                  <a:moveTo>
                    <a:pt x="15" y="2087"/>
                  </a:moveTo>
                  <a:lnTo>
                    <a:pt x="15" y="2102"/>
                  </a:lnTo>
                  <a:lnTo>
                    <a:pt x="0" y="2102"/>
                  </a:lnTo>
                  <a:lnTo>
                    <a:pt x="0" y="2087"/>
                  </a:lnTo>
                  <a:lnTo>
                    <a:pt x="15" y="2087"/>
                  </a:lnTo>
                  <a:close/>
                  <a:moveTo>
                    <a:pt x="15" y="2116"/>
                  </a:moveTo>
                  <a:lnTo>
                    <a:pt x="15" y="2129"/>
                  </a:lnTo>
                  <a:lnTo>
                    <a:pt x="0" y="2129"/>
                  </a:lnTo>
                  <a:lnTo>
                    <a:pt x="0" y="2116"/>
                  </a:lnTo>
                  <a:lnTo>
                    <a:pt x="15" y="2116"/>
                  </a:lnTo>
                  <a:close/>
                  <a:moveTo>
                    <a:pt x="15" y="2143"/>
                  </a:moveTo>
                  <a:lnTo>
                    <a:pt x="15" y="2157"/>
                  </a:lnTo>
                  <a:lnTo>
                    <a:pt x="0" y="2157"/>
                  </a:lnTo>
                  <a:lnTo>
                    <a:pt x="0" y="2143"/>
                  </a:lnTo>
                  <a:lnTo>
                    <a:pt x="15" y="2143"/>
                  </a:lnTo>
                  <a:close/>
                  <a:moveTo>
                    <a:pt x="15" y="2171"/>
                  </a:moveTo>
                  <a:lnTo>
                    <a:pt x="15" y="2185"/>
                  </a:lnTo>
                  <a:lnTo>
                    <a:pt x="0" y="2185"/>
                  </a:lnTo>
                  <a:lnTo>
                    <a:pt x="0" y="2171"/>
                  </a:lnTo>
                  <a:lnTo>
                    <a:pt x="15" y="2171"/>
                  </a:lnTo>
                  <a:close/>
                  <a:moveTo>
                    <a:pt x="15" y="2199"/>
                  </a:moveTo>
                  <a:lnTo>
                    <a:pt x="15" y="2213"/>
                  </a:lnTo>
                  <a:lnTo>
                    <a:pt x="0" y="2213"/>
                  </a:lnTo>
                  <a:lnTo>
                    <a:pt x="0" y="2199"/>
                  </a:lnTo>
                  <a:lnTo>
                    <a:pt x="15" y="2199"/>
                  </a:lnTo>
                  <a:close/>
                  <a:moveTo>
                    <a:pt x="15" y="2227"/>
                  </a:moveTo>
                  <a:lnTo>
                    <a:pt x="15" y="2241"/>
                  </a:lnTo>
                  <a:lnTo>
                    <a:pt x="0" y="2241"/>
                  </a:lnTo>
                  <a:lnTo>
                    <a:pt x="0" y="2227"/>
                  </a:lnTo>
                  <a:lnTo>
                    <a:pt x="15" y="2227"/>
                  </a:lnTo>
                  <a:close/>
                  <a:moveTo>
                    <a:pt x="15" y="2254"/>
                  </a:moveTo>
                  <a:lnTo>
                    <a:pt x="15" y="2268"/>
                  </a:lnTo>
                  <a:lnTo>
                    <a:pt x="0" y="2268"/>
                  </a:lnTo>
                  <a:lnTo>
                    <a:pt x="0" y="2254"/>
                  </a:lnTo>
                  <a:lnTo>
                    <a:pt x="15" y="2254"/>
                  </a:lnTo>
                  <a:close/>
                  <a:moveTo>
                    <a:pt x="15" y="2283"/>
                  </a:moveTo>
                  <a:lnTo>
                    <a:pt x="15" y="2296"/>
                  </a:lnTo>
                  <a:lnTo>
                    <a:pt x="0" y="2296"/>
                  </a:lnTo>
                  <a:lnTo>
                    <a:pt x="0" y="2283"/>
                  </a:lnTo>
                  <a:lnTo>
                    <a:pt x="15" y="2283"/>
                  </a:lnTo>
                  <a:close/>
                  <a:moveTo>
                    <a:pt x="15" y="2310"/>
                  </a:moveTo>
                  <a:lnTo>
                    <a:pt x="15" y="2324"/>
                  </a:lnTo>
                  <a:lnTo>
                    <a:pt x="0" y="2324"/>
                  </a:lnTo>
                  <a:lnTo>
                    <a:pt x="0" y="2310"/>
                  </a:lnTo>
                  <a:lnTo>
                    <a:pt x="15" y="2310"/>
                  </a:lnTo>
                  <a:close/>
                  <a:moveTo>
                    <a:pt x="15" y="2338"/>
                  </a:moveTo>
                  <a:lnTo>
                    <a:pt x="15" y="2352"/>
                  </a:lnTo>
                  <a:lnTo>
                    <a:pt x="0" y="2352"/>
                  </a:lnTo>
                  <a:lnTo>
                    <a:pt x="0" y="2338"/>
                  </a:lnTo>
                  <a:lnTo>
                    <a:pt x="15" y="2338"/>
                  </a:lnTo>
                  <a:close/>
                  <a:moveTo>
                    <a:pt x="15" y="2366"/>
                  </a:moveTo>
                  <a:lnTo>
                    <a:pt x="15" y="2380"/>
                  </a:lnTo>
                  <a:lnTo>
                    <a:pt x="0" y="2380"/>
                  </a:lnTo>
                  <a:lnTo>
                    <a:pt x="0" y="2366"/>
                  </a:lnTo>
                  <a:lnTo>
                    <a:pt x="15" y="2366"/>
                  </a:lnTo>
                  <a:close/>
                  <a:moveTo>
                    <a:pt x="15" y="2394"/>
                  </a:moveTo>
                  <a:lnTo>
                    <a:pt x="15" y="2408"/>
                  </a:lnTo>
                  <a:lnTo>
                    <a:pt x="0" y="2408"/>
                  </a:lnTo>
                  <a:lnTo>
                    <a:pt x="0" y="2394"/>
                  </a:lnTo>
                  <a:lnTo>
                    <a:pt x="15" y="2394"/>
                  </a:lnTo>
                  <a:close/>
                  <a:moveTo>
                    <a:pt x="15" y="2421"/>
                  </a:moveTo>
                  <a:lnTo>
                    <a:pt x="15" y="2435"/>
                  </a:lnTo>
                  <a:lnTo>
                    <a:pt x="0" y="2435"/>
                  </a:lnTo>
                  <a:lnTo>
                    <a:pt x="0" y="2421"/>
                  </a:lnTo>
                  <a:lnTo>
                    <a:pt x="15" y="2421"/>
                  </a:lnTo>
                  <a:close/>
                  <a:moveTo>
                    <a:pt x="15" y="2449"/>
                  </a:moveTo>
                  <a:lnTo>
                    <a:pt x="15" y="2453"/>
                  </a:lnTo>
                  <a:lnTo>
                    <a:pt x="0" y="2453"/>
                  </a:lnTo>
                  <a:lnTo>
                    <a:pt x="0" y="2449"/>
                  </a:lnTo>
                  <a:lnTo>
                    <a:pt x="15" y="2449"/>
                  </a:lnTo>
                  <a:close/>
                </a:path>
              </a:pathLst>
            </a:custGeom>
            <a:solidFill>
              <a:srgbClr val="000000"/>
            </a:solidFill>
            <a:ln w="0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33" name="Freeform 30">
              <a:extLst>
                <a:ext uri="{FF2B5EF4-FFF2-40B4-BE49-F238E27FC236}">
                  <a16:creationId xmlns:a16="http://schemas.microsoft.com/office/drawing/2014/main" id="{AF26D3F0-30D6-4288-87B0-F45A593C587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253377" y="2505080"/>
              <a:ext cx="22225" cy="3894138"/>
            </a:xfrm>
            <a:custGeom>
              <a:avLst/>
              <a:gdLst>
                <a:gd name="T0" fmla="*/ 14 w 14"/>
                <a:gd name="T1" fmla="*/ 42 h 2453"/>
                <a:gd name="T2" fmla="*/ 0 w 14"/>
                <a:gd name="T3" fmla="*/ 56 h 2453"/>
                <a:gd name="T4" fmla="*/ 14 w 14"/>
                <a:gd name="T5" fmla="*/ 112 h 2453"/>
                <a:gd name="T6" fmla="*/ 0 w 14"/>
                <a:gd name="T7" fmla="*/ 154 h 2453"/>
                <a:gd name="T8" fmla="*/ 14 w 14"/>
                <a:gd name="T9" fmla="*/ 167 h 2453"/>
                <a:gd name="T10" fmla="*/ 14 w 14"/>
                <a:gd name="T11" fmla="*/ 237 h 2453"/>
                <a:gd name="T12" fmla="*/ 0 w 14"/>
                <a:gd name="T13" fmla="*/ 251 h 2453"/>
                <a:gd name="T14" fmla="*/ 14 w 14"/>
                <a:gd name="T15" fmla="*/ 307 h 2453"/>
                <a:gd name="T16" fmla="*/ 0 w 14"/>
                <a:gd name="T17" fmla="*/ 348 h 2453"/>
                <a:gd name="T18" fmla="*/ 14 w 14"/>
                <a:gd name="T19" fmla="*/ 362 h 2453"/>
                <a:gd name="T20" fmla="*/ 14 w 14"/>
                <a:gd name="T21" fmla="*/ 432 h 2453"/>
                <a:gd name="T22" fmla="*/ 0 w 14"/>
                <a:gd name="T23" fmla="*/ 446 h 2453"/>
                <a:gd name="T24" fmla="*/ 14 w 14"/>
                <a:gd name="T25" fmla="*/ 501 h 2453"/>
                <a:gd name="T26" fmla="*/ 0 w 14"/>
                <a:gd name="T27" fmla="*/ 543 h 2453"/>
                <a:gd name="T28" fmla="*/ 14 w 14"/>
                <a:gd name="T29" fmla="*/ 557 h 2453"/>
                <a:gd name="T30" fmla="*/ 14 w 14"/>
                <a:gd name="T31" fmla="*/ 627 h 2453"/>
                <a:gd name="T32" fmla="*/ 0 w 14"/>
                <a:gd name="T33" fmla="*/ 641 h 2453"/>
                <a:gd name="T34" fmla="*/ 14 w 14"/>
                <a:gd name="T35" fmla="*/ 696 h 2453"/>
                <a:gd name="T36" fmla="*/ 0 w 14"/>
                <a:gd name="T37" fmla="*/ 738 h 2453"/>
                <a:gd name="T38" fmla="*/ 14 w 14"/>
                <a:gd name="T39" fmla="*/ 752 h 2453"/>
                <a:gd name="T40" fmla="*/ 14 w 14"/>
                <a:gd name="T41" fmla="*/ 822 h 2453"/>
                <a:gd name="T42" fmla="*/ 0 w 14"/>
                <a:gd name="T43" fmla="*/ 835 h 2453"/>
                <a:gd name="T44" fmla="*/ 14 w 14"/>
                <a:gd name="T45" fmla="*/ 891 h 2453"/>
                <a:gd name="T46" fmla="*/ 0 w 14"/>
                <a:gd name="T47" fmla="*/ 933 h 2453"/>
                <a:gd name="T48" fmla="*/ 14 w 14"/>
                <a:gd name="T49" fmla="*/ 947 h 2453"/>
                <a:gd name="T50" fmla="*/ 14 w 14"/>
                <a:gd name="T51" fmla="*/ 1016 h 2453"/>
                <a:gd name="T52" fmla="*/ 0 w 14"/>
                <a:gd name="T53" fmla="*/ 1030 h 2453"/>
                <a:gd name="T54" fmla="*/ 14 w 14"/>
                <a:gd name="T55" fmla="*/ 1086 h 2453"/>
                <a:gd name="T56" fmla="*/ 0 w 14"/>
                <a:gd name="T57" fmla="*/ 1127 h 2453"/>
                <a:gd name="T58" fmla="*/ 14 w 14"/>
                <a:gd name="T59" fmla="*/ 1141 h 2453"/>
                <a:gd name="T60" fmla="*/ 14 w 14"/>
                <a:gd name="T61" fmla="*/ 1211 h 2453"/>
                <a:gd name="T62" fmla="*/ 0 w 14"/>
                <a:gd name="T63" fmla="*/ 1225 h 2453"/>
                <a:gd name="T64" fmla="*/ 14 w 14"/>
                <a:gd name="T65" fmla="*/ 1281 h 2453"/>
                <a:gd name="T66" fmla="*/ 0 w 14"/>
                <a:gd name="T67" fmla="*/ 1322 h 2453"/>
                <a:gd name="T68" fmla="*/ 14 w 14"/>
                <a:gd name="T69" fmla="*/ 1336 h 2453"/>
                <a:gd name="T70" fmla="*/ 14 w 14"/>
                <a:gd name="T71" fmla="*/ 1406 h 2453"/>
                <a:gd name="T72" fmla="*/ 0 w 14"/>
                <a:gd name="T73" fmla="*/ 1420 h 2453"/>
                <a:gd name="T74" fmla="*/ 14 w 14"/>
                <a:gd name="T75" fmla="*/ 1475 h 2453"/>
                <a:gd name="T76" fmla="*/ 0 w 14"/>
                <a:gd name="T77" fmla="*/ 1517 h 2453"/>
                <a:gd name="T78" fmla="*/ 14 w 14"/>
                <a:gd name="T79" fmla="*/ 1531 h 2453"/>
                <a:gd name="T80" fmla="*/ 14 w 14"/>
                <a:gd name="T81" fmla="*/ 1601 h 2453"/>
                <a:gd name="T82" fmla="*/ 0 w 14"/>
                <a:gd name="T83" fmla="*/ 1615 h 2453"/>
                <a:gd name="T84" fmla="*/ 14 w 14"/>
                <a:gd name="T85" fmla="*/ 1670 h 2453"/>
                <a:gd name="T86" fmla="*/ 0 w 14"/>
                <a:gd name="T87" fmla="*/ 1712 h 2453"/>
                <a:gd name="T88" fmla="*/ 14 w 14"/>
                <a:gd name="T89" fmla="*/ 1726 h 2453"/>
                <a:gd name="T90" fmla="*/ 14 w 14"/>
                <a:gd name="T91" fmla="*/ 1795 h 2453"/>
                <a:gd name="T92" fmla="*/ 0 w 14"/>
                <a:gd name="T93" fmla="*/ 1809 h 2453"/>
                <a:gd name="T94" fmla="*/ 14 w 14"/>
                <a:gd name="T95" fmla="*/ 1865 h 2453"/>
                <a:gd name="T96" fmla="*/ 0 w 14"/>
                <a:gd name="T97" fmla="*/ 1907 h 2453"/>
                <a:gd name="T98" fmla="*/ 14 w 14"/>
                <a:gd name="T99" fmla="*/ 1921 h 2453"/>
                <a:gd name="T100" fmla="*/ 14 w 14"/>
                <a:gd name="T101" fmla="*/ 1990 h 2453"/>
                <a:gd name="T102" fmla="*/ 0 w 14"/>
                <a:gd name="T103" fmla="*/ 2004 h 2453"/>
                <a:gd name="T104" fmla="*/ 14 w 14"/>
                <a:gd name="T105" fmla="*/ 2060 h 2453"/>
                <a:gd name="T106" fmla="*/ 0 w 14"/>
                <a:gd name="T107" fmla="*/ 2102 h 2453"/>
                <a:gd name="T108" fmla="*/ 14 w 14"/>
                <a:gd name="T109" fmla="*/ 2116 h 2453"/>
                <a:gd name="T110" fmla="*/ 14 w 14"/>
                <a:gd name="T111" fmla="*/ 2185 h 2453"/>
                <a:gd name="T112" fmla="*/ 0 w 14"/>
                <a:gd name="T113" fmla="*/ 2199 h 2453"/>
                <a:gd name="T114" fmla="*/ 14 w 14"/>
                <a:gd name="T115" fmla="*/ 2254 h 2453"/>
                <a:gd name="T116" fmla="*/ 0 w 14"/>
                <a:gd name="T117" fmla="*/ 2296 h 2453"/>
                <a:gd name="T118" fmla="*/ 14 w 14"/>
                <a:gd name="T119" fmla="*/ 2310 h 2453"/>
                <a:gd name="T120" fmla="*/ 14 w 14"/>
                <a:gd name="T121" fmla="*/ 2380 h 2453"/>
                <a:gd name="T122" fmla="*/ 0 w 14"/>
                <a:gd name="T123" fmla="*/ 2394 h 2453"/>
                <a:gd name="T124" fmla="*/ 14 w 14"/>
                <a:gd name="T125" fmla="*/ 2449 h 24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4" h="2453">
                  <a:moveTo>
                    <a:pt x="14" y="0"/>
                  </a:moveTo>
                  <a:lnTo>
                    <a:pt x="14" y="14"/>
                  </a:lnTo>
                  <a:lnTo>
                    <a:pt x="0" y="14"/>
                  </a:lnTo>
                  <a:lnTo>
                    <a:pt x="0" y="0"/>
                  </a:lnTo>
                  <a:lnTo>
                    <a:pt x="14" y="0"/>
                  </a:lnTo>
                  <a:close/>
                  <a:moveTo>
                    <a:pt x="14" y="28"/>
                  </a:moveTo>
                  <a:lnTo>
                    <a:pt x="14" y="42"/>
                  </a:lnTo>
                  <a:lnTo>
                    <a:pt x="0" y="42"/>
                  </a:lnTo>
                  <a:lnTo>
                    <a:pt x="0" y="28"/>
                  </a:lnTo>
                  <a:lnTo>
                    <a:pt x="14" y="28"/>
                  </a:lnTo>
                  <a:close/>
                  <a:moveTo>
                    <a:pt x="14" y="56"/>
                  </a:moveTo>
                  <a:lnTo>
                    <a:pt x="14" y="70"/>
                  </a:lnTo>
                  <a:lnTo>
                    <a:pt x="0" y="70"/>
                  </a:lnTo>
                  <a:lnTo>
                    <a:pt x="0" y="56"/>
                  </a:lnTo>
                  <a:lnTo>
                    <a:pt x="14" y="56"/>
                  </a:lnTo>
                  <a:close/>
                  <a:moveTo>
                    <a:pt x="14" y="84"/>
                  </a:moveTo>
                  <a:lnTo>
                    <a:pt x="14" y="98"/>
                  </a:lnTo>
                  <a:lnTo>
                    <a:pt x="0" y="98"/>
                  </a:lnTo>
                  <a:lnTo>
                    <a:pt x="0" y="84"/>
                  </a:lnTo>
                  <a:lnTo>
                    <a:pt x="14" y="84"/>
                  </a:lnTo>
                  <a:close/>
                  <a:moveTo>
                    <a:pt x="14" y="112"/>
                  </a:moveTo>
                  <a:lnTo>
                    <a:pt x="14" y="126"/>
                  </a:lnTo>
                  <a:lnTo>
                    <a:pt x="0" y="126"/>
                  </a:lnTo>
                  <a:lnTo>
                    <a:pt x="0" y="112"/>
                  </a:lnTo>
                  <a:lnTo>
                    <a:pt x="14" y="112"/>
                  </a:lnTo>
                  <a:close/>
                  <a:moveTo>
                    <a:pt x="14" y="140"/>
                  </a:moveTo>
                  <a:lnTo>
                    <a:pt x="14" y="154"/>
                  </a:lnTo>
                  <a:lnTo>
                    <a:pt x="0" y="154"/>
                  </a:lnTo>
                  <a:lnTo>
                    <a:pt x="0" y="140"/>
                  </a:lnTo>
                  <a:lnTo>
                    <a:pt x="14" y="140"/>
                  </a:lnTo>
                  <a:close/>
                  <a:moveTo>
                    <a:pt x="14" y="167"/>
                  </a:moveTo>
                  <a:lnTo>
                    <a:pt x="14" y="181"/>
                  </a:lnTo>
                  <a:lnTo>
                    <a:pt x="0" y="181"/>
                  </a:lnTo>
                  <a:lnTo>
                    <a:pt x="0" y="167"/>
                  </a:lnTo>
                  <a:lnTo>
                    <a:pt x="14" y="167"/>
                  </a:lnTo>
                  <a:close/>
                  <a:moveTo>
                    <a:pt x="14" y="195"/>
                  </a:moveTo>
                  <a:lnTo>
                    <a:pt x="14" y="209"/>
                  </a:lnTo>
                  <a:lnTo>
                    <a:pt x="0" y="209"/>
                  </a:lnTo>
                  <a:lnTo>
                    <a:pt x="0" y="195"/>
                  </a:lnTo>
                  <a:lnTo>
                    <a:pt x="14" y="195"/>
                  </a:lnTo>
                  <a:close/>
                  <a:moveTo>
                    <a:pt x="14" y="223"/>
                  </a:moveTo>
                  <a:lnTo>
                    <a:pt x="14" y="237"/>
                  </a:lnTo>
                  <a:lnTo>
                    <a:pt x="0" y="237"/>
                  </a:lnTo>
                  <a:lnTo>
                    <a:pt x="0" y="223"/>
                  </a:lnTo>
                  <a:lnTo>
                    <a:pt x="14" y="223"/>
                  </a:lnTo>
                  <a:close/>
                  <a:moveTo>
                    <a:pt x="14" y="251"/>
                  </a:moveTo>
                  <a:lnTo>
                    <a:pt x="14" y="265"/>
                  </a:lnTo>
                  <a:lnTo>
                    <a:pt x="0" y="265"/>
                  </a:lnTo>
                  <a:lnTo>
                    <a:pt x="0" y="251"/>
                  </a:lnTo>
                  <a:lnTo>
                    <a:pt x="14" y="251"/>
                  </a:lnTo>
                  <a:close/>
                  <a:moveTo>
                    <a:pt x="14" y="279"/>
                  </a:moveTo>
                  <a:lnTo>
                    <a:pt x="14" y="293"/>
                  </a:lnTo>
                  <a:lnTo>
                    <a:pt x="0" y="293"/>
                  </a:lnTo>
                  <a:lnTo>
                    <a:pt x="0" y="279"/>
                  </a:lnTo>
                  <a:lnTo>
                    <a:pt x="14" y="279"/>
                  </a:lnTo>
                  <a:close/>
                  <a:moveTo>
                    <a:pt x="14" y="307"/>
                  </a:moveTo>
                  <a:lnTo>
                    <a:pt x="14" y="321"/>
                  </a:lnTo>
                  <a:lnTo>
                    <a:pt x="0" y="321"/>
                  </a:lnTo>
                  <a:lnTo>
                    <a:pt x="0" y="307"/>
                  </a:lnTo>
                  <a:lnTo>
                    <a:pt x="14" y="307"/>
                  </a:lnTo>
                  <a:close/>
                  <a:moveTo>
                    <a:pt x="14" y="334"/>
                  </a:moveTo>
                  <a:lnTo>
                    <a:pt x="14" y="348"/>
                  </a:lnTo>
                  <a:lnTo>
                    <a:pt x="0" y="348"/>
                  </a:lnTo>
                  <a:lnTo>
                    <a:pt x="0" y="334"/>
                  </a:lnTo>
                  <a:lnTo>
                    <a:pt x="14" y="334"/>
                  </a:lnTo>
                  <a:close/>
                  <a:moveTo>
                    <a:pt x="14" y="362"/>
                  </a:moveTo>
                  <a:lnTo>
                    <a:pt x="14" y="376"/>
                  </a:lnTo>
                  <a:lnTo>
                    <a:pt x="0" y="376"/>
                  </a:lnTo>
                  <a:lnTo>
                    <a:pt x="0" y="362"/>
                  </a:lnTo>
                  <a:lnTo>
                    <a:pt x="14" y="362"/>
                  </a:lnTo>
                  <a:close/>
                  <a:moveTo>
                    <a:pt x="14" y="390"/>
                  </a:moveTo>
                  <a:lnTo>
                    <a:pt x="14" y="404"/>
                  </a:lnTo>
                  <a:lnTo>
                    <a:pt x="0" y="404"/>
                  </a:lnTo>
                  <a:lnTo>
                    <a:pt x="0" y="390"/>
                  </a:lnTo>
                  <a:lnTo>
                    <a:pt x="14" y="390"/>
                  </a:lnTo>
                  <a:close/>
                  <a:moveTo>
                    <a:pt x="14" y="418"/>
                  </a:moveTo>
                  <a:lnTo>
                    <a:pt x="14" y="432"/>
                  </a:lnTo>
                  <a:lnTo>
                    <a:pt x="0" y="432"/>
                  </a:lnTo>
                  <a:lnTo>
                    <a:pt x="0" y="418"/>
                  </a:lnTo>
                  <a:lnTo>
                    <a:pt x="14" y="418"/>
                  </a:lnTo>
                  <a:close/>
                  <a:moveTo>
                    <a:pt x="14" y="446"/>
                  </a:moveTo>
                  <a:lnTo>
                    <a:pt x="14" y="460"/>
                  </a:lnTo>
                  <a:lnTo>
                    <a:pt x="0" y="460"/>
                  </a:lnTo>
                  <a:lnTo>
                    <a:pt x="0" y="446"/>
                  </a:lnTo>
                  <a:lnTo>
                    <a:pt x="14" y="446"/>
                  </a:lnTo>
                  <a:close/>
                  <a:moveTo>
                    <a:pt x="14" y="474"/>
                  </a:moveTo>
                  <a:lnTo>
                    <a:pt x="14" y="488"/>
                  </a:lnTo>
                  <a:lnTo>
                    <a:pt x="0" y="488"/>
                  </a:lnTo>
                  <a:lnTo>
                    <a:pt x="0" y="474"/>
                  </a:lnTo>
                  <a:lnTo>
                    <a:pt x="14" y="474"/>
                  </a:lnTo>
                  <a:close/>
                  <a:moveTo>
                    <a:pt x="14" y="501"/>
                  </a:moveTo>
                  <a:lnTo>
                    <a:pt x="14" y="515"/>
                  </a:lnTo>
                  <a:lnTo>
                    <a:pt x="0" y="515"/>
                  </a:lnTo>
                  <a:lnTo>
                    <a:pt x="0" y="501"/>
                  </a:lnTo>
                  <a:lnTo>
                    <a:pt x="14" y="501"/>
                  </a:lnTo>
                  <a:close/>
                  <a:moveTo>
                    <a:pt x="14" y="529"/>
                  </a:moveTo>
                  <a:lnTo>
                    <a:pt x="14" y="543"/>
                  </a:lnTo>
                  <a:lnTo>
                    <a:pt x="0" y="543"/>
                  </a:lnTo>
                  <a:lnTo>
                    <a:pt x="0" y="529"/>
                  </a:lnTo>
                  <a:lnTo>
                    <a:pt x="14" y="529"/>
                  </a:lnTo>
                  <a:close/>
                  <a:moveTo>
                    <a:pt x="14" y="557"/>
                  </a:moveTo>
                  <a:lnTo>
                    <a:pt x="14" y="571"/>
                  </a:lnTo>
                  <a:lnTo>
                    <a:pt x="0" y="571"/>
                  </a:lnTo>
                  <a:lnTo>
                    <a:pt x="0" y="557"/>
                  </a:lnTo>
                  <a:lnTo>
                    <a:pt x="14" y="557"/>
                  </a:lnTo>
                  <a:close/>
                  <a:moveTo>
                    <a:pt x="14" y="585"/>
                  </a:moveTo>
                  <a:lnTo>
                    <a:pt x="14" y="599"/>
                  </a:lnTo>
                  <a:lnTo>
                    <a:pt x="0" y="599"/>
                  </a:lnTo>
                  <a:lnTo>
                    <a:pt x="0" y="585"/>
                  </a:lnTo>
                  <a:lnTo>
                    <a:pt x="14" y="585"/>
                  </a:lnTo>
                  <a:close/>
                  <a:moveTo>
                    <a:pt x="14" y="613"/>
                  </a:moveTo>
                  <a:lnTo>
                    <a:pt x="14" y="627"/>
                  </a:lnTo>
                  <a:lnTo>
                    <a:pt x="0" y="627"/>
                  </a:lnTo>
                  <a:lnTo>
                    <a:pt x="0" y="613"/>
                  </a:lnTo>
                  <a:lnTo>
                    <a:pt x="14" y="613"/>
                  </a:lnTo>
                  <a:close/>
                  <a:moveTo>
                    <a:pt x="14" y="641"/>
                  </a:moveTo>
                  <a:lnTo>
                    <a:pt x="14" y="655"/>
                  </a:lnTo>
                  <a:lnTo>
                    <a:pt x="0" y="655"/>
                  </a:lnTo>
                  <a:lnTo>
                    <a:pt x="0" y="641"/>
                  </a:lnTo>
                  <a:lnTo>
                    <a:pt x="14" y="641"/>
                  </a:lnTo>
                  <a:close/>
                  <a:moveTo>
                    <a:pt x="14" y="668"/>
                  </a:moveTo>
                  <a:lnTo>
                    <a:pt x="14" y="682"/>
                  </a:lnTo>
                  <a:lnTo>
                    <a:pt x="0" y="682"/>
                  </a:lnTo>
                  <a:lnTo>
                    <a:pt x="0" y="668"/>
                  </a:lnTo>
                  <a:lnTo>
                    <a:pt x="14" y="668"/>
                  </a:lnTo>
                  <a:close/>
                  <a:moveTo>
                    <a:pt x="14" y="696"/>
                  </a:moveTo>
                  <a:lnTo>
                    <a:pt x="14" y="710"/>
                  </a:lnTo>
                  <a:lnTo>
                    <a:pt x="0" y="710"/>
                  </a:lnTo>
                  <a:lnTo>
                    <a:pt x="0" y="696"/>
                  </a:lnTo>
                  <a:lnTo>
                    <a:pt x="14" y="696"/>
                  </a:lnTo>
                  <a:close/>
                  <a:moveTo>
                    <a:pt x="14" y="724"/>
                  </a:moveTo>
                  <a:lnTo>
                    <a:pt x="14" y="738"/>
                  </a:lnTo>
                  <a:lnTo>
                    <a:pt x="0" y="738"/>
                  </a:lnTo>
                  <a:lnTo>
                    <a:pt x="0" y="724"/>
                  </a:lnTo>
                  <a:lnTo>
                    <a:pt x="14" y="724"/>
                  </a:lnTo>
                  <a:close/>
                  <a:moveTo>
                    <a:pt x="14" y="752"/>
                  </a:moveTo>
                  <a:lnTo>
                    <a:pt x="14" y="766"/>
                  </a:lnTo>
                  <a:lnTo>
                    <a:pt x="0" y="766"/>
                  </a:lnTo>
                  <a:lnTo>
                    <a:pt x="0" y="752"/>
                  </a:lnTo>
                  <a:lnTo>
                    <a:pt x="14" y="752"/>
                  </a:lnTo>
                  <a:close/>
                  <a:moveTo>
                    <a:pt x="14" y="780"/>
                  </a:moveTo>
                  <a:lnTo>
                    <a:pt x="14" y="793"/>
                  </a:lnTo>
                  <a:lnTo>
                    <a:pt x="0" y="793"/>
                  </a:lnTo>
                  <a:lnTo>
                    <a:pt x="0" y="780"/>
                  </a:lnTo>
                  <a:lnTo>
                    <a:pt x="14" y="780"/>
                  </a:lnTo>
                  <a:close/>
                  <a:moveTo>
                    <a:pt x="14" y="808"/>
                  </a:moveTo>
                  <a:lnTo>
                    <a:pt x="14" y="822"/>
                  </a:lnTo>
                  <a:lnTo>
                    <a:pt x="0" y="822"/>
                  </a:lnTo>
                  <a:lnTo>
                    <a:pt x="0" y="808"/>
                  </a:lnTo>
                  <a:lnTo>
                    <a:pt x="14" y="808"/>
                  </a:lnTo>
                  <a:close/>
                  <a:moveTo>
                    <a:pt x="14" y="835"/>
                  </a:moveTo>
                  <a:lnTo>
                    <a:pt x="14" y="849"/>
                  </a:lnTo>
                  <a:lnTo>
                    <a:pt x="0" y="849"/>
                  </a:lnTo>
                  <a:lnTo>
                    <a:pt x="0" y="835"/>
                  </a:lnTo>
                  <a:lnTo>
                    <a:pt x="14" y="835"/>
                  </a:lnTo>
                  <a:close/>
                  <a:moveTo>
                    <a:pt x="14" y="863"/>
                  </a:moveTo>
                  <a:lnTo>
                    <a:pt x="14" y="877"/>
                  </a:lnTo>
                  <a:lnTo>
                    <a:pt x="0" y="877"/>
                  </a:lnTo>
                  <a:lnTo>
                    <a:pt x="0" y="863"/>
                  </a:lnTo>
                  <a:lnTo>
                    <a:pt x="14" y="863"/>
                  </a:lnTo>
                  <a:close/>
                  <a:moveTo>
                    <a:pt x="14" y="891"/>
                  </a:moveTo>
                  <a:lnTo>
                    <a:pt x="14" y="905"/>
                  </a:lnTo>
                  <a:lnTo>
                    <a:pt x="0" y="905"/>
                  </a:lnTo>
                  <a:lnTo>
                    <a:pt x="0" y="891"/>
                  </a:lnTo>
                  <a:lnTo>
                    <a:pt x="14" y="891"/>
                  </a:lnTo>
                  <a:close/>
                  <a:moveTo>
                    <a:pt x="14" y="919"/>
                  </a:moveTo>
                  <a:lnTo>
                    <a:pt x="14" y="933"/>
                  </a:lnTo>
                  <a:lnTo>
                    <a:pt x="0" y="933"/>
                  </a:lnTo>
                  <a:lnTo>
                    <a:pt x="0" y="919"/>
                  </a:lnTo>
                  <a:lnTo>
                    <a:pt x="14" y="919"/>
                  </a:lnTo>
                  <a:close/>
                  <a:moveTo>
                    <a:pt x="14" y="947"/>
                  </a:moveTo>
                  <a:lnTo>
                    <a:pt x="14" y="960"/>
                  </a:lnTo>
                  <a:lnTo>
                    <a:pt x="0" y="960"/>
                  </a:lnTo>
                  <a:lnTo>
                    <a:pt x="0" y="947"/>
                  </a:lnTo>
                  <a:lnTo>
                    <a:pt x="14" y="947"/>
                  </a:lnTo>
                  <a:close/>
                  <a:moveTo>
                    <a:pt x="14" y="974"/>
                  </a:moveTo>
                  <a:lnTo>
                    <a:pt x="14" y="988"/>
                  </a:lnTo>
                  <a:lnTo>
                    <a:pt x="0" y="988"/>
                  </a:lnTo>
                  <a:lnTo>
                    <a:pt x="0" y="974"/>
                  </a:lnTo>
                  <a:lnTo>
                    <a:pt x="14" y="974"/>
                  </a:lnTo>
                  <a:close/>
                  <a:moveTo>
                    <a:pt x="14" y="1002"/>
                  </a:moveTo>
                  <a:lnTo>
                    <a:pt x="14" y="1016"/>
                  </a:lnTo>
                  <a:lnTo>
                    <a:pt x="0" y="1016"/>
                  </a:lnTo>
                  <a:lnTo>
                    <a:pt x="0" y="1002"/>
                  </a:lnTo>
                  <a:lnTo>
                    <a:pt x="14" y="1002"/>
                  </a:lnTo>
                  <a:close/>
                  <a:moveTo>
                    <a:pt x="14" y="1030"/>
                  </a:moveTo>
                  <a:lnTo>
                    <a:pt x="14" y="1044"/>
                  </a:lnTo>
                  <a:lnTo>
                    <a:pt x="0" y="1044"/>
                  </a:lnTo>
                  <a:lnTo>
                    <a:pt x="0" y="1030"/>
                  </a:lnTo>
                  <a:lnTo>
                    <a:pt x="14" y="1030"/>
                  </a:lnTo>
                  <a:close/>
                  <a:moveTo>
                    <a:pt x="14" y="1058"/>
                  </a:moveTo>
                  <a:lnTo>
                    <a:pt x="14" y="1072"/>
                  </a:lnTo>
                  <a:lnTo>
                    <a:pt x="0" y="1072"/>
                  </a:lnTo>
                  <a:lnTo>
                    <a:pt x="0" y="1058"/>
                  </a:lnTo>
                  <a:lnTo>
                    <a:pt x="14" y="1058"/>
                  </a:lnTo>
                  <a:close/>
                  <a:moveTo>
                    <a:pt x="14" y="1086"/>
                  </a:moveTo>
                  <a:lnTo>
                    <a:pt x="14" y="1100"/>
                  </a:lnTo>
                  <a:lnTo>
                    <a:pt x="0" y="1100"/>
                  </a:lnTo>
                  <a:lnTo>
                    <a:pt x="0" y="1086"/>
                  </a:lnTo>
                  <a:lnTo>
                    <a:pt x="14" y="1086"/>
                  </a:lnTo>
                  <a:close/>
                  <a:moveTo>
                    <a:pt x="14" y="1114"/>
                  </a:moveTo>
                  <a:lnTo>
                    <a:pt x="14" y="1127"/>
                  </a:lnTo>
                  <a:lnTo>
                    <a:pt x="0" y="1127"/>
                  </a:lnTo>
                  <a:lnTo>
                    <a:pt x="0" y="1114"/>
                  </a:lnTo>
                  <a:lnTo>
                    <a:pt x="14" y="1114"/>
                  </a:lnTo>
                  <a:close/>
                  <a:moveTo>
                    <a:pt x="14" y="1141"/>
                  </a:moveTo>
                  <a:lnTo>
                    <a:pt x="14" y="1155"/>
                  </a:lnTo>
                  <a:lnTo>
                    <a:pt x="0" y="1155"/>
                  </a:lnTo>
                  <a:lnTo>
                    <a:pt x="0" y="1141"/>
                  </a:lnTo>
                  <a:lnTo>
                    <a:pt x="14" y="1141"/>
                  </a:lnTo>
                  <a:close/>
                  <a:moveTo>
                    <a:pt x="14" y="1169"/>
                  </a:moveTo>
                  <a:lnTo>
                    <a:pt x="14" y="1183"/>
                  </a:lnTo>
                  <a:lnTo>
                    <a:pt x="0" y="1183"/>
                  </a:lnTo>
                  <a:lnTo>
                    <a:pt x="0" y="1169"/>
                  </a:lnTo>
                  <a:lnTo>
                    <a:pt x="14" y="1169"/>
                  </a:lnTo>
                  <a:close/>
                  <a:moveTo>
                    <a:pt x="14" y="1197"/>
                  </a:moveTo>
                  <a:lnTo>
                    <a:pt x="14" y="1211"/>
                  </a:lnTo>
                  <a:lnTo>
                    <a:pt x="0" y="1211"/>
                  </a:lnTo>
                  <a:lnTo>
                    <a:pt x="0" y="1197"/>
                  </a:lnTo>
                  <a:lnTo>
                    <a:pt x="14" y="1197"/>
                  </a:lnTo>
                  <a:close/>
                  <a:moveTo>
                    <a:pt x="14" y="1225"/>
                  </a:moveTo>
                  <a:lnTo>
                    <a:pt x="14" y="1239"/>
                  </a:lnTo>
                  <a:lnTo>
                    <a:pt x="0" y="1239"/>
                  </a:lnTo>
                  <a:lnTo>
                    <a:pt x="0" y="1225"/>
                  </a:lnTo>
                  <a:lnTo>
                    <a:pt x="14" y="1225"/>
                  </a:lnTo>
                  <a:close/>
                  <a:moveTo>
                    <a:pt x="14" y="1253"/>
                  </a:moveTo>
                  <a:lnTo>
                    <a:pt x="14" y="1267"/>
                  </a:lnTo>
                  <a:lnTo>
                    <a:pt x="0" y="1267"/>
                  </a:lnTo>
                  <a:lnTo>
                    <a:pt x="0" y="1253"/>
                  </a:lnTo>
                  <a:lnTo>
                    <a:pt x="14" y="1253"/>
                  </a:lnTo>
                  <a:close/>
                  <a:moveTo>
                    <a:pt x="14" y="1281"/>
                  </a:moveTo>
                  <a:lnTo>
                    <a:pt x="14" y="1294"/>
                  </a:lnTo>
                  <a:lnTo>
                    <a:pt x="0" y="1294"/>
                  </a:lnTo>
                  <a:lnTo>
                    <a:pt x="0" y="1281"/>
                  </a:lnTo>
                  <a:lnTo>
                    <a:pt x="14" y="1281"/>
                  </a:lnTo>
                  <a:close/>
                  <a:moveTo>
                    <a:pt x="14" y="1308"/>
                  </a:moveTo>
                  <a:lnTo>
                    <a:pt x="14" y="1322"/>
                  </a:lnTo>
                  <a:lnTo>
                    <a:pt x="0" y="1322"/>
                  </a:lnTo>
                  <a:lnTo>
                    <a:pt x="0" y="1308"/>
                  </a:lnTo>
                  <a:lnTo>
                    <a:pt x="14" y="1308"/>
                  </a:lnTo>
                  <a:close/>
                  <a:moveTo>
                    <a:pt x="14" y="1336"/>
                  </a:moveTo>
                  <a:lnTo>
                    <a:pt x="14" y="1350"/>
                  </a:lnTo>
                  <a:lnTo>
                    <a:pt x="0" y="1350"/>
                  </a:lnTo>
                  <a:lnTo>
                    <a:pt x="0" y="1336"/>
                  </a:lnTo>
                  <a:lnTo>
                    <a:pt x="14" y="1336"/>
                  </a:lnTo>
                  <a:close/>
                  <a:moveTo>
                    <a:pt x="14" y="1364"/>
                  </a:moveTo>
                  <a:lnTo>
                    <a:pt x="14" y="1378"/>
                  </a:lnTo>
                  <a:lnTo>
                    <a:pt x="0" y="1378"/>
                  </a:lnTo>
                  <a:lnTo>
                    <a:pt x="0" y="1364"/>
                  </a:lnTo>
                  <a:lnTo>
                    <a:pt x="14" y="1364"/>
                  </a:lnTo>
                  <a:close/>
                  <a:moveTo>
                    <a:pt x="14" y="1392"/>
                  </a:moveTo>
                  <a:lnTo>
                    <a:pt x="14" y="1406"/>
                  </a:lnTo>
                  <a:lnTo>
                    <a:pt x="0" y="1406"/>
                  </a:lnTo>
                  <a:lnTo>
                    <a:pt x="0" y="1392"/>
                  </a:lnTo>
                  <a:lnTo>
                    <a:pt x="14" y="1392"/>
                  </a:lnTo>
                  <a:close/>
                  <a:moveTo>
                    <a:pt x="14" y="1420"/>
                  </a:moveTo>
                  <a:lnTo>
                    <a:pt x="14" y="1434"/>
                  </a:lnTo>
                  <a:lnTo>
                    <a:pt x="0" y="1434"/>
                  </a:lnTo>
                  <a:lnTo>
                    <a:pt x="0" y="1420"/>
                  </a:lnTo>
                  <a:lnTo>
                    <a:pt x="14" y="1420"/>
                  </a:lnTo>
                  <a:close/>
                  <a:moveTo>
                    <a:pt x="14" y="1448"/>
                  </a:moveTo>
                  <a:lnTo>
                    <a:pt x="14" y="1461"/>
                  </a:lnTo>
                  <a:lnTo>
                    <a:pt x="0" y="1461"/>
                  </a:lnTo>
                  <a:lnTo>
                    <a:pt x="0" y="1448"/>
                  </a:lnTo>
                  <a:lnTo>
                    <a:pt x="14" y="1448"/>
                  </a:lnTo>
                  <a:close/>
                  <a:moveTo>
                    <a:pt x="14" y="1475"/>
                  </a:moveTo>
                  <a:lnTo>
                    <a:pt x="14" y="1489"/>
                  </a:lnTo>
                  <a:lnTo>
                    <a:pt x="0" y="1489"/>
                  </a:lnTo>
                  <a:lnTo>
                    <a:pt x="0" y="1475"/>
                  </a:lnTo>
                  <a:lnTo>
                    <a:pt x="14" y="1475"/>
                  </a:lnTo>
                  <a:close/>
                  <a:moveTo>
                    <a:pt x="14" y="1503"/>
                  </a:moveTo>
                  <a:lnTo>
                    <a:pt x="14" y="1517"/>
                  </a:lnTo>
                  <a:lnTo>
                    <a:pt x="0" y="1517"/>
                  </a:lnTo>
                  <a:lnTo>
                    <a:pt x="0" y="1503"/>
                  </a:lnTo>
                  <a:lnTo>
                    <a:pt x="14" y="1503"/>
                  </a:lnTo>
                  <a:close/>
                  <a:moveTo>
                    <a:pt x="14" y="1531"/>
                  </a:moveTo>
                  <a:lnTo>
                    <a:pt x="14" y="1545"/>
                  </a:lnTo>
                  <a:lnTo>
                    <a:pt x="0" y="1545"/>
                  </a:lnTo>
                  <a:lnTo>
                    <a:pt x="0" y="1531"/>
                  </a:lnTo>
                  <a:lnTo>
                    <a:pt x="14" y="1531"/>
                  </a:lnTo>
                  <a:close/>
                  <a:moveTo>
                    <a:pt x="14" y="1559"/>
                  </a:moveTo>
                  <a:lnTo>
                    <a:pt x="14" y="1573"/>
                  </a:lnTo>
                  <a:lnTo>
                    <a:pt x="0" y="1573"/>
                  </a:lnTo>
                  <a:lnTo>
                    <a:pt x="0" y="1559"/>
                  </a:lnTo>
                  <a:lnTo>
                    <a:pt x="14" y="1559"/>
                  </a:lnTo>
                  <a:close/>
                  <a:moveTo>
                    <a:pt x="14" y="1587"/>
                  </a:moveTo>
                  <a:lnTo>
                    <a:pt x="14" y="1601"/>
                  </a:lnTo>
                  <a:lnTo>
                    <a:pt x="0" y="1601"/>
                  </a:lnTo>
                  <a:lnTo>
                    <a:pt x="0" y="1587"/>
                  </a:lnTo>
                  <a:lnTo>
                    <a:pt x="14" y="1587"/>
                  </a:lnTo>
                  <a:close/>
                  <a:moveTo>
                    <a:pt x="14" y="1615"/>
                  </a:moveTo>
                  <a:lnTo>
                    <a:pt x="14" y="1628"/>
                  </a:lnTo>
                  <a:lnTo>
                    <a:pt x="0" y="1628"/>
                  </a:lnTo>
                  <a:lnTo>
                    <a:pt x="0" y="1615"/>
                  </a:lnTo>
                  <a:lnTo>
                    <a:pt x="14" y="1615"/>
                  </a:lnTo>
                  <a:close/>
                  <a:moveTo>
                    <a:pt x="14" y="1642"/>
                  </a:moveTo>
                  <a:lnTo>
                    <a:pt x="14" y="1656"/>
                  </a:lnTo>
                  <a:lnTo>
                    <a:pt x="0" y="1656"/>
                  </a:lnTo>
                  <a:lnTo>
                    <a:pt x="0" y="1642"/>
                  </a:lnTo>
                  <a:lnTo>
                    <a:pt x="14" y="1642"/>
                  </a:lnTo>
                  <a:close/>
                  <a:moveTo>
                    <a:pt x="14" y="1670"/>
                  </a:moveTo>
                  <a:lnTo>
                    <a:pt x="14" y="1684"/>
                  </a:lnTo>
                  <a:lnTo>
                    <a:pt x="0" y="1684"/>
                  </a:lnTo>
                  <a:lnTo>
                    <a:pt x="0" y="1670"/>
                  </a:lnTo>
                  <a:lnTo>
                    <a:pt x="14" y="1670"/>
                  </a:lnTo>
                  <a:close/>
                  <a:moveTo>
                    <a:pt x="14" y="1698"/>
                  </a:moveTo>
                  <a:lnTo>
                    <a:pt x="14" y="1712"/>
                  </a:lnTo>
                  <a:lnTo>
                    <a:pt x="0" y="1712"/>
                  </a:lnTo>
                  <a:lnTo>
                    <a:pt x="0" y="1698"/>
                  </a:lnTo>
                  <a:lnTo>
                    <a:pt x="14" y="1698"/>
                  </a:lnTo>
                  <a:close/>
                  <a:moveTo>
                    <a:pt x="14" y="1726"/>
                  </a:moveTo>
                  <a:lnTo>
                    <a:pt x="14" y="1740"/>
                  </a:lnTo>
                  <a:lnTo>
                    <a:pt x="0" y="1740"/>
                  </a:lnTo>
                  <a:lnTo>
                    <a:pt x="0" y="1726"/>
                  </a:lnTo>
                  <a:lnTo>
                    <a:pt x="14" y="1726"/>
                  </a:lnTo>
                  <a:close/>
                  <a:moveTo>
                    <a:pt x="14" y="1754"/>
                  </a:moveTo>
                  <a:lnTo>
                    <a:pt x="14" y="1768"/>
                  </a:lnTo>
                  <a:lnTo>
                    <a:pt x="0" y="1768"/>
                  </a:lnTo>
                  <a:lnTo>
                    <a:pt x="0" y="1754"/>
                  </a:lnTo>
                  <a:lnTo>
                    <a:pt x="14" y="1754"/>
                  </a:lnTo>
                  <a:close/>
                  <a:moveTo>
                    <a:pt x="14" y="1782"/>
                  </a:moveTo>
                  <a:lnTo>
                    <a:pt x="14" y="1795"/>
                  </a:lnTo>
                  <a:lnTo>
                    <a:pt x="0" y="1795"/>
                  </a:lnTo>
                  <a:lnTo>
                    <a:pt x="0" y="1782"/>
                  </a:lnTo>
                  <a:lnTo>
                    <a:pt x="14" y="1782"/>
                  </a:lnTo>
                  <a:close/>
                  <a:moveTo>
                    <a:pt x="14" y="1809"/>
                  </a:moveTo>
                  <a:lnTo>
                    <a:pt x="14" y="1823"/>
                  </a:lnTo>
                  <a:lnTo>
                    <a:pt x="0" y="1823"/>
                  </a:lnTo>
                  <a:lnTo>
                    <a:pt x="0" y="1809"/>
                  </a:lnTo>
                  <a:lnTo>
                    <a:pt x="14" y="1809"/>
                  </a:lnTo>
                  <a:close/>
                  <a:moveTo>
                    <a:pt x="14" y="1837"/>
                  </a:moveTo>
                  <a:lnTo>
                    <a:pt x="14" y="1851"/>
                  </a:lnTo>
                  <a:lnTo>
                    <a:pt x="0" y="1851"/>
                  </a:lnTo>
                  <a:lnTo>
                    <a:pt x="0" y="1837"/>
                  </a:lnTo>
                  <a:lnTo>
                    <a:pt x="14" y="1837"/>
                  </a:lnTo>
                  <a:close/>
                  <a:moveTo>
                    <a:pt x="14" y="1865"/>
                  </a:moveTo>
                  <a:lnTo>
                    <a:pt x="14" y="1879"/>
                  </a:lnTo>
                  <a:lnTo>
                    <a:pt x="0" y="1879"/>
                  </a:lnTo>
                  <a:lnTo>
                    <a:pt x="0" y="1865"/>
                  </a:lnTo>
                  <a:lnTo>
                    <a:pt x="14" y="1865"/>
                  </a:lnTo>
                  <a:close/>
                  <a:moveTo>
                    <a:pt x="14" y="1893"/>
                  </a:moveTo>
                  <a:lnTo>
                    <a:pt x="14" y="1907"/>
                  </a:lnTo>
                  <a:lnTo>
                    <a:pt x="0" y="1907"/>
                  </a:lnTo>
                  <a:lnTo>
                    <a:pt x="0" y="1893"/>
                  </a:lnTo>
                  <a:lnTo>
                    <a:pt x="14" y="1893"/>
                  </a:lnTo>
                  <a:close/>
                  <a:moveTo>
                    <a:pt x="14" y="1921"/>
                  </a:moveTo>
                  <a:lnTo>
                    <a:pt x="14" y="1935"/>
                  </a:lnTo>
                  <a:lnTo>
                    <a:pt x="0" y="1935"/>
                  </a:lnTo>
                  <a:lnTo>
                    <a:pt x="0" y="1921"/>
                  </a:lnTo>
                  <a:lnTo>
                    <a:pt x="14" y="1921"/>
                  </a:lnTo>
                  <a:close/>
                  <a:moveTo>
                    <a:pt x="14" y="1949"/>
                  </a:moveTo>
                  <a:lnTo>
                    <a:pt x="14" y="1962"/>
                  </a:lnTo>
                  <a:lnTo>
                    <a:pt x="0" y="1962"/>
                  </a:lnTo>
                  <a:lnTo>
                    <a:pt x="0" y="1949"/>
                  </a:lnTo>
                  <a:lnTo>
                    <a:pt x="14" y="1949"/>
                  </a:lnTo>
                  <a:close/>
                  <a:moveTo>
                    <a:pt x="14" y="1976"/>
                  </a:moveTo>
                  <a:lnTo>
                    <a:pt x="14" y="1990"/>
                  </a:lnTo>
                  <a:lnTo>
                    <a:pt x="0" y="1990"/>
                  </a:lnTo>
                  <a:lnTo>
                    <a:pt x="0" y="1976"/>
                  </a:lnTo>
                  <a:lnTo>
                    <a:pt x="14" y="1976"/>
                  </a:lnTo>
                  <a:close/>
                  <a:moveTo>
                    <a:pt x="14" y="2004"/>
                  </a:moveTo>
                  <a:lnTo>
                    <a:pt x="14" y="2018"/>
                  </a:lnTo>
                  <a:lnTo>
                    <a:pt x="0" y="2018"/>
                  </a:lnTo>
                  <a:lnTo>
                    <a:pt x="0" y="2004"/>
                  </a:lnTo>
                  <a:lnTo>
                    <a:pt x="14" y="2004"/>
                  </a:lnTo>
                  <a:close/>
                  <a:moveTo>
                    <a:pt x="14" y="2032"/>
                  </a:moveTo>
                  <a:lnTo>
                    <a:pt x="14" y="2046"/>
                  </a:lnTo>
                  <a:lnTo>
                    <a:pt x="0" y="2046"/>
                  </a:lnTo>
                  <a:lnTo>
                    <a:pt x="0" y="2032"/>
                  </a:lnTo>
                  <a:lnTo>
                    <a:pt x="14" y="2032"/>
                  </a:lnTo>
                  <a:close/>
                  <a:moveTo>
                    <a:pt x="14" y="2060"/>
                  </a:moveTo>
                  <a:lnTo>
                    <a:pt x="14" y="2074"/>
                  </a:lnTo>
                  <a:lnTo>
                    <a:pt x="0" y="2074"/>
                  </a:lnTo>
                  <a:lnTo>
                    <a:pt x="0" y="2060"/>
                  </a:lnTo>
                  <a:lnTo>
                    <a:pt x="14" y="2060"/>
                  </a:lnTo>
                  <a:close/>
                  <a:moveTo>
                    <a:pt x="14" y="2087"/>
                  </a:moveTo>
                  <a:lnTo>
                    <a:pt x="14" y="2102"/>
                  </a:lnTo>
                  <a:lnTo>
                    <a:pt x="0" y="2102"/>
                  </a:lnTo>
                  <a:lnTo>
                    <a:pt x="0" y="2087"/>
                  </a:lnTo>
                  <a:lnTo>
                    <a:pt x="14" y="2087"/>
                  </a:lnTo>
                  <a:close/>
                  <a:moveTo>
                    <a:pt x="14" y="2116"/>
                  </a:moveTo>
                  <a:lnTo>
                    <a:pt x="14" y="2129"/>
                  </a:lnTo>
                  <a:lnTo>
                    <a:pt x="0" y="2129"/>
                  </a:lnTo>
                  <a:lnTo>
                    <a:pt x="0" y="2116"/>
                  </a:lnTo>
                  <a:lnTo>
                    <a:pt x="14" y="2116"/>
                  </a:lnTo>
                  <a:close/>
                  <a:moveTo>
                    <a:pt x="14" y="2143"/>
                  </a:moveTo>
                  <a:lnTo>
                    <a:pt x="14" y="2157"/>
                  </a:lnTo>
                  <a:lnTo>
                    <a:pt x="0" y="2157"/>
                  </a:lnTo>
                  <a:lnTo>
                    <a:pt x="0" y="2143"/>
                  </a:lnTo>
                  <a:lnTo>
                    <a:pt x="14" y="2143"/>
                  </a:lnTo>
                  <a:close/>
                  <a:moveTo>
                    <a:pt x="14" y="2171"/>
                  </a:moveTo>
                  <a:lnTo>
                    <a:pt x="14" y="2185"/>
                  </a:lnTo>
                  <a:lnTo>
                    <a:pt x="0" y="2185"/>
                  </a:lnTo>
                  <a:lnTo>
                    <a:pt x="0" y="2171"/>
                  </a:lnTo>
                  <a:lnTo>
                    <a:pt x="14" y="2171"/>
                  </a:lnTo>
                  <a:close/>
                  <a:moveTo>
                    <a:pt x="14" y="2199"/>
                  </a:moveTo>
                  <a:lnTo>
                    <a:pt x="14" y="2213"/>
                  </a:lnTo>
                  <a:lnTo>
                    <a:pt x="0" y="2213"/>
                  </a:lnTo>
                  <a:lnTo>
                    <a:pt x="0" y="2199"/>
                  </a:lnTo>
                  <a:lnTo>
                    <a:pt x="14" y="2199"/>
                  </a:lnTo>
                  <a:close/>
                  <a:moveTo>
                    <a:pt x="14" y="2227"/>
                  </a:moveTo>
                  <a:lnTo>
                    <a:pt x="14" y="2241"/>
                  </a:lnTo>
                  <a:lnTo>
                    <a:pt x="0" y="2241"/>
                  </a:lnTo>
                  <a:lnTo>
                    <a:pt x="0" y="2227"/>
                  </a:lnTo>
                  <a:lnTo>
                    <a:pt x="14" y="2227"/>
                  </a:lnTo>
                  <a:close/>
                  <a:moveTo>
                    <a:pt x="14" y="2254"/>
                  </a:moveTo>
                  <a:lnTo>
                    <a:pt x="14" y="2268"/>
                  </a:lnTo>
                  <a:lnTo>
                    <a:pt x="0" y="2268"/>
                  </a:lnTo>
                  <a:lnTo>
                    <a:pt x="0" y="2254"/>
                  </a:lnTo>
                  <a:lnTo>
                    <a:pt x="14" y="2254"/>
                  </a:lnTo>
                  <a:close/>
                  <a:moveTo>
                    <a:pt x="14" y="2283"/>
                  </a:moveTo>
                  <a:lnTo>
                    <a:pt x="14" y="2296"/>
                  </a:lnTo>
                  <a:lnTo>
                    <a:pt x="0" y="2296"/>
                  </a:lnTo>
                  <a:lnTo>
                    <a:pt x="0" y="2283"/>
                  </a:lnTo>
                  <a:lnTo>
                    <a:pt x="14" y="2283"/>
                  </a:lnTo>
                  <a:close/>
                  <a:moveTo>
                    <a:pt x="14" y="2310"/>
                  </a:moveTo>
                  <a:lnTo>
                    <a:pt x="14" y="2324"/>
                  </a:lnTo>
                  <a:lnTo>
                    <a:pt x="0" y="2324"/>
                  </a:lnTo>
                  <a:lnTo>
                    <a:pt x="0" y="2310"/>
                  </a:lnTo>
                  <a:lnTo>
                    <a:pt x="14" y="2310"/>
                  </a:lnTo>
                  <a:close/>
                  <a:moveTo>
                    <a:pt x="14" y="2338"/>
                  </a:moveTo>
                  <a:lnTo>
                    <a:pt x="14" y="2352"/>
                  </a:lnTo>
                  <a:lnTo>
                    <a:pt x="0" y="2352"/>
                  </a:lnTo>
                  <a:lnTo>
                    <a:pt x="0" y="2338"/>
                  </a:lnTo>
                  <a:lnTo>
                    <a:pt x="14" y="2338"/>
                  </a:lnTo>
                  <a:close/>
                  <a:moveTo>
                    <a:pt x="14" y="2366"/>
                  </a:moveTo>
                  <a:lnTo>
                    <a:pt x="14" y="2380"/>
                  </a:lnTo>
                  <a:lnTo>
                    <a:pt x="0" y="2380"/>
                  </a:lnTo>
                  <a:lnTo>
                    <a:pt x="0" y="2366"/>
                  </a:lnTo>
                  <a:lnTo>
                    <a:pt x="14" y="2366"/>
                  </a:lnTo>
                  <a:close/>
                  <a:moveTo>
                    <a:pt x="14" y="2394"/>
                  </a:moveTo>
                  <a:lnTo>
                    <a:pt x="14" y="2408"/>
                  </a:lnTo>
                  <a:lnTo>
                    <a:pt x="0" y="2408"/>
                  </a:lnTo>
                  <a:lnTo>
                    <a:pt x="0" y="2394"/>
                  </a:lnTo>
                  <a:lnTo>
                    <a:pt x="14" y="2394"/>
                  </a:lnTo>
                  <a:close/>
                  <a:moveTo>
                    <a:pt x="14" y="2421"/>
                  </a:moveTo>
                  <a:lnTo>
                    <a:pt x="14" y="2435"/>
                  </a:lnTo>
                  <a:lnTo>
                    <a:pt x="0" y="2435"/>
                  </a:lnTo>
                  <a:lnTo>
                    <a:pt x="0" y="2421"/>
                  </a:lnTo>
                  <a:lnTo>
                    <a:pt x="14" y="2421"/>
                  </a:lnTo>
                  <a:close/>
                  <a:moveTo>
                    <a:pt x="14" y="2449"/>
                  </a:moveTo>
                  <a:lnTo>
                    <a:pt x="14" y="2453"/>
                  </a:lnTo>
                  <a:lnTo>
                    <a:pt x="0" y="2453"/>
                  </a:lnTo>
                  <a:lnTo>
                    <a:pt x="0" y="2449"/>
                  </a:lnTo>
                  <a:lnTo>
                    <a:pt x="14" y="2449"/>
                  </a:lnTo>
                  <a:close/>
                </a:path>
              </a:pathLst>
            </a:custGeom>
            <a:solidFill>
              <a:srgbClr val="000000"/>
            </a:solidFill>
            <a:ln w="0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34" name="Freeform 31">
              <a:extLst>
                <a:ext uri="{FF2B5EF4-FFF2-40B4-BE49-F238E27FC236}">
                  <a16:creationId xmlns:a16="http://schemas.microsoft.com/office/drawing/2014/main" id="{F3D6C65C-FA03-4A46-94E2-A50DA960335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867739" y="2505080"/>
              <a:ext cx="23813" cy="3894138"/>
            </a:xfrm>
            <a:custGeom>
              <a:avLst/>
              <a:gdLst>
                <a:gd name="T0" fmla="*/ 15 w 15"/>
                <a:gd name="T1" fmla="*/ 42 h 2453"/>
                <a:gd name="T2" fmla="*/ 0 w 15"/>
                <a:gd name="T3" fmla="*/ 56 h 2453"/>
                <a:gd name="T4" fmla="*/ 15 w 15"/>
                <a:gd name="T5" fmla="*/ 112 h 2453"/>
                <a:gd name="T6" fmla="*/ 0 w 15"/>
                <a:gd name="T7" fmla="*/ 154 h 2453"/>
                <a:gd name="T8" fmla="*/ 15 w 15"/>
                <a:gd name="T9" fmla="*/ 167 h 2453"/>
                <a:gd name="T10" fmla="*/ 15 w 15"/>
                <a:gd name="T11" fmla="*/ 237 h 2453"/>
                <a:gd name="T12" fmla="*/ 0 w 15"/>
                <a:gd name="T13" fmla="*/ 251 h 2453"/>
                <a:gd name="T14" fmla="*/ 15 w 15"/>
                <a:gd name="T15" fmla="*/ 307 h 2453"/>
                <a:gd name="T16" fmla="*/ 0 w 15"/>
                <a:gd name="T17" fmla="*/ 348 h 2453"/>
                <a:gd name="T18" fmla="*/ 15 w 15"/>
                <a:gd name="T19" fmla="*/ 362 h 2453"/>
                <a:gd name="T20" fmla="*/ 15 w 15"/>
                <a:gd name="T21" fmla="*/ 432 h 2453"/>
                <a:gd name="T22" fmla="*/ 0 w 15"/>
                <a:gd name="T23" fmla="*/ 446 h 2453"/>
                <a:gd name="T24" fmla="*/ 15 w 15"/>
                <a:gd name="T25" fmla="*/ 501 h 2453"/>
                <a:gd name="T26" fmla="*/ 0 w 15"/>
                <a:gd name="T27" fmla="*/ 543 h 2453"/>
                <a:gd name="T28" fmla="*/ 15 w 15"/>
                <a:gd name="T29" fmla="*/ 557 h 2453"/>
                <a:gd name="T30" fmla="*/ 15 w 15"/>
                <a:gd name="T31" fmla="*/ 627 h 2453"/>
                <a:gd name="T32" fmla="*/ 0 w 15"/>
                <a:gd name="T33" fmla="*/ 641 h 2453"/>
                <a:gd name="T34" fmla="*/ 15 w 15"/>
                <a:gd name="T35" fmla="*/ 696 h 2453"/>
                <a:gd name="T36" fmla="*/ 0 w 15"/>
                <a:gd name="T37" fmla="*/ 738 h 2453"/>
                <a:gd name="T38" fmla="*/ 15 w 15"/>
                <a:gd name="T39" fmla="*/ 752 h 2453"/>
                <a:gd name="T40" fmla="*/ 15 w 15"/>
                <a:gd name="T41" fmla="*/ 822 h 2453"/>
                <a:gd name="T42" fmla="*/ 0 w 15"/>
                <a:gd name="T43" fmla="*/ 835 h 2453"/>
                <a:gd name="T44" fmla="*/ 15 w 15"/>
                <a:gd name="T45" fmla="*/ 891 h 2453"/>
                <a:gd name="T46" fmla="*/ 0 w 15"/>
                <a:gd name="T47" fmla="*/ 933 h 2453"/>
                <a:gd name="T48" fmla="*/ 15 w 15"/>
                <a:gd name="T49" fmla="*/ 947 h 2453"/>
                <a:gd name="T50" fmla="*/ 15 w 15"/>
                <a:gd name="T51" fmla="*/ 1016 h 2453"/>
                <a:gd name="T52" fmla="*/ 0 w 15"/>
                <a:gd name="T53" fmla="*/ 1030 h 2453"/>
                <a:gd name="T54" fmla="*/ 15 w 15"/>
                <a:gd name="T55" fmla="*/ 1086 h 2453"/>
                <a:gd name="T56" fmla="*/ 0 w 15"/>
                <a:gd name="T57" fmla="*/ 1127 h 2453"/>
                <a:gd name="T58" fmla="*/ 15 w 15"/>
                <a:gd name="T59" fmla="*/ 1141 h 2453"/>
                <a:gd name="T60" fmla="*/ 15 w 15"/>
                <a:gd name="T61" fmla="*/ 1211 h 2453"/>
                <a:gd name="T62" fmla="*/ 0 w 15"/>
                <a:gd name="T63" fmla="*/ 1225 h 2453"/>
                <a:gd name="T64" fmla="*/ 15 w 15"/>
                <a:gd name="T65" fmla="*/ 1281 h 2453"/>
                <a:gd name="T66" fmla="*/ 0 w 15"/>
                <a:gd name="T67" fmla="*/ 1322 h 2453"/>
                <a:gd name="T68" fmla="*/ 15 w 15"/>
                <a:gd name="T69" fmla="*/ 1336 h 2453"/>
                <a:gd name="T70" fmla="*/ 15 w 15"/>
                <a:gd name="T71" fmla="*/ 1406 h 2453"/>
                <a:gd name="T72" fmla="*/ 0 w 15"/>
                <a:gd name="T73" fmla="*/ 1420 h 2453"/>
                <a:gd name="T74" fmla="*/ 15 w 15"/>
                <a:gd name="T75" fmla="*/ 1475 h 2453"/>
                <a:gd name="T76" fmla="*/ 0 w 15"/>
                <a:gd name="T77" fmla="*/ 1517 h 2453"/>
                <a:gd name="T78" fmla="*/ 15 w 15"/>
                <a:gd name="T79" fmla="*/ 1531 h 2453"/>
                <a:gd name="T80" fmla="*/ 15 w 15"/>
                <a:gd name="T81" fmla="*/ 1601 h 2453"/>
                <a:gd name="T82" fmla="*/ 0 w 15"/>
                <a:gd name="T83" fmla="*/ 1615 h 2453"/>
                <a:gd name="T84" fmla="*/ 15 w 15"/>
                <a:gd name="T85" fmla="*/ 1670 h 2453"/>
                <a:gd name="T86" fmla="*/ 0 w 15"/>
                <a:gd name="T87" fmla="*/ 1712 h 2453"/>
                <a:gd name="T88" fmla="*/ 15 w 15"/>
                <a:gd name="T89" fmla="*/ 1726 h 2453"/>
                <a:gd name="T90" fmla="*/ 15 w 15"/>
                <a:gd name="T91" fmla="*/ 1795 h 2453"/>
                <a:gd name="T92" fmla="*/ 0 w 15"/>
                <a:gd name="T93" fmla="*/ 1809 h 2453"/>
                <a:gd name="T94" fmla="*/ 15 w 15"/>
                <a:gd name="T95" fmla="*/ 1865 h 2453"/>
                <a:gd name="T96" fmla="*/ 0 w 15"/>
                <a:gd name="T97" fmla="*/ 1907 h 2453"/>
                <a:gd name="T98" fmla="*/ 15 w 15"/>
                <a:gd name="T99" fmla="*/ 1921 h 2453"/>
                <a:gd name="T100" fmla="*/ 15 w 15"/>
                <a:gd name="T101" fmla="*/ 1990 h 2453"/>
                <a:gd name="T102" fmla="*/ 0 w 15"/>
                <a:gd name="T103" fmla="*/ 2004 h 2453"/>
                <a:gd name="T104" fmla="*/ 15 w 15"/>
                <a:gd name="T105" fmla="*/ 2060 h 2453"/>
                <a:gd name="T106" fmla="*/ 0 w 15"/>
                <a:gd name="T107" fmla="*/ 2102 h 2453"/>
                <a:gd name="T108" fmla="*/ 15 w 15"/>
                <a:gd name="T109" fmla="*/ 2116 h 2453"/>
                <a:gd name="T110" fmla="*/ 15 w 15"/>
                <a:gd name="T111" fmla="*/ 2185 h 2453"/>
                <a:gd name="T112" fmla="*/ 0 w 15"/>
                <a:gd name="T113" fmla="*/ 2199 h 2453"/>
                <a:gd name="T114" fmla="*/ 15 w 15"/>
                <a:gd name="T115" fmla="*/ 2254 h 2453"/>
                <a:gd name="T116" fmla="*/ 0 w 15"/>
                <a:gd name="T117" fmla="*/ 2296 h 2453"/>
                <a:gd name="T118" fmla="*/ 15 w 15"/>
                <a:gd name="T119" fmla="*/ 2310 h 2453"/>
                <a:gd name="T120" fmla="*/ 15 w 15"/>
                <a:gd name="T121" fmla="*/ 2380 h 2453"/>
                <a:gd name="T122" fmla="*/ 0 w 15"/>
                <a:gd name="T123" fmla="*/ 2394 h 2453"/>
                <a:gd name="T124" fmla="*/ 15 w 15"/>
                <a:gd name="T125" fmla="*/ 2449 h 24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5" h="2453">
                  <a:moveTo>
                    <a:pt x="15" y="0"/>
                  </a:moveTo>
                  <a:lnTo>
                    <a:pt x="15" y="14"/>
                  </a:lnTo>
                  <a:lnTo>
                    <a:pt x="0" y="14"/>
                  </a:lnTo>
                  <a:lnTo>
                    <a:pt x="0" y="0"/>
                  </a:lnTo>
                  <a:lnTo>
                    <a:pt x="15" y="0"/>
                  </a:lnTo>
                  <a:close/>
                  <a:moveTo>
                    <a:pt x="15" y="28"/>
                  </a:moveTo>
                  <a:lnTo>
                    <a:pt x="15" y="42"/>
                  </a:lnTo>
                  <a:lnTo>
                    <a:pt x="0" y="42"/>
                  </a:lnTo>
                  <a:lnTo>
                    <a:pt x="0" y="28"/>
                  </a:lnTo>
                  <a:lnTo>
                    <a:pt x="15" y="28"/>
                  </a:lnTo>
                  <a:close/>
                  <a:moveTo>
                    <a:pt x="15" y="56"/>
                  </a:moveTo>
                  <a:lnTo>
                    <a:pt x="15" y="70"/>
                  </a:lnTo>
                  <a:lnTo>
                    <a:pt x="0" y="70"/>
                  </a:lnTo>
                  <a:lnTo>
                    <a:pt x="0" y="56"/>
                  </a:lnTo>
                  <a:lnTo>
                    <a:pt x="15" y="56"/>
                  </a:lnTo>
                  <a:close/>
                  <a:moveTo>
                    <a:pt x="15" y="84"/>
                  </a:moveTo>
                  <a:lnTo>
                    <a:pt x="15" y="98"/>
                  </a:lnTo>
                  <a:lnTo>
                    <a:pt x="0" y="98"/>
                  </a:lnTo>
                  <a:lnTo>
                    <a:pt x="0" y="84"/>
                  </a:lnTo>
                  <a:lnTo>
                    <a:pt x="15" y="84"/>
                  </a:lnTo>
                  <a:close/>
                  <a:moveTo>
                    <a:pt x="15" y="112"/>
                  </a:moveTo>
                  <a:lnTo>
                    <a:pt x="15" y="126"/>
                  </a:lnTo>
                  <a:lnTo>
                    <a:pt x="0" y="126"/>
                  </a:lnTo>
                  <a:lnTo>
                    <a:pt x="0" y="112"/>
                  </a:lnTo>
                  <a:lnTo>
                    <a:pt x="15" y="112"/>
                  </a:lnTo>
                  <a:close/>
                  <a:moveTo>
                    <a:pt x="15" y="140"/>
                  </a:moveTo>
                  <a:lnTo>
                    <a:pt x="15" y="154"/>
                  </a:lnTo>
                  <a:lnTo>
                    <a:pt x="0" y="154"/>
                  </a:lnTo>
                  <a:lnTo>
                    <a:pt x="0" y="140"/>
                  </a:lnTo>
                  <a:lnTo>
                    <a:pt x="15" y="140"/>
                  </a:lnTo>
                  <a:close/>
                  <a:moveTo>
                    <a:pt x="15" y="167"/>
                  </a:moveTo>
                  <a:lnTo>
                    <a:pt x="15" y="181"/>
                  </a:lnTo>
                  <a:lnTo>
                    <a:pt x="0" y="181"/>
                  </a:lnTo>
                  <a:lnTo>
                    <a:pt x="0" y="167"/>
                  </a:lnTo>
                  <a:lnTo>
                    <a:pt x="15" y="167"/>
                  </a:lnTo>
                  <a:close/>
                  <a:moveTo>
                    <a:pt x="15" y="195"/>
                  </a:moveTo>
                  <a:lnTo>
                    <a:pt x="15" y="209"/>
                  </a:lnTo>
                  <a:lnTo>
                    <a:pt x="0" y="209"/>
                  </a:lnTo>
                  <a:lnTo>
                    <a:pt x="0" y="195"/>
                  </a:lnTo>
                  <a:lnTo>
                    <a:pt x="15" y="195"/>
                  </a:lnTo>
                  <a:close/>
                  <a:moveTo>
                    <a:pt x="15" y="223"/>
                  </a:moveTo>
                  <a:lnTo>
                    <a:pt x="15" y="237"/>
                  </a:lnTo>
                  <a:lnTo>
                    <a:pt x="0" y="237"/>
                  </a:lnTo>
                  <a:lnTo>
                    <a:pt x="0" y="223"/>
                  </a:lnTo>
                  <a:lnTo>
                    <a:pt x="15" y="223"/>
                  </a:lnTo>
                  <a:close/>
                  <a:moveTo>
                    <a:pt x="15" y="251"/>
                  </a:moveTo>
                  <a:lnTo>
                    <a:pt x="15" y="265"/>
                  </a:lnTo>
                  <a:lnTo>
                    <a:pt x="0" y="265"/>
                  </a:lnTo>
                  <a:lnTo>
                    <a:pt x="0" y="251"/>
                  </a:lnTo>
                  <a:lnTo>
                    <a:pt x="15" y="251"/>
                  </a:lnTo>
                  <a:close/>
                  <a:moveTo>
                    <a:pt x="15" y="279"/>
                  </a:moveTo>
                  <a:lnTo>
                    <a:pt x="15" y="293"/>
                  </a:lnTo>
                  <a:lnTo>
                    <a:pt x="0" y="293"/>
                  </a:lnTo>
                  <a:lnTo>
                    <a:pt x="0" y="279"/>
                  </a:lnTo>
                  <a:lnTo>
                    <a:pt x="15" y="279"/>
                  </a:lnTo>
                  <a:close/>
                  <a:moveTo>
                    <a:pt x="15" y="307"/>
                  </a:moveTo>
                  <a:lnTo>
                    <a:pt x="15" y="321"/>
                  </a:lnTo>
                  <a:lnTo>
                    <a:pt x="0" y="321"/>
                  </a:lnTo>
                  <a:lnTo>
                    <a:pt x="0" y="307"/>
                  </a:lnTo>
                  <a:lnTo>
                    <a:pt x="15" y="307"/>
                  </a:lnTo>
                  <a:close/>
                  <a:moveTo>
                    <a:pt x="15" y="334"/>
                  </a:moveTo>
                  <a:lnTo>
                    <a:pt x="15" y="348"/>
                  </a:lnTo>
                  <a:lnTo>
                    <a:pt x="0" y="348"/>
                  </a:lnTo>
                  <a:lnTo>
                    <a:pt x="0" y="334"/>
                  </a:lnTo>
                  <a:lnTo>
                    <a:pt x="15" y="334"/>
                  </a:lnTo>
                  <a:close/>
                  <a:moveTo>
                    <a:pt x="15" y="362"/>
                  </a:moveTo>
                  <a:lnTo>
                    <a:pt x="15" y="376"/>
                  </a:lnTo>
                  <a:lnTo>
                    <a:pt x="0" y="376"/>
                  </a:lnTo>
                  <a:lnTo>
                    <a:pt x="0" y="362"/>
                  </a:lnTo>
                  <a:lnTo>
                    <a:pt x="15" y="362"/>
                  </a:lnTo>
                  <a:close/>
                  <a:moveTo>
                    <a:pt x="15" y="390"/>
                  </a:moveTo>
                  <a:lnTo>
                    <a:pt x="15" y="404"/>
                  </a:lnTo>
                  <a:lnTo>
                    <a:pt x="0" y="404"/>
                  </a:lnTo>
                  <a:lnTo>
                    <a:pt x="0" y="390"/>
                  </a:lnTo>
                  <a:lnTo>
                    <a:pt x="15" y="390"/>
                  </a:lnTo>
                  <a:close/>
                  <a:moveTo>
                    <a:pt x="15" y="418"/>
                  </a:moveTo>
                  <a:lnTo>
                    <a:pt x="15" y="432"/>
                  </a:lnTo>
                  <a:lnTo>
                    <a:pt x="0" y="432"/>
                  </a:lnTo>
                  <a:lnTo>
                    <a:pt x="0" y="418"/>
                  </a:lnTo>
                  <a:lnTo>
                    <a:pt x="15" y="418"/>
                  </a:lnTo>
                  <a:close/>
                  <a:moveTo>
                    <a:pt x="15" y="446"/>
                  </a:moveTo>
                  <a:lnTo>
                    <a:pt x="15" y="460"/>
                  </a:lnTo>
                  <a:lnTo>
                    <a:pt x="0" y="460"/>
                  </a:lnTo>
                  <a:lnTo>
                    <a:pt x="0" y="446"/>
                  </a:lnTo>
                  <a:lnTo>
                    <a:pt x="15" y="446"/>
                  </a:lnTo>
                  <a:close/>
                  <a:moveTo>
                    <a:pt x="15" y="474"/>
                  </a:moveTo>
                  <a:lnTo>
                    <a:pt x="15" y="488"/>
                  </a:lnTo>
                  <a:lnTo>
                    <a:pt x="0" y="488"/>
                  </a:lnTo>
                  <a:lnTo>
                    <a:pt x="0" y="474"/>
                  </a:lnTo>
                  <a:lnTo>
                    <a:pt x="15" y="474"/>
                  </a:lnTo>
                  <a:close/>
                  <a:moveTo>
                    <a:pt x="15" y="501"/>
                  </a:moveTo>
                  <a:lnTo>
                    <a:pt x="15" y="515"/>
                  </a:lnTo>
                  <a:lnTo>
                    <a:pt x="0" y="515"/>
                  </a:lnTo>
                  <a:lnTo>
                    <a:pt x="0" y="501"/>
                  </a:lnTo>
                  <a:lnTo>
                    <a:pt x="15" y="501"/>
                  </a:lnTo>
                  <a:close/>
                  <a:moveTo>
                    <a:pt x="15" y="529"/>
                  </a:moveTo>
                  <a:lnTo>
                    <a:pt x="15" y="543"/>
                  </a:lnTo>
                  <a:lnTo>
                    <a:pt x="0" y="543"/>
                  </a:lnTo>
                  <a:lnTo>
                    <a:pt x="0" y="529"/>
                  </a:lnTo>
                  <a:lnTo>
                    <a:pt x="15" y="529"/>
                  </a:lnTo>
                  <a:close/>
                  <a:moveTo>
                    <a:pt x="15" y="557"/>
                  </a:moveTo>
                  <a:lnTo>
                    <a:pt x="15" y="571"/>
                  </a:lnTo>
                  <a:lnTo>
                    <a:pt x="0" y="571"/>
                  </a:lnTo>
                  <a:lnTo>
                    <a:pt x="0" y="557"/>
                  </a:lnTo>
                  <a:lnTo>
                    <a:pt x="15" y="557"/>
                  </a:lnTo>
                  <a:close/>
                  <a:moveTo>
                    <a:pt x="15" y="585"/>
                  </a:moveTo>
                  <a:lnTo>
                    <a:pt x="15" y="599"/>
                  </a:lnTo>
                  <a:lnTo>
                    <a:pt x="0" y="599"/>
                  </a:lnTo>
                  <a:lnTo>
                    <a:pt x="0" y="585"/>
                  </a:lnTo>
                  <a:lnTo>
                    <a:pt x="15" y="585"/>
                  </a:lnTo>
                  <a:close/>
                  <a:moveTo>
                    <a:pt x="15" y="613"/>
                  </a:moveTo>
                  <a:lnTo>
                    <a:pt x="15" y="627"/>
                  </a:lnTo>
                  <a:lnTo>
                    <a:pt x="0" y="627"/>
                  </a:lnTo>
                  <a:lnTo>
                    <a:pt x="0" y="613"/>
                  </a:lnTo>
                  <a:lnTo>
                    <a:pt x="15" y="613"/>
                  </a:lnTo>
                  <a:close/>
                  <a:moveTo>
                    <a:pt x="15" y="641"/>
                  </a:moveTo>
                  <a:lnTo>
                    <a:pt x="15" y="655"/>
                  </a:lnTo>
                  <a:lnTo>
                    <a:pt x="0" y="655"/>
                  </a:lnTo>
                  <a:lnTo>
                    <a:pt x="0" y="641"/>
                  </a:lnTo>
                  <a:lnTo>
                    <a:pt x="15" y="641"/>
                  </a:lnTo>
                  <a:close/>
                  <a:moveTo>
                    <a:pt x="15" y="668"/>
                  </a:moveTo>
                  <a:lnTo>
                    <a:pt x="15" y="682"/>
                  </a:lnTo>
                  <a:lnTo>
                    <a:pt x="0" y="682"/>
                  </a:lnTo>
                  <a:lnTo>
                    <a:pt x="0" y="668"/>
                  </a:lnTo>
                  <a:lnTo>
                    <a:pt x="15" y="668"/>
                  </a:lnTo>
                  <a:close/>
                  <a:moveTo>
                    <a:pt x="15" y="696"/>
                  </a:moveTo>
                  <a:lnTo>
                    <a:pt x="15" y="710"/>
                  </a:lnTo>
                  <a:lnTo>
                    <a:pt x="0" y="710"/>
                  </a:lnTo>
                  <a:lnTo>
                    <a:pt x="0" y="696"/>
                  </a:lnTo>
                  <a:lnTo>
                    <a:pt x="15" y="696"/>
                  </a:lnTo>
                  <a:close/>
                  <a:moveTo>
                    <a:pt x="15" y="724"/>
                  </a:moveTo>
                  <a:lnTo>
                    <a:pt x="15" y="738"/>
                  </a:lnTo>
                  <a:lnTo>
                    <a:pt x="0" y="738"/>
                  </a:lnTo>
                  <a:lnTo>
                    <a:pt x="0" y="724"/>
                  </a:lnTo>
                  <a:lnTo>
                    <a:pt x="15" y="724"/>
                  </a:lnTo>
                  <a:close/>
                  <a:moveTo>
                    <a:pt x="15" y="752"/>
                  </a:moveTo>
                  <a:lnTo>
                    <a:pt x="15" y="766"/>
                  </a:lnTo>
                  <a:lnTo>
                    <a:pt x="0" y="766"/>
                  </a:lnTo>
                  <a:lnTo>
                    <a:pt x="0" y="752"/>
                  </a:lnTo>
                  <a:lnTo>
                    <a:pt x="15" y="752"/>
                  </a:lnTo>
                  <a:close/>
                  <a:moveTo>
                    <a:pt x="15" y="780"/>
                  </a:moveTo>
                  <a:lnTo>
                    <a:pt x="15" y="793"/>
                  </a:lnTo>
                  <a:lnTo>
                    <a:pt x="0" y="793"/>
                  </a:lnTo>
                  <a:lnTo>
                    <a:pt x="0" y="780"/>
                  </a:lnTo>
                  <a:lnTo>
                    <a:pt x="15" y="780"/>
                  </a:lnTo>
                  <a:close/>
                  <a:moveTo>
                    <a:pt x="15" y="808"/>
                  </a:moveTo>
                  <a:lnTo>
                    <a:pt x="15" y="822"/>
                  </a:lnTo>
                  <a:lnTo>
                    <a:pt x="0" y="822"/>
                  </a:lnTo>
                  <a:lnTo>
                    <a:pt x="0" y="808"/>
                  </a:lnTo>
                  <a:lnTo>
                    <a:pt x="15" y="808"/>
                  </a:lnTo>
                  <a:close/>
                  <a:moveTo>
                    <a:pt x="15" y="835"/>
                  </a:moveTo>
                  <a:lnTo>
                    <a:pt x="15" y="849"/>
                  </a:lnTo>
                  <a:lnTo>
                    <a:pt x="0" y="849"/>
                  </a:lnTo>
                  <a:lnTo>
                    <a:pt x="0" y="835"/>
                  </a:lnTo>
                  <a:lnTo>
                    <a:pt x="15" y="835"/>
                  </a:lnTo>
                  <a:close/>
                  <a:moveTo>
                    <a:pt x="15" y="863"/>
                  </a:moveTo>
                  <a:lnTo>
                    <a:pt x="15" y="877"/>
                  </a:lnTo>
                  <a:lnTo>
                    <a:pt x="0" y="877"/>
                  </a:lnTo>
                  <a:lnTo>
                    <a:pt x="0" y="863"/>
                  </a:lnTo>
                  <a:lnTo>
                    <a:pt x="15" y="863"/>
                  </a:lnTo>
                  <a:close/>
                  <a:moveTo>
                    <a:pt x="15" y="891"/>
                  </a:moveTo>
                  <a:lnTo>
                    <a:pt x="15" y="905"/>
                  </a:lnTo>
                  <a:lnTo>
                    <a:pt x="0" y="905"/>
                  </a:lnTo>
                  <a:lnTo>
                    <a:pt x="0" y="891"/>
                  </a:lnTo>
                  <a:lnTo>
                    <a:pt x="15" y="891"/>
                  </a:lnTo>
                  <a:close/>
                  <a:moveTo>
                    <a:pt x="15" y="919"/>
                  </a:moveTo>
                  <a:lnTo>
                    <a:pt x="15" y="933"/>
                  </a:lnTo>
                  <a:lnTo>
                    <a:pt x="0" y="933"/>
                  </a:lnTo>
                  <a:lnTo>
                    <a:pt x="0" y="919"/>
                  </a:lnTo>
                  <a:lnTo>
                    <a:pt x="15" y="919"/>
                  </a:lnTo>
                  <a:close/>
                  <a:moveTo>
                    <a:pt x="15" y="947"/>
                  </a:moveTo>
                  <a:lnTo>
                    <a:pt x="15" y="960"/>
                  </a:lnTo>
                  <a:lnTo>
                    <a:pt x="0" y="960"/>
                  </a:lnTo>
                  <a:lnTo>
                    <a:pt x="0" y="947"/>
                  </a:lnTo>
                  <a:lnTo>
                    <a:pt x="15" y="947"/>
                  </a:lnTo>
                  <a:close/>
                  <a:moveTo>
                    <a:pt x="15" y="974"/>
                  </a:moveTo>
                  <a:lnTo>
                    <a:pt x="15" y="988"/>
                  </a:lnTo>
                  <a:lnTo>
                    <a:pt x="0" y="988"/>
                  </a:lnTo>
                  <a:lnTo>
                    <a:pt x="0" y="974"/>
                  </a:lnTo>
                  <a:lnTo>
                    <a:pt x="15" y="974"/>
                  </a:lnTo>
                  <a:close/>
                  <a:moveTo>
                    <a:pt x="15" y="1002"/>
                  </a:moveTo>
                  <a:lnTo>
                    <a:pt x="15" y="1016"/>
                  </a:lnTo>
                  <a:lnTo>
                    <a:pt x="0" y="1016"/>
                  </a:lnTo>
                  <a:lnTo>
                    <a:pt x="0" y="1002"/>
                  </a:lnTo>
                  <a:lnTo>
                    <a:pt x="15" y="1002"/>
                  </a:lnTo>
                  <a:close/>
                  <a:moveTo>
                    <a:pt x="15" y="1030"/>
                  </a:moveTo>
                  <a:lnTo>
                    <a:pt x="15" y="1044"/>
                  </a:lnTo>
                  <a:lnTo>
                    <a:pt x="0" y="1044"/>
                  </a:lnTo>
                  <a:lnTo>
                    <a:pt x="0" y="1030"/>
                  </a:lnTo>
                  <a:lnTo>
                    <a:pt x="15" y="1030"/>
                  </a:lnTo>
                  <a:close/>
                  <a:moveTo>
                    <a:pt x="15" y="1058"/>
                  </a:moveTo>
                  <a:lnTo>
                    <a:pt x="15" y="1072"/>
                  </a:lnTo>
                  <a:lnTo>
                    <a:pt x="0" y="1072"/>
                  </a:lnTo>
                  <a:lnTo>
                    <a:pt x="0" y="1058"/>
                  </a:lnTo>
                  <a:lnTo>
                    <a:pt x="15" y="1058"/>
                  </a:lnTo>
                  <a:close/>
                  <a:moveTo>
                    <a:pt x="15" y="1086"/>
                  </a:moveTo>
                  <a:lnTo>
                    <a:pt x="15" y="1100"/>
                  </a:lnTo>
                  <a:lnTo>
                    <a:pt x="0" y="1100"/>
                  </a:lnTo>
                  <a:lnTo>
                    <a:pt x="0" y="1086"/>
                  </a:lnTo>
                  <a:lnTo>
                    <a:pt x="15" y="1086"/>
                  </a:lnTo>
                  <a:close/>
                  <a:moveTo>
                    <a:pt x="15" y="1114"/>
                  </a:moveTo>
                  <a:lnTo>
                    <a:pt x="15" y="1127"/>
                  </a:lnTo>
                  <a:lnTo>
                    <a:pt x="0" y="1127"/>
                  </a:lnTo>
                  <a:lnTo>
                    <a:pt x="0" y="1114"/>
                  </a:lnTo>
                  <a:lnTo>
                    <a:pt x="15" y="1114"/>
                  </a:lnTo>
                  <a:close/>
                  <a:moveTo>
                    <a:pt x="15" y="1141"/>
                  </a:moveTo>
                  <a:lnTo>
                    <a:pt x="15" y="1155"/>
                  </a:lnTo>
                  <a:lnTo>
                    <a:pt x="0" y="1155"/>
                  </a:lnTo>
                  <a:lnTo>
                    <a:pt x="0" y="1141"/>
                  </a:lnTo>
                  <a:lnTo>
                    <a:pt x="15" y="1141"/>
                  </a:lnTo>
                  <a:close/>
                  <a:moveTo>
                    <a:pt x="15" y="1169"/>
                  </a:moveTo>
                  <a:lnTo>
                    <a:pt x="15" y="1183"/>
                  </a:lnTo>
                  <a:lnTo>
                    <a:pt x="0" y="1183"/>
                  </a:lnTo>
                  <a:lnTo>
                    <a:pt x="0" y="1169"/>
                  </a:lnTo>
                  <a:lnTo>
                    <a:pt x="15" y="1169"/>
                  </a:lnTo>
                  <a:close/>
                  <a:moveTo>
                    <a:pt x="15" y="1197"/>
                  </a:moveTo>
                  <a:lnTo>
                    <a:pt x="15" y="1211"/>
                  </a:lnTo>
                  <a:lnTo>
                    <a:pt x="0" y="1211"/>
                  </a:lnTo>
                  <a:lnTo>
                    <a:pt x="0" y="1197"/>
                  </a:lnTo>
                  <a:lnTo>
                    <a:pt x="15" y="1197"/>
                  </a:lnTo>
                  <a:close/>
                  <a:moveTo>
                    <a:pt x="15" y="1225"/>
                  </a:moveTo>
                  <a:lnTo>
                    <a:pt x="15" y="1239"/>
                  </a:lnTo>
                  <a:lnTo>
                    <a:pt x="0" y="1239"/>
                  </a:lnTo>
                  <a:lnTo>
                    <a:pt x="0" y="1225"/>
                  </a:lnTo>
                  <a:lnTo>
                    <a:pt x="15" y="1225"/>
                  </a:lnTo>
                  <a:close/>
                  <a:moveTo>
                    <a:pt x="15" y="1253"/>
                  </a:moveTo>
                  <a:lnTo>
                    <a:pt x="15" y="1267"/>
                  </a:lnTo>
                  <a:lnTo>
                    <a:pt x="0" y="1267"/>
                  </a:lnTo>
                  <a:lnTo>
                    <a:pt x="0" y="1253"/>
                  </a:lnTo>
                  <a:lnTo>
                    <a:pt x="15" y="1253"/>
                  </a:lnTo>
                  <a:close/>
                  <a:moveTo>
                    <a:pt x="15" y="1281"/>
                  </a:moveTo>
                  <a:lnTo>
                    <a:pt x="15" y="1294"/>
                  </a:lnTo>
                  <a:lnTo>
                    <a:pt x="0" y="1294"/>
                  </a:lnTo>
                  <a:lnTo>
                    <a:pt x="0" y="1281"/>
                  </a:lnTo>
                  <a:lnTo>
                    <a:pt x="15" y="1281"/>
                  </a:lnTo>
                  <a:close/>
                  <a:moveTo>
                    <a:pt x="15" y="1308"/>
                  </a:moveTo>
                  <a:lnTo>
                    <a:pt x="15" y="1322"/>
                  </a:lnTo>
                  <a:lnTo>
                    <a:pt x="0" y="1322"/>
                  </a:lnTo>
                  <a:lnTo>
                    <a:pt x="0" y="1308"/>
                  </a:lnTo>
                  <a:lnTo>
                    <a:pt x="15" y="1308"/>
                  </a:lnTo>
                  <a:close/>
                  <a:moveTo>
                    <a:pt x="15" y="1336"/>
                  </a:moveTo>
                  <a:lnTo>
                    <a:pt x="15" y="1350"/>
                  </a:lnTo>
                  <a:lnTo>
                    <a:pt x="0" y="1350"/>
                  </a:lnTo>
                  <a:lnTo>
                    <a:pt x="0" y="1336"/>
                  </a:lnTo>
                  <a:lnTo>
                    <a:pt x="15" y="1336"/>
                  </a:lnTo>
                  <a:close/>
                  <a:moveTo>
                    <a:pt x="15" y="1364"/>
                  </a:moveTo>
                  <a:lnTo>
                    <a:pt x="15" y="1378"/>
                  </a:lnTo>
                  <a:lnTo>
                    <a:pt x="0" y="1378"/>
                  </a:lnTo>
                  <a:lnTo>
                    <a:pt x="0" y="1364"/>
                  </a:lnTo>
                  <a:lnTo>
                    <a:pt x="15" y="1364"/>
                  </a:lnTo>
                  <a:close/>
                  <a:moveTo>
                    <a:pt x="15" y="1392"/>
                  </a:moveTo>
                  <a:lnTo>
                    <a:pt x="15" y="1406"/>
                  </a:lnTo>
                  <a:lnTo>
                    <a:pt x="0" y="1406"/>
                  </a:lnTo>
                  <a:lnTo>
                    <a:pt x="0" y="1392"/>
                  </a:lnTo>
                  <a:lnTo>
                    <a:pt x="15" y="1392"/>
                  </a:lnTo>
                  <a:close/>
                  <a:moveTo>
                    <a:pt x="15" y="1420"/>
                  </a:moveTo>
                  <a:lnTo>
                    <a:pt x="15" y="1434"/>
                  </a:lnTo>
                  <a:lnTo>
                    <a:pt x="0" y="1434"/>
                  </a:lnTo>
                  <a:lnTo>
                    <a:pt x="0" y="1420"/>
                  </a:lnTo>
                  <a:lnTo>
                    <a:pt x="15" y="1420"/>
                  </a:lnTo>
                  <a:close/>
                  <a:moveTo>
                    <a:pt x="15" y="1448"/>
                  </a:moveTo>
                  <a:lnTo>
                    <a:pt x="15" y="1461"/>
                  </a:lnTo>
                  <a:lnTo>
                    <a:pt x="0" y="1461"/>
                  </a:lnTo>
                  <a:lnTo>
                    <a:pt x="0" y="1448"/>
                  </a:lnTo>
                  <a:lnTo>
                    <a:pt x="15" y="1448"/>
                  </a:lnTo>
                  <a:close/>
                  <a:moveTo>
                    <a:pt x="15" y="1475"/>
                  </a:moveTo>
                  <a:lnTo>
                    <a:pt x="15" y="1489"/>
                  </a:lnTo>
                  <a:lnTo>
                    <a:pt x="0" y="1489"/>
                  </a:lnTo>
                  <a:lnTo>
                    <a:pt x="0" y="1475"/>
                  </a:lnTo>
                  <a:lnTo>
                    <a:pt x="15" y="1475"/>
                  </a:lnTo>
                  <a:close/>
                  <a:moveTo>
                    <a:pt x="15" y="1503"/>
                  </a:moveTo>
                  <a:lnTo>
                    <a:pt x="15" y="1517"/>
                  </a:lnTo>
                  <a:lnTo>
                    <a:pt x="0" y="1517"/>
                  </a:lnTo>
                  <a:lnTo>
                    <a:pt x="0" y="1503"/>
                  </a:lnTo>
                  <a:lnTo>
                    <a:pt x="15" y="1503"/>
                  </a:lnTo>
                  <a:close/>
                  <a:moveTo>
                    <a:pt x="15" y="1531"/>
                  </a:moveTo>
                  <a:lnTo>
                    <a:pt x="15" y="1545"/>
                  </a:lnTo>
                  <a:lnTo>
                    <a:pt x="0" y="1545"/>
                  </a:lnTo>
                  <a:lnTo>
                    <a:pt x="0" y="1531"/>
                  </a:lnTo>
                  <a:lnTo>
                    <a:pt x="15" y="1531"/>
                  </a:lnTo>
                  <a:close/>
                  <a:moveTo>
                    <a:pt x="15" y="1559"/>
                  </a:moveTo>
                  <a:lnTo>
                    <a:pt x="15" y="1573"/>
                  </a:lnTo>
                  <a:lnTo>
                    <a:pt x="0" y="1573"/>
                  </a:lnTo>
                  <a:lnTo>
                    <a:pt x="0" y="1559"/>
                  </a:lnTo>
                  <a:lnTo>
                    <a:pt x="15" y="1559"/>
                  </a:lnTo>
                  <a:close/>
                  <a:moveTo>
                    <a:pt x="15" y="1587"/>
                  </a:moveTo>
                  <a:lnTo>
                    <a:pt x="15" y="1601"/>
                  </a:lnTo>
                  <a:lnTo>
                    <a:pt x="0" y="1601"/>
                  </a:lnTo>
                  <a:lnTo>
                    <a:pt x="0" y="1587"/>
                  </a:lnTo>
                  <a:lnTo>
                    <a:pt x="15" y="1587"/>
                  </a:lnTo>
                  <a:close/>
                  <a:moveTo>
                    <a:pt x="15" y="1615"/>
                  </a:moveTo>
                  <a:lnTo>
                    <a:pt x="15" y="1628"/>
                  </a:lnTo>
                  <a:lnTo>
                    <a:pt x="0" y="1628"/>
                  </a:lnTo>
                  <a:lnTo>
                    <a:pt x="0" y="1615"/>
                  </a:lnTo>
                  <a:lnTo>
                    <a:pt x="15" y="1615"/>
                  </a:lnTo>
                  <a:close/>
                  <a:moveTo>
                    <a:pt x="15" y="1642"/>
                  </a:moveTo>
                  <a:lnTo>
                    <a:pt x="15" y="1656"/>
                  </a:lnTo>
                  <a:lnTo>
                    <a:pt x="0" y="1656"/>
                  </a:lnTo>
                  <a:lnTo>
                    <a:pt x="0" y="1642"/>
                  </a:lnTo>
                  <a:lnTo>
                    <a:pt x="15" y="1642"/>
                  </a:lnTo>
                  <a:close/>
                  <a:moveTo>
                    <a:pt x="15" y="1670"/>
                  </a:moveTo>
                  <a:lnTo>
                    <a:pt x="15" y="1684"/>
                  </a:lnTo>
                  <a:lnTo>
                    <a:pt x="0" y="1684"/>
                  </a:lnTo>
                  <a:lnTo>
                    <a:pt x="0" y="1670"/>
                  </a:lnTo>
                  <a:lnTo>
                    <a:pt x="15" y="1670"/>
                  </a:lnTo>
                  <a:close/>
                  <a:moveTo>
                    <a:pt x="15" y="1698"/>
                  </a:moveTo>
                  <a:lnTo>
                    <a:pt x="15" y="1712"/>
                  </a:lnTo>
                  <a:lnTo>
                    <a:pt x="0" y="1712"/>
                  </a:lnTo>
                  <a:lnTo>
                    <a:pt x="0" y="1698"/>
                  </a:lnTo>
                  <a:lnTo>
                    <a:pt x="15" y="1698"/>
                  </a:lnTo>
                  <a:close/>
                  <a:moveTo>
                    <a:pt x="15" y="1726"/>
                  </a:moveTo>
                  <a:lnTo>
                    <a:pt x="15" y="1740"/>
                  </a:lnTo>
                  <a:lnTo>
                    <a:pt x="0" y="1740"/>
                  </a:lnTo>
                  <a:lnTo>
                    <a:pt x="0" y="1726"/>
                  </a:lnTo>
                  <a:lnTo>
                    <a:pt x="15" y="1726"/>
                  </a:lnTo>
                  <a:close/>
                  <a:moveTo>
                    <a:pt x="15" y="1754"/>
                  </a:moveTo>
                  <a:lnTo>
                    <a:pt x="15" y="1768"/>
                  </a:lnTo>
                  <a:lnTo>
                    <a:pt x="0" y="1768"/>
                  </a:lnTo>
                  <a:lnTo>
                    <a:pt x="0" y="1754"/>
                  </a:lnTo>
                  <a:lnTo>
                    <a:pt x="15" y="1754"/>
                  </a:lnTo>
                  <a:close/>
                  <a:moveTo>
                    <a:pt x="15" y="1782"/>
                  </a:moveTo>
                  <a:lnTo>
                    <a:pt x="15" y="1795"/>
                  </a:lnTo>
                  <a:lnTo>
                    <a:pt x="0" y="1795"/>
                  </a:lnTo>
                  <a:lnTo>
                    <a:pt x="0" y="1782"/>
                  </a:lnTo>
                  <a:lnTo>
                    <a:pt x="15" y="1782"/>
                  </a:lnTo>
                  <a:close/>
                  <a:moveTo>
                    <a:pt x="15" y="1809"/>
                  </a:moveTo>
                  <a:lnTo>
                    <a:pt x="15" y="1823"/>
                  </a:lnTo>
                  <a:lnTo>
                    <a:pt x="0" y="1823"/>
                  </a:lnTo>
                  <a:lnTo>
                    <a:pt x="0" y="1809"/>
                  </a:lnTo>
                  <a:lnTo>
                    <a:pt x="15" y="1809"/>
                  </a:lnTo>
                  <a:close/>
                  <a:moveTo>
                    <a:pt x="15" y="1837"/>
                  </a:moveTo>
                  <a:lnTo>
                    <a:pt x="15" y="1851"/>
                  </a:lnTo>
                  <a:lnTo>
                    <a:pt x="0" y="1851"/>
                  </a:lnTo>
                  <a:lnTo>
                    <a:pt x="0" y="1837"/>
                  </a:lnTo>
                  <a:lnTo>
                    <a:pt x="15" y="1837"/>
                  </a:lnTo>
                  <a:close/>
                  <a:moveTo>
                    <a:pt x="15" y="1865"/>
                  </a:moveTo>
                  <a:lnTo>
                    <a:pt x="15" y="1879"/>
                  </a:lnTo>
                  <a:lnTo>
                    <a:pt x="0" y="1879"/>
                  </a:lnTo>
                  <a:lnTo>
                    <a:pt x="0" y="1865"/>
                  </a:lnTo>
                  <a:lnTo>
                    <a:pt x="15" y="1865"/>
                  </a:lnTo>
                  <a:close/>
                  <a:moveTo>
                    <a:pt x="15" y="1893"/>
                  </a:moveTo>
                  <a:lnTo>
                    <a:pt x="15" y="1907"/>
                  </a:lnTo>
                  <a:lnTo>
                    <a:pt x="0" y="1907"/>
                  </a:lnTo>
                  <a:lnTo>
                    <a:pt x="0" y="1893"/>
                  </a:lnTo>
                  <a:lnTo>
                    <a:pt x="15" y="1893"/>
                  </a:lnTo>
                  <a:close/>
                  <a:moveTo>
                    <a:pt x="15" y="1921"/>
                  </a:moveTo>
                  <a:lnTo>
                    <a:pt x="15" y="1935"/>
                  </a:lnTo>
                  <a:lnTo>
                    <a:pt x="0" y="1935"/>
                  </a:lnTo>
                  <a:lnTo>
                    <a:pt x="0" y="1921"/>
                  </a:lnTo>
                  <a:lnTo>
                    <a:pt x="15" y="1921"/>
                  </a:lnTo>
                  <a:close/>
                  <a:moveTo>
                    <a:pt x="15" y="1949"/>
                  </a:moveTo>
                  <a:lnTo>
                    <a:pt x="15" y="1962"/>
                  </a:lnTo>
                  <a:lnTo>
                    <a:pt x="0" y="1962"/>
                  </a:lnTo>
                  <a:lnTo>
                    <a:pt x="0" y="1949"/>
                  </a:lnTo>
                  <a:lnTo>
                    <a:pt x="15" y="1949"/>
                  </a:lnTo>
                  <a:close/>
                  <a:moveTo>
                    <a:pt x="15" y="1976"/>
                  </a:moveTo>
                  <a:lnTo>
                    <a:pt x="15" y="1990"/>
                  </a:lnTo>
                  <a:lnTo>
                    <a:pt x="0" y="1990"/>
                  </a:lnTo>
                  <a:lnTo>
                    <a:pt x="0" y="1976"/>
                  </a:lnTo>
                  <a:lnTo>
                    <a:pt x="15" y="1976"/>
                  </a:lnTo>
                  <a:close/>
                  <a:moveTo>
                    <a:pt x="15" y="2004"/>
                  </a:moveTo>
                  <a:lnTo>
                    <a:pt x="15" y="2018"/>
                  </a:lnTo>
                  <a:lnTo>
                    <a:pt x="0" y="2018"/>
                  </a:lnTo>
                  <a:lnTo>
                    <a:pt x="0" y="2004"/>
                  </a:lnTo>
                  <a:lnTo>
                    <a:pt x="15" y="2004"/>
                  </a:lnTo>
                  <a:close/>
                  <a:moveTo>
                    <a:pt x="15" y="2032"/>
                  </a:moveTo>
                  <a:lnTo>
                    <a:pt x="15" y="2046"/>
                  </a:lnTo>
                  <a:lnTo>
                    <a:pt x="0" y="2046"/>
                  </a:lnTo>
                  <a:lnTo>
                    <a:pt x="0" y="2032"/>
                  </a:lnTo>
                  <a:lnTo>
                    <a:pt x="15" y="2032"/>
                  </a:lnTo>
                  <a:close/>
                  <a:moveTo>
                    <a:pt x="15" y="2060"/>
                  </a:moveTo>
                  <a:lnTo>
                    <a:pt x="15" y="2074"/>
                  </a:lnTo>
                  <a:lnTo>
                    <a:pt x="0" y="2074"/>
                  </a:lnTo>
                  <a:lnTo>
                    <a:pt x="0" y="2060"/>
                  </a:lnTo>
                  <a:lnTo>
                    <a:pt x="15" y="2060"/>
                  </a:lnTo>
                  <a:close/>
                  <a:moveTo>
                    <a:pt x="15" y="2087"/>
                  </a:moveTo>
                  <a:lnTo>
                    <a:pt x="15" y="2102"/>
                  </a:lnTo>
                  <a:lnTo>
                    <a:pt x="0" y="2102"/>
                  </a:lnTo>
                  <a:lnTo>
                    <a:pt x="0" y="2087"/>
                  </a:lnTo>
                  <a:lnTo>
                    <a:pt x="15" y="2087"/>
                  </a:lnTo>
                  <a:close/>
                  <a:moveTo>
                    <a:pt x="15" y="2116"/>
                  </a:moveTo>
                  <a:lnTo>
                    <a:pt x="15" y="2129"/>
                  </a:lnTo>
                  <a:lnTo>
                    <a:pt x="0" y="2129"/>
                  </a:lnTo>
                  <a:lnTo>
                    <a:pt x="0" y="2116"/>
                  </a:lnTo>
                  <a:lnTo>
                    <a:pt x="15" y="2116"/>
                  </a:lnTo>
                  <a:close/>
                  <a:moveTo>
                    <a:pt x="15" y="2143"/>
                  </a:moveTo>
                  <a:lnTo>
                    <a:pt x="15" y="2157"/>
                  </a:lnTo>
                  <a:lnTo>
                    <a:pt x="0" y="2157"/>
                  </a:lnTo>
                  <a:lnTo>
                    <a:pt x="0" y="2143"/>
                  </a:lnTo>
                  <a:lnTo>
                    <a:pt x="15" y="2143"/>
                  </a:lnTo>
                  <a:close/>
                  <a:moveTo>
                    <a:pt x="15" y="2171"/>
                  </a:moveTo>
                  <a:lnTo>
                    <a:pt x="15" y="2185"/>
                  </a:lnTo>
                  <a:lnTo>
                    <a:pt x="0" y="2185"/>
                  </a:lnTo>
                  <a:lnTo>
                    <a:pt x="0" y="2171"/>
                  </a:lnTo>
                  <a:lnTo>
                    <a:pt x="15" y="2171"/>
                  </a:lnTo>
                  <a:close/>
                  <a:moveTo>
                    <a:pt x="15" y="2199"/>
                  </a:moveTo>
                  <a:lnTo>
                    <a:pt x="15" y="2213"/>
                  </a:lnTo>
                  <a:lnTo>
                    <a:pt x="0" y="2213"/>
                  </a:lnTo>
                  <a:lnTo>
                    <a:pt x="0" y="2199"/>
                  </a:lnTo>
                  <a:lnTo>
                    <a:pt x="15" y="2199"/>
                  </a:lnTo>
                  <a:close/>
                  <a:moveTo>
                    <a:pt x="15" y="2227"/>
                  </a:moveTo>
                  <a:lnTo>
                    <a:pt x="15" y="2241"/>
                  </a:lnTo>
                  <a:lnTo>
                    <a:pt x="0" y="2241"/>
                  </a:lnTo>
                  <a:lnTo>
                    <a:pt x="0" y="2227"/>
                  </a:lnTo>
                  <a:lnTo>
                    <a:pt x="15" y="2227"/>
                  </a:lnTo>
                  <a:close/>
                  <a:moveTo>
                    <a:pt x="15" y="2254"/>
                  </a:moveTo>
                  <a:lnTo>
                    <a:pt x="15" y="2268"/>
                  </a:lnTo>
                  <a:lnTo>
                    <a:pt x="0" y="2268"/>
                  </a:lnTo>
                  <a:lnTo>
                    <a:pt x="0" y="2254"/>
                  </a:lnTo>
                  <a:lnTo>
                    <a:pt x="15" y="2254"/>
                  </a:lnTo>
                  <a:close/>
                  <a:moveTo>
                    <a:pt x="15" y="2283"/>
                  </a:moveTo>
                  <a:lnTo>
                    <a:pt x="15" y="2296"/>
                  </a:lnTo>
                  <a:lnTo>
                    <a:pt x="0" y="2296"/>
                  </a:lnTo>
                  <a:lnTo>
                    <a:pt x="0" y="2283"/>
                  </a:lnTo>
                  <a:lnTo>
                    <a:pt x="15" y="2283"/>
                  </a:lnTo>
                  <a:close/>
                  <a:moveTo>
                    <a:pt x="15" y="2310"/>
                  </a:moveTo>
                  <a:lnTo>
                    <a:pt x="15" y="2324"/>
                  </a:lnTo>
                  <a:lnTo>
                    <a:pt x="0" y="2324"/>
                  </a:lnTo>
                  <a:lnTo>
                    <a:pt x="0" y="2310"/>
                  </a:lnTo>
                  <a:lnTo>
                    <a:pt x="15" y="2310"/>
                  </a:lnTo>
                  <a:close/>
                  <a:moveTo>
                    <a:pt x="15" y="2338"/>
                  </a:moveTo>
                  <a:lnTo>
                    <a:pt x="15" y="2352"/>
                  </a:lnTo>
                  <a:lnTo>
                    <a:pt x="0" y="2352"/>
                  </a:lnTo>
                  <a:lnTo>
                    <a:pt x="0" y="2338"/>
                  </a:lnTo>
                  <a:lnTo>
                    <a:pt x="15" y="2338"/>
                  </a:lnTo>
                  <a:close/>
                  <a:moveTo>
                    <a:pt x="15" y="2366"/>
                  </a:moveTo>
                  <a:lnTo>
                    <a:pt x="15" y="2380"/>
                  </a:lnTo>
                  <a:lnTo>
                    <a:pt x="0" y="2380"/>
                  </a:lnTo>
                  <a:lnTo>
                    <a:pt x="0" y="2366"/>
                  </a:lnTo>
                  <a:lnTo>
                    <a:pt x="15" y="2366"/>
                  </a:lnTo>
                  <a:close/>
                  <a:moveTo>
                    <a:pt x="15" y="2394"/>
                  </a:moveTo>
                  <a:lnTo>
                    <a:pt x="15" y="2408"/>
                  </a:lnTo>
                  <a:lnTo>
                    <a:pt x="0" y="2408"/>
                  </a:lnTo>
                  <a:lnTo>
                    <a:pt x="0" y="2394"/>
                  </a:lnTo>
                  <a:lnTo>
                    <a:pt x="15" y="2394"/>
                  </a:lnTo>
                  <a:close/>
                  <a:moveTo>
                    <a:pt x="15" y="2421"/>
                  </a:moveTo>
                  <a:lnTo>
                    <a:pt x="15" y="2435"/>
                  </a:lnTo>
                  <a:lnTo>
                    <a:pt x="0" y="2435"/>
                  </a:lnTo>
                  <a:lnTo>
                    <a:pt x="0" y="2421"/>
                  </a:lnTo>
                  <a:lnTo>
                    <a:pt x="15" y="2421"/>
                  </a:lnTo>
                  <a:close/>
                  <a:moveTo>
                    <a:pt x="15" y="2449"/>
                  </a:moveTo>
                  <a:lnTo>
                    <a:pt x="15" y="2453"/>
                  </a:lnTo>
                  <a:lnTo>
                    <a:pt x="0" y="2453"/>
                  </a:lnTo>
                  <a:lnTo>
                    <a:pt x="0" y="2449"/>
                  </a:lnTo>
                  <a:lnTo>
                    <a:pt x="15" y="2449"/>
                  </a:lnTo>
                  <a:close/>
                </a:path>
              </a:pathLst>
            </a:custGeom>
            <a:solidFill>
              <a:srgbClr val="000000"/>
            </a:solidFill>
            <a:ln w="0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35" name="Freeform 32">
              <a:extLst>
                <a:ext uri="{FF2B5EF4-FFF2-40B4-BE49-F238E27FC236}">
                  <a16:creationId xmlns:a16="http://schemas.microsoft.com/office/drawing/2014/main" id="{AB5DCA3C-1A8A-4FA1-8457-1943B9A98F9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483689" y="2505080"/>
              <a:ext cx="22225" cy="3894138"/>
            </a:xfrm>
            <a:custGeom>
              <a:avLst/>
              <a:gdLst>
                <a:gd name="T0" fmla="*/ 14 w 14"/>
                <a:gd name="T1" fmla="*/ 42 h 2453"/>
                <a:gd name="T2" fmla="*/ 0 w 14"/>
                <a:gd name="T3" fmla="*/ 56 h 2453"/>
                <a:gd name="T4" fmla="*/ 14 w 14"/>
                <a:gd name="T5" fmla="*/ 112 h 2453"/>
                <a:gd name="T6" fmla="*/ 0 w 14"/>
                <a:gd name="T7" fmla="*/ 154 h 2453"/>
                <a:gd name="T8" fmla="*/ 14 w 14"/>
                <a:gd name="T9" fmla="*/ 167 h 2453"/>
                <a:gd name="T10" fmla="*/ 14 w 14"/>
                <a:gd name="T11" fmla="*/ 237 h 2453"/>
                <a:gd name="T12" fmla="*/ 0 w 14"/>
                <a:gd name="T13" fmla="*/ 251 h 2453"/>
                <a:gd name="T14" fmla="*/ 14 w 14"/>
                <a:gd name="T15" fmla="*/ 307 h 2453"/>
                <a:gd name="T16" fmla="*/ 0 w 14"/>
                <a:gd name="T17" fmla="*/ 348 h 2453"/>
                <a:gd name="T18" fmla="*/ 14 w 14"/>
                <a:gd name="T19" fmla="*/ 362 h 2453"/>
                <a:gd name="T20" fmla="*/ 14 w 14"/>
                <a:gd name="T21" fmla="*/ 432 h 2453"/>
                <a:gd name="T22" fmla="*/ 0 w 14"/>
                <a:gd name="T23" fmla="*/ 446 h 2453"/>
                <a:gd name="T24" fmla="*/ 14 w 14"/>
                <a:gd name="T25" fmla="*/ 501 h 2453"/>
                <a:gd name="T26" fmla="*/ 0 w 14"/>
                <a:gd name="T27" fmla="*/ 543 h 2453"/>
                <a:gd name="T28" fmla="*/ 14 w 14"/>
                <a:gd name="T29" fmla="*/ 557 h 2453"/>
                <a:gd name="T30" fmla="*/ 14 w 14"/>
                <a:gd name="T31" fmla="*/ 627 h 2453"/>
                <a:gd name="T32" fmla="*/ 0 w 14"/>
                <a:gd name="T33" fmla="*/ 641 h 2453"/>
                <a:gd name="T34" fmla="*/ 14 w 14"/>
                <a:gd name="T35" fmla="*/ 696 h 2453"/>
                <a:gd name="T36" fmla="*/ 0 w 14"/>
                <a:gd name="T37" fmla="*/ 738 h 2453"/>
                <a:gd name="T38" fmla="*/ 14 w 14"/>
                <a:gd name="T39" fmla="*/ 752 h 2453"/>
                <a:gd name="T40" fmla="*/ 14 w 14"/>
                <a:gd name="T41" fmla="*/ 822 h 2453"/>
                <a:gd name="T42" fmla="*/ 0 w 14"/>
                <a:gd name="T43" fmla="*/ 835 h 2453"/>
                <a:gd name="T44" fmla="*/ 14 w 14"/>
                <a:gd name="T45" fmla="*/ 891 h 2453"/>
                <a:gd name="T46" fmla="*/ 0 w 14"/>
                <a:gd name="T47" fmla="*/ 933 h 2453"/>
                <a:gd name="T48" fmla="*/ 14 w 14"/>
                <a:gd name="T49" fmla="*/ 947 h 2453"/>
                <a:gd name="T50" fmla="*/ 14 w 14"/>
                <a:gd name="T51" fmla="*/ 1016 h 2453"/>
                <a:gd name="T52" fmla="*/ 0 w 14"/>
                <a:gd name="T53" fmla="*/ 1030 h 2453"/>
                <a:gd name="T54" fmla="*/ 14 w 14"/>
                <a:gd name="T55" fmla="*/ 1086 h 2453"/>
                <a:gd name="T56" fmla="*/ 0 w 14"/>
                <a:gd name="T57" fmla="*/ 1127 h 2453"/>
                <a:gd name="T58" fmla="*/ 14 w 14"/>
                <a:gd name="T59" fmla="*/ 1141 h 2453"/>
                <a:gd name="T60" fmla="*/ 14 w 14"/>
                <a:gd name="T61" fmla="*/ 1211 h 2453"/>
                <a:gd name="T62" fmla="*/ 0 w 14"/>
                <a:gd name="T63" fmla="*/ 1225 h 2453"/>
                <a:gd name="T64" fmla="*/ 14 w 14"/>
                <a:gd name="T65" fmla="*/ 1281 h 2453"/>
                <a:gd name="T66" fmla="*/ 0 w 14"/>
                <a:gd name="T67" fmla="*/ 1322 h 2453"/>
                <a:gd name="T68" fmla="*/ 14 w 14"/>
                <a:gd name="T69" fmla="*/ 1336 h 2453"/>
                <a:gd name="T70" fmla="*/ 14 w 14"/>
                <a:gd name="T71" fmla="*/ 1406 h 2453"/>
                <a:gd name="T72" fmla="*/ 0 w 14"/>
                <a:gd name="T73" fmla="*/ 1420 h 2453"/>
                <a:gd name="T74" fmla="*/ 14 w 14"/>
                <a:gd name="T75" fmla="*/ 1475 h 2453"/>
                <a:gd name="T76" fmla="*/ 0 w 14"/>
                <a:gd name="T77" fmla="*/ 1517 h 2453"/>
                <a:gd name="T78" fmla="*/ 14 w 14"/>
                <a:gd name="T79" fmla="*/ 1531 h 2453"/>
                <a:gd name="T80" fmla="*/ 14 w 14"/>
                <a:gd name="T81" fmla="*/ 1601 h 2453"/>
                <a:gd name="T82" fmla="*/ 0 w 14"/>
                <a:gd name="T83" fmla="*/ 1615 h 2453"/>
                <a:gd name="T84" fmla="*/ 14 w 14"/>
                <a:gd name="T85" fmla="*/ 1670 h 2453"/>
                <a:gd name="T86" fmla="*/ 0 w 14"/>
                <a:gd name="T87" fmla="*/ 1712 h 2453"/>
                <a:gd name="T88" fmla="*/ 14 w 14"/>
                <a:gd name="T89" fmla="*/ 1726 h 2453"/>
                <a:gd name="T90" fmla="*/ 14 w 14"/>
                <a:gd name="T91" fmla="*/ 1795 h 2453"/>
                <a:gd name="T92" fmla="*/ 0 w 14"/>
                <a:gd name="T93" fmla="*/ 1809 h 2453"/>
                <a:gd name="T94" fmla="*/ 14 w 14"/>
                <a:gd name="T95" fmla="*/ 1865 h 2453"/>
                <a:gd name="T96" fmla="*/ 0 w 14"/>
                <a:gd name="T97" fmla="*/ 1907 h 2453"/>
                <a:gd name="T98" fmla="*/ 14 w 14"/>
                <a:gd name="T99" fmla="*/ 1921 h 2453"/>
                <a:gd name="T100" fmla="*/ 14 w 14"/>
                <a:gd name="T101" fmla="*/ 1990 h 2453"/>
                <a:gd name="T102" fmla="*/ 0 w 14"/>
                <a:gd name="T103" fmla="*/ 2004 h 2453"/>
                <a:gd name="T104" fmla="*/ 14 w 14"/>
                <a:gd name="T105" fmla="*/ 2060 h 2453"/>
                <a:gd name="T106" fmla="*/ 0 w 14"/>
                <a:gd name="T107" fmla="*/ 2102 h 2453"/>
                <a:gd name="T108" fmla="*/ 14 w 14"/>
                <a:gd name="T109" fmla="*/ 2116 h 2453"/>
                <a:gd name="T110" fmla="*/ 14 w 14"/>
                <a:gd name="T111" fmla="*/ 2185 h 2453"/>
                <a:gd name="T112" fmla="*/ 0 w 14"/>
                <a:gd name="T113" fmla="*/ 2199 h 2453"/>
                <a:gd name="T114" fmla="*/ 14 w 14"/>
                <a:gd name="T115" fmla="*/ 2254 h 2453"/>
                <a:gd name="T116" fmla="*/ 0 w 14"/>
                <a:gd name="T117" fmla="*/ 2296 h 2453"/>
                <a:gd name="T118" fmla="*/ 14 w 14"/>
                <a:gd name="T119" fmla="*/ 2310 h 2453"/>
                <a:gd name="T120" fmla="*/ 14 w 14"/>
                <a:gd name="T121" fmla="*/ 2380 h 2453"/>
                <a:gd name="T122" fmla="*/ 0 w 14"/>
                <a:gd name="T123" fmla="*/ 2394 h 2453"/>
                <a:gd name="T124" fmla="*/ 14 w 14"/>
                <a:gd name="T125" fmla="*/ 2449 h 24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4" h="2453">
                  <a:moveTo>
                    <a:pt x="14" y="0"/>
                  </a:moveTo>
                  <a:lnTo>
                    <a:pt x="14" y="14"/>
                  </a:lnTo>
                  <a:lnTo>
                    <a:pt x="0" y="14"/>
                  </a:lnTo>
                  <a:lnTo>
                    <a:pt x="0" y="0"/>
                  </a:lnTo>
                  <a:lnTo>
                    <a:pt x="14" y="0"/>
                  </a:lnTo>
                  <a:close/>
                  <a:moveTo>
                    <a:pt x="14" y="28"/>
                  </a:moveTo>
                  <a:lnTo>
                    <a:pt x="14" y="42"/>
                  </a:lnTo>
                  <a:lnTo>
                    <a:pt x="0" y="42"/>
                  </a:lnTo>
                  <a:lnTo>
                    <a:pt x="0" y="28"/>
                  </a:lnTo>
                  <a:lnTo>
                    <a:pt x="14" y="28"/>
                  </a:lnTo>
                  <a:close/>
                  <a:moveTo>
                    <a:pt x="14" y="56"/>
                  </a:moveTo>
                  <a:lnTo>
                    <a:pt x="14" y="70"/>
                  </a:lnTo>
                  <a:lnTo>
                    <a:pt x="0" y="70"/>
                  </a:lnTo>
                  <a:lnTo>
                    <a:pt x="0" y="56"/>
                  </a:lnTo>
                  <a:lnTo>
                    <a:pt x="14" y="56"/>
                  </a:lnTo>
                  <a:close/>
                  <a:moveTo>
                    <a:pt x="14" y="84"/>
                  </a:moveTo>
                  <a:lnTo>
                    <a:pt x="14" y="98"/>
                  </a:lnTo>
                  <a:lnTo>
                    <a:pt x="0" y="98"/>
                  </a:lnTo>
                  <a:lnTo>
                    <a:pt x="0" y="84"/>
                  </a:lnTo>
                  <a:lnTo>
                    <a:pt x="14" y="84"/>
                  </a:lnTo>
                  <a:close/>
                  <a:moveTo>
                    <a:pt x="14" y="112"/>
                  </a:moveTo>
                  <a:lnTo>
                    <a:pt x="14" y="126"/>
                  </a:lnTo>
                  <a:lnTo>
                    <a:pt x="0" y="126"/>
                  </a:lnTo>
                  <a:lnTo>
                    <a:pt x="0" y="112"/>
                  </a:lnTo>
                  <a:lnTo>
                    <a:pt x="14" y="112"/>
                  </a:lnTo>
                  <a:close/>
                  <a:moveTo>
                    <a:pt x="14" y="140"/>
                  </a:moveTo>
                  <a:lnTo>
                    <a:pt x="14" y="154"/>
                  </a:lnTo>
                  <a:lnTo>
                    <a:pt x="0" y="154"/>
                  </a:lnTo>
                  <a:lnTo>
                    <a:pt x="0" y="140"/>
                  </a:lnTo>
                  <a:lnTo>
                    <a:pt x="14" y="140"/>
                  </a:lnTo>
                  <a:close/>
                  <a:moveTo>
                    <a:pt x="14" y="167"/>
                  </a:moveTo>
                  <a:lnTo>
                    <a:pt x="14" y="181"/>
                  </a:lnTo>
                  <a:lnTo>
                    <a:pt x="0" y="181"/>
                  </a:lnTo>
                  <a:lnTo>
                    <a:pt x="0" y="167"/>
                  </a:lnTo>
                  <a:lnTo>
                    <a:pt x="14" y="167"/>
                  </a:lnTo>
                  <a:close/>
                  <a:moveTo>
                    <a:pt x="14" y="195"/>
                  </a:moveTo>
                  <a:lnTo>
                    <a:pt x="14" y="209"/>
                  </a:lnTo>
                  <a:lnTo>
                    <a:pt x="0" y="209"/>
                  </a:lnTo>
                  <a:lnTo>
                    <a:pt x="0" y="195"/>
                  </a:lnTo>
                  <a:lnTo>
                    <a:pt x="14" y="195"/>
                  </a:lnTo>
                  <a:close/>
                  <a:moveTo>
                    <a:pt x="14" y="223"/>
                  </a:moveTo>
                  <a:lnTo>
                    <a:pt x="14" y="237"/>
                  </a:lnTo>
                  <a:lnTo>
                    <a:pt x="0" y="237"/>
                  </a:lnTo>
                  <a:lnTo>
                    <a:pt x="0" y="223"/>
                  </a:lnTo>
                  <a:lnTo>
                    <a:pt x="14" y="223"/>
                  </a:lnTo>
                  <a:close/>
                  <a:moveTo>
                    <a:pt x="14" y="251"/>
                  </a:moveTo>
                  <a:lnTo>
                    <a:pt x="14" y="265"/>
                  </a:lnTo>
                  <a:lnTo>
                    <a:pt x="0" y="265"/>
                  </a:lnTo>
                  <a:lnTo>
                    <a:pt x="0" y="251"/>
                  </a:lnTo>
                  <a:lnTo>
                    <a:pt x="14" y="251"/>
                  </a:lnTo>
                  <a:close/>
                  <a:moveTo>
                    <a:pt x="14" y="279"/>
                  </a:moveTo>
                  <a:lnTo>
                    <a:pt x="14" y="293"/>
                  </a:lnTo>
                  <a:lnTo>
                    <a:pt x="0" y="293"/>
                  </a:lnTo>
                  <a:lnTo>
                    <a:pt x="0" y="279"/>
                  </a:lnTo>
                  <a:lnTo>
                    <a:pt x="14" y="279"/>
                  </a:lnTo>
                  <a:close/>
                  <a:moveTo>
                    <a:pt x="14" y="307"/>
                  </a:moveTo>
                  <a:lnTo>
                    <a:pt x="14" y="321"/>
                  </a:lnTo>
                  <a:lnTo>
                    <a:pt x="0" y="321"/>
                  </a:lnTo>
                  <a:lnTo>
                    <a:pt x="0" y="307"/>
                  </a:lnTo>
                  <a:lnTo>
                    <a:pt x="14" y="307"/>
                  </a:lnTo>
                  <a:close/>
                  <a:moveTo>
                    <a:pt x="14" y="334"/>
                  </a:moveTo>
                  <a:lnTo>
                    <a:pt x="14" y="348"/>
                  </a:lnTo>
                  <a:lnTo>
                    <a:pt x="0" y="348"/>
                  </a:lnTo>
                  <a:lnTo>
                    <a:pt x="0" y="334"/>
                  </a:lnTo>
                  <a:lnTo>
                    <a:pt x="14" y="334"/>
                  </a:lnTo>
                  <a:close/>
                  <a:moveTo>
                    <a:pt x="14" y="362"/>
                  </a:moveTo>
                  <a:lnTo>
                    <a:pt x="14" y="376"/>
                  </a:lnTo>
                  <a:lnTo>
                    <a:pt x="0" y="376"/>
                  </a:lnTo>
                  <a:lnTo>
                    <a:pt x="0" y="362"/>
                  </a:lnTo>
                  <a:lnTo>
                    <a:pt x="14" y="362"/>
                  </a:lnTo>
                  <a:close/>
                  <a:moveTo>
                    <a:pt x="14" y="390"/>
                  </a:moveTo>
                  <a:lnTo>
                    <a:pt x="14" y="404"/>
                  </a:lnTo>
                  <a:lnTo>
                    <a:pt x="0" y="404"/>
                  </a:lnTo>
                  <a:lnTo>
                    <a:pt x="0" y="390"/>
                  </a:lnTo>
                  <a:lnTo>
                    <a:pt x="14" y="390"/>
                  </a:lnTo>
                  <a:close/>
                  <a:moveTo>
                    <a:pt x="14" y="418"/>
                  </a:moveTo>
                  <a:lnTo>
                    <a:pt x="14" y="432"/>
                  </a:lnTo>
                  <a:lnTo>
                    <a:pt x="0" y="432"/>
                  </a:lnTo>
                  <a:lnTo>
                    <a:pt x="0" y="418"/>
                  </a:lnTo>
                  <a:lnTo>
                    <a:pt x="14" y="418"/>
                  </a:lnTo>
                  <a:close/>
                  <a:moveTo>
                    <a:pt x="14" y="446"/>
                  </a:moveTo>
                  <a:lnTo>
                    <a:pt x="14" y="460"/>
                  </a:lnTo>
                  <a:lnTo>
                    <a:pt x="0" y="460"/>
                  </a:lnTo>
                  <a:lnTo>
                    <a:pt x="0" y="446"/>
                  </a:lnTo>
                  <a:lnTo>
                    <a:pt x="14" y="446"/>
                  </a:lnTo>
                  <a:close/>
                  <a:moveTo>
                    <a:pt x="14" y="474"/>
                  </a:moveTo>
                  <a:lnTo>
                    <a:pt x="14" y="488"/>
                  </a:lnTo>
                  <a:lnTo>
                    <a:pt x="0" y="488"/>
                  </a:lnTo>
                  <a:lnTo>
                    <a:pt x="0" y="474"/>
                  </a:lnTo>
                  <a:lnTo>
                    <a:pt x="14" y="474"/>
                  </a:lnTo>
                  <a:close/>
                  <a:moveTo>
                    <a:pt x="14" y="501"/>
                  </a:moveTo>
                  <a:lnTo>
                    <a:pt x="14" y="515"/>
                  </a:lnTo>
                  <a:lnTo>
                    <a:pt x="0" y="515"/>
                  </a:lnTo>
                  <a:lnTo>
                    <a:pt x="0" y="501"/>
                  </a:lnTo>
                  <a:lnTo>
                    <a:pt x="14" y="501"/>
                  </a:lnTo>
                  <a:close/>
                  <a:moveTo>
                    <a:pt x="14" y="529"/>
                  </a:moveTo>
                  <a:lnTo>
                    <a:pt x="14" y="543"/>
                  </a:lnTo>
                  <a:lnTo>
                    <a:pt x="0" y="543"/>
                  </a:lnTo>
                  <a:lnTo>
                    <a:pt x="0" y="529"/>
                  </a:lnTo>
                  <a:lnTo>
                    <a:pt x="14" y="529"/>
                  </a:lnTo>
                  <a:close/>
                  <a:moveTo>
                    <a:pt x="14" y="557"/>
                  </a:moveTo>
                  <a:lnTo>
                    <a:pt x="14" y="571"/>
                  </a:lnTo>
                  <a:lnTo>
                    <a:pt x="0" y="571"/>
                  </a:lnTo>
                  <a:lnTo>
                    <a:pt x="0" y="557"/>
                  </a:lnTo>
                  <a:lnTo>
                    <a:pt x="14" y="557"/>
                  </a:lnTo>
                  <a:close/>
                  <a:moveTo>
                    <a:pt x="14" y="585"/>
                  </a:moveTo>
                  <a:lnTo>
                    <a:pt x="14" y="599"/>
                  </a:lnTo>
                  <a:lnTo>
                    <a:pt x="0" y="599"/>
                  </a:lnTo>
                  <a:lnTo>
                    <a:pt x="0" y="585"/>
                  </a:lnTo>
                  <a:lnTo>
                    <a:pt x="14" y="585"/>
                  </a:lnTo>
                  <a:close/>
                  <a:moveTo>
                    <a:pt x="14" y="613"/>
                  </a:moveTo>
                  <a:lnTo>
                    <a:pt x="14" y="627"/>
                  </a:lnTo>
                  <a:lnTo>
                    <a:pt x="0" y="627"/>
                  </a:lnTo>
                  <a:lnTo>
                    <a:pt x="0" y="613"/>
                  </a:lnTo>
                  <a:lnTo>
                    <a:pt x="14" y="613"/>
                  </a:lnTo>
                  <a:close/>
                  <a:moveTo>
                    <a:pt x="14" y="641"/>
                  </a:moveTo>
                  <a:lnTo>
                    <a:pt x="14" y="655"/>
                  </a:lnTo>
                  <a:lnTo>
                    <a:pt x="0" y="655"/>
                  </a:lnTo>
                  <a:lnTo>
                    <a:pt x="0" y="641"/>
                  </a:lnTo>
                  <a:lnTo>
                    <a:pt x="14" y="641"/>
                  </a:lnTo>
                  <a:close/>
                  <a:moveTo>
                    <a:pt x="14" y="668"/>
                  </a:moveTo>
                  <a:lnTo>
                    <a:pt x="14" y="682"/>
                  </a:lnTo>
                  <a:lnTo>
                    <a:pt x="0" y="682"/>
                  </a:lnTo>
                  <a:lnTo>
                    <a:pt x="0" y="668"/>
                  </a:lnTo>
                  <a:lnTo>
                    <a:pt x="14" y="668"/>
                  </a:lnTo>
                  <a:close/>
                  <a:moveTo>
                    <a:pt x="14" y="696"/>
                  </a:moveTo>
                  <a:lnTo>
                    <a:pt x="14" y="710"/>
                  </a:lnTo>
                  <a:lnTo>
                    <a:pt x="0" y="710"/>
                  </a:lnTo>
                  <a:lnTo>
                    <a:pt x="0" y="696"/>
                  </a:lnTo>
                  <a:lnTo>
                    <a:pt x="14" y="696"/>
                  </a:lnTo>
                  <a:close/>
                  <a:moveTo>
                    <a:pt x="14" y="724"/>
                  </a:moveTo>
                  <a:lnTo>
                    <a:pt x="14" y="738"/>
                  </a:lnTo>
                  <a:lnTo>
                    <a:pt x="0" y="738"/>
                  </a:lnTo>
                  <a:lnTo>
                    <a:pt x="0" y="724"/>
                  </a:lnTo>
                  <a:lnTo>
                    <a:pt x="14" y="724"/>
                  </a:lnTo>
                  <a:close/>
                  <a:moveTo>
                    <a:pt x="14" y="752"/>
                  </a:moveTo>
                  <a:lnTo>
                    <a:pt x="14" y="766"/>
                  </a:lnTo>
                  <a:lnTo>
                    <a:pt x="0" y="766"/>
                  </a:lnTo>
                  <a:lnTo>
                    <a:pt x="0" y="752"/>
                  </a:lnTo>
                  <a:lnTo>
                    <a:pt x="14" y="752"/>
                  </a:lnTo>
                  <a:close/>
                  <a:moveTo>
                    <a:pt x="14" y="780"/>
                  </a:moveTo>
                  <a:lnTo>
                    <a:pt x="14" y="793"/>
                  </a:lnTo>
                  <a:lnTo>
                    <a:pt x="0" y="793"/>
                  </a:lnTo>
                  <a:lnTo>
                    <a:pt x="0" y="780"/>
                  </a:lnTo>
                  <a:lnTo>
                    <a:pt x="14" y="780"/>
                  </a:lnTo>
                  <a:close/>
                  <a:moveTo>
                    <a:pt x="14" y="808"/>
                  </a:moveTo>
                  <a:lnTo>
                    <a:pt x="14" y="822"/>
                  </a:lnTo>
                  <a:lnTo>
                    <a:pt x="0" y="822"/>
                  </a:lnTo>
                  <a:lnTo>
                    <a:pt x="0" y="808"/>
                  </a:lnTo>
                  <a:lnTo>
                    <a:pt x="14" y="808"/>
                  </a:lnTo>
                  <a:close/>
                  <a:moveTo>
                    <a:pt x="14" y="835"/>
                  </a:moveTo>
                  <a:lnTo>
                    <a:pt x="14" y="849"/>
                  </a:lnTo>
                  <a:lnTo>
                    <a:pt x="0" y="849"/>
                  </a:lnTo>
                  <a:lnTo>
                    <a:pt x="0" y="835"/>
                  </a:lnTo>
                  <a:lnTo>
                    <a:pt x="14" y="835"/>
                  </a:lnTo>
                  <a:close/>
                  <a:moveTo>
                    <a:pt x="14" y="863"/>
                  </a:moveTo>
                  <a:lnTo>
                    <a:pt x="14" y="877"/>
                  </a:lnTo>
                  <a:lnTo>
                    <a:pt x="0" y="877"/>
                  </a:lnTo>
                  <a:lnTo>
                    <a:pt x="0" y="863"/>
                  </a:lnTo>
                  <a:lnTo>
                    <a:pt x="14" y="863"/>
                  </a:lnTo>
                  <a:close/>
                  <a:moveTo>
                    <a:pt x="14" y="891"/>
                  </a:moveTo>
                  <a:lnTo>
                    <a:pt x="14" y="905"/>
                  </a:lnTo>
                  <a:lnTo>
                    <a:pt x="0" y="905"/>
                  </a:lnTo>
                  <a:lnTo>
                    <a:pt x="0" y="891"/>
                  </a:lnTo>
                  <a:lnTo>
                    <a:pt x="14" y="891"/>
                  </a:lnTo>
                  <a:close/>
                  <a:moveTo>
                    <a:pt x="14" y="919"/>
                  </a:moveTo>
                  <a:lnTo>
                    <a:pt x="14" y="933"/>
                  </a:lnTo>
                  <a:lnTo>
                    <a:pt x="0" y="933"/>
                  </a:lnTo>
                  <a:lnTo>
                    <a:pt x="0" y="919"/>
                  </a:lnTo>
                  <a:lnTo>
                    <a:pt x="14" y="919"/>
                  </a:lnTo>
                  <a:close/>
                  <a:moveTo>
                    <a:pt x="14" y="947"/>
                  </a:moveTo>
                  <a:lnTo>
                    <a:pt x="14" y="960"/>
                  </a:lnTo>
                  <a:lnTo>
                    <a:pt x="0" y="960"/>
                  </a:lnTo>
                  <a:lnTo>
                    <a:pt x="0" y="947"/>
                  </a:lnTo>
                  <a:lnTo>
                    <a:pt x="14" y="947"/>
                  </a:lnTo>
                  <a:close/>
                  <a:moveTo>
                    <a:pt x="14" y="974"/>
                  </a:moveTo>
                  <a:lnTo>
                    <a:pt x="14" y="988"/>
                  </a:lnTo>
                  <a:lnTo>
                    <a:pt x="0" y="988"/>
                  </a:lnTo>
                  <a:lnTo>
                    <a:pt x="0" y="974"/>
                  </a:lnTo>
                  <a:lnTo>
                    <a:pt x="14" y="974"/>
                  </a:lnTo>
                  <a:close/>
                  <a:moveTo>
                    <a:pt x="14" y="1002"/>
                  </a:moveTo>
                  <a:lnTo>
                    <a:pt x="14" y="1016"/>
                  </a:lnTo>
                  <a:lnTo>
                    <a:pt x="0" y="1016"/>
                  </a:lnTo>
                  <a:lnTo>
                    <a:pt x="0" y="1002"/>
                  </a:lnTo>
                  <a:lnTo>
                    <a:pt x="14" y="1002"/>
                  </a:lnTo>
                  <a:close/>
                  <a:moveTo>
                    <a:pt x="14" y="1030"/>
                  </a:moveTo>
                  <a:lnTo>
                    <a:pt x="14" y="1044"/>
                  </a:lnTo>
                  <a:lnTo>
                    <a:pt x="0" y="1044"/>
                  </a:lnTo>
                  <a:lnTo>
                    <a:pt x="0" y="1030"/>
                  </a:lnTo>
                  <a:lnTo>
                    <a:pt x="14" y="1030"/>
                  </a:lnTo>
                  <a:close/>
                  <a:moveTo>
                    <a:pt x="14" y="1058"/>
                  </a:moveTo>
                  <a:lnTo>
                    <a:pt x="14" y="1072"/>
                  </a:lnTo>
                  <a:lnTo>
                    <a:pt x="0" y="1072"/>
                  </a:lnTo>
                  <a:lnTo>
                    <a:pt x="0" y="1058"/>
                  </a:lnTo>
                  <a:lnTo>
                    <a:pt x="14" y="1058"/>
                  </a:lnTo>
                  <a:close/>
                  <a:moveTo>
                    <a:pt x="14" y="1086"/>
                  </a:moveTo>
                  <a:lnTo>
                    <a:pt x="14" y="1100"/>
                  </a:lnTo>
                  <a:lnTo>
                    <a:pt x="0" y="1100"/>
                  </a:lnTo>
                  <a:lnTo>
                    <a:pt x="0" y="1086"/>
                  </a:lnTo>
                  <a:lnTo>
                    <a:pt x="14" y="1086"/>
                  </a:lnTo>
                  <a:close/>
                  <a:moveTo>
                    <a:pt x="14" y="1114"/>
                  </a:moveTo>
                  <a:lnTo>
                    <a:pt x="14" y="1127"/>
                  </a:lnTo>
                  <a:lnTo>
                    <a:pt x="0" y="1127"/>
                  </a:lnTo>
                  <a:lnTo>
                    <a:pt x="0" y="1114"/>
                  </a:lnTo>
                  <a:lnTo>
                    <a:pt x="14" y="1114"/>
                  </a:lnTo>
                  <a:close/>
                  <a:moveTo>
                    <a:pt x="14" y="1141"/>
                  </a:moveTo>
                  <a:lnTo>
                    <a:pt x="14" y="1155"/>
                  </a:lnTo>
                  <a:lnTo>
                    <a:pt x="0" y="1155"/>
                  </a:lnTo>
                  <a:lnTo>
                    <a:pt x="0" y="1141"/>
                  </a:lnTo>
                  <a:lnTo>
                    <a:pt x="14" y="1141"/>
                  </a:lnTo>
                  <a:close/>
                  <a:moveTo>
                    <a:pt x="14" y="1169"/>
                  </a:moveTo>
                  <a:lnTo>
                    <a:pt x="14" y="1183"/>
                  </a:lnTo>
                  <a:lnTo>
                    <a:pt x="0" y="1183"/>
                  </a:lnTo>
                  <a:lnTo>
                    <a:pt x="0" y="1169"/>
                  </a:lnTo>
                  <a:lnTo>
                    <a:pt x="14" y="1169"/>
                  </a:lnTo>
                  <a:close/>
                  <a:moveTo>
                    <a:pt x="14" y="1197"/>
                  </a:moveTo>
                  <a:lnTo>
                    <a:pt x="14" y="1211"/>
                  </a:lnTo>
                  <a:lnTo>
                    <a:pt x="0" y="1211"/>
                  </a:lnTo>
                  <a:lnTo>
                    <a:pt x="0" y="1197"/>
                  </a:lnTo>
                  <a:lnTo>
                    <a:pt x="14" y="1197"/>
                  </a:lnTo>
                  <a:close/>
                  <a:moveTo>
                    <a:pt x="14" y="1225"/>
                  </a:moveTo>
                  <a:lnTo>
                    <a:pt x="14" y="1239"/>
                  </a:lnTo>
                  <a:lnTo>
                    <a:pt x="0" y="1239"/>
                  </a:lnTo>
                  <a:lnTo>
                    <a:pt x="0" y="1225"/>
                  </a:lnTo>
                  <a:lnTo>
                    <a:pt x="14" y="1225"/>
                  </a:lnTo>
                  <a:close/>
                  <a:moveTo>
                    <a:pt x="14" y="1253"/>
                  </a:moveTo>
                  <a:lnTo>
                    <a:pt x="14" y="1267"/>
                  </a:lnTo>
                  <a:lnTo>
                    <a:pt x="0" y="1267"/>
                  </a:lnTo>
                  <a:lnTo>
                    <a:pt x="0" y="1253"/>
                  </a:lnTo>
                  <a:lnTo>
                    <a:pt x="14" y="1253"/>
                  </a:lnTo>
                  <a:close/>
                  <a:moveTo>
                    <a:pt x="14" y="1281"/>
                  </a:moveTo>
                  <a:lnTo>
                    <a:pt x="14" y="1294"/>
                  </a:lnTo>
                  <a:lnTo>
                    <a:pt x="0" y="1294"/>
                  </a:lnTo>
                  <a:lnTo>
                    <a:pt x="0" y="1281"/>
                  </a:lnTo>
                  <a:lnTo>
                    <a:pt x="14" y="1281"/>
                  </a:lnTo>
                  <a:close/>
                  <a:moveTo>
                    <a:pt x="14" y="1308"/>
                  </a:moveTo>
                  <a:lnTo>
                    <a:pt x="14" y="1322"/>
                  </a:lnTo>
                  <a:lnTo>
                    <a:pt x="0" y="1322"/>
                  </a:lnTo>
                  <a:lnTo>
                    <a:pt x="0" y="1308"/>
                  </a:lnTo>
                  <a:lnTo>
                    <a:pt x="14" y="1308"/>
                  </a:lnTo>
                  <a:close/>
                  <a:moveTo>
                    <a:pt x="14" y="1336"/>
                  </a:moveTo>
                  <a:lnTo>
                    <a:pt x="14" y="1350"/>
                  </a:lnTo>
                  <a:lnTo>
                    <a:pt x="0" y="1350"/>
                  </a:lnTo>
                  <a:lnTo>
                    <a:pt x="0" y="1336"/>
                  </a:lnTo>
                  <a:lnTo>
                    <a:pt x="14" y="1336"/>
                  </a:lnTo>
                  <a:close/>
                  <a:moveTo>
                    <a:pt x="14" y="1364"/>
                  </a:moveTo>
                  <a:lnTo>
                    <a:pt x="14" y="1378"/>
                  </a:lnTo>
                  <a:lnTo>
                    <a:pt x="0" y="1378"/>
                  </a:lnTo>
                  <a:lnTo>
                    <a:pt x="0" y="1364"/>
                  </a:lnTo>
                  <a:lnTo>
                    <a:pt x="14" y="1364"/>
                  </a:lnTo>
                  <a:close/>
                  <a:moveTo>
                    <a:pt x="14" y="1392"/>
                  </a:moveTo>
                  <a:lnTo>
                    <a:pt x="14" y="1406"/>
                  </a:lnTo>
                  <a:lnTo>
                    <a:pt x="0" y="1406"/>
                  </a:lnTo>
                  <a:lnTo>
                    <a:pt x="0" y="1392"/>
                  </a:lnTo>
                  <a:lnTo>
                    <a:pt x="14" y="1392"/>
                  </a:lnTo>
                  <a:close/>
                  <a:moveTo>
                    <a:pt x="14" y="1420"/>
                  </a:moveTo>
                  <a:lnTo>
                    <a:pt x="14" y="1434"/>
                  </a:lnTo>
                  <a:lnTo>
                    <a:pt x="0" y="1434"/>
                  </a:lnTo>
                  <a:lnTo>
                    <a:pt x="0" y="1420"/>
                  </a:lnTo>
                  <a:lnTo>
                    <a:pt x="14" y="1420"/>
                  </a:lnTo>
                  <a:close/>
                  <a:moveTo>
                    <a:pt x="14" y="1448"/>
                  </a:moveTo>
                  <a:lnTo>
                    <a:pt x="14" y="1461"/>
                  </a:lnTo>
                  <a:lnTo>
                    <a:pt x="0" y="1461"/>
                  </a:lnTo>
                  <a:lnTo>
                    <a:pt x="0" y="1448"/>
                  </a:lnTo>
                  <a:lnTo>
                    <a:pt x="14" y="1448"/>
                  </a:lnTo>
                  <a:close/>
                  <a:moveTo>
                    <a:pt x="14" y="1475"/>
                  </a:moveTo>
                  <a:lnTo>
                    <a:pt x="14" y="1489"/>
                  </a:lnTo>
                  <a:lnTo>
                    <a:pt x="0" y="1489"/>
                  </a:lnTo>
                  <a:lnTo>
                    <a:pt x="0" y="1475"/>
                  </a:lnTo>
                  <a:lnTo>
                    <a:pt x="14" y="1475"/>
                  </a:lnTo>
                  <a:close/>
                  <a:moveTo>
                    <a:pt x="14" y="1503"/>
                  </a:moveTo>
                  <a:lnTo>
                    <a:pt x="14" y="1517"/>
                  </a:lnTo>
                  <a:lnTo>
                    <a:pt x="0" y="1517"/>
                  </a:lnTo>
                  <a:lnTo>
                    <a:pt x="0" y="1503"/>
                  </a:lnTo>
                  <a:lnTo>
                    <a:pt x="14" y="1503"/>
                  </a:lnTo>
                  <a:close/>
                  <a:moveTo>
                    <a:pt x="14" y="1531"/>
                  </a:moveTo>
                  <a:lnTo>
                    <a:pt x="14" y="1545"/>
                  </a:lnTo>
                  <a:lnTo>
                    <a:pt x="0" y="1545"/>
                  </a:lnTo>
                  <a:lnTo>
                    <a:pt x="0" y="1531"/>
                  </a:lnTo>
                  <a:lnTo>
                    <a:pt x="14" y="1531"/>
                  </a:lnTo>
                  <a:close/>
                  <a:moveTo>
                    <a:pt x="14" y="1559"/>
                  </a:moveTo>
                  <a:lnTo>
                    <a:pt x="14" y="1573"/>
                  </a:lnTo>
                  <a:lnTo>
                    <a:pt x="0" y="1573"/>
                  </a:lnTo>
                  <a:lnTo>
                    <a:pt x="0" y="1559"/>
                  </a:lnTo>
                  <a:lnTo>
                    <a:pt x="14" y="1559"/>
                  </a:lnTo>
                  <a:close/>
                  <a:moveTo>
                    <a:pt x="14" y="1587"/>
                  </a:moveTo>
                  <a:lnTo>
                    <a:pt x="14" y="1601"/>
                  </a:lnTo>
                  <a:lnTo>
                    <a:pt x="0" y="1601"/>
                  </a:lnTo>
                  <a:lnTo>
                    <a:pt x="0" y="1587"/>
                  </a:lnTo>
                  <a:lnTo>
                    <a:pt x="14" y="1587"/>
                  </a:lnTo>
                  <a:close/>
                  <a:moveTo>
                    <a:pt x="14" y="1615"/>
                  </a:moveTo>
                  <a:lnTo>
                    <a:pt x="14" y="1628"/>
                  </a:lnTo>
                  <a:lnTo>
                    <a:pt x="0" y="1628"/>
                  </a:lnTo>
                  <a:lnTo>
                    <a:pt x="0" y="1615"/>
                  </a:lnTo>
                  <a:lnTo>
                    <a:pt x="14" y="1615"/>
                  </a:lnTo>
                  <a:close/>
                  <a:moveTo>
                    <a:pt x="14" y="1642"/>
                  </a:moveTo>
                  <a:lnTo>
                    <a:pt x="14" y="1656"/>
                  </a:lnTo>
                  <a:lnTo>
                    <a:pt x="0" y="1656"/>
                  </a:lnTo>
                  <a:lnTo>
                    <a:pt x="0" y="1642"/>
                  </a:lnTo>
                  <a:lnTo>
                    <a:pt x="14" y="1642"/>
                  </a:lnTo>
                  <a:close/>
                  <a:moveTo>
                    <a:pt x="14" y="1670"/>
                  </a:moveTo>
                  <a:lnTo>
                    <a:pt x="14" y="1684"/>
                  </a:lnTo>
                  <a:lnTo>
                    <a:pt x="0" y="1684"/>
                  </a:lnTo>
                  <a:lnTo>
                    <a:pt x="0" y="1670"/>
                  </a:lnTo>
                  <a:lnTo>
                    <a:pt x="14" y="1670"/>
                  </a:lnTo>
                  <a:close/>
                  <a:moveTo>
                    <a:pt x="14" y="1698"/>
                  </a:moveTo>
                  <a:lnTo>
                    <a:pt x="14" y="1712"/>
                  </a:lnTo>
                  <a:lnTo>
                    <a:pt x="0" y="1712"/>
                  </a:lnTo>
                  <a:lnTo>
                    <a:pt x="0" y="1698"/>
                  </a:lnTo>
                  <a:lnTo>
                    <a:pt x="14" y="1698"/>
                  </a:lnTo>
                  <a:close/>
                  <a:moveTo>
                    <a:pt x="14" y="1726"/>
                  </a:moveTo>
                  <a:lnTo>
                    <a:pt x="14" y="1740"/>
                  </a:lnTo>
                  <a:lnTo>
                    <a:pt x="0" y="1740"/>
                  </a:lnTo>
                  <a:lnTo>
                    <a:pt x="0" y="1726"/>
                  </a:lnTo>
                  <a:lnTo>
                    <a:pt x="14" y="1726"/>
                  </a:lnTo>
                  <a:close/>
                  <a:moveTo>
                    <a:pt x="14" y="1754"/>
                  </a:moveTo>
                  <a:lnTo>
                    <a:pt x="14" y="1768"/>
                  </a:lnTo>
                  <a:lnTo>
                    <a:pt x="0" y="1768"/>
                  </a:lnTo>
                  <a:lnTo>
                    <a:pt x="0" y="1754"/>
                  </a:lnTo>
                  <a:lnTo>
                    <a:pt x="14" y="1754"/>
                  </a:lnTo>
                  <a:close/>
                  <a:moveTo>
                    <a:pt x="14" y="1782"/>
                  </a:moveTo>
                  <a:lnTo>
                    <a:pt x="14" y="1795"/>
                  </a:lnTo>
                  <a:lnTo>
                    <a:pt x="0" y="1795"/>
                  </a:lnTo>
                  <a:lnTo>
                    <a:pt x="0" y="1782"/>
                  </a:lnTo>
                  <a:lnTo>
                    <a:pt x="14" y="1782"/>
                  </a:lnTo>
                  <a:close/>
                  <a:moveTo>
                    <a:pt x="14" y="1809"/>
                  </a:moveTo>
                  <a:lnTo>
                    <a:pt x="14" y="1823"/>
                  </a:lnTo>
                  <a:lnTo>
                    <a:pt x="0" y="1823"/>
                  </a:lnTo>
                  <a:lnTo>
                    <a:pt x="0" y="1809"/>
                  </a:lnTo>
                  <a:lnTo>
                    <a:pt x="14" y="1809"/>
                  </a:lnTo>
                  <a:close/>
                  <a:moveTo>
                    <a:pt x="14" y="1837"/>
                  </a:moveTo>
                  <a:lnTo>
                    <a:pt x="14" y="1851"/>
                  </a:lnTo>
                  <a:lnTo>
                    <a:pt x="0" y="1851"/>
                  </a:lnTo>
                  <a:lnTo>
                    <a:pt x="0" y="1837"/>
                  </a:lnTo>
                  <a:lnTo>
                    <a:pt x="14" y="1837"/>
                  </a:lnTo>
                  <a:close/>
                  <a:moveTo>
                    <a:pt x="14" y="1865"/>
                  </a:moveTo>
                  <a:lnTo>
                    <a:pt x="14" y="1879"/>
                  </a:lnTo>
                  <a:lnTo>
                    <a:pt x="0" y="1879"/>
                  </a:lnTo>
                  <a:lnTo>
                    <a:pt x="0" y="1865"/>
                  </a:lnTo>
                  <a:lnTo>
                    <a:pt x="14" y="1865"/>
                  </a:lnTo>
                  <a:close/>
                  <a:moveTo>
                    <a:pt x="14" y="1893"/>
                  </a:moveTo>
                  <a:lnTo>
                    <a:pt x="14" y="1907"/>
                  </a:lnTo>
                  <a:lnTo>
                    <a:pt x="0" y="1907"/>
                  </a:lnTo>
                  <a:lnTo>
                    <a:pt x="0" y="1893"/>
                  </a:lnTo>
                  <a:lnTo>
                    <a:pt x="14" y="1893"/>
                  </a:lnTo>
                  <a:close/>
                  <a:moveTo>
                    <a:pt x="14" y="1921"/>
                  </a:moveTo>
                  <a:lnTo>
                    <a:pt x="14" y="1935"/>
                  </a:lnTo>
                  <a:lnTo>
                    <a:pt x="0" y="1935"/>
                  </a:lnTo>
                  <a:lnTo>
                    <a:pt x="0" y="1921"/>
                  </a:lnTo>
                  <a:lnTo>
                    <a:pt x="14" y="1921"/>
                  </a:lnTo>
                  <a:close/>
                  <a:moveTo>
                    <a:pt x="14" y="1949"/>
                  </a:moveTo>
                  <a:lnTo>
                    <a:pt x="14" y="1962"/>
                  </a:lnTo>
                  <a:lnTo>
                    <a:pt x="0" y="1962"/>
                  </a:lnTo>
                  <a:lnTo>
                    <a:pt x="0" y="1949"/>
                  </a:lnTo>
                  <a:lnTo>
                    <a:pt x="14" y="1949"/>
                  </a:lnTo>
                  <a:close/>
                  <a:moveTo>
                    <a:pt x="14" y="1976"/>
                  </a:moveTo>
                  <a:lnTo>
                    <a:pt x="14" y="1990"/>
                  </a:lnTo>
                  <a:lnTo>
                    <a:pt x="0" y="1990"/>
                  </a:lnTo>
                  <a:lnTo>
                    <a:pt x="0" y="1976"/>
                  </a:lnTo>
                  <a:lnTo>
                    <a:pt x="14" y="1976"/>
                  </a:lnTo>
                  <a:close/>
                  <a:moveTo>
                    <a:pt x="14" y="2004"/>
                  </a:moveTo>
                  <a:lnTo>
                    <a:pt x="14" y="2018"/>
                  </a:lnTo>
                  <a:lnTo>
                    <a:pt x="0" y="2018"/>
                  </a:lnTo>
                  <a:lnTo>
                    <a:pt x="0" y="2004"/>
                  </a:lnTo>
                  <a:lnTo>
                    <a:pt x="14" y="2004"/>
                  </a:lnTo>
                  <a:close/>
                  <a:moveTo>
                    <a:pt x="14" y="2032"/>
                  </a:moveTo>
                  <a:lnTo>
                    <a:pt x="14" y="2046"/>
                  </a:lnTo>
                  <a:lnTo>
                    <a:pt x="0" y="2046"/>
                  </a:lnTo>
                  <a:lnTo>
                    <a:pt x="0" y="2032"/>
                  </a:lnTo>
                  <a:lnTo>
                    <a:pt x="14" y="2032"/>
                  </a:lnTo>
                  <a:close/>
                  <a:moveTo>
                    <a:pt x="14" y="2060"/>
                  </a:moveTo>
                  <a:lnTo>
                    <a:pt x="14" y="2074"/>
                  </a:lnTo>
                  <a:lnTo>
                    <a:pt x="0" y="2074"/>
                  </a:lnTo>
                  <a:lnTo>
                    <a:pt x="0" y="2060"/>
                  </a:lnTo>
                  <a:lnTo>
                    <a:pt x="14" y="2060"/>
                  </a:lnTo>
                  <a:close/>
                  <a:moveTo>
                    <a:pt x="14" y="2087"/>
                  </a:moveTo>
                  <a:lnTo>
                    <a:pt x="14" y="2102"/>
                  </a:lnTo>
                  <a:lnTo>
                    <a:pt x="0" y="2102"/>
                  </a:lnTo>
                  <a:lnTo>
                    <a:pt x="0" y="2087"/>
                  </a:lnTo>
                  <a:lnTo>
                    <a:pt x="14" y="2087"/>
                  </a:lnTo>
                  <a:close/>
                  <a:moveTo>
                    <a:pt x="14" y="2116"/>
                  </a:moveTo>
                  <a:lnTo>
                    <a:pt x="14" y="2129"/>
                  </a:lnTo>
                  <a:lnTo>
                    <a:pt x="0" y="2129"/>
                  </a:lnTo>
                  <a:lnTo>
                    <a:pt x="0" y="2116"/>
                  </a:lnTo>
                  <a:lnTo>
                    <a:pt x="14" y="2116"/>
                  </a:lnTo>
                  <a:close/>
                  <a:moveTo>
                    <a:pt x="14" y="2143"/>
                  </a:moveTo>
                  <a:lnTo>
                    <a:pt x="14" y="2157"/>
                  </a:lnTo>
                  <a:lnTo>
                    <a:pt x="0" y="2157"/>
                  </a:lnTo>
                  <a:lnTo>
                    <a:pt x="0" y="2143"/>
                  </a:lnTo>
                  <a:lnTo>
                    <a:pt x="14" y="2143"/>
                  </a:lnTo>
                  <a:close/>
                  <a:moveTo>
                    <a:pt x="14" y="2171"/>
                  </a:moveTo>
                  <a:lnTo>
                    <a:pt x="14" y="2185"/>
                  </a:lnTo>
                  <a:lnTo>
                    <a:pt x="0" y="2185"/>
                  </a:lnTo>
                  <a:lnTo>
                    <a:pt x="0" y="2171"/>
                  </a:lnTo>
                  <a:lnTo>
                    <a:pt x="14" y="2171"/>
                  </a:lnTo>
                  <a:close/>
                  <a:moveTo>
                    <a:pt x="14" y="2199"/>
                  </a:moveTo>
                  <a:lnTo>
                    <a:pt x="14" y="2213"/>
                  </a:lnTo>
                  <a:lnTo>
                    <a:pt x="0" y="2213"/>
                  </a:lnTo>
                  <a:lnTo>
                    <a:pt x="0" y="2199"/>
                  </a:lnTo>
                  <a:lnTo>
                    <a:pt x="14" y="2199"/>
                  </a:lnTo>
                  <a:close/>
                  <a:moveTo>
                    <a:pt x="14" y="2227"/>
                  </a:moveTo>
                  <a:lnTo>
                    <a:pt x="14" y="2241"/>
                  </a:lnTo>
                  <a:lnTo>
                    <a:pt x="0" y="2241"/>
                  </a:lnTo>
                  <a:lnTo>
                    <a:pt x="0" y="2227"/>
                  </a:lnTo>
                  <a:lnTo>
                    <a:pt x="14" y="2227"/>
                  </a:lnTo>
                  <a:close/>
                  <a:moveTo>
                    <a:pt x="14" y="2254"/>
                  </a:moveTo>
                  <a:lnTo>
                    <a:pt x="14" y="2268"/>
                  </a:lnTo>
                  <a:lnTo>
                    <a:pt x="0" y="2268"/>
                  </a:lnTo>
                  <a:lnTo>
                    <a:pt x="0" y="2254"/>
                  </a:lnTo>
                  <a:lnTo>
                    <a:pt x="14" y="2254"/>
                  </a:lnTo>
                  <a:close/>
                  <a:moveTo>
                    <a:pt x="14" y="2283"/>
                  </a:moveTo>
                  <a:lnTo>
                    <a:pt x="14" y="2296"/>
                  </a:lnTo>
                  <a:lnTo>
                    <a:pt x="0" y="2296"/>
                  </a:lnTo>
                  <a:lnTo>
                    <a:pt x="0" y="2283"/>
                  </a:lnTo>
                  <a:lnTo>
                    <a:pt x="14" y="2283"/>
                  </a:lnTo>
                  <a:close/>
                  <a:moveTo>
                    <a:pt x="14" y="2310"/>
                  </a:moveTo>
                  <a:lnTo>
                    <a:pt x="14" y="2324"/>
                  </a:lnTo>
                  <a:lnTo>
                    <a:pt x="0" y="2324"/>
                  </a:lnTo>
                  <a:lnTo>
                    <a:pt x="0" y="2310"/>
                  </a:lnTo>
                  <a:lnTo>
                    <a:pt x="14" y="2310"/>
                  </a:lnTo>
                  <a:close/>
                  <a:moveTo>
                    <a:pt x="14" y="2338"/>
                  </a:moveTo>
                  <a:lnTo>
                    <a:pt x="14" y="2352"/>
                  </a:lnTo>
                  <a:lnTo>
                    <a:pt x="0" y="2352"/>
                  </a:lnTo>
                  <a:lnTo>
                    <a:pt x="0" y="2338"/>
                  </a:lnTo>
                  <a:lnTo>
                    <a:pt x="14" y="2338"/>
                  </a:lnTo>
                  <a:close/>
                  <a:moveTo>
                    <a:pt x="14" y="2366"/>
                  </a:moveTo>
                  <a:lnTo>
                    <a:pt x="14" y="2380"/>
                  </a:lnTo>
                  <a:lnTo>
                    <a:pt x="0" y="2380"/>
                  </a:lnTo>
                  <a:lnTo>
                    <a:pt x="0" y="2366"/>
                  </a:lnTo>
                  <a:lnTo>
                    <a:pt x="14" y="2366"/>
                  </a:lnTo>
                  <a:close/>
                  <a:moveTo>
                    <a:pt x="14" y="2394"/>
                  </a:moveTo>
                  <a:lnTo>
                    <a:pt x="14" y="2408"/>
                  </a:lnTo>
                  <a:lnTo>
                    <a:pt x="0" y="2408"/>
                  </a:lnTo>
                  <a:lnTo>
                    <a:pt x="0" y="2394"/>
                  </a:lnTo>
                  <a:lnTo>
                    <a:pt x="14" y="2394"/>
                  </a:lnTo>
                  <a:close/>
                  <a:moveTo>
                    <a:pt x="14" y="2421"/>
                  </a:moveTo>
                  <a:lnTo>
                    <a:pt x="14" y="2435"/>
                  </a:lnTo>
                  <a:lnTo>
                    <a:pt x="0" y="2435"/>
                  </a:lnTo>
                  <a:lnTo>
                    <a:pt x="0" y="2421"/>
                  </a:lnTo>
                  <a:lnTo>
                    <a:pt x="14" y="2421"/>
                  </a:lnTo>
                  <a:close/>
                  <a:moveTo>
                    <a:pt x="14" y="2449"/>
                  </a:moveTo>
                  <a:lnTo>
                    <a:pt x="14" y="2453"/>
                  </a:lnTo>
                  <a:lnTo>
                    <a:pt x="0" y="2453"/>
                  </a:lnTo>
                  <a:lnTo>
                    <a:pt x="0" y="2449"/>
                  </a:lnTo>
                  <a:lnTo>
                    <a:pt x="14" y="2449"/>
                  </a:lnTo>
                  <a:close/>
                </a:path>
              </a:pathLst>
            </a:custGeom>
            <a:solidFill>
              <a:srgbClr val="000000"/>
            </a:solidFill>
            <a:ln w="0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36" name="Freeform 33">
              <a:extLst>
                <a:ext uri="{FF2B5EF4-FFF2-40B4-BE49-F238E27FC236}">
                  <a16:creationId xmlns:a16="http://schemas.microsoft.com/office/drawing/2014/main" id="{0A6E15CA-913F-4662-A8AB-774BA846C59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098052" y="2505080"/>
              <a:ext cx="23813" cy="3894138"/>
            </a:xfrm>
            <a:custGeom>
              <a:avLst/>
              <a:gdLst>
                <a:gd name="T0" fmla="*/ 15 w 15"/>
                <a:gd name="T1" fmla="*/ 42 h 2453"/>
                <a:gd name="T2" fmla="*/ 0 w 15"/>
                <a:gd name="T3" fmla="*/ 56 h 2453"/>
                <a:gd name="T4" fmla="*/ 15 w 15"/>
                <a:gd name="T5" fmla="*/ 112 h 2453"/>
                <a:gd name="T6" fmla="*/ 0 w 15"/>
                <a:gd name="T7" fmla="*/ 154 h 2453"/>
                <a:gd name="T8" fmla="*/ 15 w 15"/>
                <a:gd name="T9" fmla="*/ 167 h 2453"/>
                <a:gd name="T10" fmla="*/ 15 w 15"/>
                <a:gd name="T11" fmla="*/ 237 h 2453"/>
                <a:gd name="T12" fmla="*/ 0 w 15"/>
                <a:gd name="T13" fmla="*/ 251 h 2453"/>
                <a:gd name="T14" fmla="*/ 15 w 15"/>
                <a:gd name="T15" fmla="*/ 307 h 2453"/>
                <a:gd name="T16" fmla="*/ 0 w 15"/>
                <a:gd name="T17" fmla="*/ 348 h 2453"/>
                <a:gd name="T18" fmla="*/ 15 w 15"/>
                <a:gd name="T19" fmla="*/ 362 h 2453"/>
                <a:gd name="T20" fmla="*/ 15 w 15"/>
                <a:gd name="T21" fmla="*/ 432 h 2453"/>
                <a:gd name="T22" fmla="*/ 0 w 15"/>
                <a:gd name="T23" fmla="*/ 446 h 2453"/>
                <a:gd name="T24" fmla="*/ 15 w 15"/>
                <a:gd name="T25" fmla="*/ 501 h 2453"/>
                <a:gd name="T26" fmla="*/ 0 w 15"/>
                <a:gd name="T27" fmla="*/ 543 h 2453"/>
                <a:gd name="T28" fmla="*/ 15 w 15"/>
                <a:gd name="T29" fmla="*/ 557 h 2453"/>
                <a:gd name="T30" fmla="*/ 15 w 15"/>
                <a:gd name="T31" fmla="*/ 627 h 2453"/>
                <a:gd name="T32" fmla="*/ 0 w 15"/>
                <a:gd name="T33" fmla="*/ 641 h 2453"/>
                <a:gd name="T34" fmla="*/ 15 w 15"/>
                <a:gd name="T35" fmla="*/ 696 h 2453"/>
                <a:gd name="T36" fmla="*/ 0 w 15"/>
                <a:gd name="T37" fmla="*/ 738 h 2453"/>
                <a:gd name="T38" fmla="*/ 15 w 15"/>
                <a:gd name="T39" fmla="*/ 752 h 2453"/>
                <a:gd name="T40" fmla="*/ 15 w 15"/>
                <a:gd name="T41" fmla="*/ 822 h 2453"/>
                <a:gd name="T42" fmla="*/ 0 w 15"/>
                <a:gd name="T43" fmla="*/ 835 h 2453"/>
                <a:gd name="T44" fmla="*/ 15 w 15"/>
                <a:gd name="T45" fmla="*/ 891 h 2453"/>
                <a:gd name="T46" fmla="*/ 0 w 15"/>
                <a:gd name="T47" fmla="*/ 933 h 2453"/>
                <a:gd name="T48" fmla="*/ 15 w 15"/>
                <a:gd name="T49" fmla="*/ 947 h 2453"/>
                <a:gd name="T50" fmla="*/ 15 w 15"/>
                <a:gd name="T51" fmla="*/ 1016 h 2453"/>
                <a:gd name="T52" fmla="*/ 0 w 15"/>
                <a:gd name="T53" fmla="*/ 1030 h 2453"/>
                <a:gd name="T54" fmla="*/ 15 w 15"/>
                <a:gd name="T55" fmla="*/ 1086 h 2453"/>
                <a:gd name="T56" fmla="*/ 0 w 15"/>
                <a:gd name="T57" fmla="*/ 1127 h 2453"/>
                <a:gd name="T58" fmla="*/ 15 w 15"/>
                <a:gd name="T59" fmla="*/ 1141 h 2453"/>
                <a:gd name="T60" fmla="*/ 15 w 15"/>
                <a:gd name="T61" fmla="*/ 1211 h 2453"/>
                <a:gd name="T62" fmla="*/ 0 w 15"/>
                <a:gd name="T63" fmla="*/ 1225 h 2453"/>
                <a:gd name="T64" fmla="*/ 15 w 15"/>
                <a:gd name="T65" fmla="*/ 1281 h 2453"/>
                <a:gd name="T66" fmla="*/ 0 w 15"/>
                <a:gd name="T67" fmla="*/ 1322 h 2453"/>
                <a:gd name="T68" fmla="*/ 15 w 15"/>
                <a:gd name="T69" fmla="*/ 1336 h 2453"/>
                <a:gd name="T70" fmla="*/ 15 w 15"/>
                <a:gd name="T71" fmla="*/ 1406 h 2453"/>
                <a:gd name="T72" fmla="*/ 0 w 15"/>
                <a:gd name="T73" fmla="*/ 1420 h 2453"/>
                <a:gd name="T74" fmla="*/ 15 w 15"/>
                <a:gd name="T75" fmla="*/ 1475 h 2453"/>
                <a:gd name="T76" fmla="*/ 0 w 15"/>
                <a:gd name="T77" fmla="*/ 1517 h 2453"/>
                <a:gd name="T78" fmla="*/ 15 w 15"/>
                <a:gd name="T79" fmla="*/ 1531 h 2453"/>
                <a:gd name="T80" fmla="*/ 15 w 15"/>
                <a:gd name="T81" fmla="*/ 1601 h 2453"/>
                <a:gd name="T82" fmla="*/ 0 w 15"/>
                <a:gd name="T83" fmla="*/ 1615 h 2453"/>
                <a:gd name="T84" fmla="*/ 15 w 15"/>
                <a:gd name="T85" fmla="*/ 1670 h 2453"/>
                <a:gd name="T86" fmla="*/ 0 w 15"/>
                <a:gd name="T87" fmla="*/ 1712 h 2453"/>
                <a:gd name="T88" fmla="*/ 15 w 15"/>
                <a:gd name="T89" fmla="*/ 1726 h 2453"/>
                <a:gd name="T90" fmla="*/ 15 w 15"/>
                <a:gd name="T91" fmla="*/ 1795 h 2453"/>
                <a:gd name="T92" fmla="*/ 0 w 15"/>
                <a:gd name="T93" fmla="*/ 1809 h 2453"/>
                <a:gd name="T94" fmla="*/ 15 w 15"/>
                <a:gd name="T95" fmla="*/ 1865 h 2453"/>
                <a:gd name="T96" fmla="*/ 0 w 15"/>
                <a:gd name="T97" fmla="*/ 1907 h 2453"/>
                <a:gd name="T98" fmla="*/ 15 w 15"/>
                <a:gd name="T99" fmla="*/ 1921 h 2453"/>
                <a:gd name="T100" fmla="*/ 15 w 15"/>
                <a:gd name="T101" fmla="*/ 1990 h 2453"/>
                <a:gd name="T102" fmla="*/ 0 w 15"/>
                <a:gd name="T103" fmla="*/ 2004 h 2453"/>
                <a:gd name="T104" fmla="*/ 15 w 15"/>
                <a:gd name="T105" fmla="*/ 2060 h 2453"/>
                <a:gd name="T106" fmla="*/ 0 w 15"/>
                <a:gd name="T107" fmla="*/ 2102 h 2453"/>
                <a:gd name="T108" fmla="*/ 15 w 15"/>
                <a:gd name="T109" fmla="*/ 2116 h 2453"/>
                <a:gd name="T110" fmla="*/ 15 w 15"/>
                <a:gd name="T111" fmla="*/ 2185 h 2453"/>
                <a:gd name="T112" fmla="*/ 0 w 15"/>
                <a:gd name="T113" fmla="*/ 2199 h 2453"/>
                <a:gd name="T114" fmla="*/ 15 w 15"/>
                <a:gd name="T115" fmla="*/ 2254 h 2453"/>
                <a:gd name="T116" fmla="*/ 0 w 15"/>
                <a:gd name="T117" fmla="*/ 2296 h 2453"/>
                <a:gd name="T118" fmla="*/ 15 w 15"/>
                <a:gd name="T119" fmla="*/ 2310 h 2453"/>
                <a:gd name="T120" fmla="*/ 15 w 15"/>
                <a:gd name="T121" fmla="*/ 2380 h 2453"/>
                <a:gd name="T122" fmla="*/ 0 w 15"/>
                <a:gd name="T123" fmla="*/ 2394 h 2453"/>
                <a:gd name="T124" fmla="*/ 15 w 15"/>
                <a:gd name="T125" fmla="*/ 2449 h 24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5" h="2453">
                  <a:moveTo>
                    <a:pt x="15" y="0"/>
                  </a:moveTo>
                  <a:lnTo>
                    <a:pt x="15" y="14"/>
                  </a:lnTo>
                  <a:lnTo>
                    <a:pt x="0" y="14"/>
                  </a:lnTo>
                  <a:lnTo>
                    <a:pt x="0" y="0"/>
                  </a:lnTo>
                  <a:lnTo>
                    <a:pt x="15" y="0"/>
                  </a:lnTo>
                  <a:close/>
                  <a:moveTo>
                    <a:pt x="15" y="28"/>
                  </a:moveTo>
                  <a:lnTo>
                    <a:pt x="15" y="42"/>
                  </a:lnTo>
                  <a:lnTo>
                    <a:pt x="0" y="42"/>
                  </a:lnTo>
                  <a:lnTo>
                    <a:pt x="0" y="28"/>
                  </a:lnTo>
                  <a:lnTo>
                    <a:pt x="15" y="28"/>
                  </a:lnTo>
                  <a:close/>
                  <a:moveTo>
                    <a:pt x="15" y="56"/>
                  </a:moveTo>
                  <a:lnTo>
                    <a:pt x="15" y="70"/>
                  </a:lnTo>
                  <a:lnTo>
                    <a:pt x="0" y="70"/>
                  </a:lnTo>
                  <a:lnTo>
                    <a:pt x="0" y="56"/>
                  </a:lnTo>
                  <a:lnTo>
                    <a:pt x="15" y="56"/>
                  </a:lnTo>
                  <a:close/>
                  <a:moveTo>
                    <a:pt x="15" y="84"/>
                  </a:moveTo>
                  <a:lnTo>
                    <a:pt x="15" y="98"/>
                  </a:lnTo>
                  <a:lnTo>
                    <a:pt x="0" y="98"/>
                  </a:lnTo>
                  <a:lnTo>
                    <a:pt x="0" y="84"/>
                  </a:lnTo>
                  <a:lnTo>
                    <a:pt x="15" y="84"/>
                  </a:lnTo>
                  <a:close/>
                  <a:moveTo>
                    <a:pt x="15" y="112"/>
                  </a:moveTo>
                  <a:lnTo>
                    <a:pt x="15" y="126"/>
                  </a:lnTo>
                  <a:lnTo>
                    <a:pt x="0" y="126"/>
                  </a:lnTo>
                  <a:lnTo>
                    <a:pt x="0" y="112"/>
                  </a:lnTo>
                  <a:lnTo>
                    <a:pt x="15" y="112"/>
                  </a:lnTo>
                  <a:close/>
                  <a:moveTo>
                    <a:pt x="15" y="140"/>
                  </a:moveTo>
                  <a:lnTo>
                    <a:pt x="15" y="154"/>
                  </a:lnTo>
                  <a:lnTo>
                    <a:pt x="0" y="154"/>
                  </a:lnTo>
                  <a:lnTo>
                    <a:pt x="0" y="140"/>
                  </a:lnTo>
                  <a:lnTo>
                    <a:pt x="15" y="140"/>
                  </a:lnTo>
                  <a:close/>
                  <a:moveTo>
                    <a:pt x="15" y="167"/>
                  </a:moveTo>
                  <a:lnTo>
                    <a:pt x="15" y="181"/>
                  </a:lnTo>
                  <a:lnTo>
                    <a:pt x="0" y="181"/>
                  </a:lnTo>
                  <a:lnTo>
                    <a:pt x="0" y="167"/>
                  </a:lnTo>
                  <a:lnTo>
                    <a:pt x="15" y="167"/>
                  </a:lnTo>
                  <a:close/>
                  <a:moveTo>
                    <a:pt x="15" y="195"/>
                  </a:moveTo>
                  <a:lnTo>
                    <a:pt x="15" y="209"/>
                  </a:lnTo>
                  <a:lnTo>
                    <a:pt x="0" y="209"/>
                  </a:lnTo>
                  <a:lnTo>
                    <a:pt x="0" y="195"/>
                  </a:lnTo>
                  <a:lnTo>
                    <a:pt x="15" y="195"/>
                  </a:lnTo>
                  <a:close/>
                  <a:moveTo>
                    <a:pt x="15" y="223"/>
                  </a:moveTo>
                  <a:lnTo>
                    <a:pt x="15" y="237"/>
                  </a:lnTo>
                  <a:lnTo>
                    <a:pt x="0" y="237"/>
                  </a:lnTo>
                  <a:lnTo>
                    <a:pt x="0" y="223"/>
                  </a:lnTo>
                  <a:lnTo>
                    <a:pt x="15" y="223"/>
                  </a:lnTo>
                  <a:close/>
                  <a:moveTo>
                    <a:pt x="15" y="251"/>
                  </a:moveTo>
                  <a:lnTo>
                    <a:pt x="15" y="265"/>
                  </a:lnTo>
                  <a:lnTo>
                    <a:pt x="0" y="265"/>
                  </a:lnTo>
                  <a:lnTo>
                    <a:pt x="0" y="251"/>
                  </a:lnTo>
                  <a:lnTo>
                    <a:pt x="15" y="251"/>
                  </a:lnTo>
                  <a:close/>
                  <a:moveTo>
                    <a:pt x="15" y="279"/>
                  </a:moveTo>
                  <a:lnTo>
                    <a:pt x="15" y="293"/>
                  </a:lnTo>
                  <a:lnTo>
                    <a:pt x="0" y="293"/>
                  </a:lnTo>
                  <a:lnTo>
                    <a:pt x="0" y="279"/>
                  </a:lnTo>
                  <a:lnTo>
                    <a:pt x="15" y="279"/>
                  </a:lnTo>
                  <a:close/>
                  <a:moveTo>
                    <a:pt x="15" y="307"/>
                  </a:moveTo>
                  <a:lnTo>
                    <a:pt x="15" y="321"/>
                  </a:lnTo>
                  <a:lnTo>
                    <a:pt x="0" y="321"/>
                  </a:lnTo>
                  <a:lnTo>
                    <a:pt x="0" y="307"/>
                  </a:lnTo>
                  <a:lnTo>
                    <a:pt x="15" y="307"/>
                  </a:lnTo>
                  <a:close/>
                  <a:moveTo>
                    <a:pt x="15" y="334"/>
                  </a:moveTo>
                  <a:lnTo>
                    <a:pt x="15" y="348"/>
                  </a:lnTo>
                  <a:lnTo>
                    <a:pt x="0" y="348"/>
                  </a:lnTo>
                  <a:lnTo>
                    <a:pt x="0" y="334"/>
                  </a:lnTo>
                  <a:lnTo>
                    <a:pt x="15" y="334"/>
                  </a:lnTo>
                  <a:close/>
                  <a:moveTo>
                    <a:pt x="15" y="362"/>
                  </a:moveTo>
                  <a:lnTo>
                    <a:pt x="15" y="376"/>
                  </a:lnTo>
                  <a:lnTo>
                    <a:pt x="0" y="376"/>
                  </a:lnTo>
                  <a:lnTo>
                    <a:pt x="0" y="362"/>
                  </a:lnTo>
                  <a:lnTo>
                    <a:pt x="15" y="362"/>
                  </a:lnTo>
                  <a:close/>
                  <a:moveTo>
                    <a:pt x="15" y="390"/>
                  </a:moveTo>
                  <a:lnTo>
                    <a:pt x="15" y="404"/>
                  </a:lnTo>
                  <a:lnTo>
                    <a:pt x="0" y="404"/>
                  </a:lnTo>
                  <a:lnTo>
                    <a:pt x="0" y="390"/>
                  </a:lnTo>
                  <a:lnTo>
                    <a:pt x="15" y="390"/>
                  </a:lnTo>
                  <a:close/>
                  <a:moveTo>
                    <a:pt x="15" y="418"/>
                  </a:moveTo>
                  <a:lnTo>
                    <a:pt x="15" y="432"/>
                  </a:lnTo>
                  <a:lnTo>
                    <a:pt x="0" y="432"/>
                  </a:lnTo>
                  <a:lnTo>
                    <a:pt x="0" y="418"/>
                  </a:lnTo>
                  <a:lnTo>
                    <a:pt x="15" y="418"/>
                  </a:lnTo>
                  <a:close/>
                  <a:moveTo>
                    <a:pt x="15" y="446"/>
                  </a:moveTo>
                  <a:lnTo>
                    <a:pt x="15" y="460"/>
                  </a:lnTo>
                  <a:lnTo>
                    <a:pt x="0" y="460"/>
                  </a:lnTo>
                  <a:lnTo>
                    <a:pt x="0" y="446"/>
                  </a:lnTo>
                  <a:lnTo>
                    <a:pt x="15" y="446"/>
                  </a:lnTo>
                  <a:close/>
                  <a:moveTo>
                    <a:pt x="15" y="474"/>
                  </a:moveTo>
                  <a:lnTo>
                    <a:pt x="15" y="488"/>
                  </a:lnTo>
                  <a:lnTo>
                    <a:pt x="0" y="488"/>
                  </a:lnTo>
                  <a:lnTo>
                    <a:pt x="0" y="474"/>
                  </a:lnTo>
                  <a:lnTo>
                    <a:pt x="15" y="474"/>
                  </a:lnTo>
                  <a:close/>
                  <a:moveTo>
                    <a:pt x="15" y="501"/>
                  </a:moveTo>
                  <a:lnTo>
                    <a:pt x="15" y="515"/>
                  </a:lnTo>
                  <a:lnTo>
                    <a:pt x="0" y="515"/>
                  </a:lnTo>
                  <a:lnTo>
                    <a:pt x="0" y="501"/>
                  </a:lnTo>
                  <a:lnTo>
                    <a:pt x="15" y="501"/>
                  </a:lnTo>
                  <a:close/>
                  <a:moveTo>
                    <a:pt x="15" y="529"/>
                  </a:moveTo>
                  <a:lnTo>
                    <a:pt x="15" y="543"/>
                  </a:lnTo>
                  <a:lnTo>
                    <a:pt x="0" y="543"/>
                  </a:lnTo>
                  <a:lnTo>
                    <a:pt x="0" y="529"/>
                  </a:lnTo>
                  <a:lnTo>
                    <a:pt x="15" y="529"/>
                  </a:lnTo>
                  <a:close/>
                  <a:moveTo>
                    <a:pt x="15" y="557"/>
                  </a:moveTo>
                  <a:lnTo>
                    <a:pt x="15" y="571"/>
                  </a:lnTo>
                  <a:lnTo>
                    <a:pt x="0" y="571"/>
                  </a:lnTo>
                  <a:lnTo>
                    <a:pt x="0" y="557"/>
                  </a:lnTo>
                  <a:lnTo>
                    <a:pt x="15" y="557"/>
                  </a:lnTo>
                  <a:close/>
                  <a:moveTo>
                    <a:pt x="15" y="585"/>
                  </a:moveTo>
                  <a:lnTo>
                    <a:pt x="15" y="599"/>
                  </a:lnTo>
                  <a:lnTo>
                    <a:pt x="0" y="599"/>
                  </a:lnTo>
                  <a:lnTo>
                    <a:pt x="0" y="585"/>
                  </a:lnTo>
                  <a:lnTo>
                    <a:pt x="15" y="585"/>
                  </a:lnTo>
                  <a:close/>
                  <a:moveTo>
                    <a:pt x="15" y="613"/>
                  </a:moveTo>
                  <a:lnTo>
                    <a:pt x="15" y="627"/>
                  </a:lnTo>
                  <a:lnTo>
                    <a:pt x="0" y="627"/>
                  </a:lnTo>
                  <a:lnTo>
                    <a:pt x="0" y="613"/>
                  </a:lnTo>
                  <a:lnTo>
                    <a:pt x="15" y="613"/>
                  </a:lnTo>
                  <a:close/>
                  <a:moveTo>
                    <a:pt x="15" y="641"/>
                  </a:moveTo>
                  <a:lnTo>
                    <a:pt x="15" y="655"/>
                  </a:lnTo>
                  <a:lnTo>
                    <a:pt x="0" y="655"/>
                  </a:lnTo>
                  <a:lnTo>
                    <a:pt x="0" y="641"/>
                  </a:lnTo>
                  <a:lnTo>
                    <a:pt x="15" y="641"/>
                  </a:lnTo>
                  <a:close/>
                  <a:moveTo>
                    <a:pt x="15" y="668"/>
                  </a:moveTo>
                  <a:lnTo>
                    <a:pt x="15" y="682"/>
                  </a:lnTo>
                  <a:lnTo>
                    <a:pt x="0" y="682"/>
                  </a:lnTo>
                  <a:lnTo>
                    <a:pt x="0" y="668"/>
                  </a:lnTo>
                  <a:lnTo>
                    <a:pt x="15" y="668"/>
                  </a:lnTo>
                  <a:close/>
                  <a:moveTo>
                    <a:pt x="15" y="696"/>
                  </a:moveTo>
                  <a:lnTo>
                    <a:pt x="15" y="710"/>
                  </a:lnTo>
                  <a:lnTo>
                    <a:pt x="0" y="710"/>
                  </a:lnTo>
                  <a:lnTo>
                    <a:pt x="0" y="696"/>
                  </a:lnTo>
                  <a:lnTo>
                    <a:pt x="15" y="696"/>
                  </a:lnTo>
                  <a:close/>
                  <a:moveTo>
                    <a:pt x="15" y="724"/>
                  </a:moveTo>
                  <a:lnTo>
                    <a:pt x="15" y="738"/>
                  </a:lnTo>
                  <a:lnTo>
                    <a:pt x="0" y="738"/>
                  </a:lnTo>
                  <a:lnTo>
                    <a:pt x="0" y="724"/>
                  </a:lnTo>
                  <a:lnTo>
                    <a:pt x="15" y="724"/>
                  </a:lnTo>
                  <a:close/>
                  <a:moveTo>
                    <a:pt x="15" y="752"/>
                  </a:moveTo>
                  <a:lnTo>
                    <a:pt x="15" y="766"/>
                  </a:lnTo>
                  <a:lnTo>
                    <a:pt x="0" y="766"/>
                  </a:lnTo>
                  <a:lnTo>
                    <a:pt x="0" y="752"/>
                  </a:lnTo>
                  <a:lnTo>
                    <a:pt x="15" y="752"/>
                  </a:lnTo>
                  <a:close/>
                  <a:moveTo>
                    <a:pt x="15" y="780"/>
                  </a:moveTo>
                  <a:lnTo>
                    <a:pt x="15" y="793"/>
                  </a:lnTo>
                  <a:lnTo>
                    <a:pt x="0" y="793"/>
                  </a:lnTo>
                  <a:lnTo>
                    <a:pt x="0" y="780"/>
                  </a:lnTo>
                  <a:lnTo>
                    <a:pt x="15" y="780"/>
                  </a:lnTo>
                  <a:close/>
                  <a:moveTo>
                    <a:pt x="15" y="808"/>
                  </a:moveTo>
                  <a:lnTo>
                    <a:pt x="15" y="822"/>
                  </a:lnTo>
                  <a:lnTo>
                    <a:pt x="0" y="822"/>
                  </a:lnTo>
                  <a:lnTo>
                    <a:pt x="0" y="808"/>
                  </a:lnTo>
                  <a:lnTo>
                    <a:pt x="15" y="808"/>
                  </a:lnTo>
                  <a:close/>
                  <a:moveTo>
                    <a:pt x="15" y="835"/>
                  </a:moveTo>
                  <a:lnTo>
                    <a:pt x="15" y="849"/>
                  </a:lnTo>
                  <a:lnTo>
                    <a:pt x="0" y="849"/>
                  </a:lnTo>
                  <a:lnTo>
                    <a:pt x="0" y="835"/>
                  </a:lnTo>
                  <a:lnTo>
                    <a:pt x="15" y="835"/>
                  </a:lnTo>
                  <a:close/>
                  <a:moveTo>
                    <a:pt x="15" y="863"/>
                  </a:moveTo>
                  <a:lnTo>
                    <a:pt x="15" y="877"/>
                  </a:lnTo>
                  <a:lnTo>
                    <a:pt x="0" y="877"/>
                  </a:lnTo>
                  <a:lnTo>
                    <a:pt x="0" y="863"/>
                  </a:lnTo>
                  <a:lnTo>
                    <a:pt x="15" y="863"/>
                  </a:lnTo>
                  <a:close/>
                  <a:moveTo>
                    <a:pt x="15" y="891"/>
                  </a:moveTo>
                  <a:lnTo>
                    <a:pt x="15" y="905"/>
                  </a:lnTo>
                  <a:lnTo>
                    <a:pt x="0" y="905"/>
                  </a:lnTo>
                  <a:lnTo>
                    <a:pt x="0" y="891"/>
                  </a:lnTo>
                  <a:lnTo>
                    <a:pt x="15" y="891"/>
                  </a:lnTo>
                  <a:close/>
                  <a:moveTo>
                    <a:pt x="15" y="919"/>
                  </a:moveTo>
                  <a:lnTo>
                    <a:pt x="15" y="933"/>
                  </a:lnTo>
                  <a:lnTo>
                    <a:pt x="0" y="933"/>
                  </a:lnTo>
                  <a:lnTo>
                    <a:pt x="0" y="919"/>
                  </a:lnTo>
                  <a:lnTo>
                    <a:pt x="15" y="919"/>
                  </a:lnTo>
                  <a:close/>
                  <a:moveTo>
                    <a:pt x="15" y="947"/>
                  </a:moveTo>
                  <a:lnTo>
                    <a:pt x="15" y="960"/>
                  </a:lnTo>
                  <a:lnTo>
                    <a:pt x="0" y="960"/>
                  </a:lnTo>
                  <a:lnTo>
                    <a:pt x="0" y="947"/>
                  </a:lnTo>
                  <a:lnTo>
                    <a:pt x="15" y="947"/>
                  </a:lnTo>
                  <a:close/>
                  <a:moveTo>
                    <a:pt x="15" y="974"/>
                  </a:moveTo>
                  <a:lnTo>
                    <a:pt x="15" y="988"/>
                  </a:lnTo>
                  <a:lnTo>
                    <a:pt x="0" y="988"/>
                  </a:lnTo>
                  <a:lnTo>
                    <a:pt x="0" y="974"/>
                  </a:lnTo>
                  <a:lnTo>
                    <a:pt x="15" y="974"/>
                  </a:lnTo>
                  <a:close/>
                  <a:moveTo>
                    <a:pt x="15" y="1002"/>
                  </a:moveTo>
                  <a:lnTo>
                    <a:pt x="15" y="1016"/>
                  </a:lnTo>
                  <a:lnTo>
                    <a:pt x="0" y="1016"/>
                  </a:lnTo>
                  <a:lnTo>
                    <a:pt x="0" y="1002"/>
                  </a:lnTo>
                  <a:lnTo>
                    <a:pt x="15" y="1002"/>
                  </a:lnTo>
                  <a:close/>
                  <a:moveTo>
                    <a:pt x="15" y="1030"/>
                  </a:moveTo>
                  <a:lnTo>
                    <a:pt x="15" y="1044"/>
                  </a:lnTo>
                  <a:lnTo>
                    <a:pt x="0" y="1044"/>
                  </a:lnTo>
                  <a:lnTo>
                    <a:pt x="0" y="1030"/>
                  </a:lnTo>
                  <a:lnTo>
                    <a:pt x="15" y="1030"/>
                  </a:lnTo>
                  <a:close/>
                  <a:moveTo>
                    <a:pt x="15" y="1058"/>
                  </a:moveTo>
                  <a:lnTo>
                    <a:pt x="15" y="1072"/>
                  </a:lnTo>
                  <a:lnTo>
                    <a:pt x="0" y="1072"/>
                  </a:lnTo>
                  <a:lnTo>
                    <a:pt x="0" y="1058"/>
                  </a:lnTo>
                  <a:lnTo>
                    <a:pt x="15" y="1058"/>
                  </a:lnTo>
                  <a:close/>
                  <a:moveTo>
                    <a:pt x="15" y="1086"/>
                  </a:moveTo>
                  <a:lnTo>
                    <a:pt x="15" y="1100"/>
                  </a:lnTo>
                  <a:lnTo>
                    <a:pt x="0" y="1100"/>
                  </a:lnTo>
                  <a:lnTo>
                    <a:pt x="0" y="1086"/>
                  </a:lnTo>
                  <a:lnTo>
                    <a:pt x="15" y="1086"/>
                  </a:lnTo>
                  <a:close/>
                  <a:moveTo>
                    <a:pt x="15" y="1114"/>
                  </a:moveTo>
                  <a:lnTo>
                    <a:pt x="15" y="1127"/>
                  </a:lnTo>
                  <a:lnTo>
                    <a:pt x="0" y="1127"/>
                  </a:lnTo>
                  <a:lnTo>
                    <a:pt x="0" y="1114"/>
                  </a:lnTo>
                  <a:lnTo>
                    <a:pt x="15" y="1114"/>
                  </a:lnTo>
                  <a:close/>
                  <a:moveTo>
                    <a:pt x="15" y="1141"/>
                  </a:moveTo>
                  <a:lnTo>
                    <a:pt x="15" y="1155"/>
                  </a:lnTo>
                  <a:lnTo>
                    <a:pt x="0" y="1155"/>
                  </a:lnTo>
                  <a:lnTo>
                    <a:pt x="0" y="1141"/>
                  </a:lnTo>
                  <a:lnTo>
                    <a:pt x="15" y="1141"/>
                  </a:lnTo>
                  <a:close/>
                  <a:moveTo>
                    <a:pt x="15" y="1169"/>
                  </a:moveTo>
                  <a:lnTo>
                    <a:pt x="15" y="1183"/>
                  </a:lnTo>
                  <a:lnTo>
                    <a:pt x="0" y="1183"/>
                  </a:lnTo>
                  <a:lnTo>
                    <a:pt x="0" y="1169"/>
                  </a:lnTo>
                  <a:lnTo>
                    <a:pt x="15" y="1169"/>
                  </a:lnTo>
                  <a:close/>
                  <a:moveTo>
                    <a:pt x="15" y="1197"/>
                  </a:moveTo>
                  <a:lnTo>
                    <a:pt x="15" y="1211"/>
                  </a:lnTo>
                  <a:lnTo>
                    <a:pt x="0" y="1211"/>
                  </a:lnTo>
                  <a:lnTo>
                    <a:pt x="0" y="1197"/>
                  </a:lnTo>
                  <a:lnTo>
                    <a:pt x="15" y="1197"/>
                  </a:lnTo>
                  <a:close/>
                  <a:moveTo>
                    <a:pt x="15" y="1225"/>
                  </a:moveTo>
                  <a:lnTo>
                    <a:pt x="15" y="1239"/>
                  </a:lnTo>
                  <a:lnTo>
                    <a:pt x="0" y="1239"/>
                  </a:lnTo>
                  <a:lnTo>
                    <a:pt x="0" y="1225"/>
                  </a:lnTo>
                  <a:lnTo>
                    <a:pt x="15" y="1225"/>
                  </a:lnTo>
                  <a:close/>
                  <a:moveTo>
                    <a:pt x="15" y="1253"/>
                  </a:moveTo>
                  <a:lnTo>
                    <a:pt x="15" y="1267"/>
                  </a:lnTo>
                  <a:lnTo>
                    <a:pt x="0" y="1267"/>
                  </a:lnTo>
                  <a:lnTo>
                    <a:pt x="0" y="1253"/>
                  </a:lnTo>
                  <a:lnTo>
                    <a:pt x="15" y="1253"/>
                  </a:lnTo>
                  <a:close/>
                  <a:moveTo>
                    <a:pt x="15" y="1281"/>
                  </a:moveTo>
                  <a:lnTo>
                    <a:pt x="15" y="1294"/>
                  </a:lnTo>
                  <a:lnTo>
                    <a:pt x="0" y="1294"/>
                  </a:lnTo>
                  <a:lnTo>
                    <a:pt x="0" y="1281"/>
                  </a:lnTo>
                  <a:lnTo>
                    <a:pt x="15" y="1281"/>
                  </a:lnTo>
                  <a:close/>
                  <a:moveTo>
                    <a:pt x="15" y="1308"/>
                  </a:moveTo>
                  <a:lnTo>
                    <a:pt x="15" y="1322"/>
                  </a:lnTo>
                  <a:lnTo>
                    <a:pt x="0" y="1322"/>
                  </a:lnTo>
                  <a:lnTo>
                    <a:pt x="0" y="1308"/>
                  </a:lnTo>
                  <a:lnTo>
                    <a:pt x="15" y="1308"/>
                  </a:lnTo>
                  <a:close/>
                  <a:moveTo>
                    <a:pt x="15" y="1336"/>
                  </a:moveTo>
                  <a:lnTo>
                    <a:pt x="15" y="1350"/>
                  </a:lnTo>
                  <a:lnTo>
                    <a:pt x="0" y="1350"/>
                  </a:lnTo>
                  <a:lnTo>
                    <a:pt x="0" y="1336"/>
                  </a:lnTo>
                  <a:lnTo>
                    <a:pt x="15" y="1336"/>
                  </a:lnTo>
                  <a:close/>
                  <a:moveTo>
                    <a:pt x="15" y="1364"/>
                  </a:moveTo>
                  <a:lnTo>
                    <a:pt x="15" y="1378"/>
                  </a:lnTo>
                  <a:lnTo>
                    <a:pt x="0" y="1378"/>
                  </a:lnTo>
                  <a:lnTo>
                    <a:pt x="0" y="1364"/>
                  </a:lnTo>
                  <a:lnTo>
                    <a:pt x="15" y="1364"/>
                  </a:lnTo>
                  <a:close/>
                  <a:moveTo>
                    <a:pt x="15" y="1392"/>
                  </a:moveTo>
                  <a:lnTo>
                    <a:pt x="15" y="1406"/>
                  </a:lnTo>
                  <a:lnTo>
                    <a:pt x="0" y="1406"/>
                  </a:lnTo>
                  <a:lnTo>
                    <a:pt x="0" y="1392"/>
                  </a:lnTo>
                  <a:lnTo>
                    <a:pt x="15" y="1392"/>
                  </a:lnTo>
                  <a:close/>
                  <a:moveTo>
                    <a:pt x="15" y="1420"/>
                  </a:moveTo>
                  <a:lnTo>
                    <a:pt x="15" y="1434"/>
                  </a:lnTo>
                  <a:lnTo>
                    <a:pt x="0" y="1434"/>
                  </a:lnTo>
                  <a:lnTo>
                    <a:pt x="0" y="1420"/>
                  </a:lnTo>
                  <a:lnTo>
                    <a:pt x="15" y="1420"/>
                  </a:lnTo>
                  <a:close/>
                  <a:moveTo>
                    <a:pt x="15" y="1448"/>
                  </a:moveTo>
                  <a:lnTo>
                    <a:pt x="15" y="1461"/>
                  </a:lnTo>
                  <a:lnTo>
                    <a:pt x="0" y="1461"/>
                  </a:lnTo>
                  <a:lnTo>
                    <a:pt x="0" y="1448"/>
                  </a:lnTo>
                  <a:lnTo>
                    <a:pt x="15" y="1448"/>
                  </a:lnTo>
                  <a:close/>
                  <a:moveTo>
                    <a:pt x="15" y="1475"/>
                  </a:moveTo>
                  <a:lnTo>
                    <a:pt x="15" y="1489"/>
                  </a:lnTo>
                  <a:lnTo>
                    <a:pt x="0" y="1489"/>
                  </a:lnTo>
                  <a:lnTo>
                    <a:pt x="0" y="1475"/>
                  </a:lnTo>
                  <a:lnTo>
                    <a:pt x="15" y="1475"/>
                  </a:lnTo>
                  <a:close/>
                  <a:moveTo>
                    <a:pt x="15" y="1503"/>
                  </a:moveTo>
                  <a:lnTo>
                    <a:pt x="15" y="1517"/>
                  </a:lnTo>
                  <a:lnTo>
                    <a:pt x="0" y="1517"/>
                  </a:lnTo>
                  <a:lnTo>
                    <a:pt x="0" y="1503"/>
                  </a:lnTo>
                  <a:lnTo>
                    <a:pt x="15" y="1503"/>
                  </a:lnTo>
                  <a:close/>
                  <a:moveTo>
                    <a:pt x="15" y="1531"/>
                  </a:moveTo>
                  <a:lnTo>
                    <a:pt x="15" y="1545"/>
                  </a:lnTo>
                  <a:lnTo>
                    <a:pt x="0" y="1545"/>
                  </a:lnTo>
                  <a:lnTo>
                    <a:pt x="0" y="1531"/>
                  </a:lnTo>
                  <a:lnTo>
                    <a:pt x="15" y="1531"/>
                  </a:lnTo>
                  <a:close/>
                  <a:moveTo>
                    <a:pt x="15" y="1559"/>
                  </a:moveTo>
                  <a:lnTo>
                    <a:pt x="15" y="1573"/>
                  </a:lnTo>
                  <a:lnTo>
                    <a:pt x="0" y="1573"/>
                  </a:lnTo>
                  <a:lnTo>
                    <a:pt x="0" y="1559"/>
                  </a:lnTo>
                  <a:lnTo>
                    <a:pt x="15" y="1559"/>
                  </a:lnTo>
                  <a:close/>
                  <a:moveTo>
                    <a:pt x="15" y="1587"/>
                  </a:moveTo>
                  <a:lnTo>
                    <a:pt x="15" y="1601"/>
                  </a:lnTo>
                  <a:lnTo>
                    <a:pt x="0" y="1601"/>
                  </a:lnTo>
                  <a:lnTo>
                    <a:pt x="0" y="1587"/>
                  </a:lnTo>
                  <a:lnTo>
                    <a:pt x="15" y="1587"/>
                  </a:lnTo>
                  <a:close/>
                  <a:moveTo>
                    <a:pt x="15" y="1615"/>
                  </a:moveTo>
                  <a:lnTo>
                    <a:pt x="15" y="1628"/>
                  </a:lnTo>
                  <a:lnTo>
                    <a:pt x="0" y="1628"/>
                  </a:lnTo>
                  <a:lnTo>
                    <a:pt x="0" y="1615"/>
                  </a:lnTo>
                  <a:lnTo>
                    <a:pt x="15" y="1615"/>
                  </a:lnTo>
                  <a:close/>
                  <a:moveTo>
                    <a:pt x="15" y="1642"/>
                  </a:moveTo>
                  <a:lnTo>
                    <a:pt x="15" y="1656"/>
                  </a:lnTo>
                  <a:lnTo>
                    <a:pt x="0" y="1656"/>
                  </a:lnTo>
                  <a:lnTo>
                    <a:pt x="0" y="1642"/>
                  </a:lnTo>
                  <a:lnTo>
                    <a:pt x="15" y="1642"/>
                  </a:lnTo>
                  <a:close/>
                  <a:moveTo>
                    <a:pt x="15" y="1670"/>
                  </a:moveTo>
                  <a:lnTo>
                    <a:pt x="15" y="1684"/>
                  </a:lnTo>
                  <a:lnTo>
                    <a:pt x="0" y="1684"/>
                  </a:lnTo>
                  <a:lnTo>
                    <a:pt x="0" y="1670"/>
                  </a:lnTo>
                  <a:lnTo>
                    <a:pt x="15" y="1670"/>
                  </a:lnTo>
                  <a:close/>
                  <a:moveTo>
                    <a:pt x="15" y="1698"/>
                  </a:moveTo>
                  <a:lnTo>
                    <a:pt x="15" y="1712"/>
                  </a:lnTo>
                  <a:lnTo>
                    <a:pt x="0" y="1712"/>
                  </a:lnTo>
                  <a:lnTo>
                    <a:pt x="0" y="1698"/>
                  </a:lnTo>
                  <a:lnTo>
                    <a:pt x="15" y="1698"/>
                  </a:lnTo>
                  <a:close/>
                  <a:moveTo>
                    <a:pt x="15" y="1726"/>
                  </a:moveTo>
                  <a:lnTo>
                    <a:pt x="15" y="1740"/>
                  </a:lnTo>
                  <a:lnTo>
                    <a:pt x="0" y="1740"/>
                  </a:lnTo>
                  <a:lnTo>
                    <a:pt x="0" y="1726"/>
                  </a:lnTo>
                  <a:lnTo>
                    <a:pt x="15" y="1726"/>
                  </a:lnTo>
                  <a:close/>
                  <a:moveTo>
                    <a:pt x="15" y="1754"/>
                  </a:moveTo>
                  <a:lnTo>
                    <a:pt x="15" y="1768"/>
                  </a:lnTo>
                  <a:lnTo>
                    <a:pt x="0" y="1768"/>
                  </a:lnTo>
                  <a:lnTo>
                    <a:pt x="0" y="1754"/>
                  </a:lnTo>
                  <a:lnTo>
                    <a:pt x="15" y="1754"/>
                  </a:lnTo>
                  <a:close/>
                  <a:moveTo>
                    <a:pt x="15" y="1782"/>
                  </a:moveTo>
                  <a:lnTo>
                    <a:pt x="15" y="1795"/>
                  </a:lnTo>
                  <a:lnTo>
                    <a:pt x="0" y="1795"/>
                  </a:lnTo>
                  <a:lnTo>
                    <a:pt x="0" y="1782"/>
                  </a:lnTo>
                  <a:lnTo>
                    <a:pt x="15" y="1782"/>
                  </a:lnTo>
                  <a:close/>
                  <a:moveTo>
                    <a:pt x="15" y="1809"/>
                  </a:moveTo>
                  <a:lnTo>
                    <a:pt x="15" y="1823"/>
                  </a:lnTo>
                  <a:lnTo>
                    <a:pt x="0" y="1823"/>
                  </a:lnTo>
                  <a:lnTo>
                    <a:pt x="0" y="1809"/>
                  </a:lnTo>
                  <a:lnTo>
                    <a:pt x="15" y="1809"/>
                  </a:lnTo>
                  <a:close/>
                  <a:moveTo>
                    <a:pt x="15" y="1837"/>
                  </a:moveTo>
                  <a:lnTo>
                    <a:pt x="15" y="1851"/>
                  </a:lnTo>
                  <a:lnTo>
                    <a:pt x="0" y="1851"/>
                  </a:lnTo>
                  <a:lnTo>
                    <a:pt x="0" y="1837"/>
                  </a:lnTo>
                  <a:lnTo>
                    <a:pt x="15" y="1837"/>
                  </a:lnTo>
                  <a:close/>
                  <a:moveTo>
                    <a:pt x="15" y="1865"/>
                  </a:moveTo>
                  <a:lnTo>
                    <a:pt x="15" y="1879"/>
                  </a:lnTo>
                  <a:lnTo>
                    <a:pt x="0" y="1879"/>
                  </a:lnTo>
                  <a:lnTo>
                    <a:pt x="0" y="1865"/>
                  </a:lnTo>
                  <a:lnTo>
                    <a:pt x="15" y="1865"/>
                  </a:lnTo>
                  <a:close/>
                  <a:moveTo>
                    <a:pt x="15" y="1893"/>
                  </a:moveTo>
                  <a:lnTo>
                    <a:pt x="15" y="1907"/>
                  </a:lnTo>
                  <a:lnTo>
                    <a:pt x="0" y="1907"/>
                  </a:lnTo>
                  <a:lnTo>
                    <a:pt x="0" y="1893"/>
                  </a:lnTo>
                  <a:lnTo>
                    <a:pt x="15" y="1893"/>
                  </a:lnTo>
                  <a:close/>
                  <a:moveTo>
                    <a:pt x="15" y="1921"/>
                  </a:moveTo>
                  <a:lnTo>
                    <a:pt x="15" y="1935"/>
                  </a:lnTo>
                  <a:lnTo>
                    <a:pt x="0" y="1935"/>
                  </a:lnTo>
                  <a:lnTo>
                    <a:pt x="0" y="1921"/>
                  </a:lnTo>
                  <a:lnTo>
                    <a:pt x="15" y="1921"/>
                  </a:lnTo>
                  <a:close/>
                  <a:moveTo>
                    <a:pt x="15" y="1949"/>
                  </a:moveTo>
                  <a:lnTo>
                    <a:pt x="15" y="1962"/>
                  </a:lnTo>
                  <a:lnTo>
                    <a:pt x="0" y="1962"/>
                  </a:lnTo>
                  <a:lnTo>
                    <a:pt x="0" y="1949"/>
                  </a:lnTo>
                  <a:lnTo>
                    <a:pt x="15" y="1949"/>
                  </a:lnTo>
                  <a:close/>
                  <a:moveTo>
                    <a:pt x="15" y="1976"/>
                  </a:moveTo>
                  <a:lnTo>
                    <a:pt x="15" y="1990"/>
                  </a:lnTo>
                  <a:lnTo>
                    <a:pt x="0" y="1990"/>
                  </a:lnTo>
                  <a:lnTo>
                    <a:pt x="0" y="1976"/>
                  </a:lnTo>
                  <a:lnTo>
                    <a:pt x="15" y="1976"/>
                  </a:lnTo>
                  <a:close/>
                  <a:moveTo>
                    <a:pt x="15" y="2004"/>
                  </a:moveTo>
                  <a:lnTo>
                    <a:pt x="15" y="2018"/>
                  </a:lnTo>
                  <a:lnTo>
                    <a:pt x="0" y="2018"/>
                  </a:lnTo>
                  <a:lnTo>
                    <a:pt x="0" y="2004"/>
                  </a:lnTo>
                  <a:lnTo>
                    <a:pt x="15" y="2004"/>
                  </a:lnTo>
                  <a:close/>
                  <a:moveTo>
                    <a:pt x="15" y="2032"/>
                  </a:moveTo>
                  <a:lnTo>
                    <a:pt x="15" y="2046"/>
                  </a:lnTo>
                  <a:lnTo>
                    <a:pt x="0" y="2046"/>
                  </a:lnTo>
                  <a:lnTo>
                    <a:pt x="0" y="2032"/>
                  </a:lnTo>
                  <a:lnTo>
                    <a:pt x="15" y="2032"/>
                  </a:lnTo>
                  <a:close/>
                  <a:moveTo>
                    <a:pt x="15" y="2060"/>
                  </a:moveTo>
                  <a:lnTo>
                    <a:pt x="15" y="2074"/>
                  </a:lnTo>
                  <a:lnTo>
                    <a:pt x="0" y="2074"/>
                  </a:lnTo>
                  <a:lnTo>
                    <a:pt x="0" y="2060"/>
                  </a:lnTo>
                  <a:lnTo>
                    <a:pt x="15" y="2060"/>
                  </a:lnTo>
                  <a:close/>
                  <a:moveTo>
                    <a:pt x="15" y="2087"/>
                  </a:moveTo>
                  <a:lnTo>
                    <a:pt x="15" y="2102"/>
                  </a:lnTo>
                  <a:lnTo>
                    <a:pt x="0" y="2102"/>
                  </a:lnTo>
                  <a:lnTo>
                    <a:pt x="0" y="2087"/>
                  </a:lnTo>
                  <a:lnTo>
                    <a:pt x="15" y="2087"/>
                  </a:lnTo>
                  <a:close/>
                  <a:moveTo>
                    <a:pt x="15" y="2116"/>
                  </a:moveTo>
                  <a:lnTo>
                    <a:pt x="15" y="2129"/>
                  </a:lnTo>
                  <a:lnTo>
                    <a:pt x="0" y="2129"/>
                  </a:lnTo>
                  <a:lnTo>
                    <a:pt x="0" y="2116"/>
                  </a:lnTo>
                  <a:lnTo>
                    <a:pt x="15" y="2116"/>
                  </a:lnTo>
                  <a:close/>
                  <a:moveTo>
                    <a:pt x="15" y="2143"/>
                  </a:moveTo>
                  <a:lnTo>
                    <a:pt x="15" y="2157"/>
                  </a:lnTo>
                  <a:lnTo>
                    <a:pt x="0" y="2157"/>
                  </a:lnTo>
                  <a:lnTo>
                    <a:pt x="0" y="2143"/>
                  </a:lnTo>
                  <a:lnTo>
                    <a:pt x="15" y="2143"/>
                  </a:lnTo>
                  <a:close/>
                  <a:moveTo>
                    <a:pt x="15" y="2171"/>
                  </a:moveTo>
                  <a:lnTo>
                    <a:pt x="15" y="2185"/>
                  </a:lnTo>
                  <a:lnTo>
                    <a:pt x="0" y="2185"/>
                  </a:lnTo>
                  <a:lnTo>
                    <a:pt x="0" y="2171"/>
                  </a:lnTo>
                  <a:lnTo>
                    <a:pt x="15" y="2171"/>
                  </a:lnTo>
                  <a:close/>
                  <a:moveTo>
                    <a:pt x="15" y="2199"/>
                  </a:moveTo>
                  <a:lnTo>
                    <a:pt x="15" y="2213"/>
                  </a:lnTo>
                  <a:lnTo>
                    <a:pt x="0" y="2213"/>
                  </a:lnTo>
                  <a:lnTo>
                    <a:pt x="0" y="2199"/>
                  </a:lnTo>
                  <a:lnTo>
                    <a:pt x="15" y="2199"/>
                  </a:lnTo>
                  <a:close/>
                  <a:moveTo>
                    <a:pt x="15" y="2227"/>
                  </a:moveTo>
                  <a:lnTo>
                    <a:pt x="15" y="2241"/>
                  </a:lnTo>
                  <a:lnTo>
                    <a:pt x="0" y="2241"/>
                  </a:lnTo>
                  <a:lnTo>
                    <a:pt x="0" y="2227"/>
                  </a:lnTo>
                  <a:lnTo>
                    <a:pt x="15" y="2227"/>
                  </a:lnTo>
                  <a:close/>
                  <a:moveTo>
                    <a:pt x="15" y="2254"/>
                  </a:moveTo>
                  <a:lnTo>
                    <a:pt x="15" y="2268"/>
                  </a:lnTo>
                  <a:lnTo>
                    <a:pt x="0" y="2268"/>
                  </a:lnTo>
                  <a:lnTo>
                    <a:pt x="0" y="2254"/>
                  </a:lnTo>
                  <a:lnTo>
                    <a:pt x="15" y="2254"/>
                  </a:lnTo>
                  <a:close/>
                  <a:moveTo>
                    <a:pt x="15" y="2283"/>
                  </a:moveTo>
                  <a:lnTo>
                    <a:pt x="15" y="2296"/>
                  </a:lnTo>
                  <a:lnTo>
                    <a:pt x="0" y="2296"/>
                  </a:lnTo>
                  <a:lnTo>
                    <a:pt x="0" y="2283"/>
                  </a:lnTo>
                  <a:lnTo>
                    <a:pt x="15" y="2283"/>
                  </a:lnTo>
                  <a:close/>
                  <a:moveTo>
                    <a:pt x="15" y="2310"/>
                  </a:moveTo>
                  <a:lnTo>
                    <a:pt x="15" y="2324"/>
                  </a:lnTo>
                  <a:lnTo>
                    <a:pt x="0" y="2324"/>
                  </a:lnTo>
                  <a:lnTo>
                    <a:pt x="0" y="2310"/>
                  </a:lnTo>
                  <a:lnTo>
                    <a:pt x="15" y="2310"/>
                  </a:lnTo>
                  <a:close/>
                  <a:moveTo>
                    <a:pt x="15" y="2338"/>
                  </a:moveTo>
                  <a:lnTo>
                    <a:pt x="15" y="2352"/>
                  </a:lnTo>
                  <a:lnTo>
                    <a:pt x="0" y="2352"/>
                  </a:lnTo>
                  <a:lnTo>
                    <a:pt x="0" y="2338"/>
                  </a:lnTo>
                  <a:lnTo>
                    <a:pt x="15" y="2338"/>
                  </a:lnTo>
                  <a:close/>
                  <a:moveTo>
                    <a:pt x="15" y="2366"/>
                  </a:moveTo>
                  <a:lnTo>
                    <a:pt x="15" y="2380"/>
                  </a:lnTo>
                  <a:lnTo>
                    <a:pt x="0" y="2380"/>
                  </a:lnTo>
                  <a:lnTo>
                    <a:pt x="0" y="2366"/>
                  </a:lnTo>
                  <a:lnTo>
                    <a:pt x="15" y="2366"/>
                  </a:lnTo>
                  <a:close/>
                  <a:moveTo>
                    <a:pt x="15" y="2394"/>
                  </a:moveTo>
                  <a:lnTo>
                    <a:pt x="15" y="2408"/>
                  </a:lnTo>
                  <a:lnTo>
                    <a:pt x="0" y="2408"/>
                  </a:lnTo>
                  <a:lnTo>
                    <a:pt x="0" y="2394"/>
                  </a:lnTo>
                  <a:lnTo>
                    <a:pt x="15" y="2394"/>
                  </a:lnTo>
                  <a:close/>
                  <a:moveTo>
                    <a:pt x="15" y="2421"/>
                  </a:moveTo>
                  <a:lnTo>
                    <a:pt x="15" y="2435"/>
                  </a:lnTo>
                  <a:lnTo>
                    <a:pt x="0" y="2435"/>
                  </a:lnTo>
                  <a:lnTo>
                    <a:pt x="0" y="2421"/>
                  </a:lnTo>
                  <a:lnTo>
                    <a:pt x="15" y="2421"/>
                  </a:lnTo>
                  <a:close/>
                  <a:moveTo>
                    <a:pt x="15" y="2449"/>
                  </a:moveTo>
                  <a:lnTo>
                    <a:pt x="15" y="2453"/>
                  </a:lnTo>
                  <a:lnTo>
                    <a:pt x="0" y="2453"/>
                  </a:lnTo>
                  <a:lnTo>
                    <a:pt x="0" y="2449"/>
                  </a:lnTo>
                  <a:lnTo>
                    <a:pt x="15" y="2449"/>
                  </a:lnTo>
                  <a:close/>
                </a:path>
              </a:pathLst>
            </a:custGeom>
            <a:solidFill>
              <a:srgbClr val="000000"/>
            </a:solidFill>
            <a:ln w="0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37" name="Freeform 34">
              <a:extLst>
                <a:ext uri="{FF2B5EF4-FFF2-40B4-BE49-F238E27FC236}">
                  <a16:creationId xmlns:a16="http://schemas.microsoft.com/office/drawing/2014/main" id="{83364B50-8CA4-4A01-9F54-D16D2D73020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714002" y="2505080"/>
              <a:ext cx="22225" cy="3894138"/>
            </a:xfrm>
            <a:custGeom>
              <a:avLst/>
              <a:gdLst>
                <a:gd name="T0" fmla="*/ 14 w 14"/>
                <a:gd name="T1" fmla="*/ 42 h 2453"/>
                <a:gd name="T2" fmla="*/ 0 w 14"/>
                <a:gd name="T3" fmla="*/ 56 h 2453"/>
                <a:gd name="T4" fmla="*/ 14 w 14"/>
                <a:gd name="T5" fmla="*/ 112 h 2453"/>
                <a:gd name="T6" fmla="*/ 0 w 14"/>
                <a:gd name="T7" fmla="*/ 154 h 2453"/>
                <a:gd name="T8" fmla="*/ 14 w 14"/>
                <a:gd name="T9" fmla="*/ 167 h 2453"/>
                <a:gd name="T10" fmla="*/ 14 w 14"/>
                <a:gd name="T11" fmla="*/ 237 h 2453"/>
                <a:gd name="T12" fmla="*/ 0 w 14"/>
                <a:gd name="T13" fmla="*/ 251 h 2453"/>
                <a:gd name="T14" fmla="*/ 14 w 14"/>
                <a:gd name="T15" fmla="*/ 307 h 2453"/>
                <a:gd name="T16" fmla="*/ 0 w 14"/>
                <a:gd name="T17" fmla="*/ 348 h 2453"/>
                <a:gd name="T18" fmla="*/ 14 w 14"/>
                <a:gd name="T19" fmla="*/ 362 h 2453"/>
                <a:gd name="T20" fmla="*/ 14 w 14"/>
                <a:gd name="T21" fmla="*/ 432 h 2453"/>
                <a:gd name="T22" fmla="*/ 0 w 14"/>
                <a:gd name="T23" fmla="*/ 446 h 2453"/>
                <a:gd name="T24" fmla="*/ 14 w 14"/>
                <a:gd name="T25" fmla="*/ 501 h 2453"/>
                <a:gd name="T26" fmla="*/ 0 w 14"/>
                <a:gd name="T27" fmla="*/ 543 h 2453"/>
                <a:gd name="T28" fmla="*/ 14 w 14"/>
                <a:gd name="T29" fmla="*/ 557 h 2453"/>
                <a:gd name="T30" fmla="*/ 14 w 14"/>
                <a:gd name="T31" fmla="*/ 627 h 2453"/>
                <a:gd name="T32" fmla="*/ 0 w 14"/>
                <a:gd name="T33" fmla="*/ 641 h 2453"/>
                <a:gd name="T34" fmla="*/ 14 w 14"/>
                <a:gd name="T35" fmla="*/ 696 h 2453"/>
                <a:gd name="T36" fmla="*/ 0 w 14"/>
                <a:gd name="T37" fmla="*/ 738 h 2453"/>
                <a:gd name="T38" fmla="*/ 14 w 14"/>
                <a:gd name="T39" fmla="*/ 752 h 2453"/>
                <a:gd name="T40" fmla="*/ 14 w 14"/>
                <a:gd name="T41" fmla="*/ 822 h 2453"/>
                <a:gd name="T42" fmla="*/ 0 w 14"/>
                <a:gd name="T43" fmla="*/ 835 h 2453"/>
                <a:gd name="T44" fmla="*/ 14 w 14"/>
                <a:gd name="T45" fmla="*/ 891 h 2453"/>
                <a:gd name="T46" fmla="*/ 0 w 14"/>
                <a:gd name="T47" fmla="*/ 933 h 2453"/>
                <a:gd name="T48" fmla="*/ 14 w 14"/>
                <a:gd name="T49" fmla="*/ 947 h 2453"/>
                <a:gd name="T50" fmla="*/ 14 w 14"/>
                <a:gd name="T51" fmla="*/ 1016 h 2453"/>
                <a:gd name="T52" fmla="*/ 0 w 14"/>
                <a:gd name="T53" fmla="*/ 1030 h 2453"/>
                <a:gd name="T54" fmla="*/ 14 w 14"/>
                <a:gd name="T55" fmla="*/ 1086 h 2453"/>
                <a:gd name="T56" fmla="*/ 0 w 14"/>
                <a:gd name="T57" fmla="*/ 1127 h 2453"/>
                <a:gd name="T58" fmla="*/ 14 w 14"/>
                <a:gd name="T59" fmla="*/ 1141 h 2453"/>
                <a:gd name="T60" fmla="*/ 14 w 14"/>
                <a:gd name="T61" fmla="*/ 1211 h 2453"/>
                <a:gd name="T62" fmla="*/ 0 w 14"/>
                <a:gd name="T63" fmla="*/ 1225 h 2453"/>
                <a:gd name="T64" fmla="*/ 14 w 14"/>
                <a:gd name="T65" fmla="*/ 1281 h 2453"/>
                <a:gd name="T66" fmla="*/ 0 w 14"/>
                <a:gd name="T67" fmla="*/ 1322 h 2453"/>
                <a:gd name="T68" fmla="*/ 14 w 14"/>
                <a:gd name="T69" fmla="*/ 1336 h 2453"/>
                <a:gd name="T70" fmla="*/ 14 w 14"/>
                <a:gd name="T71" fmla="*/ 1406 h 2453"/>
                <a:gd name="T72" fmla="*/ 0 w 14"/>
                <a:gd name="T73" fmla="*/ 1420 h 2453"/>
                <a:gd name="T74" fmla="*/ 14 w 14"/>
                <a:gd name="T75" fmla="*/ 1475 h 2453"/>
                <a:gd name="T76" fmla="*/ 0 w 14"/>
                <a:gd name="T77" fmla="*/ 1517 h 2453"/>
                <a:gd name="T78" fmla="*/ 14 w 14"/>
                <a:gd name="T79" fmla="*/ 1531 h 2453"/>
                <a:gd name="T80" fmla="*/ 14 w 14"/>
                <a:gd name="T81" fmla="*/ 1601 h 2453"/>
                <a:gd name="T82" fmla="*/ 0 w 14"/>
                <a:gd name="T83" fmla="*/ 1615 h 2453"/>
                <a:gd name="T84" fmla="*/ 14 w 14"/>
                <a:gd name="T85" fmla="*/ 1670 h 2453"/>
                <a:gd name="T86" fmla="*/ 0 w 14"/>
                <a:gd name="T87" fmla="*/ 1712 h 2453"/>
                <a:gd name="T88" fmla="*/ 14 w 14"/>
                <a:gd name="T89" fmla="*/ 1726 h 2453"/>
                <a:gd name="T90" fmla="*/ 14 w 14"/>
                <a:gd name="T91" fmla="*/ 1795 h 2453"/>
                <a:gd name="T92" fmla="*/ 0 w 14"/>
                <a:gd name="T93" fmla="*/ 1809 h 2453"/>
                <a:gd name="T94" fmla="*/ 14 w 14"/>
                <a:gd name="T95" fmla="*/ 1865 h 2453"/>
                <a:gd name="T96" fmla="*/ 0 w 14"/>
                <a:gd name="T97" fmla="*/ 1907 h 2453"/>
                <a:gd name="T98" fmla="*/ 14 w 14"/>
                <a:gd name="T99" fmla="*/ 1921 h 2453"/>
                <a:gd name="T100" fmla="*/ 14 w 14"/>
                <a:gd name="T101" fmla="*/ 1990 h 2453"/>
                <a:gd name="T102" fmla="*/ 0 w 14"/>
                <a:gd name="T103" fmla="*/ 2004 h 2453"/>
                <a:gd name="T104" fmla="*/ 14 w 14"/>
                <a:gd name="T105" fmla="*/ 2060 h 2453"/>
                <a:gd name="T106" fmla="*/ 0 w 14"/>
                <a:gd name="T107" fmla="*/ 2102 h 2453"/>
                <a:gd name="T108" fmla="*/ 14 w 14"/>
                <a:gd name="T109" fmla="*/ 2116 h 2453"/>
                <a:gd name="T110" fmla="*/ 14 w 14"/>
                <a:gd name="T111" fmla="*/ 2185 h 2453"/>
                <a:gd name="T112" fmla="*/ 0 w 14"/>
                <a:gd name="T113" fmla="*/ 2199 h 2453"/>
                <a:gd name="T114" fmla="*/ 14 w 14"/>
                <a:gd name="T115" fmla="*/ 2254 h 2453"/>
                <a:gd name="T116" fmla="*/ 0 w 14"/>
                <a:gd name="T117" fmla="*/ 2296 h 2453"/>
                <a:gd name="T118" fmla="*/ 14 w 14"/>
                <a:gd name="T119" fmla="*/ 2310 h 2453"/>
                <a:gd name="T120" fmla="*/ 14 w 14"/>
                <a:gd name="T121" fmla="*/ 2380 h 2453"/>
                <a:gd name="T122" fmla="*/ 0 w 14"/>
                <a:gd name="T123" fmla="*/ 2394 h 2453"/>
                <a:gd name="T124" fmla="*/ 14 w 14"/>
                <a:gd name="T125" fmla="*/ 2449 h 24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4" h="2453">
                  <a:moveTo>
                    <a:pt x="14" y="0"/>
                  </a:moveTo>
                  <a:lnTo>
                    <a:pt x="14" y="14"/>
                  </a:lnTo>
                  <a:lnTo>
                    <a:pt x="0" y="14"/>
                  </a:lnTo>
                  <a:lnTo>
                    <a:pt x="0" y="0"/>
                  </a:lnTo>
                  <a:lnTo>
                    <a:pt x="14" y="0"/>
                  </a:lnTo>
                  <a:close/>
                  <a:moveTo>
                    <a:pt x="14" y="28"/>
                  </a:moveTo>
                  <a:lnTo>
                    <a:pt x="14" y="42"/>
                  </a:lnTo>
                  <a:lnTo>
                    <a:pt x="0" y="42"/>
                  </a:lnTo>
                  <a:lnTo>
                    <a:pt x="0" y="28"/>
                  </a:lnTo>
                  <a:lnTo>
                    <a:pt x="14" y="28"/>
                  </a:lnTo>
                  <a:close/>
                  <a:moveTo>
                    <a:pt x="14" y="56"/>
                  </a:moveTo>
                  <a:lnTo>
                    <a:pt x="14" y="70"/>
                  </a:lnTo>
                  <a:lnTo>
                    <a:pt x="0" y="70"/>
                  </a:lnTo>
                  <a:lnTo>
                    <a:pt x="0" y="56"/>
                  </a:lnTo>
                  <a:lnTo>
                    <a:pt x="14" y="56"/>
                  </a:lnTo>
                  <a:close/>
                  <a:moveTo>
                    <a:pt x="14" y="84"/>
                  </a:moveTo>
                  <a:lnTo>
                    <a:pt x="14" y="98"/>
                  </a:lnTo>
                  <a:lnTo>
                    <a:pt x="0" y="98"/>
                  </a:lnTo>
                  <a:lnTo>
                    <a:pt x="0" y="84"/>
                  </a:lnTo>
                  <a:lnTo>
                    <a:pt x="14" y="84"/>
                  </a:lnTo>
                  <a:close/>
                  <a:moveTo>
                    <a:pt x="14" y="112"/>
                  </a:moveTo>
                  <a:lnTo>
                    <a:pt x="14" y="126"/>
                  </a:lnTo>
                  <a:lnTo>
                    <a:pt x="0" y="126"/>
                  </a:lnTo>
                  <a:lnTo>
                    <a:pt x="0" y="112"/>
                  </a:lnTo>
                  <a:lnTo>
                    <a:pt x="14" y="112"/>
                  </a:lnTo>
                  <a:close/>
                  <a:moveTo>
                    <a:pt x="14" y="140"/>
                  </a:moveTo>
                  <a:lnTo>
                    <a:pt x="14" y="154"/>
                  </a:lnTo>
                  <a:lnTo>
                    <a:pt x="0" y="154"/>
                  </a:lnTo>
                  <a:lnTo>
                    <a:pt x="0" y="140"/>
                  </a:lnTo>
                  <a:lnTo>
                    <a:pt x="14" y="140"/>
                  </a:lnTo>
                  <a:close/>
                  <a:moveTo>
                    <a:pt x="14" y="167"/>
                  </a:moveTo>
                  <a:lnTo>
                    <a:pt x="14" y="181"/>
                  </a:lnTo>
                  <a:lnTo>
                    <a:pt x="0" y="181"/>
                  </a:lnTo>
                  <a:lnTo>
                    <a:pt x="0" y="167"/>
                  </a:lnTo>
                  <a:lnTo>
                    <a:pt x="14" y="167"/>
                  </a:lnTo>
                  <a:close/>
                  <a:moveTo>
                    <a:pt x="14" y="195"/>
                  </a:moveTo>
                  <a:lnTo>
                    <a:pt x="14" y="209"/>
                  </a:lnTo>
                  <a:lnTo>
                    <a:pt x="0" y="209"/>
                  </a:lnTo>
                  <a:lnTo>
                    <a:pt x="0" y="195"/>
                  </a:lnTo>
                  <a:lnTo>
                    <a:pt x="14" y="195"/>
                  </a:lnTo>
                  <a:close/>
                  <a:moveTo>
                    <a:pt x="14" y="223"/>
                  </a:moveTo>
                  <a:lnTo>
                    <a:pt x="14" y="237"/>
                  </a:lnTo>
                  <a:lnTo>
                    <a:pt x="0" y="237"/>
                  </a:lnTo>
                  <a:lnTo>
                    <a:pt x="0" y="223"/>
                  </a:lnTo>
                  <a:lnTo>
                    <a:pt x="14" y="223"/>
                  </a:lnTo>
                  <a:close/>
                  <a:moveTo>
                    <a:pt x="14" y="251"/>
                  </a:moveTo>
                  <a:lnTo>
                    <a:pt x="14" y="265"/>
                  </a:lnTo>
                  <a:lnTo>
                    <a:pt x="0" y="265"/>
                  </a:lnTo>
                  <a:lnTo>
                    <a:pt x="0" y="251"/>
                  </a:lnTo>
                  <a:lnTo>
                    <a:pt x="14" y="251"/>
                  </a:lnTo>
                  <a:close/>
                  <a:moveTo>
                    <a:pt x="14" y="279"/>
                  </a:moveTo>
                  <a:lnTo>
                    <a:pt x="14" y="293"/>
                  </a:lnTo>
                  <a:lnTo>
                    <a:pt x="0" y="293"/>
                  </a:lnTo>
                  <a:lnTo>
                    <a:pt x="0" y="279"/>
                  </a:lnTo>
                  <a:lnTo>
                    <a:pt x="14" y="279"/>
                  </a:lnTo>
                  <a:close/>
                  <a:moveTo>
                    <a:pt x="14" y="307"/>
                  </a:moveTo>
                  <a:lnTo>
                    <a:pt x="14" y="321"/>
                  </a:lnTo>
                  <a:lnTo>
                    <a:pt x="0" y="321"/>
                  </a:lnTo>
                  <a:lnTo>
                    <a:pt x="0" y="307"/>
                  </a:lnTo>
                  <a:lnTo>
                    <a:pt x="14" y="307"/>
                  </a:lnTo>
                  <a:close/>
                  <a:moveTo>
                    <a:pt x="14" y="334"/>
                  </a:moveTo>
                  <a:lnTo>
                    <a:pt x="14" y="348"/>
                  </a:lnTo>
                  <a:lnTo>
                    <a:pt x="0" y="348"/>
                  </a:lnTo>
                  <a:lnTo>
                    <a:pt x="0" y="334"/>
                  </a:lnTo>
                  <a:lnTo>
                    <a:pt x="14" y="334"/>
                  </a:lnTo>
                  <a:close/>
                  <a:moveTo>
                    <a:pt x="14" y="362"/>
                  </a:moveTo>
                  <a:lnTo>
                    <a:pt x="14" y="376"/>
                  </a:lnTo>
                  <a:lnTo>
                    <a:pt x="0" y="376"/>
                  </a:lnTo>
                  <a:lnTo>
                    <a:pt x="0" y="362"/>
                  </a:lnTo>
                  <a:lnTo>
                    <a:pt x="14" y="362"/>
                  </a:lnTo>
                  <a:close/>
                  <a:moveTo>
                    <a:pt x="14" y="390"/>
                  </a:moveTo>
                  <a:lnTo>
                    <a:pt x="14" y="404"/>
                  </a:lnTo>
                  <a:lnTo>
                    <a:pt x="0" y="404"/>
                  </a:lnTo>
                  <a:lnTo>
                    <a:pt x="0" y="390"/>
                  </a:lnTo>
                  <a:lnTo>
                    <a:pt x="14" y="390"/>
                  </a:lnTo>
                  <a:close/>
                  <a:moveTo>
                    <a:pt x="14" y="418"/>
                  </a:moveTo>
                  <a:lnTo>
                    <a:pt x="14" y="432"/>
                  </a:lnTo>
                  <a:lnTo>
                    <a:pt x="0" y="432"/>
                  </a:lnTo>
                  <a:lnTo>
                    <a:pt x="0" y="418"/>
                  </a:lnTo>
                  <a:lnTo>
                    <a:pt x="14" y="418"/>
                  </a:lnTo>
                  <a:close/>
                  <a:moveTo>
                    <a:pt x="14" y="446"/>
                  </a:moveTo>
                  <a:lnTo>
                    <a:pt x="14" y="460"/>
                  </a:lnTo>
                  <a:lnTo>
                    <a:pt x="0" y="460"/>
                  </a:lnTo>
                  <a:lnTo>
                    <a:pt x="0" y="446"/>
                  </a:lnTo>
                  <a:lnTo>
                    <a:pt x="14" y="446"/>
                  </a:lnTo>
                  <a:close/>
                  <a:moveTo>
                    <a:pt x="14" y="474"/>
                  </a:moveTo>
                  <a:lnTo>
                    <a:pt x="14" y="488"/>
                  </a:lnTo>
                  <a:lnTo>
                    <a:pt x="0" y="488"/>
                  </a:lnTo>
                  <a:lnTo>
                    <a:pt x="0" y="474"/>
                  </a:lnTo>
                  <a:lnTo>
                    <a:pt x="14" y="474"/>
                  </a:lnTo>
                  <a:close/>
                  <a:moveTo>
                    <a:pt x="14" y="501"/>
                  </a:moveTo>
                  <a:lnTo>
                    <a:pt x="14" y="515"/>
                  </a:lnTo>
                  <a:lnTo>
                    <a:pt x="0" y="515"/>
                  </a:lnTo>
                  <a:lnTo>
                    <a:pt x="0" y="501"/>
                  </a:lnTo>
                  <a:lnTo>
                    <a:pt x="14" y="501"/>
                  </a:lnTo>
                  <a:close/>
                  <a:moveTo>
                    <a:pt x="14" y="529"/>
                  </a:moveTo>
                  <a:lnTo>
                    <a:pt x="14" y="543"/>
                  </a:lnTo>
                  <a:lnTo>
                    <a:pt x="0" y="543"/>
                  </a:lnTo>
                  <a:lnTo>
                    <a:pt x="0" y="529"/>
                  </a:lnTo>
                  <a:lnTo>
                    <a:pt x="14" y="529"/>
                  </a:lnTo>
                  <a:close/>
                  <a:moveTo>
                    <a:pt x="14" y="557"/>
                  </a:moveTo>
                  <a:lnTo>
                    <a:pt x="14" y="571"/>
                  </a:lnTo>
                  <a:lnTo>
                    <a:pt x="0" y="571"/>
                  </a:lnTo>
                  <a:lnTo>
                    <a:pt x="0" y="557"/>
                  </a:lnTo>
                  <a:lnTo>
                    <a:pt x="14" y="557"/>
                  </a:lnTo>
                  <a:close/>
                  <a:moveTo>
                    <a:pt x="14" y="585"/>
                  </a:moveTo>
                  <a:lnTo>
                    <a:pt x="14" y="599"/>
                  </a:lnTo>
                  <a:lnTo>
                    <a:pt x="0" y="599"/>
                  </a:lnTo>
                  <a:lnTo>
                    <a:pt x="0" y="585"/>
                  </a:lnTo>
                  <a:lnTo>
                    <a:pt x="14" y="585"/>
                  </a:lnTo>
                  <a:close/>
                  <a:moveTo>
                    <a:pt x="14" y="613"/>
                  </a:moveTo>
                  <a:lnTo>
                    <a:pt x="14" y="627"/>
                  </a:lnTo>
                  <a:lnTo>
                    <a:pt x="0" y="627"/>
                  </a:lnTo>
                  <a:lnTo>
                    <a:pt x="0" y="613"/>
                  </a:lnTo>
                  <a:lnTo>
                    <a:pt x="14" y="613"/>
                  </a:lnTo>
                  <a:close/>
                  <a:moveTo>
                    <a:pt x="14" y="641"/>
                  </a:moveTo>
                  <a:lnTo>
                    <a:pt x="14" y="655"/>
                  </a:lnTo>
                  <a:lnTo>
                    <a:pt x="0" y="655"/>
                  </a:lnTo>
                  <a:lnTo>
                    <a:pt x="0" y="641"/>
                  </a:lnTo>
                  <a:lnTo>
                    <a:pt x="14" y="641"/>
                  </a:lnTo>
                  <a:close/>
                  <a:moveTo>
                    <a:pt x="14" y="668"/>
                  </a:moveTo>
                  <a:lnTo>
                    <a:pt x="14" y="682"/>
                  </a:lnTo>
                  <a:lnTo>
                    <a:pt x="0" y="682"/>
                  </a:lnTo>
                  <a:lnTo>
                    <a:pt x="0" y="668"/>
                  </a:lnTo>
                  <a:lnTo>
                    <a:pt x="14" y="668"/>
                  </a:lnTo>
                  <a:close/>
                  <a:moveTo>
                    <a:pt x="14" y="696"/>
                  </a:moveTo>
                  <a:lnTo>
                    <a:pt x="14" y="710"/>
                  </a:lnTo>
                  <a:lnTo>
                    <a:pt x="0" y="710"/>
                  </a:lnTo>
                  <a:lnTo>
                    <a:pt x="0" y="696"/>
                  </a:lnTo>
                  <a:lnTo>
                    <a:pt x="14" y="696"/>
                  </a:lnTo>
                  <a:close/>
                  <a:moveTo>
                    <a:pt x="14" y="724"/>
                  </a:moveTo>
                  <a:lnTo>
                    <a:pt x="14" y="738"/>
                  </a:lnTo>
                  <a:lnTo>
                    <a:pt x="0" y="738"/>
                  </a:lnTo>
                  <a:lnTo>
                    <a:pt x="0" y="724"/>
                  </a:lnTo>
                  <a:lnTo>
                    <a:pt x="14" y="724"/>
                  </a:lnTo>
                  <a:close/>
                  <a:moveTo>
                    <a:pt x="14" y="752"/>
                  </a:moveTo>
                  <a:lnTo>
                    <a:pt x="14" y="766"/>
                  </a:lnTo>
                  <a:lnTo>
                    <a:pt x="0" y="766"/>
                  </a:lnTo>
                  <a:lnTo>
                    <a:pt x="0" y="752"/>
                  </a:lnTo>
                  <a:lnTo>
                    <a:pt x="14" y="752"/>
                  </a:lnTo>
                  <a:close/>
                  <a:moveTo>
                    <a:pt x="14" y="780"/>
                  </a:moveTo>
                  <a:lnTo>
                    <a:pt x="14" y="793"/>
                  </a:lnTo>
                  <a:lnTo>
                    <a:pt x="0" y="793"/>
                  </a:lnTo>
                  <a:lnTo>
                    <a:pt x="0" y="780"/>
                  </a:lnTo>
                  <a:lnTo>
                    <a:pt x="14" y="780"/>
                  </a:lnTo>
                  <a:close/>
                  <a:moveTo>
                    <a:pt x="14" y="808"/>
                  </a:moveTo>
                  <a:lnTo>
                    <a:pt x="14" y="822"/>
                  </a:lnTo>
                  <a:lnTo>
                    <a:pt x="0" y="822"/>
                  </a:lnTo>
                  <a:lnTo>
                    <a:pt x="0" y="808"/>
                  </a:lnTo>
                  <a:lnTo>
                    <a:pt x="14" y="808"/>
                  </a:lnTo>
                  <a:close/>
                  <a:moveTo>
                    <a:pt x="14" y="835"/>
                  </a:moveTo>
                  <a:lnTo>
                    <a:pt x="14" y="849"/>
                  </a:lnTo>
                  <a:lnTo>
                    <a:pt x="0" y="849"/>
                  </a:lnTo>
                  <a:lnTo>
                    <a:pt x="0" y="835"/>
                  </a:lnTo>
                  <a:lnTo>
                    <a:pt x="14" y="835"/>
                  </a:lnTo>
                  <a:close/>
                  <a:moveTo>
                    <a:pt x="14" y="863"/>
                  </a:moveTo>
                  <a:lnTo>
                    <a:pt x="14" y="877"/>
                  </a:lnTo>
                  <a:lnTo>
                    <a:pt x="0" y="877"/>
                  </a:lnTo>
                  <a:lnTo>
                    <a:pt x="0" y="863"/>
                  </a:lnTo>
                  <a:lnTo>
                    <a:pt x="14" y="863"/>
                  </a:lnTo>
                  <a:close/>
                  <a:moveTo>
                    <a:pt x="14" y="891"/>
                  </a:moveTo>
                  <a:lnTo>
                    <a:pt x="14" y="905"/>
                  </a:lnTo>
                  <a:lnTo>
                    <a:pt x="0" y="905"/>
                  </a:lnTo>
                  <a:lnTo>
                    <a:pt x="0" y="891"/>
                  </a:lnTo>
                  <a:lnTo>
                    <a:pt x="14" y="891"/>
                  </a:lnTo>
                  <a:close/>
                  <a:moveTo>
                    <a:pt x="14" y="919"/>
                  </a:moveTo>
                  <a:lnTo>
                    <a:pt x="14" y="933"/>
                  </a:lnTo>
                  <a:lnTo>
                    <a:pt x="0" y="933"/>
                  </a:lnTo>
                  <a:lnTo>
                    <a:pt x="0" y="919"/>
                  </a:lnTo>
                  <a:lnTo>
                    <a:pt x="14" y="919"/>
                  </a:lnTo>
                  <a:close/>
                  <a:moveTo>
                    <a:pt x="14" y="947"/>
                  </a:moveTo>
                  <a:lnTo>
                    <a:pt x="14" y="960"/>
                  </a:lnTo>
                  <a:lnTo>
                    <a:pt x="0" y="960"/>
                  </a:lnTo>
                  <a:lnTo>
                    <a:pt x="0" y="947"/>
                  </a:lnTo>
                  <a:lnTo>
                    <a:pt x="14" y="947"/>
                  </a:lnTo>
                  <a:close/>
                  <a:moveTo>
                    <a:pt x="14" y="974"/>
                  </a:moveTo>
                  <a:lnTo>
                    <a:pt x="14" y="988"/>
                  </a:lnTo>
                  <a:lnTo>
                    <a:pt x="0" y="988"/>
                  </a:lnTo>
                  <a:lnTo>
                    <a:pt x="0" y="974"/>
                  </a:lnTo>
                  <a:lnTo>
                    <a:pt x="14" y="974"/>
                  </a:lnTo>
                  <a:close/>
                  <a:moveTo>
                    <a:pt x="14" y="1002"/>
                  </a:moveTo>
                  <a:lnTo>
                    <a:pt x="14" y="1016"/>
                  </a:lnTo>
                  <a:lnTo>
                    <a:pt x="0" y="1016"/>
                  </a:lnTo>
                  <a:lnTo>
                    <a:pt x="0" y="1002"/>
                  </a:lnTo>
                  <a:lnTo>
                    <a:pt x="14" y="1002"/>
                  </a:lnTo>
                  <a:close/>
                  <a:moveTo>
                    <a:pt x="14" y="1030"/>
                  </a:moveTo>
                  <a:lnTo>
                    <a:pt x="14" y="1044"/>
                  </a:lnTo>
                  <a:lnTo>
                    <a:pt x="0" y="1044"/>
                  </a:lnTo>
                  <a:lnTo>
                    <a:pt x="0" y="1030"/>
                  </a:lnTo>
                  <a:lnTo>
                    <a:pt x="14" y="1030"/>
                  </a:lnTo>
                  <a:close/>
                  <a:moveTo>
                    <a:pt x="14" y="1058"/>
                  </a:moveTo>
                  <a:lnTo>
                    <a:pt x="14" y="1072"/>
                  </a:lnTo>
                  <a:lnTo>
                    <a:pt x="0" y="1072"/>
                  </a:lnTo>
                  <a:lnTo>
                    <a:pt x="0" y="1058"/>
                  </a:lnTo>
                  <a:lnTo>
                    <a:pt x="14" y="1058"/>
                  </a:lnTo>
                  <a:close/>
                  <a:moveTo>
                    <a:pt x="14" y="1086"/>
                  </a:moveTo>
                  <a:lnTo>
                    <a:pt x="14" y="1100"/>
                  </a:lnTo>
                  <a:lnTo>
                    <a:pt x="0" y="1100"/>
                  </a:lnTo>
                  <a:lnTo>
                    <a:pt x="0" y="1086"/>
                  </a:lnTo>
                  <a:lnTo>
                    <a:pt x="14" y="1086"/>
                  </a:lnTo>
                  <a:close/>
                  <a:moveTo>
                    <a:pt x="14" y="1114"/>
                  </a:moveTo>
                  <a:lnTo>
                    <a:pt x="14" y="1127"/>
                  </a:lnTo>
                  <a:lnTo>
                    <a:pt x="0" y="1127"/>
                  </a:lnTo>
                  <a:lnTo>
                    <a:pt x="0" y="1114"/>
                  </a:lnTo>
                  <a:lnTo>
                    <a:pt x="14" y="1114"/>
                  </a:lnTo>
                  <a:close/>
                  <a:moveTo>
                    <a:pt x="14" y="1141"/>
                  </a:moveTo>
                  <a:lnTo>
                    <a:pt x="14" y="1155"/>
                  </a:lnTo>
                  <a:lnTo>
                    <a:pt x="0" y="1155"/>
                  </a:lnTo>
                  <a:lnTo>
                    <a:pt x="0" y="1141"/>
                  </a:lnTo>
                  <a:lnTo>
                    <a:pt x="14" y="1141"/>
                  </a:lnTo>
                  <a:close/>
                  <a:moveTo>
                    <a:pt x="14" y="1169"/>
                  </a:moveTo>
                  <a:lnTo>
                    <a:pt x="14" y="1183"/>
                  </a:lnTo>
                  <a:lnTo>
                    <a:pt x="0" y="1183"/>
                  </a:lnTo>
                  <a:lnTo>
                    <a:pt x="0" y="1169"/>
                  </a:lnTo>
                  <a:lnTo>
                    <a:pt x="14" y="1169"/>
                  </a:lnTo>
                  <a:close/>
                  <a:moveTo>
                    <a:pt x="14" y="1197"/>
                  </a:moveTo>
                  <a:lnTo>
                    <a:pt x="14" y="1211"/>
                  </a:lnTo>
                  <a:lnTo>
                    <a:pt x="0" y="1211"/>
                  </a:lnTo>
                  <a:lnTo>
                    <a:pt x="0" y="1197"/>
                  </a:lnTo>
                  <a:lnTo>
                    <a:pt x="14" y="1197"/>
                  </a:lnTo>
                  <a:close/>
                  <a:moveTo>
                    <a:pt x="14" y="1225"/>
                  </a:moveTo>
                  <a:lnTo>
                    <a:pt x="14" y="1239"/>
                  </a:lnTo>
                  <a:lnTo>
                    <a:pt x="0" y="1239"/>
                  </a:lnTo>
                  <a:lnTo>
                    <a:pt x="0" y="1225"/>
                  </a:lnTo>
                  <a:lnTo>
                    <a:pt x="14" y="1225"/>
                  </a:lnTo>
                  <a:close/>
                  <a:moveTo>
                    <a:pt x="14" y="1253"/>
                  </a:moveTo>
                  <a:lnTo>
                    <a:pt x="14" y="1267"/>
                  </a:lnTo>
                  <a:lnTo>
                    <a:pt x="0" y="1267"/>
                  </a:lnTo>
                  <a:lnTo>
                    <a:pt x="0" y="1253"/>
                  </a:lnTo>
                  <a:lnTo>
                    <a:pt x="14" y="1253"/>
                  </a:lnTo>
                  <a:close/>
                  <a:moveTo>
                    <a:pt x="14" y="1281"/>
                  </a:moveTo>
                  <a:lnTo>
                    <a:pt x="14" y="1294"/>
                  </a:lnTo>
                  <a:lnTo>
                    <a:pt x="0" y="1294"/>
                  </a:lnTo>
                  <a:lnTo>
                    <a:pt x="0" y="1281"/>
                  </a:lnTo>
                  <a:lnTo>
                    <a:pt x="14" y="1281"/>
                  </a:lnTo>
                  <a:close/>
                  <a:moveTo>
                    <a:pt x="14" y="1308"/>
                  </a:moveTo>
                  <a:lnTo>
                    <a:pt x="14" y="1322"/>
                  </a:lnTo>
                  <a:lnTo>
                    <a:pt x="0" y="1322"/>
                  </a:lnTo>
                  <a:lnTo>
                    <a:pt x="0" y="1308"/>
                  </a:lnTo>
                  <a:lnTo>
                    <a:pt x="14" y="1308"/>
                  </a:lnTo>
                  <a:close/>
                  <a:moveTo>
                    <a:pt x="14" y="1336"/>
                  </a:moveTo>
                  <a:lnTo>
                    <a:pt x="14" y="1350"/>
                  </a:lnTo>
                  <a:lnTo>
                    <a:pt x="0" y="1350"/>
                  </a:lnTo>
                  <a:lnTo>
                    <a:pt x="0" y="1336"/>
                  </a:lnTo>
                  <a:lnTo>
                    <a:pt x="14" y="1336"/>
                  </a:lnTo>
                  <a:close/>
                  <a:moveTo>
                    <a:pt x="14" y="1364"/>
                  </a:moveTo>
                  <a:lnTo>
                    <a:pt x="14" y="1378"/>
                  </a:lnTo>
                  <a:lnTo>
                    <a:pt x="0" y="1378"/>
                  </a:lnTo>
                  <a:lnTo>
                    <a:pt x="0" y="1364"/>
                  </a:lnTo>
                  <a:lnTo>
                    <a:pt x="14" y="1364"/>
                  </a:lnTo>
                  <a:close/>
                  <a:moveTo>
                    <a:pt x="14" y="1392"/>
                  </a:moveTo>
                  <a:lnTo>
                    <a:pt x="14" y="1406"/>
                  </a:lnTo>
                  <a:lnTo>
                    <a:pt x="0" y="1406"/>
                  </a:lnTo>
                  <a:lnTo>
                    <a:pt x="0" y="1392"/>
                  </a:lnTo>
                  <a:lnTo>
                    <a:pt x="14" y="1392"/>
                  </a:lnTo>
                  <a:close/>
                  <a:moveTo>
                    <a:pt x="14" y="1420"/>
                  </a:moveTo>
                  <a:lnTo>
                    <a:pt x="14" y="1434"/>
                  </a:lnTo>
                  <a:lnTo>
                    <a:pt x="0" y="1434"/>
                  </a:lnTo>
                  <a:lnTo>
                    <a:pt x="0" y="1420"/>
                  </a:lnTo>
                  <a:lnTo>
                    <a:pt x="14" y="1420"/>
                  </a:lnTo>
                  <a:close/>
                  <a:moveTo>
                    <a:pt x="14" y="1448"/>
                  </a:moveTo>
                  <a:lnTo>
                    <a:pt x="14" y="1461"/>
                  </a:lnTo>
                  <a:lnTo>
                    <a:pt x="0" y="1461"/>
                  </a:lnTo>
                  <a:lnTo>
                    <a:pt x="0" y="1448"/>
                  </a:lnTo>
                  <a:lnTo>
                    <a:pt x="14" y="1448"/>
                  </a:lnTo>
                  <a:close/>
                  <a:moveTo>
                    <a:pt x="14" y="1475"/>
                  </a:moveTo>
                  <a:lnTo>
                    <a:pt x="14" y="1489"/>
                  </a:lnTo>
                  <a:lnTo>
                    <a:pt x="0" y="1489"/>
                  </a:lnTo>
                  <a:lnTo>
                    <a:pt x="0" y="1475"/>
                  </a:lnTo>
                  <a:lnTo>
                    <a:pt x="14" y="1475"/>
                  </a:lnTo>
                  <a:close/>
                  <a:moveTo>
                    <a:pt x="14" y="1503"/>
                  </a:moveTo>
                  <a:lnTo>
                    <a:pt x="14" y="1517"/>
                  </a:lnTo>
                  <a:lnTo>
                    <a:pt x="0" y="1517"/>
                  </a:lnTo>
                  <a:lnTo>
                    <a:pt x="0" y="1503"/>
                  </a:lnTo>
                  <a:lnTo>
                    <a:pt x="14" y="1503"/>
                  </a:lnTo>
                  <a:close/>
                  <a:moveTo>
                    <a:pt x="14" y="1531"/>
                  </a:moveTo>
                  <a:lnTo>
                    <a:pt x="14" y="1545"/>
                  </a:lnTo>
                  <a:lnTo>
                    <a:pt x="0" y="1545"/>
                  </a:lnTo>
                  <a:lnTo>
                    <a:pt x="0" y="1531"/>
                  </a:lnTo>
                  <a:lnTo>
                    <a:pt x="14" y="1531"/>
                  </a:lnTo>
                  <a:close/>
                  <a:moveTo>
                    <a:pt x="14" y="1559"/>
                  </a:moveTo>
                  <a:lnTo>
                    <a:pt x="14" y="1573"/>
                  </a:lnTo>
                  <a:lnTo>
                    <a:pt x="0" y="1573"/>
                  </a:lnTo>
                  <a:lnTo>
                    <a:pt x="0" y="1559"/>
                  </a:lnTo>
                  <a:lnTo>
                    <a:pt x="14" y="1559"/>
                  </a:lnTo>
                  <a:close/>
                  <a:moveTo>
                    <a:pt x="14" y="1587"/>
                  </a:moveTo>
                  <a:lnTo>
                    <a:pt x="14" y="1601"/>
                  </a:lnTo>
                  <a:lnTo>
                    <a:pt x="0" y="1601"/>
                  </a:lnTo>
                  <a:lnTo>
                    <a:pt x="0" y="1587"/>
                  </a:lnTo>
                  <a:lnTo>
                    <a:pt x="14" y="1587"/>
                  </a:lnTo>
                  <a:close/>
                  <a:moveTo>
                    <a:pt x="14" y="1615"/>
                  </a:moveTo>
                  <a:lnTo>
                    <a:pt x="14" y="1628"/>
                  </a:lnTo>
                  <a:lnTo>
                    <a:pt x="0" y="1628"/>
                  </a:lnTo>
                  <a:lnTo>
                    <a:pt x="0" y="1615"/>
                  </a:lnTo>
                  <a:lnTo>
                    <a:pt x="14" y="1615"/>
                  </a:lnTo>
                  <a:close/>
                  <a:moveTo>
                    <a:pt x="14" y="1642"/>
                  </a:moveTo>
                  <a:lnTo>
                    <a:pt x="14" y="1656"/>
                  </a:lnTo>
                  <a:lnTo>
                    <a:pt x="0" y="1656"/>
                  </a:lnTo>
                  <a:lnTo>
                    <a:pt x="0" y="1642"/>
                  </a:lnTo>
                  <a:lnTo>
                    <a:pt x="14" y="1642"/>
                  </a:lnTo>
                  <a:close/>
                  <a:moveTo>
                    <a:pt x="14" y="1670"/>
                  </a:moveTo>
                  <a:lnTo>
                    <a:pt x="14" y="1684"/>
                  </a:lnTo>
                  <a:lnTo>
                    <a:pt x="0" y="1684"/>
                  </a:lnTo>
                  <a:lnTo>
                    <a:pt x="0" y="1670"/>
                  </a:lnTo>
                  <a:lnTo>
                    <a:pt x="14" y="1670"/>
                  </a:lnTo>
                  <a:close/>
                  <a:moveTo>
                    <a:pt x="14" y="1698"/>
                  </a:moveTo>
                  <a:lnTo>
                    <a:pt x="14" y="1712"/>
                  </a:lnTo>
                  <a:lnTo>
                    <a:pt x="0" y="1712"/>
                  </a:lnTo>
                  <a:lnTo>
                    <a:pt x="0" y="1698"/>
                  </a:lnTo>
                  <a:lnTo>
                    <a:pt x="14" y="1698"/>
                  </a:lnTo>
                  <a:close/>
                  <a:moveTo>
                    <a:pt x="14" y="1726"/>
                  </a:moveTo>
                  <a:lnTo>
                    <a:pt x="14" y="1740"/>
                  </a:lnTo>
                  <a:lnTo>
                    <a:pt x="0" y="1740"/>
                  </a:lnTo>
                  <a:lnTo>
                    <a:pt x="0" y="1726"/>
                  </a:lnTo>
                  <a:lnTo>
                    <a:pt x="14" y="1726"/>
                  </a:lnTo>
                  <a:close/>
                  <a:moveTo>
                    <a:pt x="14" y="1754"/>
                  </a:moveTo>
                  <a:lnTo>
                    <a:pt x="14" y="1768"/>
                  </a:lnTo>
                  <a:lnTo>
                    <a:pt x="0" y="1768"/>
                  </a:lnTo>
                  <a:lnTo>
                    <a:pt x="0" y="1754"/>
                  </a:lnTo>
                  <a:lnTo>
                    <a:pt x="14" y="1754"/>
                  </a:lnTo>
                  <a:close/>
                  <a:moveTo>
                    <a:pt x="14" y="1782"/>
                  </a:moveTo>
                  <a:lnTo>
                    <a:pt x="14" y="1795"/>
                  </a:lnTo>
                  <a:lnTo>
                    <a:pt x="0" y="1795"/>
                  </a:lnTo>
                  <a:lnTo>
                    <a:pt x="0" y="1782"/>
                  </a:lnTo>
                  <a:lnTo>
                    <a:pt x="14" y="1782"/>
                  </a:lnTo>
                  <a:close/>
                  <a:moveTo>
                    <a:pt x="14" y="1809"/>
                  </a:moveTo>
                  <a:lnTo>
                    <a:pt x="14" y="1823"/>
                  </a:lnTo>
                  <a:lnTo>
                    <a:pt x="0" y="1823"/>
                  </a:lnTo>
                  <a:lnTo>
                    <a:pt x="0" y="1809"/>
                  </a:lnTo>
                  <a:lnTo>
                    <a:pt x="14" y="1809"/>
                  </a:lnTo>
                  <a:close/>
                  <a:moveTo>
                    <a:pt x="14" y="1837"/>
                  </a:moveTo>
                  <a:lnTo>
                    <a:pt x="14" y="1851"/>
                  </a:lnTo>
                  <a:lnTo>
                    <a:pt x="0" y="1851"/>
                  </a:lnTo>
                  <a:lnTo>
                    <a:pt x="0" y="1837"/>
                  </a:lnTo>
                  <a:lnTo>
                    <a:pt x="14" y="1837"/>
                  </a:lnTo>
                  <a:close/>
                  <a:moveTo>
                    <a:pt x="14" y="1865"/>
                  </a:moveTo>
                  <a:lnTo>
                    <a:pt x="14" y="1879"/>
                  </a:lnTo>
                  <a:lnTo>
                    <a:pt x="0" y="1879"/>
                  </a:lnTo>
                  <a:lnTo>
                    <a:pt x="0" y="1865"/>
                  </a:lnTo>
                  <a:lnTo>
                    <a:pt x="14" y="1865"/>
                  </a:lnTo>
                  <a:close/>
                  <a:moveTo>
                    <a:pt x="14" y="1893"/>
                  </a:moveTo>
                  <a:lnTo>
                    <a:pt x="14" y="1907"/>
                  </a:lnTo>
                  <a:lnTo>
                    <a:pt x="0" y="1907"/>
                  </a:lnTo>
                  <a:lnTo>
                    <a:pt x="0" y="1893"/>
                  </a:lnTo>
                  <a:lnTo>
                    <a:pt x="14" y="1893"/>
                  </a:lnTo>
                  <a:close/>
                  <a:moveTo>
                    <a:pt x="14" y="1921"/>
                  </a:moveTo>
                  <a:lnTo>
                    <a:pt x="14" y="1935"/>
                  </a:lnTo>
                  <a:lnTo>
                    <a:pt x="0" y="1935"/>
                  </a:lnTo>
                  <a:lnTo>
                    <a:pt x="0" y="1921"/>
                  </a:lnTo>
                  <a:lnTo>
                    <a:pt x="14" y="1921"/>
                  </a:lnTo>
                  <a:close/>
                  <a:moveTo>
                    <a:pt x="14" y="1949"/>
                  </a:moveTo>
                  <a:lnTo>
                    <a:pt x="14" y="1962"/>
                  </a:lnTo>
                  <a:lnTo>
                    <a:pt x="0" y="1962"/>
                  </a:lnTo>
                  <a:lnTo>
                    <a:pt x="0" y="1949"/>
                  </a:lnTo>
                  <a:lnTo>
                    <a:pt x="14" y="1949"/>
                  </a:lnTo>
                  <a:close/>
                  <a:moveTo>
                    <a:pt x="14" y="1976"/>
                  </a:moveTo>
                  <a:lnTo>
                    <a:pt x="14" y="1990"/>
                  </a:lnTo>
                  <a:lnTo>
                    <a:pt x="0" y="1990"/>
                  </a:lnTo>
                  <a:lnTo>
                    <a:pt x="0" y="1976"/>
                  </a:lnTo>
                  <a:lnTo>
                    <a:pt x="14" y="1976"/>
                  </a:lnTo>
                  <a:close/>
                  <a:moveTo>
                    <a:pt x="14" y="2004"/>
                  </a:moveTo>
                  <a:lnTo>
                    <a:pt x="14" y="2018"/>
                  </a:lnTo>
                  <a:lnTo>
                    <a:pt x="0" y="2018"/>
                  </a:lnTo>
                  <a:lnTo>
                    <a:pt x="0" y="2004"/>
                  </a:lnTo>
                  <a:lnTo>
                    <a:pt x="14" y="2004"/>
                  </a:lnTo>
                  <a:close/>
                  <a:moveTo>
                    <a:pt x="14" y="2032"/>
                  </a:moveTo>
                  <a:lnTo>
                    <a:pt x="14" y="2046"/>
                  </a:lnTo>
                  <a:lnTo>
                    <a:pt x="0" y="2046"/>
                  </a:lnTo>
                  <a:lnTo>
                    <a:pt x="0" y="2032"/>
                  </a:lnTo>
                  <a:lnTo>
                    <a:pt x="14" y="2032"/>
                  </a:lnTo>
                  <a:close/>
                  <a:moveTo>
                    <a:pt x="14" y="2060"/>
                  </a:moveTo>
                  <a:lnTo>
                    <a:pt x="14" y="2074"/>
                  </a:lnTo>
                  <a:lnTo>
                    <a:pt x="0" y="2074"/>
                  </a:lnTo>
                  <a:lnTo>
                    <a:pt x="0" y="2060"/>
                  </a:lnTo>
                  <a:lnTo>
                    <a:pt x="14" y="2060"/>
                  </a:lnTo>
                  <a:close/>
                  <a:moveTo>
                    <a:pt x="14" y="2087"/>
                  </a:moveTo>
                  <a:lnTo>
                    <a:pt x="14" y="2102"/>
                  </a:lnTo>
                  <a:lnTo>
                    <a:pt x="0" y="2102"/>
                  </a:lnTo>
                  <a:lnTo>
                    <a:pt x="0" y="2087"/>
                  </a:lnTo>
                  <a:lnTo>
                    <a:pt x="14" y="2087"/>
                  </a:lnTo>
                  <a:close/>
                  <a:moveTo>
                    <a:pt x="14" y="2116"/>
                  </a:moveTo>
                  <a:lnTo>
                    <a:pt x="14" y="2129"/>
                  </a:lnTo>
                  <a:lnTo>
                    <a:pt x="0" y="2129"/>
                  </a:lnTo>
                  <a:lnTo>
                    <a:pt x="0" y="2116"/>
                  </a:lnTo>
                  <a:lnTo>
                    <a:pt x="14" y="2116"/>
                  </a:lnTo>
                  <a:close/>
                  <a:moveTo>
                    <a:pt x="14" y="2143"/>
                  </a:moveTo>
                  <a:lnTo>
                    <a:pt x="14" y="2157"/>
                  </a:lnTo>
                  <a:lnTo>
                    <a:pt x="0" y="2157"/>
                  </a:lnTo>
                  <a:lnTo>
                    <a:pt x="0" y="2143"/>
                  </a:lnTo>
                  <a:lnTo>
                    <a:pt x="14" y="2143"/>
                  </a:lnTo>
                  <a:close/>
                  <a:moveTo>
                    <a:pt x="14" y="2171"/>
                  </a:moveTo>
                  <a:lnTo>
                    <a:pt x="14" y="2185"/>
                  </a:lnTo>
                  <a:lnTo>
                    <a:pt x="0" y="2185"/>
                  </a:lnTo>
                  <a:lnTo>
                    <a:pt x="0" y="2171"/>
                  </a:lnTo>
                  <a:lnTo>
                    <a:pt x="14" y="2171"/>
                  </a:lnTo>
                  <a:close/>
                  <a:moveTo>
                    <a:pt x="14" y="2199"/>
                  </a:moveTo>
                  <a:lnTo>
                    <a:pt x="14" y="2213"/>
                  </a:lnTo>
                  <a:lnTo>
                    <a:pt x="0" y="2213"/>
                  </a:lnTo>
                  <a:lnTo>
                    <a:pt x="0" y="2199"/>
                  </a:lnTo>
                  <a:lnTo>
                    <a:pt x="14" y="2199"/>
                  </a:lnTo>
                  <a:close/>
                  <a:moveTo>
                    <a:pt x="14" y="2227"/>
                  </a:moveTo>
                  <a:lnTo>
                    <a:pt x="14" y="2241"/>
                  </a:lnTo>
                  <a:lnTo>
                    <a:pt x="0" y="2241"/>
                  </a:lnTo>
                  <a:lnTo>
                    <a:pt x="0" y="2227"/>
                  </a:lnTo>
                  <a:lnTo>
                    <a:pt x="14" y="2227"/>
                  </a:lnTo>
                  <a:close/>
                  <a:moveTo>
                    <a:pt x="14" y="2254"/>
                  </a:moveTo>
                  <a:lnTo>
                    <a:pt x="14" y="2268"/>
                  </a:lnTo>
                  <a:lnTo>
                    <a:pt x="0" y="2268"/>
                  </a:lnTo>
                  <a:lnTo>
                    <a:pt x="0" y="2254"/>
                  </a:lnTo>
                  <a:lnTo>
                    <a:pt x="14" y="2254"/>
                  </a:lnTo>
                  <a:close/>
                  <a:moveTo>
                    <a:pt x="14" y="2283"/>
                  </a:moveTo>
                  <a:lnTo>
                    <a:pt x="14" y="2296"/>
                  </a:lnTo>
                  <a:lnTo>
                    <a:pt x="0" y="2296"/>
                  </a:lnTo>
                  <a:lnTo>
                    <a:pt x="0" y="2283"/>
                  </a:lnTo>
                  <a:lnTo>
                    <a:pt x="14" y="2283"/>
                  </a:lnTo>
                  <a:close/>
                  <a:moveTo>
                    <a:pt x="14" y="2310"/>
                  </a:moveTo>
                  <a:lnTo>
                    <a:pt x="14" y="2324"/>
                  </a:lnTo>
                  <a:lnTo>
                    <a:pt x="0" y="2324"/>
                  </a:lnTo>
                  <a:lnTo>
                    <a:pt x="0" y="2310"/>
                  </a:lnTo>
                  <a:lnTo>
                    <a:pt x="14" y="2310"/>
                  </a:lnTo>
                  <a:close/>
                  <a:moveTo>
                    <a:pt x="14" y="2338"/>
                  </a:moveTo>
                  <a:lnTo>
                    <a:pt x="14" y="2352"/>
                  </a:lnTo>
                  <a:lnTo>
                    <a:pt x="0" y="2352"/>
                  </a:lnTo>
                  <a:lnTo>
                    <a:pt x="0" y="2338"/>
                  </a:lnTo>
                  <a:lnTo>
                    <a:pt x="14" y="2338"/>
                  </a:lnTo>
                  <a:close/>
                  <a:moveTo>
                    <a:pt x="14" y="2366"/>
                  </a:moveTo>
                  <a:lnTo>
                    <a:pt x="14" y="2380"/>
                  </a:lnTo>
                  <a:lnTo>
                    <a:pt x="0" y="2380"/>
                  </a:lnTo>
                  <a:lnTo>
                    <a:pt x="0" y="2366"/>
                  </a:lnTo>
                  <a:lnTo>
                    <a:pt x="14" y="2366"/>
                  </a:lnTo>
                  <a:close/>
                  <a:moveTo>
                    <a:pt x="14" y="2394"/>
                  </a:moveTo>
                  <a:lnTo>
                    <a:pt x="14" y="2408"/>
                  </a:lnTo>
                  <a:lnTo>
                    <a:pt x="0" y="2408"/>
                  </a:lnTo>
                  <a:lnTo>
                    <a:pt x="0" y="2394"/>
                  </a:lnTo>
                  <a:lnTo>
                    <a:pt x="14" y="2394"/>
                  </a:lnTo>
                  <a:close/>
                  <a:moveTo>
                    <a:pt x="14" y="2421"/>
                  </a:moveTo>
                  <a:lnTo>
                    <a:pt x="14" y="2435"/>
                  </a:lnTo>
                  <a:lnTo>
                    <a:pt x="0" y="2435"/>
                  </a:lnTo>
                  <a:lnTo>
                    <a:pt x="0" y="2421"/>
                  </a:lnTo>
                  <a:lnTo>
                    <a:pt x="14" y="2421"/>
                  </a:lnTo>
                  <a:close/>
                  <a:moveTo>
                    <a:pt x="14" y="2449"/>
                  </a:moveTo>
                  <a:lnTo>
                    <a:pt x="14" y="2453"/>
                  </a:lnTo>
                  <a:lnTo>
                    <a:pt x="0" y="2453"/>
                  </a:lnTo>
                  <a:lnTo>
                    <a:pt x="0" y="2449"/>
                  </a:lnTo>
                  <a:lnTo>
                    <a:pt x="14" y="2449"/>
                  </a:lnTo>
                  <a:close/>
                </a:path>
              </a:pathLst>
            </a:custGeom>
            <a:solidFill>
              <a:srgbClr val="000000"/>
            </a:solidFill>
            <a:ln w="0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42" name="Freeform 39">
              <a:extLst>
                <a:ext uri="{FF2B5EF4-FFF2-40B4-BE49-F238E27FC236}">
                  <a16:creationId xmlns:a16="http://schemas.microsoft.com/office/drawing/2014/main" id="{44B3BFDA-0CEF-4CB3-A372-879A1A0CB5B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1668" y="2728918"/>
              <a:ext cx="298450" cy="661988"/>
            </a:xfrm>
            <a:custGeom>
              <a:avLst/>
              <a:gdLst>
                <a:gd name="T0" fmla="*/ 0 w 188"/>
                <a:gd name="T1" fmla="*/ 278 h 417"/>
                <a:gd name="T2" fmla="*/ 63 w 188"/>
                <a:gd name="T3" fmla="*/ 209 h 417"/>
                <a:gd name="T4" fmla="*/ 0 w 188"/>
                <a:gd name="T5" fmla="*/ 139 h 417"/>
                <a:gd name="T6" fmla="*/ 0 w 188"/>
                <a:gd name="T7" fmla="*/ 0 h 417"/>
                <a:gd name="T8" fmla="*/ 188 w 188"/>
                <a:gd name="T9" fmla="*/ 139 h 417"/>
                <a:gd name="T10" fmla="*/ 188 w 188"/>
                <a:gd name="T11" fmla="*/ 278 h 417"/>
                <a:gd name="T12" fmla="*/ 0 w 188"/>
                <a:gd name="T13" fmla="*/ 417 h 417"/>
                <a:gd name="T14" fmla="*/ 0 w 188"/>
                <a:gd name="T15" fmla="*/ 278 h 4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88" h="417">
                  <a:moveTo>
                    <a:pt x="0" y="278"/>
                  </a:moveTo>
                  <a:lnTo>
                    <a:pt x="63" y="209"/>
                  </a:lnTo>
                  <a:lnTo>
                    <a:pt x="0" y="139"/>
                  </a:lnTo>
                  <a:lnTo>
                    <a:pt x="0" y="0"/>
                  </a:lnTo>
                  <a:lnTo>
                    <a:pt x="188" y="139"/>
                  </a:lnTo>
                  <a:lnTo>
                    <a:pt x="188" y="278"/>
                  </a:lnTo>
                  <a:lnTo>
                    <a:pt x="0" y="417"/>
                  </a:lnTo>
                  <a:lnTo>
                    <a:pt x="0" y="278"/>
                  </a:lnTo>
                </a:path>
              </a:pathLst>
            </a:custGeom>
            <a:noFill/>
            <a:ln w="222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43" name="Rectangle 40">
              <a:extLst>
                <a:ext uri="{FF2B5EF4-FFF2-40B4-BE49-F238E27FC236}">
                  <a16:creationId xmlns:a16="http://schemas.microsoft.com/office/drawing/2014/main" id="{C8DF0093-180D-4C42-82C8-39C96A02460F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4045854" y="2951396"/>
              <a:ext cx="663574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1400" u="none" strike="noStrike" cap="none" normalizeH="0" baseline="0" dirty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  <a:ea typeface="SimHei" panose="02010609060101010101" pitchFamily="49" charset="-122"/>
                </a:rPr>
                <a:t>ALU</a:t>
              </a:r>
              <a:endParaRPr kumimoji="0" lang="zh-CN" altLang="zh-CN" sz="140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endParaRPr>
            </a:p>
          </p:txBody>
        </p:sp>
        <p:sp>
          <p:nvSpPr>
            <p:cNvPr id="44" name="Rectangle 41">
              <a:extLst>
                <a:ext uri="{FF2B5EF4-FFF2-40B4-BE49-F238E27FC236}">
                  <a16:creationId xmlns:a16="http://schemas.microsoft.com/office/drawing/2014/main" id="{7C4CBD87-BBAE-4288-A437-E470A5E842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29616" y="2946405"/>
              <a:ext cx="198772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1400" u="none" strike="noStrike" cap="none" normalizeH="0" baseline="0" dirty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  <a:ea typeface="SimHei" panose="02010609060101010101" pitchFamily="49" charset="-122"/>
                </a:rPr>
                <a:t>IM</a:t>
              </a:r>
              <a:endParaRPr kumimoji="0" lang="zh-CN" altLang="zh-CN" sz="180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endParaRPr>
            </a:p>
          </p:txBody>
        </p:sp>
        <p:sp>
          <p:nvSpPr>
            <p:cNvPr id="45" name="Freeform 42">
              <a:extLst>
                <a:ext uri="{FF2B5EF4-FFF2-40B4-BE49-F238E27FC236}">
                  <a16:creationId xmlns:a16="http://schemas.microsoft.com/office/drawing/2014/main" id="{17C17742-0D98-4FCC-8283-D8BE676A44C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7693" y="2862268"/>
              <a:ext cx="246063" cy="396875"/>
            </a:xfrm>
            <a:custGeom>
              <a:avLst/>
              <a:gdLst>
                <a:gd name="T0" fmla="*/ 155 w 155"/>
                <a:gd name="T1" fmla="*/ 0 h 250"/>
                <a:gd name="T2" fmla="*/ 0 w 155"/>
                <a:gd name="T3" fmla="*/ 0 h 250"/>
                <a:gd name="T4" fmla="*/ 0 w 155"/>
                <a:gd name="T5" fmla="*/ 250 h 250"/>
                <a:gd name="T6" fmla="*/ 155 w 155"/>
                <a:gd name="T7" fmla="*/ 250 h 2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55" h="250">
                  <a:moveTo>
                    <a:pt x="155" y="0"/>
                  </a:moveTo>
                  <a:lnTo>
                    <a:pt x="0" y="0"/>
                  </a:lnTo>
                  <a:lnTo>
                    <a:pt x="0" y="250"/>
                  </a:lnTo>
                  <a:lnTo>
                    <a:pt x="155" y="250"/>
                  </a:lnTo>
                </a:path>
              </a:pathLst>
            </a:custGeom>
            <a:noFill/>
            <a:ln w="222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46" name="Freeform 43">
              <a:extLst>
                <a:ext uri="{FF2B5EF4-FFF2-40B4-BE49-F238E27FC236}">
                  <a16:creationId xmlns:a16="http://schemas.microsoft.com/office/drawing/2014/main" id="{D7262424-F6AB-4B3F-A873-2F8B5C56ACF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5343" y="2862268"/>
              <a:ext cx="238125" cy="396875"/>
            </a:xfrm>
            <a:custGeom>
              <a:avLst/>
              <a:gdLst>
                <a:gd name="T0" fmla="*/ 0 w 150"/>
                <a:gd name="T1" fmla="*/ 0 h 250"/>
                <a:gd name="T2" fmla="*/ 150 w 150"/>
                <a:gd name="T3" fmla="*/ 0 h 250"/>
                <a:gd name="T4" fmla="*/ 150 w 150"/>
                <a:gd name="T5" fmla="*/ 250 h 250"/>
                <a:gd name="T6" fmla="*/ 0 w 150"/>
                <a:gd name="T7" fmla="*/ 250 h 2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50" h="250">
                  <a:moveTo>
                    <a:pt x="0" y="0"/>
                  </a:moveTo>
                  <a:lnTo>
                    <a:pt x="150" y="0"/>
                  </a:lnTo>
                  <a:lnTo>
                    <a:pt x="150" y="250"/>
                  </a:lnTo>
                  <a:lnTo>
                    <a:pt x="0" y="250"/>
                  </a:lnTo>
                </a:path>
              </a:pathLst>
            </a:custGeom>
            <a:noFill/>
            <a:ln w="222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47" name="Rectangle 44">
              <a:extLst>
                <a:ext uri="{FF2B5EF4-FFF2-40B4-BE49-F238E27FC236}">
                  <a16:creationId xmlns:a16="http://schemas.microsoft.com/office/drawing/2014/main" id="{37156D61-B13D-4788-AFE5-94580C785A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00481" y="2937515"/>
              <a:ext cx="328616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1400" u="none" strike="noStrike" cap="none" normalizeH="0" baseline="0" dirty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  <a:ea typeface="SimHei" panose="02010609060101010101" pitchFamily="49" charset="-122"/>
                </a:rPr>
                <a:t>Reg</a:t>
              </a:r>
              <a:endParaRPr kumimoji="0" lang="zh-CN" altLang="zh-CN" sz="180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endParaRPr>
            </a:p>
          </p:txBody>
        </p:sp>
        <p:sp>
          <p:nvSpPr>
            <p:cNvPr id="48" name="Freeform 45">
              <a:extLst>
                <a:ext uri="{FF2B5EF4-FFF2-40B4-BE49-F238E27FC236}">
                  <a16:creationId xmlns:a16="http://schemas.microsoft.com/office/drawing/2014/main" id="{E886716A-462E-478B-8086-774985C6F87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4918" y="2862268"/>
              <a:ext cx="212725" cy="396875"/>
            </a:xfrm>
            <a:custGeom>
              <a:avLst/>
              <a:gdLst>
                <a:gd name="T0" fmla="*/ 134 w 134"/>
                <a:gd name="T1" fmla="*/ 0 h 250"/>
                <a:gd name="T2" fmla="*/ 0 w 134"/>
                <a:gd name="T3" fmla="*/ 0 h 250"/>
                <a:gd name="T4" fmla="*/ 0 w 134"/>
                <a:gd name="T5" fmla="*/ 250 h 250"/>
                <a:gd name="T6" fmla="*/ 134 w 134"/>
                <a:gd name="T7" fmla="*/ 250 h 2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4" h="250">
                  <a:moveTo>
                    <a:pt x="134" y="0"/>
                  </a:moveTo>
                  <a:lnTo>
                    <a:pt x="0" y="0"/>
                  </a:lnTo>
                  <a:lnTo>
                    <a:pt x="0" y="250"/>
                  </a:lnTo>
                  <a:lnTo>
                    <a:pt x="134" y="250"/>
                  </a:lnTo>
                </a:path>
              </a:pathLst>
            </a:custGeom>
            <a:noFill/>
            <a:ln w="222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49" name="Freeform 46">
              <a:extLst>
                <a:ext uri="{FF2B5EF4-FFF2-40B4-BE49-F238E27FC236}">
                  <a16:creationId xmlns:a16="http://schemas.microsoft.com/office/drawing/2014/main" id="{7FBA7C65-B063-426A-AFD7-D383BF7ED23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9231" y="2862268"/>
              <a:ext cx="203200" cy="396875"/>
            </a:xfrm>
            <a:custGeom>
              <a:avLst/>
              <a:gdLst>
                <a:gd name="T0" fmla="*/ 0 w 128"/>
                <a:gd name="T1" fmla="*/ 0 h 250"/>
                <a:gd name="T2" fmla="*/ 128 w 128"/>
                <a:gd name="T3" fmla="*/ 0 h 250"/>
                <a:gd name="T4" fmla="*/ 128 w 128"/>
                <a:gd name="T5" fmla="*/ 250 h 250"/>
                <a:gd name="T6" fmla="*/ 0 w 128"/>
                <a:gd name="T7" fmla="*/ 250 h 2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8" h="250">
                  <a:moveTo>
                    <a:pt x="0" y="0"/>
                  </a:moveTo>
                  <a:lnTo>
                    <a:pt x="128" y="0"/>
                  </a:lnTo>
                  <a:lnTo>
                    <a:pt x="128" y="250"/>
                  </a:lnTo>
                  <a:lnTo>
                    <a:pt x="0" y="250"/>
                  </a:lnTo>
                </a:path>
              </a:pathLst>
            </a:custGeom>
            <a:noFill/>
            <a:ln w="222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50" name="Line 47">
              <a:extLst>
                <a:ext uri="{FF2B5EF4-FFF2-40B4-BE49-F238E27FC236}">
                  <a16:creationId xmlns:a16="http://schemas.microsoft.com/office/drawing/2014/main" id="{6E3612D7-BE79-4998-9455-2238C8A280C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82993" y="3060705"/>
              <a:ext cx="161925" cy="0"/>
            </a:xfrm>
            <a:prstGeom prst="line">
              <a:avLst/>
            </a:prstGeom>
            <a:noFill/>
            <a:ln w="22225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51" name="Freeform 48">
              <a:extLst>
                <a:ext uri="{FF2B5EF4-FFF2-40B4-BE49-F238E27FC236}">
                  <a16:creationId xmlns:a16="http://schemas.microsoft.com/office/drawing/2014/main" id="{73FC0C1F-E257-4619-995C-0C6292E0B1F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6656" y="2927355"/>
              <a:ext cx="68263" cy="131763"/>
            </a:xfrm>
            <a:custGeom>
              <a:avLst/>
              <a:gdLst>
                <a:gd name="T0" fmla="*/ 0 w 43"/>
                <a:gd name="T1" fmla="*/ 83 h 83"/>
                <a:gd name="T2" fmla="*/ 0 w 43"/>
                <a:gd name="T3" fmla="*/ 0 h 83"/>
                <a:gd name="T4" fmla="*/ 43 w 43"/>
                <a:gd name="T5" fmla="*/ 0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3" h="83">
                  <a:moveTo>
                    <a:pt x="0" y="83"/>
                  </a:moveTo>
                  <a:lnTo>
                    <a:pt x="0" y="0"/>
                  </a:lnTo>
                  <a:lnTo>
                    <a:pt x="43" y="0"/>
                  </a:lnTo>
                </a:path>
              </a:pathLst>
            </a:custGeom>
            <a:noFill/>
            <a:ln w="222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52" name="Line 49">
              <a:extLst>
                <a:ext uri="{FF2B5EF4-FFF2-40B4-BE49-F238E27FC236}">
                  <a16:creationId xmlns:a16="http://schemas.microsoft.com/office/drawing/2014/main" id="{0A43A060-25BF-412D-8F05-58498572D7C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971956" y="2927355"/>
              <a:ext cx="222250" cy="0"/>
            </a:xfrm>
            <a:prstGeom prst="line">
              <a:avLst/>
            </a:prstGeom>
            <a:noFill/>
            <a:ln w="22225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53" name="Rectangle 50">
              <a:extLst>
                <a:ext uri="{FF2B5EF4-FFF2-40B4-BE49-F238E27FC236}">
                  <a16:creationId xmlns:a16="http://schemas.microsoft.com/office/drawing/2014/main" id="{D8E2C188-3833-4EA4-A4B3-7A58A1E231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31111" y="2946405"/>
              <a:ext cx="278923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1400" u="none" strike="noStrike" cap="none" normalizeH="0" baseline="0" dirty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  <a:ea typeface="SimHei" panose="02010609060101010101" pitchFamily="49" charset="-122"/>
                </a:rPr>
                <a:t>DM</a:t>
              </a:r>
              <a:endParaRPr kumimoji="0" lang="zh-CN" altLang="zh-CN" sz="180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endParaRPr>
            </a:p>
          </p:txBody>
        </p:sp>
        <p:sp>
          <p:nvSpPr>
            <p:cNvPr id="54" name="Freeform 51">
              <a:extLst>
                <a:ext uri="{FF2B5EF4-FFF2-40B4-BE49-F238E27FC236}">
                  <a16:creationId xmlns:a16="http://schemas.microsoft.com/office/drawing/2014/main" id="{B69B2AD7-4F52-4F8F-B31F-6F4FC29FBEBA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7768" y="2862268"/>
              <a:ext cx="230188" cy="396875"/>
            </a:xfrm>
            <a:custGeom>
              <a:avLst/>
              <a:gdLst>
                <a:gd name="T0" fmla="*/ 145 w 145"/>
                <a:gd name="T1" fmla="*/ 0 h 250"/>
                <a:gd name="T2" fmla="*/ 0 w 145"/>
                <a:gd name="T3" fmla="*/ 0 h 250"/>
                <a:gd name="T4" fmla="*/ 0 w 145"/>
                <a:gd name="T5" fmla="*/ 250 h 250"/>
                <a:gd name="T6" fmla="*/ 145 w 145"/>
                <a:gd name="T7" fmla="*/ 250 h 2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45" h="250">
                  <a:moveTo>
                    <a:pt x="145" y="0"/>
                  </a:moveTo>
                  <a:lnTo>
                    <a:pt x="0" y="0"/>
                  </a:lnTo>
                  <a:lnTo>
                    <a:pt x="0" y="250"/>
                  </a:lnTo>
                  <a:lnTo>
                    <a:pt x="145" y="250"/>
                  </a:lnTo>
                </a:path>
              </a:pathLst>
            </a:custGeom>
            <a:noFill/>
            <a:ln w="222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55" name="Freeform 52">
              <a:extLst>
                <a:ext uri="{FF2B5EF4-FFF2-40B4-BE49-F238E27FC236}">
                  <a16:creationId xmlns:a16="http://schemas.microsoft.com/office/drawing/2014/main" id="{ABF6A284-8FA2-467A-8F6B-A0DCD0A587AC}"/>
                </a:ext>
              </a:extLst>
            </p:cNvPr>
            <p:cNvSpPr>
              <a:spLocks/>
            </p:cNvSpPr>
            <p:nvPr/>
          </p:nvSpPr>
          <p:spPr bwMode="auto">
            <a:xfrm>
              <a:off x="4980018" y="2862268"/>
              <a:ext cx="238125" cy="396875"/>
            </a:xfrm>
            <a:custGeom>
              <a:avLst/>
              <a:gdLst>
                <a:gd name="T0" fmla="*/ 0 w 150"/>
                <a:gd name="T1" fmla="*/ 0 h 250"/>
                <a:gd name="T2" fmla="*/ 150 w 150"/>
                <a:gd name="T3" fmla="*/ 0 h 250"/>
                <a:gd name="T4" fmla="*/ 150 w 150"/>
                <a:gd name="T5" fmla="*/ 250 h 250"/>
                <a:gd name="T6" fmla="*/ 0 w 150"/>
                <a:gd name="T7" fmla="*/ 250 h 2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50" h="250">
                  <a:moveTo>
                    <a:pt x="0" y="0"/>
                  </a:moveTo>
                  <a:lnTo>
                    <a:pt x="150" y="0"/>
                  </a:lnTo>
                  <a:lnTo>
                    <a:pt x="150" y="250"/>
                  </a:lnTo>
                  <a:lnTo>
                    <a:pt x="0" y="250"/>
                  </a:lnTo>
                </a:path>
              </a:pathLst>
            </a:custGeom>
            <a:noFill/>
            <a:ln w="222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56" name="Rectangle 53">
              <a:extLst>
                <a:ext uri="{FF2B5EF4-FFF2-40B4-BE49-F238E27FC236}">
                  <a16:creationId xmlns:a16="http://schemas.microsoft.com/office/drawing/2014/main" id="{8FC1E681-A5C3-432B-9F72-E46D80B6F1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64206" y="2938785"/>
              <a:ext cx="328616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1400" u="none" strike="noStrike" cap="none" normalizeH="0" baseline="0" dirty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  <a:ea typeface="SimHei" panose="02010609060101010101" pitchFamily="49" charset="-122"/>
                </a:rPr>
                <a:t>Reg</a:t>
              </a:r>
              <a:endParaRPr kumimoji="0" lang="zh-CN" altLang="zh-CN" sz="180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endParaRPr>
            </a:p>
          </p:txBody>
        </p:sp>
        <p:sp>
          <p:nvSpPr>
            <p:cNvPr id="57" name="Freeform 54">
              <a:extLst>
                <a:ext uri="{FF2B5EF4-FFF2-40B4-BE49-F238E27FC236}">
                  <a16:creationId xmlns:a16="http://schemas.microsoft.com/office/drawing/2014/main" id="{4205DDD4-770A-44FC-A319-7417BB4917EC}"/>
                </a:ext>
              </a:extLst>
            </p:cNvPr>
            <p:cNvSpPr>
              <a:spLocks/>
            </p:cNvSpPr>
            <p:nvPr/>
          </p:nvSpPr>
          <p:spPr bwMode="auto">
            <a:xfrm>
              <a:off x="5424518" y="2862268"/>
              <a:ext cx="195263" cy="396875"/>
            </a:xfrm>
            <a:custGeom>
              <a:avLst/>
              <a:gdLst>
                <a:gd name="T0" fmla="*/ 123 w 123"/>
                <a:gd name="T1" fmla="*/ 0 h 250"/>
                <a:gd name="T2" fmla="*/ 0 w 123"/>
                <a:gd name="T3" fmla="*/ 0 h 250"/>
                <a:gd name="T4" fmla="*/ 0 w 123"/>
                <a:gd name="T5" fmla="*/ 250 h 250"/>
                <a:gd name="T6" fmla="*/ 123 w 123"/>
                <a:gd name="T7" fmla="*/ 250 h 2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3" h="250">
                  <a:moveTo>
                    <a:pt x="123" y="0"/>
                  </a:moveTo>
                  <a:lnTo>
                    <a:pt x="0" y="0"/>
                  </a:lnTo>
                  <a:lnTo>
                    <a:pt x="0" y="250"/>
                  </a:lnTo>
                  <a:lnTo>
                    <a:pt x="123" y="250"/>
                  </a:lnTo>
                </a:path>
              </a:pathLst>
            </a:custGeom>
            <a:noFill/>
            <a:ln w="222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58" name="Freeform 55">
              <a:extLst>
                <a:ext uri="{FF2B5EF4-FFF2-40B4-BE49-F238E27FC236}">
                  <a16:creationId xmlns:a16="http://schemas.microsoft.com/office/drawing/2014/main" id="{80D532C1-2CC6-48E4-BDA7-FD1C5E22B2BC}"/>
                </a:ext>
              </a:extLst>
            </p:cNvPr>
            <p:cNvSpPr>
              <a:spLocks/>
            </p:cNvSpPr>
            <p:nvPr/>
          </p:nvSpPr>
          <p:spPr bwMode="auto">
            <a:xfrm>
              <a:off x="5621368" y="2862268"/>
              <a:ext cx="203200" cy="396875"/>
            </a:xfrm>
            <a:custGeom>
              <a:avLst/>
              <a:gdLst>
                <a:gd name="T0" fmla="*/ 0 w 128"/>
                <a:gd name="T1" fmla="*/ 0 h 250"/>
                <a:gd name="T2" fmla="*/ 128 w 128"/>
                <a:gd name="T3" fmla="*/ 0 h 250"/>
                <a:gd name="T4" fmla="*/ 128 w 128"/>
                <a:gd name="T5" fmla="*/ 250 h 250"/>
                <a:gd name="T6" fmla="*/ 0 w 128"/>
                <a:gd name="T7" fmla="*/ 250 h 2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8" h="250">
                  <a:moveTo>
                    <a:pt x="0" y="0"/>
                  </a:moveTo>
                  <a:lnTo>
                    <a:pt x="128" y="0"/>
                  </a:lnTo>
                  <a:lnTo>
                    <a:pt x="128" y="250"/>
                  </a:lnTo>
                  <a:lnTo>
                    <a:pt x="0" y="250"/>
                  </a:lnTo>
                </a:path>
              </a:pathLst>
            </a:custGeom>
            <a:noFill/>
            <a:ln w="222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59" name="Line 56">
              <a:extLst>
                <a:ext uri="{FF2B5EF4-FFF2-40B4-BE49-F238E27FC236}">
                  <a16:creationId xmlns:a16="http://schemas.microsoft.com/office/drawing/2014/main" id="{CE2A096D-9B77-404D-BB84-6F179984AAA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211793" y="3060705"/>
              <a:ext cx="195263" cy="0"/>
            </a:xfrm>
            <a:prstGeom prst="line">
              <a:avLst/>
            </a:prstGeom>
            <a:noFill/>
            <a:ln w="22225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60" name="Line 57">
              <a:extLst>
                <a:ext uri="{FF2B5EF4-FFF2-40B4-BE49-F238E27FC236}">
                  <a16:creationId xmlns:a16="http://schemas.microsoft.com/office/drawing/2014/main" id="{23C9518C-C425-49D0-8A9C-BBFC4F380E5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519643" y="3060705"/>
              <a:ext cx="222250" cy="0"/>
            </a:xfrm>
            <a:prstGeom prst="line">
              <a:avLst/>
            </a:prstGeom>
            <a:noFill/>
            <a:ln w="22225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61" name="Line 58">
              <a:extLst>
                <a:ext uri="{FF2B5EF4-FFF2-40B4-BE49-F238E27FC236}">
                  <a16:creationId xmlns:a16="http://schemas.microsoft.com/office/drawing/2014/main" id="{4961D95E-19D9-4103-AB9A-838E0EEF5B1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971956" y="3192468"/>
              <a:ext cx="222250" cy="0"/>
            </a:xfrm>
            <a:prstGeom prst="line">
              <a:avLst/>
            </a:prstGeom>
            <a:noFill/>
            <a:ln w="22225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62" name="Line 59">
              <a:extLst>
                <a:ext uri="{FF2B5EF4-FFF2-40B4-BE49-F238E27FC236}">
                  <a16:creationId xmlns:a16="http://schemas.microsoft.com/office/drawing/2014/main" id="{7EE913F9-EFEB-4B79-883A-0C490BE0C07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92606" y="3192468"/>
              <a:ext cx="0" cy="265113"/>
            </a:xfrm>
            <a:prstGeom prst="line">
              <a:avLst/>
            </a:prstGeom>
            <a:noFill/>
            <a:ln w="254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63" name="Line 60">
              <a:extLst>
                <a:ext uri="{FF2B5EF4-FFF2-40B4-BE49-F238E27FC236}">
                  <a16:creationId xmlns:a16="http://schemas.microsoft.com/office/drawing/2014/main" id="{1FF10F42-213D-4D2F-856F-A9CCEA08C9B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92606" y="3457580"/>
              <a:ext cx="477838" cy="0"/>
            </a:xfrm>
            <a:prstGeom prst="line">
              <a:avLst/>
            </a:prstGeom>
            <a:noFill/>
            <a:ln w="254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64" name="Line 61">
              <a:extLst>
                <a:ext uri="{FF2B5EF4-FFF2-40B4-BE49-F238E27FC236}">
                  <a16:creationId xmlns:a16="http://schemas.microsoft.com/office/drawing/2014/main" id="{4900FC44-EBC2-4BA9-B3C5-06EB0262C6F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570443" y="3060705"/>
              <a:ext cx="0" cy="396875"/>
            </a:xfrm>
            <a:prstGeom prst="line">
              <a:avLst/>
            </a:prstGeom>
            <a:noFill/>
            <a:ln w="254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65" name="Line 62">
              <a:extLst>
                <a:ext uri="{FF2B5EF4-FFF2-40B4-BE49-F238E27FC236}">
                  <a16:creationId xmlns:a16="http://schemas.microsoft.com/office/drawing/2014/main" id="{FD64B2FC-8B65-45F4-AEFF-9862EA44EFE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89506" y="3060705"/>
              <a:ext cx="0" cy="331788"/>
            </a:xfrm>
            <a:prstGeom prst="line">
              <a:avLst/>
            </a:prstGeom>
            <a:noFill/>
            <a:ln w="254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66" name="Line 63">
              <a:extLst>
                <a:ext uri="{FF2B5EF4-FFF2-40B4-BE49-F238E27FC236}">
                  <a16:creationId xmlns:a16="http://schemas.microsoft.com/office/drawing/2014/main" id="{908E9B8F-F282-4968-A91C-8FBE117F767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89506" y="3392493"/>
              <a:ext cx="615950" cy="0"/>
            </a:xfrm>
            <a:prstGeom prst="line">
              <a:avLst/>
            </a:prstGeom>
            <a:noFill/>
            <a:ln w="254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67" name="Line 64">
              <a:extLst>
                <a:ext uri="{FF2B5EF4-FFF2-40B4-BE49-F238E27FC236}">
                  <a16:creationId xmlns:a16="http://schemas.microsoft.com/office/drawing/2014/main" id="{9D352A6E-ED08-464B-8497-DDDAEEAF912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305456" y="3060705"/>
              <a:ext cx="0" cy="331788"/>
            </a:xfrm>
            <a:prstGeom prst="line">
              <a:avLst/>
            </a:prstGeom>
            <a:noFill/>
            <a:ln w="254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68" name="Freeform 65">
              <a:extLst>
                <a:ext uri="{FF2B5EF4-FFF2-40B4-BE49-F238E27FC236}">
                  <a16:creationId xmlns:a16="http://schemas.microsoft.com/office/drawing/2014/main" id="{BD975E73-9270-46BE-B891-95BD9DBE7783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6031" y="3457580"/>
              <a:ext cx="298450" cy="661988"/>
            </a:xfrm>
            <a:custGeom>
              <a:avLst/>
              <a:gdLst>
                <a:gd name="T0" fmla="*/ 0 w 188"/>
                <a:gd name="T1" fmla="*/ 278 h 417"/>
                <a:gd name="T2" fmla="*/ 63 w 188"/>
                <a:gd name="T3" fmla="*/ 209 h 417"/>
                <a:gd name="T4" fmla="*/ 0 w 188"/>
                <a:gd name="T5" fmla="*/ 139 h 417"/>
                <a:gd name="T6" fmla="*/ 0 w 188"/>
                <a:gd name="T7" fmla="*/ 0 h 417"/>
                <a:gd name="T8" fmla="*/ 188 w 188"/>
                <a:gd name="T9" fmla="*/ 139 h 417"/>
                <a:gd name="T10" fmla="*/ 188 w 188"/>
                <a:gd name="T11" fmla="*/ 278 h 417"/>
                <a:gd name="T12" fmla="*/ 0 w 188"/>
                <a:gd name="T13" fmla="*/ 417 h 417"/>
                <a:gd name="T14" fmla="*/ 0 w 188"/>
                <a:gd name="T15" fmla="*/ 278 h 4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88" h="417">
                  <a:moveTo>
                    <a:pt x="0" y="278"/>
                  </a:moveTo>
                  <a:lnTo>
                    <a:pt x="63" y="209"/>
                  </a:lnTo>
                  <a:lnTo>
                    <a:pt x="0" y="139"/>
                  </a:lnTo>
                  <a:lnTo>
                    <a:pt x="0" y="0"/>
                  </a:lnTo>
                  <a:lnTo>
                    <a:pt x="188" y="139"/>
                  </a:lnTo>
                  <a:lnTo>
                    <a:pt x="188" y="278"/>
                  </a:lnTo>
                  <a:lnTo>
                    <a:pt x="0" y="417"/>
                  </a:lnTo>
                  <a:lnTo>
                    <a:pt x="0" y="278"/>
                  </a:lnTo>
                </a:path>
              </a:pathLst>
            </a:custGeom>
            <a:noFill/>
            <a:ln w="222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69" name="Rectangle 66">
              <a:extLst>
                <a:ext uri="{FF2B5EF4-FFF2-40B4-BE49-F238E27FC236}">
                  <a16:creationId xmlns:a16="http://schemas.microsoft.com/office/drawing/2014/main" id="{714C9756-9123-4FF6-8E93-61FFD087645B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4661804" y="3680059"/>
              <a:ext cx="663574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1400" u="none" strike="noStrike" cap="none" normalizeH="0" baseline="0" dirty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  <a:ea typeface="SimHei" panose="02010609060101010101" pitchFamily="49" charset="-122"/>
                </a:rPr>
                <a:t>ALU</a:t>
              </a:r>
              <a:endParaRPr kumimoji="0" lang="zh-CN" altLang="zh-CN" sz="140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endParaRPr>
            </a:p>
          </p:txBody>
        </p:sp>
        <p:sp>
          <p:nvSpPr>
            <p:cNvPr id="70" name="Rectangle 67">
              <a:extLst>
                <a:ext uri="{FF2B5EF4-FFF2-40B4-BE49-F238E27FC236}">
                  <a16:creationId xmlns:a16="http://schemas.microsoft.com/office/drawing/2014/main" id="{2CC9872B-0ACB-4E2B-9E09-76219600C6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43978" y="3675068"/>
              <a:ext cx="198772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1400" u="none" strike="noStrike" cap="none" normalizeH="0" baseline="0" dirty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  <a:ea typeface="SimHei" panose="02010609060101010101" pitchFamily="49" charset="-122"/>
                </a:rPr>
                <a:t>IM</a:t>
              </a:r>
              <a:endParaRPr kumimoji="0" lang="zh-CN" altLang="zh-CN" sz="180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endParaRPr>
            </a:p>
          </p:txBody>
        </p:sp>
        <p:sp>
          <p:nvSpPr>
            <p:cNvPr id="71" name="Freeform 68">
              <a:extLst>
                <a:ext uri="{FF2B5EF4-FFF2-40B4-BE49-F238E27FC236}">
                  <a16:creationId xmlns:a16="http://schemas.microsoft.com/office/drawing/2014/main" id="{BD2FF889-8066-4D44-8B63-BD29AD7F794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2056" y="3590930"/>
              <a:ext cx="247650" cy="396875"/>
            </a:xfrm>
            <a:custGeom>
              <a:avLst/>
              <a:gdLst>
                <a:gd name="T0" fmla="*/ 156 w 156"/>
                <a:gd name="T1" fmla="*/ 0 h 250"/>
                <a:gd name="T2" fmla="*/ 0 w 156"/>
                <a:gd name="T3" fmla="*/ 0 h 250"/>
                <a:gd name="T4" fmla="*/ 0 w 156"/>
                <a:gd name="T5" fmla="*/ 250 h 250"/>
                <a:gd name="T6" fmla="*/ 156 w 156"/>
                <a:gd name="T7" fmla="*/ 250 h 2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56" h="250">
                  <a:moveTo>
                    <a:pt x="156" y="0"/>
                  </a:moveTo>
                  <a:lnTo>
                    <a:pt x="0" y="0"/>
                  </a:lnTo>
                  <a:lnTo>
                    <a:pt x="0" y="250"/>
                  </a:lnTo>
                  <a:lnTo>
                    <a:pt x="156" y="250"/>
                  </a:lnTo>
                </a:path>
              </a:pathLst>
            </a:custGeom>
            <a:noFill/>
            <a:ln w="222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72" name="Freeform 69">
              <a:extLst>
                <a:ext uri="{FF2B5EF4-FFF2-40B4-BE49-F238E27FC236}">
                  <a16:creationId xmlns:a16="http://schemas.microsoft.com/office/drawing/2014/main" id="{98A9DB8E-7094-44D9-84B8-54A2E928E7F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9706" y="3590930"/>
              <a:ext cx="238125" cy="396875"/>
            </a:xfrm>
            <a:custGeom>
              <a:avLst/>
              <a:gdLst>
                <a:gd name="T0" fmla="*/ 0 w 150"/>
                <a:gd name="T1" fmla="*/ 0 h 250"/>
                <a:gd name="T2" fmla="*/ 150 w 150"/>
                <a:gd name="T3" fmla="*/ 0 h 250"/>
                <a:gd name="T4" fmla="*/ 150 w 150"/>
                <a:gd name="T5" fmla="*/ 250 h 250"/>
                <a:gd name="T6" fmla="*/ 0 w 150"/>
                <a:gd name="T7" fmla="*/ 250 h 2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50" h="250">
                  <a:moveTo>
                    <a:pt x="0" y="0"/>
                  </a:moveTo>
                  <a:lnTo>
                    <a:pt x="150" y="0"/>
                  </a:lnTo>
                  <a:lnTo>
                    <a:pt x="150" y="250"/>
                  </a:lnTo>
                  <a:lnTo>
                    <a:pt x="0" y="250"/>
                  </a:lnTo>
                </a:path>
              </a:pathLst>
            </a:custGeom>
            <a:noFill/>
            <a:ln w="222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73" name="Rectangle 70">
              <a:extLst>
                <a:ext uri="{FF2B5EF4-FFF2-40B4-BE49-F238E27FC236}">
                  <a16:creationId xmlns:a16="http://schemas.microsoft.com/office/drawing/2014/main" id="{4A004BD7-F2D8-42A3-A85E-CCF5F78E3B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4843" y="3664590"/>
              <a:ext cx="328616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1400" u="none" strike="noStrike" cap="none" normalizeH="0" baseline="0" dirty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  <a:ea typeface="SimHei" panose="02010609060101010101" pitchFamily="49" charset="-122"/>
                </a:rPr>
                <a:t>Reg</a:t>
              </a:r>
              <a:endParaRPr kumimoji="0" lang="zh-CN" altLang="zh-CN" sz="180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endParaRPr>
            </a:p>
          </p:txBody>
        </p:sp>
        <p:sp>
          <p:nvSpPr>
            <p:cNvPr id="74" name="Freeform 71">
              <a:extLst>
                <a:ext uri="{FF2B5EF4-FFF2-40B4-BE49-F238E27FC236}">
                  <a16:creationId xmlns:a16="http://schemas.microsoft.com/office/drawing/2014/main" id="{80D4B4FF-F995-4C13-9755-3FF6A88F81F8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0868" y="3590930"/>
              <a:ext cx="212725" cy="396875"/>
            </a:xfrm>
            <a:custGeom>
              <a:avLst/>
              <a:gdLst>
                <a:gd name="T0" fmla="*/ 134 w 134"/>
                <a:gd name="T1" fmla="*/ 0 h 250"/>
                <a:gd name="T2" fmla="*/ 0 w 134"/>
                <a:gd name="T3" fmla="*/ 0 h 250"/>
                <a:gd name="T4" fmla="*/ 0 w 134"/>
                <a:gd name="T5" fmla="*/ 250 h 250"/>
                <a:gd name="T6" fmla="*/ 134 w 134"/>
                <a:gd name="T7" fmla="*/ 250 h 2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4" h="250">
                  <a:moveTo>
                    <a:pt x="134" y="0"/>
                  </a:moveTo>
                  <a:lnTo>
                    <a:pt x="0" y="0"/>
                  </a:lnTo>
                  <a:lnTo>
                    <a:pt x="0" y="250"/>
                  </a:lnTo>
                  <a:lnTo>
                    <a:pt x="134" y="250"/>
                  </a:lnTo>
                </a:path>
              </a:pathLst>
            </a:custGeom>
            <a:noFill/>
            <a:ln w="222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75" name="Freeform 72">
              <a:extLst>
                <a:ext uri="{FF2B5EF4-FFF2-40B4-BE49-F238E27FC236}">
                  <a16:creationId xmlns:a16="http://schemas.microsoft.com/office/drawing/2014/main" id="{D8F34387-D0C8-436A-BC2C-1790A7943043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3593" y="3590930"/>
              <a:ext cx="204788" cy="396875"/>
            </a:xfrm>
            <a:custGeom>
              <a:avLst/>
              <a:gdLst>
                <a:gd name="T0" fmla="*/ 0 w 129"/>
                <a:gd name="T1" fmla="*/ 0 h 250"/>
                <a:gd name="T2" fmla="*/ 129 w 129"/>
                <a:gd name="T3" fmla="*/ 0 h 250"/>
                <a:gd name="T4" fmla="*/ 129 w 129"/>
                <a:gd name="T5" fmla="*/ 250 h 250"/>
                <a:gd name="T6" fmla="*/ 0 w 129"/>
                <a:gd name="T7" fmla="*/ 250 h 2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9" h="250">
                  <a:moveTo>
                    <a:pt x="0" y="0"/>
                  </a:moveTo>
                  <a:lnTo>
                    <a:pt x="129" y="0"/>
                  </a:lnTo>
                  <a:lnTo>
                    <a:pt x="129" y="250"/>
                  </a:lnTo>
                  <a:lnTo>
                    <a:pt x="0" y="250"/>
                  </a:lnTo>
                </a:path>
              </a:pathLst>
            </a:custGeom>
            <a:noFill/>
            <a:ln w="222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76" name="Line 73">
              <a:extLst>
                <a:ext uri="{FF2B5EF4-FFF2-40B4-BE49-F238E27FC236}">
                  <a16:creationId xmlns:a16="http://schemas.microsoft.com/office/drawing/2014/main" id="{4C634425-F256-4CB1-AF47-3796EF424F5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997356" y="3789368"/>
              <a:ext cx="163513" cy="0"/>
            </a:xfrm>
            <a:prstGeom prst="line">
              <a:avLst/>
            </a:prstGeom>
            <a:noFill/>
            <a:ln w="22225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77" name="Freeform 74">
              <a:extLst>
                <a:ext uri="{FF2B5EF4-FFF2-40B4-BE49-F238E27FC236}">
                  <a16:creationId xmlns:a16="http://schemas.microsoft.com/office/drawing/2014/main" id="{8863B175-B0DB-4E12-9CF7-A33DF79EA2BE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2606" y="3657605"/>
              <a:ext cx="66675" cy="130175"/>
            </a:xfrm>
            <a:custGeom>
              <a:avLst/>
              <a:gdLst>
                <a:gd name="T0" fmla="*/ 0 w 42"/>
                <a:gd name="T1" fmla="*/ 82 h 82"/>
                <a:gd name="T2" fmla="*/ 0 w 42"/>
                <a:gd name="T3" fmla="*/ 0 h 82"/>
                <a:gd name="T4" fmla="*/ 42 w 42"/>
                <a:gd name="T5" fmla="*/ 0 h 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2" h="82">
                  <a:moveTo>
                    <a:pt x="0" y="82"/>
                  </a:moveTo>
                  <a:lnTo>
                    <a:pt x="0" y="0"/>
                  </a:lnTo>
                  <a:lnTo>
                    <a:pt x="42" y="0"/>
                  </a:lnTo>
                </a:path>
              </a:pathLst>
            </a:custGeom>
            <a:noFill/>
            <a:ln w="222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78" name="Line 75">
              <a:extLst>
                <a:ext uri="{FF2B5EF4-FFF2-40B4-BE49-F238E27FC236}">
                  <a16:creationId xmlns:a16="http://schemas.microsoft.com/office/drawing/2014/main" id="{10E3B503-BA94-4356-BB42-08C1D756A84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587906" y="3657605"/>
              <a:ext cx="222250" cy="0"/>
            </a:xfrm>
            <a:prstGeom prst="line">
              <a:avLst/>
            </a:prstGeom>
            <a:noFill/>
            <a:ln w="22225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79" name="Rectangle 76">
              <a:extLst>
                <a:ext uri="{FF2B5EF4-FFF2-40B4-BE49-F238E27FC236}">
                  <a16:creationId xmlns:a16="http://schemas.microsoft.com/office/drawing/2014/main" id="{45C1DA2A-22AD-46E2-AE00-9DB57850ED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47061" y="3675068"/>
              <a:ext cx="278923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1400" u="none" strike="noStrike" cap="none" normalizeH="0" baseline="0" dirty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  <a:ea typeface="SimHei" panose="02010609060101010101" pitchFamily="49" charset="-122"/>
                </a:rPr>
                <a:t>DM</a:t>
              </a:r>
              <a:endParaRPr kumimoji="0" lang="zh-CN" altLang="zh-CN" sz="180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endParaRPr>
            </a:p>
          </p:txBody>
        </p:sp>
        <p:sp>
          <p:nvSpPr>
            <p:cNvPr id="80" name="Freeform 77">
              <a:extLst>
                <a:ext uri="{FF2B5EF4-FFF2-40B4-BE49-F238E27FC236}">
                  <a16:creationId xmlns:a16="http://schemas.microsoft.com/office/drawing/2014/main" id="{07FD56DD-770E-4D0C-8941-4D22F891FB79}"/>
                </a:ext>
              </a:extLst>
            </p:cNvPr>
            <p:cNvSpPr>
              <a:spLocks/>
            </p:cNvSpPr>
            <p:nvPr/>
          </p:nvSpPr>
          <p:spPr bwMode="auto">
            <a:xfrm>
              <a:off x="5373718" y="3590930"/>
              <a:ext cx="230188" cy="396875"/>
            </a:xfrm>
            <a:custGeom>
              <a:avLst/>
              <a:gdLst>
                <a:gd name="T0" fmla="*/ 145 w 145"/>
                <a:gd name="T1" fmla="*/ 0 h 250"/>
                <a:gd name="T2" fmla="*/ 0 w 145"/>
                <a:gd name="T3" fmla="*/ 0 h 250"/>
                <a:gd name="T4" fmla="*/ 0 w 145"/>
                <a:gd name="T5" fmla="*/ 250 h 250"/>
                <a:gd name="T6" fmla="*/ 145 w 145"/>
                <a:gd name="T7" fmla="*/ 250 h 2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45" h="250">
                  <a:moveTo>
                    <a:pt x="145" y="0"/>
                  </a:moveTo>
                  <a:lnTo>
                    <a:pt x="0" y="0"/>
                  </a:lnTo>
                  <a:lnTo>
                    <a:pt x="0" y="250"/>
                  </a:lnTo>
                  <a:lnTo>
                    <a:pt x="145" y="250"/>
                  </a:lnTo>
                </a:path>
              </a:pathLst>
            </a:custGeom>
            <a:noFill/>
            <a:ln w="222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81" name="Freeform 78">
              <a:extLst>
                <a:ext uri="{FF2B5EF4-FFF2-40B4-BE49-F238E27FC236}">
                  <a16:creationId xmlns:a16="http://schemas.microsoft.com/office/drawing/2014/main" id="{8C3A1687-02BD-40D8-A52B-4BA4FF1AF1D6}"/>
                </a:ext>
              </a:extLst>
            </p:cNvPr>
            <p:cNvSpPr>
              <a:spLocks/>
            </p:cNvSpPr>
            <p:nvPr/>
          </p:nvSpPr>
          <p:spPr bwMode="auto">
            <a:xfrm>
              <a:off x="5595968" y="3590930"/>
              <a:ext cx="238125" cy="396875"/>
            </a:xfrm>
            <a:custGeom>
              <a:avLst/>
              <a:gdLst>
                <a:gd name="T0" fmla="*/ 0 w 150"/>
                <a:gd name="T1" fmla="*/ 0 h 250"/>
                <a:gd name="T2" fmla="*/ 150 w 150"/>
                <a:gd name="T3" fmla="*/ 0 h 250"/>
                <a:gd name="T4" fmla="*/ 150 w 150"/>
                <a:gd name="T5" fmla="*/ 250 h 250"/>
                <a:gd name="T6" fmla="*/ 0 w 150"/>
                <a:gd name="T7" fmla="*/ 250 h 2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50" h="250">
                  <a:moveTo>
                    <a:pt x="0" y="0"/>
                  </a:moveTo>
                  <a:lnTo>
                    <a:pt x="150" y="0"/>
                  </a:lnTo>
                  <a:lnTo>
                    <a:pt x="150" y="250"/>
                  </a:lnTo>
                  <a:lnTo>
                    <a:pt x="0" y="250"/>
                  </a:lnTo>
                </a:path>
              </a:pathLst>
            </a:custGeom>
            <a:noFill/>
            <a:ln w="222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82" name="Rectangle 79">
              <a:extLst>
                <a:ext uri="{FF2B5EF4-FFF2-40B4-BE49-F238E27FC236}">
                  <a16:creationId xmlns:a16="http://schemas.microsoft.com/office/drawing/2014/main" id="{C56C0885-1EC7-45AD-820D-EA795E9194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80156" y="3667448"/>
              <a:ext cx="328616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1400" u="none" strike="noStrike" cap="none" normalizeH="0" baseline="0" dirty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  <a:ea typeface="SimHei" panose="02010609060101010101" pitchFamily="49" charset="-122"/>
                </a:rPr>
                <a:t>Reg</a:t>
              </a:r>
              <a:endParaRPr kumimoji="0" lang="zh-CN" altLang="zh-CN" sz="180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endParaRPr>
            </a:p>
          </p:txBody>
        </p:sp>
        <p:sp>
          <p:nvSpPr>
            <p:cNvPr id="83" name="Freeform 80">
              <a:extLst>
                <a:ext uri="{FF2B5EF4-FFF2-40B4-BE49-F238E27FC236}">
                  <a16:creationId xmlns:a16="http://schemas.microsoft.com/office/drawing/2014/main" id="{84AD3094-1AFC-4BFF-A8A4-DA47967D68E5}"/>
                </a:ext>
              </a:extLst>
            </p:cNvPr>
            <p:cNvSpPr>
              <a:spLocks/>
            </p:cNvSpPr>
            <p:nvPr/>
          </p:nvSpPr>
          <p:spPr bwMode="auto">
            <a:xfrm>
              <a:off x="6040468" y="3590930"/>
              <a:ext cx="195263" cy="396875"/>
            </a:xfrm>
            <a:custGeom>
              <a:avLst/>
              <a:gdLst>
                <a:gd name="T0" fmla="*/ 123 w 123"/>
                <a:gd name="T1" fmla="*/ 0 h 250"/>
                <a:gd name="T2" fmla="*/ 0 w 123"/>
                <a:gd name="T3" fmla="*/ 0 h 250"/>
                <a:gd name="T4" fmla="*/ 0 w 123"/>
                <a:gd name="T5" fmla="*/ 250 h 250"/>
                <a:gd name="T6" fmla="*/ 123 w 123"/>
                <a:gd name="T7" fmla="*/ 250 h 2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3" h="250">
                  <a:moveTo>
                    <a:pt x="123" y="0"/>
                  </a:moveTo>
                  <a:lnTo>
                    <a:pt x="0" y="0"/>
                  </a:lnTo>
                  <a:lnTo>
                    <a:pt x="0" y="250"/>
                  </a:lnTo>
                  <a:lnTo>
                    <a:pt x="123" y="250"/>
                  </a:lnTo>
                </a:path>
              </a:pathLst>
            </a:custGeom>
            <a:noFill/>
            <a:ln w="222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84" name="Freeform 81">
              <a:extLst>
                <a:ext uri="{FF2B5EF4-FFF2-40B4-BE49-F238E27FC236}">
                  <a16:creationId xmlns:a16="http://schemas.microsoft.com/office/drawing/2014/main" id="{58898946-423D-4348-BA46-683AC39CE58C}"/>
                </a:ext>
              </a:extLst>
            </p:cNvPr>
            <p:cNvSpPr>
              <a:spLocks/>
            </p:cNvSpPr>
            <p:nvPr/>
          </p:nvSpPr>
          <p:spPr bwMode="auto">
            <a:xfrm>
              <a:off x="6235731" y="3590930"/>
              <a:ext cx="204788" cy="396875"/>
            </a:xfrm>
            <a:custGeom>
              <a:avLst/>
              <a:gdLst>
                <a:gd name="T0" fmla="*/ 0 w 129"/>
                <a:gd name="T1" fmla="*/ 0 h 250"/>
                <a:gd name="T2" fmla="*/ 129 w 129"/>
                <a:gd name="T3" fmla="*/ 0 h 250"/>
                <a:gd name="T4" fmla="*/ 129 w 129"/>
                <a:gd name="T5" fmla="*/ 250 h 250"/>
                <a:gd name="T6" fmla="*/ 0 w 129"/>
                <a:gd name="T7" fmla="*/ 250 h 2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9" h="250">
                  <a:moveTo>
                    <a:pt x="0" y="0"/>
                  </a:moveTo>
                  <a:lnTo>
                    <a:pt x="129" y="0"/>
                  </a:lnTo>
                  <a:lnTo>
                    <a:pt x="129" y="250"/>
                  </a:lnTo>
                  <a:lnTo>
                    <a:pt x="0" y="250"/>
                  </a:lnTo>
                </a:path>
              </a:pathLst>
            </a:custGeom>
            <a:noFill/>
            <a:ln w="222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85" name="Line 82">
              <a:extLst>
                <a:ext uri="{FF2B5EF4-FFF2-40B4-BE49-F238E27FC236}">
                  <a16:creationId xmlns:a16="http://schemas.microsoft.com/office/drawing/2014/main" id="{E0F06C1D-D5D7-4068-B212-39561FE997A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826156" y="3789368"/>
              <a:ext cx="196850" cy="0"/>
            </a:xfrm>
            <a:prstGeom prst="line">
              <a:avLst/>
            </a:prstGeom>
            <a:noFill/>
            <a:ln w="22225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86" name="Line 83">
              <a:extLst>
                <a:ext uri="{FF2B5EF4-FFF2-40B4-BE49-F238E27FC236}">
                  <a16:creationId xmlns:a16="http://schemas.microsoft.com/office/drawing/2014/main" id="{9BA7FEBB-94EB-41A5-A6B0-DD42E6761FB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34006" y="3789368"/>
              <a:ext cx="222250" cy="0"/>
            </a:xfrm>
            <a:prstGeom prst="line">
              <a:avLst/>
            </a:prstGeom>
            <a:noFill/>
            <a:ln w="22225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87" name="Line 84">
              <a:extLst>
                <a:ext uri="{FF2B5EF4-FFF2-40B4-BE49-F238E27FC236}">
                  <a16:creationId xmlns:a16="http://schemas.microsoft.com/office/drawing/2014/main" id="{751B69AB-45E8-4350-8BF4-0E6043B5532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587906" y="3922718"/>
              <a:ext cx="222250" cy="0"/>
            </a:xfrm>
            <a:prstGeom prst="line">
              <a:avLst/>
            </a:prstGeom>
            <a:noFill/>
            <a:ln w="22225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88" name="Line 85">
              <a:extLst>
                <a:ext uri="{FF2B5EF4-FFF2-40B4-BE49-F238E27FC236}">
                  <a16:creationId xmlns:a16="http://schemas.microsoft.com/office/drawing/2014/main" id="{5358BA5E-C495-450B-A8D2-FF26C49FCA8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06968" y="3922718"/>
              <a:ext cx="0" cy="265113"/>
            </a:xfrm>
            <a:prstGeom prst="line">
              <a:avLst/>
            </a:prstGeom>
            <a:noFill/>
            <a:ln w="254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89" name="Line 86">
              <a:extLst>
                <a:ext uri="{FF2B5EF4-FFF2-40B4-BE49-F238E27FC236}">
                  <a16:creationId xmlns:a16="http://schemas.microsoft.com/office/drawing/2014/main" id="{A3771B64-64AB-40FF-A1A9-307F5A5A6E8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06968" y="4187830"/>
              <a:ext cx="479425" cy="0"/>
            </a:xfrm>
            <a:prstGeom prst="line">
              <a:avLst/>
            </a:prstGeom>
            <a:noFill/>
            <a:ln w="254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90" name="Line 87">
              <a:extLst>
                <a:ext uri="{FF2B5EF4-FFF2-40B4-BE49-F238E27FC236}">
                  <a16:creationId xmlns:a16="http://schemas.microsoft.com/office/drawing/2014/main" id="{94CC1847-ABCB-4391-AD2F-B00C20B96B3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86393" y="3789368"/>
              <a:ext cx="0" cy="398463"/>
            </a:xfrm>
            <a:prstGeom prst="line">
              <a:avLst/>
            </a:prstGeom>
            <a:noFill/>
            <a:ln w="254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91" name="Line 88">
              <a:extLst>
                <a:ext uri="{FF2B5EF4-FFF2-40B4-BE49-F238E27FC236}">
                  <a16:creationId xmlns:a16="http://schemas.microsoft.com/office/drawing/2014/main" id="{819115B3-DBEF-4583-825A-B2F4544C781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305456" y="3789368"/>
              <a:ext cx="0" cy="331788"/>
            </a:xfrm>
            <a:prstGeom prst="line">
              <a:avLst/>
            </a:prstGeom>
            <a:noFill/>
            <a:ln w="254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92" name="Line 89">
              <a:extLst>
                <a:ext uri="{FF2B5EF4-FFF2-40B4-BE49-F238E27FC236}">
                  <a16:creationId xmlns:a16="http://schemas.microsoft.com/office/drawing/2014/main" id="{C7FC1A57-E14B-4723-953E-F9DB3606CC0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305456" y="4121155"/>
              <a:ext cx="614363" cy="0"/>
            </a:xfrm>
            <a:prstGeom prst="line">
              <a:avLst/>
            </a:prstGeom>
            <a:noFill/>
            <a:ln w="254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93" name="Line 90">
              <a:extLst>
                <a:ext uri="{FF2B5EF4-FFF2-40B4-BE49-F238E27FC236}">
                  <a16:creationId xmlns:a16="http://schemas.microsoft.com/office/drawing/2014/main" id="{7DFD4D70-1A74-4675-8426-5D503C111EB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919818" y="3789368"/>
              <a:ext cx="0" cy="331788"/>
            </a:xfrm>
            <a:prstGeom prst="line">
              <a:avLst/>
            </a:prstGeom>
            <a:noFill/>
            <a:ln w="254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94" name="Freeform 91">
              <a:extLst>
                <a:ext uri="{FF2B5EF4-FFF2-40B4-BE49-F238E27FC236}">
                  <a16:creationId xmlns:a16="http://schemas.microsoft.com/office/drawing/2014/main" id="{13C175AA-8AA6-4330-8542-595BD7B6F532}"/>
                </a:ext>
              </a:extLst>
            </p:cNvPr>
            <p:cNvSpPr>
              <a:spLocks/>
            </p:cNvSpPr>
            <p:nvPr/>
          </p:nvSpPr>
          <p:spPr bwMode="auto">
            <a:xfrm>
              <a:off x="5441981" y="4187830"/>
              <a:ext cx="298450" cy="660400"/>
            </a:xfrm>
            <a:custGeom>
              <a:avLst/>
              <a:gdLst>
                <a:gd name="T0" fmla="*/ 0 w 188"/>
                <a:gd name="T1" fmla="*/ 277 h 416"/>
                <a:gd name="T2" fmla="*/ 63 w 188"/>
                <a:gd name="T3" fmla="*/ 208 h 416"/>
                <a:gd name="T4" fmla="*/ 0 w 188"/>
                <a:gd name="T5" fmla="*/ 139 h 416"/>
                <a:gd name="T6" fmla="*/ 0 w 188"/>
                <a:gd name="T7" fmla="*/ 0 h 416"/>
                <a:gd name="T8" fmla="*/ 188 w 188"/>
                <a:gd name="T9" fmla="*/ 139 h 416"/>
                <a:gd name="T10" fmla="*/ 188 w 188"/>
                <a:gd name="T11" fmla="*/ 277 h 416"/>
                <a:gd name="T12" fmla="*/ 0 w 188"/>
                <a:gd name="T13" fmla="*/ 416 h 416"/>
                <a:gd name="T14" fmla="*/ 0 w 188"/>
                <a:gd name="T15" fmla="*/ 277 h 4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88" h="416">
                  <a:moveTo>
                    <a:pt x="0" y="277"/>
                  </a:moveTo>
                  <a:lnTo>
                    <a:pt x="63" y="208"/>
                  </a:lnTo>
                  <a:lnTo>
                    <a:pt x="0" y="139"/>
                  </a:lnTo>
                  <a:lnTo>
                    <a:pt x="0" y="0"/>
                  </a:lnTo>
                  <a:lnTo>
                    <a:pt x="188" y="139"/>
                  </a:lnTo>
                  <a:lnTo>
                    <a:pt x="188" y="277"/>
                  </a:lnTo>
                  <a:lnTo>
                    <a:pt x="0" y="416"/>
                  </a:lnTo>
                  <a:lnTo>
                    <a:pt x="0" y="277"/>
                  </a:lnTo>
                </a:path>
              </a:pathLst>
            </a:custGeom>
            <a:noFill/>
            <a:ln w="222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95" name="Rectangle 92">
              <a:extLst>
                <a:ext uri="{FF2B5EF4-FFF2-40B4-BE49-F238E27FC236}">
                  <a16:creationId xmlns:a16="http://schemas.microsoft.com/office/drawing/2014/main" id="{F14E221B-0D5F-4BD8-85D1-25066631F744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5276167" y="4410309"/>
              <a:ext cx="663574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1400" u="none" strike="noStrike" cap="none" normalizeH="0" baseline="0" dirty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  <a:ea typeface="SimHei" panose="02010609060101010101" pitchFamily="49" charset="-122"/>
                </a:rPr>
                <a:t>ALU</a:t>
              </a:r>
              <a:endParaRPr kumimoji="0" lang="zh-CN" altLang="zh-CN" sz="140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endParaRPr>
            </a:p>
          </p:txBody>
        </p:sp>
        <p:sp>
          <p:nvSpPr>
            <p:cNvPr id="96" name="Rectangle 93">
              <a:extLst>
                <a:ext uri="{FF2B5EF4-FFF2-40B4-BE49-F238E27FC236}">
                  <a16:creationId xmlns:a16="http://schemas.microsoft.com/office/drawing/2014/main" id="{37F1AD0F-CF34-4FA0-B07A-9E7CCAD8CE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59928" y="4403730"/>
              <a:ext cx="198772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1400" u="none" strike="noStrike" cap="none" normalizeH="0" baseline="0" dirty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  <a:ea typeface="SimHei" panose="02010609060101010101" pitchFamily="49" charset="-122"/>
                </a:rPr>
                <a:t>IM</a:t>
              </a:r>
              <a:endParaRPr kumimoji="0" lang="zh-CN" altLang="zh-CN" sz="180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endParaRPr>
            </a:p>
          </p:txBody>
        </p:sp>
        <p:sp>
          <p:nvSpPr>
            <p:cNvPr id="97" name="Freeform 94">
              <a:extLst>
                <a:ext uri="{FF2B5EF4-FFF2-40B4-BE49-F238E27FC236}">
                  <a16:creationId xmlns:a16="http://schemas.microsoft.com/office/drawing/2014/main" id="{A2449FCD-3840-4C45-BB74-B1DCC5ABDCE5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5943" y="4319593"/>
              <a:ext cx="238125" cy="396875"/>
            </a:xfrm>
            <a:custGeom>
              <a:avLst/>
              <a:gdLst>
                <a:gd name="T0" fmla="*/ 150 w 150"/>
                <a:gd name="T1" fmla="*/ 0 h 250"/>
                <a:gd name="T2" fmla="*/ 0 w 150"/>
                <a:gd name="T3" fmla="*/ 0 h 250"/>
                <a:gd name="T4" fmla="*/ 0 w 150"/>
                <a:gd name="T5" fmla="*/ 250 h 250"/>
                <a:gd name="T6" fmla="*/ 150 w 150"/>
                <a:gd name="T7" fmla="*/ 250 h 2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50" h="250">
                  <a:moveTo>
                    <a:pt x="150" y="0"/>
                  </a:moveTo>
                  <a:lnTo>
                    <a:pt x="0" y="0"/>
                  </a:lnTo>
                  <a:lnTo>
                    <a:pt x="0" y="250"/>
                  </a:lnTo>
                  <a:lnTo>
                    <a:pt x="150" y="250"/>
                  </a:lnTo>
                </a:path>
              </a:pathLst>
            </a:custGeom>
            <a:noFill/>
            <a:ln w="222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98" name="Freeform 95">
              <a:extLst>
                <a:ext uri="{FF2B5EF4-FFF2-40B4-BE49-F238E27FC236}">
                  <a16:creationId xmlns:a16="http://schemas.microsoft.com/office/drawing/2014/main" id="{1F44C007-37A9-415A-B393-08C464169FEC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5656" y="4319593"/>
              <a:ext cx="238125" cy="396875"/>
            </a:xfrm>
            <a:custGeom>
              <a:avLst/>
              <a:gdLst>
                <a:gd name="T0" fmla="*/ 0 w 150"/>
                <a:gd name="T1" fmla="*/ 0 h 250"/>
                <a:gd name="T2" fmla="*/ 150 w 150"/>
                <a:gd name="T3" fmla="*/ 0 h 250"/>
                <a:gd name="T4" fmla="*/ 150 w 150"/>
                <a:gd name="T5" fmla="*/ 250 h 250"/>
                <a:gd name="T6" fmla="*/ 0 w 150"/>
                <a:gd name="T7" fmla="*/ 250 h 2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50" h="250">
                  <a:moveTo>
                    <a:pt x="0" y="0"/>
                  </a:moveTo>
                  <a:lnTo>
                    <a:pt x="150" y="0"/>
                  </a:lnTo>
                  <a:lnTo>
                    <a:pt x="150" y="250"/>
                  </a:lnTo>
                  <a:lnTo>
                    <a:pt x="0" y="250"/>
                  </a:lnTo>
                </a:path>
              </a:pathLst>
            </a:custGeom>
            <a:noFill/>
            <a:ln w="222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99" name="Rectangle 96">
              <a:extLst>
                <a:ext uri="{FF2B5EF4-FFF2-40B4-BE49-F238E27FC236}">
                  <a16:creationId xmlns:a16="http://schemas.microsoft.com/office/drawing/2014/main" id="{6C73E4F6-C373-4029-A938-3FF8591EC9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30793" y="4396428"/>
              <a:ext cx="328616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1400" u="none" strike="noStrike" cap="none" normalizeH="0" baseline="0" dirty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  <a:ea typeface="SimHei" panose="02010609060101010101" pitchFamily="49" charset="-122"/>
                </a:rPr>
                <a:t>Reg</a:t>
              </a:r>
              <a:endParaRPr kumimoji="0" lang="zh-CN" altLang="zh-CN" sz="180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endParaRPr>
            </a:p>
          </p:txBody>
        </p:sp>
        <p:sp>
          <p:nvSpPr>
            <p:cNvPr id="100" name="Freeform 97">
              <a:extLst>
                <a:ext uri="{FF2B5EF4-FFF2-40B4-BE49-F238E27FC236}">
                  <a16:creationId xmlns:a16="http://schemas.microsoft.com/office/drawing/2014/main" id="{6B637AF5-9301-41CB-881B-014ED83F510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5231" y="4319593"/>
              <a:ext cx="212725" cy="396875"/>
            </a:xfrm>
            <a:custGeom>
              <a:avLst/>
              <a:gdLst>
                <a:gd name="T0" fmla="*/ 134 w 134"/>
                <a:gd name="T1" fmla="*/ 0 h 250"/>
                <a:gd name="T2" fmla="*/ 0 w 134"/>
                <a:gd name="T3" fmla="*/ 0 h 250"/>
                <a:gd name="T4" fmla="*/ 0 w 134"/>
                <a:gd name="T5" fmla="*/ 250 h 250"/>
                <a:gd name="T6" fmla="*/ 134 w 134"/>
                <a:gd name="T7" fmla="*/ 250 h 2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4" h="250">
                  <a:moveTo>
                    <a:pt x="134" y="0"/>
                  </a:moveTo>
                  <a:lnTo>
                    <a:pt x="0" y="0"/>
                  </a:lnTo>
                  <a:lnTo>
                    <a:pt x="0" y="250"/>
                  </a:lnTo>
                  <a:lnTo>
                    <a:pt x="134" y="250"/>
                  </a:lnTo>
                </a:path>
              </a:pathLst>
            </a:custGeom>
            <a:noFill/>
            <a:ln w="222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101" name="Freeform 98">
              <a:extLst>
                <a:ext uri="{FF2B5EF4-FFF2-40B4-BE49-F238E27FC236}">
                  <a16:creationId xmlns:a16="http://schemas.microsoft.com/office/drawing/2014/main" id="{4327E6DF-F384-491B-AAA8-80D3690C41FD}"/>
                </a:ext>
              </a:extLst>
            </p:cNvPr>
            <p:cNvSpPr>
              <a:spLocks/>
            </p:cNvSpPr>
            <p:nvPr/>
          </p:nvSpPr>
          <p:spPr bwMode="auto">
            <a:xfrm>
              <a:off x="4989543" y="4319593"/>
              <a:ext cx="212725" cy="396875"/>
            </a:xfrm>
            <a:custGeom>
              <a:avLst/>
              <a:gdLst>
                <a:gd name="T0" fmla="*/ 0 w 134"/>
                <a:gd name="T1" fmla="*/ 0 h 250"/>
                <a:gd name="T2" fmla="*/ 134 w 134"/>
                <a:gd name="T3" fmla="*/ 0 h 250"/>
                <a:gd name="T4" fmla="*/ 134 w 134"/>
                <a:gd name="T5" fmla="*/ 250 h 250"/>
                <a:gd name="T6" fmla="*/ 0 w 134"/>
                <a:gd name="T7" fmla="*/ 250 h 2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4" h="250">
                  <a:moveTo>
                    <a:pt x="0" y="0"/>
                  </a:moveTo>
                  <a:lnTo>
                    <a:pt x="134" y="0"/>
                  </a:lnTo>
                  <a:lnTo>
                    <a:pt x="134" y="250"/>
                  </a:lnTo>
                  <a:lnTo>
                    <a:pt x="0" y="250"/>
                  </a:lnTo>
                </a:path>
              </a:pathLst>
            </a:custGeom>
            <a:noFill/>
            <a:ln w="222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102" name="Line 99">
              <a:extLst>
                <a:ext uri="{FF2B5EF4-FFF2-40B4-BE49-F238E27FC236}">
                  <a16:creationId xmlns:a16="http://schemas.microsoft.com/office/drawing/2014/main" id="{C432A9A1-CCD0-45F9-BCDB-40668648CEA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13306" y="4518030"/>
              <a:ext cx="161925" cy="0"/>
            </a:xfrm>
            <a:prstGeom prst="line">
              <a:avLst/>
            </a:prstGeom>
            <a:noFill/>
            <a:ln w="22225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103" name="Freeform 100">
              <a:extLst>
                <a:ext uri="{FF2B5EF4-FFF2-40B4-BE49-F238E27FC236}">
                  <a16:creationId xmlns:a16="http://schemas.microsoft.com/office/drawing/2014/main" id="{291FC112-CB08-44F4-BE72-182EB4BDC2B6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6968" y="4386268"/>
              <a:ext cx="68263" cy="131763"/>
            </a:xfrm>
            <a:custGeom>
              <a:avLst/>
              <a:gdLst>
                <a:gd name="T0" fmla="*/ 0 w 43"/>
                <a:gd name="T1" fmla="*/ 83 h 83"/>
                <a:gd name="T2" fmla="*/ 0 w 43"/>
                <a:gd name="T3" fmla="*/ 0 h 83"/>
                <a:gd name="T4" fmla="*/ 43 w 43"/>
                <a:gd name="T5" fmla="*/ 0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3" h="83">
                  <a:moveTo>
                    <a:pt x="0" y="83"/>
                  </a:moveTo>
                  <a:lnTo>
                    <a:pt x="0" y="0"/>
                  </a:lnTo>
                  <a:lnTo>
                    <a:pt x="43" y="0"/>
                  </a:lnTo>
                </a:path>
              </a:pathLst>
            </a:custGeom>
            <a:noFill/>
            <a:ln w="222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104" name="Line 101">
              <a:extLst>
                <a:ext uri="{FF2B5EF4-FFF2-40B4-BE49-F238E27FC236}">
                  <a16:creationId xmlns:a16="http://schemas.microsoft.com/office/drawing/2014/main" id="{E0DF47BA-A32E-4282-8CC2-835A0EB25B1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202268" y="4386268"/>
              <a:ext cx="231775" cy="0"/>
            </a:xfrm>
            <a:prstGeom prst="line">
              <a:avLst/>
            </a:prstGeom>
            <a:noFill/>
            <a:ln w="22225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105" name="Rectangle 102">
              <a:extLst>
                <a:ext uri="{FF2B5EF4-FFF2-40B4-BE49-F238E27FC236}">
                  <a16:creationId xmlns:a16="http://schemas.microsoft.com/office/drawing/2014/main" id="{028BDBEE-8199-4F2B-AD1B-ED99E7CACE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63011" y="4403730"/>
              <a:ext cx="278923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1400" u="none" strike="noStrike" cap="none" normalizeH="0" baseline="0" dirty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  <a:ea typeface="SimHei" panose="02010609060101010101" pitchFamily="49" charset="-122"/>
                </a:rPr>
                <a:t>DM</a:t>
              </a:r>
              <a:endParaRPr kumimoji="0" lang="zh-CN" altLang="zh-CN" sz="180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endParaRPr>
            </a:p>
          </p:txBody>
        </p:sp>
        <p:sp>
          <p:nvSpPr>
            <p:cNvPr id="106" name="Freeform 103">
              <a:extLst>
                <a:ext uri="{FF2B5EF4-FFF2-40B4-BE49-F238E27FC236}">
                  <a16:creationId xmlns:a16="http://schemas.microsoft.com/office/drawing/2014/main" id="{7D5D0C3A-ED04-4F73-85B4-74D9B57C6D8C}"/>
                </a:ext>
              </a:extLst>
            </p:cNvPr>
            <p:cNvSpPr>
              <a:spLocks/>
            </p:cNvSpPr>
            <p:nvPr/>
          </p:nvSpPr>
          <p:spPr bwMode="auto">
            <a:xfrm>
              <a:off x="5988081" y="4319593"/>
              <a:ext cx="230188" cy="396875"/>
            </a:xfrm>
            <a:custGeom>
              <a:avLst/>
              <a:gdLst>
                <a:gd name="T0" fmla="*/ 145 w 145"/>
                <a:gd name="T1" fmla="*/ 0 h 250"/>
                <a:gd name="T2" fmla="*/ 0 w 145"/>
                <a:gd name="T3" fmla="*/ 0 h 250"/>
                <a:gd name="T4" fmla="*/ 0 w 145"/>
                <a:gd name="T5" fmla="*/ 250 h 250"/>
                <a:gd name="T6" fmla="*/ 145 w 145"/>
                <a:gd name="T7" fmla="*/ 250 h 2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45" h="250">
                  <a:moveTo>
                    <a:pt x="145" y="0"/>
                  </a:moveTo>
                  <a:lnTo>
                    <a:pt x="0" y="0"/>
                  </a:lnTo>
                  <a:lnTo>
                    <a:pt x="0" y="250"/>
                  </a:lnTo>
                  <a:lnTo>
                    <a:pt x="145" y="250"/>
                  </a:lnTo>
                </a:path>
              </a:pathLst>
            </a:custGeom>
            <a:noFill/>
            <a:ln w="222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107" name="Freeform 104">
              <a:extLst>
                <a:ext uri="{FF2B5EF4-FFF2-40B4-BE49-F238E27FC236}">
                  <a16:creationId xmlns:a16="http://schemas.microsoft.com/office/drawing/2014/main" id="{55717B83-5EE0-48C8-871A-BC2BEBE42EF3}"/>
                </a:ext>
              </a:extLst>
            </p:cNvPr>
            <p:cNvSpPr>
              <a:spLocks/>
            </p:cNvSpPr>
            <p:nvPr/>
          </p:nvSpPr>
          <p:spPr bwMode="auto">
            <a:xfrm>
              <a:off x="6219856" y="4319593"/>
              <a:ext cx="228600" cy="396875"/>
            </a:xfrm>
            <a:custGeom>
              <a:avLst/>
              <a:gdLst>
                <a:gd name="T0" fmla="*/ 0 w 144"/>
                <a:gd name="T1" fmla="*/ 0 h 250"/>
                <a:gd name="T2" fmla="*/ 144 w 144"/>
                <a:gd name="T3" fmla="*/ 0 h 250"/>
                <a:gd name="T4" fmla="*/ 144 w 144"/>
                <a:gd name="T5" fmla="*/ 250 h 250"/>
                <a:gd name="T6" fmla="*/ 0 w 144"/>
                <a:gd name="T7" fmla="*/ 250 h 2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44" h="250">
                  <a:moveTo>
                    <a:pt x="0" y="0"/>
                  </a:moveTo>
                  <a:lnTo>
                    <a:pt x="144" y="0"/>
                  </a:lnTo>
                  <a:lnTo>
                    <a:pt x="144" y="250"/>
                  </a:lnTo>
                  <a:lnTo>
                    <a:pt x="0" y="250"/>
                  </a:lnTo>
                </a:path>
              </a:pathLst>
            </a:custGeom>
            <a:noFill/>
            <a:ln w="222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108" name="Rectangle 105">
              <a:extLst>
                <a:ext uri="{FF2B5EF4-FFF2-40B4-BE49-F238E27FC236}">
                  <a16:creationId xmlns:a16="http://schemas.microsoft.com/office/drawing/2014/main" id="{23441D16-1EE5-4A9D-B754-6CF9E1638F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694518" y="4396110"/>
              <a:ext cx="328616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1400" u="none" strike="noStrike" cap="none" normalizeH="0" baseline="0" dirty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  <a:ea typeface="SimHei" panose="02010609060101010101" pitchFamily="49" charset="-122"/>
                </a:rPr>
                <a:t>Reg</a:t>
              </a:r>
              <a:endParaRPr kumimoji="0" lang="zh-CN" altLang="zh-CN" sz="180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endParaRPr>
            </a:p>
          </p:txBody>
        </p:sp>
        <p:sp>
          <p:nvSpPr>
            <p:cNvPr id="109" name="Freeform 106">
              <a:extLst>
                <a:ext uri="{FF2B5EF4-FFF2-40B4-BE49-F238E27FC236}">
                  <a16:creationId xmlns:a16="http://schemas.microsoft.com/office/drawing/2014/main" id="{9F6FDC9F-6D6D-4E55-93F2-D9ED1FF18F77}"/>
                </a:ext>
              </a:extLst>
            </p:cNvPr>
            <p:cNvSpPr>
              <a:spLocks/>
            </p:cNvSpPr>
            <p:nvPr/>
          </p:nvSpPr>
          <p:spPr bwMode="auto">
            <a:xfrm>
              <a:off x="6654831" y="4319593"/>
              <a:ext cx="195263" cy="396875"/>
            </a:xfrm>
            <a:custGeom>
              <a:avLst/>
              <a:gdLst>
                <a:gd name="T0" fmla="*/ 123 w 123"/>
                <a:gd name="T1" fmla="*/ 0 h 250"/>
                <a:gd name="T2" fmla="*/ 0 w 123"/>
                <a:gd name="T3" fmla="*/ 0 h 250"/>
                <a:gd name="T4" fmla="*/ 0 w 123"/>
                <a:gd name="T5" fmla="*/ 250 h 250"/>
                <a:gd name="T6" fmla="*/ 123 w 123"/>
                <a:gd name="T7" fmla="*/ 250 h 2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3" h="250">
                  <a:moveTo>
                    <a:pt x="123" y="0"/>
                  </a:moveTo>
                  <a:lnTo>
                    <a:pt x="0" y="0"/>
                  </a:lnTo>
                  <a:lnTo>
                    <a:pt x="0" y="250"/>
                  </a:lnTo>
                  <a:lnTo>
                    <a:pt x="123" y="250"/>
                  </a:lnTo>
                </a:path>
              </a:pathLst>
            </a:custGeom>
            <a:noFill/>
            <a:ln w="222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110" name="Freeform 107">
              <a:extLst>
                <a:ext uri="{FF2B5EF4-FFF2-40B4-BE49-F238E27FC236}">
                  <a16:creationId xmlns:a16="http://schemas.microsoft.com/office/drawing/2014/main" id="{4F02CE88-7795-4ADD-88CD-5FCD29ED6A87}"/>
                </a:ext>
              </a:extLst>
            </p:cNvPr>
            <p:cNvSpPr>
              <a:spLocks/>
            </p:cNvSpPr>
            <p:nvPr/>
          </p:nvSpPr>
          <p:spPr bwMode="auto">
            <a:xfrm>
              <a:off x="6851681" y="4319593"/>
              <a:ext cx="203200" cy="396875"/>
            </a:xfrm>
            <a:custGeom>
              <a:avLst/>
              <a:gdLst>
                <a:gd name="T0" fmla="*/ 0 w 128"/>
                <a:gd name="T1" fmla="*/ 0 h 250"/>
                <a:gd name="T2" fmla="*/ 128 w 128"/>
                <a:gd name="T3" fmla="*/ 0 h 250"/>
                <a:gd name="T4" fmla="*/ 128 w 128"/>
                <a:gd name="T5" fmla="*/ 250 h 250"/>
                <a:gd name="T6" fmla="*/ 0 w 128"/>
                <a:gd name="T7" fmla="*/ 250 h 2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8" h="250">
                  <a:moveTo>
                    <a:pt x="0" y="0"/>
                  </a:moveTo>
                  <a:lnTo>
                    <a:pt x="128" y="0"/>
                  </a:lnTo>
                  <a:lnTo>
                    <a:pt x="128" y="250"/>
                  </a:lnTo>
                  <a:lnTo>
                    <a:pt x="0" y="250"/>
                  </a:lnTo>
                </a:path>
              </a:pathLst>
            </a:custGeom>
            <a:noFill/>
            <a:ln w="222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111" name="Line 108">
              <a:extLst>
                <a:ext uri="{FF2B5EF4-FFF2-40B4-BE49-F238E27FC236}">
                  <a16:creationId xmlns:a16="http://schemas.microsoft.com/office/drawing/2014/main" id="{81800D60-8852-4963-8208-EDCB6E53C78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442106" y="4518030"/>
              <a:ext cx="195263" cy="0"/>
            </a:xfrm>
            <a:prstGeom prst="line">
              <a:avLst/>
            </a:prstGeom>
            <a:noFill/>
            <a:ln w="22225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112" name="Line 109">
              <a:extLst>
                <a:ext uri="{FF2B5EF4-FFF2-40B4-BE49-F238E27FC236}">
                  <a16:creationId xmlns:a16="http://schemas.microsoft.com/office/drawing/2014/main" id="{3EDF1A3C-B6A4-4221-B6B9-CAC276F50DF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757893" y="4518030"/>
              <a:ext cx="214313" cy="0"/>
            </a:xfrm>
            <a:prstGeom prst="line">
              <a:avLst/>
            </a:prstGeom>
            <a:noFill/>
            <a:ln w="22225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113" name="Line 110">
              <a:extLst>
                <a:ext uri="{FF2B5EF4-FFF2-40B4-BE49-F238E27FC236}">
                  <a16:creationId xmlns:a16="http://schemas.microsoft.com/office/drawing/2014/main" id="{5C719B8D-40AA-46AF-8EFB-3C5B8AC3F6C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202268" y="4651380"/>
              <a:ext cx="231775" cy="0"/>
            </a:xfrm>
            <a:prstGeom prst="line">
              <a:avLst/>
            </a:prstGeom>
            <a:noFill/>
            <a:ln w="22225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114" name="Line 111">
              <a:extLst>
                <a:ext uri="{FF2B5EF4-FFF2-40B4-BE49-F238E27FC236}">
                  <a16:creationId xmlns:a16="http://schemas.microsoft.com/office/drawing/2014/main" id="{8B9BC091-0985-4751-A992-4FC1F4B4A48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322918" y="4651380"/>
              <a:ext cx="0" cy="265113"/>
            </a:xfrm>
            <a:prstGeom prst="line">
              <a:avLst/>
            </a:prstGeom>
            <a:noFill/>
            <a:ln w="254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115" name="Line 112">
              <a:extLst>
                <a:ext uri="{FF2B5EF4-FFF2-40B4-BE49-F238E27FC236}">
                  <a16:creationId xmlns:a16="http://schemas.microsoft.com/office/drawing/2014/main" id="{8C04E4F3-9DAB-4743-8FF2-72CF0D35A1F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322918" y="4916493"/>
              <a:ext cx="477838" cy="0"/>
            </a:xfrm>
            <a:prstGeom prst="line">
              <a:avLst/>
            </a:prstGeom>
            <a:noFill/>
            <a:ln w="254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116" name="Line 113">
              <a:extLst>
                <a:ext uri="{FF2B5EF4-FFF2-40B4-BE49-F238E27FC236}">
                  <a16:creationId xmlns:a16="http://schemas.microsoft.com/office/drawing/2014/main" id="{5054608B-5C61-476B-A8CB-703832F7D11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800756" y="4518030"/>
              <a:ext cx="0" cy="398463"/>
            </a:xfrm>
            <a:prstGeom prst="line">
              <a:avLst/>
            </a:prstGeom>
            <a:noFill/>
            <a:ln w="254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117" name="Line 114">
              <a:extLst>
                <a:ext uri="{FF2B5EF4-FFF2-40B4-BE49-F238E27FC236}">
                  <a16:creationId xmlns:a16="http://schemas.microsoft.com/office/drawing/2014/main" id="{9AF4039C-9A21-4AF7-A6B8-2471068CB90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919818" y="4518030"/>
              <a:ext cx="0" cy="331788"/>
            </a:xfrm>
            <a:prstGeom prst="line">
              <a:avLst/>
            </a:prstGeom>
            <a:noFill/>
            <a:ln w="254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118" name="Line 115">
              <a:extLst>
                <a:ext uri="{FF2B5EF4-FFF2-40B4-BE49-F238E27FC236}">
                  <a16:creationId xmlns:a16="http://schemas.microsoft.com/office/drawing/2014/main" id="{FCAF8CBB-677D-49D9-9741-9A73D526341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919818" y="4849818"/>
              <a:ext cx="615950" cy="0"/>
            </a:xfrm>
            <a:prstGeom prst="line">
              <a:avLst/>
            </a:prstGeom>
            <a:noFill/>
            <a:ln w="254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119" name="Line 116">
              <a:extLst>
                <a:ext uri="{FF2B5EF4-FFF2-40B4-BE49-F238E27FC236}">
                  <a16:creationId xmlns:a16="http://schemas.microsoft.com/office/drawing/2014/main" id="{674157D6-0F7C-46E3-A4DB-6A1324A2380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535768" y="4518030"/>
              <a:ext cx="0" cy="331788"/>
            </a:xfrm>
            <a:prstGeom prst="line">
              <a:avLst/>
            </a:prstGeom>
            <a:noFill/>
            <a:ln w="254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120" name="Freeform 117">
              <a:extLst>
                <a:ext uri="{FF2B5EF4-FFF2-40B4-BE49-F238E27FC236}">
                  <a16:creationId xmlns:a16="http://schemas.microsoft.com/office/drawing/2014/main" id="{4D0C4E01-421A-49AB-9A24-14F9E49DBF1E}"/>
                </a:ext>
              </a:extLst>
            </p:cNvPr>
            <p:cNvSpPr>
              <a:spLocks/>
            </p:cNvSpPr>
            <p:nvPr/>
          </p:nvSpPr>
          <p:spPr bwMode="auto">
            <a:xfrm>
              <a:off x="6056343" y="4916493"/>
              <a:ext cx="298450" cy="661988"/>
            </a:xfrm>
            <a:custGeom>
              <a:avLst/>
              <a:gdLst>
                <a:gd name="T0" fmla="*/ 0 w 188"/>
                <a:gd name="T1" fmla="*/ 278 h 417"/>
                <a:gd name="T2" fmla="*/ 63 w 188"/>
                <a:gd name="T3" fmla="*/ 208 h 417"/>
                <a:gd name="T4" fmla="*/ 0 w 188"/>
                <a:gd name="T5" fmla="*/ 139 h 417"/>
                <a:gd name="T6" fmla="*/ 0 w 188"/>
                <a:gd name="T7" fmla="*/ 0 h 417"/>
                <a:gd name="T8" fmla="*/ 188 w 188"/>
                <a:gd name="T9" fmla="*/ 139 h 417"/>
                <a:gd name="T10" fmla="*/ 188 w 188"/>
                <a:gd name="T11" fmla="*/ 278 h 417"/>
                <a:gd name="T12" fmla="*/ 0 w 188"/>
                <a:gd name="T13" fmla="*/ 417 h 417"/>
                <a:gd name="T14" fmla="*/ 0 w 188"/>
                <a:gd name="T15" fmla="*/ 278 h 4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88" h="417">
                  <a:moveTo>
                    <a:pt x="0" y="278"/>
                  </a:moveTo>
                  <a:lnTo>
                    <a:pt x="63" y="208"/>
                  </a:lnTo>
                  <a:lnTo>
                    <a:pt x="0" y="139"/>
                  </a:lnTo>
                  <a:lnTo>
                    <a:pt x="0" y="0"/>
                  </a:lnTo>
                  <a:lnTo>
                    <a:pt x="188" y="139"/>
                  </a:lnTo>
                  <a:lnTo>
                    <a:pt x="188" y="278"/>
                  </a:lnTo>
                  <a:lnTo>
                    <a:pt x="0" y="417"/>
                  </a:lnTo>
                  <a:lnTo>
                    <a:pt x="0" y="278"/>
                  </a:lnTo>
                </a:path>
              </a:pathLst>
            </a:custGeom>
            <a:noFill/>
            <a:ln w="222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121" name="Rectangle 118">
              <a:extLst>
                <a:ext uri="{FF2B5EF4-FFF2-40B4-BE49-F238E27FC236}">
                  <a16:creationId xmlns:a16="http://schemas.microsoft.com/office/drawing/2014/main" id="{15B2225A-2FA5-4FC4-82FF-8149DE769741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5892117" y="5137384"/>
              <a:ext cx="663574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1400" u="none" strike="noStrike" cap="none" normalizeH="0" baseline="0" dirty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  <a:ea typeface="SimHei" panose="02010609060101010101" pitchFamily="49" charset="-122"/>
                </a:rPr>
                <a:t>ALU</a:t>
              </a:r>
              <a:endParaRPr kumimoji="0" lang="zh-CN" altLang="zh-CN" sz="140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endParaRPr>
            </a:p>
          </p:txBody>
        </p:sp>
        <p:sp>
          <p:nvSpPr>
            <p:cNvPr id="122" name="Rectangle 119">
              <a:extLst>
                <a:ext uri="{FF2B5EF4-FFF2-40B4-BE49-F238E27FC236}">
                  <a16:creationId xmlns:a16="http://schemas.microsoft.com/office/drawing/2014/main" id="{DB35E561-01B1-4AF8-B7D9-A6F4AE3E73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75878" y="5130805"/>
              <a:ext cx="198772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1400" u="none" strike="noStrike" cap="none" normalizeH="0" baseline="0" dirty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  <a:ea typeface="SimHei" panose="02010609060101010101" pitchFamily="49" charset="-122"/>
                </a:rPr>
                <a:t>IM</a:t>
              </a:r>
              <a:endParaRPr kumimoji="0" lang="zh-CN" altLang="zh-CN" sz="180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endParaRPr>
            </a:p>
          </p:txBody>
        </p:sp>
        <p:sp>
          <p:nvSpPr>
            <p:cNvPr id="123" name="Freeform 120">
              <a:extLst>
                <a:ext uri="{FF2B5EF4-FFF2-40B4-BE49-F238E27FC236}">
                  <a16:creationId xmlns:a16="http://schemas.microsoft.com/office/drawing/2014/main" id="{45803962-9F7B-40B5-B7D2-0F20F2982379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2368" y="5048255"/>
              <a:ext cx="247650" cy="396875"/>
            </a:xfrm>
            <a:custGeom>
              <a:avLst/>
              <a:gdLst>
                <a:gd name="T0" fmla="*/ 156 w 156"/>
                <a:gd name="T1" fmla="*/ 0 h 250"/>
                <a:gd name="T2" fmla="*/ 0 w 156"/>
                <a:gd name="T3" fmla="*/ 0 h 250"/>
                <a:gd name="T4" fmla="*/ 0 w 156"/>
                <a:gd name="T5" fmla="*/ 250 h 250"/>
                <a:gd name="T6" fmla="*/ 156 w 156"/>
                <a:gd name="T7" fmla="*/ 250 h 2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56" h="250">
                  <a:moveTo>
                    <a:pt x="156" y="0"/>
                  </a:moveTo>
                  <a:lnTo>
                    <a:pt x="0" y="0"/>
                  </a:lnTo>
                  <a:lnTo>
                    <a:pt x="0" y="250"/>
                  </a:lnTo>
                  <a:lnTo>
                    <a:pt x="156" y="250"/>
                  </a:lnTo>
                </a:path>
              </a:pathLst>
            </a:custGeom>
            <a:noFill/>
            <a:ln w="222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124" name="Freeform 121">
              <a:extLst>
                <a:ext uri="{FF2B5EF4-FFF2-40B4-BE49-F238E27FC236}">
                  <a16:creationId xmlns:a16="http://schemas.microsoft.com/office/drawing/2014/main" id="{332B01D7-7FB0-4AA1-AD6F-793156AADCDE}"/>
                </a:ext>
              </a:extLst>
            </p:cNvPr>
            <p:cNvSpPr>
              <a:spLocks/>
            </p:cNvSpPr>
            <p:nvPr/>
          </p:nvSpPr>
          <p:spPr bwMode="auto">
            <a:xfrm>
              <a:off x="4980018" y="5048255"/>
              <a:ext cx="238125" cy="396875"/>
            </a:xfrm>
            <a:custGeom>
              <a:avLst/>
              <a:gdLst>
                <a:gd name="T0" fmla="*/ 0 w 150"/>
                <a:gd name="T1" fmla="*/ 0 h 250"/>
                <a:gd name="T2" fmla="*/ 150 w 150"/>
                <a:gd name="T3" fmla="*/ 0 h 250"/>
                <a:gd name="T4" fmla="*/ 150 w 150"/>
                <a:gd name="T5" fmla="*/ 250 h 250"/>
                <a:gd name="T6" fmla="*/ 0 w 150"/>
                <a:gd name="T7" fmla="*/ 250 h 2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50" h="250">
                  <a:moveTo>
                    <a:pt x="0" y="0"/>
                  </a:moveTo>
                  <a:lnTo>
                    <a:pt x="150" y="0"/>
                  </a:lnTo>
                  <a:lnTo>
                    <a:pt x="150" y="250"/>
                  </a:lnTo>
                  <a:lnTo>
                    <a:pt x="0" y="250"/>
                  </a:lnTo>
                </a:path>
              </a:pathLst>
            </a:custGeom>
            <a:noFill/>
            <a:ln w="222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125" name="Rectangle 122">
              <a:extLst>
                <a:ext uri="{FF2B5EF4-FFF2-40B4-BE49-F238E27FC236}">
                  <a16:creationId xmlns:a16="http://schemas.microsoft.com/office/drawing/2014/main" id="{B8E7E2E7-7598-4F36-BE41-4EC74E876B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45156" y="5125090"/>
              <a:ext cx="328616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1400" u="none" strike="noStrike" cap="none" normalizeH="0" baseline="0" dirty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  <a:ea typeface="SimHei" panose="02010609060101010101" pitchFamily="49" charset="-122"/>
                </a:rPr>
                <a:t>Reg</a:t>
              </a:r>
              <a:endParaRPr kumimoji="0" lang="zh-CN" altLang="zh-CN" sz="180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endParaRPr>
            </a:p>
          </p:txBody>
        </p:sp>
        <p:sp>
          <p:nvSpPr>
            <p:cNvPr id="126" name="Freeform 123">
              <a:extLst>
                <a:ext uri="{FF2B5EF4-FFF2-40B4-BE49-F238E27FC236}">
                  <a16:creationId xmlns:a16="http://schemas.microsoft.com/office/drawing/2014/main" id="{61A8A14A-1341-4087-B04C-C5EEFA4AA36F}"/>
                </a:ext>
              </a:extLst>
            </p:cNvPr>
            <p:cNvSpPr>
              <a:spLocks/>
            </p:cNvSpPr>
            <p:nvPr/>
          </p:nvSpPr>
          <p:spPr bwMode="auto">
            <a:xfrm>
              <a:off x="5400419" y="5048257"/>
              <a:ext cx="212725" cy="396875"/>
            </a:xfrm>
            <a:custGeom>
              <a:avLst/>
              <a:gdLst>
                <a:gd name="T0" fmla="*/ 134 w 134"/>
                <a:gd name="T1" fmla="*/ 0 h 250"/>
                <a:gd name="T2" fmla="*/ 0 w 134"/>
                <a:gd name="T3" fmla="*/ 0 h 250"/>
                <a:gd name="T4" fmla="*/ 0 w 134"/>
                <a:gd name="T5" fmla="*/ 250 h 250"/>
                <a:gd name="T6" fmla="*/ 134 w 134"/>
                <a:gd name="T7" fmla="*/ 250 h 2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4" h="250">
                  <a:moveTo>
                    <a:pt x="134" y="0"/>
                  </a:moveTo>
                  <a:lnTo>
                    <a:pt x="0" y="0"/>
                  </a:lnTo>
                  <a:lnTo>
                    <a:pt x="0" y="250"/>
                  </a:lnTo>
                  <a:lnTo>
                    <a:pt x="134" y="250"/>
                  </a:lnTo>
                </a:path>
              </a:pathLst>
            </a:custGeom>
            <a:noFill/>
            <a:ln w="222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127" name="Freeform 124">
              <a:extLst>
                <a:ext uri="{FF2B5EF4-FFF2-40B4-BE49-F238E27FC236}">
                  <a16:creationId xmlns:a16="http://schemas.microsoft.com/office/drawing/2014/main" id="{EB2EF4F3-29D7-4EB6-9E36-A663B3189379}"/>
                </a:ext>
              </a:extLst>
            </p:cNvPr>
            <p:cNvSpPr>
              <a:spLocks/>
            </p:cNvSpPr>
            <p:nvPr/>
          </p:nvSpPr>
          <p:spPr bwMode="auto">
            <a:xfrm>
              <a:off x="5603906" y="5048255"/>
              <a:ext cx="204788" cy="396875"/>
            </a:xfrm>
            <a:custGeom>
              <a:avLst/>
              <a:gdLst>
                <a:gd name="T0" fmla="*/ 0 w 129"/>
                <a:gd name="T1" fmla="*/ 0 h 250"/>
                <a:gd name="T2" fmla="*/ 129 w 129"/>
                <a:gd name="T3" fmla="*/ 0 h 250"/>
                <a:gd name="T4" fmla="*/ 129 w 129"/>
                <a:gd name="T5" fmla="*/ 250 h 250"/>
                <a:gd name="T6" fmla="*/ 0 w 129"/>
                <a:gd name="T7" fmla="*/ 250 h 2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9" h="250">
                  <a:moveTo>
                    <a:pt x="0" y="0"/>
                  </a:moveTo>
                  <a:lnTo>
                    <a:pt x="129" y="0"/>
                  </a:lnTo>
                  <a:lnTo>
                    <a:pt x="129" y="250"/>
                  </a:lnTo>
                  <a:lnTo>
                    <a:pt x="0" y="250"/>
                  </a:lnTo>
                </a:path>
              </a:pathLst>
            </a:custGeom>
            <a:noFill/>
            <a:ln w="222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128" name="Line 125">
              <a:extLst>
                <a:ext uri="{FF2B5EF4-FFF2-40B4-BE49-F238E27FC236}">
                  <a16:creationId xmlns:a16="http://schemas.microsoft.com/office/drawing/2014/main" id="{072C9581-A3A3-4C8B-860C-B82A3AEDE79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227668" y="5246693"/>
              <a:ext cx="163513" cy="0"/>
            </a:xfrm>
            <a:prstGeom prst="line">
              <a:avLst/>
            </a:prstGeom>
            <a:noFill/>
            <a:ln w="22225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129" name="Freeform 126">
              <a:extLst>
                <a:ext uri="{FF2B5EF4-FFF2-40B4-BE49-F238E27FC236}">
                  <a16:creationId xmlns:a16="http://schemas.microsoft.com/office/drawing/2014/main" id="{6446340B-98E5-424E-9E3D-CCCACCC6194C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2918" y="5114930"/>
              <a:ext cx="66675" cy="131763"/>
            </a:xfrm>
            <a:custGeom>
              <a:avLst/>
              <a:gdLst>
                <a:gd name="T0" fmla="*/ 0 w 42"/>
                <a:gd name="T1" fmla="*/ 83 h 83"/>
                <a:gd name="T2" fmla="*/ 0 w 42"/>
                <a:gd name="T3" fmla="*/ 0 h 83"/>
                <a:gd name="T4" fmla="*/ 42 w 42"/>
                <a:gd name="T5" fmla="*/ 0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2" h="83">
                  <a:moveTo>
                    <a:pt x="0" y="83"/>
                  </a:moveTo>
                  <a:lnTo>
                    <a:pt x="0" y="0"/>
                  </a:lnTo>
                  <a:lnTo>
                    <a:pt x="42" y="0"/>
                  </a:lnTo>
                </a:path>
              </a:pathLst>
            </a:custGeom>
            <a:noFill/>
            <a:ln w="222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130" name="Line 127">
              <a:extLst>
                <a:ext uri="{FF2B5EF4-FFF2-40B4-BE49-F238E27FC236}">
                  <a16:creationId xmlns:a16="http://schemas.microsoft.com/office/drawing/2014/main" id="{3476FA29-0593-411C-8578-BE16E23DF20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818218" y="5114930"/>
              <a:ext cx="222250" cy="0"/>
            </a:xfrm>
            <a:prstGeom prst="line">
              <a:avLst/>
            </a:prstGeom>
            <a:noFill/>
            <a:ln w="22225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131" name="Rectangle 128">
              <a:extLst>
                <a:ext uri="{FF2B5EF4-FFF2-40B4-BE49-F238E27FC236}">
                  <a16:creationId xmlns:a16="http://schemas.microsoft.com/office/drawing/2014/main" id="{8E518340-4B95-41BC-B921-864043FF74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677373" y="5130805"/>
              <a:ext cx="278923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1400" u="none" strike="noStrike" cap="none" normalizeH="0" baseline="0" dirty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  <a:ea typeface="SimHei" panose="02010609060101010101" pitchFamily="49" charset="-122"/>
                </a:rPr>
                <a:t>DM</a:t>
              </a:r>
              <a:endParaRPr kumimoji="0" lang="zh-CN" altLang="zh-CN" sz="180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endParaRPr>
            </a:p>
          </p:txBody>
        </p:sp>
        <p:sp>
          <p:nvSpPr>
            <p:cNvPr id="132" name="Freeform 129">
              <a:extLst>
                <a:ext uri="{FF2B5EF4-FFF2-40B4-BE49-F238E27FC236}">
                  <a16:creationId xmlns:a16="http://schemas.microsoft.com/office/drawing/2014/main" id="{FFE3EAED-E459-49F8-A5B1-AB2500564730}"/>
                </a:ext>
              </a:extLst>
            </p:cNvPr>
            <p:cNvSpPr>
              <a:spLocks/>
            </p:cNvSpPr>
            <p:nvPr/>
          </p:nvSpPr>
          <p:spPr bwMode="auto">
            <a:xfrm>
              <a:off x="6604031" y="5048255"/>
              <a:ext cx="230188" cy="396875"/>
            </a:xfrm>
            <a:custGeom>
              <a:avLst/>
              <a:gdLst>
                <a:gd name="T0" fmla="*/ 145 w 145"/>
                <a:gd name="T1" fmla="*/ 0 h 250"/>
                <a:gd name="T2" fmla="*/ 0 w 145"/>
                <a:gd name="T3" fmla="*/ 0 h 250"/>
                <a:gd name="T4" fmla="*/ 0 w 145"/>
                <a:gd name="T5" fmla="*/ 250 h 250"/>
                <a:gd name="T6" fmla="*/ 145 w 145"/>
                <a:gd name="T7" fmla="*/ 250 h 2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45" h="250">
                  <a:moveTo>
                    <a:pt x="145" y="0"/>
                  </a:moveTo>
                  <a:lnTo>
                    <a:pt x="0" y="0"/>
                  </a:lnTo>
                  <a:lnTo>
                    <a:pt x="0" y="250"/>
                  </a:lnTo>
                  <a:lnTo>
                    <a:pt x="145" y="250"/>
                  </a:lnTo>
                </a:path>
              </a:pathLst>
            </a:custGeom>
            <a:noFill/>
            <a:ln w="222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133" name="Freeform 130">
              <a:extLst>
                <a:ext uri="{FF2B5EF4-FFF2-40B4-BE49-F238E27FC236}">
                  <a16:creationId xmlns:a16="http://schemas.microsoft.com/office/drawing/2014/main" id="{B863A00C-5151-4BE0-99B0-8014100B0A4F}"/>
                </a:ext>
              </a:extLst>
            </p:cNvPr>
            <p:cNvSpPr>
              <a:spLocks/>
            </p:cNvSpPr>
            <p:nvPr/>
          </p:nvSpPr>
          <p:spPr bwMode="auto">
            <a:xfrm>
              <a:off x="6826281" y="5048255"/>
              <a:ext cx="238125" cy="396875"/>
            </a:xfrm>
            <a:custGeom>
              <a:avLst/>
              <a:gdLst>
                <a:gd name="T0" fmla="*/ 0 w 150"/>
                <a:gd name="T1" fmla="*/ 0 h 250"/>
                <a:gd name="T2" fmla="*/ 150 w 150"/>
                <a:gd name="T3" fmla="*/ 0 h 250"/>
                <a:gd name="T4" fmla="*/ 150 w 150"/>
                <a:gd name="T5" fmla="*/ 250 h 250"/>
                <a:gd name="T6" fmla="*/ 0 w 150"/>
                <a:gd name="T7" fmla="*/ 250 h 2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50" h="250">
                  <a:moveTo>
                    <a:pt x="0" y="0"/>
                  </a:moveTo>
                  <a:lnTo>
                    <a:pt x="150" y="0"/>
                  </a:lnTo>
                  <a:lnTo>
                    <a:pt x="150" y="250"/>
                  </a:lnTo>
                  <a:lnTo>
                    <a:pt x="0" y="250"/>
                  </a:lnTo>
                </a:path>
              </a:pathLst>
            </a:custGeom>
            <a:noFill/>
            <a:ln w="222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134" name="Rectangle 131">
              <a:extLst>
                <a:ext uri="{FF2B5EF4-FFF2-40B4-BE49-F238E27FC236}">
                  <a16:creationId xmlns:a16="http://schemas.microsoft.com/office/drawing/2014/main" id="{6E2A6CD1-F920-44F1-B291-C519729F295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308881" y="5123185"/>
              <a:ext cx="328616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1400" u="none" strike="noStrike" cap="none" normalizeH="0" baseline="0" dirty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  <a:ea typeface="SimHei" panose="02010609060101010101" pitchFamily="49" charset="-122"/>
                </a:rPr>
                <a:t>Reg</a:t>
              </a:r>
              <a:endParaRPr kumimoji="0" lang="zh-CN" altLang="zh-CN" sz="180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endParaRPr>
            </a:p>
          </p:txBody>
        </p:sp>
        <p:sp>
          <p:nvSpPr>
            <p:cNvPr id="135" name="Freeform 132">
              <a:extLst>
                <a:ext uri="{FF2B5EF4-FFF2-40B4-BE49-F238E27FC236}">
                  <a16:creationId xmlns:a16="http://schemas.microsoft.com/office/drawing/2014/main" id="{28FCE5AB-15B2-42B2-B900-3FA97E6B645E}"/>
                </a:ext>
              </a:extLst>
            </p:cNvPr>
            <p:cNvSpPr>
              <a:spLocks/>
            </p:cNvSpPr>
            <p:nvPr/>
          </p:nvSpPr>
          <p:spPr bwMode="auto">
            <a:xfrm>
              <a:off x="7270781" y="5048255"/>
              <a:ext cx="195263" cy="396875"/>
            </a:xfrm>
            <a:custGeom>
              <a:avLst/>
              <a:gdLst>
                <a:gd name="T0" fmla="*/ 123 w 123"/>
                <a:gd name="T1" fmla="*/ 0 h 250"/>
                <a:gd name="T2" fmla="*/ 0 w 123"/>
                <a:gd name="T3" fmla="*/ 0 h 250"/>
                <a:gd name="T4" fmla="*/ 0 w 123"/>
                <a:gd name="T5" fmla="*/ 250 h 250"/>
                <a:gd name="T6" fmla="*/ 123 w 123"/>
                <a:gd name="T7" fmla="*/ 250 h 2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3" h="250">
                  <a:moveTo>
                    <a:pt x="123" y="0"/>
                  </a:moveTo>
                  <a:lnTo>
                    <a:pt x="0" y="0"/>
                  </a:lnTo>
                  <a:lnTo>
                    <a:pt x="0" y="250"/>
                  </a:lnTo>
                  <a:lnTo>
                    <a:pt x="123" y="250"/>
                  </a:lnTo>
                </a:path>
              </a:pathLst>
            </a:custGeom>
            <a:noFill/>
            <a:ln w="222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136" name="Freeform 133">
              <a:extLst>
                <a:ext uri="{FF2B5EF4-FFF2-40B4-BE49-F238E27FC236}">
                  <a16:creationId xmlns:a16="http://schemas.microsoft.com/office/drawing/2014/main" id="{45E7FDED-D46B-4C40-840C-DA25E7AE5241}"/>
                </a:ext>
              </a:extLst>
            </p:cNvPr>
            <p:cNvSpPr>
              <a:spLocks/>
            </p:cNvSpPr>
            <p:nvPr/>
          </p:nvSpPr>
          <p:spPr bwMode="auto">
            <a:xfrm>
              <a:off x="7466043" y="5048255"/>
              <a:ext cx="204788" cy="396875"/>
            </a:xfrm>
            <a:custGeom>
              <a:avLst/>
              <a:gdLst>
                <a:gd name="T0" fmla="*/ 0 w 129"/>
                <a:gd name="T1" fmla="*/ 0 h 250"/>
                <a:gd name="T2" fmla="*/ 129 w 129"/>
                <a:gd name="T3" fmla="*/ 0 h 250"/>
                <a:gd name="T4" fmla="*/ 129 w 129"/>
                <a:gd name="T5" fmla="*/ 250 h 250"/>
                <a:gd name="T6" fmla="*/ 0 w 129"/>
                <a:gd name="T7" fmla="*/ 250 h 2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9" h="250">
                  <a:moveTo>
                    <a:pt x="0" y="0"/>
                  </a:moveTo>
                  <a:lnTo>
                    <a:pt x="129" y="0"/>
                  </a:lnTo>
                  <a:lnTo>
                    <a:pt x="129" y="250"/>
                  </a:lnTo>
                  <a:lnTo>
                    <a:pt x="0" y="250"/>
                  </a:lnTo>
                </a:path>
              </a:pathLst>
            </a:custGeom>
            <a:noFill/>
            <a:ln w="222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137" name="Line 134">
              <a:extLst>
                <a:ext uri="{FF2B5EF4-FFF2-40B4-BE49-F238E27FC236}">
                  <a16:creationId xmlns:a16="http://schemas.microsoft.com/office/drawing/2014/main" id="{FA970CF7-19C9-40EC-A6CE-FAA828B0E8C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056468" y="5246693"/>
              <a:ext cx="196850" cy="0"/>
            </a:xfrm>
            <a:prstGeom prst="line">
              <a:avLst/>
            </a:prstGeom>
            <a:noFill/>
            <a:ln w="22225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138" name="Line 135">
              <a:extLst>
                <a:ext uri="{FF2B5EF4-FFF2-40B4-BE49-F238E27FC236}">
                  <a16:creationId xmlns:a16="http://schemas.microsoft.com/office/drawing/2014/main" id="{23453F5F-1BB0-46AD-8013-7F21A1624C9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364318" y="5246693"/>
              <a:ext cx="222250" cy="0"/>
            </a:xfrm>
            <a:prstGeom prst="line">
              <a:avLst/>
            </a:prstGeom>
            <a:noFill/>
            <a:ln w="22225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139" name="Line 136">
              <a:extLst>
                <a:ext uri="{FF2B5EF4-FFF2-40B4-BE49-F238E27FC236}">
                  <a16:creationId xmlns:a16="http://schemas.microsoft.com/office/drawing/2014/main" id="{A21B974D-8C71-48B4-A5EA-8F8A07137C2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818218" y="5380043"/>
              <a:ext cx="222250" cy="0"/>
            </a:xfrm>
            <a:prstGeom prst="line">
              <a:avLst/>
            </a:prstGeom>
            <a:noFill/>
            <a:ln w="22225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140" name="Line 137">
              <a:extLst>
                <a:ext uri="{FF2B5EF4-FFF2-40B4-BE49-F238E27FC236}">
                  <a16:creationId xmlns:a16="http://schemas.microsoft.com/office/drawing/2014/main" id="{141BEF74-9297-4220-BDF5-27098D851EA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937281" y="5380043"/>
              <a:ext cx="0" cy="265113"/>
            </a:xfrm>
            <a:prstGeom prst="line">
              <a:avLst/>
            </a:prstGeom>
            <a:noFill/>
            <a:ln w="254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141" name="Line 138">
              <a:extLst>
                <a:ext uri="{FF2B5EF4-FFF2-40B4-BE49-F238E27FC236}">
                  <a16:creationId xmlns:a16="http://schemas.microsoft.com/office/drawing/2014/main" id="{BCBD3309-6A9C-4F22-A4FD-A4C91C16978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937281" y="5645155"/>
              <a:ext cx="479425" cy="0"/>
            </a:xfrm>
            <a:prstGeom prst="line">
              <a:avLst/>
            </a:prstGeom>
            <a:noFill/>
            <a:ln w="254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142" name="Line 139">
              <a:extLst>
                <a:ext uri="{FF2B5EF4-FFF2-40B4-BE49-F238E27FC236}">
                  <a16:creationId xmlns:a16="http://schemas.microsoft.com/office/drawing/2014/main" id="{B66A434B-A228-4BC9-A357-417731D1B3F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416706" y="5246693"/>
              <a:ext cx="0" cy="398463"/>
            </a:xfrm>
            <a:prstGeom prst="line">
              <a:avLst/>
            </a:prstGeom>
            <a:noFill/>
            <a:ln w="254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143" name="Line 140">
              <a:extLst>
                <a:ext uri="{FF2B5EF4-FFF2-40B4-BE49-F238E27FC236}">
                  <a16:creationId xmlns:a16="http://schemas.microsoft.com/office/drawing/2014/main" id="{3E29AEFD-9E3A-4C12-A5A9-9912646BA4A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535768" y="5246693"/>
              <a:ext cx="0" cy="331788"/>
            </a:xfrm>
            <a:prstGeom prst="line">
              <a:avLst/>
            </a:prstGeom>
            <a:noFill/>
            <a:ln w="254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144" name="Line 141">
              <a:extLst>
                <a:ext uri="{FF2B5EF4-FFF2-40B4-BE49-F238E27FC236}">
                  <a16:creationId xmlns:a16="http://schemas.microsoft.com/office/drawing/2014/main" id="{9100AF99-B3C7-4942-8725-F4FE439A5EB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535768" y="5578480"/>
              <a:ext cx="614363" cy="0"/>
            </a:xfrm>
            <a:prstGeom prst="line">
              <a:avLst/>
            </a:prstGeom>
            <a:noFill/>
            <a:ln w="254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145" name="Line 142">
              <a:extLst>
                <a:ext uri="{FF2B5EF4-FFF2-40B4-BE49-F238E27FC236}">
                  <a16:creationId xmlns:a16="http://schemas.microsoft.com/office/drawing/2014/main" id="{F2F0FC6D-D71A-443C-9C4C-1B26E1BB1A1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150131" y="5246693"/>
              <a:ext cx="0" cy="331788"/>
            </a:xfrm>
            <a:prstGeom prst="line">
              <a:avLst/>
            </a:prstGeom>
            <a:noFill/>
            <a:ln w="254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146" name="Freeform 143">
              <a:extLst>
                <a:ext uri="{FF2B5EF4-FFF2-40B4-BE49-F238E27FC236}">
                  <a16:creationId xmlns:a16="http://schemas.microsoft.com/office/drawing/2014/main" id="{AF005A00-F6F3-4BF3-9E0A-32F29BB6264D}"/>
                </a:ext>
              </a:extLst>
            </p:cNvPr>
            <p:cNvSpPr>
              <a:spLocks/>
            </p:cNvSpPr>
            <p:nvPr/>
          </p:nvSpPr>
          <p:spPr bwMode="auto">
            <a:xfrm>
              <a:off x="6672293" y="5645155"/>
              <a:ext cx="298450" cy="661988"/>
            </a:xfrm>
            <a:custGeom>
              <a:avLst/>
              <a:gdLst>
                <a:gd name="T0" fmla="*/ 0 w 188"/>
                <a:gd name="T1" fmla="*/ 278 h 417"/>
                <a:gd name="T2" fmla="*/ 63 w 188"/>
                <a:gd name="T3" fmla="*/ 208 h 417"/>
                <a:gd name="T4" fmla="*/ 0 w 188"/>
                <a:gd name="T5" fmla="*/ 139 h 417"/>
                <a:gd name="T6" fmla="*/ 0 w 188"/>
                <a:gd name="T7" fmla="*/ 0 h 417"/>
                <a:gd name="T8" fmla="*/ 188 w 188"/>
                <a:gd name="T9" fmla="*/ 139 h 417"/>
                <a:gd name="T10" fmla="*/ 188 w 188"/>
                <a:gd name="T11" fmla="*/ 278 h 417"/>
                <a:gd name="T12" fmla="*/ 0 w 188"/>
                <a:gd name="T13" fmla="*/ 417 h 417"/>
                <a:gd name="T14" fmla="*/ 0 w 188"/>
                <a:gd name="T15" fmla="*/ 278 h 4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88" h="417">
                  <a:moveTo>
                    <a:pt x="0" y="278"/>
                  </a:moveTo>
                  <a:lnTo>
                    <a:pt x="63" y="208"/>
                  </a:lnTo>
                  <a:lnTo>
                    <a:pt x="0" y="139"/>
                  </a:lnTo>
                  <a:lnTo>
                    <a:pt x="0" y="0"/>
                  </a:lnTo>
                  <a:lnTo>
                    <a:pt x="188" y="139"/>
                  </a:lnTo>
                  <a:lnTo>
                    <a:pt x="188" y="278"/>
                  </a:lnTo>
                  <a:lnTo>
                    <a:pt x="0" y="417"/>
                  </a:lnTo>
                  <a:lnTo>
                    <a:pt x="0" y="278"/>
                  </a:lnTo>
                </a:path>
              </a:pathLst>
            </a:custGeom>
            <a:noFill/>
            <a:ln w="222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147" name="Rectangle 144">
              <a:extLst>
                <a:ext uri="{FF2B5EF4-FFF2-40B4-BE49-F238E27FC236}">
                  <a16:creationId xmlns:a16="http://schemas.microsoft.com/office/drawing/2014/main" id="{2B6866B1-AC9A-4842-B610-31B1EA302F55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6506479" y="5866046"/>
              <a:ext cx="638990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1400" u="none" strike="noStrike" cap="none" normalizeH="0" baseline="0" dirty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  <a:ea typeface="SimHei" panose="02010609060101010101" pitchFamily="49" charset="-122"/>
                </a:rPr>
                <a:t>ALU</a:t>
              </a:r>
              <a:endParaRPr kumimoji="0" lang="zh-CN" altLang="zh-CN" sz="140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endParaRPr>
            </a:p>
          </p:txBody>
        </p:sp>
        <p:sp>
          <p:nvSpPr>
            <p:cNvPr id="148" name="Rectangle 145">
              <a:extLst>
                <a:ext uri="{FF2B5EF4-FFF2-40B4-BE49-F238E27FC236}">
                  <a16:creationId xmlns:a16="http://schemas.microsoft.com/office/drawing/2014/main" id="{31B479C3-EBE4-475D-9342-700DBDB8D2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88653" y="5859468"/>
              <a:ext cx="198772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1400" u="none" strike="noStrike" cap="none" normalizeH="0" baseline="0" dirty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  <a:ea typeface="SimHei" panose="02010609060101010101" pitchFamily="49" charset="-122"/>
                </a:rPr>
                <a:t>IM</a:t>
              </a:r>
              <a:endParaRPr kumimoji="0" lang="zh-CN" altLang="zh-CN" sz="180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endParaRPr>
            </a:p>
          </p:txBody>
        </p:sp>
        <p:sp>
          <p:nvSpPr>
            <p:cNvPr id="149" name="Freeform 146">
              <a:extLst>
                <a:ext uri="{FF2B5EF4-FFF2-40B4-BE49-F238E27FC236}">
                  <a16:creationId xmlns:a16="http://schemas.microsoft.com/office/drawing/2014/main" id="{B97A1A58-8F77-491C-BC48-7BF3E4B3A53C}"/>
                </a:ext>
              </a:extLst>
            </p:cNvPr>
            <p:cNvSpPr>
              <a:spLocks/>
            </p:cNvSpPr>
            <p:nvPr/>
          </p:nvSpPr>
          <p:spPr bwMode="auto">
            <a:xfrm>
              <a:off x="5348318" y="5776918"/>
              <a:ext cx="246063" cy="396875"/>
            </a:xfrm>
            <a:custGeom>
              <a:avLst/>
              <a:gdLst>
                <a:gd name="T0" fmla="*/ 155 w 155"/>
                <a:gd name="T1" fmla="*/ 0 h 250"/>
                <a:gd name="T2" fmla="*/ 0 w 155"/>
                <a:gd name="T3" fmla="*/ 0 h 250"/>
                <a:gd name="T4" fmla="*/ 0 w 155"/>
                <a:gd name="T5" fmla="*/ 250 h 250"/>
                <a:gd name="T6" fmla="*/ 155 w 155"/>
                <a:gd name="T7" fmla="*/ 250 h 2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55" h="250">
                  <a:moveTo>
                    <a:pt x="155" y="0"/>
                  </a:moveTo>
                  <a:lnTo>
                    <a:pt x="0" y="0"/>
                  </a:lnTo>
                  <a:lnTo>
                    <a:pt x="0" y="250"/>
                  </a:lnTo>
                  <a:lnTo>
                    <a:pt x="155" y="250"/>
                  </a:lnTo>
                </a:path>
              </a:pathLst>
            </a:custGeom>
            <a:noFill/>
            <a:ln w="222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150" name="Freeform 147">
              <a:extLst>
                <a:ext uri="{FF2B5EF4-FFF2-40B4-BE49-F238E27FC236}">
                  <a16:creationId xmlns:a16="http://schemas.microsoft.com/office/drawing/2014/main" id="{C7525D68-39BC-45A9-924F-85E849CF7A02}"/>
                </a:ext>
              </a:extLst>
            </p:cNvPr>
            <p:cNvSpPr>
              <a:spLocks/>
            </p:cNvSpPr>
            <p:nvPr/>
          </p:nvSpPr>
          <p:spPr bwMode="auto">
            <a:xfrm>
              <a:off x="5595968" y="5776918"/>
              <a:ext cx="238125" cy="396875"/>
            </a:xfrm>
            <a:custGeom>
              <a:avLst/>
              <a:gdLst>
                <a:gd name="T0" fmla="*/ 0 w 150"/>
                <a:gd name="T1" fmla="*/ 0 h 250"/>
                <a:gd name="T2" fmla="*/ 150 w 150"/>
                <a:gd name="T3" fmla="*/ 0 h 250"/>
                <a:gd name="T4" fmla="*/ 150 w 150"/>
                <a:gd name="T5" fmla="*/ 250 h 250"/>
                <a:gd name="T6" fmla="*/ 0 w 150"/>
                <a:gd name="T7" fmla="*/ 250 h 2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50" h="250">
                  <a:moveTo>
                    <a:pt x="0" y="0"/>
                  </a:moveTo>
                  <a:lnTo>
                    <a:pt x="150" y="0"/>
                  </a:lnTo>
                  <a:lnTo>
                    <a:pt x="150" y="250"/>
                  </a:lnTo>
                  <a:lnTo>
                    <a:pt x="0" y="250"/>
                  </a:lnTo>
                </a:path>
              </a:pathLst>
            </a:custGeom>
            <a:noFill/>
            <a:ln w="222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151" name="Rectangle 148">
              <a:extLst>
                <a:ext uri="{FF2B5EF4-FFF2-40B4-BE49-F238E27FC236}">
                  <a16:creationId xmlns:a16="http://schemas.microsoft.com/office/drawing/2014/main" id="{CE2460B7-378F-4B1C-B476-35998FB9B3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59518" y="5853753"/>
              <a:ext cx="328616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1400" u="none" strike="noStrike" cap="none" normalizeH="0" baseline="0" dirty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  <a:ea typeface="SimHei" panose="02010609060101010101" pitchFamily="49" charset="-122"/>
                </a:rPr>
                <a:t>Reg</a:t>
              </a:r>
              <a:endParaRPr kumimoji="0" lang="zh-CN" altLang="zh-CN" sz="180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endParaRPr>
            </a:p>
          </p:txBody>
        </p:sp>
        <p:sp>
          <p:nvSpPr>
            <p:cNvPr id="152" name="Freeform 149">
              <a:extLst>
                <a:ext uri="{FF2B5EF4-FFF2-40B4-BE49-F238E27FC236}">
                  <a16:creationId xmlns:a16="http://schemas.microsoft.com/office/drawing/2014/main" id="{F40C4A68-9901-4C23-B263-CE235374B2C7}"/>
                </a:ext>
              </a:extLst>
            </p:cNvPr>
            <p:cNvSpPr>
              <a:spLocks/>
            </p:cNvSpPr>
            <p:nvPr/>
          </p:nvSpPr>
          <p:spPr bwMode="auto">
            <a:xfrm>
              <a:off x="6005543" y="5776918"/>
              <a:ext cx="212725" cy="396875"/>
            </a:xfrm>
            <a:custGeom>
              <a:avLst/>
              <a:gdLst>
                <a:gd name="T0" fmla="*/ 134 w 134"/>
                <a:gd name="T1" fmla="*/ 0 h 250"/>
                <a:gd name="T2" fmla="*/ 0 w 134"/>
                <a:gd name="T3" fmla="*/ 0 h 250"/>
                <a:gd name="T4" fmla="*/ 0 w 134"/>
                <a:gd name="T5" fmla="*/ 250 h 250"/>
                <a:gd name="T6" fmla="*/ 134 w 134"/>
                <a:gd name="T7" fmla="*/ 250 h 2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4" h="250">
                  <a:moveTo>
                    <a:pt x="134" y="0"/>
                  </a:moveTo>
                  <a:lnTo>
                    <a:pt x="0" y="0"/>
                  </a:lnTo>
                  <a:lnTo>
                    <a:pt x="0" y="250"/>
                  </a:lnTo>
                  <a:lnTo>
                    <a:pt x="134" y="250"/>
                  </a:lnTo>
                </a:path>
              </a:pathLst>
            </a:custGeom>
            <a:noFill/>
            <a:ln w="222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153" name="Freeform 150">
              <a:extLst>
                <a:ext uri="{FF2B5EF4-FFF2-40B4-BE49-F238E27FC236}">
                  <a16:creationId xmlns:a16="http://schemas.microsoft.com/office/drawing/2014/main" id="{C481B853-2F23-4934-B482-27617E081F6F}"/>
                </a:ext>
              </a:extLst>
            </p:cNvPr>
            <p:cNvSpPr>
              <a:spLocks/>
            </p:cNvSpPr>
            <p:nvPr/>
          </p:nvSpPr>
          <p:spPr bwMode="auto">
            <a:xfrm>
              <a:off x="6219856" y="5776918"/>
              <a:ext cx="203200" cy="396875"/>
            </a:xfrm>
            <a:custGeom>
              <a:avLst/>
              <a:gdLst>
                <a:gd name="T0" fmla="*/ 0 w 128"/>
                <a:gd name="T1" fmla="*/ 0 h 250"/>
                <a:gd name="T2" fmla="*/ 128 w 128"/>
                <a:gd name="T3" fmla="*/ 0 h 250"/>
                <a:gd name="T4" fmla="*/ 128 w 128"/>
                <a:gd name="T5" fmla="*/ 250 h 250"/>
                <a:gd name="T6" fmla="*/ 0 w 128"/>
                <a:gd name="T7" fmla="*/ 250 h 2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8" h="250">
                  <a:moveTo>
                    <a:pt x="0" y="0"/>
                  </a:moveTo>
                  <a:lnTo>
                    <a:pt x="128" y="0"/>
                  </a:lnTo>
                  <a:lnTo>
                    <a:pt x="128" y="250"/>
                  </a:lnTo>
                  <a:lnTo>
                    <a:pt x="0" y="250"/>
                  </a:lnTo>
                </a:path>
              </a:pathLst>
            </a:custGeom>
            <a:noFill/>
            <a:ln w="222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154" name="Line 151">
              <a:extLst>
                <a:ext uri="{FF2B5EF4-FFF2-40B4-BE49-F238E27FC236}">
                  <a16:creationId xmlns:a16="http://schemas.microsoft.com/office/drawing/2014/main" id="{0786A325-BB41-4703-BB32-BDFF9CE4998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843618" y="5976943"/>
              <a:ext cx="161925" cy="0"/>
            </a:xfrm>
            <a:prstGeom prst="line">
              <a:avLst/>
            </a:prstGeom>
            <a:noFill/>
            <a:ln w="22225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155" name="Freeform 152">
              <a:extLst>
                <a:ext uri="{FF2B5EF4-FFF2-40B4-BE49-F238E27FC236}">
                  <a16:creationId xmlns:a16="http://schemas.microsoft.com/office/drawing/2014/main" id="{E248D9E1-F27B-47C1-8032-894E2BCAD1C5}"/>
                </a:ext>
              </a:extLst>
            </p:cNvPr>
            <p:cNvSpPr>
              <a:spLocks/>
            </p:cNvSpPr>
            <p:nvPr/>
          </p:nvSpPr>
          <p:spPr bwMode="auto">
            <a:xfrm>
              <a:off x="5937281" y="5843593"/>
              <a:ext cx="68263" cy="131763"/>
            </a:xfrm>
            <a:custGeom>
              <a:avLst/>
              <a:gdLst>
                <a:gd name="T0" fmla="*/ 0 w 43"/>
                <a:gd name="T1" fmla="*/ 83 h 83"/>
                <a:gd name="T2" fmla="*/ 0 w 43"/>
                <a:gd name="T3" fmla="*/ 0 h 83"/>
                <a:gd name="T4" fmla="*/ 43 w 43"/>
                <a:gd name="T5" fmla="*/ 0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3" h="83">
                  <a:moveTo>
                    <a:pt x="0" y="83"/>
                  </a:moveTo>
                  <a:lnTo>
                    <a:pt x="0" y="0"/>
                  </a:lnTo>
                  <a:lnTo>
                    <a:pt x="43" y="0"/>
                  </a:lnTo>
                </a:path>
              </a:pathLst>
            </a:custGeom>
            <a:noFill/>
            <a:ln w="222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156" name="Line 153">
              <a:extLst>
                <a:ext uri="{FF2B5EF4-FFF2-40B4-BE49-F238E27FC236}">
                  <a16:creationId xmlns:a16="http://schemas.microsoft.com/office/drawing/2014/main" id="{9E20A099-BB7D-48E3-BA6B-92272FC11EB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432581" y="5843593"/>
              <a:ext cx="222250" cy="0"/>
            </a:xfrm>
            <a:prstGeom prst="line">
              <a:avLst/>
            </a:prstGeom>
            <a:noFill/>
            <a:ln w="22225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157" name="Rectangle 154">
              <a:extLst>
                <a:ext uri="{FF2B5EF4-FFF2-40B4-BE49-F238E27FC236}">
                  <a16:creationId xmlns:a16="http://schemas.microsoft.com/office/drawing/2014/main" id="{E91380FA-A9CD-4BBC-89AF-C808F0FB18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93323" y="5859468"/>
              <a:ext cx="278923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1400" u="none" strike="noStrike" cap="none" normalizeH="0" baseline="0" dirty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  <a:ea typeface="SimHei" panose="02010609060101010101" pitchFamily="49" charset="-122"/>
                </a:rPr>
                <a:t>DM</a:t>
              </a:r>
              <a:endParaRPr kumimoji="0" lang="zh-CN" altLang="zh-CN" sz="180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endParaRPr>
            </a:p>
          </p:txBody>
        </p:sp>
        <p:sp>
          <p:nvSpPr>
            <p:cNvPr id="158" name="Freeform 155">
              <a:extLst>
                <a:ext uri="{FF2B5EF4-FFF2-40B4-BE49-F238E27FC236}">
                  <a16:creationId xmlns:a16="http://schemas.microsoft.com/office/drawing/2014/main" id="{D223FC35-C0EE-49D0-8416-9D8CF2E6EDBD}"/>
                </a:ext>
              </a:extLst>
            </p:cNvPr>
            <p:cNvSpPr>
              <a:spLocks/>
            </p:cNvSpPr>
            <p:nvPr/>
          </p:nvSpPr>
          <p:spPr bwMode="auto">
            <a:xfrm>
              <a:off x="7218393" y="5776918"/>
              <a:ext cx="230188" cy="396875"/>
            </a:xfrm>
            <a:custGeom>
              <a:avLst/>
              <a:gdLst>
                <a:gd name="T0" fmla="*/ 145 w 145"/>
                <a:gd name="T1" fmla="*/ 0 h 250"/>
                <a:gd name="T2" fmla="*/ 0 w 145"/>
                <a:gd name="T3" fmla="*/ 0 h 250"/>
                <a:gd name="T4" fmla="*/ 0 w 145"/>
                <a:gd name="T5" fmla="*/ 250 h 250"/>
                <a:gd name="T6" fmla="*/ 145 w 145"/>
                <a:gd name="T7" fmla="*/ 250 h 2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45" h="250">
                  <a:moveTo>
                    <a:pt x="145" y="0"/>
                  </a:moveTo>
                  <a:lnTo>
                    <a:pt x="0" y="0"/>
                  </a:lnTo>
                  <a:lnTo>
                    <a:pt x="0" y="250"/>
                  </a:lnTo>
                  <a:lnTo>
                    <a:pt x="145" y="250"/>
                  </a:lnTo>
                </a:path>
              </a:pathLst>
            </a:custGeom>
            <a:noFill/>
            <a:ln w="222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159" name="Freeform 156">
              <a:extLst>
                <a:ext uri="{FF2B5EF4-FFF2-40B4-BE49-F238E27FC236}">
                  <a16:creationId xmlns:a16="http://schemas.microsoft.com/office/drawing/2014/main" id="{6928928E-35D9-4115-9DF9-3AC8914064D4}"/>
                </a:ext>
              </a:extLst>
            </p:cNvPr>
            <p:cNvSpPr>
              <a:spLocks/>
            </p:cNvSpPr>
            <p:nvPr/>
          </p:nvSpPr>
          <p:spPr bwMode="auto">
            <a:xfrm>
              <a:off x="7440643" y="5776918"/>
              <a:ext cx="238125" cy="396875"/>
            </a:xfrm>
            <a:custGeom>
              <a:avLst/>
              <a:gdLst>
                <a:gd name="T0" fmla="*/ 0 w 150"/>
                <a:gd name="T1" fmla="*/ 0 h 250"/>
                <a:gd name="T2" fmla="*/ 150 w 150"/>
                <a:gd name="T3" fmla="*/ 0 h 250"/>
                <a:gd name="T4" fmla="*/ 150 w 150"/>
                <a:gd name="T5" fmla="*/ 250 h 250"/>
                <a:gd name="T6" fmla="*/ 0 w 150"/>
                <a:gd name="T7" fmla="*/ 250 h 2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50" h="250">
                  <a:moveTo>
                    <a:pt x="0" y="0"/>
                  </a:moveTo>
                  <a:lnTo>
                    <a:pt x="150" y="0"/>
                  </a:lnTo>
                  <a:lnTo>
                    <a:pt x="150" y="250"/>
                  </a:lnTo>
                  <a:lnTo>
                    <a:pt x="0" y="250"/>
                  </a:lnTo>
                </a:path>
              </a:pathLst>
            </a:custGeom>
            <a:noFill/>
            <a:ln w="222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160" name="Rectangle 157">
              <a:extLst>
                <a:ext uri="{FF2B5EF4-FFF2-40B4-BE49-F238E27FC236}">
                  <a16:creationId xmlns:a16="http://schemas.microsoft.com/office/drawing/2014/main" id="{F2DE6E3C-61D9-418D-B742-4D37E188AE2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924831" y="5851848"/>
              <a:ext cx="328616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1400" u="none" strike="noStrike" cap="none" normalizeH="0" baseline="0" dirty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  <a:ea typeface="SimHei" panose="02010609060101010101" pitchFamily="49" charset="-122"/>
                </a:rPr>
                <a:t>Reg</a:t>
              </a:r>
              <a:endParaRPr kumimoji="0" lang="zh-CN" altLang="zh-CN" sz="180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endParaRPr>
            </a:p>
          </p:txBody>
        </p:sp>
        <p:sp>
          <p:nvSpPr>
            <p:cNvPr id="161" name="Freeform 158">
              <a:extLst>
                <a:ext uri="{FF2B5EF4-FFF2-40B4-BE49-F238E27FC236}">
                  <a16:creationId xmlns:a16="http://schemas.microsoft.com/office/drawing/2014/main" id="{69D87B03-4769-4C6A-91B7-845B72A1BD9D}"/>
                </a:ext>
              </a:extLst>
            </p:cNvPr>
            <p:cNvSpPr>
              <a:spLocks/>
            </p:cNvSpPr>
            <p:nvPr/>
          </p:nvSpPr>
          <p:spPr bwMode="auto">
            <a:xfrm>
              <a:off x="7885143" y="5776918"/>
              <a:ext cx="195263" cy="396875"/>
            </a:xfrm>
            <a:custGeom>
              <a:avLst/>
              <a:gdLst>
                <a:gd name="T0" fmla="*/ 123 w 123"/>
                <a:gd name="T1" fmla="*/ 0 h 250"/>
                <a:gd name="T2" fmla="*/ 0 w 123"/>
                <a:gd name="T3" fmla="*/ 0 h 250"/>
                <a:gd name="T4" fmla="*/ 0 w 123"/>
                <a:gd name="T5" fmla="*/ 250 h 250"/>
                <a:gd name="T6" fmla="*/ 123 w 123"/>
                <a:gd name="T7" fmla="*/ 250 h 2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3" h="250">
                  <a:moveTo>
                    <a:pt x="123" y="0"/>
                  </a:moveTo>
                  <a:lnTo>
                    <a:pt x="0" y="0"/>
                  </a:lnTo>
                  <a:lnTo>
                    <a:pt x="0" y="250"/>
                  </a:lnTo>
                  <a:lnTo>
                    <a:pt x="123" y="250"/>
                  </a:lnTo>
                </a:path>
              </a:pathLst>
            </a:custGeom>
            <a:noFill/>
            <a:ln w="222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162" name="Freeform 159">
              <a:extLst>
                <a:ext uri="{FF2B5EF4-FFF2-40B4-BE49-F238E27FC236}">
                  <a16:creationId xmlns:a16="http://schemas.microsoft.com/office/drawing/2014/main" id="{E53FA45C-F3DD-4836-93A4-9237AEA5B87B}"/>
                </a:ext>
              </a:extLst>
            </p:cNvPr>
            <p:cNvSpPr>
              <a:spLocks/>
            </p:cNvSpPr>
            <p:nvPr/>
          </p:nvSpPr>
          <p:spPr bwMode="auto">
            <a:xfrm>
              <a:off x="8081993" y="5776918"/>
              <a:ext cx="203200" cy="396875"/>
            </a:xfrm>
            <a:custGeom>
              <a:avLst/>
              <a:gdLst>
                <a:gd name="T0" fmla="*/ 0 w 128"/>
                <a:gd name="T1" fmla="*/ 0 h 250"/>
                <a:gd name="T2" fmla="*/ 128 w 128"/>
                <a:gd name="T3" fmla="*/ 0 h 250"/>
                <a:gd name="T4" fmla="*/ 128 w 128"/>
                <a:gd name="T5" fmla="*/ 250 h 250"/>
                <a:gd name="T6" fmla="*/ 0 w 128"/>
                <a:gd name="T7" fmla="*/ 250 h 2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8" h="250">
                  <a:moveTo>
                    <a:pt x="0" y="0"/>
                  </a:moveTo>
                  <a:lnTo>
                    <a:pt x="128" y="0"/>
                  </a:lnTo>
                  <a:lnTo>
                    <a:pt x="128" y="250"/>
                  </a:lnTo>
                  <a:lnTo>
                    <a:pt x="0" y="250"/>
                  </a:lnTo>
                </a:path>
              </a:pathLst>
            </a:custGeom>
            <a:noFill/>
            <a:ln w="222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163" name="Line 160">
              <a:extLst>
                <a:ext uri="{FF2B5EF4-FFF2-40B4-BE49-F238E27FC236}">
                  <a16:creationId xmlns:a16="http://schemas.microsoft.com/office/drawing/2014/main" id="{B3C64ED3-D093-47C7-84F5-AFE135853E2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672418" y="5976943"/>
              <a:ext cx="195263" cy="0"/>
            </a:xfrm>
            <a:prstGeom prst="line">
              <a:avLst/>
            </a:prstGeom>
            <a:noFill/>
            <a:ln w="22225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164" name="Line 161">
              <a:extLst>
                <a:ext uri="{FF2B5EF4-FFF2-40B4-BE49-F238E27FC236}">
                  <a16:creationId xmlns:a16="http://schemas.microsoft.com/office/drawing/2014/main" id="{754B66D8-2C5B-4145-B96E-E109BD9AEA8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980268" y="5976943"/>
              <a:ext cx="222250" cy="0"/>
            </a:xfrm>
            <a:prstGeom prst="line">
              <a:avLst/>
            </a:prstGeom>
            <a:noFill/>
            <a:ln w="22225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165" name="Line 162">
              <a:extLst>
                <a:ext uri="{FF2B5EF4-FFF2-40B4-BE49-F238E27FC236}">
                  <a16:creationId xmlns:a16="http://schemas.microsoft.com/office/drawing/2014/main" id="{85DFDA28-BEC1-4587-823E-C78EABF4D6A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432581" y="6108705"/>
              <a:ext cx="222250" cy="0"/>
            </a:xfrm>
            <a:prstGeom prst="line">
              <a:avLst/>
            </a:prstGeom>
            <a:noFill/>
            <a:ln w="22225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166" name="Line 163">
              <a:extLst>
                <a:ext uri="{FF2B5EF4-FFF2-40B4-BE49-F238E27FC236}">
                  <a16:creationId xmlns:a16="http://schemas.microsoft.com/office/drawing/2014/main" id="{E0D07174-C1D0-46F6-B66C-094EBA1534A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553231" y="6108705"/>
              <a:ext cx="0" cy="265113"/>
            </a:xfrm>
            <a:prstGeom prst="line">
              <a:avLst/>
            </a:prstGeom>
            <a:noFill/>
            <a:ln w="254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167" name="Line 164">
              <a:extLst>
                <a:ext uri="{FF2B5EF4-FFF2-40B4-BE49-F238E27FC236}">
                  <a16:creationId xmlns:a16="http://schemas.microsoft.com/office/drawing/2014/main" id="{CD19EBCE-AB24-4B10-9DAC-9E3DDA9EEE9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553231" y="6373818"/>
              <a:ext cx="477838" cy="0"/>
            </a:xfrm>
            <a:prstGeom prst="line">
              <a:avLst/>
            </a:prstGeom>
            <a:noFill/>
            <a:ln w="254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168" name="Line 165">
              <a:extLst>
                <a:ext uri="{FF2B5EF4-FFF2-40B4-BE49-F238E27FC236}">
                  <a16:creationId xmlns:a16="http://schemas.microsoft.com/office/drawing/2014/main" id="{52C50BB8-725D-424C-A508-D2B5F179915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031068" y="5976943"/>
              <a:ext cx="0" cy="396875"/>
            </a:xfrm>
            <a:prstGeom prst="line">
              <a:avLst/>
            </a:prstGeom>
            <a:noFill/>
            <a:ln w="254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169" name="Line 166">
              <a:extLst>
                <a:ext uri="{FF2B5EF4-FFF2-40B4-BE49-F238E27FC236}">
                  <a16:creationId xmlns:a16="http://schemas.microsoft.com/office/drawing/2014/main" id="{6119EE45-DE5B-4BE4-8014-90C7704148C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150131" y="5976943"/>
              <a:ext cx="0" cy="330200"/>
            </a:xfrm>
            <a:prstGeom prst="line">
              <a:avLst/>
            </a:prstGeom>
            <a:noFill/>
            <a:ln w="254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170" name="Line 167">
              <a:extLst>
                <a:ext uri="{FF2B5EF4-FFF2-40B4-BE49-F238E27FC236}">
                  <a16:creationId xmlns:a16="http://schemas.microsoft.com/office/drawing/2014/main" id="{94CA29C0-D6AA-4F78-ACEE-BF835C69ABE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150131" y="6307143"/>
              <a:ext cx="615950" cy="0"/>
            </a:xfrm>
            <a:prstGeom prst="line">
              <a:avLst/>
            </a:prstGeom>
            <a:noFill/>
            <a:ln w="254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171" name="Line 168">
              <a:extLst>
                <a:ext uri="{FF2B5EF4-FFF2-40B4-BE49-F238E27FC236}">
                  <a16:creationId xmlns:a16="http://schemas.microsoft.com/office/drawing/2014/main" id="{52594E14-099C-41DF-8C50-4B10B9A8057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766081" y="5976943"/>
              <a:ext cx="0" cy="330200"/>
            </a:xfrm>
            <a:prstGeom prst="line">
              <a:avLst/>
            </a:prstGeom>
            <a:noFill/>
            <a:ln w="254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</p:grpSp>
      <p:sp>
        <p:nvSpPr>
          <p:cNvPr id="172" name="Freeform 169">
            <a:extLst>
              <a:ext uri="{FF2B5EF4-FFF2-40B4-BE49-F238E27FC236}">
                <a16:creationId xmlns:a16="http://schemas.microsoft.com/office/drawing/2014/main" id="{466B9CC5-1DA2-4982-8A88-F373C1A8454E}"/>
              </a:ext>
            </a:extLst>
          </p:cNvPr>
          <p:cNvSpPr>
            <a:spLocks noEditPoints="1"/>
          </p:cNvSpPr>
          <p:nvPr/>
        </p:nvSpPr>
        <p:spPr bwMode="auto">
          <a:xfrm>
            <a:off x="1815813" y="3125793"/>
            <a:ext cx="369888" cy="1922463"/>
          </a:xfrm>
          <a:custGeom>
            <a:avLst/>
            <a:gdLst>
              <a:gd name="T0" fmla="*/ 7 w 233"/>
              <a:gd name="T1" fmla="*/ 0 h 1211"/>
              <a:gd name="T2" fmla="*/ 216 w 233"/>
              <a:gd name="T3" fmla="*/ 1177 h 1211"/>
              <a:gd name="T4" fmla="*/ 209 w 233"/>
              <a:gd name="T5" fmla="*/ 1178 h 1211"/>
              <a:gd name="T6" fmla="*/ 0 w 233"/>
              <a:gd name="T7" fmla="*/ 1 h 1211"/>
              <a:gd name="T8" fmla="*/ 7 w 233"/>
              <a:gd name="T9" fmla="*/ 0 h 1211"/>
              <a:gd name="T10" fmla="*/ 233 w 233"/>
              <a:gd name="T11" fmla="*/ 1167 h 1211"/>
              <a:gd name="T12" fmla="*/ 218 w 233"/>
              <a:gd name="T13" fmla="*/ 1211 h 1211"/>
              <a:gd name="T14" fmla="*/ 190 w 233"/>
              <a:gd name="T15" fmla="*/ 1174 h 1211"/>
              <a:gd name="T16" fmla="*/ 233 w 233"/>
              <a:gd name="T17" fmla="*/ 1167 h 12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233" h="1211">
                <a:moveTo>
                  <a:pt x="7" y="0"/>
                </a:moveTo>
                <a:lnTo>
                  <a:pt x="216" y="1177"/>
                </a:lnTo>
                <a:lnTo>
                  <a:pt x="209" y="1178"/>
                </a:lnTo>
                <a:lnTo>
                  <a:pt x="0" y="1"/>
                </a:lnTo>
                <a:lnTo>
                  <a:pt x="7" y="0"/>
                </a:lnTo>
                <a:close/>
                <a:moveTo>
                  <a:pt x="233" y="1167"/>
                </a:moveTo>
                <a:lnTo>
                  <a:pt x="218" y="1211"/>
                </a:lnTo>
                <a:lnTo>
                  <a:pt x="190" y="1174"/>
                </a:lnTo>
                <a:lnTo>
                  <a:pt x="233" y="1167"/>
                </a:lnTo>
                <a:close/>
              </a:path>
            </a:pathLst>
          </a:custGeom>
          <a:solidFill>
            <a:srgbClr val="DE2506"/>
          </a:solidFill>
          <a:ln w="0" cap="flat">
            <a:solidFill>
              <a:srgbClr val="DE2506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3">
            <p14:nvContentPartPr>
              <p14:cNvPr id="5" name="墨迹 4">
                <a:extLst>
                  <a:ext uri="{FF2B5EF4-FFF2-40B4-BE49-F238E27FC236}">
                    <a16:creationId xmlns:a16="http://schemas.microsoft.com/office/drawing/2014/main" id="{7F3B9C53-34FA-C002-9A32-E7858E16DB5E}"/>
                  </a:ext>
                </a:extLst>
              </p14:cNvPr>
              <p14:cNvContentPartPr/>
              <p14:nvPr/>
            </p14:nvContentPartPr>
            <p14:xfrm>
              <a:off x="5950800" y="1830600"/>
              <a:ext cx="599040" cy="1549080"/>
            </p14:xfrm>
          </p:contentPart>
        </mc:Choice>
        <mc:Fallback xmlns="">
          <p:pic>
            <p:nvPicPr>
              <p:cNvPr id="5" name="墨迹 4">
                <a:extLst>
                  <a:ext uri="{FF2B5EF4-FFF2-40B4-BE49-F238E27FC236}">
                    <a16:creationId xmlns:a16="http://schemas.microsoft.com/office/drawing/2014/main" id="{7F3B9C53-34FA-C002-9A32-E7858E16DB5E}"/>
                  </a:ext>
                </a:extLst>
              </p:cNvPr>
              <p:cNvPicPr/>
              <p:nvPr/>
            </p:nvPicPr>
            <p:blipFill>
              <a:blip r:embed="rId4"/>
              <a:stretch>
                <a:fillRect/>
              </a:stretch>
            </p:blipFill>
            <p:spPr>
              <a:xfrm>
                <a:off x="5941440" y="1821240"/>
                <a:ext cx="617760" cy="156780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2782783608"/>
      </p:ext>
    </p:extLst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8" name="Freeform 9">
            <a:extLst>
              <a:ext uri="{FF2B5EF4-FFF2-40B4-BE49-F238E27FC236}">
                <a16:creationId xmlns:a16="http://schemas.microsoft.com/office/drawing/2014/main" id="{37DC1BA9-7F0D-732A-C9CA-25D84FAFEE31}"/>
              </a:ext>
            </a:extLst>
          </p:cNvPr>
          <p:cNvSpPr>
            <a:spLocks noEditPoints="1"/>
          </p:cNvSpPr>
          <p:nvPr/>
        </p:nvSpPr>
        <p:spPr bwMode="auto">
          <a:xfrm>
            <a:off x="5296723" y="3727992"/>
            <a:ext cx="71437" cy="1712913"/>
          </a:xfrm>
          <a:custGeom>
            <a:avLst/>
            <a:gdLst>
              <a:gd name="T0" fmla="*/ 30 w 45"/>
              <a:gd name="T1" fmla="*/ 0 h 1079"/>
              <a:gd name="T2" fmla="*/ 30 w 45"/>
              <a:gd name="T3" fmla="*/ 1041 h 1079"/>
              <a:gd name="T4" fmla="*/ 15 w 45"/>
              <a:gd name="T5" fmla="*/ 1041 h 1079"/>
              <a:gd name="T6" fmla="*/ 15 w 45"/>
              <a:gd name="T7" fmla="*/ 0 h 1079"/>
              <a:gd name="T8" fmla="*/ 30 w 45"/>
              <a:gd name="T9" fmla="*/ 0 h 1079"/>
              <a:gd name="T10" fmla="*/ 45 w 45"/>
              <a:gd name="T11" fmla="*/ 1034 h 1079"/>
              <a:gd name="T12" fmla="*/ 22 w 45"/>
              <a:gd name="T13" fmla="*/ 1079 h 1079"/>
              <a:gd name="T14" fmla="*/ 0 w 45"/>
              <a:gd name="T15" fmla="*/ 1034 h 1079"/>
              <a:gd name="T16" fmla="*/ 45 w 45"/>
              <a:gd name="T17" fmla="*/ 1034 h 107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45" h="1079">
                <a:moveTo>
                  <a:pt x="30" y="0"/>
                </a:moveTo>
                <a:lnTo>
                  <a:pt x="30" y="1041"/>
                </a:lnTo>
                <a:lnTo>
                  <a:pt x="15" y="1041"/>
                </a:lnTo>
                <a:lnTo>
                  <a:pt x="15" y="0"/>
                </a:lnTo>
                <a:lnTo>
                  <a:pt x="30" y="0"/>
                </a:lnTo>
                <a:close/>
                <a:moveTo>
                  <a:pt x="45" y="1034"/>
                </a:moveTo>
                <a:lnTo>
                  <a:pt x="22" y="1079"/>
                </a:lnTo>
                <a:lnTo>
                  <a:pt x="0" y="1034"/>
                </a:lnTo>
                <a:lnTo>
                  <a:pt x="45" y="1034"/>
                </a:lnTo>
                <a:close/>
              </a:path>
            </a:pathLst>
          </a:custGeom>
          <a:solidFill>
            <a:srgbClr val="00B050"/>
          </a:solidFill>
          <a:ln w="0" cap="flat">
            <a:solidFill>
              <a:srgbClr val="0099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2" name="标题 1">
            <a:extLst>
              <a:ext uri="{FF2B5EF4-FFF2-40B4-BE49-F238E27FC236}">
                <a16:creationId xmlns:a16="http://schemas.microsoft.com/office/drawing/2014/main" id="{7666AE00-ED87-4D07-BB67-7C3EFBD11F94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dirty="0"/>
              <a:t>寄存器堆的访问</a:t>
            </a:r>
          </a:p>
        </p:txBody>
      </p:sp>
      <p:sp>
        <p:nvSpPr>
          <p:cNvPr id="3" name="内容占位符 2">
            <a:extLst>
              <a:ext uri="{FF2B5EF4-FFF2-40B4-BE49-F238E27FC236}">
                <a16:creationId xmlns:a16="http://schemas.microsoft.com/office/drawing/2014/main" id="{8CD2425F-6A7F-4484-BFA8-ED7FEBFAEEAD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r>
              <a:rPr lang="zh-CN" altLang="en-US" dirty="0"/>
              <a:t>提供端口同时支持读</a:t>
            </a:r>
            <a:r>
              <a:rPr lang="en-US" altLang="zh-CN" dirty="0"/>
              <a:t>&amp;</a:t>
            </a:r>
            <a:r>
              <a:rPr lang="zh-CN" altLang="en-US" dirty="0"/>
              <a:t>写：一个周期内先写后读</a:t>
            </a:r>
            <a:endParaRPr lang="en-US" altLang="zh-CN" dirty="0"/>
          </a:p>
          <a:p>
            <a:r>
              <a:rPr lang="zh-CN" altLang="en-US" dirty="0">
                <a:latin typeface="Arial" pitchFamily="34" charset="0"/>
              </a:rPr>
              <a:t>依靠硬件实现解决</a:t>
            </a:r>
            <a:endParaRPr lang="zh-CN" altLang="en-US" dirty="0"/>
          </a:p>
        </p:txBody>
      </p:sp>
      <p:sp>
        <p:nvSpPr>
          <p:cNvPr id="4" name="灯片编号占位符 3">
            <a:extLst>
              <a:ext uri="{FF2B5EF4-FFF2-40B4-BE49-F238E27FC236}">
                <a16:creationId xmlns:a16="http://schemas.microsoft.com/office/drawing/2014/main" id="{E96522AC-4C04-4A27-AA11-1DBA77AB18A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0626FCE3-5FF9-430D-BA0B-DE80AAE71673}" type="slidenum">
              <a:rPr lang="zh-CN" altLang="en-US" smtClean="0"/>
              <a:t>16</a:t>
            </a:fld>
            <a:endParaRPr lang="zh-CN" altLang="en-US"/>
          </a:p>
        </p:txBody>
      </p:sp>
      <p:sp>
        <p:nvSpPr>
          <p:cNvPr id="7" name="AutoShape 3">
            <a:extLst>
              <a:ext uri="{FF2B5EF4-FFF2-40B4-BE49-F238E27FC236}">
                <a16:creationId xmlns:a16="http://schemas.microsoft.com/office/drawing/2014/main" id="{EAF10E9A-57F6-4E7B-864E-219DCF0C1AA7}"/>
              </a:ext>
            </a:extLst>
          </p:cNvPr>
          <p:cNvSpPr>
            <a:spLocks noChangeAspect="1" noChangeArrowheads="1" noTextEdit="1"/>
          </p:cNvSpPr>
          <p:nvPr/>
        </p:nvSpPr>
        <p:spPr bwMode="auto">
          <a:xfrm>
            <a:off x="1582548" y="2518439"/>
            <a:ext cx="6583362" cy="42576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13" name="Rectangle 10">
            <a:extLst>
              <a:ext uri="{FF2B5EF4-FFF2-40B4-BE49-F238E27FC236}">
                <a16:creationId xmlns:a16="http://schemas.microsoft.com/office/drawing/2014/main" id="{349D4153-C25B-48A7-95BD-82C0243A6503}"/>
              </a:ext>
            </a:extLst>
          </p:cNvPr>
          <p:cNvSpPr>
            <a:spLocks noChangeArrowheads="1"/>
          </p:cNvSpPr>
          <p:nvPr/>
        </p:nvSpPr>
        <p:spPr bwMode="auto">
          <a:xfrm>
            <a:off x="864387" y="3488402"/>
            <a:ext cx="5290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zh-CN" altLang="zh-CN" sz="1500" i="1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rPr>
              <a:t>I</a:t>
            </a:r>
            <a:endParaRPr kumimoji="0" lang="zh-CN" altLang="zh-CN" sz="1800" i="1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  <a:ea typeface="SimHei" panose="02010609060101010101" pitchFamily="49" charset="-122"/>
            </a:endParaRPr>
          </a:p>
        </p:txBody>
      </p:sp>
      <p:sp>
        <p:nvSpPr>
          <p:cNvPr id="14" name="Rectangle 11">
            <a:extLst>
              <a:ext uri="{FF2B5EF4-FFF2-40B4-BE49-F238E27FC236}">
                <a16:creationId xmlns:a16="http://schemas.microsoft.com/office/drawing/2014/main" id="{F0D1083C-D798-4C20-8A86-9CB467F0C29A}"/>
              </a:ext>
            </a:extLst>
          </p:cNvPr>
          <p:cNvSpPr>
            <a:spLocks noChangeArrowheads="1"/>
          </p:cNvSpPr>
          <p:nvPr/>
        </p:nvSpPr>
        <p:spPr bwMode="auto">
          <a:xfrm>
            <a:off x="840575" y="3718589"/>
            <a:ext cx="107402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zh-CN" altLang="zh-CN" sz="1500" i="1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rPr>
              <a:t>n</a:t>
            </a:r>
            <a:endParaRPr kumimoji="0" lang="zh-CN" altLang="zh-CN" sz="1800" i="1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  <a:ea typeface="SimHei" panose="02010609060101010101" pitchFamily="49" charset="-122"/>
            </a:endParaRPr>
          </a:p>
        </p:txBody>
      </p:sp>
      <p:sp>
        <p:nvSpPr>
          <p:cNvPr id="15" name="Rectangle 12">
            <a:extLst>
              <a:ext uri="{FF2B5EF4-FFF2-40B4-BE49-F238E27FC236}">
                <a16:creationId xmlns:a16="http://schemas.microsoft.com/office/drawing/2014/main" id="{65658D5F-4174-4243-9508-19FD1796E0C4}"/>
              </a:ext>
            </a:extLst>
          </p:cNvPr>
          <p:cNvSpPr>
            <a:spLocks noChangeArrowheads="1"/>
          </p:cNvSpPr>
          <p:nvPr/>
        </p:nvSpPr>
        <p:spPr bwMode="auto">
          <a:xfrm>
            <a:off x="840575" y="3950364"/>
            <a:ext cx="9618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zh-CN" altLang="zh-CN" sz="1500" i="1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rPr>
              <a:t>s</a:t>
            </a:r>
            <a:endParaRPr kumimoji="0" lang="zh-CN" altLang="zh-CN" sz="1800" i="1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  <a:ea typeface="SimHei" panose="02010609060101010101" pitchFamily="49" charset="-122"/>
            </a:endParaRPr>
          </a:p>
        </p:txBody>
      </p:sp>
      <p:sp>
        <p:nvSpPr>
          <p:cNvPr id="16" name="Rectangle 13">
            <a:extLst>
              <a:ext uri="{FF2B5EF4-FFF2-40B4-BE49-F238E27FC236}">
                <a16:creationId xmlns:a16="http://schemas.microsoft.com/office/drawing/2014/main" id="{58D3FD1C-BF95-437D-BC34-97A801A02FEB}"/>
              </a:ext>
            </a:extLst>
          </p:cNvPr>
          <p:cNvSpPr>
            <a:spLocks noChangeArrowheads="1"/>
          </p:cNvSpPr>
          <p:nvPr/>
        </p:nvSpPr>
        <p:spPr bwMode="auto">
          <a:xfrm>
            <a:off x="864387" y="4177377"/>
            <a:ext cx="5290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zh-CN" altLang="zh-CN" sz="1500" i="1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rPr>
              <a:t>t</a:t>
            </a:r>
            <a:endParaRPr kumimoji="0" lang="zh-CN" altLang="zh-CN" sz="1800" i="1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  <a:ea typeface="SimHei" panose="02010609060101010101" pitchFamily="49" charset="-122"/>
            </a:endParaRPr>
          </a:p>
        </p:txBody>
      </p:sp>
      <p:sp>
        <p:nvSpPr>
          <p:cNvPr id="17" name="Rectangle 14">
            <a:extLst>
              <a:ext uri="{FF2B5EF4-FFF2-40B4-BE49-F238E27FC236}">
                <a16:creationId xmlns:a16="http://schemas.microsoft.com/office/drawing/2014/main" id="{5F26C4CA-A8BA-41E2-B95C-63D8578760DC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2637" y="4407564"/>
            <a:ext cx="109902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zh-CN" altLang="zh-CN" sz="1500" i="1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rPr>
              <a:t>r.</a:t>
            </a:r>
            <a:endParaRPr kumimoji="0" lang="zh-CN" altLang="zh-CN" sz="1800" i="1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  <a:ea typeface="SimHei" panose="02010609060101010101" pitchFamily="49" charset="-122"/>
            </a:endParaRPr>
          </a:p>
        </p:txBody>
      </p:sp>
      <p:sp>
        <p:nvSpPr>
          <p:cNvPr id="18" name="Rectangle 15">
            <a:extLst>
              <a:ext uri="{FF2B5EF4-FFF2-40B4-BE49-F238E27FC236}">
                <a16:creationId xmlns:a16="http://schemas.microsoft.com/office/drawing/2014/main" id="{39B9B68D-56CC-422C-8F97-BA8DEB0AA1DA}"/>
              </a:ext>
            </a:extLst>
          </p:cNvPr>
          <p:cNvSpPr>
            <a:spLocks noChangeArrowheads="1"/>
          </p:cNvSpPr>
          <p:nvPr/>
        </p:nvSpPr>
        <p:spPr bwMode="auto">
          <a:xfrm>
            <a:off x="816762" y="4860002"/>
            <a:ext cx="14908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zh-CN" altLang="zh-CN" sz="1500" i="1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rPr>
              <a:t>O</a:t>
            </a:r>
            <a:endParaRPr kumimoji="0" lang="zh-CN" altLang="zh-CN" sz="1800" i="1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  <a:ea typeface="SimHei" panose="02010609060101010101" pitchFamily="49" charset="-122"/>
            </a:endParaRPr>
          </a:p>
        </p:txBody>
      </p:sp>
      <p:sp>
        <p:nvSpPr>
          <p:cNvPr id="19" name="Rectangle 16">
            <a:extLst>
              <a:ext uri="{FF2B5EF4-FFF2-40B4-BE49-F238E27FC236}">
                <a16:creationId xmlns:a16="http://schemas.microsoft.com/office/drawing/2014/main" id="{E6A538CC-36C8-43D0-A192-0AF468F38923}"/>
              </a:ext>
            </a:extLst>
          </p:cNvPr>
          <p:cNvSpPr>
            <a:spLocks noChangeArrowheads="1"/>
          </p:cNvSpPr>
          <p:nvPr/>
        </p:nvSpPr>
        <p:spPr bwMode="auto">
          <a:xfrm>
            <a:off x="856450" y="5090189"/>
            <a:ext cx="6412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zh-CN" altLang="zh-CN" sz="1500" i="1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rPr>
              <a:t>r</a:t>
            </a:r>
            <a:endParaRPr kumimoji="0" lang="zh-CN" altLang="zh-CN" sz="1800" i="1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  <a:ea typeface="SimHei" panose="02010609060101010101" pitchFamily="49" charset="-122"/>
            </a:endParaRPr>
          </a:p>
        </p:txBody>
      </p:sp>
      <p:sp>
        <p:nvSpPr>
          <p:cNvPr id="20" name="Rectangle 17">
            <a:extLst>
              <a:ext uri="{FF2B5EF4-FFF2-40B4-BE49-F238E27FC236}">
                <a16:creationId xmlns:a16="http://schemas.microsoft.com/office/drawing/2014/main" id="{735795DF-18FC-4934-8CAC-7EB64AF788CF}"/>
              </a:ext>
            </a:extLst>
          </p:cNvPr>
          <p:cNvSpPr>
            <a:spLocks noChangeArrowheads="1"/>
          </p:cNvSpPr>
          <p:nvPr/>
        </p:nvSpPr>
        <p:spPr bwMode="auto">
          <a:xfrm>
            <a:off x="840575" y="5321964"/>
            <a:ext cx="107402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zh-CN" altLang="zh-CN" sz="1500" i="1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rPr>
              <a:t>d</a:t>
            </a:r>
            <a:endParaRPr kumimoji="0" lang="zh-CN" altLang="zh-CN" sz="1800" i="1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  <a:ea typeface="SimHei" panose="02010609060101010101" pitchFamily="49" charset="-122"/>
            </a:endParaRPr>
          </a:p>
        </p:txBody>
      </p:sp>
      <p:sp>
        <p:nvSpPr>
          <p:cNvPr id="21" name="Rectangle 18">
            <a:extLst>
              <a:ext uri="{FF2B5EF4-FFF2-40B4-BE49-F238E27FC236}">
                <a16:creationId xmlns:a16="http://schemas.microsoft.com/office/drawing/2014/main" id="{793E4C9E-ABD3-4F13-8A10-DA2599F7BF67}"/>
              </a:ext>
            </a:extLst>
          </p:cNvPr>
          <p:cNvSpPr>
            <a:spLocks noChangeArrowheads="1"/>
          </p:cNvSpPr>
          <p:nvPr/>
        </p:nvSpPr>
        <p:spPr bwMode="auto">
          <a:xfrm>
            <a:off x="840575" y="5548977"/>
            <a:ext cx="107402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zh-CN" altLang="zh-CN" sz="1500" i="1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rPr>
              <a:t>e</a:t>
            </a:r>
            <a:endParaRPr kumimoji="0" lang="zh-CN" altLang="zh-CN" sz="1800" i="1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  <a:ea typeface="SimHei" panose="02010609060101010101" pitchFamily="49" charset="-122"/>
            </a:endParaRPr>
          </a:p>
        </p:txBody>
      </p:sp>
      <p:sp>
        <p:nvSpPr>
          <p:cNvPr id="22" name="Rectangle 19">
            <a:extLst>
              <a:ext uri="{FF2B5EF4-FFF2-40B4-BE49-F238E27FC236}">
                <a16:creationId xmlns:a16="http://schemas.microsoft.com/office/drawing/2014/main" id="{CB4E3D21-5AA7-43AB-A7FD-2E910B2BE994}"/>
              </a:ext>
            </a:extLst>
          </p:cNvPr>
          <p:cNvSpPr>
            <a:spLocks noChangeArrowheads="1"/>
          </p:cNvSpPr>
          <p:nvPr/>
        </p:nvSpPr>
        <p:spPr bwMode="auto">
          <a:xfrm>
            <a:off x="856450" y="5771227"/>
            <a:ext cx="6412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zh-CN" altLang="zh-CN" sz="1500" i="1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rPr>
              <a:t>r</a:t>
            </a:r>
            <a:endParaRPr kumimoji="0" lang="zh-CN" altLang="zh-CN" sz="1800" i="1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  <a:ea typeface="SimHei" panose="02010609060101010101" pitchFamily="49" charset="-122"/>
            </a:endParaRPr>
          </a:p>
        </p:txBody>
      </p:sp>
      <p:sp>
        <p:nvSpPr>
          <p:cNvPr id="23" name="Freeform 20">
            <a:extLst>
              <a:ext uri="{FF2B5EF4-FFF2-40B4-BE49-F238E27FC236}">
                <a16:creationId xmlns:a16="http://schemas.microsoft.com/office/drawing/2014/main" id="{C65FE1CB-D3FA-4008-971A-6E84FDE5D8C5}"/>
              </a:ext>
            </a:extLst>
          </p:cNvPr>
          <p:cNvSpPr>
            <a:spLocks noEditPoints="1"/>
          </p:cNvSpPr>
          <p:nvPr/>
        </p:nvSpPr>
        <p:spPr bwMode="auto">
          <a:xfrm>
            <a:off x="2566798" y="2907377"/>
            <a:ext cx="5249862" cy="63500"/>
          </a:xfrm>
          <a:custGeom>
            <a:avLst/>
            <a:gdLst>
              <a:gd name="T0" fmla="*/ 0 w 3307"/>
              <a:gd name="T1" fmla="*/ 13 h 40"/>
              <a:gd name="T2" fmla="*/ 3274 w 3307"/>
              <a:gd name="T3" fmla="*/ 13 h 40"/>
              <a:gd name="T4" fmla="*/ 3274 w 3307"/>
              <a:gd name="T5" fmla="*/ 27 h 40"/>
              <a:gd name="T6" fmla="*/ 0 w 3307"/>
              <a:gd name="T7" fmla="*/ 27 h 40"/>
              <a:gd name="T8" fmla="*/ 0 w 3307"/>
              <a:gd name="T9" fmla="*/ 13 h 40"/>
              <a:gd name="T10" fmla="*/ 3267 w 3307"/>
              <a:gd name="T11" fmla="*/ 0 h 40"/>
              <a:gd name="T12" fmla="*/ 3307 w 3307"/>
              <a:gd name="T13" fmla="*/ 20 h 40"/>
              <a:gd name="T14" fmla="*/ 3267 w 3307"/>
              <a:gd name="T15" fmla="*/ 40 h 40"/>
              <a:gd name="T16" fmla="*/ 3267 w 3307"/>
              <a:gd name="T17" fmla="*/ 0 h 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3307" h="40">
                <a:moveTo>
                  <a:pt x="0" y="13"/>
                </a:moveTo>
                <a:lnTo>
                  <a:pt x="3274" y="13"/>
                </a:lnTo>
                <a:lnTo>
                  <a:pt x="3274" y="27"/>
                </a:lnTo>
                <a:lnTo>
                  <a:pt x="0" y="27"/>
                </a:lnTo>
                <a:lnTo>
                  <a:pt x="0" y="13"/>
                </a:lnTo>
                <a:close/>
                <a:moveTo>
                  <a:pt x="3267" y="0"/>
                </a:moveTo>
                <a:lnTo>
                  <a:pt x="3307" y="20"/>
                </a:lnTo>
                <a:lnTo>
                  <a:pt x="3267" y="40"/>
                </a:lnTo>
                <a:lnTo>
                  <a:pt x="3267" y="0"/>
                </a:lnTo>
                <a:close/>
              </a:path>
            </a:pathLst>
          </a:custGeom>
          <a:solidFill>
            <a:srgbClr val="000000"/>
          </a:solidFill>
          <a:ln w="0" cap="flat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24" name="Rectangle 21">
            <a:extLst>
              <a:ext uri="{FF2B5EF4-FFF2-40B4-BE49-F238E27FC236}">
                <a16:creationId xmlns:a16="http://schemas.microsoft.com/office/drawing/2014/main" id="{9FEFC6E9-742A-4679-846E-470F384EC563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14648" y="2599402"/>
            <a:ext cx="1629549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zh-CN" altLang="zh-CN" sz="1500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rPr>
              <a:t>Time (clock cycles)</a:t>
            </a:r>
            <a:endParaRPr kumimoji="0" lang="zh-CN" altLang="zh-CN" sz="180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  <a:ea typeface="SimHei" panose="02010609060101010101" pitchFamily="49" charset="-122"/>
            </a:endParaRPr>
          </a:p>
        </p:txBody>
      </p:sp>
      <p:sp>
        <p:nvSpPr>
          <p:cNvPr id="25" name="Rectangle 22">
            <a:extLst>
              <a:ext uri="{FF2B5EF4-FFF2-40B4-BE49-F238E27FC236}">
                <a16:creationId xmlns:a16="http://schemas.microsoft.com/office/drawing/2014/main" id="{5F676B05-97B0-4E06-B4B2-8016DE61AD4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178712" y="4067839"/>
            <a:ext cx="625171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zh-CN" altLang="zh-CN" sz="2000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rPr>
              <a:t>Inst 1</a:t>
            </a:r>
            <a:endParaRPr kumimoji="0" lang="zh-CN" altLang="zh-CN" sz="180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  <a:ea typeface="SimHei" panose="02010609060101010101" pitchFamily="49" charset="-122"/>
            </a:endParaRPr>
          </a:p>
        </p:txBody>
      </p:sp>
      <p:sp>
        <p:nvSpPr>
          <p:cNvPr id="26" name="Rectangle 23">
            <a:extLst>
              <a:ext uri="{FF2B5EF4-FFF2-40B4-BE49-F238E27FC236}">
                <a16:creationId xmlns:a16="http://schemas.microsoft.com/office/drawing/2014/main" id="{A32CF813-07CF-423C-98A7-4FB556E57894}"/>
              </a:ext>
            </a:extLst>
          </p:cNvPr>
          <p:cNvSpPr>
            <a:spLocks noChangeArrowheads="1"/>
          </p:cNvSpPr>
          <p:nvPr/>
        </p:nvSpPr>
        <p:spPr bwMode="auto">
          <a:xfrm>
            <a:off x="1178712" y="4801264"/>
            <a:ext cx="625171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zh-CN" altLang="zh-CN" sz="2000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rPr>
              <a:t>Inst 2</a:t>
            </a:r>
            <a:endParaRPr kumimoji="0" lang="zh-CN" altLang="zh-CN" sz="180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  <a:ea typeface="SimHei" panose="02010609060101010101" pitchFamily="49" charset="-122"/>
            </a:endParaRPr>
          </a:p>
        </p:txBody>
      </p:sp>
      <p:sp>
        <p:nvSpPr>
          <p:cNvPr id="27" name="Rectangle 24">
            <a:extLst>
              <a:ext uri="{FF2B5EF4-FFF2-40B4-BE49-F238E27FC236}">
                <a16:creationId xmlns:a16="http://schemas.microsoft.com/office/drawing/2014/main" id="{92384D0F-ACDE-4BE0-8F5A-C25E57B16FA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187790" y="6104048"/>
            <a:ext cx="625171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zh-CN" altLang="zh-CN" sz="2000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rPr>
              <a:t>Inst 4</a:t>
            </a:r>
            <a:endParaRPr kumimoji="0" lang="zh-CN" altLang="zh-CN" sz="180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  <a:ea typeface="SimHei" panose="02010609060101010101" pitchFamily="49" charset="-122"/>
            </a:endParaRPr>
          </a:p>
        </p:txBody>
      </p:sp>
      <p:sp>
        <p:nvSpPr>
          <p:cNvPr id="36" name="Freeform 33">
            <a:extLst>
              <a:ext uri="{FF2B5EF4-FFF2-40B4-BE49-F238E27FC236}">
                <a16:creationId xmlns:a16="http://schemas.microsoft.com/office/drawing/2014/main" id="{7082A7DC-CAFB-43E5-8BAE-3339756B62E2}"/>
              </a:ext>
            </a:extLst>
          </p:cNvPr>
          <p:cNvSpPr>
            <a:spLocks noEditPoints="1"/>
          </p:cNvSpPr>
          <p:nvPr/>
        </p:nvSpPr>
        <p:spPr bwMode="auto">
          <a:xfrm>
            <a:off x="1007262" y="3382039"/>
            <a:ext cx="71437" cy="3235325"/>
          </a:xfrm>
          <a:custGeom>
            <a:avLst/>
            <a:gdLst>
              <a:gd name="T0" fmla="*/ 30 w 45"/>
              <a:gd name="T1" fmla="*/ 0 h 2038"/>
              <a:gd name="T2" fmla="*/ 30 w 45"/>
              <a:gd name="T3" fmla="*/ 2001 h 2038"/>
              <a:gd name="T4" fmla="*/ 15 w 45"/>
              <a:gd name="T5" fmla="*/ 2001 h 2038"/>
              <a:gd name="T6" fmla="*/ 15 w 45"/>
              <a:gd name="T7" fmla="*/ 0 h 2038"/>
              <a:gd name="T8" fmla="*/ 30 w 45"/>
              <a:gd name="T9" fmla="*/ 0 h 2038"/>
              <a:gd name="T10" fmla="*/ 45 w 45"/>
              <a:gd name="T11" fmla="*/ 1993 h 2038"/>
              <a:gd name="T12" fmla="*/ 23 w 45"/>
              <a:gd name="T13" fmla="*/ 2038 h 2038"/>
              <a:gd name="T14" fmla="*/ 0 w 45"/>
              <a:gd name="T15" fmla="*/ 1993 h 2038"/>
              <a:gd name="T16" fmla="*/ 45 w 45"/>
              <a:gd name="T17" fmla="*/ 1993 h 20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45" h="2038">
                <a:moveTo>
                  <a:pt x="30" y="0"/>
                </a:moveTo>
                <a:lnTo>
                  <a:pt x="30" y="2001"/>
                </a:lnTo>
                <a:lnTo>
                  <a:pt x="15" y="2001"/>
                </a:lnTo>
                <a:lnTo>
                  <a:pt x="15" y="0"/>
                </a:lnTo>
                <a:lnTo>
                  <a:pt x="30" y="0"/>
                </a:lnTo>
                <a:close/>
                <a:moveTo>
                  <a:pt x="45" y="1993"/>
                </a:moveTo>
                <a:lnTo>
                  <a:pt x="23" y="2038"/>
                </a:lnTo>
                <a:lnTo>
                  <a:pt x="0" y="1993"/>
                </a:lnTo>
                <a:lnTo>
                  <a:pt x="45" y="1993"/>
                </a:lnTo>
                <a:close/>
              </a:path>
            </a:pathLst>
          </a:custGeom>
          <a:solidFill>
            <a:srgbClr val="000000"/>
          </a:solidFill>
          <a:ln w="0" cap="flat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i="1" dirty="0">
              <a:ea typeface="SimHei" panose="02010609060101010101" pitchFamily="49" charset="-122"/>
            </a:endParaRPr>
          </a:p>
        </p:txBody>
      </p:sp>
      <p:sp>
        <p:nvSpPr>
          <p:cNvPr id="168" name="Rectangle 165">
            <a:extLst>
              <a:ext uri="{FF2B5EF4-FFF2-40B4-BE49-F238E27FC236}">
                <a16:creationId xmlns:a16="http://schemas.microsoft.com/office/drawing/2014/main" id="{46AC3B7A-1ABE-4880-90FC-A035A378702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178712" y="3367752"/>
            <a:ext cx="498534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zh-CN" altLang="zh-CN" sz="2000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rPr>
              <a:t>add </a:t>
            </a:r>
            <a:endParaRPr kumimoji="0" lang="zh-CN" altLang="zh-CN" sz="180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  <a:ea typeface="SimHei" panose="02010609060101010101" pitchFamily="49" charset="-122"/>
            </a:endParaRPr>
          </a:p>
        </p:txBody>
      </p:sp>
      <p:sp>
        <p:nvSpPr>
          <p:cNvPr id="169" name="Rectangle 166">
            <a:extLst>
              <a:ext uri="{FF2B5EF4-FFF2-40B4-BE49-F238E27FC236}">
                <a16:creationId xmlns:a16="http://schemas.microsoft.com/office/drawing/2014/main" id="{380F721C-283D-441B-B04C-E1134BAC0904}"/>
              </a:ext>
            </a:extLst>
          </p:cNvPr>
          <p:cNvSpPr>
            <a:spLocks noChangeArrowheads="1"/>
          </p:cNvSpPr>
          <p:nvPr/>
        </p:nvSpPr>
        <p:spPr bwMode="auto">
          <a:xfrm>
            <a:off x="1670837" y="3367752"/>
            <a:ext cx="227626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zh-CN" altLang="zh-CN" sz="2000" u="none" strike="noStrike" cap="none" normalizeH="0" baseline="0" dirty="0">
                <a:ln>
                  <a:noFill/>
                </a:ln>
                <a:solidFill>
                  <a:srgbClr val="DE2506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rPr>
              <a:t>r1</a:t>
            </a:r>
            <a:endParaRPr kumimoji="0" lang="zh-CN" altLang="zh-CN" sz="180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  <a:ea typeface="SimHei" panose="02010609060101010101" pitchFamily="49" charset="-122"/>
            </a:endParaRPr>
          </a:p>
        </p:txBody>
      </p:sp>
      <p:sp>
        <p:nvSpPr>
          <p:cNvPr id="170" name="Rectangle 167">
            <a:extLst>
              <a:ext uri="{FF2B5EF4-FFF2-40B4-BE49-F238E27FC236}">
                <a16:creationId xmlns:a16="http://schemas.microsoft.com/office/drawing/2014/main" id="{B5920682-775C-41D4-A20B-56646A827B9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99437" y="3367752"/>
            <a:ext cx="596317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zh-CN" altLang="zh-CN" sz="2000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rPr>
              <a:t>,</a:t>
            </a:r>
            <a:r>
              <a:rPr kumimoji="0" lang="en-US" altLang="zh-CN" sz="2000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rPr>
              <a:t>r2,r3</a:t>
            </a:r>
            <a:endParaRPr kumimoji="0" lang="zh-CN" altLang="zh-CN" sz="180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  <a:ea typeface="SimHei" panose="02010609060101010101" pitchFamily="49" charset="-122"/>
            </a:endParaRPr>
          </a:p>
        </p:txBody>
      </p:sp>
      <p:sp>
        <p:nvSpPr>
          <p:cNvPr id="171" name="Rectangle 168">
            <a:extLst>
              <a:ext uri="{FF2B5EF4-FFF2-40B4-BE49-F238E27FC236}">
                <a16:creationId xmlns:a16="http://schemas.microsoft.com/office/drawing/2014/main" id="{67737958-F776-4266-8295-D495AB41B284}"/>
              </a:ext>
            </a:extLst>
          </p:cNvPr>
          <p:cNvSpPr>
            <a:spLocks noChangeArrowheads="1"/>
          </p:cNvSpPr>
          <p:nvPr/>
        </p:nvSpPr>
        <p:spPr bwMode="auto">
          <a:xfrm>
            <a:off x="1178099" y="5429914"/>
            <a:ext cx="867225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zh-CN" altLang="zh-CN" sz="2000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rPr>
              <a:t>add  r2,</a:t>
            </a:r>
            <a:endParaRPr kumimoji="0" lang="zh-CN" altLang="zh-CN" sz="180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  <a:ea typeface="SimHei" panose="02010609060101010101" pitchFamily="49" charset="-122"/>
            </a:endParaRPr>
          </a:p>
        </p:txBody>
      </p:sp>
      <p:sp>
        <p:nvSpPr>
          <p:cNvPr id="172" name="Rectangle 169">
            <a:extLst>
              <a:ext uri="{FF2B5EF4-FFF2-40B4-BE49-F238E27FC236}">
                <a16:creationId xmlns:a16="http://schemas.microsoft.com/office/drawing/2014/main" id="{91777910-C50A-4C35-9D3F-43D541C597D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41699" y="5429914"/>
            <a:ext cx="227626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zh-CN" altLang="zh-CN" sz="2000" u="none" strike="noStrike" cap="none" normalizeH="0" baseline="0" dirty="0">
                <a:ln>
                  <a:noFill/>
                </a:ln>
                <a:solidFill>
                  <a:srgbClr val="009900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rPr>
              <a:t>r1</a:t>
            </a:r>
            <a:endParaRPr kumimoji="0" lang="zh-CN" altLang="zh-CN" sz="180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  <a:ea typeface="SimHei" panose="02010609060101010101" pitchFamily="49" charset="-122"/>
            </a:endParaRPr>
          </a:p>
        </p:txBody>
      </p:sp>
      <p:sp>
        <p:nvSpPr>
          <p:cNvPr id="173" name="Rectangle 170">
            <a:extLst>
              <a:ext uri="{FF2B5EF4-FFF2-40B4-BE49-F238E27FC236}">
                <a16:creationId xmlns:a16="http://schemas.microsoft.com/office/drawing/2014/main" id="{FA94CA44-16F5-4E30-B465-061E0161AA05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71887" y="5429914"/>
            <a:ext cx="298159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zh-CN" altLang="zh-CN" sz="2000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rPr>
              <a:t>,</a:t>
            </a:r>
            <a:r>
              <a:rPr kumimoji="0" lang="en-US" altLang="zh-CN" sz="2000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rPr>
              <a:t>r3</a:t>
            </a:r>
            <a:endParaRPr kumimoji="0" lang="zh-CN" altLang="zh-CN" sz="180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  <a:ea typeface="SimHei" panose="02010609060101010101" pitchFamily="49" charset="-122"/>
            </a:endParaRPr>
          </a:p>
        </p:txBody>
      </p:sp>
      <p:sp>
        <p:nvSpPr>
          <p:cNvPr id="174" name="Freeform 171">
            <a:extLst>
              <a:ext uri="{FF2B5EF4-FFF2-40B4-BE49-F238E27FC236}">
                <a16:creationId xmlns:a16="http://schemas.microsoft.com/office/drawing/2014/main" id="{629AD113-63A4-4316-9468-D5B18394899E}"/>
              </a:ext>
            </a:extLst>
          </p:cNvPr>
          <p:cNvSpPr>
            <a:spLocks noEditPoints="1"/>
          </p:cNvSpPr>
          <p:nvPr/>
        </p:nvSpPr>
        <p:spPr bwMode="auto">
          <a:xfrm>
            <a:off x="1862925" y="3636039"/>
            <a:ext cx="342900" cy="1839913"/>
          </a:xfrm>
          <a:custGeom>
            <a:avLst/>
            <a:gdLst>
              <a:gd name="T0" fmla="*/ 7 w 216"/>
              <a:gd name="T1" fmla="*/ 0 h 1159"/>
              <a:gd name="T2" fmla="*/ 201 w 216"/>
              <a:gd name="T3" fmla="*/ 1126 h 1159"/>
              <a:gd name="T4" fmla="*/ 195 w 216"/>
              <a:gd name="T5" fmla="*/ 1127 h 1159"/>
              <a:gd name="T6" fmla="*/ 0 w 216"/>
              <a:gd name="T7" fmla="*/ 1 h 1159"/>
              <a:gd name="T8" fmla="*/ 7 w 216"/>
              <a:gd name="T9" fmla="*/ 0 h 1159"/>
              <a:gd name="T10" fmla="*/ 216 w 216"/>
              <a:gd name="T11" fmla="*/ 1116 h 1159"/>
              <a:gd name="T12" fmla="*/ 203 w 216"/>
              <a:gd name="T13" fmla="*/ 1159 h 1159"/>
              <a:gd name="T14" fmla="*/ 177 w 216"/>
              <a:gd name="T15" fmla="*/ 1123 h 1159"/>
              <a:gd name="T16" fmla="*/ 216 w 216"/>
              <a:gd name="T17" fmla="*/ 1116 h 115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216" h="1159">
                <a:moveTo>
                  <a:pt x="7" y="0"/>
                </a:moveTo>
                <a:lnTo>
                  <a:pt x="201" y="1126"/>
                </a:lnTo>
                <a:lnTo>
                  <a:pt x="195" y="1127"/>
                </a:lnTo>
                <a:lnTo>
                  <a:pt x="0" y="1"/>
                </a:lnTo>
                <a:lnTo>
                  <a:pt x="7" y="0"/>
                </a:lnTo>
                <a:close/>
                <a:moveTo>
                  <a:pt x="216" y="1116"/>
                </a:moveTo>
                <a:lnTo>
                  <a:pt x="203" y="1159"/>
                </a:lnTo>
                <a:lnTo>
                  <a:pt x="177" y="1123"/>
                </a:lnTo>
                <a:lnTo>
                  <a:pt x="216" y="1116"/>
                </a:lnTo>
                <a:close/>
              </a:path>
            </a:pathLst>
          </a:custGeom>
          <a:solidFill>
            <a:srgbClr val="DE2506"/>
          </a:solidFill>
          <a:ln w="0" cap="flat">
            <a:solidFill>
              <a:srgbClr val="DE2506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grpSp>
        <p:nvGrpSpPr>
          <p:cNvPr id="5" name="组合 4">
            <a:extLst>
              <a:ext uri="{FF2B5EF4-FFF2-40B4-BE49-F238E27FC236}">
                <a16:creationId xmlns:a16="http://schemas.microsoft.com/office/drawing/2014/main" id="{EEB9BD8E-CD34-E0D8-3EE5-CE8252F4BAA5}"/>
              </a:ext>
            </a:extLst>
          </p:cNvPr>
          <p:cNvGrpSpPr/>
          <p:nvPr/>
        </p:nvGrpSpPr>
        <p:grpSpPr>
          <a:xfrm>
            <a:off x="2733705" y="2996615"/>
            <a:ext cx="5156755" cy="3726773"/>
            <a:chOff x="2187795" y="3078501"/>
            <a:chExt cx="5156755" cy="3726773"/>
          </a:xfrm>
        </p:grpSpPr>
        <p:sp>
          <p:nvSpPr>
            <p:cNvPr id="176" name="Rectangle 5">
              <a:extLst>
                <a:ext uri="{FF2B5EF4-FFF2-40B4-BE49-F238E27FC236}">
                  <a16:creationId xmlns:a16="http://schemas.microsoft.com/office/drawing/2014/main" id="{DFD0B332-F904-6611-878A-6519641F4F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59053" y="5511800"/>
              <a:ext cx="209201" cy="381338"/>
            </a:xfrm>
            <a:prstGeom prst="rect">
              <a:avLst/>
            </a:prstGeom>
            <a:solidFill>
              <a:srgbClr val="00B0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178" name="Rectangle 7">
              <a:extLst>
                <a:ext uri="{FF2B5EF4-FFF2-40B4-BE49-F238E27FC236}">
                  <a16:creationId xmlns:a16="http://schemas.microsoft.com/office/drawing/2014/main" id="{DF12E279-0D70-2BF0-2976-7C902824EC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13195" y="3420338"/>
              <a:ext cx="180499" cy="379818"/>
            </a:xfrm>
            <a:prstGeom prst="rect">
              <a:avLst/>
            </a:prstGeom>
            <a:solidFill>
              <a:srgbClr val="DE25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180" name="Freeform 27">
              <a:extLst>
                <a:ext uri="{FF2B5EF4-FFF2-40B4-BE49-F238E27FC236}">
                  <a16:creationId xmlns:a16="http://schemas.microsoft.com/office/drawing/2014/main" id="{8A3B39BA-4CA7-3348-DFBC-13FC6F1C338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676124" y="3078501"/>
              <a:ext cx="18000" cy="3726773"/>
            </a:xfrm>
            <a:custGeom>
              <a:avLst/>
              <a:gdLst>
                <a:gd name="T0" fmla="*/ 15 w 15"/>
                <a:gd name="T1" fmla="*/ 42 h 2453"/>
                <a:gd name="T2" fmla="*/ 0 w 15"/>
                <a:gd name="T3" fmla="*/ 56 h 2453"/>
                <a:gd name="T4" fmla="*/ 15 w 15"/>
                <a:gd name="T5" fmla="*/ 112 h 2453"/>
                <a:gd name="T6" fmla="*/ 0 w 15"/>
                <a:gd name="T7" fmla="*/ 154 h 2453"/>
                <a:gd name="T8" fmla="*/ 15 w 15"/>
                <a:gd name="T9" fmla="*/ 167 h 2453"/>
                <a:gd name="T10" fmla="*/ 15 w 15"/>
                <a:gd name="T11" fmla="*/ 237 h 2453"/>
                <a:gd name="T12" fmla="*/ 0 w 15"/>
                <a:gd name="T13" fmla="*/ 251 h 2453"/>
                <a:gd name="T14" fmla="*/ 15 w 15"/>
                <a:gd name="T15" fmla="*/ 307 h 2453"/>
                <a:gd name="T16" fmla="*/ 0 w 15"/>
                <a:gd name="T17" fmla="*/ 348 h 2453"/>
                <a:gd name="T18" fmla="*/ 15 w 15"/>
                <a:gd name="T19" fmla="*/ 362 h 2453"/>
                <a:gd name="T20" fmla="*/ 15 w 15"/>
                <a:gd name="T21" fmla="*/ 432 h 2453"/>
                <a:gd name="T22" fmla="*/ 0 w 15"/>
                <a:gd name="T23" fmla="*/ 446 h 2453"/>
                <a:gd name="T24" fmla="*/ 15 w 15"/>
                <a:gd name="T25" fmla="*/ 501 h 2453"/>
                <a:gd name="T26" fmla="*/ 0 w 15"/>
                <a:gd name="T27" fmla="*/ 543 h 2453"/>
                <a:gd name="T28" fmla="*/ 15 w 15"/>
                <a:gd name="T29" fmla="*/ 557 h 2453"/>
                <a:gd name="T30" fmla="*/ 15 w 15"/>
                <a:gd name="T31" fmla="*/ 627 h 2453"/>
                <a:gd name="T32" fmla="*/ 0 w 15"/>
                <a:gd name="T33" fmla="*/ 641 h 2453"/>
                <a:gd name="T34" fmla="*/ 15 w 15"/>
                <a:gd name="T35" fmla="*/ 696 h 2453"/>
                <a:gd name="T36" fmla="*/ 0 w 15"/>
                <a:gd name="T37" fmla="*/ 738 h 2453"/>
                <a:gd name="T38" fmla="*/ 15 w 15"/>
                <a:gd name="T39" fmla="*/ 752 h 2453"/>
                <a:gd name="T40" fmla="*/ 15 w 15"/>
                <a:gd name="T41" fmla="*/ 822 h 2453"/>
                <a:gd name="T42" fmla="*/ 0 w 15"/>
                <a:gd name="T43" fmla="*/ 835 h 2453"/>
                <a:gd name="T44" fmla="*/ 15 w 15"/>
                <a:gd name="T45" fmla="*/ 891 h 2453"/>
                <a:gd name="T46" fmla="*/ 0 w 15"/>
                <a:gd name="T47" fmla="*/ 933 h 2453"/>
                <a:gd name="T48" fmla="*/ 15 w 15"/>
                <a:gd name="T49" fmla="*/ 947 h 2453"/>
                <a:gd name="T50" fmla="*/ 15 w 15"/>
                <a:gd name="T51" fmla="*/ 1016 h 2453"/>
                <a:gd name="T52" fmla="*/ 0 w 15"/>
                <a:gd name="T53" fmla="*/ 1030 h 2453"/>
                <a:gd name="T54" fmla="*/ 15 w 15"/>
                <a:gd name="T55" fmla="*/ 1086 h 2453"/>
                <a:gd name="T56" fmla="*/ 0 w 15"/>
                <a:gd name="T57" fmla="*/ 1127 h 2453"/>
                <a:gd name="T58" fmla="*/ 15 w 15"/>
                <a:gd name="T59" fmla="*/ 1141 h 2453"/>
                <a:gd name="T60" fmla="*/ 15 w 15"/>
                <a:gd name="T61" fmla="*/ 1211 h 2453"/>
                <a:gd name="T62" fmla="*/ 0 w 15"/>
                <a:gd name="T63" fmla="*/ 1225 h 2453"/>
                <a:gd name="T64" fmla="*/ 15 w 15"/>
                <a:gd name="T65" fmla="*/ 1281 h 2453"/>
                <a:gd name="T66" fmla="*/ 0 w 15"/>
                <a:gd name="T67" fmla="*/ 1322 h 2453"/>
                <a:gd name="T68" fmla="*/ 15 w 15"/>
                <a:gd name="T69" fmla="*/ 1336 h 2453"/>
                <a:gd name="T70" fmla="*/ 15 w 15"/>
                <a:gd name="T71" fmla="*/ 1406 h 2453"/>
                <a:gd name="T72" fmla="*/ 0 w 15"/>
                <a:gd name="T73" fmla="*/ 1420 h 2453"/>
                <a:gd name="T74" fmla="*/ 15 w 15"/>
                <a:gd name="T75" fmla="*/ 1475 h 2453"/>
                <a:gd name="T76" fmla="*/ 0 w 15"/>
                <a:gd name="T77" fmla="*/ 1517 h 2453"/>
                <a:gd name="T78" fmla="*/ 15 w 15"/>
                <a:gd name="T79" fmla="*/ 1531 h 2453"/>
                <a:gd name="T80" fmla="*/ 15 w 15"/>
                <a:gd name="T81" fmla="*/ 1601 h 2453"/>
                <a:gd name="T82" fmla="*/ 0 w 15"/>
                <a:gd name="T83" fmla="*/ 1615 h 2453"/>
                <a:gd name="T84" fmla="*/ 15 w 15"/>
                <a:gd name="T85" fmla="*/ 1670 h 2453"/>
                <a:gd name="T86" fmla="*/ 0 w 15"/>
                <a:gd name="T87" fmla="*/ 1712 h 2453"/>
                <a:gd name="T88" fmla="*/ 15 w 15"/>
                <a:gd name="T89" fmla="*/ 1726 h 2453"/>
                <a:gd name="T90" fmla="*/ 15 w 15"/>
                <a:gd name="T91" fmla="*/ 1795 h 2453"/>
                <a:gd name="T92" fmla="*/ 0 w 15"/>
                <a:gd name="T93" fmla="*/ 1809 h 2453"/>
                <a:gd name="T94" fmla="*/ 15 w 15"/>
                <a:gd name="T95" fmla="*/ 1865 h 2453"/>
                <a:gd name="T96" fmla="*/ 0 w 15"/>
                <a:gd name="T97" fmla="*/ 1907 h 2453"/>
                <a:gd name="T98" fmla="*/ 15 w 15"/>
                <a:gd name="T99" fmla="*/ 1921 h 2453"/>
                <a:gd name="T100" fmla="*/ 15 w 15"/>
                <a:gd name="T101" fmla="*/ 1990 h 2453"/>
                <a:gd name="T102" fmla="*/ 0 w 15"/>
                <a:gd name="T103" fmla="*/ 2004 h 2453"/>
                <a:gd name="T104" fmla="*/ 15 w 15"/>
                <a:gd name="T105" fmla="*/ 2060 h 2453"/>
                <a:gd name="T106" fmla="*/ 0 w 15"/>
                <a:gd name="T107" fmla="*/ 2102 h 2453"/>
                <a:gd name="T108" fmla="*/ 15 w 15"/>
                <a:gd name="T109" fmla="*/ 2116 h 2453"/>
                <a:gd name="T110" fmla="*/ 15 w 15"/>
                <a:gd name="T111" fmla="*/ 2185 h 2453"/>
                <a:gd name="T112" fmla="*/ 0 w 15"/>
                <a:gd name="T113" fmla="*/ 2199 h 2453"/>
                <a:gd name="T114" fmla="*/ 15 w 15"/>
                <a:gd name="T115" fmla="*/ 2254 h 2453"/>
                <a:gd name="T116" fmla="*/ 0 w 15"/>
                <a:gd name="T117" fmla="*/ 2296 h 2453"/>
                <a:gd name="T118" fmla="*/ 15 w 15"/>
                <a:gd name="T119" fmla="*/ 2310 h 2453"/>
                <a:gd name="T120" fmla="*/ 15 w 15"/>
                <a:gd name="T121" fmla="*/ 2380 h 2453"/>
                <a:gd name="T122" fmla="*/ 0 w 15"/>
                <a:gd name="T123" fmla="*/ 2394 h 2453"/>
                <a:gd name="T124" fmla="*/ 15 w 15"/>
                <a:gd name="T125" fmla="*/ 2449 h 24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5" h="2453">
                  <a:moveTo>
                    <a:pt x="15" y="0"/>
                  </a:moveTo>
                  <a:lnTo>
                    <a:pt x="15" y="14"/>
                  </a:lnTo>
                  <a:lnTo>
                    <a:pt x="0" y="14"/>
                  </a:lnTo>
                  <a:lnTo>
                    <a:pt x="0" y="0"/>
                  </a:lnTo>
                  <a:lnTo>
                    <a:pt x="15" y="0"/>
                  </a:lnTo>
                  <a:close/>
                  <a:moveTo>
                    <a:pt x="15" y="28"/>
                  </a:moveTo>
                  <a:lnTo>
                    <a:pt x="15" y="42"/>
                  </a:lnTo>
                  <a:lnTo>
                    <a:pt x="0" y="42"/>
                  </a:lnTo>
                  <a:lnTo>
                    <a:pt x="0" y="28"/>
                  </a:lnTo>
                  <a:lnTo>
                    <a:pt x="15" y="28"/>
                  </a:lnTo>
                  <a:close/>
                  <a:moveTo>
                    <a:pt x="15" y="56"/>
                  </a:moveTo>
                  <a:lnTo>
                    <a:pt x="15" y="70"/>
                  </a:lnTo>
                  <a:lnTo>
                    <a:pt x="0" y="70"/>
                  </a:lnTo>
                  <a:lnTo>
                    <a:pt x="0" y="56"/>
                  </a:lnTo>
                  <a:lnTo>
                    <a:pt x="15" y="56"/>
                  </a:lnTo>
                  <a:close/>
                  <a:moveTo>
                    <a:pt x="15" y="84"/>
                  </a:moveTo>
                  <a:lnTo>
                    <a:pt x="15" y="98"/>
                  </a:lnTo>
                  <a:lnTo>
                    <a:pt x="0" y="98"/>
                  </a:lnTo>
                  <a:lnTo>
                    <a:pt x="0" y="84"/>
                  </a:lnTo>
                  <a:lnTo>
                    <a:pt x="15" y="84"/>
                  </a:lnTo>
                  <a:close/>
                  <a:moveTo>
                    <a:pt x="15" y="112"/>
                  </a:moveTo>
                  <a:lnTo>
                    <a:pt x="15" y="126"/>
                  </a:lnTo>
                  <a:lnTo>
                    <a:pt x="0" y="126"/>
                  </a:lnTo>
                  <a:lnTo>
                    <a:pt x="0" y="112"/>
                  </a:lnTo>
                  <a:lnTo>
                    <a:pt x="15" y="112"/>
                  </a:lnTo>
                  <a:close/>
                  <a:moveTo>
                    <a:pt x="15" y="140"/>
                  </a:moveTo>
                  <a:lnTo>
                    <a:pt x="15" y="154"/>
                  </a:lnTo>
                  <a:lnTo>
                    <a:pt x="0" y="154"/>
                  </a:lnTo>
                  <a:lnTo>
                    <a:pt x="0" y="140"/>
                  </a:lnTo>
                  <a:lnTo>
                    <a:pt x="15" y="140"/>
                  </a:lnTo>
                  <a:close/>
                  <a:moveTo>
                    <a:pt x="15" y="167"/>
                  </a:moveTo>
                  <a:lnTo>
                    <a:pt x="15" y="181"/>
                  </a:lnTo>
                  <a:lnTo>
                    <a:pt x="0" y="181"/>
                  </a:lnTo>
                  <a:lnTo>
                    <a:pt x="0" y="167"/>
                  </a:lnTo>
                  <a:lnTo>
                    <a:pt x="15" y="167"/>
                  </a:lnTo>
                  <a:close/>
                  <a:moveTo>
                    <a:pt x="15" y="195"/>
                  </a:moveTo>
                  <a:lnTo>
                    <a:pt x="15" y="209"/>
                  </a:lnTo>
                  <a:lnTo>
                    <a:pt x="0" y="209"/>
                  </a:lnTo>
                  <a:lnTo>
                    <a:pt x="0" y="195"/>
                  </a:lnTo>
                  <a:lnTo>
                    <a:pt x="15" y="195"/>
                  </a:lnTo>
                  <a:close/>
                  <a:moveTo>
                    <a:pt x="15" y="223"/>
                  </a:moveTo>
                  <a:lnTo>
                    <a:pt x="15" y="237"/>
                  </a:lnTo>
                  <a:lnTo>
                    <a:pt x="0" y="237"/>
                  </a:lnTo>
                  <a:lnTo>
                    <a:pt x="0" y="223"/>
                  </a:lnTo>
                  <a:lnTo>
                    <a:pt x="15" y="223"/>
                  </a:lnTo>
                  <a:close/>
                  <a:moveTo>
                    <a:pt x="15" y="251"/>
                  </a:moveTo>
                  <a:lnTo>
                    <a:pt x="15" y="265"/>
                  </a:lnTo>
                  <a:lnTo>
                    <a:pt x="0" y="265"/>
                  </a:lnTo>
                  <a:lnTo>
                    <a:pt x="0" y="251"/>
                  </a:lnTo>
                  <a:lnTo>
                    <a:pt x="15" y="251"/>
                  </a:lnTo>
                  <a:close/>
                  <a:moveTo>
                    <a:pt x="15" y="279"/>
                  </a:moveTo>
                  <a:lnTo>
                    <a:pt x="15" y="293"/>
                  </a:lnTo>
                  <a:lnTo>
                    <a:pt x="0" y="293"/>
                  </a:lnTo>
                  <a:lnTo>
                    <a:pt x="0" y="279"/>
                  </a:lnTo>
                  <a:lnTo>
                    <a:pt x="15" y="279"/>
                  </a:lnTo>
                  <a:close/>
                  <a:moveTo>
                    <a:pt x="15" y="307"/>
                  </a:moveTo>
                  <a:lnTo>
                    <a:pt x="15" y="321"/>
                  </a:lnTo>
                  <a:lnTo>
                    <a:pt x="0" y="321"/>
                  </a:lnTo>
                  <a:lnTo>
                    <a:pt x="0" y="307"/>
                  </a:lnTo>
                  <a:lnTo>
                    <a:pt x="15" y="307"/>
                  </a:lnTo>
                  <a:close/>
                  <a:moveTo>
                    <a:pt x="15" y="334"/>
                  </a:moveTo>
                  <a:lnTo>
                    <a:pt x="15" y="348"/>
                  </a:lnTo>
                  <a:lnTo>
                    <a:pt x="0" y="348"/>
                  </a:lnTo>
                  <a:lnTo>
                    <a:pt x="0" y="334"/>
                  </a:lnTo>
                  <a:lnTo>
                    <a:pt x="15" y="334"/>
                  </a:lnTo>
                  <a:close/>
                  <a:moveTo>
                    <a:pt x="15" y="362"/>
                  </a:moveTo>
                  <a:lnTo>
                    <a:pt x="15" y="376"/>
                  </a:lnTo>
                  <a:lnTo>
                    <a:pt x="0" y="376"/>
                  </a:lnTo>
                  <a:lnTo>
                    <a:pt x="0" y="362"/>
                  </a:lnTo>
                  <a:lnTo>
                    <a:pt x="15" y="362"/>
                  </a:lnTo>
                  <a:close/>
                  <a:moveTo>
                    <a:pt x="15" y="390"/>
                  </a:moveTo>
                  <a:lnTo>
                    <a:pt x="15" y="404"/>
                  </a:lnTo>
                  <a:lnTo>
                    <a:pt x="0" y="404"/>
                  </a:lnTo>
                  <a:lnTo>
                    <a:pt x="0" y="390"/>
                  </a:lnTo>
                  <a:lnTo>
                    <a:pt x="15" y="390"/>
                  </a:lnTo>
                  <a:close/>
                  <a:moveTo>
                    <a:pt x="15" y="418"/>
                  </a:moveTo>
                  <a:lnTo>
                    <a:pt x="15" y="432"/>
                  </a:lnTo>
                  <a:lnTo>
                    <a:pt x="0" y="432"/>
                  </a:lnTo>
                  <a:lnTo>
                    <a:pt x="0" y="418"/>
                  </a:lnTo>
                  <a:lnTo>
                    <a:pt x="15" y="418"/>
                  </a:lnTo>
                  <a:close/>
                  <a:moveTo>
                    <a:pt x="15" y="446"/>
                  </a:moveTo>
                  <a:lnTo>
                    <a:pt x="15" y="460"/>
                  </a:lnTo>
                  <a:lnTo>
                    <a:pt x="0" y="460"/>
                  </a:lnTo>
                  <a:lnTo>
                    <a:pt x="0" y="446"/>
                  </a:lnTo>
                  <a:lnTo>
                    <a:pt x="15" y="446"/>
                  </a:lnTo>
                  <a:close/>
                  <a:moveTo>
                    <a:pt x="15" y="474"/>
                  </a:moveTo>
                  <a:lnTo>
                    <a:pt x="15" y="488"/>
                  </a:lnTo>
                  <a:lnTo>
                    <a:pt x="0" y="488"/>
                  </a:lnTo>
                  <a:lnTo>
                    <a:pt x="0" y="474"/>
                  </a:lnTo>
                  <a:lnTo>
                    <a:pt x="15" y="474"/>
                  </a:lnTo>
                  <a:close/>
                  <a:moveTo>
                    <a:pt x="15" y="501"/>
                  </a:moveTo>
                  <a:lnTo>
                    <a:pt x="15" y="515"/>
                  </a:lnTo>
                  <a:lnTo>
                    <a:pt x="0" y="515"/>
                  </a:lnTo>
                  <a:lnTo>
                    <a:pt x="0" y="501"/>
                  </a:lnTo>
                  <a:lnTo>
                    <a:pt x="15" y="501"/>
                  </a:lnTo>
                  <a:close/>
                  <a:moveTo>
                    <a:pt x="15" y="529"/>
                  </a:moveTo>
                  <a:lnTo>
                    <a:pt x="15" y="543"/>
                  </a:lnTo>
                  <a:lnTo>
                    <a:pt x="0" y="543"/>
                  </a:lnTo>
                  <a:lnTo>
                    <a:pt x="0" y="529"/>
                  </a:lnTo>
                  <a:lnTo>
                    <a:pt x="15" y="529"/>
                  </a:lnTo>
                  <a:close/>
                  <a:moveTo>
                    <a:pt x="15" y="557"/>
                  </a:moveTo>
                  <a:lnTo>
                    <a:pt x="15" y="571"/>
                  </a:lnTo>
                  <a:lnTo>
                    <a:pt x="0" y="571"/>
                  </a:lnTo>
                  <a:lnTo>
                    <a:pt x="0" y="557"/>
                  </a:lnTo>
                  <a:lnTo>
                    <a:pt x="15" y="557"/>
                  </a:lnTo>
                  <a:close/>
                  <a:moveTo>
                    <a:pt x="15" y="585"/>
                  </a:moveTo>
                  <a:lnTo>
                    <a:pt x="15" y="599"/>
                  </a:lnTo>
                  <a:lnTo>
                    <a:pt x="0" y="599"/>
                  </a:lnTo>
                  <a:lnTo>
                    <a:pt x="0" y="585"/>
                  </a:lnTo>
                  <a:lnTo>
                    <a:pt x="15" y="585"/>
                  </a:lnTo>
                  <a:close/>
                  <a:moveTo>
                    <a:pt x="15" y="613"/>
                  </a:moveTo>
                  <a:lnTo>
                    <a:pt x="15" y="627"/>
                  </a:lnTo>
                  <a:lnTo>
                    <a:pt x="0" y="627"/>
                  </a:lnTo>
                  <a:lnTo>
                    <a:pt x="0" y="613"/>
                  </a:lnTo>
                  <a:lnTo>
                    <a:pt x="15" y="613"/>
                  </a:lnTo>
                  <a:close/>
                  <a:moveTo>
                    <a:pt x="15" y="641"/>
                  </a:moveTo>
                  <a:lnTo>
                    <a:pt x="15" y="655"/>
                  </a:lnTo>
                  <a:lnTo>
                    <a:pt x="0" y="655"/>
                  </a:lnTo>
                  <a:lnTo>
                    <a:pt x="0" y="641"/>
                  </a:lnTo>
                  <a:lnTo>
                    <a:pt x="15" y="641"/>
                  </a:lnTo>
                  <a:close/>
                  <a:moveTo>
                    <a:pt x="15" y="668"/>
                  </a:moveTo>
                  <a:lnTo>
                    <a:pt x="15" y="682"/>
                  </a:lnTo>
                  <a:lnTo>
                    <a:pt x="0" y="682"/>
                  </a:lnTo>
                  <a:lnTo>
                    <a:pt x="0" y="668"/>
                  </a:lnTo>
                  <a:lnTo>
                    <a:pt x="15" y="668"/>
                  </a:lnTo>
                  <a:close/>
                  <a:moveTo>
                    <a:pt x="15" y="696"/>
                  </a:moveTo>
                  <a:lnTo>
                    <a:pt x="15" y="710"/>
                  </a:lnTo>
                  <a:lnTo>
                    <a:pt x="0" y="710"/>
                  </a:lnTo>
                  <a:lnTo>
                    <a:pt x="0" y="696"/>
                  </a:lnTo>
                  <a:lnTo>
                    <a:pt x="15" y="696"/>
                  </a:lnTo>
                  <a:close/>
                  <a:moveTo>
                    <a:pt x="15" y="724"/>
                  </a:moveTo>
                  <a:lnTo>
                    <a:pt x="15" y="738"/>
                  </a:lnTo>
                  <a:lnTo>
                    <a:pt x="0" y="738"/>
                  </a:lnTo>
                  <a:lnTo>
                    <a:pt x="0" y="724"/>
                  </a:lnTo>
                  <a:lnTo>
                    <a:pt x="15" y="724"/>
                  </a:lnTo>
                  <a:close/>
                  <a:moveTo>
                    <a:pt x="15" y="752"/>
                  </a:moveTo>
                  <a:lnTo>
                    <a:pt x="15" y="766"/>
                  </a:lnTo>
                  <a:lnTo>
                    <a:pt x="0" y="766"/>
                  </a:lnTo>
                  <a:lnTo>
                    <a:pt x="0" y="752"/>
                  </a:lnTo>
                  <a:lnTo>
                    <a:pt x="15" y="752"/>
                  </a:lnTo>
                  <a:close/>
                  <a:moveTo>
                    <a:pt x="15" y="780"/>
                  </a:moveTo>
                  <a:lnTo>
                    <a:pt x="15" y="793"/>
                  </a:lnTo>
                  <a:lnTo>
                    <a:pt x="0" y="793"/>
                  </a:lnTo>
                  <a:lnTo>
                    <a:pt x="0" y="780"/>
                  </a:lnTo>
                  <a:lnTo>
                    <a:pt x="15" y="780"/>
                  </a:lnTo>
                  <a:close/>
                  <a:moveTo>
                    <a:pt x="15" y="808"/>
                  </a:moveTo>
                  <a:lnTo>
                    <a:pt x="15" y="822"/>
                  </a:lnTo>
                  <a:lnTo>
                    <a:pt x="0" y="822"/>
                  </a:lnTo>
                  <a:lnTo>
                    <a:pt x="0" y="808"/>
                  </a:lnTo>
                  <a:lnTo>
                    <a:pt x="15" y="808"/>
                  </a:lnTo>
                  <a:close/>
                  <a:moveTo>
                    <a:pt x="15" y="835"/>
                  </a:moveTo>
                  <a:lnTo>
                    <a:pt x="15" y="849"/>
                  </a:lnTo>
                  <a:lnTo>
                    <a:pt x="0" y="849"/>
                  </a:lnTo>
                  <a:lnTo>
                    <a:pt x="0" y="835"/>
                  </a:lnTo>
                  <a:lnTo>
                    <a:pt x="15" y="835"/>
                  </a:lnTo>
                  <a:close/>
                  <a:moveTo>
                    <a:pt x="15" y="863"/>
                  </a:moveTo>
                  <a:lnTo>
                    <a:pt x="15" y="877"/>
                  </a:lnTo>
                  <a:lnTo>
                    <a:pt x="0" y="877"/>
                  </a:lnTo>
                  <a:lnTo>
                    <a:pt x="0" y="863"/>
                  </a:lnTo>
                  <a:lnTo>
                    <a:pt x="15" y="863"/>
                  </a:lnTo>
                  <a:close/>
                  <a:moveTo>
                    <a:pt x="15" y="891"/>
                  </a:moveTo>
                  <a:lnTo>
                    <a:pt x="15" y="905"/>
                  </a:lnTo>
                  <a:lnTo>
                    <a:pt x="0" y="905"/>
                  </a:lnTo>
                  <a:lnTo>
                    <a:pt x="0" y="891"/>
                  </a:lnTo>
                  <a:lnTo>
                    <a:pt x="15" y="891"/>
                  </a:lnTo>
                  <a:close/>
                  <a:moveTo>
                    <a:pt x="15" y="919"/>
                  </a:moveTo>
                  <a:lnTo>
                    <a:pt x="15" y="933"/>
                  </a:lnTo>
                  <a:lnTo>
                    <a:pt x="0" y="933"/>
                  </a:lnTo>
                  <a:lnTo>
                    <a:pt x="0" y="919"/>
                  </a:lnTo>
                  <a:lnTo>
                    <a:pt x="15" y="919"/>
                  </a:lnTo>
                  <a:close/>
                  <a:moveTo>
                    <a:pt x="15" y="947"/>
                  </a:moveTo>
                  <a:lnTo>
                    <a:pt x="15" y="960"/>
                  </a:lnTo>
                  <a:lnTo>
                    <a:pt x="0" y="960"/>
                  </a:lnTo>
                  <a:lnTo>
                    <a:pt x="0" y="947"/>
                  </a:lnTo>
                  <a:lnTo>
                    <a:pt x="15" y="947"/>
                  </a:lnTo>
                  <a:close/>
                  <a:moveTo>
                    <a:pt x="15" y="974"/>
                  </a:moveTo>
                  <a:lnTo>
                    <a:pt x="15" y="988"/>
                  </a:lnTo>
                  <a:lnTo>
                    <a:pt x="0" y="988"/>
                  </a:lnTo>
                  <a:lnTo>
                    <a:pt x="0" y="974"/>
                  </a:lnTo>
                  <a:lnTo>
                    <a:pt x="15" y="974"/>
                  </a:lnTo>
                  <a:close/>
                  <a:moveTo>
                    <a:pt x="15" y="1002"/>
                  </a:moveTo>
                  <a:lnTo>
                    <a:pt x="15" y="1016"/>
                  </a:lnTo>
                  <a:lnTo>
                    <a:pt x="0" y="1016"/>
                  </a:lnTo>
                  <a:lnTo>
                    <a:pt x="0" y="1002"/>
                  </a:lnTo>
                  <a:lnTo>
                    <a:pt x="15" y="1002"/>
                  </a:lnTo>
                  <a:close/>
                  <a:moveTo>
                    <a:pt x="15" y="1030"/>
                  </a:moveTo>
                  <a:lnTo>
                    <a:pt x="15" y="1044"/>
                  </a:lnTo>
                  <a:lnTo>
                    <a:pt x="0" y="1044"/>
                  </a:lnTo>
                  <a:lnTo>
                    <a:pt x="0" y="1030"/>
                  </a:lnTo>
                  <a:lnTo>
                    <a:pt x="15" y="1030"/>
                  </a:lnTo>
                  <a:close/>
                  <a:moveTo>
                    <a:pt x="15" y="1058"/>
                  </a:moveTo>
                  <a:lnTo>
                    <a:pt x="15" y="1072"/>
                  </a:lnTo>
                  <a:lnTo>
                    <a:pt x="0" y="1072"/>
                  </a:lnTo>
                  <a:lnTo>
                    <a:pt x="0" y="1058"/>
                  </a:lnTo>
                  <a:lnTo>
                    <a:pt x="15" y="1058"/>
                  </a:lnTo>
                  <a:close/>
                  <a:moveTo>
                    <a:pt x="15" y="1086"/>
                  </a:moveTo>
                  <a:lnTo>
                    <a:pt x="15" y="1100"/>
                  </a:lnTo>
                  <a:lnTo>
                    <a:pt x="0" y="1100"/>
                  </a:lnTo>
                  <a:lnTo>
                    <a:pt x="0" y="1086"/>
                  </a:lnTo>
                  <a:lnTo>
                    <a:pt x="15" y="1086"/>
                  </a:lnTo>
                  <a:close/>
                  <a:moveTo>
                    <a:pt x="15" y="1114"/>
                  </a:moveTo>
                  <a:lnTo>
                    <a:pt x="15" y="1127"/>
                  </a:lnTo>
                  <a:lnTo>
                    <a:pt x="0" y="1127"/>
                  </a:lnTo>
                  <a:lnTo>
                    <a:pt x="0" y="1114"/>
                  </a:lnTo>
                  <a:lnTo>
                    <a:pt x="15" y="1114"/>
                  </a:lnTo>
                  <a:close/>
                  <a:moveTo>
                    <a:pt x="15" y="1141"/>
                  </a:moveTo>
                  <a:lnTo>
                    <a:pt x="15" y="1155"/>
                  </a:lnTo>
                  <a:lnTo>
                    <a:pt x="0" y="1155"/>
                  </a:lnTo>
                  <a:lnTo>
                    <a:pt x="0" y="1141"/>
                  </a:lnTo>
                  <a:lnTo>
                    <a:pt x="15" y="1141"/>
                  </a:lnTo>
                  <a:close/>
                  <a:moveTo>
                    <a:pt x="15" y="1169"/>
                  </a:moveTo>
                  <a:lnTo>
                    <a:pt x="15" y="1183"/>
                  </a:lnTo>
                  <a:lnTo>
                    <a:pt x="0" y="1183"/>
                  </a:lnTo>
                  <a:lnTo>
                    <a:pt x="0" y="1169"/>
                  </a:lnTo>
                  <a:lnTo>
                    <a:pt x="15" y="1169"/>
                  </a:lnTo>
                  <a:close/>
                  <a:moveTo>
                    <a:pt x="15" y="1197"/>
                  </a:moveTo>
                  <a:lnTo>
                    <a:pt x="15" y="1211"/>
                  </a:lnTo>
                  <a:lnTo>
                    <a:pt x="0" y="1211"/>
                  </a:lnTo>
                  <a:lnTo>
                    <a:pt x="0" y="1197"/>
                  </a:lnTo>
                  <a:lnTo>
                    <a:pt x="15" y="1197"/>
                  </a:lnTo>
                  <a:close/>
                  <a:moveTo>
                    <a:pt x="15" y="1225"/>
                  </a:moveTo>
                  <a:lnTo>
                    <a:pt x="15" y="1239"/>
                  </a:lnTo>
                  <a:lnTo>
                    <a:pt x="0" y="1239"/>
                  </a:lnTo>
                  <a:lnTo>
                    <a:pt x="0" y="1225"/>
                  </a:lnTo>
                  <a:lnTo>
                    <a:pt x="15" y="1225"/>
                  </a:lnTo>
                  <a:close/>
                  <a:moveTo>
                    <a:pt x="15" y="1253"/>
                  </a:moveTo>
                  <a:lnTo>
                    <a:pt x="15" y="1267"/>
                  </a:lnTo>
                  <a:lnTo>
                    <a:pt x="0" y="1267"/>
                  </a:lnTo>
                  <a:lnTo>
                    <a:pt x="0" y="1253"/>
                  </a:lnTo>
                  <a:lnTo>
                    <a:pt x="15" y="1253"/>
                  </a:lnTo>
                  <a:close/>
                  <a:moveTo>
                    <a:pt x="15" y="1281"/>
                  </a:moveTo>
                  <a:lnTo>
                    <a:pt x="15" y="1294"/>
                  </a:lnTo>
                  <a:lnTo>
                    <a:pt x="0" y="1294"/>
                  </a:lnTo>
                  <a:lnTo>
                    <a:pt x="0" y="1281"/>
                  </a:lnTo>
                  <a:lnTo>
                    <a:pt x="15" y="1281"/>
                  </a:lnTo>
                  <a:close/>
                  <a:moveTo>
                    <a:pt x="15" y="1308"/>
                  </a:moveTo>
                  <a:lnTo>
                    <a:pt x="15" y="1322"/>
                  </a:lnTo>
                  <a:lnTo>
                    <a:pt x="0" y="1322"/>
                  </a:lnTo>
                  <a:lnTo>
                    <a:pt x="0" y="1308"/>
                  </a:lnTo>
                  <a:lnTo>
                    <a:pt x="15" y="1308"/>
                  </a:lnTo>
                  <a:close/>
                  <a:moveTo>
                    <a:pt x="15" y="1336"/>
                  </a:moveTo>
                  <a:lnTo>
                    <a:pt x="15" y="1350"/>
                  </a:lnTo>
                  <a:lnTo>
                    <a:pt x="0" y="1350"/>
                  </a:lnTo>
                  <a:lnTo>
                    <a:pt x="0" y="1336"/>
                  </a:lnTo>
                  <a:lnTo>
                    <a:pt x="15" y="1336"/>
                  </a:lnTo>
                  <a:close/>
                  <a:moveTo>
                    <a:pt x="15" y="1364"/>
                  </a:moveTo>
                  <a:lnTo>
                    <a:pt x="15" y="1378"/>
                  </a:lnTo>
                  <a:lnTo>
                    <a:pt x="0" y="1378"/>
                  </a:lnTo>
                  <a:lnTo>
                    <a:pt x="0" y="1364"/>
                  </a:lnTo>
                  <a:lnTo>
                    <a:pt x="15" y="1364"/>
                  </a:lnTo>
                  <a:close/>
                  <a:moveTo>
                    <a:pt x="15" y="1392"/>
                  </a:moveTo>
                  <a:lnTo>
                    <a:pt x="15" y="1406"/>
                  </a:lnTo>
                  <a:lnTo>
                    <a:pt x="0" y="1406"/>
                  </a:lnTo>
                  <a:lnTo>
                    <a:pt x="0" y="1392"/>
                  </a:lnTo>
                  <a:lnTo>
                    <a:pt x="15" y="1392"/>
                  </a:lnTo>
                  <a:close/>
                  <a:moveTo>
                    <a:pt x="15" y="1420"/>
                  </a:moveTo>
                  <a:lnTo>
                    <a:pt x="15" y="1434"/>
                  </a:lnTo>
                  <a:lnTo>
                    <a:pt x="0" y="1434"/>
                  </a:lnTo>
                  <a:lnTo>
                    <a:pt x="0" y="1420"/>
                  </a:lnTo>
                  <a:lnTo>
                    <a:pt x="15" y="1420"/>
                  </a:lnTo>
                  <a:close/>
                  <a:moveTo>
                    <a:pt x="15" y="1448"/>
                  </a:moveTo>
                  <a:lnTo>
                    <a:pt x="15" y="1461"/>
                  </a:lnTo>
                  <a:lnTo>
                    <a:pt x="0" y="1461"/>
                  </a:lnTo>
                  <a:lnTo>
                    <a:pt x="0" y="1448"/>
                  </a:lnTo>
                  <a:lnTo>
                    <a:pt x="15" y="1448"/>
                  </a:lnTo>
                  <a:close/>
                  <a:moveTo>
                    <a:pt x="15" y="1475"/>
                  </a:moveTo>
                  <a:lnTo>
                    <a:pt x="15" y="1489"/>
                  </a:lnTo>
                  <a:lnTo>
                    <a:pt x="0" y="1489"/>
                  </a:lnTo>
                  <a:lnTo>
                    <a:pt x="0" y="1475"/>
                  </a:lnTo>
                  <a:lnTo>
                    <a:pt x="15" y="1475"/>
                  </a:lnTo>
                  <a:close/>
                  <a:moveTo>
                    <a:pt x="15" y="1503"/>
                  </a:moveTo>
                  <a:lnTo>
                    <a:pt x="15" y="1517"/>
                  </a:lnTo>
                  <a:lnTo>
                    <a:pt x="0" y="1517"/>
                  </a:lnTo>
                  <a:lnTo>
                    <a:pt x="0" y="1503"/>
                  </a:lnTo>
                  <a:lnTo>
                    <a:pt x="15" y="1503"/>
                  </a:lnTo>
                  <a:close/>
                  <a:moveTo>
                    <a:pt x="15" y="1531"/>
                  </a:moveTo>
                  <a:lnTo>
                    <a:pt x="15" y="1545"/>
                  </a:lnTo>
                  <a:lnTo>
                    <a:pt x="0" y="1545"/>
                  </a:lnTo>
                  <a:lnTo>
                    <a:pt x="0" y="1531"/>
                  </a:lnTo>
                  <a:lnTo>
                    <a:pt x="15" y="1531"/>
                  </a:lnTo>
                  <a:close/>
                  <a:moveTo>
                    <a:pt x="15" y="1559"/>
                  </a:moveTo>
                  <a:lnTo>
                    <a:pt x="15" y="1573"/>
                  </a:lnTo>
                  <a:lnTo>
                    <a:pt x="0" y="1573"/>
                  </a:lnTo>
                  <a:lnTo>
                    <a:pt x="0" y="1559"/>
                  </a:lnTo>
                  <a:lnTo>
                    <a:pt x="15" y="1559"/>
                  </a:lnTo>
                  <a:close/>
                  <a:moveTo>
                    <a:pt x="15" y="1587"/>
                  </a:moveTo>
                  <a:lnTo>
                    <a:pt x="15" y="1601"/>
                  </a:lnTo>
                  <a:lnTo>
                    <a:pt x="0" y="1601"/>
                  </a:lnTo>
                  <a:lnTo>
                    <a:pt x="0" y="1587"/>
                  </a:lnTo>
                  <a:lnTo>
                    <a:pt x="15" y="1587"/>
                  </a:lnTo>
                  <a:close/>
                  <a:moveTo>
                    <a:pt x="15" y="1615"/>
                  </a:moveTo>
                  <a:lnTo>
                    <a:pt x="15" y="1628"/>
                  </a:lnTo>
                  <a:lnTo>
                    <a:pt x="0" y="1628"/>
                  </a:lnTo>
                  <a:lnTo>
                    <a:pt x="0" y="1615"/>
                  </a:lnTo>
                  <a:lnTo>
                    <a:pt x="15" y="1615"/>
                  </a:lnTo>
                  <a:close/>
                  <a:moveTo>
                    <a:pt x="15" y="1642"/>
                  </a:moveTo>
                  <a:lnTo>
                    <a:pt x="15" y="1656"/>
                  </a:lnTo>
                  <a:lnTo>
                    <a:pt x="0" y="1656"/>
                  </a:lnTo>
                  <a:lnTo>
                    <a:pt x="0" y="1642"/>
                  </a:lnTo>
                  <a:lnTo>
                    <a:pt x="15" y="1642"/>
                  </a:lnTo>
                  <a:close/>
                  <a:moveTo>
                    <a:pt x="15" y="1670"/>
                  </a:moveTo>
                  <a:lnTo>
                    <a:pt x="15" y="1684"/>
                  </a:lnTo>
                  <a:lnTo>
                    <a:pt x="0" y="1684"/>
                  </a:lnTo>
                  <a:lnTo>
                    <a:pt x="0" y="1670"/>
                  </a:lnTo>
                  <a:lnTo>
                    <a:pt x="15" y="1670"/>
                  </a:lnTo>
                  <a:close/>
                  <a:moveTo>
                    <a:pt x="15" y="1698"/>
                  </a:moveTo>
                  <a:lnTo>
                    <a:pt x="15" y="1712"/>
                  </a:lnTo>
                  <a:lnTo>
                    <a:pt x="0" y="1712"/>
                  </a:lnTo>
                  <a:lnTo>
                    <a:pt x="0" y="1698"/>
                  </a:lnTo>
                  <a:lnTo>
                    <a:pt x="15" y="1698"/>
                  </a:lnTo>
                  <a:close/>
                  <a:moveTo>
                    <a:pt x="15" y="1726"/>
                  </a:moveTo>
                  <a:lnTo>
                    <a:pt x="15" y="1740"/>
                  </a:lnTo>
                  <a:lnTo>
                    <a:pt x="0" y="1740"/>
                  </a:lnTo>
                  <a:lnTo>
                    <a:pt x="0" y="1726"/>
                  </a:lnTo>
                  <a:lnTo>
                    <a:pt x="15" y="1726"/>
                  </a:lnTo>
                  <a:close/>
                  <a:moveTo>
                    <a:pt x="15" y="1754"/>
                  </a:moveTo>
                  <a:lnTo>
                    <a:pt x="15" y="1768"/>
                  </a:lnTo>
                  <a:lnTo>
                    <a:pt x="0" y="1768"/>
                  </a:lnTo>
                  <a:lnTo>
                    <a:pt x="0" y="1754"/>
                  </a:lnTo>
                  <a:lnTo>
                    <a:pt x="15" y="1754"/>
                  </a:lnTo>
                  <a:close/>
                  <a:moveTo>
                    <a:pt x="15" y="1782"/>
                  </a:moveTo>
                  <a:lnTo>
                    <a:pt x="15" y="1795"/>
                  </a:lnTo>
                  <a:lnTo>
                    <a:pt x="0" y="1795"/>
                  </a:lnTo>
                  <a:lnTo>
                    <a:pt x="0" y="1782"/>
                  </a:lnTo>
                  <a:lnTo>
                    <a:pt x="15" y="1782"/>
                  </a:lnTo>
                  <a:close/>
                  <a:moveTo>
                    <a:pt x="15" y="1809"/>
                  </a:moveTo>
                  <a:lnTo>
                    <a:pt x="15" y="1823"/>
                  </a:lnTo>
                  <a:lnTo>
                    <a:pt x="0" y="1823"/>
                  </a:lnTo>
                  <a:lnTo>
                    <a:pt x="0" y="1809"/>
                  </a:lnTo>
                  <a:lnTo>
                    <a:pt x="15" y="1809"/>
                  </a:lnTo>
                  <a:close/>
                  <a:moveTo>
                    <a:pt x="15" y="1837"/>
                  </a:moveTo>
                  <a:lnTo>
                    <a:pt x="15" y="1851"/>
                  </a:lnTo>
                  <a:lnTo>
                    <a:pt x="0" y="1851"/>
                  </a:lnTo>
                  <a:lnTo>
                    <a:pt x="0" y="1837"/>
                  </a:lnTo>
                  <a:lnTo>
                    <a:pt x="15" y="1837"/>
                  </a:lnTo>
                  <a:close/>
                  <a:moveTo>
                    <a:pt x="15" y="1865"/>
                  </a:moveTo>
                  <a:lnTo>
                    <a:pt x="15" y="1879"/>
                  </a:lnTo>
                  <a:lnTo>
                    <a:pt x="0" y="1879"/>
                  </a:lnTo>
                  <a:lnTo>
                    <a:pt x="0" y="1865"/>
                  </a:lnTo>
                  <a:lnTo>
                    <a:pt x="15" y="1865"/>
                  </a:lnTo>
                  <a:close/>
                  <a:moveTo>
                    <a:pt x="15" y="1893"/>
                  </a:moveTo>
                  <a:lnTo>
                    <a:pt x="15" y="1907"/>
                  </a:lnTo>
                  <a:lnTo>
                    <a:pt x="0" y="1907"/>
                  </a:lnTo>
                  <a:lnTo>
                    <a:pt x="0" y="1893"/>
                  </a:lnTo>
                  <a:lnTo>
                    <a:pt x="15" y="1893"/>
                  </a:lnTo>
                  <a:close/>
                  <a:moveTo>
                    <a:pt x="15" y="1921"/>
                  </a:moveTo>
                  <a:lnTo>
                    <a:pt x="15" y="1935"/>
                  </a:lnTo>
                  <a:lnTo>
                    <a:pt x="0" y="1935"/>
                  </a:lnTo>
                  <a:lnTo>
                    <a:pt x="0" y="1921"/>
                  </a:lnTo>
                  <a:lnTo>
                    <a:pt x="15" y="1921"/>
                  </a:lnTo>
                  <a:close/>
                  <a:moveTo>
                    <a:pt x="15" y="1949"/>
                  </a:moveTo>
                  <a:lnTo>
                    <a:pt x="15" y="1962"/>
                  </a:lnTo>
                  <a:lnTo>
                    <a:pt x="0" y="1962"/>
                  </a:lnTo>
                  <a:lnTo>
                    <a:pt x="0" y="1949"/>
                  </a:lnTo>
                  <a:lnTo>
                    <a:pt x="15" y="1949"/>
                  </a:lnTo>
                  <a:close/>
                  <a:moveTo>
                    <a:pt x="15" y="1976"/>
                  </a:moveTo>
                  <a:lnTo>
                    <a:pt x="15" y="1990"/>
                  </a:lnTo>
                  <a:lnTo>
                    <a:pt x="0" y="1990"/>
                  </a:lnTo>
                  <a:lnTo>
                    <a:pt x="0" y="1976"/>
                  </a:lnTo>
                  <a:lnTo>
                    <a:pt x="15" y="1976"/>
                  </a:lnTo>
                  <a:close/>
                  <a:moveTo>
                    <a:pt x="15" y="2004"/>
                  </a:moveTo>
                  <a:lnTo>
                    <a:pt x="15" y="2018"/>
                  </a:lnTo>
                  <a:lnTo>
                    <a:pt x="0" y="2018"/>
                  </a:lnTo>
                  <a:lnTo>
                    <a:pt x="0" y="2004"/>
                  </a:lnTo>
                  <a:lnTo>
                    <a:pt x="15" y="2004"/>
                  </a:lnTo>
                  <a:close/>
                  <a:moveTo>
                    <a:pt x="15" y="2032"/>
                  </a:moveTo>
                  <a:lnTo>
                    <a:pt x="15" y="2046"/>
                  </a:lnTo>
                  <a:lnTo>
                    <a:pt x="0" y="2046"/>
                  </a:lnTo>
                  <a:lnTo>
                    <a:pt x="0" y="2032"/>
                  </a:lnTo>
                  <a:lnTo>
                    <a:pt x="15" y="2032"/>
                  </a:lnTo>
                  <a:close/>
                  <a:moveTo>
                    <a:pt x="15" y="2060"/>
                  </a:moveTo>
                  <a:lnTo>
                    <a:pt x="15" y="2074"/>
                  </a:lnTo>
                  <a:lnTo>
                    <a:pt x="0" y="2074"/>
                  </a:lnTo>
                  <a:lnTo>
                    <a:pt x="0" y="2060"/>
                  </a:lnTo>
                  <a:lnTo>
                    <a:pt x="15" y="2060"/>
                  </a:lnTo>
                  <a:close/>
                  <a:moveTo>
                    <a:pt x="15" y="2087"/>
                  </a:moveTo>
                  <a:lnTo>
                    <a:pt x="15" y="2102"/>
                  </a:lnTo>
                  <a:lnTo>
                    <a:pt x="0" y="2102"/>
                  </a:lnTo>
                  <a:lnTo>
                    <a:pt x="0" y="2087"/>
                  </a:lnTo>
                  <a:lnTo>
                    <a:pt x="15" y="2087"/>
                  </a:lnTo>
                  <a:close/>
                  <a:moveTo>
                    <a:pt x="15" y="2116"/>
                  </a:moveTo>
                  <a:lnTo>
                    <a:pt x="15" y="2129"/>
                  </a:lnTo>
                  <a:lnTo>
                    <a:pt x="0" y="2129"/>
                  </a:lnTo>
                  <a:lnTo>
                    <a:pt x="0" y="2116"/>
                  </a:lnTo>
                  <a:lnTo>
                    <a:pt x="15" y="2116"/>
                  </a:lnTo>
                  <a:close/>
                  <a:moveTo>
                    <a:pt x="15" y="2143"/>
                  </a:moveTo>
                  <a:lnTo>
                    <a:pt x="15" y="2157"/>
                  </a:lnTo>
                  <a:lnTo>
                    <a:pt x="0" y="2157"/>
                  </a:lnTo>
                  <a:lnTo>
                    <a:pt x="0" y="2143"/>
                  </a:lnTo>
                  <a:lnTo>
                    <a:pt x="15" y="2143"/>
                  </a:lnTo>
                  <a:close/>
                  <a:moveTo>
                    <a:pt x="15" y="2171"/>
                  </a:moveTo>
                  <a:lnTo>
                    <a:pt x="15" y="2185"/>
                  </a:lnTo>
                  <a:lnTo>
                    <a:pt x="0" y="2185"/>
                  </a:lnTo>
                  <a:lnTo>
                    <a:pt x="0" y="2171"/>
                  </a:lnTo>
                  <a:lnTo>
                    <a:pt x="15" y="2171"/>
                  </a:lnTo>
                  <a:close/>
                  <a:moveTo>
                    <a:pt x="15" y="2199"/>
                  </a:moveTo>
                  <a:lnTo>
                    <a:pt x="15" y="2213"/>
                  </a:lnTo>
                  <a:lnTo>
                    <a:pt x="0" y="2213"/>
                  </a:lnTo>
                  <a:lnTo>
                    <a:pt x="0" y="2199"/>
                  </a:lnTo>
                  <a:lnTo>
                    <a:pt x="15" y="2199"/>
                  </a:lnTo>
                  <a:close/>
                  <a:moveTo>
                    <a:pt x="15" y="2227"/>
                  </a:moveTo>
                  <a:lnTo>
                    <a:pt x="15" y="2241"/>
                  </a:lnTo>
                  <a:lnTo>
                    <a:pt x="0" y="2241"/>
                  </a:lnTo>
                  <a:lnTo>
                    <a:pt x="0" y="2227"/>
                  </a:lnTo>
                  <a:lnTo>
                    <a:pt x="15" y="2227"/>
                  </a:lnTo>
                  <a:close/>
                  <a:moveTo>
                    <a:pt x="15" y="2254"/>
                  </a:moveTo>
                  <a:lnTo>
                    <a:pt x="15" y="2268"/>
                  </a:lnTo>
                  <a:lnTo>
                    <a:pt x="0" y="2268"/>
                  </a:lnTo>
                  <a:lnTo>
                    <a:pt x="0" y="2254"/>
                  </a:lnTo>
                  <a:lnTo>
                    <a:pt x="15" y="2254"/>
                  </a:lnTo>
                  <a:close/>
                  <a:moveTo>
                    <a:pt x="15" y="2283"/>
                  </a:moveTo>
                  <a:lnTo>
                    <a:pt x="15" y="2296"/>
                  </a:lnTo>
                  <a:lnTo>
                    <a:pt x="0" y="2296"/>
                  </a:lnTo>
                  <a:lnTo>
                    <a:pt x="0" y="2283"/>
                  </a:lnTo>
                  <a:lnTo>
                    <a:pt x="15" y="2283"/>
                  </a:lnTo>
                  <a:close/>
                  <a:moveTo>
                    <a:pt x="15" y="2310"/>
                  </a:moveTo>
                  <a:lnTo>
                    <a:pt x="15" y="2324"/>
                  </a:lnTo>
                  <a:lnTo>
                    <a:pt x="0" y="2324"/>
                  </a:lnTo>
                  <a:lnTo>
                    <a:pt x="0" y="2310"/>
                  </a:lnTo>
                  <a:lnTo>
                    <a:pt x="15" y="2310"/>
                  </a:lnTo>
                  <a:close/>
                  <a:moveTo>
                    <a:pt x="15" y="2338"/>
                  </a:moveTo>
                  <a:lnTo>
                    <a:pt x="15" y="2352"/>
                  </a:lnTo>
                  <a:lnTo>
                    <a:pt x="0" y="2352"/>
                  </a:lnTo>
                  <a:lnTo>
                    <a:pt x="0" y="2338"/>
                  </a:lnTo>
                  <a:lnTo>
                    <a:pt x="15" y="2338"/>
                  </a:lnTo>
                  <a:close/>
                  <a:moveTo>
                    <a:pt x="15" y="2366"/>
                  </a:moveTo>
                  <a:lnTo>
                    <a:pt x="15" y="2380"/>
                  </a:lnTo>
                  <a:lnTo>
                    <a:pt x="0" y="2380"/>
                  </a:lnTo>
                  <a:lnTo>
                    <a:pt x="0" y="2366"/>
                  </a:lnTo>
                  <a:lnTo>
                    <a:pt x="15" y="2366"/>
                  </a:lnTo>
                  <a:close/>
                  <a:moveTo>
                    <a:pt x="15" y="2394"/>
                  </a:moveTo>
                  <a:lnTo>
                    <a:pt x="15" y="2408"/>
                  </a:lnTo>
                  <a:lnTo>
                    <a:pt x="0" y="2408"/>
                  </a:lnTo>
                  <a:lnTo>
                    <a:pt x="0" y="2394"/>
                  </a:lnTo>
                  <a:lnTo>
                    <a:pt x="15" y="2394"/>
                  </a:lnTo>
                  <a:close/>
                  <a:moveTo>
                    <a:pt x="15" y="2421"/>
                  </a:moveTo>
                  <a:lnTo>
                    <a:pt x="15" y="2435"/>
                  </a:lnTo>
                  <a:lnTo>
                    <a:pt x="0" y="2435"/>
                  </a:lnTo>
                  <a:lnTo>
                    <a:pt x="0" y="2421"/>
                  </a:lnTo>
                  <a:lnTo>
                    <a:pt x="15" y="2421"/>
                  </a:lnTo>
                  <a:close/>
                  <a:moveTo>
                    <a:pt x="15" y="2449"/>
                  </a:moveTo>
                  <a:lnTo>
                    <a:pt x="15" y="2453"/>
                  </a:lnTo>
                  <a:lnTo>
                    <a:pt x="0" y="2453"/>
                  </a:lnTo>
                  <a:lnTo>
                    <a:pt x="0" y="2449"/>
                  </a:lnTo>
                  <a:lnTo>
                    <a:pt x="15" y="2449"/>
                  </a:lnTo>
                  <a:close/>
                </a:path>
              </a:pathLst>
            </a:custGeom>
            <a:solidFill>
              <a:srgbClr val="000000"/>
            </a:solidFill>
            <a:ln w="0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181" name="Freeform 28">
              <a:extLst>
                <a:ext uri="{FF2B5EF4-FFF2-40B4-BE49-F238E27FC236}">
                  <a16:creationId xmlns:a16="http://schemas.microsoft.com/office/drawing/2014/main" id="{076E5FCA-6432-80EC-7F05-63B0B4A13F5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264950" y="3078501"/>
              <a:ext cx="18000" cy="3726773"/>
            </a:xfrm>
            <a:custGeom>
              <a:avLst/>
              <a:gdLst>
                <a:gd name="T0" fmla="*/ 14 w 14"/>
                <a:gd name="T1" fmla="*/ 42 h 2453"/>
                <a:gd name="T2" fmla="*/ 0 w 14"/>
                <a:gd name="T3" fmla="*/ 56 h 2453"/>
                <a:gd name="T4" fmla="*/ 14 w 14"/>
                <a:gd name="T5" fmla="*/ 112 h 2453"/>
                <a:gd name="T6" fmla="*/ 0 w 14"/>
                <a:gd name="T7" fmla="*/ 154 h 2453"/>
                <a:gd name="T8" fmla="*/ 14 w 14"/>
                <a:gd name="T9" fmla="*/ 167 h 2453"/>
                <a:gd name="T10" fmla="*/ 14 w 14"/>
                <a:gd name="T11" fmla="*/ 237 h 2453"/>
                <a:gd name="T12" fmla="*/ 0 w 14"/>
                <a:gd name="T13" fmla="*/ 251 h 2453"/>
                <a:gd name="T14" fmla="*/ 14 w 14"/>
                <a:gd name="T15" fmla="*/ 307 h 2453"/>
                <a:gd name="T16" fmla="*/ 0 w 14"/>
                <a:gd name="T17" fmla="*/ 348 h 2453"/>
                <a:gd name="T18" fmla="*/ 14 w 14"/>
                <a:gd name="T19" fmla="*/ 362 h 2453"/>
                <a:gd name="T20" fmla="*/ 14 w 14"/>
                <a:gd name="T21" fmla="*/ 432 h 2453"/>
                <a:gd name="T22" fmla="*/ 0 w 14"/>
                <a:gd name="T23" fmla="*/ 446 h 2453"/>
                <a:gd name="T24" fmla="*/ 14 w 14"/>
                <a:gd name="T25" fmla="*/ 501 h 2453"/>
                <a:gd name="T26" fmla="*/ 0 w 14"/>
                <a:gd name="T27" fmla="*/ 543 h 2453"/>
                <a:gd name="T28" fmla="*/ 14 w 14"/>
                <a:gd name="T29" fmla="*/ 557 h 2453"/>
                <a:gd name="T30" fmla="*/ 14 w 14"/>
                <a:gd name="T31" fmla="*/ 627 h 2453"/>
                <a:gd name="T32" fmla="*/ 0 w 14"/>
                <a:gd name="T33" fmla="*/ 641 h 2453"/>
                <a:gd name="T34" fmla="*/ 14 w 14"/>
                <a:gd name="T35" fmla="*/ 696 h 2453"/>
                <a:gd name="T36" fmla="*/ 0 w 14"/>
                <a:gd name="T37" fmla="*/ 738 h 2453"/>
                <a:gd name="T38" fmla="*/ 14 w 14"/>
                <a:gd name="T39" fmla="*/ 752 h 2453"/>
                <a:gd name="T40" fmla="*/ 14 w 14"/>
                <a:gd name="T41" fmla="*/ 822 h 2453"/>
                <a:gd name="T42" fmla="*/ 0 w 14"/>
                <a:gd name="T43" fmla="*/ 835 h 2453"/>
                <a:gd name="T44" fmla="*/ 14 w 14"/>
                <a:gd name="T45" fmla="*/ 891 h 2453"/>
                <a:gd name="T46" fmla="*/ 0 w 14"/>
                <a:gd name="T47" fmla="*/ 933 h 2453"/>
                <a:gd name="T48" fmla="*/ 14 w 14"/>
                <a:gd name="T49" fmla="*/ 947 h 2453"/>
                <a:gd name="T50" fmla="*/ 14 w 14"/>
                <a:gd name="T51" fmla="*/ 1016 h 2453"/>
                <a:gd name="T52" fmla="*/ 0 w 14"/>
                <a:gd name="T53" fmla="*/ 1030 h 2453"/>
                <a:gd name="T54" fmla="*/ 14 w 14"/>
                <a:gd name="T55" fmla="*/ 1086 h 2453"/>
                <a:gd name="T56" fmla="*/ 0 w 14"/>
                <a:gd name="T57" fmla="*/ 1127 h 2453"/>
                <a:gd name="T58" fmla="*/ 14 w 14"/>
                <a:gd name="T59" fmla="*/ 1141 h 2453"/>
                <a:gd name="T60" fmla="*/ 14 w 14"/>
                <a:gd name="T61" fmla="*/ 1211 h 2453"/>
                <a:gd name="T62" fmla="*/ 0 w 14"/>
                <a:gd name="T63" fmla="*/ 1225 h 2453"/>
                <a:gd name="T64" fmla="*/ 14 w 14"/>
                <a:gd name="T65" fmla="*/ 1281 h 2453"/>
                <a:gd name="T66" fmla="*/ 0 w 14"/>
                <a:gd name="T67" fmla="*/ 1322 h 2453"/>
                <a:gd name="T68" fmla="*/ 14 w 14"/>
                <a:gd name="T69" fmla="*/ 1336 h 2453"/>
                <a:gd name="T70" fmla="*/ 14 w 14"/>
                <a:gd name="T71" fmla="*/ 1406 h 2453"/>
                <a:gd name="T72" fmla="*/ 0 w 14"/>
                <a:gd name="T73" fmla="*/ 1420 h 2453"/>
                <a:gd name="T74" fmla="*/ 14 w 14"/>
                <a:gd name="T75" fmla="*/ 1475 h 2453"/>
                <a:gd name="T76" fmla="*/ 0 w 14"/>
                <a:gd name="T77" fmla="*/ 1517 h 2453"/>
                <a:gd name="T78" fmla="*/ 14 w 14"/>
                <a:gd name="T79" fmla="*/ 1531 h 2453"/>
                <a:gd name="T80" fmla="*/ 14 w 14"/>
                <a:gd name="T81" fmla="*/ 1601 h 2453"/>
                <a:gd name="T82" fmla="*/ 0 w 14"/>
                <a:gd name="T83" fmla="*/ 1615 h 2453"/>
                <a:gd name="T84" fmla="*/ 14 w 14"/>
                <a:gd name="T85" fmla="*/ 1670 h 2453"/>
                <a:gd name="T86" fmla="*/ 0 w 14"/>
                <a:gd name="T87" fmla="*/ 1712 h 2453"/>
                <a:gd name="T88" fmla="*/ 14 w 14"/>
                <a:gd name="T89" fmla="*/ 1726 h 2453"/>
                <a:gd name="T90" fmla="*/ 14 w 14"/>
                <a:gd name="T91" fmla="*/ 1795 h 2453"/>
                <a:gd name="T92" fmla="*/ 0 w 14"/>
                <a:gd name="T93" fmla="*/ 1809 h 2453"/>
                <a:gd name="T94" fmla="*/ 14 w 14"/>
                <a:gd name="T95" fmla="*/ 1865 h 2453"/>
                <a:gd name="T96" fmla="*/ 0 w 14"/>
                <a:gd name="T97" fmla="*/ 1907 h 2453"/>
                <a:gd name="T98" fmla="*/ 14 w 14"/>
                <a:gd name="T99" fmla="*/ 1921 h 2453"/>
                <a:gd name="T100" fmla="*/ 14 w 14"/>
                <a:gd name="T101" fmla="*/ 1990 h 2453"/>
                <a:gd name="T102" fmla="*/ 0 w 14"/>
                <a:gd name="T103" fmla="*/ 2004 h 2453"/>
                <a:gd name="T104" fmla="*/ 14 w 14"/>
                <a:gd name="T105" fmla="*/ 2060 h 2453"/>
                <a:gd name="T106" fmla="*/ 0 w 14"/>
                <a:gd name="T107" fmla="*/ 2102 h 2453"/>
                <a:gd name="T108" fmla="*/ 14 w 14"/>
                <a:gd name="T109" fmla="*/ 2116 h 2453"/>
                <a:gd name="T110" fmla="*/ 14 w 14"/>
                <a:gd name="T111" fmla="*/ 2185 h 2453"/>
                <a:gd name="T112" fmla="*/ 0 w 14"/>
                <a:gd name="T113" fmla="*/ 2199 h 2453"/>
                <a:gd name="T114" fmla="*/ 14 w 14"/>
                <a:gd name="T115" fmla="*/ 2254 h 2453"/>
                <a:gd name="T116" fmla="*/ 0 w 14"/>
                <a:gd name="T117" fmla="*/ 2296 h 2453"/>
                <a:gd name="T118" fmla="*/ 14 w 14"/>
                <a:gd name="T119" fmla="*/ 2310 h 2453"/>
                <a:gd name="T120" fmla="*/ 14 w 14"/>
                <a:gd name="T121" fmla="*/ 2380 h 2453"/>
                <a:gd name="T122" fmla="*/ 0 w 14"/>
                <a:gd name="T123" fmla="*/ 2394 h 2453"/>
                <a:gd name="T124" fmla="*/ 14 w 14"/>
                <a:gd name="T125" fmla="*/ 2449 h 24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4" h="2453">
                  <a:moveTo>
                    <a:pt x="14" y="0"/>
                  </a:moveTo>
                  <a:lnTo>
                    <a:pt x="14" y="14"/>
                  </a:lnTo>
                  <a:lnTo>
                    <a:pt x="0" y="14"/>
                  </a:lnTo>
                  <a:lnTo>
                    <a:pt x="0" y="0"/>
                  </a:lnTo>
                  <a:lnTo>
                    <a:pt x="14" y="0"/>
                  </a:lnTo>
                  <a:close/>
                  <a:moveTo>
                    <a:pt x="14" y="28"/>
                  </a:moveTo>
                  <a:lnTo>
                    <a:pt x="14" y="42"/>
                  </a:lnTo>
                  <a:lnTo>
                    <a:pt x="0" y="42"/>
                  </a:lnTo>
                  <a:lnTo>
                    <a:pt x="0" y="28"/>
                  </a:lnTo>
                  <a:lnTo>
                    <a:pt x="14" y="28"/>
                  </a:lnTo>
                  <a:close/>
                  <a:moveTo>
                    <a:pt x="14" y="56"/>
                  </a:moveTo>
                  <a:lnTo>
                    <a:pt x="14" y="70"/>
                  </a:lnTo>
                  <a:lnTo>
                    <a:pt x="0" y="70"/>
                  </a:lnTo>
                  <a:lnTo>
                    <a:pt x="0" y="56"/>
                  </a:lnTo>
                  <a:lnTo>
                    <a:pt x="14" y="56"/>
                  </a:lnTo>
                  <a:close/>
                  <a:moveTo>
                    <a:pt x="14" y="84"/>
                  </a:moveTo>
                  <a:lnTo>
                    <a:pt x="14" y="98"/>
                  </a:lnTo>
                  <a:lnTo>
                    <a:pt x="0" y="98"/>
                  </a:lnTo>
                  <a:lnTo>
                    <a:pt x="0" y="84"/>
                  </a:lnTo>
                  <a:lnTo>
                    <a:pt x="14" y="84"/>
                  </a:lnTo>
                  <a:close/>
                  <a:moveTo>
                    <a:pt x="14" y="112"/>
                  </a:moveTo>
                  <a:lnTo>
                    <a:pt x="14" y="126"/>
                  </a:lnTo>
                  <a:lnTo>
                    <a:pt x="0" y="126"/>
                  </a:lnTo>
                  <a:lnTo>
                    <a:pt x="0" y="112"/>
                  </a:lnTo>
                  <a:lnTo>
                    <a:pt x="14" y="112"/>
                  </a:lnTo>
                  <a:close/>
                  <a:moveTo>
                    <a:pt x="14" y="140"/>
                  </a:moveTo>
                  <a:lnTo>
                    <a:pt x="14" y="154"/>
                  </a:lnTo>
                  <a:lnTo>
                    <a:pt x="0" y="154"/>
                  </a:lnTo>
                  <a:lnTo>
                    <a:pt x="0" y="140"/>
                  </a:lnTo>
                  <a:lnTo>
                    <a:pt x="14" y="140"/>
                  </a:lnTo>
                  <a:close/>
                  <a:moveTo>
                    <a:pt x="14" y="167"/>
                  </a:moveTo>
                  <a:lnTo>
                    <a:pt x="14" y="181"/>
                  </a:lnTo>
                  <a:lnTo>
                    <a:pt x="0" y="181"/>
                  </a:lnTo>
                  <a:lnTo>
                    <a:pt x="0" y="167"/>
                  </a:lnTo>
                  <a:lnTo>
                    <a:pt x="14" y="167"/>
                  </a:lnTo>
                  <a:close/>
                  <a:moveTo>
                    <a:pt x="14" y="195"/>
                  </a:moveTo>
                  <a:lnTo>
                    <a:pt x="14" y="209"/>
                  </a:lnTo>
                  <a:lnTo>
                    <a:pt x="0" y="209"/>
                  </a:lnTo>
                  <a:lnTo>
                    <a:pt x="0" y="195"/>
                  </a:lnTo>
                  <a:lnTo>
                    <a:pt x="14" y="195"/>
                  </a:lnTo>
                  <a:close/>
                  <a:moveTo>
                    <a:pt x="14" y="223"/>
                  </a:moveTo>
                  <a:lnTo>
                    <a:pt x="14" y="237"/>
                  </a:lnTo>
                  <a:lnTo>
                    <a:pt x="0" y="237"/>
                  </a:lnTo>
                  <a:lnTo>
                    <a:pt x="0" y="223"/>
                  </a:lnTo>
                  <a:lnTo>
                    <a:pt x="14" y="223"/>
                  </a:lnTo>
                  <a:close/>
                  <a:moveTo>
                    <a:pt x="14" y="251"/>
                  </a:moveTo>
                  <a:lnTo>
                    <a:pt x="14" y="265"/>
                  </a:lnTo>
                  <a:lnTo>
                    <a:pt x="0" y="265"/>
                  </a:lnTo>
                  <a:lnTo>
                    <a:pt x="0" y="251"/>
                  </a:lnTo>
                  <a:lnTo>
                    <a:pt x="14" y="251"/>
                  </a:lnTo>
                  <a:close/>
                  <a:moveTo>
                    <a:pt x="14" y="279"/>
                  </a:moveTo>
                  <a:lnTo>
                    <a:pt x="14" y="293"/>
                  </a:lnTo>
                  <a:lnTo>
                    <a:pt x="0" y="293"/>
                  </a:lnTo>
                  <a:lnTo>
                    <a:pt x="0" y="279"/>
                  </a:lnTo>
                  <a:lnTo>
                    <a:pt x="14" y="279"/>
                  </a:lnTo>
                  <a:close/>
                  <a:moveTo>
                    <a:pt x="14" y="307"/>
                  </a:moveTo>
                  <a:lnTo>
                    <a:pt x="14" y="321"/>
                  </a:lnTo>
                  <a:lnTo>
                    <a:pt x="0" y="321"/>
                  </a:lnTo>
                  <a:lnTo>
                    <a:pt x="0" y="307"/>
                  </a:lnTo>
                  <a:lnTo>
                    <a:pt x="14" y="307"/>
                  </a:lnTo>
                  <a:close/>
                  <a:moveTo>
                    <a:pt x="14" y="334"/>
                  </a:moveTo>
                  <a:lnTo>
                    <a:pt x="14" y="348"/>
                  </a:lnTo>
                  <a:lnTo>
                    <a:pt x="0" y="348"/>
                  </a:lnTo>
                  <a:lnTo>
                    <a:pt x="0" y="334"/>
                  </a:lnTo>
                  <a:lnTo>
                    <a:pt x="14" y="334"/>
                  </a:lnTo>
                  <a:close/>
                  <a:moveTo>
                    <a:pt x="14" y="362"/>
                  </a:moveTo>
                  <a:lnTo>
                    <a:pt x="14" y="376"/>
                  </a:lnTo>
                  <a:lnTo>
                    <a:pt x="0" y="376"/>
                  </a:lnTo>
                  <a:lnTo>
                    <a:pt x="0" y="362"/>
                  </a:lnTo>
                  <a:lnTo>
                    <a:pt x="14" y="362"/>
                  </a:lnTo>
                  <a:close/>
                  <a:moveTo>
                    <a:pt x="14" y="390"/>
                  </a:moveTo>
                  <a:lnTo>
                    <a:pt x="14" y="404"/>
                  </a:lnTo>
                  <a:lnTo>
                    <a:pt x="0" y="404"/>
                  </a:lnTo>
                  <a:lnTo>
                    <a:pt x="0" y="390"/>
                  </a:lnTo>
                  <a:lnTo>
                    <a:pt x="14" y="390"/>
                  </a:lnTo>
                  <a:close/>
                  <a:moveTo>
                    <a:pt x="14" y="418"/>
                  </a:moveTo>
                  <a:lnTo>
                    <a:pt x="14" y="432"/>
                  </a:lnTo>
                  <a:lnTo>
                    <a:pt x="0" y="432"/>
                  </a:lnTo>
                  <a:lnTo>
                    <a:pt x="0" y="418"/>
                  </a:lnTo>
                  <a:lnTo>
                    <a:pt x="14" y="418"/>
                  </a:lnTo>
                  <a:close/>
                  <a:moveTo>
                    <a:pt x="14" y="446"/>
                  </a:moveTo>
                  <a:lnTo>
                    <a:pt x="14" y="460"/>
                  </a:lnTo>
                  <a:lnTo>
                    <a:pt x="0" y="460"/>
                  </a:lnTo>
                  <a:lnTo>
                    <a:pt x="0" y="446"/>
                  </a:lnTo>
                  <a:lnTo>
                    <a:pt x="14" y="446"/>
                  </a:lnTo>
                  <a:close/>
                  <a:moveTo>
                    <a:pt x="14" y="474"/>
                  </a:moveTo>
                  <a:lnTo>
                    <a:pt x="14" y="488"/>
                  </a:lnTo>
                  <a:lnTo>
                    <a:pt x="0" y="488"/>
                  </a:lnTo>
                  <a:lnTo>
                    <a:pt x="0" y="474"/>
                  </a:lnTo>
                  <a:lnTo>
                    <a:pt x="14" y="474"/>
                  </a:lnTo>
                  <a:close/>
                  <a:moveTo>
                    <a:pt x="14" y="501"/>
                  </a:moveTo>
                  <a:lnTo>
                    <a:pt x="14" y="515"/>
                  </a:lnTo>
                  <a:lnTo>
                    <a:pt x="0" y="515"/>
                  </a:lnTo>
                  <a:lnTo>
                    <a:pt x="0" y="501"/>
                  </a:lnTo>
                  <a:lnTo>
                    <a:pt x="14" y="501"/>
                  </a:lnTo>
                  <a:close/>
                  <a:moveTo>
                    <a:pt x="14" y="529"/>
                  </a:moveTo>
                  <a:lnTo>
                    <a:pt x="14" y="543"/>
                  </a:lnTo>
                  <a:lnTo>
                    <a:pt x="0" y="543"/>
                  </a:lnTo>
                  <a:lnTo>
                    <a:pt x="0" y="529"/>
                  </a:lnTo>
                  <a:lnTo>
                    <a:pt x="14" y="529"/>
                  </a:lnTo>
                  <a:close/>
                  <a:moveTo>
                    <a:pt x="14" y="557"/>
                  </a:moveTo>
                  <a:lnTo>
                    <a:pt x="14" y="571"/>
                  </a:lnTo>
                  <a:lnTo>
                    <a:pt x="0" y="571"/>
                  </a:lnTo>
                  <a:lnTo>
                    <a:pt x="0" y="557"/>
                  </a:lnTo>
                  <a:lnTo>
                    <a:pt x="14" y="557"/>
                  </a:lnTo>
                  <a:close/>
                  <a:moveTo>
                    <a:pt x="14" y="585"/>
                  </a:moveTo>
                  <a:lnTo>
                    <a:pt x="14" y="599"/>
                  </a:lnTo>
                  <a:lnTo>
                    <a:pt x="0" y="599"/>
                  </a:lnTo>
                  <a:lnTo>
                    <a:pt x="0" y="585"/>
                  </a:lnTo>
                  <a:lnTo>
                    <a:pt x="14" y="585"/>
                  </a:lnTo>
                  <a:close/>
                  <a:moveTo>
                    <a:pt x="14" y="613"/>
                  </a:moveTo>
                  <a:lnTo>
                    <a:pt x="14" y="627"/>
                  </a:lnTo>
                  <a:lnTo>
                    <a:pt x="0" y="627"/>
                  </a:lnTo>
                  <a:lnTo>
                    <a:pt x="0" y="613"/>
                  </a:lnTo>
                  <a:lnTo>
                    <a:pt x="14" y="613"/>
                  </a:lnTo>
                  <a:close/>
                  <a:moveTo>
                    <a:pt x="14" y="641"/>
                  </a:moveTo>
                  <a:lnTo>
                    <a:pt x="14" y="655"/>
                  </a:lnTo>
                  <a:lnTo>
                    <a:pt x="0" y="655"/>
                  </a:lnTo>
                  <a:lnTo>
                    <a:pt x="0" y="641"/>
                  </a:lnTo>
                  <a:lnTo>
                    <a:pt x="14" y="641"/>
                  </a:lnTo>
                  <a:close/>
                  <a:moveTo>
                    <a:pt x="14" y="668"/>
                  </a:moveTo>
                  <a:lnTo>
                    <a:pt x="14" y="682"/>
                  </a:lnTo>
                  <a:lnTo>
                    <a:pt x="0" y="682"/>
                  </a:lnTo>
                  <a:lnTo>
                    <a:pt x="0" y="668"/>
                  </a:lnTo>
                  <a:lnTo>
                    <a:pt x="14" y="668"/>
                  </a:lnTo>
                  <a:close/>
                  <a:moveTo>
                    <a:pt x="14" y="696"/>
                  </a:moveTo>
                  <a:lnTo>
                    <a:pt x="14" y="710"/>
                  </a:lnTo>
                  <a:lnTo>
                    <a:pt x="0" y="710"/>
                  </a:lnTo>
                  <a:lnTo>
                    <a:pt x="0" y="696"/>
                  </a:lnTo>
                  <a:lnTo>
                    <a:pt x="14" y="696"/>
                  </a:lnTo>
                  <a:close/>
                  <a:moveTo>
                    <a:pt x="14" y="724"/>
                  </a:moveTo>
                  <a:lnTo>
                    <a:pt x="14" y="738"/>
                  </a:lnTo>
                  <a:lnTo>
                    <a:pt x="0" y="738"/>
                  </a:lnTo>
                  <a:lnTo>
                    <a:pt x="0" y="724"/>
                  </a:lnTo>
                  <a:lnTo>
                    <a:pt x="14" y="724"/>
                  </a:lnTo>
                  <a:close/>
                  <a:moveTo>
                    <a:pt x="14" y="752"/>
                  </a:moveTo>
                  <a:lnTo>
                    <a:pt x="14" y="766"/>
                  </a:lnTo>
                  <a:lnTo>
                    <a:pt x="0" y="766"/>
                  </a:lnTo>
                  <a:lnTo>
                    <a:pt x="0" y="752"/>
                  </a:lnTo>
                  <a:lnTo>
                    <a:pt x="14" y="752"/>
                  </a:lnTo>
                  <a:close/>
                  <a:moveTo>
                    <a:pt x="14" y="780"/>
                  </a:moveTo>
                  <a:lnTo>
                    <a:pt x="14" y="793"/>
                  </a:lnTo>
                  <a:lnTo>
                    <a:pt x="0" y="793"/>
                  </a:lnTo>
                  <a:lnTo>
                    <a:pt x="0" y="780"/>
                  </a:lnTo>
                  <a:lnTo>
                    <a:pt x="14" y="780"/>
                  </a:lnTo>
                  <a:close/>
                  <a:moveTo>
                    <a:pt x="14" y="808"/>
                  </a:moveTo>
                  <a:lnTo>
                    <a:pt x="14" y="822"/>
                  </a:lnTo>
                  <a:lnTo>
                    <a:pt x="0" y="822"/>
                  </a:lnTo>
                  <a:lnTo>
                    <a:pt x="0" y="808"/>
                  </a:lnTo>
                  <a:lnTo>
                    <a:pt x="14" y="808"/>
                  </a:lnTo>
                  <a:close/>
                  <a:moveTo>
                    <a:pt x="14" y="835"/>
                  </a:moveTo>
                  <a:lnTo>
                    <a:pt x="14" y="849"/>
                  </a:lnTo>
                  <a:lnTo>
                    <a:pt x="0" y="849"/>
                  </a:lnTo>
                  <a:lnTo>
                    <a:pt x="0" y="835"/>
                  </a:lnTo>
                  <a:lnTo>
                    <a:pt x="14" y="835"/>
                  </a:lnTo>
                  <a:close/>
                  <a:moveTo>
                    <a:pt x="14" y="863"/>
                  </a:moveTo>
                  <a:lnTo>
                    <a:pt x="14" y="877"/>
                  </a:lnTo>
                  <a:lnTo>
                    <a:pt x="0" y="877"/>
                  </a:lnTo>
                  <a:lnTo>
                    <a:pt x="0" y="863"/>
                  </a:lnTo>
                  <a:lnTo>
                    <a:pt x="14" y="863"/>
                  </a:lnTo>
                  <a:close/>
                  <a:moveTo>
                    <a:pt x="14" y="891"/>
                  </a:moveTo>
                  <a:lnTo>
                    <a:pt x="14" y="905"/>
                  </a:lnTo>
                  <a:lnTo>
                    <a:pt x="0" y="905"/>
                  </a:lnTo>
                  <a:lnTo>
                    <a:pt x="0" y="891"/>
                  </a:lnTo>
                  <a:lnTo>
                    <a:pt x="14" y="891"/>
                  </a:lnTo>
                  <a:close/>
                  <a:moveTo>
                    <a:pt x="14" y="919"/>
                  </a:moveTo>
                  <a:lnTo>
                    <a:pt x="14" y="933"/>
                  </a:lnTo>
                  <a:lnTo>
                    <a:pt x="0" y="933"/>
                  </a:lnTo>
                  <a:lnTo>
                    <a:pt x="0" y="919"/>
                  </a:lnTo>
                  <a:lnTo>
                    <a:pt x="14" y="919"/>
                  </a:lnTo>
                  <a:close/>
                  <a:moveTo>
                    <a:pt x="14" y="947"/>
                  </a:moveTo>
                  <a:lnTo>
                    <a:pt x="14" y="960"/>
                  </a:lnTo>
                  <a:lnTo>
                    <a:pt x="0" y="960"/>
                  </a:lnTo>
                  <a:lnTo>
                    <a:pt x="0" y="947"/>
                  </a:lnTo>
                  <a:lnTo>
                    <a:pt x="14" y="947"/>
                  </a:lnTo>
                  <a:close/>
                  <a:moveTo>
                    <a:pt x="14" y="974"/>
                  </a:moveTo>
                  <a:lnTo>
                    <a:pt x="14" y="988"/>
                  </a:lnTo>
                  <a:lnTo>
                    <a:pt x="0" y="988"/>
                  </a:lnTo>
                  <a:lnTo>
                    <a:pt x="0" y="974"/>
                  </a:lnTo>
                  <a:lnTo>
                    <a:pt x="14" y="974"/>
                  </a:lnTo>
                  <a:close/>
                  <a:moveTo>
                    <a:pt x="14" y="1002"/>
                  </a:moveTo>
                  <a:lnTo>
                    <a:pt x="14" y="1016"/>
                  </a:lnTo>
                  <a:lnTo>
                    <a:pt x="0" y="1016"/>
                  </a:lnTo>
                  <a:lnTo>
                    <a:pt x="0" y="1002"/>
                  </a:lnTo>
                  <a:lnTo>
                    <a:pt x="14" y="1002"/>
                  </a:lnTo>
                  <a:close/>
                  <a:moveTo>
                    <a:pt x="14" y="1030"/>
                  </a:moveTo>
                  <a:lnTo>
                    <a:pt x="14" y="1044"/>
                  </a:lnTo>
                  <a:lnTo>
                    <a:pt x="0" y="1044"/>
                  </a:lnTo>
                  <a:lnTo>
                    <a:pt x="0" y="1030"/>
                  </a:lnTo>
                  <a:lnTo>
                    <a:pt x="14" y="1030"/>
                  </a:lnTo>
                  <a:close/>
                  <a:moveTo>
                    <a:pt x="14" y="1058"/>
                  </a:moveTo>
                  <a:lnTo>
                    <a:pt x="14" y="1072"/>
                  </a:lnTo>
                  <a:lnTo>
                    <a:pt x="0" y="1072"/>
                  </a:lnTo>
                  <a:lnTo>
                    <a:pt x="0" y="1058"/>
                  </a:lnTo>
                  <a:lnTo>
                    <a:pt x="14" y="1058"/>
                  </a:lnTo>
                  <a:close/>
                  <a:moveTo>
                    <a:pt x="14" y="1086"/>
                  </a:moveTo>
                  <a:lnTo>
                    <a:pt x="14" y="1100"/>
                  </a:lnTo>
                  <a:lnTo>
                    <a:pt x="0" y="1100"/>
                  </a:lnTo>
                  <a:lnTo>
                    <a:pt x="0" y="1086"/>
                  </a:lnTo>
                  <a:lnTo>
                    <a:pt x="14" y="1086"/>
                  </a:lnTo>
                  <a:close/>
                  <a:moveTo>
                    <a:pt x="14" y="1114"/>
                  </a:moveTo>
                  <a:lnTo>
                    <a:pt x="14" y="1127"/>
                  </a:lnTo>
                  <a:lnTo>
                    <a:pt x="0" y="1127"/>
                  </a:lnTo>
                  <a:lnTo>
                    <a:pt x="0" y="1114"/>
                  </a:lnTo>
                  <a:lnTo>
                    <a:pt x="14" y="1114"/>
                  </a:lnTo>
                  <a:close/>
                  <a:moveTo>
                    <a:pt x="14" y="1141"/>
                  </a:moveTo>
                  <a:lnTo>
                    <a:pt x="14" y="1155"/>
                  </a:lnTo>
                  <a:lnTo>
                    <a:pt x="0" y="1155"/>
                  </a:lnTo>
                  <a:lnTo>
                    <a:pt x="0" y="1141"/>
                  </a:lnTo>
                  <a:lnTo>
                    <a:pt x="14" y="1141"/>
                  </a:lnTo>
                  <a:close/>
                  <a:moveTo>
                    <a:pt x="14" y="1169"/>
                  </a:moveTo>
                  <a:lnTo>
                    <a:pt x="14" y="1183"/>
                  </a:lnTo>
                  <a:lnTo>
                    <a:pt x="0" y="1183"/>
                  </a:lnTo>
                  <a:lnTo>
                    <a:pt x="0" y="1169"/>
                  </a:lnTo>
                  <a:lnTo>
                    <a:pt x="14" y="1169"/>
                  </a:lnTo>
                  <a:close/>
                  <a:moveTo>
                    <a:pt x="14" y="1197"/>
                  </a:moveTo>
                  <a:lnTo>
                    <a:pt x="14" y="1211"/>
                  </a:lnTo>
                  <a:lnTo>
                    <a:pt x="0" y="1211"/>
                  </a:lnTo>
                  <a:lnTo>
                    <a:pt x="0" y="1197"/>
                  </a:lnTo>
                  <a:lnTo>
                    <a:pt x="14" y="1197"/>
                  </a:lnTo>
                  <a:close/>
                  <a:moveTo>
                    <a:pt x="14" y="1225"/>
                  </a:moveTo>
                  <a:lnTo>
                    <a:pt x="14" y="1239"/>
                  </a:lnTo>
                  <a:lnTo>
                    <a:pt x="0" y="1239"/>
                  </a:lnTo>
                  <a:lnTo>
                    <a:pt x="0" y="1225"/>
                  </a:lnTo>
                  <a:lnTo>
                    <a:pt x="14" y="1225"/>
                  </a:lnTo>
                  <a:close/>
                  <a:moveTo>
                    <a:pt x="14" y="1253"/>
                  </a:moveTo>
                  <a:lnTo>
                    <a:pt x="14" y="1267"/>
                  </a:lnTo>
                  <a:lnTo>
                    <a:pt x="0" y="1267"/>
                  </a:lnTo>
                  <a:lnTo>
                    <a:pt x="0" y="1253"/>
                  </a:lnTo>
                  <a:lnTo>
                    <a:pt x="14" y="1253"/>
                  </a:lnTo>
                  <a:close/>
                  <a:moveTo>
                    <a:pt x="14" y="1281"/>
                  </a:moveTo>
                  <a:lnTo>
                    <a:pt x="14" y="1294"/>
                  </a:lnTo>
                  <a:lnTo>
                    <a:pt x="0" y="1294"/>
                  </a:lnTo>
                  <a:lnTo>
                    <a:pt x="0" y="1281"/>
                  </a:lnTo>
                  <a:lnTo>
                    <a:pt x="14" y="1281"/>
                  </a:lnTo>
                  <a:close/>
                  <a:moveTo>
                    <a:pt x="14" y="1308"/>
                  </a:moveTo>
                  <a:lnTo>
                    <a:pt x="14" y="1322"/>
                  </a:lnTo>
                  <a:lnTo>
                    <a:pt x="0" y="1322"/>
                  </a:lnTo>
                  <a:lnTo>
                    <a:pt x="0" y="1308"/>
                  </a:lnTo>
                  <a:lnTo>
                    <a:pt x="14" y="1308"/>
                  </a:lnTo>
                  <a:close/>
                  <a:moveTo>
                    <a:pt x="14" y="1336"/>
                  </a:moveTo>
                  <a:lnTo>
                    <a:pt x="14" y="1350"/>
                  </a:lnTo>
                  <a:lnTo>
                    <a:pt x="0" y="1350"/>
                  </a:lnTo>
                  <a:lnTo>
                    <a:pt x="0" y="1336"/>
                  </a:lnTo>
                  <a:lnTo>
                    <a:pt x="14" y="1336"/>
                  </a:lnTo>
                  <a:close/>
                  <a:moveTo>
                    <a:pt x="14" y="1364"/>
                  </a:moveTo>
                  <a:lnTo>
                    <a:pt x="14" y="1378"/>
                  </a:lnTo>
                  <a:lnTo>
                    <a:pt x="0" y="1378"/>
                  </a:lnTo>
                  <a:lnTo>
                    <a:pt x="0" y="1364"/>
                  </a:lnTo>
                  <a:lnTo>
                    <a:pt x="14" y="1364"/>
                  </a:lnTo>
                  <a:close/>
                  <a:moveTo>
                    <a:pt x="14" y="1392"/>
                  </a:moveTo>
                  <a:lnTo>
                    <a:pt x="14" y="1406"/>
                  </a:lnTo>
                  <a:lnTo>
                    <a:pt x="0" y="1406"/>
                  </a:lnTo>
                  <a:lnTo>
                    <a:pt x="0" y="1392"/>
                  </a:lnTo>
                  <a:lnTo>
                    <a:pt x="14" y="1392"/>
                  </a:lnTo>
                  <a:close/>
                  <a:moveTo>
                    <a:pt x="14" y="1420"/>
                  </a:moveTo>
                  <a:lnTo>
                    <a:pt x="14" y="1434"/>
                  </a:lnTo>
                  <a:lnTo>
                    <a:pt x="0" y="1434"/>
                  </a:lnTo>
                  <a:lnTo>
                    <a:pt x="0" y="1420"/>
                  </a:lnTo>
                  <a:lnTo>
                    <a:pt x="14" y="1420"/>
                  </a:lnTo>
                  <a:close/>
                  <a:moveTo>
                    <a:pt x="14" y="1448"/>
                  </a:moveTo>
                  <a:lnTo>
                    <a:pt x="14" y="1461"/>
                  </a:lnTo>
                  <a:lnTo>
                    <a:pt x="0" y="1461"/>
                  </a:lnTo>
                  <a:lnTo>
                    <a:pt x="0" y="1448"/>
                  </a:lnTo>
                  <a:lnTo>
                    <a:pt x="14" y="1448"/>
                  </a:lnTo>
                  <a:close/>
                  <a:moveTo>
                    <a:pt x="14" y="1475"/>
                  </a:moveTo>
                  <a:lnTo>
                    <a:pt x="14" y="1489"/>
                  </a:lnTo>
                  <a:lnTo>
                    <a:pt x="0" y="1489"/>
                  </a:lnTo>
                  <a:lnTo>
                    <a:pt x="0" y="1475"/>
                  </a:lnTo>
                  <a:lnTo>
                    <a:pt x="14" y="1475"/>
                  </a:lnTo>
                  <a:close/>
                  <a:moveTo>
                    <a:pt x="14" y="1503"/>
                  </a:moveTo>
                  <a:lnTo>
                    <a:pt x="14" y="1517"/>
                  </a:lnTo>
                  <a:lnTo>
                    <a:pt x="0" y="1517"/>
                  </a:lnTo>
                  <a:lnTo>
                    <a:pt x="0" y="1503"/>
                  </a:lnTo>
                  <a:lnTo>
                    <a:pt x="14" y="1503"/>
                  </a:lnTo>
                  <a:close/>
                  <a:moveTo>
                    <a:pt x="14" y="1531"/>
                  </a:moveTo>
                  <a:lnTo>
                    <a:pt x="14" y="1545"/>
                  </a:lnTo>
                  <a:lnTo>
                    <a:pt x="0" y="1545"/>
                  </a:lnTo>
                  <a:lnTo>
                    <a:pt x="0" y="1531"/>
                  </a:lnTo>
                  <a:lnTo>
                    <a:pt x="14" y="1531"/>
                  </a:lnTo>
                  <a:close/>
                  <a:moveTo>
                    <a:pt x="14" y="1559"/>
                  </a:moveTo>
                  <a:lnTo>
                    <a:pt x="14" y="1573"/>
                  </a:lnTo>
                  <a:lnTo>
                    <a:pt x="0" y="1573"/>
                  </a:lnTo>
                  <a:lnTo>
                    <a:pt x="0" y="1559"/>
                  </a:lnTo>
                  <a:lnTo>
                    <a:pt x="14" y="1559"/>
                  </a:lnTo>
                  <a:close/>
                  <a:moveTo>
                    <a:pt x="14" y="1587"/>
                  </a:moveTo>
                  <a:lnTo>
                    <a:pt x="14" y="1601"/>
                  </a:lnTo>
                  <a:lnTo>
                    <a:pt x="0" y="1601"/>
                  </a:lnTo>
                  <a:lnTo>
                    <a:pt x="0" y="1587"/>
                  </a:lnTo>
                  <a:lnTo>
                    <a:pt x="14" y="1587"/>
                  </a:lnTo>
                  <a:close/>
                  <a:moveTo>
                    <a:pt x="14" y="1615"/>
                  </a:moveTo>
                  <a:lnTo>
                    <a:pt x="14" y="1628"/>
                  </a:lnTo>
                  <a:lnTo>
                    <a:pt x="0" y="1628"/>
                  </a:lnTo>
                  <a:lnTo>
                    <a:pt x="0" y="1615"/>
                  </a:lnTo>
                  <a:lnTo>
                    <a:pt x="14" y="1615"/>
                  </a:lnTo>
                  <a:close/>
                  <a:moveTo>
                    <a:pt x="14" y="1642"/>
                  </a:moveTo>
                  <a:lnTo>
                    <a:pt x="14" y="1656"/>
                  </a:lnTo>
                  <a:lnTo>
                    <a:pt x="0" y="1656"/>
                  </a:lnTo>
                  <a:lnTo>
                    <a:pt x="0" y="1642"/>
                  </a:lnTo>
                  <a:lnTo>
                    <a:pt x="14" y="1642"/>
                  </a:lnTo>
                  <a:close/>
                  <a:moveTo>
                    <a:pt x="14" y="1670"/>
                  </a:moveTo>
                  <a:lnTo>
                    <a:pt x="14" y="1684"/>
                  </a:lnTo>
                  <a:lnTo>
                    <a:pt x="0" y="1684"/>
                  </a:lnTo>
                  <a:lnTo>
                    <a:pt x="0" y="1670"/>
                  </a:lnTo>
                  <a:lnTo>
                    <a:pt x="14" y="1670"/>
                  </a:lnTo>
                  <a:close/>
                  <a:moveTo>
                    <a:pt x="14" y="1698"/>
                  </a:moveTo>
                  <a:lnTo>
                    <a:pt x="14" y="1712"/>
                  </a:lnTo>
                  <a:lnTo>
                    <a:pt x="0" y="1712"/>
                  </a:lnTo>
                  <a:lnTo>
                    <a:pt x="0" y="1698"/>
                  </a:lnTo>
                  <a:lnTo>
                    <a:pt x="14" y="1698"/>
                  </a:lnTo>
                  <a:close/>
                  <a:moveTo>
                    <a:pt x="14" y="1726"/>
                  </a:moveTo>
                  <a:lnTo>
                    <a:pt x="14" y="1740"/>
                  </a:lnTo>
                  <a:lnTo>
                    <a:pt x="0" y="1740"/>
                  </a:lnTo>
                  <a:lnTo>
                    <a:pt x="0" y="1726"/>
                  </a:lnTo>
                  <a:lnTo>
                    <a:pt x="14" y="1726"/>
                  </a:lnTo>
                  <a:close/>
                  <a:moveTo>
                    <a:pt x="14" y="1754"/>
                  </a:moveTo>
                  <a:lnTo>
                    <a:pt x="14" y="1768"/>
                  </a:lnTo>
                  <a:lnTo>
                    <a:pt x="0" y="1768"/>
                  </a:lnTo>
                  <a:lnTo>
                    <a:pt x="0" y="1754"/>
                  </a:lnTo>
                  <a:lnTo>
                    <a:pt x="14" y="1754"/>
                  </a:lnTo>
                  <a:close/>
                  <a:moveTo>
                    <a:pt x="14" y="1782"/>
                  </a:moveTo>
                  <a:lnTo>
                    <a:pt x="14" y="1795"/>
                  </a:lnTo>
                  <a:lnTo>
                    <a:pt x="0" y="1795"/>
                  </a:lnTo>
                  <a:lnTo>
                    <a:pt x="0" y="1782"/>
                  </a:lnTo>
                  <a:lnTo>
                    <a:pt x="14" y="1782"/>
                  </a:lnTo>
                  <a:close/>
                  <a:moveTo>
                    <a:pt x="14" y="1809"/>
                  </a:moveTo>
                  <a:lnTo>
                    <a:pt x="14" y="1823"/>
                  </a:lnTo>
                  <a:lnTo>
                    <a:pt x="0" y="1823"/>
                  </a:lnTo>
                  <a:lnTo>
                    <a:pt x="0" y="1809"/>
                  </a:lnTo>
                  <a:lnTo>
                    <a:pt x="14" y="1809"/>
                  </a:lnTo>
                  <a:close/>
                  <a:moveTo>
                    <a:pt x="14" y="1837"/>
                  </a:moveTo>
                  <a:lnTo>
                    <a:pt x="14" y="1851"/>
                  </a:lnTo>
                  <a:lnTo>
                    <a:pt x="0" y="1851"/>
                  </a:lnTo>
                  <a:lnTo>
                    <a:pt x="0" y="1837"/>
                  </a:lnTo>
                  <a:lnTo>
                    <a:pt x="14" y="1837"/>
                  </a:lnTo>
                  <a:close/>
                  <a:moveTo>
                    <a:pt x="14" y="1865"/>
                  </a:moveTo>
                  <a:lnTo>
                    <a:pt x="14" y="1879"/>
                  </a:lnTo>
                  <a:lnTo>
                    <a:pt x="0" y="1879"/>
                  </a:lnTo>
                  <a:lnTo>
                    <a:pt x="0" y="1865"/>
                  </a:lnTo>
                  <a:lnTo>
                    <a:pt x="14" y="1865"/>
                  </a:lnTo>
                  <a:close/>
                  <a:moveTo>
                    <a:pt x="14" y="1893"/>
                  </a:moveTo>
                  <a:lnTo>
                    <a:pt x="14" y="1907"/>
                  </a:lnTo>
                  <a:lnTo>
                    <a:pt x="0" y="1907"/>
                  </a:lnTo>
                  <a:lnTo>
                    <a:pt x="0" y="1893"/>
                  </a:lnTo>
                  <a:lnTo>
                    <a:pt x="14" y="1893"/>
                  </a:lnTo>
                  <a:close/>
                  <a:moveTo>
                    <a:pt x="14" y="1921"/>
                  </a:moveTo>
                  <a:lnTo>
                    <a:pt x="14" y="1935"/>
                  </a:lnTo>
                  <a:lnTo>
                    <a:pt x="0" y="1935"/>
                  </a:lnTo>
                  <a:lnTo>
                    <a:pt x="0" y="1921"/>
                  </a:lnTo>
                  <a:lnTo>
                    <a:pt x="14" y="1921"/>
                  </a:lnTo>
                  <a:close/>
                  <a:moveTo>
                    <a:pt x="14" y="1949"/>
                  </a:moveTo>
                  <a:lnTo>
                    <a:pt x="14" y="1962"/>
                  </a:lnTo>
                  <a:lnTo>
                    <a:pt x="0" y="1962"/>
                  </a:lnTo>
                  <a:lnTo>
                    <a:pt x="0" y="1949"/>
                  </a:lnTo>
                  <a:lnTo>
                    <a:pt x="14" y="1949"/>
                  </a:lnTo>
                  <a:close/>
                  <a:moveTo>
                    <a:pt x="14" y="1976"/>
                  </a:moveTo>
                  <a:lnTo>
                    <a:pt x="14" y="1990"/>
                  </a:lnTo>
                  <a:lnTo>
                    <a:pt x="0" y="1990"/>
                  </a:lnTo>
                  <a:lnTo>
                    <a:pt x="0" y="1976"/>
                  </a:lnTo>
                  <a:lnTo>
                    <a:pt x="14" y="1976"/>
                  </a:lnTo>
                  <a:close/>
                  <a:moveTo>
                    <a:pt x="14" y="2004"/>
                  </a:moveTo>
                  <a:lnTo>
                    <a:pt x="14" y="2018"/>
                  </a:lnTo>
                  <a:lnTo>
                    <a:pt x="0" y="2018"/>
                  </a:lnTo>
                  <a:lnTo>
                    <a:pt x="0" y="2004"/>
                  </a:lnTo>
                  <a:lnTo>
                    <a:pt x="14" y="2004"/>
                  </a:lnTo>
                  <a:close/>
                  <a:moveTo>
                    <a:pt x="14" y="2032"/>
                  </a:moveTo>
                  <a:lnTo>
                    <a:pt x="14" y="2046"/>
                  </a:lnTo>
                  <a:lnTo>
                    <a:pt x="0" y="2046"/>
                  </a:lnTo>
                  <a:lnTo>
                    <a:pt x="0" y="2032"/>
                  </a:lnTo>
                  <a:lnTo>
                    <a:pt x="14" y="2032"/>
                  </a:lnTo>
                  <a:close/>
                  <a:moveTo>
                    <a:pt x="14" y="2060"/>
                  </a:moveTo>
                  <a:lnTo>
                    <a:pt x="14" y="2074"/>
                  </a:lnTo>
                  <a:lnTo>
                    <a:pt x="0" y="2074"/>
                  </a:lnTo>
                  <a:lnTo>
                    <a:pt x="0" y="2060"/>
                  </a:lnTo>
                  <a:lnTo>
                    <a:pt x="14" y="2060"/>
                  </a:lnTo>
                  <a:close/>
                  <a:moveTo>
                    <a:pt x="14" y="2087"/>
                  </a:moveTo>
                  <a:lnTo>
                    <a:pt x="14" y="2102"/>
                  </a:lnTo>
                  <a:lnTo>
                    <a:pt x="0" y="2102"/>
                  </a:lnTo>
                  <a:lnTo>
                    <a:pt x="0" y="2087"/>
                  </a:lnTo>
                  <a:lnTo>
                    <a:pt x="14" y="2087"/>
                  </a:lnTo>
                  <a:close/>
                  <a:moveTo>
                    <a:pt x="14" y="2116"/>
                  </a:moveTo>
                  <a:lnTo>
                    <a:pt x="14" y="2129"/>
                  </a:lnTo>
                  <a:lnTo>
                    <a:pt x="0" y="2129"/>
                  </a:lnTo>
                  <a:lnTo>
                    <a:pt x="0" y="2116"/>
                  </a:lnTo>
                  <a:lnTo>
                    <a:pt x="14" y="2116"/>
                  </a:lnTo>
                  <a:close/>
                  <a:moveTo>
                    <a:pt x="14" y="2143"/>
                  </a:moveTo>
                  <a:lnTo>
                    <a:pt x="14" y="2157"/>
                  </a:lnTo>
                  <a:lnTo>
                    <a:pt x="0" y="2157"/>
                  </a:lnTo>
                  <a:lnTo>
                    <a:pt x="0" y="2143"/>
                  </a:lnTo>
                  <a:lnTo>
                    <a:pt x="14" y="2143"/>
                  </a:lnTo>
                  <a:close/>
                  <a:moveTo>
                    <a:pt x="14" y="2171"/>
                  </a:moveTo>
                  <a:lnTo>
                    <a:pt x="14" y="2185"/>
                  </a:lnTo>
                  <a:lnTo>
                    <a:pt x="0" y="2185"/>
                  </a:lnTo>
                  <a:lnTo>
                    <a:pt x="0" y="2171"/>
                  </a:lnTo>
                  <a:lnTo>
                    <a:pt x="14" y="2171"/>
                  </a:lnTo>
                  <a:close/>
                  <a:moveTo>
                    <a:pt x="14" y="2199"/>
                  </a:moveTo>
                  <a:lnTo>
                    <a:pt x="14" y="2213"/>
                  </a:lnTo>
                  <a:lnTo>
                    <a:pt x="0" y="2213"/>
                  </a:lnTo>
                  <a:lnTo>
                    <a:pt x="0" y="2199"/>
                  </a:lnTo>
                  <a:lnTo>
                    <a:pt x="14" y="2199"/>
                  </a:lnTo>
                  <a:close/>
                  <a:moveTo>
                    <a:pt x="14" y="2227"/>
                  </a:moveTo>
                  <a:lnTo>
                    <a:pt x="14" y="2241"/>
                  </a:lnTo>
                  <a:lnTo>
                    <a:pt x="0" y="2241"/>
                  </a:lnTo>
                  <a:lnTo>
                    <a:pt x="0" y="2227"/>
                  </a:lnTo>
                  <a:lnTo>
                    <a:pt x="14" y="2227"/>
                  </a:lnTo>
                  <a:close/>
                  <a:moveTo>
                    <a:pt x="14" y="2254"/>
                  </a:moveTo>
                  <a:lnTo>
                    <a:pt x="14" y="2268"/>
                  </a:lnTo>
                  <a:lnTo>
                    <a:pt x="0" y="2268"/>
                  </a:lnTo>
                  <a:lnTo>
                    <a:pt x="0" y="2254"/>
                  </a:lnTo>
                  <a:lnTo>
                    <a:pt x="14" y="2254"/>
                  </a:lnTo>
                  <a:close/>
                  <a:moveTo>
                    <a:pt x="14" y="2283"/>
                  </a:moveTo>
                  <a:lnTo>
                    <a:pt x="14" y="2296"/>
                  </a:lnTo>
                  <a:lnTo>
                    <a:pt x="0" y="2296"/>
                  </a:lnTo>
                  <a:lnTo>
                    <a:pt x="0" y="2283"/>
                  </a:lnTo>
                  <a:lnTo>
                    <a:pt x="14" y="2283"/>
                  </a:lnTo>
                  <a:close/>
                  <a:moveTo>
                    <a:pt x="14" y="2310"/>
                  </a:moveTo>
                  <a:lnTo>
                    <a:pt x="14" y="2324"/>
                  </a:lnTo>
                  <a:lnTo>
                    <a:pt x="0" y="2324"/>
                  </a:lnTo>
                  <a:lnTo>
                    <a:pt x="0" y="2310"/>
                  </a:lnTo>
                  <a:lnTo>
                    <a:pt x="14" y="2310"/>
                  </a:lnTo>
                  <a:close/>
                  <a:moveTo>
                    <a:pt x="14" y="2338"/>
                  </a:moveTo>
                  <a:lnTo>
                    <a:pt x="14" y="2352"/>
                  </a:lnTo>
                  <a:lnTo>
                    <a:pt x="0" y="2352"/>
                  </a:lnTo>
                  <a:lnTo>
                    <a:pt x="0" y="2338"/>
                  </a:lnTo>
                  <a:lnTo>
                    <a:pt x="14" y="2338"/>
                  </a:lnTo>
                  <a:close/>
                  <a:moveTo>
                    <a:pt x="14" y="2366"/>
                  </a:moveTo>
                  <a:lnTo>
                    <a:pt x="14" y="2380"/>
                  </a:lnTo>
                  <a:lnTo>
                    <a:pt x="0" y="2380"/>
                  </a:lnTo>
                  <a:lnTo>
                    <a:pt x="0" y="2366"/>
                  </a:lnTo>
                  <a:lnTo>
                    <a:pt x="14" y="2366"/>
                  </a:lnTo>
                  <a:close/>
                  <a:moveTo>
                    <a:pt x="14" y="2394"/>
                  </a:moveTo>
                  <a:lnTo>
                    <a:pt x="14" y="2408"/>
                  </a:lnTo>
                  <a:lnTo>
                    <a:pt x="0" y="2408"/>
                  </a:lnTo>
                  <a:lnTo>
                    <a:pt x="0" y="2394"/>
                  </a:lnTo>
                  <a:lnTo>
                    <a:pt x="14" y="2394"/>
                  </a:lnTo>
                  <a:close/>
                  <a:moveTo>
                    <a:pt x="14" y="2421"/>
                  </a:moveTo>
                  <a:lnTo>
                    <a:pt x="14" y="2435"/>
                  </a:lnTo>
                  <a:lnTo>
                    <a:pt x="0" y="2435"/>
                  </a:lnTo>
                  <a:lnTo>
                    <a:pt x="0" y="2421"/>
                  </a:lnTo>
                  <a:lnTo>
                    <a:pt x="14" y="2421"/>
                  </a:lnTo>
                  <a:close/>
                  <a:moveTo>
                    <a:pt x="14" y="2449"/>
                  </a:moveTo>
                  <a:lnTo>
                    <a:pt x="14" y="2453"/>
                  </a:lnTo>
                  <a:lnTo>
                    <a:pt x="0" y="2453"/>
                  </a:lnTo>
                  <a:lnTo>
                    <a:pt x="0" y="2449"/>
                  </a:lnTo>
                  <a:lnTo>
                    <a:pt x="14" y="2449"/>
                  </a:lnTo>
                  <a:close/>
                </a:path>
              </a:pathLst>
            </a:custGeom>
            <a:solidFill>
              <a:srgbClr val="000000"/>
            </a:solidFill>
            <a:ln w="0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182" name="Freeform 29">
              <a:extLst>
                <a:ext uri="{FF2B5EF4-FFF2-40B4-BE49-F238E27FC236}">
                  <a16:creationId xmlns:a16="http://schemas.microsoft.com/office/drawing/2014/main" id="{4D1CA11A-DBA6-0D1A-A4FD-BB8F24D5A3E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853776" y="3078501"/>
              <a:ext cx="18000" cy="3726773"/>
            </a:xfrm>
            <a:custGeom>
              <a:avLst/>
              <a:gdLst>
                <a:gd name="T0" fmla="*/ 15 w 15"/>
                <a:gd name="T1" fmla="*/ 42 h 2453"/>
                <a:gd name="T2" fmla="*/ 0 w 15"/>
                <a:gd name="T3" fmla="*/ 56 h 2453"/>
                <a:gd name="T4" fmla="*/ 15 w 15"/>
                <a:gd name="T5" fmla="*/ 112 h 2453"/>
                <a:gd name="T6" fmla="*/ 0 w 15"/>
                <a:gd name="T7" fmla="*/ 154 h 2453"/>
                <a:gd name="T8" fmla="*/ 15 w 15"/>
                <a:gd name="T9" fmla="*/ 167 h 2453"/>
                <a:gd name="T10" fmla="*/ 15 w 15"/>
                <a:gd name="T11" fmla="*/ 237 h 2453"/>
                <a:gd name="T12" fmla="*/ 0 w 15"/>
                <a:gd name="T13" fmla="*/ 251 h 2453"/>
                <a:gd name="T14" fmla="*/ 15 w 15"/>
                <a:gd name="T15" fmla="*/ 307 h 2453"/>
                <a:gd name="T16" fmla="*/ 0 w 15"/>
                <a:gd name="T17" fmla="*/ 348 h 2453"/>
                <a:gd name="T18" fmla="*/ 15 w 15"/>
                <a:gd name="T19" fmla="*/ 362 h 2453"/>
                <a:gd name="T20" fmla="*/ 15 w 15"/>
                <a:gd name="T21" fmla="*/ 432 h 2453"/>
                <a:gd name="T22" fmla="*/ 0 w 15"/>
                <a:gd name="T23" fmla="*/ 446 h 2453"/>
                <a:gd name="T24" fmla="*/ 15 w 15"/>
                <a:gd name="T25" fmla="*/ 501 h 2453"/>
                <a:gd name="T26" fmla="*/ 0 w 15"/>
                <a:gd name="T27" fmla="*/ 543 h 2453"/>
                <a:gd name="T28" fmla="*/ 15 w 15"/>
                <a:gd name="T29" fmla="*/ 557 h 2453"/>
                <a:gd name="T30" fmla="*/ 15 w 15"/>
                <a:gd name="T31" fmla="*/ 627 h 2453"/>
                <a:gd name="T32" fmla="*/ 0 w 15"/>
                <a:gd name="T33" fmla="*/ 641 h 2453"/>
                <a:gd name="T34" fmla="*/ 15 w 15"/>
                <a:gd name="T35" fmla="*/ 696 h 2453"/>
                <a:gd name="T36" fmla="*/ 0 w 15"/>
                <a:gd name="T37" fmla="*/ 738 h 2453"/>
                <a:gd name="T38" fmla="*/ 15 w 15"/>
                <a:gd name="T39" fmla="*/ 752 h 2453"/>
                <a:gd name="T40" fmla="*/ 15 w 15"/>
                <a:gd name="T41" fmla="*/ 822 h 2453"/>
                <a:gd name="T42" fmla="*/ 0 w 15"/>
                <a:gd name="T43" fmla="*/ 835 h 2453"/>
                <a:gd name="T44" fmla="*/ 15 w 15"/>
                <a:gd name="T45" fmla="*/ 891 h 2453"/>
                <a:gd name="T46" fmla="*/ 0 w 15"/>
                <a:gd name="T47" fmla="*/ 933 h 2453"/>
                <a:gd name="T48" fmla="*/ 15 w 15"/>
                <a:gd name="T49" fmla="*/ 947 h 2453"/>
                <a:gd name="T50" fmla="*/ 15 w 15"/>
                <a:gd name="T51" fmla="*/ 1016 h 2453"/>
                <a:gd name="T52" fmla="*/ 0 w 15"/>
                <a:gd name="T53" fmla="*/ 1030 h 2453"/>
                <a:gd name="T54" fmla="*/ 15 w 15"/>
                <a:gd name="T55" fmla="*/ 1086 h 2453"/>
                <a:gd name="T56" fmla="*/ 0 w 15"/>
                <a:gd name="T57" fmla="*/ 1127 h 2453"/>
                <a:gd name="T58" fmla="*/ 15 w 15"/>
                <a:gd name="T59" fmla="*/ 1141 h 2453"/>
                <a:gd name="T60" fmla="*/ 15 w 15"/>
                <a:gd name="T61" fmla="*/ 1211 h 2453"/>
                <a:gd name="T62" fmla="*/ 0 w 15"/>
                <a:gd name="T63" fmla="*/ 1225 h 2453"/>
                <a:gd name="T64" fmla="*/ 15 w 15"/>
                <a:gd name="T65" fmla="*/ 1281 h 2453"/>
                <a:gd name="T66" fmla="*/ 0 w 15"/>
                <a:gd name="T67" fmla="*/ 1322 h 2453"/>
                <a:gd name="T68" fmla="*/ 15 w 15"/>
                <a:gd name="T69" fmla="*/ 1336 h 2453"/>
                <a:gd name="T70" fmla="*/ 15 w 15"/>
                <a:gd name="T71" fmla="*/ 1406 h 2453"/>
                <a:gd name="T72" fmla="*/ 0 w 15"/>
                <a:gd name="T73" fmla="*/ 1420 h 2453"/>
                <a:gd name="T74" fmla="*/ 15 w 15"/>
                <a:gd name="T75" fmla="*/ 1475 h 2453"/>
                <a:gd name="T76" fmla="*/ 0 w 15"/>
                <a:gd name="T77" fmla="*/ 1517 h 2453"/>
                <a:gd name="T78" fmla="*/ 15 w 15"/>
                <a:gd name="T79" fmla="*/ 1531 h 2453"/>
                <a:gd name="T80" fmla="*/ 15 w 15"/>
                <a:gd name="T81" fmla="*/ 1601 h 2453"/>
                <a:gd name="T82" fmla="*/ 0 w 15"/>
                <a:gd name="T83" fmla="*/ 1615 h 2453"/>
                <a:gd name="T84" fmla="*/ 15 w 15"/>
                <a:gd name="T85" fmla="*/ 1670 h 2453"/>
                <a:gd name="T86" fmla="*/ 0 w 15"/>
                <a:gd name="T87" fmla="*/ 1712 h 2453"/>
                <a:gd name="T88" fmla="*/ 15 w 15"/>
                <a:gd name="T89" fmla="*/ 1726 h 2453"/>
                <a:gd name="T90" fmla="*/ 15 w 15"/>
                <a:gd name="T91" fmla="*/ 1795 h 2453"/>
                <a:gd name="T92" fmla="*/ 0 w 15"/>
                <a:gd name="T93" fmla="*/ 1809 h 2453"/>
                <a:gd name="T94" fmla="*/ 15 w 15"/>
                <a:gd name="T95" fmla="*/ 1865 h 2453"/>
                <a:gd name="T96" fmla="*/ 0 w 15"/>
                <a:gd name="T97" fmla="*/ 1907 h 2453"/>
                <a:gd name="T98" fmla="*/ 15 w 15"/>
                <a:gd name="T99" fmla="*/ 1921 h 2453"/>
                <a:gd name="T100" fmla="*/ 15 w 15"/>
                <a:gd name="T101" fmla="*/ 1990 h 2453"/>
                <a:gd name="T102" fmla="*/ 0 w 15"/>
                <a:gd name="T103" fmla="*/ 2004 h 2453"/>
                <a:gd name="T104" fmla="*/ 15 w 15"/>
                <a:gd name="T105" fmla="*/ 2060 h 2453"/>
                <a:gd name="T106" fmla="*/ 0 w 15"/>
                <a:gd name="T107" fmla="*/ 2102 h 2453"/>
                <a:gd name="T108" fmla="*/ 15 w 15"/>
                <a:gd name="T109" fmla="*/ 2116 h 2453"/>
                <a:gd name="T110" fmla="*/ 15 w 15"/>
                <a:gd name="T111" fmla="*/ 2185 h 2453"/>
                <a:gd name="T112" fmla="*/ 0 w 15"/>
                <a:gd name="T113" fmla="*/ 2199 h 2453"/>
                <a:gd name="T114" fmla="*/ 15 w 15"/>
                <a:gd name="T115" fmla="*/ 2254 h 2453"/>
                <a:gd name="T116" fmla="*/ 0 w 15"/>
                <a:gd name="T117" fmla="*/ 2296 h 2453"/>
                <a:gd name="T118" fmla="*/ 15 w 15"/>
                <a:gd name="T119" fmla="*/ 2310 h 2453"/>
                <a:gd name="T120" fmla="*/ 15 w 15"/>
                <a:gd name="T121" fmla="*/ 2380 h 2453"/>
                <a:gd name="T122" fmla="*/ 0 w 15"/>
                <a:gd name="T123" fmla="*/ 2394 h 2453"/>
                <a:gd name="T124" fmla="*/ 15 w 15"/>
                <a:gd name="T125" fmla="*/ 2449 h 24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5" h="2453">
                  <a:moveTo>
                    <a:pt x="15" y="0"/>
                  </a:moveTo>
                  <a:lnTo>
                    <a:pt x="15" y="14"/>
                  </a:lnTo>
                  <a:lnTo>
                    <a:pt x="0" y="14"/>
                  </a:lnTo>
                  <a:lnTo>
                    <a:pt x="0" y="0"/>
                  </a:lnTo>
                  <a:lnTo>
                    <a:pt x="15" y="0"/>
                  </a:lnTo>
                  <a:close/>
                  <a:moveTo>
                    <a:pt x="15" y="28"/>
                  </a:moveTo>
                  <a:lnTo>
                    <a:pt x="15" y="42"/>
                  </a:lnTo>
                  <a:lnTo>
                    <a:pt x="0" y="42"/>
                  </a:lnTo>
                  <a:lnTo>
                    <a:pt x="0" y="28"/>
                  </a:lnTo>
                  <a:lnTo>
                    <a:pt x="15" y="28"/>
                  </a:lnTo>
                  <a:close/>
                  <a:moveTo>
                    <a:pt x="15" y="56"/>
                  </a:moveTo>
                  <a:lnTo>
                    <a:pt x="15" y="70"/>
                  </a:lnTo>
                  <a:lnTo>
                    <a:pt x="0" y="70"/>
                  </a:lnTo>
                  <a:lnTo>
                    <a:pt x="0" y="56"/>
                  </a:lnTo>
                  <a:lnTo>
                    <a:pt x="15" y="56"/>
                  </a:lnTo>
                  <a:close/>
                  <a:moveTo>
                    <a:pt x="15" y="84"/>
                  </a:moveTo>
                  <a:lnTo>
                    <a:pt x="15" y="98"/>
                  </a:lnTo>
                  <a:lnTo>
                    <a:pt x="0" y="98"/>
                  </a:lnTo>
                  <a:lnTo>
                    <a:pt x="0" y="84"/>
                  </a:lnTo>
                  <a:lnTo>
                    <a:pt x="15" y="84"/>
                  </a:lnTo>
                  <a:close/>
                  <a:moveTo>
                    <a:pt x="15" y="112"/>
                  </a:moveTo>
                  <a:lnTo>
                    <a:pt x="15" y="126"/>
                  </a:lnTo>
                  <a:lnTo>
                    <a:pt x="0" y="126"/>
                  </a:lnTo>
                  <a:lnTo>
                    <a:pt x="0" y="112"/>
                  </a:lnTo>
                  <a:lnTo>
                    <a:pt x="15" y="112"/>
                  </a:lnTo>
                  <a:close/>
                  <a:moveTo>
                    <a:pt x="15" y="140"/>
                  </a:moveTo>
                  <a:lnTo>
                    <a:pt x="15" y="154"/>
                  </a:lnTo>
                  <a:lnTo>
                    <a:pt x="0" y="154"/>
                  </a:lnTo>
                  <a:lnTo>
                    <a:pt x="0" y="140"/>
                  </a:lnTo>
                  <a:lnTo>
                    <a:pt x="15" y="140"/>
                  </a:lnTo>
                  <a:close/>
                  <a:moveTo>
                    <a:pt x="15" y="167"/>
                  </a:moveTo>
                  <a:lnTo>
                    <a:pt x="15" y="181"/>
                  </a:lnTo>
                  <a:lnTo>
                    <a:pt x="0" y="181"/>
                  </a:lnTo>
                  <a:lnTo>
                    <a:pt x="0" y="167"/>
                  </a:lnTo>
                  <a:lnTo>
                    <a:pt x="15" y="167"/>
                  </a:lnTo>
                  <a:close/>
                  <a:moveTo>
                    <a:pt x="15" y="195"/>
                  </a:moveTo>
                  <a:lnTo>
                    <a:pt x="15" y="209"/>
                  </a:lnTo>
                  <a:lnTo>
                    <a:pt x="0" y="209"/>
                  </a:lnTo>
                  <a:lnTo>
                    <a:pt x="0" y="195"/>
                  </a:lnTo>
                  <a:lnTo>
                    <a:pt x="15" y="195"/>
                  </a:lnTo>
                  <a:close/>
                  <a:moveTo>
                    <a:pt x="15" y="223"/>
                  </a:moveTo>
                  <a:lnTo>
                    <a:pt x="15" y="237"/>
                  </a:lnTo>
                  <a:lnTo>
                    <a:pt x="0" y="237"/>
                  </a:lnTo>
                  <a:lnTo>
                    <a:pt x="0" y="223"/>
                  </a:lnTo>
                  <a:lnTo>
                    <a:pt x="15" y="223"/>
                  </a:lnTo>
                  <a:close/>
                  <a:moveTo>
                    <a:pt x="15" y="251"/>
                  </a:moveTo>
                  <a:lnTo>
                    <a:pt x="15" y="265"/>
                  </a:lnTo>
                  <a:lnTo>
                    <a:pt x="0" y="265"/>
                  </a:lnTo>
                  <a:lnTo>
                    <a:pt x="0" y="251"/>
                  </a:lnTo>
                  <a:lnTo>
                    <a:pt x="15" y="251"/>
                  </a:lnTo>
                  <a:close/>
                  <a:moveTo>
                    <a:pt x="15" y="279"/>
                  </a:moveTo>
                  <a:lnTo>
                    <a:pt x="15" y="293"/>
                  </a:lnTo>
                  <a:lnTo>
                    <a:pt x="0" y="293"/>
                  </a:lnTo>
                  <a:lnTo>
                    <a:pt x="0" y="279"/>
                  </a:lnTo>
                  <a:lnTo>
                    <a:pt x="15" y="279"/>
                  </a:lnTo>
                  <a:close/>
                  <a:moveTo>
                    <a:pt x="15" y="307"/>
                  </a:moveTo>
                  <a:lnTo>
                    <a:pt x="15" y="321"/>
                  </a:lnTo>
                  <a:lnTo>
                    <a:pt x="0" y="321"/>
                  </a:lnTo>
                  <a:lnTo>
                    <a:pt x="0" y="307"/>
                  </a:lnTo>
                  <a:lnTo>
                    <a:pt x="15" y="307"/>
                  </a:lnTo>
                  <a:close/>
                  <a:moveTo>
                    <a:pt x="15" y="334"/>
                  </a:moveTo>
                  <a:lnTo>
                    <a:pt x="15" y="348"/>
                  </a:lnTo>
                  <a:lnTo>
                    <a:pt x="0" y="348"/>
                  </a:lnTo>
                  <a:lnTo>
                    <a:pt x="0" y="334"/>
                  </a:lnTo>
                  <a:lnTo>
                    <a:pt x="15" y="334"/>
                  </a:lnTo>
                  <a:close/>
                  <a:moveTo>
                    <a:pt x="15" y="362"/>
                  </a:moveTo>
                  <a:lnTo>
                    <a:pt x="15" y="376"/>
                  </a:lnTo>
                  <a:lnTo>
                    <a:pt x="0" y="376"/>
                  </a:lnTo>
                  <a:lnTo>
                    <a:pt x="0" y="362"/>
                  </a:lnTo>
                  <a:lnTo>
                    <a:pt x="15" y="362"/>
                  </a:lnTo>
                  <a:close/>
                  <a:moveTo>
                    <a:pt x="15" y="390"/>
                  </a:moveTo>
                  <a:lnTo>
                    <a:pt x="15" y="404"/>
                  </a:lnTo>
                  <a:lnTo>
                    <a:pt x="0" y="404"/>
                  </a:lnTo>
                  <a:lnTo>
                    <a:pt x="0" y="390"/>
                  </a:lnTo>
                  <a:lnTo>
                    <a:pt x="15" y="390"/>
                  </a:lnTo>
                  <a:close/>
                  <a:moveTo>
                    <a:pt x="15" y="418"/>
                  </a:moveTo>
                  <a:lnTo>
                    <a:pt x="15" y="432"/>
                  </a:lnTo>
                  <a:lnTo>
                    <a:pt x="0" y="432"/>
                  </a:lnTo>
                  <a:lnTo>
                    <a:pt x="0" y="418"/>
                  </a:lnTo>
                  <a:lnTo>
                    <a:pt x="15" y="418"/>
                  </a:lnTo>
                  <a:close/>
                  <a:moveTo>
                    <a:pt x="15" y="446"/>
                  </a:moveTo>
                  <a:lnTo>
                    <a:pt x="15" y="460"/>
                  </a:lnTo>
                  <a:lnTo>
                    <a:pt x="0" y="460"/>
                  </a:lnTo>
                  <a:lnTo>
                    <a:pt x="0" y="446"/>
                  </a:lnTo>
                  <a:lnTo>
                    <a:pt x="15" y="446"/>
                  </a:lnTo>
                  <a:close/>
                  <a:moveTo>
                    <a:pt x="15" y="474"/>
                  </a:moveTo>
                  <a:lnTo>
                    <a:pt x="15" y="488"/>
                  </a:lnTo>
                  <a:lnTo>
                    <a:pt x="0" y="488"/>
                  </a:lnTo>
                  <a:lnTo>
                    <a:pt x="0" y="474"/>
                  </a:lnTo>
                  <a:lnTo>
                    <a:pt x="15" y="474"/>
                  </a:lnTo>
                  <a:close/>
                  <a:moveTo>
                    <a:pt x="15" y="501"/>
                  </a:moveTo>
                  <a:lnTo>
                    <a:pt x="15" y="515"/>
                  </a:lnTo>
                  <a:lnTo>
                    <a:pt x="0" y="515"/>
                  </a:lnTo>
                  <a:lnTo>
                    <a:pt x="0" y="501"/>
                  </a:lnTo>
                  <a:lnTo>
                    <a:pt x="15" y="501"/>
                  </a:lnTo>
                  <a:close/>
                  <a:moveTo>
                    <a:pt x="15" y="529"/>
                  </a:moveTo>
                  <a:lnTo>
                    <a:pt x="15" y="543"/>
                  </a:lnTo>
                  <a:lnTo>
                    <a:pt x="0" y="543"/>
                  </a:lnTo>
                  <a:lnTo>
                    <a:pt x="0" y="529"/>
                  </a:lnTo>
                  <a:lnTo>
                    <a:pt x="15" y="529"/>
                  </a:lnTo>
                  <a:close/>
                  <a:moveTo>
                    <a:pt x="15" y="557"/>
                  </a:moveTo>
                  <a:lnTo>
                    <a:pt x="15" y="571"/>
                  </a:lnTo>
                  <a:lnTo>
                    <a:pt x="0" y="571"/>
                  </a:lnTo>
                  <a:lnTo>
                    <a:pt x="0" y="557"/>
                  </a:lnTo>
                  <a:lnTo>
                    <a:pt x="15" y="557"/>
                  </a:lnTo>
                  <a:close/>
                  <a:moveTo>
                    <a:pt x="15" y="585"/>
                  </a:moveTo>
                  <a:lnTo>
                    <a:pt x="15" y="599"/>
                  </a:lnTo>
                  <a:lnTo>
                    <a:pt x="0" y="599"/>
                  </a:lnTo>
                  <a:lnTo>
                    <a:pt x="0" y="585"/>
                  </a:lnTo>
                  <a:lnTo>
                    <a:pt x="15" y="585"/>
                  </a:lnTo>
                  <a:close/>
                  <a:moveTo>
                    <a:pt x="15" y="613"/>
                  </a:moveTo>
                  <a:lnTo>
                    <a:pt x="15" y="627"/>
                  </a:lnTo>
                  <a:lnTo>
                    <a:pt x="0" y="627"/>
                  </a:lnTo>
                  <a:lnTo>
                    <a:pt x="0" y="613"/>
                  </a:lnTo>
                  <a:lnTo>
                    <a:pt x="15" y="613"/>
                  </a:lnTo>
                  <a:close/>
                  <a:moveTo>
                    <a:pt x="15" y="641"/>
                  </a:moveTo>
                  <a:lnTo>
                    <a:pt x="15" y="655"/>
                  </a:lnTo>
                  <a:lnTo>
                    <a:pt x="0" y="655"/>
                  </a:lnTo>
                  <a:lnTo>
                    <a:pt x="0" y="641"/>
                  </a:lnTo>
                  <a:lnTo>
                    <a:pt x="15" y="641"/>
                  </a:lnTo>
                  <a:close/>
                  <a:moveTo>
                    <a:pt x="15" y="668"/>
                  </a:moveTo>
                  <a:lnTo>
                    <a:pt x="15" y="682"/>
                  </a:lnTo>
                  <a:lnTo>
                    <a:pt x="0" y="682"/>
                  </a:lnTo>
                  <a:lnTo>
                    <a:pt x="0" y="668"/>
                  </a:lnTo>
                  <a:lnTo>
                    <a:pt x="15" y="668"/>
                  </a:lnTo>
                  <a:close/>
                  <a:moveTo>
                    <a:pt x="15" y="696"/>
                  </a:moveTo>
                  <a:lnTo>
                    <a:pt x="15" y="710"/>
                  </a:lnTo>
                  <a:lnTo>
                    <a:pt x="0" y="710"/>
                  </a:lnTo>
                  <a:lnTo>
                    <a:pt x="0" y="696"/>
                  </a:lnTo>
                  <a:lnTo>
                    <a:pt x="15" y="696"/>
                  </a:lnTo>
                  <a:close/>
                  <a:moveTo>
                    <a:pt x="15" y="724"/>
                  </a:moveTo>
                  <a:lnTo>
                    <a:pt x="15" y="738"/>
                  </a:lnTo>
                  <a:lnTo>
                    <a:pt x="0" y="738"/>
                  </a:lnTo>
                  <a:lnTo>
                    <a:pt x="0" y="724"/>
                  </a:lnTo>
                  <a:lnTo>
                    <a:pt x="15" y="724"/>
                  </a:lnTo>
                  <a:close/>
                  <a:moveTo>
                    <a:pt x="15" y="752"/>
                  </a:moveTo>
                  <a:lnTo>
                    <a:pt x="15" y="766"/>
                  </a:lnTo>
                  <a:lnTo>
                    <a:pt x="0" y="766"/>
                  </a:lnTo>
                  <a:lnTo>
                    <a:pt x="0" y="752"/>
                  </a:lnTo>
                  <a:lnTo>
                    <a:pt x="15" y="752"/>
                  </a:lnTo>
                  <a:close/>
                  <a:moveTo>
                    <a:pt x="15" y="780"/>
                  </a:moveTo>
                  <a:lnTo>
                    <a:pt x="15" y="793"/>
                  </a:lnTo>
                  <a:lnTo>
                    <a:pt x="0" y="793"/>
                  </a:lnTo>
                  <a:lnTo>
                    <a:pt x="0" y="780"/>
                  </a:lnTo>
                  <a:lnTo>
                    <a:pt x="15" y="780"/>
                  </a:lnTo>
                  <a:close/>
                  <a:moveTo>
                    <a:pt x="15" y="808"/>
                  </a:moveTo>
                  <a:lnTo>
                    <a:pt x="15" y="822"/>
                  </a:lnTo>
                  <a:lnTo>
                    <a:pt x="0" y="822"/>
                  </a:lnTo>
                  <a:lnTo>
                    <a:pt x="0" y="808"/>
                  </a:lnTo>
                  <a:lnTo>
                    <a:pt x="15" y="808"/>
                  </a:lnTo>
                  <a:close/>
                  <a:moveTo>
                    <a:pt x="15" y="835"/>
                  </a:moveTo>
                  <a:lnTo>
                    <a:pt x="15" y="849"/>
                  </a:lnTo>
                  <a:lnTo>
                    <a:pt x="0" y="849"/>
                  </a:lnTo>
                  <a:lnTo>
                    <a:pt x="0" y="835"/>
                  </a:lnTo>
                  <a:lnTo>
                    <a:pt x="15" y="835"/>
                  </a:lnTo>
                  <a:close/>
                  <a:moveTo>
                    <a:pt x="15" y="863"/>
                  </a:moveTo>
                  <a:lnTo>
                    <a:pt x="15" y="877"/>
                  </a:lnTo>
                  <a:lnTo>
                    <a:pt x="0" y="877"/>
                  </a:lnTo>
                  <a:lnTo>
                    <a:pt x="0" y="863"/>
                  </a:lnTo>
                  <a:lnTo>
                    <a:pt x="15" y="863"/>
                  </a:lnTo>
                  <a:close/>
                  <a:moveTo>
                    <a:pt x="15" y="891"/>
                  </a:moveTo>
                  <a:lnTo>
                    <a:pt x="15" y="905"/>
                  </a:lnTo>
                  <a:lnTo>
                    <a:pt x="0" y="905"/>
                  </a:lnTo>
                  <a:lnTo>
                    <a:pt x="0" y="891"/>
                  </a:lnTo>
                  <a:lnTo>
                    <a:pt x="15" y="891"/>
                  </a:lnTo>
                  <a:close/>
                  <a:moveTo>
                    <a:pt x="15" y="919"/>
                  </a:moveTo>
                  <a:lnTo>
                    <a:pt x="15" y="933"/>
                  </a:lnTo>
                  <a:lnTo>
                    <a:pt x="0" y="933"/>
                  </a:lnTo>
                  <a:lnTo>
                    <a:pt x="0" y="919"/>
                  </a:lnTo>
                  <a:lnTo>
                    <a:pt x="15" y="919"/>
                  </a:lnTo>
                  <a:close/>
                  <a:moveTo>
                    <a:pt x="15" y="947"/>
                  </a:moveTo>
                  <a:lnTo>
                    <a:pt x="15" y="960"/>
                  </a:lnTo>
                  <a:lnTo>
                    <a:pt x="0" y="960"/>
                  </a:lnTo>
                  <a:lnTo>
                    <a:pt x="0" y="947"/>
                  </a:lnTo>
                  <a:lnTo>
                    <a:pt x="15" y="947"/>
                  </a:lnTo>
                  <a:close/>
                  <a:moveTo>
                    <a:pt x="15" y="974"/>
                  </a:moveTo>
                  <a:lnTo>
                    <a:pt x="15" y="988"/>
                  </a:lnTo>
                  <a:lnTo>
                    <a:pt x="0" y="988"/>
                  </a:lnTo>
                  <a:lnTo>
                    <a:pt x="0" y="974"/>
                  </a:lnTo>
                  <a:lnTo>
                    <a:pt x="15" y="974"/>
                  </a:lnTo>
                  <a:close/>
                  <a:moveTo>
                    <a:pt x="15" y="1002"/>
                  </a:moveTo>
                  <a:lnTo>
                    <a:pt x="15" y="1016"/>
                  </a:lnTo>
                  <a:lnTo>
                    <a:pt x="0" y="1016"/>
                  </a:lnTo>
                  <a:lnTo>
                    <a:pt x="0" y="1002"/>
                  </a:lnTo>
                  <a:lnTo>
                    <a:pt x="15" y="1002"/>
                  </a:lnTo>
                  <a:close/>
                  <a:moveTo>
                    <a:pt x="15" y="1030"/>
                  </a:moveTo>
                  <a:lnTo>
                    <a:pt x="15" y="1044"/>
                  </a:lnTo>
                  <a:lnTo>
                    <a:pt x="0" y="1044"/>
                  </a:lnTo>
                  <a:lnTo>
                    <a:pt x="0" y="1030"/>
                  </a:lnTo>
                  <a:lnTo>
                    <a:pt x="15" y="1030"/>
                  </a:lnTo>
                  <a:close/>
                  <a:moveTo>
                    <a:pt x="15" y="1058"/>
                  </a:moveTo>
                  <a:lnTo>
                    <a:pt x="15" y="1072"/>
                  </a:lnTo>
                  <a:lnTo>
                    <a:pt x="0" y="1072"/>
                  </a:lnTo>
                  <a:lnTo>
                    <a:pt x="0" y="1058"/>
                  </a:lnTo>
                  <a:lnTo>
                    <a:pt x="15" y="1058"/>
                  </a:lnTo>
                  <a:close/>
                  <a:moveTo>
                    <a:pt x="15" y="1086"/>
                  </a:moveTo>
                  <a:lnTo>
                    <a:pt x="15" y="1100"/>
                  </a:lnTo>
                  <a:lnTo>
                    <a:pt x="0" y="1100"/>
                  </a:lnTo>
                  <a:lnTo>
                    <a:pt x="0" y="1086"/>
                  </a:lnTo>
                  <a:lnTo>
                    <a:pt x="15" y="1086"/>
                  </a:lnTo>
                  <a:close/>
                  <a:moveTo>
                    <a:pt x="15" y="1114"/>
                  </a:moveTo>
                  <a:lnTo>
                    <a:pt x="15" y="1127"/>
                  </a:lnTo>
                  <a:lnTo>
                    <a:pt x="0" y="1127"/>
                  </a:lnTo>
                  <a:lnTo>
                    <a:pt x="0" y="1114"/>
                  </a:lnTo>
                  <a:lnTo>
                    <a:pt x="15" y="1114"/>
                  </a:lnTo>
                  <a:close/>
                  <a:moveTo>
                    <a:pt x="15" y="1141"/>
                  </a:moveTo>
                  <a:lnTo>
                    <a:pt x="15" y="1155"/>
                  </a:lnTo>
                  <a:lnTo>
                    <a:pt x="0" y="1155"/>
                  </a:lnTo>
                  <a:lnTo>
                    <a:pt x="0" y="1141"/>
                  </a:lnTo>
                  <a:lnTo>
                    <a:pt x="15" y="1141"/>
                  </a:lnTo>
                  <a:close/>
                  <a:moveTo>
                    <a:pt x="15" y="1169"/>
                  </a:moveTo>
                  <a:lnTo>
                    <a:pt x="15" y="1183"/>
                  </a:lnTo>
                  <a:lnTo>
                    <a:pt x="0" y="1183"/>
                  </a:lnTo>
                  <a:lnTo>
                    <a:pt x="0" y="1169"/>
                  </a:lnTo>
                  <a:lnTo>
                    <a:pt x="15" y="1169"/>
                  </a:lnTo>
                  <a:close/>
                  <a:moveTo>
                    <a:pt x="15" y="1197"/>
                  </a:moveTo>
                  <a:lnTo>
                    <a:pt x="15" y="1211"/>
                  </a:lnTo>
                  <a:lnTo>
                    <a:pt x="0" y="1211"/>
                  </a:lnTo>
                  <a:lnTo>
                    <a:pt x="0" y="1197"/>
                  </a:lnTo>
                  <a:lnTo>
                    <a:pt x="15" y="1197"/>
                  </a:lnTo>
                  <a:close/>
                  <a:moveTo>
                    <a:pt x="15" y="1225"/>
                  </a:moveTo>
                  <a:lnTo>
                    <a:pt x="15" y="1239"/>
                  </a:lnTo>
                  <a:lnTo>
                    <a:pt x="0" y="1239"/>
                  </a:lnTo>
                  <a:lnTo>
                    <a:pt x="0" y="1225"/>
                  </a:lnTo>
                  <a:lnTo>
                    <a:pt x="15" y="1225"/>
                  </a:lnTo>
                  <a:close/>
                  <a:moveTo>
                    <a:pt x="15" y="1253"/>
                  </a:moveTo>
                  <a:lnTo>
                    <a:pt x="15" y="1267"/>
                  </a:lnTo>
                  <a:lnTo>
                    <a:pt x="0" y="1267"/>
                  </a:lnTo>
                  <a:lnTo>
                    <a:pt x="0" y="1253"/>
                  </a:lnTo>
                  <a:lnTo>
                    <a:pt x="15" y="1253"/>
                  </a:lnTo>
                  <a:close/>
                  <a:moveTo>
                    <a:pt x="15" y="1281"/>
                  </a:moveTo>
                  <a:lnTo>
                    <a:pt x="15" y="1294"/>
                  </a:lnTo>
                  <a:lnTo>
                    <a:pt x="0" y="1294"/>
                  </a:lnTo>
                  <a:lnTo>
                    <a:pt x="0" y="1281"/>
                  </a:lnTo>
                  <a:lnTo>
                    <a:pt x="15" y="1281"/>
                  </a:lnTo>
                  <a:close/>
                  <a:moveTo>
                    <a:pt x="15" y="1308"/>
                  </a:moveTo>
                  <a:lnTo>
                    <a:pt x="15" y="1322"/>
                  </a:lnTo>
                  <a:lnTo>
                    <a:pt x="0" y="1322"/>
                  </a:lnTo>
                  <a:lnTo>
                    <a:pt x="0" y="1308"/>
                  </a:lnTo>
                  <a:lnTo>
                    <a:pt x="15" y="1308"/>
                  </a:lnTo>
                  <a:close/>
                  <a:moveTo>
                    <a:pt x="15" y="1336"/>
                  </a:moveTo>
                  <a:lnTo>
                    <a:pt x="15" y="1350"/>
                  </a:lnTo>
                  <a:lnTo>
                    <a:pt x="0" y="1350"/>
                  </a:lnTo>
                  <a:lnTo>
                    <a:pt x="0" y="1336"/>
                  </a:lnTo>
                  <a:lnTo>
                    <a:pt x="15" y="1336"/>
                  </a:lnTo>
                  <a:close/>
                  <a:moveTo>
                    <a:pt x="15" y="1364"/>
                  </a:moveTo>
                  <a:lnTo>
                    <a:pt x="15" y="1378"/>
                  </a:lnTo>
                  <a:lnTo>
                    <a:pt x="0" y="1378"/>
                  </a:lnTo>
                  <a:lnTo>
                    <a:pt x="0" y="1364"/>
                  </a:lnTo>
                  <a:lnTo>
                    <a:pt x="15" y="1364"/>
                  </a:lnTo>
                  <a:close/>
                  <a:moveTo>
                    <a:pt x="15" y="1392"/>
                  </a:moveTo>
                  <a:lnTo>
                    <a:pt x="15" y="1406"/>
                  </a:lnTo>
                  <a:lnTo>
                    <a:pt x="0" y="1406"/>
                  </a:lnTo>
                  <a:lnTo>
                    <a:pt x="0" y="1392"/>
                  </a:lnTo>
                  <a:lnTo>
                    <a:pt x="15" y="1392"/>
                  </a:lnTo>
                  <a:close/>
                  <a:moveTo>
                    <a:pt x="15" y="1420"/>
                  </a:moveTo>
                  <a:lnTo>
                    <a:pt x="15" y="1434"/>
                  </a:lnTo>
                  <a:lnTo>
                    <a:pt x="0" y="1434"/>
                  </a:lnTo>
                  <a:lnTo>
                    <a:pt x="0" y="1420"/>
                  </a:lnTo>
                  <a:lnTo>
                    <a:pt x="15" y="1420"/>
                  </a:lnTo>
                  <a:close/>
                  <a:moveTo>
                    <a:pt x="15" y="1448"/>
                  </a:moveTo>
                  <a:lnTo>
                    <a:pt x="15" y="1461"/>
                  </a:lnTo>
                  <a:lnTo>
                    <a:pt x="0" y="1461"/>
                  </a:lnTo>
                  <a:lnTo>
                    <a:pt x="0" y="1448"/>
                  </a:lnTo>
                  <a:lnTo>
                    <a:pt x="15" y="1448"/>
                  </a:lnTo>
                  <a:close/>
                  <a:moveTo>
                    <a:pt x="15" y="1475"/>
                  </a:moveTo>
                  <a:lnTo>
                    <a:pt x="15" y="1489"/>
                  </a:lnTo>
                  <a:lnTo>
                    <a:pt x="0" y="1489"/>
                  </a:lnTo>
                  <a:lnTo>
                    <a:pt x="0" y="1475"/>
                  </a:lnTo>
                  <a:lnTo>
                    <a:pt x="15" y="1475"/>
                  </a:lnTo>
                  <a:close/>
                  <a:moveTo>
                    <a:pt x="15" y="1503"/>
                  </a:moveTo>
                  <a:lnTo>
                    <a:pt x="15" y="1517"/>
                  </a:lnTo>
                  <a:lnTo>
                    <a:pt x="0" y="1517"/>
                  </a:lnTo>
                  <a:lnTo>
                    <a:pt x="0" y="1503"/>
                  </a:lnTo>
                  <a:lnTo>
                    <a:pt x="15" y="1503"/>
                  </a:lnTo>
                  <a:close/>
                  <a:moveTo>
                    <a:pt x="15" y="1531"/>
                  </a:moveTo>
                  <a:lnTo>
                    <a:pt x="15" y="1545"/>
                  </a:lnTo>
                  <a:lnTo>
                    <a:pt x="0" y="1545"/>
                  </a:lnTo>
                  <a:lnTo>
                    <a:pt x="0" y="1531"/>
                  </a:lnTo>
                  <a:lnTo>
                    <a:pt x="15" y="1531"/>
                  </a:lnTo>
                  <a:close/>
                  <a:moveTo>
                    <a:pt x="15" y="1559"/>
                  </a:moveTo>
                  <a:lnTo>
                    <a:pt x="15" y="1573"/>
                  </a:lnTo>
                  <a:lnTo>
                    <a:pt x="0" y="1573"/>
                  </a:lnTo>
                  <a:lnTo>
                    <a:pt x="0" y="1559"/>
                  </a:lnTo>
                  <a:lnTo>
                    <a:pt x="15" y="1559"/>
                  </a:lnTo>
                  <a:close/>
                  <a:moveTo>
                    <a:pt x="15" y="1587"/>
                  </a:moveTo>
                  <a:lnTo>
                    <a:pt x="15" y="1601"/>
                  </a:lnTo>
                  <a:lnTo>
                    <a:pt x="0" y="1601"/>
                  </a:lnTo>
                  <a:lnTo>
                    <a:pt x="0" y="1587"/>
                  </a:lnTo>
                  <a:lnTo>
                    <a:pt x="15" y="1587"/>
                  </a:lnTo>
                  <a:close/>
                  <a:moveTo>
                    <a:pt x="15" y="1615"/>
                  </a:moveTo>
                  <a:lnTo>
                    <a:pt x="15" y="1628"/>
                  </a:lnTo>
                  <a:lnTo>
                    <a:pt x="0" y="1628"/>
                  </a:lnTo>
                  <a:lnTo>
                    <a:pt x="0" y="1615"/>
                  </a:lnTo>
                  <a:lnTo>
                    <a:pt x="15" y="1615"/>
                  </a:lnTo>
                  <a:close/>
                  <a:moveTo>
                    <a:pt x="15" y="1642"/>
                  </a:moveTo>
                  <a:lnTo>
                    <a:pt x="15" y="1656"/>
                  </a:lnTo>
                  <a:lnTo>
                    <a:pt x="0" y="1656"/>
                  </a:lnTo>
                  <a:lnTo>
                    <a:pt x="0" y="1642"/>
                  </a:lnTo>
                  <a:lnTo>
                    <a:pt x="15" y="1642"/>
                  </a:lnTo>
                  <a:close/>
                  <a:moveTo>
                    <a:pt x="15" y="1670"/>
                  </a:moveTo>
                  <a:lnTo>
                    <a:pt x="15" y="1684"/>
                  </a:lnTo>
                  <a:lnTo>
                    <a:pt x="0" y="1684"/>
                  </a:lnTo>
                  <a:lnTo>
                    <a:pt x="0" y="1670"/>
                  </a:lnTo>
                  <a:lnTo>
                    <a:pt x="15" y="1670"/>
                  </a:lnTo>
                  <a:close/>
                  <a:moveTo>
                    <a:pt x="15" y="1698"/>
                  </a:moveTo>
                  <a:lnTo>
                    <a:pt x="15" y="1712"/>
                  </a:lnTo>
                  <a:lnTo>
                    <a:pt x="0" y="1712"/>
                  </a:lnTo>
                  <a:lnTo>
                    <a:pt x="0" y="1698"/>
                  </a:lnTo>
                  <a:lnTo>
                    <a:pt x="15" y="1698"/>
                  </a:lnTo>
                  <a:close/>
                  <a:moveTo>
                    <a:pt x="15" y="1726"/>
                  </a:moveTo>
                  <a:lnTo>
                    <a:pt x="15" y="1740"/>
                  </a:lnTo>
                  <a:lnTo>
                    <a:pt x="0" y="1740"/>
                  </a:lnTo>
                  <a:lnTo>
                    <a:pt x="0" y="1726"/>
                  </a:lnTo>
                  <a:lnTo>
                    <a:pt x="15" y="1726"/>
                  </a:lnTo>
                  <a:close/>
                  <a:moveTo>
                    <a:pt x="15" y="1754"/>
                  </a:moveTo>
                  <a:lnTo>
                    <a:pt x="15" y="1768"/>
                  </a:lnTo>
                  <a:lnTo>
                    <a:pt x="0" y="1768"/>
                  </a:lnTo>
                  <a:lnTo>
                    <a:pt x="0" y="1754"/>
                  </a:lnTo>
                  <a:lnTo>
                    <a:pt x="15" y="1754"/>
                  </a:lnTo>
                  <a:close/>
                  <a:moveTo>
                    <a:pt x="15" y="1782"/>
                  </a:moveTo>
                  <a:lnTo>
                    <a:pt x="15" y="1795"/>
                  </a:lnTo>
                  <a:lnTo>
                    <a:pt x="0" y="1795"/>
                  </a:lnTo>
                  <a:lnTo>
                    <a:pt x="0" y="1782"/>
                  </a:lnTo>
                  <a:lnTo>
                    <a:pt x="15" y="1782"/>
                  </a:lnTo>
                  <a:close/>
                  <a:moveTo>
                    <a:pt x="15" y="1809"/>
                  </a:moveTo>
                  <a:lnTo>
                    <a:pt x="15" y="1823"/>
                  </a:lnTo>
                  <a:lnTo>
                    <a:pt x="0" y="1823"/>
                  </a:lnTo>
                  <a:lnTo>
                    <a:pt x="0" y="1809"/>
                  </a:lnTo>
                  <a:lnTo>
                    <a:pt x="15" y="1809"/>
                  </a:lnTo>
                  <a:close/>
                  <a:moveTo>
                    <a:pt x="15" y="1837"/>
                  </a:moveTo>
                  <a:lnTo>
                    <a:pt x="15" y="1851"/>
                  </a:lnTo>
                  <a:lnTo>
                    <a:pt x="0" y="1851"/>
                  </a:lnTo>
                  <a:lnTo>
                    <a:pt x="0" y="1837"/>
                  </a:lnTo>
                  <a:lnTo>
                    <a:pt x="15" y="1837"/>
                  </a:lnTo>
                  <a:close/>
                  <a:moveTo>
                    <a:pt x="15" y="1865"/>
                  </a:moveTo>
                  <a:lnTo>
                    <a:pt x="15" y="1879"/>
                  </a:lnTo>
                  <a:lnTo>
                    <a:pt x="0" y="1879"/>
                  </a:lnTo>
                  <a:lnTo>
                    <a:pt x="0" y="1865"/>
                  </a:lnTo>
                  <a:lnTo>
                    <a:pt x="15" y="1865"/>
                  </a:lnTo>
                  <a:close/>
                  <a:moveTo>
                    <a:pt x="15" y="1893"/>
                  </a:moveTo>
                  <a:lnTo>
                    <a:pt x="15" y="1907"/>
                  </a:lnTo>
                  <a:lnTo>
                    <a:pt x="0" y="1907"/>
                  </a:lnTo>
                  <a:lnTo>
                    <a:pt x="0" y="1893"/>
                  </a:lnTo>
                  <a:lnTo>
                    <a:pt x="15" y="1893"/>
                  </a:lnTo>
                  <a:close/>
                  <a:moveTo>
                    <a:pt x="15" y="1921"/>
                  </a:moveTo>
                  <a:lnTo>
                    <a:pt x="15" y="1935"/>
                  </a:lnTo>
                  <a:lnTo>
                    <a:pt x="0" y="1935"/>
                  </a:lnTo>
                  <a:lnTo>
                    <a:pt x="0" y="1921"/>
                  </a:lnTo>
                  <a:lnTo>
                    <a:pt x="15" y="1921"/>
                  </a:lnTo>
                  <a:close/>
                  <a:moveTo>
                    <a:pt x="15" y="1949"/>
                  </a:moveTo>
                  <a:lnTo>
                    <a:pt x="15" y="1962"/>
                  </a:lnTo>
                  <a:lnTo>
                    <a:pt x="0" y="1962"/>
                  </a:lnTo>
                  <a:lnTo>
                    <a:pt x="0" y="1949"/>
                  </a:lnTo>
                  <a:lnTo>
                    <a:pt x="15" y="1949"/>
                  </a:lnTo>
                  <a:close/>
                  <a:moveTo>
                    <a:pt x="15" y="1976"/>
                  </a:moveTo>
                  <a:lnTo>
                    <a:pt x="15" y="1990"/>
                  </a:lnTo>
                  <a:lnTo>
                    <a:pt x="0" y="1990"/>
                  </a:lnTo>
                  <a:lnTo>
                    <a:pt x="0" y="1976"/>
                  </a:lnTo>
                  <a:lnTo>
                    <a:pt x="15" y="1976"/>
                  </a:lnTo>
                  <a:close/>
                  <a:moveTo>
                    <a:pt x="15" y="2004"/>
                  </a:moveTo>
                  <a:lnTo>
                    <a:pt x="15" y="2018"/>
                  </a:lnTo>
                  <a:lnTo>
                    <a:pt x="0" y="2018"/>
                  </a:lnTo>
                  <a:lnTo>
                    <a:pt x="0" y="2004"/>
                  </a:lnTo>
                  <a:lnTo>
                    <a:pt x="15" y="2004"/>
                  </a:lnTo>
                  <a:close/>
                  <a:moveTo>
                    <a:pt x="15" y="2032"/>
                  </a:moveTo>
                  <a:lnTo>
                    <a:pt x="15" y="2046"/>
                  </a:lnTo>
                  <a:lnTo>
                    <a:pt x="0" y="2046"/>
                  </a:lnTo>
                  <a:lnTo>
                    <a:pt x="0" y="2032"/>
                  </a:lnTo>
                  <a:lnTo>
                    <a:pt x="15" y="2032"/>
                  </a:lnTo>
                  <a:close/>
                  <a:moveTo>
                    <a:pt x="15" y="2060"/>
                  </a:moveTo>
                  <a:lnTo>
                    <a:pt x="15" y="2074"/>
                  </a:lnTo>
                  <a:lnTo>
                    <a:pt x="0" y="2074"/>
                  </a:lnTo>
                  <a:lnTo>
                    <a:pt x="0" y="2060"/>
                  </a:lnTo>
                  <a:lnTo>
                    <a:pt x="15" y="2060"/>
                  </a:lnTo>
                  <a:close/>
                  <a:moveTo>
                    <a:pt x="15" y="2087"/>
                  </a:moveTo>
                  <a:lnTo>
                    <a:pt x="15" y="2102"/>
                  </a:lnTo>
                  <a:lnTo>
                    <a:pt x="0" y="2102"/>
                  </a:lnTo>
                  <a:lnTo>
                    <a:pt x="0" y="2087"/>
                  </a:lnTo>
                  <a:lnTo>
                    <a:pt x="15" y="2087"/>
                  </a:lnTo>
                  <a:close/>
                  <a:moveTo>
                    <a:pt x="15" y="2116"/>
                  </a:moveTo>
                  <a:lnTo>
                    <a:pt x="15" y="2129"/>
                  </a:lnTo>
                  <a:lnTo>
                    <a:pt x="0" y="2129"/>
                  </a:lnTo>
                  <a:lnTo>
                    <a:pt x="0" y="2116"/>
                  </a:lnTo>
                  <a:lnTo>
                    <a:pt x="15" y="2116"/>
                  </a:lnTo>
                  <a:close/>
                  <a:moveTo>
                    <a:pt x="15" y="2143"/>
                  </a:moveTo>
                  <a:lnTo>
                    <a:pt x="15" y="2157"/>
                  </a:lnTo>
                  <a:lnTo>
                    <a:pt x="0" y="2157"/>
                  </a:lnTo>
                  <a:lnTo>
                    <a:pt x="0" y="2143"/>
                  </a:lnTo>
                  <a:lnTo>
                    <a:pt x="15" y="2143"/>
                  </a:lnTo>
                  <a:close/>
                  <a:moveTo>
                    <a:pt x="15" y="2171"/>
                  </a:moveTo>
                  <a:lnTo>
                    <a:pt x="15" y="2185"/>
                  </a:lnTo>
                  <a:lnTo>
                    <a:pt x="0" y="2185"/>
                  </a:lnTo>
                  <a:lnTo>
                    <a:pt x="0" y="2171"/>
                  </a:lnTo>
                  <a:lnTo>
                    <a:pt x="15" y="2171"/>
                  </a:lnTo>
                  <a:close/>
                  <a:moveTo>
                    <a:pt x="15" y="2199"/>
                  </a:moveTo>
                  <a:lnTo>
                    <a:pt x="15" y="2213"/>
                  </a:lnTo>
                  <a:lnTo>
                    <a:pt x="0" y="2213"/>
                  </a:lnTo>
                  <a:lnTo>
                    <a:pt x="0" y="2199"/>
                  </a:lnTo>
                  <a:lnTo>
                    <a:pt x="15" y="2199"/>
                  </a:lnTo>
                  <a:close/>
                  <a:moveTo>
                    <a:pt x="15" y="2227"/>
                  </a:moveTo>
                  <a:lnTo>
                    <a:pt x="15" y="2241"/>
                  </a:lnTo>
                  <a:lnTo>
                    <a:pt x="0" y="2241"/>
                  </a:lnTo>
                  <a:lnTo>
                    <a:pt x="0" y="2227"/>
                  </a:lnTo>
                  <a:lnTo>
                    <a:pt x="15" y="2227"/>
                  </a:lnTo>
                  <a:close/>
                  <a:moveTo>
                    <a:pt x="15" y="2254"/>
                  </a:moveTo>
                  <a:lnTo>
                    <a:pt x="15" y="2268"/>
                  </a:lnTo>
                  <a:lnTo>
                    <a:pt x="0" y="2268"/>
                  </a:lnTo>
                  <a:lnTo>
                    <a:pt x="0" y="2254"/>
                  </a:lnTo>
                  <a:lnTo>
                    <a:pt x="15" y="2254"/>
                  </a:lnTo>
                  <a:close/>
                  <a:moveTo>
                    <a:pt x="15" y="2283"/>
                  </a:moveTo>
                  <a:lnTo>
                    <a:pt x="15" y="2296"/>
                  </a:lnTo>
                  <a:lnTo>
                    <a:pt x="0" y="2296"/>
                  </a:lnTo>
                  <a:lnTo>
                    <a:pt x="0" y="2283"/>
                  </a:lnTo>
                  <a:lnTo>
                    <a:pt x="15" y="2283"/>
                  </a:lnTo>
                  <a:close/>
                  <a:moveTo>
                    <a:pt x="15" y="2310"/>
                  </a:moveTo>
                  <a:lnTo>
                    <a:pt x="15" y="2324"/>
                  </a:lnTo>
                  <a:lnTo>
                    <a:pt x="0" y="2324"/>
                  </a:lnTo>
                  <a:lnTo>
                    <a:pt x="0" y="2310"/>
                  </a:lnTo>
                  <a:lnTo>
                    <a:pt x="15" y="2310"/>
                  </a:lnTo>
                  <a:close/>
                  <a:moveTo>
                    <a:pt x="15" y="2338"/>
                  </a:moveTo>
                  <a:lnTo>
                    <a:pt x="15" y="2352"/>
                  </a:lnTo>
                  <a:lnTo>
                    <a:pt x="0" y="2352"/>
                  </a:lnTo>
                  <a:lnTo>
                    <a:pt x="0" y="2338"/>
                  </a:lnTo>
                  <a:lnTo>
                    <a:pt x="15" y="2338"/>
                  </a:lnTo>
                  <a:close/>
                  <a:moveTo>
                    <a:pt x="15" y="2366"/>
                  </a:moveTo>
                  <a:lnTo>
                    <a:pt x="15" y="2380"/>
                  </a:lnTo>
                  <a:lnTo>
                    <a:pt x="0" y="2380"/>
                  </a:lnTo>
                  <a:lnTo>
                    <a:pt x="0" y="2366"/>
                  </a:lnTo>
                  <a:lnTo>
                    <a:pt x="15" y="2366"/>
                  </a:lnTo>
                  <a:close/>
                  <a:moveTo>
                    <a:pt x="15" y="2394"/>
                  </a:moveTo>
                  <a:lnTo>
                    <a:pt x="15" y="2408"/>
                  </a:lnTo>
                  <a:lnTo>
                    <a:pt x="0" y="2408"/>
                  </a:lnTo>
                  <a:lnTo>
                    <a:pt x="0" y="2394"/>
                  </a:lnTo>
                  <a:lnTo>
                    <a:pt x="15" y="2394"/>
                  </a:lnTo>
                  <a:close/>
                  <a:moveTo>
                    <a:pt x="15" y="2421"/>
                  </a:moveTo>
                  <a:lnTo>
                    <a:pt x="15" y="2435"/>
                  </a:lnTo>
                  <a:lnTo>
                    <a:pt x="0" y="2435"/>
                  </a:lnTo>
                  <a:lnTo>
                    <a:pt x="0" y="2421"/>
                  </a:lnTo>
                  <a:lnTo>
                    <a:pt x="15" y="2421"/>
                  </a:lnTo>
                  <a:close/>
                  <a:moveTo>
                    <a:pt x="15" y="2449"/>
                  </a:moveTo>
                  <a:lnTo>
                    <a:pt x="15" y="2453"/>
                  </a:lnTo>
                  <a:lnTo>
                    <a:pt x="0" y="2453"/>
                  </a:lnTo>
                  <a:lnTo>
                    <a:pt x="0" y="2449"/>
                  </a:lnTo>
                  <a:lnTo>
                    <a:pt x="15" y="2449"/>
                  </a:lnTo>
                  <a:close/>
                </a:path>
              </a:pathLst>
            </a:custGeom>
            <a:solidFill>
              <a:srgbClr val="000000"/>
            </a:solidFill>
            <a:ln w="0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183" name="Freeform 30">
              <a:extLst>
                <a:ext uri="{FF2B5EF4-FFF2-40B4-BE49-F238E27FC236}">
                  <a16:creationId xmlns:a16="http://schemas.microsoft.com/office/drawing/2014/main" id="{339B2834-3AEB-68BA-CE75-4E52ACC33C9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442602" y="3078501"/>
              <a:ext cx="18000" cy="3726773"/>
            </a:xfrm>
            <a:custGeom>
              <a:avLst/>
              <a:gdLst>
                <a:gd name="T0" fmla="*/ 14 w 14"/>
                <a:gd name="T1" fmla="*/ 42 h 2453"/>
                <a:gd name="T2" fmla="*/ 0 w 14"/>
                <a:gd name="T3" fmla="*/ 56 h 2453"/>
                <a:gd name="T4" fmla="*/ 14 w 14"/>
                <a:gd name="T5" fmla="*/ 112 h 2453"/>
                <a:gd name="T6" fmla="*/ 0 w 14"/>
                <a:gd name="T7" fmla="*/ 154 h 2453"/>
                <a:gd name="T8" fmla="*/ 14 w 14"/>
                <a:gd name="T9" fmla="*/ 167 h 2453"/>
                <a:gd name="T10" fmla="*/ 14 w 14"/>
                <a:gd name="T11" fmla="*/ 237 h 2453"/>
                <a:gd name="T12" fmla="*/ 0 w 14"/>
                <a:gd name="T13" fmla="*/ 251 h 2453"/>
                <a:gd name="T14" fmla="*/ 14 w 14"/>
                <a:gd name="T15" fmla="*/ 307 h 2453"/>
                <a:gd name="T16" fmla="*/ 0 w 14"/>
                <a:gd name="T17" fmla="*/ 348 h 2453"/>
                <a:gd name="T18" fmla="*/ 14 w 14"/>
                <a:gd name="T19" fmla="*/ 362 h 2453"/>
                <a:gd name="T20" fmla="*/ 14 w 14"/>
                <a:gd name="T21" fmla="*/ 432 h 2453"/>
                <a:gd name="T22" fmla="*/ 0 w 14"/>
                <a:gd name="T23" fmla="*/ 446 h 2453"/>
                <a:gd name="T24" fmla="*/ 14 w 14"/>
                <a:gd name="T25" fmla="*/ 501 h 2453"/>
                <a:gd name="T26" fmla="*/ 0 w 14"/>
                <a:gd name="T27" fmla="*/ 543 h 2453"/>
                <a:gd name="T28" fmla="*/ 14 w 14"/>
                <a:gd name="T29" fmla="*/ 557 h 2453"/>
                <a:gd name="T30" fmla="*/ 14 w 14"/>
                <a:gd name="T31" fmla="*/ 627 h 2453"/>
                <a:gd name="T32" fmla="*/ 0 w 14"/>
                <a:gd name="T33" fmla="*/ 641 h 2453"/>
                <a:gd name="T34" fmla="*/ 14 w 14"/>
                <a:gd name="T35" fmla="*/ 696 h 2453"/>
                <a:gd name="T36" fmla="*/ 0 w 14"/>
                <a:gd name="T37" fmla="*/ 738 h 2453"/>
                <a:gd name="T38" fmla="*/ 14 w 14"/>
                <a:gd name="T39" fmla="*/ 752 h 2453"/>
                <a:gd name="T40" fmla="*/ 14 w 14"/>
                <a:gd name="T41" fmla="*/ 822 h 2453"/>
                <a:gd name="T42" fmla="*/ 0 w 14"/>
                <a:gd name="T43" fmla="*/ 835 h 2453"/>
                <a:gd name="T44" fmla="*/ 14 w 14"/>
                <a:gd name="T45" fmla="*/ 891 h 2453"/>
                <a:gd name="T46" fmla="*/ 0 w 14"/>
                <a:gd name="T47" fmla="*/ 933 h 2453"/>
                <a:gd name="T48" fmla="*/ 14 w 14"/>
                <a:gd name="T49" fmla="*/ 947 h 2453"/>
                <a:gd name="T50" fmla="*/ 14 w 14"/>
                <a:gd name="T51" fmla="*/ 1016 h 2453"/>
                <a:gd name="T52" fmla="*/ 0 w 14"/>
                <a:gd name="T53" fmla="*/ 1030 h 2453"/>
                <a:gd name="T54" fmla="*/ 14 w 14"/>
                <a:gd name="T55" fmla="*/ 1086 h 2453"/>
                <a:gd name="T56" fmla="*/ 0 w 14"/>
                <a:gd name="T57" fmla="*/ 1127 h 2453"/>
                <a:gd name="T58" fmla="*/ 14 w 14"/>
                <a:gd name="T59" fmla="*/ 1141 h 2453"/>
                <a:gd name="T60" fmla="*/ 14 w 14"/>
                <a:gd name="T61" fmla="*/ 1211 h 2453"/>
                <a:gd name="T62" fmla="*/ 0 w 14"/>
                <a:gd name="T63" fmla="*/ 1225 h 2453"/>
                <a:gd name="T64" fmla="*/ 14 w 14"/>
                <a:gd name="T65" fmla="*/ 1281 h 2453"/>
                <a:gd name="T66" fmla="*/ 0 w 14"/>
                <a:gd name="T67" fmla="*/ 1322 h 2453"/>
                <a:gd name="T68" fmla="*/ 14 w 14"/>
                <a:gd name="T69" fmla="*/ 1336 h 2453"/>
                <a:gd name="T70" fmla="*/ 14 w 14"/>
                <a:gd name="T71" fmla="*/ 1406 h 2453"/>
                <a:gd name="T72" fmla="*/ 0 w 14"/>
                <a:gd name="T73" fmla="*/ 1420 h 2453"/>
                <a:gd name="T74" fmla="*/ 14 w 14"/>
                <a:gd name="T75" fmla="*/ 1475 h 2453"/>
                <a:gd name="T76" fmla="*/ 0 w 14"/>
                <a:gd name="T77" fmla="*/ 1517 h 2453"/>
                <a:gd name="T78" fmla="*/ 14 w 14"/>
                <a:gd name="T79" fmla="*/ 1531 h 2453"/>
                <a:gd name="T80" fmla="*/ 14 w 14"/>
                <a:gd name="T81" fmla="*/ 1601 h 2453"/>
                <a:gd name="T82" fmla="*/ 0 w 14"/>
                <a:gd name="T83" fmla="*/ 1615 h 2453"/>
                <a:gd name="T84" fmla="*/ 14 w 14"/>
                <a:gd name="T85" fmla="*/ 1670 h 2453"/>
                <a:gd name="T86" fmla="*/ 0 w 14"/>
                <a:gd name="T87" fmla="*/ 1712 h 2453"/>
                <a:gd name="T88" fmla="*/ 14 w 14"/>
                <a:gd name="T89" fmla="*/ 1726 h 2453"/>
                <a:gd name="T90" fmla="*/ 14 w 14"/>
                <a:gd name="T91" fmla="*/ 1795 h 2453"/>
                <a:gd name="T92" fmla="*/ 0 w 14"/>
                <a:gd name="T93" fmla="*/ 1809 h 2453"/>
                <a:gd name="T94" fmla="*/ 14 w 14"/>
                <a:gd name="T95" fmla="*/ 1865 h 2453"/>
                <a:gd name="T96" fmla="*/ 0 w 14"/>
                <a:gd name="T97" fmla="*/ 1907 h 2453"/>
                <a:gd name="T98" fmla="*/ 14 w 14"/>
                <a:gd name="T99" fmla="*/ 1921 h 2453"/>
                <a:gd name="T100" fmla="*/ 14 w 14"/>
                <a:gd name="T101" fmla="*/ 1990 h 2453"/>
                <a:gd name="T102" fmla="*/ 0 w 14"/>
                <a:gd name="T103" fmla="*/ 2004 h 2453"/>
                <a:gd name="T104" fmla="*/ 14 w 14"/>
                <a:gd name="T105" fmla="*/ 2060 h 2453"/>
                <a:gd name="T106" fmla="*/ 0 w 14"/>
                <a:gd name="T107" fmla="*/ 2102 h 2453"/>
                <a:gd name="T108" fmla="*/ 14 w 14"/>
                <a:gd name="T109" fmla="*/ 2116 h 2453"/>
                <a:gd name="T110" fmla="*/ 14 w 14"/>
                <a:gd name="T111" fmla="*/ 2185 h 2453"/>
                <a:gd name="T112" fmla="*/ 0 w 14"/>
                <a:gd name="T113" fmla="*/ 2199 h 2453"/>
                <a:gd name="T114" fmla="*/ 14 w 14"/>
                <a:gd name="T115" fmla="*/ 2254 h 2453"/>
                <a:gd name="T116" fmla="*/ 0 w 14"/>
                <a:gd name="T117" fmla="*/ 2296 h 2453"/>
                <a:gd name="T118" fmla="*/ 14 w 14"/>
                <a:gd name="T119" fmla="*/ 2310 h 2453"/>
                <a:gd name="T120" fmla="*/ 14 w 14"/>
                <a:gd name="T121" fmla="*/ 2380 h 2453"/>
                <a:gd name="T122" fmla="*/ 0 w 14"/>
                <a:gd name="T123" fmla="*/ 2394 h 2453"/>
                <a:gd name="T124" fmla="*/ 14 w 14"/>
                <a:gd name="T125" fmla="*/ 2449 h 24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4" h="2453">
                  <a:moveTo>
                    <a:pt x="14" y="0"/>
                  </a:moveTo>
                  <a:lnTo>
                    <a:pt x="14" y="14"/>
                  </a:lnTo>
                  <a:lnTo>
                    <a:pt x="0" y="14"/>
                  </a:lnTo>
                  <a:lnTo>
                    <a:pt x="0" y="0"/>
                  </a:lnTo>
                  <a:lnTo>
                    <a:pt x="14" y="0"/>
                  </a:lnTo>
                  <a:close/>
                  <a:moveTo>
                    <a:pt x="14" y="28"/>
                  </a:moveTo>
                  <a:lnTo>
                    <a:pt x="14" y="42"/>
                  </a:lnTo>
                  <a:lnTo>
                    <a:pt x="0" y="42"/>
                  </a:lnTo>
                  <a:lnTo>
                    <a:pt x="0" y="28"/>
                  </a:lnTo>
                  <a:lnTo>
                    <a:pt x="14" y="28"/>
                  </a:lnTo>
                  <a:close/>
                  <a:moveTo>
                    <a:pt x="14" y="56"/>
                  </a:moveTo>
                  <a:lnTo>
                    <a:pt x="14" y="70"/>
                  </a:lnTo>
                  <a:lnTo>
                    <a:pt x="0" y="70"/>
                  </a:lnTo>
                  <a:lnTo>
                    <a:pt x="0" y="56"/>
                  </a:lnTo>
                  <a:lnTo>
                    <a:pt x="14" y="56"/>
                  </a:lnTo>
                  <a:close/>
                  <a:moveTo>
                    <a:pt x="14" y="84"/>
                  </a:moveTo>
                  <a:lnTo>
                    <a:pt x="14" y="98"/>
                  </a:lnTo>
                  <a:lnTo>
                    <a:pt x="0" y="98"/>
                  </a:lnTo>
                  <a:lnTo>
                    <a:pt x="0" y="84"/>
                  </a:lnTo>
                  <a:lnTo>
                    <a:pt x="14" y="84"/>
                  </a:lnTo>
                  <a:close/>
                  <a:moveTo>
                    <a:pt x="14" y="112"/>
                  </a:moveTo>
                  <a:lnTo>
                    <a:pt x="14" y="126"/>
                  </a:lnTo>
                  <a:lnTo>
                    <a:pt x="0" y="126"/>
                  </a:lnTo>
                  <a:lnTo>
                    <a:pt x="0" y="112"/>
                  </a:lnTo>
                  <a:lnTo>
                    <a:pt x="14" y="112"/>
                  </a:lnTo>
                  <a:close/>
                  <a:moveTo>
                    <a:pt x="14" y="140"/>
                  </a:moveTo>
                  <a:lnTo>
                    <a:pt x="14" y="154"/>
                  </a:lnTo>
                  <a:lnTo>
                    <a:pt x="0" y="154"/>
                  </a:lnTo>
                  <a:lnTo>
                    <a:pt x="0" y="140"/>
                  </a:lnTo>
                  <a:lnTo>
                    <a:pt x="14" y="140"/>
                  </a:lnTo>
                  <a:close/>
                  <a:moveTo>
                    <a:pt x="14" y="167"/>
                  </a:moveTo>
                  <a:lnTo>
                    <a:pt x="14" y="181"/>
                  </a:lnTo>
                  <a:lnTo>
                    <a:pt x="0" y="181"/>
                  </a:lnTo>
                  <a:lnTo>
                    <a:pt x="0" y="167"/>
                  </a:lnTo>
                  <a:lnTo>
                    <a:pt x="14" y="167"/>
                  </a:lnTo>
                  <a:close/>
                  <a:moveTo>
                    <a:pt x="14" y="195"/>
                  </a:moveTo>
                  <a:lnTo>
                    <a:pt x="14" y="209"/>
                  </a:lnTo>
                  <a:lnTo>
                    <a:pt x="0" y="209"/>
                  </a:lnTo>
                  <a:lnTo>
                    <a:pt x="0" y="195"/>
                  </a:lnTo>
                  <a:lnTo>
                    <a:pt x="14" y="195"/>
                  </a:lnTo>
                  <a:close/>
                  <a:moveTo>
                    <a:pt x="14" y="223"/>
                  </a:moveTo>
                  <a:lnTo>
                    <a:pt x="14" y="237"/>
                  </a:lnTo>
                  <a:lnTo>
                    <a:pt x="0" y="237"/>
                  </a:lnTo>
                  <a:lnTo>
                    <a:pt x="0" y="223"/>
                  </a:lnTo>
                  <a:lnTo>
                    <a:pt x="14" y="223"/>
                  </a:lnTo>
                  <a:close/>
                  <a:moveTo>
                    <a:pt x="14" y="251"/>
                  </a:moveTo>
                  <a:lnTo>
                    <a:pt x="14" y="265"/>
                  </a:lnTo>
                  <a:lnTo>
                    <a:pt x="0" y="265"/>
                  </a:lnTo>
                  <a:lnTo>
                    <a:pt x="0" y="251"/>
                  </a:lnTo>
                  <a:lnTo>
                    <a:pt x="14" y="251"/>
                  </a:lnTo>
                  <a:close/>
                  <a:moveTo>
                    <a:pt x="14" y="279"/>
                  </a:moveTo>
                  <a:lnTo>
                    <a:pt x="14" y="293"/>
                  </a:lnTo>
                  <a:lnTo>
                    <a:pt x="0" y="293"/>
                  </a:lnTo>
                  <a:lnTo>
                    <a:pt x="0" y="279"/>
                  </a:lnTo>
                  <a:lnTo>
                    <a:pt x="14" y="279"/>
                  </a:lnTo>
                  <a:close/>
                  <a:moveTo>
                    <a:pt x="14" y="307"/>
                  </a:moveTo>
                  <a:lnTo>
                    <a:pt x="14" y="321"/>
                  </a:lnTo>
                  <a:lnTo>
                    <a:pt x="0" y="321"/>
                  </a:lnTo>
                  <a:lnTo>
                    <a:pt x="0" y="307"/>
                  </a:lnTo>
                  <a:lnTo>
                    <a:pt x="14" y="307"/>
                  </a:lnTo>
                  <a:close/>
                  <a:moveTo>
                    <a:pt x="14" y="334"/>
                  </a:moveTo>
                  <a:lnTo>
                    <a:pt x="14" y="348"/>
                  </a:lnTo>
                  <a:lnTo>
                    <a:pt x="0" y="348"/>
                  </a:lnTo>
                  <a:lnTo>
                    <a:pt x="0" y="334"/>
                  </a:lnTo>
                  <a:lnTo>
                    <a:pt x="14" y="334"/>
                  </a:lnTo>
                  <a:close/>
                  <a:moveTo>
                    <a:pt x="14" y="362"/>
                  </a:moveTo>
                  <a:lnTo>
                    <a:pt x="14" y="376"/>
                  </a:lnTo>
                  <a:lnTo>
                    <a:pt x="0" y="376"/>
                  </a:lnTo>
                  <a:lnTo>
                    <a:pt x="0" y="362"/>
                  </a:lnTo>
                  <a:lnTo>
                    <a:pt x="14" y="362"/>
                  </a:lnTo>
                  <a:close/>
                  <a:moveTo>
                    <a:pt x="14" y="390"/>
                  </a:moveTo>
                  <a:lnTo>
                    <a:pt x="14" y="404"/>
                  </a:lnTo>
                  <a:lnTo>
                    <a:pt x="0" y="404"/>
                  </a:lnTo>
                  <a:lnTo>
                    <a:pt x="0" y="390"/>
                  </a:lnTo>
                  <a:lnTo>
                    <a:pt x="14" y="390"/>
                  </a:lnTo>
                  <a:close/>
                  <a:moveTo>
                    <a:pt x="14" y="418"/>
                  </a:moveTo>
                  <a:lnTo>
                    <a:pt x="14" y="432"/>
                  </a:lnTo>
                  <a:lnTo>
                    <a:pt x="0" y="432"/>
                  </a:lnTo>
                  <a:lnTo>
                    <a:pt x="0" y="418"/>
                  </a:lnTo>
                  <a:lnTo>
                    <a:pt x="14" y="418"/>
                  </a:lnTo>
                  <a:close/>
                  <a:moveTo>
                    <a:pt x="14" y="446"/>
                  </a:moveTo>
                  <a:lnTo>
                    <a:pt x="14" y="460"/>
                  </a:lnTo>
                  <a:lnTo>
                    <a:pt x="0" y="460"/>
                  </a:lnTo>
                  <a:lnTo>
                    <a:pt x="0" y="446"/>
                  </a:lnTo>
                  <a:lnTo>
                    <a:pt x="14" y="446"/>
                  </a:lnTo>
                  <a:close/>
                  <a:moveTo>
                    <a:pt x="14" y="474"/>
                  </a:moveTo>
                  <a:lnTo>
                    <a:pt x="14" y="488"/>
                  </a:lnTo>
                  <a:lnTo>
                    <a:pt x="0" y="488"/>
                  </a:lnTo>
                  <a:lnTo>
                    <a:pt x="0" y="474"/>
                  </a:lnTo>
                  <a:lnTo>
                    <a:pt x="14" y="474"/>
                  </a:lnTo>
                  <a:close/>
                  <a:moveTo>
                    <a:pt x="14" y="501"/>
                  </a:moveTo>
                  <a:lnTo>
                    <a:pt x="14" y="515"/>
                  </a:lnTo>
                  <a:lnTo>
                    <a:pt x="0" y="515"/>
                  </a:lnTo>
                  <a:lnTo>
                    <a:pt x="0" y="501"/>
                  </a:lnTo>
                  <a:lnTo>
                    <a:pt x="14" y="501"/>
                  </a:lnTo>
                  <a:close/>
                  <a:moveTo>
                    <a:pt x="14" y="529"/>
                  </a:moveTo>
                  <a:lnTo>
                    <a:pt x="14" y="543"/>
                  </a:lnTo>
                  <a:lnTo>
                    <a:pt x="0" y="543"/>
                  </a:lnTo>
                  <a:lnTo>
                    <a:pt x="0" y="529"/>
                  </a:lnTo>
                  <a:lnTo>
                    <a:pt x="14" y="529"/>
                  </a:lnTo>
                  <a:close/>
                  <a:moveTo>
                    <a:pt x="14" y="557"/>
                  </a:moveTo>
                  <a:lnTo>
                    <a:pt x="14" y="571"/>
                  </a:lnTo>
                  <a:lnTo>
                    <a:pt x="0" y="571"/>
                  </a:lnTo>
                  <a:lnTo>
                    <a:pt x="0" y="557"/>
                  </a:lnTo>
                  <a:lnTo>
                    <a:pt x="14" y="557"/>
                  </a:lnTo>
                  <a:close/>
                  <a:moveTo>
                    <a:pt x="14" y="585"/>
                  </a:moveTo>
                  <a:lnTo>
                    <a:pt x="14" y="599"/>
                  </a:lnTo>
                  <a:lnTo>
                    <a:pt x="0" y="599"/>
                  </a:lnTo>
                  <a:lnTo>
                    <a:pt x="0" y="585"/>
                  </a:lnTo>
                  <a:lnTo>
                    <a:pt x="14" y="585"/>
                  </a:lnTo>
                  <a:close/>
                  <a:moveTo>
                    <a:pt x="14" y="613"/>
                  </a:moveTo>
                  <a:lnTo>
                    <a:pt x="14" y="627"/>
                  </a:lnTo>
                  <a:lnTo>
                    <a:pt x="0" y="627"/>
                  </a:lnTo>
                  <a:lnTo>
                    <a:pt x="0" y="613"/>
                  </a:lnTo>
                  <a:lnTo>
                    <a:pt x="14" y="613"/>
                  </a:lnTo>
                  <a:close/>
                  <a:moveTo>
                    <a:pt x="14" y="641"/>
                  </a:moveTo>
                  <a:lnTo>
                    <a:pt x="14" y="655"/>
                  </a:lnTo>
                  <a:lnTo>
                    <a:pt x="0" y="655"/>
                  </a:lnTo>
                  <a:lnTo>
                    <a:pt x="0" y="641"/>
                  </a:lnTo>
                  <a:lnTo>
                    <a:pt x="14" y="641"/>
                  </a:lnTo>
                  <a:close/>
                  <a:moveTo>
                    <a:pt x="14" y="668"/>
                  </a:moveTo>
                  <a:lnTo>
                    <a:pt x="14" y="682"/>
                  </a:lnTo>
                  <a:lnTo>
                    <a:pt x="0" y="682"/>
                  </a:lnTo>
                  <a:lnTo>
                    <a:pt x="0" y="668"/>
                  </a:lnTo>
                  <a:lnTo>
                    <a:pt x="14" y="668"/>
                  </a:lnTo>
                  <a:close/>
                  <a:moveTo>
                    <a:pt x="14" y="696"/>
                  </a:moveTo>
                  <a:lnTo>
                    <a:pt x="14" y="710"/>
                  </a:lnTo>
                  <a:lnTo>
                    <a:pt x="0" y="710"/>
                  </a:lnTo>
                  <a:lnTo>
                    <a:pt x="0" y="696"/>
                  </a:lnTo>
                  <a:lnTo>
                    <a:pt x="14" y="696"/>
                  </a:lnTo>
                  <a:close/>
                  <a:moveTo>
                    <a:pt x="14" y="724"/>
                  </a:moveTo>
                  <a:lnTo>
                    <a:pt x="14" y="738"/>
                  </a:lnTo>
                  <a:lnTo>
                    <a:pt x="0" y="738"/>
                  </a:lnTo>
                  <a:lnTo>
                    <a:pt x="0" y="724"/>
                  </a:lnTo>
                  <a:lnTo>
                    <a:pt x="14" y="724"/>
                  </a:lnTo>
                  <a:close/>
                  <a:moveTo>
                    <a:pt x="14" y="752"/>
                  </a:moveTo>
                  <a:lnTo>
                    <a:pt x="14" y="766"/>
                  </a:lnTo>
                  <a:lnTo>
                    <a:pt x="0" y="766"/>
                  </a:lnTo>
                  <a:lnTo>
                    <a:pt x="0" y="752"/>
                  </a:lnTo>
                  <a:lnTo>
                    <a:pt x="14" y="752"/>
                  </a:lnTo>
                  <a:close/>
                  <a:moveTo>
                    <a:pt x="14" y="780"/>
                  </a:moveTo>
                  <a:lnTo>
                    <a:pt x="14" y="793"/>
                  </a:lnTo>
                  <a:lnTo>
                    <a:pt x="0" y="793"/>
                  </a:lnTo>
                  <a:lnTo>
                    <a:pt x="0" y="780"/>
                  </a:lnTo>
                  <a:lnTo>
                    <a:pt x="14" y="780"/>
                  </a:lnTo>
                  <a:close/>
                  <a:moveTo>
                    <a:pt x="14" y="808"/>
                  </a:moveTo>
                  <a:lnTo>
                    <a:pt x="14" y="822"/>
                  </a:lnTo>
                  <a:lnTo>
                    <a:pt x="0" y="822"/>
                  </a:lnTo>
                  <a:lnTo>
                    <a:pt x="0" y="808"/>
                  </a:lnTo>
                  <a:lnTo>
                    <a:pt x="14" y="808"/>
                  </a:lnTo>
                  <a:close/>
                  <a:moveTo>
                    <a:pt x="14" y="835"/>
                  </a:moveTo>
                  <a:lnTo>
                    <a:pt x="14" y="849"/>
                  </a:lnTo>
                  <a:lnTo>
                    <a:pt x="0" y="849"/>
                  </a:lnTo>
                  <a:lnTo>
                    <a:pt x="0" y="835"/>
                  </a:lnTo>
                  <a:lnTo>
                    <a:pt x="14" y="835"/>
                  </a:lnTo>
                  <a:close/>
                  <a:moveTo>
                    <a:pt x="14" y="863"/>
                  </a:moveTo>
                  <a:lnTo>
                    <a:pt x="14" y="877"/>
                  </a:lnTo>
                  <a:lnTo>
                    <a:pt x="0" y="877"/>
                  </a:lnTo>
                  <a:lnTo>
                    <a:pt x="0" y="863"/>
                  </a:lnTo>
                  <a:lnTo>
                    <a:pt x="14" y="863"/>
                  </a:lnTo>
                  <a:close/>
                  <a:moveTo>
                    <a:pt x="14" y="891"/>
                  </a:moveTo>
                  <a:lnTo>
                    <a:pt x="14" y="905"/>
                  </a:lnTo>
                  <a:lnTo>
                    <a:pt x="0" y="905"/>
                  </a:lnTo>
                  <a:lnTo>
                    <a:pt x="0" y="891"/>
                  </a:lnTo>
                  <a:lnTo>
                    <a:pt x="14" y="891"/>
                  </a:lnTo>
                  <a:close/>
                  <a:moveTo>
                    <a:pt x="14" y="919"/>
                  </a:moveTo>
                  <a:lnTo>
                    <a:pt x="14" y="933"/>
                  </a:lnTo>
                  <a:lnTo>
                    <a:pt x="0" y="933"/>
                  </a:lnTo>
                  <a:lnTo>
                    <a:pt x="0" y="919"/>
                  </a:lnTo>
                  <a:lnTo>
                    <a:pt x="14" y="919"/>
                  </a:lnTo>
                  <a:close/>
                  <a:moveTo>
                    <a:pt x="14" y="947"/>
                  </a:moveTo>
                  <a:lnTo>
                    <a:pt x="14" y="960"/>
                  </a:lnTo>
                  <a:lnTo>
                    <a:pt x="0" y="960"/>
                  </a:lnTo>
                  <a:lnTo>
                    <a:pt x="0" y="947"/>
                  </a:lnTo>
                  <a:lnTo>
                    <a:pt x="14" y="947"/>
                  </a:lnTo>
                  <a:close/>
                  <a:moveTo>
                    <a:pt x="14" y="974"/>
                  </a:moveTo>
                  <a:lnTo>
                    <a:pt x="14" y="988"/>
                  </a:lnTo>
                  <a:lnTo>
                    <a:pt x="0" y="988"/>
                  </a:lnTo>
                  <a:lnTo>
                    <a:pt x="0" y="974"/>
                  </a:lnTo>
                  <a:lnTo>
                    <a:pt x="14" y="974"/>
                  </a:lnTo>
                  <a:close/>
                  <a:moveTo>
                    <a:pt x="14" y="1002"/>
                  </a:moveTo>
                  <a:lnTo>
                    <a:pt x="14" y="1016"/>
                  </a:lnTo>
                  <a:lnTo>
                    <a:pt x="0" y="1016"/>
                  </a:lnTo>
                  <a:lnTo>
                    <a:pt x="0" y="1002"/>
                  </a:lnTo>
                  <a:lnTo>
                    <a:pt x="14" y="1002"/>
                  </a:lnTo>
                  <a:close/>
                  <a:moveTo>
                    <a:pt x="14" y="1030"/>
                  </a:moveTo>
                  <a:lnTo>
                    <a:pt x="14" y="1044"/>
                  </a:lnTo>
                  <a:lnTo>
                    <a:pt x="0" y="1044"/>
                  </a:lnTo>
                  <a:lnTo>
                    <a:pt x="0" y="1030"/>
                  </a:lnTo>
                  <a:lnTo>
                    <a:pt x="14" y="1030"/>
                  </a:lnTo>
                  <a:close/>
                  <a:moveTo>
                    <a:pt x="14" y="1058"/>
                  </a:moveTo>
                  <a:lnTo>
                    <a:pt x="14" y="1072"/>
                  </a:lnTo>
                  <a:lnTo>
                    <a:pt x="0" y="1072"/>
                  </a:lnTo>
                  <a:lnTo>
                    <a:pt x="0" y="1058"/>
                  </a:lnTo>
                  <a:lnTo>
                    <a:pt x="14" y="1058"/>
                  </a:lnTo>
                  <a:close/>
                  <a:moveTo>
                    <a:pt x="14" y="1086"/>
                  </a:moveTo>
                  <a:lnTo>
                    <a:pt x="14" y="1100"/>
                  </a:lnTo>
                  <a:lnTo>
                    <a:pt x="0" y="1100"/>
                  </a:lnTo>
                  <a:lnTo>
                    <a:pt x="0" y="1086"/>
                  </a:lnTo>
                  <a:lnTo>
                    <a:pt x="14" y="1086"/>
                  </a:lnTo>
                  <a:close/>
                  <a:moveTo>
                    <a:pt x="14" y="1114"/>
                  </a:moveTo>
                  <a:lnTo>
                    <a:pt x="14" y="1127"/>
                  </a:lnTo>
                  <a:lnTo>
                    <a:pt x="0" y="1127"/>
                  </a:lnTo>
                  <a:lnTo>
                    <a:pt x="0" y="1114"/>
                  </a:lnTo>
                  <a:lnTo>
                    <a:pt x="14" y="1114"/>
                  </a:lnTo>
                  <a:close/>
                  <a:moveTo>
                    <a:pt x="14" y="1141"/>
                  </a:moveTo>
                  <a:lnTo>
                    <a:pt x="14" y="1155"/>
                  </a:lnTo>
                  <a:lnTo>
                    <a:pt x="0" y="1155"/>
                  </a:lnTo>
                  <a:lnTo>
                    <a:pt x="0" y="1141"/>
                  </a:lnTo>
                  <a:lnTo>
                    <a:pt x="14" y="1141"/>
                  </a:lnTo>
                  <a:close/>
                  <a:moveTo>
                    <a:pt x="14" y="1169"/>
                  </a:moveTo>
                  <a:lnTo>
                    <a:pt x="14" y="1183"/>
                  </a:lnTo>
                  <a:lnTo>
                    <a:pt x="0" y="1183"/>
                  </a:lnTo>
                  <a:lnTo>
                    <a:pt x="0" y="1169"/>
                  </a:lnTo>
                  <a:lnTo>
                    <a:pt x="14" y="1169"/>
                  </a:lnTo>
                  <a:close/>
                  <a:moveTo>
                    <a:pt x="14" y="1197"/>
                  </a:moveTo>
                  <a:lnTo>
                    <a:pt x="14" y="1211"/>
                  </a:lnTo>
                  <a:lnTo>
                    <a:pt x="0" y="1211"/>
                  </a:lnTo>
                  <a:lnTo>
                    <a:pt x="0" y="1197"/>
                  </a:lnTo>
                  <a:lnTo>
                    <a:pt x="14" y="1197"/>
                  </a:lnTo>
                  <a:close/>
                  <a:moveTo>
                    <a:pt x="14" y="1225"/>
                  </a:moveTo>
                  <a:lnTo>
                    <a:pt x="14" y="1239"/>
                  </a:lnTo>
                  <a:lnTo>
                    <a:pt x="0" y="1239"/>
                  </a:lnTo>
                  <a:lnTo>
                    <a:pt x="0" y="1225"/>
                  </a:lnTo>
                  <a:lnTo>
                    <a:pt x="14" y="1225"/>
                  </a:lnTo>
                  <a:close/>
                  <a:moveTo>
                    <a:pt x="14" y="1253"/>
                  </a:moveTo>
                  <a:lnTo>
                    <a:pt x="14" y="1267"/>
                  </a:lnTo>
                  <a:lnTo>
                    <a:pt x="0" y="1267"/>
                  </a:lnTo>
                  <a:lnTo>
                    <a:pt x="0" y="1253"/>
                  </a:lnTo>
                  <a:lnTo>
                    <a:pt x="14" y="1253"/>
                  </a:lnTo>
                  <a:close/>
                  <a:moveTo>
                    <a:pt x="14" y="1281"/>
                  </a:moveTo>
                  <a:lnTo>
                    <a:pt x="14" y="1294"/>
                  </a:lnTo>
                  <a:lnTo>
                    <a:pt x="0" y="1294"/>
                  </a:lnTo>
                  <a:lnTo>
                    <a:pt x="0" y="1281"/>
                  </a:lnTo>
                  <a:lnTo>
                    <a:pt x="14" y="1281"/>
                  </a:lnTo>
                  <a:close/>
                  <a:moveTo>
                    <a:pt x="14" y="1308"/>
                  </a:moveTo>
                  <a:lnTo>
                    <a:pt x="14" y="1322"/>
                  </a:lnTo>
                  <a:lnTo>
                    <a:pt x="0" y="1322"/>
                  </a:lnTo>
                  <a:lnTo>
                    <a:pt x="0" y="1308"/>
                  </a:lnTo>
                  <a:lnTo>
                    <a:pt x="14" y="1308"/>
                  </a:lnTo>
                  <a:close/>
                  <a:moveTo>
                    <a:pt x="14" y="1336"/>
                  </a:moveTo>
                  <a:lnTo>
                    <a:pt x="14" y="1350"/>
                  </a:lnTo>
                  <a:lnTo>
                    <a:pt x="0" y="1350"/>
                  </a:lnTo>
                  <a:lnTo>
                    <a:pt x="0" y="1336"/>
                  </a:lnTo>
                  <a:lnTo>
                    <a:pt x="14" y="1336"/>
                  </a:lnTo>
                  <a:close/>
                  <a:moveTo>
                    <a:pt x="14" y="1364"/>
                  </a:moveTo>
                  <a:lnTo>
                    <a:pt x="14" y="1378"/>
                  </a:lnTo>
                  <a:lnTo>
                    <a:pt x="0" y="1378"/>
                  </a:lnTo>
                  <a:lnTo>
                    <a:pt x="0" y="1364"/>
                  </a:lnTo>
                  <a:lnTo>
                    <a:pt x="14" y="1364"/>
                  </a:lnTo>
                  <a:close/>
                  <a:moveTo>
                    <a:pt x="14" y="1392"/>
                  </a:moveTo>
                  <a:lnTo>
                    <a:pt x="14" y="1406"/>
                  </a:lnTo>
                  <a:lnTo>
                    <a:pt x="0" y="1406"/>
                  </a:lnTo>
                  <a:lnTo>
                    <a:pt x="0" y="1392"/>
                  </a:lnTo>
                  <a:lnTo>
                    <a:pt x="14" y="1392"/>
                  </a:lnTo>
                  <a:close/>
                  <a:moveTo>
                    <a:pt x="14" y="1420"/>
                  </a:moveTo>
                  <a:lnTo>
                    <a:pt x="14" y="1434"/>
                  </a:lnTo>
                  <a:lnTo>
                    <a:pt x="0" y="1434"/>
                  </a:lnTo>
                  <a:lnTo>
                    <a:pt x="0" y="1420"/>
                  </a:lnTo>
                  <a:lnTo>
                    <a:pt x="14" y="1420"/>
                  </a:lnTo>
                  <a:close/>
                  <a:moveTo>
                    <a:pt x="14" y="1448"/>
                  </a:moveTo>
                  <a:lnTo>
                    <a:pt x="14" y="1461"/>
                  </a:lnTo>
                  <a:lnTo>
                    <a:pt x="0" y="1461"/>
                  </a:lnTo>
                  <a:lnTo>
                    <a:pt x="0" y="1448"/>
                  </a:lnTo>
                  <a:lnTo>
                    <a:pt x="14" y="1448"/>
                  </a:lnTo>
                  <a:close/>
                  <a:moveTo>
                    <a:pt x="14" y="1475"/>
                  </a:moveTo>
                  <a:lnTo>
                    <a:pt x="14" y="1489"/>
                  </a:lnTo>
                  <a:lnTo>
                    <a:pt x="0" y="1489"/>
                  </a:lnTo>
                  <a:lnTo>
                    <a:pt x="0" y="1475"/>
                  </a:lnTo>
                  <a:lnTo>
                    <a:pt x="14" y="1475"/>
                  </a:lnTo>
                  <a:close/>
                  <a:moveTo>
                    <a:pt x="14" y="1503"/>
                  </a:moveTo>
                  <a:lnTo>
                    <a:pt x="14" y="1517"/>
                  </a:lnTo>
                  <a:lnTo>
                    <a:pt x="0" y="1517"/>
                  </a:lnTo>
                  <a:lnTo>
                    <a:pt x="0" y="1503"/>
                  </a:lnTo>
                  <a:lnTo>
                    <a:pt x="14" y="1503"/>
                  </a:lnTo>
                  <a:close/>
                  <a:moveTo>
                    <a:pt x="14" y="1531"/>
                  </a:moveTo>
                  <a:lnTo>
                    <a:pt x="14" y="1545"/>
                  </a:lnTo>
                  <a:lnTo>
                    <a:pt x="0" y="1545"/>
                  </a:lnTo>
                  <a:lnTo>
                    <a:pt x="0" y="1531"/>
                  </a:lnTo>
                  <a:lnTo>
                    <a:pt x="14" y="1531"/>
                  </a:lnTo>
                  <a:close/>
                  <a:moveTo>
                    <a:pt x="14" y="1559"/>
                  </a:moveTo>
                  <a:lnTo>
                    <a:pt x="14" y="1573"/>
                  </a:lnTo>
                  <a:lnTo>
                    <a:pt x="0" y="1573"/>
                  </a:lnTo>
                  <a:lnTo>
                    <a:pt x="0" y="1559"/>
                  </a:lnTo>
                  <a:lnTo>
                    <a:pt x="14" y="1559"/>
                  </a:lnTo>
                  <a:close/>
                  <a:moveTo>
                    <a:pt x="14" y="1587"/>
                  </a:moveTo>
                  <a:lnTo>
                    <a:pt x="14" y="1601"/>
                  </a:lnTo>
                  <a:lnTo>
                    <a:pt x="0" y="1601"/>
                  </a:lnTo>
                  <a:lnTo>
                    <a:pt x="0" y="1587"/>
                  </a:lnTo>
                  <a:lnTo>
                    <a:pt x="14" y="1587"/>
                  </a:lnTo>
                  <a:close/>
                  <a:moveTo>
                    <a:pt x="14" y="1615"/>
                  </a:moveTo>
                  <a:lnTo>
                    <a:pt x="14" y="1628"/>
                  </a:lnTo>
                  <a:lnTo>
                    <a:pt x="0" y="1628"/>
                  </a:lnTo>
                  <a:lnTo>
                    <a:pt x="0" y="1615"/>
                  </a:lnTo>
                  <a:lnTo>
                    <a:pt x="14" y="1615"/>
                  </a:lnTo>
                  <a:close/>
                  <a:moveTo>
                    <a:pt x="14" y="1642"/>
                  </a:moveTo>
                  <a:lnTo>
                    <a:pt x="14" y="1656"/>
                  </a:lnTo>
                  <a:lnTo>
                    <a:pt x="0" y="1656"/>
                  </a:lnTo>
                  <a:lnTo>
                    <a:pt x="0" y="1642"/>
                  </a:lnTo>
                  <a:lnTo>
                    <a:pt x="14" y="1642"/>
                  </a:lnTo>
                  <a:close/>
                  <a:moveTo>
                    <a:pt x="14" y="1670"/>
                  </a:moveTo>
                  <a:lnTo>
                    <a:pt x="14" y="1684"/>
                  </a:lnTo>
                  <a:lnTo>
                    <a:pt x="0" y="1684"/>
                  </a:lnTo>
                  <a:lnTo>
                    <a:pt x="0" y="1670"/>
                  </a:lnTo>
                  <a:lnTo>
                    <a:pt x="14" y="1670"/>
                  </a:lnTo>
                  <a:close/>
                  <a:moveTo>
                    <a:pt x="14" y="1698"/>
                  </a:moveTo>
                  <a:lnTo>
                    <a:pt x="14" y="1712"/>
                  </a:lnTo>
                  <a:lnTo>
                    <a:pt x="0" y="1712"/>
                  </a:lnTo>
                  <a:lnTo>
                    <a:pt x="0" y="1698"/>
                  </a:lnTo>
                  <a:lnTo>
                    <a:pt x="14" y="1698"/>
                  </a:lnTo>
                  <a:close/>
                  <a:moveTo>
                    <a:pt x="14" y="1726"/>
                  </a:moveTo>
                  <a:lnTo>
                    <a:pt x="14" y="1740"/>
                  </a:lnTo>
                  <a:lnTo>
                    <a:pt x="0" y="1740"/>
                  </a:lnTo>
                  <a:lnTo>
                    <a:pt x="0" y="1726"/>
                  </a:lnTo>
                  <a:lnTo>
                    <a:pt x="14" y="1726"/>
                  </a:lnTo>
                  <a:close/>
                  <a:moveTo>
                    <a:pt x="14" y="1754"/>
                  </a:moveTo>
                  <a:lnTo>
                    <a:pt x="14" y="1768"/>
                  </a:lnTo>
                  <a:lnTo>
                    <a:pt x="0" y="1768"/>
                  </a:lnTo>
                  <a:lnTo>
                    <a:pt x="0" y="1754"/>
                  </a:lnTo>
                  <a:lnTo>
                    <a:pt x="14" y="1754"/>
                  </a:lnTo>
                  <a:close/>
                  <a:moveTo>
                    <a:pt x="14" y="1782"/>
                  </a:moveTo>
                  <a:lnTo>
                    <a:pt x="14" y="1795"/>
                  </a:lnTo>
                  <a:lnTo>
                    <a:pt x="0" y="1795"/>
                  </a:lnTo>
                  <a:lnTo>
                    <a:pt x="0" y="1782"/>
                  </a:lnTo>
                  <a:lnTo>
                    <a:pt x="14" y="1782"/>
                  </a:lnTo>
                  <a:close/>
                  <a:moveTo>
                    <a:pt x="14" y="1809"/>
                  </a:moveTo>
                  <a:lnTo>
                    <a:pt x="14" y="1823"/>
                  </a:lnTo>
                  <a:lnTo>
                    <a:pt x="0" y="1823"/>
                  </a:lnTo>
                  <a:lnTo>
                    <a:pt x="0" y="1809"/>
                  </a:lnTo>
                  <a:lnTo>
                    <a:pt x="14" y="1809"/>
                  </a:lnTo>
                  <a:close/>
                  <a:moveTo>
                    <a:pt x="14" y="1837"/>
                  </a:moveTo>
                  <a:lnTo>
                    <a:pt x="14" y="1851"/>
                  </a:lnTo>
                  <a:lnTo>
                    <a:pt x="0" y="1851"/>
                  </a:lnTo>
                  <a:lnTo>
                    <a:pt x="0" y="1837"/>
                  </a:lnTo>
                  <a:lnTo>
                    <a:pt x="14" y="1837"/>
                  </a:lnTo>
                  <a:close/>
                  <a:moveTo>
                    <a:pt x="14" y="1865"/>
                  </a:moveTo>
                  <a:lnTo>
                    <a:pt x="14" y="1879"/>
                  </a:lnTo>
                  <a:lnTo>
                    <a:pt x="0" y="1879"/>
                  </a:lnTo>
                  <a:lnTo>
                    <a:pt x="0" y="1865"/>
                  </a:lnTo>
                  <a:lnTo>
                    <a:pt x="14" y="1865"/>
                  </a:lnTo>
                  <a:close/>
                  <a:moveTo>
                    <a:pt x="14" y="1893"/>
                  </a:moveTo>
                  <a:lnTo>
                    <a:pt x="14" y="1907"/>
                  </a:lnTo>
                  <a:lnTo>
                    <a:pt x="0" y="1907"/>
                  </a:lnTo>
                  <a:lnTo>
                    <a:pt x="0" y="1893"/>
                  </a:lnTo>
                  <a:lnTo>
                    <a:pt x="14" y="1893"/>
                  </a:lnTo>
                  <a:close/>
                  <a:moveTo>
                    <a:pt x="14" y="1921"/>
                  </a:moveTo>
                  <a:lnTo>
                    <a:pt x="14" y="1935"/>
                  </a:lnTo>
                  <a:lnTo>
                    <a:pt x="0" y="1935"/>
                  </a:lnTo>
                  <a:lnTo>
                    <a:pt x="0" y="1921"/>
                  </a:lnTo>
                  <a:lnTo>
                    <a:pt x="14" y="1921"/>
                  </a:lnTo>
                  <a:close/>
                  <a:moveTo>
                    <a:pt x="14" y="1949"/>
                  </a:moveTo>
                  <a:lnTo>
                    <a:pt x="14" y="1962"/>
                  </a:lnTo>
                  <a:lnTo>
                    <a:pt x="0" y="1962"/>
                  </a:lnTo>
                  <a:lnTo>
                    <a:pt x="0" y="1949"/>
                  </a:lnTo>
                  <a:lnTo>
                    <a:pt x="14" y="1949"/>
                  </a:lnTo>
                  <a:close/>
                  <a:moveTo>
                    <a:pt x="14" y="1976"/>
                  </a:moveTo>
                  <a:lnTo>
                    <a:pt x="14" y="1990"/>
                  </a:lnTo>
                  <a:lnTo>
                    <a:pt x="0" y="1990"/>
                  </a:lnTo>
                  <a:lnTo>
                    <a:pt x="0" y="1976"/>
                  </a:lnTo>
                  <a:lnTo>
                    <a:pt x="14" y="1976"/>
                  </a:lnTo>
                  <a:close/>
                  <a:moveTo>
                    <a:pt x="14" y="2004"/>
                  </a:moveTo>
                  <a:lnTo>
                    <a:pt x="14" y="2018"/>
                  </a:lnTo>
                  <a:lnTo>
                    <a:pt x="0" y="2018"/>
                  </a:lnTo>
                  <a:lnTo>
                    <a:pt x="0" y="2004"/>
                  </a:lnTo>
                  <a:lnTo>
                    <a:pt x="14" y="2004"/>
                  </a:lnTo>
                  <a:close/>
                  <a:moveTo>
                    <a:pt x="14" y="2032"/>
                  </a:moveTo>
                  <a:lnTo>
                    <a:pt x="14" y="2046"/>
                  </a:lnTo>
                  <a:lnTo>
                    <a:pt x="0" y="2046"/>
                  </a:lnTo>
                  <a:lnTo>
                    <a:pt x="0" y="2032"/>
                  </a:lnTo>
                  <a:lnTo>
                    <a:pt x="14" y="2032"/>
                  </a:lnTo>
                  <a:close/>
                  <a:moveTo>
                    <a:pt x="14" y="2060"/>
                  </a:moveTo>
                  <a:lnTo>
                    <a:pt x="14" y="2074"/>
                  </a:lnTo>
                  <a:lnTo>
                    <a:pt x="0" y="2074"/>
                  </a:lnTo>
                  <a:lnTo>
                    <a:pt x="0" y="2060"/>
                  </a:lnTo>
                  <a:lnTo>
                    <a:pt x="14" y="2060"/>
                  </a:lnTo>
                  <a:close/>
                  <a:moveTo>
                    <a:pt x="14" y="2087"/>
                  </a:moveTo>
                  <a:lnTo>
                    <a:pt x="14" y="2102"/>
                  </a:lnTo>
                  <a:lnTo>
                    <a:pt x="0" y="2102"/>
                  </a:lnTo>
                  <a:lnTo>
                    <a:pt x="0" y="2087"/>
                  </a:lnTo>
                  <a:lnTo>
                    <a:pt x="14" y="2087"/>
                  </a:lnTo>
                  <a:close/>
                  <a:moveTo>
                    <a:pt x="14" y="2116"/>
                  </a:moveTo>
                  <a:lnTo>
                    <a:pt x="14" y="2129"/>
                  </a:lnTo>
                  <a:lnTo>
                    <a:pt x="0" y="2129"/>
                  </a:lnTo>
                  <a:lnTo>
                    <a:pt x="0" y="2116"/>
                  </a:lnTo>
                  <a:lnTo>
                    <a:pt x="14" y="2116"/>
                  </a:lnTo>
                  <a:close/>
                  <a:moveTo>
                    <a:pt x="14" y="2143"/>
                  </a:moveTo>
                  <a:lnTo>
                    <a:pt x="14" y="2157"/>
                  </a:lnTo>
                  <a:lnTo>
                    <a:pt x="0" y="2157"/>
                  </a:lnTo>
                  <a:lnTo>
                    <a:pt x="0" y="2143"/>
                  </a:lnTo>
                  <a:lnTo>
                    <a:pt x="14" y="2143"/>
                  </a:lnTo>
                  <a:close/>
                  <a:moveTo>
                    <a:pt x="14" y="2171"/>
                  </a:moveTo>
                  <a:lnTo>
                    <a:pt x="14" y="2185"/>
                  </a:lnTo>
                  <a:lnTo>
                    <a:pt x="0" y="2185"/>
                  </a:lnTo>
                  <a:lnTo>
                    <a:pt x="0" y="2171"/>
                  </a:lnTo>
                  <a:lnTo>
                    <a:pt x="14" y="2171"/>
                  </a:lnTo>
                  <a:close/>
                  <a:moveTo>
                    <a:pt x="14" y="2199"/>
                  </a:moveTo>
                  <a:lnTo>
                    <a:pt x="14" y="2213"/>
                  </a:lnTo>
                  <a:lnTo>
                    <a:pt x="0" y="2213"/>
                  </a:lnTo>
                  <a:lnTo>
                    <a:pt x="0" y="2199"/>
                  </a:lnTo>
                  <a:lnTo>
                    <a:pt x="14" y="2199"/>
                  </a:lnTo>
                  <a:close/>
                  <a:moveTo>
                    <a:pt x="14" y="2227"/>
                  </a:moveTo>
                  <a:lnTo>
                    <a:pt x="14" y="2241"/>
                  </a:lnTo>
                  <a:lnTo>
                    <a:pt x="0" y="2241"/>
                  </a:lnTo>
                  <a:lnTo>
                    <a:pt x="0" y="2227"/>
                  </a:lnTo>
                  <a:lnTo>
                    <a:pt x="14" y="2227"/>
                  </a:lnTo>
                  <a:close/>
                  <a:moveTo>
                    <a:pt x="14" y="2254"/>
                  </a:moveTo>
                  <a:lnTo>
                    <a:pt x="14" y="2268"/>
                  </a:lnTo>
                  <a:lnTo>
                    <a:pt x="0" y="2268"/>
                  </a:lnTo>
                  <a:lnTo>
                    <a:pt x="0" y="2254"/>
                  </a:lnTo>
                  <a:lnTo>
                    <a:pt x="14" y="2254"/>
                  </a:lnTo>
                  <a:close/>
                  <a:moveTo>
                    <a:pt x="14" y="2283"/>
                  </a:moveTo>
                  <a:lnTo>
                    <a:pt x="14" y="2296"/>
                  </a:lnTo>
                  <a:lnTo>
                    <a:pt x="0" y="2296"/>
                  </a:lnTo>
                  <a:lnTo>
                    <a:pt x="0" y="2283"/>
                  </a:lnTo>
                  <a:lnTo>
                    <a:pt x="14" y="2283"/>
                  </a:lnTo>
                  <a:close/>
                  <a:moveTo>
                    <a:pt x="14" y="2310"/>
                  </a:moveTo>
                  <a:lnTo>
                    <a:pt x="14" y="2324"/>
                  </a:lnTo>
                  <a:lnTo>
                    <a:pt x="0" y="2324"/>
                  </a:lnTo>
                  <a:lnTo>
                    <a:pt x="0" y="2310"/>
                  </a:lnTo>
                  <a:lnTo>
                    <a:pt x="14" y="2310"/>
                  </a:lnTo>
                  <a:close/>
                  <a:moveTo>
                    <a:pt x="14" y="2338"/>
                  </a:moveTo>
                  <a:lnTo>
                    <a:pt x="14" y="2352"/>
                  </a:lnTo>
                  <a:lnTo>
                    <a:pt x="0" y="2352"/>
                  </a:lnTo>
                  <a:lnTo>
                    <a:pt x="0" y="2338"/>
                  </a:lnTo>
                  <a:lnTo>
                    <a:pt x="14" y="2338"/>
                  </a:lnTo>
                  <a:close/>
                  <a:moveTo>
                    <a:pt x="14" y="2366"/>
                  </a:moveTo>
                  <a:lnTo>
                    <a:pt x="14" y="2380"/>
                  </a:lnTo>
                  <a:lnTo>
                    <a:pt x="0" y="2380"/>
                  </a:lnTo>
                  <a:lnTo>
                    <a:pt x="0" y="2366"/>
                  </a:lnTo>
                  <a:lnTo>
                    <a:pt x="14" y="2366"/>
                  </a:lnTo>
                  <a:close/>
                  <a:moveTo>
                    <a:pt x="14" y="2394"/>
                  </a:moveTo>
                  <a:lnTo>
                    <a:pt x="14" y="2408"/>
                  </a:lnTo>
                  <a:lnTo>
                    <a:pt x="0" y="2408"/>
                  </a:lnTo>
                  <a:lnTo>
                    <a:pt x="0" y="2394"/>
                  </a:lnTo>
                  <a:lnTo>
                    <a:pt x="14" y="2394"/>
                  </a:lnTo>
                  <a:close/>
                  <a:moveTo>
                    <a:pt x="14" y="2421"/>
                  </a:moveTo>
                  <a:lnTo>
                    <a:pt x="14" y="2435"/>
                  </a:lnTo>
                  <a:lnTo>
                    <a:pt x="0" y="2435"/>
                  </a:lnTo>
                  <a:lnTo>
                    <a:pt x="0" y="2421"/>
                  </a:lnTo>
                  <a:lnTo>
                    <a:pt x="14" y="2421"/>
                  </a:lnTo>
                  <a:close/>
                  <a:moveTo>
                    <a:pt x="14" y="2449"/>
                  </a:moveTo>
                  <a:lnTo>
                    <a:pt x="14" y="2453"/>
                  </a:lnTo>
                  <a:lnTo>
                    <a:pt x="0" y="2453"/>
                  </a:lnTo>
                  <a:lnTo>
                    <a:pt x="0" y="2449"/>
                  </a:lnTo>
                  <a:lnTo>
                    <a:pt x="14" y="2449"/>
                  </a:lnTo>
                  <a:close/>
                </a:path>
              </a:pathLst>
            </a:custGeom>
            <a:solidFill>
              <a:srgbClr val="000000"/>
            </a:solidFill>
            <a:ln w="0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184" name="Freeform 31">
              <a:extLst>
                <a:ext uri="{FF2B5EF4-FFF2-40B4-BE49-F238E27FC236}">
                  <a16:creationId xmlns:a16="http://schemas.microsoft.com/office/drawing/2014/main" id="{4AC95D91-4CCC-B1F8-31B0-D9F46670AD0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031428" y="3078501"/>
              <a:ext cx="18000" cy="3726773"/>
            </a:xfrm>
            <a:custGeom>
              <a:avLst/>
              <a:gdLst>
                <a:gd name="T0" fmla="*/ 15 w 15"/>
                <a:gd name="T1" fmla="*/ 42 h 2453"/>
                <a:gd name="T2" fmla="*/ 0 w 15"/>
                <a:gd name="T3" fmla="*/ 56 h 2453"/>
                <a:gd name="T4" fmla="*/ 15 w 15"/>
                <a:gd name="T5" fmla="*/ 112 h 2453"/>
                <a:gd name="T6" fmla="*/ 0 w 15"/>
                <a:gd name="T7" fmla="*/ 154 h 2453"/>
                <a:gd name="T8" fmla="*/ 15 w 15"/>
                <a:gd name="T9" fmla="*/ 167 h 2453"/>
                <a:gd name="T10" fmla="*/ 15 w 15"/>
                <a:gd name="T11" fmla="*/ 237 h 2453"/>
                <a:gd name="T12" fmla="*/ 0 w 15"/>
                <a:gd name="T13" fmla="*/ 251 h 2453"/>
                <a:gd name="T14" fmla="*/ 15 w 15"/>
                <a:gd name="T15" fmla="*/ 307 h 2453"/>
                <a:gd name="T16" fmla="*/ 0 w 15"/>
                <a:gd name="T17" fmla="*/ 348 h 2453"/>
                <a:gd name="T18" fmla="*/ 15 w 15"/>
                <a:gd name="T19" fmla="*/ 362 h 2453"/>
                <a:gd name="T20" fmla="*/ 15 w 15"/>
                <a:gd name="T21" fmla="*/ 432 h 2453"/>
                <a:gd name="T22" fmla="*/ 0 w 15"/>
                <a:gd name="T23" fmla="*/ 446 h 2453"/>
                <a:gd name="T24" fmla="*/ 15 w 15"/>
                <a:gd name="T25" fmla="*/ 501 h 2453"/>
                <a:gd name="T26" fmla="*/ 0 w 15"/>
                <a:gd name="T27" fmla="*/ 543 h 2453"/>
                <a:gd name="T28" fmla="*/ 15 w 15"/>
                <a:gd name="T29" fmla="*/ 557 h 2453"/>
                <a:gd name="T30" fmla="*/ 15 w 15"/>
                <a:gd name="T31" fmla="*/ 627 h 2453"/>
                <a:gd name="T32" fmla="*/ 0 w 15"/>
                <a:gd name="T33" fmla="*/ 641 h 2453"/>
                <a:gd name="T34" fmla="*/ 15 w 15"/>
                <a:gd name="T35" fmla="*/ 696 h 2453"/>
                <a:gd name="T36" fmla="*/ 0 w 15"/>
                <a:gd name="T37" fmla="*/ 738 h 2453"/>
                <a:gd name="T38" fmla="*/ 15 w 15"/>
                <a:gd name="T39" fmla="*/ 752 h 2453"/>
                <a:gd name="T40" fmla="*/ 15 w 15"/>
                <a:gd name="T41" fmla="*/ 822 h 2453"/>
                <a:gd name="T42" fmla="*/ 0 w 15"/>
                <a:gd name="T43" fmla="*/ 835 h 2453"/>
                <a:gd name="T44" fmla="*/ 15 w 15"/>
                <a:gd name="T45" fmla="*/ 891 h 2453"/>
                <a:gd name="T46" fmla="*/ 0 w 15"/>
                <a:gd name="T47" fmla="*/ 933 h 2453"/>
                <a:gd name="T48" fmla="*/ 15 w 15"/>
                <a:gd name="T49" fmla="*/ 947 h 2453"/>
                <a:gd name="T50" fmla="*/ 15 w 15"/>
                <a:gd name="T51" fmla="*/ 1016 h 2453"/>
                <a:gd name="T52" fmla="*/ 0 w 15"/>
                <a:gd name="T53" fmla="*/ 1030 h 2453"/>
                <a:gd name="T54" fmla="*/ 15 w 15"/>
                <a:gd name="T55" fmla="*/ 1086 h 2453"/>
                <a:gd name="T56" fmla="*/ 0 w 15"/>
                <a:gd name="T57" fmla="*/ 1127 h 2453"/>
                <a:gd name="T58" fmla="*/ 15 w 15"/>
                <a:gd name="T59" fmla="*/ 1141 h 2453"/>
                <a:gd name="T60" fmla="*/ 15 w 15"/>
                <a:gd name="T61" fmla="*/ 1211 h 2453"/>
                <a:gd name="T62" fmla="*/ 0 w 15"/>
                <a:gd name="T63" fmla="*/ 1225 h 2453"/>
                <a:gd name="T64" fmla="*/ 15 w 15"/>
                <a:gd name="T65" fmla="*/ 1281 h 2453"/>
                <a:gd name="T66" fmla="*/ 0 w 15"/>
                <a:gd name="T67" fmla="*/ 1322 h 2453"/>
                <a:gd name="T68" fmla="*/ 15 w 15"/>
                <a:gd name="T69" fmla="*/ 1336 h 2453"/>
                <a:gd name="T70" fmla="*/ 15 w 15"/>
                <a:gd name="T71" fmla="*/ 1406 h 2453"/>
                <a:gd name="T72" fmla="*/ 0 w 15"/>
                <a:gd name="T73" fmla="*/ 1420 h 2453"/>
                <a:gd name="T74" fmla="*/ 15 w 15"/>
                <a:gd name="T75" fmla="*/ 1475 h 2453"/>
                <a:gd name="T76" fmla="*/ 0 w 15"/>
                <a:gd name="T77" fmla="*/ 1517 h 2453"/>
                <a:gd name="T78" fmla="*/ 15 w 15"/>
                <a:gd name="T79" fmla="*/ 1531 h 2453"/>
                <a:gd name="T80" fmla="*/ 15 w 15"/>
                <a:gd name="T81" fmla="*/ 1601 h 2453"/>
                <a:gd name="T82" fmla="*/ 0 w 15"/>
                <a:gd name="T83" fmla="*/ 1615 h 2453"/>
                <a:gd name="T84" fmla="*/ 15 w 15"/>
                <a:gd name="T85" fmla="*/ 1670 h 2453"/>
                <a:gd name="T86" fmla="*/ 0 w 15"/>
                <a:gd name="T87" fmla="*/ 1712 h 2453"/>
                <a:gd name="T88" fmla="*/ 15 w 15"/>
                <a:gd name="T89" fmla="*/ 1726 h 2453"/>
                <a:gd name="T90" fmla="*/ 15 w 15"/>
                <a:gd name="T91" fmla="*/ 1795 h 2453"/>
                <a:gd name="T92" fmla="*/ 0 w 15"/>
                <a:gd name="T93" fmla="*/ 1809 h 2453"/>
                <a:gd name="T94" fmla="*/ 15 w 15"/>
                <a:gd name="T95" fmla="*/ 1865 h 2453"/>
                <a:gd name="T96" fmla="*/ 0 w 15"/>
                <a:gd name="T97" fmla="*/ 1907 h 2453"/>
                <a:gd name="T98" fmla="*/ 15 w 15"/>
                <a:gd name="T99" fmla="*/ 1921 h 2453"/>
                <a:gd name="T100" fmla="*/ 15 w 15"/>
                <a:gd name="T101" fmla="*/ 1990 h 2453"/>
                <a:gd name="T102" fmla="*/ 0 w 15"/>
                <a:gd name="T103" fmla="*/ 2004 h 2453"/>
                <a:gd name="T104" fmla="*/ 15 w 15"/>
                <a:gd name="T105" fmla="*/ 2060 h 2453"/>
                <a:gd name="T106" fmla="*/ 0 w 15"/>
                <a:gd name="T107" fmla="*/ 2102 h 2453"/>
                <a:gd name="T108" fmla="*/ 15 w 15"/>
                <a:gd name="T109" fmla="*/ 2116 h 2453"/>
                <a:gd name="T110" fmla="*/ 15 w 15"/>
                <a:gd name="T111" fmla="*/ 2185 h 2453"/>
                <a:gd name="T112" fmla="*/ 0 w 15"/>
                <a:gd name="T113" fmla="*/ 2199 h 2453"/>
                <a:gd name="T114" fmla="*/ 15 w 15"/>
                <a:gd name="T115" fmla="*/ 2254 h 2453"/>
                <a:gd name="T116" fmla="*/ 0 w 15"/>
                <a:gd name="T117" fmla="*/ 2296 h 2453"/>
                <a:gd name="T118" fmla="*/ 15 w 15"/>
                <a:gd name="T119" fmla="*/ 2310 h 2453"/>
                <a:gd name="T120" fmla="*/ 15 w 15"/>
                <a:gd name="T121" fmla="*/ 2380 h 2453"/>
                <a:gd name="T122" fmla="*/ 0 w 15"/>
                <a:gd name="T123" fmla="*/ 2394 h 2453"/>
                <a:gd name="T124" fmla="*/ 15 w 15"/>
                <a:gd name="T125" fmla="*/ 2449 h 24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5" h="2453">
                  <a:moveTo>
                    <a:pt x="15" y="0"/>
                  </a:moveTo>
                  <a:lnTo>
                    <a:pt x="15" y="14"/>
                  </a:lnTo>
                  <a:lnTo>
                    <a:pt x="0" y="14"/>
                  </a:lnTo>
                  <a:lnTo>
                    <a:pt x="0" y="0"/>
                  </a:lnTo>
                  <a:lnTo>
                    <a:pt x="15" y="0"/>
                  </a:lnTo>
                  <a:close/>
                  <a:moveTo>
                    <a:pt x="15" y="28"/>
                  </a:moveTo>
                  <a:lnTo>
                    <a:pt x="15" y="42"/>
                  </a:lnTo>
                  <a:lnTo>
                    <a:pt x="0" y="42"/>
                  </a:lnTo>
                  <a:lnTo>
                    <a:pt x="0" y="28"/>
                  </a:lnTo>
                  <a:lnTo>
                    <a:pt x="15" y="28"/>
                  </a:lnTo>
                  <a:close/>
                  <a:moveTo>
                    <a:pt x="15" y="56"/>
                  </a:moveTo>
                  <a:lnTo>
                    <a:pt x="15" y="70"/>
                  </a:lnTo>
                  <a:lnTo>
                    <a:pt x="0" y="70"/>
                  </a:lnTo>
                  <a:lnTo>
                    <a:pt x="0" y="56"/>
                  </a:lnTo>
                  <a:lnTo>
                    <a:pt x="15" y="56"/>
                  </a:lnTo>
                  <a:close/>
                  <a:moveTo>
                    <a:pt x="15" y="84"/>
                  </a:moveTo>
                  <a:lnTo>
                    <a:pt x="15" y="98"/>
                  </a:lnTo>
                  <a:lnTo>
                    <a:pt x="0" y="98"/>
                  </a:lnTo>
                  <a:lnTo>
                    <a:pt x="0" y="84"/>
                  </a:lnTo>
                  <a:lnTo>
                    <a:pt x="15" y="84"/>
                  </a:lnTo>
                  <a:close/>
                  <a:moveTo>
                    <a:pt x="15" y="112"/>
                  </a:moveTo>
                  <a:lnTo>
                    <a:pt x="15" y="126"/>
                  </a:lnTo>
                  <a:lnTo>
                    <a:pt x="0" y="126"/>
                  </a:lnTo>
                  <a:lnTo>
                    <a:pt x="0" y="112"/>
                  </a:lnTo>
                  <a:lnTo>
                    <a:pt x="15" y="112"/>
                  </a:lnTo>
                  <a:close/>
                  <a:moveTo>
                    <a:pt x="15" y="140"/>
                  </a:moveTo>
                  <a:lnTo>
                    <a:pt x="15" y="154"/>
                  </a:lnTo>
                  <a:lnTo>
                    <a:pt x="0" y="154"/>
                  </a:lnTo>
                  <a:lnTo>
                    <a:pt x="0" y="140"/>
                  </a:lnTo>
                  <a:lnTo>
                    <a:pt x="15" y="140"/>
                  </a:lnTo>
                  <a:close/>
                  <a:moveTo>
                    <a:pt x="15" y="167"/>
                  </a:moveTo>
                  <a:lnTo>
                    <a:pt x="15" y="181"/>
                  </a:lnTo>
                  <a:lnTo>
                    <a:pt x="0" y="181"/>
                  </a:lnTo>
                  <a:lnTo>
                    <a:pt x="0" y="167"/>
                  </a:lnTo>
                  <a:lnTo>
                    <a:pt x="15" y="167"/>
                  </a:lnTo>
                  <a:close/>
                  <a:moveTo>
                    <a:pt x="15" y="195"/>
                  </a:moveTo>
                  <a:lnTo>
                    <a:pt x="15" y="209"/>
                  </a:lnTo>
                  <a:lnTo>
                    <a:pt x="0" y="209"/>
                  </a:lnTo>
                  <a:lnTo>
                    <a:pt x="0" y="195"/>
                  </a:lnTo>
                  <a:lnTo>
                    <a:pt x="15" y="195"/>
                  </a:lnTo>
                  <a:close/>
                  <a:moveTo>
                    <a:pt x="15" y="223"/>
                  </a:moveTo>
                  <a:lnTo>
                    <a:pt x="15" y="237"/>
                  </a:lnTo>
                  <a:lnTo>
                    <a:pt x="0" y="237"/>
                  </a:lnTo>
                  <a:lnTo>
                    <a:pt x="0" y="223"/>
                  </a:lnTo>
                  <a:lnTo>
                    <a:pt x="15" y="223"/>
                  </a:lnTo>
                  <a:close/>
                  <a:moveTo>
                    <a:pt x="15" y="251"/>
                  </a:moveTo>
                  <a:lnTo>
                    <a:pt x="15" y="265"/>
                  </a:lnTo>
                  <a:lnTo>
                    <a:pt x="0" y="265"/>
                  </a:lnTo>
                  <a:lnTo>
                    <a:pt x="0" y="251"/>
                  </a:lnTo>
                  <a:lnTo>
                    <a:pt x="15" y="251"/>
                  </a:lnTo>
                  <a:close/>
                  <a:moveTo>
                    <a:pt x="15" y="279"/>
                  </a:moveTo>
                  <a:lnTo>
                    <a:pt x="15" y="293"/>
                  </a:lnTo>
                  <a:lnTo>
                    <a:pt x="0" y="293"/>
                  </a:lnTo>
                  <a:lnTo>
                    <a:pt x="0" y="279"/>
                  </a:lnTo>
                  <a:lnTo>
                    <a:pt x="15" y="279"/>
                  </a:lnTo>
                  <a:close/>
                  <a:moveTo>
                    <a:pt x="15" y="307"/>
                  </a:moveTo>
                  <a:lnTo>
                    <a:pt x="15" y="321"/>
                  </a:lnTo>
                  <a:lnTo>
                    <a:pt x="0" y="321"/>
                  </a:lnTo>
                  <a:lnTo>
                    <a:pt x="0" y="307"/>
                  </a:lnTo>
                  <a:lnTo>
                    <a:pt x="15" y="307"/>
                  </a:lnTo>
                  <a:close/>
                  <a:moveTo>
                    <a:pt x="15" y="334"/>
                  </a:moveTo>
                  <a:lnTo>
                    <a:pt x="15" y="348"/>
                  </a:lnTo>
                  <a:lnTo>
                    <a:pt x="0" y="348"/>
                  </a:lnTo>
                  <a:lnTo>
                    <a:pt x="0" y="334"/>
                  </a:lnTo>
                  <a:lnTo>
                    <a:pt x="15" y="334"/>
                  </a:lnTo>
                  <a:close/>
                  <a:moveTo>
                    <a:pt x="15" y="362"/>
                  </a:moveTo>
                  <a:lnTo>
                    <a:pt x="15" y="376"/>
                  </a:lnTo>
                  <a:lnTo>
                    <a:pt x="0" y="376"/>
                  </a:lnTo>
                  <a:lnTo>
                    <a:pt x="0" y="362"/>
                  </a:lnTo>
                  <a:lnTo>
                    <a:pt x="15" y="362"/>
                  </a:lnTo>
                  <a:close/>
                  <a:moveTo>
                    <a:pt x="15" y="390"/>
                  </a:moveTo>
                  <a:lnTo>
                    <a:pt x="15" y="404"/>
                  </a:lnTo>
                  <a:lnTo>
                    <a:pt x="0" y="404"/>
                  </a:lnTo>
                  <a:lnTo>
                    <a:pt x="0" y="390"/>
                  </a:lnTo>
                  <a:lnTo>
                    <a:pt x="15" y="390"/>
                  </a:lnTo>
                  <a:close/>
                  <a:moveTo>
                    <a:pt x="15" y="418"/>
                  </a:moveTo>
                  <a:lnTo>
                    <a:pt x="15" y="432"/>
                  </a:lnTo>
                  <a:lnTo>
                    <a:pt x="0" y="432"/>
                  </a:lnTo>
                  <a:lnTo>
                    <a:pt x="0" y="418"/>
                  </a:lnTo>
                  <a:lnTo>
                    <a:pt x="15" y="418"/>
                  </a:lnTo>
                  <a:close/>
                  <a:moveTo>
                    <a:pt x="15" y="446"/>
                  </a:moveTo>
                  <a:lnTo>
                    <a:pt x="15" y="460"/>
                  </a:lnTo>
                  <a:lnTo>
                    <a:pt x="0" y="460"/>
                  </a:lnTo>
                  <a:lnTo>
                    <a:pt x="0" y="446"/>
                  </a:lnTo>
                  <a:lnTo>
                    <a:pt x="15" y="446"/>
                  </a:lnTo>
                  <a:close/>
                  <a:moveTo>
                    <a:pt x="15" y="474"/>
                  </a:moveTo>
                  <a:lnTo>
                    <a:pt x="15" y="488"/>
                  </a:lnTo>
                  <a:lnTo>
                    <a:pt x="0" y="488"/>
                  </a:lnTo>
                  <a:lnTo>
                    <a:pt x="0" y="474"/>
                  </a:lnTo>
                  <a:lnTo>
                    <a:pt x="15" y="474"/>
                  </a:lnTo>
                  <a:close/>
                  <a:moveTo>
                    <a:pt x="15" y="501"/>
                  </a:moveTo>
                  <a:lnTo>
                    <a:pt x="15" y="515"/>
                  </a:lnTo>
                  <a:lnTo>
                    <a:pt x="0" y="515"/>
                  </a:lnTo>
                  <a:lnTo>
                    <a:pt x="0" y="501"/>
                  </a:lnTo>
                  <a:lnTo>
                    <a:pt x="15" y="501"/>
                  </a:lnTo>
                  <a:close/>
                  <a:moveTo>
                    <a:pt x="15" y="529"/>
                  </a:moveTo>
                  <a:lnTo>
                    <a:pt x="15" y="543"/>
                  </a:lnTo>
                  <a:lnTo>
                    <a:pt x="0" y="543"/>
                  </a:lnTo>
                  <a:lnTo>
                    <a:pt x="0" y="529"/>
                  </a:lnTo>
                  <a:lnTo>
                    <a:pt x="15" y="529"/>
                  </a:lnTo>
                  <a:close/>
                  <a:moveTo>
                    <a:pt x="15" y="557"/>
                  </a:moveTo>
                  <a:lnTo>
                    <a:pt x="15" y="571"/>
                  </a:lnTo>
                  <a:lnTo>
                    <a:pt x="0" y="571"/>
                  </a:lnTo>
                  <a:lnTo>
                    <a:pt x="0" y="557"/>
                  </a:lnTo>
                  <a:lnTo>
                    <a:pt x="15" y="557"/>
                  </a:lnTo>
                  <a:close/>
                  <a:moveTo>
                    <a:pt x="15" y="585"/>
                  </a:moveTo>
                  <a:lnTo>
                    <a:pt x="15" y="599"/>
                  </a:lnTo>
                  <a:lnTo>
                    <a:pt x="0" y="599"/>
                  </a:lnTo>
                  <a:lnTo>
                    <a:pt x="0" y="585"/>
                  </a:lnTo>
                  <a:lnTo>
                    <a:pt x="15" y="585"/>
                  </a:lnTo>
                  <a:close/>
                  <a:moveTo>
                    <a:pt x="15" y="613"/>
                  </a:moveTo>
                  <a:lnTo>
                    <a:pt x="15" y="627"/>
                  </a:lnTo>
                  <a:lnTo>
                    <a:pt x="0" y="627"/>
                  </a:lnTo>
                  <a:lnTo>
                    <a:pt x="0" y="613"/>
                  </a:lnTo>
                  <a:lnTo>
                    <a:pt x="15" y="613"/>
                  </a:lnTo>
                  <a:close/>
                  <a:moveTo>
                    <a:pt x="15" y="641"/>
                  </a:moveTo>
                  <a:lnTo>
                    <a:pt x="15" y="655"/>
                  </a:lnTo>
                  <a:lnTo>
                    <a:pt x="0" y="655"/>
                  </a:lnTo>
                  <a:lnTo>
                    <a:pt x="0" y="641"/>
                  </a:lnTo>
                  <a:lnTo>
                    <a:pt x="15" y="641"/>
                  </a:lnTo>
                  <a:close/>
                  <a:moveTo>
                    <a:pt x="15" y="668"/>
                  </a:moveTo>
                  <a:lnTo>
                    <a:pt x="15" y="682"/>
                  </a:lnTo>
                  <a:lnTo>
                    <a:pt x="0" y="682"/>
                  </a:lnTo>
                  <a:lnTo>
                    <a:pt x="0" y="668"/>
                  </a:lnTo>
                  <a:lnTo>
                    <a:pt x="15" y="668"/>
                  </a:lnTo>
                  <a:close/>
                  <a:moveTo>
                    <a:pt x="15" y="696"/>
                  </a:moveTo>
                  <a:lnTo>
                    <a:pt x="15" y="710"/>
                  </a:lnTo>
                  <a:lnTo>
                    <a:pt x="0" y="710"/>
                  </a:lnTo>
                  <a:lnTo>
                    <a:pt x="0" y="696"/>
                  </a:lnTo>
                  <a:lnTo>
                    <a:pt x="15" y="696"/>
                  </a:lnTo>
                  <a:close/>
                  <a:moveTo>
                    <a:pt x="15" y="724"/>
                  </a:moveTo>
                  <a:lnTo>
                    <a:pt x="15" y="738"/>
                  </a:lnTo>
                  <a:lnTo>
                    <a:pt x="0" y="738"/>
                  </a:lnTo>
                  <a:lnTo>
                    <a:pt x="0" y="724"/>
                  </a:lnTo>
                  <a:lnTo>
                    <a:pt x="15" y="724"/>
                  </a:lnTo>
                  <a:close/>
                  <a:moveTo>
                    <a:pt x="15" y="752"/>
                  </a:moveTo>
                  <a:lnTo>
                    <a:pt x="15" y="766"/>
                  </a:lnTo>
                  <a:lnTo>
                    <a:pt x="0" y="766"/>
                  </a:lnTo>
                  <a:lnTo>
                    <a:pt x="0" y="752"/>
                  </a:lnTo>
                  <a:lnTo>
                    <a:pt x="15" y="752"/>
                  </a:lnTo>
                  <a:close/>
                  <a:moveTo>
                    <a:pt x="15" y="780"/>
                  </a:moveTo>
                  <a:lnTo>
                    <a:pt x="15" y="793"/>
                  </a:lnTo>
                  <a:lnTo>
                    <a:pt x="0" y="793"/>
                  </a:lnTo>
                  <a:lnTo>
                    <a:pt x="0" y="780"/>
                  </a:lnTo>
                  <a:lnTo>
                    <a:pt x="15" y="780"/>
                  </a:lnTo>
                  <a:close/>
                  <a:moveTo>
                    <a:pt x="15" y="808"/>
                  </a:moveTo>
                  <a:lnTo>
                    <a:pt x="15" y="822"/>
                  </a:lnTo>
                  <a:lnTo>
                    <a:pt x="0" y="822"/>
                  </a:lnTo>
                  <a:lnTo>
                    <a:pt x="0" y="808"/>
                  </a:lnTo>
                  <a:lnTo>
                    <a:pt x="15" y="808"/>
                  </a:lnTo>
                  <a:close/>
                  <a:moveTo>
                    <a:pt x="15" y="835"/>
                  </a:moveTo>
                  <a:lnTo>
                    <a:pt x="15" y="849"/>
                  </a:lnTo>
                  <a:lnTo>
                    <a:pt x="0" y="849"/>
                  </a:lnTo>
                  <a:lnTo>
                    <a:pt x="0" y="835"/>
                  </a:lnTo>
                  <a:lnTo>
                    <a:pt x="15" y="835"/>
                  </a:lnTo>
                  <a:close/>
                  <a:moveTo>
                    <a:pt x="15" y="863"/>
                  </a:moveTo>
                  <a:lnTo>
                    <a:pt x="15" y="877"/>
                  </a:lnTo>
                  <a:lnTo>
                    <a:pt x="0" y="877"/>
                  </a:lnTo>
                  <a:lnTo>
                    <a:pt x="0" y="863"/>
                  </a:lnTo>
                  <a:lnTo>
                    <a:pt x="15" y="863"/>
                  </a:lnTo>
                  <a:close/>
                  <a:moveTo>
                    <a:pt x="15" y="891"/>
                  </a:moveTo>
                  <a:lnTo>
                    <a:pt x="15" y="905"/>
                  </a:lnTo>
                  <a:lnTo>
                    <a:pt x="0" y="905"/>
                  </a:lnTo>
                  <a:lnTo>
                    <a:pt x="0" y="891"/>
                  </a:lnTo>
                  <a:lnTo>
                    <a:pt x="15" y="891"/>
                  </a:lnTo>
                  <a:close/>
                  <a:moveTo>
                    <a:pt x="15" y="919"/>
                  </a:moveTo>
                  <a:lnTo>
                    <a:pt x="15" y="933"/>
                  </a:lnTo>
                  <a:lnTo>
                    <a:pt x="0" y="933"/>
                  </a:lnTo>
                  <a:lnTo>
                    <a:pt x="0" y="919"/>
                  </a:lnTo>
                  <a:lnTo>
                    <a:pt x="15" y="919"/>
                  </a:lnTo>
                  <a:close/>
                  <a:moveTo>
                    <a:pt x="15" y="947"/>
                  </a:moveTo>
                  <a:lnTo>
                    <a:pt x="15" y="960"/>
                  </a:lnTo>
                  <a:lnTo>
                    <a:pt x="0" y="960"/>
                  </a:lnTo>
                  <a:lnTo>
                    <a:pt x="0" y="947"/>
                  </a:lnTo>
                  <a:lnTo>
                    <a:pt x="15" y="947"/>
                  </a:lnTo>
                  <a:close/>
                  <a:moveTo>
                    <a:pt x="15" y="974"/>
                  </a:moveTo>
                  <a:lnTo>
                    <a:pt x="15" y="988"/>
                  </a:lnTo>
                  <a:lnTo>
                    <a:pt x="0" y="988"/>
                  </a:lnTo>
                  <a:lnTo>
                    <a:pt x="0" y="974"/>
                  </a:lnTo>
                  <a:lnTo>
                    <a:pt x="15" y="974"/>
                  </a:lnTo>
                  <a:close/>
                  <a:moveTo>
                    <a:pt x="15" y="1002"/>
                  </a:moveTo>
                  <a:lnTo>
                    <a:pt x="15" y="1016"/>
                  </a:lnTo>
                  <a:lnTo>
                    <a:pt x="0" y="1016"/>
                  </a:lnTo>
                  <a:lnTo>
                    <a:pt x="0" y="1002"/>
                  </a:lnTo>
                  <a:lnTo>
                    <a:pt x="15" y="1002"/>
                  </a:lnTo>
                  <a:close/>
                  <a:moveTo>
                    <a:pt x="15" y="1030"/>
                  </a:moveTo>
                  <a:lnTo>
                    <a:pt x="15" y="1044"/>
                  </a:lnTo>
                  <a:lnTo>
                    <a:pt x="0" y="1044"/>
                  </a:lnTo>
                  <a:lnTo>
                    <a:pt x="0" y="1030"/>
                  </a:lnTo>
                  <a:lnTo>
                    <a:pt x="15" y="1030"/>
                  </a:lnTo>
                  <a:close/>
                  <a:moveTo>
                    <a:pt x="15" y="1058"/>
                  </a:moveTo>
                  <a:lnTo>
                    <a:pt x="15" y="1072"/>
                  </a:lnTo>
                  <a:lnTo>
                    <a:pt x="0" y="1072"/>
                  </a:lnTo>
                  <a:lnTo>
                    <a:pt x="0" y="1058"/>
                  </a:lnTo>
                  <a:lnTo>
                    <a:pt x="15" y="1058"/>
                  </a:lnTo>
                  <a:close/>
                  <a:moveTo>
                    <a:pt x="15" y="1086"/>
                  </a:moveTo>
                  <a:lnTo>
                    <a:pt x="15" y="1100"/>
                  </a:lnTo>
                  <a:lnTo>
                    <a:pt x="0" y="1100"/>
                  </a:lnTo>
                  <a:lnTo>
                    <a:pt x="0" y="1086"/>
                  </a:lnTo>
                  <a:lnTo>
                    <a:pt x="15" y="1086"/>
                  </a:lnTo>
                  <a:close/>
                  <a:moveTo>
                    <a:pt x="15" y="1114"/>
                  </a:moveTo>
                  <a:lnTo>
                    <a:pt x="15" y="1127"/>
                  </a:lnTo>
                  <a:lnTo>
                    <a:pt x="0" y="1127"/>
                  </a:lnTo>
                  <a:lnTo>
                    <a:pt x="0" y="1114"/>
                  </a:lnTo>
                  <a:lnTo>
                    <a:pt x="15" y="1114"/>
                  </a:lnTo>
                  <a:close/>
                  <a:moveTo>
                    <a:pt x="15" y="1141"/>
                  </a:moveTo>
                  <a:lnTo>
                    <a:pt x="15" y="1155"/>
                  </a:lnTo>
                  <a:lnTo>
                    <a:pt x="0" y="1155"/>
                  </a:lnTo>
                  <a:lnTo>
                    <a:pt x="0" y="1141"/>
                  </a:lnTo>
                  <a:lnTo>
                    <a:pt x="15" y="1141"/>
                  </a:lnTo>
                  <a:close/>
                  <a:moveTo>
                    <a:pt x="15" y="1169"/>
                  </a:moveTo>
                  <a:lnTo>
                    <a:pt x="15" y="1183"/>
                  </a:lnTo>
                  <a:lnTo>
                    <a:pt x="0" y="1183"/>
                  </a:lnTo>
                  <a:lnTo>
                    <a:pt x="0" y="1169"/>
                  </a:lnTo>
                  <a:lnTo>
                    <a:pt x="15" y="1169"/>
                  </a:lnTo>
                  <a:close/>
                  <a:moveTo>
                    <a:pt x="15" y="1197"/>
                  </a:moveTo>
                  <a:lnTo>
                    <a:pt x="15" y="1211"/>
                  </a:lnTo>
                  <a:lnTo>
                    <a:pt x="0" y="1211"/>
                  </a:lnTo>
                  <a:lnTo>
                    <a:pt x="0" y="1197"/>
                  </a:lnTo>
                  <a:lnTo>
                    <a:pt x="15" y="1197"/>
                  </a:lnTo>
                  <a:close/>
                  <a:moveTo>
                    <a:pt x="15" y="1225"/>
                  </a:moveTo>
                  <a:lnTo>
                    <a:pt x="15" y="1239"/>
                  </a:lnTo>
                  <a:lnTo>
                    <a:pt x="0" y="1239"/>
                  </a:lnTo>
                  <a:lnTo>
                    <a:pt x="0" y="1225"/>
                  </a:lnTo>
                  <a:lnTo>
                    <a:pt x="15" y="1225"/>
                  </a:lnTo>
                  <a:close/>
                  <a:moveTo>
                    <a:pt x="15" y="1253"/>
                  </a:moveTo>
                  <a:lnTo>
                    <a:pt x="15" y="1267"/>
                  </a:lnTo>
                  <a:lnTo>
                    <a:pt x="0" y="1267"/>
                  </a:lnTo>
                  <a:lnTo>
                    <a:pt x="0" y="1253"/>
                  </a:lnTo>
                  <a:lnTo>
                    <a:pt x="15" y="1253"/>
                  </a:lnTo>
                  <a:close/>
                  <a:moveTo>
                    <a:pt x="15" y="1281"/>
                  </a:moveTo>
                  <a:lnTo>
                    <a:pt x="15" y="1294"/>
                  </a:lnTo>
                  <a:lnTo>
                    <a:pt x="0" y="1294"/>
                  </a:lnTo>
                  <a:lnTo>
                    <a:pt x="0" y="1281"/>
                  </a:lnTo>
                  <a:lnTo>
                    <a:pt x="15" y="1281"/>
                  </a:lnTo>
                  <a:close/>
                  <a:moveTo>
                    <a:pt x="15" y="1308"/>
                  </a:moveTo>
                  <a:lnTo>
                    <a:pt x="15" y="1322"/>
                  </a:lnTo>
                  <a:lnTo>
                    <a:pt x="0" y="1322"/>
                  </a:lnTo>
                  <a:lnTo>
                    <a:pt x="0" y="1308"/>
                  </a:lnTo>
                  <a:lnTo>
                    <a:pt x="15" y="1308"/>
                  </a:lnTo>
                  <a:close/>
                  <a:moveTo>
                    <a:pt x="15" y="1336"/>
                  </a:moveTo>
                  <a:lnTo>
                    <a:pt x="15" y="1350"/>
                  </a:lnTo>
                  <a:lnTo>
                    <a:pt x="0" y="1350"/>
                  </a:lnTo>
                  <a:lnTo>
                    <a:pt x="0" y="1336"/>
                  </a:lnTo>
                  <a:lnTo>
                    <a:pt x="15" y="1336"/>
                  </a:lnTo>
                  <a:close/>
                  <a:moveTo>
                    <a:pt x="15" y="1364"/>
                  </a:moveTo>
                  <a:lnTo>
                    <a:pt x="15" y="1378"/>
                  </a:lnTo>
                  <a:lnTo>
                    <a:pt x="0" y="1378"/>
                  </a:lnTo>
                  <a:lnTo>
                    <a:pt x="0" y="1364"/>
                  </a:lnTo>
                  <a:lnTo>
                    <a:pt x="15" y="1364"/>
                  </a:lnTo>
                  <a:close/>
                  <a:moveTo>
                    <a:pt x="15" y="1392"/>
                  </a:moveTo>
                  <a:lnTo>
                    <a:pt x="15" y="1406"/>
                  </a:lnTo>
                  <a:lnTo>
                    <a:pt x="0" y="1406"/>
                  </a:lnTo>
                  <a:lnTo>
                    <a:pt x="0" y="1392"/>
                  </a:lnTo>
                  <a:lnTo>
                    <a:pt x="15" y="1392"/>
                  </a:lnTo>
                  <a:close/>
                  <a:moveTo>
                    <a:pt x="15" y="1420"/>
                  </a:moveTo>
                  <a:lnTo>
                    <a:pt x="15" y="1434"/>
                  </a:lnTo>
                  <a:lnTo>
                    <a:pt x="0" y="1434"/>
                  </a:lnTo>
                  <a:lnTo>
                    <a:pt x="0" y="1420"/>
                  </a:lnTo>
                  <a:lnTo>
                    <a:pt x="15" y="1420"/>
                  </a:lnTo>
                  <a:close/>
                  <a:moveTo>
                    <a:pt x="15" y="1448"/>
                  </a:moveTo>
                  <a:lnTo>
                    <a:pt x="15" y="1461"/>
                  </a:lnTo>
                  <a:lnTo>
                    <a:pt x="0" y="1461"/>
                  </a:lnTo>
                  <a:lnTo>
                    <a:pt x="0" y="1448"/>
                  </a:lnTo>
                  <a:lnTo>
                    <a:pt x="15" y="1448"/>
                  </a:lnTo>
                  <a:close/>
                  <a:moveTo>
                    <a:pt x="15" y="1475"/>
                  </a:moveTo>
                  <a:lnTo>
                    <a:pt x="15" y="1489"/>
                  </a:lnTo>
                  <a:lnTo>
                    <a:pt x="0" y="1489"/>
                  </a:lnTo>
                  <a:lnTo>
                    <a:pt x="0" y="1475"/>
                  </a:lnTo>
                  <a:lnTo>
                    <a:pt x="15" y="1475"/>
                  </a:lnTo>
                  <a:close/>
                  <a:moveTo>
                    <a:pt x="15" y="1503"/>
                  </a:moveTo>
                  <a:lnTo>
                    <a:pt x="15" y="1517"/>
                  </a:lnTo>
                  <a:lnTo>
                    <a:pt x="0" y="1517"/>
                  </a:lnTo>
                  <a:lnTo>
                    <a:pt x="0" y="1503"/>
                  </a:lnTo>
                  <a:lnTo>
                    <a:pt x="15" y="1503"/>
                  </a:lnTo>
                  <a:close/>
                  <a:moveTo>
                    <a:pt x="15" y="1531"/>
                  </a:moveTo>
                  <a:lnTo>
                    <a:pt x="15" y="1545"/>
                  </a:lnTo>
                  <a:lnTo>
                    <a:pt x="0" y="1545"/>
                  </a:lnTo>
                  <a:lnTo>
                    <a:pt x="0" y="1531"/>
                  </a:lnTo>
                  <a:lnTo>
                    <a:pt x="15" y="1531"/>
                  </a:lnTo>
                  <a:close/>
                  <a:moveTo>
                    <a:pt x="15" y="1559"/>
                  </a:moveTo>
                  <a:lnTo>
                    <a:pt x="15" y="1573"/>
                  </a:lnTo>
                  <a:lnTo>
                    <a:pt x="0" y="1573"/>
                  </a:lnTo>
                  <a:lnTo>
                    <a:pt x="0" y="1559"/>
                  </a:lnTo>
                  <a:lnTo>
                    <a:pt x="15" y="1559"/>
                  </a:lnTo>
                  <a:close/>
                  <a:moveTo>
                    <a:pt x="15" y="1587"/>
                  </a:moveTo>
                  <a:lnTo>
                    <a:pt x="15" y="1601"/>
                  </a:lnTo>
                  <a:lnTo>
                    <a:pt x="0" y="1601"/>
                  </a:lnTo>
                  <a:lnTo>
                    <a:pt x="0" y="1587"/>
                  </a:lnTo>
                  <a:lnTo>
                    <a:pt x="15" y="1587"/>
                  </a:lnTo>
                  <a:close/>
                  <a:moveTo>
                    <a:pt x="15" y="1615"/>
                  </a:moveTo>
                  <a:lnTo>
                    <a:pt x="15" y="1628"/>
                  </a:lnTo>
                  <a:lnTo>
                    <a:pt x="0" y="1628"/>
                  </a:lnTo>
                  <a:lnTo>
                    <a:pt x="0" y="1615"/>
                  </a:lnTo>
                  <a:lnTo>
                    <a:pt x="15" y="1615"/>
                  </a:lnTo>
                  <a:close/>
                  <a:moveTo>
                    <a:pt x="15" y="1642"/>
                  </a:moveTo>
                  <a:lnTo>
                    <a:pt x="15" y="1656"/>
                  </a:lnTo>
                  <a:lnTo>
                    <a:pt x="0" y="1656"/>
                  </a:lnTo>
                  <a:lnTo>
                    <a:pt x="0" y="1642"/>
                  </a:lnTo>
                  <a:lnTo>
                    <a:pt x="15" y="1642"/>
                  </a:lnTo>
                  <a:close/>
                  <a:moveTo>
                    <a:pt x="15" y="1670"/>
                  </a:moveTo>
                  <a:lnTo>
                    <a:pt x="15" y="1684"/>
                  </a:lnTo>
                  <a:lnTo>
                    <a:pt x="0" y="1684"/>
                  </a:lnTo>
                  <a:lnTo>
                    <a:pt x="0" y="1670"/>
                  </a:lnTo>
                  <a:lnTo>
                    <a:pt x="15" y="1670"/>
                  </a:lnTo>
                  <a:close/>
                  <a:moveTo>
                    <a:pt x="15" y="1698"/>
                  </a:moveTo>
                  <a:lnTo>
                    <a:pt x="15" y="1712"/>
                  </a:lnTo>
                  <a:lnTo>
                    <a:pt x="0" y="1712"/>
                  </a:lnTo>
                  <a:lnTo>
                    <a:pt x="0" y="1698"/>
                  </a:lnTo>
                  <a:lnTo>
                    <a:pt x="15" y="1698"/>
                  </a:lnTo>
                  <a:close/>
                  <a:moveTo>
                    <a:pt x="15" y="1726"/>
                  </a:moveTo>
                  <a:lnTo>
                    <a:pt x="15" y="1740"/>
                  </a:lnTo>
                  <a:lnTo>
                    <a:pt x="0" y="1740"/>
                  </a:lnTo>
                  <a:lnTo>
                    <a:pt x="0" y="1726"/>
                  </a:lnTo>
                  <a:lnTo>
                    <a:pt x="15" y="1726"/>
                  </a:lnTo>
                  <a:close/>
                  <a:moveTo>
                    <a:pt x="15" y="1754"/>
                  </a:moveTo>
                  <a:lnTo>
                    <a:pt x="15" y="1768"/>
                  </a:lnTo>
                  <a:lnTo>
                    <a:pt x="0" y="1768"/>
                  </a:lnTo>
                  <a:lnTo>
                    <a:pt x="0" y="1754"/>
                  </a:lnTo>
                  <a:lnTo>
                    <a:pt x="15" y="1754"/>
                  </a:lnTo>
                  <a:close/>
                  <a:moveTo>
                    <a:pt x="15" y="1782"/>
                  </a:moveTo>
                  <a:lnTo>
                    <a:pt x="15" y="1795"/>
                  </a:lnTo>
                  <a:lnTo>
                    <a:pt x="0" y="1795"/>
                  </a:lnTo>
                  <a:lnTo>
                    <a:pt x="0" y="1782"/>
                  </a:lnTo>
                  <a:lnTo>
                    <a:pt x="15" y="1782"/>
                  </a:lnTo>
                  <a:close/>
                  <a:moveTo>
                    <a:pt x="15" y="1809"/>
                  </a:moveTo>
                  <a:lnTo>
                    <a:pt x="15" y="1823"/>
                  </a:lnTo>
                  <a:lnTo>
                    <a:pt x="0" y="1823"/>
                  </a:lnTo>
                  <a:lnTo>
                    <a:pt x="0" y="1809"/>
                  </a:lnTo>
                  <a:lnTo>
                    <a:pt x="15" y="1809"/>
                  </a:lnTo>
                  <a:close/>
                  <a:moveTo>
                    <a:pt x="15" y="1837"/>
                  </a:moveTo>
                  <a:lnTo>
                    <a:pt x="15" y="1851"/>
                  </a:lnTo>
                  <a:lnTo>
                    <a:pt x="0" y="1851"/>
                  </a:lnTo>
                  <a:lnTo>
                    <a:pt x="0" y="1837"/>
                  </a:lnTo>
                  <a:lnTo>
                    <a:pt x="15" y="1837"/>
                  </a:lnTo>
                  <a:close/>
                  <a:moveTo>
                    <a:pt x="15" y="1865"/>
                  </a:moveTo>
                  <a:lnTo>
                    <a:pt x="15" y="1879"/>
                  </a:lnTo>
                  <a:lnTo>
                    <a:pt x="0" y="1879"/>
                  </a:lnTo>
                  <a:lnTo>
                    <a:pt x="0" y="1865"/>
                  </a:lnTo>
                  <a:lnTo>
                    <a:pt x="15" y="1865"/>
                  </a:lnTo>
                  <a:close/>
                  <a:moveTo>
                    <a:pt x="15" y="1893"/>
                  </a:moveTo>
                  <a:lnTo>
                    <a:pt x="15" y="1907"/>
                  </a:lnTo>
                  <a:lnTo>
                    <a:pt x="0" y="1907"/>
                  </a:lnTo>
                  <a:lnTo>
                    <a:pt x="0" y="1893"/>
                  </a:lnTo>
                  <a:lnTo>
                    <a:pt x="15" y="1893"/>
                  </a:lnTo>
                  <a:close/>
                  <a:moveTo>
                    <a:pt x="15" y="1921"/>
                  </a:moveTo>
                  <a:lnTo>
                    <a:pt x="15" y="1935"/>
                  </a:lnTo>
                  <a:lnTo>
                    <a:pt x="0" y="1935"/>
                  </a:lnTo>
                  <a:lnTo>
                    <a:pt x="0" y="1921"/>
                  </a:lnTo>
                  <a:lnTo>
                    <a:pt x="15" y="1921"/>
                  </a:lnTo>
                  <a:close/>
                  <a:moveTo>
                    <a:pt x="15" y="1949"/>
                  </a:moveTo>
                  <a:lnTo>
                    <a:pt x="15" y="1962"/>
                  </a:lnTo>
                  <a:lnTo>
                    <a:pt x="0" y="1962"/>
                  </a:lnTo>
                  <a:lnTo>
                    <a:pt x="0" y="1949"/>
                  </a:lnTo>
                  <a:lnTo>
                    <a:pt x="15" y="1949"/>
                  </a:lnTo>
                  <a:close/>
                  <a:moveTo>
                    <a:pt x="15" y="1976"/>
                  </a:moveTo>
                  <a:lnTo>
                    <a:pt x="15" y="1990"/>
                  </a:lnTo>
                  <a:lnTo>
                    <a:pt x="0" y="1990"/>
                  </a:lnTo>
                  <a:lnTo>
                    <a:pt x="0" y="1976"/>
                  </a:lnTo>
                  <a:lnTo>
                    <a:pt x="15" y="1976"/>
                  </a:lnTo>
                  <a:close/>
                  <a:moveTo>
                    <a:pt x="15" y="2004"/>
                  </a:moveTo>
                  <a:lnTo>
                    <a:pt x="15" y="2018"/>
                  </a:lnTo>
                  <a:lnTo>
                    <a:pt x="0" y="2018"/>
                  </a:lnTo>
                  <a:lnTo>
                    <a:pt x="0" y="2004"/>
                  </a:lnTo>
                  <a:lnTo>
                    <a:pt x="15" y="2004"/>
                  </a:lnTo>
                  <a:close/>
                  <a:moveTo>
                    <a:pt x="15" y="2032"/>
                  </a:moveTo>
                  <a:lnTo>
                    <a:pt x="15" y="2046"/>
                  </a:lnTo>
                  <a:lnTo>
                    <a:pt x="0" y="2046"/>
                  </a:lnTo>
                  <a:lnTo>
                    <a:pt x="0" y="2032"/>
                  </a:lnTo>
                  <a:lnTo>
                    <a:pt x="15" y="2032"/>
                  </a:lnTo>
                  <a:close/>
                  <a:moveTo>
                    <a:pt x="15" y="2060"/>
                  </a:moveTo>
                  <a:lnTo>
                    <a:pt x="15" y="2074"/>
                  </a:lnTo>
                  <a:lnTo>
                    <a:pt x="0" y="2074"/>
                  </a:lnTo>
                  <a:lnTo>
                    <a:pt x="0" y="2060"/>
                  </a:lnTo>
                  <a:lnTo>
                    <a:pt x="15" y="2060"/>
                  </a:lnTo>
                  <a:close/>
                  <a:moveTo>
                    <a:pt x="15" y="2087"/>
                  </a:moveTo>
                  <a:lnTo>
                    <a:pt x="15" y="2102"/>
                  </a:lnTo>
                  <a:lnTo>
                    <a:pt x="0" y="2102"/>
                  </a:lnTo>
                  <a:lnTo>
                    <a:pt x="0" y="2087"/>
                  </a:lnTo>
                  <a:lnTo>
                    <a:pt x="15" y="2087"/>
                  </a:lnTo>
                  <a:close/>
                  <a:moveTo>
                    <a:pt x="15" y="2116"/>
                  </a:moveTo>
                  <a:lnTo>
                    <a:pt x="15" y="2129"/>
                  </a:lnTo>
                  <a:lnTo>
                    <a:pt x="0" y="2129"/>
                  </a:lnTo>
                  <a:lnTo>
                    <a:pt x="0" y="2116"/>
                  </a:lnTo>
                  <a:lnTo>
                    <a:pt x="15" y="2116"/>
                  </a:lnTo>
                  <a:close/>
                  <a:moveTo>
                    <a:pt x="15" y="2143"/>
                  </a:moveTo>
                  <a:lnTo>
                    <a:pt x="15" y="2157"/>
                  </a:lnTo>
                  <a:lnTo>
                    <a:pt x="0" y="2157"/>
                  </a:lnTo>
                  <a:lnTo>
                    <a:pt x="0" y="2143"/>
                  </a:lnTo>
                  <a:lnTo>
                    <a:pt x="15" y="2143"/>
                  </a:lnTo>
                  <a:close/>
                  <a:moveTo>
                    <a:pt x="15" y="2171"/>
                  </a:moveTo>
                  <a:lnTo>
                    <a:pt x="15" y="2185"/>
                  </a:lnTo>
                  <a:lnTo>
                    <a:pt x="0" y="2185"/>
                  </a:lnTo>
                  <a:lnTo>
                    <a:pt x="0" y="2171"/>
                  </a:lnTo>
                  <a:lnTo>
                    <a:pt x="15" y="2171"/>
                  </a:lnTo>
                  <a:close/>
                  <a:moveTo>
                    <a:pt x="15" y="2199"/>
                  </a:moveTo>
                  <a:lnTo>
                    <a:pt x="15" y="2213"/>
                  </a:lnTo>
                  <a:lnTo>
                    <a:pt x="0" y="2213"/>
                  </a:lnTo>
                  <a:lnTo>
                    <a:pt x="0" y="2199"/>
                  </a:lnTo>
                  <a:lnTo>
                    <a:pt x="15" y="2199"/>
                  </a:lnTo>
                  <a:close/>
                  <a:moveTo>
                    <a:pt x="15" y="2227"/>
                  </a:moveTo>
                  <a:lnTo>
                    <a:pt x="15" y="2241"/>
                  </a:lnTo>
                  <a:lnTo>
                    <a:pt x="0" y="2241"/>
                  </a:lnTo>
                  <a:lnTo>
                    <a:pt x="0" y="2227"/>
                  </a:lnTo>
                  <a:lnTo>
                    <a:pt x="15" y="2227"/>
                  </a:lnTo>
                  <a:close/>
                  <a:moveTo>
                    <a:pt x="15" y="2254"/>
                  </a:moveTo>
                  <a:lnTo>
                    <a:pt x="15" y="2268"/>
                  </a:lnTo>
                  <a:lnTo>
                    <a:pt x="0" y="2268"/>
                  </a:lnTo>
                  <a:lnTo>
                    <a:pt x="0" y="2254"/>
                  </a:lnTo>
                  <a:lnTo>
                    <a:pt x="15" y="2254"/>
                  </a:lnTo>
                  <a:close/>
                  <a:moveTo>
                    <a:pt x="15" y="2283"/>
                  </a:moveTo>
                  <a:lnTo>
                    <a:pt x="15" y="2296"/>
                  </a:lnTo>
                  <a:lnTo>
                    <a:pt x="0" y="2296"/>
                  </a:lnTo>
                  <a:lnTo>
                    <a:pt x="0" y="2283"/>
                  </a:lnTo>
                  <a:lnTo>
                    <a:pt x="15" y="2283"/>
                  </a:lnTo>
                  <a:close/>
                  <a:moveTo>
                    <a:pt x="15" y="2310"/>
                  </a:moveTo>
                  <a:lnTo>
                    <a:pt x="15" y="2324"/>
                  </a:lnTo>
                  <a:lnTo>
                    <a:pt x="0" y="2324"/>
                  </a:lnTo>
                  <a:lnTo>
                    <a:pt x="0" y="2310"/>
                  </a:lnTo>
                  <a:lnTo>
                    <a:pt x="15" y="2310"/>
                  </a:lnTo>
                  <a:close/>
                  <a:moveTo>
                    <a:pt x="15" y="2338"/>
                  </a:moveTo>
                  <a:lnTo>
                    <a:pt x="15" y="2352"/>
                  </a:lnTo>
                  <a:lnTo>
                    <a:pt x="0" y="2352"/>
                  </a:lnTo>
                  <a:lnTo>
                    <a:pt x="0" y="2338"/>
                  </a:lnTo>
                  <a:lnTo>
                    <a:pt x="15" y="2338"/>
                  </a:lnTo>
                  <a:close/>
                  <a:moveTo>
                    <a:pt x="15" y="2366"/>
                  </a:moveTo>
                  <a:lnTo>
                    <a:pt x="15" y="2380"/>
                  </a:lnTo>
                  <a:lnTo>
                    <a:pt x="0" y="2380"/>
                  </a:lnTo>
                  <a:lnTo>
                    <a:pt x="0" y="2366"/>
                  </a:lnTo>
                  <a:lnTo>
                    <a:pt x="15" y="2366"/>
                  </a:lnTo>
                  <a:close/>
                  <a:moveTo>
                    <a:pt x="15" y="2394"/>
                  </a:moveTo>
                  <a:lnTo>
                    <a:pt x="15" y="2408"/>
                  </a:lnTo>
                  <a:lnTo>
                    <a:pt x="0" y="2408"/>
                  </a:lnTo>
                  <a:lnTo>
                    <a:pt x="0" y="2394"/>
                  </a:lnTo>
                  <a:lnTo>
                    <a:pt x="15" y="2394"/>
                  </a:lnTo>
                  <a:close/>
                  <a:moveTo>
                    <a:pt x="15" y="2421"/>
                  </a:moveTo>
                  <a:lnTo>
                    <a:pt x="15" y="2435"/>
                  </a:lnTo>
                  <a:lnTo>
                    <a:pt x="0" y="2435"/>
                  </a:lnTo>
                  <a:lnTo>
                    <a:pt x="0" y="2421"/>
                  </a:lnTo>
                  <a:lnTo>
                    <a:pt x="15" y="2421"/>
                  </a:lnTo>
                  <a:close/>
                  <a:moveTo>
                    <a:pt x="15" y="2449"/>
                  </a:moveTo>
                  <a:lnTo>
                    <a:pt x="15" y="2453"/>
                  </a:lnTo>
                  <a:lnTo>
                    <a:pt x="0" y="2453"/>
                  </a:lnTo>
                  <a:lnTo>
                    <a:pt x="0" y="2449"/>
                  </a:lnTo>
                  <a:lnTo>
                    <a:pt x="15" y="2449"/>
                  </a:lnTo>
                  <a:close/>
                </a:path>
              </a:pathLst>
            </a:custGeom>
            <a:solidFill>
              <a:srgbClr val="000000"/>
            </a:solidFill>
            <a:ln w="0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185" name="Freeform 32">
              <a:extLst>
                <a:ext uri="{FF2B5EF4-FFF2-40B4-BE49-F238E27FC236}">
                  <a16:creationId xmlns:a16="http://schemas.microsoft.com/office/drawing/2014/main" id="{CA00BF15-5CEE-5376-9750-A34599BFE30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620254" y="3078501"/>
              <a:ext cx="18000" cy="3726773"/>
            </a:xfrm>
            <a:custGeom>
              <a:avLst/>
              <a:gdLst>
                <a:gd name="T0" fmla="*/ 14 w 14"/>
                <a:gd name="T1" fmla="*/ 42 h 2453"/>
                <a:gd name="T2" fmla="*/ 0 w 14"/>
                <a:gd name="T3" fmla="*/ 56 h 2453"/>
                <a:gd name="T4" fmla="*/ 14 w 14"/>
                <a:gd name="T5" fmla="*/ 112 h 2453"/>
                <a:gd name="T6" fmla="*/ 0 w 14"/>
                <a:gd name="T7" fmla="*/ 154 h 2453"/>
                <a:gd name="T8" fmla="*/ 14 w 14"/>
                <a:gd name="T9" fmla="*/ 167 h 2453"/>
                <a:gd name="T10" fmla="*/ 14 w 14"/>
                <a:gd name="T11" fmla="*/ 237 h 2453"/>
                <a:gd name="T12" fmla="*/ 0 w 14"/>
                <a:gd name="T13" fmla="*/ 251 h 2453"/>
                <a:gd name="T14" fmla="*/ 14 w 14"/>
                <a:gd name="T15" fmla="*/ 307 h 2453"/>
                <a:gd name="T16" fmla="*/ 0 w 14"/>
                <a:gd name="T17" fmla="*/ 348 h 2453"/>
                <a:gd name="T18" fmla="*/ 14 w 14"/>
                <a:gd name="T19" fmla="*/ 362 h 2453"/>
                <a:gd name="T20" fmla="*/ 14 w 14"/>
                <a:gd name="T21" fmla="*/ 432 h 2453"/>
                <a:gd name="T22" fmla="*/ 0 w 14"/>
                <a:gd name="T23" fmla="*/ 446 h 2453"/>
                <a:gd name="T24" fmla="*/ 14 w 14"/>
                <a:gd name="T25" fmla="*/ 501 h 2453"/>
                <a:gd name="T26" fmla="*/ 0 w 14"/>
                <a:gd name="T27" fmla="*/ 543 h 2453"/>
                <a:gd name="T28" fmla="*/ 14 w 14"/>
                <a:gd name="T29" fmla="*/ 557 h 2453"/>
                <a:gd name="T30" fmla="*/ 14 w 14"/>
                <a:gd name="T31" fmla="*/ 627 h 2453"/>
                <a:gd name="T32" fmla="*/ 0 w 14"/>
                <a:gd name="T33" fmla="*/ 641 h 2453"/>
                <a:gd name="T34" fmla="*/ 14 w 14"/>
                <a:gd name="T35" fmla="*/ 696 h 2453"/>
                <a:gd name="T36" fmla="*/ 0 w 14"/>
                <a:gd name="T37" fmla="*/ 738 h 2453"/>
                <a:gd name="T38" fmla="*/ 14 w 14"/>
                <a:gd name="T39" fmla="*/ 752 h 2453"/>
                <a:gd name="T40" fmla="*/ 14 w 14"/>
                <a:gd name="T41" fmla="*/ 822 h 2453"/>
                <a:gd name="T42" fmla="*/ 0 w 14"/>
                <a:gd name="T43" fmla="*/ 835 h 2453"/>
                <a:gd name="T44" fmla="*/ 14 w 14"/>
                <a:gd name="T45" fmla="*/ 891 h 2453"/>
                <a:gd name="T46" fmla="*/ 0 w 14"/>
                <a:gd name="T47" fmla="*/ 933 h 2453"/>
                <a:gd name="T48" fmla="*/ 14 w 14"/>
                <a:gd name="T49" fmla="*/ 947 h 2453"/>
                <a:gd name="T50" fmla="*/ 14 w 14"/>
                <a:gd name="T51" fmla="*/ 1016 h 2453"/>
                <a:gd name="T52" fmla="*/ 0 w 14"/>
                <a:gd name="T53" fmla="*/ 1030 h 2453"/>
                <a:gd name="T54" fmla="*/ 14 w 14"/>
                <a:gd name="T55" fmla="*/ 1086 h 2453"/>
                <a:gd name="T56" fmla="*/ 0 w 14"/>
                <a:gd name="T57" fmla="*/ 1127 h 2453"/>
                <a:gd name="T58" fmla="*/ 14 w 14"/>
                <a:gd name="T59" fmla="*/ 1141 h 2453"/>
                <a:gd name="T60" fmla="*/ 14 w 14"/>
                <a:gd name="T61" fmla="*/ 1211 h 2453"/>
                <a:gd name="T62" fmla="*/ 0 w 14"/>
                <a:gd name="T63" fmla="*/ 1225 h 2453"/>
                <a:gd name="T64" fmla="*/ 14 w 14"/>
                <a:gd name="T65" fmla="*/ 1281 h 2453"/>
                <a:gd name="T66" fmla="*/ 0 w 14"/>
                <a:gd name="T67" fmla="*/ 1322 h 2453"/>
                <a:gd name="T68" fmla="*/ 14 w 14"/>
                <a:gd name="T69" fmla="*/ 1336 h 2453"/>
                <a:gd name="T70" fmla="*/ 14 w 14"/>
                <a:gd name="T71" fmla="*/ 1406 h 2453"/>
                <a:gd name="T72" fmla="*/ 0 w 14"/>
                <a:gd name="T73" fmla="*/ 1420 h 2453"/>
                <a:gd name="T74" fmla="*/ 14 w 14"/>
                <a:gd name="T75" fmla="*/ 1475 h 2453"/>
                <a:gd name="T76" fmla="*/ 0 w 14"/>
                <a:gd name="T77" fmla="*/ 1517 h 2453"/>
                <a:gd name="T78" fmla="*/ 14 w 14"/>
                <a:gd name="T79" fmla="*/ 1531 h 2453"/>
                <a:gd name="T80" fmla="*/ 14 w 14"/>
                <a:gd name="T81" fmla="*/ 1601 h 2453"/>
                <a:gd name="T82" fmla="*/ 0 w 14"/>
                <a:gd name="T83" fmla="*/ 1615 h 2453"/>
                <a:gd name="T84" fmla="*/ 14 w 14"/>
                <a:gd name="T85" fmla="*/ 1670 h 2453"/>
                <a:gd name="T86" fmla="*/ 0 w 14"/>
                <a:gd name="T87" fmla="*/ 1712 h 2453"/>
                <a:gd name="T88" fmla="*/ 14 w 14"/>
                <a:gd name="T89" fmla="*/ 1726 h 2453"/>
                <a:gd name="T90" fmla="*/ 14 w 14"/>
                <a:gd name="T91" fmla="*/ 1795 h 2453"/>
                <a:gd name="T92" fmla="*/ 0 w 14"/>
                <a:gd name="T93" fmla="*/ 1809 h 2453"/>
                <a:gd name="T94" fmla="*/ 14 w 14"/>
                <a:gd name="T95" fmla="*/ 1865 h 2453"/>
                <a:gd name="T96" fmla="*/ 0 w 14"/>
                <a:gd name="T97" fmla="*/ 1907 h 2453"/>
                <a:gd name="T98" fmla="*/ 14 w 14"/>
                <a:gd name="T99" fmla="*/ 1921 h 2453"/>
                <a:gd name="T100" fmla="*/ 14 w 14"/>
                <a:gd name="T101" fmla="*/ 1990 h 2453"/>
                <a:gd name="T102" fmla="*/ 0 w 14"/>
                <a:gd name="T103" fmla="*/ 2004 h 2453"/>
                <a:gd name="T104" fmla="*/ 14 w 14"/>
                <a:gd name="T105" fmla="*/ 2060 h 2453"/>
                <a:gd name="T106" fmla="*/ 0 w 14"/>
                <a:gd name="T107" fmla="*/ 2102 h 2453"/>
                <a:gd name="T108" fmla="*/ 14 w 14"/>
                <a:gd name="T109" fmla="*/ 2116 h 2453"/>
                <a:gd name="T110" fmla="*/ 14 w 14"/>
                <a:gd name="T111" fmla="*/ 2185 h 2453"/>
                <a:gd name="T112" fmla="*/ 0 w 14"/>
                <a:gd name="T113" fmla="*/ 2199 h 2453"/>
                <a:gd name="T114" fmla="*/ 14 w 14"/>
                <a:gd name="T115" fmla="*/ 2254 h 2453"/>
                <a:gd name="T116" fmla="*/ 0 w 14"/>
                <a:gd name="T117" fmla="*/ 2296 h 2453"/>
                <a:gd name="T118" fmla="*/ 14 w 14"/>
                <a:gd name="T119" fmla="*/ 2310 h 2453"/>
                <a:gd name="T120" fmla="*/ 14 w 14"/>
                <a:gd name="T121" fmla="*/ 2380 h 2453"/>
                <a:gd name="T122" fmla="*/ 0 w 14"/>
                <a:gd name="T123" fmla="*/ 2394 h 2453"/>
                <a:gd name="T124" fmla="*/ 14 w 14"/>
                <a:gd name="T125" fmla="*/ 2449 h 24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4" h="2453">
                  <a:moveTo>
                    <a:pt x="14" y="0"/>
                  </a:moveTo>
                  <a:lnTo>
                    <a:pt x="14" y="14"/>
                  </a:lnTo>
                  <a:lnTo>
                    <a:pt x="0" y="14"/>
                  </a:lnTo>
                  <a:lnTo>
                    <a:pt x="0" y="0"/>
                  </a:lnTo>
                  <a:lnTo>
                    <a:pt x="14" y="0"/>
                  </a:lnTo>
                  <a:close/>
                  <a:moveTo>
                    <a:pt x="14" y="28"/>
                  </a:moveTo>
                  <a:lnTo>
                    <a:pt x="14" y="42"/>
                  </a:lnTo>
                  <a:lnTo>
                    <a:pt x="0" y="42"/>
                  </a:lnTo>
                  <a:lnTo>
                    <a:pt x="0" y="28"/>
                  </a:lnTo>
                  <a:lnTo>
                    <a:pt x="14" y="28"/>
                  </a:lnTo>
                  <a:close/>
                  <a:moveTo>
                    <a:pt x="14" y="56"/>
                  </a:moveTo>
                  <a:lnTo>
                    <a:pt x="14" y="70"/>
                  </a:lnTo>
                  <a:lnTo>
                    <a:pt x="0" y="70"/>
                  </a:lnTo>
                  <a:lnTo>
                    <a:pt x="0" y="56"/>
                  </a:lnTo>
                  <a:lnTo>
                    <a:pt x="14" y="56"/>
                  </a:lnTo>
                  <a:close/>
                  <a:moveTo>
                    <a:pt x="14" y="84"/>
                  </a:moveTo>
                  <a:lnTo>
                    <a:pt x="14" y="98"/>
                  </a:lnTo>
                  <a:lnTo>
                    <a:pt x="0" y="98"/>
                  </a:lnTo>
                  <a:lnTo>
                    <a:pt x="0" y="84"/>
                  </a:lnTo>
                  <a:lnTo>
                    <a:pt x="14" y="84"/>
                  </a:lnTo>
                  <a:close/>
                  <a:moveTo>
                    <a:pt x="14" y="112"/>
                  </a:moveTo>
                  <a:lnTo>
                    <a:pt x="14" y="126"/>
                  </a:lnTo>
                  <a:lnTo>
                    <a:pt x="0" y="126"/>
                  </a:lnTo>
                  <a:lnTo>
                    <a:pt x="0" y="112"/>
                  </a:lnTo>
                  <a:lnTo>
                    <a:pt x="14" y="112"/>
                  </a:lnTo>
                  <a:close/>
                  <a:moveTo>
                    <a:pt x="14" y="140"/>
                  </a:moveTo>
                  <a:lnTo>
                    <a:pt x="14" y="154"/>
                  </a:lnTo>
                  <a:lnTo>
                    <a:pt x="0" y="154"/>
                  </a:lnTo>
                  <a:lnTo>
                    <a:pt x="0" y="140"/>
                  </a:lnTo>
                  <a:lnTo>
                    <a:pt x="14" y="140"/>
                  </a:lnTo>
                  <a:close/>
                  <a:moveTo>
                    <a:pt x="14" y="167"/>
                  </a:moveTo>
                  <a:lnTo>
                    <a:pt x="14" y="181"/>
                  </a:lnTo>
                  <a:lnTo>
                    <a:pt x="0" y="181"/>
                  </a:lnTo>
                  <a:lnTo>
                    <a:pt x="0" y="167"/>
                  </a:lnTo>
                  <a:lnTo>
                    <a:pt x="14" y="167"/>
                  </a:lnTo>
                  <a:close/>
                  <a:moveTo>
                    <a:pt x="14" y="195"/>
                  </a:moveTo>
                  <a:lnTo>
                    <a:pt x="14" y="209"/>
                  </a:lnTo>
                  <a:lnTo>
                    <a:pt x="0" y="209"/>
                  </a:lnTo>
                  <a:lnTo>
                    <a:pt x="0" y="195"/>
                  </a:lnTo>
                  <a:lnTo>
                    <a:pt x="14" y="195"/>
                  </a:lnTo>
                  <a:close/>
                  <a:moveTo>
                    <a:pt x="14" y="223"/>
                  </a:moveTo>
                  <a:lnTo>
                    <a:pt x="14" y="237"/>
                  </a:lnTo>
                  <a:lnTo>
                    <a:pt x="0" y="237"/>
                  </a:lnTo>
                  <a:lnTo>
                    <a:pt x="0" y="223"/>
                  </a:lnTo>
                  <a:lnTo>
                    <a:pt x="14" y="223"/>
                  </a:lnTo>
                  <a:close/>
                  <a:moveTo>
                    <a:pt x="14" y="251"/>
                  </a:moveTo>
                  <a:lnTo>
                    <a:pt x="14" y="265"/>
                  </a:lnTo>
                  <a:lnTo>
                    <a:pt x="0" y="265"/>
                  </a:lnTo>
                  <a:lnTo>
                    <a:pt x="0" y="251"/>
                  </a:lnTo>
                  <a:lnTo>
                    <a:pt x="14" y="251"/>
                  </a:lnTo>
                  <a:close/>
                  <a:moveTo>
                    <a:pt x="14" y="279"/>
                  </a:moveTo>
                  <a:lnTo>
                    <a:pt x="14" y="293"/>
                  </a:lnTo>
                  <a:lnTo>
                    <a:pt x="0" y="293"/>
                  </a:lnTo>
                  <a:lnTo>
                    <a:pt x="0" y="279"/>
                  </a:lnTo>
                  <a:lnTo>
                    <a:pt x="14" y="279"/>
                  </a:lnTo>
                  <a:close/>
                  <a:moveTo>
                    <a:pt x="14" y="307"/>
                  </a:moveTo>
                  <a:lnTo>
                    <a:pt x="14" y="321"/>
                  </a:lnTo>
                  <a:lnTo>
                    <a:pt x="0" y="321"/>
                  </a:lnTo>
                  <a:lnTo>
                    <a:pt x="0" y="307"/>
                  </a:lnTo>
                  <a:lnTo>
                    <a:pt x="14" y="307"/>
                  </a:lnTo>
                  <a:close/>
                  <a:moveTo>
                    <a:pt x="14" y="334"/>
                  </a:moveTo>
                  <a:lnTo>
                    <a:pt x="14" y="348"/>
                  </a:lnTo>
                  <a:lnTo>
                    <a:pt x="0" y="348"/>
                  </a:lnTo>
                  <a:lnTo>
                    <a:pt x="0" y="334"/>
                  </a:lnTo>
                  <a:lnTo>
                    <a:pt x="14" y="334"/>
                  </a:lnTo>
                  <a:close/>
                  <a:moveTo>
                    <a:pt x="14" y="362"/>
                  </a:moveTo>
                  <a:lnTo>
                    <a:pt x="14" y="376"/>
                  </a:lnTo>
                  <a:lnTo>
                    <a:pt x="0" y="376"/>
                  </a:lnTo>
                  <a:lnTo>
                    <a:pt x="0" y="362"/>
                  </a:lnTo>
                  <a:lnTo>
                    <a:pt x="14" y="362"/>
                  </a:lnTo>
                  <a:close/>
                  <a:moveTo>
                    <a:pt x="14" y="390"/>
                  </a:moveTo>
                  <a:lnTo>
                    <a:pt x="14" y="404"/>
                  </a:lnTo>
                  <a:lnTo>
                    <a:pt x="0" y="404"/>
                  </a:lnTo>
                  <a:lnTo>
                    <a:pt x="0" y="390"/>
                  </a:lnTo>
                  <a:lnTo>
                    <a:pt x="14" y="390"/>
                  </a:lnTo>
                  <a:close/>
                  <a:moveTo>
                    <a:pt x="14" y="418"/>
                  </a:moveTo>
                  <a:lnTo>
                    <a:pt x="14" y="432"/>
                  </a:lnTo>
                  <a:lnTo>
                    <a:pt x="0" y="432"/>
                  </a:lnTo>
                  <a:lnTo>
                    <a:pt x="0" y="418"/>
                  </a:lnTo>
                  <a:lnTo>
                    <a:pt x="14" y="418"/>
                  </a:lnTo>
                  <a:close/>
                  <a:moveTo>
                    <a:pt x="14" y="446"/>
                  </a:moveTo>
                  <a:lnTo>
                    <a:pt x="14" y="460"/>
                  </a:lnTo>
                  <a:lnTo>
                    <a:pt x="0" y="460"/>
                  </a:lnTo>
                  <a:lnTo>
                    <a:pt x="0" y="446"/>
                  </a:lnTo>
                  <a:lnTo>
                    <a:pt x="14" y="446"/>
                  </a:lnTo>
                  <a:close/>
                  <a:moveTo>
                    <a:pt x="14" y="474"/>
                  </a:moveTo>
                  <a:lnTo>
                    <a:pt x="14" y="488"/>
                  </a:lnTo>
                  <a:lnTo>
                    <a:pt x="0" y="488"/>
                  </a:lnTo>
                  <a:lnTo>
                    <a:pt x="0" y="474"/>
                  </a:lnTo>
                  <a:lnTo>
                    <a:pt x="14" y="474"/>
                  </a:lnTo>
                  <a:close/>
                  <a:moveTo>
                    <a:pt x="14" y="501"/>
                  </a:moveTo>
                  <a:lnTo>
                    <a:pt x="14" y="515"/>
                  </a:lnTo>
                  <a:lnTo>
                    <a:pt x="0" y="515"/>
                  </a:lnTo>
                  <a:lnTo>
                    <a:pt x="0" y="501"/>
                  </a:lnTo>
                  <a:lnTo>
                    <a:pt x="14" y="501"/>
                  </a:lnTo>
                  <a:close/>
                  <a:moveTo>
                    <a:pt x="14" y="529"/>
                  </a:moveTo>
                  <a:lnTo>
                    <a:pt x="14" y="543"/>
                  </a:lnTo>
                  <a:lnTo>
                    <a:pt x="0" y="543"/>
                  </a:lnTo>
                  <a:lnTo>
                    <a:pt x="0" y="529"/>
                  </a:lnTo>
                  <a:lnTo>
                    <a:pt x="14" y="529"/>
                  </a:lnTo>
                  <a:close/>
                  <a:moveTo>
                    <a:pt x="14" y="557"/>
                  </a:moveTo>
                  <a:lnTo>
                    <a:pt x="14" y="571"/>
                  </a:lnTo>
                  <a:lnTo>
                    <a:pt x="0" y="571"/>
                  </a:lnTo>
                  <a:lnTo>
                    <a:pt x="0" y="557"/>
                  </a:lnTo>
                  <a:lnTo>
                    <a:pt x="14" y="557"/>
                  </a:lnTo>
                  <a:close/>
                  <a:moveTo>
                    <a:pt x="14" y="585"/>
                  </a:moveTo>
                  <a:lnTo>
                    <a:pt x="14" y="599"/>
                  </a:lnTo>
                  <a:lnTo>
                    <a:pt x="0" y="599"/>
                  </a:lnTo>
                  <a:lnTo>
                    <a:pt x="0" y="585"/>
                  </a:lnTo>
                  <a:lnTo>
                    <a:pt x="14" y="585"/>
                  </a:lnTo>
                  <a:close/>
                  <a:moveTo>
                    <a:pt x="14" y="613"/>
                  </a:moveTo>
                  <a:lnTo>
                    <a:pt x="14" y="627"/>
                  </a:lnTo>
                  <a:lnTo>
                    <a:pt x="0" y="627"/>
                  </a:lnTo>
                  <a:lnTo>
                    <a:pt x="0" y="613"/>
                  </a:lnTo>
                  <a:lnTo>
                    <a:pt x="14" y="613"/>
                  </a:lnTo>
                  <a:close/>
                  <a:moveTo>
                    <a:pt x="14" y="641"/>
                  </a:moveTo>
                  <a:lnTo>
                    <a:pt x="14" y="655"/>
                  </a:lnTo>
                  <a:lnTo>
                    <a:pt x="0" y="655"/>
                  </a:lnTo>
                  <a:lnTo>
                    <a:pt x="0" y="641"/>
                  </a:lnTo>
                  <a:lnTo>
                    <a:pt x="14" y="641"/>
                  </a:lnTo>
                  <a:close/>
                  <a:moveTo>
                    <a:pt x="14" y="668"/>
                  </a:moveTo>
                  <a:lnTo>
                    <a:pt x="14" y="682"/>
                  </a:lnTo>
                  <a:lnTo>
                    <a:pt x="0" y="682"/>
                  </a:lnTo>
                  <a:lnTo>
                    <a:pt x="0" y="668"/>
                  </a:lnTo>
                  <a:lnTo>
                    <a:pt x="14" y="668"/>
                  </a:lnTo>
                  <a:close/>
                  <a:moveTo>
                    <a:pt x="14" y="696"/>
                  </a:moveTo>
                  <a:lnTo>
                    <a:pt x="14" y="710"/>
                  </a:lnTo>
                  <a:lnTo>
                    <a:pt x="0" y="710"/>
                  </a:lnTo>
                  <a:lnTo>
                    <a:pt x="0" y="696"/>
                  </a:lnTo>
                  <a:lnTo>
                    <a:pt x="14" y="696"/>
                  </a:lnTo>
                  <a:close/>
                  <a:moveTo>
                    <a:pt x="14" y="724"/>
                  </a:moveTo>
                  <a:lnTo>
                    <a:pt x="14" y="738"/>
                  </a:lnTo>
                  <a:lnTo>
                    <a:pt x="0" y="738"/>
                  </a:lnTo>
                  <a:lnTo>
                    <a:pt x="0" y="724"/>
                  </a:lnTo>
                  <a:lnTo>
                    <a:pt x="14" y="724"/>
                  </a:lnTo>
                  <a:close/>
                  <a:moveTo>
                    <a:pt x="14" y="752"/>
                  </a:moveTo>
                  <a:lnTo>
                    <a:pt x="14" y="766"/>
                  </a:lnTo>
                  <a:lnTo>
                    <a:pt x="0" y="766"/>
                  </a:lnTo>
                  <a:lnTo>
                    <a:pt x="0" y="752"/>
                  </a:lnTo>
                  <a:lnTo>
                    <a:pt x="14" y="752"/>
                  </a:lnTo>
                  <a:close/>
                  <a:moveTo>
                    <a:pt x="14" y="780"/>
                  </a:moveTo>
                  <a:lnTo>
                    <a:pt x="14" y="793"/>
                  </a:lnTo>
                  <a:lnTo>
                    <a:pt x="0" y="793"/>
                  </a:lnTo>
                  <a:lnTo>
                    <a:pt x="0" y="780"/>
                  </a:lnTo>
                  <a:lnTo>
                    <a:pt x="14" y="780"/>
                  </a:lnTo>
                  <a:close/>
                  <a:moveTo>
                    <a:pt x="14" y="808"/>
                  </a:moveTo>
                  <a:lnTo>
                    <a:pt x="14" y="822"/>
                  </a:lnTo>
                  <a:lnTo>
                    <a:pt x="0" y="822"/>
                  </a:lnTo>
                  <a:lnTo>
                    <a:pt x="0" y="808"/>
                  </a:lnTo>
                  <a:lnTo>
                    <a:pt x="14" y="808"/>
                  </a:lnTo>
                  <a:close/>
                  <a:moveTo>
                    <a:pt x="14" y="835"/>
                  </a:moveTo>
                  <a:lnTo>
                    <a:pt x="14" y="849"/>
                  </a:lnTo>
                  <a:lnTo>
                    <a:pt x="0" y="849"/>
                  </a:lnTo>
                  <a:lnTo>
                    <a:pt x="0" y="835"/>
                  </a:lnTo>
                  <a:lnTo>
                    <a:pt x="14" y="835"/>
                  </a:lnTo>
                  <a:close/>
                  <a:moveTo>
                    <a:pt x="14" y="863"/>
                  </a:moveTo>
                  <a:lnTo>
                    <a:pt x="14" y="877"/>
                  </a:lnTo>
                  <a:lnTo>
                    <a:pt x="0" y="877"/>
                  </a:lnTo>
                  <a:lnTo>
                    <a:pt x="0" y="863"/>
                  </a:lnTo>
                  <a:lnTo>
                    <a:pt x="14" y="863"/>
                  </a:lnTo>
                  <a:close/>
                  <a:moveTo>
                    <a:pt x="14" y="891"/>
                  </a:moveTo>
                  <a:lnTo>
                    <a:pt x="14" y="905"/>
                  </a:lnTo>
                  <a:lnTo>
                    <a:pt x="0" y="905"/>
                  </a:lnTo>
                  <a:lnTo>
                    <a:pt x="0" y="891"/>
                  </a:lnTo>
                  <a:lnTo>
                    <a:pt x="14" y="891"/>
                  </a:lnTo>
                  <a:close/>
                  <a:moveTo>
                    <a:pt x="14" y="919"/>
                  </a:moveTo>
                  <a:lnTo>
                    <a:pt x="14" y="933"/>
                  </a:lnTo>
                  <a:lnTo>
                    <a:pt x="0" y="933"/>
                  </a:lnTo>
                  <a:lnTo>
                    <a:pt x="0" y="919"/>
                  </a:lnTo>
                  <a:lnTo>
                    <a:pt x="14" y="919"/>
                  </a:lnTo>
                  <a:close/>
                  <a:moveTo>
                    <a:pt x="14" y="947"/>
                  </a:moveTo>
                  <a:lnTo>
                    <a:pt x="14" y="960"/>
                  </a:lnTo>
                  <a:lnTo>
                    <a:pt x="0" y="960"/>
                  </a:lnTo>
                  <a:lnTo>
                    <a:pt x="0" y="947"/>
                  </a:lnTo>
                  <a:lnTo>
                    <a:pt x="14" y="947"/>
                  </a:lnTo>
                  <a:close/>
                  <a:moveTo>
                    <a:pt x="14" y="974"/>
                  </a:moveTo>
                  <a:lnTo>
                    <a:pt x="14" y="988"/>
                  </a:lnTo>
                  <a:lnTo>
                    <a:pt x="0" y="988"/>
                  </a:lnTo>
                  <a:lnTo>
                    <a:pt x="0" y="974"/>
                  </a:lnTo>
                  <a:lnTo>
                    <a:pt x="14" y="974"/>
                  </a:lnTo>
                  <a:close/>
                  <a:moveTo>
                    <a:pt x="14" y="1002"/>
                  </a:moveTo>
                  <a:lnTo>
                    <a:pt x="14" y="1016"/>
                  </a:lnTo>
                  <a:lnTo>
                    <a:pt x="0" y="1016"/>
                  </a:lnTo>
                  <a:lnTo>
                    <a:pt x="0" y="1002"/>
                  </a:lnTo>
                  <a:lnTo>
                    <a:pt x="14" y="1002"/>
                  </a:lnTo>
                  <a:close/>
                  <a:moveTo>
                    <a:pt x="14" y="1030"/>
                  </a:moveTo>
                  <a:lnTo>
                    <a:pt x="14" y="1044"/>
                  </a:lnTo>
                  <a:lnTo>
                    <a:pt x="0" y="1044"/>
                  </a:lnTo>
                  <a:lnTo>
                    <a:pt x="0" y="1030"/>
                  </a:lnTo>
                  <a:lnTo>
                    <a:pt x="14" y="1030"/>
                  </a:lnTo>
                  <a:close/>
                  <a:moveTo>
                    <a:pt x="14" y="1058"/>
                  </a:moveTo>
                  <a:lnTo>
                    <a:pt x="14" y="1072"/>
                  </a:lnTo>
                  <a:lnTo>
                    <a:pt x="0" y="1072"/>
                  </a:lnTo>
                  <a:lnTo>
                    <a:pt x="0" y="1058"/>
                  </a:lnTo>
                  <a:lnTo>
                    <a:pt x="14" y="1058"/>
                  </a:lnTo>
                  <a:close/>
                  <a:moveTo>
                    <a:pt x="14" y="1086"/>
                  </a:moveTo>
                  <a:lnTo>
                    <a:pt x="14" y="1100"/>
                  </a:lnTo>
                  <a:lnTo>
                    <a:pt x="0" y="1100"/>
                  </a:lnTo>
                  <a:lnTo>
                    <a:pt x="0" y="1086"/>
                  </a:lnTo>
                  <a:lnTo>
                    <a:pt x="14" y="1086"/>
                  </a:lnTo>
                  <a:close/>
                  <a:moveTo>
                    <a:pt x="14" y="1114"/>
                  </a:moveTo>
                  <a:lnTo>
                    <a:pt x="14" y="1127"/>
                  </a:lnTo>
                  <a:lnTo>
                    <a:pt x="0" y="1127"/>
                  </a:lnTo>
                  <a:lnTo>
                    <a:pt x="0" y="1114"/>
                  </a:lnTo>
                  <a:lnTo>
                    <a:pt x="14" y="1114"/>
                  </a:lnTo>
                  <a:close/>
                  <a:moveTo>
                    <a:pt x="14" y="1141"/>
                  </a:moveTo>
                  <a:lnTo>
                    <a:pt x="14" y="1155"/>
                  </a:lnTo>
                  <a:lnTo>
                    <a:pt x="0" y="1155"/>
                  </a:lnTo>
                  <a:lnTo>
                    <a:pt x="0" y="1141"/>
                  </a:lnTo>
                  <a:lnTo>
                    <a:pt x="14" y="1141"/>
                  </a:lnTo>
                  <a:close/>
                  <a:moveTo>
                    <a:pt x="14" y="1169"/>
                  </a:moveTo>
                  <a:lnTo>
                    <a:pt x="14" y="1183"/>
                  </a:lnTo>
                  <a:lnTo>
                    <a:pt x="0" y="1183"/>
                  </a:lnTo>
                  <a:lnTo>
                    <a:pt x="0" y="1169"/>
                  </a:lnTo>
                  <a:lnTo>
                    <a:pt x="14" y="1169"/>
                  </a:lnTo>
                  <a:close/>
                  <a:moveTo>
                    <a:pt x="14" y="1197"/>
                  </a:moveTo>
                  <a:lnTo>
                    <a:pt x="14" y="1211"/>
                  </a:lnTo>
                  <a:lnTo>
                    <a:pt x="0" y="1211"/>
                  </a:lnTo>
                  <a:lnTo>
                    <a:pt x="0" y="1197"/>
                  </a:lnTo>
                  <a:lnTo>
                    <a:pt x="14" y="1197"/>
                  </a:lnTo>
                  <a:close/>
                  <a:moveTo>
                    <a:pt x="14" y="1225"/>
                  </a:moveTo>
                  <a:lnTo>
                    <a:pt x="14" y="1239"/>
                  </a:lnTo>
                  <a:lnTo>
                    <a:pt x="0" y="1239"/>
                  </a:lnTo>
                  <a:lnTo>
                    <a:pt x="0" y="1225"/>
                  </a:lnTo>
                  <a:lnTo>
                    <a:pt x="14" y="1225"/>
                  </a:lnTo>
                  <a:close/>
                  <a:moveTo>
                    <a:pt x="14" y="1253"/>
                  </a:moveTo>
                  <a:lnTo>
                    <a:pt x="14" y="1267"/>
                  </a:lnTo>
                  <a:lnTo>
                    <a:pt x="0" y="1267"/>
                  </a:lnTo>
                  <a:lnTo>
                    <a:pt x="0" y="1253"/>
                  </a:lnTo>
                  <a:lnTo>
                    <a:pt x="14" y="1253"/>
                  </a:lnTo>
                  <a:close/>
                  <a:moveTo>
                    <a:pt x="14" y="1281"/>
                  </a:moveTo>
                  <a:lnTo>
                    <a:pt x="14" y="1294"/>
                  </a:lnTo>
                  <a:lnTo>
                    <a:pt x="0" y="1294"/>
                  </a:lnTo>
                  <a:lnTo>
                    <a:pt x="0" y="1281"/>
                  </a:lnTo>
                  <a:lnTo>
                    <a:pt x="14" y="1281"/>
                  </a:lnTo>
                  <a:close/>
                  <a:moveTo>
                    <a:pt x="14" y="1308"/>
                  </a:moveTo>
                  <a:lnTo>
                    <a:pt x="14" y="1322"/>
                  </a:lnTo>
                  <a:lnTo>
                    <a:pt x="0" y="1322"/>
                  </a:lnTo>
                  <a:lnTo>
                    <a:pt x="0" y="1308"/>
                  </a:lnTo>
                  <a:lnTo>
                    <a:pt x="14" y="1308"/>
                  </a:lnTo>
                  <a:close/>
                  <a:moveTo>
                    <a:pt x="14" y="1336"/>
                  </a:moveTo>
                  <a:lnTo>
                    <a:pt x="14" y="1350"/>
                  </a:lnTo>
                  <a:lnTo>
                    <a:pt x="0" y="1350"/>
                  </a:lnTo>
                  <a:lnTo>
                    <a:pt x="0" y="1336"/>
                  </a:lnTo>
                  <a:lnTo>
                    <a:pt x="14" y="1336"/>
                  </a:lnTo>
                  <a:close/>
                  <a:moveTo>
                    <a:pt x="14" y="1364"/>
                  </a:moveTo>
                  <a:lnTo>
                    <a:pt x="14" y="1378"/>
                  </a:lnTo>
                  <a:lnTo>
                    <a:pt x="0" y="1378"/>
                  </a:lnTo>
                  <a:lnTo>
                    <a:pt x="0" y="1364"/>
                  </a:lnTo>
                  <a:lnTo>
                    <a:pt x="14" y="1364"/>
                  </a:lnTo>
                  <a:close/>
                  <a:moveTo>
                    <a:pt x="14" y="1392"/>
                  </a:moveTo>
                  <a:lnTo>
                    <a:pt x="14" y="1406"/>
                  </a:lnTo>
                  <a:lnTo>
                    <a:pt x="0" y="1406"/>
                  </a:lnTo>
                  <a:lnTo>
                    <a:pt x="0" y="1392"/>
                  </a:lnTo>
                  <a:lnTo>
                    <a:pt x="14" y="1392"/>
                  </a:lnTo>
                  <a:close/>
                  <a:moveTo>
                    <a:pt x="14" y="1420"/>
                  </a:moveTo>
                  <a:lnTo>
                    <a:pt x="14" y="1434"/>
                  </a:lnTo>
                  <a:lnTo>
                    <a:pt x="0" y="1434"/>
                  </a:lnTo>
                  <a:lnTo>
                    <a:pt x="0" y="1420"/>
                  </a:lnTo>
                  <a:lnTo>
                    <a:pt x="14" y="1420"/>
                  </a:lnTo>
                  <a:close/>
                  <a:moveTo>
                    <a:pt x="14" y="1448"/>
                  </a:moveTo>
                  <a:lnTo>
                    <a:pt x="14" y="1461"/>
                  </a:lnTo>
                  <a:lnTo>
                    <a:pt x="0" y="1461"/>
                  </a:lnTo>
                  <a:lnTo>
                    <a:pt x="0" y="1448"/>
                  </a:lnTo>
                  <a:lnTo>
                    <a:pt x="14" y="1448"/>
                  </a:lnTo>
                  <a:close/>
                  <a:moveTo>
                    <a:pt x="14" y="1475"/>
                  </a:moveTo>
                  <a:lnTo>
                    <a:pt x="14" y="1489"/>
                  </a:lnTo>
                  <a:lnTo>
                    <a:pt x="0" y="1489"/>
                  </a:lnTo>
                  <a:lnTo>
                    <a:pt x="0" y="1475"/>
                  </a:lnTo>
                  <a:lnTo>
                    <a:pt x="14" y="1475"/>
                  </a:lnTo>
                  <a:close/>
                  <a:moveTo>
                    <a:pt x="14" y="1503"/>
                  </a:moveTo>
                  <a:lnTo>
                    <a:pt x="14" y="1517"/>
                  </a:lnTo>
                  <a:lnTo>
                    <a:pt x="0" y="1517"/>
                  </a:lnTo>
                  <a:lnTo>
                    <a:pt x="0" y="1503"/>
                  </a:lnTo>
                  <a:lnTo>
                    <a:pt x="14" y="1503"/>
                  </a:lnTo>
                  <a:close/>
                  <a:moveTo>
                    <a:pt x="14" y="1531"/>
                  </a:moveTo>
                  <a:lnTo>
                    <a:pt x="14" y="1545"/>
                  </a:lnTo>
                  <a:lnTo>
                    <a:pt x="0" y="1545"/>
                  </a:lnTo>
                  <a:lnTo>
                    <a:pt x="0" y="1531"/>
                  </a:lnTo>
                  <a:lnTo>
                    <a:pt x="14" y="1531"/>
                  </a:lnTo>
                  <a:close/>
                  <a:moveTo>
                    <a:pt x="14" y="1559"/>
                  </a:moveTo>
                  <a:lnTo>
                    <a:pt x="14" y="1573"/>
                  </a:lnTo>
                  <a:lnTo>
                    <a:pt x="0" y="1573"/>
                  </a:lnTo>
                  <a:lnTo>
                    <a:pt x="0" y="1559"/>
                  </a:lnTo>
                  <a:lnTo>
                    <a:pt x="14" y="1559"/>
                  </a:lnTo>
                  <a:close/>
                  <a:moveTo>
                    <a:pt x="14" y="1587"/>
                  </a:moveTo>
                  <a:lnTo>
                    <a:pt x="14" y="1601"/>
                  </a:lnTo>
                  <a:lnTo>
                    <a:pt x="0" y="1601"/>
                  </a:lnTo>
                  <a:lnTo>
                    <a:pt x="0" y="1587"/>
                  </a:lnTo>
                  <a:lnTo>
                    <a:pt x="14" y="1587"/>
                  </a:lnTo>
                  <a:close/>
                  <a:moveTo>
                    <a:pt x="14" y="1615"/>
                  </a:moveTo>
                  <a:lnTo>
                    <a:pt x="14" y="1628"/>
                  </a:lnTo>
                  <a:lnTo>
                    <a:pt x="0" y="1628"/>
                  </a:lnTo>
                  <a:lnTo>
                    <a:pt x="0" y="1615"/>
                  </a:lnTo>
                  <a:lnTo>
                    <a:pt x="14" y="1615"/>
                  </a:lnTo>
                  <a:close/>
                  <a:moveTo>
                    <a:pt x="14" y="1642"/>
                  </a:moveTo>
                  <a:lnTo>
                    <a:pt x="14" y="1656"/>
                  </a:lnTo>
                  <a:lnTo>
                    <a:pt x="0" y="1656"/>
                  </a:lnTo>
                  <a:lnTo>
                    <a:pt x="0" y="1642"/>
                  </a:lnTo>
                  <a:lnTo>
                    <a:pt x="14" y="1642"/>
                  </a:lnTo>
                  <a:close/>
                  <a:moveTo>
                    <a:pt x="14" y="1670"/>
                  </a:moveTo>
                  <a:lnTo>
                    <a:pt x="14" y="1684"/>
                  </a:lnTo>
                  <a:lnTo>
                    <a:pt x="0" y="1684"/>
                  </a:lnTo>
                  <a:lnTo>
                    <a:pt x="0" y="1670"/>
                  </a:lnTo>
                  <a:lnTo>
                    <a:pt x="14" y="1670"/>
                  </a:lnTo>
                  <a:close/>
                  <a:moveTo>
                    <a:pt x="14" y="1698"/>
                  </a:moveTo>
                  <a:lnTo>
                    <a:pt x="14" y="1712"/>
                  </a:lnTo>
                  <a:lnTo>
                    <a:pt x="0" y="1712"/>
                  </a:lnTo>
                  <a:lnTo>
                    <a:pt x="0" y="1698"/>
                  </a:lnTo>
                  <a:lnTo>
                    <a:pt x="14" y="1698"/>
                  </a:lnTo>
                  <a:close/>
                  <a:moveTo>
                    <a:pt x="14" y="1726"/>
                  </a:moveTo>
                  <a:lnTo>
                    <a:pt x="14" y="1740"/>
                  </a:lnTo>
                  <a:lnTo>
                    <a:pt x="0" y="1740"/>
                  </a:lnTo>
                  <a:lnTo>
                    <a:pt x="0" y="1726"/>
                  </a:lnTo>
                  <a:lnTo>
                    <a:pt x="14" y="1726"/>
                  </a:lnTo>
                  <a:close/>
                  <a:moveTo>
                    <a:pt x="14" y="1754"/>
                  </a:moveTo>
                  <a:lnTo>
                    <a:pt x="14" y="1768"/>
                  </a:lnTo>
                  <a:lnTo>
                    <a:pt x="0" y="1768"/>
                  </a:lnTo>
                  <a:lnTo>
                    <a:pt x="0" y="1754"/>
                  </a:lnTo>
                  <a:lnTo>
                    <a:pt x="14" y="1754"/>
                  </a:lnTo>
                  <a:close/>
                  <a:moveTo>
                    <a:pt x="14" y="1782"/>
                  </a:moveTo>
                  <a:lnTo>
                    <a:pt x="14" y="1795"/>
                  </a:lnTo>
                  <a:lnTo>
                    <a:pt x="0" y="1795"/>
                  </a:lnTo>
                  <a:lnTo>
                    <a:pt x="0" y="1782"/>
                  </a:lnTo>
                  <a:lnTo>
                    <a:pt x="14" y="1782"/>
                  </a:lnTo>
                  <a:close/>
                  <a:moveTo>
                    <a:pt x="14" y="1809"/>
                  </a:moveTo>
                  <a:lnTo>
                    <a:pt x="14" y="1823"/>
                  </a:lnTo>
                  <a:lnTo>
                    <a:pt x="0" y="1823"/>
                  </a:lnTo>
                  <a:lnTo>
                    <a:pt x="0" y="1809"/>
                  </a:lnTo>
                  <a:lnTo>
                    <a:pt x="14" y="1809"/>
                  </a:lnTo>
                  <a:close/>
                  <a:moveTo>
                    <a:pt x="14" y="1837"/>
                  </a:moveTo>
                  <a:lnTo>
                    <a:pt x="14" y="1851"/>
                  </a:lnTo>
                  <a:lnTo>
                    <a:pt x="0" y="1851"/>
                  </a:lnTo>
                  <a:lnTo>
                    <a:pt x="0" y="1837"/>
                  </a:lnTo>
                  <a:lnTo>
                    <a:pt x="14" y="1837"/>
                  </a:lnTo>
                  <a:close/>
                  <a:moveTo>
                    <a:pt x="14" y="1865"/>
                  </a:moveTo>
                  <a:lnTo>
                    <a:pt x="14" y="1879"/>
                  </a:lnTo>
                  <a:lnTo>
                    <a:pt x="0" y="1879"/>
                  </a:lnTo>
                  <a:lnTo>
                    <a:pt x="0" y="1865"/>
                  </a:lnTo>
                  <a:lnTo>
                    <a:pt x="14" y="1865"/>
                  </a:lnTo>
                  <a:close/>
                  <a:moveTo>
                    <a:pt x="14" y="1893"/>
                  </a:moveTo>
                  <a:lnTo>
                    <a:pt x="14" y="1907"/>
                  </a:lnTo>
                  <a:lnTo>
                    <a:pt x="0" y="1907"/>
                  </a:lnTo>
                  <a:lnTo>
                    <a:pt x="0" y="1893"/>
                  </a:lnTo>
                  <a:lnTo>
                    <a:pt x="14" y="1893"/>
                  </a:lnTo>
                  <a:close/>
                  <a:moveTo>
                    <a:pt x="14" y="1921"/>
                  </a:moveTo>
                  <a:lnTo>
                    <a:pt x="14" y="1935"/>
                  </a:lnTo>
                  <a:lnTo>
                    <a:pt x="0" y="1935"/>
                  </a:lnTo>
                  <a:lnTo>
                    <a:pt x="0" y="1921"/>
                  </a:lnTo>
                  <a:lnTo>
                    <a:pt x="14" y="1921"/>
                  </a:lnTo>
                  <a:close/>
                  <a:moveTo>
                    <a:pt x="14" y="1949"/>
                  </a:moveTo>
                  <a:lnTo>
                    <a:pt x="14" y="1962"/>
                  </a:lnTo>
                  <a:lnTo>
                    <a:pt x="0" y="1962"/>
                  </a:lnTo>
                  <a:lnTo>
                    <a:pt x="0" y="1949"/>
                  </a:lnTo>
                  <a:lnTo>
                    <a:pt x="14" y="1949"/>
                  </a:lnTo>
                  <a:close/>
                  <a:moveTo>
                    <a:pt x="14" y="1976"/>
                  </a:moveTo>
                  <a:lnTo>
                    <a:pt x="14" y="1990"/>
                  </a:lnTo>
                  <a:lnTo>
                    <a:pt x="0" y="1990"/>
                  </a:lnTo>
                  <a:lnTo>
                    <a:pt x="0" y="1976"/>
                  </a:lnTo>
                  <a:lnTo>
                    <a:pt x="14" y="1976"/>
                  </a:lnTo>
                  <a:close/>
                  <a:moveTo>
                    <a:pt x="14" y="2004"/>
                  </a:moveTo>
                  <a:lnTo>
                    <a:pt x="14" y="2018"/>
                  </a:lnTo>
                  <a:lnTo>
                    <a:pt x="0" y="2018"/>
                  </a:lnTo>
                  <a:lnTo>
                    <a:pt x="0" y="2004"/>
                  </a:lnTo>
                  <a:lnTo>
                    <a:pt x="14" y="2004"/>
                  </a:lnTo>
                  <a:close/>
                  <a:moveTo>
                    <a:pt x="14" y="2032"/>
                  </a:moveTo>
                  <a:lnTo>
                    <a:pt x="14" y="2046"/>
                  </a:lnTo>
                  <a:lnTo>
                    <a:pt x="0" y="2046"/>
                  </a:lnTo>
                  <a:lnTo>
                    <a:pt x="0" y="2032"/>
                  </a:lnTo>
                  <a:lnTo>
                    <a:pt x="14" y="2032"/>
                  </a:lnTo>
                  <a:close/>
                  <a:moveTo>
                    <a:pt x="14" y="2060"/>
                  </a:moveTo>
                  <a:lnTo>
                    <a:pt x="14" y="2074"/>
                  </a:lnTo>
                  <a:lnTo>
                    <a:pt x="0" y="2074"/>
                  </a:lnTo>
                  <a:lnTo>
                    <a:pt x="0" y="2060"/>
                  </a:lnTo>
                  <a:lnTo>
                    <a:pt x="14" y="2060"/>
                  </a:lnTo>
                  <a:close/>
                  <a:moveTo>
                    <a:pt x="14" y="2087"/>
                  </a:moveTo>
                  <a:lnTo>
                    <a:pt x="14" y="2102"/>
                  </a:lnTo>
                  <a:lnTo>
                    <a:pt x="0" y="2102"/>
                  </a:lnTo>
                  <a:lnTo>
                    <a:pt x="0" y="2087"/>
                  </a:lnTo>
                  <a:lnTo>
                    <a:pt x="14" y="2087"/>
                  </a:lnTo>
                  <a:close/>
                  <a:moveTo>
                    <a:pt x="14" y="2116"/>
                  </a:moveTo>
                  <a:lnTo>
                    <a:pt x="14" y="2129"/>
                  </a:lnTo>
                  <a:lnTo>
                    <a:pt x="0" y="2129"/>
                  </a:lnTo>
                  <a:lnTo>
                    <a:pt x="0" y="2116"/>
                  </a:lnTo>
                  <a:lnTo>
                    <a:pt x="14" y="2116"/>
                  </a:lnTo>
                  <a:close/>
                  <a:moveTo>
                    <a:pt x="14" y="2143"/>
                  </a:moveTo>
                  <a:lnTo>
                    <a:pt x="14" y="2157"/>
                  </a:lnTo>
                  <a:lnTo>
                    <a:pt x="0" y="2157"/>
                  </a:lnTo>
                  <a:lnTo>
                    <a:pt x="0" y="2143"/>
                  </a:lnTo>
                  <a:lnTo>
                    <a:pt x="14" y="2143"/>
                  </a:lnTo>
                  <a:close/>
                  <a:moveTo>
                    <a:pt x="14" y="2171"/>
                  </a:moveTo>
                  <a:lnTo>
                    <a:pt x="14" y="2185"/>
                  </a:lnTo>
                  <a:lnTo>
                    <a:pt x="0" y="2185"/>
                  </a:lnTo>
                  <a:lnTo>
                    <a:pt x="0" y="2171"/>
                  </a:lnTo>
                  <a:lnTo>
                    <a:pt x="14" y="2171"/>
                  </a:lnTo>
                  <a:close/>
                  <a:moveTo>
                    <a:pt x="14" y="2199"/>
                  </a:moveTo>
                  <a:lnTo>
                    <a:pt x="14" y="2213"/>
                  </a:lnTo>
                  <a:lnTo>
                    <a:pt x="0" y="2213"/>
                  </a:lnTo>
                  <a:lnTo>
                    <a:pt x="0" y="2199"/>
                  </a:lnTo>
                  <a:lnTo>
                    <a:pt x="14" y="2199"/>
                  </a:lnTo>
                  <a:close/>
                  <a:moveTo>
                    <a:pt x="14" y="2227"/>
                  </a:moveTo>
                  <a:lnTo>
                    <a:pt x="14" y="2241"/>
                  </a:lnTo>
                  <a:lnTo>
                    <a:pt x="0" y="2241"/>
                  </a:lnTo>
                  <a:lnTo>
                    <a:pt x="0" y="2227"/>
                  </a:lnTo>
                  <a:lnTo>
                    <a:pt x="14" y="2227"/>
                  </a:lnTo>
                  <a:close/>
                  <a:moveTo>
                    <a:pt x="14" y="2254"/>
                  </a:moveTo>
                  <a:lnTo>
                    <a:pt x="14" y="2268"/>
                  </a:lnTo>
                  <a:lnTo>
                    <a:pt x="0" y="2268"/>
                  </a:lnTo>
                  <a:lnTo>
                    <a:pt x="0" y="2254"/>
                  </a:lnTo>
                  <a:lnTo>
                    <a:pt x="14" y="2254"/>
                  </a:lnTo>
                  <a:close/>
                  <a:moveTo>
                    <a:pt x="14" y="2283"/>
                  </a:moveTo>
                  <a:lnTo>
                    <a:pt x="14" y="2296"/>
                  </a:lnTo>
                  <a:lnTo>
                    <a:pt x="0" y="2296"/>
                  </a:lnTo>
                  <a:lnTo>
                    <a:pt x="0" y="2283"/>
                  </a:lnTo>
                  <a:lnTo>
                    <a:pt x="14" y="2283"/>
                  </a:lnTo>
                  <a:close/>
                  <a:moveTo>
                    <a:pt x="14" y="2310"/>
                  </a:moveTo>
                  <a:lnTo>
                    <a:pt x="14" y="2324"/>
                  </a:lnTo>
                  <a:lnTo>
                    <a:pt x="0" y="2324"/>
                  </a:lnTo>
                  <a:lnTo>
                    <a:pt x="0" y="2310"/>
                  </a:lnTo>
                  <a:lnTo>
                    <a:pt x="14" y="2310"/>
                  </a:lnTo>
                  <a:close/>
                  <a:moveTo>
                    <a:pt x="14" y="2338"/>
                  </a:moveTo>
                  <a:lnTo>
                    <a:pt x="14" y="2352"/>
                  </a:lnTo>
                  <a:lnTo>
                    <a:pt x="0" y="2352"/>
                  </a:lnTo>
                  <a:lnTo>
                    <a:pt x="0" y="2338"/>
                  </a:lnTo>
                  <a:lnTo>
                    <a:pt x="14" y="2338"/>
                  </a:lnTo>
                  <a:close/>
                  <a:moveTo>
                    <a:pt x="14" y="2366"/>
                  </a:moveTo>
                  <a:lnTo>
                    <a:pt x="14" y="2380"/>
                  </a:lnTo>
                  <a:lnTo>
                    <a:pt x="0" y="2380"/>
                  </a:lnTo>
                  <a:lnTo>
                    <a:pt x="0" y="2366"/>
                  </a:lnTo>
                  <a:lnTo>
                    <a:pt x="14" y="2366"/>
                  </a:lnTo>
                  <a:close/>
                  <a:moveTo>
                    <a:pt x="14" y="2394"/>
                  </a:moveTo>
                  <a:lnTo>
                    <a:pt x="14" y="2408"/>
                  </a:lnTo>
                  <a:lnTo>
                    <a:pt x="0" y="2408"/>
                  </a:lnTo>
                  <a:lnTo>
                    <a:pt x="0" y="2394"/>
                  </a:lnTo>
                  <a:lnTo>
                    <a:pt x="14" y="2394"/>
                  </a:lnTo>
                  <a:close/>
                  <a:moveTo>
                    <a:pt x="14" y="2421"/>
                  </a:moveTo>
                  <a:lnTo>
                    <a:pt x="14" y="2435"/>
                  </a:lnTo>
                  <a:lnTo>
                    <a:pt x="0" y="2435"/>
                  </a:lnTo>
                  <a:lnTo>
                    <a:pt x="0" y="2421"/>
                  </a:lnTo>
                  <a:lnTo>
                    <a:pt x="14" y="2421"/>
                  </a:lnTo>
                  <a:close/>
                  <a:moveTo>
                    <a:pt x="14" y="2449"/>
                  </a:moveTo>
                  <a:lnTo>
                    <a:pt x="14" y="2453"/>
                  </a:lnTo>
                  <a:lnTo>
                    <a:pt x="0" y="2453"/>
                  </a:lnTo>
                  <a:lnTo>
                    <a:pt x="0" y="2449"/>
                  </a:lnTo>
                  <a:lnTo>
                    <a:pt x="14" y="2449"/>
                  </a:lnTo>
                  <a:close/>
                </a:path>
              </a:pathLst>
            </a:custGeom>
            <a:solidFill>
              <a:srgbClr val="000000"/>
            </a:solidFill>
            <a:ln w="0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186" name="Freeform 33">
              <a:extLst>
                <a:ext uri="{FF2B5EF4-FFF2-40B4-BE49-F238E27FC236}">
                  <a16:creationId xmlns:a16="http://schemas.microsoft.com/office/drawing/2014/main" id="{9421E5AA-4EE8-8624-CA9F-88DC6C1215C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209080" y="3078501"/>
              <a:ext cx="18000" cy="3726773"/>
            </a:xfrm>
            <a:custGeom>
              <a:avLst/>
              <a:gdLst>
                <a:gd name="T0" fmla="*/ 15 w 15"/>
                <a:gd name="T1" fmla="*/ 42 h 2453"/>
                <a:gd name="T2" fmla="*/ 0 w 15"/>
                <a:gd name="T3" fmla="*/ 56 h 2453"/>
                <a:gd name="T4" fmla="*/ 15 w 15"/>
                <a:gd name="T5" fmla="*/ 112 h 2453"/>
                <a:gd name="T6" fmla="*/ 0 w 15"/>
                <a:gd name="T7" fmla="*/ 154 h 2453"/>
                <a:gd name="T8" fmla="*/ 15 w 15"/>
                <a:gd name="T9" fmla="*/ 167 h 2453"/>
                <a:gd name="T10" fmla="*/ 15 w 15"/>
                <a:gd name="T11" fmla="*/ 237 h 2453"/>
                <a:gd name="T12" fmla="*/ 0 w 15"/>
                <a:gd name="T13" fmla="*/ 251 h 2453"/>
                <a:gd name="T14" fmla="*/ 15 w 15"/>
                <a:gd name="T15" fmla="*/ 307 h 2453"/>
                <a:gd name="T16" fmla="*/ 0 w 15"/>
                <a:gd name="T17" fmla="*/ 348 h 2453"/>
                <a:gd name="T18" fmla="*/ 15 w 15"/>
                <a:gd name="T19" fmla="*/ 362 h 2453"/>
                <a:gd name="T20" fmla="*/ 15 w 15"/>
                <a:gd name="T21" fmla="*/ 432 h 2453"/>
                <a:gd name="T22" fmla="*/ 0 w 15"/>
                <a:gd name="T23" fmla="*/ 446 h 2453"/>
                <a:gd name="T24" fmla="*/ 15 w 15"/>
                <a:gd name="T25" fmla="*/ 501 h 2453"/>
                <a:gd name="T26" fmla="*/ 0 w 15"/>
                <a:gd name="T27" fmla="*/ 543 h 2453"/>
                <a:gd name="T28" fmla="*/ 15 w 15"/>
                <a:gd name="T29" fmla="*/ 557 h 2453"/>
                <a:gd name="T30" fmla="*/ 15 w 15"/>
                <a:gd name="T31" fmla="*/ 627 h 2453"/>
                <a:gd name="T32" fmla="*/ 0 w 15"/>
                <a:gd name="T33" fmla="*/ 641 h 2453"/>
                <a:gd name="T34" fmla="*/ 15 w 15"/>
                <a:gd name="T35" fmla="*/ 696 h 2453"/>
                <a:gd name="T36" fmla="*/ 0 w 15"/>
                <a:gd name="T37" fmla="*/ 738 h 2453"/>
                <a:gd name="T38" fmla="*/ 15 w 15"/>
                <a:gd name="T39" fmla="*/ 752 h 2453"/>
                <a:gd name="T40" fmla="*/ 15 w 15"/>
                <a:gd name="T41" fmla="*/ 822 h 2453"/>
                <a:gd name="T42" fmla="*/ 0 w 15"/>
                <a:gd name="T43" fmla="*/ 835 h 2453"/>
                <a:gd name="T44" fmla="*/ 15 w 15"/>
                <a:gd name="T45" fmla="*/ 891 h 2453"/>
                <a:gd name="T46" fmla="*/ 0 w 15"/>
                <a:gd name="T47" fmla="*/ 933 h 2453"/>
                <a:gd name="T48" fmla="*/ 15 w 15"/>
                <a:gd name="T49" fmla="*/ 947 h 2453"/>
                <a:gd name="T50" fmla="*/ 15 w 15"/>
                <a:gd name="T51" fmla="*/ 1016 h 2453"/>
                <a:gd name="T52" fmla="*/ 0 w 15"/>
                <a:gd name="T53" fmla="*/ 1030 h 2453"/>
                <a:gd name="T54" fmla="*/ 15 w 15"/>
                <a:gd name="T55" fmla="*/ 1086 h 2453"/>
                <a:gd name="T56" fmla="*/ 0 w 15"/>
                <a:gd name="T57" fmla="*/ 1127 h 2453"/>
                <a:gd name="T58" fmla="*/ 15 w 15"/>
                <a:gd name="T59" fmla="*/ 1141 h 2453"/>
                <a:gd name="T60" fmla="*/ 15 w 15"/>
                <a:gd name="T61" fmla="*/ 1211 h 2453"/>
                <a:gd name="T62" fmla="*/ 0 w 15"/>
                <a:gd name="T63" fmla="*/ 1225 h 2453"/>
                <a:gd name="T64" fmla="*/ 15 w 15"/>
                <a:gd name="T65" fmla="*/ 1281 h 2453"/>
                <a:gd name="T66" fmla="*/ 0 w 15"/>
                <a:gd name="T67" fmla="*/ 1322 h 2453"/>
                <a:gd name="T68" fmla="*/ 15 w 15"/>
                <a:gd name="T69" fmla="*/ 1336 h 2453"/>
                <a:gd name="T70" fmla="*/ 15 w 15"/>
                <a:gd name="T71" fmla="*/ 1406 h 2453"/>
                <a:gd name="T72" fmla="*/ 0 w 15"/>
                <a:gd name="T73" fmla="*/ 1420 h 2453"/>
                <a:gd name="T74" fmla="*/ 15 w 15"/>
                <a:gd name="T75" fmla="*/ 1475 h 2453"/>
                <a:gd name="T76" fmla="*/ 0 w 15"/>
                <a:gd name="T77" fmla="*/ 1517 h 2453"/>
                <a:gd name="T78" fmla="*/ 15 w 15"/>
                <a:gd name="T79" fmla="*/ 1531 h 2453"/>
                <a:gd name="T80" fmla="*/ 15 w 15"/>
                <a:gd name="T81" fmla="*/ 1601 h 2453"/>
                <a:gd name="T82" fmla="*/ 0 w 15"/>
                <a:gd name="T83" fmla="*/ 1615 h 2453"/>
                <a:gd name="T84" fmla="*/ 15 w 15"/>
                <a:gd name="T85" fmla="*/ 1670 h 2453"/>
                <a:gd name="T86" fmla="*/ 0 w 15"/>
                <a:gd name="T87" fmla="*/ 1712 h 2453"/>
                <a:gd name="T88" fmla="*/ 15 w 15"/>
                <a:gd name="T89" fmla="*/ 1726 h 2453"/>
                <a:gd name="T90" fmla="*/ 15 w 15"/>
                <a:gd name="T91" fmla="*/ 1795 h 2453"/>
                <a:gd name="T92" fmla="*/ 0 w 15"/>
                <a:gd name="T93" fmla="*/ 1809 h 2453"/>
                <a:gd name="T94" fmla="*/ 15 w 15"/>
                <a:gd name="T95" fmla="*/ 1865 h 2453"/>
                <a:gd name="T96" fmla="*/ 0 w 15"/>
                <a:gd name="T97" fmla="*/ 1907 h 2453"/>
                <a:gd name="T98" fmla="*/ 15 w 15"/>
                <a:gd name="T99" fmla="*/ 1921 h 2453"/>
                <a:gd name="T100" fmla="*/ 15 w 15"/>
                <a:gd name="T101" fmla="*/ 1990 h 2453"/>
                <a:gd name="T102" fmla="*/ 0 w 15"/>
                <a:gd name="T103" fmla="*/ 2004 h 2453"/>
                <a:gd name="T104" fmla="*/ 15 w 15"/>
                <a:gd name="T105" fmla="*/ 2060 h 2453"/>
                <a:gd name="T106" fmla="*/ 0 w 15"/>
                <a:gd name="T107" fmla="*/ 2102 h 2453"/>
                <a:gd name="T108" fmla="*/ 15 w 15"/>
                <a:gd name="T109" fmla="*/ 2116 h 2453"/>
                <a:gd name="T110" fmla="*/ 15 w 15"/>
                <a:gd name="T111" fmla="*/ 2185 h 2453"/>
                <a:gd name="T112" fmla="*/ 0 w 15"/>
                <a:gd name="T113" fmla="*/ 2199 h 2453"/>
                <a:gd name="T114" fmla="*/ 15 w 15"/>
                <a:gd name="T115" fmla="*/ 2254 h 2453"/>
                <a:gd name="T116" fmla="*/ 0 w 15"/>
                <a:gd name="T117" fmla="*/ 2296 h 2453"/>
                <a:gd name="T118" fmla="*/ 15 w 15"/>
                <a:gd name="T119" fmla="*/ 2310 h 2453"/>
                <a:gd name="T120" fmla="*/ 15 w 15"/>
                <a:gd name="T121" fmla="*/ 2380 h 2453"/>
                <a:gd name="T122" fmla="*/ 0 w 15"/>
                <a:gd name="T123" fmla="*/ 2394 h 2453"/>
                <a:gd name="T124" fmla="*/ 15 w 15"/>
                <a:gd name="T125" fmla="*/ 2449 h 24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5" h="2453">
                  <a:moveTo>
                    <a:pt x="15" y="0"/>
                  </a:moveTo>
                  <a:lnTo>
                    <a:pt x="15" y="14"/>
                  </a:lnTo>
                  <a:lnTo>
                    <a:pt x="0" y="14"/>
                  </a:lnTo>
                  <a:lnTo>
                    <a:pt x="0" y="0"/>
                  </a:lnTo>
                  <a:lnTo>
                    <a:pt x="15" y="0"/>
                  </a:lnTo>
                  <a:close/>
                  <a:moveTo>
                    <a:pt x="15" y="28"/>
                  </a:moveTo>
                  <a:lnTo>
                    <a:pt x="15" y="42"/>
                  </a:lnTo>
                  <a:lnTo>
                    <a:pt x="0" y="42"/>
                  </a:lnTo>
                  <a:lnTo>
                    <a:pt x="0" y="28"/>
                  </a:lnTo>
                  <a:lnTo>
                    <a:pt x="15" y="28"/>
                  </a:lnTo>
                  <a:close/>
                  <a:moveTo>
                    <a:pt x="15" y="56"/>
                  </a:moveTo>
                  <a:lnTo>
                    <a:pt x="15" y="70"/>
                  </a:lnTo>
                  <a:lnTo>
                    <a:pt x="0" y="70"/>
                  </a:lnTo>
                  <a:lnTo>
                    <a:pt x="0" y="56"/>
                  </a:lnTo>
                  <a:lnTo>
                    <a:pt x="15" y="56"/>
                  </a:lnTo>
                  <a:close/>
                  <a:moveTo>
                    <a:pt x="15" y="84"/>
                  </a:moveTo>
                  <a:lnTo>
                    <a:pt x="15" y="98"/>
                  </a:lnTo>
                  <a:lnTo>
                    <a:pt x="0" y="98"/>
                  </a:lnTo>
                  <a:lnTo>
                    <a:pt x="0" y="84"/>
                  </a:lnTo>
                  <a:lnTo>
                    <a:pt x="15" y="84"/>
                  </a:lnTo>
                  <a:close/>
                  <a:moveTo>
                    <a:pt x="15" y="112"/>
                  </a:moveTo>
                  <a:lnTo>
                    <a:pt x="15" y="126"/>
                  </a:lnTo>
                  <a:lnTo>
                    <a:pt x="0" y="126"/>
                  </a:lnTo>
                  <a:lnTo>
                    <a:pt x="0" y="112"/>
                  </a:lnTo>
                  <a:lnTo>
                    <a:pt x="15" y="112"/>
                  </a:lnTo>
                  <a:close/>
                  <a:moveTo>
                    <a:pt x="15" y="140"/>
                  </a:moveTo>
                  <a:lnTo>
                    <a:pt x="15" y="154"/>
                  </a:lnTo>
                  <a:lnTo>
                    <a:pt x="0" y="154"/>
                  </a:lnTo>
                  <a:lnTo>
                    <a:pt x="0" y="140"/>
                  </a:lnTo>
                  <a:lnTo>
                    <a:pt x="15" y="140"/>
                  </a:lnTo>
                  <a:close/>
                  <a:moveTo>
                    <a:pt x="15" y="167"/>
                  </a:moveTo>
                  <a:lnTo>
                    <a:pt x="15" y="181"/>
                  </a:lnTo>
                  <a:lnTo>
                    <a:pt x="0" y="181"/>
                  </a:lnTo>
                  <a:lnTo>
                    <a:pt x="0" y="167"/>
                  </a:lnTo>
                  <a:lnTo>
                    <a:pt x="15" y="167"/>
                  </a:lnTo>
                  <a:close/>
                  <a:moveTo>
                    <a:pt x="15" y="195"/>
                  </a:moveTo>
                  <a:lnTo>
                    <a:pt x="15" y="209"/>
                  </a:lnTo>
                  <a:lnTo>
                    <a:pt x="0" y="209"/>
                  </a:lnTo>
                  <a:lnTo>
                    <a:pt x="0" y="195"/>
                  </a:lnTo>
                  <a:lnTo>
                    <a:pt x="15" y="195"/>
                  </a:lnTo>
                  <a:close/>
                  <a:moveTo>
                    <a:pt x="15" y="223"/>
                  </a:moveTo>
                  <a:lnTo>
                    <a:pt x="15" y="237"/>
                  </a:lnTo>
                  <a:lnTo>
                    <a:pt x="0" y="237"/>
                  </a:lnTo>
                  <a:lnTo>
                    <a:pt x="0" y="223"/>
                  </a:lnTo>
                  <a:lnTo>
                    <a:pt x="15" y="223"/>
                  </a:lnTo>
                  <a:close/>
                  <a:moveTo>
                    <a:pt x="15" y="251"/>
                  </a:moveTo>
                  <a:lnTo>
                    <a:pt x="15" y="265"/>
                  </a:lnTo>
                  <a:lnTo>
                    <a:pt x="0" y="265"/>
                  </a:lnTo>
                  <a:lnTo>
                    <a:pt x="0" y="251"/>
                  </a:lnTo>
                  <a:lnTo>
                    <a:pt x="15" y="251"/>
                  </a:lnTo>
                  <a:close/>
                  <a:moveTo>
                    <a:pt x="15" y="279"/>
                  </a:moveTo>
                  <a:lnTo>
                    <a:pt x="15" y="293"/>
                  </a:lnTo>
                  <a:lnTo>
                    <a:pt x="0" y="293"/>
                  </a:lnTo>
                  <a:lnTo>
                    <a:pt x="0" y="279"/>
                  </a:lnTo>
                  <a:lnTo>
                    <a:pt x="15" y="279"/>
                  </a:lnTo>
                  <a:close/>
                  <a:moveTo>
                    <a:pt x="15" y="307"/>
                  </a:moveTo>
                  <a:lnTo>
                    <a:pt x="15" y="321"/>
                  </a:lnTo>
                  <a:lnTo>
                    <a:pt x="0" y="321"/>
                  </a:lnTo>
                  <a:lnTo>
                    <a:pt x="0" y="307"/>
                  </a:lnTo>
                  <a:lnTo>
                    <a:pt x="15" y="307"/>
                  </a:lnTo>
                  <a:close/>
                  <a:moveTo>
                    <a:pt x="15" y="334"/>
                  </a:moveTo>
                  <a:lnTo>
                    <a:pt x="15" y="348"/>
                  </a:lnTo>
                  <a:lnTo>
                    <a:pt x="0" y="348"/>
                  </a:lnTo>
                  <a:lnTo>
                    <a:pt x="0" y="334"/>
                  </a:lnTo>
                  <a:lnTo>
                    <a:pt x="15" y="334"/>
                  </a:lnTo>
                  <a:close/>
                  <a:moveTo>
                    <a:pt x="15" y="362"/>
                  </a:moveTo>
                  <a:lnTo>
                    <a:pt x="15" y="376"/>
                  </a:lnTo>
                  <a:lnTo>
                    <a:pt x="0" y="376"/>
                  </a:lnTo>
                  <a:lnTo>
                    <a:pt x="0" y="362"/>
                  </a:lnTo>
                  <a:lnTo>
                    <a:pt x="15" y="362"/>
                  </a:lnTo>
                  <a:close/>
                  <a:moveTo>
                    <a:pt x="15" y="390"/>
                  </a:moveTo>
                  <a:lnTo>
                    <a:pt x="15" y="404"/>
                  </a:lnTo>
                  <a:lnTo>
                    <a:pt x="0" y="404"/>
                  </a:lnTo>
                  <a:lnTo>
                    <a:pt x="0" y="390"/>
                  </a:lnTo>
                  <a:lnTo>
                    <a:pt x="15" y="390"/>
                  </a:lnTo>
                  <a:close/>
                  <a:moveTo>
                    <a:pt x="15" y="418"/>
                  </a:moveTo>
                  <a:lnTo>
                    <a:pt x="15" y="432"/>
                  </a:lnTo>
                  <a:lnTo>
                    <a:pt x="0" y="432"/>
                  </a:lnTo>
                  <a:lnTo>
                    <a:pt x="0" y="418"/>
                  </a:lnTo>
                  <a:lnTo>
                    <a:pt x="15" y="418"/>
                  </a:lnTo>
                  <a:close/>
                  <a:moveTo>
                    <a:pt x="15" y="446"/>
                  </a:moveTo>
                  <a:lnTo>
                    <a:pt x="15" y="460"/>
                  </a:lnTo>
                  <a:lnTo>
                    <a:pt x="0" y="460"/>
                  </a:lnTo>
                  <a:lnTo>
                    <a:pt x="0" y="446"/>
                  </a:lnTo>
                  <a:lnTo>
                    <a:pt x="15" y="446"/>
                  </a:lnTo>
                  <a:close/>
                  <a:moveTo>
                    <a:pt x="15" y="474"/>
                  </a:moveTo>
                  <a:lnTo>
                    <a:pt x="15" y="488"/>
                  </a:lnTo>
                  <a:lnTo>
                    <a:pt x="0" y="488"/>
                  </a:lnTo>
                  <a:lnTo>
                    <a:pt x="0" y="474"/>
                  </a:lnTo>
                  <a:lnTo>
                    <a:pt x="15" y="474"/>
                  </a:lnTo>
                  <a:close/>
                  <a:moveTo>
                    <a:pt x="15" y="501"/>
                  </a:moveTo>
                  <a:lnTo>
                    <a:pt x="15" y="515"/>
                  </a:lnTo>
                  <a:lnTo>
                    <a:pt x="0" y="515"/>
                  </a:lnTo>
                  <a:lnTo>
                    <a:pt x="0" y="501"/>
                  </a:lnTo>
                  <a:lnTo>
                    <a:pt x="15" y="501"/>
                  </a:lnTo>
                  <a:close/>
                  <a:moveTo>
                    <a:pt x="15" y="529"/>
                  </a:moveTo>
                  <a:lnTo>
                    <a:pt x="15" y="543"/>
                  </a:lnTo>
                  <a:lnTo>
                    <a:pt x="0" y="543"/>
                  </a:lnTo>
                  <a:lnTo>
                    <a:pt x="0" y="529"/>
                  </a:lnTo>
                  <a:lnTo>
                    <a:pt x="15" y="529"/>
                  </a:lnTo>
                  <a:close/>
                  <a:moveTo>
                    <a:pt x="15" y="557"/>
                  </a:moveTo>
                  <a:lnTo>
                    <a:pt x="15" y="571"/>
                  </a:lnTo>
                  <a:lnTo>
                    <a:pt x="0" y="571"/>
                  </a:lnTo>
                  <a:lnTo>
                    <a:pt x="0" y="557"/>
                  </a:lnTo>
                  <a:lnTo>
                    <a:pt x="15" y="557"/>
                  </a:lnTo>
                  <a:close/>
                  <a:moveTo>
                    <a:pt x="15" y="585"/>
                  </a:moveTo>
                  <a:lnTo>
                    <a:pt x="15" y="599"/>
                  </a:lnTo>
                  <a:lnTo>
                    <a:pt x="0" y="599"/>
                  </a:lnTo>
                  <a:lnTo>
                    <a:pt x="0" y="585"/>
                  </a:lnTo>
                  <a:lnTo>
                    <a:pt x="15" y="585"/>
                  </a:lnTo>
                  <a:close/>
                  <a:moveTo>
                    <a:pt x="15" y="613"/>
                  </a:moveTo>
                  <a:lnTo>
                    <a:pt x="15" y="627"/>
                  </a:lnTo>
                  <a:lnTo>
                    <a:pt x="0" y="627"/>
                  </a:lnTo>
                  <a:lnTo>
                    <a:pt x="0" y="613"/>
                  </a:lnTo>
                  <a:lnTo>
                    <a:pt x="15" y="613"/>
                  </a:lnTo>
                  <a:close/>
                  <a:moveTo>
                    <a:pt x="15" y="641"/>
                  </a:moveTo>
                  <a:lnTo>
                    <a:pt x="15" y="655"/>
                  </a:lnTo>
                  <a:lnTo>
                    <a:pt x="0" y="655"/>
                  </a:lnTo>
                  <a:lnTo>
                    <a:pt x="0" y="641"/>
                  </a:lnTo>
                  <a:lnTo>
                    <a:pt x="15" y="641"/>
                  </a:lnTo>
                  <a:close/>
                  <a:moveTo>
                    <a:pt x="15" y="668"/>
                  </a:moveTo>
                  <a:lnTo>
                    <a:pt x="15" y="682"/>
                  </a:lnTo>
                  <a:lnTo>
                    <a:pt x="0" y="682"/>
                  </a:lnTo>
                  <a:lnTo>
                    <a:pt x="0" y="668"/>
                  </a:lnTo>
                  <a:lnTo>
                    <a:pt x="15" y="668"/>
                  </a:lnTo>
                  <a:close/>
                  <a:moveTo>
                    <a:pt x="15" y="696"/>
                  </a:moveTo>
                  <a:lnTo>
                    <a:pt x="15" y="710"/>
                  </a:lnTo>
                  <a:lnTo>
                    <a:pt x="0" y="710"/>
                  </a:lnTo>
                  <a:lnTo>
                    <a:pt x="0" y="696"/>
                  </a:lnTo>
                  <a:lnTo>
                    <a:pt x="15" y="696"/>
                  </a:lnTo>
                  <a:close/>
                  <a:moveTo>
                    <a:pt x="15" y="724"/>
                  </a:moveTo>
                  <a:lnTo>
                    <a:pt x="15" y="738"/>
                  </a:lnTo>
                  <a:lnTo>
                    <a:pt x="0" y="738"/>
                  </a:lnTo>
                  <a:lnTo>
                    <a:pt x="0" y="724"/>
                  </a:lnTo>
                  <a:lnTo>
                    <a:pt x="15" y="724"/>
                  </a:lnTo>
                  <a:close/>
                  <a:moveTo>
                    <a:pt x="15" y="752"/>
                  </a:moveTo>
                  <a:lnTo>
                    <a:pt x="15" y="766"/>
                  </a:lnTo>
                  <a:lnTo>
                    <a:pt x="0" y="766"/>
                  </a:lnTo>
                  <a:lnTo>
                    <a:pt x="0" y="752"/>
                  </a:lnTo>
                  <a:lnTo>
                    <a:pt x="15" y="752"/>
                  </a:lnTo>
                  <a:close/>
                  <a:moveTo>
                    <a:pt x="15" y="780"/>
                  </a:moveTo>
                  <a:lnTo>
                    <a:pt x="15" y="793"/>
                  </a:lnTo>
                  <a:lnTo>
                    <a:pt x="0" y="793"/>
                  </a:lnTo>
                  <a:lnTo>
                    <a:pt x="0" y="780"/>
                  </a:lnTo>
                  <a:lnTo>
                    <a:pt x="15" y="780"/>
                  </a:lnTo>
                  <a:close/>
                  <a:moveTo>
                    <a:pt x="15" y="808"/>
                  </a:moveTo>
                  <a:lnTo>
                    <a:pt x="15" y="822"/>
                  </a:lnTo>
                  <a:lnTo>
                    <a:pt x="0" y="822"/>
                  </a:lnTo>
                  <a:lnTo>
                    <a:pt x="0" y="808"/>
                  </a:lnTo>
                  <a:lnTo>
                    <a:pt x="15" y="808"/>
                  </a:lnTo>
                  <a:close/>
                  <a:moveTo>
                    <a:pt x="15" y="835"/>
                  </a:moveTo>
                  <a:lnTo>
                    <a:pt x="15" y="849"/>
                  </a:lnTo>
                  <a:lnTo>
                    <a:pt x="0" y="849"/>
                  </a:lnTo>
                  <a:lnTo>
                    <a:pt x="0" y="835"/>
                  </a:lnTo>
                  <a:lnTo>
                    <a:pt x="15" y="835"/>
                  </a:lnTo>
                  <a:close/>
                  <a:moveTo>
                    <a:pt x="15" y="863"/>
                  </a:moveTo>
                  <a:lnTo>
                    <a:pt x="15" y="877"/>
                  </a:lnTo>
                  <a:lnTo>
                    <a:pt x="0" y="877"/>
                  </a:lnTo>
                  <a:lnTo>
                    <a:pt x="0" y="863"/>
                  </a:lnTo>
                  <a:lnTo>
                    <a:pt x="15" y="863"/>
                  </a:lnTo>
                  <a:close/>
                  <a:moveTo>
                    <a:pt x="15" y="891"/>
                  </a:moveTo>
                  <a:lnTo>
                    <a:pt x="15" y="905"/>
                  </a:lnTo>
                  <a:lnTo>
                    <a:pt x="0" y="905"/>
                  </a:lnTo>
                  <a:lnTo>
                    <a:pt x="0" y="891"/>
                  </a:lnTo>
                  <a:lnTo>
                    <a:pt x="15" y="891"/>
                  </a:lnTo>
                  <a:close/>
                  <a:moveTo>
                    <a:pt x="15" y="919"/>
                  </a:moveTo>
                  <a:lnTo>
                    <a:pt x="15" y="933"/>
                  </a:lnTo>
                  <a:lnTo>
                    <a:pt x="0" y="933"/>
                  </a:lnTo>
                  <a:lnTo>
                    <a:pt x="0" y="919"/>
                  </a:lnTo>
                  <a:lnTo>
                    <a:pt x="15" y="919"/>
                  </a:lnTo>
                  <a:close/>
                  <a:moveTo>
                    <a:pt x="15" y="947"/>
                  </a:moveTo>
                  <a:lnTo>
                    <a:pt x="15" y="960"/>
                  </a:lnTo>
                  <a:lnTo>
                    <a:pt x="0" y="960"/>
                  </a:lnTo>
                  <a:lnTo>
                    <a:pt x="0" y="947"/>
                  </a:lnTo>
                  <a:lnTo>
                    <a:pt x="15" y="947"/>
                  </a:lnTo>
                  <a:close/>
                  <a:moveTo>
                    <a:pt x="15" y="974"/>
                  </a:moveTo>
                  <a:lnTo>
                    <a:pt x="15" y="988"/>
                  </a:lnTo>
                  <a:lnTo>
                    <a:pt x="0" y="988"/>
                  </a:lnTo>
                  <a:lnTo>
                    <a:pt x="0" y="974"/>
                  </a:lnTo>
                  <a:lnTo>
                    <a:pt x="15" y="974"/>
                  </a:lnTo>
                  <a:close/>
                  <a:moveTo>
                    <a:pt x="15" y="1002"/>
                  </a:moveTo>
                  <a:lnTo>
                    <a:pt x="15" y="1016"/>
                  </a:lnTo>
                  <a:lnTo>
                    <a:pt x="0" y="1016"/>
                  </a:lnTo>
                  <a:lnTo>
                    <a:pt x="0" y="1002"/>
                  </a:lnTo>
                  <a:lnTo>
                    <a:pt x="15" y="1002"/>
                  </a:lnTo>
                  <a:close/>
                  <a:moveTo>
                    <a:pt x="15" y="1030"/>
                  </a:moveTo>
                  <a:lnTo>
                    <a:pt x="15" y="1044"/>
                  </a:lnTo>
                  <a:lnTo>
                    <a:pt x="0" y="1044"/>
                  </a:lnTo>
                  <a:lnTo>
                    <a:pt x="0" y="1030"/>
                  </a:lnTo>
                  <a:lnTo>
                    <a:pt x="15" y="1030"/>
                  </a:lnTo>
                  <a:close/>
                  <a:moveTo>
                    <a:pt x="15" y="1058"/>
                  </a:moveTo>
                  <a:lnTo>
                    <a:pt x="15" y="1072"/>
                  </a:lnTo>
                  <a:lnTo>
                    <a:pt x="0" y="1072"/>
                  </a:lnTo>
                  <a:lnTo>
                    <a:pt x="0" y="1058"/>
                  </a:lnTo>
                  <a:lnTo>
                    <a:pt x="15" y="1058"/>
                  </a:lnTo>
                  <a:close/>
                  <a:moveTo>
                    <a:pt x="15" y="1086"/>
                  </a:moveTo>
                  <a:lnTo>
                    <a:pt x="15" y="1100"/>
                  </a:lnTo>
                  <a:lnTo>
                    <a:pt x="0" y="1100"/>
                  </a:lnTo>
                  <a:lnTo>
                    <a:pt x="0" y="1086"/>
                  </a:lnTo>
                  <a:lnTo>
                    <a:pt x="15" y="1086"/>
                  </a:lnTo>
                  <a:close/>
                  <a:moveTo>
                    <a:pt x="15" y="1114"/>
                  </a:moveTo>
                  <a:lnTo>
                    <a:pt x="15" y="1127"/>
                  </a:lnTo>
                  <a:lnTo>
                    <a:pt x="0" y="1127"/>
                  </a:lnTo>
                  <a:lnTo>
                    <a:pt x="0" y="1114"/>
                  </a:lnTo>
                  <a:lnTo>
                    <a:pt x="15" y="1114"/>
                  </a:lnTo>
                  <a:close/>
                  <a:moveTo>
                    <a:pt x="15" y="1141"/>
                  </a:moveTo>
                  <a:lnTo>
                    <a:pt x="15" y="1155"/>
                  </a:lnTo>
                  <a:lnTo>
                    <a:pt x="0" y="1155"/>
                  </a:lnTo>
                  <a:lnTo>
                    <a:pt x="0" y="1141"/>
                  </a:lnTo>
                  <a:lnTo>
                    <a:pt x="15" y="1141"/>
                  </a:lnTo>
                  <a:close/>
                  <a:moveTo>
                    <a:pt x="15" y="1169"/>
                  </a:moveTo>
                  <a:lnTo>
                    <a:pt x="15" y="1183"/>
                  </a:lnTo>
                  <a:lnTo>
                    <a:pt x="0" y="1183"/>
                  </a:lnTo>
                  <a:lnTo>
                    <a:pt x="0" y="1169"/>
                  </a:lnTo>
                  <a:lnTo>
                    <a:pt x="15" y="1169"/>
                  </a:lnTo>
                  <a:close/>
                  <a:moveTo>
                    <a:pt x="15" y="1197"/>
                  </a:moveTo>
                  <a:lnTo>
                    <a:pt x="15" y="1211"/>
                  </a:lnTo>
                  <a:lnTo>
                    <a:pt x="0" y="1211"/>
                  </a:lnTo>
                  <a:lnTo>
                    <a:pt x="0" y="1197"/>
                  </a:lnTo>
                  <a:lnTo>
                    <a:pt x="15" y="1197"/>
                  </a:lnTo>
                  <a:close/>
                  <a:moveTo>
                    <a:pt x="15" y="1225"/>
                  </a:moveTo>
                  <a:lnTo>
                    <a:pt x="15" y="1239"/>
                  </a:lnTo>
                  <a:lnTo>
                    <a:pt x="0" y="1239"/>
                  </a:lnTo>
                  <a:lnTo>
                    <a:pt x="0" y="1225"/>
                  </a:lnTo>
                  <a:lnTo>
                    <a:pt x="15" y="1225"/>
                  </a:lnTo>
                  <a:close/>
                  <a:moveTo>
                    <a:pt x="15" y="1253"/>
                  </a:moveTo>
                  <a:lnTo>
                    <a:pt x="15" y="1267"/>
                  </a:lnTo>
                  <a:lnTo>
                    <a:pt x="0" y="1267"/>
                  </a:lnTo>
                  <a:lnTo>
                    <a:pt x="0" y="1253"/>
                  </a:lnTo>
                  <a:lnTo>
                    <a:pt x="15" y="1253"/>
                  </a:lnTo>
                  <a:close/>
                  <a:moveTo>
                    <a:pt x="15" y="1281"/>
                  </a:moveTo>
                  <a:lnTo>
                    <a:pt x="15" y="1294"/>
                  </a:lnTo>
                  <a:lnTo>
                    <a:pt x="0" y="1294"/>
                  </a:lnTo>
                  <a:lnTo>
                    <a:pt x="0" y="1281"/>
                  </a:lnTo>
                  <a:lnTo>
                    <a:pt x="15" y="1281"/>
                  </a:lnTo>
                  <a:close/>
                  <a:moveTo>
                    <a:pt x="15" y="1308"/>
                  </a:moveTo>
                  <a:lnTo>
                    <a:pt x="15" y="1322"/>
                  </a:lnTo>
                  <a:lnTo>
                    <a:pt x="0" y="1322"/>
                  </a:lnTo>
                  <a:lnTo>
                    <a:pt x="0" y="1308"/>
                  </a:lnTo>
                  <a:lnTo>
                    <a:pt x="15" y="1308"/>
                  </a:lnTo>
                  <a:close/>
                  <a:moveTo>
                    <a:pt x="15" y="1336"/>
                  </a:moveTo>
                  <a:lnTo>
                    <a:pt x="15" y="1350"/>
                  </a:lnTo>
                  <a:lnTo>
                    <a:pt x="0" y="1350"/>
                  </a:lnTo>
                  <a:lnTo>
                    <a:pt x="0" y="1336"/>
                  </a:lnTo>
                  <a:lnTo>
                    <a:pt x="15" y="1336"/>
                  </a:lnTo>
                  <a:close/>
                  <a:moveTo>
                    <a:pt x="15" y="1364"/>
                  </a:moveTo>
                  <a:lnTo>
                    <a:pt x="15" y="1378"/>
                  </a:lnTo>
                  <a:lnTo>
                    <a:pt x="0" y="1378"/>
                  </a:lnTo>
                  <a:lnTo>
                    <a:pt x="0" y="1364"/>
                  </a:lnTo>
                  <a:lnTo>
                    <a:pt x="15" y="1364"/>
                  </a:lnTo>
                  <a:close/>
                  <a:moveTo>
                    <a:pt x="15" y="1392"/>
                  </a:moveTo>
                  <a:lnTo>
                    <a:pt x="15" y="1406"/>
                  </a:lnTo>
                  <a:lnTo>
                    <a:pt x="0" y="1406"/>
                  </a:lnTo>
                  <a:lnTo>
                    <a:pt x="0" y="1392"/>
                  </a:lnTo>
                  <a:lnTo>
                    <a:pt x="15" y="1392"/>
                  </a:lnTo>
                  <a:close/>
                  <a:moveTo>
                    <a:pt x="15" y="1420"/>
                  </a:moveTo>
                  <a:lnTo>
                    <a:pt x="15" y="1434"/>
                  </a:lnTo>
                  <a:lnTo>
                    <a:pt x="0" y="1434"/>
                  </a:lnTo>
                  <a:lnTo>
                    <a:pt x="0" y="1420"/>
                  </a:lnTo>
                  <a:lnTo>
                    <a:pt x="15" y="1420"/>
                  </a:lnTo>
                  <a:close/>
                  <a:moveTo>
                    <a:pt x="15" y="1448"/>
                  </a:moveTo>
                  <a:lnTo>
                    <a:pt x="15" y="1461"/>
                  </a:lnTo>
                  <a:lnTo>
                    <a:pt x="0" y="1461"/>
                  </a:lnTo>
                  <a:lnTo>
                    <a:pt x="0" y="1448"/>
                  </a:lnTo>
                  <a:lnTo>
                    <a:pt x="15" y="1448"/>
                  </a:lnTo>
                  <a:close/>
                  <a:moveTo>
                    <a:pt x="15" y="1475"/>
                  </a:moveTo>
                  <a:lnTo>
                    <a:pt x="15" y="1489"/>
                  </a:lnTo>
                  <a:lnTo>
                    <a:pt x="0" y="1489"/>
                  </a:lnTo>
                  <a:lnTo>
                    <a:pt x="0" y="1475"/>
                  </a:lnTo>
                  <a:lnTo>
                    <a:pt x="15" y="1475"/>
                  </a:lnTo>
                  <a:close/>
                  <a:moveTo>
                    <a:pt x="15" y="1503"/>
                  </a:moveTo>
                  <a:lnTo>
                    <a:pt x="15" y="1517"/>
                  </a:lnTo>
                  <a:lnTo>
                    <a:pt x="0" y="1517"/>
                  </a:lnTo>
                  <a:lnTo>
                    <a:pt x="0" y="1503"/>
                  </a:lnTo>
                  <a:lnTo>
                    <a:pt x="15" y="1503"/>
                  </a:lnTo>
                  <a:close/>
                  <a:moveTo>
                    <a:pt x="15" y="1531"/>
                  </a:moveTo>
                  <a:lnTo>
                    <a:pt x="15" y="1545"/>
                  </a:lnTo>
                  <a:lnTo>
                    <a:pt x="0" y="1545"/>
                  </a:lnTo>
                  <a:lnTo>
                    <a:pt x="0" y="1531"/>
                  </a:lnTo>
                  <a:lnTo>
                    <a:pt x="15" y="1531"/>
                  </a:lnTo>
                  <a:close/>
                  <a:moveTo>
                    <a:pt x="15" y="1559"/>
                  </a:moveTo>
                  <a:lnTo>
                    <a:pt x="15" y="1573"/>
                  </a:lnTo>
                  <a:lnTo>
                    <a:pt x="0" y="1573"/>
                  </a:lnTo>
                  <a:lnTo>
                    <a:pt x="0" y="1559"/>
                  </a:lnTo>
                  <a:lnTo>
                    <a:pt x="15" y="1559"/>
                  </a:lnTo>
                  <a:close/>
                  <a:moveTo>
                    <a:pt x="15" y="1587"/>
                  </a:moveTo>
                  <a:lnTo>
                    <a:pt x="15" y="1601"/>
                  </a:lnTo>
                  <a:lnTo>
                    <a:pt x="0" y="1601"/>
                  </a:lnTo>
                  <a:lnTo>
                    <a:pt x="0" y="1587"/>
                  </a:lnTo>
                  <a:lnTo>
                    <a:pt x="15" y="1587"/>
                  </a:lnTo>
                  <a:close/>
                  <a:moveTo>
                    <a:pt x="15" y="1615"/>
                  </a:moveTo>
                  <a:lnTo>
                    <a:pt x="15" y="1628"/>
                  </a:lnTo>
                  <a:lnTo>
                    <a:pt x="0" y="1628"/>
                  </a:lnTo>
                  <a:lnTo>
                    <a:pt x="0" y="1615"/>
                  </a:lnTo>
                  <a:lnTo>
                    <a:pt x="15" y="1615"/>
                  </a:lnTo>
                  <a:close/>
                  <a:moveTo>
                    <a:pt x="15" y="1642"/>
                  </a:moveTo>
                  <a:lnTo>
                    <a:pt x="15" y="1656"/>
                  </a:lnTo>
                  <a:lnTo>
                    <a:pt x="0" y="1656"/>
                  </a:lnTo>
                  <a:lnTo>
                    <a:pt x="0" y="1642"/>
                  </a:lnTo>
                  <a:lnTo>
                    <a:pt x="15" y="1642"/>
                  </a:lnTo>
                  <a:close/>
                  <a:moveTo>
                    <a:pt x="15" y="1670"/>
                  </a:moveTo>
                  <a:lnTo>
                    <a:pt x="15" y="1684"/>
                  </a:lnTo>
                  <a:lnTo>
                    <a:pt x="0" y="1684"/>
                  </a:lnTo>
                  <a:lnTo>
                    <a:pt x="0" y="1670"/>
                  </a:lnTo>
                  <a:lnTo>
                    <a:pt x="15" y="1670"/>
                  </a:lnTo>
                  <a:close/>
                  <a:moveTo>
                    <a:pt x="15" y="1698"/>
                  </a:moveTo>
                  <a:lnTo>
                    <a:pt x="15" y="1712"/>
                  </a:lnTo>
                  <a:lnTo>
                    <a:pt x="0" y="1712"/>
                  </a:lnTo>
                  <a:lnTo>
                    <a:pt x="0" y="1698"/>
                  </a:lnTo>
                  <a:lnTo>
                    <a:pt x="15" y="1698"/>
                  </a:lnTo>
                  <a:close/>
                  <a:moveTo>
                    <a:pt x="15" y="1726"/>
                  </a:moveTo>
                  <a:lnTo>
                    <a:pt x="15" y="1740"/>
                  </a:lnTo>
                  <a:lnTo>
                    <a:pt x="0" y="1740"/>
                  </a:lnTo>
                  <a:lnTo>
                    <a:pt x="0" y="1726"/>
                  </a:lnTo>
                  <a:lnTo>
                    <a:pt x="15" y="1726"/>
                  </a:lnTo>
                  <a:close/>
                  <a:moveTo>
                    <a:pt x="15" y="1754"/>
                  </a:moveTo>
                  <a:lnTo>
                    <a:pt x="15" y="1768"/>
                  </a:lnTo>
                  <a:lnTo>
                    <a:pt x="0" y="1768"/>
                  </a:lnTo>
                  <a:lnTo>
                    <a:pt x="0" y="1754"/>
                  </a:lnTo>
                  <a:lnTo>
                    <a:pt x="15" y="1754"/>
                  </a:lnTo>
                  <a:close/>
                  <a:moveTo>
                    <a:pt x="15" y="1782"/>
                  </a:moveTo>
                  <a:lnTo>
                    <a:pt x="15" y="1795"/>
                  </a:lnTo>
                  <a:lnTo>
                    <a:pt x="0" y="1795"/>
                  </a:lnTo>
                  <a:lnTo>
                    <a:pt x="0" y="1782"/>
                  </a:lnTo>
                  <a:lnTo>
                    <a:pt x="15" y="1782"/>
                  </a:lnTo>
                  <a:close/>
                  <a:moveTo>
                    <a:pt x="15" y="1809"/>
                  </a:moveTo>
                  <a:lnTo>
                    <a:pt x="15" y="1823"/>
                  </a:lnTo>
                  <a:lnTo>
                    <a:pt x="0" y="1823"/>
                  </a:lnTo>
                  <a:lnTo>
                    <a:pt x="0" y="1809"/>
                  </a:lnTo>
                  <a:lnTo>
                    <a:pt x="15" y="1809"/>
                  </a:lnTo>
                  <a:close/>
                  <a:moveTo>
                    <a:pt x="15" y="1837"/>
                  </a:moveTo>
                  <a:lnTo>
                    <a:pt x="15" y="1851"/>
                  </a:lnTo>
                  <a:lnTo>
                    <a:pt x="0" y="1851"/>
                  </a:lnTo>
                  <a:lnTo>
                    <a:pt x="0" y="1837"/>
                  </a:lnTo>
                  <a:lnTo>
                    <a:pt x="15" y="1837"/>
                  </a:lnTo>
                  <a:close/>
                  <a:moveTo>
                    <a:pt x="15" y="1865"/>
                  </a:moveTo>
                  <a:lnTo>
                    <a:pt x="15" y="1879"/>
                  </a:lnTo>
                  <a:lnTo>
                    <a:pt x="0" y="1879"/>
                  </a:lnTo>
                  <a:lnTo>
                    <a:pt x="0" y="1865"/>
                  </a:lnTo>
                  <a:lnTo>
                    <a:pt x="15" y="1865"/>
                  </a:lnTo>
                  <a:close/>
                  <a:moveTo>
                    <a:pt x="15" y="1893"/>
                  </a:moveTo>
                  <a:lnTo>
                    <a:pt x="15" y="1907"/>
                  </a:lnTo>
                  <a:lnTo>
                    <a:pt x="0" y="1907"/>
                  </a:lnTo>
                  <a:lnTo>
                    <a:pt x="0" y="1893"/>
                  </a:lnTo>
                  <a:lnTo>
                    <a:pt x="15" y="1893"/>
                  </a:lnTo>
                  <a:close/>
                  <a:moveTo>
                    <a:pt x="15" y="1921"/>
                  </a:moveTo>
                  <a:lnTo>
                    <a:pt x="15" y="1935"/>
                  </a:lnTo>
                  <a:lnTo>
                    <a:pt x="0" y="1935"/>
                  </a:lnTo>
                  <a:lnTo>
                    <a:pt x="0" y="1921"/>
                  </a:lnTo>
                  <a:lnTo>
                    <a:pt x="15" y="1921"/>
                  </a:lnTo>
                  <a:close/>
                  <a:moveTo>
                    <a:pt x="15" y="1949"/>
                  </a:moveTo>
                  <a:lnTo>
                    <a:pt x="15" y="1962"/>
                  </a:lnTo>
                  <a:lnTo>
                    <a:pt x="0" y="1962"/>
                  </a:lnTo>
                  <a:lnTo>
                    <a:pt x="0" y="1949"/>
                  </a:lnTo>
                  <a:lnTo>
                    <a:pt x="15" y="1949"/>
                  </a:lnTo>
                  <a:close/>
                  <a:moveTo>
                    <a:pt x="15" y="1976"/>
                  </a:moveTo>
                  <a:lnTo>
                    <a:pt x="15" y="1990"/>
                  </a:lnTo>
                  <a:lnTo>
                    <a:pt x="0" y="1990"/>
                  </a:lnTo>
                  <a:lnTo>
                    <a:pt x="0" y="1976"/>
                  </a:lnTo>
                  <a:lnTo>
                    <a:pt x="15" y="1976"/>
                  </a:lnTo>
                  <a:close/>
                  <a:moveTo>
                    <a:pt x="15" y="2004"/>
                  </a:moveTo>
                  <a:lnTo>
                    <a:pt x="15" y="2018"/>
                  </a:lnTo>
                  <a:lnTo>
                    <a:pt x="0" y="2018"/>
                  </a:lnTo>
                  <a:lnTo>
                    <a:pt x="0" y="2004"/>
                  </a:lnTo>
                  <a:lnTo>
                    <a:pt x="15" y="2004"/>
                  </a:lnTo>
                  <a:close/>
                  <a:moveTo>
                    <a:pt x="15" y="2032"/>
                  </a:moveTo>
                  <a:lnTo>
                    <a:pt x="15" y="2046"/>
                  </a:lnTo>
                  <a:lnTo>
                    <a:pt x="0" y="2046"/>
                  </a:lnTo>
                  <a:lnTo>
                    <a:pt x="0" y="2032"/>
                  </a:lnTo>
                  <a:lnTo>
                    <a:pt x="15" y="2032"/>
                  </a:lnTo>
                  <a:close/>
                  <a:moveTo>
                    <a:pt x="15" y="2060"/>
                  </a:moveTo>
                  <a:lnTo>
                    <a:pt x="15" y="2074"/>
                  </a:lnTo>
                  <a:lnTo>
                    <a:pt x="0" y="2074"/>
                  </a:lnTo>
                  <a:lnTo>
                    <a:pt x="0" y="2060"/>
                  </a:lnTo>
                  <a:lnTo>
                    <a:pt x="15" y="2060"/>
                  </a:lnTo>
                  <a:close/>
                  <a:moveTo>
                    <a:pt x="15" y="2087"/>
                  </a:moveTo>
                  <a:lnTo>
                    <a:pt x="15" y="2102"/>
                  </a:lnTo>
                  <a:lnTo>
                    <a:pt x="0" y="2102"/>
                  </a:lnTo>
                  <a:lnTo>
                    <a:pt x="0" y="2087"/>
                  </a:lnTo>
                  <a:lnTo>
                    <a:pt x="15" y="2087"/>
                  </a:lnTo>
                  <a:close/>
                  <a:moveTo>
                    <a:pt x="15" y="2116"/>
                  </a:moveTo>
                  <a:lnTo>
                    <a:pt x="15" y="2129"/>
                  </a:lnTo>
                  <a:lnTo>
                    <a:pt x="0" y="2129"/>
                  </a:lnTo>
                  <a:lnTo>
                    <a:pt x="0" y="2116"/>
                  </a:lnTo>
                  <a:lnTo>
                    <a:pt x="15" y="2116"/>
                  </a:lnTo>
                  <a:close/>
                  <a:moveTo>
                    <a:pt x="15" y="2143"/>
                  </a:moveTo>
                  <a:lnTo>
                    <a:pt x="15" y="2157"/>
                  </a:lnTo>
                  <a:lnTo>
                    <a:pt x="0" y="2157"/>
                  </a:lnTo>
                  <a:lnTo>
                    <a:pt x="0" y="2143"/>
                  </a:lnTo>
                  <a:lnTo>
                    <a:pt x="15" y="2143"/>
                  </a:lnTo>
                  <a:close/>
                  <a:moveTo>
                    <a:pt x="15" y="2171"/>
                  </a:moveTo>
                  <a:lnTo>
                    <a:pt x="15" y="2185"/>
                  </a:lnTo>
                  <a:lnTo>
                    <a:pt x="0" y="2185"/>
                  </a:lnTo>
                  <a:lnTo>
                    <a:pt x="0" y="2171"/>
                  </a:lnTo>
                  <a:lnTo>
                    <a:pt x="15" y="2171"/>
                  </a:lnTo>
                  <a:close/>
                  <a:moveTo>
                    <a:pt x="15" y="2199"/>
                  </a:moveTo>
                  <a:lnTo>
                    <a:pt x="15" y="2213"/>
                  </a:lnTo>
                  <a:lnTo>
                    <a:pt x="0" y="2213"/>
                  </a:lnTo>
                  <a:lnTo>
                    <a:pt x="0" y="2199"/>
                  </a:lnTo>
                  <a:lnTo>
                    <a:pt x="15" y="2199"/>
                  </a:lnTo>
                  <a:close/>
                  <a:moveTo>
                    <a:pt x="15" y="2227"/>
                  </a:moveTo>
                  <a:lnTo>
                    <a:pt x="15" y="2241"/>
                  </a:lnTo>
                  <a:lnTo>
                    <a:pt x="0" y="2241"/>
                  </a:lnTo>
                  <a:lnTo>
                    <a:pt x="0" y="2227"/>
                  </a:lnTo>
                  <a:lnTo>
                    <a:pt x="15" y="2227"/>
                  </a:lnTo>
                  <a:close/>
                  <a:moveTo>
                    <a:pt x="15" y="2254"/>
                  </a:moveTo>
                  <a:lnTo>
                    <a:pt x="15" y="2268"/>
                  </a:lnTo>
                  <a:lnTo>
                    <a:pt x="0" y="2268"/>
                  </a:lnTo>
                  <a:lnTo>
                    <a:pt x="0" y="2254"/>
                  </a:lnTo>
                  <a:lnTo>
                    <a:pt x="15" y="2254"/>
                  </a:lnTo>
                  <a:close/>
                  <a:moveTo>
                    <a:pt x="15" y="2283"/>
                  </a:moveTo>
                  <a:lnTo>
                    <a:pt x="15" y="2296"/>
                  </a:lnTo>
                  <a:lnTo>
                    <a:pt x="0" y="2296"/>
                  </a:lnTo>
                  <a:lnTo>
                    <a:pt x="0" y="2283"/>
                  </a:lnTo>
                  <a:lnTo>
                    <a:pt x="15" y="2283"/>
                  </a:lnTo>
                  <a:close/>
                  <a:moveTo>
                    <a:pt x="15" y="2310"/>
                  </a:moveTo>
                  <a:lnTo>
                    <a:pt x="15" y="2324"/>
                  </a:lnTo>
                  <a:lnTo>
                    <a:pt x="0" y="2324"/>
                  </a:lnTo>
                  <a:lnTo>
                    <a:pt x="0" y="2310"/>
                  </a:lnTo>
                  <a:lnTo>
                    <a:pt x="15" y="2310"/>
                  </a:lnTo>
                  <a:close/>
                  <a:moveTo>
                    <a:pt x="15" y="2338"/>
                  </a:moveTo>
                  <a:lnTo>
                    <a:pt x="15" y="2352"/>
                  </a:lnTo>
                  <a:lnTo>
                    <a:pt x="0" y="2352"/>
                  </a:lnTo>
                  <a:lnTo>
                    <a:pt x="0" y="2338"/>
                  </a:lnTo>
                  <a:lnTo>
                    <a:pt x="15" y="2338"/>
                  </a:lnTo>
                  <a:close/>
                  <a:moveTo>
                    <a:pt x="15" y="2366"/>
                  </a:moveTo>
                  <a:lnTo>
                    <a:pt x="15" y="2380"/>
                  </a:lnTo>
                  <a:lnTo>
                    <a:pt x="0" y="2380"/>
                  </a:lnTo>
                  <a:lnTo>
                    <a:pt x="0" y="2366"/>
                  </a:lnTo>
                  <a:lnTo>
                    <a:pt x="15" y="2366"/>
                  </a:lnTo>
                  <a:close/>
                  <a:moveTo>
                    <a:pt x="15" y="2394"/>
                  </a:moveTo>
                  <a:lnTo>
                    <a:pt x="15" y="2408"/>
                  </a:lnTo>
                  <a:lnTo>
                    <a:pt x="0" y="2408"/>
                  </a:lnTo>
                  <a:lnTo>
                    <a:pt x="0" y="2394"/>
                  </a:lnTo>
                  <a:lnTo>
                    <a:pt x="15" y="2394"/>
                  </a:lnTo>
                  <a:close/>
                  <a:moveTo>
                    <a:pt x="15" y="2421"/>
                  </a:moveTo>
                  <a:lnTo>
                    <a:pt x="15" y="2435"/>
                  </a:lnTo>
                  <a:lnTo>
                    <a:pt x="0" y="2435"/>
                  </a:lnTo>
                  <a:lnTo>
                    <a:pt x="0" y="2421"/>
                  </a:lnTo>
                  <a:lnTo>
                    <a:pt x="15" y="2421"/>
                  </a:lnTo>
                  <a:close/>
                  <a:moveTo>
                    <a:pt x="15" y="2449"/>
                  </a:moveTo>
                  <a:lnTo>
                    <a:pt x="15" y="2453"/>
                  </a:lnTo>
                  <a:lnTo>
                    <a:pt x="0" y="2453"/>
                  </a:lnTo>
                  <a:lnTo>
                    <a:pt x="0" y="2449"/>
                  </a:lnTo>
                  <a:lnTo>
                    <a:pt x="15" y="2449"/>
                  </a:lnTo>
                  <a:close/>
                </a:path>
              </a:pathLst>
            </a:custGeom>
            <a:solidFill>
              <a:srgbClr val="000000"/>
            </a:solidFill>
            <a:ln w="0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187" name="Freeform 34">
              <a:extLst>
                <a:ext uri="{FF2B5EF4-FFF2-40B4-BE49-F238E27FC236}">
                  <a16:creationId xmlns:a16="http://schemas.microsoft.com/office/drawing/2014/main" id="{7B35BA6C-3940-912F-A0BA-242B78F2C87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797908" y="3078501"/>
              <a:ext cx="18000" cy="3726773"/>
            </a:xfrm>
            <a:custGeom>
              <a:avLst/>
              <a:gdLst>
                <a:gd name="T0" fmla="*/ 14 w 14"/>
                <a:gd name="T1" fmla="*/ 42 h 2453"/>
                <a:gd name="T2" fmla="*/ 0 w 14"/>
                <a:gd name="T3" fmla="*/ 56 h 2453"/>
                <a:gd name="T4" fmla="*/ 14 w 14"/>
                <a:gd name="T5" fmla="*/ 112 h 2453"/>
                <a:gd name="T6" fmla="*/ 0 w 14"/>
                <a:gd name="T7" fmla="*/ 154 h 2453"/>
                <a:gd name="T8" fmla="*/ 14 w 14"/>
                <a:gd name="T9" fmla="*/ 167 h 2453"/>
                <a:gd name="T10" fmla="*/ 14 w 14"/>
                <a:gd name="T11" fmla="*/ 237 h 2453"/>
                <a:gd name="T12" fmla="*/ 0 w 14"/>
                <a:gd name="T13" fmla="*/ 251 h 2453"/>
                <a:gd name="T14" fmla="*/ 14 w 14"/>
                <a:gd name="T15" fmla="*/ 307 h 2453"/>
                <a:gd name="T16" fmla="*/ 0 w 14"/>
                <a:gd name="T17" fmla="*/ 348 h 2453"/>
                <a:gd name="T18" fmla="*/ 14 w 14"/>
                <a:gd name="T19" fmla="*/ 362 h 2453"/>
                <a:gd name="T20" fmla="*/ 14 w 14"/>
                <a:gd name="T21" fmla="*/ 432 h 2453"/>
                <a:gd name="T22" fmla="*/ 0 w 14"/>
                <a:gd name="T23" fmla="*/ 446 h 2453"/>
                <a:gd name="T24" fmla="*/ 14 w 14"/>
                <a:gd name="T25" fmla="*/ 501 h 2453"/>
                <a:gd name="T26" fmla="*/ 0 w 14"/>
                <a:gd name="T27" fmla="*/ 543 h 2453"/>
                <a:gd name="T28" fmla="*/ 14 w 14"/>
                <a:gd name="T29" fmla="*/ 557 h 2453"/>
                <a:gd name="T30" fmla="*/ 14 w 14"/>
                <a:gd name="T31" fmla="*/ 627 h 2453"/>
                <a:gd name="T32" fmla="*/ 0 w 14"/>
                <a:gd name="T33" fmla="*/ 641 h 2453"/>
                <a:gd name="T34" fmla="*/ 14 w 14"/>
                <a:gd name="T35" fmla="*/ 696 h 2453"/>
                <a:gd name="T36" fmla="*/ 0 w 14"/>
                <a:gd name="T37" fmla="*/ 738 h 2453"/>
                <a:gd name="T38" fmla="*/ 14 w 14"/>
                <a:gd name="T39" fmla="*/ 752 h 2453"/>
                <a:gd name="T40" fmla="*/ 14 w 14"/>
                <a:gd name="T41" fmla="*/ 822 h 2453"/>
                <a:gd name="T42" fmla="*/ 0 w 14"/>
                <a:gd name="T43" fmla="*/ 835 h 2453"/>
                <a:gd name="T44" fmla="*/ 14 w 14"/>
                <a:gd name="T45" fmla="*/ 891 h 2453"/>
                <a:gd name="T46" fmla="*/ 0 w 14"/>
                <a:gd name="T47" fmla="*/ 933 h 2453"/>
                <a:gd name="T48" fmla="*/ 14 w 14"/>
                <a:gd name="T49" fmla="*/ 947 h 2453"/>
                <a:gd name="T50" fmla="*/ 14 w 14"/>
                <a:gd name="T51" fmla="*/ 1016 h 2453"/>
                <a:gd name="T52" fmla="*/ 0 w 14"/>
                <a:gd name="T53" fmla="*/ 1030 h 2453"/>
                <a:gd name="T54" fmla="*/ 14 w 14"/>
                <a:gd name="T55" fmla="*/ 1086 h 2453"/>
                <a:gd name="T56" fmla="*/ 0 w 14"/>
                <a:gd name="T57" fmla="*/ 1127 h 2453"/>
                <a:gd name="T58" fmla="*/ 14 w 14"/>
                <a:gd name="T59" fmla="*/ 1141 h 2453"/>
                <a:gd name="T60" fmla="*/ 14 w 14"/>
                <a:gd name="T61" fmla="*/ 1211 h 2453"/>
                <a:gd name="T62" fmla="*/ 0 w 14"/>
                <a:gd name="T63" fmla="*/ 1225 h 2453"/>
                <a:gd name="T64" fmla="*/ 14 w 14"/>
                <a:gd name="T65" fmla="*/ 1281 h 2453"/>
                <a:gd name="T66" fmla="*/ 0 w 14"/>
                <a:gd name="T67" fmla="*/ 1322 h 2453"/>
                <a:gd name="T68" fmla="*/ 14 w 14"/>
                <a:gd name="T69" fmla="*/ 1336 h 2453"/>
                <a:gd name="T70" fmla="*/ 14 w 14"/>
                <a:gd name="T71" fmla="*/ 1406 h 2453"/>
                <a:gd name="T72" fmla="*/ 0 w 14"/>
                <a:gd name="T73" fmla="*/ 1420 h 2453"/>
                <a:gd name="T74" fmla="*/ 14 w 14"/>
                <a:gd name="T75" fmla="*/ 1475 h 2453"/>
                <a:gd name="T76" fmla="*/ 0 w 14"/>
                <a:gd name="T77" fmla="*/ 1517 h 2453"/>
                <a:gd name="T78" fmla="*/ 14 w 14"/>
                <a:gd name="T79" fmla="*/ 1531 h 2453"/>
                <a:gd name="T80" fmla="*/ 14 w 14"/>
                <a:gd name="T81" fmla="*/ 1601 h 2453"/>
                <a:gd name="T82" fmla="*/ 0 w 14"/>
                <a:gd name="T83" fmla="*/ 1615 h 2453"/>
                <a:gd name="T84" fmla="*/ 14 w 14"/>
                <a:gd name="T85" fmla="*/ 1670 h 2453"/>
                <a:gd name="T86" fmla="*/ 0 w 14"/>
                <a:gd name="T87" fmla="*/ 1712 h 2453"/>
                <a:gd name="T88" fmla="*/ 14 w 14"/>
                <a:gd name="T89" fmla="*/ 1726 h 2453"/>
                <a:gd name="T90" fmla="*/ 14 w 14"/>
                <a:gd name="T91" fmla="*/ 1795 h 2453"/>
                <a:gd name="T92" fmla="*/ 0 w 14"/>
                <a:gd name="T93" fmla="*/ 1809 h 2453"/>
                <a:gd name="T94" fmla="*/ 14 w 14"/>
                <a:gd name="T95" fmla="*/ 1865 h 2453"/>
                <a:gd name="T96" fmla="*/ 0 w 14"/>
                <a:gd name="T97" fmla="*/ 1907 h 2453"/>
                <a:gd name="T98" fmla="*/ 14 w 14"/>
                <a:gd name="T99" fmla="*/ 1921 h 2453"/>
                <a:gd name="T100" fmla="*/ 14 w 14"/>
                <a:gd name="T101" fmla="*/ 1990 h 2453"/>
                <a:gd name="T102" fmla="*/ 0 w 14"/>
                <a:gd name="T103" fmla="*/ 2004 h 2453"/>
                <a:gd name="T104" fmla="*/ 14 w 14"/>
                <a:gd name="T105" fmla="*/ 2060 h 2453"/>
                <a:gd name="T106" fmla="*/ 0 w 14"/>
                <a:gd name="T107" fmla="*/ 2102 h 2453"/>
                <a:gd name="T108" fmla="*/ 14 w 14"/>
                <a:gd name="T109" fmla="*/ 2116 h 2453"/>
                <a:gd name="T110" fmla="*/ 14 w 14"/>
                <a:gd name="T111" fmla="*/ 2185 h 2453"/>
                <a:gd name="T112" fmla="*/ 0 w 14"/>
                <a:gd name="T113" fmla="*/ 2199 h 2453"/>
                <a:gd name="T114" fmla="*/ 14 w 14"/>
                <a:gd name="T115" fmla="*/ 2254 h 2453"/>
                <a:gd name="T116" fmla="*/ 0 w 14"/>
                <a:gd name="T117" fmla="*/ 2296 h 2453"/>
                <a:gd name="T118" fmla="*/ 14 w 14"/>
                <a:gd name="T119" fmla="*/ 2310 h 2453"/>
                <a:gd name="T120" fmla="*/ 14 w 14"/>
                <a:gd name="T121" fmla="*/ 2380 h 2453"/>
                <a:gd name="T122" fmla="*/ 0 w 14"/>
                <a:gd name="T123" fmla="*/ 2394 h 2453"/>
                <a:gd name="T124" fmla="*/ 14 w 14"/>
                <a:gd name="T125" fmla="*/ 2449 h 24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4" h="2453">
                  <a:moveTo>
                    <a:pt x="14" y="0"/>
                  </a:moveTo>
                  <a:lnTo>
                    <a:pt x="14" y="14"/>
                  </a:lnTo>
                  <a:lnTo>
                    <a:pt x="0" y="14"/>
                  </a:lnTo>
                  <a:lnTo>
                    <a:pt x="0" y="0"/>
                  </a:lnTo>
                  <a:lnTo>
                    <a:pt x="14" y="0"/>
                  </a:lnTo>
                  <a:close/>
                  <a:moveTo>
                    <a:pt x="14" y="28"/>
                  </a:moveTo>
                  <a:lnTo>
                    <a:pt x="14" y="42"/>
                  </a:lnTo>
                  <a:lnTo>
                    <a:pt x="0" y="42"/>
                  </a:lnTo>
                  <a:lnTo>
                    <a:pt x="0" y="28"/>
                  </a:lnTo>
                  <a:lnTo>
                    <a:pt x="14" y="28"/>
                  </a:lnTo>
                  <a:close/>
                  <a:moveTo>
                    <a:pt x="14" y="56"/>
                  </a:moveTo>
                  <a:lnTo>
                    <a:pt x="14" y="70"/>
                  </a:lnTo>
                  <a:lnTo>
                    <a:pt x="0" y="70"/>
                  </a:lnTo>
                  <a:lnTo>
                    <a:pt x="0" y="56"/>
                  </a:lnTo>
                  <a:lnTo>
                    <a:pt x="14" y="56"/>
                  </a:lnTo>
                  <a:close/>
                  <a:moveTo>
                    <a:pt x="14" y="84"/>
                  </a:moveTo>
                  <a:lnTo>
                    <a:pt x="14" y="98"/>
                  </a:lnTo>
                  <a:lnTo>
                    <a:pt x="0" y="98"/>
                  </a:lnTo>
                  <a:lnTo>
                    <a:pt x="0" y="84"/>
                  </a:lnTo>
                  <a:lnTo>
                    <a:pt x="14" y="84"/>
                  </a:lnTo>
                  <a:close/>
                  <a:moveTo>
                    <a:pt x="14" y="112"/>
                  </a:moveTo>
                  <a:lnTo>
                    <a:pt x="14" y="126"/>
                  </a:lnTo>
                  <a:lnTo>
                    <a:pt x="0" y="126"/>
                  </a:lnTo>
                  <a:lnTo>
                    <a:pt x="0" y="112"/>
                  </a:lnTo>
                  <a:lnTo>
                    <a:pt x="14" y="112"/>
                  </a:lnTo>
                  <a:close/>
                  <a:moveTo>
                    <a:pt x="14" y="140"/>
                  </a:moveTo>
                  <a:lnTo>
                    <a:pt x="14" y="154"/>
                  </a:lnTo>
                  <a:lnTo>
                    <a:pt x="0" y="154"/>
                  </a:lnTo>
                  <a:lnTo>
                    <a:pt x="0" y="140"/>
                  </a:lnTo>
                  <a:lnTo>
                    <a:pt x="14" y="140"/>
                  </a:lnTo>
                  <a:close/>
                  <a:moveTo>
                    <a:pt x="14" y="167"/>
                  </a:moveTo>
                  <a:lnTo>
                    <a:pt x="14" y="181"/>
                  </a:lnTo>
                  <a:lnTo>
                    <a:pt x="0" y="181"/>
                  </a:lnTo>
                  <a:lnTo>
                    <a:pt x="0" y="167"/>
                  </a:lnTo>
                  <a:lnTo>
                    <a:pt x="14" y="167"/>
                  </a:lnTo>
                  <a:close/>
                  <a:moveTo>
                    <a:pt x="14" y="195"/>
                  </a:moveTo>
                  <a:lnTo>
                    <a:pt x="14" y="209"/>
                  </a:lnTo>
                  <a:lnTo>
                    <a:pt x="0" y="209"/>
                  </a:lnTo>
                  <a:lnTo>
                    <a:pt x="0" y="195"/>
                  </a:lnTo>
                  <a:lnTo>
                    <a:pt x="14" y="195"/>
                  </a:lnTo>
                  <a:close/>
                  <a:moveTo>
                    <a:pt x="14" y="223"/>
                  </a:moveTo>
                  <a:lnTo>
                    <a:pt x="14" y="237"/>
                  </a:lnTo>
                  <a:lnTo>
                    <a:pt x="0" y="237"/>
                  </a:lnTo>
                  <a:lnTo>
                    <a:pt x="0" y="223"/>
                  </a:lnTo>
                  <a:lnTo>
                    <a:pt x="14" y="223"/>
                  </a:lnTo>
                  <a:close/>
                  <a:moveTo>
                    <a:pt x="14" y="251"/>
                  </a:moveTo>
                  <a:lnTo>
                    <a:pt x="14" y="265"/>
                  </a:lnTo>
                  <a:lnTo>
                    <a:pt x="0" y="265"/>
                  </a:lnTo>
                  <a:lnTo>
                    <a:pt x="0" y="251"/>
                  </a:lnTo>
                  <a:lnTo>
                    <a:pt x="14" y="251"/>
                  </a:lnTo>
                  <a:close/>
                  <a:moveTo>
                    <a:pt x="14" y="279"/>
                  </a:moveTo>
                  <a:lnTo>
                    <a:pt x="14" y="293"/>
                  </a:lnTo>
                  <a:lnTo>
                    <a:pt x="0" y="293"/>
                  </a:lnTo>
                  <a:lnTo>
                    <a:pt x="0" y="279"/>
                  </a:lnTo>
                  <a:lnTo>
                    <a:pt x="14" y="279"/>
                  </a:lnTo>
                  <a:close/>
                  <a:moveTo>
                    <a:pt x="14" y="307"/>
                  </a:moveTo>
                  <a:lnTo>
                    <a:pt x="14" y="321"/>
                  </a:lnTo>
                  <a:lnTo>
                    <a:pt x="0" y="321"/>
                  </a:lnTo>
                  <a:lnTo>
                    <a:pt x="0" y="307"/>
                  </a:lnTo>
                  <a:lnTo>
                    <a:pt x="14" y="307"/>
                  </a:lnTo>
                  <a:close/>
                  <a:moveTo>
                    <a:pt x="14" y="334"/>
                  </a:moveTo>
                  <a:lnTo>
                    <a:pt x="14" y="348"/>
                  </a:lnTo>
                  <a:lnTo>
                    <a:pt x="0" y="348"/>
                  </a:lnTo>
                  <a:lnTo>
                    <a:pt x="0" y="334"/>
                  </a:lnTo>
                  <a:lnTo>
                    <a:pt x="14" y="334"/>
                  </a:lnTo>
                  <a:close/>
                  <a:moveTo>
                    <a:pt x="14" y="362"/>
                  </a:moveTo>
                  <a:lnTo>
                    <a:pt x="14" y="376"/>
                  </a:lnTo>
                  <a:lnTo>
                    <a:pt x="0" y="376"/>
                  </a:lnTo>
                  <a:lnTo>
                    <a:pt x="0" y="362"/>
                  </a:lnTo>
                  <a:lnTo>
                    <a:pt x="14" y="362"/>
                  </a:lnTo>
                  <a:close/>
                  <a:moveTo>
                    <a:pt x="14" y="390"/>
                  </a:moveTo>
                  <a:lnTo>
                    <a:pt x="14" y="404"/>
                  </a:lnTo>
                  <a:lnTo>
                    <a:pt x="0" y="404"/>
                  </a:lnTo>
                  <a:lnTo>
                    <a:pt x="0" y="390"/>
                  </a:lnTo>
                  <a:lnTo>
                    <a:pt x="14" y="390"/>
                  </a:lnTo>
                  <a:close/>
                  <a:moveTo>
                    <a:pt x="14" y="418"/>
                  </a:moveTo>
                  <a:lnTo>
                    <a:pt x="14" y="432"/>
                  </a:lnTo>
                  <a:lnTo>
                    <a:pt x="0" y="432"/>
                  </a:lnTo>
                  <a:lnTo>
                    <a:pt x="0" y="418"/>
                  </a:lnTo>
                  <a:lnTo>
                    <a:pt x="14" y="418"/>
                  </a:lnTo>
                  <a:close/>
                  <a:moveTo>
                    <a:pt x="14" y="446"/>
                  </a:moveTo>
                  <a:lnTo>
                    <a:pt x="14" y="460"/>
                  </a:lnTo>
                  <a:lnTo>
                    <a:pt x="0" y="460"/>
                  </a:lnTo>
                  <a:lnTo>
                    <a:pt x="0" y="446"/>
                  </a:lnTo>
                  <a:lnTo>
                    <a:pt x="14" y="446"/>
                  </a:lnTo>
                  <a:close/>
                  <a:moveTo>
                    <a:pt x="14" y="474"/>
                  </a:moveTo>
                  <a:lnTo>
                    <a:pt x="14" y="488"/>
                  </a:lnTo>
                  <a:lnTo>
                    <a:pt x="0" y="488"/>
                  </a:lnTo>
                  <a:lnTo>
                    <a:pt x="0" y="474"/>
                  </a:lnTo>
                  <a:lnTo>
                    <a:pt x="14" y="474"/>
                  </a:lnTo>
                  <a:close/>
                  <a:moveTo>
                    <a:pt x="14" y="501"/>
                  </a:moveTo>
                  <a:lnTo>
                    <a:pt x="14" y="515"/>
                  </a:lnTo>
                  <a:lnTo>
                    <a:pt x="0" y="515"/>
                  </a:lnTo>
                  <a:lnTo>
                    <a:pt x="0" y="501"/>
                  </a:lnTo>
                  <a:lnTo>
                    <a:pt x="14" y="501"/>
                  </a:lnTo>
                  <a:close/>
                  <a:moveTo>
                    <a:pt x="14" y="529"/>
                  </a:moveTo>
                  <a:lnTo>
                    <a:pt x="14" y="543"/>
                  </a:lnTo>
                  <a:lnTo>
                    <a:pt x="0" y="543"/>
                  </a:lnTo>
                  <a:lnTo>
                    <a:pt x="0" y="529"/>
                  </a:lnTo>
                  <a:lnTo>
                    <a:pt x="14" y="529"/>
                  </a:lnTo>
                  <a:close/>
                  <a:moveTo>
                    <a:pt x="14" y="557"/>
                  </a:moveTo>
                  <a:lnTo>
                    <a:pt x="14" y="571"/>
                  </a:lnTo>
                  <a:lnTo>
                    <a:pt x="0" y="571"/>
                  </a:lnTo>
                  <a:lnTo>
                    <a:pt x="0" y="557"/>
                  </a:lnTo>
                  <a:lnTo>
                    <a:pt x="14" y="557"/>
                  </a:lnTo>
                  <a:close/>
                  <a:moveTo>
                    <a:pt x="14" y="585"/>
                  </a:moveTo>
                  <a:lnTo>
                    <a:pt x="14" y="599"/>
                  </a:lnTo>
                  <a:lnTo>
                    <a:pt x="0" y="599"/>
                  </a:lnTo>
                  <a:lnTo>
                    <a:pt x="0" y="585"/>
                  </a:lnTo>
                  <a:lnTo>
                    <a:pt x="14" y="585"/>
                  </a:lnTo>
                  <a:close/>
                  <a:moveTo>
                    <a:pt x="14" y="613"/>
                  </a:moveTo>
                  <a:lnTo>
                    <a:pt x="14" y="627"/>
                  </a:lnTo>
                  <a:lnTo>
                    <a:pt x="0" y="627"/>
                  </a:lnTo>
                  <a:lnTo>
                    <a:pt x="0" y="613"/>
                  </a:lnTo>
                  <a:lnTo>
                    <a:pt x="14" y="613"/>
                  </a:lnTo>
                  <a:close/>
                  <a:moveTo>
                    <a:pt x="14" y="641"/>
                  </a:moveTo>
                  <a:lnTo>
                    <a:pt x="14" y="655"/>
                  </a:lnTo>
                  <a:lnTo>
                    <a:pt x="0" y="655"/>
                  </a:lnTo>
                  <a:lnTo>
                    <a:pt x="0" y="641"/>
                  </a:lnTo>
                  <a:lnTo>
                    <a:pt x="14" y="641"/>
                  </a:lnTo>
                  <a:close/>
                  <a:moveTo>
                    <a:pt x="14" y="668"/>
                  </a:moveTo>
                  <a:lnTo>
                    <a:pt x="14" y="682"/>
                  </a:lnTo>
                  <a:lnTo>
                    <a:pt x="0" y="682"/>
                  </a:lnTo>
                  <a:lnTo>
                    <a:pt x="0" y="668"/>
                  </a:lnTo>
                  <a:lnTo>
                    <a:pt x="14" y="668"/>
                  </a:lnTo>
                  <a:close/>
                  <a:moveTo>
                    <a:pt x="14" y="696"/>
                  </a:moveTo>
                  <a:lnTo>
                    <a:pt x="14" y="710"/>
                  </a:lnTo>
                  <a:lnTo>
                    <a:pt x="0" y="710"/>
                  </a:lnTo>
                  <a:lnTo>
                    <a:pt x="0" y="696"/>
                  </a:lnTo>
                  <a:lnTo>
                    <a:pt x="14" y="696"/>
                  </a:lnTo>
                  <a:close/>
                  <a:moveTo>
                    <a:pt x="14" y="724"/>
                  </a:moveTo>
                  <a:lnTo>
                    <a:pt x="14" y="738"/>
                  </a:lnTo>
                  <a:lnTo>
                    <a:pt x="0" y="738"/>
                  </a:lnTo>
                  <a:lnTo>
                    <a:pt x="0" y="724"/>
                  </a:lnTo>
                  <a:lnTo>
                    <a:pt x="14" y="724"/>
                  </a:lnTo>
                  <a:close/>
                  <a:moveTo>
                    <a:pt x="14" y="752"/>
                  </a:moveTo>
                  <a:lnTo>
                    <a:pt x="14" y="766"/>
                  </a:lnTo>
                  <a:lnTo>
                    <a:pt x="0" y="766"/>
                  </a:lnTo>
                  <a:lnTo>
                    <a:pt x="0" y="752"/>
                  </a:lnTo>
                  <a:lnTo>
                    <a:pt x="14" y="752"/>
                  </a:lnTo>
                  <a:close/>
                  <a:moveTo>
                    <a:pt x="14" y="780"/>
                  </a:moveTo>
                  <a:lnTo>
                    <a:pt x="14" y="793"/>
                  </a:lnTo>
                  <a:lnTo>
                    <a:pt x="0" y="793"/>
                  </a:lnTo>
                  <a:lnTo>
                    <a:pt x="0" y="780"/>
                  </a:lnTo>
                  <a:lnTo>
                    <a:pt x="14" y="780"/>
                  </a:lnTo>
                  <a:close/>
                  <a:moveTo>
                    <a:pt x="14" y="808"/>
                  </a:moveTo>
                  <a:lnTo>
                    <a:pt x="14" y="822"/>
                  </a:lnTo>
                  <a:lnTo>
                    <a:pt x="0" y="822"/>
                  </a:lnTo>
                  <a:lnTo>
                    <a:pt x="0" y="808"/>
                  </a:lnTo>
                  <a:lnTo>
                    <a:pt x="14" y="808"/>
                  </a:lnTo>
                  <a:close/>
                  <a:moveTo>
                    <a:pt x="14" y="835"/>
                  </a:moveTo>
                  <a:lnTo>
                    <a:pt x="14" y="849"/>
                  </a:lnTo>
                  <a:lnTo>
                    <a:pt x="0" y="849"/>
                  </a:lnTo>
                  <a:lnTo>
                    <a:pt x="0" y="835"/>
                  </a:lnTo>
                  <a:lnTo>
                    <a:pt x="14" y="835"/>
                  </a:lnTo>
                  <a:close/>
                  <a:moveTo>
                    <a:pt x="14" y="863"/>
                  </a:moveTo>
                  <a:lnTo>
                    <a:pt x="14" y="877"/>
                  </a:lnTo>
                  <a:lnTo>
                    <a:pt x="0" y="877"/>
                  </a:lnTo>
                  <a:lnTo>
                    <a:pt x="0" y="863"/>
                  </a:lnTo>
                  <a:lnTo>
                    <a:pt x="14" y="863"/>
                  </a:lnTo>
                  <a:close/>
                  <a:moveTo>
                    <a:pt x="14" y="891"/>
                  </a:moveTo>
                  <a:lnTo>
                    <a:pt x="14" y="905"/>
                  </a:lnTo>
                  <a:lnTo>
                    <a:pt x="0" y="905"/>
                  </a:lnTo>
                  <a:lnTo>
                    <a:pt x="0" y="891"/>
                  </a:lnTo>
                  <a:lnTo>
                    <a:pt x="14" y="891"/>
                  </a:lnTo>
                  <a:close/>
                  <a:moveTo>
                    <a:pt x="14" y="919"/>
                  </a:moveTo>
                  <a:lnTo>
                    <a:pt x="14" y="933"/>
                  </a:lnTo>
                  <a:lnTo>
                    <a:pt x="0" y="933"/>
                  </a:lnTo>
                  <a:lnTo>
                    <a:pt x="0" y="919"/>
                  </a:lnTo>
                  <a:lnTo>
                    <a:pt x="14" y="919"/>
                  </a:lnTo>
                  <a:close/>
                  <a:moveTo>
                    <a:pt x="14" y="947"/>
                  </a:moveTo>
                  <a:lnTo>
                    <a:pt x="14" y="960"/>
                  </a:lnTo>
                  <a:lnTo>
                    <a:pt x="0" y="960"/>
                  </a:lnTo>
                  <a:lnTo>
                    <a:pt x="0" y="947"/>
                  </a:lnTo>
                  <a:lnTo>
                    <a:pt x="14" y="947"/>
                  </a:lnTo>
                  <a:close/>
                  <a:moveTo>
                    <a:pt x="14" y="974"/>
                  </a:moveTo>
                  <a:lnTo>
                    <a:pt x="14" y="988"/>
                  </a:lnTo>
                  <a:lnTo>
                    <a:pt x="0" y="988"/>
                  </a:lnTo>
                  <a:lnTo>
                    <a:pt x="0" y="974"/>
                  </a:lnTo>
                  <a:lnTo>
                    <a:pt x="14" y="974"/>
                  </a:lnTo>
                  <a:close/>
                  <a:moveTo>
                    <a:pt x="14" y="1002"/>
                  </a:moveTo>
                  <a:lnTo>
                    <a:pt x="14" y="1016"/>
                  </a:lnTo>
                  <a:lnTo>
                    <a:pt x="0" y="1016"/>
                  </a:lnTo>
                  <a:lnTo>
                    <a:pt x="0" y="1002"/>
                  </a:lnTo>
                  <a:lnTo>
                    <a:pt x="14" y="1002"/>
                  </a:lnTo>
                  <a:close/>
                  <a:moveTo>
                    <a:pt x="14" y="1030"/>
                  </a:moveTo>
                  <a:lnTo>
                    <a:pt x="14" y="1044"/>
                  </a:lnTo>
                  <a:lnTo>
                    <a:pt x="0" y="1044"/>
                  </a:lnTo>
                  <a:lnTo>
                    <a:pt x="0" y="1030"/>
                  </a:lnTo>
                  <a:lnTo>
                    <a:pt x="14" y="1030"/>
                  </a:lnTo>
                  <a:close/>
                  <a:moveTo>
                    <a:pt x="14" y="1058"/>
                  </a:moveTo>
                  <a:lnTo>
                    <a:pt x="14" y="1072"/>
                  </a:lnTo>
                  <a:lnTo>
                    <a:pt x="0" y="1072"/>
                  </a:lnTo>
                  <a:lnTo>
                    <a:pt x="0" y="1058"/>
                  </a:lnTo>
                  <a:lnTo>
                    <a:pt x="14" y="1058"/>
                  </a:lnTo>
                  <a:close/>
                  <a:moveTo>
                    <a:pt x="14" y="1086"/>
                  </a:moveTo>
                  <a:lnTo>
                    <a:pt x="14" y="1100"/>
                  </a:lnTo>
                  <a:lnTo>
                    <a:pt x="0" y="1100"/>
                  </a:lnTo>
                  <a:lnTo>
                    <a:pt x="0" y="1086"/>
                  </a:lnTo>
                  <a:lnTo>
                    <a:pt x="14" y="1086"/>
                  </a:lnTo>
                  <a:close/>
                  <a:moveTo>
                    <a:pt x="14" y="1114"/>
                  </a:moveTo>
                  <a:lnTo>
                    <a:pt x="14" y="1127"/>
                  </a:lnTo>
                  <a:lnTo>
                    <a:pt x="0" y="1127"/>
                  </a:lnTo>
                  <a:lnTo>
                    <a:pt x="0" y="1114"/>
                  </a:lnTo>
                  <a:lnTo>
                    <a:pt x="14" y="1114"/>
                  </a:lnTo>
                  <a:close/>
                  <a:moveTo>
                    <a:pt x="14" y="1141"/>
                  </a:moveTo>
                  <a:lnTo>
                    <a:pt x="14" y="1155"/>
                  </a:lnTo>
                  <a:lnTo>
                    <a:pt x="0" y="1155"/>
                  </a:lnTo>
                  <a:lnTo>
                    <a:pt x="0" y="1141"/>
                  </a:lnTo>
                  <a:lnTo>
                    <a:pt x="14" y="1141"/>
                  </a:lnTo>
                  <a:close/>
                  <a:moveTo>
                    <a:pt x="14" y="1169"/>
                  </a:moveTo>
                  <a:lnTo>
                    <a:pt x="14" y="1183"/>
                  </a:lnTo>
                  <a:lnTo>
                    <a:pt x="0" y="1183"/>
                  </a:lnTo>
                  <a:lnTo>
                    <a:pt x="0" y="1169"/>
                  </a:lnTo>
                  <a:lnTo>
                    <a:pt x="14" y="1169"/>
                  </a:lnTo>
                  <a:close/>
                  <a:moveTo>
                    <a:pt x="14" y="1197"/>
                  </a:moveTo>
                  <a:lnTo>
                    <a:pt x="14" y="1211"/>
                  </a:lnTo>
                  <a:lnTo>
                    <a:pt x="0" y="1211"/>
                  </a:lnTo>
                  <a:lnTo>
                    <a:pt x="0" y="1197"/>
                  </a:lnTo>
                  <a:lnTo>
                    <a:pt x="14" y="1197"/>
                  </a:lnTo>
                  <a:close/>
                  <a:moveTo>
                    <a:pt x="14" y="1225"/>
                  </a:moveTo>
                  <a:lnTo>
                    <a:pt x="14" y="1239"/>
                  </a:lnTo>
                  <a:lnTo>
                    <a:pt x="0" y="1239"/>
                  </a:lnTo>
                  <a:lnTo>
                    <a:pt x="0" y="1225"/>
                  </a:lnTo>
                  <a:lnTo>
                    <a:pt x="14" y="1225"/>
                  </a:lnTo>
                  <a:close/>
                  <a:moveTo>
                    <a:pt x="14" y="1253"/>
                  </a:moveTo>
                  <a:lnTo>
                    <a:pt x="14" y="1267"/>
                  </a:lnTo>
                  <a:lnTo>
                    <a:pt x="0" y="1267"/>
                  </a:lnTo>
                  <a:lnTo>
                    <a:pt x="0" y="1253"/>
                  </a:lnTo>
                  <a:lnTo>
                    <a:pt x="14" y="1253"/>
                  </a:lnTo>
                  <a:close/>
                  <a:moveTo>
                    <a:pt x="14" y="1281"/>
                  </a:moveTo>
                  <a:lnTo>
                    <a:pt x="14" y="1294"/>
                  </a:lnTo>
                  <a:lnTo>
                    <a:pt x="0" y="1294"/>
                  </a:lnTo>
                  <a:lnTo>
                    <a:pt x="0" y="1281"/>
                  </a:lnTo>
                  <a:lnTo>
                    <a:pt x="14" y="1281"/>
                  </a:lnTo>
                  <a:close/>
                  <a:moveTo>
                    <a:pt x="14" y="1308"/>
                  </a:moveTo>
                  <a:lnTo>
                    <a:pt x="14" y="1322"/>
                  </a:lnTo>
                  <a:lnTo>
                    <a:pt x="0" y="1322"/>
                  </a:lnTo>
                  <a:lnTo>
                    <a:pt x="0" y="1308"/>
                  </a:lnTo>
                  <a:lnTo>
                    <a:pt x="14" y="1308"/>
                  </a:lnTo>
                  <a:close/>
                  <a:moveTo>
                    <a:pt x="14" y="1336"/>
                  </a:moveTo>
                  <a:lnTo>
                    <a:pt x="14" y="1350"/>
                  </a:lnTo>
                  <a:lnTo>
                    <a:pt x="0" y="1350"/>
                  </a:lnTo>
                  <a:lnTo>
                    <a:pt x="0" y="1336"/>
                  </a:lnTo>
                  <a:lnTo>
                    <a:pt x="14" y="1336"/>
                  </a:lnTo>
                  <a:close/>
                  <a:moveTo>
                    <a:pt x="14" y="1364"/>
                  </a:moveTo>
                  <a:lnTo>
                    <a:pt x="14" y="1378"/>
                  </a:lnTo>
                  <a:lnTo>
                    <a:pt x="0" y="1378"/>
                  </a:lnTo>
                  <a:lnTo>
                    <a:pt x="0" y="1364"/>
                  </a:lnTo>
                  <a:lnTo>
                    <a:pt x="14" y="1364"/>
                  </a:lnTo>
                  <a:close/>
                  <a:moveTo>
                    <a:pt x="14" y="1392"/>
                  </a:moveTo>
                  <a:lnTo>
                    <a:pt x="14" y="1406"/>
                  </a:lnTo>
                  <a:lnTo>
                    <a:pt x="0" y="1406"/>
                  </a:lnTo>
                  <a:lnTo>
                    <a:pt x="0" y="1392"/>
                  </a:lnTo>
                  <a:lnTo>
                    <a:pt x="14" y="1392"/>
                  </a:lnTo>
                  <a:close/>
                  <a:moveTo>
                    <a:pt x="14" y="1420"/>
                  </a:moveTo>
                  <a:lnTo>
                    <a:pt x="14" y="1434"/>
                  </a:lnTo>
                  <a:lnTo>
                    <a:pt x="0" y="1434"/>
                  </a:lnTo>
                  <a:lnTo>
                    <a:pt x="0" y="1420"/>
                  </a:lnTo>
                  <a:lnTo>
                    <a:pt x="14" y="1420"/>
                  </a:lnTo>
                  <a:close/>
                  <a:moveTo>
                    <a:pt x="14" y="1448"/>
                  </a:moveTo>
                  <a:lnTo>
                    <a:pt x="14" y="1461"/>
                  </a:lnTo>
                  <a:lnTo>
                    <a:pt x="0" y="1461"/>
                  </a:lnTo>
                  <a:lnTo>
                    <a:pt x="0" y="1448"/>
                  </a:lnTo>
                  <a:lnTo>
                    <a:pt x="14" y="1448"/>
                  </a:lnTo>
                  <a:close/>
                  <a:moveTo>
                    <a:pt x="14" y="1475"/>
                  </a:moveTo>
                  <a:lnTo>
                    <a:pt x="14" y="1489"/>
                  </a:lnTo>
                  <a:lnTo>
                    <a:pt x="0" y="1489"/>
                  </a:lnTo>
                  <a:lnTo>
                    <a:pt x="0" y="1475"/>
                  </a:lnTo>
                  <a:lnTo>
                    <a:pt x="14" y="1475"/>
                  </a:lnTo>
                  <a:close/>
                  <a:moveTo>
                    <a:pt x="14" y="1503"/>
                  </a:moveTo>
                  <a:lnTo>
                    <a:pt x="14" y="1517"/>
                  </a:lnTo>
                  <a:lnTo>
                    <a:pt x="0" y="1517"/>
                  </a:lnTo>
                  <a:lnTo>
                    <a:pt x="0" y="1503"/>
                  </a:lnTo>
                  <a:lnTo>
                    <a:pt x="14" y="1503"/>
                  </a:lnTo>
                  <a:close/>
                  <a:moveTo>
                    <a:pt x="14" y="1531"/>
                  </a:moveTo>
                  <a:lnTo>
                    <a:pt x="14" y="1545"/>
                  </a:lnTo>
                  <a:lnTo>
                    <a:pt x="0" y="1545"/>
                  </a:lnTo>
                  <a:lnTo>
                    <a:pt x="0" y="1531"/>
                  </a:lnTo>
                  <a:lnTo>
                    <a:pt x="14" y="1531"/>
                  </a:lnTo>
                  <a:close/>
                  <a:moveTo>
                    <a:pt x="14" y="1559"/>
                  </a:moveTo>
                  <a:lnTo>
                    <a:pt x="14" y="1573"/>
                  </a:lnTo>
                  <a:lnTo>
                    <a:pt x="0" y="1573"/>
                  </a:lnTo>
                  <a:lnTo>
                    <a:pt x="0" y="1559"/>
                  </a:lnTo>
                  <a:lnTo>
                    <a:pt x="14" y="1559"/>
                  </a:lnTo>
                  <a:close/>
                  <a:moveTo>
                    <a:pt x="14" y="1587"/>
                  </a:moveTo>
                  <a:lnTo>
                    <a:pt x="14" y="1601"/>
                  </a:lnTo>
                  <a:lnTo>
                    <a:pt x="0" y="1601"/>
                  </a:lnTo>
                  <a:lnTo>
                    <a:pt x="0" y="1587"/>
                  </a:lnTo>
                  <a:lnTo>
                    <a:pt x="14" y="1587"/>
                  </a:lnTo>
                  <a:close/>
                  <a:moveTo>
                    <a:pt x="14" y="1615"/>
                  </a:moveTo>
                  <a:lnTo>
                    <a:pt x="14" y="1628"/>
                  </a:lnTo>
                  <a:lnTo>
                    <a:pt x="0" y="1628"/>
                  </a:lnTo>
                  <a:lnTo>
                    <a:pt x="0" y="1615"/>
                  </a:lnTo>
                  <a:lnTo>
                    <a:pt x="14" y="1615"/>
                  </a:lnTo>
                  <a:close/>
                  <a:moveTo>
                    <a:pt x="14" y="1642"/>
                  </a:moveTo>
                  <a:lnTo>
                    <a:pt x="14" y="1656"/>
                  </a:lnTo>
                  <a:lnTo>
                    <a:pt x="0" y="1656"/>
                  </a:lnTo>
                  <a:lnTo>
                    <a:pt x="0" y="1642"/>
                  </a:lnTo>
                  <a:lnTo>
                    <a:pt x="14" y="1642"/>
                  </a:lnTo>
                  <a:close/>
                  <a:moveTo>
                    <a:pt x="14" y="1670"/>
                  </a:moveTo>
                  <a:lnTo>
                    <a:pt x="14" y="1684"/>
                  </a:lnTo>
                  <a:lnTo>
                    <a:pt x="0" y="1684"/>
                  </a:lnTo>
                  <a:lnTo>
                    <a:pt x="0" y="1670"/>
                  </a:lnTo>
                  <a:lnTo>
                    <a:pt x="14" y="1670"/>
                  </a:lnTo>
                  <a:close/>
                  <a:moveTo>
                    <a:pt x="14" y="1698"/>
                  </a:moveTo>
                  <a:lnTo>
                    <a:pt x="14" y="1712"/>
                  </a:lnTo>
                  <a:lnTo>
                    <a:pt x="0" y="1712"/>
                  </a:lnTo>
                  <a:lnTo>
                    <a:pt x="0" y="1698"/>
                  </a:lnTo>
                  <a:lnTo>
                    <a:pt x="14" y="1698"/>
                  </a:lnTo>
                  <a:close/>
                  <a:moveTo>
                    <a:pt x="14" y="1726"/>
                  </a:moveTo>
                  <a:lnTo>
                    <a:pt x="14" y="1740"/>
                  </a:lnTo>
                  <a:lnTo>
                    <a:pt x="0" y="1740"/>
                  </a:lnTo>
                  <a:lnTo>
                    <a:pt x="0" y="1726"/>
                  </a:lnTo>
                  <a:lnTo>
                    <a:pt x="14" y="1726"/>
                  </a:lnTo>
                  <a:close/>
                  <a:moveTo>
                    <a:pt x="14" y="1754"/>
                  </a:moveTo>
                  <a:lnTo>
                    <a:pt x="14" y="1768"/>
                  </a:lnTo>
                  <a:lnTo>
                    <a:pt x="0" y="1768"/>
                  </a:lnTo>
                  <a:lnTo>
                    <a:pt x="0" y="1754"/>
                  </a:lnTo>
                  <a:lnTo>
                    <a:pt x="14" y="1754"/>
                  </a:lnTo>
                  <a:close/>
                  <a:moveTo>
                    <a:pt x="14" y="1782"/>
                  </a:moveTo>
                  <a:lnTo>
                    <a:pt x="14" y="1795"/>
                  </a:lnTo>
                  <a:lnTo>
                    <a:pt x="0" y="1795"/>
                  </a:lnTo>
                  <a:lnTo>
                    <a:pt x="0" y="1782"/>
                  </a:lnTo>
                  <a:lnTo>
                    <a:pt x="14" y="1782"/>
                  </a:lnTo>
                  <a:close/>
                  <a:moveTo>
                    <a:pt x="14" y="1809"/>
                  </a:moveTo>
                  <a:lnTo>
                    <a:pt x="14" y="1823"/>
                  </a:lnTo>
                  <a:lnTo>
                    <a:pt x="0" y="1823"/>
                  </a:lnTo>
                  <a:lnTo>
                    <a:pt x="0" y="1809"/>
                  </a:lnTo>
                  <a:lnTo>
                    <a:pt x="14" y="1809"/>
                  </a:lnTo>
                  <a:close/>
                  <a:moveTo>
                    <a:pt x="14" y="1837"/>
                  </a:moveTo>
                  <a:lnTo>
                    <a:pt x="14" y="1851"/>
                  </a:lnTo>
                  <a:lnTo>
                    <a:pt x="0" y="1851"/>
                  </a:lnTo>
                  <a:lnTo>
                    <a:pt x="0" y="1837"/>
                  </a:lnTo>
                  <a:lnTo>
                    <a:pt x="14" y="1837"/>
                  </a:lnTo>
                  <a:close/>
                  <a:moveTo>
                    <a:pt x="14" y="1865"/>
                  </a:moveTo>
                  <a:lnTo>
                    <a:pt x="14" y="1879"/>
                  </a:lnTo>
                  <a:lnTo>
                    <a:pt x="0" y="1879"/>
                  </a:lnTo>
                  <a:lnTo>
                    <a:pt x="0" y="1865"/>
                  </a:lnTo>
                  <a:lnTo>
                    <a:pt x="14" y="1865"/>
                  </a:lnTo>
                  <a:close/>
                  <a:moveTo>
                    <a:pt x="14" y="1893"/>
                  </a:moveTo>
                  <a:lnTo>
                    <a:pt x="14" y="1907"/>
                  </a:lnTo>
                  <a:lnTo>
                    <a:pt x="0" y="1907"/>
                  </a:lnTo>
                  <a:lnTo>
                    <a:pt x="0" y="1893"/>
                  </a:lnTo>
                  <a:lnTo>
                    <a:pt x="14" y="1893"/>
                  </a:lnTo>
                  <a:close/>
                  <a:moveTo>
                    <a:pt x="14" y="1921"/>
                  </a:moveTo>
                  <a:lnTo>
                    <a:pt x="14" y="1935"/>
                  </a:lnTo>
                  <a:lnTo>
                    <a:pt x="0" y="1935"/>
                  </a:lnTo>
                  <a:lnTo>
                    <a:pt x="0" y="1921"/>
                  </a:lnTo>
                  <a:lnTo>
                    <a:pt x="14" y="1921"/>
                  </a:lnTo>
                  <a:close/>
                  <a:moveTo>
                    <a:pt x="14" y="1949"/>
                  </a:moveTo>
                  <a:lnTo>
                    <a:pt x="14" y="1962"/>
                  </a:lnTo>
                  <a:lnTo>
                    <a:pt x="0" y="1962"/>
                  </a:lnTo>
                  <a:lnTo>
                    <a:pt x="0" y="1949"/>
                  </a:lnTo>
                  <a:lnTo>
                    <a:pt x="14" y="1949"/>
                  </a:lnTo>
                  <a:close/>
                  <a:moveTo>
                    <a:pt x="14" y="1976"/>
                  </a:moveTo>
                  <a:lnTo>
                    <a:pt x="14" y="1990"/>
                  </a:lnTo>
                  <a:lnTo>
                    <a:pt x="0" y="1990"/>
                  </a:lnTo>
                  <a:lnTo>
                    <a:pt x="0" y="1976"/>
                  </a:lnTo>
                  <a:lnTo>
                    <a:pt x="14" y="1976"/>
                  </a:lnTo>
                  <a:close/>
                  <a:moveTo>
                    <a:pt x="14" y="2004"/>
                  </a:moveTo>
                  <a:lnTo>
                    <a:pt x="14" y="2018"/>
                  </a:lnTo>
                  <a:lnTo>
                    <a:pt x="0" y="2018"/>
                  </a:lnTo>
                  <a:lnTo>
                    <a:pt x="0" y="2004"/>
                  </a:lnTo>
                  <a:lnTo>
                    <a:pt x="14" y="2004"/>
                  </a:lnTo>
                  <a:close/>
                  <a:moveTo>
                    <a:pt x="14" y="2032"/>
                  </a:moveTo>
                  <a:lnTo>
                    <a:pt x="14" y="2046"/>
                  </a:lnTo>
                  <a:lnTo>
                    <a:pt x="0" y="2046"/>
                  </a:lnTo>
                  <a:lnTo>
                    <a:pt x="0" y="2032"/>
                  </a:lnTo>
                  <a:lnTo>
                    <a:pt x="14" y="2032"/>
                  </a:lnTo>
                  <a:close/>
                  <a:moveTo>
                    <a:pt x="14" y="2060"/>
                  </a:moveTo>
                  <a:lnTo>
                    <a:pt x="14" y="2074"/>
                  </a:lnTo>
                  <a:lnTo>
                    <a:pt x="0" y="2074"/>
                  </a:lnTo>
                  <a:lnTo>
                    <a:pt x="0" y="2060"/>
                  </a:lnTo>
                  <a:lnTo>
                    <a:pt x="14" y="2060"/>
                  </a:lnTo>
                  <a:close/>
                  <a:moveTo>
                    <a:pt x="14" y="2087"/>
                  </a:moveTo>
                  <a:lnTo>
                    <a:pt x="14" y="2102"/>
                  </a:lnTo>
                  <a:lnTo>
                    <a:pt x="0" y="2102"/>
                  </a:lnTo>
                  <a:lnTo>
                    <a:pt x="0" y="2087"/>
                  </a:lnTo>
                  <a:lnTo>
                    <a:pt x="14" y="2087"/>
                  </a:lnTo>
                  <a:close/>
                  <a:moveTo>
                    <a:pt x="14" y="2116"/>
                  </a:moveTo>
                  <a:lnTo>
                    <a:pt x="14" y="2129"/>
                  </a:lnTo>
                  <a:lnTo>
                    <a:pt x="0" y="2129"/>
                  </a:lnTo>
                  <a:lnTo>
                    <a:pt x="0" y="2116"/>
                  </a:lnTo>
                  <a:lnTo>
                    <a:pt x="14" y="2116"/>
                  </a:lnTo>
                  <a:close/>
                  <a:moveTo>
                    <a:pt x="14" y="2143"/>
                  </a:moveTo>
                  <a:lnTo>
                    <a:pt x="14" y="2157"/>
                  </a:lnTo>
                  <a:lnTo>
                    <a:pt x="0" y="2157"/>
                  </a:lnTo>
                  <a:lnTo>
                    <a:pt x="0" y="2143"/>
                  </a:lnTo>
                  <a:lnTo>
                    <a:pt x="14" y="2143"/>
                  </a:lnTo>
                  <a:close/>
                  <a:moveTo>
                    <a:pt x="14" y="2171"/>
                  </a:moveTo>
                  <a:lnTo>
                    <a:pt x="14" y="2185"/>
                  </a:lnTo>
                  <a:lnTo>
                    <a:pt x="0" y="2185"/>
                  </a:lnTo>
                  <a:lnTo>
                    <a:pt x="0" y="2171"/>
                  </a:lnTo>
                  <a:lnTo>
                    <a:pt x="14" y="2171"/>
                  </a:lnTo>
                  <a:close/>
                  <a:moveTo>
                    <a:pt x="14" y="2199"/>
                  </a:moveTo>
                  <a:lnTo>
                    <a:pt x="14" y="2213"/>
                  </a:lnTo>
                  <a:lnTo>
                    <a:pt x="0" y="2213"/>
                  </a:lnTo>
                  <a:lnTo>
                    <a:pt x="0" y="2199"/>
                  </a:lnTo>
                  <a:lnTo>
                    <a:pt x="14" y="2199"/>
                  </a:lnTo>
                  <a:close/>
                  <a:moveTo>
                    <a:pt x="14" y="2227"/>
                  </a:moveTo>
                  <a:lnTo>
                    <a:pt x="14" y="2241"/>
                  </a:lnTo>
                  <a:lnTo>
                    <a:pt x="0" y="2241"/>
                  </a:lnTo>
                  <a:lnTo>
                    <a:pt x="0" y="2227"/>
                  </a:lnTo>
                  <a:lnTo>
                    <a:pt x="14" y="2227"/>
                  </a:lnTo>
                  <a:close/>
                  <a:moveTo>
                    <a:pt x="14" y="2254"/>
                  </a:moveTo>
                  <a:lnTo>
                    <a:pt x="14" y="2268"/>
                  </a:lnTo>
                  <a:lnTo>
                    <a:pt x="0" y="2268"/>
                  </a:lnTo>
                  <a:lnTo>
                    <a:pt x="0" y="2254"/>
                  </a:lnTo>
                  <a:lnTo>
                    <a:pt x="14" y="2254"/>
                  </a:lnTo>
                  <a:close/>
                  <a:moveTo>
                    <a:pt x="14" y="2283"/>
                  </a:moveTo>
                  <a:lnTo>
                    <a:pt x="14" y="2296"/>
                  </a:lnTo>
                  <a:lnTo>
                    <a:pt x="0" y="2296"/>
                  </a:lnTo>
                  <a:lnTo>
                    <a:pt x="0" y="2283"/>
                  </a:lnTo>
                  <a:lnTo>
                    <a:pt x="14" y="2283"/>
                  </a:lnTo>
                  <a:close/>
                  <a:moveTo>
                    <a:pt x="14" y="2310"/>
                  </a:moveTo>
                  <a:lnTo>
                    <a:pt x="14" y="2324"/>
                  </a:lnTo>
                  <a:lnTo>
                    <a:pt x="0" y="2324"/>
                  </a:lnTo>
                  <a:lnTo>
                    <a:pt x="0" y="2310"/>
                  </a:lnTo>
                  <a:lnTo>
                    <a:pt x="14" y="2310"/>
                  </a:lnTo>
                  <a:close/>
                  <a:moveTo>
                    <a:pt x="14" y="2338"/>
                  </a:moveTo>
                  <a:lnTo>
                    <a:pt x="14" y="2352"/>
                  </a:lnTo>
                  <a:lnTo>
                    <a:pt x="0" y="2352"/>
                  </a:lnTo>
                  <a:lnTo>
                    <a:pt x="0" y="2338"/>
                  </a:lnTo>
                  <a:lnTo>
                    <a:pt x="14" y="2338"/>
                  </a:lnTo>
                  <a:close/>
                  <a:moveTo>
                    <a:pt x="14" y="2366"/>
                  </a:moveTo>
                  <a:lnTo>
                    <a:pt x="14" y="2380"/>
                  </a:lnTo>
                  <a:lnTo>
                    <a:pt x="0" y="2380"/>
                  </a:lnTo>
                  <a:lnTo>
                    <a:pt x="0" y="2366"/>
                  </a:lnTo>
                  <a:lnTo>
                    <a:pt x="14" y="2366"/>
                  </a:lnTo>
                  <a:close/>
                  <a:moveTo>
                    <a:pt x="14" y="2394"/>
                  </a:moveTo>
                  <a:lnTo>
                    <a:pt x="14" y="2408"/>
                  </a:lnTo>
                  <a:lnTo>
                    <a:pt x="0" y="2408"/>
                  </a:lnTo>
                  <a:lnTo>
                    <a:pt x="0" y="2394"/>
                  </a:lnTo>
                  <a:lnTo>
                    <a:pt x="14" y="2394"/>
                  </a:lnTo>
                  <a:close/>
                  <a:moveTo>
                    <a:pt x="14" y="2421"/>
                  </a:moveTo>
                  <a:lnTo>
                    <a:pt x="14" y="2435"/>
                  </a:lnTo>
                  <a:lnTo>
                    <a:pt x="0" y="2435"/>
                  </a:lnTo>
                  <a:lnTo>
                    <a:pt x="0" y="2421"/>
                  </a:lnTo>
                  <a:lnTo>
                    <a:pt x="14" y="2421"/>
                  </a:lnTo>
                  <a:close/>
                  <a:moveTo>
                    <a:pt x="14" y="2449"/>
                  </a:moveTo>
                  <a:lnTo>
                    <a:pt x="14" y="2453"/>
                  </a:lnTo>
                  <a:lnTo>
                    <a:pt x="0" y="2453"/>
                  </a:lnTo>
                  <a:lnTo>
                    <a:pt x="0" y="2449"/>
                  </a:lnTo>
                  <a:lnTo>
                    <a:pt x="14" y="2449"/>
                  </a:lnTo>
                  <a:close/>
                </a:path>
              </a:pathLst>
            </a:custGeom>
            <a:solidFill>
              <a:srgbClr val="000000"/>
            </a:solidFill>
            <a:ln w="0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188" name="Freeform 39">
              <a:extLst>
                <a:ext uri="{FF2B5EF4-FFF2-40B4-BE49-F238E27FC236}">
                  <a16:creationId xmlns:a16="http://schemas.microsoft.com/office/drawing/2014/main" id="{1A95D825-493C-9ECE-0538-97A76ECB359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6099" y="3292719"/>
              <a:ext cx="285623" cy="633537"/>
            </a:xfrm>
            <a:custGeom>
              <a:avLst/>
              <a:gdLst>
                <a:gd name="T0" fmla="*/ 0 w 188"/>
                <a:gd name="T1" fmla="*/ 278 h 417"/>
                <a:gd name="T2" fmla="*/ 63 w 188"/>
                <a:gd name="T3" fmla="*/ 209 h 417"/>
                <a:gd name="T4" fmla="*/ 0 w 188"/>
                <a:gd name="T5" fmla="*/ 139 h 417"/>
                <a:gd name="T6" fmla="*/ 0 w 188"/>
                <a:gd name="T7" fmla="*/ 0 h 417"/>
                <a:gd name="T8" fmla="*/ 188 w 188"/>
                <a:gd name="T9" fmla="*/ 139 h 417"/>
                <a:gd name="T10" fmla="*/ 188 w 188"/>
                <a:gd name="T11" fmla="*/ 278 h 417"/>
                <a:gd name="T12" fmla="*/ 0 w 188"/>
                <a:gd name="T13" fmla="*/ 417 h 417"/>
                <a:gd name="T14" fmla="*/ 0 w 188"/>
                <a:gd name="T15" fmla="*/ 278 h 4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88" h="417">
                  <a:moveTo>
                    <a:pt x="0" y="278"/>
                  </a:moveTo>
                  <a:lnTo>
                    <a:pt x="63" y="209"/>
                  </a:lnTo>
                  <a:lnTo>
                    <a:pt x="0" y="139"/>
                  </a:lnTo>
                  <a:lnTo>
                    <a:pt x="0" y="0"/>
                  </a:lnTo>
                  <a:lnTo>
                    <a:pt x="188" y="139"/>
                  </a:lnTo>
                  <a:lnTo>
                    <a:pt x="188" y="278"/>
                  </a:lnTo>
                  <a:lnTo>
                    <a:pt x="0" y="417"/>
                  </a:lnTo>
                  <a:lnTo>
                    <a:pt x="0" y="278"/>
                  </a:lnTo>
                </a:path>
              </a:pathLst>
            </a:custGeom>
            <a:noFill/>
            <a:ln w="222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189" name="Rectangle 40">
              <a:extLst>
                <a:ext uri="{FF2B5EF4-FFF2-40B4-BE49-F238E27FC236}">
                  <a16:creationId xmlns:a16="http://schemas.microsoft.com/office/drawing/2014/main" id="{09D996D4-CDD0-0677-1407-5EC807D57B69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3302652" y="3501006"/>
              <a:ext cx="635054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1400" u="none" strike="noStrike" cap="none" normalizeH="0" baseline="0" dirty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  <a:ea typeface="SimHei" panose="02010609060101010101" pitchFamily="49" charset="-122"/>
                </a:rPr>
                <a:t>ALU</a:t>
              </a:r>
              <a:endParaRPr kumimoji="0" lang="zh-CN" altLang="zh-CN" sz="140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endParaRPr>
            </a:p>
          </p:txBody>
        </p:sp>
        <p:sp>
          <p:nvSpPr>
            <p:cNvPr id="190" name="Rectangle 41">
              <a:extLst>
                <a:ext uri="{FF2B5EF4-FFF2-40B4-BE49-F238E27FC236}">
                  <a16:creationId xmlns:a16="http://schemas.microsoft.com/office/drawing/2014/main" id="{E84CAAF0-EC70-CA02-13A9-E0BB1E6B0E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14850" y="3500858"/>
              <a:ext cx="198772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1400" u="none" strike="noStrike" cap="none" normalizeH="0" baseline="0" dirty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  <a:ea typeface="SimHei" panose="02010609060101010101" pitchFamily="49" charset="-122"/>
                </a:rPr>
                <a:t>IM</a:t>
              </a:r>
              <a:endParaRPr kumimoji="0" lang="zh-CN" altLang="zh-CN" sz="180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endParaRPr>
            </a:p>
          </p:txBody>
        </p:sp>
        <p:sp>
          <p:nvSpPr>
            <p:cNvPr id="191" name="Freeform 42">
              <a:extLst>
                <a:ext uri="{FF2B5EF4-FFF2-40B4-BE49-F238E27FC236}">
                  <a16:creationId xmlns:a16="http://schemas.microsoft.com/office/drawing/2014/main" id="{F8406DE5-FFA4-2E4D-B99F-FD730BC2B8E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7795" y="3420338"/>
              <a:ext cx="226719" cy="379818"/>
            </a:xfrm>
            <a:custGeom>
              <a:avLst/>
              <a:gdLst>
                <a:gd name="T0" fmla="*/ 155 w 155"/>
                <a:gd name="T1" fmla="*/ 0 h 250"/>
                <a:gd name="T2" fmla="*/ 0 w 155"/>
                <a:gd name="T3" fmla="*/ 0 h 250"/>
                <a:gd name="T4" fmla="*/ 0 w 155"/>
                <a:gd name="T5" fmla="*/ 250 h 250"/>
                <a:gd name="T6" fmla="*/ 155 w 155"/>
                <a:gd name="T7" fmla="*/ 250 h 2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55" h="250">
                  <a:moveTo>
                    <a:pt x="155" y="0"/>
                  </a:moveTo>
                  <a:lnTo>
                    <a:pt x="0" y="0"/>
                  </a:lnTo>
                  <a:lnTo>
                    <a:pt x="0" y="250"/>
                  </a:lnTo>
                  <a:lnTo>
                    <a:pt x="155" y="250"/>
                  </a:lnTo>
                </a:path>
              </a:pathLst>
            </a:custGeom>
            <a:noFill/>
            <a:ln w="222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192" name="Freeform 43">
              <a:extLst>
                <a:ext uri="{FF2B5EF4-FFF2-40B4-BE49-F238E27FC236}">
                  <a16:creationId xmlns:a16="http://schemas.microsoft.com/office/drawing/2014/main" id="{0D86858D-5974-7686-3CA3-00D1D0CF376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6033" y="3420338"/>
              <a:ext cx="227891" cy="379818"/>
            </a:xfrm>
            <a:custGeom>
              <a:avLst/>
              <a:gdLst>
                <a:gd name="T0" fmla="*/ 0 w 150"/>
                <a:gd name="T1" fmla="*/ 0 h 250"/>
                <a:gd name="T2" fmla="*/ 150 w 150"/>
                <a:gd name="T3" fmla="*/ 0 h 250"/>
                <a:gd name="T4" fmla="*/ 150 w 150"/>
                <a:gd name="T5" fmla="*/ 250 h 250"/>
                <a:gd name="T6" fmla="*/ 0 w 150"/>
                <a:gd name="T7" fmla="*/ 250 h 2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50" h="250">
                  <a:moveTo>
                    <a:pt x="0" y="0"/>
                  </a:moveTo>
                  <a:lnTo>
                    <a:pt x="150" y="0"/>
                  </a:lnTo>
                  <a:lnTo>
                    <a:pt x="150" y="250"/>
                  </a:lnTo>
                  <a:lnTo>
                    <a:pt x="0" y="250"/>
                  </a:lnTo>
                </a:path>
              </a:pathLst>
            </a:custGeom>
            <a:noFill/>
            <a:ln w="222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193" name="Rectangle 44">
              <a:extLst>
                <a:ext uri="{FF2B5EF4-FFF2-40B4-BE49-F238E27FC236}">
                  <a16:creationId xmlns:a16="http://schemas.microsoft.com/office/drawing/2014/main" id="{B602029E-4370-9B89-6A4E-EF907F353A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51020" y="3492351"/>
              <a:ext cx="328616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1400" u="none" strike="noStrike" cap="none" normalizeH="0" baseline="0" dirty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  <a:ea typeface="SimHei" panose="02010609060101010101" pitchFamily="49" charset="-122"/>
                </a:rPr>
                <a:t>Reg</a:t>
              </a:r>
              <a:endParaRPr kumimoji="0" lang="zh-CN" altLang="zh-CN" sz="180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endParaRPr>
            </a:p>
          </p:txBody>
        </p:sp>
        <p:sp>
          <p:nvSpPr>
            <p:cNvPr id="194" name="Freeform 45">
              <a:extLst>
                <a:ext uri="{FF2B5EF4-FFF2-40B4-BE49-F238E27FC236}">
                  <a16:creationId xmlns:a16="http://schemas.microsoft.com/office/drawing/2014/main" id="{146DDD0D-7789-553A-DA64-777F4579B4B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8005" y="3420338"/>
              <a:ext cx="203582" cy="379818"/>
            </a:xfrm>
            <a:custGeom>
              <a:avLst/>
              <a:gdLst>
                <a:gd name="T0" fmla="*/ 134 w 134"/>
                <a:gd name="T1" fmla="*/ 0 h 250"/>
                <a:gd name="T2" fmla="*/ 0 w 134"/>
                <a:gd name="T3" fmla="*/ 0 h 250"/>
                <a:gd name="T4" fmla="*/ 0 w 134"/>
                <a:gd name="T5" fmla="*/ 250 h 250"/>
                <a:gd name="T6" fmla="*/ 134 w 134"/>
                <a:gd name="T7" fmla="*/ 250 h 2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4" h="250">
                  <a:moveTo>
                    <a:pt x="134" y="0"/>
                  </a:moveTo>
                  <a:lnTo>
                    <a:pt x="0" y="0"/>
                  </a:lnTo>
                  <a:lnTo>
                    <a:pt x="0" y="250"/>
                  </a:lnTo>
                  <a:lnTo>
                    <a:pt x="134" y="250"/>
                  </a:lnTo>
                </a:path>
              </a:pathLst>
            </a:custGeom>
            <a:noFill/>
            <a:ln w="222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195" name="Freeform 46">
              <a:extLst>
                <a:ext uri="{FF2B5EF4-FFF2-40B4-BE49-F238E27FC236}">
                  <a16:creationId xmlns:a16="http://schemas.microsoft.com/office/drawing/2014/main" id="{2D408766-E61A-E280-C597-5B4BF2EE563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3107" y="3420338"/>
              <a:ext cx="194467" cy="379818"/>
            </a:xfrm>
            <a:custGeom>
              <a:avLst/>
              <a:gdLst>
                <a:gd name="T0" fmla="*/ 0 w 128"/>
                <a:gd name="T1" fmla="*/ 0 h 250"/>
                <a:gd name="T2" fmla="*/ 128 w 128"/>
                <a:gd name="T3" fmla="*/ 0 h 250"/>
                <a:gd name="T4" fmla="*/ 128 w 128"/>
                <a:gd name="T5" fmla="*/ 250 h 250"/>
                <a:gd name="T6" fmla="*/ 0 w 128"/>
                <a:gd name="T7" fmla="*/ 250 h 2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8" h="250">
                  <a:moveTo>
                    <a:pt x="0" y="0"/>
                  </a:moveTo>
                  <a:lnTo>
                    <a:pt x="128" y="0"/>
                  </a:lnTo>
                  <a:lnTo>
                    <a:pt x="128" y="250"/>
                  </a:lnTo>
                  <a:lnTo>
                    <a:pt x="0" y="250"/>
                  </a:lnTo>
                </a:path>
              </a:pathLst>
            </a:custGeom>
            <a:noFill/>
            <a:ln w="222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196" name="Line 47">
              <a:extLst>
                <a:ext uri="{FF2B5EF4-FFF2-40B4-BE49-F238E27FC236}">
                  <a16:creationId xmlns:a16="http://schemas.microsoft.com/office/drawing/2014/main" id="{5EDEFAD5-E083-07C1-A227-4DB3B3F92D8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653040" y="3610246"/>
              <a:ext cx="154966" cy="0"/>
            </a:xfrm>
            <a:prstGeom prst="line">
              <a:avLst/>
            </a:prstGeom>
            <a:noFill/>
            <a:ln w="22225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197" name="Freeform 48">
              <a:extLst>
                <a:ext uri="{FF2B5EF4-FFF2-40B4-BE49-F238E27FC236}">
                  <a16:creationId xmlns:a16="http://schemas.microsoft.com/office/drawing/2014/main" id="{FA8240C8-C6B1-3CBE-706E-BA8118DC8CB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2677" y="3482627"/>
              <a:ext cx="65329" cy="126100"/>
            </a:xfrm>
            <a:custGeom>
              <a:avLst/>
              <a:gdLst>
                <a:gd name="T0" fmla="*/ 0 w 43"/>
                <a:gd name="T1" fmla="*/ 83 h 83"/>
                <a:gd name="T2" fmla="*/ 0 w 43"/>
                <a:gd name="T3" fmla="*/ 0 h 83"/>
                <a:gd name="T4" fmla="*/ 43 w 43"/>
                <a:gd name="T5" fmla="*/ 0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3" h="83">
                  <a:moveTo>
                    <a:pt x="0" y="83"/>
                  </a:moveTo>
                  <a:lnTo>
                    <a:pt x="0" y="0"/>
                  </a:lnTo>
                  <a:lnTo>
                    <a:pt x="43" y="0"/>
                  </a:lnTo>
                </a:path>
              </a:pathLst>
            </a:custGeom>
            <a:noFill/>
            <a:ln w="222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198" name="Line 49">
              <a:extLst>
                <a:ext uri="{FF2B5EF4-FFF2-40B4-BE49-F238E27FC236}">
                  <a16:creationId xmlns:a16="http://schemas.microsoft.com/office/drawing/2014/main" id="{E92F3AC7-6E52-4E53-00FB-9642491CCAD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16690" y="3482627"/>
              <a:ext cx="212698" cy="0"/>
            </a:xfrm>
            <a:prstGeom prst="line">
              <a:avLst/>
            </a:prstGeom>
            <a:noFill/>
            <a:ln w="22225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199" name="Rectangle 50">
              <a:extLst>
                <a:ext uri="{FF2B5EF4-FFF2-40B4-BE49-F238E27FC236}">
                  <a16:creationId xmlns:a16="http://schemas.microsoft.com/office/drawing/2014/main" id="{D384C07D-31B3-6087-8F01-03EE71AC85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54159" y="3500858"/>
              <a:ext cx="278923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1400" u="none" strike="noStrike" cap="none" normalizeH="0" baseline="0" dirty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  <a:ea typeface="SimHei" panose="02010609060101010101" pitchFamily="49" charset="-122"/>
                </a:rPr>
                <a:t>DM</a:t>
              </a:r>
              <a:endParaRPr kumimoji="0" lang="zh-CN" altLang="zh-CN" sz="180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endParaRPr>
            </a:p>
          </p:txBody>
        </p:sp>
        <p:sp>
          <p:nvSpPr>
            <p:cNvPr id="200" name="Freeform 51">
              <a:extLst>
                <a:ext uri="{FF2B5EF4-FFF2-40B4-BE49-F238E27FC236}">
                  <a16:creationId xmlns:a16="http://schemas.microsoft.com/office/drawing/2014/main" id="{BD80F27B-7EEC-E118-106B-473E83A247B3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8729" y="3420338"/>
              <a:ext cx="220295" cy="379818"/>
            </a:xfrm>
            <a:custGeom>
              <a:avLst/>
              <a:gdLst>
                <a:gd name="T0" fmla="*/ 145 w 145"/>
                <a:gd name="T1" fmla="*/ 0 h 250"/>
                <a:gd name="T2" fmla="*/ 0 w 145"/>
                <a:gd name="T3" fmla="*/ 0 h 250"/>
                <a:gd name="T4" fmla="*/ 0 w 145"/>
                <a:gd name="T5" fmla="*/ 250 h 250"/>
                <a:gd name="T6" fmla="*/ 145 w 145"/>
                <a:gd name="T7" fmla="*/ 250 h 2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45" h="250">
                  <a:moveTo>
                    <a:pt x="145" y="0"/>
                  </a:moveTo>
                  <a:lnTo>
                    <a:pt x="0" y="0"/>
                  </a:lnTo>
                  <a:lnTo>
                    <a:pt x="0" y="250"/>
                  </a:lnTo>
                  <a:lnTo>
                    <a:pt x="145" y="250"/>
                  </a:lnTo>
                </a:path>
              </a:pathLst>
            </a:custGeom>
            <a:noFill/>
            <a:ln w="222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201" name="Freeform 52">
              <a:extLst>
                <a:ext uri="{FF2B5EF4-FFF2-40B4-BE49-F238E27FC236}">
                  <a16:creationId xmlns:a16="http://schemas.microsoft.com/office/drawing/2014/main" id="{935DA2D1-ED32-C735-A2EF-CCF575D010EC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1427" y="3420338"/>
              <a:ext cx="227891" cy="379818"/>
            </a:xfrm>
            <a:custGeom>
              <a:avLst/>
              <a:gdLst>
                <a:gd name="T0" fmla="*/ 0 w 150"/>
                <a:gd name="T1" fmla="*/ 0 h 250"/>
                <a:gd name="T2" fmla="*/ 150 w 150"/>
                <a:gd name="T3" fmla="*/ 0 h 250"/>
                <a:gd name="T4" fmla="*/ 150 w 150"/>
                <a:gd name="T5" fmla="*/ 250 h 250"/>
                <a:gd name="T6" fmla="*/ 0 w 150"/>
                <a:gd name="T7" fmla="*/ 250 h 2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50" h="250">
                  <a:moveTo>
                    <a:pt x="0" y="0"/>
                  </a:moveTo>
                  <a:lnTo>
                    <a:pt x="150" y="0"/>
                  </a:lnTo>
                  <a:lnTo>
                    <a:pt x="150" y="250"/>
                  </a:lnTo>
                  <a:lnTo>
                    <a:pt x="0" y="250"/>
                  </a:lnTo>
                </a:path>
              </a:pathLst>
            </a:custGeom>
            <a:noFill/>
            <a:ln w="222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202" name="Rectangle 53">
              <a:extLst>
                <a:ext uri="{FF2B5EF4-FFF2-40B4-BE49-F238E27FC236}">
                  <a16:creationId xmlns:a16="http://schemas.microsoft.com/office/drawing/2014/main" id="{CD77FFC4-9810-FAC3-BE05-D0CEB58256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39725" y="3493566"/>
              <a:ext cx="328616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1400" u="none" strike="noStrike" cap="none" normalizeH="0" baseline="0" dirty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  <a:ea typeface="SimHei" panose="02010609060101010101" pitchFamily="49" charset="-122"/>
                </a:rPr>
                <a:t>Reg</a:t>
              </a:r>
              <a:endParaRPr kumimoji="0" lang="zh-CN" altLang="zh-CN" sz="180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endParaRPr>
            </a:p>
          </p:txBody>
        </p:sp>
        <p:sp>
          <p:nvSpPr>
            <p:cNvPr id="203" name="Freeform 54">
              <a:extLst>
                <a:ext uri="{FF2B5EF4-FFF2-40B4-BE49-F238E27FC236}">
                  <a16:creationId xmlns:a16="http://schemas.microsoft.com/office/drawing/2014/main" id="{0B0D5992-8F8F-61AF-7F81-6D0AC51455A8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6823" y="3420338"/>
              <a:ext cx="186871" cy="379818"/>
            </a:xfrm>
            <a:custGeom>
              <a:avLst/>
              <a:gdLst>
                <a:gd name="T0" fmla="*/ 123 w 123"/>
                <a:gd name="T1" fmla="*/ 0 h 250"/>
                <a:gd name="T2" fmla="*/ 0 w 123"/>
                <a:gd name="T3" fmla="*/ 0 h 250"/>
                <a:gd name="T4" fmla="*/ 0 w 123"/>
                <a:gd name="T5" fmla="*/ 250 h 250"/>
                <a:gd name="T6" fmla="*/ 123 w 123"/>
                <a:gd name="T7" fmla="*/ 250 h 2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3" h="250">
                  <a:moveTo>
                    <a:pt x="123" y="0"/>
                  </a:moveTo>
                  <a:lnTo>
                    <a:pt x="0" y="0"/>
                  </a:lnTo>
                  <a:lnTo>
                    <a:pt x="0" y="250"/>
                  </a:lnTo>
                  <a:lnTo>
                    <a:pt x="123" y="250"/>
                  </a:lnTo>
                </a:path>
              </a:pathLst>
            </a:custGeom>
            <a:noFill/>
            <a:ln w="222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204" name="Freeform 55">
              <a:extLst>
                <a:ext uri="{FF2B5EF4-FFF2-40B4-BE49-F238E27FC236}">
                  <a16:creationId xmlns:a16="http://schemas.microsoft.com/office/drawing/2014/main" id="{14B67406-721A-8530-4ED9-5F881D247CD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5212" y="3420338"/>
              <a:ext cx="194467" cy="379818"/>
            </a:xfrm>
            <a:custGeom>
              <a:avLst/>
              <a:gdLst>
                <a:gd name="T0" fmla="*/ 0 w 128"/>
                <a:gd name="T1" fmla="*/ 0 h 250"/>
                <a:gd name="T2" fmla="*/ 128 w 128"/>
                <a:gd name="T3" fmla="*/ 0 h 250"/>
                <a:gd name="T4" fmla="*/ 128 w 128"/>
                <a:gd name="T5" fmla="*/ 250 h 250"/>
                <a:gd name="T6" fmla="*/ 0 w 128"/>
                <a:gd name="T7" fmla="*/ 250 h 2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8" h="250">
                  <a:moveTo>
                    <a:pt x="0" y="0"/>
                  </a:moveTo>
                  <a:lnTo>
                    <a:pt x="128" y="0"/>
                  </a:lnTo>
                  <a:lnTo>
                    <a:pt x="128" y="250"/>
                  </a:lnTo>
                  <a:lnTo>
                    <a:pt x="0" y="250"/>
                  </a:lnTo>
                </a:path>
              </a:pathLst>
            </a:custGeom>
            <a:noFill/>
            <a:ln w="222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205" name="Line 56">
              <a:extLst>
                <a:ext uri="{FF2B5EF4-FFF2-40B4-BE49-F238E27FC236}">
                  <a16:creationId xmlns:a16="http://schemas.microsoft.com/office/drawing/2014/main" id="{767348A9-2D0B-61A0-B724-583FAF99E07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403240" y="3610246"/>
              <a:ext cx="186871" cy="0"/>
            </a:xfrm>
            <a:prstGeom prst="line">
              <a:avLst/>
            </a:prstGeom>
            <a:noFill/>
            <a:ln w="22225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206" name="Line 57">
              <a:extLst>
                <a:ext uri="{FF2B5EF4-FFF2-40B4-BE49-F238E27FC236}">
                  <a16:creationId xmlns:a16="http://schemas.microsoft.com/office/drawing/2014/main" id="{BD9C18EF-5060-39DC-4DE8-A50C5CEF27F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40838" y="3610246"/>
              <a:ext cx="212698" cy="0"/>
            </a:xfrm>
            <a:prstGeom prst="line">
              <a:avLst/>
            </a:prstGeom>
            <a:noFill/>
            <a:ln w="22225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207" name="Line 58">
              <a:extLst>
                <a:ext uri="{FF2B5EF4-FFF2-40B4-BE49-F238E27FC236}">
                  <a16:creationId xmlns:a16="http://schemas.microsoft.com/office/drawing/2014/main" id="{3EDDA518-A54C-BC5B-2FFD-35E67E55F37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16690" y="3736346"/>
              <a:ext cx="212698" cy="0"/>
            </a:xfrm>
            <a:prstGeom prst="line">
              <a:avLst/>
            </a:prstGeom>
            <a:noFill/>
            <a:ln w="22225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208" name="Line 59">
              <a:extLst>
                <a:ext uri="{FF2B5EF4-FFF2-40B4-BE49-F238E27FC236}">
                  <a16:creationId xmlns:a16="http://schemas.microsoft.com/office/drawing/2014/main" id="{3302775F-3E43-8344-51ED-6200BEBB2E7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32154" y="3736346"/>
              <a:ext cx="0" cy="253719"/>
            </a:xfrm>
            <a:prstGeom prst="line">
              <a:avLst/>
            </a:prstGeom>
            <a:noFill/>
            <a:ln w="254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209" name="Line 60">
              <a:extLst>
                <a:ext uri="{FF2B5EF4-FFF2-40B4-BE49-F238E27FC236}">
                  <a16:creationId xmlns:a16="http://schemas.microsoft.com/office/drawing/2014/main" id="{954C3E03-CCEF-6DE1-F175-D8B0F52D7C2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32154" y="3990064"/>
              <a:ext cx="457301" cy="0"/>
            </a:xfrm>
            <a:prstGeom prst="line">
              <a:avLst/>
            </a:prstGeom>
            <a:noFill/>
            <a:ln w="254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210" name="Line 61">
              <a:extLst>
                <a:ext uri="{FF2B5EF4-FFF2-40B4-BE49-F238E27FC236}">
                  <a16:creationId xmlns:a16="http://schemas.microsoft.com/office/drawing/2014/main" id="{870668FA-4F6C-F6BE-8273-73BB7CD98D8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89455" y="3610246"/>
              <a:ext cx="0" cy="379818"/>
            </a:xfrm>
            <a:prstGeom prst="line">
              <a:avLst/>
            </a:prstGeom>
            <a:noFill/>
            <a:ln w="254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211" name="Line 62">
              <a:extLst>
                <a:ext uri="{FF2B5EF4-FFF2-40B4-BE49-F238E27FC236}">
                  <a16:creationId xmlns:a16="http://schemas.microsoft.com/office/drawing/2014/main" id="{0FC04EC0-3161-4444-2507-0D86F2A53CF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903400" y="3610246"/>
              <a:ext cx="0" cy="317528"/>
            </a:xfrm>
            <a:prstGeom prst="line">
              <a:avLst/>
            </a:prstGeom>
            <a:noFill/>
            <a:ln w="254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212" name="Line 63">
              <a:extLst>
                <a:ext uri="{FF2B5EF4-FFF2-40B4-BE49-F238E27FC236}">
                  <a16:creationId xmlns:a16="http://schemas.microsoft.com/office/drawing/2014/main" id="{2209FBF0-8AF2-C033-77E4-4FFBD2E4596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903400" y="3927774"/>
              <a:ext cx="589477" cy="0"/>
            </a:xfrm>
            <a:prstGeom prst="line">
              <a:avLst/>
            </a:prstGeom>
            <a:noFill/>
            <a:ln w="254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213" name="Line 64">
              <a:extLst>
                <a:ext uri="{FF2B5EF4-FFF2-40B4-BE49-F238E27FC236}">
                  <a16:creationId xmlns:a16="http://schemas.microsoft.com/office/drawing/2014/main" id="{17DFFF93-140C-CD1C-8203-EEF2BDD8E33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492878" y="3610246"/>
              <a:ext cx="0" cy="317528"/>
            </a:xfrm>
            <a:prstGeom prst="line">
              <a:avLst/>
            </a:prstGeom>
            <a:noFill/>
            <a:ln w="254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214" name="Freeform 65">
              <a:extLst>
                <a:ext uri="{FF2B5EF4-FFF2-40B4-BE49-F238E27FC236}">
                  <a16:creationId xmlns:a16="http://schemas.microsoft.com/office/drawing/2014/main" id="{9BADA3C3-B8AC-7F59-584D-17B2433559F6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4058" y="3990064"/>
              <a:ext cx="285623" cy="633537"/>
            </a:xfrm>
            <a:custGeom>
              <a:avLst/>
              <a:gdLst>
                <a:gd name="T0" fmla="*/ 0 w 188"/>
                <a:gd name="T1" fmla="*/ 278 h 417"/>
                <a:gd name="T2" fmla="*/ 63 w 188"/>
                <a:gd name="T3" fmla="*/ 209 h 417"/>
                <a:gd name="T4" fmla="*/ 0 w 188"/>
                <a:gd name="T5" fmla="*/ 139 h 417"/>
                <a:gd name="T6" fmla="*/ 0 w 188"/>
                <a:gd name="T7" fmla="*/ 0 h 417"/>
                <a:gd name="T8" fmla="*/ 188 w 188"/>
                <a:gd name="T9" fmla="*/ 139 h 417"/>
                <a:gd name="T10" fmla="*/ 188 w 188"/>
                <a:gd name="T11" fmla="*/ 278 h 417"/>
                <a:gd name="T12" fmla="*/ 0 w 188"/>
                <a:gd name="T13" fmla="*/ 417 h 417"/>
                <a:gd name="T14" fmla="*/ 0 w 188"/>
                <a:gd name="T15" fmla="*/ 278 h 4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88" h="417">
                  <a:moveTo>
                    <a:pt x="0" y="278"/>
                  </a:moveTo>
                  <a:lnTo>
                    <a:pt x="63" y="209"/>
                  </a:lnTo>
                  <a:lnTo>
                    <a:pt x="0" y="139"/>
                  </a:lnTo>
                  <a:lnTo>
                    <a:pt x="0" y="0"/>
                  </a:lnTo>
                  <a:lnTo>
                    <a:pt x="188" y="139"/>
                  </a:lnTo>
                  <a:lnTo>
                    <a:pt x="188" y="278"/>
                  </a:lnTo>
                  <a:lnTo>
                    <a:pt x="0" y="417"/>
                  </a:lnTo>
                  <a:lnTo>
                    <a:pt x="0" y="278"/>
                  </a:lnTo>
                </a:path>
              </a:pathLst>
            </a:custGeom>
            <a:noFill/>
            <a:ln w="222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215" name="Rectangle 66">
              <a:extLst>
                <a:ext uri="{FF2B5EF4-FFF2-40B4-BE49-F238E27FC236}">
                  <a16:creationId xmlns:a16="http://schemas.microsoft.com/office/drawing/2014/main" id="{A75A5203-D708-2586-878A-7E604028EB57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3892129" y="4198352"/>
              <a:ext cx="635054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1400" u="none" strike="noStrike" cap="none" normalizeH="0" baseline="0" dirty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  <a:ea typeface="SimHei" panose="02010609060101010101" pitchFamily="49" charset="-122"/>
                </a:rPr>
                <a:t>ALU</a:t>
              </a:r>
              <a:endParaRPr kumimoji="0" lang="zh-CN" altLang="zh-CN" sz="140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endParaRPr>
            </a:p>
          </p:txBody>
        </p:sp>
        <p:sp>
          <p:nvSpPr>
            <p:cNvPr id="216" name="Rectangle 67">
              <a:extLst>
                <a:ext uri="{FF2B5EF4-FFF2-40B4-BE49-F238E27FC236}">
                  <a16:creationId xmlns:a16="http://schemas.microsoft.com/office/drawing/2014/main" id="{1BA6DD6A-F7F9-6FFF-EAF8-D2038919FD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02808" y="4198204"/>
              <a:ext cx="198772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1400" u="none" strike="noStrike" cap="none" normalizeH="0" baseline="0" dirty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  <a:ea typeface="SimHei" panose="02010609060101010101" pitchFamily="49" charset="-122"/>
                </a:rPr>
                <a:t>IM</a:t>
              </a:r>
              <a:endParaRPr kumimoji="0" lang="zh-CN" altLang="zh-CN" sz="180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endParaRPr>
            </a:p>
          </p:txBody>
        </p:sp>
        <p:sp>
          <p:nvSpPr>
            <p:cNvPr id="217" name="Freeform 68">
              <a:extLst>
                <a:ext uri="{FF2B5EF4-FFF2-40B4-BE49-F238E27FC236}">
                  <a16:creationId xmlns:a16="http://schemas.microsoft.com/office/drawing/2014/main" id="{4E5F9CC1-AE41-A364-5C41-CB59646C1E9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3299" y="4117683"/>
              <a:ext cx="230692" cy="379818"/>
            </a:xfrm>
            <a:custGeom>
              <a:avLst/>
              <a:gdLst>
                <a:gd name="T0" fmla="*/ 156 w 156"/>
                <a:gd name="T1" fmla="*/ 0 h 250"/>
                <a:gd name="T2" fmla="*/ 0 w 156"/>
                <a:gd name="T3" fmla="*/ 0 h 250"/>
                <a:gd name="T4" fmla="*/ 0 w 156"/>
                <a:gd name="T5" fmla="*/ 250 h 250"/>
                <a:gd name="T6" fmla="*/ 156 w 156"/>
                <a:gd name="T7" fmla="*/ 250 h 2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56" h="250">
                  <a:moveTo>
                    <a:pt x="156" y="0"/>
                  </a:moveTo>
                  <a:lnTo>
                    <a:pt x="0" y="0"/>
                  </a:lnTo>
                  <a:lnTo>
                    <a:pt x="0" y="250"/>
                  </a:lnTo>
                  <a:lnTo>
                    <a:pt x="156" y="250"/>
                  </a:lnTo>
                </a:path>
              </a:pathLst>
            </a:custGeom>
            <a:noFill/>
            <a:ln w="222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218" name="Freeform 69">
              <a:extLst>
                <a:ext uri="{FF2B5EF4-FFF2-40B4-BE49-F238E27FC236}">
                  <a16:creationId xmlns:a16="http://schemas.microsoft.com/office/drawing/2014/main" id="{B8BA8513-BCCB-B436-BD99-DD8AB63148F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3992" y="4117683"/>
              <a:ext cx="227891" cy="379818"/>
            </a:xfrm>
            <a:custGeom>
              <a:avLst/>
              <a:gdLst>
                <a:gd name="T0" fmla="*/ 0 w 150"/>
                <a:gd name="T1" fmla="*/ 0 h 250"/>
                <a:gd name="T2" fmla="*/ 150 w 150"/>
                <a:gd name="T3" fmla="*/ 0 h 250"/>
                <a:gd name="T4" fmla="*/ 150 w 150"/>
                <a:gd name="T5" fmla="*/ 250 h 250"/>
                <a:gd name="T6" fmla="*/ 0 w 150"/>
                <a:gd name="T7" fmla="*/ 250 h 2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50" h="250">
                  <a:moveTo>
                    <a:pt x="0" y="0"/>
                  </a:moveTo>
                  <a:lnTo>
                    <a:pt x="150" y="0"/>
                  </a:lnTo>
                  <a:lnTo>
                    <a:pt x="150" y="250"/>
                  </a:lnTo>
                  <a:lnTo>
                    <a:pt x="0" y="250"/>
                  </a:lnTo>
                </a:path>
              </a:pathLst>
            </a:custGeom>
            <a:noFill/>
            <a:ln w="222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219" name="Rectangle 70">
              <a:extLst>
                <a:ext uri="{FF2B5EF4-FFF2-40B4-BE49-F238E27FC236}">
                  <a16:creationId xmlns:a16="http://schemas.microsoft.com/office/drawing/2014/main" id="{BBEBA94C-8482-A7F2-D2FB-7E86EA4F1D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38978" y="4188177"/>
              <a:ext cx="328616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1400" u="none" strike="noStrike" cap="none" normalizeH="0" baseline="0" dirty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  <a:ea typeface="SimHei" panose="02010609060101010101" pitchFamily="49" charset="-122"/>
                </a:rPr>
                <a:t>Reg</a:t>
              </a:r>
              <a:endParaRPr kumimoji="0" lang="zh-CN" altLang="zh-CN" sz="180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endParaRPr>
            </a:p>
          </p:txBody>
        </p:sp>
        <p:sp>
          <p:nvSpPr>
            <p:cNvPr id="220" name="Freeform 71">
              <a:extLst>
                <a:ext uri="{FF2B5EF4-FFF2-40B4-BE49-F238E27FC236}">
                  <a16:creationId xmlns:a16="http://schemas.microsoft.com/office/drawing/2014/main" id="{FA8846A5-DC5A-A992-052C-62EB5C89194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7483" y="4117683"/>
              <a:ext cx="203582" cy="379818"/>
            </a:xfrm>
            <a:custGeom>
              <a:avLst/>
              <a:gdLst>
                <a:gd name="T0" fmla="*/ 134 w 134"/>
                <a:gd name="T1" fmla="*/ 0 h 250"/>
                <a:gd name="T2" fmla="*/ 0 w 134"/>
                <a:gd name="T3" fmla="*/ 0 h 250"/>
                <a:gd name="T4" fmla="*/ 0 w 134"/>
                <a:gd name="T5" fmla="*/ 250 h 250"/>
                <a:gd name="T6" fmla="*/ 134 w 134"/>
                <a:gd name="T7" fmla="*/ 250 h 2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4" h="250">
                  <a:moveTo>
                    <a:pt x="134" y="0"/>
                  </a:moveTo>
                  <a:lnTo>
                    <a:pt x="0" y="0"/>
                  </a:lnTo>
                  <a:lnTo>
                    <a:pt x="0" y="250"/>
                  </a:lnTo>
                  <a:lnTo>
                    <a:pt x="134" y="250"/>
                  </a:lnTo>
                </a:path>
              </a:pathLst>
            </a:custGeom>
            <a:noFill/>
            <a:ln w="222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221" name="Freeform 72">
              <a:extLst>
                <a:ext uri="{FF2B5EF4-FFF2-40B4-BE49-F238E27FC236}">
                  <a16:creationId xmlns:a16="http://schemas.microsoft.com/office/drawing/2014/main" id="{DECD800F-994A-7395-04AA-6B0C2EBBCC2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1065" y="4117683"/>
              <a:ext cx="195986" cy="379818"/>
            </a:xfrm>
            <a:custGeom>
              <a:avLst/>
              <a:gdLst>
                <a:gd name="T0" fmla="*/ 0 w 129"/>
                <a:gd name="T1" fmla="*/ 0 h 250"/>
                <a:gd name="T2" fmla="*/ 129 w 129"/>
                <a:gd name="T3" fmla="*/ 0 h 250"/>
                <a:gd name="T4" fmla="*/ 129 w 129"/>
                <a:gd name="T5" fmla="*/ 250 h 250"/>
                <a:gd name="T6" fmla="*/ 0 w 129"/>
                <a:gd name="T7" fmla="*/ 250 h 2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9" h="250">
                  <a:moveTo>
                    <a:pt x="0" y="0"/>
                  </a:moveTo>
                  <a:lnTo>
                    <a:pt x="129" y="0"/>
                  </a:lnTo>
                  <a:lnTo>
                    <a:pt x="129" y="250"/>
                  </a:lnTo>
                  <a:lnTo>
                    <a:pt x="0" y="250"/>
                  </a:lnTo>
                </a:path>
              </a:pathLst>
            </a:custGeom>
            <a:noFill/>
            <a:ln w="222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222" name="Line 73">
              <a:extLst>
                <a:ext uri="{FF2B5EF4-FFF2-40B4-BE49-F238E27FC236}">
                  <a16:creationId xmlns:a16="http://schemas.microsoft.com/office/drawing/2014/main" id="{B21E63A3-8E43-7EF0-8A4E-687B545977F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40998" y="4307592"/>
              <a:ext cx="156485" cy="0"/>
            </a:xfrm>
            <a:prstGeom prst="line">
              <a:avLst/>
            </a:prstGeom>
            <a:noFill/>
            <a:ln w="22225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223" name="Freeform 74">
              <a:extLst>
                <a:ext uri="{FF2B5EF4-FFF2-40B4-BE49-F238E27FC236}">
                  <a16:creationId xmlns:a16="http://schemas.microsoft.com/office/drawing/2014/main" id="{E63E451D-B4FF-C781-8E48-ABD6E607C24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2154" y="4181492"/>
              <a:ext cx="63809" cy="124580"/>
            </a:xfrm>
            <a:custGeom>
              <a:avLst/>
              <a:gdLst>
                <a:gd name="T0" fmla="*/ 0 w 42"/>
                <a:gd name="T1" fmla="*/ 82 h 82"/>
                <a:gd name="T2" fmla="*/ 0 w 42"/>
                <a:gd name="T3" fmla="*/ 0 h 82"/>
                <a:gd name="T4" fmla="*/ 42 w 42"/>
                <a:gd name="T5" fmla="*/ 0 h 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2" h="82">
                  <a:moveTo>
                    <a:pt x="0" y="82"/>
                  </a:moveTo>
                  <a:lnTo>
                    <a:pt x="0" y="0"/>
                  </a:lnTo>
                  <a:lnTo>
                    <a:pt x="42" y="0"/>
                  </a:lnTo>
                </a:path>
              </a:pathLst>
            </a:custGeom>
            <a:noFill/>
            <a:ln w="222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224" name="Line 75">
              <a:extLst>
                <a:ext uri="{FF2B5EF4-FFF2-40B4-BE49-F238E27FC236}">
                  <a16:creationId xmlns:a16="http://schemas.microsoft.com/office/drawing/2014/main" id="{827AD620-9AAC-1E38-3403-863DF2DD474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06167" y="4181492"/>
              <a:ext cx="212698" cy="0"/>
            </a:xfrm>
            <a:prstGeom prst="line">
              <a:avLst/>
            </a:prstGeom>
            <a:noFill/>
            <a:ln w="22225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225" name="Rectangle 76">
              <a:extLst>
                <a:ext uri="{FF2B5EF4-FFF2-40B4-BE49-F238E27FC236}">
                  <a16:creationId xmlns:a16="http://schemas.microsoft.com/office/drawing/2014/main" id="{BF72513C-8574-FD7B-D8A8-20BD2C48AE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43637" y="4198204"/>
              <a:ext cx="278923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1400" u="none" strike="noStrike" cap="none" normalizeH="0" baseline="0" dirty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  <a:ea typeface="SimHei" panose="02010609060101010101" pitchFamily="49" charset="-122"/>
                </a:rPr>
                <a:t>DM</a:t>
              </a:r>
              <a:endParaRPr kumimoji="0" lang="zh-CN" altLang="zh-CN" sz="180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endParaRPr>
            </a:p>
          </p:txBody>
        </p:sp>
        <p:sp>
          <p:nvSpPr>
            <p:cNvPr id="226" name="Freeform 77">
              <a:extLst>
                <a:ext uri="{FF2B5EF4-FFF2-40B4-BE49-F238E27FC236}">
                  <a16:creationId xmlns:a16="http://schemas.microsoft.com/office/drawing/2014/main" id="{E58379E6-F2C6-7E50-A0A1-E67C5D3B7E3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8206" y="4117683"/>
              <a:ext cx="220295" cy="379818"/>
            </a:xfrm>
            <a:custGeom>
              <a:avLst/>
              <a:gdLst>
                <a:gd name="T0" fmla="*/ 145 w 145"/>
                <a:gd name="T1" fmla="*/ 0 h 250"/>
                <a:gd name="T2" fmla="*/ 0 w 145"/>
                <a:gd name="T3" fmla="*/ 0 h 250"/>
                <a:gd name="T4" fmla="*/ 0 w 145"/>
                <a:gd name="T5" fmla="*/ 250 h 250"/>
                <a:gd name="T6" fmla="*/ 145 w 145"/>
                <a:gd name="T7" fmla="*/ 250 h 2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45" h="250">
                  <a:moveTo>
                    <a:pt x="145" y="0"/>
                  </a:moveTo>
                  <a:lnTo>
                    <a:pt x="0" y="0"/>
                  </a:lnTo>
                  <a:lnTo>
                    <a:pt x="0" y="250"/>
                  </a:lnTo>
                  <a:lnTo>
                    <a:pt x="145" y="250"/>
                  </a:lnTo>
                </a:path>
              </a:pathLst>
            </a:custGeom>
            <a:noFill/>
            <a:ln w="222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227" name="Freeform 78">
              <a:extLst>
                <a:ext uri="{FF2B5EF4-FFF2-40B4-BE49-F238E27FC236}">
                  <a16:creationId xmlns:a16="http://schemas.microsoft.com/office/drawing/2014/main" id="{91F8BCA9-9AC0-7270-AA7E-EA9DA8F8D756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0904" y="4117683"/>
              <a:ext cx="227891" cy="379818"/>
            </a:xfrm>
            <a:custGeom>
              <a:avLst/>
              <a:gdLst>
                <a:gd name="T0" fmla="*/ 0 w 150"/>
                <a:gd name="T1" fmla="*/ 0 h 250"/>
                <a:gd name="T2" fmla="*/ 150 w 150"/>
                <a:gd name="T3" fmla="*/ 0 h 250"/>
                <a:gd name="T4" fmla="*/ 150 w 150"/>
                <a:gd name="T5" fmla="*/ 250 h 250"/>
                <a:gd name="T6" fmla="*/ 0 w 150"/>
                <a:gd name="T7" fmla="*/ 250 h 2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50" h="250">
                  <a:moveTo>
                    <a:pt x="0" y="0"/>
                  </a:moveTo>
                  <a:lnTo>
                    <a:pt x="150" y="0"/>
                  </a:lnTo>
                  <a:lnTo>
                    <a:pt x="150" y="250"/>
                  </a:lnTo>
                  <a:lnTo>
                    <a:pt x="0" y="250"/>
                  </a:lnTo>
                </a:path>
              </a:pathLst>
            </a:custGeom>
            <a:noFill/>
            <a:ln w="222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228" name="Rectangle 79">
              <a:extLst>
                <a:ext uri="{FF2B5EF4-FFF2-40B4-BE49-F238E27FC236}">
                  <a16:creationId xmlns:a16="http://schemas.microsoft.com/office/drawing/2014/main" id="{22227B97-D394-BD0B-B5E0-EEDAE4BD33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29202" y="4190912"/>
              <a:ext cx="328616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1400" u="none" strike="noStrike" cap="none" normalizeH="0" baseline="0" dirty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  <a:ea typeface="SimHei" panose="02010609060101010101" pitchFamily="49" charset="-122"/>
                </a:rPr>
                <a:t>Reg</a:t>
              </a:r>
              <a:endParaRPr kumimoji="0" lang="zh-CN" altLang="zh-CN" sz="180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endParaRPr>
            </a:p>
          </p:txBody>
        </p:sp>
        <p:sp>
          <p:nvSpPr>
            <p:cNvPr id="229" name="Freeform 80">
              <a:extLst>
                <a:ext uri="{FF2B5EF4-FFF2-40B4-BE49-F238E27FC236}">
                  <a16:creationId xmlns:a16="http://schemas.microsoft.com/office/drawing/2014/main" id="{740FA5B7-F54E-385F-A3D5-B1E8995D0331}"/>
                </a:ext>
              </a:extLst>
            </p:cNvPr>
            <p:cNvSpPr>
              <a:spLocks/>
            </p:cNvSpPr>
            <p:nvPr/>
          </p:nvSpPr>
          <p:spPr bwMode="auto">
            <a:xfrm>
              <a:off x="5196300" y="4117683"/>
              <a:ext cx="186871" cy="379818"/>
            </a:xfrm>
            <a:custGeom>
              <a:avLst/>
              <a:gdLst>
                <a:gd name="T0" fmla="*/ 123 w 123"/>
                <a:gd name="T1" fmla="*/ 0 h 250"/>
                <a:gd name="T2" fmla="*/ 0 w 123"/>
                <a:gd name="T3" fmla="*/ 0 h 250"/>
                <a:gd name="T4" fmla="*/ 0 w 123"/>
                <a:gd name="T5" fmla="*/ 250 h 250"/>
                <a:gd name="T6" fmla="*/ 123 w 123"/>
                <a:gd name="T7" fmla="*/ 250 h 2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3" h="250">
                  <a:moveTo>
                    <a:pt x="123" y="0"/>
                  </a:moveTo>
                  <a:lnTo>
                    <a:pt x="0" y="0"/>
                  </a:lnTo>
                  <a:lnTo>
                    <a:pt x="0" y="250"/>
                  </a:lnTo>
                  <a:lnTo>
                    <a:pt x="123" y="250"/>
                  </a:lnTo>
                </a:path>
              </a:pathLst>
            </a:custGeom>
            <a:noFill/>
            <a:ln w="222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230" name="Freeform 81">
              <a:extLst>
                <a:ext uri="{FF2B5EF4-FFF2-40B4-BE49-F238E27FC236}">
                  <a16:creationId xmlns:a16="http://schemas.microsoft.com/office/drawing/2014/main" id="{05E5E69E-4848-43A4-6958-B66A62C8D35C}"/>
                </a:ext>
              </a:extLst>
            </p:cNvPr>
            <p:cNvSpPr>
              <a:spLocks/>
            </p:cNvSpPr>
            <p:nvPr/>
          </p:nvSpPr>
          <p:spPr bwMode="auto">
            <a:xfrm>
              <a:off x="5383171" y="4117683"/>
              <a:ext cx="195986" cy="379818"/>
            </a:xfrm>
            <a:custGeom>
              <a:avLst/>
              <a:gdLst>
                <a:gd name="T0" fmla="*/ 0 w 129"/>
                <a:gd name="T1" fmla="*/ 0 h 250"/>
                <a:gd name="T2" fmla="*/ 129 w 129"/>
                <a:gd name="T3" fmla="*/ 0 h 250"/>
                <a:gd name="T4" fmla="*/ 129 w 129"/>
                <a:gd name="T5" fmla="*/ 250 h 250"/>
                <a:gd name="T6" fmla="*/ 0 w 129"/>
                <a:gd name="T7" fmla="*/ 250 h 2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9" h="250">
                  <a:moveTo>
                    <a:pt x="0" y="0"/>
                  </a:moveTo>
                  <a:lnTo>
                    <a:pt x="129" y="0"/>
                  </a:lnTo>
                  <a:lnTo>
                    <a:pt x="129" y="250"/>
                  </a:lnTo>
                  <a:lnTo>
                    <a:pt x="0" y="250"/>
                  </a:lnTo>
                </a:path>
              </a:pathLst>
            </a:custGeom>
            <a:noFill/>
            <a:ln w="222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231" name="Line 82">
              <a:extLst>
                <a:ext uri="{FF2B5EF4-FFF2-40B4-BE49-F238E27FC236}">
                  <a16:creationId xmlns:a16="http://schemas.microsoft.com/office/drawing/2014/main" id="{69BB6EBE-7C02-BD20-1236-BE63CB86B08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991199" y="4307592"/>
              <a:ext cx="188390" cy="0"/>
            </a:xfrm>
            <a:prstGeom prst="line">
              <a:avLst/>
            </a:prstGeom>
            <a:noFill/>
            <a:ln w="22225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232" name="Line 83">
              <a:extLst>
                <a:ext uri="{FF2B5EF4-FFF2-40B4-BE49-F238E27FC236}">
                  <a16:creationId xmlns:a16="http://schemas.microsoft.com/office/drawing/2014/main" id="{A22D8F28-999A-D9A7-8958-0DC85E146C5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28796" y="4307592"/>
              <a:ext cx="212698" cy="0"/>
            </a:xfrm>
            <a:prstGeom prst="line">
              <a:avLst/>
            </a:prstGeom>
            <a:noFill/>
            <a:ln w="22225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233" name="Line 84">
              <a:extLst>
                <a:ext uri="{FF2B5EF4-FFF2-40B4-BE49-F238E27FC236}">
                  <a16:creationId xmlns:a16="http://schemas.microsoft.com/office/drawing/2014/main" id="{F29FCA5F-5011-1D87-4241-F7BC5098873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06167" y="4435211"/>
              <a:ext cx="212698" cy="0"/>
            </a:xfrm>
            <a:prstGeom prst="line">
              <a:avLst/>
            </a:prstGeom>
            <a:noFill/>
            <a:ln w="22225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234" name="Line 85">
              <a:extLst>
                <a:ext uri="{FF2B5EF4-FFF2-40B4-BE49-F238E27FC236}">
                  <a16:creationId xmlns:a16="http://schemas.microsoft.com/office/drawing/2014/main" id="{C11BEECC-CA19-60FD-3978-309988C34C4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920112" y="4435211"/>
              <a:ext cx="0" cy="253719"/>
            </a:xfrm>
            <a:prstGeom prst="line">
              <a:avLst/>
            </a:prstGeom>
            <a:noFill/>
            <a:ln w="254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235" name="Line 86">
              <a:extLst>
                <a:ext uri="{FF2B5EF4-FFF2-40B4-BE49-F238E27FC236}">
                  <a16:creationId xmlns:a16="http://schemas.microsoft.com/office/drawing/2014/main" id="{85007085-7278-9C09-B3F0-BC96CD05126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920112" y="4688929"/>
              <a:ext cx="458820" cy="0"/>
            </a:xfrm>
            <a:prstGeom prst="line">
              <a:avLst/>
            </a:prstGeom>
            <a:noFill/>
            <a:ln w="254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236" name="Line 87">
              <a:extLst>
                <a:ext uri="{FF2B5EF4-FFF2-40B4-BE49-F238E27FC236}">
                  <a16:creationId xmlns:a16="http://schemas.microsoft.com/office/drawing/2014/main" id="{EAE0AA8C-2FDD-F9A0-B4F4-D3D9435F26C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78932" y="4307592"/>
              <a:ext cx="0" cy="381338"/>
            </a:xfrm>
            <a:prstGeom prst="line">
              <a:avLst/>
            </a:prstGeom>
            <a:noFill/>
            <a:ln w="254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237" name="Line 88">
              <a:extLst>
                <a:ext uri="{FF2B5EF4-FFF2-40B4-BE49-F238E27FC236}">
                  <a16:creationId xmlns:a16="http://schemas.microsoft.com/office/drawing/2014/main" id="{86C458BF-AC1F-573D-408A-5BD504AEC54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492878" y="4307592"/>
              <a:ext cx="0" cy="317528"/>
            </a:xfrm>
            <a:prstGeom prst="line">
              <a:avLst/>
            </a:prstGeom>
            <a:noFill/>
            <a:ln w="254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238" name="Line 89">
              <a:extLst>
                <a:ext uri="{FF2B5EF4-FFF2-40B4-BE49-F238E27FC236}">
                  <a16:creationId xmlns:a16="http://schemas.microsoft.com/office/drawing/2014/main" id="{9B72E52D-FE17-9100-523E-AF5E964FAF9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492878" y="4625119"/>
              <a:ext cx="587958" cy="0"/>
            </a:xfrm>
            <a:prstGeom prst="line">
              <a:avLst/>
            </a:prstGeom>
            <a:noFill/>
            <a:ln w="254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239" name="Line 90">
              <a:extLst>
                <a:ext uri="{FF2B5EF4-FFF2-40B4-BE49-F238E27FC236}">
                  <a16:creationId xmlns:a16="http://schemas.microsoft.com/office/drawing/2014/main" id="{01572B2D-4629-C625-B1D9-EE1CB3285D9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080835" y="4307592"/>
              <a:ext cx="0" cy="317528"/>
            </a:xfrm>
            <a:prstGeom prst="line">
              <a:avLst/>
            </a:prstGeom>
            <a:noFill/>
            <a:ln w="254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240" name="Freeform 91">
              <a:extLst>
                <a:ext uri="{FF2B5EF4-FFF2-40B4-BE49-F238E27FC236}">
                  <a16:creationId xmlns:a16="http://schemas.microsoft.com/office/drawing/2014/main" id="{FFA92B82-1683-C6FD-261A-D49EA61EB970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3535" y="4688929"/>
              <a:ext cx="285623" cy="632017"/>
            </a:xfrm>
            <a:custGeom>
              <a:avLst/>
              <a:gdLst>
                <a:gd name="T0" fmla="*/ 0 w 188"/>
                <a:gd name="T1" fmla="*/ 277 h 416"/>
                <a:gd name="T2" fmla="*/ 63 w 188"/>
                <a:gd name="T3" fmla="*/ 208 h 416"/>
                <a:gd name="T4" fmla="*/ 0 w 188"/>
                <a:gd name="T5" fmla="*/ 139 h 416"/>
                <a:gd name="T6" fmla="*/ 0 w 188"/>
                <a:gd name="T7" fmla="*/ 0 h 416"/>
                <a:gd name="T8" fmla="*/ 188 w 188"/>
                <a:gd name="T9" fmla="*/ 139 h 416"/>
                <a:gd name="T10" fmla="*/ 188 w 188"/>
                <a:gd name="T11" fmla="*/ 277 h 416"/>
                <a:gd name="T12" fmla="*/ 0 w 188"/>
                <a:gd name="T13" fmla="*/ 416 h 416"/>
                <a:gd name="T14" fmla="*/ 0 w 188"/>
                <a:gd name="T15" fmla="*/ 277 h 4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88" h="416">
                  <a:moveTo>
                    <a:pt x="0" y="277"/>
                  </a:moveTo>
                  <a:lnTo>
                    <a:pt x="63" y="208"/>
                  </a:lnTo>
                  <a:lnTo>
                    <a:pt x="0" y="139"/>
                  </a:lnTo>
                  <a:lnTo>
                    <a:pt x="0" y="0"/>
                  </a:lnTo>
                  <a:lnTo>
                    <a:pt x="188" y="139"/>
                  </a:lnTo>
                  <a:lnTo>
                    <a:pt x="188" y="277"/>
                  </a:lnTo>
                  <a:lnTo>
                    <a:pt x="0" y="416"/>
                  </a:lnTo>
                  <a:lnTo>
                    <a:pt x="0" y="277"/>
                  </a:lnTo>
                </a:path>
              </a:pathLst>
            </a:custGeom>
            <a:noFill/>
            <a:ln w="222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241" name="Rectangle 92">
              <a:extLst>
                <a:ext uri="{FF2B5EF4-FFF2-40B4-BE49-F238E27FC236}">
                  <a16:creationId xmlns:a16="http://schemas.microsoft.com/office/drawing/2014/main" id="{DBB4050B-DDBF-AF66-1B3C-3F6EB66425CD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4480088" y="4897217"/>
              <a:ext cx="635054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1400" u="none" strike="noStrike" cap="none" normalizeH="0" baseline="0" dirty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  <a:ea typeface="SimHei" panose="02010609060101010101" pitchFamily="49" charset="-122"/>
                </a:rPr>
                <a:t>ALU</a:t>
              </a:r>
              <a:endParaRPr kumimoji="0" lang="zh-CN" altLang="zh-CN" sz="140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endParaRPr>
            </a:p>
          </p:txBody>
        </p:sp>
        <p:sp>
          <p:nvSpPr>
            <p:cNvPr id="242" name="Rectangle 93">
              <a:extLst>
                <a:ext uri="{FF2B5EF4-FFF2-40B4-BE49-F238E27FC236}">
                  <a16:creationId xmlns:a16="http://schemas.microsoft.com/office/drawing/2014/main" id="{3593AB86-5EFC-98E3-6493-741BB40186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92285" y="4895549"/>
              <a:ext cx="198772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1400" u="none" strike="noStrike" cap="none" normalizeH="0" baseline="0" dirty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  <a:ea typeface="SimHei" panose="02010609060101010101" pitchFamily="49" charset="-122"/>
                </a:rPr>
                <a:t>IM</a:t>
              </a:r>
              <a:endParaRPr kumimoji="0" lang="zh-CN" altLang="zh-CN" sz="180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endParaRPr>
            </a:p>
          </p:txBody>
        </p:sp>
        <p:sp>
          <p:nvSpPr>
            <p:cNvPr id="243" name="Freeform 94">
              <a:extLst>
                <a:ext uri="{FF2B5EF4-FFF2-40B4-BE49-F238E27FC236}">
                  <a16:creationId xmlns:a16="http://schemas.microsoft.com/office/drawing/2014/main" id="{6506CDE0-045D-7400-B225-BE414529C7A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8683" y="4815029"/>
              <a:ext cx="233268" cy="379818"/>
            </a:xfrm>
            <a:custGeom>
              <a:avLst/>
              <a:gdLst>
                <a:gd name="T0" fmla="*/ 150 w 150"/>
                <a:gd name="T1" fmla="*/ 0 h 250"/>
                <a:gd name="T2" fmla="*/ 0 w 150"/>
                <a:gd name="T3" fmla="*/ 0 h 250"/>
                <a:gd name="T4" fmla="*/ 0 w 150"/>
                <a:gd name="T5" fmla="*/ 250 h 250"/>
                <a:gd name="T6" fmla="*/ 150 w 150"/>
                <a:gd name="T7" fmla="*/ 250 h 2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50" h="250">
                  <a:moveTo>
                    <a:pt x="150" y="0"/>
                  </a:moveTo>
                  <a:lnTo>
                    <a:pt x="0" y="0"/>
                  </a:lnTo>
                  <a:lnTo>
                    <a:pt x="0" y="250"/>
                  </a:lnTo>
                  <a:lnTo>
                    <a:pt x="150" y="250"/>
                  </a:lnTo>
                </a:path>
              </a:pathLst>
            </a:custGeom>
            <a:noFill/>
            <a:ln w="222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244" name="Freeform 95">
              <a:extLst>
                <a:ext uri="{FF2B5EF4-FFF2-40B4-BE49-F238E27FC236}">
                  <a16:creationId xmlns:a16="http://schemas.microsoft.com/office/drawing/2014/main" id="{98C07929-8D3D-2561-B0BD-B2A1A4CB6FA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3469" y="4815029"/>
              <a:ext cx="227891" cy="379818"/>
            </a:xfrm>
            <a:custGeom>
              <a:avLst/>
              <a:gdLst>
                <a:gd name="T0" fmla="*/ 0 w 150"/>
                <a:gd name="T1" fmla="*/ 0 h 250"/>
                <a:gd name="T2" fmla="*/ 150 w 150"/>
                <a:gd name="T3" fmla="*/ 0 h 250"/>
                <a:gd name="T4" fmla="*/ 150 w 150"/>
                <a:gd name="T5" fmla="*/ 250 h 250"/>
                <a:gd name="T6" fmla="*/ 0 w 150"/>
                <a:gd name="T7" fmla="*/ 250 h 2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50" h="250">
                  <a:moveTo>
                    <a:pt x="0" y="0"/>
                  </a:moveTo>
                  <a:lnTo>
                    <a:pt x="150" y="0"/>
                  </a:lnTo>
                  <a:lnTo>
                    <a:pt x="150" y="250"/>
                  </a:lnTo>
                  <a:lnTo>
                    <a:pt x="0" y="250"/>
                  </a:lnTo>
                </a:path>
              </a:pathLst>
            </a:custGeom>
            <a:noFill/>
            <a:ln w="222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245" name="Rectangle 96">
              <a:extLst>
                <a:ext uri="{FF2B5EF4-FFF2-40B4-BE49-F238E27FC236}">
                  <a16:creationId xmlns:a16="http://schemas.microsoft.com/office/drawing/2014/main" id="{7E48B22C-0A2E-F0D9-C34D-C66FC4A1AE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28455" y="4888561"/>
              <a:ext cx="328616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1400" u="none" strike="noStrike" cap="none" normalizeH="0" baseline="0" dirty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  <a:ea typeface="SimHei" panose="02010609060101010101" pitchFamily="49" charset="-122"/>
                </a:rPr>
                <a:t>Reg</a:t>
              </a:r>
              <a:endParaRPr kumimoji="0" lang="zh-CN" altLang="zh-CN" sz="180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endParaRPr>
            </a:p>
          </p:txBody>
        </p:sp>
        <p:sp>
          <p:nvSpPr>
            <p:cNvPr id="246" name="Freeform 97">
              <a:extLst>
                <a:ext uri="{FF2B5EF4-FFF2-40B4-BE49-F238E27FC236}">
                  <a16:creationId xmlns:a16="http://schemas.microsoft.com/office/drawing/2014/main" id="{4B9CB053-2D2A-ECF8-9A76-04583DC2B9A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5441" y="4815029"/>
              <a:ext cx="203582" cy="379818"/>
            </a:xfrm>
            <a:custGeom>
              <a:avLst/>
              <a:gdLst>
                <a:gd name="T0" fmla="*/ 134 w 134"/>
                <a:gd name="T1" fmla="*/ 0 h 250"/>
                <a:gd name="T2" fmla="*/ 0 w 134"/>
                <a:gd name="T3" fmla="*/ 0 h 250"/>
                <a:gd name="T4" fmla="*/ 0 w 134"/>
                <a:gd name="T5" fmla="*/ 250 h 250"/>
                <a:gd name="T6" fmla="*/ 134 w 134"/>
                <a:gd name="T7" fmla="*/ 250 h 2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4" h="250">
                  <a:moveTo>
                    <a:pt x="134" y="0"/>
                  </a:moveTo>
                  <a:lnTo>
                    <a:pt x="0" y="0"/>
                  </a:lnTo>
                  <a:lnTo>
                    <a:pt x="0" y="250"/>
                  </a:lnTo>
                  <a:lnTo>
                    <a:pt x="134" y="250"/>
                  </a:lnTo>
                </a:path>
              </a:pathLst>
            </a:custGeom>
            <a:noFill/>
            <a:ln w="222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247" name="Freeform 98">
              <a:extLst>
                <a:ext uri="{FF2B5EF4-FFF2-40B4-BE49-F238E27FC236}">
                  <a16:creationId xmlns:a16="http://schemas.microsoft.com/office/drawing/2014/main" id="{D6FF9664-4FF0-614C-472D-6AE6C481430F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0542" y="4815029"/>
              <a:ext cx="203582" cy="379818"/>
            </a:xfrm>
            <a:custGeom>
              <a:avLst/>
              <a:gdLst>
                <a:gd name="T0" fmla="*/ 0 w 134"/>
                <a:gd name="T1" fmla="*/ 0 h 250"/>
                <a:gd name="T2" fmla="*/ 134 w 134"/>
                <a:gd name="T3" fmla="*/ 0 h 250"/>
                <a:gd name="T4" fmla="*/ 134 w 134"/>
                <a:gd name="T5" fmla="*/ 250 h 250"/>
                <a:gd name="T6" fmla="*/ 0 w 134"/>
                <a:gd name="T7" fmla="*/ 250 h 2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4" h="250">
                  <a:moveTo>
                    <a:pt x="0" y="0"/>
                  </a:moveTo>
                  <a:lnTo>
                    <a:pt x="134" y="0"/>
                  </a:lnTo>
                  <a:lnTo>
                    <a:pt x="134" y="250"/>
                  </a:lnTo>
                  <a:lnTo>
                    <a:pt x="0" y="250"/>
                  </a:lnTo>
                </a:path>
              </a:pathLst>
            </a:custGeom>
            <a:noFill/>
            <a:ln w="222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248" name="Line 99">
              <a:extLst>
                <a:ext uri="{FF2B5EF4-FFF2-40B4-BE49-F238E27FC236}">
                  <a16:creationId xmlns:a16="http://schemas.microsoft.com/office/drawing/2014/main" id="{15A0F0E4-D8EB-5A8B-D527-81924813CF8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30475" y="5004937"/>
              <a:ext cx="154966" cy="0"/>
            </a:xfrm>
            <a:prstGeom prst="line">
              <a:avLst/>
            </a:prstGeom>
            <a:noFill/>
            <a:ln w="22225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249" name="Freeform 100">
              <a:extLst>
                <a:ext uri="{FF2B5EF4-FFF2-40B4-BE49-F238E27FC236}">
                  <a16:creationId xmlns:a16="http://schemas.microsoft.com/office/drawing/2014/main" id="{75ACAFC3-DF4C-C24B-9558-316B8F5E918C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0112" y="4878838"/>
              <a:ext cx="65329" cy="126100"/>
            </a:xfrm>
            <a:custGeom>
              <a:avLst/>
              <a:gdLst>
                <a:gd name="T0" fmla="*/ 0 w 43"/>
                <a:gd name="T1" fmla="*/ 83 h 83"/>
                <a:gd name="T2" fmla="*/ 0 w 43"/>
                <a:gd name="T3" fmla="*/ 0 h 83"/>
                <a:gd name="T4" fmla="*/ 43 w 43"/>
                <a:gd name="T5" fmla="*/ 0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3" h="83">
                  <a:moveTo>
                    <a:pt x="0" y="83"/>
                  </a:moveTo>
                  <a:lnTo>
                    <a:pt x="0" y="0"/>
                  </a:lnTo>
                  <a:lnTo>
                    <a:pt x="43" y="0"/>
                  </a:lnTo>
                </a:path>
              </a:pathLst>
            </a:custGeom>
            <a:noFill/>
            <a:ln w="222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250" name="Line 101">
              <a:extLst>
                <a:ext uri="{FF2B5EF4-FFF2-40B4-BE49-F238E27FC236}">
                  <a16:creationId xmlns:a16="http://schemas.microsoft.com/office/drawing/2014/main" id="{2845D4E2-EAF0-CD87-DE92-78F03E51BCD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94125" y="4878838"/>
              <a:ext cx="221814" cy="0"/>
            </a:xfrm>
            <a:prstGeom prst="line">
              <a:avLst/>
            </a:prstGeom>
            <a:noFill/>
            <a:ln w="22225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251" name="Rectangle 102">
              <a:extLst>
                <a:ext uri="{FF2B5EF4-FFF2-40B4-BE49-F238E27FC236}">
                  <a16:creationId xmlns:a16="http://schemas.microsoft.com/office/drawing/2014/main" id="{680C34AE-F7A8-EF38-BC75-A14AECD526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33114" y="4895549"/>
              <a:ext cx="278923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1400" u="none" strike="noStrike" cap="none" normalizeH="0" baseline="0" dirty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  <a:ea typeface="SimHei" panose="02010609060101010101" pitchFamily="49" charset="-122"/>
                </a:rPr>
                <a:t>DM</a:t>
              </a:r>
              <a:endParaRPr kumimoji="0" lang="zh-CN" altLang="zh-CN" sz="180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endParaRPr>
            </a:p>
          </p:txBody>
        </p:sp>
        <p:sp>
          <p:nvSpPr>
            <p:cNvPr id="252" name="Freeform 103">
              <a:extLst>
                <a:ext uri="{FF2B5EF4-FFF2-40B4-BE49-F238E27FC236}">
                  <a16:creationId xmlns:a16="http://schemas.microsoft.com/office/drawing/2014/main" id="{A04C34CA-C148-3A60-26D3-DEB622F77B30}"/>
                </a:ext>
              </a:extLst>
            </p:cNvPr>
            <p:cNvSpPr>
              <a:spLocks/>
            </p:cNvSpPr>
            <p:nvPr/>
          </p:nvSpPr>
          <p:spPr bwMode="auto">
            <a:xfrm>
              <a:off x="5146164" y="4815029"/>
              <a:ext cx="220295" cy="379818"/>
            </a:xfrm>
            <a:custGeom>
              <a:avLst/>
              <a:gdLst>
                <a:gd name="T0" fmla="*/ 145 w 145"/>
                <a:gd name="T1" fmla="*/ 0 h 250"/>
                <a:gd name="T2" fmla="*/ 0 w 145"/>
                <a:gd name="T3" fmla="*/ 0 h 250"/>
                <a:gd name="T4" fmla="*/ 0 w 145"/>
                <a:gd name="T5" fmla="*/ 250 h 250"/>
                <a:gd name="T6" fmla="*/ 145 w 145"/>
                <a:gd name="T7" fmla="*/ 250 h 2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45" h="250">
                  <a:moveTo>
                    <a:pt x="145" y="0"/>
                  </a:moveTo>
                  <a:lnTo>
                    <a:pt x="0" y="0"/>
                  </a:lnTo>
                  <a:lnTo>
                    <a:pt x="0" y="250"/>
                  </a:lnTo>
                  <a:lnTo>
                    <a:pt x="145" y="250"/>
                  </a:lnTo>
                </a:path>
              </a:pathLst>
            </a:custGeom>
            <a:noFill/>
            <a:ln w="222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253" name="Freeform 104">
              <a:extLst>
                <a:ext uri="{FF2B5EF4-FFF2-40B4-BE49-F238E27FC236}">
                  <a16:creationId xmlns:a16="http://schemas.microsoft.com/office/drawing/2014/main" id="{001F4305-9C39-DE11-4726-B98F11270F7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67978" y="4815029"/>
              <a:ext cx="218775" cy="379818"/>
            </a:xfrm>
            <a:custGeom>
              <a:avLst/>
              <a:gdLst>
                <a:gd name="T0" fmla="*/ 0 w 144"/>
                <a:gd name="T1" fmla="*/ 0 h 250"/>
                <a:gd name="T2" fmla="*/ 144 w 144"/>
                <a:gd name="T3" fmla="*/ 0 h 250"/>
                <a:gd name="T4" fmla="*/ 144 w 144"/>
                <a:gd name="T5" fmla="*/ 250 h 250"/>
                <a:gd name="T6" fmla="*/ 0 w 144"/>
                <a:gd name="T7" fmla="*/ 250 h 2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44" h="250">
                  <a:moveTo>
                    <a:pt x="0" y="0"/>
                  </a:moveTo>
                  <a:lnTo>
                    <a:pt x="144" y="0"/>
                  </a:lnTo>
                  <a:lnTo>
                    <a:pt x="144" y="250"/>
                  </a:lnTo>
                  <a:lnTo>
                    <a:pt x="0" y="250"/>
                  </a:lnTo>
                </a:path>
              </a:pathLst>
            </a:custGeom>
            <a:noFill/>
            <a:ln w="222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254" name="Rectangle 105">
              <a:extLst>
                <a:ext uri="{FF2B5EF4-FFF2-40B4-BE49-F238E27FC236}">
                  <a16:creationId xmlns:a16="http://schemas.microsoft.com/office/drawing/2014/main" id="{9C205378-5118-29EF-E7B7-1FA4EDB0A5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817160" y="4888257"/>
              <a:ext cx="328616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1400" u="none" strike="noStrike" cap="none" normalizeH="0" baseline="0" dirty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  <a:ea typeface="SimHei" panose="02010609060101010101" pitchFamily="49" charset="-122"/>
                </a:rPr>
                <a:t>Reg</a:t>
              </a:r>
              <a:endParaRPr kumimoji="0" lang="zh-CN" altLang="zh-CN" sz="180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endParaRPr>
            </a:p>
          </p:txBody>
        </p:sp>
        <p:sp>
          <p:nvSpPr>
            <p:cNvPr id="255" name="Freeform 106">
              <a:extLst>
                <a:ext uri="{FF2B5EF4-FFF2-40B4-BE49-F238E27FC236}">
                  <a16:creationId xmlns:a16="http://schemas.microsoft.com/office/drawing/2014/main" id="{F3BC594B-8CCE-2226-0AA5-2C69139DC75F}"/>
                </a:ext>
              </a:extLst>
            </p:cNvPr>
            <p:cNvSpPr>
              <a:spLocks/>
            </p:cNvSpPr>
            <p:nvPr/>
          </p:nvSpPr>
          <p:spPr bwMode="auto">
            <a:xfrm>
              <a:off x="5784258" y="4815029"/>
              <a:ext cx="186871" cy="379818"/>
            </a:xfrm>
            <a:custGeom>
              <a:avLst/>
              <a:gdLst>
                <a:gd name="T0" fmla="*/ 123 w 123"/>
                <a:gd name="T1" fmla="*/ 0 h 250"/>
                <a:gd name="T2" fmla="*/ 0 w 123"/>
                <a:gd name="T3" fmla="*/ 0 h 250"/>
                <a:gd name="T4" fmla="*/ 0 w 123"/>
                <a:gd name="T5" fmla="*/ 250 h 250"/>
                <a:gd name="T6" fmla="*/ 123 w 123"/>
                <a:gd name="T7" fmla="*/ 250 h 2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3" h="250">
                  <a:moveTo>
                    <a:pt x="123" y="0"/>
                  </a:moveTo>
                  <a:lnTo>
                    <a:pt x="0" y="0"/>
                  </a:lnTo>
                  <a:lnTo>
                    <a:pt x="0" y="250"/>
                  </a:lnTo>
                  <a:lnTo>
                    <a:pt x="123" y="250"/>
                  </a:lnTo>
                </a:path>
              </a:pathLst>
            </a:custGeom>
            <a:noFill/>
            <a:ln w="222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256" name="Freeform 107">
              <a:extLst>
                <a:ext uri="{FF2B5EF4-FFF2-40B4-BE49-F238E27FC236}">
                  <a16:creationId xmlns:a16="http://schemas.microsoft.com/office/drawing/2014/main" id="{A93FE6C7-551F-54EC-099D-FC2C1963F33E}"/>
                </a:ext>
              </a:extLst>
            </p:cNvPr>
            <p:cNvSpPr>
              <a:spLocks/>
            </p:cNvSpPr>
            <p:nvPr/>
          </p:nvSpPr>
          <p:spPr bwMode="auto">
            <a:xfrm>
              <a:off x="5972648" y="4815029"/>
              <a:ext cx="194467" cy="379818"/>
            </a:xfrm>
            <a:custGeom>
              <a:avLst/>
              <a:gdLst>
                <a:gd name="T0" fmla="*/ 0 w 128"/>
                <a:gd name="T1" fmla="*/ 0 h 250"/>
                <a:gd name="T2" fmla="*/ 128 w 128"/>
                <a:gd name="T3" fmla="*/ 0 h 250"/>
                <a:gd name="T4" fmla="*/ 128 w 128"/>
                <a:gd name="T5" fmla="*/ 250 h 250"/>
                <a:gd name="T6" fmla="*/ 0 w 128"/>
                <a:gd name="T7" fmla="*/ 250 h 2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8" h="250">
                  <a:moveTo>
                    <a:pt x="0" y="0"/>
                  </a:moveTo>
                  <a:lnTo>
                    <a:pt x="128" y="0"/>
                  </a:lnTo>
                  <a:lnTo>
                    <a:pt x="128" y="250"/>
                  </a:lnTo>
                  <a:lnTo>
                    <a:pt x="0" y="250"/>
                  </a:lnTo>
                </a:path>
              </a:pathLst>
            </a:custGeom>
            <a:noFill/>
            <a:ln w="222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257" name="Line 108">
              <a:extLst>
                <a:ext uri="{FF2B5EF4-FFF2-40B4-BE49-F238E27FC236}">
                  <a16:creationId xmlns:a16="http://schemas.microsoft.com/office/drawing/2014/main" id="{6D29E56A-805B-6AEB-1098-4B98569F200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580676" y="5004937"/>
              <a:ext cx="186871" cy="0"/>
            </a:xfrm>
            <a:prstGeom prst="line">
              <a:avLst/>
            </a:prstGeom>
            <a:noFill/>
            <a:ln w="22225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258" name="Line 109">
              <a:extLst>
                <a:ext uri="{FF2B5EF4-FFF2-40B4-BE49-F238E27FC236}">
                  <a16:creationId xmlns:a16="http://schemas.microsoft.com/office/drawing/2014/main" id="{16A92EAB-6D21-E831-1E65-58E392CC80B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925870" y="5004937"/>
              <a:ext cx="205102" cy="0"/>
            </a:xfrm>
            <a:prstGeom prst="line">
              <a:avLst/>
            </a:prstGeom>
            <a:noFill/>
            <a:ln w="22225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259" name="Line 110">
              <a:extLst>
                <a:ext uri="{FF2B5EF4-FFF2-40B4-BE49-F238E27FC236}">
                  <a16:creationId xmlns:a16="http://schemas.microsoft.com/office/drawing/2014/main" id="{C7C2580D-A6FC-D204-41D0-8779BC2EAE3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94125" y="5132556"/>
              <a:ext cx="221814" cy="0"/>
            </a:xfrm>
            <a:prstGeom prst="line">
              <a:avLst/>
            </a:prstGeom>
            <a:noFill/>
            <a:ln w="22225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260" name="Line 111">
              <a:extLst>
                <a:ext uri="{FF2B5EF4-FFF2-40B4-BE49-F238E27FC236}">
                  <a16:creationId xmlns:a16="http://schemas.microsoft.com/office/drawing/2014/main" id="{303C4BEE-B9BA-11D5-BE08-3DD887745F2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509589" y="5132556"/>
              <a:ext cx="0" cy="253719"/>
            </a:xfrm>
            <a:prstGeom prst="line">
              <a:avLst/>
            </a:prstGeom>
            <a:noFill/>
            <a:ln w="254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261" name="Line 112">
              <a:extLst>
                <a:ext uri="{FF2B5EF4-FFF2-40B4-BE49-F238E27FC236}">
                  <a16:creationId xmlns:a16="http://schemas.microsoft.com/office/drawing/2014/main" id="{0109D3BC-18EB-7EE3-4286-A8F117085B1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509589" y="5386275"/>
              <a:ext cx="457301" cy="0"/>
            </a:xfrm>
            <a:prstGeom prst="line">
              <a:avLst/>
            </a:prstGeom>
            <a:noFill/>
            <a:ln w="254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262" name="Line 113">
              <a:extLst>
                <a:ext uri="{FF2B5EF4-FFF2-40B4-BE49-F238E27FC236}">
                  <a16:creationId xmlns:a16="http://schemas.microsoft.com/office/drawing/2014/main" id="{DA64A128-2C57-9C11-FF2E-C5BA7AA7BA9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966890" y="5004937"/>
              <a:ext cx="0" cy="381338"/>
            </a:xfrm>
            <a:prstGeom prst="line">
              <a:avLst/>
            </a:prstGeom>
            <a:noFill/>
            <a:ln w="254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263" name="Line 114">
              <a:extLst>
                <a:ext uri="{FF2B5EF4-FFF2-40B4-BE49-F238E27FC236}">
                  <a16:creationId xmlns:a16="http://schemas.microsoft.com/office/drawing/2014/main" id="{971584AC-95D8-C8C6-2C50-731036FCE49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080835" y="5004937"/>
              <a:ext cx="0" cy="317528"/>
            </a:xfrm>
            <a:prstGeom prst="line">
              <a:avLst/>
            </a:prstGeom>
            <a:noFill/>
            <a:ln w="254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264" name="Line 115">
              <a:extLst>
                <a:ext uri="{FF2B5EF4-FFF2-40B4-BE49-F238E27FC236}">
                  <a16:creationId xmlns:a16="http://schemas.microsoft.com/office/drawing/2014/main" id="{36D891D5-6591-8464-DFCB-6BFCAAD6013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080835" y="5322465"/>
              <a:ext cx="589477" cy="0"/>
            </a:xfrm>
            <a:prstGeom prst="line">
              <a:avLst/>
            </a:prstGeom>
            <a:noFill/>
            <a:ln w="254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265" name="Line 116">
              <a:extLst>
                <a:ext uri="{FF2B5EF4-FFF2-40B4-BE49-F238E27FC236}">
                  <a16:creationId xmlns:a16="http://schemas.microsoft.com/office/drawing/2014/main" id="{29C752DD-57E0-245F-F2F8-BA67BE80CA8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670313" y="5004937"/>
              <a:ext cx="0" cy="317528"/>
            </a:xfrm>
            <a:prstGeom prst="line">
              <a:avLst/>
            </a:prstGeom>
            <a:noFill/>
            <a:ln w="254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266" name="Freeform 117">
              <a:extLst>
                <a:ext uri="{FF2B5EF4-FFF2-40B4-BE49-F238E27FC236}">
                  <a16:creationId xmlns:a16="http://schemas.microsoft.com/office/drawing/2014/main" id="{514D22B6-F526-74BB-7B5F-A53F43FE4E29}"/>
                </a:ext>
              </a:extLst>
            </p:cNvPr>
            <p:cNvSpPr>
              <a:spLocks/>
            </p:cNvSpPr>
            <p:nvPr/>
          </p:nvSpPr>
          <p:spPr bwMode="auto">
            <a:xfrm>
              <a:off x="5211493" y="5386275"/>
              <a:ext cx="285623" cy="633537"/>
            </a:xfrm>
            <a:custGeom>
              <a:avLst/>
              <a:gdLst>
                <a:gd name="T0" fmla="*/ 0 w 188"/>
                <a:gd name="T1" fmla="*/ 278 h 417"/>
                <a:gd name="T2" fmla="*/ 63 w 188"/>
                <a:gd name="T3" fmla="*/ 208 h 417"/>
                <a:gd name="T4" fmla="*/ 0 w 188"/>
                <a:gd name="T5" fmla="*/ 139 h 417"/>
                <a:gd name="T6" fmla="*/ 0 w 188"/>
                <a:gd name="T7" fmla="*/ 0 h 417"/>
                <a:gd name="T8" fmla="*/ 188 w 188"/>
                <a:gd name="T9" fmla="*/ 139 h 417"/>
                <a:gd name="T10" fmla="*/ 188 w 188"/>
                <a:gd name="T11" fmla="*/ 278 h 417"/>
                <a:gd name="T12" fmla="*/ 0 w 188"/>
                <a:gd name="T13" fmla="*/ 417 h 417"/>
                <a:gd name="T14" fmla="*/ 0 w 188"/>
                <a:gd name="T15" fmla="*/ 278 h 4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88" h="417">
                  <a:moveTo>
                    <a:pt x="0" y="278"/>
                  </a:moveTo>
                  <a:lnTo>
                    <a:pt x="63" y="208"/>
                  </a:lnTo>
                  <a:lnTo>
                    <a:pt x="0" y="139"/>
                  </a:lnTo>
                  <a:lnTo>
                    <a:pt x="0" y="0"/>
                  </a:lnTo>
                  <a:lnTo>
                    <a:pt x="188" y="139"/>
                  </a:lnTo>
                  <a:lnTo>
                    <a:pt x="188" y="278"/>
                  </a:lnTo>
                  <a:lnTo>
                    <a:pt x="0" y="417"/>
                  </a:lnTo>
                  <a:lnTo>
                    <a:pt x="0" y="278"/>
                  </a:lnTo>
                </a:path>
              </a:pathLst>
            </a:custGeom>
            <a:noFill/>
            <a:ln w="222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267" name="Rectangle 118">
              <a:extLst>
                <a:ext uri="{FF2B5EF4-FFF2-40B4-BE49-F238E27FC236}">
                  <a16:creationId xmlns:a16="http://schemas.microsoft.com/office/drawing/2014/main" id="{6C6FA11A-1100-3AF6-E479-AE56684EAC02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5069565" y="5593043"/>
              <a:ext cx="635054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1400" u="none" strike="noStrike" cap="none" normalizeH="0" baseline="0" dirty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  <a:ea typeface="SimHei" panose="02010609060101010101" pitchFamily="49" charset="-122"/>
                </a:rPr>
                <a:t>ALU</a:t>
              </a:r>
              <a:endParaRPr kumimoji="0" lang="zh-CN" altLang="zh-CN" sz="140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endParaRPr>
            </a:p>
          </p:txBody>
        </p:sp>
        <p:sp>
          <p:nvSpPr>
            <p:cNvPr id="268" name="Rectangle 119">
              <a:extLst>
                <a:ext uri="{FF2B5EF4-FFF2-40B4-BE49-F238E27FC236}">
                  <a16:creationId xmlns:a16="http://schemas.microsoft.com/office/drawing/2014/main" id="{CF3238BC-6F12-AA86-79D5-C4598124D7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81762" y="5591376"/>
              <a:ext cx="198772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1400" u="none" strike="noStrike" cap="none" normalizeH="0" baseline="0" dirty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  <a:ea typeface="SimHei" panose="02010609060101010101" pitchFamily="49" charset="-122"/>
                </a:rPr>
                <a:t>IM</a:t>
              </a:r>
              <a:endParaRPr kumimoji="0" lang="zh-CN" altLang="zh-CN" sz="180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endParaRPr>
            </a:p>
          </p:txBody>
        </p:sp>
        <p:sp>
          <p:nvSpPr>
            <p:cNvPr id="269" name="Freeform 120">
              <a:extLst>
                <a:ext uri="{FF2B5EF4-FFF2-40B4-BE49-F238E27FC236}">
                  <a16:creationId xmlns:a16="http://schemas.microsoft.com/office/drawing/2014/main" id="{D14D075A-8AEC-21B3-3BA9-4DEE83D1D8DC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1602" y="5512374"/>
              <a:ext cx="229824" cy="379818"/>
            </a:xfrm>
            <a:custGeom>
              <a:avLst/>
              <a:gdLst>
                <a:gd name="T0" fmla="*/ 156 w 156"/>
                <a:gd name="T1" fmla="*/ 0 h 250"/>
                <a:gd name="T2" fmla="*/ 0 w 156"/>
                <a:gd name="T3" fmla="*/ 0 h 250"/>
                <a:gd name="T4" fmla="*/ 0 w 156"/>
                <a:gd name="T5" fmla="*/ 250 h 250"/>
                <a:gd name="T6" fmla="*/ 156 w 156"/>
                <a:gd name="T7" fmla="*/ 250 h 2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56" h="250">
                  <a:moveTo>
                    <a:pt x="156" y="0"/>
                  </a:moveTo>
                  <a:lnTo>
                    <a:pt x="0" y="0"/>
                  </a:lnTo>
                  <a:lnTo>
                    <a:pt x="0" y="250"/>
                  </a:lnTo>
                  <a:lnTo>
                    <a:pt x="156" y="250"/>
                  </a:lnTo>
                </a:path>
              </a:pathLst>
            </a:custGeom>
            <a:noFill/>
            <a:ln w="222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270" name="Freeform 121">
              <a:extLst>
                <a:ext uri="{FF2B5EF4-FFF2-40B4-BE49-F238E27FC236}">
                  <a16:creationId xmlns:a16="http://schemas.microsoft.com/office/drawing/2014/main" id="{56FE4C4F-F461-6C7A-2F22-261BF0AF3747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1427" y="5512374"/>
              <a:ext cx="227891" cy="379818"/>
            </a:xfrm>
            <a:custGeom>
              <a:avLst/>
              <a:gdLst>
                <a:gd name="T0" fmla="*/ 0 w 150"/>
                <a:gd name="T1" fmla="*/ 0 h 250"/>
                <a:gd name="T2" fmla="*/ 150 w 150"/>
                <a:gd name="T3" fmla="*/ 0 h 250"/>
                <a:gd name="T4" fmla="*/ 150 w 150"/>
                <a:gd name="T5" fmla="*/ 250 h 250"/>
                <a:gd name="T6" fmla="*/ 0 w 150"/>
                <a:gd name="T7" fmla="*/ 250 h 2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50" h="250">
                  <a:moveTo>
                    <a:pt x="0" y="0"/>
                  </a:moveTo>
                  <a:lnTo>
                    <a:pt x="150" y="0"/>
                  </a:lnTo>
                  <a:lnTo>
                    <a:pt x="150" y="250"/>
                  </a:lnTo>
                  <a:lnTo>
                    <a:pt x="0" y="250"/>
                  </a:lnTo>
                </a:path>
              </a:pathLst>
            </a:custGeom>
            <a:noFill/>
            <a:ln w="222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271" name="Rectangle 122">
              <a:extLst>
                <a:ext uri="{FF2B5EF4-FFF2-40B4-BE49-F238E27FC236}">
                  <a16:creationId xmlns:a16="http://schemas.microsoft.com/office/drawing/2014/main" id="{BFFE1345-4110-886D-3B78-954C30A178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16414" y="5585906"/>
              <a:ext cx="328616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1400" u="none" strike="noStrike" cap="none" normalizeH="0" baseline="0" dirty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  <a:ea typeface="SimHei" panose="02010609060101010101" pitchFamily="49" charset="-122"/>
                </a:rPr>
                <a:t>Reg</a:t>
              </a:r>
              <a:endParaRPr kumimoji="0" lang="zh-CN" altLang="zh-CN" sz="180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endParaRPr>
            </a:p>
          </p:txBody>
        </p:sp>
        <p:sp>
          <p:nvSpPr>
            <p:cNvPr id="272" name="Freeform 123">
              <a:extLst>
                <a:ext uri="{FF2B5EF4-FFF2-40B4-BE49-F238E27FC236}">
                  <a16:creationId xmlns:a16="http://schemas.microsoft.com/office/drawing/2014/main" id="{E4CC0A5A-6252-B3DB-B101-5E450097C4B5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5206" y="5512373"/>
              <a:ext cx="203582" cy="379818"/>
            </a:xfrm>
            <a:custGeom>
              <a:avLst/>
              <a:gdLst>
                <a:gd name="T0" fmla="*/ 134 w 134"/>
                <a:gd name="T1" fmla="*/ 0 h 250"/>
                <a:gd name="T2" fmla="*/ 0 w 134"/>
                <a:gd name="T3" fmla="*/ 0 h 250"/>
                <a:gd name="T4" fmla="*/ 0 w 134"/>
                <a:gd name="T5" fmla="*/ 250 h 250"/>
                <a:gd name="T6" fmla="*/ 134 w 134"/>
                <a:gd name="T7" fmla="*/ 250 h 2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4" h="250">
                  <a:moveTo>
                    <a:pt x="134" y="0"/>
                  </a:moveTo>
                  <a:lnTo>
                    <a:pt x="0" y="0"/>
                  </a:lnTo>
                  <a:lnTo>
                    <a:pt x="0" y="250"/>
                  </a:lnTo>
                  <a:lnTo>
                    <a:pt x="134" y="250"/>
                  </a:lnTo>
                </a:path>
              </a:pathLst>
            </a:custGeom>
            <a:noFill/>
            <a:ln w="222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273" name="Freeform 124">
              <a:extLst>
                <a:ext uri="{FF2B5EF4-FFF2-40B4-BE49-F238E27FC236}">
                  <a16:creationId xmlns:a16="http://schemas.microsoft.com/office/drawing/2014/main" id="{A102CFAA-F9AF-AF84-BA8B-8C3086CEA46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8501" y="5512374"/>
              <a:ext cx="195986" cy="379818"/>
            </a:xfrm>
            <a:custGeom>
              <a:avLst/>
              <a:gdLst>
                <a:gd name="T0" fmla="*/ 0 w 129"/>
                <a:gd name="T1" fmla="*/ 0 h 250"/>
                <a:gd name="T2" fmla="*/ 129 w 129"/>
                <a:gd name="T3" fmla="*/ 0 h 250"/>
                <a:gd name="T4" fmla="*/ 129 w 129"/>
                <a:gd name="T5" fmla="*/ 250 h 250"/>
                <a:gd name="T6" fmla="*/ 0 w 129"/>
                <a:gd name="T7" fmla="*/ 250 h 2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9" h="250">
                  <a:moveTo>
                    <a:pt x="0" y="0"/>
                  </a:moveTo>
                  <a:lnTo>
                    <a:pt x="129" y="0"/>
                  </a:lnTo>
                  <a:lnTo>
                    <a:pt x="129" y="250"/>
                  </a:lnTo>
                  <a:lnTo>
                    <a:pt x="0" y="250"/>
                  </a:lnTo>
                </a:path>
              </a:pathLst>
            </a:custGeom>
            <a:noFill/>
            <a:ln w="222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274" name="Line 125">
              <a:extLst>
                <a:ext uri="{FF2B5EF4-FFF2-40B4-BE49-F238E27FC236}">
                  <a16:creationId xmlns:a16="http://schemas.microsoft.com/office/drawing/2014/main" id="{050D06AC-9E52-DC5B-27C6-EFE8B9455AA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418433" y="5702283"/>
              <a:ext cx="156485" cy="0"/>
            </a:xfrm>
            <a:prstGeom prst="line">
              <a:avLst/>
            </a:prstGeom>
            <a:noFill/>
            <a:ln w="22225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275" name="Freeform 126">
              <a:extLst>
                <a:ext uri="{FF2B5EF4-FFF2-40B4-BE49-F238E27FC236}">
                  <a16:creationId xmlns:a16="http://schemas.microsoft.com/office/drawing/2014/main" id="{8D598953-0D12-D491-EA56-06F5A7EA665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9589" y="5576183"/>
              <a:ext cx="63809" cy="126100"/>
            </a:xfrm>
            <a:custGeom>
              <a:avLst/>
              <a:gdLst>
                <a:gd name="T0" fmla="*/ 0 w 42"/>
                <a:gd name="T1" fmla="*/ 83 h 83"/>
                <a:gd name="T2" fmla="*/ 0 w 42"/>
                <a:gd name="T3" fmla="*/ 0 h 83"/>
                <a:gd name="T4" fmla="*/ 42 w 42"/>
                <a:gd name="T5" fmla="*/ 0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2" h="83">
                  <a:moveTo>
                    <a:pt x="0" y="83"/>
                  </a:moveTo>
                  <a:lnTo>
                    <a:pt x="0" y="0"/>
                  </a:lnTo>
                  <a:lnTo>
                    <a:pt x="42" y="0"/>
                  </a:lnTo>
                </a:path>
              </a:pathLst>
            </a:custGeom>
            <a:noFill/>
            <a:ln w="222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276" name="Line 127">
              <a:extLst>
                <a:ext uri="{FF2B5EF4-FFF2-40B4-BE49-F238E27FC236}">
                  <a16:creationId xmlns:a16="http://schemas.microsoft.com/office/drawing/2014/main" id="{2E5BBA2F-CAD3-EF87-D6A7-CFF9FE09E8B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983602" y="5576183"/>
              <a:ext cx="212698" cy="0"/>
            </a:xfrm>
            <a:prstGeom prst="line">
              <a:avLst/>
            </a:prstGeom>
            <a:noFill/>
            <a:ln w="22225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277" name="Rectangle 128">
              <a:extLst>
                <a:ext uri="{FF2B5EF4-FFF2-40B4-BE49-F238E27FC236}">
                  <a16:creationId xmlns:a16="http://schemas.microsoft.com/office/drawing/2014/main" id="{780D6FC2-BBAF-ADBE-1378-67A25EE991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821072" y="5591376"/>
              <a:ext cx="278923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1400" u="none" strike="noStrike" cap="none" normalizeH="0" baseline="0" dirty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  <a:ea typeface="SimHei" panose="02010609060101010101" pitchFamily="49" charset="-122"/>
                </a:rPr>
                <a:t>DM</a:t>
              </a:r>
              <a:endParaRPr kumimoji="0" lang="zh-CN" altLang="zh-CN" sz="180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endParaRPr>
            </a:p>
          </p:txBody>
        </p:sp>
        <p:sp>
          <p:nvSpPr>
            <p:cNvPr id="278" name="Freeform 129">
              <a:extLst>
                <a:ext uri="{FF2B5EF4-FFF2-40B4-BE49-F238E27FC236}">
                  <a16:creationId xmlns:a16="http://schemas.microsoft.com/office/drawing/2014/main" id="{DD27E068-1C94-189A-AD44-606B6CADD46E}"/>
                </a:ext>
              </a:extLst>
            </p:cNvPr>
            <p:cNvSpPr>
              <a:spLocks/>
            </p:cNvSpPr>
            <p:nvPr/>
          </p:nvSpPr>
          <p:spPr bwMode="auto">
            <a:xfrm>
              <a:off x="5735642" y="5512374"/>
              <a:ext cx="220295" cy="379818"/>
            </a:xfrm>
            <a:custGeom>
              <a:avLst/>
              <a:gdLst>
                <a:gd name="T0" fmla="*/ 145 w 145"/>
                <a:gd name="T1" fmla="*/ 0 h 250"/>
                <a:gd name="T2" fmla="*/ 0 w 145"/>
                <a:gd name="T3" fmla="*/ 0 h 250"/>
                <a:gd name="T4" fmla="*/ 0 w 145"/>
                <a:gd name="T5" fmla="*/ 250 h 250"/>
                <a:gd name="T6" fmla="*/ 145 w 145"/>
                <a:gd name="T7" fmla="*/ 250 h 2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45" h="250">
                  <a:moveTo>
                    <a:pt x="145" y="0"/>
                  </a:moveTo>
                  <a:lnTo>
                    <a:pt x="0" y="0"/>
                  </a:lnTo>
                  <a:lnTo>
                    <a:pt x="0" y="250"/>
                  </a:lnTo>
                  <a:lnTo>
                    <a:pt x="145" y="250"/>
                  </a:lnTo>
                </a:path>
              </a:pathLst>
            </a:custGeom>
            <a:noFill/>
            <a:ln w="222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279" name="Freeform 130">
              <a:extLst>
                <a:ext uri="{FF2B5EF4-FFF2-40B4-BE49-F238E27FC236}">
                  <a16:creationId xmlns:a16="http://schemas.microsoft.com/office/drawing/2014/main" id="{1EAE6D57-FEFE-CD02-EA2D-251E1B7D909F}"/>
                </a:ext>
              </a:extLst>
            </p:cNvPr>
            <p:cNvSpPr>
              <a:spLocks/>
            </p:cNvSpPr>
            <p:nvPr/>
          </p:nvSpPr>
          <p:spPr bwMode="auto">
            <a:xfrm>
              <a:off x="5948340" y="5512374"/>
              <a:ext cx="227891" cy="379818"/>
            </a:xfrm>
            <a:custGeom>
              <a:avLst/>
              <a:gdLst>
                <a:gd name="T0" fmla="*/ 0 w 150"/>
                <a:gd name="T1" fmla="*/ 0 h 250"/>
                <a:gd name="T2" fmla="*/ 150 w 150"/>
                <a:gd name="T3" fmla="*/ 0 h 250"/>
                <a:gd name="T4" fmla="*/ 150 w 150"/>
                <a:gd name="T5" fmla="*/ 250 h 250"/>
                <a:gd name="T6" fmla="*/ 0 w 150"/>
                <a:gd name="T7" fmla="*/ 250 h 2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50" h="250">
                  <a:moveTo>
                    <a:pt x="0" y="0"/>
                  </a:moveTo>
                  <a:lnTo>
                    <a:pt x="150" y="0"/>
                  </a:lnTo>
                  <a:lnTo>
                    <a:pt x="150" y="250"/>
                  </a:lnTo>
                  <a:lnTo>
                    <a:pt x="0" y="250"/>
                  </a:lnTo>
                </a:path>
              </a:pathLst>
            </a:custGeom>
            <a:noFill/>
            <a:ln w="222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280" name="Rectangle 131">
              <a:extLst>
                <a:ext uri="{FF2B5EF4-FFF2-40B4-BE49-F238E27FC236}">
                  <a16:creationId xmlns:a16="http://schemas.microsoft.com/office/drawing/2014/main" id="{F59D254F-1235-26C8-C535-2BA709EA48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05118" y="5584083"/>
              <a:ext cx="328616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1400" u="none" strike="noStrike" cap="none" normalizeH="0" baseline="0" dirty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  <a:ea typeface="SimHei" panose="02010609060101010101" pitchFamily="49" charset="-122"/>
                </a:rPr>
                <a:t>Reg</a:t>
              </a:r>
              <a:endParaRPr kumimoji="0" lang="zh-CN" altLang="zh-CN" sz="180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endParaRPr>
            </a:p>
          </p:txBody>
        </p:sp>
        <p:sp>
          <p:nvSpPr>
            <p:cNvPr id="281" name="Freeform 132">
              <a:extLst>
                <a:ext uri="{FF2B5EF4-FFF2-40B4-BE49-F238E27FC236}">
                  <a16:creationId xmlns:a16="http://schemas.microsoft.com/office/drawing/2014/main" id="{76187A14-2164-A1F2-153D-94E87F3E2969}"/>
                </a:ext>
              </a:extLst>
            </p:cNvPr>
            <p:cNvSpPr>
              <a:spLocks/>
            </p:cNvSpPr>
            <p:nvPr/>
          </p:nvSpPr>
          <p:spPr bwMode="auto">
            <a:xfrm>
              <a:off x="6373736" y="5512374"/>
              <a:ext cx="186871" cy="379818"/>
            </a:xfrm>
            <a:custGeom>
              <a:avLst/>
              <a:gdLst>
                <a:gd name="T0" fmla="*/ 123 w 123"/>
                <a:gd name="T1" fmla="*/ 0 h 250"/>
                <a:gd name="T2" fmla="*/ 0 w 123"/>
                <a:gd name="T3" fmla="*/ 0 h 250"/>
                <a:gd name="T4" fmla="*/ 0 w 123"/>
                <a:gd name="T5" fmla="*/ 250 h 250"/>
                <a:gd name="T6" fmla="*/ 123 w 123"/>
                <a:gd name="T7" fmla="*/ 250 h 2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3" h="250">
                  <a:moveTo>
                    <a:pt x="123" y="0"/>
                  </a:moveTo>
                  <a:lnTo>
                    <a:pt x="0" y="0"/>
                  </a:lnTo>
                  <a:lnTo>
                    <a:pt x="0" y="250"/>
                  </a:lnTo>
                  <a:lnTo>
                    <a:pt x="123" y="250"/>
                  </a:lnTo>
                </a:path>
              </a:pathLst>
            </a:custGeom>
            <a:noFill/>
            <a:ln w="222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282" name="Freeform 133">
              <a:extLst>
                <a:ext uri="{FF2B5EF4-FFF2-40B4-BE49-F238E27FC236}">
                  <a16:creationId xmlns:a16="http://schemas.microsoft.com/office/drawing/2014/main" id="{7770B2AA-79A2-2021-8B30-99DBEE9490AB}"/>
                </a:ext>
              </a:extLst>
            </p:cNvPr>
            <p:cNvSpPr>
              <a:spLocks/>
            </p:cNvSpPr>
            <p:nvPr/>
          </p:nvSpPr>
          <p:spPr bwMode="auto">
            <a:xfrm>
              <a:off x="6560606" y="5512374"/>
              <a:ext cx="195986" cy="379818"/>
            </a:xfrm>
            <a:custGeom>
              <a:avLst/>
              <a:gdLst>
                <a:gd name="T0" fmla="*/ 0 w 129"/>
                <a:gd name="T1" fmla="*/ 0 h 250"/>
                <a:gd name="T2" fmla="*/ 129 w 129"/>
                <a:gd name="T3" fmla="*/ 0 h 250"/>
                <a:gd name="T4" fmla="*/ 129 w 129"/>
                <a:gd name="T5" fmla="*/ 250 h 250"/>
                <a:gd name="T6" fmla="*/ 0 w 129"/>
                <a:gd name="T7" fmla="*/ 250 h 2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9" h="250">
                  <a:moveTo>
                    <a:pt x="0" y="0"/>
                  </a:moveTo>
                  <a:lnTo>
                    <a:pt x="129" y="0"/>
                  </a:lnTo>
                  <a:lnTo>
                    <a:pt x="129" y="250"/>
                  </a:lnTo>
                  <a:lnTo>
                    <a:pt x="0" y="250"/>
                  </a:lnTo>
                </a:path>
              </a:pathLst>
            </a:custGeom>
            <a:noFill/>
            <a:ln w="222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283" name="Line 134">
              <a:extLst>
                <a:ext uri="{FF2B5EF4-FFF2-40B4-BE49-F238E27FC236}">
                  <a16:creationId xmlns:a16="http://schemas.microsoft.com/office/drawing/2014/main" id="{CAE11F68-4499-69F3-2705-629B1BEEB16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168634" y="5702283"/>
              <a:ext cx="188390" cy="0"/>
            </a:xfrm>
            <a:prstGeom prst="line">
              <a:avLst/>
            </a:prstGeom>
            <a:noFill/>
            <a:ln w="22225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284" name="Line 135">
              <a:extLst>
                <a:ext uri="{FF2B5EF4-FFF2-40B4-BE49-F238E27FC236}">
                  <a16:creationId xmlns:a16="http://schemas.microsoft.com/office/drawing/2014/main" id="{ED676E67-ABEE-99D7-3F6F-B7D66158A24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506231" y="5702283"/>
              <a:ext cx="212698" cy="0"/>
            </a:xfrm>
            <a:prstGeom prst="line">
              <a:avLst/>
            </a:prstGeom>
            <a:noFill/>
            <a:ln w="22225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285" name="Line 136">
              <a:extLst>
                <a:ext uri="{FF2B5EF4-FFF2-40B4-BE49-F238E27FC236}">
                  <a16:creationId xmlns:a16="http://schemas.microsoft.com/office/drawing/2014/main" id="{A6702295-7E93-4EB3-44E7-5B5A282802A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983602" y="5829902"/>
              <a:ext cx="212698" cy="0"/>
            </a:xfrm>
            <a:prstGeom prst="line">
              <a:avLst/>
            </a:prstGeom>
            <a:noFill/>
            <a:ln w="22225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286" name="Line 137">
              <a:extLst>
                <a:ext uri="{FF2B5EF4-FFF2-40B4-BE49-F238E27FC236}">
                  <a16:creationId xmlns:a16="http://schemas.microsoft.com/office/drawing/2014/main" id="{E96C1F45-E2AA-021E-E20B-435BC785B38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097548" y="5829902"/>
              <a:ext cx="0" cy="253719"/>
            </a:xfrm>
            <a:prstGeom prst="line">
              <a:avLst/>
            </a:prstGeom>
            <a:noFill/>
            <a:ln w="254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287" name="Line 138">
              <a:extLst>
                <a:ext uri="{FF2B5EF4-FFF2-40B4-BE49-F238E27FC236}">
                  <a16:creationId xmlns:a16="http://schemas.microsoft.com/office/drawing/2014/main" id="{C8190721-B005-F0FB-4B2F-D0C1C731F78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097548" y="6083620"/>
              <a:ext cx="458820" cy="0"/>
            </a:xfrm>
            <a:prstGeom prst="line">
              <a:avLst/>
            </a:prstGeom>
            <a:noFill/>
            <a:ln w="254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288" name="Line 139">
              <a:extLst>
                <a:ext uri="{FF2B5EF4-FFF2-40B4-BE49-F238E27FC236}">
                  <a16:creationId xmlns:a16="http://schemas.microsoft.com/office/drawing/2014/main" id="{DEA60061-2B76-73C9-F047-C3A3B668954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556368" y="5702283"/>
              <a:ext cx="0" cy="381338"/>
            </a:xfrm>
            <a:prstGeom prst="line">
              <a:avLst/>
            </a:prstGeom>
            <a:noFill/>
            <a:ln w="254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289" name="Line 140">
              <a:extLst>
                <a:ext uri="{FF2B5EF4-FFF2-40B4-BE49-F238E27FC236}">
                  <a16:creationId xmlns:a16="http://schemas.microsoft.com/office/drawing/2014/main" id="{53B4E7B1-6821-A551-DE9A-1099A136ACF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670313" y="5702283"/>
              <a:ext cx="0" cy="317528"/>
            </a:xfrm>
            <a:prstGeom prst="line">
              <a:avLst/>
            </a:prstGeom>
            <a:noFill/>
            <a:ln w="254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290" name="Line 141">
              <a:extLst>
                <a:ext uri="{FF2B5EF4-FFF2-40B4-BE49-F238E27FC236}">
                  <a16:creationId xmlns:a16="http://schemas.microsoft.com/office/drawing/2014/main" id="{9250111A-7B9D-0178-FAE9-D2927956035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670313" y="6019810"/>
              <a:ext cx="587958" cy="0"/>
            </a:xfrm>
            <a:prstGeom prst="line">
              <a:avLst/>
            </a:prstGeom>
            <a:noFill/>
            <a:ln w="254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291" name="Line 142">
              <a:extLst>
                <a:ext uri="{FF2B5EF4-FFF2-40B4-BE49-F238E27FC236}">
                  <a16:creationId xmlns:a16="http://schemas.microsoft.com/office/drawing/2014/main" id="{D6351066-A2D3-3D76-3998-CAE5AF09E5C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258271" y="5702283"/>
              <a:ext cx="0" cy="317528"/>
            </a:xfrm>
            <a:prstGeom prst="line">
              <a:avLst/>
            </a:prstGeom>
            <a:noFill/>
            <a:ln w="254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292" name="Freeform 143">
              <a:extLst>
                <a:ext uri="{FF2B5EF4-FFF2-40B4-BE49-F238E27FC236}">
                  <a16:creationId xmlns:a16="http://schemas.microsoft.com/office/drawing/2014/main" id="{DF75F060-A496-4F3B-31EA-767EA344406F}"/>
                </a:ext>
              </a:extLst>
            </p:cNvPr>
            <p:cNvSpPr>
              <a:spLocks/>
            </p:cNvSpPr>
            <p:nvPr/>
          </p:nvSpPr>
          <p:spPr bwMode="auto">
            <a:xfrm>
              <a:off x="5800970" y="6083620"/>
              <a:ext cx="285623" cy="633537"/>
            </a:xfrm>
            <a:custGeom>
              <a:avLst/>
              <a:gdLst>
                <a:gd name="T0" fmla="*/ 0 w 188"/>
                <a:gd name="T1" fmla="*/ 278 h 417"/>
                <a:gd name="T2" fmla="*/ 63 w 188"/>
                <a:gd name="T3" fmla="*/ 208 h 417"/>
                <a:gd name="T4" fmla="*/ 0 w 188"/>
                <a:gd name="T5" fmla="*/ 139 h 417"/>
                <a:gd name="T6" fmla="*/ 0 w 188"/>
                <a:gd name="T7" fmla="*/ 0 h 417"/>
                <a:gd name="T8" fmla="*/ 188 w 188"/>
                <a:gd name="T9" fmla="*/ 139 h 417"/>
                <a:gd name="T10" fmla="*/ 188 w 188"/>
                <a:gd name="T11" fmla="*/ 278 h 417"/>
                <a:gd name="T12" fmla="*/ 0 w 188"/>
                <a:gd name="T13" fmla="*/ 417 h 417"/>
                <a:gd name="T14" fmla="*/ 0 w 188"/>
                <a:gd name="T15" fmla="*/ 278 h 4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88" h="417">
                  <a:moveTo>
                    <a:pt x="0" y="278"/>
                  </a:moveTo>
                  <a:lnTo>
                    <a:pt x="63" y="208"/>
                  </a:lnTo>
                  <a:lnTo>
                    <a:pt x="0" y="139"/>
                  </a:lnTo>
                  <a:lnTo>
                    <a:pt x="0" y="0"/>
                  </a:lnTo>
                  <a:lnTo>
                    <a:pt x="188" y="139"/>
                  </a:lnTo>
                  <a:lnTo>
                    <a:pt x="188" y="278"/>
                  </a:lnTo>
                  <a:lnTo>
                    <a:pt x="0" y="417"/>
                  </a:lnTo>
                  <a:lnTo>
                    <a:pt x="0" y="278"/>
                  </a:lnTo>
                </a:path>
              </a:pathLst>
            </a:custGeom>
            <a:noFill/>
            <a:ln w="222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293" name="Rectangle 144">
              <a:extLst>
                <a:ext uri="{FF2B5EF4-FFF2-40B4-BE49-F238E27FC236}">
                  <a16:creationId xmlns:a16="http://schemas.microsoft.com/office/drawing/2014/main" id="{416F1A07-9A83-3836-1393-2F27630E02C9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5657522" y="6290388"/>
              <a:ext cx="611527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1400" u="none" strike="noStrike" cap="none" normalizeH="0" baseline="0" dirty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  <a:ea typeface="SimHei" panose="02010609060101010101" pitchFamily="49" charset="-122"/>
                </a:rPr>
                <a:t>ALU</a:t>
              </a:r>
              <a:endParaRPr kumimoji="0" lang="zh-CN" altLang="zh-CN" sz="140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endParaRPr>
            </a:p>
          </p:txBody>
        </p:sp>
        <p:sp>
          <p:nvSpPr>
            <p:cNvPr id="294" name="Rectangle 145">
              <a:extLst>
                <a:ext uri="{FF2B5EF4-FFF2-40B4-BE49-F238E27FC236}">
                  <a16:creationId xmlns:a16="http://schemas.microsoft.com/office/drawing/2014/main" id="{2CAAB353-E636-80D9-8FF1-179358E5B5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8201" y="6288722"/>
              <a:ext cx="198772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1400" u="none" strike="noStrike" cap="none" normalizeH="0" baseline="0" dirty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  <a:ea typeface="SimHei" panose="02010609060101010101" pitchFamily="49" charset="-122"/>
                </a:rPr>
                <a:t>IM</a:t>
              </a:r>
              <a:endParaRPr kumimoji="0" lang="zh-CN" altLang="zh-CN" sz="180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endParaRPr>
            </a:p>
          </p:txBody>
        </p:sp>
        <p:sp>
          <p:nvSpPr>
            <p:cNvPr id="295" name="Freeform 146">
              <a:extLst>
                <a:ext uri="{FF2B5EF4-FFF2-40B4-BE49-F238E27FC236}">
                  <a16:creationId xmlns:a16="http://schemas.microsoft.com/office/drawing/2014/main" id="{3E0D8AB0-9381-076D-A02C-6F523CF7639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8154" y="6209720"/>
              <a:ext cx="231232" cy="379818"/>
            </a:xfrm>
            <a:custGeom>
              <a:avLst/>
              <a:gdLst>
                <a:gd name="T0" fmla="*/ 155 w 155"/>
                <a:gd name="T1" fmla="*/ 0 h 250"/>
                <a:gd name="T2" fmla="*/ 0 w 155"/>
                <a:gd name="T3" fmla="*/ 0 h 250"/>
                <a:gd name="T4" fmla="*/ 0 w 155"/>
                <a:gd name="T5" fmla="*/ 250 h 250"/>
                <a:gd name="T6" fmla="*/ 155 w 155"/>
                <a:gd name="T7" fmla="*/ 250 h 2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55" h="250">
                  <a:moveTo>
                    <a:pt x="155" y="0"/>
                  </a:moveTo>
                  <a:lnTo>
                    <a:pt x="0" y="0"/>
                  </a:lnTo>
                  <a:lnTo>
                    <a:pt x="0" y="250"/>
                  </a:lnTo>
                  <a:lnTo>
                    <a:pt x="155" y="250"/>
                  </a:lnTo>
                </a:path>
              </a:pathLst>
            </a:custGeom>
            <a:noFill/>
            <a:ln w="222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296" name="Freeform 147">
              <a:extLst>
                <a:ext uri="{FF2B5EF4-FFF2-40B4-BE49-F238E27FC236}">
                  <a16:creationId xmlns:a16="http://schemas.microsoft.com/office/drawing/2014/main" id="{B7F7A217-383A-AEFC-533A-ABF31B68A49A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0904" y="6209720"/>
              <a:ext cx="227891" cy="379818"/>
            </a:xfrm>
            <a:custGeom>
              <a:avLst/>
              <a:gdLst>
                <a:gd name="T0" fmla="*/ 0 w 150"/>
                <a:gd name="T1" fmla="*/ 0 h 250"/>
                <a:gd name="T2" fmla="*/ 150 w 150"/>
                <a:gd name="T3" fmla="*/ 0 h 250"/>
                <a:gd name="T4" fmla="*/ 150 w 150"/>
                <a:gd name="T5" fmla="*/ 250 h 250"/>
                <a:gd name="T6" fmla="*/ 0 w 150"/>
                <a:gd name="T7" fmla="*/ 250 h 2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50" h="250">
                  <a:moveTo>
                    <a:pt x="0" y="0"/>
                  </a:moveTo>
                  <a:lnTo>
                    <a:pt x="150" y="0"/>
                  </a:lnTo>
                  <a:lnTo>
                    <a:pt x="150" y="250"/>
                  </a:lnTo>
                  <a:lnTo>
                    <a:pt x="0" y="250"/>
                  </a:lnTo>
                </a:path>
              </a:pathLst>
            </a:custGeom>
            <a:noFill/>
            <a:ln w="222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297" name="Rectangle 148">
              <a:extLst>
                <a:ext uri="{FF2B5EF4-FFF2-40B4-BE49-F238E27FC236}">
                  <a16:creationId xmlns:a16="http://schemas.microsoft.com/office/drawing/2014/main" id="{2270D10F-F20A-388C-B7C2-93B893FAFA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04371" y="6283252"/>
              <a:ext cx="328616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1400" u="none" strike="noStrike" cap="none" normalizeH="0" baseline="0" dirty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  <a:ea typeface="SimHei" panose="02010609060101010101" pitchFamily="49" charset="-122"/>
                </a:rPr>
                <a:t>Reg</a:t>
              </a:r>
              <a:endParaRPr kumimoji="0" lang="zh-CN" altLang="zh-CN" sz="180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endParaRPr>
            </a:p>
          </p:txBody>
        </p:sp>
        <p:sp>
          <p:nvSpPr>
            <p:cNvPr id="298" name="Freeform 149">
              <a:extLst>
                <a:ext uri="{FF2B5EF4-FFF2-40B4-BE49-F238E27FC236}">
                  <a16:creationId xmlns:a16="http://schemas.microsoft.com/office/drawing/2014/main" id="{D72A449E-3BC0-1658-8AA2-6797778C1427}"/>
                </a:ext>
              </a:extLst>
            </p:cNvPr>
            <p:cNvSpPr>
              <a:spLocks/>
            </p:cNvSpPr>
            <p:nvPr/>
          </p:nvSpPr>
          <p:spPr bwMode="auto">
            <a:xfrm>
              <a:off x="5162876" y="6209720"/>
              <a:ext cx="203582" cy="379818"/>
            </a:xfrm>
            <a:custGeom>
              <a:avLst/>
              <a:gdLst>
                <a:gd name="T0" fmla="*/ 134 w 134"/>
                <a:gd name="T1" fmla="*/ 0 h 250"/>
                <a:gd name="T2" fmla="*/ 0 w 134"/>
                <a:gd name="T3" fmla="*/ 0 h 250"/>
                <a:gd name="T4" fmla="*/ 0 w 134"/>
                <a:gd name="T5" fmla="*/ 250 h 250"/>
                <a:gd name="T6" fmla="*/ 134 w 134"/>
                <a:gd name="T7" fmla="*/ 250 h 2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4" h="250">
                  <a:moveTo>
                    <a:pt x="134" y="0"/>
                  </a:moveTo>
                  <a:lnTo>
                    <a:pt x="0" y="0"/>
                  </a:lnTo>
                  <a:lnTo>
                    <a:pt x="0" y="250"/>
                  </a:lnTo>
                  <a:lnTo>
                    <a:pt x="134" y="250"/>
                  </a:lnTo>
                </a:path>
              </a:pathLst>
            </a:custGeom>
            <a:noFill/>
            <a:ln w="222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299" name="Freeform 150">
              <a:extLst>
                <a:ext uri="{FF2B5EF4-FFF2-40B4-BE49-F238E27FC236}">
                  <a16:creationId xmlns:a16="http://schemas.microsoft.com/office/drawing/2014/main" id="{803DCE3C-443B-3FFE-6C1E-3657F81C13AC}"/>
                </a:ext>
              </a:extLst>
            </p:cNvPr>
            <p:cNvSpPr>
              <a:spLocks/>
            </p:cNvSpPr>
            <p:nvPr/>
          </p:nvSpPr>
          <p:spPr bwMode="auto">
            <a:xfrm>
              <a:off x="5367978" y="6209720"/>
              <a:ext cx="194467" cy="379818"/>
            </a:xfrm>
            <a:custGeom>
              <a:avLst/>
              <a:gdLst>
                <a:gd name="T0" fmla="*/ 0 w 128"/>
                <a:gd name="T1" fmla="*/ 0 h 250"/>
                <a:gd name="T2" fmla="*/ 128 w 128"/>
                <a:gd name="T3" fmla="*/ 0 h 250"/>
                <a:gd name="T4" fmla="*/ 128 w 128"/>
                <a:gd name="T5" fmla="*/ 250 h 250"/>
                <a:gd name="T6" fmla="*/ 0 w 128"/>
                <a:gd name="T7" fmla="*/ 250 h 2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8" h="250">
                  <a:moveTo>
                    <a:pt x="0" y="0"/>
                  </a:moveTo>
                  <a:lnTo>
                    <a:pt x="128" y="0"/>
                  </a:lnTo>
                  <a:lnTo>
                    <a:pt x="128" y="250"/>
                  </a:lnTo>
                  <a:lnTo>
                    <a:pt x="0" y="250"/>
                  </a:lnTo>
                </a:path>
              </a:pathLst>
            </a:custGeom>
            <a:noFill/>
            <a:ln w="222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300" name="Line 151">
              <a:extLst>
                <a:ext uri="{FF2B5EF4-FFF2-40B4-BE49-F238E27FC236}">
                  <a16:creationId xmlns:a16="http://schemas.microsoft.com/office/drawing/2014/main" id="{B89A85C7-7ADE-F9E0-1AA0-5B47E40ED98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007910" y="6401148"/>
              <a:ext cx="154966" cy="0"/>
            </a:xfrm>
            <a:prstGeom prst="line">
              <a:avLst/>
            </a:prstGeom>
            <a:noFill/>
            <a:ln w="22225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301" name="Freeform 152">
              <a:extLst>
                <a:ext uri="{FF2B5EF4-FFF2-40B4-BE49-F238E27FC236}">
                  <a16:creationId xmlns:a16="http://schemas.microsoft.com/office/drawing/2014/main" id="{CF3C373A-1E40-1869-2F1C-F41D7159EB3A}"/>
                </a:ext>
              </a:extLst>
            </p:cNvPr>
            <p:cNvSpPr>
              <a:spLocks/>
            </p:cNvSpPr>
            <p:nvPr/>
          </p:nvSpPr>
          <p:spPr bwMode="auto">
            <a:xfrm>
              <a:off x="5097548" y="6273529"/>
              <a:ext cx="65329" cy="126100"/>
            </a:xfrm>
            <a:custGeom>
              <a:avLst/>
              <a:gdLst>
                <a:gd name="T0" fmla="*/ 0 w 43"/>
                <a:gd name="T1" fmla="*/ 83 h 83"/>
                <a:gd name="T2" fmla="*/ 0 w 43"/>
                <a:gd name="T3" fmla="*/ 0 h 83"/>
                <a:gd name="T4" fmla="*/ 43 w 43"/>
                <a:gd name="T5" fmla="*/ 0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3" h="83">
                  <a:moveTo>
                    <a:pt x="0" y="83"/>
                  </a:moveTo>
                  <a:lnTo>
                    <a:pt x="0" y="0"/>
                  </a:lnTo>
                  <a:lnTo>
                    <a:pt x="43" y="0"/>
                  </a:lnTo>
                </a:path>
              </a:pathLst>
            </a:custGeom>
            <a:noFill/>
            <a:ln w="222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302" name="Line 153">
              <a:extLst>
                <a:ext uri="{FF2B5EF4-FFF2-40B4-BE49-F238E27FC236}">
                  <a16:creationId xmlns:a16="http://schemas.microsoft.com/office/drawing/2014/main" id="{50BB144B-1040-C9D1-AB88-1AFEF84939F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571560" y="6273529"/>
              <a:ext cx="212698" cy="0"/>
            </a:xfrm>
            <a:prstGeom prst="line">
              <a:avLst/>
            </a:prstGeom>
            <a:noFill/>
            <a:ln w="22225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303" name="Rectangle 154">
              <a:extLst>
                <a:ext uri="{FF2B5EF4-FFF2-40B4-BE49-F238E27FC236}">
                  <a16:creationId xmlns:a16="http://schemas.microsoft.com/office/drawing/2014/main" id="{DBD6D82D-A7B4-4FBB-8907-F6B6F52C6E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10549" y="6288722"/>
              <a:ext cx="278923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1400" u="none" strike="noStrike" cap="none" normalizeH="0" baseline="0" dirty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  <a:ea typeface="SimHei" panose="02010609060101010101" pitchFamily="49" charset="-122"/>
                </a:rPr>
                <a:t>DM</a:t>
              </a:r>
              <a:endParaRPr kumimoji="0" lang="zh-CN" altLang="zh-CN" sz="180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endParaRPr>
            </a:p>
          </p:txBody>
        </p:sp>
        <p:sp>
          <p:nvSpPr>
            <p:cNvPr id="304" name="Freeform 155">
              <a:extLst>
                <a:ext uri="{FF2B5EF4-FFF2-40B4-BE49-F238E27FC236}">
                  <a16:creationId xmlns:a16="http://schemas.microsoft.com/office/drawing/2014/main" id="{1065FD67-5099-2243-130A-72C9E0B90A58}"/>
                </a:ext>
              </a:extLst>
            </p:cNvPr>
            <p:cNvSpPr>
              <a:spLocks/>
            </p:cNvSpPr>
            <p:nvPr/>
          </p:nvSpPr>
          <p:spPr bwMode="auto">
            <a:xfrm>
              <a:off x="6323599" y="6209720"/>
              <a:ext cx="220295" cy="379818"/>
            </a:xfrm>
            <a:custGeom>
              <a:avLst/>
              <a:gdLst>
                <a:gd name="T0" fmla="*/ 145 w 145"/>
                <a:gd name="T1" fmla="*/ 0 h 250"/>
                <a:gd name="T2" fmla="*/ 0 w 145"/>
                <a:gd name="T3" fmla="*/ 0 h 250"/>
                <a:gd name="T4" fmla="*/ 0 w 145"/>
                <a:gd name="T5" fmla="*/ 250 h 250"/>
                <a:gd name="T6" fmla="*/ 145 w 145"/>
                <a:gd name="T7" fmla="*/ 250 h 2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45" h="250">
                  <a:moveTo>
                    <a:pt x="145" y="0"/>
                  </a:moveTo>
                  <a:lnTo>
                    <a:pt x="0" y="0"/>
                  </a:lnTo>
                  <a:lnTo>
                    <a:pt x="0" y="250"/>
                  </a:lnTo>
                  <a:lnTo>
                    <a:pt x="145" y="250"/>
                  </a:lnTo>
                </a:path>
              </a:pathLst>
            </a:custGeom>
            <a:noFill/>
            <a:ln w="222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305" name="Freeform 156">
              <a:extLst>
                <a:ext uri="{FF2B5EF4-FFF2-40B4-BE49-F238E27FC236}">
                  <a16:creationId xmlns:a16="http://schemas.microsoft.com/office/drawing/2014/main" id="{145F2F5B-3610-FBD2-2D30-E321C24C6FFF}"/>
                </a:ext>
              </a:extLst>
            </p:cNvPr>
            <p:cNvSpPr>
              <a:spLocks/>
            </p:cNvSpPr>
            <p:nvPr/>
          </p:nvSpPr>
          <p:spPr bwMode="auto">
            <a:xfrm>
              <a:off x="6536297" y="6209720"/>
              <a:ext cx="227891" cy="379818"/>
            </a:xfrm>
            <a:custGeom>
              <a:avLst/>
              <a:gdLst>
                <a:gd name="T0" fmla="*/ 0 w 150"/>
                <a:gd name="T1" fmla="*/ 0 h 250"/>
                <a:gd name="T2" fmla="*/ 150 w 150"/>
                <a:gd name="T3" fmla="*/ 0 h 250"/>
                <a:gd name="T4" fmla="*/ 150 w 150"/>
                <a:gd name="T5" fmla="*/ 250 h 250"/>
                <a:gd name="T6" fmla="*/ 0 w 150"/>
                <a:gd name="T7" fmla="*/ 250 h 2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50" h="250">
                  <a:moveTo>
                    <a:pt x="0" y="0"/>
                  </a:moveTo>
                  <a:lnTo>
                    <a:pt x="150" y="0"/>
                  </a:lnTo>
                  <a:lnTo>
                    <a:pt x="150" y="250"/>
                  </a:lnTo>
                  <a:lnTo>
                    <a:pt x="0" y="250"/>
                  </a:lnTo>
                </a:path>
              </a:pathLst>
            </a:custGeom>
            <a:noFill/>
            <a:ln w="222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306" name="Rectangle 157">
              <a:extLst>
                <a:ext uri="{FF2B5EF4-FFF2-40B4-BE49-F238E27FC236}">
                  <a16:creationId xmlns:a16="http://schemas.microsoft.com/office/drawing/2014/main" id="{86765617-C24E-C129-A10D-E08C0A87A7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94596" y="6281429"/>
              <a:ext cx="328616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1400" u="none" strike="noStrike" cap="none" normalizeH="0" baseline="0" dirty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  <a:ea typeface="SimHei" panose="02010609060101010101" pitchFamily="49" charset="-122"/>
                </a:rPr>
                <a:t>Reg</a:t>
              </a:r>
              <a:endParaRPr kumimoji="0" lang="zh-CN" altLang="zh-CN" sz="180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endParaRPr>
            </a:p>
          </p:txBody>
        </p:sp>
        <p:sp>
          <p:nvSpPr>
            <p:cNvPr id="307" name="Freeform 158">
              <a:extLst>
                <a:ext uri="{FF2B5EF4-FFF2-40B4-BE49-F238E27FC236}">
                  <a16:creationId xmlns:a16="http://schemas.microsoft.com/office/drawing/2014/main" id="{CEB72625-A4B8-194C-3BC4-881D640569A2}"/>
                </a:ext>
              </a:extLst>
            </p:cNvPr>
            <p:cNvSpPr>
              <a:spLocks/>
            </p:cNvSpPr>
            <p:nvPr/>
          </p:nvSpPr>
          <p:spPr bwMode="auto">
            <a:xfrm>
              <a:off x="6961693" y="6209720"/>
              <a:ext cx="186871" cy="379818"/>
            </a:xfrm>
            <a:custGeom>
              <a:avLst/>
              <a:gdLst>
                <a:gd name="T0" fmla="*/ 123 w 123"/>
                <a:gd name="T1" fmla="*/ 0 h 250"/>
                <a:gd name="T2" fmla="*/ 0 w 123"/>
                <a:gd name="T3" fmla="*/ 0 h 250"/>
                <a:gd name="T4" fmla="*/ 0 w 123"/>
                <a:gd name="T5" fmla="*/ 250 h 250"/>
                <a:gd name="T6" fmla="*/ 123 w 123"/>
                <a:gd name="T7" fmla="*/ 250 h 2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3" h="250">
                  <a:moveTo>
                    <a:pt x="123" y="0"/>
                  </a:moveTo>
                  <a:lnTo>
                    <a:pt x="0" y="0"/>
                  </a:lnTo>
                  <a:lnTo>
                    <a:pt x="0" y="250"/>
                  </a:lnTo>
                  <a:lnTo>
                    <a:pt x="123" y="250"/>
                  </a:lnTo>
                </a:path>
              </a:pathLst>
            </a:custGeom>
            <a:noFill/>
            <a:ln w="222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308" name="Freeform 159">
              <a:extLst>
                <a:ext uri="{FF2B5EF4-FFF2-40B4-BE49-F238E27FC236}">
                  <a16:creationId xmlns:a16="http://schemas.microsoft.com/office/drawing/2014/main" id="{2F7A0E10-D11B-B5DB-2AD4-D59CDE18F575}"/>
                </a:ext>
              </a:extLst>
            </p:cNvPr>
            <p:cNvSpPr>
              <a:spLocks/>
            </p:cNvSpPr>
            <p:nvPr/>
          </p:nvSpPr>
          <p:spPr bwMode="auto">
            <a:xfrm>
              <a:off x="7150083" y="6209720"/>
              <a:ext cx="194467" cy="379818"/>
            </a:xfrm>
            <a:custGeom>
              <a:avLst/>
              <a:gdLst>
                <a:gd name="T0" fmla="*/ 0 w 128"/>
                <a:gd name="T1" fmla="*/ 0 h 250"/>
                <a:gd name="T2" fmla="*/ 128 w 128"/>
                <a:gd name="T3" fmla="*/ 0 h 250"/>
                <a:gd name="T4" fmla="*/ 128 w 128"/>
                <a:gd name="T5" fmla="*/ 250 h 250"/>
                <a:gd name="T6" fmla="*/ 0 w 128"/>
                <a:gd name="T7" fmla="*/ 250 h 2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8" h="250">
                  <a:moveTo>
                    <a:pt x="0" y="0"/>
                  </a:moveTo>
                  <a:lnTo>
                    <a:pt x="128" y="0"/>
                  </a:lnTo>
                  <a:lnTo>
                    <a:pt x="128" y="250"/>
                  </a:lnTo>
                  <a:lnTo>
                    <a:pt x="0" y="250"/>
                  </a:lnTo>
                </a:path>
              </a:pathLst>
            </a:custGeom>
            <a:noFill/>
            <a:ln w="222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309" name="Line 160">
              <a:extLst>
                <a:ext uri="{FF2B5EF4-FFF2-40B4-BE49-F238E27FC236}">
                  <a16:creationId xmlns:a16="http://schemas.microsoft.com/office/drawing/2014/main" id="{84C4D832-045F-E1C6-AE29-FDCC6CC46B0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758111" y="6401148"/>
              <a:ext cx="186871" cy="0"/>
            </a:xfrm>
            <a:prstGeom prst="line">
              <a:avLst/>
            </a:prstGeom>
            <a:noFill/>
            <a:ln w="22225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310" name="Line 161">
              <a:extLst>
                <a:ext uri="{FF2B5EF4-FFF2-40B4-BE49-F238E27FC236}">
                  <a16:creationId xmlns:a16="http://schemas.microsoft.com/office/drawing/2014/main" id="{D3373DD5-332A-A892-C531-F3190C7770E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095709" y="6401148"/>
              <a:ext cx="212698" cy="0"/>
            </a:xfrm>
            <a:prstGeom prst="line">
              <a:avLst/>
            </a:prstGeom>
            <a:noFill/>
            <a:ln w="22225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311" name="Line 162">
              <a:extLst>
                <a:ext uri="{FF2B5EF4-FFF2-40B4-BE49-F238E27FC236}">
                  <a16:creationId xmlns:a16="http://schemas.microsoft.com/office/drawing/2014/main" id="{863169C7-4DB1-E99B-7A8B-DB0FC9580A4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571560" y="6527247"/>
              <a:ext cx="212698" cy="0"/>
            </a:xfrm>
            <a:prstGeom prst="line">
              <a:avLst/>
            </a:prstGeom>
            <a:noFill/>
            <a:ln w="22225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312" name="Line 163">
              <a:extLst>
                <a:ext uri="{FF2B5EF4-FFF2-40B4-BE49-F238E27FC236}">
                  <a16:creationId xmlns:a16="http://schemas.microsoft.com/office/drawing/2014/main" id="{74364CD2-2DE0-21DB-23CD-AEB84C459F4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687025" y="6527247"/>
              <a:ext cx="0" cy="253719"/>
            </a:xfrm>
            <a:prstGeom prst="line">
              <a:avLst/>
            </a:prstGeom>
            <a:noFill/>
            <a:ln w="254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313" name="Line 164">
              <a:extLst>
                <a:ext uri="{FF2B5EF4-FFF2-40B4-BE49-F238E27FC236}">
                  <a16:creationId xmlns:a16="http://schemas.microsoft.com/office/drawing/2014/main" id="{BAC2C4E8-27E3-D88D-6796-85E7FADA0F6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687025" y="6780966"/>
              <a:ext cx="457301" cy="0"/>
            </a:xfrm>
            <a:prstGeom prst="line">
              <a:avLst/>
            </a:prstGeom>
            <a:noFill/>
            <a:ln w="254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314" name="Line 165">
              <a:extLst>
                <a:ext uri="{FF2B5EF4-FFF2-40B4-BE49-F238E27FC236}">
                  <a16:creationId xmlns:a16="http://schemas.microsoft.com/office/drawing/2014/main" id="{14AA57F3-CF4C-002D-A09A-0F790C7D3E5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144325" y="6401148"/>
              <a:ext cx="0" cy="379818"/>
            </a:xfrm>
            <a:prstGeom prst="line">
              <a:avLst/>
            </a:prstGeom>
            <a:noFill/>
            <a:ln w="254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315" name="Line 166">
              <a:extLst>
                <a:ext uri="{FF2B5EF4-FFF2-40B4-BE49-F238E27FC236}">
                  <a16:creationId xmlns:a16="http://schemas.microsoft.com/office/drawing/2014/main" id="{2948852B-6C0B-B7B2-69E0-534E843430F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258271" y="6401148"/>
              <a:ext cx="0" cy="316008"/>
            </a:xfrm>
            <a:prstGeom prst="line">
              <a:avLst/>
            </a:prstGeom>
            <a:noFill/>
            <a:ln w="254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316" name="Line 167">
              <a:extLst>
                <a:ext uri="{FF2B5EF4-FFF2-40B4-BE49-F238E27FC236}">
                  <a16:creationId xmlns:a16="http://schemas.microsoft.com/office/drawing/2014/main" id="{5CCF8546-F8B0-B319-751D-6FCEE9F185A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258271" y="6717156"/>
              <a:ext cx="589477" cy="0"/>
            </a:xfrm>
            <a:prstGeom prst="line">
              <a:avLst/>
            </a:prstGeom>
            <a:noFill/>
            <a:ln w="254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317" name="Line 168">
              <a:extLst>
                <a:ext uri="{FF2B5EF4-FFF2-40B4-BE49-F238E27FC236}">
                  <a16:creationId xmlns:a16="http://schemas.microsoft.com/office/drawing/2014/main" id="{D68B0818-2ADC-65AB-6B5B-BA2B335F7AE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847748" y="6401148"/>
              <a:ext cx="0" cy="316008"/>
            </a:xfrm>
            <a:prstGeom prst="line">
              <a:avLst/>
            </a:prstGeom>
            <a:noFill/>
            <a:ln w="254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</p:grpSp>
      <p:sp>
        <p:nvSpPr>
          <p:cNvPr id="175" name="Rectangle 164">
            <a:extLst>
              <a:ext uri="{FF2B5EF4-FFF2-40B4-BE49-F238E27FC236}">
                <a16:creationId xmlns:a16="http://schemas.microsoft.com/office/drawing/2014/main" id="{761E43E4-59F9-92DE-ED6F-3176D03D53FC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26745" y="1781532"/>
            <a:ext cx="3443250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zh-CN" altLang="en-US" sz="2400" u="none" strike="noStrike" cap="none" normalizeH="0" baseline="0" dirty="0">
                <a:ln>
                  <a:noFill/>
                </a:ln>
                <a:solidFill>
                  <a:srgbClr val="FF0000"/>
                </a:solidFill>
                <a:effectLst/>
                <a:latin typeface="SimHei" panose="02010609060101010101" pitchFamily="49" charset="-122"/>
                <a:ea typeface="SimHei" panose="02010609060101010101" pitchFamily="49" charset="-122"/>
              </a:rPr>
              <a:t>硬件</a:t>
            </a:r>
            <a:r>
              <a:rPr kumimoji="0" lang="zh-CN" altLang="zh-CN" sz="2400" u="none" strike="noStrike" cap="none" normalizeH="0" baseline="0" dirty="0">
                <a:ln>
                  <a:noFill/>
                </a:ln>
                <a:solidFill>
                  <a:srgbClr val="FF0000"/>
                </a:solidFill>
                <a:effectLst/>
                <a:latin typeface="SimHei" panose="02010609060101010101" pitchFamily="49" charset="-122"/>
                <a:ea typeface="SimHei" panose="02010609060101010101" pitchFamily="49" charset="-122"/>
              </a:rPr>
              <a:t>实现保证</a:t>
            </a:r>
            <a:r>
              <a:rPr kumimoji="0" lang="zh-CN" altLang="en-US" sz="2400" u="none" strike="noStrike" cap="none" normalizeH="0" baseline="0" dirty="0">
                <a:ln>
                  <a:noFill/>
                </a:ln>
                <a:solidFill>
                  <a:srgbClr val="FF0000"/>
                </a:solidFill>
                <a:effectLst/>
                <a:latin typeface="SimHei" panose="02010609060101010101" pitchFamily="49" charset="-122"/>
                <a:ea typeface="SimHei" panose="02010609060101010101" pitchFamily="49" charset="-122"/>
              </a:rPr>
              <a:t>能</a:t>
            </a:r>
            <a:r>
              <a:rPr kumimoji="0" lang="zh-CN" altLang="zh-CN" sz="2400" u="none" strike="noStrike" cap="none" normalizeH="0" baseline="0" dirty="0">
                <a:ln>
                  <a:noFill/>
                </a:ln>
                <a:solidFill>
                  <a:srgbClr val="FF0000"/>
                </a:solidFill>
                <a:effectLst/>
                <a:latin typeface="SimHei" panose="02010609060101010101" pitchFamily="49" charset="-122"/>
                <a:ea typeface="SimHei" panose="02010609060101010101" pitchFamily="49" charset="-122"/>
              </a:rPr>
              <a:t>先写后读</a:t>
            </a:r>
            <a:endParaRPr kumimoji="0" lang="zh-CN" altLang="zh-CN" sz="280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  <a:ea typeface="SimHei" panose="02010609060101010101" pitchFamily="49" charset="-122"/>
            </a:endParaRPr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3">
            <p14:nvContentPartPr>
              <p14:cNvPr id="6" name="墨迹 5">
                <a:extLst>
                  <a:ext uri="{FF2B5EF4-FFF2-40B4-BE49-F238E27FC236}">
                    <a16:creationId xmlns:a16="http://schemas.microsoft.com/office/drawing/2014/main" id="{2CC515B2-3DC3-3962-BDBD-4991C64F6B19}"/>
                  </a:ext>
                </a:extLst>
              </p14:cNvPr>
              <p14:cNvContentPartPr/>
              <p14:nvPr/>
            </p14:nvContentPartPr>
            <p14:xfrm>
              <a:off x="4992480" y="1694160"/>
              <a:ext cx="1860480" cy="2237760"/>
            </p14:xfrm>
          </p:contentPart>
        </mc:Choice>
        <mc:Fallback xmlns="">
          <p:pic>
            <p:nvPicPr>
              <p:cNvPr id="6" name="墨迹 5">
                <a:extLst>
                  <a:ext uri="{FF2B5EF4-FFF2-40B4-BE49-F238E27FC236}">
                    <a16:creationId xmlns:a16="http://schemas.microsoft.com/office/drawing/2014/main" id="{2CC515B2-3DC3-3962-BDBD-4991C64F6B19}"/>
                  </a:ext>
                </a:extLst>
              </p:cNvPr>
              <p:cNvPicPr/>
              <p:nvPr/>
            </p:nvPicPr>
            <p:blipFill>
              <a:blip r:embed="rId4"/>
              <a:stretch>
                <a:fillRect/>
              </a:stretch>
            </p:blipFill>
            <p:spPr>
              <a:xfrm>
                <a:off x="4983120" y="1684800"/>
                <a:ext cx="1879200" cy="225648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3667589843"/>
      </p:ext>
    </p:extLst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>
            <a:extLst>
              <a:ext uri="{FF2B5EF4-FFF2-40B4-BE49-F238E27FC236}">
                <a16:creationId xmlns:a16="http://schemas.microsoft.com/office/drawing/2014/main" id="{B4899360-3C67-40F9-BBDA-D9C32901CEE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dirty="0"/>
              <a:t>寄存器使用引起的冒险</a:t>
            </a:r>
          </a:p>
        </p:txBody>
      </p:sp>
      <p:sp>
        <p:nvSpPr>
          <p:cNvPr id="3" name="内容占位符 2">
            <a:extLst>
              <a:ext uri="{FF2B5EF4-FFF2-40B4-BE49-F238E27FC236}">
                <a16:creationId xmlns:a16="http://schemas.microsoft.com/office/drawing/2014/main" id="{D47F55E1-624B-43CA-B945-0E999FCD8578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r>
              <a:rPr lang="zh-CN" altLang="en-US" sz="2600" dirty="0"/>
              <a:t>是否存在冒险？</a:t>
            </a:r>
            <a:endParaRPr lang="en-US" altLang="zh-CN" sz="2600" dirty="0"/>
          </a:p>
          <a:p>
            <a:pPr lvl="1"/>
            <a:r>
              <a:rPr lang="en-US" altLang="zh-CN" sz="2000" dirty="0"/>
              <a:t>r1 is used right in the next instruction</a:t>
            </a:r>
            <a:endParaRPr lang="zh-CN" altLang="en-US" sz="2000" dirty="0"/>
          </a:p>
        </p:txBody>
      </p:sp>
      <p:sp>
        <p:nvSpPr>
          <p:cNvPr id="4" name="灯片编号占位符 3">
            <a:extLst>
              <a:ext uri="{FF2B5EF4-FFF2-40B4-BE49-F238E27FC236}">
                <a16:creationId xmlns:a16="http://schemas.microsoft.com/office/drawing/2014/main" id="{C73DE631-6AE3-470A-8ADF-D6428EDBB25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0626FCE3-5FF9-430D-BA0B-DE80AAE71673}" type="slidenum">
              <a:rPr lang="zh-CN" altLang="en-US" smtClean="0"/>
              <a:t>17</a:t>
            </a:fld>
            <a:endParaRPr lang="zh-CN" altLang="en-US"/>
          </a:p>
        </p:txBody>
      </p:sp>
      <p:sp>
        <p:nvSpPr>
          <p:cNvPr id="317" name="Rectangle 173">
            <a:extLst>
              <a:ext uri="{FF2B5EF4-FFF2-40B4-BE49-F238E27FC236}">
                <a16:creationId xmlns:a16="http://schemas.microsoft.com/office/drawing/2014/main" id="{7887D31B-67AC-95FE-B334-C0F2E1BB3E3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52513" y="3149600"/>
            <a:ext cx="5290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zh-CN" altLang="zh-CN" sz="1500" i="1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rPr>
              <a:t>I</a:t>
            </a:r>
            <a:endParaRPr kumimoji="0" lang="zh-CN" altLang="zh-CN" sz="1800" i="1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  <a:ea typeface="SimHei" panose="02010609060101010101" pitchFamily="49" charset="-122"/>
            </a:endParaRPr>
          </a:p>
        </p:txBody>
      </p:sp>
      <p:sp>
        <p:nvSpPr>
          <p:cNvPr id="318" name="Rectangle 174">
            <a:extLst>
              <a:ext uri="{FF2B5EF4-FFF2-40B4-BE49-F238E27FC236}">
                <a16:creationId xmlns:a16="http://schemas.microsoft.com/office/drawing/2014/main" id="{041E7B1A-EBE6-F461-25C6-4A4382D8CD3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28700" y="3382963"/>
            <a:ext cx="107402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zh-CN" altLang="zh-CN" sz="1500" i="1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rPr>
              <a:t>n</a:t>
            </a:r>
            <a:endParaRPr kumimoji="0" lang="zh-CN" altLang="zh-CN" sz="1800" i="1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  <a:ea typeface="SimHei" panose="02010609060101010101" pitchFamily="49" charset="-122"/>
            </a:endParaRPr>
          </a:p>
        </p:txBody>
      </p:sp>
      <p:sp>
        <p:nvSpPr>
          <p:cNvPr id="319" name="Rectangle 175">
            <a:extLst>
              <a:ext uri="{FF2B5EF4-FFF2-40B4-BE49-F238E27FC236}">
                <a16:creationId xmlns:a16="http://schemas.microsoft.com/office/drawing/2014/main" id="{5C443A4F-6BB0-2C16-EDED-C26BD9E21F2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28700" y="3616325"/>
            <a:ext cx="9618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zh-CN" altLang="zh-CN" sz="1500" i="1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rPr>
              <a:t>s</a:t>
            </a:r>
            <a:endParaRPr kumimoji="0" lang="zh-CN" altLang="zh-CN" sz="1800" i="1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  <a:ea typeface="SimHei" panose="02010609060101010101" pitchFamily="49" charset="-122"/>
            </a:endParaRPr>
          </a:p>
        </p:txBody>
      </p:sp>
      <p:sp>
        <p:nvSpPr>
          <p:cNvPr id="320" name="Rectangle 176">
            <a:extLst>
              <a:ext uri="{FF2B5EF4-FFF2-40B4-BE49-F238E27FC236}">
                <a16:creationId xmlns:a16="http://schemas.microsoft.com/office/drawing/2014/main" id="{7DE53156-94E9-046F-158F-BE3F14EDC22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52513" y="3848100"/>
            <a:ext cx="5290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zh-CN" altLang="zh-CN" sz="1500" i="1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rPr>
              <a:t>t</a:t>
            </a:r>
            <a:endParaRPr kumimoji="0" lang="zh-CN" altLang="zh-CN" sz="1800" i="1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  <a:ea typeface="SimHei" panose="02010609060101010101" pitchFamily="49" charset="-122"/>
            </a:endParaRPr>
          </a:p>
        </p:txBody>
      </p:sp>
      <p:sp>
        <p:nvSpPr>
          <p:cNvPr id="321" name="Rectangle 177">
            <a:extLst>
              <a:ext uri="{FF2B5EF4-FFF2-40B4-BE49-F238E27FC236}">
                <a16:creationId xmlns:a16="http://schemas.microsoft.com/office/drawing/2014/main" id="{A3079C39-0D6B-5EA8-0CE8-A0A95C16289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20763" y="4081463"/>
            <a:ext cx="109902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zh-CN" altLang="zh-CN" sz="1500" i="1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rPr>
              <a:t>r.</a:t>
            </a:r>
            <a:endParaRPr kumimoji="0" lang="zh-CN" altLang="zh-CN" sz="1800" i="1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  <a:ea typeface="SimHei" panose="02010609060101010101" pitchFamily="49" charset="-122"/>
            </a:endParaRPr>
          </a:p>
        </p:txBody>
      </p:sp>
      <p:sp>
        <p:nvSpPr>
          <p:cNvPr id="322" name="Rectangle 178">
            <a:extLst>
              <a:ext uri="{FF2B5EF4-FFF2-40B4-BE49-F238E27FC236}">
                <a16:creationId xmlns:a16="http://schemas.microsoft.com/office/drawing/2014/main" id="{3AA7142E-D84F-6797-E70D-250D52965F8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03300" y="4540250"/>
            <a:ext cx="14908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zh-CN" altLang="zh-CN" sz="1500" i="1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rPr>
              <a:t>O</a:t>
            </a:r>
            <a:endParaRPr kumimoji="0" lang="zh-CN" altLang="zh-CN" sz="1800" i="1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  <a:ea typeface="SimHei" panose="02010609060101010101" pitchFamily="49" charset="-122"/>
            </a:endParaRPr>
          </a:p>
        </p:txBody>
      </p:sp>
      <p:sp>
        <p:nvSpPr>
          <p:cNvPr id="323" name="Rectangle 179">
            <a:extLst>
              <a:ext uri="{FF2B5EF4-FFF2-40B4-BE49-F238E27FC236}">
                <a16:creationId xmlns:a16="http://schemas.microsoft.com/office/drawing/2014/main" id="{CAAF16ED-6CDB-0E08-3C18-DE2B5384D1B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44575" y="4773613"/>
            <a:ext cx="6412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zh-CN" altLang="zh-CN" sz="1500" i="1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rPr>
              <a:t>r</a:t>
            </a:r>
            <a:endParaRPr kumimoji="0" lang="zh-CN" altLang="zh-CN" sz="1800" i="1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  <a:ea typeface="SimHei" panose="02010609060101010101" pitchFamily="49" charset="-122"/>
            </a:endParaRPr>
          </a:p>
        </p:txBody>
      </p:sp>
      <p:sp>
        <p:nvSpPr>
          <p:cNvPr id="324" name="Rectangle 180">
            <a:extLst>
              <a:ext uri="{FF2B5EF4-FFF2-40B4-BE49-F238E27FC236}">
                <a16:creationId xmlns:a16="http://schemas.microsoft.com/office/drawing/2014/main" id="{4A1F89B4-119B-ABA9-ACE7-7C3E8960DB5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28700" y="5006975"/>
            <a:ext cx="107402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zh-CN" altLang="zh-CN" sz="1500" i="1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rPr>
              <a:t>d</a:t>
            </a:r>
            <a:endParaRPr kumimoji="0" lang="zh-CN" altLang="zh-CN" sz="1800" i="1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  <a:ea typeface="SimHei" panose="02010609060101010101" pitchFamily="49" charset="-122"/>
            </a:endParaRPr>
          </a:p>
        </p:txBody>
      </p:sp>
      <p:sp>
        <p:nvSpPr>
          <p:cNvPr id="325" name="Rectangle 181">
            <a:extLst>
              <a:ext uri="{FF2B5EF4-FFF2-40B4-BE49-F238E27FC236}">
                <a16:creationId xmlns:a16="http://schemas.microsoft.com/office/drawing/2014/main" id="{6C87CC05-2C26-D594-09BD-5419232C864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28700" y="5243513"/>
            <a:ext cx="107402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zh-CN" altLang="zh-CN" sz="1500" i="1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rPr>
              <a:t>e</a:t>
            </a:r>
            <a:endParaRPr kumimoji="0" lang="zh-CN" altLang="zh-CN" sz="1800" i="1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  <a:ea typeface="SimHei" panose="02010609060101010101" pitchFamily="49" charset="-122"/>
            </a:endParaRPr>
          </a:p>
        </p:txBody>
      </p:sp>
      <p:sp>
        <p:nvSpPr>
          <p:cNvPr id="326" name="Rectangle 182">
            <a:extLst>
              <a:ext uri="{FF2B5EF4-FFF2-40B4-BE49-F238E27FC236}">
                <a16:creationId xmlns:a16="http://schemas.microsoft.com/office/drawing/2014/main" id="{7A4A5006-8FA0-701A-13ED-DB81287AAC25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44575" y="5468938"/>
            <a:ext cx="6412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zh-CN" altLang="zh-CN" sz="1500" i="1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rPr>
              <a:t>r</a:t>
            </a:r>
            <a:endParaRPr kumimoji="0" lang="zh-CN" altLang="zh-CN" sz="1800" i="1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  <a:ea typeface="SimHei" panose="02010609060101010101" pitchFamily="49" charset="-122"/>
            </a:endParaRPr>
          </a:p>
        </p:txBody>
      </p:sp>
      <p:sp>
        <p:nvSpPr>
          <p:cNvPr id="328" name="Rectangle 184">
            <a:extLst>
              <a:ext uri="{FF2B5EF4-FFF2-40B4-BE49-F238E27FC236}">
                <a16:creationId xmlns:a16="http://schemas.microsoft.com/office/drawing/2014/main" id="{C8692C79-3E92-4DAE-5498-6A2AD69D8A2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371600" y="3017838"/>
            <a:ext cx="428002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zh-CN" altLang="zh-CN" sz="2000" u="none" strike="noStrike" cap="none" normalizeH="0" baseline="0" dirty="0">
                <a:ln>
                  <a:noFill/>
                </a:ln>
                <a:solidFill>
                  <a:srgbClr val="3333CC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rPr>
              <a:t>add</a:t>
            </a:r>
            <a:endParaRPr kumimoji="0" lang="zh-CN" altLang="zh-CN" sz="180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  <a:ea typeface="SimHei" panose="02010609060101010101" pitchFamily="49" charset="-122"/>
            </a:endParaRPr>
          </a:p>
        </p:txBody>
      </p:sp>
      <p:sp>
        <p:nvSpPr>
          <p:cNvPr id="329" name="Rectangle 185">
            <a:extLst>
              <a:ext uri="{FF2B5EF4-FFF2-40B4-BE49-F238E27FC236}">
                <a16:creationId xmlns:a16="http://schemas.microsoft.com/office/drawing/2014/main" id="{B82518FD-B896-9822-A375-8CDD14E760D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03413" y="3025775"/>
            <a:ext cx="227626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zh-CN" altLang="zh-CN" sz="2000" u="none" strike="noStrike" cap="none" normalizeH="0" baseline="0" dirty="0">
                <a:ln>
                  <a:noFill/>
                </a:ln>
                <a:solidFill>
                  <a:srgbClr val="DE2506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rPr>
              <a:t>r1</a:t>
            </a:r>
            <a:endParaRPr kumimoji="0" lang="zh-CN" altLang="zh-CN" sz="180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  <a:ea typeface="SimHei" panose="02010609060101010101" pitchFamily="49" charset="-122"/>
            </a:endParaRPr>
          </a:p>
        </p:txBody>
      </p:sp>
      <p:sp>
        <p:nvSpPr>
          <p:cNvPr id="330" name="Rectangle 186">
            <a:extLst>
              <a:ext uri="{FF2B5EF4-FFF2-40B4-BE49-F238E27FC236}">
                <a16:creationId xmlns:a16="http://schemas.microsoft.com/office/drawing/2014/main" id="{3FB80187-73FD-4D4E-767E-15E73AB7A32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38363" y="3025775"/>
            <a:ext cx="596317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zh-CN" altLang="zh-CN" sz="2000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rPr>
              <a:t>,r2,r3</a:t>
            </a:r>
            <a:endParaRPr kumimoji="0" lang="zh-CN" altLang="zh-CN" sz="180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  <a:ea typeface="SimHei" panose="02010609060101010101" pitchFamily="49" charset="-122"/>
            </a:endParaRPr>
          </a:p>
        </p:txBody>
      </p:sp>
      <p:sp>
        <p:nvSpPr>
          <p:cNvPr id="331" name="Rectangle 187">
            <a:extLst>
              <a:ext uri="{FF2B5EF4-FFF2-40B4-BE49-F238E27FC236}">
                <a16:creationId xmlns:a16="http://schemas.microsoft.com/office/drawing/2014/main" id="{34823BB0-DF55-C5F9-75F0-966A18EC415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371600" y="3735388"/>
            <a:ext cx="782265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zh-CN" altLang="zh-CN" sz="2000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rPr>
              <a:t>sub r4,</a:t>
            </a:r>
            <a:endParaRPr kumimoji="0" lang="zh-CN" altLang="zh-CN" sz="180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  <a:ea typeface="SimHei" panose="02010609060101010101" pitchFamily="49" charset="-122"/>
            </a:endParaRPr>
          </a:p>
        </p:txBody>
      </p:sp>
      <p:sp>
        <p:nvSpPr>
          <p:cNvPr id="332" name="Rectangle 188">
            <a:extLst>
              <a:ext uri="{FF2B5EF4-FFF2-40B4-BE49-F238E27FC236}">
                <a16:creationId xmlns:a16="http://schemas.microsoft.com/office/drawing/2014/main" id="{17C7B5E7-962C-87CE-2749-DCD40A4C04A3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62175" y="3735388"/>
            <a:ext cx="227626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zh-CN" altLang="zh-CN" sz="2000" u="none" strike="noStrike" cap="none" normalizeH="0" baseline="0" dirty="0">
                <a:ln>
                  <a:noFill/>
                </a:ln>
                <a:solidFill>
                  <a:srgbClr val="DE2506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rPr>
              <a:t>r1</a:t>
            </a:r>
            <a:endParaRPr kumimoji="0" lang="zh-CN" altLang="zh-CN" sz="180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  <a:ea typeface="SimHei" panose="02010609060101010101" pitchFamily="49" charset="-122"/>
            </a:endParaRPr>
          </a:p>
        </p:txBody>
      </p:sp>
      <p:sp>
        <p:nvSpPr>
          <p:cNvPr id="333" name="Rectangle 189">
            <a:extLst>
              <a:ext uri="{FF2B5EF4-FFF2-40B4-BE49-F238E27FC236}">
                <a16:creationId xmlns:a16="http://schemas.microsoft.com/office/drawing/2014/main" id="{1E4B3024-0D39-01A4-F06B-6125C7C14B7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95538" y="3735388"/>
            <a:ext cx="298159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zh-CN" altLang="zh-CN" sz="2000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rPr>
              <a:t>,r5</a:t>
            </a:r>
            <a:endParaRPr kumimoji="0" lang="zh-CN" altLang="zh-CN" sz="180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  <a:ea typeface="SimHei" panose="02010609060101010101" pitchFamily="49" charset="-122"/>
            </a:endParaRPr>
          </a:p>
        </p:txBody>
      </p:sp>
      <p:sp>
        <p:nvSpPr>
          <p:cNvPr id="334" name="Rectangle 190">
            <a:extLst>
              <a:ext uri="{FF2B5EF4-FFF2-40B4-BE49-F238E27FC236}">
                <a16:creationId xmlns:a16="http://schemas.microsoft.com/office/drawing/2014/main" id="{19791E4F-9B8A-B3BA-1224-B76F3DE29FE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371600" y="4479925"/>
            <a:ext cx="796693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zh-CN" altLang="zh-CN" sz="2000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rPr>
              <a:t>and r6,</a:t>
            </a:r>
            <a:endParaRPr kumimoji="0" lang="zh-CN" altLang="zh-CN" sz="180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  <a:ea typeface="SimHei" panose="02010609060101010101" pitchFamily="49" charset="-122"/>
            </a:endParaRPr>
          </a:p>
        </p:txBody>
      </p:sp>
      <p:sp>
        <p:nvSpPr>
          <p:cNvPr id="335" name="Rectangle 191">
            <a:extLst>
              <a:ext uri="{FF2B5EF4-FFF2-40B4-BE49-F238E27FC236}">
                <a16:creationId xmlns:a16="http://schemas.microsoft.com/office/drawing/2014/main" id="{F70A5E11-C5EC-6A23-83B8-39EC577E8AE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78050" y="4479925"/>
            <a:ext cx="227626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zh-CN" altLang="zh-CN" sz="2000" u="none" strike="noStrike" cap="none" normalizeH="0" baseline="0" dirty="0">
                <a:ln>
                  <a:noFill/>
                </a:ln>
                <a:solidFill>
                  <a:srgbClr val="DE2506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rPr>
              <a:t>r1</a:t>
            </a:r>
            <a:endParaRPr kumimoji="0" lang="zh-CN" altLang="zh-CN" sz="180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  <a:ea typeface="SimHei" panose="02010609060101010101" pitchFamily="49" charset="-122"/>
            </a:endParaRPr>
          </a:p>
        </p:txBody>
      </p:sp>
      <p:sp>
        <p:nvSpPr>
          <p:cNvPr id="336" name="Rectangle 192">
            <a:extLst>
              <a:ext uri="{FF2B5EF4-FFF2-40B4-BE49-F238E27FC236}">
                <a16:creationId xmlns:a16="http://schemas.microsoft.com/office/drawing/2014/main" id="{A1C7BBFC-4718-EE26-792B-80245E73C2FA}"/>
              </a:ext>
            </a:extLst>
          </p:cNvPr>
          <p:cNvSpPr>
            <a:spLocks noChangeArrowheads="1"/>
          </p:cNvSpPr>
          <p:nvPr/>
        </p:nvSpPr>
        <p:spPr bwMode="auto">
          <a:xfrm>
            <a:off x="2411413" y="4479925"/>
            <a:ext cx="298159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zh-CN" altLang="zh-CN" sz="2000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rPr>
              <a:t>,r7</a:t>
            </a:r>
            <a:endParaRPr kumimoji="0" lang="zh-CN" altLang="zh-CN" sz="180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  <a:ea typeface="SimHei" panose="02010609060101010101" pitchFamily="49" charset="-122"/>
            </a:endParaRPr>
          </a:p>
        </p:txBody>
      </p:sp>
      <p:sp>
        <p:nvSpPr>
          <p:cNvPr id="337" name="Rectangle 193">
            <a:extLst>
              <a:ext uri="{FF2B5EF4-FFF2-40B4-BE49-F238E27FC236}">
                <a16:creationId xmlns:a16="http://schemas.microsoft.com/office/drawing/2014/main" id="{AADA35CB-0D08-4CD3-851F-466E4F47B1F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371600" y="5922963"/>
            <a:ext cx="724557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zh-CN" altLang="zh-CN" sz="2000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rPr>
              <a:t>xor r4,</a:t>
            </a:r>
            <a:endParaRPr kumimoji="0" lang="zh-CN" altLang="zh-CN" sz="180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  <a:ea typeface="SimHei" panose="02010609060101010101" pitchFamily="49" charset="-122"/>
            </a:endParaRPr>
          </a:p>
        </p:txBody>
      </p:sp>
      <p:sp>
        <p:nvSpPr>
          <p:cNvPr id="338" name="Rectangle 194">
            <a:extLst>
              <a:ext uri="{FF2B5EF4-FFF2-40B4-BE49-F238E27FC236}">
                <a16:creationId xmlns:a16="http://schemas.microsoft.com/office/drawing/2014/main" id="{6418AEC2-4E0C-8342-DB66-8A1A3C706E7C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05025" y="5922963"/>
            <a:ext cx="227626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zh-CN" altLang="zh-CN" sz="2000" u="none" strike="noStrike" cap="none" normalizeH="0" baseline="0" dirty="0">
                <a:ln>
                  <a:noFill/>
                </a:ln>
                <a:solidFill>
                  <a:srgbClr val="009900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rPr>
              <a:t>r1</a:t>
            </a:r>
            <a:endParaRPr kumimoji="0" lang="zh-CN" altLang="zh-CN" sz="180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  <a:ea typeface="SimHei" panose="02010609060101010101" pitchFamily="49" charset="-122"/>
            </a:endParaRPr>
          </a:p>
        </p:txBody>
      </p:sp>
      <p:sp>
        <p:nvSpPr>
          <p:cNvPr id="339" name="Rectangle 195">
            <a:extLst>
              <a:ext uri="{FF2B5EF4-FFF2-40B4-BE49-F238E27FC236}">
                <a16:creationId xmlns:a16="http://schemas.microsoft.com/office/drawing/2014/main" id="{905AC54D-D288-1A37-0C2C-167C604A9B6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39975" y="5922963"/>
            <a:ext cx="298159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zh-CN" altLang="zh-CN" sz="2000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rPr>
              <a:t>,r5</a:t>
            </a:r>
            <a:endParaRPr kumimoji="0" lang="zh-CN" altLang="zh-CN" sz="180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  <a:ea typeface="SimHei" panose="02010609060101010101" pitchFamily="49" charset="-122"/>
            </a:endParaRPr>
          </a:p>
        </p:txBody>
      </p:sp>
      <p:sp>
        <p:nvSpPr>
          <p:cNvPr id="348" name="Rectangle 204">
            <a:extLst>
              <a:ext uri="{FF2B5EF4-FFF2-40B4-BE49-F238E27FC236}">
                <a16:creationId xmlns:a16="http://schemas.microsoft.com/office/drawing/2014/main" id="{A8A88E97-71CD-D7C7-AEC0-E4118D27EEE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371600" y="5187950"/>
            <a:ext cx="737381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zh-CN" altLang="zh-CN" sz="2000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rPr>
              <a:t>or  r8, </a:t>
            </a:r>
            <a:endParaRPr kumimoji="0" lang="zh-CN" altLang="zh-CN" sz="180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  <a:ea typeface="SimHei" panose="02010609060101010101" pitchFamily="49" charset="-122"/>
            </a:endParaRPr>
          </a:p>
        </p:txBody>
      </p:sp>
      <p:sp>
        <p:nvSpPr>
          <p:cNvPr id="349" name="Rectangle 205">
            <a:extLst>
              <a:ext uri="{FF2B5EF4-FFF2-40B4-BE49-F238E27FC236}">
                <a16:creationId xmlns:a16="http://schemas.microsoft.com/office/drawing/2014/main" id="{5F66F0F9-11B6-A48B-58CD-C6F51A410035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14550" y="5187950"/>
            <a:ext cx="227626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zh-CN" altLang="zh-CN" sz="2000" u="none" strike="noStrike" cap="none" normalizeH="0" baseline="0" dirty="0">
                <a:ln>
                  <a:noFill/>
                </a:ln>
                <a:solidFill>
                  <a:srgbClr val="009900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rPr>
              <a:t>r1</a:t>
            </a:r>
            <a:endParaRPr kumimoji="0" lang="zh-CN" altLang="zh-CN" sz="180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  <a:ea typeface="SimHei" panose="02010609060101010101" pitchFamily="49" charset="-122"/>
            </a:endParaRPr>
          </a:p>
        </p:txBody>
      </p:sp>
      <p:sp>
        <p:nvSpPr>
          <p:cNvPr id="350" name="Rectangle 206">
            <a:extLst>
              <a:ext uri="{FF2B5EF4-FFF2-40B4-BE49-F238E27FC236}">
                <a16:creationId xmlns:a16="http://schemas.microsoft.com/office/drawing/2014/main" id="{FFF17D7C-36BC-A530-9786-58795B0F1EF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47913" y="5187950"/>
            <a:ext cx="368691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zh-CN" altLang="zh-CN" sz="2000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rPr>
              <a:t>, r9</a:t>
            </a:r>
            <a:endParaRPr kumimoji="0" lang="zh-CN" altLang="zh-CN" sz="180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  <a:ea typeface="SimHei" panose="02010609060101010101" pitchFamily="49" charset="-122"/>
            </a:endParaRPr>
          </a:p>
        </p:txBody>
      </p:sp>
      <p:sp>
        <p:nvSpPr>
          <p:cNvPr id="351" name="Freeform 207">
            <a:extLst>
              <a:ext uri="{FF2B5EF4-FFF2-40B4-BE49-F238E27FC236}">
                <a16:creationId xmlns:a16="http://schemas.microsoft.com/office/drawing/2014/main" id="{461CA2F9-3763-7646-20F5-D93E01F17EEA}"/>
              </a:ext>
            </a:extLst>
          </p:cNvPr>
          <p:cNvSpPr>
            <a:spLocks noEditPoints="1"/>
          </p:cNvSpPr>
          <p:nvPr/>
        </p:nvSpPr>
        <p:spPr bwMode="auto">
          <a:xfrm>
            <a:off x="1195388" y="3036888"/>
            <a:ext cx="71437" cy="3286125"/>
          </a:xfrm>
          <a:custGeom>
            <a:avLst/>
            <a:gdLst>
              <a:gd name="T0" fmla="*/ 30 w 45"/>
              <a:gd name="T1" fmla="*/ 0 h 2070"/>
              <a:gd name="T2" fmla="*/ 30 w 45"/>
              <a:gd name="T3" fmla="*/ 2032 h 2070"/>
              <a:gd name="T4" fmla="*/ 15 w 45"/>
              <a:gd name="T5" fmla="*/ 2032 h 2070"/>
              <a:gd name="T6" fmla="*/ 15 w 45"/>
              <a:gd name="T7" fmla="*/ 0 h 2070"/>
              <a:gd name="T8" fmla="*/ 30 w 45"/>
              <a:gd name="T9" fmla="*/ 0 h 2070"/>
              <a:gd name="T10" fmla="*/ 45 w 45"/>
              <a:gd name="T11" fmla="*/ 2024 h 2070"/>
              <a:gd name="T12" fmla="*/ 22 w 45"/>
              <a:gd name="T13" fmla="*/ 2070 h 2070"/>
              <a:gd name="T14" fmla="*/ 0 w 45"/>
              <a:gd name="T15" fmla="*/ 2024 h 2070"/>
              <a:gd name="T16" fmla="*/ 45 w 45"/>
              <a:gd name="T17" fmla="*/ 2024 h 20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45" h="2070">
                <a:moveTo>
                  <a:pt x="30" y="0"/>
                </a:moveTo>
                <a:lnTo>
                  <a:pt x="30" y="2032"/>
                </a:lnTo>
                <a:lnTo>
                  <a:pt x="15" y="2032"/>
                </a:lnTo>
                <a:lnTo>
                  <a:pt x="15" y="0"/>
                </a:lnTo>
                <a:lnTo>
                  <a:pt x="30" y="0"/>
                </a:lnTo>
                <a:close/>
                <a:moveTo>
                  <a:pt x="45" y="2024"/>
                </a:moveTo>
                <a:lnTo>
                  <a:pt x="22" y="2070"/>
                </a:lnTo>
                <a:lnTo>
                  <a:pt x="0" y="2024"/>
                </a:lnTo>
                <a:lnTo>
                  <a:pt x="45" y="2024"/>
                </a:lnTo>
                <a:close/>
              </a:path>
            </a:pathLst>
          </a:custGeom>
          <a:solidFill>
            <a:srgbClr val="000000"/>
          </a:solidFill>
          <a:ln w="0" cap="flat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i="1" dirty="0">
              <a:ea typeface="SimHei" panose="02010609060101010101" pitchFamily="49" charset="-122"/>
            </a:endParaRPr>
          </a:p>
        </p:txBody>
      </p:sp>
      <p:grpSp>
        <p:nvGrpSpPr>
          <p:cNvPr id="482" name="组合 481">
            <a:extLst>
              <a:ext uri="{FF2B5EF4-FFF2-40B4-BE49-F238E27FC236}">
                <a16:creationId xmlns:a16="http://schemas.microsoft.com/office/drawing/2014/main" id="{94732548-B5A0-155D-FB39-06EF028B742E}"/>
              </a:ext>
            </a:extLst>
          </p:cNvPr>
          <p:cNvGrpSpPr/>
          <p:nvPr/>
        </p:nvGrpSpPr>
        <p:grpSpPr>
          <a:xfrm>
            <a:off x="2876002" y="2676863"/>
            <a:ext cx="5293416" cy="3825537"/>
            <a:chOff x="2187795" y="3078501"/>
            <a:chExt cx="5156755" cy="3726773"/>
          </a:xfrm>
        </p:grpSpPr>
        <p:sp>
          <p:nvSpPr>
            <p:cNvPr id="485" name="Freeform 27">
              <a:extLst>
                <a:ext uri="{FF2B5EF4-FFF2-40B4-BE49-F238E27FC236}">
                  <a16:creationId xmlns:a16="http://schemas.microsoft.com/office/drawing/2014/main" id="{3385C091-E9E5-0876-F6B2-6E3F9C536EA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676124" y="3078501"/>
              <a:ext cx="18000" cy="3726773"/>
            </a:xfrm>
            <a:custGeom>
              <a:avLst/>
              <a:gdLst>
                <a:gd name="T0" fmla="*/ 15 w 15"/>
                <a:gd name="T1" fmla="*/ 42 h 2453"/>
                <a:gd name="T2" fmla="*/ 0 w 15"/>
                <a:gd name="T3" fmla="*/ 56 h 2453"/>
                <a:gd name="T4" fmla="*/ 15 w 15"/>
                <a:gd name="T5" fmla="*/ 112 h 2453"/>
                <a:gd name="T6" fmla="*/ 0 w 15"/>
                <a:gd name="T7" fmla="*/ 154 h 2453"/>
                <a:gd name="T8" fmla="*/ 15 w 15"/>
                <a:gd name="T9" fmla="*/ 167 h 2453"/>
                <a:gd name="T10" fmla="*/ 15 w 15"/>
                <a:gd name="T11" fmla="*/ 237 h 2453"/>
                <a:gd name="T12" fmla="*/ 0 w 15"/>
                <a:gd name="T13" fmla="*/ 251 h 2453"/>
                <a:gd name="T14" fmla="*/ 15 w 15"/>
                <a:gd name="T15" fmla="*/ 307 h 2453"/>
                <a:gd name="T16" fmla="*/ 0 w 15"/>
                <a:gd name="T17" fmla="*/ 348 h 2453"/>
                <a:gd name="T18" fmla="*/ 15 w 15"/>
                <a:gd name="T19" fmla="*/ 362 h 2453"/>
                <a:gd name="T20" fmla="*/ 15 w 15"/>
                <a:gd name="T21" fmla="*/ 432 h 2453"/>
                <a:gd name="T22" fmla="*/ 0 w 15"/>
                <a:gd name="T23" fmla="*/ 446 h 2453"/>
                <a:gd name="T24" fmla="*/ 15 w 15"/>
                <a:gd name="T25" fmla="*/ 501 h 2453"/>
                <a:gd name="T26" fmla="*/ 0 w 15"/>
                <a:gd name="T27" fmla="*/ 543 h 2453"/>
                <a:gd name="T28" fmla="*/ 15 w 15"/>
                <a:gd name="T29" fmla="*/ 557 h 2453"/>
                <a:gd name="T30" fmla="*/ 15 w 15"/>
                <a:gd name="T31" fmla="*/ 627 h 2453"/>
                <a:gd name="T32" fmla="*/ 0 w 15"/>
                <a:gd name="T33" fmla="*/ 641 h 2453"/>
                <a:gd name="T34" fmla="*/ 15 w 15"/>
                <a:gd name="T35" fmla="*/ 696 h 2453"/>
                <a:gd name="T36" fmla="*/ 0 w 15"/>
                <a:gd name="T37" fmla="*/ 738 h 2453"/>
                <a:gd name="T38" fmla="*/ 15 w 15"/>
                <a:gd name="T39" fmla="*/ 752 h 2453"/>
                <a:gd name="T40" fmla="*/ 15 w 15"/>
                <a:gd name="T41" fmla="*/ 822 h 2453"/>
                <a:gd name="T42" fmla="*/ 0 w 15"/>
                <a:gd name="T43" fmla="*/ 835 h 2453"/>
                <a:gd name="T44" fmla="*/ 15 w 15"/>
                <a:gd name="T45" fmla="*/ 891 h 2453"/>
                <a:gd name="T46" fmla="*/ 0 w 15"/>
                <a:gd name="T47" fmla="*/ 933 h 2453"/>
                <a:gd name="T48" fmla="*/ 15 w 15"/>
                <a:gd name="T49" fmla="*/ 947 h 2453"/>
                <a:gd name="T50" fmla="*/ 15 w 15"/>
                <a:gd name="T51" fmla="*/ 1016 h 2453"/>
                <a:gd name="T52" fmla="*/ 0 w 15"/>
                <a:gd name="T53" fmla="*/ 1030 h 2453"/>
                <a:gd name="T54" fmla="*/ 15 w 15"/>
                <a:gd name="T55" fmla="*/ 1086 h 2453"/>
                <a:gd name="T56" fmla="*/ 0 w 15"/>
                <a:gd name="T57" fmla="*/ 1127 h 2453"/>
                <a:gd name="T58" fmla="*/ 15 w 15"/>
                <a:gd name="T59" fmla="*/ 1141 h 2453"/>
                <a:gd name="T60" fmla="*/ 15 w 15"/>
                <a:gd name="T61" fmla="*/ 1211 h 2453"/>
                <a:gd name="T62" fmla="*/ 0 w 15"/>
                <a:gd name="T63" fmla="*/ 1225 h 2453"/>
                <a:gd name="T64" fmla="*/ 15 w 15"/>
                <a:gd name="T65" fmla="*/ 1281 h 2453"/>
                <a:gd name="T66" fmla="*/ 0 w 15"/>
                <a:gd name="T67" fmla="*/ 1322 h 2453"/>
                <a:gd name="T68" fmla="*/ 15 w 15"/>
                <a:gd name="T69" fmla="*/ 1336 h 2453"/>
                <a:gd name="T70" fmla="*/ 15 w 15"/>
                <a:gd name="T71" fmla="*/ 1406 h 2453"/>
                <a:gd name="T72" fmla="*/ 0 w 15"/>
                <a:gd name="T73" fmla="*/ 1420 h 2453"/>
                <a:gd name="T74" fmla="*/ 15 w 15"/>
                <a:gd name="T75" fmla="*/ 1475 h 2453"/>
                <a:gd name="T76" fmla="*/ 0 w 15"/>
                <a:gd name="T77" fmla="*/ 1517 h 2453"/>
                <a:gd name="T78" fmla="*/ 15 w 15"/>
                <a:gd name="T79" fmla="*/ 1531 h 2453"/>
                <a:gd name="T80" fmla="*/ 15 w 15"/>
                <a:gd name="T81" fmla="*/ 1601 h 2453"/>
                <a:gd name="T82" fmla="*/ 0 w 15"/>
                <a:gd name="T83" fmla="*/ 1615 h 2453"/>
                <a:gd name="T84" fmla="*/ 15 w 15"/>
                <a:gd name="T85" fmla="*/ 1670 h 2453"/>
                <a:gd name="T86" fmla="*/ 0 w 15"/>
                <a:gd name="T87" fmla="*/ 1712 h 2453"/>
                <a:gd name="T88" fmla="*/ 15 w 15"/>
                <a:gd name="T89" fmla="*/ 1726 h 2453"/>
                <a:gd name="T90" fmla="*/ 15 w 15"/>
                <a:gd name="T91" fmla="*/ 1795 h 2453"/>
                <a:gd name="T92" fmla="*/ 0 w 15"/>
                <a:gd name="T93" fmla="*/ 1809 h 2453"/>
                <a:gd name="T94" fmla="*/ 15 w 15"/>
                <a:gd name="T95" fmla="*/ 1865 h 2453"/>
                <a:gd name="T96" fmla="*/ 0 w 15"/>
                <a:gd name="T97" fmla="*/ 1907 h 2453"/>
                <a:gd name="T98" fmla="*/ 15 w 15"/>
                <a:gd name="T99" fmla="*/ 1921 h 2453"/>
                <a:gd name="T100" fmla="*/ 15 w 15"/>
                <a:gd name="T101" fmla="*/ 1990 h 2453"/>
                <a:gd name="T102" fmla="*/ 0 w 15"/>
                <a:gd name="T103" fmla="*/ 2004 h 2453"/>
                <a:gd name="T104" fmla="*/ 15 w 15"/>
                <a:gd name="T105" fmla="*/ 2060 h 2453"/>
                <a:gd name="T106" fmla="*/ 0 w 15"/>
                <a:gd name="T107" fmla="*/ 2102 h 2453"/>
                <a:gd name="T108" fmla="*/ 15 w 15"/>
                <a:gd name="T109" fmla="*/ 2116 h 2453"/>
                <a:gd name="T110" fmla="*/ 15 w 15"/>
                <a:gd name="T111" fmla="*/ 2185 h 2453"/>
                <a:gd name="T112" fmla="*/ 0 w 15"/>
                <a:gd name="T113" fmla="*/ 2199 h 2453"/>
                <a:gd name="T114" fmla="*/ 15 w 15"/>
                <a:gd name="T115" fmla="*/ 2254 h 2453"/>
                <a:gd name="T116" fmla="*/ 0 w 15"/>
                <a:gd name="T117" fmla="*/ 2296 h 2453"/>
                <a:gd name="T118" fmla="*/ 15 w 15"/>
                <a:gd name="T119" fmla="*/ 2310 h 2453"/>
                <a:gd name="T120" fmla="*/ 15 w 15"/>
                <a:gd name="T121" fmla="*/ 2380 h 2453"/>
                <a:gd name="T122" fmla="*/ 0 w 15"/>
                <a:gd name="T123" fmla="*/ 2394 h 2453"/>
                <a:gd name="T124" fmla="*/ 15 w 15"/>
                <a:gd name="T125" fmla="*/ 2449 h 24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5" h="2453">
                  <a:moveTo>
                    <a:pt x="15" y="0"/>
                  </a:moveTo>
                  <a:lnTo>
                    <a:pt x="15" y="14"/>
                  </a:lnTo>
                  <a:lnTo>
                    <a:pt x="0" y="14"/>
                  </a:lnTo>
                  <a:lnTo>
                    <a:pt x="0" y="0"/>
                  </a:lnTo>
                  <a:lnTo>
                    <a:pt x="15" y="0"/>
                  </a:lnTo>
                  <a:close/>
                  <a:moveTo>
                    <a:pt x="15" y="28"/>
                  </a:moveTo>
                  <a:lnTo>
                    <a:pt x="15" y="42"/>
                  </a:lnTo>
                  <a:lnTo>
                    <a:pt x="0" y="42"/>
                  </a:lnTo>
                  <a:lnTo>
                    <a:pt x="0" y="28"/>
                  </a:lnTo>
                  <a:lnTo>
                    <a:pt x="15" y="28"/>
                  </a:lnTo>
                  <a:close/>
                  <a:moveTo>
                    <a:pt x="15" y="56"/>
                  </a:moveTo>
                  <a:lnTo>
                    <a:pt x="15" y="70"/>
                  </a:lnTo>
                  <a:lnTo>
                    <a:pt x="0" y="70"/>
                  </a:lnTo>
                  <a:lnTo>
                    <a:pt x="0" y="56"/>
                  </a:lnTo>
                  <a:lnTo>
                    <a:pt x="15" y="56"/>
                  </a:lnTo>
                  <a:close/>
                  <a:moveTo>
                    <a:pt x="15" y="84"/>
                  </a:moveTo>
                  <a:lnTo>
                    <a:pt x="15" y="98"/>
                  </a:lnTo>
                  <a:lnTo>
                    <a:pt x="0" y="98"/>
                  </a:lnTo>
                  <a:lnTo>
                    <a:pt x="0" y="84"/>
                  </a:lnTo>
                  <a:lnTo>
                    <a:pt x="15" y="84"/>
                  </a:lnTo>
                  <a:close/>
                  <a:moveTo>
                    <a:pt x="15" y="112"/>
                  </a:moveTo>
                  <a:lnTo>
                    <a:pt x="15" y="126"/>
                  </a:lnTo>
                  <a:lnTo>
                    <a:pt x="0" y="126"/>
                  </a:lnTo>
                  <a:lnTo>
                    <a:pt x="0" y="112"/>
                  </a:lnTo>
                  <a:lnTo>
                    <a:pt x="15" y="112"/>
                  </a:lnTo>
                  <a:close/>
                  <a:moveTo>
                    <a:pt x="15" y="140"/>
                  </a:moveTo>
                  <a:lnTo>
                    <a:pt x="15" y="154"/>
                  </a:lnTo>
                  <a:lnTo>
                    <a:pt x="0" y="154"/>
                  </a:lnTo>
                  <a:lnTo>
                    <a:pt x="0" y="140"/>
                  </a:lnTo>
                  <a:lnTo>
                    <a:pt x="15" y="140"/>
                  </a:lnTo>
                  <a:close/>
                  <a:moveTo>
                    <a:pt x="15" y="167"/>
                  </a:moveTo>
                  <a:lnTo>
                    <a:pt x="15" y="181"/>
                  </a:lnTo>
                  <a:lnTo>
                    <a:pt x="0" y="181"/>
                  </a:lnTo>
                  <a:lnTo>
                    <a:pt x="0" y="167"/>
                  </a:lnTo>
                  <a:lnTo>
                    <a:pt x="15" y="167"/>
                  </a:lnTo>
                  <a:close/>
                  <a:moveTo>
                    <a:pt x="15" y="195"/>
                  </a:moveTo>
                  <a:lnTo>
                    <a:pt x="15" y="209"/>
                  </a:lnTo>
                  <a:lnTo>
                    <a:pt x="0" y="209"/>
                  </a:lnTo>
                  <a:lnTo>
                    <a:pt x="0" y="195"/>
                  </a:lnTo>
                  <a:lnTo>
                    <a:pt x="15" y="195"/>
                  </a:lnTo>
                  <a:close/>
                  <a:moveTo>
                    <a:pt x="15" y="223"/>
                  </a:moveTo>
                  <a:lnTo>
                    <a:pt x="15" y="237"/>
                  </a:lnTo>
                  <a:lnTo>
                    <a:pt x="0" y="237"/>
                  </a:lnTo>
                  <a:lnTo>
                    <a:pt x="0" y="223"/>
                  </a:lnTo>
                  <a:lnTo>
                    <a:pt x="15" y="223"/>
                  </a:lnTo>
                  <a:close/>
                  <a:moveTo>
                    <a:pt x="15" y="251"/>
                  </a:moveTo>
                  <a:lnTo>
                    <a:pt x="15" y="265"/>
                  </a:lnTo>
                  <a:lnTo>
                    <a:pt x="0" y="265"/>
                  </a:lnTo>
                  <a:lnTo>
                    <a:pt x="0" y="251"/>
                  </a:lnTo>
                  <a:lnTo>
                    <a:pt x="15" y="251"/>
                  </a:lnTo>
                  <a:close/>
                  <a:moveTo>
                    <a:pt x="15" y="279"/>
                  </a:moveTo>
                  <a:lnTo>
                    <a:pt x="15" y="293"/>
                  </a:lnTo>
                  <a:lnTo>
                    <a:pt x="0" y="293"/>
                  </a:lnTo>
                  <a:lnTo>
                    <a:pt x="0" y="279"/>
                  </a:lnTo>
                  <a:lnTo>
                    <a:pt x="15" y="279"/>
                  </a:lnTo>
                  <a:close/>
                  <a:moveTo>
                    <a:pt x="15" y="307"/>
                  </a:moveTo>
                  <a:lnTo>
                    <a:pt x="15" y="321"/>
                  </a:lnTo>
                  <a:lnTo>
                    <a:pt x="0" y="321"/>
                  </a:lnTo>
                  <a:lnTo>
                    <a:pt x="0" y="307"/>
                  </a:lnTo>
                  <a:lnTo>
                    <a:pt x="15" y="307"/>
                  </a:lnTo>
                  <a:close/>
                  <a:moveTo>
                    <a:pt x="15" y="334"/>
                  </a:moveTo>
                  <a:lnTo>
                    <a:pt x="15" y="348"/>
                  </a:lnTo>
                  <a:lnTo>
                    <a:pt x="0" y="348"/>
                  </a:lnTo>
                  <a:lnTo>
                    <a:pt x="0" y="334"/>
                  </a:lnTo>
                  <a:lnTo>
                    <a:pt x="15" y="334"/>
                  </a:lnTo>
                  <a:close/>
                  <a:moveTo>
                    <a:pt x="15" y="362"/>
                  </a:moveTo>
                  <a:lnTo>
                    <a:pt x="15" y="376"/>
                  </a:lnTo>
                  <a:lnTo>
                    <a:pt x="0" y="376"/>
                  </a:lnTo>
                  <a:lnTo>
                    <a:pt x="0" y="362"/>
                  </a:lnTo>
                  <a:lnTo>
                    <a:pt x="15" y="362"/>
                  </a:lnTo>
                  <a:close/>
                  <a:moveTo>
                    <a:pt x="15" y="390"/>
                  </a:moveTo>
                  <a:lnTo>
                    <a:pt x="15" y="404"/>
                  </a:lnTo>
                  <a:lnTo>
                    <a:pt x="0" y="404"/>
                  </a:lnTo>
                  <a:lnTo>
                    <a:pt x="0" y="390"/>
                  </a:lnTo>
                  <a:lnTo>
                    <a:pt x="15" y="390"/>
                  </a:lnTo>
                  <a:close/>
                  <a:moveTo>
                    <a:pt x="15" y="418"/>
                  </a:moveTo>
                  <a:lnTo>
                    <a:pt x="15" y="432"/>
                  </a:lnTo>
                  <a:lnTo>
                    <a:pt x="0" y="432"/>
                  </a:lnTo>
                  <a:lnTo>
                    <a:pt x="0" y="418"/>
                  </a:lnTo>
                  <a:lnTo>
                    <a:pt x="15" y="418"/>
                  </a:lnTo>
                  <a:close/>
                  <a:moveTo>
                    <a:pt x="15" y="446"/>
                  </a:moveTo>
                  <a:lnTo>
                    <a:pt x="15" y="460"/>
                  </a:lnTo>
                  <a:lnTo>
                    <a:pt x="0" y="460"/>
                  </a:lnTo>
                  <a:lnTo>
                    <a:pt x="0" y="446"/>
                  </a:lnTo>
                  <a:lnTo>
                    <a:pt x="15" y="446"/>
                  </a:lnTo>
                  <a:close/>
                  <a:moveTo>
                    <a:pt x="15" y="474"/>
                  </a:moveTo>
                  <a:lnTo>
                    <a:pt x="15" y="488"/>
                  </a:lnTo>
                  <a:lnTo>
                    <a:pt x="0" y="488"/>
                  </a:lnTo>
                  <a:lnTo>
                    <a:pt x="0" y="474"/>
                  </a:lnTo>
                  <a:lnTo>
                    <a:pt x="15" y="474"/>
                  </a:lnTo>
                  <a:close/>
                  <a:moveTo>
                    <a:pt x="15" y="501"/>
                  </a:moveTo>
                  <a:lnTo>
                    <a:pt x="15" y="515"/>
                  </a:lnTo>
                  <a:lnTo>
                    <a:pt x="0" y="515"/>
                  </a:lnTo>
                  <a:lnTo>
                    <a:pt x="0" y="501"/>
                  </a:lnTo>
                  <a:lnTo>
                    <a:pt x="15" y="501"/>
                  </a:lnTo>
                  <a:close/>
                  <a:moveTo>
                    <a:pt x="15" y="529"/>
                  </a:moveTo>
                  <a:lnTo>
                    <a:pt x="15" y="543"/>
                  </a:lnTo>
                  <a:lnTo>
                    <a:pt x="0" y="543"/>
                  </a:lnTo>
                  <a:lnTo>
                    <a:pt x="0" y="529"/>
                  </a:lnTo>
                  <a:lnTo>
                    <a:pt x="15" y="529"/>
                  </a:lnTo>
                  <a:close/>
                  <a:moveTo>
                    <a:pt x="15" y="557"/>
                  </a:moveTo>
                  <a:lnTo>
                    <a:pt x="15" y="571"/>
                  </a:lnTo>
                  <a:lnTo>
                    <a:pt x="0" y="571"/>
                  </a:lnTo>
                  <a:lnTo>
                    <a:pt x="0" y="557"/>
                  </a:lnTo>
                  <a:lnTo>
                    <a:pt x="15" y="557"/>
                  </a:lnTo>
                  <a:close/>
                  <a:moveTo>
                    <a:pt x="15" y="585"/>
                  </a:moveTo>
                  <a:lnTo>
                    <a:pt x="15" y="599"/>
                  </a:lnTo>
                  <a:lnTo>
                    <a:pt x="0" y="599"/>
                  </a:lnTo>
                  <a:lnTo>
                    <a:pt x="0" y="585"/>
                  </a:lnTo>
                  <a:lnTo>
                    <a:pt x="15" y="585"/>
                  </a:lnTo>
                  <a:close/>
                  <a:moveTo>
                    <a:pt x="15" y="613"/>
                  </a:moveTo>
                  <a:lnTo>
                    <a:pt x="15" y="627"/>
                  </a:lnTo>
                  <a:lnTo>
                    <a:pt x="0" y="627"/>
                  </a:lnTo>
                  <a:lnTo>
                    <a:pt x="0" y="613"/>
                  </a:lnTo>
                  <a:lnTo>
                    <a:pt x="15" y="613"/>
                  </a:lnTo>
                  <a:close/>
                  <a:moveTo>
                    <a:pt x="15" y="641"/>
                  </a:moveTo>
                  <a:lnTo>
                    <a:pt x="15" y="655"/>
                  </a:lnTo>
                  <a:lnTo>
                    <a:pt x="0" y="655"/>
                  </a:lnTo>
                  <a:lnTo>
                    <a:pt x="0" y="641"/>
                  </a:lnTo>
                  <a:lnTo>
                    <a:pt x="15" y="641"/>
                  </a:lnTo>
                  <a:close/>
                  <a:moveTo>
                    <a:pt x="15" y="668"/>
                  </a:moveTo>
                  <a:lnTo>
                    <a:pt x="15" y="682"/>
                  </a:lnTo>
                  <a:lnTo>
                    <a:pt x="0" y="682"/>
                  </a:lnTo>
                  <a:lnTo>
                    <a:pt x="0" y="668"/>
                  </a:lnTo>
                  <a:lnTo>
                    <a:pt x="15" y="668"/>
                  </a:lnTo>
                  <a:close/>
                  <a:moveTo>
                    <a:pt x="15" y="696"/>
                  </a:moveTo>
                  <a:lnTo>
                    <a:pt x="15" y="710"/>
                  </a:lnTo>
                  <a:lnTo>
                    <a:pt x="0" y="710"/>
                  </a:lnTo>
                  <a:lnTo>
                    <a:pt x="0" y="696"/>
                  </a:lnTo>
                  <a:lnTo>
                    <a:pt x="15" y="696"/>
                  </a:lnTo>
                  <a:close/>
                  <a:moveTo>
                    <a:pt x="15" y="724"/>
                  </a:moveTo>
                  <a:lnTo>
                    <a:pt x="15" y="738"/>
                  </a:lnTo>
                  <a:lnTo>
                    <a:pt x="0" y="738"/>
                  </a:lnTo>
                  <a:lnTo>
                    <a:pt x="0" y="724"/>
                  </a:lnTo>
                  <a:lnTo>
                    <a:pt x="15" y="724"/>
                  </a:lnTo>
                  <a:close/>
                  <a:moveTo>
                    <a:pt x="15" y="752"/>
                  </a:moveTo>
                  <a:lnTo>
                    <a:pt x="15" y="766"/>
                  </a:lnTo>
                  <a:lnTo>
                    <a:pt x="0" y="766"/>
                  </a:lnTo>
                  <a:lnTo>
                    <a:pt x="0" y="752"/>
                  </a:lnTo>
                  <a:lnTo>
                    <a:pt x="15" y="752"/>
                  </a:lnTo>
                  <a:close/>
                  <a:moveTo>
                    <a:pt x="15" y="780"/>
                  </a:moveTo>
                  <a:lnTo>
                    <a:pt x="15" y="793"/>
                  </a:lnTo>
                  <a:lnTo>
                    <a:pt x="0" y="793"/>
                  </a:lnTo>
                  <a:lnTo>
                    <a:pt x="0" y="780"/>
                  </a:lnTo>
                  <a:lnTo>
                    <a:pt x="15" y="780"/>
                  </a:lnTo>
                  <a:close/>
                  <a:moveTo>
                    <a:pt x="15" y="808"/>
                  </a:moveTo>
                  <a:lnTo>
                    <a:pt x="15" y="822"/>
                  </a:lnTo>
                  <a:lnTo>
                    <a:pt x="0" y="822"/>
                  </a:lnTo>
                  <a:lnTo>
                    <a:pt x="0" y="808"/>
                  </a:lnTo>
                  <a:lnTo>
                    <a:pt x="15" y="808"/>
                  </a:lnTo>
                  <a:close/>
                  <a:moveTo>
                    <a:pt x="15" y="835"/>
                  </a:moveTo>
                  <a:lnTo>
                    <a:pt x="15" y="849"/>
                  </a:lnTo>
                  <a:lnTo>
                    <a:pt x="0" y="849"/>
                  </a:lnTo>
                  <a:lnTo>
                    <a:pt x="0" y="835"/>
                  </a:lnTo>
                  <a:lnTo>
                    <a:pt x="15" y="835"/>
                  </a:lnTo>
                  <a:close/>
                  <a:moveTo>
                    <a:pt x="15" y="863"/>
                  </a:moveTo>
                  <a:lnTo>
                    <a:pt x="15" y="877"/>
                  </a:lnTo>
                  <a:lnTo>
                    <a:pt x="0" y="877"/>
                  </a:lnTo>
                  <a:lnTo>
                    <a:pt x="0" y="863"/>
                  </a:lnTo>
                  <a:lnTo>
                    <a:pt x="15" y="863"/>
                  </a:lnTo>
                  <a:close/>
                  <a:moveTo>
                    <a:pt x="15" y="891"/>
                  </a:moveTo>
                  <a:lnTo>
                    <a:pt x="15" y="905"/>
                  </a:lnTo>
                  <a:lnTo>
                    <a:pt x="0" y="905"/>
                  </a:lnTo>
                  <a:lnTo>
                    <a:pt x="0" y="891"/>
                  </a:lnTo>
                  <a:lnTo>
                    <a:pt x="15" y="891"/>
                  </a:lnTo>
                  <a:close/>
                  <a:moveTo>
                    <a:pt x="15" y="919"/>
                  </a:moveTo>
                  <a:lnTo>
                    <a:pt x="15" y="933"/>
                  </a:lnTo>
                  <a:lnTo>
                    <a:pt x="0" y="933"/>
                  </a:lnTo>
                  <a:lnTo>
                    <a:pt x="0" y="919"/>
                  </a:lnTo>
                  <a:lnTo>
                    <a:pt x="15" y="919"/>
                  </a:lnTo>
                  <a:close/>
                  <a:moveTo>
                    <a:pt x="15" y="947"/>
                  </a:moveTo>
                  <a:lnTo>
                    <a:pt x="15" y="960"/>
                  </a:lnTo>
                  <a:lnTo>
                    <a:pt x="0" y="960"/>
                  </a:lnTo>
                  <a:lnTo>
                    <a:pt x="0" y="947"/>
                  </a:lnTo>
                  <a:lnTo>
                    <a:pt x="15" y="947"/>
                  </a:lnTo>
                  <a:close/>
                  <a:moveTo>
                    <a:pt x="15" y="974"/>
                  </a:moveTo>
                  <a:lnTo>
                    <a:pt x="15" y="988"/>
                  </a:lnTo>
                  <a:lnTo>
                    <a:pt x="0" y="988"/>
                  </a:lnTo>
                  <a:lnTo>
                    <a:pt x="0" y="974"/>
                  </a:lnTo>
                  <a:lnTo>
                    <a:pt x="15" y="974"/>
                  </a:lnTo>
                  <a:close/>
                  <a:moveTo>
                    <a:pt x="15" y="1002"/>
                  </a:moveTo>
                  <a:lnTo>
                    <a:pt x="15" y="1016"/>
                  </a:lnTo>
                  <a:lnTo>
                    <a:pt x="0" y="1016"/>
                  </a:lnTo>
                  <a:lnTo>
                    <a:pt x="0" y="1002"/>
                  </a:lnTo>
                  <a:lnTo>
                    <a:pt x="15" y="1002"/>
                  </a:lnTo>
                  <a:close/>
                  <a:moveTo>
                    <a:pt x="15" y="1030"/>
                  </a:moveTo>
                  <a:lnTo>
                    <a:pt x="15" y="1044"/>
                  </a:lnTo>
                  <a:lnTo>
                    <a:pt x="0" y="1044"/>
                  </a:lnTo>
                  <a:lnTo>
                    <a:pt x="0" y="1030"/>
                  </a:lnTo>
                  <a:lnTo>
                    <a:pt x="15" y="1030"/>
                  </a:lnTo>
                  <a:close/>
                  <a:moveTo>
                    <a:pt x="15" y="1058"/>
                  </a:moveTo>
                  <a:lnTo>
                    <a:pt x="15" y="1072"/>
                  </a:lnTo>
                  <a:lnTo>
                    <a:pt x="0" y="1072"/>
                  </a:lnTo>
                  <a:lnTo>
                    <a:pt x="0" y="1058"/>
                  </a:lnTo>
                  <a:lnTo>
                    <a:pt x="15" y="1058"/>
                  </a:lnTo>
                  <a:close/>
                  <a:moveTo>
                    <a:pt x="15" y="1086"/>
                  </a:moveTo>
                  <a:lnTo>
                    <a:pt x="15" y="1100"/>
                  </a:lnTo>
                  <a:lnTo>
                    <a:pt x="0" y="1100"/>
                  </a:lnTo>
                  <a:lnTo>
                    <a:pt x="0" y="1086"/>
                  </a:lnTo>
                  <a:lnTo>
                    <a:pt x="15" y="1086"/>
                  </a:lnTo>
                  <a:close/>
                  <a:moveTo>
                    <a:pt x="15" y="1114"/>
                  </a:moveTo>
                  <a:lnTo>
                    <a:pt x="15" y="1127"/>
                  </a:lnTo>
                  <a:lnTo>
                    <a:pt x="0" y="1127"/>
                  </a:lnTo>
                  <a:lnTo>
                    <a:pt x="0" y="1114"/>
                  </a:lnTo>
                  <a:lnTo>
                    <a:pt x="15" y="1114"/>
                  </a:lnTo>
                  <a:close/>
                  <a:moveTo>
                    <a:pt x="15" y="1141"/>
                  </a:moveTo>
                  <a:lnTo>
                    <a:pt x="15" y="1155"/>
                  </a:lnTo>
                  <a:lnTo>
                    <a:pt x="0" y="1155"/>
                  </a:lnTo>
                  <a:lnTo>
                    <a:pt x="0" y="1141"/>
                  </a:lnTo>
                  <a:lnTo>
                    <a:pt x="15" y="1141"/>
                  </a:lnTo>
                  <a:close/>
                  <a:moveTo>
                    <a:pt x="15" y="1169"/>
                  </a:moveTo>
                  <a:lnTo>
                    <a:pt x="15" y="1183"/>
                  </a:lnTo>
                  <a:lnTo>
                    <a:pt x="0" y="1183"/>
                  </a:lnTo>
                  <a:lnTo>
                    <a:pt x="0" y="1169"/>
                  </a:lnTo>
                  <a:lnTo>
                    <a:pt x="15" y="1169"/>
                  </a:lnTo>
                  <a:close/>
                  <a:moveTo>
                    <a:pt x="15" y="1197"/>
                  </a:moveTo>
                  <a:lnTo>
                    <a:pt x="15" y="1211"/>
                  </a:lnTo>
                  <a:lnTo>
                    <a:pt x="0" y="1211"/>
                  </a:lnTo>
                  <a:lnTo>
                    <a:pt x="0" y="1197"/>
                  </a:lnTo>
                  <a:lnTo>
                    <a:pt x="15" y="1197"/>
                  </a:lnTo>
                  <a:close/>
                  <a:moveTo>
                    <a:pt x="15" y="1225"/>
                  </a:moveTo>
                  <a:lnTo>
                    <a:pt x="15" y="1239"/>
                  </a:lnTo>
                  <a:lnTo>
                    <a:pt x="0" y="1239"/>
                  </a:lnTo>
                  <a:lnTo>
                    <a:pt x="0" y="1225"/>
                  </a:lnTo>
                  <a:lnTo>
                    <a:pt x="15" y="1225"/>
                  </a:lnTo>
                  <a:close/>
                  <a:moveTo>
                    <a:pt x="15" y="1253"/>
                  </a:moveTo>
                  <a:lnTo>
                    <a:pt x="15" y="1267"/>
                  </a:lnTo>
                  <a:lnTo>
                    <a:pt x="0" y="1267"/>
                  </a:lnTo>
                  <a:lnTo>
                    <a:pt x="0" y="1253"/>
                  </a:lnTo>
                  <a:lnTo>
                    <a:pt x="15" y="1253"/>
                  </a:lnTo>
                  <a:close/>
                  <a:moveTo>
                    <a:pt x="15" y="1281"/>
                  </a:moveTo>
                  <a:lnTo>
                    <a:pt x="15" y="1294"/>
                  </a:lnTo>
                  <a:lnTo>
                    <a:pt x="0" y="1294"/>
                  </a:lnTo>
                  <a:lnTo>
                    <a:pt x="0" y="1281"/>
                  </a:lnTo>
                  <a:lnTo>
                    <a:pt x="15" y="1281"/>
                  </a:lnTo>
                  <a:close/>
                  <a:moveTo>
                    <a:pt x="15" y="1308"/>
                  </a:moveTo>
                  <a:lnTo>
                    <a:pt x="15" y="1322"/>
                  </a:lnTo>
                  <a:lnTo>
                    <a:pt x="0" y="1322"/>
                  </a:lnTo>
                  <a:lnTo>
                    <a:pt x="0" y="1308"/>
                  </a:lnTo>
                  <a:lnTo>
                    <a:pt x="15" y="1308"/>
                  </a:lnTo>
                  <a:close/>
                  <a:moveTo>
                    <a:pt x="15" y="1336"/>
                  </a:moveTo>
                  <a:lnTo>
                    <a:pt x="15" y="1350"/>
                  </a:lnTo>
                  <a:lnTo>
                    <a:pt x="0" y="1350"/>
                  </a:lnTo>
                  <a:lnTo>
                    <a:pt x="0" y="1336"/>
                  </a:lnTo>
                  <a:lnTo>
                    <a:pt x="15" y="1336"/>
                  </a:lnTo>
                  <a:close/>
                  <a:moveTo>
                    <a:pt x="15" y="1364"/>
                  </a:moveTo>
                  <a:lnTo>
                    <a:pt x="15" y="1378"/>
                  </a:lnTo>
                  <a:lnTo>
                    <a:pt x="0" y="1378"/>
                  </a:lnTo>
                  <a:lnTo>
                    <a:pt x="0" y="1364"/>
                  </a:lnTo>
                  <a:lnTo>
                    <a:pt x="15" y="1364"/>
                  </a:lnTo>
                  <a:close/>
                  <a:moveTo>
                    <a:pt x="15" y="1392"/>
                  </a:moveTo>
                  <a:lnTo>
                    <a:pt x="15" y="1406"/>
                  </a:lnTo>
                  <a:lnTo>
                    <a:pt x="0" y="1406"/>
                  </a:lnTo>
                  <a:lnTo>
                    <a:pt x="0" y="1392"/>
                  </a:lnTo>
                  <a:lnTo>
                    <a:pt x="15" y="1392"/>
                  </a:lnTo>
                  <a:close/>
                  <a:moveTo>
                    <a:pt x="15" y="1420"/>
                  </a:moveTo>
                  <a:lnTo>
                    <a:pt x="15" y="1434"/>
                  </a:lnTo>
                  <a:lnTo>
                    <a:pt x="0" y="1434"/>
                  </a:lnTo>
                  <a:lnTo>
                    <a:pt x="0" y="1420"/>
                  </a:lnTo>
                  <a:lnTo>
                    <a:pt x="15" y="1420"/>
                  </a:lnTo>
                  <a:close/>
                  <a:moveTo>
                    <a:pt x="15" y="1448"/>
                  </a:moveTo>
                  <a:lnTo>
                    <a:pt x="15" y="1461"/>
                  </a:lnTo>
                  <a:lnTo>
                    <a:pt x="0" y="1461"/>
                  </a:lnTo>
                  <a:lnTo>
                    <a:pt x="0" y="1448"/>
                  </a:lnTo>
                  <a:lnTo>
                    <a:pt x="15" y="1448"/>
                  </a:lnTo>
                  <a:close/>
                  <a:moveTo>
                    <a:pt x="15" y="1475"/>
                  </a:moveTo>
                  <a:lnTo>
                    <a:pt x="15" y="1489"/>
                  </a:lnTo>
                  <a:lnTo>
                    <a:pt x="0" y="1489"/>
                  </a:lnTo>
                  <a:lnTo>
                    <a:pt x="0" y="1475"/>
                  </a:lnTo>
                  <a:lnTo>
                    <a:pt x="15" y="1475"/>
                  </a:lnTo>
                  <a:close/>
                  <a:moveTo>
                    <a:pt x="15" y="1503"/>
                  </a:moveTo>
                  <a:lnTo>
                    <a:pt x="15" y="1517"/>
                  </a:lnTo>
                  <a:lnTo>
                    <a:pt x="0" y="1517"/>
                  </a:lnTo>
                  <a:lnTo>
                    <a:pt x="0" y="1503"/>
                  </a:lnTo>
                  <a:lnTo>
                    <a:pt x="15" y="1503"/>
                  </a:lnTo>
                  <a:close/>
                  <a:moveTo>
                    <a:pt x="15" y="1531"/>
                  </a:moveTo>
                  <a:lnTo>
                    <a:pt x="15" y="1545"/>
                  </a:lnTo>
                  <a:lnTo>
                    <a:pt x="0" y="1545"/>
                  </a:lnTo>
                  <a:lnTo>
                    <a:pt x="0" y="1531"/>
                  </a:lnTo>
                  <a:lnTo>
                    <a:pt x="15" y="1531"/>
                  </a:lnTo>
                  <a:close/>
                  <a:moveTo>
                    <a:pt x="15" y="1559"/>
                  </a:moveTo>
                  <a:lnTo>
                    <a:pt x="15" y="1573"/>
                  </a:lnTo>
                  <a:lnTo>
                    <a:pt x="0" y="1573"/>
                  </a:lnTo>
                  <a:lnTo>
                    <a:pt x="0" y="1559"/>
                  </a:lnTo>
                  <a:lnTo>
                    <a:pt x="15" y="1559"/>
                  </a:lnTo>
                  <a:close/>
                  <a:moveTo>
                    <a:pt x="15" y="1587"/>
                  </a:moveTo>
                  <a:lnTo>
                    <a:pt x="15" y="1601"/>
                  </a:lnTo>
                  <a:lnTo>
                    <a:pt x="0" y="1601"/>
                  </a:lnTo>
                  <a:lnTo>
                    <a:pt x="0" y="1587"/>
                  </a:lnTo>
                  <a:lnTo>
                    <a:pt x="15" y="1587"/>
                  </a:lnTo>
                  <a:close/>
                  <a:moveTo>
                    <a:pt x="15" y="1615"/>
                  </a:moveTo>
                  <a:lnTo>
                    <a:pt x="15" y="1628"/>
                  </a:lnTo>
                  <a:lnTo>
                    <a:pt x="0" y="1628"/>
                  </a:lnTo>
                  <a:lnTo>
                    <a:pt x="0" y="1615"/>
                  </a:lnTo>
                  <a:lnTo>
                    <a:pt x="15" y="1615"/>
                  </a:lnTo>
                  <a:close/>
                  <a:moveTo>
                    <a:pt x="15" y="1642"/>
                  </a:moveTo>
                  <a:lnTo>
                    <a:pt x="15" y="1656"/>
                  </a:lnTo>
                  <a:lnTo>
                    <a:pt x="0" y="1656"/>
                  </a:lnTo>
                  <a:lnTo>
                    <a:pt x="0" y="1642"/>
                  </a:lnTo>
                  <a:lnTo>
                    <a:pt x="15" y="1642"/>
                  </a:lnTo>
                  <a:close/>
                  <a:moveTo>
                    <a:pt x="15" y="1670"/>
                  </a:moveTo>
                  <a:lnTo>
                    <a:pt x="15" y="1684"/>
                  </a:lnTo>
                  <a:lnTo>
                    <a:pt x="0" y="1684"/>
                  </a:lnTo>
                  <a:lnTo>
                    <a:pt x="0" y="1670"/>
                  </a:lnTo>
                  <a:lnTo>
                    <a:pt x="15" y="1670"/>
                  </a:lnTo>
                  <a:close/>
                  <a:moveTo>
                    <a:pt x="15" y="1698"/>
                  </a:moveTo>
                  <a:lnTo>
                    <a:pt x="15" y="1712"/>
                  </a:lnTo>
                  <a:lnTo>
                    <a:pt x="0" y="1712"/>
                  </a:lnTo>
                  <a:lnTo>
                    <a:pt x="0" y="1698"/>
                  </a:lnTo>
                  <a:lnTo>
                    <a:pt x="15" y="1698"/>
                  </a:lnTo>
                  <a:close/>
                  <a:moveTo>
                    <a:pt x="15" y="1726"/>
                  </a:moveTo>
                  <a:lnTo>
                    <a:pt x="15" y="1740"/>
                  </a:lnTo>
                  <a:lnTo>
                    <a:pt x="0" y="1740"/>
                  </a:lnTo>
                  <a:lnTo>
                    <a:pt x="0" y="1726"/>
                  </a:lnTo>
                  <a:lnTo>
                    <a:pt x="15" y="1726"/>
                  </a:lnTo>
                  <a:close/>
                  <a:moveTo>
                    <a:pt x="15" y="1754"/>
                  </a:moveTo>
                  <a:lnTo>
                    <a:pt x="15" y="1768"/>
                  </a:lnTo>
                  <a:lnTo>
                    <a:pt x="0" y="1768"/>
                  </a:lnTo>
                  <a:lnTo>
                    <a:pt x="0" y="1754"/>
                  </a:lnTo>
                  <a:lnTo>
                    <a:pt x="15" y="1754"/>
                  </a:lnTo>
                  <a:close/>
                  <a:moveTo>
                    <a:pt x="15" y="1782"/>
                  </a:moveTo>
                  <a:lnTo>
                    <a:pt x="15" y="1795"/>
                  </a:lnTo>
                  <a:lnTo>
                    <a:pt x="0" y="1795"/>
                  </a:lnTo>
                  <a:lnTo>
                    <a:pt x="0" y="1782"/>
                  </a:lnTo>
                  <a:lnTo>
                    <a:pt x="15" y="1782"/>
                  </a:lnTo>
                  <a:close/>
                  <a:moveTo>
                    <a:pt x="15" y="1809"/>
                  </a:moveTo>
                  <a:lnTo>
                    <a:pt x="15" y="1823"/>
                  </a:lnTo>
                  <a:lnTo>
                    <a:pt x="0" y="1823"/>
                  </a:lnTo>
                  <a:lnTo>
                    <a:pt x="0" y="1809"/>
                  </a:lnTo>
                  <a:lnTo>
                    <a:pt x="15" y="1809"/>
                  </a:lnTo>
                  <a:close/>
                  <a:moveTo>
                    <a:pt x="15" y="1837"/>
                  </a:moveTo>
                  <a:lnTo>
                    <a:pt x="15" y="1851"/>
                  </a:lnTo>
                  <a:lnTo>
                    <a:pt x="0" y="1851"/>
                  </a:lnTo>
                  <a:lnTo>
                    <a:pt x="0" y="1837"/>
                  </a:lnTo>
                  <a:lnTo>
                    <a:pt x="15" y="1837"/>
                  </a:lnTo>
                  <a:close/>
                  <a:moveTo>
                    <a:pt x="15" y="1865"/>
                  </a:moveTo>
                  <a:lnTo>
                    <a:pt x="15" y="1879"/>
                  </a:lnTo>
                  <a:lnTo>
                    <a:pt x="0" y="1879"/>
                  </a:lnTo>
                  <a:lnTo>
                    <a:pt x="0" y="1865"/>
                  </a:lnTo>
                  <a:lnTo>
                    <a:pt x="15" y="1865"/>
                  </a:lnTo>
                  <a:close/>
                  <a:moveTo>
                    <a:pt x="15" y="1893"/>
                  </a:moveTo>
                  <a:lnTo>
                    <a:pt x="15" y="1907"/>
                  </a:lnTo>
                  <a:lnTo>
                    <a:pt x="0" y="1907"/>
                  </a:lnTo>
                  <a:lnTo>
                    <a:pt x="0" y="1893"/>
                  </a:lnTo>
                  <a:lnTo>
                    <a:pt x="15" y="1893"/>
                  </a:lnTo>
                  <a:close/>
                  <a:moveTo>
                    <a:pt x="15" y="1921"/>
                  </a:moveTo>
                  <a:lnTo>
                    <a:pt x="15" y="1935"/>
                  </a:lnTo>
                  <a:lnTo>
                    <a:pt x="0" y="1935"/>
                  </a:lnTo>
                  <a:lnTo>
                    <a:pt x="0" y="1921"/>
                  </a:lnTo>
                  <a:lnTo>
                    <a:pt x="15" y="1921"/>
                  </a:lnTo>
                  <a:close/>
                  <a:moveTo>
                    <a:pt x="15" y="1949"/>
                  </a:moveTo>
                  <a:lnTo>
                    <a:pt x="15" y="1962"/>
                  </a:lnTo>
                  <a:lnTo>
                    <a:pt x="0" y="1962"/>
                  </a:lnTo>
                  <a:lnTo>
                    <a:pt x="0" y="1949"/>
                  </a:lnTo>
                  <a:lnTo>
                    <a:pt x="15" y="1949"/>
                  </a:lnTo>
                  <a:close/>
                  <a:moveTo>
                    <a:pt x="15" y="1976"/>
                  </a:moveTo>
                  <a:lnTo>
                    <a:pt x="15" y="1990"/>
                  </a:lnTo>
                  <a:lnTo>
                    <a:pt x="0" y="1990"/>
                  </a:lnTo>
                  <a:lnTo>
                    <a:pt x="0" y="1976"/>
                  </a:lnTo>
                  <a:lnTo>
                    <a:pt x="15" y="1976"/>
                  </a:lnTo>
                  <a:close/>
                  <a:moveTo>
                    <a:pt x="15" y="2004"/>
                  </a:moveTo>
                  <a:lnTo>
                    <a:pt x="15" y="2018"/>
                  </a:lnTo>
                  <a:lnTo>
                    <a:pt x="0" y="2018"/>
                  </a:lnTo>
                  <a:lnTo>
                    <a:pt x="0" y="2004"/>
                  </a:lnTo>
                  <a:lnTo>
                    <a:pt x="15" y="2004"/>
                  </a:lnTo>
                  <a:close/>
                  <a:moveTo>
                    <a:pt x="15" y="2032"/>
                  </a:moveTo>
                  <a:lnTo>
                    <a:pt x="15" y="2046"/>
                  </a:lnTo>
                  <a:lnTo>
                    <a:pt x="0" y="2046"/>
                  </a:lnTo>
                  <a:lnTo>
                    <a:pt x="0" y="2032"/>
                  </a:lnTo>
                  <a:lnTo>
                    <a:pt x="15" y="2032"/>
                  </a:lnTo>
                  <a:close/>
                  <a:moveTo>
                    <a:pt x="15" y="2060"/>
                  </a:moveTo>
                  <a:lnTo>
                    <a:pt x="15" y="2074"/>
                  </a:lnTo>
                  <a:lnTo>
                    <a:pt x="0" y="2074"/>
                  </a:lnTo>
                  <a:lnTo>
                    <a:pt x="0" y="2060"/>
                  </a:lnTo>
                  <a:lnTo>
                    <a:pt x="15" y="2060"/>
                  </a:lnTo>
                  <a:close/>
                  <a:moveTo>
                    <a:pt x="15" y="2087"/>
                  </a:moveTo>
                  <a:lnTo>
                    <a:pt x="15" y="2102"/>
                  </a:lnTo>
                  <a:lnTo>
                    <a:pt x="0" y="2102"/>
                  </a:lnTo>
                  <a:lnTo>
                    <a:pt x="0" y="2087"/>
                  </a:lnTo>
                  <a:lnTo>
                    <a:pt x="15" y="2087"/>
                  </a:lnTo>
                  <a:close/>
                  <a:moveTo>
                    <a:pt x="15" y="2116"/>
                  </a:moveTo>
                  <a:lnTo>
                    <a:pt x="15" y="2129"/>
                  </a:lnTo>
                  <a:lnTo>
                    <a:pt x="0" y="2129"/>
                  </a:lnTo>
                  <a:lnTo>
                    <a:pt x="0" y="2116"/>
                  </a:lnTo>
                  <a:lnTo>
                    <a:pt x="15" y="2116"/>
                  </a:lnTo>
                  <a:close/>
                  <a:moveTo>
                    <a:pt x="15" y="2143"/>
                  </a:moveTo>
                  <a:lnTo>
                    <a:pt x="15" y="2157"/>
                  </a:lnTo>
                  <a:lnTo>
                    <a:pt x="0" y="2157"/>
                  </a:lnTo>
                  <a:lnTo>
                    <a:pt x="0" y="2143"/>
                  </a:lnTo>
                  <a:lnTo>
                    <a:pt x="15" y="2143"/>
                  </a:lnTo>
                  <a:close/>
                  <a:moveTo>
                    <a:pt x="15" y="2171"/>
                  </a:moveTo>
                  <a:lnTo>
                    <a:pt x="15" y="2185"/>
                  </a:lnTo>
                  <a:lnTo>
                    <a:pt x="0" y="2185"/>
                  </a:lnTo>
                  <a:lnTo>
                    <a:pt x="0" y="2171"/>
                  </a:lnTo>
                  <a:lnTo>
                    <a:pt x="15" y="2171"/>
                  </a:lnTo>
                  <a:close/>
                  <a:moveTo>
                    <a:pt x="15" y="2199"/>
                  </a:moveTo>
                  <a:lnTo>
                    <a:pt x="15" y="2213"/>
                  </a:lnTo>
                  <a:lnTo>
                    <a:pt x="0" y="2213"/>
                  </a:lnTo>
                  <a:lnTo>
                    <a:pt x="0" y="2199"/>
                  </a:lnTo>
                  <a:lnTo>
                    <a:pt x="15" y="2199"/>
                  </a:lnTo>
                  <a:close/>
                  <a:moveTo>
                    <a:pt x="15" y="2227"/>
                  </a:moveTo>
                  <a:lnTo>
                    <a:pt x="15" y="2241"/>
                  </a:lnTo>
                  <a:lnTo>
                    <a:pt x="0" y="2241"/>
                  </a:lnTo>
                  <a:lnTo>
                    <a:pt x="0" y="2227"/>
                  </a:lnTo>
                  <a:lnTo>
                    <a:pt x="15" y="2227"/>
                  </a:lnTo>
                  <a:close/>
                  <a:moveTo>
                    <a:pt x="15" y="2254"/>
                  </a:moveTo>
                  <a:lnTo>
                    <a:pt x="15" y="2268"/>
                  </a:lnTo>
                  <a:lnTo>
                    <a:pt x="0" y="2268"/>
                  </a:lnTo>
                  <a:lnTo>
                    <a:pt x="0" y="2254"/>
                  </a:lnTo>
                  <a:lnTo>
                    <a:pt x="15" y="2254"/>
                  </a:lnTo>
                  <a:close/>
                  <a:moveTo>
                    <a:pt x="15" y="2283"/>
                  </a:moveTo>
                  <a:lnTo>
                    <a:pt x="15" y="2296"/>
                  </a:lnTo>
                  <a:lnTo>
                    <a:pt x="0" y="2296"/>
                  </a:lnTo>
                  <a:lnTo>
                    <a:pt x="0" y="2283"/>
                  </a:lnTo>
                  <a:lnTo>
                    <a:pt x="15" y="2283"/>
                  </a:lnTo>
                  <a:close/>
                  <a:moveTo>
                    <a:pt x="15" y="2310"/>
                  </a:moveTo>
                  <a:lnTo>
                    <a:pt x="15" y="2324"/>
                  </a:lnTo>
                  <a:lnTo>
                    <a:pt x="0" y="2324"/>
                  </a:lnTo>
                  <a:lnTo>
                    <a:pt x="0" y="2310"/>
                  </a:lnTo>
                  <a:lnTo>
                    <a:pt x="15" y="2310"/>
                  </a:lnTo>
                  <a:close/>
                  <a:moveTo>
                    <a:pt x="15" y="2338"/>
                  </a:moveTo>
                  <a:lnTo>
                    <a:pt x="15" y="2352"/>
                  </a:lnTo>
                  <a:lnTo>
                    <a:pt x="0" y="2352"/>
                  </a:lnTo>
                  <a:lnTo>
                    <a:pt x="0" y="2338"/>
                  </a:lnTo>
                  <a:lnTo>
                    <a:pt x="15" y="2338"/>
                  </a:lnTo>
                  <a:close/>
                  <a:moveTo>
                    <a:pt x="15" y="2366"/>
                  </a:moveTo>
                  <a:lnTo>
                    <a:pt x="15" y="2380"/>
                  </a:lnTo>
                  <a:lnTo>
                    <a:pt x="0" y="2380"/>
                  </a:lnTo>
                  <a:lnTo>
                    <a:pt x="0" y="2366"/>
                  </a:lnTo>
                  <a:lnTo>
                    <a:pt x="15" y="2366"/>
                  </a:lnTo>
                  <a:close/>
                  <a:moveTo>
                    <a:pt x="15" y="2394"/>
                  </a:moveTo>
                  <a:lnTo>
                    <a:pt x="15" y="2408"/>
                  </a:lnTo>
                  <a:lnTo>
                    <a:pt x="0" y="2408"/>
                  </a:lnTo>
                  <a:lnTo>
                    <a:pt x="0" y="2394"/>
                  </a:lnTo>
                  <a:lnTo>
                    <a:pt x="15" y="2394"/>
                  </a:lnTo>
                  <a:close/>
                  <a:moveTo>
                    <a:pt x="15" y="2421"/>
                  </a:moveTo>
                  <a:lnTo>
                    <a:pt x="15" y="2435"/>
                  </a:lnTo>
                  <a:lnTo>
                    <a:pt x="0" y="2435"/>
                  </a:lnTo>
                  <a:lnTo>
                    <a:pt x="0" y="2421"/>
                  </a:lnTo>
                  <a:lnTo>
                    <a:pt x="15" y="2421"/>
                  </a:lnTo>
                  <a:close/>
                  <a:moveTo>
                    <a:pt x="15" y="2449"/>
                  </a:moveTo>
                  <a:lnTo>
                    <a:pt x="15" y="2453"/>
                  </a:lnTo>
                  <a:lnTo>
                    <a:pt x="0" y="2453"/>
                  </a:lnTo>
                  <a:lnTo>
                    <a:pt x="0" y="2449"/>
                  </a:lnTo>
                  <a:lnTo>
                    <a:pt x="15" y="2449"/>
                  </a:lnTo>
                  <a:close/>
                </a:path>
              </a:pathLst>
            </a:custGeom>
            <a:solidFill>
              <a:srgbClr val="000000"/>
            </a:solidFill>
            <a:ln w="0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486" name="Freeform 28">
              <a:extLst>
                <a:ext uri="{FF2B5EF4-FFF2-40B4-BE49-F238E27FC236}">
                  <a16:creationId xmlns:a16="http://schemas.microsoft.com/office/drawing/2014/main" id="{F609AEA7-6640-A665-2049-28C5C3D7547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264950" y="3078501"/>
              <a:ext cx="18000" cy="3726773"/>
            </a:xfrm>
            <a:custGeom>
              <a:avLst/>
              <a:gdLst>
                <a:gd name="T0" fmla="*/ 14 w 14"/>
                <a:gd name="T1" fmla="*/ 42 h 2453"/>
                <a:gd name="T2" fmla="*/ 0 w 14"/>
                <a:gd name="T3" fmla="*/ 56 h 2453"/>
                <a:gd name="T4" fmla="*/ 14 w 14"/>
                <a:gd name="T5" fmla="*/ 112 h 2453"/>
                <a:gd name="T6" fmla="*/ 0 w 14"/>
                <a:gd name="T7" fmla="*/ 154 h 2453"/>
                <a:gd name="T8" fmla="*/ 14 w 14"/>
                <a:gd name="T9" fmla="*/ 167 h 2453"/>
                <a:gd name="T10" fmla="*/ 14 w 14"/>
                <a:gd name="T11" fmla="*/ 237 h 2453"/>
                <a:gd name="T12" fmla="*/ 0 w 14"/>
                <a:gd name="T13" fmla="*/ 251 h 2453"/>
                <a:gd name="T14" fmla="*/ 14 w 14"/>
                <a:gd name="T15" fmla="*/ 307 h 2453"/>
                <a:gd name="T16" fmla="*/ 0 w 14"/>
                <a:gd name="T17" fmla="*/ 348 h 2453"/>
                <a:gd name="T18" fmla="*/ 14 w 14"/>
                <a:gd name="T19" fmla="*/ 362 h 2453"/>
                <a:gd name="T20" fmla="*/ 14 w 14"/>
                <a:gd name="T21" fmla="*/ 432 h 2453"/>
                <a:gd name="T22" fmla="*/ 0 w 14"/>
                <a:gd name="T23" fmla="*/ 446 h 2453"/>
                <a:gd name="T24" fmla="*/ 14 w 14"/>
                <a:gd name="T25" fmla="*/ 501 h 2453"/>
                <a:gd name="T26" fmla="*/ 0 w 14"/>
                <a:gd name="T27" fmla="*/ 543 h 2453"/>
                <a:gd name="T28" fmla="*/ 14 w 14"/>
                <a:gd name="T29" fmla="*/ 557 h 2453"/>
                <a:gd name="T30" fmla="*/ 14 w 14"/>
                <a:gd name="T31" fmla="*/ 627 h 2453"/>
                <a:gd name="T32" fmla="*/ 0 w 14"/>
                <a:gd name="T33" fmla="*/ 641 h 2453"/>
                <a:gd name="T34" fmla="*/ 14 w 14"/>
                <a:gd name="T35" fmla="*/ 696 h 2453"/>
                <a:gd name="T36" fmla="*/ 0 w 14"/>
                <a:gd name="T37" fmla="*/ 738 h 2453"/>
                <a:gd name="T38" fmla="*/ 14 w 14"/>
                <a:gd name="T39" fmla="*/ 752 h 2453"/>
                <a:gd name="T40" fmla="*/ 14 w 14"/>
                <a:gd name="T41" fmla="*/ 822 h 2453"/>
                <a:gd name="T42" fmla="*/ 0 w 14"/>
                <a:gd name="T43" fmla="*/ 835 h 2453"/>
                <a:gd name="T44" fmla="*/ 14 w 14"/>
                <a:gd name="T45" fmla="*/ 891 h 2453"/>
                <a:gd name="T46" fmla="*/ 0 w 14"/>
                <a:gd name="T47" fmla="*/ 933 h 2453"/>
                <a:gd name="T48" fmla="*/ 14 w 14"/>
                <a:gd name="T49" fmla="*/ 947 h 2453"/>
                <a:gd name="T50" fmla="*/ 14 w 14"/>
                <a:gd name="T51" fmla="*/ 1016 h 2453"/>
                <a:gd name="T52" fmla="*/ 0 w 14"/>
                <a:gd name="T53" fmla="*/ 1030 h 2453"/>
                <a:gd name="T54" fmla="*/ 14 w 14"/>
                <a:gd name="T55" fmla="*/ 1086 h 2453"/>
                <a:gd name="T56" fmla="*/ 0 w 14"/>
                <a:gd name="T57" fmla="*/ 1127 h 2453"/>
                <a:gd name="T58" fmla="*/ 14 w 14"/>
                <a:gd name="T59" fmla="*/ 1141 h 2453"/>
                <a:gd name="T60" fmla="*/ 14 w 14"/>
                <a:gd name="T61" fmla="*/ 1211 h 2453"/>
                <a:gd name="T62" fmla="*/ 0 w 14"/>
                <a:gd name="T63" fmla="*/ 1225 h 2453"/>
                <a:gd name="T64" fmla="*/ 14 w 14"/>
                <a:gd name="T65" fmla="*/ 1281 h 2453"/>
                <a:gd name="T66" fmla="*/ 0 w 14"/>
                <a:gd name="T67" fmla="*/ 1322 h 2453"/>
                <a:gd name="T68" fmla="*/ 14 w 14"/>
                <a:gd name="T69" fmla="*/ 1336 h 2453"/>
                <a:gd name="T70" fmla="*/ 14 w 14"/>
                <a:gd name="T71" fmla="*/ 1406 h 2453"/>
                <a:gd name="T72" fmla="*/ 0 w 14"/>
                <a:gd name="T73" fmla="*/ 1420 h 2453"/>
                <a:gd name="T74" fmla="*/ 14 w 14"/>
                <a:gd name="T75" fmla="*/ 1475 h 2453"/>
                <a:gd name="T76" fmla="*/ 0 w 14"/>
                <a:gd name="T77" fmla="*/ 1517 h 2453"/>
                <a:gd name="T78" fmla="*/ 14 w 14"/>
                <a:gd name="T79" fmla="*/ 1531 h 2453"/>
                <a:gd name="T80" fmla="*/ 14 w 14"/>
                <a:gd name="T81" fmla="*/ 1601 h 2453"/>
                <a:gd name="T82" fmla="*/ 0 w 14"/>
                <a:gd name="T83" fmla="*/ 1615 h 2453"/>
                <a:gd name="T84" fmla="*/ 14 w 14"/>
                <a:gd name="T85" fmla="*/ 1670 h 2453"/>
                <a:gd name="T86" fmla="*/ 0 w 14"/>
                <a:gd name="T87" fmla="*/ 1712 h 2453"/>
                <a:gd name="T88" fmla="*/ 14 w 14"/>
                <a:gd name="T89" fmla="*/ 1726 h 2453"/>
                <a:gd name="T90" fmla="*/ 14 w 14"/>
                <a:gd name="T91" fmla="*/ 1795 h 2453"/>
                <a:gd name="T92" fmla="*/ 0 w 14"/>
                <a:gd name="T93" fmla="*/ 1809 h 2453"/>
                <a:gd name="T94" fmla="*/ 14 w 14"/>
                <a:gd name="T95" fmla="*/ 1865 h 2453"/>
                <a:gd name="T96" fmla="*/ 0 w 14"/>
                <a:gd name="T97" fmla="*/ 1907 h 2453"/>
                <a:gd name="T98" fmla="*/ 14 w 14"/>
                <a:gd name="T99" fmla="*/ 1921 h 2453"/>
                <a:gd name="T100" fmla="*/ 14 w 14"/>
                <a:gd name="T101" fmla="*/ 1990 h 2453"/>
                <a:gd name="T102" fmla="*/ 0 w 14"/>
                <a:gd name="T103" fmla="*/ 2004 h 2453"/>
                <a:gd name="T104" fmla="*/ 14 w 14"/>
                <a:gd name="T105" fmla="*/ 2060 h 2453"/>
                <a:gd name="T106" fmla="*/ 0 w 14"/>
                <a:gd name="T107" fmla="*/ 2102 h 2453"/>
                <a:gd name="T108" fmla="*/ 14 w 14"/>
                <a:gd name="T109" fmla="*/ 2116 h 2453"/>
                <a:gd name="T110" fmla="*/ 14 w 14"/>
                <a:gd name="T111" fmla="*/ 2185 h 2453"/>
                <a:gd name="T112" fmla="*/ 0 w 14"/>
                <a:gd name="T113" fmla="*/ 2199 h 2453"/>
                <a:gd name="T114" fmla="*/ 14 w 14"/>
                <a:gd name="T115" fmla="*/ 2254 h 2453"/>
                <a:gd name="T116" fmla="*/ 0 w 14"/>
                <a:gd name="T117" fmla="*/ 2296 h 2453"/>
                <a:gd name="T118" fmla="*/ 14 w 14"/>
                <a:gd name="T119" fmla="*/ 2310 h 2453"/>
                <a:gd name="T120" fmla="*/ 14 w 14"/>
                <a:gd name="T121" fmla="*/ 2380 h 2453"/>
                <a:gd name="T122" fmla="*/ 0 w 14"/>
                <a:gd name="T123" fmla="*/ 2394 h 2453"/>
                <a:gd name="T124" fmla="*/ 14 w 14"/>
                <a:gd name="T125" fmla="*/ 2449 h 24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4" h="2453">
                  <a:moveTo>
                    <a:pt x="14" y="0"/>
                  </a:moveTo>
                  <a:lnTo>
                    <a:pt x="14" y="14"/>
                  </a:lnTo>
                  <a:lnTo>
                    <a:pt x="0" y="14"/>
                  </a:lnTo>
                  <a:lnTo>
                    <a:pt x="0" y="0"/>
                  </a:lnTo>
                  <a:lnTo>
                    <a:pt x="14" y="0"/>
                  </a:lnTo>
                  <a:close/>
                  <a:moveTo>
                    <a:pt x="14" y="28"/>
                  </a:moveTo>
                  <a:lnTo>
                    <a:pt x="14" y="42"/>
                  </a:lnTo>
                  <a:lnTo>
                    <a:pt x="0" y="42"/>
                  </a:lnTo>
                  <a:lnTo>
                    <a:pt x="0" y="28"/>
                  </a:lnTo>
                  <a:lnTo>
                    <a:pt x="14" y="28"/>
                  </a:lnTo>
                  <a:close/>
                  <a:moveTo>
                    <a:pt x="14" y="56"/>
                  </a:moveTo>
                  <a:lnTo>
                    <a:pt x="14" y="70"/>
                  </a:lnTo>
                  <a:lnTo>
                    <a:pt x="0" y="70"/>
                  </a:lnTo>
                  <a:lnTo>
                    <a:pt x="0" y="56"/>
                  </a:lnTo>
                  <a:lnTo>
                    <a:pt x="14" y="56"/>
                  </a:lnTo>
                  <a:close/>
                  <a:moveTo>
                    <a:pt x="14" y="84"/>
                  </a:moveTo>
                  <a:lnTo>
                    <a:pt x="14" y="98"/>
                  </a:lnTo>
                  <a:lnTo>
                    <a:pt x="0" y="98"/>
                  </a:lnTo>
                  <a:lnTo>
                    <a:pt x="0" y="84"/>
                  </a:lnTo>
                  <a:lnTo>
                    <a:pt x="14" y="84"/>
                  </a:lnTo>
                  <a:close/>
                  <a:moveTo>
                    <a:pt x="14" y="112"/>
                  </a:moveTo>
                  <a:lnTo>
                    <a:pt x="14" y="126"/>
                  </a:lnTo>
                  <a:lnTo>
                    <a:pt x="0" y="126"/>
                  </a:lnTo>
                  <a:lnTo>
                    <a:pt x="0" y="112"/>
                  </a:lnTo>
                  <a:lnTo>
                    <a:pt x="14" y="112"/>
                  </a:lnTo>
                  <a:close/>
                  <a:moveTo>
                    <a:pt x="14" y="140"/>
                  </a:moveTo>
                  <a:lnTo>
                    <a:pt x="14" y="154"/>
                  </a:lnTo>
                  <a:lnTo>
                    <a:pt x="0" y="154"/>
                  </a:lnTo>
                  <a:lnTo>
                    <a:pt x="0" y="140"/>
                  </a:lnTo>
                  <a:lnTo>
                    <a:pt x="14" y="140"/>
                  </a:lnTo>
                  <a:close/>
                  <a:moveTo>
                    <a:pt x="14" y="167"/>
                  </a:moveTo>
                  <a:lnTo>
                    <a:pt x="14" y="181"/>
                  </a:lnTo>
                  <a:lnTo>
                    <a:pt x="0" y="181"/>
                  </a:lnTo>
                  <a:lnTo>
                    <a:pt x="0" y="167"/>
                  </a:lnTo>
                  <a:lnTo>
                    <a:pt x="14" y="167"/>
                  </a:lnTo>
                  <a:close/>
                  <a:moveTo>
                    <a:pt x="14" y="195"/>
                  </a:moveTo>
                  <a:lnTo>
                    <a:pt x="14" y="209"/>
                  </a:lnTo>
                  <a:lnTo>
                    <a:pt x="0" y="209"/>
                  </a:lnTo>
                  <a:lnTo>
                    <a:pt x="0" y="195"/>
                  </a:lnTo>
                  <a:lnTo>
                    <a:pt x="14" y="195"/>
                  </a:lnTo>
                  <a:close/>
                  <a:moveTo>
                    <a:pt x="14" y="223"/>
                  </a:moveTo>
                  <a:lnTo>
                    <a:pt x="14" y="237"/>
                  </a:lnTo>
                  <a:lnTo>
                    <a:pt x="0" y="237"/>
                  </a:lnTo>
                  <a:lnTo>
                    <a:pt x="0" y="223"/>
                  </a:lnTo>
                  <a:lnTo>
                    <a:pt x="14" y="223"/>
                  </a:lnTo>
                  <a:close/>
                  <a:moveTo>
                    <a:pt x="14" y="251"/>
                  </a:moveTo>
                  <a:lnTo>
                    <a:pt x="14" y="265"/>
                  </a:lnTo>
                  <a:lnTo>
                    <a:pt x="0" y="265"/>
                  </a:lnTo>
                  <a:lnTo>
                    <a:pt x="0" y="251"/>
                  </a:lnTo>
                  <a:lnTo>
                    <a:pt x="14" y="251"/>
                  </a:lnTo>
                  <a:close/>
                  <a:moveTo>
                    <a:pt x="14" y="279"/>
                  </a:moveTo>
                  <a:lnTo>
                    <a:pt x="14" y="293"/>
                  </a:lnTo>
                  <a:lnTo>
                    <a:pt x="0" y="293"/>
                  </a:lnTo>
                  <a:lnTo>
                    <a:pt x="0" y="279"/>
                  </a:lnTo>
                  <a:lnTo>
                    <a:pt x="14" y="279"/>
                  </a:lnTo>
                  <a:close/>
                  <a:moveTo>
                    <a:pt x="14" y="307"/>
                  </a:moveTo>
                  <a:lnTo>
                    <a:pt x="14" y="321"/>
                  </a:lnTo>
                  <a:lnTo>
                    <a:pt x="0" y="321"/>
                  </a:lnTo>
                  <a:lnTo>
                    <a:pt x="0" y="307"/>
                  </a:lnTo>
                  <a:lnTo>
                    <a:pt x="14" y="307"/>
                  </a:lnTo>
                  <a:close/>
                  <a:moveTo>
                    <a:pt x="14" y="334"/>
                  </a:moveTo>
                  <a:lnTo>
                    <a:pt x="14" y="348"/>
                  </a:lnTo>
                  <a:lnTo>
                    <a:pt x="0" y="348"/>
                  </a:lnTo>
                  <a:lnTo>
                    <a:pt x="0" y="334"/>
                  </a:lnTo>
                  <a:lnTo>
                    <a:pt x="14" y="334"/>
                  </a:lnTo>
                  <a:close/>
                  <a:moveTo>
                    <a:pt x="14" y="362"/>
                  </a:moveTo>
                  <a:lnTo>
                    <a:pt x="14" y="376"/>
                  </a:lnTo>
                  <a:lnTo>
                    <a:pt x="0" y="376"/>
                  </a:lnTo>
                  <a:lnTo>
                    <a:pt x="0" y="362"/>
                  </a:lnTo>
                  <a:lnTo>
                    <a:pt x="14" y="362"/>
                  </a:lnTo>
                  <a:close/>
                  <a:moveTo>
                    <a:pt x="14" y="390"/>
                  </a:moveTo>
                  <a:lnTo>
                    <a:pt x="14" y="404"/>
                  </a:lnTo>
                  <a:lnTo>
                    <a:pt x="0" y="404"/>
                  </a:lnTo>
                  <a:lnTo>
                    <a:pt x="0" y="390"/>
                  </a:lnTo>
                  <a:lnTo>
                    <a:pt x="14" y="390"/>
                  </a:lnTo>
                  <a:close/>
                  <a:moveTo>
                    <a:pt x="14" y="418"/>
                  </a:moveTo>
                  <a:lnTo>
                    <a:pt x="14" y="432"/>
                  </a:lnTo>
                  <a:lnTo>
                    <a:pt x="0" y="432"/>
                  </a:lnTo>
                  <a:lnTo>
                    <a:pt x="0" y="418"/>
                  </a:lnTo>
                  <a:lnTo>
                    <a:pt x="14" y="418"/>
                  </a:lnTo>
                  <a:close/>
                  <a:moveTo>
                    <a:pt x="14" y="446"/>
                  </a:moveTo>
                  <a:lnTo>
                    <a:pt x="14" y="460"/>
                  </a:lnTo>
                  <a:lnTo>
                    <a:pt x="0" y="460"/>
                  </a:lnTo>
                  <a:lnTo>
                    <a:pt x="0" y="446"/>
                  </a:lnTo>
                  <a:lnTo>
                    <a:pt x="14" y="446"/>
                  </a:lnTo>
                  <a:close/>
                  <a:moveTo>
                    <a:pt x="14" y="474"/>
                  </a:moveTo>
                  <a:lnTo>
                    <a:pt x="14" y="488"/>
                  </a:lnTo>
                  <a:lnTo>
                    <a:pt x="0" y="488"/>
                  </a:lnTo>
                  <a:lnTo>
                    <a:pt x="0" y="474"/>
                  </a:lnTo>
                  <a:lnTo>
                    <a:pt x="14" y="474"/>
                  </a:lnTo>
                  <a:close/>
                  <a:moveTo>
                    <a:pt x="14" y="501"/>
                  </a:moveTo>
                  <a:lnTo>
                    <a:pt x="14" y="515"/>
                  </a:lnTo>
                  <a:lnTo>
                    <a:pt x="0" y="515"/>
                  </a:lnTo>
                  <a:lnTo>
                    <a:pt x="0" y="501"/>
                  </a:lnTo>
                  <a:lnTo>
                    <a:pt x="14" y="501"/>
                  </a:lnTo>
                  <a:close/>
                  <a:moveTo>
                    <a:pt x="14" y="529"/>
                  </a:moveTo>
                  <a:lnTo>
                    <a:pt x="14" y="543"/>
                  </a:lnTo>
                  <a:lnTo>
                    <a:pt x="0" y="543"/>
                  </a:lnTo>
                  <a:lnTo>
                    <a:pt x="0" y="529"/>
                  </a:lnTo>
                  <a:lnTo>
                    <a:pt x="14" y="529"/>
                  </a:lnTo>
                  <a:close/>
                  <a:moveTo>
                    <a:pt x="14" y="557"/>
                  </a:moveTo>
                  <a:lnTo>
                    <a:pt x="14" y="571"/>
                  </a:lnTo>
                  <a:lnTo>
                    <a:pt x="0" y="571"/>
                  </a:lnTo>
                  <a:lnTo>
                    <a:pt x="0" y="557"/>
                  </a:lnTo>
                  <a:lnTo>
                    <a:pt x="14" y="557"/>
                  </a:lnTo>
                  <a:close/>
                  <a:moveTo>
                    <a:pt x="14" y="585"/>
                  </a:moveTo>
                  <a:lnTo>
                    <a:pt x="14" y="599"/>
                  </a:lnTo>
                  <a:lnTo>
                    <a:pt x="0" y="599"/>
                  </a:lnTo>
                  <a:lnTo>
                    <a:pt x="0" y="585"/>
                  </a:lnTo>
                  <a:lnTo>
                    <a:pt x="14" y="585"/>
                  </a:lnTo>
                  <a:close/>
                  <a:moveTo>
                    <a:pt x="14" y="613"/>
                  </a:moveTo>
                  <a:lnTo>
                    <a:pt x="14" y="627"/>
                  </a:lnTo>
                  <a:lnTo>
                    <a:pt x="0" y="627"/>
                  </a:lnTo>
                  <a:lnTo>
                    <a:pt x="0" y="613"/>
                  </a:lnTo>
                  <a:lnTo>
                    <a:pt x="14" y="613"/>
                  </a:lnTo>
                  <a:close/>
                  <a:moveTo>
                    <a:pt x="14" y="641"/>
                  </a:moveTo>
                  <a:lnTo>
                    <a:pt x="14" y="655"/>
                  </a:lnTo>
                  <a:lnTo>
                    <a:pt x="0" y="655"/>
                  </a:lnTo>
                  <a:lnTo>
                    <a:pt x="0" y="641"/>
                  </a:lnTo>
                  <a:lnTo>
                    <a:pt x="14" y="641"/>
                  </a:lnTo>
                  <a:close/>
                  <a:moveTo>
                    <a:pt x="14" y="668"/>
                  </a:moveTo>
                  <a:lnTo>
                    <a:pt x="14" y="682"/>
                  </a:lnTo>
                  <a:lnTo>
                    <a:pt x="0" y="682"/>
                  </a:lnTo>
                  <a:lnTo>
                    <a:pt x="0" y="668"/>
                  </a:lnTo>
                  <a:lnTo>
                    <a:pt x="14" y="668"/>
                  </a:lnTo>
                  <a:close/>
                  <a:moveTo>
                    <a:pt x="14" y="696"/>
                  </a:moveTo>
                  <a:lnTo>
                    <a:pt x="14" y="710"/>
                  </a:lnTo>
                  <a:lnTo>
                    <a:pt x="0" y="710"/>
                  </a:lnTo>
                  <a:lnTo>
                    <a:pt x="0" y="696"/>
                  </a:lnTo>
                  <a:lnTo>
                    <a:pt x="14" y="696"/>
                  </a:lnTo>
                  <a:close/>
                  <a:moveTo>
                    <a:pt x="14" y="724"/>
                  </a:moveTo>
                  <a:lnTo>
                    <a:pt x="14" y="738"/>
                  </a:lnTo>
                  <a:lnTo>
                    <a:pt x="0" y="738"/>
                  </a:lnTo>
                  <a:lnTo>
                    <a:pt x="0" y="724"/>
                  </a:lnTo>
                  <a:lnTo>
                    <a:pt x="14" y="724"/>
                  </a:lnTo>
                  <a:close/>
                  <a:moveTo>
                    <a:pt x="14" y="752"/>
                  </a:moveTo>
                  <a:lnTo>
                    <a:pt x="14" y="766"/>
                  </a:lnTo>
                  <a:lnTo>
                    <a:pt x="0" y="766"/>
                  </a:lnTo>
                  <a:lnTo>
                    <a:pt x="0" y="752"/>
                  </a:lnTo>
                  <a:lnTo>
                    <a:pt x="14" y="752"/>
                  </a:lnTo>
                  <a:close/>
                  <a:moveTo>
                    <a:pt x="14" y="780"/>
                  </a:moveTo>
                  <a:lnTo>
                    <a:pt x="14" y="793"/>
                  </a:lnTo>
                  <a:lnTo>
                    <a:pt x="0" y="793"/>
                  </a:lnTo>
                  <a:lnTo>
                    <a:pt x="0" y="780"/>
                  </a:lnTo>
                  <a:lnTo>
                    <a:pt x="14" y="780"/>
                  </a:lnTo>
                  <a:close/>
                  <a:moveTo>
                    <a:pt x="14" y="808"/>
                  </a:moveTo>
                  <a:lnTo>
                    <a:pt x="14" y="822"/>
                  </a:lnTo>
                  <a:lnTo>
                    <a:pt x="0" y="822"/>
                  </a:lnTo>
                  <a:lnTo>
                    <a:pt x="0" y="808"/>
                  </a:lnTo>
                  <a:lnTo>
                    <a:pt x="14" y="808"/>
                  </a:lnTo>
                  <a:close/>
                  <a:moveTo>
                    <a:pt x="14" y="835"/>
                  </a:moveTo>
                  <a:lnTo>
                    <a:pt x="14" y="849"/>
                  </a:lnTo>
                  <a:lnTo>
                    <a:pt x="0" y="849"/>
                  </a:lnTo>
                  <a:lnTo>
                    <a:pt x="0" y="835"/>
                  </a:lnTo>
                  <a:lnTo>
                    <a:pt x="14" y="835"/>
                  </a:lnTo>
                  <a:close/>
                  <a:moveTo>
                    <a:pt x="14" y="863"/>
                  </a:moveTo>
                  <a:lnTo>
                    <a:pt x="14" y="877"/>
                  </a:lnTo>
                  <a:lnTo>
                    <a:pt x="0" y="877"/>
                  </a:lnTo>
                  <a:lnTo>
                    <a:pt x="0" y="863"/>
                  </a:lnTo>
                  <a:lnTo>
                    <a:pt x="14" y="863"/>
                  </a:lnTo>
                  <a:close/>
                  <a:moveTo>
                    <a:pt x="14" y="891"/>
                  </a:moveTo>
                  <a:lnTo>
                    <a:pt x="14" y="905"/>
                  </a:lnTo>
                  <a:lnTo>
                    <a:pt x="0" y="905"/>
                  </a:lnTo>
                  <a:lnTo>
                    <a:pt x="0" y="891"/>
                  </a:lnTo>
                  <a:lnTo>
                    <a:pt x="14" y="891"/>
                  </a:lnTo>
                  <a:close/>
                  <a:moveTo>
                    <a:pt x="14" y="919"/>
                  </a:moveTo>
                  <a:lnTo>
                    <a:pt x="14" y="933"/>
                  </a:lnTo>
                  <a:lnTo>
                    <a:pt x="0" y="933"/>
                  </a:lnTo>
                  <a:lnTo>
                    <a:pt x="0" y="919"/>
                  </a:lnTo>
                  <a:lnTo>
                    <a:pt x="14" y="919"/>
                  </a:lnTo>
                  <a:close/>
                  <a:moveTo>
                    <a:pt x="14" y="947"/>
                  </a:moveTo>
                  <a:lnTo>
                    <a:pt x="14" y="960"/>
                  </a:lnTo>
                  <a:lnTo>
                    <a:pt x="0" y="960"/>
                  </a:lnTo>
                  <a:lnTo>
                    <a:pt x="0" y="947"/>
                  </a:lnTo>
                  <a:lnTo>
                    <a:pt x="14" y="947"/>
                  </a:lnTo>
                  <a:close/>
                  <a:moveTo>
                    <a:pt x="14" y="974"/>
                  </a:moveTo>
                  <a:lnTo>
                    <a:pt x="14" y="988"/>
                  </a:lnTo>
                  <a:lnTo>
                    <a:pt x="0" y="988"/>
                  </a:lnTo>
                  <a:lnTo>
                    <a:pt x="0" y="974"/>
                  </a:lnTo>
                  <a:lnTo>
                    <a:pt x="14" y="974"/>
                  </a:lnTo>
                  <a:close/>
                  <a:moveTo>
                    <a:pt x="14" y="1002"/>
                  </a:moveTo>
                  <a:lnTo>
                    <a:pt x="14" y="1016"/>
                  </a:lnTo>
                  <a:lnTo>
                    <a:pt x="0" y="1016"/>
                  </a:lnTo>
                  <a:lnTo>
                    <a:pt x="0" y="1002"/>
                  </a:lnTo>
                  <a:lnTo>
                    <a:pt x="14" y="1002"/>
                  </a:lnTo>
                  <a:close/>
                  <a:moveTo>
                    <a:pt x="14" y="1030"/>
                  </a:moveTo>
                  <a:lnTo>
                    <a:pt x="14" y="1044"/>
                  </a:lnTo>
                  <a:lnTo>
                    <a:pt x="0" y="1044"/>
                  </a:lnTo>
                  <a:lnTo>
                    <a:pt x="0" y="1030"/>
                  </a:lnTo>
                  <a:lnTo>
                    <a:pt x="14" y="1030"/>
                  </a:lnTo>
                  <a:close/>
                  <a:moveTo>
                    <a:pt x="14" y="1058"/>
                  </a:moveTo>
                  <a:lnTo>
                    <a:pt x="14" y="1072"/>
                  </a:lnTo>
                  <a:lnTo>
                    <a:pt x="0" y="1072"/>
                  </a:lnTo>
                  <a:lnTo>
                    <a:pt x="0" y="1058"/>
                  </a:lnTo>
                  <a:lnTo>
                    <a:pt x="14" y="1058"/>
                  </a:lnTo>
                  <a:close/>
                  <a:moveTo>
                    <a:pt x="14" y="1086"/>
                  </a:moveTo>
                  <a:lnTo>
                    <a:pt x="14" y="1100"/>
                  </a:lnTo>
                  <a:lnTo>
                    <a:pt x="0" y="1100"/>
                  </a:lnTo>
                  <a:lnTo>
                    <a:pt x="0" y="1086"/>
                  </a:lnTo>
                  <a:lnTo>
                    <a:pt x="14" y="1086"/>
                  </a:lnTo>
                  <a:close/>
                  <a:moveTo>
                    <a:pt x="14" y="1114"/>
                  </a:moveTo>
                  <a:lnTo>
                    <a:pt x="14" y="1127"/>
                  </a:lnTo>
                  <a:lnTo>
                    <a:pt x="0" y="1127"/>
                  </a:lnTo>
                  <a:lnTo>
                    <a:pt x="0" y="1114"/>
                  </a:lnTo>
                  <a:lnTo>
                    <a:pt x="14" y="1114"/>
                  </a:lnTo>
                  <a:close/>
                  <a:moveTo>
                    <a:pt x="14" y="1141"/>
                  </a:moveTo>
                  <a:lnTo>
                    <a:pt x="14" y="1155"/>
                  </a:lnTo>
                  <a:lnTo>
                    <a:pt x="0" y="1155"/>
                  </a:lnTo>
                  <a:lnTo>
                    <a:pt x="0" y="1141"/>
                  </a:lnTo>
                  <a:lnTo>
                    <a:pt x="14" y="1141"/>
                  </a:lnTo>
                  <a:close/>
                  <a:moveTo>
                    <a:pt x="14" y="1169"/>
                  </a:moveTo>
                  <a:lnTo>
                    <a:pt x="14" y="1183"/>
                  </a:lnTo>
                  <a:lnTo>
                    <a:pt x="0" y="1183"/>
                  </a:lnTo>
                  <a:lnTo>
                    <a:pt x="0" y="1169"/>
                  </a:lnTo>
                  <a:lnTo>
                    <a:pt x="14" y="1169"/>
                  </a:lnTo>
                  <a:close/>
                  <a:moveTo>
                    <a:pt x="14" y="1197"/>
                  </a:moveTo>
                  <a:lnTo>
                    <a:pt x="14" y="1211"/>
                  </a:lnTo>
                  <a:lnTo>
                    <a:pt x="0" y="1211"/>
                  </a:lnTo>
                  <a:lnTo>
                    <a:pt x="0" y="1197"/>
                  </a:lnTo>
                  <a:lnTo>
                    <a:pt x="14" y="1197"/>
                  </a:lnTo>
                  <a:close/>
                  <a:moveTo>
                    <a:pt x="14" y="1225"/>
                  </a:moveTo>
                  <a:lnTo>
                    <a:pt x="14" y="1239"/>
                  </a:lnTo>
                  <a:lnTo>
                    <a:pt x="0" y="1239"/>
                  </a:lnTo>
                  <a:lnTo>
                    <a:pt x="0" y="1225"/>
                  </a:lnTo>
                  <a:lnTo>
                    <a:pt x="14" y="1225"/>
                  </a:lnTo>
                  <a:close/>
                  <a:moveTo>
                    <a:pt x="14" y="1253"/>
                  </a:moveTo>
                  <a:lnTo>
                    <a:pt x="14" y="1267"/>
                  </a:lnTo>
                  <a:lnTo>
                    <a:pt x="0" y="1267"/>
                  </a:lnTo>
                  <a:lnTo>
                    <a:pt x="0" y="1253"/>
                  </a:lnTo>
                  <a:lnTo>
                    <a:pt x="14" y="1253"/>
                  </a:lnTo>
                  <a:close/>
                  <a:moveTo>
                    <a:pt x="14" y="1281"/>
                  </a:moveTo>
                  <a:lnTo>
                    <a:pt x="14" y="1294"/>
                  </a:lnTo>
                  <a:lnTo>
                    <a:pt x="0" y="1294"/>
                  </a:lnTo>
                  <a:lnTo>
                    <a:pt x="0" y="1281"/>
                  </a:lnTo>
                  <a:lnTo>
                    <a:pt x="14" y="1281"/>
                  </a:lnTo>
                  <a:close/>
                  <a:moveTo>
                    <a:pt x="14" y="1308"/>
                  </a:moveTo>
                  <a:lnTo>
                    <a:pt x="14" y="1322"/>
                  </a:lnTo>
                  <a:lnTo>
                    <a:pt x="0" y="1322"/>
                  </a:lnTo>
                  <a:lnTo>
                    <a:pt x="0" y="1308"/>
                  </a:lnTo>
                  <a:lnTo>
                    <a:pt x="14" y="1308"/>
                  </a:lnTo>
                  <a:close/>
                  <a:moveTo>
                    <a:pt x="14" y="1336"/>
                  </a:moveTo>
                  <a:lnTo>
                    <a:pt x="14" y="1350"/>
                  </a:lnTo>
                  <a:lnTo>
                    <a:pt x="0" y="1350"/>
                  </a:lnTo>
                  <a:lnTo>
                    <a:pt x="0" y="1336"/>
                  </a:lnTo>
                  <a:lnTo>
                    <a:pt x="14" y="1336"/>
                  </a:lnTo>
                  <a:close/>
                  <a:moveTo>
                    <a:pt x="14" y="1364"/>
                  </a:moveTo>
                  <a:lnTo>
                    <a:pt x="14" y="1378"/>
                  </a:lnTo>
                  <a:lnTo>
                    <a:pt x="0" y="1378"/>
                  </a:lnTo>
                  <a:lnTo>
                    <a:pt x="0" y="1364"/>
                  </a:lnTo>
                  <a:lnTo>
                    <a:pt x="14" y="1364"/>
                  </a:lnTo>
                  <a:close/>
                  <a:moveTo>
                    <a:pt x="14" y="1392"/>
                  </a:moveTo>
                  <a:lnTo>
                    <a:pt x="14" y="1406"/>
                  </a:lnTo>
                  <a:lnTo>
                    <a:pt x="0" y="1406"/>
                  </a:lnTo>
                  <a:lnTo>
                    <a:pt x="0" y="1392"/>
                  </a:lnTo>
                  <a:lnTo>
                    <a:pt x="14" y="1392"/>
                  </a:lnTo>
                  <a:close/>
                  <a:moveTo>
                    <a:pt x="14" y="1420"/>
                  </a:moveTo>
                  <a:lnTo>
                    <a:pt x="14" y="1434"/>
                  </a:lnTo>
                  <a:lnTo>
                    <a:pt x="0" y="1434"/>
                  </a:lnTo>
                  <a:lnTo>
                    <a:pt x="0" y="1420"/>
                  </a:lnTo>
                  <a:lnTo>
                    <a:pt x="14" y="1420"/>
                  </a:lnTo>
                  <a:close/>
                  <a:moveTo>
                    <a:pt x="14" y="1448"/>
                  </a:moveTo>
                  <a:lnTo>
                    <a:pt x="14" y="1461"/>
                  </a:lnTo>
                  <a:lnTo>
                    <a:pt x="0" y="1461"/>
                  </a:lnTo>
                  <a:lnTo>
                    <a:pt x="0" y="1448"/>
                  </a:lnTo>
                  <a:lnTo>
                    <a:pt x="14" y="1448"/>
                  </a:lnTo>
                  <a:close/>
                  <a:moveTo>
                    <a:pt x="14" y="1475"/>
                  </a:moveTo>
                  <a:lnTo>
                    <a:pt x="14" y="1489"/>
                  </a:lnTo>
                  <a:lnTo>
                    <a:pt x="0" y="1489"/>
                  </a:lnTo>
                  <a:lnTo>
                    <a:pt x="0" y="1475"/>
                  </a:lnTo>
                  <a:lnTo>
                    <a:pt x="14" y="1475"/>
                  </a:lnTo>
                  <a:close/>
                  <a:moveTo>
                    <a:pt x="14" y="1503"/>
                  </a:moveTo>
                  <a:lnTo>
                    <a:pt x="14" y="1517"/>
                  </a:lnTo>
                  <a:lnTo>
                    <a:pt x="0" y="1517"/>
                  </a:lnTo>
                  <a:lnTo>
                    <a:pt x="0" y="1503"/>
                  </a:lnTo>
                  <a:lnTo>
                    <a:pt x="14" y="1503"/>
                  </a:lnTo>
                  <a:close/>
                  <a:moveTo>
                    <a:pt x="14" y="1531"/>
                  </a:moveTo>
                  <a:lnTo>
                    <a:pt x="14" y="1545"/>
                  </a:lnTo>
                  <a:lnTo>
                    <a:pt x="0" y="1545"/>
                  </a:lnTo>
                  <a:lnTo>
                    <a:pt x="0" y="1531"/>
                  </a:lnTo>
                  <a:lnTo>
                    <a:pt x="14" y="1531"/>
                  </a:lnTo>
                  <a:close/>
                  <a:moveTo>
                    <a:pt x="14" y="1559"/>
                  </a:moveTo>
                  <a:lnTo>
                    <a:pt x="14" y="1573"/>
                  </a:lnTo>
                  <a:lnTo>
                    <a:pt x="0" y="1573"/>
                  </a:lnTo>
                  <a:lnTo>
                    <a:pt x="0" y="1559"/>
                  </a:lnTo>
                  <a:lnTo>
                    <a:pt x="14" y="1559"/>
                  </a:lnTo>
                  <a:close/>
                  <a:moveTo>
                    <a:pt x="14" y="1587"/>
                  </a:moveTo>
                  <a:lnTo>
                    <a:pt x="14" y="1601"/>
                  </a:lnTo>
                  <a:lnTo>
                    <a:pt x="0" y="1601"/>
                  </a:lnTo>
                  <a:lnTo>
                    <a:pt x="0" y="1587"/>
                  </a:lnTo>
                  <a:lnTo>
                    <a:pt x="14" y="1587"/>
                  </a:lnTo>
                  <a:close/>
                  <a:moveTo>
                    <a:pt x="14" y="1615"/>
                  </a:moveTo>
                  <a:lnTo>
                    <a:pt x="14" y="1628"/>
                  </a:lnTo>
                  <a:lnTo>
                    <a:pt x="0" y="1628"/>
                  </a:lnTo>
                  <a:lnTo>
                    <a:pt x="0" y="1615"/>
                  </a:lnTo>
                  <a:lnTo>
                    <a:pt x="14" y="1615"/>
                  </a:lnTo>
                  <a:close/>
                  <a:moveTo>
                    <a:pt x="14" y="1642"/>
                  </a:moveTo>
                  <a:lnTo>
                    <a:pt x="14" y="1656"/>
                  </a:lnTo>
                  <a:lnTo>
                    <a:pt x="0" y="1656"/>
                  </a:lnTo>
                  <a:lnTo>
                    <a:pt x="0" y="1642"/>
                  </a:lnTo>
                  <a:lnTo>
                    <a:pt x="14" y="1642"/>
                  </a:lnTo>
                  <a:close/>
                  <a:moveTo>
                    <a:pt x="14" y="1670"/>
                  </a:moveTo>
                  <a:lnTo>
                    <a:pt x="14" y="1684"/>
                  </a:lnTo>
                  <a:lnTo>
                    <a:pt x="0" y="1684"/>
                  </a:lnTo>
                  <a:lnTo>
                    <a:pt x="0" y="1670"/>
                  </a:lnTo>
                  <a:lnTo>
                    <a:pt x="14" y="1670"/>
                  </a:lnTo>
                  <a:close/>
                  <a:moveTo>
                    <a:pt x="14" y="1698"/>
                  </a:moveTo>
                  <a:lnTo>
                    <a:pt x="14" y="1712"/>
                  </a:lnTo>
                  <a:lnTo>
                    <a:pt x="0" y="1712"/>
                  </a:lnTo>
                  <a:lnTo>
                    <a:pt x="0" y="1698"/>
                  </a:lnTo>
                  <a:lnTo>
                    <a:pt x="14" y="1698"/>
                  </a:lnTo>
                  <a:close/>
                  <a:moveTo>
                    <a:pt x="14" y="1726"/>
                  </a:moveTo>
                  <a:lnTo>
                    <a:pt x="14" y="1740"/>
                  </a:lnTo>
                  <a:lnTo>
                    <a:pt x="0" y="1740"/>
                  </a:lnTo>
                  <a:lnTo>
                    <a:pt x="0" y="1726"/>
                  </a:lnTo>
                  <a:lnTo>
                    <a:pt x="14" y="1726"/>
                  </a:lnTo>
                  <a:close/>
                  <a:moveTo>
                    <a:pt x="14" y="1754"/>
                  </a:moveTo>
                  <a:lnTo>
                    <a:pt x="14" y="1768"/>
                  </a:lnTo>
                  <a:lnTo>
                    <a:pt x="0" y="1768"/>
                  </a:lnTo>
                  <a:lnTo>
                    <a:pt x="0" y="1754"/>
                  </a:lnTo>
                  <a:lnTo>
                    <a:pt x="14" y="1754"/>
                  </a:lnTo>
                  <a:close/>
                  <a:moveTo>
                    <a:pt x="14" y="1782"/>
                  </a:moveTo>
                  <a:lnTo>
                    <a:pt x="14" y="1795"/>
                  </a:lnTo>
                  <a:lnTo>
                    <a:pt x="0" y="1795"/>
                  </a:lnTo>
                  <a:lnTo>
                    <a:pt x="0" y="1782"/>
                  </a:lnTo>
                  <a:lnTo>
                    <a:pt x="14" y="1782"/>
                  </a:lnTo>
                  <a:close/>
                  <a:moveTo>
                    <a:pt x="14" y="1809"/>
                  </a:moveTo>
                  <a:lnTo>
                    <a:pt x="14" y="1823"/>
                  </a:lnTo>
                  <a:lnTo>
                    <a:pt x="0" y="1823"/>
                  </a:lnTo>
                  <a:lnTo>
                    <a:pt x="0" y="1809"/>
                  </a:lnTo>
                  <a:lnTo>
                    <a:pt x="14" y="1809"/>
                  </a:lnTo>
                  <a:close/>
                  <a:moveTo>
                    <a:pt x="14" y="1837"/>
                  </a:moveTo>
                  <a:lnTo>
                    <a:pt x="14" y="1851"/>
                  </a:lnTo>
                  <a:lnTo>
                    <a:pt x="0" y="1851"/>
                  </a:lnTo>
                  <a:lnTo>
                    <a:pt x="0" y="1837"/>
                  </a:lnTo>
                  <a:lnTo>
                    <a:pt x="14" y="1837"/>
                  </a:lnTo>
                  <a:close/>
                  <a:moveTo>
                    <a:pt x="14" y="1865"/>
                  </a:moveTo>
                  <a:lnTo>
                    <a:pt x="14" y="1879"/>
                  </a:lnTo>
                  <a:lnTo>
                    <a:pt x="0" y="1879"/>
                  </a:lnTo>
                  <a:lnTo>
                    <a:pt x="0" y="1865"/>
                  </a:lnTo>
                  <a:lnTo>
                    <a:pt x="14" y="1865"/>
                  </a:lnTo>
                  <a:close/>
                  <a:moveTo>
                    <a:pt x="14" y="1893"/>
                  </a:moveTo>
                  <a:lnTo>
                    <a:pt x="14" y="1907"/>
                  </a:lnTo>
                  <a:lnTo>
                    <a:pt x="0" y="1907"/>
                  </a:lnTo>
                  <a:lnTo>
                    <a:pt x="0" y="1893"/>
                  </a:lnTo>
                  <a:lnTo>
                    <a:pt x="14" y="1893"/>
                  </a:lnTo>
                  <a:close/>
                  <a:moveTo>
                    <a:pt x="14" y="1921"/>
                  </a:moveTo>
                  <a:lnTo>
                    <a:pt x="14" y="1935"/>
                  </a:lnTo>
                  <a:lnTo>
                    <a:pt x="0" y="1935"/>
                  </a:lnTo>
                  <a:lnTo>
                    <a:pt x="0" y="1921"/>
                  </a:lnTo>
                  <a:lnTo>
                    <a:pt x="14" y="1921"/>
                  </a:lnTo>
                  <a:close/>
                  <a:moveTo>
                    <a:pt x="14" y="1949"/>
                  </a:moveTo>
                  <a:lnTo>
                    <a:pt x="14" y="1962"/>
                  </a:lnTo>
                  <a:lnTo>
                    <a:pt x="0" y="1962"/>
                  </a:lnTo>
                  <a:lnTo>
                    <a:pt x="0" y="1949"/>
                  </a:lnTo>
                  <a:lnTo>
                    <a:pt x="14" y="1949"/>
                  </a:lnTo>
                  <a:close/>
                  <a:moveTo>
                    <a:pt x="14" y="1976"/>
                  </a:moveTo>
                  <a:lnTo>
                    <a:pt x="14" y="1990"/>
                  </a:lnTo>
                  <a:lnTo>
                    <a:pt x="0" y="1990"/>
                  </a:lnTo>
                  <a:lnTo>
                    <a:pt x="0" y="1976"/>
                  </a:lnTo>
                  <a:lnTo>
                    <a:pt x="14" y="1976"/>
                  </a:lnTo>
                  <a:close/>
                  <a:moveTo>
                    <a:pt x="14" y="2004"/>
                  </a:moveTo>
                  <a:lnTo>
                    <a:pt x="14" y="2018"/>
                  </a:lnTo>
                  <a:lnTo>
                    <a:pt x="0" y="2018"/>
                  </a:lnTo>
                  <a:lnTo>
                    <a:pt x="0" y="2004"/>
                  </a:lnTo>
                  <a:lnTo>
                    <a:pt x="14" y="2004"/>
                  </a:lnTo>
                  <a:close/>
                  <a:moveTo>
                    <a:pt x="14" y="2032"/>
                  </a:moveTo>
                  <a:lnTo>
                    <a:pt x="14" y="2046"/>
                  </a:lnTo>
                  <a:lnTo>
                    <a:pt x="0" y="2046"/>
                  </a:lnTo>
                  <a:lnTo>
                    <a:pt x="0" y="2032"/>
                  </a:lnTo>
                  <a:lnTo>
                    <a:pt x="14" y="2032"/>
                  </a:lnTo>
                  <a:close/>
                  <a:moveTo>
                    <a:pt x="14" y="2060"/>
                  </a:moveTo>
                  <a:lnTo>
                    <a:pt x="14" y="2074"/>
                  </a:lnTo>
                  <a:lnTo>
                    <a:pt x="0" y="2074"/>
                  </a:lnTo>
                  <a:lnTo>
                    <a:pt x="0" y="2060"/>
                  </a:lnTo>
                  <a:lnTo>
                    <a:pt x="14" y="2060"/>
                  </a:lnTo>
                  <a:close/>
                  <a:moveTo>
                    <a:pt x="14" y="2087"/>
                  </a:moveTo>
                  <a:lnTo>
                    <a:pt x="14" y="2102"/>
                  </a:lnTo>
                  <a:lnTo>
                    <a:pt x="0" y="2102"/>
                  </a:lnTo>
                  <a:lnTo>
                    <a:pt x="0" y="2087"/>
                  </a:lnTo>
                  <a:lnTo>
                    <a:pt x="14" y="2087"/>
                  </a:lnTo>
                  <a:close/>
                  <a:moveTo>
                    <a:pt x="14" y="2116"/>
                  </a:moveTo>
                  <a:lnTo>
                    <a:pt x="14" y="2129"/>
                  </a:lnTo>
                  <a:lnTo>
                    <a:pt x="0" y="2129"/>
                  </a:lnTo>
                  <a:lnTo>
                    <a:pt x="0" y="2116"/>
                  </a:lnTo>
                  <a:lnTo>
                    <a:pt x="14" y="2116"/>
                  </a:lnTo>
                  <a:close/>
                  <a:moveTo>
                    <a:pt x="14" y="2143"/>
                  </a:moveTo>
                  <a:lnTo>
                    <a:pt x="14" y="2157"/>
                  </a:lnTo>
                  <a:lnTo>
                    <a:pt x="0" y="2157"/>
                  </a:lnTo>
                  <a:lnTo>
                    <a:pt x="0" y="2143"/>
                  </a:lnTo>
                  <a:lnTo>
                    <a:pt x="14" y="2143"/>
                  </a:lnTo>
                  <a:close/>
                  <a:moveTo>
                    <a:pt x="14" y="2171"/>
                  </a:moveTo>
                  <a:lnTo>
                    <a:pt x="14" y="2185"/>
                  </a:lnTo>
                  <a:lnTo>
                    <a:pt x="0" y="2185"/>
                  </a:lnTo>
                  <a:lnTo>
                    <a:pt x="0" y="2171"/>
                  </a:lnTo>
                  <a:lnTo>
                    <a:pt x="14" y="2171"/>
                  </a:lnTo>
                  <a:close/>
                  <a:moveTo>
                    <a:pt x="14" y="2199"/>
                  </a:moveTo>
                  <a:lnTo>
                    <a:pt x="14" y="2213"/>
                  </a:lnTo>
                  <a:lnTo>
                    <a:pt x="0" y="2213"/>
                  </a:lnTo>
                  <a:lnTo>
                    <a:pt x="0" y="2199"/>
                  </a:lnTo>
                  <a:lnTo>
                    <a:pt x="14" y="2199"/>
                  </a:lnTo>
                  <a:close/>
                  <a:moveTo>
                    <a:pt x="14" y="2227"/>
                  </a:moveTo>
                  <a:lnTo>
                    <a:pt x="14" y="2241"/>
                  </a:lnTo>
                  <a:lnTo>
                    <a:pt x="0" y="2241"/>
                  </a:lnTo>
                  <a:lnTo>
                    <a:pt x="0" y="2227"/>
                  </a:lnTo>
                  <a:lnTo>
                    <a:pt x="14" y="2227"/>
                  </a:lnTo>
                  <a:close/>
                  <a:moveTo>
                    <a:pt x="14" y="2254"/>
                  </a:moveTo>
                  <a:lnTo>
                    <a:pt x="14" y="2268"/>
                  </a:lnTo>
                  <a:lnTo>
                    <a:pt x="0" y="2268"/>
                  </a:lnTo>
                  <a:lnTo>
                    <a:pt x="0" y="2254"/>
                  </a:lnTo>
                  <a:lnTo>
                    <a:pt x="14" y="2254"/>
                  </a:lnTo>
                  <a:close/>
                  <a:moveTo>
                    <a:pt x="14" y="2283"/>
                  </a:moveTo>
                  <a:lnTo>
                    <a:pt x="14" y="2296"/>
                  </a:lnTo>
                  <a:lnTo>
                    <a:pt x="0" y="2296"/>
                  </a:lnTo>
                  <a:lnTo>
                    <a:pt x="0" y="2283"/>
                  </a:lnTo>
                  <a:lnTo>
                    <a:pt x="14" y="2283"/>
                  </a:lnTo>
                  <a:close/>
                  <a:moveTo>
                    <a:pt x="14" y="2310"/>
                  </a:moveTo>
                  <a:lnTo>
                    <a:pt x="14" y="2324"/>
                  </a:lnTo>
                  <a:lnTo>
                    <a:pt x="0" y="2324"/>
                  </a:lnTo>
                  <a:lnTo>
                    <a:pt x="0" y="2310"/>
                  </a:lnTo>
                  <a:lnTo>
                    <a:pt x="14" y="2310"/>
                  </a:lnTo>
                  <a:close/>
                  <a:moveTo>
                    <a:pt x="14" y="2338"/>
                  </a:moveTo>
                  <a:lnTo>
                    <a:pt x="14" y="2352"/>
                  </a:lnTo>
                  <a:lnTo>
                    <a:pt x="0" y="2352"/>
                  </a:lnTo>
                  <a:lnTo>
                    <a:pt x="0" y="2338"/>
                  </a:lnTo>
                  <a:lnTo>
                    <a:pt x="14" y="2338"/>
                  </a:lnTo>
                  <a:close/>
                  <a:moveTo>
                    <a:pt x="14" y="2366"/>
                  </a:moveTo>
                  <a:lnTo>
                    <a:pt x="14" y="2380"/>
                  </a:lnTo>
                  <a:lnTo>
                    <a:pt x="0" y="2380"/>
                  </a:lnTo>
                  <a:lnTo>
                    <a:pt x="0" y="2366"/>
                  </a:lnTo>
                  <a:lnTo>
                    <a:pt x="14" y="2366"/>
                  </a:lnTo>
                  <a:close/>
                  <a:moveTo>
                    <a:pt x="14" y="2394"/>
                  </a:moveTo>
                  <a:lnTo>
                    <a:pt x="14" y="2408"/>
                  </a:lnTo>
                  <a:lnTo>
                    <a:pt x="0" y="2408"/>
                  </a:lnTo>
                  <a:lnTo>
                    <a:pt x="0" y="2394"/>
                  </a:lnTo>
                  <a:lnTo>
                    <a:pt x="14" y="2394"/>
                  </a:lnTo>
                  <a:close/>
                  <a:moveTo>
                    <a:pt x="14" y="2421"/>
                  </a:moveTo>
                  <a:lnTo>
                    <a:pt x="14" y="2435"/>
                  </a:lnTo>
                  <a:lnTo>
                    <a:pt x="0" y="2435"/>
                  </a:lnTo>
                  <a:lnTo>
                    <a:pt x="0" y="2421"/>
                  </a:lnTo>
                  <a:lnTo>
                    <a:pt x="14" y="2421"/>
                  </a:lnTo>
                  <a:close/>
                  <a:moveTo>
                    <a:pt x="14" y="2449"/>
                  </a:moveTo>
                  <a:lnTo>
                    <a:pt x="14" y="2453"/>
                  </a:lnTo>
                  <a:lnTo>
                    <a:pt x="0" y="2453"/>
                  </a:lnTo>
                  <a:lnTo>
                    <a:pt x="0" y="2449"/>
                  </a:lnTo>
                  <a:lnTo>
                    <a:pt x="14" y="2449"/>
                  </a:lnTo>
                  <a:close/>
                </a:path>
              </a:pathLst>
            </a:custGeom>
            <a:solidFill>
              <a:srgbClr val="000000"/>
            </a:solidFill>
            <a:ln w="0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487" name="Freeform 29">
              <a:extLst>
                <a:ext uri="{FF2B5EF4-FFF2-40B4-BE49-F238E27FC236}">
                  <a16:creationId xmlns:a16="http://schemas.microsoft.com/office/drawing/2014/main" id="{627D0B84-6A75-D470-21A4-8E6D37F5C62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853776" y="3078501"/>
              <a:ext cx="18000" cy="3726773"/>
            </a:xfrm>
            <a:custGeom>
              <a:avLst/>
              <a:gdLst>
                <a:gd name="T0" fmla="*/ 15 w 15"/>
                <a:gd name="T1" fmla="*/ 42 h 2453"/>
                <a:gd name="T2" fmla="*/ 0 w 15"/>
                <a:gd name="T3" fmla="*/ 56 h 2453"/>
                <a:gd name="T4" fmla="*/ 15 w 15"/>
                <a:gd name="T5" fmla="*/ 112 h 2453"/>
                <a:gd name="T6" fmla="*/ 0 w 15"/>
                <a:gd name="T7" fmla="*/ 154 h 2453"/>
                <a:gd name="T8" fmla="*/ 15 w 15"/>
                <a:gd name="T9" fmla="*/ 167 h 2453"/>
                <a:gd name="T10" fmla="*/ 15 w 15"/>
                <a:gd name="T11" fmla="*/ 237 h 2453"/>
                <a:gd name="T12" fmla="*/ 0 w 15"/>
                <a:gd name="T13" fmla="*/ 251 h 2453"/>
                <a:gd name="T14" fmla="*/ 15 w 15"/>
                <a:gd name="T15" fmla="*/ 307 h 2453"/>
                <a:gd name="T16" fmla="*/ 0 w 15"/>
                <a:gd name="T17" fmla="*/ 348 h 2453"/>
                <a:gd name="T18" fmla="*/ 15 w 15"/>
                <a:gd name="T19" fmla="*/ 362 h 2453"/>
                <a:gd name="T20" fmla="*/ 15 w 15"/>
                <a:gd name="T21" fmla="*/ 432 h 2453"/>
                <a:gd name="T22" fmla="*/ 0 w 15"/>
                <a:gd name="T23" fmla="*/ 446 h 2453"/>
                <a:gd name="T24" fmla="*/ 15 w 15"/>
                <a:gd name="T25" fmla="*/ 501 h 2453"/>
                <a:gd name="T26" fmla="*/ 0 w 15"/>
                <a:gd name="T27" fmla="*/ 543 h 2453"/>
                <a:gd name="T28" fmla="*/ 15 w 15"/>
                <a:gd name="T29" fmla="*/ 557 h 2453"/>
                <a:gd name="T30" fmla="*/ 15 w 15"/>
                <a:gd name="T31" fmla="*/ 627 h 2453"/>
                <a:gd name="T32" fmla="*/ 0 w 15"/>
                <a:gd name="T33" fmla="*/ 641 h 2453"/>
                <a:gd name="T34" fmla="*/ 15 w 15"/>
                <a:gd name="T35" fmla="*/ 696 h 2453"/>
                <a:gd name="T36" fmla="*/ 0 w 15"/>
                <a:gd name="T37" fmla="*/ 738 h 2453"/>
                <a:gd name="T38" fmla="*/ 15 w 15"/>
                <a:gd name="T39" fmla="*/ 752 h 2453"/>
                <a:gd name="T40" fmla="*/ 15 w 15"/>
                <a:gd name="T41" fmla="*/ 822 h 2453"/>
                <a:gd name="T42" fmla="*/ 0 w 15"/>
                <a:gd name="T43" fmla="*/ 835 h 2453"/>
                <a:gd name="T44" fmla="*/ 15 w 15"/>
                <a:gd name="T45" fmla="*/ 891 h 2453"/>
                <a:gd name="T46" fmla="*/ 0 w 15"/>
                <a:gd name="T47" fmla="*/ 933 h 2453"/>
                <a:gd name="T48" fmla="*/ 15 w 15"/>
                <a:gd name="T49" fmla="*/ 947 h 2453"/>
                <a:gd name="T50" fmla="*/ 15 w 15"/>
                <a:gd name="T51" fmla="*/ 1016 h 2453"/>
                <a:gd name="T52" fmla="*/ 0 w 15"/>
                <a:gd name="T53" fmla="*/ 1030 h 2453"/>
                <a:gd name="T54" fmla="*/ 15 w 15"/>
                <a:gd name="T55" fmla="*/ 1086 h 2453"/>
                <a:gd name="T56" fmla="*/ 0 w 15"/>
                <a:gd name="T57" fmla="*/ 1127 h 2453"/>
                <a:gd name="T58" fmla="*/ 15 w 15"/>
                <a:gd name="T59" fmla="*/ 1141 h 2453"/>
                <a:gd name="T60" fmla="*/ 15 w 15"/>
                <a:gd name="T61" fmla="*/ 1211 h 2453"/>
                <a:gd name="T62" fmla="*/ 0 w 15"/>
                <a:gd name="T63" fmla="*/ 1225 h 2453"/>
                <a:gd name="T64" fmla="*/ 15 w 15"/>
                <a:gd name="T65" fmla="*/ 1281 h 2453"/>
                <a:gd name="T66" fmla="*/ 0 w 15"/>
                <a:gd name="T67" fmla="*/ 1322 h 2453"/>
                <a:gd name="T68" fmla="*/ 15 w 15"/>
                <a:gd name="T69" fmla="*/ 1336 h 2453"/>
                <a:gd name="T70" fmla="*/ 15 w 15"/>
                <a:gd name="T71" fmla="*/ 1406 h 2453"/>
                <a:gd name="T72" fmla="*/ 0 w 15"/>
                <a:gd name="T73" fmla="*/ 1420 h 2453"/>
                <a:gd name="T74" fmla="*/ 15 w 15"/>
                <a:gd name="T75" fmla="*/ 1475 h 2453"/>
                <a:gd name="T76" fmla="*/ 0 w 15"/>
                <a:gd name="T77" fmla="*/ 1517 h 2453"/>
                <a:gd name="T78" fmla="*/ 15 w 15"/>
                <a:gd name="T79" fmla="*/ 1531 h 2453"/>
                <a:gd name="T80" fmla="*/ 15 w 15"/>
                <a:gd name="T81" fmla="*/ 1601 h 2453"/>
                <a:gd name="T82" fmla="*/ 0 w 15"/>
                <a:gd name="T83" fmla="*/ 1615 h 2453"/>
                <a:gd name="T84" fmla="*/ 15 w 15"/>
                <a:gd name="T85" fmla="*/ 1670 h 2453"/>
                <a:gd name="T86" fmla="*/ 0 w 15"/>
                <a:gd name="T87" fmla="*/ 1712 h 2453"/>
                <a:gd name="T88" fmla="*/ 15 w 15"/>
                <a:gd name="T89" fmla="*/ 1726 h 2453"/>
                <a:gd name="T90" fmla="*/ 15 w 15"/>
                <a:gd name="T91" fmla="*/ 1795 h 2453"/>
                <a:gd name="T92" fmla="*/ 0 w 15"/>
                <a:gd name="T93" fmla="*/ 1809 h 2453"/>
                <a:gd name="T94" fmla="*/ 15 w 15"/>
                <a:gd name="T95" fmla="*/ 1865 h 2453"/>
                <a:gd name="T96" fmla="*/ 0 w 15"/>
                <a:gd name="T97" fmla="*/ 1907 h 2453"/>
                <a:gd name="T98" fmla="*/ 15 w 15"/>
                <a:gd name="T99" fmla="*/ 1921 h 2453"/>
                <a:gd name="T100" fmla="*/ 15 w 15"/>
                <a:gd name="T101" fmla="*/ 1990 h 2453"/>
                <a:gd name="T102" fmla="*/ 0 w 15"/>
                <a:gd name="T103" fmla="*/ 2004 h 2453"/>
                <a:gd name="T104" fmla="*/ 15 w 15"/>
                <a:gd name="T105" fmla="*/ 2060 h 2453"/>
                <a:gd name="T106" fmla="*/ 0 w 15"/>
                <a:gd name="T107" fmla="*/ 2102 h 2453"/>
                <a:gd name="T108" fmla="*/ 15 w 15"/>
                <a:gd name="T109" fmla="*/ 2116 h 2453"/>
                <a:gd name="T110" fmla="*/ 15 w 15"/>
                <a:gd name="T111" fmla="*/ 2185 h 2453"/>
                <a:gd name="T112" fmla="*/ 0 w 15"/>
                <a:gd name="T113" fmla="*/ 2199 h 2453"/>
                <a:gd name="T114" fmla="*/ 15 w 15"/>
                <a:gd name="T115" fmla="*/ 2254 h 2453"/>
                <a:gd name="T116" fmla="*/ 0 w 15"/>
                <a:gd name="T117" fmla="*/ 2296 h 2453"/>
                <a:gd name="T118" fmla="*/ 15 w 15"/>
                <a:gd name="T119" fmla="*/ 2310 h 2453"/>
                <a:gd name="T120" fmla="*/ 15 w 15"/>
                <a:gd name="T121" fmla="*/ 2380 h 2453"/>
                <a:gd name="T122" fmla="*/ 0 w 15"/>
                <a:gd name="T123" fmla="*/ 2394 h 2453"/>
                <a:gd name="T124" fmla="*/ 15 w 15"/>
                <a:gd name="T125" fmla="*/ 2449 h 24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5" h="2453">
                  <a:moveTo>
                    <a:pt x="15" y="0"/>
                  </a:moveTo>
                  <a:lnTo>
                    <a:pt x="15" y="14"/>
                  </a:lnTo>
                  <a:lnTo>
                    <a:pt x="0" y="14"/>
                  </a:lnTo>
                  <a:lnTo>
                    <a:pt x="0" y="0"/>
                  </a:lnTo>
                  <a:lnTo>
                    <a:pt x="15" y="0"/>
                  </a:lnTo>
                  <a:close/>
                  <a:moveTo>
                    <a:pt x="15" y="28"/>
                  </a:moveTo>
                  <a:lnTo>
                    <a:pt x="15" y="42"/>
                  </a:lnTo>
                  <a:lnTo>
                    <a:pt x="0" y="42"/>
                  </a:lnTo>
                  <a:lnTo>
                    <a:pt x="0" y="28"/>
                  </a:lnTo>
                  <a:lnTo>
                    <a:pt x="15" y="28"/>
                  </a:lnTo>
                  <a:close/>
                  <a:moveTo>
                    <a:pt x="15" y="56"/>
                  </a:moveTo>
                  <a:lnTo>
                    <a:pt x="15" y="70"/>
                  </a:lnTo>
                  <a:lnTo>
                    <a:pt x="0" y="70"/>
                  </a:lnTo>
                  <a:lnTo>
                    <a:pt x="0" y="56"/>
                  </a:lnTo>
                  <a:lnTo>
                    <a:pt x="15" y="56"/>
                  </a:lnTo>
                  <a:close/>
                  <a:moveTo>
                    <a:pt x="15" y="84"/>
                  </a:moveTo>
                  <a:lnTo>
                    <a:pt x="15" y="98"/>
                  </a:lnTo>
                  <a:lnTo>
                    <a:pt x="0" y="98"/>
                  </a:lnTo>
                  <a:lnTo>
                    <a:pt x="0" y="84"/>
                  </a:lnTo>
                  <a:lnTo>
                    <a:pt x="15" y="84"/>
                  </a:lnTo>
                  <a:close/>
                  <a:moveTo>
                    <a:pt x="15" y="112"/>
                  </a:moveTo>
                  <a:lnTo>
                    <a:pt x="15" y="126"/>
                  </a:lnTo>
                  <a:lnTo>
                    <a:pt x="0" y="126"/>
                  </a:lnTo>
                  <a:lnTo>
                    <a:pt x="0" y="112"/>
                  </a:lnTo>
                  <a:lnTo>
                    <a:pt x="15" y="112"/>
                  </a:lnTo>
                  <a:close/>
                  <a:moveTo>
                    <a:pt x="15" y="140"/>
                  </a:moveTo>
                  <a:lnTo>
                    <a:pt x="15" y="154"/>
                  </a:lnTo>
                  <a:lnTo>
                    <a:pt x="0" y="154"/>
                  </a:lnTo>
                  <a:lnTo>
                    <a:pt x="0" y="140"/>
                  </a:lnTo>
                  <a:lnTo>
                    <a:pt x="15" y="140"/>
                  </a:lnTo>
                  <a:close/>
                  <a:moveTo>
                    <a:pt x="15" y="167"/>
                  </a:moveTo>
                  <a:lnTo>
                    <a:pt x="15" y="181"/>
                  </a:lnTo>
                  <a:lnTo>
                    <a:pt x="0" y="181"/>
                  </a:lnTo>
                  <a:lnTo>
                    <a:pt x="0" y="167"/>
                  </a:lnTo>
                  <a:lnTo>
                    <a:pt x="15" y="167"/>
                  </a:lnTo>
                  <a:close/>
                  <a:moveTo>
                    <a:pt x="15" y="195"/>
                  </a:moveTo>
                  <a:lnTo>
                    <a:pt x="15" y="209"/>
                  </a:lnTo>
                  <a:lnTo>
                    <a:pt x="0" y="209"/>
                  </a:lnTo>
                  <a:lnTo>
                    <a:pt x="0" y="195"/>
                  </a:lnTo>
                  <a:lnTo>
                    <a:pt x="15" y="195"/>
                  </a:lnTo>
                  <a:close/>
                  <a:moveTo>
                    <a:pt x="15" y="223"/>
                  </a:moveTo>
                  <a:lnTo>
                    <a:pt x="15" y="237"/>
                  </a:lnTo>
                  <a:lnTo>
                    <a:pt x="0" y="237"/>
                  </a:lnTo>
                  <a:lnTo>
                    <a:pt x="0" y="223"/>
                  </a:lnTo>
                  <a:lnTo>
                    <a:pt x="15" y="223"/>
                  </a:lnTo>
                  <a:close/>
                  <a:moveTo>
                    <a:pt x="15" y="251"/>
                  </a:moveTo>
                  <a:lnTo>
                    <a:pt x="15" y="265"/>
                  </a:lnTo>
                  <a:lnTo>
                    <a:pt x="0" y="265"/>
                  </a:lnTo>
                  <a:lnTo>
                    <a:pt x="0" y="251"/>
                  </a:lnTo>
                  <a:lnTo>
                    <a:pt x="15" y="251"/>
                  </a:lnTo>
                  <a:close/>
                  <a:moveTo>
                    <a:pt x="15" y="279"/>
                  </a:moveTo>
                  <a:lnTo>
                    <a:pt x="15" y="293"/>
                  </a:lnTo>
                  <a:lnTo>
                    <a:pt x="0" y="293"/>
                  </a:lnTo>
                  <a:lnTo>
                    <a:pt x="0" y="279"/>
                  </a:lnTo>
                  <a:lnTo>
                    <a:pt x="15" y="279"/>
                  </a:lnTo>
                  <a:close/>
                  <a:moveTo>
                    <a:pt x="15" y="307"/>
                  </a:moveTo>
                  <a:lnTo>
                    <a:pt x="15" y="321"/>
                  </a:lnTo>
                  <a:lnTo>
                    <a:pt x="0" y="321"/>
                  </a:lnTo>
                  <a:lnTo>
                    <a:pt x="0" y="307"/>
                  </a:lnTo>
                  <a:lnTo>
                    <a:pt x="15" y="307"/>
                  </a:lnTo>
                  <a:close/>
                  <a:moveTo>
                    <a:pt x="15" y="334"/>
                  </a:moveTo>
                  <a:lnTo>
                    <a:pt x="15" y="348"/>
                  </a:lnTo>
                  <a:lnTo>
                    <a:pt x="0" y="348"/>
                  </a:lnTo>
                  <a:lnTo>
                    <a:pt x="0" y="334"/>
                  </a:lnTo>
                  <a:lnTo>
                    <a:pt x="15" y="334"/>
                  </a:lnTo>
                  <a:close/>
                  <a:moveTo>
                    <a:pt x="15" y="362"/>
                  </a:moveTo>
                  <a:lnTo>
                    <a:pt x="15" y="376"/>
                  </a:lnTo>
                  <a:lnTo>
                    <a:pt x="0" y="376"/>
                  </a:lnTo>
                  <a:lnTo>
                    <a:pt x="0" y="362"/>
                  </a:lnTo>
                  <a:lnTo>
                    <a:pt x="15" y="362"/>
                  </a:lnTo>
                  <a:close/>
                  <a:moveTo>
                    <a:pt x="15" y="390"/>
                  </a:moveTo>
                  <a:lnTo>
                    <a:pt x="15" y="404"/>
                  </a:lnTo>
                  <a:lnTo>
                    <a:pt x="0" y="404"/>
                  </a:lnTo>
                  <a:lnTo>
                    <a:pt x="0" y="390"/>
                  </a:lnTo>
                  <a:lnTo>
                    <a:pt x="15" y="390"/>
                  </a:lnTo>
                  <a:close/>
                  <a:moveTo>
                    <a:pt x="15" y="418"/>
                  </a:moveTo>
                  <a:lnTo>
                    <a:pt x="15" y="432"/>
                  </a:lnTo>
                  <a:lnTo>
                    <a:pt x="0" y="432"/>
                  </a:lnTo>
                  <a:lnTo>
                    <a:pt x="0" y="418"/>
                  </a:lnTo>
                  <a:lnTo>
                    <a:pt x="15" y="418"/>
                  </a:lnTo>
                  <a:close/>
                  <a:moveTo>
                    <a:pt x="15" y="446"/>
                  </a:moveTo>
                  <a:lnTo>
                    <a:pt x="15" y="460"/>
                  </a:lnTo>
                  <a:lnTo>
                    <a:pt x="0" y="460"/>
                  </a:lnTo>
                  <a:lnTo>
                    <a:pt x="0" y="446"/>
                  </a:lnTo>
                  <a:lnTo>
                    <a:pt x="15" y="446"/>
                  </a:lnTo>
                  <a:close/>
                  <a:moveTo>
                    <a:pt x="15" y="474"/>
                  </a:moveTo>
                  <a:lnTo>
                    <a:pt x="15" y="488"/>
                  </a:lnTo>
                  <a:lnTo>
                    <a:pt x="0" y="488"/>
                  </a:lnTo>
                  <a:lnTo>
                    <a:pt x="0" y="474"/>
                  </a:lnTo>
                  <a:lnTo>
                    <a:pt x="15" y="474"/>
                  </a:lnTo>
                  <a:close/>
                  <a:moveTo>
                    <a:pt x="15" y="501"/>
                  </a:moveTo>
                  <a:lnTo>
                    <a:pt x="15" y="515"/>
                  </a:lnTo>
                  <a:lnTo>
                    <a:pt x="0" y="515"/>
                  </a:lnTo>
                  <a:lnTo>
                    <a:pt x="0" y="501"/>
                  </a:lnTo>
                  <a:lnTo>
                    <a:pt x="15" y="501"/>
                  </a:lnTo>
                  <a:close/>
                  <a:moveTo>
                    <a:pt x="15" y="529"/>
                  </a:moveTo>
                  <a:lnTo>
                    <a:pt x="15" y="543"/>
                  </a:lnTo>
                  <a:lnTo>
                    <a:pt x="0" y="543"/>
                  </a:lnTo>
                  <a:lnTo>
                    <a:pt x="0" y="529"/>
                  </a:lnTo>
                  <a:lnTo>
                    <a:pt x="15" y="529"/>
                  </a:lnTo>
                  <a:close/>
                  <a:moveTo>
                    <a:pt x="15" y="557"/>
                  </a:moveTo>
                  <a:lnTo>
                    <a:pt x="15" y="571"/>
                  </a:lnTo>
                  <a:lnTo>
                    <a:pt x="0" y="571"/>
                  </a:lnTo>
                  <a:lnTo>
                    <a:pt x="0" y="557"/>
                  </a:lnTo>
                  <a:lnTo>
                    <a:pt x="15" y="557"/>
                  </a:lnTo>
                  <a:close/>
                  <a:moveTo>
                    <a:pt x="15" y="585"/>
                  </a:moveTo>
                  <a:lnTo>
                    <a:pt x="15" y="599"/>
                  </a:lnTo>
                  <a:lnTo>
                    <a:pt x="0" y="599"/>
                  </a:lnTo>
                  <a:lnTo>
                    <a:pt x="0" y="585"/>
                  </a:lnTo>
                  <a:lnTo>
                    <a:pt x="15" y="585"/>
                  </a:lnTo>
                  <a:close/>
                  <a:moveTo>
                    <a:pt x="15" y="613"/>
                  </a:moveTo>
                  <a:lnTo>
                    <a:pt x="15" y="627"/>
                  </a:lnTo>
                  <a:lnTo>
                    <a:pt x="0" y="627"/>
                  </a:lnTo>
                  <a:lnTo>
                    <a:pt x="0" y="613"/>
                  </a:lnTo>
                  <a:lnTo>
                    <a:pt x="15" y="613"/>
                  </a:lnTo>
                  <a:close/>
                  <a:moveTo>
                    <a:pt x="15" y="641"/>
                  </a:moveTo>
                  <a:lnTo>
                    <a:pt x="15" y="655"/>
                  </a:lnTo>
                  <a:lnTo>
                    <a:pt x="0" y="655"/>
                  </a:lnTo>
                  <a:lnTo>
                    <a:pt x="0" y="641"/>
                  </a:lnTo>
                  <a:lnTo>
                    <a:pt x="15" y="641"/>
                  </a:lnTo>
                  <a:close/>
                  <a:moveTo>
                    <a:pt x="15" y="668"/>
                  </a:moveTo>
                  <a:lnTo>
                    <a:pt x="15" y="682"/>
                  </a:lnTo>
                  <a:lnTo>
                    <a:pt x="0" y="682"/>
                  </a:lnTo>
                  <a:lnTo>
                    <a:pt x="0" y="668"/>
                  </a:lnTo>
                  <a:lnTo>
                    <a:pt x="15" y="668"/>
                  </a:lnTo>
                  <a:close/>
                  <a:moveTo>
                    <a:pt x="15" y="696"/>
                  </a:moveTo>
                  <a:lnTo>
                    <a:pt x="15" y="710"/>
                  </a:lnTo>
                  <a:lnTo>
                    <a:pt x="0" y="710"/>
                  </a:lnTo>
                  <a:lnTo>
                    <a:pt x="0" y="696"/>
                  </a:lnTo>
                  <a:lnTo>
                    <a:pt x="15" y="696"/>
                  </a:lnTo>
                  <a:close/>
                  <a:moveTo>
                    <a:pt x="15" y="724"/>
                  </a:moveTo>
                  <a:lnTo>
                    <a:pt x="15" y="738"/>
                  </a:lnTo>
                  <a:lnTo>
                    <a:pt x="0" y="738"/>
                  </a:lnTo>
                  <a:lnTo>
                    <a:pt x="0" y="724"/>
                  </a:lnTo>
                  <a:lnTo>
                    <a:pt x="15" y="724"/>
                  </a:lnTo>
                  <a:close/>
                  <a:moveTo>
                    <a:pt x="15" y="752"/>
                  </a:moveTo>
                  <a:lnTo>
                    <a:pt x="15" y="766"/>
                  </a:lnTo>
                  <a:lnTo>
                    <a:pt x="0" y="766"/>
                  </a:lnTo>
                  <a:lnTo>
                    <a:pt x="0" y="752"/>
                  </a:lnTo>
                  <a:lnTo>
                    <a:pt x="15" y="752"/>
                  </a:lnTo>
                  <a:close/>
                  <a:moveTo>
                    <a:pt x="15" y="780"/>
                  </a:moveTo>
                  <a:lnTo>
                    <a:pt x="15" y="793"/>
                  </a:lnTo>
                  <a:lnTo>
                    <a:pt x="0" y="793"/>
                  </a:lnTo>
                  <a:lnTo>
                    <a:pt x="0" y="780"/>
                  </a:lnTo>
                  <a:lnTo>
                    <a:pt x="15" y="780"/>
                  </a:lnTo>
                  <a:close/>
                  <a:moveTo>
                    <a:pt x="15" y="808"/>
                  </a:moveTo>
                  <a:lnTo>
                    <a:pt x="15" y="822"/>
                  </a:lnTo>
                  <a:lnTo>
                    <a:pt x="0" y="822"/>
                  </a:lnTo>
                  <a:lnTo>
                    <a:pt x="0" y="808"/>
                  </a:lnTo>
                  <a:lnTo>
                    <a:pt x="15" y="808"/>
                  </a:lnTo>
                  <a:close/>
                  <a:moveTo>
                    <a:pt x="15" y="835"/>
                  </a:moveTo>
                  <a:lnTo>
                    <a:pt x="15" y="849"/>
                  </a:lnTo>
                  <a:lnTo>
                    <a:pt x="0" y="849"/>
                  </a:lnTo>
                  <a:lnTo>
                    <a:pt x="0" y="835"/>
                  </a:lnTo>
                  <a:lnTo>
                    <a:pt x="15" y="835"/>
                  </a:lnTo>
                  <a:close/>
                  <a:moveTo>
                    <a:pt x="15" y="863"/>
                  </a:moveTo>
                  <a:lnTo>
                    <a:pt x="15" y="877"/>
                  </a:lnTo>
                  <a:lnTo>
                    <a:pt x="0" y="877"/>
                  </a:lnTo>
                  <a:lnTo>
                    <a:pt x="0" y="863"/>
                  </a:lnTo>
                  <a:lnTo>
                    <a:pt x="15" y="863"/>
                  </a:lnTo>
                  <a:close/>
                  <a:moveTo>
                    <a:pt x="15" y="891"/>
                  </a:moveTo>
                  <a:lnTo>
                    <a:pt x="15" y="905"/>
                  </a:lnTo>
                  <a:lnTo>
                    <a:pt x="0" y="905"/>
                  </a:lnTo>
                  <a:lnTo>
                    <a:pt x="0" y="891"/>
                  </a:lnTo>
                  <a:lnTo>
                    <a:pt x="15" y="891"/>
                  </a:lnTo>
                  <a:close/>
                  <a:moveTo>
                    <a:pt x="15" y="919"/>
                  </a:moveTo>
                  <a:lnTo>
                    <a:pt x="15" y="933"/>
                  </a:lnTo>
                  <a:lnTo>
                    <a:pt x="0" y="933"/>
                  </a:lnTo>
                  <a:lnTo>
                    <a:pt x="0" y="919"/>
                  </a:lnTo>
                  <a:lnTo>
                    <a:pt x="15" y="919"/>
                  </a:lnTo>
                  <a:close/>
                  <a:moveTo>
                    <a:pt x="15" y="947"/>
                  </a:moveTo>
                  <a:lnTo>
                    <a:pt x="15" y="960"/>
                  </a:lnTo>
                  <a:lnTo>
                    <a:pt x="0" y="960"/>
                  </a:lnTo>
                  <a:lnTo>
                    <a:pt x="0" y="947"/>
                  </a:lnTo>
                  <a:lnTo>
                    <a:pt x="15" y="947"/>
                  </a:lnTo>
                  <a:close/>
                  <a:moveTo>
                    <a:pt x="15" y="974"/>
                  </a:moveTo>
                  <a:lnTo>
                    <a:pt x="15" y="988"/>
                  </a:lnTo>
                  <a:lnTo>
                    <a:pt x="0" y="988"/>
                  </a:lnTo>
                  <a:lnTo>
                    <a:pt x="0" y="974"/>
                  </a:lnTo>
                  <a:lnTo>
                    <a:pt x="15" y="974"/>
                  </a:lnTo>
                  <a:close/>
                  <a:moveTo>
                    <a:pt x="15" y="1002"/>
                  </a:moveTo>
                  <a:lnTo>
                    <a:pt x="15" y="1016"/>
                  </a:lnTo>
                  <a:lnTo>
                    <a:pt x="0" y="1016"/>
                  </a:lnTo>
                  <a:lnTo>
                    <a:pt x="0" y="1002"/>
                  </a:lnTo>
                  <a:lnTo>
                    <a:pt x="15" y="1002"/>
                  </a:lnTo>
                  <a:close/>
                  <a:moveTo>
                    <a:pt x="15" y="1030"/>
                  </a:moveTo>
                  <a:lnTo>
                    <a:pt x="15" y="1044"/>
                  </a:lnTo>
                  <a:lnTo>
                    <a:pt x="0" y="1044"/>
                  </a:lnTo>
                  <a:lnTo>
                    <a:pt x="0" y="1030"/>
                  </a:lnTo>
                  <a:lnTo>
                    <a:pt x="15" y="1030"/>
                  </a:lnTo>
                  <a:close/>
                  <a:moveTo>
                    <a:pt x="15" y="1058"/>
                  </a:moveTo>
                  <a:lnTo>
                    <a:pt x="15" y="1072"/>
                  </a:lnTo>
                  <a:lnTo>
                    <a:pt x="0" y="1072"/>
                  </a:lnTo>
                  <a:lnTo>
                    <a:pt x="0" y="1058"/>
                  </a:lnTo>
                  <a:lnTo>
                    <a:pt x="15" y="1058"/>
                  </a:lnTo>
                  <a:close/>
                  <a:moveTo>
                    <a:pt x="15" y="1086"/>
                  </a:moveTo>
                  <a:lnTo>
                    <a:pt x="15" y="1100"/>
                  </a:lnTo>
                  <a:lnTo>
                    <a:pt x="0" y="1100"/>
                  </a:lnTo>
                  <a:lnTo>
                    <a:pt x="0" y="1086"/>
                  </a:lnTo>
                  <a:lnTo>
                    <a:pt x="15" y="1086"/>
                  </a:lnTo>
                  <a:close/>
                  <a:moveTo>
                    <a:pt x="15" y="1114"/>
                  </a:moveTo>
                  <a:lnTo>
                    <a:pt x="15" y="1127"/>
                  </a:lnTo>
                  <a:lnTo>
                    <a:pt x="0" y="1127"/>
                  </a:lnTo>
                  <a:lnTo>
                    <a:pt x="0" y="1114"/>
                  </a:lnTo>
                  <a:lnTo>
                    <a:pt x="15" y="1114"/>
                  </a:lnTo>
                  <a:close/>
                  <a:moveTo>
                    <a:pt x="15" y="1141"/>
                  </a:moveTo>
                  <a:lnTo>
                    <a:pt x="15" y="1155"/>
                  </a:lnTo>
                  <a:lnTo>
                    <a:pt x="0" y="1155"/>
                  </a:lnTo>
                  <a:lnTo>
                    <a:pt x="0" y="1141"/>
                  </a:lnTo>
                  <a:lnTo>
                    <a:pt x="15" y="1141"/>
                  </a:lnTo>
                  <a:close/>
                  <a:moveTo>
                    <a:pt x="15" y="1169"/>
                  </a:moveTo>
                  <a:lnTo>
                    <a:pt x="15" y="1183"/>
                  </a:lnTo>
                  <a:lnTo>
                    <a:pt x="0" y="1183"/>
                  </a:lnTo>
                  <a:lnTo>
                    <a:pt x="0" y="1169"/>
                  </a:lnTo>
                  <a:lnTo>
                    <a:pt x="15" y="1169"/>
                  </a:lnTo>
                  <a:close/>
                  <a:moveTo>
                    <a:pt x="15" y="1197"/>
                  </a:moveTo>
                  <a:lnTo>
                    <a:pt x="15" y="1211"/>
                  </a:lnTo>
                  <a:lnTo>
                    <a:pt x="0" y="1211"/>
                  </a:lnTo>
                  <a:lnTo>
                    <a:pt x="0" y="1197"/>
                  </a:lnTo>
                  <a:lnTo>
                    <a:pt x="15" y="1197"/>
                  </a:lnTo>
                  <a:close/>
                  <a:moveTo>
                    <a:pt x="15" y="1225"/>
                  </a:moveTo>
                  <a:lnTo>
                    <a:pt x="15" y="1239"/>
                  </a:lnTo>
                  <a:lnTo>
                    <a:pt x="0" y="1239"/>
                  </a:lnTo>
                  <a:lnTo>
                    <a:pt x="0" y="1225"/>
                  </a:lnTo>
                  <a:lnTo>
                    <a:pt x="15" y="1225"/>
                  </a:lnTo>
                  <a:close/>
                  <a:moveTo>
                    <a:pt x="15" y="1253"/>
                  </a:moveTo>
                  <a:lnTo>
                    <a:pt x="15" y="1267"/>
                  </a:lnTo>
                  <a:lnTo>
                    <a:pt x="0" y="1267"/>
                  </a:lnTo>
                  <a:lnTo>
                    <a:pt x="0" y="1253"/>
                  </a:lnTo>
                  <a:lnTo>
                    <a:pt x="15" y="1253"/>
                  </a:lnTo>
                  <a:close/>
                  <a:moveTo>
                    <a:pt x="15" y="1281"/>
                  </a:moveTo>
                  <a:lnTo>
                    <a:pt x="15" y="1294"/>
                  </a:lnTo>
                  <a:lnTo>
                    <a:pt x="0" y="1294"/>
                  </a:lnTo>
                  <a:lnTo>
                    <a:pt x="0" y="1281"/>
                  </a:lnTo>
                  <a:lnTo>
                    <a:pt x="15" y="1281"/>
                  </a:lnTo>
                  <a:close/>
                  <a:moveTo>
                    <a:pt x="15" y="1308"/>
                  </a:moveTo>
                  <a:lnTo>
                    <a:pt x="15" y="1322"/>
                  </a:lnTo>
                  <a:lnTo>
                    <a:pt x="0" y="1322"/>
                  </a:lnTo>
                  <a:lnTo>
                    <a:pt x="0" y="1308"/>
                  </a:lnTo>
                  <a:lnTo>
                    <a:pt x="15" y="1308"/>
                  </a:lnTo>
                  <a:close/>
                  <a:moveTo>
                    <a:pt x="15" y="1336"/>
                  </a:moveTo>
                  <a:lnTo>
                    <a:pt x="15" y="1350"/>
                  </a:lnTo>
                  <a:lnTo>
                    <a:pt x="0" y="1350"/>
                  </a:lnTo>
                  <a:lnTo>
                    <a:pt x="0" y="1336"/>
                  </a:lnTo>
                  <a:lnTo>
                    <a:pt x="15" y="1336"/>
                  </a:lnTo>
                  <a:close/>
                  <a:moveTo>
                    <a:pt x="15" y="1364"/>
                  </a:moveTo>
                  <a:lnTo>
                    <a:pt x="15" y="1378"/>
                  </a:lnTo>
                  <a:lnTo>
                    <a:pt x="0" y="1378"/>
                  </a:lnTo>
                  <a:lnTo>
                    <a:pt x="0" y="1364"/>
                  </a:lnTo>
                  <a:lnTo>
                    <a:pt x="15" y="1364"/>
                  </a:lnTo>
                  <a:close/>
                  <a:moveTo>
                    <a:pt x="15" y="1392"/>
                  </a:moveTo>
                  <a:lnTo>
                    <a:pt x="15" y="1406"/>
                  </a:lnTo>
                  <a:lnTo>
                    <a:pt x="0" y="1406"/>
                  </a:lnTo>
                  <a:lnTo>
                    <a:pt x="0" y="1392"/>
                  </a:lnTo>
                  <a:lnTo>
                    <a:pt x="15" y="1392"/>
                  </a:lnTo>
                  <a:close/>
                  <a:moveTo>
                    <a:pt x="15" y="1420"/>
                  </a:moveTo>
                  <a:lnTo>
                    <a:pt x="15" y="1434"/>
                  </a:lnTo>
                  <a:lnTo>
                    <a:pt x="0" y="1434"/>
                  </a:lnTo>
                  <a:lnTo>
                    <a:pt x="0" y="1420"/>
                  </a:lnTo>
                  <a:lnTo>
                    <a:pt x="15" y="1420"/>
                  </a:lnTo>
                  <a:close/>
                  <a:moveTo>
                    <a:pt x="15" y="1448"/>
                  </a:moveTo>
                  <a:lnTo>
                    <a:pt x="15" y="1461"/>
                  </a:lnTo>
                  <a:lnTo>
                    <a:pt x="0" y="1461"/>
                  </a:lnTo>
                  <a:lnTo>
                    <a:pt x="0" y="1448"/>
                  </a:lnTo>
                  <a:lnTo>
                    <a:pt x="15" y="1448"/>
                  </a:lnTo>
                  <a:close/>
                  <a:moveTo>
                    <a:pt x="15" y="1475"/>
                  </a:moveTo>
                  <a:lnTo>
                    <a:pt x="15" y="1489"/>
                  </a:lnTo>
                  <a:lnTo>
                    <a:pt x="0" y="1489"/>
                  </a:lnTo>
                  <a:lnTo>
                    <a:pt x="0" y="1475"/>
                  </a:lnTo>
                  <a:lnTo>
                    <a:pt x="15" y="1475"/>
                  </a:lnTo>
                  <a:close/>
                  <a:moveTo>
                    <a:pt x="15" y="1503"/>
                  </a:moveTo>
                  <a:lnTo>
                    <a:pt x="15" y="1517"/>
                  </a:lnTo>
                  <a:lnTo>
                    <a:pt x="0" y="1517"/>
                  </a:lnTo>
                  <a:lnTo>
                    <a:pt x="0" y="1503"/>
                  </a:lnTo>
                  <a:lnTo>
                    <a:pt x="15" y="1503"/>
                  </a:lnTo>
                  <a:close/>
                  <a:moveTo>
                    <a:pt x="15" y="1531"/>
                  </a:moveTo>
                  <a:lnTo>
                    <a:pt x="15" y="1545"/>
                  </a:lnTo>
                  <a:lnTo>
                    <a:pt x="0" y="1545"/>
                  </a:lnTo>
                  <a:lnTo>
                    <a:pt x="0" y="1531"/>
                  </a:lnTo>
                  <a:lnTo>
                    <a:pt x="15" y="1531"/>
                  </a:lnTo>
                  <a:close/>
                  <a:moveTo>
                    <a:pt x="15" y="1559"/>
                  </a:moveTo>
                  <a:lnTo>
                    <a:pt x="15" y="1573"/>
                  </a:lnTo>
                  <a:lnTo>
                    <a:pt x="0" y="1573"/>
                  </a:lnTo>
                  <a:lnTo>
                    <a:pt x="0" y="1559"/>
                  </a:lnTo>
                  <a:lnTo>
                    <a:pt x="15" y="1559"/>
                  </a:lnTo>
                  <a:close/>
                  <a:moveTo>
                    <a:pt x="15" y="1587"/>
                  </a:moveTo>
                  <a:lnTo>
                    <a:pt x="15" y="1601"/>
                  </a:lnTo>
                  <a:lnTo>
                    <a:pt x="0" y="1601"/>
                  </a:lnTo>
                  <a:lnTo>
                    <a:pt x="0" y="1587"/>
                  </a:lnTo>
                  <a:lnTo>
                    <a:pt x="15" y="1587"/>
                  </a:lnTo>
                  <a:close/>
                  <a:moveTo>
                    <a:pt x="15" y="1615"/>
                  </a:moveTo>
                  <a:lnTo>
                    <a:pt x="15" y="1628"/>
                  </a:lnTo>
                  <a:lnTo>
                    <a:pt x="0" y="1628"/>
                  </a:lnTo>
                  <a:lnTo>
                    <a:pt x="0" y="1615"/>
                  </a:lnTo>
                  <a:lnTo>
                    <a:pt x="15" y="1615"/>
                  </a:lnTo>
                  <a:close/>
                  <a:moveTo>
                    <a:pt x="15" y="1642"/>
                  </a:moveTo>
                  <a:lnTo>
                    <a:pt x="15" y="1656"/>
                  </a:lnTo>
                  <a:lnTo>
                    <a:pt x="0" y="1656"/>
                  </a:lnTo>
                  <a:lnTo>
                    <a:pt x="0" y="1642"/>
                  </a:lnTo>
                  <a:lnTo>
                    <a:pt x="15" y="1642"/>
                  </a:lnTo>
                  <a:close/>
                  <a:moveTo>
                    <a:pt x="15" y="1670"/>
                  </a:moveTo>
                  <a:lnTo>
                    <a:pt x="15" y="1684"/>
                  </a:lnTo>
                  <a:lnTo>
                    <a:pt x="0" y="1684"/>
                  </a:lnTo>
                  <a:lnTo>
                    <a:pt x="0" y="1670"/>
                  </a:lnTo>
                  <a:lnTo>
                    <a:pt x="15" y="1670"/>
                  </a:lnTo>
                  <a:close/>
                  <a:moveTo>
                    <a:pt x="15" y="1698"/>
                  </a:moveTo>
                  <a:lnTo>
                    <a:pt x="15" y="1712"/>
                  </a:lnTo>
                  <a:lnTo>
                    <a:pt x="0" y="1712"/>
                  </a:lnTo>
                  <a:lnTo>
                    <a:pt x="0" y="1698"/>
                  </a:lnTo>
                  <a:lnTo>
                    <a:pt x="15" y="1698"/>
                  </a:lnTo>
                  <a:close/>
                  <a:moveTo>
                    <a:pt x="15" y="1726"/>
                  </a:moveTo>
                  <a:lnTo>
                    <a:pt x="15" y="1740"/>
                  </a:lnTo>
                  <a:lnTo>
                    <a:pt x="0" y="1740"/>
                  </a:lnTo>
                  <a:lnTo>
                    <a:pt x="0" y="1726"/>
                  </a:lnTo>
                  <a:lnTo>
                    <a:pt x="15" y="1726"/>
                  </a:lnTo>
                  <a:close/>
                  <a:moveTo>
                    <a:pt x="15" y="1754"/>
                  </a:moveTo>
                  <a:lnTo>
                    <a:pt x="15" y="1768"/>
                  </a:lnTo>
                  <a:lnTo>
                    <a:pt x="0" y="1768"/>
                  </a:lnTo>
                  <a:lnTo>
                    <a:pt x="0" y="1754"/>
                  </a:lnTo>
                  <a:lnTo>
                    <a:pt x="15" y="1754"/>
                  </a:lnTo>
                  <a:close/>
                  <a:moveTo>
                    <a:pt x="15" y="1782"/>
                  </a:moveTo>
                  <a:lnTo>
                    <a:pt x="15" y="1795"/>
                  </a:lnTo>
                  <a:lnTo>
                    <a:pt x="0" y="1795"/>
                  </a:lnTo>
                  <a:lnTo>
                    <a:pt x="0" y="1782"/>
                  </a:lnTo>
                  <a:lnTo>
                    <a:pt x="15" y="1782"/>
                  </a:lnTo>
                  <a:close/>
                  <a:moveTo>
                    <a:pt x="15" y="1809"/>
                  </a:moveTo>
                  <a:lnTo>
                    <a:pt x="15" y="1823"/>
                  </a:lnTo>
                  <a:lnTo>
                    <a:pt x="0" y="1823"/>
                  </a:lnTo>
                  <a:lnTo>
                    <a:pt x="0" y="1809"/>
                  </a:lnTo>
                  <a:lnTo>
                    <a:pt x="15" y="1809"/>
                  </a:lnTo>
                  <a:close/>
                  <a:moveTo>
                    <a:pt x="15" y="1837"/>
                  </a:moveTo>
                  <a:lnTo>
                    <a:pt x="15" y="1851"/>
                  </a:lnTo>
                  <a:lnTo>
                    <a:pt x="0" y="1851"/>
                  </a:lnTo>
                  <a:lnTo>
                    <a:pt x="0" y="1837"/>
                  </a:lnTo>
                  <a:lnTo>
                    <a:pt x="15" y="1837"/>
                  </a:lnTo>
                  <a:close/>
                  <a:moveTo>
                    <a:pt x="15" y="1865"/>
                  </a:moveTo>
                  <a:lnTo>
                    <a:pt x="15" y="1879"/>
                  </a:lnTo>
                  <a:lnTo>
                    <a:pt x="0" y="1879"/>
                  </a:lnTo>
                  <a:lnTo>
                    <a:pt x="0" y="1865"/>
                  </a:lnTo>
                  <a:lnTo>
                    <a:pt x="15" y="1865"/>
                  </a:lnTo>
                  <a:close/>
                  <a:moveTo>
                    <a:pt x="15" y="1893"/>
                  </a:moveTo>
                  <a:lnTo>
                    <a:pt x="15" y="1907"/>
                  </a:lnTo>
                  <a:lnTo>
                    <a:pt x="0" y="1907"/>
                  </a:lnTo>
                  <a:lnTo>
                    <a:pt x="0" y="1893"/>
                  </a:lnTo>
                  <a:lnTo>
                    <a:pt x="15" y="1893"/>
                  </a:lnTo>
                  <a:close/>
                  <a:moveTo>
                    <a:pt x="15" y="1921"/>
                  </a:moveTo>
                  <a:lnTo>
                    <a:pt x="15" y="1935"/>
                  </a:lnTo>
                  <a:lnTo>
                    <a:pt x="0" y="1935"/>
                  </a:lnTo>
                  <a:lnTo>
                    <a:pt x="0" y="1921"/>
                  </a:lnTo>
                  <a:lnTo>
                    <a:pt x="15" y="1921"/>
                  </a:lnTo>
                  <a:close/>
                  <a:moveTo>
                    <a:pt x="15" y="1949"/>
                  </a:moveTo>
                  <a:lnTo>
                    <a:pt x="15" y="1962"/>
                  </a:lnTo>
                  <a:lnTo>
                    <a:pt x="0" y="1962"/>
                  </a:lnTo>
                  <a:lnTo>
                    <a:pt x="0" y="1949"/>
                  </a:lnTo>
                  <a:lnTo>
                    <a:pt x="15" y="1949"/>
                  </a:lnTo>
                  <a:close/>
                  <a:moveTo>
                    <a:pt x="15" y="1976"/>
                  </a:moveTo>
                  <a:lnTo>
                    <a:pt x="15" y="1990"/>
                  </a:lnTo>
                  <a:lnTo>
                    <a:pt x="0" y="1990"/>
                  </a:lnTo>
                  <a:lnTo>
                    <a:pt x="0" y="1976"/>
                  </a:lnTo>
                  <a:lnTo>
                    <a:pt x="15" y="1976"/>
                  </a:lnTo>
                  <a:close/>
                  <a:moveTo>
                    <a:pt x="15" y="2004"/>
                  </a:moveTo>
                  <a:lnTo>
                    <a:pt x="15" y="2018"/>
                  </a:lnTo>
                  <a:lnTo>
                    <a:pt x="0" y="2018"/>
                  </a:lnTo>
                  <a:lnTo>
                    <a:pt x="0" y="2004"/>
                  </a:lnTo>
                  <a:lnTo>
                    <a:pt x="15" y="2004"/>
                  </a:lnTo>
                  <a:close/>
                  <a:moveTo>
                    <a:pt x="15" y="2032"/>
                  </a:moveTo>
                  <a:lnTo>
                    <a:pt x="15" y="2046"/>
                  </a:lnTo>
                  <a:lnTo>
                    <a:pt x="0" y="2046"/>
                  </a:lnTo>
                  <a:lnTo>
                    <a:pt x="0" y="2032"/>
                  </a:lnTo>
                  <a:lnTo>
                    <a:pt x="15" y="2032"/>
                  </a:lnTo>
                  <a:close/>
                  <a:moveTo>
                    <a:pt x="15" y="2060"/>
                  </a:moveTo>
                  <a:lnTo>
                    <a:pt x="15" y="2074"/>
                  </a:lnTo>
                  <a:lnTo>
                    <a:pt x="0" y="2074"/>
                  </a:lnTo>
                  <a:lnTo>
                    <a:pt x="0" y="2060"/>
                  </a:lnTo>
                  <a:lnTo>
                    <a:pt x="15" y="2060"/>
                  </a:lnTo>
                  <a:close/>
                  <a:moveTo>
                    <a:pt x="15" y="2087"/>
                  </a:moveTo>
                  <a:lnTo>
                    <a:pt x="15" y="2102"/>
                  </a:lnTo>
                  <a:lnTo>
                    <a:pt x="0" y="2102"/>
                  </a:lnTo>
                  <a:lnTo>
                    <a:pt x="0" y="2087"/>
                  </a:lnTo>
                  <a:lnTo>
                    <a:pt x="15" y="2087"/>
                  </a:lnTo>
                  <a:close/>
                  <a:moveTo>
                    <a:pt x="15" y="2116"/>
                  </a:moveTo>
                  <a:lnTo>
                    <a:pt x="15" y="2129"/>
                  </a:lnTo>
                  <a:lnTo>
                    <a:pt x="0" y="2129"/>
                  </a:lnTo>
                  <a:lnTo>
                    <a:pt x="0" y="2116"/>
                  </a:lnTo>
                  <a:lnTo>
                    <a:pt x="15" y="2116"/>
                  </a:lnTo>
                  <a:close/>
                  <a:moveTo>
                    <a:pt x="15" y="2143"/>
                  </a:moveTo>
                  <a:lnTo>
                    <a:pt x="15" y="2157"/>
                  </a:lnTo>
                  <a:lnTo>
                    <a:pt x="0" y="2157"/>
                  </a:lnTo>
                  <a:lnTo>
                    <a:pt x="0" y="2143"/>
                  </a:lnTo>
                  <a:lnTo>
                    <a:pt x="15" y="2143"/>
                  </a:lnTo>
                  <a:close/>
                  <a:moveTo>
                    <a:pt x="15" y="2171"/>
                  </a:moveTo>
                  <a:lnTo>
                    <a:pt x="15" y="2185"/>
                  </a:lnTo>
                  <a:lnTo>
                    <a:pt x="0" y="2185"/>
                  </a:lnTo>
                  <a:lnTo>
                    <a:pt x="0" y="2171"/>
                  </a:lnTo>
                  <a:lnTo>
                    <a:pt x="15" y="2171"/>
                  </a:lnTo>
                  <a:close/>
                  <a:moveTo>
                    <a:pt x="15" y="2199"/>
                  </a:moveTo>
                  <a:lnTo>
                    <a:pt x="15" y="2213"/>
                  </a:lnTo>
                  <a:lnTo>
                    <a:pt x="0" y="2213"/>
                  </a:lnTo>
                  <a:lnTo>
                    <a:pt x="0" y="2199"/>
                  </a:lnTo>
                  <a:lnTo>
                    <a:pt x="15" y="2199"/>
                  </a:lnTo>
                  <a:close/>
                  <a:moveTo>
                    <a:pt x="15" y="2227"/>
                  </a:moveTo>
                  <a:lnTo>
                    <a:pt x="15" y="2241"/>
                  </a:lnTo>
                  <a:lnTo>
                    <a:pt x="0" y="2241"/>
                  </a:lnTo>
                  <a:lnTo>
                    <a:pt x="0" y="2227"/>
                  </a:lnTo>
                  <a:lnTo>
                    <a:pt x="15" y="2227"/>
                  </a:lnTo>
                  <a:close/>
                  <a:moveTo>
                    <a:pt x="15" y="2254"/>
                  </a:moveTo>
                  <a:lnTo>
                    <a:pt x="15" y="2268"/>
                  </a:lnTo>
                  <a:lnTo>
                    <a:pt x="0" y="2268"/>
                  </a:lnTo>
                  <a:lnTo>
                    <a:pt x="0" y="2254"/>
                  </a:lnTo>
                  <a:lnTo>
                    <a:pt x="15" y="2254"/>
                  </a:lnTo>
                  <a:close/>
                  <a:moveTo>
                    <a:pt x="15" y="2283"/>
                  </a:moveTo>
                  <a:lnTo>
                    <a:pt x="15" y="2296"/>
                  </a:lnTo>
                  <a:lnTo>
                    <a:pt x="0" y="2296"/>
                  </a:lnTo>
                  <a:lnTo>
                    <a:pt x="0" y="2283"/>
                  </a:lnTo>
                  <a:lnTo>
                    <a:pt x="15" y="2283"/>
                  </a:lnTo>
                  <a:close/>
                  <a:moveTo>
                    <a:pt x="15" y="2310"/>
                  </a:moveTo>
                  <a:lnTo>
                    <a:pt x="15" y="2324"/>
                  </a:lnTo>
                  <a:lnTo>
                    <a:pt x="0" y="2324"/>
                  </a:lnTo>
                  <a:lnTo>
                    <a:pt x="0" y="2310"/>
                  </a:lnTo>
                  <a:lnTo>
                    <a:pt x="15" y="2310"/>
                  </a:lnTo>
                  <a:close/>
                  <a:moveTo>
                    <a:pt x="15" y="2338"/>
                  </a:moveTo>
                  <a:lnTo>
                    <a:pt x="15" y="2352"/>
                  </a:lnTo>
                  <a:lnTo>
                    <a:pt x="0" y="2352"/>
                  </a:lnTo>
                  <a:lnTo>
                    <a:pt x="0" y="2338"/>
                  </a:lnTo>
                  <a:lnTo>
                    <a:pt x="15" y="2338"/>
                  </a:lnTo>
                  <a:close/>
                  <a:moveTo>
                    <a:pt x="15" y="2366"/>
                  </a:moveTo>
                  <a:lnTo>
                    <a:pt x="15" y="2380"/>
                  </a:lnTo>
                  <a:lnTo>
                    <a:pt x="0" y="2380"/>
                  </a:lnTo>
                  <a:lnTo>
                    <a:pt x="0" y="2366"/>
                  </a:lnTo>
                  <a:lnTo>
                    <a:pt x="15" y="2366"/>
                  </a:lnTo>
                  <a:close/>
                  <a:moveTo>
                    <a:pt x="15" y="2394"/>
                  </a:moveTo>
                  <a:lnTo>
                    <a:pt x="15" y="2408"/>
                  </a:lnTo>
                  <a:lnTo>
                    <a:pt x="0" y="2408"/>
                  </a:lnTo>
                  <a:lnTo>
                    <a:pt x="0" y="2394"/>
                  </a:lnTo>
                  <a:lnTo>
                    <a:pt x="15" y="2394"/>
                  </a:lnTo>
                  <a:close/>
                  <a:moveTo>
                    <a:pt x="15" y="2421"/>
                  </a:moveTo>
                  <a:lnTo>
                    <a:pt x="15" y="2435"/>
                  </a:lnTo>
                  <a:lnTo>
                    <a:pt x="0" y="2435"/>
                  </a:lnTo>
                  <a:lnTo>
                    <a:pt x="0" y="2421"/>
                  </a:lnTo>
                  <a:lnTo>
                    <a:pt x="15" y="2421"/>
                  </a:lnTo>
                  <a:close/>
                  <a:moveTo>
                    <a:pt x="15" y="2449"/>
                  </a:moveTo>
                  <a:lnTo>
                    <a:pt x="15" y="2453"/>
                  </a:lnTo>
                  <a:lnTo>
                    <a:pt x="0" y="2453"/>
                  </a:lnTo>
                  <a:lnTo>
                    <a:pt x="0" y="2449"/>
                  </a:lnTo>
                  <a:lnTo>
                    <a:pt x="15" y="2449"/>
                  </a:lnTo>
                  <a:close/>
                </a:path>
              </a:pathLst>
            </a:custGeom>
            <a:solidFill>
              <a:srgbClr val="000000"/>
            </a:solidFill>
            <a:ln w="0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488" name="Freeform 30">
              <a:extLst>
                <a:ext uri="{FF2B5EF4-FFF2-40B4-BE49-F238E27FC236}">
                  <a16:creationId xmlns:a16="http://schemas.microsoft.com/office/drawing/2014/main" id="{ED5883EE-E1B5-DAC4-561F-FE19D5F45FB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442602" y="3078501"/>
              <a:ext cx="18000" cy="3726773"/>
            </a:xfrm>
            <a:custGeom>
              <a:avLst/>
              <a:gdLst>
                <a:gd name="T0" fmla="*/ 14 w 14"/>
                <a:gd name="T1" fmla="*/ 42 h 2453"/>
                <a:gd name="T2" fmla="*/ 0 w 14"/>
                <a:gd name="T3" fmla="*/ 56 h 2453"/>
                <a:gd name="T4" fmla="*/ 14 w 14"/>
                <a:gd name="T5" fmla="*/ 112 h 2453"/>
                <a:gd name="T6" fmla="*/ 0 w 14"/>
                <a:gd name="T7" fmla="*/ 154 h 2453"/>
                <a:gd name="T8" fmla="*/ 14 w 14"/>
                <a:gd name="T9" fmla="*/ 167 h 2453"/>
                <a:gd name="T10" fmla="*/ 14 w 14"/>
                <a:gd name="T11" fmla="*/ 237 h 2453"/>
                <a:gd name="T12" fmla="*/ 0 w 14"/>
                <a:gd name="T13" fmla="*/ 251 h 2453"/>
                <a:gd name="T14" fmla="*/ 14 w 14"/>
                <a:gd name="T15" fmla="*/ 307 h 2453"/>
                <a:gd name="T16" fmla="*/ 0 w 14"/>
                <a:gd name="T17" fmla="*/ 348 h 2453"/>
                <a:gd name="T18" fmla="*/ 14 w 14"/>
                <a:gd name="T19" fmla="*/ 362 h 2453"/>
                <a:gd name="T20" fmla="*/ 14 w 14"/>
                <a:gd name="T21" fmla="*/ 432 h 2453"/>
                <a:gd name="T22" fmla="*/ 0 w 14"/>
                <a:gd name="T23" fmla="*/ 446 h 2453"/>
                <a:gd name="T24" fmla="*/ 14 w 14"/>
                <a:gd name="T25" fmla="*/ 501 h 2453"/>
                <a:gd name="T26" fmla="*/ 0 w 14"/>
                <a:gd name="T27" fmla="*/ 543 h 2453"/>
                <a:gd name="T28" fmla="*/ 14 w 14"/>
                <a:gd name="T29" fmla="*/ 557 h 2453"/>
                <a:gd name="T30" fmla="*/ 14 w 14"/>
                <a:gd name="T31" fmla="*/ 627 h 2453"/>
                <a:gd name="T32" fmla="*/ 0 w 14"/>
                <a:gd name="T33" fmla="*/ 641 h 2453"/>
                <a:gd name="T34" fmla="*/ 14 w 14"/>
                <a:gd name="T35" fmla="*/ 696 h 2453"/>
                <a:gd name="T36" fmla="*/ 0 w 14"/>
                <a:gd name="T37" fmla="*/ 738 h 2453"/>
                <a:gd name="T38" fmla="*/ 14 w 14"/>
                <a:gd name="T39" fmla="*/ 752 h 2453"/>
                <a:gd name="T40" fmla="*/ 14 w 14"/>
                <a:gd name="T41" fmla="*/ 822 h 2453"/>
                <a:gd name="T42" fmla="*/ 0 w 14"/>
                <a:gd name="T43" fmla="*/ 835 h 2453"/>
                <a:gd name="T44" fmla="*/ 14 w 14"/>
                <a:gd name="T45" fmla="*/ 891 h 2453"/>
                <a:gd name="T46" fmla="*/ 0 w 14"/>
                <a:gd name="T47" fmla="*/ 933 h 2453"/>
                <a:gd name="T48" fmla="*/ 14 w 14"/>
                <a:gd name="T49" fmla="*/ 947 h 2453"/>
                <a:gd name="T50" fmla="*/ 14 w 14"/>
                <a:gd name="T51" fmla="*/ 1016 h 2453"/>
                <a:gd name="T52" fmla="*/ 0 w 14"/>
                <a:gd name="T53" fmla="*/ 1030 h 2453"/>
                <a:gd name="T54" fmla="*/ 14 w 14"/>
                <a:gd name="T55" fmla="*/ 1086 h 2453"/>
                <a:gd name="T56" fmla="*/ 0 w 14"/>
                <a:gd name="T57" fmla="*/ 1127 h 2453"/>
                <a:gd name="T58" fmla="*/ 14 w 14"/>
                <a:gd name="T59" fmla="*/ 1141 h 2453"/>
                <a:gd name="T60" fmla="*/ 14 w 14"/>
                <a:gd name="T61" fmla="*/ 1211 h 2453"/>
                <a:gd name="T62" fmla="*/ 0 w 14"/>
                <a:gd name="T63" fmla="*/ 1225 h 2453"/>
                <a:gd name="T64" fmla="*/ 14 w 14"/>
                <a:gd name="T65" fmla="*/ 1281 h 2453"/>
                <a:gd name="T66" fmla="*/ 0 w 14"/>
                <a:gd name="T67" fmla="*/ 1322 h 2453"/>
                <a:gd name="T68" fmla="*/ 14 w 14"/>
                <a:gd name="T69" fmla="*/ 1336 h 2453"/>
                <a:gd name="T70" fmla="*/ 14 w 14"/>
                <a:gd name="T71" fmla="*/ 1406 h 2453"/>
                <a:gd name="T72" fmla="*/ 0 w 14"/>
                <a:gd name="T73" fmla="*/ 1420 h 2453"/>
                <a:gd name="T74" fmla="*/ 14 w 14"/>
                <a:gd name="T75" fmla="*/ 1475 h 2453"/>
                <a:gd name="T76" fmla="*/ 0 w 14"/>
                <a:gd name="T77" fmla="*/ 1517 h 2453"/>
                <a:gd name="T78" fmla="*/ 14 w 14"/>
                <a:gd name="T79" fmla="*/ 1531 h 2453"/>
                <a:gd name="T80" fmla="*/ 14 w 14"/>
                <a:gd name="T81" fmla="*/ 1601 h 2453"/>
                <a:gd name="T82" fmla="*/ 0 w 14"/>
                <a:gd name="T83" fmla="*/ 1615 h 2453"/>
                <a:gd name="T84" fmla="*/ 14 w 14"/>
                <a:gd name="T85" fmla="*/ 1670 h 2453"/>
                <a:gd name="T86" fmla="*/ 0 w 14"/>
                <a:gd name="T87" fmla="*/ 1712 h 2453"/>
                <a:gd name="T88" fmla="*/ 14 w 14"/>
                <a:gd name="T89" fmla="*/ 1726 h 2453"/>
                <a:gd name="T90" fmla="*/ 14 w 14"/>
                <a:gd name="T91" fmla="*/ 1795 h 2453"/>
                <a:gd name="T92" fmla="*/ 0 w 14"/>
                <a:gd name="T93" fmla="*/ 1809 h 2453"/>
                <a:gd name="T94" fmla="*/ 14 w 14"/>
                <a:gd name="T95" fmla="*/ 1865 h 2453"/>
                <a:gd name="T96" fmla="*/ 0 w 14"/>
                <a:gd name="T97" fmla="*/ 1907 h 2453"/>
                <a:gd name="T98" fmla="*/ 14 w 14"/>
                <a:gd name="T99" fmla="*/ 1921 h 2453"/>
                <a:gd name="T100" fmla="*/ 14 w 14"/>
                <a:gd name="T101" fmla="*/ 1990 h 2453"/>
                <a:gd name="T102" fmla="*/ 0 w 14"/>
                <a:gd name="T103" fmla="*/ 2004 h 2453"/>
                <a:gd name="T104" fmla="*/ 14 w 14"/>
                <a:gd name="T105" fmla="*/ 2060 h 2453"/>
                <a:gd name="T106" fmla="*/ 0 w 14"/>
                <a:gd name="T107" fmla="*/ 2102 h 2453"/>
                <a:gd name="T108" fmla="*/ 14 w 14"/>
                <a:gd name="T109" fmla="*/ 2116 h 2453"/>
                <a:gd name="T110" fmla="*/ 14 w 14"/>
                <a:gd name="T111" fmla="*/ 2185 h 2453"/>
                <a:gd name="T112" fmla="*/ 0 w 14"/>
                <a:gd name="T113" fmla="*/ 2199 h 2453"/>
                <a:gd name="T114" fmla="*/ 14 w 14"/>
                <a:gd name="T115" fmla="*/ 2254 h 2453"/>
                <a:gd name="T116" fmla="*/ 0 w 14"/>
                <a:gd name="T117" fmla="*/ 2296 h 2453"/>
                <a:gd name="T118" fmla="*/ 14 w 14"/>
                <a:gd name="T119" fmla="*/ 2310 h 2453"/>
                <a:gd name="T120" fmla="*/ 14 w 14"/>
                <a:gd name="T121" fmla="*/ 2380 h 2453"/>
                <a:gd name="T122" fmla="*/ 0 w 14"/>
                <a:gd name="T123" fmla="*/ 2394 h 2453"/>
                <a:gd name="T124" fmla="*/ 14 w 14"/>
                <a:gd name="T125" fmla="*/ 2449 h 24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4" h="2453">
                  <a:moveTo>
                    <a:pt x="14" y="0"/>
                  </a:moveTo>
                  <a:lnTo>
                    <a:pt x="14" y="14"/>
                  </a:lnTo>
                  <a:lnTo>
                    <a:pt x="0" y="14"/>
                  </a:lnTo>
                  <a:lnTo>
                    <a:pt x="0" y="0"/>
                  </a:lnTo>
                  <a:lnTo>
                    <a:pt x="14" y="0"/>
                  </a:lnTo>
                  <a:close/>
                  <a:moveTo>
                    <a:pt x="14" y="28"/>
                  </a:moveTo>
                  <a:lnTo>
                    <a:pt x="14" y="42"/>
                  </a:lnTo>
                  <a:lnTo>
                    <a:pt x="0" y="42"/>
                  </a:lnTo>
                  <a:lnTo>
                    <a:pt x="0" y="28"/>
                  </a:lnTo>
                  <a:lnTo>
                    <a:pt x="14" y="28"/>
                  </a:lnTo>
                  <a:close/>
                  <a:moveTo>
                    <a:pt x="14" y="56"/>
                  </a:moveTo>
                  <a:lnTo>
                    <a:pt x="14" y="70"/>
                  </a:lnTo>
                  <a:lnTo>
                    <a:pt x="0" y="70"/>
                  </a:lnTo>
                  <a:lnTo>
                    <a:pt x="0" y="56"/>
                  </a:lnTo>
                  <a:lnTo>
                    <a:pt x="14" y="56"/>
                  </a:lnTo>
                  <a:close/>
                  <a:moveTo>
                    <a:pt x="14" y="84"/>
                  </a:moveTo>
                  <a:lnTo>
                    <a:pt x="14" y="98"/>
                  </a:lnTo>
                  <a:lnTo>
                    <a:pt x="0" y="98"/>
                  </a:lnTo>
                  <a:lnTo>
                    <a:pt x="0" y="84"/>
                  </a:lnTo>
                  <a:lnTo>
                    <a:pt x="14" y="84"/>
                  </a:lnTo>
                  <a:close/>
                  <a:moveTo>
                    <a:pt x="14" y="112"/>
                  </a:moveTo>
                  <a:lnTo>
                    <a:pt x="14" y="126"/>
                  </a:lnTo>
                  <a:lnTo>
                    <a:pt x="0" y="126"/>
                  </a:lnTo>
                  <a:lnTo>
                    <a:pt x="0" y="112"/>
                  </a:lnTo>
                  <a:lnTo>
                    <a:pt x="14" y="112"/>
                  </a:lnTo>
                  <a:close/>
                  <a:moveTo>
                    <a:pt x="14" y="140"/>
                  </a:moveTo>
                  <a:lnTo>
                    <a:pt x="14" y="154"/>
                  </a:lnTo>
                  <a:lnTo>
                    <a:pt x="0" y="154"/>
                  </a:lnTo>
                  <a:lnTo>
                    <a:pt x="0" y="140"/>
                  </a:lnTo>
                  <a:lnTo>
                    <a:pt x="14" y="140"/>
                  </a:lnTo>
                  <a:close/>
                  <a:moveTo>
                    <a:pt x="14" y="167"/>
                  </a:moveTo>
                  <a:lnTo>
                    <a:pt x="14" y="181"/>
                  </a:lnTo>
                  <a:lnTo>
                    <a:pt x="0" y="181"/>
                  </a:lnTo>
                  <a:lnTo>
                    <a:pt x="0" y="167"/>
                  </a:lnTo>
                  <a:lnTo>
                    <a:pt x="14" y="167"/>
                  </a:lnTo>
                  <a:close/>
                  <a:moveTo>
                    <a:pt x="14" y="195"/>
                  </a:moveTo>
                  <a:lnTo>
                    <a:pt x="14" y="209"/>
                  </a:lnTo>
                  <a:lnTo>
                    <a:pt x="0" y="209"/>
                  </a:lnTo>
                  <a:lnTo>
                    <a:pt x="0" y="195"/>
                  </a:lnTo>
                  <a:lnTo>
                    <a:pt x="14" y="195"/>
                  </a:lnTo>
                  <a:close/>
                  <a:moveTo>
                    <a:pt x="14" y="223"/>
                  </a:moveTo>
                  <a:lnTo>
                    <a:pt x="14" y="237"/>
                  </a:lnTo>
                  <a:lnTo>
                    <a:pt x="0" y="237"/>
                  </a:lnTo>
                  <a:lnTo>
                    <a:pt x="0" y="223"/>
                  </a:lnTo>
                  <a:lnTo>
                    <a:pt x="14" y="223"/>
                  </a:lnTo>
                  <a:close/>
                  <a:moveTo>
                    <a:pt x="14" y="251"/>
                  </a:moveTo>
                  <a:lnTo>
                    <a:pt x="14" y="265"/>
                  </a:lnTo>
                  <a:lnTo>
                    <a:pt x="0" y="265"/>
                  </a:lnTo>
                  <a:lnTo>
                    <a:pt x="0" y="251"/>
                  </a:lnTo>
                  <a:lnTo>
                    <a:pt x="14" y="251"/>
                  </a:lnTo>
                  <a:close/>
                  <a:moveTo>
                    <a:pt x="14" y="279"/>
                  </a:moveTo>
                  <a:lnTo>
                    <a:pt x="14" y="293"/>
                  </a:lnTo>
                  <a:lnTo>
                    <a:pt x="0" y="293"/>
                  </a:lnTo>
                  <a:lnTo>
                    <a:pt x="0" y="279"/>
                  </a:lnTo>
                  <a:lnTo>
                    <a:pt x="14" y="279"/>
                  </a:lnTo>
                  <a:close/>
                  <a:moveTo>
                    <a:pt x="14" y="307"/>
                  </a:moveTo>
                  <a:lnTo>
                    <a:pt x="14" y="321"/>
                  </a:lnTo>
                  <a:lnTo>
                    <a:pt x="0" y="321"/>
                  </a:lnTo>
                  <a:lnTo>
                    <a:pt x="0" y="307"/>
                  </a:lnTo>
                  <a:lnTo>
                    <a:pt x="14" y="307"/>
                  </a:lnTo>
                  <a:close/>
                  <a:moveTo>
                    <a:pt x="14" y="334"/>
                  </a:moveTo>
                  <a:lnTo>
                    <a:pt x="14" y="348"/>
                  </a:lnTo>
                  <a:lnTo>
                    <a:pt x="0" y="348"/>
                  </a:lnTo>
                  <a:lnTo>
                    <a:pt x="0" y="334"/>
                  </a:lnTo>
                  <a:lnTo>
                    <a:pt x="14" y="334"/>
                  </a:lnTo>
                  <a:close/>
                  <a:moveTo>
                    <a:pt x="14" y="362"/>
                  </a:moveTo>
                  <a:lnTo>
                    <a:pt x="14" y="376"/>
                  </a:lnTo>
                  <a:lnTo>
                    <a:pt x="0" y="376"/>
                  </a:lnTo>
                  <a:lnTo>
                    <a:pt x="0" y="362"/>
                  </a:lnTo>
                  <a:lnTo>
                    <a:pt x="14" y="362"/>
                  </a:lnTo>
                  <a:close/>
                  <a:moveTo>
                    <a:pt x="14" y="390"/>
                  </a:moveTo>
                  <a:lnTo>
                    <a:pt x="14" y="404"/>
                  </a:lnTo>
                  <a:lnTo>
                    <a:pt x="0" y="404"/>
                  </a:lnTo>
                  <a:lnTo>
                    <a:pt x="0" y="390"/>
                  </a:lnTo>
                  <a:lnTo>
                    <a:pt x="14" y="390"/>
                  </a:lnTo>
                  <a:close/>
                  <a:moveTo>
                    <a:pt x="14" y="418"/>
                  </a:moveTo>
                  <a:lnTo>
                    <a:pt x="14" y="432"/>
                  </a:lnTo>
                  <a:lnTo>
                    <a:pt x="0" y="432"/>
                  </a:lnTo>
                  <a:lnTo>
                    <a:pt x="0" y="418"/>
                  </a:lnTo>
                  <a:lnTo>
                    <a:pt x="14" y="418"/>
                  </a:lnTo>
                  <a:close/>
                  <a:moveTo>
                    <a:pt x="14" y="446"/>
                  </a:moveTo>
                  <a:lnTo>
                    <a:pt x="14" y="460"/>
                  </a:lnTo>
                  <a:lnTo>
                    <a:pt x="0" y="460"/>
                  </a:lnTo>
                  <a:lnTo>
                    <a:pt x="0" y="446"/>
                  </a:lnTo>
                  <a:lnTo>
                    <a:pt x="14" y="446"/>
                  </a:lnTo>
                  <a:close/>
                  <a:moveTo>
                    <a:pt x="14" y="474"/>
                  </a:moveTo>
                  <a:lnTo>
                    <a:pt x="14" y="488"/>
                  </a:lnTo>
                  <a:lnTo>
                    <a:pt x="0" y="488"/>
                  </a:lnTo>
                  <a:lnTo>
                    <a:pt x="0" y="474"/>
                  </a:lnTo>
                  <a:lnTo>
                    <a:pt x="14" y="474"/>
                  </a:lnTo>
                  <a:close/>
                  <a:moveTo>
                    <a:pt x="14" y="501"/>
                  </a:moveTo>
                  <a:lnTo>
                    <a:pt x="14" y="515"/>
                  </a:lnTo>
                  <a:lnTo>
                    <a:pt x="0" y="515"/>
                  </a:lnTo>
                  <a:lnTo>
                    <a:pt x="0" y="501"/>
                  </a:lnTo>
                  <a:lnTo>
                    <a:pt x="14" y="501"/>
                  </a:lnTo>
                  <a:close/>
                  <a:moveTo>
                    <a:pt x="14" y="529"/>
                  </a:moveTo>
                  <a:lnTo>
                    <a:pt x="14" y="543"/>
                  </a:lnTo>
                  <a:lnTo>
                    <a:pt x="0" y="543"/>
                  </a:lnTo>
                  <a:lnTo>
                    <a:pt x="0" y="529"/>
                  </a:lnTo>
                  <a:lnTo>
                    <a:pt x="14" y="529"/>
                  </a:lnTo>
                  <a:close/>
                  <a:moveTo>
                    <a:pt x="14" y="557"/>
                  </a:moveTo>
                  <a:lnTo>
                    <a:pt x="14" y="571"/>
                  </a:lnTo>
                  <a:lnTo>
                    <a:pt x="0" y="571"/>
                  </a:lnTo>
                  <a:lnTo>
                    <a:pt x="0" y="557"/>
                  </a:lnTo>
                  <a:lnTo>
                    <a:pt x="14" y="557"/>
                  </a:lnTo>
                  <a:close/>
                  <a:moveTo>
                    <a:pt x="14" y="585"/>
                  </a:moveTo>
                  <a:lnTo>
                    <a:pt x="14" y="599"/>
                  </a:lnTo>
                  <a:lnTo>
                    <a:pt x="0" y="599"/>
                  </a:lnTo>
                  <a:lnTo>
                    <a:pt x="0" y="585"/>
                  </a:lnTo>
                  <a:lnTo>
                    <a:pt x="14" y="585"/>
                  </a:lnTo>
                  <a:close/>
                  <a:moveTo>
                    <a:pt x="14" y="613"/>
                  </a:moveTo>
                  <a:lnTo>
                    <a:pt x="14" y="627"/>
                  </a:lnTo>
                  <a:lnTo>
                    <a:pt x="0" y="627"/>
                  </a:lnTo>
                  <a:lnTo>
                    <a:pt x="0" y="613"/>
                  </a:lnTo>
                  <a:lnTo>
                    <a:pt x="14" y="613"/>
                  </a:lnTo>
                  <a:close/>
                  <a:moveTo>
                    <a:pt x="14" y="641"/>
                  </a:moveTo>
                  <a:lnTo>
                    <a:pt x="14" y="655"/>
                  </a:lnTo>
                  <a:lnTo>
                    <a:pt x="0" y="655"/>
                  </a:lnTo>
                  <a:lnTo>
                    <a:pt x="0" y="641"/>
                  </a:lnTo>
                  <a:lnTo>
                    <a:pt x="14" y="641"/>
                  </a:lnTo>
                  <a:close/>
                  <a:moveTo>
                    <a:pt x="14" y="668"/>
                  </a:moveTo>
                  <a:lnTo>
                    <a:pt x="14" y="682"/>
                  </a:lnTo>
                  <a:lnTo>
                    <a:pt x="0" y="682"/>
                  </a:lnTo>
                  <a:lnTo>
                    <a:pt x="0" y="668"/>
                  </a:lnTo>
                  <a:lnTo>
                    <a:pt x="14" y="668"/>
                  </a:lnTo>
                  <a:close/>
                  <a:moveTo>
                    <a:pt x="14" y="696"/>
                  </a:moveTo>
                  <a:lnTo>
                    <a:pt x="14" y="710"/>
                  </a:lnTo>
                  <a:lnTo>
                    <a:pt x="0" y="710"/>
                  </a:lnTo>
                  <a:lnTo>
                    <a:pt x="0" y="696"/>
                  </a:lnTo>
                  <a:lnTo>
                    <a:pt x="14" y="696"/>
                  </a:lnTo>
                  <a:close/>
                  <a:moveTo>
                    <a:pt x="14" y="724"/>
                  </a:moveTo>
                  <a:lnTo>
                    <a:pt x="14" y="738"/>
                  </a:lnTo>
                  <a:lnTo>
                    <a:pt x="0" y="738"/>
                  </a:lnTo>
                  <a:lnTo>
                    <a:pt x="0" y="724"/>
                  </a:lnTo>
                  <a:lnTo>
                    <a:pt x="14" y="724"/>
                  </a:lnTo>
                  <a:close/>
                  <a:moveTo>
                    <a:pt x="14" y="752"/>
                  </a:moveTo>
                  <a:lnTo>
                    <a:pt x="14" y="766"/>
                  </a:lnTo>
                  <a:lnTo>
                    <a:pt x="0" y="766"/>
                  </a:lnTo>
                  <a:lnTo>
                    <a:pt x="0" y="752"/>
                  </a:lnTo>
                  <a:lnTo>
                    <a:pt x="14" y="752"/>
                  </a:lnTo>
                  <a:close/>
                  <a:moveTo>
                    <a:pt x="14" y="780"/>
                  </a:moveTo>
                  <a:lnTo>
                    <a:pt x="14" y="793"/>
                  </a:lnTo>
                  <a:lnTo>
                    <a:pt x="0" y="793"/>
                  </a:lnTo>
                  <a:lnTo>
                    <a:pt x="0" y="780"/>
                  </a:lnTo>
                  <a:lnTo>
                    <a:pt x="14" y="780"/>
                  </a:lnTo>
                  <a:close/>
                  <a:moveTo>
                    <a:pt x="14" y="808"/>
                  </a:moveTo>
                  <a:lnTo>
                    <a:pt x="14" y="822"/>
                  </a:lnTo>
                  <a:lnTo>
                    <a:pt x="0" y="822"/>
                  </a:lnTo>
                  <a:lnTo>
                    <a:pt x="0" y="808"/>
                  </a:lnTo>
                  <a:lnTo>
                    <a:pt x="14" y="808"/>
                  </a:lnTo>
                  <a:close/>
                  <a:moveTo>
                    <a:pt x="14" y="835"/>
                  </a:moveTo>
                  <a:lnTo>
                    <a:pt x="14" y="849"/>
                  </a:lnTo>
                  <a:lnTo>
                    <a:pt x="0" y="849"/>
                  </a:lnTo>
                  <a:lnTo>
                    <a:pt x="0" y="835"/>
                  </a:lnTo>
                  <a:lnTo>
                    <a:pt x="14" y="835"/>
                  </a:lnTo>
                  <a:close/>
                  <a:moveTo>
                    <a:pt x="14" y="863"/>
                  </a:moveTo>
                  <a:lnTo>
                    <a:pt x="14" y="877"/>
                  </a:lnTo>
                  <a:lnTo>
                    <a:pt x="0" y="877"/>
                  </a:lnTo>
                  <a:lnTo>
                    <a:pt x="0" y="863"/>
                  </a:lnTo>
                  <a:lnTo>
                    <a:pt x="14" y="863"/>
                  </a:lnTo>
                  <a:close/>
                  <a:moveTo>
                    <a:pt x="14" y="891"/>
                  </a:moveTo>
                  <a:lnTo>
                    <a:pt x="14" y="905"/>
                  </a:lnTo>
                  <a:lnTo>
                    <a:pt x="0" y="905"/>
                  </a:lnTo>
                  <a:lnTo>
                    <a:pt x="0" y="891"/>
                  </a:lnTo>
                  <a:lnTo>
                    <a:pt x="14" y="891"/>
                  </a:lnTo>
                  <a:close/>
                  <a:moveTo>
                    <a:pt x="14" y="919"/>
                  </a:moveTo>
                  <a:lnTo>
                    <a:pt x="14" y="933"/>
                  </a:lnTo>
                  <a:lnTo>
                    <a:pt x="0" y="933"/>
                  </a:lnTo>
                  <a:lnTo>
                    <a:pt x="0" y="919"/>
                  </a:lnTo>
                  <a:lnTo>
                    <a:pt x="14" y="919"/>
                  </a:lnTo>
                  <a:close/>
                  <a:moveTo>
                    <a:pt x="14" y="947"/>
                  </a:moveTo>
                  <a:lnTo>
                    <a:pt x="14" y="960"/>
                  </a:lnTo>
                  <a:lnTo>
                    <a:pt x="0" y="960"/>
                  </a:lnTo>
                  <a:lnTo>
                    <a:pt x="0" y="947"/>
                  </a:lnTo>
                  <a:lnTo>
                    <a:pt x="14" y="947"/>
                  </a:lnTo>
                  <a:close/>
                  <a:moveTo>
                    <a:pt x="14" y="974"/>
                  </a:moveTo>
                  <a:lnTo>
                    <a:pt x="14" y="988"/>
                  </a:lnTo>
                  <a:lnTo>
                    <a:pt x="0" y="988"/>
                  </a:lnTo>
                  <a:lnTo>
                    <a:pt x="0" y="974"/>
                  </a:lnTo>
                  <a:lnTo>
                    <a:pt x="14" y="974"/>
                  </a:lnTo>
                  <a:close/>
                  <a:moveTo>
                    <a:pt x="14" y="1002"/>
                  </a:moveTo>
                  <a:lnTo>
                    <a:pt x="14" y="1016"/>
                  </a:lnTo>
                  <a:lnTo>
                    <a:pt x="0" y="1016"/>
                  </a:lnTo>
                  <a:lnTo>
                    <a:pt x="0" y="1002"/>
                  </a:lnTo>
                  <a:lnTo>
                    <a:pt x="14" y="1002"/>
                  </a:lnTo>
                  <a:close/>
                  <a:moveTo>
                    <a:pt x="14" y="1030"/>
                  </a:moveTo>
                  <a:lnTo>
                    <a:pt x="14" y="1044"/>
                  </a:lnTo>
                  <a:lnTo>
                    <a:pt x="0" y="1044"/>
                  </a:lnTo>
                  <a:lnTo>
                    <a:pt x="0" y="1030"/>
                  </a:lnTo>
                  <a:lnTo>
                    <a:pt x="14" y="1030"/>
                  </a:lnTo>
                  <a:close/>
                  <a:moveTo>
                    <a:pt x="14" y="1058"/>
                  </a:moveTo>
                  <a:lnTo>
                    <a:pt x="14" y="1072"/>
                  </a:lnTo>
                  <a:lnTo>
                    <a:pt x="0" y="1072"/>
                  </a:lnTo>
                  <a:lnTo>
                    <a:pt x="0" y="1058"/>
                  </a:lnTo>
                  <a:lnTo>
                    <a:pt x="14" y="1058"/>
                  </a:lnTo>
                  <a:close/>
                  <a:moveTo>
                    <a:pt x="14" y="1086"/>
                  </a:moveTo>
                  <a:lnTo>
                    <a:pt x="14" y="1100"/>
                  </a:lnTo>
                  <a:lnTo>
                    <a:pt x="0" y="1100"/>
                  </a:lnTo>
                  <a:lnTo>
                    <a:pt x="0" y="1086"/>
                  </a:lnTo>
                  <a:lnTo>
                    <a:pt x="14" y="1086"/>
                  </a:lnTo>
                  <a:close/>
                  <a:moveTo>
                    <a:pt x="14" y="1114"/>
                  </a:moveTo>
                  <a:lnTo>
                    <a:pt x="14" y="1127"/>
                  </a:lnTo>
                  <a:lnTo>
                    <a:pt x="0" y="1127"/>
                  </a:lnTo>
                  <a:lnTo>
                    <a:pt x="0" y="1114"/>
                  </a:lnTo>
                  <a:lnTo>
                    <a:pt x="14" y="1114"/>
                  </a:lnTo>
                  <a:close/>
                  <a:moveTo>
                    <a:pt x="14" y="1141"/>
                  </a:moveTo>
                  <a:lnTo>
                    <a:pt x="14" y="1155"/>
                  </a:lnTo>
                  <a:lnTo>
                    <a:pt x="0" y="1155"/>
                  </a:lnTo>
                  <a:lnTo>
                    <a:pt x="0" y="1141"/>
                  </a:lnTo>
                  <a:lnTo>
                    <a:pt x="14" y="1141"/>
                  </a:lnTo>
                  <a:close/>
                  <a:moveTo>
                    <a:pt x="14" y="1169"/>
                  </a:moveTo>
                  <a:lnTo>
                    <a:pt x="14" y="1183"/>
                  </a:lnTo>
                  <a:lnTo>
                    <a:pt x="0" y="1183"/>
                  </a:lnTo>
                  <a:lnTo>
                    <a:pt x="0" y="1169"/>
                  </a:lnTo>
                  <a:lnTo>
                    <a:pt x="14" y="1169"/>
                  </a:lnTo>
                  <a:close/>
                  <a:moveTo>
                    <a:pt x="14" y="1197"/>
                  </a:moveTo>
                  <a:lnTo>
                    <a:pt x="14" y="1211"/>
                  </a:lnTo>
                  <a:lnTo>
                    <a:pt x="0" y="1211"/>
                  </a:lnTo>
                  <a:lnTo>
                    <a:pt x="0" y="1197"/>
                  </a:lnTo>
                  <a:lnTo>
                    <a:pt x="14" y="1197"/>
                  </a:lnTo>
                  <a:close/>
                  <a:moveTo>
                    <a:pt x="14" y="1225"/>
                  </a:moveTo>
                  <a:lnTo>
                    <a:pt x="14" y="1239"/>
                  </a:lnTo>
                  <a:lnTo>
                    <a:pt x="0" y="1239"/>
                  </a:lnTo>
                  <a:lnTo>
                    <a:pt x="0" y="1225"/>
                  </a:lnTo>
                  <a:lnTo>
                    <a:pt x="14" y="1225"/>
                  </a:lnTo>
                  <a:close/>
                  <a:moveTo>
                    <a:pt x="14" y="1253"/>
                  </a:moveTo>
                  <a:lnTo>
                    <a:pt x="14" y="1267"/>
                  </a:lnTo>
                  <a:lnTo>
                    <a:pt x="0" y="1267"/>
                  </a:lnTo>
                  <a:lnTo>
                    <a:pt x="0" y="1253"/>
                  </a:lnTo>
                  <a:lnTo>
                    <a:pt x="14" y="1253"/>
                  </a:lnTo>
                  <a:close/>
                  <a:moveTo>
                    <a:pt x="14" y="1281"/>
                  </a:moveTo>
                  <a:lnTo>
                    <a:pt x="14" y="1294"/>
                  </a:lnTo>
                  <a:lnTo>
                    <a:pt x="0" y="1294"/>
                  </a:lnTo>
                  <a:lnTo>
                    <a:pt x="0" y="1281"/>
                  </a:lnTo>
                  <a:lnTo>
                    <a:pt x="14" y="1281"/>
                  </a:lnTo>
                  <a:close/>
                  <a:moveTo>
                    <a:pt x="14" y="1308"/>
                  </a:moveTo>
                  <a:lnTo>
                    <a:pt x="14" y="1322"/>
                  </a:lnTo>
                  <a:lnTo>
                    <a:pt x="0" y="1322"/>
                  </a:lnTo>
                  <a:lnTo>
                    <a:pt x="0" y="1308"/>
                  </a:lnTo>
                  <a:lnTo>
                    <a:pt x="14" y="1308"/>
                  </a:lnTo>
                  <a:close/>
                  <a:moveTo>
                    <a:pt x="14" y="1336"/>
                  </a:moveTo>
                  <a:lnTo>
                    <a:pt x="14" y="1350"/>
                  </a:lnTo>
                  <a:lnTo>
                    <a:pt x="0" y="1350"/>
                  </a:lnTo>
                  <a:lnTo>
                    <a:pt x="0" y="1336"/>
                  </a:lnTo>
                  <a:lnTo>
                    <a:pt x="14" y="1336"/>
                  </a:lnTo>
                  <a:close/>
                  <a:moveTo>
                    <a:pt x="14" y="1364"/>
                  </a:moveTo>
                  <a:lnTo>
                    <a:pt x="14" y="1378"/>
                  </a:lnTo>
                  <a:lnTo>
                    <a:pt x="0" y="1378"/>
                  </a:lnTo>
                  <a:lnTo>
                    <a:pt x="0" y="1364"/>
                  </a:lnTo>
                  <a:lnTo>
                    <a:pt x="14" y="1364"/>
                  </a:lnTo>
                  <a:close/>
                  <a:moveTo>
                    <a:pt x="14" y="1392"/>
                  </a:moveTo>
                  <a:lnTo>
                    <a:pt x="14" y="1406"/>
                  </a:lnTo>
                  <a:lnTo>
                    <a:pt x="0" y="1406"/>
                  </a:lnTo>
                  <a:lnTo>
                    <a:pt x="0" y="1392"/>
                  </a:lnTo>
                  <a:lnTo>
                    <a:pt x="14" y="1392"/>
                  </a:lnTo>
                  <a:close/>
                  <a:moveTo>
                    <a:pt x="14" y="1420"/>
                  </a:moveTo>
                  <a:lnTo>
                    <a:pt x="14" y="1434"/>
                  </a:lnTo>
                  <a:lnTo>
                    <a:pt x="0" y="1434"/>
                  </a:lnTo>
                  <a:lnTo>
                    <a:pt x="0" y="1420"/>
                  </a:lnTo>
                  <a:lnTo>
                    <a:pt x="14" y="1420"/>
                  </a:lnTo>
                  <a:close/>
                  <a:moveTo>
                    <a:pt x="14" y="1448"/>
                  </a:moveTo>
                  <a:lnTo>
                    <a:pt x="14" y="1461"/>
                  </a:lnTo>
                  <a:lnTo>
                    <a:pt x="0" y="1461"/>
                  </a:lnTo>
                  <a:lnTo>
                    <a:pt x="0" y="1448"/>
                  </a:lnTo>
                  <a:lnTo>
                    <a:pt x="14" y="1448"/>
                  </a:lnTo>
                  <a:close/>
                  <a:moveTo>
                    <a:pt x="14" y="1475"/>
                  </a:moveTo>
                  <a:lnTo>
                    <a:pt x="14" y="1489"/>
                  </a:lnTo>
                  <a:lnTo>
                    <a:pt x="0" y="1489"/>
                  </a:lnTo>
                  <a:lnTo>
                    <a:pt x="0" y="1475"/>
                  </a:lnTo>
                  <a:lnTo>
                    <a:pt x="14" y="1475"/>
                  </a:lnTo>
                  <a:close/>
                  <a:moveTo>
                    <a:pt x="14" y="1503"/>
                  </a:moveTo>
                  <a:lnTo>
                    <a:pt x="14" y="1517"/>
                  </a:lnTo>
                  <a:lnTo>
                    <a:pt x="0" y="1517"/>
                  </a:lnTo>
                  <a:lnTo>
                    <a:pt x="0" y="1503"/>
                  </a:lnTo>
                  <a:lnTo>
                    <a:pt x="14" y="1503"/>
                  </a:lnTo>
                  <a:close/>
                  <a:moveTo>
                    <a:pt x="14" y="1531"/>
                  </a:moveTo>
                  <a:lnTo>
                    <a:pt x="14" y="1545"/>
                  </a:lnTo>
                  <a:lnTo>
                    <a:pt x="0" y="1545"/>
                  </a:lnTo>
                  <a:lnTo>
                    <a:pt x="0" y="1531"/>
                  </a:lnTo>
                  <a:lnTo>
                    <a:pt x="14" y="1531"/>
                  </a:lnTo>
                  <a:close/>
                  <a:moveTo>
                    <a:pt x="14" y="1559"/>
                  </a:moveTo>
                  <a:lnTo>
                    <a:pt x="14" y="1573"/>
                  </a:lnTo>
                  <a:lnTo>
                    <a:pt x="0" y="1573"/>
                  </a:lnTo>
                  <a:lnTo>
                    <a:pt x="0" y="1559"/>
                  </a:lnTo>
                  <a:lnTo>
                    <a:pt x="14" y="1559"/>
                  </a:lnTo>
                  <a:close/>
                  <a:moveTo>
                    <a:pt x="14" y="1587"/>
                  </a:moveTo>
                  <a:lnTo>
                    <a:pt x="14" y="1601"/>
                  </a:lnTo>
                  <a:lnTo>
                    <a:pt x="0" y="1601"/>
                  </a:lnTo>
                  <a:lnTo>
                    <a:pt x="0" y="1587"/>
                  </a:lnTo>
                  <a:lnTo>
                    <a:pt x="14" y="1587"/>
                  </a:lnTo>
                  <a:close/>
                  <a:moveTo>
                    <a:pt x="14" y="1615"/>
                  </a:moveTo>
                  <a:lnTo>
                    <a:pt x="14" y="1628"/>
                  </a:lnTo>
                  <a:lnTo>
                    <a:pt x="0" y="1628"/>
                  </a:lnTo>
                  <a:lnTo>
                    <a:pt x="0" y="1615"/>
                  </a:lnTo>
                  <a:lnTo>
                    <a:pt x="14" y="1615"/>
                  </a:lnTo>
                  <a:close/>
                  <a:moveTo>
                    <a:pt x="14" y="1642"/>
                  </a:moveTo>
                  <a:lnTo>
                    <a:pt x="14" y="1656"/>
                  </a:lnTo>
                  <a:lnTo>
                    <a:pt x="0" y="1656"/>
                  </a:lnTo>
                  <a:lnTo>
                    <a:pt x="0" y="1642"/>
                  </a:lnTo>
                  <a:lnTo>
                    <a:pt x="14" y="1642"/>
                  </a:lnTo>
                  <a:close/>
                  <a:moveTo>
                    <a:pt x="14" y="1670"/>
                  </a:moveTo>
                  <a:lnTo>
                    <a:pt x="14" y="1684"/>
                  </a:lnTo>
                  <a:lnTo>
                    <a:pt x="0" y="1684"/>
                  </a:lnTo>
                  <a:lnTo>
                    <a:pt x="0" y="1670"/>
                  </a:lnTo>
                  <a:lnTo>
                    <a:pt x="14" y="1670"/>
                  </a:lnTo>
                  <a:close/>
                  <a:moveTo>
                    <a:pt x="14" y="1698"/>
                  </a:moveTo>
                  <a:lnTo>
                    <a:pt x="14" y="1712"/>
                  </a:lnTo>
                  <a:lnTo>
                    <a:pt x="0" y="1712"/>
                  </a:lnTo>
                  <a:lnTo>
                    <a:pt x="0" y="1698"/>
                  </a:lnTo>
                  <a:lnTo>
                    <a:pt x="14" y="1698"/>
                  </a:lnTo>
                  <a:close/>
                  <a:moveTo>
                    <a:pt x="14" y="1726"/>
                  </a:moveTo>
                  <a:lnTo>
                    <a:pt x="14" y="1740"/>
                  </a:lnTo>
                  <a:lnTo>
                    <a:pt x="0" y="1740"/>
                  </a:lnTo>
                  <a:lnTo>
                    <a:pt x="0" y="1726"/>
                  </a:lnTo>
                  <a:lnTo>
                    <a:pt x="14" y="1726"/>
                  </a:lnTo>
                  <a:close/>
                  <a:moveTo>
                    <a:pt x="14" y="1754"/>
                  </a:moveTo>
                  <a:lnTo>
                    <a:pt x="14" y="1768"/>
                  </a:lnTo>
                  <a:lnTo>
                    <a:pt x="0" y="1768"/>
                  </a:lnTo>
                  <a:lnTo>
                    <a:pt x="0" y="1754"/>
                  </a:lnTo>
                  <a:lnTo>
                    <a:pt x="14" y="1754"/>
                  </a:lnTo>
                  <a:close/>
                  <a:moveTo>
                    <a:pt x="14" y="1782"/>
                  </a:moveTo>
                  <a:lnTo>
                    <a:pt x="14" y="1795"/>
                  </a:lnTo>
                  <a:lnTo>
                    <a:pt x="0" y="1795"/>
                  </a:lnTo>
                  <a:lnTo>
                    <a:pt x="0" y="1782"/>
                  </a:lnTo>
                  <a:lnTo>
                    <a:pt x="14" y="1782"/>
                  </a:lnTo>
                  <a:close/>
                  <a:moveTo>
                    <a:pt x="14" y="1809"/>
                  </a:moveTo>
                  <a:lnTo>
                    <a:pt x="14" y="1823"/>
                  </a:lnTo>
                  <a:lnTo>
                    <a:pt x="0" y="1823"/>
                  </a:lnTo>
                  <a:lnTo>
                    <a:pt x="0" y="1809"/>
                  </a:lnTo>
                  <a:lnTo>
                    <a:pt x="14" y="1809"/>
                  </a:lnTo>
                  <a:close/>
                  <a:moveTo>
                    <a:pt x="14" y="1837"/>
                  </a:moveTo>
                  <a:lnTo>
                    <a:pt x="14" y="1851"/>
                  </a:lnTo>
                  <a:lnTo>
                    <a:pt x="0" y="1851"/>
                  </a:lnTo>
                  <a:lnTo>
                    <a:pt x="0" y="1837"/>
                  </a:lnTo>
                  <a:lnTo>
                    <a:pt x="14" y="1837"/>
                  </a:lnTo>
                  <a:close/>
                  <a:moveTo>
                    <a:pt x="14" y="1865"/>
                  </a:moveTo>
                  <a:lnTo>
                    <a:pt x="14" y="1879"/>
                  </a:lnTo>
                  <a:lnTo>
                    <a:pt x="0" y="1879"/>
                  </a:lnTo>
                  <a:lnTo>
                    <a:pt x="0" y="1865"/>
                  </a:lnTo>
                  <a:lnTo>
                    <a:pt x="14" y="1865"/>
                  </a:lnTo>
                  <a:close/>
                  <a:moveTo>
                    <a:pt x="14" y="1893"/>
                  </a:moveTo>
                  <a:lnTo>
                    <a:pt x="14" y="1907"/>
                  </a:lnTo>
                  <a:lnTo>
                    <a:pt x="0" y="1907"/>
                  </a:lnTo>
                  <a:lnTo>
                    <a:pt x="0" y="1893"/>
                  </a:lnTo>
                  <a:lnTo>
                    <a:pt x="14" y="1893"/>
                  </a:lnTo>
                  <a:close/>
                  <a:moveTo>
                    <a:pt x="14" y="1921"/>
                  </a:moveTo>
                  <a:lnTo>
                    <a:pt x="14" y="1935"/>
                  </a:lnTo>
                  <a:lnTo>
                    <a:pt x="0" y="1935"/>
                  </a:lnTo>
                  <a:lnTo>
                    <a:pt x="0" y="1921"/>
                  </a:lnTo>
                  <a:lnTo>
                    <a:pt x="14" y="1921"/>
                  </a:lnTo>
                  <a:close/>
                  <a:moveTo>
                    <a:pt x="14" y="1949"/>
                  </a:moveTo>
                  <a:lnTo>
                    <a:pt x="14" y="1962"/>
                  </a:lnTo>
                  <a:lnTo>
                    <a:pt x="0" y="1962"/>
                  </a:lnTo>
                  <a:lnTo>
                    <a:pt x="0" y="1949"/>
                  </a:lnTo>
                  <a:lnTo>
                    <a:pt x="14" y="1949"/>
                  </a:lnTo>
                  <a:close/>
                  <a:moveTo>
                    <a:pt x="14" y="1976"/>
                  </a:moveTo>
                  <a:lnTo>
                    <a:pt x="14" y="1990"/>
                  </a:lnTo>
                  <a:lnTo>
                    <a:pt x="0" y="1990"/>
                  </a:lnTo>
                  <a:lnTo>
                    <a:pt x="0" y="1976"/>
                  </a:lnTo>
                  <a:lnTo>
                    <a:pt x="14" y="1976"/>
                  </a:lnTo>
                  <a:close/>
                  <a:moveTo>
                    <a:pt x="14" y="2004"/>
                  </a:moveTo>
                  <a:lnTo>
                    <a:pt x="14" y="2018"/>
                  </a:lnTo>
                  <a:lnTo>
                    <a:pt x="0" y="2018"/>
                  </a:lnTo>
                  <a:lnTo>
                    <a:pt x="0" y="2004"/>
                  </a:lnTo>
                  <a:lnTo>
                    <a:pt x="14" y="2004"/>
                  </a:lnTo>
                  <a:close/>
                  <a:moveTo>
                    <a:pt x="14" y="2032"/>
                  </a:moveTo>
                  <a:lnTo>
                    <a:pt x="14" y="2046"/>
                  </a:lnTo>
                  <a:lnTo>
                    <a:pt x="0" y="2046"/>
                  </a:lnTo>
                  <a:lnTo>
                    <a:pt x="0" y="2032"/>
                  </a:lnTo>
                  <a:lnTo>
                    <a:pt x="14" y="2032"/>
                  </a:lnTo>
                  <a:close/>
                  <a:moveTo>
                    <a:pt x="14" y="2060"/>
                  </a:moveTo>
                  <a:lnTo>
                    <a:pt x="14" y="2074"/>
                  </a:lnTo>
                  <a:lnTo>
                    <a:pt x="0" y="2074"/>
                  </a:lnTo>
                  <a:lnTo>
                    <a:pt x="0" y="2060"/>
                  </a:lnTo>
                  <a:lnTo>
                    <a:pt x="14" y="2060"/>
                  </a:lnTo>
                  <a:close/>
                  <a:moveTo>
                    <a:pt x="14" y="2087"/>
                  </a:moveTo>
                  <a:lnTo>
                    <a:pt x="14" y="2102"/>
                  </a:lnTo>
                  <a:lnTo>
                    <a:pt x="0" y="2102"/>
                  </a:lnTo>
                  <a:lnTo>
                    <a:pt x="0" y="2087"/>
                  </a:lnTo>
                  <a:lnTo>
                    <a:pt x="14" y="2087"/>
                  </a:lnTo>
                  <a:close/>
                  <a:moveTo>
                    <a:pt x="14" y="2116"/>
                  </a:moveTo>
                  <a:lnTo>
                    <a:pt x="14" y="2129"/>
                  </a:lnTo>
                  <a:lnTo>
                    <a:pt x="0" y="2129"/>
                  </a:lnTo>
                  <a:lnTo>
                    <a:pt x="0" y="2116"/>
                  </a:lnTo>
                  <a:lnTo>
                    <a:pt x="14" y="2116"/>
                  </a:lnTo>
                  <a:close/>
                  <a:moveTo>
                    <a:pt x="14" y="2143"/>
                  </a:moveTo>
                  <a:lnTo>
                    <a:pt x="14" y="2157"/>
                  </a:lnTo>
                  <a:lnTo>
                    <a:pt x="0" y="2157"/>
                  </a:lnTo>
                  <a:lnTo>
                    <a:pt x="0" y="2143"/>
                  </a:lnTo>
                  <a:lnTo>
                    <a:pt x="14" y="2143"/>
                  </a:lnTo>
                  <a:close/>
                  <a:moveTo>
                    <a:pt x="14" y="2171"/>
                  </a:moveTo>
                  <a:lnTo>
                    <a:pt x="14" y="2185"/>
                  </a:lnTo>
                  <a:lnTo>
                    <a:pt x="0" y="2185"/>
                  </a:lnTo>
                  <a:lnTo>
                    <a:pt x="0" y="2171"/>
                  </a:lnTo>
                  <a:lnTo>
                    <a:pt x="14" y="2171"/>
                  </a:lnTo>
                  <a:close/>
                  <a:moveTo>
                    <a:pt x="14" y="2199"/>
                  </a:moveTo>
                  <a:lnTo>
                    <a:pt x="14" y="2213"/>
                  </a:lnTo>
                  <a:lnTo>
                    <a:pt x="0" y="2213"/>
                  </a:lnTo>
                  <a:lnTo>
                    <a:pt x="0" y="2199"/>
                  </a:lnTo>
                  <a:lnTo>
                    <a:pt x="14" y="2199"/>
                  </a:lnTo>
                  <a:close/>
                  <a:moveTo>
                    <a:pt x="14" y="2227"/>
                  </a:moveTo>
                  <a:lnTo>
                    <a:pt x="14" y="2241"/>
                  </a:lnTo>
                  <a:lnTo>
                    <a:pt x="0" y="2241"/>
                  </a:lnTo>
                  <a:lnTo>
                    <a:pt x="0" y="2227"/>
                  </a:lnTo>
                  <a:lnTo>
                    <a:pt x="14" y="2227"/>
                  </a:lnTo>
                  <a:close/>
                  <a:moveTo>
                    <a:pt x="14" y="2254"/>
                  </a:moveTo>
                  <a:lnTo>
                    <a:pt x="14" y="2268"/>
                  </a:lnTo>
                  <a:lnTo>
                    <a:pt x="0" y="2268"/>
                  </a:lnTo>
                  <a:lnTo>
                    <a:pt x="0" y="2254"/>
                  </a:lnTo>
                  <a:lnTo>
                    <a:pt x="14" y="2254"/>
                  </a:lnTo>
                  <a:close/>
                  <a:moveTo>
                    <a:pt x="14" y="2283"/>
                  </a:moveTo>
                  <a:lnTo>
                    <a:pt x="14" y="2296"/>
                  </a:lnTo>
                  <a:lnTo>
                    <a:pt x="0" y="2296"/>
                  </a:lnTo>
                  <a:lnTo>
                    <a:pt x="0" y="2283"/>
                  </a:lnTo>
                  <a:lnTo>
                    <a:pt x="14" y="2283"/>
                  </a:lnTo>
                  <a:close/>
                  <a:moveTo>
                    <a:pt x="14" y="2310"/>
                  </a:moveTo>
                  <a:lnTo>
                    <a:pt x="14" y="2324"/>
                  </a:lnTo>
                  <a:lnTo>
                    <a:pt x="0" y="2324"/>
                  </a:lnTo>
                  <a:lnTo>
                    <a:pt x="0" y="2310"/>
                  </a:lnTo>
                  <a:lnTo>
                    <a:pt x="14" y="2310"/>
                  </a:lnTo>
                  <a:close/>
                  <a:moveTo>
                    <a:pt x="14" y="2338"/>
                  </a:moveTo>
                  <a:lnTo>
                    <a:pt x="14" y="2352"/>
                  </a:lnTo>
                  <a:lnTo>
                    <a:pt x="0" y="2352"/>
                  </a:lnTo>
                  <a:lnTo>
                    <a:pt x="0" y="2338"/>
                  </a:lnTo>
                  <a:lnTo>
                    <a:pt x="14" y="2338"/>
                  </a:lnTo>
                  <a:close/>
                  <a:moveTo>
                    <a:pt x="14" y="2366"/>
                  </a:moveTo>
                  <a:lnTo>
                    <a:pt x="14" y="2380"/>
                  </a:lnTo>
                  <a:lnTo>
                    <a:pt x="0" y="2380"/>
                  </a:lnTo>
                  <a:lnTo>
                    <a:pt x="0" y="2366"/>
                  </a:lnTo>
                  <a:lnTo>
                    <a:pt x="14" y="2366"/>
                  </a:lnTo>
                  <a:close/>
                  <a:moveTo>
                    <a:pt x="14" y="2394"/>
                  </a:moveTo>
                  <a:lnTo>
                    <a:pt x="14" y="2408"/>
                  </a:lnTo>
                  <a:lnTo>
                    <a:pt x="0" y="2408"/>
                  </a:lnTo>
                  <a:lnTo>
                    <a:pt x="0" y="2394"/>
                  </a:lnTo>
                  <a:lnTo>
                    <a:pt x="14" y="2394"/>
                  </a:lnTo>
                  <a:close/>
                  <a:moveTo>
                    <a:pt x="14" y="2421"/>
                  </a:moveTo>
                  <a:lnTo>
                    <a:pt x="14" y="2435"/>
                  </a:lnTo>
                  <a:lnTo>
                    <a:pt x="0" y="2435"/>
                  </a:lnTo>
                  <a:lnTo>
                    <a:pt x="0" y="2421"/>
                  </a:lnTo>
                  <a:lnTo>
                    <a:pt x="14" y="2421"/>
                  </a:lnTo>
                  <a:close/>
                  <a:moveTo>
                    <a:pt x="14" y="2449"/>
                  </a:moveTo>
                  <a:lnTo>
                    <a:pt x="14" y="2453"/>
                  </a:lnTo>
                  <a:lnTo>
                    <a:pt x="0" y="2453"/>
                  </a:lnTo>
                  <a:lnTo>
                    <a:pt x="0" y="2449"/>
                  </a:lnTo>
                  <a:lnTo>
                    <a:pt x="14" y="2449"/>
                  </a:lnTo>
                  <a:close/>
                </a:path>
              </a:pathLst>
            </a:custGeom>
            <a:solidFill>
              <a:srgbClr val="000000"/>
            </a:solidFill>
            <a:ln w="0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489" name="Freeform 31">
              <a:extLst>
                <a:ext uri="{FF2B5EF4-FFF2-40B4-BE49-F238E27FC236}">
                  <a16:creationId xmlns:a16="http://schemas.microsoft.com/office/drawing/2014/main" id="{C7400476-B9AF-1A15-1577-048FBAB6442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031428" y="3078501"/>
              <a:ext cx="18000" cy="3726773"/>
            </a:xfrm>
            <a:custGeom>
              <a:avLst/>
              <a:gdLst>
                <a:gd name="T0" fmla="*/ 15 w 15"/>
                <a:gd name="T1" fmla="*/ 42 h 2453"/>
                <a:gd name="T2" fmla="*/ 0 w 15"/>
                <a:gd name="T3" fmla="*/ 56 h 2453"/>
                <a:gd name="T4" fmla="*/ 15 w 15"/>
                <a:gd name="T5" fmla="*/ 112 h 2453"/>
                <a:gd name="T6" fmla="*/ 0 w 15"/>
                <a:gd name="T7" fmla="*/ 154 h 2453"/>
                <a:gd name="T8" fmla="*/ 15 w 15"/>
                <a:gd name="T9" fmla="*/ 167 h 2453"/>
                <a:gd name="T10" fmla="*/ 15 w 15"/>
                <a:gd name="T11" fmla="*/ 237 h 2453"/>
                <a:gd name="T12" fmla="*/ 0 w 15"/>
                <a:gd name="T13" fmla="*/ 251 h 2453"/>
                <a:gd name="T14" fmla="*/ 15 w 15"/>
                <a:gd name="T15" fmla="*/ 307 h 2453"/>
                <a:gd name="T16" fmla="*/ 0 w 15"/>
                <a:gd name="T17" fmla="*/ 348 h 2453"/>
                <a:gd name="T18" fmla="*/ 15 w 15"/>
                <a:gd name="T19" fmla="*/ 362 h 2453"/>
                <a:gd name="T20" fmla="*/ 15 w 15"/>
                <a:gd name="T21" fmla="*/ 432 h 2453"/>
                <a:gd name="T22" fmla="*/ 0 w 15"/>
                <a:gd name="T23" fmla="*/ 446 h 2453"/>
                <a:gd name="T24" fmla="*/ 15 w 15"/>
                <a:gd name="T25" fmla="*/ 501 h 2453"/>
                <a:gd name="T26" fmla="*/ 0 w 15"/>
                <a:gd name="T27" fmla="*/ 543 h 2453"/>
                <a:gd name="T28" fmla="*/ 15 w 15"/>
                <a:gd name="T29" fmla="*/ 557 h 2453"/>
                <a:gd name="T30" fmla="*/ 15 w 15"/>
                <a:gd name="T31" fmla="*/ 627 h 2453"/>
                <a:gd name="T32" fmla="*/ 0 w 15"/>
                <a:gd name="T33" fmla="*/ 641 h 2453"/>
                <a:gd name="T34" fmla="*/ 15 w 15"/>
                <a:gd name="T35" fmla="*/ 696 h 2453"/>
                <a:gd name="T36" fmla="*/ 0 w 15"/>
                <a:gd name="T37" fmla="*/ 738 h 2453"/>
                <a:gd name="T38" fmla="*/ 15 w 15"/>
                <a:gd name="T39" fmla="*/ 752 h 2453"/>
                <a:gd name="T40" fmla="*/ 15 w 15"/>
                <a:gd name="T41" fmla="*/ 822 h 2453"/>
                <a:gd name="T42" fmla="*/ 0 w 15"/>
                <a:gd name="T43" fmla="*/ 835 h 2453"/>
                <a:gd name="T44" fmla="*/ 15 w 15"/>
                <a:gd name="T45" fmla="*/ 891 h 2453"/>
                <a:gd name="T46" fmla="*/ 0 w 15"/>
                <a:gd name="T47" fmla="*/ 933 h 2453"/>
                <a:gd name="T48" fmla="*/ 15 w 15"/>
                <a:gd name="T49" fmla="*/ 947 h 2453"/>
                <a:gd name="T50" fmla="*/ 15 w 15"/>
                <a:gd name="T51" fmla="*/ 1016 h 2453"/>
                <a:gd name="T52" fmla="*/ 0 w 15"/>
                <a:gd name="T53" fmla="*/ 1030 h 2453"/>
                <a:gd name="T54" fmla="*/ 15 w 15"/>
                <a:gd name="T55" fmla="*/ 1086 h 2453"/>
                <a:gd name="T56" fmla="*/ 0 w 15"/>
                <a:gd name="T57" fmla="*/ 1127 h 2453"/>
                <a:gd name="T58" fmla="*/ 15 w 15"/>
                <a:gd name="T59" fmla="*/ 1141 h 2453"/>
                <a:gd name="T60" fmla="*/ 15 w 15"/>
                <a:gd name="T61" fmla="*/ 1211 h 2453"/>
                <a:gd name="T62" fmla="*/ 0 w 15"/>
                <a:gd name="T63" fmla="*/ 1225 h 2453"/>
                <a:gd name="T64" fmla="*/ 15 w 15"/>
                <a:gd name="T65" fmla="*/ 1281 h 2453"/>
                <a:gd name="T66" fmla="*/ 0 w 15"/>
                <a:gd name="T67" fmla="*/ 1322 h 2453"/>
                <a:gd name="T68" fmla="*/ 15 w 15"/>
                <a:gd name="T69" fmla="*/ 1336 h 2453"/>
                <a:gd name="T70" fmla="*/ 15 w 15"/>
                <a:gd name="T71" fmla="*/ 1406 h 2453"/>
                <a:gd name="T72" fmla="*/ 0 w 15"/>
                <a:gd name="T73" fmla="*/ 1420 h 2453"/>
                <a:gd name="T74" fmla="*/ 15 w 15"/>
                <a:gd name="T75" fmla="*/ 1475 h 2453"/>
                <a:gd name="T76" fmla="*/ 0 w 15"/>
                <a:gd name="T77" fmla="*/ 1517 h 2453"/>
                <a:gd name="T78" fmla="*/ 15 w 15"/>
                <a:gd name="T79" fmla="*/ 1531 h 2453"/>
                <a:gd name="T80" fmla="*/ 15 w 15"/>
                <a:gd name="T81" fmla="*/ 1601 h 2453"/>
                <a:gd name="T82" fmla="*/ 0 w 15"/>
                <a:gd name="T83" fmla="*/ 1615 h 2453"/>
                <a:gd name="T84" fmla="*/ 15 w 15"/>
                <a:gd name="T85" fmla="*/ 1670 h 2453"/>
                <a:gd name="T86" fmla="*/ 0 w 15"/>
                <a:gd name="T87" fmla="*/ 1712 h 2453"/>
                <a:gd name="T88" fmla="*/ 15 w 15"/>
                <a:gd name="T89" fmla="*/ 1726 h 2453"/>
                <a:gd name="T90" fmla="*/ 15 w 15"/>
                <a:gd name="T91" fmla="*/ 1795 h 2453"/>
                <a:gd name="T92" fmla="*/ 0 w 15"/>
                <a:gd name="T93" fmla="*/ 1809 h 2453"/>
                <a:gd name="T94" fmla="*/ 15 w 15"/>
                <a:gd name="T95" fmla="*/ 1865 h 2453"/>
                <a:gd name="T96" fmla="*/ 0 w 15"/>
                <a:gd name="T97" fmla="*/ 1907 h 2453"/>
                <a:gd name="T98" fmla="*/ 15 w 15"/>
                <a:gd name="T99" fmla="*/ 1921 h 2453"/>
                <a:gd name="T100" fmla="*/ 15 w 15"/>
                <a:gd name="T101" fmla="*/ 1990 h 2453"/>
                <a:gd name="T102" fmla="*/ 0 w 15"/>
                <a:gd name="T103" fmla="*/ 2004 h 2453"/>
                <a:gd name="T104" fmla="*/ 15 w 15"/>
                <a:gd name="T105" fmla="*/ 2060 h 2453"/>
                <a:gd name="T106" fmla="*/ 0 w 15"/>
                <a:gd name="T107" fmla="*/ 2102 h 2453"/>
                <a:gd name="T108" fmla="*/ 15 w 15"/>
                <a:gd name="T109" fmla="*/ 2116 h 2453"/>
                <a:gd name="T110" fmla="*/ 15 w 15"/>
                <a:gd name="T111" fmla="*/ 2185 h 2453"/>
                <a:gd name="T112" fmla="*/ 0 w 15"/>
                <a:gd name="T113" fmla="*/ 2199 h 2453"/>
                <a:gd name="T114" fmla="*/ 15 w 15"/>
                <a:gd name="T115" fmla="*/ 2254 h 2453"/>
                <a:gd name="T116" fmla="*/ 0 w 15"/>
                <a:gd name="T117" fmla="*/ 2296 h 2453"/>
                <a:gd name="T118" fmla="*/ 15 w 15"/>
                <a:gd name="T119" fmla="*/ 2310 h 2453"/>
                <a:gd name="T120" fmla="*/ 15 w 15"/>
                <a:gd name="T121" fmla="*/ 2380 h 2453"/>
                <a:gd name="T122" fmla="*/ 0 w 15"/>
                <a:gd name="T123" fmla="*/ 2394 h 2453"/>
                <a:gd name="T124" fmla="*/ 15 w 15"/>
                <a:gd name="T125" fmla="*/ 2449 h 24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5" h="2453">
                  <a:moveTo>
                    <a:pt x="15" y="0"/>
                  </a:moveTo>
                  <a:lnTo>
                    <a:pt x="15" y="14"/>
                  </a:lnTo>
                  <a:lnTo>
                    <a:pt x="0" y="14"/>
                  </a:lnTo>
                  <a:lnTo>
                    <a:pt x="0" y="0"/>
                  </a:lnTo>
                  <a:lnTo>
                    <a:pt x="15" y="0"/>
                  </a:lnTo>
                  <a:close/>
                  <a:moveTo>
                    <a:pt x="15" y="28"/>
                  </a:moveTo>
                  <a:lnTo>
                    <a:pt x="15" y="42"/>
                  </a:lnTo>
                  <a:lnTo>
                    <a:pt x="0" y="42"/>
                  </a:lnTo>
                  <a:lnTo>
                    <a:pt x="0" y="28"/>
                  </a:lnTo>
                  <a:lnTo>
                    <a:pt x="15" y="28"/>
                  </a:lnTo>
                  <a:close/>
                  <a:moveTo>
                    <a:pt x="15" y="56"/>
                  </a:moveTo>
                  <a:lnTo>
                    <a:pt x="15" y="70"/>
                  </a:lnTo>
                  <a:lnTo>
                    <a:pt x="0" y="70"/>
                  </a:lnTo>
                  <a:lnTo>
                    <a:pt x="0" y="56"/>
                  </a:lnTo>
                  <a:lnTo>
                    <a:pt x="15" y="56"/>
                  </a:lnTo>
                  <a:close/>
                  <a:moveTo>
                    <a:pt x="15" y="84"/>
                  </a:moveTo>
                  <a:lnTo>
                    <a:pt x="15" y="98"/>
                  </a:lnTo>
                  <a:lnTo>
                    <a:pt x="0" y="98"/>
                  </a:lnTo>
                  <a:lnTo>
                    <a:pt x="0" y="84"/>
                  </a:lnTo>
                  <a:lnTo>
                    <a:pt x="15" y="84"/>
                  </a:lnTo>
                  <a:close/>
                  <a:moveTo>
                    <a:pt x="15" y="112"/>
                  </a:moveTo>
                  <a:lnTo>
                    <a:pt x="15" y="126"/>
                  </a:lnTo>
                  <a:lnTo>
                    <a:pt x="0" y="126"/>
                  </a:lnTo>
                  <a:lnTo>
                    <a:pt x="0" y="112"/>
                  </a:lnTo>
                  <a:lnTo>
                    <a:pt x="15" y="112"/>
                  </a:lnTo>
                  <a:close/>
                  <a:moveTo>
                    <a:pt x="15" y="140"/>
                  </a:moveTo>
                  <a:lnTo>
                    <a:pt x="15" y="154"/>
                  </a:lnTo>
                  <a:lnTo>
                    <a:pt x="0" y="154"/>
                  </a:lnTo>
                  <a:lnTo>
                    <a:pt x="0" y="140"/>
                  </a:lnTo>
                  <a:lnTo>
                    <a:pt x="15" y="140"/>
                  </a:lnTo>
                  <a:close/>
                  <a:moveTo>
                    <a:pt x="15" y="167"/>
                  </a:moveTo>
                  <a:lnTo>
                    <a:pt x="15" y="181"/>
                  </a:lnTo>
                  <a:lnTo>
                    <a:pt x="0" y="181"/>
                  </a:lnTo>
                  <a:lnTo>
                    <a:pt x="0" y="167"/>
                  </a:lnTo>
                  <a:lnTo>
                    <a:pt x="15" y="167"/>
                  </a:lnTo>
                  <a:close/>
                  <a:moveTo>
                    <a:pt x="15" y="195"/>
                  </a:moveTo>
                  <a:lnTo>
                    <a:pt x="15" y="209"/>
                  </a:lnTo>
                  <a:lnTo>
                    <a:pt x="0" y="209"/>
                  </a:lnTo>
                  <a:lnTo>
                    <a:pt x="0" y="195"/>
                  </a:lnTo>
                  <a:lnTo>
                    <a:pt x="15" y="195"/>
                  </a:lnTo>
                  <a:close/>
                  <a:moveTo>
                    <a:pt x="15" y="223"/>
                  </a:moveTo>
                  <a:lnTo>
                    <a:pt x="15" y="237"/>
                  </a:lnTo>
                  <a:lnTo>
                    <a:pt x="0" y="237"/>
                  </a:lnTo>
                  <a:lnTo>
                    <a:pt x="0" y="223"/>
                  </a:lnTo>
                  <a:lnTo>
                    <a:pt x="15" y="223"/>
                  </a:lnTo>
                  <a:close/>
                  <a:moveTo>
                    <a:pt x="15" y="251"/>
                  </a:moveTo>
                  <a:lnTo>
                    <a:pt x="15" y="265"/>
                  </a:lnTo>
                  <a:lnTo>
                    <a:pt x="0" y="265"/>
                  </a:lnTo>
                  <a:lnTo>
                    <a:pt x="0" y="251"/>
                  </a:lnTo>
                  <a:lnTo>
                    <a:pt x="15" y="251"/>
                  </a:lnTo>
                  <a:close/>
                  <a:moveTo>
                    <a:pt x="15" y="279"/>
                  </a:moveTo>
                  <a:lnTo>
                    <a:pt x="15" y="293"/>
                  </a:lnTo>
                  <a:lnTo>
                    <a:pt x="0" y="293"/>
                  </a:lnTo>
                  <a:lnTo>
                    <a:pt x="0" y="279"/>
                  </a:lnTo>
                  <a:lnTo>
                    <a:pt x="15" y="279"/>
                  </a:lnTo>
                  <a:close/>
                  <a:moveTo>
                    <a:pt x="15" y="307"/>
                  </a:moveTo>
                  <a:lnTo>
                    <a:pt x="15" y="321"/>
                  </a:lnTo>
                  <a:lnTo>
                    <a:pt x="0" y="321"/>
                  </a:lnTo>
                  <a:lnTo>
                    <a:pt x="0" y="307"/>
                  </a:lnTo>
                  <a:lnTo>
                    <a:pt x="15" y="307"/>
                  </a:lnTo>
                  <a:close/>
                  <a:moveTo>
                    <a:pt x="15" y="334"/>
                  </a:moveTo>
                  <a:lnTo>
                    <a:pt x="15" y="348"/>
                  </a:lnTo>
                  <a:lnTo>
                    <a:pt x="0" y="348"/>
                  </a:lnTo>
                  <a:lnTo>
                    <a:pt x="0" y="334"/>
                  </a:lnTo>
                  <a:lnTo>
                    <a:pt x="15" y="334"/>
                  </a:lnTo>
                  <a:close/>
                  <a:moveTo>
                    <a:pt x="15" y="362"/>
                  </a:moveTo>
                  <a:lnTo>
                    <a:pt x="15" y="376"/>
                  </a:lnTo>
                  <a:lnTo>
                    <a:pt x="0" y="376"/>
                  </a:lnTo>
                  <a:lnTo>
                    <a:pt x="0" y="362"/>
                  </a:lnTo>
                  <a:lnTo>
                    <a:pt x="15" y="362"/>
                  </a:lnTo>
                  <a:close/>
                  <a:moveTo>
                    <a:pt x="15" y="390"/>
                  </a:moveTo>
                  <a:lnTo>
                    <a:pt x="15" y="404"/>
                  </a:lnTo>
                  <a:lnTo>
                    <a:pt x="0" y="404"/>
                  </a:lnTo>
                  <a:lnTo>
                    <a:pt x="0" y="390"/>
                  </a:lnTo>
                  <a:lnTo>
                    <a:pt x="15" y="390"/>
                  </a:lnTo>
                  <a:close/>
                  <a:moveTo>
                    <a:pt x="15" y="418"/>
                  </a:moveTo>
                  <a:lnTo>
                    <a:pt x="15" y="432"/>
                  </a:lnTo>
                  <a:lnTo>
                    <a:pt x="0" y="432"/>
                  </a:lnTo>
                  <a:lnTo>
                    <a:pt x="0" y="418"/>
                  </a:lnTo>
                  <a:lnTo>
                    <a:pt x="15" y="418"/>
                  </a:lnTo>
                  <a:close/>
                  <a:moveTo>
                    <a:pt x="15" y="446"/>
                  </a:moveTo>
                  <a:lnTo>
                    <a:pt x="15" y="460"/>
                  </a:lnTo>
                  <a:lnTo>
                    <a:pt x="0" y="460"/>
                  </a:lnTo>
                  <a:lnTo>
                    <a:pt x="0" y="446"/>
                  </a:lnTo>
                  <a:lnTo>
                    <a:pt x="15" y="446"/>
                  </a:lnTo>
                  <a:close/>
                  <a:moveTo>
                    <a:pt x="15" y="474"/>
                  </a:moveTo>
                  <a:lnTo>
                    <a:pt x="15" y="488"/>
                  </a:lnTo>
                  <a:lnTo>
                    <a:pt x="0" y="488"/>
                  </a:lnTo>
                  <a:lnTo>
                    <a:pt x="0" y="474"/>
                  </a:lnTo>
                  <a:lnTo>
                    <a:pt x="15" y="474"/>
                  </a:lnTo>
                  <a:close/>
                  <a:moveTo>
                    <a:pt x="15" y="501"/>
                  </a:moveTo>
                  <a:lnTo>
                    <a:pt x="15" y="515"/>
                  </a:lnTo>
                  <a:lnTo>
                    <a:pt x="0" y="515"/>
                  </a:lnTo>
                  <a:lnTo>
                    <a:pt x="0" y="501"/>
                  </a:lnTo>
                  <a:lnTo>
                    <a:pt x="15" y="501"/>
                  </a:lnTo>
                  <a:close/>
                  <a:moveTo>
                    <a:pt x="15" y="529"/>
                  </a:moveTo>
                  <a:lnTo>
                    <a:pt x="15" y="543"/>
                  </a:lnTo>
                  <a:lnTo>
                    <a:pt x="0" y="543"/>
                  </a:lnTo>
                  <a:lnTo>
                    <a:pt x="0" y="529"/>
                  </a:lnTo>
                  <a:lnTo>
                    <a:pt x="15" y="529"/>
                  </a:lnTo>
                  <a:close/>
                  <a:moveTo>
                    <a:pt x="15" y="557"/>
                  </a:moveTo>
                  <a:lnTo>
                    <a:pt x="15" y="571"/>
                  </a:lnTo>
                  <a:lnTo>
                    <a:pt x="0" y="571"/>
                  </a:lnTo>
                  <a:lnTo>
                    <a:pt x="0" y="557"/>
                  </a:lnTo>
                  <a:lnTo>
                    <a:pt x="15" y="557"/>
                  </a:lnTo>
                  <a:close/>
                  <a:moveTo>
                    <a:pt x="15" y="585"/>
                  </a:moveTo>
                  <a:lnTo>
                    <a:pt x="15" y="599"/>
                  </a:lnTo>
                  <a:lnTo>
                    <a:pt x="0" y="599"/>
                  </a:lnTo>
                  <a:lnTo>
                    <a:pt x="0" y="585"/>
                  </a:lnTo>
                  <a:lnTo>
                    <a:pt x="15" y="585"/>
                  </a:lnTo>
                  <a:close/>
                  <a:moveTo>
                    <a:pt x="15" y="613"/>
                  </a:moveTo>
                  <a:lnTo>
                    <a:pt x="15" y="627"/>
                  </a:lnTo>
                  <a:lnTo>
                    <a:pt x="0" y="627"/>
                  </a:lnTo>
                  <a:lnTo>
                    <a:pt x="0" y="613"/>
                  </a:lnTo>
                  <a:lnTo>
                    <a:pt x="15" y="613"/>
                  </a:lnTo>
                  <a:close/>
                  <a:moveTo>
                    <a:pt x="15" y="641"/>
                  </a:moveTo>
                  <a:lnTo>
                    <a:pt x="15" y="655"/>
                  </a:lnTo>
                  <a:lnTo>
                    <a:pt x="0" y="655"/>
                  </a:lnTo>
                  <a:lnTo>
                    <a:pt x="0" y="641"/>
                  </a:lnTo>
                  <a:lnTo>
                    <a:pt x="15" y="641"/>
                  </a:lnTo>
                  <a:close/>
                  <a:moveTo>
                    <a:pt x="15" y="668"/>
                  </a:moveTo>
                  <a:lnTo>
                    <a:pt x="15" y="682"/>
                  </a:lnTo>
                  <a:lnTo>
                    <a:pt x="0" y="682"/>
                  </a:lnTo>
                  <a:lnTo>
                    <a:pt x="0" y="668"/>
                  </a:lnTo>
                  <a:lnTo>
                    <a:pt x="15" y="668"/>
                  </a:lnTo>
                  <a:close/>
                  <a:moveTo>
                    <a:pt x="15" y="696"/>
                  </a:moveTo>
                  <a:lnTo>
                    <a:pt x="15" y="710"/>
                  </a:lnTo>
                  <a:lnTo>
                    <a:pt x="0" y="710"/>
                  </a:lnTo>
                  <a:lnTo>
                    <a:pt x="0" y="696"/>
                  </a:lnTo>
                  <a:lnTo>
                    <a:pt x="15" y="696"/>
                  </a:lnTo>
                  <a:close/>
                  <a:moveTo>
                    <a:pt x="15" y="724"/>
                  </a:moveTo>
                  <a:lnTo>
                    <a:pt x="15" y="738"/>
                  </a:lnTo>
                  <a:lnTo>
                    <a:pt x="0" y="738"/>
                  </a:lnTo>
                  <a:lnTo>
                    <a:pt x="0" y="724"/>
                  </a:lnTo>
                  <a:lnTo>
                    <a:pt x="15" y="724"/>
                  </a:lnTo>
                  <a:close/>
                  <a:moveTo>
                    <a:pt x="15" y="752"/>
                  </a:moveTo>
                  <a:lnTo>
                    <a:pt x="15" y="766"/>
                  </a:lnTo>
                  <a:lnTo>
                    <a:pt x="0" y="766"/>
                  </a:lnTo>
                  <a:lnTo>
                    <a:pt x="0" y="752"/>
                  </a:lnTo>
                  <a:lnTo>
                    <a:pt x="15" y="752"/>
                  </a:lnTo>
                  <a:close/>
                  <a:moveTo>
                    <a:pt x="15" y="780"/>
                  </a:moveTo>
                  <a:lnTo>
                    <a:pt x="15" y="793"/>
                  </a:lnTo>
                  <a:lnTo>
                    <a:pt x="0" y="793"/>
                  </a:lnTo>
                  <a:lnTo>
                    <a:pt x="0" y="780"/>
                  </a:lnTo>
                  <a:lnTo>
                    <a:pt x="15" y="780"/>
                  </a:lnTo>
                  <a:close/>
                  <a:moveTo>
                    <a:pt x="15" y="808"/>
                  </a:moveTo>
                  <a:lnTo>
                    <a:pt x="15" y="822"/>
                  </a:lnTo>
                  <a:lnTo>
                    <a:pt x="0" y="822"/>
                  </a:lnTo>
                  <a:lnTo>
                    <a:pt x="0" y="808"/>
                  </a:lnTo>
                  <a:lnTo>
                    <a:pt x="15" y="808"/>
                  </a:lnTo>
                  <a:close/>
                  <a:moveTo>
                    <a:pt x="15" y="835"/>
                  </a:moveTo>
                  <a:lnTo>
                    <a:pt x="15" y="849"/>
                  </a:lnTo>
                  <a:lnTo>
                    <a:pt x="0" y="849"/>
                  </a:lnTo>
                  <a:lnTo>
                    <a:pt x="0" y="835"/>
                  </a:lnTo>
                  <a:lnTo>
                    <a:pt x="15" y="835"/>
                  </a:lnTo>
                  <a:close/>
                  <a:moveTo>
                    <a:pt x="15" y="863"/>
                  </a:moveTo>
                  <a:lnTo>
                    <a:pt x="15" y="877"/>
                  </a:lnTo>
                  <a:lnTo>
                    <a:pt x="0" y="877"/>
                  </a:lnTo>
                  <a:lnTo>
                    <a:pt x="0" y="863"/>
                  </a:lnTo>
                  <a:lnTo>
                    <a:pt x="15" y="863"/>
                  </a:lnTo>
                  <a:close/>
                  <a:moveTo>
                    <a:pt x="15" y="891"/>
                  </a:moveTo>
                  <a:lnTo>
                    <a:pt x="15" y="905"/>
                  </a:lnTo>
                  <a:lnTo>
                    <a:pt x="0" y="905"/>
                  </a:lnTo>
                  <a:lnTo>
                    <a:pt x="0" y="891"/>
                  </a:lnTo>
                  <a:lnTo>
                    <a:pt x="15" y="891"/>
                  </a:lnTo>
                  <a:close/>
                  <a:moveTo>
                    <a:pt x="15" y="919"/>
                  </a:moveTo>
                  <a:lnTo>
                    <a:pt x="15" y="933"/>
                  </a:lnTo>
                  <a:lnTo>
                    <a:pt x="0" y="933"/>
                  </a:lnTo>
                  <a:lnTo>
                    <a:pt x="0" y="919"/>
                  </a:lnTo>
                  <a:lnTo>
                    <a:pt x="15" y="919"/>
                  </a:lnTo>
                  <a:close/>
                  <a:moveTo>
                    <a:pt x="15" y="947"/>
                  </a:moveTo>
                  <a:lnTo>
                    <a:pt x="15" y="960"/>
                  </a:lnTo>
                  <a:lnTo>
                    <a:pt x="0" y="960"/>
                  </a:lnTo>
                  <a:lnTo>
                    <a:pt x="0" y="947"/>
                  </a:lnTo>
                  <a:lnTo>
                    <a:pt x="15" y="947"/>
                  </a:lnTo>
                  <a:close/>
                  <a:moveTo>
                    <a:pt x="15" y="974"/>
                  </a:moveTo>
                  <a:lnTo>
                    <a:pt x="15" y="988"/>
                  </a:lnTo>
                  <a:lnTo>
                    <a:pt x="0" y="988"/>
                  </a:lnTo>
                  <a:lnTo>
                    <a:pt x="0" y="974"/>
                  </a:lnTo>
                  <a:lnTo>
                    <a:pt x="15" y="974"/>
                  </a:lnTo>
                  <a:close/>
                  <a:moveTo>
                    <a:pt x="15" y="1002"/>
                  </a:moveTo>
                  <a:lnTo>
                    <a:pt x="15" y="1016"/>
                  </a:lnTo>
                  <a:lnTo>
                    <a:pt x="0" y="1016"/>
                  </a:lnTo>
                  <a:lnTo>
                    <a:pt x="0" y="1002"/>
                  </a:lnTo>
                  <a:lnTo>
                    <a:pt x="15" y="1002"/>
                  </a:lnTo>
                  <a:close/>
                  <a:moveTo>
                    <a:pt x="15" y="1030"/>
                  </a:moveTo>
                  <a:lnTo>
                    <a:pt x="15" y="1044"/>
                  </a:lnTo>
                  <a:lnTo>
                    <a:pt x="0" y="1044"/>
                  </a:lnTo>
                  <a:lnTo>
                    <a:pt x="0" y="1030"/>
                  </a:lnTo>
                  <a:lnTo>
                    <a:pt x="15" y="1030"/>
                  </a:lnTo>
                  <a:close/>
                  <a:moveTo>
                    <a:pt x="15" y="1058"/>
                  </a:moveTo>
                  <a:lnTo>
                    <a:pt x="15" y="1072"/>
                  </a:lnTo>
                  <a:lnTo>
                    <a:pt x="0" y="1072"/>
                  </a:lnTo>
                  <a:lnTo>
                    <a:pt x="0" y="1058"/>
                  </a:lnTo>
                  <a:lnTo>
                    <a:pt x="15" y="1058"/>
                  </a:lnTo>
                  <a:close/>
                  <a:moveTo>
                    <a:pt x="15" y="1086"/>
                  </a:moveTo>
                  <a:lnTo>
                    <a:pt x="15" y="1100"/>
                  </a:lnTo>
                  <a:lnTo>
                    <a:pt x="0" y="1100"/>
                  </a:lnTo>
                  <a:lnTo>
                    <a:pt x="0" y="1086"/>
                  </a:lnTo>
                  <a:lnTo>
                    <a:pt x="15" y="1086"/>
                  </a:lnTo>
                  <a:close/>
                  <a:moveTo>
                    <a:pt x="15" y="1114"/>
                  </a:moveTo>
                  <a:lnTo>
                    <a:pt x="15" y="1127"/>
                  </a:lnTo>
                  <a:lnTo>
                    <a:pt x="0" y="1127"/>
                  </a:lnTo>
                  <a:lnTo>
                    <a:pt x="0" y="1114"/>
                  </a:lnTo>
                  <a:lnTo>
                    <a:pt x="15" y="1114"/>
                  </a:lnTo>
                  <a:close/>
                  <a:moveTo>
                    <a:pt x="15" y="1141"/>
                  </a:moveTo>
                  <a:lnTo>
                    <a:pt x="15" y="1155"/>
                  </a:lnTo>
                  <a:lnTo>
                    <a:pt x="0" y="1155"/>
                  </a:lnTo>
                  <a:lnTo>
                    <a:pt x="0" y="1141"/>
                  </a:lnTo>
                  <a:lnTo>
                    <a:pt x="15" y="1141"/>
                  </a:lnTo>
                  <a:close/>
                  <a:moveTo>
                    <a:pt x="15" y="1169"/>
                  </a:moveTo>
                  <a:lnTo>
                    <a:pt x="15" y="1183"/>
                  </a:lnTo>
                  <a:lnTo>
                    <a:pt x="0" y="1183"/>
                  </a:lnTo>
                  <a:lnTo>
                    <a:pt x="0" y="1169"/>
                  </a:lnTo>
                  <a:lnTo>
                    <a:pt x="15" y="1169"/>
                  </a:lnTo>
                  <a:close/>
                  <a:moveTo>
                    <a:pt x="15" y="1197"/>
                  </a:moveTo>
                  <a:lnTo>
                    <a:pt x="15" y="1211"/>
                  </a:lnTo>
                  <a:lnTo>
                    <a:pt x="0" y="1211"/>
                  </a:lnTo>
                  <a:lnTo>
                    <a:pt x="0" y="1197"/>
                  </a:lnTo>
                  <a:lnTo>
                    <a:pt x="15" y="1197"/>
                  </a:lnTo>
                  <a:close/>
                  <a:moveTo>
                    <a:pt x="15" y="1225"/>
                  </a:moveTo>
                  <a:lnTo>
                    <a:pt x="15" y="1239"/>
                  </a:lnTo>
                  <a:lnTo>
                    <a:pt x="0" y="1239"/>
                  </a:lnTo>
                  <a:lnTo>
                    <a:pt x="0" y="1225"/>
                  </a:lnTo>
                  <a:lnTo>
                    <a:pt x="15" y="1225"/>
                  </a:lnTo>
                  <a:close/>
                  <a:moveTo>
                    <a:pt x="15" y="1253"/>
                  </a:moveTo>
                  <a:lnTo>
                    <a:pt x="15" y="1267"/>
                  </a:lnTo>
                  <a:lnTo>
                    <a:pt x="0" y="1267"/>
                  </a:lnTo>
                  <a:lnTo>
                    <a:pt x="0" y="1253"/>
                  </a:lnTo>
                  <a:lnTo>
                    <a:pt x="15" y="1253"/>
                  </a:lnTo>
                  <a:close/>
                  <a:moveTo>
                    <a:pt x="15" y="1281"/>
                  </a:moveTo>
                  <a:lnTo>
                    <a:pt x="15" y="1294"/>
                  </a:lnTo>
                  <a:lnTo>
                    <a:pt x="0" y="1294"/>
                  </a:lnTo>
                  <a:lnTo>
                    <a:pt x="0" y="1281"/>
                  </a:lnTo>
                  <a:lnTo>
                    <a:pt x="15" y="1281"/>
                  </a:lnTo>
                  <a:close/>
                  <a:moveTo>
                    <a:pt x="15" y="1308"/>
                  </a:moveTo>
                  <a:lnTo>
                    <a:pt x="15" y="1322"/>
                  </a:lnTo>
                  <a:lnTo>
                    <a:pt x="0" y="1322"/>
                  </a:lnTo>
                  <a:lnTo>
                    <a:pt x="0" y="1308"/>
                  </a:lnTo>
                  <a:lnTo>
                    <a:pt x="15" y="1308"/>
                  </a:lnTo>
                  <a:close/>
                  <a:moveTo>
                    <a:pt x="15" y="1336"/>
                  </a:moveTo>
                  <a:lnTo>
                    <a:pt x="15" y="1350"/>
                  </a:lnTo>
                  <a:lnTo>
                    <a:pt x="0" y="1350"/>
                  </a:lnTo>
                  <a:lnTo>
                    <a:pt x="0" y="1336"/>
                  </a:lnTo>
                  <a:lnTo>
                    <a:pt x="15" y="1336"/>
                  </a:lnTo>
                  <a:close/>
                  <a:moveTo>
                    <a:pt x="15" y="1364"/>
                  </a:moveTo>
                  <a:lnTo>
                    <a:pt x="15" y="1378"/>
                  </a:lnTo>
                  <a:lnTo>
                    <a:pt x="0" y="1378"/>
                  </a:lnTo>
                  <a:lnTo>
                    <a:pt x="0" y="1364"/>
                  </a:lnTo>
                  <a:lnTo>
                    <a:pt x="15" y="1364"/>
                  </a:lnTo>
                  <a:close/>
                  <a:moveTo>
                    <a:pt x="15" y="1392"/>
                  </a:moveTo>
                  <a:lnTo>
                    <a:pt x="15" y="1406"/>
                  </a:lnTo>
                  <a:lnTo>
                    <a:pt x="0" y="1406"/>
                  </a:lnTo>
                  <a:lnTo>
                    <a:pt x="0" y="1392"/>
                  </a:lnTo>
                  <a:lnTo>
                    <a:pt x="15" y="1392"/>
                  </a:lnTo>
                  <a:close/>
                  <a:moveTo>
                    <a:pt x="15" y="1420"/>
                  </a:moveTo>
                  <a:lnTo>
                    <a:pt x="15" y="1434"/>
                  </a:lnTo>
                  <a:lnTo>
                    <a:pt x="0" y="1434"/>
                  </a:lnTo>
                  <a:lnTo>
                    <a:pt x="0" y="1420"/>
                  </a:lnTo>
                  <a:lnTo>
                    <a:pt x="15" y="1420"/>
                  </a:lnTo>
                  <a:close/>
                  <a:moveTo>
                    <a:pt x="15" y="1448"/>
                  </a:moveTo>
                  <a:lnTo>
                    <a:pt x="15" y="1461"/>
                  </a:lnTo>
                  <a:lnTo>
                    <a:pt x="0" y="1461"/>
                  </a:lnTo>
                  <a:lnTo>
                    <a:pt x="0" y="1448"/>
                  </a:lnTo>
                  <a:lnTo>
                    <a:pt x="15" y="1448"/>
                  </a:lnTo>
                  <a:close/>
                  <a:moveTo>
                    <a:pt x="15" y="1475"/>
                  </a:moveTo>
                  <a:lnTo>
                    <a:pt x="15" y="1489"/>
                  </a:lnTo>
                  <a:lnTo>
                    <a:pt x="0" y="1489"/>
                  </a:lnTo>
                  <a:lnTo>
                    <a:pt x="0" y="1475"/>
                  </a:lnTo>
                  <a:lnTo>
                    <a:pt x="15" y="1475"/>
                  </a:lnTo>
                  <a:close/>
                  <a:moveTo>
                    <a:pt x="15" y="1503"/>
                  </a:moveTo>
                  <a:lnTo>
                    <a:pt x="15" y="1517"/>
                  </a:lnTo>
                  <a:lnTo>
                    <a:pt x="0" y="1517"/>
                  </a:lnTo>
                  <a:lnTo>
                    <a:pt x="0" y="1503"/>
                  </a:lnTo>
                  <a:lnTo>
                    <a:pt x="15" y="1503"/>
                  </a:lnTo>
                  <a:close/>
                  <a:moveTo>
                    <a:pt x="15" y="1531"/>
                  </a:moveTo>
                  <a:lnTo>
                    <a:pt x="15" y="1545"/>
                  </a:lnTo>
                  <a:lnTo>
                    <a:pt x="0" y="1545"/>
                  </a:lnTo>
                  <a:lnTo>
                    <a:pt x="0" y="1531"/>
                  </a:lnTo>
                  <a:lnTo>
                    <a:pt x="15" y="1531"/>
                  </a:lnTo>
                  <a:close/>
                  <a:moveTo>
                    <a:pt x="15" y="1559"/>
                  </a:moveTo>
                  <a:lnTo>
                    <a:pt x="15" y="1573"/>
                  </a:lnTo>
                  <a:lnTo>
                    <a:pt x="0" y="1573"/>
                  </a:lnTo>
                  <a:lnTo>
                    <a:pt x="0" y="1559"/>
                  </a:lnTo>
                  <a:lnTo>
                    <a:pt x="15" y="1559"/>
                  </a:lnTo>
                  <a:close/>
                  <a:moveTo>
                    <a:pt x="15" y="1587"/>
                  </a:moveTo>
                  <a:lnTo>
                    <a:pt x="15" y="1601"/>
                  </a:lnTo>
                  <a:lnTo>
                    <a:pt x="0" y="1601"/>
                  </a:lnTo>
                  <a:lnTo>
                    <a:pt x="0" y="1587"/>
                  </a:lnTo>
                  <a:lnTo>
                    <a:pt x="15" y="1587"/>
                  </a:lnTo>
                  <a:close/>
                  <a:moveTo>
                    <a:pt x="15" y="1615"/>
                  </a:moveTo>
                  <a:lnTo>
                    <a:pt x="15" y="1628"/>
                  </a:lnTo>
                  <a:lnTo>
                    <a:pt x="0" y="1628"/>
                  </a:lnTo>
                  <a:lnTo>
                    <a:pt x="0" y="1615"/>
                  </a:lnTo>
                  <a:lnTo>
                    <a:pt x="15" y="1615"/>
                  </a:lnTo>
                  <a:close/>
                  <a:moveTo>
                    <a:pt x="15" y="1642"/>
                  </a:moveTo>
                  <a:lnTo>
                    <a:pt x="15" y="1656"/>
                  </a:lnTo>
                  <a:lnTo>
                    <a:pt x="0" y="1656"/>
                  </a:lnTo>
                  <a:lnTo>
                    <a:pt x="0" y="1642"/>
                  </a:lnTo>
                  <a:lnTo>
                    <a:pt x="15" y="1642"/>
                  </a:lnTo>
                  <a:close/>
                  <a:moveTo>
                    <a:pt x="15" y="1670"/>
                  </a:moveTo>
                  <a:lnTo>
                    <a:pt x="15" y="1684"/>
                  </a:lnTo>
                  <a:lnTo>
                    <a:pt x="0" y="1684"/>
                  </a:lnTo>
                  <a:lnTo>
                    <a:pt x="0" y="1670"/>
                  </a:lnTo>
                  <a:lnTo>
                    <a:pt x="15" y="1670"/>
                  </a:lnTo>
                  <a:close/>
                  <a:moveTo>
                    <a:pt x="15" y="1698"/>
                  </a:moveTo>
                  <a:lnTo>
                    <a:pt x="15" y="1712"/>
                  </a:lnTo>
                  <a:lnTo>
                    <a:pt x="0" y="1712"/>
                  </a:lnTo>
                  <a:lnTo>
                    <a:pt x="0" y="1698"/>
                  </a:lnTo>
                  <a:lnTo>
                    <a:pt x="15" y="1698"/>
                  </a:lnTo>
                  <a:close/>
                  <a:moveTo>
                    <a:pt x="15" y="1726"/>
                  </a:moveTo>
                  <a:lnTo>
                    <a:pt x="15" y="1740"/>
                  </a:lnTo>
                  <a:lnTo>
                    <a:pt x="0" y="1740"/>
                  </a:lnTo>
                  <a:lnTo>
                    <a:pt x="0" y="1726"/>
                  </a:lnTo>
                  <a:lnTo>
                    <a:pt x="15" y="1726"/>
                  </a:lnTo>
                  <a:close/>
                  <a:moveTo>
                    <a:pt x="15" y="1754"/>
                  </a:moveTo>
                  <a:lnTo>
                    <a:pt x="15" y="1768"/>
                  </a:lnTo>
                  <a:lnTo>
                    <a:pt x="0" y="1768"/>
                  </a:lnTo>
                  <a:lnTo>
                    <a:pt x="0" y="1754"/>
                  </a:lnTo>
                  <a:lnTo>
                    <a:pt x="15" y="1754"/>
                  </a:lnTo>
                  <a:close/>
                  <a:moveTo>
                    <a:pt x="15" y="1782"/>
                  </a:moveTo>
                  <a:lnTo>
                    <a:pt x="15" y="1795"/>
                  </a:lnTo>
                  <a:lnTo>
                    <a:pt x="0" y="1795"/>
                  </a:lnTo>
                  <a:lnTo>
                    <a:pt x="0" y="1782"/>
                  </a:lnTo>
                  <a:lnTo>
                    <a:pt x="15" y="1782"/>
                  </a:lnTo>
                  <a:close/>
                  <a:moveTo>
                    <a:pt x="15" y="1809"/>
                  </a:moveTo>
                  <a:lnTo>
                    <a:pt x="15" y="1823"/>
                  </a:lnTo>
                  <a:lnTo>
                    <a:pt x="0" y="1823"/>
                  </a:lnTo>
                  <a:lnTo>
                    <a:pt x="0" y="1809"/>
                  </a:lnTo>
                  <a:lnTo>
                    <a:pt x="15" y="1809"/>
                  </a:lnTo>
                  <a:close/>
                  <a:moveTo>
                    <a:pt x="15" y="1837"/>
                  </a:moveTo>
                  <a:lnTo>
                    <a:pt x="15" y="1851"/>
                  </a:lnTo>
                  <a:lnTo>
                    <a:pt x="0" y="1851"/>
                  </a:lnTo>
                  <a:lnTo>
                    <a:pt x="0" y="1837"/>
                  </a:lnTo>
                  <a:lnTo>
                    <a:pt x="15" y="1837"/>
                  </a:lnTo>
                  <a:close/>
                  <a:moveTo>
                    <a:pt x="15" y="1865"/>
                  </a:moveTo>
                  <a:lnTo>
                    <a:pt x="15" y="1879"/>
                  </a:lnTo>
                  <a:lnTo>
                    <a:pt x="0" y="1879"/>
                  </a:lnTo>
                  <a:lnTo>
                    <a:pt x="0" y="1865"/>
                  </a:lnTo>
                  <a:lnTo>
                    <a:pt x="15" y="1865"/>
                  </a:lnTo>
                  <a:close/>
                  <a:moveTo>
                    <a:pt x="15" y="1893"/>
                  </a:moveTo>
                  <a:lnTo>
                    <a:pt x="15" y="1907"/>
                  </a:lnTo>
                  <a:lnTo>
                    <a:pt x="0" y="1907"/>
                  </a:lnTo>
                  <a:lnTo>
                    <a:pt x="0" y="1893"/>
                  </a:lnTo>
                  <a:lnTo>
                    <a:pt x="15" y="1893"/>
                  </a:lnTo>
                  <a:close/>
                  <a:moveTo>
                    <a:pt x="15" y="1921"/>
                  </a:moveTo>
                  <a:lnTo>
                    <a:pt x="15" y="1935"/>
                  </a:lnTo>
                  <a:lnTo>
                    <a:pt x="0" y="1935"/>
                  </a:lnTo>
                  <a:lnTo>
                    <a:pt x="0" y="1921"/>
                  </a:lnTo>
                  <a:lnTo>
                    <a:pt x="15" y="1921"/>
                  </a:lnTo>
                  <a:close/>
                  <a:moveTo>
                    <a:pt x="15" y="1949"/>
                  </a:moveTo>
                  <a:lnTo>
                    <a:pt x="15" y="1962"/>
                  </a:lnTo>
                  <a:lnTo>
                    <a:pt x="0" y="1962"/>
                  </a:lnTo>
                  <a:lnTo>
                    <a:pt x="0" y="1949"/>
                  </a:lnTo>
                  <a:lnTo>
                    <a:pt x="15" y="1949"/>
                  </a:lnTo>
                  <a:close/>
                  <a:moveTo>
                    <a:pt x="15" y="1976"/>
                  </a:moveTo>
                  <a:lnTo>
                    <a:pt x="15" y="1990"/>
                  </a:lnTo>
                  <a:lnTo>
                    <a:pt x="0" y="1990"/>
                  </a:lnTo>
                  <a:lnTo>
                    <a:pt x="0" y="1976"/>
                  </a:lnTo>
                  <a:lnTo>
                    <a:pt x="15" y="1976"/>
                  </a:lnTo>
                  <a:close/>
                  <a:moveTo>
                    <a:pt x="15" y="2004"/>
                  </a:moveTo>
                  <a:lnTo>
                    <a:pt x="15" y="2018"/>
                  </a:lnTo>
                  <a:lnTo>
                    <a:pt x="0" y="2018"/>
                  </a:lnTo>
                  <a:lnTo>
                    <a:pt x="0" y="2004"/>
                  </a:lnTo>
                  <a:lnTo>
                    <a:pt x="15" y="2004"/>
                  </a:lnTo>
                  <a:close/>
                  <a:moveTo>
                    <a:pt x="15" y="2032"/>
                  </a:moveTo>
                  <a:lnTo>
                    <a:pt x="15" y="2046"/>
                  </a:lnTo>
                  <a:lnTo>
                    <a:pt x="0" y="2046"/>
                  </a:lnTo>
                  <a:lnTo>
                    <a:pt x="0" y="2032"/>
                  </a:lnTo>
                  <a:lnTo>
                    <a:pt x="15" y="2032"/>
                  </a:lnTo>
                  <a:close/>
                  <a:moveTo>
                    <a:pt x="15" y="2060"/>
                  </a:moveTo>
                  <a:lnTo>
                    <a:pt x="15" y="2074"/>
                  </a:lnTo>
                  <a:lnTo>
                    <a:pt x="0" y="2074"/>
                  </a:lnTo>
                  <a:lnTo>
                    <a:pt x="0" y="2060"/>
                  </a:lnTo>
                  <a:lnTo>
                    <a:pt x="15" y="2060"/>
                  </a:lnTo>
                  <a:close/>
                  <a:moveTo>
                    <a:pt x="15" y="2087"/>
                  </a:moveTo>
                  <a:lnTo>
                    <a:pt x="15" y="2102"/>
                  </a:lnTo>
                  <a:lnTo>
                    <a:pt x="0" y="2102"/>
                  </a:lnTo>
                  <a:lnTo>
                    <a:pt x="0" y="2087"/>
                  </a:lnTo>
                  <a:lnTo>
                    <a:pt x="15" y="2087"/>
                  </a:lnTo>
                  <a:close/>
                  <a:moveTo>
                    <a:pt x="15" y="2116"/>
                  </a:moveTo>
                  <a:lnTo>
                    <a:pt x="15" y="2129"/>
                  </a:lnTo>
                  <a:lnTo>
                    <a:pt x="0" y="2129"/>
                  </a:lnTo>
                  <a:lnTo>
                    <a:pt x="0" y="2116"/>
                  </a:lnTo>
                  <a:lnTo>
                    <a:pt x="15" y="2116"/>
                  </a:lnTo>
                  <a:close/>
                  <a:moveTo>
                    <a:pt x="15" y="2143"/>
                  </a:moveTo>
                  <a:lnTo>
                    <a:pt x="15" y="2157"/>
                  </a:lnTo>
                  <a:lnTo>
                    <a:pt x="0" y="2157"/>
                  </a:lnTo>
                  <a:lnTo>
                    <a:pt x="0" y="2143"/>
                  </a:lnTo>
                  <a:lnTo>
                    <a:pt x="15" y="2143"/>
                  </a:lnTo>
                  <a:close/>
                  <a:moveTo>
                    <a:pt x="15" y="2171"/>
                  </a:moveTo>
                  <a:lnTo>
                    <a:pt x="15" y="2185"/>
                  </a:lnTo>
                  <a:lnTo>
                    <a:pt x="0" y="2185"/>
                  </a:lnTo>
                  <a:lnTo>
                    <a:pt x="0" y="2171"/>
                  </a:lnTo>
                  <a:lnTo>
                    <a:pt x="15" y="2171"/>
                  </a:lnTo>
                  <a:close/>
                  <a:moveTo>
                    <a:pt x="15" y="2199"/>
                  </a:moveTo>
                  <a:lnTo>
                    <a:pt x="15" y="2213"/>
                  </a:lnTo>
                  <a:lnTo>
                    <a:pt x="0" y="2213"/>
                  </a:lnTo>
                  <a:lnTo>
                    <a:pt x="0" y="2199"/>
                  </a:lnTo>
                  <a:lnTo>
                    <a:pt x="15" y="2199"/>
                  </a:lnTo>
                  <a:close/>
                  <a:moveTo>
                    <a:pt x="15" y="2227"/>
                  </a:moveTo>
                  <a:lnTo>
                    <a:pt x="15" y="2241"/>
                  </a:lnTo>
                  <a:lnTo>
                    <a:pt x="0" y="2241"/>
                  </a:lnTo>
                  <a:lnTo>
                    <a:pt x="0" y="2227"/>
                  </a:lnTo>
                  <a:lnTo>
                    <a:pt x="15" y="2227"/>
                  </a:lnTo>
                  <a:close/>
                  <a:moveTo>
                    <a:pt x="15" y="2254"/>
                  </a:moveTo>
                  <a:lnTo>
                    <a:pt x="15" y="2268"/>
                  </a:lnTo>
                  <a:lnTo>
                    <a:pt x="0" y="2268"/>
                  </a:lnTo>
                  <a:lnTo>
                    <a:pt x="0" y="2254"/>
                  </a:lnTo>
                  <a:lnTo>
                    <a:pt x="15" y="2254"/>
                  </a:lnTo>
                  <a:close/>
                  <a:moveTo>
                    <a:pt x="15" y="2283"/>
                  </a:moveTo>
                  <a:lnTo>
                    <a:pt x="15" y="2296"/>
                  </a:lnTo>
                  <a:lnTo>
                    <a:pt x="0" y="2296"/>
                  </a:lnTo>
                  <a:lnTo>
                    <a:pt x="0" y="2283"/>
                  </a:lnTo>
                  <a:lnTo>
                    <a:pt x="15" y="2283"/>
                  </a:lnTo>
                  <a:close/>
                  <a:moveTo>
                    <a:pt x="15" y="2310"/>
                  </a:moveTo>
                  <a:lnTo>
                    <a:pt x="15" y="2324"/>
                  </a:lnTo>
                  <a:lnTo>
                    <a:pt x="0" y="2324"/>
                  </a:lnTo>
                  <a:lnTo>
                    <a:pt x="0" y="2310"/>
                  </a:lnTo>
                  <a:lnTo>
                    <a:pt x="15" y="2310"/>
                  </a:lnTo>
                  <a:close/>
                  <a:moveTo>
                    <a:pt x="15" y="2338"/>
                  </a:moveTo>
                  <a:lnTo>
                    <a:pt x="15" y="2352"/>
                  </a:lnTo>
                  <a:lnTo>
                    <a:pt x="0" y="2352"/>
                  </a:lnTo>
                  <a:lnTo>
                    <a:pt x="0" y="2338"/>
                  </a:lnTo>
                  <a:lnTo>
                    <a:pt x="15" y="2338"/>
                  </a:lnTo>
                  <a:close/>
                  <a:moveTo>
                    <a:pt x="15" y="2366"/>
                  </a:moveTo>
                  <a:lnTo>
                    <a:pt x="15" y="2380"/>
                  </a:lnTo>
                  <a:lnTo>
                    <a:pt x="0" y="2380"/>
                  </a:lnTo>
                  <a:lnTo>
                    <a:pt x="0" y="2366"/>
                  </a:lnTo>
                  <a:lnTo>
                    <a:pt x="15" y="2366"/>
                  </a:lnTo>
                  <a:close/>
                  <a:moveTo>
                    <a:pt x="15" y="2394"/>
                  </a:moveTo>
                  <a:lnTo>
                    <a:pt x="15" y="2408"/>
                  </a:lnTo>
                  <a:lnTo>
                    <a:pt x="0" y="2408"/>
                  </a:lnTo>
                  <a:lnTo>
                    <a:pt x="0" y="2394"/>
                  </a:lnTo>
                  <a:lnTo>
                    <a:pt x="15" y="2394"/>
                  </a:lnTo>
                  <a:close/>
                  <a:moveTo>
                    <a:pt x="15" y="2421"/>
                  </a:moveTo>
                  <a:lnTo>
                    <a:pt x="15" y="2435"/>
                  </a:lnTo>
                  <a:lnTo>
                    <a:pt x="0" y="2435"/>
                  </a:lnTo>
                  <a:lnTo>
                    <a:pt x="0" y="2421"/>
                  </a:lnTo>
                  <a:lnTo>
                    <a:pt x="15" y="2421"/>
                  </a:lnTo>
                  <a:close/>
                  <a:moveTo>
                    <a:pt x="15" y="2449"/>
                  </a:moveTo>
                  <a:lnTo>
                    <a:pt x="15" y="2453"/>
                  </a:lnTo>
                  <a:lnTo>
                    <a:pt x="0" y="2453"/>
                  </a:lnTo>
                  <a:lnTo>
                    <a:pt x="0" y="2449"/>
                  </a:lnTo>
                  <a:lnTo>
                    <a:pt x="15" y="2449"/>
                  </a:lnTo>
                  <a:close/>
                </a:path>
              </a:pathLst>
            </a:custGeom>
            <a:solidFill>
              <a:srgbClr val="000000"/>
            </a:solidFill>
            <a:ln w="0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490" name="Freeform 32">
              <a:extLst>
                <a:ext uri="{FF2B5EF4-FFF2-40B4-BE49-F238E27FC236}">
                  <a16:creationId xmlns:a16="http://schemas.microsoft.com/office/drawing/2014/main" id="{36DEFE5E-5771-4759-D685-EDBF0A57581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620254" y="3078501"/>
              <a:ext cx="18000" cy="3726773"/>
            </a:xfrm>
            <a:custGeom>
              <a:avLst/>
              <a:gdLst>
                <a:gd name="T0" fmla="*/ 14 w 14"/>
                <a:gd name="T1" fmla="*/ 42 h 2453"/>
                <a:gd name="T2" fmla="*/ 0 w 14"/>
                <a:gd name="T3" fmla="*/ 56 h 2453"/>
                <a:gd name="T4" fmla="*/ 14 w 14"/>
                <a:gd name="T5" fmla="*/ 112 h 2453"/>
                <a:gd name="T6" fmla="*/ 0 w 14"/>
                <a:gd name="T7" fmla="*/ 154 h 2453"/>
                <a:gd name="T8" fmla="*/ 14 w 14"/>
                <a:gd name="T9" fmla="*/ 167 h 2453"/>
                <a:gd name="T10" fmla="*/ 14 w 14"/>
                <a:gd name="T11" fmla="*/ 237 h 2453"/>
                <a:gd name="T12" fmla="*/ 0 w 14"/>
                <a:gd name="T13" fmla="*/ 251 h 2453"/>
                <a:gd name="T14" fmla="*/ 14 w 14"/>
                <a:gd name="T15" fmla="*/ 307 h 2453"/>
                <a:gd name="T16" fmla="*/ 0 w 14"/>
                <a:gd name="T17" fmla="*/ 348 h 2453"/>
                <a:gd name="T18" fmla="*/ 14 w 14"/>
                <a:gd name="T19" fmla="*/ 362 h 2453"/>
                <a:gd name="T20" fmla="*/ 14 w 14"/>
                <a:gd name="T21" fmla="*/ 432 h 2453"/>
                <a:gd name="T22" fmla="*/ 0 w 14"/>
                <a:gd name="T23" fmla="*/ 446 h 2453"/>
                <a:gd name="T24" fmla="*/ 14 w 14"/>
                <a:gd name="T25" fmla="*/ 501 h 2453"/>
                <a:gd name="T26" fmla="*/ 0 w 14"/>
                <a:gd name="T27" fmla="*/ 543 h 2453"/>
                <a:gd name="T28" fmla="*/ 14 w 14"/>
                <a:gd name="T29" fmla="*/ 557 h 2453"/>
                <a:gd name="T30" fmla="*/ 14 w 14"/>
                <a:gd name="T31" fmla="*/ 627 h 2453"/>
                <a:gd name="T32" fmla="*/ 0 w 14"/>
                <a:gd name="T33" fmla="*/ 641 h 2453"/>
                <a:gd name="T34" fmla="*/ 14 w 14"/>
                <a:gd name="T35" fmla="*/ 696 h 2453"/>
                <a:gd name="T36" fmla="*/ 0 w 14"/>
                <a:gd name="T37" fmla="*/ 738 h 2453"/>
                <a:gd name="T38" fmla="*/ 14 w 14"/>
                <a:gd name="T39" fmla="*/ 752 h 2453"/>
                <a:gd name="T40" fmla="*/ 14 w 14"/>
                <a:gd name="T41" fmla="*/ 822 h 2453"/>
                <a:gd name="T42" fmla="*/ 0 w 14"/>
                <a:gd name="T43" fmla="*/ 835 h 2453"/>
                <a:gd name="T44" fmla="*/ 14 w 14"/>
                <a:gd name="T45" fmla="*/ 891 h 2453"/>
                <a:gd name="T46" fmla="*/ 0 w 14"/>
                <a:gd name="T47" fmla="*/ 933 h 2453"/>
                <a:gd name="T48" fmla="*/ 14 w 14"/>
                <a:gd name="T49" fmla="*/ 947 h 2453"/>
                <a:gd name="T50" fmla="*/ 14 w 14"/>
                <a:gd name="T51" fmla="*/ 1016 h 2453"/>
                <a:gd name="T52" fmla="*/ 0 w 14"/>
                <a:gd name="T53" fmla="*/ 1030 h 2453"/>
                <a:gd name="T54" fmla="*/ 14 w 14"/>
                <a:gd name="T55" fmla="*/ 1086 h 2453"/>
                <a:gd name="T56" fmla="*/ 0 w 14"/>
                <a:gd name="T57" fmla="*/ 1127 h 2453"/>
                <a:gd name="T58" fmla="*/ 14 w 14"/>
                <a:gd name="T59" fmla="*/ 1141 h 2453"/>
                <a:gd name="T60" fmla="*/ 14 w 14"/>
                <a:gd name="T61" fmla="*/ 1211 h 2453"/>
                <a:gd name="T62" fmla="*/ 0 w 14"/>
                <a:gd name="T63" fmla="*/ 1225 h 2453"/>
                <a:gd name="T64" fmla="*/ 14 w 14"/>
                <a:gd name="T65" fmla="*/ 1281 h 2453"/>
                <a:gd name="T66" fmla="*/ 0 w 14"/>
                <a:gd name="T67" fmla="*/ 1322 h 2453"/>
                <a:gd name="T68" fmla="*/ 14 w 14"/>
                <a:gd name="T69" fmla="*/ 1336 h 2453"/>
                <a:gd name="T70" fmla="*/ 14 w 14"/>
                <a:gd name="T71" fmla="*/ 1406 h 2453"/>
                <a:gd name="T72" fmla="*/ 0 w 14"/>
                <a:gd name="T73" fmla="*/ 1420 h 2453"/>
                <a:gd name="T74" fmla="*/ 14 w 14"/>
                <a:gd name="T75" fmla="*/ 1475 h 2453"/>
                <a:gd name="T76" fmla="*/ 0 w 14"/>
                <a:gd name="T77" fmla="*/ 1517 h 2453"/>
                <a:gd name="T78" fmla="*/ 14 w 14"/>
                <a:gd name="T79" fmla="*/ 1531 h 2453"/>
                <a:gd name="T80" fmla="*/ 14 w 14"/>
                <a:gd name="T81" fmla="*/ 1601 h 2453"/>
                <a:gd name="T82" fmla="*/ 0 w 14"/>
                <a:gd name="T83" fmla="*/ 1615 h 2453"/>
                <a:gd name="T84" fmla="*/ 14 w 14"/>
                <a:gd name="T85" fmla="*/ 1670 h 2453"/>
                <a:gd name="T86" fmla="*/ 0 w 14"/>
                <a:gd name="T87" fmla="*/ 1712 h 2453"/>
                <a:gd name="T88" fmla="*/ 14 w 14"/>
                <a:gd name="T89" fmla="*/ 1726 h 2453"/>
                <a:gd name="T90" fmla="*/ 14 w 14"/>
                <a:gd name="T91" fmla="*/ 1795 h 2453"/>
                <a:gd name="T92" fmla="*/ 0 w 14"/>
                <a:gd name="T93" fmla="*/ 1809 h 2453"/>
                <a:gd name="T94" fmla="*/ 14 w 14"/>
                <a:gd name="T95" fmla="*/ 1865 h 2453"/>
                <a:gd name="T96" fmla="*/ 0 w 14"/>
                <a:gd name="T97" fmla="*/ 1907 h 2453"/>
                <a:gd name="T98" fmla="*/ 14 w 14"/>
                <a:gd name="T99" fmla="*/ 1921 h 2453"/>
                <a:gd name="T100" fmla="*/ 14 w 14"/>
                <a:gd name="T101" fmla="*/ 1990 h 2453"/>
                <a:gd name="T102" fmla="*/ 0 w 14"/>
                <a:gd name="T103" fmla="*/ 2004 h 2453"/>
                <a:gd name="T104" fmla="*/ 14 w 14"/>
                <a:gd name="T105" fmla="*/ 2060 h 2453"/>
                <a:gd name="T106" fmla="*/ 0 w 14"/>
                <a:gd name="T107" fmla="*/ 2102 h 2453"/>
                <a:gd name="T108" fmla="*/ 14 w 14"/>
                <a:gd name="T109" fmla="*/ 2116 h 2453"/>
                <a:gd name="T110" fmla="*/ 14 w 14"/>
                <a:gd name="T111" fmla="*/ 2185 h 2453"/>
                <a:gd name="T112" fmla="*/ 0 w 14"/>
                <a:gd name="T113" fmla="*/ 2199 h 2453"/>
                <a:gd name="T114" fmla="*/ 14 w 14"/>
                <a:gd name="T115" fmla="*/ 2254 h 2453"/>
                <a:gd name="T116" fmla="*/ 0 w 14"/>
                <a:gd name="T117" fmla="*/ 2296 h 2453"/>
                <a:gd name="T118" fmla="*/ 14 w 14"/>
                <a:gd name="T119" fmla="*/ 2310 h 2453"/>
                <a:gd name="T120" fmla="*/ 14 w 14"/>
                <a:gd name="T121" fmla="*/ 2380 h 2453"/>
                <a:gd name="T122" fmla="*/ 0 w 14"/>
                <a:gd name="T123" fmla="*/ 2394 h 2453"/>
                <a:gd name="T124" fmla="*/ 14 w 14"/>
                <a:gd name="T125" fmla="*/ 2449 h 24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4" h="2453">
                  <a:moveTo>
                    <a:pt x="14" y="0"/>
                  </a:moveTo>
                  <a:lnTo>
                    <a:pt x="14" y="14"/>
                  </a:lnTo>
                  <a:lnTo>
                    <a:pt x="0" y="14"/>
                  </a:lnTo>
                  <a:lnTo>
                    <a:pt x="0" y="0"/>
                  </a:lnTo>
                  <a:lnTo>
                    <a:pt x="14" y="0"/>
                  </a:lnTo>
                  <a:close/>
                  <a:moveTo>
                    <a:pt x="14" y="28"/>
                  </a:moveTo>
                  <a:lnTo>
                    <a:pt x="14" y="42"/>
                  </a:lnTo>
                  <a:lnTo>
                    <a:pt x="0" y="42"/>
                  </a:lnTo>
                  <a:lnTo>
                    <a:pt x="0" y="28"/>
                  </a:lnTo>
                  <a:lnTo>
                    <a:pt x="14" y="28"/>
                  </a:lnTo>
                  <a:close/>
                  <a:moveTo>
                    <a:pt x="14" y="56"/>
                  </a:moveTo>
                  <a:lnTo>
                    <a:pt x="14" y="70"/>
                  </a:lnTo>
                  <a:lnTo>
                    <a:pt x="0" y="70"/>
                  </a:lnTo>
                  <a:lnTo>
                    <a:pt x="0" y="56"/>
                  </a:lnTo>
                  <a:lnTo>
                    <a:pt x="14" y="56"/>
                  </a:lnTo>
                  <a:close/>
                  <a:moveTo>
                    <a:pt x="14" y="84"/>
                  </a:moveTo>
                  <a:lnTo>
                    <a:pt x="14" y="98"/>
                  </a:lnTo>
                  <a:lnTo>
                    <a:pt x="0" y="98"/>
                  </a:lnTo>
                  <a:lnTo>
                    <a:pt x="0" y="84"/>
                  </a:lnTo>
                  <a:lnTo>
                    <a:pt x="14" y="84"/>
                  </a:lnTo>
                  <a:close/>
                  <a:moveTo>
                    <a:pt x="14" y="112"/>
                  </a:moveTo>
                  <a:lnTo>
                    <a:pt x="14" y="126"/>
                  </a:lnTo>
                  <a:lnTo>
                    <a:pt x="0" y="126"/>
                  </a:lnTo>
                  <a:lnTo>
                    <a:pt x="0" y="112"/>
                  </a:lnTo>
                  <a:lnTo>
                    <a:pt x="14" y="112"/>
                  </a:lnTo>
                  <a:close/>
                  <a:moveTo>
                    <a:pt x="14" y="140"/>
                  </a:moveTo>
                  <a:lnTo>
                    <a:pt x="14" y="154"/>
                  </a:lnTo>
                  <a:lnTo>
                    <a:pt x="0" y="154"/>
                  </a:lnTo>
                  <a:lnTo>
                    <a:pt x="0" y="140"/>
                  </a:lnTo>
                  <a:lnTo>
                    <a:pt x="14" y="140"/>
                  </a:lnTo>
                  <a:close/>
                  <a:moveTo>
                    <a:pt x="14" y="167"/>
                  </a:moveTo>
                  <a:lnTo>
                    <a:pt x="14" y="181"/>
                  </a:lnTo>
                  <a:lnTo>
                    <a:pt x="0" y="181"/>
                  </a:lnTo>
                  <a:lnTo>
                    <a:pt x="0" y="167"/>
                  </a:lnTo>
                  <a:lnTo>
                    <a:pt x="14" y="167"/>
                  </a:lnTo>
                  <a:close/>
                  <a:moveTo>
                    <a:pt x="14" y="195"/>
                  </a:moveTo>
                  <a:lnTo>
                    <a:pt x="14" y="209"/>
                  </a:lnTo>
                  <a:lnTo>
                    <a:pt x="0" y="209"/>
                  </a:lnTo>
                  <a:lnTo>
                    <a:pt x="0" y="195"/>
                  </a:lnTo>
                  <a:lnTo>
                    <a:pt x="14" y="195"/>
                  </a:lnTo>
                  <a:close/>
                  <a:moveTo>
                    <a:pt x="14" y="223"/>
                  </a:moveTo>
                  <a:lnTo>
                    <a:pt x="14" y="237"/>
                  </a:lnTo>
                  <a:lnTo>
                    <a:pt x="0" y="237"/>
                  </a:lnTo>
                  <a:lnTo>
                    <a:pt x="0" y="223"/>
                  </a:lnTo>
                  <a:lnTo>
                    <a:pt x="14" y="223"/>
                  </a:lnTo>
                  <a:close/>
                  <a:moveTo>
                    <a:pt x="14" y="251"/>
                  </a:moveTo>
                  <a:lnTo>
                    <a:pt x="14" y="265"/>
                  </a:lnTo>
                  <a:lnTo>
                    <a:pt x="0" y="265"/>
                  </a:lnTo>
                  <a:lnTo>
                    <a:pt x="0" y="251"/>
                  </a:lnTo>
                  <a:lnTo>
                    <a:pt x="14" y="251"/>
                  </a:lnTo>
                  <a:close/>
                  <a:moveTo>
                    <a:pt x="14" y="279"/>
                  </a:moveTo>
                  <a:lnTo>
                    <a:pt x="14" y="293"/>
                  </a:lnTo>
                  <a:lnTo>
                    <a:pt x="0" y="293"/>
                  </a:lnTo>
                  <a:lnTo>
                    <a:pt x="0" y="279"/>
                  </a:lnTo>
                  <a:lnTo>
                    <a:pt x="14" y="279"/>
                  </a:lnTo>
                  <a:close/>
                  <a:moveTo>
                    <a:pt x="14" y="307"/>
                  </a:moveTo>
                  <a:lnTo>
                    <a:pt x="14" y="321"/>
                  </a:lnTo>
                  <a:lnTo>
                    <a:pt x="0" y="321"/>
                  </a:lnTo>
                  <a:lnTo>
                    <a:pt x="0" y="307"/>
                  </a:lnTo>
                  <a:lnTo>
                    <a:pt x="14" y="307"/>
                  </a:lnTo>
                  <a:close/>
                  <a:moveTo>
                    <a:pt x="14" y="334"/>
                  </a:moveTo>
                  <a:lnTo>
                    <a:pt x="14" y="348"/>
                  </a:lnTo>
                  <a:lnTo>
                    <a:pt x="0" y="348"/>
                  </a:lnTo>
                  <a:lnTo>
                    <a:pt x="0" y="334"/>
                  </a:lnTo>
                  <a:lnTo>
                    <a:pt x="14" y="334"/>
                  </a:lnTo>
                  <a:close/>
                  <a:moveTo>
                    <a:pt x="14" y="362"/>
                  </a:moveTo>
                  <a:lnTo>
                    <a:pt x="14" y="376"/>
                  </a:lnTo>
                  <a:lnTo>
                    <a:pt x="0" y="376"/>
                  </a:lnTo>
                  <a:lnTo>
                    <a:pt x="0" y="362"/>
                  </a:lnTo>
                  <a:lnTo>
                    <a:pt x="14" y="362"/>
                  </a:lnTo>
                  <a:close/>
                  <a:moveTo>
                    <a:pt x="14" y="390"/>
                  </a:moveTo>
                  <a:lnTo>
                    <a:pt x="14" y="404"/>
                  </a:lnTo>
                  <a:lnTo>
                    <a:pt x="0" y="404"/>
                  </a:lnTo>
                  <a:lnTo>
                    <a:pt x="0" y="390"/>
                  </a:lnTo>
                  <a:lnTo>
                    <a:pt x="14" y="390"/>
                  </a:lnTo>
                  <a:close/>
                  <a:moveTo>
                    <a:pt x="14" y="418"/>
                  </a:moveTo>
                  <a:lnTo>
                    <a:pt x="14" y="432"/>
                  </a:lnTo>
                  <a:lnTo>
                    <a:pt x="0" y="432"/>
                  </a:lnTo>
                  <a:lnTo>
                    <a:pt x="0" y="418"/>
                  </a:lnTo>
                  <a:lnTo>
                    <a:pt x="14" y="418"/>
                  </a:lnTo>
                  <a:close/>
                  <a:moveTo>
                    <a:pt x="14" y="446"/>
                  </a:moveTo>
                  <a:lnTo>
                    <a:pt x="14" y="460"/>
                  </a:lnTo>
                  <a:lnTo>
                    <a:pt x="0" y="460"/>
                  </a:lnTo>
                  <a:lnTo>
                    <a:pt x="0" y="446"/>
                  </a:lnTo>
                  <a:lnTo>
                    <a:pt x="14" y="446"/>
                  </a:lnTo>
                  <a:close/>
                  <a:moveTo>
                    <a:pt x="14" y="474"/>
                  </a:moveTo>
                  <a:lnTo>
                    <a:pt x="14" y="488"/>
                  </a:lnTo>
                  <a:lnTo>
                    <a:pt x="0" y="488"/>
                  </a:lnTo>
                  <a:lnTo>
                    <a:pt x="0" y="474"/>
                  </a:lnTo>
                  <a:lnTo>
                    <a:pt x="14" y="474"/>
                  </a:lnTo>
                  <a:close/>
                  <a:moveTo>
                    <a:pt x="14" y="501"/>
                  </a:moveTo>
                  <a:lnTo>
                    <a:pt x="14" y="515"/>
                  </a:lnTo>
                  <a:lnTo>
                    <a:pt x="0" y="515"/>
                  </a:lnTo>
                  <a:lnTo>
                    <a:pt x="0" y="501"/>
                  </a:lnTo>
                  <a:lnTo>
                    <a:pt x="14" y="501"/>
                  </a:lnTo>
                  <a:close/>
                  <a:moveTo>
                    <a:pt x="14" y="529"/>
                  </a:moveTo>
                  <a:lnTo>
                    <a:pt x="14" y="543"/>
                  </a:lnTo>
                  <a:lnTo>
                    <a:pt x="0" y="543"/>
                  </a:lnTo>
                  <a:lnTo>
                    <a:pt x="0" y="529"/>
                  </a:lnTo>
                  <a:lnTo>
                    <a:pt x="14" y="529"/>
                  </a:lnTo>
                  <a:close/>
                  <a:moveTo>
                    <a:pt x="14" y="557"/>
                  </a:moveTo>
                  <a:lnTo>
                    <a:pt x="14" y="571"/>
                  </a:lnTo>
                  <a:lnTo>
                    <a:pt x="0" y="571"/>
                  </a:lnTo>
                  <a:lnTo>
                    <a:pt x="0" y="557"/>
                  </a:lnTo>
                  <a:lnTo>
                    <a:pt x="14" y="557"/>
                  </a:lnTo>
                  <a:close/>
                  <a:moveTo>
                    <a:pt x="14" y="585"/>
                  </a:moveTo>
                  <a:lnTo>
                    <a:pt x="14" y="599"/>
                  </a:lnTo>
                  <a:lnTo>
                    <a:pt x="0" y="599"/>
                  </a:lnTo>
                  <a:lnTo>
                    <a:pt x="0" y="585"/>
                  </a:lnTo>
                  <a:lnTo>
                    <a:pt x="14" y="585"/>
                  </a:lnTo>
                  <a:close/>
                  <a:moveTo>
                    <a:pt x="14" y="613"/>
                  </a:moveTo>
                  <a:lnTo>
                    <a:pt x="14" y="627"/>
                  </a:lnTo>
                  <a:lnTo>
                    <a:pt x="0" y="627"/>
                  </a:lnTo>
                  <a:lnTo>
                    <a:pt x="0" y="613"/>
                  </a:lnTo>
                  <a:lnTo>
                    <a:pt x="14" y="613"/>
                  </a:lnTo>
                  <a:close/>
                  <a:moveTo>
                    <a:pt x="14" y="641"/>
                  </a:moveTo>
                  <a:lnTo>
                    <a:pt x="14" y="655"/>
                  </a:lnTo>
                  <a:lnTo>
                    <a:pt x="0" y="655"/>
                  </a:lnTo>
                  <a:lnTo>
                    <a:pt x="0" y="641"/>
                  </a:lnTo>
                  <a:lnTo>
                    <a:pt x="14" y="641"/>
                  </a:lnTo>
                  <a:close/>
                  <a:moveTo>
                    <a:pt x="14" y="668"/>
                  </a:moveTo>
                  <a:lnTo>
                    <a:pt x="14" y="682"/>
                  </a:lnTo>
                  <a:lnTo>
                    <a:pt x="0" y="682"/>
                  </a:lnTo>
                  <a:lnTo>
                    <a:pt x="0" y="668"/>
                  </a:lnTo>
                  <a:lnTo>
                    <a:pt x="14" y="668"/>
                  </a:lnTo>
                  <a:close/>
                  <a:moveTo>
                    <a:pt x="14" y="696"/>
                  </a:moveTo>
                  <a:lnTo>
                    <a:pt x="14" y="710"/>
                  </a:lnTo>
                  <a:lnTo>
                    <a:pt x="0" y="710"/>
                  </a:lnTo>
                  <a:lnTo>
                    <a:pt x="0" y="696"/>
                  </a:lnTo>
                  <a:lnTo>
                    <a:pt x="14" y="696"/>
                  </a:lnTo>
                  <a:close/>
                  <a:moveTo>
                    <a:pt x="14" y="724"/>
                  </a:moveTo>
                  <a:lnTo>
                    <a:pt x="14" y="738"/>
                  </a:lnTo>
                  <a:lnTo>
                    <a:pt x="0" y="738"/>
                  </a:lnTo>
                  <a:lnTo>
                    <a:pt x="0" y="724"/>
                  </a:lnTo>
                  <a:lnTo>
                    <a:pt x="14" y="724"/>
                  </a:lnTo>
                  <a:close/>
                  <a:moveTo>
                    <a:pt x="14" y="752"/>
                  </a:moveTo>
                  <a:lnTo>
                    <a:pt x="14" y="766"/>
                  </a:lnTo>
                  <a:lnTo>
                    <a:pt x="0" y="766"/>
                  </a:lnTo>
                  <a:lnTo>
                    <a:pt x="0" y="752"/>
                  </a:lnTo>
                  <a:lnTo>
                    <a:pt x="14" y="752"/>
                  </a:lnTo>
                  <a:close/>
                  <a:moveTo>
                    <a:pt x="14" y="780"/>
                  </a:moveTo>
                  <a:lnTo>
                    <a:pt x="14" y="793"/>
                  </a:lnTo>
                  <a:lnTo>
                    <a:pt x="0" y="793"/>
                  </a:lnTo>
                  <a:lnTo>
                    <a:pt x="0" y="780"/>
                  </a:lnTo>
                  <a:lnTo>
                    <a:pt x="14" y="780"/>
                  </a:lnTo>
                  <a:close/>
                  <a:moveTo>
                    <a:pt x="14" y="808"/>
                  </a:moveTo>
                  <a:lnTo>
                    <a:pt x="14" y="822"/>
                  </a:lnTo>
                  <a:lnTo>
                    <a:pt x="0" y="822"/>
                  </a:lnTo>
                  <a:lnTo>
                    <a:pt x="0" y="808"/>
                  </a:lnTo>
                  <a:lnTo>
                    <a:pt x="14" y="808"/>
                  </a:lnTo>
                  <a:close/>
                  <a:moveTo>
                    <a:pt x="14" y="835"/>
                  </a:moveTo>
                  <a:lnTo>
                    <a:pt x="14" y="849"/>
                  </a:lnTo>
                  <a:lnTo>
                    <a:pt x="0" y="849"/>
                  </a:lnTo>
                  <a:lnTo>
                    <a:pt x="0" y="835"/>
                  </a:lnTo>
                  <a:lnTo>
                    <a:pt x="14" y="835"/>
                  </a:lnTo>
                  <a:close/>
                  <a:moveTo>
                    <a:pt x="14" y="863"/>
                  </a:moveTo>
                  <a:lnTo>
                    <a:pt x="14" y="877"/>
                  </a:lnTo>
                  <a:lnTo>
                    <a:pt x="0" y="877"/>
                  </a:lnTo>
                  <a:lnTo>
                    <a:pt x="0" y="863"/>
                  </a:lnTo>
                  <a:lnTo>
                    <a:pt x="14" y="863"/>
                  </a:lnTo>
                  <a:close/>
                  <a:moveTo>
                    <a:pt x="14" y="891"/>
                  </a:moveTo>
                  <a:lnTo>
                    <a:pt x="14" y="905"/>
                  </a:lnTo>
                  <a:lnTo>
                    <a:pt x="0" y="905"/>
                  </a:lnTo>
                  <a:lnTo>
                    <a:pt x="0" y="891"/>
                  </a:lnTo>
                  <a:lnTo>
                    <a:pt x="14" y="891"/>
                  </a:lnTo>
                  <a:close/>
                  <a:moveTo>
                    <a:pt x="14" y="919"/>
                  </a:moveTo>
                  <a:lnTo>
                    <a:pt x="14" y="933"/>
                  </a:lnTo>
                  <a:lnTo>
                    <a:pt x="0" y="933"/>
                  </a:lnTo>
                  <a:lnTo>
                    <a:pt x="0" y="919"/>
                  </a:lnTo>
                  <a:lnTo>
                    <a:pt x="14" y="919"/>
                  </a:lnTo>
                  <a:close/>
                  <a:moveTo>
                    <a:pt x="14" y="947"/>
                  </a:moveTo>
                  <a:lnTo>
                    <a:pt x="14" y="960"/>
                  </a:lnTo>
                  <a:lnTo>
                    <a:pt x="0" y="960"/>
                  </a:lnTo>
                  <a:lnTo>
                    <a:pt x="0" y="947"/>
                  </a:lnTo>
                  <a:lnTo>
                    <a:pt x="14" y="947"/>
                  </a:lnTo>
                  <a:close/>
                  <a:moveTo>
                    <a:pt x="14" y="974"/>
                  </a:moveTo>
                  <a:lnTo>
                    <a:pt x="14" y="988"/>
                  </a:lnTo>
                  <a:lnTo>
                    <a:pt x="0" y="988"/>
                  </a:lnTo>
                  <a:lnTo>
                    <a:pt x="0" y="974"/>
                  </a:lnTo>
                  <a:lnTo>
                    <a:pt x="14" y="974"/>
                  </a:lnTo>
                  <a:close/>
                  <a:moveTo>
                    <a:pt x="14" y="1002"/>
                  </a:moveTo>
                  <a:lnTo>
                    <a:pt x="14" y="1016"/>
                  </a:lnTo>
                  <a:lnTo>
                    <a:pt x="0" y="1016"/>
                  </a:lnTo>
                  <a:lnTo>
                    <a:pt x="0" y="1002"/>
                  </a:lnTo>
                  <a:lnTo>
                    <a:pt x="14" y="1002"/>
                  </a:lnTo>
                  <a:close/>
                  <a:moveTo>
                    <a:pt x="14" y="1030"/>
                  </a:moveTo>
                  <a:lnTo>
                    <a:pt x="14" y="1044"/>
                  </a:lnTo>
                  <a:lnTo>
                    <a:pt x="0" y="1044"/>
                  </a:lnTo>
                  <a:lnTo>
                    <a:pt x="0" y="1030"/>
                  </a:lnTo>
                  <a:lnTo>
                    <a:pt x="14" y="1030"/>
                  </a:lnTo>
                  <a:close/>
                  <a:moveTo>
                    <a:pt x="14" y="1058"/>
                  </a:moveTo>
                  <a:lnTo>
                    <a:pt x="14" y="1072"/>
                  </a:lnTo>
                  <a:lnTo>
                    <a:pt x="0" y="1072"/>
                  </a:lnTo>
                  <a:lnTo>
                    <a:pt x="0" y="1058"/>
                  </a:lnTo>
                  <a:lnTo>
                    <a:pt x="14" y="1058"/>
                  </a:lnTo>
                  <a:close/>
                  <a:moveTo>
                    <a:pt x="14" y="1086"/>
                  </a:moveTo>
                  <a:lnTo>
                    <a:pt x="14" y="1100"/>
                  </a:lnTo>
                  <a:lnTo>
                    <a:pt x="0" y="1100"/>
                  </a:lnTo>
                  <a:lnTo>
                    <a:pt x="0" y="1086"/>
                  </a:lnTo>
                  <a:lnTo>
                    <a:pt x="14" y="1086"/>
                  </a:lnTo>
                  <a:close/>
                  <a:moveTo>
                    <a:pt x="14" y="1114"/>
                  </a:moveTo>
                  <a:lnTo>
                    <a:pt x="14" y="1127"/>
                  </a:lnTo>
                  <a:lnTo>
                    <a:pt x="0" y="1127"/>
                  </a:lnTo>
                  <a:lnTo>
                    <a:pt x="0" y="1114"/>
                  </a:lnTo>
                  <a:lnTo>
                    <a:pt x="14" y="1114"/>
                  </a:lnTo>
                  <a:close/>
                  <a:moveTo>
                    <a:pt x="14" y="1141"/>
                  </a:moveTo>
                  <a:lnTo>
                    <a:pt x="14" y="1155"/>
                  </a:lnTo>
                  <a:lnTo>
                    <a:pt x="0" y="1155"/>
                  </a:lnTo>
                  <a:lnTo>
                    <a:pt x="0" y="1141"/>
                  </a:lnTo>
                  <a:lnTo>
                    <a:pt x="14" y="1141"/>
                  </a:lnTo>
                  <a:close/>
                  <a:moveTo>
                    <a:pt x="14" y="1169"/>
                  </a:moveTo>
                  <a:lnTo>
                    <a:pt x="14" y="1183"/>
                  </a:lnTo>
                  <a:lnTo>
                    <a:pt x="0" y="1183"/>
                  </a:lnTo>
                  <a:lnTo>
                    <a:pt x="0" y="1169"/>
                  </a:lnTo>
                  <a:lnTo>
                    <a:pt x="14" y="1169"/>
                  </a:lnTo>
                  <a:close/>
                  <a:moveTo>
                    <a:pt x="14" y="1197"/>
                  </a:moveTo>
                  <a:lnTo>
                    <a:pt x="14" y="1211"/>
                  </a:lnTo>
                  <a:lnTo>
                    <a:pt x="0" y="1211"/>
                  </a:lnTo>
                  <a:lnTo>
                    <a:pt x="0" y="1197"/>
                  </a:lnTo>
                  <a:lnTo>
                    <a:pt x="14" y="1197"/>
                  </a:lnTo>
                  <a:close/>
                  <a:moveTo>
                    <a:pt x="14" y="1225"/>
                  </a:moveTo>
                  <a:lnTo>
                    <a:pt x="14" y="1239"/>
                  </a:lnTo>
                  <a:lnTo>
                    <a:pt x="0" y="1239"/>
                  </a:lnTo>
                  <a:lnTo>
                    <a:pt x="0" y="1225"/>
                  </a:lnTo>
                  <a:lnTo>
                    <a:pt x="14" y="1225"/>
                  </a:lnTo>
                  <a:close/>
                  <a:moveTo>
                    <a:pt x="14" y="1253"/>
                  </a:moveTo>
                  <a:lnTo>
                    <a:pt x="14" y="1267"/>
                  </a:lnTo>
                  <a:lnTo>
                    <a:pt x="0" y="1267"/>
                  </a:lnTo>
                  <a:lnTo>
                    <a:pt x="0" y="1253"/>
                  </a:lnTo>
                  <a:lnTo>
                    <a:pt x="14" y="1253"/>
                  </a:lnTo>
                  <a:close/>
                  <a:moveTo>
                    <a:pt x="14" y="1281"/>
                  </a:moveTo>
                  <a:lnTo>
                    <a:pt x="14" y="1294"/>
                  </a:lnTo>
                  <a:lnTo>
                    <a:pt x="0" y="1294"/>
                  </a:lnTo>
                  <a:lnTo>
                    <a:pt x="0" y="1281"/>
                  </a:lnTo>
                  <a:lnTo>
                    <a:pt x="14" y="1281"/>
                  </a:lnTo>
                  <a:close/>
                  <a:moveTo>
                    <a:pt x="14" y="1308"/>
                  </a:moveTo>
                  <a:lnTo>
                    <a:pt x="14" y="1322"/>
                  </a:lnTo>
                  <a:lnTo>
                    <a:pt x="0" y="1322"/>
                  </a:lnTo>
                  <a:lnTo>
                    <a:pt x="0" y="1308"/>
                  </a:lnTo>
                  <a:lnTo>
                    <a:pt x="14" y="1308"/>
                  </a:lnTo>
                  <a:close/>
                  <a:moveTo>
                    <a:pt x="14" y="1336"/>
                  </a:moveTo>
                  <a:lnTo>
                    <a:pt x="14" y="1350"/>
                  </a:lnTo>
                  <a:lnTo>
                    <a:pt x="0" y="1350"/>
                  </a:lnTo>
                  <a:lnTo>
                    <a:pt x="0" y="1336"/>
                  </a:lnTo>
                  <a:lnTo>
                    <a:pt x="14" y="1336"/>
                  </a:lnTo>
                  <a:close/>
                  <a:moveTo>
                    <a:pt x="14" y="1364"/>
                  </a:moveTo>
                  <a:lnTo>
                    <a:pt x="14" y="1378"/>
                  </a:lnTo>
                  <a:lnTo>
                    <a:pt x="0" y="1378"/>
                  </a:lnTo>
                  <a:lnTo>
                    <a:pt x="0" y="1364"/>
                  </a:lnTo>
                  <a:lnTo>
                    <a:pt x="14" y="1364"/>
                  </a:lnTo>
                  <a:close/>
                  <a:moveTo>
                    <a:pt x="14" y="1392"/>
                  </a:moveTo>
                  <a:lnTo>
                    <a:pt x="14" y="1406"/>
                  </a:lnTo>
                  <a:lnTo>
                    <a:pt x="0" y="1406"/>
                  </a:lnTo>
                  <a:lnTo>
                    <a:pt x="0" y="1392"/>
                  </a:lnTo>
                  <a:lnTo>
                    <a:pt x="14" y="1392"/>
                  </a:lnTo>
                  <a:close/>
                  <a:moveTo>
                    <a:pt x="14" y="1420"/>
                  </a:moveTo>
                  <a:lnTo>
                    <a:pt x="14" y="1434"/>
                  </a:lnTo>
                  <a:lnTo>
                    <a:pt x="0" y="1434"/>
                  </a:lnTo>
                  <a:lnTo>
                    <a:pt x="0" y="1420"/>
                  </a:lnTo>
                  <a:lnTo>
                    <a:pt x="14" y="1420"/>
                  </a:lnTo>
                  <a:close/>
                  <a:moveTo>
                    <a:pt x="14" y="1448"/>
                  </a:moveTo>
                  <a:lnTo>
                    <a:pt x="14" y="1461"/>
                  </a:lnTo>
                  <a:lnTo>
                    <a:pt x="0" y="1461"/>
                  </a:lnTo>
                  <a:lnTo>
                    <a:pt x="0" y="1448"/>
                  </a:lnTo>
                  <a:lnTo>
                    <a:pt x="14" y="1448"/>
                  </a:lnTo>
                  <a:close/>
                  <a:moveTo>
                    <a:pt x="14" y="1475"/>
                  </a:moveTo>
                  <a:lnTo>
                    <a:pt x="14" y="1489"/>
                  </a:lnTo>
                  <a:lnTo>
                    <a:pt x="0" y="1489"/>
                  </a:lnTo>
                  <a:lnTo>
                    <a:pt x="0" y="1475"/>
                  </a:lnTo>
                  <a:lnTo>
                    <a:pt x="14" y="1475"/>
                  </a:lnTo>
                  <a:close/>
                  <a:moveTo>
                    <a:pt x="14" y="1503"/>
                  </a:moveTo>
                  <a:lnTo>
                    <a:pt x="14" y="1517"/>
                  </a:lnTo>
                  <a:lnTo>
                    <a:pt x="0" y="1517"/>
                  </a:lnTo>
                  <a:lnTo>
                    <a:pt x="0" y="1503"/>
                  </a:lnTo>
                  <a:lnTo>
                    <a:pt x="14" y="1503"/>
                  </a:lnTo>
                  <a:close/>
                  <a:moveTo>
                    <a:pt x="14" y="1531"/>
                  </a:moveTo>
                  <a:lnTo>
                    <a:pt x="14" y="1545"/>
                  </a:lnTo>
                  <a:lnTo>
                    <a:pt x="0" y="1545"/>
                  </a:lnTo>
                  <a:lnTo>
                    <a:pt x="0" y="1531"/>
                  </a:lnTo>
                  <a:lnTo>
                    <a:pt x="14" y="1531"/>
                  </a:lnTo>
                  <a:close/>
                  <a:moveTo>
                    <a:pt x="14" y="1559"/>
                  </a:moveTo>
                  <a:lnTo>
                    <a:pt x="14" y="1573"/>
                  </a:lnTo>
                  <a:lnTo>
                    <a:pt x="0" y="1573"/>
                  </a:lnTo>
                  <a:lnTo>
                    <a:pt x="0" y="1559"/>
                  </a:lnTo>
                  <a:lnTo>
                    <a:pt x="14" y="1559"/>
                  </a:lnTo>
                  <a:close/>
                  <a:moveTo>
                    <a:pt x="14" y="1587"/>
                  </a:moveTo>
                  <a:lnTo>
                    <a:pt x="14" y="1601"/>
                  </a:lnTo>
                  <a:lnTo>
                    <a:pt x="0" y="1601"/>
                  </a:lnTo>
                  <a:lnTo>
                    <a:pt x="0" y="1587"/>
                  </a:lnTo>
                  <a:lnTo>
                    <a:pt x="14" y="1587"/>
                  </a:lnTo>
                  <a:close/>
                  <a:moveTo>
                    <a:pt x="14" y="1615"/>
                  </a:moveTo>
                  <a:lnTo>
                    <a:pt x="14" y="1628"/>
                  </a:lnTo>
                  <a:lnTo>
                    <a:pt x="0" y="1628"/>
                  </a:lnTo>
                  <a:lnTo>
                    <a:pt x="0" y="1615"/>
                  </a:lnTo>
                  <a:lnTo>
                    <a:pt x="14" y="1615"/>
                  </a:lnTo>
                  <a:close/>
                  <a:moveTo>
                    <a:pt x="14" y="1642"/>
                  </a:moveTo>
                  <a:lnTo>
                    <a:pt x="14" y="1656"/>
                  </a:lnTo>
                  <a:lnTo>
                    <a:pt x="0" y="1656"/>
                  </a:lnTo>
                  <a:lnTo>
                    <a:pt x="0" y="1642"/>
                  </a:lnTo>
                  <a:lnTo>
                    <a:pt x="14" y="1642"/>
                  </a:lnTo>
                  <a:close/>
                  <a:moveTo>
                    <a:pt x="14" y="1670"/>
                  </a:moveTo>
                  <a:lnTo>
                    <a:pt x="14" y="1684"/>
                  </a:lnTo>
                  <a:lnTo>
                    <a:pt x="0" y="1684"/>
                  </a:lnTo>
                  <a:lnTo>
                    <a:pt x="0" y="1670"/>
                  </a:lnTo>
                  <a:lnTo>
                    <a:pt x="14" y="1670"/>
                  </a:lnTo>
                  <a:close/>
                  <a:moveTo>
                    <a:pt x="14" y="1698"/>
                  </a:moveTo>
                  <a:lnTo>
                    <a:pt x="14" y="1712"/>
                  </a:lnTo>
                  <a:lnTo>
                    <a:pt x="0" y="1712"/>
                  </a:lnTo>
                  <a:lnTo>
                    <a:pt x="0" y="1698"/>
                  </a:lnTo>
                  <a:lnTo>
                    <a:pt x="14" y="1698"/>
                  </a:lnTo>
                  <a:close/>
                  <a:moveTo>
                    <a:pt x="14" y="1726"/>
                  </a:moveTo>
                  <a:lnTo>
                    <a:pt x="14" y="1740"/>
                  </a:lnTo>
                  <a:lnTo>
                    <a:pt x="0" y="1740"/>
                  </a:lnTo>
                  <a:lnTo>
                    <a:pt x="0" y="1726"/>
                  </a:lnTo>
                  <a:lnTo>
                    <a:pt x="14" y="1726"/>
                  </a:lnTo>
                  <a:close/>
                  <a:moveTo>
                    <a:pt x="14" y="1754"/>
                  </a:moveTo>
                  <a:lnTo>
                    <a:pt x="14" y="1768"/>
                  </a:lnTo>
                  <a:lnTo>
                    <a:pt x="0" y="1768"/>
                  </a:lnTo>
                  <a:lnTo>
                    <a:pt x="0" y="1754"/>
                  </a:lnTo>
                  <a:lnTo>
                    <a:pt x="14" y="1754"/>
                  </a:lnTo>
                  <a:close/>
                  <a:moveTo>
                    <a:pt x="14" y="1782"/>
                  </a:moveTo>
                  <a:lnTo>
                    <a:pt x="14" y="1795"/>
                  </a:lnTo>
                  <a:lnTo>
                    <a:pt x="0" y="1795"/>
                  </a:lnTo>
                  <a:lnTo>
                    <a:pt x="0" y="1782"/>
                  </a:lnTo>
                  <a:lnTo>
                    <a:pt x="14" y="1782"/>
                  </a:lnTo>
                  <a:close/>
                  <a:moveTo>
                    <a:pt x="14" y="1809"/>
                  </a:moveTo>
                  <a:lnTo>
                    <a:pt x="14" y="1823"/>
                  </a:lnTo>
                  <a:lnTo>
                    <a:pt x="0" y="1823"/>
                  </a:lnTo>
                  <a:lnTo>
                    <a:pt x="0" y="1809"/>
                  </a:lnTo>
                  <a:lnTo>
                    <a:pt x="14" y="1809"/>
                  </a:lnTo>
                  <a:close/>
                  <a:moveTo>
                    <a:pt x="14" y="1837"/>
                  </a:moveTo>
                  <a:lnTo>
                    <a:pt x="14" y="1851"/>
                  </a:lnTo>
                  <a:lnTo>
                    <a:pt x="0" y="1851"/>
                  </a:lnTo>
                  <a:lnTo>
                    <a:pt x="0" y="1837"/>
                  </a:lnTo>
                  <a:lnTo>
                    <a:pt x="14" y="1837"/>
                  </a:lnTo>
                  <a:close/>
                  <a:moveTo>
                    <a:pt x="14" y="1865"/>
                  </a:moveTo>
                  <a:lnTo>
                    <a:pt x="14" y="1879"/>
                  </a:lnTo>
                  <a:lnTo>
                    <a:pt x="0" y="1879"/>
                  </a:lnTo>
                  <a:lnTo>
                    <a:pt x="0" y="1865"/>
                  </a:lnTo>
                  <a:lnTo>
                    <a:pt x="14" y="1865"/>
                  </a:lnTo>
                  <a:close/>
                  <a:moveTo>
                    <a:pt x="14" y="1893"/>
                  </a:moveTo>
                  <a:lnTo>
                    <a:pt x="14" y="1907"/>
                  </a:lnTo>
                  <a:lnTo>
                    <a:pt x="0" y="1907"/>
                  </a:lnTo>
                  <a:lnTo>
                    <a:pt x="0" y="1893"/>
                  </a:lnTo>
                  <a:lnTo>
                    <a:pt x="14" y="1893"/>
                  </a:lnTo>
                  <a:close/>
                  <a:moveTo>
                    <a:pt x="14" y="1921"/>
                  </a:moveTo>
                  <a:lnTo>
                    <a:pt x="14" y="1935"/>
                  </a:lnTo>
                  <a:lnTo>
                    <a:pt x="0" y="1935"/>
                  </a:lnTo>
                  <a:lnTo>
                    <a:pt x="0" y="1921"/>
                  </a:lnTo>
                  <a:lnTo>
                    <a:pt x="14" y="1921"/>
                  </a:lnTo>
                  <a:close/>
                  <a:moveTo>
                    <a:pt x="14" y="1949"/>
                  </a:moveTo>
                  <a:lnTo>
                    <a:pt x="14" y="1962"/>
                  </a:lnTo>
                  <a:lnTo>
                    <a:pt x="0" y="1962"/>
                  </a:lnTo>
                  <a:lnTo>
                    <a:pt x="0" y="1949"/>
                  </a:lnTo>
                  <a:lnTo>
                    <a:pt x="14" y="1949"/>
                  </a:lnTo>
                  <a:close/>
                  <a:moveTo>
                    <a:pt x="14" y="1976"/>
                  </a:moveTo>
                  <a:lnTo>
                    <a:pt x="14" y="1990"/>
                  </a:lnTo>
                  <a:lnTo>
                    <a:pt x="0" y="1990"/>
                  </a:lnTo>
                  <a:lnTo>
                    <a:pt x="0" y="1976"/>
                  </a:lnTo>
                  <a:lnTo>
                    <a:pt x="14" y="1976"/>
                  </a:lnTo>
                  <a:close/>
                  <a:moveTo>
                    <a:pt x="14" y="2004"/>
                  </a:moveTo>
                  <a:lnTo>
                    <a:pt x="14" y="2018"/>
                  </a:lnTo>
                  <a:lnTo>
                    <a:pt x="0" y="2018"/>
                  </a:lnTo>
                  <a:lnTo>
                    <a:pt x="0" y="2004"/>
                  </a:lnTo>
                  <a:lnTo>
                    <a:pt x="14" y="2004"/>
                  </a:lnTo>
                  <a:close/>
                  <a:moveTo>
                    <a:pt x="14" y="2032"/>
                  </a:moveTo>
                  <a:lnTo>
                    <a:pt x="14" y="2046"/>
                  </a:lnTo>
                  <a:lnTo>
                    <a:pt x="0" y="2046"/>
                  </a:lnTo>
                  <a:lnTo>
                    <a:pt x="0" y="2032"/>
                  </a:lnTo>
                  <a:lnTo>
                    <a:pt x="14" y="2032"/>
                  </a:lnTo>
                  <a:close/>
                  <a:moveTo>
                    <a:pt x="14" y="2060"/>
                  </a:moveTo>
                  <a:lnTo>
                    <a:pt x="14" y="2074"/>
                  </a:lnTo>
                  <a:lnTo>
                    <a:pt x="0" y="2074"/>
                  </a:lnTo>
                  <a:lnTo>
                    <a:pt x="0" y="2060"/>
                  </a:lnTo>
                  <a:lnTo>
                    <a:pt x="14" y="2060"/>
                  </a:lnTo>
                  <a:close/>
                  <a:moveTo>
                    <a:pt x="14" y="2087"/>
                  </a:moveTo>
                  <a:lnTo>
                    <a:pt x="14" y="2102"/>
                  </a:lnTo>
                  <a:lnTo>
                    <a:pt x="0" y="2102"/>
                  </a:lnTo>
                  <a:lnTo>
                    <a:pt x="0" y="2087"/>
                  </a:lnTo>
                  <a:lnTo>
                    <a:pt x="14" y="2087"/>
                  </a:lnTo>
                  <a:close/>
                  <a:moveTo>
                    <a:pt x="14" y="2116"/>
                  </a:moveTo>
                  <a:lnTo>
                    <a:pt x="14" y="2129"/>
                  </a:lnTo>
                  <a:lnTo>
                    <a:pt x="0" y="2129"/>
                  </a:lnTo>
                  <a:lnTo>
                    <a:pt x="0" y="2116"/>
                  </a:lnTo>
                  <a:lnTo>
                    <a:pt x="14" y="2116"/>
                  </a:lnTo>
                  <a:close/>
                  <a:moveTo>
                    <a:pt x="14" y="2143"/>
                  </a:moveTo>
                  <a:lnTo>
                    <a:pt x="14" y="2157"/>
                  </a:lnTo>
                  <a:lnTo>
                    <a:pt x="0" y="2157"/>
                  </a:lnTo>
                  <a:lnTo>
                    <a:pt x="0" y="2143"/>
                  </a:lnTo>
                  <a:lnTo>
                    <a:pt x="14" y="2143"/>
                  </a:lnTo>
                  <a:close/>
                  <a:moveTo>
                    <a:pt x="14" y="2171"/>
                  </a:moveTo>
                  <a:lnTo>
                    <a:pt x="14" y="2185"/>
                  </a:lnTo>
                  <a:lnTo>
                    <a:pt x="0" y="2185"/>
                  </a:lnTo>
                  <a:lnTo>
                    <a:pt x="0" y="2171"/>
                  </a:lnTo>
                  <a:lnTo>
                    <a:pt x="14" y="2171"/>
                  </a:lnTo>
                  <a:close/>
                  <a:moveTo>
                    <a:pt x="14" y="2199"/>
                  </a:moveTo>
                  <a:lnTo>
                    <a:pt x="14" y="2213"/>
                  </a:lnTo>
                  <a:lnTo>
                    <a:pt x="0" y="2213"/>
                  </a:lnTo>
                  <a:lnTo>
                    <a:pt x="0" y="2199"/>
                  </a:lnTo>
                  <a:lnTo>
                    <a:pt x="14" y="2199"/>
                  </a:lnTo>
                  <a:close/>
                  <a:moveTo>
                    <a:pt x="14" y="2227"/>
                  </a:moveTo>
                  <a:lnTo>
                    <a:pt x="14" y="2241"/>
                  </a:lnTo>
                  <a:lnTo>
                    <a:pt x="0" y="2241"/>
                  </a:lnTo>
                  <a:lnTo>
                    <a:pt x="0" y="2227"/>
                  </a:lnTo>
                  <a:lnTo>
                    <a:pt x="14" y="2227"/>
                  </a:lnTo>
                  <a:close/>
                  <a:moveTo>
                    <a:pt x="14" y="2254"/>
                  </a:moveTo>
                  <a:lnTo>
                    <a:pt x="14" y="2268"/>
                  </a:lnTo>
                  <a:lnTo>
                    <a:pt x="0" y="2268"/>
                  </a:lnTo>
                  <a:lnTo>
                    <a:pt x="0" y="2254"/>
                  </a:lnTo>
                  <a:lnTo>
                    <a:pt x="14" y="2254"/>
                  </a:lnTo>
                  <a:close/>
                  <a:moveTo>
                    <a:pt x="14" y="2283"/>
                  </a:moveTo>
                  <a:lnTo>
                    <a:pt x="14" y="2296"/>
                  </a:lnTo>
                  <a:lnTo>
                    <a:pt x="0" y="2296"/>
                  </a:lnTo>
                  <a:lnTo>
                    <a:pt x="0" y="2283"/>
                  </a:lnTo>
                  <a:lnTo>
                    <a:pt x="14" y="2283"/>
                  </a:lnTo>
                  <a:close/>
                  <a:moveTo>
                    <a:pt x="14" y="2310"/>
                  </a:moveTo>
                  <a:lnTo>
                    <a:pt x="14" y="2324"/>
                  </a:lnTo>
                  <a:lnTo>
                    <a:pt x="0" y="2324"/>
                  </a:lnTo>
                  <a:lnTo>
                    <a:pt x="0" y="2310"/>
                  </a:lnTo>
                  <a:lnTo>
                    <a:pt x="14" y="2310"/>
                  </a:lnTo>
                  <a:close/>
                  <a:moveTo>
                    <a:pt x="14" y="2338"/>
                  </a:moveTo>
                  <a:lnTo>
                    <a:pt x="14" y="2352"/>
                  </a:lnTo>
                  <a:lnTo>
                    <a:pt x="0" y="2352"/>
                  </a:lnTo>
                  <a:lnTo>
                    <a:pt x="0" y="2338"/>
                  </a:lnTo>
                  <a:lnTo>
                    <a:pt x="14" y="2338"/>
                  </a:lnTo>
                  <a:close/>
                  <a:moveTo>
                    <a:pt x="14" y="2366"/>
                  </a:moveTo>
                  <a:lnTo>
                    <a:pt x="14" y="2380"/>
                  </a:lnTo>
                  <a:lnTo>
                    <a:pt x="0" y="2380"/>
                  </a:lnTo>
                  <a:lnTo>
                    <a:pt x="0" y="2366"/>
                  </a:lnTo>
                  <a:lnTo>
                    <a:pt x="14" y="2366"/>
                  </a:lnTo>
                  <a:close/>
                  <a:moveTo>
                    <a:pt x="14" y="2394"/>
                  </a:moveTo>
                  <a:lnTo>
                    <a:pt x="14" y="2408"/>
                  </a:lnTo>
                  <a:lnTo>
                    <a:pt x="0" y="2408"/>
                  </a:lnTo>
                  <a:lnTo>
                    <a:pt x="0" y="2394"/>
                  </a:lnTo>
                  <a:lnTo>
                    <a:pt x="14" y="2394"/>
                  </a:lnTo>
                  <a:close/>
                  <a:moveTo>
                    <a:pt x="14" y="2421"/>
                  </a:moveTo>
                  <a:lnTo>
                    <a:pt x="14" y="2435"/>
                  </a:lnTo>
                  <a:lnTo>
                    <a:pt x="0" y="2435"/>
                  </a:lnTo>
                  <a:lnTo>
                    <a:pt x="0" y="2421"/>
                  </a:lnTo>
                  <a:lnTo>
                    <a:pt x="14" y="2421"/>
                  </a:lnTo>
                  <a:close/>
                  <a:moveTo>
                    <a:pt x="14" y="2449"/>
                  </a:moveTo>
                  <a:lnTo>
                    <a:pt x="14" y="2453"/>
                  </a:lnTo>
                  <a:lnTo>
                    <a:pt x="0" y="2453"/>
                  </a:lnTo>
                  <a:lnTo>
                    <a:pt x="0" y="2449"/>
                  </a:lnTo>
                  <a:lnTo>
                    <a:pt x="14" y="2449"/>
                  </a:lnTo>
                  <a:close/>
                </a:path>
              </a:pathLst>
            </a:custGeom>
            <a:solidFill>
              <a:srgbClr val="000000"/>
            </a:solidFill>
            <a:ln w="0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491" name="Freeform 33">
              <a:extLst>
                <a:ext uri="{FF2B5EF4-FFF2-40B4-BE49-F238E27FC236}">
                  <a16:creationId xmlns:a16="http://schemas.microsoft.com/office/drawing/2014/main" id="{D5B6CADD-AA31-1181-769D-8969E096C40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209080" y="3078501"/>
              <a:ext cx="18000" cy="3726773"/>
            </a:xfrm>
            <a:custGeom>
              <a:avLst/>
              <a:gdLst>
                <a:gd name="T0" fmla="*/ 15 w 15"/>
                <a:gd name="T1" fmla="*/ 42 h 2453"/>
                <a:gd name="T2" fmla="*/ 0 w 15"/>
                <a:gd name="T3" fmla="*/ 56 h 2453"/>
                <a:gd name="T4" fmla="*/ 15 w 15"/>
                <a:gd name="T5" fmla="*/ 112 h 2453"/>
                <a:gd name="T6" fmla="*/ 0 w 15"/>
                <a:gd name="T7" fmla="*/ 154 h 2453"/>
                <a:gd name="T8" fmla="*/ 15 w 15"/>
                <a:gd name="T9" fmla="*/ 167 h 2453"/>
                <a:gd name="T10" fmla="*/ 15 w 15"/>
                <a:gd name="T11" fmla="*/ 237 h 2453"/>
                <a:gd name="T12" fmla="*/ 0 w 15"/>
                <a:gd name="T13" fmla="*/ 251 h 2453"/>
                <a:gd name="T14" fmla="*/ 15 w 15"/>
                <a:gd name="T15" fmla="*/ 307 h 2453"/>
                <a:gd name="T16" fmla="*/ 0 w 15"/>
                <a:gd name="T17" fmla="*/ 348 h 2453"/>
                <a:gd name="T18" fmla="*/ 15 w 15"/>
                <a:gd name="T19" fmla="*/ 362 h 2453"/>
                <a:gd name="T20" fmla="*/ 15 w 15"/>
                <a:gd name="T21" fmla="*/ 432 h 2453"/>
                <a:gd name="T22" fmla="*/ 0 w 15"/>
                <a:gd name="T23" fmla="*/ 446 h 2453"/>
                <a:gd name="T24" fmla="*/ 15 w 15"/>
                <a:gd name="T25" fmla="*/ 501 h 2453"/>
                <a:gd name="T26" fmla="*/ 0 w 15"/>
                <a:gd name="T27" fmla="*/ 543 h 2453"/>
                <a:gd name="T28" fmla="*/ 15 w 15"/>
                <a:gd name="T29" fmla="*/ 557 h 2453"/>
                <a:gd name="T30" fmla="*/ 15 w 15"/>
                <a:gd name="T31" fmla="*/ 627 h 2453"/>
                <a:gd name="T32" fmla="*/ 0 w 15"/>
                <a:gd name="T33" fmla="*/ 641 h 2453"/>
                <a:gd name="T34" fmla="*/ 15 w 15"/>
                <a:gd name="T35" fmla="*/ 696 h 2453"/>
                <a:gd name="T36" fmla="*/ 0 w 15"/>
                <a:gd name="T37" fmla="*/ 738 h 2453"/>
                <a:gd name="T38" fmla="*/ 15 w 15"/>
                <a:gd name="T39" fmla="*/ 752 h 2453"/>
                <a:gd name="T40" fmla="*/ 15 w 15"/>
                <a:gd name="T41" fmla="*/ 822 h 2453"/>
                <a:gd name="T42" fmla="*/ 0 w 15"/>
                <a:gd name="T43" fmla="*/ 835 h 2453"/>
                <a:gd name="T44" fmla="*/ 15 w 15"/>
                <a:gd name="T45" fmla="*/ 891 h 2453"/>
                <a:gd name="T46" fmla="*/ 0 w 15"/>
                <a:gd name="T47" fmla="*/ 933 h 2453"/>
                <a:gd name="T48" fmla="*/ 15 w 15"/>
                <a:gd name="T49" fmla="*/ 947 h 2453"/>
                <a:gd name="T50" fmla="*/ 15 w 15"/>
                <a:gd name="T51" fmla="*/ 1016 h 2453"/>
                <a:gd name="T52" fmla="*/ 0 w 15"/>
                <a:gd name="T53" fmla="*/ 1030 h 2453"/>
                <a:gd name="T54" fmla="*/ 15 w 15"/>
                <a:gd name="T55" fmla="*/ 1086 h 2453"/>
                <a:gd name="T56" fmla="*/ 0 w 15"/>
                <a:gd name="T57" fmla="*/ 1127 h 2453"/>
                <a:gd name="T58" fmla="*/ 15 w 15"/>
                <a:gd name="T59" fmla="*/ 1141 h 2453"/>
                <a:gd name="T60" fmla="*/ 15 w 15"/>
                <a:gd name="T61" fmla="*/ 1211 h 2453"/>
                <a:gd name="T62" fmla="*/ 0 w 15"/>
                <a:gd name="T63" fmla="*/ 1225 h 2453"/>
                <a:gd name="T64" fmla="*/ 15 w 15"/>
                <a:gd name="T65" fmla="*/ 1281 h 2453"/>
                <a:gd name="T66" fmla="*/ 0 w 15"/>
                <a:gd name="T67" fmla="*/ 1322 h 2453"/>
                <a:gd name="T68" fmla="*/ 15 w 15"/>
                <a:gd name="T69" fmla="*/ 1336 h 2453"/>
                <a:gd name="T70" fmla="*/ 15 w 15"/>
                <a:gd name="T71" fmla="*/ 1406 h 2453"/>
                <a:gd name="T72" fmla="*/ 0 w 15"/>
                <a:gd name="T73" fmla="*/ 1420 h 2453"/>
                <a:gd name="T74" fmla="*/ 15 w 15"/>
                <a:gd name="T75" fmla="*/ 1475 h 2453"/>
                <a:gd name="T76" fmla="*/ 0 w 15"/>
                <a:gd name="T77" fmla="*/ 1517 h 2453"/>
                <a:gd name="T78" fmla="*/ 15 w 15"/>
                <a:gd name="T79" fmla="*/ 1531 h 2453"/>
                <a:gd name="T80" fmla="*/ 15 w 15"/>
                <a:gd name="T81" fmla="*/ 1601 h 2453"/>
                <a:gd name="T82" fmla="*/ 0 w 15"/>
                <a:gd name="T83" fmla="*/ 1615 h 2453"/>
                <a:gd name="T84" fmla="*/ 15 w 15"/>
                <a:gd name="T85" fmla="*/ 1670 h 2453"/>
                <a:gd name="T86" fmla="*/ 0 w 15"/>
                <a:gd name="T87" fmla="*/ 1712 h 2453"/>
                <a:gd name="T88" fmla="*/ 15 w 15"/>
                <a:gd name="T89" fmla="*/ 1726 h 2453"/>
                <a:gd name="T90" fmla="*/ 15 w 15"/>
                <a:gd name="T91" fmla="*/ 1795 h 2453"/>
                <a:gd name="T92" fmla="*/ 0 w 15"/>
                <a:gd name="T93" fmla="*/ 1809 h 2453"/>
                <a:gd name="T94" fmla="*/ 15 w 15"/>
                <a:gd name="T95" fmla="*/ 1865 h 2453"/>
                <a:gd name="T96" fmla="*/ 0 w 15"/>
                <a:gd name="T97" fmla="*/ 1907 h 2453"/>
                <a:gd name="T98" fmla="*/ 15 w 15"/>
                <a:gd name="T99" fmla="*/ 1921 h 2453"/>
                <a:gd name="T100" fmla="*/ 15 w 15"/>
                <a:gd name="T101" fmla="*/ 1990 h 2453"/>
                <a:gd name="T102" fmla="*/ 0 w 15"/>
                <a:gd name="T103" fmla="*/ 2004 h 2453"/>
                <a:gd name="T104" fmla="*/ 15 w 15"/>
                <a:gd name="T105" fmla="*/ 2060 h 2453"/>
                <a:gd name="T106" fmla="*/ 0 w 15"/>
                <a:gd name="T107" fmla="*/ 2102 h 2453"/>
                <a:gd name="T108" fmla="*/ 15 w 15"/>
                <a:gd name="T109" fmla="*/ 2116 h 2453"/>
                <a:gd name="T110" fmla="*/ 15 w 15"/>
                <a:gd name="T111" fmla="*/ 2185 h 2453"/>
                <a:gd name="T112" fmla="*/ 0 w 15"/>
                <a:gd name="T113" fmla="*/ 2199 h 2453"/>
                <a:gd name="T114" fmla="*/ 15 w 15"/>
                <a:gd name="T115" fmla="*/ 2254 h 2453"/>
                <a:gd name="T116" fmla="*/ 0 w 15"/>
                <a:gd name="T117" fmla="*/ 2296 h 2453"/>
                <a:gd name="T118" fmla="*/ 15 w 15"/>
                <a:gd name="T119" fmla="*/ 2310 h 2453"/>
                <a:gd name="T120" fmla="*/ 15 w 15"/>
                <a:gd name="T121" fmla="*/ 2380 h 2453"/>
                <a:gd name="T122" fmla="*/ 0 w 15"/>
                <a:gd name="T123" fmla="*/ 2394 h 2453"/>
                <a:gd name="T124" fmla="*/ 15 w 15"/>
                <a:gd name="T125" fmla="*/ 2449 h 24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5" h="2453">
                  <a:moveTo>
                    <a:pt x="15" y="0"/>
                  </a:moveTo>
                  <a:lnTo>
                    <a:pt x="15" y="14"/>
                  </a:lnTo>
                  <a:lnTo>
                    <a:pt x="0" y="14"/>
                  </a:lnTo>
                  <a:lnTo>
                    <a:pt x="0" y="0"/>
                  </a:lnTo>
                  <a:lnTo>
                    <a:pt x="15" y="0"/>
                  </a:lnTo>
                  <a:close/>
                  <a:moveTo>
                    <a:pt x="15" y="28"/>
                  </a:moveTo>
                  <a:lnTo>
                    <a:pt x="15" y="42"/>
                  </a:lnTo>
                  <a:lnTo>
                    <a:pt x="0" y="42"/>
                  </a:lnTo>
                  <a:lnTo>
                    <a:pt x="0" y="28"/>
                  </a:lnTo>
                  <a:lnTo>
                    <a:pt x="15" y="28"/>
                  </a:lnTo>
                  <a:close/>
                  <a:moveTo>
                    <a:pt x="15" y="56"/>
                  </a:moveTo>
                  <a:lnTo>
                    <a:pt x="15" y="70"/>
                  </a:lnTo>
                  <a:lnTo>
                    <a:pt x="0" y="70"/>
                  </a:lnTo>
                  <a:lnTo>
                    <a:pt x="0" y="56"/>
                  </a:lnTo>
                  <a:lnTo>
                    <a:pt x="15" y="56"/>
                  </a:lnTo>
                  <a:close/>
                  <a:moveTo>
                    <a:pt x="15" y="84"/>
                  </a:moveTo>
                  <a:lnTo>
                    <a:pt x="15" y="98"/>
                  </a:lnTo>
                  <a:lnTo>
                    <a:pt x="0" y="98"/>
                  </a:lnTo>
                  <a:lnTo>
                    <a:pt x="0" y="84"/>
                  </a:lnTo>
                  <a:lnTo>
                    <a:pt x="15" y="84"/>
                  </a:lnTo>
                  <a:close/>
                  <a:moveTo>
                    <a:pt x="15" y="112"/>
                  </a:moveTo>
                  <a:lnTo>
                    <a:pt x="15" y="126"/>
                  </a:lnTo>
                  <a:lnTo>
                    <a:pt x="0" y="126"/>
                  </a:lnTo>
                  <a:lnTo>
                    <a:pt x="0" y="112"/>
                  </a:lnTo>
                  <a:lnTo>
                    <a:pt x="15" y="112"/>
                  </a:lnTo>
                  <a:close/>
                  <a:moveTo>
                    <a:pt x="15" y="140"/>
                  </a:moveTo>
                  <a:lnTo>
                    <a:pt x="15" y="154"/>
                  </a:lnTo>
                  <a:lnTo>
                    <a:pt x="0" y="154"/>
                  </a:lnTo>
                  <a:lnTo>
                    <a:pt x="0" y="140"/>
                  </a:lnTo>
                  <a:lnTo>
                    <a:pt x="15" y="140"/>
                  </a:lnTo>
                  <a:close/>
                  <a:moveTo>
                    <a:pt x="15" y="167"/>
                  </a:moveTo>
                  <a:lnTo>
                    <a:pt x="15" y="181"/>
                  </a:lnTo>
                  <a:lnTo>
                    <a:pt x="0" y="181"/>
                  </a:lnTo>
                  <a:lnTo>
                    <a:pt x="0" y="167"/>
                  </a:lnTo>
                  <a:lnTo>
                    <a:pt x="15" y="167"/>
                  </a:lnTo>
                  <a:close/>
                  <a:moveTo>
                    <a:pt x="15" y="195"/>
                  </a:moveTo>
                  <a:lnTo>
                    <a:pt x="15" y="209"/>
                  </a:lnTo>
                  <a:lnTo>
                    <a:pt x="0" y="209"/>
                  </a:lnTo>
                  <a:lnTo>
                    <a:pt x="0" y="195"/>
                  </a:lnTo>
                  <a:lnTo>
                    <a:pt x="15" y="195"/>
                  </a:lnTo>
                  <a:close/>
                  <a:moveTo>
                    <a:pt x="15" y="223"/>
                  </a:moveTo>
                  <a:lnTo>
                    <a:pt x="15" y="237"/>
                  </a:lnTo>
                  <a:lnTo>
                    <a:pt x="0" y="237"/>
                  </a:lnTo>
                  <a:lnTo>
                    <a:pt x="0" y="223"/>
                  </a:lnTo>
                  <a:lnTo>
                    <a:pt x="15" y="223"/>
                  </a:lnTo>
                  <a:close/>
                  <a:moveTo>
                    <a:pt x="15" y="251"/>
                  </a:moveTo>
                  <a:lnTo>
                    <a:pt x="15" y="265"/>
                  </a:lnTo>
                  <a:lnTo>
                    <a:pt x="0" y="265"/>
                  </a:lnTo>
                  <a:lnTo>
                    <a:pt x="0" y="251"/>
                  </a:lnTo>
                  <a:lnTo>
                    <a:pt x="15" y="251"/>
                  </a:lnTo>
                  <a:close/>
                  <a:moveTo>
                    <a:pt x="15" y="279"/>
                  </a:moveTo>
                  <a:lnTo>
                    <a:pt x="15" y="293"/>
                  </a:lnTo>
                  <a:lnTo>
                    <a:pt x="0" y="293"/>
                  </a:lnTo>
                  <a:lnTo>
                    <a:pt x="0" y="279"/>
                  </a:lnTo>
                  <a:lnTo>
                    <a:pt x="15" y="279"/>
                  </a:lnTo>
                  <a:close/>
                  <a:moveTo>
                    <a:pt x="15" y="307"/>
                  </a:moveTo>
                  <a:lnTo>
                    <a:pt x="15" y="321"/>
                  </a:lnTo>
                  <a:lnTo>
                    <a:pt x="0" y="321"/>
                  </a:lnTo>
                  <a:lnTo>
                    <a:pt x="0" y="307"/>
                  </a:lnTo>
                  <a:lnTo>
                    <a:pt x="15" y="307"/>
                  </a:lnTo>
                  <a:close/>
                  <a:moveTo>
                    <a:pt x="15" y="334"/>
                  </a:moveTo>
                  <a:lnTo>
                    <a:pt x="15" y="348"/>
                  </a:lnTo>
                  <a:lnTo>
                    <a:pt x="0" y="348"/>
                  </a:lnTo>
                  <a:lnTo>
                    <a:pt x="0" y="334"/>
                  </a:lnTo>
                  <a:lnTo>
                    <a:pt x="15" y="334"/>
                  </a:lnTo>
                  <a:close/>
                  <a:moveTo>
                    <a:pt x="15" y="362"/>
                  </a:moveTo>
                  <a:lnTo>
                    <a:pt x="15" y="376"/>
                  </a:lnTo>
                  <a:lnTo>
                    <a:pt x="0" y="376"/>
                  </a:lnTo>
                  <a:lnTo>
                    <a:pt x="0" y="362"/>
                  </a:lnTo>
                  <a:lnTo>
                    <a:pt x="15" y="362"/>
                  </a:lnTo>
                  <a:close/>
                  <a:moveTo>
                    <a:pt x="15" y="390"/>
                  </a:moveTo>
                  <a:lnTo>
                    <a:pt x="15" y="404"/>
                  </a:lnTo>
                  <a:lnTo>
                    <a:pt x="0" y="404"/>
                  </a:lnTo>
                  <a:lnTo>
                    <a:pt x="0" y="390"/>
                  </a:lnTo>
                  <a:lnTo>
                    <a:pt x="15" y="390"/>
                  </a:lnTo>
                  <a:close/>
                  <a:moveTo>
                    <a:pt x="15" y="418"/>
                  </a:moveTo>
                  <a:lnTo>
                    <a:pt x="15" y="432"/>
                  </a:lnTo>
                  <a:lnTo>
                    <a:pt x="0" y="432"/>
                  </a:lnTo>
                  <a:lnTo>
                    <a:pt x="0" y="418"/>
                  </a:lnTo>
                  <a:lnTo>
                    <a:pt x="15" y="418"/>
                  </a:lnTo>
                  <a:close/>
                  <a:moveTo>
                    <a:pt x="15" y="446"/>
                  </a:moveTo>
                  <a:lnTo>
                    <a:pt x="15" y="460"/>
                  </a:lnTo>
                  <a:lnTo>
                    <a:pt x="0" y="460"/>
                  </a:lnTo>
                  <a:lnTo>
                    <a:pt x="0" y="446"/>
                  </a:lnTo>
                  <a:lnTo>
                    <a:pt x="15" y="446"/>
                  </a:lnTo>
                  <a:close/>
                  <a:moveTo>
                    <a:pt x="15" y="474"/>
                  </a:moveTo>
                  <a:lnTo>
                    <a:pt x="15" y="488"/>
                  </a:lnTo>
                  <a:lnTo>
                    <a:pt x="0" y="488"/>
                  </a:lnTo>
                  <a:lnTo>
                    <a:pt x="0" y="474"/>
                  </a:lnTo>
                  <a:lnTo>
                    <a:pt x="15" y="474"/>
                  </a:lnTo>
                  <a:close/>
                  <a:moveTo>
                    <a:pt x="15" y="501"/>
                  </a:moveTo>
                  <a:lnTo>
                    <a:pt x="15" y="515"/>
                  </a:lnTo>
                  <a:lnTo>
                    <a:pt x="0" y="515"/>
                  </a:lnTo>
                  <a:lnTo>
                    <a:pt x="0" y="501"/>
                  </a:lnTo>
                  <a:lnTo>
                    <a:pt x="15" y="501"/>
                  </a:lnTo>
                  <a:close/>
                  <a:moveTo>
                    <a:pt x="15" y="529"/>
                  </a:moveTo>
                  <a:lnTo>
                    <a:pt x="15" y="543"/>
                  </a:lnTo>
                  <a:lnTo>
                    <a:pt x="0" y="543"/>
                  </a:lnTo>
                  <a:lnTo>
                    <a:pt x="0" y="529"/>
                  </a:lnTo>
                  <a:lnTo>
                    <a:pt x="15" y="529"/>
                  </a:lnTo>
                  <a:close/>
                  <a:moveTo>
                    <a:pt x="15" y="557"/>
                  </a:moveTo>
                  <a:lnTo>
                    <a:pt x="15" y="571"/>
                  </a:lnTo>
                  <a:lnTo>
                    <a:pt x="0" y="571"/>
                  </a:lnTo>
                  <a:lnTo>
                    <a:pt x="0" y="557"/>
                  </a:lnTo>
                  <a:lnTo>
                    <a:pt x="15" y="557"/>
                  </a:lnTo>
                  <a:close/>
                  <a:moveTo>
                    <a:pt x="15" y="585"/>
                  </a:moveTo>
                  <a:lnTo>
                    <a:pt x="15" y="599"/>
                  </a:lnTo>
                  <a:lnTo>
                    <a:pt x="0" y="599"/>
                  </a:lnTo>
                  <a:lnTo>
                    <a:pt x="0" y="585"/>
                  </a:lnTo>
                  <a:lnTo>
                    <a:pt x="15" y="585"/>
                  </a:lnTo>
                  <a:close/>
                  <a:moveTo>
                    <a:pt x="15" y="613"/>
                  </a:moveTo>
                  <a:lnTo>
                    <a:pt x="15" y="627"/>
                  </a:lnTo>
                  <a:lnTo>
                    <a:pt x="0" y="627"/>
                  </a:lnTo>
                  <a:lnTo>
                    <a:pt x="0" y="613"/>
                  </a:lnTo>
                  <a:lnTo>
                    <a:pt x="15" y="613"/>
                  </a:lnTo>
                  <a:close/>
                  <a:moveTo>
                    <a:pt x="15" y="641"/>
                  </a:moveTo>
                  <a:lnTo>
                    <a:pt x="15" y="655"/>
                  </a:lnTo>
                  <a:lnTo>
                    <a:pt x="0" y="655"/>
                  </a:lnTo>
                  <a:lnTo>
                    <a:pt x="0" y="641"/>
                  </a:lnTo>
                  <a:lnTo>
                    <a:pt x="15" y="641"/>
                  </a:lnTo>
                  <a:close/>
                  <a:moveTo>
                    <a:pt x="15" y="668"/>
                  </a:moveTo>
                  <a:lnTo>
                    <a:pt x="15" y="682"/>
                  </a:lnTo>
                  <a:lnTo>
                    <a:pt x="0" y="682"/>
                  </a:lnTo>
                  <a:lnTo>
                    <a:pt x="0" y="668"/>
                  </a:lnTo>
                  <a:lnTo>
                    <a:pt x="15" y="668"/>
                  </a:lnTo>
                  <a:close/>
                  <a:moveTo>
                    <a:pt x="15" y="696"/>
                  </a:moveTo>
                  <a:lnTo>
                    <a:pt x="15" y="710"/>
                  </a:lnTo>
                  <a:lnTo>
                    <a:pt x="0" y="710"/>
                  </a:lnTo>
                  <a:lnTo>
                    <a:pt x="0" y="696"/>
                  </a:lnTo>
                  <a:lnTo>
                    <a:pt x="15" y="696"/>
                  </a:lnTo>
                  <a:close/>
                  <a:moveTo>
                    <a:pt x="15" y="724"/>
                  </a:moveTo>
                  <a:lnTo>
                    <a:pt x="15" y="738"/>
                  </a:lnTo>
                  <a:lnTo>
                    <a:pt x="0" y="738"/>
                  </a:lnTo>
                  <a:lnTo>
                    <a:pt x="0" y="724"/>
                  </a:lnTo>
                  <a:lnTo>
                    <a:pt x="15" y="724"/>
                  </a:lnTo>
                  <a:close/>
                  <a:moveTo>
                    <a:pt x="15" y="752"/>
                  </a:moveTo>
                  <a:lnTo>
                    <a:pt x="15" y="766"/>
                  </a:lnTo>
                  <a:lnTo>
                    <a:pt x="0" y="766"/>
                  </a:lnTo>
                  <a:lnTo>
                    <a:pt x="0" y="752"/>
                  </a:lnTo>
                  <a:lnTo>
                    <a:pt x="15" y="752"/>
                  </a:lnTo>
                  <a:close/>
                  <a:moveTo>
                    <a:pt x="15" y="780"/>
                  </a:moveTo>
                  <a:lnTo>
                    <a:pt x="15" y="793"/>
                  </a:lnTo>
                  <a:lnTo>
                    <a:pt x="0" y="793"/>
                  </a:lnTo>
                  <a:lnTo>
                    <a:pt x="0" y="780"/>
                  </a:lnTo>
                  <a:lnTo>
                    <a:pt x="15" y="780"/>
                  </a:lnTo>
                  <a:close/>
                  <a:moveTo>
                    <a:pt x="15" y="808"/>
                  </a:moveTo>
                  <a:lnTo>
                    <a:pt x="15" y="822"/>
                  </a:lnTo>
                  <a:lnTo>
                    <a:pt x="0" y="822"/>
                  </a:lnTo>
                  <a:lnTo>
                    <a:pt x="0" y="808"/>
                  </a:lnTo>
                  <a:lnTo>
                    <a:pt x="15" y="808"/>
                  </a:lnTo>
                  <a:close/>
                  <a:moveTo>
                    <a:pt x="15" y="835"/>
                  </a:moveTo>
                  <a:lnTo>
                    <a:pt x="15" y="849"/>
                  </a:lnTo>
                  <a:lnTo>
                    <a:pt x="0" y="849"/>
                  </a:lnTo>
                  <a:lnTo>
                    <a:pt x="0" y="835"/>
                  </a:lnTo>
                  <a:lnTo>
                    <a:pt x="15" y="835"/>
                  </a:lnTo>
                  <a:close/>
                  <a:moveTo>
                    <a:pt x="15" y="863"/>
                  </a:moveTo>
                  <a:lnTo>
                    <a:pt x="15" y="877"/>
                  </a:lnTo>
                  <a:lnTo>
                    <a:pt x="0" y="877"/>
                  </a:lnTo>
                  <a:lnTo>
                    <a:pt x="0" y="863"/>
                  </a:lnTo>
                  <a:lnTo>
                    <a:pt x="15" y="863"/>
                  </a:lnTo>
                  <a:close/>
                  <a:moveTo>
                    <a:pt x="15" y="891"/>
                  </a:moveTo>
                  <a:lnTo>
                    <a:pt x="15" y="905"/>
                  </a:lnTo>
                  <a:lnTo>
                    <a:pt x="0" y="905"/>
                  </a:lnTo>
                  <a:lnTo>
                    <a:pt x="0" y="891"/>
                  </a:lnTo>
                  <a:lnTo>
                    <a:pt x="15" y="891"/>
                  </a:lnTo>
                  <a:close/>
                  <a:moveTo>
                    <a:pt x="15" y="919"/>
                  </a:moveTo>
                  <a:lnTo>
                    <a:pt x="15" y="933"/>
                  </a:lnTo>
                  <a:lnTo>
                    <a:pt x="0" y="933"/>
                  </a:lnTo>
                  <a:lnTo>
                    <a:pt x="0" y="919"/>
                  </a:lnTo>
                  <a:lnTo>
                    <a:pt x="15" y="919"/>
                  </a:lnTo>
                  <a:close/>
                  <a:moveTo>
                    <a:pt x="15" y="947"/>
                  </a:moveTo>
                  <a:lnTo>
                    <a:pt x="15" y="960"/>
                  </a:lnTo>
                  <a:lnTo>
                    <a:pt x="0" y="960"/>
                  </a:lnTo>
                  <a:lnTo>
                    <a:pt x="0" y="947"/>
                  </a:lnTo>
                  <a:lnTo>
                    <a:pt x="15" y="947"/>
                  </a:lnTo>
                  <a:close/>
                  <a:moveTo>
                    <a:pt x="15" y="974"/>
                  </a:moveTo>
                  <a:lnTo>
                    <a:pt x="15" y="988"/>
                  </a:lnTo>
                  <a:lnTo>
                    <a:pt x="0" y="988"/>
                  </a:lnTo>
                  <a:lnTo>
                    <a:pt x="0" y="974"/>
                  </a:lnTo>
                  <a:lnTo>
                    <a:pt x="15" y="974"/>
                  </a:lnTo>
                  <a:close/>
                  <a:moveTo>
                    <a:pt x="15" y="1002"/>
                  </a:moveTo>
                  <a:lnTo>
                    <a:pt x="15" y="1016"/>
                  </a:lnTo>
                  <a:lnTo>
                    <a:pt x="0" y="1016"/>
                  </a:lnTo>
                  <a:lnTo>
                    <a:pt x="0" y="1002"/>
                  </a:lnTo>
                  <a:lnTo>
                    <a:pt x="15" y="1002"/>
                  </a:lnTo>
                  <a:close/>
                  <a:moveTo>
                    <a:pt x="15" y="1030"/>
                  </a:moveTo>
                  <a:lnTo>
                    <a:pt x="15" y="1044"/>
                  </a:lnTo>
                  <a:lnTo>
                    <a:pt x="0" y="1044"/>
                  </a:lnTo>
                  <a:lnTo>
                    <a:pt x="0" y="1030"/>
                  </a:lnTo>
                  <a:lnTo>
                    <a:pt x="15" y="1030"/>
                  </a:lnTo>
                  <a:close/>
                  <a:moveTo>
                    <a:pt x="15" y="1058"/>
                  </a:moveTo>
                  <a:lnTo>
                    <a:pt x="15" y="1072"/>
                  </a:lnTo>
                  <a:lnTo>
                    <a:pt x="0" y="1072"/>
                  </a:lnTo>
                  <a:lnTo>
                    <a:pt x="0" y="1058"/>
                  </a:lnTo>
                  <a:lnTo>
                    <a:pt x="15" y="1058"/>
                  </a:lnTo>
                  <a:close/>
                  <a:moveTo>
                    <a:pt x="15" y="1086"/>
                  </a:moveTo>
                  <a:lnTo>
                    <a:pt x="15" y="1100"/>
                  </a:lnTo>
                  <a:lnTo>
                    <a:pt x="0" y="1100"/>
                  </a:lnTo>
                  <a:lnTo>
                    <a:pt x="0" y="1086"/>
                  </a:lnTo>
                  <a:lnTo>
                    <a:pt x="15" y="1086"/>
                  </a:lnTo>
                  <a:close/>
                  <a:moveTo>
                    <a:pt x="15" y="1114"/>
                  </a:moveTo>
                  <a:lnTo>
                    <a:pt x="15" y="1127"/>
                  </a:lnTo>
                  <a:lnTo>
                    <a:pt x="0" y="1127"/>
                  </a:lnTo>
                  <a:lnTo>
                    <a:pt x="0" y="1114"/>
                  </a:lnTo>
                  <a:lnTo>
                    <a:pt x="15" y="1114"/>
                  </a:lnTo>
                  <a:close/>
                  <a:moveTo>
                    <a:pt x="15" y="1141"/>
                  </a:moveTo>
                  <a:lnTo>
                    <a:pt x="15" y="1155"/>
                  </a:lnTo>
                  <a:lnTo>
                    <a:pt x="0" y="1155"/>
                  </a:lnTo>
                  <a:lnTo>
                    <a:pt x="0" y="1141"/>
                  </a:lnTo>
                  <a:lnTo>
                    <a:pt x="15" y="1141"/>
                  </a:lnTo>
                  <a:close/>
                  <a:moveTo>
                    <a:pt x="15" y="1169"/>
                  </a:moveTo>
                  <a:lnTo>
                    <a:pt x="15" y="1183"/>
                  </a:lnTo>
                  <a:lnTo>
                    <a:pt x="0" y="1183"/>
                  </a:lnTo>
                  <a:lnTo>
                    <a:pt x="0" y="1169"/>
                  </a:lnTo>
                  <a:lnTo>
                    <a:pt x="15" y="1169"/>
                  </a:lnTo>
                  <a:close/>
                  <a:moveTo>
                    <a:pt x="15" y="1197"/>
                  </a:moveTo>
                  <a:lnTo>
                    <a:pt x="15" y="1211"/>
                  </a:lnTo>
                  <a:lnTo>
                    <a:pt x="0" y="1211"/>
                  </a:lnTo>
                  <a:lnTo>
                    <a:pt x="0" y="1197"/>
                  </a:lnTo>
                  <a:lnTo>
                    <a:pt x="15" y="1197"/>
                  </a:lnTo>
                  <a:close/>
                  <a:moveTo>
                    <a:pt x="15" y="1225"/>
                  </a:moveTo>
                  <a:lnTo>
                    <a:pt x="15" y="1239"/>
                  </a:lnTo>
                  <a:lnTo>
                    <a:pt x="0" y="1239"/>
                  </a:lnTo>
                  <a:lnTo>
                    <a:pt x="0" y="1225"/>
                  </a:lnTo>
                  <a:lnTo>
                    <a:pt x="15" y="1225"/>
                  </a:lnTo>
                  <a:close/>
                  <a:moveTo>
                    <a:pt x="15" y="1253"/>
                  </a:moveTo>
                  <a:lnTo>
                    <a:pt x="15" y="1267"/>
                  </a:lnTo>
                  <a:lnTo>
                    <a:pt x="0" y="1267"/>
                  </a:lnTo>
                  <a:lnTo>
                    <a:pt x="0" y="1253"/>
                  </a:lnTo>
                  <a:lnTo>
                    <a:pt x="15" y="1253"/>
                  </a:lnTo>
                  <a:close/>
                  <a:moveTo>
                    <a:pt x="15" y="1281"/>
                  </a:moveTo>
                  <a:lnTo>
                    <a:pt x="15" y="1294"/>
                  </a:lnTo>
                  <a:lnTo>
                    <a:pt x="0" y="1294"/>
                  </a:lnTo>
                  <a:lnTo>
                    <a:pt x="0" y="1281"/>
                  </a:lnTo>
                  <a:lnTo>
                    <a:pt x="15" y="1281"/>
                  </a:lnTo>
                  <a:close/>
                  <a:moveTo>
                    <a:pt x="15" y="1308"/>
                  </a:moveTo>
                  <a:lnTo>
                    <a:pt x="15" y="1322"/>
                  </a:lnTo>
                  <a:lnTo>
                    <a:pt x="0" y="1322"/>
                  </a:lnTo>
                  <a:lnTo>
                    <a:pt x="0" y="1308"/>
                  </a:lnTo>
                  <a:lnTo>
                    <a:pt x="15" y="1308"/>
                  </a:lnTo>
                  <a:close/>
                  <a:moveTo>
                    <a:pt x="15" y="1336"/>
                  </a:moveTo>
                  <a:lnTo>
                    <a:pt x="15" y="1350"/>
                  </a:lnTo>
                  <a:lnTo>
                    <a:pt x="0" y="1350"/>
                  </a:lnTo>
                  <a:lnTo>
                    <a:pt x="0" y="1336"/>
                  </a:lnTo>
                  <a:lnTo>
                    <a:pt x="15" y="1336"/>
                  </a:lnTo>
                  <a:close/>
                  <a:moveTo>
                    <a:pt x="15" y="1364"/>
                  </a:moveTo>
                  <a:lnTo>
                    <a:pt x="15" y="1378"/>
                  </a:lnTo>
                  <a:lnTo>
                    <a:pt x="0" y="1378"/>
                  </a:lnTo>
                  <a:lnTo>
                    <a:pt x="0" y="1364"/>
                  </a:lnTo>
                  <a:lnTo>
                    <a:pt x="15" y="1364"/>
                  </a:lnTo>
                  <a:close/>
                  <a:moveTo>
                    <a:pt x="15" y="1392"/>
                  </a:moveTo>
                  <a:lnTo>
                    <a:pt x="15" y="1406"/>
                  </a:lnTo>
                  <a:lnTo>
                    <a:pt x="0" y="1406"/>
                  </a:lnTo>
                  <a:lnTo>
                    <a:pt x="0" y="1392"/>
                  </a:lnTo>
                  <a:lnTo>
                    <a:pt x="15" y="1392"/>
                  </a:lnTo>
                  <a:close/>
                  <a:moveTo>
                    <a:pt x="15" y="1420"/>
                  </a:moveTo>
                  <a:lnTo>
                    <a:pt x="15" y="1434"/>
                  </a:lnTo>
                  <a:lnTo>
                    <a:pt x="0" y="1434"/>
                  </a:lnTo>
                  <a:lnTo>
                    <a:pt x="0" y="1420"/>
                  </a:lnTo>
                  <a:lnTo>
                    <a:pt x="15" y="1420"/>
                  </a:lnTo>
                  <a:close/>
                  <a:moveTo>
                    <a:pt x="15" y="1448"/>
                  </a:moveTo>
                  <a:lnTo>
                    <a:pt x="15" y="1461"/>
                  </a:lnTo>
                  <a:lnTo>
                    <a:pt x="0" y="1461"/>
                  </a:lnTo>
                  <a:lnTo>
                    <a:pt x="0" y="1448"/>
                  </a:lnTo>
                  <a:lnTo>
                    <a:pt x="15" y="1448"/>
                  </a:lnTo>
                  <a:close/>
                  <a:moveTo>
                    <a:pt x="15" y="1475"/>
                  </a:moveTo>
                  <a:lnTo>
                    <a:pt x="15" y="1489"/>
                  </a:lnTo>
                  <a:lnTo>
                    <a:pt x="0" y="1489"/>
                  </a:lnTo>
                  <a:lnTo>
                    <a:pt x="0" y="1475"/>
                  </a:lnTo>
                  <a:lnTo>
                    <a:pt x="15" y="1475"/>
                  </a:lnTo>
                  <a:close/>
                  <a:moveTo>
                    <a:pt x="15" y="1503"/>
                  </a:moveTo>
                  <a:lnTo>
                    <a:pt x="15" y="1517"/>
                  </a:lnTo>
                  <a:lnTo>
                    <a:pt x="0" y="1517"/>
                  </a:lnTo>
                  <a:lnTo>
                    <a:pt x="0" y="1503"/>
                  </a:lnTo>
                  <a:lnTo>
                    <a:pt x="15" y="1503"/>
                  </a:lnTo>
                  <a:close/>
                  <a:moveTo>
                    <a:pt x="15" y="1531"/>
                  </a:moveTo>
                  <a:lnTo>
                    <a:pt x="15" y="1545"/>
                  </a:lnTo>
                  <a:lnTo>
                    <a:pt x="0" y="1545"/>
                  </a:lnTo>
                  <a:lnTo>
                    <a:pt x="0" y="1531"/>
                  </a:lnTo>
                  <a:lnTo>
                    <a:pt x="15" y="1531"/>
                  </a:lnTo>
                  <a:close/>
                  <a:moveTo>
                    <a:pt x="15" y="1559"/>
                  </a:moveTo>
                  <a:lnTo>
                    <a:pt x="15" y="1573"/>
                  </a:lnTo>
                  <a:lnTo>
                    <a:pt x="0" y="1573"/>
                  </a:lnTo>
                  <a:lnTo>
                    <a:pt x="0" y="1559"/>
                  </a:lnTo>
                  <a:lnTo>
                    <a:pt x="15" y="1559"/>
                  </a:lnTo>
                  <a:close/>
                  <a:moveTo>
                    <a:pt x="15" y="1587"/>
                  </a:moveTo>
                  <a:lnTo>
                    <a:pt x="15" y="1601"/>
                  </a:lnTo>
                  <a:lnTo>
                    <a:pt x="0" y="1601"/>
                  </a:lnTo>
                  <a:lnTo>
                    <a:pt x="0" y="1587"/>
                  </a:lnTo>
                  <a:lnTo>
                    <a:pt x="15" y="1587"/>
                  </a:lnTo>
                  <a:close/>
                  <a:moveTo>
                    <a:pt x="15" y="1615"/>
                  </a:moveTo>
                  <a:lnTo>
                    <a:pt x="15" y="1628"/>
                  </a:lnTo>
                  <a:lnTo>
                    <a:pt x="0" y="1628"/>
                  </a:lnTo>
                  <a:lnTo>
                    <a:pt x="0" y="1615"/>
                  </a:lnTo>
                  <a:lnTo>
                    <a:pt x="15" y="1615"/>
                  </a:lnTo>
                  <a:close/>
                  <a:moveTo>
                    <a:pt x="15" y="1642"/>
                  </a:moveTo>
                  <a:lnTo>
                    <a:pt x="15" y="1656"/>
                  </a:lnTo>
                  <a:lnTo>
                    <a:pt x="0" y="1656"/>
                  </a:lnTo>
                  <a:lnTo>
                    <a:pt x="0" y="1642"/>
                  </a:lnTo>
                  <a:lnTo>
                    <a:pt x="15" y="1642"/>
                  </a:lnTo>
                  <a:close/>
                  <a:moveTo>
                    <a:pt x="15" y="1670"/>
                  </a:moveTo>
                  <a:lnTo>
                    <a:pt x="15" y="1684"/>
                  </a:lnTo>
                  <a:lnTo>
                    <a:pt x="0" y="1684"/>
                  </a:lnTo>
                  <a:lnTo>
                    <a:pt x="0" y="1670"/>
                  </a:lnTo>
                  <a:lnTo>
                    <a:pt x="15" y="1670"/>
                  </a:lnTo>
                  <a:close/>
                  <a:moveTo>
                    <a:pt x="15" y="1698"/>
                  </a:moveTo>
                  <a:lnTo>
                    <a:pt x="15" y="1712"/>
                  </a:lnTo>
                  <a:lnTo>
                    <a:pt x="0" y="1712"/>
                  </a:lnTo>
                  <a:lnTo>
                    <a:pt x="0" y="1698"/>
                  </a:lnTo>
                  <a:lnTo>
                    <a:pt x="15" y="1698"/>
                  </a:lnTo>
                  <a:close/>
                  <a:moveTo>
                    <a:pt x="15" y="1726"/>
                  </a:moveTo>
                  <a:lnTo>
                    <a:pt x="15" y="1740"/>
                  </a:lnTo>
                  <a:lnTo>
                    <a:pt x="0" y="1740"/>
                  </a:lnTo>
                  <a:lnTo>
                    <a:pt x="0" y="1726"/>
                  </a:lnTo>
                  <a:lnTo>
                    <a:pt x="15" y="1726"/>
                  </a:lnTo>
                  <a:close/>
                  <a:moveTo>
                    <a:pt x="15" y="1754"/>
                  </a:moveTo>
                  <a:lnTo>
                    <a:pt x="15" y="1768"/>
                  </a:lnTo>
                  <a:lnTo>
                    <a:pt x="0" y="1768"/>
                  </a:lnTo>
                  <a:lnTo>
                    <a:pt x="0" y="1754"/>
                  </a:lnTo>
                  <a:lnTo>
                    <a:pt x="15" y="1754"/>
                  </a:lnTo>
                  <a:close/>
                  <a:moveTo>
                    <a:pt x="15" y="1782"/>
                  </a:moveTo>
                  <a:lnTo>
                    <a:pt x="15" y="1795"/>
                  </a:lnTo>
                  <a:lnTo>
                    <a:pt x="0" y="1795"/>
                  </a:lnTo>
                  <a:lnTo>
                    <a:pt x="0" y="1782"/>
                  </a:lnTo>
                  <a:lnTo>
                    <a:pt x="15" y="1782"/>
                  </a:lnTo>
                  <a:close/>
                  <a:moveTo>
                    <a:pt x="15" y="1809"/>
                  </a:moveTo>
                  <a:lnTo>
                    <a:pt x="15" y="1823"/>
                  </a:lnTo>
                  <a:lnTo>
                    <a:pt x="0" y="1823"/>
                  </a:lnTo>
                  <a:lnTo>
                    <a:pt x="0" y="1809"/>
                  </a:lnTo>
                  <a:lnTo>
                    <a:pt x="15" y="1809"/>
                  </a:lnTo>
                  <a:close/>
                  <a:moveTo>
                    <a:pt x="15" y="1837"/>
                  </a:moveTo>
                  <a:lnTo>
                    <a:pt x="15" y="1851"/>
                  </a:lnTo>
                  <a:lnTo>
                    <a:pt x="0" y="1851"/>
                  </a:lnTo>
                  <a:lnTo>
                    <a:pt x="0" y="1837"/>
                  </a:lnTo>
                  <a:lnTo>
                    <a:pt x="15" y="1837"/>
                  </a:lnTo>
                  <a:close/>
                  <a:moveTo>
                    <a:pt x="15" y="1865"/>
                  </a:moveTo>
                  <a:lnTo>
                    <a:pt x="15" y="1879"/>
                  </a:lnTo>
                  <a:lnTo>
                    <a:pt x="0" y="1879"/>
                  </a:lnTo>
                  <a:lnTo>
                    <a:pt x="0" y="1865"/>
                  </a:lnTo>
                  <a:lnTo>
                    <a:pt x="15" y="1865"/>
                  </a:lnTo>
                  <a:close/>
                  <a:moveTo>
                    <a:pt x="15" y="1893"/>
                  </a:moveTo>
                  <a:lnTo>
                    <a:pt x="15" y="1907"/>
                  </a:lnTo>
                  <a:lnTo>
                    <a:pt x="0" y="1907"/>
                  </a:lnTo>
                  <a:lnTo>
                    <a:pt x="0" y="1893"/>
                  </a:lnTo>
                  <a:lnTo>
                    <a:pt x="15" y="1893"/>
                  </a:lnTo>
                  <a:close/>
                  <a:moveTo>
                    <a:pt x="15" y="1921"/>
                  </a:moveTo>
                  <a:lnTo>
                    <a:pt x="15" y="1935"/>
                  </a:lnTo>
                  <a:lnTo>
                    <a:pt x="0" y="1935"/>
                  </a:lnTo>
                  <a:lnTo>
                    <a:pt x="0" y="1921"/>
                  </a:lnTo>
                  <a:lnTo>
                    <a:pt x="15" y="1921"/>
                  </a:lnTo>
                  <a:close/>
                  <a:moveTo>
                    <a:pt x="15" y="1949"/>
                  </a:moveTo>
                  <a:lnTo>
                    <a:pt x="15" y="1962"/>
                  </a:lnTo>
                  <a:lnTo>
                    <a:pt x="0" y="1962"/>
                  </a:lnTo>
                  <a:lnTo>
                    <a:pt x="0" y="1949"/>
                  </a:lnTo>
                  <a:lnTo>
                    <a:pt x="15" y="1949"/>
                  </a:lnTo>
                  <a:close/>
                  <a:moveTo>
                    <a:pt x="15" y="1976"/>
                  </a:moveTo>
                  <a:lnTo>
                    <a:pt x="15" y="1990"/>
                  </a:lnTo>
                  <a:lnTo>
                    <a:pt x="0" y="1990"/>
                  </a:lnTo>
                  <a:lnTo>
                    <a:pt x="0" y="1976"/>
                  </a:lnTo>
                  <a:lnTo>
                    <a:pt x="15" y="1976"/>
                  </a:lnTo>
                  <a:close/>
                  <a:moveTo>
                    <a:pt x="15" y="2004"/>
                  </a:moveTo>
                  <a:lnTo>
                    <a:pt x="15" y="2018"/>
                  </a:lnTo>
                  <a:lnTo>
                    <a:pt x="0" y="2018"/>
                  </a:lnTo>
                  <a:lnTo>
                    <a:pt x="0" y="2004"/>
                  </a:lnTo>
                  <a:lnTo>
                    <a:pt x="15" y="2004"/>
                  </a:lnTo>
                  <a:close/>
                  <a:moveTo>
                    <a:pt x="15" y="2032"/>
                  </a:moveTo>
                  <a:lnTo>
                    <a:pt x="15" y="2046"/>
                  </a:lnTo>
                  <a:lnTo>
                    <a:pt x="0" y="2046"/>
                  </a:lnTo>
                  <a:lnTo>
                    <a:pt x="0" y="2032"/>
                  </a:lnTo>
                  <a:lnTo>
                    <a:pt x="15" y="2032"/>
                  </a:lnTo>
                  <a:close/>
                  <a:moveTo>
                    <a:pt x="15" y="2060"/>
                  </a:moveTo>
                  <a:lnTo>
                    <a:pt x="15" y="2074"/>
                  </a:lnTo>
                  <a:lnTo>
                    <a:pt x="0" y="2074"/>
                  </a:lnTo>
                  <a:lnTo>
                    <a:pt x="0" y="2060"/>
                  </a:lnTo>
                  <a:lnTo>
                    <a:pt x="15" y="2060"/>
                  </a:lnTo>
                  <a:close/>
                  <a:moveTo>
                    <a:pt x="15" y="2087"/>
                  </a:moveTo>
                  <a:lnTo>
                    <a:pt x="15" y="2102"/>
                  </a:lnTo>
                  <a:lnTo>
                    <a:pt x="0" y="2102"/>
                  </a:lnTo>
                  <a:lnTo>
                    <a:pt x="0" y="2087"/>
                  </a:lnTo>
                  <a:lnTo>
                    <a:pt x="15" y="2087"/>
                  </a:lnTo>
                  <a:close/>
                  <a:moveTo>
                    <a:pt x="15" y="2116"/>
                  </a:moveTo>
                  <a:lnTo>
                    <a:pt x="15" y="2129"/>
                  </a:lnTo>
                  <a:lnTo>
                    <a:pt x="0" y="2129"/>
                  </a:lnTo>
                  <a:lnTo>
                    <a:pt x="0" y="2116"/>
                  </a:lnTo>
                  <a:lnTo>
                    <a:pt x="15" y="2116"/>
                  </a:lnTo>
                  <a:close/>
                  <a:moveTo>
                    <a:pt x="15" y="2143"/>
                  </a:moveTo>
                  <a:lnTo>
                    <a:pt x="15" y="2157"/>
                  </a:lnTo>
                  <a:lnTo>
                    <a:pt x="0" y="2157"/>
                  </a:lnTo>
                  <a:lnTo>
                    <a:pt x="0" y="2143"/>
                  </a:lnTo>
                  <a:lnTo>
                    <a:pt x="15" y="2143"/>
                  </a:lnTo>
                  <a:close/>
                  <a:moveTo>
                    <a:pt x="15" y="2171"/>
                  </a:moveTo>
                  <a:lnTo>
                    <a:pt x="15" y="2185"/>
                  </a:lnTo>
                  <a:lnTo>
                    <a:pt x="0" y="2185"/>
                  </a:lnTo>
                  <a:lnTo>
                    <a:pt x="0" y="2171"/>
                  </a:lnTo>
                  <a:lnTo>
                    <a:pt x="15" y="2171"/>
                  </a:lnTo>
                  <a:close/>
                  <a:moveTo>
                    <a:pt x="15" y="2199"/>
                  </a:moveTo>
                  <a:lnTo>
                    <a:pt x="15" y="2213"/>
                  </a:lnTo>
                  <a:lnTo>
                    <a:pt x="0" y="2213"/>
                  </a:lnTo>
                  <a:lnTo>
                    <a:pt x="0" y="2199"/>
                  </a:lnTo>
                  <a:lnTo>
                    <a:pt x="15" y="2199"/>
                  </a:lnTo>
                  <a:close/>
                  <a:moveTo>
                    <a:pt x="15" y="2227"/>
                  </a:moveTo>
                  <a:lnTo>
                    <a:pt x="15" y="2241"/>
                  </a:lnTo>
                  <a:lnTo>
                    <a:pt x="0" y="2241"/>
                  </a:lnTo>
                  <a:lnTo>
                    <a:pt x="0" y="2227"/>
                  </a:lnTo>
                  <a:lnTo>
                    <a:pt x="15" y="2227"/>
                  </a:lnTo>
                  <a:close/>
                  <a:moveTo>
                    <a:pt x="15" y="2254"/>
                  </a:moveTo>
                  <a:lnTo>
                    <a:pt x="15" y="2268"/>
                  </a:lnTo>
                  <a:lnTo>
                    <a:pt x="0" y="2268"/>
                  </a:lnTo>
                  <a:lnTo>
                    <a:pt x="0" y="2254"/>
                  </a:lnTo>
                  <a:lnTo>
                    <a:pt x="15" y="2254"/>
                  </a:lnTo>
                  <a:close/>
                  <a:moveTo>
                    <a:pt x="15" y="2283"/>
                  </a:moveTo>
                  <a:lnTo>
                    <a:pt x="15" y="2296"/>
                  </a:lnTo>
                  <a:lnTo>
                    <a:pt x="0" y="2296"/>
                  </a:lnTo>
                  <a:lnTo>
                    <a:pt x="0" y="2283"/>
                  </a:lnTo>
                  <a:lnTo>
                    <a:pt x="15" y="2283"/>
                  </a:lnTo>
                  <a:close/>
                  <a:moveTo>
                    <a:pt x="15" y="2310"/>
                  </a:moveTo>
                  <a:lnTo>
                    <a:pt x="15" y="2324"/>
                  </a:lnTo>
                  <a:lnTo>
                    <a:pt x="0" y="2324"/>
                  </a:lnTo>
                  <a:lnTo>
                    <a:pt x="0" y="2310"/>
                  </a:lnTo>
                  <a:lnTo>
                    <a:pt x="15" y="2310"/>
                  </a:lnTo>
                  <a:close/>
                  <a:moveTo>
                    <a:pt x="15" y="2338"/>
                  </a:moveTo>
                  <a:lnTo>
                    <a:pt x="15" y="2352"/>
                  </a:lnTo>
                  <a:lnTo>
                    <a:pt x="0" y="2352"/>
                  </a:lnTo>
                  <a:lnTo>
                    <a:pt x="0" y="2338"/>
                  </a:lnTo>
                  <a:lnTo>
                    <a:pt x="15" y="2338"/>
                  </a:lnTo>
                  <a:close/>
                  <a:moveTo>
                    <a:pt x="15" y="2366"/>
                  </a:moveTo>
                  <a:lnTo>
                    <a:pt x="15" y="2380"/>
                  </a:lnTo>
                  <a:lnTo>
                    <a:pt x="0" y="2380"/>
                  </a:lnTo>
                  <a:lnTo>
                    <a:pt x="0" y="2366"/>
                  </a:lnTo>
                  <a:lnTo>
                    <a:pt x="15" y="2366"/>
                  </a:lnTo>
                  <a:close/>
                  <a:moveTo>
                    <a:pt x="15" y="2394"/>
                  </a:moveTo>
                  <a:lnTo>
                    <a:pt x="15" y="2408"/>
                  </a:lnTo>
                  <a:lnTo>
                    <a:pt x="0" y="2408"/>
                  </a:lnTo>
                  <a:lnTo>
                    <a:pt x="0" y="2394"/>
                  </a:lnTo>
                  <a:lnTo>
                    <a:pt x="15" y="2394"/>
                  </a:lnTo>
                  <a:close/>
                  <a:moveTo>
                    <a:pt x="15" y="2421"/>
                  </a:moveTo>
                  <a:lnTo>
                    <a:pt x="15" y="2435"/>
                  </a:lnTo>
                  <a:lnTo>
                    <a:pt x="0" y="2435"/>
                  </a:lnTo>
                  <a:lnTo>
                    <a:pt x="0" y="2421"/>
                  </a:lnTo>
                  <a:lnTo>
                    <a:pt x="15" y="2421"/>
                  </a:lnTo>
                  <a:close/>
                  <a:moveTo>
                    <a:pt x="15" y="2449"/>
                  </a:moveTo>
                  <a:lnTo>
                    <a:pt x="15" y="2453"/>
                  </a:lnTo>
                  <a:lnTo>
                    <a:pt x="0" y="2453"/>
                  </a:lnTo>
                  <a:lnTo>
                    <a:pt x="0" y="2449"/>
                  </a:lnTo>
                  <a:lnTo>
                    <a:pt x="15" y="2449"/>
                  </a:lnTo>
                  <a:close/>
                </a:path>
              </a:pathLst>
            </a:custGeom>
            <a:solidFill>
              <a:srgbClr val="000000"/>
            </a:solidFill>
            <a:ln w="0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492" name="Freeform 34">
              <a:extLst>
                <a:ext uri="{FF2B5EF4-FFF2-40B4-BE49-F238E27FC236}">
                  <a16:creationId xmlns:a16="http://schemas.microsoft.com/office/drawing/2014/main" id="{D2EB979E-6F54-167D-C7E0-DB9F4872DC7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797908" y="3078501"/>
              <a:ext cx="18000" cy="3726773"/>
            </a:xfrm>
            <a:custGeom>
              <a:avLst/>
              <a:gdLst>
                <a:gd name="T0" fmla="*/ 14 w 14"/>
                <a:gd name="T1" fmla="*/ 42 h 2453"/>
                <a:gd name="T2" fmla="*/ 0 w 14"/>
                <a:gd name="T3" fmla="*/ 56 h 2453"/>
                <a:gd name="T4" fmla="*/ 14 w 14"/>
                <a:gd name="T5" fmla="*/ 112 h 2453"/>
                <a:gd name="T6" fmla="*/ 0 w 14"/>
                <a:gd name="T7" fmla="*/ 154 h 2453"/>
                <a:gd name="T8" fmla="*/ 14 w 14"/>
                <a:gd name="T9" fmla="*/ 167 h 2453"/>
                <a:gd name="T10" fmla="*/ 14 w 14"/>
                <a:gd name="T11" fmla="*/ 237 h 2453"/>
                <a:gd name="T12" fmla="*/ 0 w 14"/>
                <a:gd name="T13" fmla="*/ 251 h 2453"/>
                <a:gd name="T14" fmla="*/ 14 w 14"/>
                <a:gd name="T15" fmla="*/ 307 h 2453"/>
                <a:gd name="T16" fmla="*/ 0 w 14"/>
                <a:gd name="T17" fmla="*/ 348 h 2453"/>
                <a:gd name="T18" fmla="*/ 14 w 14"/>
                <a:gd name="T19" fmla="*/ 362 h 2453"/>
                <a:gd name="T20" fmla="*/ 14 w 14"/>
                <a:gd name="T21" fmla="*/ 432 h 2453"/>
                <a:gd name="T22" fmla="*/ 0 w 14"/>
                <a:gd name="T23" fmla="*/ 446 h 2453"/>
                <a:gd name="T24" fmla="*/ 14 w 14"/>
                <a:gd name="T25" fmla="*/ 501 h 2453"/>
                <a:gd name="T26" fmla="*/ 0 w 14"/>
                <a:gd name="T27" fmla="*/ 543 h 2453"/>
                <a:gd name="T28" fmla="*/ 14 w 14"/>
                <a:gd name="T29" fmla="*/ 557 h 2453"/>
                <a:gd name="T30" fmla="*/ 14 w 14"/>
                <a:gd name="T31" fmla="*/ 627 h 2453"/>
                <a:gd name="T32" fmla="*/ 0 w 14"/>
                <a:gd name="T33" fmla="*/ 641 h 2453"/>
                <a:gd name="T34" fmla="*/ 14 w 14"/>
                <a:gd name="T35" fmla="*/ 696 h 2453"/>
                <a:gd name="T36" fmla="*/ 0 w 14"/>
                <a:gd name="T37" fmla="*/ 738 h 2453"/>
                <a:gd name="T38" fmla="*/ 14 w 14"/>
                <a:gd name="T39" fmla="*/ 752 h 2453"/>
                <a:gd name="T40" fmla="*/ 14 w 14"/>
                <a:gd name="T41" fmla="*/ 822 h 2453"/>
                <a:gd name="T42" fmla="*/ 0 w 14"/>
                <a:gd name="T43" fmla="*/ 835 h 2453"/>
                <a:gd name="T44" fmla="*/ 14 w 14"/>
                <a:gd name="T45" fmla="*/ 891 h 2453"/>
                <a:gd name="T46" fmla="*/ 0 w 14"/>
                <a:gd name="T47" fmla="*/ 933 h 2453"/>
                <a:gd name="T48" fmla="*/ 14 w 14"/>
                <a:gd name="T49" fmla="*/ 947 h 2453"/>
                <a:gd name="T50" fmla="*/ 14 w 14"/>
                <a:gd name="T51" fmla="*/ 1016 h 2453"/>
                <a:gd name="T52" fmla="*/ 0 w 14"/>
                <a:gd name="T53" fmla="*/ 1030 h 2453"/>
                <a:gd name="T54" fmla="*/ 14 w 14"/>
                <a:gd name="T55" fmla="*/ 1086 h 2453"/>
                <a:gd name="T56" fmla="*/ 0 w 14"/>
                <a:gd name="T57" fmla="*/ 1127 h 2453"/>
                <a:gd name="T58" fmla="*/ 14 w 14"/>
                <a:gd name="T59" fmla="*/ 1141 h 2453"/>
                <a:gd name="T60" fmla="*/ 14 w 14"/>
                <a:gd name="T61" fmla="*/ 1211 h 2453"/>
                <a:gd name="T62" fmla="*/ 0 w 14"/>
                <a:gd name="T63" fmla="*/ 1225 h 2453"/>
                <a:gd name="T64" fmla="*/ 14 w 14"/>
                <a:gd name="T65" fmla="*/ 1281 h 2453"/>
                <a:gd name="T66" fmla="*/ 0 w 14"/>
                <a:gd name="T67" fmla="*/ 1322 h 2453"/>
                <a:gd name="T68" fmla="*/ 14 w 14"/>
                <a:gd name="T69" fmla="*/ 1336 h 2453"/>
                <a:gd name="T70" fmla="*/ 14 w 14"/>
                <a:gd name="T71" fmla="*/ 1406 h 2453"/>
                <a:gd name="T72" fmla="*/ 0 w 14"/>
                <a:gd name="T73" fmla="*/ 1420 h 2453"/>
                <a:gd name="T74" fmla="*/ 14 w 14"/>
                <a:gd name="T75" fmla="*/ 1475 h 2453"/>
                <a:gd name="T76" fmla="*/ 0 w 14"/>
                <a:gd name="T77" fmla="*/ 1517 h 2453"/>
                <a:gd name="T78" fmla="*/ 14 w 14"/>
                <a:gd name="T79" fmla="*/ 1531 h 2453"/>
                <a:gd name="T80" fmla="*/ 14 w 14"/>
                <a:gd name="T81" fmla="*/ 1601 h 2453"/>
                <a:gd name="T82" fmla="*/ 0 w 14"/>
                <a:gd name="T83" fmla="*/ 1615 h 2453"/>
                <a:gd name="T84" fmla="*/ 14 w 14"/>
                <a:gd name="T85" fmla="*/ 1670 h 2453"/>
                <a:gd name="T86" fmla="*/ 0 w 14"/>
                <a:gd name="T87" fmla="*/ 1712 h 2453"/>
                <a:gd name="T88" fmla="*/ 14 w 14"/>
                <a:gd name="T89" fmla="*/ 1726 h 2453"/>
                <a:gd name="T90" fmla="*/ 14 w 14"/>
                <a:gd name="T91" fmla="*/ 1795 h 2453"/>
                <a:gd name="T92" fmla="*/ 0 w 14"/>
                <a:gd name="T93" fmla="*/ 1809 h 2453"/>
                <a:gd name="T94" fmla="*/ 14 w 14"/>
                <a:gd name="T95" fmla="*/ 1865 h 2453"/>
                <a:gd name="T96" fmla="*/ 0 w 14"/>
                <a:gd name="T97" fmla="*/ 1907 h 2453"/>
                <a:gd name="T98" fmla="*/ 14 w 14"/>
                <a:gd name="T99" fmla="*/ 1921 h 2453"/>
                <a:gd name="T100" fmla="*/ 14 w 14"/>
                <a:gd name="T101" fmla="*/ 1990 h 2453"/>
                <a:gd name="T102" fmla="*/ 0 w 14"/>
                <a:gd name="T103" fmla="*/ 2004 h 2453"/>
                <a:gd name="T104" fmla="*/ 14 w 14"/>
                <a:gd name="T105" fmla="*/ 2060 h 2453"/>
                <a:gd name="T106" fmla="*/ 0 w 14"/>
                <a:gd name="T107" fmla="*/ 2102 h 2453"/>
                <a:gd name="T108" fmla="*/ 14 w 14"/>
                <a:gd name="T109" fmla="*/ 2116 h 2453"/>
                <a:gd name="T110" fmla="*/ 14 w 14"/>
                <a:gd name="T111" fmla="*/ 2185 h 2453"/>
                <a:gd name="T112" fmla="*/ 0 w 14"/>
                <a:gd name="T113" fmla="*/ 2199 h 2453"/>
                <a:gd name="T114" fmla="*/ 14 w 14"/>
                <a:gd name="T115" fmla="*/ 2254 h 2453"/>
                <a:gd name="T116" fmla="*/ 0 w 14"/>
                <a:gd name="T117" fmla="*/ 2296 h 2453"/>
                <a:gd name="T118" fmla="*/ 14 w 14"/>
                <a:gd name="T119" fmla="*/ 2310 h 2453"/>
                <a:gd name="T120" fmla="*/ 14 w 14"/>
                <a:gd name="T121" fmla="*/ 2380 h 2453"/>
                <a:gd name="T122" fmla="*/ 0 w 14"/>
                <a:gd name="T123" fmla="*/ 2394 h 2453"/>
                <a:gd name="T124" fmla="*/ 14 w 14"/>
                <a:gd name="T125" fmla="*/ 2449 h 24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4" h="2453">
                  <a:moveTo>
                    <a:pt x="14" y="0"/>
                  </a:moveTo>
                  <a:lnTo>
                    <a:pt x="14" y="14"/>
                  </a:lnTo>
                  <a:lnTo>
                    <a:pt x="0" y="14"/>
                  </a:lnTo>
                  <a:lnTo>
                    <a:pt x="0" y="0"/>
                  </a:lnTo>
                  <a:lnTo>
                    <a:pt x="14" y="0"/>
                  </a:lnTo>
                  <a:close/>
                  <a:moveTo>
                    <a:pt x="14" y="28"/>
                  </a:moveTo>
                  <a:lnTo>
                    <a:pt x="14" y="42"/>
                  </a:lnTo>
                  <a:lnTo>
                    <a:pt x="0" y="42"/>
                  </a:lnTo>
                  <a:lnTo>
                    <a:pt x="0" y="28"/>
                  </a:lnTo>
                  <a:lnTo>
                    <a:pt x="14" y="28"/>
                  </a:lnTo>
                  <a:close/>
                  <a:moveTo>
                    <a:pt x="14" y="56"/>
                  </a:moveTo>
                  <a:lnTo>
                    <a:pt x="14" y="70"/>
                  </a:lnTo>
                  <a:lnTo>
                    <a:pt x="0" y="70"/>
                  </a:lnTo>
                  <a:lnTo>
                    <a:pt x="0" y="56"/>
                  </a:lnTo>
                  <a:lnTo>
                    <a:pt x="14" y="56"/>
                  </a:lnTo>
                  <a:close/>
                  <a:moveTo>
                    <a:pt x="14" y="84"/>
                  </a:moveTo>
                  <a:lnTo>
                    <a:pt x="14" y="98"/>
                  </a:lnTo>
                  <a:lnTo>
                    <a:pt x="0" y="98"/>
                  </a:lnTo>
                  <a:lnTo>
                    <a:pt x="0" y="84"/>
                  </a:lnTo>
                  <a:lnTo>
                    <a:pt x="14" y="84"/>
                  </a:lnTo>
                  <a:close/>
                  <a:moveTo>
                    <a:pt x="14" y="112"/>
                  </a:moveTo>
                  <a:lnTo>
                    <a:pt x="14" y="126"/>
                  </a:lnTo>
                  <a:lnTo>
                    <a:pt x="0" y="126"/>
                  </a:lnTo>
                  <a:lnTo>
                    <a:pt x="0" y="112"/>
                  </a:lnTo>
                  <a:lnTo>
                    <a:pt x="14" y="112"/>
                  </a:lnTo>
                  <a:close/>
                  <a:moveTo>
                    <a:pt x="14" y="140"/>
                  </a:moveTo>
                  <a:lnTo>
                    <a:pt x="14" y="154"/>
                  </a:lnTo>
                  <a:lnTo>
                    <a:pt x="0" y="154"/>
                  </a:lnTo>
                  <a:lnTo>
                    <a:pt x="0" y="140"/>
                  </a:lnTo>
                  <a:lnTo>
                    <a:pt x="14" y="140"/>
                  </a:lnTo>
                  <a:close/>
                  <a:moveTo>
                    <a:pt x="14" y="167"/>
                  </a:moveTo>
                  <a:lnTo>
                    <a:pt x="14" y="181"/>
                  </a:lnTo>
                  <a:lnTo>
                    <a:pt x="0" y="181"/>
                  </a:lnTo>
                  <a:lnTo>
                    <a:pt x="0" y="167"/>
                  </a:lnTo>
                  <a:lnTo>
                    <a:pt x="14" y="167"/>
                  </a:lnTo>
                  <a:close/>
                  <a:moveTo>
                    <a:pt x="14" y="195"/>
                  </a:moveTo>
                  <a:lnTo>
                    <a:pt x="14" y="209"/>
                  </a:lnTo>
                  <a:lnTo>
                    <a:pt x="0" y="209"/>
                  </a:lnTo>
                  <a:lnTo>
                    <a:pt x="0" y="195"/>
                  </a:lnTo>
                  <a:lnTo>
                    <a:pt x="14" y="195"/>
                  </a:lnTo>
                  <a:close/>
                  <a:moveTo>
                    <a:pt x="14" y="223"/>
                  </a:moveTo>
                  <a:lnTo>
                    <a:pt x="14" y="237"/>
                  </a:lnTo>
                  <a:lnTo>
                    <a:pt x="0" y="237"/>
                  </a:lnTo>
                  <a:lnTo>
                    <a:pt x="0" y="223"/>
                  </a:lnTo>
                  <a:lnTo>
                    <a:pt x="14" y="223"/>
                  </a:lnTo>
                  <a:close/>
                  <a:moveTo>
                    <a:pt x="14" y="251"/>
                  </a:moveTo>
                  <a:lnTo>
                    <a:pt x="14" y="265"/>
                  </a:lnTo>
                  <a:lnTo>
                    <a:pt x="0" y="265"/>
                  </a:lnTo>
                  <a:lnTo>
                    <a:pt x="0" y="251"/>
                  </a:lnTo>
                  <a:lnTo>
                    <a:pt x="14" y="251"/>
                  </a:lnTo>
                  <a:close/>
                  <a:moveTo>
                    <a:pt x="14" y="279"/>
                  </a:moveTo>
                  <a:lnTo>
                    <a:pt x="14" y="293"/>
                  </a:lnTo>
                  <a:lnTo>
                    <a:pt x="0" y="293"/>
                  </a:lnTo>
                  <a:lnTo>
                    <a:pt x="0" y="279"/>
                  </a:lnTo>
                  <a:lnTo>
                    <a:pt x="14" y="279"/>
                  </a:lnTo>
                  <a:close/>
                  <a:moveTo>
                    <a:pt x="14" y="307"/>
                  </a:moveTo>
                  <a:lnTo>
                    <a:pt x="14" y="321"/>
                  </a:lnTo>
                  <a:lnTo>
                    <a:pt x="0" y="321"/>
                  </a:lnTo>
                  <a:lnTo>
                    <a:pt x="0" y="307"/>
                  </a:lnTo>
                  <a:lnTo>
                    <a:pt x="14" y="307"/>
                  </a:lnTo>
                  <a:close/>
                  <a:moveTo>
                    <a:pt x="14" y="334"/>
                  </a:moveTo>
                  <a:lnTo>
                    <a:pt x="14" y="348"/>
                  </a:lnTo>
                  <a:lnTo>
                    <a:pt x="0" y="348"/>
                  </a:lnTo>
                  <a:lnTo>
                    <a:pt x="0" y="334"/>
                  </a:lnTo>
                  <a:lnTo>
                    <a:pt x="14" y="334"/>
                  </a:lnTo>
                  <a:close/>
                  <a:moveTo>
                    <a:pt x="14" y="362"/>
                  </a:moveTo>
                  <a:lnTo>
                    <a:pt x="14" y="376"/>
                  </a:lnTo>
                  <a:lnTo>
                    <a:pt x="0" y="376"/>
                  </a:lnTo>
                  <a:lnTo>
                    <a:pt x="0" y="362"/>
                  </a:lnTo>
                  <a:lnTo>
                    <a:pt x="14" y="362"/>
                  </a:lnTo>
                  <a:close/>
                  <a:moveTo>
                    <a:pt x="14" y="390"/>
                  </a:moveTo>
                  <a:lnTo>
                    <a:pt x="14" y="404"/>
                  </a:lnTo>
                  <a:lnTo>
                    <a:pt x="0" y="404"/>
                  </a:lnTo>
                  <a:lnTo>
                    <a:pt x="0" y="390"/>
                  </a:lnTo>
                  <a:lnTo>
                    <a:pt x="14" y="390"/>
                  </a:lnTo>
                  <a:close/>
                  <a:moveTo>
                    <a:pt x="14" y="418"/>
                  </a:moveTo>
                  <a:lnTo>
                    <a:pt x="14" y="432"/>
                  </a:lnTo>
                  <a:lnTo>
                    <a:pt x="0" y="432"/>
                  </a:lnTo>
                  <a:lnTo>
                    <a:pt x="0" y="418"/>
                  </a:lnTo>
                  <a:lnTo>
                    <a:pt x="14" y="418"/>
                  </a:lnTo>
                  <a:close/>
                  <a:moveTo>
                    <a:pt x="14" y="446"/>
                  </a:moveTo>
                  <a:lnTo>
                    <a:pt x="14" y="460"/>
                  </a:lnTo>
                  <a:lnTo>
                    <a:pt x="0" y="460"/>
                  </a:lnTo>
                  <a:lnTo>
                    <a:pt x="0" y="446"/>
                  </a:lnTo>
                  <a:lnTo>
                    <a:pt x="14" y="446"/>
                  </a:lnTo>
                  <a:close/>
                  <a:moveTo>
                    <a:pt x="14" y="474"/>
                  </a:moveTo>
                  <a:lnTo>
                    <a:pt x="14" y="488"/>
                  </a:lnTo>
                  <a:lnTo>
                    <a:pt x="0" y="488"/>
                  </a:lnTo>
                  <a:lnTo>
                    <a:pt x="0" y="474"/>
                  </a:lnTo>
                  <a:lnTo>
                    <a:pt x="14" y="474"/>
                  </a:lnTo>
                  <a:close/>
                  <a:moveTo>
                    <a:pt x="14" y="501"/>
                  </a:moveTo>
                  <a:lnTo>
                    <a:pt x="14" y="515"/>
                  </a:lnTo>
                  <a:lnTo>
                    <a:pt x="0" y="515"/>
                  </a:lnTo>
                  <a:lnTo>
                    <a:pt x="0" y="501"/>
                  </a:lnTo>
                  <a:lnTo>
                    <a:pt x="14" y="501"/>
                  </a:lnTo>
                  <a:close/>
                  <a:moveTo>
                    <a:pt x="14" y="529"/>
                  </a:moveTo>
                  <a:lnTo>
                    <a:pt x="14" y="543"/>
                  </a:lnTo>
                  <a:lnTo>
                    <a:pt x="0" y="543"/>
                  </a:lnTo>
                  <a:lnTo>
                    <a:pt x="0" y="529"/>
                  </a:lnTo>
                  <a:lnTo>
                    <a:pt x="14" y="529"/>
                  </a:lnTo>
                  <a:close/>
                  <a:moveTo>
                    <a:pt x="14" y="557"/>
                  </a:moveTo>
                  <a:lnTo>
                    <a:pt x="14" y="571"/>
                  </a:lnTo>
                  <a:lnTo>
                    <a:pt x="0" y="571"/>
                  </a:lnTo>
                  <a:lnTo>
                    <a:pt x="0" y="557"/>
                  </a:lnTo>
                  <a:lnTo>
                    <a:pt x="14" y="557"/>
                  </a:lnTo>
                  <a:close/>
                  <a:moveTo>
                    <a:pt x="14" y="585"/>
                  </a:moveTo>
                  <a:lnTo>
                    <a:pt x="14" y="599"/>
                  </a:lnTo>
                  <a:lnTo>
                    <a:pt x="0" y="599"/>
                  </a:lnTo>
                  <a:lnTo>
                    <a:pt x="0" y="585"/>
                  </a:lnTo>
                  <a:lnTo>
                    <a:pt x="14" y="585"/>
                  </a:lnTo>
                  <a:close/>
                  <a:moveTo>
                    <a:pt x="14" y="613"/>
                  </a:moveTo>
                  <a:lnTo>
                    <a:pt x="14" y="627"/>
                  </a:lnTo>
                  <a:lnTo>
                    <a:pt x="0" y="627"/>
                  </a:lnTo>
                  <a:lnTo>
                    <a:pt x="0" y="613"/>
                  </a:lnTo>
                  <a:lnTo>
                    <a:pt x="14" y="613"/>
                  </a:lnTo>
                  <a:close/>
                  <a:moveTo>
                    <a:pt x="14" y="641"/>
                  </a:moveTo>
                  <a:lnTo>
                    <a:pt x="14" y="655"/>
                  </a:lnTo>
                  <a:lnTo>
                    <a:pt x="0" y="655"/>
                  </a:lnTo>
                  <a:lnTo>
                    <a:pt x="0" y="641"/>
                  </a:lnTo>
                  <a:lnTo>
                    <a:pt x="14" y="641"/>
                  </a:lnTo>
                  <a:close/>
                  <a:moveTo>
                    <a:pt x="14" y="668"/>
                  </a:moveTo>
                  <a:lnTo>
                    <a:pt x="14" y="682"/>
                  </a:lnTo>
                  <a:lnTo>
                    <a:pt x="0" y="682"/>
                  </a:lnTo>
                  <a:lnTo>
                    <a:pt x="0" y="668"/>
                  </a:lnTo>
                  <a:lnTo>
                    <a:pt x="14" y="668"/>
                  </a:lnTo>
                  <a:close/>
                  <a:moveTo>
                    <a:pt x="14" y="696"/>
                  </a:moveTo>
                  <a:lnTo>
                    <a:pt x="14" y="710"/>
                  </a:lnTo>
                  <a:lnTo>
                    <a:pt x="0" y="710"/>
                  </a:lnTo>
                  <a:lnTo>
                    <a:pt x="0" y="696"/>
                  </a:lnTo>
                  <a:lnTo>
                    <a:pt x="14" y="696"/>
                  </a:lnTo>
                  <a:close/>
                  <a:moveTo>
                    <a:pt x="14" y="724"/>
                  </a:moveTo>
                  <a:lnTo>
                    <a:pt x="14" y="738"/>
                  </a:lnTo>
                  <a:lnTo>
                    <a:pt x="0" y="738"/>
                  </a:lnTo>
                  <a:lnTo>
                    <a:pt x="0" y="724"/>
                  </a:lnTo>
                  <a:lnTo>
                    <a:pt x="14" y="724"/>
                  </a:lnTo>
                  <a:close/>
                  <a:moveTo>
                    <a:pt x="14" y="752"/>
                  </a:moveTo>
                  <a:lnTo>
                    <a:pt x="14" y="766"/>
                  </a:lnTo>
                  <a:lnTo>
                    <a:pt x="0" y="766"/>
                  </a:lnTo>
                  <a:lnTo>
                    <a:pt x="0" y="752"/>
                  </a:lnTo>
                  <a:lnTo>
                    <a:pt x="14" y="752"/>
                  </a:lnTo>
                  <a:close/>
                  <a:moveTo>
                    <a:pt x="14" y="780"/>
                  </a:moveTo>
                  <a:lnTo>
                    <a:pt x="14" y="793"/>
                  </a:lnTo>
                  <a:lnTo>
                    <a:pt x="0" y="793"/>
                  </a:lnTo>
                  <a:lnTo>
                    <a:pt x="0" y="780"/>
                  </a:lnTo>
                  <a:lnTo>
                    <a:pt x="14" y="780"/>
                  </a:lnTo>
                  <a:close/>
                  <a:moveTo>
                    <a:pt x="14" y="808"/>
                  </a:moveTo>
                  <a:lnTo>
                    <a:pt x="14" y="822"/>
                  </a:lnTo>
                  <a:lnTo>
                    <a:pt x="0" y="822"/>
                  </a:lnTo>
                  <a:lnTo>
                    <a:pt x="0" y="808"/>
                  </a:lnTo>
                  <a:lnTo>
                    <a:pt x="14" y="808"/>
                  </a:lnTo>
                  <a:close/>
                  <a:moveTo>
                    <a:pt x="14" y="835"/>
                  </a:moveTo>
                  <a:lnTo>
                    <a:pt x="14" y="849"/>
                  </a:lnTo>
                  <a:lnTo>
                    <a:pt x="0" y="849"/>
                  </a:lnTo>
                  <a:lnTo>
                    <a:pt x="0" y="835"/>
                  </a:lnTo>
                  <a:lnTo>
                    <a:pt x="14" y="835"/>
                  </a:lnTo>
                  <a:close/>
                  <a:moveTo>
                    <a:pt x="14" y="863"/>
                  </a:moveTo>
                  <a:lnTo>
                    <a:pt x="14" y="877"/>
                  </a:lnTo>
                  <a:lnTo>
                    <a:pt x="0" y="877"/>
                  </a:lnTo>
                  <a:lnTo>
                    <a:pt x="0" y="863"/>
                  </a:lnTo>
                  <a:lnTo>
                    <a:pt x="14" y="863"/>
                  </a:lnTo>
                  <a:close/>
                  <a:moveTo>
                    <a:pt x="14" y="891"/>
                  </a:moveTo>
                  <a:lnTo>
                    <a:pt x="14" y="905"/>
                  </a:lnTo>
                  <a:lnTo>
                    <a:pt x="0" y="905"/>
                  </a:lnTo>
                  <a:lnTo>
                    <a:pt x="0" y="891"/>
                  </a:lnTo>
                  <a:lnTo>
                    <a:pt x="14" y="891"/>
                  </a:lnTo>
                  <a:close/>
                  <a:moveTo>
                    <a:pt x="14" y="919"/>
                  </a:moveTo>
                  <a:lnTo>
                    <a:pt x="14" y="933"/>
                  </a:lnTo>
                  <a:lnTo>
                    <a:pt x="0" y="933"/>
                  </a:lnTo>
                  <a:lnTo>
                    <a:pt x="0" y="919"/>
                  </a:lnTo>
                  <a:lnTo>
                    <a:pt x="14" y="919"/>
                  </a:lnTo>
                  <a:close/>
                  <a:moveTo>
                    <a:pt x="14" y="947"/>
                  </a:moveTo>
                  <a:lnTo>
                    <a:pt x="14" y="960"/>
                  </a:lnTo>
                  <a:lnTo>
                    <a:pt x="0" y="960"/>
                  </a:lnTo>
                  <a:lnTo>
                    <a:pt x="0" y="947"/>
                  </a:lnTo>
                  <a:lnTo>
                    <a:pt x="14" y="947"/>
                  </a:lnTo>
                  <a:close/>
                  <a:moveTo>
                    <a:pt x="14" y="974"/>
                  </a:moveTo>
                  <a:lnTo>
                    <a:pt x="14" y="988"/>
                  </a:lnTo>
                  <a:lnTo>
                    <a:pt x="0" y="988"/>
                  </a:lnTo>
                  <a:lnTo>
                    <a:pt x="0" y="974"/>
                  </a:lnTo>
                  <a:lnTo>
                    <a:pt x="14" y="974"/>
                  </a:lnTo>
                  <a:close/>
                  <a:moveTo>
                    <a:pt x="14" y="1002"/>
                  </a:moveTo>
                  <a:lnTo>
                    <a:pt x="14" y="1016"/>
                  </a:lnTo>
                  <a:lnTo>
                    <a:pt x="0" y="1016"/>
                  </a:lnTo>
                  <a:lnTo>
                    <a:pt x="0" y="1002"/>
                  </a:lnTo>
                  <a:lnTo>
                    <a:pt x="14" y="1002"/>
                  </a:lnTo>
                  <a:close/>
                  <a:moveTo>
                    <a:pt x="14" y="1030"/>
                  </a:moveTo>
                  <a:lnTo>
                    <a:pt x="14" y="1044"/>
                  </a:lnTo>
                  <a:lnTo>
                    <a:pt x="0" y="1044"/>
                  </a:lnTo>
                  <a:lnTo>
                    <a:pt x="0" y="1030"/>
                  </a:lnTo>
                  <a:lnTo>
                    <a:pt x="14" y="1030"/>
                  </a:lnTo>
                  <a:close/>
                  <a:moveTo>
                    <a:pt x="14" y="1058"/>
                  </a:moveTo>
                  <a:lnTo>
                    <a:pt x="14" y="1072"/>
                  </a:lnTo>
                  <a:lnTo>
                    <a:pt x="0" y="1072"/>
                  </a:lnTo>
                  <a:lnTo>
                    <a:pt x="0" y="1058"/>
                  </a:lnTo>
                  <a:lnTo>
                    <a:pt x="14" y="1058"/>
                  </a:lnTo>
                  <a:close/>
                  <a:moveTo>
                    <a:pt x="14" y="1086"/>
                  </a:moveTo>
                  <a:lnTo>
                    <a:pt x="14" y="1100"/>
                  </a:lnTo>
                  <a:lnTo>
                    <a:pt x="0" y="1100"/>
                  </a:lnTo>
                  <a:lnTo>
                    <a:pt x="0" y="1086"/>
                  </a:lnTo>
                  <a:lnTo>
                    <a:pt x="14" y="1086"/>
                  </a:lnTo>
                  <a:close/>
                  <a:moveTo>
                    <a:pt x="14" y="1114"/>
                  </a:moveTo>
                  <a:lnTo>
                    <a:pt x="14" y="1127"/>
                  </a:lnTo>
                  <a:lnTo>
                    <a:pt x="0" y="1127"/>
                  </a:lnTo>
                  <a:lnTo>
                    <a:pt x="0" y="1114"/>
                  </a:lnTo>
                  <a:lnTo>
                    <a:pt x="14" y="1114"/>
                  </a:lnTo>
                  <a:close/>
                  <a:moveTo>
                    <a:pt x="14" y="1141"/>
                  </a:moveTo>
                  <a:lnTo>
                    <a:pt x="14" y="1155"/>
                  </a:lnTo>
                  <a:lnTo>
                    <a:pt x="0" y="1155"/>
                  </a:lnTo>
                  <a:lnTo>
                    <a:pt x="0" y="1141"/>
                  </a:lnTo>
                  <a:lnTo>
                    <a:pt x="14" y="1141"/>
                  </a:lnTo>
                  <a:close/>
                  <a:moveTo>
                    <a:pt x="14" y="1169"/>
                  </a:moveTo>
                  <a:lnTo>
                    <a:pt x="14" y="1183"/>
                  </a:lnTo>
                  <a:lnTo>
                    <a:pt x="0" y="1183"/>
                  </a:lnTo>
                  <a:lnTo>
                    <a:pt x="0" y="1169"/>
                  </a:lnTo>
                  <a:lnTo>
                    <a:pt x="14" y="1169"/>
                  </a:lnTo>
                  <a:close/>
                  <a:moveTo>
                    <a:pt x="14" y="1197"/>
                  </a:moveTo>
                  <a:lnTo>
                    <a:pt x="14" y="1211"/>
                  </a:lnTo>
                  <a:lnTo>
                    <a:pt x="0" y="1211"/>
                  </a:lnTo>
                  <a:lnTo>
                    <a:pt x="0" y="1197"/>
                  </a:lnTo>
                  <a:lnTo>
                    <a:pt x="14" y="1197"/>
                  </a:lnTo>
                  <a:close/>
                  <a:moveTo>
                    <a:pt x="14" y="1225"/>
                  </a:moveTo>
                  <a:lnTo>
                    <a:pt x="14" y="1239"/>
                  </a:lnTo>
                  <a:lnTo>
                    <a:pt x="0" y="1239"/>
                  </a:lnTo>
                  <a:lnTo>
                    <a:pt x="0" y="1225"/>
                  </a:lnTo>
                  <a:lnTo>
                    <a:pt x="14" y="1225"/>
                  </a:lnTo>
                  <a:close/>
                  <a:moveTo>
                    <a:pt x="14" y="1253"/>
                  </a:moveTo>
                  <a:lnTo>
                    <a:pt x="14" y="1267"/>
                  </a:lnTo>
                  <a:lnTo>
                    <a:pt x="0" y="1267"/>
                  </a:lnTo>
                  <a:lnTo>
                    <a:pt x="0" y="1253"/>
                  </a:lnTo>
                  <a:lnTo>
                    <a:pt x="14" y="1253"/>
                  </a:lnTo>
                  <a:close/>
                  <a:moveTo>
                    <a:pt x="14" y="1281"/>
                  </a:moveTo>
                  <a:lnTo>
                    <a:pt x="14" y="1294"/>
                  </a:lnTo>
                  <a:lnTo>
                    <a:pt x="0" y="1294"/>
                  </a:lnTo>
                  <a:lnTo>
                    <a:pt x="0" y="1281"/>
                  </a:lnTo>
                  <a:lnTo>
                    <a:pt x="14" y="1281"/>
                  </a:lnTo>
                  <a:close/>
                  <a:moveTo>
                    <a:pt x="14" y="1308"/>
                  </a:moveTo>
                  <a:lnTo>
                    <a:pt x="14" y="1322"/>
                  </a:lnTo>
                  <a:lnTo>
                    <a:pt x="0" y="1322"/>
                  </a:lnTo>
                  <a:lnTo>
                    <a:pt x="0" y="1308"/>
                  </a:lnTo>
                  <a:lnTo>
                    <a:pt x="14" y="1308"/>
                  </a:lnTo>
                  <a:close/>
                  <a:moveTo>
                    <a:pt x="14" y="1336"/>
                  </a:moveTo>
                  <a:lnTo>
                    <a:pt x="14" y="1350"/>
                  </a:lnTo>
                  <a:lnTo>
                    <a:pt x="0" y="1350"/>
                  </a:lnTo>
                  <a:lnTo>
                    <a:pt x="0" y="1336"/>
                  </a:lnTo>
                  <a:lnTo>
                    <a:pt x="14" y="1336"/>
                  </a:lnTo>
                  <a:close/>
                  <a:moveTo>
                    <a:pt x="14" y="1364"/>
                  </a:moveTo>
                  <a:lnTo>
                    <a:pt x="14" y="1378"/>
                  </a:lnTo>
                  <a:lnTo>
                    <a:pt x="0" y="1378"/>
                  </a:lnTo>
                  <a:lnTo>
                    <a:pt x="0" y="1364"/>
                  </a:lnTo>
                  <a:lnTo>
                    <a:pt x="14" y="1364"/>
                  </a:lnTo>
                  <a:close/>
                  <a:moveTo>
                    <a:pt x="14" y="1392"/>
                  </a:moveTo>
                  <a:lnTo>
                    <a:pt x="14" y="1406"/>
                  </a:lnTo>
                  <a:lnTo>
                    <a:pt x="0" y="1406"/>
                  </a:lnTo>
                  <a:lnTo>
                    <a:pt x="0" y="1392"/>
                  </a:lnTo>
                  <a:lnTo>
                    <a:pt x="14" y="1392"/>
                  </a:lnTo>
                  <a:close/>
                  <a:moveTo>
                    <a:pt x="14" y="1420"/>
                  </a:moveTo>
                  <a:lnTo>
                    <a:pt x="14" y="1434"/>
                  </a:lnTo>
                  <a:lnTo>
                    <a:pt x="0" y="1434"/>
                  </a:lnTo>
                  <a:lnTo>
                    <a:pt x="0" y="1420"/>
                  </a:lnTo>
                  <a:lnTo>
                    <a:pt x="14" y="1420"/>
                  </a:lnTo>
                  <a:close/>
                  <a:moveTo>
                    <a:pt x="14" y="1448"/>
                  </a:moveTo>
                  <a:lnTo>
                    <a:pt x="14" y="1461"/>
                  </a:lnTo>
                  <a:lnTo>
                    <a:pt x="0" y="1461"/>
                  </a:lnTo>
                  <a:lnTo>
                    <a:pt x="0" y="1448"/>
                  </a:lnTo>
                  <a:lnTo>
                    <a:pt x="14" y="1448"/>
                  </a:lnTo>
                  <a:close/>
                  <a:moveTo>
                    <a:pt x="14" y="1475"/>
                  </a:moveTo>
                  <a:lnTo>
                    <a:pt x="14" y="1489"/>
                  </a:lnTo>
                  <a:lnTo>
                    <a:pt x="0" y="1489"/>
                  </a:lnTo>
                  <a:lnTo>
                    <a:pt x="0" y="1475"/>
                  </a:lnTo>
                  <a:lnTo>
                    <a:pt x="14" y="1475"/>
                  </a:lnTo>
                  <a:close/>
                  <a:moveTo>
                    <a:pt x="14" y="1503"/>
                  </a:moveTo>
                  <a:lnTo>
                    <a:pt x="14" y="1517"/>
                  </a:lnTo>
                  <a:lnTo>
                    <a:pt x="0" y="1517"/>
                  </a:lnTo>
                  <a:lnTo>
                    <a:pt x="0" y="1503"/>
                  </a:lnTo>
                  <a:lnTo>
                    <a:pt x="14" y="1503"/>
                  </a:lnTo>
                  <a:close/>
                  <a:moveTo>
                    <a:pt x="14" y="1531"/>
                  </a:moveTo>
                  <a:lnTo>
                    <a:pt x="14" y="1545"/>
                  </a:lnTo>
                  <a:lnTo>
                    <a:pt x="0" y="1545"/>
                  </a:lnTo>
                  <a:lnTo>
                    <a:pt x="0" y="1531"/>
                  </a:lnTo>
                  <a:lnTo>
                    <a:pt x="14" y="1531"/>
                  </a:lnTo>
                  <a:close/>
                  <a:moveTo>
                    <a:pt x="14" y="1559"/>
                  </a:moveTo>
                  <a:lnTo>
                    <a:pt x="14" y="1573"/>
                  </a:lnTo>
                  <a:lnTo>
                    <a:pt x="0" y="1573"/>
                  </a:lnTo>
                  <a:lnTo>
                    <a:pt x="0" y="1559"/>
                  </a:lnTo>
                  <a:lnTo>
                    <a:pt x="14" y="1559"/>
                  </a:lnTo>
                  <a:close/>
                  <a:moveTo>
                    <a:pt x="14" y="1587"/>
                  </a:moveTo>
                  <a:lnTo>
                    <a:pt x="14" y="1601"/>
                  </a:lnTo>
                  <a:lnTo>
                    <a:pt x="0" y="1601"/>
                  </a:lnTo>
                  <a:lnTo>
                    <a:pt x="0" y="1587"/>
                  </a:lnTo>
                  <a:lnTo>
                    <a:pt x="14" y="1587"/>
                  </a:lnTo>
                  <a:close/>
                  <a:moveTo>
                    <a:pt x="14" y="1615"/>
                  </a:moveTo>
                  <a:lnTo>
                    <a:pt x="14" y="1628"/>
                  </a:lnTo>
                  <a:lnTo>
                    <a:pt x="0" y="1628"/>
                  </a:lnTo>
                  <a:lnTo>
                    <a:pt x="0" y="1615"/>
                  </a:lnTo>
                  <a:lnTo>
                    <a:pt x="14" y="1615"/>
                  </a:lnTo>
                  <a:close/>
                  <a:moveTo>
                    <a:pt x="14" y="1642"/>
                  </a:moveTo>
                  <a:lnTo>
                    <a:pt x="14" y="1656"/>
                  </a:lnTo>
                  <a:lnTo>
                    <a:pt x="0" y="1656"/>
                  </a:lnTo>
                  <a:lnTo>
                    <a:pt x="0" y="1642"/>
                  </a:lnTo>
                  <a:lnTo>
                    <a:pt x="14" y="1642"/>
                  </a:lnTo>
                  <a:close/>
                  <a:moveTo>
                    <a:pt x="14" y="1670"/>
                  </a:moveTo>
                  <a:lnTo>
                    <a:pt x="14" y="1684"/>
                  </a:lnTo>
                  <a:lnTo>
                    <a:pt x="0" y="1684"/>
                  </a:lnTo>
                  <a:lnTo>
                    <a:pt x="0" y="1670"/>
                  </a:lnTo>
                  <a:lnTo>
                    <a:pt x="14" y="1670"/>
                  </a:lnTo>
                  <a:close/>
                  <a:moveTo>
                    <a:pt x="14" y="1698"/>
                  </a:moveTo>
                  <a:lnTo>
                    <a:pt x="14" y="1712"/>
                  </a:lnTo>
                  <a:lnTo>
                    <a:pt x="0" y="1712"/>
                  </a:lnTo>
                  <a:lnTo>
                    <a:pt x="0" y="1698"/>
                  </a:lnTo>
                  <a:lnTo>
                    <a:pt x="14" y="1698"/>
                  </a:lnTo>
                  <a:close/>
                  <a:moveTo>
                    <a:pt x="14" y="1726"/>
                  </a:moveTo>
                  <a:lnTo>
                    <a:pt x="14" y="1740"/>
                  </a:lnTo>
                  <a:lnTo>
                    <a:pt x="0" y="1740"/>
                  </a:lnTo>
                  <a:lnTo>
                    <a:pt x="0" y="1726"/>
                  </a:lnTo>
                  <a:lnTo>
                    <a:pt x="14" y="1726"/>
                  </a:lnTo>
                  <a:close/>
                  <a:moveTo>
                    <a:pt x="14" y="1754"/>
                  </a:moveTo>
                  <a:lnTo>
                    <a:pt x="14" y="1768"/>
                  </a:lnTo>
                  <a:lnTo>
                    <a:pt x="0" y="1768"/>
                  </a:lnTo>
                  <a:lnTo>
                    <a:pt x="0" y="1754"/>
                  </a:lnTo>
                  <a:lnTo>
                    <a:pt x="14" y="1754"/>
                  </a:lnTo>
                  <a:close/>
                  <a:moveTo>
                    <a:pt x="14" y="1782"/>
                  </a:moveTo>
                  <a:lnTo>
                    <a:pt x="14" y="1795"/>
                  </a:lnTo>
                  <a:lnTo>
                    <a:pt x="0" y="1795"/>
                  </a:lnTo>
                  <a:lnTo>
                    <a:pt x="0" y="1782"/>
                  </a:lnTo>
                  <a:lnTo>
                    <a:pt x="14" y="1782"/>
                  </a:lnTo>
                  <a:close/>
                  <a:moveTo>
                    <a:pt x="14" y="1809"/>
                  </a:moveTo>
                  <a:lnTo>
                    <a:pt x="14" y="1823"/>
                  </a:lnTo>
                  <a:lnTo>
                    <a:pt x="0" y="1823"/>
                  </a:lnTo>
                  <a:lnTo>
                    <a:pt x="0" y="1809"/>
                  </a:lnTo>
                  <a:lnTo>
                    <a:pt x="14" y="1809"/>
                  </a:lnTo>
                  <a:close/>
                  <a:moveTo>
                    <a:pt x="14" y="1837"/>
                  </a:moveTo>
                  <a:lnTo>
                    <a:pt x="14" y="1851"/>
                  </a:lnTo>
                  <a:lnTo>
                    <a:pt x="0" y="1851"/>
                  </a:lnTo>
                  <a:lnTo>
                    <a:pt x="0" y="1837"/>
                  </a:lnTo>
                  <a:lnTo>
                    <a:pt x="14" y="1837"/>
                  </a:lnTo>
                  <a:close/>
                  <a:moveTo>
                    <a:pt x="14" y="1865"/>
                  </a:moveTo>
                  <a:lnTo>
                    <a:pt x="14" y="1879"/>
                  </a:lnTo>
                  <a:lnTo>
                    <a:pt x="0" y="1879"/>
                  </a:lnTo>
                  <a:lnTo>
                    <a:pt x="0" y="1865"/>
                  </a:lnTo>
                  <a:lnTo>
                    <a:pt x="14" y="1865"/>
                  </a:lnTo>
                  <a:close/>
                  <a:moveTo>
                    <a:pt x="14" y="1893"/>
                  </a:moveTo>
                  <a:lnTo>
                    <a:pt x="14" y="1907"/>
                  </a:lnTo>
                  <a:lnTo>
                    <a:pt x="0" y="1907"/>
                  </a:lnTo>
                  <a:lnTo>
                    <a:pt x="0" y="1893"/>
                  </a:lnTo>
                  <a:lnTo>
                    <a:pt x="14" y="1893"/>
                  </a:lnTo>
                  <a:close/>
                  <a:moveTo>
                    <a:pt x="14" y="1921"/>
                  </a:moveTo>
                  <a:lnTo>
                    <a:pt x="14" y="1935"/>
                  </a:lnTo>
                  <a:lnTo>
                    <a:pt x="0" y="1935"/>
                  </a:lnTo>
                  <a:lnTo>
                    <a:pt x="0" y="1921"/>
                  </a:lnTo>
                  <a:lnTo>
                    <a:pt x="14" y="1921"/>
                  </a:lnTo>
                  <a:close/>
                  <a:moveTo>
                    <a:pt x="14" y="1949"/>
                  </a:moveTo>
                  <a:lnTo>
                    <a:pt x="14" y="1962"/>
                  </a:lnTo>
                  <a:lnTo>
                    <a:pt x="0" y="1962"/>
                  </a:lnTo>
                  <a:lnTo>
                    <a:pt x="0" y="1949"/>
                  </a:lnTo>
                  <a:lnTo>
                    <a:pt x="14" y="1949"/>
                  </a:lnTo>
                  <a:close/>
                  <a:moveTo>
                    <a:pt x="14" y="1976"/>
                  </a:moveTo>
                  <a:lnTo>
                    <a:pt x="14" y="1990"/>
                  </a:lnTo>
                  <a:lnTo>
                    <a:pt x="0" y="1990"/>
                  </a:lnTo>
                  <a:lnTo>
                    <a:pt x="0" y="1976"/>
                  </a:lnTo>
                  <a:lnTo>
                    <a:pt x="14" y="1976"/>
                  </a:lnTo>
                  <a:close/>
                  <a:moveTo>
                    <a:pt x="14" y="2004"/>
                  </a:moveTo>
                  <a:lnTo>
                    <a:pt x="14" y="2018"/>
                  </a:lnTo>
                  <a:lnTo>
                    <a:pt x="0" y="2018"/>
                  </a:lnTo>
                  <a:lnTo>
                    <a:pt x="0" y="2004"/>
                  </a:lnTo>
                  <a:lnTo>
                    <a:pt x="14" y="2004"/>
                  </a:lnTo>
                  <a:close/>
                  <a:moveTo>
                    <a:pt x="14" y="2032"/>
                  </a:moveTo>
                  <a:lnTo>
                    <a:pt x="14" y="2046"/>
                  </a:lnTo>
                  <a:lnTo>
                    <a:pt x="0" y="2046"/>
                  </a:lnTo>
                  <a:lnTo>
                    <a:pt x="0" y="2032"/>
                  </a:lnTo>
                  <a:lnTo>
                    <a:pt x="14" y="2032"/>
                  </a:lnTo>
                  <a:close/>
                  <a:moveTo>
                    <a:pt x="14" y="2060"/>
                  </a:moveTo>
                  <a:lnTo>
                    <a:pt x="14" y="2074"/>
                  </a:lnTo>
                  <a:lnTo>
                    <a:pt x="0" y="2074"/>
                  </a:lnTo>
                  <a:lnTo>
                    <a:pt x="0" y="2060"/>
                  </a:lnTo>
                  <a:lnTo>
                    <a:pt x="14" y="2060"/>
                  </a:lnTo>
                  <a:close/>
                  <a:moveTo>
                    <a:pt x="14" y="2087"/>
                  </a:moveTo>
                  <a:lnTo>
                    <a:pt x="14" y="2102"/>
                  </a:lnTo>
                  <a:lnTo>
                    <a:pt x="0" y="2102"/>
                  </a:lnTo>
                  <a:lnTo>
                    <a:pt x="0" y="2087"/>
                  </a:lnTo>
                  <a:lnTo>
                    <a:pt x="14" y="2087"/>
                  </a:lnTo>
                  <a:close/>
                  <a:moveTo>
                    <a:pt x="14" y="2116"/>
                  </a:moveTo>
                  <a:lnTo>
                    <a:pt x="14" y="2129"/>
                  </a:lnTo>
                  <a:lnTo>
                    <a:pt x="0" y="2129"/>
                  </a:lnTo>
                  <a:lnTo>
                    <a:pt x="0" y="2116"/>
                  </a:lnTo>
                  <a:lnTo>
                    <a:pt x="14" y="2116"/>
                  </a:lnTo>
                  <a:close/>
                  <a:moveTo>
                    <a:pt x="14" y="2143"/>
                  </a:moveTo>
                  <a:lnTo>
                    <a:pt x="14" y="2157"/>
                  </a:lnTo>
                  <a:lnTo>
                    <a:pt x="0" y="2157"/>
                  </a:lnTo>
                  <a:lnTo>
                    <a:pt x="0" y="2143"/>
                  </a:lnTo>
                  <a:lnTo>
                    <a:pt x="14" y="2143"/>
                  </a:lnTo>
                  <a:close/>
                  <a:moveTo>
                    <a:pt x="14" y="2171"/>
                  </a:moveTo>
                  <a:lnTo>
                    <a:pt x="14" y="2185"/>
                  </a:lnTo>
                  <a:lnTo>
                    <a:pt x="0" y="2185"/>
                  </a:lnTo>
                  <a:lnTo>
                    <a:pt x="0" y="2171"/>
                  </a:lnTo>
                  <a:lnTo>
                    <a:pt x="14" y="2171"/>
                  </a:lnTo>
                  <a:close/>
                  <a:moveTo>
                    <a:pt x="14" y="2199"/>
                  </a:moveTo>
                  <a:lnTo>
                    <a:pt x="14" y="2213"/>
                  </a:lnTo>
                  <a:lnTo>
                    <a:pt x="0" y="2213"/>
                  </a:lnTo>
                  <a:lnTo>
                    <a:pt x="0" y="2199"/>
                  </a:lnTo>
                  <a:lnTo>
                    <a:pt x="14" y="2199"/>
                  </a:lnTo>
                  <a:close/>
                  <a:moveTo>
                    <a:pt x="14" y="2227"/>
                  </a:moveTo>
                  <a:lnTo>
                    <a:pt x="14" y="2241"/>
                  </a:lnTo>
                  <a:lnTo>
                    <a:pt x="0" y="2241"/>
                  </a:lnTo>
                  <a:lnTo>
                    <a:pt x="0" y="2227"/>
                  </a:lnTo>
                  <a:lnTo>
                    <a:pt x="14" y="2227"/>
                  </a:lnTo>
                  <a:close/>
                  <a:moveTo>
                    <a:pt x="14" y="2254"/>
                  </a:moveTo>
                  <a:lnTo>
                    <a:pt x="14" y="2268"/>
                  </a:lnTo>
                  <a:lnTo>
                    <a:pt x="0" y="2268"/>
                  </a:lnTo>
                  <a:lnTo>
                    <a:pt x="0" y="2254"/>
                  </a:lnTo>
                  <a:lnTo>
                    <a:pt x="14" y="2254"/>
                  </a:lnTo>
                  <a:close/>
                  <a:moveTo>
                    <a:pt x="14" y="2283"/>
                  </a:moveTo>
                  <a:lnTo>
                    <a:pt x="14" y="2296"/>
                  </a:lnTo>
                  <a:lnTo>
                    <a:pt x="0" y="2296"/>
                  </a:lnTo>
                  <a:lnTo>
                    <a:pt x="0" y="2283"/>
                  </a:lnTo>
                  <a:lnTo>
                    <a:pt x="14" y="2283"/>
                  </a:lnTo>
                  <a:close/>
                  <a:moveTo>
                    <a:pt x="14" y="2310"/>
                  </a:moveTo>
                  <a:lnTo>
                    <a:pt x="14" y="2324"/>
                  </a:lnTo>
                  <a:lnTo>
                    <a:pt x="0" y="2324"/>
                  </a:lnTo>
                  <a:lnTo>
                    <a:pt x="0" y="2310"/>
                  </a:lnTo>
                  <a:lnTo>
                    <a:pt x="14" y="2310"/>
                  </a:lnTo>
                  <a:close/>
                  <a:moveTo>
                    <a:pt x="14" y="2338"/>
                  </a:moveTo>
                  <a:lnTo>
                    <a:pt x="14" y="2352"/>
                  </a:lnTo>
                  <a:lnTo>
                    <a:pt x="0" y="2352"/>
                  </a:lnTo>
                  <a:lnTo>
                    <a:pt x="0" y="2338"/>
                  </a:lnTo>
                  <a:lnTo>
                    <a:pt x="14" y="2338"/>
                  </a:lnTo>
                  <a:close/>
                  <a:moveTo>
                    <a:pt x="14" y="2366"/>
                  </a:moveTo>
                  <a:lnTo>
                    <a:pt x="14" y="2380"/>
                  </a:lnTo>
                  <a:lnTo>
                    <a:pt x="0" y="2380"/>
                  </a:lnTo>
                  <a:lnTo>
                    <a:pt x="0" y="2366"/>
                  </a:lnTo>
                  <a:lnTo>
                    <a:pt x="14" y="2366"/>
                  </a:lnTo>
                  <a:close/>
                  <a:moveTo>
                    <a:pt x="14" y="2394"/>
                  </a:moveTo>
                  <a:lnTo>
                    <a:pt x="14" y="2408"/>
                  </a:lnTo>
                  <a:lnTo>
                    <a:pt x="0" y="2408"/>
                  </a:lnTo>
                  <a:lnTo>
                    <a:pt x="0" y="2394"/>
                  </a:lnTo>
                  <a:lnTo>
                    <a:pt x="14" y="2394"/>
                  </a:lnTo>
                  <a:close/>
                  <a:moveTo>
                    <a:pt x="14" y="2421"/>
                  </a:moveTo>
                  <a:lnTo>
                    <a:pt x="14" y="2435"/>
                  </a:lnTo>
                  <a:lnTo>
                    <a:pt x="0" y="2435"/>
                  </a:lnTo>
                  <a:lnTo>
                    <a:pt x="0" y="2421"/>
                  </a:lnTo>
                  <a:lnTo>
                    <a:pt x="14" y="2421"/>
                  </a:lnTo>
                  <a:close/>
                  <a:moveTo>
                    <a:pt x="14" y="2449"/>
                  </a:moveTo>
                  <a:lnTo>
                    <a:pt x="14" y="2453"/>
                  </a:lnTo>
                  <a:lnTo>
                    <a:pt x="0" y="2453"/>
                  </a:lnTo>
                  <a:lnTo>
                    <a:pt x="0" y="2449"/>
                  </a:lnTo>
                  <a:lnTo>
                    <a:pt x="14" y="2449"/>
                  </a:lnTo>
                  <a:close/>
                </a:path>
              </a:pathLst>
            </a:custGeom>
            <a:solidFill>
              <a:srgbClr val="000000"/>
            </a:solidFill>
            <a:ln w="0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493" name="Freeform 39">
              <a:extLst>
                <a:ext uri="{FF2B5EF4-FFF2-40B4-BE49-F238E27FC236}">
                  <a16:creationId xmlns:a16="http://schemas.microsoft.com/office/drawing/2014/main" id="{AF5A2FB4-92F6-69A9-CC1B-DDB7B275BB5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6099" y="3292719"/>
              <a:ext cx="285623" cy="633537"/>
            </a:xfrm>
            <a:custGeom>
              <a:avLst/>
              <a:gdLst>
                <a:gd name="T0" fmla="*/ 0 w 188"/>
                <a:gd name="T1" fmla="*/ 278 h 417"/>
                <a:gd name="T2" fmla="*/ 63 w 188"/>
                <a:gd name="T3" fmla="*/ 209 h 417"/>
                <a:gd name="T4" fmla="*/ 0 w 188"/>
                <a:gd name="T5" fmla="*/ 139 h 417"/>
                <a:gd name="T6" fmla="*/ 0 w 188"/>
                <a:gd name="T7" fmla="*/ 0 h 417"/>
                <a:gd name="T8" fmla="*/ 188 w 188"/>
                <a:gd name="T9" fmla="*/ 139 h 417"/>
                <a:gd name="T10" fmla="*/ 188 w 188"/>
                <a:gd name="T11" fmla="*/ 278 h 417"/>
                <a:gd name="T12" fmla="*/ 0 w 188"/>
                <a:gd name="T13" fmla="*/ 417 h 417"/>
                <a:gd name="T14" fmla="*/ 0 w 188"/>
                <a:gd name="T15" fmla="*/ 278 h 4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88" h="417">
                  <a:moveTo>
                    <a:pt x="0" y="278"/>
                  </a:moveTo>
                  <a:lnTo>
                    <a:pt x="63" y="209"/>
                  </a:lnTo>
                  <a:lnTo>
                    <a:pt x="0" y="139"/>
                  </a:lnTo>
                  <a:lnTo>
                    <a:pt x="0" y="0"/>
                  </a:lnTo>
                  <a:lnTo>
                    <a:pt x="188" y="139"/>
                  </a:lnTo>
                  <a:lnTo>
                    <a:pt x="188" y="278"/>
                  </a:lnTo>
                  <a:lnTo>
                    <a:pt x="0" y="417"/>
                  </a:lnTo>
                  <a:lnTo>
                    <a:pt x="0" y="278"/>
                  </a:lnTo>
                </a:path>
              </a:pathLst>
            </a:custGeom>
            <a:noFill/>
            <a:ln w="222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494" name="Rectangle 40">
              <a:extLst>
                <a:ext uri="{FF2B5EF4-FFF2-40B4-BE49-F238E27FC236}">
                  <a16:creationId xmlns:a16="http://schemas.microsoft.com/office/drawing/2014/main" id="{5FE24197-3DA6-8F1F-90BB-72354415316F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3308590" y="3503787"/>
              <a:ext cx="635054" cy="20988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1400" u="none" strike="noStrike" cap="none" normalizeH="0" baseline="0" dirty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  <a:ea typeface="SimHei" panose="02010609060101010101" pitchFamily="49" charset="-122"/>
                </a:rPr>
                <a:t>ALU</a:t>
              </a:r>
              <a:endParaRPr kumimoji="0" lang="zh-CN" altLang="zh-CN" sz="140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endParaRPr>
            </a:p>
          </p:txBody>
        </p:sp>
        <p:sp>
          <p:nvSpPr>
            <p:cNvPr id="495" name="Rectangle 41">
              <a:extLst>
                <a:ext uri="{FF2B5EF4-FFF2-40B4-BE49-F238E27FC236}">
                  <a16:creationId xmlns:a16="http://schemas.microsoft.com/office/drawing/2014/main" id="{0147F1E0-C229-53C9-CCFD-40A3C70995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14850" y="3500858"/>
              <a:ext cx="193640" cy="20988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1400" u="none" strike="noStrike" cap="none" normalizeH="0" baseline="0" dirty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  <a:ea typeface="SimHei" panose="02010609060101010101" pitchFamily="49" charset="-122"/>
                </a:rPr>
                <a:t>IM</a:t>
              </a:r>
              <a:endParaRPr kumimoji="0" lang="zh-CN" altLang="zh-CN" sz="180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endParaRPr>
            </a:p>
          </p:txBody>
        </p:sp>
        <p:sp>
          <p:nvSpPr>
            <p:cNvPr id="496" name="Freeform 42">
              <a:extLst>
                <a:ext uri="{FF2B5EF4-FFF2-40B4-BE49-F238E27FC236}">
                  <a16:creationId xmlns:a16="http://schemas.microsoft.com/office/drawing/2014/main" id="{FE4CA0DE-0D6B-6881-E8F7-6EC1634DCCE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7795" y="3420338"/>
              <a:ext cx="226719" cy="379818"/>
            </a:xfrm>
            <a:custGeom>
              <a:avLst/>
              <a:gdLst>
                <a:gd name="T0" fmla="*/ 155 w 155"/>
                <a:gd name="T1" fmla="*/ 0 h 250"/>
                <a:gd name="T2" fmla="*/ 0 w 155"/>
                <a:gd name="T3" fmla="*/ 0 h 250"/>
                <a:gd name="T4" fmla="*/ 0 w 155"/>
                <a:gd name="T5" fmla="*/ 250 h 250"/>
                <a:gd name="T6" fmla="*/ 155 w 155"/>
                <a:gd name="T7" fmla="*/ 250 h 2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55" h="250">
                  <a:moveTo>
                    <a:pt x="155" y="0"/>
                  </a:moveTo>
                  <a:lnTo>
                    <a:pt x="0" y="0"/>
                  </a:lnTo>
                  <a:lnTo>
                    <a:pt x="0" y="250"/>
                  </a:lnTo>
                  <a:lnTo>
                    <a:pt x="155" y="250"/>
                  </a:lnTo>
                </a:path>
              </a:pathLst>
            </a:custGeom>
            <a:noFill/>
            <a:ln w="222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497" name="Freeform 43">
              <a:extLst>
                <a:ext uri="{FF2B5EF4-FFF2-40B4-BE49-F238E27FC236}">
                  <a16:creationId xmlns:a16="http://schemas.microsoft.com/office/drawing/2014/main" id="{BE1DDCAD-54D2-D11A-55AC-F5C191DD240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6033" y="3420338"/>
              <a:ext cx="227891" cy="379818"/>
            </a:xfrm>
            <a:custGeom>
              <a:avLst/>
              <a:gdLst>
                <a:gd name="T0" fmla="*/ 0 w 150"/>
                <a:gd name="T1" fmla="*/ 0 h 250"/>
                <a:gd name="T2" fmla="*/ 150 w 150"/>
                <a:gd name="T3" fmla="*/ 0 h 250"/>
                <a:gd name="T4" fmla="*/ 150 w 150"/>
                <a:gd name="T5" fmla="*/ 250 h 250"/>
                <a:gd name="T6" fmla="*/ 0 w 150"/>
                <a:gd name="T7" fmla="*/ 250 h 2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50" h="250">
                  <a:moveTo>
                    <a:pt x="0" y="0"/>
                  </a:moveTo>
                  <a:lnTo>
                    <a:pt x="150" y="0"/>
                  </a:lnTo>
                  <a:lnTo>
                    <a:pt x="150" y="250"/>
                  </a:lnTo>
                  <a:lnTo>
                    <a:pt x="0" y="250"/>
                  </a:lnTo>
                </a:path>
              </a:pathLst>
            </a:custGeom>
            <a:noFill/>
            <a:ln w="222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498" name="Rectangle 44">
              <a:extLst>
                <a:ext uri="{FF2B5EF4-FFF2-40B4-BE49-F238E27FC236}">
                  <a16:creationId xmlns:a16="http://schemas.microsoft.com/office/drawing/2014/main" id="{846D4930-A21F-E900-873D-1998C5EC1D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51020" y="3492351"/>
              <a:ext cx="320132" cy="20988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1400" u="none" strike="noStrike" cap="none" normalizeH="0" baseline="0" dirty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  <a:ea typeface="SimHei" panose="02010609060101010101" pitchFamily="49" charset="-122"/>
                </a:rPr>
                <a:t>Reg</a:t>
              </a:r>
              <a:endParaRPr kumimoji="0" lang="zh-CN" altLang="zh-CN" sz="180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endParaRPr>
            </a:p>
          </p:txBody>
        </p:sp>
        <p:sp>
          <p:nvSpPr>
            <p:cNvPr id="499" name="Freeform 45">
              <a:extLst>
                <a:ext uri="{FF2B5EF4-FFF2-40B4-BE49-F238E27FC236}">
                  <a16:creationId xmlns:a16="http://schemas.microsoft.com/office/drawing/2014/main" id="{50A25799-0B83-DC33-30E2-DB7EB41DA37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8005" y="3420338"/>
              <a:ext cx="203582" cy="379818"/>
            </a:xfrm>
            <a:custGeom>
              <a:avLst/>
              <a:gdLst>
                <a:gd name="T0" fmla="*/ 134 w 134"/>
                <a:gd name="T1" fmla="*/ 0 h 250"/>
                <a:gd name="T2" fmla="*/ 0 w 134"/>
                <a:gd name="T3" fmla="*/ 0 h 250"/>
                <a:gd name="T4" fmla="*/ 0 w 134"/>
                <a:gd name="T5" fmla="*/ 250 h 250"/>
                <a:gd name="T6" fmla="*/ 134 w 134"/>
                <a:gd name="T7" fmla="*/ 250 h 2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4" h="250">
                  <a:moveTo>
                    <a:pt x="134" y="0"/>
                  </a:moveTo>
                  <a:lnTo>
                    <a:pt x="0" y="0"/>
                  </a:lnTo>
                  <a:lnTo>
                    <a:pt x="0" y="250"/>
                  </a:lnTo>
                  <a:lnTo>
                    <a:pt x="134" y="250"/>
                  </a:lnTo>
                </a:path>
              </a:pathLst>
            </a:custGeom>
            <a:noFill/>
            <a:ln w="222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500" name="Freeform 46">
              <a:extLst>
                <a:ext uri="{FF2B5EF4-FFF2-40B4-BE49-F238E27FC236}">
                  <a16:creationId xmlns:a16="http://schemas.microsoft.com/office/drawing/2014/main" id="{D0CED45B-E698-2731-D60B-0A21991D72B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3107" y="3420338"/>
              <a:ext cx="194467" cy="379818"/>
            </a:xfrm>
            <a:custGeom>
              <a:avLst/>
              <a:gdLst>
                <a:gd name="T0" fmla="*/ 0 w 128"/>
                <a:gd name="T1" fmla="*/ 0 h 250"/>
                <a:gd name="T2" fmla="*/ 128 w 128"/>
                <a:gd name="T3" fmla="*/ 0 h 250"/>
                <a:gd name="T4" fmla="*/ 128 w 128"/>
                <a:gd name="T5" fmla="*/ 250 h 250"/>
                <a:gd name="T6" fmla="*/ 0 w 128"/>
                <a:gd name="T7" fmla="*/ 250 h 2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8" h="250">
                  <a:moveTo>
                    <a:pt x="0" y="0"/>
                  </a:moveTo>
                  <a:lnTo>
                    <a:pt x="128" y="0"/>
                  </a:lnTo>
                  <a:lnTo>
                    <a:pt x="128" y="250"/>
                  </a:lnTo>
                  <a:lnTo>
                    <a:pt x="0" y="250"/>
                  </a:lnTo>
                </a:path>
              </a:pathLst>
            </a:custGeom>
            <a:noFill/>
            <a:ln w="222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501" name="Line 47">
              <a:extLst>
                <a:ext uri="{FF2B5EF4-FFF2-40B4-BE49-F238E27FC236}">
                  <a16:creationId xmlns:a16="http://schemas.microsoft.com/office/drawing/2014/main" id="{1C5221CA-1F16-837E-3309-9FB8A7D2611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653040" y="3610246"/>
              <a:ext cx="154966" cy="0"/>
            </a:xfrm>
            <a:prstGeom prst="line">
              <a:avLst/>
            </a:prstGeom>
            <a:noFill/>
            <a:ln w="22225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502" name="Freeform 48">
              <a:extLst>
                <a:ext uri="{FF2B5EF4-FFF2-40B4-BE49-F238E27FC236}">
                  <a16:creationId xmlns:a16="http://schemas.microsoft.com/office/drawing/2014/main" id="{A9F7E722-601A-72BD-882F-A0C0016DCB2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2677" y="3482627"/>
              <a:ext cx="65329" cy="126100"/>
            </a:xfrm>
            <a:custGeom>
              <a:avLst/>
              <a:gdLst>
                <a:gd name="T0" fmla="*/ 0 w 43"/>
                <a:gd name="T1" fmla="*/ 83 h 83"/>
                <a:gd name="T2" fmla="*/ 0 w 43"/>
                <a:gd name="T3" fmla="*/ 0 h 83"/>
                <a:gd name="T4" fmla="*/ 43 w 43"/>
                <a:gd name="T5" fmla="*/ 0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3" h="83">
                  <a:moveTo>
                    <a:pt x="0" y="83"/>
                  </a:moveTo>
                  <a:lnTo>
                    <a:pt x="0" y="0"/>
                  </a:lnTo>
                  <a:lnTo>
                    <a:pt x="43" y="0"/>
                  </a:lnTo>
                </a:path>
              </a:pathLst>
            </a:custGeom>
            <a:noFill/>
            <a:ln w="222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503" name="Line 49">
              <a:extLst>
                <a:ext uri="{FF2B5EF4-FFF2-40B4-BE49-F238E27FC236}">
                  <a16:creationId xmlns:a16="http://schemas.microsoft.com/office/drawing/2014/main" id="{E747FA79-BB2E-9273-5642-87590FF891A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16690" y="3482627"/>
              <a:ext cx="212698" cy="0"/>
            </a:xfrm>
            <a:prstGeom prst="line">
              <a:avLst/>
            </a:prstGeom>
            <a:noFill/>
            <a:ln w="22225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504" name="Rectangle 50">
              <a:extLst>
                <a:ext uri="{FF2B5EF4-FFF2-40B4-BE49-F238E27FC236}">
                  <a16:creationId xmlns:a16="http://schemas.microsoft.com/office/drawing/2014/main" id="{3282D98C-E923-9A29-0DEB-FD1B101DFC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54159" y="3500858"/>
              <a:ext cx="271722" cy="20988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1400" u="none" strike="noStrike" cap="none" normalizeH="0" baseline="0" dirty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  <a:ea typeface="SimHei" panose="02010609060101010101" pitchFamily="49" charset="-122"/>
                </a:rPr>
                <a:t>DM</a:t>
              </a:r>
              <a:endParaRPr kumimoji="0" lang="zh-CN" altLang="zh-CN" sz="180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endParaRPr>
            </a:p>
          </p:txBody>
        </p:sp>
        <p:sp>
          <p:nvSpPr>
            <p:cNvPr id="505" name="Freeform 51">
              <a:extLst>
                <a:ext uri="{FF2B5EF4-FFF2-40B4-BE49-F238E27FC236}">
                  <a16:creationId xmlns:a16="http://schemas.microsoft.com/office/drawing/2014/main" id="{B2B57125-C7FB-16D1-7920-41775F3B65C6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8729" y="3420338"/>
              <a:ext cx="220295" cy="379818"/>
            </a:xfrm>
            <a:custGeom>
              <a:avLst/>
              <a:gdLst>
                <a:gd name="T0" fmla="*/ 145 w 145"/>
                <a:gd name="T1" fmla="*/ 0 h 250"/>
                <a:gd name="T2" fmla="*/ 0 w 145"/>
                <a:gd name="T3" fmla="*/ 0 h 250"/>
                <a:gd name="T4" fmla="*/ 0 w 145"/>
                <a:gd name="T5" fmla="*/ 250 h 250"/>
                <a:gd name="T6" fmla="*/ 145 w 145"/>
                <a:gd name="T7" fmla="*/ 250 h 2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45" h="250">
                  <a:moveTo>
                    <a:pt x="145" y="0"/>
                  </a:moveTo>
                  <a:lnTo>
                    <a:pt x="0" y="0"/>
                  </a:lnTo>
                  <a:lnTo>
                    <a:pt x="0" y="250"/>
                  </a:lnTo>
                  <a:lnTo>
                    <a:pt x="145" y="250"/>
                  </a:lnTo>
                </a:path>
              </a:pathLst>
            </a:custGeom>
            <a:noFill/>
            <a:ln w="222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506" name="Freeform 52">
              <a:extLst>
                <a:ext uri="{FF2B5EF4-FFF2-40B4-BE49-F238E27FC236}">
                  <a16:creationId xmlns:a16="http://schemas.microsoft.com/office/drawing/2014/main" id="{E0C1F2B8-7926-C609-27DA-365E9C6B19E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1427" y="3420338"/>
              <a:ext cx="227891" cy="379818"/>
            </a:xfrm>
            <a:custGeom>
              <a:avLst/>
              <a:gdLst>
                <a:gd name="T0" fmla="*/ 0 w 150"/>
                <a:gd name="T1" fmla="*/ 0 h 250"/>
                <a:gd name="T2" fmla="*/ 150 w 150"/>
                <a:gd name="T3" fmla="*/ 0 h 250"/>
                <a:gd name="T4" fmla="*/ 150 w 150"/>
                <a:gd name="T5" fmla="*/ 250 h 250"/>
                <a:gd name="T6" fmla="*/ 0 w 150"/>
                <a:gd name="T7" fmla="*/ 250 h 2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50" h="250">
                  <a:moveTo>
                    <a:pt x="0" y="0"/>
                  </a:moveTo>
                  <a:lnTo>
                    <a:pt x="150" y="0"/>
                  </a:lnTo>
                  <a:lnTo>
                    <a:pt x="150" y="250"/>
                  </a:lnTo>
                  <a:lnTo>
                    <a:pt x="0" y="250"/>
                  </a:lnTo>
                </a:path>
              </a:pathLst>
            </a:custGeom>
            <a:noFill/>
            <a:ln w="222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507" name="Rectangle 53">
              <a:extLst>
                <a:ext uri="{FF2B5EF4-FFF2-40B4-BE49-F238E27FC236}">
                  <a16:creationId xmlns:a16="http://schemas.microsoft.com/office/drawing/2014/main" id="{3A8C53C4-4632-AFEA-DA88-0BD93B7A6B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39725" y="3493566"/>
              <a:ext cx="320132" cy="20988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1400" u="none" strike="noStrike" cap="none" normalizeH="0" baseline="0" dirty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  <a:ea typeface="SimHei" panose="02010609060101010101" pitchFamily="49" charset="-122"/>
                </a:rPr>
                <a:t>Reg</a:t>
              </a:r>
              <a:endParaRPr kumimoji="0" lang="zh-CN" altLang="zh-CN" sz="180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endParaRPr>
            </a:p>
          </p:txBody>
        </p:sp>
        <p:sp>
          <p:nvSpPr>
            <p:cNvPr id="508" name="Freeform 54">
              <a:extLst>
                <a:ext uri="{FF2B5EF4-FFF2-40B4-BE49-F238E27FC236}">
                  <a16:creationId xmlns:a16="http://schemas.microsoft.com/office/drawing/2014/main" id="{BE8F152F-A549-C803-A40B-BB9F14889F75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6823" y="3420338"/>
              <a:ext cx="186871" cy="379818"/>
            </a:xfrm>
            <a:custGeom>
              <a:avLst/>
              <a:gdLst>
                <a:gd name="T0" fmla="*/ 123 w 123"/>
                <a:gd name="T1" fmla="*/ 0 h 250"/>
                <a:gd name="T2" fmla="*/ 0 w 123"/>
                <a:gd name="T3" fmla="*/ 0 h 250"/>
                <a:gd name="T4" fmla="*/ 0 w 123"/>
                <a:gd name="T5" fmla="*/ 250 h 250"/>
                <a:gd name="T6" fmla="*/ 123 w 123"/>
                <a:gd name="T7" fmla="*/ 250 h 2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3" h="250">
                  <a:moveTo>
                    <a:pt x="123" y="0"/>
                  </a:moveTo>
                  <a:lnTo>
                    <a:pt x="0" y="0"/>
                  </a:lnTo>
                  <a:lnTo>
                    <a:pt x="0" y="250"/>
                  </a:lnTo>
                  <a:lnTo>
                    <a:pt x="123" y="250"/>
                  </a:lnTo>
                </a:path>
              </a:pathLst>
            </a:custGeom>
            <a:noFill/>
            <a:ln w="222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509" name="Freeform 55">
              <a:extLst>
                <a:ext uri="{FF2B5EF4-FFF2-40B4-BE49-F238E27FC236}">
                  <a16:creationId xmlns:a16="http://schemas.microsoft.com/office/drawing/2014/main" id="{7C291562-79CC-8533-0BA1-13F8538AE5C7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5212" y="3420338"/>
              <a:ext cx="194467" cy="379818"/>
            </a:xfrm>
            <a:custGeom>
              <a:avLst/>
              <a:gdLst>
                <a:gd name="T0" fmla="*/ 0 w 128"/>
                <a:gd name="T1" fmla="*/ 0 h 250"/>
                <a:gd name="T2" fmla="*/ 128 w 128"/>
                <a:gd name="T3" fmla="*/ 0 h 250"/>
                <a:gd name="T4" fmla="*/ 128 w 128"/>
                <a:gd name="T5" fmla="*/ 250 h 250"/>
                <a:gd name="T6" fmla="*/ 0 w 128"/>
                <a:gd name="T7" fmla="*/ 250 h 2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8" h="250">
                  <a:moveTo>
                    <a:pt x="0" y="0"/>
                  </a:moveTo>
                  <a:lnTo>
                    <a:pt x="128" y="0"/>
                  </a:lnTo>
                  <a:lnTo>
                    <a:pt x="128" y="250"/>
                  </a:lnTo>
                  <a:lnTo>
                    <a:pt x="0" y="250"/>
                  </a:lnTo>
                </a:path>
              </a:pathLst>
            </a:custGeom>
            <a:noFill/>
            <a:ln w="222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510" name="Line 56">
              <a:extLst>
                <a:ext uri="{FF2B5EF4-FFF2-40B4-BE49-F238E27FC236}">
                  <a16:creationId xmlns:a16="http://schemas.microsoft.com/office/drawing/2014/main" id="{5C3EAE44-3C14-8A8D-FFE9-691D01666C3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403240" y="3610246"/>
              <a:ext cx="186871" cy="0"/>
            </a:xfrm>
            <a:prstGeom prst="line">
              <a:avLst/>
            </a:prstGeom>
            <a:noFill/>
            <a:ln w="22225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511" name="Line 57">
              <a:extLst>
                <a:ext uri="{FF2B5EF4-FFF2-40B4-BE49-F238E27FC236}">
                  <a16:creationId xmlns:a16="http://schemas.microsoft.com/office/drawing/2014/main" id="{506D4823-1E5A-8127-5614-457C655F4E3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40838" y="3610246"/>
              <a:ext cx="212698" cy="0"/>
            </a:xfrm>
            <a:prstGeom prst="line">
              <a:avLst/>
            </a:prstGeom>
            <a:noFill/>
            <a:ln w="22225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512" name="Line 58">
              <a:extLst>
                <a:ext uri="{FF2B5EF4-FFF2-40B4-BE49-F238E27FC236}">
                  <a16:creationId xmlns:a16="http://schemas.microsoft.com/office/drawing/2014/main" id="{8807AC32-D072-09C0-30CF-3DDAB0EB221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16690" y="3736346"/>
              <a:ext cx="212698" cy="0"/>
            </a:xfrm>
            <a:prstGeom prst="line">
              <a:avLst/>
            </a:prstGeom>
            <a:noFill/>
            <a:ln w="22225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513" name="Line 59">
              <a:extLst>
                <a:ext uri="{FF2B5EF4-FFF2-40B4-BE49-F238E27FC236}">
                  <a16:creationId xmlns:a16="http://schemas.microsoft.com/office/drawing/2014/main" id="{08C237AF-3B7F-6E30-D563-1DD6BBFED49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32154" y="3736346"/>
              <a:ext cx="0" cy="253719"/>
            </a:xfrm>
            <a:prstGeom prst="line">
              <a:avLst/>
            </a:prstGeom>
            <a:noFill/>
            <a:ln w="254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514" name="Line 60">
              <a:extLst>
                <a:ext uri="{FF2B5EF4-FFF2-40B4-BE49-F238E27FC236}">
                  <a16:creationId xmlns:a16="http://schemas.microsoft.com/office/drawing/2014/main" id="{44CAC08A-D32A-8CF4-87B2-59D79A6A4FC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32154" y="3990064"/>
              <a:ext cx="457301" cy="0"/>
            </a:xfrm>
            <a:prstGeom prst="line">
              <a:avLst/>
            </a:prstGeom>
            <a:noFill/>
            <a:ln w="254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515" name="Line 61">
              <a:extLst>
                <a:ext uri="{FF2B5EF4-FFF2-40B4-BE49-F238E27FC236}">
                  <a16:creationId xmlns:a16="http://schemas.microsoft.com/office/drawing/2014/main" id="{603A1416-E341-4383-EA41-CEE2697F600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89455" y="3610246"/>
              <a:ext cx="0" cy="379818"/>
            </a:xfrm>
            <a:prstGeom prst="line">
              <a:avLst/>
            </a:prstGeom>
            <a:noFill/>
            <a:ln w="254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516" name="Line 62">
              <a:extLst>
                <a:ext uri="{FF2B5EF4-FFF2-40B4-BE49-F238E27FC236}">
                  <a16:creationId xmlns:a16="http://schemas.microsoft.com/office/drawing/2014/main" id="{81CD6F10-0298-6024-3121-CC10F2E5433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903400" y="3610246"/>
              <a:ext cx="0" cy="317528"/>
            </a:xfrm>
            <a:prstGeom prst="line">
              <a:avLst/>
            </a:prstGeom>
            <a:noFill/>
            <a:ln w="254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517" name="Line 63">
              <a:extLst>
                <a:ext uri="{FF2B5EF4-FFF2-40B4-BE49-F238E27FC236}">
                  <a16:creationId xmlns:a16="http://schemas.microsoft.com/office/drawing/2014/main" id="{EB92942A-A166-F9A3-CECC-42A0BDC70C3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903400" y="3927774"/>
              <a:ext cx="589477" cy="0"/>
            </a:xfrm>
            <a:prstGeom prst="line">
              <a:avLst/>
            </a:prstGeom>
            <a:noFill/>
            <a:ln w="254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518" name="Line 64">
              <a:extLst>
                <a:ext uri="{FF2B5EF4-FFF2-40B4-BE49-F238E27FC236}">
                  <a16:creationId xmlns:a16="http://schemas.microsoft.com/office/drawing/2014/main" id="{12398EAF-D754-98C4-C8AA-72D6CB117D0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492878" y="3610246"/>
              <a:ext cx="0" cy="317528"/>
            </a:xfrm>
            <a:prstGeom prst="line">
              <a:avLst/>
            </a:prstGeom>
            <a:noFill/>
            <a:ln w="254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519" name="Freeform 65">
              <a:extLst>
                <a:ext uri="{FF2B5EF4-FFF2-40B4-BE49-F238E27FC236}">
                  <a16:creationId xmlns:a16="http://schemas.microsoft.com/office/drawing/2014/main" id="{C7A78028-BC39-A930-F621-BD115108D933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4058" y="3990064"/>
              <a:ext cx="285623" cy="633537"/>
            </a:xfrm>
            <a:custGeom>
              <a:avLst/>
              <a:gdLst>
                <a:gd name="T0" fmla="*/ 0 w 188"/>
                <a:gd name="T1" fmla="*/ 278 h 417"/>
                <a:gd name="T2" fmla="*/ 63 w 188"/>
                <a:gd name="T3" fmla="*/ 209 h 417"/>
                <a:gd name="T4" fmla="*/ 0 w 188"/>
                <a:gd name="T5" fmla="*/ 139 h 417"/>
                <a:gd name="T6" fmla="*/ 0 w 188"/>
                <a:gd name="T7" fmla="*/ 0 h 417"/>
                <a:gd name="T8" fmla="*/ 188 w 188"/>
                <a:gd name="T9" fmla="*/ 139 h 417"/>
                <a:gd name="T10" fmla="*/ 188 w 188"/>
                <a:gd name="T11" fmla="*/ 278 h 417"/>
                <a:gd name="T12" fmla="*/ 0 w 188"/>
                <a:gd name="T13" fmla="*/ 417 h 417"/>
                <a:gd name="T14" fmla="*/ 0 w 188"/>
                <a:gd name="T15" fmla="*/ 278 h 4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88" h="417">
                  <a:moveTo>
                    <a:pt x="0" y="278"/>
                  </a:moveTo>
                  <a:lnTo>
                    <a:pt x="63" y="209"/>
                  </a:lnTo>
                  <a:lnTo>
                    <a:pt x="0" y="139"/>
                  </a:lnTo>
                  <a:lnTo>
                    <a:pt x="0" y="0"/>
                  </a:lnTo>
                  <a:lnTo>
                    <a:pt x="188" y="139"/>
                  </a:lnTo>
                  <a:lnTo>
                    <a:pt x="188" y="278"/>
                  </a:lnTo>
                  <a:lnTo>
                    <a:pt x="0" y="417"/>
                  </a:lnTo>
                  <a:lnTo>
                    <a:pt x="0" y="278"/>
                  </a:lnTo>
                </a:path>
              </a:pathLst>
            </a:custGeom>
            <a:noFill/>
            <a:ln w="222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520" name="Rectangle 66">
              <a:extLst>
                <a:ext uri="{FF2B5EF4-FFF2-40B4-BE49-F238E27FC236}">
                  <a16:creationId xmlns:a16="http://schemas.microsoft.com/office/drawing/2014/main" id="{3FA47142-9EF7-E021-4F07-3222882DA4F3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3898068" y="4201133"/>
              <a:ext cx="635054" cy="20988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1400" u="none" strike="noStrike" cap="none" normalizeH="0" baseline="0" dirty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  <a:ea typeface="SimHei" panose="02010609060101010101" pitchFamily="49" charset="-122"/>
                </a:rPr>
                <a:t>ALU</a:t>
              </a:r>
              <a:endParaRPr kumimoji="0" lang="zh-CN" altLang="zh-CN" sz="140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endParaRPr>
            </a:p>
          </p:txBody>
        </p:sp>
        <p:sp>
          <p:nvSpPr>
            <p:cNvPr id="521" name="Rectangle 67">
              <a:extLst>
                <a:ext uri="{FF2B5EF4-FFF2-40B4-BE49-F238E27FC236}">
                  <a16:creationId xmlns:a16="http://schemas.microsoft.com/office/drawing/2014/main" id="{0F14A5D9-56BE-B695-F71D-8C217073105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02808" y="4198204"/>
              <a:ext cx="193640" cy="20988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1400" u="none" strike="noStrike" cap="none" normalizeH="0" baseline="0" dirty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  <a:ea typeface="SimHei" panose="02010609060101010101" pitchFamily="49" charset="-122"/>
                </a:rPr>
                <a:t>IM</a:t>
              </a:r>
              <a:endParaRPr kumimoji="0" lang="zh-CN" altLang="zh-CN" sz="180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endParaRPr>
            </a:p>
          </p:txBody>
        </p:sp>
        <p:sp>
          <p:nvSpPr>
            <p:cNvPr id="522" name="Freeform 68">
              <a:extLst>
                <a:ext uri="{FF2B5EF4-FFF2-40B4-BE49-F238E27FC236}">
                  <a16:creationId xmlns:a16="http://schemas.microsoft.com/office/drawing/2014/main" id="{644B5062-FCB5-C4F8-A0E2-560B93D0167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3299" y="4117683"/>
              <a:ext cx="230692" cy="379818"/>
            </a:xfrm>
            <a:custGeom>
              <a:avLst/>
              <a:gdLst>
                <a:gd name="T0" fmla="*/ 156 w 156"/>
                <a:gd name="T1" fmla="*/ 0 h 250"/>
                <a:gd name="T2" fmla="*/ 0 w 156"/>
                <a:gd name="T3" fmla="*/ 0 h 250"/>
                <a:gd name="T4" fmla="*/ 0 w 156"/>
                <a:gd name="T5" fmla="*/ 250 h 250"/>
                <a:gd name="T6" fmla="*/ 156 w 156"/>
                <a:gd name="T7" fmla="*/ 250 h 2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56" h="250">
                  <a:moveTo>
                    <a:pt x="156" y="0"/>
                  </a:moveTo>
                  <a:lnTo>
                    <a:pt x="0" y="0"/>
                  </a:lnTo>
                  <a:lnTo>
                    <a:pt x="0" y="250"/>
                  </a:lnTo>
                  <a:lnTo>
                    <a:pt x="156" y="250"/>
                  </a:lnTo>
                </a:path>
              </a:pathLst>
            </a:custGeom>
            <a:noFill/>
            <a:ln w="222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523" name="Freeform 69">
              <a:extLst>
                <a:ext uri="{FF2B5EF4-FFF2-40B4-BE49-F238E27FC236}">
                  <a16:creationId xmlns:a16="http://schemas.microsoft.com/office/drawing/2014/main" id="{F96684E1-FF11-9C09-B947-691B9C65D95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3992" y="4117683"/>
              <a:ext cx="227891" cy="379818"/>
            </a:xfrm>
            <a:custGeom>
              <a:avLst/>
              <a:gdLst>
                <a:gd name="T0" fmla="*/ 0 w 150"/>
                <a:gd name="T1" fmla="*/ 0 h 250"/>
                <a:gd name="T2" fmla="*/ 150 w 150"/>
                <a:gd name="T3" fmla="*/ 0 h 250"/>
                <a:gd name="T4" fmla="*/ 150 w 150"/>
                <a:gd name="T5" fmla="*/ 250 h 250"/>
                <a:gd name="T6" fmla="*/ 0 w 150"/>
                <a:gd name="T7" fmla="*/ 250 h 2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50" h="250">
                  <a:moveTo>
                    <a:pt x="0" y="0"/>
                  </a:moveTo>
                  <a:lnTo>
                    <a:pt x="150" y="0"/>
                  </a:lnTo>
                  <a:lnTo>
                    <a:pt x="150" y="250"/>
                  </a:lnTo>
                  <a:lnTo>
                    <a:pt x="0" y="250"/>
                  </a:lnTo>
                </a:path>
              </a:pathLst>
            </a:custGeom>
            <a:noFill/>
            <a:ln w="222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524" name="Rectangle 70">
              <a:extLst>
                <a:ext uri="{FF2B5EF4-FFF2-40B4-BE49-F238E27FC236}">
                  <a16:creationId xmlns:a16="http://schemas.microsoft.com/office/drawing/2014/main" id="{75AFE8DC-2D9F-7C0A-C076-C645C7CA2E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38978" y="4188177"/>
              <a:ext cx="320132" cy="20988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1400" u="none" strike="noStrike" cap="none" normalizeH="0" baseline="0" dirty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  <a:ea typeface="SimHei" panose="02010609060101010101" pitchFamily="49" charset="-122"/>
                </a:rPr>
                <a:t>Reg</a:t>
              </a:r>
              <a:endParaRPr kumimoji="0" lang="zh-CN" altLang="zh-CN" sz="180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endParaRPr>
            </a:p>
          </p:txBody>
        </p:sp>
        <p:sp>
          <p:nvSpPr>
            <p:cNvPr id="525" name="Freeform 71">
              <a:extLst>
                <a:ext uri="{FF2B5EF4-FFF2-40B4-BE49-F238E27FC236}">
                  <a16:creationId xmlns:a16="http://schemas.microsoft.com/office/drawing/2014/main" id="{FDB73B7E-4EE8-1CE1-B135-508F6323233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7483" y="4117683"/>
              <a:ext cx="203582" cy="379818"/>
            </a:xfrm>
            <a:custGeom>
              <a:avLst/>
              <a:gdLst>
                <a:gd name="T0" fmla="*/ 134 w 134"/>
                <a:gd name="T1" fmla="*/ 0 h 250"/>
                <a:gd name="T2" fmla="*/ 0 w 134"/>
                <a:gd name="T3" fmla="*/ 0 h 250"/>
                <a:gd name="T4" fmla="*/ 0 w 134"/>
                <a:gd name="T5" fmla="*/ 250 h 250"/>
                <a:gd name="T6" fmla="*/ 134 w 134"/>
                <a:gd name="T7" fmla="*/ 250 h 2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4" h="250">
                  <a:moveTo>
                    <a:pt x="134" y="0"/>
                  </a:moveTo>
                  <a:lnTo>
                    <a:pt x="0" y="0"/>
                  </a:lnTo>
                  <a:lnTo>
                    <a:pt x="0" y="250"/>
                  </a:lnTo>
                  <a:lnTo>
                    <a:pt x="134" y="250"/>
                  </a:lnTo>
                </a:path>
              </a:pathLst>
            </a:custGeom>
            <a:noFill/>
            <a:ln w="222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526" name="Freeform 72">
              <a:extLst>
                <a:ext uri="{FF2B5EF4-FFF2-40B4-BE49-F238E27FC236}">
                  <a16:creationId xmlns:a16="http://schemas.microsoft.com/office/drawing/2014/main" id="{D68D175A-D09D-3530-6E25-65422E2BC19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1065" y="4117683"/>
              <a:ext cx="195986" cy="379818"/>
            </a:xfrm>
            <a:custGeom>
              <a:avLst/>
              <a:gdLst>
                <a:gd name="T0" fmla="*/ 0 w 129"/>
                <a:gd name="T1" fmla="*/ 0 h 250"/>
                <a:gd name="T2" fmla="*/ 129 w 129"/>
                <a:gd name="T3" fmla="*/ 0 h 250"/>
                <a:gd name="T4" fmla="*/ 129 w 129"/>
                <a:gd name="T5" fmla="*/ 250 h 250"/>
                <a:gd name="T6" fmla="*/ 0 w 129"/>
                <a:gd name="T7" fmla="*/ 250 h 2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9" h="250">
                  <a:moveTo>
                    <a:pt x="0" y="0"/>
                  </a:moveTo>
                  <a:lnTo>
                    <a:pt x="129" y="0"/>
                  </a:lnTo>
                  <a:lnTo>
                    <a:pt x="129" y="250"/>
                  </a:lnTo>
                  <a:lnTo>
                    <a:pt x="0" y="250"/>
                  </a:lnTo>
                </a:path>
              </a:pathLst>
            </a:custGeom>
            <a:noFill/>
            <a:ln w="222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527" name="Line 73">
              <a:extLst>
                <a:ext uri="{FF2B5EF4-FFF2-40B4-BE49-F238E27FC236}">
                  <a16:creationId xmlns:a16="http://schemas.microsoft.com/office/drawing/2014/main" id="{E14385C9-11DB-86FD-9649-6B7AD067793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40998" y="4307592"/>
              <a:ext cx="156485" cy="0"/>
            </a:xfrm>
            <a:prstGeom prst="line">
              <a:avLst/>
            </a:prstGeom>
            <a:noFill/>
            <a:ln w="22225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528" name="Freeform 74">
              <a:extLst>
                <a:ext uri="{FF2B5EF4-FFF2-40B4-BE49-F238E27FC236}">
                  <a16:creationId xmlns:a16="http://schemas.microsoft.com/office/drawing/2014/main" id="{3E560A87-91C7-8BAB-62A3-734B03FD310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2154" y="4181492"/>
              <a:ext cx="63809" cy="124580"/>
            </a:xfrm>
            <a:custGeom>
              <a:avLst/>
              <a:gdLst>
                <a:gd name="T0" fmla="*/ 0 w 42"/>
                <a:gd name="T1" fmla="*/ 82 h 82"/>
                <a:gd name="T2" fmla="*/ 0 w 42"/>
                <a:gd name="T3" fmla="*/ 0 h 82"/>
                <a:gd name="T4" fmla="*/ 42 w 42"/>
                <a:gd name="T5" fmla="*/ 0 h 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2" h="82">
                  <a:moveTo>
                    <a:pt x="0" y="82"/>
                  </a:moveTo>
                  <a:lnTo>
                    <a:pt x="0" y="0"/>
                  </a:lnTo>
                  <a:lnTo>
                    <a:pt x="42" y="0"/>
                  </a:lnTo>
                </a:path>
              </a:pathLst>
            </a:custGeom>
            <a:noFill/>
            <a:ln w="222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529" name="Line 75">
              <a:extLst>
                <a:ext uri="{FF2B5EF4-FFF2-40B4-BE49-F238E27FC236}">
                  <a16:creationId xmlns:a16="http://schemas.microsoft.com/office/drawing/2014/main" id="{5E2F6E8C-AF78-D94C-4C7D-D1DFC2FECFB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06167" y="4181492"/>
              <a:ext cx="212698" cy="0"/>
            </a:xfrm>
            <a:prstGeom prst="line">
              <a:avLst/>
            </a:prstGeom>
            <a:noFill/>
            <a:ln w="22225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530" name="Rectangle 76">
              <a:extLst>
                <a:ext uri="{FF2B5EF4-FFF2-40B4-BE49-F238E27FC236}">
                  <a16:creationId xmlns:a16="http://schemas.microsoft.com/office/drawing/2014/main" id="{2196C0AE-4A36-6636-6E98-81C62AFD7A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43637" y="4198204"/>
              <a:ext cx="271722" cy="20988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1400" u="none" strike="noStrike" cap="none" normalizeH="0" baseline="0" dirty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  <a:ea typeface="SimHei" panose="02010609060101010101" pitchFamily="49" charset="-122"/>
                </a:rPr>
                <a:t>DM</a:t>
              </a:r>
              <a:endParaRPr kumimoji="0" lang="zh-CN" altLang="zh-CN" sz="180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endParaRPr>
            </a:p>
          </p:txBody>
        </p:sp>
        <p:sp>
          <p:nvSpPr>
            <p:cNvPr id="531" name="Freeform 77">
              <a:extLst>
                <a:ext uri="{FF2B5EF4-FFF2-40B4-BE49-F238E27FC236}">
                  <a16:creationId xmlns:a16="http://schemas.microsoft.com/office/drawing/2014/main" id="{2B1925EB-BFA3-F3CE-0B97-DC877246047B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8206" y="4117683"/>
              <a:ext cx="220295" cy="379818"/>
            </a:xfrm>
            <a:custGeom>
              <a:avLst/>
              <a:gdLst>
                <a:gd name="T0" fmla="*/ 145 w 145"/>
                <a:gd name="T1" fmla="*/ 0 h 250"/>
                <a:gd name="T2" fmla="*/ 0 w 145"/>
                <a:gd name="T3" fmla="*/ 0 h 250"/>
                <a:gd name="T4" fmla="*/ 0 w 145"/>
                <a:gd name="T5" fmla="*/ 250 h 250"/>
                <a:gd name="T6" fmla="*/ 145 w 145"/>
                <a:gd name="T7" fmla="*/ 250 h 2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45" h="250">
                  <a:moveTo>
                    <a:pt x="145" y="0"/>
                  </a:moveTo>
                  <a:lnTo>
                    <a:pt x="0" y="0"/>
                  </a:lnTo>
                  <a:lnTo>
                    <a:pt x="0" y="250"/>
                  </a:lnTo>
                  <a:lnTo>
                    <a:pt x="145" y="250"/>
                  </a:lnTo>
                </a:path>
              </a:pathLst>
            </a:custGeom>
            <a:noFill/>
            <a:ln w="222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532" name="Freeform 78">
              <a:extLst>
                <a:ext uri="{FF2B5EF4-FFF2-40B4-BE49-F238E27FC236}">
                  <a16:creationId xmlns:a16="http://schemas.microsoft.com/office/drawing/2014/main" id="{6970BF74-DD03-E8A7-4F7D-9B9FF7D406F6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0904" y="4117683"/>
              <a:ext cx="227891" cy="379818"/>
            </a:xfrm>
            <a:custGeom>
              <a:avLst/>
              <a:gdLst>
                <a:gd name="T0" fmla="*/ 0 w 150"/>
                <a:gd name="T1" fmla="*/ 0 h 250"/>
                <a:gd name="T2" fmla="*/ 150 w 150"/>
                <a:gd name="T3" fmla="*/ 0 h 250"/>
                <a:gd name="T4" fmla="*/ 150 w 150"/>
                <a:gd name="T5" fmla="*/ 250 h 250"/>
                <a:gd name="T6" fmla="*/ 0 w 150"/>
                <a:gd name="T7" fmla="*/ 250 h 2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50" h="250">
                  <a:moveTo>
                    <a:pt x="0" y="0"/>
                  </a:moveTo>
                  <a:lnTo>
                    <a:pt x="150" y="0"/>
                  </a:lnTo>
                  <a:lnTo>
                    <a:pt x="150" y="250"/>
                  </a:lnTo>
                  <a:lnTo>
                    <a:pt x="0" y="250"/>
                  </a:lnTo>
                </a:path>
              </a:pathLst>
            </a:custGeom>
            <a:noFill/>
            <a:ln w="222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533" name="Rectangle 79">
              <a:extLst>
                <a:ext uri="{FF2B5EF4-FFF2-40B4-BE49-F238E27FC236}">
                  <a16:creationId xmlns:a16="http://schemas.microsoft.com/office/drawing/2014/main" id="{D27F93DB-40BA-AE08-21BF-DB21DFFFDB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29202" y="4190912"/>
              <a:ext cx="320132" cy="20988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1400" u="none" strike="noStrike" cap="none" normalizeH="0" baseline="0" dirty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  <a:ea typeface="SimHei" panose="02010609060101010101" pitchFamily="49" charset="-122"/>
                </a:rPr>
                <a:t>Reg</a:t>
              </a:r>
              <a:endParaRPr kumimoji="0" lang="zh-CN" altLang="zh-CN" sz="180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endParaRPr>
            </a:p>
          </p:txBody>
        </p:sp>
        <p:sp>
          <p:nvSpPr>
            <p:cNvPr id="534" name="Freeform 80">
              <a:extLst>
                <a:ext uri="{FF2B5EF4-FFF2-40B4-BE49-F238E27FC236}">
                  <a16:creationId xmlns:a16="http://schemas.microsoft.com/office/drawing/2014/main" id="{5717D9DA-1760-7274-E949-8BE4DC65357E}"/>
                </a:ext>
              </a:extLst>
            </p:cNvPr>
            <p:cNvSpPr>
              <a:spLocks/>
            </p:cNvSpPr>
            <p:nvPr/>
          </p:nvSpPr>
          <p:spPr bwMode="auto">
            <a:xfrm>
              <a:off x="5196300" y="4117683"/>
              <a:ext cx="186871" cy="379818"/>
            </a:xfrm>
            <a:custGeom>
              <a:avLst/>
              <a:gdLst>
                <a:gd name="T0" fmla="*/ 123 w 123"/>
                <a:gd name="T1" fmla="*/ 0 h 250"/>
                <a:gd name="T2" fmla="*/ 0 w 123"/>
                <a:gd name="T3" fmla="*/ 0 h 250"/>
                <a:gd name="T4" fmla="*/ 0 w 123"/>
                <a:gd name="T5" fmla="*/ 250 h 250"/>
                <a:gd name="T6" fmla="*/ 123 w 123"/>
                <a:gd name="T7" fmla="*/ 250 h 2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3" h="250">
                  <a:moveTo>
                    <a:pt x="123" y="0"/>
                  </a:moveTo>
                  <a:lnTo>
                    <a:pt x="0" y="0"/>
                  </a:lnTo>
                  <a:lnTo>
                    <a:pt x="0" y="250"/>
                  </a:lnTo>
                  <a:lnTo>
                    <a:pt x="123" y="250"/>
                  </a:lnTo>
                </a:path>
              </a:pathLst>
            </a:custGeom>
            <a:noFill/>
            <a:ln w="222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535" name="Freeform 81">
              <a:extLst>
                <a:ext uri="{FF2B5EF4-FFF2-40B4-BE49-F238E27FC236}">
                  <a16:creationId xmlns:a16="http://schemas.microsoft.com/office/drawing/2014/main" id="{33EBB52F-19BC-D903-4718-0B6A083F5AAC}"/>
                </a:ext>
              </a:extLst>
            </p:cNvPr>
            <p:cNvSpPr>
              <a:spLocks/>
            </p:cNvSpPr>
            <p:nvPr/>
          </p:nvSpPr>
          <p:spPr bwMode="auto">
            <a:xfrm>
              <a:off x="5383171" y="4117683"/>
              <a:ext cx="195986" cy="379818"/>
            </a:xfrm>
            <a:custGeom>
              <a:avLst/>
              <a:gdLst>
                <a:gd name="T0" fmla="*/ 0 w 129"/>
                <a:gd name="T1" fmla="*/ 0 h 250"/>
                <a:gd name="T2" fmla="*/ 129 w 129"/>
                <a:gd name="T3" fmla="*/ 0 h 250"/>
                <a:gd name="T4" fmla="*/ 129 w 129"/>
                <a:gd name="T5" fmla="*/ 250 h 250"/>
                <a:gd name="T6" fmla="*/ 0 w 129"/>
                <a:gd name="T7" fmla="*/ 250 h 2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9" h="250">
                  <a:moveTo>
                    <a:pt x="0" y="0"/>
                  </a:moveTo>
                  <a:lnTo>
                    <a:pt x="129" y="0"/>
                  </a:lnTo>
                  <a:lnTo>
                    <a:pt x="129" y="250"/>
                  </a:lnTo>
                  <a:lnTo>
                    <a:pt x="0" y="250"/>
                  </a:lnTo>
                </a:path>
              </a:pathLst>
            </a:custGeom>
            <a:noFill/>
            <a:ln w="222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536" name="Line 82">
              <a:extLst>
                <a:ext uri="{FF2B5EF4-FFF2-40B4-BE49-F238E27FC236}">
                  <a16:creationId xmlns:a16="http://schemas.microsoft.com/office/drawing/2014/main" id="{2B3D411B-31ED-7692-322B-6DC136161C1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991199" y="4307592"/>
              <a:ext cx="188390" cy="0"/>
            </a:xfrm>
            <a:prstGeom prst="line">
              <a:avLst/>
            </a:prstGeom>
            <a:noFill/>
            <a:ln w="22225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537" name="Line 83">
              <a:extLst>
                <a:ext uri="{FF2B5EF4-FFF2-40B4-BE49-F238E27FC236}">
                  <a16:creationId xmlns:a16="http://schemas.microsoft.com/office/drawing/2014/main" id="{A22178EA-830E-E420-2865-9862CBEBF9C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28796" y="4307592"/>
              <a:ext cx="212698" cy="0"/>
            </a:xfrm>
            <a:prstGeom prst="line">
              <a:avLst/>
            </a:prstGeom>
            <a:noFill/>
            <a:ln w="22225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538" name="Line 84">
              <a:extLst>
                <a:ext uri="{FF2B5EF4-FFF2-40B4-BE49-F238E27FC236}">
                  <a16:creationId xmlns:a16="http://schemas.microsoft.com/office/drawing/2014/main" id="{1C4FC8C9-6BED-35D9-E020-73401BC6C25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06167" y="4435211"/>
              <a:ext cx="212698" cy="0"/>
            </a:xfrm>
            <a:prstGeom prst="line">
              <a:avLst/>
            </a:prstGeom>
            <a:noFill/>
            <a:ln w="22225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539" name="Line 85">
              <a:extLst>
                <a:ext uri="{FF2B5EF4-FFF2-40B4-BE49-F238E27FC236}">
                  <a16:creationId xmlns:a16="http://schemas.microsoft.com/office/drawing/2014/main" id="{2F3F33C9-E1E5-B4E9-3CA6-E5334A28886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920112" y="4435211"/>
              <a:ext cx="0" cy="253719"/>
            </a:xfrm>
            <a:prstGeom prst="line">
              <a:avLst/>
            </a:prstGeom>
            <a:noFill/>
            <a:ln w="254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540" name="Line 86">
              <a:extLst>
                <a:ext uri="{FF2B5EF4-FFF2-40B4-BE49-F238E27FC236}">
                  <a16:creationId xmlns:a16="http://schemas.microsoft.com/office/drawing/2014/main" id="{78B0B74B-2084-C374-02AA-AF57995B892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920112" y="4688929"/>
              <a:ext cx="458820" cy="0"/>
            </a:xfrm>
            <a:prstGeom prst="line">
              <a:avLst/>
            </a:prstGeom>
            <a:noFill/>
            <a:ln w="254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541" name="Line 87">
              <a:extLst>
                <a:ext uri="{FF2B5EF4-FFF2-40B4-BE49-F238E27FC236}">
                  <a16:creationId xmlns:a16="http://schemas.microsoft.com/office/drawing/2014/main" id="{C15173DE-F4CA-D323-DB65-2BE4EFAFF76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78932" y="4307592"/>
              <a:ext cx="0" cy="381338"/>
            </a:xfrm>
            <a:prstGeom prst="line">
              <a:avLst/>
            </a:prstGeom>
            <a:noFill/>
            <a:ln w="254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542" name="Line 88">
              <a:extLst>
                <a:ext uri="{FF2B5EF4-FFF2-40B4-BE49-F238E27FC236}">
                  <a16:creationId xmlns:a16="http://schemas.microsoft.com/office/drawing/2014/main" id="{43092D0D-517A-B940-6B01-05491568E23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492878" y="4307592"/>
              <a:ext cx="0" cy="317528"/>
            </a:xfrm>
            <a:prstGeom prst="line">
              <a:avLst/>
            </a:prstGeom>
            <a:noFill/>
            <a:ln w="254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543" name="Line 89">
              <a:extLst>
                <a:ext uri="{FF2B5EF4-FFF2-40B4-BE49-F238E27FC236}">
                  <a16:creationId xmlns:a16="http://schemas.microsoft.com/office/drawing/2014/main" id="{DC873DEE-06A6-5187-F1FA-4967E5B2EA4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492878" y="4625119"/>
              <a:ext cx="587958" cy="0"/>
            </a:xfrm>
            <a:prstGeom prst="line">
              <a:avLst/>
            </a:prstGeom>
            <a:noFill/>
            <a:ln w="254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544" name="Line 90">
              <a:extLst>
                <a:ext uri="{FF2B5EF4-FFF2-40B4-BE49-F238E27FC236}">
                  <a16:creationId xmlns:a16="http://schemas.microsoft.com/office/drawing/2014/main" id="{18BA866E-42CF-937F-E63B-04A4BC166FB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080835" y="4307592"/>
              <a:ext cx="0" cy="317528"/>
            </a:xfrm>
            <a:prstGeom prst="line">
              <a:avLst/>
            </a:prstGeom>
            <a:noFill/>
            <a:ln w="254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545" name="Freeform 91">
              <a:extLst>
                <a:ext uri="{FF2B5EF4-FFF2-40B4-BE49-F238E27FC236}">
                  <a16:creationId xmlns:a16="http://schemas.microsoft.com/office/drawing/2014/main" id="{F0C61FA3-E86F-6370-97C9-7A7DE62033B7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3535" y="4688929"/>
              <a:ext cx="285623" cy="632017"/>
            </a:xfrm>
            <a:custGeom>
              <a:avLst/>
              <a:gdLst>
                <a:gd name="T0" fmla="*/ 0 w 188"/>
                <a:gd name="T1" fmla="*/ 277 h 416"/>
                <a:gd name="T2" fmla="*/ 63 w 188"/>
                <a:gd name="T3" fmla="*/ 208 h 416"/>
                <a:gd name="T4" fmla="*/ 0 w 188"/>
                <a:gd name="T5" fmla="*/ 139 h 416"/>
                <a:gd name="T6" fmla="*/ 0 w 188"/>
                <a:gd name="T7" fmla="*/ 0 h 416"/>
                <a:gd name="T8" fmla="*/ 188 w 188"/>
                <a:gd name="T9" fmla="*/ 139 h 416"/>
                <a:gd name="T10" fmla="*/ 188 w 188"/>
                <a:gd name="T11" fmla="*/ 277 h 416"/>
                <a:gd name="T12" fmla="*/ 0 w 188"/>
                <a:gd name="T13" fmla="*/ 416 h 416"/>
                <a:gd name="T14" fmla="*/ 0 w 188"/>
                <a:gd name="T15" fmla="*/ 277 h 4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88" h="416">
                  <a:moveTo>
                    <a:pt x="0" y="277"/>
                  </a:moveTo>
                  <a:lnTo>
                    <a:pt x="63" y="208"/>
                  </a:lnTo>
                  <a:lnTo>
                    <a:pt x="0" y="139"/>
                  </a:lnTo>
                  <a:lnTo>
                    <a:pt x="0" y="0"/>
                  </a:lnTo>
                  <a:lnTo>
                    <a:pt x="188" y="139"/>
                  </a:lnTo>
                  <a:lnTo>
                    <a:pt x="188" y="277"/>
                  </a:lnTo>
                  <a:lnTo>
                    <a:pt x="0" y="416"/>
                  </a:lnTo>
                  <a:lnTo>
                    <a:pt x="0" y="277"/>
                  </a:lnTo>
                </a:path>
              </a:pathLst>
            </a:custGeom>
            <a:noFill/>
            <a:ln w="222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546" name="Rectangle 92">
              <a:extLst>
                <a:ext uri="{FF2B5EF4-FFF2-40B4-BE49-F238E27FC236}">
                  <a16:creationId xmlns:a16="http://schemas.microsoft.com/office/drawing/2014/main" id="{4473829B-D9FE-43CA-CDC9-1BFE9F09216F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4486027" y="4899998"/>
              <a:ext cx="635054" cy="20988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1400" u="none" strike="noStrike" cap="none" normalizeH="0" baseline="0" dirty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  <a:ea typeface="SimHei" panose="02010609060101010101" pitchFamily="49" charset="-122"/>
                </a:rPr>
                <a:t>ALU</a:t>
              </a:r>
              <a:endParaRPr kumimoji="0" lang="zh-CN" altLang="zh-CN" sz="140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endParaRPr>
            </a:p>
          </p:txBody>
        </p:sp>
        <p:sp>
          <p:nvSpPr>
            <p:cNvPr id="547" name="Rectangle 93">
              <a:extLst>
                <a:ext uri="{FF2B5EF4-FFF2-40B4-BE49-F238E27FC236}">
                  <a16:creationId xmlns:a16="http://schemas.microsoft.com/office/drawing/2014/main" id="{8B3A2492-315F-7506-1814-8F9AB06C314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92285" y="4895549"/>
              <a:ext cx="193640" cy="20988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1400" u="none" strike="noStrike" cap="none" normalizeH="0" baseline="0" dirty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  <a:ea typeface="SimHei" panose="02010609060101010101" pitchFamily="49" charset="-122"/>
                </a:rPr>
                <a:t>IM</a:t>
              </a:r>
              <a:endParaRPr kumimoji="0" lang="zh-CN" altLang="zh-CN" sz="180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endParaRPr>
            </a:p>
          </p:txBody>
        </p:sp>
        <p:sp>
          <p:nvSpPr>
            <p:cNvPr id="548" name="Freeform 94">
              <a:extLst>
                <a:ext uri="{FF2B5EF4-FFF2-40B4-BE49-F238E27FC236}">
                  <a16:creationId xmlns:a16="http://schemas.microsoft.com/office/drawing/2014/main" id="{4B9F6E5A-36F6-F8AA-9659-002CF8FE98E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8683" y="4815029"/>
              <a:ext cx="233268" cy="379818"/>
            </a:xfrm>
            <a:custGeom>
              <a:avLst/>
              <a:gdLst>
                <a:gd name="T0" fmla="*/ 150 w 150"/>
                <a:gd name="T1" fmla="*/ 0 h 250"/>
                <a:gd name="T2" fmla="*/ 0 w 150"/>
                <a:gd name="T3" fmla="*/ 0 h 250"/>
                <a:gd name="T4" fmla="*/ 0 w 150"/>
                <a:gd name="T5" fmla="*/ 250 h 250"/>
                <a:gd name="T6" fmla="*/ 150 w 150"/>
                <a:gd name="T7" fmla="*/ 250 h 2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50" h="250">
                  <a:moveTo>
                    <a:pt x="150" y="0"/>
                  </a:moveTo>
                  <a:lnTo>
                    <a:pt x="0" y="0"/>
                  </a:lnTo>
                  <a:lnTo>
                    <a:pt x="0" y="250"/>
                  </a:lnTo>
                  <a:lnTo>
                    <a:pt x="150" y="250"/>
                  </a:lnTo>
                </a:path>
              </a:pathLst>
            </a:custGeom>
            <a:noFill/>
            <a:ln w="222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549" name="Freeform 95">
              <a:extLst>
                <a:ext uri="{FF2B5EF4-FFF2-40B4-BE49-F238E27FC236}">
                  <a16:creationId xmlns:a16="http://schemas.microsoft.com/office/drawing/2014/main" id="{2628FDAC-2400-9761-FAA3-FA4E1EDF150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3469" y="4815029"/>
              <a:ext cx="227891" cy="379818"/>
            </a:xfrm>
            <a:custGeom>
              <a:avLst/>
              <a:gdLst>
                <a:gd name="T0" fmla="*/ 0 w 150"/>
                <a:gd name="T1" fmla="*/ 0 h 250"/>
                <a:gd name="T2" fmla="*/ 150 w 150"/>
                <a:gd name="T3" fmla="*/ 0 h 250"/>
                <a:gd name="T4" fmla="*/ 150 w 150"/>
                <a:gd name="T5" fmla="*/ 250 h 250"/>
                <a:gd name="T6" fmla="*/ 0 w 150"/>
                <a:gd name="T7" fmla="*/ 250 h 2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50" h="250">
                  <a:moveTo>
                    <a:pt x="0" y="0"/>
                  </a:moveTo>
                  <a:lnTo>
                    <a:pt x="150" y="0"/>
                  </a:lnTo>
                  <a:lnTo>
                    <a:pt x="150" y="250"/>
                  </a:lnTo>
                  <a:lnTo>
                    <a:pt x="0" y="250"/>
                  </a:lnTo>
                </a:path>
              </a:pathLst>
            </a:custGeom>
            <a:noFill/>
            <a:ln w="222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550" name="Rectangle 96">
              <a:extLst>
                <a:ext uri="{FF2B5EF4-FFF2-40B4-BE49-F238E27FC236}">
                  <a16:creationId xmlns:a16="http://schemas.microsoft.com/office/drawing/2014/main" id="{F6360D2A-3531-7BF3-3FDD-FD710BF2B9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28455" y="4888561"/>
              <a:ext cx="320132" cy="20988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1400" u="none" strike="noStrike" cap="none" normalizeH="0" baseline="0" dirty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  <a:ea typeface="SimHei" panose="02010609060101010101" pitchFamily="49" charset="-122"/>
                </a:rPr>
                <a:t>Reg</a:t>
              </a:r>
              <a:endParaRPr kumimoji="0" lang="zh-CN" altLang="zh-CN" sz="180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endParaRPr>
            </a:p>
          </p:txBody>
        </p:sp>
        <p:sp>
          <p:nvSpPr>
            <p:cNvPr id="551" name="Freeform 97">
              <a:extLst>
                <a:ext uri="{FF2B5EF4-FFF2-40B4-BE49-F238E27FC236}">
                  <a16:creationId xmlns:a16="http://schemas.microsoft.com/office/drawing/2014/main" id="{F5B09EAE-B774-D28D-0F2B-BD744166C618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5441" y="4815029"/>
              <a:ext cx="203582" cy="379818"/>
            </a:xfrm>
            <a:custGeom>
              <a:avLst/>
              <a:gdLst>
                <a:gd name="T0" fmla="*/ 134 w 134"/>
                <a:gd name="T1" fmla="*/ 0 h 250"/>
                <a:gd name="T2" fmla="*/ 0 w 134"/>
                <a:gd name="T3" fmla="*/ 0 h 250"/>
                <a:gd name="T4" fmla="*/ 0 w 134"/>
                <a:gd name="T5" fmla="*/ 250 h 250"/>
                <a:gd name="T6" fmla="*/ 134 w 134"/>
                <a:gd name="T7" fmla="*/ 250 h 2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4" h="250">
                  <a:moveTo>
                    <a:pt x="134" y="0"/>
                  </a:moveTo>
                  <a:lnTo>
                    <a:pt x="0" y="0"/>
                  </a:lnTo>
                  <a:lnTo>
                    <a:pt x="0" y="250"/>
                  </a:lnTo>
                  <a:lnTo>
                    <a:pt x="134" y="250"/>
                  </a:lnTo>
                </a:path>
              </a:pathLst>
            </a:custGeom>
            <a:noFill/>
            <a:ln w="222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552" name="Freeform 98">
              <a:extLst>
                <a:ext uri="{FF2B5EF4-FFF2-40B4-BE49-F238E27FC236}">
                  <a16:creationId xmlns:a16="http://schemas.microsoft.com/office/drawing/2014/main" id="{9035E03F-6CEE-5F29-5DBC-B4D9FBE180A6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0542" y="4815029"/>
              <a:ext cx="203582" cy="379818"/>
            </a:xfrm>
            <a:custGeom>
              <a:avLst/>
              <a:gdLst>
                <a:gd name="T0" fmla="*/ 0 w 134"/>
                <a:gd name="T1" fmla="*/ 0 h 250"/>
                <a:gd name="T2" fmla="*/ 134 w 134"/>
                <a:gd name="T3" fmla="*/ 0 h 250"/>
                <a:gd name="T4" fmla="*/ 134 w 134"/>
                <a:gd name="T5" fmla="*/ 250 h 250"/>
                <a:gd name="T6" fmla="*/ 0 w 134"/>
                <a:gd name="T7" fmla="*/ 250 h 2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4" h="250">
                  <a:moveTo>
                    <a:pt x="0" y="0"/>
                  </a:moveTo>
                  <a:lnTo>
                    <a:pt x="134" y="0"/>
                  </a:lnTo>
                  <a:lnTo>
                    <a:pt x="134" y="250"/>
                  </a:lnTo>
                  <a:lnTo>
                    <a:pt x="0" y="250"/>
                  </a:lnTo>
                </a:path>
              </a:pathLst>
            </a:custGeom>
            <a:noFill/>
            <a:ln w="222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553" name="Line 99">
              <a:extLst>
                <a:ext uri="{FF2B5EF4-FFF2-40B4-BE49-F238E27FC236}">
                  <a16:creationId xmlns:a16="http://schemas.microsoft.com/office/drawing/2014/main" id="{672895E0-0541-8677-D258-F78E80A354C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30475" y="5004937"/>
              <a:ext cx="154966" cy="0"/>
            </a:xfrm>
            <a:prstGeom prst="line">
              <a:avLst/>
            </a:prstGeom>
            <a:noFill/>
            <a:ln w="22225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554" name="Freeform 100">
              <a:extLst>
                <a:ext uri="{FF2B5EF4-FFF2-40B4-BE49-F238E27FC236}">
                  <a16:creationId xmlns:a16="http://schemas.microsoft.com/office/drawing/2014/main" id="{C4FC5EC8-E4B9-D175-A126-1A45DF37B7F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0112" y="4878838"/>
              <a:ext cx="65329" cy="126100"/>
            </a:xfrm>
            <a:custGeom>
              <a:avLst/>
              <a:gdLst>
                <a:gd name="T0" fmla="*/ 0 w 43"/>
                <a:gd name="T1" fmla="*/ 83 h 83"/>
                <a:gd name="T2" fmla="*/ 0 w 43"/>
                <a:gd name="T3" fmla="*/ 0 h 83"/>
                <a:gd name="T4" fmla="*/ 43 w 43"/>
                <a:gd name="T5" fmla="*/ 0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3" h="83">
                  <a:moveTo>
                    <a:pt x="0" y="83"/>
                  </a:moveTo>
                  <a:lnTo>
                    <a:pt x="0" y="0"/>
                  </a:lnTo>
                  <a:lnTo>
                    <a:pt x="43" y="0"/>
                  </a:lnTo>
                </a:path>
              </a:pathLst>
            </a:custGeom>
            <a:noFill/>
            <a:ln w="222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555" name="Line 101">
              <a:extLst>
                <a:ext uri="{FF2B5EF4-FFF2-40B4-BE49-F238E27FC236}">
                  <a16:creationId xmlns:a16="http://schemas.microsoft.com/office/drawing/2014/main" id="{9E60F9FC-CF77-A5AE-DA5F-C572370157D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94125" y="4878838"/>
              <a:ext cx="221814" cy="0"/>
            </a:xfrm>
            <a:prstGeom prst="line">
              <a:avLst/>
            </a:prstGeom>
            <a:noFill/>
            <a:ln w="22225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556" name="Rectangle 102">
              <a:extLst>
                <a:ext uri="{FF2B5EF4-FFF2-40B4-BE49-F238E27FC236}">
                  <a16:creationId xmlns:a16="http://schemas.microsoft.com/office/drawing/2014/main" id="{2FD75786-4611-6D9B-A6C1-E62DE1CE96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33114" y="4895549"/>
              <a:ext cx="271722" cy="20988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1400" u="none" strike="noStrike" cap="none" normalizeH="0" baseline="0" dirty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  <a:ea typeface="SimHei" panose="02010609060101010101" pitchFamily="49" charset="-122"/>
                </a:rPr>
                <a:t>DM</a:t>
              </a:r>
              <a:endParaRPr kumimoji="0" lang="zh-CN" altLang="zh-CN" sz="180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endParaRPr>
            </a:p>
          </p:txBody>
        </p:sp>
        <p:sp>
          <p:nvSpPr>
            <p:cNvPr id="557" name="Freeform 103">
              <a:extLst>
                <a:ext uri="{FF2B5EF4-FFF2-40B4-BE49-F238E27FC236}">
                  <a16:creationId xmlns:a16="http://schemas.microsoft.com/office/drawing/2014/main" id="{CA2EB362-3E39-003B-3881-903FFAA4CF75}"/>
                </a:ext>
              </a:extLst>
            </p:cNvPr>
            <p:cNvSpPr>
              <a:spLocks/>
            </p:cNvSpPr>
            <p:nvPr/>
          </p:nvSpPr>
          <p:spPr bwMode="auto">
            <a:xfrm>
              <a:off x="5146164" y="4815029"/>
              <a:ext cx="220295" cy="379818"/>
            </a:xfrm>
            <a:custGeom>
              <a:avLst/>
              <a:gdLst>
                <a:gd name="T0" fmla="*/ 145 w 145"/>
                <a:gd name="T1" fmla="*/ 0 h 250"/>
                <a:gd name="T2" fmla="*/ 0 w 145"/>
                <a:gd name="T3" fmla="*/ 0 h 250"/>
                <a:gd name="T4" fmla="*/ 0 w 145"/>
                <a:gd name="T5" fmla="*/ 250 h 250"/>
                <a:gd name="T6" fmla="*/ 145 w 145"/>
                <a:gd name="T7" fmla="*/ 250 h 2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45" h="250">
                  <a:moveTo>
                    <a:pt x="145" y="0"/>
                  </a:moveTo>
                  <a:lnTo>
                    <a:pt x="0" y="0"/>
                  </a:lnTo>
                  <a:lnTo>
                    <a:pt x="0" y="250"/>
                  </a:lnTo>
                  <a:lnTo>
                    <a:pt x="145" y="250"/>
                  </a:lnTo>
                </a:path>
              </a:pathLst>
            </a:custGeom>
            <a:noFill/>
            <a:ln w="222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558" name="Freeform 104">
              <a:extLst>
                <a:ext uri="{FF2B5EF4-FFF2-40B4-BE49-F238E27FC236}">
                  <a16:creationId xmlns:a16="http://schemas.microsoft.com/office/drawing/2014/main" id="{E1991FB3-BA8B-720F-ADC6-9428E94B5B2F}"/>
                </a:ext>
              </a:extLst>
            </p:cNvPr>
            <p:cNvSpPr>
              <a:spLocks/>
            </p:cNvSpPr>
            <p:nvPr/>
          </p:nvSpPr>
          <p:spPr bwMode="auto">
            <a:xfrm>
              <a:off x="5367978" y="4815029"/>
              <a:ext cx="218775" cy="379818"/>
            </a:xfrm>
            <a:custGeom>
              <a:avLst/>
              <a:gdLst>
                <a:gd name="T0" fmla="*/ 0 w 144"/>
                <a:gd name="T1" fmla="*/ 0 h 250"/>
                <a:gd name="T2" fmla="*/ 144 w 144"/>
                <a:gd name="T3" fmla="*/ 0 h 250"/>
                <a:gd name="T4" fmla="*/ 144 w 144"/>
                <a:gd name="T5" fmla="*/ 250 h 250"/>
                <a:gd name="T6" fmla="*/ 0 w 144"/>
                <a:gd name="T7" fmla="*/ 250 h 2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44" h="250">
                  <a:moveTo>
                    <a:pt x="0" y="0"/>
                  </a:moveTo>
                  <a:lnTo>
                    <a:pt x="144" y="0"/>
                  </a:lnTo>
                  <a:lnTo>
                    <a:pt x="144" y="250"/>
                  </a:lnTo>
                  <a:lnTo>
                    <a:pt x="0" y="250"/>
                  </a:lnTo>
                </a:path>
              </a:pathLst>
            </a:custGeom>
            <a:noFill/>
            <a:ln w="222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559" name="Rectangle 105">
              <a:extLst>
                <a:ext uri="{FF2B5EF4-FFF2-40B4-BE49-F238E27FC236}">
                  <a16:creationId xmlns:a16="http://schemas.microsoft.com/office/drawing/2014/main" id="{F398583E-D89C-8B96-0AA4-9F49241A9B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817160" y="4888257"/>
              <a:ext cx="320132" cy="20988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1400" u="none" strike="noStrike" cap="none" normalizeH="0" baseline="0" dirty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  <a:ea typeface="SimHei" panose="02010609060101010101" pitchFamily="49" charset="-122"/>
                </a:rPr>
                <a:t>Reg</a:t>
              </a:r>
              <a:endParaRPr kumimoji="0" lang="zh-CN" altLang="zh-CN" sz="180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endParaRPr>
            </a:p>
          </p:txBody>
        </p:sp>
        <p:sp>
          <p:nvSpPr>
            <p:cNvPr id="560" name="Freeform 106">
              <a:extLst>
                <a:ext uri="{FF2B5EF4-FFF2-40B4-BE49-F238E27FC236}">
                  <a16:creationId xmlns:a16="http://schemas.microsoft.com/office/drawing/2014/main" id="{63D5648A-A422-7FFD-FA10-88BA0052DDDD}"/>
                </a:ext>
              </a:extLst>
            </p:cNvPr>
            <p:cNvSpPr>
              <a:spLocks/>
            </p:cNvSpPr>
            <p:nvPr/>
          </p:nvSpPr>
          <p:spPr bwMode="auto">
            <a:xfrm>
              <a:off x="5784258" y="4815029"/>
              <a:ext cx="186871" cy="379818"/>
            </a:xfrm>
            <a:custGeom>
              <a:avLst/>
              <a:gdLst>
                <a:gd name="T0" fmla="*/ 123 w 123"/>
                <a:gd name="T1" fmla="*/ 0 h 250"/>
                <a:gd name="T2" fmla="*/ 0 w 123"/>
                <a:gd name="T3" fmla="*/ 0 h 250"/>
                <a:gd name="T4" fmla="*/ 0 w 123"/>
                <a:gd name="T5" fmla="*/ 250 h 250"/>
                <a:gd name="T6" fmla="*/ 123 w 123"/>
                <a:gd name="T7" fmla="*/ 250 h 2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3" h="250">
                  <a:moveTo>
                    <a:pt x="123" y="0"/>
                  </a:moveTo>
                  <a:lnTo>
                    <a:pt x="0" y="0"/>
                  </a:lnTo>
                  <a:lnTo>
                    <a:pt x="0" y="250"/>
                  </a:lnTo>
                  <a:lnTo>
                    <a:pt x="123" y="250"/>
                  </a:lnTo>
                </a:path>
              </a:pathLst>
            </a:custGeom>
            <a:noFill/>
            <a:ln w="222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561" name="Freeform 107">
              <a:extLst>
                <a:ext uri="{FF2B5EF4-FFF2-40B4-BE49-F238E27FC236}">
                  <a16:creationId xmlns:a16="http://schemas.microsoft.com/office/drawing/2014/main" id="{519896B5-8512-C82A-A5CB-498411C799D4}"/>
                </a:ext>
              </a:extLst>
            </p:cNvPr>
            <p:cNvSpPr>
              <a:spLocks/>
            </p:cNvSpPr>
            <p:nvPr/>
          </p:nvSpPr>
          <p:spPr bwMode="auto">
            <a:xfrm>
              <a:off x="5972648" y="4815029"/>
              <a:ext cx="194467" cy="379818"/>
            </a:xfrm>
            <a:custGeom>
              <a:avLst/>
              <a:gdLst>
                <a:gd name="T0" fmla="*/ 0 w 128"/>
                <a:gd name="T1" fmla="*/ 0 h 250"/>
                <a:gd name="T2" fmla="*/ 128 w 128"/>
                <a:gd name="T3" fmla="*/ 0 h 250"/>
                <a:gd name="T4" fmla="*/ 128 w 128"/>
                <a:gd name="T5" fmla="*/ 250 h 250"/>
                <a:gd name="T6" fmla="*/ 0 w 128"/>
                <a:gd name="T7" fmla="*/ 250 h 2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8" h="250">
                  <a:moveTo>
                    <a:pt x="0" y="0"/>
                  </a:moveTo>
                  <a:lnTo>
                    <a:pt x="128" y="0"/>
                  </a:lnTo>
                  <a:lnTo>
                    <a:pt x="128" y="250"/>
                  </a:lnTo>
                  <a:lnTo>
                    <a:pt x="0" y="250"/>
                  </a:lnTo>
                </a:path>
              </a:pathLst>
            </a:custGeom>
            <a:noFill/>
            <a:ln w="222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562" name="Line 108">
              <a:extLst>
                <a:ext uri="{FF2B5EF4-FFF2-40B4-BE49-F238E27FC236}">
                  <a16:creationId xmlns:a16="http://schemas.microsoft.com/office/drawing/2014/main" id="{08964FA2-0974-19CF-162D-24EE83DD4A3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580676" y="5004937"/>
              <a:ext cx="186871" cy="0"/>
            </a:xfrm>
            <a:prstGeom prst="line">
              <a:avLst/>
            </a:prstGeom>
            <a:noFill/>
            <a:ln w="22225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563" name="Line 109">
              <a:extLst>
                <a:ext uri="{FF2B5EF4-FFF2-40B4-BE49-F238E27FC236}">
                  <a16:creationId xmlns:a16="http://schemas.microsoft.com/office/drawing/2014/main" id="{C228ACC7-FF21-A10B-923F-FAD8F941B0A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925870" y="5004937"/>
              <a:ext cx="205102" cy="0"/>
            </a:xfrm>
            <a:prstGeom prst="line">
              <a:avLst/>
            </a:prstGeom>
            <a:noFill/>
            <a:ln w="22225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564" name="Line 110">
              <a:extLst>
                <a:ext uri="{FF2B5EF4-FFF2-40B4-BE49-F238E27FC236}">
                  <a16:creationId xmlns:a16="http://schemas.microsoft.com/office/drawing/2014/main" id="{504EFBE3-0F8C-8F7C-D7BE-074BD2D1C95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94125" y="5132556"/>
              <a:ext cx="221814" cy="0"/>
            </a:xfrm>
            <a:prstGeom prst="line">
              <a:avLst/>
            </a:prstGeom>
            <a:noFill/>
            <a:ln w="22225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565" name="Line 111">
              <a:extLst>
                <a:ext uri="{FF2B5EF4-FFF2-40B4-BE49-F238E27FC236}">
                  <a16:creationId xmlns:a16="http://schemas.microsoft.com/office/drawing/2014/main" id="{D5A8EF59-C7A5-C761-410C-91C1D151CC1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509589" y="5132556"/>
              <a:ext cx="0" cy="253719"/>
            </a:xfrm>
            <a:prstGeom prst="line">
              <a:avLst/>
            </a:prstGeom>
            <a:noFill/>
            <a:ln w="254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566" name="Line 112">
              <a:extLst>
                <a:ext uri="{FF2B5EF4-FFF2-40B4-BE49-F238E27FC236}">
                  <a16:creationId xmlns:a16="http://schemas.microsoft.com/office/drawing/2014/main" id="{E40E82B0-2B52-A9DB-C72B-BA2838DD9AA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509589" y="5386275"/>
              <a:ext cx="457301" cy="0"/>
            </a:xfrm>
            <a:prstGeom prst="line">
              <a:avLst/>
            </a:prstGeom>
            <a:noFill/>
            <a:ln w="254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567" name="Line 113">
              <a:extLst>
                <a:ext uri="{FF2B5EF4-FFF2-40B4-BE49-F238E27FC236}">
                  <a16:creationId xmlns:a16="http://schemas.microsoft.com/office/drawing/2014/main" id="{48D69902-D7AF-4AB4-E595-0BDE3910B67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966890" y="5004937"/>
              <a:ext cx="0" cy="381338"/>
            </a:xfrm>
            <a:prstGeom prst="line">
              <a:avLst/>
            </a:prstGeom>
            <a:noFill/>
            <a:ln w="254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568" name="Line 114">
              <a:extLst>
                <a:ext uri="{FF2B5EF4-FFF2-40B4-BE49-F238E27FC236}">
                  <a16:creationId xmlns:a16="http://schemas.microsoft.com/office/drawing/2014/main" id="{35AAF669-71F8-AFAD-10BA-6B7C20299CE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080835" y="5004937"/>
              <a:ext cx="0" cy="317528"/>
            </a:xfrm>
            <a:prstGeom prst="line">
              <a:avLst/>
            </a:prstGeom>
            <a:noFill/>
            <a:ln w="254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569" name="Line 115">
              <a:extLst>
                <a:ext uri="{FF2B5EF4-FFF2-40B4-BE49-F238E27FC236}">
                  <a16:creationId xmlns:a16="http://schemas.microsoft.com/office/drawing/2014/main" id="{F268E55B-95E2-855D-0E29-3EE9CEA0047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080835" y="5322465"/>
              <a:ext cx="589477" cy="0"/>
            </a:xfrm>
            <a:prstGeom prst="line">
              <a:avLst/>
            </a:prstGeom>
            <a:noFill/>
            <a:ln w="254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570" name="Line 116">
              <a:extLst>
                <a:ext uri="{FF2B5EF4-FFF2-40B4-BE49-F238E27FC236}">
                  <a16:creationId xmlns:a16="http://schemas.microsoft.com/office/drawing/2014/main" id="{6D406C05-446B-9A41-4926-41E0AA7B449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670313" y="5004937"/>
              <a:ext cx="0" cy="317528"/>
            </a:xfrm>
            <a:prstGeom prst="line">
              <a:avLst/>
            </a:prstGeom>
            <a:noFill/>
            <a:ln w="254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571" name="Freeform 117">
              <a:extLst>
                <a:ext uri="{FF2B5EF4-FFF2-40B4-BE49-F238E27FC236}">
                  <a16:creationId xmlns:a16="http://schemas.microsoft.com/office/drawing/2014/main" id="{3085076D-5022-59AD-DF20-53AA00BABCAA}"/>
                </a:ext>
              </a:extLst>
            </p:cNvPr>
            <p:cNvSpPr>
              <a:spLocks/>
            </p:cNvSpPr>
            <p:nvPr/>
          </p:nvSpPr>
          <p:spPr bwMode="auto">
            <a:xfrm>
              <a:off x="5211493" y="5386275"/>
              <a:ext cx="285623" cy="633537"/>
            </a:xfrm>
            <a:custGeom>
              <a:avLst/>
              <a:gdLst>
                <a:gd name="T0" fmla="*/ 0 w 188"/>
                <a:gd name="T1" fmla="*/ 278 h 417"/>
                <a:gd name="T2" fmla="*/ 63 w 188"/>
                <a:gd name="T3" fmla="*/ 208 h 417"/>
                <a:gd name="T4" fmla="*/ 0 w 188"/>
                <a:gd name="T5" fmla="*/ 139 h 417"/>
                <a:gd name="T6" fmla="*/ 0 w 188"/>
                <a:gd name="T7" fmla="*/ 0 h 417"/>
                <a:gd name="T8" fmla="*/ 188 w 188"/>
                <a:gd name="T9" fmla="*/ 139 h 417"/>
                <a:gd name="T10" fmla="*/ 188 w 188"/>
                <a:gd name="T11" fmla="*/ 278 h 417"/>
                <a:gd name="T12" fmla="*/ 0 w 188"/>
                <a:gd name="T13" fmla="*/ 417 h 417"/>
                <a:gd name="T14" fmla="*/ 0 w 188"/>
                <a:gd name="T15" fmla="*/ 278 h 4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88" h="417">
                  <a:moveTo>
                    <a:pt x="0" y="278"/>
                  </a:moveTo>
                  <a:lnTo>
                    <a:pt x="63" y="208"/>
                  </a:lnTo>
                  <a:lnTo>
                    <a:pt x="0" y="139"/>
                  </a:lnTo>
                  <a:lnTo>
                    <a:pt x="0" y="0"/>
                  </a:lnTo>
                  <a:lnTo>
                    <a:pt x="188" y="139"/>
                  </a:lnTo>
                  <a:lnTo>
                    <a:pt x="188" y="278"/>
                  </a:lnTo>
                  <a:lnTo>
                    <a:pt x="0" y="417"/>
                  </a:lnTo>
                  <a:lnTo>
                    <a:pt x="0" y="278"/>
                  </a:lnTo>
                </a:path>
              </a:pathLst>
            </a:custGeom>
            <a:noFill/>
            <a:ln w="222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572" name="Rectangle 118">
              <a:extLst>
                <a:ext uri="{FF2B5EF4-FFF2-40B4-BE49-F238E27FC236}">
                  <a16:creationId xmlns:a16="http://schemas.microsoft.com/office/drawing/2014/main" id="{770B90D8-CB64-ABDE-7873-E044AA67DEF4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5075504" y="5595824"/>
              <a:ext cx="635054" cy="20988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1400" u="none" strike="noStrike" cap="none" normalizeH="0" baseline="0" dirty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  <a:ea typeface="SimHei" panose="02010609060101010101" pitchFamily="49" charset="-122"/>
                </a:rPr>
                <a:t>ALU</a:t>
              </a:r>
              <a:endParaRPr kumimoji="0" lang="zh-CN" altLang="zh-CN" sz="140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endParaRPr>
            </a:p>
          </p:txBody>
        </p:sp>
        <p:sp>
          <p:nvSpPr>
            <p:cNvPr id="573" name="Rectangle 119">
              <a:extLst>
                <a:ext uri="{FF2B5EF4-FFF2-40B4-BE49-F238E27FC236}">
                  <a16:creationId xmlns:a16="http://schemas.microsoft.com/office/drawing/2014/main" id="{2EB18CCC-6CB9-EA1B-4AFF-8A9C90C06F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81762" y="5591376"/>
              <a:ext cx="193640" cy="20988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1400" u="none" strike="noStrike" cap="none" normalizeH="0" baseline="0" dirty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  <a:ea typeface="SimHei" panose="02010609060101010101" pitchFamily="49" charset="-122"/>
                </a:rPr>
                <a:t>IM</a:t>
              </a:r>
              <a:endParaRPr kumimoji="0" lang="zh-CN" altLang="zh-CN" sz="180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endParaRPr>
            </a:p>
          </p:txBody>
        </p:sp>
        <p:sp>
          <p:nvSpPr>
            <p:cNvPr id="574" name="Freeform 120">
              <a:extLst>
                <a:ext uri="{FF2B5EF4-FFF2-40B4-BE49-F238E27FC236}">
                  <a16:creationId xmlns:a16="http://schemas.microsoft.com/office/drawing/2014/main" id="{10C12C7C-7A07-B275-DA43-F813F8E26B13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1602" y="5512374"/>
              <a:ext cx="229824" cy="379818"/>
            </a:xfrm>
            <a:custGeom>
              <a:avLst/>
              <a:gdLst>
                <a:gd name="T0" fmla="*/ 156 w 156"/>
                <a:gd name="T1" fmla="*/ 0 h 250"/>
                <a:gd name="T2" fmla="*/ 0 w 156"/>
                <a:gd name="T3" fmla="*/ 0 h 250"/>
                <a:gd name="T4" fmla="*/ 0 w 156"/>
                <a:gd name="T5" fmla="*/ 250 h 250"/>
                <a:gd name="T6" fmla="*/ 156 w 156"/>
                <a:gd name="T7" fmla="*/ 250 h 2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56" h="250">
                  <a:moveTo>
                    <a:pt x="156" y="0"/>
                  </a:moveTo>
                  <a:lnTo>
                    <a:pt x="0" y="0"/>
                  </a:lnTo>
                  <a:lnTo>
                    <a:pt x="0" y="250"/>
                  </a:lnTo>
                  <a:lnTo>
                    <a:pt x="156" y="250"/>
                  </a:lnTo>
                </a:path>
              </a:pathLst>
            </a:custGeom>
            <a:noFill/>
            <a:ln w="222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575" name="Freeform 121">
              <a:extLst>
                <a:ext uri="{FF2B5EF4-FFF2-40B4-BE49-F238E27FC236}">
                  <a16:creationId xmlns:a16="http://schemas.microsoft.com/office/drawing/2014/main" id="{68D54BD0-997A-1C31-D123-4FE70699B2E7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1427" y="5512374"/>
              <a:ext cx="227891" cy="379818"/>
            </a:xfrm>
            <a:custGeom>
              <a:avLst/>
              <a:gdLst>
                <a:gd name="T0" fmla="*/ 0 w 150"/>
                <a:gd name="T1" fmla="*/ 0 h 250"/>
                <a:gd name="T2" fmla="*/ 150 w 150"/>
                <a:gd name="T3" fmla="*/ 0 h 250"/>
                <a:gd name="T4" fmla="*/ 150 w 150"/>
                <a:gd name="T5" fmla="*/ 250 h 250"/>
                <a:gd name="T6" fmla="*/ 0 w 150"/>
                <a:gd name="T7" fmla="*/ 250 h 2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50" h="250">
                  <a:moveTo>
                    <a:pt x="0" y="0"/>
                  </a:moveTo>
                  <a:lnTo>
                    <a:pt x="150" y="0"/>
                  </a:lnTo>
                  <a:lnTo>
                    <a:pt x="150" y="250"/>
                  </a:lnTo>
                  <a:lnTo>
                    <a:pt x="0" y="250"/>
                  </a:lnTo>
                </a:path>
              </a:pathLst>
            </a:custGeom>
            <a:noFill/>
            <a:ln w="222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576" name="Rectangle 122">
              <a:extLst>
                <a:ext uri="{FF2B5EF4-FFF2-40B4-BE49-F238E27FC236}">
                  <a16:creationId xmlns:a16="http://schemas.microsoft.com/office/drawing/2014/main" id="{F5EBAB71-7F5F-4AE6-26D9-656233D444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16414" y="5585906"/>
              <a:ext cx="320132" cy="20988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1400" u="none" strike="noStrike" cap="none" normalizeH="0" baseline="0" dirty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  <a:ea typeface="SimHei" panose="02010609060101010101" pitchFamily="49" charset="-122"/>
                </a:rPr>
                <a:t>Reg</a:t>
              </a:r>
              <a:endParaRPr kumimoji="0" lang="zh-CN" altLang="zh-CN" sz="180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endParaRPr>
            </a:p>
          </p:txBody>
        </p:sp>
        <p:sp>
          <p:nvSpPr>
            <p:cNvPr id="577" name="Freeform 123">
              <a:extLst>
                <a:ext uri="{FF2B5EF4-FFF2-40B4-BE49-F238E27FC236}">
                  <a16:creationId xmlns:a16="http://schemas.microsoft.com/office/drawing/2014/main" id="{71E89DD7-D391-8F71-B9C9-D9353CB6F7F8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5206" y="5512373"/>
              <a:ext cx="203582" cy="379818"/>
            </a:xfrm>
            <a:custGeom>
              <a:avLst/>
              <a:gdLst>
                <a:gd name="T0" fmla="*/ 134 w 134"/>
                <a:gd name="T1" fmla="*/ 0 h 250"/>
                <a:gd name="T2" fmla="*/ 0 w 134"/>
                <a:gd name="T3" fmla="*/ 0 h 250"/>
                <a:gd name="T4" fmla="*/ 0 w 134"/>
                <a:gd name="T5" fmla="*/ 250 h 250"/>
                <a:gd name="T6" fmla="*/ 134 w 134"/>
                <a:gd name="T7" fmla="*/ 250 h 2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4" h="250">
                  <a:moveTo>
                    <a:pt x="134" y="0"/>
                  </a:moveTo>
                  <a:lnTo>
                    <a:pt x="0" y="0"/>
                  </a:lnTo>
                  <a:lnTo>
                    <a:pt x="0" y="250"/>
                  </a:lnTo>
                  <a:lnTo>
                    <a:pt x="134" y="250"/>
                  </a:lnTo>
                </a:path>
              </a:pathLst>
            </a:custGeom>
            <a:noFill/>
            <a:ln w="222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578" name="Freeform 124">
              <a:extLst>
                <a:ext uri="{FF2B5EF4-FFF2-40B4-BE49-F238E27FC236}">
                  <a16:creationId xmlns:a16="http://schemas.microsoft.com/office/drawing/2014/main" id="{64729228-B16A-D162-8515-936992237A8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8501" y="5512374"/>
              <a:ext cx="195986" cy="379818"/>
            </a:xfrm>
            <a:custGeom>
              <a:avLst/>
              <a:gdLst>
                <a:gd name="T0" fmla="*/ 0 w 129"/>
                <a:gd name="T1" fmla="*/ 0 h 250"/>
                <a:gd name="T2" fmla="*/ 129 w 129"/>
                <a:gd name="T3" fmla="*/ 0 h 250"/>
                <a:gd name="T4" fmla="*/ 129 w 129"/>
                <a:gd name="T5" fmla="*/ 250 h 250"/>
                <a:gd name="T6" fmla="*/ 0 w 129"/>
                <a:gd name="T7" fmla="*/ 250 h 2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9" h="250">
                  <a:moveTo>
                    <a:pt x="0" y="0"/>
                  </a:moveTo>
                  <a:lnTo>
                    <a:pt x="129" y="0"/>
                  </a:lnTo>
                  <a:lnTo>
                    <a:pt x="129" y="250"/>
                  </a:lnTo>
                  <a:lnTo>
                    <a:pt x="0" y="250"/>
                  </a:lnTo>
                </a:path>
              </a:pathLst>
            </a:custGeom>
            <a:noFill/>
            <a:ln w="222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579" name="Line 125">
              <a:extLst>
                <a:ext uri="{FF2B5EF4-FFF2-40B4-BE49-F238E27FC236}">
                  <a16:creationId xmlns:a16="http://schemas.microsoft.com/office/drawing/2014/main" id="{0589C9F5-0F0C-43FF-4211-3124BB416BB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418433" y="5702283"/>
              <a:ext cx="156485" cy="0"/>
            </a:xfrm>
            <a:prstGeom prst="line">
              <a:avLst/>
            </a:prstGeom>
            <a:noFill/>
            <a:ln w="22225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580" name="Freeform 126">
              <a:extLst>
                <a:ext uri="{FF2B5EF4-FFF2-40B4-BE49-F238E27FC236}">
                  <a16:creationId xmlns:a16="http://schemas.microsoft.com/office/drawing/2014/main" id="{0DE6F02C-A8D5-74A4-2454-9324517363B1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9589" y="5576183"/>
              <a:ext cx="63809" cy="126100"/>
            </a:xfrm>
            <a:custGeom>
              <a:avLst/>
              <a:gdLst>
                <a:gd name="T0" fmla="*/ 0 w 42"/>
                <a:gd name="T1" fmla="*/ 83 h 83"/>
                <a:gd name="T2" fmla="*/ 0 w 42"/>
                <a:gd name="T3" fmla="*/ 0 h 83"/>
                <a:gd name="T4" fmla="*/ 42 w 42"/>
                <a:gd name="T5" fmla="*/ 0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2" h="83">
                  <a:moveTo>
                    <a:pt x="0" y="83"/>
                  </a:moveTo>
                  <a:lnTo>
                    <a:pt x="0" y="0"/>
                  </a:lnTo>
                  <a:lnTo>
                    <a:pt x="42" y="0"/>
                  </a:lnTo>
                </a:path>
              </a:pathLst>
            </a:custGeom>
            <a:noFill/>
            <a:ln w="222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581" name="Line 127">
              <a:extLst>
                <a:ext uri="{FF2B5EF4-FFF2-40B4-BE49-F238E27FC236}">
                  <a16:creationId xmlns:a16="http://schemas.microsoft.com/office/drawing/2014/main" id="{6F1B8E52-3FA8-028A-E1D3-B27AE079F2B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983602" y="5576183"/>
              <a:ext cx="212698" cy="0"/>
            </a:xfrm>
            <a:prstGeom prst="line">
              <a:avLst/>
            </a:prstGeom>
            <a:noFill/>
            <a:ln w="22225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582" name="Rectangle 128">
              <a:extLst>
                <a:ext uri="{FF2B5EF4-FFF2-40B4-BE49-F238E27FC236}">
                  <a16:creationId xmlns:a16="http://schemas.microsoft.com/office/drawing/2014/main" id="{B6FAF731-D1AE-4107-E373-D01208BC652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821072" y="5591376"/>
              <a:ext cx="271722" cy="20988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1400" u="none" strike="noStrike" cap="none" normalizeH="0" baseline="0" dirty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  <a:ea typeface="SimHei" panose="02010609060101010101" pitchFamily="49" charset="-122"/>
                </a:rPr>
                <a:t>DM</a:t>
              </a:r>
              <a:endParaRPr kumimoji="0" lang="zh-CN" altLang="zh-CN" sz="180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endParaRPr>
            </a:p>
          </p:txBody>
        </p:sp>
        <p:sp>
          <p:nvSpPr>
            <p:cNvPr id="583" name="Freeform 129">
              <a:extLst>
                <a:ext uri="{FF2B5EF4-FFF2-40B4-BE49-F238E27FC236}">
                  <a16:creationId xmlns:a16="http://schemas.microsoft.com/office/drawing/2014/main" id="{11B8439A-3783-034A-D5B0-39E15DFEEEEC}"/>
                </a:ext>
              </a:extLst>
            </p:cNvPr>
            <p:cNvSpPr>
              <a:spLocks/>
            </p:cNvSpPr>
            <p:nvPr/>
          </p:nvSpPr>
          <p:spPr bwMode="auto">
            <a:xfrm>
              <a:off x="5735642" y="5512374"/>
              <a:ext cx="220295" cy="379818"/>
            </a:xfrm>
            <a:custGeom>
              <a:avLst/>
              <a:gdLst>
                <a:gd name="T0" fmla="*/ 145 w 145"/>
                <a:gd name="T1" fmla="*/ 0 h 250"/>
                <a:gd name="T2" fmla="*/ 0 w 145"/>
                <a:gd name="T3" fmla="*/ 0 h 250"/>
                <a:gd name="T4" fmla="*/ 0 w 145"/>
                <a:gd name="T5" fmla="*/ 250 h 250"/>
                <a:gd name="T6" fmla="*/ 145 w 145"/>
                <a:gd name="T7" fmla="*/ 250 h 2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45" h="250">
                  <a:moveTo>
                    <a:pt x="145" y="0"/>
                  </a:moveTo>
                  <a:lnTo>
                    <a:pt x="0" y="0"/>
                  </a:lnTo>
                  <a:lnTo>
                    <a:pt x="0" y="250"/>
                  </a:lnTo>
                  <a:lnTo>
                    <a:pt x="145" y="250"/>
                  </a:lnTo>
                </a:path>
              </a:pathLst>
            </a:custGeom>
            <a:noFill/>
            <a:ln w="222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584" name="Freeform 130">
              <a:extLst>
                <a:ext uri="{FF2B5EF4-FFF2-40B4-BE49-F238E27FC236}">
                  <a16:creationId xmlns:a16="http://schemas.microsoft.com/office/drawing/2014/main" id="{E91B1B5B-6DCC-058A-E241-2761BBFA3D4B}"/>
                </a:ext>
              </a:extLst>
            </p:cNvPr>
            <p:cNvSpPr>
              <a:spLocks/>
            </p:cNvSpPr>
            <p:nvPr/>
          </p:nvSpPr>
          <p:spPr bwMode="auto">
            <a:xfrm>
              <a:off x="5948340" y="5512374"/>
              <a:ext cx="227891" cy="379818"/>
            </a:xfrm>
            <a:custGeom>
              <a:avLst/>
              <a:gdLst>
                <a:gd name="T0" fmla="*/ 0 w 150"/>
                <a:gd name="T1" fmla="*/ 0 h 250"/>
                <a:gd name="T2" fmla="*/ 150 w 150"/>
                <a:gd name="T3" fmla="*/ 0 h 250"/>
                <a:gd name="T4" fmla="*/ 150 w 150"/>
                <a:gd name="T5" fmla="*/ 250 h 250"/>
                <a:gd name="T6" fmla="*/ 0 w 150"/>
                <a:gd name="T7" fmla="*/ 250 h 2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50" h="250">
                  <a:moveTo>
                    <a:pt x="0" y="0"/>
                  </a:moveTo>
                  <a:lnTo>
                    <a:pt x="150" y="0"/>
                  </a:lnTo>
                  <a:lnTo>
                    <a:pt x="150" y="250"/>
                  </a:lnTo>
                  <a:lnTo>
                    <a:pt x="0" y="250"/>
                  </a:lnTo>
                </a:path>
              </a:pathLst>
            </a:custGeom>
            <a:noFill/>
            <a:ln w="222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585" name="Rectangle 131">
              <a:extLst>
                <a:ext uri="{FF2B5EF4-FFF2-40B4-BE49-F238E27FC236}">
                  <a16:creationId xmlns:a16="http://schemas.microsoft.com/office/drawing/2014/main" id="{CED7AAD6-1B25-4D93-3774-EEF8E0876C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05118" y="5584083"/>
              <a:ext cx="320132" cy="20988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1400" u="none" strike="noStrike" cap="none" normalizeH="0" baseline="0" dirty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  <a:ea typeface="SimHei" panose="02010609060101010101" pitchFamily="49" charset="-122"/>
                </a:rPr>
                <a:t>Reg</a:t>
              </a:r>
              <a:endParaRPr kumimoji="0" lang="zh-CN" altLang="zh-CN" sz="180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endParaRPr>
            </a:p>
          </p:txBody>
        </p:sp>
        <p:sp>
          <p:nvSpPr>
            <p:cNvPr id="586" name="Freeform 132">
              <a:extLst>
                <a:ext uri="{FF2B5EF4-FFF2-40B4-BE49-F238E27FC236}">
                  <a16:creationId xmlns:a16="http://schemas.microsoft.com/office/drawing/2014/main" id="{5BBC076D-C4A9-F164-5E88-32C6C8ED50A7}"/>
                </a:ext>
              </a:extLst>
            </p:cNvPr>
            <p:cNvSpPr>
              <a:spLocks/>
            </p:cNvSpPr>
            <p:nvPr/>
          </p:nvSpPr>
          <p:spPr bwMode="auto">
            <a:xfrm>
              <a:off x="6373736" y="5512374"/>
              <a:ext cx="186871" cy="379818"/>
            </a:xfrm>
            <a:custGeom>
              <a:avLst/>
              <a:gdLst>
                <a:gd name="T0" fmla="*/ 123 w 123"/>
                <a:gd name="T1" fmla="*/ 0 h 250"/>
                <a:gd name="T2" fmla="*/ 0 w 123"/>
                <a:gd name="T3" fmla="*/ 0 h 250"/>
                <a:gd name="T4" fmla="*/ 0 w 123"/>
                <a:gd name="T5" fmla="*/ 250 h 250"/>
                <a:gd name="T6" fmla="*/ 123 w 123"/>
                <a:gd name="T7" fmla="*/ 250 h 2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3" h="250">
                  <a:moveTo>
                    <a:pt x="123" y="0"/>
                  </a:moveTo>
                  <a:lnTo>
                    <a:pt x="0" y="0"/>
                  </a:lnTo>
                  <a:lnTo>
                    <a:pt x="0" y="250"/>
                  </a:lnTo>
                  <a:lnTo>
                    <a:pt x="123" y="250"/>
                  </a:lnTo>
                </a:path>
              </a:pathLst>
            </a:custGeom>
            <a:noFill/>
            <a:ln w="222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587" name="Freeform 133">
              <a:extLst>
                <a:ext uri="{FF2B5EF4-FFF2-40B4-BE49-F238E27FC236}">
                  <a16:creationId xmlns:a16="http://schemas.microsoft.com/office/drawing/2014/main" id="{FDF1521E-CEBD-D68B-3572-3ACA66A5104F}"/>
                </a:ext>
              </a:extLst>
            </p:cNvPr>
            <p:cNvSpPr>
              <a:spLocks/>
            </p:cNvSpPr>
            <p:nvPr/>
          </p:nvSpPr>
          <p:spPr bwMode="auto">
            <a:xfrm>
              <a:off x="6560606" y="5512374"/>
              <a:ext cx="195986" cy="379818"/>
            </a:xfrm>
            <a:custGeom>
              <a:avLst/>
              <a:gdLst>
                <a:gd name="T0" fmla="*/ 0 w 129"/>
                <a:gd name="T1" fmla="*/ 0 h 250"/>
                <a:gd name="T2" fmla="*/ 129 w 129"/>
                <a:gd name="T3" fmla="*/ 0 h 250"/>
                <a:gd name="T4" fmla="*/ 129 w 129"/>
                <a:gd name="T5" fmla="*/ 250 h 250"/>
                <a:gd name="T6" fmla="*/ 0 w 129"/>
                <a:gd name="T7" fmla="*/ 250 h 2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9" h="250">
                  <a:moveTo>
                    <a:pt x="0" y="0"/>
                  </a:moveTo>
                  <a:lnTo>
                    <a:pt x="129" y="0"/>
                  </a:lnTo>
                  <a:lnTo>
                    <a:pt x="129" y="250"/>
                  </a:lnTo>
                  <a:lnTo>
                    <a:pt x="0" y="250"/>
                  </a:lnTo>
                </a:path>
              </a:pathLst>
            </a:custGeom>
            <a:noFill/>
            <a:ln w="222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588" name="Line 134">
              <a:extLst>
                <a:ext uri="{FF2B5EF4-FFF2-40B4-BE49-F238E27FC236}">
                  <a16:creationId xmlns:a16="http://schemas.microsoft.com/office/drawing/2014/main" id="{10DCD4AB-CD8D-1ADD-90DE-2B7B922E522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168634" y="5702283"/>
              <a:ext cx="188390" cy="0"/>
            </a:xfrm>
            <a:prstGeom prst="line">
              <a:avLst/>
            </a:prstGeom>
            <a:noFill/>
            <a:ln w="22225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589" name="Line 135">
              <a:extLst>
                <a:ext uri="{FF2B5EF4-FFF2-40B4-BE49-F238E27FC236}">
                  <a16:creationId xmlns:a16="http://schemas.microsoft.com/office/drawing/2014/main" id="{C22B2704-FBE6-3147-6543-741BE357E04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506231" y="5702283"/>
              <a:ext cx="212698" cy="0"/>
            </a:xfrm>
            <a:prstGeom prst="line">
              <a:avLst/>
            </a:prstGeom>
            <a:noFill/>
            <a:ln w="22225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590" name="Line 136">
              <a:extLst>
                <a:ext uri="{FF2B5EF4-FFF2-40B4-BE49-F238E27FC236}">
                  <a16:creationId xmlns:a16="http://schemas.microsoft.com/office/drawing/2014/main" id="{D3F56386-201A-3E35-1590-8240CA22F09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983602" y="5829902"/>
              <a:ext cx="212698" cy="0"/>
            </a:xfrm>
            <a:prstGeom prst="line">
              <a:avLst/>
            </a:prstGeom>
            <a:noFill/>
            <a:ln w="22225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591" name="Line 137">
              <a:extLst>
                <a:ext uri="{FF2B5EF4-FFF2-40B4-BE49-F238E27FC236}">
                  <a16:creationId xmlns:a16="http://schemas.microsoft.com/office/drawing/2014/main" id="{1B3AA098-F181-69E0-5235-08BAA69FE5D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097548" y="5829902"/>
              <a:ext cx="0" cy="253719"/>
            </a:xfrm>
            <a:prstGeom prst="line">
              <a:avLst/>
            </a:prstGeom>
            <a:noFill/>
            <a:ln w="254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592" name="Line 138">
              <a:extLst>
                <a:ext uri="{FF2B5EF4-FFF2-40B4-BE49-F238E27FC236}">
                  <a16:creationId xmlns:a16="http://schemas.microsoft.com/office/drawing/2014/main" id="{A9C52DC5-052F-D23B-DD38-7D2E1C11534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097548" y="6083620"/>
              <a:ext cx="458820" cy="0"/>
            </a:xfrm>
            <a:prstGeom prst="line">
              <a:avLst/>
            </a:prstGeom>
            <a:noFill/>
            <a:ln w="254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593" name="Line 139">
              <a:extLst>
                <a:ext uri="{FF2B5EF4-FFF2-40B4-BE49-F238E27FC236}">
                  <a16:creationId xmlns:a16="http://schemas.microsoft.com/office/drawing/2014/main" id="{DC3F819F-213E-E033-CABA-D6F176ACF97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556368" y="5702283"/>
              <a:ext cx="0" cy="381338"/>
            </a:xfrm>
            <a:prstGeom prst="line">
              <a:avLst/>
            </a:prstGeom>
            <a:noFill/>
            <a:ln w="254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594" name="Line 140">
              <a:extLst>
                <a:ext uri="{FF2B5EF4-FFF2-40B4-BE49-F238E27FC236}">
                  <a16:creationId xmlns:a16="http://schemas.microsoft.com/office/drawing/2014/main" id="{41B48F8A-6BDC-4CBE-DF08-E198C6E6C10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670313" y="5702283"/>
              <a:ext cx="0" cy="317528"/>
            </a:xfrm>
            <a:prstGeom prst="line">
              <a:avLst/>
            </a:prstGeom>
            <a:noFill/>
            <a:ln w="254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595" name="Line 141">
              <a:extLst>
                <a:ext uri="{FF2B5EF4-FFF2-40B4-BE49-F238E27FC236}">
                  <a16:creationId xmlns:a16="http://schemas.microsoft.com/office/drawing/2014/main" id="{66EE7C6A-367B-EC9B-FF83-B2C29F6176F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670313" y="6019810"/>
              <a:ext cx="587958" cy="0"/>
            </a:xfrm>
            <a:prstGeom prst="line">
              <a:avLst/>
            </a:prstGeom>
            <a:noFill/>
            <a:ln w="254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596" name="Line 142">
              <a:extLst>
                <a:ext uri="{FF2B5EF4-FFF2-40B4-BE49-F238E27FC236}">
                  <a16:creationId xmlns:a16="http://schemas.microsoft.com/office/drawing/2014/main" id="{1C8FA033-1738-4208-1E62-8D62DCE08B3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258271" y="5702283"/>
              <a:ext cx="0" cy="317528"/>
            </a:xfrm>
            <a:prstGeom prst="line">
              <a:avLst/>
            </a:prstGeom>
            <a:noFill/>
            <a:ln w="254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597" name="Freeform 143">
              <a:extLst>
                <a:ext uri="{FF2B5EF4-FFF2-40B4-BE49-F238E27FC236}">
                  <a16:creationId xmlns:a16="http://schemas.microsoft.com/office/drawing/2014/main" id="{E48602D9-2518-C32A-846B-B10E7514FD8D}"/>
                </a:ext>
              </a:extLst>
            </p:cNvPr>
            <p:cNvSpPr>
              <a:spLocks/>
            </p:cNvSpPr>
            <p:nvPr/>
          </p:nvSpPr>
          <p:spPr bwMode="auto">
            <a:xfrm>
              <a:off x="5800970" y="6083620"/>
              <a:ext cx="285623" cy="633537"/>
            </a:xfrm>
            <a:custGeom>
              <a:avLst/>
              <a:gdLst>
                <a:gd name="T0" fmla="*/ 0 w 188"/>
                <a:gd name="T1" fmla="*/ 278 h 417"/>
                <a:gd name="T2" fmla="*/ 63 w 188"/>
                <a:gd name="T3" fmla="*/ 208 h 417"/>
                <a:gd name="T4" fmla="*/ 0 w 188"/>
                <a:gd name="T5" fmla="*/ 139 h 417"/>
                <a:gd name="T6" fmla="*/ 0 w 188"/>
                <a:gd name="T7" fmla="*/ 0 h 417"/>
                <a:gd name="T8" fmla="*/ 188 w 188"/>
                <a:gd name="T9" fmla="*/ 139 h 417"/>
                <a:gd name="T10" fmla="*/ 188 w 188"/>
                <a:gd name="T11" fmla="*/ 278 h 417"/>
                <a:gd name="T12" fmla="*/ 0 w 188"/>
                <a:gd name="T13" fmla="*/ 417 h 417"/>
                <a:gd name="T14" fmla="*/ 0 w 188"/>
                <a:gd name="T15" fmla="*/ 278 h 4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88" h="417">
                  <a:moveTo>
                    <a:pt x="0" y="278"/>
                  </a:moveTo>
                  <a:lnTo>
                    <a:pt x="63" y="208"/>
                  </a:lnTo>
                  <a:lnTo>
                    <a:pt x="0" y="139"/>
                  </a:lnTo>
                  <a:lnTo>
                    <a:pt x="0" y="0"/>
                  </a:lnTo>
                  <a:lnTo>
                    <a:pt x="188" y="139"/>
                  </a:lnTo>
                  <a:lnTo>
                    <a:pt x="188" y="278"/>
                  </a:lnTo>
                  <a:lnTo>
                    <a:pt x="0" y="417"/>
                  </a:lnTo>
                  <a:lnTo>
                    <a:pt x="0" y="278"/>
                  </a:lnTo>
                </a:path>
              </a:pathLst>
            </a:custGeom>
            <a:noFill/>
            <a:ln w="222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598" name="Rectangle 144">
              <a:extLst>
                <a:ext uri="{FF2B5EF4-FFF2-40B4-BE49-F238E27FC236}">
                  <a16:creationId xmlns:a16="http://schemas.microsoft.com/office/drawing/2014/main" id="{0FA1B37C-E982-DF0C-63AB-1C623C04E91F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5663460" y="6293169"/>
              <a:ext cx="611527" cy="20988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1400" u="none" strike="noStrike" cap="none" normalizeH="0" baseline="0" dirty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  <a:ea typeface="SimHei" panose="02010609060101010101" pitchFamily="49" charset="-122"/>
                </a:rPr>
                <a:t>ALU</a:t>
              </a:r>
              <a:endParaRPr kumimoji="0" lang="zh-CN" altLang="zh-CN" sz="140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endParaRPr>
            </a:p>
          </p:txBody>
        </p:sp>
        <p:sp>
          <p:nvSpPr>
            <p:cNvPr id="599" name="Rectangle 145">
              <a:extLst>
                <a:ext uri="{FF2B5EF4-FFF2-40B4-BE49-F238E27FC236}">
                  <a16:creationId xmlns:a16="http://schemas.microsoft.com/office/drawing/2014/main" id="{EA983E79-458F-284B-82C1-D97678CB4E2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8201" y="6288722"/>
              <a:ext cx="193640" cy="20988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1400" u="none" strike="noStrike" cap="none" normalizeH="0" baseline="0" dirty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  <a:ea typeface="SimHei" panose="02010609060101010101" pitchFamily="49" charset="-122"/>
                </a:rPr>
                <a:t>IM</a:t>
              </a:r>
              <a:endParaRPr kumimoji="0" lang="zh-CN" altLang="zh-CN" sz="180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endParaRPr>
            </a:p>
          </p:txBody>
        </p:sp>
        <p:sp>
          <p:nvSpPr>
            <p:cNvPr id="600" name="Freeform 146">
              <a:extLst>
                <a:ext uri="{FF2B5EF4-FFF2-40B4-BE49-F238E27FC236}">
                  <a16:creationId xmlns:a16="http://schemas.microsoft.com/office/drawing/2014/main" id="{91EB56E2-713F-F2D7-77C5-DEEB30723AC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8154" y="6209720"/>
              <a:ext cx="231232" cy="379818"/>
            </a:xfrm>
            <a:custGeom>
              <a:avLst/>
              <a:gdLst>
                <a:gd name="T0" fmla="*/ 155 w 155"/>
                <a:gd name="T1" fmla="*/ 0 h 250"/>
                <a:gd name="T2" fmla="*/ 0 w 155"/>
                <a:gd name="T3" fmla="*/ 0 h 250"/>
                <a:gd name="T4" fmla="*/ 0 w 155"/>
                <a:gd name="T5" fmla="*/ 250 h 250"/>
                <a:gd name="T6" fmla="*/ 155 w 155"/>
                <a:gd name="T7" fmla="*/ 250 h 2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55" h="250">
                  <a:moveTo>
                    <a:pt x="155" y="0"/>
                  </a:moveTo>
                  <a:lnTo>
                    <a:pt x="0" y="0"/>
                  </a:lnTo>
                  <a:lnTo>
                    <a:pt x="0" y="250"/>
                  </a:lnTo>
                  <a:lnTo>
                    <a:pt x="155" y="250"/>
                  </a:lnTo>
                </a:path>
              </a:pathLst>
            </a:custGeom>
            <a:noFill/>
            <a:ln w="222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601" name="Freeform 147">
              <a:extLst>
                <a:ext uri="{FF2B5EF4-FFF2-40B4-BE49-F238E27FC236}">
                  <a16:creationId xmlns:a16="http://schemas.microsoft.com/office/drawing/2014/main" id="{02661AA9-7C93-B049-92FB-01E9D8807EF3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0904" y="6209720"/>
              <a:ext cx="227891" cy="379818"/>
            </a:xfrm>
            <a:custGeom>
              <a:avLst/>
              <a:gdLst>
                <a:gd name="T0" fmla="*/ 0 w 150"/>
                <a:gd name="T1" fmla="*/ 0 h 250"/>
                <a:gd name="T2" fmla="*/ 150 w 150"/>
                <a:gd name="T3" fmla="*/ 0 h 250"/>
                <a:gd name="T4" fmla="*/ 150 w 150"/>
                <a:gd name="T5" fmla="*/ 250 h 250"/>
                <a:gd name="T6" fmla="*/ 0 w 150"/>
                <a:gd name="T7" fmla="*/ 250 h 2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50" h="250">
                  <a:moveTo>
                    <a:pt x="0" y="0"/>
                  </a:moveTo>
                  <a:lnTo>
                    <a:pt x="150" y="0"/>
                  </a:lnTo>
                  <a:lnTo>
                    <a:pt x="150" y="250"/>
                  </a:lnTo>
                  <a:lnTo>
                    <a:pt x="0" y="250"/>
                  </a:lnTo>
                </a:path>
              </a:pathLst>
            </a:custGeom>
            <a:noFill/>
            <a:ln w="222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602" name="Rectangle 148">
              <a:extLst>
                <a:ext uri="{FF2B5EF4-FFF2-40B4-BE49-F238E27FC236}">
                  <a16:creationId xmlns:a16="http://schemas.microsoft.com/office/drawing/2014/main" id="{677A312F-DBF1-2C63-C08B-9B29269D51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04371" y="6283252"/>
              <a:ext cx="320132" cy="20988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1400" u="none" strike="noStrike" cap="none" normalizeH="0" baseline="0" dirty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  <a:ea typeface="SimHei" panose="02010609060101010101" pitchFamily="49" charset="-122"/>
                </a:rPr>
                <a:t>Reg</a:t>
              </a:r>
              <a:endParaRPr kumimoji="0" lang="zh-CN" altLang="zh-CN" sz="180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endParaRPr>
            </a:p>
          </p:txBody>
        </p:sp>
        <p:sp>
          <p:nvSpPr>
            <p:cNvPr id="603" name="Freeform 149">
              <a:extLst>
                <a:ext uri="{FF2B5EF4-FFF2-40B4-BE49-F238E27FC236}">
                  <a16:creationId xmlns:a16="http://schemas.microsoft.com/office/drawing/2014/main" id="{72B2C66F-8C57-1C2A-5693-096B15840EED}"/>
                </a:ext>
              </a:extLst>
            </p:cNvPr>
            <p:cNvSpPr>
              <a:spLocks/>
            </p:cNvSpPr>
            <p:nvPr/>
          </p:nvSpPr>
          <p:spPr bwMode="auto">
            <a:xfrm>
              <a:off x="5162876" y="6209720"/>
              <a:ext cx="203582" cy="379818"/>
            </a:xfrm>
            <a:custGeom>
              <a:avLst/>
              <a:gdLst>
                <a:gd name="T0" fmla="*/ 134 w 134"/>
                <a:gd name="T1" fmla="*/ 0 h 250"/>
                <a:gd name="T2" fmla="*/ 0 w 134"/>
                <a:gd name="T3" fmla="*/ 0 h 250"/>
                <a:gd name="T4" fmla="*/ 0 w 134"/>
                <a:gd name="T5" fmla="*/ 250 h 250"/>
                <a:gd name="T6" fmla="*/ 134 w 134"/>
                <a:gd name="T7" fmla="*/ 250 h 2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4" h="250">
                  <a:moveTo>
                    <a:pt x="134" y="0"/>
                  </a:moveTo>
                  <a:lnTo>
                    <a:pt x="0" y="0"/>
                  </a:lnTo>
                  <a:lnTo>
                    <a:pt x="0" y="250"/>
                  </a:lnTo>
                  <a:lnTo>
                    <a:pt x="134" y="250"/>
                  </a:lnTo>
                </a:path>
              </a:pathLst>
            </a:custGeom>
            <a:noFill/>
            <a:ln w="222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604" name="Freeform 150">
              <a:extLst>
                <a:ext uri="{FF2B5EF4-FFF2-40B4-BE49-F238E27FC236}">
                  <a16:creationId xmlns:a16="http://schemas.microsoft.com/office/drawing/2014/main" id="{F652C4AF-010F-BC88-FB30-5C0611CBB0DF}"/>
                </a:ext>
              </a:extLst>
            </p:cNvPr>
            <p:cNvSpPr>
              <a:spLocks/>
            </p:cNvSpPr>
            <p:nvPr/>
          </p:nvSpPr>
          <p:spPr bwMode="auto">
            <a:xfrm>
              <a:off x="5367978" y="6209720"/>
              <a:ext cx="194467" cy="379818"/>
            </a:xfrm>
            <a:custGeom>
              <a:avLst/>
              <a:gdLst>
                <a:gd name="T0" fmla="*/ 0 w 128"/>
                <a:gd name="T1" fmla="*/ 0 h 250"/>
                <a:gd name="T2" fmla="*/ 128 w 128"/>
                <a:gd name="T3" fmla="*/ 0 h 250"/>
                <a:gd name="T4" fmla="*/ 128 w 128"/>
                <a:gd name="T5" fmla="*/ 250 h 250"/>
                <a:gd name="T6" fmla="*/ 0 w 128"/>
                <a:gd name="T7" fmla="*/ 250 h 2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8" h="250">
                  <a:moveTo>
                    <a:pt x="0" y="0"/>
                  </a:moveTo>
                  <a:lnTo>
                    <a:pt x="128" y="0"/>
                  </a:lnTo>
                  <a:lnTo>
                    <a:pt x="128" y="250"/>
                  </a:lnTo>
                  <a:lnTo>
                    <a:pt x="0" y="250"/>
                  </a:lnTo>
                </a:path>
              </a:pathLst>
            </a:custGeom>
            <a:noFill/>
            <a:ln w="222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605" name="Line 151">
              <a:extLst>
                <a:ext uri="{FF2B5EF4-FFF2-40B4-BE49-F238E27FC236}">
                  <a16:creationId xmlns:a16="http://schemas.microsoft.com/office/drawing/2014/main" id="{30367D47-CF02-7541-7315-A88C85BCB22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007910" y="6401148"/>
              <a:ext cx="154966" cy="0"/>
            </a:xfrm>
            <a:prstGeom prst="line">
              <a:avLst/>
            </a:prstGeom>
            <a:noFill/>
            <a:ln w="22225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606" name="Freeform 152">
              <a:extLst>
                <a:ext uri="{FF2B5EF4-FFF2-40B4-BE49-F238E27FC236}">
                  <a16:creationId xmlns:a16="http://schemas.microsoft.com/office/drawing/2014/main" id="{B9BCDA2B-533E-3D2A-B002-D54D229C2130}"/>
                </a:ext>
              </a:extLst>
            </p:cNvPr>
            <p:cNvSpPr>
              <a:spLocks/>
            </p:cNvSpPr>
            <p:nvPr/>
          </p:nvSpPr>
          <p:spPr bwMode="auto">
            <a:xfrm>
              <a:off x="5097548" y="6273529"/>
              <a:ext cx="65329" cy="126100"/>
            </a:xfrm>
            <a:custGeom>
              <a:avLst/>
              <a:gdLst>
                <a:gd name="T0" fmla="*/ 0 w 43"/>
                <a:gd name="T1" fmla="*/ 83 h 83"/>
                <a:gd name="T2" fmla="*/ 0 w 43"/>
                <a:gd name="T3" fmla="*/ 0 h 83"/>
                <a:gd name="T4" fmla="*/ 43 w 43"/>
                <a:gd name="T5" fmla="*/ 0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3" h="83">
                  <a:moveTo>
                    <a:pt x="0" y="83"/>
                  </a:moveTo>
                  <a:lnTo>
                    <a:pt x="0" y="0"/>
                  </a:lnTo>
                  <a:lnTo>
                    <a:pt x="43" y="0"/>
                  </a:lnTo>
                </a:path>
              </a:pathLst>
            </a:custGeom>
            <a:noFill/>
            <a:ln w="222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607" name="Line 153">
              <a:extLst>
                <a:ext uri="{FF2B5EF4-FFF2-40B4-BE49-F238E27FC236}">
                  <a16:creationId xmlns:a16="http://schemas.microsoft.com/office/drawing/2014/main" id="{12C9957C-AE5B-83BF-1A8D-8D2B897F9BF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571560" y="6273529"/>
              <a:ext cx="212698" cy="0"/>
            </a:xfrm>
            <a:prstGeom prst="line">
              <a:avLst/>
            </a:prstGeom>
            <a:noFill/>
            <a:ln w="22225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608" name="Rectangle 154">
              <a:extLst>
                <a:ext uri="{FF2B5EF4-FFF2-40B4-BE49-F238E27FC236}">
                  <a16:creationId xmlns:a16="http://schemas.microsoft.com/office/drawing/2014/main" id="{44CC7200-DB37-A1B1-8A99-5C0B383EC35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10549" y="6288722"/>
              <a:ext cx="271722" cy="20988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1400" u="none" strike="noStrike" cap="none" normalizeH="0" baseline="0" dirty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  <a:ea typeface="SimHei" panose="02010609060101010101" pitchFamily="49" charset="-122"/>
                </a:rPr>
                <a:t>DM</a:t>
              </a:r>
              <a:endParaRPr kumimoji="0" lang="zh-CN" altLang="zh-CN" sz="180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endParaRPr>
            </a:p>
          </p:txBody>
        </p:sp>
        <p:sp>
          <p:nvSpPr>
            <p:cNvPr id="609" name="Freeform 155">
              <a:extLst>
                <a:ext uri="{FF2B5EF4-FFF2-40B4-BE49-F238E27FC236}">
                  <a16:creationId xmlns:a16="http://schemas.microsoft.com/office/drawing/2014/main" id="{6BC36426-F7EF-7E4B-D7C0-F1D9F7790708}"/>
                </a:ext>
              </a:extLst>
            </p:cNvPr>
            <p:cNvSpPr>
              <a:spLocks/>
            </p:cNvSpPr>
            <p:nvPr/>
          </p:nvSpPr>
          <p:spPr bwMode="auto">
            <a:xfrm>
              <a:off x="6323599" y="6209720"/>
              <a:ext cx="220295" cy="379818"/>
            </a:xfrm>
            <a:custGeom>
              <a:avLst/>
              <a:gdLst>
                <a:gd name="T0" fmla="*/ 145 w 145"/>
                <a:gd name="T1" fmla="*/ 0 h 250"/>
                <a:gd name="T2" fmla="*/ 0 w 145"/>
                <a:gd name="T3" fmla="*/ 0 h 250"/>
                <a:gd name="T4" fmla="*/ 0 w 145"/>
                <a:gd name="T5" fmla="*/ 250 h 250"/>
                <a:gd name="T6" fmla="*/ 145 w 145"/>
                <a:gd name="T7" fmla="*/ 250 h 2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45" h="250">
                  <a:moveTo>
                    <a:pt x="145" y="0"/>
                  </a:moveTo>
                  <a:lnTo>
                    <a:pt x="0" y="0"/>
                  </a:lnTo>
                  <a:lnTo>
                    <a:pt x="0" y="250"/>
                  </a:lnTo>
                  <a:lnTo>
                    <a:pt x="145" y="250"/>
                  </a:lnTo>
                </a:path>
              </a:pathLst>
            </a:custGeom>
            <a:noFill/>
            <a:ln w="222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610" name="Freeform 156">
              <a:extLst>
                <a:ext uri="{FF2B5EF4-FFF2-40B4-BE49-F238E27FC236}">
                  <a16:creationId xmlns:a16="http://schemas.microsoft.com/office/drawing/2014/main" id="{65FDD127-AF48-3E0A-8E5A-D09760887BCC}"/>
                </a:ext>
              </a:extLst>
            </p:cNvPr>
            <p:cNvSpPr>
              <a:spLocks/>
            </p:cNvSpPr>
            <p:nvPr/>
          </p:nvSpPr>
          <p:spPr bwMode="auto">
            <a:xfrm>
              <a:off x="6536297" y="6209720"/>
              <a:ext cx="227891" cy="379818"/>
            </a:xfrm>
            <a:custGeom>
              <a:avLst/>
              <a:gdLst>
                <a:gd name="T0" fmla="*/ 0 w 150"/>
                <a:gd name="T1" fmla="*/ 0 h 250"/>
                <a:gd name="T2" fmla="*/ 150 w 150"/>
                <a:gd name="T3" fmla="*/ 0 h 250"/>
                <a:gd name="T4" fmla="*/ 150 w 150"/>
                <a:gd name="T5" fmla="*/ 250 h 250"/>
                <a:gd name="T6" fmla="*/ 0 w 150"/>
                <a:gd name="T7" fmla="*/ 250 h 2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50" h="250">
                  <a:moveTo>
                    <a:pt x="0" y="0"/>
                  </a:moveTo>
                  <a:lnTo>
                    <a:pt x="150" y="0"/>
                  </a:lnTo>
                  <a:lnTo>
                    <a:pt x="150" y="250"/>
                  </a:lnTo>
                  <a:lnTo>
                    <a:pt x="0" y="250"/>
                  </a:lnTo>
                </a:path>
              </a:pathLst>
            </a:custGeom>
            <a:noFill/>
            <a:ln w="222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611" name="Rectangle 157">
              <a:extLst>
                <a:ext uri="{FF2B5EF4-FFF2-40B4-BE49-F238E27FC236}">
                  <a16:creationId xmlns:a16="http://schemas.microsoft.com/office/drawing/2014/main" id="{63746C48-B4A4-E77F-A644-A1E1D48FE0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94596" y="6281429"/>
              <a:ext cx="320132" cy="20988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1400" u="none" strike="noStrike" cap="none" normalizeH="0" baseline="0" dirty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  <a:ea typeface="SimHei" panose="02010609060101010101" pitchFamily="49" charset="-122"/>
                </a:rPr>
                <a:t>Reg</a:t>
              </a:r>
              <a:endParaRPr kumimoji="0" lang="zh-CN" altLang="zh-CN" sz="180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endParaRPr>
            </a:p>
          </p:txBody>
        </p:sp>
        <p:sp>
          <p:nvSpPr>
            <p:cNvPr id="612" name="Freeform 158">
              <a:extLst>
                <a:ext uri="{FF2B5EF4-FFF2-40B4-BE49-F238E27FC236}">
                  <a16:creationId xmlns:a16="http://schemas.microsoft.com/office/drawing/2014/main" id="{878B74EC-33FD-60D3-A8EB-57C9B8956315}"/>
                </a:ext>
              </a:extLst>
            </p:cNvPr>
            <p:cNvSpPr>
              <a:spLocks/>
            </p:cNvSpPr>
            <p:nvPr/>
          </p:nvSpPr>
          <p:spPr bwMode="auto">
            <a:xfrm>
              <a:off x="6961693" y="6209720"/>
              <a:ext cx="186871" cy="379818"/>
            </a:xfrm>
            <a:custGeom>
              <a:avLst/>
              <a:gdLst>
                <a:gd name="T0" fmla="*/ 123 w 123"/>
                <a:gd name="T1" fmla="*/ 0 h 250"/>
                <a:gd name="T2" fmla="*/ 0 w 123"/>
                <a:gd name="T3" fmla="*/ 0 h 250"/>
                <a:gd name="T4" fmla="*/ 0 w 123"/>
                <a:gd name="T5" fmla="*/ 250 h 250"/>
                <a:gd name="T6" fmla="*/ 123 w 123"/>
                <a:gd name="T7" fmla="*/ 250 h 2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3" h="250">
                  <a:moveTo>
                    <a:pt x="123" y="0"/>
                  </a:moveTo>
                  <a:lnTo>
                    <a:pt x="0" y="0"/>
                  </a:lnTo>
                  <a:lnTo>
                    <a:pt x="0" y="250"/>
                  </a:lnTo>
                  <a:lnTo>
                    <a:pt x="123" y="250"/>
                  </a:lnTo>
                </a:path>
              </a:pathLst>
            </a:custGeom>
            <a:noFill/>
            <a:ln w="222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613" name="Freeform 159">
              <a:extLst>
                <a:ext uri="{FF2B5EF4-FFF2-40B4-BE49-F238E27FC236}">
                  <a16:creationId xmlns:a16="http://schemas.microsoft.com/office/drawing/2014/main" id="{F14E8AF3-EA96-4AD9-0D02-BBBD328F14AF}"/>
                </a:ext>
              </a:extLst>
            </p:cNvPr>
            <p:cNvSpPr>
              <a:spLocks/>
            </p:cNvSpPr>
            <p:nvPr/>
          </p:nvSpPr>
          <p:spPr bwMode="auto">
            <a:xfrm>
              <a:off x="7150083" y="6209720"/>
              <a:ext cx="194467" cy="379818"/>
            </a:xfrm>
            <a:custGeom>
              <a:avLst/>
              <a:gdLst>
                <a:gd name="T0" fmla="*/ 0 w 128"/>
                <a:gd name="T1" fmla="*/ 0 h 250"/>
                <a:gd name="T2" fmla="*/ 128 w 128"/>
                <a:gd name="T3" fmla="*/ 0 h 250"/>
                <a:gd name="T4" fmla="*/ 128 w 128"/>
                <a:gd name="T5" fmla="*/ 250 h 250"/>
                <a:gd name="T6" fmla="*/ 0 w 128"/>
                <a:gd name="T7" fmla="*/ 250 h 2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8" h="250">
                  <a:moveTo>
                    <a:pt x="0" y="0"/>
                  </a:moveTo>
                  <a:lnTo>
                    <a:pt x="128" y="0"/>
                  </a:lnTo>
                  <a:lnTo>
                    <a:pt x="128" y="250"/>
                  </a:lnTo>
                  <a:lnTo>
                    <a:pt x="0" y="250"/>
                  </a:lnTo>
                </a:path>
              </a:pathLst>
            </a:custGeom>
            <a:noFill/>
            <a:ln w="222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614" name="Line 160">
              <a:extLst>
                <a:ext uri="{FF2B5EF4-FFF2-40B4-BE49-F238E27FC236}">
                  <a16:creationId xmlns:a16="http://schemas.microsoft.com/office/drawing/2014/main" id="{4E5BF17A-5DD1-4B76-55C3-0F6AEA5431E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758111" y="6401148"/>
              <a:ext cx="186871" cy="0"/>
            </a:xfrm>
            <a:prstGeom prst="line">
              <a:avLst/>
            </a:prstGeom>
            <a:noFill/>
            <a:ln w="22225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615" name="Line 161">
              <a:extLst>
                <a:ext uri="{FF2B5EF4-FFF2-40B4-BE49-F238E27FC236}">
                  <a16:creationId xmlns:a16="http://schemas.microsoft.com/office/drawing/2014/main" id="{C62B9613-9634-0970-A5B0-EFD3A58EB2E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095709" y="6401148"/>
              <a:ext cx="212698" cy="0"/>
            </a:xfrm>
            <a:prstGeom prst="line">
              <a:avLst/>
            </a:prstGeom>
            <a:noFill/>
            <a:ln w="22225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616" name="Line 162">
              <a:extLst>
                <a:ext uri="{FF2B5EF4-FFF2-40B4-BE49-F238E27FC236}">
                  <a16:creationId xmlns:a16="http://schemas.microsoft.com/office/drawing/2014/main" id="{318B2B2B-B063-F98C-A459-E0D2EDD7E4A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571560" y="6527247"/>
              <a:ext cx="212698" cy="0"/>
            </a:xfrm>
            <a:prstGeom prst="line">
              <a:avLst/>
            </a:prstGeom>
            <a:noFill/>
            <a:ln w="22225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617" name="Line 163">
              <a:extLst>
                <a:ext uri="{FF2B5EF4-FFF2-40B4-BE49-F238E27FC236}">
                  <a16:creationId xmlns:a16="http://schemas.microsoft.com/office/drawing/2014/main" id="{A2A54C07-EAAE-4CCF-329F-B74F96F58A1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687025" y="6527247"/>
              <a:ext cx="0" cy="253719"/>
            </a:xfrm>
            <a:prstGeom prst="line">
              <a:avLst/>
            </a:prstGeom>
            <a:noFill/>
            <a:ln w="254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618" name="Line 164">
              <a:extLst>
                <a:ext uri="{FF2B5EF4-FFF2-40B4-BE49-F238E27FC236}">
                  <a16:creationId xmlns:a16="http://schemas.microsoft.com/office/drawing/2014/main" id="{8011CFF6-D6D8-3F27-7813-9C84F17DD2B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687025" y="6780966"/>
              <a:ext cx="457301" cy="0"/>
            </a:xfrm>
            <a:prstGeom prst="line">
              <a:avLst/>
            </a:prstGeom>
            <a:noFill/>
            <a:ln w="254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619" name="Line 165">
              <a:extLst>
                <a:ext uri="{FF2B5EF4-FFF2-40B4-BE49-F238E27FC236}">
                  <a16:creationId xmlns:a16="http://schemas.microsoft.com/office/drawing/2014/main" id="{5CDAB2E0-FACF-2759-2E24-598CDDDB8A8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144325" y="6401148"/>
              <a:ext cx="0" cy="379818"/>
            </a:xfrm>
            <a:prstGeom prst="line">
              <a:avLst/>
            </a:prstGeom>
            <a:noFill/>
            <a:ln w="254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620" name="Line 166">
              <a:extLst>
                <a:ext uri="{FF2B5EF4-FFF2-40B4-BE49-F238E27FC236}">
                  <a16:creationId xmlns:a16="http://schemas.microsoft.com/office/drawing/2014/main" id="{B0569DDA-BC79-1A0B-8178-338DCF9F30F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258271" y="6401148"/>
              <a:ext cx="0" cy="316008"/>
            </a:xfrm>
            <a:prstGeom prst="line">
              <a:avLst/>
            </a:prstGeom>
            <a:noFill/>
            <a:ln w="254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621" name="Line 167">
              <a:extLst>
                <a:ext uri="{FF2B5EF4-FFF2-40B4-BE49-F238E27FC236}">
                  <a16:creationId xmlns:a16="http://schemas.microsoft.com/office/drawing/2014/main" id="{ABEDC15E-4525-3CB0-CEBA-4A44A100022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258271" y="6717156"/>
              <a:ext cx="589477" cy="0"/>
            </a:xfrm>
            <a:prstGeom prst="line">
              <a:avLst/>
            </a:prstGeom>
            <a:noFill/>
            <a:ln w="254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622" name="Line 168">
              <a:extLst>
                <a:ext uri="{FF2B5EF4-FFF2-40B4-BE49-F238E27FC236}">
                  <a16:creationId xmlns:a16="http://schemas.microsoft.com/office/drawing/2014/main" id="{B3B8422B-C6F6-30DD-7FC6-58AD12E1081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847748" y="6401148"/>
              <a:ext cx="0" cy="316008"/>
            </a:xfrm>
            <a:prstGeom prst="line">
              <a:avLst/>
            </a:prstGeom>
            <a:noFill/>
            <a:ln w="254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</p:grpSp>
      <p:sp>
        <p:nvSpPr>
          <p:cNvPr id="623" name="Freeform 20">
            <a:extLst>
              <a:ext uri="{FF2B5EF4-FFF2-40B4-BE49-F238E27FC236}">
                <a16:creationId xmlns:a16="http://schemas.microsoft.com/office/drawing/2014/main" id="{6B52C243-9AF1-FE99-47ED-4C229380BF12}"/>
              </a:ext>
            </a:extLst>
          </p:cNvPr>
          <p:cNvSpPr>
            <a:spLocks noEditPoints="1"/>
          </p:cNvSpPr>
          <p:nvPr/>
        </p:nvSpPr>
        <p:spPr bwMode="auto">
          <a:xfrm>
            <a:off x="2822575" y="2564262"/>
            <a:ext cx="5249862" cy="63500"/>
          </a:xfrm>
          <a:custGeom>
            <a:avLst/>
            <a:gdLst>
              <a:gd name="T0" fmla="*/ 0 w 3307"/>
              <a:gd name="T1" fmla="*/ 13 h 40"/>
              <a:gd name="T2" fmla="*/ 3274 w 3307"/>
              <a:gd name="T3" fmla="*/ 13 h 40"/>
              <a:gd name="T4" fmla="*/ 3274 w 3307"/>
              <a:gd name="T5" fmla="*/ 27 h 40"/>
              <a:gd name="T6" fmla="*/ 0 w 3307"/>
              <a:gd name="T7" fmla="*/ 27 h 40"/>
              <a:gd name="T8" fmla="*/ 0 w 3307"/>
              <a:gd name="T9" fmla="*/ 13 h 40"/>
              <a:gd name="T10" fmla="*/ 3267 w 3307"/>
              <a:gd name="T11" fmla="*/ 0 h 40"/>
              <a:gd name="T12" fmla="*/ 3307 w 3307"/>
              <a:gd name="T13" fmla="*/ 20 h 40"/>
              <a:gd name="T14" fmla="*/ 3267 w 3307"/>
              <a:gd name="T15" fmla="*/ 40 h 40"/>
              <a:gd name="T16" fmla="*/ 3267 w 3307"/>
              <a:gd name="T17" fmla="*/ 0 h 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3307" h="40">
                <a:moveTo>
                  <a:pt x="0" y="13"/>
                </a:moveTo>
                <a:lnTo>
                  <a:pt x="3274" y="13"/>
                </a:lnTo>
                <a:lnTo>
                  <a:pt x="3274" y="27"/>
                </a:lnTo>
                <a:lnTo>
                  <a:pt x="0" y="27"/>
                </a:lnTo>
                <a:lnTo>
                  <a:pt x="0" y="13"/>
                </a:lnTo>
                <a:close/>
                <a:moveTo>
                  <a:pt x="3267" y="0"/>
                </a:moveTo>
                <a:lnTo>
                  <a:pt x="3307" y="20"/>
                </a:lnTo>
                <a:lnTo>
                  <a:pt x="3267" y="40"/>
                </a:lnTo>
                <a:lnTo>
                  <a:pt x="3267" y="0"/>
                </a:lnTo>
                <a:close/>
              </a:path>
            </a:pathLst>
          </a:custGeom>
          <a:solidFill>
            <a:srgbClr val="000000"/>
          </a:solidFill>
          <a:ln w="0" cap="flat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624" name="Rectangle 21">
            <a:extLst>
              <a:ext uri="{FF2B5EF4-FFF2-40B4-BE49-F238E27FC236}">
                <a16:creationId xmlns:a16="http://schemas.microsoft.com/office/drawing/2014/main" id="{2EA36724-7708-661C-7E8D-089DA21E92A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70425" y="2256287"/>
            <a:ext cx="1629549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zh-CN" altLang="zh-CN" sz="1500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rPr>
              <a:t>Time (clock cycles)</a:t>
            </a:r>
            <a:endParaRPr kumimoji="0" lang="zh-CN" altLang="zh-CN" sz="180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  <a:ea typeface="SimHei" panose="02010609060101010101" pitchFamily="49" charset="-122"/>
            </a:endParaRPr>
          </a:p>
        </p:txBody>
      </p:sp>
    </p:spTree>
    <p:extLst>
      <p:ext uri="{BB962C8B-B14F-4D97-AF65-F5344CB8AC3E}">
        <p14:creationId xmlns:p14="http://schemas.microsoft.com/office/powerpoint/2010/main" val="2216513468"/>
      </p:ext>
    </p:extLst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6" name="直接箭头连接符 5">
            <a:extLst>
              <a:ext uri="{FF2B5EF4-FFF2-40B4-BE49-F238E27FC236}">
                <a16:creationId xmlns:a16="http://schemas.microsoft.com/office/drawing/2014/main" id="{307B7612-2FDA-5349-D7A7-18BB3FA16C5C}"/>
              </a:ext>
            </a:extLst>
          </p:cNvPr>
          <p:cNvCxnSpPr>
            <a:cxnSpLocks/>
            <a:stCxn id="508" idx="3"/>
            <a:endCxn id="526" idx="0"/>
          </p:cNvCxnSpPr>
          <p:nvPr/>
        </p:nvCxnSpPr>
        <p:spPr>
          <a:xfrm flipH="1">
            <a:off x="4326725" y="3417643"/>
            <a:ext cx="1224235" cy="325942"/>
          </a:xfrm>
          <a:prstGeom prst="straightConnector1">
            <a:avLst/>
          </a:prstGeom>
          <a:ln w="28575"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9" name="直接箭头连接符 178">
            <a:extLst>
              <a:ext uri="{FF2B5EF4-FFF2-40B4-BE49-F238E27FC236}">
                <a16:creationId xmlns:a16="http://schemas.microsoft.com/office/drawing/2014/main" id="{BCECC523-255E-4DD8-8F49-9FF172154986}"/>
              </a:ext>
            </a:extLst>
          </p:cNvPr>
          <p:cNvCxnSpPr>
            <a:cxnSpLocks/>
            <a:stCxn id="508" idx="3"/>
            <a:endCxn id="551" idx="0"/>
          </p:cNvCxnSpPr>
          <p:nvPr/>
        </p:nvCxnSpPr>
        <p:spPr>
          <a:xfrm flipH="1">
            <a:off x="4930265" y="3417643"/>
            <a:ext cx="620695" cy="1041768"/>
          </a:xfrm>
          <a:prstGeom prst="straightConnector1">
            <a:avLst/>
          </a:prstGeom>
          <a:ln w="28575"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74" name="Rectangle 5">
            <a:extLst>
              <a:ext uri="{FF2B5EF4-FFF2-40B4-BE49-F238E27FC236}">
                <a16:creationId xmlns:a16="http://schemas.microsoft.com/office/drawing/2014/main" id="{D0B76CDC-D511-526D-C9F6-2E4D20A73B8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23802" y="4459410"/>
            <a:ext cx="214745" cy="391444"/>
          </a:xfrm>
          <a:prstGeom prst="rect">
            <a:avLst/>
          </a:prstGeom>
          <a:solidFill>
            <a:srgbClr val="DE250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2" name="标题 1">
            <a:extLst>
              <a:ext uri="{FF2B5EF4-FFF2-40B4-BE49-F238E27FC236}">
                <a16:creationId xmlns:a16="http://schemas.microsoft.com/office/drawing/2014/main" id="{B4899360-3C67-40F9-BBDA-D9C32901CEE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dirty="0"/>
              <a:t>寄存器使用引起的冒险</a:t>
            </a:r>
          </a:p>
        </p:txBody>
      </p:sp>
      <p:sp>
        <p:nvSpPr>
          <p:cNvPr id="3" name="内容占位符 2">
            <a:extLst>
              <a:ext uri="{FF2B5EF4-FFF2-40B4-BE49-F238E27FC236}">
                <a16:creationId xmlns:a16="http://schemas.microsoft.com/office/drawing/2014/main" id="{D47F55E1-624B-43CA-B945-0E999FCD8578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r>
              <a:rPr lang="zh-CN" altLang="en-US" sz="2600" dirty="0"/>
              <a:t>指令在寄存器使用上的时间顺序关联引起了数据冒险</a:t>
            </a:r>
          </a:p>
          <a:p>
            <a:r>
              <a:rPr lang="en-US" altLang="zh-CN" sz="2600" b="0" dirty="0"/>
              <a:t>Read after write (RAW) data hazards</a:t>
            </a:r>
            <a:endParaRPr lang="zh-CN" altLang="en-US" sz="2600" b="0" dirty="0"/>
          </a:p>
          <a:p>
            <a:endParaRPr lang="zh-CN" altLang="en-US" dirty="0"/>
          </a:p>
        </p:txBody>
      </p:sp>
      <p:sp>
        <p:nvSpPr>
          <p:cNvPr id="4" name="灯片编号占位符 3">
            <a:extLst>
              <a:ext uri="{FF2B5EF4-FFF2-40B4-BE49-F238E27FC236}">
                <a16:creationId xmlns:a16="http://schemas.microsoft.com/office/drawing/2014/main" id="{C73DE631-6AE3-470A-8ADF-D6428EDBB25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0626FCE3-5FF9-430D-BA0B-DE80AAE71673}" type="slidenum">
              <a:rPr lang="zh-CN" altLang="en-US" smtClean="0"/>
              <a:t>18</a:t>
            </a:fld>
            <a:endParaRPr lang="zh-CN" altLang="en-US"/>
          </a:p>
        </p:txBody>
      </p:sp>
      <p:sp>
        <p:nvSpPr>
          <p:cNvPr id="317" name="Rectangle 173">
            <a:extLst>
              <a:ext uri="{FF2B5EF4-FFF2-40B4-BE49-F238E27FC236}">
                <a16:creationId xmlns:a16="http://schemas.microsoft.com/office/drawing/2014/main" id="{7887D31B-67AC-95FE-B334-C0F2E1BB3E3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52513" y="3149600"/>
            <a:ext cx="5290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zh-CN" altLang="zh-CN" sz="1500" i="1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rPr>
              <a:t>I</a:t>
            </a:r>
            <a:endParaRPr kumimoji="0" lang="zh-CN" altLang="zh-CN" sz="1800" i="1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  <a:ea typeface="SimHei" panose="02010609060101010101" pitchFamily="49" charset="-122"/>
            </a:endParaRPr>
          </a:p>
        </p:txBody>
      </p:sp>
      <p:sp>
        <p:nvSpPr>
          <p:cNvPr id="318" name="Rectangle 174">
            <a:extLst>
              <a:ext uri="{FF2B5EF4-FFF2-40B4-BE49-F238E27FC236}">
                <a16:creationId xmlns:a16="http://schemas.microsoft.com/office/drawing/2014/main" id="{041E7B1A-EBE6-F461-25C6-4A4382D8CD3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28700" y="3382963"/>
            <a:ext cx="107402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zh-CN" altLang="zh-CN" sz="1500" i="1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rPr>
              <a:t>n</a:t>
            </a:r>
            <a:endParaRPr kumimoji="0" lang="zh-CN" altLang="zh-CN" sz="1800" i="1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  <a:ea typeface="SimHei" panose="02010609060101010101" pitchFamily="49" charset="-122"/>
            </a:endParaRPr>
          </a:p>
        </p:txBody>
      </p:sp>
      <p:sp>
        <p:nvSpPr>
          <p:cNvPr id="319" name="Rectangle 175">
            <a:extLst>
              <a:ext uri="{FF2B5EF4-FFF2-40B4-BE49-F238E27FC236}">
                <a16:creationId xmlns:a16="http://schemas.microsoft.com/office/drawing/2014/main" id="{5C443A4F-6BB0-2C16-EDED-C26BD9E21F2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28700" y="3616325"/>
            <a:ext cx="9618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zh-CN" altLang="zh-CN" sz="1500" i="1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rPr>
              <a:t>s</a:t>
            </a:r>
            <a:endParaRPr kumimoji="0" lang="zh-CN" altLang="zh-CN" sz="1800" i="1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  <a:ea typeface="SimHei" panose="02010609060101010101" pitchFamily="49" charset="-122"/>
            </a:endParaRPr>
          </a:p>
        </p:txBody>
      </p:sp>
      <p:sp>
        <p:nvSpPr>
          <p:cNvPr id="320" name="Rectangle 176">
            <a:extLst>
              <a:ext uri="{FF2B5EF4-FFF2-40B4-BE49-F238E27FC236}">
                <a16:creationId xmlns:a16="http://schemas.microsoft.com/office/drawing/2014/main" id="{7DE53156-94E9-046F-158F-BE3F14EDC22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52513" y="3848100"/>
            <a:ext cx="5290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zh-CN" altLang="zh-CN" sz="1500" i="1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rPr>
              <a:t>t</a:t>
            </a:r>
            <a:endParaRPr kumimoji="0" lang="zh-CN" altLang="zh-CN" sz="1800" i="1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  <a:ea typeface="SimHei" panose="02010609060101010101" pitchFamily="49" charset="-122"/>
            </a:endParaRPr>
          </a:p>
        </p:txBody>
      </p:sp>
      <p:sp>
        <p:nvSpPr>
          <p:cNvPr id="321" name="Rectangle 177">
            <a:extLst>
              <a:ext uri="{FF2B5EF4-FFF2-40B4-BE49-F238E27FC236}">
                <a16:creationId xmlns:a16="http://schemas.microsoft.com/office/drawing/2014/main" id="{A3079C39-0D6B-5EA8-0CE8-A0A95C16289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20763" y="4081463"/>
            <a:ext cx="109902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zh-CN" altLang="zh-CN" sz="1500" i="1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rPr>
              <a:t>r.</a:t>
            </a:r>
            <a:endParaRPr kumimoji="0" lang="zh-CN" altLang="zh-CN" sz="1800" i="1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  <a:ea typeface="SimHei" panose="02010609060101010101" pitchFamily="49" charset="-122"/>
            </a:endParaRPr>
          </a:p>
        </p:txBody>
      </p:sp>
      <p:sp>
        <p:nvSpPr>
          <p:cNvPr id="322" name="Rectangle 178">
            <a:extLst>
              <a:ext uri="{FF2B5EF4-FFF2-40B4-BE49-F238E27FC236}">
                <a16:creationId xmlns:a16="http://schemas.microsoft.com/office/drawing/2014/main" id="{3AA7142E-D84F-6797-E70D-250D52965F8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03300" y="4540250"/>
            <a:ext cx="14908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zh-CN" altLang="zh-CN" sz="1500" i="1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rPr>
              <a:t>O</a:t>
            </a:r>
            <a:endParaRPr kumimoji="0" lang="zh-CN" altLang="zh-CN" sz="1800" i="1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  <a:ea typeface="SimHei" panose="02010609060101010101" pitchFamily="49" charset="-122"/>
            </a:endParaRPr>
          </a:p>
        </p:txBody>
      </p:sp>
      <p:sp>
        <p:nvSpPr>
          <p:cNvPr id="323" name="Rectangle 179">
            <a:extLst>
              <a:ext uri="{FF2B5EF4-FFF2-40B4-BE49-F238E27FC236}">
                <a16:creationId xmlns:a16="http://schemas.microsoft.com/office/drawing/2014/main" id="{CAAF16ED-6CDB-0E08-3C18-DE2B5384D1B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44575" y="4773613"/>
            <a:ext cx="6412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zh-CN" altLang="zh-CN" sz="1500" i="1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rPr>
              <a:t>r</a:t>
            </a:r>
            <a:endParaRPr kumimoji="0" lang="zh-CN" altLang="zh-CN" sz="1800" i="1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  <a:ea typeface="SimHei" panose="02010609060101010101" pitchFamily="49" charset="-122"/>
            </a:endParaRPr>
          </a:p>
        </p:txBody>
      </p:sp>
      <p:sp>
        <p:nvSpPr>
          <p:cNvPr id="324" name="Rectangle 180">
            <a:extLst>
              <a:ext uri="{FF2B5EF4-FFF2-40B4-BE49-F238E27FC236}">
                <a16:creationId xmlns:a16="http://schemas.microsoft.com/office/drawing/2014/main" id="{4A1F89B4-119B-ABA9-ACE7-7C3E8960DB5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28700" y="5006975"/>
            <a:ext cx="107402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zh-CN" altLang="zh-CN" sz="1500" i="1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rPr>
              <a:t>d</a:t>
            </a:r>
            <a:endParaRPr kumimoji="0" lang="zh-CN" altLang="zh-CN" sz="1800" i="1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  <a:ea typeface="SimHei" panose="02010609060101010101" pitchFamily="49" charset="-122"/>
            </a:endParaRPr>
          </a:p>
        </p:txBody>
      </p:sp>
      <p:sp>
        <p:nvSpPr>
          <p:cNvPr id="325" name="Rectangle 181">
            <a:extLst>
              <a:ext uri="{FF2B5EF4-FFF2-40B4-BE49-F238E27FC236}">
                <a16:creationId xmlns:a16="http://schemas.microsoft.com/office/drawing/2014/main" id="{6C87CC05-2C26-D594-09BD-5419232C864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28700" y="5243513"/>
            <a:ext cx="107402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zh-CN" altLang="zh-CN" sz="1500" i="1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rPr>
              <a:t>e</a:t>
            </a:r>
            <a:endParaRPr kumimoji="0" lang="zh-CN" altLang="zh-CN" sz="1800" i="1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  <a:ea typeface="SimHei" panose="02010609060101010101" pitchFamily="49" charset="-122"/>
            </a:endParaRPr>
          </a:p>
        </p:txBody>
      </p:sp>
      <p:sp>
        <p:nvSpPr>
          <p:cNvPr id="326" name="Rectangle 182">
            <a:extLst>
              <a:ext uri="{FF2B5EF4-FFF2-40B4-BE49-F238E27FC236}">
                <a16:creationId xmlns:a16="http://schemas.microsoft.com/office/drawing/2014/main" id="{7A4A5006-8FA0-701A-13ED-DB81287AAC25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44575" y="5468938"/>
            <a:ext cx="6412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zh-CN" altLang="zh-CN" sz="1500" i="1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rPr>
              <a:t>r</a:t>
            </a:r>
            <a:endParaRPr kumimoji="0" lang="zh-CN" altLang="zh-CN" sz="1800" i="1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  <a:ea typeface="SimHei" panose="02010609060101010101" pitchFamily="49" charset="-122"/>
            </a:endParaRPr>
          </a:p>
        </p:txBody>
      </p:sp>
      <p:sp>
        <p:nvSpPr>
          <p:cNvPr id="328" name="Rectangle 184">
            <a:extLst>
              <a:ext uri="{FF2B5EF4-FFF2-40B4-BE49-F238E27FC236}">
                <a16:creationId xmlns:a16="http://schemas.microsoft.com/office/drawing/2014/main" id="{C8692C79-3E92-4DAE-5498-6A2AD69D8A2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371600" y="3017838"/>
            <a:ext cx="428002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zh-CN" altLang="zh-CN" sz="2000" u="none" strike="noStrike" cap="none" normalizeH="0" baseline="0" dirty="0">
                <a:ln>
                  <a:noFill/>
                </a:ln>
                <a:solidFill>
                  <a:srgbClr val="3333CC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rPr>
              <a:t>add</a:t>
            </a:r>
            <a:endParaRPr kumimoji="0" lang="zh-CN" altLang="zh-CN" sz="180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  <a:ea typeface="SimHei" panose="02010609060101010101" pitchFamily="49" charset="-122"/>
            </a:endParaRPr>
          </a:p>
        </p:txBody>
      </p:sp>
      <p:sp>
        <p:nvSpPr>
          <p:cNvPr id="329" name="Rectangle 185">
            <a:extLst>
              <a:ext uri="{FF2B5EF4-FFF2-40B4-BE49-F238E27FC236}">
                <a16:creationId xmlns:a16="http://schemas.microsoft.com/office/drawing/2014/main" id="{B82518FD-B896-9822-A375-8CDD14E760D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03413" y="3025775"/>
            <a:ext cx="227626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zh-CN" altLang="zh-CN" sz="2000" u="none" strike="noStrike" cap="none" normalizeH="0" baseline="0" dirty="0">
                <a:ln>
                  <a:noFill/>
                </a:ln>
                <a:solidFill>
                  <a:srgbClr val="DE2506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rPr>
              <a:t>r1</a:t>
            </a:r>
            <a:endParaRPr kumimoji="0" lang="zh-CN" altLang="zh-CN" sz="180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  <a:ea typeface="SimHei" panose="02010609060101010101" pitchFamily="49" charset="-122"/>
            </a:endParaRPr>
          </a:p>
        </p:txBody>
      </p:sp>
      <p:sp>
        <p:nvSpPr>
          <p:cNvPr id="330" name="Rectangle 186">
            <a:extLst>
              <a:ext uri="{FF2B5EF4-FFF2-40B4-BE49-F238E27FC236}">
                <a16:creationId xmlns:a16="http://schemas.microsoft.com/office/drawing/2014/main" id="{3FB80187-73FD-4D4E-767E-15E73AB7A32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38363" y="3025775"/>
            <a:ext cx="596317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zh-CN" altLang="zh-CN" sz="2000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rPr>
              <a:t>,r2,r3</a:t>
            </a:r>
            <a:endParaRPr kumimoji="0" lang="zh-CN" altLang="zh-CN" sz="180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  <a:ea typeface="SimHei" panose="02010609060101010101" pitchFamily="49" charset="-122"/>
            </a:endParaRPr>
          </a:p>
        </p:txBody>
      </p:sp>
      <p:sp>
        <p:nvSpPr>
          <p:cNvPr id="331" name="Rectangle 187">
            <a:extLst>
              <a:ext uri="{FF2B5EF4-FFF2-40B4-BE49-F238E27FC236}">
                <a16:creationId xmlns:a16="http://schemas.microsoft.com/office/drawing/2014/main" id="{34823BB0-DF55-C5F9-75F0-966A18EC415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371600" y="3735388"/>
            <a:ext cx="782265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zh-CN" altLang="zh-CN" sz="2000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rPr>
              <a:t>sub r4,</a:t>
            </a:r>
            <a:endParaRPr kumimoji="0" lang="zh-CN" altLang="zh-CN" sz="180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  <a:ea typeface="SimHei" panose="02010609060101010101" pitchFamily="49" charset="-122"/>
            </a:endParaRPr>
          </a:p>
        </p:txBody>
      </p:sp>
      <p:sp>
        <p:nvSpPr>
          <p:cNvPr id="332" name="Rectangle 188">
            <a:extLst>
              <a:ext uri="{FF2B5EF4-FFF2-40B4-BE49-F238E27FC236}">
                <a16:creationId xmlns:a16="http://schemas.microsoft.com/office/drawing/2014/main" id="{17C7B5E7-962C-87CE-2749-DCD40A4C04A3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62175" y="3735388"/>
            <a:ext cx="227626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zh-CN" altLang="zh-CN" sz="2000" u="none" strike="noStrike" cap="none" normalizeH="0" baseline="0" dirty="0">
                <a:ln>
                  <a:noFill/>
                </a:ln>
                <a:solidFill>
                  <a:srgbClr val="DE2506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rPr>
              <a:t>r1</a:t>
            </a:r>
            <a:endParaRPr kumimoji="0" lang="zh-CN" altLang="zh-CN" sz="180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  <a:ea typeface="SimHei" panose="02010609060101010101" pitchFamily="49" charset="-122"/>
            </a:endParaRPr>
          </a:p>
        </p:txBody>
      </p:sp>
      <p:sp>
        <p:nvSpPr>
          <p:cNvPr id="333" name="Rectangle 189">
            <a:extLst>
              <a:ext uri="{FF2B5EF4-FFF2-40B4-BE49-F238E27FC236}">
                <a16:creationId xmlns:a16="http://schemas.microsoft.com/office/drawing/2014/main" id="{1E4B3024-0D39-01A4-F06B-6125C7C14B7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95538" y="3735388"/>
            <a:ext cx="298159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zh-CN" altLang="zh-CN" sz="2000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rPr>
              <a:t>,r5</a:t>
            </a:r>
            <a:endParaRPr kumimoji="0" lang="zh-CN" altLang="zh-CN" sz="180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  <a:ea typeface="SimHei" panose="02010609060101010101" pitchFamily="49" charset="-122"/>
            </a:endParaRPr>
          </a:p>
        </p:txBody>
      </p:sp>
      <p:sp>
        <p:nvSpPr>
          <p:cNvPr id="334" name="Rectangle 190">
            <a:extLst>
              <a:ext uri="{FF2B5EF4-FFF2-40B4-BE49-F238E27FC236}">
                <a16:creationId xmlns:a16="http://schemas.microsoft.com/office/drawing/2014/main" id="{19791E4F-9B8A-B3BA-1224-B76F3DE29FE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371600" y="4479925"/>
            <a:ext cx="796693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zh-CN" altLang="zh-CN" sz="2000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rPr>
              <a:t>and r6,</a:t>
            </a:r>
            <a:endParaRPr kumimoji="0" lang="zh-CN" altLang="zh-CN" sz="180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  <a:ea typeface="SimHei" panose="02010609060101010101" pitchFamily="49" charset="-122"/>
            </a:endParaRPr>
          </a:p>
        </p:txBody>
      </p:sp>
      <p:sp>
        <p:nvSpPr>
          <p:cNvPr id="335" name="Rectangle 191">
            <a:extLst>
              <a:ext uri="{FF2B5EF4-FFF2-40B4-BE49-F238E27FC236}">
                <a16:creationId xmlns:a16="http://schemas.microsoft.com/office/drawing/2014/main" id="{F70A5E11-C5EC-6A23-83B8-39EC577E8AE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78050" y="4479925"/>
            <a:ext cx="227626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zh-CN" altLang="zh-CN" sz="2000" u="none" strike="noStrike" cap="none" normalizeH="0" baseline="0" dirty="0">
                <a:ln>
                  <a:noFill/>
                </a:ln>
                <a:solidFill>
                  <a:srgbClr val="DE2506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rPr>
              <a:t>r1</a:t>
            </a:r>
            <a:endParaRPr kumimoji="0" lang="zh-CN" altLang="zh-CN" sz="180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  <a:ea typeface="SimHei" panose="02010609060101010101" pitchFamily="49" charset="-122"/>
            </a:endParaRPr>
          </a:p>
        </p:txBody>
      </p:sp>
      <p:sp>
        <p:nvSpPr>
          <p:cNvPr id="336" name="Rectangle 192">
            <a:extLst>
              <a:ext uri="{FF2B5EF4-FFF2-40B4-BE49-F238E27FC236}">
                <a16:creationId xmlns:a16="http://schemas.microsoft.com/office/drawing/2014/main" id="{A1C7BBFC-4718-EE26-792B-80245E73C2FA}"/>
              </a:ext>
            </a:extLst>
          </p:cNvPr>
          <p:cNvSpPr>
            <a:spLocks noChangeArrowheads="1"/>
          </p:cNvSpPr>
          <p:nvPr/>
        </p:nvSpPr>
        <p:spPr bwMode="auto">
          <a:xfrm>
            <a:off x="2411413" y="4479925"/>
            <a:ext cx="298159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zh-CN" altLang="zh-CN" sz="2000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rPr>
              <a:t>,r7</a:t>
            </a:r>
            <a:endParaRPr kumimoji="0" lang="zh-CN" altLang="zh-CN" sz="180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  <a:ea typeface="SimHei" panose="02010609060101010101" pitchFamily="49" charset="-122"/>
            </a:endParaRPr>
          </a:p>
        </p:txBody>
      </p:sp>
      <p:sp>
        <p:nvSpPr>
          <p:cNvPr id="337" name="Rectangle 193">
            <a:extLst>
              <a:ext uri="{FF2B5EF4-FFF2-40B4-BE49-F238E27FC236}">
                <a16:creationId xmlns:a16="http://schemas.microsoft.com/office/drawing/2014/main" id="{AADA35CB-0D08-4CD3-851F-466E4F47B1F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371600" y="5922963"/>
            <a:ext cx="724557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zh-CN" altLang="zh-CN" sz="2000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rPr>
              <a:t>xor r4,</a:t>
            </a:r>
            <a:endParaRPr kumimoji="0" lang="zh-CN" altLang="zh-CN" sz="180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  <a:ea typeface="SimHei" panose="02010609060101010101" pitchFamily="49" charset="-122"/>
            </a:endParaRPr>
          </a:p>
        </p:txBody>
      </p:sp>
      <p:sp>
        <p:nvSpPr>
          <p:cNvPr id="338" name="Rectangle 194">
            <a:extLst>
              <a:ext uri="{FF2B5EF4-FFF2-40B4-BE49-F238E27FC236}">
                <a16:creationId xmlns:a16="http://schemas.microsoft.com/office/drawing/2014/main" id="{6418AEC2-4E0C-8342-DB66-8A1A3C706E7C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05025" y="5922963"/>
            <a:ext cx="227626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zh-CN" altLang="zh-CN" sz="2000" u="none" strike="noStrike" cap="none" normalizeH="0" baseline="0" dirty="0">
                <a:ln>
                  <a:noFill/>
                </a:ln>
                <a:solidFill>
                  <a:srgbClr val="009900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rPr>
              <a:t>r1</a:t>
            </a:r>
            <a:endParaRPr kumimoji="0" lang="zh-CN" altLang="zh-CN" sz="180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  <a:ea typeface="SimHei" panose="02010609060101010101" pitchFamily="49" charset="-122"/>
            </a:endParaRPr>
          </a:p>
        </p:txBody>
      </p:sp>
      <p:sp>
        <p:nvSpPr>
          <p:cNvPr id="339" name="Rectangle 195">
            <a:extLst>
              <a:ext uri="{FF2B5EF4-FFF2-40B4-BE49-F238E27FC236}">
                <a16:creationId xmlns:a16="http://schemas.microsoft.com/office/drawing/2014/main" id="{905AC54D-D288-1A37-0C2C-167C604A9B6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39975" y="5922963"/>
            <a:ext cx="298159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zh-CN" altLang="zh-CN" sz="2000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rPr>
              <a:t>,r5</a:t>
            </a:r>
            <a:endParaRPr kumimoji="0" lang="zh-CN" altLang="zh-CN" sz="180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  <a:ea typeface="SimHei" panose="02010609060101010101" pitchFamily="49" charset="-122"/>
            </a:endParaRPr>
          </a:p>
        </p:txBody>
      </p:sp>
      <p:sp>
        <p:nvSpPr>
          <p:cNvPr id="348" name="Rectangle 204">
            <a:extLst>
              <a:ext uri="{FF2B5EF4-FFF2-40B4-BE49-F238E27FC236}">
                <a16:creationId xmlns:a16="http://schemas.microsoft.com/office/drawing/2014/main" id="{A8A88E97-71CD-D7C7-AEC0-E4118D27EEE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371600" y="5187950"/>
            <a:ext cx="737381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zh-CN" altLang="zh-CN" sz="2000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rPr>
              <a:t>or  r8, </a:t>
            </a:r>
            <a:endParaRPr kumimoji="0" lang="zh-CN" altLang="zh-CN" sz="180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  <a:ea typeface="SimHei" panose="02010609060101010101" pitchFamily="49" charset="-122"/>
            </a:endParaRPr>
          </a:p>
        </p:txBody>
      </p:sp>
      <p:sp>
        <p:nvSpPr>
          <p:cNvPr id="349" name="Rectangle 205">
            <a:extLst>
              <a:ext uri="{FF2B5EF4-FFF2-40B4-BE49-F238E27FC236}">
                <a16:creationId xmlns:a16="http://schemas.microsoft.com/office/drawing/2014/main" id="{5F66F0F9-11B6-A48B-58CD-C6F51A410035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14550" y="5187950"/>
            <a:ext cx="227626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zh-CN" altLang="zh-CN" sz="2000" u="none" strike="noStrike" cap="none" normalizeH="0" baseline="0" dirty="0">
                <a:ln>
                  <a:noFill/>
                </a:ln>
                <a:solidFill>
                  <a:srgbClr val="009900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rPr>
              <a:t>r1</a:t>
            </a:r>
            <a:endParaRPr kumimoji="0" lang="zh-CN" altLang="zh-CN" sz="180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  <a:ea typeface="SimHei" panose="02010609060101010101" pitchFamily="49" charset="-122"/>
            </a:endParaRPr>
          </a:p>
        </p:txBody>
      </p:sp>
      <p:sp>
        <p:nvSpPr>
          <p:cNvPr id="350" name="Rectangle 206">
            <a:extLst>
              <a:ext uri="{FF2B5EF4-FFF2-40B4-BE49-F238E27FC236}">
                <a16:creationId xmlns:a16="http://schemas.microsoft.com/office/drawing/2014/main" id="{FFF17D7C-36BC-A530-9786-58795B0F1EF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47913" y="5187950"/>
            <a:ext cx="368691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zh-CN" altLang="zh-CN" sz="2000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rPr>
              <a:t>, r9</a:t>
            </a:r>
            <a:endParaRPr kumimoji="0" lang="zh-CN" altLang="zh-CN" sz="180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  <a:ea typeface="SimHei" panose="02010609060101010101" pitchFamily="49" charset="-122"/>
            </a:endParaRPr>
          </a:p>
        </p:txBody>
      </p:sp>
      <p:sp>
        <p:nvSpPr>
          <p:cNvPr id="351" name="Freeform 207">
            <a:extLst>
              <a:ext uri="{FF2B5EF4-FFF2-40B4-BE49-F238E27FC236}">
                <a16:creationId xmlns:a16="http://schemas.microsoft.com/office/drawing/2014/main" id="{461CA2F9-3763-7646-20F5-D93E01F17EEA}"/>
              </a:ext>
            </a:extLst>
          </p:cNvPr>
          <p:cNvSpPr>
            <a:spLocks noEditPoints="1"/>
          </p:cNvSpPr>
          <p:nvPr/>
        </p:nvSpPr>
        <p:spPr bwMode="auto">
          <a:xfrm>
            <a:off x="1195388" y="3036888"/>
            <a:ext cx="71437" cy="3286125"/>
          </a:xfrm>
          <a:custGeom>
            <a:avLst/>
            <a:gdLst>
              <a:gd name="T0" fmla="*/ 30 w 45"/>
              <a:gd name="T1" fmla="*/ 0 h 2070"/>
              <a:gd name="T2" fmla="*/ 30 w 45"/>
              <a:gd name="T3" fmla="*/ 2032 h 2070"/>
              <a:gd name="T4" fmla="*/ 15 w 45"/>
              <a:gd name="T5" fmla="*/ 2032 h 2070"/>
              <a:gd name="T6" fmla="*/ 15 w 45"/>
              <a:gd name="T7" fmla="*/ 0 h 2070"/>
              <a:gd name="T8" fmla="*/ 30 w 45"/>
              <a:gd name="T9" fmla="*/ 0 h 2070"/>
              <a:gd name="T10" fmla="*/ 45 w 45"/>
              <a:gd name="T11" fmla="*/ 2024 h 2070"/>
              <a:gd name="T12" fmla="*/ 22 w 45"/>
              <a:gd name="T13" fmla="*/ 2070 h 2070"/>
              <a:gd name="T14" fmla="*/ 0 w 45"/>
              <a:gd name="T15" fmla="*/ 2024 h 2070"/>
              <a:gd name="T16" fmla="*/ 45 w 45"/>
              <a:gd name="T17" fmla="*/ 2024 h 20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45" h="2070">
                <a:moveTo>
                  <a:pt x="30" y="0"/>
                </a:moveTo>
                <a:lnTo>
                  <a:pt x="30" y="2032"/>
                </a:lnTo>
                <a:lnTo>
                  <a:pt x="15" y="2032"/>
                </a:lnTo>
                <a:lnTo>
                  <a:pt x="15" y="0"/>
                </a:lnTo>
                <a:lnTo>
                  <a:pt x="30" y="0"/>
                </a:lnTo>
                <a:close/>
                <a:moveTo>
                  <a:pt x="45" y="2024"/>
                </a:moveTo>
                <a:lnTo>
                  <a:pt x="22" y="2070"/>
                </a:lnTo>
                <a:lnTo>
                  <a:pt x="0" y="2024"/>
                </a:lnTo>
                <a:lnTo>
                  <a:pt x="45" y="2024"/>
                </a:lnTo>
                <a:close/>
              </a:path>
            </a:pathLst>
          </a:custGeom>
          <a:solidFill>
            <a:srgbClr val="000000"/>
          </a:solidFill>
          <a:ln w="0" cap="flat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i="1" dirty="0">
              <a:ea typeface="SimHei" panose="02010609060101010101" pitchFamily="49" charset="-122"/>
            </a:endParaRPr>
          </a:p>
        </p:txBody>
      </p:sp>
      <p:grpSp>
        <p:nvGrpSpPr>
          <p:cNvPr id="482" name="组合 481">
            <a:extLst>
              <a:ext uri="{FF2B5EF4-FFF2-40B4-BE49-F238E27FC236}">
                <a16:creationId xmlns:a16="http://schemas.microsoft.com/office/drawing/2014/main" id="{94732548-B5A0-155D-FB39-06EF028B742E}"/>
              </a:ext>
            </a:extLst>
          </p:cNvPr>
          <p:cNvGrpSpPr/>
          <p:nvPr/>
        </p:nvGrpSpPr>
        <p:grpSpPr>
          <a:xfrm>
            <a:off x="2876002" y="2676863"/>
            <a:ext cx="5293416" cy="3825537"/>
            <a:chOff x="2187795" y="3078501"/>
            <a:chExt cx="5156755" cy="3726773"/>
          </a:xfrm>
        </p:grpSpPr>
        <p:sp>
          <p:nvSpPr>
            <p:cNvPr id="483" name="Rectangle 5">
              <a:extLst>
                <a:ext uri="{FF2B5EF4-FFF2-40B4-BE49-F238E27FC236}">
                  <a16:creationId xmlns:a16="http://schemas.microsoft.com/office/drawing/2014/main" id="{58439C9A-2FA3-7B37-EE34-B3BB6B9FAA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89236" y="4117206"/>
              <a:ext cx="209201" cy="381338"/>
            </a:xfrm>
            <a:prstGeom prst="rect">
              <a:avLst/>
            </a:prstGeom>
            <a:solidFill>
              <a:srgbClr val="DE25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484" name="Rectangle 7">
              <a:extLst>
                <a:ext uri="{FF2B5EF4-FFF2-40B4-BE49-F238E27FC236}">
                  <a16:creationId xmlns:a16="http://schemas.microsoft.com/office/drawing/2014/main" id="{F0EF4B06-19C7-38C4-D0B4-5E880A78A4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13195" y="3420338"/>
              <a:ext cx="180499" cy="379818"/>
            </a:xfrm>
            <a:prstGeom prst="rect">
              <a:avLst/>
            </a:prstGeom>
            <a:solidFill>
              <a:srgbClr val="DE25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485" name="Freeform 27">
              <a:extLst>
                <a:ext uri="{FF2B5EF4-FFF2-40B4-BE49-F238E27FC236}">
                  <a16:creationId xmlns:a16="http://schemas.microsoft.com/office/drawing/2014/main" id="{3385C091-E9E5-0876-F6B2-6E3F9C536EA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676124" y="3078501"/>
              <a:ext cx="18000" cy="3726773"/>
            </a:xfrm>
            <a:custGeom>
              <a:avLst/>
              <a:gdLst>
                <a:gd name="T0" fmla="*/ 15 w 15"/>
                <a:gd name="T1" fmla="*/ 42 h 2453"/>
                <a:gd name="T2" fmla="*/ 0 w 15"/>
                <a:gd name="T3" fmla="*/ 56 h 2453"/>
                <a:gd name="T4" fmla="*/ 15 w 15"/>
                <a:gd name="T5" fmla="*/ 112 h 2453"/>
                <a:gd name="T6" fmla="*/ 0 w 15"/>
                <a:gd name="T7" fmla="*/ 154 h 2453"/>
                <a:gd name="T8" fmla="*/ 15 w 15"/>
                <a:gd name="T9" fmla="*/ 167 h 2453"/>
                <a:gd name="T10" fmla="*/ 15 w 15"/>
                <a:gd name="T11" fmla="*/ 237 h 2453"/>
                <a:gd name="T12" fmla="*/ 0 w 15"/>
                <a:gd name="T13" fmla="*/ 251 h 2453"/>
                <a:gd name="T14" fmla="*/ 15 w 15"/>
                <a:gd name="T15" fmla="*/ 307 h 2453"/>
                <a:gd name="T16" fmla="*/ 0 w 15"/>
                <a:gd name="T17" fmla="*/ 348 h 2453"/>
                <a:gd name="T18" fmla="*/ 15 w 15"/>
                <a:gd name="T19" fmla="*/ 362 h 2453"/>
                <a:gd name="T20" fmla="*/ 15 w 15"/>
                <a:gd name="T21" fmla="*/ 432 h 2453"/>
                <a:gd name="T22" fmla="*/ 0 w 15"/>
                <a:gd name="T23" fmla="*/ 446 h 2453"/>
                <a:gd name="T24" fmla="*/ 15 w 15"/>
                <a:gd name="T25" fmla="*/ 501 h 2453"/>
                <a:gd name="T26" fmla="*/ 0 w 15"/>
                <a:gd name="T27" fmla="*/ 543 h 2453"/>
                <a:gd name="T28" fmla="*/ 15 w 15"/>
                <a:gd name="T29" fmla="*/ 557 h 2453"/>
                <a:gd name="T30" fmla="*/ 15 w 15"/>
                <a:gd name="T31" fmla="*/ 627 h 2453"/>
                <a:gd name="T32" fmla="*/ 0 w 15"/>
                <a:gd name="T33" fmla="*/ 641 h 2453"/>
                <a:gd name="T34" fmla="*/ 15 w 15"/>
                <a:gd name="T35" fmla="*/ 696 h 2453"/>
                <a:gd name="T36" fmla="*/ 0 w 15"/>
                <a:gd name="T37" fmla="*/ 738 h 2453"/>
                <a:gd name="T38" fmla="*/ 15 w 15"/>
                <a:gd name="T39" fmla="*/ 752 h 2453"/>
                <a:gd name="T40" fmla="*/ 15 w 15"/>
                <a:gd name="T41" fmla="*/ 822 h 2453"/>
                <a:gd name="T42" fmla="*/ 0 w 15"/>
                <a:gd name="T43" fmla="*/ 835 h 2453"/>
                <a:gd name="T44" fmla="*/ 15 w 15"/>
                <a:gd name="T45" fmla="*/ 891 h 2453"/>
                <a:gd name="T46" fmla="*/ 0 w 15"/>
                <a:gd name="T47" fmla="*/ 933 h 2453"/>
                <a:gd name="T48" fmla="*/ 15 w 15"/>
                <a:gd name="T49" fmla="*/ 947 h 2453"/>
                <a:gd name="T50" fmla="*/ 15 w 15"/>
                <a:gd name="T51" fmla="*/ 1016 h 2453"/>
                <a:gd name="T52" fmla="*/ 0 w 15"/>
                <a:gd name="T53" fmla="*/ 1030 h 2453"/>
                <a:gd name="T54" fmla="*/ 15 w 15"/>
                <a:gd name="T55" fmla="*/ 1086 h 2453"/>
                <a:gd name="T56" fmla="*/ 0 w 15"/>
                <a:gd name="T57" fmla="*/ 1127 h 2453"/>
                <a:gd name="T58" fmla="*/ 15 w 15"/>
                <a:gd name="T59" fmla="*/ 1141 h 2453"/>
                <a:gd name="T60" fmla="*/ 15 w 15"/>
                <a:gd name="T61" fmla="*/ 1211 h 2453"/>
                <a:gd name="T62" fmla="*/ 0 w 15"/>
                <a:gd name="T63" fmla="*/ 1225 h 2453"/>
                <a:gd name="T64" fmla="*/ 15 w 15"/>
                <a:gd name="T65" fmla="*/ 1281 h 2453"/>
                <a:gd name="T66" fmla="*/ 0 w 15"/>
                <a:gd name="T67" fmla="*/ 1322 h 2453"/>
                <a:gd name="T68" fmla="*/ 15 w 15"/>
                <a:gd name="T69" fmla="*/ 1336 h 2453"/>
                <a:gd name="T70" fmla="*/ 15 w 15"/>
                <a:gd name="T71" fmla="*/ 1406 h 2453"/>
                <a:gd name="T72" fmla="*/ 0 w 15"/>
                <a:gd name="T73" fmla="*/ 1420 h 2453"/>
                <a:gd name="T74" fmla="*/ 15 w 15"/>
                <a:gd name="T75" fmla="*/ 1475 h 2453"/>
                <a:gd name="T76" fmla="*/ 0 w 15"/>
                <a:gd name="T77" fmla="*/ 1517 h 2453"/>
                <a:gd name="T78" fmla="*/ 15 w 15"/>
                <a:gd name="T79" fmla="*/ 1531 h 2453"/>
                <a:gd name="T80" fmla="*/ 15 w 15"/>
                <a:gd name="T81" fmla="*/ 1601 h 2453"/>
                <a:gd name="T82" fmla="*/ 0 w 15"/>
                <a:gd name="T83" fmla="*/ 1615 h 2453"/>
                <a:gd name="T84" fmla="*/ 15 w 15"/>
                <a:gd name="T85" fmla="*/ 1670 h 2453"/>
                <a:gd name="T86" fmla="*/ 0 w 15"/>
                <a:gd name="T87" fmla="*/ 1712 h 2453"/>
                <a:gd name="T88" fmla="*/ 15 w 15"/>
                <a:gd name="T89" fmla="*/ 1726 h 2453"/>
                <a:gd name="T90" fmla="*/ 15 w 15"/>
                <a:gd name="T91" fmla="*/ 1795 h 2453"/>
                <a:gd name="T92" fmla="*/ 0 w 15"/>
                <a:gd name="T93" fmla="*/ 1809 h 2453"/>
                <a:gd name="T94" fmla="*/ 15 w 15"/>
                <a:gd name="T95" fmla="*/ 1865 h 2453"/>
                <a:gd name="T96" fmla="*/ 0 w 15"/>
                <a:gd name="T97" fmla="*/ 1907 h 2453"/>
                <a:gd name="T98" fmla="*/ 15 w 15"/>
                <a:gd name="T99" fmla="*/ 1921 h 2453"/>
                <a:gd name="T100" fmla="*/ 15 w 15"/>
                <a:gd name="T101" fmla="*/ 1990 h 2453"/>
                <a:gd name="T102" fmla="*/ 0 w 15"/>
                <a:gd name="T103" fmla="*/ 2004 h 2453"/>
                <a:gd name="T104" fmla="*/ 15 w 15"/>
                <a:gd name="T105" fmla="*/ 2060 h 2453"/>
                <a:gd name="T106" fmla="*/ 0 w 15"/>
                <a:gd name="T107" fmla="*/ 2102 h 2453"/>
                <a:gd name="T108" fmla="*/ 15 w 15"/>
                <a:gd name="T109" fmla="*/ 2116 h 2453"/>
                <a:gd name="T110" fmla="*/ 15 w 15"/>
                <a:gd name="T111" fmla="*/ 2185 h 2453"/>
                <a:gd name="T112" fmla="*/ 0 w 15"/>
                <a:gd name="T113" fmla="*/ 2199 h 2453"/>
                <a:gd name="T114" fmla="*/ 15 w 15"/>
                <a:gd name="T115" fmla="*/ 2254 h 2453"/>
                <a:gd name="T116" fmla="*/ 0 w 15"/>
                <a:gd name="T117" fmla="*/ 2296 h 2453"/>
                <a:gd name="T118" fmla="*/ 15 w 15"/>
                <a:gd name="T119" fmla="*/ 2310 h 2453"/>
                <a:gd name="T120" fmla="*/ 15 w 15"/>
                <a:gd name="T121" fmla="*/ 2380 h 2453"/>
                <a:gd name="T122" fmla="*/ 0 w 15"/>
                <a:gd name="T123" fmla="*/ 2394 h 2453"/>
                <a:gd name="T124" fmla="*/ 15 w 15"/>
                <a:gd name="T125" fmla="*/ 2449 h 24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5" h="2453">
                  <a:moveTo>
                    <a:pt x="15" y="0"/>
                  </a:moveTo>
                  <a:lnTo>
                    <a:pt x="15" y="14"/>
                  </a:lnTo>
                  <a:lnTo>
                    <a:pt x="0" y="14"/>
                  </a:lnTo>
                  <a:lnTo>
                    <a:pt x="0" y="0"/>
                  </a:lnTo>
                  <a:lnTo>
                    <a:pt x="15" y="0"/>
                  </a:lnTo>
                  <a:close/>
                  <a:moveTo>
                    <a:pt x="15" y="28"/>
                  </a:moveTo>
                  <a:lnTo>
                    <a:pt x="15" y="42"/>
                  </a:lnTo>
                  <a:lnTo>
                    <a:pt x="0" y="42"/>
                  </a:lnTo>
                  <a:lnTo>
                    <a:pt x="0" y="28"/>
                  </a:lnTo>
                  <a:lnTo>
                    <a:pt x="15" y="28"/>
                  </a:lnTo>
                  <a:close/>
                  <a:moveTo>
                    <a:pt x="15" y="56"/>
                  </a:moveTo>
                  <a:lnTo>
                    <a:pt x="15" y="70"/>
                  </a:lnTo>
                  <a:lnTo>
                    <a:pt x="0" y="70"/>
                  </a:lnTo>
                  <a:lnTo>
                    <a:pt x="0" y="56"/>
                  </a:lnTo>
                  <a:lnTo>
                    <a:pt x="15" y="56"/>
                  </a:lnTo>
                  <a:close/>
                  <a:moveTo>
                    <a:pt x="15" y="84"/>
                  </a:moveTo>
                  <a:lnTo>
                    <a:pt x="15" y="98"/>
                  </a:lnTo>
                  <a:lnTo>
                    <a:pt x="0" y="98"/>
                  </a:lnTo>
                  <a:lnTo>
                    <a:pt x="0" y="84"/>
                  </a:lnTo>
                  <a:lnTo>
                    <a:pt x="15" y="84"/>
                  </a:lnTo>
                  <a:close/>
                  <a:moveTo>
                    <a:pt x="15" y="112"/>
                  </a:moveTo>
                  <a:lnTo>
                    <a:pt x="15" y="126"/>
                  </a:lnTo>
                  <a:lnTo>
                    <a:pt x="0" y="126"/>
                  </a:lnTo>
                  <a:lnTo>
                    <a:pt x="0" y="112"/>
                  </a:lnTo>
                  <a:lnTo>
                    <a:pt x="15" y="112"/>
                  </a:lnTo>
                  <a:close/>
                  <a:moveTo>
                    <a:pt x="15" y="140"/>
                  </a:moveTo>
                  <a:lnTo>
                    <a:pt x="15" y="154"/>
                  </a:lnTo>
                  <a:lnTo>
                    <a:pt x="0" y="154"/>
                  </a:lnTo>
                  <a:lnTo>
                    <a:pt x="0" y="140"/>
                  </a:lnTo>
                  <a:lnTo>
                    <a:pt x="15" y="140"/>
                  </a:lnTo>
                  <a:close/>
                  <a:moveTo>
                    <a:pt x="15" y="167"/>
                  </a:moveTo>
                  <a:lnTo>
                    <a:pt x="15" y="181"/>
                  </a:lnTo>
                  <a:lnTo>
                    <a:pt x="0" y="181"/>
                  </a:lnTo>
                  <a:lnTo>
                    <a:pt x="0" y="167"/>
                  </a:lnTo>
                  <a:lnTo>
                    <a:pt x="15" y="167"/>
                  </a:lnTo>
                  <a:close/>
                  <a:moveTo>
                    <a:pt x="15" y="195"/>
                  </a:moveTo>
                  <a:lnTo>
                    <a:pt x="15" y="209"/>
                  </a:lnTo>
                  <a:lnTo>
                    <a:pt x="0" y="209"/>
                  </a:lnTo>
                  <a:lnTo>
                    <a:pt x="0" y="195"/>
                  </a:lnTo>
                  <a:lnTo>
                    <a:pt x="15" y="195"/>
                  </a:lnTo>
                  <a:close/>
                  <a:moveTo>
                    <a:pt x="15" y="223"/>
                  </a:moveTo>
                  <a:lnTo>
                    <a:pt x="15" y="237"/>
                  </a:lnTo>
                  <a:lnTo>
                    <a:pt x="0" y="237"/>
                  </a:lnTo>
                  <a:lnTo>
                    <a:pt x="0" y="223"/>
                  </a:lnTo>
                  <a:lnTo>
                    <a:pt x="15" y="223"/>
                  </a:lnTo>
                  <a:close/>
                  <a:moveTo>
                    <a:pt x="15" y="251"/>
                  </a:moveTo>
                  <a:lnTo>
                    <a:pt x="15" y="265"/>
                  </a:lnTo>
                  <a:lnTo>
                    <a:pt x="0" y="265"/>
                  </a:lnTo>
                  <a:lnTo>
                    <a:pt x="0" y="251"/>
                  </a:lnTo>
                  <a:lnTo>
                    <a:pt x="15" y="251"/>
                  </a:lnTo>
                  <a:close/>
                  <a:moveTo>
                    <a:pt x="15" y="279"/>
                  </a:moveTo>
                  <a:lnTo>
                    <a:pt x="15" y="293"/>
                  </a:lnTo>
                  <a:lnTo>
                    <a:pt x="0" y="293"/>
                  </a:lnTo>
                  <a:lnTo>
                    <a:pt x="0" y="279"/>
                  </a:lnTo>
                  <a:lnTo>
                    <a:pt x="15" y="279"/>
                  </a:lnTo>
                  <a:close/>
                  <a:moveTo>
                    <a:pt x="15" y="307"/>
                  </a:moveTo>
                  <a:lnTo>
                    <a:pt x="15" y="321"/>
                  </a:lnTo>
                  <a:lnTo>
                    <a:pt x="0" y="321"/>
                  </a:lnTo>
                  <a:lnTo>
                    <a:pt x="0" y="307"/>
                  </a:lnTo>
                  <a:lnTo>
                    <a:pt x="15" y="307"/>
                  </a:lnTo>
                  <a:close/>
                  <a:moveTo>
                    <a:pt x="15" y="334"/>
                  </a:moveTo>
                  <a:lnTo>
                    <a:pt x="15" y="348"/>
                  </a:lnTo>
                  <a:lnTo>
                    <a:pt x="0" y="348"/>
                  </a:lnTo>
                  <a:lnTo>
                    <a:pt x="0" y="334"/>
                  </a:lnTo>
                  <a:lnTo>
                    <a:pt x="15" y="334"/>
                  </a:lnTo>
                  <a:close/>
                  <a:moveTo>
                    <a:pt x="15" y="362"/>
                  </a:moveTo>
                  <a:lnTo>
                    <a:pt x="15" y="376"/>
                  </a:lnTo>
                  <a:lnTo>
                    <a:pt x="0" y="376"/>
                  </a:lnTo>
                  <a:lnTo>
                    <a:pt x="0" y="362"/>
                  </a:lnTo>
                  <a:lnTo>
                    <a:pt x="15" y="362"/>
                  </a:lnTo>
                  <a:close/>
                  <a:moveTo>
                    <a:pt x="15" y="390"/>
                  </a:moveTo>
                  <a:lnTo>
                    <a:pt x="15" y="404"/>
                  </a:lnTo>
                  <a:lnTo>
                    <a:pt x="0" y="404"/>
                  </a:lnTo>
                  <a:lnTo>
                    <a:pt x="0" y="390"/>
                  </a:lnTo>
                  <a:lnTo>
                    <a:pt x="15" y="390"/>
                  </a:lnTo>
                  <a:close/>
                  <a:moveTo>
                    <a:pt x="15" y="418"/>
                  </a:moveTo>
                  <a:lnTo>
                    <a:pt x="15" y="432"/>
                  </a:lnTo>
                  <a:lnTo>
                    <a:pt x="0" y="432"/>
                  </a:lnTo>
                  <a:lnTo>
                    <a:pt x="0" y="418"/>
                  </a:lnTo>
                  <a:lnTo>
                    <a:pt x="15" y="418"/>
                  </a:lnTo>
                  <a:close/>
                  <a:moveTo>
                    <a:pt x="15" y="446"/>
                  </a:moveTo>
                  <a:lnTo>
                    <a:pt x="15" y="460"/>
                  </a:lnTo>
                  <a:lnTo>
                    <a:pt x="0" y="460"/>
                  </a:lnTo>
                  <a:lnTo>
                    <a:pt x="0" y="446"/>
                  </a:lnTo>
                  <a:lnTo>
                    <a:pt x="15" y="446"/>
                  </a:lnTo>
                  <a:close/>
                  <a:moveTo>
                    <a:pt x="15" y="474"/>
                  </a:moveTo>
                  <a:lnTo>
                    <a:pt x="15" y="488"/>
                  </a:lnTo>
                  <a:lnTo>
                    <a:pt x="0" y="488"/>
                  </a:lnTo>
                  <a:lnTo>
                    <a:pt x="0" y="474"/>
                  </a:lnTo>
                  <a:lnTo>
                    <a:pt x="15" y="474"/>
                  </a:lnTo>
                  <a:close/>
                  <a:moveTo>
                    <a:pt x="15" y="501"/>
                  </a:moveTo>
                  <a:lnTo>
                    <a:pt x="15" y="515"/>
                  </a:lnTo>
                  <a:lnTo>
                    <a:pt x="0" y="515"/>
                  </a:lnTo>
                  <a:lnTo>
                    <a:pt x="0" y="501"/>
                  </a:lnTo>
                  <a:lnTo>
                    <a:pt x="15" y="501"/>
                  </a:lnTo>
                  <a:close/>
                  <a:moveTo>
                    <a:pt x="15" y="529"/>
                  </a:moveTo>
                  <a:lnTo>
                    <a:pt x="15" y="543"/>
                  </a:lnTo>
                  <a:lnTo>
                    <a:pt x="0" y="543"/>
                  </a:lnTo>
                  <a:lnTo>
                    <a:pt x="0" y="529"/>
                  </a:lnTo>
                  <a:lnTo>
                    <a:pt x="15" y="529"/>
                  </a:lnTo>
                  <a:close/>
                  <a:moveTo>
                    <a:pt x="15" y="557"/>
                  </a:moveTo>
                  <a:lnTo>
                    <a:pt x="15" y="571"/>
                  </a:lnTo>
                  <a:lnTo>
                    <a:pt x="0" y="571"/>
                  </a:lnTo>
                  <a:lnTo>
                    <a:pt x="0" y="557"/>
                  </a:lnTo>
                  <a:lnTo>
                    <a:pt x="15" y="557"/>
                  </a:lnTo>
                  <a:close/>
                  <a:moveTo>
                    <a:pt x="15" y="585"/>
                  </a:moveTo>
                  <a:lnTo>
                    <a:pt x="15" y="599"/>
                  </a:lnTo>
                  <a:lnTo>
                    <a:pt x="0" y="599"/>
                  </a:lnTo>
                  <a:lnTo>
                    <a:pt x="0" y="585"/>
                  </a:lnTo>
                  <a:lnTo>
                    <a:pt x="15" y="585"/>
                  </a:lnTo>
                  <a:close/>
                  <a:moveTo>
                    <a:pt x="15" y="613"/>
                  </a:moveTo>
                  <a:lnTo>
                    <a:pt x="15" y="627"/>
                  </a:lnTo>
                  <a:lnTo>
                    <a:pt x="0" y="627"/>
                  </a:lnTo>
                  <a:lnTo>
                    <a:pt x="0" y="613"/>
                  </a:lnTo>
                  <a:lnTo>
                    <a:pt x="15" y="613"/>
                  </a:lnTo>
                  <a:close/>
                  <a:moveTo>
                    <a:pt x="15" y="641"/>
                  </a:moveTo>
                  <a:lnTo>
                    <a:pt x="15" y="655"/>
                  </a:lnTo>
                  <a:lnTo>
                    <a:pt x="0" y="655"/>
                  </a:lnTo>
                  <a:lnTo>
                    <a:pt x="0" y="641"/>
                  </a:lnTo>
                  <a:lnTo>
                    <a:pt x="15" y="641"/>
                  </a:lnTo>
                  <a:close/>
                  <a:moveTo>
                    <a:pt x="15" y="668"/>
                  </a:moveTo>
                  <a:lnTo>
                    <a:pt x="15" y="682"/>
                  </a:lnTo>
                  <a:lnTo>
                    <a:pt x="0" y="682"/>
                  </a:lnTo>
                  <a:lnTo>
                    <a:pt x="0" y="668"/>
                  </a:lnTo>
                  <a:lnTo>
                    <a:pt x="15" y="668"/>
                  </a:lnTo>
                  <a:close/>
                  <a:moveTo>
                    <a:pt x="15" y="696"/>
                  </a:moveTo>
                  <a:lnTo>
                    <a:pt x="15" y="710"/>
                  </a:lnTo>
                  <a:lnTo>
                    <a:pt x="0" y="710"/>
                  </a:lnTo>
                  <a:lnTo>
                    <a:pt x="0" y="696"/>
                  </a:lnTo>
                  <a:lnTo>
                    <a:pt x="15" y="696"/>
                  </a:lnTo>
                  <a:close/>
                  <a:moveTo>
                    <a:pt x="15" y="724"/>
                  </a:moveTo>
                  <a:lnTo>
                    <a:pt x="15" y="738"/>
                  </a:lnTo>
                  <a:lnTo>
                    <a:pt x="0" y="738"/>
                  </a:lnTo>
                  <a:lnTo>
                    <a:pt x="0" y="724"/>
                  </a:lnTo>
                  <a:lnTo>
                    <a:pt x="15" y="724"/>
                  </a:lnTo>
                  <a:close/>
                  <a:moveTo>
                    <a:pt x="15" y="752"/>
                  </a:moveTo>
                  <a:lnTo>
                    <a:pt x="15" y="766"/>
                  </a:lnTo>
                  <a:lnTo>
                    <a:pt x="0" y="766"/>
                  </a:lnTo>
                  <a:lnTo>
                    <a:pt x="0" y="752"/>
                  </a:lnTo>
                  <a:lnTo>
                    <a:pt x="15" y="752"/>
                  </a:lnTo>
                  <a:close/>
                  <a:moveTo>
                    <a:pt x="15" y="780"/>
                  </a:moveTo>
                  <a:lnTo>
                    <a:pt x="15" y="793"/>
                  </a:lnTo>
                  <a:lnTo>
                    <a:pt x="0" y="793"/>
                  </a:lnTo>
                  <a:lnTo>
                    <a:pt x="0" y="780"/>
                  </a:lnTo>
                  <a:lnTo>
                    <a:pt x="15" y="780"/>
                  </a:lnTo>
                  <a:close/>
                  <a:moveTo>
                    <a:pt x="15" y="808"/>
                  </a:moveTo>
                  <a:lnTo>
                    <a:pt x="15" y="822"/>
                  </a:lnTo>
                  <a:lnTo>
                    <a:pt x="0" y="822"/>
                  </a:lnTo>
                  <a:lnTo>
                    <a:pt x="0" y="808"/>
                  </a:lnTo>
                  <a:lnTo>
                    <a:pt x="15" y="808"/>
                  </a:lnTo>
                  <a:close/>
                  <a:moveTo>
                    <a:pt x="15" y="835"/>
                  </a:moveTo>
                  <a:lnTo>
                    <a:pt x="15" y="849"/>
                  </a:lnTo>
                  <a:lnTo>
                    <a:pt x="0" y="849"/>
                  </a:lnTo>
                  <a:lnTo>
                    <a:pt x="0" y="835"/>
                  </a:lnTo>
                  <a:lnTo>
                    <a:pt x="15" y="835"/>
                  </a:lnTo>
                  <a:close/>
                  <a:moveTo>
                    <a:pt x="15" y="863"/>
                  </a:moveTo>
                  <a:lnTo>
                    <a:pt x="15" y="877"/>
                  </a:lnTo>
                  <a:lnTo>
                    <a:pt x="0" y="877"/>
                  </a:lnTo>
                  <a:lnTo>
                    <a:pt x="0" y="863"/>
                  </a:lnTo>
                  <a:lnTo>
                    <a:pt x="15" y="863"/>
                  </a:lnTo>
                  <a:close/>
                  <a:moveTo>
                    <a:pt x="15" y="891"/>
                  </a:moveTo>
                  <a:lnTo>
                    <a:pt x="15" y="905"/>
                  </a:lnTo>
                  <a:lnTo>
                    <a:pt x="0" y="905"/>
                  </a:lnTo>
                  <a:lnTo>
                    <a:pt x="0" y="891"/>
                  </a:lnTo>
                  <a:lnTo>
                    <a:pt x="15" y="891"/>
                  </a:lnTo>
                  <a:close/>
                  <a:moveTo>
                    <a:pt x="15" y="919"/>
                  </a:moveTo>
                  <a:lnTo>
                    <a:pt x="15" y="933"/>
                  </a:lnTo>
                  <a:lnTo>
                    <a:pt x="0" y="933"/>
                  </a:lnTo>
                  <a:lnTo>
                    <a:pt x="0" y="919"/>
                  </a:lnTo>
                  <a:lnTo>
                    <a:pt x="15" y="919"/>
                  </a:lnTo>
                  <a:close/>
                  <a:moveTo>
                    <a:pt x="15" y="947"/>
                  </a:moveTo>
                  <a:lnTo>
                    <a:pt x="15" y="960"/>
                  </a:lnTo>
                  <a:lnTo>
                    <a:pt x="0" y="960"/>
                  </a:lnTo>
                  <a:lnTo>
                    <a:pt x="0" y="947"/>
                  </a:lnTo>
                  <a:lnTo>
                    <a:pt x="15" y="947"/>
                  </a:lnTo>
                  <a:close/>
                  <a:moveTo>
                    <a:pt x="15" y="974"/>
                  </a:moveTo>
                  <a:lnTo>
                    <a:pt x="15" y="988"/>
                  </a:lnTo>
                  <a:lnTo>
                    <a:pt x="0" y="988"/>
                  </a:lnTo>
                  <a:lnTo>
                    <a:pt x="0" y="974"/>
                  </a:lnTo>
                  <a:lnTo>
                    <a:pt x="15" y="974"/>
                  </a:lnTo>
                  <a:close/>
                  <a:moveTo>
                    <a:pt x="15" y="1002"/>
                  </a:moveTo>
                  <a:lnTo>
                    <a:pt x="15" y="1016"/>
                  </a:lnTo>
                  <a:lnTo>
                    <a:pt x="0" y="1016"/>
                  </a:lnTo>
                  <a:lnTo>
                    <a:pt x="0" y="1002"/>
                  </a:lnTo>
                  <a:lnTo>
                    <a:pt x="15" y="1002"/>
                  </a:lnTo>
                  <a:close/>
                  <a:moveTo>
                    <a:pt x="15" y="1030"/>
                  </a:moveTo>
                  <a:lnTo>
                    <a:pt x="15" y="1044"/>
                  </a:lnTo>
                  <a:lnTo>
                    <a:pt x="0" y="1044"/>
                  </a:lnTo>
                  <a:lnTo>
                    <a:pt x="0" y="1030"/>
                  </a:lnTo>
                  <a:lnTo>
                    <a:pt x="15" y="1030"/>
                  </a:lnTo>
                  <a:close/>
                  <a:moveTo>
                    <a:pt x="15" y="1058"/>
                  </a:moveTo>
                  <a:lnTo>
                    <a:pt x="15" y="1072"/>
                  </a:lnTo>
                  <a:lnTo>
                    <a:pt x="0" y="1072"/>
                  </a:lnTo>
                  <a:lnTo>
                    <a:pt x="0" y="1058"/>
                  </a:lnTo>
                  <a:lnTo>
                    <a:pt x="15" y="1058"/>
                  </a:lnTo>
                  <a:close/>
                  <a:moveTo>
                    <a:pt x="15" y="1086"/>
                  </a:moveTo>
                  <a:lnTo>
                    <a:pt x="15" y="1100"/>
                  </a:lnTo>
                  <a:lnTo>
                    <a:pt x="0" y="1100"/>
                  </a:lnTo>
                  <a:lnTo>
                    <a:pt x="0" y="1086"/>
                  </a:lnTo>
                  <a:lnTo>
                    <a:pt x="15" y="1086"/>
                  </a:lnTo>
                  <a:close/>
                  <a:moveTo>
                    <a:pt x="15" y="1114"/>
                  </a:moveTo>
                  <a:lnTo>
                    <a:pt x="15" y="1127"/>
                  </a:lnTo>
                  <a:lnTo>
                    <a:pt x="0" y="1127"/>
                  </a:lnTo>
                  <a:lnTo>
                    <a:pt x="0" y="1114"/>
                  </a:lnTo>
                  <a:lnTo>
                    <a:pt x="15" y="1114"/>
                  </a:lnTo>
                  <a:close/>
                  <a:moveTo>
                    <a:pt x="15" y="1141"/>
                  </a:moveTo>
                  <a:lnTo>
                    <a:pt x="15" y="1155"/>
                  </a:lnTo>
                  <a:lnTo>
                    <a:pt x="0" y="1155"/>
                  </a:lnTo>
                  <a:lnTo>
                    <a:pt x="0" y="1141"/>
                  </a:lnTo>
                  <a:lnTo>
                    <a:pt x="15" y="1141"/>
                  </a:lnTo>
                  <a:close/>
                  <a:moveTo>
                    <a:pt x="15" y="1169"/>
                  </a:moveTo>
                  <a:lnTo>
                    <a:pt x="15" y="1183"/>
                  </a:lnTo>
                  <a:lnTo>
                    <a:pt x="0" y="1183"/>
                  </a:lnTo>
                  <a:lnTo>
                    <a:pt x="0" y="1169"/>
                  </a:lnTo>
                  <a:lnTo>
                    <a:pt x="15" y="1169"/>
                  </a:lnTo>
                  <a:close/>
                  <a:moveTo>
                    <a:pt x="15" y="1197"/>
                  </a:moveTo>
                  <a:lnTo>
                    <a:pt x="15" y="1211"/>
                  </a:lnTo>
                  <a:lnTo>
                    <a:pt x="0" y="1211"/>
                  </a:lnTo>
                  <a:lnTo>
                    <a:pt x="0" y="1197"/>
                  </a:lnTo>
                  <a:lnTo>
                    <a:pt x="15" y="1197"/>
                  </a:lnTo>
                  <a:close/>
                  <a:moveTo>
                    <a:pt x="15" y="1225"/>
                  </a:moveTo>
                  <a:lnTo>
                    <a:pt x="15" y="1239"/>
                  </a:lnTo>
                  <a:lnTo>
                    <a:pt x="0" y="1239"/>
                  </a:lnTo>
                  <a:lnTo>
                    <a:pt x="0" y="1225"/>
                  </a:lnTo>
                  <a:lnTo>
                    <a:pt x="15" y="1225"/>
                  </a:lnTo>
                  <a:close/>
                  <a:moveTo>
                    <a:pt x="15" y="1253"/>
                  </a:moveTo>
                  <a:lnTo>
                    <a:pt x="15" y="1267"/>
                  </a:lnTo>
                  <a:lnTo>
                    <a:pt x="0" y="1267"/>
                  </a:lnTo>
                  <a:lnTo>
                    <a:pt x="0" y="1253"/>
                  </a:lnTo>
                  <a:lnTo>
                    <a:pt x="15" y="1253"/>
                  </a:lnTo>
                  <a:close/>
                  <a:moveTo>
                    <a:pt x="15" y="1281"/>
                  </a:moveTo>
                  <a:lnTo>
                    <a:pt x="15" y="1294"/>
                  </a:lnTo>
                  <a:lnTo>
                    <a:pt x="0" y="1294"/>
                  </a:lnTo>
                  <a:lnTo>
                    <a:pt x="0" y="1281"/>
                  </a:lnTo>
                  <a:lnTo>
                    <a:pt x="15" y="1281"/>
                  </a:lnTo>
                  <a:close/>
                  <a:moveTo>
                    <a:pt x="15" y="1308"/>
                  </a:moveTo>
                  <a:lnTo>
                    <a:pt x="15" y="1322"/>
                  </a:lnTo>
                  <a:lnTo>
                    <a:pt x="0" y="1322"/>
                  </a:lnTo>
                  <a:lnTo>
                    <a:pt x="0" y="1308"/>
                  </a:lnTo>
                  <a:lnTo>
                    <a:pt x="15" y="1308"/>
                  </a:lnTo>
                  <a:close/>
                  <a:moveTo>
                    <a:pt x="15" y="1336"/>
                  </a:moveTo>
                  <a:lnTo>
                    <a:pt x="15" y="1350"/>
                  </a:lnTo>
                  <a:lnTo>
                    <a:pt x="0" y="1350"/>
                  </a:lnTo>
                  <a:lnTo>
                    <a:pt x="0" y="1336"/>
                  </a:lnTo>
                  <a:lnTo>
                    <a:pt x="15" y="1336"/>
                  </a:lnTo>
                  <a:close/>
                  <a:moveTo>
                    <a:pt x="15" y="1364"/>
                  </a:moveTo>
                  <a:lnTo>
                    <a:pt x="15" y="1378"/>
                  </a:lnTo>
                  <a:lnTo>
                    <a:pt x="0" y="1378"/>
                  </a:lnTo>
                  <a:lnTo>
                    <a:pt x="0" y="1364"/>
                  </a:lnTo>
                  <a:lnTo>
                    <a:pt x="15" y="1364"/>
                  </a:lnTo>
                  <a:close/>
                  <a:moveTo>
                    <a:pt x="15" y="1392"/>
                  </a:moveTo>
                  <a:lnTo>
                    <a:pt x="15" y="1406"/>
                  </a:lnTo>
                  <a:lnTo>
                    <a:pt x="0" y="1406"/>
                  </a:lnTo>
                  <a:lnTo>
                    <a:pt x="0" y="1392"/>
                  </a:lnTo>
                  <a:lnTo>
                    <a:pt x="15" y="1392"/>
                  </a:lnTo>
                  <a:close/>
                  <a:moveTo>
                    <a:pt x="15" y="1420"/>
                  </a:moveTo>
                  <a:lnTo>
                    <a:pt x="15" y="1434"/>
                  </a:lnTo>
                  <a:lnTo>
                    <a:pt x="0" y="1434"/>
                  </a:lnTo>
                  <a:lnTo>
                    <a:pt x="0" y="1420"/>
                  </a:lnTo>
                  <a:lnTo>
                    <a:pt x="15" y="1420"/>
                  </a:lnTo>
                  <a:close/>
                  <a:moveTo>
                    <a:pt x="15" y="1448"/>
                  </a:moveTo>
                  <a:lnTo>
                    <a:pt x="15" y="1461"/>
                  </a:lnTo>
                  <a:lnTo>
                    <a:pt x="0" y="1461"/>
                  </a:lnTo>
                  <a:lnTo>
                    <a:pt x="0" y="1448"/>
                  </a:lnTo>
                  <a:lnTo>
                    <a:pt x="15" y="1448"/>
                  </a:lnTo>
                  <a:close/>
                  <a:moveTo>
                    <a:pt x="15" y="1475"/>
                  </a:moveTo>
                  <a:lnTo>
                    <a:pt x="15" y="1489"/>
                  </a:lnTo>
                  <a:lnTo>
                    <a:pt x="0" y="1489"/>
                  </a:lnTo>
                  <a:lnTo>
                    <a:pt x="0" y="1475"/>
                  </a:lnTo>
                  <a:lnTo>
                    <a:pt x="15" y="1475"/>
                  </a:lnTo>
                  <a:close/>
                  <a:moveTo>
                    <a:pt x="15" y="1503"/>
                  </a:moveTo>
                  <a:lnTo>
                    <a:pt x="15" y="1517"/>
                  </a:lnTo>
                  <a:lnTo>
                    <a:pt x="0" y="1517"/>
                  </a:lnTo>
                  <a:lnTo>
                    <a:pt x="0" y="1503"/>
                  </a:lnTo>
                  <a:lnTo>
                    <a:pt x="15" y="1503"/>
                  </a:lnTo>
                  <a:close/>
                  <a:moveTo>
                    <a:pt x="15" y="1531"/>
                  </a:moveTo>
                  <a:lnTo>
                    <a:pt x="15" y="1545"/>
                  </a:lnTo>
                  <a:lnTo>
                    <a:pt x="0" y="1545"/>
                  </a:lnTo>
                  <a:lnTo>
                    <a:pt x="0" y="1531"/>
                  </a:lnTo>
                  <a:lnTo>
                    <a:pt x="15" y="1531"/>
                  </a:lnTo>
                  <a:close/>
                  <a:moveTo>
                    <a:pt x="15" y="1559"/>
                  </a:moveTo>
                  <a:lnTo>
                    <a:pt x="15" y="1573"/>
                  </a:lnTo>
                  <a:lnTo>
                    <a:pt x="0" y="1573"/>
                  </a:lnTo>
                  <a:lnTo>
                    <a:pt x="0" y="1559"/>
                  </a:lnTo>
                  <a:lnTo>
                    <a:pt x="15" y="1559"/>
                  </a:lnTo>
                  <a:close/>
                  <a:moveTo>
                    <a:pt x="15" y="1587"/>
                  </a:moveTo>
                  <a:lnTo>
                    <a:pt x="15" y="1601"/>
                  </a:lnTo>
                  <a:lnTo>
                    <a:pt x="0" y="1601"/>
                  </a:lnTo>
                  <a:lnTo>
                    <a:pt x="0" y="1587"/>
                  </a:lnTo>
                  <a:lnTo>
                    <a:pt x="15" y="1587"/>
                  </a:lnTo>
                  <a:close/>
                  <a:moveTo>
                    <a:pt x="15" y="1615"/>
                  </a:moveTo>
                  <a:lnTo>
                    <a:pt x="15" y="1628"/>
                  </a:lnTo>
                  <a:lnTo>
                    <a:pt x="0" y="1628"/>
                  </a:lnTo>
                  <a:lnTo>
                    <a:pt x="0" y="1615"/>
                  </a:lnTo>
                  <a:lnTo>
                    <a:pt x="15" y="1615"/>
                  </a:lnTo>
                  <a:close/>
                  <a:moveTo>
                    <a:pt x="15" y="1642"/>
                  </a:moveTo>
                  <a:lnTo>
                    <a:pt x="15" y="1656"/>
                  </a:lnTo>
                  <a:lnTo>
                    <a:pt x="0" y="1656"/>
                  </a:lnTo>
                  <a:lnTo>
                    <a:pt x="0" y="1642"/>
                  </a:lnTo>
                  <a:lnTo>
                    <a:pt x="15" y="1642"/>
                  </a:lnTo>
                  <a:close/>
                  <a:moveTo>
                    <a:pt x="15" y="1670"/>
                  </a:moveTo>
                  <a:lnTo>
                    <a:pt x="15" y="1684"/>
                  </a:lnTo>
                  <a:lnTo>
                    <a:pt x="0" y="1684"/>
                  </a:lnTo>
                  <a:lnTo>
                    <a:pt x="0" y="1670"/>
                  </a:lnTo>
                  <a:lnTo>
                    <a:pt x="15" y="1670"/>
                  </a:lnTo>
                  <a:close/>
                  <a:moveTo>
                    <a:pt x="15" y="1698"/>
                  </a:moveTo>
                  <a:lnTo>
                    <a:pt x="15" y="1712"/>
                  </a:lnTo>
                  <a:lnTo>
                    <a:pt x="0" y="1712"/>
                  </a:lnTo>
                  <a:lnTo>
                    <a:pt x="0" y="1698"/>
                  </a:lnTo>
                  <a:lnTo>
                    <a:pt x="15" y="1698"/>
                  </a:lnTo>
                  <a:close/>
                  <a:moveTo>
                    <a:pt x="15" y="1726"/>
                  </a:moveTo>
                  <a:lnTo>
                    <a:pt x="15" y="1740"/>
                  </a:lnTo>
                  <a:lnTo>
                    <a:pt x="0" y="1740"/>
                  </a:lnTo>
                  <a:lnTo>
                    <a:pt x="0" y="1726"/>
                  </a:lnTo>
                  <a:lnTo>
                    <a:pt x="15" y="1726"/>
                  </a:lnTo>
                  <a:close/>
                  <a:moveTo>
                    <a:pt x="15" y="1754"/>
                  </a:moveTo>
                  <a:lnTo>
                    <a:pt x="15" y="1768"/>
                  </a:lnTo>
                  <a:lnTo>
                    <a:pt x="0" y="1768"/>
                  </a:lnTo>
                  <a:lnTo>
                    <a:pt x="0" y="1754"/>
                  </a:lnTo>
                  <a:lnTo>
                    <a:pt x="15" y="1754"/>
                  </a:lnTo>
                  <a:close/>
                  <a:moveTo>
                    <a:pt x="15" y="1782"/>
                  </a:moveTo>
                  <a:lnTo>
                    <a:pt x="15" y="1795"/>
                  </a:lnTo>
                  <a:lnTo>
                    <a:pt x="0" y="1795"/>
                  </a:lnTo>
                  <a:lnTo>
                    <a:pt x="0" y="1782"/>
                  </a:lnTo>
                  <a:lnTo>
                    <a:pt x="15" y="1782"/>
                  </a:lnTo>
                  <a:close/>
                  <a:moveTo>
                    <a:pt x="15" y="1809"/>
                  </a:moveTo>
                  <a:lnTo>
                    <a:pt x="15" y="1823"/>
                  </a:lnTo>
                  <a:lnTo>
                    <a:pt x="0" y="1823"/>
                  </a:lnTo>
                  <a:lnTo>
                    <a:pt x="0" y="1809"/>
                  </a:lnTo>
                  <a:lnTo>
                    <a:pt x="15" y="1809"/>
                  </a:lnTo>
                  <a:close/>
                  <a:moveTo>
                    <a:pt x="15" y="1837"/>
                  </a:moveTo>
                  <a:lnTo>
                    <a:pt x="15" y="1851"/>
                  </a:lnTo>
                  <a:lnTo>
                    <a:pt x="0" y="1851"/>
                  </a:lnTo>
                  <a:lnTo>
                    <a:pt x="0" y="1837"/>
                  </a:lnTo>
                  <a:lnTo>
                    <a:pt x="15" y="1837"/>
                  </a:lnTo>
                  <a:close/>
                  <a:moveTo>
                    <a:pt x="15" y="1865"/>
                  </a:moveTo>
                  <a:lnTo>
                    <a:pt x="15" y="1879"/>
                  </a:lnTo>
                  <a:lnTo>
                    <a:pt x="0" y="1879"/>
                  </a:lnTo>
                  <a:lnTo>
                    <a:pt x="0" y="1865"/>
                  </a:lnTo>
                  <a:lnTo>
                    <a:pt x="15" y="1865"/>
                  </a:lnTo>
                  <a:close/>
                  <a:moveTo>
                    <a:pt x="15" y="1893"/>
                  </a:moveTo>
                  <a:lnTo>
                    <a:pt x="15" y="1907"/>
                  </a:lnTo>
                  <a:lnTo>
                    <a:pt x="0" y="1907"/>
                  </a:lnTo>
                  <a:lnTo>
                    <a:pt x="0" y="1893"/>
                  </a:lnTo>
                  <a:lnTo>
                    <a:pt x="15" y="1893"/>
                  </a:lnTo>
                  <a:close/>
                  <a:moveTo>
                    <a:pt x="15" y="1921"/>
                  </a:moveTo>
                  <a:lnTo>
                    <a:pt x="15" y="1935"/>
                  </a:lnTo>
                  <a:lnTo>
                    <a:pt x="0" y="1935"/>
                  </a:lnTo>
                  <a:lnTo>
                    <a:pt x="0" y="1921"/>
                  </a:lnTo>
                  <a:lnTo>
                    <a:pt x="15" y="1921"/>
                  </a:lnTo>
                  <a:close/>
                  <a:moveTo>
                    <a:pt x="15" y="1949"/>
                  </a:moveTo>
                  <a:lnTo>
                    <a:pt x="15" y="1962"/>
                  </a:lnTo>
                  <a:lnTo>
                    <a:pt x="0" y="1962"/>
                  </a:lnTo>
                  <a:lnTo>
                    <a:pt x="0" y="1949"/>
                  </a:lnTo>
                  <a:lnTo>
                    <a:pt x="15" y="1949"/>
                  </a:lnTo>
                  <a:close/>
                  <a:moveTo>
                    <a:pt x="15" y="1976"/>
                  </a:moveTo>
                  <a:lnTo>
                    <a:pt x="15" y="1990"/>
                  </a:lnTo>
                  <a:lnTo>
                    <a:pt x="0" y="1990"/>
                  </a:lnTo>
                  <a:lnTo>
                    <a:pt x="0" y="1976"/>
                  </a:lnTo>
                  <a:lnTo>
                    <a:pt x="15" y="1976"/>
                  </a:lnTo>
                  <a:close/>
                  <a:moveTo>
                    <a:pt x="15" y="2004"/>
                  </a:moveTo>
                  <a:lnTo>
                    <a:pt x="15" y="2018"/>
                  </a:lnTo>
                  <a:lnTo>
                    <a:pt x="0" y="2018"/>
                  </a:lnTo>
                  <a:lnTo>
                    <a:pt x="0" y="2004"/>
                  </a:lnTo>
                  <a:lnTo>
                    <a:pt x="15" y="2004"/>
                  </a:lnTo>
                  <a:close/>
                  <a:moveTo>
                    <a:pt x="15" y="2032"/>
                  </a:moveTo>
                  <a:lnTo>
                    <a:pt x="15" y="2046"/>
                  </a:lnTo>
                  <a:lnTo>
                    <a:pt x="0" y="2046"/>
                  </a:lnTo>
                  <a:lnTo>
                    <a:pt x="0" y="2032"/>
                  </a:lnTo>
                  <a:lnTo>
                    <a:pt x="15" y="2032"/>
                  </a:lnTo>
                  <a:close/>
                  <a:moveTo>
                    <a:pt x="15" y="2060"/>
                  </a:moveTo>
                  <a:lnTo>
                    <a:pt x="15" y="2074"/>
                  </a:lnTo>
                  <a:lnTo>
                    <a:pt x="0" y="2074"/>
                  </a:lnTo>
                  <a:lnTo>
                    <a:pt x="0" y="2060"/>
                  </a:lnTo>
                  <a:lnTo>
                    <a:pt x="15" y="2060"/>
                  </a:lnTo>
                  <a:close/>
                  <a:moveTo>
                    <a:pt x="15" y="2087"/>
                  </a:moveTo>
                  <a:lnTo>
                    <a:pt x="15" y="2102"/>
                  </a:lnTo>
                  <a:lnTo>
                    <a:pt x="0" y="2102"/>
                  </a:lnTo>
                  <a:lnTo>
                    <a:pt x="0" y="2087"/>
                  </a:lnTo>
                  <a:lnTo>
                    <a:pt x="15" y="2087"/>
                  </a:lnTo>
                  <a:close/>
                  <a:moveTo>
                    <a:pt x="15" y="2116"/>
                  </a:moveTo>
                  <a:lnTo>
                    <a:pt x="15" y="2129"/>
                  </a:lnTo>
                  <a:lnTo>
                    <a:pt x="0" y="2129"/>
                  </a:lnTo>
                  <a:lnTo>
                    <a:pt x="0" y="2116"/>
                  </a:lnTo>
                  <a:lnTo>
                    <a:pt x="15" y="2116"/>
                  </a:lnTo>
                  <a:close/>
                  <a:moveTo>
                    <a:pt x="15" y="2143"/>
                  </a:moveTo>
                  <a:lnTo>
                    <a:pt x="15" y="2157"/>
                  </a:lnTo>
                  <a:lnTo>
                    <a:pt x="0" y="2157"/>
                  </a:lnTo>
                  <a:lnTo>
                    <a:pt x="0" y="2143"/>
                  </a:lnTo>
                  <a:lnTo>
                    <a:pt x="15" y="2143"/>
                  </a:lnTo>
                  <a:close/>
                  <a:moveTo>
                    <a:pt x="15" y="2171"/>
                  </a:moveTo>
                  <a:lnTo>
                    <a:pt x="15" y="2185"/>
                  </a:lnTo>
                  <a:lnTo>
                    <a:pt x="0" y="2185"/>
                  </a:lnTo>
                  <a:lnTo>
                    <a:pt x="0" y="2171"/>
                  </a:lnTo>
                  <a:lnTo>
                    <a:pt x="15" y="2171"/>
                  </a:lnTo>
                  <a:close/>
                  <a:moveTo>
                    <a:pt x="15" y="2199"/>
                  </a:moveTo>
                  <a:lnTo>
                    <a:pt x="15" y="2213"/>
                  </a:lnTo>
                  <a:lnTo>
                    <a:pt x="0" y="2213"/>
                  </a:lnTo>
                  <a:lnTo>
                    <a:pt x="0" y="2199"/>
                  </a:lnTo>
                  <a:lnTo>
                    <a:pt x="15" y="2199"/>
                  </a:lnTo>
                  <a:close/>
                  <a:moveTo>
                    <a:pt x="15" y="2227"/>
                  </a:moveTo>
                  <a:lnTo>
                    <a:pt x="15" y="2241"/>
                  </a:lnTo>
                  <a:lnTo>
                    <a:pt x="0" y="2241"/>
                  </a:lnTo>
                  <a:lnTo>
                    <a:pt x="0" y="2227"/>
                  </a:lnTo>
                  <a:lnTo>
                    <a:pt x="15" y="2227"/>
                  </a:lnTo>
                  <a:close/>
                  <a:moveTo>
                    <a:pt x="15" y="2254"/>
                  </a:moveTo>
                  <a:lnTo>
                    <a:pt x="15" y="2268"/>
                  </a:lnTo>
                  <a:lnTo>
                    <a:pt x="0" y="2268"/>
                  </a:lnTo>
                  <a:lnTo>
                    <a:pt x="0" y="2254"/>
                  </a:lnTo>
                  <a:lnTo>
                    <a:pt x="15" y="2254"/>
                  </a:lnTo>
                  <a:close/>
                  <a:moveTo>
                    <a:pt x="15" y="2283"/>
                  </a:moveTo>
                  <a:lnTo>
                    <a:pt x="15" y="2296"/>
                  </a:lnTo>
                  <a:lnTo>
                    <a:pt x="0" y="2296"/>
                  </a:lnTo>
                  <a:lnTo>
                    <a:pt x="0" y="2283"/>
                  </a:lnTo>
                  <a:lnTo>
                    <a:pt x="15" y="2283"/>
                  </a:lnTo>
                  <a:close/>
                  <a:moveTo>
                    <a:pt x="15" y="2310"/>
                  </a:moveTo>
                  <a:lnTo>
                    <a:pt x="15" y="2324"/>
                  </a:lnTo>
                  <a:lnTo>
                    <a:pt x="0" y="2324"/>
                  </a:lnTo>
                  <a:lnTo>
                    <a:pt x="0" y="2310"/>
                  </a:lnTo>
                  <a:lnTo>
                    <a:pt x="15" y="2310"/>
                  </a:lnTo>
                  <a:close/>
                  <a:moveTo>
                    <a:pt x="15" y="2338"/>
                  </a:moveTo>
                  <a:lnTo>
                    <a:pt x="15" y="2352"/>
                  </a:lnTo>
                  <a:lnTo>
                    <a:pt x="0" y="2352"/>
                  </a:lnTo>
                  <a:lnTo>
                    <a:pt x="0" y="2338"/>
                  </a:lnTo>
                  <a:lnTo>
                    <a:pt x="15" y="2338"/>
                  </a:lnTo>
                  <a:close/>
                  <a:moveTo>
                    <a:pt x="15" y="2366"/>
                  </a:moveTo>
                  <a:lnTo>
                    <a:pt x="15" y="2380"/>
                  </a:lnTo>
                  <a:lnTo>
                    <a:pt x="0" y="2380"/>
                  </a:lnTo>
                  <a:lnTo>
                    <a:pt x="0" y="2366"/>
                  </a:lnTo>
                  <a:lnTo>
                    <a:pt x="15" y="2366"/>
                  </a:lnTo>
                  <a:close/>
                  <a:moveTo>
                    <a:pt x="15" y="2394"/>
                  </a:moveTo>
                  <a:lnTo>
                    <a:pt x="15" y="2408"/>
                  </a:lnTo>
                  <a:lnTo>
                    <a:pt x="0" y="2408"/>
                  </a:lnTo>
                  <a:lnTo>
                    <a:pt x="0" y="2394"/>
                  </a:lnTo>
                  <a:lnTo>
                    <a:pt x="15" y="2394"/>
                  </a:lnTo>
                  <a:close/>
                  <a:moveTo>
                    <a:pt x="15" y="2421"/>
                  </a:moveTo>
                  <a:lnTo>
                    <a:pt x="15" y="2435"/>
                  </a:lnTo>
                  <a:lnTo>
                    <a:pt x="0" y="2435"/>
                  </a:lnTo>
                  <a:lnTo>
                    <a:pt x="0" y="2421"/>
                  </a:lnTo>
                  <a:lnTo>
                    <a:pt x="15" y="2421"/>
                  </a:lnTo>
                  <a:close/>
                  <a:moveTo>
                    <a:pt x="15" y="2449"/>
                  </a:moveTo>
                  <a:lnTo>
                    <a:pt x="15" y="2453"/>
                  </a:lnTo>
                  <a:lnTo>
                    <a:pt x="0" y="2453"/>
                  </a:lnTo>
                  <a:lnTo>
                    <a:pt x="0" y="2449"/>
                  </a:lnTo>
                  <a:lnTo>
                    <a:pt x="15" y="2449"/>
                  </a:lnTo>
                  <a:close/>
                </a:path>
              </a:pathLst>
            </a:custGeom>
            <a:solidFill>
              <a:srgbClr val="000000"/>
            </a:solidFill>
            <a:ln w="0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486" name="Freeform 28">
              <a:extLst>
                <a:ext uri="{FF2B5EF4-FFF2-40B4-BE49-F238E27FC236}">
                  <a16:creationId xmlns:a16="http://schemas.microsoft.com/office/drawing/2014/main" id="{F609AEA7-6640-A665-2049-28C5C3D7547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264950" y="3078501"/>
              <a:ext cx="18000" cy="3726773"/>
            </a:xfrm>
            <a:custGeom>
              <a:avLst/>
              <a:gdLst>
                <a:gd name="T0" fmla="*/ 14 w 14"/>
                <a:gd name="T1" fmla="*/ 42 h 2453"/>
                <a:gd name="T2" fmla="*/ 0 w 14"/>
                <a:gd name="T3" fmla="*/ 56 h 2453"/>
                <a:gd name="T4" fmla="*/ 14 w 14"/>
                <a:gd name="T5" fmla="*/ 112 h 2453"/>
                <a:gd name="T6" fmla="*/ 0 w 14"/>
                <a:gd name="T7" fmla="*/ 154 h 2453"/>
                <a:gd name="T8" fmla="*/ 14 w 14"/>
                <a:gd name="T9" fmla="*/ 167 h 2453"/>
                <a:gd name="T10" fmla="*/ 14 w 14"/>
                <a:gd name="T11" fmla="*/ 237 h 2453"/>
                <a:gd name="T12" fmla="*/ 0 w 14"/>
                <a:gd name="T13" fmla="*/ 251 h 2453"/>
                <a:gd name="T14" fmla="*/ 14 w 14"/>
                <a:gd name="T15" fmla="*/ 307 h 2453"/>
                <a:gd name="T16" fmla="*/ 0 w 14"/>
                <a:gd name="T17" fmla="*/ 348 h 2453"/>
                <a:gd name="T18" fmla="*/ 14 w 14"/>
                <a:gd name="T19" fmla="*/ 362 h 2453"/>
                <a:gd name="T20" fmla="*/ 14 w 14"/>
                <a:gd name="T21" fmla="*/ 432 h 2453"/>
                <a:gd name="T22" fmla="*/ 0 w 14"/>
                <a:gd name="T23" fmla="*/ 446 h 2453"/>
                <a:gd name="T24" fmla="*/ 14 w 14"/>
                <a:gd name="T25" fmla="*/ 501 h 2453"/>
                <a:gd name="T26" fmla="*/ 0 w 14"/>
                <a:gd name="T27" fmla="*/ 543 h 2453"/>
                <a:gd name="T28" fmla="*/ 14 w 14"/>
                <a:gd name="T29" fmla="*/ 557 h 2453"/>
                <a:gd name="T30" fmla="*/ 14 w 14"/>
                <a:gd name="T31" fmla="*/ 627 h 2453"/>
                <a:gd name="T32" fmla="*/ 0 w 14"/>
                <a:gd name="T33" fmla="*/ 641 h 2453"/>
                <a:gd name="T34" fmla="*/ 14 w 14"/>
                <a:gd name="T35" fmla="*/ 696 h 2453"/>
                <a:gd name="T36" fmla="*/ 0 w 14"/>
                <a:gd name="T37" fmla="*/ 738 h 2453"/>
                <a:gd name="T38" fmla="*/ 14 w 14"/>
                <a:gd name="T39" fmla="*/ 752 h 2453"/>
                <a:gd name="T40" fmla="*/ 14 w 14"/>
                <a:gd name="T41" fmla="*/ 822 h 2453"/>
                <a:gd name="T42" fmla="*/ 0 w 14"/>
                <a:gd name="T43" fmla="*/ 835 h 2453"/>
                <a:gd name="T44" fmla="*/ 14 w 14"/>
                <a:gd name="T45" fmla="*/ 891 h 2453"/>
                <a:gd name="T46" fmla="*/ 0 w 14"/>
                <a:gd name="T47" fmla="*/ 933 h 2453"/>
                <a:gd name="T48" fmla="*/ 14 w 14"/>
                <a:gd name="T49" fmla="*/ 947 h 2453"/>
                <a:gd name="T50" fmla="*/ 14 w 14"/>
                <a:gd name="T51" fmla="*/ 1016 h 2453"/>
                <a:gd name="T52" fmla="*/ 0 w 14"/>
                <a:gd name="T53" fmla="*/ 1030 h 2453"/>
                <a:gd name="T54" fmla="*/ 14 w 14"/>
                <a:gd name="T55" fmla="*/ 1086 h 2453"/>
                <a:gd name="T56" fmla="*/ 0 w 14"/>
                <a:gd name="T57" fmla="*/ 1127 h 2453"/>
                <a:gd name="T58" fmla="*/ 14 w 14"/>
                <a:gd name="T59" fmla="*/ 1141 h 2453"/>
                <a:gd name="T60" fmla="*/ 14 w 14"/>
                <a:gd name="T61" fmla="*/ 1211 h 2453"/>
                <a:gd name="T62" fmla="*/ 0 w 14"/>
                <a:gd name="T63" fmla="*/ 1225 h 2453"/>
                <a:gd name="T64" fmla="*/ 14 w 14"/>
                <a:gd name="T65" fmla="*/ 1281 h 2453"/>
                <a:gd name="T66" fmla="*/ 0 w 14"/>
                <a:gd name="T67" fmla="*/ 1322 h 2453"/>
                <a:gd name="T68" fmla="*/ 14 w 14"/>
                <a:gd name="T69" fmla="*/ 1336 h 2453"/>
                <a:gd name="T70" fmla="*/ 14 w 14"/>
                <a:gd name="T71" fmla="*/ 1406 h 2453"/>
                <a:gd name="T72" fmla="*/ 0 w 14"/>
                <a:gd name="T73" fmla="*/ 1420 h 2453"/>
                <a:gd name="T74" fmla="*/ 14 w 14"/>
                <a:gd name="T75" fmla="*/ 1475 h 2453"/>
                <a:gd name="T76" fmla="*/ 0 w 14"/>
                <a:gd name="T77" fmla="*/ 1517 h 2453"/>
                <a:gd name="T78" fmla="*/ 14 w 14"/>
                <a:gd name="T79" fmla="*/ 1531 h 2453"/>
                <a:gd name="T80" fmla="*/ 14 w 14"/>
                <a:gd name="T81" fmla="*/ 1601 h 2453"/>
                <a:gd name="T82" fmla="*/ 0 w 14"/>
                <a:gd name="T83" fmla="*/ 1615 h 2453"/>
                <a:gd name="T84" fmla="*/ 14 w 14"/>
                <a:gd name="T85" fmla="*/ 1670 h 2453"/>
                <a:gd name="T86" fmla="*/ 0 w 14"/>
                <a:gd name="T87" fmla="*/ 1712 h 2453"/>
                <a:gd name="T88" fmla="*/ 14 w 14"/>
                <a:gd name="T89" fmla="*/ 1726 h 2453"/>
                <a:gd name="T90" fmla="*/ 14 w 14"/>
                <a:gd name="T91" fmla="*/ 1795 h 2453"/>
                <a:gd name="T92" fmla="*/ 0 w 14"/>
                <a:gd name="T93" fmla="*/ 1809 h 2453"/>
                <a:gd name="T94" fmla="*/ 14 w 14"/>
                <a:gd name="T95" fmla="*/ 1865 h 2453"/>
                <a:gd name="T96" fmla="*/ 0 w 14"/>
                <a:gd name="T97" fmla="*/ 1907 h 2453"/>
                <a:gd name="T98" fmla="*/ 14 w 14"/>
                <a:gd name="T99" fmla="*/ 1921 h 2453"/>
                <a:gd name="T100" fmla="*/ 14 w 14"/>
                <a:gd name="T101" fmla="*/ 1990 h 2453"/>
                <a:gd name="T102" fmla="*/ 0 w 14"/>
                <a:gd name="T103" fmla="*/ 2004 h 2453"/>
                <a:gd name="T104" fmla="*/ 14 w 14"/>
                <a:gd name="T105" fmla="*/ 2060 h 2453"/>
                <a:gd name="T106" fmla="*/ 0 w 14"/>
                <a:gd name="T107" fmla="*/ 2102 h 2453"/>
                <a:gd name="T108" fmla="*/ 14 w 14"/>
                <a:gd name="T109" fmla="*/ 2116 h 2453"/>
                <a:gd name="T110" fmla="*/ 14 w 14"/>
                <a:gd name="T111" fmla="*/ 2185 h 2453"/>
                <a:gd name="T112" fmla="*/ 0 w 14"/>
                <a:gd name="T113" fmla="*/ 2199 h 2453"/>
                <a:gd name="T114" fmla="*/ 14 w 14"/>
                <a:gd name="T115" fmla="*/ 2254 h 2453"/>
                <a:gd name="T116" fmla="*/ 0 w 14"/>
                <a:gd name="T117" fmla="*/ 2296 h 2453"/>
                <a:gd name="T118" fmla="*/ 14 w 14"/>
                <a:gd name="T119" fmla="*/ 2310 h 2453"/>
                <a:gd name="T120" fmla="*/ 14 w 14"/>
                <a:gd name="T121" fmla="*/ 2380 h 2453"/>
                <a:gd name="T122" fmla="*/ 0 w 14"/>
                <a:gd name="T123" fmla="*/ 2394 h 2453"/>
                <a:gd name="T124" fmla="*/ 14 w 14"/>
                <a:gd name="T125" fmla="*/ 2449 h 24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4" h="2453">
                  <a:moveTo>
                    <a:pt x="14" y="0"/>
                  </a:moveTo>
                  <a:lnTo>
                    <a:pt x="14" y="14"/>
                  </a:lnTo>
                  <a:lnTo>
                    <a:pt x="0" y="14"/>
                  </a:lnTo>
                  <a:lnTo>
                    <a:pt x="0" y="0"/>
                  </a:lnTo>
                  <a:lnTo>
                    <a:pt x="14" y="0"/>
                  </a:lnTo>
                  <a:close/>
                  <a:moveTo>
                    <a:pt x="14" y="28"/>
                  </a:moveTo>
                  <a:lnTo>
                    <a:pt x="14" y="42"/>
                  </a:lnTo>
                  <a:lnTo>
                    <a:pt x="0" y="42"/>
                  </a:lnTo>
                  <a:lnTo>
                    <a:pt x="0" y="28"/>
                  </a:lnTo>
                  <a:lnTo>
                    <a:pt x="14" y="28"/>
                  </a:lnTo>
                  <a:close/>
                  <a:moveTo>
                    <a:pt x="14" y="56"/>
                  </a:moveTo>
                  <a:lnTo>
                    <a:pt x="14" y="70"/>
                  </a:lnTo>
                  <a:lnTo>
                    <a:pt x="0" y="70"/>
                  </a:lnTo>
                  <a:lnTo>
                    <a:pt x="0" y="56"/>
                  </a:lnTo>
                  <a:lnTo>
                    <a:pt x="14" y="56"/>
                  </a:lnTo>
                  <a:close/>
                  <a:moveTo>
                    <a:pt x="14" y="84"/>
                  </a:moveTo>
                  <a:lnTo>
                    <a:pt x="14" y="98"/>
                  </a:lnTo>
                  <a:lnTo>
                    <a:pt x="0" y="98"/>
                  </a:lnTo>
                  <a:lnTo>
                    <a:pt x="0" y="84"/>
                  </a:lnTo>
                  <a:lnTo>
                    <a:pt x="14" y="84"/>
                  </a:lnTo>
                  <a:close/>
                  <a:moveTo>
                    <a:pt x="14" y="112"/>
                  </a:moveTo>
                  <a:lnTo>
                    <a:pt x="14" y="126"/>
                  </a:lnTo>
                  <a:lnTo>
                    <a:pt x="0" y="126"/>
                  </a:lnTo>
                  <a:lnTo>
                    <a:pt x="0" y="112"/>
                  </a:lnTo>
                  <a:lnTo>
                    <a:pt x="14" y="112"/>
                  </a:lnTo>
                  <a:close/>
                  <a:moveTo>
                    <a:pt x="14" y="140"/>
                  </a:moveTo>
                  <a:lnTo>
                    <a:pt x="14" y="154"/>
                  </a:lnTo>
                  <a:lnTo>
                    <a:pt x="0" y="154"/>
                  </a:lnTo>
                  <a:lnTo>
                    <a:pt x="0" y="140"/>
                  </a:lnTo>
                  <a:lnTo>
                    <a:pt x="14" y="140"/>
                  </a:lnTo>
                  <a:close/>
                  <a:moveTo>
                    <a:pt x="14" y="167"/>
                  </a:moveTo>
                  <a:lnTo>
                    <a:pt x="14" y="181"/>
                  </a:lnTo>
                  <a:lnTo>
                    <a:pt x="0" y="181"/>
                  </a:lnTo>
                  <a:lnTo>
                    <a:pt x="0" y="167"/>
                  </a:lnTo>
                  <a:lnTo>
                    <a:pt x="14" y="167"/>
                  </a:lnTo>
                  <a:close/>
                  <a:moveTo>
                    <a:pt x="14" y="195"/>
                  </a:moveTo>
                  <a:lnTo>
                    <a:pt x="14" y="209"/>
                  </a:lnTo>
                  <a:lnTo>
                    <a:pt x="0" y="209"/>
                  </a:lnTo>
                  <a:lnTo>
                    <a:pt x="0" y="195"/>
                  </a:lnTo>
                  <a:lnTo>
                    <a:pt x="14" y="195"/>
                  </a:lnTo>
                  <a:close/>
                  <a:moveTo>
                    <a:pt x="14" y="223"/>
                  </a:moveTo>
                  <a:lnTo>
                    <a:pt x="14" y="237"/>
                  </a:lnTo>
                  <a:lnTo>
                    <a:pt x="0" y="237"/>
                  </a:lnTo>
                  <a:lnTo>
                    <a:pt x="0" y="223"/>
                  </a:lnTo>
                  <a:lnTo>
                    <a:pt x="14" y="223"/>
                  </a:lnTo>
                  <a:close/>
                  <a:moveTo>
                    <a:pt x="14" y="251"/>
                  </a:moveTo>
                  <a:lnTo>
                    <a:pt x="14" y="265"/>
                  </a:lnTo>
                  <a:lnTo>
                    <a:pt x="0" y="265"/>
                  </a:lnTo>
                  <a:lnTo>
                    <a:pt x="0" y="251"/>
                  </a:lnTo>
                  <a:lnTo>
                    <a:pt x="14" y="251"/>
                  </a:lnTo>
                  <a:close/>
                  <a:moveTo>
                    <a:pt x="14" y="279"/>
                  </a:moveTo>
                  <a:lnTo>
                    <a:pt x="14" y="293"/>
                  </a:lnTo>
                  <a:lnTo>
                    <a:pt x="0" y="293"/>
                  </a:lnTo>
                  <a:lnTo>
                    <a:pt x="0" y="279"/>
                  </a:lnTo>
                  <a:lnTo>
                    <a:pt x="14" y="279"/>
                  </a:lnTo>
                  <a:close/>
                  <a:moveTo>
                    <a:pt x="14" y="307"/>
                  </a:moveTo>
                  <a:lnTo>
                    <a:pt x="14" y="321"/>
                  </a:lnTo>
                  <a:lnTo>
                    <a:pt x="0" y="321"/>
                  </a:lnTo>
                  <a:lnTo>
                    <a:pt x="0" y="307"/>
                  </a:lnTo>
                  <a:lnTo>
                    <a:pt x="14" y="307"/>
                  </a:lnTo>
                  <a:close/>
                  <a:moveTo>
                    <a:pt x="14" y="334"/>
                  </a:moveTo>
                  <a:lnTo>
                    <a:pt x="14" y="348"/>
                  </a:lnTo>
                  <a:lnTo>
                    <a:pt x="0" y="348"/>
                  </a:lnTo>
                  <a:lnTo>
                    <a:pt x="0" y="334"/>
                  </a:lnTo>
                  <a:lnTo>
                    <a:pt x="14" y="334"/>
                  </a:lnTo>
                  <a:close/>
                  <a:moveTo>
                    <a:pt x="14" y="362"/>
                  </a:moveTo>
                  <a:lnTo>
                    <a:pt x="14" y="376"/>
                  </a:lnTo>
                  <a:lnTo>
                    <a:pt x="0" y="376"/>
                  </a:lnTo>
                  <a:lnTo>
                    <a:pt x="0" y="362"/>
                  </a:lnTo>
                  <a:lnTo>
                    <a:pt x="14" y="362"/>
                  </a:lnTo>
                  <a:close/>
                  <a:moveTo>
                    <a:pt x="14" y="390"/>
                  </a:moveTo>
                  <a:lnTo>
                    <a:pt x="14" y="404"/>
                  </a:lnTo>
                  <a:lnTo>
                    <a:pt x="0" y="404"/>
                  </a:lnTo>
                  <a:lnTo>
                    <a:pt x="0" y="390"/>
                  </a:lnTo>
                  <a:lnTo>
                    <a:pt x="14" y="390"/>
                  </a:lnTo>
                  <a:close/>
                  <a:moveTo>
                    <a:pt x="14" y="418"/>
                  </a:moveTo>
                  <a:lnTo>
                    <a:pt x="14" y="432"/>
                  </a:lnTo>
                  <a:lnTo>
                    <a:pt x="0" y="432"/>
                  </a:lnTo>
                  <a:lnTo>
                    <a:pt x="0" y="418"/>
                  </a:lnTo>
                  <a:lnTo>
                    <a:pt x="14" y="418"/>
                  </a:lnTo>
                  <a:close/>
                  <a:moveTo>
                    <a:pt x="14" y="446"/>
                  </a:moveTo>
                  <a:lnTo>
                    <a:pt x="14" y="460"/>
                  </a:lnTo>
                  <a:lnTo>
                    <a:pt x="0" y="460"/>
                  </a:lnTo>
                  <a:lnTo>
                    <a:pt x="0" y="446"/>
                  </a:lnTo>
                  <a:lnTo>
                    <a:pt x="14" y="446"/>
                  </a:lnTo>
                  <a:close/>
                  <a:moveTo>
                    <a:pt x="14" y="474"/>
                  </a:moveTo>
                  <a:lnTo>
                    <a:pt x="14" y="488"/>
                  </a:lnTo>
                  <a:lnTo>
                    <a:pt x="0" y="488"/>
                  </a:lnTo>
                  <a:lnTo>
                    <a:pt x="0" y="474"/>
                  </a:lnTo>
                  <a:lnTo>
                    <a:pt x="14" y="474"/>
                  </a:lnTo>
                  <a:close/>
                  <a:moveTo>
                    <a:pt x="14" y="501"/>
                  </a:moveTo>
                  <a:lnTo>
                    <a:pt x="14" y="515"/>
                  </a:lnTo>
                  <a:lnTo>
                    <a:pt x="0" y="515"/>
                  </a:lnTo>
                  <a:lnTo>
                    <a:pt x="0" y="501"/>
                  </a:lnTo>
                  <a:lnTo>
                    <a:pt x="14" y="501"/>
                  </a:lnTo>
                  <a:close/>
                  <a:moveTo>
                    <a:pt x="14" y="529"/>
                  </a:moveTo>
                  <a:lnTo>
                    <a:pt x="14" y="543"/>
                  </a:lnTo>
                  <a:lnTo>
                    <a:pt x="0" y="543"/>
                  </a:lnTo>
                  <a:lnTo>
                    <a:pt x="0" y="529"/>
                  </a:lnTo>
                  <a:lnTo>
                    <a:pt x="14" y="529"/>
                  </a:lnTo>
                  <a:close/>
                  <a:moveTo>
                    <a:pt x="14" y="557"/>
                  </a:moveTo>
                  <a:lnTo>
                    <a:pt x="14" y="571"/>
                  </a:lnTo>
                  <a:lnTo>
                    <a:pt x="0" y="571"/>
                  </a:lnTo>
                  <a:lnTo>
                    <a:pt x="0" y="557"/>
                  </a:lnTo>
                  <a:lnTo>
                    <a:pt x="14" y="557"/>
                  </a:lnTo>
                  <a:close/>
                  <a:moveTo>
                    <a:pt x="14" y="585"/>
                  </a:moveTo>
                  <a:lnTo>
                    <a:pt x="14" y="599"/>
                  </a:lnTo>
                  <a:lnTo>
                    <a:pt x="0" y="599"/>
                  </a:lnTo>
                  <a:lnTo>
                    <a:pt x="0" y="585"/>
                  </a:lnTo>
                  <a:lnTo>
                    <a:pt x="14" y="585"/>
                  </a:lnTo>
                  <a:close/>
                  <a:moveTo>
                    <a:pt x="14" y="613"/>
                  </a:moveTo>
                  <a:lnTo>
                    <a:pt x="14" y="627"/>
                  </a:lnTo>
                  <a:lnTo>
                    <a:pt x="0" y="627"/>
                  </a:lnTo>
                  <a:lnTo>
                    <a:pt x="0" y="613"/>
                  </a:lnTo>
                  <a:lnTo>
                    <a:pt x="14" y="613"/>
                  </a:lnTo>
                  <a:close/>
                  <a:moveTo>
                    <a:pt x="14" y="641"/>
                  </a:moveTo>
                  <a:lnTo>
                    <a:pt x="14" y="655"/>
                  </a:lnTo>
                  <a:lnTo>
                    <a:pt x="0" y="655"/>
                  </a:lnTo>
                  <a:lnTo>
                    <a:pt x="0" y="641"/>
                  </a:lnTo>
                  <a:lnTo>
                    <a:pt x="14" y="641"/>
                  </a:lnTo>
                  <a:close/>
                  <a:moveTo>
                    <a:pt x="14" y="668"/>
                  </a:moveTo>
                  <a:lnTo>
                    <a:pt x="14" y="682"/>
                  </a:lnTo>
                  <a:lnTo>
                    <a:pt x="0" y="682"/>
                  </a:lnTo>
                  <a:lnTo>
                    <a:pt x="0" y="668"/>
                  </a:lnTo>
                  <a:lnTo>
                    <a:pt x="14" y="668"/>
                  </a:lnTo>
                  <a:close/>
                  <a:moveTo>
                    <a:pt x="14" y="696"/>
                  </a:moveTo>
                  <a:lnTo>
                    <a:pt x="14" y="710"/>
                  </a:lnTo>
                  <a:lnTo>
                    <a:pt x="0" y="710"/>
                  </a:lnTo>
                  <a:lnTo>
                    <a:pt x="0" y="696"/>
                  </a:lnTo>
                  <a:lnTo>
                    <a:pt x="14" y="696"/>
                  </a:lnTo>
                  <a:close/>
                  <a:moveTo>
                    <a:pt x="14" y="724"/>
                  </a:moveTo>
                  <a:lnTo>
                    <a:pt x="14" y="738"/>
                  </a:lnTo>
                  <a:lnTo>
                    <a:pt x="0" y="738"/>
                  </a:lnTo>
                  <a:lnTo>
                    <a:pt x="0" y="724"/>
                  </a:lnTo>
                  <a:lnTo>
                    <a:pt x="14" y="724"/>
                  </a:lnTo>
                  <a:close/>
                  <a:moveTo>
                    <a:pt x="14" y="752"/>
                  </a:moveTo>
                  <a:lnTo>
                    <a:pt x="14" y="766"/>
                  </a:lnTo>
                  <a:lnTo>
                    <a:pt x="0" y="766"/>
                  </a:lnTo>
                  <a:lnTo>
                    <a:pt x="0" y="752"/>
                  </a:lnTo>
                  <a:lnTo>
                    <a:pt x="14" y="752"/>
                  </a:lnTo>
                  <a:close/>
                  <a:moveTo>
                    <a:pt x="14" y="780"/>
                  </a:moveTo>
                  <a:lnTo>
                    <a:pt x="14" y="793"/>
                  </a:lnTo>
                  <a:lnTo>
                    <a:pt x="0" y="793"/>
                  </a:lnTo>
                  <a:lnTo>
                    <a:pt x="0" y="780"/>
                  </a:lnTo>
                  <a:lnTo>
                    <a:pt x="14" y="780"/>
                  </a:lnTo>
                  <a:close/>
                  <a:moveTo>
                    <a:pt x="14" y="808"/>
                  </a:moveTo>
                  <a:lnTo>
                    <a:pt x="14" y="822"/>
                  </a:lnTo>
                  <a:lnTo>
                    <a:pt x="0" y="822"/>
                  </a:lnTo>
                  <a:lnTo>
                    <a:pt x="0" y="808"/>
                  </a:lnTo>
                  <a:lnTo>
                    <a:pt x="14" y="808"/>
                  </a:lnTo>
                  <a:close/>
                  <a:moveTo>
                    <a:pt x="14" y="835"/>
                  </a:moveTo>
                  <a:lnTo>
                    <a:pt x="14" y="849"/>
                  </a:lnTo>
                  <a:lnTo>
                    <a:pt x="0" y="849"/>
                  </a:lnTo>
                  <a:lnTo>
                    <a:pt x="0" y="835"/>
                  </a:lnTo>
                  <a:lnTo>
                    <a:pt x="14" y="835"/>
                  </a:lnTo>
                  <a:close/>
                  <a:moveTo>
                    <a:pt x="14" y="863"/>
                  </a:moveTo>
                  <a:lnTo>
                    <a:pt x="14" y="877"/>
                  </a:lnTo>
                  <a:lnTo>
                    <a:pt x="0" y="877"/>
                  </a:lnTo>
                  <a:lnTo>
                    <a:pt x="0" y="863"/>
                  </a:lnTo>
                  <a:lnTo>
                    <a:pt x="14" y="863"/>
                  </a:lnTo>
                  <a:close/>
                  <a:moveTo>
                    <a:pt x="14" y="891"/>
                  </a:moveTo>
                  <a:lnTo>
                    <a:pt x="14" y="905"/>
                  </a:lnTo>
                  <a:lnTo>
                    <a:pt x="0" y="905"/>
                  </a:lnTo>
                  <a:lnTo>
                    <a:pt x="0" y="891"/>
                  </a:lnTo>
                  <a:lnTo>
                    <a:pt x="14" y="891"/>
                  </a:lnTo>
                  <a:close/>
                  <a:moveTo>
                    <a:pt x="14" y="919"/>
                  </a:moveTo>
                  <a:lnTo>
                    <a:pt x="14" y="933"/>
                  </a:lnTo>
                  <a:lnTo>
                    <a:pt x="0" y="933"/>
                  </a:lnTo>
                  <a:lnTo>
                    <a:pt x="0" y="919"/>
                  </a:lnTo>
                  <a:lnTo>
                    <a:pt x="14" y="919"/>
                  </a:lnTo>
                  <a:close/>
                  <a:moveTo>
                    <a:pt x="14" y="947"/>
                  </a:moveTo>
                  <a:lnTo>
                    <a:pt x="14" y="960"/>
                  </a:lnTo>
                  <a:lnTo>
                    <a:pt x="0" y="960"/>
                  </a:lnTo>
                  <a:lnTo>
                    <a:pt x="0" y="947"/>
                  </a:lnTo>
                  <a:lnTo>
                    <a:pt x="14" y="947"/>
                  </a:lnTo>
                  <a:close/>
                  <a:moveTo>
                    <a:pt x="14" y="974"/>
                  </a:moveTo>
                  <a:lnTo>
                    <a:pt x="14" y="988"/>
                  </a:lnTo>
                  <a:lnTo>
                    <a:pt x="0" y="988"/>
                  </a:lnTo>
                  <a:lnTo>
                    <a:pt x="0" y="974"/>
                  </a:lnTo>
                  <a:lnTo>
                    <a:pt x="14" y="974"/>
                  </a:lnTo>
                  <a:close/>
                  <a:moveTo>
                    <a:pt x="14" y="1002"/>
                  </a:moveTo>
                  <a:lnTo>
                    <a:pt x="14" y="1016"/>
                  </a:lnTo>
                  <a:lnTo>
                    <a:pt x="0" y="1016"/>
                  </a:lnTo>
                  <a:lnTo>
                    <a:pt x="0" y="1002"/>
                  </a:lnTo>
                  <a:lnTo>
                    <a:pt x="14" y="1002"/>
                  </a:lnTo>
                  <a:close/>
                  <a:moveTo>
                    <a:pt x="14" y="1030"/>
                  </a:moveTo>
                  <a:lnTo>
                    <a:pt x="14" y="1044"/>
                  </a:lnTo>
                  <a:lnTo>
                    <a:pt x="0" y="1044"/>
                  </a:lnTo>
                  <a:lnTo>
                    <a:pt x="0" y="1030"/>
                  </a:lnTo>
                  <a:lnTo>
                    <a:pt x="14" y="1030"/>
                  </a:lnTo>
                  <a:close/>
                  <a:moveTo>
                    <a:pt x="14" y="1058"/>
                  </a:moveTo>
                  <a:lnTo>
                    <a:pt x="14" y="1072"/>
                  </a:lnTo>
                  <a:lnTo>
                    <a:pt x="0" y="1072"/>
                  </a:lnTo>
                  <a:lnTo>
                    <a:pt x="0" y="1058"/>
                  </a:lnTo>
                  <a:lnTo>
                    <a:pt x="14" y="1058"/>
                  </a:lnTo>
                  <a:close/>
                  <a:moveTo>
                    <a:pt x="14" y="1086"/>
                  </a:moveTo>
                  <a:lnTo>
                    <a:pt x="14" y="1100"/>
                  </a:lnTo>
                  <a:lnTo>
                    <a:pt x="0" y="1100"/>
                  </a:lnTo>
                  <a:lnTo>
                    <a:pt x="0" y="1086"/>
                  </a:lnTo>
                  <a:lnTo>
                    <a:pt x="14" y="1086"/>
                  </a:lnTo>
                  <a:close/>
                  <a:moveTo>
                    <a:pt x="14" y="1114"/>
                  </a:moveTo>
                  <a:lnTo>
                    <a:pt x="14" y="1127"/>
                  </a:lnTo>
                  <a:lnTo>
                    <a:pt x="0" y="1127"/>
                  </a:lnTo>
                  <a:lnTo>
                    <a:pt x="0" y="1114"/>
                  </a:lnTo>
                  <a:lnTo>
                    <a:pt x="14" y="1114"/>
                  </a:lnTo>
                  <a:close/>
                  <a:moveTo>
                    <a:pt x="14" y="1141"/>
                  </a:moveTo>
                  <a:lnTo>
                    <a:pt x="14" y="1155"/>
                  </a:lnTo>
                  <a:lnTo>
                    <a:pt x="0" y="1155"/>
                  </a:lnTo>
                  <a:lnTo>
                    <a:pt x="0" y="1141"/>
                  </a:lnTo>
                  <a:lnTo>
                    <a:pt x="14" y="1141"/>
                  </a:lnTo>
                  <a:close/>
                  <a:moveTo>
                    <a:pt x="14" y="1169"/>
                  </a:moveTo>
                  <a:lnTo>
                    <a:pt x="14" y="1183"/>
                  </a:lnTo>
                  <a:lnTo>
                    <a:pt x="0" y="1183"/>
                  </a:lnTo>
                  <a:lnTo>
                    <a:pt x="0" y="1169"/>
                  </a:lnTo>
                  <a:lnTo>
                    <a:pt x="14" y="1169"/>
                  </a:lnTo>
                  <a:close/>
                  <a:moveTo>
                    <a:pt x="14" y="1197"/>
                  </a:moveTo>
                  <a:lnTo>
                    <a:pt x="14" y="1211"/>
                  </a:lnTo>
                  <a:lnTo>
                    <a:pt x="0" y="1211"/>
                  </a:lnTo>
                  <a:lnTo>
                    <a:pt x="0" y="1197"/>
                  </a:lnTo>
                  <a:lnTo>
                    <a:pt x="14" y="1197"/>
                  </a:lnTo>
                  <a:close/>
                  <a:moveTo>
                    <a:pt x="14" y="1225"/>
                  </a:moveTo>
                  <a:lnTo>
                    <a:pt x="14" y="1239"/>
                  </a:lnTo>
                  <a:lnTo>
                    <a:pt x="0" y="1239"/>
                  </a:lnTo>
                  <a:lnTo>
                    <a:pt x="0" y="1225"/>
                  </a:lnTo>
                  <a:lnTo>
                    <a:pt x="14" y="1225"/>
                  </a:lnTo>
                  <a:close/>
                  <a:moveTo>
                    <a:pt x="14" y="1253"/>
                  </a:moveTo>
                  <a:lnTo>
                    <a:pt x="14" y="1267"/>
                  </a:lnTo>
                  <a:lnTo>
                    <a:pt x="0" y="1267"/>
                  </a:lnTo>
                  <a:lnTo>
                    <a:pt x="0" y="1253"/>
                  </a:lnTo>
                  <a:lnTo>
                    <a:pt x="14" y="1253"/>
                  </a:lnTo>
                  <a:close/>
                  <a:moveTo>
                    <a:pt x="14" y="1281"/>
                  </a:moveTo>
                  <a:lnTo>
                    <a:pt x="14" y="1294"/>
                  </a:lnTo>
                  <a:lnTo>
                    <a:pt x="0" y="1294"/>
                  </a:lnTo>
                  <a:lnTo>
                    <a:pt x="0" y="1281"/>
                  </a:lnTo>
                  <a:lnTo>
                    <a:pt x="14" y="1281"/>
                  </a:lnTo>
                  <a:close/>
                  <a:moveTo>
                    <a:pt x="14" y="1308"/>
                  </a:moveTo>
                  <a:lnTo>
                    <a:pt x="14" y="1322"/>
                  </a:lnTo>
                  <a:lnTo>
                    <a:pt x="0" y="1322"/>
                  </a:lnTo>
                  <a:lnTo>
                    <a:pt x="0" y="1308"/>
                  </a:lnTo>
                  <a:lnTo>
                    <a:pt x="14" y="1308"/>
                  </a:lnTo>
                  <a:close/>
                  <a:moveTo>
                    <a:pt x="14" y="1336"/>
                  </a:moveTo>
                  <a:lnTo>
                    <a:pt x="14" y="1350"/>
                  </a:lnTo>
                  <a:lnTo>
                    <a:pt x="0" y="1350"/>
                  </a:lnTo>
                  <a:lnTo>
                    <a:pt x="0" y="1336"/>
                  </a:lnTo>
                  <a:lnTo>
                    <a:pt x="14" y="1336"/>
                  </a:lnTo>
                  <a:close/>
                  <a:moveTo>
                    <a:pt x="14" y="1364"/>
                  </a:moveTo>
                  <a:lnTo>
                    <a:pt x="14" y="1378"/>
                  </a:lnTo>
                  <a:lnTo>
                    <a:pt x="0" y="1378"/>
                  </a:lnTo>
                  <a:lnTo>
                    <a:pt x="0" y="1364"/>
                  </a:lnTo>
                  <a:lnTo>
                    <a:pt x="14" y="1364"/>
                  </a:lnTo>
                  <a:close/>
                  <a:moveTo>
                    <a:pt x="14" y="1392"/>
                  </a:moveTo>
                  <a:lnTo>
                    <a:pt x="14" y="1406"/>
                  </a:lnTo>
                  <a:lnTo>
                    <a:pt x="0" y="1406"/>
                  </a:lnTo>
                  <a:lnTo>
                    <a:pt x="0" y="1392"/>
                  </a:lnTo>
                  <a:lnTo>
                    <a:pt x="14" y="1392"/>
                  </a:lnTo>
                  <a:close/>
                  <a:moveTo>
                    <a:pt x="14" y="1420"/>
                  </a:moveTo>
                  <a:lnTo>
                    <a:pt x="14" y="1434"/>
                  </a:lnTo>
                  <a:lnTo>
                    <a:pt x="0" y="1434"/>
                  </a:lnTo>
                  <a:lnTo>
                    <a:pt x="0" y="1420"/>
                  </a:lnTo>
                  <a:lnTo>
                    <a:pt x="14" y="1420"/>
                  </a:lnTo>
                  <a:close/>
                  <a:moveTo>
                    <a:pt x="14" y="1448"/>
                  </a:moveTo>
                  <a:lnTo>
                    <a:pt x="14" y="1461"/>
                  </a:lnTo>
                  <a:lnTo>
                    <a:pt x="0" y="1461"/>
                  </a:lnTo>
                  <a:lnTo>
                    <a:pt x="0" y="1448"/>
                  </a:lnTo>
                  <a:lnTo>
                    <a:pt x="14" y="1448"/>
                  </a:lnTo>
                  <a:close/>
                  <a:moveTo>
                    <a:pt x="14" y="1475"/>
                  </a:moveTo>
                  <a:lnTo>
                    <a:pt x="14" y="1489"/>
                  </a:lnTo>
                  <a:lnTo>
                    <a:pt x="0" y="1489"/>
                  </a:lnTo>
                  <a:lnTo>
                    <a:pt x="0" y="1475"/>
                  </a:lnTo>
                  <a:lnTo>
                    <a:pt x="14" y="1475"/>
                  </a:lnTo>
                  <a:close/>
                  <a:moveTo>
                    <a:pt x="14" y="1503"/>
                  </a:moveTo>
                  <a:lnTo>
                    <a:pt x="14" y="1517"/>
                  </a:lnTo>
                  <a:lnTo>
                    <a:pt x="0" y="1517"/>
                  </a:lnTo>
                  <a:lnTo>
                    <a:pt x="0" y="1503"/>
                  </a:lnTo>
                  <a:lnTo>
                    <a:pt x="14" y="1503"/>
                  </a:lnTo>
                  <a:close/>
                  <a:moveTo>
                    <a:pt x="14" y="1531"/>
                  </a:moveTo>
                  <a:lnTo>
                    <a:pt x="14" y="1545"/>
                  </a:lnTo>
                  <a:lnTo>
                    <a:pt x="0" y="1545"/>
                  </a:lnTo>
                  <a:lnTo>
                    <a:pt x="0" y="1531"/>
                  </a:lnTo>
                  <a:lnTo>
                    <a:pt x="14" y="1531"/>
                  </a:lnTo>
                  <a:close/>
                  <a:moveTo>
                    <a:pt x="14" y="1559"/>
                  </a:moveTo>
                  <a:lnTo>
                    <a:pt x="14" y="1573"/>
                  </a:lnTo>
                  <a:lnTo>
                    <a:pt x="0" y="1573"/>
                  </a:lnTo>
                  <a:lnTo>
                    <a:pt x="0" y="1559"/>
                  </a:lnTo>
                  <a:lnTo>
                    <a:pt x="14" y="1559"/>
                  </a:lnTo>
                  <a:close/>
                  <a:moveTo>
                    <a:pt x="14" y="1587"/>
                  </a:moveTo>
                  <a:lnTo>
                    <a:pt x="14" y="1601"/>
                  </a:lnTo>
                  <a:lnTo>
                    <a:pt x="0" y="1601"/>
                  </a:lnTo>
                  <a:lnTo>
                    <a:pt x="0" y="1587"/>
                  </a:lnTo>
                  <a:lnTo>
                    <a:pt x="14" y="1587"/>
                  </a:lnTo>
                  <a:close/>
                  <a:moveTo>
                    <a:pt x="14" y="1615"/>
                  </a:moveTo>
                  <a:lnTo>
                    <a:pt x="14" y="1628"/>
                  </a:lnTo>
                  <a:lnTo>
                    <a:pt x="0" y="1628"/>
                  </a:lnTo>
                  <a:lnTo>
                    <a:pt x="0" y="1615"/>
                  </a:lnTo>
                  <a:lnTo>
                    <a:pt x="14" y="1615"/>
                  </a:lnTo>
                  <a:close/>
                  <a:moveTo>
                    <a:pt x="14" y="1642"/>
                  </a:moveTo>
                  <a:lnTo>
                    <a:pt x="14" y="1656"/>
                  </a:lnTo>
                  <a:lnTo>
                    <a:pt x="0" y="1656"/>
                  </a:lnTo>
                  <a:lnTo>
                    <a:pt x="0" y="1642"/>
                  </a:lnTo>
                  <a:lnTo>
                    <a:pt x="14" y="1642"/>
                  </a:lnTo>
                  <a:close/>
                  <a:moveTo>
                    <a:pt x="14" y="1670"/>
                  </a:moveTo>
                  <a:lnTo>
                    <a:pt x="14" y="1684"/>
                  </a:lnTo>
                  <a:lnTo>
                    <a:pt x="0" y="1684"/>
                  </a:lnTo>
                  <a:lnTo>
                    <a:pt x="0" y="1670"/>
                  </a:lnTo>
                  <a:lnTo>
                    <a:pt x="14" y="1670"/>
                  </a:lnTo>
                  <a:close/>
                  <a:moveTo>
                    <a:pt x="14" y="1698"/>
                  </a:moveTo>
                  <a:lnTo>
                    <a:pt x="14" y="1712"/>
                  </a:lnTo>
                  <a:lnTo>
                    <a:pt x="0" y="1712"/>
                  </a:lnTo>
                  <a:lnTo>
                    <a:pt x="0" y="1698"/>
                  </a:lnTo>
                  <a:lnTo>
                    <a:pt x="14" y="1698"/>
                  </a:lnTo>
                  <a:close/>
                  <a:moveTo>
                    <a:pt x="14" y="1726"/>
                  </a:moveTo>
                  <a:lnTo>
                    <a:pt x="14" y="1740"/>
                  </a:lnTo>
                  <a:lnTo>
                    <a:pt x="0" y="1740"/>
                  </a:lnTo>
                  <a:lnTo>
                    <a:pt x="0" y="1726"/>
                  </a:lnTo>
                  <a:lnTo>
                    <a:pt x="14" y="1726"/>
                  </a:lnTo>
                  <a:close/>
                  <a:moveTo>
                    <a:pt x="14" y="1754"/>
                  </a:moveTo>
                  <a:lnTo>
                    <a:pt x="14" y="1768"/>
                  </a:lnTo>
                  <a:lnTo>
                    <a:pt x="0" y="1768"/>
                  </a:lnTo>
                  <a:lnTo>
                    <a:pt x="0" y="1754"/>
                  </a:lnTo>
                  <a:lnTo>
                    <a:pt x="14" y="1754"/>
                  </a:lnTo>
                  <a:close/>
                  <a:moveTo>
                    <a:pt x="14" y="1782"/>
                  </a:moveTo>
                  <a:lnTo>
                    <a:pt x="14" y="1795"/>
                  </a:lnTo>
                  <a:lnTo>
                    <a:pt x="0" y="1795"/>
                  </a:lnTo>
                  <a:lnTo>
                    <a:pt x="0" y="1782"/>
                  </a:lnTo>
                  <a:lnTo>
                    <a:pt x="14" y="1782"/>
                  </a:lnTo>
                  <a:close/>
                  <a:moveTo>
                    <a:pt x="14" y="1809"/>
                  </a:moveTo>
                  <a:lnTo>
                    <a:pt x="14" y="1823"/>
                  </a:lnTo>
                  <a:lnTo>
                    <a:pt x="0" y="1823"/>
                  </a:lnTo>
                  <a:lnTo>
                    <a:pt x="0" y="1809"/>
                  </a:lnTo>
                  <a:lnTo>
                    <a:pt x="14" y="1809"/>
                  </a:lnTo>
                  <a:close/>
                  <a:moveTo>
                    <a:pt x="14" y="1837"/>
                  </a:moveTo>
                  <a:lnTo>
                    <a:pt x="14" y="1851"/>
                  </a:lnTo>
                  <a:lnTo>
                    <a:pt x="0" y="1851"/>
                  </a:lnTo>
                  <a:lnTo>
                    <a:pt x="0" y="1837"/>
                  </a:lnTo>
                  <a:lnTo>
                    <a:pt x="14" y="1837"/>
                  </a:lnTo>
                  <a:close/>
                  <a:moveTo>
                    <a:pt x="14" y="1865"/>
                  </a:moveTo>
                  <a:lnTo>
                    <a:pt x="14" y="1879"/>
                  </a:lnTo>
                  <a:lnTo>
                    <a:pt x="0" y="1879"/>
                  </a:lnTo>
                  <a:lnTo>
                    <a:pt x="0" y="1865"/>
                  </a:lnTo>
                  <a:lnTo>
                    <a:pt x="14" y="1865"/>
                  </a:lnTo>
                  <a:close/>
                  <a:moveTo>
                    <a:pt x="14" y="1893"/>
                  </a:moveTo>
                  <a:lnTo>
                    <a:pt x="14" y="1907"/>
                  </a:lnTo>
                  <a:lnTo>
                    <a:pt x="0" y="1907"/>
                  </a:lnTo>
                  <a:lnTo>
                    <a:pt x="0" y="1893"/>
                  </a:lnTo>
                  <a:lnTo>
                    <a:pt x="14" y="1893"/>
                  </a:lnTo>
                  <a:close/>
                  <a:moveTo>
                    <a:pt x="14" y="1921"/>
                  </a:moveTo>
                  <a:lnTo>
                    <a:pt x="14" y="1935"/>
                  </a:lnTo>
                  <a:lnTo>
                    <a:pt x="0" y="1935"/>
                  </a:lnTo>
                  <a:lnTo>
                    <a:pt x="0" y="1921"/>
                  </a:lnTo>
                  <a:lnTo>
                    <a:pt x="14" y="1921"/>
                  </a:lnTo>
                  <a:close/>
                  <a:moveTo>
                    <a:pt x="14" y="1949"/>
                  </a:moveTo>
                  <a:lnTo>
                    <a:pt x="14" y="1962"/>
                  </a:lnTo>
                  <a:lnTo>
                    <a:pt x="0" y="1962"/>
                  </a:lnTo>
                  <a:lnTo>
                    <a:pt x="0" y="1949"/>
                  </a:lnTo>
                  <a:lnTo>
                    <a:pt x="14" y="1949"/>
                  </a:lnTo>
                  <a:close/>
                  <a:moveTo>
                    <a:pt x="14" y="1976"/>
                  </a:moveTo>
                  <a:lnTo>
                    <a:pt x="14" y="1990"/>
                  </a:lnTo>
                  <a:lnTo>
                    <a:pt x="0" y="1990"/>
                  </a:lnTo>
                  <a:lnTo>
                    <a:pt x="0" y="1976"/>
                  </a:lnTo>
                  <a:lnTo>
                    <a:pt x="14" y="1976"/>
                  </a:lnTo>
                  <a:close/>
                  <a:moveTo>
                    <a:pt x="14" y="2004"/>
                  </a:moveTo>
                  <a:lnTo>
                    <a:pt x="14" y="2018"/>
                  </a:lnTo>
                  <a:lnTo>
                    <a:pt x="0" y="2018"/>
                  </a:lnTo>
                  <a:lnTo>
                    <a:pt x="0" y="2004"/>
                  </a:lnTo>
                  <a:lnTo>
                    <a:pt x="14" y="2004"/>
                  </a:lnTo>
                  <a:close/>
                  <a:moveTo>
                    <a:pt x="14" y="2032"/>
                  </a:moveTo>
                  <a:lnTo>
                    <a:pt x="14" y="2046"/>
                  </a:lnTo>
                  <a:lnTo>
                    <a:pt x="0" y="2046"/>
                  </a:lnTo>
                  <a:lnTo>
                    <a:pt x="0" y="2032"/>
                  </a:lnTo>
                  <a:lnTo>
                    <a:pt x="14" y="2032"/>
                  </a:lnTo>
                  <a:close/>
                  <a:moveTo>
                    <a:pt x="14" y="2060"/>
                  </a:moveTo>
                  <a:lnTo>
                    <a:pt x="14" y="2074"/>
                  </a:lnTo>
                  <a:lnTo>
                    <a:pt x="0" y="2074"/>
                  </a:lnTo>
                  <a:lnTo>
                    <a:pt x="0" y="2060"/>
                  </a:lnTo>
                  <a:lnTo>
                    <a:pt x="14" y="2060"/>
                  </a:lnTo>
                  <a:close/>
                  <a:moveTo>
                    <a:pt x="14" y="2087"/>
                  </a:moveTo>
                  <a:lnTo>
                    <a:pt x="14" y="2102"/>
                  </a:lnTo>
                  <a:lnTo>
                    <a:pt x="0" y="2102"/>
                  </a:lnTo>
                  <a:lnTo>
                    <a:pt x="0" y="2087"/>
                  </a:lnTo>
                  <a:lnTo>
                    <a:pt x="14" y="2087"/>
                  </a:lnTo>
                  <a:close/>
                  <a:moveTo>
                    <a:pt x="14" y="2116"/>
                  </a:moveTo>
                  <a:lnTo>
                    <a:pt x="14" y="2129"/>
                  </a:lnTo>
                  <a:lnTo>
                    <a:pt x="0" y="2129"/>
                  </a:lnTo>
                  <a:lnTo>
                    <a:pt x="0" y="2116"/>
                  </a:lnTo>
                  <a:lnTo>
                    <a:pt x="14" y="2116"/>
                  </a:lnTo>
                  <a:close/>
                  <a:moveTo>
                    <a:pt x="14" y="2143"/>
                  </a:moveTo>
                  <a:lnTo>
                    <a:pt x="14" y="2157"/>
                  </a:lnTo>
                  <a:lnTo>
                    <a:pt x="0" y="2157"/>
                  </a:lnTo>
                  <a:lnTo>
                    <a:pt x="0" y="2143"/>
                  </a:lnTo>
                  <a:lnTo>
                    <a:pt x="14" y="2143"/>
                  </a:lnTo>
                  <a:close/>
                  <a:moveTo>
                    <a:pt x="14" y="2171"/>
                  </a:moveTo>
                  <a:lnTo>
                    <a:pt x="14" y="2185"/>
                  </a:lnTo>
                  <a:lnTo>
                    <a:pt x="0" y="2185"/>
                  </a:lnTo>
                  <a:lnTo>
                    <a:pt x="0" y="2171"/>
                  </a:lnTo>
                  <a:lnTo>
                    <a:pt x="14" y="2171"/>
                  </a:lnTo>
                  <a:close/>
                  <a:moveTo>
                    <a:pt x="14" y="2199"/>
                  </a:moveTo>
                  <a:lnTo>
                    <a:pt x="14" y="2213"/>
                  </a:lnTo>
                  <a:lnTo>
                    <a:pt x="0" y="2213"/>
                  </a:lnTo>
                  <a:lnTo>
                    <a:pt x="0" y="2199"/>
                  </a:lnTo>
                  <a:lnTo>
                    <a:pt x="14" y="2199"/>
                  </a:lnTo>
                  <a:close/>
                  <a:moveTo>
                    <a:pt x="14" y="2227"/>
                  </a:moveTo>
                  <a:lnTo>
                    <a:pt x="14" y="2241"/>
                  </a:lnTo>
                  <a:lnTo>
                    <a:pt x="0" y="2241"/>
                  </a:lnTo>
                  <a:lnTo>
                    <a:pt x="0" y="2227"/>
                  </a:lnTo>
                  <a:lnTo>
                    <a:pt x="14" y="2227"/>
                  </a:lnTo>
                  <a:close/>
                  <a:moveTo>
                    <a:pt x="14" y="2254"/>
                  </a:moveTo>
                  <a:lnTo>
                    <a:pt x="14" y="2268"/>
                  </a:lnTo>
                  <a:lnTo>
                    <a:pt x="0" y="2268"/>
                  </a:lnTo>
                  <a:lnTo>
                    <a:pt x="0" y="2254"/>
                  </a:lnTo>
                  <a:lnTo>
                    <a:pt x="14" y="2254"/>
                  </a:lnTo>
                  <a:close/>
                  <a:moveTo>
                    <a:pt x="14" y="2283"/>
                  </a:moveTo>
                  <a:lnTo>
                    <a:pt x="14" y="2296"/>
                  </a:lnTo>
                  <a:lnTo>
                    <a:pt x="0" y="2296"/>
                  </a:lnTo>
                  <a:lnTo>
                    <a:pt x="0" y="2283"/>
                  </a:lnTo>
                  <a:lnTo>
                    <a:pt x="14" y="2283"/>
                  </a:lnTo>
                  <a:close/>
                  <a:moveTo>
                    <a:pt x="14" y="2310"/>
                  </a:moveTo>
                  <a:lnTo>
                    <a:pt x="14" y="2324"/>
                  </a:lnTo>
                  <a:lnTo>
                    <a:pt x="0" y="2324"/>
                  </a:lnTo>
                  <a:lnTo>
                    <a:pt x="0" y="2310"/>
                  </a:lnTo>
                  <a:lnTo>
                    <a:pt x="14" y="2310"/>
                  </a:lnTo>
                  <a:close/>
                  <a:moveTo>
                    <a:pt x="14" y="2338"/>
                  </a:moveTo>
                  <a:lnTo>
                    <a:pt x="14" y="2352"/>
                  </a:lnTo>
                  <a:lnTo>
                    <a:pt x="0" y="2352"/>
                  </a:lnTo>
                  <a:lnTo>
                    <a:pt x="0" y="2338"/>
                  </a:lnTo>
                  <a:lnTo>
                    <a:pt x="14" y="2338"/>
                  </a:lnTo>
                  <a:close/>
                  <a:moveTo>
                    <a:pt x="14" y="2366"/>
                  </a:moveTo>
                  <a:lnTo>
                    <a:pt x="14" y="2380"/>
                  </a:lnTo>
                  <a:lnTo>
                    <a:pt x="0" y="2380"/>
                  </a:lnTo>
                  <a:lnTo>
                    <a:pt x="0" y="2366"/>
                  </a:lnTo>
                  <a:lnTo>
                    <a:pt x="14" y="2366"/>
                  </a:lnTo>
                  <a:close/>
                  <a:moveTo>
                    <a:pt x="14" y="2394"/>
                  </a:moveTo>
                  <a:lnTo>
                    <a:pt x="14" y="2408"/>
                  </a:lnTo>
                  <a:lnTo>
                    <a:pt x="0" y="2408"/>
                  </a:lnTo>
                  <a:lnTo>
                    <a:pt x="0" y="2394"/>
                  </a:lnTo>
                  <a:lnTo>
                    <a:pt x="14" y="2394"/>
                  </a:lnTo>
                  <a:close/>
                  <a:moveTo>
                    <a:pt x="14" y="2421"/>
                  </a:moveTo>
                  <a:lnTo>
                    <a:pt x="14" y="2435"/>
                  </a:lnTo>
                  <a:lnTo>
                    <a:pt x="0" y="2435"/>
                  </a:lnTo>
                  <a:lnTo>
                    <a:pt x="0" y="2421"/>
                  </a:lnTo>
                  <a:lnTo>
                    <a:pt x="14" y="2421"/>
                  </a:lnTo>
                  <a:close/>
                  <a:moveTo>
                    <a:pt x="14" y="2449"/>
                  </a:moveTo>
                  <a:lnTo>
                    <a:pt x="14" y="2453"/>
                  </a:lnTo>
                  <a:lnTo>
                    <a:pt x="0" y="2453"/>
                  </a:lnTo>
                  <a:lnTo>
                    <a:pt x="0" y="2449"/>
                  </a:lnTo>
                  <a:lnTo>
                    <a:pt x="14" y="2449"/>
                  </a:lnTo>
                  <a:close/>
                </a:path>
              </a:pathLst>
            </a:custGeom>
            <a:solidFill>
              <a:srgbClr val="000000"/>
            </a:solidFill>
            <a:ln w="0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487" name="Freeform 29">
              <a:extLst>
                <a:ext uri="{FF2B5EF4-FFF2-40B4-BE49-F238E27FC236}">
                  <a16:creationId xmlns:a16="http://schemas.microsoft.com/office/drawing/2014/main" id="{627D0B84-6A75-D470-21A4-8E6D37F5C62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853776" y="3078501"/>
              <a:ext cx="18000" cy="3726773"/>
            </a:xfrm>
            <a:custGeom>
              <a:avLst/>
              <a:gdLst>
                <a:gd name="T0" fmla="*/ 15 w 15"/>
                <a:gd name="T1" fmla="*/ 42 h 2453"/>
                <a:gd name="T2" fmla="*/ 0 w 15"/>
                <a:gd name="T3" fmla="*/ 56 h 2453"/>
                <a:gd name="T4" fmla="*/ 15 w 15"/>
                <a:gd name="T5" fmla="*/ 112 h 2453"/>
                <a:gd name="T6" fmla="*/ 0 w 15"/>
                <a:gd name="T7" fmla="*/ 154 h 2453"/>
                <a:gd name="T8" fmla="*/ 15 w 15"/>
                <a:gd name="T9" fmla="*/ 167 h 2453"/>
                <a:gd name="T10" fmla="*/ 15 w 15"/>
                <a:gd name="T11" fmla="*/ 237 h 2453"/>
                <a:gd name="T12" fmla="*/ 0 w 15"/>
                <a:gd name="T13" fmla="*/ 251 h 2453"/>
                <a:gd name="T14" fmla="*/ 15 w 15"/>
                <a:gd name="T15" fmla="*/ 307 h 2453"/>
                <a:gd name="T16" fmla="*/ 0 w 15"/>
                <a:gd name="T17" fmla="*/ 348 h 2453"/>
                <a:gd name="T18" fmla="*/ 15 w 15"/>
                <a:gd name="T19" fmla="*/ 362 h 2453"/>
                <a:gd name="T20" fmla="*/ 15 w 15"/>
                <a:gd name="T21" fmla="*/ 432 h 2453"/>
                <a:gd name="T22" fmla="*/ 0 w 15"/>
                <a:gd name="T23" fmla="*/ 446 h 2453"/>
                <a:gd name="T24" fmla="*/ 15 w 15"/>
                <a:gd name="T25" fmla="*/ 501 h 2453"/>
                <a:gd name="T26" fmla="*/ 0 w 15"/>
                <a:gd name="T27" fmla="*/ 543 h 2453"/>
                <a:gd name="T28" fmla="*/ 15 w 15"/>
                <a:gd name="T29" fmla="*/ 557 h 2453"/>
                <a:gd name="T30" fmla="*/ 15 w 15"/>
                <a:gd name="T31" fmla="*/ 627 h 2453"/>
                <a:gd name="T32" fmla="*/ 0 w 15"/>
                <a:gd name="T33" fmla="*/ 641 h 2453"/>
                <a:gd name="T34" fmla="*/ 15 w 15"/>
                <a:gd name="T35" fmla="*/ 696 h 2453"/>
                <a:gd name="T36" fmla="*/ 0 w 15"/>
                <a:gd name="T37" fmla="*/ 738 h 2453"/>
                <a:gd name="T38" fmla="*/ 15 w 15"/>
                <a:gd name="T39" fmla="*/ 752 h 2453"/>
                <a:gd name="T40" fmla="*/ 15 w 15"/>
                <a:gd name="T41" fmla="*/ 822 h 2453"/>
                <a:gd name="T42" fmla="*/ 0 w 15"/>
                <a:gd name="T43" fmla="*/ 835 h 2453"/>
                <a:gd name="T44" fmla="*/ 15 w 15"/>
                <a:gd name="T45" fmla="*/ 891 h 2453"/>
                <a:gd name="T46" fmla="*/ 0 w 15"/>
                <a:gd name="T47" fmla="*/ 933 h 2453"/>
                <a:gd name="T48" fmla="*/ 15 w 15"/>
                <a:gd name="T49" fmla="*/ 947 h 2453"/>
                <a:gd name="T50" fmla="*/ 15 w 15"/>
                <a:gd name="T51" fmla="*/ 1016 h 2453"/>
                <a:gd name="T52" fmla="*/ 0 w 15"/>
                <a:gd name="T53" fmla="*/ 1030 h 2453"/>
                <a:gd name="T54" fmla="*/ 15 w 15"/>
                <a:gd name="T55" fmla="*/ 1086 h 2453"/>
                <a:gd name="T56" fmla="*/ 0 w 15"/>
                <a:gd name="T57" fmla="*/ 1127 h 2453"/>
                <a:gd name="T58" fmla="*/ 15 w 15"/>
                <a:gd name="T59" fmla="*/ 1141 h 2453"/>
                <a:gd name="T60" fmla="*/ 15 w 15"/>
                <a:gd name="T61" fmla="*/ 1211 h 2453"/>
                <a:gd name="T62" fmla="*/ 0 w 15"/>
                <a:gd name="T63" fmla="*/ 1225 h 2453"/>
                <a:gd name="T64" fmla="*/ 15 w 15"/>
                <a:gd name="T65" fmla="*/ 1281 h 2453"/>
                <a:gd name="T66" fmla="*/ 0 w 15"/>
                <a:gd name="T67" fmla="*/ 1322 h 2453"/>
                <a:gd name="T68" fmla="*/ 15 w 15"/>
                <a:gd name="T69" fmla="*/ 1336 h 2453"/>
                <a:gd name="T70" fmla="*/ 15 w 15"/>
                <a:gd name="T71" fmla="*/ 1406 h 2453"/>
                <a:gd name="T72" fmla="*/ 0 w 15"/>
                <a:gd name="T73" fmla="*/ 1420 h 2453"/>
                <a:gd name="T74" fmla="*/ 15 w 15"/>
                <a:gd name="T75" fmla="*/ 1475 h 2453"/>
                <a:gd name="T76" fmla="*/ 0 w 15"/>
                <a:gd name="T77" fmla="*/ 1517 h 2453"/>
                <a:gd name="T78" fmla="*/ 15 w 15"/>
                <a:gd name="T79" fmla="*/ 1531 h 2453"/>
                <a:gd name="T80" fmla="*/ 15 w 15"/>
                <a:gd name="T81" fmla="*/ 1601 h 2453"/>
                <a:gd name="T82" fmla="*/ 0 w 15"/>
                <a:gd name="T83" fmla="*/ 1615 h 2453"/>
                <a:gd name="T84" fmla="*/ 15 w 15"/>
                <a:gd name="T85" fmla="*/ 1670 h 2453"/>
                <a:gd name="T86" fmla="*/ 0 w 15"/>
                <a:gd name="T87" fmla="*/ 1712 h 2453"/>
                <a:gd name="T88" fmla="*/ 15 w 15"/>
                <a:gd name="T89" fmla="*/ 1726 h 2453"/>
                <a:gd name="T90" fmla="*/ 15 w 15"/>
                <a:gd name="T91" fmla="*/ 1795 h 2453"/>
                <a:gd name="T92" fmla="*/ 0 w 15"/>
                <a:gd name="T93" fmla="*/ 1809 h 2453"/>
                <a:gd name="T94" fmla="*/ 15 w 15"/>
                <a:gd name="T95" fmla="*/ 1865 h 2453"/>
                <a:gd name="T96" fmla="*/ 0 w 15"/>
                <a:gd name="T97" fmla="*/ 1907 h 2453"/>
                <a:gd name="T98" fmla="*/ 15 w 15"/>
                <a:gd name="T99" fmla="*/ 1921 h 2453"/>
                <a:gd name="T100" fmla="*/ 15 w 15"/>
                <a:gd name="T101" fmla="*/ 1990 h 2453"/>
                <a:gd name="T102" fmla="*/ 0 w 15"/>
                <a:gd name="T103" fmla="*/ 2004 h 2453"/>
                <a:gd name="T104" fmla="*/ 15 w 15"/>
                <a:gd name="T105" fmla="*/ 2060 h 2453"/>
                <a:gd name="T106" fmla="*/ 0 w 15"/>
                <a:gd name="T107" fmla="*/ 2102 h 2453"/>
                <a:gd name="T108" fmla="*/ 15 w 15"/>
                <a:gd name="T109" fmla="*/ 2116 h 2453"/>
                <a:gd name="T110" fmla="*/ 15 w 15"/>
                <a:gd name="T111" fmla="*/ 2185 h 2453"/>
                <a:gd name="T112" fmla="*/ 0 w 15"/>
                <a:gd name="T113" fmla="*/ 2199 h 2453"/>
                <a:gd name="T114" fmla="*/ 15 w 15"/>
                <a:gd name="T115" fmla="*/ 2254 h 2453"/>
                <a:gd name="T116" fmla="*/ 0 w 15"/>
                <a:gd name="T117" fmla="*/ 2296 h 2453"/>
                <a:gd name="T118" fmla="*/ 15 w 15"/>
                <a:gd name="T119" fmla="*/ 2310 h 2453"/>
                <a:gd name="T120" fmla="*/ 15 w 15"/>
                <a:gd name="T121" fmla="*/ 2380 h 2453"/>
                <a:gd name="T122" fmla="*/ 0 w 15"/>
                <a:gd name="T123" fmla="*/ 2394 h 2453"/>
                <a:gd name="T124" fmla="*/ 15 w 15"/>
                <a:gd name="T125" fmla="*/ 2449 h 24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5" h="2453">
                  <a:moveTo>
                    <a:pt x="15" y="0"/>
                  </a:moveTo>
                  <a:lnTo>
                    <a:pt x="15" y="14"/>
                  </a:lnTo>
                  <a:lnTo>
                    <a:pt x="0" y="14"/>
                  </a:lnTo>
                  <a:lnTo>
                    <a:pt x="0" y="0"/>
                  </a:lnTo>
                  <a:lnTo>
                    <a:pt x="15" y="0"/>
                  </a:lnTo>
                  <a:close/>
                  <a:moveTo>
                    <a:pt x="15" y="28"/>
                  </a:moveTo>
                  <a:lnTo>
                    <a:pt x="15" y="42"/>
                  </a:lnTo>
                  <a:lnTo>
                    <a:pt x="0" y="42"/>
                  </a:lnTo>
                  <a:lnTo>
                    <a:pt x="0" y="28"/>
                  </a:lnTo>
                  <a:lnTo>
                    <a:pt x="15" y="28"/>
                  </a:lnTo>
                  <a:close/>
                  <a:moveTo>
                    <a:pt x="15" y="56"/>
                  </a:moveTo>
                  <a:lnTo>
                    <a:pt x="15" y="70"/>
                  </a:lnTo>
                  <a:lnTo>
                    <a:pt x="0" y="70"/>
                  </a:lnTo>
                  <a:lnTo>
                    <a:pt x="0" y="56"/>
                  </a:lnTo>
                  <a:lnTo>
                    <a:pt x="15" y="56"/>
                  </a:lnTo>
                  <a:close/>
                  <a:moveTo>
                    <a:pt x="15" y="84"/>
                  </a:moveTo>
                  <a:lnTo>
                    <a:pt x="15" y="98"/>
                  </a:lnTo>
                  <a:lnTo>
                    <a:pt x="0" y="98"/>
                  </a:lnTo>
                  <a:lnTo>
                    <a:pt x="0" y="84"/>
                  </a:lnTo>
                  <a:lnTo>
                    <a:pt x="15" y="84"/>
                  </a:lnTo>
                  <a:close/>
                  <a:moveTo>
                    <a:pt x="15" y="112"/>
                  </a:moveTo>
                  <a:lnTo>
                    <a:pt x="15" y="126"/>
                  </a:lnTo>
                  <a:lnTo>
                    <a:pt x="0" y="126"/>
                  </a:lnTo>
                  <a:lnTo>
                    <a:pt x="0" y="112"/>
                  </a:lnTo>
                  <a:lnTo>
                    <a:pt x="15" y="112"/>
                  </a:lnTo>
                  <a:close/>
                  <a:moveTo>
                    <a:pt x="15" y="140"/>
                  </a:moveTo>
                  <a:lnTo>
                    <a:pt x="15" y="154"/>
                  </a:lnTo>
                  <a:lnTo>
                    <a:pt x="0" y="154"/>
                  </a:lnTo>
                  <a:lnTo>
                    <a:pt x="0" y="140"/>
                  </a:lnTo>
                  <a:lnTo>
                    <a:pt x="15" y="140"/>
                  </a:lnTo>
                  <a:close/>
                  <a:moveTo>
                    <a:pt x="15" y="167"/>
                  </a:moveTo>
                  <a:lnTo>
                    <a:pt x="15" y="181"/>
                  </a:lnTo>
                  <a:lnTo>
                    <a:pt x="0" y="181"/>
                  </a:lnTo>
                  <a:lnTo>
                    <a:pt x="0" y="167"/>
                  </a:lnTo>
                  <a:lnTo>
                    <a:pt x="15" y="167"/>
                  </a:lnTo>
                  <a:close/>
                  <a:moveTo>
                    <a:pt x="15" y="195"/>
                  </a:moveTo>
                  <a:lnTo>
                    <a:pt x="15" y="209"/>
                  </a:lnTo>
                  <a:lnTo>
                    <a:pt x="0" y="209"/>
                  </a:lnTo>
                  <a:lnTo>
                    <a:pt x="0" y="195"/>
                  </a:lnTo>
                  <a:lnTo>
                    <a:pt x="15" y="195"/>
                  </a:lnTo>
                  <a:close/>
                  <a:moveTo>
                    <a:pt x="15" y="223"/>
                  </a:moveTo>
                  <a:lnTo>
                    <a:pt x="15" y="237"/>
                  </a:lnTo>
                  <a:lnTo>
                    <a:pt x="0" y="237"/>
                  </a:lnTo>
                  <a:lnTo>
                    <a:pt x="0" y="223"/>
                  </a:lnTo>
                  <a:lnTo>
                    <a:pt x="15" y="223"/>
                  </a:lnTo>
                  <a:close/>
                  <a:moveTo>
                    <a:pt x="15" y="251"/>
                  </a:moveTo>
                  <a:lnTo>
                    <a:pt x="15" y="265"/>
                  </a:lnTo>
                  <a:lnTo>
                    <a:pt x="0" y="265"/>
                  </a:lnTo>
                  <a:lnTo>
                    <a:pt x="0" y="251"/>
                  </a:lnTo>
                  <a:lnTo>
                    <a:pt x="15" y="251"/>
                  </a:lnTo>
                  <a:close/>
                  <a:moveTo>
                    <a:pt x="15" y="279"/>
                  </a:moveTo>
                  <a:lnTo>
                    <a:pt x="15" y="293"/>
                  </a:lnTo>
                  <a:lnTo>
                    <a:pt x="0" y="293"/>
                  </a:lnTo>
                  <a:lnTo>
                    <a:pt x="0" y="279"/>
                  </a:lnTo>
                  <a:lnTo>
                    <a:pt x="15" y="279"/>
                  </a:lnTo>
                  <a:close/>
                  <a:moveTo>
                    <a:pt x="15" y="307"/>
                  </a:moveTo>
                  <a:lnTo>
                    <a:pt x="15" y="321"/>
                  </a:lnTo>
                  <a:lnTo>
                    <a:pt x="0" y="321"/>
                  </a:lnTo>
                  <a:lnTo>
                    <a:pt x="0" y="307"/>
                  </a:lnTo>
                  <a:lnTo>
                    <a:pt x="15" y="307"/>
                  </a:lnTo>
                  <a:close/>
                  <a:moveTo>
                    <a:pt x="15" y="334"/>
                  </a:moveTo>
                  <a:lnTo>
                    <a:pt x="15" y="348"/>
                  </a:lnTo>
                  <a:lnTo>
                    <a:pt x="0" y="348"/>
                  </a:lnTo>
                  <a:lnTo>
                    <a:pt x="0" y="334"/>
                  </a:lnTo>
                  <a:lnTo>
                    <a:pt x="15" y="334"/>
                  </a:lnTo>
                  <a:close/>
                  <a:moveTo>
                    <a:pt x="15" y="362"/>
                  </a:moveTo>
                  <a:lnTo>
                    <a:pt x="15" y="376"/>
                  </a:lnTo>
                  <a:lnTo>
                    <a:pt x="0" y="376"/>
                  </a:lnTo>
                  <a:lnTo>
                    <a:pt x="0" y="362"/>
                  </a:lnTo>
                  <a:lnTo>
                    <a:pt x="15" y="362"/>
                  </a:lnTo>
                  <a:close/>
                  <a:moveTo>
                    <a:pt x="15" y="390"/>
                  </a:moveTo>
                  <a:lnTo>
                    <a:pt x="15" y="404"/>
                  </a:lnTo>
                  <a:lnTo>
                    <a:pt x="0" y="404"/>
                  </a:lnTo>
                  <a:lnTo>
                    <a:pt x="0" y="390"/>
                  </a:lnTo>
                  <a:lnTo>
                    <a:pt x="15" y="390"/>
                  </a:lnTo>
                  <a:close/>
                  <a:moveTo>
                    <a:pt x="15" y="418"/>
                  </a:moveTo>
                  <a:lnTo>
                    <a:pt x="15" y="432"/>
                  </a:lnTo>
                  <a:lnTo>
                    <a:pt x="0" y="432"/>
                  </a:lnTo>
                  <a:lnTo>
                    <a:pt x="0" y="418"/>
                  </a:lnTo>
                  <a:lnTo>
                    <a:pt x="15" y="418"/>
                  </a:lnTo>
                  <a:close/>
                  <a:moveTo>
                    <a:pt x="15" y="446"/>
                  </a:moveTo>
                  <a:lnTo>
                    <a:pt x="15" y="460"/>
                  </a:lnTo>
                  <a:lnTo>
                    <a:pt x="0" y="460"/>
                  </a:lnTo>
                  <a:lnTo>
                    <a:pt x="0" y="446"/>
                  </a:lnTo>
                  <a:lnTo>
                    <a:pt x="15" y="446"/>
                  </a:lnTo>
                  <a:close/>
                  <a:moveTo>
                    <a:pt x="15" y="474"/>
                  </a:moveTo>
                  <a:lnTo>
                    <a:pt x="15" y="488"/>
                  </a:lnTo>
                  <a:lnTo>
                    <a:pt x="0" y="488"/>
                  </a:lnTo>
                  <a:lnTo>
                    <a:pt x="0" y="474"/>
                  </a:lnTo>
                  <a:lnTo>
                    <a:pt x="15" y="474"/>
                  </a:lnTo>
                  <a:close/>
                  <a:moveTo>
                    <a:pt x="15" y="501"/>
                  </a:moveTo>
                  <a:lnTo>
                    <a:pt x="15" y="515"/>
                  </a:lnTo>
                  <a:lnTo>
                    <a:pt x="0" y="515"/>
                  </a:lnTo>
                  <a:lnTo>
                    <a:pt x="0" y="501"/>
                  </a:lnTo>
                  <a:lnTo>
                    <a:pt x="15" y="501"/>
                  </a:lnTo>
                  <a:close/>
                  <a:moveTo>
                    <a:pt x="15" y="529"/>
                  </a:moveTo>
                  <a:lnTo>
                    <a:pt x="15" y="543"/>
                  </a:lnTo>
                  <a:lnTo>
                    <a:pt x="0" y="543"/>
                  </a:lnTo>
                  <a:lnTo>
                    <a:pt x="0" y="529"/>
                  </a:lnTo>
                  <a:lnTo>
                    <a:pt x="15" y="529"/>
                  </a:lnTo>
                  <a:close/>
                  <a:moveTo>
                    <a:pt x="15" y="557"/>
                  </a:moveTo>
                  <a:lnTo>
                    <a:pt x="15" y="571"/>
                  </a:lnTo>
                  <a:lnTo>
                    <a:pt x="0" y="571"/>
                  </a:lnTo>
                  <a:lnTo>
                    <a:pt x="0" y="557"/>
                  </a:lnTo>
                  <a:lnTo>
                    <a:pt x="15" y="557"/>
                  </a:lnTo>
                  <a:close/>
                  <a:moveTo>
                    <a:pt x="15" y="585"/>
                  </a:moveTo>
                  <a:lnTo>
                    <a:pt x="15" y="599"/>
                  </a:lnTo>
                  <a:lnTo>
                    <a:pt x="0" y="599"/>
                  </a:lnTo>
                  <a:lnTo>
                    <a:pt x="0" y="585"/>
                  </a:lnTo>
                  <a:lnTo>
                    <a:pt x="15" y="585"/>
                  </a:lnTo>
                  <a:close/>
                  <a:moveTo>
                    <a:pt x="15" y="613"/>
                  </a:moveTo>
                  <a:lnTo>
                    <a:pt x="15" y="627"/>
                  </a:lnTo>
                  <a:lnTo>
                    <a:pt x="0" y="627"/>
                  </a:lnTo>
                  <a:lnTo>
                    <a:pt x="0" y="613"/>
                  </a:lnTo>
                  <a:lnTo>
                    <a:pt x="15" y="613"/>
                  </a:lnTo>
                  <a:close/>
                  <a:moveTo>
                    <a:pt x="15" y="641"/>
                  </a:moveTo>
                  <a:lnTo>
                    <a:pt x="15" y="655"/>
                  </a:lnTo>
                  <a:lnTo>
                    <a:pt x="0" y="655"/>
                  </a:lnTo>
                  <a:lnTo>
                    <a:pt x="0" y="641"/>
                  </a:lnTo>
                  <a:lnTo>
                    <a:pt x="15" y="641"/>
                  </a:lnTo>
                  <a:close/>
                  <a:moveTo>
                    <a:pt x="15" y="668"/>
                  </a:moveTo>
                  <a:lnTo>
                    <a:pt x="15" y="682"/>
                  </a:lnTo>
                  <a:lnTo>
                    <a:pt x="0" y="682"/>
                  </a:lnTo>
                  <a:lnTo>
                    <a:pt x="0" y="668"/>
                  </a:lnTo>
                  <a:lnTo>
                    <a:pt x="15" y="668"/>
                  </a:lnTo>
                  <a:close/>
                  <a:moveTo>
                    <a:pt x="15" y="696"/>
                  </a:moveTo>
                  <a:lnTo>
                    <a:pt x="15" y="710"/>
                  </a:lnTo>
                  <a:lnTo>
                    <a:pt x="0" y="710"/>
                  </a:lnTo>
                  <a:lnTo>
                    <a:pt x="0" y="696"/>
                  </a:lnTo>
                  <a:lnTo>
                    <a:pt x="15" y="696"/>
                  </a:lnTo>
                  <a:close/>
                  <a:moveTo>
                    <a:pt x="15" y="724"/>
                  </a:moveTo>
                  <a:lnTo>
                    <a:pt x="15" y="738"/>
                  </a:lnTo>
                  <a:lnTo>
                    <a:pt x="0" y="738"/>
                  </a:lnTo>
                  <a:lnTo>
                    <a:pt x="0" y="724"/>
                  </a:lnTo>
                  <a:lnTo>
                    <a:pt x="15" y="724"/>
                  </a:lnTo>
                  <a:close/>
                  <a:moveTo>
                    <a:pt x="15" y="752"/>
                  </a:moveTo>
                  <a:lnTo>
                    <a:pt x="15" y="766"/>
                  </a:lnTo>
                  <a:lnTo>
                    <a:pt x="0" y="766"/>
                  </a:lnTo>
                  <a:lnTo>
                    <a:pt x="0" y="752"/>
                  </a:lnTo>
                  <a:lnTo>
                    <a:pt x="15" y="752"/>
                  </a:lnTo>
                  <a:close/>
                  <a:moveTo>
                    <a:pt x="15" y="780"/>
                  </a:moveTo>
                  <a:lnTo>
                    <a:pt x="15" y="793"/>
                  </a:lnTo>
                  <a:lnTo>
                    <a:pt x="0" y="793"/>
                  </a:lnTo>
                  <a:lnTo>
                    <a:pt x="0" y="780"/>
                  </a:lnTo>
                  <a:lnTo>
                    <a:pt x="15" y="780"/>
                  </a:lnTo>
                  <a:close/>
                  <a:moveTo>
                    <a:pt x="15" y="808"/>
                  </a:moveTo>
                  <a:lnTo>
                    <a:pt x="15" y="822"/>
                  </a:lnTo>
                  <a:lnTo>
                    <a:pt x="0" y="822"/>
                  </a:lnTo>
                  <a:lnTo>
                    <a:pt x="0" y="808"/>
                  </a:lnTo>
                  <a:lnTo>
                    <a:pt x="15" y="808"/>
                  </a:lnTo>
                  <a:close/>
                  <a:moveTo>
                    <a:pt x="15" y="835"/>
                  </a:moveTo>
                  <a:lnTo>
                    <a:pt x="15" y="849"/>
                  </a:lnTo>
                  <a:lnTo>
                    <a:pt x="0" y="849"/>
                  </a:lnTo>
                  <a:lnTo>
                    <a:pt x="0" y="835"/>
                  </a:lnTo>
                  <a:lnTo>
                    <a:pt x="15" y="835"/>
                  </a:lnTo>
                  <a:close/>
                  <a:moveTo>
                    <a:pt x="15" y="863"/>
                  </a:moveTo>
                  <a:lnTo>
                    <a:pt x="15" y="877"/>
                  </a:lnTo>
                  <a:lnTo>
                    <a:pt x="0" y="877"/>
                  </a:lnTo>
                  <a:lnTo>
                    <a:pt x="0" y="863"/>
                  </a:lnTo>
                  <a:lnTo>
                    <a:pt x="15" y="863"/>
                  </a:lnTo>
                  <a:close/>
                  <a:moveTo>
                    <a:pt x="15" y="891"/>
                  </a:moveTo>
                  <a:lnTo>
                    <a:pt x="15" y="905"/>
                  </a:lnTo>
                  <a:lnTo>
                    <a:pt x="0" y="905"/>
                  </a:lnTo>
                  <a:lnTo>
                    <a:pt x="0" y="891"/>
                  </a:lnTo>
                  <a:lnTo>
                    <a:pt x="15" y="891"/>
                  </a:lnTo>
                  <a:close/>
                  <a:moveTo>
                    <a:pt x="15" y="919"/>
                  </a:moveTo>
                  <a:lnTo>
                    <a:pt x="15" y="933"/>
                  </a:lnTo>
                  <a:lnTo>
                    <a:pt x="0" y="933"/>
                  </a:lnTo>
                  <a:lnTo>
                    <a:pt x="0" y="919"/>
                  </a:lnTo>
                  <a:lnTo>
                    <a:pt x="15" y="919"/>
                  </a:lnTo>
                  <a:close/>
                  <a:moveTo>
                    <a:pt x="15" y="947"/>
                  </a:moveTo>
                  <a:lnTo>
                    <a:pt x="15" y="960"/>
                  </a:lnTo>
                  <a:lnTo>
                    <a:pt x="0" y="960"/>
                  </a:lnTo>
                  <a:lnTo>
                    <a:pt x="0" y="947"/>
                  </a:lnTo>
                  <a:lnTo>
                    <a:pt x="15" y="947"/>
                  </a:lnTo>
                  <a:close/>
                  <a:moveTo>
                    <a:pt x="15" y="974"/>
                  </a:moveTo>
                  <a:lnTo>
                    <a:pt x="15" y="988"/>
                  </a:lnTo>
                  <a:lnTo>
                    <a:pt x="0" y="988"/>
                  </a:lnTo>
                  <a:lnTo>
                    <a:pt x="0" y="974"/>
                  </a:lnTo>
                  <a:lnTo>
                    <a:pt x="15" y="974"/>
                  </a:lnTo>
                  <a:close/>
                  <a:moveTo>
                    <a:pt x="15" y="1002"/>
                  </a:moveTo>
                  <a:lnTo>
                    <a:pt x="15" y="1016"/>
                  </a:lnTo>
                  <a:lnTo>
                    <a:pt x="0" y="1016"/>
                  </a:lnTo>
                  <a:lnTo>
                    <a:pt x="0" y="1002"/>
                  </a:lnTo>
                  <a:lnTo>
                    <a:pt x="15" y="1002"/>
                  </a:lnTo>
                  <a:close/>
                  <a:moveTo>
                    <a:pt x="15" y="1030"/>
                  </a:moveTo>
                  <a:lnTo>
                    <a:pt x="15" y="1044"/>
                  </a:lnTo>
                  <a:lnTo>
                    <a:pt x="0" y="1044"/>
                  </a:lnTo>
                  <a:lnTo>
                    <a:pt x="0" y="1030"/>
                  </a:lnTo>
                  <a:lnTo>
                    <a:pt x="15" y="1030"/>
                  </a:lnTo>
                  <a:close/>
                  <a:moveTo>
                    <a:pt x="15" y="1058"/>
                  </a:moveTo>
                  <a:lnTo>
                    <a:pt x="15" y="1072"/>
                  </a:lnTo>
                  <a:lnTo>
                    <a:pt x="0" y="1072"/>
                  </a:lnTo>
                  <a:lnTo>
                    <a:pt x="0" y="1058"/>
                  </a:lnTo>
                  <a:lnTo>
                    <a:pt x="15" y="1058"/>
                  </a:lnTo>
                  <a:close/>
                  <a:moveTo>
                    <a:pt x="15" y="1086"/>
                  </a:moveTo>
                  <a:lnTo>
                    <a:pt x="15" y="1100"/>
                  </a:lnTo>
                  <a:lnTo>
                    <a:pt x="0" y="1100"/>
                  </a:lnTo>
                  <a:lnTo>
                    <a:pt x="0" y="1086"/>
                  </a:lnTo>
                  <a:lnTo>
                    <a:pt x="15" y="1086"/>
                  </a:lnTo>
                  <a:close/>
                  <a:moveTo>
                    <a:pt x="15" y="1114"/>
                  </a:moveTo>
                  <a:lnTo>
                    <a:pt x="15" y="1127"/>
                  </a:lnTo>
                  <a:lnTo>
                    <a:pt x="0" y="1127"/>
                  </a:lnTo>
                  <a:lnTo>
                    <a:pt x="0" y="1114"/>
                  </a:lnTo>
                  <a:lnTo>
                    <a:pt x="15" y="1114"/>
                  </a:lnTo>
                  <a:close/>
                  <a:moveTo>
                    <a:pt x="15" y="1141"/>
                  </a:moveTo>
                  <a:lnTo>
                    <a:pt x="15" y="1155"/>
                  </a:lnTo>
                  <a:lnTo>
                    <a:pt x="0" y="1155"/>
                  </a:lnTo>
                  <a:lnTo>
                    <a:pt x="0" y="1141"/>
                  </a:lnTo>
                  <a:lnTo>
                    <a:pt x="15" y="1141"/>
                  </a:lnTo>
                  <a:close/>
                  <a:moveTo>
                    <a:pt x="15" y="1169"/>
                  </a:moveTo>
                  <a:lnTo>
                    <a:pt x="15" y="1183"/>
                  </a:lnTo>
                  <a:lnTo>
                    <a:pt x="0" y="1183"/>
                  </a:lnTo>
                  <a:lnTo>
                    <a:pt x="0" y="1169"/>
                  </a:lnTo>
                  <a:lnTo>
                    <a:pt x="15" y="1169"/>
                  </a:lnTo>
                  <a:close/>
                  <a:moveTo>
                    <a:pt x="15" y="1197"/>
                  </a:moveTo>
                  <a:lnTo>
                    <a:pt x="15" y="1211"/>
                  </a:lnTo>
                  <a:lnTo>
                    <a:pt x="0" y="1211"/>
                  </a:lnTo>
                  <a:lnTo>
                    <a:pt x="0" y="1197"/>
                  </a:lnTo>
                  <a:lnTo>
                    <a:pt x="15" y="1197"/>
                  </a:lnTo>
                  <a:close/>
                  <a:moveTo>
                    <a:pt x="15" y="1225"/>
                  </a:moveTo>
                  <a:lnTo>
                    <a:pt x="15" y="1239"/>
                  </a:lnTo>
                  <a:lnTo>
                    <a:pt x="0" y="1239"/>
                  </a:lnTo>
                  <a:lnTo>
                    <a:pt x="0" y="1225"/>
                  </a:lnTo>
                  <a:lnTo>
                    <a:pt x="15" y="1225"/>
                  </a:lnTo>
                  <a:close/>
                  <a:moveTo>
                    <a:pt x="15" y="1253"/>
                  </a:moveTo>
                  <a:lnTo>
                    <a:pt x="15" y="1267"/>
                  </a:lnTo>
                  <a:lnTo>
                    <a:pt x="0" y="1267"/>
                  </a:lnTo>
                  <a:lnTo>
                    <a:pt x="0" y="1253"/>
                  </a:lnTo>
                  <a:lnTo>
                    <a:pt x="15" y="1253"/>
                  </a:lnTo>
                  <a:close/>
                  <a:moveTo>
                    <a:pt x="15" y="1281"/>
                  </a:moveTo>
                  <a:lnTo>
                    <a:pt x="15" y="1294"/>
                  </a:lnTo>
                  <a:lnTo>
                    <a:pt x="0" y="1294"/>
                  </a:lnTo>
                  <a:lnTo>
                    <a:pt x="0" y="1281"/>
                  </a:lnTo>
                  <a:lnTo>
                    <a:pt x="15" y="1281"/>
                  </a:lnTo>
                  <a:close/>
                  <a:moveTo>
                    <a:pt x="15" y="1308"/>
                  </a:moveTo>
                  <a:lnTo>
                    <a:pt x="15" y="1322"/>
                  </a:lnTo>
                  <a:lnTo>
                    <a:pt x="0" y="1322"/>
                  </a:lnTo>
                  <a:lnTo>
                    <a:pt x="0" y="1308"/>
                  </a:lnTo>
                  <a:lnTo>
                    <a:pt x="15" y="1308"/>
                  </a:lnTo>
                  <a:close/>
                  <a:moveTo>
                    <a:pt x="15" y="1336"/>
                  </a:moveTo>
                  <a:lnTo>
                    <a:pt x="15" y="1350"/>
                  </a:lnTo>
                  <a:lnTo>
                    <a:pt x="0" y="1350"/>
                  </a:lnTo>
                  <a:lnTo>
                    <a:pt x="0" y="1336"/>
                  </a:lnTo>
                  <a:lnTo>
                    <a:pt x="15" y="1336"/>
                  </a:lnTo>
                  <a:close/>
                  <a:moveTo>
                    <a:pt x="15" y="1364"/>
                  </a:moveTo>
                  <a:lnTo>
                    <a:pt x="15" y="1378"/>
                  </a:lnTo>
                  <a:lnTo>
                    <a:pt x="0" y="1378"/>
                  </a:lnTo>
                  <a:lnTo>
                    <a:pt x="0" y="1364"/>
                  </a:lnTo>
                  <a:lnTo>
                    <a:pt x="15" y="1364"/>
                  </a:lnTo>
                  <a:close/>
                  <a:moveTo>
                    <a:pt x="15" y="1392"/>
                  </a:moveTo>
                  <a:lnTo>
                    <a:pt x="15" y="1406"/>
                  </a:lnTo>
                  <a:lnTo>
                    <a:pt x="0" y="1406"/>
                  </a:lnTo>
                  <a:lnTo>
                    <a:pt x="0" y="1392"/>
                  </a:lnTo>
                  <a:lnTo>
                    <a:pt x="15" y="1392"/>
                  </a:lnTo>
                  <a:close/>
                  <a:moveTo>
                    <a:pt x="15" y="1420"/>
                  </a:moveTo>
                  <a:lnTo>
                    <a:pt x="15" y="1434"/>
                  </a:lnTo>
                  <a:lnTo>
                    <a:pt x="0" y="1434"/>
                  </a:lnTo>
                  <a:lnTo>
                    <a:pt x="0" y="1420"/>
                  </a:lnTo>
                  <a:lnTo>
                    <a:pt x="15" y="1420"/>
                  </a:lnTo>
                  <a:close/>
                  <a:moveTo>
                    <a:pt x="15" y="1448"/>
                  </a:moveTo>
                  <a:lnTo>
                    <a:pt x="15" y="1461"/>
                  </a:lnTo>
                  <a:lnTo>
                    <a:pt x="0" y="1461"/>
                  </a:lnTo>
                  <a:lnTo>
                    <a:pt x="0" y="1448"/>
                  </a:lnTo>
                  <a:lnTo>
                    <a:pt x="15" y="1448"/>
                  </a:lnTo>
                  <a:close/>
                  <a:moveTo>
                    <a:pt x="15" y="1475"/>
                  </a:moveTo>
                  <a:lnTo>
                    <a:pt x="15" y="1489"/>
                  </a:lnTo>
                  <a:lnTo>
                    <a:pt x="0" y="1489"/>
                  </a:lnTo>
                  <a:lnTo>
                    <a:pt x="0" y="1475"/>
                  </a:lnTo>
                  <a:lnTo>
                    <a:pt x="15" y="1475"/>
                  </a:lnTo>
                  <a:close/>
                  <a:moveTo>
                    <a:pt x="15" y="1503"/>
                  </a:moveTo>
                  <a:lnTo>
                    <a:pt x="15" y="1517"/>
                  </a:lnTo>
                  <a:lnTo>
                    <a:pt x="0" y="1517"/>
                  </a:lnTo>
                  <a:lnTo>
                    <a:pt x="0" y="1503"/>
                  </a:lnTo>
                  <a:lnTo>
                    <a:pt x="15" y="1503"/>
                  </a:lnTo>
                  <a:close/>
                  <a:moveTo>
                    <a:pt x="15" y="1531"/>
                  </a:moveTo>
                  <a:lnTo>
                    <a:pt x="15" y="1545"/>
                  </a:lnTo>
                  <a:lnTo>
                    <a:pt x="0" y="1545"/>
                  </a:lnTo>
                  <a:lnTo>
                    <a:pt x="0" y="1531"/>
                  </a:lnTo>
                  <a:lnTo>
                    <a:pt x="15" y="1531"/>
                  </a:lnTo>
                  <a:close/>
                  <a:moveTo>
                    <a:pt x="15" y="1559"/>
                  </a:moveTo>
                  <a:lnTo>
                    <a:pt x="15" y="1573"/>
                  </a:lnTo>
                  <a:lnTo>
                    <a:pt x="0" y="1573"/>
                  </a:lnTo>
                  <a:lnTo>
                    <a:pt x="0" y="1559"/>
                  </a:lnTo>
                  <a:lnTo>
                    <a:pt x="15" y="1559"/>
                  </a:lnTo>
                  <a:close/>
                  <a:moveTo>
                    <a:pt x="15" y="1587"/>
                  </a:moveTo>
                  <a:lnTo>
                    <a:pt x="15" y="1601"/>
                  </a:lnTo>
                  <a:lnTo>
                    <a:pt x="0" y="1601"/>
                  </a:lnTo>
                  <a:lnTo>
                    <a:pt x="0" y="1587"/>
                  </a:lnTo>
                  <a:lnTo>
                    <a:pt x="15" y="1587"/>
                  </a:lnTo>
                  <a:close/>
                  <a:moveTo>
                    <a:pt x="15" y="1615"/>
                  </a:moveTo>
                  <a:lnTo>
                    <a:pt x="15" y="1628"/>
                  </a:lnTo>
                  <a:lnTo>
                    <a:pt x="0" y="1628"/>
                  </a:lnTo>
                  <a:lnTo>
                    <a:pt x="0" y="1615"/>
                  </a:lnTo>
                  <a:lnTo>
                    <a:pt x="15" y="1615"/>
                  </a:lnTo>
                  <a:close/>
                  <a:moveTo>
                    <a:pt x="15" y="1642"/>
                  </a:moveTo>
                  <a:lnTo>
                    <a:pt x="15" y="1656"/>
                  </a:lnTo>
                  <a:lnTo>
                    <a:pt x="0" y="1656"/>
                  </a:lnTo>
                  <a:lnTo>
                    <a:pt x="0" y="1642"/>
                  </a:lnTo>
                  <a:lnTo>
                    <a:pt x="15" y="1642"/>
                  </a:lnTo>
                  <a:close/>
                  <a:moveTo>
                    <a:pt x="15" y="1670"/>
                  </a:moveTo>
                  <a:lnTo>
                    <a:pt x="15" y="1684"/>
                  </a:lnTo>
                  <a:lnTo>
                    <a:pt x="0" y="1684"/>
                  </a:lnTo>
                  <a:lnTo>
                    <a:pt x="0" y="1670"/>
                  </a:lnTo>
                  <a:lnTo>
                    <a:pt x="15" y="1670"/>
                  </a:lnTo>
                  <a:close/>
                  <a:moveTo>
                    <a:pt x="15" y="1698"/>
                  </a:moveTo>
                  <a:lnTo>
                    <a:pt x="15" y="1712"/>
                  </a:lnTo>
                  <a:lnTo>
                    <a:pt x="0" y="1712"/>
                  </a:lnTo>
                  <a:lnTo>
                    <a:pt x="0" y="1698"/>
                  </a:lnTo>
                  <a:lnTo>
                    <a:pt x="15" y="1698"/>
                  </a:lnTo>
                  <a:close/>
                  <a:moveTo>
                    <a:pt x="15" y="1726"/>
                  </a:moveTo>
                  <a:lnTo>
                    <a:pt x="15" y="1740"/>
                  </a:lnTo>
                  <a:lnTo>
                    <a:pt x="0" y="1740"/>
                  </a:lnTo>
                  <a:lnTo>
                    <a:pt x="0" y="1726"/>
                  </a:lnTo>
                  <a:lnTo>
                    <a:pt x="15" y="1726"/>
                  </a:lnTo>
                  <a:close/>
                  <a:moveTo>
                    <a:pt x="15" y="1754"/>
                  </a:moveTo>
                  <a:lnTo>
                    <a:pt x="15" y="1768"/>
                  </a:lnTo>
                  <a:lnTo>
                    <a:pt x="0" y="1768"/>
                  </a:lnTo>
                  <a:lnTo>
                    <a:pt x="0" y="1754"/>
                  </a:lnTo>
                  <a:lnTo>
                    <a:pt x="15" y="1754"/>
                  </a:lnTo>
                  <a:close/>
                  <a:moveTo>
                    <a:pt x="15" y="1782"/>
                  </a:moveTo>
                  <a:lnTo>
                    <a:pt x="15" y="1795"/>
                  </a:lnTo>
                  <a:lnTo>
                    <a:pt x="0" y="1795"/>
                  </a:lnTo>
                  <a:lnTo>
                    <a:pt x="0" y="1782"/>
                  </a:lnTo>
                  <a:lnTo>
                    <a:pt x="15" y="1782"/>
                  </a:lnTo>
                  <a:close/>
                  <a:moveTo>
                    <a:pt x="15" y="1809"/>
                  </a:moveTo>
                  <a:lnTo>
                    <a:pt x="15" y="1823"/>
                  </a:lnTo>
                  <a:lnTo>
                    <a:pt x="0" y="1823"/>
                  </a:lnTo>
                  <a:lnTo>
                    <a:pt x="0" y="1809"/>
                  </a:lnTo>
                  <a:lnTo>
                    <a:pt x="15" y="1809"/>
                  </a:lnTo>
                  <a:close/>
                  <a:moveTo>
                    <a:pt x="15" y="1837"/>
                  </a:moveTo>
                  <a:lnTo>
                    <a:pt x="15" y="1851"/>
                  </a:lnTo>
                  <a:lnTo>
                    <a:pt x="0" y="1851"/>
                  </a:lnTo>
                  <a:lnTo>
                    <a:pt x="0" y="1837"/>
                  </a:lnTo>
                  <a:lnTo>
                    <a:pt x="15" y="1837"/>
                  </a:lnTo>
                  <a:close/>
                  <a:moveTo>
                    <a:pt x="15" y="1865"/>
                  </a:moveTo>
                  <a:lnTo>
                    <a:pt x="15" y="1879"/>
                  </a:lnTo>
                  <a:lnTo>
                    <a:pt x="0" y="1879"/>
                  </a:lnTo>
                  <a:lnTo>
                    <a:pt x="0" y="1865"/>
                  </a:lnTo>
                  <a:lnTo>
                    <a:pt x="15" y="1865"/>
                  </a:lnTo>
                  <a:close/>
                  <a:moveTo>
                    <a:pt x="15" y="1893"/>
                  </a:moveTo>
                  <a:lnTo>
                    <a:pt x="15" y="1907"/>
                  </a:lnTo>
                  <a:lnTo>
                    <a:pt x="0" y="1907"/>
                  </a:lnTo>
                  <a:lnTo>
                    <a:pt x="0" y="1893"/>
                  </a:lnTo>
                  <a:lnTo>
                    <a:pt x="15" y="1893"/>
                  </a:lnTo>
                  <a:close/>
                  <a:moveTo>
                    <a:pt x="15" y="1921"/>
                  </a:moveTo>
                  <a:lnTo>
                    <a:pt x="15" y="1935"/>
                  </a:lnTo>
                  <a:lnTo>
                    <a:pt x="0" y="1935"/>
                  </a:lnTo>
                  <a:lnTo>
                    <a:pt x="0" y="1921"/>
                  </a:lnTo>
                  <a:lnTo>
                    <a:pt x="15" y="1921"/>
                  </a:lnTo>
                  <a:close/>
                  <a:moveTo>
                    <a:pt x="15" y="1949"/>
                  </a:moveTo>
                  <a:lnTo>
                    <a:pt x="15" y="1962"/>
                  </a:lnTo>
                  <a:lnTo>
                    <a:pt x="0" y="1962"/>
                  </a:lnTo>
                  <a:lnTo>
                    <a:pt x="0" y="1949"/>
                  </a:lnTo>
                  <a:lnTo>
                    <a:pt x="15" y="1949"/>
                  </a:lnTo>
                  <a:close/>
                  <a:moveTo>
                    <a:pt x="15" y="1976"/>
                  </a:moveTo>
                  <a:lnTo>
                    <a:pt x="15" y="1990"/>
                  </a:lnTo>
                  <a:lnTo>
                    <a:pt x="0" y="1990"/>
                  </a:lnTo>
                  <a:lnTo>
                    <a:pt x="0" y="1976"/>
                  </a:lnTo>
                  <a:lnTo>
                    <a:pt x="15" y="1976"/>
                  </a:lnTo>
                  <a:close/>
                  <a:moveTo>
                    <a:pt x="15" y="2004"/>
                  </a:moveTo>
                  <a:lnTo>
                    <a:pt x="15" y="2018"/>
                  </a:lnTo>
                  <a:lnTo>
                    <a:pt x="0" y="2018"/>
                  </a:lnTo>
                  <a:lnTo>
                    <a:pt x="0" y="2004"/>
                  </a:lnTo>
                  <a:lnTo>
                    <a:pt x="15" y="2004"/>
                  </a:lnTo>
                  <a:close/>
                  <a:moveTo>
                    <a:pt x="15" y="2032"/>
                  </a:moveTo>
                  <a:lnTo>
                    <a:pt x="15" y="2046"/>
                  </a:lnTo>
                  <a:lnTo>
                    <a:pt x="0" y="2046"/>
                  </a:lnTo>
                  <a:lnTo>
                    <a:pt x="0" y="2032"/>
                  </a:lnTo>
                  <a:lnTo>
                    <a:pt x="15" y="2032"/>
                  </a:lnTo>
                  <a:close/>
                  <a:moveTo>
                    <a:pt x="15" y="2060"/>
                  </a:moveTo>
                  <a:lnTo>
                    <a:pt x="15" y="2074"/>
                  </a:lnTo>
                  <a:lnTo>
                    <a:pt x="0" y="2074"/>
                  </a:lnTo>
                  <a:lnTo>
                    <a:pt x="0" y="2060"/>
                  </a:lnTo>
                  <a:lnTo>
                    <a:pt x="15" y="2060"/>
                  </a:lnTo>
                  <a:close/>
                  <a:moveTo>
                    <a:pt x="15" y="2087"/>
                  </a:moveTo>
                  <a:lnTo>
                    <a:pt x="15" y="2102"/>
                  </a:lnTo>
                  <a:lnTo>
                    <a:pt x="0" y="2102"/>
                  </a:lnTo>
                  <a:lnTo>
                    <a:pt x="0" y="2087"/>
                  </a:lnTo>
                  <a:lnTo>
                    <a:pt x="15" y="2087"/>
                  </a:lnTo>
                  <a:close/>
                  <a:moveTo>
                    <a:pt x="15" y="2116"/>
                  </a:moveTo>
                  <a:lnTo>
                    <a:pt x="15" y="2129"/>
                  </a:lnTo>
                  <a:lnTo>
                    <a:pt x="0" y="2129"/>
                  </a:lnTo>
                  <a:lnTo>
                    <a:pt x="0" y="2116"/>
                  </a:lnTo>
                  <a:lnTo>
                    <a:pt x="15" y="2116"/>
                  </a:lnTo>
                  <a:close/>
                  <a:moveTo>
                    <a:pt x="15" y="2143"/>
                  </a:moveTo>
                  <a:lnTo>
                    <a:pt x="15" y="2157"/>
                  </a:lnTo>
                  <a:lnTo>
                    <a:pt x="0" y="2157"/>
                  </a:lnTo>
                  <a:lnTo>
                    <a:pt x="0" y="2143"/>
                  </a:lnTo>
                  <a:lnTo>
                    <a:pt x="15" y="2143"/>
                  </a:lnTo>
                  <a:close/>
                  <a:moveTo>
                    <a:pt x="15" y="2171"/>
                  </a:moveTo>
                  <a:lnTo>
                    <a:pt x="15" y="2185"/>
                  </a:lnTo>
                  <a:lnTo>
                    <a:pt x="0" y="2185"/>
                  </a:lnTo>
                  <a:lnTo>
                    <a:pt x="0" y="2171"/>
                  </a:lnTo>
                  <a:lnTo>
                    <a:pt x="15" y="2171"/>
                  </a:lnTo>
                  <a:close/>
                  <a:moveTo>
                    <a:pt x="15" y="2199"/>
                  </a:moveTo>
                  <a:lnTo>
                    <a:pt x="15" y="2213"/>
                  </a:lnTo>
                  <a:lnTo>
                    <a:pt x="0" y="2213"/>
                  </a:lnTo>
                  <a:lnTo>
                    <a:pt x="0" y="2199"/>
                  </a:lnTo>
                  <a:lnTo>
                    <a:pt x="15" y="2199"/>
                  </a:lnTo>
                  <a:close/>
                  <a:moveTo>
                    <a:pt x="15" y="2227"/>
                  </a:moveTo>
                  <a:lnTo>
                    <a:pt x="15" y="2241"/>
                  </a:lnTo>
                  <a:lnTo>
                    <a:pt x="0" y="2241"/>
                  </a:lnTo>
                  <a:lnTo>
                    <a:pt x="0" y="2227"/>
                  </a:lnTo>
                  <a:lnTo>
                    <a:pt x="15" y="2227"/>
                  </a:lnTo>
                  <a:close/>
                  <a:moveTo>
                    <a:pt x="15" y="2254"/>
                  </a:moveTo>
                  <a:lnTo>
                    <a:pt x="15" y="2268"/>
                  </a:lnTo>
                  <a:lnTo>
                    <a:pt x="0" y="2268"/>
                  </a:lnTo>
                  <a:lnTo>
                    <a:pt x="0" y="2254"/>
                  </a:lnTo>
                  <a:lnTo>
                    <a:pt x="15" y="2254"/>
                  </a:lnTo>
                  <a:close/>
                  <a:moveTo>
                    <a:pt x="15" y="2283"/>
                  </a:moveTo>
                  <a:lnTo>
                    <a:pt x="15" y="2296"/>
                  </a:lnTo>
                  <a:lnTo>
                    <a:pt x="0" y="2296"/>
                  </a:lnTo>
                  <a:lnTo>
                    <a:pt x="0" y="2283"/>
                  </a:lnTo>
                  <a:lnTo>
                    <a:pt x="15" y="2283"/>
                  </a:lnTo>
                  <a:close/>
                  <a:moveTo>
                    <a:pt x="15" y="2310"/>
                  </a:moveTo>
                  <a:lnTo>
                    <a:pt x="15" y="2324"/>
                  </a:lnTo>
                  <a:lnTo>
                    <a:pt x="0" y="2324"/>
                  </a:lnTo>
                  <a:lnTo>
                    <a:pt x="0" y="2310"/>
                  </a:lnTo>
                  <a:lnTo>
                    <a:pt x="15" y="2310"/>
                  </a:lnTo>
                  <a:close/>
                  <a:moveTo>
                    <a:pt x="15" y="2338"/>
                  </a:moveTo>
                  <a:lnTo>
                    <a:pt x="15" y="2352"/>
                  </a:lnTo>
                  <a:lnTo>
                    <a:pt x="0" y="2352"/>
                  </a:lnTo>
                  <a:lnTo>
                    <a:pt x="0" y="2338"/>
                  </a:lnTo>
                  <a:lnTo>
                    <a:pt x="15" y="2338"/>
                  </a:lnTo>
                  <a:close/>
                  <a:moveTo>
                    <a:pt x="15" y="2366"/>
                  </a:moveTo>
                  <a:lnTo>
                    <a:pt x="15" y="2380"/>
                  </a:lnTo>
                  <a:lnTo>
                    <a:pt x="0" y="2380"/>
                  </a:lnTo>
                  <a:lnTo>
                    <a:pt x="0" y="2366"/>
                  </a:lnTo>
                  <a:lnTo>
                    <a:pt x="15" y="2366"/>
                  </a:lnTo>
                  <a:close/>
                  <a:moveTo>
                    <a:pt x="15" y="2394"/>
                  </a:moveTo>
                  <a:lnTo>
                    <a:pt x="15" y="2408"/>
                  </a:lnTo>
                  <a:lnTo>
                    <a:pt x="0" y="2408"/>
                  </a:lnTo>
                  <a:lnTo>
                    <a:pt x="0" y="2394"/>
                  </a:lnTo>
                  <a:lnTo>
                    <a:pt x="15" y="2394"/>
                  </a:lnTo>
                  <a:close/>
                  <a:moveTo>
                    <a:pt x="15" y="2421"/>
                  </a:moveTo>
                  <a:lnTo>
                    <a:pt x="15" y="2435"/>
                  </a:lnTo>
                  <a:lnTo>
                    <a:pt x="0" y="2435"/>
                  </a:lnTo>
                  <a:lnTo>
                    <a:pt x="0" y="2421"/>
                  </a:lnTo>
                  <a:lnTo>
                    <a:pt x="15" y="2421"/>
                  </a:lnTo>
                  <a:close/>
                  <a:moveTo>
                    <a:pt x="15" y="2449"/>
                  </a:moveTo>
                  <a:lnTo>
                    <a:pt x="15" y="2453"/>
                  </a:lnTo>
                  <a:lnTo>
                    <a:pt x="0" y="2453"/>
                  </a:lnTo>
                  <a:lnTo>
                    <a:pt x="0" y="2449"/>
                  </a:lnTo>
                  <a:lnTo>
                    <a:pt x="15" y="2449"/>
                  </a:lnTo>
                  <a:close/>
                </a:path>
              </a:pathLst>
            </a:custGeom>
            <a:solidFill>
              <a:srgbClr val="000000"/>
            </a:solidFill>
            <a:ln w="0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488" name="Freeform 30">
              <a:extLst>
                <a:ext uri="{FF2B5EF4-FFF2-40B4-BE49-F238E27FC236}">
                  <a16:creationId xmlns:a16="http://schemas.microsoft.com/office/drawing/2014/main" id="{ED5883EE-E1B5-DAC4-561F-FE19D5F45FB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442602" y="3078501"/>
              <a:ext cx="18000" cy="3726773"/>
            </a:xfrm>
            <a:custGeom>
              <a:avLst/>
              <a:gdLst>
                <a:gd name="T0" fmla="*/ 14 w 14"/>
                <a:gd name="T1" fmla="*/ 42 h 2453"/>
                <a:gd name="T2" fmla="*/ 0 w 14"/>
                <a:gd name="T3" fmla="*/ 56 h 2453"/>
                <a:gd name="T4" fmla="*/ 14 w 14"/>
                <a:gd name="T5" fmla="*/ 112 h 2453"/>
                <a:gd name="T6" fmla="*/ 0 w 14"/>
                <a:gd name="T7" fmla="*/ 154 h 2453"/>
                <a:gd name="T8" fmla="*/ 14 w 14"/>
                <a:gd name="T9" fmla="*/ 167 h 2453"/>
                <a:gd name="T10" fmla="*/ 14 w 14"/>
                <a:gd name="T11" fmla="*/ 237 h 2453"/>
                <a:gd name="T12" fmla="*/ 0 w 14"/>
                <a:gd name="T13" fmla="*/ 251 h 2453"/>
                <a:gd name="T14" fmla="*/ 14 w 14"/>
                <a:gd name="T15" fmla="*/ 307 h 2453"/>
                <a:gd name="T16" fmla="*/ 0 w 14"/>
                <a:gd name="T17" fmla="*/ 348 h 2453"/>
                <a:gd name="T18" fmla="*/ 14 w 14"/>
                <a:gd name="T19" fmla="*/ 362 h 2453"/>
                <a:gd name="T20" fmla="*/ 14 w 14"/>
                <a:gd name="T21" fmla="*/ 432 h 2453"/>
                <a:gd name="T22" fmla="*/ 0 w 14"/>
                <a:gd name="T23" fmla="*/ 446 h 2453"/>
                <a:gd name="T24" fmla="*/ 14 w 14"/>
                <a:gd name="T25" fmla="*/ 501 h 2453"/>
                <a:gd name="T26" fmla="*/ 0 w 14"/>
                <a:gd name="T27" fmla="*/ 543 h 2453"/>
                <a:gd name="T28" fmla="*/ 14 w 14"/>
                <a:gd name="T29" fmla="*/ 557 h 2453"/>
                <a:gd name="T30" fmla="*/ 14 w 14"/>
                <a:gd name="T31" fmla="*/ 627 h 2453"/>
                <a:gd name="T32" fmla="*/ 0 w 14"/>
                <a:gd name="T33" fmla="*/ 641 h 2453"/>
                <a:gd name="T34" fmla="*/ 14 w 14"/>
                <a:gd name="T35" fmla="*/ 696 h 2453"/>
                <a:gd name="T36" fmla="*/ 0 w 14"/>
                <a:gd name="T37" fmla="*/ 738 h 2453"/>
                <a:gd name="T38" fmla="*/ 14 w 14"/>
                <a:gd name="T39" fmla="*/ 752 h 2453"/>
                <a:gd name="T40" fmla="*/ 14 w 14"/>
                <a:gd name="T41" fmla="*/ 822 h 2453"/>
                <a:gd name="T42" fmla="*/ 0 w 14"/>
                <a:gd name="T43" fmla="*/ 835 h 2453"/>
                <a:gd name="T44" fmla="*/ 14 w 14"/>
                <a:gd name="T45" fmla="*/ 891 h 2453"/>
                <a:gd name="T46" fmla="*/ 0 w 14"/>
                <a:gd name="T47" fmla="*/ 933 h 2453"/>
                <a:gd name="T48" fmla="*/ 14 w 14"/>
                <a:gd name="T49" fmla="*/ 947 h 2453"/>
                <a:gd name="T50" fmla="*/ 14 w 14"/>
                <a:gd name="T51" fmla="*/ 1016 h 2453"/>
                <a:gd name="T52" fmla="*/ 0 w 14"/>
                <a:gd name="T53" fmla="*/ 1030 h 2453"/>
                <a:gd name="T54" fmla="*/ 14 w 14"/>
                <a:gd name="T55" fmla="*/ 1086 h 2453"/>
                <a:gd name="T56" fmla="*/ 0 w 14"/>
                <a:gd name="T57" fmla="*/ 1127 h 2453"/>
                <a:gd name="T58" fmla="*/ 14 w 14"/>
                <a:gd name="T59" fmla="*/ 1141 h 2453"/>
                <a:gd name="T60" fmla="*/ 14 w 14"/>
                <a:gd name="T61" fmla="*/ 1211 h 2453"/>
                <a:gd name="T62" fmla="*/ 0 w 14"/>
                <a:gd name="T63" fmla="*/ 1225 h 2453"/>
                <a:gd name="T64" fmla="*/ 14 w 14"/>
                <a:gd name="T65" fmla="*/ 1281 h 2453"/>
                <a:gd name="T66" fmla="*/ 0 w 14"/>
                <a:gd name="T67" fmla="*/ 1322 h 2453"/>
                <a:gd name="T68" fmla="*/ 14 w 14"/>
                <a:gd name="T69" fmla="*/ 1336 h 2453"/>
                <a:gd name="T70" fmla="*/ 14 w 14"/>
                <a:gd name="T71" fmla="*/ 1406 h 2453"/>
                <a:gd name="T72" fmla="*/ 0 w 14"/>
                <a:gd name="T73" fmla="*/ 1420 h 2453"/>
                <a:gd name="T74" fmla="*/ 14 w 14"/>
                <a:gd name="T75" fmla="*/ 1475 h 2453"/>
                <a:gd name="T76" fmla="*/ 0 w 14"/>
                <a:gd name="T77" fmla="*/ 1517 h 2453"/>
                <a:gd name="T78" fmla="*/ 14 w 14"/>
                <a:gd name="T79" fmla="*/ 1531 h 2453"/>
                <a:gd name="T80" fmla="*/ 14 w 14"/>
                <a:gd name="T81" fmla="*/ 1601 h 2453"/>
                <a:gd name="T82" fmla="*/ 0 w 14"/>
                <a:gd name="T83" fmla="*/ 1615 h 2453"/>
                <a:gd name="T84" fmla="*/ 14 w 14"/>
                <a:gd name="T85" fmla="*/ 1670 h 2453"/>
                <a:gd name="T86" fmla="*/ 0 w 14"/>
                <a:gd name="T87" fmla="*/ 1712 h 2453"/>
                <a:gd name="T88" fmla="*/ 14 w 14"/>
                <a:gd name="T89" fmla="*/ 1726 h 2453"/>
                <a:gd name="T90" fmla="*/ 14 w 14"/>
                <a:gd name="T91" fmla="*/ 1795 h 2453"/>
                <a:gd name="T92" fmla="*/ 0 w 14"/>
                <a:gd name="T93" fmla="*/ 1809 h 2453"/>
                <a:gd name="T94" fmla="*/ 14 w 14"/>
                <a:gd name="T95" fmla="*/ 1865 h 2453"/>
                <a:gd name="T96" fmla="*/ 0 w 14"/>
                <a:gd name="T97" fmla="*/ 1907 h 2453"/>
                <a:gd name="T98" fmla="*/ 14 w 14"/>
                <a:gd name="T99" fmla="*/ 1921 h 2453"/>
                <a:gd name="T100" fmla="*/ 14 w 14"/>
                <a:gd name="T101" fmla="*/ 1990 h 2453"/>
                <a:gd name="T102" fmla="*/ 0 w 14"/>
                <a:gd name="T103" fmla="*/ 2004 h 2453"/>
                <a:gd name="T104" fmla="*/ 14 w 14"/>
                <a:gd name="T105" fmla="*/ 2060 h 2453"/>
                <a:gd name="T106" fmla="*/ 0 w 14"/>
                <a:gd name="T107" fmla="*/ 2102 h 2453"/>
                <a:gd name="T108" fmla="*/ 14 w 14"/>
                <a:gd name="T109" fmla="*/ 2116 h 2453"/>
                <a:gd name="T110" fmla="*/ 14 w 14"/>
                <a:gd name="T111" fmla="*/ 2185 h 2453"/>
                <a:gd name="T112" fmla="*/ 0 w 14"/>
                <a:gd name="T113" fmla="*/ 2199 h 2453"/>
                <a:gd name="T114" fmla="*/ 14 w 14"/>
                <a:gd name="T115" fmla="*/ 2254 h 2453"/>
                <a:gd name="T116" fmla="*/ 0 w 14"/>
                <a:gd name="T117" fmla="*/ 2296 h 2453"/>
                <a:gd name="T118" fmla="*/ 14 w 14"/>
                <a:gd name="T119" fmla="*/ 2310 h 2453"/>
                <a:gd name="T120" fmla="*/ 14 w 14"/>
                <a:gd name="T121" fmla="*/ 2380 h 2453"/>
                <a:gd name="T122" fmla="*/ 0 w 14"/>
                <a:gd name="T123" fmla="*/ 2394 h 2453"/>
                <a:gd name="T124" fmla="*/ 14 w 14"/>
                <a:gd name="T125" fmla="*/ 2449 h 24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4" h="2453">
                  <a:moveTo>
                    <a:pt x="14" y="0"/>
                  </a:moveTo>
                  <a:lnTo>
                    <a:pt x="14" y="14"/>
                  </a:lnTo>
                  <a:lnTo>
                    <a:pt x="0" y="14"/>
                  </a:lnTo>
                  <a:lnTo>
                    <a:pt x="0" y="0"/>
                  </a:lnTo>
                  <a:lnTo>
                    <a:pt x="14" y="0"/>
                  </a:lnTo>
                  <a:close/>
                  <a:moveTo>
                    <a:pt x="14" y="28"/>
                  </a:moveTo>
                  <a:lnTo>
                    <a:pt x="14" y="42"/>
                  </a:lnTo>
                  <a:lnTo>
                    <a:pt x="0" y="42"/>
                  </a:lnTo>
                  <a:lnTo>
                    <a:pt x="0" y="28"/>
                  </a:lnTo>
                  <a:lnTo>
                    <a:pt x="14" y="28"/>
                  </a:lnTo>
                  <a:close/>
                  <a:moveTo>
                    <a:pt x="14" y="56"/>
                  </a:moveTo>
                  <a:lnTo>
                    <a:pt x="14" y="70"/>
                  </a:lnTo>
                  <a:lnTo>
                    <a:pt x="0" y="70"/>
                  </a:lnTo>
                  <a:lnTo>
                    <a:pt x="0" y="56"/>
                  </a:lnTo>
                  <a:lnTo>
                    <a:pt x="14" y="56"/>
                  </a:lnTo>
                  <a:close/>
                  <a:moveTo>
                    <a:pt x="14" y="84"/>
                  </a:moveTo>
                  <a:lnTo>
                    <a:pt x="14" y="98"/>
                  </a:lnTo>
                  <a:lnTo>
                    <a:pt x="0" y="98"/>
                  </a:lnTo>
                  <a:lnTo>
                    <a:pt x="0" y="84"/>
                  </a:lnTo>
                  <a:lnTo>
                    <a:pt x="14" y="84"/>
                  </a:lnTo>
                  <a:close/>
                  <a:moveTo>
                    <a:pt x="14" y="112"/>
                  </a:moveTo>
                  <a:lnTo>
                    <a:pt x="14" y="126"/>
                  </a:lnTo>
                  <a:lnTo>
                    <a:pt x="0" y="126"/>
                  </a:lnTo>
                  <a:lnTo>
                    <a:pt x="0" y="112"/>
                  </a:lnTo>
                  <a:lnTo>
                    <a:pt x="14" y="112"/>
                  </a:lnTo>
                  <a:close/>
                  <a:moveTo>
                    <a:pt x="14" y="140"/>
                  </a:moveTo>
                  <a:lnTo>
                    <a:pt x="14" y="154"/>
                  </a:lnTo>
                  <a:lnTo>
                    <a:pt x="0" y="154"/>
                  </a:lnTo>
                  <a:lnTo>
                    <a:pt x="0" y="140"/>
                  </a:lnTo>
                  <a:lnTo>
                    <a:pt x="14" y="140"/>
                  </a:lnTo>
                  <a:close/>
                  <a:moveTo>
                    <a:pt x="14" y="167"/>
                  </a:moveTo>
                  <a:lnTo>
                    <a:pt x="14" y="181"/>
                  </a:lnTo>
                  <a:lnTo>
                    <a:pt x="0" y="181"/>
                  </a:lnTo>
                  <a:lnTo>
                    <a:pt x="0" y="167"/>
                  </a:lnTo>
                  <a:lnTo>
                    <a:pt x="14" y="167"/>
                  </a:lnTo>
                  <a:close/>
                  <a:moveTo>
                    <a:pt x="14" y="195"/>
                  </a:moveTo>
                  <a:lnTo>
                    <a:pt x="14" y="209"/>
                  </a:lnTo>
                  <a:lnTo>
                    <a:pt x="0" y="209"/>
                  </a:lnTo>
                  <a:lnTo>
                    <a:pt x="0" y="195"/>
                  </a:lnTo>
                  <a:lnTo>
                    <a:pt x="14" y="195"/>
                  </a:lnTo>
                  <a:close/>
                  <a:moveTo>
                    <a:pt x="14" y="223"/>
                  </a:moveTo>
                  <a:lnTo>
                    <a:pt x="14" y="237"/>
                  </a:lnTo>
                  <a:lnTo>
                    <a:pt x="0" y="237"/>
                  </a:lnTo>
                  <a:lnTo>
                    <a:pt x="0" y="223"/>
                  </a:lnTo>
                  <a:lnTo>
                    <a:pt x="14" y="223"/>
                  </a:lnTo>
                  <a:close/>
                  <a:moveTo>
                    <a:pt x="14" y="251"/>
                  </a:moveTo>
                  <a:lnTo>
                    <a:pt x="14" y="265"/>
                  </a:lnTo>
                  <a:lnTo>
                    <a:pt x="0" y="265"/>
                  </a:lnTo>
                  <a:lnTo>
                    <a:pt x="0" y="251"/>
                  </a:lnTo>
                  <a:lnTo>
                    <a:pt x="14" y="251"/>
                  </a:lnTo>
                  <a:close/>
                  <a:moveTo>
                    <a:pt x="14" y="279"/>
                  </a:moveTo>
                  <a:lnTo>
                    <a:pt x="14" y="293"/>
                  </a:lnTo>
                  <a:lnTo>
                    <a:pt x="0" y="293"/>
                  </a:lnTo>
                  <a:lnTo>
                    <a:pt x="0" y="279"/>
                  </a:lnTo>
                  <a:lnTo>
                    <a:pt x="14" y="279"/>
                  </a:lnTo>
                  <a:close/>
                  <a:moveTo>
                    <a:pt x="14" y="307"/>
                  </a:moveTo>
                  <a:lnTo>
                    <a:pt x="14" y="321"/>
                  </a:lnTo>
                  <a:lnTo>
                    <a:pt x="0" y="321"/>
                  </a:lnTo>
                  <a:lnTo>
                    <a:pt x="0" y="307"/>
                  </a:lnTo>
                  <a:lnTo>
                    <a:pt x="14" y="307"/>
                  </a:lnTo>
                  <a:close/>
                  <a:moveTo>
                    <a:pt x="14" y="334"/>
                  </a:moveTo>
                  <a:lnTo>
                    <a:pt x="14" y="348"/>
                  </a:lnTo>
                  <a:lnTo>
                    <a:pt x="0" y="348"/>
                  </a:lnTo>
                  <a:lnTo>
                    <a:pt x="0" y="334"/>
                  </a:lnTo>
                  <a:lnTo>
                    <a:pt x="14" y="334"/>
                  </a:lnTo>
                  <a:close/>
                  <a:moveTo>
                    <a:pt x="14" y="362"/>
                  </a:moveTo>
                  <a:lnTo>
                    <a:pt x="14" y="376"/>
                  </a:lnTo>
                  <a:lnTo>
                    <a:pt x="0" y="376"/>
                  </a:lnTo>
                  <a:lnTo>
                    <a:pt x="0" y="362"/>
                  </a:lnTo>
                  <a:lnTo>
                    <a:pt x="14" y="362"/>
                  </a:lnTo>
                  <a:close/>
                  <a:moveTo>
                    <a:pt x="14" y="390"/>
                  </a:moveTo>
                  <a:lnTo>
                    <a:pt x="14" y="404"/>
                  </a:lnTo>
                  <a:lnTo>
                    <a:pt x="0" y="404"/>
                  </a:lnTo>
                  <a:lnTo>
                    <a:pt x="0" y="390"/>
                  </a:lnTo>
                  <a:lnTo>
                    <a:pt x="14" y="390"/>
                  </a:lnTo>
                  <a:close/>
                  <a:moveTo>
                    <a:pt x="14" y="418"/>
                  </a:moveTo>
                  <a:lnTo>
                    <a:pt x="14" y="432"/>
                  </a:lnTo>
                  <a:lnTo>
                    <a:pt x="0" y="432"/>
                  </a:lnTo>
                  <a:lnTo>
                    <a:pt x="0" y="418"/>
                  </a:lnTo>
                  <a:lnTo>
                    <a:pt x="14" y="418"/>
                  </a:lnTo>
                  <a:close/>
                  <a:moveTo>
                    <a:pt x="14" y="446"/>
                  </a:moveTo>
                  <a:lnTo>
                    <a:pt x="14" y="460"/>
                  </a:lnTo>
                  <a:lnTo>
                    <a:pt x="0" y="460"/>
                  </a:lnTo>
                  <a:lnTo>
                    <a:pt x="0" y="446"/>
                  </a:lnTo>
                  <a:lnTo>
                    <a:pt x="14" y="446"/>
                  </a:lnTo>
                  <a:close/>
                  <a:moveTo>
                    <a:pt x="14" y="474"/>
                  </a:moveTo>
                  <a:lnTo>
                    <a:pt x="14" y="488"/>
                  </a:lnTo>
                  <a:lnTo>
                    <a:pt x="0" y="488"/>
                  </a:lnTo>
                  <a:lnTo>
                    <a:pt x="0" y="474"/>
                  </a:lnTo>
                  <a:lnTo>
                    <a:pt x="14" y="474"/>
                  </a:lnTo>
                  <a:close/>
                  <a:moveTo>
                    <a:pt x="14" y="501"/>
                  </a:moveTo>
                  <a:lnTo>
                    <a:pt x="14" y="515"/>
                  </a:lnTo>
                  <a:lnTo>
                    <a:pt x="0" y="515"/>
                  </a:lnTo>
                  <a:lnTo>
                    <a:pt x="0" y="501"/>
                  </a:lnTo>
                  <a:lnTo>
                    <a:pt x="14" y="501"/>
                  </a:lnTo>
                  <a:close/>
                  <a:moveTo>
                    <a:pt x="14" y="529"/>
                  </a:moveTo>
                  <a:lnTo>
                    <a:pt x="14" y="543"/>
                  </a:lnTo>
                  <a:lnTo>
                    <a:pt x="0" y="543"/>
                  </a:lnTo>
                  <a:lnTo>
                    <a:pt x="0" y="529"/>
                  </a:lnTo>
                  <a:lnTo>
                    <a:pt x="14" y="529"/>
                  </a:lnTo>
                  <a:close/>
                  <a:moveTo>
                    <a:pt x="14" y="557"/>
                  </a:moveTo>
                  <a:lnTo>
                    <a:pt x="14" y="571"/>
                  </a:lnTo>
                  <a:lnTo>
                    <a:pt x="0" y="571"/>
                  </a:lnTo>
                  <a:lnTo>
                    <a:pt x="0" y="557"/>
                  </a:lnTo>
                  <a:lnTo>
                    <a:pt x="14" y="557"/>
                  </a:lnTo>
                  <a:close/>
                  <a:moveTo>
                    <a:pt x="14" y="585"/>
                  </a:moveTo>
                  <a:lnTo>
                    <a:pt x="14" y="599"/>
                  </a:lnTo>
                  <a:lnTo>
                    <a:pt x="0" y="599"/>
                  </a:lnTo>
                  <a:lnTo>
                    <a:pt x="0" y="585"/>
                  </a:lnTo>
                  <a:lnTo>
                    <a:pt x="14" y="585"/>
                  </a:lnTo>
                  <a:close/>
                  <a:moveTo>
                    <a:pt x="14" y="613"/>
                  </a:moveTo>
                  <a:lnTo>
                    <a:pt x="14" y="627"/>
                  </a:lnTo>
                  <a:lnTo>
                    <a:pt x="0" y="627"/>
                  </a:lnTo>
                  <a:lnTo>
                    <a:pt x="0" y="613"/>
                  </a:lnTo>
                  <a:lnTo>
                    <a:pt x="14" y="613"/>
                  </a:lnTo>
                  <a:close/>
                  <a:moveTo>
                    <a:pt x="14" y="641"/>
                  </a:moveTo>
                  <a:lnTo>
                    <a:pt x="14" y="655"/>
                  </a:lnTo>
                  <a:lnTo>
                    <a:pt x="0" y="655"/>
                  </a:lnTo>
                  <a:lnTo>
                    <a:pt x="0" y="641"/>
                  </a:lnTo>
                  <a:lnTo>
                    <a:pt x="14" y="641"/>
                  </a:lnTo>
                  <a:close/>
                  <a:moveTo>
                    <a:pt x="14" y="668"/>
                  </a:moveTo>
                  <a:lnTo>
                    <a:pt x="14" y="682"/>
                  </a:lnTo>
                  <a:lnTo>
                    <a:pt x="0" y="682"/>
                  </a:lnTo>
                  <a:lnTo>
                    <a:pt x="0" y="668"/>
                  </a:lnTo>
                  <a:lnTo>
                    <a:pt x="14" y="668"/>
                  </a:lnTo>
                  <a:close/>
                  <a:moveTo>
                    <a:pt x="14" y="696"/>
                  </a:moveTo>
                  <a:lnTo>
                    <a:pt x="14" y="710"/>
                  </a:lnTo>
                  <a:lnTo>
                    <a:pt x="0" y="710"/>
                  </a:lnTo>
                  <a:lnTo>
                    <a:pt x="0" y="696"/>
                  </a:lnTo>
                  <a:lnTo>
                    <a:pt x="14" y="696"/>
                  </a:lnTo>
                  <a:close/>
                  <a:moveTo>
                    <a:pt x="14" y="724"/>
                  </a:moveTo>
                  <a:lnTo>
                    <a:pt x="14" y="738"/>
                  </a:lnTo>
                  <a:lnTo>
                    <a:pt x="0" y="738"/>
                  </a:lnTo>
                  <a:lnTo>
                    <a:pt x="0" y="724"/>
                  </a:lnTo>
                  <a:lnTo>
                    <a:pt x="14" y="724"/>
                  </a:lnTo>
                  <a:close/>
                  <a:moveTo>
                    <a:pt x="14" y="752"/>
                  </a:moveTo>
                  <a:lnTo>
                    <a:pt x="14" y="766"/>
                  </a:lnTo>
                  <a:lnTo>
                    <a:pt x="0" y="766"/>
                  </a:lnTo>
                  <a:lnTo>
                    <a:pt x="0" y="752"/>
                  </a:lnTo>
                  <a:lnTo>
                    <a:pt x="14" y="752"/>
                  </a:lnTo>
                  <a:close/>
                  <a:moveTo>
                    <a:pt x="14" y="780"/>
                  </a:moveTo>
                  <a:lnTo>
                    <a:pt x="14" y="793"/>
                  </a:lnTo>
                  <a:lnTo>
                    <a:pt x="0" y="793"/>
                  </a:lnTo>
                  <a:lnTo>
                    <a:pt x="0" y="780"/>
                  </a:lnTo>
                  <a:lnTo>
                    <a:pt x="14" y="780"/>
                  </a:lnTo>
                  <a:close/>
                  <a:moveTo>
                    <a:pt x="14" y="808"/>
                  </a:moveTo>
                  <a:lnTo>
                    <a:pt x="14" y="822"/>
                  </a:lnTo>
                  <a:lnTo>
                    <a:pt x="0" y="822"/>
                  </a:lnTo>
                  <a:lnTo>
                    <a:pt x="0" y="808"/>
                  </a:lnTo>
                  <a:lnTo>
                    <a:pt x="14" y="808"/>
                  </a:lnTo>
                  <a:close/>
                  <a:moveTo>
                    <a:pt x="14" y="835"/>
                  </a:moveTo>
                  <a:lnTo>
                    <a:pt x="14" y="849"/>
                  </a:lnTo>
                  <a:lnTo>
                    <a:pt x="0" y="849"/>
                  </a:lnTo>
                  <a:lnTo>
                    <a:pt x="0" y="835"/>
                  </a:lnTo>
                  <a:lnTo>
                    <a:pt x="14" y="835"/>
                  </a:lnTo>
                  <a:close/>
                  <a:moveTo>
                    <a:pt x="14" y="863"/>
                  </a:moveTo>
                  <a:lnTo>
                    <a:pt x="14" y="877"/>
                  </a:lnTo>
                  <a:lnTo>
                    <a:pt x="0" y="877"/>
                  </a:lnTo>
                  <a:lnTo>
                    <a:pt x="0" y="863"/>
                  </a:lnTo>
                  <a:lnTo>
                    <a:pt x="14" y="863"/>
                  </a:lnTo>
                  <a:close/>
                  <a:moveTo>
                    <a:pt x="14" y="891"/>
                  </a:moveTo>
                  <a:lnTo>
                    <a:pt x="14" y="905"/>
                  </a:lnTo>
                  <a:lnTo>
                    <a:pt x="0" y="905"/>
                  </a:lnTo>
                  <a:lnTo>
                    <a:pt x="0" y="891"/>
                  </a:lnTo>
                  <a:lnTo>
                    <a:pt x="14" y="891"/>
                  </a:lnTo>
                  <a:close/>
                  <a:moveTo>
                    <a:pt x="14" y="919"/>
                  </a:moveTo>
                  <a:lnTo>
                    <a:pt x="14" y="933"/>
                  </a:lnTo>
                  <a:lnTo>
                    <a:pt x="0" y="933"/>
                  </a:lnTo>
                  <a:lnTo>
                    <a:pt x="0" y="919"/>
                  </a:lnTo>
                  <a:lnTo>
                    <a:pt x="14" y="919"/>
                  </a:lnTo>
                  <a:close/>
                  <a:moveTo>
                    <a:pt x="14" y="947"/>
                  </a:moveTo>
                  <a:lnTo>
                    <a:pt x="14" y="960"/>
                  </a:lnTo>
                  <a:lnTo>
                    <a:pt x="0" y="960"/>
                  </a:lnTo>
                  <a:lnTo>
                    <a:pt x="0" y="947"/>
                  </a:lnTo>
                  <a:lnTo>
                    <a:pt x="14" y="947"/>
                  </a:lnTo>
                  <a:close/>
                  <a:moveTo>
                    <a:pt x="14" y="974"/>
                  </a:moveTo>
                  <a:lnTo>
                    <a:pt x="14" y="988"/>
                  </a:lnTo>
                  <a:lnTo>
                    <a:pt x="0" y="988"/>
                  </a:lnTo>
                  <a:lnTo>
                    <a:pt x="0" y="974"/>
                  </a:lnTo>
                  <a:lnTo>
                    <a:pt x="14" y="974"/>
                  </a:lnTo>
                  <a:close/>
                  <a:moveTo>
                    <a:pt x="14" y="1002"/>
                  </a:moveTo>
                  <a:lnTo>
                    <a:pt x="14" y="1016"/>
                  </a:lnTo>
                  <a:lnTo>
                    <a:pt x="0" y="1016"/>
                  </a:lnTo>
                  <a:lnTo>
                    <a:pt x="0" y="1002"/>
                  </a:lnTo>
                  <a:lnTo>
                    <a:pt x="14" y="1002"/>
                  </a:lnTo>
                  <a:close/>
                  <a:moveTo>
                    <a:pt x="14" y="1030"/>
                  </a:moveTo>
                  <a:lnTo>
                    <a:pt x="14" y="1044"/>
                  </a:lnTo>
                  <a:lnTo>
                    <a:pt x="0" y="1044"/>
                  </a:lnTo>
                  <a:lnTo>
                    <a:pt x="0" y="1030"/>
                  </a:lnTo>
                  <a:lnTo>
                    <a:pt x="14" y="1030"/>
                  </a:lnTo>
                  <a:close/>
                  <a:moveTo>
                    <a:pt x="14" y="1058"/>
                  </a:moveTo>
                  <a:lnTo>
                    <a:pt x="14" y="1072"/>
                  </a:lnTo>
                  <a:lnTo>
                    <a:pt x="0" y="1072"/>
                  </a:lnTo>
                  <a:lnTo>
                    <a:pt x="0" y="1058"/>
                  </a:lnTo>
                  <a:lnTo>
                    <a:pt x="14" y="1058"/>
                  </a:lnTo>
                  <a:close/>
                  <a:moveTo>
                    <a:pt x="14" y="1086"/>
                  </a:moveTo>
                  <a:lnTo>
                    <a:pt x="14" y="1100"/>
                  </a:lnTo>
                  <a:lnTo>
                    <a:pt x="0" y="1100"/>
                  </a:lnTo>
                  <a:lnTo>
                    <a:pt x="0" y="1086"/>
                  </a:lnTo>
                  <a:lnTo>
                    <a:pt x="14" y="1086"/>
                  </a:lnTo>
                  <a:close/>
                  <a:moveTo>
                    <a:pt x="14" y="1114"/>
                  </a:moveTo>
                  <a:lnTo>
                    <a:pt x="14" y="1127"/>
                  </a:lnTo>
                  <a:lnTo>
                    <a:pt x="0" y="1127"/>
                  </a:lnTo>
                  <a:lnTo>
                    <a:pt x="0" y="1114"/>
                  </a:lnTo>
                  <a:lnTo>
                    <a:pt x="14" y="1114"/>
                  </a:lnTo>
                  <a:close/>
                  <a:moveTo>
                    <a:pt x="14" y="1141"/>
                  </a:moveTo>
                  <a:lnTo>
                    <a:pt x="14" y="1155"/>
                  </a:lnTo>
                  <a:lnTo>
                    <a:pt x="0" y="1155"/>
                  </a:lnTo>
                  <a:lnTo>
                    <a:pt x="0" y="1141"/>
                  </a:lnTo>
                  <a:lnTo>
                    <a:pt x="14" y="1141"/>
                  </a:lnTo>
                  <a:close/>
                  <a:moveTo>
                    <a:pt x="14" y="1169"/>
                  </a:moveTo>
                  <a:lnTo>
                    <a:pt x="14" y="1183"/>
                  </a:lnTo>
                  <a:lnTo>
                    <a:pt x="0" y="1183"/>
                  </a:lnTo>
                  <a:lnTo>
                    <a:pt x="0" y="1169"/>
                  </a:lnTo>
                  <a:lnTo>
                    <a:pt x="14" y="1169"/>
                  </a:lnTo>
                  <a:close/>
                  <a:moveTo>
                    <a:pt x="14" y="1197"/>
                  </a:moveTo>
                  <a:lnTo>
                    <a:pt x="14" y="1211"/>
                  </a:lnTo>
                  <a:lnTo>
                    <a:pt x="0" y="1211"/>
                  </a:lnTo>
                  <a:lnTo>
                    <a:pt x="0" y="1197"/>
                  </a:lnTo>
                  <a:lnTo>
                    <a:pt x="14" y="1197"/>
                  </a:lnTo>
                  <a:close/>
                  <a:moveTo>
                    <a:pt x="14" y="1225"/>
                  </a:moveTo>
                  <a:lnTo>
                    <a:pt x="14" y="1239"/>
                  </a:lnTo>
                  <a:lnTo>
                    <a:pt x="0" y="1239"/>
                  </a:lnTo>
                  <a:lnTo>
                    <a:pt x="0" y="1225"/>
                  </a:lnTo>
                  <a:lnTo>
                    <a:pt x="14" y="1225"/>
                  </a:lnTo>
                  <a:close/>
                  <a:moveTo>
                    <a:pt x="14" y="1253"/>
                  </a:moveTo>
                  <a:lnTo>
                    <a:pt x="14" y="1267"/>
                  </a:lnTo>
                  <a:lnTo>
                    <a:pt x="0" y="1267"/>
                  </a:lnTo>
                  <a:lnTo>
                    <a:pt x="0" y="1253"/>
                  </a:lnTo>
                  <a:lnTo>
                    <a:pt x="14" y="1253"/>
                  </a:lnTo>
                  <a:close/>
                  <a:moveTo>
                    <a:pt x="14" y="1281"/>
                  </a:moveTo>
                  <a:lnTo>
                    <a:pt x="14" y="1294"/>
                  </a:lnTo>
                  <a:lnTo>
                    <a:pt x="0" y="1294"/>
                  </a:lnTo>
                  <a:lnTo>
                    <a:pt x="0" y="1281"/>
                  </a:lnTo>
                  <a:lnTo>
                    <a:pt x="14" y="1281"/>
                  </a:lnTo>
                  <a:close/>
                  <a:moveTo>
                    <a:pt x="14" y="1308"/>
                  </a:moveTo>
                  <a:lnTo>
                    <a:pt x="14" y="1322"/>
                  </a:lnTo>
                  <a:lnTo>
                    <a:pt x="0" y="1322"/>
                  </a:lnTo>
                  <a:lnTo>
                    <a:pt x="0" y="1308"/>
                  </a:lnTo>
                  <a:lnTo>
                    <a:pt x="14" y="1308"/>
                  </a:lnTo>
                  <a:close/>
                  <a:moveTo>
                    <a:pt x="14" y="1336"/>
                  </a:moveTo>
                  <a:lnTo>
                    <a:pt x="14" y="1350"/>
                  </a:lnTo>
                  <a:lnTo>
                    <a:pt x="0" y="1350"/>
                  </a:lnTo>
                  <a:lnTo>
                    <a:pt x="0" y="1336"/>
                  </a:lnTo>
                  <a:lnTo>
                    <a:pt x="14" y="1336"/>
                  </a:lnTo>
                  <a:close/>
                  <a:moveTo>
                    <a:pt x="14" y="1364"/>
                  </a:moveTo>
                  <a:lnTo>
                    <a:pt x="14" y="1378"/>
                  </a:lnTo>
                  <a:lnTo>
                    <a:pt x="0" y="1378"/>
                  </a:lnTo>
                  <a:lnTo>
                    <a:pt x="0" y="1364"/>
                  </a:lnTo>
                  <a:lnTo>
                    <a:pt x="14" y="1364"/>
                  </a:lnTo>
                  <a:close/>
                  <a:moveTo>
                    <a:pt x="14" y="1392"/>
                  </a:moveTo>
                  <a:lnTo>
                    <a:pt x="14" y="1406"/>
                  </a:lnTo>
                  <a:lnTo>
                    <a:pt x="0" y="1406"/>
                  </a:lnTo>
                  <a:lnTo>
                    <a:pt x="0" y="1392"/>
                  </a:lnTo>
                  <a:lnTo>
                    <a:pt x="14" y="1392"/>
                  </a:lnTo>
                  <a:close/>
                  <a:moveTo>
                    <a:pt x="14" y="1420"/>
                  </a:moveTo>
                  <a:lnTo>
                    <a:pt x="14" y="1434"/>
                  </a:lnTo>
                  <a:lnTo>
                    <a:pt x="0" y="1434"/>
                  </a:lnTo>
                  <a:lnTo>
                    <a:pt x="0" y="1420"/>
                  </a:lnTo>
                  <a:lnTo>
                    <a:pt x="14" y="1420"/>
                  </a:lnTo>
                  <a:close/>
                  <a:moveTo>
                    <a:pt x="14" y="1448"/>
                  </a:moveTo>
                  <a:lnTo>
                    <a:pt x="14" y="1461"/>
                  </a:lnTo>
                  <a:lnTo>
                    <a:pt x="0" y="1461"/>
                  </a:lnTo>
                  <a:lnTo>
                    <a:pt x="0" y="1448"/>
                  </a:lnTo>
                  <a:lnTo>
                    <a:pt x="14" y="1448"/>
                  </a:lnTo>
                  <a:close/>
                  <a:moveTo>
                    <a:pt x="14" y="1475"/>
                  </a:moveTo>
                  <a:lnTo>
                    <a:pt x="14" y="1489"/>
                  </a:lnTo>
                  <a:lnTo>
                    <a:pt x="0" y="1489"/>
                  </a:lnTo>
                  <a:lnTo>
                    <a:pt x="0" y="1475"/>
                  </a:lnTo>
                  <a:lnTo>
                    <a:pt x="14" y="1475"/>
                  </a:lnTo>
                  <a:close/>
                  <a:moveTo>
                    <a:pt x="14" y="1503"/>
                  </a:moveTo>
                  <a:lnTo>
                    <a:pt x="14" y="1517"/>
                  </a:lnTo>
                  <a:lnTo>
                    <a:pt x="0" y="1517"/>
                  </a:lnTo>
                  <a:lnTo>
                    <a:pt x="0" y="1503"/>
                  </a:lnTo>
                  <a:lnTo>
                    <a:pt x="14" y="1503"/>
                  </a:lnTo>
                  <a:close/>
                  <a:moveTo>
                    <a:pt x="14" y="1531"/>
                  </a:moveTo>
                  <a:lnTo>
                    <a:pt x="14" y="1545"/>
                  </a:lnTo>
                  <a:lnTo>
                    <a:pt x="0" y="1545"/>
                  </a:lnTo>
                  <a:lnTo>
                    <a:pt x="0" y="1531"/>
                  </a:lnTo>
                  <a:lnTo>
                    <a:pt x="14" y="1531"/>
                  </a:lnTo>
                  <a:close/>
                  <a:moveTo>
                    <a:pt x="14" y="1559"/>
                  </a:moveTo>
                  <a:lnTo>
                    <a:pt x="14" y="1573"/>
                  </a:lnTo>
                  <a:lnTo>
                    <a:pt x="0" y="1573"/>
                  </a:lnTo>
                  <a:lnTo>
                    <a:pt x="0" y="1559"/>
                  </a:lnTo>
                  <a:lnTo>
                    <a:pt x="14" y="1559"/>
                  </a:lnTo>
                  <a:close/>
                  <a:moveTo>
                    <a:pt x="14" y="1587"/>
                  </a:moveTo>
                  <a:lnTo>
                    <a:pt x="14" y="1601"/>
                  </a:lnTo>
                  <a:lnTo>
                    <a:pt x="0" y="1601"/>
                  </a:lnTo>
                  <a:lnTo>
                    <a:pt x="0" y="1587"/>
                  </a:lnTo>
                  <a:lnTo>
                    <a:pt x="14" y="1587"/>
                  </a:lnTo>
                  <a:close/>
                  <a:moveTo>
                    <a:pt x="14" y="1615"/>
                  </a:moveTo>
                  <a:lnTo>
                    <a:pt x="14" y="1628"/>
                  </a:lnTo>
                  <a:lnTo>
                    <a:pt x="0" y="1628"/>
                  </a:lnTo>
                  <a:lnTo>
                    <a:pt x="0" y="1615"/>
                  </a:lnTo>
                  <a:lnTo>
                    <a:pt x="14" y="1615"/>
                  </a:lnTo>
                  <a:close/>
                  <a:moveTo>
                    <a:pt x="14" y="1642"/>
                  </a:moveTo>
                  <a:lnTo>
                    <a:pt x="14" y="1656"/>
                  </a:lnTo>
                  <a:lnTo>
                    <a:pt x="0" y="1656"/>
                  </a:lnTo>
                  <a:lnTo>
                    <a:pt x="0" y="1642"/>
                  </a:lnTo>
                  <a:lnTo>
                    <a:pt x="14" y="1642"/>
                  </a:lnTo>
                  <a:close/>
                  <a:moveTo>
                    <a:pt x="14" y="1670"/>
                  </a:moveTo>
                  <a:lnTo>
                    <a:pt x="14" y="1684"/>
                  </a:lnTo>
                  <a:lnTo>
                    <a:pt x="0" y="1684"/>
                  </a:lnTo>
                  <a:lnTo>
                    <a:pt x="0" y="1670"/>
                  </a:lnTo>
                  <a:lnTo>
                    <a:pt x="14" y="1670"/>
                  </a:lnTo>
                  <a:close/>
                  <a:moveTo>
                    <a:pt x="14" y="1698"/>
                  </a:moveTo>
                  <a:lnTo>
                    <a:pt x="14" y="1712"/>
                  </a:lnTo>
                  <a:lnTo>
                    <a:pt x="0" y="1712"/>
                  </a:lnTo>
                  <a:lnTo>
                    <a:pt x="0" y="1698"/>
                  </a:lnTo>
                  <a:lnTo>
                    <a:pt x="14" y="1698"/>
                  </a:lnTo>
                  <a:close/>
                  <a:moveTo>
                    <a:pt x="14" y="1726"/>
                  </a:moveTo>
                  <a:lnTo>
                    <a:pt x="14" y="1740"/>
                  </a:lnTo>
                  <a:lnTo>
                    <a:pt x="0" y="1740"/>
                  </a:lnTo>
                  <a:lnTo>
                    <a:pt x="0" y="1726"/>
                  </a:lnTo>
                  <a:lnTo>
                    <a:pt x="14" y="1726"/>
                  </a:lnTo>
                  <a:close/>
                  <a:moveTo>
                    <a:pt x="14" y="1754"/>
                  </a:moveTo>
                  <a:lnTo>
                    <a:pt x="14" y="1768"/>
                  </a:lnTo>
                  <a:lnTo>
                    <a:pt x="0" y="1768"/>
                  </a:lnTo>
                  <a:lnTo>
                    <a:pt x="0" y="1754"/>
                  </a:lnTo>
                  <a:lnTo>
                    <a:pt x="14" y="1754"/>
                  </a:lnTo>
                  <a:close/>
                  <a:moveTo>
                    <a:pt x="14" y="1782"/>
                  </a:moveTo>
                  <a:lnTo>
                    <a:pt x="14" y="1795"/>
                  </a:lnTo>
                  <a:lnTo>
                    <a:pt x="0" y="1795"/>
                  </a:lnTo>
                  <a:lnTo>
                    <a:pt x="0" y="1782"/>
                  </a:lnTo>
                  <a:lnTo>
                    <a:pt x="14" y="1782"/>
                  </a:lnTo>
                  <a:close/>
                  <a:moveTo>
                    <a:pt x="14" y="1809"/>
                  </a:moveTo>
                  <a:lnTo>
                    <a:pt x="14" y="1823"/>
                  </a:lnTo>
                  <a:lnTo>
                    <a:pt x="0" y="1823"/>
                  </a:lnTo>
                  <a:lnTo>
                    <a:pt x="0" y="1809"/>
                  </a:lnTo>
                  <a:lnTo>
                    <a:pt x="14" y="1809"/>
                  </a:lnTo>
                  <a:close/>
                  <a:moveTo>
                    <a:pt x="14" y="1837"/>
                  </a:moveTo>
                  <a:lnTo>
                    <a:pt x="14" y="1851"/>
                  </a:lnTo>
                  <a:lnTo>
                    <a:pt x="0" y="1851"/>
                  </a:lnTo>
                  <a:lnTo>
                    <a:pt x="0" y="1837"/>
                  </a:lnTo>
                  <a:lnTo>
                    <a:pt x="14" y="1837"/>
                  </a:lnTo>
                  <a:close/>
                  <a:moveTo>
                    <a:pt x="14" y="1865"/>
                  </a:moveTo>
                  <a:lnTo>
                    <a:pt x="14" y="1879"/>
                  </a:lnTo>
                  <a:lnTo>
                    <a:pt x="0" y="1879"/>
                  </a:lnTo>
                  <a:lnTo>
                    <a:pt x="0" y="1865"/>
                  </a:lnTo>
                  <a:lnTo>
                    <a:pt x="14" y="1865"/>
                  </a:lnTo>
                  <a:close/>
                  <a:moveTo>
                    <a:pt x="14" y="1893"/>
                  </a:moveTo>
                  <a:lnTo>
                    <a:pt x="14" y="1907"/>
                  </a:lnTo>
                  <a:lnTo>
                    <a:pt x="0" y="1907"/>
                  </a:lnTo>
                  <a:lnTo>
                    <a:pt x="0" y="1893"/>
                  </a:lnTo>
                  <a:lnTo>
                    <a:pt x="14" y="1893"/>
                  </a:lnTo>
                  <a:close/>
                  <a:moveTo>
                    <a:pt x="14" y="1921"/>
                  </a:moveTo>
                  <a:lnTo>
                    <a:pt x="14" y="1935"/>
                  </a:lnTo>
                  <a:lnTo>
                    <a:pt x="0" y="1935"/>
                  </a:lnTo>
                  <a:lnTo>
                    <a:pt x="0" y="1921"/>
                  </a:lnTo>
                  <a:lnTo>
                    <a:pt x="14" y="1921"/>
                  </a:lnTo>
                  <a:close/>
                  <a:moveTo>
                    <a:pt x="14" y="1949"/>
                  </a:moveTo>
                  <a:lnTo>
                    <a:pt x="14" y="1962"/>
                  </a:lnTo>
                  <a:lnTo>
                    <a:pt x="0" y="1962"/>
                  </a:lnTo>
                  <a:lnTo>
                    <a:pt x="0" y="1949"/>
                  </a:lnTo>
                  <a:lnTo>
                    <a:pt x="14" y="1949"/>
                  </a:lnTo>
                  <a:close/>
                  <a:moveTo>
                    <a:pt x="14" y="1976"/>
                  </a:moveTo>
                  <a:lnTo>
                    <a:pt x="14" y="1990"/>
                  </a:lnTo>
                  <a:lnTo>
                    <a:pt x="0" y="1990"/>
                  </a:lnTo>
                  <a:lnTo>
                    <a:pt x="0" y="1976"/>
                  </a:lnTo>
                  <a:lnTo>
                    <a:pt x="14" y="1976"/>
                  </a:lnTo>
                  <a:close/>
                  <a:moveTo>
                    <a:pt x="14" y="2004"/>
                  </a:moveTo>
                  <a:lnTo>
                    <a:pt x="14" y="2018"/>
                  </a:lnTo>
                  <a:lnTo>
                    <a:pt x="0" y="2018"/>
                  </a:lnTo>
                  <a:lnTo>
                    <a:pt x="0" y="2004"/>
                  </a:lnTo>
                  <a:lnTo>
                    <a:pt x="14" y="2004"/>
                  </a:lnTo>
                  <a:close/>
                  <a:moveTo>
                    <a:pt x="14" y="2032"/>
                  </a:moveTo>
                  <a:lnTo>
                    <a:pt x="14" y="2046"/>
                  </a:lnTo>
                  <a:lnTo>
                    <a:pt x="0" y="2046"/>
                  </a:lnTo>
                  <a:lnTo>
                    <a:pt x="0" y="2032"/>
                  </a:lnTo>
                  <a:lnTo>
                    <a:pt x="14" y="2032"/>
                  </a:lnTo>
                  <a:close/>
                  <a:moveTo>
                    <a:pt x="14" y="2060"/>
                  </a:moveTo>
                  <a:lnTo>
                    <a:pt x="14" y="2074"/>
                  </a:lnTo>
                  <a:lnTo>
                    <a:pt x="0" y="2074"/>
                  </a:lnTo>
                  <a:lnTo>
                    <a:pt x="0" y="2060"/>
                  </a:lnTo>
                  <a:lnTo>
                    <a:pt x="14" y="2060"/>
                  </a:lnTo>
                  <a:close/>
                  <a:moveTo>
                    <a:pt x="14" y="2087"/>
                  </a:moveTo>
                  <a:lnTo>
                    <a:pt x="14" y="2102"/>
                  </a:lnTo>
                  <a:lnTo>
                    <a:pt x="0" y="2102"/>
                  </a:lnTo>
                  <a:lnTo>
                    <a:pt x="0" y="2087"/>
                  </a:lnTo>
                  <a:lnTo>
                    <a:pt x="14" y="2087"/>
                  </a:lnTo>
                  <a:close/>
                  <a:moveTo>
                    <a:pt x="14" y="2116"/>
                  </a:moveTo>
                  <a:lnTo>
                    <a:pt x="14" y="2129"/>
                  </a:lnTo>
                  <a:lnTo>
                    <a:pt x="0" y="2129"/>
                  </a:lnTo>
                  <a:lnTo>
                    <a:pt x="0" y="2116"/>
                  </a:lnTo>
                  <a:lnTo>
                    <a:pt x="14" y="2116"/>
                  </a:lnTo>
                  <a:close/>
                  <a:moveTo>
                    <a:pt x="14" y="2143"/>
                  </a:moveTo>
                  <a:lnTo>
                    <a:pt x="14" y="2157"/>
                  </a:lnTo>
                  <a:lnTo>
                    <a:pt x="0" y="2157"/>
                  </a:lnTo>
                  <a:lnTo>
                    <a:pt x="0" y="2143"/>
                  </a:lnTo>
                  <a:lnTo>
                    <a:pt x="14" y="2143"/>
                  </a:lnTo>
                  <a:close/>
                  <a:moveTo>
                    <a:pt x="14" y="2171"/>
                  </a:moveTo>
                  <a:lnTo>
                    <a:pt x="14" y="2185"/>
                  </a:lnTo>
                  <a:lnTo>
                    <a:pt x="0" y="2185"/>
                  </a:lnTo>
                  <a:lnTo>
                    <a:pt x="0" y="2171"/>
                  </a:lnTo>
                  <a:lnTo>
                    <a:pt x="14" y="2171"/>
                  </a:lnTo>
                  <a:close/>
                  <a:moveTo>
                    <a:pt x="14" y="2199"/>
                  </a:moveTo>
                  <a:lnTo>
                    <a:pt x="14" y="2213"/>
                  </a:lnTo>
                  <a:lnTo>
                    <a:pt x="0" y="2213"/>
                  </a:lnTo>
                  <a:lnTo>
                    <a:pt x="0" y="2199"/>
                  </a:lnTo>
                  <a:lnTo>
                    <a:pt x="14" y="2199"/>
                  </a:lnTo>
                  <a:close/>
                  <a:moveTo>
                    <a:pt x="14" y="2227"/>
                  </a:moveTo>
                  <a:lnTo>
                    <a:pt x="14" y="2241"/>
                  </a:lnTo>
                  <a:lnTo>
                    <a:pt x="0" y="2241"/>
                  </a:lnTo>
                  <a:lnTo>
                    <a:pt x="0" y="2227"/>
                  </a:lnTo>
                  <a:lnTo>
                    <a:pt x="14" y="2227"/>
                  </a:lnTo>
                  <a:close/>
                  <a:moveTo>
                    <a:pt x="14" y="2254"/>
                  </a:moveTo>
                  <a:lnTo>
                    <a:pt x="14" y="2268"/>
                  </a:lnTo>
                  <a:lnTo>
                    <a:pt x="0" y="2268"/>
                  </a:lnTo>
                  <a:lnTo>
                    <a:pt x="0" y="2254"/>
                  </a:lnTo>
                  <a:lnTo>
                    <a:pt x="14" y="2254"/>
                  </a:lnTo>
                  <a:close/>
                  <a:moveTo>
                    <a:pt x="14" y="2283"/>
                  </a:moveTo>
                  <a:lnTo>
                    <a:pt x="14" y="2296"/>
                  </a:lnTo>
                  <a:lnTo>
                    <a:pt x="0" y="2296"/>
                  </a:lnTo>
                  <a:lnTo>
                    <a:pt x="0" y="2283"/>
                  </a:lnTo>
                  <a:lnTo>
                    <a:pt x="14" y="2283"/>
                  </a:lnTo>
                  <a:close/>
                  <a:moveTo>
                    <a:pt x="14" y="2310"/>
                  </a:moveTo>
                  <a:lnTo>
                    <a:pt x="14" y="2324"/>
                  </a:lnTo>
                  <a:lnTo>
                    <a:pt x="0" y="2324"/>
                  </a:lnTo>
                  <a:lnTo>
                    <a:pt x="0" y="2310"/>
                  </a:lnTo>
                  <a:lnTo>
                    <a:pt x="14" y="2310"/>
                  </a:lnTo>
                  <a:close/>
                  <a:moveTo>
                    <a:pt x="14" y="2338"/>
                  </a:moveTo>
                  <a:lnTo>
                    <a:pt x="14" y="2352"/>
                  </a:lnTo>
                  <a:lnTo>
                    <a:pt x="0" y="2352"/>
                  </a:lnTo>
                  <a:lnTo>
                    <a:pt x="0" y="2338"/>
                  </a:lnTo>
                  <a:lnTo>
                    <a:pt x="14" y="2338"/>
                  </a:lnTo>
                  <a:close/>
                  <a:moveTo>
                    <a:pt x="14" y="2366"/>
                  </a:moveTo>
                  <a:lnTo>
                    <a:pt x="14" y="2380"/>
                  </a:lnTo>
                  <a:lnTo>
                    <a:pt x="0" y="2380"/>
                  </a:lnTo>
                  <a:lnTo>
                    <a:pt x="0" y="2366"/>
                  </a:lnTo>
                  <a:lnTo>
                    <a:pt x="14" y="2366"/>
                  </a:lnTo>
                  <a:close/>
                  <a:moveTo>
                    <a:pt x="14" y="2394"/>
                  </a:moveTo>
                  <a:lnTo>
                    <a:pt x="14" y="2408"/>
                  </a:lnTo>
                  <a:lnTo>
                    <a:pt x="0" y="2408"/>
                  </a:lnTo>
                  <a:lnTo>
                    <a:pt x="0" y="2394"/>
                  </a:lnTo>
                  <a:lnTo>
                    <a:pt x="14" y="2394"/>
                  </a:lnTo>
                  <a:close/>
                  <a:moveTo>
                    <a:pt x="14" y="2421"/>
                  </a:moveTo>
                  <a:lnTo>
                    <a:pt x="14" y="2435"/>
                  </a:lnTo>
                  <a:lnTo>
                    <a:pt x="0" y="2435"/>
                  </a:lnTo>
                  <a:lnTo>
                    <a:pt x="0" y="2421"/>
                  </a:lnTo>
                  <a:lnTo>
                    <a:pt x="14" y="2421"/>
                  </a:lnTo>
                  <a:close/>
                  <a:moveTo>
                    <a:pt x="14" y="2449"/>
                  </a:moveTo>
                  <a:lnTo>
                    <a:pt x="14" y="2453"/>
                  </a:lnTo>
                  <a:lnTo>
                    <a:pt x="0" y="2453"/>
                  </a:lnTo>
                  <a:lnTo>
                    <a:pt x="0" y="2449"/>
                  </a:lnTo>
                  <a:lnTo>
                    <a:pt x="14" y="2449"/>
                  </a:lnTo>
                  <a:close/>
                </a:path>
              </a:pathLst>
            </a:custGeom>
            <a:solidFill>
              <a:srgbClr val="000000"/>
            </a:solidFill>
            <a:ln w="0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489" name="Freeform 31">
              <a:extLst>
                <a:ext uri="{FF2B5EF4-FFF2-40B4-BE49-F238E27FC236}">
                  <a16:creationId xmlns:a16="http://schemas.microsoft.com/office/drawing/2014/main" id="{C7400476-B9AF-1A15-1577-048FBAB6442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031428" y="3078501"/>
              <a:ext cx="18000" cy="3726773"/>
            </a:xfrm>
            <a:custGeom>
              <a:avLst/>
              <a:gdLst>
                <a:gd name="T0" fmla="*/ 15 w 15"/>
                <a:gd name="T1" fmla="*/ 42 h 2453"/>
                <a:gd name="T2" fmla="*/ 0 w 15"/>
                <a:gd name="T3" fmla="*/ 56 h 2453"/>
                <a:gd name="T4" fmla="*/ 15 w 15"/>
                <a:gd name="T5" fmla="*/ 112 h 2453"/>
                <a:gd name="T6" fmla="*/ 0 w 15"/>
                <a:gd name="T7" fmla="*/ 154 h 2453"/>
                <a:gd name="T8" fmla="*/ 15 w 15"/>
                <a:gd name="T9" fmla="*/ 167 h 2453"/>
                <a:gd name="T10" fmla="*/ 15 w 15"/>
                <a:gd name="T11" fmla="*/ 237 h 2453"/>
                <a:gd name="T12" fmla="*/ 0 w 15"/>
                <a:gd name="T13" fmla="*/ 251 h 2453"/>
                <a:gd name="T14" fmla="*/ 15 w 15"/>
                <a:gd name="T15" fmla="*/ 307 h 2453"/>
                <a:gd name="T16" fmla="*/ 0 w 15"/>
                <a:gd name="T17" fmla="*/ 348 h 2453"/>
                <a:gd name="T18" fmla="*/ 15 w 15"/>
                <a:gd name="T19" fmla="*/ 362 h 2453"/>
                <a:gd name="T20" fmla="*/ 15 w 15"/>
                <a:gd name="T21" fmla="*/ 432 h 2453"/>
                <a:gd name="T22" fmla="*/ 0 w 15"/>
                <a:gd name="T23" fmla="*/ 446 h 2453"/>
                <a:gd name="T24" fmla="*/ 15 w 15"/>
                <a:gd name="T25" fmla="*/ 501 h 2453"/>
                <a:gd name="T26" fmla="*/ 0 w 15"/>
                <a:gd name="T27" fmla="*/ 543 h 2453"/>
                <a:gd name="T28" fmla="*/ 15 w 15"/>
                <a:gd name="T29" fmla="*/ 557 h 2453"/>
                <a:gd name="T30" fmla="*/ 15 w 15"/>
                <a:gd name="T31" fmla="*/ 627 h 2453"/>
                <a:gd name="T32" fmla="*/ 0 w 15"/>
                <a:gd name="T33" fmla="*/ 641 h 2453"/>
                <a:gd name="T34" fmla="*/ 15 w 15"/>
                <a:gd name="T35" fmla="*/ 696 h 2453"/>
                <a:gd name="T36" fmla="*/ 0 w 15"/>
                <a:gd name="T37" fmla="*/ 738 h 2453"/>
                <a:gd name="T38" fmla="*/ 15 w 15"/>
                <a:gd name="T39" fmla="*/ 752 h 2453"/>
                <a:gd name="T40" fmla="*/ 15 w 15"/>
                <a:gd name="T41" fmla="*/ 822 h 2453"/>
                <a:gd name="T42" fmla="*/ 0 w 15"/>
                <a:gd name="T43" fmla="*/ 835 h 2453"/>
                <a:gd name="T44" fmla="*/ 15 w 15"/>
                <a:gd name="T45" fmla="*/ 891 h 2453"/>
                <a:gd name="T46" fmla="*/ 0 w 15"/>
                <a:gd name="T47" fmla="*/ 933 h 2453"/>
                <a:gd name="T48" fmla="*/ 15 w 15"/>
                <a:gd name="T49" fmla="*/ 947 h 2453"/>
                <a:gd name="T50" fmla="*/ 15 w 15"/>
                <a:gd name="T51" fmla="*/ 1016 h 2453"/>
                <a:gd name="T52" fmla="*/ 0 w 15"/>
                <a:gd name="T53" fmla="*/ 1030 h 2453"/>
                <a:gd name="T54" fmla="*/ 15 w 15"/>
                <a:gd name="T55" fmla="*/ 1086 h 2453"/>
                <a:gd name="T56" fmla="*/ 0 w 15"/>
                <a:gd name="T57" fmla="*/ 1127 h 2453"/>
                <a:gd name="T58" fmla="*/ 15 w 15"/>
                <a:gd name="T59" fmla="*/ 1141 h 2453"/>
                <a:gd name="T60" fmla="*/ 15 w 15"/>
                <a:gd name="T61" fmla="*/ 1211 h 2453"/>
                <a:gd name="T62" fmla="*/ 0 w 15"/>
                <a:gd name="T63" fmla="*/ 1225 h 2453"/>
                <a:gd name="T64" fmla="*/ 15 w 15"/>
                <a:gd name="T65" fmla="*/ 1281 h 2453"/>
                <a:gd name="T66" fmla="*/ 0 w 15"/>
                <a:gd name="T67" fmla="*/ 1322 h 2453"/>
                <a:gd name="T68" fmla="*/ 15 w 15"/>
                <a:gd name="T69" fmla="*/ 1336 h 2453"/>
                <a:gd name="T70" fmla="*/ 15 w 15"/>
                <a:gd name="T71" fmla="*/ 1406 h 2453"/>
                <a:gd name="T72" fmla="*/ 0 w 15"/>
                <a:gd name="T73" fmla="*/ 1420 h 2453"/>
                <a:gd name="T74" fmla="*/ 15 w 15"/>
                <a:gd name="T75" fmla="*/ 1475 h 2453"/>
                <a:gd name="T76" fmla="*/ 0 w 15"/>
                <a:gd name="T77" fmla="*/ 1517 h 2453"/>
                <a:gd name="T78" fmla="*/ 15 w 15"/>
                <a:gd name="T79" fmla="*/ 1531 h 2453"/>
                <a:gd name="T80" fmla="*/ 15 w 15"/>
                <a:gd name="T81" fmla="*/ 1601 h 2453"/>
                <a:gd name="T82" fmla="*/ 0 w 15"/>
                <a:gd name="T83" fmla="*/ 1615 h 2453"/>
                <a:gd name="T84" fmla="*/ 15 w 15"/>
                <a:gd name="T85" fmla="*/ 1670 h 2453"/>
                <a:gd name="T86" fmla="*/ 0 w 15"/>
                <a:gd name="T87" fmla="*/ 1712 h 2453"/>
                <a:gd name="T88" fmla="*/ 15 w 15"/>
                <a:gd name="T89" fmla="*/ 1726 h 2453"/>
                <a:gd name="T90" fmla="*/ 15 w 15"/>
                <a:gd name="T91" fmla="*/ 1795 h 2453"/>
                <a:gd name="T92" fmla="*/ 0 w 15"/>
                <a:gd name="T93" fmla="*/ 1809 h 2453"/>
                <a:gd name="T94" fmla="*/ 15 w 15"/>
                <a:gd name="T95" fmla="*/ 1865 h 2453"/>
                <a:gd name="T96" fmla="*/ 0 w 15"/>
                <a:gd name="T97" fmla="*/ 1907 h 2453"/>
                <a:gd name="T98" fmla="*/ 15 w 15"/>
                <a:gd name="T99" fmla="*/ 1921 h 2453"/>
                <a:gd name="T100" fmla="*/ 15 w 15"/>
                <a:gd name="T101" fmla="*/ 1990 h 2453"/>
                <a:gd name="T102" fmla="*/ 0 w 15"/>
                <a:gd name="T103" fmla="*/ 2004 h 2453"/>
                <a:gd name="T104" fmla="*/ 15 w 15"/>
                <a:gd name="T105" fmla="*/ 2060 h 2453"/>
                <a:gd name="T106" fmla="*/ 0 w 15"/>
                <a:gd name="T107" fmla="*/ 2102 h 2453"/>
                <a:gd name="T108" fmla="*/ 15 w 15"/>
                <a:gd name="T109" fmla="*/ 2116 h 2453"/>
                <a:gd name="T110" fmla="*/ 15 w 15"/>
                <a:gd name="T111" fmla="*/ 2185 h 2453"/>
                <a:gd name="T112" fmla="*/ 0 w 15"/>
                <a:gd name="T113" fmla="*/ 2199 h 2453"/>
                <a:gd name="T114" fmla="*/ 15 w 15"/>
                <a:gd name="T115" fmla="*/ 2254 h 2453"/>
                <a:gd name="T116" fmla="*/ 0 w 15"/>
                <a:gd name="T117" fmla="*/ 2296 h 2453"/>
                <a:gd name="T118" fmla="*/ 15 w 15"/>
                <a:gd name="T119" fmla="*/ 2310 h 2453"/>
                <a:gd name="T120" fmla="*/ 15 w 15"/>
                <a:gd name="T121" fmla="*/ 2380 h 2453"/>
                <a:gd name="T122" fmla="*/ 0 w 15"/>
                <a:gd name="T123" fmla="*/ 2394 h 2453"/>
                <a:gd name="T124" fmla="*/ 15 w 15"/>
                <a:gd name="T125" fmla="*/ 2449 h 24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5" h="2453">
                  <a:moveTo>
                    <a:pt x="15" y="0"/>
                  </a:moveTo>
                  <a:lnTo>
                    <a:pt x="15" y="14"/>
                  </a:lnTo>
                  <a:lnTo>
                    <a:pt x="0" y="14"/>
                  </a:lnTo>
                  <a:lnTo>
                    <a:pt x="0" y="0"/>
                  </a:lnTo>
                  <a:lnTo>
                    <a:pt x="15" y="0"/>
                  </a:lnTo>
                  <a:close/>
                  <a:moveTo>
                    <a:pt x="15" y="28"/>
                  </a:moveTo>
                  <a:lnTo>
                    <a:pt x="15" y="42"/>
                  </a:lnTo>
                  <a:lnTo>
                    <a:pt x="0" y="42"/>
                  </a:lnTo>
                  <a:lnTo>
                    <a:pt x="0" y="28"/>
                  </a:lnTo>
                  <a:lnTo>
                    <a:pt x="15" y="28"/>
                  </a:lnTo>
                  <a:close/>
                  <a:moveTo>
                    <a:pt x="15" y="56"/>
                  </a:moveTo>
                  <a:lnTo>
                    <a:pt x="15" y="70"/>
                  </a:lnTo>
                  <a:lnTo>
                    <a:pt x="0" y="70"/>
                  </a:lnTo>
                  <a:lnTo>
                    <a:pt x="0" y="56"/>
                  </a:lnTo>
                  <a:lnTo>
                    <a:pt x="15" y="56"/>
                  </a:lnTo>
                  <a:close/>
                  <a:moveTo>
                    <a:pt x="15" y="84"/>
                  </a:moveTo>
                  <a:lnTo>
                    <a:pt x="15" y="98"/>
                  </a:lnTo>
                  <a:lnTo>
                    <a:pt x="0" y="98"/>
                  </a:lnTo>
                  <a:lnTo>
                    <a:pt x="0" y="84"/>
                  </a:lnTo>
                  <a:lnTo>
                    <a:pt x="15" y="84"/>
                  </a:lnTo>
                  <a:close/>
                  <a:moveTo>
                    <a:pt x="15" y="112"/>
                  </a:moveTo>
                  <a:lnTo>
                    <a:pt x="15" y="126"/>
                  </a:lnTo>
                  <a:lnTo>
                    <a:pt x="0" y="126"/>
                  </a:lnTo>
                  <a:lnTo>
                    <a:pt x="0" y="112"/>
                  </a:lnTo>
                  <a:lnTo>
                    <a:pt x="15" y="112"/>
                  </a:lnTo>
                  <a:close/>
                  <a:moveTo>
                    <a:pt x="15" y="140"/>
                  </a:moveTo>
                  <a:lnTo>
                    <a:pt x="15" y="154"/>
                  </a:lnTo>
                  <a:lnTo>
                    <a:pt x="0" y="154"/>
                  </a:lnTo>
                  <a:lnTo>
                    <a:pt x="0" y="140"/>
                  </a:lnTo>
                  <a:lnTo>
                    <a:pt x="15" y="140"/>
                  </a:lnTo>
                  <a:close/>
                  <a:moveTo>
                    <a:pt x="15" y="167"/>
                  </a:moveTo>
                  <a:lnTo>
                    <a:pt x="15" y="181"/>
                  </a:lnTo>
                  <a:lnTo>
                    <a:pt x="0" y="181"/>
                  </a:lnTo>
                  <a:lnTo>
                    <a:pt x="0" y="167"/>
                  </a:lnTo>
                  <a:lnTo>
                    <a:pt x="15" y="167"/>
                  </a:lnTo>
                  <a:close/>
                  <a:moveTo>
                    <a:pt x="15" y="195"/>
                  </a:moveTo>
                  <a:lnTo>
                    <a:pt x="15" y="209"/>
                  </a:lnTo>
                  <a:lnTo>
                    <a:pt x="0" y="209"/>
                  </a:lnTo>
                  <a:lnTo>
                    <a:pt x="0" y="195"/>
                  </a:lnTo>
                  <a:lnTo>
                    <a:pt x="15" y="195"/>
                  </a:lnTo>
                  <a:close/>
                  <a:moveTo>
                    <a:pt x="15" y="223"/>
                  </a:moveTo>
                  <a:lnTo>
                    <a:pt x="15" y="237"/>
                  </a:lnTo>
                  <a:lnTo>
                    <a:pt x="0" y="237"/>
                  </a:lnTo>
                  <a:lnTo>
                    <a:pt x="0" y="223"/>
                  </a:lnTo>
                  <a:lnTo>
                    <a:pt x="15" y="223"/>
                  </a:lnTo>
                  <a:close/>
                  <a:moveTo>
                    <a:pt x="15" y="251"/>
                  </a:moveTo>
                  <a:lnTo>
                    <a:pt x="15" y="265"/>
                  </a:lnTo>
                  <a:lnTo>
                    <a:pt x="0" y="265"/>
                  </a:lnTo>
                  <a:lnTo>
                    <a:pt x="0" y="251"/>
                  </a:lnTo>
                  <a:lnTo>
                    <a:pt x="15" y="251"/>
                  </a:lnTo>
                  <a:close/>
                  <a:moveTo>
                    <a:pt x="15" y="279"/>
                  </a:moveTo>
                  <a:lnTo>
                    <a:pt x="15" y="293"/>
                  </a:lnTo>
                  <a:lnTo>
                    <a:pt x="0" y="293"/>
                  </a:lnTo>
                  <a:lnTo>
                    <a:pt x="0" y="279"/>
                  </a:lnTo>
                  <a:lnTo>
                    <a:pt x="15" y="279"/>
                  </a:lnTo>
                  <a:close/>
                  <a:moveTo>
                    <a:pt x="15" y="307"/>
                  </a:moveTo>
                  <a:lnTo>
                    <a:pt x="15" y="321"/>
                  </a:lnTo>
                  <a:lnTo>
                    <a:pt x="0" y="321"/>
                  </a:lnTo>
                  <a:lnTo>
                    <a:pt x="0" y="307"/>
                  </a:lnTo>
                  <a:lnTo>
                    <a:pt x="15" y="307"/>
                  </a:lnTo>
                  <a:close/>
                  <a:moveTo>
                    <a:pt x="15" y="334"/>
                  </a:moveTo>
                  <a:lnTo>
                    <a:pt x="15" y="348"/>
                  </a:lnTo>
                  <a:lnTo>
                    <a:pt x="0" y="348"/>
                  </a:lnTo>
                  <a:lnTo>
                    <a:pt x="0" y="334"/>
                  </a:lnTo>
                  <a:lnTo>
                    <a:pt x="15" y="334"/>
                  </a:lnTo>
                  <a:close/>
                  <a:moveTo>
                    <a:pt x="15" y="362"/>
                  </a:moveTo>
                  <a:lnTo>
                    <a:pt x="15" y="376"/>
                  </a:lnTo>
                  <a:lnTo>
                    <a:pt x="0" y="376"/>
                  </a:lnTo>
                  <a:lnTo>
                    <a:pt x="0" y="362"/>
                  </a:lnTo>
                  <a:lnTo>
                    <a:pt x="15" y="362"/>
                  </a:lnTo>
                  <a:close/>
                  <a:moveTo>
                    <a:pt x="15" y="390"/>
                  </a:moveTo>
                  <a:lnTo>
                    <a:pt x="15" y="404"/>
                  </a:lnTo>
                  <a:lnTo>
                    <a:pt x="0" y="404"/>
                  </a:lnTo>
                  <a:lnTo>
                    <a:pt x="0" y="390"/>
                  </a:lnTo>
                  <a:lnTo>
                    <a:pt x="15" y="390"/>
                  </a:lnTo>
                  <a:close/>
                  <a:moveTo>
                    <a:pt x="15" y="418"/>
                  </a:moveTo>
                  <a:lnTo>
                    <a:pt x="15" y="432"/>
                  </a:lnTo>
                  <a:lnTo>
                    <a:pt x="0" y="432"/>
                  </a:lnTo>
                  <a:lnTo>
                    <a:pt x="0" y="418"/>
                  </a:lnTo>
                  <a:lnTo>
                    <a:pt x="15" y="418"/>
                  </a:lnTo>
                  <a:close/>
                  <a:moveTo>
                    <a:pt x="15" y="446"/>
                  </a:moveTo>
                  <a:lnTo>
                    <a:pt x="15" y="460"/>
                  </a:lnTo>
                  <a:lnTo>
                    <a:pt x="0" y="460"/>
                  </a:lnTo>
                  <a:lnTo>
                    <a:pt x="0" y="446"/>
                  </a:lnTo>
                  <a:lnTo>
                    <a:pt x="15" y="446"/>
                  </a:lnTo>
                  <a:close/>
                  <a:moveTo>
                    <a:pt x="15" y="474"/>
                  </a:moveTo>
                  <a:lnTo>
                    <a:pt x="15" y="488"/>
                  </a:lnTo>
                  <a:lnTo>
                    <a:pt x="0" y="488"/>
                  </a:lnTo>
                  <a:lnTo>
                    <a:pt x="0" y="474"/>
                  </a:lnTo>
                  <a:lnTo>
                    <a:pt x="15" y="474"/>
                  </a:lnTo>
                  <a:close/>
                  <a:moveTo>
                    <a:pt x="15" y="501"/>
                  </a:moveTo>
                  <a:lnTo>
                    <a:pt x="15" y="515"/>
                  </a:lnTo>
                  <a:lnTo>
                    <a:pt x="0" y="515"/>
                  </a:lnTo>
                  <a:lnTo>
                    <a:pt x="0" y="501"/>
                  </a:lnTo>
                  <a:lnTo>
                    <a:pt x="15" y="501"/>
                  </a:lnTo>
                  <a:close/>
                  <a:moveTo>
                    <a:pt x="15" y="529"/>
                  </a:moveTo>
                  <a:lnTo>
                    <a:pt x="15" y="543"/>
                  </a:lnTo>
                  <a:lnTo>
                    <a:pt x="0" y="543"/>
                  </a:lnTo>
                  <a:lnTo>
                    <a:pt x="0" y="529"/>
                  </a:lnTo>
                  <a:lnTo>
                    <a:pt x="15" y="529"/>
                  </a:lnTo>
                  <a:close/>
                  <a:moveTo>
                    <a:pt x="15" y="557"/>
                  </a:moveTo>
                  <a:lnTo>
                    <a:pt x="15" y="571"/>
                  </a:lnTo>
                  <a:lnTo>
                    <a:pt x="0" y="571"/>
                  </a:lnTo>
                  <a:lnTo>
                    <a:pt x="0" y="557"/>
                  </a:lnTo>
                  <a:lnTo>
                    <a:pt x="15" y="557"/>
                  </a:lnTo>
                  <a:close/>
                  <a:moveTo>
                    <a:pt x="15" y="585"/>
                  </a:moveTo>
                  <a:lnTo>
                    <a:pt x="15" y="599"/>
                  </a:lnTo>
                  <a:lnTo>
                    <a:pt x="0" y="599"/>
                  </a:lnTo>
                  <a:lnTo>
                    <a:pt x="0" y="585"/>
                  </a:lnTo>
                  <a:lnTo>
                    <a:pt x="15" y="585"/>
                  </a:lnTo>
                  <a:close/>
                  <a:moveTo>
                    <a:pt x="15" y="613"/>
                  </a:moveTo>
                  <a:lnTo>
                    <a:pt x="15" y="627"/>
                  </a:lnTo>
                  <a:lnTo>
                    <a:pt x="0" y="627"/>
                  </a:lnTo>
                  <a:lnTo>
                    <a:pt x="0" y="613"/>
                  </a:lnTo>
                  <a:lnTo>
                    <a:pt x="15" y="613"/>
                  </a:lnTo>
                  <a:close/>
                  <a:moveTo>
                    <a:pt x="15" y="641"/>
                  </a:moveTo>
                  <a:lnTo>
                    <a:pt x="15" y="655"/>
                  </a:lnTo>
                  <a:lnTo>
                    <a:pt x="0" y="655"/>
                  </a:lnTo>
                  <a:lnTo>
                    <a:pt x="0" y="641"/>
                  </a:lnTo>
                  <a:lnTo>
                    <a:pt x="15" y="641"/>
                  </a:lnTo>
                  <a:close/>
                  <a:moveTo>
                    <a:pt x="15" y="668"/>
                  </a:moveTo>
                  <a:lnTo>
                    <a:pt x="15" y="682"/>
                  </a:lnTo>
                  <a:lnTo>
                    <a:pt x="0" y="682"/>
                  </a:lnTo>
                  <a:lnTo>
                    <a:pt x="0" y="668"/>
                  </a:lnTo>
                  <a:lnTo>
                    <a:pt x="15" y="668"/>
                  </a:lnTo>
                  <a:close/>
                  <a:moveTo>
                    <a:pt x="15" y="696"/>
                  </a:moveTo>
                  <a:lnTo>
                    <a:pt x="15" y="710"/>
                  </a:lnTo>
                  <a:lnTo>
                    <a:pt x="0" y="710"/>
                  </a:lnTo>
                  <a:lnTo>
                    <a:pt x="0" y="696"/>
                  </a:lnTo>
                  <a:lnTo>
                    <a:pt x="15" y="696"/>
                  </a:lnTo>
                  <a:close/>
                  <a:moveTo>
                    <a:pt x="15" y="724"/>
                  </a:moveTo>
                  <a:lnTo>
                    <a:pt x="15" y="738"/>
                  </a:lnTo>
                  <a:lnTo>
                    <a:pt x="0" y="738"/>
                  </a:lnTo>
                  <a:lnTo>
                    <a:pt x="0" y="724"/>
                  </a:lnTo>
                  <a:lnTo>
                    <a:pt x="15" y="724"/>
                  </a:lnTo>
                  <a:close/>
                  <a:moveTo>
                    <a:pt x="15" y="752"/>
                  </a:moveTo>
                  <a:lnTo>
                    <a:pt x="15" y="766"/>
                  </a:lnTo>
                  <a:lnTo>
                    <a:pt x="0" y="766"/>
                  </a:lnTo>
                  <a:lnTo>
                    <a:pt x="0" y="752"/>
                  </a:lnTo>
                  <a:lnTo>
                    <a:pt x="15" y="752"/>
                  </a:lnTo>
                  <a:close/>
                  <a:moveTo>
                    <a:pt x="15" y="780"/>
                  </a:moveTo>
                  <a:lnTo>
                    <a:pt x="15" y="793"/>
                  </a:lnTo>
                  <a:lnTo>
                    <a:pt x="0" y="793"/>
                  </a:lnTo>
                  <a:lnTo>
                    <a:pt x="0" y="780"/>
                  </a:lnTo>
                  <a:lnTo>
                    <a:pt x="15" y="780"/>
                  </a:lnTo>
                  <a:close/>
                  <a:moveTo>
                    <a:pt x="15" y="808"/>
                  </a:moveTo>
                  <a:lnTo>
                    <a:pt x="15" y="822"/>
                  </a:lnTo>
                  <a:lnTo>
                    <a:pt x="0" y="822"/>
                  </a:lnTo>
                  <a:lnTo>
                    <a:pt x="0" y="808"/>
                  </a:lnTo>
                  <a:lnTo>
                    <a:pt x="15" y="808"/>
                  </a:lnTo>
                  <a:close/>
                  <a:moveTo>
                    <a:pt x="15" y="835"/>
                  </a:moveTo>
                  <a:lnTo>
                    <a:pt x="15" y="849"/>
                  </a:lnTo>
                  <a:lnTo>
                    <a:pt x="0" y="849"/>
                  </a:lnTo>
                  <a:lnTo>
                    <a:pt x="0" y="835"/>
                  </a:lnTo>
                  <a:lnTo>
                    <a:pt x="15" y="835"/>
                  </a:lnTo>
                  <a:close/>
                  <a:moveTo>
                    <a:pt x="15" y="863"/>
                  </a:moveTo>
                  <a:lnTo>
                    <a:pt x="15" y="877"/>
                  </a:lnTo>
                  <a:lnTo>
                    <a:pt x="0" y="877"/>
                  </a:lnTo>
                  <a:lnTo>
                    <a:pt x="0" y="863"/>
                  </a:lnTo>
                  <a:lnTo>
                    <a:pt x="15" y="863"/>
                  </a:lnTo>
                  <a:close/>
                  <a:moveTo>
                    <a:pt x="15" y="891"/>
                  </a:moveTo>
                  <a:lnTo>
                    <a:pt x="15" y="905"/>
                  </a:lnTo>
                  <a:lnTo>
                    <a:pt x="0" y="905"/>
                  </a:lnTo>
                  <a:lnTo>
                    <a:pt x="0" y="891"/>
                  </a:lnTo>
                  <a:lnTo>
                    <a:pt x="15" y="891"/>
                  </a:lnTo>
                  <a:close/>
                  <a:moveTo>
                    <a:pt x="15" y="919"/>
                  </a:moveTo>
                  <a:lnTo>
                    <a:pt x="15" y="933"/>
                  </a:lnTo>
                  <a:lnTo>
                    <a:pt x="0" y="933"/>
                  </a:lnTo>
                  <a:lnTo>
                    <a:pt x="0" y="919"/>
                  </a:lnTo>
                  <a:lnTo>
                    <a:pt x="15" y="919"/>
                  </a:lnTo>
                  <a:close/>
                  <a:moveTo>
                    <a:pt x="15" y="947"/>
                  </a:moveTo>
                  <a:lnTo>
                    <a:pt x="15" y="960"/>
                  </a:lnTo>
                  <a:lnTo>
                    <a:pt x="0" y="960"/>
                  </a:lnTo>
                  <a:lnTo>
                    <a:pt x="0" y="947"/>
                  </a:lnTo>
                  <a:lnTo>
                    <a:pt x="15" y="947"/>
                  </a:lnTo>
                  <a:close/>
                  <a:moveTo>
                    <a:pt x="15" y="974"/>
                  </a:moveTo>
                  <a:lnTo>
                    <a:pt x="15" y="988"/>
                  </a:lnTo>
                  <a:lnTo>
                    <a:pt x="0" y="988"/>
                  </a:lnTo>
                  <a:lnTo>
                    <a:pt x="0" y="974"/>
                  </a:lnTo>
                  <a:lnTo>
                    <a:pt x="15" y="974"/>
                  </a:lnTo>
                  <a:close/>
                  <a:moveTo>
                    <a:pt x="15" y="1002"/>
                  </a:moveTo>
                  <a:lnTo>
                    <a:pt x="15" y="1016"/>
                  </a:lnTo>
                  <a:lnTo>
                    <a:pt x="0" y="1016"/>
                  </a:lnTo>
                  <a:lnTo>
                    <a:pt x="0" y="1002"/>
                  </a:lnTo>
                  <a:lnTo>
                    <a:pt x="15" y="1002"/>
                  </a:lnTo>
                  <a:close/>
                  <a:moveTo>
                    <a:pt x="15" y="1030"/>
                  </a:moveTo>
                  <a:lnTo>
                    <a:pt x="15" y="1044"/>
                  </a:lnTo>
                  <a:lnTo>
                    <a:pt x="0" y="1044"/>
                  </a:lnTo>
                  <a:lnTo>
                    <a:pt x="0" y="1030"/>
                  </a:lnTo>
                  <a:lnTo>
                    <a:pt x="15" y="1030"/>
                  </a:lnTo>
                  <a:close/>
                  <a:moveTo>
                    <a:pt x="15" y="1058"/>
                  </a:moveTo>
                  <a:lnTo>
                    <a:pt x="15" y="1072"/>
                  </a:lnTo>
                  <a:lnTo>
                    <a:pt x="0" y="1072"/>
                  </a:lnTo>
                  <a:lnTo>
                    <a:pt x="0" y="1058"/>
                  </a:lnTo>
                  <a:lnTo>
                    <a:pt x="15" y="1058"/>
                  </a:lnTo>
                  <a:close/>
                  <a:moveTo>
                    <a:pt x="15" y="1086"/>
                  </a:moveTo>
                  <a:lnTo>
                    <a:pt x="15" y="1100"/>
                  </a:lnTo>
                  <a:lnTo>
                    <a:pt x="0" y="1100"/>
                  </a:lnTo>
                  <a:lnTo>
                    <a:pt x="0" y="1086"/>
                  </a:lnTo>
                  <a:lnTo>
                    <a:pt x="15" y="1086"/>
                  </a:lnTo>
                  <a:close/>
                  <a:moveTo>
                    <a:pt x="15" y="1114"/>
                  </a:moveTo>
                  <a:lnTo>
                    <a:pt x="15" y="1127"/>
                  </a:lnTo>
                  <a:lnTo>
                    <a:pt x="0" y="1127"/>
                  </a:lnTo>
                  <a:lnTo>
                    <a:pt x="0" y="1114"/>
                  </a:lnTo>
                  <a:lnTo>
                    <a:pt x="15" y="1114"/>
                  </a:lnTo>
                  <a:close/>
                  <a:moveTo>
                    <a:pt x="15" y="1141"/>
                  </a:moveTo>
                  <a:lnTo>
                    <a:pt x="15" y="1155"/>
                  </a:lnTo>
                  <a:lnTo>
                    <a:pt x="0" y="1155"/>
                  </a:lnTo>
                  <a:lnTo>
                    <a:pt x="0" y="1141"/>
                  </a:lnTo>
                  <a:lnTo>
                    <a:pt x="15" y="1141"/>
                  </a:lnTo>
                  <a:close/>
                  <a:moveTo>
                    <a:pt x="15" y="1169"/>
                  </a:moveTo>
                  <a:lnTo>
                    <a:pt x="15" y="1183"/>
                  </a:lnTo>
                  <a:lnTo>
                    <a:pt x="0" y="1183"/>
                  </a:lnTo>
                  <a:lnTo>
                    <a:pt x="0" y="1169"/>
                  </a:lnTo>
                  <a:lnTo>
                    <a:pt x="15" y="1169"/>
                  </a:lnTo>
                  <a:close/>
                  <a:moveTo>
                    <a:pt x="15" y="1197"/>
                  </a:moveTo>
                  <a:lnTo>
                    <a:pt x="15" y="1211"/>
                  </a:lnTo>
                  <a:lnTo>
                    <a:pt x="0" y="1211"/>
                  </a:lnTo>
                  <a:lnTo>
                    <a:pt x="0" y="1197"/>
                  </a:lnTo>
                  <a:lnTo>
                    <a:pt x="15" y="1197"/>
                  </a:lnTo>
                  <a:close/>
                  <a:moveTo>
                    <a:pt x="15" y="1225"/>
                  </a:moveTo>
                  <a:lnTo>
                    <a:pt x="15" y="1239"/>
                  </a:lnTo>
                  <a:lnTo>
                    <a:pt x="0" y="1239"/>
                  </a:lnTo>
                  <a:lnTo>
                    <a:pt x="0" y="1225"/>
                  </a:lnTo>
                  <a:lnTo>
                    <a:pt x="15" y="1225"/>
                  </a:lnTo>
                  <a:close/>
                  <a:moveTo>
                    <a:pt x="15" y="1253"/>
                  </a:moveTo>
                  <a:lnTo>
                    <a:pt x="15" y="1267"/>
                  </a:lnTo>
                  <a:lnTo>
                    <a:pt x="0" y="1267"/>
                  </a:lnTo>
                  <a:lnTo>
                    <a:pt x="0" y="1253"/>
                  </a:lnTo>
                  <a:lnTo>
                    <a:pt x="15" y="1253"/>
                  </a:lnTo>
                  <a:close/>
                  <a:moveTo>
                    <a:pt x="15" y="1281"/>
                  </a:moveTo>
                  <a:lnTo>
                    <a:pt x="15" y="1294"/>
                  </a:lnTo>
                  <a:lnTo>
                    <a:pt x="0" y="1294"/>
                  </a:lnTo>
                  <a:lnTo>
                    <a:pt x="0" y="1281"/>
                  </a:lnTo>
                  <a:lnTo>
                    <a:pt x="15" y="1281"/>
                  </a:lnTo>
                  <a:close/>
                  <a:moveTo>
                    <a:pt x="15" y="1308"/>
                  </a:moveTo>
                  <a:lnTo>
                    <a:pt x="15" y="1322"/>
                  </a:lnTo>
                  <a:lnTo>
                    <a:pt x="0" y="1322"/>
                  </a:lnTo>
                  <a:lnTo>
                    <a:pt x="0" y="1308"/>
                  </a:lnTo>
                  <a:lnTo>
                    <a:pt x="15" y="1308"/>
                  </a:lnTo>
                  <a:close/>
                  <a:moveTo>
                    <a:pt x="15" y="1336"/>
                  </a:moveTo>
                  <a:lnTo>
                    <a:pt x="15" y="1350"/>
                  </a:lnTo>
                  <a:lnTo>
                    <a:pt x="0" y="1350"/>
                  </a:lnTo>
                  <a:lnTo>
                    <a:pt x="0" y="1336"/>
                  </a:lnTo>
                  <a:lnTo>
                    <a:pt x="15" y="1336"/>
                  </a:lnTo>
                  <a:close/>
                  <a:moveTo>
                    <a:pt x="15" y="1364"/>
                  </a:moveTo>
                  <a:lnTo>
                    <a:pt x="15" y="1378"/>
                  </a:lnTo>
                  <a:lnTo>
                    <a:pt x="0" y="1378"/>
                  </a:lnTo>
                  <a:lnTo>
                    <a:pt x="0" y="1364"/>
                  </a:lnTo>
                  <a:lnTo>
                    <a:pt x="15" y="1364"/>
                  </a:lnTo>
                  <a:close/>
                  <a:moveTo>
                    <a:pt x="15" y="1392"/>
                  </a:moveTo>
                  <a:lnTo>
                    <a:pt x="15" y="1406"/>
                  </a:lnTo>
                  <a:lnTo>
                    <a:pt x="0" y="1406"/>
                  </a:lnTo>
                  <a:lnTo>
                    <a:pt x="0" y="1392"/>
                  </a:lnTo>
                  <a:lnTo>
                    <a:pt x="15" y="1392"/>
                  </a:lnTo>
                  <a:close/>
                  <a:moveTo>
                    <a:pt x="15" y="1420"/>
                  </a:moveTo>
                  <a:lnTo>
                    <a:pt x="15" y="1434"/>
                  </a:lnTo>
                  <a:lnTo>
                    <a:pt x="0" y="1434"/>
                  </a:lnTo>
                  <a:lnTo>
                    <a:pt x="0" y="1420"/>
                  </a:lnTo>
                  <a:lnTo>
                    <a:pt x="15" y="1420"/>
                  </a:lnTo>
                  <a:close/>
                  <a:moveTo>
                    <a:pt x="15" y="1448"/>
                  </a:moveTo>
                  <a:lnTo>
                    <a:pt x="15" y="1461"/>
                  </a:lnTo>
                  <a:lnTo>
                    <a:pt x="0" y="1461"/>
                  </a:lnTo>
                  <a:lnTo>
                    <a:pt x="0" y="1448"/>
                  </a:lnTo>
                  <a:lnTo>
                    <a:pt x="15" y="1448"/>
                  </a:lnTo>
                  <a:close/>
                  <a:moveTo>
                    <a:pt x="15" y="1475"/>
                  </a:moveTo>
                  <a:lnTo>
                    <a:pt x="15" y="1489"/>
                  </a:lnTo>
                  <a:lnTo>
                    <a:pt x="0" y="1489"/>
                  </a:lnTo>
                  <a:lnTo>
                    <a:pt x="0" y="1475"/>
                  </a:lnTo>
                  <a:lnTo>
                    <a:pt x="15" y="1475"/>
                  </a:lnTo>
                  <a:close/>
                  <a:moveTo>
                    <a:pt x="15" y="1503"/>
                  </a:moveTo>
                  <a:lnTo>
                    <a:pt x="15" y="1517"/>
                  </a:lnTo>
                  <a:lnTo>
                    <a:pt x="0" y="1517"/>
                  </a:lnTo>
                  <a:lnTo>
                    <a:pt x="0" y="1503"/>
                  </a:lnTo>
                  <a:lnTo>
                    <a:pt x="15" y="1503"/>
                  </a:lnTo>
                  <a:close/>
                  <a:moveTo>
                    <a:pt x="15" y="1531"/>
                  </a:moveTo>
                  <a:lnTo>
                    <a:pt x="15" y="1545"/>
                  </a:lnTo>
                  <a:lnTo>
                    <a:pt x="0" y="1545"/>
                  </a:lnTo>
                  <a:lnTo>
                    <a:pt x="0" y="1531"/>
                  </a:lnTo>
                  <a:lnTo>
                    <a:pt x="15" y="1531"/>
                  </a:lnTo>
                  <a:close/>
                  <a:moveTo>
                    <a:pt x="15" y="1559"/>
                  </a:moveTo>
                  <a:lnTo>
                    <a:pt x="15" y="1573"/>
                  </a:lnTo>
                  <a:lnTo>
                    <a:pt x="0" y="1573"/>
                  </a:lnTo>
                  <a:lnTo>
                    <a:pt x="0" y="1559"/>
                  </a:lnTo>
                  <a:lnTo>
                    <a:pt x="15" y="1559"/>
                  </a:lnTo>
                  <a:close/>
                  <a:moveTo>
                    <a:pt x="15" y="1587"/>
                  </a:moveTo>
                  <a:lnTo>
                    <a:pt x="15" y="1601"/>
                  </a:lnTo>
                  <a:lnTo>
                    <a:pt x="0" y="1601"/>
                  </a:lnTo>
                  <a:lnTo>
                    <a:pt x="0" y="1587"/>
                  </a:lnTo>
                  <a:lnTo>
                    <a:pt x="15" y="1587"/>
                  </a:lnTo>
                  <a:close/>
                  <a:moveTo>
                    <a:pt x="15" y="1615"/>
                  </a:moveTo>
                  <a:lnTo>
                    <a:pt x="15" y="1628"/>
                  </a:lnTo>
                  <a:lnTo>
                    <a:pt x="0" y="1628"/>
                  </a:lnTo>
                  <a:lnTo>
                    <a:pt x="0" y="1615"/>
                  </a:lnTo>
                  <a:lnTo>
                    <a:pt x="15" y="1615"/>
                  </a:lnTo>
                  <a:close/>
                  <a:moveTo>
                    <a:pt x="15" y="1642"/>
                  </a:moveTo>
                  <a:lnTo>
                    <a:pt x="15" y="1656"/>
                  </a:lnTo>
                  <a:lnTo>
                    <a:pt x="0" y="1656"/>
                  </a:lnTo>
                  <a:lnTo>
                    <a:pt x="0" y="1642"/>
                  </a:lnTo>
                  <a:lnTo>
                    <a:pt x="15" y="1642"/>
                  </a:lnTo>
                  <a:close/>
                  <a:moveTo>
                    <a:pt x="15" y="1670"/>
                  </a:moveTo>
                  <a:lnTo>
                    <a:pt x="15" y="1684"/>
                  </a:lnTo>
                  <a:lnTo>
                    <a:pt x="0" y="1684"/>
                  </a:lnTo>
                  <a:lnTo>
                    <a:pt x="0" y="1670"/>
                  </a:lnTo>
                  <a:lnTo>
                    <a:pt x="15" y="1670"/>
                  </a:lnTo>
                  <a:close/>
                  <a:moveTo>
                    <a:pt x="15" y="1698"/>
                  </a:moveTo>
                  <a:lnTo>
                    <a:pt x="15" y="1712"/>
                  </a:lnTo>
                  <a:lnTo>
                    <a:pt x="0" y="1712"/>
                  </a:lnTo>
                  <a:lnTo>
                    <a:pt x="0" y="1698"/>
                  </a:lnTo>
                  <a:lnTo>
                    <a:pt x="15" y="1698"/>
                  </a:lnTo>
                  <a:close/>
                  <a:moveTo>
                    <a:pt x="15" y="1726"/>
                  </a:moveTo>
                  <a:lnTo>
                    <a:pt x="15" y="1740"/>
                  </a:lnTo>
                  <a:lnTo>
                    <a:pt x="0" y="1740"/>
                  </a:lnTo>
                  <a:lnTo>
                    <a:pt x="0" y="1726"/>
                  </a:lnTo>
                  <a:lnTo>
                    <a:pt x="15" y="1726"/>
                  </a:lnTo>
                  <a:close/>
                  <a:moveTo>
                    <a:pt x="15" y="1754"/>
                  </a:moveTo>
                  <a:lnTo>
                    <a:pt x="15" y="1768"/>
                  </a:lnTo>
                  <a:lnTo>
                    <a:pt x="0" y="1768"/>
                  </a:lnTo>
                  <a:lnTo>
                    <a:pt x="0" y="1754"/>
                  </a:lnTo>
                  <a:lnTo>
                    <a:pt x="15" y="1754"/>
                  </a:lnTo>
                  <a:close/>
                  <a:moveTo>
                    <a:pt x="15" y="1782"/>
                  </a:moveTo>
                  <a:lnTo>
                    <a:pt x="15" y="1795"/>
                  </a:lnTo>
                  <a:lnTo>
                    <a:pt x="0" y="1795"/>
                  </a:lnTo>
                  <a:lnTo>
                    <a:pt x="0" y="1782"/>
                  </a:lnTo>
                  <a:lnTo>
                    <a:pt x="15" y="1782"/>
                  </a:lnTo>
                  <a:close/>
                  <a:moveTo>
                    <a:pt x="15" y="1809"/>
                  </a:moveTo>
                  <a:lnTo>
                    <a:pt x="15" y="1823"/>
                  </a:lnTo>
                  <a:lnTo>
                    <a:pt x="0" y="1823"/>
                  </a:lnTo>
                  <a:lnTo>
                    <a:pt x="0" y="1809"/>
                  </a:lnTo>
                  <a:lnTo>
                    <a:pt x="15" y="1809"/>
                  </a:lnTo>
                  <a:close/>
                  <a:moveTo>
                    <a:pt x="15" y="1837"/>
                  </a:moveTo>
                  <a:lnTo>
                    <a:pt x="15" y="1851"/>
                  </a:lnTo>
                  <a:lnTo>
                    <a:pt x="0" y="1851"/>
                  </a:lnTo>
                  <a:lnTo>
                    <a:pt x="0" y="1837"/>
                  </a:lnTo>
                  <a:lnTo>
                    <a:pt x="15" y="1837"/>
                  </a:lnTo>
                  <a:close/>
                  <a:moveTo>
                    <a:pt x="15" y="1865"/>
                  </a:moveTo>
                  <a:lnTo>
                    <a:pt x="15" y="1879"/>
                  </a:lnTo>
                  <a:lnTo>
                    <a:pt x="0" y="1879"/>
                  </a:lnTo>
                  <a:lnTo>
                    <a:pt x="0" y="1865"/>
                  </a:lnTo>
                  <a:lnTo>
                    <a:pt x="15" y="1865"/>
                  </a:lnTo>
                  <a:close/>
                  <a:moveTo>
                    <a:pt x="15" y="1893"/>
                  </a:moveTo>
                  <a:lnTo>
                    <a:pt x="15" y="1907"/>
                  </a:lnTo>
                  <a:lnTo>
                    <a:pt x="0" y="1907"/>
                  </a:lnTo>
                  <a:lnTo>
                    <a:pt x="0" y="1893"/>
                  </a:lnTo>
                  <a:lnTo>
                    <a:pt x="15" y="1893"/>
                  </a:lnTo>
                  <a:close/>
                  <a:moveTo>
                    <a:pt x="15" y="1921"/>
                  </a:moveTo>
                  <a:lnTo>
                    <a:pt x="15" y="1935"/>
                  </a:lnTo>
                  <a:lnTo>
                    <a:pt x="0" y="1935"/>
                  </a:lnTo>
                  <a:lnTo>
                    <a:pt x="0" y="1921"/>
                  </a:lnTo>
                  <a:lnTo>
                    <a:pt x="15" y="1921"/>
                  </a:lnTo>
                  <a:close/>
                  <a:moveTo>
                    <a:pt x="15" y="1949"/>
                  </a:moveTo>
                  <a:lnTo>
                    <a:pt x="15" y="1962"/>
                  </a:lnTo>
                  <a:lnTo>
                    <a:pt x="0" y="1962"/>
                  </a:lnTo>
                  <a:lnTo>
                    <a:pt x="0" y="1949"/>
                  </a:lnTo>
                  <a:lnTo>
                    <a:pt x="15" y="1949"/>
                  </a:lnTo>
                  <a:close/>
                  <a:moveTo>
                    <a:pt x="15" y="1976"/>
                  </a:moveTo>
                  <a:lnTo>
                    <a:pt x="15" y="1990"/>
                  </a:lnTo>
                  <a:lnTo>
                    <a:pt x="0" y="1990"/>
                  </a:lnTo>
                  <a:lnTo>
                    <a:pt x="0" y="1976"/>
                  </a:lnTo>
                  <a:lnTo>
                    <a:pt x="15" y="1976"/>
                  </a:lnTo>
                  <a:close/>
                  <a:moveTo>
                    <a:pt x="15" y="2004"/>
                  </a:moveTo>
                  <a:lnTo>
                    <a:pt x="15" y="2018"/>
                  </a:lnTo>
                  <a:lnTo>
                    <a:pt x="0" y="2018"/>
                  </a:lnTo>
                  <a:lnTo>
                    <a:pt x="0" y="2004"/>
                  </a:lnTo>
                  <a:lnTo>
                    <a:pt x="15" y="2004"/>
                  </a:lnTo>
                  <a:close/>
                  <a:moveTo>
                    <a:pt x="15" y="2032"/>
                  </a:moveTo>
                  <a:lnTo>
                    <a:pt x="15" y="2046"/>
                  </a:lnTo>
                  <a:lnTo>
                    <a:pt x="0" y="2046"/>
                  </a:lnTo>
                  <a:lnTo>
                    <a:pt x="0" y="2032"/>
                  </a:lnTo>
                  <a:lnTo>
                    <a:pt x="15" y="2032"/>
                  </a:lnTo>
                  <a:close/>
                  <a:moveTo>
                    <a:pt x="15" y="2060"/>
                  </a:moveTo>
                  <a:lnTo>
                    <a:pt x="15" y="2074"/>
                  </a:lnTo>
                  <a:lnTo>
                    <a:pt x="0" y="2074"/>
                  </a:lnTo>
                  <a:lnTo>
                    <a:pt x="0" y="2060"/>
                  </a:lnTo>
                  <a:lnTo>
                    <a:pt x="15" y="2060"/>
                  </a:lnTo>
                  <a:close/>
                  <a:moveTo>
                    <a:pt x="15" y="2087"/>
                  </a:moveTo>
                  <a:lnTo>
                    <a:pt x="15" y="2102"/>
                  </a:lnTo>
                  <a:lnTo>
                    <a:pt x="0" y="2102"/>
                  </a:lnTo>
                  <a:lnTo>
                    <a:pt x="0" y="2087"/>
                  </a:lnTo>
                  <a:lnTo>
                    <a:pt x="15" y="2087"/>
                  </a:lnTo>
                  <a:close/>
                  <a:moveTo>
                    <a:pt x="15" y="2116"/>
                  </a:moveTo>
                  <a:lnTo>
                    <a:pt x="15" y="2129"/>
                  </a:lnTo>
                  <a:lnTo>
                    <a:pt x="0" y="2129"/>
                  </a:lnTo>
                  <a:lnTo>
                    <a:pt x="0" y="2116"/>
                  </a:lnTo>
                  <a:lnTo>
                    <a:pt x="15" y="2116"/>
                  </a:lnTo>
                  <a:close/>
                  <a:moveTo>
                    <a:pt x="15" y="2143"/>
                  </a:moveTo>
                  <a:lnTo>
                    <a:pt x="15" y="2157"/>
                  </a:lnTo>
                  <a:lnTo>
                    <a:pt x="0" y="2157"/>
                  </a:lnTo>
                  <a:lnTo>
                    <a:pt x="0" y="2143"/>
                  </a:lnTo>
                  <a:lnTo>
                    <a:pt x="15" y="2143"/>
                  </a:lnTo>
                  <a:close/>
                  <a:moveTo>
                    <a:pt x="15" y="2171"/>
                  </a:moveTo>
                  <a:lnTo>
                    <a:pt x="15" y="2185"/>
                  </a:lnTo>
                  <a:lnTo>
                    <a:pt x="0" y="2185"/>
                  </a:lnTo>
                  <a:lnTo>
                    <a:pt x="0" y="2171"/>
                  </a:lnTo>
                  <a:lnTo>
                    <a:pt x="15" y="2171"/>
                  </a:lnTo>
                  <a:close/>
                  <a:moveTo>
                    <a:pt x="15" y="2199"/>
                  </a:moveTo>
                  <a:lnTo>
                    <a:pt x="15" y="2213"/>
                  </a:lnTo>
                  <a:lnTo>
                    <a:pt x="0" y="2213"/>
                  </a:lnTo>
                  <a:lnTo>
                    <a:pt x="0" y="2199"/>
                  </a:lnTo>
                  <a:lnTo>
                    <a:pt x="15" y="2199"/>
                  </a:lnTo>
                  <a:close/>
                  <a:moveTo>
                    <a:pt x="15" y="2227"/>
                  </a:moveTo>
                  <a:lnTo>
                    <a:pt x="15" y="2241"/>
                  </a:lnTo>
                  <a:lnTo>
                    <a:pt x="0" y="2241"/>
                  </a:lnTo>
                  <a:lnTo>
                    <a:pt x="0" y="2227"/>
                  </a:lnTo>
                  <a:lnTo>
                    <a:pt x="15" y="2227"/>
                  </a:lnTo>
                  <a:close/>
                  <a:moveTo>
                    <a:pt x="15" y="2254"/>
                  </a:moveTo>
                  <a:lnTo>
                    <a:pt x="15" y="2268"/>
                  </a:lnTo>
                  <a:lnTo>
                    <a:pt x="0" y="2268"/>
                  </a:lnTo>
                  <a:lnTo>
                    <a:pt x="0" y="2254"/>
                  </a:lnTo>
                  <a:lnTo>
                    <a:pt x="15" y="2254"/>
                  </a:lnTo>
                  <a:close/>
                  <a:moveTo>
                    <a:pt x="15" y="2283"/>
                  </a:moveTo>
                  <a:lnTo>
                    <a:pt x="15" y="2296"/>
                  </a:lnTo>
                  <a:lnTo>
                    <a:pt x="0" y="2296"/>
                  </a:lnTo>
                  <a:lnTo>
                    <a:pt x="0" y="2283"/>
                  </a:lnTo>
                  <a:lnTo>
                    <a:pt x="15" y="2283"/>
                  </a:lnTo>
                  <a:close/>
                  <a:moveTo>
                    <a:pt x="15" y="2310"/>
                  </a:moveTo>
                  <a:lnTo>
                    <a:pt x="15" y="2324"/>
                  </a:lnTo>
                  <a:lnTo>
                    <a:pt x="0" y="2324"/>
                  </a:lnTo>
                  <a:lnTo>
                    <a:pt x="0" y="2310"/>
                  </a:lnTo>
                  <a:lnTo>
                    <a:pt x="15" y="2310"/>
                  </a:lnTo>
                  <a:close/>
                  <a:moveTo>
                    <a:pt x="15" y="2338"/>
                  </a:moveTo>
                  <a:lnTo>
                    <a:pt x="15" y="2352"/>
                  </a:lnTo>
                  <a:lnTo>
                    <a:pt x="0" y="2352"/>
                  </a:lnTo>
                  <a:lnTo>
                    <a:pt x="0" y="2338"/>
                  </a:lnTo>
                  <a:lnTo>
                    <a:pt x="15" y="2338"/>
                  </a:lnTo>
                  <a:close/>
                  <a:moveTo>
                    <a:pt x="15" y="2366"/>
                  </a:moveTo>
                  <a:lnTo>
                    <a:pt x="15" y="2380"/>
                  </a:lnTo>
                  <a:lnTo>
                    <a:pt x="0" y="2380"/>
                  </a:lnTo>
                  <a:lnTo>
                    <a:pt x="0" y="2366"/>
                  </a:lnTo>
                  <a:lnTo>
                    <a:pt x="15" y="2366"/>
                  </a:lnTo>
                  <a:close/>
                  <a:moveTo>
                    <a:pt x="15" y="2394"/>
                  </a:moveTo>
                  <a:lnTo>
                    <a:pt x="15" y="2408"/>
                  </a:lnTo>
                  <a:lnTo>
                    <a:pt x="0" y="2408"/>
                  </a:lnTo>
                  <a:lnTo>
                    <a:pt x="0" y="2394"/>
                  </a:lnTo>
                  <a:lnTo>
                    <a:pt x="15" y="2394"/>
                  </a:lnTo>
                  <a:close/>
                  <a:moveTo>
                    <a:pt x="15" y="2421"/>
                  </a:moveTo>
                  <a:lnTo>
                    <a:pt x="15" y="2435"/>
                  </a:lnTo>
                  <a:lnTo>
                    <a:pt x="0" y="2435"/>
                  </a:lnTo>
                  <a:lnTo>
                    <a:pt x="0" y="2421"/>
                  </a:lnTo>
                  <a:lnTo>
                    <a:pt x="15" y="2421"/>
                  </a:lnTo>
                  <a:close/>
                  <a:moveTo>
                    <a:pt x="15" y="2449"/>
                  </a:moveTo>
                  <a:lnTo>
                    <a:pt x="15" y="2453"/>
                  </a:lnTo>
                  <a:lnTo>
                    <a:pt x="0" y="2453"/>
                  </a:lnTo>
                  <a:lnTo>
                    <a:pt x="0" y="2449"/>
                  </a:lnTo>
                  <a:lnTo>
                    <a:pt x="15" y="2449"/>
                  </a:lnTo>
                  <a:close/>
                </a:path>
              </a:pathLst>
            </a:custGeom>
            <a:solidFill>
              <a:srgbClr val="000000"/>
            </a:solidFill>
            <a:ln w="0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490" name="Freeform 32">
              <a:extLst>
                <a:ext uri="{FF2B5EF4-FFF2-40B4-BE49-F238E27FC236}">
                  <a16:creationId xmlns:a16="http://schemas.microsoft.com/office/drawing/2014/main" id="{36DEFE5E-5771-4759-D685-EDBF0A57581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620254" y="3078501"/>
              <a:ext cx="18000" cy="3726773"/>
            </a:xfrm>
            <a:custGeom>
              <a:avLst/>
              <a:gdLst>
                <a:gd name="T0" fmla="*/ 14 w 14"/>
                <a:gd name="T1" fmla="*/ 42 h 2453"/>
                <a:gd name="T2" fmla="*/ 0 w 14"/>
                <a:gd name="T3" fmla="*/ 56 h 2453"/>
                <a:gd name="T4" fmla="*/ 14 w 14"/>
                <a:gd name="T5" fmla="*/ 112 h 2453"/>
                <a:gd name="T6" fmla="*/ 0 w 14"/>
                <a:gd name="T7" fmla="*/ 154 h 2453"/>
                <a:gd name="T8" fmla="*/ 14 w 14"/>
                <a:gd name="T9" fmla="*/ 167 h 2453"/>
                <a:gd name="T10" fmla="*/ 14 w 14"/>
                <a:gd name="T11" fmla="*/ 237 h 2453"/>
                <a:gd name="T12" fmla="*/ 0 w 14"/>
                <a:gd name="T13" fmla="*/ 251 h 2453"/>
                <a:gd name="T14" fmla="*/ 14 w 14"/>
                <a:gd name="T15" fmla="*/ 307 h 2453"/>
                <a:gd name="T16" fmla="*/ 0 w 14"/>
                <a:gd name="T17" fmla="*/ 348 h 2453"/>
                <a:gd name="T18" fmla="*/ 14 w 14"/>
                <a:gd name="T19" fmla="*/ 362 h 2453"/>
                <a:gd name="T20" fmla="*/ 14 w 14"/>
                <a:gd name="T21" fmla="*/ 432 h 2453"/>
                <a:gd name="T22" fmla="*/ 0 w 14"/>
                <a:gd name="T23" fmla="*/ 446 h 2453"/>
                <a:gd name="T24" fmla="*/ 14 w 14"/>
                <a:gd name="T25" fmla="*/ 501 h 2453"/>
                <a:gd name="T26" fmla="*/ 0 w 14"/>
                <a:gd name="T27" fmla="*/ 543 h 2453"/>
                <a:gd name="T28" fmla="*/ 14 w 14"/>
                <a:gd name="T29" fmla="*/ 557 h 2453"/>
                <a:gd name="T30" fmla="*/ 14 w 14"/>
                <a:gd name="T31" fmla="*/ 627 h 2453"/>
                <a:gd name="T32" fmla="*/ 0 w 14"/>
                <a:gd name="T33" fmla="*/ 641 h 2453"/>
                <a:gd name="T34" fmla="*/ 14 w 14"/>
                <a:gd name="T35" fmla="*/ 696 h 2453"/>
                <a:gd name="T36" fmla="*/ 0 w 14"/>
                <a:gd name="T37" fmla="*/ 738 h 2453"/>
                <a:gd name="T38" fmla="*/ 14 w 14"/>
                <a:gd name="T39" fmla="*/ 752 h 2453"/>
                <a:gd name="T40" fmla="*/ 14 w 14"/>
                <a:gd name="T41" fmla="*/ 822 h 2453"/>
                <a:gd name="T42" fmla="*/ 0 w 14"/>
                <a:gd name="T43" fmla="*/ 835 h 2453"/>
                <a:gd name="T44" fmla="*/ 14 w 14"/>
                <a:gd name="T45" fmla="*/ 891 h 2453"/>
                <a:gd name="T46" fmla="*/ 0 w 14"/>
                <a:gd name="T47" fmla="*/ 933 h 2453"/>
                <a:gd name="T48" fmla="*/ 14 w 14"/>
                <a:gd name="T49" fmla="*/ 947 h 2453"/>
                <a:gd name="T50" fmla="*/ 14 w 14"/>
                <a:gd name="T51" fmla="*/ 1016 h 2453"/>
                <a:gd name="T52" fmla="*/ 0 w 14"/>
                <a:gd name="T53" fmla="*/ 1030 h 2453"/>
                <a:gd name="T54" fmla="*/ 14 w 14"/>
                <a:gd name="T55" fmla="*/ 1086 h 2453"/>
                <a:gd name="T56" fmla="*/ 0 w 14"/>
                <a:gd name="T57" fmla="*/ 1127 h 2453"/>
                <a:gd name="T58" fmla="*/ 14 w 14"/>
                <a:gd name="T59" fmla="*/ 1141 h 2453"/>
                <a:gd name="T60" fmla="*/ 14 w 14"/>
                <a:gd name="T61" fmla="*/ 1211 h 2453"/>
                <a:gd name="T62" fmla="*/ 0 w 14"/>
                <a:gd name="T63" fmla="*/ 1225 h 2453"/>
                <a:gd name="T64" fmla="*/ 14 w 14"/>
                <a:gd name="T65" fmla="*/ 1281 h 2453"/>
                <a:gd name="T66" fmla="*/ 0 w 14"/>
                <a:gd name="T67" fmla="*/ 1322 h 2453"/>
                <a:gd name="T68" fmla="*/ 14 w 14"/>
                <a:gd name="T69" fmla="*/ 1336 h 2453"/>
                <a:gd name="T70" fmla="*/ 14 w 14"/>
                <a:gd name="T71" fmla="*/ 1406 h 2453"/>
                <a:gd name="T72" fmla="*/ 0 w 14"/>
                <a:gd name="T73" fmla="*/ 1420 h 2453"/>
                <a:gd name="T74" fmla="*/ 14 w 14"/>
                <a:gd name="T75" fmla="*/ 1475 h 2453"/>
                <a:gd name="T76" fmla="*/ 0 w 14"/>
                <a:gd name="T77" fmla="*/ 1517 h 2453"/>
                <a:gd name="T78" fmla="*/ 14 w 14"/>
                <a:gd name="T79" fmla="*/ 1531 h 2453"/>
                <a:gd name="T80" fmla="*/ 14 w 14"/>
                <a:gd name="T81" fmla="*/ 1601 h 2453"/>
                <a:gd name="T82" fmla="*/ 0 w 14"/>
                <a:gd name="T83" fmla="*/ 1615 h 2453"/>
                <a:gd name="T84" fmla="*/ 14 w 14"/>
                <a:gd name="T85" fmla="*/ 1670 h 2453"/>
                <a:gd name="T86" fmla="*/ 0 w 14"/>
                <a:gd name="T87" fmla="*/ 1712 h 2453"/>
                <a:gd name="T88" fmla="*/ 14 w 14"/>
                <a:gd name="T89" fmla="*/ 1726 h 2453"/>
                <a:gd name="T90" fmla="*/ 14 w 14"/>
                <a:gd name="T91" fmla="*/ 1795 h 2453"/>
                <a:gd name="T92" fmla="*/ 0 w 14"/>
                <a:gd name="T93" fmla="*/ 1809 h 2453"/>
                <a:gd name="T94" fmla="*/ 14 w 14"/>
                <a:gd name="T95" fmla="*/ 1865 h 2453"/>
                <a:gd name="T96" fmla="*/ 0 w 14"/>
                <a:gd name="T97" fmla="*/ 1907 h 2453"/>
                <a:gd name="T98" fmla="*/ 14 w 14"/>
                <a:gd name="T99" fmla="*/ 1921 h 2453"/>
                <a:gd name="T100" fmla="*/ 14 w 14"/>
                <a:gd name="T101" fmla="*/ 1990 h 2453"/>
                <a:gd name="T102" fmla="*/ 0 w 14"/>
                <a:gd name="T103" fmla="*/ 2004 h 2453"/>
                <a:gd name="T104" fmla="*/ 14 w 14"/>
                <a:gd name="T105" fmla="*/ 2060 h 2453"/>
                <a:gd name="T106" fmla="*/ 0 w 14"/>
                <a:gd name="T107" fmla="*/ 2102 h 2453"/>
                <a:gd name="T108" fmla="*/ 14 w 14"/>
                <a:gd name="T109" fmla="*/ 2116 h 2453"/>
                <a:gd name="T110" fmla="*/ 14 w 14"/>
                <a:gd name="T111" fmla="*/ 2185 h 2453"/>
                <a:gd name="T112" fmla="*/ 0 w 14"/>
                <a:gd name="T113" fmla="*/ 2199 h 2453"/>
                <a:gd name="T114" fmla="*/ 14 w 14"/>
                <a:gd name="T115" fmla="*/ 2254 h 2453"/>
                <a:gd name="T116" fmla="*/ 0 w 14"/>
                <a:gd name="T117" fmla="*/ 2296 h 2453"/>
                <a:gd name="T118" fmla="*/ 14 w 14"/>
                <a:gd name="T119" fmla="*/ 2310 h 2453"/>
                <a:gd name="T120" fmla="*/ 14 w 14"/>
                <a:gd name="T121" fmla="*/ 2380 h 2453"/>
                <a:gd name="T122" fmla="*/ 0 w 14"/>
                <a:gd name="T123" fmla="*/ 2394 h 2453"/>
                <a:gd name="T124" fmla="*/ 14 w 14"/>
                <a:gd name="T125" fmla="*/ 2449 h 24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4" h="2453">
                  <a:moveTo>
                    <a:pt x="14" y="0"/>
                  </a:moveTo>
                  <a:lnTo>
                    <a:pt x="14" y="14"/>
                  </a:lnTo>
                  <a:lnTo>
                    <a:pt x="0" y="14"/>
                  </a:lnTo>
                  <a:lnTo>
                    <a:pt x="0" y="0"/>
                  </a:lnTo>
                  <a:lnTo>
                    <a:pt x="14" y="0"/>
                  </a:lnTo>
                  <a:close/>
                  <a:moveTo>
                    <a:pt x="14" y="28"/>
                  </a:moveTo>
                  <a:lnTo>
                    <a:pt x="14" y="42"/>
                  </a:lnTo>
                  <a:lnTo>
                    <a:pt x="0" y="42"/>
                  </a:lnTo>
                  <a:lnTo>
                    <a:pt x="0" y="28"/>
                  </a:lnTo>
                  <a:lnTo>
                    <a:pt x="14" y="28"/>
                  </a:lnTo>
                  <a:close/>
                  <a:moveTo>
                    <a:pt x="14" y="56"/>
                  </a:moveTo>
                  <a:lnTo>
                    <a:pt x="14" y="70"/>
                  </a:lnTo>
                  <a:lnTo>
                    <a:pt x="0" y="70"/>
                  </a:lnTo>
                  <a:lnTo>
                    <a:pt x="0" y="56"/>
                  </a:lnTo>
                  <a:lnTo>
                    <a:pt x="14" y="56"/>
                  </a:lnTo>
                  <a:close/>
                  <a:moveTo>
                    <a:pt x="14" y="84"/>
                  </a:moveTo>
                  <a:lnTo>
                    <a:pt x="14" y="98"/>
                  </a:lnTo>
                  <a:lnTo>
                    <a:pt x="0" y="98"/>
                  </a:lnTo>
                  <a:lnTo>
                    <a:pt x="0" y="84"/>
                  </a:lnTo>
                  <a:lnTo>
                    <a:pt x="14" y="84"/>
                  </a:lnTo>
                  <a:close/>
                  <a:moveTo>
                    <a:pt x="14" y="112"/>
                  </a:moveTo>
                  <a:lnTo>
                    <a:pt x="14" y="126"/>
                  </a:lnTo>
                  <a:lnTo>
                    <a:pt x="0" y="126"/>
                  </a:lnTo>
                  <a:lnTo>
                    <a:pt x="0" y="112"/>
                  </a:lnTo>
                  <a:lnTo>
                    <a:pt x="14" y="112"/>
                  </a:lnTo>
                  <a:close/>
                  <a:moveTo>
                    <a:pt x="14" y="140"/>
                  </a:moveTo>
                  <a:lnTo>
                    <a:pt x="14" y="154"/>
                  </a:lnTo>
                  <a:lnTo>
                    <a:pt x="0" y="154"/>
                  </a:lnTo>
                  <a:lnTo>
                    <a:pt x="0" y="140"/>
                  </a:lnTo>
                  <a:lnTo>
                    <a:pt x="14" y="140"/>
                  </a:lnTo>
                  <a:close/>
                  <a:moveTo>
                    <a:pt x="14" y="167"/>
                  </a:moveTo>
                  <a:lnTo>
                    <a:pt x="14" y="181"/>
                  </a:lnTo>
                  <a:lnTo>
                    <a:pt x="0" y="181"/>
                  </a:lnTo>
                  <a:lnTo>
                    <a:pt x="0" y="167"/>
                  </a:lnTo>
                  <a:lnTo>
                    <a:pt x="14" y="167"/>
                  </a:lnTo>
                  <a:close/>
                  <a:moveTo>
                    <a:pt x="14" y="195"/>
                  </a:moveTo>
                  <a:lnTo>
                    <a:pt x="14" y="209"/>
                  </a:lnTo>
                  <a:lnTo>
                    <a:pt x="0" y="209"/>
                  </a:lnTo>
                  <a:lnTo>
                    <a:pt x="0" y="195"/>
                  </a:lnTo>
                  <a:lnTo>
                    <a:pt x="14" y="195"/>
                  </a:lnTo>
                  <a:close/>
                  <a:moveTo>
                    <a:pt x="14" y="223"/>
                  </a:moveTo>
                  <a:lnTo>
                    <a:pt x="14" y="237"/>
                  </a:lnTo>
                  <a:lnTo>
                    <a:pt x="0" y="237"/>
                  </a:lnTo>
                  <a:lnTo>
                    <a:pt x="0" y="223"/>
                  </a:lnTo>
                  <a:lnTo>
                    <a:pt x="14" y="223"/>
                  </a:lnTo>
                  <a:close/>
                  <a:moveTo>
                    <a:pt x="14" y="251"/>
                  </a:moveTo>
                  <a:lnTo>
                    <a:pt x="14" y="265"/>
                  </a:lnTo>
                  <a:lnTo>
                    <a:pt x="0" y="265"/>
                  </a:lnTo>
                  <a:lnTo>
                    <a:pt x="0" y="251"/>
                  </a:lnTo>
                  <a:lnTo>
                    <a:pt x="14" y="251"/>
                  </a:lnTo>
                  <a:close/>
                  <a:moveTo>
                    <a:pt x="14" y="279"/>
                  </a:moveTo>
                  <a:lnTo>
                    <a:pt x="14" y="293"/>
                  </a:lnTo>
                  <a:lnTo>
                    <a:pt x="0" y="293"/>
                  </a:lnTo>
                  <a:lnTo>
                    <a:pt x="0" y="279"/>
                  </a:lnTo>
                  <a:lnTo>
                    <a:pt x="14" y="279"/>
                  </a:lnTo>
                  <a:close/>
                  <a:moveTo>
                    <a:pt x="14" y="307"/>
                  </a:moveTo>
                  <a:lnTo>
                    <a:pt x="14" y="321"/>
                  </a:lnTo>
                  <a:lnTo>
                    <a:pt x="0" y="321"/>
                  </a:lnTo>
                  <a:lnTo>
                    <a:pt x="0" y="307"/>
                  </a:lnTo>
                  <a:lnTo>
                    <a:pt x="14" y="307"/>
                  </a:lnTo>
                  <a:close/>
                  <a:moveTo>
                    <a:pt x="14" y="334"/>
                  </a:moveTo>
                  <a:lnTo>
                    <a:pt x="14" y="348"/>
                  </a:lnTo>
                  <a:lnTo>
                    <a:pt x="0" y="348"/>
                  </a:lnTo>
                  <a:lnTo>
                    <a:pt x="0" y="334"/>
                  </a:lnTo>
                  <a:lnTo>
                    <a:pt x="14" y="334"/>
                  </a:lnTo>
                  <a:close/>
                  <a:moveTo>
                    <a:pt x="14" y="362"/>
                  </a:moveTo>
                  <a:lnTo>
                    <a:pt x="14" y="376"/>
                  </a:lnTo>
                  <a:lnTo>
                    <a:pt x="0" y="376"/>
                  </a:lnTo>
                  <a:lnTo>
                    <a:pt x="0" y="362"/>
                  </a:lnTo>
                  <a:lnTo>
                    <a:pt x="14" y="362"/>
                  </a:lnTo>
                  <a:close/>
                  <a:moveTo>
                    <a:pt x="14" y="390"/>
                  </a:moveTo>
                  <a:lnTo>
                    <a:pt x="14" y="404"/>
                  </a:lnTo>
                  <a:lnTo>
                    <a:pt x="0" y="404"/>
                  </a:lnTo>
                  <a:lnTo>
                    <a:pt x="0" y="390"/>
                  </a:lnTo>
                  <a:lnTo>
                    <a:pt x="14" y="390"/>
                  </a:lnTo>
                  <a:close/>
                  <a:moveTo>
                    <a:pt x="14" y="418"/>
                  </a:moveTo>
                  <a:lnTo>
                    <a:pt x="14" y="432"/>
                  </a:lnTo>
                  <a:lnTo>
                    <a:pt x="0" y="432"/>
                  </a:lnTo>
                  <a:lnTo>
                    <a:pt x="0" y="418"/>
                  </a:lnTo>
                  <a:lnTo>
                    <a:pt x="14" y="418"/>
                  </a:lnTo>
                  <a:close/>
                  <a:moveTo>
                    <a:pt x="14" y="446"/>
                  </a:moveTo>
                  <a:lnTo>
                    <a:pt x="14" y="460"/>
                  </a:lnTo>
                  <a:lnTo>
                    <a:pt x="0" y="460"/>
                  </a:lnTo>
                  <a:lnTo>
                    <a:pt x="0" y="446"/>
                  </a:lnTo>
                  <a:lnTo>
                    <a:pt x="14" y="446"/>
                  </a:lnTo>
                  <a:close/>
                  <a:moveTo>
                    <a:pt x="14" y="474"/>
                  </a:moveTo>
                  <a:lnTo>
                    <a:pt x="14" y="488"/>
                  </a:lnTo>
                  <a:lnTo>
                    <a:pt x="0" y="488"/>
                  </a:lnTo>
                  <a:lnTo>
                    <a:pt x="0" y="474"/>
                  </a:lnTo>
                  <a:lnTo>
                    <a:pt x="14" y="474"/>
                  </a:lnTo>
                  <a:close/>
                  <a:moveTo>
                    <a:pt x="14" y="501"/>
                  </a:moveTo>
                  <a:lnTo>
                    <a:pt x="14" y="515"/>
                  </a:lnTo>
                  <a:lnTo>
                    <a:pt x="0" y="515"/>
                  </a:lnTo>
                  <a:lnTo>
                    <a:pt x="0" y="501"/>
                  </a:lnTo>
                  <a:lnTo>
                    <a:pt x="14" y="501"/>
                  </a:lnTo>
                  <a:close/>
                  <a:moveTo>
                    <a:pt x="14" y="529"/>
                  </a:moveTo>
                  <a:lnTo>
                    <a:pt x="14" y="543"/>
                  </a:lnTo>
                  <a:lnTo>
                    <a:pt x="0" y="543"/>
                  </a:lnTo>
                  <a:lnTo>
                    <a:pt x="0" y="529"/>
                  </a:lnTo>
                  <a:lnTo>
                    <a:pt x="14" y="529"/>
                  </a:lnTo>
                  <a:close/>
                  <a:moveTo>
                    <a:pt x="14" y="557"/>
                  </a:moveTo>
                  <a:lnTo>
                    <a:pt x="14" y="571"/>
                  </a:lnTo>
                  <a:lnTo>
                    <a:pt x="0" y="571"/>
                  </a:lnTo>
                  <a:lnTo>
                    <a:pt x="0" y="557"/>
                  </a:lnTo>
                  <a:lnTo>
                    <a:pt x="14" y="557"/>
                  </a:lnTo>
                  <a:close/>
                  <a:moveTo>
                    <a:pt x="14" y="585"/>
                  </a:moveTo>
                  <a:lnTo>
                    <a:pt x="14" y="599"/>
                  </a:lnTo>
                  <a:lnTo>
                    <a:pt x="0" y="599"/>
                  </a:lnTo>
                  <a:lnTo>
                    <a:pt x="0" y="585"/>
                  </a:lnTo>
                  <a:lnTo>
                    <a:pt x="14" y="585"/>
                  </a:lnTo>
                  <a:close/>
                  <a:moveTo>
                    <a:pt x="14" y="613"/>
                  </a:moveTo>
                  <a:lnTo>
                    <a:pt x="14" y="627"/>
                  </a:lnTo>
                  <a:lnTo>
                    <a:pt x="0" y="627"/>
                  </a:lnTo>
                  <a:lnTo>
                    <a:pt x="0" y="613"/>
                  </a:lnTo>
                  <a:lnTo>
                    <a:pt x="14" y="613"/>
                  </a:lnTo>
                  <a:close/>
                  <a:moveTo>
                    <a:pt x="14" y="641"/>
                  </a:moveTo>
                  <a:lnTo>
                    <a:pt x="14" y="655"/>
                  </a:lnTo>
                  <a:lnTo>
                    <a:pt x="0" y="655"/>
                  </a:lnTo>
                  <a:lnTo>
                    <a:pt x="0" y="641"/>
                  </a:lnTo>
                  <a:lnTo>
                    <a:pt x="14" y="641"/>
                  </a:lnTo>
                  <a:close/>
                  <a:moveTo>
                    <a:pt x="14" y="668"/>
                  </a:moveTo>
                  <a:lnTo>
                    <a:pt x="14" y="682"/>
                  </a:lnTo>
                  <a:lnTo>
                    <a:pt x="0" y="682"/>
                  </a:lnTo>
                  <a:lnTo>
                    <a:pt x="0" y="668"/>
                  </a:lnTo>
                  <a:lnTo>
                    <a:pt x="14" y="668"/>
                  </a:lnTo>
                  <a:close/>
                  <a:moveTo>
                    <a:pt x="14" y="696"/>
                  </a:moveTo>
                  <a:lnTo>
                    <a:pt x="14" y="710"/>
                  </a:lnTo>
                  <a:lnTo>
                    <a:pt x="0" y="710"/>
                  </a:lnTo>
                  <a:lnTo>
                    <a:pt x="0" y="696"/>
                  </a:lnTo>
                  <a:lnTo>
                    <a:pt x="14" y="696"/>
                  </a:lnTo>
                  <a:close/>
                  <a:moveTo>
                    <a:pt x="14" y="724"/>
                  </a:moveTo>
                  <a:lnTo>
                    <a:pt x="14" y="738"/>
                  </a:lnTo>
                  <a:lnTo>
                    <a:pt x="0" y="738"/>
                  </a:lnTo>
                  <a:lnTo>
                    <a:pt x="0" y="724"/>
                  </a:lnTo>
                  <a:lnTo>
                    <a:pt x="14" y="724"/>
                  </a:lnTo>
                  <a:close/>
                  <a:moveTo>
                    <a:pt x="14" y="752"/>
                  </a:moveTo>
                  <a:lnTo>
                    <a:pt x="14" y="766"/>
                  </a:lnTo>
                  <a:lnTo>
                    <a:pt x="0" y="766"/>
                  </a:lnTo>
                  <a:lnTo>
                    <a:pt x="0" y="752"/>
                  </a:lnTo>
                  <a:lnTo>
                    <a:pt x="14" y="752"/>
                  </a:lnTo>
                  <a:close/>
                  <a:moveTo>
                    <a:pt x="14" y="780"/>
                  </a:moveTo>
                  <a:lnTo>
                    <a:pt x="14" y="793"/>
                  </a:lnTo>
                  <a:lnTo>
                    <a:pt x="0" y="793"/>
                  </a:lnTo>
                  <a:lnTo>
                    <a:pt x="0" y="780"/>
                  </a:lnTo>
                  <a:lnTo>
                    <a:pt x="14" y="780"/>
                  </a:lnTo>
                  <a:close/>
                  <a:moveTo>
                    <a:pt x="14" y="808"/>
                  </a:moveTo>
                  <a:lnTo>
                    <a:pt x="14" y="822"/>
                  </a:lnTo>
                  <a:lnTo>
                    <a:pt x="0" y="822"/>
                  </a:lnTo>
                  <a:lnTo>
                    <a:pt x="0" y="808"/>
                  </a:lnTo>
                  <a:lnTo>
                    <a:pt x="14" y="808"/>
                  </a:lnTo>
                  <a:close/>
                  <a:moveTo>
                    <a:pt x="14" y="835"/>
                  </a:moveTo>
                  <a:lnTo>
                    <a:pt x="14" y="849"/>
                  </a:lnTo>
                  <a:lnTo>
                    <a:pt x="0" y="849"/>
                  </a:lnTo>
                  <a:lnTo>
                    <a:pt x="0" y="835"/>
                  </a:lnTo>
                  <a:lnTo>
                    <a:pt x="14" y="835"/>
                  </a:lnTo>
                  <a:close/>
                  <a:moveTo>
                    <a:pt x="14" y="863"/>
                  </a:moveTo>
                  <a:lnTo>
                    <a:pt x="14" y="877"/>
                  </a:lnTo>
                  <a:lnTo>
                    <a:pt x="0" y="877"/>
                  </a:lnTo>
                  <a:lnTo>
                    <a:pt x="0" y="863"/>
                  </a:lnTo>
                  <a:lnTo>
                    <a:pt x="14" y="863"/>
                  </a:lnTo>
                  <a:close/>
                  <a:moveTo>
                    <a:pt x="14" y="891"/>
                  </a:moveTo>
                  <a:lnTo>
                    <a:pt x="14" y="905"/>
                  </a:lnTo>
                  <a:lnTo>
                    <a:pt x="0" y="905"/>
                  </a:lnTo>
                  <a:lnTo>
                    <a:pt x="0" y="891"/>
                  </a:lnTo>
                  <a:lnTo>
                    <a:pt x="14" y="891"/>
                  </a:lnTo>
                  <a:close/>
                  <a:moveTo>
                    <a:pt x="14" y="919"/>
                  </a:moveTo>
                  <a:lnTo>
                    <a:pt x="14" y="933"/>
                  </a:lnTo>
                  <a:lnTo>
                    <a:pt x="0" y="933"/>
                  </a:lnTo>
                  <a:lnTo>
                    <a:pt x="0" y="919"/>
                  </a:lnTo>
                  <a:lnTo>
                    <a:pt x="14" y="919"/>
                  </a:lnTo>
                  <a:close/>
                  <a:moveTo>
                    <a:pt x="14" y="947"/>
                  </a:moveTo>
                  <a:lnTo>
                    <a:pt x="14" y="960"/>
                  </a:lnTo>
                  <a:lnTo>
                    <a:pt x="0" y="960"/>
                  </a:lnTo>
                  <a:lnTo>
                    <a:pt x="0" y="947"/>
                  </a:lnTo>
                  <a:lnTo>
                    <a:pt x="14" y="947"/>
                  </a:lnTo>
                  <a:close/>
                  <a:moveTo>
                    <a:pt x="14" y="974"/>
                  </a:moveTo>
                  <a:lnTo>
                    <a:pt x="14" y="988"/>
                  </a:lnTo>
                  <a:lnTo>
                    <a:pt x="0" y="988"/>
                  </a:lnTo>
                  <a:lnTo>
                    <a:pt x="0" y="974"/>
                  </a:lnTo>
                  <a:lnTo>
                    <a:pt x="14" y="974"/>
                  </a:lnTo>
                  <a:close/>
                  <a:moveTo>
                    <a:pt x="14" y="1002"/>
                  </a:moveTo>
                  <a:lnTo>
                    <a:pt x="14" y="1016"/>
                  </a:lnTo>
                  <a:lnTo>
                    <a:pt x="0" y="1016"/>
                  </a:lnTo>
                  <a:lnTo>
                    <a:pt x="0" y="1002"/>
                  </a:lnTo>
                  <a:lnTo>
                    <a:pt x="14" y="1002"/>
                  </a:lnTo>
                  <a:close/>
                  <a:moveTo>
                    <a:pt x="14" y="1030"/>
                  </a:moveTo>
                  <a:lnTo>
                    <a:pt x="14" y="1044"/>
                  </a:lnTo>
                  <a:lnTo>
                    <a:pt x="0" y="1044"/>
                  </a:lnTo>
                  <a:lnTo>
                    <a:pt x="0" y="1030"/>
                  </a:lnTo>
                  <a:lnTo>
                    <a:pt x="14" y="1030"/>
                  </a:lnTo>
                  <a:close/>
                  <a:moveTo>
                    <a:pt x="14" y="1058"/>
                  </a:moveTo>
                  <a:lnTo>
                    <a:pt x="14" y="1072"/>
                  </a:lnTo>
                  <a:lnTo>
                    <a:pt x="0" y="1072"/>
                  </a:lnTo>
                  <a:lnTo>
                    <a:pt x="0" y="1058"/>
                  </a:lnTo>
                  <a:lnTo>
                    <a:pt x="14" y="1058"/>
                  </a:lnTo>
                  <a:close/>
                  <a:moveTo>
                    <a:pt x="14" y="1086"/>
                  </a:moveTo>
                  <a:lnTo>
                    <a:pt x="14" y="1100"/>
                  </a:lnTo>
                  <a:lnTo>
                    <a:pt x="0" y="1100"/>
                  </a:lnTo>
                  <a:lnTo>
                    <a:pt x="0" y="1086"/>
                  </a:lnTo>
                  <a:lnTo>
                    <a:pt x="14" y="1086"/>
                  </a:lnTo>
                  <a:close/>
                  <a:moveTo>
                    <a:pt x="14" y="1114"/>
                  </a:moveTo>
                  <a:lnTo>
                    <a:pt x="14" y="1127"/>
                  </a:lnTo>
                  <a:lnTo>
                    <a:pt x="0" y="1127"/>
                  </a:lnTo>
                  <a:lnTo>
                    <a:pt x="0" y="1114"/>
                  </a:lnTo>
                  <a:lnTo>
                    <a:pt x="14" y="1114"/>
                  </a:lnTo>
                  <a:close/>
                  <a:moveTo>
                    <a:pt x="14" y="1141"/>
                  </a:moveTo>
                  <a:lnTo>
                    <a:pt x="14" y="1155"/>
                  </a:lnTo>
                  <a:lnTo>
                    <a:pt x="0" y="1155"/>
                  </a:lnTo>
                  <a:lnTo>
                    <a:pt x="0" y="1141"/>
                  </a:lnTo>
                  <a:lnTo>
                    <a:pt x="14" y="1141"/>
                  </a:lnTo>
                  <a:close/>
                  <a:moveTo>
                    <a:pt x="14" y="1169"/>
                  </a:moveTo>
                  <a:lnTo>
                    <a:pt x="14" y="1183"/>
                  </a:lnTo>
                  <a:lnTo>
                    <a:pt x="0" y="1183"/>
                  </a:lnTo>
                  <a:lnTo>
                    <a:pt x="0" y="1169"/>
                  </a:lnTo>
                  <a:lnTo>
                    <a:pt x="14" y="1169"/>
                  </a:lnTo>
                  <a:close/>
                  <a:moveTo>
                    <a:pt x="14" y="1197"/>
                  </a:moveTo>
                  <a:lnTo>
                    <a:pt x="14" y="1211"/>
                  </a:lnTo>
                  <a:lnTo>
                    <a:pt x="0" y="1211"/>
                  </a:lnTo>
                  <a:lnTo>
                    <a:pt x="0" y="1197"/>
                  </a:lnTo>
                  <a:lnTo>
                    <a:pt x="14" y="1197"/>
                  </a:lnTo>
                  <a:close/>
                  <a:moveTo>
                    <a:pt x="14" y="1225"/>
                  </a:moveTo>
                  <a:lnTo>
                    <a:pt x="14" y="1239"/>
                  </a:lnTo>
                  <a:lnTo>
                    <a:pt x="0" y="1239"/>
                  </a:lnTo>
                  <a:lnTo>
                    <a:pt x="0" y="1225"/>
                  </a:lnTo>
                  <a:lnTo>
                    <a:pt x="14" y="1225"/>
                  </a:lnTo>
                  <a:close/>
                  <a:moveTo>
                    <a:pt x="14" y="1253"/>
                  </a:moveTo>
                  <a:lnTo>
                    <a:pt x="14" y="1267"/>
                  </a:lnTo>
                  <a:lnTo>
                    <a:pt x="0" y="1267"/>
                  </a:lnTo>
                  <a:lnTo>
                    <a:pt x="0" y="1253"/>
                  </a:lnTo>
                  <a:lnTo>
                    <a:pt x="14" y="1253"/>
                  </a:lnTo>
                  <a:close/>
                  <a:moveTo>
                    <a:pt x="14" y="1281"/>
                  </a:moveTo>
                  <a:lnTo>
                    <a:pt x="14" y="1294"/>
                  </a:lnTo>
                  <a:lnTo>
                    <a:pt x="0" y="1294"/>
                  </a:lnTo>
                  <a:lnTo>
                    <a:pt x="0" y="1281"/>
                  </a:lnTo>
                  <a:lnTo>
                    <a:pt x="14" y="1281"/>
                  </a:lnTo>
                  <a:close/>
                  <a:moveTo>
                    <a:pt x="14" y="1308"/>
                  </a:moveTo>
                  <a:lnTo>
                    <a:pt x="14" y="1322"/>
                  </a:lnTo>
                  <a:lnTo>
                    <a:pt x="0" y="1322"/>
                  </a:lnTo>
                  <a:lnTo>
                    <a:pt x="0" y="1308"/>
                  </a:lnTo>
                  <a:lnTo>
                    <a:pt x="14" y="1308"/>
                  </a:lnTo>
                  <a:close/>
                  <a:moveTo>
                    <a:pt x="14" y="1336"/>
                  </a:moveTo>
                  <a:lnTo>
                    <a:pt x="14" y="1350"/>
                  </a:lnTo>
                  <a:lnTo>
                    <a:pt x="0" y="1350"/>
                  </a:lnTo>
                  <a:lnTo>
                    <a:pt x="0" y="1336"/>
                  </a:lnTo>
                  <a:lnTo>
                    <a:pt x="14" y="1336"/>
                  </a:lnTo>
                  <a:close/>
                  <a:moveTo>
                    <a:pt x="14" y="1364"/>
                  </a:moveTo>
                  <a:lnTo>
                    <a:pt x="14" y="1378"/>
                  </a:lnTo>
                  <a:lnTo>
                    <a:pt x="0" y="1378"/>
                  </a:lnTo>
                  <a:lnTo>
                    <a:pt x="0" y="1364"/>
                  </a:lnTo>
                  <a:lnTo>
                    <a:pt x="14" y="1364"/>
                  </a:lnTo>
                  <a:close/>
                  <a:moveTo>
                    <a:pt x="14" y="1392"/>
                  </a:moveTo>
                  <a:lnTo>
                    <a:pt x="14" y="1406"/>
                  </a:lnTo>
                  <a:lnTo>
                    <a:pt x="0" y="1406"/>
                  </a:lnTo>
                  <a:lnTo>
                    <a:pt x="0" y="1392"/>
                  </a:lnTo>
                  <a:lnTo>
                    <a:pt x="14" y="1392"/>
                  </a:lnTo>
                  <a:close/>
                  <a:moveTo>
                    <a:pt x="14" y="1420"/>
                  </a:moveTo>
                  <a:lnTo>
                    <a:pt x="14" y="1434"/>
                  </a:lnTo>
                  <a:lnTo>
                    <a:pt x="0" y="1434"/>
                  </a:lnTo>
                  <a:lnTo>
                    <a:pt x="0" y="1420"/>
                  </a:lnTo>
                  <a:lnTo>
                    <a:pt x="14" y="1420"/>
                  </a:lnTo>
                  <a:close/>
                  <a:moveTo>
                    <a:pt x="14" y="1448"/>
                  </a:moveTo>
                  <a:lnTo>
                    <a:pt x="14" y="1461"/>
                  </a:lnTo>
                  <a:lnTo>
                    <a:pt x="0" y="1461"/>
                  </a:lnTo>
                  <a:lnTo>
                    <a:pt x="0" y="1448"/>
                  </a:lnTo>
                  <a:lnTo>
                    <a:pt x="14" y="1448"/>
                  </a:lnTo>
                  <a:close/>
                  <a:moveTo>
                    <a:pt x="14" y="1475"/>
                  </a:moveTo>
                  <a:lnTo>
                    <a:pt x="14" y="1489"/>
                  </a:lnTo>
                  <a:lnTo>
                    <a:pt x="0" y="1489"/>
                  </a:lnTo>
                  <a:lnTo>
                    <a:pt x="0" y="1475"/>
                  </a:lnTo>
                  <a:lnTo>
                    <a:pt x="14" y="1475"/>
                  </a:lnTo>
                  <a:close/>
                  <a:moveTo>
                    <a:pt x="14" y="1503"/>
                  </a:moveTo>
                  <a:lnTo>
                    <a:pt x="14" y="1517"/>
                  </a:lnTo>
                  <a:lnTo>
                    <a:pt x="0" y="1517"/>
                  </a:lnTo>
                  <a:lnTo>
                    <a:pt x="0" y="1503"/>
                  </a:lnTo>
                  <a:lnTo>
                    <a:pt x="14" y="1503"/>
                  </a:lnTo>
                  <a:close/>
                  <a:moveTo>
                    <a:pt x="14" y="1531"/>
                  </a:moveTo>
                  <a:lnTo>
                    <a:pt x="14" y="1545"/>
                  </a:lnTo>
                  <a:lnTo>
                    <a:pt x="0" y="1545"/>
                  </a:lnTo>
                  <a:lnTo>
                    <a:pt x="0" y="1531"/>
                  </a:lnTo>
                  <a:lnTo>
                    <a:pt x="14" y="1531"/>
                  </a:lnTo>
                  <a:close/>
                  <a:moveTo>
                    <a:pt x="14" y="1559"/>
                  </a:moveTo>
                  <a:lnTo>
                    <a:pt x="14" y="1573"/>
                  </a:lnTo>
                  <a:lnTo>
                    <a:pt x="0" y="1573"/>
                  </a:lnTo>
                  <a:lnTo>
                    <a:pt x="0" y="1559"/>
                  </a:lnTo>
                  <a:lnTo>
                    <a:pt x="14" y="1559"/>
                  </a:lnTo>
                  <a:close/>
                  <a:moveTo>
                    <a:pt x="14" y="1587"/>
                  </a:moveTo>
                  <a:lnTo>
                    <a:pt x="14" y="1601"/>
                  </a:lnTo>
                  <a:lnTo>
                    <a:pt x="0" y="1601"/>
                  </a:lnTo>
                  <a:lnTo>
                    <a:pt x="0" y="1587"/>
                  </a:lnTo>
                  <a:lnTo>
                    <a:pt x="14" y="1587"/>
                  </a:lnTo>
                  <a:close/>
                  <a:moveTo>
                    <a:pt x="14" y="1615"/>
                  </a:moveTo>
                  <a:lnTo>
                    <a:pt x="14" y="1628"/>
                  </a:lnTo>
                  <a:lnTo>
                    <a:pt x="0" y="1628"/>
                  </a:lnTo>
                  <a:lnTo>
                    <a:pt x="0" y="1615"/>
                  </a:lnTo>
                  <a:lnTo>
                    <a:pt x="14" y="1615"/>
                  </a:lnTo>
                  <a:close/>
                  <a:moveTo>
                    <a:pt x="14" y="1642"/>
                  </a:moveTo>
                  <a:lnTo>
                    <a:pt x="14" y="1656"/>
                  </a:lnTo>
                  <a:lnTo>
                    <a:pt x="0" y="1656"/>
                  </a:lnTo>
                  <a:lnTo>
                    <a:pt x="0" y="1642"/>
                  </a:lnTo>
                  <a:lnTo>
                    <a:pt x="14" y="1642"/>
                  </a:lnTo>
                  <a:close/>
                  <a:moveTo>
                    <a:pt x="14" y="1670"/>
                  </a:moveTo>
                  <a:lnTo>
                    <a:pt x="14" y="1684"/>
                  </a:lnTo>
                  <a:lnTo>
                    <a:pt x="0" y="1684"/>
                  </a:lnTo>
                  <a:lnTo>
                    <a:pt x="0" y="1670"/>
                  </a:lnTo>
                  <a:lnTo>
                    <a:pt x="14" y="1670"/>
                  </a:lnTo>
                  <a:close/>
                  <a:moveTo>
                    <a:pt x="14" y="1698"/>
                  </a:moveTo>
                  <a:lnTo>
                    <a:pt x="14" y="1712"/>
                  </a:lnTo>
                  <a:lnTo>
                    <a:pt x="0" y="1712"/>
                  </a:lnTo>
                  <a:lnTo>
                    <a:pt x="0" y="1698"/>
                  </a:lnTo>
                  <a:lnTo>
                    <a:pt x="14" y="1698"/>
                  </a:lnTo>
                  <a:close/>
                  <a:moveTo>
                    <a:pt x="14" y="1726"/>
                  </a:moveTo>
                  <a:lnTo>
                    <a:pt x="14" y="1740"/>
                  </a:lnTo>
                  <a:lnTo>
                    <a:pt x="0" y="1740"/>
                  </a:lnTo>
                  <a:lnTo>
                    <a:pt x="0" y="1726"/>
                  </a:lnTo>
                  <a:lnTo>
                    <a:pt x="14" y="1726"/>
                  </a:lnTo>
                  <a:close/>
                  <a:moveTo>
                    <a:pt x="14" y="1754"/>
                  </a:moveTo>
                  <a:lnTo>
                    <a:pt x="14" y="1768"/>
                  </a:lnTo>
                  <a:lnTo>
                    <a:pt x="0" y="1768"/>
                  </a:lnTo>
                  <a:lnTo>
                    <a:pt x="0" y="1754"/>
                  </a:lnTo>
                  <a:lnTo>
                    <a:pt x="14" y="1754"/>
                  </a:lnTo>
                  <a:close/>
                  <a:moveTo>
                    <a:pt x="14" y="1782"/>
                  </a:moveTo>
                  <a:lnTo>
                    <a:pt x="14" y="1795"/>
                  </a:lnTo>
                  <a:lnTo>
                    <a:pt x="0" y="1795"/>
                  </a:lnTo>
                  <a:lnTo>
                    <a:pt x="0" y="1782"/>
                  </a:lnTo>
                  <a:lnTo>
                    <a:pt x="14" y="1782"/>
                  </a:lnTo>
                  <a:close/>
                  <a:moveTo>
                    <a:pt x="14" y="1809"/>
                  </a:moveTo>
                  <a:lnTo>
                    <a:pt x="14" y="1823"/>
                  </a:lnTo>
                  <a:lnTo>
                    <a:pt x="0" y="1823"/>
                  </a:lnTo>
                  <a:lnTo>
                    <a:pt x="0" y="1809"/>
                  </a:lnTo>
                  <a:lnTo>
                    <a:pt x="14" y="1809"/>
                  </a:lnTo>
                  <a:close/>
                  <a:moveTo>
                    <a:pt x="14" y="1837"/>
                  </a:moveTo>
                  <a:lnTo>
                    <a:pt x="14" y="1851"/>
                  </a:lnTo>
                  <a:lnTo>
                    <a:pt x="0" y="1851"/>
                  </a:lnTo>
                  <a:lnTo>
                    <a:pt x="0" y="1837"/>
                  </a:lnTo>
                  <a:lnTo>
                    <a:pt x="14" y="1837"/>
                  </a:lnTo>
                  <a:close/>
                  <a:moveTo>
                    <a:pt x="14" y="1865"/>
                  </a:moveTo>
                  <a:lnTo>
                    <a:pt x="14" y="1879"/>
                  </a:lnTo>
                  <a:lnTo>
                    <a:pt x="0" y="1879"/>
                  </a:lnTo>
                  <a:lnTo>
                    <a:pt x="0" y="1865"/>
                  </a:lnTo>
                  <a:lnTo>
                    <a:pt x="14" y="1865"/>
                  </a:lnTo>
                  <a:close/>
                  <a:moveTo>
                    <a:pt x="14" y="1893"/>
                  </a:moveTo>
                  <a:lnTo>
                    <a:pt x="14" y="1907"/>
                  </a:lnTo>
                  <a:lnTo>
                    <a:pt x="0" y="1907"/>
                  </a:lnTo>
                  <a:lnTo>
                    <a:pt x="0" y="1893"/>
                  </a:lnTo>
                  <a:lnTo>
                    <a:pt x="14" y="1893"/>
                  </a:lnTo>
                  <a:close/>
                  <a:moveTo>
                    <a:pt x="14" y="1921"/>
                  </a:moveTo>
                  <a:lnTo>
                    <a:pt x="14" y="1935"/>
                  </a:lnTo>
                  <a:lnTo>
                    <a:pt x="0" y="1935"/>
                  </a:lnTo>
                  <a:lnTo>
                    <a:pt x="0" y="1921"/>
                  </a:lnTo>
                  <a:lnTo>
                    <a:pt x="14" y="1921"/>
                  </a:lnTo>
                  <a:close/>
                  <a:moveTo>
                    <a:pt x="14" y="1949"/>
                  </a:moveTo>
                  <a:lnTo>
                    <a:pt x="14" y="1962"/>
                  </a:lnTo>
                  <a:lnTo>
                    <a:pt x="0" y="1962"/>
                  </a:lnTo>
                  <a:lnTo>
                    <a:pt x="0" y="1949"/>
                  </a:lnTo>
                  <a:lnTo>
                    <a:pt x="14" y="1949"/>
                  </a:lnTo>
                  <a:close/>
                  <a:moveTo>
                    <a:pt x="14" y="1976"/>
                  </a:moveTo>
                  <a:lnTo>
                    <a:pt x="14" y="1990"/>
                  </a:lnTo>
                  <a:lnTo>
                    <a:pt x="0" y="1990"/>
                  </a:lnTo>
                  <a:lnTo>
                    <a:pt x="0" y="1976"/>
                  </a:lnTo>
                  <a:lnTo>
                    <a:pt x="14" y="1976"/>
                  </a:lnTo>
                  <a:close/>
                  <a:moveTo>
                    <a:pt x="14" y="2004"/>
                  </a:moveTo>
                  <a:lnTo>
                    <a:pt x="14" y="2018"/>
                  </a:lnTo>
                  <a:lnTo>
                    <a:pt x="0" y="2018"/>
                  </a:lnTo>
                  <a:lnTo>
                    <a:pt x="0" y="2004"/>
                  </a:lnTo>
                  <a:lnTo>
                    <a:pt x="14" y="2004"/>
                  </a:lnTo>
                  <a:close/>
                  <a:moveTo>
                    <a:pt x="14" y="2032"/>
                  </a:moveTo>
                  <a:lnTo>
                    <a:pt x="14" y="2046"/>
                  </a:lnTo>
                  <a:lnTo>
                    <a:pt x="0" y="2046"/>
                  </a:lnTo>
                  <a:lnTo>
                    <a:pt x="0" y="2032"/>
                  </a:lnTo>
                  <a:lnTo>
                    <a:pt x="14" y="2032"/>
                  </a:lnTo>
                  <a:close/>
                  <a:moveTo>
                    <a:pt x="14" y="2060"/>
                  </a:moveTo>
                  <a:lnTo>
                    <a:pt x="14" y="2074"/>
                  </a:lnTo>
                  <a:lnTo>
                    <a:pt x="0" y="2074"/>
                  </a:lnTo>
                  <a:lnTo>
                    <a:pt x="0" y="2060"/>
                  </a:lnTo>
                  <a:lnTo>
                    <a:pt x="14" y="2060"/>
                  </a:lnTo>
                  <a:close/>
                  <a:moveTo>
                    <a:pt x="14" y="2087"/>
                  </a:moveTo>
                  <a:lnTo>
                    <a:pt x="14" y="2102"/>
                  </a:lnTo>
                  <a:lnTo>
                    <a:pt x="0" y="2102"/>
                  </a:lnTo>
                  <a:lnTo>
                    <a:pt x="0" y="2087"/>
                  </a:lnTo>
                  <a:lnTo>
                    <a:pt x="14" y="2087"/>
                  </a:lnTo>
                  <a:close/>
                  <a:moveTo>
                    <a:pt x="14" y="2116"/>
                  </a:moveTo>
                  <a:lnTo>
                    <a:pt x="14" y="2129"/>
                  </a:lnTo>
                  <a:lnTo>
                    <a:pt x="0" y="2129"/>
                  </a:lnTo>
                  <a:lnTo>
                    <a:pt x="0" y="2116"/>
                  </a:lnTo>
                  <a:lnTo>
                    <a:pt x="14" y="2116"/>
                  </a:lnTo>
                  <a:close/>
                  <a:moveTo>
                    <a:pt x="14" y="2143"/>
                  </a:moveTo>
                  <a:lnTo>
                    <a:pt x="14" y="2157"/>
                  </a:lnTo>
                  <a:lnTo>
                    <a:pt x="0" y="2157"/>
                  </a:lnTo>
                  <a:lnTo>
                    <a:pt x="0" y="2143"/>
                  </a:lnTo>
                  <a:lnTo>
                    <a:pt x="14" y="2143"/>
                  </a:lnTo>
                  <a:close/>
                  <a:moveTo>
                    <a:pt x="14" y="2171"/>
                  </a:moveTo>
                  <a:lnTo>
                    <a:pt x="14" y="2185"/>
                  </a:lnTo>
                  <a:lnTo>
                    <a:pt x="0" y="2185"/>
                  </a:lnTo>
                  <a:lnTo>
                    <a:pt x="0" y="2171"/>
                  </a:lnTo>
                  <a:lnTo>
                    <a:pt x="14" y="2171"/>
                  </a:lnTo>
                  <a:close/>
                  <a:moveTo>
                    <a:pt x="14" y="2199"/>
                  </a:moveTo>
                  <a:lnTo>
                    <a:pt x="14" y="2213"/>
                  </a:lnTo>
                  <a:lnTo>
                    <a:pt x="0" y="2213"/>
                  </a:lnTo>
                  <a:lnTo>
                    <a:pt x="0" y="2199"/>
                  </a:lnTo>
                  <a:lnTo>
                    <a:pt x="14" y="2199"/>
                  </a:lnTo>
                  <a:close/>
                  <a:moveTo>
                    <a:pt x="14" y="2227"/>
                  </a:moveTo>
                  <a:lnTo>
                    <a:pt x="14" y="2241"/>
                  </a:lnTo>
                  <a:lnTo>
                    <a:pt x="0" y="2241"/>
                  </a:lnTo>
                  <a:lnTo>
                    <a:pt x="0" y="2227"/>
                  </a:lnTo>
                  <a:lnTo>
                    <a:pt x="14" y="2227"/>
                  </a:lnTo>
                  <a:close/>
                  <a:moveTo>
                    <a:pt x="14" y="2254"/>
                  </a:moveTo>
                  <a:lnTo>
                    <a:pt x="14" y="2268"/>
                  </a:lnTo>
                  <a:lnTo>
                    <a:pt x="0" y="2268"/>
                  </a:lnTo>
                  <a:lnTo>
                    <a:pt x="0" y="2254"/>
                  </a:lnTo>
                  <a:lnTo>
                    <a:pt x="14" y="2254"/>
                  </a:lnTo>
                  <a:close/>
                  <a:moveTo>
                    <a:pt x="14" y="2283"/>
                  </a:moveTo>
                  <a:lnTo>
                    <a:pt x="14" y="2296"/>
                  </a:lnTo>
                  <a:lnTo>
                    <a:pt x="0" y="2296"/>
                  </a:lnTo>
                  <a:lnTo>
                    <a:pt x="0" y="2283"/>
                  </a:lnTo>
                  <a:lnTo>
                    <a:pt x="14" y="2283"/>
                  </a:lnTo>
                  <a:close/>
                  <a:moveTo>
                    <a:pt x="14" y="2310"/>
                  </a:moveTo>
                  <a:lnTo>
                    <a:pt x="14" y="2324"/>
                  </a:lnTo>
                  <a:lnTo>
                    <a:pt x="0" y="2324"/>
                  </a:lnTo>
                  <a:lnTo>
                    <a:pt x="0" y="2310"/>
                  </a:lnTo>
                  <a:lnTo>
                    <a:pt x="14" y="2310"/>
                  </a:lnTo>
                  <a:close/>
                  <a:moveTo>
                    <a:pt x="14" y="2338"/>
                  </a:moveTo>
                  <a:lnTo>
                    <a:pt x="14" y="2352"/>
                  </a:lnTo>
                  <a:lnTo>
                    <a:pt x="0" y="2352"/>
                  </a:lnTo>
                  <a:lnTo>
                    <a:pt x="0" y="2338"/>
                  </a:lnTo>
                  <a:lnTo>
                    <a:pt x="14" y="2338"/>
                  </a:lnTo>
                  <a:close/>
                  <a:moveTo>
                    <a:pt x="14" y="2366"/>
                  </a:moveTo>
                  <a:lnTo>
                    <a:pt x="14" y="2380"/>
                  </a:lnTo>
                  <a:lnTo>
                    <a:pt x="0" y="2380"/>
                  </a:lnTo>
                  <a:lnTo>
                    <a:pt x="0" y="2366"/>
                  </a:lnTo>
                  <a:lnTo>
                    <a:pt x="14" y="2366"/>
                  </a:lnTo>
                  <a:close/>
                  <a:moveTo>
                    <a:pt x="14" y="2394"/>
                  </a:moveTo>
                  <a:lnTo>
                    <a:pt x="14" y="2408"/>
                  </a:lnTo>
                  <a:lnTo>
                    <a:pt x="0" y="2408"/>
                  </a:lnTo>
                  <a:lnTo>
                    <a:pt x="0" y="2394"/>
                  </a:lnTo>
                  <a:lnTo>
                    <a:pt x="14" y="2394"/>
                  </a:lnTo>
                  <a:close/>
                  <a:moveTo>
                    <a:pt x="14" y="2421"/>
                  </a:moveTo>
                  <a:lnTo>
                    <a:pt x="14" y="2435"/>
                  </a:lnTo>
                  <a:lnTo>
                    <a:pt x="0" y="2435"/>
                  </a:lnTo>
                  <a:lnTo>
                    <a:pt x="0" y="2421"/>
                  </a:lnTo>
                  <a:lnTo>
                    <a:pt x="14" y="2421"/>
                  </a:lnTo>
                  <a:close/>
                  <a:moveTo>
                    <a:pt x="14" y="2449"/>
                  </a:moveTo>
                  <a:lnTo>
                    <a:pt x="14" y="2453"/>
                  </a:lnTo>
                  <a:lnTo>
                    <a:pt x="0" y="2453"/>
                  </a:lnTo>
                  <a:lnTo>
                    <a:pt x="0" y="2449"/>
                  </a:lnTo>
                  <a:lnTo>
                    <a:pt x="14" y="2449"/>
                  </a:lnTo>
                  <a:close/>
                </a:path>
              </a:pathLst>
            </a:custGeom>
            <a:solidFill>
              <a:srgbClr val="000000"/>
            </a:solidFill>
            <a:ln w="0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491" name="Freeform 33">
              <a:extLst>
                <a:ext uri="{FF2B5EF4-FFF2-40B4-BE49-F238E27FC236}">
                  <a16:creationId xmlns:a16="http://schemas.microsoft.com/office/drawing/2014/main" id="{D5B6CADD-AA31-1181-769D-8969E096C40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209080" y="3078501"/>
              <a:ext cx="18000" cy="3726773"/>
            </a:xfrm>
            <a:custGeom>
              <a:avLst/>
              <a:gdLst>
                <a:gd name="T0" fmla="*/ 15 w 15"/>
                <a:gd name="T1" fmla="*/ 42 h 2453"/>
                <a:gd name="T2" fmla="*/ 0 w 15"/>
                <a:gd name="T3" fmla="*/ 56 h 2453"/>
                <a:gd name="T4" fmla="*/ 15 w 15"/>
                <a:gd name="T5" fmla="*/ 112 h 2453"/>
                <a:gd name="T6" fmla="*/ 0 w 15"/>
                <a:gd name="T7" fmla="*/ 154 h 2453"/>
                <a:gd name="T8" fmla="*/ 15 w 15"/>
                <a:gd name="T9" fmla="*/ 167 h 2453"/>
                <a:gd name="T10" fmla="*/ 15 w 15"/>
                <a:gd name="T11" fmla="*/ 237 h 2453"/>
                <a:gd name="T12" fmla="*/ 0 w 15"/>
                <a:gd name="T13" fmla="*/ 251 h 2453"/>
                <a:gd name="T14" fmla="*/ 15 w 15"/>
                <a:gd name="T15" fmla="*/ 307 h 2453"/>
                <a:gd name="T16" fmla="*/ 0 w 15"/>
                <a:gd name="T17" fmla="*/ 348 h 2453"/>
                <a:gd name="T18" fmla="*/ 15 w 15"/>
                <a:gd name="T19" fmla="*/ 362 h 2453"/>
                <a:gd name="T20" fmla="*/ 15 w 15"/>
                <a:gd name="T21" fmla="*/ 432 h 2453"/>
                <a:gd name="T22" fmla="*/ 0 w 15"/>
                <a:gd name="T23" fmla="*/ 446 h 2453"/>
                <a:gd name="T24" fmla="*/ 15 w 15"/>
                <a:gd name="T25" fmla="*/ 501 h 2453"/>
                <a:gd name="T26" fmla="*/ 0 w 15"/>
                <a:gd name="T27" fmla="*/ 543 h 2453"/>
                <a:gd name="T28" fmla="*/ 15 w 15"/>
                <a:gd name="T29" fmla="*/ 557 h 2453"/>
                <a:gd name="T30" fmla="*/ 15 w 15"/>
                <a:gd name="T31" fmla="*/ 627 h 2453"/>
                <a:gd name="T32" fmla="*/ 0 w 15"/>
                <a:gd name="T33" fmla="*/ 641 h 2453"/>
                <a:gd name="T34" fmla="*/ 15 w 15"/>
                <a:gd name="T35" fmla="*/ 696 h 2453"/>
                <a:gd name="T36" fmla="*/ 0 w 15"/>
                <a:gd name="T37" fmla="*/ 738 h 2453"/>
                <a:gd name="T38" fmla="*/ 15 w 15"/>
                <a:gd name="T39" fmla="*/ 752 h 2453"/>
                <a:gd name="T40" fmla="*/ 15 w 15"/>
                <a:gd name="T41" fmla="*/ 822 h 2453"/>
                <a:gd name="T42" fmla="*/ 0 w 15"/>
                <a:gd name="T43" fmla="*/ 835 h 2453"/>
                <a:gd name="T44" fmla="*/ 15 w 15"/>
                <a:gd name="T45" fmla="*/ 891 h 2453"/>
                <a:gd name="T46" fmla="*/ 0 w 15"/>
                <a:gd name="T47" fmla="*/ 933 h 2453"/>
                <a:gd name="T48" fmla="*/ 15 w 15"/>
                <a:gd name="T49" fmla="*/ 947 h 2453"/>
                <a:gd name="T50" fmla="*/ 15 w 15"/>
                <a:gd name="T51" fmla="*/ 1016 h 2453"/>
                <a:gd name="T52" fmla="*/ 0 w 15"/>
                <a:gd name="T53" fmla="*/ 1030 h 2453"/>
                <a:gd name="T54" fmla="*/ 15 w 15"/>
                <a:gd name="T55" fmla="*/ 1086 h 2453"/>
                <a:gd name="T56" fmla="*/ 0 w 15"/>
                <a:gd name="T57" fmla="*/ 1127 h 2453"/>
                <a:gd name="T58" fmla="*/ 15 w 15"/>
                <a:gd name="T59" fmla="*/ 1141 h 2453"/>
                <a:gd name="T60" fmla="*/ 15 w 15"/>
                <a:gd name="T61" fmla="*/ 1211 h 2453"/>
                <a:gd name="T62" fmla="*/ 0 w 15"/>
                <a:gd name="T63" fmla="*/ 1225 h 2453"/>
                <a:gd name="T64" fmla="*/ 15 w 15"/>
                <a:gd name="T65" fmla="*/ 1281 h 2453"/>
                <a:gd name="T66" fmla="*/ 0 w 15"/>
                <a:gd name="T67" fmla="*/ 1322 h 2453"/>
                <a:gd name="T68" fmla="*/ 15 w 15"/>
                <a:gd name="T69" fmla="*/ 1336 h 2453"/>
                <a:gd name="T70" fmla="*/ 15 w 15"/>
                <a:gd name="T71" fmla="*/ 1406 h 2453"/>
                <a:gd name="T72" fmla="*/ 0 w 15"/>
                <a:gd name="T73" fmla="*/ 1420 h 2453"/>
                <a:gd name="T74" fmla="*/ 15 w 15"/>
                <a:gd name="T75" fmla="*/ 1475 h 2453"/>
                <a:gd name="T76" fmla="*/ 0 w 15"/>
                <a:gd name="T77" fmla="*/ 1517 h 2453"/>
                <a:gd name="T78" fmla="*/ 15 w 15"/>
                <a:gd name="T79" fmla="*/ 1531 h 2453"/>
                <a:gd name="T80" fmla="*/ 15 w 15"/>
                <a:gd name="T81" fmla="*/ 1601 h 2453"/>
                <a:gd name="T82" fmla="*/ 0 w 15"/>
                <a:gd name="T83" fmla="*/ 1615 h 2453"/>
                <a:gd name="T84" fmla="*/ 15 w 15"/>
                <a:gd name="T85" fmla="*/ 1670 h 2453"/>
                <a:gd name="T86" fmla="*/ 0 w 15"/>
                <a:gd name="T87" fmla="*/ 1712 h 2453"/>
                <a:gd name="T88" fmla="*/ 15 w 15"/>
                <a:gd name="T89" fmla="*/ 1726 h 2453"/>
                <a:gd name="T90" fmla="*/ 15 w 15"/>
                <a:gd name="T91" fmla="*/ 1795 h 2453"/>
                <a:gd name="T92" fmla="*/ 0 w 15"/>
                <a:gd name="T93" fmla="*/ 1809 h 2453"/>
                <a:gd name="T94" fmla="*/ 15 w 15"/>
                <a:gd name="T95" fmla="*/ 1865 h 2453"/>
                <a:gd name="T96" fmla="*/ 0 w 15"/>
                <a:gd name="T97" fmla="*/ 1907 h 2453"/>
                <a:gd name="T98" fmla="*/ 15 w 15"/>
                <a:gd name="T99" fmla="*/ 1921 h 2453"/>
                <a:gd name="T100" fmla="*/ 15 w 15"/>
                <a:gd name="T101" fmla="*/ 1990 h 2453"/>
                <a:gd name="T102" fmla="*/ 0 w 15"/>
                <a:gd name="T103" fmla="*/ 2004 h 2453"/>
                <a:gd name="T104" fmla="*/ 15 w 15"/>
                <a:gd name="T105" fmla="*/ 2060 h 2453"/>
                <a:gd name="T106" fmla="*/ 0 w 15"/>
                <a:gd name="T107" fmla="*/ 2102 h 2453"/>
                <a:gd name="T108" fmla="*/ 15 w 15"/>
                <a:gd name="T109" fmla="*/ 2116 h 2453"/>
                <a:gd name="T110" fmla="*/ 15 w 15"/>
                <a:gd name="T111" fmla="*/ 2185 h 2453"/>
                <a:gd name="T112" fmla="*/ 0 w 15"/>
                <a:gd name="T113" fmla="*/ 2199 h 2453"/>
                <a:gd name="T114" fmla="*/ 15 w 15"/>
                <a:gd name="T115" fmla="*/ 2254 h 2453"/>
                <a:gd name="T116" fmla="*/ 0 w 15"/>
                <a:gd name="T117" fmla="*/ 2296 h 2453"/>
                <a:gd name="T118" fmla="*/ 15 w 15"/>
                <a:gd name="T119" fmla="*/ 2310 h 2453"/>
                <a:gd name="T120" fmla="*/ 15 w 15"/>
                <a:gd name="T121" fmla="*/ 2380 h 2453"/>
                <a:gd name="T122" fmla="*/ 0 w 15"/>
                <a:gd name="T123" fmla="*/ 2394 h 2453"/>
                <a:gd name="T124" fmla="*/ 15 w 15"/>
                <a:gd name="T125" fmla="*/ 2449 h 24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5" h="2453">
                  <a:moveTo>
                    <a:pt x="15" y="0"/>
                  </a:moveTo>
                  <a:lnTo>
                    <a:pt x="15" y="14"/>
                  </a:lnTo>
                  <a:lnTo>
                    <a:pt x="0" y="14"/>
                  </a:lnTo>
                  <a:lnTo>
                    <a:pt x="0" y="0"/>
                  </a:lnTo>
                  <a:lnTo>
                    <a:pt x="15" y="0"/>
                  </a:lnTo>
                  <a:close/>
                  <a:moveTo>
                    <a:pt x="15" y="28"/>
                  </a:moveTo>
                  <a:lnTo>
                    <a:pt x="15" y="42"/>
                  </a:lnTo>
                  <a:lnTo>
                    <a:pt x="0" y="42"/>
                  </a:lnTo>
                  <a:lnTo>
                    <a:pt x="0" y="28"/>
                  </a:lnTo>
                  <a:lnTo>
                    <a:pt x="15" y="28"/>
                  </a:lnTo>
                  <a:close/>
                  <a:moveTo>
                    <a:pt x="15" y="56"/>
                  </a:moveTo>
                  <a:lnTo>
                    <a:pt x="15" y="70"/>
                  </a:lnTo>
                  <a:lnTo>
                    <a:pt x="0" y="70"/>
                  </a:lnTo>
                  <a:lnTo>
                    <a:pt x="0" y="56"/>
                  </a:lnTo>
                  <a:lnTo>
                    <a:pt x="15" y="56"/>
                  </a:lnTo>
                  <a:close/>
                  <a:moveTo>
                    <a:pt x="15" y="84"/>
                  </a:moveTo>
                  <a:lnTo>
                    <a:pt x="15" y="98"/>
                  </a:lnTo>
                  <a:lnTo>
                    <a:pt x="0" y="98"/>
                  </a:lnTo>
                  <a:lnTo>
                    <a:pt x="0" y="84"/>
                  </a:lnTo>
                  <a:lnTo>
                    <a:pt x="15" y="84"/>
                  </a:lnTo>
                  <a:close/>
                  <a:moveTo>
                    <a:pt x="15" y="112"/>
                  </a:moveTo>
                  <a:lnTo>
                    <a:pt x="15" y="126"/>
                  </a:lnTo>
                  <a:lnTo>
                    <a:pt x="0" y="126"/>
                  </a:lnTo>
                  <a:lnTo>
                    <a:pt x="0" y="112"/>
                  </a:lnTo>
                  <a:lnTo>
                    <a:pt x="15" y="112"/>
                  </a:lnTo>
                  <a:close/>
                  <a:moveTo>
                    <a:pt x="15" y="140"/>
                  </a:moveTo>
                  <a:lnTo>
                    <a:pt x="15" y="154"/>
                  </a:lnTo>
                  <a:lnTo>
                    <a:pt x="0" y="154"/>
                  </a:lnTo>
                  <a:lnTo>
                    <a:pt x="0" y="140"/>
                  </a:lnTo>
                  <a:lnTo>
                    <a:pt x="15" y="140"/>
                  </a:lnTo>
                  <a:close/>
                  <a:moveTo>
                    <a:pt x="15" y="167"/>
                  </a:moveTo>
                  <a:lnTo>
                    <a:pt x="15" y="181"/>
                  </a:lnTo>
                  <a:lnTo>
                    <a:pt x="0" y="181"/>
                  </a:lnTo>
                  <a:lnTo>
                    <a:pt x="0" y="167"/>
                  </a:lnTo>
                  <a:lnTo>
                    <a:pt x="15" y="167"/>
                  </a:lnTo>
                  <a:close/>
                  <a:moveTo>
                    <a:pt x="15" y="195"/>
                  </a:moveTo>
                  <a:lnTo>
                    <a:pt x="15" y="209"/>
                  </a:lnTo>
                  <a:lnTo>
                    <a:pt x="0" y="209"/>
                  </a:lnTo>
                  <a:lnTo>
                    <a:pt x="0" y="195"/>
                  </a:lnTo>
                  <a:lnTo>
                    <a:pt x="15" y="195"/>
                  </a:lnTo>
                  <a:close/>
                  <a:moveTo>
                    <a:pt x="15" y="223"/>
                  </a:moveTo>
                  <a:lnTo>
                    <a:pt x="15" y="237"/>
                  </a:lnTo>
                  <a:lnTo>
                    <a:pt x="0" y="237"/>
                  </a:lnTo>
                  <a:lnTo>
                    <a:pt x="0" y="223"/>
                  </a:lnTo>
                  <a:lnTo>
                    <a:pt x="15" y="223"/>
                  </a:lnTo>
                  <a:close/>
                  <a:moveTo>
                    <a:pt x="15" y="251"/>
                  </a:moveTo>
                  <a:lnTo>
                    <a:pt x="15" y="265"/>
                  </a:lnTo>
                  <a:lnTo>
                    <a:pt x="0" y="265"/>
                  </a:lnTo>
                  <a:lnTo>
                    <a:pt x="0" y="251"/>
                  </a:lnTo>
                  <a:lnTo>
                    <a:pt x="15" y="251"/>
                  </a:lnTo>
                  <a:close/>
                  <a:moveTo>
                    <a:pt x="15" y="279"/>
                  </a:moveTo>
                  <a:lnTo>
                    <a:pt x="15" y="293"/>
                  </a:lnTo>
                  <a:lnTo>
                    <a:pt x="0" y="293"/>
                  </a:lnTo>
                  <a:lnTo>
                    <a:pt x="0" y="279"/>
                  </a:lnTo>
                  <a:lnTo>
                    <a:pt x="15" y="279"/>
                  </a:lnTo>
                  <a:close/>
                  <a:moveTo>
                    <a:pt x="15" y="307"/>
                  </a:moveTo>
                  <a:lnTo>
                    <a:pt x="15" y="321"/>
                  </a:lnTo>
                  <a:lnTo>
                    <a:pt x="0" y="321"/>
                  </a:lnTo>
                  <a:lnTo>
                    <a:pt x="0" y="307"/>
                  </a:lnTo>
                  <a:lnTo>
                    <a:pt x="15" y="307"/>
                  </a:lnTo>
                  <a:close/>
                  <a:moveTo>
                    <a:pt x="15" y="334"/>
                  </a:moveTo>
                  <a:lnTo>
                    <a:pt x="15" y="348"/>
                  </a:lnTo>
                  <a:lnTo>
                    <a:pt x="0" y="348"/>
                  </a:lnTo>
                  <a:lnTo>
                    <a:pt x="0" y="334"/>
                  </a:lnTo>
                  <a:lnTo>
                    <a:pt x="15" y="334"/>
                  </a:lnTo>
                  <a:close/>
                  <a:moveTo>
                    <a:pt x="15" y="362"/>
                  </a:moveTo>
                  <a:lnTo>
                    <a:pt x="15" y="376"/>
                  </a:lnTo>
                  <a:lnTo>
                    <a:pt x="0" y="376"/>
                  </a:lnTo>
                  <a:lnTo>
                    <a:pt x="0" y="362"/>
                  </a:lnTo>
                  <a:lnTo>
                    <a:pt x="15" y="362"/>
                  </a:lnTo>
                  <a:close/>
                  <a:moveTo>
                    <a:pt x="15" y="390"/>
                  </a:moveTo>
                  <a:lnTo>
                    <a:pt x="15" y="404"/>
                  </a:lnTo>
                  <a:lnTo>
                    <a:pt x="0" y="404"/>
                  </a:lnTo>
                  <a:lnTo>
                    <a:pt x="0" y="390"/>
                  </a:lnTo>
                  <a:lnTo>
                    <a:pt x="15" y="390"/>
                  </a:lnTo>
                  <a:close/>
                  <a:moveTo>
                    <a:pt x="15" y="418"/>
                  </a:moveTo>
                  <a:lnTo>
                    <a:pt x="15" y="432"/>
                  </a:lnTo>
                  <a:lnTo>
                    <a:pt x="0" y="432"/>
                  </a:lnTo>
                  <a:lnTo>
                    <a:pt x="0" y="418"/>
                  </a:lnTo>
                  <a:lnTo>
                    <a:pt x="15" y="418"/>
                  </a:lnTo>
                  <a:close/>
                  <a:moveTo>
                    <a:pt x="15" y="446"/>
                  </a:moveTo>
                  <a:lnTo>
                    <a:pt x="15" y="460"/>
                  </a:lnTo>
                  <a:lnTo>
                    <a:pt x="0" y="460"/>
                  </a:lnTo>
                  <a:lnTo>
                    <a:pt x="0" y="446"/>
                  </a:lnTo>
                  <a:lnTo>
                    <a:pt x="15" y="446"/>
                  </a:lnTo>
                  <a:close/>
                  <a:moveTo>
                    <a:pt x="15" y="474"/>
                  </a:moveTo>
                  <a:lnTo>
                    <a:pt x="15" y="488"/>
                  </a:lnTo>
                  <a:lnTo>
                    <a:pt x="0" y="488"/>
                  </a:lnTo>
                  <a:lnTo>
                    <a:pt x="0" y="474"/>
                  </a:lnTo>
                  <a:lnTo>
                    <a:pt x="15" y="474"/>
                  </a:lnTo>
                  <a:close/>
                  <a:moveTo>
                    <a:pt x="15" y="501"/>
                  </a:moveTo>
                  <a:lnTo>
                    <a:pt x="15" y="515"/>
                  </a:lnTo>
                  <a:lnTo>
                    <a:pt x="0" y="515"/>
                  </a:lnTo>
                  <a:lnTo>
                    <a:pt x="0" y="501"/>
                  </a:lnTo>
                  <a:lnTo>
                    <a:pt x="15" y="501"/>
                  </a:lnTo>
                  <a:close/>
                  <a:moveTo>
                    <a:pt x="15" y="529"/>
                  </a:moveTo>
                  <a:lnTo>
                    <a:pt x="15" y="543"/>
                  </a:lnTo>
                  <a:lnTo>
                    <a:pt x="0" y="543"/>
                  </a:lnTo>
                  <a:lnTo>
                    <a:pt x="0" y="529"/>
                  </a:lnTo>
                  <a:lnTo>
                    <a:pt x="15" y="529"/>
                  </a:lnTo>
                  <a:close/>
                  <a:moveTo>
                    <a:pt x="15" y="557"/>
                  </a:moveTo>
                  <a:lnTo>
                    <a:pt x="15" y="571"/>
                  </a:lnTo>
                  <a:lnTo>
                    <a:pt x="0" y="571"/>
                  </a:lnTo>
                  <a:lnTo>
                    <a:pt x="0" y="557"/>
                  </a:lnTo>
                  <a:lnTo>
                    <a:pt x="15" y="557"/>
                  </a:lnTo>
                  <a:close/>
                  <a:moveTo>
                    <a:pt x="15" y="585"/>
                  </a:moveTo>
                  <a:lnTo>
                    <a:pt x="15" y="599"/>
                  </a:lnTo>
                  <a:lnTo>
                    <a:pt x="0" y="599"/>
                  </a:lnTo>
                  <a:lnTo>
                    <a:pt x="0" y="585"/>
                  </a:lnTo>
                  <a:lnTo>
                    <a:pt x="15" y="585"/>
                  </a:lnTo>
                  <a:close/>
                  <a:moveTo>
                    <a:pt x="15" y="613"/>
                  </a:moveTo>
                  <a:lnTo>
                    <a:pt x="15" y="627"/>
                  </a:lnTo>
                  <a:lnTo>
                    <a:pt x="0" y="627"/>
                  </a:lnTo>
                  <a:lnTo>
                    <a:pt x="0" y="613"/>
                  </a:lnTo>
                  <a:lnTo>
                    <a:pt x="15" y="613"/>
                  </a:lnTo>
                  <a:close/>
                  <a:moveTo>
                    <a:pt x="15" y="641"/>
                  </a:moveTo>
                  <a:lnTo>
                    <a:pt x="15" y="655"/>
                  </a:lnTo>
                  <a:lnTo>
                    <a:pt x="0" y="655"/>
                  </a:lnTo>
                  <a:lnTo>
                    <a:pt x="0" y="641"/>
                  </a:lnTo>
                  <a:lnTo>
                    <a:pt x="15" y="641"/>
                  </a:lnTo>
                  <a:close/>
                  <a:moveTo>
                    <a:pt x="15" y="668"/>
                  </a:moveTo>
                  <a:lnTo>
                    <a:pt x="15" y="682"/>
                  </a:lnTo>
                  <a:lnTo>
                    <a:pt x="0" y="682"/>
                  </a:lnTo>
                  <a:lnTo>
                    <a:pt x="0" y="668"/>
                  </a:lnTo>
                  <a:lnTo>
                    <a:pt x="15" y="668"/>
                  </a:lnTo>
                  <a:close/>
                  <a:moveTo>
                    <a:pt x="15" y="696"/>
                  </a:moveTo>
                  <a:lnTo>
                    <a:pt x="15" y="710"/>
                  </a:lnTo>
                  <a:lnTo>
                    <a:pt x="0" y="710"/>
                  </a:lnTo>
                  <a:lnTo>
                    <a:pt x="0" y="696"/>
                  </a:lnTo>
                  <a:lnTo>
                    <a:pt x="15" y="696"/>
                  </a:lnTo>
                  <a:close/>
                  <a:moveTo>
                    <a:pt x="15" y="724"/>
                  </a:moveTo>
                  <a:lnTo>
                    <a:pt x="15" y="738"/>
                  </a:lnTo>
                  <a:lnTo>
                    <a:pt x="0" y="738"/>
                  </a:lnTo>
                  <a:lnTo>
                    <a:pt x="0" y="724"/>
                  </a:lnTo>
                  <a:lnTo>
                    <a:pt x="15" y="724"/>
                  </a:lnTo>
                  <a:close/>
                  <a:moveTo>
                    <a:pt x="15" y="752"/>
                  </a:moveTo>
                  <a:lnTo>
                    <a:pt x="15" y="766"/>
                  </a:lnTo>
                  <a:lnTo>
                    <a:pt x="0" y="766"/>
                  </a:lnTo>
                  <a:lnTo>
                    <a:pt x="0" y="752"/>
                  </a:lnTo>
                  <a:lnTo>
                    <a:pt x="15" y="752"/>
                  </a:lnTo>
                  <a:close/>
                  <a:moveTo>
                    <a:pt x="15" y="780"/>
                  </a:moveTo>
                  <a:lnTo>
                    <a:pt x="15" y="793"/>
                  </a:lnTo>
                  <a:lnTo>
                    <a:pt x="0" y="793"/>
                  </a:lnTo>
                  <a:lnTo>
                    <a:pt x="0" y="780"/>
                  </a:lnTo>
                  <a:lnTo>
                    <a:pt x="15" y="780"/>
                  </a:lnTo>
                  <a:close/>
                  <a:moveTo>
                    <a:pt x="15" y="808"/>
                  </a:moveTo>
                  <a:lnTo>
                    <a:pt x="15" y="822"/>
                  </a:lnTo>
                  <a:lnTo>
                    <a:pt x="0" y="822"/>
                  </a:lnTo>
                  <a:lnTo>
                    <a:pt x="0" y="808"/>
                  </a:lnTo>
                  <a:lnTo>
                    <a:pt x="15" y="808"/>
                  </a:lnTo>
                  <a:close/>
                  <a:moveTo>
                    <a:pt x="15" y="835"/>
                  </a:moveTo>
                  <a:lnTo>
                    <a:pt x="15" y="849"/>
                  </a:lnTo>
                  <a:lnTo>
                    <a:pt x="0" y="849"/>
                  </a:lnTo>
                  <a:lnTo>
                    <a:pt x="0" y="835"/>
                  </a:lnTo>
                  <a:lnTo>
                    <a:pt x="15" y="835"/>
                  </a:lnTo>
                  <a:close/>
                  <a:moveTo>
                    <a:pt x="15" y="863"/>
                  </a:moveTo>
                  <a:lnTo>
                    <a:pt x="15" y="877"/>
                  </a:lnTo>
                  <a:lnTo>
                    <a:pt x="0" y="877"/>
                  </a:lnTo>
                  <a:lnTo>
                    <a:pt x="0" y="863"/>
                  </a:lnTo>
                  <a:lnTo>
                    <a:pt x="15" y="863"/>
                  </a:lnTo>
                  <a:close/>
                  <a:moveTo>
                    <a:pt x="15" y="891"/>
                  </a:moveTo>
                  <a:lnTo>
                    <a:pt x="15" y="905"/>
                  </a:lnTo>
                  <a:lnTo>
                    <a:pt x="0" y="905"/>
                  </a:lnTo>
                  <a:lnTo>
                    <a:pt x="0" y="891"/>
                  </a:lnTo>
                  <a:lnTo>
                    <a:pt x="15" y="891"/>
                  </a:lnTo>
                  <a:close/>
                  <a:moveTo>
                    <a:pt x="15" y="919"/>
                  </a:moveTo>
                  <a:lnTo>
                    <a:pt x="15" y="933"/>
                  </a:lnTo>
                  <a:lnTo>
                    <a:pt x="0" y="933"/>
                  </a:lnTo>
                  <a:lnTo>
                    <a:pt x="0" y="919"/>
                  </a:lnTo>
                  <a:lnTo>
                    <a:pt x="15" y="919"/>
                  </a:lnTo>
                  <a:close/>
                  <a:moveTo>
                    <a:pt x="15" y="947"/>
                  </a:moveTo>
                  <a:lnTo>
                    <a:pt x="15" y="960"/>
                  </a:lnTo>
                  <a:lnTo>
                    <a:pt x="0" y="960"/>
                  </a:lnTo>
                  <a:lnTo>
                    <a:pt x="0" y="947"/>
                  </a:lnTo>
                  <a:lnTo>
                    <a:pt x="15" y="947"/>
                  </a:lnTo>
                  <a:close/>
                  <a:moveTo>
                    <a:pt x="15" y="974"/>
                  </a:moveTo>
                  <a:lnTo>
                    <a:pt x="15" y="988"/>
                  </a:lnTo>
                  <a:lnTo>
                    <a:pt x="0" y="988"/>
                  </a:lnTo>
                  <a:lnTo>
                    <a:pt x="0" y="974"/>
                  </a:lnTo>
                  <a:lnTo>
                    <a:pt x="15" y="974"/>
                  </a:lnTo>
                  <a:close/>
                  <a:moveTo>
                    <a:pt x="15" y="1002"/>
                  </a:moveTo>
                  <a:lnTo>
                    <a:pt x="15" y="1016"/>
                  </a:lnTo>
                  <a:lnTo>
                    <a:pt x="0" y="1016"/>
                  </a:lnTo>
                  <a:lnTo>
                    <a:pt x="0" y="1002"/>
                  </a:lnTo>
                  <a:lnTo>
                    <a:pt x="15" y="1002"/>
                  </a:lnTo>
                  <a:close/>
                  <a:moveTo>
                    <a:pt x="15" y="1030"/>
                  </a:moveTo>
                  <a:lnTo>
                    <a:pt x="15" y="1044"/>
                  </a:lnTo>
                  <a:lnTo>
                    <a:pt x="0" y="1044"/>
                  </a:lnTo>
                  <a:lnTo>
                    <a:pt x="0" y="1030"/>
                  </a:lnTo>
                  <a:lnTo>
                    <a:pt x="15" y="1030"/>
                  </a:lnTo>
                  <a:close/>
                  <a:moveTo>
                    <a:pt x="15" y="1058"/>
                  </a:moveTo>
                  <a:lnTo>
                    <a:pt x="15" y="1072"/>
                  </a:lnTo>
                  <a:lnTo>
                    <a:pt x="0" y="1072"/>
                  </a:lnTo>
                  <a:lnTo>
                    <a:pt x="0" y="1058"/>
                  </a:lnTo>
                  <a:lnTo>
                    <a:pt x="15" y="1058"/>
                  </a:lnTo>
                  <a:close/>
                  <a:moveTo>
                    <a:pt x="15" y="1086"/>
                  </a:moveTo>
                  <a:lnTo>
                    <a:pt x="15" y="1100"/>
                  </a:lnTo>
                  <a:lnTo>
                    <a:pt x="0" y="1100"/>
                  </a:lnTo>
                  <a:lnTo>
                    <a:pt x="0" y="1086"/>
                  </a:lnTo>
                  <a:lnTo>
                    <a:pt x="15" y="1086"/>
                  </a:lnTo>
                  <a:close/>
                  <a:moveTo>
                    <a:pt x="15" y="1114"/>
                  </a:moveTo>
                  <a:lnTo>
                    <a:pt x="15" y="1127"/>
                  </a:lnTo>
                  <a:lnTo>
                    <a:pt x="0" y="1127"/>
                  </a:lnTo>
                  <a:lnTo>
                    <a:pt x="0" y="1114"/>
                  </a:lnTo>
                  <a:lnTo>
                    <a:pt x="15" y="1114"/>
                  </a:lnTo>
                  <a:close/>
                  <a:moveTo>
                    <a:pt x="15" y="1141"/>
                  </a:moveTo>
                  <a:lnTo>
                    <a:pt x="15" y="1155"/>
                  </a:lnTo>
                  <a:lnTo>
                    <a:pt x="0" y="1155"/>
                  </a:lnTo>
                  <a:lnTo>
                    <a:pt x="0" y="1141"/>
                  </a:lnTo>
                  <a:lnTo>
                    <a:pt x="15" y="1141"/>
                  </a:lnTo>
                  <a:close/>
                  <a:moveTo>
                    <a:pt x="15" y="1169"/>
                  </a:moveTo>
                  <a:lnTo>
                    <a:pt x="15" y="1183"/>
                  </a:lnTo>
                  <a:lnTo>
                    <a:pt x="0" y="1183"/>
                  </a:lnTo>
                  <a:lnTo>
                    <a:pt x="0" y="1169"/>
                  </a:lnTo>
                  <a:lnTo>
                    <a:pt x="15" y="1169"/>
                  </a:lnTo>
                  <a:close/>
                  <a:moveTo>
                    <a:pt x="15" y="1197"/>
                  </a:moveTo>
                  <a:lnTo>
                    <a:pt x="15" y="1211"/>
                  </a:lnTo>
                  <a:lnTo>
                    <a:pt x="0" y="1211"/>
                  </a:lnTo>
                  <a:lnTo>
                    <a:pt x="0" y="1197"/>
                  </a:lnTo>
                  <a:lnTo>
                    <a:pt x="15" y="1197"/>
                  </a:lnTo>
                  <a:close/>
                  <a:moveTo>
                    <a:pt x="15" y="1225"/>
                  </a:moveTo>
                  <a:lnTo>
                    <a:pt x="15" y="1239"/>
                  </a:lnTo>
                  <a:lnTo>
                    <a:pt x="0" y="1239"/>
                  </a:lnTo>
                  <a:lnTo>
                    <a:pt x="0" y="1225"/>
                  </a:lnTo>
                  <a:lnTo>
                    <a:pt x="15" y="1225"/>
                  </a:lnTo>
                  <a:close/>
                  <a:moveTo>
                    <a:pt x="15" y="1253"/>
                  </a:moveTo>
                  <a:lnTo>
                    <a:pt x="15" y="1267"/>
                  </a:lnTo>
                  <a:lnTo>
                    <a:pt x="0" y="1267"/>
                  </a:lnTo>
                  <a:lnTo>
                    <a:pt x="0" y="1253"/>
                  </a:lnTo>
                  <a:lnTo>
                    <a:pt x="15" y="1253"/>
                  </a:lnTo>
                  <a:close/>
                  <a:moveTo>
                    <a:pt x="15" y="1281"/>
                  </a:moveTo>
                  <a:lnTo>
                    <a:pt x="15" y="1294"/>
                  </a:lnTo>
                  <a:lnTo>
                    <a:pt x="0" y="1294"/>
                  </a:lnTo>
                  <a:lnTo>
                    <a:pt x="0" y="1281"/>
                  </a:lnTo>
                  <a:lnTo>
                    <a:pt x="15" y="1281"/>
                  </a:lnTo>
                  <a:close/>
                  <a:moveTo>
                    <a:pt x="15" y="1308"/>
                  </a:moveTo>
                  <a:lnTo>
                    <a:pt x="15" y="1322"/>
                  </a:lnTo>
                  <a:lnTo>
                    <a:pt x="0" y="1322"/>
                  </a:lnTo>
                  <a:lnTo>
                    <a:pt x="0" y="1308"/>
                  </a:lnTo>
                  <a:lnTo>
                    <a:pt x="15" y="1308"/>
                  </a:lnTo>
                  <a:close/>
                  <a:moveTo>
                    <a:pt x="15" y="1336"/>
                  </a:moveTo>
                  <a:lnTo>
                    <a:pt x="15" y="1350"/>
                  </a:lnTo>
                  <a:lnTo>
                    <a:pt x="0" y="1350"/>
                  </a:lnTo>
                  <a:lnTo>
                    <a:pt x="0" y="1336"/>
                  </a:lnTo>
                  <a:lnTo>
                    <a:pt x="15" y="1336"/>
                  </a:lnTo>
                  <a:close/>
                  <a:moveTo>
                    <a:pt x="15" y="1364"/>
                  </a:moveTo>
                  <a:lnTo>
                    <a:pt x="15" y="1378"/>
                  </a:lnTo>
                  <a:lnTo>
                    <a:pt x="0" y="1378"/>
                  </a:lnTo>
                  <a:lnTo>
                    <a:pt x="0" y="1364"/>
                  </a:lnTo>
                  <a:lnTo>
                    <a:pt x="15" y="1364"/>
                  </a:lnTo>
                  <a:close/>
                  <a:moveTo>
                    <a:pt x="15" y="1392"/>
                  </a:moveTo>
                  <a:lnTo>
                    <a:pt x="15" y="1406"/>
                  </a:lnTo>
                  <a:lnTo>
                    <a:pt x="0" y="1406"/>
                  </a:lnTo>
                  <a:lnTo>
                    <a:pt x="0" y="1392"/>
                  </a:lnTo>
                  <a:lnTo>
                    <a:pt x="15" y="1392"/>
                  </a:lnTo>
                  <a:close/>
                  <a:moveTo>
                    <a:pt x="15" y="1420"/>
                  </a:moveTo>
                  <a:lnTo>
                    <a:pt x="15" y="1434"/>
                  </a:lnTo>
                  <a:lnTo>
                    <a:pt x="0" y="1434"/>
                  </a:lnTo>
                  <a:lnTo>
                    <a:pt x="0" y="1420"/>
                  </a:lnTo>
                  <a:lnTo>
                    <a:pt x="15" y="1420"/>
                  </a:lnTo>
                  <a:close/>
                  <a:moveTo>
                    <a:pt x="15" y="1448"/>
                  </a:moveTo>
                  <a:lnTo>
                    <a:pt x="15" y="1461"/>
                  </a:lnTo>
                  <a:lnTo>
                    <a:pt x="0" y="1461"/>
                  </a:lnTo>
                  <a:lnTo>
                    <a:pt x="0" y="1448"/>
                  </a:lnTo>
                  <a:lnTo>
                    <a:pt x="15" y="1448"/>
                  </a:lnTo>
                  <a:close/>
                  <a:moveTo>
                    <a:pt x="15" y="1475"/>
                  </a:moveTo>
                  <a:lnTo>
                    <a:pt x="15" y="1489"/>
                  </a:lnTo>
                  <a:lnTo>
                    <a:pt x="0" y="1489"/>
                  </a:lnTo>
                  <a:lnTo>
                    <a:pt x="0" y="1475"/>
                  </a:lnTo>
                  <a:lnTo>
                    <a:pt x="15" y="1475"/>
                  </a:lnTo>
                  <a:close/>
                  <a:moveTo>
                    <a:pt x="15" y="1503"/>
                  </a:moveTo>
                  <a:lnTo>
                    <a:pt x="15" y="1517"/>
                  </a:lnTo>
                  <a:lnTo>
                    <a:pt x="0" y="1517"/>
                  </a:lnTo>
                  <a:lnTo>
                    <a:pt x="0" y="1503"/>
                  </a:lnTo>
                  <a:lnTo>
                    <a:pt x="15" y="1503"/>
                  </a:lnTo>
                  <a:close/>
                  <a:moveTo>
                    <a:pt x="15" y="1531"/>
                  </a:moveTo>
                  <a:lnTo>
                    <a:pt x="15" y="1545"/>
                  </a:lnTo>
                  <a:lnTo>
                    <a:pt x="0" y="1545"/>
                  </a:lnTo>
                  <a:lnTo>
                    <a:pt x="0" y="1531"/>
                  </a:lnTo>
                  <a:lnTo>
                    <a:pt x="15" y="1531"/>
                  </a:lnTo>
                  <a:close/>
                  <a:moveTo>
                    <a:pt x="15" y="1559"/>
                  </a:moveTo>
                  <a:lnTo>
                    <a:pt x="15" y="1573"/>
                  </a:lnTo>
                  <a:lnTo>
                    <a:pt x="0" y="1573"/>
                  </a:lnTo>
                  <a:lnTo>
                    <a:pt x="0" y="1559"/>
                  </a:lnTo>
                  <a:lnTo>
                    <a:pt x="15" y="1559"/>
                  </a:lnTo>
                  <a:close/>
                  <a:moveTo>
                    <a:pt x="15" y="1587"/>
                  </a:moveTo>
                  <a:lnTo>
                    <a:pt x="15" y="1601"/>
                  </a:lnTo>
                  <a:lnTo>
                    <a:pt x="0" y="1601"/>
                  </a:lnTo>
                  <a:lnTo>
                    <a:pt x="0" y="1587"/>
                  </a:lnTo>
                  <a:lnTo>
                    <a:pt x="15" y="1587"/>
                  </a:lnTo>
                  <a:close/>
                  <a:moveTo>
                    <a:pt x="15" y="1615"/>
                  </a:moveTo>
                  <a:lnTo>
                    <a:pt x="15" y="1628"/>
                  </a:lnTo>
                  <a:lnTo>
                    <a:pt x="0" y="1628"/>
                  </a:lnTo>
                  <a:lnTo>
                    <a:pt x="0" y="1615"/>
                  </a:lnTo>
                  <a:lnTo>
                    <a:pt x="15" y="1615"/>
                  </a:lnTo>
                  <a:close/>
                  <a:moveTo>
                    <a:pt x="15" y="1642"/>
                  </a:moveTo>
                  <a:lnTo>
                    <a:pt x="15" y="1656"/>
                  </a:lnTo>
                  <a:lnTo>
                    <a:pt x="0" y="1656"/>
                  </a:lnTo>
                  <a:lnTo>
                    <a:pt x="0" y="1642"/>
                  </a:lnTo>
                  <a:lnTo>
                    <a:pt x="15" y="1642"/>
                  </a:lnTo>
                  <a:close/>
                  <a:moveTo>
                    <a:pt x="15" y="1670"/>
                  </a:moveTo>
                  <a:lnTo>
                    <a:pt x="15" y="1684"/>
                  </a:lnTo>
                  <a:lnTo>
                    <a:pt x="0" y="1684"/>
                  </a:lnTo>
                  <a:lnTo>
                    <a:pt x="0" y="1670"/>
                  </a:lnTo>
                  <a:lnTo>
                    <a:pt x="15" y="1670"/>
                  </a:lnTo>
                  <a:close/>
                  <a:moveTo>
                    <a:pt x="15" y="1698"/>
                  </a:moveTo>
                  <a:lnTo>
                    <a:pt x="15" y="1712"/>
                  </a:lnTo>
                  <a:lnTo>
                    <a:pt x="0" y="1712"/>
                  </a:lnTo>
                  <a:lnTo>
                    <a:pt x="0" y="1698"/>
                  </a:lnTo>
                  <a:lnTo>
                    <a:pt x="15" y="1698"/>
                  </a:lnTo>
                  <a:close/>
                  <a:moveTo>
                    <a:pt x="15" y="1726"/>
                  </a:moveTo>
                  <a:lnTo>
                    <a:pt x="15" y="1740"/>
                  </a:lnTo>
                  <a:lnTo>
                    <a:pt x="0" y="1740"/>
                  </a:lnTo>
                  <a:lnTo>
                    <a:pt x="0" y="1726"/>
                  </a:lnTo>
                  <a:lnTo>
                    <a:pt x="15" y="1726"/>
                  </a:lnTo>
                  <a:close/>
                  <a:moveTo>
                    <a:pt x="15" y="1754"/>
                  </a:moveTo>
                  <a:lnTo>
                    <a:pt x="15" y="1768"/>
                  </a:lnTo>
                  <a:lnTo>
                    <a:pt x="0" y="1768"/>
                  </a:lnTo>
                  <a:lnTo>
                    <a:pt x="0" y="1754"/>
                  </a:lnTo>
                  <a:lnTo>
                    <a:pt x="15" y="1754"/>
                  </a:lnTo>
                  <a:close/>
                  <a:moveTo>
                    <a:pt x="15" y="1782"/>
                  </a:moveTo>
                  <a:lnTo>
                    <a:pt x="15" y="1795"/>
                  </a:lnTo>
                  <a:lnTo>
                    <a:pt x="0" y="1795"/>
                  </a:lnTo>
                  <a:lnTo>
                    <a:pt x="0" y="1782"/>
                  </a:lnTo>
                  <a:lnTo>
                    <a:pt x="15" y="1782"/>
                  </a:lnTo>
                  <a:close/>
                  <a:moveTo>
                    <a:pt x="15" y="1809"/>
                  </a:moveTo>
                  <a:lnTo>
                    <a:pt x="15" y="1823"/>
                  </a:lnTo>
                  <a:lnTo>
                    <a:pt x="0" y="1823"/>
                  </a:lnTo>
                  <a:lnTo>
                    <a:pt x="0" y="1809"/>
                  </a:lnTo>
                  <a:lnTo>
                    <a:pt x="15" y="1809"/>
                  </a:lnTo>
                  <a:close/>
                  <a:moveTo>
                    <a:pt x="15" y="1837"/>
                  </a:moveTo>
                  <a:lnTo>
                    <a:pt x="15" y="1851"/>
                  </a:lnTo>
                  <a:lnTo>
                    <a:pt x="0" y="1851"/>
                  </a:lnTo>
                  <a:lnTo>
                    <a:pt x="0" y="1837"/>
                  </a:lnTo>
                  <a:lnTo>
                    <a:pt x="15" y="1837"/>
                  </a:lnTo>
                  <a:close/>
                  <a:moveTo>
                    <a:pt x="15" y="1865"/>
                  </a:moveTo>
                  <a:lnTo>
                    <a:pt x="15" y="1879"/>
                  </a:lnTo>
                  <a:lnTo>
                    <a:pt x="0" y="1879"/>
                  </a:lnTo>
                  <a:lnTo>
                    <a:pt x="0" y="1865"/>
                  </a:lnTo>
                  <a:lnTo>
                    <a:pt x="15" y="1865"/>
                  </a:lnTo>
                  <a:close/>
                  <a:moveTo>
                    <a:pt x="15" y="1893"/>
                  </a:moveTo>
                  <a:lnTo>
                    <a:pt x="15" y="1907"/>
                  </a:lnTo>
                  <a:lnTo>
                    <a:pt x="0" y="1907"/>
                  </a:lnTo>
                  <a:lnTo>
                    <a:pt x="0" y="1893"/>
                  </a:lnTo>
                  <a:lnTo>
                    <a:pt x="15" y="1893"/>
                  </a:lnTo>
                  <a:close/>
                  <a:moveTo>
                    <a:pt x="15" y="1921"/>
                  </a:moveTo>
                  <a:lnTo>
                    <a:pt x="15" y="1935"/>
                  </a:lnTo>
                  <a:lnTo>
                    <a:pt x="0" y="1935"/>
                  </a:lnTo>
                  <a:lnTo>
                    <a:pt x="0" y="1921"/>
                  </a:lnTo>
                  <a:lnTo>
                    <a:pt x="15" y="1921"/>
                  </a:lnTo>
                  <a:close/>
                  <a:moveTo>
                    <a:pt x="15" y="1949"/>
                  </a:moveTo>
                  <a:lnTo>
                    <a:pt x="15" y="1962"/>
                  </a:lnTo>
                  <a:lnTo>
                    <a:pt x="0" y="1962"/>
                  </a:lnTo>
                  <a:lnTo>
                    <a:pt x="0" y="1949"/>
                  </a:lnTo>
                  <a:lnTo>
                    <a:pt x="15" y="1949"/>
                  </a:lnTo>
                  <a:close/>
                  <a:moveTo>
                    <a:pt x="15" y="1976"/>
                  </a:moveTo>
                  <a:lnTo>
                    <a:pt x="15" y="1990"/>
                  </a:lnTo>
                  <a:lnTo>
                    <a:pt x="0" y="1990"/>
                  </a:lnTo>
                  <a:lnTo>
                    <a:pt x="0" y="1976"/>
                  </a:lnTo>
                  <a:lnTo>
                    <a:pt x="15" y="1976"/>
                  </a:lnTo>
                  <a:close/>
                  <a:moveTo>
                    <a:pt x="15" y="2004"/>
                  </a:moveTo>
                  <a:lnTo>
                    <a:pt x="15" y="2018"/>
                  </a:lnTo>
                  <a:lnTo>
                    <a:pt x="0" y="2018"/>
                  </a:lnTo>
                  <a:lnTo>
                    <a:pt x="0" y="2004"/>
                  </a:lnTo>
                  <a:lnTo>
                    <a:pt x="15" y="2004"/>
                  </a:lnTo>
                  <a:close/>
                  <a:moveTo>
                    <a:pt x="15" y="2032"/>
                  </a:moveTo>
                  <a:lnTo>
                    <a:pt x="15" y="2046"/>
                  </a:lnTo>
                  <a:lnTo>
                    <a:pt x="0" y="2046"/>
                  </a:lnTo>
                  <a:lnTo>
                    <a:pt x="0" y="2032"/>
                  </a:lnTo>
                  <a:lnTo>
                    <a:pt x="15" y="2032"/>
                  </a:lnTo>
                  <a:close/>
                  <a:moveTo>
                    <a:pt x="15" y="2060"/>
                  </a:moveTo>
                  <a:lnTo>
                    <a:pt x="15" y="2074"/>
                  </a:lnTo>
                  <a:lnTo>
                    <a:pt x="0" y="2074"/>
                  </a:lnTo>
                  <a:lnTo>
                    <a:pt x="0" y="2060"/>
                  </a:lnTo>
                  <a:lnTo>
                    <a:pt x="15" y="2060"/>
                  </a:lnTo>
                  <a:close/>
                  <a:moveTo>
                    <a:pt x="15" y="2087"/>
                  </a:moveTo>
                  <a:lnTo>
                    <a:pt x="15" y="2102"/>
                  </a:lnTo>
                  <a:lnTo>
                    <a:pt x="0" y="2102"/>
                  </a:lnTo>
                  <a:lnTo>
                    <a:pt x="0" y="2087"/>
                  </a:lnTo>
                  <a:lnTo>
                    <a:pt x="15" y="2087"/>
                  </a:lnTo>
                  <a:close/>
                  <a:moveTo>
                    <a:pt x="15" y="2116"/>
                  </a:moveTo>
                  <a:lnTo>
                    <a:pt x="15" y="2129"/>
                  </a:lnTo>
                  <a:lnTo>
                    <a:pt x="0" y="2129"/>
                  </a:lnTo>
                  <a:lnTo>
                    <a:pt x="0" y="2116"/>
                  </a:lnTo>
                  <a:lnTo>
                    <a:pt x="15" y="2116"/>
                  </a:lnTo>
                  <a:close/>
                  <a:moveTo>
                    <a:pt x="15" y="2143"/>
                  </a:moveTo>
                  <a:lnTo>
                    <a:pt x="15" y="2157"/>
                  </a:lnTo>
                  <a:lnTo>
                    <a:pt x="0" y="2157"/>
                  </a:lnTo>
                  <a:lnTo>
                    <a:pt x="0" y="2143"/>
                  </a:lnTo>
                  <a:lnTo>
                    <a:pt x="15" y="2143"/>
                  </a:lnTo>
                  <a:close/>
                  <a:moveTo>
                    <a:pt x="15" y="2171"/>
                  </a:moveTo>
                  <a:lnTo>
                    <a:pt x="15" y="2185"/>
                  </a:lnTo>
                  <a:lnTo>
                    <a:pt x="0" y="2185"/>
                  </a:lnTo>
                  <a:lnTo>
                    <a:pt x="0" y="2171"/>
                  </a:lnTo>
                  <a:lnTo>
                    <a:pt x="15" y="2171"/>
                  </a:lnTo>
                  <a:close/>
                  <a:moveTo>
                    <a:pt x="15" y="2199"/>
                  </a:moveTo>
                  <a:lnTo>
                    <a:pt x="15" y="2213"/>
                  </a:lnTo>
                  <a:lnTo>
                    <a:pt x="0" y="2213"/>
                  </a:lnTo>
                  <a:lnTo>
                    <a:pt x="0" y="2199"/>
                  </a:lnTo>
                  <a:lnTo>
                    <a:pt x="15" y="2199"/>
                  </a:lnTo>
                  <a:close/>
                  <a:moveTo>
                    <a:pt x="15" y="2227"/>
                  </a:moveTo>
                  <a:lnTo>
                    <a:pt x="15" y="2241"/>
                  </a:lnTo>
                  <a:lnTo>
                    <a:pt x="0" y="2241"/>
                  </a:lnTo>
                  <a:lnTo>
                    <a:pt x="0" y="2227"/>
                  </a:lnTo>
                  <a:lnTo>
                    <a:pt x="15" y="2227"/>
                  </a:lnTo>
                  <a:close/>
                  <a:moveTo>
                    <a:pt x="15" y="2254"/>
                  </a:moveTo>
                  <a:lnTo>
                    <a:pt x="15" y="2268"/>
                  </a:lnTo>
                  <a:lnTo>
                    <a:pt x="0" y="2268"/>
                  </a:lnTo>
                  <a:lnTo>
                    <a:pt x="0" y="2254"/>
                  </a:lnTo>
                  <a:lnTo>
                    <a:pt x="15" y="2254"/>
                  </a:lnTo>
                  <a:close/>
                  <a:moveTo>
                    <a:pt x="15" y="2283"/>
                  </a:moveTo>
                  <a:lnTo>
                    <a:pt x="15" y="2296"/>
                  </a:lnTo>
                  <a:lnTo>
                    <a:pt x="0" y="2296"/>
                  </a:lnTo>
                  <a:lnTo>
                    <a:pt x="0" y="2283"/>
                  </a:lnTo>
                  <a:lnTo>
                    <a:pt x="15" y="2283"/>
                  </a:lnTo>
                  <a:close/>
                  <a:moveTo>
                    <a:pt x="15" y="2310"/>
                  </a:moveTo>
                  <a:lnTo>
                    <a:pt x="15" y="2324"/>
                  </a:lnTo>
                  <a:lnTo>
                    <a:pt x="0" y="2324"/>
                  </a:lnTo>
                  <a:lnTo>
                    <a:pt x="0" y="2310"/>
                  </a:lnTo>
                  <a:lnTo>
                    <a:pt x="15" y="2310"/>
                  </a:lnTo>
                  <a:close/>
                  <a:moveTo>
                    <a:pt x="15" y="2338"/>
                  </a:moveTo>
                  <a:lnTo>
                    <a:pt x="15" y="2352"/>
                  </a:lnTo>
                  <a:lnTo>
                    <a:pt x="0" y="2352"/>
                  </a:lnTo>
                  <a:lnTo>
                    <a:pt x="0" y="2338"/>
                  </a:lnTo>
                  <a:lnTo>
                    <a:pt x="15" y="2338"/>
                  </a:lnTo>
                  <a:close/>
                  <a:moveTo>
                    <a:pt x="15" y="2366"/>
                  </a:moveTo>
                  <a:lnTo>
                    <a:pt x="15" y="2380"/>
                  </a:lnTo>
                  <a:lnTo>
                    <a:pt x="0" y="2380"/>
                  </a:lnTo>
                  <a:lnTo>
                    <a:pt x="0" y="2366"/>
                  </a:lnTo>
                  <a:lnTo>
                    <a:pt x="15" y="2366"/>
                  </a:lnTo>
                  <a:close/>
                  <a:moveTo>
                    <a:pt x="15" y="2394"/>
                  </a:moveTo>
                  <a:lnTo>
                    <a:pt x="15" y="2408"/>
                  </a:lnTo>
                  <a:lnTo>
                    <a:pt x="0" y="2408"/>
                  </a:lnTo>
                  <a:lnTo>
                    <a:pt x="0" y="2394"/>
                  </a:lnTo>
                  <a:lnTo>
                    <a:pt x="15" y="2394"/>
                  </a:lnTo>
                  <a:close/>
                  <a:moveTo>
                    <a:pt x="15" y="2421"/>
                  </a:moveTo>
                  <a:lnTo>
                    <a:pt x="15" y="2435"/>
                  </a:lnTo>
                  <a:lnTo>
                    <a:pt x="0" y="2435"/>
                  </a:lnTo>
                  <a:lnTo>
                    <a:pt x="0" y="2421"/>
                  </a:lnTo>
                  <a:lnTo>
                    <a:pt x="15" y="2421"/>
                  </a:lnTo>
                  <a:close/>
                  <a:moveTo>
                    <a:pt x="15" y="2449"/>
                  </a:moveTo>
                  <a:lnTo>
                    <a:pt x="15" y="2453"/>
                  </a:lnTo>
                  <a:lnTo>
                    <a:pt x="0" y="2453"/>
                  </a:lnTo>
                  <a:lnTo>
                    <a:pt x="0" y="2449"/>
                  </a:lnTo>
                  <a:lnTo>
                    <a:pt x="15" y="2449"/>
                  </a:lnTo>
                  <a:close/>
                </a:path>
              </a:pathLst>
            </a:custGeom>
            <a:solidFill>
              <a:srgbClr val="000000"/>
            </a:solidFill>
            <a:ln w="0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492" name="Freeform 34">
              <a:extLst>
                <a:ext uri="{FF2B5EF4-FFF2-40B4-BE49-F238E27FC236}">
                  <a16:creationId xmlns:a16="http://schemas.microsoft.com/office/drawing/2014/main" id="{D2EB979E-6F54-167D-C7E0-DB9F4872DC7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797908" y="3078501"/>
              <a:ext cx="18000" cy="3726773"/>
            </a:xfrm>
            <a:custGeom>
              <a:avLst/>
              <a:gdLst>
                <a:gd name="T0" fmla="*/ 14 w 14"/>
                <a:gd name="T1" fmla="*/ 42 h 2453"/>
                <a:gd name="T2" fmla="*/ 0 w 14"/>
                <a:gd name="T3" fmla="*/ 56 h 2453"/>
                <a:gd name="T4" fmla="*/ 14 w 14"/>
                <a:gd name="T5" fmla="*/ 112 h 2453"/>
                <a:gd name="T6" fmla="*/ 0 w 14"/>
                <a:gd name="T7" fmla="*/ 154 h 2453"/>
                <a:gd name="T8" fmla="*/ 14 w 14"/>
                <a:gd name="T9" fmla="*/ 167 h 2453"/>
                <a:gd name="T10" fmla="*/ 14 w 14"/>
                <a:gd name="T11" fmla="*/ 237 h 2453"/>
                <a:gd name="T12" fmla="*/ 0 w 14"/>
                <a:gd name="T13" fmla="*/ 251 h 2453"/>
                <a:gd name="T14" fmla="*/ 14 w 14"/>
                <a:gd name="T15" fmla="*/ 307 h 2453"/>
                <a:gd name="T16" fmla="*/ 0 w 14"/>
                <a:gd name="T17" fmla="*/ 348 h 2453"/>
                <a:gd name="T18" fmla="*/ 14 w 14"/>
                <a:gd name="T19" fmla="*/ 362 h 2453"/>
                <a:gd name="T20" fmla="*/ 14 w 14"/>
                <a:gd name="T21" fmla="*/ 432 h 2453"/>
                <a:gd name="T22" fmla="*/ 0 w 14"/>
                <a:gd name="T23" fmla="*/ 446 h 2453"/>
                <a:gd name="T24" fmla="*/ 14 w 14"/>
                <a:gd name="T25" fmla="*/ 501 h 2453"/>
                <a:gd name="T26" fmla="*/ 0 w 14"/>
                <a:gd name="T27" fmla="*/ 543 h 2453"/>
                <a:gd name="T28" fmla="*/ 14 w 14"/>
                <a:gd name="T29" fmla="*/ 557 h 2453"/>
                <a:gd name="T30" fmla="*/ 14 w 14"/>
                <a:gd name="T31" fmla="*/ 627 h 2453"/>
                <a:gd name="T32" fmla="*/ 0 w 14"/>
                <a:gd name="T33" fmla="*/ 641 h 2453"/>
                <a:gd name="T34" fmla="*/ 14 w 14"/>
                <a:gd name="T35" fmla="*/ 696 h 2453"/>
                <a:gd name="T36" fmla="*/ 0 w 14"/>
                <a:gd name="T37" fmla="*/ 738 h 2453"/>
                <a:gd name="T38" fmla="*/ 14 w 14"/>
                <a:gd name="T39" fmla="*/ 752 h 2453"/>
                <a:gd name="T40" fmla="*/ 14 w 14"/>
                <a:gd name="T41" fmla="*/ 822 h 2453"/>
                <a:gd name="T42" fmla="*/ 0 w 14"/>
                <a:gd name="T43" fmla="*/ 835 h 2453"/>
                <a:gd name="T44" fmla="*/ 14 w 14"/>
                <a:gd name="T45" fmla="*/ 891 h 2453"/>
                <a:gd name="T46" fmla="*/ 0 w 14"/>
                <a:gd name="T47" fmla="*/ 933 h 2453"/>
                <a:gd name="T48" fmla="*/ 14 w 14"/>
                <a:gd name="T49" fmla="*/ 947 h 2453"/>
                <a:gd name="T50" fmla="*/ 14 w 14"/>
                <a:gd name="T51" fmla="*/ 1016 h 2453"/>
                <a:gd name="T52" fmla="*/ 0 w 14"/>
                <a:gd name="T53" fmla="*/ 1030 h 2453"/>
                <a:gd name="T54" fmla="*/ 14 w 14"/>
                <a:gd name="T55" fmla="*/ 1086 h 2453"/>
                <a:gd name="T56" fmla="*/ 0 w 14"/>
                <a:gd name="T57" fmla="*/ 1127 h 2453"/>
                <a:gd name="T58" fmla="*/ 14 w 14"/>
                <a:gd name="T59" fmla="*/ 1141 h 2453"/>
                <a:gd name="T60" fmla="*/ 14 w 14"/>
                <a:gd name="T61" fmla="*/ 1211 h 2453"/>
                <a:gd name="T62" fmla="*/ 0 w 14"/>
                <a:gd name="T63" fmla="*/ 1225 h 2453"/>
                <a:gd name="T64" fmla="*/ 14 w 14"/>
                <a:gd name="T65" fmla="*/ 1281 h 2453"/>
                <a:gd name="T66" fmla="*/ 0 w 14"/>
                <a:gd name="T67" fmla="*/ 1322 h 2453"/>
                <a:gd name="T68" fmla="*/ 14 w 14"/>
                <a:gd name="T69" fmla="*/ 1336 h 2453"/>
                <a:gd name="T70" fmla="*/ 14 w 14"/>
                <a:gd name="T71" fmla="*/ 1406 h 2453"/>
                <a:gd name="T72" fmla="*/ 0 w 14"/>
                <a:gd name="T73" fmla="*/ 1420 h 2453"/>
                <a:gd name="T74" fmla="*/ 14 w 14"/>
                <a:gd name="T75" fmla="*/ 1475 h 2453"/>
                <a:gd name="T76" fmla="*/ 0 w 14"/>
                <a:gd name="T77" fmla="*/ 1517 h 2453"/>
                <a:gd name="T78" fmla="*/ 14 w 14"/>
                <a:gd name="T79" fmla="*/ 1531 h 2453"/>
                <a:gd name="T80" fmla="*/ 14 w 14"/>
                <a:gd name="T81" fmla="*/ 1601 h 2453"/>
                <a:gd name="T82" fmla="*/ 0 w 14"/>
                <a:gd name="T83" fmla="*/ 1615 h 2453"/>
                <a:gd name="T84" fmla="*/ 14 w 14"/>
                <a:gd name="T85" fmla="*/ 1670 h 2453"/>
                <a:gd name="T86" fmla="*/ 0 w 14"/>
                <a:gd name="T87" fmla="*/ 1712 h 2453"/>
                <a:gd name="T88" fmla="*/ 14 w 14"/>
                <a:gd name="T89" fmla="*/ 1726 h 2453"/>
                <a:gd name="T90" fmla="*/ 14 w 14"/>
                <a:gd name="T91" fmla="*/ 1795 h 2453"/>
                <a:gd name="T92" fmla="*/ 0 w 14"/>
                <a:gd name="T93" fmla="*/ 1809 h 2453"/>
                <a:gd name="T94" fmla="*/ 14 w 14"/>
                <a:gd name="T95" fmla="*/ 1865 h 2453"/>
                <a:gd name="T96" fmla="*/ 0 w 14"/>
                <a:gd name="T97" fmla="*/ 1907 h 2453"/>
                <a:gd name="T98" fmla="*/ 14 w 14"/>
                <a:gd name="T99" fmla="*/ 1921 h 2453"/>
                <a:gd name="T100" fmla="*/ 14 w 14"/>
                <a:gd name="T101" fmla="*/ 1990 h 2453"/>
                <a:gd name="T102" fmla="*/ 0 w 14"/>
                <a:gd name="T103" fmla="*/ 2004 h 2453"/>
                <a:gd name="T104" fmla="*/ 14 w 14"/>
                <a:gd name="T105" fmla="*/ 2060 h 2453"/>
                <a:gd name="T106" fmla="*/ 0 w 14"/>
                <a:gd name="T107" fmla="*/ 2102 h 2453"/>
                <a:gd name="T108" fmla="*/ 14 w 14"/>
                <a:gd name="T109" fmla="*/ 2116 h 2453"/>
                <a:gd name="T110" fmla="*/ 14 w 14"/>
                <a:gd name="T111" fmla="*/ 2185 h 2453"/>
                <a:gd name="T112" fmla="*/ 0 w 14"/>
                <a:gd name="T113" fmla="*/ 2199 h 2453"/>
                <a:gd name="T114" fmla="*/ 14 w 14"/>
                <a:gd name="T115" fmla="*/ 2254 h 2453"/>
                <a:gd name="T116" fmla="*/ 0 w 14"/>
                <a:gd name="T117" fmla="*/ 2296 h 2453"/>
                <a:gd name="T118" fmla="*/ 14 w 14"/>
                <a:gd name="T119" fmla="*/ 2310 h 2453"/>
                <a:gd name="T120" fmla="*/ 14 w 14"/>
                <a:gd name="T121" fmla="*/ 2380 h 2453"/>
                <a:gd name="T122" fmla="*/ 0 w 14"/>
                <a:gd name="T123" fmla="*/ 2394 h 2453"/>
                <a:gd name="T124" fmla="*/ 14 w 14"/>
                <a:gd name="T125" fmla="*/ 2449 h 24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4" h="2453">
                  <a:moveTo>
                    <a:pt x="14" y="0"/>
                  </a:moveTo>
                  <a:lnTo>
                    <a:pt x="14" y="14"/>
                  </a:lnTo>
                  <a:lnTo>
                    <a:pt x="0" y="14"/>
                  </a:lnTo>
                  <a:lnTo>
                    <a:pt x="0" y="0"/>
                  </a:lnTo>
                  <a:lnTo>
                    <a:pt x="14" y="0"/>
                  </a:lnTo>
                  <a:close/>
                  <a:moveTo>
                    <a:pt x="14" y="28"/>
                  </a:moveTo>
                  <a:lnTo>
                    <a:pt x="14" y="42"/>
                  </a:lnTo>
                  <a:lnTo>
                    <a:pt x="0" y="42"/>
                  </a:lnTo>
                  <a:lnTo>
                    <a:pt x="0" y="28"/>
                  </a:lnTo>
                  <a:lnTo>
                    <a:pt x="14" y="28"/>
                  </a:lnTo>
                  <a:close/>
                  <a:moveTo>
                    <a:pt x="14" y="56"/>
                  </a:moveTo>
                  <a:lnTo>
                    <a:pt x="14" y="70"/>
                  </a:lnTo>
                  <a:lnTo>
                    <a:pt x="0" y="70"/>
                  </a:lnTo>
                  <a:lnTo>
                    <a:pt x="0" y="56"/>
                  </a:lnTo>
                  <a:lnTo>
                    <a:pt x="14" y="56"/>
                  </a:lnTo>
                  <a:close/>
                  <a:moveTo>
                    <a:pt x="14" y="84"/>
                  </a:moveTo>
                  <a:lnTo>
                    <a:pt x="14" y="98"/>
                  </a:lnTo>
                  <a:lnTo>
                    <a:pt x="0" y="98"/>
                  </a:lnTo>
                  <a:lnTo>
                    <a:pt x="0" y="84"/>
                  </a:lnTo>
                  <a:lnTo>
                    <a:pt x="14" y="84"/>
                  </a:lnTo>
                  <a:close/>
                  <a:moveTo>
                    <a:pt x="14" y="112"/>
                  </a:moveTo>
                  <a:lnTo>
                    <a:pt x="14" y="126"/>
                  </a:lnTo>
                  <a:lnTo>
                    <a:pt x="0" y="126"/>
                  </a:lnTo>
                  <a:lnTo>
                    <a:pt x="0" y="112"/>
                  </a:lnTo>
                  <a:lnTo>
                    <a:pt x="14" y="112"/>
                  </a:lnTo>
                  <a:close/>
                  <a:moveTo>
                    <a:pt x="14" y="140"/>
                  </a:moveTo>
                  <a:lnTo>
                    <a:pt x="14" y="154"/>
                  </a:lnTo>
                  <a:lnTo>
                    <a:pt x="0" y="154"/>
                  </a:lnTo>
                  <a:lnTo>
                    <a:pt x="0" y="140"/>
                  </a:lnTo>
                  <a:lnTo>
                    <a:pt x="14" y="140"/>
                  </a:lnTo>
                  <a:close/>
                  <a:moveTo>
                    <a:pt x="14" y="167"/>
                  </a:moveTo>
                  <a:lnTo>
                    <a:pt x="14" y="181"/>
                  </a:lnTo>
                  <a:lnTo>
                    <a:pt x="0" y="181"/>
                  </a:lnTo>
                  <a:lnTo>
                    <a:pt x="0" y="167"/>
                  </a:lnTo>
                  <a:lnTo>
                    <a:pt x="14" y="167"/>
                  </a:lnTo>
                  <a:close/>
                  <a:moveTo>
                    <a:pt x="14" y="195"/>
                  </a:moveTo>
                  <a:lnTo>
                    <a:pt x="14" y="209"/>
                  </a:lnTo>
                  <a:lnTo>
                    <a:pt x="0" y="209"/>
                  </a:lnTo>
                  <a:lnTo>
                    <a:pt x="0" y="195"/>
                  </a:lnTo>
                  <a:lnTo>
                    <a:pt x="14" y="195"/>
                  </a:lnTo>
                  <a:close/>
                  <a:moveTo>
                    <a:pt x="14" y="223"/>
                  </a:moveTo>
                  <a:lnTo>
                    <a:pt x="14" y="237"/>
                  </a:lnTo>
                  <a:lnTo>
                    <a:pt x="0" y="237"/>
                  </a:lnTo>
                  <a:lnTo>
                    <a:pt x="0" y="223"/>
                  </a:lnTo>
                  <a:lnTo>
                    <a:pt x="14" y="223"/>
                  </a:lnTo>
                  <a:close/>
                  <a:moveTo>
                    <a:pt x="14" y="251"/>
                  </a:moveTo>
                  <a:lnTo>
                    <a:pt x="14" y="265"/>
                  </a:lnTo>
                  <a:lnTo>
                    <a:pt x="0" y="265"/>
                  </a:lnTo>
                  <a:lnTo>
                    <a:pt x="0" y="251"/>
                  </a:lnTo>
                  <a:lnTo>
                    <a:pt x="14" y="251"/>
                  </a:lnTo>
                  <a:close/>
                  <a:moveTo>
                    <a:pt x="14" y="279"/>
                  </a:moveTo>
                  <a:lnTo>
                    <a:pt x="14" y="293"/>
                  </a:lnTo>
                  <a:lnTo>
                    <a:pt x="0" y="293"/>
                  </a:lnTo>
                  <a:lnTo>
                    <a:pt x="0" y="279"/>
                  </a:lnTo>
                  <a:lnTo>
                    <a:pt x="14" y="279"/>
                  </a:lnTo>
                  <a:close/>
                  <a:moveTo>
                    <a:pt x="14" y="307"/>
                  </a:moveTo>
                  <a:lnTo>
                    <a:pt x="14" y="321"/>
                  </a:lnTo>
                  <a:lnTo>
                    <a:pt x="0" y="321"/>
                  </a:lnTo>
                  <a:lnTo>
                    <a:pt x="0" y="307"/>
                  </a:lnTo>
                  <a:lnTo>
                    <a:pt x="14" y="307"/>
                  </a:lnTo>
                  <a:close/>
                  <a:moveTo>
                    <a:pt x="14" y="334"/>
                  </a:moveTo>
                  <a:lnTo>
                    <a:pt x="14" y="348"/>
                  </a:lnTo>
                  <a:lnTo>
                    <a:pt x="0" y="348"/>
                  </a:lnTo>
                  <a:lnTo>
                    <a:pt x="0" y="334"/>
                  </a:lnTo>
                  <a:lnTo>
                    <a:pt x="14" y="334"/>
                  </a:lnTo>
                  <a:close/>
                  <a:moveTo>
                    <a:pt x="14" y="362"/>
                  </a:moveTo>
                  <a:lnTo>
                    <a:pt x="14" y="376"/>
                  </a:lnTo>
                  <a:lnTo>
                    <a:pt x="0" y="376"/>
                  </a:lnTo>
                  <a:lnTo>
                    <a:pt x="0" y="362"/>
                  </a:lnTo>
                  <a:lnTo>
                    <a:pt x="14" y="362"/>
                  </a:lnTo>
                  <a:close/>
                  <a:moveTo>
                    <a:pt x="14" y="390"/>
                  </a:moveTo>
                  <a:lnTo>
                    <a:pt x="14" y="404"/>
                  </a:lnTo>
                  <a:lnTo>
                    <a:pt x="0" y="404"/>
                  </a:lnTo>
                  <a:lnTo>
                    <a:pt x="0" y="390"/>
                  </a:lnTo>
                  <a:lnTo>
                    <a:pt x="14" y="390"/>
                  </a:lnTo>
                  <a:close/>
                  <a:moveTo>
                    <a:pt x="14" y="418"/>
                  </a:moveTo>
                  <a:lnTo>
                    <a:pt x="14" y="432"/>
                  </a:lnTo>
                  <a:lnTo>
                    <a:pt x="0" y="432"/>
                  </a:lnTo>
                  <a:lnTo>
                    <a:pt x="0" y="418"/>
                  </a:lnTo>
                  <a:lnTo>
                    <a:pt x="14" y="418"/>
                  </a:lnTo>
                  <a:close/>
                  <a:moveTo>
                    <a:pt x="14" y="446"/>
                  </a:moveTo>
                  <a:lnTo>
                    <a:pt x="14" y="460"/>
                  </a:lnTo>
                  <a:lnTo>
                    <a:pt x="0" y="460"/>
                  </a:lnTo>
                  <a:lnTo>
                    <a:pt x="0" y="446"/>
                  </a:lnTo>
                  <a:lnTo>
                    <a:pt x="14" y="446"/>
                  </a:lnTo>
                  <a:close/>
                  <a:moveTo>
                    <a:pt x="14" y="474"/>
                  </a:moveTo>
                  <a:lnTo>
                    <a:pt x="14" y="488"/>
                  </a:lnTo>
                  <a:lnTo>
                    <a:pt x="0" y="488"/>
                  </a:lnTo>
                  <a:lnTo>
                    <a:pt x="0" y="474"/>
                  </a:lnTo>
                  <a:lnTo>
                    <a:pt x="14" y="474"/>
                  </a:lnTo>
                  <a:close/>
                  <a:moveTo>
                    <a:pt x="14" y="501"/>
                  </a:moveTo>
                  <a:lnTo>
                    <a:pt x="14" y="515"/>
                  </a:lnTo>
                  <a:lnTo>
                    <a:pt x="0" y="515"/>
                  </a:lnTo>
                  <a:lnTo>
                    <a:pt x="0" y="501"/>
                  </a:lnTo>
                  <a:lnTo>
                    <a:pt x="14" y="501"/>
                  </a:lnTo>
                  <a:close/>
                  <a:moveTo>
                    <a:pt x="14" y="529"/>
                  </a:moveTo>
                  <a:lnTo>
                    <a:pt x="14" y="543"/>
                  </a:lnTo>
                  <a:lnTo>
                    <a:pt x="0" y="543"/>
                  </a:lnTo>
                  <a:lnTo>
                    <a:pt x="0" y="529"/>
                  </a:lnTo>
                  <a:lnTo>
                    <a:pt x="14" y="529"/>
                  </a:lnTo>
                  <a:close/>
                  <a:moveTo>
                    <a:pt x="14" y="557"/>
                  </a:moveTo>
                  <a:lnTo>
                    <a:pt x="14" y="571"/>
                  </a:lnTo>
                  <a:lnTo>
                    <a:pt x="0" y="571"/>
                  </a:lnTo>
                  <a:lnTo>
                    <a:pt x="0" y="557"/>
                  </a:lnTo>
                  <a:lnTo>
                    <a:pt x="14" y="557"/>
                  </a:lnTo>
                  <a:close/>
                  <a:moveTo>
                    <a:pt x="14" y="585"/>
                  </a:moveTo>
                  <a:lnTo>
                    <a:pt x="14" y="599"/>
                  </a:lnTo>
                  <a:lnTo>
                    <a:pt x="0" y="599"/>
                  </a:lnTo>
                  <a:lnTo>
                    <a:pt x="0" y="585"/>
                  </a:lnTo>
                  <a:lnTo>
                    <a:pt x="14" y="585"/>
                  </a:lnTo>
                  <a:close/>
                  <a:moveTo>
                    <a:pt x="14" y="613"/>
                  </a:moveTo>
                  <a:lnTo>
                    <a:pt x="14" y="627"/>
                  </a:lnTo>
                  <a:lnTo>
                    <a:pt x="0" y="627"/>
                  </a:lnTo>
                  <a:lnTo>
                    <a:pt x="0" y="613"/>
                  </a:lnTo>
                  <a:lnTo>
                    <a:pt x="14" y="613"/>
                  </a:lnTo>
                  <a:close/>
                  <a:moveTo>
                    <a:pt x="14" y="641"/>
                  </a:moveTo>
                  <a:lnTo>
                    <a:pt x="14" y="655"/>
                  </a:lnTo>
                  <a:lnTo>
                    <a:pt x="0" y="655"/>
                  </a:lnTo>
                  <a:lnTo>
                    <a:pt x="0" y="641"/>
                  </a:lnTo>
                  <a:lnTo>
                    <a:pt x="14" y="641"/>
                  </a:lnTo>
                  <a:close/>
                  <a:moveTo>
                    <a:pt x="14" y="668"/>
                  </a:moveTo>
                  <a:lnTo>
                    <a:pt x="14" y="682"/>
                  </a:lnTo>
                  <a:lnTo>
                    <a:pt x="0" y="682"/>
                  </a:lnTo>
                  <a:lnTo>
                    <a:pt x="0" y="668"/>
                  </a:lnTo>
                  <a:lnTo>
                    <a:pt x="14" y="668"/>
                  </a:lnTo>
                  <a:close/>
                  <a:moveTo>
                    <a:pt x="14" y="696"/>
                  </a:moveTo>
                  <a:lnTo>
                    <a:pt x="14" y="710"/>
                  </a:lnTo>
                  <a:lnTo>
                    <a:pt x="0" y="710"/>
                  </a:lnTo>
                  <a:lnTo>
                    <a:pt x="0" y="696"/>
                  </a:lnTo>
                  <a:lnTo>
                    <a:pt x="14" y="696"/>
                  </a:lnTo>
                  <a:close/>
                  <a:moveTo>
                    <a:pt x="14" y="724"/>
                  </a:moveTo>
                  <a:lnTo>
                    <a:pt x="14" y="738"/>
                  </a:lnTo>
                  <a:lnTo>
                    <a:pt x="0" y="738"/>
                  </a:lnTo>
                  <a:lnTo>
                    <a:pt x="0" y="724"/>
                  </a:lnTo>
                  <a:lnTo>
                    <a:pt x="14" y="724"/>
                  </a:lnTo>
                  <a:close/>
                  <a:moveTo>
                    <a:pt x="14" y="752"/>
                  </a:moveTo>
                  <a:lnTo>
                    <a:pt x="14" y="766"/>
                  </a:lnTo>
                  <a:lnTo>
                    <a:pt x="0" y="766"/>
                  </a:lnTo>
                  <a:lnTo>
                    <a:pt x="0" y="752"/>
                  </a:lnTo>
                  <a:lnTo>
                    <a:pt x="14" y="752"/>
                  </a:lnTo>
                  <a:close/>
                  <a:moveTo>
                    <a:pt x="14" y="780"/>
                  </a:moveTo>
                  <a:lnTo>
                    <a:pt x="14" y="793"/>
                  </a:lnTo>
                  <a:lnTo>
                    <a:pt x="0" y="793"/>
                  </a:lnTo>
                  <a:lnTo>
                    <a:pt x="0" y="780"/>
                  </a:lnTo>
                  <a:lnTo>
                    <a:pt x="14" y="780"/>
                  </a:lnTo>
                  <a:close/>
                  <a:moveTo>
                    <a:pt x="14" y="808"/>
                  </a:moveTo>
                  <a:lnTo>
                    <a:pt x="14" y="822"/>
                  </a:lnTo>
                  <a:lnTo>
                    <a:pt x="0" y="822"/>
                  </a:lnTo>
                  <a:lnTo>
                    <a:pt x="0" y="808"/>
                  </a:lnTo>
                  <a:lnTo>
                    <a:pt x="14" y="808"/>
                  </a:lnTo>
                  <a:close/>
                  <a:moveTo>
                    <a:pt x="14" y="835"/>
                  </a:moveTo>
                  <a:lnTo>
                    <a:pt x="14" y="849"/>
                  </a:lnTo>
                  <a:lnTo>
                    <a:pt x="0" y="849"/>
                  </a:lnTo>
                  <a:lnTo>
                    <a:pt x="0" y="835"/>
                  </a:lnTo>
                  <a:lnTo>
                    <a:pt x="14" y="835"/>
                  </a:lnTo>
                  <a:close/>
                  <a:moveTo>
                    <a:pt x="14" y="863"/>
                  </a:moveTo>
                  <a:lnTo>
                    <a:pt x="14" y="877"/>
                  </a:lnTo>
                  <a:lnTo>
                    <a:pt x="0" y="877"/>
                  </a:lnTo>
                  <a:lnTo>
                    <a:pt x="0" y="863"/>
                  </a:lnTo>
                  <a:lnTo>
                    <a:pt x="14" y="863"/>
                  </a:lnTo>
                  <a:close/>
                  <a:moveTo>
                    <a:pt x="14" y="891"/>
                  </a:moveTo>
                  <a:lnTo>
                    <a:pt x="14" y="905"/>
                  </a:lnTo>
                  <a:lnTo>
                    <a:pt x="0" y="905"/>
                  </a:lnTo>
                  <a:lnTo>
                    <a:pt x="0" y="891"/>
                  </a:lnTo>
                  <a:lnTo>
                    <a:pt x="14" y="891"/>
                  </a:lnTo>
                  <a:close/>
                  <a:moveTo>
                    <a:pt x="14" y="919"/>
                  </a:moveTo>
                  <a:lnTo>
                    <a:pt x="14" y="933"/>
                  </a:lnTo>
                  <a:lnTo>
                    <a:pt x="0" y="933"/>
                  </a:lnTo>
                  <a:lnTo>
                    <a:pt x="0" y="919"/>
                  </a:lnTo>
                  <a:lnTo>
                    <a:pt x="14" y="919"/>
                  </a:lnTo>
                  <a:close/>
                  <a:moveTo>
                    <a:pt x="14" y="947"/>
                  </a:moveTo>
                  <a:lnTo>
                    <a:pt x="14" y="960"/>
                  </a:lnTo>
                  <a:lnTo>
                    <a:pt x="0" y="960"/>
                  </a:lnTo>
                  <a:lnTo>
                    <a:pt x="0" y="947"/>
                  </a:lnTo>
                  <a:lnTo>
                    <a:pt x="14" y="947"/>
                  </a:lnTo>
                  <a:close/>
                  <a:moveTo>
                    <a:pt x="14" y="974"/>
                  </a:moveTo>
                  <a:lnTo>
                    <a:pt x="14" y="988"/>
                  </a:lnTo>
                  <a:lnTo>
                    <a:pt x="0" y="988"/>
                  </a:lnTo>
                  <a:lnTo>
                    <a:pt x="0" y="974"/>
                  </a:lnTo>
                  <a:lnTo>
                    <a:pt x="14" y="974"/>
                  </a:lnTo>
                  <a:close/>
                  <a:moveTo>
                    <a:pt x="14" y="1002"/>
                  </a:moveTo>
                  <a:lnTo>
                    <a:pt x="14" y="1016"/>
                  </a:lnTo>
                  <a:lnTo>
                    <a:pt x="0" y="1016"/>
                  </a:lnTo>
                  <a:lnTo>
                    <a:pt x="0" y="1002"/>
                  </a:lnTo>
                  <a:lnTo>
                    <a:pt x="14" y="1002"/>
                  </a:lnTo>
                  <a:close/>
                  <a:moveTo>
                    <a:pt x="14" y="1030"/>
                  </a:moveTo>
                  <a:lnTo>
                    <a:pt x="14" y="1044"/>
                  </a:lnTo>
                  <a:lnTo>
                    <a:pt x="0" y="1044"/>
                  </a:lnTo>
                  <a:lnTo>
                    <a:pt x="0" y="1030"/>
                  </a:lnTo>
                  <a:lnTo>
                    <a:pt x="14" y="1030"/>
                  </a:lnTo>
                  <a:close/>
                  <a:moveTo>
                    <a:pt x="14" y="1058"/>
                  </a:moveTo>
                  <a:lnTo>
                    <a:pt x="14" y="1072"/>
                  </a:lnTo>
                  <a:lnTo>
                    <a:pt x="0" y="1072"/>
                  </a:lnTo>
                  <a:lnTo>
                    <a:pt x="0" y="1058"/>
                  </a:lnTo>
                  <a:lnTo>
                    <a:pt x="14" y="1058"/>
                  </a:lnTo>
                  <a:close/>
                  <a:moveTo>
                    <a:pt x="14" y="1086"/>
                  </a:moveTo>
                  <a:lnTo>
                    <a:pt x="14" y="1100"/>
                  </a:lnTo>
                  <a:lnTo>
                    <a:pt x="0" y="1100"/>
                  </a:lnTo>
                  <a:lnTo>
                    <a:pt x="0" y="1086"/>
                  </a:lnTo>
                  <a:lnTo>
                    <a:pt x="14" y="1086"/>
                  </a:lnTo>
                  <a:close/>
                  <a:moveTo>
                    <a:pt x="14" y="1114"/>
                  </a:moveTo>
                  <a:lnTo>
                    <a:pt x="14" y="1127"/>
                  </a:lnTo>
                  <a:lnTo>
                    <a:pt x="0" y="1127"/>
                  </a:lnTo>
                  <a:lnTo>
                    <a:pt x="0" y="1114"/>
                  </a:lnTo>
                  <a:lnTo>
                    <a:pt x="14" y="1114"/>
                  </a:lnTo>
                  <a:close/>
                  <a:moveTo>
                    <a:pt x="14" y="1141"/>
                  </a:moveTo>
                  <a:lnTo>
                    <a:pt x="14" y="1155"/>
                  </a:lnTo>
                  <a:lnTo>
                    <a:pt x="0" y="1155"/>
                  </a:lnTo>
                  <a:lnTo>
                    <a:pt x="0" y="1141"/>
                  </a:lnTo>
                  <a:lnTo>
                    <a:pt x="14" y="1141"/>
                  </a:lnTo>
                  <a:close/>
                  <a:moveTo>
                    <a:pt x="14" y="1169"/>
                  </a:moveTo>
                  <a:lnTo>
                    <a:pt x="14" y="1183"/>
                  </a:lnTo>
                  <a:lnTo>
                    <a:pt x="0" y="1183"/>
                  </a:lnTo>
                  <a:lnTo>
                    <a:pt x="0" y="1169"/>
                  </a:lnTo>
                  <a:lnTo>
                    <a:pt x="14" y="1169"/>
                  </a:lnTo>
                  <a:close/>
                  <a:moveTo>
                    <a:pt x="14" y="1197"/>
                  </a:moveTo>
                  <a:lnTo>
                    <a:pt x="14" y="1211"/>
                  </a:lnTo>
                  <a:lnTo>
                    <a:pt x="0" y="1211"/>
                  </a:lnTo>
                  <a:lnTo>
                    <a:pt x="0" y="1197"/>
                  </a:lnTo>
                  <a:lnTo>
                    <a:pt x="14" y="1197"/>
                  </a:lnTo>
                  <a:close/>
                  <a:moveTo>
                    <a:pt x="14" y="1225"/>
                  </a:moveTo>
                  <a:lnTo>
                    <a:pt x="14" y="1239"/>
                  </a:lnTo>
                  <a:lnTo>
                    <a:pt x="0" y="1239"/>
                  </a:lnTo>
                  <a:lnTo>
                    <a:pt x="0" y="1225"/>
                  </a:lnTo>
                  <a:lnTo>
                    <a:pt x="14" y="1225"/>
                  </a:lnTo>
                  <a:close/>
                  <a:moveTo>
                    <a:pt x="14" y="1253"/>
                  </a:moveTo>
                  <a:lnTo>
                    <a:pt x="14" y="1267"/>
                  </a:lnTo>
                  <a:lnTo>
                    <a:pt x="0" y="1267"/>
                  </a:lnTo>
                  <a:lnTo>
                    <a:pt x="0" y="1253"/>
                  </a:lnTo>
                  <a:lnTo>
                    <a:pt x="14" y="1253"/>
                  </a:lnTo>
                  <a:close/>
                  <a:moveTo>
                    <a:pt x="14" y="1281"/>
                  </a:moveTo>
                  <a:lnTo>
                    <a:pt x="14" y="1294"/>
                  </a:lnTo>
                  <a:lnTo>
                    <a:pt x="0" y="1294"/>
                  </a:lnTo>
                  <a:lnTo>
                    <a:pt x="0" y="1281"/>
                  </a:lnTo>
                  <a:lnTo>
                    <a:pt x="14" y="1281"/>
                  </a:lnTo>
                  <a:close/>
                  <a:moveTo>
                    <a:pt x="14" y="1308"/>
                  </a:moveTo>
                  <a:lnTo>
                    <a:pt x="14" y="1322"/>
                  </a:lnTo>
                  <a:lnTo>
                    <a:pt x="0" y="1322"/>
                  </a:lnTo>
                  <a:lnTo>
                    <a:pt x="0" y="1308"/>
                  </a:lnTo>
                  <a:lnTo>
                    <a:pt x="14" y="1308"/>
                  </a:lnTo>
                  <a:close/>
                  <a:moveTo>
                    <a:pt x="14" y="1336"/>
                  </a:moveTo>
                  <a:lnTo>
                    <a:pt x="14" y="1350"/>
                  </a:lnTo>
                  <a:lnTo>
                    <a:pt x="0" y="1350"/>
                  </a:lnTo>
                  <a:lnTo>
                    <a:pt x="0" y="1336"/>
                  </a:lnTo>
                  <a:lnTo>
                    <a:pt x="14" y="1336"/>
                  </a:lnTo>
                  <a:close/>
                  <a:moveTo>
                    <a:pt x="14" y="1364"/>
                  </a:moveTo>
                  <a:lnTo>
                    <a:pt x="14" y="1378"/>
                  </a:lnTo>
                  <a:lnTo>
                    <a:pt x="0" y="1378"/>
                  </a:lnTo>
                  <a:lnTo>
                    <a:pt x="0" y="1364"/>
                  </a:lnTo>
                  <a:lnTo>
                    <a:pt x="14" y="1364"/>
                  </a:lnTo>
                  <a:close/>
                  <a:moveTo>
                    <a:pt x="14" y="1392"/>
                  </a:moveTo>
                  <a:lnTo>
                    <a:pt x="14" y="1406"/>
                  </a:lnTo>
                  <a:lnTo>
                    <a:pt x="0" y="1406"/>
                  </a:lnTo>
                  <a:lnTo>
                    <a:pt x="0" y="1392"/>
                  </a:lnTo>
                  <a:lnTo>
                    <a:pt x="14" y="1392"/>
                  </a:lnTo>
                  <a:close/>
                  <a:moveTo>
                    <a:pt x="14" y="1420"/>
                  </a:moveTo>
                  <a:lnTo>
                    <a:pt x="14" y="1434"/>
                  </a:lnTo>
                  <a:lnTo>
                    <a:pt x="0" y="1434"/>
                  </a:lnTo>
                  <a:lnTo>
                    <a:pt x="0" y="1420"/>
                  </a:lnTo>
                  <a:lnTo>
                    <a:pt x="14" y="1420"/>
                  </a:lnTo>
                  <a:close/>
                  <a:moveTo>
                    <a:pt x="14" y="1448"/>
                  </a:moveTo>
                  <a:lnTo>
                    <a:pt x="14" y="1461"/>
                  </a:lnTo>
                  <a:lnTo>
                    <a:pt x="0" y="1461"/>
                  </a:lnTo>
                  <a:lnTo>
                    <a:pt x="0" y="1448"/>
                  </a:lnTo>
                  <a:lnTo>
                    <a:pt x="14" y="1448"/>
                  </a:lnTo>
                  <a:close/>
                  <a:moveTo>
                    <a:pt x="14" y="1475"/>
                  </a:moveTo>
                  <a:lnTo>
                    <a:pt x="14" y="1489"/>
                  </a:lnTo>
                  <a:lnTo>
                    <a:pt x="0" y="1489"/>
                  </a:lnTo>
                  <a:lnTo>
                    <a:pt x="0" y="1475"/>
                  </a:lnTo>
                  <a:lnTo>
                    <a:pt x="14" y="1475"/>
                  </a:lnTo>
                  <a:close/>
                  <a:moveTo>
                    <a:pt x="14" y="1503"/>
                  </a:moveTo>
                  <a:lnTo>
                    <a:pt x="14" y="1517"/>
                  </a:lnTo>
                  <a:lnTo>
                    <a:pt x="0" y="1517"/>
                  </a:lnTo>
                  <a:lnTo>
                    <a:pt x="0" y="1503"/>
                  </a:lnTo>
                  <a:lnTo>
                    <a:pt x="14" y="1503"/>
                  </a:lnTo>
                  <a:close/>
                  <a:moveTo>
                    <a:pt x="14" y="1531"/>
                  </a:moveTo>
                  <a:lnTo>
                    <a:pt x="14" y="1545"/>
                  </a:lnTo>
                  <a:lnTo>
                    <a:pt x="0" y="1545"/>
                  </a:lnTo>
                  <a:lnTo>
                    <a:pt x="0" y="1531"/>
                  </a:lnTo>
                  <a:lnTo>
                    <a:pt x="14" y="1531"/>
                  </a:lnTo>
                  <a:close/>
                  <a:moveTo>
                    <a:pt x="14" y="1559"/>
                  </a:moveTo>
                  <a:lnTo>
                    <a:pt x="14" y="1573"/>
                  </a:lnTo>
                  <a:lnTo>
                    <a:pt x="0" y="1573"/>
                  </a:lnTo>
                  <a:lnTo>
                    <a:pt x="0" y="1559"/>
                  </a:lnTo>
                  <a:lnTo>
                    <a:pt x="14" y="1559"/>
                  </a:lnTo>
                  <a:close/>
                  <a:moveTo>
                    <a:pt x="14" y="1587"/>
                  </a:moveTo>
                  <a:lnTo>
                    <a:pt x="14" y="1601"/>
                  </a:lnTo>
                  <a:lnTo>
                    <a:pt x="0" y="1601"/>
                  </a:lnTo>
                  <a:lnTo>
                    <a:pt x="0" y="1587"/>
                  </a:lnTo>
                  <a:lnTo>
                    <a:pt x="14" y="1587"/>
                  </a:lnTo>
                  <a:close/>
                  <a:moveTo>
                    <a:pt x="14" y="1615"/>
                  </a:moveTo>
                  <a:lnTo>
                    <a:pt x="14" y="1628"/>
                  </a:lnTo>
                  <a:lnTo>
                    <a:pt x="0" y="1628"/>
                  </a:lnTo>
                  <a:lnTo>
                    <a:pt x="0" y="1615"/>
                  </a:lnTo>
                  <a:lnTo>
                    <a:pt x="14" y="1615"/>
                  </a:lnTo>
                  <a:close/>
                  <a:moveTo>
                    <a:pt x="14" y="1642"/>
                  </a:moveTo>
                  <a:lnTo>
                    <a:pt x="14" y="1656"/>
                  </a:lnTo>
                  <a:lnTo>
                    <a:pt x="0" y="1656"/>
                  </a:lnTo>
                  <a:lnTo>
                    <a:pt x="0" y="1642"/>
                  </a:lnTo>
                  <a:lnTo>
                    <a:pt x="14" y="1642"/>
                  </a:lnTo>
                  <a:close/>
                  <a:moveTo>
                    <a:pt x="14" y="1670"/>
                  </a:moveTo>
                  <a:lnTo>
                    <a:pt x="14" y="1684"/>
                  </a:lnTo>
                  <a:lnTo>
                    <a:pt x="0" y="1684"/>
                  </a:lnTo>
                  <a:lnTo>
                    <a:pt x="0" y="1670"/>
                  </a:lnTo>
                  <a:lnTo>
                    <a:pt x="14" y="1670"/>
                  </a:lnTo>
                  <a:close/>
                  <a:moveTo>
                    <a:pt x="14" y="1698"/>
                  </a:moveTo>
                  <a:lnTo>
                    <a:pt x="14" y="1712"/>
                  </a:lnTo>
                  <a:lnTo>
                    <a:pt x="0" y="1712"/>
                  </a:lnTo>
                  <a:lnTo>
                    <a:pt x="0" y="1698"/>
                  </a:lnTo>
                  <a:lnTo>
                    <a:pt x="14" y="1698"/>
                  </a:lnTo>
                  <a:close/>
                  <a:moveTo>
                    <a:pt x="14" y="1726"/>
                  </a:moveTo>
                  <a:lnTo>
                    <a:pt x="14" y="1740"/>
                  </a:lnTo>
                  <a:lnTo>
                    <a:pt x="0" y="1740"/>
                  </a:lnTo>
                  <a:lnTo>
                    <a:pt x="0" y="1726"/>
                  </a:lnTo>
                  <a:lnTo>
                    <a:pt x="14" y="1726"/>
                  </a:lnTo>
                  <a:close/>
                  <a:moveTo>
                    <a:pt x="14" y="1754"/>
                  </a:moveTo>
                  <a:lnTo>
                    <a:pt x="14" y="1768"/>
                  </a:lnTo>
                  <a:lnTo>
                    <a:pt x="0" y="1768"/>
                  </a:lnTo>
                  <a:lnTo>
                    <a:pt x="0" y="1754"/>
                  </a:lnTo>
                  <a:lnTo>
                    <a:pt x="14" y="1754"/>
                  </a:lnTo>
                  <a:close/>
                  <a:moveTo>
                    <a:pt x="14" y="1782"/>
                  </a:moveTo>
                  <a:lnTo>
                    <a:pt x="14" y="1795"/>
                  </a:lnTo>
                  <a:lnTo>
                    <a:pt x="0" y="1795"/>
                  </a:lnTo>
                  <a:lnTo>
                    <a:pt x="0" y="1782"/>
                  </a:lnTo>
                  <a:lnTo>
                    <a:pt x="14" y="1782"/>
                  </a:lnTo>
                  <a:close/>
                  <a:moveTo>
                    <a:pt x="14" y="1809"/>
                  </a:moveTo>
                  <a:lnTo>
                    <a:pt x="14" y="1823"/>
                  </a:lnTo>
                  <a:lnTo>
                    <a:pt x="0" y="1823"/>
                  </a:lnTo>
                  <a:lnTo>
                    <a:pt x="0" y="1809"/>
                  </a:lnTo>
                  <a:lnTo>
                    <a:pt x="14" y="1809"/>
                  </a:lnTo>
                  <a:close/>
                  <a:moveTo>
                    <a:pt x="14" y="1837"/>
                  </a:moveTo>
                  <a:lnTo>
                    <a:pt x="14" y="1851"/>
                  </a:lnTo>
                  <a:lnTo>
                    <a:pt x="0" y="1851"/>
                  </a:lnTo>
                  <a:lnTo>
                    <a:pt x="0" y="1837"/>
                  </a:lnTo>
                  <a:lnTo>
                    <a:pt x="14" y="1837"/>
                  </a:lnTo>
                  <a:close/>
                  <a:moveTo>
                    <a:pt x="14" y="1865"/>
                  </a:moveTo>
                  <a:lnTo>
                    <a:pt x="14" y="1879"/>
                  </a:lnTo>
                  <a:lnTo>
                    <a:pt x="0" y="1879"/>
                  </a:lnTo>
                  <a:lnTo>
                    <a:pt x="0" y="1865"/>
                  </a:lnTo>
                  <a:lnTo>
                    <a:pt x="14" y="1865"/>
                  </a:lnTo>
                  <a:close/>
                  <a:moveTo>
                    <a:pt x="14" y="1893"/>
                  </a:moveTo>
                  <a:lnTo>
                    <a:pt x="14" y="1907"/>
                  </a:lnTo>
                  <a:lnTo>
                    <a:pt x="0" y="1907"/>
                  </a:lnTo>
                  <a:lnTo>
                    <a:pt x="0" y="1893"/>
                  </a:lnTo>
                  <a:lnTo>
                    <a:pt x="14" y="1893"/>
                  </a:lnTo>
                  <a:close/>
                  <a:moveTo>
                    <a:pt x="14" y="1921"/>
                  </a:moveTo>
                  <a:lnTo>
                    <a:pt x="14" y="1935"/>
                  </a:lnTo>
                  <a:lnTo>
                    <a:pt x="0" y="1935"/>
                  </a:lnTo>
                  <a:lnTo>
                    <a:pt x="0" y="1921"/>
                  </a:lnTo>
                  <a:lnTo>
                    <a:pt x="14" y="1921"/>
                  </a:lnTo>
                  <a:close/>
                  <a:moveTo>
                    <a:pt x="14" y="1949"/>
                  </a:moveTo>
                  <a:lnTo>
                    <a:pt x="14" y="1962"/>
                  </a:lnTo>
                  <a:lnTo>
                    <a:pt x="0" y="1962"/>
                  </a:lnTo>
                  <a:lnTo>
                    <a:pt x="0" y="1949"/>
                  </a:lnTo>
                  <a:lnTo>
                    <a:pt x="14" y="1949"/>
                  </a:lnTo>
                  <a:close/>
                  <a:moveTo>
                    <a:pt x="14" y="1976"/>
                  </a:moveTo>
                  <a:lnTo>
                    <a:pt x="14" y="1990"/>
                  </a:lnTo>
                  <a:lnTo>
                    <a:pt x="0" y="1990"/>
                  </a:lnTo>
                  <a:lnTo>
                    <a:pt x="0" y="1976"/>
                  </a:lnTo>
                  <a:lnTo>
                    <a:pt x="14" y="1976"/>
                  </a:lnTo>
                  <a:close/>
                  <a:moveTo>
                    <a:pt x="14" y="2004"/>
                  </a:moveTo>
                  <a:lnTo>
                    <a:pt x="14" y="2018"/>
                  </a:lnTo>
                  <a:lnTo>
                    <a:pt x="0" y="2018"/>
                  </a:lnTo>
                  <a:lnTo>
                    <a:pt x="0" y="2004"/>
                  </a:lnTo>
                  <a:lnTo>
                    <a:pt x="14" y="2004"/>
                  </a:lnTo>
                  <a:close/>
                  <a:moveTo>
                    <a:pt x="14" y="2032"/>
                  </a:moveTo>
                  <a:lnTo>
                    <a:pt x="14" y="2046"/>
                  </a:lnTo>
                  <a:lnTo>
                    <a:pt x="0" y="2046"/>
                  </a:lnTo>
                  <a:lnTo>
                    <a:pt x="0" y="2032"/>
                  </a:lnTo>
                  <a:lnTo>
                    <a:pt x="14" y="2032"/>
                  </a:lnTo>
                  <a:close/>
                  <a:moveTo>
                    <a:pt x="14" y="2060"/>
                  </a:moveTo>
                  <a:lnTo>
                    <a:pt x="14" y="2074"/>
                  </a:lnTo>
                  <a:lnTo>
                    <a:pt x="0" y="2074"/>
                  </a:lnTo>
                  <a:lnTo>
                    <a:pt x="0" y="2060"/>
                  </a:lnTo>
                  <a:lnTo>
                    <a:pt x="14" y="2060"/>
                  </a:lnTo>
                  <a:close/>
                  <a:moveTo>
                    <a:pt x="14" y="2087"/>
                  </a:moveTo>
                  <a:lnTo>
                    <a:pt x="14" y="2102"/>
                  </a:lnTo>
                  <a:lnTo>
                    <a:pt x="0" y="2102"/>
                  </a:lnTo>
                  <a:lnTo>
                    <a:pt x="0" y="2087"/>
                  </a:lnTo>
                  <a:lnTo>
                    <a:pt x="14" y="2087"/>
                  </a:lnTo>
                  <a:close/>
                  <a:moveTo>
                    <a:pt x="14" y="2116"/>
                  </a:moveTo>
                  <a:lnTo>
                    <a:pt x="14" y="2129"/>
                  </a:lnTo>
                  <a:lnTo>
                    <a:pt x="0" y="2129"/>
                  </a:lnTo>
                  <a:lnTo>
                    <a:pt x="0" y="2116"/>
                  </a:lnTo>
                  <a:lnTo>
                    <a:pt x="14" y="2116"/>
                  </a:lnTo>
                  <a:close/>
                  <a:moveTo>
                    <a:pt x="14" y="2143"/>
                  </a:moveTo>
                  <a:lnTo>
                    <a:pt x="14" y="2157"/>
                  </a:lnTo>
                  <a:lnTo>
                    <a:pt x="0" y="2157"/>
                  </a:lnTo>
                  <a:lnTo>
                    <a:pt x="0" y="2143"/>
                  </a:lnTo>
                  <a:lnTo>
                    <a:pt x="14" y="2143"/>
                  </a:lnTo>
                  <a:close/>
                  <a:moveTo>
                    <a:pt x="14" y="2171"/>
                  </a:moveTo>
                  <a:lnTo>
                    <a:pt x="14" y="2185"/>
                  </a:lnTo>
                  <a:lnTo>
                    <a:pt x="0" y="2185"/>
                  </a:lnTo>
                  <a:lnTo>
                    <a:pt x="0" y="2171"/>
                  </a:lnTo>
                  <a:lnTo>
                    <a:pt x="14" y="2171"/>
                  </a:lnTo>
                  <a:close/>
                  <a:moveTo>
                    <a:pt x="14" y="2199"/>
                  </a:moveTo>
                  <a:lnTo>
                    <a:pt x="14" y="2213"/>
                  </a:lnTo>
                  <a:lnTo>
                    <a:pt x="0" y="2213"/>
                  </a:lnTo>
                  <a:lnTo>
                    <a:pt x="0" y="2199"/>
                  </a:lnTo>
                  <a:lnTo>
                    <a:pt x="14" y="2199"/>
                  </a:lnTo>
                  <a:close/>
                  <a:moveTo>
                    <a:pt x="14" y="2227"/>
                  </a:moveTo>
                  <a:lnTo>
                    <a:pt x="14" y="2241"/>
                  </a:lnTo>
                  <a:lnTo>
                    <a:pt x="0" y="2241"/>
                  </a:lnTo>
                  <a:lnTo>
                    <a:pt x="0" y="2227"/>
                  </a:lnTo>
                  <a:lnTo>
                    <a:pt x="14" y="2227"/>
                  </a:lnTo>
                  <a:close/>
                  <a:moveTo>
                    <a:pt x="14" y="2254"/>
                  </a:moveTo>
                  <a:lnTo>
                    <a:pt x="14" y="2268"/>
                  </a:lnTo>
                  <a:lnTo>
                    <a:pt x="0" y="2268"/>
                  </a:lnTo>
                  <a:lnTo>
                    <a:pt x="0" y="2254"/>
                  </a:lnTo>
                  <a:lnTo>
                    <a:pt x="14" y="2254"/>
                  </a:lnTo>
                  <a:close/>
                  <a:moveTo>
                    <a:pt x="14" y="2283"/>
                  </a:moveTo>
                  <a:lnTo>
                    <a:pt x="14" y="2296"/>
                  </a:lnTo>
                  <a:lnTo>
                    <a:pt x="0" y="2296"/>
                  </a:lnTo>
                  <a:lnTo>
                    <a:pt x="0" y="2283"/>
                  </a:lnTo>
                  <a:lnTo>
                    <a:pt x="14" y="2283"/>
                  </a:lnTo>
                  <a:close/>
                  <a:moveTo>
                    <a:pt x="14" y="2310"/>
                  </a:moveTo>
                  <a:lnTo>
                    <a:pt x="14" y="2324"/>
                  </a:lnTo>
                  <a:lnTo>
                    <a:pt x="0" y="2324"/>
                  </a:lnTo>
                  <a:lnTo>
                    <a:pt x="0" y="2310"/>
                  </a:lnTo>
                  <a:lnTo>
                    <a:pt x="14" y="2310"/>
                  </a:lnTo>
                  <a:close/>
                  <a:moveTo>
                    <a:pt x="14" y="2338"/>
                  </a:moveTo>
                  <a:lnTo>
                    <a:pt x="14" y="2352"/>
                  </a:lnTo>
                  <a:lnTo>
                    <a:pt x="0" y="2352"/>
                  </a:lnTo>
                  <a:lnTo>
                    <a:pt x="0" y="2338"/>
                  </a:lnTo>
                  <a:lnTo>
                    <a:pt x="14" y="2338"/>
                  </a:lnTo>
                  <a:close/>
                  <a:moveTo>
                    <a:pt x="14" y="2366"/>
                  </a:moveTo>
                  <a:lnTo>
                    <a:pt x="14" y="2380"/>
                  </a:lnTo>
                  <a:lnTo>
                    <a:pt x="0" y="2380"/>
                  </a:lnTo>
                  <a:lnTo>
                    <a:pt x="0" y="2366"/>
                  </a:lnTo>
                  <a:lnTo>
                    <a:pt x="14" y="2366"/>
                  </a:lnTo>
                  <a:close/>
                  <a:moveTo>
                    <a:pt x="14" y="2394"/>
                  </a:moveTo>
                  <a:lnTo>
                    <a:pt x="14" y="2408"/>
                  </a:lnTo>
                  <a:lnTo>
                    <a:pt x="0" y="2408"/>
                  </a:lnTo>
                  <a:lnTo>
                    <a:pt x="0" y="2394"/>
                  </a:lnTo>
                  <a:lnTo>
                    <a:pt x="14" y="2394"/>
                  </a:lnTo>
                  <a:close/>
                  <a:moveTo>
                    <a:pt x="14" y="2421"/>
                  </a:moveTo>
                  <a:lnTo>
                    <a:pt x="14" y="2435"/>
                  </a:lnTo>
                  <a:lnTo>
                    <a:pt x="0" y="2435"/>
                  </a:lnTo>
                  <a:lnTo>
                    <a:pt x="0" y="2421"/>
                  </a:lnTo>
                  <a:lnTo>
                    <a:pt x="14" y="2421"/>
                  </a:lnTo>
                  <a:close/>
                  <a:moveTo>
                    <a:pt x="14" y="2449"/>
                  </a:moveTo>
                  <a:lnTo>
                    <a:pt x="14" y="2453"/>
                  </a:lnTo>
                  <a:lnTo>
                    <a:pt x="0" y="2453"/>
                  </a:lnTo>
                  <a:lnTo>
                    <a:pt x="0" y="2449"/>
                  </a:lnTo>
                  <a:lnTo>
                    <a:pt x="14" y="2449"/>
                  </a:lnTo>
                  <a:close/>
                </a:path>
              </a:pathLst>
            </a:custGeom>
            <a:solidFill>
              <a:srgbClr val="000000"/>
            </a:solidFill>
            <a:ln w="0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493" name="Freeform 39">
              <a:extLst>
                <a:ext uri="{FF2B5EF4-FFF2-40B4-BE49-F238E27FC236}">
                  <a16:creationId xmlns:a16="http://schemas.microsoft.com/office/drawing/2014/main" id="{AF5A2FB4-92F6-69A9-CC1B-DDB7B275BB5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6099" y="3292719"/>
              <a:ext cx="285623" cy="633537"/>
            </a:xfrm>
            <a:custGeom>
              <a:avLst/>
              <a:gdLst>
                <a:gd name="T0" fmla="*/ 0 w 188"/>
                <a:gd name="T1" fmla="*/ 278 h 417"/>
                <a:gd name="T2" fmla="*/ 63 w 188"/>
                <a:gd name="T3" fmla="*/ 209 h 417"/>
                <a:gd name="T4" fmla="*/ 0 w 188"/>
                <a:gd name="T5" fmla="*/ 139 h 417"/>
                <a:gd name="T6" fmla="*/ 0 w 188"/>
                <a:gd name="T7" fmla="*/ 0 h 417"/>
                <a:gd name="T8" fmla="*/ 188 w 188"/>
                <a:gd name="T9" fmla="*/ 139 h 417"/>
                <a:gd name="T10" fmla="*/ 188 w 188"/>
                <a:gd name="T11" fmla="*/ 278 h 417"/>
                <a:gd name="T12" fmla="*/ 0 w 188"/>
                <a:gd name="T13" fmla="*/ 417 h 417"/>
                <a:gd name="T14" fmla="*/ 0 w 188"/>
                <a:gd name="T15" fmla="*/ 278 h 4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88" h="417">
                  <a:moveTo>
                    <a:pt x="0" y="278"/>
                  </a:moveTo>
                  <a:lnTo>
                    <a:pt x="63" y="209"/>
                  </a:lnTo>
                  <a:lnTo>
                    <a:pt x="0" y="139"/>
                  </a:lnTo>
                  <a:lnTo>
                    <a:pt x="0" y="0"/>
                  </a:lnTo>
                  <a:lnTo>
                    <a:pt x="188" y="139"/>
                  </a:lnTo>
                  <a:lnTo>
                    <a:pt x="188" y="278"/>
                  </a:lnTo>
                  <a:lnTo>
                    <a:pt x="0" y="417"/>
                  </a:lnTo>
                  <a:lnTo>
                    <a:pt x="0" y="278"/>
                  </a:lnTo>
                </a:path>
              </a:pathLst>
            </a:custGeom>
            <a:noFill/>
            <a:ln w="222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494" name="Rectangle 40">
              <a:extLst>
                <a:ext uri="{FF2B5EF4-FFF2-40B4-BE49-F238E27FC236}">
                  <a16:creationId xmlns:a16="http://schemas.microsoft.com/office/drawing/2014/main" id="{5FE24197-3DA6-8F1F-90BB-72354415316F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3308590" y="3503787"/>
              <a:ext cx="635054" cy="20988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1400" u="none" strike="noStrike" cap="none" normalizeH="0" baseline="0" dirty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  <a:ea typeface="SimHei" panose="02010609060101010101" pitchFamily="49" charset="-122"/>
                </a:rPr>
                <a:t>ALU</a:t>
              </a:r>
              <a:endParaRPr kumimoji="0" lang="zh-CN" altLang="zh-CN" sz="140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endParaRPr>
            </a:p>
          </p:txBody>
        </p:sp>
        <p:sp>
          <p:nvSpPr>
            <p:cNvPr id="495" name="Rectangle 41">
              <a:extLst>
                <a:ext uri="{FF2B5EF4-FFF2-40B4-BE49-F238E27FC236}">
                  <a16:creationId xmlns:a16="http://schemas.microsoft.com/office/drawing/2014/main" id="{0147F1E0-C229-53C9-CCFD-40A3C70995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14850" y="3500858"/>
              <a:ext cx="193640" cy="20988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1400" u="none" strike="noStrike" cap="none" normalizeH="0" baseline="0" dirty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  <a:ea typeface="SimHei" panose="02010609060101010101" pitchFamily="49" charset="-122"/>
                </a:rPr>
                <a:t>IM</a:t>
              </a:r>
              <a:endParaRPr kumimoji="0" lang="zh-CN" altLang="zh-CN" sz="180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endParaRPr>
            </a:p>
          </p:txBody>
        </p:sp>
        <p:sp>
          <p:nvSpPr>
            <p:cNvPr id="496" name="Freeform 42">
              <a:extLst>
                <a:ext uri="{FF2B5EF4-FFF2-40B4-BE49-F238E27FC236}">
                  <a16:creationId xmlns:a16="http://schemas.microsoft.com/office/drawing/2014/main" id="{FE4CA0DE-0D6B-6881-E8F7-6EC1634DCCE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7795" y="3420338"/>
              <a:ext cx="226719" cy="379818"/>
            </a:xfrm>
            <a:custGeom>
              <a:avLst/>
              <a:gdLst>
                <a:gd name="T0" fmla="*/ 155 w 155"/>
                <a:gd name="T1" fmla="*/ 0 h 250"/>
                <a:gd name="T2" fmla="*/ 0 w 155"/>
                <a:gd name="T3" fmla="*/ 0 h 250"/>
                <a:gd name="T4" fmla="*/ 0 w 155"/>
                <a:gd name="T5" fmla="*/ 250 h 250"/>
                <a:gd name="T6" fmla="*/ 155 w 155"/>
                <a:gd name="T7" fmla="*/ 250 h 2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55" h="250">
                  <a:moveTo>
                    <a:pt x="155" y="0"/>
                  </a:moveTo>
                  <a:lnTo>
                    <a:pt x="0" y="0"/>
                  </a:lnTo>
                  <a:lnTo>
                    <a:pt x="0" y="250"/>
                  </a:lnTo>
                  <a:lnTo>
                    <a:pt x="155" y="250"/>
                  </a:lnTo>
                </a:path>
              </a:pathLst>
            </a:custGeom>
            <a:noFill/>
            <a:ln w="222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497" name="Freeform 43">
              <a:extLst>
                <a:ext uri="{FF2B5EF4-FFF2-40B4-BE49-F238E27FC236}">
                  <a16:creationId xmlns:a16="http://schemas.microsoft.com/office/drawing/2014/main" id="{BE1DDCAD-54D2-D11A-55AC-F5C191DD240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6033" y="3420338"/>
              <a:ext cx="227891" cy="379818"/>
            </a:xfrm>
            <a:custGeom>
              <a:avLst/>
              <a:gdLst>
                <a:gd name="T0" fmla="*/ 0 w 150"/>
                <a:gd name="T1" fmla="*/ 0 h 250"/>
                <a:gd name="T2" fmla="*/ 150 w 150"/>
                <a:gd name="T3" fmla="*/ 0 h 250"/>
                <a:gd name="T4" fmla="*/ 150 w 150"/>
                <a:gd name="T5" fmla="*/ 250 h 250"/>
                <a:gd name="T6" fmla="*/ 0 w 150"/>
                <a:gd name="T7" fmla="*/ 250 h 2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50" h="250">
                  <a:moveTo>
                    <a:pt x="0" y="0"/>
                  </a:moveTo>
                  <a:lnTo>
                    <a:pt x="150" y="0"/>
                  </a:lnTo>
                  <a:lnTo>
                    <a:pt x="150" y="250"/>
                  </a:lnTo>
                  <a:lnTo>
                    <a:pt x="0" y="250"/>
                  </a:lnTo>
                </a:path>
              </a:pathLst>
            </a:custGeom>
            <a:noFill/>
            <a:ln w="222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498" name="Rectangle 44">
              <a:extLst>
                <a:ext uri="{FF2B5EF4-FFF2-40B4-BE49-F238E27FC236}">
                  <a16:creationId xmlns:a16="http://schemas.microsoft.com/office/drawing/2014/main" id="{846D4930-A21F-E900-873D-1998C5EC1D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51020" y="3492351"/>
              <a:ext cx="320132" cy="20988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1400" u="none" strike="noStrike" cap="none" normalizeH="0" baseline="0" dirty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  <a:ea typeface="SimHei" panose="02010609060101010101" pitchFamily="49" charset="-122"/>
                </a:rPr>
                <a:t>Reg</a:t>
              </a:r>
              <a:endParaRPr kumimoji="0" lang="zh-CN" altLang="zh-CN" sz="180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endParaRPr>
            </a:p>
          </p:txBody>
        </p:sp>
        <p:sp>
          <p:nvSpPr>
            <p:cNvPr id="499" name="Freeform 45">
              <a:extLst>
                <a:ext uri="{FF2B5EF4-FFF2-40B4-BE49-F238E27FC236}">
                  <a16:creationId xmlns:a16="http://schemas.microsoft.com/office/drawing/2014/main" id="{50A25799-0B83-DC33-30E2-DB7EB41DA37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8005" y="3420338"/>
              <a:ext cx="203582" cy="379818"/>
            </a:xfrm>
            <a:custGeom>
              <a:avLst/>
              <a:gdLst>
                <a:gd name="T0" fmla="*/ 134 w 134"/>
                <a:gd name="T1" fmla="*/ 0 h 250"/>
                <a:gd name="T2" fmla="*/ 0 w 134"/>
                <a:gd name="T3" fmla="*/ 0 h 250"/>
                <a:gd name="T4" fmla="*/ 0 w 134"/>
                <a:gd name="T5" fmla="*/ 250 h 250"/>
                <a:gd name="T6" fmla="*/ 134 w 134"/>
                <a:gd name="T7" fmla="*/ 250 h 2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4" h="250">
                  <a:moveTo>
                    <a:pt x="134" y="0"/>
                  </a:moveTo>
                  <a:lnTo>
                    <a:pt x="0" y="0"/>
                  </a:lnTo>
                  <a:lnTo>
                    <a:pt x="0" y="250"/>
                  </a:lnTo>
                  <a:lnTo>
                    <a:pt x="134" y="250"/>
                  </a:lnTo>
                </a:path>
              </a:pathLst>
            </a:custGeom>
            <a:noFill/>
            <a:ln w="222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500" name="Freeform 46">
              <a:extLst>
                <a:ext uri="{FF2B5EF4-FFF2-40B4-BE49-F238E27FC236}">
                  <a16:creationId xmlns:a16="http://schemas.microsoft.com/office/drawing/2014/main" id="{D0CED45B-E698-2731-D60B-0A21991D72B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3107" y="3420338"/>
              <a:ext cx="194467" cy="379818"/>
            </a:xfrm>
            <a:custGeom>
              <a:avLst/>
              <a:gdLst>
                <a:gd name="T0" fmla="*/ 0 w 128"/>
                <a:gd name="T1" fmla="*/ 0 h 250"/>
                <a:gd name="T2" fmla="*/ 128 w 128"/>
                <a:gd name="T3" fmla="*/ 0 h 250"/>
                <a:gd name="T4" fmla="*/ 128 w 128"/>
                <a:gd name="T5" fmla="*/ 250 h 250"/>
                <a:gd name="T6" fmla="*/ 0 w 128"/>
                <a:gd name="T7" fmla="*/ 250 h 2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8" h="250">
                  <a:moveTo>
                    <a:pt x="0" y="0"/>
                  </a:moveTo>
                  <a:lnTo>
                    <a:pt x="128" y="0"/>
                  </a:lnTo>
                  <a:lnTo>
                    <a:pt x="128" y="250"/>
                  </a:lnTo>
                  <a:lnTo>
                    <a:pt x="0" y="250"/>
                  </a:lnTo>
                </a:path>
              </a:pathLst>
            </a:custGeom>
            <a:noFill/>
            <a:ln w="222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501" name="Line 47">
              <a:extLst>
                <a:ext uri="{FF2B5EF4-FFF2-40B4-BE49-F238E27FC236}">
                  <a16:creationId xmlns:a16="http://schemas.microsoft.com/office/drawing/2014/main" id="{1C5221CA-1F16-837E-3309-9FB8A7D2611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653040" y="3610246"/>
              <a:ext cx="154966" cy="0"/>
            </a:xfrm>
            <a:prstGeom prst="line">
              <a:avLst/>
            </a:prstGeom>
            <a:noFill/>
            <a:ln w="22225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502" name="Freeform 48">
              <a:extLst>
                <a:ext uri="{FF2B5EF4-FFF2-40B4-BE49-F238E27FC236}">
                  <a16:creationId xmlns:a16="http://schemas.microsoft.com/office/drawing/2014/main" id="{A9F7E722-601A-72BD-882F-A0C0016DCB2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2677" y="3482627"/>
              <a:ext cx="65329" cy="126100"/>
            </a:xfrm>
            <a:custGeom>
              <a:avLst/>
              <a:gdLst>
                <a:gd name="T0" fmla="*/ 0 w 43"/>
                <a:gd name="T1" fmla="*/ 83 h 83"/>
                <a:gd name="T2" fmla="*/ 0 w 43"/>
                <a:gd name="T3" fmla="*/ 0 h 83"/>
                <a:gd name="T4" fmla="*/ 43 w 43"/>
                <a:gd name="T5" fmla="*/ 0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3" h="83">
                  <a:moveTo>
                    <a:pt x="0" y="83"/>
                  </a:moveTo>
                  <a:lnTo>
                    <a:pt x="0" y="0"/>
                  </a:lnTo>
                  <a:lnTo>
                    <a:pt x="43" y="0"/>
                  </a:lnTo>
                </a:path>
              </a:pathLst>
            </a:custGeom>
            <a:noFill/>
            <a:ln w="222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503" name="Line 49">
              <a:extLst>
                <a:ext uri="{FF2B5EF4-FFF2-40B4-BE49-F238E27FC236}">
                  <a16:creationId xmlns:a16="http://schemas.microsoft.com/office/drawing/2014/main" id="{E747FA79-BB2E-9273-5642-87590FF891A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16690" y="3482627"/>
              <a:ext cx="212698" cy="0"/>
            </a:xfrm>
            <a:prstGeom prst="line">
              <a:avLst/>
            </a:prstGeom>
            <a:noFill/>
            <a:ln w="22225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504" name="Rectangle 50">
              <a:extLst>
                <a:ext uri="{FF2B5EF4-FFF2-40B4-BE49-F238E27FC236}">
                  <a16:creationId xmlns:a16="http://schemas.microsoft.com/office/drawing/2014/main" id="{3282D98C-E923-9A29-0DEB-FD1B101DFC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54159" y="3500858"/>
              <a:ext cx="271722" cy="20988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1400" u="none" strike="noStrike" cap="none" normalizeH="0" baseline="0" dirty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  <a:ea typeface="SimHei" panose="02010609060101010101" pitchFamily="49" charset="-122"/>
                </a:rPr>
                <a:t>DM</a:t>
              </a:r>
              <a:endParaRPr kumimoji="0" lang="zh-CN" altLang="zh-CN" sz="180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endParaRPr>
            </a:p>
          </p:txBody>
        </p:sp>
        <p:sp>
          <p:nvSpPr>
            <p:cNvPr id="505" name="Freeform 51">
              <a:extLst>
                <a:ext uri="{FF2B5EF4-FFF2-40B4-BE49-F238E27FC236}">
                  <a16:creationId xmlns:a16="http://schemas.microsoft.com/office/drawing/2014/main" id="{B2B57125-C7FB-16D1-7920-41775F3B65C6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8729" y="3420338"/>
              <a:ext cx="220295" cy="379818"/>
            </a:xfrm>
            <a:custGeom>
              <a:avLst/>
              <a:gdLst>
                <a:gd name="T0" fmla="*/ 145 w 145"/>
                <a:gd name="T1" fmla="*/ 0 h 250"/>
                <a:gd name="T2" fmla="*/ 0 w 145"/>
                <a:gd name="T3" fmla="*/ 0 h 250"/>
                <a:gd name="T4" fmla="*/ 0 w 145"/>
                <a:gd name="T5" fmla="*/ 250 h 250"/>
                <a:gd name="T6" fmla="*/ 145 w 145"/>
                <a:gd name="T7" fmla="*/ 250 h 2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45" h="250">
                  <a:moveTo>
                    <a:pt x="145" y="0"/>
                  </a:moveTo>
                  <a:lnTo>
                    <a:pt x="0" y="0"/>
                  </a:lnTo>
                  <a:lnTo>
                    <a:pt x="0" y="250"/>
                  </a:lnTo>
                  <a:lnTo>
                    <a:pt x="145" y="250"/>
                  </a:lnTo>
                </a:path>
              </a:pathLst>
            </a:custGeom>
            <a:noFill/>
            <a:ln w="222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506" name="Freeform 52">
              <a:extLst>
                <a:ext uri="{FF2B5EF4-FFF2-40B4-BE49-F238E27FC236}">
                  <a16:creationId xmlns:a16="http://schemas.microsoft.com/office/drawing/2014/main" id="{E0C1F2B8-7926-C609-27DA-365E9C6B19E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1427" y="3420338"/>
              <a:ext cx="227891" cy="379818"/>
            </a:xfrm>
            <a:custGeom>
              <a:avLst/>
              <a:gdLst>
                <a:gd name="T0" fmla="*/ 0 w 150"/>
                <a:gd name="T1" fmla="*/ 0 h 250"/>
                <a:gd name="T2" fmla="*/ 150 w 150"/>
                <a:gd name="T3" fmla="*/ 0 h 250"/>
                <a:gd name="T4" fmla="*/ 150 w 150"/>
                <a:gd name="T5" fmla="*/ 250 h 250"/>
                <a:gd name="T6" fmla="*/ 0 w 150"/>
                <a:gd name="T7" fmla="*/ 250 h 2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50" h="250">
                  <a:moveTo>
                    <a:pt x="0" y="0"/>
                  </a:moveTo>
                  <a:lnTo>
                    <a:pt x="150" y="0"/>
                  </a:lnTo>
                  <a:lnTo>
                    <a:pt x="150" y="250"/>
                  </a:lnTo>
                  <a:lnTo>
                    <a:pt x="0" y="250"/>
                  </a:lnTo>
                </a:path>
              </a:pathLst>
            </a:custGeom>
            <a:noFill/>
            <a:ln w="222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507" name="Rectangle 53">
              <a:extLst>
                <a:ext uri="{FF2B5EF4-FFF2-40B4-BE49-F238E27FC236}">
                  <a16:creationId xmlns:a16="http://schemas.microsoft.com/office/drawing/2014/main" id="{3A8C53C4-4632-AFEA-DA88-0BD93B7A6B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39725" y="3493566"/>
              <a:ext cx="320132" cy="20988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1400" u="none" strike="noStrike" cap="none" normalizeH="0" baseline="0" dirty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  <a:ea typeface="SimHei" panose="02010609060101010101" pitchFamily="49" charset="-122"/>
                </a:rPr>
                <a:t>Reg</a:t>
              </a:r>
              <a:endParaRPr kumimoji="0" lang="zh-CN" altLang="zh-CN" sz="180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endParaRPr>
            </a:p>
          </p:txBody>
        </p:sp>
        <p:sp>
          <p:nvSpPr>
            <p:cNvPr id="508" name="Freeform 54">
              <a:extLst>
                <a:ext uri="{FF2B5EF4-FFF2-40B4-BE49-F238E27FC236}">
                  <a16:creationId xmlns:a16="http://schemas.microsoft.com/office/drawing/2014/main" id="{BE8F152F-A549-C803-A40B-BB9F14889F75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6823" y="3420338"/>
              <a:ext cx="186871" cy="379818"/>
            </a:xfrm>
            <a:custGeom>
              <a:avLst/>
              <a:gdLst>
                <a:gd name="T0" fmla="*/ 123 w 123"/>
                <a:gd name="T1" fmla="*/ 0 h 250"/>
                <a:gd name="T2" fmla="*/ 0 w 123"/>
                <a:gd name="T3" fmla="*/ 0 h 250"/>
                <a:gd name="T4" fmla="*/ 0 w 123"/>
                <a:gd name="T5" fmla="*/ 250 h 250"/>
                <a:gd name="T6" fmla="*/ 123 w 123"/>
                <a:gd name="T7" fmla="*/ 250 h 2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3" h="250">
                  <a:moveTo>
                    <a:pt x="123" y="0"/>
                  </a:moveTo>
                  <a:lnTo>
                    <a:pt x="0" y="0"/>
                  </a:lnTo>
                  <a:lnTo>
                    <a:pt x="0" y="250"/>
                  </a:lnTo>
                  <a:lnTo>
                    <a:pt x="123" y="250"/>
                  </a:lnTo>
                </a:path>
              </a:pathLst>
            </a:custGeom>
            <a:noFill/>
            <a:ln w="222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509" name="Freeform 55">
              <a:extLst>
                <a:ext uri="{FF2B5EF4-FFF2-40B4-BE49-F238E27FC236}">
                  <a16:creationId xmlns:a16="http://schemas.microsoft.com/office/drawing/2014/main" id="{7C291562-79CC-8533-0BA1-13F8538AE5C7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5212" y="3420338"/>
              <a:ext cx="194467" cy="379818"/>
            </a:xfrm>
            <a:custGeom>
              <a:avLst/>
              <a:gdLst>
                <a:gd name="T0" fmla="*/ 0 w 128"/>
                <a:gd name="T1" fmla="*/ 0 h 250"/>
                <a:gd name="T2" fmla="*/ 128 w 128"/>
                <a:gd name="T3" fmla="*/ 0 h 250"/>
                <a:gd name="T4" fmla="*/ 128 w 128"/>
                <a:gd name="T5" fmla="*/ 250 h 250"/>
                <a:gd name="T6" fmla="*/ 0 w 128"/>
                <a:gd name="T7" fmla="*/ 250 h 2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8" h="250">
                  <a:moveTo>
                    <a:pt x="0" y="0"/>
                  </a:moveTo>
                  <a:lnTo>
                    <a:pt x="128" y="0"/>
                  </a:lnTo>
                  <a:lnTo>
                    <a:pt x="128" y="250"/>
                  </a:lnTo>
                  <a:lnTo>
                    <a:pt x="0" y="250"/>
                  </a:lnTo>
                </a:path>
              </a:pathLst>
            </a:custGeom>
            <a:noFill/>
            <a:ln w="222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510" name="Line 56">
              <a:extLst>
                <a:ext uri="{FF2B5EF4-FFF2-40B4-BE49-F238E27FC236}">
                  <a16:creationId xmlns:a16="http://schemas.microsoft.com/office/drawing/2014/main" id="{5C3EAE44-3C14-8A8D-FFE9-691D01666C3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403240" y="3610246"/>
              <a:ext cx="186871" cy="0"/>
            </a:xfrm>
            <a:prstGeom prst="line">
              <a:avLst/>
            </a:prstGeom>
            <a:noFill/>
            <a:ln w="22225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511" name="Line 57">
              <a:extLst>
                <a:ext uri="{FF2B5EF4-FFF2-40B4-BE49-F238E27FC236}">
                  <a16:creationId xmlns:a16="http://schemas.microsoft.com/office/drawing/2014/main" id="{506D4823-1E5A-8127-5614-457C655F4E3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40838" y="3610246"/>
              <a:ext cx="212698" cy="0"/>
            </a:xfrm>
            <a:prstGeom prst="line">
              <a:avLst/>
            </a:prstGeom>
            <a:noFill/>
            <a:ln w="22225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512" name="Line 58">
              <a:extLst>
                <a:ext uri="{FF2B5EF4-FFF2-40B4-BE49-F238E27FC236}">
                  <a16:creationId xmlns:a16="http://schemas.microsoft.com/office/drawing/2014/main" id="{8807AC32-D072-09C0-30CF-3DDAB0EB221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16690" y="3736346"/>
              <a:ext cx="212698" cy="0"/>
            </a:xfrm>
            <a:prstGeom prst="line">
              <a:avLst/>
            </a:prstGeom>
            <a:noFill/>
            <a:ln w="22225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513" name="Line 59">
              <a:extLst>
                <a:ext uri="{FF2B5EF4-FFF2-40B4-BE49-F238E27FC236}">
                  <a16:creationId xmlns:a16="http://schemas.microsoft.com/office/drawing/2014/main" id="{08C237AF-3B7F-6E30-D563-1DD6BBFED49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32154" y="3736346"/>
              <a:ext cx="0" cy="253719"/>
            </a:xfrm>
            <a:prstGeom prst="line">
              <a:avLst/>
            </a:prstGeom>
            <a:noFill/>
            <a:ln w="254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514" name="Line 60">
              <a:extLst>
                <a:ext uri="{FF2B5EF4-FFF2-40B4-BE49-F238E27FC236}">
                  <a16:creationId xmlns:a16="http://schemas.microsoft.com/office/drawing/2014/main" id="{44CAC08A-D32A-8CF4-87B2-59D79A6A4FC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32154" y="3990064"/>
              <a:ext cx="457301" cy="0"/>
            </a:xfrm>
            <a:prstGeom prst="line">
              <a:avLst/>
            </a:prstGeom>
            <a:noFill/>
            <a:ln w="254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515" name="Line 61">
              <a:extLst>
                <a:ext uri="{FF2B5EF4-FFF2-40B4-BE49-F238E27FC236}">
                  <a16:creationId xmlns:a16="http://schemas.microsoft.com/office/drawing/2014/main" id="{603A1416-E341-4383-EA41-CEE2697F600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89455" y="3610246"/>
              <a:ext cx="0" cy="379818"/>
            </a:xfrm>
            <a:prstGeom prst="line">
              <a:avLst/>
            </a:prstGeom>
            <a:noFill/>
            <a:ln w="254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516" name="Line 62">
              <a:extLst>
                <a:ext uri="{FF2B5EF4-FFF2-40B4-BE49-F238E27FC236}">
                  <a16:creationId xmlns:a16="http://schemas.microsoft.com/office/drawing/2014/main" id="{81CD6F10-0298-6024-3121-CC10F2E5433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903400" y="3610246"/>
              <a:ext cx="0" cy="317528"/>
            </a:xfrm>
            <a:prstGeom prst="line">
              <a:avLst/>
            </a:prstGeom>
            <a:noFill/>
            <a:ln w="254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517" name="Line 63">
              <a:extLst>
                <a:ext uri="{FF2B5EF4-FFF2-40B4-BE49-F238E27FC236}">
                  <a16:creationId xmlns:a16="http://schemas.microsoft.com/office/drawing/2014/main" id="{EB92942A-A166-F9A3-CECC-42A0BDC70C3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903400" y="3927774"/>
              <a:ext cx="589477" cy="0"/>
            </a:xfrm>
            <a:prstGeom prst="line">
              <a:avLst/>
            </a:prstGeom>
            <a:noFill/>
            <a:ln w="254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518" name="Line 64">
              <a:extLst>
                <a:ext uri="{FF2B5EF4-FFF2-40B4-BE49-F238E27FC236}">
                  <a16:creationId xmlns:a16="http://schemas.microsoft.com/office/drawing/2014/main" id="{12398EAF-D754-98C4-C8AA-72D6CB117D0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492878" y="3610246"/>
              <a:ext cx="0" cy="317528"/>
            </a:xfrm>
            <a:prstGeom prst="line">
              <a:avLst/>
            </a:prstGeom>
            <a:noFill/>
            <a:ln w="254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519" name="Freeform 65">
              <a:extLst>
                <a:ext uri="{FF2B5EF4-FFF2-40B4-BE49-F238E27FC236}">
                  <a16:creationId xmlns:a16="http://schemas.microsoft.com/office/drawing/2014/main" id="{C7A78028-BC39-A930-F621-BD115108D933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4058" y="3990064"/>
              <a:ext cx="285623" cy="633537"/>
            </a:xfrm>
            <a:custGeom>
              <a:avLst/>
              <a:gdLst>
                <a:gd name="T0" fmla="*/ 0 w 188"/>
                <a:gd name="T1" fmla="*/ 278 h 417"/>
                <a:gd name="T2" fmla="*/ 63 w 188"/>
                <a:gd name="T3" fmla="*/ 209 h 417"/>
                <a:gd name="T4" fmla="*/ 0 w 188"/>
                <a:gd name="T5" fmla="*/ 139 h 417"/>
                <a:gd name="T6" fmla="*/ 0 w 188"/>
                <a:gd name="T7" fmla="*/ 0 h 417"/>
                <a:gd name="T8" fmla="*/ 188 w 188"/>
                <a:gd name="T9" fmla="*/ 139 h 417"/>
                <a:gd name="T10" fmla="*/ 188 w 188"/>
                <a:gd name="T11" fmla="*/ 278 h 417"/>
                <a:gd name="T12" fmla="*/ 0 w 188"/>
                <a:gd name="T13" fmla="*/ 417 h 417"/>
                <a:gd name="T14" fmla="*/ 0 w 188"/>
                <a:gd name="T15" fmla="*/ 278 h 4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88" h="417">
                  <a:moveTo>
                    <a:pt x="0" y="278"/>
                  </a:moveTo>
                  <a:lnTo>
                    <a:pt x="63" y="209"/>
                  </a:lnTo>
                  <a:lnTo>
                    <a:pt x="0" y="139"/>
                  </a:lnTo>
                  <a:lnTo>
                    <a:pt x="0" y="0"/>
                  </a:lnTo>
                  <a:lnTo>
                    <a:pt x="188" y="139"/>
                  </a:lnTo>
                  <a:lnTo>
                    <a:pt x="188" y="278"/>
                  </a:lnTo>
                  <a:lnTo>
                    <a:pt x="0" y="417"/>
                  </a:lnTo>
                  <a:lnTo>
                    <a:pt x="0" y="278"/>
                  </a:lnTo>
                </a:path>
              </a:pathLst>
            </a:custGeom>
            <a:noFill/>
            <a:ln w="222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520" name="Rectangle 66">
              <a:extLst>
                <a:ext uri="{FF2B5EF4-FFF2-40B4-BE49-F238E27FC236}">
                  <a16:creationId xmlns:a16="http://schemas.microsoft.com/office/drawing/2014/main" id="{3FA47142-9EF7-E021-4F07-3222882DA4F3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3898068" y="4201133"/>
              <a:ext cx="635054" cy="20988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1400" u="none" strike="noStrike" cap="none" normalizeH="0" baseline="0" dirty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  <a:ea typeface="SimHei" panose="02010609060101010101" pitchFamily="49" charset="-122"/>
                </a:rPr>
                <a:t>ALU</a:t>
              </a:r>
              <a:endParaRPr kumimoji="0" lang="zh-CN" altLang="zh-CN" sz="140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endParaRPr>
            </a:p>
          </p:txBody>
        </p:sp>
        <p:sp>
          <p:nvSpPr>
            <p:cNvPr id="521" name="Rectangle 67">
              <a:extLst>
                <a:ext uri="{FF2B5EF4-FFF2-40B4-BE49-F238E27FC236}">
                  <a16:creationId xmlns:a16="http://schemas.microsoft.com/office/drawing/2014/main" id="{0F14A5D9-56BE-B695-F71D-8C217073105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02808" y="4198204"/>
              <a:ext cx="193640" cy="20988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1400" u="none" strike="noStrike" cap="none" normalizeH="0" baseline="0" dirty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  <a:ea typeface="SimHei" panose="02010609060101010101" pitchFamily="49" charset="-122"/>
                </a:rPr>
                <a:t>IM</a:t>
              </a:r>
              <a:endParaRPr kumimoji="0" lang="zh-CN" altLang="zh-CN" sz="180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endParaRPr>
            </a:p>
          </p:txBody>
        </p:sp>
        <p:sp>
          <p:nvSpPr>
            <p:cNvPr id="522" name="Freeform 68">
              <a:extLst>
                <a:ext uri="{FF2B5EF4-FFF2-40B4-BE49-F238E27FC236}">
                  <a16:creationId xmlns:a16="http://schemas.microsoft.com/office/drawing/2014/main" id="{644B5062-FCB5-C4F8-A0E2-560B93D0167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3299" y="4117683"/>
              <a:ext cx="230692" cy="379818"/>
            </a:xfrm>
            <a:custGeom>
              <a:avLst/>
              <a:gdLst>
                <a:gd name="T0" fmla="*/ 156 w 156"/>
                <a:gd name="T1" fmla="*/ 0 h 250"/>
                <a:gd name="T2" fmla="*/ 0 w 156"/>
                <a:gd name="T3" fmla="*/ 0 h 250"/>
                <a:gd name="T4" fmla="*/ 0 w 156"/>
                <a:gd name="T5" fmla="*/ 250 h 250"/>
                <a:gd name="T6" fmla="*/ 156 w 156"/>
                <a:gd name="T7" fmla="*/ 250 h 2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56" h="250">
                  <a:moveTo>
                    <a:pt x="156" y="0"/>
                  </a:moveTo>
                  <a:lnTo>
                    <a:pt x="0" y="0"/>
                  </a:lnTo>
                  <a:lnTo>
                    <a:pt x="0" y="250"/>
                  </a:lnTo>
                  <a:lnTo>
                    <a:pt x="156" y="250"/>
                  </a:lnTo>
                </a:path>
              </a:pathLst>
            </a:custGeom>
            <a:noFill/>
            <a:ln w="222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523" name="Freeform 69">
              <a:extLst>
                <a:ext uri="{FF2B5EF4-FFF2-40B4-BE49-F238E27FC236}">
                  <a16:creationId xmlns:a16="http://schemas.microsoft.com/office/drawing/2014/main" id="{F96684E1-FF11-9C09-B947-691B9C65D95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3992" y="4117683"/>
              <a:ext cx="227891" cy="379818"/>
            </a:xfrm>
            <a:custGeom>
              <a:avLst/>
              <a:gdLst>
                <a:gd name="T0" fmla="*/ 0 w 150"/>
                <a:gd name="T1" fmla="*/ 0 h 250"/>
                <a:gd name="T2" fmla="*/ 150 w 150"/>
                <a:gd name="T3" fmla="*/ 0 h 250"/>
                <a:gd name="T4" fmla="*/ 150 w 150"/>
                <a:gd name="T5" fmla="*/ 250 h 250"/>
                <a:gd name="T6" fmla="*/ 0 w 150"/>
                <a:gd name="T7" fmla="*/ 250 h 2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50" h="250">
                  <a:moveTo>
                    <a:pt x="0" y="0"/>
                  </a:moveTo>
                  <a:lnTo>
                    <a:pt x="150" y="0"/>
                  </a:lnTo>
                  <a:lnTo>
                    <a:pt x="150" y="250"/>
                  </a:lnTo>
                  <a:lnTo>
                    <a:pt x="0" y="250"/>
                  </a:lnTo>
                </a:path>
              </a:pathLst>
            </a:custGeom>
            <a:noFill/>
            <a:ln w="222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524" name="Rectangle 70">
              <a:extLst>
                <a:ext uri="{FF2B5EF4-FFF2-40B4-BE49-F238E27FC236}">
                  <a16:creationId xmlns:a16="http://schemas.microsoft.com/office/drawing/2014/main" id="{75AFE8DC-2D9F-7C0A-C076-C645C7CA2E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38978" y="4188177"/>
              <a:ext cx="320132" cy="20988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1400" u="none" strike="noStrike" cap="none" normalizeH="0" baseline="0" dirty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  <a:ea typeface="SimHei" panose="02010609060101010101" pitchFamily="49" charset="-122"/>
                </a:rPr>
                <a:t>Reg</a:t>
              </a:r>
              <a:endParaRPr kumimoji="0" lang="zh-CN" altLang="zh-CN" sz="180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endParaRPr>
            </a:p>
          </p:txBody>
        </p:sp>
        <p:sp>
          <p:nvSpPr>
            <p:cNvPr id="525" name="Freeform 71">
              <a:extLst>
                <a:ext uri="{FF2B5EF4-FFF2-40B4-BE49-F238E27FC236}">
                  <a16:creationId xmlns:a16="http://schemas.microsoft.com/office/drawing/2014/main" id="{FDB73B7E-4EE8-1CE1-B135-508F6323233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7483" y="4117683"/>
              <a:ext cx="203582" cy="379818"/>
            </a:xfrm>
            <a:custGeom>
              <a:avLst/>
              <a:gdLst>
                <a:gd name="T0" fmla="*/ 134 w 134"/>
                <a:gd name="T1" fmla="*/ 0 h 250"/>
                <a:gd name="T2" fmla="*/ 0 w 134"/>
                <a:gd name="T3" fmla="*/ 0 h 250"/>
                <a:gd name="T4" fmla="*/ 0 w 134"/>
                <a:gd name="T5" fmla="*/ 250 h 250"/>
                <a:gd name="T6" fmla="*/ 134 w 134"/>
                <a:gd name="T7" fmla="*/ 250 h 2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4" h="250">
                  <a:moveTo>
                    <a:pt x="134" y="0"/>
                  </a:moveTo>
                  <a:lnTo>
                    <a:pt x="0" y="0"/>
                  </a:lnTo>
                  <a:lnTo>
                    <a:pt x="0" y="250"/>
                  </a:lnTo>
                  <a:lnTo>
                    <a:pt x="134" y="250"/>
                  </a:lnTo>
                </a:path>
              </a:pathLst>
            </a:custGeom>
            <a:noFill/>
            <a:ln w="222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526" name="Freeform 72">
              <a:extLst>
                <a:ext uri="{FF2B5EF4-FFF2-40B4-BE49-F238E27FC236}">
                  <a16:creationId xmlns:a16="http://schemas.microsoft.com/office/drawing/2014/main" id="{D68D175A-D09D-3530-6E25-65422E2BC19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1065" y="4117683"/>
              <a:ext cx="195986" cy="379818"/>
            </a:xfrm>
            <a:custGeom>
              <a:avLst/>
              <a:gdLst>
                <a:gd name="T0" fmla="*/ 0 w 129"/>
                <a:gd name="T1" fmla="*/ 0 h 250"/>
                <a:gd name="T2" fmla="*/ 129 w 129"/>
                <a:gd name="T3" fmla="*/ 0 h 250"/>
                <a:gd name="T4" fmla="*/ 129 w 129"/>
                <a:gd name="T5" fmla="*/ 250 h 250"/>
                <a:gd name="T6" fmla="*/ 0 w 129"/>
                <a:gd name="T7" fmla="*/ 250 h 2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9" h="250">
                  <a:moveTo>
                    <a:pt x="0" y="0"/>
                  </a:moveTo>
                  <a:lnTo>
                    <a:pt x="129" y="0"/>
                  </a:lnTo>
                  <a:lnTo>
                    <a:pt x="129" y="250"/>
                  </a:lnTo>
                  <a:lnTo>
                    <a:pt x="0" y="250"/>
                  </a:lnTo>
                </a:path>
              </a:pathLst>
            </a:custGeom>
            <a:noFill/>
            <a:ln w="222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527" name="Line 73">
              <a:extLst>
                <a:ext uri="{FF2B5EF4-FFF2-40B4-BE49-F238E27FC236}">
                  <a16:creationId xmlns:a16="http://schemas.microsoft.com/office/drawing/2014/main" id="{E14385C9-11DB-86FD-9649-6B7AD067793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40998" y="4307592"/>
              <a:ext cx="156485" cy="0"/>
            </a:xfrm>
            <a:prstGeom prst="line">
              <a:avLst/>
            </a:prstGeom>
            <a:noFill/>
            <a:ln w="22225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528" name="Freeform 74">
              <a:extLst>
                <a:ext uri="{FF2B5EF4-FFF2-40B4-BE49-F238E27FC236}">
                  <a16:creationId xmlns:a16="http://schemas.microsoft.com/office/drawing/2014/main" id="{3E560A87-91C7-8BAB-62A3-734B03FD310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2154" y="4181492"/>
              <a:ext cx="63809" cy="124580"/>
            </a:xfrm>
            <a:custGeom>
              <a:avLst/>
              <a:gdLst>
                <a:gd name="T0" fmla="*/ 0 w 42"/>
                <a:gd name="T1" fmla="*/ 82 h 82"/>
                <a:gd name="T2" fmla="*/ 0 w 42"/>
                <a:gd name="T3" fmla="*/ 0 h 82"/>
                <a:gd name="T4" fmla="*/ 42 w 42"/>
                <a:gd name="T5" fmla="*/ 0 h 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2" h="82">
                  <a:moveTo>
                    <a:pt x="0" y="82"/>
                  </a:moveTo>
                  <a:lnTo>
                    <a:pt x="0" y="0"/>
                  </a:lnTo>
                  <a:lnTo>
                    <a:pt x="42" y="0"/>
                  </a:lnTo>
                </a:path>
              </a:pathLst>
            </a:custGeom>
            <a:noFill/>
            <a:ln w="222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529" name="Line 75">
              <a:extLst>
                <a:ext uri="{FF2B5EF4-FFF2-40B4-BE49-F238E27FC236}">
                  <a16:creationId xmlns:a16="http://schemas.microsoft.com/office/drawing/2014/main" id="{5E2F6E8C-AF78-D94C-4C7D-D1DFC2FECFB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06167" y="4181492"/>
              <a:ext cx="212698" cy="0"/>
            </a:xfrm>
            <a:prstGeom prst="line">
              <a:avLst/>
            </a:prstGeom>
            <a:noFill/>
            <a:ln w="22225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530" name="Rectangle 76">
              <a:extLst>
                <a:ext uri="{FF2B5EF4-FFF2-40B4-BE49-F238E27FC236}">
                  <a16:creationId xmlns:a16="http://schemas.microsoft.com/office/drawing/2014/main" id="{2196C0AE-4A36-6636-6E98-81C62AFD7A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43637" y="4198204"/>
              <a:ext cx="271722" cy="20988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1400" u="none" strike="noStrike" cap="none" normalizeH="0" baseline="0" dirty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  <a:ea typeface="SimHei" panose="02010609060101010101" pitchFamily="49" charset="-122"/>
                </a:rPr>
                <a:t>DM</a:t>
              </a:r>
              <a:endParaRPr kumimoji="0" lang="zh-CN" altLang="zh-CN" sz="180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endParaRPr>
            </a:p>
          </p:txBody>
        </p:sp>
        <p:sp>
          <p:nvSpPr>
            <p:cNvPr id="531" name="Freeform 77">
              <a:extLst>
                <a:ext uri="{FF2B5EF4-FFF2-40B4-BE49-F238E27FC236}">
                  <a16:creationId xmlns:a16="http://schemas.microsoft.com/office/drawing/2014/main" id="{2B1925EB-BFA3-F3CE-0B97-DC877246047B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8206" y="4117683"/>
              <a:ext cx="220295" cy="379818"/>
            </a:xfrm>
            <a:custGeom>
              <a:avLst/>
              <a:gdLst>
                <a:gd name="T0" fmla="*/ 145 w 145"/>
                <a:gd name="T1" fmla="*/ 0 h 250"/>
                <a:gd name="T2" fmla="*/ 0 w 145"/>
                <a:gd name="T3" fmla="*/ 0 h 250"/>
                <a:gd name="T4" fmla="*/ 0 w 145"/>
                <a:gd name="T5" fmla="*/ 250 h 250"/>
                <a:gd name="T6" fmla="*/ 145 w 145"/>
                <a:gd name="T7" fmla="*/ 250 h 2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45" h="250">
                  <a:moveTo>
                    <a:pt x="145" y="0"/>
                  </a:moveTo>
                  <a:lnTo>
                    <a:pt x="0" y="0"/>
                  </a:lnTo>
                  <a:lnTo>
                    <a:pt x="0" y="250"/>
                  </a:lnTo>
                  <a:lnTo>
                    <a:pt x="145" y="250"/>
                  </a:lnTo>
                </a:path>
              </a:pathLst>
            </a:custGeom>
            <a:noFill/>
            <a:ln w="222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532" name="Freeform 78">
              <a:extLst>
                <a:ext uri="{FF2B5EF4-FFF2-40B4-BE49-F238E27FC236}">
                  <a16:creationId xmlns:a16="http://schemas.microsoft.com/office/drawing/2014/main" id="{6970BF74-DD03-E8A7-4F7D-9B9FF7D406F6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0904" y="4117683"/>
              <a:ext cx="227891" cy="379818"/>
            </a:xfrm>
            <a:custGeom>
              <a:avLst/>
              <a:gdLst>
                <a:gd name="T0" fmla="*/ 0 w 150"/>
                <a:gd name="T1" fmla="*/ 0 h 250"/>
                <a:gd name="T2" fmla="*/ 150 w 150"/>
                <a:gd name="T3" fmla="*/ 0 h 250"/>
                <a:gd name="T4" fmla="*/ 150 w 150"/>
                <a:gd name="T5" fmla="*/ 250 h 250"/>
                <a:gd name="T6" fmla="*/ 0 w 150"/>
                <a:gd name="T7" fmla="*/ 250 h 2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50" h="250">
                  <a:moveTo>
                    <a:pt x="0" y="0"/>
                  </a:moveTo>
                  <a:lnTo>
                    <a:pt x="150" y="0"/>
                  </a:lnTo>
                  <a:lnTo>
                    <a:pt x="150" y="250"/>
                  </a:lnTo>
                  <a:lnTo>
                    <a:pt x="0" y="250"/>
                  </a:lnTo>
                </a:path>
              </a:pathLst>
            </a:custGeom>
            <a:noFill/>
            <a:ln w="222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533" name="Rectangle 79">
              <a:extLst>
                <a:ext uri="{FF2B5EF4-FFF2-40B4-BE49-F238E27FC236}">
                  <a16:creationId xmlns:a16="http://schemas.microsoft.com/office/drawing/2014/main" id="{D27F93DB-40BA-AE08-21BF-DB21DFFFDB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29202" y="4190912"/>
              <a:ext cx="320132" cy="20988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1400" u="none" strike="noStrike" cap="none" normalizeH="0" baseline="0" dirty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  <a:ea typeface="SimHei" panose="02010609060101010101" pitchFamily="49" charset="-122"/>
                </a:rPr>
                <a:t>Reg</a:t>
              </a:r>
              <a:endParaRPr kumimoji="0" lang="zh-CN" altLang="zh-CN" sz="180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endParaRPr>
            </a:p>
          </p:txBody>
        </p:sp>
        <p:sp>
          <p:nvSpPr>
            <p:cNvPr id="534" name="Freeform 80">
              <a:extLst>
                <a:ext uri="{FF2B5EF4-FFF2-40B4-BE49-F238E27FC236}">
                  <a16:creationId xmlns:a16="http://schemas.microsoft.com/office/drawing/2014/main" id="{5717D9DA-1760-7274-E949-8BE4DC65357E}"/>
                </a:ext>
              </a:extLst>
            </p:cNvPr>
            <p:cNvSpPr>
              <a:spLocks/>
            </p:cNvSpPr>
            <p:nvPr/>
          </p:nvSpPr>
          <p:spPr bwMode="auto">
            <a:xfrm>
              <a:off x="5196300" y="4117683"/>
              <a:ext cx="186871" cy="379818"/>
            </a:xfrm>
            <a:custGeom>
              <a:avLst/>
              <a:gdLst>
                <a:gd name="T0" fmla="*/ 123 w 123"/>
                <a:gd name="T1" fmla="*/ 0 h 250"/>
                <a:gd name="T2" fmla="*/ 0 w 123"/>
                <a:gd name="T3" fmla="*/ 0 h 250"/>
                <a:gd name="T4" fmla="*/ 0 w 123"/>
                <a:gd name="T5" fmla="*/ 250 h 250"/>
                <a:gd name="T6" fmla="*/ 123 w 123"/>
                <a:gd name="T7" fmla="*/ 250 h 2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3" h="250">
                  <a:moveTo>
                    <a:pt x="123" y="0"/>
                  </a:moveTo>
                  <a:lnTo>
                    <a:pt x="0" y="0"/>
                  </a:lnTo>
                  <a:lnTo>
                    <a:pt x="0" y="250"/>
                  </a:lnTo>
                  <a:lnTo>
                    <a:pt x="123" y="250"/>
                  </a:lnTo>
                </a:path>
              </a:pathLst>
            </a:custGeom>
            <a:noFill/>
            <a:ln w="222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535" name="Freeform 81">
              <a:extLst>
                <a:ext uri="{FF2B5EF4-FFF2-40B4-BE49-F238E27FC236}">
                  <a16:creationId xmlns:a16="http://schemas.microsoft.com/office/drawing/2014/main" id="{33EBB52F-19BC-D903-4718-0B6A083F5AAC}"/>
                </a:ext>
              </a:extLst>
            </p:cNvPr>
            <p:cNvSpPr>
              <a:spLocks/>
            </p:cNvSpPr>
            <p:nvPr/>
          </p:nvSpPr>
          <p:spPr bwMode="auto">
            <a:xfrm>
              <a:off x="5383171" y="4117683"/>
              <a:ext cx="195986" cy="379818"/>
            </a:xfrm>
            <a:custGeom>
              <a:avLst/>
              <a:gdLst>
                <a:gd name="T0" fmla="*/ 0 w 129"/>
                <a:gd name="T1" fmla="*/ 0 h 250"/>
                <a:gd name="T2" fmla="*/ 129 w 129"/>
                <a:gd name="T3" fmla="*/ 0 h 250"/>
                <a:gd name="T4" fmla="*/ 129 w 129"/>
                <a:gd name="T5" fmla="*/ 250 h 250"/>
                <a:gd name="T6" fmla="*/ 0 w 129"/>
                <a:gd name="T7" fmla="*/ 250 h 2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9" h="250">
                  <a:moveTo>
                    <a:pt x="0" y="0"/>
                  </a:moveTo>
                  <a:lnTo>
                    <a:pt x="129" y="0"/>
                  </a:lnTo>
                  <a:lnTo>
                    <a:pt x="129" y="250"/>
                  </a:lnTo>
                  <a:lnTo>
                    <a:pt x="0" y="250"/>
                  </a:lnTo>
                </a:path>
              </a:pathLst>
            </a:custGeom>
            <a:noFill/>
            <a:ln w="222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536" name="Line 82">
              <a:extLst>
                <a:ext uri="{FF2B5EF4-FFF2-40B4-BE49-F238E27FC236}">
                  <a16:creationId xmlns:a16="http://schemas.microsoft.com/office/drawing/2014/main" id="{2B3D411B-31ED-7692-322B-6DC136161C1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991199" y="4307592"/>
              <a:ext cx="188390" cy="0"/>
            </a:xfrm>
            <a:prstGeom prst="line">
              <a:avLst/>
            </a:prstGeom>
            <a:noFill/>
            <a:ln w="22225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537" name="Line 83">
              <a:extLst>
                <a:ext uri="{FF2B5EF4-FFF2-40B4-BE49-F238E27FC236}">
                  <a16:creationId xmlns:a16="http://schemas.microsoft.com/office/drawing/2014/main" id="{A22178EA-830E-E420-2865-9862CBEBF9C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28796" y="4307592"/>
              <a:ext cx="212698" cy="0"/>
            </a:xfrm>
            <a:prstGeom prst="line">
              <a:avLst/>
            </a:prstGeom>
            <a:noFill/>
            <a:ln w="22225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538" name="Line 84">
              <a:extLst>
                <a:ext uri="{FF2B5EF4-FFF2-40B4-BE49-F238E27FC236}">
                  <a16:creationId xmlns:a16="http://schemas.microsoft.com/office/drawing/2014/main" id="{1C4FC8C9-6BED-35D9-E020-73401BC6C25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06167" y="4435211"/>
              <a:ext cx="212698" cy="0"/>
            </a:xfrm>
            <a:prstGeom prst="line">
              <a:avLst/>
            </a:prstGeom>
            <a:noFill/>
            <a:ln w="22225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539" name="Line 85">
              <a:extLst>
                <a:ext uri="{FF2B5EF4-FFF2-40B4-BE49-F238E27FC236}">
                  <a16:creationId xmlns:a16="http://schemas.microsoft.com/office/drawing/2014/main" id="{2F3F33C9-E1E5-B4E9-3CA6-E5334A28886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920112" y="4435211"/>
              <a:ext cx="0" cy="253719"/>
            </a:xfrm>
            <a:prstGeom prst="line">
              <a:avLst/>
            </a:prstGeom>
            <a:noFill/>
            <a:ln w="254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540" name="Line 86">
              <a:extLst>
                <a:ext uri="{FF2B5EF4-FFF2-40B4-BE49-F238E27FC236}">
                  <a16:creationId xmlns:a16="http://schemas.microsoft.com/office/drawing/2014/main" id="{78B0B74B-2084-C374-02AA-AF57995B892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920112" y="4688929"/>
              <a:ext cx="458820" cy="0"/>
            </a:xfrm>
            <a:prstGeom prst="line">
              <a:avLst/>
            </a:prstGeom>
            <a:noFill/>
            <a:ln w="254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541" name="Line 87">
              <a:extLst>
                <a:ext uri="{FF2B5EF4-FFF2-40B4-BE49-F238E27FC236}">
                  <a16:creationId xmlns:a16="http://schemas.microsoft.com/office/drawing/2014/main" id="{C15173DE-F4CA-D323-DB65-2BE4EFAFF76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78932" y="4307592"/>
              <a:ext cx="0" cy="381338"/>
            </a:xfrm>
            <a:prstGeom prst="line">
              <a:avLst/>
            </a:prstGeom>
            <a:noFill/>
            <a:ln w="254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542" name="Line 88">
              <a:extLst>
                <a:ext uri="{FF2B5EF4-FFF2-40B4-BE49-F238E27FC236}">
                  <a16:creationId xmlns:a16="http://schemas.microsoft.com/office/drawing/2014/main" id="{43092D0D-517A-B940-6B01-05491568E23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492878" y="4307592"/>
              <a:ext cx="0" cy="317528"/>
            </a:xfrm>
            <a:prstGeom prst="line">
              <a:avLst/>
            </a:prstGeom>
            <a:noFill/>
            <a:ln w="254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543" name="Line 89">
              <a:extLst>
                <a:ext uri="{FF2B5EF4-FFF2-40B4-BE49-F238E27FC236}">
                  <a16:creationId xmlns:a16="http://schemas.microsoft.com/office/drawing/2014/main" id="{DC873DEE-06A6-5187-F1FA-4967E5B2EA4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492878" y="4625119"/>
              <a:ext cx="587958" cy="0"/>
            </a:xfrm>
            <a:prstGeom prst="line">
              <a:avLst/>
            </a:prstGeom>
            <a:noFill/>
            <a:ln w="254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544" name="Line 90">
              <a:extLst>
                <a:ext uri="{FF2B5EF4-FFF2-40B4-BE49-F238E27FC236}">
                  <a16:creationId xmlns:a16="http://schemas.microsoft.com/office/drawing/2014/main" id="{18BA866E-42CF-937F-E63B-04A4BC166FB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080835" y="4307592"/>
              <a:ext cx="0" cy="317528"/>
            </a:xfrm>
            <a:prstGeom prst="line">
              <a:avLst/>
            </a:prstGeom>
            <a:noFill/>
            <a:ln w="254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545" name="Freeform 91">
              <a:extLst>
                <a:ext uri="{FF2B5EF4-FFF2-40B4-BE49-F238E27FC236}">
                  <a16:creationId xmlns:a16="http://schemas.microsoft.com/office/drawing/2014/main" id="{F0C61FA3-E86F-6370-97C9-7A7DE62033B7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3535" y="4688929"/>
              <a:ext cx="285623" cy="632017"/>
            </a:xfrm>
            <a:custGeom>
              <a:avLst/>
              <a:gdLst>
                <a:gd name="T0" fmla="*/ 0 w 188"/>
                <a:gd name="T1" fmla="*/ 277 h 416"/>
                <a:gd name="T2" fmla="*/ 63 w 188"/>
                <a:gd name="T3" fmla="*/ 208 h 416"/>
                <a:gd name="T4" fmla="*/ 0 w 188"/>
                <a:gd name="T5" fmla="*/ 139 h 416"/>
                <a:gd name="T6" fmla="*/ 0 w 188"/>
                <a:gd name="T7" fmla="*/ 0 h 416"/>
                <a:gd name="T8" fmla="*/ 188 w 188"/>
                <a:gd name="T9" fmla="*/ 139 h 416"/>
                <a:gd name="T10" fmla="*/ 188 w 188"/>
                <a:gd name="T11" fmla="*/ 277 h 416"/>
                <a:gd name="T12" fmla="*/ 0 w 188"/>
                <a:gd name="T13" fmla="*/ 416 h 416"/>
                <a:gd name="T14" fmla="*/ 0 w 188"/>
                <a:gd name="T15" fmla="*/ 277 h 4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88" h="416">
                  <a:moveTo>
                    <a:pt x="0" y="277"/>
                  </a:moveTo>
                  <a:lnTo>
                    <a:pt x="63" y="208"/>
                  </a:lnTo>
                  <a:lnTo>
                    <a:pt x="0" y="139"/>
                  </a:lnTo>
                  <a:lnTo>
                    <a:pt x="0" y="0"/>
                  </a:lnTo>
                  <a:lnTo>
                    <a:pt x="188" y="139"/>
                  </a:lnTo>
                  <a:lnTo>
                    <a:pt x="188" y="277"/>
                  </a:lnTo>
                  <a:lnTo>
                    <a:pt x="0" y="416"/>
                  </a:lnTo>
                  <a:lnTo>
                    <a:pt x="0" y="277"/>
                  </a:lnTo>
                </a:path>
              </a:pathLst>
            </a:custGeom>
            <a:noFill/>
            <a:ln w="222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546" name="Rectangle 92">
              <a:extLst>
                <a:ext uri="{FF2B5EF4-FFF2-40B4-BE49-F238E27FC236}">
                  <a16:creationId xmlns:a16="http://schemas.microsoft.com/office/drawing/2014/main" id="{4473829B-D9FE-43CA-CDC9-1BFE9F09216F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4486027" y="4899998"/>
              <a:ext cx="635054" cy="20988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1400" u="none" strike="noStrike" cap="none" normalizeH="0" baseline="0" dirty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  <a:ea typeface="SimHei" panose="02010609060101010101" pitchFamily="49" charset="-122"/>
                </a:rPr>
                <a:t>ALU</a:t>
              </a:r>
              <a:endParaRPr kumimoji="0" lang="zh-CN" altLang="zh-CN" sz="140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endParaRPr>
            </a:p>
          </p:txBody>
        </p:sp>
        <p:sp>
          <p:nvSpPr>
            <p:cNvPr id="547" name="Rectangle 93">
              <a:extLst>
                <a:ext uri="{FF2B5EF4-FFF2-40B4-BE49-F238E27FC236}">
                  <a16:creationId xmlns:a16="http://schemas.microsoft.com/office/drawing/2014/main" id="{8B3A2492-315F-7506-1814-8F9AB06C314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92285" y="4895549"/>
              <a:ext cx="193640" cy="20988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1400" u="none" strike="noStrike" cap="none" normalizeH="0" baseline="0" dirty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  <a:ea typeface="SimHei" panose="02010609060101010101" pitchFamily="49" charset="-122"/>
                </a:rPr>
                <a:t>IM</a:t>
              </a:r>
              <a:endParaRPr kumimoji="0" lang="zh-CN" altLang="zh-CN" sz="180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endParaRPr>
            </a:p>
          </p:txBody>
        </p:sp>
        <p:sp>
          <p:nvSpPr>
            <p:cNvPr id="548" name="Freeform 94">
              <a:extLst>
                <a:ext uri="{FF2B5EF4-FFF2-40B4-BE49-F238E27FC236}">
                  <a16:creationId xmlns:a16="http://schemas.microsoft.com/office/drawing/2014/main" id="{4B9F6E5A-36F6-F8AA-9659-002CF8FE98E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8683" y="4815029"/>
              <a:ext cx="233268" cy="379818"/>
            </a:xfrm>
            <a:custGeom>
              <a:avLst/>
              <a:gdLst>
                <a:gd name="T0" fmla="*/ 150 w 150"/>
                <a:gd name="T1" fmla="*/ 0 h 250"/>
                <a:gd name="T2" fmla="*/ 0 w 150"/>
                <a:gd name="T3" fmla="*/ 0 h 250"/>
                <a:gd name="T4" fmla="*/ 0 w 150"/>
                <a:gd name="T5" fmla="*/ 250 h 250"/>
                <a:gd name="T6" fmla="*/ 150 w 150"/>
                <a:gd name="T7" fmla="*/ 250 h 2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50" h="250">
                  <a:moveTo>
                    <a:pt x="150" y="0"/>
                  </a:moveTo>
                  <a:lnTo>
                    <a:pt x="0" y="0"/>
                  </a:lnTo>
                  <a:lnTo>
                    <a:pt x="0" y="250"/>
                  </a:lnTo>
                  <a:lnTo>
                    <a:pt x="150" y="250"/>
                  </a:lnTo>
                </a:path>
              </a:pathLst>
            </a:custGeom>
            <a:noFill/>
            <a:ln w="222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549" name="Freeform 95">
              <a:extLst>
                <a:ext uri="{FF2B5EF4-FFF2-40B4-BE49-F238E27FC236}">
                  <a16:creationId xmlns:a16="http://schemas.microsoft.com/office/drawing/2014/main" id="{2628FDAC-2400-9761-FAA3-FA4E1EDF150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3469" y="4815029"/>
              <a:ext cx="227891" cy="379818"/>
            </a:xfrm>
            <a:custGeom>
              <a:avLst/>
              <a:gdLst>
                <a:gd name="T0" fmla="*/ 0 w 150"/>
                <a:gd name="T1" fmla="*/ 0 h 250"/>
                <a:gd name="T2" fmla="*/ 150 w 150"/>
                <a:gd name="T3" fmla="*/ 0 h 250"/>
                <a:gd name="T4" fmla="*/ 150 w 150"/>
                <a:gd name="T5" fmla="*/ 250 h 250"/>
                <a:gd name="T6" fmla="*/ 0 w 150"/>
                <a:gd name="T7" fmla="*/ 250 h 2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50" h="250">
                  <a:moveTo>
                    <a:pt x="0" y="0"/>
                  </a:moveTo>
                  <a:lnTo>
                    <a:pt x="150" y="0"/>
                  </a:lnTo>
                  <a:lnTo>
                    <a:pt x="150" y="250"/>
                  </a:lnTo>
                  <a:lnTo>
                    <a:pt x="0" y="250"/>
                  </a:lnTo>
                </a:path>
              </a:pathLst>
            </a:custGeom>
            <a:noFill/>
            <a:ln w="222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550" name="Rectangle 96">
              <a:extLst>
                <a:ext uri="{FF2B5EF4-FFF2-40B4-BE49-F238E27FC236}">
                  <a16:creationId xmlns:a16="http://schemas.microsoft.com/office/drawing/2014/main" id="{F6360D2A-3531-7BF3-3FDD-FD710BF2B9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28455" y="4888561"/>
              <a:ext cx="320132" cy="20988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1400" u="none" strike="noStrike" cap="none" normalizeH="0" baseline="0" dirty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  <a:ea typeface="SimHei" panose="02010609060101010101" pitchFamily="49" charset="-122"/>
                </a:rPr>
                <a:t>Reg</a:t>
              </a:r>
              <a:endParaRPr kumimoji="0" lang="zh-CN" altLang="zh-CN" sz="180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endParaRPr>
            </a:p>
          </p:txBody>
        </p:sp>
        <p:sp>
          <p:nvSpPr>
            <p:cNvPr id="551" name="Freeform 97">
              <a:extLst>
                <a:ext uri="{FF2B5EF4-FFF2-40B4-BE49-F238E27FC236}">
                  <a16:creationId xmlns:a16="http://schemas.microsoft.com/office/drawing/2014/main" id="{F5B09EAE-B774-D28D-0F2B-BD744166C618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5441" y="4815029"/>
              <a:ext cx="203582" cy="379818"/>
            </a:xfrm>
            <a:custGeom>
              <a:avLst/>
              <a:gdLst>
                <a:gd name="T0" fmla="*/ 134 w 134"/>
                <a:gd name="T1" fmla="*/ 0 h 250"/>
                <a:gd name="T2" fmla="*/ 0 w 134"/>
                <a:gd name="T3" fmla="*/ 0 h 250"/>
                <a:gd name="T4" fmla="*/ 0 w 134"/>
                <a:gd name="T5" fmla="*/ 250 h 250"/>
                <a:gd name="T6" fmla="*/ 134 w 134"/>
                <a:gd name="T7" fmla="*/ 250 h 2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4" h="250">
                  <a:moveTo>
                    <a:pt x="134" y="0"/>
                  </a:moveTo>
                  <a:lnTo>
                    <a:pt x="0" y="0"/>
                  </a:lnTo>
                  <a:lnTo>
                    <a:pt x="0" y="250"/>
                  </a:lnTo>
                  <a:lnTo>
                    <a:pt x="134" y="250"/>
                  </a:lnTo>
                </a:path>
              </a:pathLst>
            </a:custGeom>
            <a:noFill/>
            <a:ln w="222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552" name="Freeform 98">
              <a:extLst>
                <a:ext uri="{FF2B5EF4-FFF2-40B4-BE49-F238E27FC236}">
                  <a16:creationId xmlns:a16="http://schemas.microsoft.com/office/drawing/2014/main" id="{9035E03F-6CEE-5F29-5DBC-B4D9FBE180A6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0542" y="4815029"/>
              <a:ext cx="203582" cy="379818"/>
            </a:xfrm>
            <a:custGeom>
              <a:avLst/>
              <a:gdLst>
                <a:gd name="T0" fmla="*/ 0 w 134"/>
                <a:gd name="T1" fmla="*/ 0 h 250"/>
                <a:gd name="T2" fmla="*/ 134 w 134"/>
                <a:gd name="T3" fmla="*/ 0 h 250"/>
                <a:gd name="T4" fmla="*/ 134 w 134"/>
                <a:gd name="T5" fmla="*/ 250 h 250"/>
                <a:gd name="T6" fmla="*/ 0 w 134"/>
                <a:gd name="T7" fmla="*/ 250 h 2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4" h="250">
                  <a:moveTo>
                    <a:pt x="0" y="0"/>
                  </a:moveTo>
                  <a:lnTo>
                    <a:pt x="134" y="0"/>
                  </a:lnTo>
                  <a:lnTo>
                    <a:pt x="134" y="250"/>
                  </a:lnTo>
                  <a:lnTo>
                    <a:pt x="0" y="250"/>
                  </a:lnTo>
                </a:path>
              </a:pathLst>
            </a:custGeom>
            <a:noFill/>
            <a:ln w="222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553" name="Line 99">
              <a:extLst>
                <a:ext uri="{FF2B5EF4-FFF2-40B4-BE49-F238E27FC236}">
                  <a16:creationId xmlns:a16="http://schemas.microsoft.com/office/drawing/2014/main" id="{672895E0-0541-8677-D258-F78E80A354C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30475" y="5004937"/>
              <a:ext cx="154966" cy="0"/>
            </a:xfrm>
            <a:prstGeom prst="line">
              <a:avLst/>
            </a:prstGeom>
            <a:noFill/>
            <a:ln w="22225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554" name="Freeform 100">
              <a:extLst>
                <a:ext uri="{FF2B5EF4-FFF2-40B4-BE49-F238E27FC236}">
                  <a16:creationId xmlns:a16="http://schemas.microsoft.com/office/drawing/2014/main" id="{C4FC5EC8-E4B9-D175-A126-1A45DF37B7F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0112" y="4878838"/>
              <a:ext cx="65329" cy="126100"/>
            </a:xfrm>
            <a:custGeom>
              <a:avLst/>
              <a:gdLst>
                <a:gd name="T0" fmla="*/ 0 w 43"/>
                <a:gd name="T1" fmla="*/ 83 h 83"/>
                <a:gd name="T2" fmla="*/ 0 w 43"/>
                <a:gd name="T3" fmla="*/ 0 h 83"/>
                <a:gd name="T4" fmla="*/ 43 w 43"/>
                <a:gd name="T5" fmla="*/ 0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3" h="83">
                  <a:moveTo>
                    <a:pt x="0" y="83"/>
                  </a:moveTo>
                  <a:lnTo>
                    <a:pt x="0" y="0"/>
                  </a:lnTo>
                  <a:lnTo>
                    <a:pt x="43" y="0"/>
                  </a:lnTo>
                </a:path>
              </a:pathLst>
            </a:custGeom>
            <a:noFill/>
            <a:ln w="222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555" name="Line 101">
              <a:extLst>
                <a:ext uri="{FF2B5EF4-FFF2-40B4-BE49-F238E27FC236}">
                  <a16:creationId xmlns:a16="http://schemas.microsoft.com/office/drawing/2014/main" id="{9E60F9FC-CF77-A5AE-DA5F-C572370157D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94125" y="4878838"/>
              <a:ext cx="221814" cy="0"/>
            </a:xfrm>
            <a:prstGeom prst="line">
              <a:avLst/>
            </a:prstGeom>
            <a:noFill/>
            <a:ln w="22225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556" name="Rectangle 102">
              <a:extLst>
                <a:ext uri="{FF2B5EF4-FFF2-40B4-BE49-F238E27FC236}">
                  <a16:creationId xmlns:a16="http://schemas.microsoft.com/office/drawing/2014/main" id="{2FD75786-4611-6D9B-A6C1-E62DE1CE96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33114" y="4895549"/>
              <a:ext cx="271722" cy="20988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1400" u="none" strike="noStrike" cap="none" normalizeH="0" baseline="0" dirty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  <a:ea typeface="SimHei" panose="02010609060101010101" pitchFamily="49" charset="-122"/>
                </a:rPr>
                <a:t>DM</a:t>
              </a:r>
              <a:endParaRPr kumimoji="0" lang="zh-CN" altLang="zh-CN" sz="180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endParaRPr>
            </a:p>
          </p:txBody>
        </p:sp>
        <p:sp>
          <p:nvSpPr>
            <p:cNvPr id="557" name="Freeform 103">
              <a:extLst>
                <a:ext uri="{FF2B5EF4-FFF2-40B4-BE49-F238E27FC236}">
                  <a16:creationId xmlns:a16="http://schemas.microsoft.com/office/drawing/2014/main" id="{CA2EB362-3E39-003B-3881-903FFAA4CF75}"/>
                </a:ext>
              </a:extLst>
            </p:cNvPr>
            <p:cNvSpPr>
              <a:spLocks/>
            </p:cNvSpPr>
            <p:nvPr/>
          </p:nvSpPr>
          <p:spPr bwMode="auto">
            <a:xfrm>
              <a:off x="5146164" y="4815029"/>
              <a:ext cx="220295" cy="379818"/>
            </a:xfrm>
            <a:custGeom>
              <a:avLst/>
              <a:gdLst>
                <a:gd name="T0" fmla="*/ 145 w 145"/>
                <a:gd name="T1" fmla="*/ 0 h 250"/>
                <a:gd name="T2" fmla="*/ 0 w 145"/>
                <a:gd name="T3" fmla="*/ 0 h 250"/>
                <a:gd name="T4" fmla="*/ 0 w 145"/>
                <a:gd name="T5" fmla="*/ 250 h 250"/>
                <a:gd name="T6" fmla="*/ 145 w 145"/>
                <a:gd name="T7" fmla="*/ 250 h 2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45" h="250">
                  <a:moveTo>
                    <a:pt x="145" y="0"/>
                  </a:moveTo>
                  <a:lnTo>
                    <a:pt x="0" y="0"/>
                  </a:lnTo>
                  <a:lnTo>
                    <a:pt x="0" y="250"/>
                  </a:lnTo>
                  <a:lnTo>
                    <a:pt x="145" y="250"/>
                  </a:lnTo>
                </a:path>
              </a:pathLst>
            </a:custGeom>
            <a:noFill/>
            <a:ln w="222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558" name="Freeform 104">
              <a:extLst>
                <a:ext uri="{FF2B5EF4-FFF2-40B4-BE49-F238E27FC236}">
                  <a16:creationId xmlns:a16="http://schemas.microsoft.com/office/drawing/2014/main" id="{E1991FB3-BA8B-720F-ADC6-9428E94B5B2F}"/>
                </a:ext>
              </a:extLst>
            </p:cNvPr>
            <p:cNvSpPr>
              <a:spLocks/>
            </p:cNvSpPr>
            <p:nvPr/>
          </p:nvSpPr>
          <p:spPr bwMode="auto">
            <a:xfrm>
              <a:off x="5367978" y="4815029"/>
              <a:ext cx="218775" cy="379818"/>
            </a:xfrm>
            <a:custGeom>
              <a:avLst/>
              <a:gdLst>
                <a:gd name="T0" fmla="*/ 0 w 144"/>
                <a:gd name="T1" fmla="*/ 0 h 250"/>
                <a:gd name="T2" fmla="*/ 144 w 144"/>
                <a:gd name="T3" fmla="*/ 0 h 250"/>
                <a:gd name="T4" fmla="*/ 144 w 144"/>
                <a:gd name="T5" fmla="*/ 250 h 250"/>
                <a:gd name="T6" fmla="*/ 0 w 144"/>
                <a:gd name="T7" fmla="*/ 250 h 2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44" h="250">
                  <a:moveTo>
                    <a:pt x="0" y="0"/>
                  </a:moveTo>
                  <a:lnTo>
                    <a:pt x="144" y="0"/>
                  </a:lnTo>
                  <a:lnTo>
                    <a:pt x="144" y="250"/>
                  </a:lnTo>
                  <a:lnTo>
                    <a:pt x="0" y="250"/>
                  </a:lnTo>
                </a:path>
              </a:pathLst>
            </a:custGeom>
            <a:noFill/>
            <a:ln w="222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559" name="Rectangle 105">
              <a:extLst>
                <a:ext uri="{FF2B5EF4-FFF2-40B4-BE49-F238E27FC236}">
                  <a16:creationId xmlns:a16="http://schemas.microsoft.com/office/drawing/2014/main" id="{F398583E-D89C-8B96-0AA4-9F49241A9B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817160" y="4888257"/>
              <a:ext cx="320132" cy="20988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1400" u="none" strike="noStrike" cap="none" normalizeH="0" baseline="0" dirty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  <a:ea typeface="SimHei" panose="02010609060101010101" pitchFamily="49" charset="-122"/>
                </a:rPr>
                <a:t>Reg</a:t>
              </a:r>
              <a:endParaRPr kumimoji="0" lang="zh-CN" altLang="zh-CN" sz="180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endParaRPr>
            </a:p>
          </p:txBody>
        </p:sp>
        <p:sp>
          <p:nvSpPr>
            <p:cNvPr id="560" name="Freeform 106">
              <a:extLst>
                <a:ext uri="{FF2B5EF4-FFF2-40B4-BE49-F238E27FC236}">
                  <a16:creationId xmlns:a16="http://schemas.microsoft.com/office/drawing/2014/main" id="{63D5648A-A422-7FFD-FA10-88BA0052DDDD}"/>
                </a:ext>
              </a:extLst>
            </p:cNvPr>
            <p:cNvSpPr>
              <a:spLocks/>
            </p:cNvSpPr>
            <p:nvPr/>
          </p:nvSpPr>
          <p:spPr bwMode="auto">
            <a:xfrm>
              <a:off x="5784258" y="4815029"/>
              <a:ext cx="186871" cy="379818"/>
            </a:xfrm>
            <a:custGeom>
              <a:avLst/>
              <a:gdLst>
                <a:gd name="T0" fmla="*/ 123 w 123"/>
                <a:gd name="T1" fmla="*/ 0 h 250"/>
                <a:gd name="T2" fmla="*/ 0 w 123"/>
                <a:gd name="T3" fmla="*/ 0 h 250"/>
                <a:gd name="T4" fmla="*/ 0 w 123"/>
                <a:gd name="T5" fmla="*/ 250 h 250"/>
                <a:gd name="T6" fmla="*/ 123 w 123"/>
                <a:gd name="T7" fmla="*/ 250 h 2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3" h="250">
                  <a:moveTo>
                    <a:pt x="123" y="0"/>
                  </a:moveTo>
                  <a:lnTo>
                    <a:pt x="0" y="0"/>
                  </a:lnTo>
                  <a:lnTo>
                    <a:pt x="0" y="250"/>
                  </a:lnTo>
                  <a:lnTo>
                    <a:pt x="123" y="250"/>
                  </a:lnTo>
                </a:path>
              </a:pathLst>
            </a:custGeom>
            <a:noFill/>
            <a:ln w="222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561" name="Freeform 107">
              <a:extLst>
                <a:ext uri="{FF2B5EF4-FFF2-40B4-BE49-F238E27FC236}">
                  <a16:creationId xmlns:a16="http://schemas.microsoft.com/office/drawing/2014/main" id="{519896B5-8512-C82A-A5CB-498411C799D4}"/>
                </a:ext>
              </a:extLst>
            </p:cNvPr>
            <p:cNvSpPr>
              <a:spLocks/>
            </p:cNvSpPr>
            <p:nvPr/>
          </p:nvSpPr>
          <p:spPr bwMode="auto">
            <a:xfrm>
              <a:off x="5972648" y="4815029"/>
              <a:ext cx="194467" cy="379818"/>
            </a:xfrm>
            <a:custGeom>
              <a:avLst/>
              <a:gdLst>
                <a:gd name="T0" fmla="*/ 0 w 128"/>
                <a:gd name="T1" fmla="*/ 0 h 250"/>
                <a:gd name="T2" fmla="*/ 128 w 128"/>
                <a:gd name="T3" fmla="*/ 0 h 250"/>
                <a:gd name="T4" fmla="*/ 128 w 128"/>
                <a:gd name="T5" fmla="*/ 250 h 250"/>
                <a:gd name="T6" fmla="*/ 0 w 128"/>
                <a:gd name="T7" fmla="*/ 250 h 2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8" h="250">
                  <a:moveTo>
                    <a:pt x="0" y="0"/>
                  </a:moveTo>
                  <a:lnTo>
                    <a:pt x="128" y="0"/>
                  </a:lnTo>
                  <a:lnTo>
                    <a:pt x="128" y="250"/>
                  </a:lnTo>
                  <a:lnTo>
                    <a:pt x="0" y="250"/>
                  </a:lnTo>
                </a:path>
              </a:pathLst>
            </a:custGeom>
            <a:noFill/>
            <a:ln w="222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562" name="Line 108">
              <a:extLst>
                <a:ext uri="{FF2B5EF4-FFF2-40B4-BE49-F238E27FC236}">
                  <a16:creationId xmlns:a16="http://schemas.microsoft.com/office/drawing/2014/main" id="{08964FA2-0974-19CF-162D-24EE83DD4A3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580676" y="5004937"/>
              <a:ext cx="186871" cy="0"/>
            </a:xfrm>
            <a:prstGeom prst="line">
              <a:avLst/>
            </a:prstGeom>
            <a:noFill/>
            <a:ln w="22225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563" name="Line 109">
              <a:extLst>
                <a:ext uri="{FF2B5EF4-FFF2-40B4-BE49-F238E27FC236}">
                  <a16:creationId xmlns:a16="http://schemas.microsoft.com/office/drawing/2014/main" id="{C228ACC7-FF21-A10B-923F-FAD8F941B0A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925870" y="5004937"/>
              <a:ext cx="205102" cy="0"/>
            </a:xfrm>
            <a:prstGeom prst="line">
              <a:avLst/>
            </a:prstGeom>
            <a:noFill/>
            <a:ln w="22225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564" name="Line 110">
              <a:extLst>
                <a:ext uri="{FF2B5EF4-FFF2-40B4-BE49-F238E27FC236}">
                  <a16:creationId xmlns:a16="http://schemas.microsoft.com/office/drawing/2014/main" id="{504EFBE3-0F8C-8F7C-D7BE-074BD2D1C95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94125" y="5132556"/>
              <a:ext cx="221814" cy="0"/>
            </a:xfrm>
            <a:prstGeom prst="line">
              <a:avLst/>
            </a:prstGeom>
            <a:noFill/>
            <a:ln w="22225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565" name="Line 111">
              <a:extLst>
                <a:ext uri="{FF2B5EF4-FFF2-40B4-BE49-F238E27FC236}">
                  <a16:creationId xmlns:a16="http://schemas.microsoft.com/office/drawing/2014/main" id="{D5A8EF59-C7A5-C761-410C-91C1D151CC1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509589" y="5132556"/>
              <a:ext cx="0" cy="253719"/>
            </a:xfrm>
            <a:prstGeom prst="line">
              <a:avLst/>
            </a:prstGeom>
            <a:noFill/>
            <a:ln w="254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566" name="Line 112">
              <a:extLst>
                <a:ext uri="{FF2B5EF4-FFF2-40B4-BE49-F238E27FC236}">
                  <a16:creationId xmlns:a16="http://schemas.microsoft.com/office/drawing/2014/main" id="{E40E82B0-2B52-A9DB-C72B-BA2838DD9AA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509589" y="5386275"/>
              <a:ext cx="457301" cy="0"/>
            </a:xfrm>
            <a:prstGeom prst="line">
              <a:avLst/>
            </a:prstGeom>
            <a:noFill/>
            <a:ln w="254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567" name="Line 113">
              <a:extLst>
                <a:ext uri="{FF2B5EF4-FFF2-40B4-BE49-F238E27FC236}">
                  <a16:creationId xmlns:a16="http://schemas.microsoft.com/office/drawing/2014/main" id="{48D69902-D7AF-4AB4-E595-0BDE3910B67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966890" y="5004937"/>
              <a:ext cx="0" cy="381338"/>
            </a:xfrm>
            <a:prstGeom prst="line">
              <a:avLst/>
            </a:prstGeom>
            <a:noFill/>
            <a:ln w="254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568" name="Line 114">
              <a:extLst>
                <a:ext uri="{FF2B5EF4-FFF2-40B4-BE49-F238E27FC236}">
                  <a16:creationId xmlns:a16="http://schemas.microsoft.com/office/drawing/2014/main" id="{35AAF669-71F8-AFAD-10BA-6B7C20299CE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080835" y="5004937"/>
              <a:ext cx="0" cy="317528"/>
            </a:xfrm>
            <a:prstGeom prst="line">
              <a:avLst/>
            </a:prstGeom>
            <a:noFill/>
            <a:ln w="254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569" name="Line 115">
              <a:extLst>
                <a:ext uri="{FF2B5EF4-FFF2-40B4-BE49-F238E27FC236}">
                  <a16:creationId xmlns:a16="http://schemas.microsoft.com/office/drawing/2014/main" id="{F268E55B-95E2-855D-0E29-3EE9CEA0047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080835" y="5322465"/>
              <a:ext cx="589477" cy="0"/>
            </a:xfrm>
            <a:prstGeom prst="line">
              <a:avLst/>
            </a:prstGeom>
            <a:noFill/>
            <a:ln w="254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570" name="Line 116">
              <a:extLst>
                <a:ext uri="{FF2B5EF4-FFF2-40B4-BE49-F238E27FC236}">
                  <a16:creationId xmlns:a16="http://schemas.microsoft.com/office/drawing/2014/main" id="{6D406C05-446B-9A41-4926-41E0AA7B449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670313" y="5004937"/>
              <a:ext cx="0" cy="317528"/>
            </a:xfrm>
            <a:prstGeom prst="line">
              <a:avLst/>
            </a:prstGeom>
            <a:noFill/>
            <a:ln w="254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571" name="Freeform 117">
              <a:extLst>
                <a:ext uri="{FF2B5EF4-FFF2-40B4-BE49-F238E27FC236}">
                  <a16:creationId xmlns:a16="http://schemas.microsoft.com/office/drawing/2014/main" id="{3085076D-5022-59AD-DF20-53AA00BABCAA}"/>
                </a:ext>
              </a:extLst>
            </p:cNvPr>
            <p:cNvSpPr>
              <a:spLocks/>
            </p:cNvSpPr>
            <p:nvPr/>
          </p:nvSpPr>
          <p:spPr bwMode="auto">
            <a:xfrm>
              <a:off x="5211493" y="5386275"/>
              <a:ext cx="285623" cy="633537"/>
            </a:xfrm>
            <a:custGeom>
              <a:avLst/>
              <a:gdLst>
                <a:gd name="T0" fmla="*/ 0 w 188"/>
                <a:gd name="T1" fmla="*/ 278 h 417"/>
                <a:gd name="T2" fmla="*/ 63 w 188"/>
                <a:gd name="T3" fmla="*/ 208 h 417"/>
                <a:gd name="T4" fmla="*/ 0 w 188"/>
                <a:gd name="T5" fmla="*/ 139 h 417"/>
                <a:gd name="T6" fmla="*/ 0 w 188"/>
                <a:gd name="T7" fmla="*/ 0 h 417"/>
                <a:gd name="T8" fmla="*/ 188 w 188"/>
                <a:gd name="T9" fmla="*/ 139 h 417"/>
                <a:gd name="T10" fmla="*/ 188 w 188"/>
                <a:gd name="T11" fmla="*/ 278 h 417"/>
                <a:gd name="T12" fmla="*/ 0 w 188"/>
                <a:gd name="T13" fmla="*/ 417 h 417"/>
                <a:gd name="T14" fmla="*/ 0 w 188"/>
                <a:gd name="T15" fmla="*/ 278 h 4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88" h="417">
                  <a:moveTo>
                    <a:pt x="0" y="278"/>
                  </a:moveTo>
                  <a:lnTo>
                    <a:pt x="63" y="208"/>
                  </a:lnTo>
                  <a:lnTo>
                    <a:pt x="0" y="139"/>
                  </a:lnTo>
                  <a:lnTo>
                    <a:pt x="0" y="0"/>
                  </a:lnTo>
                  <a:lnTo>
                    <a:pt x="188" y="139"/>
                  </a:lnTo>
                  <a:lnTo>
                    <a:pt x="188" y="278"/>
                  </a:lnTo>
                  <a:lnTo>
                    <a:pt x="0" y="417"/>
                  </a:lnTo>
                  <a:lnTo>
                    <a:pt x="0" y="278"/>
                  </a:lnTo>
                </a:path>
              </a:pathLst>
            </a:custGeom>
            <a:noFill/>
            <a:ln w="222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572" name="Rectangle 118">
              <a:extLst>
                <a:ext uri="{FF2B5EF4-FFF2-40B4-BE49-F238E27FC236}">
                  <a16:creationId xmlns:a16="http://schemas.microsoft.com/office/drawing/2014/main" id="{770B90D8-CB64-ABDE-7873-E044AA67DEF4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5075504" y="5595824"/>
              <a:ext cx="635054" cy="20988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1400" u="none" strike="noStrike" cap="none" normalizeH="0" baseline="0" dirty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  <a:ea typeface="SimHei" panose="02010609060101010101" pitchFamily="49" charset="-122"/>
                </a:rPr>
                <a:t>ALU</a:t>
              </a:r>
              <a:endParaRPr kumimoji="0" lang="zh-CN" altLang="zh-CN" sz="140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endParaRPr>
            </a:p>
          </p:txBody>
        </p:sp>
        <p:sp>
          <p:nvSpPr>
            <p:cNvPr id="573" name="Rectangle 119">
              <a:extLst>
                <a:ext uri="{FF2B5EF4-FFF2-40B4-BE49-F238E27FC236}">
                  <a16:creationId xmlns:a16="http://schemas.microsoft.com/office/drawing/2014/main" id="{2EB18CCC-6CB9-EA1B-4AFF-8A9C90C06F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81762" y="5591376"/>
              <a:ext cx="193640" cy="20988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1400" u="none" strike="noStrike" cap="none" normalizeH="0" baseline="0" dirty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  <a:ea typeface="SimHei" panose="02010609060101010101" pitchFamily="49" charset="-122"/>
                </a:rPr>
                <a:t>IM</a:t>
              </a:r>
              <a:endParaRPr kumimoji="0" lang="zh-CN" altLang="zh-CN" sz="180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endParaRPr>
            </a:p>
          </p:txBody>
        </p:sp>
        <p:sp>
          <p:nvSpPr>
            <p:cNvPr id="574" name="Freeform 120">
              <a:extLst>
                <a:ext uri="{FF2B5EF4-FFF2-40B4-BE49-F238E27FC236}">
                  <a16:creationId xmlns:a16="http://schemas.microsoft.com/office/drawing/2014/main" id="{10C12C7C-7A07-B275-DA43-F813F8E26B13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1602" y="5512374"/>
              <a:ext cx="229824" cy="379818"/>
            </a:xfrm>
            <a:custGeom>
              <a:avLst/>
              <a:gdLst>
                <a:gd name="T0" fmla="*/ 156 w 156"/>
                <a:gd name="T1" fmla="*/ 0 h 250"/>
                <a:gd name="T2" fmla="*/ 0 w 156"/>
                <a:gd name="T3" fmla="*/ 0 h 250"/>
                <a:gd name="T4" fmla="*/ 0 w 156"/>
                <a:gd name="T5" fmla="*/ 250 h 250"/>
                <a:gd name="T6" fmla="*/ 156 w 156"/>
                <a:gd name="T7" fmla="*/ 250 h 2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56" h="250">
                  <a:moveTo>
                    <a:pt x="156" y="0"/>
                  </a:moveTo>
                  <a:lnTo>
                    <a:pt x="0" y="0"/>
                  </a:lnTo>
                  <a:lnTo>
                    <a:pt x="0" y="250"/>
                  </a:lnTo>
                  <a:lnTo>
                    <a:pt x="156" y="250"/>
                  </a:lnTo>
                </a:path>
              </a:pathLst>
            </a:custGeom>
            <a:noFill/>
            <a:ln w="222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575" name="Freeform 121">
              <a:extLst>
                <a:ext uri="{FF2B5EF4-FFF2-40B4-BE49-F238E27FC236}">
                  <a16:creationId xmlns:a16="http://schemas.microsoft.com/office/drawing/2014/main" id="{68D54BD0-997A-1C31-D123-4FE70699B2E7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1427" y="5512374"/>
              <a:ext cx="227891" cy="379818"/>
            </a:xfrm>
            <a:custGeom>
              <a:avLst/>
              <a:gdLst>
                <a:gd name="T0" fmla="*/ 0 w 150"/>
                <a:gd name="T1" fmla="*/ 0 h 250"/>
                <a:gd name="T2" fmla="*/ 150 w 150"/>
                <a:gd name="T3" fmla="*/ 0 h 250"/>
                <a:gd name="T4" fmla="*/ 150 w 150"/>
                <a:gd name="T5" fmla="*/ 250 h 250"/>
                <a:gd name="T6" fmla="*/ 0 w 150"/>
                <a:gd name="T7" fmla="*/ 250 h 2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50" h="250">
                  <a:moveTo>
                    <a:pt x="0" y="0"/>
                  </a:moveTo>
                  <a:lnTo>
                    <a:pt x="150" y="0"/>
                  </a:lnTo>
                  <a:lnTo>
                    <a:pt x="150" y="250"/>
                  </a:lnTo>
                  <a:lnTo>
                    <a:pt x="0" y="250"/>
                  </a:lnTo>
                </a:path>
              </a:pathLst>
            </a:custGeom>
            <a:noFill/>
            <a:ln w="222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576" name="Rectangle 122">
              <a:extLst>
                <a:ext uri="{FF2B5EF4-FFF2-40B4-BE49-F238E27FC236}">
                  <a16:creationId xmlns:a16="http://schemas.microsoft.com/office/drawing/2014/main" id="{F5EBAB71-7F5F-4AE6-26D9-656233D444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16414" y="5585906"/>
              <a:ext cx="320132" cy="20988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1400" u="none" strike="noStrike" cap="none" normalizeH="0" baseline="0" dirty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  <a:ea typeface="SimHei" panose="02010609060101010101" pitchFamily="49" charset="-122"/>
                </a:rPr>
                <a:t>Reg</a:t>
              </a:r>
              <a:endParaRPr kumimoji="0" lang="zh-CN" altLang="zh-CN" sz="180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endParaRPr>
            </a:p>
          </p:txBody>
        </p:sp>
        <p:sp>
          <p:nvSpPr>
            <p:cNvPr id="577" name="Freeform 123">
              <a:extLst>
                <a:ext uri="{FF2B5EF4-FFF2-40B4-BE49-F238E27FC236}">
                  <a16:creationId xmlns:a16="http://schemas.microsoft.com/office/drawing/2014/main" id="{71E89DD7-D391-8F71-B9C9-D9353CB6F7F8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5206" y="5512373"/>
              <a:ext cx="203582" cy="379818"/>
            </a:xfrm>
            <a:custGeom>
              <a:avLst/>
              <a:gdLst>
                <a:gd name="T0" fmla="*/ 134 w 134"/>
                <a:gd name="T1" fmla="*/ 0 h 250"/>
                <a:gd name="T2" fmla="*/ 0 w 134"/>
                <a:gd name="T3" fmla="*/ 0 h 250"/>
                <a:gd name="T4" fmla="*/ 0 w 134"/>
                <a:gd name="T5" fmla="*/ 250 h 250"/>
                <a:gd name="T6" fmla="*/ 134 w 134"/>
                <a:gd name="T7" fmla="*/ 250 h 2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4" h="250">
                  <a:moveTo>
                    <a:pt x="134" y="0"/>
                  </a:moveTo>
                  <a:lnTo>
                    <a:pt x="0" y="0"/>
                  </a:lnTo>
                  <a:lnTo>
                    <a:pt x="0" y="250"/>
                  </a:lnTo>
                  <a:lnTo>
                    <a:pt x="134" y="250"/>
                  </a:lnTo>
                </a:path>
              </a:pathLst>
            </a:custGeom>
            <a:noFill/>
            <a:ln w="222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578" name="Freeform 124">
              <a:extLst>
                <a:ext uri="{FF2B5EF4-FFF2-40B4-BE49-F238E27FC236}">
                  <a16:creationId xmlns:a16="http://schemas.microsoft.com/office/drawing/2014/main" id="{64729228-B16A-D162-8515-936992237A8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8501" y="5512374"/>
              <a:ext cx="195986" cy="379818"/>
            </a:xfrm>
            <a:custGeom>
              <a:avLst/>
              <a:gdLst>
                <a:gd name="T0" fmla="*/ 0 w 129"/>
                <a:gd name="T1" fmla="*/ 0 h 250"/>
                <a:gd name="T2" fmla="*/ 129 w 129"/>
                <a:gd name="T3" fmla="*/ 0 h 250"/>
                <a:gd name="T4" fmla="*/ 129 w 129"/>
                <a:gd name="T5" fmla="*/ 250 h 250"/>
                <a:gd name="T6" fmla="*/ 0 w 129"/>
                <a:gd name="T7" fmla="*/ 250 h 2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9" h="250">
                  <a:moveTo>
                    <a:pt x="0" y="0"/>
                  </a:moveTo>
                  <a:lnTo>
                    <a:pt x="129" y="0"/>
                  </a:lnTo>
                  <a:lnTo>
                    <a:pt x="129" y="250"/>
                  </a:lnTo>
                  <a:lnTo>
                    <a:pt x="0" y="250"/>
                  </a:lnTo>
                </a:path>
              </a:pathLst>
            </a:custGeom>
            <a:noFill/>
            <a:ln w="222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579" name="Line 125">
              <a:extLst>
                <a:ext uri="{FF2B5EF4-FFF2-40B4-BE49-F238E27FC236}">
                  <a16:creationId xmlns:a16="http://schemas.microsoft.com/office/drawing/2014/main" id="{0589C9F5-0F0C-43FF-4211-3124BB416BB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418433" y="5702283"/>
              <a:ext cx="156485" cy="0"/>
            </a:xfrm>
            <a:prstGeom prst="line">
              <a:avLst/>
            </a:prstGeom>
            <a:noFill/>
            <a:ln w="22225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580" name="Freeform 126">
              <a:extLst>
                <a:ext uri="{FF2B5EF4-FFF2-40B4-BE49-F238E27FC236}">
                  <a16:creationId xmlns:a16="http://schemas.microsoft.com/office/drawing/2014/main" id="{0DE6F02C-A8D5-74A4-2454-9324517363B1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9589" y="5576183"/>
              <a:ext cx="63809" cy="126100"/>
            </a:xfrm>
            <a:custGeom>
              <a:avLst/>
              <a:gdLst>
                <a:gd name="T0" fmla="*/ 0 w 42"/>
                <a:gd name="T1" fmla="*/ 83 h 83"/>
                <a:gd name="T2" fmla="*/ 0 w 42"/>
                <a:gd name="T3" fmla="*/ 0 h 83"/>
                <a:gd name="T4" fmla="*/ 42 w 42"/>
                <a:gd name="T5" fmla="*/ 0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2" h="83">
                  <a:moveTo>
                    <a:pt x="0" y="83"/>
                  </a:moveTo>
                  <a:lnTo>
                    <a:pt x="0" y="0"/>
                  </a:lnTo>
                  <a:lnTo>
                    <a:pt x="42" y="0"/>
                  </a:lnTo>
                </a:path>
              </a:pathLst>
            </a:custGeom>
            <a:noFill/>
            <a:ln w="222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581" name="Line 127">
              <a:extLst>
                <a:ext uri="{FF2B5EF4-FFF2-40B4-BE49-F238E27FC236}">
                  <a16:creationId xmlns:a16="http://schemas.microsoft.com/office/drawing/2014/main" id="{6F1B8E52-3FA8-028A-E1D3-B27AE079F2B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983602" y="5576183"/>
              <a:ext cx="212698" cy="0"/>
            </a:xfrm>
            <a:prstGeom prst="line">
              <a:avLst/>
            </a:prstGeom>
            <a:noFill/>
            <a:ln w="22225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582" name="Rectangle 128">
              <a:extLst>
                <a:ext uri="{FF2B5EF4-FFF2-40B4-BE49-F238E27FC236}">
                  <a16:creationId xmlns:a16="http://schemas.microsoft.com/office/drawing/2014/main" id="{B6FAF731-D1AE-4107-E373-D01208BC652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821072" y="5591376"/>
              <a:ext cx="271722" cy="20988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1400" u="none" strike="noStrike" cap="none" normalizeH="0" baseline="0" dirty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  <a:ea typeface="SimHei" panose="02010609060101010101" pitchFamily="49" charset="-122"/>
                </a:rPr>
                <a:t>DM</a:t>
              </a:r>
              <a:endParaRPr kumimoji="0" lang="zh-CN" altLang="zh-CN" sz="180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endParaRPr>
            </a:p>
          </p:txBody>
        </p:sp>
        <p:sp>
          <p:nvSpPr>
            <p:cNvPr id="583" name="Freeform 129">
              <a:extLst>
                <a:ext uri="{FF2B5EF4-FFF2-40B4-BE49-F238E27FC236}">
                  <a16:creationId xmlns:a16="http://schemas.microsoft.com/office/drawing/2014/main" id="{11B8439A-3783-034A-D5B0-39E15DFEEEEC}"/>
                </a:ext>
              </a:extLst>
            </p:cNvPr>
            <p:cNvSpPr>
              <a:spLocks/>
            </p:cNvSpPr>
            <p:nvPr/>
          </p:nvSpPr>
          <p:spPr bwMode="auto">
            <a:xfrm>
              <a:off x="5735642" y="5512374"/>
              <a:ext cx="220295" cy="379818"/>
            </a:xfrm>
            <a:custGeom>
              <a:avLst/>
              <a:gdLst>
                <a:gd name="T0" fmla="*/ 145 w 145"/>
                <a:gd name="T1" fmla="*/ 0 h 250"/>
                <a:gd name="T2" fmla="*/ 0 w 145"/>
                <a:gd name="T3" fmla="*/ 0 h 250"/>
                <a:gd name="T4" fmla="*/ 0 w 145"/>
                <a:gd name="T5" fmla="*/ 250 h 250"/>
                <a:gd name="T6" fmla="*/ 145 w 145"/>
                <a:gd name="T7" fmla="*/ 250 h 2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45" h="250">
                  <a:moveTo>
                    <a:pt x="145" y="0"/>
                  </a:moveTo>
                  <a:lnTo>
                    <a:pt x="0" y="0"/>
                  </a:lnTo>
                  <a:lnTo>
                    <a:pt x="0" y="250"/>
                  </a:lnTo>
                  <a:lnTo>
                    <a:pt x="145" y="250"/>
                  </a:lnTo>
                </a:path>
              </a:pathLst>
            </a:custGeom>
            <a:noFill/>
            <a:ln w="222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584" name="Freeform 130">
              <a:extLst>
                <a:ext uri="{FF2B5EF4-FFF2-40B4-BE49-F238E27FC236}">
                  <a16:creationId xmlns:a16="http://schemas.microsoft.com/office/drawing/2014/main" id="{E91B1B5B-6DCC-058A-E241-2761BBFA3D4B}"/>
                </a:ext>
              </a:extLst>
            </p:cNvPr>
            <p:cNvSpPr>
              <a:spLocks/>
            </p:cNvSpPr>
            <p:nvPr/>
          </p:nvSpPr>
          <p:spPr bwMode="auto">
            <a:xfrm>
              <a:off x="5948340" y="5512374"/>
              <a:ext cx="227891" cy="379818"/>
            </a:xfrm>
            <a:custGeom>
              <a:avLst/>
              <a:gdLst>
                <a:gd name="T0" fmla="*/ 0 w 150"/>
                <a:gd name="T1" fmla="*/ 0 h 250"/>
                <a:gd name="T2" fmla="*/ 150 w 150"/>
                <a:gd name="T3" fmla="*/ 0 h 250"/>
                <a:gd name="T4" fmla="*/ 150 w 150"/>
                <a:gd name="T5" fmla="*/ 250 h 250"/>
                <a:gd name="T6" fmla="*/ 0 w 150"/>
                <a:gd name="T7" fmla="*/ 250 h 2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50" h="250">
                  <a:moveTo>
                    <a:pt x="0" y="0"/>
                  </a:moveTo>
                  <a:lnTo>
                    <a:pt x="150" y="0"/>
                  </a:lnTo>
                  <a:lnTo>
                    <a:pt x="150" y="250"/>
                  </a:lnTo>
                  <a:lnTo>
                    <a:pt x="0" y="250"/>
                  </a:lnTo>
                </a:path>
              </a:pathLst>
            </a:custGeom>
            <a:noFill/>
            <a:ln w="222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585" name="Rectangle 131">
              <a:extLst>
                <a:ext uri="{FF2B5EF4-FFF2-40B4-BE49-F238E27FC236}">
                  <a16:creationId xmlns:a16="http://schemas.microsoft.com/office/drawing/2014/main" id="{CED7AAD6-1B25-4D93-3774-EEF8E0876C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05118" y="5584083"/>
              <a:ext cx="320132" cy="20988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1400" u="none" strike="noStrike" cap="none" normalizeH="0" baseline="0" dirty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  <a:ea typeface="SimHei" panose="02010609060101010101" pitchFamily="49" charset="-122"/>
                </a:rPr>
                <a:t>Reg</a:t>
              </a:r>
              <a:endParaRPr kumimoji="0" lang="zh-CN" altLang="zh-CN" sz="180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endParaRPr>
            </a:p>
          </p:txBody>
        </p:sp>
        <p:sp>
          <p:nvSpPr>
            <p:cNvPr id="586" name="Freeform 132">
              <a:extLst>
                <a:ext uri="{FF2B5EF4-FFF2-40B4-BE49-F238E27FC236}">
                  <a16:creationId xmlns:a16="http://schemas.microsoft.com/office/drawing/2014/main" id="{5BBC076D-C4A9-F164-5E88-32C6C8ED50A7}"/>
                </a:ext>
              </a:extLst>
            </p:cNvPr>
            <p:cNvSpPr>
              <a:spLocks/>
            </p:cNvSpPr>
            <p:nvPr/>
          </p:nvSpPr>
          <p:spPr bwMode="auto">
            <a:xfrm>
              <a:off x="6373736" y="5512374"/>
              <a:ext cx="186871" cy="379818"/>
            </a:xfrm>
            <a:custGeom>
              <a:avLst/>
              <a:gdLst>
                <a:gd name="T0" fmla="*/ 123 w 123"/>
                <a:gd name="T1" fmla="*/ 0 h 250"/>
                <a:gd name="T2" fmla="*/ 0 w 123"/>
                <a:gd name="T3" fmla="*/ 0 h 250"/>
                <a:gd name="T4" fmla="*/ 0 w 123"/>
                <a:gd name="T5" fmla="*/ 250 h 250"/>
                <a:gd name="T6" fmla="*/ 123 w 123"/>
                <a:gd name="T7" fmla="*/ 250 h 2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3" h="250">
                  <a:moveTo>
                    <a:pt x="123" y="0"/>
                  </a:moveTo>
                  <a:lnTo>
                    <a:pt x="0" y="0"/>
                  </a:lnTo>
                  <a:lnTo>
                    <a:pt x="0" y="250"/>
                  </a:lnTo>
                  <a:lnTo>
                    <a:pt x="123" y="250"/>
                  </a:lnTo>
                </a:path>
              </a:pathLst>
            </a:custGeom>
            <a:noFill/>
            <a:ln w="222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587" name="Freeform 133">
              <a:extLst>
                <a:ext uri="{FF2B5EF4-FFF2-40B4-BE49-F238E27FC236}">
                  <a16:creationId xmlns:a16="http://schemas.microsoft.com/office/drawing/2014/main" id="{FDF1521E-CEBD-D68B-3572-3ACA66A5104F}"/>
                </a:ext>
              </a:extLst>
            </p:cNvPr>
            <p:cNvSpPr>
              <a:spLocks/>
            </p:cNvSpPr>
            <p:nvPr/>
          </p:nvSpPr>
          <p:spPr bwMode="auto">
            <a:xfrm>
              <a:off x="6560606" y="5512374"/>
              <a:ext cx="195986" cy="379818"/>
            </a:xfrm>
            <a:custGeom>
              <a:avLst/>
              <a:gdLst>
                <a:gd name="T0" fmla="*/ 0 w 129"/>
                <a:gd name="T1" fmla="*/ 0 h 250"/>
                <a:gd name="T2" fmla="*/ 129 w 129"/>
                <a:gd name="T3" fmla="*/ 0 h 250"/>
                <a:gd name="T4" fmla="*/ 129 w 129"/>
                <a:gd name="T5" fmla="*/ 250 h 250"/>
                <a:gd name="T6" fmla="*/ 0 w 129"/>
                <a:gd name="T7" fmla="*/ 250 h 2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9" h="250">
                  <a:moveTo>
                    <a:pt x="0" y="0"/>
                  </a:moveTo>
                  <a:lnTo>
                    <a:pt x="129" y="0"/>
                  </a:lnTo>
                  <a:lnTo>
                    <a:pt x="129" y="250"/>
                  </a:lnTo>
                  <a:lnTo>
                    <a:pt x="0" y="250"/>
                  </a:lnTo>
                </a:path>
              </a:pathLst>
            </a:custGeom>
            <a:noFill/>
            <a:ln w="222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588" name="Line 134">
              <a:extLst>
                <a:ext uri="{FF2B5EF4-FFF2-40B4-BE49-F238E27FC236}">
                  <a16:creationId xmlns:a16="http://schemas.microsoft.com/office/drawing/2014/main" id="{10DCD4AB-CD8D-1ADD-90DE-2B7B922E522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168634" y="5702283"/>
              <a:ext cx="188390" cy="0"/>
            </a:xfrm>
            <a:prstGeom prst="line">
              <a:avLst/>
            </a:prstGeom>
            <a:noFill/>
            <a:ln w="22225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589" name="Line 135">
              <a:extLst>
                <a:ext uri="{FF2B5EF4-FFF2-40B4-BE49-F238E27FC236}">
                  <a16:creationId xmlns:a16="http://schemas.microsoft.com/office/drawing/2014/main" id="{C22B2704-FBE6-3147-6543-741BE357E04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506231" y="5702283"/>
              <a:ext cx="212698" cy="0"/>
            </a:xfrm>
            <a:prstGeom prst="line">
              <a:avLst/>
            </a:prstGeom>
            <a:noFill/>
            <a:ln w="22225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590" name="Line 136">
              <a:extLst>
                <a:ext uri="{FF2B5EF4-FFF2-40B4-BE49-F238E27FC236}">
                  <a16:creationId xmlns:a16="http://schemas.microsoft.com/office/drawing/2014/main" id="{D3F56386-201A-3E35-1590-8240CA22F09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983602" y="5829902"/>
              <a:ext cx="212698" cy="0"/>
            </a:xfrm>
            <a:prstGeom prst="line">
              <a:avLst/>
            </a:prstGeom>
            <a:noFill/>
            <a:ln w="22225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591" name="Line 137">
              <a:extLst>
                <a:ext uri="{FF2B5EF4-FFF2-40B4-BE49-F238E27FC236}">
                  <a16:creationId xmlns:a16="http://schemas.microsoft.com/office/drawing/2014/main" id="{1B3AA098-F181-69E0-5235-08BAA69FE5D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097548" y="5829902"/>
              <a:ext cx="0" cy="253719"/>
            </a:xfrm>
            <a:prstGeom prst="line">
              <a:avLst/>
            </a:prstGeom>
            <a:noFill/>
            <a:ln w="254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592" name="Line 138">
              <a:extLst>
                <a:ext uri="{FF2B5EF4-FFF2-40B4-BE49-F238E27FC236}">
                  <a16:creationId xmlns:a16="http://schemas.microsoft.com/office/drawing/2014/main" id="{A9C52DC5-052F-D23B-DD38-7D2E1C11534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097548" y="6083620"/>
              <a:ext cx="458820" cy="0"/>
            </a:xfrm>
            <a:prstGeom prst="line">
              <a:avLst/>
            </a:prstGeom>
            <a:noFill/>
            <a:ln w="254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593" name="Line 139">
              <a:extLst>
                <a:ext uri="{FF2B5EF4-FFF2-40B4-BE49-F238E27FC236}">
                  <a16:creationId xmlns:a16="http://schemas.microsoft.com/office/drawing/2014/main" id="{DC3F819F-213E-E033-CABA-D6F176ACF97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556368" y="5702283"/>
              <a:ext cx="0" cy="381338"/>
            </a:xfrm>
            <a:prstGeom prst="line">
              <a:avLst/>
            </a:prstGeom>
            <a:noFill/>
            <a:ln w="254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594" name="Line 140">
              <a:extLst>
                <a:ext uri="{FF2B5EF4-FFF2-40B4-BE49-F238E27FC236}">
                  <a16:creationId xmlns:a16="http://schemas.microsoft.com/office/drawing/2014/main" id="{41B48F8A-6BDC-4CBE-DF08-E198C6E6C10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670313" y="5702283"/>
              <a:ext cx="0" cy="317528"/>
            </a:xfrm>
            <a:prstGeom prst="line">
              <a:avLst/>
            </a:prstGeom>
            <a:noFill/>
            <a:ln w="254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595" name="Line 141">
              <a:extLst>
                <a:ext uri="{FF2B5EF4-FFF2-40B4-BE49-F238E27FC236}">
                  <a16:creationId xmlns:a16="http://schemas.microsoft.com/office/drawing/2014/main" id="{66EE7C6A-367B-EC9B-FF83-B2C29F6176F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670313" y="6019810"/>
              <a:ext cx="587958" cy="0"/>
            </a:xfrm>
            <a:prstGeom prst="line">
              <a:avLst/>
            </a:prstGeom>
            <a:noFill/>
            <a:ln w="254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596" name="Line 142">
              <a:extLst>
                <a:ext uri="{FF2B5EF4-FFF2-40B4-BE49-F238E27FC236}">
                  <a16:creationId xmlns:a16="http://schemas.microsoft.com/office/drawing/2014/main" id="{1C8FA033-1738-4208-1E62-8D62DCE08B3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258271" y="5702283"/>
              <a:ext cx="0" cy="317528"/>
            </a:xfrm>
            <a:prstGeom prst="line">
              <a:avLst/>
            </a:prstGeom>
            <a:noFill/>
            <a:ln w="254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597" name="Freeform 143">
              <a:extLst>
                <a:ext uri="{FF2B5EF4-FFF2-40B4-BE49-F238E27FC236}">
                  <a16:creationId xmlns:a16="http://schemas.microsoft.com/office/drawing/2014/main" id="{E48602D9-2518-C32A-846B-B10E7514FD8D}"/>
                </a:ext>
              </a:extLst>
            </p:cNvPr>
            <p:cNvSpPr>
              <a:spLocks/>
            </p:cNvSpPr>
            <p:nvPr/>
          </p:nvSpPr>
          <p:spPr bwMode="auto">
            <a:xfrm>
              <a:off x="5800970" y="6083620"/>
              <a:ext cx="285623" cy="633537"/>
            </a:xfrm>
            <a:custGeom>
              <a:avLst/>
              <a:gdLst>
                <a:gd name="T0" fmla="*/ 0 w 188"/>
                <a:gd name="T1" fmla="*/ 278 h 417"/>
                <a:gd name="T2" fmla="*/ 63 w 188"/>
                <a:gd name="T3" fmla="*/ 208 h 417"/>
                <a:gd name="T4" fmla="*/ 0 w 188"/>
                <a:gd name="T5" fmla="*/ 139 h 417"/>
                <a:gd name="T6" fmla="*/ 0 w 188"/>
                <a:gd name="T7" fmla="*/ 0 h 417"/>
                <a:gd name="T8" fmla="*/ 188 w 188"/>
                <a:gd name="T9" fmla="*/ 139 h 417"/>
                <a:gd name="T10" fmla="*/ 188 w 188"/>
                <a:gd name="T11" fmla="*/ 278 h 417"/>
                <a:gd name="T12" fmla="*/ 0 w 188"/>
                <a:gd name="T13" fmla="*/ 417 h 417"/>
                <a:gd name="T14" fmla="*/ 0 w 188"/>
                <a:gd name="T15" fmla="*/ 278 h 4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88" h="417">
                  <a:moveTo>
                    <a:pt x="0" y="278"/>
                  </a:moveTo>
                  <a:lnTo>
                    <a:pt x="63" y="208"/>
                  </a:lnTo>
                  <a:lnTo>
                    <a:pt x="0" y="139"/>
                  </a:lnTo>
                  <a:lnTo>
                    <a:pt x="0" y="0"/>
                  </a:lnTo>
                  <a:lnTo>
                    <a:pt x="188" y="139"/>
                  </a:lnTo>
                  <a:lnTo>
                    <a:pt x="188" y="278"/>
                  </a:lnTo>
                  <a:lnTo>
                    <a:pt x="0" y="417"/>
                  </a:lnTo>
                  <a:lnTo>
                    <a:pt x="0" y="278"/>
                  </a:lnTo>
                </a:path>
              </a:pathLst>
            </a:custGeom>
            <a:noFill/>
            <a:ln w="222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598" name="Rectangle 144">
              <a:extLst>
                <a:ext uri="{FF2B5EF4-FFF2-40B4-BE49-F238E27FC236}">
                  <a16:creationId xmlns:a16="http://schemas.microsoft.com/office/drawing/2014/main" id="{0FA1B37C-E982-DF0C-63AB-1C623C04E91F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5663460" y="6293169"/>
              <a:ext cx="611527" cy="20988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1400" u="none" strike="noStrike" cap="none" normalizeH="0" baseline="0" dirty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  <a:ea typeface="SimHei" panose="02010609060101010101" pitchFamily="49" charset="-122"/>
                </a:rPr>
                <a:t>ALU</a:t>
              </a:r>
              <a:endParaRPr kumimoji="0" lang="zh-CN" altLang="zh-CN" sz="140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endParaRPr>
            </a:p>
          </p:txBody>
        </p:sp>
        <p:sp>
          <p:nvSpPr>
            <p:cNvPr id="599" name="Rectangle 145">
              <a:extLst>
                <a:ext uri="{FF2B5EF4-FFF2-40B4-BE49-F238E27FC236}">
                  <a16:creationId xmlns:a16="http://schemas.microsoft.com/office/drawing/2014/main" id="{EA983E79-458F-284B-82C1-D97678CB4E2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8201" y="6288722"/>
              <a:ext cx="193640" cy="20988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1400" u="none" strike="noStrike" cap="none" normalizeH="0" baseline="0" dirty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  <a:ea typeface="SimHei" panose="02010609060101010101" pitchFamily="49" charset="-122"/>
                </a:rPr>
                <a:t>IM</a:t>
              </a:r>
              <a:endParaRPr kumimoji="0" lang="zh-CN" altLang="zh-CN" sz="180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endParaRPr>
            </a:p>
          </p:txBody>
        </p:sp>
        <p:sp>
          <p:nvSpPr>
            <p:cNvPr id="600" name="Freeform 146">
              <a:extLst>
                <a:ext uri="{FF2B5EF4-FFF2-40B4-BE49-F238E27FC236}">
                  <a16:creationId xmlns:a16="http://schemas.microsoft.com/office/drawing/2014/main" id="{91EB56E2-713F-F2D7-77C5-DEEB30723AC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8154" y="6209720"/>
              <a:ext cx="231232" cy="379818"/>
            </a:xfrm>
            <a:custGeom>
              <a:avLst/>
              <a:gdLst>
                <a:gd name="T0" fmla="*/ 155 w 155"/>
                <a:gd name="T1" fmla="*/ 0 h 250"/>
                <a:gd name="T2" fmla="*/ 0 w 155"/>
                <a:gd name="T3" fmla="*/ 0 h 250"/>
                <a:gd name="T4" fmla="*/ 0 w 155"/>
                <a:gd name="T5" fmla="*/ 250 h 250"/>
                <a:gd name="T6" fmla="*/ 155 w 155"/>
                <a:gd name="T7" fmla="*/ 250 h 2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55" h="250">
                  <a:moveTo>
                    <a:pt x="155" y="0"/>
                  </a:moveTo>
                  <a:lnTo>
                    <a:pt x="0" y="0"/>
                  </a:lnTo>
                  <a:lnTo>
                    <a:pt x="0" y="250"/>
                  </a:lnTo>
                  <a:lnTo>
                    <a:pt x="155" y="250"/>
                  </a:lnTo>
                </a:path>
              </a:pathLst>
            </a:custGeom>
            <a:noFill/>
            <a:ln w="222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601" name="Freeform 147">
              <a:extLst>
                <a:ext uri="{FF2B5EF4-FFF2-40B4-BE49-F238E27FC236}">
                  <a16:creationId xmlns:a16="http://schemas.microsoft.com/office/drawing/2014/main" id="{02661AA9-7C93-B049-92FB-01E9D8807EF3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0904" y="6209720"/>
              <a:ext cx="227891" cy="379818"/>
            </a:xfrm>
            <a:custGeom>
              <a:avLst/>
              <a:gdLst>
                <a:gd name="T0" fmla="*/ 0 w 150"/>
                <a:gd name="T1" fmla="*/ 0 h 250"/>
                <a:gd name="T2" fmla="*/ 150 w 150"/>
                <a:gd name="T3" fmla="*/ 0 h 250"/>
                <a:gd name="T4" fmla="*/ 150 w 150"/>
                <a:gd name="T5" fmla="*/ 250 h 250"/>
                <a:gd name="T6" fmla="*/ 0 w 150"/>
                <a:gd name="T7" fmla="*/ 250 h 2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50" h="250">
                  <a:moveTo>
                    <a:pt x="0" y="0"/>
                  </a:moveTo>
                  <a:lnTo>
                    <a:pt x="150" y="0"/>
                  </a:lnTo>
                  <a:lnTo>
                    <a:pt x="150" y="250"/>
                  </a:lnTo>
                  <a:lnTo>
                    <a:pt x="0" y="250"/>
                  </a:lnTo>
                </a:path>
              </a:pathLst>
            </a:custGeom>
            <a:noFill/>
            <a:ln w="222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602" name="Rectangle 148">
              <a:extLst>
                <a:ext uri="{FF2B5EF4-FFF2-40B4-BE49-F238E27FC236}">
                  <a16:creationId xmlns:a16="http://schemas.microsoft.com/office/drawing/2014/main" id="{677A312F-DBF1-2C63-C08B-9B29269D51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04371" y="6283252"/>
              <a:ext cx="320132" cy="20988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1400" u="none" strike="noStrike" cap="none" normalizeH="0" baseline="0" dirty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  <a:ea typeface="SimHei" panose="02010609060101010101" pitchFamily="49" charset="-122"/>
                </a:rPr>
                <a:t>Reg</a:t>
              </a:r>
              <a:endParaRPr kumimoji="0" lang="zh-CN" altLang="zh-CN" sz="180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endParaRPr>
            </a:p>
          </p:txBody>
        </p:sp>
        <p:sp>
          <p:nvSpPr>
            <p:cNvPr id="603" name="Freeform 149">
              <a:extLst>
                <a:ext uri="{FF2B5EF4-FFF2-40B4-BE49-F238E27FC236}">
                  <a16:creationId xmlns:a16="http://schemas.microsoft.com/office/drawing/2014/main" id="{72B2C66F-8C57-1C2A-5693-096B15840EED}"/>
                </a:ext>
              </a:extLst>
            </p:cNvPr>
            <p:cNvSpPr>
              <a:spLocks/>
            </p:cNvSpPr>
            <p:nvPr/>
          </p:nvSpPr>
          <p:spPr bwMode="auto">
            <a:xfrm>
              <a:off x="5162876" y="6209720"/>
              <a:ext cx="203582" cy="379818"/>
            </a:xfrm>
            <a:custGeom>
              <a:avLst/>
              <a:gdLst>
                <a:gd name="T0" fmla="*/ 134 w 134"/>
                <a:gd name="T1" fmla="*/ 0 h 250"/>
                <a:gd name="T2" fmla="*/ 0 w 134"/>
                <a:gd name="T3" fmla="*/ 0 h 250"/>
                <a:gd name="T4" fmla="*/ 0 w 134"/>
                <a:gd name="T5" fmla="*/ 250 h 250"/>
                <a:gd name="T6" fmla="*/ 134 w 134"/>
                <a:gd name="T7" fmla="*/ 250 h 2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4" h="250">
                  <a:moveTo>
                    <a:pt x="134" y="0"/>
                  </a:moveTo>
                  <a:lnTo>
                    <a:pt x="0" y="0"/>
                  </a:lnTo>
                  <a:lnTo>
                    <a:pt x="0" y="250"/>
                  </a:lnTo>
                  <a:lnTo>
                    <a:pt x="134" y="250"/>
                  </a:lnTo>
                </a:path>
              </a:pathLst>
            </a:custGeom>
            <a:noFill/>
            <a:ln w="222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604" name="Freeform 150">
              <a:extLst>
                <a:ext uri="{FF2B5EF4-FFF2-40B4-BE49-F238E27FC236}">
                  <a16:creationId xmlns:a16="http://schemas.microsoft.com/office/drawing/2014/main" id="{F652C4AF-010F-BC88-FB30-5C0611CBB0DF}"/>
                </a:ext>
              </a:extLst>
            </p:cNvPr>
            <p:cNvSpPr>
              <a:spLocks/>
            </p:cNvSpPr>
            <p:nvPr/>
          </p:nvSpPr>
          <p:spPr bwMode="auto">
            <a:xfrm>
              <a:off x="5367978" y="6209720"/>
              <a:ext cx="194467" cy="379818"/>
            </a:xfrm>
            <a:custGeom>
              <a:avLst/>
              <a:gdLst>
                <a:gd name="T0" fmla="*/ 0 w 128"/>
                <a:gd name="T1" fmla="*/ 0 h 250"/>
                <a:gd name="T2" fmla="*/ 128 w 128"/>
                <a:gd name="T3" fmla="*/ 0 h 250"/>
                <a:gd name="T4" fmla="*/ 128 w 128"/>
                <a:gd name="T5" fmla="*/ 250 h 250"/>
                <a:gd name="T6" fmla="*/ 0 w 128"/>
                <a:gd name="T7" fmla="*/ 250 h 2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8" h="250">
                  <a:moveTo>
                    <a:pt x="0" y="0"/>
                  </a:moveTo>
                  <a:lnTo>
                    <a:pt x="128" y="0"/>
                  </a:lnTo>
                  <a:lnTo>
                    <a:pt x="128" y="250"/>
                  </a:lnTo>
                  <a:lnTo>
                    <a:pt x="0" y="250"/>
                  </a:lnTo>
                </a:path>
              </a:pathLst>
            </a:custGeom>
            <a:noFill/>
            <a:ln w="222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605" name="Line 151">
              <a:extLst>
                <a:ext uri="{FF2B5EF4-FFF2-40B4-BE49-F238E27FC236}">
                  <a16:creationId xmlns:a16="http://schemas.microsoft.com/office/drawing/2014/main" id="{30367D47-CF02-7541-7315-A88C85BCB22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007910" y="6401148"/>
              <a:ext cx="154966" cy="0"/>
            </a:xfrm>
            <a:prstGeom prst="line">
              <a:avLst/>
            </a:prstGeom>
            <a:noFill/>
            <a:ln w="22225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606" name="Freeform 152">
              <a:extLst>
                <a:ext uri="{FF2B5EF4-FFF2-40B4-BE49-F238E27FC236}">
                  <a16:creationId xmlns:a16="http://schemas.microsoft.com/office/drawing/2014/main" id="{B9BCDA2B-533E-3D2A-B002-D54D229C2130}"/>
                </a:ext>
              </a:extLst>
            </p:cNvPr>
            <p:cNvSpPr>
              <a:spLocks/>
            </p:cNvSpPr>
            <p:nvPr/>
          </p:nvSpPr>
          <p:spPr bwMode="auto">
            <a:xfrm>
              <a:off x="5097548" y="6273529"/>
              <a:ext cx="65329" cy="126100"/>
            </a:xfrm>
            <a:custGeom>
              <a:avLst/>
              <a:gdLst>
                <a:gd name="T0" fmla="*/ 0 w 43"/>
                <a:gd name="T1" fmla="*/ 83 h 83"/>
                <a:gd name="T2" fmla="*/ 0 w 43"/>
                <a:gd name="T3" fmla="*/ 0 h 83"/>
                <a:gd name="T4" fmla="*/ 43 w 43"/>
                <a:gd name="T5" fmla="*/ 0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3" h="83">
                  <a:moveTo>
                    <a:pt x="0" y="83"/>
                  </a:moveTo>
                  <a:lnTo>
                    <a:pt x="0" y="0"/>
                  </a:lnTo>
                  <a:lnTo>
                    <a:pt x="43" y="0"/>
                  </a:lnTo>
                </a:path>
              </a:pathLst>
            </a:custGeom>
            <a:noFill/>
            <a:ln w="222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607" name="Line 153">
              <a:extLst>
                <a:ext uri="{FF2B5EF4-FFF2-40B4-BE49-F238E27FC236}">
                  <a16:creationId xmlns:a16="http://schemas.microsoft.com/office/drawing/2014/main" id="{12C9957C-AE5B-83BF-1A8D-8D2B897F9BF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571560" y="6273529"/>
              <a:ext cx="212698" cy="0"/>
            </a:xfrm>
            <a:prstGeom prst="line">
              <a:avLst/>
            </a:prstGeom>
            <a:noFill/>
            <a:ln w="22225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608" name="Rectangle 154">
              <a:extLst>
                <a:ext uri="{FF2B5EF4-FFF2-40B4-BE49-F238E27FC236}">
                  <a16:creationId xmlns:a16="http://schemas.microsoft.com/office/drawing/2014/main" id="{44CC7200-DB37-A1B1-8A99-5C0B383EC35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10549" y="6288722"/>
              <a:ext cx="271722" cy="20988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1400" u="none" strike="noStrike" cap="none" normalizeH="0" baseline="0" dirty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  <a:ea typeface="SimHei" panose="02010609060101010101" pitchFamily="49" charset="-122"/>
                </a:rPr>
                <a:t>DM</a:t>
              </a:r>
              <a:endParaRPr kumimoji="0" lang="zh-CN" altLang="zh-CN" sz="180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endParaRPr>
            </a:p>
          </p:txBody>
        </p:sp>
        <p:sp>
          <p:nvSpPr>
            <p:cNvPr id="609" name="Freeform 155">
              <a:extLst>
                <a:ext uri="{FF2B5EF4-FFF2-40B4-BE49-F238E27FC236}">
                  <a16:creationId xmlns:a16="http://schemas.microsoft.com/office/drawing/2014/main" id="{6BC36426-F7EF-7E4B-D7C0-F1D9F7790708}"/>
                </a:ext>
              </a:extLst>
            </p:cNvPr>
            <p:cNvSpPr>
              <a:spLocks/>
            </p:cNvSpPr>
            <p:nvPr/>
          </p:nvSpPr>
          <p:spPr bwMode="auto">
            <a:xfrm>
              <a:off x="6323599" y="6209720"/>
              <a:ext cx="220295" cy="379818"/>
            </a:xfrm>
            <a:custGeom>
              <a:avLst/>
              <a:gdLst>
                <a:gd name="T0" fmla="*/ 145 w 145"/>
                <a:gd name="T1" fmla="*/ 0 h 250"/>
                <a:gd name="T2" fmla="*/ 0 w 145"/>
                <a:gd name="T3" fmla="*/ 0 h 250"/>
                <a:gd name="T4" fmla="*/ 0 w 145"/>
                <a:gd name="T5" fmla="*/ 250 h 250"/>
                <a:gd name="T6" fmla="*/ 145 w 145"/>
                <a:gd name="T7" fmla="*/ 250 h 2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45" h="250">
                  <a:moveTo>
                    <a:pt x="145" y="0"/>
                  </a:moveTo>
                  <a:lnTo>
                    <a:pt x="0" y="0"/>
                  </a:lnTo>
                  <a:lnTo>
                    <a:pt x="0" y="250"/>
                  </a:lnTo>
                  <a:lnTo>
                    <a:pt x="145" y="250"/>
                  </a:lnTo>
                </a:path>
              </a:pathLst>
            </a:custGeom>
            <a:noFill/>
            <a:ln w="222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610" name="Freeform 156">
              <a:extLst>
                <a:ext uri="{FF2B5EF4-FFF2-40B4-BE49-F238E27FC236}">
                  <a16:creationId xmlns:a16="http://schemas.microsoft.com/office/drawing/2014/main" id="{65FDD127-AF48-3E0A-8E5A-D09760887BCC}"/>
                </a:ext>
              </a:extLst>
            </p:cNvPr>
            <p:cNvSpPr>
              <a:spLocks/>
            </p:cNvSpPr>
            <p:nvPr/>
          </p:nvSpPr>
          <p:spPr bwMode="auto">
            <a:xfrm>
              <a:off x="6536297" y="6209720"/>
              <a:ext cx="227891" cy="379818"/>
            </a:xfrm>
            <a:custGeom>
              <a:avLst/>
              <a:gdLst>
                <a:gd name="T0" fmla="*/ 0 w 150"/>
                <a:gd name="T1" fmla="*/ 0 h 250"/>
                <a:gd name="T2" fmla="*/ 150 w 150"/>
                <a:gd name="T3" fmla="*/ 0 h 250"/>
                <a:gd name="T4" fmla="*/ 150 w 150"/>
                <a:gd name="T5" fmla="*/ 250 h 250"/>
                <a:gd name="T6" fmla="*/ 0 w 150"/>
                <a:gd name="T7" fmla="*/ 250 h 2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50" h="250">
                  <a:moveTo>
                    <a:pt x="0" y="0"/>
                  </a:moveTo>
                  <a:lnTo>
                    <a:pt x="150" y="0"/>
                  </a:lnTo>
                  <a:lnTo>
                    <a:pt x="150" y="250"/>
                  </a:lnTo>
                  <a:lnTo>
                    <a:pt x="0" y="250"/>
                  </a:lnTo>
                </a:path>
              </a:pathLst>
            </a:custGeom>
            <a:noFill/>
            <a:ln w="222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611" name="Rectangle 157">
              <a:extLst>
                <a:ext uri="{FF2B5EF4-FFF2-40B4-BE49-F238E27FC236}">
                  <a16:creationId xmlns:a16="http://schemas.microsoft.com/office/drawing/2014/main" id="{63746C48-B4A4-E77F-A644-A1E1D48FE0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94596" y="6281429"/>
              <a:ext cx="320132" cy="20988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1400" u="none" strike="noStrike" cap="none" normalizeH="0" baseline="0" dirty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  <a:ea typeface="SimHei" panose="02010609060101010101" pitchFamily="49" charset="-122"/>
                </a:rPr>
                <a:t>Reg</a:t>
              </a:r>
              <a:endParaRPr kumimoji="0" lang="zh-CN" altLang="zh-CN" sz="180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endParaRPr>
            </a:p>
          </p:txBody>
        </p:sp>
        <p:sp>
          <p:nvSpPr>
            <p:cNvPr id="612" name="Freeform 158">
              <a:extLst>
                <a:ext uri="{FF2B5EF4-FFF2-40B4-BE49-F238E27FC236}">
                  <a16:creationId xmlns:a16="http://schemas.microsoft.com/office/drawing/2014/main" id="{878B74EC-33FD-60D3-A8EB-57C9B8956315}"/>
                </a:ext>
              </a:extLst>
            </p:cNvPr>
            <p:cNvSpPr>
              <a:spLocks/>
            </p:cNvSpPr>
            <p:nvPr/>
          </p:nvSpPr>
          <p:spPr bwMode="auto">
            <a:xfrm>
              <a:off x="6961693" y="6209720"/>
              <a:ext cx="186871" cy="379818"/>
            </a:xfrm>
            <a:custGeom>
              <a:avLst/>
              <a:gdLst>
                <a:gd name="T0" fmla="*/ 123 w 123"/>
                <a:gd name="T1" fmla="*/ 0 h 250"/>
                <a:gd name="T2" fmla="*/ 0 w 123"/>
                <a:gd name="T3" fmla="*/ 0 h 250"/>
                <a:gd name="T4" fmla="*/ 0 w 123"/>
                <a:gd name="T5" fmla="*/ 250 h 250"/>
                <a:gd name="T6" fmla="*/ 123 w 123"/>
                <a:gd name="T7" fmla="*/ 250 h 2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3" h="250">
                  <a:moveTo>
                    <a:pt x="123" y="0"/>
                  </a:moveTo>
                  <a:lnTo>
                    <a:pt x="0" y="0"/>
                  </a:lnTo>
                  <a:lnTo>
                    <a:pt x="0" y="250"/>
                  </a:lnTo>
                  <a:lnTo>
                    <a:pt x="123" y="250"/>
                  </a:lnTo>
                </a:path>
              </a:pathLst>
            </a:custGeom>
            <a:noFill/>
            <a:ln w="222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613" name="Freeform 159">
              <a:extLst>
                <a:ext uri="{FF2B5EF4-FFF2-40B4-BE49-F238E27FC236}">
                  <a16:creationId xmlns:a16="http://schemas.microsoft.com/office/drawing/2014/main" id="{F14E8AF3-EA96-4AD9-0D02-BBBD328F14AF}"/>
                </a:ext>
              </a:extLst>
            </p:cNvPr>
            <p:cNvSpPr>
              <a:spLocks/>
            </p:cNvSpPr>
            <p:nvPr/>
          </p:nvSpPr>
          <p:spPr bwMode="auto">
            <a:xfrm>
              <a:off x="7150083" y="6209720"/>
              <a:ext cx="194467" cy="379818"/>
            </a:xfrm>
            <a:custGeom>
              <a:avLst/>
              <a:gdLst>
                <a:gd name="T0" fmla="*/ 0 w 128"/>
                <a:gd name="T1" fmla="*/ 0 h 250"/>
                <a:gd name="T2" fmla="*/ 128 w 128"/>
                <a:gd name="T3" fmla="*/ 0 h 250"/>
                <a:gd name="T4" fmla="*/ 128 w 128"/>
                <a:gd name="T5" fmla="*/ 250 h 250"/>
                <a:gd name="T6" fmla="*/ 0 w 128"/>
                <a:gd name="T7" fmla="*/ 250 h 2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8" h="250">
                  <a:moveTo>
                    <a:pt x="0" y="0"/>
                  </a:moveTo>
                  <a:lnTo>
                    <a:pt x="128" y="0"/>
                  </a:lnTo>
                  <a:lnTo>
                    <a:pt x="128" y="250"/>
                  </a:lnTo>
                  <a:lnTo>
                    <a:pt x="0" y="250"/>
                  </a:lnTo>
                </a:path>
              </a:pathLst>
            </a:custGeom>
            <a:noFill/>
            <a:ln w="222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614" name="Line 160">
              <a:extLst>
                <a:ext uri="{FF2B5EF4-FFF2-40B4-BE49-F238E27FC236}">
                  <a16:creationId xmlns:a16="http://schemas.microsoft.com/office/drawing/2014/main" id="{4E5BF17A-5DD1-4B76-55C3-0F6AEA5431E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758111" y="6401148"/>
              <a:ext cx="186871" cy="0"/>
            </a:xfrm>
            <a:prstGeom prst="line">
              <a:avLst/>
            </a:prstGeom>
            <a:noFill/>
            <a:ln w="22225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615" name="Line 161">
              <a:extLst>
                <a:ext uri="{FF2B5EF4-FFF2-40B4-BE49-F238E27FC236}">
                  <a16:creationId xmlns:a16="http://schemas.microsoft.com/office/drawing/2014/main" id="{C62B9613-9634-0970-A5B0-EFD3A58EB2E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095709" y="6401148"/>
              <a:ext cx="212698" cy="0"/>
            </a:xfrm>
            <a:prstGeom prst="line">
              <a:avLst/>
            </a:prstGeom>
            <a:noFill/>
            <a:ln w="22225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616" name="Line 162">
              <a:extLst>
                <a:ext uri="{FF2B5EF4-FFF2-40B4-BE49-F238E27FC236}">
                  <a16:creationId xmlns:a16="http://schemas.microsoft.com/office/drawing/2014/main" id="{318B2B2B-B063-F98C-A459-E0D2EDD7E4A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571560" y="6527247"/>
              <a:ext cx="212698" cy="0"/>
            </a:xfrm>
            <a:prstGeom prst="line">
              <a:avLst/>
            </a:prstGeom>
            <a:noFill/>
            <a:ln w="22225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617" name="Line 163">
              <a:extLst>
                <a:ext uri="{FF2B5EF4-FFF2-40B4-BE49-F238E27FC236}">
                  <a16:creationId xmlns:a16="http://schemas.microsoft.com/office/drawing/2014/main" id="{A2A54C07-EAAE-4CCF-329F-B74F96F58A1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687025" y="6527247"/>
              <a:ext cx="0" cy="253719"/>
            </a:xfrm>
            <a:prstGeom prst="line">
              <a:avLst/>
            </a:prstGeom>
            <a:noFill/>
            <a:ln w="254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618" name="Line 164">
              <a:extLst>
                <a:ext uri="{FF2B5EF4-FFF2-40B4-BE49-F238E27FC236}">
                  <a16:creationId xmlns:a16="http://schemas.microsoft.com/office/drawing/2014/main" id="{8011CFF6-D6D8-3F27-7813-9C84F17DD2B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687025" y="6780966"/>
              <a:ext cx="457301" cy="0"/>
            </a:xfrm>
            <a:prstGeom prst="line">
              <a:avLst/>
            </a:prstGeom>
            <a:noFill/>
            <a:ln w="254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619" name="Line 165">
              <a:extLst>
                <a:ext uri="{FF2B5EF4-FFF2-40B4-BE49-F238E27FC236}">
                  <a16:creationId xmlns:a16="http://schemas.microsoft.com/office/drawing/2014/main" id="{5CDAB2E0-FACF-2759-2E24-598CDDDB8A8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144325" y="6401148"/>
              <a:ext cx="0" cy="379818"/>
            </a:xfrm>
            <a:prstGeom prst="line">
              <a:avLst/>
            </a:prstGeom>
            <a:noFill/>
            <a:ln w="254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620" name="Line 166">
              <a:extLst>
                <a:ext uri="{FF2B5EF4-FFF2-40B4-BE49-F238E27FC236}">
                  <a16:creationId xmlns:a16="http://schemas.microsoft.com/office/drawing/2014/main" id="{B0569DDA-BC79-1A0B-8178-338DCF9F30F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258271" y="6401148"/>
              <a:ext cx="0" cy="316008"/>
            </a:xfrm>
            <a:prstGeom prst="line">
              <a:avLst/>
            </a:prstGeom>
            <a:noFill/>
            <a:ln w="254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621" name="Line 167">
              <a:extLst>
                <a:ext uri="{FF2B5EF4-FFF2-40B4-BE49-F238E27FC236}">
                  <a16:creationId xmlns:a16="http://schemas.microsoft.com/office/drawing/2014/main" id="{ABEDC15E-4525-3CB0-CEBA-4A44A100022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258271" y="6717156"/>
              <a:ext cx="589477" cy="0"/>
            </a:xfrm>
            <a:prstGeom prst="line">
              <a:avLst/>
            </a:prstGeom>
            <a:noFill/>
            <a:ln w="254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622" name="Line 168">
              <a:extLst>
                <a:ext uri="{FF2B5EF4-FFF2-40B4-BE49-F238E27FC236}">
                  <a16:creationId xmlns:a16="http://schemas.microsoft.com/office/drawing/2014/main" id="{B3B8422B-C6F6-30DD-7FC6-58AD12E1081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847748" y="6401148"/>
              <a:ext cx="0" cy="316008"/>
            </a:xfrm>
            <a:prstGeom prst="line">
              <a:avLst/>
            </a:prstGeom>
            <a:noFill/>
            <a:ln w="254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</p:grpSp>
      <p:sp>
        <p:nvSpPr>
          <p:cNvPr id="623" name="Freeform 20">
            <a:extLst>
              <a:ext uri="{FF2B5EF4-FFF2-40B4-BE49-F238E27FC236}">
                <a16:creationId xmlns:a16="http://schemas.microsoft.com/office/drawing/2014/main" id="{6B52C243-9AF1-FE99-47ED-4C229380BF12}"/>
              </a:ext>
            </a:extLst>
          </p:cNvPr>
          <p:cNvSpPr>
            <a:spLocks noEditPoints="1"/>
          </p:cNvSpPr>
          <p:nvPr/>
        </p:nvSpPr>
        <p:spPr bwMode="auto">
          <a:xfrm>
            <a:off x="2822575" y="2564262"/>
            <a:ext cx="5249862" cy="63500"/>
          </a:xfrm>
          <a:custGeom>
            <a:avLst/>
            <a:gdLst>
              <a:gd name="T0" fmla="*/ 0 w 3307"/>
              <a:gd name="T1" fmla="*/ 13 h 40"/>
              <a:gd name="T2" fmla="*/ 3274 w 3307"/>
              <a:gd name="T3" fmla="*/ 13 h 40"/>
              <a:gd name="T4" fmla="*/ 3274 w 3307"/>
              <a:gd name="T5" fmla="*/ 27 h 40"/>
              <a:gd name="T6" fmla="*/ 0 w 3307"/>
              <a:gd name="T7" fmla="*/ 27 h 40"/>
              <a:gd name="T8" fmla="*/ 0 w 3307"/>
              <a:gd name="T9" fmla="*/ 13 h 40"/>
              <a:gd name="T10" fmla="*/ 3267 w 3307"/>
              <a:gd name="T11" fmla="*/ 0 h 40"/>
              <a:gd name="T12" fmla="*/ 3307 w 3307"/>
              <a:gd name="T13" fmla="*/ 20 h 40"/>
              <a:gd name="T14" fmla="*/ 3267 w 3307"/>
              <a:gd name="T15" fmla="*/ 40 h 40"/>
              <a:gd name="T16" fmla="*/ 3267 w 3307"/>
              <a:gd name="T17" fmla="*/ 0 h 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3307" h="40">
                <a:moveTo>
                  <a:pt x="0" y="13"/>
                </a:moveTo>
                <a:lnTo>
                  <a:pt x="3274" y="13"/>
                </a:lnTo>
                <a:lnTo>
                  <a:pt x="3274" y="27"/>
                </a:lnTo>
                <a:lnTo>
                  <a:pt x="0" y="27"/>
                </a:lnTo>
                <a:lnTo>
                  <a:pt x="0" y="13"/>
                </a:lnTo>
                <a:close/>
                <a:moveTo>
                  <a:pt x="3267" y="0"/>
                </a:moveTo>
                <a:lnTo>
                  <a:pt x="3307" y="20"/>
                </a:lnTo>
                <a:lnTo>
                  <a:pt x="3267" y="40"/>
                </a:lnTo>
                <a:lnTo>
                  <a:pt x="3267" y="0"/>
                </a:lnTo>
                <a:close/>
              </a:path>
            </a:pathLst>
          </a:custGeom>
          <a:solidFill>
            <a:srgbClr val="000000"/>
          </a:solidFill>
          <a:ln w="0" cap="flat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624" name="Rectangle 21">
            <a:extLst>
              <a:ext uri="{FF2B5EF4-FFF2-40B4-BE49-F238E27FC236}">
                <a16:creationId xmlns:a16="http://schemas.microsoft.com/office/drawing/2014/main" id="{2EA36724-7708-661C-7E8D-089DA21E92A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70425" y="2256287"/>
            <a:ext cx="1629549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zh-CN" altLang="zh-CN" sz="1500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rPr>
              <a:t>Time (clock cycles)</a:t>
            </a:r>
            <a:endParaRPr kumimoji="0" lang="zh-CN" altLang="zh-CN" sz="180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  <a:ea typeface="SimHei" panose="02010609060101010101" pitchFamily="49" charset="-122"/>
            </a:endParaRPr>
          </a:p>
        </p:txBody>
      </p:sp>
      <p:sp>
        <p:nvSpPr>
          <p:cNvPr id="5" name="文本框 4">
            <a:extLst>
              <a:ext uri="{FF2B5EF4-FFF2-40B4-BE49-F238E27FC236}">
                <a16:creationId xmlns:a16="http://schemas.microsoft.com/office/drawing/2014/main" id="{48DDA214-DD4E-0D83-C5AA-54BD3343FE1E}"/>
              </a:ext>
            </a:extLst>
          </p:cNvPr>
          <p:cNvSpPr txBox="1"/>
          <p:nvPr/>
        </p:nvSpPr>
        <p:spPr>
          <a:xfrm>
            <a:off x="4140785" y="2532996"/>
            <a:ext cx="370053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en-US" altLang="zh-CN">
                <a:solidFill>
                  <a:srgbClr val="FF0000"/>
                </a:solidFill>
              </a:rPr>
              <a:t>t</a:t>
            </a:r>
            <a:r>
              <a:rPr kumimoji="1" lang="en-US" altLang="zh-CN" baseline="-25000">
                <a:solidFill>
                  <a:srgbClr val="FF0000"/>
                </a:solidFill>
              </a:rPr>
              <a:t>1</a:t>
            </a:r>
            <a:endParaRPr kumimoji="1" lang="zh-CN" altLang="en-US" baseline="-25000">
              <a:solidFill>
                <a:srgbClr val="FF0000"/>
              </a:solidFill>
            </a:endParaRPr>
          </a:p>
        </p:txBody>
      </p:sp>
      <p:sp>
        <p:nvSpPr>
          <p:cNvPr id="7" name="文本框 6">
            <a:extLst>
              <a:ext uri="{FF2B5EF4-FFF2-40B4-BE49-F238E27FC236}">
                <a16:creationId xmlns:a16="http://schemas.microsoft.com/office/drawing/2014/main" id="{92E2E4F2-630D-D149-E1D4-F93B8B2ED083}"/>
              </a:ext>
            </a:extLst>
          </p:cNvPr>
          <p:cNvSpPr txBox="1"/>
          <p:nvPr/>
        </p:nvSpPr>
        <p:spPr>
          <a:xfrm>
            <a:off x="4740903" y="2532996"/>
            <a:ext cx="370053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en-US" altLang="zh-CN">
                <a:solidFill>
                  <a:srgbClr val="FF0000"/>
                </a:solidFill>
              </a:rPr>
              <a:t>t</a:t>
            </a:r>
            <a:r>
              <a:rPr kumimoji="1" lang="en-US" altLang="zh-CN" baseline="-25000">
                <a:solidFill>
                  <a:srgbClr val="FF0000"/>
                </a:solidFill>
              </a:rPr>
              <a:t>2</a:t>
            </a:r>
            <a:endParaRPr kumimoji="1" lang="zh-CN" altLang="en-US" baseline="-25000">
              <a:solidFill>
                <a:srgbClr val="FF0000"/>
              </a:solidFill>
            </a:endParaRPr>
          </a:p>
        </p:txBody>
      </p:sp>
      <p:sp>
        <p:nvSpPr>
          <p:cNvPr id="8" name="文本框 7">
            <a:extLst>
              <a:ext uri="{FF2B5EF4-FFF2-40B4-BE49-F238E27FC236}">
                <a16:creationId xmlns:a16="http://schemas.microsoft.com/office/drawing/2014/main" id="{70CEB86F-3FDA-6357-C5BC-B2DA537DEAD3}"/>
              </a:ext>
            </a:extLst>
          </p:cNvPr>
          <p:cNvSpPr txBox="1"/>
          <p:nvPr/>
        </p:nvSpPr>
        <p:spPr>
          <a:xfrm>
            <a:off x="5354323" y="2532996"/>
            <a:ext cx="370053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en-US" altLang="zh-CN">
                <a:solidFill>
                  <a:srgbClr val="FF0000"/>
                </a:solidFill>
              </a:rPr>
              <a:t>t</a:t>
            </a:r>
            <a:r>
              <a:rPr kumimoji="1" lang="en-US" altLang="zh-CN" baseline="-25000">
                <a:solidFill>
                  <a:srgbClr val="FF0000"/>
                </a:solidFill>
              </a:rPr>
              <a:t>3</a:t>
            </a:r>
            <a:endParaRPr kumimoji="1" lang="zh-CN" altLang="en-US" baseline="-25000">
              <a:solidFill>
                <a:srgbClr val="FF0000"/>
              </a:solidFill>
            </a:endParaRPr>
          </a:p>
        </p:txBody>
      </p:sp>
      <p:sp>
        <p:nvSpPr>
          <p:cNvPr id="9" name="文本框 8">
            <a:extLst>
              <a:ext uri="{FF2B5EF4-FFF2-40B4-BE49-F238E27FC236}">
                <a16:creationId xmlns:a16="http://schemas.microsoft.com/office/drawing/2014/main" id="{B97DE90F-36A3-09F0-2484-D2A2F9289E23}"/>
              </a:ext>
            </a:extLst>
          </p:cNvPr>
          <p:cNvSpPr txBox="1"/>
          <p:nvPr/>
        </p:nvSpPr>
        <p:spPr>
          <a:xfrm>
            <a:off x="7697040" y="2657841"/>
            <a:ext cx="1327285" cy="9233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/>
            <a:r>
              <a:rPr lang="en-US" altLang="zh-CN">
                <a:latin typeface="+mn-lt"/>
                <a:ea typeface="+mn-ea"/>
              </a:rPr>
              <a:t>t1</a:t>
            </a:r>
            <a:r>
              <a:rPr lang="zh-CN" altLang="en-US">
                <a:latin typeface="+mn-lt"/>
                <a:ea typeface="+mn-ea"/>
              </a:rPr>
              <a:t>和</a:t>
            </a:r>
            <a:r>
              <a:rPr lang="en-US" altLang="zh-CN">
                <a:latin typeface="+mn-lt"/>
                <a:ea typeface="+mn-ea"/>
              </a:rPr>
              <a:t>t2</a:t>
            </a:r>
            <a:r>
              <a:rPr lang="zh-CN" altLang="en-US">
                <a:latin typeface="+mn-lt"/>
                <a:ea typeface="+mn-ea"/>
              </a:rPr>
              <a:t>时刻无法预知</a:t>
            </a:r>
            <a:r>
              <a:rPr lang="en-US" altLang="zh-CN">
                <a:latin typeface="+mn-lt"/>
                <a:ea typeface="+mn-ea"/>
              </a:rPr>
              <a:t>t3</a:t>
            </a:r>
            <a:r>
              <a:rPr lang="zh-CN" altLang="en-US">
                <a:latin typeface="+mn-lt"/>
                <a:ea typeface="+mn-ea"/>
              </a:rPr>
              <a:t>时刻的数据</a:t>
            </a:r>
          </a:p>
        </p:txBody>
      </p:sp>
    </p:spTree>
    <p:extLst>
      <p:ext uri="{BB962C8B-B14F-4D97-AF65-F5344CB8AC3E}">
        <p14:creationId xmlns:p14="http://schemas.microsoft.com/office/powerpoint/2010/main" val="1361089196"/>
      </p:ext>
    </p:extLst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6" name="直接箭头连接符 5">
            <a:extLst>
              <a:ext uri="{FF2B5EF4-FFF2-40B4-BE49-F238E27FC236}">
                <a16:creationId xmlns:a16="http://schemas.microsoft.com/office/drawing/2014/main" id="{307B7612-2FDA-5349-D7A7-18BB3FA16C5C}"/>
              </a:ext>
            </a:extLst>
          </p:cNvPr>
          <p:cNvCxnSpPr>
            <a:cxnSpLocks/>
            <a:stCxn id="508" idx="3"/>
            <a:endCxn id="526" idx="0"/>
          </p:cNvCxnSpPr>
          <p:nvPr/>
        </p:nvCxnSpPr>
        <p:spPr>
          <a:xfrm flipH="1">
            <a:off x="4326725" y="3417643"/>
            <a:ext cx="1224235" cy="325942"/>
          </a:xfrm>
          <a:prstGeom prst="straightConnector1">
            <a:avLst/>
          </a:prstGeom>
          <a:ln w="28575"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9" name="直接箭头连接符 178">
            <a:extLst>
              <a:ext uri="{FF2B5EF4-FFF2-40B4-BE49-F238E27FC236}">
                <a16:creationId xmlns:a16="http://schemas.microsoft.com/office/drawing/2014/main" id="{BCECC523-255E-4DD8-8F49-9FF172154986}"/>
              </a:ext>
            </a:extLst>
          </p:cNvPr>
          <p:cNvCxnSpPr>
            <a:cxnSpLocks/>
            <a:stCxn id="508" idx="3"/>
            <a:endCxn id="551" idx="0"/>
          </p:cNvCxnSpPr>
          <p:nvPr/>
        </p:nvCxnSpPr>
        <p:spPr>
          <a:xfrm flipH="1">
            <a:off x="4930265" y="3417643"/>
            <a:ext cx="620695" cy="1041768"/>
          </a:xfrm>
          <a:prstGeom prst="straightConnector1">
            <a:avLst/>
          </a:prstGeom>
          <a:ln w="28575"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7" name="直接箭头连接符 176">
            <a:extLst>
              <a:ext uri="{FF2B5EF4-FFF2-40B4-BE49-F238E27FC236}">
                <a16:creationId xmlns:a16="http://schemas.microsoft.com/office/drawing/2014/main" id="{8E746CD7-8268-8A8B-4DEB-107BB5A97F0E}"/>
              </a:ext>
            </a:extLst>
          </p:cNvPr>
          <p:cNvCxnSpPr>
            <a:cxnSpLocks/>
            <a:stCxn id="508" idx="3"/>
            <a:endCxn id="578" idx="0"/>
          </p:cNvCxnSpPr>
          <p:nvPr/>
        </p:nvCxnSpPr>
        <p:spPr>
          <a:xfrm flipH="1">
            <a:off x="5535365" y="3417643"/>
            <a:ext cx="15595" cy="1757594"/>
          </a:xfrm>
          <a:prstGeom prst="straightConnector1">
            <a:avLst/>
          </a:prstGeom>
          <a:ln w="28575">
            <a:solidFill>
              <a:srgbClr val="00B05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0" name="直接箭头连接符 179">
            <a:extLst>
              <a:ext uri="{FF2B5EF4-FFF2-40B4-BE49-F238E27FC236}">
                <a16:creationId xmlns:a16="http://schemas.microsoft.com/office/drawing/2014/main" id="{1E2457DD-B7A3-5EC0-8518-A9486CAB8FF1}"/>
              </a:ext>
            </a:extLst>
          </p:cNvPr>
          <p:cNvCxnSpPr>
            <a:cxnSpLocks/>
            <a:stCxn id="508" idx="3"/>
            <a:endCxn id="603" idx="0"/>
          </p:cNvCxnSpPr>
          <p:nvPr/>
        </p:nvCxnSpPr>
        <p:spPr>
          <a:xfrm>
            <a:off x="5550960" y="3417643"/>
            <a:ext cx="587943" cy="2473420"/>
          </a:xfrm>
          <a:prstGeom prst="straightConnector1">
            <a:avLst/>
          </a:prstGeom>
          <a:ln w="28575">
            <a:solidFill>
              <a:srgbClr val="00B05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4" name="Rectangle 5">
            <a:extLst>
              <a:ext uri="{FF2B5EF4-FFF2-40B4-BE49-F238E27FC236}">
                <a16:creationId xmlns:a16="http://schemas.microsoft.com/office/drawing/2014/main" id="{A9400F66-00B4-5CCE-B22C-D673E8CDB9E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19940" y="5893776"/>
            <a:ext cx="214745" cy="391444"/>
          </a:xfrm>
          <a:prstGeom prst="rect">
            <a:avLst/>
          </a:prstGeom>
          <a:solidFill>
            <a:srgbClr val="00B050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183" name="Rectangle 5">
            <a:extLst>
              <a:ext uri="{FF2B5EF4-FFF2-40B4-BE49-F238E27FC236}">
                <a16:creationId xmlns:a16="http://schemas.microsoft.com/office/drawing/2014/main" id="{F7C2D113-DAF5-3E16-25EF-B278281AD447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22888" y="5172657"/>
            <a:ext cx="214745" cy="391444"/>
          </a:xfrm>
          <a:prstGeom prst="rect">
            <a:avLst/>
          </a:prstGeom>
          <a:solidFill>
            <a:srgbClr val="00B050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174" name="Rectangle 5">
            <a:extLst>
              <a:ext uri="{FF2B5EF4-FFF2-40B4-BE49-F238E27FC236}">
                <a16:creationId xmlns:a16="http://schemas.microsoft.com/office/drawing/2014/main" id="{D0B76CDC-D511-526D-C9F6-2E4D20A73B8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23802" y="4459410"/>
            <a:ext cx="214745" cy="391444"/>
          </a:xfrm>
          <a:prstGeom prst="rect">
            <a:avLst/>
          </a:prstGeom>
          <a:solidFill>
            <a:srgbClr val="DE250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2" name="标题 1">
            <a:extLst>
              <a:ext uri="{FF2B5EF4-FFF2-40B4-BE49-F238E27FC236}">
                <a16:creationId xmlns:a16="http://schemas.microsoft.com/office/drawing/2014/main" id="{B4899360-3C67-40F9-BBDA-D9C32901CEE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dirty="0"/>
              <a:t>寄存器使用引起的冒险</a:t>
            </a:r>
          </a:p>
        </p:txBody>
      </p:sp>
      <p:sp>
        <p:nvSpPr>
          <p:cNvPr id="3" name="内容占位符 2">
            <a:extLst>
              <a:ext uri="{FF2B5EF4-FFF2-40B4-BE49-F238E27FC236}">
                <a16:creationId xmlns:a16="http://schemas.microsoft.com/office/drawing/2014/main" id="{D47F55E1-624B-43CA-B945-0E999FCD8578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r>
              <a:rPr lang="zh-CN" altLang="en-US" sz="2600" dirty="0"/>
              <a:t>指令在寄存器使用上的时间顺序关联引起了数据冒险</a:t>
            </a:r>
          </a:p>
          <a:p>
            <a:r>
              <a:rPr lang="en-US" altLang="zh-CN" sz="2600" dirty="0">
                <a:solidFill>
                  <a:srgbClr val="C00000"/>
                </a:solidFill>
              </a:rPr>
              <a:t>R</a:t>
            </a:r>
            <a:r>
              <a:rPr lang="en-US" altLang="zh-CN" sz="2600" b="0" dirty="0">
                <a:solidFill>
                  <a:srgbClr val="C00000"/>
                </a:solidFill>
              </a:rPr>
              <a:t>ead inst. </a:t>
            </a:r>
            <a:r>
              <a:rPr lang="en-US" altLang="zh-CN" sz="2600" dirty="0"/>
              <a:t>A</a:t>
            </a:r>
            <a:r>
              <a:rPr lang="en-US" altLang="zh-CN" sz="2600" b="0" dirty="0"/>
              <a:t>fter </a:t>
            </a:r>
            <a:r>
              <a:rPr lang="en-US" altLang="zh-CN" sz="2600" dirty="0">
                <a:solidFill>
                  <a:srgbClr val="00B050"/>
                </a:solidFill>
              </a:rPr>
              <a:t>W</a:t>
            </a:r>
            <a:r>
              <a:rPr lang="en-US" altLang="zh-CN" sz="2600" b="0" dirty="0">
                <a:solidFill>
                  <a:srgbClr val="00B050"/>
                </a:solidFill>
              </a:rPr>
              <a:t>rite inst. </a:t>
            </a:r>
            <a:r>
              <a:rPr lang="en-US" altLang="zh-CN" sz="2600" b="0" dirty="0"/>
              <a:t>(</a:t>
            </a:r>
            <a:r>
              <a:rPr lang="en-US" altLang="zh-CN" sz="2600" dirty="0"/>
              <a:t>RAW</a:t>
            </a:r>
            <a:r>
              <a:rPr lang="en-US" altLang="zh-CN" sz="2600" b="0" dirty="0"/>
              <a:t>) data hazards</a:t>
            </a:r>
          </a:p>
          <a:p>
            <a:endParaRPr lang="zh-CN" altLang="en-US" dirty="0"/>
          </a:p>
        </p:txBody>
      </p:sp>
      <p:sp>
        <p:nvSpPr>
          <p:cNvPr id="4" name="灯片编号占位符 3">
            <a:extLst>
              <a:ext uri="{FF2B5EF4-FFF2-40B4-BE49-F238E27FC236}">
                <a16:creationId xmlns:a16="http://schemas.microsoft.com/office/drawing/2014/main" id="{C73DE631-6AE3-470A-8ADF-D6428EDBB25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0626FCE3-5FF9-430D-BA0B-DE80AAE71673}" type="slidenum">
              <a:rPr lang="zh-CN" altLang="en-US" smtClean="0"/>
              <a:t>19</a:t>
            </a:fld>
            <a:endParaRPr lang="zh-CN" altLang="en-US"/>
          </a:p>
        </p:txBody>
      </p:sp>
      <p:sp>
        <p:nvSpPr>
          <p:cNvPr id="317" name="Rectangle 173">
            <a:extLst>
              <a:ext uri="{FF2B5EF4-FFF2-40B4-BE49-F238E27FC236}">
                <a16:creationId xmlns:a16="http://schemas.microsoft.com/office/drawing/2014/main" id="{7887D31B-67AC-95FE-B334-C0F2E1BB3E3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52513" y="3149600"/>
            <a:ext cx="5290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zh-CN" altLang="zh-CN" sz="1500" i="1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rPr>
              <a:t>I</a:t>
            </a:r>
            <a:endParaRPr kumimoji="0" lang="zh-CN" altLang="zh-CN" sz="1800" i="1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  <a:ea typeface="SimHei" panose="02010609060101010101" pitchFamily="49" charset="-122"/>
            </a:endParaRPr>
          </a:p>
        </p:txBody>
      </p:sp>
      <p:sp>
        <p:nvSpPr>
          <p:cNvPr id="318" name="Rectangle 174">
            <a:extLst>
              <a:ext uri="{FF2B5EF4-FFF2-40B4-BE49-F238E27FC236}">
                <a16:creationId xmlns:a16="http://schemas.microsoft.com/office/drawing/2014/main" id="{041E7B1A-EBE6-F461-25C6-4A4382D8CD3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28700" y="3382963"/>
            <a:ext cx="107402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zh-CN" altLang="zh-CN" sz="1500" i="1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rPr>
              <a:t>n</a:t>
            </a:r>
            <a:endParaRPr kumimoji="0" lang="zh-CN" altLang="zh-CN" sz="1800" i="1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  <a:ea typeface="SimHei" panose="02010609060101010101" pitchFamily="49" charset="-122"/>
            </a:endParaRPr>
          </a:p>
        </p:txBody>
      </p:sp>
      <p:sp>
        <p:nvSpPr>
          <p:cNvPr id="319" name="Rectangle 175">
            <a:extLst>
              <a:ext uri="{FF2B5EF4-FFF2-40B4-BE49-F238E27FC236}">
                <a16:creationId xmlns:a16="http://schemas.microsoft.com/office/drawing/2014/main" id="{5C443A4F-6BB0-2C16-EDED-C26BD9E21F2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28700" y="3616325"/>
            <a:ext cx="9618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zh-CN" altLang="zh-CN" sz="1500" i="1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rPr>
              <a:t>s</a:t>
            </a:r>
            <a:endParaRPr kumimoji="0" lang="zh-CN" altLang="zh-CN" sz="1800" i="1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  <a:ea typeface="SimHei" panose="02010609060101010101" pitchFamily="49" charset="-122"/>
            </a:endParaRPr>
          </a:p>
        </p:txBody>
      </p:sp>
      <p:sp>
        <p:nvSpPr>
          <p:cNvPr id="320" name="Rectangle 176">
            <a:extLst>
              <a:ext uri="{FF2B5EF4-FFF2-40B4-BE49-F238E27FC236}">
                <a16:creationId xmlns:a16="http://schemas.microsoft.com/office/drawing/2014/main" id="{7DE53156-94E9-046F-158F-BE3F14EDC22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52513" y="3848100"/>
            <a:ext cx="5290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zh-CN" altLang="zh-CN" sz="1500" i="1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rPr>
              <a:t>t</a:t>
            </a:r>
            <a:endParaRPr kumimoji="0" lang="zh-CN" altLang="zh-CN" sz="1800" i="1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  <a:ea typeface="SimHei" panose="02010609060101010101" pitchFamily="49" charset="-122"/>
            </a:endParaRPr>
          </a:p>
        </p:txBody>
      </p:sp>
      <p:sp>
        <p:nvSpPr>
          <p:cNvPr id="321" name="Rectangle 177">
            <a:extLst>
              <a:ext uri="{FF2B5EF4-FFF2-40B4-BE49-F238E27FC236}">
                <a16:creationId xmlns:a16="http://schemas.microsoft.com/office/drawing/2014/main" id="{A3079C39-0D6B-5EA8-0CE8-A0A95C16289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20763" y="4081463"/>
            <a:ext cx="109902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zh-CN" altLang="zh-CN" sz="1500" i="1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rPr>
              <a:t>r.</a:t>
            </a:r>
            <a:endParaRPr kumimoji="0" lang="zh-CN" altLang="zh-CN" sz="1800" i="1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  <a:ea typeface="SimHei" panose="02010609060101010101" pitchFamily="49" charset="-122"/>
            </a:endParaRPr>
          </a:p>
        </p:txBody>
      </p:sp>
      <p:sp>
        <p:nvSpPr>
          <p:cNvPr id="322" name="Rectangle 178">
            <a:extLst>
              <a:ext uri="{FF2B5EF4-FFF2-40B4-BE49-F238E27FC236}">
                <a16:creationId xmlns:a16="http://schemas.microsoft.com/office/drawing/2014/main" id="{3AA7142E-D84F-6797-E70D-250D52965F8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03300" y="4540250"/>
            <a:ext cx="14908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zh-CN" altLang="zh-CN" sz="1500" i="1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rPr>
              <a:t>O</a:t>
            </a:r>
            <a:endParaRPr kumimoji="0" lang="zh-CN" altLang="zh-CN" sz="1800" i="1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  <a:ea typeface="SimHei" panose="02010609060101010101" pitchFamily="49" charset="-122"/>
            </a:endParaRPr>
          </a:p>
        </p:txBody>
      </p:sp>
      <p:sp>
        <p:nvSpPr>
          <p:cNvPr id="323" name="Rectangle 179">
            <a:extLst>
              <a:ext uri="{FF2B5EF4-FFF2-40B4-BE49-F238E27FC236}">
                <a16:creationId xmlns:a16="http://schemas.microsoft.com/office/drawing/2014/main" id="{CAAF16ED-6CDB-0E08-3C18-DE2B5384D1B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44575" y="4773613"/>
            <a:ext cx="6412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zh-CN" altLang="zh-CN" sz="1500" i="1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rPr>
              <a:t>r</a:t>
            </a:r>
            <a:endParaRPr kumimoji="0" lang="zh-CN" altLang="zh-CN" sz="1800" i="1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  <a:ea typeface="SimHei" panose="02010609060101010101" pitchFamily="49" charset="-122"/>
            </a:endParaRPr>
          </a:p>
        </p:txBody>
      </p:sp>
      <p:sp>
        <p:nvSpPr>
          <p:cNvPr id="324" name="Rectangle 180">
            <a:extLst>
              <a:ext uri="{FF2B5EF4-FFF2-40B4-BE49-F238E27FC236}">
                <a16:creationId xmlns:a16="http://schemas.microsoft.com/office/drawing/2014/main" id="{4A1F89B4-119B-ABA9-ACE7-7C3E8960DB5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28700" y="5006975"/>
            <a:ext cx="107402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zh-CN" altLang="zh-CN" sz="1500" i="1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rPr>
              <a:t>d</a:t>
            </a:r>
            <a:endParaRPr kumimoji="0" lang="zh-CN" altLang="zh-CN" sz="1800" i="1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  <a:ea typeface="SimHei" panose="02010609060101010101" pitchFamily="49" charset="-122"/>
            </a:endParaRPr>
          </a:p>
        </p:txBody>
      </p:sp>
      <p:sp>
        <p:nvSpPr>
          <p:cNvPr id="325" name="Rectangle 181">
            <a:extLst>
              <a:ext uri="{FF2B5EF4-FFF2-40B4-BE49-F238E27FC236}">
                <a16:creationId xmlns:a16="http://schemas.microsoft.com/office/drawing/2014/main" id="{6C87CC05-2C26-D594-09BD-5419232C864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28700" y="5243513"/>
            <a:ext cx="107402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zh-CN" altLang="zh-CN" sz="1500" i="1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rPr>
              <a:t>e</a:t>
            </a:r>
            <a:endParaRPr kumimoji="0" lang="zh-CN" altLang="zh-CN" sz="1800" i="1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  <a:ea typeface="SimHei" panose="02010609060101010101" pitchFamily="49" charset="-122"/>
            </a:endParaRPr>
          </a:p>
        </p:txBody>
      </p:sp>
      <p:sp>
        <p:nvSpPr>
          <p:cNvPr id="326" name="Rectangle 182">
            <a:extLst>
              <a:ext uri="{FF2B5EF4-FFF2-40B4-BE49-F238E27FC236}">
                <a16:creationId xmlns:a16="http://schemas.microsoft.com/office/drawing/2014/main" id="{7A4A5006-8FA0-701A-13ED-DB81287AAC25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44575" y="5468938"/>
            <a:ext cx="6412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zh-CN" altLang="zh-CN" sz="1500" i="1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rPr>
              <a:t>r</a:t>
            </a:r>
            <a:endParaRPr kumimoji="0" lang="zh-CN" altLang="zh-CN" sz="1800" i="1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  <a:ea typeface="SimHei" panose="02010609060101010101" pitchFamily="49" charset="-122"/>
            </a:endParaRPr>
          </a:p>
        </p:txBody>
      </p:sp>
      <p:sp>
        <p:nvSpPr>
          <p:cNvPr id="328" name="Rectangle 184">
            <a:extLst>
              <a:ext uri="{FF2B5EF4-FFF2-40B4-BE49-F238E27FC236}">
                <a16:creationId xmlns:a16="http://schemas.microsoft.com/office/drawing/2014/main" id="{C8692C79-3E92-4DAE-5498-6A2AD69D8A2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371600" y="3017838"/>
            <a:ext cx="428002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zh-CN" altLang="zh-CN" sz="2000" u="none" strike="noStrike" cap="none" normalizeH="0" baseline="0" dirty="0">
                <a:ln>
                  <a:noFill/>
                </a:ln>
                <a:solidFill>
                  <a:srgbClr val="3333CC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rPr>
              <a:t>add</a:t>
            </a:r>
            <a:endParaRPr kumimoji="0" lang="zh-CN" altLang="zh-CN" sz="180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  <a:ea typeface="SimHei" panose="02010609060101010101" pitchFamily="49" charset="-122"/>
            </a:endParaRPr>
          </a:p>
        </p:txBody>
      </p:sp>
      <p:sp>
        <p:nvSpPr>
          <p:cNvPr id="329" name="Rectangle 185">
            <a:extLst>
              <a:ext uri="{FF2B5EF4-FFF2-40B4-BE49-F238E27FC236}">
                <a16:creationId xmlns:a16="http://schemas.microsoft.com/office/drawing/2014/main" id="{B82518FD-B896-9822-A375-8CDD14E760D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03413" y="3025775"/>
            <a:ext cx="227626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zh-CN" altLang="zh-CN" sz="2000" u="none" strike="noStrike" cap="none" normalizeH="0" baseline="0" dirty="0">
                <a:ln>
                  <a:noFill/>
                </a:ln>
                <a:solidFill>
                  <a:srgbClr val="DE2506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rPr>
              <a:t>r1</a:t>
            </a:r>
            <a:endParaRPr kumimoji="0" lang="zh-CN" altLang="zh-CN" sz="180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  <a:ea typeface="SimHei" panose="02010609060101010101" pitchFamily="49" charset="-122"/>
            </a:endParaRPr>
          </a:p>
        </p:txBody>
      </p:sp>
      <p:sp>
        <p:nvSpPr>
          <p:cNvPr id="330" name="Rectangle 186">
            <a:extLst>
              <a:ext uri="{FF2B5EF4-FFF2-40B4-BE49-F238E27FC236}">
                <a16:creationId xmlns:a16="http://schemas.microsoft.com/office/drawing/2014/main" id="{3FB80187-73FD-4D4E-767E-15E73AB7A32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38363" y="3025775"/>
            <a:ext cx="596317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zh-CN" altLang="zh-CN" sz="2000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rPr>
              <a:t>,r2,r3</a:t>
            </a:r>
            <a:endParaRPr kumimoji="0" lang="zh-CN" altLang="zh-CN" sz="180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  <a:ea typeface="SimHei" panose="02010609060101010101" pitchFamily="49" charset="-122"/>
            </a:endParaRPr>
          </a:p>
        </p:txBody>
      </p:sp>
      <p:sp>
        <p:nvSpPr>
          <p:cNvPr id="331" name="Rectangle 187">
            <a:extLst>
              <a:ext uri="{FF2B5EF4-FFF2-40B4-BE49-F238E27FC236}">
                <a16:creationId xmlns:a16="http://schemas.microsoft.com/office/drawing/2014/main" id="{34823BB0-DF55-C5F9-75F0-966A18EC415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371600" y="3735388"/>
            <a:ext cx="782265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zh-CN" altLang="zh-CN" sz="2000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rPr>
              <a:t>sub r4,</a:t>
            </a:r>
            <a:endParaRPr kumimoji="0" lang="zh-CN" altLang="zh-CN" sz="180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  <a:ea typeface="SimHei" panose="02010609060101010101" pitchFamily="49" charset="-122"/>
            </a:endParaRPr>
          </a:p>
        </p:txBody>
      </p:sp>
      <p:sp>
        <p:nvSpPr>
          <p:cNvPr id="332" name="Rectangle 188">
            <a:extLst>
              <a:ext uri="{FF2B5EF4-FFF2-40B4-BE49-F238E27FC236}">
                <a16:creationId xmlns:a16="http://schemas.microsoft.com/office/drawing/2014/main" id="{17C7B5E7-962C-87CE-2749-DCD40A4C04A3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62175" y="3735388"/>
            <a:ext cx="227626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zh-CN" altLang="zh-CN" sz="2000" u="none" strike="noStrike" cap="none" normalizeH="0" baseline="0" dirty="0">
                <a:ln>
                  <a:noFill/>
                </a:ln>
                <a:solidFill>
                  <a:srgbClr val="DE2506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rPr>
              <a:t>r1</a:t>
            </a:r>
            <a:endParaRPr kumimoji="0" lang="zh-CN" altLang="zh-CN" sz="180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  <a:ea typeface="SimHei" panose="02010609060101010101" pitchFamily="49" charset="-122"/>
            </a:endParaRPr>
          </a:p>
        </p:txBody>
      </p:sp>
      <p:sp>
        <p:nvSpPr>
          <p:cNvPr id="333" name="Rectangle 189">
            <a:extLst>
              <a:ext uri="{FF2B5EF4-FFF2-40B4-BE49-F238E27FC236}">
                <a16:creationId xmlns:a16="http://schemas.microsoft.com/office/drawing/2014/main" id="{1E4B3024-0D39-01A4-F06B-6125C7C14B7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95538" y="3735388"/>
            <a:ext cx="298159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zh-CN" altLang="zh-CN" sz="2000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rPr>
              <a:t>,r5</a:t>
            </a:r>
            <a:endParaRPr kumimoji="0" lang="zh-CN" altLang="zh-CN" sz="180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  <a:ea typeface="SimHei" panose="02010609060101010101" pitchFamily="49" charset="-122"/>
            </a:endParaRPr>
          </a:p>
        </p:txBody>
      </p:sp>
      <p:sp>
        <p:nvSpPr>
          <p:cNvPr id="334" name="Rectangle 190">
            <a:extLst>
              <a:ext uri="{FF2B5EF4-FFF2-40B4-BE49-F238E27FC236}">
                <a16:creationId xmlns:a16="http://schemas.microsoft.com/office/drawing/2014/main" id="{19791E4F-9B8A-B3BA-1224-B76F3DE29FE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371600" y="4479925"/>
            <a:ext cx="796693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zh-CN" altLang="zh-CN" sz="2000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rPr>
              <a:t>and r6,</a:t>
            </a:r>
            <a:endParaRPr kumimoji="0" lang="zh-CN" altLang="zh-CN" sz="180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  <a:ea typeface="SimHei" panose="02010609060101010101" pitchFamily="49" charset="-122"/>
            </a:endParaRPr>
          </a:p>
        </p:txBody>
      </p:sp>
      <p:sp>
        <p:nvSpPr>
          <p:cNvPr id="335" name="Rectangle 191">
            <a:extLst>
              <a:ext uri="{FF2B5EF4-FFF2-40B4-BE49-F238E27FC236}">
                <a16:creationId xmlns:a16="http://schemas.microsoft.com/office/drawing/2014/main" id="{F70A5E11-C5EC-6A23-83B8-39EC577E8AE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78050" y="4479925"/>
            <a:ext cx="227626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zh-CN" altLang="zh-CN" sz="2000" u="none" strike="noStrike" cap="none" normalizeH="0" baseline="0" dirty="0">
                <a:ln>
                  <a:noFill/>
                </a:ln>
                <a:solidFill>
                  <a:srgbClr val="DE2506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rPr>
              <a:t>r1</a:t>
            </a:r>
            <a:endParaRPr kumimoji="0" lang="zh-CN" altLang="zh-CN" sz="180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  <a:ea typeface="SimHei" panose="02010609060101010101" pitchFamily="49" charset="-122"/>
            </a:endParaRPr>
          </a:p>
        </p:txBody>
      </p:sp>
      <p:sp>
        <p:nvSpPr>
          <p:cNvPr id="336" name="Rectangle 192">
            <a:extLst>
              <a:ext uri="{FF2B5EF4-FFF2-40B4-BE49-F238E27FC236}">
                <a16:creationId xmlns:a16="http://schemas.microsoft.com/office/drawing/2014/main" id="{A1C7BBFC-4718-EE26-792B-80245E73C2FA}"/>
              </a:ext>
            </a:extLst>
          </p:cNvPr>
          <p:cNvSpPr>
            <a:spLocks noChangeArrowheads="1"/>
          </p:cNvSpPr>
          <p:nvPr/>
        </p:nvSpPr>
        <p:spPr bwMode="auto">
          <a:xfrm>
            <a:off x="2411413" y="4479925"/>
            <a:ext cx="298159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zh-CN" altLang="zh-CN" sz="2000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rPr>
              <a:t>,r7</a:t>
            </a:r>
            <a:endParaRPr kumimoji="0" lang="zh-CN" altLang="zh-CN" sz="180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  <a:ea typeface="SimHei" panose="02010609060101010101" pitchFamily="49" charset="-122"/>
            </a:endParaRPr>
          </a:p>
        </p:txBody>
      </p:sp>
      <p:sp>
        <p:nvSpPr>
          <p:cNvPr id="337" name="Rectangle 193">
            <a:extLst>
              <a:ext uri="{FF2B5EF4-FFF2-40B4-BE49-F238E27FC236}">
                <a16:creationId xmlns:a16="http://schemas.microsoft.com/office/drawing/2014/main" id="{AADA35CB-0D08-4CD3-851F-466E4F47B1F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371600" y="5922963"/>
            <a:ext cx="724557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zh-CN" altLang="zh-CN" sz="2000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rPr>
              <a:t>xor r4,</a:t>
            </a:r>
            <a:endParaRPr kumimoji="0" lang="zh-CN" altLang="zh-CN" sz="180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  <a:ea typeface="SimHei" panose="02010609060101010101" pitchFamily="49" charset="-122"/>
            </a:endParaRPr>
          </a:p>
        </p:txBody>
      </p:sp>
      <p:sp>
        <p:nvSpPr>
          <p:cNvPr id="338" name="Rectangle 194">
            <a:extLst>
              <a:ext uri="{FF2B5EF4-FFF2-40B4-BE49-F238E27FC236}">
                <a16:creationId xmlns:a16="http://schemas.microsoft.com/office/drawing/2014/main" id="{6418AEC2-4E0C-8342-DB66-8A1A3C706E7C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05025" y="5922963"/>
            <a:ext cx="227626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zh-CN" altLang="zh-CN" sz="2000" u="none" strike="noStrike" cap="none" normalizeH="0" baseline="0" dirty="0">
                <a:ln>
                  <a:noFill/>
                </a:ln>
                <a:solidFill>
                  <a:srgbClr val="009900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rPr>
              <a:t>r1</a:t>
            </a:r>
            <a:endParaRPr kumimoji="0" lang="zh-CN" altLang="zh-CN" sz="180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  <a:ea typeface="SimHei" panose="02010609060101010101" pitchFamily="49" charset="-122"/>
            </a:endParaRPr>
          </a:p>
        </p:txBody>
      </p:sp>
      <p:sp>
        <p:nvSpPr>
          <p:cNvPr id="339" name="Rectangle 195">
            <a:extLst>
              <a:ext uri="{FF2B5EF4-FFF2-40B4-BE49-F238E27FC236}">
                <a16:creationId xmlns:a16="http://schemas.microsoft.com/office/drawing/2014/main" id="{905AC54D-D288-1A37-0C2C-167C604A9B6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39975" y="5922963"/>
            <a:ext cx="298159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zh-CN" altLang="zh-CN" sz="2000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rPr>
              <a:t>,r5</a:t>
            </a:r>
            <a:endParaRPr kumimoji="0" lang="zh-CN" altLang="zh-CN" sz="180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  <a:ea typeface="SimHei" panose="02010609060101010101" pitchFamily="49" charset="-122"/>
            </a:endParaRPr>
          </a:p>
        </p:txBody>
      </p:sp>
      <p:sp>
        <p:nvSpPr>
          <p:cNvPr id="348" name="Rectangle 204">
            <a:extLst>
              <a:ext uri="{FF2B5EF4-FFF2-40B4-BE49-F238E27FC236}">
                <a16:creationId xmlns:a16="http://schemas.microsoft.com/office/drawing/2014/main" id="{A8A88E97-71CD-D7C7-AEC0-E4118D27EEE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371600" y="5187950"/>
            <a:ext cx="737381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zh-CN" altLang="zh-CN" sz="2000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rPr>
              <a:t>or  r8, </a:t>
            </a:r>
            <a:endParaRPr kumimoji="0" lang="zh-CN" altLang="zh-CN" sz="180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  <a:ea typeface="SimHei" panose="02010609060101010101" pitchFamily="49" charset="-122"/>
            </a:endParaRPr>
          </a:p>
        </p:txBody>
      </p:sp>
      <p:sp>
        <p:nvSpPr>
          <p:cNvPr id="349" name="Rectangle 205">
            <a:extLst>
              <a:ext uri="{FF2B5EF4-FFF2-40B4-BE49-F238E27FC236}">
                <a16:creationId xmlns:a16="http://schemas.microsoft.com/office/drawing/2014/main" id="{5F66F0F9-11B6-A48B-58CD-C6F51A410035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14550" y="5187950"/>
            <a:ext cx="227626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zh-CN" altLang="zh-CN" sz="2000" u="none" strike="noStrike" cap="none" normalizeH="0" baseline="0" dirty="0">
                <a:ln>
                  <a:noFill/>
                </a:ln>
                <a:solidFill>
                  <a:srgbClr val="009900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rPr>
              <a:t>r1</a:t>
            </a:r>
            <a:endParaRPr kumimoji="0" lang="zh-CN" altLang="zh-CN" sz="180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  <a:ea typeface="SimHei" panose="02010609060101010101" pitchFamily="49" charset="-122"/>
            </a:endParaRPr>
          </a:p>
        </p:txBody>
      </p:sp>
      <p:sp>
        <p:nvSpPr>
          <p:cNvPr id="350" name="Rectangle 206">
            <a:extLst>
              <a:ext uri="{FF2B5EF4-FFF2-40B4-BE49-F238E27FC236}">
                <a16:creationId xmlns:a16="http://schemas.microsoft.com/office/drawing/2014/main" id="{FFF17D7C-36BC-A530-9786-58795B0F1EF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47913" y="5187950"/>
            <a:ext cx="368691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zh-CN" altLang="zh-CN" sz="2000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rPr>
              <a:t>, r9</a:t>
            </a:r>
            <a:endParaRPr kumimoji="0" lang="zh-CN" altLang="zh-CN" sz="180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  <a:ea typeface="SimHei" panose="02010609060101010101" pitchFamily="49" charset="-122"/>
            </a:endParaRPr>
          </a:p>
        </p:txBody>
      </p:sp>
      <p:sp>
        <p:nvSpPr>
          <p:cNvPr id="351" name="Freeform 207">
            <a:extLst>
              <a:ext uri="{FF2B5EF4-FFF2-40B4-BE49-F238E27FC236}">
                <a16:creationId xmlns:a16="http://schemas.microsoft.com/office/drawing/2014/main" id="{461CA2F9-3763-7646-20F5-D93E01F17EEA}"/>
              </a:ext>
            </a:extLst>
          </p:cNvPr>
          <p:cNvSpPr>
            <a:spLocks noEditPoints="1"/>
          </p:cNvSpPr>
          <p:nvPr/>
        </p:nvSpPr>
        <p:spPr bwMode="auto">
          <a:xfrm>
            <a:off x="1195388" y="3036888"/>
            <a:ext cx="71437" cy="3286125"/>
          </a:xfrm>
          <a:custGeom>
            <a:avLst/>
            <a:gdLst>
              <a:gd name="T0" fmla="*/ 30 w 45"/>
              <a:gd name="T1" fmla="*/ 0 h 2070"/>
              <a:gd name="T2" fmla="*/ 30 w 45"/>
              <a:gd name="T3" fmla="*/ 2032 h 2070"/>
              <a:gd name="T4" fmla="*/ 15 w 45"/>
              <a:gd name="T5" fmla="*/ 2032 h 2070"/>
              <a:gd name="T6" fmla="*/ 15 w 45"/>
              <a:gd name="T7" fmla="*/ 0 h 2070"/>
              <a:gd name="T8" fmla="*/ 30 w 45"/>
              <a:gd name="T9" fmla="*/ 0 h 2070"/>
              <a:gd name="T10" fmla="*/ 45 w 45"/>
              <a:gd name="T11" fmla="*/ 2024 h 2070"/>
              <a:gd name="T12" fmla="*/ 22 w 45"/>
              <a:gd name="T13" fmla="*/ 2070 h 2070"/>
              <a:gd name="T14" fmla="*/ 0 w 45"/>
              <a:gd name="T15" fmla="*/ 2024 h 2070"/>
              <a:gd name="T16" fmla="*/ 45 w 45"/>
              <a:gd name="T17" fmla="*/ 2024 h 20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45" h="2070">
                <a:moveTo>
                  <a:pt x="30" y="0"/>
                </a:moveTo>
                <a:lnTo>
                  <a:pt x="30" y="2032"/>
                </a:lnTo>
                <a:lnTo>
                  <a:pt x="15" y="2032"/>
                </a:lnTo>
                <a:lnTo>
                  <a:pt x="15" y="0"/>
                </a:lnTo>
                <a:lnTo>
                  <a:pt x="30" y="0"/>
                </a:lnTo>
                <a:close/>
                <a:moveTo>
                  <a:pt x="45" y="2024"/>
                </a:moveTo>
                <a:lnTo>
                  <a:pt x="22" y="2070"/>
                </a:lnTo>
                <a:lnTo>
                  <a:pt x="0" y="2024"/>
                </a:lnTo>
                <a:lnTo>
                  <a:pt x="45" y="2024"/>
                </a:lnTo>
                <a:close/>
              </a:path>
            </a:pathLst>
          </a:custGeom>
          <a:solidFill>
            <a:srgbClr val="000000"/>
          </a:solidFill>
          <a:ln w="0" cap="flat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i="1" dirty="0">
              <a:ea typeface="SimHei" panose="02010609060101010101" pitchFamily="49" charset="-122"/>
            </a:endParaRPr>
          </a:p>
        </p:txBody>
      </p:sp>
      <p:grpSp>
        <p:nvGrpSpPr>
          <p:cNvPr id="482" name="组合 481">
            <a:extLst>
              <a:ext uri="{FF2B5EF4-FFF2-40B4-BE49-F238E27FC236}">
                <a16:creationId xmlns:a16="http://schemas.microsoft.com/office/drawing/2014/main" id="{94732548-B5A0-155D-FB39-06EF028B742E}"/>
              </a:ext>
            </a:extLst>
          </p:cNvPr>
          <p:cNvGrpSpPr/>
          <p:nvPr/>
        </p:nvGrpSpPr>
        <p:grpSpPr>
          <a:xfrm>
            <a:off x="2876002" y="2676863"/>
            <a:ext cx="5293416" cy="3825537"/>
            <a:chOff x="2187795" y="3078501"/>
            <a:chExt cx="5156755" cy="3726773"/>
          </a:xfrm>
        </p:grpSpPr>
        <p:sp>
          <p:nvSpPr>
            <p:cNvPr id="483" name="Rectangle 5">
              <a:extLst>
                <a:ext uri="{FF2B5EF4-FFF2-40B4-BE49-F238E27FC236}">
                  <a16:creationId xmlns:a16="http://schemas.microsoft.com/office/drawing/2014/main" id="{58439C9A-2FA3-7B37-EE34-B3BB6B9FAA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89236" y="4117206"/>
              <a:ext cx="209201" cy="381338"/>
            </a:xfrm>
            <a:prstGeom prst="rect">
              <a:avLst/>
            </a:prstGeom>
            <a:solidFill>
              <a:srgbClr val="DE25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484" name="Rectangle 7">
              <a:extLst>
                <a:ext uri="{FF2B5EF4-FFF2-40B4-BE49-F238E27FC236}">
                  <a16:creationId xmlns:a16="http://schemas.microsoft.com/office/drawing/2014/main" id="{F0EF4B06-19C7-38C4-D0B4-5E880A78A4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13195" y="3420338"/>
              <a:ext cx="180499" cy="379818"/>
            </a:xfrm>
            <a:prstGeom prst="rect">
              <a:avLst/>
            </a:prstGeom>
            <a:solidFill>
              <a:srgbClr val="DE25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485" name="Freeform 27">
              <a:extLst>
                <a:ext uri="{FF2B5EF4-FFF2-40B4-BE49-F238E27FC236}">
                  <a16:creationId xmlns:a16="http://schemas.microsoft.com/office/drawing/2014/main" id="{3385C091-E9E5-0876-F6B2-6E3F9C536EA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676124" y="3078501"/>
              <a:ext cx="18000" cy="3726773"/>
            </a:xfrm>
            <a:custGeom>
              <a:avLst/>
              <a:gdLst>
                <a:gd name="T0" fmla="*/ 15 w 15"/>
                <a:gd name="T1" fmla="*/ 42 h 2453"/>
                <a:gd name="T2" fmla="*/ 0 w 15"/>
                <a:gd name="T3" fmla="*/ 56 h 2453"/>
                <a:gd name="T4" fmla="*/ 15 w 15"/>
                <a:gd name="T5" fmla="*/ 112 h 2453"/>
                <a:gd name="T6" fmla="*/ 0 w 15"/>
                <a:gd name="T7" fmla="*/ 154 h 2453"/>
                <a:gd name="T8" fmla="*/ 15 w 15"/>
                <a:gd name="T9" fmla="*/ 167 h 2453"/>
                <a:gd name="T10" fmla="*/ 15 w 15"/>
                <a:gd name="T11" fmla="*/ 237 h 2453"/>
                <a:gd name="T12" fmla="*/ 0 w 15"/>
                <a:gd name="T13" fmla="*/ 251 h 2453"/>
                <a:gd name="T14" fmla="*/ 15 w 15"/>
                <a:gd name="T15" fmla="*/ 307 h 2453"/>
                <a:gd name="T16" fmla="*/ 0 w 15"/>
                <a:gd name="T17" fmla="*/ 348 h 2453"/>
                <a:gd name="T18" fmla="*/ 15 w 15"/>
                <a:gd name="T19" fmla="*/ 362 h 2453"/>
                <a:gd name="T20" fmla="*/ 15 w 15"/>
                <a:gd name="T21" fmla="*/ 432 h 2453"/>
                <a:gd name="T22" fmla="*/ 0 w 15"/>
                <a:gd name="T23" fmla="*/ 446 h 2453"/>
                <a:gd name="T24" fmla="*/ 15 w 15"/>
                <a:gd name="T25" fmla="*/ 501 h 2453"/>
                <a:gd name="T26" fmla="*/ 0 w 15"/>
                <a:gd name="T27" fmla="*/ 543 h 2453"/>
                <a:gd name="T28" fmla="*/ 15 w 15"/>
                <a:gd name="T29" fmla="*/ 557 h 2453"/>
                <a:gd name="T30" fmla="*/ 15 w 15"/>
                <a:gd name="T31" fmla="*/ 627 h 2453"/>
                <a:gd name="T32" fmla="*/ 0 w 15"/>
                <a:gd name="T33" fmla="*/ 641 h 2453"/>
                <a:gd name="T34" fmla="*/ 15 w 15"/>
                <a:gd name="T35" fmla="*/ 696 h 2453"/>
                <a:gd name="T36" fmla="*/ 0 w 15"/>
                <a:gd name="T37" fmla="*/ 738 h 2453"/>
                <a:gd name="T38" fmla="*/ 15 w 15"/>
                <a:gd name="T39" fmla="*/ 752 h 2453"/>
                <a:gd name="T40" fmla="*/ 15 w 15"/>
                <a:gd name="T41" fmla="*/ 822 h 2453"/>
                <a:gd name="T42" fmla="*/ 0 w 15"/>
                <a:gd name="T43" fmla="*/ 835 h 2453"/>
                <a:gd name="T44" fmla="*/ 15 w 15"/>
                <a:gd name="T45" fmla="*/ 891 h 2453"/>
                <a:gd name="T46" fmla="*/ 0 w 15"/>
                <a:gd name="T47" fmla="*/ 933 h 2453"/>
                <a:gd name="T48" fmla="*/ 15 w 15"/>
                <a:gd name="T49" fmla="*/ 947 h 2453"/>
                <a:gd name="T50" fmla="*/ 15 w 15"/>
                <a:gd name="T51" fmla="*/ 1016 h 2453"/>
                <a:gd name="T52" fmla="*/ 0 w 15"/>
                <a:gd name="T53" fmla="*/ 1030 h 2453"/>
                <a:gd name="T54" fmla="*/ 15 w 15"/>
                <a:gd name="T55" fmla="*/ 1086 h 2453"/>
                <a:gd name="T56" fmla="*/ 0 w 15"/>
                <a:gd name="T57" fmla="*/ 1127 h 2453"/>
                <a:gd name="T58" fmla="*/ 15 w 15"/>
                <a:gd name="T59" fmla="*/ 1141 h 2453"/>
                <a:gd name="T60" fmla="*/ 15 w 15"/>
                <a:gd name="T61" fmla="*/ 1211 h 2453"/>
                <a:gd name="T62" fmla="*/ 0 w 15"/>
                <a:gd name="T63" fmla="*/ 1225 h 2453"/>
                <a:gd name="T64" fmla="*/ 15 w 15"/>
                <a:gd name="T65" fmla="*/ 1281 h 2453"/>
                <a:gd name="T66" fmla="*/ 0 w 15"/>
                <a:gd name="T67" fmla="*/ 1322 h 2453"/>
                <a:gd name="T68" fmla="*/ 15 w 15"/>
                <a:gd name="T69" fmla="*/ 1336 h 2453"/>
                <a:gd name="T70" fmla="*/ 15 w 15"/>
                <a:gd name="T71" fmla="*/ 1406 h 2453"/>
                <a:gd name="T72" fmla="*/ 0 w 15"/>
                <a:gd name="T73" fmla="*/ 1420 h 2453"/>
                <a:gd name="T74" fmla="*/ 15 w 15"/>
                <a:gd name="T75" fmla="*/ 1475 h 2453"/>
                <a:gd name="T76" fmla="*/ 0 w 15"/>
                <a:gd name="T77" fmla="*/ 1517 h 2453"/>
                <a:gd name="T78" fmla="*/ 15 w 15"/>
                <a:gd name="T79" fmla="*/ 1531 h 2453"/>
                <a:gd name="T80" fmla="*/ 15 w 15"/>
                <a:gd name="T81" fmla="*/ 1601 h 2453"/>
                <a:gd name="T82" fmla="*/ 0 w 15"/>
                <a:gd name="T83" fmla="*/ 1615 h 2453"/>
                <a:gd name="T84" fmla="*/ 15 w 15"/>
                <a:gd name="T85" fmla="*/ 1670 h 2453"/>
                <a:gd name="T86" fmla="*/ 0 w 15"/>
                <a:gd name="T87" fmla="*/ 1712 h 2453"/>
                <a:gd name="T88" fmla="*/ 15 w 15"/>
                <a:gd name="T89" fmla="*/ 1726 h 2453"/>
                <a:gd name="T90" fmla="*/ 15 w 15"/>
                <a:gd name="T91" fmla="*/ 1795 h 2453"/>
                <a:gd name="T92" fmla="*/ 0 w 15"/>
                <a:gd name="T93" fmla="*/ 1809 h 2453"/>
                <a:gd name="T94" fmla="*/ 15 w 15"/>
                <a:gd name="T95" fmla="*/ 1865 h 2453"/>
                <a:gd name="T96" fmla="*/ 0 w 15"/>
                <a:gd name="T97" fmla="*/ 1907 h 2453"/>
                <a:gd name="T98" fmla="*/ 15 w 15"/>
                <a:gd name="T99" fmla="*/ 1921 h 2453"/>
                <a:gd name="T100" fmla="*/ 15 w 15"/>
                <a:gd name="T101" fmla="*/ 1990 h 2453"/>
                <a:gd name="T102" fmla="*/ 0 w 15"/>
                <a:gd name="T103" fmla="*/ 2004 h 2453"/>
                <a:gd name="T104" fmla="*/ 15 w 15"/>
                <a:gd name="T105" fmla="*/ 2060 h 2453"/>
                <a:gd name="T106" fmla="*/ 0 w 15"/>
                <a:gd name="T107" fmla="*/ 2102 h 2453"/>
                <a:gd name="T108" fmla="*/ 15 w 15"/>
                <a:gd name="T109" fmla="*/ 2116 h 2453"/>
                <a:gd name="T110" fmla="*/ 15 w 15"/>
                <a:gd name="T111" fmla="*/ 2185 h 2453"/>
                <a:gd name="T112" fmla="*/ 0 w 15"/>
                <a:gd name="T113" fmla="*/ 2199 h 2453"/>
                <a:gd name="T114" fmla="*/ 15 w 15"/>
                <a:gd name="T115" fmla="*/ 2254 h 2453"/>
                <a:gd name="T116" fmla="*/ 0 w 15"/>
                <a:gd name="T117" fmla="*/ 2296 h 2453"/>
                <a:gd name="T118" fmla="*/ 15 w 15"/>
                <a:gd name="T119" fmla="*/ 2310 h 2453"/>
                <a:gd name="T120" fmla="*/ 15 w 15"/>
                <a:gd name="T121" fmla="*/ 2380 h 2453"/>
                <a:gd name="T122" fmla="*/ 0 w 15"/>
                <a:gd name="T123" fmla="*/ 2394 h 2453"/>
                <a:gd name="T124" fmla="*/ 15 w 15"/>
                <a:gd name="T125" fmla="*/ 2449 h 24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5" h="2453">
                  <a:moveTo>
                    <a:pt x="15" y="0"/>
                  </a:moveTo>
                  <a:lnTo>
                    <a:pt x="15" y="14"/>
                  </a:lnTo>
                  <a:lnTo>
                    <a:pt x="0" y="14"/>
                  </a:lnTo>
                  <a:lnTo>
                    <a:pt x="0" y="0"/>
                  </a:lnTo>
                  <a:lnTo>
                    <a:pt x="15" y="0"/>
                  </a:lnTo>
                  <a:close/>
                  <a:moveTo>
                    <a:pt x="15" y="28"/>
                  </a:moveTo>
                  <a:lnTo>
                    <a:pt x="15" y="42"/>
                  </a:lnTo>
                  <a:lnTo>
                    <a:pt x="0" y="42"/>
                  </a:lnTo>
                  <a:lnTo>
                    <a:pt x="0" y="28"/>
                  </a:lnTo>
                  <a:lnTo>
                    <a:pt x="15" y="28"/>
                  </a:lnTo>
                  <a:close/>
                  <a:moveTo>
                    <a:pt x="15" y="56"/>
                  </a:moveTo>
                  <a:lnTo>
                    <a:pt x="15" y="70"/>
                  </a:lnTo>
                  <a:lnTo>
                    <a:pt x="0" y="70"/>
                  </a:lnTo>
                  <a:lnTo>
                    <a:pt x="0" y="56"/>
                  </a:lnTo>
                  <a:lnTo>
                    <a:pt x="15" y="56"/>
                  </a:lnTo>
                  <a:close/>
                  <a:moveTo>
                    <a:pt x="15" y="84"/>
                  </a:moveTo>
                  <a:lnTo>
                    <a:pt x="15" y="98"/>
                  </a:lnTo>
                  <a:lnTo>
                    <a:pt x="0" y="98"/>
                  </a:lnTo>
                  <a:lnTo>
                    <a:pt x="0" y="84"/>
                  </a:lnTo>
                  <a:lnTo>
                    <a:pt x="15" y="84"/>
                  </a:lnTo>
                  <a:close/>
                  <a:moveTo>
                    <a:pt x="15" y="112"/>
                  </a:moveTo>
                  <a:lnTo>
                    <a:pt x="15" y="126"/>
                  </a:lnTo>
                  <a:lnTo>
                    <a:pt x="0" y="126"/>
                  </a:lnTo>
                  <a:lnTo>
                    <a:pt x="0" y="112"/>
                  </a:lnTo>
                  <a:lnTo>
                    <a:pt x="15" y="112"/>
                  </a:lnTo>
                  <a:close/>
                  <a:moveTo>
                    <a:pt x="15" y="140"/>
                  </a:moveTo>
                  <a:lnTo>
                    <a:pt x="15" y="154"/>
                  </a:lnTo>
                  <a:lnTo>
                    <a:pt x="0" y="154"/>
                  </a:lnTo>
                  <a:lnTo>
                    <a:pt x="0" y="140"/>
                  </a:lnTo>
                  <a:lnTo>
                    <a:pt x="15" y="140"/>
                  </a:lnTo>
                  <a:close/>
                  <a:moveTo>
                    <a:pt x="15" y="167"/>
                  </a:moveTo>
                  <a:lnTo>
                    <a:pt x="15" y="181"/>
                  </a:lnTo>
                  <a:lnTo>
                    <a:pt x="0" y="181"/>
                  </a:lnTo>
                  <a:lnTo>
                    <a:pt x="0" y="167"/>
                  </a:lnTo>
                  <a:lnTo>
                    <a:pt x="15" y="167"/>
                  </a:lnTo>
                  <a:close/>
                  <a:moveTo>
                    <a:pt x="15" y="195"/>
                  </a:moveTo>
                  <a:lnTo>
                    <a:pt x="15" y="209"/>
                  </a:lnTo>
                  <a:lnTo>
                    <a:pt x="0" y="209"/>
                  </a:lnTo>
                  <a:lnTo>
                    <a:pt x="0" y="195"/>
                  </a:lnTo>
                  <a:lnTo>
                    <a:pt x="15" y="195"/>
                  </a:lnTo>
                  <a:close/>
                  <a:moveTo>
                    <a:pt x="15" y="223"/>
                  </a:moveTo>
                  <a:lnTo>
                    <a:pt x="15" y="237"/>
                  </a:lnTo>
                  <a:lnTo>
                    <a:pt x="0" y="237"/>
                  </a:lnTo>
                  <a:lnTo>
                    <a:pt x="0" y="223"/>
                  </a:lnTo>
                  <a:lnTo>
                    <a:pt x="15" y="223"/>
                  </a:lnTo>
                  <a:close/>
                  <a:moveTo>
                    <a:pt x="15" y="251"/>
                  </a:moveTo>
                  <a:lnTo>
                    <a:pt x="15" y="265"/>
                  </a:lnTo>
                  <a:lnTo>
                    <a:pt x="0" y="265"/>
                  </a:lnTo>
                  <a:lnTo>
                    <a:pt x="0" y="251"/>
                  </a:lnTo>
                  <a:lnTo>
                    <a:pt x="15" y="251"/>
                  </a:lnTo>
                  <a:close/>
                  <a:moveTo>
                    <a:pt x="15" y="279"/>
                  </a:moveTo>
                  <a:lnTo>
                    <a:pt x="15" y="293"/>
                  </a:lnTo>
                  <a:lnTo>
                    <a:pt x="0" y="293"/>
                  </a:lnTo>
                  <a:lnTo>
                    <a:pt x="0" y="279"/>
                  </a:lnTo>
                  <a:lnTo>
                    <a:pt x="15" y="279"/>
                  </a:lnTo>
                  <a:close/>
                  <a:moveTo>
                    <a:pt x="15" y="307"/>
                  </a:moveTo>
                  <a:lnTo>
                    <a:pt x="15" y="321"/>
                  </a:lnTo>
                  <a:lnTo>
                    <a:pt x="0" y="321"/>
                  </a:lnTo>
                  <a:lnTo>
                    <a:pt x="0" y="307"/>
                  </a:lnTo>
                  <a:lnTo>
                    <a:pt x="15" y="307"/>
                  </a:lnTo>
                  <a:close/>
                  <a:moveTo>
                    <a:pt x="15" y="334"/>
                  </a:moveTo>
                  <a:lnTo>
                    <a:pt x="15" y="348"/>
                  </a:lnTo>
                  <a:lnTo>
                    <a:pt x="0" y="348"/>
                  </a:lnTo>
                  <a:lnTo>
                    <a:pt x="0" y="334"/>
                  </a:lnTo>
                  <a:lnTo>
                    <a:pt x="15" y="334"/>
                  </a:lnTo>
                  <a:close/>
                  <a:moveTo>
                    <a:pt x="15" y="362"/>
                  </a:moveTo>
                  <a:lnTo>
                    <a:pt x="15" y="376"/>
                  </a:lnTo>
                  <a:lnTo>
                    <a:pt x="0" y="376"/>
                  </a:lnTo>
                  <a:lnTo>
                    <a:pt x="0" y="362"/>
                  </a:lnTo>
                  <a:lnTo>
                    <a:pt x="15" y="362"/>
                  </a:lnTo>
                  <a:close/>
                  <a:moveTo>
                    <a:pt x="15" y="390"/>
                  </a:moveTo>
                  <a:lnTo>
                    <a:pt x="15" y="404"/>
                  </a:lnTo>
                  <a:lnTo>
                    <a:pt x="0" y="404"/>
                  </a:lnTo>
                  <a:lnTo>
                    <a:pt x="0" y="390"/>
                  </a:lnTo>
                  <a:lnTo>
                    <a:pt x="15" y="390"/>
                  </a:lnTo>
                  <a:close/>
                  <a:moveTo>
                    <a:pt x="15" y="418"/>
                  </a:moveTo>
                  <a:lnTo>
                    <a:pt x="15" y="432"/>
                  </a:lnTo>
                  <a:lnTo>
                    <a:pt x="0" y="432"/>
                  </a:lnTo>
                  <a:lnTo>
                    <a:pt x="0" y="418"/>
                  </a:lnTo>
                  <a:lnTo>
                    <a:pt x="15" y="418"/>
                  </a:lnTo>
                  <a:close/>
                  <a:moveTo>
                    <a:pt x="15" y="446"/>
                  </a:moveTo>
                  <a:lnTo>
                    <a:pt x="15" y="460"/>
                  </a:lnTo>
                  <a:lnTo>
                    <a:pt x="0" y="460"/>
                  </a:lnTo>
                  <a:lnTo>
                    <a:pt x="0" y="446"/>
                  </a:lnTo>
                  <a:lnTo>
                    <a:pt x="15" y="446"/>
                  </a:lnTo>
                  <a:close/>
                  <a:moveTo>
                    <a:pt x="15" y="474"/>
                  </a:moveTo>
                  <a:lnTo>
                    <a:pt x="15" y="488"/>
                  </a:lnTo>
                  <a:lnTo>
                    <a:pt x="0" y="488"/>
                  </a:lnTo>
                  <a:lnTo>
                    <a:pt x="0" y="474"/>
                  </a:lnTo>
                  <a:lnTo>
                    <a:pt x="15" y="474"/>
                  </a:lnTo>
                  <a:close/>
                  <a:moveTo>
                    <a:pt x="15" y="501"/>
                  </a:moveTo>
                  <a:lnTo>
                    <a:pt x="15" y="515"/>
                  </a:lnTo>
                  <a:lnTo>
                    <a:pt x="0" y="515"/>
                  </a:lnTo>
                  <a:lnTo>
                    <a:pt x="0" y="501"/>
                  </a:lnTo>
                  <a:lnTo>
                    <a:pt x="15" y="501"/>
                  </a:lnTo>
                  <a:close/>
                  <a:moveTo>
                    <a:pt x="15" y="529"/>
                  </a:moveTo>
                  <a:lnTo>
                    <a:pt x="15" y="543"/>
                  </a:lnTo>
                  <a:lnTo>
                    <a:pt x="0" y="543"/>
                  </a:lnTo>
                  <a:lnTo>
                    <a:pt x="0" y="529"/>
                  </a:lnTo>
                  <a:lnTo>
                    <a:pt x="15" y="529"/>
                  </a:lnTo>
                  <a:close/>
                  <a:moveTo>
                    <a:pt x="15" y="557"/>
                  </a:moveTo>
                  <a:lnTo>
                    <a:pt x="15" y="571"/>
                  </a:lnTo>
                  <a:lnTo>
                    <a:pt x="0" y="571"/>
                  </a:lnTo>
                  <a:lnTo>
                    <a:pt x="0" y="557"/>
                  </a:lnTo>
                  <a:lnTo>
                    <a:pt x="15" y="557"/>
                  </a:lnTo>
                  <a:close/>
                  <a:moveTo>
                    <a:pt x="15" y="585"/>
                  </a:moveTo>
                  <a:lnTo>
                    <a:pt x="15" y="599"/>
                  </a:lnTo>
                  <a:lnTo>
                    <a:pt x="0" y="599"/>
                  </a:lnTo>
                  <a:lnTo>
                    <a:pt x="0" y="585"/>
                  </a:lnTo>
                  <a:lnTo>
                    <a:pt x="15" y="585"/>
                  </a:lnTo>
                  <a:close/>
                  <a:moveTo>
                    <a:pt x="15" y="613"/>
                  </a:moveTo>
                  <a:lnTo>
                    <a:pt x="15" y="627"/>
                  </a:lnTo>
                  <a:lnTo>
                    <a:pt x="0" y="627"/>
                  </a:lnTo>
                  <a:lnTo>
                    <a:pt x="0" y="613"/>
                  </a:lnTo>
                  <a:lnTo>
                    <a:pt x="15" y="613"/>
                  </a:lnTo>
                  <a:close/>
                  <a:moveTo>
                    <a:pt x="15" y="641"/>
                  </a:moveTo>
                  <a:lnTo>
                    <a:pt x="15" y="655"/>
                  </a:lnTo>
                  <a:lnTo>
                    <a:pt x="0" y="655"/>
                  </a:lnTo>
                  <a:lnTo>
                    <a:pt x="0" y="641"/>
                  </a:lnTo>
                  <a:lnTo>
                    <a:pt x="15" y="641"/>
                  </a:lnTo>
                  <a:close/>
                  <a:moveTo>
                    <a:pt x="15" y="668"/>
                  </a:moveTo>
                  <a:lnTo>
                    <a:pt x="15" y="682"/>
                  </a:lnTo>
                  <a:lnTo>
                    <a:pt x="0" y="682"/>
                  </a:lnTo>
                  <a:lnTo>
                    <a:pt x="0" y="668"/>
                  </a:lnTo>
                  <a:lnTo>
                    <a:pt x="15" y="668"/>
                  </a:lnTo>
                  <a:close/>
                  <a:moveTo>
                    <a:pt x="15" y="696"/>
                  </a:moveTo>
                  <a:lnTo>
                    <a:pt x="15" y="710"/>
                  </a:lnTo>
                  <a:lnTo>
                    <a:pt x="0" y="710"/>
                  </a:lnTo>
                  <a:lnTo>
                    <a:pt x="0" y="696"/>
                  </a:lnTo>
                  <a:lnTo>
                    <a:pt x="15" y="696"/>
                  </a:lnTo>
                  <a:close/>
                  <a:moveTo>
                    <a:pt x="15" y="724"/>
                  </a:moveTo>
                  <a:lnTo>
                    <a:pt x="15" y="738"/>
                  </a:lnTo>
                  <a:lnTo>
                    <a:pt x="0" y="738"/>
                  </a:lnTo>
                  <a:lnTo>
                    <a:pt x="0" y="724"/>
                  </a:lnTo>
                  <a:lnTo>
                    <a:pt x="15" y="724"/>
                  </a:lnTo>
                  <a:close/>
                  <a:moveTo>
                    <a:pt x="15" y="752"/>
                  </a:moveTo>
                  <a:lnTo>
                    <a:pt x="15" y="766"/>
                  </a:lnTo>
                  <a:lnTo>
                    <a:pt x="0" y="766"/>
                  </a:lnTo>
                  <a:lnTo>
                    <a:pt x="0" y="752"/>
                  </a:lnTo>
                  <a:lnTo>
                    <a:pt x="15" y="752"/>
                  </a:lnTo>
                  <a:close/>
                  <a:moveTo>
                    <a:pt x="15" y="780"/>
                  </a:moveTo>
                  <a:lnTo>
                    <a:pt x="15" y="793"/>
                  </a:lnTo>
                  <a:lnTo>
                    <a:pt x="0" y="793"/>
                  </a:lnTo>
                  <a:lnTo>
                    <a:pt x="0" y="780"/>
                  </a:lnTo>
                  <a:lnTo>
                    <a:pt x="15" y="780"/>
                  </a:lnTo>
                  <a:close/>
                  <a:moveTo>
                    <a:pt x="15" y="808"/>
                  </a:moveTo>
                  <a:lnTo>
                    <a:pt x="15" y="822"/>
                  </a:lnTo>
                  <a:lnTo>
                    <a:pt x="0" y="822"/>
                  </a:lnTo>
                  <a:lnTo>
                    <a:pt x="0" y="808"/>
                  </a:lnTo>
                  <a:lnTo>
                    <a:pt x="15" y="808"/>
                  </a:lnTo>
                  <a:close/>
                  <a:moveTo>
                    <a:pt x="15" y="835"/>
                  </a:moveTo>
                  <a:lnTo>
                    <a:pt x="15" y="849"/>
                  </a:lnTo>
                  <a:lnTo>
                    <a:pt x="0" y="849"/>
                  </a:lnTo>
                  <a:lnTo>
                    <a:pt x="0" y="835"/>
                  </a:lnTo>
                  <a:lnTo>
                    <a:pt x="15" y="835"/>
                  </a:lnTo>
                  <a:close/>
                  <a:moveTo>
                    <a:pt x="15" y="863"/>
                  </a:moveTo>
                  <a:lnTo>
                    <a:pt x="15" y="877"/>
                  </a:lnTo>
                  <a:lnTo>
                    <a:pt x="0" y="877"/>
                  </a:lnTo>
                  <a:lnTo>
                    <a:pt x="0" y="863"/>
                  </a:lnTo>
                  <a:lnTo>
                    <a:pt x="15" y="863"/>
                  </a:lnTo>
                  <a:close/>
                  <a:moveTo>
                    <a:pt x="15" y="891"/>
                  </a:moveTo>
                  <a:lnTo>
                    <a:pt x="15" y="905"/>
                  </a:lnTo>
                  <a:lnTo>
                    <a:pt x="0" y="905"/>
                  </a:lnTo>
                  <a:lnTo>
                    <a:pt x="0" y="891"/>
                  </a:lnTo>
                  <a:lnTo>
                    <a:pt x="15" y="891"/>
                  </a:lnTo>
                  <a:close/>
                  <a:moveTo>
                    <a:pt x="15" y="919"/>
                  </a:moveTo>
                  <a:lnTo>
                    <a:pt x="15" y="933"/>
                  </a:lnTo>
                  <a:lnTo>
                    <a:pt x="0" y="933"/>
                  </a:lnTo>
                  <a:lnTo>
                    <a:pt x="0" y="919"/>
                  </a:lnTo>
                  <a:lnTo>
                    <a:pt x="15" y="919"/>
                  </a:lnTo>
                  <a:close/>
                  <a:moveTo>
                    <a:pt x="15" y="947"/>
                  </a:moveTo>
                  <a:lnTo>
                    <a:pt x="15" y="960"/>
                  </a:lnTo>
                  <a:lnTo>
                    <a:pt x="0" y="960"/>
                  </a:lnTo>
                  <a:lnTo>
                    <a:pt x="0" y="947"/>
                  </a:lnTo>
                  <a:lnTo>
                    <a:pt x="15" y="947"/>
                  </a:lnTo>
                  <a:close/>
                  <a:moveTo>
                    <a:pt x="15" y="974"/>
                  </a:moveTo>
                  <a:lnTo>
                    <a:pt x="15" y="988"/>
                  </a:lnTo>
                  <a:lnTo>
                    <a:pt x="0" y="988"/>
                  </a:lnTo>
                  <a:lnTo>
                    <a:pt x="0" y="974"/>
                  </a:lnTo>
                  <a:lnTo>
                    <a:pt x="15" y="974"/>
                  </a:lnTo>
                  <a:close/>
                  <a:moveTo>
                    <a:pt x="15" y="1002"/>
                  </a:moveTo>
                  <a:lnTo>
                    <a:pt x="15" y="1016"/>
                  </a:lnTo>
                  <a:lnTo>
                    <a:pt x="0" y="1016"/>
                  </a:lnTo>
                  <a:lnTo>
                    <a:pt x="0" y="1002"/>
                  </a:lnTo>
                  <a:lnTo>
                    <a:pt x="15" y="1002"/>
                  </a:lnTo>
                  <a:close/>
                  <a:moveTo>
                    <a:pt x="15" y="1030"/>
                  </a:moveTo>
                  <a:lnTo>
                    <a:pt x="15" y="1044"/>
                  </a:lnTo>
                  <a:lnTo>
                    <a:pt x="0" y="1044"/>
                  </a:lnTo>
                  <a:lnTo>
                    <a:pt x="0" y="1030"/>
                  </a:lnTo>
                  <a:lnTo>
                    <a:pt x="15" y="1030"/>
                  </a:lnTo>
                  <a:close/>
                  <a:moveTo>
                    <a:pt x="15" y="1058"/>
                  </a:moveTo>
                  <a:lnTo>
                    <a:pt x="15" y="1072"/>
                  </a:lnTo>
                  <a:lnTo>
                    <a:pt x="0" y="1072"/>
                  </a:lnTo>
                  <a:lnTo>
                    <a:pt x="0" y="1058"/>
                  </a:lnTo>
                  <a:lnTo>
                    <a:pt x="15" y="1058"/>
                  </a:lnTo>
                  <a:close/>
                  <a:moveTo>
                    <a:pt x="15" y="1086"/>
                  </a:moveTo>
                  <a:lnTo>
                    <a:pt x="15" y="1100"/>
                  </a:lnTo>
                  <a:lnTo>
                    <a:pt x="0" y="1100"/>
                  </a:lnTo>
                  <a:lnTo>
                    <a:pt x="0" y="1086"/>
                  </a:lnTo>
                  <a:lnTo>
                    <a:pt x="15" y="1086"/>
                  </a:lnTo>
                  <a:close/>
                  <a:moveTo>
                    <a:pt x="15" y="1114"/>
                  </a:moveTo>
                  <a:lnTo>
                    <a:pt x="15" y="1127"/>
                  </a:lnTo>
                  <a:lnTo>
                    <a:pt x="0" y="1127"/>
                  </a:lnTo>
                  <a:lnTo>
                    <a:pt x="0" y="1114"/>
                  </a:lnTo>
                  <a:lnTo>
                    <a:pt x="15" y="1114"/>
                  </a:lnTo>
                  <a:close/>
                  <a:moveTo>
                    <a:pt x="15" y="1141"/>
                  </a:moveTo>
                  <a:lnTo>
                    <a:pt x="15" y="1155"/>
                  </a:lnTo>
                  <a:lnTo>
                    <a:pt x="0" y="1155"/>
                  </a:lnTo>
                  <a:lnTo>
                    <a:pt x="0" y="1141"/>
                  </a:lnTo>
                  <a:lnTo>
                    <a:pt x="15" y="1141"/>
                  </a:lnTo>
                  <a:close/>
                  <a:moveTo>
                    <a:pt x="15" y="1169"/>
                  </a:moveTo>
                  <a:lnTo>
                    <a:pt x="15" y="1183"/>
                  </a:lnTo>
                  <a:lnTo>
                    <a:pt x="0" y="1183"/>
                  </a:lnTo>
                  <a:lnTo>
                    <a:pt x="0" y="1169"/>
                  </a:lnTo>
                  <a:lnTo>
                    <a:pt x="15" y="1169"/>
                  </a:lnTo>
                  <a:close/>
                  <a:moveTo>
                    <a:pt x="15" y="1197"/>
                  </a:moveTo>
                  <a:lnTo>
                    <a:pt x="15" y="1211"/>
                  </a:lnTo>
                  <a:lnTo>
                    <a:pt x="0" y="1211"/>
                  </a:lnTo>
                  <a:lnTo>
                    <a:pt x="0" y="1197"/>
                  </a:lnTo>
                  <a:lnTo>
                    <a:pt x="15" y="1197"/>
                  </a:lnTo>
                  <a:close/>
                  <a:moveTo>
                    <a:pt x="15" y="1225"/>
                  </a:moveTo>
                  <a:lnTo>
                    <a:pt x="15" y="1239"/>
                  </a:lnTo>
                  <a:lnTo>
                    <a:pt x="0" y="1239"/>
                  </a:lnTo>
                  <a:lnTo>
                    <a:pt x="0" y="1225"/>
                  </a:lnTo>
                  <a:lnTo>
                    <a:pt x="15" y="1225"/>
                  </a:lnTo>
                  <a:close/>
                  <a:moveTo>
                    <a:pt x="15" y="1253"/>
                  </a:moveTo>
                  <a:lnTo>
                    <a:pt x="15" y="1267"/>
                  </a:lnTo>
                  <a:lnTo>
                    <a:pt x="0" y="1267"/>
                  </a:lnTo>
                  <a:lnTo>
                    <a:pt x="0" y="1253"/>
                  </a:lnTo>
                  <a:lnTo>
                    <a:pt x="15" y="1253"/>
                  </a:lnTo>
                  <a:close/>
                  <a:moveTo>
                    <a:pt x="15" y="1281"/>
                  </a:moveTo>
                  <a:lnTo>
                    <a:pt x="15" y="1294"/>
                  </a:lnTo>
                  <a:lnTo>
                    <a:pt x="0" y="1294"/>
                  </a:lnTo>
                  <a:lnTo>
                    <a:pt x="0" y="1281"/>
                  </a:lnTo>
                  <a:lnTo>
                    <a:pt x="15" y="1281"/>
                  </a:lnTo>
                  <a:close/>
                  <a:moveTo>
                    <a:pt x="15" y="1308"/>
                  </a:moveTo>
                  <a:lnTo>
                    <a:pt x="15" y="1322"/>
                  </a:lnTo>
                  <a:lnTo>
                    <a:pt x="0" y="1322"/>
                  </a:lnTo>
                  <a:lnTo>
                    <a:pt x="0" y="1308"/>
                  </a:lnTo>
                  <a:lnTo>
                    <a:pt x="15" y="1308"/>
                  </a:lnTo>
                  <a:close/>
                  <a:moveTo>
                    <a:pt x="15" y="1336"/>
                  </a:moveTo>
                  <a:lnTo>
                    <a:pt x="15" y="1350"/>
                  </a:lnTo>
                  <a:lnTo>
                    <a:pt x="0" y="1350"/>
                  </a:lnTo>
                  <a:lnTo>
                    <a:pt x="0" y="1336"/>
                  </a:lnTo>
                  <a:lnTo>
                    <a:pt x="15" y="1336"/>
                  </a:lnTo>
                  <a:close/>
                  <a:moveTo>
                    <a:pt x="15" y="1364"/>
                  </a:moveTo>
                  <a:lnTo>
                    <a:pt x="15" y="1378"/>
                  </a:lnTo>
                  <a:lnTo>
                    <a:pt x="0" y="1378"/>
                  </a:lnTo>
                  <a:lnTo>
                    <a:pt x="0" y="1364"/>
                  </a:lnTo>
                  <a:lnTo>
                    <a:pt x="15" y="1364"/>
                  </a:lnTo>
                  <a:close/>
                  <a:moveTo>
                    <a:pt x="15" y="1392"/>
                  </a:moveTo>
                  <a:lnTo>
                    <a:pt x="15" y="1406"/>
                  </a:lnTo>
                  <a:lnTo>
                    <a:pt x="0" y="1406"/>
                  </a:lnTo>
                  <a:lnTo>
                    <a:pt x="0" y="1392"/>
                  </a:lnTo>
                  <a:lnTo>
                    <a:pt x="15" y="1392"/>
                  </a:lnTo>
                  <a:close/>
                  <a:moveTo>
                    <a:pt x="15" y="1420"/>
                  </a:moveTo>
                  <a:lnTo>
                    <a:pt x="15" y="1434"/>
                  </a:lnTo>
                  <a:lnTo>
                    <a:pt x="0" y="1434"/>
                  </a:lnTo>
                  <a:lnTo>
                    <a:pt x="0" y="1420"/>
                  </a:lnTo>
                  <a:lnTo>
                    <a:pt x="15" y="1420"/>
                  </a:lnTo>
                  <a:close/>
                  <a:moveTo>
                    <a:pt x="15" y="1448"/>
                  </a:moveTo>
                  <a:lnTo>
                    <a:pt x="15" y="1461"/>
                  </a:lnTo>
                  <a:lnTo>
                    <a:pt x="0" y="1461"/>
                  </a:lnTo>
                  <a:lnTo>
                    <a:pt x="0" y="1448"/>
                  </a:lnTo>
                  <a:lnTo>
                    <a:pt x="15" y="1448"/>
                  </a:lnTo>
                  <a:close/>
                  <a:moveTo>
                    <a:pt x="15" y="1475"/>
                  </a:moveTo>
                  <a:lnTo>
                    <a:pt x="15" y="1489"/>
                  </a:lnTo>
                  <a:lnTo>
                    <a:pt x="0" y="1489"/>
                  </a:lnTo>
                  <a:lnTo>
                    <a:pt x="0" y="1475"/>
                  </a:lnTo>
                  <a:lnTo>
                    <a:pt x="15" y="1475"/>
                  </a:lnTo>
                  <a:close/>
                  <a:moveTo>
                    <a:pt x="15" y="1503"/>
                  </a:moveTo>
                  <a:lnTo>
                    <a:pt x="15" y="1517"/>
                  </a:lnTo>
                  <a:lnTo>
                    <a:pt x="0" y="1517"/>
                  </a:lnTo>
                  <a:lnTo>
                    <a:pt x="0" y="1503"/>
                  </a:lnTo>
                  <a:lnTo>
                    <a:pt x="15" y="1503"/>
                  </a:lnTo>
                  <a:close/>
                  <a:moveTo>
                    <a:pt x="15" y="1531"/>
                  </a:moveTo>
                  <a:lnTo>
                    <a:pt x="15" y="1545"/>
                  </a:lnTo>
                  <a:lnTo>
                    <a:pt x="0" y="1545"/>
                  </a:lnTo>
                  <a:lnTo>
                    <a:pt x="0" y="1531"/>
                  </a:lnTo>
                  <a:lnTo>
                    <a:pt x="15" y="1531"/>
                  </a:lnTo>
                  <a:close/>
                  <a:moveTo>
                    <a:pt x="15" y="1559"/>
                  </a:moveTo>
                  <a:lnTo>
                    <a:pt x="15" y="1573"/>
                  </a:lnTo>
                  <a:lnTo>
                    <a:pt x="0" y="1573"/>
                  </a:lnTo>
                  <a:lnTo>
                    <a:pt x="0" y="1559"/>
                  </a:lnTo>
                  <a:lnTo>
                    <a:pt x="15" y="1559"/>
                  </a:lnTo>
                  <a:close/>
                  <a:moveTo>
                    <a:pt x="15" y="1587"/>
                  </a:moveTo>
                  <a:lnTo>
                    <a:pt x="15" y="1601"/>
                  </a:lnTo>
                  <a:lnTo>
                    <a:pt x="0" y="1601"/>
                  </a:lnTo>
                  <a:lnTo>
                    <a:pt x="0" y="1587"/>
                  </a:lnTo>
                  <a:lnTo>
                    <a:pt x="15" y="1587"/>
                  </a:lnTo>
                  <a:close/>
                  <a:moveTo>
                    <a:pt x="15" y="1615"/>
                  </a:moveTo>
                  <a:lnTo>
                    <a:pt x="15" y="1628"/>
                  </a:lnTo>
                  <a:lnTo>
                    <a:pt x="0" y="1628"/>
                  </a:lnTo>
                  <a:lnTo>
                    <a:pt x="0" y="1615"/>
                  </a:lnTo>
                  <a:lnTo>
                    <a:pt x="15" y="1615"/>
                  </a:lnTo>
                  <a:close/>
                  <a:moveTo>
                    <a:pt x="15" y="1642"/>
                  </a:moveTo>
                  <a:lnTo>
                    <a:pt x="15" y="1656"/>
                  </a:lnTo>
                  <a:lnTo>
                    <a:pt x="0" y="1656"/>
                  </a:lnTo>
                  <a:lnTo>
                    <a:pt x="0" y="1642"/>
                  </a:lnTo>
                  <a:lnTo>
                    <a:pt x="15" y="1642"/>
                  </a:lnTo>
                  <a:close/>
                  <a:moveTo>
                    <a:pt x="15" y="1670"/>
                  </a:moveTo>
                  <a:lnTo>
                    <a:pt x="15" y="1684"/>
                  </a:lnTo>
                  <a:lnTo>
                    <a:pt x="0" y="1684"/>
                  </a:lnTo>
                  <a:lnTo>
                    <a:pt x="0" y="1670"/>
                  </a:lnTo>
                  <a:lnTo>
                    <a:pt x="15" y="1670"/>
                  </a:lnTo>
                  <a:close/>
                  <a:moveTo>
                    <a:pt x="15" y="1698"/>
                  </a:moveTo>
                  <a:lnTo>
                    <a:pt x="15" y="1712"/>
                  </a:lnTo>
                  <a:lnTo>
                    <a:pt x="0" y="1712"/>
                  </a:lnTo>
                  <a:lnTo>
                    <a:pt x="0" y="1698"/>
                  </a:lnTo>
                  <a:lnTo>
                    <a:pt x="15" y="1698"/>
                  </a:lnTo>
                  <a:close/>
                  <a:moveTo>
                    <a:pt x="15" y="1726"/>
                  </a:moveTo>
                  <a:lnTo>
                    <a:pt x="15" y="1740"/>
                  </a:lnTo>
                  <a:lnTo>
                    <a:pt x="0" y="1740"/>
                  </a:lnTo>
                  <a:lnTo>
                    <a:pt x="0" y="1726"/>
                  </a:lnTo>
                  <a:lnTo>
                    <a:pt x="15" y="1726"/>
                  </a:lnTo>
                  <a:close/>
                  <a:moveTo>
                    <a:pt x="15" y="1754"/>
                  </a:moveTo>
                  <a:lnTo>
                    <a:pt x="15" y="1768"/>
                  </a:lnTo>
                  <a:lnTo>
                    <a:pt x="0" y="1768"/>
                  </a:lnTo>
                  <a:lnTo>
                    <a:pt x="0" y="1754"/>
                  </a:lnTo>
                  <a:lnTo>
                    <a:pt x="15" y="1754"/>
                  </a:lnTo>
                  <a:close/>
                  <a:moveTo>
                    <a:pt x="15" y="1782"/>
                  </a:moveTo>
                  <a:lnTo>
                    <a:pt x="15" y="1795"/>
                  </a:lnTo>
                  <a:lnTo>
                    <a:pt x="0" y="1795"/>
                  </a:lnTo>
                  <a:lnTo>
                    <a:pt x="0" y="1782"/>
                  </a:lnTo>
                  <a:lnTo>
                    <a:pt x="15" y="1782"/>
                  </a:lnTo>
                  <a:close/>
                  <a:moveTo>
                    <a:pt x="15" y="1809"/>
                  </a:moveTo>
                  <a:lnTo>
                    <a:pt x="15" y="1823"/>
                  </a:lnTo>
                  <a:lnTo>
                    <a:pt x="0" y="1823"/>
                  </a:lnTo>
                  <a:lnTo>
                    <a:pt x="0" y="1809"/>
                  </a:lnTo>
                  <a:lnTo>
                    <a:pt x="15" y="1809"/>
                  </a:lnTo>
                  <a:close/>
                  <a:moveTo>
                    <a:pt x="15" y="1837"/>
                  </a:moveTo>
                  <a:lnTo>
                    <a:pt x="15" y="1851"/>
                  </a:lnTo>
                  <a:lnTo>
                    <a:pt x="0" y="1851"/>
                  </a:lnTo>
                  <a:lnTo>
                    <a:pt x="0" y="1837"/>
                  </a:lnTo>
                  <a:lnTo>
                    <a:pt x="15" y="1837"/>
                  </a:lnTo>
                  <a:close/>
                  <a:moveTo>
                    <a:pt x="15" y="1865"/>
                  </a:moveTo>
                  <a:lnTo>
                    <a:pt x="15" y="1879"/>
                  </a:lnTo>
                  <a:lnTo>
                    <a:pt x="0" y="1879"/>
                  </a:lnTo>
                  <a:lnTo>
                    <a:pt x="0" y="1865"/>
                  </a:lnTo>
                  <a:lnTo>
                    <a:pt x="15" y="1865"/>
                  </a:lnTo>
                  <a:close/>
                  <a:moveTo>
                    <a:pt x="15" y="1893"/>
                  </a:moveTo>
                  <a:lnTo>
                    <a:pt x="15" y="1907"/>
                  </a:lnTo>
                  <a:lnTo>
                    <a:pt x="0" y="1907"/>
                  </a:lnTo>
                  <a:lnTo>
                    <a:pt x="0" y="1893"/>
                  </a:lnTo>
                  <a:lnTo>
                    <a:pt x="15" y="1893"/>
                  </a:lnTo>
                  <a:close/>
                  <a:moveTo>
                    <a:pt x="15" y="1921"/>
                  </a:moveTo>
                  <a:lnTo>
                    <a:pt x="15" y="1935"/>
                  </a:lnTo>
                  <a:lnTo>
                    <a:pt x="0" y="1935"/>
                  </a:lnTo>
                  <a:lnTo>
                    <a:pt x="0" y="1921"/>
                  </a:lnTo>
                  <a:lnTo>
                    <a:pt x="15" y="1921"/>
                  </a:lnTo>
                  <a:close/>
                  <a:moveTo>
                    <a:pt x="15" y="1949"/>
                  </a:moveTo>
                  <a:lnTo>
                    <a:pt x="15" y="1962"/>
                  </a:lnTo>
                  <a:lnTo>
                    <a:pt x="0" y="1962"/>
                  </a:lnTo>
                  <a:lnTo>
                    <a:pt x="0" y="1949"/>
                  </a:lnTo>
                  <a:lnTo>
                    <a:pt x="15" y="1949"/>
                  </a:lnTo>
                  <a:close/>
                  <a:moveTo>
                    <a:pt x="15" y="1976"/>
                  </a:moveTo>
                  <a:lnTo>
                    <a:pt x="15" y="1990"/>
                  </a:lnTo>
                  <a:lnTo>
                    <a:pt x="0" y="1990"/>
                  </a:lnTo>
                  <a:lnTo>
                    <a:pt x="0" y="1976"/>
                  </a:lnTo>
                  <a:lnTo>
                    <a:pt x="15" y="1976"/>
                  </a:lnTo>
                  <a:close/>
                  <a:moveTo>
                    <a:pt x="15" y="2004"/>
                  </a:moveTo>
                  <a:lnTo>
                    <a:pt x="15" y="2018"/>
                  </a:lnTo>
                  <a:lnTo>
                    <a:pt x="0" y="2018"/>
                  </a:lnTo>
                  <a:lnTo>
                    <a:pt x="0" y="2004"/>
                  </a:lnTo>
                  <a:lnTo>
                    <a:pt x="15" y="2004"/>
                  </a:lnTo>
                  <a:close/>
                  <a:moveTo>
                    <a:pt x="15" y="2032"/>
                  </a:moveTo>
                  <a:lnTo>
                    <a:pt x="15" y="2046"/>
                  </a:lnTo>
                  <a:lnTo>
                    <a:pt x="0" y="2046"/>
                  </a:lnTo>
                  <a:lnTo>
                    <a:pt x="0" y="2032"/>
                  </a:lnTo>
                  <a:lnTo>
                    <a:pt x="15" y="2032"/>
                  </a:lnTo>
                  <a:close/>
                  <a:moveTo>
                    <a:pt x="15" y="2060"/>
                  </a:moveTo>
                  <a:lnTo>
                    <a:pt x="15" y="2074"/>
                  </a:lnTo>
                  <a:lnTo>
                    <a:pt x="0" y="2074"/>
                  </a:lnTo>
                  <a:lnTo>
                    <a:pt x="0" y="2060"/>
                  </a:lnTo>
                  <a:lnTo>
                    <a:pt x="15" y="2060"/>
                  </a:lnTo>
                  <a:close/>
                  <a:moveTo>
                    <a:pt x="15" y="2087"/>
                  </a:moveTo>
                  <a:lnTo>
                    <a:pt x="15" y="2102"/>
                  </a:lnTo>
                  <a:lnTo>
                    <a:pt x="0" y="2102"/>
                  </a:lnTo>
                  <a:lnTo>
                    <a:pt x="0" y="2087"/>
                  </a:lnTo>
                  <a:lnTo>
                    <a:pt x="15" y="2087"/>
                  </a:lnTo>
                  <a:close/>
                  <a:moveTo>
                    <a:pt x="15" y="2116"/>
                  </a:moveTo>
                  <a:lnTo>
                    <a:pt x="15" y="2129"/>
                  </a:lnTo>
                  <a:lnTo>
                    <a:pt x="0" y="2129"/>
                  </a:lnTo>
                  <a:lnTo>
                    <a:pt x="0" y="2116"/>
                  </a:lnTo>
                  <a:lnTo>
                    <a:pt x="15" y="2116"/>
                  </a:lnTo>
                  <a:close/>
                  <a:moveTo>
                    <a:pt x="15" y="2143"/>
                  </a:moveTo>
                  <a:lnTo>
                    <a:pt x="15" y="2157"/>
                  </a:lnTo>
                  <a:lnTo>
                    <a:pt x="0" y="2157"/>
                  </a:lnTo>
                  <a:lnTo>
                    <a:pt x="0" y="2143"/>
                  </a:lnTo>
                  <a:lnTo>
                    <a:pt x="15" y="2143"/>
                  </a:lnTo>
                  <a:close/>
                  <a:moveTo>
                    <a:pt x="15" y="2171"/>
                  </a:moveTo>
                  <a:lnTo>
                    <a:pt x="15" y="2185"/>
                  </a:lnTo>
                  <a:lnTo>
                    <a:pt x="0" y="2185"/>
                  </a:lnTo>
                  <a:lnTo>
                    <a:pt x="0" y="2171"/>
                  </a:lnTo>
                  <a:lnTo>
                    <a:pt x="15" y="2171"/>
                  </a:lnTo>
                  <a:close/>
                  <a:moveTo>
                    <a:pt x="15" y="2199"/>
                  </a:moveTo>
                  <a:lnTo>
                    <a:pt x="15" y="2213"/>
                  </a:lnTo>
                  <a:lnTo>
                    <a:pt x="0" y="2213"/>
                  </a:lnTo>
                  <a:lnTo>
                    <a:pt x="0" y="2199"/>
                  </a:lnTo>
                  <a:lnTo>
                    <a:pt x="15" y="2199"/>
                  </a:lnTo>
                  <a:close/>
                  <a:moveTo>
                    <a:pt x="15" y="2227"/>
                  </a:moveTo>
                  <a:lnTo>
                    <a:pt x="15" y="2241"/>
                  </a:lnTo>
                  <a:lnTo>
                    <a:pt x="0" y="2241"/>
                  </a:lnTo>
                  <a:lnTo>
                    <a:pt x="0" y="2227"/>
                  </a:lnTo>
                  <a:lnTo>
                    <a:pt x="15" y="2227"/>
                  </a:lnTo>
                  <a:close/>
                  <a:moveTo>
                    <a:pt x="15" y="2254"/>
                  </a:moveTo>
                  <a:lnTo>
                    <a:pt x="15" y="2268"/>
                  </a:lnTo>
                  <a:lnTo>
                    <a:pt x="0" y="2268"/>
                  </a:lnTo>
                  <a:lnTo>
                    <a:pt x="0" y="2254"/>
                  </a:lnTo>
                  <a:lnTo>
                    <a:pt x="15" y="2254"/>
                  </a:lnTo>
                  <a:close/>
                  <a:moveTo>
                    <a:pt x="15" y="2283"/>
                  </a:moveTo>
                  <a:lnTo>
                    <a:pt x="15" y="2296"/>
                  </a:lnTo>
                  <a:lnTo>
                    <a:pt x="0" y="2296"/>
                  </a:lnTo>
                  <a:lnTo>
                    <a:pt x="0" y="2283"/>
                  </a:lnTo>
                  <a:lnTo>
                    <a:pt x="15" y="2283"/>
                  </a:lnTo>
                  <a:close/>
                  <a:moveTo>
                    <a:pt x="15" y="2310"/>
                  </a:moveTo>
                  <a:lnTo>
                    <a:pt x="15" y="2324"/>
                  </a:lnTo>
                  <a:lnTo>
                    <a:pt x="0" y="2324"/>
                  </a:lnTo>
                  <a:lnTo>
                    <a:pt x="0" y="2310"/>
                  </a:lnTo>
                  <a:lnTo>
                    <a:pt x="15" y="2310"/>
                  </a:lnTo>
                  <a:close/>
                  <a:moveTo>
                    <a:pt x="15" y="2338"/>
                  </a:moveTo>
                  <a:lnTo>
                    <a:pt x="15" y="2352"/>
                  </a:lnTo>
                  <a:lnTo>
                    <a:pt x="0" y="2352"/>
                  </a:lnTo>
                  <a:lnTo>
                    <a:pt x="0" y="2338"/>
                  </a:lnTo>
                  <a:lnTo>
                    <a:pt x="15" y="2338"/>
                  </a:lnTo>
                  <a:close/>
                  <a:moveTo>
                    <a:pt x="15" y="2366"/>
                  </a:moveTo>
                  <a:lnTo>
                    <a:pt x="15" y="2380"/>
                  </a:lnTo>
                  <a:lnTo>
                    <a:pt x="0" y="2380"/>
                  </a:lnTo>
                  <a:lnTo>
                    <a:pt x="0" y="2366"/>
                  </a:lnTo>
                  <a:lnTo>
                    <a:pt x="15" y="2366"/>
                  </a:lnTo>
                  <a:close/>
                  <a:moveTo>
                    <a:pt x="15" y="2394"/>
                  </a:moveTo>
                  <a:lnTo>
                    <a:pt x="15" y="2408"/>
                  </a:lnTo>
                  <a:lnTo>
                    <a:pt x="0" y="2408"/>
                  </a:lnTo>
                  <a:lnTo>
                    <a:pt x="0" y="2394"/>
                  </a:lnTo>
                  <a:lnTo>
                    <a:pt x="15" y="2394"/>
                  </a:lnTo>
                  <a:close/>
                  <a:moveTo>
                    <a:pt x="15" y="2421"/>
                  </a:moveTo>
                  <a:lnTo>
                    <a:pt x="15" y="2435"/>
                  </a:lnTo>
                  <a:lnTo>
                    <a:pt x="0" y="2435"/>
                  </a:lnTo>
                  <a:lnTo>
                    <a:pt x="0" y="2421"/>
                  </a:lnTo>
                  <a:lnTo>
                    <a:pt x="15" y="2421"/>
                  </a:lnTo>
                  <a:close/>
                  <a:moveTo>
                    <a:pt x="15" y="2449"/>
                  </a:moveTo>
                  <a:lnTo>
                    <a:pt x="15" y="2453"/>
                  </a:lnTo>
                  <a:lnTo>
                    <a:pt x="0" y="2453"/>
                  </a:lnTo>
                  <a:lnTo>
                    <a:pt x="0" y="2449"/>
                  </a:lnTo>
                  <a:lnTo>
                    <a:pt x="15" y="2449"/>
                  </a:lnTo>
                  <a:close/>
                </a:path>
              </a:pathLst>
            </a:custGeom>
            <a:solidFill>
              <a:srgbClr val="000000"/>
            </a:solidFill>
            <a:ln w="0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486" name="Freeform 28">
              <a:extLst>
                <a:ext uri="{FF2B5EF4-FFF2-40B4-BE49-F238E27FC236}">
                  <a16:creationId xmlns:a16="http://schemas.microsoft.com/office/drawing/2014/main" id="{F609AEA7-6640-A665-2049-28C5C3D7547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264950" y="3078501"/>
              <a:ext cx="18000" cy="3726773"/>
            </a:xfrm>
            <a:custGeom>
              <a:avLst/>
              <a:gdLst>
                <a:gd name="T0" fmla="*/ 14 w 14"/>
                <a:gd name="T1" fmla="*/ 42 h 2453"/>
                <a:gd name="T2" fmla="*/ 0 w 14"/>
                <a:gd name="T3" fmla="*/ 56 h 2453"/>
                <a:gd name="T4" fmla="*/ 14 w 14"/>
                <a:gd name="T5" fmla="*/ 112 h 2453"/>
                <a:gd name="T6" fmla="*/ 0 w 14"/>
                <a:gd name="T7" fmla="*/ 154 h 2453"/>
                <a:gd name="T8" fmla="*/ 14 w 14"/>
                <a:gd name="T9" fmla="*/ 167 h 2453"/>
                <a:gd name="T10" fmla="*/ 14 w 14"/>
                <a:gd name="T11" fmla="*/ 237 h 2453"/>
                <a:gd name="T12" fmla="*/ 0 w 14"/>
                <a:gd name="T13" fmla="*/ 251 h 2453"/>
                <a:gd name="T14" fmla="*/ 14 w 14"/>
                <a:gd name="T15" fmla="*/ 307 h 2453"/>
                <a:gd name="T16" fmla="*/ 0 w 14"/>
                <a:gd name="T17" fmla="*/ 348 h 2453"/>
                <a:gd name="T18" fmla="*/ 14 w 14"/>
                <a:gd name="T19" fmla="*/ 362 h 2453"/>
                <a:gd name="T20" fmla="*/ 14 w 14"/>
                <a:gd name="T21" fmla="*/ 432 h 2453"/>
                <a:gd name="T22" fmla="*/ 0 w 14"/>
                <a:gd name="T23" fmla="*/ 446 h 2453"/>
                <a:gd name="T24" fmla="*/ 14 w 14"/>
                <a:gd name="T25" fmla="*/ 501 h 2453"/>
                <a:gd name="T26" fmla="*/ 0 w 14"/>
                <a:gd name="T27" fmla="*/ 543 h 2453"/>
                <a:gd name="T28" fmla="*/ 14 w 14"/>
                <a:gd name="T29" fmla="*/ 557 h 2453"/>
                <a:gd name="T30" fmla="*/ 14 w 14"/>
                <a:gd name="T31" fmla="*/ 627 h 2453"/>
                <a:gd name="T32" fmla="*/ 0 w 14"/>
                <a:gd name="T33" fmla="*/ 641 h 2453"/>
                <a:gd name="T34" fmla="*/ 14 w 14"/>
                <a:gd name="T35" fmla="*/ 696 h 2453"/>
                <a:gd name="T36" fmla="*/ 0 w 14"/>
                <a:gd name="T37" fmla="*/ 738 h 2453"/>
                <a:gd name="T38" fmla="*/ 14 w 14"/>
                <a:gd name="T39" fmla="*/ 752 h 2453"/>
                <a:gd name="T40" fmla="*/ 14 w 14"/>
                <a:gd name="T41" fmla="*/ 822 h 2453"/>
                <a:gd name="T42" fmla="*/ 0 w 14"/>
                <a:gd name="T43" fmla="*/ 835 h 2453"/>
                <a:gd name="T44" fmla="*/ 14 w 14"/>
                <a:gd name="T45" fmla="*/ 891 h 2453"/>
                <a:gd name="T46" fmla="*/ 0 w 14"/>
                <a:gd name="T47" fmla="*/ 933 h 2453"/>
                <a:gd name="T48" fmla="*/ 14 w 14"/>
                <a:gd name="T49" fmla="*/ 947 h 2453"/>
                <a:gd name="T50" fmla="*/ 14 w 14"/>
                <a:gd name="T51" fmla="*/ 1016 h 2453"/>
                <a:gd name="T52" fmla="*/ 0 w 14"/>
                <a:gd name="T53" fmla="*/ 1030 h 2453"/>
                <a:gd name="T54" fmla="*/ 14 w 14"/>
                <a:gd name="T55" fmla="*/ 1086 h 2453"/>
                <a:gd name="T56" fmla="*/ 0 w 14"/>
                <a:gd name="T57" fmla="*/ 1127 h 2453"/>
                <a:gd name="T58" fmla="*/ 14 w 14"/>
                <a:gd name="T59" fmla="*/ 1141 h 2453"/>
                <a:gd name="T60" fmla="*/ 14 w 14"/>
                <a:gd name="T61" fmla="*/ 1211 h 2453"/>
                <a:gd name="T62" fmla="*/ 0 w 14"/>
                <a:gd name="T63" fmla="*/ 1225 h 2453"/>
                <a:gd name="T64" fmla="*/ 14 w 14"/>
                <a:gd name="T65" fmla="*/ 1281 h 2453"/>
                <a:gd name="T66" fmla="*/ 0 w 14"/>
                <a:gd name="T67" fmla="*/ 1322 h 2453"/>
                <a:gd name="T68" fmla="*/ 14 w 14"/>
                <a:gd name="T69" fmla="*/ 1336 h 2453"/>
                <a:gd name="T70" fmla="*/ 14 w 14"/>
                <a:gd name="T71" fmla="*/ 1406 h 2453"/>
                <a:gd name="T72" fmla="*/ 0 w 14"/>
                <a:gd name="T73" fmla="*/ 1420 h 2453"/>
                <a:gd name="T74" fmla="*/ 14 w 14"/>
                <a:gd name="T75" fmla="*/ 1475 h 2453"/>
                <a:gd name="T76" fmla="*/ 0 w 14"/>
                <a:gd name="T77" fmla="*/ 1517 h 2453"/>
                <a:gd name="T78" fmla="*/ 14 w 14"/>
                <a:gd name="T79" fmla="*/ 1531 h 2453"/>
                <a:gd name="T80" fmla="*/ 14 w 14"/>
                <a:gd name="T81" fmla="*/ 1601 h 2453"/>
                <a:gd name="T82" fmla="*/ 0 w 14"/>
                <a:gd name="T83" fmla="*/ 1615 h 2453"/>
                <a:gd name="T84" fmla="*/ 14 w 14"/>
                <a:gd name="T85" fmla="*/ 1670 h 2453"/>
                <a:gd name="T86" fmla="*/ 0 w 14"/>
                <a:gd name="T87" fmla="*/ 1712 h 2453"/>
                <a:gd name="T88" fmla="*/ 14 w 14"/>
                <a:gd name="T89" fmla="*/ 1726 h 2453"/>
                <a:gd name="T90" fmla="*/ 14 w 14"/>
                <a:gd name="T91" fmla="*/ 1795 h 2453"/>
                <a:gd name="T92" fmla="*/ 0 w 14"/>
                <a:gd name="T93" fmla="*/ 1809 h 2453"/>
                <a:gd name="T94" fmla="*/ 14 w 14"/>
                <a:gd name="T95" fmla="*/ 1865 h 2453"/>
                <a:gd name="T96" fmla="*/ 0 w 14"/>
                <a:gd name="T97" fmla="*/ 1907 h 2453"/>
                <a:gd name="T98" fmla="*/ 14 w 14"/>
                <a:gd name="T99" fmla="*/ 1921 h 2453"/>
                <a:gd name="T100" fmla="*/ 14 w 14"/>
                <a:gd name="T101" fmla="*/ 1990 h 2453"/>
                <a:gd name="T102" fmla="*/ 0 w 14"/>
                <a:gd name="T103" fmla="*/ 2004 h 2453"/>
                <a:gd name="T104" fmla="*/ 14 w 14"/>
                <a:gd name="T105" fmla="*/ 2060 h 2453"/>
                <a:gd name="T106" fmla="*/ 0 w 14"/>
                <a:gd name="T107" fmla="*/ 2102 h 2453"/>
                <a:gd name="T108" fmla="*/ 14 w 14"/>
                <a:gd name="T109" fmla="*/ 2116 h 2453"/>
                <a:gd name="T110" fmla="*/ 14 w 14"/>
                <a:gd name="T111" fmla="*/ 2185 h 2453"/>
                <a:gd name="T112" fmla="*/ 0 w 14"/>
                <a:gd name="T113" fmla="*/ 2199 h 2453"/>
                <a:gd name="T114" fmla="*/ 14 w 14"/>
                <a:gd name="T115" fmla="*/ 2254 h 2453"/>
                <a:gd name="T116" fmla="*/ 0 w 14"/>
                <a:gd name="T117" fmla="*/ 2296 h 2453"/>
                <a:gd name="T118" fmla="*/ 14 w 14"/>
                <a:gd name="T119" fmla="*/ 2310 h 2453"/>
                <a:gd name="T120" fmla="*/ 14 w 14"/>
                <a:gd name="T121" fmla="*/ 2380 h 2453"/>
                <a:gd name="T122" fmla="*/ 0 w 14"/>
                <a:gd name="T123" fmla="*/ 2394 h 2453"/>
                <a:gd name="T124" fmla="*/ 14 w 14"/>
                <a:gd name="T125" fmla="*/ 2449 h 24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4" h="2453">
                  <a:moveTo>
                    <a:pt x="14" y="0"/>
                  </a:moveTo>
                  <a:lnTo>
                    <a:pt x="14" y="14"/>
                  </a:lnTo>
                  <a:lnTo>
                    <a:pt x="0" y="14"/>
                  </a:lnTo>
                  <a:lnTo>
                    <a:pt x="0" y="0"/>
                  </a:lnTo>
                  <a:lnTo>
                    <a:pt x="14" y="0"/>
                  </a:lnTo>
                  <a:close/>
                  <a:moveTo>
                    <a:pt x="14" y="28"/>
                  </a:moveTo>
                  <a:lnTo>
                    <a:pt x="14" y="42"/>
                  </a:lnTo>
                  <a:lnTo>
                    <a:pt x="0" y="42"/>
                  </a:lnTo>
                  <a:lnTo>
                    <a:pt x="0" y="28"/>
                  </a:lnTo>
                  <a:lnTo>
                    <a:pt x="14" y="28"/>
                  </a:lnTo>
                  <a:close/>
                  <a:moveTo>
                    <a:pt x="14" y="56"/>
                  </a:moveTo>
                  <a:lnTo>
                    <a:pt x="14" y="70"/>
                  </a:lnTo>
                  <a:lnTo>
                    <a:pt x="0" y="70"/>
                  </a:lnTo>
                  <a:lnTo>
                    <a:pt x="0" y="56"/>
                  </a:lnTo>
                  <a:lnTo>
                    <a:pt x="14" y="56"/>
                  </a:lnTo>
                  <a:close/>
                  <a:moveTo>
                    <a:pt x="14" y="84"/>
                  </a:moveTo>
                  <a:lnTo>
                    <a:pt x="14" y="98"/>
                  </a:lnTo>
                  <a:lnTo>
                    <a:pt x="0" y="98"/>
                  </a:lnTo>
                  <a:lnTo>
                    <a:pt x="0" y="84"/>
                  </a:lnTo>
                  <a:lnTo>
                    <a:pt x="14" y="84"/>
                  </a:lnTo>
                  <a:close/>
                  <a:moveTo>
                    <a:pt x="14" y="112"/>
                  </a:moveTo>
                  <a:lnTo>
                    <a:pt x="14" y="126"/>
                  </a:lnTo>
                  <a:lnTo>
                    <a:pt x="0" y="126"/>
                  </a:lnTo>
                  <a:lnTo>
                    <a:pt x="0" y="112"/>
                  </a:lnTo>
                  <a:lnTo>
                    <a:pt x="14" y="112"/>
                  </a:lnTo>
                  <a:close/>
                  <a:moveTo>
                    <a:pt x="14" y="140"/>
                  </a:moveTo>
                  <a:lnTo>
                    <a:pt x="14" y="154"/>
                  </a:lnTo>
                  <a:lnTo>
                    <a:pt x="0" y="154"/>
                  </a:lnTo>
                  <a:lnTo>
                    <a:pt x="0" y="140"/>
                  </a:lnTo>
                  <a:lnTo>
                    <a:pt x="14" y="140"/>
                  </a:lnTo>
                  <a:close/>
                  <a:moveTo>
                    <a:pt x="14" y="167"/>
                  </a:moveTo>
                  <a:lnTo>
                    <a:pt x="14" y="181"/>
                  </a:lnTo>
                  <a:lnTo>
                    <a:pt x="0" y="181"/>
                  </a:lnTo>
                  <a:lnTo>
                    <a:pt x="0" y="167"/>
                  </a:lnTo>
                  <a:lnTo>
                    <a:pt x="14" y="167"/>
                  </a:lnTo>
                  <a:close/>
                  <a:moveTo>
                    <a:pt x="14" y="195"/>
                  </a:moveTo>
                  <a:lnTo>
                    <a:pt x="14" y="209"/>
                  </a:lnTo>
                  <a:lnTo>
                    <a:pt x="0" y="209"/>
                  </a:lnTo>
                  <a:lnTo>
                    <a:pt x="0" y="195"/>
                  </a:lnTo>
                  <a:lnTo>
                    <a:pt x="14" y="195"/>
                  </a:lnTo>
                  <a:close/>
                  <a:moveTo>
                    <a:pt x="14" y="223"/>
                  </a:moveTo>
                  <a:lnTo>
                    <a:pt x="14" y="237"/>
                  </a:lnTo>
                  <a:lnTo>
                    <a:pt x="0" y="237"/>
                  </a:lnTo>
                  <a:lnTo>
                    <a:pt x="0" y="223"/>
                  </a:lnTo>
                  <a:lnTo>
                    <a:pt x="14" y="223"/>
                  </a:lnTo>
                  <a:close/>
                  <a:moveTo>
                    <a:pt x="14" y="251"/>
                  </a:moveTo>
                  <a:lnTo>
                    <a:pt x="14" y="265"/>
                  </a:lnTo>
                  <a:lnTo>
                    <a:pt x="0" y="265"/>
                  </a:lnTo>
                  <a:lnTo>
                    <a:pt x="0" y="251"/>
                  </a:lnTo>
                  <a:lnTo>
                    <a:pt x="14" y="251"/>
                  </a:lnTo>
                  <a:close/>
                  <a:moveTo>
                    <a:pt x="14" y="279"/>
                  </a:moveTo>
                  <a:lnTo>
                    <a:pt x="14" y="293"/>
                  </a:lnTo>
                  <a:lnTo>
                    <a:pt x="0" y="293"/>
                  </a:lnTo>
                  <a:lnTo>
                    <a:pt x="0" y="279"/>
                  </a:lnTo>
                  <a:lnTo>
                    <a:pt x="14" y="279"/>
                  </a:lnTo>
                  <a:close/>
                  <a:moveTo>
                    <a:pt x="14" y="307"/>
                  </a:moveTo>
                  <a:lnTo>
                    <a:pt x="14" y="321"/>
                  </a:lnTo>
                  <a:lnTo>
                    <a:pt x="0" y="321"/>
                  </a:lnTo>
                  <a:lnTo>
                    <a:pt x="0" y="307"/>
                  </a:lnTo>
                  <a:lnTo>
                    <a:pt x="14" y="307"/>
                  </a:lnTo>
                  <a:close/>
                  <a:moveTo>
                    <a:pt x="14" y="334"/>
                  </a:moveTo>
                  <a:lnTo>
                    <a:pt x="14" y="348"/>
                  </a:lnTo>
                  <a:lnTo>
                    <a:pt x="0" y="348"/>
                  </a:lnTo>
                  <a:lnTo>
                    <a:pt x="0" y="334"/>
                  </a:lnTo>
                  <a:lnTo>
                    <a:pt x="14" y="334"/>
                  </a:lnTo>
                  <a:close/>
                  <a:moveTo>
                    <a:pt x="14" y="362"/>
                  </a:moveTo>
                  <a:lnTo>
                    <a:pt x="14" y="376"/>
                  </a:lnTo>
                  <a:lnTo>
                    <a:pt x="0" y="376"/>
                  </a:lnTo>
                  <a:lnTo>
                    <a:pt x="0" y="362"/>
                  </a:lnTo>
                  <a:lnTo>
                    <a:pt x="14" y="362"/>
                  </a:lnTo>
                  <a:close/>
                  <a:moveTo>
                    <a:pt x="14" y="390"/>
                  </a:moveTo>
                  <a:lnTo>
                    <a:pt x="14" y="404"/>
                  </a:lnTo>
                  <a:lnTo>
                    <a:pt x="0" y="404"/>
                  </a:lnTo>
                  <a:lnTo>
                    <a:pt x="0" y="390"/>
                  </a:lnTo>
                  <a:lnTo>
                    <a:pt x="14" y="390"/>
                  </a:lnTo>
                  <a:close/>
                  <a:moveTo>
                    <a:pt x="14" y="418"/>
                  </a:moveTo>
                  <a:lnTo>
                    <a:pt x="14" y="432"/>
                  </a:lnTo>
                  <a:lnTo>
                    <a:pt x="0" y="432"/>
                  </a:lnTo>
                  <a:lnTo>
                    <a:pt x="0" y="418"/>
                  </a:lnTo>
                  <a:lnTo>
                    <a:pt x="14" y="418"/>
                  </a:lnTo>
                  <a:close/>
                  <a:moveTo>
                    <a:pt x="14" y="446"/>
                  </a:moveTo>
                  <a:lnTo>
                    <a:pt x="14" y="460"/>
                  </a:lnTo>
                  <a:lnTo>
                    <a:pt x="0" y="460"/>
                  </a:lnTo>
                  <a:lnTo>
                    <a:pt x="0" y="446"/>
                  </a:lnTo>
                  <a:lnTo>
                    <a:pt x="14" y="446"/>
                  </a:lnTo>
                  <a:close/>
                  <a:moveTo>
                    <a:pt x="14" y="474"/>
                  </a:moveTo>
                  <a:lnTo>
                    <a:pt x="14" y="488"/>
                  </a:lnTo>
                  <a:lnTo>
                    <a:pt x="0" y="488"/>
                  </a:lnTo>
                  <a:lnTo>
                    <a:pt x="0" y="474"/>
                  </a:lnTo>
                  <a:lnTo>
                    <a:pt x="14" y="474"/>
                  </a:lnTo>
                  <a:close/>
                  <a:moveTo>
                    <a:pt x="14" y="501"/>
                  </a:moveTo>
                  <a:lnTo>
                    <a:pt x="14" y="515"/>
                  </a:lnTo>
                  <a:lnTo>
                    <a:pt x="0" y="515"/>
                  </a:lnTo>
                  <a:lnTo>
                    <a:pt x="0" y="501"/>
                  </a:lnTo>
                  <a:lnTo>
                    <a:pt x="14" y="501"/>
                  </a:lnTo>
                  <a:close/>
                  <a:moveTo>
                    <a:pt x="14" y="529"/>
                  </a:moveTo>
                  <a:lnTo>
                    <a:pt x="14" y="543"/>
                  </a:lnTo>
                  <a:lnTo>
                    <a:pt x="0" y="543"/>
                  </a:lnTo>
                  <a:lnTo>
                    <a:pt x="0" y="529"/>
                  </a:lnTo>
                  <a:lnTo>
                    <a:pt x="14" y="529"/>
                  </a:lnTo>
                  <a:close/>
                  <a:moveTo>
                    <a:pt x="14" y="557"/>
                  </a:moveTo>
                  <a:lnTo>
                    <a:pt x="14" y="571"/>
                  </a:lnTo>
                  <a:lnTo>
                    <a:pt x="0" y="571"/>
                  </a:lnTo>
                  <a:lnTo>
                    <a:pt x="0" y="557"/>
                  </a:lnTo>
                  <a:lnTo>
                    <a:pt x="14" y="557"/>
                  </a:lnTo>
                  <a:close/>
                  <a:moveTo>
                    <a:pt x="14" y="585"/>
                  </a:moveTo>
                  <a:lnTo>
                    <a:pt x="14" y="599"/>
                  </a:lnTo>
                  <a:lnTo>
                    <a:pt x="0" y="599"/>
                  </a:lnTo>
                  <a:lnTo>
                    <a:pt x="0" y="585"/>
                  </a:lnTo>
                  <a:lnTo>
                    <a:pt x="14" y="585"/>
                  </a:lnTo>
                  <a:close/>
                  <a:moveTo>
                    <a:pt x="14" y="613"/>
                  </a:moveTo>
                  <a:lnTo>
                    <a:pt x="14" y="627"/>
                  </a:lnTo>
                  <a:lnTo>
                    <a:pt x="0" y="627"/>
                  </a:lnTo>
                  <a:lnTo>
                    <a:pt x="0" y="613"/>
                  </a:lnTo>
                  <a:lnTo>
                    <a:pt x="14" y="613"/>
                  </a:lnTo>
                  <a:close/>
                  <a:moveTo>
                    <a:pt x="14" y="641"/>
                  </a:moveTo>
                  <a:lnTo>
                    <a:pt x="14" y="655"/>
                  </a:lnTo>
                  <a:lnTo>
                    <a:pt x="0" y="655"/>
                  </a:lnTo>
                  <a:lnTo>
                    <a:pt x="0" y="641"/>
                  </a:lnTo>
                  <a:lnTo>
                    <a:pt x="14" y="641"/>
                  </a:lnTo>
                  <a:close/>
                  <a:moveTo>
                    <a:pt x="14" y="668"/>
                  </a:moveTo>
                  <a:lnTo>
                    <a:pt x="14" y="682"/>
                  </a:lnTo>
                  <a:lnTo>
                    <a:pt x="0" y="682"/>
                  </a:lnTo>
                  <a:lnTo>
                    <a:pt x="0" y="668"/>
                  </a:lnTo>
                  <a:lnTo>
                    <a:pt x="14" y="668"/>
                  </a:lnTo>
                  <a:close/>
                  <a:moveTo>
                    <a:pt x="14" y="696"/>
                  </a:moveTo>
                  <a:lnTo>
                    <a:pt x="14" y="710"/>
                  </a:lnTo>
                  <a:lnTo>
                    <a:pt x="0" y="710"/>
                  </a:lnTo>
                  <a:lnTo>
                    <a:pt x="0" y="696"/>
                  </a:lnTo>
                  <a:lnTo>
                    <a:pt x="14" y="696"/>
                  </a:lnTo>
                  <a:close/>
                  <a:moveTo>
                    <a:pt x="14" y="724"/>
                  </a:moveTo>
                  <a:lnTo>
                    <a:pt x="14" y="738"/>
                  </a:lnTo>
                  <a:lnTo>
                    <a:pt x="0" y="738"/>
                  </a:lnTo>
                  <a:lnTo>
                    <a:pt x="0" y="724"/>
                  </a:lnTo>
                  <a:lnTo>
                    <a:pt x="14" y="724"/>
                  </a:lnTo>
                  <a:close/>
                  <a:moveTo>
                    <a:pt x="14" y="752"/>
                  </a:moveTo>
                  <a:lnTo>
                    <a:pt x="14" y="766"/>
                  </a:lnTo>
                  <a:lnTo>
                    <a:pt x="0" y="766"/>
                  </a:lnTo>
                  <a:lnTo>
                    <a:pt x="0" y="752"/>
                  </a:lnTo>
                  <a:lnTo>
                    <a:pt x="14" y="752"/>
                  </a:lnTo>
                  <a:close/>
                  <a:moveTo>
                    <a:pt x="14" y="780"/>
                  </a:moveTo>
                  <a:lnTo>
                    <a:pt x="14" y="793"/>
                  </a:lnTo>
                  <a:lnTo>
                    <a:pt x="0" y="793"/>
                  </a:lnTo>
                  <a:lnTo>
                    <a:pt x="0" y="780"/>
                  </a:lnTo>
                  <a:lnTo>
                    <a:pt x="14" y="780"/>
                  </a:lnTo>
                  <a:close/>
                  <a:moveTo>
                    <a:pt x="14" y="808"/>
                  </a:moveTo>
                  <a:lnTo>
                    <a:pt x="14" y="822"/>
                  </a:lnTo>
                  <a:lnTo>
                    <a:pt x="0" y="822"/>
                  </a:lnTo>
                  <a:lnTo>
                    <a:pt x="0" y="808"/>
                  </a:lnTo>
                  <a:lnTo>
                    <a:pt x="14" y="808"/>
                  </a:lnTo>
                  <a:close/>
                  <a:moveTo>
                    <a:pt x="14" y="835"/>
                  </a:moveTo>
                  <a:lnTo>
                    <a:pt x="14" y="849"/>
                  </a:lnTo>
                  <a:lnTo>
                    <a:pt x="0" y="849"/>
                  </a:lnTo>
                  <a:lnTo>
                    <a:pt x="0" y="835"/>
                  </a:lnTo>
                  <a:lnTo>
                    <a:pt x="14" y="835"/>
                  </a:lnTo>
                  <a:close/>
                  <a:moveTo>
                    <a:pt x="14" y="863"/>
                  </a:moveTo>
                  <a:lnTo>
                    <a:pt x="14" y="877"/>
                  </a:lnTo>
                  <a:lnTo>
                    <a:pt x="0" y="877"/>
                  </a:lnTo>
                  <a:lnTo>
                    <a:pt x="0" y="863"/>
                  </a:lnTo>
                  <a:lnTo>
                    <a:pt x="14" y="863"/>
                  </a:lnTo>
                  <a:close/>
                  <a:moveTo>
                    <a:pt x="14" y="891"/>
                  </a:moveTo>
                  <a:lnTo>
                    <a:pt x="14" y="905"/>
                  </a:lnTo>
                  <a:lnTo>
                    <a:pt x="0" y="905"/>
                  </a:lnTo>
                  <a:lnTo>
                    <a:pt x="0" y="891"/>
                  </a:lnTo>
                  <a:lnTo>
                    <a:pt x="14" y="891"/>
                  </a:lnTo>
                  <a:close/>
                  <a:moveTo>
                    <a:pt x="14" y="919"/>
                  </a:moveTo>
                  <a:lnTo>
                    <a:pt x="14" y="933"/>
                  </a:lnTo>
                  <a:lnTo>
                    <a:pt x="0" y="933"/>
                  </a:lnTo>
                  <a:lnTo>
                    <a:pt x="0" y="919"/>
                  </a:lnTo>
                  <a:lnTo>
                    <a:pt x="14" y="919"/>
                  </a:lnTo>
                  <a:close/>
                  <a:moveTo>
                    <a:pt x="14" y="947"/>
                  </a:moveTo>
                  <a:lnTo>
                    <a:pt x="14" y="960"/>
                  </a:lnTo>
                  <a:lnTo>
                    <a:pt x="0" y="960"/>
                  </a:lnTo>
                  <a:lnTo>
                    <a:pt x="0" y="947"/>
                  </a:lnTo>
                  <a:lnTo>
                    <a:pt x="14" y="947"/>
                  </a:lnTo>
                  <a:close/>
                  <a:moveTo>
                    <a:pt x="14" y="974"/>
                  </a:moveTo>
                  <a:lnTo>
                    <a:pt x="14" y="988"/>
                  </a:lnTo>
                  <a:lnTo>
                    <a:pt x="0" y="988"/>
                  </a:lnTo>
                  <a:lnTo>
                    <a:pt x="0" y="974"/>
                  </a:lnTo>
                  <a:lnTo>
                    <a:pt x="14" y="974"/>
                  </a:lnTo>
                  <a:close/>
                  <a:moveTo>
                    <a:pt x="14" y="1002"/>
                  </a:moveTo>
                  <a:lnTo>
                    <a:pt x="14" y="1016"/>
                  </a:lnTo>
                  <a:lnTo>
                    <a:pt x="0" y="1016"/>
                  </a:lnTo>
                  <a:lnTo>
                    <a:pt x="0" y="1002"/>
                  </a:lnTo>
                  <a:lnTo>
                    <a:pt x="14" y="1002"/>
                  </a:lnTo>
                  <a:close/>
                  <a:moveTo>
                    <a:pt x="14" y="1030"/>
                  </a:moveTo>
                  <a:lnTo>
                    <a:pt x="14" y="1044"/>
                  </a:lnTo>
                  <a:lnTo>
                    <a:pt x="0" y="1044"/>
                  </a:lnTo>
                  <a:lnTo>
                    <a:pt x="0" y="1030"/>
                  </a:lnTo>
                  <a:lnTo>
                    <a:pt x="14" y="1030"/>
                  </a:lnTo>
                  <a:close/>
                  <a:moveTo>
                    <a:pt x="14" y="1058"/>
                  </a:moveTo>
                  <a:lnTo>
                    <a:pt x="14" y="1072"/>
                  </a:lnTo>
                  <a:lnTo>
                    <a:pt x="0" y="1072"/>
                  </a:lnTo>
                  <a:lnTo>
                    <a:pt x="0" y="1058"/>
                  </a:lnTo>
                  <a:lnTo>
                    <a:pt x="14" y="1058"/>
                  </a:lnTo>
                  <a:close/>
                  <a:moveTo>
                    <a:pt x="14" y="1086"/>
                  </a:moveTo>
                  <a:lnTo>
                    <a:pt x="14" y="1100"/>
                  </a:lnTo>
                  <a:lnTo>
                    <a:pt x="0" y="1100"/>
                  </a:lnTo>
                  <a:lnTo>
                    <a:pt x="0" y="1086"/>
                  </a:lnTo>
                  <a:lnTo>
                    <a:pt x="14" y="1086"/>
                  </a:lnTo>
                  <a:close/>
                  <a:moveTo>
                    <a:pt x="14" y="1114"/>
                  </a:moveTo>
                  <a:lnTo>
                    <a:pt x="14" y="1127"/>
                  </a:lnTo>
                  <a:lnTo>
                    <a:pt x="0" y="1127"/>
                  </a:lnTo>
                  <a:lnTo>
                    <a:pt x="0" y="1114"/>
                  </a:lnTo>
                  <a:lnTo>
                    <a:pt x="14" y="1114"/>
                  </a:lnTo>
                  <a:close/>
                  <a:moveTo>
                    <a:pt x="14" y="1141"/>
                  </a:moveTo>
                  <a:lnTo>
                    <a:pt x="14" y="1155"/>
                  </a:lnTo>
                  <a:lnTo>
                    <a:pt x="0" y="1155"/>
                  </a:lnTo>
                  <a:lnTo>
                    <a:pt x="0" y="1141"/>
                  </a:lnTo>
                  <a:lnTo>
                    <a:pt x="14" y="1141"/>
                  </a:lnTo>
                  <a:close/>
                  <a:moveTo>
                    <a:pt x="14" y="1169"/>
                  </a:moveTo>
                  <a:lnTo>
                    <a:pt x="14" y="1183"/>
                  </a:lnTo>
                  <a:lnTo>
                    <a:pt x="0" y="1183"/>
                  </a:lnTo>
                  <a:lnTo>
                    <a:pt x="0" y="1169"/>
                  </a:lnTo>
                  <a:lnTo>
                    <a:pt x="14" y="1169"/>
                  </a:lnTo>
                  <a:close/>
                  <a:moveTo>
                    <a:pt x="14" y="1197"/>
                  </a:moveTo>
                  <a:lnTo>
                    <a:pt x="14" y="1211"/>
                  </a:lnTo>
                  <a:lnTo>
                    <a:pt x="0" y="1211"/>
                  </a:lnTo>
                  <a:lnTo>
                    <a:pt x="0" y="1197"/>
                  </a:lnTo>
                  <a:lnTo>
                    <a:pt x="14" y="1197"/>
                  </a:lnTo>
                  <a:close/>
                  <a:moveTo>
                    <a:pt x="14" y="1225"/>
                  </a:moveTo>
                  <a:lnTo>
                    <a:pt x="14" y="1239"/>
                  </a:lnTo>
                  <a:lnTo>
                    <a:pt x="0" y="1239"/>
                  </a:lnTo>
                  <a:lnTo>
                    <a:pt x="0" y="1225"/>
                  </a:lnTo>
                  <a:lnTo>
                    <a:pt x="14" y="1225"/>
                  </a:lnTo>
                  <a:close/>
                  <a:moveTo>
                    <a:pt x="14" y="1253"/>
                  </a:moveTo>
                  <a:lnTo>
                    <a:pt x="14" y="1267"/>
                  </a:lnTo>
                  <a:lnTo>
                    <a:pt x="0" y="1267"/>
                  </a:lnTo>
                  <a:lnTo>
                    <a:pt x="0" y="1253"/>
                  </a:lnTo>
                  <a:lnTo>
                    <a:pt x="14" y="1253"/>
                  </a:lnTo>
                  <a:close/>
                  <a:moveTo>
                    <a:pt x="14" y="1281"/>
                  </a:moveTo>
                  <a:lnTo>
                    <a:pt x="14" y="1294"/>
                  </a:lnTo>
                  <a:lnTo>
                    <a:pt x="0" y="1294"/>
                  </a:lnTo>
                  <a:lnTo>
                    <a:pt x="0" y="1281"/>
                  </a:lnTo>
                  <a:lnTo>
                    <a:pt x="14" y="1281"/>
                  </a:lnTo>
                  <a:close/>
                  <a:moveTo>
                    <a:pt x="14" y="1308"/>
                  </a:moveTo>
                  <a:lnTo>
                    <a:pt x="14" y="1322"/>
                  </a:lnTo>
                  <a:lnTo>
                    <a:pt x="0" y="1322"/>
                  </a:lnTo>
                  <a:lnTo>
                    <a:pt x="0" y="1308"/>
                  </a:lnTo>
                  <a:lnTo>
                    <a:pt x="14" y="1308"/>
                  </a:lnTo>
                  <a:close/>
                  <a:moveTo>
                    <a:pt x="14" y="1336"/>
                  </a:moveTo>
                  <a:lnTo>
                    <a:pt x="14" y="1350"/>
                  </a:lnTo>
                  <a:lnTo>
                    <a:pt x="0" y="1350"/>
                  </a:lnTo>
                  <a:lnTo>
                    <a:pt x="0" y="1336"/>
                  </a:lnTo>
                  <a:lnTo>
                    <a:pt x="14" y="1336"/>
                  </a:lnTo>
                  <a:close/>
                  <a:moveTo>
                    <a:pt x="14" y="1364"/>
                  </a:moveTo>
                  <a:lnTo>
                    <a:pt x="14" y="1378"/>
                  </a:lnTo>
                  <a:lnTo>
                    <a:pt x="0" y="1378"/>
                  </a:lnTo>
                  <a:lnTo>
                    <a:pt x="0" y="1364"/>
                  </a:lnTo>
                  <a:lnTo>
                    <a:pt x="14" y="1364"/>
                  </a:lnTo>
                  <a:close/>
                  <a:moveTo>
                    <a:pt x="14" y="1392"/>
                  </a:moveTo>
                  <a:lnTo>
                    <a:pt x="14" y="1406"/>
                  </a:lnTo>
                  <a:lnTo>
                    <a:pt x="0" y="1406"/>
                  </a:lnTo>
                  <a:lnTo>
                    <a:pt x="0" y="1392"/>
                  </a:lnTo>
                  <a:lnTo>
                    <a:pt x="14" y="1392"/>
                  </a:lnTo>
                  <a:close/>
                  <a:moveTo>
                    <a:pt x="14" y="1420"/>
                  </a:moveTo>
                  <a:lnTo>
                    <a:pt x="14" y="1434"/>
                  </a:lnTo>
                  <a:lnTo>
                    <a:pt x="0" y="1434"/>
                  </a:lnTo>
                  <a:lnTo>
                    <a:pt x="0" y="1420"/>
                  </a:lnTo>
                  <a:lnTo>
                    <a:pt x="14" y="1420"/>
                  </a:lnTo>
                  <a:close/>
                  <a:moveTo>
                    <a:pt x="14" y="1448"/>
                  </a:moveTo>
                  <a:lnTo>
                    <a:pt x="14" y="1461"/>
                  </a:lnTo>
                  <a:lnTo>
                    <a:pt x="0" y="1461"/>
                  </a:lnTo>
                  <a:lnTo>
                    <a:pt x="0" y="1448"/>
                  </a:lnTo>
                  <a:lnTo>
                    <a:pt x="14" y="1448"/>
                  </a:lnTo>
                  <a:close/>
                  <a:moveTo>
                    <a:pt x="14" y="1475"/>
                  </a:moveTo>
                  <a:lnTo>
                    <a:pt x="14" y="1489"/>
                  </a:lnTo>
                  <a:lnTo>
                    <a:pt x="0" y="1489"/>
                  </a:lnTo>
                  <a:lnTo>
                    <a:pt x="0" y="1475"/>
                  </a:lnTo>
                  <a:lnTo>
                    <a:pt x="14" y="1475"/>
                  </a:lnTo>
                  <a:close/>
                  <a:moveTo>
                    <a:pt x="14" y="1503"/>
                  </a:moveTo>
                  <a:lnTo>
                    <a:pt x="14" y="1517"/>
                  </a:lnTo>
                  <a:lnTo>
                    <a:pt x="0" y="1517"/>
                  </a:lnTo>
                  <a:lnTo>
                    <a:pt x="0" y="1503"/>
                  </a:lnTo>
                  <a:lnTo>
                    <a:pt x="14" y="1503"/>
                  </a:lnTo>
                  <a:close/>
                  <a:moveTo>
                    <a:pt x="14" y="1531"/>
                  </a:moveTo>
                  <a:lnTo>
                    <a:pt x="14" y="1545"/>
                  </a:lnTo>
                  <a:lnTo>
                    <a:pt x="0" y="1545"/>
                  </a:lnTo>
                  <a:lnTo>
                    <a:pt x="0" y="1531"/>
                  </a:lnTo>
                  <a:lnTo>
                    <a:pt x="14" y="1531"/>
                  </a:lnTo>
                  <a:close/>
                  <a:moveTo>
                    <a:pt x="14" y="1559"/>
                  </a:moveTo>
                  <a:lnTo>
                    <a:pt x="14" y="1573"/>
                  </a:lnTo>
                  <a:lnTo>
                    <a:pt x="0" y="1573"/>
                  </a:lnTo>
                  <a:lnTo>
                    <a:pt x="0" y="1559"/>
                  </a:lnTo>
                  <a:lnTo>
                    <a:pt x="14" y="1559"/>
                  </a:lnTo>
                  <a:close/>
                  <a:moveTo>
                    <a:pt x="14" y="1587"/>
                  </a:moveTo>
                  <a:lnTo>
                    <a:pt x="14" y="1601"/>
                  </a:lnTo>
                  <a:lnTo>
                    <a:pt x="0" y="1601"/>
                  </a:lnTo>
                  <a:lnTo>
                    <a:pt x="0" y="1587"/>
                  </a:lnTo>
                  <a:lnTo>
                    <a:pt x="14" y="1587"/>
                  </a:lnTo>
                  <a:close/>
                  <a:moveTo>
                    <a:pt x="14" y="1615"/>
                  </a:moveTo>
                  <a:lnTo>
                    <a:pt x="14" y="1628"/>
                  </a:lnTo>
                  <a:lnTo>
                    <a:pt x="0" y="1628"/>
                  </a:lnTo>
                  <a:lnTo>
                    <a:pt x="0" y="1615"/>
                  </a:lnTo>
                  <a:lnTo>
                    <a:pt x="14" y="1615"/>
                  </a:lnTo>
                  <a:close/>
                  <a:moveTo>
                    <a:pt x="14" y="1642"/>
                  </a:moveTo>
                  <a:lnTo>
                    <a:pt x="14" y="1656"/>
                  </a:lnTo>
                  <a:lnTo>
                    <a:pt x="0" y="1656"/>
                  </a:lnTo>
                  <a:lnTo>
                    <a:pt x="0" y="1642"/>
                  </a:lnTo>
                  <a:lnTo>
                    <a:pt x="14" y="1642"/>
                  </a:lnTo>
                  <a:close/>
                  <a:moveTo>
                    <a:pt x="14" y="1670"/>
                  </a:moveTo>
                  <a:lnTo>
                    <a:pt x="14" y="1684"/>
                  </a:lnTo>
                  <a:lnTo>
                    <a:pt x="0" y="1684"/>
                  </a:lnTo>
                  <a:lnTo>
                    <a:pt x="0" y="1670"/>
                  </a:lnTo>
                  <a:lnTo>
                    <a:pt x="14" y="1670"/>
                  </a:lnTo>
                  <a:close/>
                  <a:moveTo>
                    <a:pt x="14" y="1698"/>
                  </a:moveTo>
                  <a:lnTo>
                    <a:pt x="14" y="1712"/>
                  </a:lnTo>
                  <a:lnTo>
                    <a:pt x="0" y="1712"/>
                  </a:lnTo>
                  <a:lnTo>
                    <a:pt x="0" y="1698"/>
                  </a:lnTo>
                  <a:lnTo>
                    <a:pt x="14" y="1698"/>
                  </a:lnTo>
                  <a:close/>
                  <a:moveTo>
                    <a:pt x="14" y="1726"/>
                  </a:moveTo>
                  <a:lnTo>
                    <a:pt x="14" y="1740"/>
                  </a:lnTo>
                  <a:lnTo>
                    <a:pt x="0" y="1740"/>
                  </a:lnTo>
                  <a:lnTo>
                    <a:pt x="0" y="1726"/>
                  </a:lnTo>
                  <a:lnTo>
                    <a:pt x="14" y="1726"/>
                  </a:lnTo>
                  <a:close/>
                  <a:moveTo>
                    <a:pt x="14" y="1754"/>
                  </a:moveTo>
                  <a:lnTo>
                    <a:pt x="14" y="1768"/>
                  </a:lnTo>
                  <a:lnTo>
                    <a:pt x="0" y="1768"/>
                  </a:lnTo>
                  <a:lnTo>
                    <a:pt x="0" y="1754"/>
                  </a:lnTo>
                  <a:lnTo>
                    <a:pt x="14" y="1754"/>
                  </a:lnTo>
                  <a:close/>
                  <a:moveTo>
                    <a:pt x="14" y="1782"/>
                  </a:moveTo>
                  <a:lnTo>
                    <a:pt x="14" y="1795"/>
                  </a:lnTo>
                  <a:lnTo>
                    <a:pt x="0" y="1795"/>
                  </a:lnTo>
                  <a:lnTo>
                    <a:pt x="0" y="1782"/>
                  </a:lnTo>
                  <a:lnTo>
                    <a:pt x="14" y="1782"/>
                  </a:lnTo>
                  <a:close/>
                  <a:moveTo>
                    <a:pt x="14" y="1809"/>
                  </a:moveTo>
                  <a:lnTo>
                    <a:pt x="14" y="1823"/>
                  </a:lnTo>
                  <a:lnTo>
                    <a:pt x="0" y="1823"/>
                  </a:lnTo>
                  <a:lnTo>
                    <a:pt x="0" y="1809"/>
                  </a:lnTo>
                  <a:lnTo>
                    <a:pt x="14" y="1809"/>
                  </a:lnTo>
                  <a:close/>
                  <a:moveTo>
                    <a:pt x="14" y="1837"/>
                  </a:moveTo>
                  <a:lnTo>
                    <a:pt x="14" y="1851"/>
                  </a:lnTo>
                  <a:lnTo>
                    <a:pt x="0" y="1851"/>
                  </a:lnTo>
                  <a:lnTo>
                    <a:pt x="0" y="1837"/>
                  </a:lnTo>
                  <a:lnTo>
                    <a:pt x="14" y="1837"/>
                  </a:lnTo>
                  <a:close/>
                  <a:moveTo>
                    <a:pt x="14" y="1865"/>
                  </a:moveTo>
                  <a:lnTo>
                    <a:pt x="14" y="1879"/>
                  </a:lnTo>
                  <a:lnTo>
                    <a:pt x="0" y="1879"/>
                  </a:lnTo>
                  <a:lnTo>
                    <a:pt x="0" y="1865"/>
                  </a:lnTo>
                  <a:lnTo>
                    <a:pt x="14" y="1865"/>
                  </a:lnTo>
                  <a:close/>
                  <a:moveTo>
                    <a:pt x="14" y="1893"/>
                  </a:moveTo>
                  <a:lnTo>
                    <a:pt x="14" y="1907"/>
                  </a:lnTo>
                  <a:lnTo>
                    <a:pt x="0" y="1907"/>
                  </a:lnTo>
                  <a:lnTo>
                    <a:pt x="0" y="1893"/>
                  </a:lnTo>
                  <a:lnTo>
                    <a:pt x="14" y="1893"/>
                  </a:lnTo>
                  <a:close/>
                  <a:moveTo>
                    <a:pt x="14" y="1921"/>
                  </a:moveTo>
                  <a:lnTo>
                    <a:pt x="14" y="1935"/>
                  </a:lnTo>
                  <a:lnTo>
                    <a:pt x="0" y="1935"/>
                  </a:lnTo>
                  <a:lnTo>
                    <a:pt x="0" y="1921"/>
                  </a:lnTo>
                  <a:lnTo>
                    <a:pt x="14" y="1921"/>
                  </a:lnTo>
                  <a:close/>
                  <a:moveTo>
                    <a:pt x="14" y="1949"/>
                  </a:moveTo>
                  <a:lnTo>
                    <a:pt x="14" y="1962"/>
                  </a:lnTo>
                  <a:lnTo>
                    <a:pt x="0" y="1962"/>
                  </a:lnTo>
                  <a:lnTo>
                    <a:pt x="0" y="1949"/>
                  </a:lnTo>
                  <a:lnTo>
                    <a:pt x="14" y="1949"/>
                  </a:lnTo>
                  <a:close/>
                  <a:moveTo>
                    <a:pt x="14" y="1976"/>
                  </a:moveTo>
                  <a:lnTo>
                    <a:pt x="14" y="1990"/>
                  </a:lnTo>
                  <a:lnTo>
                    <a:pt x="0" y="1990"/>
                  </a:lnTo>
                  <a:lnTo>
                    <a:pt x="0" y="1976"/>
                  </a:lnTo>
                  <a:lnTo>
                    <a:pt x="14" y="1976"/>
                  </a:lnTo>
                  <a:close/>
                  <a:moveTo>
                    <a:pt x="14" y="2004"/>
                  </a:moveTo>
                  <a:lnTo>
                    <a:pt x="14" y="2018"/>
                  </a:lnTo>
                  <a:lnTo>
                    <a:pt x="0" y="2018"/>
                  </a:lnTo>
                  <a:lnTo>
                    <a:pt x="0" y="2004"/>
                  </a:lnTo>
                  <a:lnTo>
                    <a:pt x="14" y="2004"/>
                  </a:lnTo>
                  <a:close/>
                  <a:moveTo>
                    <a:pt x="14" y="2032"/>
                  </a:moveTo>
                  <a:lnTo>
                    <a:pt x="14" y="2046"/>
                  </a:lnTo>
                  <a:lnTo>
                    <a:pt x="0" y="2046"/>
                  </a:lnTo>
                  <a:lnTo>
                    <a:pt x="0" y="2032"/>
                  </a:lnTo>
                  <a:lnTo>
                    <a:pt x="14" y="2032"/>
                  </a:lnTo>
                  <a:close/>
                  <a:moveTo>
                    <a:pt x="14" y="2060"/>
                  </a:moveTo>
                  <a:lnTo>
                    <a:pt x="14" y="2074"/>
                  </a:lnTo>
                  <a:lnTo>
                    <a:pt x="0" y="2074"/>
                  </a:lnTo>
                  <a:lnTo>
                    <a:pt x="0" y="2060"/>
                  </a:lnTo>
                  <a:lnTo>
                    <a:pt x="14" y="2060"/>
                  </a:lnTo>
                  <a:close/>
                  <a:moveTo>
                    <a:pt x="14" y="2087"/>
                  </a:moveTo>
                  <a:lnTo>
                    <a:pt x="14" y="2102"/>
                  </a:lnTo>
                  <a:lnTo>
                    <a:pt x="0" y="2102"/>
                  </a:lnTo>
                  <a:lnTo>
                    <a:pt x="0" y="2087"/>
                  </a:lnTo>
                  <a:lnTo>
                    <a:pt x="14" y="2087"/>
                  </a:lnTo>
                  <a:close/>
                  <a:moveTo>
                    <a:pt x="14" y="2116"/>
                  </a:moveTo>
                  <a:lnTo>
                    <a:pt x="14" y="2129"/>
                  </a:lnTo>
                  <a:lnTo>
                    <a:pt x="0" y="2129"/>
                  </a:lnTo>
                  <a:lnTo>
                    <a:pt x="0" y="2116"/>
                  </a:lnTo>
                  <a:lnTo>
                    <a:pt x="14" y="2116"/>
                  </a:lnTo>
                  <a:close/>
                  <a:moveTo>
                    <a:pt x="14" y="2143"/>
                  </a:moveTo>
                  <a:lnTo>
                    <a:pt x="14" y="2157"/>
                  </a:lnTo>
                  <a:lnTo>
                    <a:pt x="0" y="2157"/>
                  </a:lnTo>
                  <a:lnTo>
                    <a:pt x="0" y="2143"/>
                  </a:lnTo>
                  <a:lnTo>
                    <a:pt x="14" y="2143"/>
                  </a:lnTo>
                  <a:close/>
                  <a:moveTo>
                    <a:pt x="14" y="2171"/>
                  </a:moveTo>
                  <a:lnTo>
                    <a:pt x="14" y="2185"/>
                  </a:lnTo>
                  <a:lnTo>
                    <a:pt x="0" y="2185"/>
                  </a:lnTo>
                  <a:lnTo>
                    <a:pt x="0" y="2171"/>
                  </a:lnTo>
                  <a:lnTo>
                    <a:pt x="14" y="2171"/>
                  </a:lnTo>
                  <a:close/>
                  <a:moveTo>
                    <a:pt x="14" y="2199"/>
                  </a:moveTo>
                  <a:lnTo>
                    <a:pt x="14" y="2213"/>
                  </a:lnTo>
                  <a:lnTo>
                    <a:pt x="0" y="2213"/>
                  </a:lnTo>
                  <a:lnTo>
                    <a:pt x="0" y="2199"/>
                  </a:lnTo>
                  <a:lnTo>
                    <a:pt x="14" y="2199"/>
                  </a:lnTo>
                  <a:close/>
                  <a:moveTo>
                    <a:pt x="14" y="2227"/>
                  </a:moveTo>
                  <a:lnTo>
                    <a:pt x="14" y="2241"/>
                  </a:lnTo>
                  <a:lnTo>
                    <a:pt x="0" y="2241"/>
                  </a:lnTo>
                  <a:lnTo>
                    <a:pt x="0" y="2227"/>
                  </a:lnTo>
                  <a:lnTo>
                    <a:pt x="14" y="2227"/>
                  </a:lnTo>
                  <a:close/>
                  <a:moveTo>
                    <a:pt x="14" y="2254"/>
                  </a:moveTo>
                  <a:lnTo>
                    <a:pt x="14" y="2268"/>
                  </a:lnTo>
                  <a:lnTo>
                    <a:pt x="0" y="2268"/>
                  </a:lnTo>
                  <a:lnTo>
                    <a:pt x="0" y="2254"/>
                  </a:lnTo>
                  <a:lnTo>
                    <a:pt x="14" y="2254"/>
                  </a:lnTo>
                  <a:close/>
                  <a:moveTo>
                    <a:pt x="14" y="2283"/>
                  </a:moveTo>
                  <a:lnTo>
                    <a:pt x="14" y="2296"/>
                  </a:lnTo>
                  <a:lnTo>
                    <a:pt x="0" y="2296"/>
                  </a:lnTo>
                  <a:lnTo>
                    <a:pt x="0" y="2283"/>
                  </a:lnTo>
                  <a:lnTo>
                    <a:pt x="14" y="2283"/>
                  </a:lnTo>
                  <a:close/>
                  <a:moveTo>
                    <a:pt x="14" y="2310"/>
                  </a:moveTo>
                  <a:lnTo>
                    <a:pt x="14" y="2324"/>
                  </a:lnTo>
                  <a:lnTo>
                    <a:pt x="0" y="2324"/>
                  </a:lnTo>
                  <a:lnTo>
                    <a:pt x="0" y="2310"/>
                  </a:lnTo>
                  <a:lnTo>
                    <a:pt x="14" y="2310"/>
                  </a:lnTo>
                  <a:close/>
                  <a:moveTo>
                    <a:pt x="14" y="2338"/>
                  </a:moveTo>
                  <a:lnTo>
                    <a:pt x="14" y="2352"/>
                  </a:lnTo>
                  <a:lnTo>
                    <a:pt x="0" y="2352"/>
                  </a:lnTo>
                  <a:lnTo>
                    <a:pt x="0" y="2338"/>
                  </a:lnTo>
                  <a:lnTo>
                    <a:pt x="14" y="2338"/>
                  </a:lnTo>
                  <a:close/>
                  <a:moveTo>
                    <a:pt x="14" y="2366"/>
                  </a:moveTo>
                  <a:lnTo>
                    <a:pt x="14" y="2380"/>
                  </a:lnTo>
                  <a:lnTo>
                    <a:pt x="0" y="2380"/>
                  </a:lnTo>
                  <a:lnTo>
                    <a:pt x="0" y="2366"/>
                  </a:lnTo>
                  <a:lnTo>
                    <a:pt x="14" y="2366"/>
                  </a:lnTo>
                  <a:close/>
                  <a:moveTo>
                    <a:pt x="14" y="2394"/>
                  </a:moveTo>
                  <a:lnTo>
                    <a:pt x="14" y="2408"/>
                  </a:lnTo>
                  <a:lnTo>
                    <a:pt x="0" y="2408"/>
                  </a:lnTo>
                  <a:lnTo>
                    <a:pt x="0" y="2394"/>
                  </a:lnTo>
                  <a:lnTo>
                    <a:pt x="14" y="2394"/>
                  </a:lnTo>
                  <a:close/>
                  <a:moveTo>
                    <a:pt x="14" y="2421"/>
                  </a:moveTo>
                  <a:lnTo>
                    <a:pt x="14" y="2435"/>
                  </a:lnTo>
                  <a:lnTo>
                    <a:pt x="0" y="2435"/>
                  </a:lnTo>
                  <a:lnTo>
                    <a:pt x="0" y="2421"/>
                  </a:lnTo>
                  <a:lnTo>
                    <a:pt x="14" y="2421"/>
                  </a:lnTo>
                  <a:close/>
                  <a:moveTo>
                    <a:pt x="14" y="2449"/>
                  </a:moveTo>
                  <a:lnTo>
                    <a:pt x="14" y="2453"/>
                  </a:lnTo>
                  <a:lnTo>
                    <a:pt x="0" y="2453"/>
                  </a:lnTo>
                  <a:lnTo>
                    <a:pt x="0" y="2449"/>
                  </a:lnTo>
                  <a:lnTo>
                    <a:pt x="14" y="2449"/>
                  </a:lnTo>
                  <a:close/>
                </a:path>
              </a:pathLst>
            </a:custGeom>
            <a:solidFill>
              <a:srgbClr val="000000"/>
            </a:solidFill>
            <a:ln w="0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487" name="Freeform 29">
              <a:extLst>
                <a:ext uri="{FF2B5EF4-FFF2-40B4-BE49-F238E27FC236}">
                  <a16:creationId xmlns:a16="http://schemas.microsoft.com/office/drawing/2014/main" id="{627D0B84-6A75-D470-21A4-8E6D37F5C62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853776" y="3078501"/>
              <a:ext cx="18000" cy="3726773"/>
            </a:xfrm>
            <a:custGeom>
              <a:avLst/>
              <a:gdLst>
                <a:gd name="T0" fmla="*/ 15 w 15"/>
                <a:gd name="T1" fmla="*/ 42 h 2453"/>
                <a:gd name="T2" fmla="*/ 0 w 15"/>
                <a:gd name="T3" fmla="*/ 56 h 2453"/>
                <a:gd name="T4" fmla="*/ 15 w 15"/>
                <a:gd name="T5" fmla="*/ 112 h 2453"/>
                <a:gd name="T6" fmla="*/ 0 w 15"/>
                <a:gd name="T7" fmla="*/ 154 h 2453"/>
                <a:gd name="T8" fmla="*/ 15 w 15"/>
                <a:gd name="T9" fmla="*/ 167 h 2453"/>
                <a:gd name="T10" fmla="*/ 15 w 15"/>
                <a:gd name="T11" fmla="*/ 237 h 2453"/>
                <a:gd name="T12" fmla="*/ 0 w 15"/>
                <a:gd name="T13" fmla="*/ 251 h 2453"/>
                <a:gd name="T14" fmla="*/ 15 w 15"/>
                <a:gd name="T15" fmla="*/ 307 h 2453"/>
                <a:gd name="T16" fmla="*/ 0 w 15"/>
                <a:gd name="T17" fmla="*/ 348 h 2453"/>
                <a:gd name="T18" fmla="*/ 15 w 15"/>
                <a:gd name="T19" fmla="*/ 362 h 2453"/>
                <a:gd name="T20" fmla="*/ 15 w 15"/>
                <a:gd name="T21" fmla="*/ 432 h 2453"/>
                <a:gd name="T22" fmla="*/ 0 w 15"/>
                <a:gd name="T23" fmla="*/ 446 h 2453"/>
                <a:gd name="T24" fmla="*/ 15 w 15"/>
                <a:gd name="T25" fmla="*/ 501 h 2453"/>
                <a:gd name="T26" fmla="*/ 0 w 15"/>
                <a:gd name="T27" fmla="*/ 543 h 2453"/>
                <a:gd name="T28" fmla="*/ 15 w 15"/>
                <a:gd name="T29" fmla="*/ 557 h 2453"/>
                <a:gd name="T30" fmla="*/ 15 w 15"/>
                <a:gd name="T31" fmla="*/ 627 h 2453"/>
                <a:gd name="T32" fmla="*/ 0 w 15"/>
                <a:gd name="T33" fmla="*/ 641 h 2453"/>
                <a:gd name="T34" fmla="*/ 15 w 15"/>
                <a:gd name="T35" fmla="*/ 696 h 2453"/>
                <a:gd name="T36" fmla="*/ 0 w 15"/>
                <a:gd name="T37" fmla="*/ 738 h 2453"/>
                <a:gd name="T38" fmla="*/ 15 w 15"/>
                <a:gd name="T39" fmla="*/ 752 h 2453"/>
                <a:gd name="T40" fmla="*/ 15 w 15"/>
                <a:gd name="T41" fmla="*/ 822 h 2453"/>
                <a:gd name="T42" fmla="*/ 0 w 15"/>
                <a:gd name="T43" fmla="*/ 835 h 2453"/>
                <a:gd name="T44" fmla="*/ 15 w 15"/>
                <a:gd name="T45" fmla="*/ 891 h 2453"/>
                <a:gd name="T46" fmla="*/ 0 w 15"/>
                <a:gd name="T47" fmla="*/ 933 h 2453"/>
                <a:gd name="T48" fmla="*/ 15 w 15"/>
                <a:gd name="T49" fmla="*/ 947 h 2453"/>
                <a:gd name="T50" fmla="*/ 15 w 15"/>
                <a:gd name="T51" fmla="*/ 1016 h 2453"/>
                <a:gd name="T52" fmla="*/ 0 w 15"/>
                <a:gd name="T53" fmla="*/ 1030 h 2453"/>
                <a:gd name="T54" fmla="*/ 15 w 15"/>
                <a:gd name="T55" fmla="*/ 1086 h 2453"/>
                <a:gd name="T56" fmla="*/ 0 w 15"/>
                <a:gd name="T57" fmla="*/ 1127 h 2453"/>
                <a:gd name="T58" fmla="*/ 15 w 15"/>
                <a:gd name="T59" fmla="*/ 1141 h 2453"/>
                <a:gd name="T60" fmla="*/ 15 w 15"/>
                <a:gd name="T61" fmla="*/ 1211 h 2453"/>
                <a:gd name="T62" fmla="*/ 0 w 15"/>
                <a:gd name="T63" fmla="*/ 1225 h 2453"/>
                <a:gd name="T64" fmla="*/ 15 w 15"/>
                <a:gd name="T65" fmla="*/ 1281 h 2453"/>
                <a:gd name="T66" fmla="*/ 0 w 15"/>
                <a:gd name="T67" fmla="*/ 1322 h 2453"/>
                <a:gd name="T68" fmla="*/ 15 w 15"/>
                <a:gd name="T69" fmla="*/ 1336 h 2453"/>
                <a:gd name="T70" fmla="*/ 15 w 15"/>
                <a:gd name="T71" fmla="*/ 1406 h 2453"/>
                <a:gd name="T72" fmla="*/ 0 w 15"/>
                <a:gd name="T73" fmla="*/ 1420 h 2453"/>
                <a:gd name="T74" fmla="*/ 15 w 15"/>
                <a:gd name="T75" fmla="*/ 1475 h 2453"/>
                <a:gd name="T76" fmla="*/ 0 w 15"/>
                <a:gd name="T77" fmla="*/ 1517 h 2453"/>
                <a:gd name="T78" fmla="*/ 15 w 15"/>
                <a:gd name="T79" fmla="*/ 1531 h 2453"/>
                <a:gd name="T80" fmla="*/ 15 w 15"/>
                <a:gd name="T81" fmla="*/ 1601 h 2453"/>
                <a:gd name="T82" fmla="*/ 0 w 15"/>
                <a:gd name="T83" fmla="*/ 1615 h 2453"/>
                <a:gd name="T84" fmla="*/ 15 w 15"/>
                <a:gd name="T85" fmla="*/ 1670 h 2453"/>
                <a:gd name="T86" fmla="*/ 0 w 15"/>
                <a:gd name="T87" fmla="*/ 1712 h 2453"/>
                <a:gd name="T88" fmla="*/ 15 w 15"/>
                <a:gd name="T89" fmla="*/ 1726 h 2453"/>
                <a:gd name="T90" fmla="*/ 15 w 15"/>
                <a:gd name="T91" fmla="*/ 1795 h 2453"/>
                <a:gd name="T92" fmla="*/ 0 w 15"/>
                <a:gd name="T93" fmla="*/ 1809 h 2453"/>
                <a:gd name="T94" fmla="*/ 15 w 15"/>
                <a:gd name="T95" fmla="*/ 1865 h 2453"/>
                <a:gd name="T96" fmla="*/ 0 w 15"/>
                <a:gd name="T97" fmla="*/ 1907 h 2453"/>
                <a:gd name="T98" fmla="*/ 15 w 15"/>
                <a:gd name="T99" fmla="*/ 1921 h 2453"/>
                <a:gd name="T100" fmla="*/ 15 w 15"/>
                <a:gd name="T101" fmla="*/ 1990 h 2453"/>
                <a:gd name="T102" fmla="*/ 0 w 15"/>
                <a:gd name="T103" fmla="*/ 2004 h 2453"/>
                <a:gd name="T104" fmla="*/ 15 w 15"/>
                <a:gd name="T105" fmla="*/ 2060 h 2453"/>
                <a:gd name="T106" fmla="*/ 0 w 15"/>
                <a:gd name="T107" fmla="*/ 2102 h 2453"/>
                <a:gd name="T108" fmla="*/ 15 w 15"/>
                <a:gd name="T109" fmla="*/ 2116 h 2453"/>
                <a:gd name="T110" fmla="*/ 15 w 15"/>
                <a:gd name="T111" fmla="*/ 2185 h 2453"/>
                <a:gd name="T112" fmla="*/ 0 w 15"/>
                <a:gd name="T113" fmla="*/ 2199 h 2453"/>
                <a:gd name="T114" fmla="*/ 15 w 15"/>
                <a:gd name="T115" fmla="*/ 2254 h 2453"/>
                <a:gd name="T116" fmla="*/ 0 w 15"/>
                <a:gd name="T117" fmla="*/ 2296 h 2453"/>
                <a:gd name="T118" fmla="*/ 15 w 15"/>
                <a:gd name="T119" fmla="*/ 2310 h 2453"/>
                <a:gd name="T120" fmla="*/ 15 w 15"/>
                <a:gd name="T121" fmla="*/ 2380 h 2453"/>
                <a:gd name="T122" fmla="*/ 0 w 15"/>
                <a:gd name="T123" fmla="*/ 2394 h 2453"/>
                <a:gd name="T124" fmla="*/ 15 w 15"/>
                <a:gd name="T125" fmla="*/ 2449 h 24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5" h="2453">
                  <a:moveTo>
                    <a:pt x="15" y="0"/>
                  </a:moveTo>
                  <a:lnTo>
                    <a:pt x="15" y="14"/>
                  </a:lnTo>
                  <a:lnTo>
                    <a:pt x="0" y="14"/>
                  </a:lnTo>
                  <a:lnTo>
                    <a:pt x="0" y="0"/>
                  </a:lnTo>
                  <a:lnTo>
                    <a:pt x="15" y="0"/>
                  </a:lnTo>
                  <a:close/>
                  <a:moveTo>
                    <a:pt x="15" y="28"/>
                  </a:moveTo>
                  <a:lnTo>
                    <a:pt x="15" y="42"/>
                  </a:lnTo>
                  <a:lnTo>
                    <a:pt x="0" y="42"/>
                  </a:lnTo>
                  <a:lnTo>
                    <a:pt x="0" y="28"/>
                  </a:lnTo>
                  <a:lnTo>
                    <a:pt x="15" y="28"/>
                  </a:lnTo>
                  <a:close/>
                  <a:moveTo>
                    <a:pt x="15" y="56"/>
                  </a:moveTo>
                  <a:lnTo>
                    <a:pt x="15" y="70"/>
                  </a:lnTo>
                  <a:lnTo>
                    <a:pt x="0" y="70"/>
                  </a:lnTo>
                  <a:lnTo>
                    <a:pt x="0" y="56"/>
                  </a:lnTo>
                  <a:lnTo>
                    <a:pt x="15" y="56"/>
                  </a:lnTo>
                  <a:close/>
                  <a:moveTo>
                    <a:pt x="15" y="84"/>
                  </a:moveTo>
                  <a:lnTo>
                    <a:pt x="15" y="98"/>
                  </a:lnTo>
                  <a:lnTo>
                    <a:pt x="0" y="98"/>
                  </a:lnTo>
                  <a:lnTo>
                    <a:pt x="0" y="84"/>
                  </a:lnTo>
                  <a:lnTo>
                    <a:pt x="15" y="84"/>
                  </a:lnTo>
                  <a:close/>
                  <a:moveTo>
                    <a:pt x="15" y="112"/>
                  </a:moveTo>
                  <a:lnTo>
                    <a:pt x="15" y="126"/>
                  </a:lnTo>
                  <a:lnTo>
                    <a:pt x="0" y="126"/>
                  </a:lnTo>
                  <a:lnTo>
                    <a:pt x="0" y="112"/>
                  </a:lnTo>
                  <a:lnTo>
                    <a:pt x="15" y="112"/>
                  </a:lnTo>
                  <a:close/>
                  <a:moveTo>
                    <a:pt x="15" y="140"/>
                  </a:moveTo>
                  <a:lnTo>
                    <a:pt x="15" y="154"/>
                  </a:lnTo>
                  <a:lnTo>
                    <a:pt x="0" y="154"/>
                  </a:lnTo>
                  <a:lnTo>
                    <a:pt x="0" y="140"/>
                  </a:lnTo>
                  <a:lnTo>
                    <a:pt x="15" y="140"/>
                  </a:lnTo>
                  <a:close/>
                  <a:moveTo>
                    <a:pt x="15" y="167"/>
                  </a:moveTo>
                  <a:lnTo>
                    <a:pt x="15" y="181"/>
                  </a:lnTo>
                  <a:lnTo>
                    <a:pt x="0" y="181"/>
                  </a:lnTo>
                  <a:lnTo>
                    <a:pt x="0" y="167"/>
                  </a:lnTo>
                  <a:lnTo>
                    <a:pt x="15" y="167"/>
                  </a:lnTo>
                  <a:close/>
                  <a:moveTo>
                    <a:pt x="15" y="195"/>
                  </a:moveTo>
                  <a:lnTo>
                    <a:pt x="15" y="209"/>
                  </a:lnTo>
                  <a:lnTo>
                    <a:pt x="0" y="209"/>
                  </a:lnTo>
                  <a:lnTo>
                    <a:pt x="0" y="195"/>
                  </a:lnTo>
                  <a:lnTo>
                    <a:pt x="15" y="195"/>
                  </a:lnTo>
                  <a:close/>
                  <a:moveTo>
                    <a:pt x="15" y="223"/>
                  </a:moveTo>
                  <a:lnTo>
                    <a:pt x="15" y="237"/>
                  </a:lnTo>
                  <a:lnTo>
                    <a:pt x="0" y="237"/>
                  </a:lnTo>
                  <a:lnTo>
                    <a:pt x="0" y="223"/>
                  </a:lnTo>
                  <a:lnTo>
                    <a:pt x="15" y="223"/>
                  </a:lnTo>
                  <a:close/>
                  <a:moveTo>
                    <a:pt x="15" y="251"/>
                  </a:moveTo>
                  <a:lnTo>
                    <a:pt x="15" y="265"/>
                  </a:lnTo>
                  <a:lnTo>
                    <a:pt x="0" y="265"/>
                  </a:lnTo>
                  <a:lnTo>
                    <a:pt x="0" y="251"/>
                  </a:lnTo>
                  <a:lnTo>
                    <a:pt x="15" y="251"/>
                  </a:lnTo>
                  <a:close/>
                  <a:moveTo>
                    <a:pt x="15" y="279"/>
                  </a:moveTo>
                  <a:lnTo>
                    <a:pt x="15" y="293"/>
                  </a:lnTo>
                  <a:lnTo>
                    <a:pt x="0" y="293"/>
                  </a:lnTo>
                  <a:lnTo>
                    <a:pt x="0" y="279"/>
                  </a:lnTo>
                  <a:lnTo>
                    <a:pt x="15" y="279"/>
                  </a:lnTo>
                  <a:close/>
                  <a:moveTo>
                    <a:pt x="15" y="307"/>
                  </a:moveTo>
                  <a:lnTo>
                    <a:pt x="15" y="321"/>
                  </a:lnTo>
                  <a:lnTo>
                    <a:pt x="0" y="321"/>
                  </a:lnTo>
                  <a:lnTo>
                    <a:pt x="0" y="307"/>
                  </a:lnTo>
                  <a:lnTo>
                    <a:pt x="15" y="307"/>
                  </a:lnTo>
                  <a:close/>
                  <a:moveTo>
                    <a:pt x="15" y="334"/>
                  </a:moveTo>
                  <a:lnTo>
                    <a:pt x="15" y="348"/>
                  </a:lnTo>
                  <a:lnTo>
                    <a:pt x="0" y="348"/>
                  </a:lnTo>
                  <a:lnTo>
                    <a:pt x="0" y="334"/>
                  </a:lnTo>
                  <a:lnTo>
                    <a:pt x="15" y="334"/>
                  </a:lnTo>
                  <a:close/>
                  <a:moveTo>
                    <a:pt x="15" y="362"/>
                  </a:moveTo>
                  <a:lnTo>
                    <a:pt x="15" y="376"/>
                  </a:lnTo>
                  <a:lnTo>
                    <a:pt x="0" y="376"/>
                  </a:lnTo>
                  <a:lnTo>
                    <a:pt x="0" y="362"/>
                  </a:lnTo>
                  <a:lnTo>
                    <a:pt x="15" y="362"/>
                  </a:lnTo>
                  <a:close/>
                  <a:moveTo>
                    <a:pt x="15" y="390"/>
                  </a:moveTo>
                  <a:lnTo>
                    <a:pt x="15" y="404"/>
                  </a:lnTo>
                  <a:lnTo>
                    <a:pt x="0" y="404"/>
                  </a:lnTo>
                  <a:lnTo>
                    <a:pt x="0" y="390"/>
                  </a:lnTo>
                  <a:lnTo>
                    <a:pt x="15" y="390"/>
                  </a:lnTo>
                  <a:close/>
                  <a:moveTo>
                    <a:pt x="15" y="418"/>
                  </a:moveTo>
                  <a:lnTo>
                    <a:pt x="15" y="432"/>
                  </a:lnTo>
                  <a:lnTo>
                    <a:pt x="0" y="432"/>
                  </a:lnTo>
                  <a:lnTo>
                    <a:pt x="0" y="418"/>
                  </a:lnTo>
                  <a:lnTo>
                    <a:pt x="15" y="418"/>
                  </a:lnTo>
                  <a:close/>
                  <a:moveTo>
                    <a:pt x="15" y="446"/>
                  </a:moveTo>
                  <a:lnTo>
                    <a:pt x="15" y="460"/>
                  </a:lnTo>
                  <a:lnTo>
                    <a:pt x="0" y="460"/>
                  </a:lnTo>
                  <a:lnTo>
                    <a:pt x="0" y="446"/>
                  </a:lnTo>
                  <a:lnTo>
                    <a:pt x="15" y="446"/>
                  </a:lnTo>
                  <a:close/>
                  <a:moveTo>
                    <a:pt x="15" y="474"/>
                  </a:moveTo>
                  <a:lnTo>
                    <a:pt x="15" y="488"/>
                  </a:lnTo>
                  <a:lnTo>
                    <a:pt x="0" y="488"/>
                  </a:lnTo>
                  <a:lnTo>
                    <a:pt x="0" y="474"/>
                  </a:lnTo>
                  <a:lnTo>
                    <a:pt x="15" y="474"/>
                  </a:lnTo>
                  <a:close/>
                  <a:moveTo>
                    <a:pt x="15" y="501"/>
                  </a:moveTo>
                  <a:lnTo>
                    <a:pt x="15" y="515"/>
                  </a:lnTo>
                  <a:lnTo>
                    <a:pt x="0" y="515"/>
                  </a:lnTo>
                  <a:lnTo>
                    <a:pt x="0" y="501"/>
                  </a:lnTo>
                  <a:lnTo>
                    <a:pt x="15" y="501"/>
                  </a:lnTo>
                  <a:close/>
                  <a:moveTo>
                    <a:pt x="15" y="529"/>
                  </a:moveTo>
                  <a:lnTo>
                    <a:pt x="15" y="543"/>
                  </a:lnTo>
                  <a:lnTo>
                    <a:pt x="0" y="543"/>
                  </a:lnTo>
                  <a:lnTo>
                    <a:pt x="0" y="529"/>
                  </a:lnTo>
                  <a:lnTo>
                    <a:pt x="15" y="529"/>
                  </a:lnTo>
                  <a:close/>
                  <a:moveTo>
                    <a:pt x="15" y="557"/>
                  </a:moveTo>
                  <a:lnTo>
                    <a:pt x="15" y="571"/>
                  </a:lnTo>
                  <a:lnTo>
                    <a:pt x="0" y="571"/>
                  </a:lnTo>
                  <a:lnTo>
                    <a:pt x="0" y="557"/>
                  </a:lnTo>
                  <a:lnTo>
                    <a:pt x="15" y="557"/>
                  </a:lnTo>
                  <a:close/>
                  <a:moveTo>
                    <a:pt x="15" y="585"/>
                  </a:moveTo>
                  <a:lnTo>
                    <a:pt x="15" y="599"/>
                  </a:lnTo>
                  <a:lnTo>
                    <a:pt x="0" y="599"/>
                  </a:lnTo>
                  <a:lnTo>
                    <a:pt x="0" y="585"/>
                  </a:lnTo>
                  <a:lnTo>
                    <a:pt x="15" y="585"/>
                  </a:lnTo>
                  <a:close/>
                  <a:moveTo>
                    <a:pt x="15" y="613"/>
                  </a:moveTo>
                  <a:lnTo>
                    <a:pt x="15" y="627"/>
                  </a:lnTo>
                  <a:lnTo>
                    <a:pt x="0" y="627"/>
                  </a:lnTo>
                  <a:lnTo>
                    <a:pt x="0" y="613"/>
                  </a:lnTo>
                  <a:lnTo>
                    <a:pt x="15" y="613"/>
                  </a:lnTo>
                  <a:close/>
                  <a:moveTo>
                    <a:pt x="15" y="641"/>
                  </a:moveTo>
                  <a:lnTo>
                    <a:pt x="15" y="655"/>
                  </a:lnTo>
                  <a:lnTo>
                    <a:pt x="0" y="655"/>
                  </a:lnTo>
                  <a:lnTo>
                    <a:pt x="0" y="641"/>
                  </a:lnTo>
                  <a:lnTo>
                    <a:pt x="15" y="641"/>
                  </a:lnTo>
                  <a:close/>
                  <a:moveTo>
                    <a:pt x="15" y="668"/>
                  </a:moveTo>
                  <a:lnTo>
                    <a:pt x="15" y="682"/>
                  </a:lnTo>
                  <a:lnTo>
                    <a:pt x="0" y="682"/>
                  </a:lnTo>
                  <a:lnTo>
                    <a:pt x="0" y="668"/>
                  </a:lnTo>
                  <a:lnTo>
                    <a:pt x="15" y="668"/>
                  </a:lnTo>
                  <a:close/>
                  <a:moveTo>
                    <a:pt x="15" y="696"/>
                  </a:moveTo>
                  <a:lnTo>
                    <a:pt x="15" y="710"/>
                  </a:lnTo>
                  <a:lnTo>
                    <a:pt x="0" y="710"/>
                  </a:lnTo>
                  <a:lnTo>
                    <a:pt x="0" y="696"/>
                  </a:lnTo>
                  <a:lnTo>
                    <a:pt x="15" y="696"/>
                  </a:lnTo>
                  <a:close/>
                  <a:moveTo>
                    <a:pt x="15" y="724"/>
                  </a:moveTo>
                  <a:lnTo>
                    <a:pt x="15" y="738"/>
                  </a:lnTo>
                  <a:lnTo>
                    <a:pt x="0" y="738"/>
                  </a:lnTo>
                  <a:lnTo>
                    <a:pt x="0" y="724"/>
                  </a:lnTo>
                  <a:lnTo>
                    <a:pt x="15" y="724"/>
                  </a:lnTo>
                  <a:close/>
                  <a:moveTo>
                    <a:pt x="15" y="752"/>
                  </a:moveTo>
                  <a:lnTo>
                    <a:pt x="15" y="766"/>
                  </a:lnTo>
                  <a:lnTo>
                    <a:pt x="0" y="766"/>
                  </a:lnTo>
                  <a:lnTo>
                    <a:pt x="0" y="752"/>
                  </a:lnTo>
                  <a:lnTo>
                    <a:pt x="15" y="752"/>
                  </a:lnTo>
                  <a:close/>
                  <a:moveTo>
                    <a:pt x="15" y="780"/>
                  </a:moveTo>
                  <a:lnTo>
                    <a:pt x="15" y="793"/>
                  </a:lnTo>
                  <a:lnTo>
                    <a:pt x="0" y="793"/>
                  </a:lnTo>
                  <a:lnTo>
                    <a:pt x="0" y="780"/>
                  </a:lnTo>
                  <a:lnTo>
                    <a:pt x="15" y="780"/>
                  </a:lnTo>
                  <a:close/>
                  <a:moveTo>
                    <a:pt x="15" y="808"/>
                  </a:moveTo>
                  <a:lnTo>
                    <a:pt x="15" y="822"/>
                  </a:lnTo>
                  <a:lnTo>
                    <a:pt x="0" y="822"/>
                  </a:lnTo>
                  <a:lnTo>
                    <a:pt x="0" y="808"/>
                  </a:lnTo>
                  <a:lnTo>
                    <a:pt x="15" y="808"/>
                  </a:lnTo>
                  <a:close/>
                  <a:moveTo>
                    <a:pt x="15" y="835"/>
                  </a:moveTo>
                  <a:lnTo>
                    <a:pt x="15" y="849"/>
                  </a:lnTo>
                  <a:lnTo>
                    <a:pt x="0" y="849"/>
                  </a:lnTo>
                  <a:lnTo>
                    <a:pt x="0" y="835"/>
                  </a:lnTo>
                  <a:lnTo>
                    <a:pt x="15" y="835"/>
                  </a:lnTo>
                  <a:close/>
                  <a:moveTo>
                    <a:pt x="15" y="863"/>
                  </a:moveTo>
                  <a:lnTo>
                    <a:pt x="15" y="877"/>
                  </a:lnTo>
                  <a:lnTo>
                    <a:pt x="0" y="877"/>
                  </a:lnTo>
                  <a:lnTo>
                    <a:pt x="0" y="863"/>
                  </a:lnTo>
                  <a:lnTo>
                    <a:pt x="15" y="863"/>
                  </a:lnTo>
                  <a:close/>
                  <a:moveTo>
                    <a:pt x="15" y="891"/>
                  </a:moveTo>
                  <a:lnTo>
                    <a:pt x="15" y="905"/>
                  </a:lnTo>
                  <a:lnTo>
                    <a:pt x="0" y="905"/>
                  </a:lnTo>
                  <a:lnTo>
                    <a:pt x="0" y="891"/>
                  </a:lnTo>
                  <a:lnTo>
                    <a:pt x="15" y="891"/>
                  </a:lnTo>
                  <a:close/>
                  <a:moveTo>
                    <a:pt x="15" y="919"/>
                  </a:moveTo>
                  <a:lnTo>
                    <a:pt x="15" y="933"/>
                  </a:lnTo>
                  <a:lnTo>
                    <a:pt x="0" y="933"/>
                  </a:lnTo>
                  <a:lnTo>
                    <a:pt x="0" y="919"/>
                  </a:lnTo>
                  <a:lnTo>
                    <a:pt x="15" y="919"/>
                  </a:lnTo>
                  <a:close/>
                  <a:moveTo>
                    <a:pt x="15" y="947"/>
                  </a:moveTo>
                  <a:lnTo>
                    <a:pt x="15" y="960"/>
                  </a:lnTo>
                  <a:lnTo>
                    <a:pt x="0" y="960"/>
                  </a:lnTo>
                  <a:lnTo>
                    <a:pt x="0" y="947"/>
                  </a:lnTo>
                  <a:lnTo>
                    <a:pt x="15" y="947"/>
                  </a:lnTo>
                  <a:close/>
                  <a:moveTo>
                    <a:pt x="15" y="974"/>
                  </a:moveTo>
                  <a:lnTo>
                    <a:pt x="15" y="988"/>
                  </a:lnTo>
                  <a:lnTo>
                    <a:pt x="0" y="988"/>
                  </a:lnTo>
                  <a:lnTo>
                    <a:pt x="0" y="974"/>
                  </a:lnTo>
                  <a:lnTo>
                    <a:pt x="15" y="974"/>
                  </a:lnTo>
                  <a:close/>
                  <a:moveTo>
                    <a:pt x="15" y="1002"/>
                  </a:moveTo>
                  <a:lnTo>
                    <a:pt x="15" y="1016"/>
                  </a:lnTo>
                  <a:lnTo>
                    <a:pt x="0" y="1016"/>
                  </a:lnTo>
                  <a:lnTo>
                    <a:pt x="0" y="1002"/>
                  </a:lnTo>
                  <a:lnTo>
                    <a:pt x="15" y="1002"/>
                  </a:lnTo>
                  <a:close/>
                  <a:moveTo>
                    <a:pt x="15" y="1030"/>
                  </a:moveTo>
                  <a:lnTo>
                    <a:pt x="15" y="1044"/>
                  </a:lnTo>
                  <a:lnTo>
                    <a:pt x="0" y="1044"/>
                  </a:lnTo>
                  <a:lnTo>
                    <a:pt x="0" y="1030"/>
                  </a:lnTo>
                  <a:lnTo>
                    <a:pt x="15" y="1030"/>
                  </a:lnTo>
                  <a:close/>
                  <a:moveTo>
                    <a:pt x="15" y="1058"/>
                  </a:moveTo>
                  <a:lnTo>
                    <a:pt x="15" y="1072"/>
                  </a:lnTo>
                  <a:lnTo>
                    <a:pt x="0" y="1072"/>
                  </a:lnTo>
                  <a:lnTo>
                    <a:pt x="0" y="1058"/>
                  </a:lnTo>
                  <a:lnTo>
                    <a:pt x="15" y="1058"/>
                  </a:lnTo>
                  <a:close/>
                  <a:moveTo>
                    <a:pt x="15" y="1086"/>
                  </a:moveTo>
                  <a:lnTo>
                    <a:pt x="15" y="1100"/>
                  </a:lnTo>
                  <a:lnTo>
                    <a:pt x="0" y="1100"/>
                  </a:lnTo>
                  <a:lnTo>
                    <a:pt x="0" y="1086"/>
                  </a:lnTo>
                  <a:lnTo>
                    <a:pt x="15" y="1086"/>
                  </a:lnTo>
                  <a:close/>
                  <a:moveTo>
                    <a:pt x="15" y="1114"/>
                  </a:moveTo>
                  <a:lnTo>
                    <a:pt x="15" y="1127"/>
                  </a:lnTo>
                  <a:lnTo>
                    <a:pt x="0" y="1127"/>
                  </a:lnTo>
                  <a:lnTo>
                    <a:pt x="0" y="1114"/>
                  </a:lnTo>
                  <a:lnTo>
                    <a:pt x="15" y="1114"/>
                  </a:lnTo>
                  <a:close/>
                  <a:moveTo>
                    <a:pt x="15" y="1141"/>
                  </a:moveTo>
                  <a:lnTo>
                    <a:pt x="15" y="1155"/>
                  </a:lnTo>
                  <a:lnTo>
                    <a:pt x="0" y="1155"/>
                  </a:lnTo>
                  <a:lnTo>
                    <a:pt x="0" y="1141"/>
                  </a:lnTo>
                  <a:lnTo>
                    <a:pt x="15" y="1141"/>
                  </a:lnTo>
                  <a:close/>
                  <a:moveTo>
                    <a:pt x="15" y="1169"/>
                  </a:moveTo>
                  <a:lnTo>
                    <a:pt x="15" y="1183"/>
                  </a:lnTo>
                  <a:lnTo>
                    <a:pt x="0" y="1183"/>
                  </a:lnTo>
                  <a:lnTo>
                    <a:pt x="0" y="1169"/>
                  </a:lnTo>
                  <a:lnTo>
                    <a:pt x="15" y="1169"/>
                  </a:lnTo>
                  <a:close/>
                  <a:moveTo>
                    <a:pt x="15" y="1197"/>
                  </a:moveTo>
                  <a:lnTo>
                    <a:pt x="15" y="1211"/>
                  </a:lnTo>
                  <a:lnTo>
                    <a:pt x="0" y="1211"/>
                  </a:lnTo>
                  <a:lnTo>
                    <a:pt x="0" y="1197"/>
                  </a:lnTo>
                  <a:lnTo>
                    <a:pt x="15" y="1197"/>
                  </a:lnTo>
                  <a:close/>
                  <a:moveTo>
                    <a:pt x="15" y="1225"/>
                  </a:moveTo>
                  <a:lnTo>
                    <a:pt x="15" y="1239"/>
                  </a:lnTo>
                  <a:lnTo>
                    <a:pt x="0" y="1239"/>
                  </a:lnTo>
                  <a:lnTo>
                    <a:pt x="0" y="1225"/>
                  </a:lnTo>
                  <a:lnTo>
                    <a:pt x="15" y="1225"/>
                  </a:lnTo>
                  <a:close/>
                  <a:moveTo>
                    <a:pt x="15" y="1253"/>
                  </a:moveTo>
                  <a:lnTo>
                    <a:pt x="15" y="1267"/>
                  </a:lnTo>
                  <a:lnTo>
                    <a:pt x="0" y="1267"/>
                  </a:lnTo>
                  <a:lnTo>
                    <a:pt x="0" y="1253"/>
                  </a:lnTo>
                  <a:lnTo>
                    <a:pt x="15" y="1253"/>
                  </a:lnTo>
                  <a:close/>
                  <a:moveTo>
                    <a:pt x="15" y="1281"/>
                  </a:moveTo>
                  <a:lnTo>
                    <a:pt x="15" y="1294"/>
                  </a:lnTo>
                  <a:lnTo>
                    <a:pt x="0" y="1294"/>
                  </a:lnTo>
                  <a:lnTo>
                    <a:pt x="0" y="1281"/>
                  </a:lnTo>
                  <a:lnTo>
                    <a:pt x="15" y="1281"/>
                  </a:lnTo>
                  <a:close/>
                  <a:moveTo>
                    <a:pt x="15" y="1308"/>
                  </a:moveTo>
                  <a:lnTo>
                    <a:pt x="15" y="1322"/>
                  </a:lnTo>
                  <a:lnTo>
                    <a:pt x="0" y="1322"/>
                  </a:lnTo>
                  <a:lnTo>
                    <a:pt x="0" y="1308"/>
                  </a:lnTo>
                  <a:lnTo>
                    <a:pt x="15" y="1308"/>
                  </a:lnTo>
                  <a:close/>
                  <a:moveTo>
                    <a:pt x="15" y="1336"/>
                  </a:moveTo>
                  <a:lnTo>
                    <a:pt x="15" y="1350"/>
                  </a:lnTo>
                  <a:lnTo>
                    <a:pt x="0" y="1350"/>
                  </a:lnTo>
                  <a:lnTo>
                    <a:pt x="0" y="1336"/>
                  </a:lnTo>
                  <a:lnTo>
                    <a:pt x="15" y="1336"/>
                  </a:lnTo>
                  <a:close/>
                  <a:moveTo>
                    <a:pt x="15" y="1364"/>
                  </a:moveTo>
                  <a:lnTo>
                    <a:pt x="15" y="1378"/>
                  </a:lnTo>
                  <a:lnTo>
                    <a:pt x="0" y="1378"/>
                  </a:lnTo>
                  <a:lnTo>
                    <a:pt x="0" y="1364"/>
                  </a:lnTo>
                  <a:lnTo>
                    <a:pt x="15" y="1364"/>
                  </a:lnTo>
                  <a:close/>
                  <a:moveTo>
                    <a:pt x="15" y="1392"/>
                  </a:moveTo>
                  <a:lnTo>
                    <a:pt x="15" y="1406"/>
                  </a:lnTo>
                  <a:lnTo>
                    <a:pt x="0" y="1406"/>
                  </a:lnTo>
                  <a:lnTo>
                    <a:pt x="0" y="1392"/>
                  </a:lnTo>
                  <a:lnTo>
                    <a:pt x="15" y="1392"/>
                  </a:lnTo>
                  <a:close/>
                  <a:moveTo>
                    <a:pt x="15" y="1420"/>
                  </a:moveTo>
                  <a:lnTo>
                    <a:pt x="15" y="1434"/>
                  </a:lnTo>
                  <a:lnTo>
                    <a:pt x="0" y="1434"/>
                  </a:lnTo>
                  <a:lnTo>
                    <a:pt x="0" y="1420"/>
                  </a:lnTo>
                  <a:lnTo>
                    <a:pt x="15" y="1420"/>
                  </a:lnTo>
                  <a:close/>
                  <a:moveTo>
                    <a:pt x="15" y="1448"/>
                  </a:moveTo>
                  <a:lnTo>
                    <a:pt x="15" y="1461"/>
                  </a:lnTo>
                  <a:lnTo>
                    <a:pt x="0" y="1461"/>
                  </a:lnTo>
                  <a:lnTo>
                    <a:pt x="0" y="1448"/>
                  </a:lnTo>
                  <a:lnTo>
                    <a:pt x="15" y="1448"/>
                  </a:lnTo>
                  <a:close/>
                  <a:moveTo>
                    <a:pt x="15" y="1475"/>
                  </a:moveTo>
                  <a:lnTo>
                    <a:pt x="15" y="1489"/>
                  </a:lnTo>
                  <a:lnTo>
                    <a:pt x="0" y="1489"/>
                  </a:lnTo>
                  <a:lnTo>
                    <a:pt x="0" y="1475"/>
                  </a:lnTo>
                  <a:lnTo>
                    <a:pt x="15" y="1475"/>
                  </a:lnTo>
                  <a:close/>
                  <a:moveTo>
                    <a:pt x="15" y="1503"/>
                  </a:moveTo>
                  <a:lnTo>
                    <a:pt x="15" y="1517"/>
                  </a:lnTo>
                  <a:lnTo>
                    <a:pt x="0" y="1517"/>
                  </a:lnTo>
                  <a:lnTo>
                    <a:pt x="0" y="1503"/>
                  </a:lnTo>
                  <a:lnTo>
                    <a:pt x="15" y="1503"/>
                  </a:lnTo>
                  <a:close/>
                  <a:moveTo>
                    <a:pt x="15" y="1531"/>
                  </a:moveTo>
                  <a:lnTo>
                    <a:pt x="15" y="1545"/>
                  </a:lnTo>
                  <a:lnTo>
                    <a:pt x="0" y="1545"/>
                  </a:lnTo>
                  <a:lnTo>
                    <a:pt x="0" y="1531"/>
                  </a:lnTo>
                  <a:lnTo>
                    <a:pt x="15" y="1531"/>
                  </a:lnTo>
                  <a:close/>
                  <a:moveTo>
                    <a:pt x="15" y="1559"/>
                  </a:moveTo>
                  <a:lnTo>
                    <a:pt x="15" y="1573"/>
                  </a:lnTo>
                  <a:lnTo>
                    <a:pt x="0" y="1573"/>
                  </a:lnTo>
                  <a:lnTo>
                    <a:pt x="0" y="1559"/>
                  </a:lnTo>
                  <a:lnTo>
                    <a:pt x="15" y="1559"/>
                  </a:lnTo>
                  <a:close/>
                  <a:moveTo>
                    <a:pt x="15" y="1587"/>
                  </a:moveTo>
                  <a:lnTo>
                    <a:pt x="15" y="1601"/>
                  </a:lnTo>
                  <a:lnTo>
                    <a:pt x="0" y="1601"/>
                  </a:lnTo>
                  <a:lnTo>
                    <a:pt x="0" y="1587"/>
                  </a:lnTo>
                  <a:lnTo>
                    <a:pt x="15" y="1587"/>
                  </a:lnTo>
                  <a:close/>
                  <a:moveTo>
                    <a:pt x="15" y="1615"/>
                  </a:moveTo>
                  <a:lnTo>
                    <a:pt x="15" y="1628"/>
                  </a:lnTo>
                  <a:lnTo>
                    <a:pt x="0" y="1628"/>
                  </a:lnTo>
                  <a:lnTo>
                    <a:pt x="0" y="1615"/>
                  </a:lnTo>
                  <a:lnTo>
                    <a:pt x="15" y="1615"/>
                  </a:lnTo>
                  <a:close/>
                  <a:moveTo>
                    <a:pt x="15" y="1642"/>
                  </a:moveTo>
                  <a:lnTo>
                    <a:pt x="15" y="1656"/>
                  </a:lnTo>
                  <a:lnTo>
                    <a:pt x="0" y="1656"/>
                  </a:lnTo>
                  <a:lnTo>
                    <a:pt x="0" y="1642"/>
                  </a:lnTo>
                  <a:lnTo>
                    <a:pt x="15" y="1642"/>
                  </a:lnTo>
                  <a:close/>
                  <a:moveTo>
                    <a:pt x="15" y="1670"/>
                  </a:moveTo>
                  <a:lnTo>
                    <a:pt x="15" y="1684"/>
                  </a:lnTo>
                  <a:lnTo>
                    <a:pt x="0" y="1684"/>
                  </a:lnTo>
                  <a:lnTo>
                    <a:pt x="0" y="1670"/>
                  </a:lnTo>
                  <a:lnTo>
                    <a:pt x="15" y="1670"/>
                  </a:lnTo>
                  <a:close/>
                  <a:moveTo>
                    <a:pt x="15" y="1698"/>
                  </a:moveTo>
                  <a:lnTo>
                    <a:pt x="15" y="1712"/>
                  </a:lnTo>
                  <a:lnTo>
                    <a:pt x="0" y="1712"/>
                  </a:lnTo>
                  <a:lnTo>
                    <a:pt x="0" y="1698"/>
                  </a:lnTo>
                  <a:lnTo>
                    <a:pt x="15" y="1698"/>
                  </a:lnTo>
                  <a:close/>
                  <a:moveTo>
                    <a:pt x="15" y="1726"/>
                  </a:moveTo>
                  <a:lnTo>
                    <a:pt x="15" y="1740"/>
                  </a:lnTo>
                  <a:lnTo>
                    <a:pt x="0" y="1740"/>
                  </a:lnTo>
                  <a:lnTo>
                    <a:pt x="0" y="1726"/>
                  </a:lnTo>
                  <a:lnTo>
                    <a:pt x="15" y="1726"/>
                  </a:lnTo>
                  <a:close/>
                  <a:moveTo>
                    <a:pt x="15" y="1754"/>
                  </a:moveTo>
                  <a:lnTo>
                    <a:pt x="15" y="1768"/>
                  </a:lnTo>
                  <a:lnTo>
                    <a:pt x="0" y="1768"/>
                  </a:lnTo>
                  <a:lnTo>
                    <a:pt x="0" y="1754"/>
                  </a:lnTo>
                  <a:lnTo>
                    <a:pt x="15" y="1754"/>
                  </a:lnTo>
                  <a:close/>
                  <a:moveTo>
                    <a:pt x="15" y="1782"/>
                  </a:moveTo>
                  <a:lnTo>
                    <a:pt x="15" y="1795"/>
                  </a:lnTo>
                  <a:lnTo>
                    <a:pt x="0" y="1795"/>
                  </a:lnTo>
                  <a:lnTo>
                    <a:pt x="0" y="1782"/>
                  </a:lnTo>
                  <a:lnTo>
                    <a:pt x="15" y="1782"/>
                  </a:lnTo>
                  <a:close/>
                  <a:moveTo>
                    <a:pt x="15" y="1809"/>
                  </a:moveTo>
                  <a:lnTo>
                    <a:pt x="15" y="1823"/>
                  </a:lnTo>
                  <a:lnTo>
                    <a:pt x="0" y="1823"/>
                  </a:lnTo>
                  <a:lnTo>
                    <a:pt x="0" y="1809"/>
                  </a:lnTo>
                  <a:lnTo>
                    <a:pt x="15" y="1809"/>
                  </a:lnTo>
                  <a:close/>
                  <a:moveTo>
                    <a:pt x="15" y="1837"/>
                  </a:moveTo>
                  <a:lnTo>
                    <a:pt x="15" y="1851"/>
                  </a:lnTo>
                  <a:lnTo>
                    <a:pt x="0" y="1851"/>
                  </a:lnTo>
                  <a:lnTo>
                    <a:pt x="0" y="1837"/>
                  </a:lnTo>
                  <a:lnTo>
                    <a:pt x="15" y="1837"/>
                  </a:lnTo>
                  <a:close/>
                  <a:moveTo>
                    <a:pt x="15" y="1865"/>
                  </a:moveTo>
                  <a:lnTo>
                    <a:pt x="15" y="1879"/>
                  </a:lnTo>
                  <a:lnTo>
                    <a:pt x="0" y="1879"/>
                  </a:lnTo>
                  <a:lnTo>
                    <a:pt x="0" y="1865"/>
                  </a:lnTo>
                  <a:lnTo>
                    <a:pt x="15" y="1865"/>
                  </a:lnTo>
                  <a:close/>
                  <a:moveTo>
                    <a:pt x="15" y="1893"/>
                  </a:moveTo>
                  <a:lnTo>
                    <a:pt x="15" y="1907"/>
                  </a:lnTo>
                  <a:lnTo>
                    <a:pt x="0" y="1907"/>
                  </a:lnTo>
                  <a:lnTo>
                    <a:pt x="0" y="1893"/>
                  </a:lnTo>
                  <a:lnTo>
                    <a:pt x="15" y="1893"/>
                  </a:lnTo>
                  <a:close/>
                  <a:moveTo>
                    <a:pt x="15" y="1921"/>
                  </a:moveTo>
                  <a:lnTo>
                    <a:pt x="15" y="1935"/>
                  </a:lnTo>
                  <a:lnTo>
                    <a:pt x="0" y="1935"/>
                  </a:lnTo>
                  <a:lnTo>
                    <a:pt x="0" y="1921"/>
                  </a:lnTo>
                  <a:lnTo>
                    <a:pt x="15" y="1921"/>
                  </a:lnTo>
                  <a:close/>
                  <a:moveTo>
                    <a:pt x="15" y="1949"/>
                  </a:moveTo>
                  <a:lnTo>
                    <a:pt x="15" y="1962"/>
                  </a:lnTo>
                  <a:lnTo>
                    <a:pt x="0" y="1962"/>
                  </a:lnTo>
                  <a:lnTo>
                    <a:pt x="0" y="1949"/>
                  </a:lnTo>
                  <a:lnTo>
                    <a:pt x="15" y="1949"/>
                  </a:lnTo>
                  <a:close/>
                  <a:moveTo>
                    <a:pt x="15" y="1976"/>
                  </a:moveTo>
                  <a:lnTo>
                    <a:pt x="15" y="1990"/>
                  </a:lnTo>
                  <a:lnTo>
                    <a:pt x="0" y="1990"/>
                  </a:lnTo>
                  <a:lnTo>
                    <a:pt x="0" y="1976"/>
                  </a:lnTo>
                  <a:lnTo>
                    <a:pt x="15" y="1976"/>
                  </a:lnTo>
                  <a:close/>
                  <a:moveTo>
                    <a:pt x="15" y="2004"/>
                  </a:moveTo>
                  <a:lnTo>
                    <a:pt x="15" y="2018"/>
                  </a:lnTo>
                  <a:lnTo>
                    <a:pt x="0" y="2018"/>
                  </a:lnTo>
                  <a:lnTo>
                    <a:pt x="0" y="2004"/>
                  </a:lnTo>
                  <a:lnTo>
                    <a:pt x="15" y="2004"/>
                  </a:lnTo>
                  <a:close/>
                  <a:moveTo>
                    <a:pt x="15" y="2032"/>
                  </a:moveTo>
                  <a:lnTo>
                    <a:pt x="15" y="2046"/>
                  </a:lnTo>
                  <a:lnTo>
                    <a:pt x="0" y="2046"/>
                  </a:lnTo>
                  <a:lnTo>
                    <a:pt x="0" y="2032"/>
                  </a:lnTo>
                  <a:lnTo>
                    <a:pt x="15" y="2032"/>
                  </a:lnTo>
                  <a:close/>
                  <a:moveTo>
                    <a:pt x="15" y="2060"/>
                  </a:moveTo>
                  <a:lnTo>
                    <a:pt x="15" y="2074"/>
                  </a:lnTo>
                  <a:lnTo>
                    <a:pt x="0" y="2074"/>
                  </a:lnTo>
                  <a:lnTo>
                    <a:pt x="0" y="2060"/>
                  </a:lnTo>
                  <a:lnTo>
                    <a:pt x="15" y="2060"/>
                  </a:lnTo>
                  <a:close/>
                  <a:moveTo>
                    <a:pt x="15" y="2087"/>
                  </a:moveTo>
                  <a:lnTo>
                    <a:pt x="15" y="2102"/>
                  </a:lnTo>
                  <a:lnTo>
                    <a:pt x="0" y="2102"/>
                  </a:lnTo>
                  <a:lnTo>
                    <a:pt x="0" y="2087"/>
                  </a:lnTo>
                  <a:lnTo>
                    <a:pt x="15" y="2087"/>
                  </a:lnTo>
                  <a:close/>
                  <a:moveTo>
                    <a:pt x="15" y="2116"/>
                  </a:moveTo>
                  <a:lnTo>
                    <a:pt x="15" y="2129"/>
                  </a:lnTo>
                  <a:lnTo>
                    <a:pt x="0" y="2129"/>
                  </a:lnTo>
                  <a:lnTo>
                    <a:pt x="0" y="2116"/>
                  </a:lnTo>
                  <a:lnTo>
                    <a:pt x="15" y="2116"/>
                  </a:lnTo>
                  <a:close/>
                  <a:moveTo>
                    <a:pt x="15" y="2143"/>
                  </a:moveTo>
                  <a:lnTo>
                    <a:pt x="15" y="2157"/>
                  </a:lnTo>
                  <a:lnTo>
                    <a:pt x="0" y="2157"/>
                  </a:lnTo>
                  <a:lnTo>
                    <a:pt x="0" y="2143"/>
                  </a:lnTo>
                  <a:lnTo>
                    <a:pt x="15" y="2143"/>
                  </a:lnTo>
                  <a:close/>
                  <a:moveTo>
                    <a:pt x="15" y="2171"/>
                  </a:moveTo>
                  <a:lnTo>
                    <a:pt x="15" y="2185"/>
                  </a:lnTo>
                  <a:lnTo>
                    <a:pt x="0" y="2185"/>
                  </a:lnTo>
                  <a:lnTo>
                    <a:pt x="0" y="2171"/>
                  </a:lnTo>
                  <a:lnTo>
                    <a:pt x="15" y="2171"/>
                  </a:lnTo>
                  <a:close/>
                  <a:moveTo>
                    <a:pt x="15" y="2199"/>
                  </a:moveTo>
                  <a:lnTo>
                    <a:pt x="15" y="2213"/>
                  </a:lnTo>
                  <a:lnTo>
                    <a:pt x="0" y="2213"/>
                  </a:lnTo>
                  <a:lnTo>
                    <a:pt x="0" y="2199"/>
                  </a:lnTo>
                  <a:lnTo>
                    <a:pt x="15" y="2199"/>
                  </a:lnTo>
                  <a:close/>
                  <a:moveTo>
                    <a:pt x="15" y="2227"/>
                  </a:moveTo>
                  <a:lnTo>
                    <a:pt x="15" y="2241"/>
                  </a:lnTo>
                  <a:lnTo>
                    <a:pt x="0" y="2241"/>
                  </a:lnTo>
                  <a:lnTo>
                    <a:pt x="0" y="2227"/>
                  </a:lnTo>
                  <a:lnTo>
                    <a:pt x="15" y="2227"/>
                  </a:lnTo>
                  <a:close/>
                  <a:moveTo>
                    <a:pt x="15" y="2254"/>
                  </a:moveTo>
                  <a:lnTo>
                    <a:pt x="15" y="2268"/>
                  </a:lnTo>
                  <a:lnTo>
                    <a:pt x="0" y="2268"/>
                  </a:lnTo>
                  <a:lnTo>
                    <a:pt x="0" y="2254"/>
                  </a:lnTo>
                  <a:lnTo>
                    <a:pt x="15" y="2254"/>
                  </a:lnTo>
                  <a:close/>
                  <a:moveTo>
                    <a:pt x="15" y="2283"/>
                  </a:moveTo>
                  <a:lnTo>
                    <a:pt x="15" y="2296"/>
                  </a:lnTo>
                  <a:lnTo>
                    <a:pt x="0" y="2296"/>
                  </a:lnTo>
                  <a:lnTo>
                    <a:pt x="0" y="2283"/>
                  </a:lnTo>
                  <a:lnTo>
                    <a:pt x="15" y="2283"/>
                  </a:lnTo>
                  <a:close/>
                  <a:moveTo>
                    <a:pt x="15" y="2310"/>
                  </a:moveTo>
                  <a:lnTo>
                    <a:pt x="15" y="2324"/>
                  </a:lnTo>
                  <a:lnTo>
                    <a:pt x="0" y="2324"/>
                  </a:lnTo>
                  <a:lnTo>
                    <a:pt x="0" y="2310"/>
                  </a:lnTo>
                  <a:lnTo>
                    <a:pt x="15" y="2310"/>
                  </a:lnTo>
                  <a:close/>
                  <a:moveTo>
                    <a:pt x="15" y="2338"/>
                  </a:moveTo>
                  <a:lnTo>
                    <a:pt x="15" y="2352"/>
                  </a:lnTo>
                  <a:lnTo>
                    <a:pt x="0" y="2352"/>
                  </a:lnTo>
                  <a:lnTo>
                    <a:pt x="0" y="2338"/>
                  </a:lnTo>
                  <a:lnTo>
                    <a:pt x="15" y="2338"/>
                  </a:lnTo>
                  <a:close/>
                  <a:moveTo>
                    <a:pt x="15" y="2366"/>
                  </a:moveTo>
                  <a:lnTo>
                    <a:pt x="15" y="2380"/>
                  </a:lnTo>
                  <a:lnTo>
                    <a:pt x="0" y="2380"/>
                  </a:lnTo>
                  <a:lnTo>
                    <a:pt x="0" y="2366"/>
                  </a:lnTo>
                  <a:lnTo>
                    <a:pt x="15" y="2366"/>
                  </a:lnTo>
                  <a:close/>
                  <a:moveTo>
                    <a:pt x="15" y="2394"/>
                  </a:moveTo>
                  <a:lnTo>
                    <a:pt x="15" y="2408"/>
                  </a:lnTo>
                  <a:lnTo>
                    <a:pt x="0" y="2408"/>
                  </a:lnTo>
                  <a:lnTo>
                    <a:pt x="0" y="2394"/>
                  </a:lnTo>
                  <a:lnTo>
                    <a:pt x="15" y="2394"/>
                  </a:lnTo>
                  <a:close/>
                  <a:moveTo>
                    <a:pt x="15" y="2421"/>
                  </a:moveTo>
                  <a:lnTo>
                    <a:pt x="15" y="2435"/>
                  </a:lnTo>
                  <a:lnTo>
                    <a:pt x="0" y="2435"/>
                  </a:lnTo>
                  <a:lnTo>
                    <a:pt x="0" y="2421"/>
                  </a:lnTo>
                  <a:lnTo>
                    <a:pt x="15" y="2421"/>
                  </a:lnTo>
                  <a:close/>
                  <a:moveTo>
                    <a:pt x="15" y="2449"/>
                  </a:moveTo>
                  <a:lnTo>
                    <a:pt x="15" y="2453"/>
                  </a:lnTo>
                  <a:lnTo>
                    <a:pt x="0" y="2453"/>
                  </a:lnTo>
                  <a:lnTo>
                    <a:pt x="0" y="2449"/>
                  </a:lnTo>
                  <a:lnTo>
                    <a:pt x="15" y="2449"/>
                  </a:lnTo>
                  <a:close/>
                </a:path>
              </a:pathLst>
            </a:custGeom>
            <a:solidFill>
              <a:srgbClr val="000000"/>
            </a:solidFill>
            <a:ln w="0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488" name="Freeform 30">
              <a:extLst>
                <a:ext uri="{FF2B5EF4-FFF2-40B4-BE49-F238E27FC236}">
                  <a16:creationId xmlns:a16="http://schemas.microsoft.com/office/drawing/2014/main" id="{ED5883EE-E1B5-DAC4-561F-FE19D5F45FB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442602" y="3078501"/>
              <a:ext cx="18000" cy="3726773"/>
            </a:xfrm>
            <a:custGeom>
              <a:avLst/>
              <a:gdLst>
                <a:gd name="T0" fmla="*/ 14 w 14"/>
                <a:gd name="T1" fmla="*/ 42 h 2453"/>
                <a:gd name="T2" fmla="*/ 0 w 14"/>
                <a:gd name="T3" fmla="*/ 56 h 2453"/>
                <a:gd name="T4" fmla="*/ 14 w 14"/>
                <a:gd name="T5" fmla="*/ 112 h 2453"/>
                <a:gd name="T6" fmla="*/ 0 w 14"/>
                <a:gd name="T7" fmla="*/ 154 h 2453"/>
                <a:gd name="T8" fmla="*/ 14 w 14"/>
                <a:gd name="T9" fmla="*/ 167 h 2453"/>
                <a:gd name="T10" fmla="*/ 14 w 14"/>
                <a:gd name="T11" fmla="*/ 237 h 2453"/>
                <a:gd name="T12" fmla="*/ 0 w 14"/>
                <a:gd name="T13" fmla="*/ 251 h 2453"/>
                <a:gd name="T14" fmla="*/ 14 w 14"/>
                <a:gd name="T15" fmla="*/ 307 h 2453"/>
                <a:gd name="T16" fmla="*/ 0 w 14"/>
                <a:gd name="T17" fmla="*/ 348 h 2453"/>
                <a:gd name="T18" fmla="*/ 14 w 14"/>
                <a:gd name="T19" fmla="*/ 362 h 2453"/>
                <a:gd name="T20" fmla="*/ 14 w 14"/>
                <a:gd name="T21" fmla="*/ 432 h 2453"/>
                <a:gd name="T22" fmla="*/ 0 w 14"/>
                <a:gd name="T23" fmla="*/ 446 h 2453"/>
                <a:gd name="T24" fmla="*/ 14 w 14"/>
                <a:gd name="T25" fmla="*/ 501 h 2453"/>
                <a:gd name="T26" fmla="*/ 0 w 14"/>
                <a:gd name="T27" fmla="*/ 543 h 2453"/>
                <a:gd name="T28" fmla="*/ 14 w 14"/>
                <a:gd name="T29" fmla="*/ 557 h 2453"/>
                <a:gd name="T30" fmla="*/ 14 w 14"/>
                <a:gd name="T31" fmla="*/ 627 h 2453"/>
                <a:gd name="T32" fmla="*/ 0 w 14"/>
                <a:gd name="T33" fmla="*/ 641 h 2453"/>
                <a:gd name="T34" fmla="*/ 14 w 14"/>
                <a:gd name="T35" fmla="*/ 696 h 2453"/>
                <a:gd name="T36" fmla="*/ 0 w 14"/>
                <a:gd name="T37" fmla="*/ 738 h 2453"/>
                <a:gd name="T38" fmla="*/ 14 w 14"/>
                <a:gd name="T39" fmla="*/ 752 h 2453"/>
                <a:gd name="T40" fmla="*/ 14 w 14"/>
                <a:gd name="T41" fmla="*/ 822 h 2453"/>
                <a:gd name="T42" fmla="*/ 0 w 14"/>
                <a:gd name="T43" fmla="*/ 835 h 2453"/>
                <a:gd name="T44" fmla="*/ 14 w 14"/>
                <a:gd name="T45" fmla="*/ 891 h 2453"/>
                <a:gd name="T46" fmla="*/ 0 w 14"/>
                <a:gd name="T47" fmla="*/ 933 h 2453"/>
                <a:gd name="T48" fmla="*/ 14 w 14"/>
                <a:gd name="T49" fmla="*/ 947 h 2453"/>
                <a:gd name="T50" fmla="*/ 14 w 14"/>
                <a:gd name="T51" fmla="*/ 1016 h 2453"/>
                <a:gd name="T52" fmla="*/ 0 w 14"/>
                <a:gd name="T53" fmla="*/ 1030 h 2453"/>
                <a:gd name="T54" fmla="*/ 14 w 14"/>
                <a:gd name="T55" fmla="*/ 1086 h 2453"/>
                <a:gd name="T56" fmla="*/ 0 w 14"/>
                <a:gd name="T57" fmla="*/ 1127 h 2453"/>
                <a:gd name="T58" fmla="*/ 14 w 14"/>
                <a:gd name="T59" fmla="*/ 1141 h 2453"/>
                <a:gd name="T60" fmla="*/ 14 w 14"/>
                <a:gd name="T61" fmla="*/ 1211 h 2453"/>
                <a:gd name="T62" fmla="*/ 0 w 14"/>
                <a:gd name="T63" fmla="*/ 1225 h 2453"/>
                <a:gd name="T64" fmla="*/ 14 w 14"/>
                <a:gd name="T65" fmla="*/ 1281 h 2453"/>
                <a:gd name="T66" fmla="*/ 0 w 14"/>
                <a:gd name="T67" fmla="*/ 1322 h 2453"/>
                <a:gd name="T68" fmla="*/ 14 w 14"/>
                <a:gd name="T69" fmla="*/ 1336 h 2453"/>
                <a:gd name="T70" fmla="*/ 14 w 14"/>
                <a:gd name="T71" fmla="*/ 1406 h 2453"/>
                <a:gd name="T72" fmla="*/ 0 w 14"/>
                <a:gd name="T73" fmla="*/ 1420 h 2453"/>
                <a:gd name="T74" fmla="*/ 14 w 14"/>
                <a:gd name="T75" fmla="*/ 1475 h 2453"/>
                <a:gd name="T76" fmla="*/ 0 w 14"/>
                <a:gd name="T77" fmla="*/ 1517 h 2453"/>
                <a:gd name="T78" fmla="*/ 14 w 14"/>
                <a:gd name="T79" fmla="*/ 1531 h 2453"/>
                <a:gd name="T80" fmla="*/ 14 w 14"/>
                <a:gd name="T81" fmla="*/ 1601 h 2453"/>
                <a:gd name="T82" fmla="*/ 0 w 14"/>
                <a:gd name="T83" fmla="*/ 1615 h 2453"/>
                <a:gd name="T84" fmla="*/ 14 w 14"/>
                <a:gd name="T85" fmla="*/ 1670 h 2453"/>
                <a:gd name="T86" fmla="*/ 0 w 14"/>
                <a:gd name="T87" fmla="*/ 1712 h 2453"/>
                <a:gd name="T88" fmla="*/ 14 w 14"/>
                <a:gd name="T89" fmla="*/ 1726 h 2453"/>
                <a:gd name="T90" fmla="*/ 14 w 14"/>
                <a:gd name="T91" fmla="*/ 1795 h 2453"/>
                <a:gd name="T92" fmla="*/ 0 w 14"/>
                <a:gd name="T93" fmla="*/ 1809 h 2453"/>
                <a:gd name="T94" fmla="*/ 14 w 14"/>
                <a:gd name="T95" fmla="*/ 1865 h 2453"/>
                <a:gd name="T96" fmla="*/ 0 w 14"/>
                <a:gd name="T97" fmla="*/ 1907 h 2453"/>
                <a:gd name="T98" fmla="*/ 14 w 14"/>
                <a:gd name="T99" fmla="*/ 1921 h 2453"/>
                <a:gd name="T100" fmla="*/ 14 w 14"/>
                <a:gd name="T101" fmla="*/ 1990 h 2453"/>
                <a:gd name="T102" fmla="*/ 0 w 14"/>
                <a:gd name="T103" fmla="*/ 2004 h 2453"/>
                <a:gd name="T104" fmla="*/ 14 w 14"/>
                <a:gd name="T105" fmla="*/ 2060 h 2453"/>
                <a:gd name="T106" fmla="*/ 0 w 14"/>
                <a:gd name="T107" fmla="*/ 2102 h 2453"/>
                <a:gd name="T108" fmla="*/ 14 w 14"/>
                <a:gd name="T109" fmla="*/ 2116 h 2453"/>
                <a:gd name="T110" fmla="*/ 14 w 14"/>
                <a:gd name="T111" fmla="*/ 2185 h 2453"/>
                <a:gd name="T112" fmla="*/ 0 w 14"/>
                <a:gd name="T113" fmla="*/ 2199 h 2453"/>
                <a:gd name="T114" fmla="*/ 14 w 14"/>
                <a:gd name="T115" fmla="*/ 2254 h 2453"/>
                <a:gd name="T116" fmla="*/ 0 w 14"/>
                <a:gd name="T117" fmla="*/ 2296 h 2453"/>
                <a:gd name="T118" fmla="*/ 14 w 14"/>
                <a:gd name="T119" fmla="*/ 2310 h 2453"/>
                <a:gd name="T120" fmla="*/ 14 w 14"/>
                <a:gd name="T121" fmla="*/ 2380 h 2453"/>
                <a:gd name="T122" fmla="*/ 0 w 14"/>
                <a:gd name="T123" fmla="*/ 2394 h 2453"/>
                <a:gd name="T124" fmla="*/ 14 w 14"/>
                <a:gd name="T125" fmla="*/ 2449 h 24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4" h="2453">
                  <a:moveTo>
                    <a:pt x="14" y="0"/>
                  </a:moveTo>
                  <a:lnTo>
                    <a:pt x="14" y="14"/>
                  </a:lnTo>
                  <a:lnTo>
                    <a:pt x="0" y="14"/>
                  </a:lnTo>
                  <a:lnTo>
                    <a:pt x="0" y="0"/>
                  </a:lnTo>
                  <a:lnTo>
                    <a:pt x="14" y="0"/>
                  </a:lnTo>
                  <a:close/>
                  <a:moveTo>
                    <a:pt x="14" y="28"/>
                  </a:moveTo>
                  <a:lnTo>
                    <a:pt x="14" y="42"/>
                  </a:lnTo>
                  <a:lnTo>
                    <a:pt x="0" y="42"/>
                  </a:lnTo>
                  <a:lnTo>
                    <a:pt x="0" y="28"/>
                  </a:lnTo>
                  <a:lnTo>
                    <a:pt x="14" y="28"/>
                  </a:lnTo>
                  <a:close/>
                  <a:moveTo>
                    <a:pt x="14" y="56"/>
                  </a:moveTo>
                  <a:lnTo>
                    <a:pt x="14" y="70"/>
                  </a:lnTo>
                  <a:lnTo>
                    <a:pt x="0" y="70"/>
                  </a:lnTo>
                  <a:lnTo>
                    <a:pt x="0" y="56"/>
                  </a:lnTo>
                  <a:lnTo>
                    <a:pt x="14" y="56"/>
                  </a:lnTo>
                  <a:close/>
                  <a:moveTo>
                    <a:pt x="14" y="84"/>
                  </a:moveTo>
                  <a:lnTo>
                    <a:pt x="14" y="98"/>
                  </a:lnTo>
                  <a:lnTo>
                    <a:pt x="0" y="98"/>
                  </a:lnTo>
                  <a:lnTo>
                    <a:pt x="0" y="84"/>
                  </a:lnTo>
                  <a:lnTo>
                    <a:pt x="14" y="84"/>
                  </a:lnTo>
                  <a:close/>
                  <a:moveTo>
                    <a:pt x="14" y="112"/>
                  </a:moveTo>
                  <a:lnTo>
                    <a:pt x="14" y="126"/>
                  </a:lnTo>
                  <a:lnTo>
                    <a:pt x="0" y="126"/>
                  </a:lnTo>
                  <a:lnTo>
                    <a:pt x="0" y="112"/>
                  </a:lnTo>
                  <a:lnTo>
                    <a:pt x="14" y="112"/>
                  </a:lnTo>
                  <a:close/>
                  <a:moveTo>
                    <a:pt x="14" y="140"/>
                  </a:moveTo>
                  <a:lnTo>
                    <a:pt x="14" y="154"/>
                  </a:lnTo>
                  <a:lnTo>
                    <a:pt x="0" y="154"/>
                  </a:lnTo>
                  <a:lnTo>
                    <a:pt x="0" y="140"/>
                  </a:lnTo>
                  <a:lnTo>
                    <a:pt x="14" y="140"/>
                  </a:lnTo>
                  <a:close/>
                  <a:moveTo>
                    <a:pt x="14" y="167"/>
                  </a:moveTo>
                  <a:lnTo>
                    <a:pt x="14" y="181"/>
                  </a:lnTo>
                  <a:lnTo>
                    <a:pt x="0" y="181"/>
                  </a:lnTo>
                  <a:lnTo>
                    <a:pt x="0" y="167"/>
                  </a:lnTo>
                  <a:lnTo>
                    <a:pt x="14" y="167"/>
                  </a:lnTo>
                  <a:close/>
                  <a:moveTo>
                    <a:pt x="14" y="195"/>
                  </a:moveTo>
                  <a:lnTo>
                    <a:pt x="14" y="209"/>
                  </a:lnTo>
                  <a:lnTo>
                    <a:pt x="0" y="209"/>
                  </a:lnTo>
                  <a:lnTo>
                    <a:pt x="0" y="195"/>
                  </a:lnTo>
                  <a:lnTo>
                    <a:pt x="14" y="195"/>
                  </a:lnTo>
                  <a:close/>
                  <a:moveTo>
                    <a:pt x="14" y="223"/>
                  </a:moveTo>
                  <a:lnTo>
                    <a:pt x="14" y="237"/>
                  </a:lnTo>
                  <a:lnTo>
                    <a:pt x="0" y="237"/>
                  </a:lnTo>
                  <a:lnTo>
                    <a:pt x="0" y="223"/>
                  </a:lnTo>
                  <a:lnTo>
                    <a:pt x="14" y="223"/>
                  </a:lnTo>
                  <a:close/>
                  <a:moveTo>
                    <a:pt x="14" y="251"/>
                  </a:moveTo>
                  <a:lnTo>
                    <a:pt x="14" y="265"/>
                  </a:lnTo>
                  <a:lnTo>
                    <a:pt x="0" y="265"/>
                  </a:lnTo>
                  <a:lnTo>
                    <a:pt x="0" y="251"/>
                  </a:lnTo>
                  <a:lnTo>
                    <a:pt x="14" y="251"/>
                  </a:lnTo>
                  <a:close/>
                  <a:moveTo>
                    <a:pt x="14" y="279"/>
                  </a:moveTo>
                  <a:lnTo>
                    <a:pt x="14" y="293"/>
                  </a:lnTo>
                  <a:lnTo>
                    <a:pt x="0" y="293"/>
                  </a:lnTo>
                  <a:lnTo>
                    <a:pt x="0" y="279"/>
                  </a:lnTo>
                  <a:lnTo>
                    <a:pt x="14" y="279"/>
                  </a:lnTo>
                  <a:close/>
                  <a:moveTo>
                    <a:pt x="14" y="307"/>
                  </a:moveTo>
                  <a:lnTo>
                    <a:pt x="14" y="321"/>
                  </a:lnTo>
                  <a:lnTo>
                    <a:pt x="0" y="321"/>
                  </a:lnTo>
                  <a:lnTo>
                    <a:pt x="0" y="307"/>
                  </a:lnTo>
                  <a:lnTo>
                    <a:pt x="14" y="307"/>
                  </a:lnTo>
                  <a:close/>
                  <a:moveTo>
                    <a:pt x="14" y="334"/>
                  </a:moveTo>
                  <a:lnTo>
                    <a:pt x="14" y="348"/>
                  </a:lnTo>
                  <a:lnTo>
                    <a:pt x="0" y="348"/>
                  </a:lnTo>
                  <a:lnTo>
                    <a:pt x="0" y="334"/>
                  </a:lnTo>
                  <a:lnTo>
                    <a:pt x="14" y="334"/>
                  </a:lnTo>
                  <a:close/>
                  <a:moveTo>
                    <a:pt x="14" y="362"/>
                  </a:moveTo>
                  <a:lnTo>
                    <a:pt x="14" y="376"/>
                  </a:lnTo>
                  <a:lnTo>
                    <a:pt x="0" y="376"/>
                  </a:lnTo>
                  <a:lnTo>
                    <a:pt x="0" y="362"/>
                  </a:lnTo>
                  <a:lnTo>
                    <a:pt x="14" y="362"/>
                  </a:lnTo>
                  <a:close/>
                  <a:moveTo>
                    <a:pt x="14" y="390"/>
                  </a:moveTo>
                  <a:lnTo>
                    <a:pt x="14" y="404"/>
                  </a:lnTo>
                  <a:lnTo>
                    <a:pt x="0" y="404"/>
                  </a:lnTo>
                  <a:lnTo>
                    <a:pt x="0" y="390"/>
                  </a:lnTo>
                  <a:lnTo>
                    <a:pt x="14" y="390"/>
                  </a:lnTo>
                  <a:close/>
                  <a:moveTo>
                    <a:pt x="14" y="418"/>
                  </a:moveTo>
                  <a:lnTo>
                    <a:pt x="14" y="432"/>
                  </a:lnTo>
                  <a:lnTo>
                    <a:pt x="0" y="432"/>
                  </a:lnTo>
                  <a:lnTo>
                    <a:pt x="0" y="418"/>
                  </a:lnTo>
                  <a:lnTo>
                    <a:pt x="14" y="418"/>
                  </a:lnTo>
                  <a:close/>
                  <a:moveTo>
                    <a:pt x="14" y="446"/>
                  </a:moveTo>
                  <a:lnTo>
                    <a:pt x="14" y="460"/>
                  </a:lnTo>
                  <a:lnTo>
                    <a:pt x="0" y="460"/>
                  </a:lnTo>
                  <a:lnTo>
                    <a:pt x="0" y="446"/>
                  </a:lnTo>
                  <a:lnTo>
                    <a:pt x="14" y="446"/>
                  </a:lnTo>
                  <a:close/>
                  <a:moveTo>
                    <a:pt x="14" y="474"/>
                  </a:moveTo>
                  <a:lnTo>
                    <a:pt x="14" y="488"/>
                  </a:lnTo>
                  <a:lnTo>
                    <a:pt x="0" y="488"/>
                  </a:lnTo>
                  <a:lnTo>
                    <a:pt x="0" y="474"/>
                  </a:lnTo>
                  <a:lnTo>
                    <a:pt x="14" y="474"/>
                  </a:lnTo>
                  <a:close/>
                  <a:moveTo>
                    <a:pt x="14" y="501"/>
                  </a:moveTo>
                  <a:lnTo>
                    <a:pt x="14" y="515"/>
                  </a:lnTo>
                  <a:lnTo>
                    <a:pt x="0" y="515"/>
                  </a:lnTo>
                  <a:lnTo>
                    <a:pt x="0" y="501"/>
                  </a:lnTo>
                  <a:lnTo>
                    <a:pt x="14" y="501"/>
                  </a:lnTo>
                  <a:close/>
                  <a:moveTo>
                    <a:pt x="14" y="529"/>
                  </a:moveTo>
                  <a:lnTo>
                    <a:pt x="14" y="543"/>
                  </a:lnTo>
                  <a:lnTo>
                    <a:pt x="0" y="543"/>
                  </a:lnTo>
                  <a:lnTo>
                    <a:pt x="0" y="529"/>
                  </a:lnTo>
                  <a:lnTo>
                    <a:pt x="14" y="529"/>
                  </a:lnTo>
                  <a:close/>
                  <a:moveTo>
                    <a:pt x="14" y="557"/>
                  </a:moveTo>
                  <a:lnTo>
                    <a:pt x="14" y="571"/>
                  </a:lnTo>
                  <a:lnTo>
                    <a:pt x="0" y="571"/>
                  </a:lnTo>
                  <a:lnTo>
                    <a:pt x="0" y="557"/>
                  </a:lnTo>
                  <a:lnTo>
                    <a:pt x="14" y="557"/>
                  </a:lnTo>
                  <a:close/>
                  <a:moveTo>
                    <a:pt x="14" y="585"/>
                  </a:moveTo>
                  <a:lnTo>
                    <a:pt x="14" y="599"/>
                  </a:lnTo>
                  <a:lnTo>
                    <a:pt x="0" y="599"/>
                  </a:lnTo>
                  <a:lnTo>
                    <a:pt x="0" y="585"/>
                  </a:lnTo>
                  <a:lnTo>
                    <a:pt x="14" y="585"/>
                  </a:lnTo>
                  <a:close/>
                  <a:moveTo>
                    <a:pt x="14" y="613"/>
                  </a:moveTo>
                  <a:lnTo>
                    <a:pt x="14" y="627"/>
                  </a:lnTo>
                  <a:lnTo>
                    <a:pt x="0" y="627"/>
                  </a:lnTo>
                  <a:lnTo>
                    <a:pt x="0" y="613"/>
                  </a:lnTo>
                  <a:lnTo>
                    <a:pt x="14" y="613"/>
                  </a:lnTo>
                  <a:close/>
                  <a:moveTo>
                    <a:pt x="14" y="641"/>
                  </a:moveTo>
                  <a:lnTo>
                    <a:pt x="14" y="655"/>
                  </a:lnTo>
                  <a:lnTo>
                    <a:pt x="0" y="655"/>
                  </a:lnTo>
                  <a:lnTo>
                    <a:pt x="0" y="641"/>
                  </a:lnTo>
                  <a:lnTo>
                    <a:pt x="14" y="641"/>
                  </a:lnTo>
                  <a:close/>
                  <a:moveTo>
                    <a:pt x="14" y="668"/>
                  </a:moveTo>
                  <a:lnTo>
                    <a:pt x="14" y="682"/>
                  </a:lnTo>
                  <a:lnTo>
                    <a:pt x="0" y="682"/>
                  </a:lnTo>
                  <a:lnTo>
                    <a:pt x="0" y="668"/>
                  </a:lnTo>
                  <a:lnTo>
                    <a:pt x="14" y="668"/>
                  </a:lnTo>
                  <a:close/>
                  <a:moveTo>
                    <a:pt x="14" y="696"/>
                  </a:moveTo>
                  <a:lnTo>
                    <a:pt x="14" y="710"/>
                  </a:lnTo>
                  <a:lnTo>
                    <a:pt x="0" y="710"/>
                  </a:lnTo>
                  <a:lnTo>
                    <a:pt x="0" y="696"/>
                  </a:lnTo>
                  <a:lnTo>
                    <a:pt x="14" y="696"/>
                  </a:lnTo>
                  <a:close/>
                  <a:moveTo>
                    <a:pt x="14" y="724"/>
                  </a:moveTo>
                  <a:lnTo>
                    <a:pt x="14" y="738"/>
                  </a:lnTo>
                  <a:lnTo>
                    <a:pt x="0" y="738"/>
                  </a:lnTo>
                  <a:lnTo>
                    <a:pt x="0" y="724"/>
                  </a:lnTo>
                  <a:lnTo>
                    <a:pt x="14" y="724"/>
                  </a:lnTo>
                  <a:close/>
                  <a:moveTo>
                    <a:pt x="14" y="752"/>
                  </a:moveTo>
                  <a:lnTo>
                    <a:pt x="14" y="766"/>
                  </a:lnTo>
                  <a:lnTo>
                    <a:pt x="0" y="766"/>
                  </a:lnTo>
                  <a:lnTo>
                    <a:pt x="0" y="752"/>
                  </a:lnTo>
                  <a:lnTo>
                    <a:pt x="14" y="752"/>
                  </a:lnTo>
                  <a:close/>
                  <a:moveTo>
                    <a:pt x="14" y="780"/>
                  </a:moveTo>
                  <a:lnTo>
                    <a:pt x="14" y="793"/>
                  </a:lnTo>
                  <a:lnTo>
                    <a:pt x="0" y="793"/>
                  </a:lnTo>
                  <a:lnTo>
                    <a:pt x="0" y="780"/>
                  </a:lnTo>
                  <a:lnTo>
                    <a:pt x="14" y="780"/>
                  </a:lnTo>
                  <a:close/>
                  <a:moveTo>
                    <a:pt x="14" y="808"/>
                  </a:moveTo>
                  <a:lnTo>
                    <a:pt x="14" y="822"/>
                  </a:lnTo>
                  <a:lnTo>
                    <a:pt x="0" y="822"/>
                  </a:lnTo>
                  <a:lnTo>
                    <a:pt x="0" y="808"/>
                  </a:lnTo>
                  <a:lnTo>
                    <a:pt x="14" y="808"/>
                  </a:lnTo>
                  <a:close/>
                  <a:moveTo>
                    <a:pt x="14" y="835"/>
                  </a:moveTo>
                  <a:lnTo>
                    <a:pt x="14" y="849"/>
                  </a:lnTo>
                  <a:lnTo>
                    <a:pt x="0" y="849"/>
                  </a:lnTo>
                  <a:lnTo>
                    <a:pt x="0" y="835"/>
                  </a:lnTo>
                  <a:lnTo>
                    <a:pt x="14" y="835"/>
                  </a:lnTo>
                  <a:close/>
                  <a:moveTo>
                    <a:pt x="14" y="863"/>
                  </a:moveTo>
                  <a:lnTo>
                    <a:pt x="14" y="877"/>
                  </a:lnTo>
                  <a:lnTo>
                    <a:pt x="0" y="877"/>
                  </a:lnTo>
                  <a:lnTo>
                    <a:pt x="0" y="863"/>
                  </a:lnTo>
                  <a:lnTo>
                    <a:pt x="14" y="863"/>
                  </a:lnTo>
                  <a:close/>
                  <a:moveTo>
                    <a:pt x="14" y="891"/>
                  </a:moveTo>
                  <a:lnTo>
                    <a:pt x="14" y="905"/>
                  </a:lnTo>
                  <a:lnTo>
                    <a:pt x="0" y="905"/>
                  </a:lnTo>
                  <a:lnTo>
                    <a:pt x="0" y="891"/>
                  </a:lnTo>
                  <a:lnTo>
                    <a:pt x="14" y="891"/>
                  </a:lnTo>
                  <a:close/>
                  <a:moveTo>
                    <a:pt x="14" y="919"/>
                  </a:moveTo>
                  <a:lnTo>
                    <a:pt x="14" y="933"/>
                  </a:lnTo>
                  <a:lnTo>
                    <a:pt x="0" y="933"/>
                  </a:lnTo>
                  <a:lnTo>
                    <a:pt x="0" y="919"/>
                  </a:lnTo>
                  <a:lnTo>
                    <a:pt x="14" y="919"/>
                  </a:lnTo>
                  <a:close/>
                  <a:moveTo>
                    <a:pt x="14" y="947"/>
                  </a:moveTo>
                  <a:lnTo>
                    <a:pt x="14" y="960"/>
                  </a:lnTo>
                  <a:lnTo>
                    <a:pt x="0" y="960"/>
                  </a:lnTo>
                  <a:lnTo>
                    <a:pt x="0" y="947"/>
                  </a:lnTo>
                  <a:lnTo>
                    <a:pt x="14" y="947"/>
                  </a:lnTo>
                  <a:close/>
                  <a:moveTo>
                    <a:pt x="14" y="974"/>
                  </a:moveTo>
                  <a:lnTo>
                    <a:pt x="14" y="988"/>
                  </a:lnTo>
                  <a:lnTo>
                    <a:pt x="0" y="988"/>
                  </a:lnTo>
                  <a:lnTo>
                    <a:pt x="0" y="974"/>
                  </a:lnTo>
                  <a:lnTo>
                    <a:pt x="14" y="974"/>
                  </a:lnTo>
                  <a:close/>
                  <a:moveTo>
                    <a:pt x="14" y="1002"/>
                  </a:moveTo>
                  <a:lnTo>
                    <a:pt x="14" y="1016"/>
                  </a:lnTo>
                  <a:lnTo>
                    <a:pt x="0" y="1016"/>
                  </a:lnTo>
                  <a:lnTo>
                    <a:pt x="0" y="1002"/>
                  </a:lnTo>
                  <a:lnTo>
                    <a:pt x="14" y="1002"/>
                  </a:lnTo>
                  <a:close/>
                  <a:moveTo>
                    <a:pt x="14" y="1030"/>
                  </a:moveTo>
                  <a:lnTo>
                    <a:pt x="14" y="1044"/>
                  </a:lnTo>
                  <a:lnTo>
                    <a:pt x="0" y="1044"/>
                  </a:lnTo>
                  <a:lnTo>
                    <a:pt x="0" y="1030"/>
                  </a:lnTo>
                  <a:lnTo>
                    <a:pt x="14" y="1030"/>
                  </a:lnTo>
                  <a:close/>
                  <a:moveTo>
                    <a:pt x="14" y="1058"/>
                  </a:moveTo>
                  <a:lnTo>
                    <a:pt x="14" y="1072"/>
                  </a:lnTo>
                  <a:lnTo>
                    <a:pt x="0" y="1072"/>
                  </a:lnTo>
                  <a:lnTo>
                    <a:pt x="0" y="1058"/>
                  </a:lnTo>
                  <a:lnTo>
                    <a:pt x="14" y="1058"/>
                  </a:lnTo>
                  <a:close/>
                  <a:moveTo>
                    <a:pt x="14" y="1086"/>
                  </a:moveTo>
                  <a:lnTo>
                    <a:pt x="14" y="1100"/>
                  </a:lnTo>
                  <a:lnTo>
                    <a:pt x="0" y="1100"/>
                  </a:lnTo>
                  <a:lnTo>
                    <a:pt x="0" y="1086"/>
                  </a:lnTo>
                  <a:lnTo>
                    <a:pt x="14" y="1086"/>
                  </a:lnTo>
                  <a:close/>
                  <a:moveTo>
                    <a:pt x="14" y="1114"/>
                  </a:moveTo>
                  <a:lnTo>
                    <a:pt x="14" y="1127"/>
                  </a:lnTo>
                  <a:lnTo>
                    <a:pt x="0" y="1127"/>
                  </a:lnTo>
                  <a:lnTo>
                    <a:pt x="0" y="1114"/>
                  </a:lnTo>
                  <a:lnTo>
                    <a:pt x="14" y="1114"/>
                  </a:lnTo>
                  <a:close/>
                  <a:moveTo>
                    <a:pt x="14" y="1141"/>
                  </a:moveTo>
                  <a:lnTo>
                    <a:pt x="14" y="1155"/>
                  </a:lnTo>
                  <a:lnTo>
                    <a:pt x="0" y="1155"/>
                  </a:lnTo>
                  <a:lnTo>
                    <a:pt x="0" y="1141"/>
                  </a:lnTo>
                  <a:lnTo>
                    <a:pt x="14" y="1141"/>
                  </a:lnTo>
                  <a:close/>
                  <a:moveTo>
                    <a:pt x="14" y="1169"/>
                  </a:moveTo>
                  <a:lnTo>
                    <a:pt x="14" y="1183"/>
                  </a:lnTo>
                  <a:lnTo>
                    <a:pt x="0" y="1183"/>
                  </a:lnTo>
                  <a:lnTo>
                    <a:pt x="0" y="1169"/>
                  </a:lnTo>
                  <a:lnTo>
                    <a:pt x="14" y="1169"/>
                  </a:lnTo>
                  <a:close/>
                  <a:moveTo>
                    <a:pt x="14" y="1197"/>
                  </a:moveTo>
                  <a:lnTo>
                    <a:pt x="14" y="1211"/>
                  </a:lnTo>
                  <a:lnTo>
                    <a:pt x="0" y="1211"/>
                  </a:lnTo>
                  <a:lnTo>
                    <a:pt x="0" y="1197"/>
                  </a:lnTo>
                  <a:lnTo>
                    <a:pt x="14" y="1197"/>
                  </a:lnTo>
                  <a:close/>
                  <a:moveTo>
                    <a:pt x="14" y="1225"/>
                  </a:moveTo>
                  <a:lnTo>
                    <a:pt x="14" y="1239"/>
                  </a:lnTo>
                  <a:lnTo>
                    <a:pt x="0" y="1239"/>
                  </a:lnTo>
                  <a:lnTo>
                    <a:pt x="0" y="1225"/>
                  </a:lnTo>
                  <a:lnTo>
                    <a:pt x="14" y="1225"/>
                  </a:lnTo>
                  <a:close/>
                  <a:moveTo>
                    <a:pt x="14" y="1253"/>
                  </a:moveTo>
                  <a:lnTo>
                    <a:pt x="14" y="1267"/>
                  </a:lnTo>
                  <a:lnTo>
                    <a:pt x="0" y="1267"/>
                  </a:lnTo>
                  <a:lnTo>
                    <a:pt x="0" y="1253"/>
                  </a:lnTo>
                  <a:lnTo>
                    <a:pt x="14" y="1253"/>
                  </a:lnTo>
                  <a:close/>
                  <a:moveTo>
                    <a:pt x="14" y="1281"/>
                  </a:moveTo>
                  <a:lnTo>
                    <a:pt x="14" y="1294"/>
                  </a:lnTo>
                  <a:lnTo>
                    <a:pt x="0" y="1294"/>
                  </a:lnTo>
                  <a:lnTo>
                    <a:pt x="0" y="1281"/>
                  </a:lnTo>
                  <a:lnTo>
                    <a:pt x="14" y="1281"/>
                  </a:lnTo>
                  <a:close/>
                  <a:moveTo>
                    <a:pt x="14" y="1308"/>
                  </a:moveTo>
                  <a:lnTo>
                    <a:pt x="14" y="1322"/>
                  </a:lnTo>
                  <a:lnTo>
                    <a:pt x="0" y="1322"/>
                  </a:lnTo>
                  <a:lnTo>
                    <a:pt x="0" y="1308"/>
                  </a:lnTo>
                  <a:lnTo>
                    <a:pt x="14" y="1308"/>
                  </a:lnTo>
                  <a:close/>
                  <a:moveTo>
                    <a:pt x="14" y="1336"/>
                  </a:moveTo>
                  <a:lnTo>
                    <a:pt x="14" y="1350"/>
                  </a:lnTo>
                  <a:lnTo>
                    <a:pt x="0" y="1350"/>
                  </a:lnTo>
                  <a:lnTo>
                    <a:pt x="0" y="1336"/>
                  </a:lnTo>
                  <a:lnTo>
                    <a:pt x="14" y="1336"/>
                  </a:lnTo>
                  <a:close/>
                  <a:moveTo>
                    <a:pt x="14" y="1364"/>
                  </a:moveTo>
                  <a:lnTo>
                    <a:pt x="14" y="1378"/>
                  </a:lnTo>
                  <a:lnTo>
                    <a:pt x="0" y="1378"/>
                  </a:lnTo>
                  <a:lnTo>
                    <a:pt x="0" y="1364"/>
                  </a:lnTo>
                  <a:lnTo>
                    <a:pt x="14" y="1364"/>
                  </a:lnTo>
                  <a:close/>
                  <a:moveTo>
                    <a:pt x="14" y="1392"/>
                  </a:moveTo>
                  <a:lnTo>
                    <a:pt x="14" y="1406"/>
                  </a:lnTo>
                  <a:lnTo>
                    <a:pt x="0" y="1406"/>
                  </a:lnTo>
                  <a:lnTo>
                    <a:pt x="0" y="1392"/>
                  </a:lnTo>
                  <a:lnTo>
                    <a:pt x="14" y="1392"/>
                  </a:lnTo>
                  <a:close/>
                  <a:moveTo>
                    <a:pt x="14" y="1420"/>
                  </a:moveTo>
                  <a:lnTo>
                    <a:pt x="14" y="1434"/>
                  </a:lnTo>
                  <a:lnTo>
                    <a:pt x="0" y="1434"/>
                  </a:lnTo>
                  <a:lnTo>
                    <a:pt x="0" y="1420"/>
                  </a:lnTo>
                  <a:lnTo>
                    <a:pt x="14" y="1420"/>
                  </a:lnTo>
                  <a:close/>
                  <a:moveTo>
                    <a:pt x="14" y="1448"/>
                  </a:moveTo>
                  <a:lnTo>
                    <a:pt x="14" y="1461"/>
                  </a:lnTo>
                  <a:lnTo>
                    <a:pt x="0" y="1461"/>
                  </a:lnTo>
                  <a:lnTo>
                    <a:pt x="0" y="1448"/>
                  </a:lnTo>
                  <a:lnTo>
                    <a:pt x="14" y="1448"/>
                  </a:lnTo>
                  <a:close/>
                  <a:moveTo>
                    <a:pt x="14" y="1475"/>
                  </a:moveTo>
                  <a:lnTo>
                    <a:pt x="14" y="1489"/>
                  </a:lnTo>
                  <a:lnTo>
                    <a:pt x="0" y="1489"/>
                  </a:lnTo>
                  <a:lnTo>
                    <a:pt x="0" y="1475"/>
                  </a:lnTo>
                  <a:lnTo>
                    <a:pt x="14" y="1475"/>
                  </a:lnTo>
                  <a:close/>
                  <a:moveTo>
                    <a:pt x="14" y="1503"/>
                  </a:moveTo>
                  <a:lnTo>
                    <a:pt x="14" y="1517"/>
                  </a:lnTo>
                  <a:lnTo>
                    <a:pt x="0" y="1517"/>
                  </a:lnTo>
                  <a:lnTo>
                    <a:pt x="0" y="1503"/>
                  </a:lnTo>
                  <a:lnTo>
                    <a:pt x="14" y="1503"/>
                  </a:lnTo>
                  <a:close/>
                  <a:moveTo>
                    <a:pt x="14" y="1531"/>
                  </a:moveTo>
                  <a:lnTo>
                    <a:pt x="14" y="1545"/>
                  </a:lnTo>
                  <a:lnTo>
                    <a:pt x="0" y="1545"/>
                  </a:lnTo>
                  <a:lnTo>
                    <a:pt x="0" y="1531"/>
                  </a:lnTo>
                  <a:lnTo>
                    <a:pt x="14" y="1531"/>
                  </a:lnTo>
                  <a:close/>
                  <a:moveTo>
                    <a:pt x="14" y="1559"/>
                  </a:moveTo>
                  <a:lnTo>
                    <a:pt x="14" y="1573"/>
                  </a:lnTo>
                  <a:lnTo>
                    <a:pt x="0" y="1573"/>
                  </a:lnTo>
                  <a:lnTo>
                    <a:pt x="0" y="1559"/>
                  </a:lnTo>
                  <a:lnTo>
                    <a:pt x="14" y="1559"/>
                  </a:lnTo>
                  <a:close/>
                  <a:moveTo>
                    <a:pt x="14" y="1587"/>
                  </a:moveTo>
                  <a:lnTo>
                    <a:pt x="14" y="1601"/>
                  </a:lnTo>
                  <a:lnTo>
                    <a:pt x="0" y="1601"/>
                  </a:lnTo>
                  <a:lnTo>
                    <a:pt x="0" y="1587"/>
                  </a:lnTo>
                  <a:lnTo>
                    <a:pt x="14" y="1587"/>
                  </a:lnTo>
                  <a:close/>
                  <a:moveTo>
                    <a:pt x="14" y="1615"/>
                  </a:moveTo>
                  <a:lnTo>
                    <a:pt x="14" y="1628"/>
                  </a:lnTo>
                  <a:lnTo>
                    <a:pt x="0" y="1628"/>
                  </a:lnTo>
                  <a:lnTo>
                    <a:pt x="0" y="1615"/>
                  </a:lnTo>
                  <a:lnTo>
                    <a:pt x="14" y="1615"/>
                  </a:lnTo>
                  <a:close/>
                  <a:moveTo>
                    <a:pt x="14" y="1642"/>
                  </a:moveTo>
                  <a:lnTo>
                    <a:pt x="14" y="1656"/>
                  </a:lnTo>
                  <a:lnTo>
                    <a:pt x="0" y="1656"/>
                  </a:lnTo>
                  <a:lnTo>
                    <a:pt x="0" y="1642"/>
                  </a:lnTo>
                  <a:lnTo>
                    <a:pt x="14" y="1642"/>
                  </a:lnTo>
                  <a:close/>
                  <a:moveTo>
                    <a:pt x="14" y="1670"/>
                  </a:moveTo>
                  <a:lnTo>
                    <a:pt x="14" y="1684"/>
                  </a:lnTo>
                  <a:lnTo>
                    <a:pt x="0" y="1684"/>
                  </a:lnTo>
                  <a:lnTo>
                    <a:pt x="0" y="1670"/>
                  </a:lnTo>
                  <a:lnTo>
                    <a:pt x="14" y="1670"/>
                  </a:lnTo>
                  <a:close/>
                  <a:moveTo>
                    <a:pt x="14" y="1698"/>
                  </a:moveTo>
                  <a:lnTo>
                    <a:pt x="14" y="1712"/>
                  </a:lnTo>
                  <a:lnTo>
                    <a:pt x="0" y="1712"/>
                  </a:lnTo>
                  <a:lnTo>
                    <a:pt x="0" y="1698"/>
                  </a:lnTo>
                  <a:lnTo>
                    <a:pt x="14" y="1698"/>
                  </a:lnTo>
                  <a:close/>
                  <a:moveTo>
                    <a:pt x="14" y="1726"/>
                  </a:moveTo>
                  <a:lnTo>
                    <a:pt x="14" y="1740"/>
                  </a:lnTo>
                  <a:lnTo>
                    <a:pt x="0" y="1740"/>
                  </a:lnTo>
                  <a:lnTo>
                    <a:pt x="0" y="1726"/>
                  </a:lnTo>
                  <a:lnTo>
                    <a:pt x="14" y="1726"/>
                  </a:lnTo>
                  <a:close/>
                  <a:moveTo>
                    <a:pt x="14" y="1754"/>
                  </a:moveTo>
                  <a:lnTo>
                    <a:pt x="14" y="1768"/>
                  </a:lnTo>
                  <a:lnTo>
                    <a:pt x="0" y="1768"/>
                  </a:lnTo>
                  <a:lnTo>
                    <a:pt x="0" y="1754"/>
                  </a:lnTo>
                  <a:lnTo>
                    <a:pt x="14" y="1754"/>
                  </a:lnTo>
                  <a:close/>
                  <a:moveTo>
                    <a:pt x="14" y="1782"/>
                  </a:moveTo>
                  <a:lnTo>
                    <a:pt x="14" y="1795"/>
                  </a:lnTo>
                  <a:lnTo>
                    <a:pt x="0" y="1795"/>
                  </a:lnTo>
                  <a:lnTo>
                    <a:pt x="0" y="1782"/>
                  </a:lnTo>
                  <a:lnTo>
                    <a:pt x="14" y="1782"/>
                  </a:lnTo>
                  <a:close/>
                  <a:moveTo>
                    <a:pt x="14" y="1809"/>
                  </a:moveTo>
                  <a:lnTo>
                    <a:pt x="14" y="1823"/>
                  </a:lnTo>
                  <a:lnTo>
                    <a:pt x="0" y="1823"/>
                  </a:lnTo>
                  <a:lnTo>
                    <a:pt x="0" y="1809"/>
                  </a:lnTo>
                  <a:lnTo>
                    <a:pt x="14" y="1809"/>
                  </a:lnTo>
                  <a:close/>
                  <a:moveTo>
                    <a:pt x="14" y="1837"/>
                  </a:moveTo>
                  <a:lnTo>
                    <a:pt x="14" y="1851"/>
                  </a:lnTo>
                  <a:lnTo>
                    <a:pt x="0" y="1851"/>
                  </a:lnTo>
                  <a:lnTo>
                    <a:pt x="0" y="1837"/>
                  </a:lnTo>
                  <a:lnTo>
                    <a:pt x="14" y="1837"/>
                  </a:lnTo>
                  <a:close/>
                  <a:moveTo>
                    <a:pt x="14" y="1865"/>
                  </a:moveTo>
                  <a:lnTo>
                    <a:pt x="14" y="1879"/>
                  </a:lnTo>
                  <a:lnTo>
                    <a:pt x="0" y="1879"/>
                  </a:lnTo>
                  <a:lnTo>
                    <a:pt x="0" y="1865"/>
                  </a:lnTo>
                  <a:lnTo>
                    <a:pt x="14" y="1865"/>
                  </a:lnTo>
                  <a:close/>
                  <a:moveTo>
                    <a:pt x="14" y="1893"/>
                  </a:moveTo>
                  <a:lnTo>
                    <a:pt x="14" y="1907"/>
                  </a:lnTo>
                  <a:lnTo>
                    <a:pt x="0" y="1907"/>
                  </a:lnTo>
                  <a:lnTo>
                    <a:pt x="0" y="1893"/>
                  </a:lnTo>
                  <a:lnTo>
                    <a:pt x="14" y="1893"/>
                  </a:lnTo>
                  <a:close/>
                  <a:moveTo>
                    <a:pt x="14" y="1921"/>
                  </a:moveTo>
                  <a:lnTo>
                    <a:pt x="14" y="1935"/>
                  </a:lnTo>
                  <a:lnTo>
                    <a:pt x="0" y="1935"/>
                  </a:lnTo>
                  <a:lnTo>
                    <a:pt x="0" y="1921"/>
                  </a:lnTo>
                  <a:lnTo>
                    <a:pt x="14" y="1921"/>
                  </a:lnTo>
                  <a:close/>
                  <a:moveTo>
                    <a:pt x="14" y="1949"/>
                  </a:moveTo>
                  <a:lnTo>
                    <a:pt x="14" y="1962"/>
                  </a:lnTo>
                  <a:lnTo>
                    <a:pt x="0" y="1962"/>
                  </a:lnTo>
                  <a:lnTo>
                    <a:pt x="0" y="1949"/>
                  </a:lnTo>
                  <a:lnTo>
                    <a:pt x="14" y="1949"/>
                  </a:lnTo>
                  <a:close/>
                  <a:moveTo>
                    <a:pt x="14" y="1976"/>
                  </a:moveTo>
                  <a:lnTo>
                    <a:pt x="14" y="1990"/>
                  </a:lnTo>
                  <a:lnTo>
                    <a:pt x="0" y="1990"/>
                  </a:lnTo>
                  <a:lnTo>
                    <a:pt x="0" y="1976"/>
                  </a:lnTo>
                  <a:lnTo>
                    <a:pt x="14" y="1976"/>
                  </a:lnTo>
                  <a:close/>
                  <a:moveTo>
                    <a:pt x="14" y="2004"/>
                  </a:moveTo>
                  <a:lnTo>
                    <a:pt x="14" y="2018"/>
                  </a:lnTo>
                  <a:lnTo>
                    <a:pt x="0" y="2018"/>
                  </a:lnTo>
                  <a:lnTo>
                    <a:pt x="0" y="2004"/>
                  </a:lnTo>
                  <a:lnTo>
                    <a:pt x="14" y="2004"/>
                  </a:lnTo>
                  <a:close/>
                  <a:moveTo>
                    <a:pt x="14" y="2032"/>
                  </a:moveTo>
                  <a:lnTo>
                    <a:pt x="14" y="2046"/>
                  </a:lnTo>
                  <a:lnTo>
                    <a:pt x="0" y="2046"/>
                  </a:lnTo>
                  <a:lnTo>
                    <a:pt x="0" y="2032"/>
                  </a:lnTo>
                  <a:lnTo>
                    <a:pt x="14" y="2032"/>
                  </a:lnTo>
                  <a:close/>
                  <a:moveTo>
                    <a:pt x="14" y="2060"/>
                  </a:moveTo>
                  <a:lnTo>
                    <a:pt x="14" y="2074"/>
                  </a:lnTo>
                  <a:lnTo>
                    <a:pt x="0" y="2074"/>
                  </a:lnTo>
                  <a:lnTo>
                    <a:pt x="0" y="2060"/>
                  </a:lnTo>
                  <a:lnTo>
                    <a:pt x="14" y="2060"/>
                  </a:lnTo>
                  <a:close/>
                  <a:moveTo>
                    <a:pt x="14" y="2087"/>
                  </a:moveTo>
                  <a:lnTo>
                    <a:pt x="14" y="2102"/>
                  </a:lnTo>
                  <a:lnTo>
                    <a:pt x="0" y="2102"/>
                  </a:lnTo>
                  <a:lnTo>
                    <a:pt x="0" y="2087"/>
                  </a:lnTo>
                  <a:lnTo>
                    <a:pt x="14" y="2087"/>
                  </a:lnTo>
                  <a:close/>
                  <a:moveTo>
                    <a:pt x="14" y="2116"/>
                  </a:moveTo>
                  <a:lnTo>
                    <a:pt x="14" y="2129"/>
                  </a:lnTo>
                  <a:lnTo>
                    <a:pt x="0" y="2129"/>
                  </a:lnTo>
                  <a:lnTo>
                    <a:pt x="0" y="2116"/>
                  </a:lnTo>
                  <a:lnTo>
                    <a:pt x="14" y="2116"/>
                  </a:lnTo>
                  <a:close/>
                  <a:moveTo>
                    <a:pt x="14" y="2143"/>
                  </a:moveTo>
                  <a:lnTo>
                    <a:pt x="14" y="2157"/>
                  </a:lnTo>
                  <a:lnTo>
                    <a:pt x="0" y="2157"/>
                  </a:lnTo>
                  <a:lnTo>
                    <a:pt x="0" y="2143"/>
                  </a:lnTo>
                  <a:lnTo>
                    <a:pt x="14" y="2143"/>
                  </a:lnTo>
                  <a:close/>
                  <a:moveTo>
                    <a:pt x="14" y="2171"/>
                  </a:moveTo>
                  <a:lnTo>
                    <a:pt x="14" y="2185"/>
                  </a:lnTo>
                  <a:lnTo>
                    <a:pt x="0" y="2185"/>
                  </a:lnTo>
                  <a:lnTo>
                    <a:pt x="0" y="2171"/>
                  </a:lnTo>
                  <a:lnTo>
                    <a:pt x="14" y="2171"/>
                  </a:lnTo>
                  <a:close/>
                  <a:moveTo>
                    <a:pt x="14" y="2199"/>
                  </a:moveTo>
                  <a:lnTo>
                    <a:pt x="14" y="2213"/>
                  </a:lnTo>
                  <a:lnTo>
                    <a:pt x="0" y="2213"/>
                  </a:lnTo>
                  <a:lnTo>
                    <a:pt x="0" y="2199"/>
                  </a:lnTo>
                  <a:lnTo>
                    <a:pt x="14" y="2199"/>
                  </a:lnTo>
                  <a:close/>
                  <a:moveTo>
                    <a:pt x="14" y="2227"/>
                  </a:moveTo>
                  <a:lnTo>
                    <a:pt x="14" y="2241"/>
                  </a:lnTo>
                  <a:lnTo>
                    <a:pt x="0" y="2241"/>
                  </a:lnTo>
                  <a:lnTo>
                    <a:pt x="0" y="2227"/>
                  </a:lnTo>
                  <a:lnTo>
                    <a:pt x="14" y="2227"/>
                  </a:lnTo>
                  <a:close/>
                  <a:moveTo>
                    <a:pt x="14" y="2254"/>
                  </a:moveTo>
                  <a:lnTo>
                    <a:pt x="14" y="2268"/>
                  </a:lnTo>
                  <a:lnTo>
                    <a:pt x="0" y="2268"/>
                  </a:lnTo>
                  <a:lnTo>
                    <a:pt x="0" y="2254"/>
                  </a:lnTo>
                  <a:lnTo>
                    <a:pt x="14" y="2254"/>
                  </a:lnTo>
                  <a:close/>
                  <a:moveTo>
                    <a:pt x="14" y="2283"/>
                  </a:moveTo>
                  <a:lnTo>
                    <a:pt x="14" y="2296"/>
                  </a:lnTo>
                  <a:lnTo>
                    <a:pt x="0" y="2296"/>
                  </a:lnTo>
                  <a:lnTo>
                    <a:pt x="0" y="2283"/>
                  </a:lnTo>
                  <a:lnTo>
                    <a:pt x="14" y="2283"/>
                  </a:lnTo>
                  <a:close/>
                  <a:moveTo>
                    <a:pt x="14" y="2310"/>
                  </a:moveTo>
                  <a:lnTo>
                    <a:pt x="14" y="2324"/>
                  </a:lnTo>
                  <a:lnTo>
                    <a:pt x="0" y="2324"/>
                  </a:lnTo>
                  <a:lnTo>
                    <a:pt x="0" y="2310"/>
                  </a:lnTo>
                  <a:lnTo>
                    <a:pt x="14" y="2310"/>
                  </a:lnTo>
                  <a:close/>
                  <a:moveTo>
                    <a:pt x="14" y="2338"/>
                  </a:moveTo>
                  <a:lnTo>
                    <a:pt x="14" y="2352"/>
                  </a:lnTo>
                  <a:lnTo>
                    <a:pt x="0" y="2352"/>
                  </a:lnTo>
                  <a:lnTo>
                    <a:pt x="0" y="2338"/>
                  </a:lnTo>
                  <a:lnTo>
                    <a:pt x="14" y="2338"/>
                  </a:lnTo>
                  <a:close/>
                  <a:moveTo>
                    <a:pt x="14" y="2366"/>
                  </a:moveTo>
                  <a:lnTo>
                    <a:pt x="14" y="2380"/>
                  </a:lnTo>
                  <a:lnTo>
                    <a:pt x="0" y="2380"/>
                  </a:lnTo>
                  <a:lnTo>
                    <a:pt x="0" y="2366"/>
                  </a:lnTo>
                  <a:lnTo>
                    <a:pt x="14" y="2366"/>
                  </a:lnTo>
                  <a:close/>
                  <a:moveTo>
                    <a:pt x="14" y="2394"/>
                  </a:moveTo>
                  <a:lnTo>
                    <a:pt x="14" y="2408"/>
                  </a:lnTo>
                  <a:lnTo>
                    <a:pt x="0" y="2408"/>
                  </a:lnTo>
                  <a:lnTo>
                    <a:pt x="0" y="2394"/>
                  </a:lnTo>
                  <a:lnTo>
                    <a:pt x="14" y="2394"/>
                  </a:lnTo>
                  <a:close/>
                  <a:moveTo>
                    <a:pt x="14" y="2421"/>
                  </a:moveTo>
                  <a:lnTo>
                    <a:pt x="14" y="2435"/>
                  </a:lnTo>
                  <a:lnTo>
                    <a:pt x="0" y="2435"/>
                  </a:lnTo>
                  <a:lnTo>
                    <a:pt x="0" y="2421"/>
                  </a:lnTo>
                  <a:lnTo>
                    <a:pt x="14" y="2421"/>
                  </a:lnTo>
                  <a:close/>
                  <a:moveTo>
                    <a:pt x="14" y="2449"/>
                  </a:moveTo>
                  <a:lnTo>
                    <a:pt x="14" y="2453"/>
                  </a:lnTo>
                  <a:lnTo>
                    <a:pt x="0" y="2453"/>
                  </a:lnTo>
                  <a:lnTo>
                    <a:pt x="0" y="2449"/>
                  </a:lnTo>
                  <a:lnTo>
                    <a:pt x="14" y="2449"/>
                  </a:lnTo>
                  <a:close/>
                </a:path>
              </a:pathLst>
            </a:custGeom>
            <a:solidFill>
              <a:srgbClr val="000000"/>
            </a:solidFill>
            <a:ln w="0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489" name="Freeform 31">
              <a:extLst>
                <a:ext uri="{FF2B5EF4-FFF2-40B4-BE49-F238E27FC236}">
                  <a16:creationId xmlns:a16="http://schemas.microsoft.com/office/drawing/2014/main" id="{C7400476-B9AF-1A15-1577-048FBAB6442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031428" y="3078501"/>
              <a:ext cx="18000" cy="3726773"/>
            </a:xfrm>
            <a:custGeom>
              <a:avLst/>
              <a:gdLst>
                <a:gd name="T0" fmla="*/ 15 w 15"/>
                <a:gd name="T1" fmla="*/ 42 h 2453"/>
                <a:gd name="T2" fmla="*/ 0 w 15"/>
                <a:gd name="T3" fmla="*/ 56 h 2453"/>
                <a:gd name="T4" fmla="*/ 15 w 15"/>
                <a:gd name="T5" fmla="*/ 112 h 2453"/>
                <a:gd name="T6" fmla="*/ 0 w 15"/>
                <a:gd name="T7" fmla="*/ 154 h 2453"/>
                <a:gd name="T8" fmla="*/ 15 w 15"/>
                <a:gd name="T9" fmla="*/ 167 h 2453"/>
                <a:gd name="T10" fmla="*/ 15 w 15"/>
                <a:gd name="T11" fmla="*/ 237 h 2453"/>
                <a:gd name="T12" fmla="*/ 0 w 15"/>
                <a:gd name="T13" fmla="*/ 251 h 2453"/>
                <a:gd name="T14" fmla="*/ 15 w 15"/>
                <a:gd name="T15" fmla="*/ 307 h 2453"/>
                <a:gd name="T16" fmla="*/ 0 w 15"/>
                <a:gd name="T17" fmla="*/ 348 h 2453"/>
                <a:gd name="T18" fmla="*/ 15 w 15"/>
                <a:gd name="T19" fmla="*/ 362 h 2453"/>
                <a:gd name="T20" fmla="*/ 15 w 15"/>
                <a:gd name="T21" fmla="*/ 432 h 2453"/>
                <a:gd name="T22" fmla="*/ 0 w 15"/>
                <a:gd name="T23" fmla="*/ 446 h 2453"/>
                <a:gd name="T24" fmla="*/ 15 w 15"/>
                <a:gd name="T25" fmla="*/ 501 h 2453"/>
                <a:gd name="T26" fmla="*/ 0 w 15"/>
                <a:gd name="T27" fmla="*/ 543 h 2453"/>
                <a:gd name="T28" fmla="*/ 15 w 15"/>
                <a:gd name="T29" fmla="*/ 557 h 2453"/>
                <a:gd name="T30" fmla="*/ 15 w 15"/>
                <a:gd name="T31" fmla="*/ 627 h 2453"/>
                <a:gd name="T32" fmla="*/ 0 w 15"/>
                <a:gd name="T33" fmla="*/ 641 h 2453"/>
                <a:gd name="T34" fmla="*/ 15 w 15"/>
                <a:gd name="T35" fmla="*/ 696 h 2453"/>
                <a:gd name="T36" fmla="*/ 0 w 15"/>
                <a:gd name="T37" fmla="*/ 738 h 2453"/>
                <a:gd name="T38" fmla="*/ 15 w 15"/>
                <a:gd name="T39" fmla="*/ 752 h 2453"/>
                <a:gd name="T40" fmla="*/ 15 w 15"/>
                <a:gd name="T41" fmla="*/ 822 h 2453"/>
                <a:gd name="T42" fmla="*/ 0 w 15"/>
                <a:gd name="T43" fmla="*/ 835 h 2453"/>
                <a:gd name="T44" fmla="*/ 15 w 15"/>
                <a:gd name="T45" fmla="*/ 891 h 2453"/>
                <a:gd name="T46" fmla="*/ 0 w 15"/>
                <a:gd name="T47" fmla="*/ 933 h 2453"/>
                <a:gd name="T48" fmla="*/ 15 w 15"/>
                <a:gd name="T49" fmla="*/ 947 h 2453"/>
                <a:gd name="T50" fmla="*/ 15 w 15"/>
                <a:gd name="T51" fmla="*/ 1016 h 2453"/>
                <a:gd name="T52" fmla="*/ 0 w 15"/>
                <a:gd name="T53" fmla="*/ 1030 h 2453"/>
                <a:gd name="T54" fmla="*/ 15 w 15"/>
                <a:gd name="T55" fmla="*/ 1086 h 2453"/>
                <a:gd name="T56" fmla="*/ 0 w 15"/>
                <a:gd name="T57" fmla="*/ 1127 h 2453"/>
                <a:gd name="T58" fmla="*/ 15 w 15"/>
                <a:gd name="T59" fmla="*/ 1141 h 2453"/>
                <a:gd name="T60" fmla="*/ 15 w 15"/>
                <a:gd name="T61" fmla="*/ 1211 h 2453"/>
                <a:gd name="T62" fmla="*/ 0 w 15"/>
                <a:gd name="T63" fmla="*/ 1225 h 2453"/>
                <a:gd name="T64" fmla="*/ 15 w 15"/>
                <a:gd name="T65" fmla="*/ 1281 h 2453"/>
                <a:gd name="T66" fmla="*/ 0 w 15"/>
                <a:gd name="T67" fmla="*/ 1322 h 2453"/>
                <a:gd name="T68" fmla="*/ 15 w 15"/>
                <a:gd name="T69" fmla="*/ 1336 h 2453"/>
                <a:gd name="T70" fmla="*/ 15 w 15"/>
                <a:gd name="T71" fmla="*/ 1406 h 2453"/>
                <a:gd name="T72" fmla="*/ 0 w 15"/>
                <a:gd name="T73" fmla="*/ 1420 h 2453"/>
                <a:gd name="T74" fmla="*/ 15 w 15"/>
                <a:gd name="T75" fmla="*/ 1475 h 2453"/>
                <a:gd name="T76" fmla="*/ 0 w 15"/>
                <a:gd name="T77" fmla="*/ 1517 h 2453"/>
                <a:gd name="T78" fmla="*/ 15 w 15"/>
                <a:gd name="T79" fmla="*/ 1531 h 2453"/>
                <a:gd name="T80" fmla="*/ 15 w 15"/>
                <a:gd name="T81" fmla="*/ 1601 h 2453"/>
                <a:gd name="T82" fmla="*/ 0 w 15"/>
                <a:gd name="T83" fmla="*/ 1615 h 2453"/>
                <a:gd name="T84" fmla="*/ 15 w 15"/>
                <a:gd name="T85" fmla="*/ 1670 h 2453"/>
                <a:gd name="T86" fmla="*/ 0 w 15"/>
                <a:gd name="T87" fmla="*/ 1712 h 2453"/>
                <a:gd name="T88" fmla="*/ 15 w 15"/>
                <a:gd name="T89" fmla="*/ 1726 h 2453"/>
                <a:gd name="T90" fmla="*/ 15 w 15"/>
                <a:gd name="T91" fmla="*/ 1795 h 2453"/>
                <a:gd name="T92" fmla="*/ 0 w 15"/>
                <a:gd name="T93" fmla="*/ 1809 h 2453"/>
                <a:gd name="T94" fmla="*/ 15 w 15"/>
                <a:gd name="T95" fmla="*/ 1865 h 2453"/>
                <a:gd name="T96" fmla="*/ 0 w 15"/>
                <a:gd name="T97" fmla="*/ 1907 h 2453"/>
                <a:gd name="T98" fmla="*/ 15 w 15"/>
                <a:gd name="T99" fmla="*/ 1921 h 2453"/>
                <a:gd name="T100" fmla="*/ 15 w 15"/>
                <a:gd name="T101" fmla="*/ 1990 h 2453"/>
                <a:gd name="T102" fmla="*/ 0 w 15"/>
                <a:gd name="T103" fmla="*/ 2004 h 2453"/>
                <a:gd name="T104" fmla="*/ 15 w 15"/>
                <a:gd name="T105" fmla="*/ 2060 h 2453"/>
                <a:gd name="T106" fmla="*/ 0 w 15"/>
                <a:gd name="T107" fmla="*/ 2102 h 2453"/>
                <a:gd name="T108" fmla="*/ 15 w 15"/>
                <a:gd name="T109" fmla="*/ 2116 h 2453"/>
                <a:gd name="T110" fmla="*/ 15 w 15"/>
                <a:gd name="T111" fmla="*/ 2185 h 2453"/>
                <a:gd name="T112" fmla="*/ 0 w 15"/>
                <a:gd name="T113" fmla="*/ 2199 h 2453"/>
                <a:gd name="T114" fmla="*/ 15 w 15"/>
                <a:gd name="T115" fmla="*/ 2254 h 2453"/>
                <a:gd name="T116" fmla="*/ 0 w 15"/>
                <a:gd name="T117" fmla="*/ 2296 h 2453"/>
                <a:gd name="T118" fmla="*/ 15 w 15"/>
                <a:gd name="T119" fmla="*/ 2310 h 2453"/>
                <a:gd name="T120" fmla="*/ 15 w 15"/>
                <a:gd name="T121" fmla="*/ 2380 h 2453"/>
                <a:gd name="T122" fmla="*/ 0 w 15"/>
                <a:gd name="T123" fmla="*/ 2394 h 2453"/>
                <a:gd name="T124" fmla="*/ 15 w 15"/>
                <a:gd name="T125" fmla="*/ 2449 h 24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5" h="2453">
                  <a:moveTo>
                    <a:pt x="15" y="0"/>
                  </a:moveTo>
                  <a:lnTo>
                    <a:pt x="15" y="14"/>
                  </a:lnTo>
                  <a:lnTo>
                    <a:pt x="0" y="14"/>
                  </a:lnTo>
                  <a:lnTo>
                    <a:pt x="0" y="0"/>
                  </a:lnTo>
                  <a:lnTo>
                    <a:pt x="15" y="0"/>
                  </a:lnTo>
                  <a:close/>
                  <a:moveTo>
                    <a:pt x="15" y="28"/>
                  </a:moveTo>
                  <a:lnTo>
                    <a:pt x="15" y="42"/>
                  </a:lnTo>
                  <a:lnTo>
                    <a:pt x="0" y="42"/>
                  </a:lnTo>
                  <a:lnTo>
                    <a:pt x="0" y="28"/>
                  </a:lnTo>
                  <a:lnTo>
                    <a:pt x="15" y="28"/>
                  </a:lnTo>
                  <a:close/>
                  <a:moveTo>
                    <a:pt x="15" y="56"/>
                  </a:moveTo>
                  <a:lnTo>
                    <a:pt x="15" y="70"/>
                  </a:lnTo>
                  <a:lnTo>
                    <a:pt x="0" y="70"/>
                  </a:lnTo>
                  <a:lnTo>
                    <a:pt x="0" y="56"/>
                  </a:lnTo>
                  <a:lnTo>
                    <a:pt x="15" y="56"/>
                  </a:lnTo>
                  <a:close/>
                  <a:moveTo>
                    <a:pt x="15" y="84"/>
                  </a:moveTo>
                  <a:lnTo>
                    <a:pt x="15" y="98"/>
                  </a:lnTo>
                  <a:lnTo>
                    <a:pt x="0" y="98"/>
                  </a:lnTo>
                  <a:lnTo>
                    <a:pt x="0" y="84"/>
                  </a:lnTo>
                  <a:lnTo>
                    <a:pt x="15" y="84"/>
                  </a:lnTo>
                  <a:close/>
                  <a:moveTo>
                    <a:pt x="15" y="112"/>
                  </a:moveTo>
                  <a:lnTo>
                    <a:pt x="15" y="126"/>
                  </a:lnTo>
                  <a:lnTo>
                    <a:pt x="0" y="126"/>
                  </a:lnTo>
                  <a:lnTo>
                    <a:pt x="0" y="112"/>
                  </a:lnTo>
                  <a:lnTo>
                    <a:pt x="15" y="112"/>
                  </a:lnTo>
                  <a:close/>
                  <a:moveTo>
                    <a:pt x="15" y="140"/>
                  </a:moveTo>
                  <a:lnTo>
                    <a:pt x="15" y="154"/>
                  </a:lnTo>
                  <a:lnTo>
                    <a:pt x="0" y="154"/>
                  </a:lnTo>
                  <a:lnTo>
                    <a:pt x="0" y="140"/>
                  </a:lnTo>
                  <a:lnTo>
                    <a:pt x="15" y="140"/>
                  </a:lnTo>
                  <a:close/>
                  <a:moveTo>
                    <a:pt x="15" y="167"/>
                  </a:moveTo>
                  <a:lnTo>
                    <a:pt x="15" y="181"/>
                  </a:lnTo>
                  <a:lnTo>
                    <a:pt x="0" y="181"/>
                  </a:lnTo>
                  <a:lnTo>
                    <a:pt x="0" y="167"/>
                  </a:lnTo>
                  <a:lnTo>
                    <a:pt x="15" y="167"/>
                  </a:lnTo>
                  <a:close/>
                  <a:moveTo>
                    <a:pt x="15" y="195"/>
                  </a:moveTo>
                  <a:lnTo>
                    <a:pt x="15" y="209"/>
                  </a:lnTo>
                  <a:lnTo>
                    <a:pt x="0" y="209"/>
                  </a:lnTo>
                  <a:lnTo>
                    <a:pt x="0" y="195"/>
                  </a:lnTo>
                  <a:lnTo>
                    <a:pt x="15" y="195"/>
                  </a:lnTo>
                  <a:close/>
                  <a:moveTo>
                    <a:pt x="15" y="223"/>
                  </a:moveTo>
                  <a:lnTo>
                    <a:pt x="15" y="237"/>
                  </a:lnTo>
                  <a:lnTo>
                    <a:pt x="0" y="237"/>
                  </a:lnTo>
                  <a:lnTo>
                    <a:pt x="0" y="223"/>
                  </a:lnTo>
                  <a:lnTo>
                    <a:pt x="15" y="223"/>
                  </a:lnTo>
                  <a:close/>
                  <a:moveTo>
                    <a:pt x="15" y="251"/>
                  </a:moveTo>
                  <a:lnTo>
                    <a:pt x="15" y="265"/>
                  </a:lnTo>
                  <a:lnTo>
                    <a:pt x="0" y="265"/>
                  </a:lnTo>
                  <a:lnTo>
                    <a:pt x="0" y="251"/>
                  </a:lnTo>
                  <a:lnTo>
                    <a:pt x="15" y="251"/>
                  </a:lnTo>
                  <a:close/>
                  <a:moveTo>
                    <a:pt x="15" y="279"/>
                  </a:moveTo>
                  <a:lnTo>
                    <a:pt x="15" y="293"/>
                  </a:lnTo>
                  <a:lnTo>
                    <a:pt x="0" y="293"/>
                  </a:lnTo>
                  <a:lnTo>
                    <a:pt x="0" y="279"/>
                  </a:lnTo>
                  <a:lnTo>
                    <a:pt x="15" y="279"/>
                  </a:lnTo>
                  <a:close/>
                  <a:moveTo>
                    <a:pt x="15" y="307"/>
                  </a:moveTo>
                  <a:lnTo>
                    <a:pt x="15" y="321"/>
                  </a:lnTo>
                  <a:lnTo>
                    <a:pt x="0" y="321"/>
                  </a:lnTo>
                  <a:lnTo>
                    <a:pt x="0" y="307"/>
                  </a:lnTo>
                  <a:lnTo>
                    <a:pt x="15" y="307"/>
                  </a:lnTo>
                  <a:close/>
                  <a:moveTo>
                    <a:pt x="15" y="334"/>
                  </a:moveTo>
                  <a:lnTo>
                    <a:pt x="15" y="348"/>
                  </a:lnTo>
                  <a:lnTo>
                    <a:pt x="0" y="348"/>
                  </a:lnTo>
                  <a:lnTo>
                    <a:pt x="0" y="334"/>
                  </a:lnTo>
                  <a:lnTo>
                    <a:pt x="15" y="334"/>
                  </a:lnTo>
                  <a:close/>
                  <a:moveTo>
                    <a:pt x="15" y="362"/>
                  </a:moveTo>
                  <a:lnTo>
                    <a:pt x="15" y="376"/>
                  </a:lnTo>
                  <a:lnTo>
                    <a:pt x="0" y="376"/>
                  </a:lnTo>
                  <a:lnTo>
                    <a:pt x="0" y="362"/>
                  </a:lnTo>
                  <a:lnTo>
                    <a:pt x="15" y="362"/>
                  </a:lnTo>
                  <a:close/>
                  <a:moveTo>
                    <a:pt x="15" y="390"/>
                  </a:moveTo>
                  <a:lnTo>
                    <a:pt x="15" y="404"/>
                  </a:lnTo>
                  <a:lnTo>
                    <a:pt x="0" y="404"/>
                  </a:lnTo>
                  <a:lnTo>
                    <a:pt x="0" y="390"/>
                  </a:lnTo>
                  <a:lnTo>
                    <a:pt x="15" y="390"/>
                  </a:lnTo>
                  <a:close/>
                  <a:moveTo>
                    <a:pt x="15" y="418"/>
                  </a:moveTo>
                  <a:lnTo>
                    <a:pt x="15" y="432"/>
                  </a:lnTo>
                  <a:lnTo>
                    <a:pt x="0" y="432"/>
                  </a:lnTo>
                  <a:lnTo>
                    <a:pt x="0" y="418"/>
                  </a:lnTo>
                  <a:lnTo>
                    <a:pt x="15" y="418"/>
                  </a:lnTo>
                  <a:close/>
                  <a:moveTo>
                    <a:pt x="15" y="446"/>
                  </a:moveTo>
                  <a:lnTo>
                    <a:pt x="15" y="460"/>
                  </a:lnTo>
                  <a:lnTo>
                    <a:pt x="0" y="460"/>
                  </a:lnTo>
                  <a:lnTo>
                    <a:pt x="0" y="446"/>
                  </a:lnTo>
                  <a:lnTo>
                    <a:pt x="15" y="446"/>
                  </a:lnTo>
                  <a:close/>
                  <a:moveTo>
                    <a:pt x="15" y="474"/>
                  </a:moveTo>
                  <a:lnTo>
                    <a:pt x="15" y="488"/>
                  </a:lnTo>
                  <a:lnTo>
                    <a:pt x="0" y="488"/>
                  </a:lnTo>
                  <a:lnTo>
                    <a:pt x="0" y="474"/>
                  </a:lnTo>
                  <a:lnTo>
                    <a:pt x="15" y="474"/>
                  </a:lnTo>
                  <a:close/>
                  <a:moveTo>
                    <a:pt x="15" y="501"/>
                  </a:moveTo>
                  <a:lnTo>
                    <a:pt x="15" y="515"/>
                  </a:lnTo>
                  <a:lnTo>
                    <a:pt x="0" y="515"/>
                  </a:lnTo>
                  <a:lnTo>
                    <a:pt x="0" y="501"/>
                  </a:lnTo>
                  <a:lnTo>
                    <a:pt x="15" y="501"/>
                  </a:lnTo>
                  <a:close/>
                  <a:moveTo>
                    <a:pt x="15" y="529"/>
                  </a:moveTo>
                  <a:lnTo>
                    <a:pt x="15" y="543"/>
                  </a:lnTo>
                  <a:lnTo>
                    <a:pt x="0" y="543"/>
                  </a:lnTo>
                  <a:lnTo>
                    <a:pt x="0" y="529"/>
                  </a:lnTo>
                  <a:lnTo>
                    <a:pt x="15" y="529"/>
                  </a:lnTo>
                  <a:close/>
                  <a:moveTo>
                    <a:pt x="15" y="557"/>
                  </a:moveTo>
                  <a:lnTo>
                    <a:pt x="15" y="571"/>
                  </a:lnTo>
                  <a:lnTo>
                    <a:pt x="0" y="571"/>
                  </a:lnTo>
                  <a:lnTo>
                    <a:pt x="0" y="557"/>
                  </a:lnTo>
                  <a:lnTo>
                    <a:pt x="15" y="557"/>
                  </a:lnTo>
                  <a:close/>
                  <a:moveTo>
                    <a:pt x="15" y="585"/>
                  </a:moveTo>
                  <a:lnTo>
                    <a:pt x="15" y="599"/>
                  </a:lnTo>
                  <a:lnTo>
                    <a:pt x="0" y="599"/>
                  </a:lnTo>
                  <a:lnTo>
                    <a:pt x="0" y="585"/>
                  </a:lnTo>
                  <a:lnTo>
                    <a:pt x="15" y="585"/>
                  </a:lnTo>
                  <a:close/>
                  <a:moveTo>
                    <a:pt x="15" y="613"/>
                  </a:moveTo>
                  <a:lnTo>
                    <a:pt x="15" y="627"/>
                  </a:lnTo>
                  <a:lnTo>
                    <a:pt x="0" y="627"/>
                  </a:lnTo>
                  <a:lnTo>
                    <a:pt x="0" y="613"/>
                  </a:lnTo>
                  <a:lnTo>
                    <a:pt x="15" y="613"/>
                  </a:lnTo>
                  <a:close/>
                  <a:moveTo>
                    <a:pt x="15" y="641"/>
                  </a:moveTo>
                  <a:lnTo>
                    <a:pt x="15" y="655"/>
                  </a:lnTo>
                  <a:lnTo>
                    <a:pt x="0" y="655"/>
                  </a:lnTo>
                  <a:lnTo>
                    <a:pt x="0" y="641"/>
                  </a:lnTo>
                  <a:lnTo>
                    <a:pt x="15" y="641"/>
                  </a:lnTo>
                  <a:close/>
                  <a:moveTo>
                    <a:pt x="15" y="668"/>
                  </a:moveTo>
                  <a:lnTo>
                    <a:pt x="15" y="682"/>
                  </a:lnTo>
                  <a:lnTo>
                    <a:pt x="0" y="682"/>
                  </a:lnTo>
                  <a:lnTo>
                    <a:pt x="0" y="668"/>
                  </a:lnTo>
                  <a:lnTo>
                    <a:pt x="15" y="668"/>
                  </a:lnTo>
                  <a:close/>
                  <a:moveTo>
                    <a:pt x="15" y="696"/>
                  </a:moveTo>
                  <a:lnTo>
                    <a:pt x="15" y="710"/>
                  </a:lnTo>
                  <a:lnTo>
                    <a:pt x="0" y="710"/>
                  </a:lnTo>
                  <a:lnTo>
                    <a:pt x="0" y="696"/>
                  </a:lnTo>
                  <a:lnTo>
                    <a:pt x="15" y="696"/>
                  </a:lnTo>
                  <a:close/>
                  <a:moveTo>
                    <a:pt x="15" y="724"/>
                  </a:moveTo>
                  <a:lnTo>
                    <a:pt x="15" y="738"/>
                  </a:lnTo>
                  <a:lnTo>
                    <a:pt x="0" y="738"/>
                  </a:lnTo>
                  <a:lnTo>
                    <a:pt x="0" y="724"/>
                  </a:lnTo>
                  <a:lnTo>
                    <a:pt x="15" y="724"/>
                  </a:lnTo>
                  <a:close/>
                  <a:moveTo>
                    <a:pt x="15" y="752"/>
                  </a:moveTo>
                  <a:lnTo>
                    <a:pt x="15" y="766"/>
                  </a:lnTo>
                  <a:lnTo>
                    <a:pt x="0" y="766"/>
                  </a:lnTo>
                  <a:lnTo>
                    <a:pt x="0" y="752"/>
                  </a:lnTo>
                  <a:lnTo>
                    <a:pt x="15" y="752"/>
                  </a:lnTo>
                  <a:close/>
                  <a:moveTo>
                    <a:pt x="15" y="780"/>
                  </a:moveTo>
                  <a:lnTo>
                    <a:pt x="15" y="793"/>
                  </a:lnTo>
                  <a:lnTo>
                    <a:pt x="0" y="793"/>
                  </a:lnTo>
                  <a:lnTo>
                    <a:pt x="0" y="780"/>
                  </a:lnTo>
                  <a:lnTo>
                    <a:pt x="15" y="780"/>
                  </a:lnTo>
                  <a:close/>
                  <a:moveTo>
                    <a:pt x="15" y="808"/>
                  </a:moveTo>
                  <a:lnTo>
                    <a:pt x="15" y="822"/>
                  </a:lnTo>
                  <a:lnTo>
                    <a:pt x="0" y="822"/>
                  </a:lnTo>
                  <a:lnTo>
                    <a:pt x="0" y="808"/>
                  </a:lnTo>
                  <a:lnTo>
                    <a:pt x="15" y="808"/>
                  </a:lnTo>
                  <a:close/>
                  <a:moveTo>
                    <a:pt x="15" y="835"/>
                  </a:moveTo>
                  <a:lnTo>
                    <a:pt x="15" y="849"/>
                  </a:lnTo>
                  <a:lnTo>
                    <a:pt x="0" y="849"/>
                  </a:lnTo>
                  <a:lnTo>
                    <a:pt x="0" y="835"/>
                  </a:lnTo>
                  <a:lnTo>
                    <a:pt x="15" y="835"/>
                  </a:lnTo>
                  <a:close/>
                  <a:moveTo>
                    <a:pt x="15" y="863"/>
                  </a:moveTo>
                  <a:lnTo>
                    <a:pt x="15" y="877"/>
                  </a:lnTo>
                  <a:lnTo>
                    <a:pt x="0" y="877"/>
                  </a:lnTo>
                  <a:lnTo>
                    <a:pt x="0" y="863"/>
                  </a:lnTo>
                  <a:lnTo>
                    <a:pt x="15" y="863"/>
                  </a:lnTo>
                  <a:close/>
                  <a:moveTo>
                    <a:pt x="15" y="891"/>
                  </a:moveTo>
                  <a:lnTo>
                    <a:pt x="15" y="905"/>
                  </a:lnTo>
                  <a:lnTo>
                    <a:pt x="0" y="905"/>
                  </a:lnTo>
                  <a:lnTo>
                    <a:pt x="0" y="891"/>
                  </a:lnTo>
                  <a:lnTo>
                    <a:pt x="15" y="891"/>
                  </a:lnTo>
                  <a:close/>
                  <a:moveTo>
                    <a:pt x="15" y="919"/>
                  </a:moveTo>
                  <a:lnTo>
                    <a:pt x="15" y="933"/>
                  </a:lnTo>
                  <a:lnTo>
                    <a:pt x="0" y="933"/>
                  </a:lnTo>
                  <a:lnTo>
                    <a:pt x="0" y="919"/>
                  </a:lnTo>
                  <a:lnTo>
                    <a:pt x="15" y="919"/>
                  </a:lnTo>
                  <a:close/>
                  <a:moveTo>
                    <a:pt x="15" y="947"/>
                  </a:moveTo>
                  <a:lnTo>
                    <a:pt x="15" y="960"/>
                  </a:lnTo>
                  <a:lnTo>
                    <a:pt x="0" y="960"/>
                  </a:lnTo>
                  <a:lnTo>
                    <a:pt x="0" y="947"/>
                  </a:lnTo>
                  <a:lnTo>
                    <a:pt x="15" y="947"/>
                  </a:lnTo>
                  <a:close/>
                  <a:moveTo>
                    <a:pt x="15" y="974"/>
                  </a:moveTo>
                  <a:lnTo>
                    <a:pt x="15" y="988"/>
                  </a:lnTo>
                  <a:lnTo>
                    <a:pt x="0" y="988"/>
                  </a:lnTo>
                  <a:lnTo>
                    <a:pt x="0" y="974"/>
                  </a:lnTo>
                  <a:lnTo>
                    <a:pt x="15" y="974"/>
                  </a:lnTo>
                  <a:close/>
                  <a:moveTo>
                    <a:pt x="15" y="1002"/>
                  </a:moveTo>
                  <a:lnTo>
                    <a:pt x="15" y="1016"/>
                  </a:lnTo>
                  <a:lnTo>
                    <a:pt x="0" y="1016"/>
                  </a:lnTo>
                  <a:lnTo>
                    <a:pt x="0" y="1002"/>
                  </a:lnTo>
                  <a:lnTo>
                    <a:pt x="15" y="1002"/>
                  </a:lnTo>
                  <a:close/>
                  <a:moveTo>
                    <a:pt x="15" y="1030"/>
                  </a:moveTo>
                  <a:lnTo>
                    <a:pt x="15" y="1044"/>
                  </a:lnTo>
                  <a:lnTo>
                    <a:pt x="0" y="1044"/>
                  </a:lnTo>
                  <a:lnTo>
                    <a:pt x="0" y="1030"/>
                  </a:lnTo>
                  <a:lnTo>
                    <a:pt x="15" y="1030"/>
                  </a:lnTo>
                  <a:close/>
                  <a:moveTo>
                    <a:pt x="15" y="1058"/>
                  </a:moveTo>
                  <a:lnTo>
                    <a:pt x="15" y="1072"/>
                  </a:lnTo>
                  <a:lnTo>
                    <a:pt x="0" y="1072"/>
                  </a:lnTo>
                  <a:lnTo>
                    <a:pt x="0" y="1058"/>
                  </a:lnTo>
                  <a:lnTo>
                    <a:pt x="15" y="1058"/>
                  </a:lnTo>
                  <a:close/>
                  <a:moveTo>
                    <a:pt x="15" y="1086"/>
                  </a:moveTo>
                  <a:lnTo>
                    <a:pt x="15" y="1100"/>
                  </a:lnTo>
                  <a:lnTo>
                    <a:pt x="0" y="1100"/>
                  </a:lnTo>
                  <a:lnTo>
                    <a:pt x="0" y="1086"/>
                  </a:lnTo>
                  <a:lnTo>
                    <a:pt x="15" y="1086"/>
                  </a:lnTo>
                  <a:close/>
                  <a:moveTo>
                    <a:pt x="15" y="1114"/>
                  </a:moveTo>
                  <a:lnTo>
                    <a:pt x="15" y="1127"/>
                  </a:lnTo>
                  <a:lnTo>
                    <a:pt x="0" y="1127"/>
                  </a:lnTo>
                  <a:lnTo>
                    <a:pt x="0" y="1114"/>
                  </a:lnTo>
                  <a:lnTo>
                    <a:pt x="15" y="1114"/>
                  </a:lnTo>
                  <a:close/>
                  <a:moveTo>
                    <a:pt x="15" y="1141"/>
                  </a:moveTo>
                  <a:lnTo>
                    <a:pt x="15" y="1155"/>
                  </a:lnTo>
                  <a:lnTo>
                    <a:pt x="0" y="1155"/>
                  </a:lnTo>
                  <a:lnTo>
                    <a:pt x="0" y="1141"/>
                  </a:lnTo>
                  <a:lnTo>
                    <a:pt x="15" y="1141"/>
                  </a:lnTo>
                  <a:close/>
                  <a:moveTo>
                    <a:pt x="15" y="1169"/>
                  </a:moveTo>
                  <a:lnTo>
                    <a:pt x="15" y="1183"/>
                  </a:lnTo>
                  <a:lnTo>
                    <a:pt x="0" y="1183"/>
                  </a:lnTo>
                  <a:lnTo>
                    <a:pt x="0" y="1169"/>
                  </a:lnTo>
                  <a:lnTo>
                    <a:pt x="15" y="1169"/>
                  </a:lnTo>
                  <a:close/>
                  <a:moveTo>
                    <a:pt x="15" y="1197"/>
                  </a:moveTo>
                  <a:lnTo>
                    <a:pt x="15" y="1211"/>
                  </a:lnTo>
                  <a:lnTo>
                    <a:pt x="0" y="1211"/>
                  </a:lnTo>
                  <a:lnTo>
                    <a:pt x="0" y="1197"/>
                  </a:lnTo>
                  <a:lnTo>
                    <a:pt x="15" y="1197"/>
                  </a:lnTo>
                  <a:close/>
                  <a:moveTo>
                    <a:pt x="15" y="1225"/>
                  </a:moveTo>
                  <a:lnTo>
                    <a:pt x="15" y="1239"/>
                  </a:lnTo>
                  <a:lnTo>
                    <a:pt x="0" y="1239"/>
                  </a:lnTo>
                  <a:lnTo>
                    <a:pt x="0" y="1225"/>
                  </a:lnTo>
                  <a:lnTo>
                    <a:pt x="15" y="1225"/>
                  </a:lnTo>
                  <a:close/>
                  <a:moveTo>
                    <a:pt x="15" y="1253"/>
                  </a:moveTo>
                  <a:lnTo>
                    <a:pt x="15" y="1267"/>
                  </a:lnTo>
                  <a:lnTo>
                    <a:pt x="0" y="1267"/>
                  </a:lnTo>
                  <a:lnTo>
                    <a:pt x="0" y="1253"/>
                  </a:lnTo>
                  <a:lnTo>
                    <a:pt x="15" y="1253"/>
                  </a:lnTo>
                  <a:close/>
                  <a:moveTo>
                    <a:pt x="15" y="1281"/>
                  </a:moveTo>
                  <a:lnTo>
                    <a:pt x="15" y="1294"/>
                  </a:lnTo>
                  <a:lnTo>
                    <a:pt x="0" y="1294"/>
                  </a:lnTo>
                  <a:lnTo>
                    <a:pt x="0" y="1281"/>
                  </a:lnTo>
                  <a:lnTo>
                    <a:pt x="15" y="1281"/>
                  </a:lnTo>
                  <a:close/>
                  <a:moveTo>
                    <a:pt x="15" y="1308"/>
                  </a:moveTo>
                  <a:lnTo>
                    <a:pt x="15" y="1322"/>
                  </a:lnTo>
                  <a:lnTo>
                    <a:pt x="0" y="1322"/>
                  </a:lnTo>
                  <a:lnTo>
                    <a:pt x="0" y="1308"/>
                  </a:lnTo>
                  <a:lnTo>
                    <a:pt x="15" y="1308"/>
                  </a:lnTo>
                  <a:close/>
                  <a:moveTo>
                    <a:pt x="15" y="1336"/>
                  </a:moveTo>
                  <a:lnTo>
                    <a:pt x="15" y="1350"/>
                  </a:lnTo>
                  <a:lnTo>
                    <a:pt x="0" y="1350"/>
                  </a:lnTo>
                  <a:lnTo>
                    <a:pt x="0" y="1336"/>
                  </a:lnTo>
                  <a:lnTo>
                    <a:pt x="15" y="1336"/>
                  </a:lnTo>
                  <a:close/>
                  <a:moveTo>
                    <a:pt x="15" y="1364"/>
                  </a:moveTo>
                  <a:lnTo>
                    <a:pt x="15" y="1378"/>
                  </a:lnTo>
                  <a:lnTo>
                    <a:pt x="0" y="1378"/>
                  </a:lnTo>
                  <a:lnTo>
                    <a:pt x="0" y="1364"/>
                  </a:lnTo>
                  <a:lnTo>
                    <a:pt x="15" y="1364"/>
                  </a:lnTo>
                  <a:close/>
                  <a:moveTo>
                    <a:pt x="15" y="1392"/>
                  </a:moveTo>
                  <a:lnTo>
                    <a:pt x="15" y="1406"/>
                  </a:lnTo>
                  <a:lnTo>
                    <a:pt x="0" y="1406"/>
                  </a:lnTo>
                  <a:lnTo>
                    <a:pt x="0" y="1392"/>
                  </a:lnTo>
                  <a:lnTo>
                    <a:pt x="15" y="1392"/>
                  </a:lnTo>
                  <a:close/>
                  <a:moveTo>
                    <a:pt x="15" y="1420"/>
                  </a:moveTo>
                  <a:lnTo>
                    <a:pt x="15" y="1434"/>
                  </a:lnTo>
                  <a:lnTo>
                    <a:pt x="0" y="1434"/>
                  </a:lnTo>
                  <a:lnTo>
                    <a:pt x="0" y="1420"/>
                  </a:lnTo>
                  <a:lnTo>
                    <a:pt x="15" y="1420"/>
                  </a:lnTo>
                  <a:close/>
                  <a:moveTo>
                    <a:pt x="15" y="1448"/>
                  </a:moveTo>
                  <a:lnTo>
                    <a:pt x="15" y="1461"/>
                  </a:lnTo>
                  <a:lnTo>
                    <a:pt x="0" y="1461"/>
                  </a:lnTo>
                  <a:lnTo>
                    <a:pt x="0" y="1448"/>
                  </a:lnTo>
                  <a:lnTo>
                    <a:pt x="15" y="1448"/>
                  </a:lnTo>
                  <a:close/>
                  <a:moveTo>
                    <a:pt x="15" y="1475"/>
                  </a:moveTo>
                  <a:lnTo>
                    <a:pt x="15" y="1489"/>
                  </a:lnTo>
                  <a:lnTo>
                    <a:pt x="0" y="1489"/>
                  </a:lnTo>
                  <a:lnTo>
                    <a:pt x="0" y="1475"/>
                  </a:lnTo>
                  <a:lnTo>
                    <a:pt x="15" y="1475"/>
                  </a:lnTo>
                  <a:close/>
                  <a:moveTo>
                    <a:pt x="15" y="1503"/>
                  </a:moveTo>
                  <a:lnTo>
                    <a:pt x="15" y="1517"/>
                  </a:lnTo>
                  <a:lnTo>
                    <a:pt x="0" y="1517"/>
                  </a:lnTo>
                  <a:lnTo>
                    <a:pt x="0" y="1503"/>
                  </a:lnTo>
                  <a:lnTo>
                    <a:pt x="15" y="1503"/>
                  </a:lnTo>
                  <a:close/>
                  <a:moveTo>
                    <a:pt x="15" y="1531"/>
                  </a:moveTo>
                  <a:lnTo>
                    <a:pt x="15" y="1545"/>
                  </a:lnTo>
                  <a:lnTo>
                    <a:pt x="0" y="1545"/>
                  </a:lnTo>
                  <a:lnTo>
                    <a:pt x="0" y="1531"/>
                  </a:lnTo>
                  <a:lnTo>
                    <a:pt x="15" y="1531"/>
                  </a:lnTo>
                  <a:close/>
                  <a:moveTo>
                    <a:pt x="15" y="1559"/>
                  </a:moveTo>
                  <a:lnTo>
                    <a:pt x="15" y="1573"/>
                  </a:lnTo>
                  <a:lnTo>
                    <a:pt x="0" y="1573"/>
                  </a:lnTo>
                  <a:lnTo>
                    <a:pt x="0" y="1559"/>
                  </a:lnTo>
                  <a:lnTo>
                    <a:pt x="15" y="1559"/>
                  </a:lnTo>
                  <a:close/>
                  <a:moveTo>
                    <a:pt x="15" y="1587"/>
                  </a:moveTo>
                  <a:lnTo>
                    <a:pt x="15" y="1601"/>
                  </a:lnTo>
                  <a:lnTo>
                    <a:pt x="0" y="1601"/>
                  </a:lnTo>
                  <a:lnTo>
                    <a:pt x="0" y="1587"/>
                  </a:lnTo>
                  <a:lnTo>
                    <a:pt x="15" y="1587"/>
                  </a:lnTo>
                  <a:close/>
                  <a:moveTo>
                    <a:pt x="15" y="1615"/>
                  </a:moveTo>
                  <a:lnTo>
                    <a:pt x="15" y="1628"/>
                  </a:lnTo>
                  <a:lnTo>
                    <a:pt x="0" y="1628"/>
                  </a:lnTo>
                  <a:lnTo>
                    <a:pt x="0" y="1615"/>
                  </a:lnTo>
                  <a:lnTo>
                    <a:pt x="15" y="1615"/>
                  </a:lnTo>
                  <a:close/>
                  <a:moveTo>
                    <a:pt x="15" y="1642"/>
                  </a:moveTo>
                  <a:lnTo>
                    <a:pt x="15" y="1656"/>
                  </a:lnTo>
                  <a:lnTo>
                    <a:pt x="0" y="1656"/>
                  </a:lnTo>
                  <a:lnTo>
                    <a:pt x="0" y="1642"/>
                  </a:lnTo>
                  <a:lnTo>
                    <a:pt x="15" y="1642"/>
                  </a:lnTo>
                  <a:close/>
                  <a:moveTo>
                    <a:pt x="15" y="1670"/>
                  </a:moveTo>
                  <a:lnTo>
                    <a:pt x="15" y="1684"/>
                  </a:lnTo>
                  <a:lnTo>
                    <a:pt x="0" y="1684"/>
                  </a:lnTo>
                  <a:lnTo>
                    <a:pt x="0" y="1670"/>
                  </a:lnTo>
                  <a:lnTo>
                    <a:pt x="15" y="1670"/>
                  </a:lnTo>
                  <a:close/>
                  <a:moveTo>
                    <a:pt x="15" y="1698"/>
                  </a:moveTo>
                  <a:lnTo>
                    <a:pt x="15" y="1712"/>
                  </a:lnTo>
                  <a:lnTo>
                    <a:pt x="0" y="1712"/>
                  </a:lnTo>
                  <a:lnTo>
                    <a:pt x="0" y="1698"/>
                  </a:lnTo>
                  <a:lnTo>
                    <a:pt x="15" y="1698"/>
                  </a:lnTo>
                  <a:close/>
                  <a:moveTo>
                    <a:pt x="15" y="1726"/>
                  </a:moveTo>
                  <a:lnTo>
                    <a:pt x="15" y="1740"/>
                  </a:lnTo>
                  <a:lnTo>
                    <a:pt x="0" y="1740"/>
                  </a:lnTo>
                  <a:lnTo>
                    <a:pt x="0" y="1726"/>
                  </a:lnTo>
                  <a:lnTo>
                    <a:pt x="15" y="1726"/>
                  </a:lnTo>
                  <a:close/>
                  <a:moveTo>
                    <a:pt x="15" y="1754"/>
                  </a:moveTo>
                  <a:lnTo>
                    <a:pt x="15" y="1768"/>
                  </a:lnTo>
                  <a:lnTo>
                    <a:pt x="0" y="1768"/>
                  </a:lnTo>
                  <a:lnTo>
                    <a:pt x="0" y="1754"/>
                  </a:lnTo>
                  <a:lnTo>
                    <a:pt x="15" y="1754"/>
                  </a:lnTo>
                  <a:close/>
                  <a:moveTo>
                    <a:pt x="15" y="1782"/>
                  </a:moveTo>
                  <a:lnTo>
                    <a:pt x="15" y="1795"/>
                  </a:lnTo>
                  <a:lnTo>
                    <a:pt x="0" y="1795"/>
                  </a:lnTo>
                  <a:lnTo>
                    <a:pt x="0" y="1782"/>
                  </a:lnTo>
                  <a:lnTo>
                    <a:pt x="15" y="1782"/>
                  </a:lnTo>
                  <a:close/>
                  <a:moveTo>
                    <a:pt x="15" y="1809"/>
                  </a:moveTo>
                  <a:lnTo>
                    <a:pt x="15" y="1823"/>
                  </a:lnTo>
                  <a:lnTo>
                    <a:pt x="0" y="1823"/>
                  </a:lnTo>
                  <a:lnTo>
                    <a:pt x="0" y="1809"/>
                  </a:lnTo>
                  <a:lnTo>
                    <a:pt x="15" y="1809"/>
                  </a:lnTo>
                  <a:close/>
                  <a:moveTo>
                    <a:pt x="15" y="1837"/>
                  </a:moveTo>
                  <a:lnTo>
                    <a:pt x="15" y="1851"/>
                  </a:lnTo>
                  <a:lnTo>
                    <a:pt x="0" y="1851"/>
                  </a:lnTo>
                  <a:lnTo>
                    <a:pt x="0" y="1837"/>
                  </a:lnTo>
                  <a:lnTo>
                    <a:pt x="15" y="1837"/>
                  </a:lnTo>
                  <a:close/>
                  <a:moveTo>
                    <a:pt x="15" y="1865"/>
                  </a:moveTo>
                  <a:lnTo>
                    <a:pt x="15" y="1879"/>
                  </a:lnTo>
                  <a:lnTo>
                    <a:pt x="0" y="1879"/>
                  </a:lnTo>
                  <a:lnTo>
                    <a:pt x="0" y="1865"/>
                  </a:lnTo>
                  <a:lnTo>
                    <a:pt x="15" y="1865"/>
                  </a:lnTo>
                  <a:close/>
                  <a:moveTo>
                    <a:pt x="15" y="1893"/>
                  </a:moveTo>
                  <a:lnTo>
                    <a:pt x="15" y="1907"/>
                  </a:lnTo>
                  <a:lnTo>
                    <a:pt x="0" y="1907"/>
                  </a:lnTo>
                  <a:lnTo>
                    <a:pt x="0" y="1893"/>
                  </a:lnTo>
                  <a:lnTo>
                    <a:pt x="15" y="1893"/>
                  </a:lnTo>
                  <a:close/>
                  <a:moveTo>
                    <a:pt x="15" y="1921"/>
                  </a:moveTo>
                  <a:lnTo>
                    <a:pt x="15" y="1935"/>
                  </a:lnTo>
                  <a:lnTo>
                    <a:pt x="0" y="1935"/>
                  </a:lnTo>
                  <a:lnTo>
                    <a:pt x="0" y="1921"/>
                  </a:lnTo>
                  <a:lnTo>
                    <a:pt x="15" y="1921"/>
                  </a:lnTo>
                  <a:close/>
                  <a:moveTo>
                    <a:pt x="15" y="1949"/>
                  </a:moveTo>
                  <a:lnTo>
                    <a:pt x="15" y="1962"/>
                  </a:lnTo>
                  <a:lnTo>
                    <a:pt x="0" y="1962"/>
                  </a:lnTo>
                  <a:lnTo>
                    <a:pt x="0" y="1949"/>
                  </a:lnTo>
                  <a:lnTo>
                    <a:pt x="15" y="1949"/>
                  </a:lnTo>
                  <a:close/>
                  <a:moveTo>
                    <a:pt x="15" y="1976"/>
                  </a:moveTo>
                  <a:lnTo>
                    <a:pt x="15" y="1990"/>
                  </a:lnTo>
                  <a:lnTo>
                    <a:pt x="0" y="1990"/>
                  </a:lnTo>
                  <a:lnTo>
                    <a:pt x="0" y="1976"/>
                  </a:lnTo>
                  <a:lnTo>
                    <a:pt x="15" y="1976"/>
                  </a:lnTo>
                  <a:close/>
                  <a:moveTo>
                    <a:pt x="15" y="2004"/>
                  </a:moveTo>
                  <a:lnTo>
                    <a:pt x="15" y="2018"/>
                  </a:lnTo>
                  <a:lnTo>
                    <a:pt x="0" y="2018"/>
                  </a:lnTo>
                  <a:lnTo>
                    <a:pt x="0" y="2004"/>
                  </a:lnTo>
                  <a:lnTo>
                    <a:pt x="15" y="2004"/>
                  </a:lnTo>
                  <a:close/>
                  <a:moveTo>
                    <a:pt x="15" y="2032"/>
                  </a:moveTo>
                  <a:lnTo>
                    <a:pt x="15" y="2046"/>
                  </a:lnTo>
                  <a:lnTo>
                    <a:pt x="0" y="2046"/>
                  </a:lnTo>
                  <a:lnTo>
                    <a:pt x="0" y="2032"/>
                  </a:lnTo>
                  <a:lnTo>
                    <a:pt x="15" y="2032"/>
                  </a:lnTo>
                  <a:close/>
                  <a:moveTo>
                    <a:pt x="15" y="2060"/>
                  </a:moveTo>
                  <a:lnTo>
                    <a:pt x="15" y="2074"/>
                  </a:lnTo>
                  <a:lnTo>
                    <a:pt x="0" y="2074"/>
                  </a:lnTo>
                  <a:lnTo>
                    <a:pt x="0" y="2060"/>
                  </a:lnTo>
                  <a:lnTo>
                    <a:pt x="15" y="2060"/>
                  </a:lnTo>
                  <a:close/>
                  <a:moveTo>
                    <a:pt x="15" y="2087"/>
                  </a:moveTo>
                  <a:lnTo>
                    <a:pt x="15" y="2102"/>
                  </a:lnTo>
                  <a:lnTo>
                    <a:pt x="0" y="2102"/>
                  </a:lnTo>
                  <a:lnTo>
                    <a:pt x="0" y="2087"/>
                  </a:lnTo>
                  <a:lnTo>
                    <a:pt x="15" y="2087"/>
                  </a:lnTo>
                  <a:close/>
                  <a:moveTo>
                    <a:pt x="15" y="2116"/>
                  </a:moveTo>
                  <a:lnTo>
                    <a:pt x="15" y="2129"/>
                  </a:lnTo>
                  <a:lnTo>
                    <a:pt x="0" y="2129"/>
                  </a:lnTo>
                  <a:lnTo>
                    <a:pt x="0" y="2116"/>
                  </a:lnTo>
                  <a:lnTo>
                    <a:pt x="15" y="2116"/>
                  </a:lnTo>
                  <a:close/>
                  <a:moveTo>
                    <a:pt x="15" y="2143"/>
                  </a:moveTo>
                  <a:lnTo>
                    <a:pt x="15" y="2157"/>
                  </a:lnTo>
                  <a:lnTo>
                    <a:pt x="0" y="2157"/>
                  </a:lnTo>
                  <a:lnTo>
                    <a:pt x="0" y="2143"/>
                  </a:lnTo>
                  <a:lnTo>
                    <a:pt x="15" y="2143"/>
                  </a:lnTo>
                  <a:close/>
                  <a:moveTo>
                    <a:pt x="15" y="2171"/>
                  </a:moveTo>
                  <a:lnTo>
                    <a:pt x="15" y="2185"/>
                  </a:lnTo>
                  <a:lnTo>
                    <a:pt x="0" y="2185"/>
                  </a:lnTo>
                  <a:lnTo>
                    <a:pt x="0" y="2171"/>
                  </a:lnTo>
                  <a:lnTo>
                    <a:pt x="15" y="2171"/>
                  </a:lnTo>
                  <a:close/>
                  <a:moveTo>
                    <a:pt x="15" y="2199"/>
                  </a:moveTo>
                  <a:lnTo>
                    <a:pt x="15" y="2213"/>
                  </a:lnTo>
                  <a:lnTo>
                    <a:pt x="0" y="2213"/>
                  </a:lnTo>
                  <a:lnTo>
                    <a:pt x="0" y="2199"/>
                  </a:lnTo>
                  <a:lnTo>
                    <a:pt x="15" y="2199"/>
                  </a:lnTo>
                  <a:close/>
                  <a:moveTo>
                    <a:pt x="15" y="2227"/>
                  </a:moveTo>
                  <a:lnTo>
                    <a:pt x="15" y="2241"/>
                  </a:lnTo>
                  <a:lnTo>
                    <a:pt x="0" y="2241"/>
                  </a:lnTo>
                  <a:lnTo>
                    <a:pt x="0" y="2227"/>
                  </a:lnTo>
                  <a:lnTo>
                    <a:pt x="15" y="2227"/>
                  </a:lnTo>
                  <a:close/>
                  <a:moveTo>
                    <a:pt x="15" y="2254"/>
                  </a:moveTo>
                  <a:lnTo>
                    <a:pt x="15" y="2268"/>
                  </a:lnTo>
                  <a:lnTo>
                    <a:pt x="0" y="2268"/>
                  </a:lnTo>
                  <a:lnTo>
                    <a:pt x="0" y="2254"/>
                  </a:lnTo>
                  <a:lnTo>
                    <a:pt x="15" y="2254"/>
                  </a:lnTo>
                  <a:close/>
                  <a:moveTo>
                    <a:pt x="15" y="2283"/>
                  </a:moveTo>
                  <a:lnTo>
                    <a:pt x="15" y="2296"/>
                  </a:lnTo>
                  <a:lnTo>
                    <a:pt x="0" y="2296"/>
                  </a:lnTo>
                  <a:lnTo>
                    <a:pt x="0" y="2283"/>
                  </a:lnTo>
                  <a:lnTo>
                    <a:pt x="15" y="2283"/>
                  </a:lnTo>
                  <a:close/>
                  <a:moveTo>
                    <a:pt x="15" y="2310"/>
                  </a:moveTo>
                  <a:lnTo>
                    <a:pt x="15" y="2324"/>
                  </a:lnTo>
                  <a:lnTo>
                    <a:pt x="0" y="2324"/>
                  </a:lnTo>
                  <a:lnTo>
                    <a:pt x="0" y="2310"/>
                  </a:lnTo>
                  <a:lnTo>
                    <a:pt x="15" y="2310"/>
                  </a:lnTo>
                  <a:close/>
                  <a:moveTo>
                    <a:pt x="15" y="2338"/>
                  </a:moveTo>
                  <a:lnTo>
                    <a:pt x="15" y="2352"/>
                  </a:lnTo>
                  <a:lnTo>
                    <a:pt x="0" y="2352"/>
                  </a:lnTo>
                  <a:lnTo>
                    <a:pt x="0" y="2338"/>
                  </a:lnTo>
                  <a:lnTo>
                    <a:pt x="15" y="2338"/>
                  </a:lnTo>
                  <a:close/>
                  <a:moveTo>
                    <a:pt x="15" y="2366"/>
                  </a:moveTo>
                  <a:lnTo>
                    <a:pt x="15" y="2380"/>
                  </a:lnTo>
                  <a:lnTo>
                    <a:pt x="0" y="2380"/>
                  </a:lnTo>
                  <a:lnTo>
                    <a:pt x="0" y="2366"/>
                  </a:lnTo>
                  <a:lnTo>
                    <a:pt x="15" y="2366"/>
                  </a:lnTo>
                  <a:close/>
                  <a:moveTo>
                    <a:pt x="15" y="2394"/>
                  </a:moveTo>
                  <a:lnTo>
                    <a:pt x="15" y="2408"/>
                  </a:lnTo>
                  <a:lnTo>
                    <a:pt x="0" y="2408"/>
                  </a:lnTo>
                  <a:lnTo>
                    <a:pt x="0" y="2394"/>
                  </a:lnTo>
                  <a:lnTo>
                    <a:pt x="15" y="2394"/>
                  </a:lnTo>
                  <a:close/>
                  <a:moveTo>
                    <a:pt x="15" y="2421"/>
                  </a:moveTo>
                  <a:lnTo>
                    <a:pt x="15" y="2435"/>
                  </a:lnTo>
                  <a:lnTo>
                    <a:pt x="0" y="2435"/>
                  </a:lnTo>
                  <a:lnTo>
                    <a:pt x="0" y="2421"/>
                  </a:lnTo>
                  <a:lnTo>
                    <a:pt x="15" y="2421"/>
                  </a:lnTo>
                  <a:close/>
                  <a:moveTo>
                    <a:pt x="15" y="2449"/>
                  </a:moveTo>
                  <a:lnTo>
                    <a:pt x="15" y="2453"/>
                  </a:lnTo>
                  <a:lnTo>
                    <a:pt x="0" y="2453"/>
                  </a:lnTo>
                  <a:lnTo>
                    <a:pt x="0" y="2449"/>
                  </a:lnTo>
                  <a:lnTo>
                    <a:pt x="15" y="2449"/>
                  </a:lnTo>
                  <a:close/>
                </a:path>
              </a:pathLst>
            </a:custGeom>
            <a:solidFill>
              <a:srgbClr val="000000"/>
            </a:solidFill>
            <a:ln w="0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490" name="Freeform 32">
              <a:extLst>
                <a:ext uri="{FF2B5EF4-FFF2-40B4-BE49-F238E27FC236}">
                  <a16:creationId xmlns:a16="http://schemas.microsoft.com/office/drawing/2014/main" id="{36DEFE5E-5771-4759-D685-EDBF0A57581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620254" y="3078501"/>
              <a:ext cx="18000" cy="3726773"/>
            </a:xfrm>
            <a:custGeom>
              <a:avLst/>
              <a:gdLst>
                <a:gd name="T0" fmla="*/ 14 w 14"/>
                <a:gd name="T1" fmla="*/ 42 h 2453"/>
                <a:gd name="T2" fmla="*/ 0 w 14"/>
                <a:gd name="T3" fmla="*/ 56 h 2453"/>
                <a:gd name="T4" fmla="*/ 14 w 14"/>
                <a:gd name="T5" fmla="*/ 112 h 2453"/>
                <a:gd name="T6" fmla="*/ 0 w 14"/>
                <a:gd name="T7" fmla="*/ 154 h 2453"/>
                <a:gd name="T8" fmla="*/ 14 w 14"/>
                <a:gd name="T9" fmla="*/ 167 h 2453"/>
                <a:gd name="T10" fmla="*/ 14 w 14"/>
                <a:gd name="T11" fmla="*/ 237 h 2453"/>
                <a:gd name="T12" fmla="*/ 0 w 14"/>
                <a:gd name="T13" fmla="*/ 251 h 2453"/>
                <a:gd name="T14" fmla="*/ 14 w 14"/>
                <a:gd name="T15" fmla="*/ 307 h 2453"/>
                <a:gd name="T16" fmla="*/ 0 w 14"/>
                <a:gd name="T17" fmla="*/ 348 h 2453"/>
                <a:gd name="T18" fmla="*/ 14 w 14"/>
                <a:gd name="T19" fmla="*/ 362 h 2453"/>
                <a:gd name="T20" fmla="*/ 14 w 14"/>
                <a:gd name="T21" fmla="*/ 432 h 2453"/>
                <a:gd name="T22" fmla="*/ 0 w 14"/>
                <a:gd name="T23" fmla="*/ 446 h 2453"/>
                <a:gd name="T24" fmla="*/ 14 w 14"/>
                <a:gd name="T25" fmla="*/ 501 h 2453"/>
                <a:gd name="T26" fmla="*/ 0 w 14"/>
                <a:gd name="T27" fmla="*/ 543 h 2453"/>
                <a:gd name="T28" fmla="*/ 14 w 14"/>
                <a:gd name="T29" fmla="*/ 557 h 2453"/>
                <a:gd name="T30" fmla="*/ 14 w 14"/>
                <a:gd name="T31" fmla="*/ 627 h 2453"/>
                <a:gd name="T32" fmla="*/ 0 w 14"/>
                <a:gd name="T33" fmla="*/ 641 h 2453"/>
                <a:gd name="T34" fmla="*/ 14 w 14"/>
                <a:gd name="T35" fmla="*/ 696 h 2453"/>
                <a:gd name="T36" fmla="*/ 0 w 14"/>
                <a:gd name="T37" fmla="*/ 738 h 2453"/>
                <a:gd name="T38" fmla="*/ 14 w 14"/>
                <a:gd name="T39" fmla="*/ 752 h 2453"/>
                <a:gd name="T40" fmla="*/ 14 w 14"/>
                <a:gd name="T41" fmla="*/ 822 h 2453"/>
                <a:gd name="T42" fmla="*/ 0 w 14"/>
                <a:gd name="T43" fmla="*/ 835 h 2453"/>
                <a:gd name="T44" fmla="*/ 14 w 14"/>
                <a:gd name="T45" fmla="*/ 891 h 2453"/>
                <a:gd name="T46" fmla="*/ 0 w 14"/>
                <a:gd name="T47" fmla="*/ 933 h 2453"/>
                <a:gd name="T48" fmla="*/ 14 w 14"/>
                <a:gd name="T49" fmla="*/ 947 h 2453"/>
                <a:gd name="T50" fmla="*/ 14 w 14"/>
                <a:gd name="T51" fmla="*/ 1016 h 2453"/>
                <a:gd name="T52" fmla="*/ 0 w 14"/>
                <a:gd name="T53" fmla="*/ 1030 h 2453"/>
                <a:gd name="T54" fmla="*/ 14 w 14"/>
                <a:gd name="T55" fmla="*/ 1086 h 2453"/>
                <a:gd name="T56" fmla="*/ 0 w 14"/>
                <a:gd name="T57" fmla="*/ 1127 h 2453"/>
                <a:gd name="T58" fmla="*/ 14 w 14"/>
                <a:gd name="T59" fmla="*/ 1141 h 2453"/>
                <a:gd name="T60" fmla="*/ 14 w 14"/>
                <a:gd name="T61" fmla="*/ 1211 h 2453"/>
                <a:gd name="T62" fmla="*/ 0 w 14"/>
                <a:gd name="T63" fmla="*/ 1225 h 2453"/>
                <a:gd name="T64" fmla="*/ 14 w 14"/>
                <a:gd name="T65" fmla="*/ 1281 h 2453"/>
                <a:gd name="T66" fmla="*/ 0 w 14"/>
                <a:gd name="T67" fmla="*/ 1322 h 2453"/>
                <a:gd name="T68" fmla="*/ 14 w 14"/>
                <a:gd name="T69" fmla="*/ 1336 h 2453"/>
                <a:gd name="T70" fmla="*/ 14 w 14"/>
                <a:gd name="T71" fmla="*/ 1406 h 2453"/>
                <a:gd name="T72" fmla="*/ 0 w 14"/>
                <a:gd name="T73" fmla="*/ 1420 h 2453"/>
                <a:gd name="T74" fmla="*/ 14 w 14"/>
                <a:gd name="T75" fmla="*/ 1475 h 2453"/>
                <a:gd name="T76" fmla="*/ 0 w 14"/>
                <a:gd name="T77" fmla="*/ 1517 h 2453"/>
                <a:gd name="T78" fmla="*/ 14 w 14"/>
                <a:gd name="T79" fmla="*/ 1531 h 2453"/>
                <a:gd name="T80" fmla="*/ 14 w 14"/>
                <a:gd name="T81" fmla="*/ 1601 h 2453"/>
                <a:gd name="T82" fmla="*/ 0 w 14"/>
                <a:gd name="T83" fmla="*/ 1615 h 2453"/>
                <a:gd name="T84" fmla="*/ 14 w 14"/>
                <a:gd name="T85" fmla="*/ 1670 h 2453"/>
                <a:gd name="T86" fmla="*/ 0 w 14"/>
                <a:gd name="T87" fmla="*/ 1712 h 2453"/>
                <a:gd name="T88" fmla="*/ 14 w 14"/>
                <a:gd name="T89" fmla="*/ 1726 h 2453"/>
                <a:gd name="T90" fmla="*/ 14 w 14"/>
                <a:gd name="T91" fmla="*/ 1795 h 2453"/>
                <a:gd name="T92" fmla="*/ 0 w 14"/>
                <a:gd name="T93" fmla="*/ 1809 h 2453"/>
                <a:gd name="T94" fmla="*/ 14 w 14"/>
                <a:gd name="T95" fmla="*/ 1865 h 2453"/>
                <a:gd name="T96" fmla="*/ 0 w 14"/>
                <a:gd name="T97" fmla="*/ 1907 h 2453"/>
                <a:gd name="T98" fmla="*/ 14 w 14"/>
                <a:gd name="T99" fmla="*/ 1921 h 2453"/>
                <a:gd name="T100" fmla="*/ 14 w 14"/>
                <a:gd name="T101" fmla="*/ 1990 h 2453"/>
                <a:gd name="T102" fmla="*/ 0 w 14"/>
                <a:gd name="T103" fmla="*/ 2004 h 2453"/>
                <a:gd name="T104" fmla="*/ 14 w 14"/>
                <a:gd name="T105" fmla="*/ 2060 h 2453"/>
                <a:gd name="T106" fmla="*/ 0 w 14"/>
                <a:gd name="T107" fmla="*/ 2102 h 2453"/>
                <a:gd name="T108" fmla="*/ 14 w 14"/>
                <a:gd name="T109" fmla="*/ 2116 h 2453"/>
                <a:gd name="T110" fmla="*/ 14 w 14"/>
                <a:gd name="T111" fmla="*/ 2185 h 2453"/>
                <a:gd name="T112" fmla="*/ 0 w 14"/>
                <a:gd name="T113" fmla="*/ 2199 h 2453"/>
                <a:gd name="T114" fmla="*/ 14 w 14"/>
                <a:gd name="T115" fmla="*/ 2254 h 2453"/>
                <a:gd name="T116" fmla="*/ 0 w 14"/>
                <a:gd name="T117" fmla="*/ 2296 h 2453"/>
                <a:gd name="T118" fmla="*/ 14 w 14"/>
                <a:gd name="T119" fmla="*/ 2310 h 2453"/>
                <a:gd name="T120" fmla="*/ 14 w 14"/>
                <a:gd name="T121" fmla="*/ 2380 h 2453"/>
                <a:gd name="T122" fmla="*/ 0 w 14"/>
                <a:gd name="T123" fmla="*/ 2394 h 2453"/>
                <a:gd name="T124" fmla="*/ 14 w 14"/>
                <a:gd name="T125" fmla="*/ 2449 h 24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4" h="2453">
                  <a:moveTo>
                    <a:pt x="14" y="0"/>
                  </a:moveTo>
                  <a:lnTo>
                    <a:pt x="14" y="14"/>
                  </a:lnTo>
                  <a:lnTo>
                    <a:pt x="0" y="14"/>
                  </a:lnTo>
                  <a:lnTo>
                    <a:pt x="0" y="0"/>
                  </a:lnTo>
                  <a:lnTo>
                    <a:pt x="14" y="0"/>
                  </a:lnTo>
                  <a:close/>
                  <a:moveTo>
                    <a:pt x="14" y="28"/>
                  </a:moveTo>
                  <a:lnTo>
                    <a:pt x="14" y="42"/>
                  </a:lnTo>
                  <a:lnTo>
                    <a:pt x="0" y="42"/>
                  </a:lnTo>
                  <a:lnTo>
                    <a:pt x="0" y="28"/>
                  </a:lnTo>
                  <a:lnTo>
                    <a:pt x="14" y="28"/>
                  </a:lnTo>
                  <a:close/>
                  <a:moveTo>
                    <a:pt x="14" y="56"/>
                  </a:moveTo>
                  <a:lnTo>
                    <a:pt x="14" y="70"/>
                  </a:lnTo>
                  <a:lnTo>
                    <a:pt x="0" y="70"/>
                  </a:lnTo>
                  <a:lnTo>
                    <a:pt x="0" y="56"/>
                  </a:lnTo>
                  <a:lnTo>
                    <a:pt x="14" y="56"/>
                  </a:lnTo>
                  <a:close/>
                  <a:moveTo>
                    <a:pt x="14" y="84"/>
                  </a:moveTo>
                  <a:lnTo>
                    <a:pt x="14" y="98"/>
                  </a:lnTo>
                  <a:lnTo>
                    <a:pt x="0" y="98"/>
                  </a:lnTo>
                  <a:lnTo>
                    <a:pt x="0" y="84"/>
                  </a:lnTo>
                  <a:lnTo>
                    <a:pt x="14" y="84"/>
                  </a:lnTo>
                  <a:close/>
                  <a:moveTo>
                    <a:pt x="14" y="112"/>
                  </a:moveTo>
                  <a:lnTo>
                    <a:pt x="14" y="126"/>
                  </a:lnTo>
                  <a:lnTo>
                    <a:pt x="0" y="126"/>
                  </a:lnTo>
                  <a:lnTo>
                    <a:pt x="0" y="112"/>
                  </a:lnTo>
                  <a:lnTo>
                    <a:pt x="14" y="112"/>
                  </a:lnTo>
                  <a:close/>
                  <a:moveTo>
                    <a:pt x="14" y="140"/>
                  </a:moveTo>
                  <a:lnTo>
                    <a:pt x="14" y="154"/>
                  </a:lnTo>
                  <a:lnTo>
                    <a:pt x="0" y="154"/>
                  </a:lnTo>
                  <a:lnTo>
                    <a:pt x="0" y="140"/>
                  </a:lnTo>
                  <a:lnTo>
                    <a:pt x="14" y="140"/>
                  </a:lnTo>
                  <a:close/>
                  <a:moveTo>
                    <a:pt x="14" y="167"/>
                  </a:moveTo>
                  <a:lnTo>
                    <a:pt x="14" y="181"/>
                  </a:lnTo>
                  <a:lnTo>
                    <a:pt x="0" y="181"/>
                  </a:lnTo>
                  <a:lnTo>
                    <a:pt x="0" y="167"/>
                  </a:lnTo>
                  <a:lnTo>
                    <a:pt x="14" y="167"/>
                  </a:lnTo>
                  <a:close/>
                  <a:moveTo>
                    <a:pt x="14" y="195"/>
                  </a:moveTo>
                  <a:lnTo>
                    <a:pt x="14" y="209"/>
                  </a:lnTo>
                  <a:lnTo>
                    <a:pt x="0" y="209"/>
                  </a:lnTo>
                  <a:lnTo>
                    <a:pt x="0" y="195"/>
                  </a:lnTo>
                  <a:lnTo>
                    <a:pt x="14" y="195"/>
                  </a:lnTo>
                  <a:close/>
                  <a:moveTo>
                    <a:pt x="14" y="223"/>
                  </a:moveTo>
                  <a:lnTo>
                    <a:pt x="14" y="237"/>
                  </a:lnTo>
                  <a:lnTo>
                    <a:pt x="0" y="237"/>
                  </a:lnTo>
                  <a:lnTo>
                    <a:pt x="0" y="223"/>
                  </a:lnTo>
                  <a:lnTo>
                    <a:pt x="14" y="223"/>
                  </a:lnTo>
                  <a:close/>
                  <a:moveTo>
                    <a:pt x="14" y="251"/>
                  </a:moveTo>
                  <a:lnTo>
                    <a:pt x="14" y="265"/>
                  </a:lnTo>
                  <a:lnTo>
                    <a:pt x="0" y="265"/>
                  </a:lnTo>
                  <a:lnTo>
                    <a:pt x="0" y="251"/>
                  </a:lnTo>
                  <a:lnTo>
                    <a:pt x="14" y="251"/>
                  </a:lnTo>
                  <a:close/>
                  <a:moveTo>
                    <a:pt x="14" y="279"/>
                  </a:moveTo>
                  <a:lnTo>
                    <a:pt x="14" y="293"/>
                  </a:lnTo>
                  <a:lnTo>
                    <a:pt x="0" y="293"/>
                  </a:lnTo>
                  <a:lnTo>
                    <a:pt x="0" y="279"/>
                  </a:lnTo>
                  <a:lnTo>
                    <a:pt x="14" y="279"/>
                  </a:lnTo>
                  <a:close/>
                  <a:moveTo>
                    <a:pt x="14" y="307"/>
                  </a:moveTo>
                  <a:lnTo>
                    <a:pt x="14" y="321"/>
                  </a:lnTo>
                  <a:lnTo>
                    <a:pt x="0" y="321"/>
                  </a:lnTo>
                  <a:lnTo>
                    <a:pt x="0" y="307"/>
                  </a:lnTo>
                  <a:lnTo>
                    <a:pt x="14" y="307"/>
                  </a:lnTo>
                  <a:close/>
                  <a:moveTo>
                    <a:pt x="14" y="334"/>
                  </a:moveTo>
                  <a:lnTo>
                    <a:pt x="14" y="348"/>
                  </a:lnTo>
                  <a:lnTo>
                    <a:pt x="0" y="348"/>
                  </a:lnTo>
                  <a:lnTo>
                    <a:pt x="0" y="334"/>
                  </a:lnTo>
                  <a:lnTo>
                    <a:pt x="14" y="334"/>
                  </a:lnTo>
                  <a:close/>
                  <a:moveTo>
                    <a:pt x="14" y="362"/>
                  </a:moveTo>
                  <a:lnTo>
                    <a:pt x="14" y="376"/>
                  </a:lnTo>
                  <a:lnTo>
                    <a:pt x="0" y="376"/>
                  </a:lnTo>
                  <a:lnTo>
                    <a:pt x="0" y="362"/>
                  </a:lnTo>
                  <a:lnTo>
                    <a:pt x="14" y="362"/>
                  </a:lnTo>
                  <a:close/>
                  <a:moveTo>
                    <a:pt x="14" y="390"/>
                  </a:moveTo>
                  <a:lnTo>
                    <a:pt x="14" y="404"/>
                  </a:lnTo>
                  <a:lnTo>
                    <a:pt x="0" y="404"/>
                  </a:lnTo>
                  <a:lnTo>
                    <a:pt x="0" y="390"/>
                  </a:lnTo>
                  <a:lnTo>
                    <a:pt x="14" y="390"/>
                  </a:lnTo>
                  <a:close/>
                  <a:moveTo>
                    <a:pt x="14" y="418"/>
                  </a:moveTo>
                  <a:lnTo>
                    <a:pt x="14" y="432"/>
                  </a:lnTo>
                  <a:lnTo>
                    <a:pt x="0" y="432"/>
                  </a:lnTo>
                  <a:lnTo>
                    <a:pt x="0" y="418"/>
                  </a:lnTo>
                  <a:lnTo>
                    <a:pt x="14" y="418"/>
                  </a:lnTo>
                  <a:close/>
                  <a:moveTo>
                    <a:pt x="14" y="446"/>
                  </a:moveTo>
                  <a:lnTo>
                    <a:pt x="14" y="460"/>
                  </a:lnTo>
                  <a:lnTo>
                    <a:pt x="0" y="460"/>
                  </a:lnTo>
                  <a:lnTo>
                    <a:pt x="0" y="446"/>
                  </a:lnTo>
                  <a:lnTo>
                    <a:pt x="14" y="446"/>
                  </a:lnTo>
                  <a:close/>
                  <a:moveTo>
                    <a:pt x="14" y="474"/>
                  </a:moveTo>
                  <a:lnTo>
                    <a:pt x="14" y="488"/>
                  </a:lnTo>
                  <a:lnTo>
                    <a:pt x="0" y="488"/>
                  </a:lnTo>
                  <a:lnTo>
                    <a:pt x="0" y="474"/>
                  </a:lnTo>
                  <a:lnTo>
                    <a:pt x="14" y="474"/>
                  </a:lnTo>
                  <a:close/>
                  <a:moveTo>
                    <a:pt x="14" y="501"/>
                  </a:moveTo>
                  <a:lnTo>
                    <a:pt x="14" y="515"/>
                  </a:lnTo>
                  <a:lnTo>
                    <a:pt x="0" y="515"/>
                  </a:lnTo>
                  <a:lnTo>
                    <a:pt x="0" y="501"/>
                  </a:lnTo>
                  <a:lnTo>
                    <a:pt x="14" y="501"/>
                  </a:lnTo>
                  <a:close/>
                  <a:moveTo>
                    <a:pt x="14" y="529"/>
                  </a:moveTo>
                  <a:lnTo>
                    <a:pt x="14" y="543"/>
                  </a:lnTo>
                  <a:lnTo>
                    <a:pt x="0" y="543"/>
                  </a:lnTo>
                  <a:lnTo>
                    <a:pt x="0" y="529"/>
                  </a:lnTo>
                  <a:lnTo>
                    <a:pt x="14" y="529"/>
                  </a:lnTo>
                  <a:close/>
                  <a:moveTo>
                    <a:pt x="14" y="557"/>
                  </a:moveTo>
                  <a:lnTo>
                    <a:pt x="14" y="571"/>
                  </a:lnTo>
                  <a:lnTo>
                    <a:pt x="0" y="571"/>
                  </a:lnTo>
                  <a:lnTo>
                    <a:pt x="0" y="557"/>
                  </a:lnTo>
                  <a:lnTo>
                    <a:pt x="14" y="557"/>
                  </a:lnTo>
                  <a:close/>
                  <a:moveTo>
                    <a:pt x="14" y="585"/>
                  </a:moveTo>
                  <a:lnTo>
                    <a:pt x="14" y="599"/>
                  </a:lnTo>
                  <a:lnTo>
                    <a:pt x="0" y="599"/>
                  </a:lnTo>
                  <a:lnTo>
                    <a:pt x="0" y="585"/>
                  </a:lnTo>
                  <a:lnTo>
                    <a:pt x="14" y="585"/>
                  </a:lnTo>
                  <a:close/>
                  <a:moveTo>
                    <a:pt x="14" y="613"/>
                  </a:moveTo>
                  <a:lnTo>
                    <a:pt x="14" y="627"/>
                  </a:lnTo>
                  <a:lnTo>
                    <a:pt x="0" y="627"/>
                  </a:lnTo>
                  <a:lnTo>
                    <a:pt x="0" y="613"/>
                  </a:lnTo>
                  <a:lnTo>
                    <a:pt x="14" y="613"/>
                  </a:lnTo>
                  <a:close/>
                  <a:moveTo>
                    <a:pt x="14" y="641"/>
                  </a:moveTo>
                  <a:lnTo>
                    <a:pt x="14" y="655"/>
                  </a:lnTo>
                  <a:lnTo>
                    <a:pt x="0" y="655"/>
                  </a:lnTo>
                  <a:lnTo>
                    <a:pt x="0" y="641"/>
                  </a:lnTo>
                  <a:lnTo>
                    <a:pt x="14" y="641"/>
                  </a:lnTo>
                  <a:close/>
                  <a:moveTo>
                    <a:pt x="14" y="668"/>
                  </a:moveTo>
                  <a:lnTo>
                    <a:pt x="14" y="682"/>
                  </a:lnTo>
                  <a:lnTo>
                    <a:pt x="0" y="682"/>
                  </a:lnTo>
                  <a:lnTo>
                    <a:pt x="0" y="668"/>
                  </a:lnTo>
                  <a:lnTo>
                    <a:pt x="14" y="668"/>
                  </a:lnTo>
                  <a:close/>
                  <a:moveTo>
                    <a:pt x="14" y="696"/>
                  </a:moveTo>
                  <a:lnTo>
                    <a:pt x="14" y="710"/>
                  </a:lnTo>
                  <a:lnTo>
                    <a:pt x="0" y="710"/>
                  </a:lnTo>
                  <a:lnTo>
                    <a:pt x="0" y="696"/>
                  </a:lnTo>
                  <a:lnTo>
                    <a:pt x="14" y="696"/>
                  </a:lnTo>
                  <a:close/>
                  <a:moveTo>
                    <a:pt x="14" y="724"/>
                  </a:moveTo>
                  <a:lnTo>
                    <a:pt x="14" y="738"/>
                  </a:lnTo>
                  <a:lnTo>
                    <a:pt x="0" y="738"/>
                  </a:lnTo>
                  <a:lnTo>
                    <a:pt x="0" y="724"/>
                  </a:lnTo>
                  <a:lnTo>
                    <a:pt x="14" y="724"/>
                  </a:lnTo>
                  <a:close/>
                  <a:moveTo>
                    <a:pt x="14" y="752"/>
                  </a:moveTo>
                  <a:lnTo>
                    <a:pt x="14" y="766"/>
                  </a:lnTo>
                  <a:lnTo>
                    <a:pt x="0" y="766"/>
                  </a:lnTo>
                  <a:lnTo>
                    <a:pt x="0" y="752"/>
                  </a:lnTo>
                  <a:lnTo>
                    <a:pt x="14" y="752"/>
                  </a:lnTo>
                  <a:close/>
                  <a:moveTo>
                    <a:pt x="14" y="780"/>
                  </a:moveTo>
                  <a:lnTo>
                    <a:pt x="14" y="793"/>
                  </a:lnTo>
                  <a:lnTo>
                    <a:pt x="0" y="793"/>
                  </a:lnTo>
                  <a:lnTo>
                    <a:pt x="0" y="780"/>
                  </a:lnTo>
                  <a:lnTo>
                    <a:pt x="14" y="780"/>
                  </a:lnTo>
                  <a:close/>
                  <a:moveTo>
                    <a:pt x="14" y="808"/>
                  </a:moveTo>
                  <a:lnTo>
                    <a:pt x="14" y="822"/>
                  </a:lnTo>
                  <a:lnTo>
                    <a:pt x="0" y="822"/>
                  </a:lnTo>
                  <a:lnTo>
                    <a:pt x="0" y="808"/>
                  </a:lnTo>
                  <a:lnTo>
                    <a:pt x="14" y="808"/>
                  </a:lnTo>
                  <a:close/>
                  <a:moveTo>
                    <a:pt x="14" y="835"/>
                  </a:moveTo>
                  <a:lnTo>
                    <a:pt x="14" y="849"/>
                  </a:lnTo>
                  <a:lnTo>
                    <a:pt x="0" y="849"/>
                  </a:lnTo>
                  <a:lnTo>
                    <a:pt x="0" y="835"/>
                  </a:lnTo>
                  <a:lnTo>
                    <a:pt x="14" y="835"/>
                  </a:lnTo>
                  <a:close/>
                  <a:moveTo>
                    <a:pt x="14" y="863"/>
                  </a:moveTo>
                  <a:lnTo>
                    <a:pt x="14" y="877"/>
                  </a:lnTo>
                  <a:lnTo>
                    <a:pt x="0" y="877"/>
                  </a:lnTo>
                  <a:lnTo>
                    <a:pt x="0" y="863"/>
                  </a:lnTo>
                  <a:lnTo>
                    <a:pt x="14" y="863"/>
                  </a:lnTo>
                  <a:close/>
                  <a:moveTo>
                    <a:pt x="14" y="891"/>
                  </a:moveTo>
                  <a:lnTo>
                    <a:pt x="14" y="905"/>
                  </a:lnTo>
                  <a:lnTo>
                    <a:pt x="0" y="905"/>
                  </a:lnTo>
                  <a:lnTo>
                    <a:pt x="0" y="891"/>
                  </a:lnTo>
                  <a:lnTo>
                    <a:pt x="14" y="891"/>
                  </a:lnTo>
                  <a:close/>
                  <a:moveTo>
                    <a:pt x="14" y="919"/>
                  </a:moveTo>
                  <a:lnTo>
                    <a:pt x="14" y="933"/>
                  </a:lnTo>
                  <a:lnTo>
                    <a:pt x="0" y="933"/>
                  </a:lnTo>
                  <a:lnTo>
                    <a:pt x="0" y="919"/>
                  </a:lnTo>
                  <a:lnTo>
                    <a:pt x="14" y="919"/>
                  </a:lnTo>
                  <a:close/>
                  <a:moveTo>
                    <a:pt x="14" y="947"/>
                  </a:moveTo>
                  <a:lnTo>
                    <a:pt x="14" y="960"/>
                  </a:lnTo>
                  <a:lnTo>
                    <a:pt x="0" y="960"/>
                  </a:lnTo>
                  <a:lnTo>
                    <a:pt x="0" y="947"/>
                  </a:lnTo>
                  <a:lnTo>
                    <a:pt x="14" y="947"/>
                  </a:lnTo>
                  <a:close/>
                  <a:moveTo>
                    <a:pt x="14" y="974"/>
                  </a:moveTo>
                  <a:lnTo>
                    <a:pt x="14" y="988"/>
                  </a:lnTo>
                  <a:lnTo>
                    <a:pt x="0" y="988"/>
                  </a:lnTo>
                  <a:lnTo>
                    <a:pt x="0" y="974"/>
                  </a:lnTo>
                  <a:lnTo>
                    <a:pt x="14" y="974"/>
                  </a:lnTo>
                  <a:close/>
                  <a:moveTo>
                    <a:pt x="14" y="1002"/>
                  </a:moveTo>
                  <a:lnTo>
                    <a:pt x="14" y="1016"/>
                  </a:lnTo>
                  <a:lnTo>
                    <a:pt x="0" y="1016"/>
                  </a:lnTo>
                  <a:lnTo>
                    <a:pt x="0" y="1002"/>
                  </a:lnTo>
                  <a:lnTo>
                    <a:pt x="14" y="1002"/>
                  </a:lnTo>
                  <a:close/>
                  <a:moveTo>
                    <a:pt x="14" y="1030"/>
                  </a:moveTo>
                  <a:lnTo>
                    <a:pt x="14" y="1044"/>
                  </a:lnTo>
                  <a:lnTo>
                    <a:pt x="0" y="1044"/>
                  </a:lnTo>
                  <a:lnTo>
                    <a:pt x="0" y="1030"/>
                  </a:lnTo>
                  <a:lnTo>
                    <a:pt x="14" y="1030"/>
                  </a:lnTo>
                  <a:close/>
                  <a:moveTo>
                    <a:pt x="14" y="1058"/>
                  </a:moveTo>
                  <a:lnTo>
                    <a:pt x="14" y="1072"/>
                  </a:lnTo>
                  <a:lnTo>
                    <a:pt x="0" y="1072"/>
                  </a:lnTo>
                  <a:lnTo>
                    <a:pt x="0" y="1058"/>
                  </a:lnTo>
                  <a:lnTo>
                    <a:pt x="14" y="1058"/>
                  </a:lnTo>
                  <a:close/>
                  <a:moveTo>
                    <a:pt x="14" y="1086"/>
                  </a:moveTo>
                  <a:lnTo>
                    <a:pt x="14" y="1100"/>
                  </a:lnTo>
                  <a:lnTo>
                    <a:pt x="0" y="1100"/>
                  </a:lnTo>
                  <a:lnTo>
                    <a:pt x="0" y="1086"/>
                  </a:lnTo>
                  <a:lnTo>
                    <a:pt x="14" y="1086"/>
                  </a:lnTo>
                  <a:close/>
                  <a:moveTo>
                    <a:pt x="14" y="1114"/>
                  </a:moveTo>
                  <a:lnTo>
                    <a:pt x="14" y="1127"/>
                  </a:lnTo>
                  <a:lnTo>
                    <a:pt x="0" y="1127"/>
                  </a:lnTo>
                  <a:lnTo>
                    <a:pt x="0" y="1114"/>
                  </a:lnTo>
                  <a:lnTo>
                    <a:pt x="14" y="1114"/>
                  </a:lnTo>
                  <a:close/>
                  <a:moveTo>
                    <a:pt x="14" y="1141"/>
                  </a:moveTo>
                  <a:lnTo>
                    <a:pt x="14" y="1155"/>
                  </a:lnTo>
                  <a:lnTo>
                    <a:pt x="0" y="1155"/>
                  </a:lnTo>
                  <a:lnTo>
                    <a:pt x="0" y="1141"/>
                  </a:lnTo>
                  <a:lnTo>
                    <a:pt x="14" y="1141"/>
                  </a:lnTo>
                  <a:close/>
                  <a:moveTo>
                    <a:pt x="14" y="1169"/>
                  </a:moveTo>
                  <a:lnTo>
                    <a:pt x="14" y="1183"/>
                  </a:lnTo>
                  <a:lnTo>
                    <a:pt x="0" y="1183"/>
                  </a:lnTo>
                  <a:lnTo>
                    <a:pt x="0" y="1169"/>
                  </a:lnTo>
                  <a:lnTo>
                    <a:pt x="14" y="1169"/>
                  </a:lnTo>
                  <a:close/>
                  <a:moveTo>
                    <a:pt x="14" y="1197"/>
                  </a:moveTo>
                  <a:lnTo>
                    <a:pt x="14" y="1211"/>
                  </a:lnTo>
                  <a:lnTo>
                    <a:pt x="0" y="1211"/>
                  </a:lnTo>
                  <a:lnTo>
                    <a:pt x="0" y="1197"/>
                  </a:lnTo>
                  <a:lnTo>
                    <a:pt x="14" y="1197"/>
                  </a:lnTo>
                  <a:close/>
                  <a:moveTo>
                    <a:pt x="14" y="1225"/>
                  </a:moveTo>
                  <a:lnTo>
                    <a:pt x="14" y="1239"/>
                  </a:lnTo>
                  <a:lnTo>
                    <a:pt x="0" y="1239"/>
                  </a:lnTo>
                  <a:lnTo>
                    <a:pt x="0" y="1225"/>
                  </a:lnTo>
                  <a:lnTo>
                    <a:pt x="14" y="1225"/>
                  </a:lnTo>
                  <a:close/>
                  <a:moveTo>
                    <a:pt x="14" y="1253"/>
                  </a:moveTo>
                  <a:lnTo>
                    <a:pt x="14" y="1267"/>
                  </a:lnTo>
                  <a:lnTo>
                    <a:pt x="0" y="1267"/>
                  </a:lnTo>
                  <a:lnTo>
                    <a:pt x="0" y="1253"/>
                  </a:lnTo>
                  <a:lnTo>
                    <a:pt x="14" y="1253"/>
                  </a:lnTo>
                  <a:close/>
                  <a:moveTo>
                    <a:pt x="14" y="1281"/>
                  </a:moveTo>
                  <a:lnTo>
                    <a:pt x="14" y="1294"/>
                  </a:lnTo>
                  <a:lnTo>
                    <a:pt x="0" y="1294"/>
                  </a:lnTo>
                  <a:lnTo>
                    <a:pt x="0" y="1281"/>
                  </a:lnTo>
                  <a:lnTo>
                    <a:pt x="14" y="1281"/>
                  </a:lnTo>
                  <a:close/>
                  <a:moveTo>
                    <a:pt x="14" y="1308"/>
                  </a:moveTo>
                  <a:lnTo>
                    <a:pt x="14" y="1322"/>
                  </a:lnTo>
                  <a:lnTo>
                    <a:pt x="0" y="1322"/>
                  </a:lnTo>
                  <a:lnTo>
                    <a:pt x="0" y="1308"/>
                  </a:lnTo>
                  <a:lnTo>
                    <a:pt x="14" y="1308"/>
                  </a:lnTo>
                  <a:close/>
                  <a:moveTo>
                    <a:pt x="14" y="1336"/>
                  </a:moveTo>
                  <a:lnTo>
                    <a:pt x="14" y="1350"/>
                  </a:lnTo>
                  <a:lnTo>
                    <a:pt x="0" y="1350"/>
                  </a:lnTo>
                  <a:lnTo>
                    <a:pt x="0" y="1336"/>
                  </a:lnTo>
                  <a:lnTo>
                    <a:pt x="14" y="1336"/>
                  </a:lnTo>
                  <a:close/>
                  <a:moveTo>
                    <a:pt x="14" y="1364"/>
                  </a:moveTo>
                  <a:lnTo>
                    <a:pt x="14" y="1378"/>
                  </a:lnTo>
                  <a:lnTo>
                    <a:pt x="0" y="1378"/>
                  </a:lnTo>
                  <a:lnTo>
                    <a:pt x="0" y="1364"/>
                  </a:lnTo>
                  <a:lnTo>
                    <a:pt x="14" y="1364"/>
                  </a:lnTo>
                  <a:close/>
                  <a:moveTo>
                    <a:pt x="14" y="1392"/>
                  </a:moveTo>
                  <a:lnTo>
                    <a:pt x="14" y="1406"/>
                  </a:lnTo>
                  <a:lnTo>
                    <a:pt x="0" y="1406"/>
                  </a:lnTo>
                  <a:lnTo>
                    <a:pt x="0" y="1392"/>
                  </a:lnTo>
                  <a:lnTo>
                    <a:pt x="14" y="1392"/>
                  </a:lnTo>
                  <a:close/>
                  <a:moveTo>
                    <a:pt x="14" y="1420"/>
                  </a:moveTo>
                  <a:lnTo>
                    <a:pt x="14" y="1434"/>
                  </a:lnTo>
                  <a:lnTo>
                    <a:pt x="0" y="1434"/>
                  </a:lnTo>
                  <a:lnTo>
                    <a:pt x="0" y="1420"/>
                  </a:lnTo>
                  <a:lnTo>
                    <a:pt x="14" y="1420"/>
                  </a:lnTo>
                  <a:close/>
                  <a:moveTo>
                    <a:pt x="14" y="1448"/>
                  </a:moveTo>
                  <a:lnTo>
                    <a:pt x="14" y="1461"/>
                  </a:lnTo>
                  <a:lnTo>
                    <a:pt x="0" y="1461"/>
                  </a:lnTo>
                  <a:lnTo>
                    <a:pt x="0" y="1448"/>
                  </a:lnTo>
                  <a:lnTo>
                    <a:pt x="14" y="1448"/>
                  </a:lnTo>
                  <a:close/>
                  <a:moveTo>
                    <a:pt x="14" y="1475"/>
                  </a:moveTo>
                  <a:lnTo>
                    <a:pt x="14" y="1489"/>
                  </a:lnTo>
                  <a:lnTo>
                    <a:pt x="0" y="1489"/>
                  </a:lnTo>
                  <a:lnTo>
                    <a:pt x="0" y="1475"/>
                  </a:lnTo>
                  <a:lnTo>
                    <a:pt x="14" y="1475"/>
                  </a:lnTo>
                  <a:close/>
                  <a:moveTo>
                    <a:pt x="14" y="1503"/>
                  </a:moveTo>
                  <a:lnTo>
                    <a:pt x="14" y="1517"/>
                  </a:lnTo>
                  <a:lnTo>
                    <a:pt x="0" y="1517"/>
                  </a:lnTo>
                  <a:lnTo>
                    <a:pt x="0" y="1503"/>
                  </a:lnTo>
                  <a:lnTo>
                    <a:pt x="14" y="1503"/>
                  </a:lnTo>
                  <a:close/>
                  <a:moveTo>
                    <a:pt x="14" y="1531"/>
                  </a:moveTo>
                  <a:lnTo>
                    <a:pt x="14" y="1545"/>
                  </a:lnTo>
                  <a:lnTo>
                    <a:pt x="0" y="1545"/>
                  </a:lnTo>
                  <a:lnTo>
                    <a:pt x="0" y="1531"/>
                  </a:lnTo>
                  <a:lnTo>
                    <a:pt x="14" y="1531"/>
                  </a:lnTo>
                  <a:close/>
                  <a:moveTo>
                    <a:pt x="14" y="1559"/>
                  </a:moveTo>
                  <a:lnTo>
                    <a:pt x="14" y="1573"/>
                  </a:lnTo>
                  <a:lnTo>
                    <a:pt x="0" y="1573"/>
                  </a:lnTo>
                  <a:lnTo>
                    <a:pt x="0" y="1559"/>
                  </a:lnTo>
                  <a:lnTo>
                    <a:pt x="14" y="1559"/>
                  </a:lnTo>
                  <a:close/>
                  <a:moveTo>
                    <a:pt x="14" y="1587"/>
                  </a:moveTo>
                  <a:lnTo>
                    <a:pt x="14" y="1601"/>
                  </a:lnTo>
                  <a:lnTo>
                    <a:pt x="0" y="1601"/>
                  </a:lnTo>
                  <a:lnTo>
                    <a:pt x="0" y="1587"/>
                  </a:lnTo>
                  <a:lnTo>
                    <a:pt x="14" y="1587"/>
                  </a:lnTo>
                  <a:close/>
                  <a:moveTo>
                    <a:pt x="14" y="1615"/>
                  </a:moveTo>
                  <a:lnTo>
                    <a:pt x="14" y="1628"/>
                  </a:lnTo>
                  <a:lnTo>
                    <a:pt x="0" y="1628"/>
                  </a:lnTo>
                  <a:lnTo>
                    <a:pt x="0" y="1615"/>
                  </a:lnTo>
                  <a:lnTo>
                    <a:pt x="14" y="1615"/>
                  </a:lnTo>
                  <a:close/>
                  <a:moveTo>
                    <a:pt x="14" y="1642"/>
                  </a:moveTo>
                  <a:lnTo>
                    <a:pt x="14" y="1656"/>
                  </a:lnTo>
                  <a:lnTo>
                    <a:pt x="0" y="1656"/>
                  </a:lnTo>
                  <a:lnTo>
                    <a:pt x="0" y="1642"/>
                  </a:lnTo>
                  <a:lnTo>
                    <a:pt x="14" y="1642"/>
                  </a:lnTo>
                  <a:close/>
                  <a:moveTo>
                    <a:pt x="14" y="1670"/>
                  </a:moveTo>
                  <a:lnTo>
                    <a:pt x="14" y="1684"/>
                  </a:lnTo>
                  <a:lnTo>
                    <a:pt x="0" y="1684"/>
                  </a:lnTo>
                  <a:lnTo>
                    <a:pt x="0" y="1670"/>
                  </a:lnTo>
                  <a:lnTo>
                    <a:pt x="14" y="1670"/>
                  </a:lnTo>
                  <a:close/>
                  <a:moveTo>
                    <a:pt x="14" y="1698"/>
                  </a:moveTo>
                  <a:lnTo>
                    <a:pt x="14" y="1712"/>
                  </a:lnTo>
                  <a:lnTo>
                    <a:pt x="0" y="1712"/>
                  </a:lnTo>
                  <a:lnTo>
                    <a:pt x="0" y="1698"/>
                  </a:lnTo>
                  <a:lnTo>
                    <a:pt x="14" y="1698"/>
                  </a:lnTo>
                  <a:close/>
                  <a:moveTo>
                    <a:pt x="14" y="1726"/>
                  </a:moveTo>
                  <a:lnTo>
                    <a:pt x="14" y="1740"/>
                  </a:lnTo>
                  <a:lnTo>
                    <a:pt x="0" y="1740"/>
                  </a:lnTo>
                  <a:lnTo>
                    <a:pt x="0" y="1726"/>
                  </a:lnTo>
                  <a:lnTo>
                    <a:pt x="14" y="1726"/>
                  </a:lnTo>
                  <a:close/>
                  <a:moveTo>
                    <a:pt x="14" y="1754"/>
                  </a:moveTo>
                  <a:lnTo>
                    <a:pt x="14" y="1768"/>
                  </a:lnTo>
                  <a:lnTo>
                    <a:pt x="0" y="1768"/>
                  </a:lnTo>
                  <a:lnTo>
                    <a:pt x="0" y="1754"/>
                  </a:lnTo>
                  <a:lnTo>
                    <a:pt x="14" y="1754"/>
                  </a:lnTo>
                  <a:close/>
                  <a:moveTo>
                    <a:pt x="14" y="1782"/>
                  </a:moveTo>
                  <a:lnTo>
                    <a:pt x="14" y="1795"/>
                  </a:lnTo>
                  <a:lnTo>
                    <a:pt x="0" y="1795"/>
                  </a:lnTo>
                  <a:lnTo>
                    <a:pt x="0" y="1782"/>
                  </a:lnTo>
                  <a:lnTo>
                    <a:pt x="14" y="1782"/>
                  </a:lnTo>
                  <a:close/>
                  <a:moveTo>
                    <a:pt x="14" y="1809"/>
                  </a:moveTo>
                  <a:lnTo>
                    <a:pt x="14" y="1823"/>
                  </a:lnTo>
                  <a:lnTo>
                    <a:pt x="0" y="1823"/>
                  </a:lnTo>
                  <a:lnTo>
                    <a:pt x="0" y="1809"/>
                  </a:lnTo>
                  <a:lnTo>
                    <a:pt x="14" y="1809"/>
                  </a:lnTo>
                  <a:close/>
                  <a:moveTo>
                    <a:pt x="14" y="1837"/>
                  </a:moveTo>
                  <a:lnTo>
                    <a:pt x="14" y="1851"/>
                  </a:lnTo>
                  <a:lnTo>
                    <a:pt x="0" y="1851"/>
                  </a:lnTo>
                  <a:lnTo>
                    <a:pt x="0" y="1837"/>
                  </a:lnTo>
                  <a:lnTo>
                    <a:pt x="14" y="1837"/>
                  </a:lnTo>
                  <a:close/>
                  <a:moveTo>
                    <a:pt x="14" y="1865"/>
                  </a:moveTo>
                  <a:lnTo>
                    <a:pt x="14" y="1879"/>
                  </a:lnTo>
                  <a:lnTo>
                    <a:pt x="0" y="1879"/>
                  </a:lnTo>
                  <a:lnTo>
                    <a:pt x="0" y="1865"/>
                  </a:lnTo>
                  <a:lnTo>
                    <a:pt x="14" y="1865"/>
                  </a:lnTo>
                  <a:close/>
                  <a:moveTo>
                    <a:pt x="14" y="1893"/>
                  </a:moveTo>
                  <a:lnTo>
                    <a:pt x="14" y="1907"/>
                  </a:lnTo>
                  <a:lnTo>
                    <a:pt x="0" y="1907"/>
                  </a:lnTo>
                  <a:lnTo>
                    <a:pt x="0" y="1893"/>
                  </a:lnTo>
                  <a:lnTo>
                    <a:pt x="14" y="1893"/>
                  </a:lnTo>
                  <a:close/>
                  <a:moveTo>
                    <a:pt x="14" y="1921"/>
                  </a:moveTo>
                  <a:lnTo>
                    <a:pt x="14" y="1935"/>
                  </a:lnTo>
                  <a:lnTo>
                    <a:pt x="0" y="1935"/>
                  </a:lnTo>
                  <a:lnTo>
                    <a:pt x="0" y="1921"/>
                  </a:lnTo>
                  <a:lnTo>
                    <a:pt x="14" y="1921"/>
                  </a:lnTo>
                  <a:close/>
                  <a:moveTo>
                    <a:pt x="14" y="1949"/>
                  </a:moveTo>
                  <a:lnTo>
                    <a:pt x="14" y="1962"/>
                  </a:lnTo>
                  <a:lnTo>
                    <a:pt x="0" y="1962"/>
                  </a:lnTo>
                  <a:lnTo>
                    <a:pt x="0" y="1949"/>
                  </a:lnTo>
                  <a:lnTo>
                    <a:pt x="14" y="1949"/>
                  </a:lnTo>
                  <a:close/>
                  <a:moveTo>
                    <a:pt x="14" y="1976"/>
                  </a:moveTo>
                  <a:lnTo>
                    <a:pt x="14" y="1990"/>
                  </a:lnTo>
                  <a:lnTo>
                    <a:pt x="0" y="1990"/>
                  </a:lnTo>
                  <a:lnTo>
                    <a:pt x="0" y="1976"/>
                  </a:lnTo>
                  <a:lnTo>
                    <a:pt x="14" y="1976"/>
                  </a:lnTo>
                  <a:close/>
                  <a:moveTo>
                    <a:pt x="14" y="2004"/>
                  </a:moveTo>
                  <a:lnTo>
                    <a:pt x="14" y="2018"/>
                  </a:lnTo>
                  <a:lnTo>
                    <a:pt x="0" y="2018"/>
                  </a:lnTo>
                  <a:lnTo>
                    <a:pt x="0" y="2004"/>
                  </a:lnTo>
                  <a:lnTo>
                    <a:pt x="14" y="2004"/>
                  </a:lnTo>
                  <a:close/>
                  <a:moveTo>
                    <a:pt x="14" y="2032"/>
                  </a:moveTo>
                  <a:lnTo>
                    <a:pt x="14" y="2046"/>
                  </a:lnTo>
                  <a:lnTo>
                    <a:pt x="0" y="2046"/>
                  </a:lnTo>
                  <a:lnTo>
                    <a:pt x="0" y="2032"/>
                  </a:lnTo>
                  <a:lnTo>
                    <a:pt x="14" y="2032"/>
                  </a:lnTo>
                  <a:close/>
                  <a:moveTo>
                    <a:pt x="14" y="2060"/>
                  </a:moveTo>
                  <a:lnTo>
                    <a:pt x="14" y="2074"/>
                  </a:lnTo>
                  <a:lnTo>
                    <a:pt x="0" y="2074"/>
                  </a:lnTo>
                  <a:lnTo>
                    <a:pt x="0" y="2060"/>
                  </a:lnTo>
                  <a:lnTo>
                    <a:pt x="14" y="2060"/>
                  </a:lnTo>
                  <a:close/>
                  <a:moveTo>
                    <a:pt x="14" y="2087"/>
                  </a:moveTo>
                  <a:lnTo>
                    <a:pt x="14" y="2102"/>
                  </a:lnTo>
                  <a:lnTo>
                    <a:pt x="0" y="2102"/>
                  </a:lnTo>
                  <a:lnTo>
                    <a:pt x="0" y="2087"/>
                  </a:lnTo>
                  <a:lnTo>
                    <a:pt x="14" y="2087"/>
                  </a:lnTo>
                  <a:close/>
                  <a:moveTo>
                    <a:pt x="14" y="2116"/>
                  </a:moveTo>
                  <a:lnTo>
                    <a:pt x="14" y="2129"/>
                  </a:lnTo>
                  <a:lnTo>
                    <a:pt x="0" y="2129"/>
                  </a:lnTo>
                  <a:lnTo>
                    <a:pt x="0" y="2116"/>
                  </a:lnTo>
                  <a:lnTo>
                    <a:pt x="14" y="2116"/>
                  </a:lnTo>
                  <a:close/>
                  <a:moveTo>
                    <a:pt x="14" y="2143"/>
                  </a:moveTo>
                  <a:lnTo>
                    <a:pt x="14" y="2157"/>
                  </a:lnTo>
                  <a:lnTo>
                    <a:pt x="0" y="2157"/>
                  </a:lnTo>
                  <a:lnTo>
                    <a:pt x="0" y="2143"/>
                  </a:lnTo>
                  <a:lnTo>
                    <a:pt x="14" y="2143"/>
                  </a:lnTo>
                  <a:close/>
                  <a:moveTo>
                    <a:pt x="14" y="2171"/>
                  </a:moveTo>
                  <a:lnTo>
                    <a:pt x="14" y="2185"/>
                  </a:lnTo>
                  <a:lnTo>
                    <a:pt x="0" y="2185"/>
                  </a:lnTo>
                  <a:lnTo>
                    <a:pt x="0" y="2171"/>
                  </a:lnTo>
                  <a:lnTo>
                    <a:pt x="14" y="2171"/>
                  </a:lnTo>
                  <a:close/>
                  <a:moveTo>
                    <a:pt x="14" y="2199"/>
                  </a:moveTo>
                  <a:lnTo>
                    <a:pt x="14" y="2213"/>
                  </a:lnTo>
                  <a:lnTo>
                    <a:pt x="0" y="2213"/>
                  </a:lnTo>
                  <a:lnTo>
                    <a:pt x="0" y="2199"/>
                  </a:lnTo>
                  <a:lnTo>
                    <a:pt x="14" y="2199"/>
                  </a:lnTo>
                  <a:close/>
                  <a:moveTo>
                    <a:pt x="14" y="2227"/>
                  </a:moveTo>
                  <a:lnTo>
                    <a:pt x="14" y="2241"/>
                  </a:lnTo>
                  <a:lnTo>
                    <a:pt x="0" y="2241"/>
                  </a:lnTo>
                  <a:lnTo>
                    <a:pt x="0" y="2227"/>
                  </a:lnTo>
                  <a:lnTo>
                    <a:pt x="14" y="2227"/>
                  </a:lnTo>
                  <a:close/>
                  <a:moveTo>
                    <a:pt x="14" y="2254"/>
                  </a:moveTo>
                  <a:lnTo>
                    <a:pt x="14" y="2268"/>
                  </a:lnTo>
                  <a:lnTo>
                    <a:pt x="0" y="2268"/>
                  </a:lnTo>
                  <a:lnTo>
                    <a:pt x="0" y="2254"/>
                  </a:lnTo>
                  <a:lnTo>
                    <a:pt x="14" y="2254"/>
                  </a:lnTo>
                  <a:close/>
                  <a:moveTo>
                    <a:pt x="14" y="2283"/>
                  </a:moveTo>
                  <a:lnTo>
                    <a:pt x="14" y="2296"/>
                  </a:lnTo>
                  <a:lnTo>
                    <a:pt x="0" y="2296"/>
                  </a:lnTo>
                  <a:lnTo>
                    <a:pt x="0" y="2283"/>
                  </a:lnTo>
                  <a:lnTo>
                    <a:pt x="14" y="2283"/>
                  </a:lnTo>
                  <a:close/>
                  <a:moveTo>
                    <a:pt x="14" y="2310"/>
                  </a:moveTo>
                  <a:lnTo>
                    <a:pt x="14" y="2324"/>
                  </a:lnTo>
                  <a:lnTo>
                    <a:pt x="0" y="2324"/>
                  </a:lnTo>
                  <a:lnTo>
                    <a:pt x="0" y="2310"/>
                  </a:lnTo>
                  <a:lnTo>
                    <a:pt x="14" y="2310"/>
                  </a:lnTo>
                  <a:close/>
                  <a:moveTo>
                    <a:pt x="14" y="2338"/>
                  </a:moveTo>
                  <a:lnTo>
                    <a:pt x="14" y="2352"/>
                  </a:lnTo>
                  <a:lnTo>
                    <a:pt x="0" y="2352"/>
                  </a:lnTo>
                  <a:lnTo>
                    <a:pt x="0" y="2338"/>
                  </a:lnTo>
                  <a:lnTo>
                    <a:pt x="14" y="2338"/>
                  </a:lnTo>
                  <a:close/>
                  <a:moveTo>
                    <a:pt x="14" y="2366"/>
                  </a:moveTo>
                  <a:lnTo>
                    <a:pt x="14" y="2380"/>
                  </a:lnTo>
                  <a:lnTo>
                    <a:pt x="0" y="2380"/>
                  </a:lnTo>
                  <a:lnTo>
                    <a:pt x="0" y="2366"/>
                  </a:lnTo>
                  <a:lnTo>
                    <a:pt x="14" y="2366"/>
                  </a:lnTo>
                  <a:close/>
                  <a:moveTo>
                    <a:pt x="14" y="2394"/>
                  </a:moveTo>
                  <a:lnTo>
                    <a:pt x="14" y="2408"/>
                  </a:lnTo>
                  <a:lnTo>
                    <a:pt x="0" y="2408"/>
                  </a:lnTo>
                  <a:lnTo>
                    <a:pt x="0" y="2394"/>
                  </a:lnTo>
                  <a:lnTo>
                    <a:pt x="14" y="2394"/>
                  </a:lnTo>
                  <a:close/>
                  <a:moveTo>
                    <a:pt x="14" y="2421"/>
                  </a:moveTo>
                  <a:lnTo>
                    <a:pt x="14" y="2435"/>
                  </a:lnTo>
                  <a:lnTo>
                    <a:pt x="0" y="2435"/>
                  </a:lnTo>
                  <a:lnTo>
                    <a:pt x="0" y="2421"/>
                  </a:lnTo>
                  <a:lnTo>
                    <a:pt x="14" y="2421"/>
                  </a:lnTo>
                  <a:close/>
                  <a:moveTo>
                    <a:pt x="14" y="2449"/>
                  </a:moveTo>
                  <a:lnTo>
                    <a:pt x="14" y="2453"/>
                  </a:lnTo>
                  <a:lnTo>
                    <a:pt x="0" y="2453"/>
                  </a:lnTo>
                  <a:lnTo>
                    <a:pt x="0" y="2449"/>
                  </a:lnTo>
                  <a:lnTo>
                    <a:pt x="14" y="2449"/>
                  </a:lnTo>
                  <a:close/>
                </a:path>
              </a:pathLst>
            </a:custGeom>
            <a:solidFill>
              <a:srgbClr val="000000"/>
            </a:solidFill>
            <a:ln w="0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491" name="Freeform 33">
              <a:extLst>
                <a:ext uri="{FF2B5EF4-FFF2-40B4-BE49-F238E27FC236}">
                  <a16:creationId xmlns:a16="http://schemas.microsoft.com/office/drawing/2014/main" id="{D5B6CADD-AA31-1181-769D-8969E096C40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209080" y="3078501"/>
              <a:ext cx="18000" cy="3726773"/>
            </a:xfrm>
            <a:custGeom>
              <a:avLst/>
              <a:gdLst>
                <a:gd name="T0" fmla="*/ 15 w 15"/>
                <a:gd name="T1" fmla="*/ 42 h 2453"/>
                <a:gd name="T2" fmla="*/ 0 w 15"/>
                <a:gd name="T3" fmla="*/ 56 h 2453"/>
                <a:gd name="T4" fmla="*/ 15 w 15"/>
                <a:gd name="T5" fmla="*/ 112 h 2453"/>
                <a:gd name="T6" fmla="*/ 0 w 15"/>
                <a:gd name="T7" fmla="*/ 154 h 2453"/>
                <a:gd name="T8" fmla="*/ 15 w 15"/>
                <a:gd name="T9" fmla="*/ 167 h 2453"/>
                <a:gd name="T10" fmla="*/ 15 w 15"/>
                <a:gd name="T11" fmla="*/ 237 h 2453"/>
                <a:gd name="T12" fmla="*/ 0 w 15"/>
                <a:gd name="T13" fmla="*/ 251 h 2453"/>
                <a:gd name="T14" fmla="*/ 15 w 15"/>
                <a:gd name="T15" fmla="*/ 307 h 2453"/>
                <a:gd name="T16" fmla="*/ 0 w 15"/>
                <a:gd name="T17" fmla="*/ 348 h 2453"/>
                <a:gd name="T18" fmla="*/ 15 w 15"/>
                <a:gd name="T19" fmla="*/ 362 h 2453"/>
                <a:gd name="T20" fmla="*/ 15 w 15"/>
                <a:gd name="T21" fmla="*/ 432 h 2453"/>
                <a:gd name="T22" fmla="*/ 0 w 15"/>
                <a:gd name="T23" fmla="*/ 446 h 2453"/>
                <a:gd name="T24" fmla="*/ 15 w 15"/>
                <a:gd name="T25" fmla="*/ 501 h 2453"/>
                <a:gd name="T26" fmla="*/ 0 w 15"/>
                <a:gd name="T27" fmla="*/ 543 h 2453"/>
                <a:gd name="T28" fmla="*/ 15 w 15"/>
                <a:gd name="T29" fmla="*/ 557 h 2453"/>
                <a:gd name="T30" fmla="*/ 15 w 15"/>
                <a:gd name="T31" fmla="*/ 627 h 2453"/>
                <a:gd name="T32" fmla="*/ 0 w 15"/>
                <a:gd name="T33" fmla="*/ 641 h 2453"/>
                <a:gd name="T34" fmla="*/ 15 w 15"/>
                <a:gd name="T35" fmla="*/ 696 h 2453"/>
                <a:gd name="T36" fmla="*/ 0 w 15"/>
                <a:gd name="T37" fmla="*/ 738 h 2453"/>
                <a:gd name="T38" fmla="*/ 15 w 15"/>
                <a:gd name="T39" fmla="*/ 752 h 2453"/>
                <a:gd name="T40" fmla="*/ 15 w 15"/>
                <a:gd name="T41" fmla="*/ 822 h 2453"/>
                <a:gd name="T42" fmla="*/ 0 w 15"/>
                <a:gd name="T43" fmla="*/ 835 h 2453"/>
                <a:gd name="T44" fmla="*/ 15 w 15"/>
                <a:gd name="T45" fmla="*/ 891 h 2453"/>
                <a:gd name="T46" fmla="*/ 0 w 15"/>
                <a:gd name="T47" fmla="*/ 933 h 2453"/>
                <a:gd name="T48" fmla="*/ 15 w 15"/>
                <a:gd name="T49" fmla="*/ 947 h 2453"/>
                <a:gd name="T50" fmla="*/ 15 w 15"/>
                <a:gd name="T51" fmla="*/ 1016 h 2453"/>
                <a:gd name="T52" fmla="*/ 0 w 15"/>
                <a:gd name="T53" fmla="*/ 1030 h 2453"/>
                <a:gd name="T54" fmla="*/ 15 w 15"/>
                <a:gd name="T55" fmla="*/ 1086 h 2453"/>
                <a:gd name="T56" fmla="*/ 0 w 15"/>
                <a:gd name="T57" fmla="*/ 1127 h 2453"/>
                <a:gd name="T58" fmla="*/ 15 w 15"/>
                <a:gd name="T59" fmla="*/ 1141 h 2453"/>
                <a:gd name="T60" fmla="*/ 15 w 15"/>
                <a:gd name="T61" fmla="*/ 1211 h 2453"/>
                <a:gd name="T62" fmla="*/ 0 w 15"/>
                <a:gd name="T63" fmla="*/ 1225 h 2453"/>
                <a:gd name="T64" fmla="*/ 15 w 15"/>
                <a:gd name="T65" fmla="*/ 1281 h 2453"/>
                <a:gd name="T66" fmla="*/ 0 w 15"/>
                <a:gd name="T67" fmla="*/ 1322 h 2453"/>
                <a:gd name="T68" fmla="*/ 15 w 15"/>
                <a:gd name="T69" fmla="*/ 1336 h 2453"/>
                <a:gd name="T70" fmla="*/ 15 w 15"/>
                <a:gd name="T71" fmla="*/ 1406 h 2453"/>
                <a:gd name="T72" fmla="*/ 0 w 15"/>
                <a:gd name="T73" fmla="*/ 1420 h 2453"/>
                <a:gd name="T74" fmla="*/ 15 w 15"/>
                <a:gd name="T75" fmla="*/ 1475 h 2453"/>
                <a:gd name="T76" fmla="*/ 0 w 15"/>
                <a:gd name="T77" fmla="*/ 1517 h 2453"/>
                <a:gd name="T78" fmla="*/ 15 w 15"/>
                <a:gd name="T79" fmla="*/ 1531 h 2453"/>
                <a:gd name="T80" fmla="*/ 15 w 15"/>
                <a:gd name="T81" fmla="*/ 1601 h 2453"/>
                <a:gd name="T82" fmla="*/ 0 w 15"/>
                <a:gd name="T83" fmla="*/ 1615 h 2453"/>
                <a:gd name="T84" fmla="*/ 15 w 15"/>
                <a:gd name="T85" fmla="*/ 1670 h 2453"/>
                <a:gd name="T86" fmla="*/ 0 w 15"/>
                <a:gd name="T87" fmla="*/ 1712 h 2453"/>
                <a:gd name="T88" fmla="*/ 15 w 15"/>
                <a:gd name="T89" fmla="*/ 1726 h 2453"/>
                <a:gd name="T90" fmla="*/ 15 w 15"/>
                <a:gd name="T91" fmla="*/ 1795 h 2453"/>
                <a:gd name="T92" fmla="*/ 0 w 15"/>
                <a:gd name="T93" fmla="*/ 1809 h 2453"/>
                <a:gd name="T94" fmla="*/ 15 w 15"/>
                <a:gd name="T95" fmla="*/ 1865 h 2453"/>
                <a:gd name="T96" fmla="*/ 0 w 15"/>
                <a:gd name="T97" fmla="*/ 1907 h 2453"/>
                <a:gd name="T98" fmla="*/ 15 w 15"/>
                <a:gd name="T99" fmla="*/ 1921 h 2453"/>
                <a:gd name="T100" fmla="*/ 15 w 15"/>
                <a:gd name="T101" fmla="*/ 1990 h 2453"/>
                <a:gd name="T102" fmla="*/ 0 w 15"/>
                <a:gd name="T103" fmla="*/ 2004 h 2453"/>
                <a:gd name="T104" fmla="*/ 15 w 15"/>
                <a:gd name="T105" fmla="*/ 2060 h 2453"/>
                <a:gd name="T106" fmla="*/ 0 w 15"/>
                <a:gd name="T107" fmla="*/ 2102 h 2453"/>
                <a:gd name="T108" fmla="*/ 15 w 15"/>
                <a:gd name="T109" fmla="*/ 2116 h 2453"/>
                <a:gd name="T110" fmla="*/ 15 w 15"/>
                <a:gd name="T111" fmla="*/ 2185 h 2453"/>
                <a:gd name="T112" fmla="*/ 0 w 15"/>
                <a:gd name="T113" fmla="*/ 2199 h 2453"/>
                <a:gd name="T114" fmla="*/ 15 w 15"/>
                <a:gd name="T115" fmla="*/ 2254 h 2453"/>
                <a:gd name="T116" fmla="*/ 0 w 15"/>
                <a:gd name="T117" fmla="*/ 2296 h 2453"/>
                <a:gd name="T118" fmla="*/ 15 w 15"/>
                <a:gd name="T119" fmla="*/ 2310 h 2453"/>
                <a:gd name="T120" fmla="*/ 15 w 15"/>
                <a:gd name="T121" fmla="*/ 2380 h 2453"/>
                <a:gd name="T122" fmla="*/ 0 w 15"/>
                <a:gd name="T123" fmla="*/ 2394 h 2453"/>
                <a:gd name="T124" fmla="*/ 15 w 15"/>
                <a:gd name="T125" fmla="*/ 2449 h 24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5" h="2453">
                  <a:moveTo>
                    <a:pt x="15" y="0"/>
                  </a:moveTo>
                  <a:lnTo>
                    <a:pt x="15" y="14"/>
                  </a:lnTo>
                  <a:lnTo>
                    <a:pt x="0" y="14"/>
                  </a:lnTo>
                  <a:lnTo>
                    <a:pt x="0" y="0"/>
                  </a:lnTo>
                  <a:lnTo>
                    <a:pt x="15" y="0"/>
                  </a:lnTo>
                  <a:close/>
                  <a:moveTo>
                    <a:pt x="15" y="28"/>
                  </a:moveTo>
                  <a:lnTo>
                    <a:pt x="15" y="42"/>
                  </a:lnTo>
                  <a:lnTo>
                    <a:pt x="0" y="42"/>
                  </a:lnTo>
                  <a:lnTo>
                    <a:pt x="0" y="28"/>
                  </a:lnTo>
                  <a:lnTo>
                    <a:pt x="15" y="28"/>
                  </a:lnTo>
                  <a:close/>
                  <a:moveTo>
                    <a:pt x="15" y="56"/>
                  </a:moveTo>
                  <a:lnTo>
                    <a:pt x="15" y="70"/>
                  </a:lnTo>
                  <a:lnTo>
                    <a:pt x="0" y="70"/>
                  </a:lnTo>
                  <a:lnTo>
                    <a:pt x="0" y="56"/>
                  </a:lnTo>
                  <a:lnTo>
                    <a:pt x="15" y="56"/>
                  </a:lnTo>
                  <a:close/>
                  <a:moveTo>
                    <a:pt x="15" y="84"/>
                  </a:moveTo>
                  <a:lnTo>
                    <a:pt x="15" y="98"/>
                  </a:lnTo>
                  <a:lnTo>
                    <a:pt x="0" y="98"/>
                  </a:lnTo>
                  <a:lnTo>
                    <a:pt x="0" y="84"/>
                  </a:lnTo>
                  <a:lnTo>
                    <a:pt x="15" y="84"/>
                  </a:lnTo>
                  <a:close/>
                  <a:moveTo>
                    <a:pt x="15" y="112"/>
                  </a:moveTo>
                  <a:lnTo>
                    <a:pt x="15" y="126"/>
                  </a:lnTo>
                  <a:lnTo>
                    <a:pt x="0" y="126"/>
                  </a:lnTo>
                  <a:lnTo>
                    <a:pt x="0" y="112"/>
                  </a:lnTo>
                  <a:lnTo>
                    <a:pt x="15" y="112"/>
                  </a:lnTo>
                  <a:close/>
                  <a:moveTo>
                    <a:pt x="15" y="140"/>
                  </a:moveTo>
                  <a:lnTo>
                    <a:pt x="15" y="154"/>
                  </a:lnTo>
                  <a:lnTo>
                    <a:pt x="0" y="154"/>
                  </a:lnTo>
                  <a:lnTo>
                    <a:pt x="0" y="140"/>
                  </a:lnTo>
                  <a:lnTo>
                    <a:pt x="15" y="140"/>
                  </a:lnTo>
                  <a:close/>
                  <a:moveTo>
                    <a:pt x="15" y="167"/>
                  </a:moveTo>
                  <a:lnTo>
                    <a:pt x="15" y="181"/>
                  </a:lnTo>
                  <a:lnTo>
                    <a:pt x="0" y="181"/>
                  </a:lnTo>
                  <a:lnTo>
                    <a:pt x="0" y="167"/>
                  </a:lnTo>
                  <a:lnTo>
                    <a:pt x="15" y="167"/>
                  </a:lnTo>
                  <a:close/>
                  <a:moveTo>
                    <a:pt x="15" y="195"/>
                  </a:moveTo>
                  <a:lnTo>
                    <a:pt x="15" y="209"/>
                  </a:lnTo>
                  <a:lnTo>
                    <a:pt x="0" y="209"/>
                  </a:lnTo>
                  <a:lnTo>
                    <a:pt x="0" y="195"/>
                  </a:lnTo>
                  <a:lnTo>
                    <a:pt x="15" y="195"/>
                  </a:lnTo>
                  <a:close/>
                  <a:moveTo>
                    <a:pt x="15" y="223"/>
                  </a:moveTo>
                  <a:lnTo>
                    <a:pt x="15" y="237"/>
                  </a:lnTo>
                  <a:lnTo>
                    <a:pt x="0" y="237"/>
                  </a:lnTo>
                  <a:lnTo>
                    <a:pt x="0" y="223"/>
                  </a:lnTo>
                  <a:lnTo>
                    <a:pt x="15" y="223"/>
                  </a:lnTo>
                  <a:close/>
                  <a:moveTo>
                    <a:pt x="15" y="251"/>
                  </a:moveTo>
                  <a:lnTo>
                    <a:pt x="15" y="265"/>
                  </a:lnTo>
                  <a:lnTo>
                    <a:pt x="0" y="265"/>
                  </a:lnTo>
                  <a:lnTo>
                    <a:pt x="0" y="251"/>
                  </a:lnTo>
                  <a:lnTo>
                    <a:pt x="15" y="251"/>
                  </a:lnTo>
                  <a:close/>
                  <a:moveTo>
                    <a:pt x="15" y="279"/>
                  </a:moveTo>
                  <a:lnTo>
                    <a:pt x="15" y="293"/>
                  </a:lnTo>
                  <a:lnTo>
                    <a:pt x="0" y="293"/>
                  </a:lnTo>
                  <a:lnTo>
                    <a:pt x="0" y="279"/>
                  </a:lnTo>
                  <a:lnTo>
                    <a:pt x="15" y="279"/>
                  </a:lnTo>
                  <a:close/>
                  <a:moveTo>
                    <a:pt x="15" y="307"/>
                  </a:moveTo>
                  <a:lnTo>
                    <a:pt x="15" y="321"/>
                  </a:lnTo>
                  <a:lnTo>
                    <a:pt x="0" y="321"/>
                  </a:lnTo>
                  <a:lnTo>
                    <a:pt x="0" y="307"/>
                  </a:lnTo>
                  <a:lnTo>
                    <a:pt x="15" y="307"/>
                  </a:lnTo>
                  <a:close/>
                  <a:moveTo>
                    <a:pt x="15" y="334"/>
                  </a:moveTo>
                  <a:lnTo>
                    <a:pt x="15" y="348"/>
                  </a:lnTo>
                  <a:lnTo>
                    <a:pt x="0" y="348"/>
                  </a:lnTo>
                  <a:lnTo>
                    <a:pt x="0" y="334"/>
                  </a:lnTo>
                  <a:lnTo>
                    <a:pt x="15" y="334"/>
                  </a:lnTo>
                  <a:close/>
                  <a:moveTo>
                    <a:pt x="15" y="362"/>
                  </a:moveTo>
                  <a:lnTo>
                    <a:pt x="15" y="376"/>
                  </a:lnTo>
                  <a:lnTo>
                    <a:pt x="0" y="376"/>
                  </a:lnTo>
                  <a:lnTo>
                    <a:pt x="0" y="362"/>
                  </a:lnTo>
                  <a:lnTo>
                    <a:pt x="15" y="362"/>
                  </a:lnTo>
                  <a:close/>
                  <a:moveTo>
                    <a:pt x="15" y="390"/>
                  </a:moveTo>
                  <a:lnTo>
                    <a:pt x="15" y="404"/>
                  </a:lnTo>
                  <a:lnTo>
                    <a:pt x="0" y="404"/>
                  </a:lnTo>
                  <a:lnTo>
                    <a:pt x="0" y="390"/>
                  </a:lnTo>
                  <a:lnTo>
                    <a:pt x="15" y="390"/>
                  </a:lnTo>
                  <a:close/>
                  <a:moveTo>
                    <a:pt x="15" y="418"/>
                  </a:moveTo>
                  <a:lnTo>
                    <a:pt x="15" y="432"/>
                  </a:lnTo>
                  <a:lnTo>
                    <a:pt x="0" y="432"/>
                  </a:lnTo>
                  <a:lnTo>
                    <a:pt x="0" y="418"/>
                  </a:lnTo>
                  <a:lnTo>
                    <a:pt x="15" y="418"/>
                  </a:lnTo>
                  <a:close/>
                  <a:moveTo>
                    <a:pt x="15" y="446"/>
                  </a:moveTo>
                  <a:lnTo>
                    <a:pt x="15" y="460"/>
                  </a:lnTo>
                  <a:lnTo>
                    <a:pt x="0" y="460"/>
                  </a:lnTo>
                  <a:lnTo>
                    <a:pt x="0" y="446"/>
                  </a:lnTo>
                  <a:lnTo>
                    <a:pt x="15" y="446"/>
                  </a:lnTo>
                  <a:close/>
                  <a:moveTo>
                    <a:pt x="15" y="474"/>
                  </a:moveTo>
                  <a:lnTo>
                    <a:pt x="15" y="488"/>
                  </a:lnTo>
                  <a:lnTo>
                    <a:pt x="0" y="488"/>
                  </a:lnTo>
                  <a:lnTo>
                    <a:pt x="0" y="474"/>
                  </a:lnTo>
                  <a:lnTo>
                    <a:pt x="15" y="474"/>
                  </a:lnTo>
                  <a:close/>
                  <a:moveTo>
                    <a:pt x="15" y="501"/>
                  </a:moveTo>
                  <a:lnTo>
                    <a:pt x="15" y="515"/>
                  </a:lnTo>
                  <a:lnTo>
                    <a:pt x="0" y="515"/>
                  </a:lnTo>
                  <a:lnTo>
                    <a:pt x="0" y="501"/>
                  </a:lnTo>
                  <a:lnTo>
                    <a:pt x="15" y="501"/>
                  </a:lnTo>
                  <a:close/>
                  <a:moveTo>
                    <a:pt x="15" y="529"/>
                  </a:moveTo>
                  <a:lnTo>
                    <a:pt x="15" y="543"/>
                  </a:lnTo>
                  <a:lnTo>
                    <a:pt x="0" y="543"/>
                  </a:lnTo>
                  <a:lnTo>
                    <a:pt x="0" y="529"/>
                  </a:lnTo>
                  <a:lnTo>
                    <a:pt x="15" y="529"/>
                  </a:lnTo>
                  <a:close/>
                  <a:moveTo>
                    <a:pt x="15" y="557"/>
                  </a:moveTo>
                  <a:lnTo>
                    <a:pt x="15" y="571"/>
                  </a:lnTo>
                  <a:lnTo>
                    <a:pt x="0" y="571"/>
                  </a:lnTo>
                  <a:lnTo>
                    <a:pt x="0" y="557"/>
                  </a:lnTo>
                  <a:lnTo>
                    <a:pt x="15" y="557"/>
                  </a:lnTo>
                  <a:close/>
                  <a:moveTo>
                    <a:pt x="15" y="585"/>
                  </a:moveTo>
                  <a:lnTo>
                    <a:pt x="15" y="599"/>
                  </a:lnTo>
                  <a:lnTo>
                    <a:pt x="0" y="599"/>
                  </a:lnTo>
                  <a:lnTo>
                    <a:pt x="0" y="585"/>
                  </a:lnTo>
                  <a:lnTo>
                    <a:pt x="15" y="585"/>
                  </a:lnTo>
                  <a:close/>
                  <a:moveTo>
                    <a:pt x="15" y="613"/>
                  </a:moveTo>
                  <a:lnTo>
                    <a:pt x="15" y="627"/>
                  </a:lnTo>
                  <a:lnTo>
                    <a:pt x="0" y="627"/>
                  </a:lnTo>
                  <a:lnTo>
                    <a:pt x="0" y="613"/>
                  </a:lnTo>
                  <a:lnTo>
                    <a:pt x="15" y="613"/>
                  </a:lnTo>
                  <a:close/>
                  <a:moveTo>
                    <a:pt x="15" y="641"/>
                  </a:moveTo>
                  <a:lnTo>
                    <a:pt x="15" y="655"/>
                  </a:lnTo>
                  <a:lnTo>
                    <a:pt x="0" y="655"/>
                  </a:lnTo>
                  <a:lnTo>
                    <a:pt x="0" y="641"/>
                  </a:lnTo>
                  <a:lnTo>
                    <a:pt x="15" y="641"/>
                  </a:lnTo>
                  <a:close/>
                  <a:moveTo>
                    <a:pt x="15" y="668"/>
                  </a:moveTo>
                  <a:lnTo>
                    <a:pt x="15" y="682"/>
                  </a:lnTo>
                  <a:lnTo>
                    <a:pt x="0" y="682"/>
                  </a:lnTo>
                  <a:lnTo>
                    <a:pt x="0" y="668"/>
                  </a:lnTo>
                  <a:lnTo>
                    <a:pt x="15" y="668"/>
                  </a:lnTo>
                  <a:close/>
                  <a:moveTo>
                    <a:pt x="15" y="696"/>
                  </a:moveTo>
                  <a:lnTo>
                    <a:pt x="15" y="710"/>
                  </a:lnTo>
                  <a:lnTo>
                    <a:pt x="0" y="710"/>
                  </a:lnTo>
                  <a:lnTo>
                    <a:pt x="0" y="696"/>
                  </a:lnTo>
                  <a:lnTo>
                    <a:pt x="15" y="696"/>
                  </a:lnTo>
                  <a:close/>
                  <a:moveTo>
                    <a:pt x="15" y="724"/>
                  </a:moveTo>
                  <a:lnTo>
                    <a:pt x="15" y="738"/>
                  </a:lnTo>
                  <a:lnTo>
                    <a:pt x="0" y="738"/>
                  </a:lnTo>
                  <a:lnTo>
                    <a:pt x="0" y="724"/>
                  </a:lnTo>
                  <a:lnTo>
                    <a:pt x="15" y="724"/>
                  </a:lnTo>
                  <a:close/>
                  <a:moveTo>
                    <a:pt x="15" y="752"/>
                  </a:moveTo>
                  <a:lnTo>
                    <a:pt x="15" y="766"/>
                  </a:lnTo>
                  <a:lnTo>
                    <a:pt x="0" y="766"/>
                  </a:lnTo>
                  <a:lnTo>
                    <a:pt x="0" y="752"/>
                  </a:lnTo>
                  <a:lnTo>
                    <a:pt x="15" y="752"/>
                  </a:lnTo>
                  <a:close/>
                  <a:moveTo>
                    <a:pt x="15" y="780"/>
                  </a:moveTo>
                  <a:lnTo>
                    <a:pt x="15" y="793"/>
                  </a:lnTo>
                  <a:lnTo>
                    <a:pt x="0" y="793"/>
                  </a:lnTo>
                  <a:lnTo>
                    <a:pt x="0" y="780"/>
                  </a:lnTo>
                  <a:lnTo>
                    <a:pt x="15" y="780"/>
                  </a:lnTo>
                  <a:close/>
                  <a:moveTo>
                    <a:pt x="15" y="808"/>
                  </a:moveTo>
                  <a:lnTo>
                    <a:pt x="15" y="822"/>
                  </a:lnTo>
                  <a:lnTo>
                    <a:pt x="0" y="822"/>
                  </a:lnTo>
                  <a:lnTo>
                    <a:pt x="0" y="808"/>
                  </a:lnTo>
                  <a:lnTo>
                    <a:pt x="15" y="808"/>
                  </a:lnTo>
                  <a:close/>
                  <a:moveTo>
                    <a:pt x="15" y="835"/>
                  </a:moveTo>
                  <a:lnTo>
                    <a:pt x="15" y="849"/>
                  </a:lnTo>
                  <a:lnTo>
                    <a:pt x="0" y="849"/>
                  </a:lnTo>
                  <a:lnTo>
                    <a:pt x="0" y="835"/>
                  </a:lnTo>
                  <a:lnTo>
                    <a:pt x="15" y="835"/>
                  </a:lnTo>
                  <a:close/>
                  <a:moveTo>
                    <a:pt x="15" y="863"/>
                  </a:moveTo>
                  <a:lnTo>
                    <a:pt x="15" y="877"/>
                  </a:lnTo>
                  <a:lnTo>
                    <a:pt x="0" y="877"/>
                  </a:lnTo>
                  <a:lnTo>
                    <a:pt x="0" y="863"/>
                  </a:lnTo>
                  <a:lnTo>
                    <a:pt x="15" y="863"/>
                  </a:lnTo>
                  <a:close/>
                  <a:moveTo>
                    <a:pt x="15" y="891"/>
                  </a:moveTo>
                  <a:lnTo>
                    <a:pt x="15" y="905"/>
                  </a:lnTo>
                  <a:lnTo>
                    <a:pt x="0" y="905"/>
                  </a:lnTo>
                  <a:lnTo>
                    <a:pt x="0" y="891"/>
                  </a:lnTo>
                  <a:lnTo>
                    <a:pt x="15" y="891"/>
                  </a:lnTo>
                  <a:close/>
                  <a:moveTo>
                    <a:pt x="15" y="919"/>
                  </a:moveTo>
                  <a:lnTo>
                    <a:pt x="15" y="933"/>
                  </a:lnTo>
                  <a:lnTo>
                    <a:pt x="0" y="933"/>
                  </a:lnTo>
                  <a:lnTo>
                    <a:pt x="0" y="919"/>
                  </a:lnTo>
                  <a:lnTo>
                    <a:pt x="15" y="919"/>
                  </a:lnTo>
                  <a:close/>
                  <a:moveTo>
                    <a:pt x="15" y="947"/>
                  </a:moveTo>
                  <a:lnTo>
                    <a:pt x="15" y="960"/>
                  </a:lnTo>
                  <a:lnTo>
                    <a:pt x="0" y="960"/>
                  </a:lnTo>
                  <a:lnTo>
                    <a:pt x="0" y="947"/>
                  </a:lnTo>
                  <a:lnTo>
                    <a:pt x="15" y="947"/>
                  </a:lnTo>
                  <a:close/>
                  <a:moveTo>
                    <a:pt x="15" y="974"/>
                  </a:moveTo>
                  <a:lnTo>
                    <a:pt x="15" y="988"/>
                  </a:lnTo>
                  <a:lnTo>
                    <a:pt x="0" y="988"/>
                  </a:lnTo>
                  <a:lnTo>
                    <a:pt x="0" y="974"/>
                  </a:lnTo>
                  <a:lnTo>
                    <a:pt x="15" y="974"/>
                  </a:lnTo>
                  <a:close/>
                  <a:moveTo>
                    <a:pt x="15" y="1002"/>
                  </a:moveTo>
                  <a:lnTo>
                    <a:pt x="15" y="1016"/>
                  </a:lnTo>
                  <a:lnTo>
                    <a:pt x="0" y="1016"/>
                  </a:lnTo>
                  <a:lnTo>
                    <a:pt x="0" y="1002"/>
                  </a:lnTo>
                  <a:lnTo>
                    <a:pt x="15" y="1002"/>
                  </a:lnTo>
                  <a:close/>
                  <a:moveTo>
                    <a:pt x="15" y="1030"/>
                  </a:moveTo>
                  <a:lnTo>
                    <a:pt x="15" y="1044"/>
                  </a:lnTo>
                  <a:lnTo>
                    <a:pt x="0" y="1044"/>
                  </a:lnTo>
                  <a:lnTo>
                    <a:pt x="0" y="1030"/>
                  </a:lnTo>
                  <a:lnTo>
                    <a:pt x="15" y="1030"/>
                  </a:lnTo>
                  <a:close/>
                  <a:moveTo>
                    <a:pt x="15" y="1058"/>
                  </a:moveTo>
                  <a:lnTo>
                    <a:pt x="15" y="1072"/>
                  </a:lnTo>
                  <a:lnTo>
                    <a:pt x="0" y="1072"/>
                  </a:lnTo>
                  <a:lnTo>
                    <a:pt x="0" y="1058"/>
                  </a:lnTo>
                  <a:lnTo>
                    <a:pt x="15" y="1058"/>
                  </a:lnTo>
                  <a:close/>
                  <a:moveTo>
                    <a:pt x="15" y="1086"/>
                  </a:moveTo>
                  <a:lnTo>
                    <a:pt x="15" y="1100"/>
                  </a:lnTo>
                  <a:lnTo>
                    <a:pt x="0" y="1100"/>
                  </a:lnTo>
                  <a:lnTo>
                    <a:pt x="0" y="1086"/>
                  </a:lnTo>
                  <a:lnTo>
                    <a:pt x="15" y="1086"/>
                  </a:lnTo>
                  <a:close/>
                  <a:moveTo>
                    <a:pt x="15" y="1114"/>
                  </a:moveTo>
                  <a:lnTo>
                    <a:pt x="15" y="1127"/>
                  </a:lnTo>
                  <a:lnTo>
                    <a:pt x="0" y="1127"/>
                  </a:lnTo>
                  <a:lnTo>
                    <a:pt x="0" y="1114"/>
                  </a:lnTo>
                  <a:lnTo>
                    <a:pt x="15" y="1114"/>
                  </a:lnTo>
                  <a:close/>
                  <a:moveTo>
                    <a:pt x="15" y="1141"/>
                  </a:moveTo>
                  <a:lnTo>
                    <a:pt x="15" y="1155"/>
                  </a:lnTo>
                  <a:lnTo>
                    <a:pt x="0" y="1155"/>
                  </a:lnTo>
                  <a:lnTo>
                    <a:pt x="0" y="1141"/>
                  </a:lnTo>
                  <a:lnTo>
                    <a:pt x="15" y="1141"/>
                  </a:lnTo>
                  <a:close/>
                  <a:moveTo>
                    <a:pt x="15" y="1169"/>
                  </a:moveTo>
                  <a:lnTo>
                    <a:pt x="15" y="1183"/>
                  </a:lnTo>
                  <a:lnTo>
                    <a:pt x="0" y="1183"/>
                  </a:lnTo>
                  <a:lnTo>
                    <a:pt x="0" y="1169"/>
                  </a:lnTo>
                  <a:lnTo>
                    <a:pt x="15" y="1169"/>
                  </a:lnTo>
                  <a:close/>
                  <a:moveTo>
                    <a:pt x="15" y="1197"/>
                  </a:moveTo>
                  <a:lnTo>
                    <a:pt x="15" y="1211"/>
                  </a:lnTo>
                  <a:lnTo>
                    <a:pt x="0" y="1211"/>
                  </a:lnTo>
                  <a:lnTo>
                    <a:pt x="0" y="1197"/>
                  </a:lnTo>
                  <a:lnTo>
                    <a:pt x="15" y="1197"/>
                  </a:lnTo>
                  <a:close/>
                  <a:moveTo>
                    <a:pt x="15" y="1225"/>
                  </a:moveTo>
                  <a:lnTo>
                    <a:pt x="15" y="1239"/>
                  </a:lnTo>
                  <a:lnTo>
                    <a:pt x="0" y="1239"/>
                  </a:lnTo>
                  <a:lnTo>
                    <a:pt x="0" y="1225"/>
                  </a:lnTo>
                  <a:lnTo>
                    <a:pt x="15" y="1225"/>
                  </a:lnTo>
                  <a:close/>
                  <a:moveTo>
                    <a:pt x="15" y="1253"/>
                  </a:moveTo>
                  <a:lnTo>
                    <a:pt x="15" y="1267"/>
                  </a:lnTo>
                  <a:lnTo>
                    <a:pt x="0" y="1267"/>
                  </a:lnTo>
                  <a:lnTo>
                    <a:pt x="0" y="1253"/>
                  </a:lnTo>
                  <a:lnTo>
                    <a:pt x="15" y="1253"/>
                  </a:lnTo>
                  <a:close/>
                  <a:moveTo>
                    <a:pt x="15" y="1281"/>
                  </a:moveTo>
                  <a:lnTo>
                    <a:pt x="15" y="1294"/>
                  </a:lnTo>
                  <a:lnTo>
                    <a:pt x="0" y="1294"/>
                  </a:lnTo>
                  <a:lnTo>
                    <a:pt x="0" y="1281"/>
                  </a:lnTo>
                  <a:lnTo>
                    <a:pt x="15" y="1281"/>
                  </a:lnTo>
                  <a:close/>
                  <a:moveTo>
                    <a:pt x="15" y="1308"/>
                  </a:moveTo>
                  <a:lnTo>
                    <a:pt x="15" y="1322"/>
                  </a:lnTo>
                  <a:lnTo>
                    <a:pt x="0" y="1322"/>
                  </a:lnTo>
                  <a:lnTo>
                    <a:pt x="0" y="1308"/>
                  </a:lnTo>
                  <a:lnTo>
                    <a:pt x="15" y="1308"/>
                  </a:lnTo>
                  <a:close/>
                  <a:moveTo>
                    <a:pt x="15" y="1336"/>
                  </a:moveTo>
                  <a:lnTo>
                    <a:pt x="15" y="1350"/>
                  </a:lnTo>
                  <a:lnTo>
                    <a:pt x="0" y="1350"/>
                  </a:lnTo>
                  <a:lnTo>
                    <a:pt x="0" y="1336"/>
                  </a:lnTo>
                  <a:lnTo>
                    <a:pt x="15" y="1336"/>
                  </a:lnTo>
                  <a:close/>
                  <a:moveTo>
                    <a:pt x="15" y="1364"/>
                  </a:moveTo>
                  <a:lnTo>
                    <a:pt x="15" y="1378"/>
                  </a:lnTo>
                  <a:lnTo>
                    <a:pt x="0" y="1378"/>
                  </a:lnTo>
                  <a:lnTo>
                    <a:pt x="0" y="1364"/>
                  </a:lnTo>
                  <a:lnTo>
                    <a:pt x="15" y="1364"/>
                  </a:lnTo>
                  <a:close/>
                  <a:moveTo>
                    <a:pt x="15" y="1392"/>
                  </a:moveTo>
                  <a:lnTo>
                    <a:pt x="15" y="1406"/>
                  </a:lnTo>
                  <a:lnTo>
                    <a:pt x="0" y="1406"/>
                  </a:lnTo>
                  <a:lnTo>
                    <a:pt x="0" y="1392"/>
                  </a:lnTo>
                  <a:lnTo>
                    <a:pt x="15" y="1392"/>
                  </a:lnTo>
                  <a:close/>
                  <a:moveTo>
                    <a:pt x="15" y="1420"/>
                  </a:moveTo>
                  <a:lnTo>
                    <a:pt x="15" y="1434"/>
                  </a:lnTo>
                  <a:lnTo>
                    <a:pt x="0" y="1434"/>
                  </a:lnTo>
                  <a:lnTo>
                    <a:pt x="0" y="1420"/>
                  </a:lnTo>
                  <a:lnTo>
                    <a:pt x="15" y="1420"/>
                  </a:lnTo>
                  <a:close/>
                  <a:moveTo>
                    <a:pt x="15" y="1448"/>
                  </a:moveTo>
                  <a:lnTo>
                    <a:pt x="15" y="1461"/>
                  </a:lnTo>
                  <a:lnTo>
                    <a:pt x="0" y="1461"/>
                  </a:lnTo>
                  <a:lnTo>
                    <a:pt x="0" y="1448"/>
                  </a:lnTo>
                  <a:lnTo>
                    <a:pt x="15" y="1448"/>
                  </a:lnTo>
                  <a:close/>
                  <a:moveTo>
                    <a:pt x="15" y="1475"/>
                  </a:moveTo>
                  <a:lnTo>
                    <a:pt x="15" y="1489"/>
                  </a:lnTo>
                  <a:lnTo>
                    <a:pt x="0" y="1489"/>
                  </a:lnTo>
                  <a:lnTo>
                    <a:pt x="0" y="1475"/>
                  </a:lnTo>
                  <a:lnTo>
                    <a:pt x="15" y="1475"/>
                  </a:lnTo>
                  <a:close/>
                  <a:moveTo>
                    <a:pt x="15" y="1503"/>
                  </a:moveTo>
                  <a:lnTo>
                    <a:pt x="15" y="1517"/>
                  </a:lnTo>
                  <a:lnTo>
                    <a:pt x="0" y="1517"/>
                  </a:lnTo>
                  <a:lnTo>
                    <a:pt x="0" y="1503"/>
                  </a:lnTo>
                  <a:lnTo>
                    <a:pt x="15" y="1503"/>
                  </a:lnTo>
                  <a:close/>
                  <a:moveTo>
                    <a:pt x="15" y="1531"/>
                  </a:moveTo>
                  <a:lnTo>
                    <a:pt x="15" y="1545"/>
                  </a:lnTo>
                  <a:lnTo>
                    <a:pt x="0" y="1545"/>
                  </a:lnTo>
                  <a:lnTo>
                    <a:pt x="0" y="1531"/>
                  </a:lnTo>
                  <a:lnTo>
                    <a:pt x="15" y="1531"/>
                  </a:lnTo>
                  <a:close/>
                  <a:moveTo>
                    <a:pt x="15" y="1559"/>
                  </a:moveTo>
                  <a:lnTo>
                    <a:pt x="15" y="1573"/>
                  </a:lnTo>
                  <a:lnTo>
                    <a:pt x="0" y="1573"/>
                  </a:lnTo>
                  <a:lnTo>
                    <a:pt x="0" y="1559"/>
                  </a:lnTo>
                  <a:lnTo>
                    <a:pt x="15" y="1559"/>
                  </a:lnTo>
                  <a:close/>
                  <a:moveTo>
                    <a:pt x="15" y="1587"/>
                  </a:moveTo>
                  <a:lnTo>
                    <a:pt x="15" y="1601"/>
                  </a:lnTo>
                  <a:lnTo>
                    <a:pt x="0" y="1601"/>
                  </a:lnTo>
                  <a:lnTo>
                    <a:pt x="0" y="1587"/>
                  </a:lnTo>
                  <a:lnTo>
                    <a:pt x="15" y="1587"/>
                  </a:lnTo>
                  <a:close/>
                  <a:moveTo>
                    <a:pt x="15" y="1615"/>
                  </a:moveTo>
                  <a:lnTo>
                    <a:pt x="15" y="1628"/>
                  </a:lnTo>
                  <a:lnTo>
                    <a:pt x="0" y="1628"/>
                  </a:lnTo>
                  <a:lnTo>
                    <a:pt x="0" y="1615"/>
                  </a:lnTo>
                  <a:lnTo>
                    <a:pt x="15" y="1615"/>
                  </a:lnTo>
                  <a:close/>
                  <a:moveTo>
                    <a:pt x="15" y="1642"/>
                  </a:moveTo>
                  <a:lnTo>
                    <a:pt x="15" y="1656"/>
                  </a:lnTo>
                  <a:lnTo>
                    <a:pt x="0" y="1656"/>
                  </a:lnTo>
                  <a:lnTo>
                    <a:pt x="0" y="1642"/>
                  </a:lnTo>
                  <a:lnTo>
                    <a:pt x="15" y="1642"/>
                  </a:lnTo>
                  <a:close/>
                  <a:moveTo>
                    <a:pt x="15" y="1670"/>
                  </a:moveTo>
                  <a:lnTo>
                    <a:pt x="15" y="1684"/>
                  </a:lnTo>
                  <a:lnTo>
                    <a:pt x="0" y="1684"/>
                  </a:lnTo>
                  <a:lnTo>
                    <a:pt x="0" y="1670"/>
                  </a:lnTo>
                  <a:lnTo>
                    <a:pt x="15" y="1670"/>
                  </a:lnTo>
                  <a:close/>
                  <a:moveTo>
                    <a:pt x="15" y="1698"/>
                  </a:moveTo>
                  <a:lnTo>
                    <a:pt x="15" y="1712"/>
                  </a:lnTo>
                  <a:lnTo>
                    <a:pt x="0" y="1712"/>
                  </a:lnTo>
                  <a:lnTo>
                    <a:pt x="0" y="1698"/>
                  </a:lnTo>
                  <a:lnTo>
                    <a:pt x="15" y="1698"/>
                  </a:lnTo>
                  <a:close/>
                  <a:moveTo>
                    <a:pt x="15" y="1726"/>
                  </a:moveTo>
                  <a:lnTo>
                    <a:pt x="15" y="1740"/>
                  </a:lnTo>
                  <a:lnTo>
                    <a:pt x="0" y="1740"/>
                  </a:lnTo>
                  <a:lnTo>
                    <a:pt x="0" y="1726"/>
                  </a:lnTo>
                  <a:lnTo>
                    <a:pt x="15" y="1726"/>
                  </a:lnTo>
                  <a:close/>
                  <a:moveTo>
                    <a:pt x="15" y="1754"/>
                  </a:moveTo>
                  <a:lnTo>
                    <a:pt x="15" y="1768"/>
                  </a:lnTo>
                  <a:lnTo>
                    <a:pt x="0" y="1768"/>
                  </a:lnTo>
                  <a:lnTo>
                    <a:pt x="0" y="1754"/>
                  </a:lnTo>
                  <a:lnTo>
                    <a:pt x="15" y="1754"/>
                  </a:lnTo>
                  <a:close/>
                  <a:moveTo>
                    <a:pt x="15" y="1782"/>
                  </a:moveTo>
                  <a:lnTo>
                    <a:pt x="15" y="1795"/>
                  </a:lnTo>
                  <a:lnTo>
                    <a:pt x="0" y="1795"/>
                  </a:lnTo>
                  <a:lnTo>
                    <a:pt x="0" y="1782"/>
                  </a:lnTo>
                  <a:lnTo>
                    <a:pt x="15" y="1782"/>
                  </a:lnTo>
                  <a:close/>
                  <a:moveTo>
                    <a:pt x="15" y="1809"/>
                  </a:moveTo>
                  <a:lnTo>
                    <a:pt x="15" y="1823"/>
                  </a:lnTo>
                  <a:lnTo>
                    <a:pt x="0" y="1823"/>
                  </a:lnTo>
                  <a:lnTo>
                    <a:pt x="0" y="1809"/>
                  </a:lnTo>
                  <a:lnTo>
                    <a:pt x="15" y="1809"/>
                  </a:lnTo>
                  <a:close/>
                  <a:moveTo>
                    <a:pt x="15" y="1837"/>
                  </a:moveTo>
                  <a:lnTo>
                    <a:pt x="15" y="1851"/>
                  </a:lnTo>
                  <a:lnTo>
                    <a:pt x="0" y="1851"/>
                  </a:lnTo>
                  <a:lnTo>
                    <a:pt x="0" y="1837"/>
                  </a:lnTo>
                  <a:lnTo>
                    <a:pt x="15" y="1837"/>
                  </a:lnTo>
                  <a:close/>
                  <a:moveTo>
                    <a:pt x="15" y="1865"/>
                  </a:moveTo>
                  <a:lnTo>
                    <a:pt x="15" y="1879"/>
                  </a:lnTo>
                  <a:lnTo>
                    <a:pt x="0" y="1879"/>
                  </a:lnTo>
                  <a:lnTo>
                    <a:pt x="0" y="1865"/>
                  </a:lnTo>
                  <a:lnTo>
                    <a:pt x="15" y="1865"/>
                  </a:lnTo>
                  <a:close/>
                  <a:moveTo>
                    <a:pt x="15" y="1893"/>
                  </a:moveTo>
                  <a:lnTo>
                    <a:pt x="15" y="1907"/>
                  </a:lnTo>
                  <a:lnTo>
                    <a:pt x="0" y="1907"/>
                  </a:lnTo>
                  <a:lnTo>
                    <a:pt x="0" y="1893"/>
                  </a:lnTo>
                  <a:lnTo>
                    <a:pt x="15" y="1893"/>
                  </a:lnTo>
                  <a:close/>
                  <a:moveTo>
                    <a:pt x="15" y="1921"/>
                  </a:moveTo>
                  <a:lnTo>
                    <a:pt x="15" y="1935"/>
                  </a:lnTo>
                  <a:lnTo>
                    <a:pt x="0" y="1935"/>
                  </a:lnTo>
                  <a:lnTo>
                    <a:pt x="0" y="1921"/>
                  </a:lnTo>
                  <a:lnTo>
                    <a:pt x="15" y="1921"/>
                  </a:lnTo>
                  <a:close/>
                  <a:moveTo>
                    <a:pt x="15" y="1949"/>
                  </a:moveTo>
                  <a:lnTo>
                    <a:pt x="15" y="1962"/>
                  </a:lnTo>
                  <a:lnTo>
                    <a:pt x="0" y="1962"/>
                  </a:lnTo>
                  <a:lnTo>
                    <a:pt x="0" y="1949"/>
                  </a:lnTo>
                  <a:lnTo>
                    <a:pt x="15" y="1949"/>
                  </a:lnTo>
                  <a:close/>
                  <a:moveTo>
                    <a:pt x="15" y="1976"/>
                  </a:moveTo>
                  <a:lnTo>
                    <a:pt x="15" y="1990"/>
                  </a:lnTo>
                  <a:lnTo>
                    <a:pt x="0" y="1990"/>
                  </a:lnTo>
                  <a:lnTo>
                    <a:pt x="0" y="1976"/>
                  </a:lnTo>
                  <a:lnTo>
                    <a:pt x="15" y="1976"/>
                  </a:lnTo>
                  <a:close/>
                  <a:moveTo>
                    <a:pt x="15" y="2004"/>
                  </a:moveTo>
                  <a:lnTo>
                    <a:pt x="15" y="2018"/>
                  </a:lnTo>
                  <a:lnTo>
                    <a:pt x="0" y="2018"/>
                  </a:lnTo>
                  <a:lnTo>
                    <a:pt x="0" y="2004"/>
                  </a:lnTo>
                  <a:lnTo>
                    <a:pt x="15" y="2004"/>
                  </a:lnTo>
                  <a:close/>
                  <a:moveTo>
                    <a:pt x="15" y="2032"/>
                  </a:moveTo>
                  <a:lnTo>
                    <a:pt x="15" y="2046"/>
                  </a:lnTo>
                  <a:lnTo>
                    <a:pt x="0" y="2046"/>
                  </a:lnTo>
                  <a:lnTo>
                    <a:pt x="0" y="2032"/>
                  </a:lnTo>
                  <a:lnTo>
                    <a:pt x="15" y="2032"/>
                  </a:lnTo>
                  <a:close/>
                  <a:moveTo>
                    <a:pt x="15" y="2060"/>
                  </a:moveTo>
                  <a:lnTo>
                    <a:pt x="15" y="2074"/>
                  </a:lnTo>
                  <a:lnTo>
                    <a:pt x="0" y="2074"/>
                  </a:lnTo>
                  <a:lnTo>
                    <a:pt x="0" y="2060"/>
                  </a:lnTo>
                  <a:lnTo>
                    <a:pt x="15" y="2060"/>
                  </a:lnTo>
                  <a:close/>
                  <a:moveTo>
                    <a:pt x="15" y="2087"/>
                  </a:moveTo>
                  <a:lnTo>
                    <a:pt x="15" y="2102"/>
                  </a:lnTo>
                  <a:lnTo>
                    <a:pt x="0" y="2102"/>
                  </a:lnTo>
                  <a:lnTo>
                    <a:pt x="0" y="2087"/>
                  </a:lnTo>
                  <a:lnTo>
                    <a:pt x="15" y="2087"/>
                  </a:lnTo>
                  <a:close/>
                  <a:moveTo>
                    <a:pt x="15" y="2116"/>
                  </a:moveTo>
                  <a:lnTo>
                    <a:pt x="15" y="2129"/>
                  </a:lnTo>
                  <a:lnTo>
                    <a:pt x="0" y="2129"/>
                  </a:lnTo>
                  <a:lnTo>
                    <a:pt x="0" y="2116"/>
                  </a:lnTo>
                  <a:lnTo>
                    <a:pt x="15" y="2116"/>
                  </a:lnTo>
                  <a:close/>
                  <a:moveTo>
                    <a:pt x="15" y="2143"/>
                  </a:moveTo>
                  <a:lnTo>
                    <a:pt x="15" y="2157"/>
                  </a:lnTo>
                  <a:lnTo>
                    <a:pt x="0" y="2157"/>
                  </a:lnTo>
                  <a:lnTo>
                    <a:pt x="0" y="2143"/>
                  </a:lnTo>
                  <a:lnTo>
                    <a:pt x="15" y="2143"/>
                  </a:lnTo>
                  <a:close/>
                  <a:moveTo>
                    <a:pt x="15" y="2171"/>
                  </a:moveTo>
                  <a:lnTo>
                    <a:pt x="15" y="2185"/>
                  </a:lnTo>
                  <a:lnTo>
                    <a:pt x="0" y="2185"/>
                  </a:lnTo>
                  <a:lnTo>
                    <a:pt x="0" y="2171"/>
                  </a:lnTo>
                  <a:lnTo>
                    <a:pt x="15" y="2171"/>
                  </a:lnTo>
                  <a:close/>
                  <a:moveTo>
                    <a:pt x="15" y="2199"/>
                  </a:moveTo>
                  <a:lnTo>
                    <a:pt x="15" y="2213"/>
                  </a:lnTo>
                  <a:lnTo>
                    <a:pt x="0" y="2213"/>
                  </a:lnTo>
                  <a:lnTo>
                    <a:pt x="0" y="2199"/>
                  </a:lnTo>
                  <a:lnTo>
                    <a:pt x="15" y="2199"/>
                  </a:lnTo>
                  <a:close/>
                  <a:moveTo>
                    <a:pt x="15" y="2227"/>
                  </a:moveTo>
                  <a:lnTo>
                    <a:pt x="15" y="2241"/>
                  </a:lnTo>
                  <a:lnTo>
                    <a:pt x="0" y="2241"/>
                  </a:lnTo>
                  <a:lnTo>
                    <a:pt x="0" y="2227"/>
                  </a:lnTo>
                  <a:lnTo>
                    <a:pt x="15" y="2227"/>
                  </a:lnTo>
                  <a:close/>
                  <a:moveTo>
                    <a:pt x="15" y="2254"/>
                  </a:moveTo>
                  <a:lnTo>
                    <a:pt x="15" y="2268"/>
                  </a:lnTo>
                  <a:lnTo>
                    <a:pt x="0" y="2268"/>
                  </a:lnTo>
                  <a:lnTo>
                    <a:pt x="0" y="2254"/>
                  </a:lnTo>
                  <a:lnTo>
                    <a:pt x="15" y="2254"/>
                  </a:lnTo>
                  <a:close/>
                  <a:moveTo>
                    <a:pt x="15" y="2283"/>
                  </a:moveTo>
                  <a:lnTo>
                    <a:pt x="15" y="2296"/>
                  </a:lnTo>
                  <a:lnTo>
                    <a:pt x="0" y="2296"/>
                  </a:lnTo>
                  <a:lnTo>
                    <a:pt x="0" y="2283"/>
                  </a:lnTo>
                  <a:lnTo>
                    <a:pt x="15" y="2283"/>
                  </a:lnTo>
                  <a:close/>
                  <a:moveTo>
                    <a:pt x="15" y="2310"/>
                  </a:moveTo>
                  <a:lnTo>
                    <a:pt x="15" y="2324"/>
                  </a:lnTo>
                  <a:lnTo>
                    <a:pt x="0" y="2324"/>
                  </a:lnTo>
                  <a:lnTo>
                    <a:pt x="0" y="2310"/>
                  </a:lnTo>
                  <a:lnTo>
                    <a:pt x="15" y="2310"/>
                  </a:lnTo>
                  <a:close/>
                  <a:moveTo>
                    <a:pt x="15" y="2338"/>
                  </a:moveTo>
                  <a:lnTo>
                    <a:pt x="15" y="2352"/>
                  </a:lnTo>
                  <a:lnTo>
                    <a:pt x="0" y="2352"/>
                  </a:lnTo>
                  <a:lnTo>
                    <a:pt x="0" y="2338"/>
                  </a:lnTo>
                  <a:lnTo>
                    <a:pt x="15" y="2338"/>
                  </a:lnTo>
                  <a:close/>
                  <a:moveTo>
                    <a:pt x="15" y="2366"/>
                  </a:moveTo>
                  <a:lnTo>
                    <a:pt x="15" y="2380"/>
                  </a:lnTo>
                  <a:lnTo>
                    <a:pt x="0" y="2380"/>
                  </a:lnTo>
                  <a:lnTo>
                    <a:pt x="0" y="2366"/>
                  </a:lnTo>
                  <a:lnTo>
                    <a:pt x="15" y="2366"/>
                  </a:lnTo>
                  <a:close/>
                  <a:moveTo>
                    <a:pt x="15" y="2394"/>
                  </a:moveTo>
                  <a:lnTo>
                    <a:pt x="15" y="2408"/>
                  </a:lnTo>
                  <a:lnTo>
                    <a:pt x="0" y="2408"/>
                  </a:lnTo>
                  <a:lnTo>
                    <a:pt x="0" y="2394"/>
                  </a:lnTo>
                  <a:lnTo>
                    <a:pt x="15" y="2394"/>
                  </a:lnTo>
                  <a:close/>
                  <a:moveTo>
                    <a:pt x="15" y="2421"/>
                  </a:moveTo>
                  <a:lnTo>
                    <a:pt x="15" y="2435"/>
                  </a:lnTo>
                  <a:lnTo>
                    <a:pt x="0" y="2435"/>
                  </a:lnTo>
                  <a:lnTo>
                    <a:pt x="0" y="2421"/>
                  </a:lnTo>
                  <a:lnTo>
                    <a:pt x="15" y="2421"/>
                  </a:lnTo>
                  <a:close/>
                  <a:moveTo>
                    <a:pt x="15" y="2449"/>
                  </a:moveTo>
                  <a:lnTo>
                    <a:pt x="15" y="2453"/>
                  </a:lnTo>
                  <a:lnTo>
                    <a:pt x="0" y="2453"/>
                  </a:lnTo>
                  <a:lnTo>
                    <a:pt x="0" y="2449"/>
                  </a:lnTo>
                  <a:lnTo>
                    <a:pt x="15" y="2449"/>
                  </a:lnTo>
                  <a:close/>
                </a:path>
              </a:pathLst>
            </a:custGeom>
            <a:solidFill>
              <a:srgbClr val="000000"/>
            </a:solidFill>
            <a:ln w="0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492" name="Freeform 34">
              <a:extLst>
                <a:ext uri="{FF2B5EF4-FFF2-40B4-BE49-F238E27FC236}">
                  <a16:creationId xmlns:a16="http://schemas.microsoft.com/office/drawing/2014/main" id="{D2EB979E-6F54-167D-C7E0-DB9F4872DC7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797908" y="3078501"/>
              <a:ext cx="18000" cy="3726773"/>
            </a:xfrm>
            <a:custGeom>
              <a:avLst/>
              <a:gdLst>
                <a:gd name="T0" fmla="*/ 14 w 14"/>
                <a:gd name="T1" fmla="*/ 42 h 2453"/>
                <a:gd name="T2" fmla="*/ 0 w 14"/>
                <a:gd name="T3" fmla="*/ 56 h 2453"/>
                <a:gd name="T4" fmla="*/ 14 w 14"/>
                <a:gd name="T5" fmla="*/ 112 h 2453"/>
                <a:gd name="T6" fmla="*/ 0 w 14"/>
                <a:gd name="T7" fmla="*/ 154 h 2453"/>
                <a:gd name="T8" fmla="*/ 14 w 14"/>
                <a:gd name="T9" fmla="*/ 167 h 2453"/>
                <a:gd name="T10" fmla="*/ 14 w 14"/>
                <a:gd name="T11" fmla="*/ 237 h 2453"/>
                <a:gd name="T12" fmla="*/ 0 w 14"/>
                <a:gd name="T13" fmla="*/ 251 h 2453"/>
                <a:gd name="T14" fmla="*/ 14 w 14"/>
                <a:gd name="T15" fmla="*/ 307 h 2453"/>
                <a:gd name="T16" fmla="*/ 0 w 14"/>
                <a:gd name="T17" fmla="*/ 348 h 2453"/>
                <a:gd name="T18" fmla="*/ 14 w 14"/>
                <a:gd name="T19" fmla="*/ 362 h 2453"/>
                <a:gd name="T20" fmla="*/ 14 w 14"/>
                <a:gd name="T21" fmla="*/ 432 h 2453"/>
                <a:gd name="T22" fmla="*/ 0 w 14"/>
                <a:gd name="T23" fmla="*/ 446 h 2453"/>
                <a:gd name="T24" fmla="*/ 14 w 14"/>
                <a:gd name="T25" fmla="*/ 501 h 2453"/>
                <a:gd name="T26" fmla="*/ 0 w 14"/>
                <a:gd name="T27" fmla="*/ 543 h 2453"/>
                <a:gd name="T28" fmla="*/ 14 w 14"/>
                <a:gd name="T29" fmla="*/ 557 h 2453"/>
                <a:gd name="T30" fmla="*/ 14 w 14"/>
                <a:gd name="T31" fmla="*/ 627 h 2453"/>
                <a:gd name="T32" fmla="*/ 0 w 14"/>
                <a:gd name="T33" fmla="*/ 641 h 2453"/>
                <a:gd name="T34" fmla="*/ 14 w 14"/>
                <a:gd name="T35" fmla="*/ 696 h 2453"/>
                <a:gd name="T36" fmla="*/ 0 w 14"/>
                <a:gd name="T37" fmla="*/ 738 h 2453"/>
                <a:gd name="T38" fmla="*/ 14 w 14"/>
                <a:gd name="T39" fmla="*/ 752 h 2453"/>
                <a:gd name="T40" fmla="*/ 14 w 14"/>
                <a:gd name="T41" fmla="*/ 822 h 2453"/>
                <a:gd name="T42" fmla="*/ 0 w 14"/>
                <a:gd name="T43" fmla="*/ 835 h 2453"/>
                <a:gd name="T44" fmla="*/ 14 w 14"/>
                <a:gd name="T45" fmla="*/ 891 h 2453"/>
                <a:gd name="T46" fmla="*/ 0 w 14"/>
                <a:gd name="T47" fmla="*/ 933 h 2453"/>
                <a:gd name="T48" fmla="*/ 14 w 14"/>
                <a:gd name="T49" fmla="*/ 947 h 2453"/>
                <a:gd name="T50" fmla="*/ 14 w 14"/>
                <a:gd name="T51" fmla="*/ 1016 h 2453"/>
                <a:gd name="T52" fmla="*/ 0 w 14"/>
                <a:gd name="T53" fmla="*/ 1030 h 2453"/>
                <a:gd name="T54" fmla="*/ 14 w 14"/>
                <a:gd name="T55" fmla="*/ 1086 h 2453"/>
                <a:gd name="T56" fmla="*/ 0 w 14"/>
                <a:gd name="T57" fmla="*/ 1127 h 2453"/>
                <a:gd name="T58" fmla="*/ 14 w 14"/>
                <a:gd name="T59" fmla="*/ 1141 h 2453"/>
                <a:gd name="T60" fmla="*/ 14 w 14"/>
                <a:gd name="T61" fmla="*/ 1211 h 2453"/>
                <a:gd name="T62" fmla="*/ 0 w 14"/>
                <a:gd name="T63" fmla="*/ 1225 h 2453"/>
                <a:gd name="T64" fmla="*/ 14 w 14"/>
                <a:gd name="T65" fmla="*/ 1281 h 2453"/>
                <a:gd name="T66" fmla="*/ 0 w 14"/>
                <a:gd name="T67" fmla="*/ 1322 h 2453"/>
                <a:gd name="T68" fmla="*/ 14 w 14"/>
                <a:gd name="T69" fmla="*/ 1336 h 2453"/>
                <a:gd name="T70" fmla="*/ 14 w 14"/>
                <a:gd name="T71" fmla="*/ 1406 h 2453"/>
                <a:gd name="T72" fmla="*/ 0 w 14"/>
                <a:gd name="T73" fmla="*/ 1420 h 2453"/>
                <a:gd name="T74" fmla="*/ 14 w 14"/>
                <a:gd name="T75" fmla="*/ 1475 h 2453"/>
                <a:gd name="T76" fmla="*/ 0 w 14"/>
                <a:gd name="T77" fmla="*/ 1517 h 2453"/>
                <a:gd name="T78" fmla="*/ 14 w 14"/>
                <a:gd name="T79" fmla="*/ 1531 h 2453"/>
                <a:gd name="T80" fmla="*/ 14 w 14"/>
                <a:gd name="T81" fmla="*/ 1601 h 2453"/>
                <a:gd name="T82" fmla="*/ 0 w 14"/>
                <a:gd name="T83" fmla="*/ 1615 h 2453"/>
                <a:gd name="T84" fmla="*/ 14 w 14"/>
                <a:gd name="T85" fmla="*/ 1670 h 2453"/>
                <a:gd name="T86" fmla="*/ 0 w 14"/>
                <a:gd name="T87" fmla="*/ 1712 h 2453"/>
                <a:gd name="T88" fmla="*/ 14 w 14"/>
                <a:gd name="T89" fmla="*/ 1726 h 2453"/>
                <a:gd name="T90" fmla="*/ 14 w 14"/>
                <a:gd name="T91" fmla="*/ 1795 h 2453"/>
                <a:gd name="T92" fmla="*/ 0 w 14"/>
                <a:gd name="T93" fmla="*/ 1809 h 2453"/>
                <a:gd name="T94" fmla="*/ 14 w 14"/>
                <a:gd name="T95" fmla="*/ 1865 h 2453"/>
                <a:gd name="T96" fmla="*/ 0 w 14"/>
                <a:gd name="T97" fmla="*/ 1907 h 2453"/>
                <a:gd name="T98" fmla="*/ 14 w 14"/>
                <a:gd name="T99" fmla="*/ 1921 h 2453"/>
                <a:gd name="T100" fmla="*/ 14 w 14"/>
                <a:gd name="T101" fmla="*/ 1990 h 2453"/>
                <a:gd name="T102" fmla="*/ 0 w 14"/>
                <a:gd name="T103" fmla="*/ 2004 h 2453"/>
                <a:gd name="T104" fmla="*/ 14 w 14"/>
                <a:gd name="T105" fmla="*/ 2060 h 2453"/>
                <a:gd name="T106" fmla="*/ 0 w 14"/>
                <a:gd name="T107" fmla="*/ 2102 h 2453"/>
                <a:gd name="T108" fmla="*/ 14 w 14"/>
                <a:gd name="T109" fmla="*/ 2116 h 2453"/>
                <a:gd name="T110" fmla="*/ 14 w 14"/>
                <a:gd name="T111" fmla="*/ 2185 h 2453"/>
                <a:gd name="T112" fmla="*/ 0 w 14"/>
                <a:gd name="T113" fmla="*/ 2199 h 2453"/>
                <a:gd name="T114" fmla="*/ 14 w 14"/>
                <a:gd name="T115" fmla="*/ 2254 h 2453"/>
                <a:gd name="T116" fmla="*/ 0 w 14"/>
                <a:gd name="T117" fmla="*/ 2296 h 2453"/>
                <a:gd name="T118" fmla="*/ 14 w 14"/>
                <a:gd name="T119" fmla="*/ 2310 h 2453"/>
                <a:gd name="T120" fmla="*/ 14 w 14"/>
                <a:gd name="T121" fmla="*/ 2380 h 2453"/>
                <a:gd name="T122" fmla="*/ 0 w 14"/>
                <a:gd name="T123" fmla="*/ 2394 h 2453"/>
                <a:gd name="T124" fmla="*/ 14 w 14"/>
                <a:gd name="T125" fmla="*/ 2449 h 24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4" h="2453">
                  <a:moveTo>
                    <a:pt x="14" y="0"/>
                  </a:moveTo>
                  <a:lnTo>
                    <a:pt x="14" y="14"/>
                  </a:lnTo>
                  <a:lnTo>
                    <a:pt x="0" y="14"/>
                  </a:lnTo>
                  <a:lnTo>
                    <a:pt x="0" y="0"/>
                  </a:lnTo>
                  <a:lnTo>
                    <a:pt x="14" y="0"/>
                  </a:lnTo>
                  <a:close/>
                  <a:moveTo>
                    <a:pt x="14" y="28"/>
                  </a:moveTo>
                  <a:lnTo>
                    <a:pt x="14" y="42"/>
                  </a:lnTo>
                  <a:lnTo>
                    <a:pt x="0" y="42"/>
                  </a:lnTo>
                  <a:lnTo>
                    <a:pt x="0" y="28"/>
                  </a:lnTo>
                  <a:lnTo>
                    <a:pt x="14" y="28"/>
                  </a:lnTo>
                  <a:close/>
                  <a:moveTo>
                    <a:pt x="14" y="56"/>
                  </a:moveTo>
                  <a:lnTo>
                    <a:pt x="14" y="70"/>
                  </a:lnTo>
                  <a:lnTo>
                    <a:pt x="0" y="70"/>
                  </a:lnTo>
                  <a:lnTo>
                    <a:pt x="0" y="56"/>
                  </a:lnTo>
                  <a:lnTo>
                    <a:pt x="14" y="56"/>
                  </a:lnTo>
                  <a:close/>
                  <a:moveTo>
                    <a:pt x="14" y="84"/>
                  </a:moveTo>
                  <a:lnTo>
                    <a:pt x="14" y="98"/>
                  </a:lnTo>
                  <a:lnTo>
                    <a:pt x="0" y="98"/>
                  </a:lnTo>
                  <a:lnTo>
                    <a:pt x="0" y="84"/>
                  </a:lnTo>
                  <a:lnTo>
                    <a:pt x="14" y="84"/>
                  </a:lnTo>
                  <a:close/>
                  <a:moveTo>
                    <a:pt x="14" y="112"/>
                  </a:moveTo>
                  <a:lnTo>
                    <a:pt x="14" y="126"/>
                  </a:lnTo>
                  <a:lnTo>
                    <a:pt x="0" y="126"/>
                  </a:lnTo>
                  <a:lnTo>
                    <a:pt x="0" y="112"/>
                  </a:lnTo>
                  <a:lnTo>
                    <a:pt x="14" y="112"/>
                  </a:lnTo>
                  <a:close/>
                  <a:moveTo>
                    <a:pt x="14" y="140"/>
                  </a:moveTo>
                  <a:lnTo>
                    <a:pt x="14" y="154"/>
                  </a:lnTo>
                  <a:lnTo>
                    <a:pt x="0" y="154"/>
                  </a:lnTo>
                  <a:lnTo>
                    <a:pt x="0" y="140"/>
                  </a:lnTo>
                  <a:lnTo>
                    <a:pt x="14" y="140"/>
                  </a:lnTo>
                  <a:close/>
                  <a:moveTo>
                    <a:pt x="14" y="167"/>
                  </a:moveTo>
                  <a:lnTo>
                    <a:pt x="14" y="181"/>
                  </a:lnTo>
                  <a:lnTo>
                    <a:pt x="0" y="181"/>
                  </a:lnTo>
                  <a:lnTo>
                    <a:pt x="0" y="167"/>
                  </a:lnTo>
                  <a:lnTo>
                    <a:pt x="14" y="167"/>
                  </a:lnTo>
                  <a:close/>
                  <a:moveTo>
                    <a:pt x="14" y="195"/>
                  </a:moveTo>
                  <a:lnTo>
                    <a:pt x="14" y="209"/>
                  </a:lnTo>
                  <a:lnTo>
                    <a:pt x="0" y="209"/>
                  </a:lnTo>
                  <a:lnTo>
                    <a:pt x="0" y="195"/>
                  </a:lnTo>
                  <a:lnTo>
                    <a:pt x="14" y="195"/>
                  </a:lnTo>
                  <a:close/>
                  <a:moveTo>
                    <a:pt x="14" y="223"/>
                  </a:moveTo>
                  <a:lnTo>
                    <a:pt x="14" y="237"/>
                  </a:lnTo>
                  <a:lnTo>
                    <a:pt x="0" y="237"/>
                  </a:lnTo>
                  <a:lnTo>
                    <a:pt x="0" y="223"/>
                  </a:lnTo>
                  <a:lnTo>
                    <a:pt x="14" y="223"/>
                  </a:lnTo>
                  <a:close/>
                  <a:moveTo>
                    <a:pt x="14" y="251"/>
                  </a:moveTo>
                  <a:lnTo>
                    <a:pt x="14" y="265"/>
                  </a:lnTo>
                  <a:lnTo>
                    <a:pt x="0" y="265"/>
                  </a:lnTo>
                  <a:lnTo>
                    <a:pt x="0" y="251"/>
                  </a:lnTo>
                  <a:lnTo>
                    <a:pt x="14" y="251"/>
                  </a:lnTo>
                  <a:close/>
                  <a:moveTo>
                    <a:pt x="14" y="279"/>
                  </a:moveTo>
                  <a:lnTo>
                    <a:pt x="14" y="293"/>
                  </a:lnTo>
                  <a:lnTo>
                    <a:pt x="0" y="293"/>
                  </a:lnTo>
                  <a:lnTo>
                    <a:pt x="0" y="279"/>
                  </a:lnTo>
                  <a:lnTo>
                    <a:pt x="14" y="279"/>
                  </a:lnTo>
                  <a:close/>
                  <a:moveTo>
                    <a:pt x="14" y="307"/>
                  </a:moveTo>
                  <a:lnTo>
                    <a:pt x="14" y="321"/>
                  </a:lnTo>
                  <a:lnTo>
                    <a:pt x="0" y="321"/>
                  </a:lnTo>
                  <a:lnTo>
                    <a:pt x="0" y="307"/>
                  </a:lnTo>
                  <a:lnTo>
                    <a:pt x="14" y="307"/>
                  </a:lnTo>
                  <a:close/>
                  <a:moveTo>
                    <a:pt x="14" y="334"/>
                  </a:moveTo>
                  <a:lnTo>
                    <a:pt x="14" y="348"/>
                  </a:lnTo>
                  <a:lnTo>
                    <a:pt x="0" y="348"/>
                  </a:lnTo>
                  <a:lnTo>
                    <a:pt x="0" y="334"/>
                  </a:lnTo>
                  <a:lnTo>
                    <a:pt x="14" y="334"/>
                  </a:lnTo>
                  <a:close/>
                  <a:moveTo>
                    <a:pt x="14" y="362"/>
                  </a:moveTo>
                  <a:lnTo>
                    <a:pt x="14" y="376"/>
                  </a:lnTo>
                  <a:lnTo>
                    <a:pt x="0" y="376"/>
                  </a:lnTo>
                  <a:lnTo>
                    <a:pt x="0" y="362"/>
                  </a:lnTo>
                  <a:lnTo>
                    <a:pt x="14" y="362"/>
                  </a:lnTo>
                  <a:close/>
                  <a:moveTo>
                    <a:pt x="14" y="390"/>
                  </a:moveTo>
                  <a:lnTo>
                    <a:pt x="14" y="404"/>
                  </a:lnTo>
                  <a:lnTo>
                    <a:pt x="0" y="404"/>
                  </a:lnTo>
                  <a:lnTo>
                    <a:pt x="0" y="390"/>
                  </a:lnTo>
                  <a:lnTo>
                    <a:pt x="14" y="390"/>
                  </a:lnTo>
                  <a:close/>
                  <a:moveTo>
                    <a:pt x="14" y="418"/>
                  </a:moveTo>
                  <a:lnTo>
                    <a:pt x="14" y="432"/>
                  </a:lnTo>
                  <a:lnTo>
                    <a:pt x="0" y="432"/>
                  </a:lnTo>
                  <a:lnTo>
                    <a:pt x="0" y="418"/>
                  </a:lnTo>
                  <a:lnTo>
                    <a:pt x="14" y="418"/>
                  </a:lnTo>
                  <a:close/>
                  <a:moveTo>
                    <a:pt x="14" y="446"/>
                  </a:moveTo>
                  <a:lnTo>
                    <a:pt x="14" y="460"/>
                  </a:lnTo>
                  <a:lnTo>
                    <a:pt x="0" y="460"/>
                  </a:lnTo>
                  <a:lnTo>
                    <a:pt x="0" y="446"/>
                  </a:lnTo>
                  <a:lnTo>
                    <a:pt x="14" y="446"/>
                  </a:lnTo>
                  <a:close/>
                  <a:moveTo>
                    <a:pt x="14" y="474"/>
                  </a:moveTo>
                  <a:lnTo>
                    <a:pt x="14" y="488"/>
                  </a:lnTo>
                  <a:lnTo>
                    <a:pt x="0" y="488"/>
                  </a:lnTo>
                  <a:lnTo>
                    <a:pt x="0" y="474"/>
                  </a:lnTo>
                  <a:lnTo>
                    <a:pt x="14" y="474"/>
                  </a:lnTo>
                  <a:close/>
                  <a:moveTo>
                    <a:pt x="14" y="501"/>
                  </a:moveTo>
                  <a:lnTo>
                    <a:pt x="14" y="515"/>
                  </a:lnTo>
                  <a:lnTo>
                    <a:pt x="0" y="515"/>
                  </a:lnTo>
                  <a:lnTo>
                    <a:pt x="0" y="501"/>
                  </a:lnTo>
                  <a:lnTo>
                    <a:pt x="14" y="501"/>
                  </a:lnTo>
                  <a:close/>
                  <a:moveTo>
                    <a:pt x="14" y="529"/>
                  </a:moveTo>
                  <a:lnTo>
                    <a:pt x="14" y="543"/>
                  </a:lnTo>
                  <a:lnTo>
                    <a:pt x="0" y="543"/>
                  </a:lnTo>
                  <a:lnTo>
                    <a:pt x="0" y="529"/>
                  </a:lnTo>
                  <a:lnTo>
                    <a:pt x="14" y="529"/>
                  </a:lnTo>
                  <a:close/>
                  <a:moveTo>
                    <a:pt x="14" y="557"/>
                  </a:moveTo>
                  <a:lnTo>
                    <a:pt x="14" y="571"/>
                  </a:lnTo>
                  <a:lnTo>
                    <a:pt x="0" y="571"/>
                  </a:lnTo>
                  <a:lnTo>
                    <a:pt x="0" y="557"/>
                  </a:lnTo>
                  <a:lnTo>
                    <a:pt x="14" y="557"/>
                  </a:lnTo>
                  <a:close/>
                  <a:moveTo>
                    <a:pt x="14" y="585"/>
                  </a:moveTo>
                  <a:lnTo>
                    <a:pt x="14" y="599"/>
                  </a:lnTo>
                  <a:lnTo>
                    <a:pt x="0" y="599"/>
                  </a:lnTo>
                  <a:lnTo>
                    <a:pt x="0" y="585"/>
                  </a:lnTo>
                  <a:lnTo>
                    <a:pt x="14" y="585"/>
                  </a:lnTo>
                  <a:close/>
                  <a:moveTo>
                    <a:pt x="14" y="613"/>
                  </a:moveTo>
                  <a:lnTo>
                    <a:pt x="14" y="627"/>
                  </a:lnTo>
                  <a:lnTo>
                    <a:pt x="0" y="627"/>
                  </a:lnTo>
                  <a:lnTo>
                    <a:pt x="0" y="613"/>
                  </a:lnTo>
                  <a:lnTo>
                    <a:pt x="14" y="613"/>
                  </a:lnTo>
                  <a:close/>
                  <a:moveTo>
                    <a:pt x="14" y="641"/>
                  </a:moveTo>
                  <a:lnTo>
                    <a:pt x="14" y="655"/>
                  </a:lnTo>
                  <a:lnTo>
                    <a:pt x="0" y="655"/>
                  </a:lnTo>
                  <a:lnTo>
                    <a:pt x="0" y="641"/>
                  </a:lnTo>
                  <a:lnTo>
                    <a:pt x="14" y="641"/>
                  </a:lnTo>
                  <a:close/>
                  <a:moveTo>
                    <a:pt x="14" y="668"/>
                  </a:moveTo>
                  <a:lnTo>
                    <a:pt x="14" y="682"/>
                  </a:lnTo>
                  <a:lnTo>
                    <a:pt x="0" y="682"/>
                  </a:lnTo>
                  <a:lnTo>
                    <a:pt x="0" y="668"/>
                  </a:lnTo>
                  <a:lnTo>
                    <a:pt x="14" y="668"/>
                  </a:lnTo>
                  <a:close/>
                  <a:moveTo>
                    <a:pt x="14" y="696"/>
                  </a:moveTo>
                  <a:lnTo>
                    <a:pt x="14" y="710"/>
                  </a:lnTo>
                  <a:lnTo>
                    <a:pt x="0" y="710"/>
                  </a:lnTo>
                  <a:lnTo>
                    <a:pt x="0" y="696"/>
                  </a:lnTo>
                  <a:lnTo>
                    <a:pt x="14" y="696"/>
                  </a:lnTo>
                  <a:close/>
                  <a:moveTo>
                    <a:pt x="14" y="724"/>
                  </a:moveTo>
                  <a:lnTo>
                    <a:pt x="14" y="738"/>
                  </a:lnTo>
                  <a:lnTo>
                    <a:pt x="0" y="738"/>
                  </a:lnTo>
                  <a:lnTo>
                    <a:pt x="0" y="724"/>
                  </a:lnTo>
                  <a:lnTo>
                    <a:pt x="14" y="724"/>
                  </a:lnTo>
                  <a:close/>
                  <a:moveTo>
                    <a:pt x="14" y="752"/>
                  </a:moveTo>
                  <a:lnTo>
                    <a:pt x="14" y="766"/>
                  </a:lnTo>
                  <a:lnTo>
                    <a:pt x="0" y="766"/>
                  </a:lnTo>
                  <a:lnTo>
                    <a:pt x="0" y="752"/>
                  </a:lnTo>
                  <a:lnTo>
                    <a:pt x="14" y="752"/>
                  </a:lnTo>
                  <a:close/>
                  <a:moveTo>
                    <a:pt x="14" y="780"/>
                  </a:moveTo>
                  <a:lnTo>
                    <a:pt x="14" y="793"/>
                  </a:lnTo>
                  <a:lnTo>
                    <a:pt x="0" y="793"/>
                  </a:lnTo>
                  <a:lnTo>
                    <a:pt x="0" y="780"/>
                  </a:lnTo>
                  <a:lnTo>
                    <a:pt x="14" y="780"/>
                  </a:lnTo>
                  <a:close/>
                  <a:moveTo>
                    <a:pt x="14" y="808"/>
                  </a:moveTo>
                  <a:lnTo>
                    <a:pt x="14" y="822"/>
                  </a:lnTo>
                  <a:lnTo>
                    <a:pt x="0" y="822"/>
                  </a:lnTo>
                  <a:lnTo>
                    <a:pt x="0" y="808"/>
                  </a:lnTo>
                  <a:lnTo>
                    <a:pt x="14" y="808"/>
                  </a:lnTo>
                  <a:close/>
                  <a:moveTo>
                    <a:pt x="14" y="835"/>
                  </a:moveTo>
                  <a:lnTo>
                    <a:pt x="14" y="849"/>
                  </a:lnTo>
                  <a:lnTo>
                    <a:pt x="0" y="849"/>
                  </a:lnTo>
                  <a:lnTo>
                    <a:pt x="0" y="835"/>
                  </a:lnTo>
                  <a:lnTo>
                    <a:pt x="14" y="835"/>
                  </a:lnTo>
                  <a:close/>
                  <a:moveTo>
                    <a:pt x="14" y="863"/>
                  </a:moveTo>
                  <a:lnTo>
                    <a:pt x="14" y="877"/>
                  </a:lnTo>
                  <a:lnTo>
                    <a:pt x="0" y="877"/>
                  </a:lnTo>
                  <a:lnTo>
                    <a:pt x="0" y="863"/>
                  </a:lnTo>
                  <a:lnTo>
                    <a:pt x="14" y="863"/>
                  </a:lnTo>
                  <a:close/>
                  <a:moveTo>
                    <a:pt x="14" y="891"/>
                  </a:moveTo>
                  <a:lnTo>
                    <a:pt x="14" y="905"/>
                  </a:lnTo>
                  <a:lnTo>
                    <a:pt x="0" y="905"/>
                  </a:lnTo>
                  <a:lnTo>
                    <a:pt x="0" y="891"/>
                  </a:lnTo>
                  <a:lnTo>
                    <a:pt x="14" y="891"/>
                  </a:lnTo>
                  <a:close/>
                  <a:moveTo>
                    <a:pt x="14" y="919"/>
                  </a:moveTo>
                  <a:lnTo>
                    <a:pt x="14" y="933"/>
                  </a:lnTo>
                  <a:lnTo>
                    <a:pt x="0" y="933"/>
                  </a:lnTo>
                  <a:lnTo>
                    <a:pt x="0" y="919"/>
                  </a:lnTo>
                  <a:lnTo>
                    <a:pt x="14" y="919"/>
                  </a:lnTo>
                  <a:close/>
                  <a:moveTo>
                    <a:pt x="14" y="947"/>
                  </a:moveTo>
                  <a:lnTo>
                    <a:pt x="14" y="960"/>
                  </a:lnTo>
                  <a:lnTo>
                    <a:pt x="0" y="960"/>
                  </a:lnTo>
                  <a:lnTo>
                    <a:pt x="0" y="947"/>
                  </a:lnTo>
                  <a:lnTo>
                    <a:pt x="14" y="947"/>
                  </a:lnTo>
                  <a:close/>
                  <a:moveTo>
                    <a:pt x="14" y="974"/>
                  </a:moveTo>
                  <a:lnTo>
                    <a:pt x="14" y="988"/>
                  </a:lnTo>
                  <a:lnTo>
                    <a:pt x="0" y="988"/>
                  </a:lnTo>
                  <a:lnTo>
                    <a:pt x="0" y="974"/>
                  </a:lnTo>
                  <a:lnTo>
                    <a:pt x="14" y="974"/>
                  </a:lnTo>
                  <a:close/>
                  <a:moveTo>
                    <a:pt x="14" y="1002"/>
                  </a:moveTo>
                  <a:lnTo>
                    <a:pt x="14" y="1016"/>
                  </a:lnTo>
                  <a:lnTo>
                    <a:pt x="0" y="1016"/>
                  </a:lnTo>
                  <a:lnTo>
                    <a:pt x="0" y="1002"/>
                  </a:lnTo>
                  <a:lnTo>
                    <a:pt x="14" y="1002"/>
                  </a:lnTo>
                  <a:close/>
                  <a:moveTo>
                    <a:pt x="14" y="1030"/>
                  </a:moveTo>
                  <a:lnTo>
                    <a:pt x="14" y="1044"/>
                  </a:lnTo>
                  <a:lnTo>
                    <a:pt x="0" y="1044"/>
                  </a:lnTo>
                  <a:lnTo>
                    <a:pt x="0" y="1030"/>
                  </a:lnTo>
                  <a:lnTo>
                    <a:pt x="14" y="1030"/>
                  </a:lnTo>
                  <a:close/>
                  <a:moveTo>
                    <a:pt x="14" y="1058"/>
                  </a:moveTo>
                  <a:lnTo>
                    <a:pt x="14" y="1072"/>
                  </a:lnTo>
                  <a:lnTo>
                    <a:pt x="0" y="1072"/>
                  </a:lnTo>
                  <a:lnTo>
                    <a:pt x="0" y="1058"/>
                  </a:lnTo>
                  <a:lnTo>
                    <a:pt x="14" y="1058"/>
                  </a:lnTo>
                  <a:close/>
                  <a:moveTo>
                    <a:pt x="14" y="1086"/>
                  </a:moveTo>
                  <a:lnTo>
                    <a:pt x="14" y="1100"/>
                  </a:lnTo>
                  <a:lnTo>
                    <a:pt x="0" y="1100"/>
                  </a:lnTo>
                  <a:lnTo>
                    <a:pt x="0" y="1086"/>
                  </a:lnTo>
                  <a:lnTo>
                    <a:pt x="14" y="1086"/>
                  </a:lnTo>
                  <a:close/>
                  <a:moveTo>
                    <a:pt x="14" y="1114"/>
                  </a:moveTo>
                  <a:lnTo>
                    <a:pt x="14" y="1127"/>
                  </a:lnTo>
                  <a:lnTo>
                    <a:pt x="0" y="1127"/>
                  </a:lnTo>
                  <a:lnTo>
                    <a:pt x="0" y="1114"/>
                  </a:lnTo>
                  <a:lnTo>
                    <a:pt x="14" y="1114"/>
                  </a:lnTo>
                  <a:close/>
                  <a:moveTo>
                    <a:pt x="14" y="1141"/>
                  </a:moveTo>
                  <a:lnTo>
                    <a:pt x="14" y="1155"/>
                  </a:lnTo>
                  <a:lnTo>
                    <a:pt x="0" y="1155"/>
                  </a:lnTo>
                  <a:lnTo>
                    <a:pt x="0" y="1141"/>
                  </a:lnTo>
                  <a:lnTo>
                    <a:pt x="14" y="1141"/>
                  </a:lnTo>
                  <a:close/>
                  <a:moveTo>
                    <a:pt x="14" y="1169"/>
                  </a:moveTo>
                  <a:lnTo>
                    <a:pt x="14" y="1183"/>
                  </a:lnTo>
                  <a:lnTo>
                    <a:pt x="0" y="1183"/>
                  </a:lnTo>
                  <a:lnTo>
                    <a:pt x="0" y="1169"/>
                  </a:lnTo>
                  <a:lnTo>
                    <a:pt x="14" y="1169"/>
                  </a:lnTo>
                  <a:close/>
                  <a:moveTo>
                    <a:pt x="14" y="1197"/>
                  </a:moveTo>
                  <a:lnTo>
                    <a:pt x="14" y="1211"/>
                  </a:lnTo>
                  <a:lnTo>
                    <a:pt x="0" y="1211"/>
                  </a:lnTo>
                  <a:lnTo>
                    <a:pt x="0" y="1197"/>
                  </a:lnTo>
                  <a:lnTo>
                    <a:pt x="14" y="1197"/>
                  </a:lnTo>
                  <a:close/>
                  <a:moveTo>
                    <a:pt x="14" y="1225"/>
                  </a:moveTo>
                  <a:lnTo>
                    <a:pt x="14" y="1239"/>
                  </a:lnTo>
                  <a:lnTo>
                    <a:pt x="0" y="1239"/>
                  </a:lnTo>
                  <a:lnTo>
                    <a:pt x="0" y="1225"/>
                  </a:lnTo>
                  <a:lnTo>
                    <a:pt x="14" y="1225"/>
                  </a:lnTo>
                  <a:close/>
                  <a:moveTo>
                    <a:pt x="14" y="1253"/>
                  </a:moveTo>
                  <a:lnTo>
                    <a:pt x="14" y="1267"/>
                  </a:lnTo>
                  <a:lnTo>
                    <a:pt x="0" y="1267"/>
                  </a:lnTo>
                  <a:lnTo>
                    <a:pt x="0" y="1253"/>
                  </a:lnTo>
                  <a:lnTo>
                    <a:pt x="14" y="1253"/>
                  </a:lnTo>
                  <a:close/>
                  <a:moveTo>
                    <a:pt x="14" y="1281"/>
                  </a:moveTo>
                  <a:lnTo>
                    <a:pt x="14" y="1294"/>
                  </a:lnTo>
                  <a:lnTo>
                    <a:pt x="0" y="1294"/>
                  </a:lnTo>
                  <a:lnTo>
                    <a:pt x="0" y="1281"/>
                  </a:lnTo>
                  <a:lnTo>
                    <a:pt x="14" y="1281"/>
                  </a:lnTo>
                  <a:close/>
                  <a:moveTo>
                    <a:pt x="14" y="1308"/>
                  </a:moveTo>
                  <a:lnTo>
                    <a:pt x="14" y="1322"/>
                  </a:lnTo>
                  <a:lnTo>
                    <a:pt x="0" y="1322"/>
                  </a:lnTo>
                  <a:lnTo>
                    <a:pt x="0" y="1308"/>
                  </a:lnTo>
                  <a:lnTo>
                    <a:pt x="14" y="1308"/>
                  </a:lnTo>
                  <a:close/>
                  <a:moveTo>
                    <a:pt x="14" y="1336"/>
                  </a:moveTo>
                  <a:lnTo>
                    <a:pt x="14" y="1350"/>
                  </a:lnTo>
                  <a:lnTo>
                    <a:pt x="0" y="1350"/>
                  </a:lnTo>
                  <a:lnTo>
                    <a:pt x="0" y="1336"/>
                  </a:lnTo>
                  <a:lnTo>
                    <a:pt x="14" y="1336"/>
                  </a:lnTo>
                  <a:close/>
                  <a:moveTo>
                    <a:pt x="14" y="1364"/>
                  </a:moveTo>
                  <a:lnTo>
                    <a:pt x="14" y="1378"/>
                  </a:lnTo>
                  <a:lnTo>
                    <a:pt x="0" y="1378"/>
                  </a:lnTo>
                  <a:lnTo>
                    <a:pt x="0" y="1364"/>
                  </a:lnTo>
                  <a:lnTo>
                    <a:pt x="14" y="1364"/>
                  </a:lnTo>
                  <a:close/>
                  <a:moveTo>
                    <a:pt x="14" y="1392"/>
                  </a:moveTo>
                  <a:lnTo>
                    <a:pt x="14" y="1406"/>
                  </a:lnTo>
                  <a:lnTo>
                    <a:pt x="0" y="1406"/>
                  </a:lnTo>
                  <a:lnTo>
                    <a:pt x="0" y="1392"/>
                  </a:lnTo>
                  <a:lnTo>
                    <a:pt x="14" y="1392"/>
                  </a:lnTo>
                  <a:close/>
                  <a:moveTo>
                    <a:pt x="14" y="1420"/>
                  </a:moveTo>
                  <a:lnTo>
                    <a:pt x="14" y="1434"/>
                  </a:lnTo>
                  <a:lnTo>
                    <a:pt x="0" y="1434"/>
                  </a:lnTo>
                  <a:lnTo>
                    <a:pt x="0" y="1420"/>
                  </a:lnTo>
                  <a:lnTo>
                    <a:pt x="14" y="1420"/>
                  </a:lnTo>
                  <a:close/>
                  <a:moveTo>
                    <a:pt x="14" y="1448"/>
                  </a:moveTo>
                  <a:lnTo>
                    <a:pt x="14" y="1461"/>
                  </a:lnTo>
                  <a:lnTo>
                    <a:pt x="0" y="1461"/>
                  </a:lnTo>
                  <a:lnTo>
                    <a:pt x="0" y="1448"/>
                  </a:lnTo>
                  <a:lnTo>
                    <a:pt x="14" y="1448"/>
                  </a:lnTo>
                  <a:close/>
                  <a:moveTo>
                    <a:pt x="14" y="1475"/>
                  </a:moveTo>
                  <a:lnTo>
                    <a:pt x="14" y="1489"/>
                  </a:lnTo>
                  <a:lnTo>
                    <a:pt x="0" y="1489"/>
                  </a:lnTo>
                  <a:lnTo>
                    <a:pt x="0" y="1475"/>
                  </a:lnTo>
                  <a:lnTo>
                    <a:pt x="14" y="1475"/>
                  </a:lnTo>
                  <a:close/>
                  <a:moveTo>
                    <a:pt x="14" y="1503"/>
                  </a:moveTo>
                  <a:lnTo>
                    <a:pt x="14" y="1517"/>
                  </a:lnTo>
                  <a:lnTo>
                    <a:pt x="0" y="1517"/>
                  </a:lnTo>
                  <a:lnTo>
                    <a:pt x="0" y="1503"/>
                  </a:lnTo>
                  <a:lnTo>
                    <a:pt x="14" y="1503"/>
                  </a:lnTo>
                  <a:close/>
                  <a:moveTo>
                    <a:pt x="14" y="1531"/>
                  </a:moveTo>
                  <a:lnTo>
                    <a:pt x="14" y="1545"/>
                  </a:lnTo>
                  <a:lnTo>
                    <a:pt x="0" y="1545"/>
                  </a:lnTo>
                  <a:lnTo>
                    <a:pt x="0" y="1531"/>
                  </a:lnTo>
                  <a:lnTo>
                    <a:pt x="14" y="1531"/>
                  </a:lnTo>
                  <a:close/>
                  <a:moveTo>
                    <a:pt x="14" y="1559"/>
                  </a:moveTo>
                  <a:lnTo>
                    <a:pt x="14" y="1573"/>
                  </a:lnTo>
                  <a:lnTo>
                    <a:pt x="0" y="1573"/>
                  </a:lnTo>
                  <a:lnTo>
                    <a:pt x="0" y="1559"/>
                  </a:lnTo>
                  <a:lnTo>
                    <a:pt x="14" y="1559"/>
                  </a:lnTo>
                  <a:close/>
                  <a:moveTo>
                    <a:pt x="14" y="1587"/>
                  </a:moveTo>
                  <a:lnTo>
                    <a:pt x="14" y="1601"/>
                  </a:lnTo>
                  <a:lnTo>
                    <a:pt x="0" y="1601"/>
                  </a:lnTo>
                  <a:lnTo>
                    <a:pt x="0" y="1587"/>
                  </a:lnTo>
                  <a:lnTo>
                    <a:pt x="14" y="1587"/>
                  </a:lnTo>
                  <a:close/>
                  <a:moveTo>
                    <a:pt x="14" y="1615"/>
                  </a:moveTo>
                  <a:lnTo>
                    <a:pt x="14" y="1628"/>
                  </a:lnTo>
                  <a:lnTo>
                    <a:pt x="0" y="1628"/>
                  </a:lnTo>
                  <a:lnTo>
                    <a:pt x="0" y="1615"/>
                  </a:lnTo>
                  <a:lnTo>
                    <a:pt x="14" y="1615"/>
                  </a:lnTo>
                  <a:close/>
                  <a:moveTo>
                    <a:pt x="14" y="1642"/>
                  </a:moveTo>
                  <a:lnTo>
                    <a:pt x="14" y="1656"/>
                  </a:lnTo>
                  <a:lnTo>
                    <a:pt x="0" y="1656"/>
                  </a:lnTo>
                  <a:lnTo>
                    <a:pt x="0" y="1642"/>
                  </a:lnTo>
                  <a:lnTo>
                    <a:pt x="14" y="1642"/>
                  </a:lnTo>
                  <a:close/>
                  <a:moveTo>
                    <a:pt x="14" y="1670"/>
                  </a:moveTo>
                  <a:lnTo>
                    <a:pt x="14" y="1684"/>
                  </a:lnTo>
                  <a:lnTo>
                    <a:pt x="0" y="1684"/>
                  </a:lnTo>
                  <a:lnTo>
                    <a:pt x="0" y="1670"/>
                  </a:lnTo>
                  <a:lnTo>
                    <a:pt x="14" y="1670"/>
                  </a:lnTo>
                  <a:close/>
                  <a:moveTo>
                    <a:pt x="14" y="1698"/>
                  </a:moveTo>
                  <a:lnTo>
                    <a:pt x="14" y="1712"/>
                  </a:lnTo>
                  <a:lnTo>
                    <a:pt x="0" y="1712"/>
                  </a:lnTo>
                  <a:lnTo>
                    <a:pt x="0" y="1698"/>
                  </a:lnTo>
                  <a:lnTo>
                    <a:pt x="14" y="1698"/>
                  </a:lnTo>
                  <a:close/>
                  <a:moveTo>
                    <a:pt x="14" y="1726"/>
                  </a:moveTo>
                  <a:lnTo>
                    <a:pt x="14" y="1740"/>
                  </a:lnTo>
                  <a:lnTo>
                    <a:pt x="0" y="1740"/>
                  </a:lnTo>
                  <a:lnTo>
                    <a:pt x="0" y="1726"/>
                  </a:lnTo>
                  <a:lnTo>
                    <a:pt x="14" y="1726"/>
                  </a:lnTo>
                  <a:close/>
                  <a:moveTo>
                    <a:pt x="14" y="1754"/>
                  </a:moveTo>
                  <a:lnTo>
                    <a:pt x="14" y="1768"/>
                  </a:lnTo>
                  <a:lnTo>
                    <a:pt x="0" y="1768"/>
                  </a:lnTo>
                  <a:lnTo>
                    <a:pt x="0" y="1754"/>
                  </a:lnTo>
                  <a:lnTo>
                    <a:pt x="14" y="1754"/>
                  </a:lnTo>
                  <a:close/>
                  <a:moveTo>
                    <a:pt x="14" y="1782"/>
                  </a:moveTo>
                  <a:lnTo>
                    <a:pt x="14" y="1795"/>
                  </a:lnTo>
                  <a:lnTo>
                    <a:pt x="0" y="1795"/>
                  </a:lnTo>
                  <a:lnTo>
                    <a:pt x="0" y="1782"/>
                  </a:lnTo>
                  <a:lnTo>
                    <a:pt x="14" y="1782"/>
                  </a:lnTo>
                  <a:close/>
                  <a:moveTo>
                    <a:pt x="14" y="1809"/>
                  </a:moveTo>
                  <a:lnTo>
                    <a:pt x="14" y="1823"/>
                  </a:lnTo>
                  <a:lnTo>
                    <a:pt x="0" y="1823"/>
                  </a:lnTo>
                  <a:lnTo>
                    <a:pt x="0" y="1809"/>
                  </a:lnTo>
                  <a:lnTo>
                    <a:pt x="14" y="1809"/>
                  </a:lnTo>
                  <a:close/>
                  <a:moveTo>
                    <a:pt x="14" y="1837"/>
                  </a:moveTo>
                  <a:lnTo>
                    <a:pt x="14" y="1851"/>
                  </a:lnTo>
                  <a:lnTo>
                    <a:pt x="0" y="1851"/>
                  </a:lnTo>
                  <a:lnTo>
                    <a:pt x="0" y="1837"/>
                  </a:lnTo>
                  <a:lnTo>
                    <a:pt x="14" y="1837"/>
                  </a:lnTo>
                  <a:close/>
                  <a:moveTo>
                    <a:pt x="14" y="1865"/>
                  </a:moveTo>
                  <a:lnTo>
                    <a:pt x="14" y="1879"/>
                  </a:lnTo>
                  <a:lnTo>
                    <a:pt x="0" y="1879"/>
                  </a:lnTo>
                  <a:lnTo>
                    <a:pt x="0" y="1865"/>
                  </a:lnTo>
                  <a:lnTo>
                    <a:pt x="14" y="1865"/>
                  </a:lnTo>
                  <a:close/>
                  <a:moveTo>
                    <a:pt x="14" y="1893"/>
                  </a:moveTo>
                  <a:lnTo>
                    <a:pt x="14" y="1907"/>
                  </a:lnTo>
                  <a:lnTo>
                    <a:pt x="0" y="1907"/>
                  </a:lnTo>
                  <a:lnTo>
                    <a:pt x="0" y="1893"/>
                  </a:lnTo>
                  <a:lnTo>
                    <a:pt x="14" y="1893"/>
                  </a:lnTo>
                  <a:close/>
                  <a:moveTo>
                    <a:pt x="14" y="1921"/>
                  </a:moveTo>
                  <a:lnTo>
                    <a:pt x="14" y="1935"/>
                  </a:lnTo>
                  <a:lnTo>
                    <a:pt x="0" y="1935"/>
                  </a:lnTo>
                  <a:lnTo>
                    <a:pt x="0" y="1921"/>
                  </a:lnTo>
                  <a:lnTo>
                    <a:pt x="14" y="1921"/>
                  </a:lnTo>
                  <a:close/>
                  <a:moveTo>
                    <a:pt x="14" y="1949"/>
                  </a:moveTo>
                  <a:lnTo>
                    <a:pt x="14" y="1962"/>
                  </a:lnTo>
                  <a:lnTo>
                    <a:pt x="0" y="1962"/>
                  </a:lnTo>
                  <a:lnTo>
                    <a:pt x="0" y="1949"/>
                  </a:lnTo>
                  <a:lnTo>
                    <a:pt x="14" y="1949"/>
                  </a:lnTo>
                  <a:close/>
                  <a:moveTo>
                    <a:pt x="14" y="1976"/>
                  </a:moveTo>
                  <a:lnTo>
                    <a:pt x="14" y="1990"/>
                  </a:lnTo>
                  <a:lnTo>
                    <a:pt x="0" y="1990"/>
                  </a:lnTo>
                  <a:lnTo>
                    <a:pt x="0" y="1976"/>
                  </a:lnTo>
                  <a:lnTo>
                    <a:pt x="14" y="1976"/>
                  </a:lnTo>
                  <a:close/>
                  <a:moveTo>
                    <a:pt x="14" y="2004"/>
                  </a:moveTo>
                  <a:lnTo>
                    <a:pt x="14" y="2018"/>
                  </a:lnTo>
                  <a:lnTo>
                    <a:pt x="0" y="2018"/>
                  </a:lnTo>
                  <a:lnTo>
                    <a:pt x="0" y="2004"/>
                  </a:lnTo>
                  <a:lnTo>
                    <a:pt x="14" y="2004"/>
                  </a:lnTo>
                  <a:close/>
                  <a:moveTo>
                    <a:pt x="14" y="2032"/>
                  </a:moveTo>
                  <a:lnTo>
                    <a:pt x="14" y="2046"/>
                  </a:lnTo>
                  <a:lnTo>
                    <a:pt x="0" y="2046"/>
                  </a:lnTo>
                  <a:lnTo>
                    <a:pt x="0" y="2032"/>
                  </a:lnTo>
                  <a:lnTo>
                    <a:pt x="14" y="2032"/>
                  </a:lnTo>
                  <a:close/>
                  <a:moveTo>
                    <a:pt x="14" y="2060"/>
                  </a:moveTo>
                  <a:lnTo>
                    <a:pt x="14" y="2074"/>
                  </a:lnTo>
                  <a:lnTo>
                    <a:pt x="0" y="2074"/>
                  </a:lnTo>
                  <a:lnTo>
                    <a:pt x="0" y="2060"/>
                  </a:lnTo>
                  <a:lnTo>
                    <a:pt x="14" y="2060"/>
                  </a:lnTo>
                  <a:close/>
                  <a:moveTo>
                    <a:pt x="14" y="2087"/>
                  </a:moveTo>
                  <a:lnTo>
                    <a:pt x="14" y="2102"/>
                  </a:lnTo>
                  <a:lnTo>
                    <a:pt x="0" y="2102"/>
                  </a:lnTo>
                  <a:lnTo>
                    <a:pt x="0" y="2087"/>
                  </a:lnTo>
                  <a:lnTo>
                    <a:pt x="14" y="2087"/>
                  </a:lnTo>
                  <a:close/>
                  <a:moveTo>
                    <a:pt x="14" y="2116"/>
                  </a:moveTo>
                  <a:lnTo>
                    <a:pt x="14" y="2129"/>
                  </a:lnTo>
                  <a:lnTo>
                    <a:pt x="0" y="2129"/>
                  </a:lnTo>
                  <a:lnTo>
                    <a:pt x="0" y="2116"/>
                  </a:lnTo>
                  <a:lnTo>
                    <a:pt x="14" y="2116"/>
                  </a:lnTo>
                  <a:close/>
                  <a:moveTo>
                    <a:pt x="14" y="2143"/>
                  </a:moveTo>
                  <a:lnTo>
                    <a:pt x="14" y="2157"/>
                  </a:lnTo>
                  <a:lnTo>
                    <a:pt x="0" y="2157"/>
                  </a:lnTo>
                  <a:lnTo>
                    <a:pt x="0" y="2143"/>
                  </a:lnTo>
                  <a:lnTo>
                    <a:pt x="14" y="2143"/>
                  </a:lnTo>
                  <a:close/>
                  <a:moveTo>
                    <a:pt x="14" y="2171"/>
                  </a:moveTo>
                  <a:lnTo>
                    <a:pt x="14" y="2185"/>
                  </a:lnTo>
                  <a:lnTo>
                    <a:pt x="0" y="2185"/>
                  </a:lnTo>
                  <a:lnTo>
                    <a:pt x="0" y="2171"/>
                  </a:lnTo>
                  <a:lnTo>
                    <a:pt x="14" y="2171"/>
                  </a:lnTo>
                  <a:close/>
                  <a:moveTo>
                    <a:pt x="14" y="2199"/>
                  </a:moveTo>
                  <a:lnTo>
                    <a:pt x="14" y="2213"/>
                  </a:lnTo>
                  <a:lnTo>
                    <a:pt x="0" y="2213"/>
                  </a:lnTo>
                  <a:lnTo>
                    <a:pt x="0" y="2199"/>
                  </a:lnTo>
                  <a:lnTo>
                    <a:pt x="14" y="2199"/>
                  </a:lnTo>
                  <a:close/>
                  <a:moveTo>
                    <a:pt x="14" y="2227"/>
                  </a:moveTo>
                  <a:lnTo>
                    <a:pt x="14" y="2241"/>
                  </a:lnTo>
                  <a:lnTo>
                    <a:pt x="0" y="2241"/>
                  </a:lnTo>
                  <a:lnTo>
                    <a:pt x="0" y="2227"/>
                  </a:lnTo>
                  <a:lnTo>
                    <a:pt x="14" y="2227"/>
                  </a:lnTo>
                  <a:close/>
                  <a:moveTo>
                    <a:pt x="14" y="2254"/>
                  </a:moveTo>
                  <a:lnTo>
                    <a:pt x="14" y="2268"/>
                  </a:lnTo>
                  <a:lnTo>
                    <a:pt x="0" y="2268"/>
                  </a:lnTo>
                  <a:lnTo>
                    <a:pt x="0" y="2254"/>
                  </a:lnTo>
                  <a:lnTo>
                    <a:pt x="14" y="2254"/>
                  </a:lnTo>
                  <a:close/>
                  <a:moveTo>
                    <a:pt x="14" y="2283"/>
                  </a:moveTo>
                  <a:lnTo>
                    <a:pt x="14" y="2296"/>
                  </a:lnTo>
                  <a:lnTo>
                    <a:pt x="0" y="2296"/>
                  </a:lnTo>
                  <a:lnTo>
                    <a:pt x="0" y="2283"/>
                  </a:lnTo>
                  <a:lnTo>
                    <a:pt x="14" y="2283"/>
                  </a:lnTo>
                  <a:close/>
                  <a:moveTo>
                    <a:pt x="14" y="2310"/>
                  </a:moveTo>
                  <a:lnTo>
                    <a:pt x="14" y="2324"/>
                  </a:lnTo>
                  <a:lnTo>
                    <a:pt x="0" y="2324"/>
                  </a:lnTo>
                  <a:lnTo>
                    <a:pt x="0" y="2310"/>
                  </a:lnTo>
                  <a:lnTo>
                    <a:pt x="14" y="2310"/>
                  </a:lnTo>
                  <a:close/>
                  <a:moveTo>
                    <a:pt x="14" y="2338"/>
                  </a:moveTo>
                  <a:lnTo>
                    <a:pt x="14" y="2352"/>
                  </a:lnTo>
                  <a:lnTo>
                    <a:pt x="0" y="2352"/>
                  </a:lnTo>
                  <a:lnTo>
                    <a:pt x="0" y="2338"/>
                  </a:lnTo>
                  <a:lnTo>
                    <a:pt x="14" y="2338"/>
                  </a:lnTo>
                  <a:close/>
                  <a:moveTo>
                    <a:pt x="14" y="2366"/>
                  </a:moveTo>
                  <a:lnTo>
                    <a:pt x="14" y="2380"/>
                  </a:lnTo>
                  <a:lnTo>
                    <a:pt x="0" y="2380"/>
                  </a:lnTo>
                  <a:lnTo>
                    <a:pt x="0" y="2366"/>
                  </a:lnTo>
                  <a:lnTo>
                    <a:pt x="14" y="2366"/>
                  </a:lnTo>
                  <a:close/>
                  <a:moveTo>
                    <a:pt x="14" y="2394"/>
                  </a:moveTo>
                  <a:lnTo>
                    <a:pt x="14" y="2408"/>
                  </a:lnTo>
                  <a:lnTo>
                    <a:pt x="0" y="2408"/>
                  </a:lnTo>
                  <a:lnTo>
                    <a:pt x="0" y="2394"/>
                  </a:lnTo>
                  <a:lnTo>
                    <a:pt x="14" y="2394"/>
                  </a:lnTo>
                  <a:close/>
                  <a:moveTo>
                    <a:pt x="14" y="2421"/>
                  </a:moveTo>
                  <a:lnTo>
                    <a:pt x="14" y="2435"/>
                  </a:lnTo>
                  <a:lnTo>
                    <a:pt x="0" y="2435"/>
                  </a:lnTo>
                  <a:lnTo>
                    <a:pt x="0" y="2421"/>
                  </a:lnTo>
                  <a:lnTo>
                    <a:pt x="14" y="2421"/>
                  </a:lnTo>
                  <a:close/>
                  <a:moveTo>
                    <a:pt x="14" y="2449"/>
                  </a:moveTo>
                  <a:lnTo>
                    <a:pt x="14" y="2453"/>
                  </a:lnTo>
                  <a:lnTo>
                    <a:pt x="0" y="2453"/>
                  </a:lnTo>
                  <a:lnTo>
                    <a:pt x="0" y="2449"/>
                  </a:lnTo>
                  <a:lnTo>
                    <a:pt x="14" y="2449"/>
                  </a:lnTo>
                  <a:close/>
                </a:path>
              </a:pathLst>
            </a:custGeom>
            <a:solidFill>
              <a:srgbClr val="000000"/>
            </a:solidFill>
            <a:ln w="0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493" name="Freeform 39">
              <a:extLst>
                <a:ext uri="{FF2B5EF4-FFF2-40B4-BE49-F238E27FC236}">
                  <a16:creationId xmlns:a16="http://schemas.microsoft.com/office/drawing/2014/main" id="{AF5A2FB4-92F6-69A9-CC1B-DDB7B275BB5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6099" y="3292719"/>
              <a:ext cx="285623" cy="633537"/>
            </a:xfrm>
            <a:custGeom>
              <a:avLst/>
              <a:gdLst>
                <a:gd name="T0" fmla="*/ 0 w 188"/>
                <a:gd name="T1" fmla="*/ 278 h 417"/>
                <a:gd name="T2" fmla="*/ 63 w 188"/>
                <a:gd name="T3" fmla="*/ 209 h 417"/>
                <a:gd name="T4" fmla="*/ 0 w 188"/>
                <a:gd name="T5" fmla="*/ 139 h 417"/>
                <a:gd name="T6" fmla="*/ 0 w 188"/>
                <a:gd name="T7" fmla="*/ 0 h 417"/>
                <a:gd name="T8" fmla="*/ 188 w 188"/>
                <a:gd name="T9" fmla="*/ 139 h 417"/>
                <a:gd name="T10" fmla="*/ 188 w 188"/>
                <a:gd name="T11" fmla="*/ 278 h 417"/>
                <a:gd name="T12" fmla="*/ 0 w 188"/>
                <a:gd name="T13" fmla="*/ 417 h 417"/>
                <a:gd name="T14" fmla="*/ 0 w 188"/>
                <a:gd name="T15" fmla="*/ 278 h 4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88" h="417">
                  <a:moveTo>
                    <a:pt x="0" y="278"/>
                  </a:moveTo>
                  <a:lnTo>
                    <a:pt x="63" y="209"/>
                  </a:lnTo>
                  <a:lnTo>
                    <a:pt x="0" y="139"/>
                  </a:lnTo>
                  <a:lnTo>
                    <a:pt x="0" y="0"/>
                  </a:lnTo>
                  <a:lnTo>
                    <a:pt x="188" y="139"/>
                  </a:lnTo>
                  <a:lnTo>
                    <a:pt x="188" y="278"/>
                  </a:lnTo>
                  <a:lnTo>
                    <a:pt x="0" y="417"/>
                  </a:lnTo>
                  <a:lnTo>
                    <a:pt x="0" y="278"/>
                  </a:lnTo>
                </a:path>
              </a:pathLst>
            </a:custGeom>
            <a:noFill/>
            <a:ln w="222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494" name="Rectangle 40">
              <a:extLst>
                <a:ext uri="{FF2B5EF4-FFF2-40B4-BE49-F238E27FC236}">
                  <a16:creationId xmlns:a16="http://schemas.microsoft.com/office/drawing/2014/main" id="{5FE24197-3DA6-8F1F-90BB-72354415316F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3308590" y="3503787"/>
              <a:ext cx="635054" cy="20988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1400" u="none" strike="noStrike" cap="none" normalizeH="0" baseline="0" dirty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  <a:ea typeface="SimHei" panose="02010609060101010101" pitchFamily="49" charset="-122"/>
                </a:rPr>
                <a:t>ALU</a:t>
              </a:r>
              <a:endParaRPr kumimoji="0" lang="zh-CN" altLang="zh-CN" sz="140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endParaRPr>
            </a:p>
          </p:txBody>
        </p:sp>
        <p:sp>
          <p:nvSpPr>
            <p:cNvPr id="495" name="Rectangle 41">
              <a:extLst>
                <a:ext uri="{FF2B5EF4-FFF2-40B4-BE49-F238E27FC236}">
                  <a16:creationId xmlns:a16="http://schemas.microsoft.com/office/drawing/2014/main" id="{0147F1E0-C229-53C9-CCFD-40A3C70995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14850" y="3500858"/>
              <a:ext cx="193640" cy="20988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1400" u="none" strike="noStrike" cap="none" normalizeH="0" baseline="0" dirty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  <a:ea typeface="SimHei" panose="02010609060101010101" pitchFamily="49" charset="-122"/>
                </a:rPr>
                <a:t>IM</a:t>
              </a:r>
              <a:endParaRPr kumimoji="0" lang="zh-CN" altLang="zh-CN" sz="180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endParaRPr>
            </a:p>
          </p:txBody>
        </p:sp>
        <p:sp>
          <p:nvSpPr>
            <p:cNvPr id="496" name="Freeform 42">
              <a:extLst>
                <a:ext uri="{FF2B5EF4-FFF2-40B4-BE49-F238E27FC236}">
                  <a16:creationId xmlns:a16="http://schemas.microsoft.com/office/drawing/2014/main" id="{FE4CA0DE-0D6B-6881-E8F7-6EC1634DCCE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7795" y="3420338"/>
              <a:ext cx="226719" cy="379818"/>
            </a:xfrm>
            <a:custGeom>
              <a:avLst/>
              <a:gdLst>
                <a:gd name="T0" fmla="*/ 155 w 155"/>
                <a:gd name="T1" fmla="*/ 0 h 250"/>
                <a:gd name="T2" fmla="*/ 0 w 155"/>
                <a:gd name="T3" fmla="*/ 0 h 250"/>
                <a:gd name="T4" fmla="*/ 0 w 155"/>
                <a:gd name="T5" fmla="*/ 250 h 250"/>
                <a:gd name="T6" fmla="*/ 155 w 155"/>
                <a:gd name="T7" fmla="*/ 250 h 2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55" h="250">
                  <a:moveTo>
                    <a:pt x="155" y="0"/>
                  </a:moveTo>
                  <a:lnTo>
                    <a:pt x="0" y="0"/>
                  </a:lnTo>
                  <a:lnTo>
                    <a:pt x="0" y="250"/>
                  </a:lnTo>
                  <a:lnTo>
                    <a:pt x="155" y="250"/>
                  </a:lnTo>
                </a:path>
              </a:pathLst>
            </a:custGeom>
            <a:noFill/>
            <a:ln w="222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497" name="Freeform 43">
              <a:extLst>
                <a:ext uri="{FF2B5EF4-FFF2-40B4-BE49-F238E27FC236}">
                  <a16:creationId xmlns:a16="http://schemas.microsoft.com/office/drawing/2014/main" id="{BE1DDCAD-54D2-D11A-55AC-F5C191DD240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6033" y="3420338"/>
              <a:ext cx="227891" cy="379818"/>
            </a:xfrm>
            <a:custGeom>
              <a:avLst/>
              <a:gdLst>
                <a:gd name="T0" fmla="*/ 0 w 150"/>
                <a:gd name="T1" fmla="*/ 0 h 250"/>
                <a:gd name="T2" fmla="*/ 150 w 150"/>
                <a:gd name="T3" fmla="*/ 0 h 250"/>
                <a:gd name="T4" fmla="*/ 150 w 150"/>
                <a:gd name="T5" fmla="*/ 250 h 250"/>
                <a:gd name="T6" fmla="*/ 0 w 150"/>
                <a:gd name="T7" fmla="*/ 250 h 2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50" h="250">
                  <a:moveTo>
                    <a:pt x="0" y="0"/>
                  </a:moveTo>
                  <a:lnTo>
                    <a:pt x="150" y="0"/>
                  </a:lnTo>
                  <a:lnTo>
                    <a:pt x="150" y="250"/>
                  </a:lnTo>
                  <a:lnTo>
                    <a:pt x="0" y="250"/>
                  </a:lnTo>
                </a:path>
              </a:pathLst>
            </a:custGeom>
            <a:noFill/>
            <a:ln w="222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498" name="Rectangle 44">
              <a:extLst>
                <a:ext uri="{FF2B5EF4-FFF2-40B4-BE49-F238E27FC236}">
                  <a16:creationId xmlns:a16="http://schemas.microsoft.com/office/drawing/2014/main" id="{846D4930-A21F-E900-873D-1998C5EC1D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51020" y="3492351"/>
              <a:ext cx="320132" cy="20988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1400" u="none" strike="noStrike" cap="none" normalizeH="0" baseline="0" dirty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  <a:ea typeface="SimHei" panose="02010609060101010101" pitchFamily="49" charset="-122"/>
                </a:rPr>
                <a:t>Reg</a:t>
              </a:r>
              <a:endParaRPr kumimoji="0" lang="zh-CN" altLang="zh-CN" sz="180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endParaRPr>
            </a:p>
          </p:txBody>
        </p:sp>
        <p:sp>
          <p:nvSpPr>
            <p:cNvPr id="499" name="Freeform 45">
              <a:extLst>
                <a:ext uri="{FF2B5EF4-FFF2-40B4-BE49-F238E27FC236}">
                  <a16:creationId xmlns:a16="http://schemas.microsoft.com/office/drawing/2014/main" id="{50A25799-0B83-DC33-30E2-DB7EB41DA37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8005" y="3420338"/>
              <a:ext cx="203582" cy="379818"/>
            </a:xfrm>
            <a:custGeom>
              <a:avLst/>
              <a:gdLst>
                <a:gd name="T0" fmla="*/ 134 w 134"/>
                <a:gd name="T1" fmla="*/ 0 h 250"/>
                <a:gd name="T2" fmla="*/ 0 w 134"/>
                <a:gd name="T3" fmla="*/ 0 h 250"/>
                <a:gd name="T4" fmla="*/ 0 w 134"/>
                <a:gd name="T5" fmla="*/ 250 h 250"/>
                <a:gd name="T6" fmla="*/ 134 w 134"/>
                <a:gd name="T7" fmla="*/ 250 h 2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4" h="250">
                  <a:moveTo>
                    <a:pt x="134" y="0"/>
                  </a:moveTo>
                  <a:lnTo>
                    <a:pt x="0" y="0"/>
                  </a:lnTo>
                  <a:lnTo>
                    <a:pt x="0" y="250"/>
                  </a:lnTo>
                  <a:lnTo>
                    <a:pt x="134" y="250"/>
                  </a:lnTo>
                </a:path>
              </a:pathLst>
            </a:custGeom>
            <a:noFill/>
            <a:ln w="222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500" name="Freeform 46">
              <a:extLst>
                <a:ext uri="{FF2B5EF4-FFF2-40B4-BE49-F238E27FC236}">
                  <a16:creationId xmlns:a16="http://schemas.microsoft.com/office/drawing/2014/main" id="{D0CED45B-E698-2731-D60B-0A21991D72B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3107" y="3420338"/>
              <a:ext cx="194467" cy="379818"/>
            </a:xfrm>
            <a:custGeom>
              <a:avLst/>
              <a:gdLst>
                <a:gd name="T0" fmla="*/ 0 w 128"/>
                <a:gd name="T1" fmla="*/ 0 h 250"/>
                <a:gd name="T2" fmla="*/ 128 w 128"/>
                <a:gd name="T3" fmla="*/ 0 h 250"/>
                <a:gd name="T4" fmla="*/ 128 w 128"/>
                <a:gd name="T5" fmla="*/ 250 h 250"/>
                <a:gd name="T6" fmla="*/ 0 w 128"/>
                <a:gd name="T7" fmla="*/ 250 h 2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8" h="250">
                  <a:moveTo>
                    <a:pt x="0" y="0"/>
                  </a:moveTo>
                  <a:lnTo>
                    <a:pt x="128" y="0"/>
                  </a:lnTo>
                  <a:lnTo>
                    <a:pt x="128" y="250"/>
                  </a:lnTo>
                  <a:lnTo>
                    <a:pt x="0" y="250"/>
                  </a:lnTo>
                </a:path>
              </a:pathLst>
            </a:custGeom>
            <a:noFill/>
            <a:ln w="222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501" name="Line 47">
              <a:extLst>
                <a:ext uri="{FF2B5EF4-FFF2-40B4-BE49-F238E27FC236}">
                  <a16:creationId xmlns:a16="http://schemas.microsoft.com/office/drawing/2014/main" id="{1C5221CA-1F16-837E-3309-9FB8A7D2611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653040" y="3610246"/>
              <a:ext cx="154966" cy="0"/>
            </a:xfrm>
            <a:prstGeom prst="line">
              <a:avLst/>
            </a:prstGeom>
            <a:noFill/>
            <a:ln w="22225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502" name="Freeform 48">
              <a:extLst>
                <a:ext uri="{FF2B5EF4-FFF2-40B4-BE49-F238E27FC236}">
                  <a16:creationId xmlns:a16="http://schemas.microsoft.com/office/drawing/2014/main" id="{A9F7E722-601A-72BD-882F-A0C0016DCB2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2677" y="3482627"/>
              <a:ext cx="65329" cy="126100"/>
            </a:xfrm>
            <a:custGeom>
              <a:avLst/>
              <a:gdLst>
                <a:gd name="T0" fmla="*/ 0 w 43"/>
                <a:gd name="T1" fmla="*/ 83 h 83"/>
                <a:gd name="T2" fmla="*/ 0 w 43"/>
                <a:gd name="T3" fmla="*/ 0 h 83"/>
                <a:gd name="T4" fmla="*/ 43 w 43"/>
                <a:gd name="T5" fmla="*/ 0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3" h="83">
                  <a:moveTo>
                    <a:pt x="0" y="83"/>
                  </a:moveTo>
                  <a:lnTo>
                    <a:pt x="0" y="0"/>
                  </a:lnTo>
                  <a:lnTo>
                    <a:pt x="43" y="0"/>
                  </a:lnTo>
                </a:path>
              </a:pathLst>
            </a:custGeom>
            <a:noFill/>
            <a:ln w="222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503" name="Line 49">
              <a:extLst>
                <a:ext uri="{FF2B5EF4-FFF2-40B4-BE49-F238E27FC236}">
                  <a16:creationId xmlns:a16="http://schemas.microsoft.com/office/drawing/2014/main" id="{E747FA79-BB2E-9273-5642-87590FF891A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16690" y="3482627"/>
              <a:ext cx="212698" cy="0"/>
            </a:xfrm>
            <a:prstGeom prst="line">
              <a:avLst/>
            </a:prstGeom>
            <a:noFill/>
            <a:ln w="22225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504" name="Rectangle 50">
              <a:extLst>
                <a:ext uri="{FF2B5EF4-FFF2-40B4-BE49-F238E27FC236}">
                  <a16:creationId xmlns:a16="http://schemas.microsoft.com/office/drawing/2014/main" id="{3282D98C-E923-9A29-0DEB-FD1B101DFC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54159" y="3500858"/>
              <a:ext cx="271722" cy="20988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1400" u="none" strike="noStrike" cap="none" normalizeH="0" baseline="0" dirty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  <a:ea typeface="SimHei" panose="02010609060101010101" pitchFamily="49" charset="-122"/>
                </a:rPr>
                <a:t>DM</a:t>
              </a:r>
              <a:endParaRPr kumimoji="0" lang="zh-CN" altLang="zh-CN" sz="180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endParaRPr>
            </a:p>
          </p:txBody>
        </p:sp>
        <p:sp>
          <p:nvSpPr>
            <p:cNvPr id="505" name="Freeform 51">
              <a:extLst>
                <a:ext uri="{FF2B5EF4-FFF2-40B4-BE49-F238E27FC236}">
                  <a16:creationId xmlns:a16="http://schemas.microsoft.com/office/drawing/2014/main" id="{B2B57125-C7FB-16D1-7920-41775F3B65C6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8729" y="3420338"/>
              <a:ext cx="220295" cy="379818"/>
            </a:xfrm>
            <a:custGeom>
              <a:avLst/>
              <a:gdLst>
                <a:gd name="T0" fmla="*/ 145 w 145"/>
                <a:gd name="T1" fmla="*/ 0 h 250"/>
                <a:gd name="T2" fmla="*/ 0 w 145"/>
                <a:gd name="T3" fmla="*/ 0 h 250"/>
                <a:gd name="T4" fmla="*/ 0 w 145"/>
                <a:gd name="T5" fmla="*/ 250 h 250"/>
                <a:gd name="T6" fmla="*/ 145 w 145"/>
                <a:gd name="T7" fmla="*/ 250 h 2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45" h="250">
                  <a:moveTo>
                    <a:pt x="145" y="0"/>
                  </a:moveTo>
                  <a:lnTo>
                    <a:pt x="0" y="0"/>
                  </a:lnTo>
                  <a:lnTo>
                    <a:pt x="0" y="250"/>
                  </a:lnTo>
                  <a:lnTo>
                    <a:pt x="145" y="250"/>
                  </a:lnTo>
                </a:path>
              </a:pathLst>
            </a:custGeom>
            <a:noFill/>
            <a:ln w="222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506" name="Freeform 52">
              <a:extLst>
                <a:ext uri="{FF2B5EF4-FFF2-40B4-BE49-F238E27FC236}">
                  <a16:creationId xmlns:a16="http://schemas.microsoft.com/office/drawing/2014/main" id="{E0C1F2B8-7926-C609-27DA-365E9C6B19E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1427" y="3420338"/>
              <a:ext cx="227891" cy="379818"/>
            </a:xfrm>
            <a:custGeom>
              <a:avLst/>
              <a:gdLst>
                <a:gd name="T0" fmla="*/ 0 w 150"/>
                <a:gd name="T1" fmla="*/ 0 h 250"/>
                <a:gd name="T2" fmla="*/ 150 w 150"/>
                <a:gd name="T3" fmla="*/ 0 h 250"/>
                <a:gd name="T4" fmla="*/ 150 w 150"/>
                <a:gd name="T5" fmla="*/ 250 h 250"/>
                <a:gd name="T6" fmla="*/ 0 w 150"/>
                <a:gd name="T7" fmla="*/ 250 h 2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50" h="250">
                  <a:moveTo>
                    <a:pt x="0" y="0"/>
                  </a:moveTo>
                  <a:lnTo>
                    <a:pt x="150" y="0"/>
                  </a:lnTo>
                  <a:lnTo>
                    <a:pt x="150" y="250"/>
                  </a:lnTo>
                  <a:lnTo>
                    <a:pt x="0" y="250"/>
                  </a:lnTo>
                </a:path>
              </a:pathLst>
            </a:custGeom>
            <a:noFill/>
            <a:ln w="222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507" name="Rectangle 53">
              <a:extLst>
                <a:ext uri="{FF2B5EF4-FFF2-40B4-BE49-F238E27FC236}">
                  <a16:creationId xmlns:a16="http://schemas.microsoft.com/office/drawing/2014/main" id="{3A8C53C4-4632-AFEA-DA88-0BD93B7A6B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39725" y="3493566"/>
              <a:ext cx="320132" cy="20988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1400" u="none" strike="noStrike" cap="none" normalizeH="0" baseline="0" dirty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  <a:ea typeface="SimHei" panose="02010609060101010101" pitchFamily="49" charset="-122"/>
                </a:rPr>
                <a:t>Reg</a:t>
              </a:r>
              <a:endParaRPr kumimoji="0" lang="zh-CN" altLang="zh-CN" sz="180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endParaRPr>
            </a:p>
          </p:txBody>
        </p:sp>
        <p:sp>
          <p:nvSpPr>
            <p:cNvPr id="508" name="Freeform 54">
              <a:extLst>
                <a:ext uri="{FF2B5EF4-FFF2-40B4-BE49-F238E27FC236}">
                  <a16:creationId xmlns:a16="http://schemas.microsoft.com/office/drawing/2014/main" id="{BE8F152F-A549-C803-A40B-BB9F14889F75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6823" y="3420338"/>
              <a:ext cx="186871" cy="379818"/>
            </a:xfrm>
            <a:custGeom>
              <a:avLst/>
              <a:gdLst>
                <a:gd name="T0" fmla="*/ 123 w 123"/>
                <a:gd name="T1" fmla="*/ 0 h 250"/>
                <a:gd name="T2" fmla="*/ 0 w 123"/>
                <a:gd name="T3" fmla="*/ 0 h 250"/>
                <a:gd name="T4" fmla="*/ 0 w 123"/>
                <a:gd name="T5" fmla="*/ 250 h 250"/>
                <a:gd name="T6" fmla="*/ 123 w 123"/>
                <a:gd name="T7" fmla="*/ 250 h 2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3" h="250">
                  <a:moveTo>
                    <a:pt x="123" y="0"/>
                  </a:moveTo>
                  <a:lnTo>
                    <a:pt x="0" y="0"/>
                  </a:lnTo>
                  <a:lnTo>
                    <a:pt x="0" y="250"/>
                  </a:lnTo>
                  <a:lnTo>
                    <a:pt x="123" y="250"/>
                  </a:lnTo>
                </a:path>
              </a:pathLst>
            </a:custGeom>
            <a:noFill/>
            <a:ln w="222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509" name="Freeform 55">
              <a:extLst>
                <a:ext uri="{FF2B5EF4-FFF2-40B4-BE49-F238E27FC236}">
                  <a16:creationId xmlns:a16="http://schemas.microsoft.com/office/drawing/2014/main" id="{7C291562-79CC-8533-0BA1-13F8538AE5C7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5212" y="3420338"/>
              <a:ext cx="194467" cy="379818"/>
            </a:xfrm>
            <a:custGeom>
              <a:avLst/>
              <a:gdLst>
                <a:gd name="T0" fmla="*/ 0 w 128"/>
                <a:gd name="T1" fmla="*/ 0 h 250"/>
                <a:gd name="T2" fmla="*/ 128 w 128"/>
                <a:gd name="T3" fmla="*/ 0 h 250"/>
                <a:gd name="T4" fmla="*/ 128 w 128"/>
                <a:gd name="T5" fmla="*/ 250 h 250"/>
                <a:gd name="T6" fmla="*/ 0 w 128"/>
                <a:gd name="T7" fmla="*/ 250 h 2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8" h="250">
                  <a:moveTo>
                    <a:pt x="0" y="0"/>
                  </a:moveTo>
                  <a:lnTo>
                    <a:pt x="128" y="0"/>
                  </a:lnTo>
                  <a:lnTo>
                    <a:pt x="128" y="250"/>
                  </a:lnTo>
                  <a:lnTo>
                    <a:pt x="0" y="250"/>
                  </a:lnTo>
                </a:path>
              </a:pathLst>
            </a:custGeom>
            <a:noFill/>
            <a:ln w="222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510" name="Line 56">
              <a:extLst>
                <a:ext uri="{FF2B5EF4-FFF2-40B4-BE49-F238E27FC236}">
                  <a16:creationId xmlns:a16="http://schemas.microsoft.com/office/drawing/2014/main" id="{5C3EAE44-3C14-8A8D-FFE9-691D01666C3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403240" y="3610246"/>
              <a:ext cx="186871" cy="0"/>
            </a:xfrm>
            <a:prstGeom prst="line">
              <a:avLst/>
            </a:prstGeom>
            <a:noFill/>
            <a:ln w="22225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511" name="Line 57">
              <a:extLst>
                <a:ext uri="{FF2B5EF4-FFF2-40B4-BE49-F238E27FC236}">
                  <a16:creationId xmlns:a16="http://schemas.microsoft.com/office/drawing/2014/main" id="{506D4823-1E5A-8127-5614-457C655F4E3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40838" y="3610246"/>
              <a:ext cx="212698" cy="0"/>
            </a:xfrm>
            <a:prstGeom prst="line">
              <a:avLst/>
            </a:prstGeom>
            <a:noFill/>
            <a:ln w="22225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512" name="Line 58">
              <a:extLst>
                <a:ext uri="{FF2B5EF4-FFF2-40B4-BE49-F238E27FC236}">
                  <a16:creationId xmlns:a16="http://schemas.microsoft.com/office/drawing/2014/main" id="{8807AC32-D072-09C0-30CF-3DDAB0EB221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16690" y="3736346"/>
              <a:ext cx="212698" cy="0"/>
            </a:xfrm>
            <a:prstGeom prst="line">
              <a:avLst/>
            </a:prstGeom>
            <a:noFill/>
            <a:ln w="22225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513" name="Line 59">
              <a:extLst>
                <a:ext uri="{FF2B5EF4-FFF2-40B4-BE49-F238E27FC236}">
                  <a16:creationId xmlns:a16="http://schemas.microsoft.com/office/drawing/2014/main" id="{08C237AF-3B7F-6E30-D563-1DD6BBFED49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32154" y="3736346"/>
              <a:ext cx="0" cy="253719"/>
            </a:xfrm>
            <a:prstGeom prst="line">
              <a:avLst/>
            </a:prstGeom>
            <a:noFill/>
            <a:ln w="254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514" name="Line 60">
              <a:extLst>
                <a:ext uri="{FF2B5EF4-FFF2-40B4-BE49-F238E27FC236}">
                  <a16:creationId xmlns:a16="http://schemas.microsoft.com/office/drawing/2014/main" id="{44CAC08A-D32A-8CF4-87B2-59D79A6A4FC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32154" y="3990064"/>
              <a:ext cx="457301" cy="0"/>
            </a:xfrm>
            <a:prstGeom prst="line">
              <a:avLst/>
            </a:prstGeom>
            <a:noFill/>
            <a:ln w="254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515" name="Line 61">
              <a:extLst>
                <a:ext uri="{FF2B5EF4-FFF2-40B4-BE49-F238E27FC236}">
                  <a16:creationId xmlns:a16="http://schemas.microsoft.com/office/drawing/2014/main" id="{603A1416-E341-4383-EA41-CEE2697F600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89455" y="3610246"/>
              <a:ext cx="0" cy="379818"/>
            </a:xfrm>
            <a:prstGeom prst="line">
              <a:avLst/>
            </a:prstGeom>
            <a:noFill/>
            <a:ln w="254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516" name="Line 62">
              <a:extLst>
                <a:ext uri="{FF2B5EF4-FFF2-40B4-BE49-F238E27FC236}">
                  <a16:creationId xmlns:a16="http://schemas.microsoft.com/office/drawing/2014/main" id="{81CD6F10-0298-6024-3121-CC10F2E5433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903400" y="3610246"/>
              <a:ext cx="0" cy="317528"/>
            </a:xfrm>
            <a:prstGeom prst="line">
              <a:avLst/>
            </a:prstGeom>
            <a:noFill/>
            <a:ln w="254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517" name="Line 63">
              <a:extLst>
                <a:ext uri="{FF2B5EF4-FFF2-40B4-BE49-F238E27FC236}">
                  <a16:creationId xmlns:a16="http://schemas.microsoft.com/office/drawing/2014/main" id="{EB92942A-A166-F9A3-CECC-42A0BDC70C3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903400" y="3927774"/>
              <a:ext cx="589477" cy="0"/>
            </a:xfrm>
            <a:prstGeom prst="line">
              <a:avLst/>
            </a:prstGeom>
            <a:noFill/>
            <a:ln w="254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518" name="Line 64">
              <a:extLst>
                <a:ext uri="{FF2B5EF4-FFF2-40B4-BE49-F238E27FC236}">
                  <a16:creationId xmlns:a16="http://schemas.microsoft.com/office/drawing/2014/main" id="{12398EAF-D754-98C4-C8AA-72D6CB117D0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492878" y="3610246"/>
              <a:ext cx="0" cy="317528"/>
            </a:xfrm>
            <a:prstGeom prst="line">
              <a:avLst/>
            </a:prstGeom>
            <a:noFill/>
            <a:ln w="254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519" name="Freeform 65">
              <a:extLst>
                <a:ext uri="{FF2B5EF4-FFF2-40B4-BE49-F238E27FC236}">
                  <a16:creationId xmlns:a16="http://schemas.microsoft.com/office/drawing/2014/main" id="{C7A78028-BC39-A930-F621-BD115108D933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4058" y="3990064"/>
              <a:ext cx="285623" cy="633537"/>
            </a:xfrm>
            <a:custGeom>
              <a:avLst/>
              <a:gdLst>
                <a:gd name="T0" fmla="*/ 0 w 188"/>
                <a:gd name="T1" fmla="*/ 278 h 417"/>
                <a:gd name="T2" fmla="*/ 63 w 188"/>
                <a:gd name="T3" fmla="*/ 209 h 417"/>
                <a:gd name="T4" fmla="*/ 0 w 188"/>
                <a:gd name="T5" fmla="*/ 139 h 417"/>
                <a:gd name="T6" fmla="*/ 0 w 188"/>
                <a:gd name="T7" fmla="*/ 0 h 417"/>
                <a:gd name="T8" fmla="*/ 188 w 188"/>
                <a:gd name="T9" fmla="*/ 139 h 417"/>
                <a:gd name="T10" fmla="*/ 188 w 188"/>
                <a:gd name="T11" fmla="*/ 278 h 417"/>
                <a:gd name="T12" fmla="*/ 0 w 188"/>
                <a:gd name="T13" fmla="*/ 417 h 417"/>
                <a:gd name="T14" fmla="*/ 0 w 188"/>
                <a:gd name="T15" fmla="*/ 278 h 4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88" h="417">
                  <a:moveTo>
                    <a:pt x="0" y="278"/>
                  </a:moveTo>
                  <a:lnTo>
                    <a:pt x="63" y="209"/>
                  </a:lnTo>
                  <a:lnTo>
                    <a:pt x="0" y="139"/>
                  </a:lnTo>
                  <a:lnTo>
                    <a:pt x="0" y="0"/>
                  </a:lnTo>
                  <a:lnTo>
                    <a:pt x="188" y="139"/>
                  </a:lnTo>
                  <a:lnTo>
                    <a:pt x="188" y="278"/>
                  </a:lnTo>
                  <a:lnTo>
                    <a:pt x="0" y="417"/>
                  </a:lnTo>
                  <a:lnTo>
                    <a:pt x="0" y="278"/>
                  </a:lnTo>
                </a:path>
              </a:pathLst>
            </a:custGeom>
            <a:noFill/>
            <a:ln w="222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520" name="Rectangle 66">
              <a:extLst>
                <a:ext uri="{FF2B5EF4-FFF2-40B4-BE49-F238E27FC236}">
                  <a16:creationId xmlns:a16="http://schemas.microsoft.com/office/drawing/2014/main" id="{3FA47142-9EF7-E021-4F07-3222882DA4F3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3898068" y="4201133"/>
              <a:ext cx="635054" cy="20988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1400" u="none" strike="noStrike" cap="none" normalizeH="0" baseline="0" dirty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  <a:ea typeface="SimHei" panose="02010609060101010101" pitchFamily="49" charset="-122"/>
                </a:rPr>
                <a:t>ALU</a:t>
              </a:r>
              <a:endParaRPr kumimoji="0" lang="zh-CN" altLang="zh-CN" sz="140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endParaRPr>
            </a:p>
          </p:txBody>
        </p:sp>
        <p:sp>
          <p:nvSpPr>
            <p:cNvPr id="521" name="Rectangle 67">
              <a:extLst>
                <a:ext uri="{FF2B5EF4-FFF2-40B4-BE49-F238E27FC236}">
                  <a16:creationId xmlns:a16="http://schemas.microsoft.com/office/drawing/2014/main" id="{0F14A5D9-56BE-B695-F71D-8C217073105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02808" y="4198204"/>
              <a:ext cx="193640" cy="20988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1400" u="none" strike="noStrike" cap="none" normalizeH="0" baseline="0" dirty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  <a:ea typeface="SimHei" panose="02010609060101010101" pitchFamily="49" charset="-122"/>
                </a:rPr>
                <a:t>IM</a:t>
              </a:r>
              <a:endParaRPr kumimoji="0" lang="zh-CN" altLang="zh-CN" sz="180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endParaRPr>
            </a:p>
          </p:txBody>
        </p:sp>
        <p:sp>
          <p:nvSpPr>
            <p:cNvPr id="522" name="Freeform 68">
              <a:extLst>
                <a:ext uri="{FF2B5EF4-FFF2-40B4-BE49-F238E27FC236}">
                  <a16:creationId xmlns:a16="http://schemas.microsoft.com/office/drawing/2014/main" id="{644B5062-FCB5-C4F8-A0E2-560B93D0167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3299" y="4117683"/>
              <a:ext cx="230692" cy="379818"/>
            </a:xfrm>
            <a:custGeom>
              <a:avLst/>
              <a:gdLst>
                <a:gd name="T0" fmla="*/ 156 w 156"/>
                <a:gd name="T1" fmla="*/ 0 h 250"/>
                <a:gd name="T2" fmla="*/ 0 w 156"/>
                <a:gd name="T3" fmla="*/ 0 h 250"/>
                <a:gd name="T4" fmla="*/ 0 w 156"/>
                <a:gd name="T5" fmla="*/ 250 h 250"/>
                <a:gd name="T6" fmla="*/ 156 w 156"/>
                <a:gd name="T7" fmla="*/ 250 h 2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56" h="250">
                  <a:moveTo>
                    <a:pt x="156" y="0"/>
                  </a:moveTo>
                  <a:lnTo>
                    <a:pt x="0" y="0"/>
                  </a:lnTo>
                  <a:lnTo>
                    <a:pt x="0" y="250"/>
                  </a:lnTo>
                  <a:lnTo>
                    <a:pt x="156" y="250"/>
                  </a:lnTo>
                </a:path>
              </a:pathLst>
            </a:custGeom>
            <a:noFill/>
            <a:ln w="222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523" name="Freeform 69">
              <a:extLst>
                <a:ext uri="{FF2B5EF4-FFF2-40B4-BE49-F238E27FC236}">
                  <a16:creationId xmlns:a16="http://schemas.microsoft.com/office/drawing/2014/main" id="{F96684E1-FF11-9C09-B947-691B9C65D95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3992" y="4117683"/>
              <a:ext cx="227891" cy="379818"/>
            </a:xfrm>
            <a:custGeom>
              <a:avLst/>
              <a:gdLst>
                <a:gd name="T0" fmla="*/ 0 w 150"/>
                <a:gd name="T1" fmla="*/ 0 h 250"/>
                <a:gd name="T2" fmla="*/ 150 w 150"/>
                <a:gd name="T3" fmla="*/ 0 h 250"/>
                <a:gd name="T4" fmla="*/ 150 w 150"/>
                <a:gd name="T5" fmla="*/ 250 h 250"/>
                <a:gd name="T6" fmla="*/ 0 w 150"/>
                <a:gd name="T7" fmla="*/ 250 h 2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50" h="250">
                  <a:moveTo>
                    <a:pt x="0" y="0"/>
                  </a:moveTo>
                  <a:lnTo>
                    <a:pt x="150" y="0"/>
                  </a:lnTo>
                  <a:lnTo>
                    <a:pt x="150" y="250"/>
                  </a:lnTo>
                  <a:lnTo>
                    <a:pt x="0" y="250"/>
                  </a:lnTo>
                </a:path>
              </a:pathLst>
            </a:custGeom>
            <a:noFill/>
            <a:ln w="222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524" name="Rectangle 70">
              <a:extLst>
                <a:ext uri="{FF2B5EF4-FFF2-40B4-BE49-F238E27FC236}">
                  <a16:creationId xmlns:a16="http://schemas.microsoft.com/office/drawing/2014/main" id="{75AFE8DC-2D9F-7C0A-C076-C645C7CA2E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38978" y="4188177"/>
              <a:ext cx="320132" cy="20988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1400" u="none" strike="noStrike" cap="none" normalizeH="0" baseline="0" dirty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  <a:ea typeface="SimHei" panose="02010609060101010101" pitchFamily="49" charset="-122"/>
                </a:rPr>
                <a:t>Reg</a:t>
              </a:r>
              <a:endParaRPr kumimoji="0" lang="zh-CN" altLang="zh-CN" sz="180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endParaRPr>
            </a:p>
          </p:txBody>
        </p:sp>
        <p:sp>
          <p:nvSpPr>
            <p:cNvPr id="525" name="Freeform 71">
              <a:extLst>
                <a:ext uri="{FF2B5EF4-FFF2-40B4-BE49-F238E27FC236}">
                  <a16:creationId xmlns:a16="http://schemas.microsoft.com/office/drawing/2014/main" id="{FDB73B7E-4EE8-1CE1-B135-508F6323233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7483" y="4117683"/>
              <a:ext cx="203582" cy="379818"/>
            </a:xfrm>
            <a:custGeom>
              <a:avLst/>
              <a:gdLst>
                <a:gd name="T0" fmla="*/ 134 w 134"/>
                <a:gd name="T1" fmla="*/ 0 h 250"/>
                <a:gd name="T2" fmla="*/ 0 w 134"/>
                <a:gd name="T3" fmla="*/ 0 h 250"/>
                <a:gd name="T4" fmla="*/ 0 w 134"/>
                <a:gd name="T5" fmla="*/ 250 h 250"/>
                <a:gd name="T6" fmla="*/ 134 w 134"/>
                <a:gd name="T7" fmla="*/ 250 h 2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4" h="250">
                  <a:moveTo>
                    <a:pt x="134" y="0"/>
                  </a:moveTo>
                  <a:lnTo>
                    <a:pt x="0" y="0"/>
                  </a:lnTo>
                  <a:lnTo>
                    <a:pt x="0" y="250"/>
                  </a:lnTo>
                  <a:lnTo>
                    <a:pt x="134" y="250"/>
                  </a:lnTo>
                </a:path>
              </a:pathLst>
            </a:custGeom>
            <a:noFill/>
            <a:ln w="222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526" name="Freeform 72">
              <a:extLst>
                <a:ext uri="{FF2B5EF4-FFF2-40B4-BE49-F238E27FC236}">
                  <a16:creationId xmlns:a16="http://schemas.microsoft.com/office/drawing/2014/main" id="{D68D175A-D09D-3530-6E25-65422E2BC19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1065" y="4117683"/>
              <a:ext cx="195986" cy="379818"/>
            </a:xfrm>
            <a:custGeom>
              <a:avLst/>
              <a:gdLst>
                <a:gd name="T0" fmla="*/ 0 w 129"/>
                <a:gd name="T1" fmla="*/ 0 h 250"/>
                <a:gd name="T2" fmla="*/ 129 w 129"/>
                <a:gd name="T3" fmla="*/ 0 h 250"/>
                <a:gd name="T4" fmla="*/ 129 w 129"/>
                <a:gd name="T5" fmla="*/ 250 h 250"/>
                <a:gd name="T6" fmla="*/ 0 w 129"/>
                <a:gd name="T7" fmla="*/ 250 h 2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9" h="250">
                  <a:moveTo>
                    <a:pt x="0" y="0"/>
                  </a:moveTo>
                  <a:lnTo>
                    <a:pt x="129" y="0"/>
                  </a:lnTo>
                  <a:lnTo>
                    <a:pt x="129" y="250"/>
                  </a:lnTo>
                  <a:lnTo>
                    <a:pt x="0" y="250"/>
                  </a:lnTo>
                </a:path>
              </a:pathLst>
            </a:custGeom>
            <a:noFill/>
            <a:ln w="222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527" name="Line 73">
              <a:extLst>
                <a:ext uri="{FF2B5EF4-FFF2-40B4-BE49-F238E27FC236}">
                  <a16:creationId xmlns:a16="http://schemas.microsoft.com/office/drawing/2014/main" id="{E14385C9-11DB-86FD-9649-6B7AD067793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40998" y="4307592"/>
              <a:ext cx="156485" cy="0"/>
            </a:xfrm>
            <a:prstGeom prst="line">
              <a:avLst/>
            </a:prstGeom>
            <a:noFill/>
            <a:ln w="22225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528" name="Freeform 74">
              <a:extLst>
                <a:ext uri="{FF2B5EF4-FFF2-40B4-BE49-F238E27FC236}">
                  <a16:creationId xmlns:a16="http://schemas.microsoft.com/office/drawing/2014/main" id="{3E560A87-91C7-8BAB-62A3-734B03FD310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2154" y="4181492"/>
              <a:ext cx="63809" cy="124580"/>
            </a:xfrm>
            <a:custGeom>
              <a:avLst/>
              <a:gdLst>
                <a:gd name="T0" fmla="*/ 0 w 42"/>
                <a:gd name="T1" fmla="*/ 82 h 82"/>
                <a:gd name="T2" fmla="*/ 0 w 42"/>
                <a:gd name="T3" fmla="*/ 0 h 82"/>
                <a:gd name="T4" fmla="*/ 42 w 42"/>
                <a:gd name="T5" fmla="*/ 0 h 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2" h="82">
                  <a:moveTo>
                    <a:pt x="0" y="82"/>
                  </a:moveTo>
                  <a:lnTo>
                    <a:pt x="0" y="0"/>
                  </a:lnTo>
                  <a:lnTo>
                    <a:pt x="42" y="0"/>
                  </a:lnTo>
                </a:path>
              </a:pathLst>
            </a:custGeom>
            <a:noFill/>
            <a:ln w="222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529" name="Line 75">
              <a:extLst>
                <a:ext uri="{FF2B5EF4-FFF2-40B4-BE49-F238E27FC236}">
                  <a16:creationId xmlns:a16="http://schemas.microsoft.com/office/drawing/2014/main" id="{5E2F6E8C-AF78-D94C-4C7D-D1DFC2FECFB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06167" y="4181492"/>
              <a:ext cx="212698" cy="0"/>
            </a:xfrm>
            <a:prstGeom prst="line">
              <a:avLst/>
            </a:prstGeom>
            <a:noFill/>
            <a:ln w="22225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530" name="Rectangle 76">
              <a:extLst>
                <a:ext uri="{FF2B5EF4-FFF2-40B4-BE49-F238E27FC236}">
                  <a16:creationId xmlns:a16="http://schemas.microsoft.com/office/drawing/2014/main" id="{2196C0AE-4A36-6636-6E98-81C62AFD7A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43637" y="4198204"/>
              <a:ext cx="271722" cy="20988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1400" u="none" strike="noStrike" cap="none" normalizeH="0" baseline="0" dirty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  <a:ea typeface="SimHei" panose="02010609060101010101" pitchFamily="49" charset="-122"/>
                </a:rPr>
                <a:t>DM</a:t>
              </a:r>
              <a:endParaRPr kumimoji="0" lang="zh-CN" altLang="zh-CN" sz="180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endParaRPr>
            </a:p>
          </p:txBody>
        </p:sp>
        <p:sp>
          <p:nvSpPr>
            <p:cNvPr id="531" name="Freeform 77">
              <a:extLst>
                <a:ext uri="{FF2B5EF4-FFF2-40B4-BE49-F238E27FC236}">
                  <a16:creationId xmlns:a16="http://schemas.microsoft.com/office/drawing/2014/main" id="{2B1925EB-BFA3-F3CE-0B97-DC877246047B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8206" y="4117683"/>
              <a:ext cx="220295" cy="379818"/>
            </a:xfrm>
            <a:custGeom>
              <a:avLst/>
              <a:gdLst>
                <a:gd name="T0" fmla="*/ 145 w 145"/>
                <a:gd name="T1" fmla="*/ 0 h 250"/>
                <a:gd name="T2" fmla="*/ 0 w 145"/>
                <a:gd name="T3" fmla="*/ 0 h 250"/>
                <a:gd name="T4" fmla="*/ 0 w 145"/>
                <a:gd name="T5" fmla="*/ 250 h 250"/>
                <a:gd name="T6" fmla="*/ 145 w 145"/>
                <a:gd name="T7" fmla="*/ 250 h 2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45" h="250">
                  <a:moveTo>
                    <a:pt x="145" y="0"/>
                  </a:moveTo>
                  <a:lnTo>
                    <a:pt x="0" y="0"/>
                  </a:lnTo>
                  <a:lnTo>
                    <a:pt x="0" y="250"/>
                  </a:lnTo>
                  <a:lnTo>
                    <a:pt x="145" y="250"/>
                  </a:lnTo>
                </a:path>
              </a:pathLst>
            </a:custGeom>
            <a:noFill/>
            <a:ln w="222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532" name="Freeform 78">
              <a:extLst>
                <a:ext uri="{FF2B5EF4-FFF2-40B4-BE49-F238E27FC236}">
                  <a16:creationId xmlns:a16="http://schemas.microsoft.com/office/drawing/2014/main" id="{6970BF74-DD03-E8A7-4F7D-9B9FF7D406F6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0904" y="4117683"/>
              <a:ext cx="227891" cy="379818"/>
            </a:xfrm>
            <a:custGeom>
              <a:avLst/>
              <a:gdLst>
                <a:gd name="T0" fmla="*/ 0 w 150"/>
                <a:gd name="T1" fmla="*/ 0 h 250"/>
                <a:gd name="T2" fmla="*/ 150 w 150"/>
                <a:gd name="T3" fmla="*/ 0 h 250"/>
                <a:gd name="T4" fmla="*/ 150 w 150"/>
                <a:gd name="T5" fmla="*/ 250 h 250"/>
                <a:gd name="T6" fmla="*/ 0 w 150"/>
                <a:gd name="T7" fmla="*/ 250 h 2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50" h="250">
                  <a:moveTo>
                    <a:pt x="0" y="0"/>
                  </a:moveTo>
                  <a:lnTo>
                    <a:pt x="150" y="0"/>
                  </a:lnTo>
                  <a:lnTo>
                    <a:pt x="150" y="250"/>
                  </a:lnTo>
                  <a:lnTo>
                    <a:pt x="0" y="250"/>
                  </a:lnTo>
                </a:path>
              </a:pathLst>
            </a:custGeom>
            <a:noFill/>
            <a:ln w="222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533" name="Rectangle 79">
              <a:extLst>
                <a:ext uri="{FF2B5EF4-FFF2-40B4-BE49-F238E27FC236}">
                  <a16:creationId xmlns:a16="http://schemas.microsoft.com/office/drawing/2014/main" id="{D27F93DB-40BA-AE08-21BF-DB21DFFFDB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29202" y="4190912"/>
              <a:ext cx="320132" cy="20988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1400" u="none" strike="noStrike" cap="none" normalizeH="0" baseline="0" dirty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  <a:ea typeface="SimHei" panose="02010609060101010101" pitchFamily="49" charset="-122"/>
                </a:rPr>
                <a:t>Reg</a:t>
              </a:r>
              <a:endParaRPr kumimoji="0" lang="zh-CN" altLang="zh-CN" sz="180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endParaRPr>
            </a:p>
          </p:txBody>
        </p:sp>
        <p:sp>
          <p:nvSpPr>
            <p:cNvPr id="534" name="Freeform 80">
              <a:extLst>
                <a:ext uri="{FF2B5EF4-FFF2-40B4-BE49-F238E27FC236}">
                  <a16:creationId xmlns:a16="http://schemas.microsoft.com/office/drawing/2014/main" id="{5717D9DA-1760-7274-E949-8BE4DC65357E}"/>
                </a:ext>
              </a:extLst>
            </p:cNvPr>
            <p:cNvSpPr>
              <a:spLocks/>
            </p:cNvSpPr>
            <p:nvPr/>
          </p:nvSpPr>
          <p:spPr bwMode="auto">
            <a:xfrm>
              <a:off x="5196300" y="4117683"/>
              <a:ext cx="186871" cy="379818"/>
            </a:xfrm>
            <a:custGeom>
              <a:avLst/>
              <a:gdLst>
                <a:gd name="T0" fmla="*/ 123 w 123"/>
                <a:gd name="T1" fmla="*/ 0 h 250"/>
                <a:gd name="T2" fmla="*/ 0 w 123"/>
                <a:gd name="T3" fmla="*/ 0 h 250"/>
                <a:gd name="T4" fmla="*/ 0 w 123"/>
                <a:gd name="T5" fmla="*/ 250 h 250"/>
                <a:gd name="T6" fmla="*/ 123 w 123"/>
                <a:gd name="T7" fmla="*/ 250 h 2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3" h="250">
                  <a:moveTo>
                    <a:pt x="123" y="0"/>
                  </a:moveTo>
                  <a:lnTo>
                    <a:pt x="0" y="0"/>
                  </a:lnTo>
                  <a:lnTo>
                    <a:pt x="0" y="250"/>
                  </a:lnTo>
                  <a:lnTo>
                    <a:pt x="123" y="250"/>
                  </a:lnTo>
                </a:path>
              </a:pathLst>
            </a:custGeom>
            <a:noFill/>
            <a:ln w="222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535" name="Freeform 81">
              <a:extLst>
                <a:ext uri="{FF2B5EF4-FFF2-40B4-BE49-F238E27FC236}">
                  <a16:creationId xmlns:a16="http://schemas.microsoft.com/office/drawing/2014/main" id="{33EBB52F-19BC-D903-4718-0B6A083F5AAC}"/>
                </a:ext>
              </a:extLst>
            </p:cNvPr>
            <p:cNvSpPr>
              <a:spLocks/>
            </p:cNvSpPr>
            <p:nvPr/>
          </p:nvSpPr>
          <p:spPr bwMode="auto">
            <a:xfrm>
              <a:off x="5383171" y="4117683"/>
              <a:ext cx="195986" cy="379818"/>
            </a:xfrm>
            <a:custGeom>
              <a:avLst/>
              <a:gdLst>
                <a:gd name="T0" fmla="*/ 0 w 129"/>
                <a:gd name="T1" fmla="*/ 0 h 250"/>
                <a:gd name="T2" fmla="*/ 129 w 129"/>
                <a:gd name="T3" fmla="*/ 0 h 250"/>
                <a:gd name="T4" fmla="*/ 129 w 129"/>
                <a:gd name="T5" fmla="*/ 250 h 250"/>
                <a:gd name="T6" fmla="*/ 0 w 129"/>
                <a:gd name="T7" fmla="*/ 250 h 2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9" h="250">
                  <a:moveTo>
                    <a:pt x="0" y="0"/>
                  </a:moveTo>
                  <a:lnTo>
                    <a:pt x="129" y="0"/>
                  </a:lnTo>
                  <a:lnTo>
                    <a:pt x="129" y="250"/>
                  </a:lnTo>
                  <a:lnTo>
                    <a:pt x="0" y="250"/>
                  </a:lnTo>
                </a:path>
              </a:pathLst>
            </a:custGeom>
            <a:noFill/>
            <a:ln w="222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536" name="Line 82">
              <a:extLst>
                <a:ext uri="{FF2B5EF4-FFF2-40B4-BE49-F238E27FC236}">
                  <a16:creationId xmlns:a16="http://schemas.microsoft.com/office/drawing/2014/main" id="{2B3D411B-31ED-7692-322B-6DC136161C1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991199" y="4307592"/>
              <a:ext cx="188390" cy="0"/>
            </a:xfrm>
            <a:prstGeom prst="line">
              <a:avLst/>
            </a:prstGeom>
            <a:noFill/>
            <a:ln w="22225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537" name="Line 83">
              <a:extLst>
                <a:ext uri="{FF2B5EF4-FFF2-40B4-BE49-F238E27FC236}">
                  <a16:creationId xmlns:a16="http://schemas.microsoft.com/office/drawing/2014/main" id="{A22178EA-830E-E420-2865-9862CBEBF9C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28796" y="4307592"/>
              <a:ext cx="212698" cy="0"/>
            </a:xfrm>
            <a:prstGeom prst="line">
              <a:avLst/>
            </a:prstGeom>
            <a:noFill/>
            <a:ln w="22225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538" name="Line 84">
              <a:extLst>
                <a:ext uri="{FF2B5EF4-FFF2-40B4-BE49-F238E27FC236}">
                  <a16:creationId xmlns:a16="http://schemas.microsoft.com/office/drawing/2014/main" id="{1C4FC8C9-6BED-35D9-E020-73401BC6C25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06167" y="4435211"/>
              <a:ext cx="212698" cy="0"/>
            </a:xfrm>
            <a:prstGeom prst="line">
              <a:avLst/>
            </a:prstGeom>
            <a:noFill/>
            <a:ln w="22225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539" name="Line 85">
              <a:extLst>
                <a:ext uri="{FF2B5EF4-FFF2-40B4-BE49-F238E27FC236}">
                  <a16:creationId xmlns:a16="http://schemas.microsoft.com/office/drawing/2014/main" id="{2F3F33C9-E1E5-B4E9-3CA6-E5334A28886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920112" y="4435211"/>
              <a:ext cx="0" cy="253719"/>
            </a:xfrm>
            <a:prstGeom prst="line">
              <a:avLst/>
            </a:prstGeom>
            <a:noFill/>
            <a:ln w="254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540" name="Line 86">
              <a:extLst>
                <a:ext uri="{FF2B5EF4-FFF2-40B4-BE49-F238E27FC236}">
                  <a16:creationId xmlns:a16="http://schemas.microsoft.com/office/drawing/2014/main" id="{78B0B74B-2084-C374-02AA-AF57995B892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920112" y="4688929"/>
              <a:ext cx="458820" cy="0"/>
            </a:xfrm>
            <a:prstGeom prst="line">
              <a:avLst/>
            </a:prstGeom>
            <a:noFill/>
            <a:ln w="254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541" name="Line 87">
              <a:extLst>
                <a:ext uri="{FF2B5EF4-FFF2-40B4-BE49-F238E27FC236}">
                  <a16:creationId xmlns:a16="http://schemas.microsoft.com/office/drawing/2014/main" id="{C15173DE-F4CA-D323-DB65-2BE4EFAFF76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78932" y="4307592"/>
              <a:ext cx="0" cy="381338"/>
            </a:xfrm>
            <a:prstGeom prst="line">
              <a:avLst/>
            </a:prstGeom>
            <a:noFill/>
            <a:ln w="254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542" name="Line 88">
              <a:extLst>
                <a:ext uri="{FF2B5EF4-FFF2-40B4-BE49-F238E27FC236}">
                  <a16:creationId xmlns:a16="http://schemas.microsoft.com/office/drawing/2014/main" id="{43092D0D-517A-B940-6B01-05491568E23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492878" y="4307592"/>
              <a:ext cx="0" cy="317528"/>
            </a:xfrm>
            <a:prstGeom prst="line">
              <a:avLst/>
            </a:prstGeom>
            <a:noFill/>
            <a:ln w="254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543" name="Line 89">
              <a:extLst>
                <a:ext uri="{FF2B5EF4-FFF2-40B4-BE49-F238E27FC236}">
                  <a16:creationId xmlns:a16="http://schemas.microsoft.com/office/drawing/2014/main" id="{DC873DEE-06A6-5187-F1FA-4967E5B2EA4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492878" y="4625119"/>
              <a:ext cx="587958" cy="0"/>
            </a:xfrm>
            <a:prstGeom prst="line">
              <a:avLst/>
            </a:prstGeom>
            <a:noFill/>
            <a:ln w="254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544" name="Line 90">
              <a:extLst>
                <a:ext uri="{FF2B5EF4-FFF2-40B4-BE49-F238E27FC236}">
                  <a16:creationId xmlns:a16="http://schemas.microsoft.com/office/drawing/2014/main" id="{18BA866E-42CF-937F-E63B-04A4BC166FB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080835" y="4307592"/>
              <a:ext cx="0" cy="317528"/>
            </a:xfrm>
            <a:prstGeom prst="line">
              <a:avLst/>
            </a:prstGeom>
            <a:noFill/>
            <a:ln w="254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545" name="Freeform 91">
              <a:extLst>
                <a:ext uri="{FF2B5EF4-FFF2-40B4-BE49-F238E27FC236}">
                  <a16:creationId xmlns:a16="http://schemas.microsoft.com/office/drawing/2014/main" id="{F0C61FA3-E86F-6370-97C9-7A7DE62033B7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3535" y="4688929"/>
              <a:ext cx="285623" cy="632017"/>
            </a:xfrm>
            <a:custGeom>
              <a:avLst/>
              <a:gdLst>
                <a:gd name="T0" fmla="*/ 0 w 188"/>
                <a:gd name="T1" fmla="*/ 277 h 416"/>
                <a:gd name="T2" fmla="*/ 63 w 188"/>
                <a:gd name="T3" fmla="*/ 208 h 416"/>
                <a:gd name="T4" fmla="*/ 0 w 188"/>
                <a:gd name="T5" fmla="*/ 139 h 416"/>
                <a:gd name="T6" fmla="*/ 0 w 188"/>
                <a:gd name="T7" fmla="*/ 0 h 416"/>
                <a:gd name="T8" fmla="*/ 188 w 188"/>
                <a:gd name="T9" fmla="*/ 139 h 416"/>
                <a:gd name="T10" fmla="*/ 188 w 188"/>
                <a:gd name="T11" fmla="*/ 277 h 416"/>
                <a:gd name="T12" fmla="*/ 0 w 188"/>
                <a:gd name="T13" fmla="*/ 416 h 416"/>
                <a:gd name="T14" fmla="*/ 0 w 188"/>
                <a:gd name="T15" fmla="*/ 277 h 4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88" h="416">
                  <a:moveTo>
                    <a:pt x="0" y="277"/>
                  </a:moveTo>
                  <a:lnTo>
                    <a:pt x="63" y="208"/>
                  </a:lnTo>
                  <a:lnTo>
                    <a:pt x="0" y="139"/>
                  </a:lnTo>
                  <a:lnTo>
                    <a:pt x="0" y="0"/>
                  </a:lnTo>
                  <a:lnTo>
                    <a:pt x="188" y="139"/>
                  </a:lnTo>
                  <a:lnTo>
                    <a:pt x="188" y="277"/>
                  </a:lnTo>
                  <a:lnTo>
                    <a:pt x="0" y="416"/>
                  </a:lnTo>
                  <a:lnTo>
                    <a:pt x="0" y="277"/>
                  </a:lnTo>
                </a:path>
              </a:pathLst>
            </a:custGeom>
            <a:noFill/>
            <a:ln w="222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546" name="Rectangle 92">
              <a:extLst>
                <a:ext uri="{FF2B5EF4-FFF2-40B4-BE49-F238E27FC236}">
                  <a16:creationId xmlns:a16="http://schemas.microsoft.com/office/drawing/2014/main" id="{4473829B-D9FE-43CA-CDC9-1BFE9F09216F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4486027" y="4899998"/>
              <a:ext cx="635054" cy="20988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1400" u="none" strike="noStrike" cap="none" normalizeH="0" baseline="0" dirty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  <a:ea typeface="SimHei" panose="02010609060101010101" pitchFamily="49" charset="-122"/>
                </a:rPr>
                <a:t>ALU</a:t>
              </a:r>
              <a:endParaRPr kumimoji="0" lang="zh-CN" altLang="zh-CN" sz="140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endParaRPr>
            </a:p>
          </p:txBody>
        </p:sp>
        <p:sp>
          <p:nvSpPr>
            <p:cNvPr id="547" name="Rectangle 93">
              <a:extLst>
                <a:ext uri="{FF2B5EF4-FFF2-40B4-BE49-F238E27FC236}">
                  <a16:creationId xmlns:a16="http://schemas.microsoft.com/office/drawing/2014/main" id="{8B3A2492-315F-7506-1814-8F9AB06C314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92285" y="4895549"/>
              <a:ext cx="193640" cy="20988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1400" u="none" strike="noStrike" cap="none" normalizeH="0" baseline="0" dirty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  <a:ea typeface="SimHei" panose="02010609060101010101" pitchFamily="49" charset="-122"/>
                </a:rPr>
                <a:t>IM</a:t>
              </a:r>
              <a:endParaRPr kumimoji="0" lang="zh-CN" altLang="zh-CN" sz="180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endParaRPr>
            </a:p>
          </p:txBody>
        </p:sp>
        <p:sp>
          <p:nvSpPr>
            <p:cNvPr id="548" name="Freeform 94">
              <a:extLst>
                <a:ext uri="{FF2B5EF4-FFF2-40B4-BE49-F238E27FC236}">
                  <a16:creationId xmlns:a16="http://schemas.microsoft.com/office/drawing/2014/main" id="{4B9F6E5A-36F6-F8AA-9659-002CF8FE98E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8683" y="4815029"/>
              <a:ext cx="233268" cy="379818"/>
            </a:xfrm>
            <a:custGeom>
              <a:avLst/>
              <a:gdLst>
                <a:gd name="T0" fmla="*/ 150 w 150"/>
                <a:gd name="T1" fmla="*/ 0 h 250"/>
                <a:gd name="T2" fmla="*/ 0 w 150"/>
                <a:gd name="T3" fmla="*/ 0 h 250"/>
                <a:gd name="T4" fmla="*/ 0 w 150"/>
                <a:gd name="T5" fmla="*/ 250 h 250"/>
                <a:gd name="T6" fmla="*/ 150 w 150"/>
                <a:gd name="T7" fmla="*/ 250 h 2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50" h="250">
                  <a:moveTo>
                    <a:pt x="150" y="0"/>
                  </a:moveTo>
                  <a:lnTo>
                    <a:pt x="0" y="0"/>
                  </a:lnTo>
                  <a:lnTo>
                    <a:pt x="0" y="250"/>
                  </a:lnTo>
                  <a:lnTo>
                    <a:pt x="150" y="250"/>
                  </a:lnTo>
                </a:path>
              </a:pathLst>
            </a:custGeom>
            <a:noFill/>
            <a:ln w="222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549" name="Freeform 95">
              <a:extLst>
                <a:ext uri="{FF2B5EF4-FFF2-40B4-BE49-F238E27FC236}">
                  <a16:creationId xmlns:a16="http://schemas.microsoft.com/office/drawing/2014/main" id="{2628FDAC-2400-9761-FAA3-FA4E1EDF150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3469" y="4815029"/>
              <a:ext cx="227891" cy="379818"/>
            </a:xfrm>
            <a:custGeom>
              <a:avLst/>
              <a:gdLst>
                <a:gd name="T0" fmla="*/ 0 w 150"/>
                <a:gd name="T1" fmla="*/ 0 h 250"/>
                <a:gd name="T2" fmla="*/ 150 w 150"/>
                <a:gd name="T3" fmla="*/ 0 h 250"/>
                <a:gd name="T4" fmla="*/ 150 w 150"/>
                <a:gd name="T5" fmla="*/ 250 h 250"/>
                <a:gd name="T6" fmla="*/ 0 w 150"/>
                <a:gd name="T7" fmla="*/ 250 h 2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50" h="250">
                  <a:moveTo>
                    <a:pt x="0" y="0"/>
                  </a:moveTo>
                  <a:lnTo>
                    <a:pt x="150" y="0"/>
                  </a:lnTo>
                  <a:lnTo>
                    <a:pt x="150" y="250"/>
                  </a:lnTo>
                  <a:lnTo>
                    <a:pt x="0" y="250"/>
                  </a:lnTo>
                </a:path>
              </a:pathLst>
            </a:custGeom>
            <a:noFill/>
            <a:ln w="222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550" name="Rectangle 96">
              <a:extLst>
                <a:ext uri="{FF2B5EF4-FFF2-40B4-BE49-F238E27FC236}">
                  <a16:creationId xmlns:a16="http://schemas.microsoft.com/office/drawing/2014/main" id="{F6360D2A-3531-7BF3-3FDD-FD710BF2B9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28455" y="4888561"/>
              <a:ext cx="320132" cy="20988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1400" u="none" strike="noStrike" cap="none" normalizeH="0" baseline="0" dirty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  <a:ea typeface="SimHei" panose="02010609060101010101" pitchFamily="49" charset="-122"/>
                </a:rPr>
                <a:t>Reg</a:t>
              </a:r>
              <a:endParaRPr kumimoji="0" lang="zh-CN" altLang="zh-CN" sz="180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endParaRPr>
            </a:p>
          </p:txBody>
        </p:sp>
        <p:sp>
          <p:nvSpPr>
            <p:cNvPr id="551" name="Freeform 97">
              <a:extLst>
                <a:ext uri="{FF2B5EF4-FFF2-40B4-BE49-F238E27FC236}">
                  <a16:creationId xmlns:a16="http://schemas.microsoft.com/office/drawing/2014/main" id="{F5B09EAE-B774-D28D-0F2B-BD744166C618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5441" y="4815029"/>
              <a:ext cx="203582" cy="379818"/>
            </a:xfrm>
            <a:custGeom>
              <a:avLst/>
              <a:gdLst>
                <a:gd name="T0" fmla="*/ 134 w 134"/>
                <a:gd name="T1" fmla="*/ 0 h 250"/>
                <a:gd name="T2" fmla="*/ 0 w 134"/>
                <a:gd name="T3" fmla="*/ 0 h 250"/>
                <a:gd name="T4" fmla="*/ 0 w 134"/>
                <a:gd name="T5" fmla="*/ 250 h 250"/>
                <a:gd name="T6" fmla="*/ 134 w 134"/>
                <a:gd name="T7" fmla="*/ 250 h 2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4" h="250">
                  <a:moveTo>
                    <a:pt x="134" y="0"/>
                  </a:moveTo>
                  <a:lnTo>
                    <a:pt x="0" y="0"/>
                  </a:lnTo>
                  <a:lnTo>
                    <a:pt x="0" y="250"/>
                  </a:lnTo>
                  <a:lnTo>
                    <a:pt x="134" y="250"/>
                  </a:lnTo>
                </a:path>
              </a:pathLst>
            </a:custGeom>
            <a:noFill/>
            <a:ln w="222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552" name="Freeform 98">
              <a:extLst>
                <a:ext uri="{FF2B5EF4-FFF2-40B4-BE49-F238E27FC236}">
                  <a16:creationId xmlns:a16="http://schemas.microsoft.com/office/drawing/2014/main" id="{9035E03F-6CEE-5F29-5DBC-B4D9FBE180A6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0542" y="4815029"/>
              <a:ext cx="203582" cy="379818"/>
            </a:xfrm>
            <a:custGeom>
              <a:avLst/>
              <a:gdLst>
                <a:gd name="T0" fmla="*/ 0 w 134"/>
                <a:gd name="T1" fmla="*/ 0 h 250"/>
                <a:gd name="T2" fmla="*/ 134 w 134"/>
                <a:gd name="T3" fmla="*/ 0 h 250"/>
                <a:gd name="T4" fmla="*/ 134 w 134"/>
                <a:gd name="T5" fmla="*/ 250 h 250"/>
                <a:gd name="T6" fmla="*/ 0 w 134"/>
                <a:gd name="T7" fmla="*/ 250 h 2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4" h="250">
                  <a:moveTo>
                    <a:pt x="0" y="0"/>
                  </a:moveTo>
                  <a:lnTo>
                    <a:pt x="134" y="0"/>
                  </a:lnTo>
                  <a:lnTo>
                    <a:pt x="134" y="250"/>
                  </a:lnTo>
                  <a:lnTo>
                    <a:pt x="0" y="250"/>
                  </a:lnTo>
                </a:path>
              </a:pathLst>
            </a:custGeom>
            <a:noFill/>
            <a:ln w="222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553" name="Line 99">
              <a:extLst>
                <a:ext uri="{FF2B5EF4-FFF2-40B4-BE49-F238E27FC236}">
                  <a16:creationId xmlns:a16="http://schemas.microsoft.com/office/drawing/2014/main" id="{672895E0-0541-8677-D258-F78E80A354C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30475" y="5004937"/>
              <a:ext cx="154966" cy="0"/>
            </a:xfrm>
            <a:prstGeom prst="line">
              <a:avLst/>
            </a:prstGeom>
            <a:noFill/>
            <a:ln w="22225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554" name="Freeform 100">
              <a:extLst>
                <a:ext uri="{FF2B5EF4-FFF2-40B4-BE49-F238E27FC236}">
                  <a16:creationId xmlns:a16="http://schemas.microsoft.com/office/drawing/2014/main" id="{C4FC5EC8-E4B9-D175-A126-1A45DF37B7F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0112" y="4878838"/>
              <a:ext cx="65329" cy="126100"/>
            </a:xfrm>
            <a:custGeom>
              <a:avLst/>
              <a:gdLst>
                <a:gd name="T0" fmla="*/ 0 w 43"/>
                <a:gd name="T1" fmla="*/ 83 h 83"/>
                <a:gd name="T2" fmla="*/ 0 w 43"/>
                <a:gd name="T3" fmla="*/ 0 h 83"/>
                <a:gd name="T4" fmla="*/ 43 w 43"/>
                <a:gd name="T5" fmla="*/ 0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3" h="83">
                  <a:moveTo>
                    <a:pt x="0" y="83"/>
                  </a:moveTo>
                  <a:lnTo>
                    <a:pt x="0" y="0"/>
                  </a:lnTo>
                  <a:lnTo>
                    <a:pt x="43" y="0"/>
                  </a:lnTo>
                </a:path>
              </a:pathLst>
            </a:custGeom>
            <a:noFill/>
            <a:ln w="222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555" name="Line 101">
              <a:extLst>
                <a:ext uri="{FF2B5EF4-FFF2-40B4-BE49-F238E27FC236}">
                  <a16:creationId xmlns:a16="http://schemas.microsoft.com/office/drawing/2014/main" id="{9E60F9FC-CF77-A5AE-DA5F-C572370157D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94125" y="4878838"/>
              <a:ext cx="221814" cy="0"/>
            </a:xfrm>
            <a:prstGeom prst="line">
              <a:avLst/>
            </a:prstGeom>
            <a:noFill/>
            <a:ln w="22225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556" name="Rectangle 102">
              <a:extLst>
                <a:ext uri="{FF2B5EF4-FFF2-40B4-BE49-F238E27FC236}">
                  <a16:creationId xmlns:a16="http://schemas.microsoft.com/office/drawing/2014/main" id="{2FD75786-4611-6D9B-A6C1-E62DE1CE96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33114" y="4895549"/>
              <a:ext cx="271722" cy="20988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1400" u="none" strike="noStrike" cap="none" normalizeH="0" baseline="0" dirty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  <a:ea typeface="SimHei" panose="02010609060101010101" pitchFamily="49" charset="-122"/>
                </a:rPr>
                <a:t>DM</a:t>
              </a:r>
              <a:endParaRPr kumimoji="0" lang="zh-CN" altLang="zh-CN" sz="180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endParaRPr>
            </a:p>
          </p:txBody>
        </p:sp>
        <p:sp>
          <p:nvSpPr>
            <p:cNvPr id="557" name="Freeform 103">
              <a:extLst>
                <a:ext uri="{FF2B5EF4-FFF2-40B4-BE49-F238E27FC236}">
                  <a16:creationId xmlns:a16="http://schemas.microsoft.com/office/drawing/2014/main" id="{CA2EB362-3E39-003B-3881-903FFAA4CF75}"/>
                </a:ext>
              </a:extLst>
            </p:cNvPr>
            <p:cNvSpPr>
              <a:spLocks/>
            </p:cNvSpPr>
            <p:nvPr/>
          </p:nvSpPr>
          <p:spPr bwMode="auto">
            <a:xfrm>
              <a:off x="5146164" y="4815029"/>
              <a:ext cx="220295" cy="379818"/>
            </a:xfrm>
            <a:custGeom>
              <a:avLst/>
              <a:gdLst>
                <a:gd name="T0" fmla="*/ 145 w 145"/>
                <a:gd name="T1" fmla="*/ 0 h 250"/>
                <a:gd name="T2" fmla="*/ 0 w 145"/>
                <a:gd name="T3" fmla="*/ 0 h 250"/>
                <a:gd name="T4" fmla="*/ 0 w 145"/>
                <a:gd name="T5" fmla="*/ 250 h 250"/>
                <a:gd name="T6" fmla="*/ 145 w 145"/>
                <a:gd name="T7" fmla="*/ 250 h 2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45" h="250">
                  <a:moveTo>
                    <a:pt x="145" y="0"/>
                  </a:moveTo>
                  <a:lnTo>
                    <a:pt x="0" y="0"/>
                  </a:lnTo>
                  <a:lnTo>
                    <a:pt x="0" y="250"/>
                  </a:lnTo>
                  <a:lnTo>
                    <a:pt x="145" y="250"/>
                  </a:lnTo>
                </a:path>
              </a:pathLst>
            </a:custGeom>
            <a:noFill/>
            <a:ln w="222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558" name="Freeform 104">
              <a:extLst>
                <a:ext uri="{FF2B5EF4-FFF2-40B4-BE49-F238E27FC236}">
                  <a16:creationId xmlns:a16="http://schemas.microsoft.com/office/drawing/2014/main" id="{E1991FB3-BA8B-720F-ADC6-9428E94B5B2F}"/>
                </a:ext>
              </a:extLst>
            </p:cNvPr>
            <p:cNvSpPr>
              <a:spLocks/>
            </p:cNvSpPr>
            <p:nvPr/>
          </p:nvSpPr>
          <p:spPr bwMode="auto">
            <a:xfrm>
              <a:off x="5367978" y="4815029"/>
              <a:ext cx="218775" cy="379818"/>
            </a:xfrm>
            <a:custGeom>
              <a:avLst/>
              <a:gdLst>
                <a:gd name="T0" fmla="*/ 0 w 144"/>
                <a:gd name="T1" fmla="*/ 0 h 250"/>
                <a:gd name="T2" fmla="*/ 144 w 144"/>
                <a:gd name="T3" fmla="*/ 0 h 250"/>
                <a:gd name="T4" fmla="*/ 144 w 144"/>
                <a:gd name="T5" fmla="*/ 250 h 250"/>
                <a:gd name="T6" fmla="*/ 0 w 144"/>
                <a:gd name="T7" fmla="*/ 250 h 2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44" h="250">
                  <a:moveTo>
                    <a:pt x="0" y="0"/>
                  </a:moveTo>
                  <a:lnTo>
                    <a:pt x="144" y="0"/>
                  </a:lnTo>
                  <a:lnTo>
                    <a:pt x="144" y="250"/>
                  </a:lnTo>
                  <a:lnTo>
                    <a:pt x="0" y="250"/>
                  </a:lnTo>
                </a:path>
              </a:pathLst>
            </a:custGeom>
            <a:noFill/>
            <a:ln w="222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559" name="Rectangle 105">
              <a:extLst>
                <a:ext uri="{FF2B5EF4-FFF2-40B4-BE49-F238E27FC236}">
                  <a16:creationId xmlns:a16="http://schemas.microsoft.com/office/drawing/2014/main" id="{F398583E-D89C-8B96-0AA4-9F49241A9B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817160" y="4888257"/>
              <a:ext cx="320132" cy="20988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1400" u="none" strike="noStrike" cap="none" normalizeH="0" baseline="0" dirty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  <a:ea typeface="SimHei" panose="02010609060101010101" pitchFamily="49" charset="-122"/>
                </a:rPr>
                <a:t>Reg</a:t>
              </a:r>
              <a:endParaRPr kumimoji="0" lang="zh-CN" altLang="zh-CN" sz="180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endParaRPr>
            </a:p>
          </p:txBody>
        </p:sp>
        <p:sp>
          <p:nvSpPr>
            <p:cNvPr id="560" name="Freeform 106">
              <a:extLst>
                <a:ext uri="{FF2B5EF4-FFF2-40B4-BE49-F238E27FC236}">
                  <a16:creationId xmlns:a16="http://schemas.microsoft.com/office/drawing/2014/main" id="{63D5648A-A422-7FFD-FA10-88BA0052DDDD}"/>
                </a:ext>
              </a:extLst>
            </p:cNvPr>
            <p:cNvSpPr>
              <a:spLocks/>
            </p:cNvSpPr>
            <p:nvPr/>
          </p:nvSpPr>
          <p:spPr bwMode="auto">
            <a:xfrm>
              <a:off x="5784258" y="4815029"/>
              <a:ext cx="186871" cy="379818"/>
            </a:xfrm>
            <a:custGeom>
              <a:avLst/>
              <a:gdLst>
                <a:gd name="T0" fmla="*/ 123 w 123"/>
                <a:gd name="T1" fmla="*/ 0 h 250"/>
                <a:gd name="T2" fmla="*/ 0 w 123"/>
                <a:gd name="T3" fmla="*/ 0 h 250"/>
                <a:gd name="T4" fmla="*/ 0 w 123"/>
                <a:gd name="T5" fmla="*/ 250 h 250"/>
                <a:gd name="T6" fmla="*/ 123 w 123"/>
                <a:gd name="T7" fmla="*/ 250 h 2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3" h="250">
                  <a:moveTo>
                    <a:pt x="123" y="0"/>
                  </a:moveTo>
                  <a:lnTo>
                    <a:pt x="0" y="0"/>
                  </a:lnTo>
                  <a:lnTo>
                    <a:pt x="0" y="250"/>
                  </a:lnTo>
                  <a:lnTo>
                    <a:pt x="123" y="250"/>
                  </a:lnTo>
                </a:path>
              </a:pathLst>
            </a:custGeom>
            <a:noFill/>
            <a:ln w="222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561" name="Freeform 107">
              <a:extLst>
                <a:ext uri="{FF2B5EF4-FFF2-40B4-BE49-F238E27FC236}">
                  <a16:creationId xmlns:a16="http://schemas.microsoft.com/office/drawing/2014/main" id="{519896B5-8512-C82A-A5CB-498411C799D4}"/>
                </a:ext>
              </a:extLst>
            </p:cNvPr>
            <p:cNvSpPr>
              <a:spLocks/>
            </p:cNvSpPr>
            <p:nvPr/>
          </p:nvSpPr>
          <p:spPr bwMode="auto">
            <a:xfrm>
              <a:off x="5972648" y="4815029"/>
              <a:ext cx="194467" cy="379818"/>
            </a:xfrm>
            <a:custGeom>
              <a:avLst/>
              <a:gdLst>
                <a:gd name="T0" fmla="*/ 0 w 128"/>
                <a:gd name="T1" fmla="*/ 0 h 250"/>
                <a:gd name="T2" fmla="*/ 128 w 128"/>
                <a:gd name="T3" fmla="*/ 0 h 250"/>
                <a:gd name="T4" fmla="*/ 128 w 128"/>
                <a:gd name="T5" fmla="*/ 250 h 250"/>
                <a:gd name="T6" fmla="*/ 0 w 128"/>
                <a:gd name="T7" fmla="*/ 250 h 2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8" h="250">
                  <a:moveTo>
                    <a:pt x="0" y="0"/>
                  </a:moveTo>
                  <a:lnTo>
                    <a:pt x="128" y="0"/>
                  </a:lnTo>
                  <a:lnTo>
                    <a:pt x="128" y="250"/>
                  </a:lnTo>
                  <a:lnTo>
                    <a:pt x="0" y="250"/>
                  </a:lnTo>
                </a:path>
              </a:pathLst>
            </a:custGeom>
            <a:noFill/>
            <a:ln w="222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562" name="Line 108">
              <a:extLst>
                <a:ext uri="{FF2B5EF4-FFF2-40B4-BE49-F238E27FC236}">
                  <a16:creationId xmlns:a16="http://schemas.microsoft.com/office/drawing/2014/main" id="{08964FA2-0974-19CF-162D-24EE83DD4A3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580676" y="5004937"/>
              <a:ext cx="186871" cy="0"/>
            </a:xfrm>
            <a:prstGeom prst="line">
              <a:avLst/>
            </a:prstGeom>
            <a:noFill/>
            <a:ln w="22225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563" name="Line 109">
              <a:extLst>
                <a:ext uri="{FF2B5EF4-FFF2-40B4-BE49-F238E27FC236}">
                  <a16:creationId xmlns:a16="http://schemas.microsoft.com/office/drawing/2014/main" id="{C228ACC7-FF21-A10B-923F-FAD8F941B0A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925870" y="5004937"/>
              <a:ext cx="205102" cy="0"/>
            </a:xfrm>
            <a:prstGeom prst="line">
              <a:avLst/>
            </a:prstGeom>
            <a:noFill/>
            <a:ln w="22225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564" name="Line 110">
              <a:extLst>
                <a:ext uri="{FF2B5EF4-FFF2-40B4-BE49-F238E27FC236}">
                  <a16:creationId xmlns:a16="http://schemas.microsoft.com/office/drawing/2014/main" id="{504EFBE3-0F8C-8F7C-D7BE-074BD2D1C95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94125" y="5132556"/>
              <a:ext cx="221814" cy="0"/>
            </a:xfrm>
            <a:prstGeom prst="line">
              <a:avLst/>
            </a:prstGeom>
            <a:noFill/>
            <a:ln w="22225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565" name="Line 111">
              <a:extLst>
                <a:ext uri="{FF2B5EF4-FFF2-40B4-BE49-F238E27FC236}">
                  <a16:creationId xmlns:a16="http://schemas.microsoft.com/office/drawing/2014/main" id="{D5A8EF59-C7A5-C761-410C-91C1D151CC1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509589" y="5132556"/>
              <a:ext cx="0" cy="253719"/>
            </a:xfrm>
            <a:prstGeom prst="line">
              <a:avLst/>
            </a:prstGeom>
            <a:noFill/>
            <a:ln w="254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566" name="Line 112">
              <a:extLst>
                <a:ext uri="{FF2B5EF4-FFF2-40B4-BE49-F238E27FC236}">
                  <a16:creationId xmlns:a16="http://schemas.microsoft.com/office/drawing/2014/main" id="{E40E82B0-2B52-A9DB-C72B-BA2838DD9AA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509589" y="5386275"/>
              <a:ext cx="457301" cy="0"/>
            </a:xfrm>
            <a:prstGeom prst="line">
              <a:avLst/>
            </a:prstGeom>
            <a:noFill/>
            <a:ln w="254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567" name="Line 113">
              <a:extLst>
                <a:ext uri="{FF2B5EF4-FFF2-40B4-BE49-F238E27FC236}">
                  <a16:creationId xmlns:a16="http://schemas.microsoft.com/office/drawing/2014/main" id="{48D69902-D7AF-4AB4-E595-0BDE3910B67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966890" y="5004937"/>
              <a:ext cx="0" cy="381338"/>
            </a:xfrm>
            <a:prstGeom prst="line">
              <a:avLst/>
            </a:prstGeom>
            <a:noFill/>
            <a:ln w="254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568" name="Line 114">
              <a:extLst>
                <a:ext uri="{FF2B5EF4-FFF2-40B4-BE49-F238E27FC236}">
                  <a16:creationId xmlns:a16="http://schemas.microsoft.com/office/drawing/2014/main" id="{35AAF669-71F8-AFAD-10BA-6B7C20299CE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080835" y="5004937"/>
              <a:ext cx="0" cy="317528"/>
            </a:xfrm>
            <a:prstGeom prst="line">
              <a:avLst/>
            </a:prstGeom>
            <a:noFill/>
            <a:ln w="254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569" name="Line 115">
              <a:extLst>
                <a:ext uri="{FF2B5EF4-FFF2-40B4-BE49-F238E27FC236}">
                  <a16:creationId xmlns:a16="http://schemas.microsoft.com/office/drawing/2014/main" id="{F268E55B-95E2-855D-0E29-3EE9CEA0047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080835" y="5322465"/>
              <a:ext cx="589477" cy="0"/>
            </a:xfrm>
            <a:prstGeom prst="line">
              <a:avLst/>
            </a:prstGeom>
            <a:noFill/>
            <a:ln w="254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570" name="Line 116">
              <a:extLst>
                <a:ext uri="{FF2B5EF4-FFF2-40B4-BE49-F238E27FC236}">
                  <a16:creationId xmlns:a16="http://schemas.microsoft.com/office/drawing/2014/main" id="{6D406C05-446B-9A41-4926-41E0AA7B449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670313" y="5004937"/>
              <a:ext cx="0" cy="317528"/>
            </a:xfrm>
            <a:prstGeom prst="line">
              <a:avLst/>
            </a:prstGeom>
            <a:noFill/>
            <a:ln w="254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571" name="Freeform 117">
              <a:extLst>
                <a:ext uri="{FF2B5EF4-FFF2-40B4-BE49-F238E27FC236}">
                  <a16:creationId xmlns:a16="http://schemas.microsoft.com/office/drawing/2014/main" id="{3085076D-5022-59AD-DF20-53AA00BABCAA}"/>
                </a:ext>
              </a:extLst>
            </p:cNvPr>
            <p:cNvSpPr>
              <a:spLocks/>
            </p:cNvSpPr>
            <p:nvPr/>
          </p:nvSpPr>
          <p:spPr bwMode="auto">
            <a:xfrm>
              <a:off x="5211493" y="5386275"/>
              <a:ext cx="285623" cy="633537"/>
            </a:xfrm>
            <a:custGeom>
              <a:avLst/>
              <a:gdLst>
                <a:gd name="T0" fmla="*/ 0 w 188"/>
                <a:gd name="T1" fmla="*/ 278 h 417"/>
                <a:gd name="T2" fmla="*/ 63 w 188"/>
                <a:gd name="T3" fmla="*/ 208 h 417"/>
                <a:gd name="T4" fmla="*/ 0 w 188"/>
                <a:gd name="T5" fmla="*/ 139 h 417"/>
                <a:gd name="T6" fmla="*/ 0 w 188"/>
                <a:gd name="T7" fmla="*/ 0 h 417"/>
                <a:gd name="T8" fmla="*/ 188 w 188"/>
                <a:gd name="T9" fmla="*/ 139 h 417"/>
                <a:gd name="T10" fmla="*/ 188 w 188"/>
                <a:gd name="T11" fmla="*/ 278 h 417"/>
                <a:gd name="T12" fmla="*/ 0 w 188"/>
                <a:gd name="T13" fmla="*/ 417 h 417"/>
                <a:gd name="T14" fmla="*/ 0 w 188"/>
                <a:gd name="T15" fmla="*/ 278 h 4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88" h="417">
                  <a:moveTo>
                    <a:pt x="0" y="278"/>
                  </a:moveTo>
                  <a:lnTo>
                    <a:pt x="63" y="208"/>
                  </a:lnTo>
                  <a:lnTo>
                    <a:pt x="0" y="139"/>
                  </a:lnTo>
                  <a:lnTo>
                    <a:pt x="0" y="0"/>
                  </a:lnTo>
                  <a:lnTo>
                    <a:pt x="188" y="139"/>
                  </a:lnTo>
                  <a:lnTo>
                    <a:pt x="188" y="278"/>
                  </a:lnTo>
                  <a:lnTo>
                    <a:pt x="0" y="417"/>
                  </a:lnTo>
                  <a:lnTo>
                    <a:pt x="0" y="278"/>
                  </a:lnTo>
                </a:path>
              </a:pathLst>
            </a:custGeom>
            <a:noFill/>
            <a:ln w="222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572" name="Rectangle 118">
              <a:extLst>
                <a:ext uri="{FF2B5EF4-FFF2-40B4-BE49-F238E27FC236}">
                  <a16:creationId xmlns:a16="http://schemas.microsoft.com/office/drawing/2014/main" id="{770B90D8-CB64-ABDE-7873-E044AA67DEF4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5075504" y="5595824"/>
              <a:ext cx="635054" cy="20988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1400" u="none" strike="noStrike" cap="none" normalizeH="0" baseline="0" dirty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  <a:ea typeface="SimHei" panose="02010609060101010101" pitchFamily="49" charset="-122"/>
                </a:rPr>
                <a:t>ALU</a:t>
              </a:r>
              <a:endParaRPr kumimoji="0" lang="zh-CN" altLang="zh-CN" sz="140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endParaRPr>
            </a:p>
          </p:txBody>
        </p:sp>
        <p:sp>
          <p:nvSpPr>
            <p:cNvPr id="573" name="Rectangle 119">
              <a:extLst>
                <a:ext uri="{FF2B5EF4-FFF2-40B4-BE49-F238E27FC236}">
                  <a16:creationId xmlns:a16="http://schemas.microsoft.com/office/drawing/2014/main" id="{2EB18CCC-6CB9-EA1B-4AFF-8A9C90C06F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81762" y="5591376"/>
              <a:ext cx="193640" cy="20988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1400" u="none" strike="noStrike" cap="none" normalizeH="0" baseline="0" dirty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  <a:ea typeface="SimHei" panose="02010609060101010101" pitchFamily="49" charset="-122"/>
                </a:rPr>
                <a:t>IM</a:t>
              </a:r>
              <a:endParaRPr kumimoji="0" lang="zh-CN" altLang="zh-CN" sz="180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endParaRPr>
            </a:p>
          </p:txBody>
        </p:sp>
        <p:sp>
          <p:nvSpPr>
            <p:cNvPr id="574" name="Freeform 120">
              <a:extLst>
                <a:ext uri="{FF2B5EF4-FFF2-40B4-BE49-F238E27FC236}">
                  <a16:creationId xmlns:a16="http://schemas.microsoft.com/office/drawing/2014/main" id="{10C12C7C-7A07-B275-DA43-F813F8E26B13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1602" y="5512374"/>
              <a:ext cx="229824" cy="379818"/>
            </a:xfrm>
            <a:custGeom>
              <a:avLst/>
              <a:gdLst>
                <a:gd name="T0" fmla="*/ 156 w 156"/>
                <a:gd name="T1" fmla="*/ 0 h 250"/>
                <a:gd name="T2" fmla="*/ 0 w 156"/>
                <a:gd name="T3" fmla="*/ 0 h 250"/>
                <a:gd name="T4" fmla="*/ 0 w 156"/>
                <a:gd name="T5" fmla="*/ 250 h 250"/>
                <a:gd name="T6" fmla="*/ 156 w 156"/>
                <a:gd name="T7" fmla="*/ 250 h 2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56" h="250">
                  <a:moveTo>
                    <a:pt x="156" y="0"/>
                  </a:moveTo>
                  <a:lnTo>
                    <a:pt x="0" y="0"/>
                  </a:lnTo>
                  <a:lnTo>
                    <a:pt x="0" y="250"/>
                  </a:lnTo>
                  <a:lnTo>
                    <a:pt x="156" y="250"/>
                  </a:lnTo>
                </a:path>
              </a:pathLst>
            </a:custGeom>
            <a:noFill/>
            <a:ln w="222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575" name="Freeform 121">
              <a:extLst>
                <a:ext uri="{FF2B5EF4-FFF2-40B4-BE49-F238E27FC236}">
                  <a16:creationId xmlns:a16="http://schemas.microsoft.com/office/drawing/2014/main" id="{68D54BD0-997A-1C31-D123-4FE70699B2E7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1427" y="5512374"/>
              <a:ext cx="227891" cy="379818"/>
            </a:xfrm>
            <a:custGeom>
              <a:avLst/>
              <a:gdLst>
                <a:gd name="T0" fmla="*/ 0 w 150"/>
                <a:gd name="T1" fmla="*/ 0 h 250"/>
                <a:gd name="T2" fmla="*/ 150 w 150"/>
                <a:gd name="T3" fmla="*/ 0 h 250"/>
                <a:gd name="T4" fmla="*/ 150 w 150"/>
                <a:gd name="T5" fmla="*/ 250 h 250"/>
                <a:gd name="T6" fmla="*/ 0 w 150"/>
                <a:gd name="T7" fmla="*/ 250 h 2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50" h="250">
                  <a:moveTo>
                    <a:pt x="0" y="0"/>
                  </a:moveTo>
                  <a:lnTo>
                    <a:pt x="150" y="0"/>
                  </a:lnTo>
                  <a:lnTo>
                    <a:pt x="150" y="250"/>
                  </a:lnTo>
                  <a:lnTo>
                    <a:pt x="0" y="250"/>
                  </a:lnTo>
                </a:path>
              </a:pathLst>
            </a:custGeom>
            <a:noFill/>
            <a:ln w="222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576" name="Rectangle 122">
              <a:extLst>
                <a:ext uri="{FF2B5EF4-FFF2-40B4-BE49-F238E27FC236}">
                  <a16:creationId xmlns:a16="http://schemas.microsoft.com/office/drawing/2014/main" id="{F5EBAB71-7F5F-4AE6-26D9-656233D444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16414" y="5585906"/>
              <a:ext cx="320132" cy="20988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1400" u="none" strike="noStrike" cap="none" normalizeH="0" baseline="0" dirty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  <a:ea typeface="SimHei" panose="02010609060101010101" pitchFamily="49" charset="-122"/>
                </a:rPr>
                <a:t>Reg</a:t>
              </a:r>
              <a:endParaRPr kumimoji="0" lang="zh-CN" altLang="zh-CN" sz="180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endParaRPr>
            </a:p>
          </p:txBody>
        </p:sp>
        <p:sp>
          <p:nvSpPr>
            <p:cNvPr id="577" name="Freeform 123">
              <a:extLst>
                <a:ext uri="{FF2B5EF4-FFF2-40B4-BE49-F238E27FC236}">
                  <a16:creationId xmlns:a16="http://schemas.microsoft.com/office/drawing/2014/main" id="{71E89DD7-D391-8F71-B9C9-D9353CB6F7F8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5206" y="5512373"/>
              <a:ext cx="203582" cy="379818"/>
            </a:xfrm>
            <a:custGeom>
              <a:avLst/>
              <a:gdLst>
                <a:gd name="T0" fmla="*/ 134 w 134"/>
                <a:gd name="T1" fmla="*/ 0 h 250"/>
                <a:gd name="T2" fmla="*/ 0 w 134"/>
                <a:gd name="T3" fmla="*/ 0 h 250"/>
                <a:gd name="T4" fmla="*/ 0 w 134"/>
                <a:gd name="T5" fmla="*/ 250 h 250"/>
                <a:gd name="T6" fmla="*/ 134 w 134"/>
                <a:gd name="T7" fmla="*/ 250 h 2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4" h="250">
                  <a:moveTo>
                    <a:pt x="134" y="0"/>
                  </a:moveTo>
                  <a:lnTo>
                    <a:pt x="0" y="0"/>
                  </a:lnTo>
                  <a:lnTo>
                    <a:pt x="0" y="250"/>
                  </a:lnTo>
                  <a:lnTo>
                    <a:pt x="134" y="250"/>
                  </a:lnTo>
                </a:path>
              </a:pathLst>
            </a:custGeom>
            <a:noFill/>
            <a:ln w="222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578" name="Freeform 124">
              <a:extLst>
                <a:ext uri="{FF2B5EF4-FFF2-40B4-BE49-F238E27FC236}">
                  <a16:creationId xmlns:a16="http://schemas.microsoft.com/office/drawing/2014/main" id="{64729228-B16A-D162-8515-936992237A8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8501" y="5512374"/>
              <a:ext cx="195986" cy="379818"/>
            </a:xfrm>
            <a:custGeom>
              <a:avLst/>
              <a:gdLst>
                <a:gd name="T0" fmla="*/ 0 w 129"/>
                <a:gd name="T1" fmla="*/ 0 h 250"/>
                <a:gd name="T2" fmla="*/ 129 w 129"/>
                <a:gd name="T3" fmla="*/ 0 h 250"/>
                <a:gd name="T4" fmla="*/ 129 w 129"/>
                <a:gd name="T5" fmla="*/ 250 h 250"/>
                <a:gd name="T6" fmla="*/ 0 w 129"/>
                <a:gd name="T7" fmla="*/ 250 h 2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9" h="250">
                  <a:moveTo>
                    <a:pt x="0" y="0"/>
                  </a:moveTo>
                  <a:lnTo>
                    <a:pt x="129" y="0"/>
                  </a:lnTo>
                  <a:lnTo>
                    <a:pt x="129" y="250"/>
                  </a:lnTo>
                  <a:lnTo>
                    <a:pt x="0" y="250"/>
                  </a:lnTo>
                </a:path>
              </a:pathLst>
            </a:custGeom>
            <a:noFill/>
            <a:ln w="222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579" name="Line 125">
              <a:extLst>
                <a:ext uri="{FF2B5EF4-FFF2-40B4-BE49-F238E27FC236}">
                  <a16:creationId xmlns:a16="http://schemas.microsoft.com/office/drawing/2014/main" id="{0589C9F5-0F0C-43FF-4211-3124BB416BB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418433" y="5702283"/>
              <a:ext cx="156485" cy="0"/>
            </a:xfrm>
            <a:prstGeom prst="line">
              <a:avLst/>
            </a:prstGeom>
            <a:noFill/>
            <a:ln w="22225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580" name="Freeform 126">
              <a:extLst>
                <a:ext uri="{FF2B5EF4-FFF2-40B4-BE49-F238E27FC236}">
                  <a16:creationId xmlns:a16="http://schemas.microsoft.com/office/drawing/2014/main" id="{0DE6F02C-A8D5-74A4-2454-9324517363B1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9589" y="5576183"/>
              <a:ext cx="63809" cy="126100"/>
            </a:xfrm>
            <a:custGeom>
              <a:avLst/>
              <a:gdLst>
                <a:gd name="T0" fmla="*/ 0 w 42"/>
                <a:gd name="T1" fmla="*/ 83 h 83"/>
                <a:gd name="T2" fmla="*/ 0 w 42"/>
                <a:gd name="T3" fmla="*/ 0 h 83"/>
                <a:gd name="T4" fmla="*/ 42 w 42"/>
                <a:gd name="T5" fmla="*/ 0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2" h="83">
                  <a:moveTo>
                    <a:pt x="0" y="83"/>
                  </a:moveTo>
                  <a:lnTo>
                    <a:pt x="0" y="0"/>
                  </a:lnTo>
                  <a:lnTo>
                    <a:pt x="42" y="0"/>
                  </a:lnTo>
                </a:path>
              </a:pathLst>
            </a:custGeom>
            <a:noFill/>
            <a:ln w="222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581" name="Line 127">
              <a:extLst>
                <a:ext uri="{FF2B5EF4-FFF2-40B4-BE49-F238E27FC236}">
                  <a16:creationId xmlns:a16="http://schemas.microsoft.com/office/drawing/2014/main" id="{6F1B8E52-3FA8-028A-E1D3-B27AE079F2B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983602" y="5576183"/>
              <a:ext cx="212698" cy="0"/>
            </a:xfrm>
            <a:prstGeom prst="line">
              <a:avLst/>
            </a:prstGeom>
            <a:noFill/>
            <a:ln w="22225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582" name="Rectangle 128">
              <a:extLst>
                <a:ext uri="{FF2B5EF4-FFF2-40B4-BE49-F238E27FC236}">
                  <a16:creationId xmlns:a16="http://schemas.microsoft.com/office/drawing/2014/main" id="{B6FAF731-D1AE-4107-E373-D01208BC652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821072" y="5591376"/>
              <a:ext cx="271722" cy="20988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1400" u="none" strike="noStrike" cap="none" normalizeH="0" baseline="0" dirty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  <a:ea typeface="SimHei" panose="02010609060101010101" pitchFamily="49" charset="-122"/>
                </a:rPr>
                <a:t>DM</a:t>
              </a:r>
              <a:endParaRPr kumimoji="0" lang="zh-CN" altLang="zh-CN" sz="180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endParaRPr>
            </a:p>
          </p:txBody>
        </p:sp>
        <p:sp>
          <p:nvSpPr>
            <p:cNvPr id="583" name="Freeform 129">
              <a:extLst>
                <a:ext uri="{FF2B5EF4-FFF2-40B4-BE49-F238E27FC236}">
                  <a16:creationId xmlns:a16="http://schemas.microsoft.com/office/drawing/2014/main" id="{11B8439A-3783-034A-D5B0-39E15DFEEEEC}"/>
                </a:ext>
              </a:extLst>
            </p:cNvPr>
            <p:cNvSpPr>
              <a:spLocks/>
            </p:cNvSpPr>
            <p:nvPr/>
          </p:nvSpPr>
          <p:spPr bwMode="auto">
            <a:xfrm>
              <a:off x="5735642" y="5512374"/>
              <a:ext cx="220295" cy="379818"/>
            </a:xfrm>
            <a:custGeom>
              <a:avLst/>
              <a:gdLst>
                <a:gd name="T0" fmla="*/ 145 w 145"/>
                <a:gd name="T1" fmla="*/ 0 h 250"/>
                <a:gd name="T2" fmla="*/ 0 w 145"/>
                <a:gd name="T3" fmla="*/ 0 h 250"/>
                <a:gd name="T4" fmla="*/ 0 w 145"/>
                <a:gd name="T5" fmla="*/ 250 h 250"/>
                <a:gd name="T6" fmla="*/ 145 w 145"/>
                <a:gd name="T7" fmla="*/ 250 h 2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45" h="250">
                  <a:moveTo>
                    <a:pt x="145" y="0"/>
                  </a:moveTo>
                  <a:lnTo>
                    <a:pt x="0" y="0"/>
                  </a:lnTo>
                  <a:lnTo>
                    <a:pt x="0" y="250"/>
                  </a:lnTo>
                  <a:lnTo>
                    <a:pt x="145" y="250"/>
                  </a:lnTo>
                </a:path>
              </a:pathLst>
            </a:custGeom>
            <a:noFill/>
            <a:ln w="222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584" name="Freeform 130">
              <a:extLst>
                <a:ext uri="{FF2B5EF4-FFF2-40B4-BE49-F238E27FC236}">
                  <a16:creationId xmlns:a16="http://schemas.microsoft.com/office/drawing/2014/main" id="{E91B1B5B-6DCC-058A-E241-2761BBFA3D4B}"/>
                </a:ext>
              </a:extLst>
            </p:cNvPr>
            <p:cNvSpPr>
              <a:spLocks/>
            </p:cNvSpPr>
            <p:nvPr/>
          </p:nvSpPr>
          <p:spPr bwMode="auto">
            <a:xfrm>
              <a:off x="5948340" y="5512374"/>
              <a:ext cx="227891" cy="379818"/>
            </a:xfrm>
            <a:custGeom>
              <a:avLst/>
              <a:gdLst>
                <a:gd name="T0" fmla="*/ 0 w 150"/>
                <a:gd name="T1" fmla="*/ 0 h 250"/>
                <a:gd name="T2" fmla="*/ 150 w 150"/>
                <a:gd name="T3" fmla="*/ 0 h 250"/>
                <a:gd name="T4" fmla="*/ 150 w 150"/>
                <a:gd name="T5" fmla="*/ 250 h 250"/>
                <a:gd name="T6" fmla="*/ 0 w 150"/>
                <a:gd name="T7" fmla="*/ 250 h 2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50" h="250">
                  <a:moveTo>
                    <a:pt x="0" y="0"/>
                  </a:moveTo>
                  <a:lnTo>
                    <a:pt x="150" y="0"/>
                  </a:lnTo>
                  <a:lnTo>
                    <a:pt x="150" y="250"/>
                  </a:lnTo>
                  <a:lnTo>
                    <a:pt x="0" y="250"/>
                  </a:lnTo>
                </a:path>
              </a:pathLst>
            </a:custGeom>
            <a:noFill/>
            <a:ln w="222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585" name="Rectangle 131">
              <a:extLst>
                <a:ext uri="{FF2B5EF4-FFF2-40B4-BE49-F238E27FC236}">
                  <a16:creationId xmlns:a16="http://schemas.microsoft.com/office/drawing/2014/main" id="{CED7AAD6-1B25-4D93-3774-EEF8E0876C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05118" y="5584083"/>
              <a:ext cx="320132" cy="20988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1400" u="none" strike="noStrike" cap="none" normalizeH="0" baseline="0" dirty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  <a:ea typeface="SimHei" panose="02010609060101010101" pitchFamily="49" charset="-122"/>
                </a:rPr>
                <a:t>Reg</a:t>
              </a:r>
              <a:endParaRPr kumimoji="0" lang="zh-CN" altLang="zh-CN" sz="180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endParaRPr>
            </a:p>
          </p:txBody>
        </p:sp>
        <p:sp>
          <p:nvSpPr>
            <p:cNvPr id="586" name="Freeform 132">
              <a:extLst>
                <a:ext uri="{FF2B5EF4-FFF2-40B4-BE49-F238E27FC236}">
                  <a16:creationId xmlns:a16="http://schemas.microsoft.com/office/drawing/2014/main" id="{5BBC076D-C4A9-F164-5E88-32C6C8ED50A7}"/>
                </a:ext>
              </a:extLst>
            </p:cNvPr>
            <p:cNvSpPr>
              <a:spLocks/>
            </p:cNvSpPr>
            <p:nvPr/>
          </p:nvSpPr>
          <p:spPr bwMode="auto">
            <a:xfrm>
              <a:off x="6373736" y="5512374"/>
              <a:ext cx="186871" cy="379818"/>
            </a:xfrm>
            <a:custGeom>
              <a:avLst/>
              <a:gdLst>
                <a:gd name="T0" fmla="*/ 123 w 123"/>
                <a:gd name="T1" fmla="*/ 0 h 250"/>
                <a:gd name="T2" fmla="*/ 0 w 123"/>
                <a:gd name="T3" fmla="*/ 0 h 250"/>
                <a:gd name="T4" fmla="*/ 0 w 123"/>
                <a:gd name="T5" fmla="*/ 250 h 250"/>
                <a:gd name="T6" fmla="*/ 123 w 123"/>
                <a:gd name="T7" fmla="*/ 250 h 2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3" h="250">
                  <a:moveTo>
                    <a:pt x="123" y="0"/>
                  </a:moveTo>
                  <a:lnTo>
                    <a:pt x="0" y="0"/>
                  </a:lnTo>
                  <a:lnTo>
                    <a:pt x="0" y="250"/>
                  </a:lnTo>
                  <a:lnTo>
                    <a:pt x="123" y="250"/>
                  </a:lnTo>
                </a:path>
              </a:pathLst>
            </a:custGeom>
            <a:noFill/>
            <a:ln w="222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587" name="Freeform 133">
              <a:extLst>
                <a:ext uri="{FF2B5EF4-FFF2-40B4-BE49-F238E27FC236}">
                  <a16:creationId xmlns:a16="http://schemas.microsoft.com/office/drawing/2014/main" id="{FDF1521E-CEBD-D68B-3572-3ACA66A5104F}"/>
                </a:ext>
              </a:extLst>
            </p:cNvPr>
            <p:cNvSpPr>
              <a:spLocks/>
            </p:cNvSpPr>
            <p:nvPr/>
          </p:nvSpPr>
          <p:spPr bwMode="auto">
            <a:xfrm>
              <a:off x="6560606" y="5512374"/>
              <a:ext cx="195986" cy="379818"/>
            </a:xfrm>
            <a:custGeom>
              <a:avLst/>
              <a:gdLst>
                <a:gd name="T0" fmla="*/ 0 w 129"/>
                <a:gd name="T1" fmla="*/ 0 h 250"/>
                <a:gd name="T2" fmla="*/ 129 w 129"/>
                <a:gd name="T3" fmla="*/ 0 h 250"/>
                <a:gd name="T4" fmla="*/ 129 w 129"/>
                <a:gd name="T5" fmla="*/ 250 h 250"/>
                <a:gd name="T6" fmla="*/ 0 w 129"/>
                <a:gd name="T7" fmla="*/ 250 h 2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9" h="250">
                  <a:moveTo>
                    <a:pt x="0" y="0"/>
                  </a:moveTo>
                  <a:lnTo>
                    <a:pt x="129" y="0"/>
                  </a:lnTo>
                  <a:lnTo>
                    <a:pt x="129" y="250"/>
                  </a:lnTo>
                  <a:lnTo>
                    <a:pt x="0" y="250"/>
                  </a:lnTo>
                </a:path>
              </a:pathLst>
            </a:custGeom>
            <a:noFill/>
            <a:ln w="222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588" name="Line 134">
              <a:extLst>
                <a:ext uri="{FF2B5EF4-FFF2-40B4-BE49-F238E27FC236}">
                  <a16:creationId xmlns:a16="http://schemas.microsoft.com/office/drawing/2014/main" id="{10DCD4AB-CD8D-1ADD-90DE-2B7B922E522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168634" y="5702283"/>
              <a:ext cx="188390" cy="0"/>
            </a:xfrm>
            <a:prstGeom prst="line">
              <a:avLst/>
            </a:prstGeom>
            <a:noFill/>
            <a:ln w="22225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589" name="Line 135">
              <a:extLst>
                <a:ext uri="{FF2B5EF4-FFF2-40B4-BE49-F238E27FC236}">
                  <a16:creationId xmlns:a16="http://schemas.microsoft.com/office/drawing/2014/main" id="{C22B2704-FBE6-3147-6543-741BE357E04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506231" y="5702283"/>
              <a:ext cx="212698" cy="0"/>
            </a:xfrm>
            <a:prstGeom prst="line">
              <a:avLst/>
            </a:prstGeom>
            <a:noFill/>
            <a:ln w="22225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590" name="Line 136">
              <a:extLst>
                <a:ext uri="{FF2B5EF4-FFF2-40B4-BE49-F238E27FC236}">
                  <a16:creationId xmlns:a16="http://schemas.microsoft.com/office/drawing/2014/main" id="{D3F56386-201A-3E35-1590-8240CA22F09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983602" y="5829902"/>
              <a:ext cx="212698" cy="0"/>
            </a:xfrm>
            <a:prstGeom prst="line">
              <a:avLst/>
            </a:prstGeom>
            <a:noFill/>
            <a:ln w="22225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591" name="Line 137">
              <a:extLst>
                <a:ext uri="{FF2B5EF4-FFF2-40B4-BE49-F238E27FC236}">
                  <a16:creationId xmlns:a16="http://schemas.microsoft.com/office/drawing/2014/main" id="{1B3AA098-F181-69E0-5235-08BAA69FE5D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097548" y="5829902"/>
              <a:ext cx="0" cy="253719"/>
            </a:xfrm>
            <a:prstGeom prst="line">
              <a:avLst/>
            </a:prstGeom>
            <a:noFill/>
            <a:ln w="254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592" name="Line 138">
              <a:extLst>
                <a:ext uri="{FF2B5EF4-FFF2-40B4-BE49-F238E27FC236}">
                  <a16:creationId xmlns:a16="http://schemas.microsoft.com/office/drawing/2014/main" id="{A9C52DC5-052F-D23B-DD38-7D2E1C11534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097548" y="6083620"/>
              <a:ext cx="458820" cy="0"/>
            </a:xfrm>
            <a:prstGeom prst="line">
              <a:avLst/>
            </a:prstGeom>
            <a:noFill/>
            <a:ln w="254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593" name="Line 139">
              <a:extLst>
                <a:ext uri="{FF2B5EF4-FFF2-40B4-BE49-F238E27FC236}">
                  <a16:creationId xmlns:a16="http://schemas.microsoft.com/office/drawing/2014/main" id="{DC3F819F-213E-E033-CABA-D6F176ACF97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556368" y="5702283"/>
              <a:ext cx="0" cy="381338"/>
            </a:xfrm>
            <a:prstGeom prst="line">
              <a:avLst/>
            </a:prstGeom>
            <a:noFill/>
            <a:ln w="254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594" name="Line 140">
              <a:extLst>
                <a:ext uri="{FF2B5EF4-FFF2-40B4-BE49-F238E27FC236}">
                  <a16:creationId xmlns:a16="http://schemas.microsoft.com/office/drawing/2014/main" id="{41B48F8A-6BDC-4CBE-DF08-E198C6E6C10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670313" y="5702283"/>
              <a:ext cx="0" cy="317528"/>
            </a:xfrm>
            <a:prstGeom prst="line">
              <a:avLst/>
            </a:prstGeom>
            <a:noFill/>
            <a:ln w="254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595" name="Line 141">
              <a:extLst>
                <a:ext uri="{FF2B5EF4-FFF2-40B4-BE49-F238E27FC236}">
                  <a16:creationId xmlns:a16="http://schemas.microsoft.com/office/drawing/2014/main" id="{66EE7C6A-367B-EC9B-FF83-B2C29F6176F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670313" y="6019810"/>
              <a:ext cx="587958" cy="0"/>
            </a:xfrm>
            <a:prstGeom prst="line">
              <a:avLst/>
            </a:prstGeom>
            <a:noFill/>
            <a:ln w="254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596" name="Line 142">
              <a:extLst>
                <a:ext uri="{FF2B5EF4-FFF2-40B4-BE49-F238E27FC236}">
                  <a16:creationId xmlns:a16="http://schemas.microsoft.com/office/drawing/2014/main" id="{1C8FA033-1738-4208-1E62-8D62DCE08B3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258271" y="5702283"/>
              <a:ext cx="0" cy="317528"/>
            </a:xfrm>
            <a:prstGeom prst="line">
              <a:avLst/>
            </a:prstGeom>
            <a:noFill/>
            <a:ln w="254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597" name="Freeform 143">
              <a:extLst>
                <a:ext uri="{FF2B5EF4-FFF2-40B4-BE49-F238E27FC236}">
                  <a16:creationId xmlns:a16="http://schemas.microsoft.com/office/drawing/2014/main" id="{E48602D9-2518-C32A-846B-B10E7514FD8D}"/>
                </a:ext>
              </a:extLst>
            </p:cNvPr>
            <p:cNvSpPr>
              <a:spLocks/>
            </p:cNvSpPr>
            <p:nvPr/>
          </p:nvSpPr>
          <p:spPr bwMode="auto">
            <a:xfrm>
              <a:off x="5800970" y="6083620"/>
              <a:ext cx="285623" cy="633537"/>
            </a:xfrm>
            <a:custGeom>
              <a:avLst/>
              <a:gdLst>
                <a:gd name="T0" fmla="*/ 0 w 188"/>
                <a:gd name="T1" fmla="*/ 278 h 417"/>
                <a:gd name="T2" fmla="*/ 63 w 188"/>
                <a:gd name="T3" fmla="*/ 208 h 417"/>
                <a:gd name="T4" fmla="*/ 0 w 188"/>
                <a:gd name="T5" fmla="*/ 139 h 417"/>
                <a:gd name="T6" fmla="*/ 0 w 188"/>
                <a:gd name="T7" fmla="*/ 0 h 417"/>
                <a:gd name="T8" fmla="*/ 188 w 188"/>
                <a:gd name="T9" fmla="*/ 139 h 417"/>
                <a:gd name="T10" fmla="*/ 188 w 188"/>
                <a:gd name="T11" fmla="*/ 278 h 417"/>
                <a:gd name="T12" fmla="*/ 0 w 188"/>
                <a:gd name="T13" fmla="*/ 417 h 417"/>
                <a:gd name="T14" fmla="*/ 0 w 188"/>
                <a:gd name="T15" fmla="*/ 278 h 4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88" h="417">
                  <a:moveTo>
                    <a:pt x="0" y="278"/>
                  </a:moveTo>
                  <a:lnTo>
                    <a:pt x="63" y="208"/>
                  </a:lnTo>
                  <a:lnTo>
                    <a:pt x="0" y="139"/>
                  </a:lnTo>
                  <a:lnTo>
                    <a:pt x="0" y="0"/>
                  </a:lnTo>
                  <a:lnTo>
                    <a:pt x="188" y="139"/>
                  </a:lnTo>
                  <a:lnTo>
                    <a:pt x="188" y="278"/>
                  </a:lnTo>
                  <a:lnTo>
                    <a:pt x="0" y="417"/>
                  </a:lnTo>
                  <a:lnTo>
                    <a:pt x="0" y="278"/>
                  </a:lnTo>
                </a:path>
              </a:pathLst>
            </a:custGeom>
            <a:noFill/>
            <a:ln w="222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598" name="Rectangle 144">
              <a:extLst>
                <a:ext uri="{FF2B5EF4-FFF2-40B4-BE49-F238E27FC236}">
                  <a16:creationId xmlns:a16="http://schemas.microsoft.com/office/drawing/2014/main" id="{0FA1B37C-E982-DF0C-63AB-1C623C04E91F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5663460" y="6293169"/>
              <a:ext cx="611527" cy="20988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1400" u="none" strike="noStrike" cap="none" normalizeH="0" baseline="0" dirty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  <a:ea typeface="SimHei" panose="02010609060101010101" pitchFamily="49" charset="-122"/>
                </a:rPr>
                <a:t>ALU</a:t>
              </a:r>
              <a:endParaRPr kumimoji="0" lang="zh-CN" altLang="zh-CN" sz="140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endParaRPr>
            </a:p>
          </p:txBody>
        </p:sp>
        <p:sp>
          <p:nvSpPr>
            <p:cNvPr id="599" name="Rectangle 145">
              <a:extLst>
                <a:ext uri="{FF2B5EF4-FFF2-40B4-BE49-F238E27FC236}">
                  <a16:creationId xmlns:a16="http://schemas.microsoft.com/office/drawing/2014/main" id="{EA983E79-458F-284B-82C1-D97678CB4E2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8201" y="6288722"/>
              <a:ext cx="193640" cy="20988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1400" u="none" strike="noStrike" cap="none" normalizeH="0" baseline="0" dirty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  <a:ea typeface="SimHei" panose="02010609060101010101" pitchFamily="49" charset="-122"/>
                </a:rPr>
                <a:t>IM</a:t>
              </a:r>
              <a:endParaRPr kumimoji="0" lang="zh-CN" altLang="zh-CN" sz="180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endParaRPr>
            </a:p>
          </p:txBody>
        </p:sp>
        <p:sp>
          <p:nvSpPr>
            <p:cNvPr id="600" name="Freeform 146">
              <a:extLst>
                <a:ext uri="{FF2B5EF4-FFF2-40B4-BE49-F238E27FC236}">
                  <a16:creationId xmlns:a16="http://schemas.microsoft.com/office/drawing/2014/main" id="{91EB56E2-713F-F2D7-77C5-DEEB30723AC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8154" y="6209720"/>
              <a:ext cx="231232" cy="379818"/>
            </a:xfrm>
            <a:custGeom>
              <a:avLst/>
              <a:gdLst>
                <a:gd name="T0" fmla="*/ 155 w 155"/>
                <a:gd name="T1" fmla="*/ 0 h 250"/>
                <a:gd name="T2" fmla="*/ 0 w 155"/>
                <a:gd name="T3" fmla="*/ 0 h 250"/>
                <a:gd name="T4" fmla="*/ 0 w 155"/>
                <a:gd name="T5" fmla="*/ 250 h 250"/>
                <a:gd name="T6" fmla="*/ 155 w 155"/>
                <a:gd name="T7" fmla="*/ 250 h 2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55" h="250">
                  <a:moveTo>
                    <a:pt x="155" y="0"/>
                  </a:moveTo>
                  <a:lnTo>
                    <a:pt x="0" y="0"/>
                  </a:lnTo>
                  <a:lnTo>
                    <a:pt x="0" y="250"/>
                  </a:lnTo>
                  <a:lnTo>
                    <a:pt x="155" y="250"/>
                  </a:lnTo>
                </a:path>
              </a:pathLst>
            </a:custGeom>
            <a:noFill/>
            <a:ln w="222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601" name="Freeform 147">
              <a:extLst>
                <a:ext uri="{FF2B5EF4-FFF2-40B4-BE49-F238E27FC236}">
                  <a16:creationId xmlns:a16="http://schemas.microsoft.com/office/drawing/2014/main" id="{02661AA9-7C93-B049-92FB-01E9D8807EF3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0904" y="6209720"/>
              <a:ext cx="227891" cy="379818"/>
            </a:xfrm>
            <a:custGeom>
              <a:avLst/>
              <a:gdLst>
                <a:gd name="T0" fmla="*/ 0 w 150"/>
                <a:gd name="T1" fmla="*/ 0 h 250"/>
                <a:gd name="T2" fmla="*/ 150 w 150"/>
                <a:gd name="T3" fmla="*/ 0 h 250"/>
                <a:gd name="T4" fmla="*/ 150 w 150"/>
                <a:gd name="T5" fmla="*/ 250 h 250"/>
                <a:gd name="T6" fmla="*/ 0 w 150"/>
                <a:gd name="T7" fmla="*/ 250 h 2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50" h="250">
                  <a:moveTo>
                    <a:pt x="0" y="0"/>
                  </a:moveTo>
                  <a:lnTo>
                    <a:pt x="150" y="0"/>
                  </a:lnTo>
                  <a:lnTo>
                    <a:pt x="150" y="250"/>
                  </a:lnTo>
                  <a:lnTo>
                    <a:pt x="0" y="250"/>
                  </a:lnTo>
                </a:path>
              </a:pathLst>
            </a:custGeom>
            <a:noFill/>
            <a:ln w="222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602" name="Rectangle 148">
              <a:extLst>
                <a:ext uri="{FF2B5EF4-FFF2-40B4-BE49-F238E27FC236}">
                  <a16:creationId xmlns:a16="http://schemas.microsoft.com/office/drawing/2014/main" id="{677A312F-DBF1-2C63-C08B-9B29269D51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04371" y="6283252"/>
              <a:ext cx="320132" cy="20988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1400" u="none" strike="noStrike" cap="none" normalizeH="0" baseline="0" dirty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  <a:ea typeface="SimHei" panose="02010609060101010101" pitchFamily="49" charset="-122"/>
                </a:rPr>
                <a:t>Reg</a:t>
              </a:r>
              <a:endParaRPr kumimoji="0" lang="zh-CN" altLang="zh-CN" sz="180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endParaRPr>
            </a:p>
          </p:txBody>
        </p:sp>
        <p:sp>
          <p:nvSpPr>
            <p:cNvPr id="603" name="Freeform 149">
              <a:extLst>
                <a:ext uri="{FF2B5EF4-FFF2-40B4-BE49-F238E27FC236}">
                  <a16:creationId xmlns:a16="http://schemas.microsoft.com/office/drawing/2014/main" id="{72B2C66F-8C57-1C2A-5693-096B15840EED}"/>
                </a:ext>
              </a:extLst>
            </p:cNvPr>
            <p:cNvSpPr>
              <a:spLocks/>
            </p:cNvSpPr>
            <p:nvPr/>
          </p:nvSpPr>
          <p:spPr bwMode="auto">
            <a:xfrm>
              <a:off x="5162876" y="6209720"/>
              <a:ext cx="203582" cy="379818"/>
            </a:xfrm>
            <a:custGeom>
              <a:avLst/>
              <a:gdLst>
                <a:gd name="T0" fmla="*/ 134 w 134"/>
                <a:gd name="T1" fmla="*/ 0 h 250"/>
                <a:gd name="T2" fmla="*/ 0 w 134"/>
                <a:gd name="T3" fmla="*/ 0 h 250"/>
                <a:gd name="T4" fmla="*/ 0 w 134"/>
                <a:gd name="T5" fmla="*/ 250 h 250"/>
                <a:gd name="T6" fmla="*/ 134 w 134"/>
                <a:gd name="T7" fmla="*/ 250 h 2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4" h="250">
                  <a:moveTo>
                    <a:pt x="134" y="0"/>
                  </a:moveTo>
                  <a:lnTo>
                    <a:pt x="0" y="0"/>
                  </a:lnTo>
                  <a:lnTo>
                    <a:pt x="0" y="250"/>
                  </a:lnTo>
                  <a:lnTo>
                    <a:pt x="134" y="250"/>
                  </a:lnTo>
                </a:path>
              </a:pathLst>
            </a:custGeom>
            <a:noFill/>
            <a:ln w="222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604" name="Freeform 150">
              <a:extLst>
                <a:ext uri="{FF2B5EF4-FFF2-40B4-BE49-F238E27FC236}">
                  <a16:creationId xmlns:a16="http://schemas.microsoft.com/office/drawing/2014/main" id="{F652C4AF-010F-BC88-FB30-5C0611CBB0DF}"/>
                </a:ext>
              </a:extLst>
            </p:cNvPr>
            <p:cNvSpPr>
              <a:spLocks/>
            </p:cNvSpPr>
            <p:nvPr/>
          </p:nvSpPr>
          <p:spPr bwMode="auto">
            <a:xfrm>
              <a:off x="5367978" y="6209720"/>
              <a:ext cx="194467" cy="379818"/>
            </a:xfrm>
            <a:custGeom>
              <a:avLst/>
              <a:gdLst>
                <a:gd name="T0" fmla="*/ 0 w 128"/>
                <a:gd name="T1" fmla="*/ 0 h 250"/>
                <a:gd name="T2" fmla="*/ 128 w 128"/>
                <a:gd name="T3" fmla="*/ 0 h 250"/>
                <a:gd name="T4" fmla="*/ 128 w 128"/>
                <a:gd name="T5" fmla="*/ 250 h 250"/>
                <a:gd name="T6" fmla="*/ 0 w 128"/>
                <a:gd name="T7" fmla="*/ 250 h 2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8" h="250">
                  <a:moveTo>
                    <a:pt x="0" y="0"/>
                  </a:moveTo>
                  <a:lnTo>
                    <a:pt x="128" y="0"/>
                  </a:lnTo>
                  <a:lnTo>
                    <a:pt x="128" y="250"/>
                  </a:lnTo>
                  <a:lnTo>
                    <a:pt x="0" y="250"/>
                  </a:lnTo>
                </a:path>
              </a:pathLst>
            </a:custGeom>
            <a:noFill/>
            <a:ln w="222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605" name="Line 151">
              <a:extLst>
                <a:ext uri="{FF2B5EF4-FFF2-40B4-BE49-F238E27FC236}">
                  <a16:creationId xmlns:a16="http://schemas.microsoft.com/office/drawing/2014/main" id="{30367D47-CF02-7541-7315-A88C85BCB22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007910" y="6401148"/>
              <a:ext cx="154966" cy="0"/>
            </a:xfrm>
            <a:prstGeom prst="line">
              <a:avLst/>
            </a:prstGeom>
            <a:noFill/>
            <a:ln w="22225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606" name="Freeform 152">
              <a:extLst>
                <a:ext uri="{FF2B5EF4-FFF2-40B4-BE49-F238E27FC236}">
                  <a16:creationId xmlns:a16="http://schemas.microsoft.com/office/drawing/2014/main" id="{B9BCDA2B-533E-3D2A-B002-D54D229C2130}"/>
                </a:ext>
              </a:extLst>
            </p:cNvPr>
            <p:cNvSpPr>
              <a:spLocks/>
            </p:cNvSpPr>
            <p:nvPr/>
          </p:nvSpPr>
          <p:spPr bwMode="auto">
            <a:xfrm>
              <a:off x="5097548" y="6273529"/>
              <a:ext cx="65329" cy="126100"/>
            </a:xfrm>
            <a:custGeom>
              <a:avLst/>
              <a:gdLst>
                <a:gd name="T0" fmla="*/ 0 w 43"/>
                <a:gd name="T1" fmla="*/ 83 h 83"/>
                <a:gd name="T2" fmla="*/ 0 w 43"/>
                <a:gd name="T3" fmla="*/ 0 h 83"/>
                <a:gd name="T4" fmla="*/ 43 w 43"/>
                <a:gd name="T5" fmla="*/ 0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3" h="83">
                  <a:moveTo>
                    <a:pt x="0" y="83"/>
                  </a:moveTo>
                  <a:lnTo>
                    <a:pt x="0" y="0"/>
                  </a:lnTo>
                  <a:lnTo>
                    <a:pt x="43" y="0"/>
                  </a:lnTo>
                </a:path>
              </a:pathLst>
            </a:custGeom>
            <a:noFill/>
            <a:ln w="222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607" name="Line 153">
              <a:extLst>
                <a:ext uri="{FF2B5EF4-FFF2-40B4-BE49-F238E27FC236}">
                  <a16:creationId xmlns:a16="http://schemas.microsoft.com/office/drawing/2014/main" id="{12C9957C-AE5B-83BF-1A8D-8D2B897F9BF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571560" y="6273529"/>
              <a:ext cx="212698" cy="0"/>
            </a:xfrm>
            <a:prstGeom prst="line">
              <a:avLst/>
            </a:prstGeom>
            <a:noFill/>
            <a:ln w="22225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608" name="Rectangle 154">
              <a:extLst>
                <a:ext uri="{FF2B5EF4-FFF2-40B4-BE49-F238E27FC236}">
                  <a16:creationId xmlns:a16="http://schemas.microsoft.com/office/drawing/2014/main" id="{44CC7200-DB37-A1B1-8A99-5C0B383EC35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10549" y="6288722"/>
              <a:ext cx="271722" cy="20988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1400" u="none" strike="noStrike" cap="none" normalizeH="0" baseline="0" dirty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  <a:ea typeface="SimHei" panose="02010609060101010101" pitchFamily="49" charset="-122"/>
                </a:rPr>
                <a:t>DM</a:t>
              </a:r>
              <a:endParaRPr kumimoji="0" lang="zh-CN" altLang="zh-CN" sz="180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endParaRPr>
            </a:p>
          </p:txBody>
        </p:sp>
        <p:sp>
          <p:nvSpPr>
            <p:cNvPr id="609" name="Freeform 155">
              <a:extLst>
                <a:ext uri="{FF2B5EF4-FFF2-40B4-BE49-F238E27FC236}">
                  <a16:creationId xmlns:a16="http://schemas.microsoft.com/office/drawing/2014/main" id="{6BC36426-F7EF-7E4B-D7C0-F1D9F7790708}"/>
                </a:ext>
              </a:extLst>
            </p:cNvPr>
            <p:cNvSpPr>
              <a:spLocks/>
            </p:cNvSpPr>
            <p:nvPr/>
          </p:nvSpPr>
          <p:spPr bwMode="auto">
            <a:xfrm>
              <a:off x="6323599" y="6209720"/>
              <a:ext cx="220295" cy="379818"/>
            </a:xfrm>
            <a:custGeom>
              <a:avLst/>
              <a:gdLst>
                <a:gd name="T0" fmla="*/ 145 w 145"/>
                <a:gd name="T1" fmla="*/ 0 h 250"/>
                <a:gd name="T2" fmla="*/ 0 w 145"/>
                <a:gd name="T3" fmla="*/ 0 h 250"/>
                <a:gd name="T4" fmla="*/ 0 w 145"/>
                <a:gd name="T5" fmla="*/ 250 h 250"/>
                <a:gd name="T6" fmla="*/ 145 w 145"/>
                <a:gd name="T7" fmla="*/ 250 h 2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45" h="250">
                  <a:moveTo>
                    <a:pt x="145" y="0"/>
                  </a:moveTo>
                  <a:lnTo>
                    <a:pt x="0" y="0"/>
                  </a:lnTo>
                  <a:lnTo>
                    <a:pt x="0" y="250"/>
                  </a:lnTo>
                  <a:lnTo>
                    <a:pt x="145" y="250"/>
                  </a:lnTo>
                </a:path>
              </a:pathLst>
            </a:custGeom>
            <a:noFill/>
            <a:ln w="222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610" name="Freeform 156">
              <a:extLst>
                <a:ext uri="{FF2B5EF4-FFF2-40B4-BE49-F238E27FC236}">
                  <a16:creationId xmlns:a16="http://schemas.microsoft.com/office/drawing/2014/main" id="{65FDD127-AF48-3E0A-8E5A-D09760887BCC}"/>
                </a:ext>
              </a:extLst>
            </p:cNvPr>
            <p:cNvSpPr>
              <a:spLocks/>
            </p:cNvSpPr>
            <p:nvPr/>
          </p:nvSpPr>
          <p:spPr bwMode="auto">
            <a:xfrm>
              <a:off x="6536297" y="6209720"/>
              <a:ext cx="227891" cy="379818"/>
            </a:xfrm>
            <a:custGeom>
              <a:avLst/>
              <a:gdLst>
                <a:gd name="T0" fmla="*/ 0 w 150"/>
                <a:gd name="T1" fmla="*/ 0 h 250"/>
                <a:gd name="T2" fmla="*/ 150 w 150"/>
                <a:gd name="T3" fmla="*/ 0 h 250"/>
                <a:gd name="T4" fmla="*/ 150 w 150"/>
                <a:gd name="T5" fmla="*/ 250 h 250"/>
                <a:gd name="T6" fmla="*/ 0 w 150"/>
                <a:gd name="T7" fmla="*/ 250 h 2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50" h="250">
                  <a:moveTo>
                    <a:pt x="0" y="0"/>
                  </a:moveTo>
                  <a:lnTo>
                    <a:pt x="150" y="0"/>
                  </a:lnTo>
                  <a:lnTo>
                    <a:pt x="150" y="250"/>
                  </a:lnTo>
                  <a:lnTo>
                    <a:pt x="0" y="250"/>
                  </a:lnTo>
                </a:path>
              </a:pathLst>
            </a:custGeom>
            <a:noFill/>
            <a:ln w="222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611" name="Rectangle 157">
              <a:extLst>
                <a:ext uri="{FF2B5EF4-FFF2-40B4-BE49-F238E27FC236}">
                  <a16:creationId xmlns:a16="http://schemas.microsoft.com/office/drawing/2014/main" id="{63746C48-B4A4-E77F-A644-A1E1D48FE0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94596" y="6281429"/>
              <a:ext cx="320132" cy="20988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1400" u="none" strike="noStrike" cap="none" normalizeH="0" baseline="0" dirty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  <a:ea typeface="SimHei" panose="02010609060101010101" pitchFamily="49" charset="-122"/>
                </a:rPr>
                <a:t>Reg</a:t>
              </a:r>
              <a:endParaRPr kumimoji="0" lang="zh-CN" altLang="zh-CN" sz="180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endParaRPr>
            </a:p>
          </p:txBody>
        </p:sp>
        <p:sp>
          <p:nvSpPr>
            <p:cNvPr id="612" name="Freeform 158">
              <a:extLst>
                <a:ext uri="{FF2B5EF4-FFF2-40B4-BE49-F238E27FC236}">
                  <a16:creationId xmlns:a16="http://schemas.microsoft.com/office/drawing/2014/main" id="{878B74EC-33FD-60D3-A8EB-57C9B8956315}"/>
                </a:ext>
              </a:extLst>
            </p:cNvPr>
            <p:cNvSpPr>
              <a:spLocks/>
            </p:cNvSpPr>
            <p:nvPr/>
          </p:nvSpPr>
          <p:spPr bwMode="auto">
            <a:xfrm>
              <a:off x="6961693" y="6209720"/>
              <a:ext cx="186871" cy="379818"/>
            </a:xfrm>
            <a:custGeom>
              <a:avLst/>
              <a:gdLst>
                <a:gd name="T0" fmla="*/ 123 w 123"/>
                <a:gd name="T1" fmla="*/ 0 h 250"/>
                <a:gd name="T2" fmla="*/ 0 w 123"/>
                <a:gd name="T3" fmla="*/ 0 h 250"/>
                <a:gd name="T4" fmla="*/ 0 w 123"/>
                <a:gd name="T5" fmla="*/ 250 h 250"/>
                <a:gd name="T6" fmla="*/ 123 w 123"/>
                <a:gd name="T7" fmla="*/ 250 h 2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3" h="250">
                  <a:moveTo>
                    <a:pt x="123" y="0"/>
                  </a:moveTo>
                  <a:lnTo>
                    <a:pt x="0" y="0"/>
                  </a:lnTo>
                  <a:lnTo>
                    <a:pt x="0" y="250"/>
                  </a:lnTo>
                  <a:lnTo>
                    <a:pt x="123" y="250"/>
                  </a:lnTo>
                </a:path>
              </a:pathLst>
            </a:custGeom>
            <a:noFill/>
            <a:ln w="222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613" name="Freeform 159">
              <a:extLst>
                <a:ext uri="{FF2B5EF4-FFF2-40B4-BE49-F238E27FC236}">
                  <a16:creationId xmlns:a16="http://schemas.microsoft.com/office/drawing/2014/main" id="{F14E8AF3-EA96-4AD9-0D02-BBBD328F14AF}"/>
                </a:ext>
              </a:extLst>
            </p:cNvPr>
            <p:cNvSpPr>
              <a:spLocks/>
            </p:cNvSpPr>
            <p:nvPr/>
          </p:nvSpPr>
          <p:spPr bwMode="auto">
            <a:xfrm>
              <a:off x="7150083" y="6209720"/>
              <a:ext cx="194467" cy="379818"/>
            </a:xfrm>
            <a:custGeom>
              <a:avLst/>
              <a:gdLst>
                <a:gd name="T0" fmla="*/ 0 w 128"/>
                <a:gd name="T1" fmla="*/ 0 h 250"/>
                <a:gd name="T2" fmla="*/ 128 w 128"/>
                <a:gd name="T3" fmla="*/ 0 h 250"/>
                <a:gd name="T4" fmla="*/ 128 w 128"/>
                <a:gd name="T5" fmla="*/ 250 h 250"/>
                <a:gd name="T6" fmla="*/ 0 w 128"/>
                <a:gd name="T7" fmla="*/ 250 h 2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8" h="250">
                  <a:moveTo>
                    <a:pt x="0" y="0"/>
                  </a:moveTo>
                  <a:lnTo>
                    <a:pt x="128" y="0"/>
                  </a:lnTo>
                  <a:lnTo>
                    <a:pt x="128" y="250"/>
                  </a:lnTo>
                  <a:lnTo>
                    <a:pt x="0" y="250"/>
                  </a:lnTo>
                </a:path>
              </a:pathLst>
            </a:custGeom>
            <a:noFill/>
            <a:ln w="222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614" name="Line 160">
              <a:extLst>
                <a:ext uri="{FF2B5EF4-FFF2-40B4-BE49-F238E27FC236}">
                  <a16:creationId xmlns:a16="http://schemas.microsoft.com/office/drawing/2014/main" id="{4E5BF17A-5DD1-4B76-55C3-0F6AEA5431E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758111" y="6401148"/>
              <a:ext cx="186871" cy="0"/>
            </a:xfrm>
            <a:prstGeom prst="line">
              <a:avLst/>
            </a:prstGeom>
            <a:noFill/>
            <a:ln w="22225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615" name="Line 161">
              <a:extLst>
                <a:ext uri="{FF2B5EF4-FFF2-40B4-BE49-F238E27FC236}">
                  <a16:creationId xmlns:a16="http://schemas.microsoft.com/office/drawing/2014/main" id="{C62B9613-9634-0970-A5B0-EFD3A58EB2E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095709" y="6401148"/>
              <a:ext cx="212698" cy="0"/>
            </a:xfrm>
            <a:prstGeom prst="line">
              <a:avLst/>
            </a:prstGeom>
            <a:noFill/>
            <a:ln w="22225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616" name="Line 162">
              <a:extLst>
                <a:ext uri="{FF2B5EF4-FFF2-40B4-BE49-F238E27FC236}">
                  <a16:creationId xmlns:a16="http://schemas.microsoft.com/office/drawing/2014/main" id="{318B2B2B-B063-F98C-A459-E0D2EDD7E4A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571560" y="6527247"/>
              <a:ext cx="212698" cy="0"/>
            </a:xfrm>
            <a:prstGeom prst="line">
              <a:avLst/>
            </a:prstGeom>
            <a:noFill/>
            <a:ln w="22225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617" name="Line 163">
              <a:extLst>
                <a:ext uri="{FF2B5EF4-FFF2-40B4-BE49-F238E27FC236}">
                  <a16:creationId xmlns:a16="http://schemas.microsoft.com/office/drawing/2014/main" id="{A2A54C07-EAAE-4CCF-329F-B74F96F58A1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687025" y="6527247"/>
              <a:ext cx="0" cy="253719"/>
            </a:xfrm>
            <a:prstGeom prst="line">
              <a:avLst/>
            </a:prstGeom>
            <a:noFill/>
            <a:ln w="254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618" name="Line 164">
              <a:extLst>
                <a:ext uri="{FF2B5EF4-FFF2-40B4-BE49-F238E27FC236}">
                  <a16:creationId xmlns:a16="http://schemas.microsoft.com/office/drawing/2014/main" id="{8011CFF6-D6D8-3F27-7813-9C84F17DD2B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687025" y="6780966"/>
              <a:ext cx="457301" cy="0"/>
            </a:xfrm>
            <a:prstGeom prst="line">
              <a:avLst/>
            </a:prstGeom>
            <a:noFill/>
            <a:ln w="254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619" name="Line 165">
              <a:extLst>
                <a:ext uri="{FF2B5EF4-FFF2-40B4-BE49-F238E27FC236}">
                  <a16:creationId xmlns:a16="http://schemas.microsoft.com/office/drawing/2014/main" id="{5CDAB2E0-FACF-2759-2E24-598CDDDB8A8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144325" y="6401148"/>
              <a:ext cx="0" cy="379818"/>
            </a:xfrm>
            <a:prstGeom prst="line">
              <a:avLst/>
            </a:prstGeom>
            <a:noFill/>
            <a:ln w="254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620" name="Line 166">
              <a:extLst>
                <a:ext uri="{FF2B5EF4-FFF2-40B4-BE49-F238E27FC236}">
                  <a16:creationId xmlns:a16="http://schemas.microsoft.com/office/drawing/2014/main" id="{B0569DDA-BC79-1A0B-8178-338DCF9F30F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258271" y="6401148"/>
              <a:ext cx="0" cy="316008"/>
            </a:xfrm>
            <a:prstGeom prst="line">
              <a:avLst/>
            </a:prstGeom>
            <a:noFill/>
            <a:ln w="254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621" name="Line 167">
              <a:extLst>
                <a:ext uri="{FF2B5EF4-FFF2-40B4-BE49-F238E27FC236}">
                  <a16:creationId xmlns:a16="http://schemas.microsoft.com/office/drawing/2014/main" id="{ABEDC15E-4525-3CB0-CEBA-4A44A100022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258271" y="6717156"/>
              <a:ext cx="589477" cy="0"/>
            </a:xfrm>
            <a:prstGeom prst="line">
              <a:avLst/>
            </a:prstGeom>
            <a:noFill/>
            <a:ln w="254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622" name="Line 168">
              <a:extLst>
                <a:ext uri="{FF2B5EF4-FFF2-40B4-BE49-F238E27FC236}">
                  <a16:creationId xmlns:a16="http://schemas.microsoft.com/office/drawing/2014/main" id="{B3B8422B-C6F6-30DD-7FC6-58AD12E1081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847748" y="6401148"/>
              <a:ext cx="0" cy="316008"/>
            </a:xfrm>
            <a:prstGeom prst="line">
              <a:avLst/>
            </a:prstGeom>
            <a:noFill/>
            <a:ln w="254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</p:grpSp>
      <p:sp>
        <p:nvSpPr>
          <p:cNvPr id="623" name="Freeform 20">
            <a:extLst>
              <a:ext uri="{FF2B5EF4-FFF2-40B4-BE49-F238E27FC236}">
                <a16:creationId xmlns:a16="http://schemas.microsoft.com/office/drawing/2014/main" id="{6B52C243-9AF1-FE99-47ED-4C229380BF12}"/>
              </a:ext>
            </a:extLst>
          </p:cNvPr>
          <p:cNvSpPr>
            <a:spLocks noEditPoints="1"/>
          </p:cNvSpPr>
          <p:nvPr/>
        </p:nvSpPr>
        <p:spPr bwMode="auto">
          <a:xfrm>
            <a:off x="2822575" y="2564262"/>
            <a:ext cx="5249862" cy="63500"/>
          </a:xfrm>
          <a:custGeom>
            <a:avLst/>
            <a:gdLst>
              <a:gd name="T0" fmla="*/ 0 w 3307"/>
              <a:gd name="T1" fmla="*/ 13 h 40"/>
              <a:gd name="T2" fmla="*/ 3274 w 3307"/>
              <a:gd name="T3" fmla="*/ 13 h 40"/>
              <a:gd name="T4" fmla="*/ 3274 w 3307"/>
              <a:gd name="T5" fmla="*/ 27 h 40"/>
              <a:gd name="T6" fmla="*/ 0 w 3307"/>
              <a:gd name="T7" fmla="*/ 27 h 40"/>
              <a:gd name="T8" fmla="*/ 0 w 3307"/>
              <a:gd name="T9" fmla="*/ 13 h 40"/>
              <a:gd name="T10" fmla="*/ 3267 w 3307"/>
              <a:gd name="T11" fmla="*/ 0 h 40"/>
              <a:gd name="T12" fmla="*/ 3307 w 3307"/>
              <a:gd name="T13" fmla="*/ 20 h 40"/>
              <a:gd name="T14" fmla="*/ 3267 w 3307"/>
              <a:gd name="T15" fmla="*/ 40 h 40"/>
              <a:gd name="T16" fmla="*/ 3267 w 3307"/>
              <a:gd name="T17" fmla="*/ 0 h 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3307" h="40">
                <a:moveTo>
                  <a:pt x="0" y="13"/>
                </a:moveTo>
                <a:lnTo>
                  <a:pt x="3274" y="13"/>
                </a:lnTo>
                <a:lnTo>
                  <a:pt x="3274" y="27"/>
                </a:lnTo>
                <a:lnTo>
                  <a:pt x="0" y="27"/>
                </a:lnTo>
                <a:lnTo>
                  <a:pt x="0" y="13"/>
                </a:lnTo>
                <a:close/>
                <a:moveTo>
                  <a:pt x="3267" y="0"/>
                </a:moveTo>
                <a:lnTo>
                  <a:pt x="3307" y="20"/>
                </a:lnTo>
                <a:lnTo>
                  <a:pt x="3267" y="40"/>
                </a:lnTo>
                <a:lnTo>
                  <a:pt x="3267" y="0"/>
                </a:lnTo>
                <a:close/>
              </a:path>
            </a:pathLst>
          </a:custGeom>
          <a:solidFill>
            <a:srgbClr val="000000"/>
          </a:solidFill>
          <a:ln w="0" cap="flat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624" name="Rectangle 21">
            <a:extLst>
              <a:ext uri="{FF2B5EF4-FFF2-40B4-BE49-F238E27FC236}">
                <a16:creationId xmlns:a16="http://schemas.microsoft.com/office/drawing/2014/main" id="{2EA36724-7708-661C-7E8D-089DA21E92A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70425" y="2256287"/>
            <a:ext cx="1629549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zh-CN" altLang="zh-CN" sz="1500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rPr>
              <a:t>Time (clock cycles)</a:t>
            </a:r>
            <a:endParaRPr kumimoji="0" lang="zh-CN" altLang="zh-CN" sz="180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  <a:ea typeface="SimHei" panose="02010609060101010101" pitchFamily="49" charset="-122"/>
            </a:endParaRPr>
          </a:p>
        </p:txBody>
      </p:sp>
      <p:sp>
        <p:nvSpPr>
          <p:cNvPr id="5" name="文本框 4">
            <a:extLst>
              <a:ext uri="{FF2B5EF4-FFF2-40B4-BE49-F238E27FC236}">
                <a16:creationId xmlns:a16="http://schemas.microsoft.com/office/drawing/2014/main" id="{558A6BDF-E5C2-B059-EB77-6B4365C98186}"/>
              </a:ext>
            </a:extLst>
          </p:cNvPr>
          <p:cNvSpPr txBox="1"/>
          <p:nvPr/>
        </p:nvSpPr>
        <p:spPr>
          <a:xfrm>
            <a:off x="4140785" y="2532996"/>
            <a:ext cx="370053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en-US" altLang="zh-CN">
                <a:solidFill>
                  <a:srgbClr val="FF0000"/>
                </a:solidFill>
              </a:rPr>
              <a:t>t</a:t>
            </a:r>
            <a:r>
              <a:rPr kumimoji="1" lang="en-US" altLang="zh-CN" baseline="-25000">
                <a:solidFill>
                  <a:srgbClr val="FF0000"/>
                </a:solidFill>
              </a:rPr>
              <a:t>1</a:t>
            </a:r>
            <a:endParaRPr kumimoji="1" lang="zh-CN" altLang="en-US" baseline="-25000">
              <a:solidFill>
                <a:srgbClr val="FF0000"/>
              </a:solidFill>
            </a:endParaRPr>
          </a:p>
        </p:txBody>
      </p:sp>
      <p:sp>
        <p:nvSpPr>
          <p:cNvPr id="7" name="文本框 6">
            <a:extLst>
              <a:ext uri="{FF2B5EF4-FFF2-40B4-BE49-F238E27FC236}">
                <a16:creationId xmlns:a16="http://schemas.microsoft.com/office/drawing/2014/main" id="{601C3B86-A937-51D0-0ACE-0208584AE755}"/>
              </a:ext>
            </a:extLst>
          </p:cNvPr>
          <p:cNvSpPr txBox="1"/>
          <p:nvPr/>
        </p:nvSpPr>
        <p:spPr>
          <a:xfrm>
            <a:off x="4740903" y="2532996"/>
            <a:ext cx="370053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en-US" altLang="zh-CN">
                <a:solidFill>
                  <a:srgbClr val="FF0000"/>
                </a:solidFill>
              </a:rPr>
              <a:t>t</a:t>
            </a:r>
            <a:r>
              <a:rPr kumimoji="1" lang="en-US" altLang="zh-CN" baseline="-25000">
                <a:solidFill>
                  <a:srgbClr val="FF0000"/>
                </a:solidFill>
              </a:rPr>
              <a:t>2</a:t>
            </a:r>
            <a:endParaRPr kumimoji="1" lang="zh-CN" altLang="en-US" baseline="-25000">
              <a:solidFill>
                <a:srgbClr val="FF0000"/>
              </a:solidFill>
            </a:endParaRPr>
          </a:p>
        </p:txBody>
      </p:sp>
      <p:sp>
        <p:nvSpPr>
          <p:cNvPr id="8" name="文本框 7">
            <a:extLst>
              <a:ext uri="{FF2B5EF4-FFF2-40B4-BE49-F238E27FC236}">
                <a16:creationId xmlns:a16="http://schemas.microsoft.com/office/drawing/2014/main" id="{DC143D61-4C37-A33A-F035-0B90660EB415}"/>
              </a:ext>
            </a:extLst>
          </p:cNvPr>
          <p:cNvSpPr txBox="1"/>
          <p:nvPr/>
        </p:nvSpPr>
        <p:spPr>
          <a:xfrm>
            <a:off x="5354323" y="2532996"/>
            <a:ext cx="370053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en-US" altLang="zh-CN">
                <a:solidFill>
                  <a:srgbClr val="00B050"/>
                </a:solidFill>
              </a:rPr>
              <a:t>t</a:t>
            </a:r>
            <a:r>
              <a:rPr kumimoji="1" lang="en-US" altLang="zh-CN" baseline="-25000">
                <a:solidFill>
                  <a:srgbClr val="00B050"/>
                </a:solidFill>
              </a:rPr>
              <a:t>3</a:t>
            </a:r>
            <a:endParaRPr kumimoji="1" lang="zh-CN" altLang="en-US" baseline="-25000">
              <a:solidFill>
                <a:srgbClr val="00B050"/>
              </a:solidFill>
            </a:endParaRPr>
          </a:p>
        </p:txBody>
      </p:sp>
      <p:sp>
        <p:nvSpPr>
          <p:cNvPr id="9" name="文本框 8">
            <a:extLst>
              <a:ext uri="{FF2B5EF4-FFF2-40B4-BE49-F238E27FC236}">
                <a16:creationId xmlns:a16="http://schemas.microsoft.com/office/drawing/2014/main" id="{44B08273-40D0-8E06-FBF9-C691D0F0B990}"/>
              </a:ext>
            </a:extLst>
          </p:cNvPr>
          <p:cNvSpPr txBox="1"/>
          <p:nvPr/>
        </p:nvSpPr>
        <p:spPr>
          <a:xfrm>
            <a:off x="5963793" y="2540352"/>
            <a:ext cx="370053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en-US" altLang="zh-CN">
                <a:solidFill>
                  <a:srgbClr val="00B050"/>
                </a:solidFill>
              </a:rPr>
              <a:t>t</a:t>
            </a:r>
            <a:r>
              <a:rPr kumimoji="1" lang="en-US" altLang="zh-CN" baseline="-25000">
                <a:solidFill>
                  <a:srgbClr val="00B050"/>
                </a:solidFill>
              </a:rPr>
              <a:t>4</a:t>
            </a:r>
            <a:endParaRPr kumimoji="1" lang="zh-CN" altLang="en-US" baseline="-25000">
              <a:solidFill>
                <a:srgbClr val="00B050"/>
              </a:solidFill>
            </a:endParaRPr>
          </a:p>
        </p:txBody>
      </p:sp>
      <p:sp>
        <p:nvSpPr>
          <p:cNvPr id="11" name="文本框 10">
            <a:extLst>
              <a:ext uri="{FF2B5EF4-FFF2-40B4-BE49-F238E27FC236}">
                <a16:creationId xmlns:a16="http://schemas.microsoft.com/office/drawing/2014/main" id="{7006AA80-0A0A-E9EA-21B3-08DA92D8EC1E}"/>
              </a:ext>
            </a:extLst>
          </p:cNvPr>
          <p:cNvSpPr txBox="1"/>
          <p:nvPr/>
        </p:nvSpPr>
        <p:spPr>
          <a:xfrm>
            <a:off x="7697040" y="2657841"/>
            <a:ext cx="1327285" cy="9233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/>
            <a:r>
              <a:rPr lang="en-US" altLang="zh-CN">
                <a:latin typeface="+mn-lt"/>
                <a:ea typeface="+mn-ea"/>
              </a:rPr>
              <a:t>t3</a:t>
            </a:r>
            <a:r>
              <a:rPr lang="zh-CN" altLang="en-US">
                <a:latin typeface="+mn-lt"/>
                <a:ea typeface="+mn-ea"/>
              </a:rPr>
              <a:t>和</a:t>
            </a:r>
            <a:r>
              <a:rPr lang="en-US" altLang="zh-CN">
                <a:latin typeface="+mn-lt"/>
                <a:ea typeface="+mn-ea"/>
              </a:rPr>
              <a:t>t4</a:t>
            </a:r>
            <a:r>
              <a:rPr lang="zh-CN" altLang="en-US">
                <a:latin typeface="+mn-lt"/>
                <a:ea typeface="+mn-ea"/>
              </a:rPr>
              <a:t>时刻可以获得</a:t>
            </a:r>
            <a:r>
              <a:rPr lang="en-US" altLang="zh-CN">
                <a:latin typeface="+mn-lt"/>
                <a:ea typeface="+mn-ea"/>
              </a:rPr>
              <a:t>t3</a:t>
            </a:r>
            <a:r>
              <a:rPr lang="zh-CN" altLang="en-US">
                <a:latin typeface="+mn-lt"/>
                <a:ea typeface="+mn-ea"/>
              </a:rPr>
              <a:t>时刻的数据</a:t>
            </a:r>
          </a:p>
        </p:txBody>
      </p:sp>
      <p:sp>
        <p:nvSpPr>
          <p:cNvPr id="12" name="文本框 11">
            <a:extLst>
              <a:ext uri="{FF2B5EF4-FFF2-40B4-BE49-F238E27FC236}">
                <a16:creationId xmlns:a16="http://schemas.microsoft.com/office/drawing/2014/main" id="{4194D21A-87F4-899B-1622-1AE9369B811B}"/>
              </a:ext>
            </a:extLst>
          </p:cNvPr>
          <p:cNvSpPr txBox="1"/>
          <p:nvPr/>
        </p:nvSpPr>
        <p:spPr>
          <a:xfrm>
            <a:off x="403225" y="3013835"/>
            <a:ext cx="437863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eaLnBrk="0" hangingPunct="0"/>
            <a:r>
              <a:rPr lang="en-US" altLang="zh-CN">
                <a:solidFill>
                  <a:srgbClr val="000000"/>
                </a:solidFill>
                <a:latin typeface="Arial" panose="020B0604020202020204" pitchFamily="34" charset="0"/>
                <a:ea typeface="SimHei" panose="02010609060101010101" pitchFamily="49" charset="-122"/>
              </a:rPr>
              <a:t>I1</a:t>
            </a:r>
            <a:endParaRPr lang="zh-CN" altLang="en-US">
              <a:solidFill>
                <a:srgbClr val="000000"/>
              </a:solidFill>
              <a:latin typeface="Arial" panose="020B0604020202020204" pitchFamily="34" charset="0"/>
              <a:ea typeface="SimHei" panose="02010609060101010101" pitchFamily="49" charset="-122"/>
            </a:endParaRPr>
          </a:p>
        </p:txBody>
      </p:sp>
      <p:sp>
        <p:nvSpPr>
          <p:cNvPr id="13" name="文本框 12">
            <a:extLst>
              <a:ext uri="{FF2B5EF4-FFF2-40B4-BE49-F238E27FC236}">
                <a16:creationId xmlns:a16="http://schemas.microsoft.com/office/drawing/2014/main" id="{59C4E450-471D-5459-076F-B976124AC852}"/>
              </a:ext>
            </a:extLst>
          </p:cNvPr>
          <p:cNvSpPr txBox="1"/>
          <p:nvPr/>
        </p:nvSpPr>
        <p:spPr>
          <a:xfrm>
            <a:off x="403225" y="3742622"/>
            <a:ext cx="437863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eaLnBrk="0" hangingPunct="0"/>
            <a:r>
              <a:rPr lang="en-US" altLang="zh-CN">
                <a:solidFill>
                  <a:srgbClr val="000000"/>
                </a:solidFill>
                <a:latin typeface="Arial" panose="020B0604020202020204" pitchFamily="34" charset="0"/>
                <a:ea typeface="SimHei" panose="02010609060101010101" pitchFamily="49" charset="-122"/>
              </a:rPr>
              <a:t>I2</a:t>
            </a:r>
            <a:endParaRPr lang="zh-CN" altLang="en-US">
              <a:solidFill>
                <a:srgbClr val="000000"/>
              </a:solidFill>
              <a:latin typeface="Arial" panose="020B0604020202020204" pitchFamily="34" charset="0"/>
              <a:ea typeface="SimHei" panose="02010609060101010101" pitchFamily="49" charset="-122"/>
            </a:endParaRPr>
          </a:p>
        </p:txBody>
      </p:sp>
      <p:sp>
        <p:nvSpPr>
          <p:cNvPr id="14" name="文本框 13">
            <a:extLst>
              <a:ext uri="{FF2B5EF4-FFF2-40B4-BE49-F238E27FC236}">
                <a16:creationId xmlns:a16="http://schemas.microsoft.com/office/drawing/2014/main" id="{30A31173-5AC3-81DA-FB00-4336A97DD15B}"/>
              </a:ext>
            </a:extLst>
          </p:cNvPr>
          <p:cNvSpPr txBox="1"/>
          <p:nvPr/>
        </p:nvSpPr>
        <p:spPr>
          <a:xfrm>
            <a:off x="403225" y="4471409"/>
            <a:ext cx="437863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eaLnBrk="0" hangingPunct="0"/>
            <a:r>
              <a:rPr lang="en-US" altLang="zh-CN">
                <a:solidFill>
                  <a:srgbClr val="000000"/>
                </a:solidFill>
                <a:latin typeface="Arial" panose="020B0604020202020204" pitchFamily="34" charset="0"/>
                <a:ea typeface="SimHei" panose="02010609060101010101" pitchFamily="49" charset="-122"/>
              </a:rPr>
              <a:t>I3</a:t>
            </a:r>
            <a:endParaRPr lang="zh-CN" altLang="en-US">
              <a:solidFill>
                <a:srgbClr val="000000"/>
              </a:solidFill>
              <a:latin typeface="Arial" panose="020B0604020202020204" pitchFamily="34" charset="0"/>
              <a:ea typeface="SimHei" panose="02010609060101010101" pitchFamily="49" charset="-122"/>
            </a:endParaRPr>
          </a:p>
        </p:txBody>
      </p:sp>
      <p:sp>
        <p:nvSpPr>
          <p:cNvPr id="15" name="文本框 14">
            <a:extLst>
              <a:ext uri="{FF2B5EF4-FFF2-40B4-BE49-F238E27FC236}">
                <a16:creationId xmlns:a16="http://schemas.microsoft.com/office/drawing/2014/main" id="{7ECC39E0-BE70-6DEC-E03C-5B29A8FE4A8F}"/>
              </a:ext>
            </a:extLst>
          </p:cNvPr>
          <p:cNvSpPr txBox="1"/>
          <p:nvPr/>
        </p:nvSpPr>
        <p:spPr>
          <a:xfrm>
            <a:off x="403225" y="5200196"/>
            <a:ext cx="437863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eaLnBrk="0" hangingPunct="0"/>
            <a:r>
              <a:rPr lang="en-US" altLang="zh-CN">
                <a:solidFill>
                  <a:srgbClr val="000000"/>
                </a:solidFill>
                <a:latin typeface="Arial" panose="020B0604020202020204" pitchFamily="34" charset="0"/>
                <a:ea typeface="SimHei" panose="02010609060101010101" pitchFamily="49" charset="-122"/>
              </a:rPr>
              <a:t>I4</a:t>
            </a:r>
            <a:endParaRPr lang="zh-CN" altLang="en-US">
              <a:solidFill>
                <a:srgbClr val="000000"/>
              </a:solidFill>
              <a:latin typeface="Arial" panose="020B0604020202020204" pitchFamily="34" charset="0"/>
              <a:ea typeface="SimHei" panose="02010609060101010101" pitchFamily="49" charset="-122"/>
            </a:endParaRPr>
          </a:p>
        </p:txBody>
      </p:sp>
      <p:sp>
        <p:nvSpPr>
          <p:cNvPr id="16" name="文本框 15">
            <a:extLst>
              <a:ext uri="{FF2B5EF4-FFF2-40B4-BE49-F238E27FC236}">
                <a16:creationId xmlns:a16="http://schemas.microsoft.com/office/drawing/2014/main" id="{409D7999-6B10-9003-2CA1-F7CF23EF86C7}"/>
              </a:ext>
            </a:extLst>
          </p:cNvPr>
          <p:cNvSpPr txBox="1"/>
          <p:nvPr/>
        </p:nvSpPr>
        <p:spPr>
          <a:xfrm>
            <a:off x="403225" y="5928984"/>
            <a:ext cx="437863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eaLnBrk="0" hangingPunct="0"/>
            <a:r>
              <a:rPr lang="en-US" altLang="zh-CN">
                <a:solidFill>
                  <a:srgbClr val="000000"/>
                </a:solidFill>
                <a:latin typeface="Arial" panose="020B0604020202020204" pitchFamily="34" charset="0"/>
                <a:ea typeface="SimHei" panose="02010609060101010101" pitchFamily="49" charset="-122"/>
              </a:rPr>
              <a:t>I5</a:t>
            </a:r>
            <a:endParaRPr lang="zh-CN" altLang="en-US">
              <a:solidFill>
                <a:srgbClr val="000000"/>
              </a:solidFill>
              <a:latin typeface="Arial" panose="020B0604020202020204" pitchFamily="34" charset="0"/>
              <a:ea typeface="SimHei" panose="02010609060101010101" pitchFamily="49" charset="-122"/>
            </a:endParaRPr>
          </a:p>
        </p:txBody>
      </p:sp>
      <p:sp>
        <p:nvSpPr>
          <p:cNvPr id="18" name="文本框 17">
            <a:extLst>
              <a:ext uri="{FF2B5EF4-FFF2-40B4-BE49-F238E27FC236}">
                <a16:creationId xmlns:a16="http://schemas.microsoft.com/office/drawing/2014/main" id="{781155BF-B162-8FB7-5EBB-39E3A3762DB6}"/>
              </a:ext>
            </a:extLst>
          </p:cNvPr>
          <p:cNvSpPr txBox="1"/>
          <p:nvPr/>
        </p:nvSpPr>
        <p:spPr>
          <a:xfrm>
            <a:off x="35254" y="2539791"/>
            <a:ext cx="1327285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/>
            <a:r>
              <a:rPr lang="zh-CN" altLang="en-US">
                <a:latin typeface="+mn-lt"/>
                <a:ea typeface="+mn-ea"/>
              </a:rPr>
              <a:t>指令序列</a:t>
            </a:r>
          </a:p>
        </p:txBody>
      </p:sp>
    </p:spTree>
    <p:extLst>
      <p:ext uri="{BB962C8B-B14F-4D97-AF65-F5344CB8AC3E}">
        <p14:creationId xmlns:p14="http://schemas.microsoft.com/office/powerpoint/2010/main" val="3186160529"/>
      </p:ext>
    </p:extLst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>
            <a:extLst>
              <a:ext uri="{FF2B5EF4-FFF2-40B4-BE49-F238E27FC236}">
                <a16:creationId xmlns:a16="http://schemas.microsoft.com/office/drawing/2014/main" id="{9ED976B1-FFB4-D7A4-FA25-2E92D4759B3D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zh-CN" altLang="en-US"/>
              <a:t>寄存器使用引起的冒险</a:t>
            </a:r>
          </a:p>
        </p:txBody>
      </p:sp>
      <p:sp>
        <p:nvSpPr>
          <p:cNvPr id="4" name="灯片编号占位符 3">
            <a:extLst>
              <a:ext uri="{FF2B5EF4-FFF2-40B4-BE49-F238E27FC236}">
                <a16:creationId xmlns:a16="http://schemas.microsoft.com/office/drawing/2014/main" id="{DDB32E0A-A850-A04C-AD61-3231F0AE5DA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6553200" y="6504005"/>
            <a:ext cx="2133600" cy="476250"/>
          </a:xfrm>
        </p:spPr>
        <p:txBody>
          <a:bodyPr/>
          <a:lstStyle/>
          <a:p>
            <a:fld id="{B1806CE5-282B-4233-8654-09F35EA875E2}" type="slidenum">
              <a:rPr lang="zh-CN" altLang="en-US" smtClean="0"/>
              <a:t>20</a:t>
            </a:fld>
            <a:endParaRPr lang="zh-CN" altLang="en-US"/>
          </a:p>
        </p:txBody>
      </p:sp>
      <p:grpSp>
        <p:nvGrpSpPr>
          <p:cNvPr id="5" name="组合 4">
            <a:extLst>
              <a:ext uri="{FF2B5EF4-FFF2-40B4-BE49-F238E27FC236}">
                <a16:creationId xmlns:a16="http://schemas.microsoft.com/office/drawing/2014/main" id="{0175F6D0-62F7-38AC-EAAB-4E854D26CF58}"/>
              </a:ext>
            </a:extLst>
          </p:cNvPr>
          <p:cNvGrpSpPr/>
          <p:nvPr/>
        </p:nvGrpSpPr>
        <p:grpSpPr>
          <a:xfrm>
            <a:off x="389391" y="1992967"/>
            <a:ext cx="8509753" cy="4511038"/>
            <a:chOff x="329006" y="1204898"/>
            <a:chExt cx="8509753" cy="4511038"/>
          </a:xfrm>
        </p:grpSpPr>
        <p:sp>
          <p:nvSpPr>
            <p:cNvPr id="6" name="Line 8">
              <a:extLst>
                <a:ext uri="{FF2B5EF4-FFF2-40B4-BE49-F238E27FC236}">
                  <a16:creationId xmlns:a16="http://schemas.microsoft.com/office/drawing/2014/main" id="{DD47C116-94B2-8EA2-5F85-06C66C7A24E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36345" y="5093530"/>
              <a:ext cx="1747538" cy="0"/>
            </a:xfrm>
            <a:prstGeom prst="line">
              <a:avLst/>
            </a:prstGeom>
            <a:noFill/>
            <a:ln w="19050">
              <a:solidFill>
                <a:sysClr val="windowText" lastClr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F0502020204030204"/>
                <a:ea typeface="等线" panose="02010600030101010101" pitchFamily="2" charset="-122"/>
              </a:endParaRPr>
            </a:p>
          </p:txBody>
        </p:sp>
        <p:sp>
          <p:nvSpPr>
            <p:cNvPr id="7" name="Line 9">
              <a:extLst>
                <a:ext uri="{FF2B5EF4-FFF2-40B4-BE49-F238E27FC236}">
                  <a16:creationId xmlns:a16="http://schemas.microsoft.com/office/drawing/2014/main" id="{A3965C32-5412-5136-43BE-9F4BFD4E99B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35843" y="5093530"/>
              <a:ext cx="262057" cy="0"/>
            </a:xfrm>
            <a:prstGeom prst="line">
              <a:avLst/>
            </a:prstGeom>
            <a:noFill/>
            <a:ln w="19050">
              <a:solidFill>
                <a:sysClr val="windowText" lastClr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F0502020204030204"/>
                <a:ea typeface="等线" panose="02010600030101010101" pitchFamily="2" charset="-122"/>
              </a:endParaRPr>
            </a:p>
          </p:txBody>
        </p:sp>
        <p:sp>
          <p:nvSpPr>
            <p:cNvPr id="8" name="Line 10">
              <a:extLst>
                <a:ext uri="{FF2B5EF4-FFF2-40B4-BE49-F238E27FC236}">
                  <a16:creationId xmlns:a16="http://schemas.microsoft.com/office/drawing/2014/main" id="{FB2D3137-A828-B9B6-B7BF-52EF06F6287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407401" y="5093530"/>
              <a:ext cx="1671558" cy="0"/>
            </a:xfrm>
            <a:prstGeom prst="line">
              <a:avLst/>
            </a:prstGeom>
            <a:noFill/>
            <a:ln w="19050">
              <a:solidFill>
                <a:sysClr val="windowText" lastClr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F0502020204030204"/>
                <a:ea typeface="等线" panose="02010600030101010101" pitchFamily="2" charset="-122"/>
              </a:endParaRPr>
            </a:p>
          </p:txBody>
        </p:sp>
        <p:sp>
          <p:nvSpPr>
            <p:cNvPr id="9" name="Line 11">
              <a:extLst>
                <a:ext uri="{FF2B5EF4-FFF2-40B4-BE49-F238E27FC236}">
                  <a16:creationId xmlns:a16="http://schemas.microsoft.com/office/drawing/2014/main" id="{E477FF57-DD43-3FA5-0565-12156773CA8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36345" y="4815770"/>
              <a:ext cx="0" cy="277759"/>
            </a:xfrm>
            <a:prstGeom prst="line">
              <a:avLst/>
            </a:prstGeom>
            <a:noFill/>
            <a:ln w="19050">
              <a:solidFill>
                <a:sysClr val="windowText" lastClr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F0502020204030204"/>
                <a:ea typeface="等线" panose="02010600030101010101" pitchFamily="2" charset="-122"/>
              </a:endParaRPr>
            </a:p>
          </p:txBody>
        </p:sp>
        <p:sp>
          <p:nvSpPr>
            <p:cNvPr id="10" name="Line 12">
              <a:extLst>
                <a:ext uri="{FF2B5EF4-FFF2-40B4-BE49-F238E27FC236}">
                  <a16:creationId xmlns:a16="http://schemas.microsoft.com/office/drawing/2014/main" id="{CAA2AD4A-5532-4DFA-B3A1-D61E74B1CD3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760365" y="5541548"/>
              <a:ext cx="5622515" cy="0"/>
            </a:xfrm>
            <a:prstGeom prst="line">
              <a:avLst/>
            </a:prstGeom>
            <a:noFill/>
            <a:ln w="19050">
              <a:solidFill>
                <a:sysClr val="windowText" lastClr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F0502020204030204"/>
                <a:ea typeface="等线" panose="02010600030101010101" pitchFamily="2" charset="-122"/>
              </a:endParaRPr>
            </a:p>
          </p:txBody>
        </p:sp>
        <p:sp>
          <p:nvSpPr>
            <p:cNvPr id="11" name="Line 13">
              <a:extLst>
                <a:ext uri="{FF2B5EF4-FFF2-40B4-BE49-F238E27FC236}">
                  <a16:creationId xmlns:a16="http://schemas.microsoft.com/office/drawing/2014/main" id="{34C471FA-DAF4-EAF0-0E5C-B824D3C5239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230920" y="5093530"/>
              <a:ext cx="151960" cy="0"/>
            </a:xfrm>
            <a:prstGeom prst="line">
              <a:avLst/>
            </a:prstGeom>
            <a:noFill/>
            <a:ln w="19050">
              <a:solidFill>
                <a:sysClr val="windowText" lastClr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F0502020204030204"/>
                <a:ea typeface="等线" panose="02010600030101010101" pitchFamily="2" charset="-122"/>
              </a:endParaRPr>
            </a:p>
          </p:txBody>
        </p:sp>
        <p:sp>
          <p:nvSpPr>
            <p:cNvPr id="12" name="Line 14">
              <a:extLst>
                <a:ext uri="{FF2B5EF4-FFF2-40B4-BE49-F238E27FC236}">
                  <a16:creationId xmlns:a16="http://schemas.microsoft.com/office/drawing/2014/main" id="{50863D74-1A5F-35A7-71FC-DC47B2BB664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382879" y="5093530"/>
              <a:ext cx="0" cy="448018"/>
            </a:xfrm>
            <a:prstGeom prst="line">
              <a:avLst/>
            </a:prstGeom>
            <a:noFill/>
            <a:ln w="19050">
              <a:solidFill>
                <a:sysClr val="windowText" lastClr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F0502020204030204"/>
                <a:ea typeface="等线" panose="02010600030101010101" pitchFamily="2" charset="-122"/>
              </a:endParaRPr>
            </a:p>
          </p:txBody>
        </p:sp>
        <p:sp>
          <p:nvSpPr>
            <p:cNvPr id="13" name="Line 15">
              <a:extLst>
                <a:ext uri="{FF2B5EF4-FFF2-40B4-BE49-F238E27FC236}">
                  <a16:creationId xmlns:a16="http://schemas.microsoft.com/office/drawing/2014/main" id="{F450B70E-96BE-661F-D936-86A26E8DB65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760365" y="3899306"/>
              <a:ext cx="0" cy="1642241"/>
            </a:xfrm>
            <a:prstGeom prst="line">
              <a:avLst/>
            </a:prstGeom>
            <a:noFill/>
            <a:ln w="19050">
              <a:solidFill>
                <a:sysClr val="windowText" lastClr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F0502020204030204"/>
                <a:ea typeface="等线" panose="02010600030101010101" pitchFamily="2" charset="-122"/>
              </a:endParaRPr>
            </a:p>
          </p:txBody>
        </p:sp>
        <p:sp>
          <p:nvSpPr>
            <p:cNvPr id="14" name="Line 16">
              <a:extLst>
                <a:ext uri="{FF2B5EF4-FFF2-40B4-BE49-F238E27FC236}">
                  <a16:creationId xmlns:a16="http://schemas.microsoft.com/office/drawing/2014/main" id="{7EEE81F7-A306-6B43-F00B-A58FA9860FA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760365" y="3904769"/>
              <a:ext cx="379900" cy="0"/>
            </a:xfrm>
            <a:prstGeom prst="line">
              <a:avLst/>
            </a:prstGeom>
            <a:noFill/>
            <a:ln w="19050">
              <a:solidFill>
                <a:sysClr val="windowText" lastClr="000000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F0502020204030204"/>
                <a:ea typeface="等线" panose="02010600030101010101" pitchFamily="2" charset="-122"/>
              </a:endParaRPr>
            </a:p>
          </p:txBody>
        </p:sp>
        <p:sp>
          <p:nvSpPr>
            <p:cNvPr id="15" name="Rectangle 25">
              <a:extLst>
                <a:ext uri="{FF2B5EF4-FFF2-40B4-BE49-F238E27FC236}">
                  <a16:creationId xmlns:a16="http://schemas.microsoft.com/office/drawing/2014/main" id="{6F0509D3-77CF-B78E-534B-D03868CE09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88806" y="3010335"/>
              <a:ext cx="1291659" cy="1319357"/>
            </a:xfrm>
            <a:prstGeom prst="rect">
              <a:avLst/>
            </a:prstGeom>
            <a:noFill/>
            <a:ln w="19050">
              <a:solidFill>
                <a:sysClr val="windowText" lastClr="000000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F0502020204030204"/>
                <a:ea typeface="等线" panose="02010600030101010101" pitchFamily="2" charset="-122"/>
              </a:endParaRPr>
            </a:p>
          </p:txBody>
        </p:sp>
        <p:sp>
          <p:nvSpPr>
            <p:cNvPr id="16" name="Rectangle 26">
              <a:extLst>
                <a:ext uri="{FF2B5EF4-FFF2-40B4-BE49-F238E27FC236}">
                  <a16:creationId xmlns:a16="http://schemas.microsoft.com/office/drawing/2014/main" id="{D6785D45-41EE-1EF3-05AC-C6E8C22AD9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1008" y="3357534"/>
              <a:ext cx="243879" cy="763838"/>
            </a:xfrm>
            <a:prstGeom prst="rect">
              <a:avLst/>
            </a:prstGeom>
            <a:noFill/>
            <a:ln w="19050">
              <a:solidFill>
                <a:sysClr val="windowText" lastClr="000000"/>
              </a:solidFill>
              <a:miter lim="800000"/>
              <a:headEnd/>
              <a:tailEnd/>
            </a:ln>
            <a:effectLst/>
          </p:spPr>
          <p:txBody>
            <a:bodyPr wrap="none" lIns="0" rIns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altLang="zh-CN" sz="1400" kern="0" dirty="0">
                  <a:solidFill>
                    <a:prstClr val="black"/>
                  </a:solidFill>
                  <a:latin typeface="+mj-lt"/>
                  <a:ea typeface="等线" panose="02010600030101010101" pitchFamily="2" charset="-122"/>
                </a:rPr>
                <a:t>P</a:t>
              </a:r>
            </a:p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altLang="zh-CN" sz="1400" kern="0" dirty="0">
                  <a:solidFill>
                    <a:prstClr val="black"/>
                  </a:solidFill>
                  <a:latin typeface="+mj-lt"/>
                  <a:ea typeface="等线" panose="02010600030101010101" pitchFamily="2" charset="-122"/>
                </a:rPr>
                <a:t>C</a:t>
              </a:r>
              <a:endParaRPr kumimoji="0" lang="zh-CN" altLang="en-US" sz="14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等线" panose="02010600030101010101" pitchFamily="2" charset="-122"/>
              </a:endParaRPr>
            </a:p>
          </p:txBody>
        </p:sp>
        <p:sp>
          <p:nvSpPr>
            <p:cNvPr id="17" name="Line 27">
              <a:extLst>
                <a:ext uri="{FF2B5EF4-FFF2-40B4-BE49-F238E27FC236}">
                  <a16:creationId xmlns:a16="http://schemas.microsoft.com/office/drawing/2014/main" id="{7581F21A-26C9-F121-077A-14C1018B5BF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84887" y="3704733"/>
              <a:ext cx="303920" cy="0"/>
            </a:xfrm>
            <a:prstGeom prst="line">
              <a:avLst/>
            </a:prstGeom>
            <a:noFill/>
            <a:ln w="19050">
              <a:solidFill>
                <a:sysClr val="windowText" lastClr="000000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F0502020204030204"/>
                <a:ea typeface="等线" panose="02010600030101010101" pitchFamily="2" charset="-122"/>
              </a:endParaRPr>
            </a:p>
          </p:txBody>
        </p:sp>
        <p:sp>
          <p:nvSpPr>
            <p:cNvPr id="18" name="Line 28">
              <a:extLst>
                <a:ext uri="{FF2B5EF4-FFF2-40B4-BE49-F238E27FC236}">
                  <a16:creationId xmlns:a16="http://schemas.microsoft.com/office/drawing/2014/main" id="{7B445A15-7090-8DD2-8988-AB6184E0F41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06394" y="2246497"/>
              <a:ext cx="866232" cy="0"/>
            </a:xfrm>
            <a:prstGeom prst="line">
              <a:avLst/>
            </a:prstGeom>
            <a:noFill/>
            <a:ln w="19050">
              <a:solidFill>
                <a:sysClr val="windowText" lastClr="000000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F0502020204030204"/>
                <a:ea typeface="等线" panose="02010600030101010101" pitchFamily="2" charset="-122"/>
              </a:endParaRPr>
            </a:p>
          </p:txBody>
        </p:sp>
        <p:sp>
          <p:nvSpPr>
            <p:cNvPr id="19" name="Line 29">
              <a:extLst>
                <a:ext uri="{FF2B5EF4-FFF2-40B4-BE49-F238E27FC236}">
                  <a16:creationId xmlns:a16="http://schemas.microsoft.com/office/drawing/2014/main" id="{7E08244F-8B4D-4DF2-CDEE-F7FEF7FC576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92726" y="2802015"/>
              <a:ext cx="379900" cy="0"/>
            </a:xfrm>
            <a:prstGeom prst="line">
              <a:avLst/>
            </a:prstGeom>
            <a:noFill/>
            <a:ln w="19050">
              <a:solidFill>
                <a:sysClr val="windowText" lastClr="000000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F0502020204030204"/>
                <a:ea typeface="等线" panose="02010600030101010101" pitchFamily="2" charset="-122"/>
              </a:endParaRPr>
            </a:p>
          </p:txBody>
        </p:sp>
        <p:sp>
          <p:nvSpPr>
            <p:cNvPr id="20" name="Text Box 30">
              <a:extLst>
                <a:ext uri="{FF2B5EF4-FFF2-40B4-BE49-F238E27FC236}">
                  <a16:creationId xmlns:a16="http://schemas.microsoft.com/office/drawing/2014/main" id="{14C7BBBA-1C5E-5A8A-C9D3-17198A79AF8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20247" y="3473905"/>
              <a:ext cx="550120" cy="46165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1425" tIns="45713" rIns="91425" bIns="45713">
              <a:spAutoFit/>
            </a:bodyPr>
            <a:lstStyle>
              <a:lvl1pPr eaLnBrk="0" hangingPunct="0"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1pPr>
              <a:lvl2pPr marL="742950" indent="-285750" eaLnBrk="0" hangingPunct="0"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2pPr>
              <a:lvl3pPr marL="1143000" indent="-228600" eaLnBrk="0" hangingPunct="0"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3pPr>
              <a:lvl4pPr marL="1600200" indent="-228600" eaLnBrk="0" hangingPunct="0"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4pPr>
              <a:lvl5pPr marL="2057400" indent="-228600" eaLnBrk="0" hangingPunct="0"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9pPr>
            </a:lstStyle>
            <a:p>
              <a:pPr fontAlgn="auto">
                <a:spcBef>
                  <a:spcPts val="0"/>
                </a:spcBef>
                <a:spcAft>
                  <a:spcPts val="0"/>
                </a:spcAft>
              </a:pPr>
              <a:r>
                <a:rPr lang="en-US" altLang="zh-CN" sz="1200" b="0" dirty="0">
                  <a:solidFill>
                    <a:prstClr val="black"/>
                  </a:solidFill>
                  <a:latin typeface="Arial" pitchFamily="34" charset="0"/>
                  <a:ea typeface="SimHei" panose="02010609060101010101" pitchFamily="49" charset="-122"/>
                </a:rPr>
                <a:t>Read</a:t>
              </a:r>
            </a:p>
            <a:p>
              <a:pPr fontAlgn="auto">
                <a:spcBef>
                  <a:spcPts val="0"/>
                </a:spcBef>
                <a:spcAft>
                  <a:spcPts val="0"/>
                </a:spcAft>
              </a:pPr>
              <a:r>
                <a:rPr lang="en-US" altLang="zh-CN" sz="1200" b="0" dirty="0" err="1">
                  <a:solidFill>
                    <a:prstClr val="black"/>
                  </a:solidFill>
                  <a:latin typeface="Arial" pitchFamily="34" charset="0"/>
                  <a:ea typeface="SimHei" panose="02010609060101010101" pitchFamily="49" charset="-122"/>
                </a:rPr>
                <a:t>Addr</a:t>
              </a:r>
              <a:endParaRPr lang="en-US" altLang="zh-CN" sz="1200" b="0" dirty="0">
                <a:solidFill>
                  <a:prstClr val="black"/>
                </a:solidFill>
                <a:latin typeface="Arial" pitchFamily="34" charset="0"/>
                <a:ea typeface="SimHei" panose="02010609060101010101" pitchFamily="49" charset="-122"/>
              </a:endParaRPr>
            </a:p>
          </p:txBody>
        </p:sp>
        <p:sp>
          <p:nvSpPr>
            <p:cNvPr id="21" name="Text Box 31">
              <a:extLst>
                <a:ext uri="{FF2B5EF4-FFF2-40B4-BE49-F238E27FC236}">
                  <a16:creationId xmlns:a16="http://schemas.microsoft.com/office/drawing/2014/main" id="{1276551F-A0DA-2154-E27B-DE221292F6B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168631" y="2960993"/>
              <a:ext cx="1132010" cy="58476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1425" tIns="45713" rIns="91425" bIns="45713">
              <a:spAutoFit/>
            </a:bodyPr>
            <a:lstStyle>
              <a:lvl1pPr eaLnBrk="0" hangingPunct="0"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1pPr>
              <a:lvl2pPr marL="742950" indent="-285750" eaLnBrk="0" hangingPunct="0"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2pPr>
              <a:lvl3pPr marL="1143000" indent="-228600" eaLnBrk="0" hangingPunct="0"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3pPr>
              <a:lvl4pPr marL="1600200" indent="-228600" eaLnBrk="0" hangingPunct="0"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4pPr>
              <a:lvl5pPr marL="2057400" indent="-228600" eaLnBrk="0" hangingPunct="0"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9pPr>
            </a:lstStyle>
            <a:p>
              <a:pPr algn="ctr" fontAlgn="auto">
                <a:spcBef>
                  <a:spcPts val="0"/>
                </a:spcBef>
                <a:spcAft>
                  <a:spcPts val="0"/>
                </a:spcAft>
              </a:pPr>
              <a:r>
                <a:rPr lang="en-US" altLang="zh-CN" sz="1600" b="0" dirty="0">
                  <a:solidFill>
                    <a:prstClr val="black"/>
                  </a:solidFill>
                  <a:latin typeface="Arial" pitchFamily="34" charset="0"/>
                  <a:ea typeface="SimHei" panose="02010609060101010101" pitchFamily="49" charset="-122"/>
                </a:rPr>
                <a:t>Instruction</a:t>
              </a: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</a:pPr>
              <a:r>
                <a:rPr lang="en-US" altLang="zh-CN" sz="1600" b="0" dirty="0">
                  <a:solidFill>
                    <a:prstClr val="black"/>
                  </a:solidFill>
                  <a:latin typeface="Arial" pitchFamily="34" charset="0"/>
                  <a:ea typeface="SimHei" panose="02010609060101010101" pitchFamily="49" charset="-122"/>
                </a:rPr>
                <a:t>Memory</a:t>
              </a:r>
            </a:p>
          </p:txBody>
        </p:sp>
        <p:sp>
          <p:nvSpPr>
            <p:cNvPr id="22" name="Text Box 32">
              <a:extLst>
                <a:ext uri="{FF2B5EF4-FFF2-40B4-BE49-F238E27FC236}">
                  <a16:creationId xmlns:a16="http://schemas.microsoft.com/office/drawing/2014/main" id="{460CF513-CEE0-8315-A1D3-392EAF999CF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810940" y="2269663"/>
              <a:ext cx="314479" cy="55635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1425" tIns="45713" rIns="91425" bIns="45713">
              <a:spAutoFit/>
            </a:bodyPr>
            <a:lstStyle>
              <a:lvl1pPr eaLnBrk="0" hangingPunct="0"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1pPr>
              <a:lvl2pPr marL="742950" indent="-285750" eaLnBrk="0" hangingPunct="0"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2pPr>
              <a:lvl3pPr marL="1143000" indent="-228600" eaLnBrk="0" hangingPunct="0"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3pPr>
              <a:lvl4pPr marL="1600200" indent="-228600" eaLnBrk="0" hangingPunct="0"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4pPr>
              <a:lvl5pPr marL="2057400" indent="-228600" eaLnBrk="0" hangingPunct="0"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9pPr>
            </a:lstStyle>
            <a:p>
              <a:pPr fontAlgn="auto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lang="en-US" altLang="zh-CN" sz="1400" b="0" dirty="0">
                  <a:solidFill>
                    <a:prstClr val="black"/>
                  </a:solidFill>
                  <a:latin typeface="Arial" pitchFamily="34" charset="0"/>
                  <a:ea typeface="SimHei" panose="02010609060101010101" pitchFamily="49" charset="-122"/>
                </a:rPr>
                <a:t>A</a:t>
              </a:r>
            </a:p>
            <a:p>
              <a:pPr fontAlgn="auto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lang="en-US" altLang="zh-CN" sz="1400" b="0" dirty="0">
                  <a:solidFill>
                    <a:prstClr val="black"/>
                  </a:solidFill>
                  <a:latin typeface="Arial" pitchFamily="34" charset="0"/>
                  <a:ea typeface="SimHei" panose="02010609060101010101" pitchFamily="49" charset="-122"/>
                </a:rPr>
                <a:t>D</a:t>
              </a:r>
            </a:p>
            <a:p>
              <a:pPr fontAlgn="auto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lang="en-US" altLang="zh-CN" sz="1400" b="0" dirty="0">
                  <a:solidFill>
                    <a:prstClr val="black"/>
                  </a:solidFill>
                  <a:latin typeface="Arial" pitchFamily="34" charset="0"/>
                  <a:ea typeface="SimHei" panose="02010609060101010101" pitchFamily="49" charset="-122"/>
                </a:rPr>
                <a:t>D</a:t>
              </a:r>
            </a:p>
          </p:txBody>
        </p:sp>
        <p:sp>
          <p:nvSpPr>
            <p:cNvPr id="23" name="Line 34">
              <a:extLst>
                <a:ext uri="{FF2B5EF4-FFF2-40B4-BE49-F238E27FC236}">
                  <a16:creationId xmlns:a16="http://schemas.microsoft.com/office/drawing/2014/main" id="{FCD0896A-66D8-DFCA-C0D7-6B3B027535E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9007" y="3704733"/>
              <a:ext cx="212001" cy="0"/>
            </a:xfrm>
            <a:prstGeom prst="line">
              <a:avLst/>
            </a:prstGeom>
            <a:noFill/>
            <a:ln w="19050">
              <a:solidFill>
                <a:sysClr val="windowText" lastClr="000000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F0502020204030204"/>
                <a:ea typeface="等线" panose="02010600030101010101" pitchFamily="2" charset="-122"/>
              </a:endParaRPr>
            </a:p>
          </p:txBody>
        </p:sp>
        <p:sp>
          <p:nvSpPr>
            <p:cNvPr id="24" name="Text Box 35">
              <a:extLst>
                <a:ext uri="{FF2B5EF4-FFF2-40B4-BE49-F238E27FC236}">
                  <a16:creationId xmlns:a16="http://schemas.microsoft.com/office/drawing/2014/main" id="{99199D46-0B37-33E5-7870-62AA1518D02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164786" y="2663136"/>
              <a:ext cx="269595" cy="27698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1425" tIns="45713" rIns="91425" bIns="45713">
              <a:spAutoFit/>
            </a:bodyPr>
            <a:lstStyle>
              <a:lvl1pPr eaLnBrk="0" hangingPunct="0"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1pPr>
              <a:lvl2pPr marL="742950" indent="-285750" eaLnBrk="0" hangingPunct="0"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2pPr>
              <a:lvl3pPr marL="1143000" indent="-228600" eaLnBrk="0" hangingPunct="0"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3pPr>
              <a:lvl4pPr marL="1600200" indent="-228600" eaLnBrk="0" hangingPunct="0"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4pPr>
              <a:lvl5pPr marL="2057400" indent="-228600" eaLnBrk="0" hangingPunct="0"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9pPr>
            </a:lstStyle>
            <a:p>
              <a:pPr fontAlgn="auto">
                <a:spcBef>
                  <a:spcPts val="0"/>
                </a:spcBef>
                <a:spcAft>
                  <a:spcPts val="0"/>
                </a:spcAft>
              </a:pPr>
              <a:r>
                <a:rPr lang="en-US" altLang="zh-CN" sz="1200" b="0" dirty="0">
                  <a:solidFill>
                    <a:prstClr val="black"/>
                  </a:solidFill>
                  <a:latin typeface="Arial" pitchFamily="34" charset="0"/>
                  <a:ea typeface="SimHei" panose="02010609060101010101" pitchFamily="49" charset="-122"/>
                </a:rPr>
                <a:t>4</a:t>
              </a:r>
            </a:p>
          </p:txBody>
        </p:sp>
        <p:sp>
          <p:nvSpPr>
            <p:cNvPr id="25" name="Line 36">
              <a:extLst>
                <a:ext uri="{FF2B5EF4-FFF2-40B4-BE49-F238E27FC236}">
                  <a16:creationId xmlns:a16="http://schemas.microsoft.com/office/drawing/2014/main" id="{FAE2273D-56C6-A3BE-3A80-085EB061C22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9007" y="1482658"/>
              <a:ext cx="0" cy="2222075"/>
            </a:xfrm>
            <a:prstGeom prst="line">
              <a:avLst/>
            </a:prstGeom>
            <a:noFill/>
            <a:ln w="19050">
              <a:solidFill>
                <a:sysClr val="windowText" lastClr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F0502020204030204"/>
                <a:ea typeface="等线" panose="02010600030101010101" pitchFamily="2" charset="-122"/>
              </a:endParaRPr>
            </a:p>
          </p:txBody>
        </p:sp>
        <p:sp>
          <p:nvSpPr>
            <p:cNvPr id="26" name="AutoShape 37">
              <a:extLst>
                <a:ext uri="{FF2B5EF4-FFF2-40B4-BE49-F238E27FC236}">
                  <a16:creationId xmlns:a16="http://schemas.microsoft.com/office/drawing/2014/main" id="{82417BE3-B2C5-94AB-DE54-F8D3AC08838D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 flipH="1">
              <a:off x="966277" y="1403408"/>
              <a:ext cx="624959" cy="227940"/>
            </a:xfrm>
            <a:custGeom>
              <a:avLst/>
              <a:gdLst>
                <a:gd name="T0" fmla="*/ 8 w 21600"/>
                <a:gd name="T1" fmla="*/ 0 h 21600"/>
                <a:gd name="T2" fmla="*/ 4 w 21600"/>
                <a:gd name="T3" fmla="*/ 1 h 21600"/>
                <a:gd name="T4" fmla="*/ 1 w 21600"/>
                <a:gd name="T5" fmla="*/ 0 h 21600"/>
                <a:gd name="T6" fmla="*/ 4 w 21600"/>
                <a:gd name="T7" fmla="*/ 0 h 21600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4500 w 21600"/>
                <a:gd name="T13" fmla="*/ 4500 h 21600"/>
                <a:gd name="T14" fmla="*/ 17100 w 21600"/>
                <a:gd name="T15" fmla="*/ 17100 h 2160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600" h="21600">
                  <a:moveTo>
                    <a:pt x="0" y="0"/>
                  </a:moveTo>
                  <a:lnTo>
                    <a:pt x="5400" y="21600"/>
                  </a:lnTo>
                  <a:lnTo>
                    <a:pt x="16200" y="21600"/>
                  </a:lnTo>
                  <a:lnTo>
                    <a:pt x="21600" y="0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9050">
              <a:solidFill>
                <a:sysClr val="windowText" lastClr="000000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F0502020204030204"/>
                <a:ea typeface="等线" panose="02010600030101010101" pitchFamily="2" charset="-122"/>
              </a:endParaRPr>
            </a:p>
          </p:txBody>
        </p:sp>
        <p:sp>
          <p:nvSpPr>
            <p:cNvPr id="27" name="Line 38">
              <a:extLst>
                <a:ext uri="{FF2B5EF4-FFF2-40B4-BE49-F238E27FC236}">
                  <a16:creationId xmlns:a16="http://schemas.microsoft.com/office/drawing/2014/main" id="{ED157D76-F1B9-35EE-F6D4-AC665218F25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29006" y="1482658"/>
              <a:ext cx="835779" cy="0"/>
            </a:xfrm>
            <a:prstGeom prst="line">
              <a:avLst/>
            </a:prstGeom>
            <a:noFill/>
            <a:ln w="19050">
              <a:solidFill>
                <a:sysClr val="windowText" lastClr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F0502020204030204"/>
                <a:ea typeface="等线" panose="02010600030101010101" pitchFamily="2" charset="-122"/>
              </a:endParaRPr>
            </a:p>
          </p:txBody>
        </p:sp>
        <p:sp>
          <p:nvSpPr>
            <p:cNvPr id="28" name="Line 41">
              <a:extLst>
                <a:ext uri="{FF2B5EF4-FFF2-40B4-BE49-F238E27FC236}">
                  <a16:creationId xmlns:a16="http://schemas.microsoft.com/office/drawing/2014/main" id="{27C4C561-AE5D-13C0-36D9-CFEFC8101DC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392725" y="1343779"/>
              <a:ext cx="5541095" cy="0"/>
            </a:xfrm>
            <a:prstGeom prst="line">
              <a:avLst/>
            </a:prstGeom>
            <a:noFill/>
            <a:ln w="19050">
              <a:solidFill>
                <a:sysClr val="windowText" lastClr="000000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F0502020204030204"/>
                <a:ea typeface="等线" panose="02010600030101010101" pitchFamily="2" charset="-122"/>
              </a:endParaRPr>
            </a:p>
          </p:txBody>
        </p:sp>
        <p:sp>
          <p:nvSpPr>
            <p:cNvPr id="29" name="Line 42">
              <a:extLst>
                <a:ext uri="{FF2B5EF4-FFF2-40B4-BE49-F238E27FC236}">
                  <a16:creationId xmlns:a16="http://schemas.microsoft.com/office/drawing/2014/main" id="{04DC564E-4362-483D-3840-CBF912DAB17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912325" y="5715936"/>
              <a:ext cx="5926434" cy="0"/>
            </a:xfrm>
            <a:prstGeom prst="line">
              <a:avLst/>
            </a:prstGeom>
            <a:noFill/>
            <a:ln w="19050">
              <a:solidFill>
                <a:sysClr val="windowText" lastClr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F0502020204030204"/>
                <a:ea typeface="等线" panose="02010600030101010101" pitchFamily="2" charset="-122"/>
              </a:endParaRPr>
            </a:p>
          </p:txBody>
        </p:sp>
        <p:sp>
          <p:nvSpPr>
            <p:cNvPr id="30" name="Rectangle 43">
              <a:extLst>
                <a:ext uri="{FF2B5EF4-FFF2-40B4-BE49-F238E27FC236}">
                  <a16:creationId xmlns:a16="http://schemas.microsoft.com/office/drawing/2014/main" id="{92F6A755-E7BA-6BDA-7A0D-8758B6BD27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40264" y="2913409"/>
              <a:ext cx="1291659" cy="1587077"/>
            </a:xfrm>
            <a:prstGeom prst="rect">
              <a:avLst/>
            </a:prstGeom>
            <a:noFill/>
            <a:ln w="19050">
              <a:solidFill>
                <a:sysClr val="windowText" lastClr="000000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20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F0502020204030204"/>
                <a:ea typeface="等线" panose="02010600030101010101" pitchFamily="2" charset="-122"/>
              </a:endParaRPr>
            </a:p>
          </p:txBody>
        </p:sp>
        <p:sp>
          <p:nvSpPr>
            <p:cNvPr id="31" name="Line 44">
              <a:extLst>
                <a:ext uri="{FF2B5EF4-FFF2-40B4-BE49-F238E27FC236}">
                  <a16:creationId xmlns:a16="http://schemas.microsoft.com/office/drawing/2014/main" id="{40BD942A-2019-F11D-2E92-CE3B2CC75B3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380465" y="3704733"/>
              <a:ext cx="151960" cy="0"/>
            </a:xfrm>
            <a:prstGeom prst="line">
              <a:avLst/>
            </a:prstGeom>
            <a:noFill/>
            <a:ln w="19050">
              <a:solidFill>
                <a:sysClr val="windowText" lastClr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F0502020204030204"/>
                <a:ea typeface="等线" panose="02010600030101010101" pitchFamily="2" charset="-122"/>
              </a:endParaRPr>
            </a:p>
          </p:txBody>
        </p:sp>
        <p:sp>
          <p:nvSpPr>
            <p:cNvPr id="32" name="Line 45">
              <a:extLst>
                <a:ext uri="{FF2B5EF4-FFF2-40B4-BE49-F238E27FC236}">
                  <a16:creationId xmlns:a16="http://schemas.microsoft.com/office/drawing/2014/main" id="{BA19A274-4DE1-30B8-6DB1-65DEE885CCA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36345" y="3496414"/>
              <a:ext cx="303920" cy="0"/>
            </a:xfrm>
            <a:prstGeom prst="line">
              <a:avLst/>
            </a:prstGeom>
            <a:noFill/>
            <a:ln w="19050">
              <a:solidFill>
                <a:sysClr val="windowText" lastClr="000000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F0502020204030204"/>
                <a:ea typeface="等线" panose="02010600030101010101" pitchFamily="2" charset="-122"/>
              </a:endParaRPr>
            </a:p>
          </p:txBody>
        </p:sp>
        <p:sp>
          <p:nvSpPr>
            <p:cNvPr id="33" name="Text Box 46">
              <a:extLst>
                <a:ext uri="{FF2B5EF4-FFF2-40B4-BE49-F238E27FC236}">
                  <a16:creationId xmlns:a16="http://schemas.microsoft.com/office/drawing/2014/main" id="{30924616-4ED0-7AC4-147A-76B7E653EE9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079726" y="4069515"/>
              <a:ext cx="540952" cy="40009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1425" tIns="45713" rIns="91425" bIns="45713">
              <a:spAutoFit/>
            </a:bodyPr>
            <a:lstStyle>
              <a:lvl1pPr eaLnBrk="0" hangingPunct="0"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1pPr>
              <a:lvl2pPr marL="742950" indent="-285750" eaLnBrk="0" hangingPunct="0"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2pPr>
              <a:lvl3pPr marL="1143000" indent="-228600" eaLnBrk="0" hangingPunct="0"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3pPr>
              <a:lvl4pPr marL="1600200" indent="-228600" eaLnBrk="0" hangingPunct="0"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4pPr>
              <a:lvl5pPr marL="2057400" indent="-228600" eaLnBrk="0" hangingPunct="0"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9pPr>
            </a:lstStyle>
            <a:p>
              <a:pPr fontAlgn="auto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lang="en-US" altLang="zh-CN" sz="1200" b="0" dirty="0">
                  <a:solidFill>
                    <a:prstClr val="black"/>
                  </a:solidFill>
                  <a:latin typeface="Arial" pitchFamily="34" charset="0"/>
                  <a:ea typeface="SimHei" panose="02010609060101010101" pitchFamily="49" charset="-122"/>
                </a:rPr>
                <a:t>Write</a:t>
              </a:r>
            </a:p>
            <a:p>
              <a:pPr fontAlgn="auto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lang="en-US" altLang="zh-CN" sz="1200" b="0" dirty="0">
                  <a:solidFill>
                    <a:prstClr val="black"/>
                  </a:solidFill>
                  <a:latin typeface="Arial" pitchFamily="34" charset="0"/>
                  <a:ea typeface="SimHei" panose="02010609060101010101" pitchFamily="49" charset="-122"/>
                </a:rPr>
                <a:t>Data</a:t>
              </a:r>
            </a:p>
          </p:txBody>
        </p:sp>
        <p:sp>
          <p:nvSpPr>
            <p:cNvPr id="34" name="Text Box 47">
              <a:extLst>
                <a:ext uri="{FF2B5EF4-FFF2-40B4-BE49-F238E27FC236}">
                  <a16:creationId xmlns:a16="http://schemas.microsoft.com/office/drawing/2014/main" id="{836141B1-7E2A-6A90-DFD4-5AB18E7175F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070642" y="2967621"/>
              <a:ext cx="636682" cy="40009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1425" tIns="45713" rIns="91425" bIns="45713">
              <a:spAutoFit/>
            </a:bodyPr>
            <a:lstStyle>
              <a:lvl1pPr eaLnBrk="0" hangingPunct="0"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1pPr>
              <a:lvl2pPr marL="742950" indent="-285750" eaLnBrk="0" hangingPunct="0"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2pPr>
              <a:lvl3pPr marL="1143000" indent="-228600" eaLnBrk="0" hangingPunct="0"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3pPr>
              <a:lvl4pPr marL="1600200" indent="-228600" eaLnBrk="0" hangingPunct="0"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4pPr>
              <a:lvl5pPr marL="2057400" indent="-228600" eaLnBrk="0" hangingPunct="0"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9pPr>
            </a:lstStyle>
            <a:p>
              <a:pPr fontAlgn="auto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lang="en-US" altLang="zh-CN" sz="1200" b="0" dirty="0">
                  <a:solidFill>
                    <a:prstClr val="black"/>
                  </a:solidFill>
                  <a:latin typeface="Arial" pitchFamily="34" charset="0"/>
                  <a:ea typeface="SimHei" panose="02010609060101010101" pitchFamily="49" charset="-122"/>
                </a:rPr>
                <a:t>Read </a:t>
              </a:r>
            </a:p>
            <a:p>
              <a:pPr fontAlgn="auto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lang="en-US" altLang="zh-CN" sz="1200" b="0" dirty="0" err="1">
                  <a:solidFill>
                    <a:prstClr val="black"/>
                  </a:solidFill>
                  <a:latin typeface="Arial" pitchFamily="34" charset="0"/>
                  <a:ea typeface="SimHei" panose="02010609060101010101" pitchFamily="49" charset="-122"/>
                </a:rPr>
                <a:t>Addr</a:t>
              </a:r>
              <a:r>
                <a:rPr lang="en-US" altLang="zh-CN" sz="1200" b="0" dirty="0">
                  <a:solidFill>
                    <a:prstClr val="black"/>
                  </a:solidFill>
                  <a:latin typeface="Arial" pitchFamily="34" charset="0"/>
                  <a:ea typeface="SimHei" panose="02010609060101010101" pitchFamily="49" charset="-122"/>
                </a:rPr>
                <a:t> 1</a:t>
              </a:r>
            </a:p>
          </p:txBody>
        </p:sp>
        <p:sp>
          <p:nvSpPr>
            <p:cNvPr id="35" name="Text Box 48">
              <a:extLst>
                <a:ext uri="{FF2B5EF4-FFF2-40B4-BE49-F238E27FC236}">
                  <a16:creationId xmlns:a16="http://schemas.microsoft.com/office/drawing/2014/main" id="{AFC7F41F-9199-ED78-3FB1-D59F76261D4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073432" y="3329446"/>
              <a:ext cx="636682" cy="40009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1425" tIns="45713" rIns="91425" bIns="45713">
              <a:spAutoFit/>
            </a:bodyPr>
            <a:lstStyle>
              <a:lvl1pPr eaLnBrk="0" hangingPunct="0"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1pPr>
              <a:lvl2pPr marL="742950" indent="-285750" eaLnBrk="0" hangingPunct="0"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2pPr>
              <a:lvl3pPr marL="1143000" indent="-228600" eaLnBrk="0" hangingPunct="0"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3pPr>
              <a:lvl4pPr marL="1600200" indent="-228600" eaLnBrk="0" hangingPunct="0"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4pPr>
              <a:lvl5pPr marL="2057400" indent="-228600" eaLnBrk="0" hangingPunct="0"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9pPr>
            </a:lstStyle>
            <a:p>
              <a:pPr fontAlgn="auto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lang="en-US" altLang="zh-CN" sz="1200" b="0" dirty="0">
                  <a:solidFill>
                    <a:prstClr val="black"/>
                  </a:solidFill>
                  <a:latin typeface="Arial" pitchFamily="34" charset="0"/>
                  <a:ea typeface="SimHei" panose="02010609060101010101" pitchFamily="49" charset="-122"/>
                </a:rPr>
                <a:t>Read </a:t>
              </a:r>
            </a:p>
            <a:p>
              <a:pPr fontAlgn="auto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lang="en-US" altLang="zh-CN" sz="1200" b="0" dirty="0" err="1">
                  <a:solidFill>
                    <a:prstClr val="black"/>
                  </a:solidFill>
                  <a:latin typeface="Arial" pitchFamily="34" charset="0"/>
                  <a:ea typeface="SimHei" panose="02010609060101010101" pitchFamily="49" charset="-122"/>
                </a:rPr>
                <a:t>Addr</a:t>
              </a:r>
              <a:r>
                <a:rPr lang="en-US" altLang="zh-CN" sz="1200" b="0" dirty="0">
                  <a:solidFill>
                    <a:prstClr val="black"/>
                  </a:solidFill>
                  <a:latin typeface="Arial" pitchFamily="34" charset="0"/>
                  <a:ea typeface="SimHei" panose="02010609060101010101" pitchFamily="49" charset="-122"/>
                </a:rPr>
                <a:t> 2</a:t>
              </a:r>
            </a:p>
          </p:txBody>
        </p:sp>
        <p:sp>
          <p:nvSpPr>
            <p:cNvPr id="36" name="Text Box 49">
              <a:extLst>
                <a:ext uri="{FF2B5EF4-FFF2-40B4-BE49-F238E27FC236}">
                  <a16:creationId xmlns:a16="http://schemas.microsoft.com/office/drawing/2014/main" id="{6B9D831E-B7C8-5347-71F7-32BB98432C6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079375" y="3715251"/>
              <a:ext cx="540952" cy="40009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1425" tIns="45713" rIns="91425" bIns="45713">
              <a:spAutoFit/>
            </a:bodyPr>
            <a:lstStyle>
              <a:lvl1pPr eaLnBrk="0" hangingPunct="0"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1pPr>
              <a:lvl2pPr marL="742950" indent="-285750" eaLnBrk="0" hangingPunct="0"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2pPr>
              <a:lvl3pPr marL="1143000" indent="-228600" eaLnBrk="0" hangingPunct="0"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3pPr>
              <a:lvl4pPr marL="1600200" indent="-228600" eaLnBrk="0" hangingPunct="0"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4pPr>
              <a:lvl5pPr marL="2057400" indent="-228600" eaLnBrk="0" hangingPunct="0"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9pPr>
            </a:lstStyle>
            <a:p>
              <a:pPr fontAlgn="auto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lang="en-US" altLang="zh-CN" sz="1200" b="0" dirty="0">
                  <a:solidFill>
                    <a:prstClr val="black"/>
                  </a:solidFill>
                  <a:latin typeface="Arial" pitchFamily="34" charset="0"/>
                  <a:ea typeface="SimHei" panose="02010609060101010101" pitchFamily="49" charset="-122"/>
                </a:rPr>
                <a:t>Write</a:t>
              </a:r>
            </a:p>
            <a:p>
              <a:pPr fontAlgn="auto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lang="en-US" altLang="zh-CN" sz="1200" b="0" dirty="0" err="1">
                  <a:solidFill>
                    <a:prstClr val="black"/>
                  </a:solidFill>
                  <a:latin typeface="Arial" pitchFamily="34" charset="0"/>
                  <a:ea typeface="SimHei" panose="02010609060101010101" pitchFamily="49" charset="-122"/>
                </a:rPr>
                <a:t>Addr</a:t>
              </a:r>
              <a:endParaRPr lang="en-US" altLang="zh-CN" sz="1200" b="0" dirty="0">
                <a:solidFill>
                  <a:prstClr val="black"/>
                </a:solidFill>
                <a:latin typeface="Arial" pitchFamily="34" charset="0"/>
                <a:ea typeface="SimHei" panose="02010609060101010101" pitchFamily="49" charset="-122"/>
              </a:endParaRPr>
            </a:p>
          </p:txBody>
        </p:sp>
        <p:sp>
          <p:nvSpPr>
            <p:cNvPr id="37" name="Text Box 50">
              <a:extLst>
                <a:ext uri="{FF2B5EF4-FFF2-40B4-BE49-F238E27FC236}">
                  <a16:creationId xmlns:a16="http://schemas.microsoft.com/office/drawing/2014/main" id="{389FC7CE-0D07-467A-4861-11A8E364B27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745972" y="3523895"/>
              <a:ext cx="684773" cy="33854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1425" tIns="45713" rIns="91425" bIns="45713">
              <a:spAutoFit/>
            </a:bodyPr>
            <a:lstStyle>
              <a:lvl1pPr eaLnBrk="0" hangingPunct="0"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1pPr>
              <a:lvl2pPr marL="742950" indent="-285750" eaLnBrk="0" hangingPunct="0"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2pPr>
              <a:lvl3pPr marL="1143000" indent="-228600" eaLnBrk="0" hangingPunct="0"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3pPr>
              <a:lvl4pPr marL="1600200" indent="-228600" eaLnBrk="0" hangingPunct="0"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4pPr>
              <a:lvl5pPr marL="2057400" indent="-228600" eaLnBrk="0" hangingPunct="0"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9pPr>
            </a:lstStyle>
            <a:p>
              <a:pPr algn="ctr" fontAlgn="auto">
                <a:spcBef>
                  <a:spcPts val="0"/>
                </a:spcBef>
                <a:spcAft>
                  <a:spcPts val="0"/>
                </a:spcAft>
              </a:pPr>
              <a:r>
                <a:rPr lang="en-US" altLang="zh-CN" sz="1600" b="0" dirty="0">
                  <a:solidFill>
                    <a:prstClr val="black"/>
                  </a:solidFill>
                  <a:latin typeface="Arial" pitchFamily="34" charset="0"/>
                  <a:ea typeface="SimHei" panose="02010609060101010101" pitchFamily="49" charset="-122"/>
                </a:rPr>
                <a:t>Regs</a:t>
              </a:r>
            </a:p>
          </p:txBody>
        </p:sp>
        <p:sp>
          <p:nvSpPr>
            <p:cNvPr id="38" name="Text Box 51">
              <a:extLst>
                <a:ext uri="{FF2B5EF4-FFF2-40B4-BE49-F238E27FC236}">
                  <a16:creationId xmlns:a16="http://schemas.microsoft.com/office/drawing/2014/main" id="{AF9CC1DA-B7E6-4413-CC07-18EE6B24CE7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807047" y="3141428"/>
              <a:ext cx="679963" cy="40009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1425" tIns="45713" rIns="91425" bIns="45713">
              <a:spAutoFit/>
            </a:bodyPr>
            <a:lstStyle>
              <a:lvl1pPr eaLnBrk="0" hangingPunct="0"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1pPr>
              <a:lvl2pPr marL="742950" indent="-285750" eaLnBrk="0" hangingPunct="0"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2pPr>
              <a:lvl3pPr marL="1143000" indent="-228600" eaLnBrk="0" hangingPunct="0"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3pPr>
              <a:lvl4pPr marL="1600200" indent="-228600" eaLnBrk="0" hangingPunct="0"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4pPr>
              <a:lvl5pPr marL="2057400" indent="-228600" eaLnBrk="0" hangingPunct="0"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9pPr>
            </a:lstStyle>
            <a:p>
              <a:pPr algn="r" fontAlgn="auto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lang="en-US" altLang="zh-CN" sz="1200" b="0" dirty="0">
                  <a:solidFill>
                    <a:prstClr val="black"/>
                  </a:solidFill>
                  <a:latin typeface="Arial" pitchFamily="34" charset="0"/>
                  <a:ea typeface="SimHei" panose="02010609060101010101" pitchFamily="49" charset="-122"/>
                </a:rPr>
                <a:t>Read</a:t>
              </a:r>
            </a:p>
            <a:p>
              <a:pPr algn="r" fontAlgn="auto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lang="en-US" altLang="zh-CN" sz="1200" b="0" dirty="0">
                  <a:solidFill>
                    <a:prstClr val="black"/>
                  </a:solidFill>
                  <a:latin typeface="Arial" pitchFamily="34" charset="0"/>
                  <a:ea typeface="SimHei" panose="02010609060101010101" pitchFamily="49" charset="-122"/>
                </a:rPr>
                <a:t> Data 1</a:t>
              </a:r>
            </a:p>
          </p:txBody>
        </p:sp>
        <p:sp>
          <p:nvSpPr>
            <p:cNvPr id="39" name="Text Box 52">
              <a:extLst>
                <a:ext uri="{FF2B5EF4-FFF2-40B4-BE49-F238E27FC236}">
                  <a16:creationId xmlns:a16="http://schemas.microsoft.com/office/drawing/2014/main" id="{81F9A144-1BB9-A29A-E9BD-0C457457F0F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797411" y="3892751"/>
              <a:ext cx="679963" cy="40009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1425" tIns="45713" rIns="91425" bIns="45713">
              <a:spAutoFit/>
            </a:bodyPr>
            <a:lstStyle>
              <a:lvl1pPr eaLnBrk="0" hangingPunct="0"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1pPr>
              <a:lvl2pPr marL="742950" indent="-285750" eaLnBrk="0" hangingPunct="0"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2pPr>
              <a:lvl3pPr marL="1143000" indent="-228600" eaLnBrk="0" hangingPunct="0"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3pPr>
              <a:lvl4pPr marL="1600200" indent="-228600" eaLnBrk="0" hangingPunct="0"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4pPr>
              <a:lvl5pPr marL="2057400" indent="-228600" eaLnBrk="0" hangingPunct="0"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9pPr>
            </a:lstStyle>
            <a:p>
              <a:pPr algn="r" fontAlgn="auto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lang="en-US" altLang="zh-CN" sz="1200" b="0" dirty="0">
                  <a:solidFill>
                    <a:prstClr val="black"/>
                  </a:solidFill>
                  <a:latin typeface="Arial" pitchFamily="34" charset="0"/>
                  <a:ea typeface="SimHei" panose="02010609060101010101" pitchFamily="49" charset="-122"/>
                </a:rPr>
                <a:t>Read</a:t>
              </a:r>
            </a:p>
            <a:p>
              <a:pPr algn="r" fontAlgn="auto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lang="en-US" altLang="zh-CN" sz="1200" b="0" dirty="0">
                  <a:solidFill>
                    <a:prstClr val="black"/>
                  </a:solidFill>
                  <a:latin typeface="Arial" pitchFamily="34" charset="0"/>
                  <a:ea typeface="SimHei" panose="02010609060101010101" pitchFamily="49" charset="-122"/>
                </a:rPr>
                <a:t> Data 2</a:t>
              </a:r>
            </a:p>
          </p:txBody>
        </p:sp>
        <p:sp>
          <p:nvSpPr>
            <p:cNvPr id="40" name="Line 53">
              <a:extLst>
                <a:ext uri="{FF2B5EF4-FFF2-40B4-BE49-F238E27FC236}">
                  <a16:creationId xmlns:a16="http://schemas.microsoft.com/office/drawing/2014/main" id="{AEA617AD-EB0E-6B65-38BA-E9D8FA49CD7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36345" y="4815770"/>
              <a:ext cx="379900" cy="0"/>
            </a:xfrm>
            <a:prstGeom prst="line">
              <a:avLst/>
            </a:prstGeom>
            <a:noFill/>
            <a:ln w="19050">
              <a:solidFill>
                <a:sysClr val="windowText" lastClr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F0502020204030204"/>
                <a:ea typeface="等线" panose="02010600030101010101" pitchFamily="2" charset="-122"/>
              </a:endParaRPr>
            </a:p>
          </p:txBody>
        </p:sp>
        <p:sp>
          <p:nvSpPr>
            <p:cNvPr id="41" name="Line 54">
              <a:extLst>
                <a:ext uri="{FF2B5EF4-FFF2-40B4-BE49-F238E27FC236}">
                  <a16:creationId xmlns:a16="http://schemas.microsoft.com/office/drawing/2014/main" id="{8F278492-9C29-F00A-6302-605573FA363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21543" y="4749518"/>
              <a:ext cx="75980" cy="138880"/>
            </a:xfrm>
            <a:prstGeom prst="line">
              <a:avLst/>
            </a:prstGeom>
            <a:noFill/>
            <a:ln w="12700">
              <a:solidFill>
                <a:sysClr val="windowText" lastClr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F0502020204030204"/>
                <a:ea typeface="等线" panose="02010600030101010101" pitchFamily="2" charset="-122"/>
              </a:endParaRPr>
            </a:p>
          </p:txBody>
        </p:sp>
        <p:sp>
          <p:nvSpPr>
            <p:cNvPr id="42" name="Line 55">
              <a:extLst>
                <a:ext uri="{FF2B5EF4-FFF2-40B4-BE49-F238E27FC236}">
                  <a16:creationId xmlns:a16="http://schemas.microsoft.com/office/drawing/2014/main" id="{0BB47E39-BE78-040F-835C-1417A41B195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34054" y="4733847"/>
              <a:ext cx="75980" cy="138880"/>
            </a:xfrm>
            <a:prstGeom prst="line">
              <a:avLst/>
            </a:prstGeom>
            <a:noFill/>
            <a:ln w="12700">
              <a:solidFill>
                <a:sysClr val="windowText" lastClr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F0502020204030204"/>
                <a:ea typeface="等线" panose="02010600030101010101" pitchFamily="2" charset="-122"/>
              </a:endParaRPr>
            </a:p>
          </p:txBody>
        </p:sp>
        <p:sp>
          <p:nvSpPr>
            <p:cNvPr id="43" name="Text Box 56">
              <a:extLst>
                <a:ext uri="{FF2B5EF4-FFF2-40B4-BE49-F238E27FC236}">
                  <a16:creationId xmlns:a16="http://schemas.microsoft.com/office/drawing/2014/main" id="{00EB2D7E-BF01-2A88-1D9E-501DFC451A4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902832" y="4838245"/>
              <a:ext cx="379889" cy="27698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91425" tIns="45713" rIns="91425" bIns="45713">
              <a:spAutoFit/>
            </a:bodyPr>
            <a:lstStyle>
              <a:lvl1pPr eaLnBrk="0" hangingPunct="0"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1pPr>
              <a:lvl2pPr marL="742950" indent="-285750" eaLnBrk="0" hangingPunct="0"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2pPr>
              <a:lvl3pPr marL="1143000" indent="-228600" eaLnBrk="0" hangingPunct="0"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3pPr>
              <a:lvl4pPr marL="1600200" indent="-228600" eaLnBrk="0" hangingPunct="0"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4pPr>
              <a:lvl5pPr marL="2057400" indent="-228600" eaLnBrk="0" hangingPunct="0"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9pPr>
            </a:lstStyle>
            <a:p>
              <a:pPr fontAlgn="auto">
                <a:spcBef>
                  <a:spcPts val="0"/>
                </a:spcBef>
                <a:spcAft>
                  <a:spcPts val="0"/>
                </a:spcAft>
              </a:pPr>
              <a:r>
                <a:rPr lang="en-US" altLang="zh-CN" sz="1200" b="0" dirty="0">
                  <a:solidFill>
                    <a:prstClr val="black"/>
                  </a:solidFill>
                  <a:latin typeface="Arial" pitchFamily="34" charset="0"/>
                  <a:ea typeface="SimHei" panose="02010609060101010101" pitchFamily="49" charset="-122"/>
                </a:rPr>
                <a:t>16</a:t>
              </a:r>
            </a:p>
          </p:txBody>
        </p:sp>
        <p:sp>
          <p:nvSpPr>
            <p:cNvPr id="44" name="Text Box 57">
              <a:extLst>
                <a:ext uri="{FF2B5EF4-FFF2-40B4-BE49-F238E27FC236}">
                  <a16:creationId xmlns:a16="http://schemas.microsoft.com/office/drawing/2014/main" id="{8737CE00-58F9-D00B-DBDC-B9183B83C88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28003" y="4815770"/>
              <a:ext cx="354554" cy="27698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1425" tIns="45713" rIns="91425" bIns="45713">
              <a:spAutoFit/>
            </a:bodyPr>
            <a:lstStyle>
              <a:lvl1pPr eaLnBrk="0" hangingPunct="0"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1pPr>
              <a:lvl2pPr marL="742950" indent="-285750" eaLnBrk="0" hangingPunct="0"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2pPr>
              <a:lvl3pPr marL="1143000" indent="-228600" eaLnBrk="0" hangingPunct="0"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3pPr>
              <a:lvl4pPr marL="1600200" indent="-228600" eaLnBrk="0" hangingPunct="0"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4pPr>
              <a:lvl5pPr marL="2057400" indent="-228600" eaLnBrk="0" hangingPunct="0"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9pPr>
            </a:lstStyle>
            <a:p>
              <a:pPr fontAlgn="auto">
                <a:spcBef>
                  <a:spcPts val="0"/>
                </a:spcBef>
                <a:spcAft>
                  <a:spcPts val="0"/>
                </a:spcAft>
              </a:pPr>
              <a:r>
                <a:rPr lang="en-US" altLang="zh-CN" sz="1200" b="0" dirty="0">
                  <a:solidFill>
                    <a:prstClr val="black"/>
                  </a:solidFill>
                  <a:latin typeface="Arial" pitchFamily="34" charset="0"/>
                  <a:ea typeface="SimHei" panose="02010609060101010101" pitchFamily="49" charset="-122"/>
                </a:rPr>
                <a:t>32</a:t>
              </a:r>
            </a:p>
          </p:txBody>
        </p:sp>
        <p:sp>
          <p:nvSpPr>
            <p:cNvPr id="45" name="Line 58">
              <a:extLst>
                <a:ext uri="{FF2B5EF4-FFF2-40B4-BE49-F238E27FC236}">
                  <a16:creationId xmlns:a16="http://schemas.microsoft.com/office/drawing/2014/main" id="{22E7F4A9-3AEB-77DB-3B49-234A2EE99C7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12325" y="4190812"/>
              <a:ext cx="227939" cy="0"/>
            </a:xfrm>
            <a:prstGeom prst="line">
              <a:avLst/>
            </a:prstGeom>
            <a:noFill/>
            <a:ln w="19050">
              <a:solidFill>
                <a:sysClr val="windowText" lastClr="000000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F0502020204030204"/>
                <a:ea typeface="等线" panose="02010600030101010101" pitchFamily="2" charset="-122"/>
              </a:endParaRPr>
            </a:p>
          </p:txBody>
        </p:sp>
        <p:sp>
          <p:nvSpPr>
            <p:cNvPr id="46" name="Line 59">
              <a:extLst>
                <a:ext uri="{FF2B5EF4-FFF2-40B4-BE49-F238E27FC236}">
                  <a16:creationId xmlns:a16="http://schemas.microsoft.com/office/drawing/2014/main" id="{6C5E2EE0-DFF5-BECC-2640-D4984C4B759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843353" y="4329692"/>
              <a:ext cx="0" cy="486079"/>
            </a:xfrm>
            <a:prstGeom prst="line">
              <a:avLst/>
            </a:prstGeom>
            <a:noFill/>
            <a:ln w="19050">
              <a:solidFill>
                <a:sysClr val="windowText" lastClr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20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F0502020204030204"/>
                <a:ea typeface="等线" panose="02010600030101010101" pitchFamily="2" charset="-122"/>
              </a:endParaRPr>
            </a:p>
          </p:txBody>
        </p:sp>
        <p:sp>
          <p:nvSpPr>
            <p:cNvPr id="47" name="Line 60">
              <a:extLst>
                <a:ext uri="{FF2B5EF4-FFF2-40B4-BE49-F238E27FC236}">
                  <a16:creationId xmlns:a16="http://schemas.microsoft.com/office/drawing/2014/main" id="{FB3FF421-DF97-C606-E66F-8812C865DED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431923" y="3982492"/>
              <a:ext cx="151960" cy="0"/>
            </a:xfrm>
            <a:prstGeom prst="line">
              <a:avLst/>
            </a:prstGeom>
            <a:noFill/>
            <a:ln w="19050">
              <a:solidFill>
                <a:sysClr val="windowText" lastClr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20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F0502020204030204"/>
                <a:ea typeface="等线" panose="02010600030101010101" pitchFamily="2" charset="-122"/>
              </a:endParaRPr>
            </a:p>
          </p:txBody>
        </p:sp>
        <p:sp>
          <p:nvSpPr>
            <p:cNvPr id="48" name="Line 61">
              <a:extLst>
                <a:ext uri="{FF2B5EF4-FFF2-40B4-BE49-F238E27FC236}">
                  <a16:creationId xmlns:a16="http://schemas.microsoft.com/office/drawing/2014/main" id="{A092B91B-3023-7386-14D5-36A5584BE5E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36345" y="3149214"/>
              <a:ext cx="0" cy="1666556"/>
            </a:xfrm>
            <a:prstGeom prst="line">
              <a:avLst/>
            </a:prstGeom>
            <a:noFill/>
            <a:ln w="19050">
              <a:solidFill>
                <a:sysClr val="windowText" lastClr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F0502020204030204"/>
                <a:ea typeface="等线" panose="02010600030101010101" pitchFamily="2" charset="-122"/>
              </a:endParaRPr>
            </a:p>
          </p:txBody>
        </p:sp>
        <p:sp>
          <p:nvSpPr>
            <p:cNvPr id="49" name="Line 62">
              <a:extLst>
                <a:ext uri="{FF2B5EF4-FFF2-40B4-BE49-F238E27FC236}">
                  <a16:creationId xmlns:a16="http://schemas.microsoft.com/office/drawing/2014/main" id="{720EA65D-AF85-7646-1A50-B7C0341029F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36345" y="3149214"/>
              <a:ext cx="303920" cy="0"/>
            </a:xfrm>
            <a:prstGeom prst="line">
              <a:avLst/>
            </a:prstGeom>
            <a:noFill/>
            <a:ln w="19050">
              <a:solidFill>
                <a:sysClr val="windowText" lastClr="000000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F0502020204030204"/>
                <a:ea typeface="等线" panose="02010600030101010101" pitchFamily="2" charset="-122"/>
              </a:endParaRPr>
            </a:p>
          </p:txBody>
        </p:sp>
        <p:sp>
          <p:nvSpPr>
            <p:cNvPr id="50" name="Line 63">
              <a:extLst>
                <a:ext uri="{FF2B5EF4-FFF2-40B4-BE49-F238E27FC236}">
                  <a16:creationId xmlns:a16="http://schemas.microsoft.com/office/drawing/2014/main" id="{8463B6BA-8B08-60E5-2F8B-7FA92F54748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35843" y="3982492"/>
              <a:ext cx="471997" cy="0"/>
            </a:xfrm>
            <a:prstGeom prst="line">
              <a:avLst/>
            </a:prstGeom>
            <a:noFill/>
            <a:ln w="19050">
              <a:solidFill>
                <a:sysClr val="windowText" lastClr="000000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F0502020204030204"/>
                <a:ea typeface="等线" panose="02010600030101010101" pitchFamily="2" charset="-122"/>
              </a:endParaRPr>
            </a:p>
          </p:txBody>
        </p:sp>
        <p:sp>
          <p:nvSpPr>
            <p:cNvPr id="51" name="Line 64">
              <a:extLst>
                <a:ext uri="{FF2B5EF4-FFF2-40B4-BE49-F238E27FC236}">
                  <a16:creationId xmlns:a16="http://schemas.microsoft.com/office/drawing/2014/main" id="{F5E7488C-BB3F-B9AF-3298-FA9D705CE79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103483" y="3774173"/>
              <a:ext cx="151514" cy="0"/>
            </a:xfrm>
            <a:prstGeom prst="line">
              <a:avLst/>
            </a:prstGeom>
            <a:noFill/>
            <a:ln w="19050">
              <a:solidFill>
                <a:sysClr val="windowText" lastClr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F0502020204030204"/>
                <a:ea typeface="等线" panose="02010600030101010101" pitchFamily="2" charset="-122"/>
              </a:endParaRPr>
            </a:p>
          </p:txBody>
        </p:sp>
        <p:sp>
          <p:nvSpPr>
            <p:cNvPr id="52" name="Freeform 65">
              <a:extLst>
                <a:ext uri="{FF2B5EF4-FFF2-40B4-BE49-F238E27FC236}">
                  <a16:creationId xmlns:a16="http://schemas.microsoft.com/office/drawing/2014/main" id="{B69F85F3-E0AC-B6BB-63DF-E08F7E68441D}"/>
                </a:ext>
              </a:extLst>
            </p:cNvPr>
            <p:cNvSpPr>
              <a:spLocks/>
            </p:cNvSpPr>
            <p:nvPr/>
          </p:nvSpPr>
          <p:spPr bwMode="auto">
            <a:xfrm>
              <a:off x="5571622" y="3149214"/>
              <a:ext cx="531860" cy="1180477"/>
            </a:xfrm>
            <a:custGeom>
              <a:avLst/>
              <a:gdLst>
                <a:gd name="T0" fmla="*/ 0 w 388"/>
                <a:gd name="T1" fmla="*/ 0 h 1099"/>
                <a:gd name="T2" fmla="*/ 0 w 388"/>
                <a:gd name="T3" fmla="*/ 235 h 1099"/>
                <a:gd name="T4" fmla="*/ 83 w 388"/>
                <a:gd name="T5" fmla="*/ 305 h 1099"/>
                <a:gd name="T6" fmla="*/ 0 w 388"/>
                <a:gd name="T7" fmla="*/ 370 h 1099"/>
                <a:gd name="T8" fmla="*/ 0 w 388"/>
                <a:gd name="T9" fmla="*/ 605 h 1099"/>
                <a:gd name="T10" fmla="*/ 290 w 388"/>
                <a:gd name="T11" fmla="*/ 436 h 1099"/>
                <a:gd name="T12" fmla="*/ 290 w 388"/>
                <a:gd name="T13" fmla="*/ 170 h 1099"/>
                <a:gd name="T14" fmla="*/ 0 w 388"/>
                <a:gd name="T15" fmla="*/ 0 h 109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88" h="1099">
                  <a:moveTo>
                    <a:pt x="0" y="0"/>
                  </a:moveTo>
                  <a:lnTo>
                    <a:pt x="0" y="427"/>
                  </a:lnTo>
                  <a:lnTo>
                    <a:pt x="111" y="553"/>
                  </a:lnTo>
                  <a:lnTo>
                    <a:pt x="0" y="671"/>
                  </a:lnTo>
                  <a:lnTo>
                    <a:pt x="0" y="1098"/>
                  </a:lnTo>
                  <a:lnTo>
                    <a:pt x="387" y="790"/>
                  </a:lnTo>
                  <a:lnTo>
                    <a:pt x="387" y="308"/>
                  </a:lnTo>
                  <a:lnTo>
                    <a:pt x="0" y="0"/>
                  </a:lnTo>
                </a:path>
              </a:pathLst>
            </a:custGeom>
            <a:noFill/>
            <a:ln w="19050" cap="rnd" cmpd="sng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</a:pPr>
              <a:endParaRPr lang="zh-CN" altLang="en-US">
                <a:solidFill>
                  <a:prstClr val="black"/>
                </a:solidFill>
                <a:latin typeface="等线" panose="020F0502020204030204"/>
                <a:ea typeface="等线" panose="02010600030101010101" pitchFamily="2" charset="-122"/>
              </a:endParaRPr>
            </a:p>
          </p:txBody>
        </p:sp>
        <p:sp>
          <p:nvSpPr>
            <p:cNvPr id="53" name="Rectangle 66">
              <a:extLst>
                <a:ext uri="{FF2B5EF4-FFF2-40B4-BE49-F238E27FC236}">
                  <a16:creationId xmlns:a16="http://schemas.microsoft.com/office/drawing/2014/main" id="{51B0989E-FC6A-93FF-B1B9-5108763CB5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68180" y="3626888"/>
              <a:ext cx="473292" cy="19851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19047" tIns="26984" rIns="19047" bIns="26984"/>
            <a:lstStyle/>
            <a:p>
              <a:pPr algn="ctr" defTabSz="903288" eaLnBrk="0" fontAlgn="auto" hangingPunct="0">
                <a:lnSpc>
                  <a:spcPts val="1600"/>
                </a:lnSpc>
                <a:spcBef>
                  <a:spcPts val="0"/>
                </a:spcBef>
                <a:spcAft>
                  <a:spcPts val="0"/>
                </a:spcAft>
                <a:tabLst>
                  <a:tab pos="452438" algn="l"/>
                  <a:tab pos="903288" algn="l"/>
                  <a:tab pos="1357313" algn="l"/>
                </a:tabLst>
              </a:pPr>
              <a:r>
                <a:rPr lang="en-US" altLang="zh-CN" sz="1400" b="1" dirty="0">
                  <a:solidFill>
                    <a:srgbClr val="000000"/>
                  </a:solidFill>
                  <a:latin typeface="Arial" pitchFamily="34" charset="0"/>
                  <a:ea typeface="等线" panose="02010600030101010101" pitchFamily="2" charset="-122"/>
                </a:rPr>
                <a:t>ALU</a:t>
              </a:r>
            </a:p>
          </p:txBody>
        </p:sp>
        <p:sp>
          <p:nvSpPr>
            <p:cNvPr id="54" name="AutoShape 67">
              <a:extLst>
                <a:ext uri="{FF2B5EF4-FFF2-40B4-BE49-F238E27FC236}">
                  <a16:creationId xmlns:a16="http://schemas.microsoft.com/office/drawing/2014/main" id="{C399C734-8811-2994-5EF3-BD23833BE31B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6200000">
              <a:off x="4974612" y="4005956"/>
              <a:ext cx="694398" cy="227940"/>
            </a:xfrm>
            <a:custGeom>
              <a:avLst/>
              <a:gdLst>
                <a:gd name="T0" fmla="*/ 9 w 21600"/>
                <a:gd name="T1" fmla="*/ 0 h 21600"/>
                <a:gd name="T2" fmla="*/ 5 w 21600"/>
                <a:gd name="T3" fmla="*/ 1 h 21600"/>
                <a:gd name="T4" fmla="*/ 1 w 21600"/>
                <a:gd name="T5" fmla="*/ 0 h 21600"/>
                <a:gd name="T6" fmla="*/ 5 w 21600"/>
                <a:gd name="T7" fmla="*/ 0 h 21600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4500 w 21600"/>
                <a:gd name="T13" fmla="*/ 4500 h 21600"/>
                <a:gd name="T14" fmla="*/ 17100 w 21600"/>
                <a:gd name="T15" fmla="*/ 17100 h 2160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600" h="21600">
                  <a:moveTo>
                    <a:pt x="0" y="0"/>
                  </a:moveTo>
                  <a:lnTo>
                    <a:pt x="5400" y="21600"/>
                  </a:lnTo>
                  <a:lnTo>
                    <a:pt x="16200" y="21600"/>
                  </a:lnTo>
                  <a:lnTo>
                    <a:pt x="21600" y="0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9050">
              <a:solidFill>
                <a:sysClr val="windowText" lastClr="000000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20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F0502020204030204"/>
                <a:ea typeface="等线" panose="02010600030101010101" pitchFamily="2" charset="-122"/>
              </a:endParaRPr>
            </a:p>
          </p:txBody>
        </p:sp>
        <p:sp>
          <p:nvSpPr>
            <p:cNvPr id="55" name="Line 68">
              <a:extLst>
                <a:ext uri="{FF2B5EF4-FFF2-40B4-BE49-F238E27FC236}">
                  <a16:creationId xmlns:a16="http://schemas.microsoft.com/office/drawing/2014/main" id="{5971D537-54C1-0CA7-7EC6-06C16A6C4B0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440813" y="4121372"/>
              <a:ext cx="130809" cy="0"/>
            </a:xfrm>
            <a:prstGeom prst="line">
              <a:avLst/>
            </a:prstGeom>
            <a:noFill/>
            <a:ln w="19050">
              <a:solidFill>
                <a:sysClr val="windowText" lastClr="000000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20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F0502020204030204"/>
                <a:ea typeface="等线" panose="02010600030101010101" pitchFamily="2" charset="-122"/>
              </a:endParaRPr>
            </a:p>
          </p:txBody>
        </p:sp>
        <p:sp>
          <p:nvSpPr>
            <p:cNvPr id="56" name="Line 71">
              <a:extLst>
                <a:ext uri="{FF2B5EF4-FFF2-40B4-BE49-F238E27FC236}">
                  <a16:creationId xmlns:a16="http://schemas.microsoft.com/office/drawing/2014/main" id="{DC19B27E-23EF-9213-CD6C-EDBD2A17339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843354" y="4329692"/>
              <a:ext cx="364486" cy="0"/>
            </a:xfrm>
            <a:prstGeom prst="line">
              <a:avLst/>
            </a:prstGeom>
            <a:noFill/>
            <a:ln w="19050">
              <a:solidFill>
                <a:sysClr val="windowText" lastClr="000000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20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F0502020204030204"/>
                <a:ea typeface="等线" panose="02010600030101010101" pitchFamily="2" charset="-122"/>
              </a:endParaRPr>
            </a:p>
          </p:txBody>
        </p:sp>
        <p:sp>
          <p:nvSpPr>
            <p:cNvPr id="57" name="Line 72">
              <a:extLst>
                <a:ext uri="{FF2B5EF4-FFF2-40B4-BE49-F238E27FC236}">
                  <a16:creationId xmlns:a16="http://schemas.microsoft.com/office/drawing/2014/main" id="{500EBD3D-5388-5368-1903-840AA69B43B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35843" y="3357534"/>
              <a:ext cx="810453" cy="0"/>
            </a:xfrm>
            <a:prstGeom prst="line">
              <a:avLst/>
            </a:prstGeom>
            <a:noFill/>
            <a:ln w="19050">
              <a:solidFill>
                <a:sysClr val="windowText" lastClr="000000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F0502020204030204"/>
                <a:ea typeface="等线" panose="02010600030101010101" pitchFamily="2" charset="-122"/>
              </a:endParaRPr>
            </a:p>
          </p:txBody>
        </p:sp>
        <p:sp>
          <p:nvSpPr>
            <p:cNvPr id="58" name="Oval 73">
              <a:extLst>
                <a:ext uri="{FF2B5EF4-FFF2-40B4-BE49-F238E27FC236}">
                  <a16:creationId xmlns:a16="http://schemas.microsoft.com/office/drawing/2014/main" id="{5413278B-8E3B-D086-217B-937B7DEAF7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15743" y="2663136"/>
              <a:ext cx="455880" cy="486079"/>
            </a:xfrm>
            <a:prstGeom prst="ellipse">
              <a:avLst/>
            </a:prstGeom>
            <a:noFill/>
            <a:ln w="19050">
              <a:solidFill>
                <a:sysClr val="windowText" lastClr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F0502020204030204"/>
                <a:ea typeface="等线" panose="02010600030101010101" pitchFamily="2" charset="-122"/>
              </a:endParaRPr>
            </a:p>
          </p:txBody>
        </p:sp>
        <p:sp>
          <p:nvSpPr>
            <p:cNvPr id="59" name="Rectangle 74">
              <a:extLst>
                <a:ext uri="{FF2B5EF4-FFF2-40B4-BE49-F238E27FC236}">
                  <a16:creationId xmlns:a16="http://schemas.microsoft.com/office/drawing/2014/main" id="{275421A5-7502-B65E-77FE-A97A919C38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22714" y="2782822"/>
              <a:ext cx="441936" cy="239554"/>
            </a:xfrm>
            <a:prstGeom prst="rect">
              <a:avLst/>
            </a:prstGeom>
            <a:noFill/>
            <a:ln w="12700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19047" tIns="26984" rIns="19047" bIns="26984"/>
            <a:lstStyle/>
            <a:p>
              <a:pPr algn="ctr" defTabSz="903288" eaLnBrk="0" fontAlgn="auto" hangingPunct="0">
                <a:lnSpc>
                  <a:spcPts val="1600"/>
                </a:lnSpc>
                <a:spcBef>
                  <a:spcPts val="0"/>
                </a:spcBef>
                <a:spcAft>
                  <a:spcPts val="0"/>
                </a:spcAft>
                <a:tabLst>
                  <a:tab pos="452438" algn="l"/>
                  <a:tab pos="903288" algn="l"/>
                  <a:tab pos="1357313" algn="l"/>
                </a:tabLst>
              </a:pPr>
              <a:r>
                <a:rPr lang="en-US" altLang="zh-CN" sz="1400" dirty="0">
                  <a:solidFill>
                    <a:srgbClr val="000000"/>
                  </a:solidFill>
                  <a:latin typeface="Arial" pitchFamily="34" charset="0"/>
                  <a:ea typeface="等线" panose="02010600030101010101" pitchFamily="2" charset="-122"/>
                </a:rPr>
                <a:t>&lt;&lt;2</a:t>
              </a:r>
            </a:p>
          </p:txBody>
        </p:sp>
        <p:sp>
          <p:nvSpPr>
            <p:cNvPr id="60" name="Line 75">
              <a:extLst>
                <a:ext uri="{FF2B5EF4-FFF2-40B4-BE49-F238E27FC236}">
                  <a16:creationId xmlns:a16="http://schemas.microsoft.com/office/drawing/2014/main" id="{6343E763-5717-D7CA-47D7-D5F4EDEFDEE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843353" y="2940895"/>
              <a:ext cx="272390" cy="0"/>
            </a:xfrm>
            <a:prstGeom prst="line">
              <a:avLst/>
            </a:prstGeom>
            <a:noFill/>
            <a:ln w="19050">
              <a:solidFill>
                <a:sysClr val="windowText" lastClr="000000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F0502020204030204"/>
                <a:ea typeface="等线" panose="02010600030101010101" pitchFamily="2" charset="-122"/>
              </a:endParaRPr>
            </a:p>
          </p:txBody>
        </p:sp>
        <p:sp>
          <p:nvSpPr>
            <p:cNvPr id="61" name="Line 85">
              <a:extLst>
                <a:ext uri="{FF2B5EF4-FFF2-40B4-BE49-F238E27FC236}">
                  <a16:creationId xmlns:a16="http://schemas.microsoft.com/office/drawing/2014/main" id="{86D8D290-A574-86DD-A011-9C43018D274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566901" y="2940895"/>
              <a:ext cx="227940" cy="0"/>
            </a:xfrm>
            <a:prstGeom prst="line">
              <a:avLst/>
            </a:prstGeom>
            <a:noFill/>
            <a:ln w="19050">
              <a:solidFill>
                <a:sysClr val="windowText" lastClr="000000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F0502020204030204"/>
                <a:ea typeface="等线" panose="02010600030101010101" pitchFamily="2" charset="-122"/>
              </a:endParaRPr>
            </a:p>
          </p:txBody>
        </p:sp>
        <p:sp>
          <p:nvSpPr>
            <p:cNvPr id="62" name="Rectangle 86">
              <a:extLst>
                <a:ext uri="{FF2B5EF4-FFF2-40B4-BE49-F238E27FC236}">
                  <a16:creationId xmlns:a16="http://schemas.microsoft.com/office/drawing/2014/main" id="{E522D13D-A678-E5A1-49F4-3789DD17E0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635341" y="3184998"/>
              <a:ext cx="1291659" cy="1117207"/>
            </a:xfrm>
            <a:prstGeom prst="rect">
              <a:avLst/>
            </a:prstGeom>
            <a:noFill/>
            <a:ln w="19050">
              <a:solidFill>
                <a:sysClr val="windowText" lastClr="000000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F0502020204030204"/>
                <a:ea typeface="等线" panose="02010600030101010101" pitchFamily="2" charset="-122"/>
              </a:endParaRPr>
            </a:p>
          </p:txBody>
        </p:sp>
        <p:sp>
          <p:nvSpPr>
            <p:cNvPr id="63" name="Line 87">
              <a:extLst>
                <a:ext uri="{FF2B5EF4-FFF2-40B4-BE49-F238E27FC236}">
                  <a16:creationId xmlns:a16="http://schemas.microsoft.com/office/drawing/2014/main" id="{65F8F1F9-B9C5-56AE-4B9B-3F215D9FEB3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407401" y="3774173"/>
              <a:ext cx="227940" cy="0"/>
            </a:xfrm>
            <a:prstGeom prst="line">
              <a:avLst/>
            </a:prstGeom>
            <a:noFill/>
            <a:ln w="19050">
              <a:solidFill>
                <a:sysClr val="windowText" lastClr="000000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F0502020204030204"/>
                <a:ea typeface="等线" panose="02010600030101010101" pitchFamily="2" charset="-122"/>
              </a:endParaRPr>
            </a:p>
          </p:txBody>
        </p:sp>
        <p:sp>
          <p:nvSpPr>
            <p:cNvPr id="64" name="Text Box 88">
              <a:extLst>
                <a:ext uri="{FF2B5EF4-FFF2-40B4-BE49-F238E27FC236}">
                  <a16:creationId xmlns:a16="http://schemas.microsoft.com/office/drawing/2014/main" id="{18AD45DF-D47E-8895-3BDF-20D6093FE95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863363" y="3164294"/>
              <a:ext cx="830645" cy="52320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1425" tIns="45713" rIns="91425" bIns="45713">
              <a:spAutoFit/>
            </a:bodyPr>
            <a:lstStyle>
              <a:lvl1pPr eaLnBrk="0" hangingPunct="0"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1pPr>
              <a:lvl2pPr marL="742950" indent="-285750" eaLnBrk="0" hangingPunct="0"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2pPr>
              <a:lvl3pPr marL="1143000" indent="-228600" eaLnBrk="0" hangingPunct="0"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3pPr>
              <a:lvl4pPr marL="1600200" indent="-228600" eaLnBrk="0" hangingPunct="0"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4pPr>
              <a:lvl5pPr marL="2057400" indent="-228600" eaLnBrk="0" hangingPunct="0"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9pPr>
            </a:lstStyle>
            <a:p>
              <a:pPr algn="ctr" fontAlgn="auto">
                <a:spcBef>
                  <a:spcPts val="0"/>
                </a:spcBef>
                <a:spcAft>
                  <a:spcPts val="0"/>
                </a:spcAft>
              </a:pPr>
              <a:r>
                <a:rPr lang="en-US" altLang="zh-CN" sz="1400" b="0" dirty="0">
                  <a:solidFill>
                    <a:prstClr val="black"/>
                  </a:solidFill>
                  <a:latin typeface="Arial" pitchFamily="34" charset="0"/>
                  <a:ea typeface="SimHei" panose="02010609060101010101" pitchFamily="49" charset="-122"/>
                </a:rPr>
                <a:t>Data</a:t>
              </a: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</a:pPr>
              <a:r>
                <a:rPr lang="en-US" altLang="zh-CN" sz="1400" b="0" dirty="0">
                  <a:solidFill>
                    <a:prstClr val="black"/>
                  </a:solidFill>
                  <a:latin typeface="Arial" pitchFamily="34" charset="0"/>
                  <a:ea typeface="SimHei" panose="02010609060101010101" pitchFamily="49" charset="-122"/>
                </a:rPr>
                <a:t>Memory</a:t>
              </a:r>
            </a:p>
          </p:txBody>
        </p:sp>
        <p:sp>
          <p:nvSpPr>
            <p:cNvPr id="65" name="Text Box 89">
              <a:extLst>
                <a:ext uri="{FF2B5EF4-FFF2-40B4-BE49-F238E27FC236}">
                  <a16:creationId xmlns:a16="http://schemas.microsoft.com/office/drawing/2014/main" id="{1FA0CC22-57AD-CC7A-D519-15ADE3D1794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579680" y="3635293"/>
              <a:ext cx="508442" cy="27698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1425" tIns="45713" rIns="91425" bIns="45713">
              <a:spAutoFit/>
            </a:bodyPr>
            <a:lstStyle>
              <a:lvl1pPr eaLnBrk="0" hangingPunct="0"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1pPr>
              <a:lvl2pPr marL="742950" indent="-285750" eaLnBrk="0" hangingPunct="0"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2pPr>
              <a:lvl3pPr marL="1143000" indent="-228600" eaLnBrk="0" hangingPunct="0"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3pPr>
              <a:lvl4pPr marL="1600200" indent="-228600" eaLnBrk="0" hangingPunct="0"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4pPr>
              <a:lvl5pPr marL="2057400" indent="-228600" eaLnBrk="0" hangingPunct="0"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9pPr>
            </a:lstStyle>
            <a:p>
              <a:pPr fontAlgn="auto">
                <a:spcBef>
                  <a:spcPts val="0"/>
                </a:spcBef>
                <a:spcAft>
                  <a:spcPts val="0"/>
                </a:spcAft>
              </a:pPr>
              <a:r>
                <a:rPr lang="en-US" altLang="zh-CN" sz="1200" b="0" dirty="0" err="1">
                  <a:solidFill>
                    <a:prstClr val="black"/>
                  </a:solidFill>
                  <a:latin typeface="Arial" pitchFamily="34" charset="0"/>
                  <a:ea typeface="SimHei" panose="02010609060101010101" pitchFamily="49" charset="-122"/>
                </a:rPr>
                <a:t>Addr</a:t>
              </a:r>
              <a:endParaRPr lang="en-US" altLang="zh-CN" sz="1200" b="0" dirty="0">
                <a:solidFill>
                  <a:prstClr val="black"/>
                </a:solidFill>
                <a:latin typeface="Arial" pitchFamily="34" charset="0"/>
                <a:ea typeface="SimHei" panose="02010609060101010101" pitchFamily="49" charset="-122"/>
              </a:endParaRPr>
            </a:p>
          </p:txBody>
        </p:sp>
        <p:sp>
          <p:nvSpPr>
            <p:cNvPr id="66" name="Text Box 90">
              <a:extLst>
                <a:ext uri="{FF2B5EF4-FFF2-40B4-BE49-F238E27FC236}">
                  <a16:creationId xmlns:a16="http://schemas.microsoft.com/office/drawing/2014/main" id="{7EB2BB51-B37F-AD31-9D68-DFE81767DF2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579680" y="3982492"/>
              <a:ext cx="908039" cy="27698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1425" tIns="45713" rIns="91425" bIns="45713">
              <a:spAutoFit/>
            </a:bodyPr>
            <a:lstStyle>
              <a:lvl1pPr eaLnBrk="0" hangingPunct="0"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1pPr>
              <a:lvl2pPr marL="742950" indent="-285750" eaLnBrk="0" hangingPunct="0"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2pPr>
              <a:lvl3pPr marL="1143000" indent="-228600" eaLnBrk="0" hangingPunct="0"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3pPr>
              <a:lvl4pPr marL="1600200" indent="-228600" eaLnBrk="0" hangingPunct="0"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4pPr>
              <a:lvl5pPr marL="2057400" indent="-228600" eaLnBrk="0" hangingPunct="0"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9pPr>
            </a:lstStyle>
            <a:p>
              <a:pPr fontAlgn="auto">
                <a:spcBef>
                  <a:spcPts val="0"/>
                </a:spcBef>
                <a:spcAft>
                  <a:spcPts val="0"/>
                </a:spcAft>
              </a:pPr>
              <a:r>
                <a:rPr lang="en-US" altLang="zh-CN" sz="1200" b="0" dirty="0">
                  <a:solidFill>
                    <a:prstClr val="black"/>
                  </a:solidFill>
                  <a:latin typeface="Arial" pitchFamily="34" charset="0"/>
                  <a:ea typeface="SimHei" panose="02010609060101010101" pitchFamily="49" charset="-122"/>
                </a:rPr>
                <a:t>Write Data</a:t>
              </a:r>
            </a:p>
          </p:txBody>
        </p:sp>
        <p:sp>
          <p:nvSpPr>
            <p:cNvPr id="67" name="Text Box 91">
              <a:extLst>
                <a:ext uri="{FF2B5EF4-FFF2-40B4-BE49-F238E27FC236}">
                  <a16:creationId xmlns:a16="http://schemas.microsoft.com/office/drawing/2014/main" id="{E38E101C-F98B-AF18-82E2-75DB76E0942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092245" y="3630802"/>
              <a:ext cx="917208" cy="27698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1425" tIns="45713" rIns="91425" bIns="45713">
              <a:spAutoFit/>
            </a:bodyPr>
            <a:lstStyle>
              <a:lvl1pPr eaLnBrk="0" hangingPunct="0"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1pPr>
              <a:lvl2pPr marL="742950" indent="-285750" eaLnBrk="0" hangingPunct="0"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2pPr>
              <a:lvl3pPr marL="1143000" indent="-228600" eaLnBrk="0" hangingPunct="0"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3pPr>
              <a:lvl4pPr marL="1600200" indent="-228600" eaLnBrk="0" hangingPunct="0"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4pPr>
              <a:lvl5pPr marL="2057400" indent="-228600" eaLnBrk="0" hangingPunct="0"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9pPr>
            </a:lstStyle>
            <a:p>
              <a:pPr fontAlgn="auto">
                <a:spcBef>
                  <a:spcPts val="0"/>
                </a:spcBef>
                <a:spcAft>
                  <a:spcPts val="0"/>
                </a:spcAft>
              </a:pPr>
              <a:r>
                <a:rPr lang="en-US" altLang="zh-CN" sz="1200" b="0" dirty="0">
                  <a:solidFill>
                    <a:prstClr val="black"/>
                  </a:solidFill>
                  <a:latin typeface="Arial" pitchFamily="34" charset="0"/>
                  <a:ea typeface="SimHei" panose="02010609060101010101" pitchFamily="49" charset="-122"/>
                </a:rPr>
                <a:t>Read Data</a:t>
              </a:r>
            </a:p>
          </p:txBody>
        </p:sp>
        <p:sp>
          <p:nvSpPr>
            <p:cNvPr id="68" name="Line 92">
              <a:extLst>
                <a:ext uri="{FF2B5EF4-FFF2-40B4-BE49-F238E27FC236}">
                  <a16:creationId xmlns:a16="http://schemas.microsoft.com/office/drawing/2014/main" id="{B37774D9-4E8B-4C5E-8E4C-2A57F10DFA7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407401" y="4121372"/>
              <a:ext cx="227940" cy="0"/>
            </a:xfrm>
            <a:prstGeom prst="line">
              <a:avLst/>
            </a:prstGeom>
            <a:noFill/>
            <a:ln w="19050">
              <a:solidFill>
                <a:sysClr val="windowText" lastClr="000000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F0502020204030204"/>
                <a:ea typeface="等线" panose="02010600030101010101" pitchFamily="2" charset="-122"/>
              </a:endParaRPr>
            </a:p>
          </p:txBody>
        </p:sp>
        <p:sp>
          <p:nvSpPr>
            <p:cNvPr id="69" name="Line 93">
              <a:extLst>
                <a:ext uri="{FF2B5EF4-FFF2-40B4-BE49-F238E27FC236}">
                  <a16:creationId xmlns:a16="http://schemas.microsoft.com/office/drawing/2014/main" id="{8D2C5821-0521-A58E-9F40-4C5F9127BF0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230920" y="4121372"/>
              <a:ext cx="227940" cy="1447"/>
            </a:xfrm>
            <a:prstGeom prst="line">
              <a:avLst/>
            </a:prstGeom>
            <a:noFill/>
            <a:ln w="19050">
              <a:solidFill>
                <a:sysClr val="windowText" lastClr="000000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F0502020204030204"/>
                <a:ea typeface="等线" panose="02010600030101010101" pitchFamily="2" charset="-122"/>
              </a:endParaRPr>
            </a:p>
          </p:txBody>
        </p:sp>
        <p:sp>
          <p:nvSpPr>
            <p:cNvPr id="70" name="AutoShape 94">
              <a:extLst>
                <a:ext uri="{FF2B5EF4-FFF2-40B4-BE49-F238E27FC236}">
                  <a16:creationId xmlns:a16="http://schemas.microsoft.com/office/drawing/2014/main" id="{35B35F16-61DC-7DB0-95C4-20977492065B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6200000">
              <a:off x="8260350" y="3833803"/>
              <a:ext cx="624959" cy="227940"/>
            </a:xfrm>
            <a:custGeom>
              <a:avLst/>
              <a:gdLst>
                <a:gd name="T0" fmla="*/ 8 w 21600"/>
                <a:gd name="T1" fmla="*/ 0 h 21600"/>
                <a:gd name="T2" fmla="*/ 4 w 21600"/>
                <a:gd name="T3" fmla="*/ 1 h 21600"/>
                <a:gd name="T4" fmla="*/ 1 w 21600"/>
                <a:gd name="T5" fmla="*/ 0 h 21600"/>
                <a:gd name="T6" fmla="*/ 4 w 21600"/>
                <a:gd name="T7" fmla="*/ 0 h 21600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4500 w 21600"/>
                <a:gd name="T13" fmla="*/ 4500 h 21600"/>
                <a:gd name="T14" fmla="*/ 17100 w 21600"/>
                <a:gd name="T15" fmla="*/ 17100 h 2160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600" h="21600">
                  <a:moveTo>
                    <a:pt x="0" y="0"/>
                  </a:moveTo>
                  <a:lnTo>
                    <a:pt x="5400" y="21600"/>
                  </a:lnTo>
                  <a:lnTo>
                    <a:pt x="16200" y="21600"/>
                  </a:lnTo>
                  <a:lnTo>
                    <a:pt x="21600" y="0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9050">
              <a:solidFill>
                <a:sysClr val="windowText" lastClr="000000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F0502020204030204"/>
                <a:ea typeface="等线" panose="02010600030101010101" pitchFamily="2" charset="-122"/>
              </a:endParaRPr>
            </a:p>
          </p:txBody>
        </p:sp>
        <p:sp>
          <p:nvSpPr>
            <p:cNvPr id="71" name="Line 98">
              <a:extLst>
                <a:ext uri="{FF2B5EF4-FFF2-40B4-BE49-F238E27FC236}">
                  <a16:creationId xmlns:a16="http://schemas.microsoft.com/office/drawing/2014/main" id="{30968CAE-6BEA-DEE8-EE76-A1B48BB7399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431923" y="3357534"/>
              <a:ext cx="151960" cy="0"/>
            </a:xfrm>
            <a:prstGeom prst="line">
              <a:avLst/>
            </a:prstGeom>
            <a:noFill/>
            <a:ln w="19050">
              <a:solidFill>
                <a:sysClr val="windowText" lastClr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20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F0502020204030204"/>
                <a:ea typeface="等线" panose="02010600030101010101" pitchFamily="2" charset="-122"/>
              </a:endParaRPr>
            </a:p>
          </p:txBody>
        </p:sp>
        <p:sp>
          <p:nvSpPr>
            <p:cNvPr id="72" name="Line 99">
              <a:extLst>
                <a:ext uri="{FF2B5EF4-FFF2-40B4-BE49-F238E27FC236}">
                  <a16:creationId xmlns:a16="http://schemas.microsoft.com/office/drawing/2014/main" id="{50992E98-B7A5-4648-2CA6-45D736BC255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12325" y="4190812"/>
              <a:ext cx="0" cy="1525123"/>
            </a:xfrm>
            <a:prstGeom prst="line">
              <a:avLst/>
            </a:prstGeom>
            <a:noFill/>
            <a:ln w="19050">
              <a:solidFill>
                <a:sysClr val="windowText" lastClr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F0502020204030204"/>
                <a:ea typeface="等线" panose="02010600030101010101" pitchFamily="2" charset="-122"/>
              </a:endParaRPr>
            </a:p>
          </p:txBody>
        </p:sp>
        <p:sp>
          <p:nvSpPr>
            <p:cNvPr id="73" name="Line 100">
              <a:extLst>
                <a:ext uri="{FF2B5EF4-FFF2-40B4-BE49-F238E27FC236}">
                  <a16:creationId xmlns:a16="http://schemas.microsoft.com/office/drawing/2014/main" id="{0122EEE0-011D-5F8E-F537-E2370E3A886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152525" y="2524256"/>
              <a:ext cx="227940" cy="0"/>
            </a:xfrm>
            <a:prstGeom prst="line">
              <a:avLst/>
            </a:prstGeom>
            <a:noFill/>
            <a:ln w="19050">
              <a:solidFill>
                <a:sysClr val="windowText" lastClr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F0502020204030204"/>
                <a:ea typeface="等线" panose="02010600030101010101" pitchFamily="2" charset="-122"/>
              </a:endParaRPr>
            </a:p>
          </p:txBody>
        </p:sp>
        <p:sp>
          <p:nvSpPr>
            <p:cNvPr id="74" name="Line 101">
              <a:extLst>
                <a:ext uri="{FF2B5EF4-FFF2-40B4-BE49-F238E27FC236}">
                  <a16:creationId xmlns:a16="http://schemas.microsoft.com/office/drawing/2014/main" id="{A943847B-41B8-0F6C-4B25-CE1984E7F39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92726" y="1621538"/>
              <a:ext cx="911759" cy="0"/>
            </a:xfrm>
            <a:prstGeom prst="line">
              <a:avLst/>
            </a:prstGeom>
            <a:noFill/>
            <a:ln w="19050">
              <a:solidFill>
                <a:sysClr val="windowText" lastClr="000000"/>
              </a:solidFill>
              <a:round/>
              <a:headEnd type="triangle" w="med" len="med"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F0502020204030204"/>
                <a:ea typeface="等线" panose="02010600030101010101" pitchFamily="2" charset="-122"/>
              </a:endParaRPr>
            </a:p>
          </p:txBody>
        </p:sp>
        <p:sp>
          <p:nvSpPr>
            <p:cNvPr id="75" name="Line 102">
              <a:extLst>
                <a:ext uri="{FF2B5EF4-FFF2-40B4-BE49-F238E27FC236}">
                  <a16:creationId xmlns:a16="http://schemas.microsoft.com/office/drawing/2014/main" id="{E71E4749-0B8F-E28F-25CE-F7444118743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684385" y="3704733"/>
              <a:ext cx="151960" cy="0"/>
            </a:xfrm>
            <a:prstGeom prst="line">
              <a:avLst/>
            </a:prstGeom>
            <a:noFill/>
            <a:ln w="19050">
              <a:solidFill>
                <a:sysClr val="windowText" lastClr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F0502020204030204"/>
                <a:ea typeface="等线" panose="02010600030101010101" pitchFamily="2" charset="-122"/>
              </a:endParaRPr>
            </a:p>
          </p:txBody>
        </p:sp>
        <p:sp>
          <p:nvSpPr>
            <p:cNvPr id="76" name="Line 103">
              <a:extLst>
                <a:ext uri="{FF2B5EF4-FFF2-40B4-BE49-F238E27FC236}">
                  <a16:creationId xmlns:a16="http://schemas.microsoft.com/office/drawing/2014/main" id="{9CA6CC64-2208-E853-3CF5-4403CE8FEF8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927000" y="3774173"/>
              <a:ext cx="151609" cy="0"/>
            </a:xfrm>
            <a:prstGeom prst="line">
              <a:avLst/>
            </a:prstGeom>
            <a:noFill/>
            <a:ln w="19050">
              <a:solidFill>
                <a:sysClr val="windowText" lastClr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F0502020204030204"/>
                <a:ea typeface="等线" panose="02010600030101010101" pitchFamily="2" charset="-122"/>
              </a:endParaRPr>
            </a:p>
          </p:txBody>
        </p:sp>
        <p:sp>
          <p:nvSpPr>
            <p:cNvPr id="77" name="Rectangle 104">
              <a:extLst>
                <a:ext uri="{FF2B5EF4-FFF2-40B4-BE49-F238E27FC236}">
                  <a16:creationId xmlns:a16="http://schemas.microsoft.com/office/drawing/2014/main" id="{420A403D-3627-2265-E8B8-08C5F2526D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32425" y="2315936"/>
              <a:ext cx="151960" cy="2013755"/>
            </a:xfrm>
            <a:prstGeom prst="rect">
              <a:avLst/>
            </a:prstGeom>
            <a:solidFill>
              <a:srgbClr val="A6E2F9"/>
            </a:solidFill>
            <a:ln w="19050">
              <a:solidFill>
                <a:sysClr val="windowText" lastClr="000000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F0502020204030204"/>
                <a:ea typeface="等线" panose="02010600030101010101" pitchFamily="2" charset="-122"/>
              </a:endParaRPr>
            </a:p>
          </p:txBody>
        </p:sp>
        <p:sp>
          <p:nvSpPr>
            <p:cNvPr id="78" name="Rectangle 105">
              <a:extLst>
                <a:ext uri="{FF2B5EF4-FFF2-40B4-BE49-F238E27FC236}">
                  <a16:creationId xmlns:a16="http://schemas.microsoft.com/office/drawing/2014/main" id="{FD47FE33-A07C-D7F7-3592-997BCC2919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83882" y="1800567"/>
              <a:ext cx="158319" cy="3648398"/>
            </a:xfrm>
            <a:prstGeom prst="rect">
              <a:avLst/>
            </a:prstGeom>
            <a:solidFill>
              <a:srgbClr val="A6E2F9"/>
            </a:solidFill>
            <a:ln w="19050">
              <a:solidFill>
                <a:sysClr val="windowText" lastClr="000000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F0502020204030204"/>
                <a:ea typeface="等线" panose="02010600030101010101" pitchFamily="2" charset="-122"/>
              </a:endParaRPr>
            </a:p>
          </p:txBody>
        </p:sp>
        <p:sp>
          <p:nvSpPr>
            <p:cNvPr id="79" name="Line 106">
              <a:extLst>
                <a:ext uri="{FF2B5EF4-FFF2-40B4-BE49-F238E27FC236}">
                  <a16:creationId xmlns:a16="http://schemas.microsoft.com/office/drawing/2014/main" id="{C6D023AD-C3C2-AB5F-B803-86BFC0A69CF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304485" y="2524256"/>
              <a:ext cx="227940" cy="0"/>
            </a:xfrm>
            <a:prstGeom prst="line">
              <a:avLst/>
            </a:prstGeom>
            <a:noFill/>
            <a:ln w="19050">
              <a:solidFill>
                <a:sysClr val="windowText" lastClr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F0502020204030204"/>
                <a:ea typeface="等线" panose="02010600030101010101" pitchFamily="2" charset="-122"/>
              </a:endParaRPr>
            </a:p>
          </p:txBody>
        </p:sp>
        <p:sp>
          <p:nvSpPr>
            <p:cNvPr id="80" name="Line 107">
              <a:extLst>
                <a:ext uri="{FF2B5EF4-FFF2-40B4-BE49-F238E27FC236}">
                  <a16:creationId xmlns:a16="http://schemas.microsoft.com/office/drawing/2014/main" id="{BED375A5-6E97-302B-40A4-F2C8CB8668A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684385" y="2524256"/>
              <a:ext cx="1899498" cy="0"/>
            </a:xfrm>
            <a:prstGeom prst="line">
              <a:avLst/>
            </a:prstGeom>
            <a:noFill/>
            <a:ln w="19050">
              <a:solidFill>
                <a:sysClr val="windowText" lastClr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F0502020204030204"/>
                <a:ea typeface="等线" panose="02010600030101010101" pitchFamily="2" charset="-122"/>
              </a:endParaRPr>
            </a:p>
          </p:txBody>
        </p:sp>
        <p:sp>
          <p:nvSpPr>
            <p:cNvPr id="81" name="Line 108">
              <a:extLst>
                <a:ext uri="{FF2B5EF4-FFF2-40B4-BE49-F238E27FC236}">
                  <a16:creationId xmlns:a16="http://schemas.microsoft.com/office/drawing/2014/main" id="{277F82CE-3462-B25B-BE76-54E5E7DA76B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155718" y="2732575"/>
              <a:ext cx="99724" cy="0"/>
            </a:xfrm>
            <a:prstGeom prst="line">
              <a:avLst/>
            </a:prstGeom>
            <a:noFill/>
            <a:ln w="19050">
              <a:solidFill>
                <a:sysClr val="windowText" lastClr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F0502020204030204"/>
                <a:ea typeface="等线" panose="02010600030101010101" pitchFamily="2" charset="-122"/>
              </a:endParaRPr>
            </a:p>
          </p:txBody>
        </p:sp>
        <p:sp>
          <p:nvSpPr>
            <p:cNvPr id="82" name="Line 109">
              <a:extLst>
                <a:ext uri="{FF2B5EF4-FFF2-40B4-BE49-F238E27FC236}">
                  <a16:creationId xmlns:a16="http://schemas.microsoft.com/office/drawing/2014/main" id="{464313F2-1171-C2B7-EA30-7A7816871F3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35843" y="4815770"/>
              <a:ext cx="107510" cy="0"/>
            </a:xfrm>
            <a:prstGeom prst="line">
              <a:avLst/>
            </a:prstGeom>
            <a:noFill/>
            <a:ln w="19050">
              <a:solidFill>
                <a:sysClr val="windowText" lastClr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F0502020204030204"/>
                <a:ea typeface="等线" panose="02010600030101010101" pitchFamily="2" charset="-122"/>
              </a:endParaRPr>
            </a:p>
          </p:txBody>
        </p:sp>
        <p:sp>
          <p:nvSpPr>
            <p:cNvPr id="83" name="Line 110">
              <a:extLst>
                <a:ext uri="{FF2B5EF4-FFF2-40B4-BE49-F238E27FC236}">
                  <a16:creationId xmlns:a16="http://schemas.microsoft.com/office/drawing/2014/main" id="{D6D220E5-B469-806F-1142-0B0F3C8F843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963783" y="3982492"/>
              <a:ext cx="0" cy="833278"/>
            </a:xfrm>
            <a:prstGeom prst="line">
              <a:avLst/>
            </a:prstGeom>
            <a:noFill/>
            <a:ln w="19050">
              <a:solidFill>
                <a:sysClr val="windowText" lastClr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20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F0502020204030204"/>
                <a:ea typeface="等线" panose="02010600030101010101" pitchFamily="2" charset="-122"/>
              </a:endParaRPr>
            </a:p>
          </p:txBody>
        </p:sp>
        <p:sp>
          <p:nvSpPr>
            <p:cNvPr id="84" name="Line 111">
              <a:extLst>
                <a:ext uri="{FF2B5EF4-FFF2-40B4-BE49-F238E27FC236}">
                  <a16:creationId xmlns:a16="http://schemas.microsoft.com/office/drawing/2014/main" id="{333241F6-DE3C-C7A7-3AE1-462C3EC8836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963783" y="4815770"/>
              <a:ext cx="1291659" cy="0"/>
            </a:xfrm>
            <a:prstGeom prst="line">
              <a:avLst/>
            </a:prstGeom>
            <a:noFill/>
            <a:ln w="19050">
              <a:solidFill>
                <a:sysClr val="windowText" lastClr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F0502020204030204"/>
                <a:ea typeface="等线" panose="02010600030101010101" pitchFamily="2" charset="-122"/>
              </a:endParaRPr>
            </a:p>
          </p:txBody>
        </p:sp>
        <p:sp>
          <p:nvSpPr>
            <p:cNvPr id="85" name="Rectangle 112">
              <a:extLst>
                <a:ext uri="{FF2B5EF4-FFF2-40B4-BE49-F238E27FC236}">
                  <a16:creationId xmlns:a16="http://schemas.microsoft.com/office/drawing/2014/main" id="{CC535C4C-E95A-9036-C84B-42010994BB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078960" y="2690911"/>
              <a:ext cx="151960" cy="2541498"/>
            </a:xfrm>
            <a:prstGeom prst="rect">
              <a:avLst/>
            </a:prstGeom>
            <a:solidFill>
              <a:srgbClr val="A6E2F9"/>
            </a:solidFill>
            <a:ln w="19050">
              <a:solidFill>
                <a:sysClr val="windowText" lastClr="000000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F0502020204030204"/>
                <a:ea typeface="等线" panose="02010600030101010101" pitchFamily="2" charset="-122"/>
              </a:endParaRPr>
            </a:p>
          </p:txBody>
        </p:sp>
        <p:sp>
          <p:nvSpPr>
            <p:cNvPr id="86" name="Line 113">
              <a:extLst>
                <a:ext uri="{FF2B5EF4-FFF2-40B4-BE49-F238E27FC236}">
                  <a16:creationId xmlns:a16="http://schemas.microsoft.com/office/drawing/2014/main" id="{55D5BB35-A77C-39C1-6721-5C4132FE9D4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483381" y="4815770"/>
              <a:ext cx="1595579" cy="0"/>
            </a:xfrm>
            <a:prstGeom prst="line">
              <a:avLst/>
            </a:prstGeom>
            <a:noFill/>
            <a:ln w="19050">
              <a:solidFill>
                <a:sysClr val="windowText" lastClr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F0502020204030204"/>
                <a:ea typeface="等线" panose="02010600030101010101" pitchFamily="2" charset="-122"/>
              </a:endParaRPr>
            </a:p>
          </p:txBody>
        </p:sp>
        <p:sp>
          <p:nvSpPr>
            <p:cNvPr id="87" name="Line 114">
              <a:extLst>
                <a:ext uri="{FF2B5EF4-FFF2-40B4-BE49-F238E27FC236}">
                  <a16:creationId xmlns:a16="http://schemas.microsoft.com/office/drawing/2014/main" id="{55EC86C1-164B-877C-12AD-946680E53D9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230920" y="3774173"/>
              <a:ext cx="227940" cy="1447"/>
            </a:xfrm>
            <a:prstGeom prst="line">
              <a:avLst/>
            </a:prstGeom>
            <a:noFill/>
            <a:ln w="19050">
              <a:solidFill>
                <a:sysClr val="windowText" lastClr="000000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F0502020204030204"/>
                <a:ea typeface="等线" panose="02010600030101010101" pitchFamily="2" charset="-122"/>
              </a:endParaRPr>
            </a:p>
          </p:txBody>
        </p:sp>
        <p:sp>
          <p:nvSpPr>
            <p:cNvPr id="88" name="Line 115">
              <a:extLst>
                <a:ext uri="{FF2B5EF4-FFF2-40B4-BE49-F238E27FC236}">
                  <a16:creationId xmlns:a16="http://schemas.microsoft.com/office/drawing/2014/main" id="{65E2EE4E-0E3B-FEEF-6D69-721473D6940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838759" y="3913052"/>
              <a:ext cx="0" cy="1802883"/>
            </a:xfrm>
            <a:prstGeom prst="line">
              <a:avLst/>
            </a:prstGeom>
            <a:noFill/>
            <a:ln w="19050">
              <a:solidFill>
                <a:sysClr val="windowText" lastClr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F0502020204030204"/>
                <a:ea typeface="等线" panose="02010600030101010101" pitchFamily="2" charset="-122"/>
              </a:endParaRPr>
            </a:p>
          </p:txBody>
        </p:sp>
        <p:sp>
          <p:nvSpPr>
            <p:cNvPr id="89" name="Line 116">
              <a:extLst>
                <a:ext uri="{FF2B5EF4-FFF2-40B4-BE49-F238E27FC236}">
                  <a16:creationId xmlns:a16="http://schemas.microsoft.com/office/drawing/2014/main" id="{2C0F9640-9477-F429-2283-9BDBDCE3C29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933821" y="1343777"/>
              <a:ext cx="0" cy="1388797"/>
            </a:xfrm>
            <a:prstGeom prst="line">
              <a:avLst/>
            </a:prstGeom>
            <a:noFill/>
            <a:ln w="19050">
              <a:solidFill>
                <a:sysClr val="windowText" lastClr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F0502020204030204"/>
                <a:ea typeface="等线" panose="02010600030101010101" pitchFamily="2" charset="-122"/>
              </a:endParaRPr>
            </a:p>
          </p:txBody>
        </p:sp>
        <p:sp>
          <p:nvSpPr>
            <p:cNvPr id="90" name="Line 117">
              <a:extLst>
                <a:ext uri="{FF2B5EF4-FFF2-40B4-BE49-F238E27FC236}">
                  <a16:creationId xmlns:a16="http://schemas.microsoft.com/office/drawing/2014/main" id="{F8B77C54-2DB9-EEC3-6808-869EA012EC7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255441" y="4121372"/>
              <a:ext cx="151960" cy="694398"/>
            </a:xfrm>
            <a:prstGeom prst="line">
              <a:avLst/>
            </a:prstGeom>
            <a:noFill/>
            <a:ln w="28575" cap="rnd">
              <a:solidFill>
                <a:srgbClr val="ED7D31"/>
              </a:solidFill>
              <a:prstDash val="sysDot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F0502020204030204"/>
                <a:ea typeface="等线" panose="02010600030101010101" pitchFamily="2" charset="-122"/>
              </a:endParaRPr>
            </a:p>
          </p:txBody>
        </p:sp>
        <p:sp>
          <p:nvSpPr>
            <p:cNvPr id="91" name="Text Box 119">
              <a:extLst>
                <a:ext uri="{FF2B5EF4-FFF2-40B4-BE49-F238E27FC236}">
                  <a16:creationId xmlns:a16="http://schemas.microsoft.com/office/drawing/2014/main" id="{47B611CA-23F6-D0C1-088E-1384D6A3D0F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295221" y="1924885"/>
              <a:ext cx="684773" cy="36931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1425" tIns="45713" rIns="91425" bIns="45713">
              <a:spAutoFit/>
            </a:bodyPr>
            <a:lstStyle>
              <a:lvl1pPr eaLnBrk="0" hangingPunct="0"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1pPr>
              <a:lvl2pPr marL="742950" indent="-285750" eaLnBrk="0" hangingPunct="0"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2pPr>
              <a:lvl3pPr marL="1143000" indent="-228600" eaLnBrk="0" hangingPunct="0"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3pPr>
              <a:lvl4pPr marL="1600200" indent="-228600" eaLnBrk="0" hangingPunct="0"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4pPr>
              <a:lvl5pPr marL="2057400" indent="-228600" eaLnBrk="0" hangingPunct="0"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9pPr>
            </a:lstStyle>
            <a:p>
              <a:pPr fontAlgn="auto">
                <a:spcBef>
                  <a:spcPts val="0"/>
                </a:spcBef>
                <a:spcAft>
                  <a:spcPts val="0"/>
                </a:spcAft>
              </a:pPr>
              <a:r>
                <a:rPr lang="en-US" altLang="zh-CN" b="0" dirty="0">
                  <a:solidFill>
                    <a:prstClr val="black"/>
                  </a:solidFill>
                  <a:latin typeface="Arial" pitchFamily="34" charset="0"/>
                  <a:ea typeface="SimHei" panose="02010609060101010101" pitchFamily="49" charset="-122"/>
                </a:rPr>
                <a:t>IF/ID</a:t>
              </a:r>
            </a:p>
          </p:txBody>
        </p:sp>
        <p:sp>
          <p:nvSpPr>
            <p:cNvPr id="92" name="Line 120">
              <a:extLst>
                <a:ext uri="{FF2B5EF4-FFF2-40B4-BE49-F238E27FC236}">
                  <a16:creationId xmlns:a16="http://schemas.microsoft.com/office/drawing/2014/main" id="{C5AEF1DB-0A40-E778-88AE-E6A1B4C550A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843353" y="2940895"/>
              <a:ext cx="0" cy="1388797"/>
            </a:xfrm>
            <a:prstGeom prst="line">
              <a:avLst/>
            </a:prstGeom>
            <a:noFill/>
            <a:ln w="19050">
              <a:solidFill>
                <a:sysClr val="windowText" lastClr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F0502020204030204"/>
                <a:ea typeface="等线" panose="02010600030101010101" pitchFamily="2" charset="-122"/>
              </a:endParaRPr>
            </a:p>
          </p:txBody>
        </p:sp>
        <p:sp>
          <p:nvSpPr>
            <p:cNvPr id="93" name="Line 121">
              <a:extLst>
                <a:ext uri="{FF2B5EF4-FFF2-40B4-BE49-F238E27FC236}">
                  <a16:creationId xmlns:a16="http://schemas.microsoft.com/office/drawing/2014/main" id="{DE4FD621-A8A0-88EB-DFE6-1B291D1B7E3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13473" y="4815770"/>
              <a:ext cx="570411" cy="0"/>
            </a:xfrm>
            <a:prstGeom prst="line">
              <a:avLst/>
            </a:prstGeom>
            <a:noFill/>
            <a:ln w="19050">
              <a:solidFill>
                <a:sysClr val="windowText" lastClr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F0502020204030204"/>
                <a:ea typeface="等线" panose="02010600030101010101" pitchFamily="2" charset="-122"/>
              </a:endParaRPr>
            </a:p>
          </p:txBody>
        </p:sp>
        <p:sp>
          <p:nvSpPr>
            <p:cNvPr id="94" name="Line 122">
              <a:extLst>
                <a:ext uri="{FF2B5EF4-FFF2-40B4-BE49-F238E27FC236}">
                  <a16:creationId xmlns:a16="http://schemas.microsoft.com/office/drawing/2014/main" id="{FFAFDF12-2D20-3E3F-734E-C083476D9C1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35843" y="2524256"/>
              <a:ext cx="1063719" cy="0"/>
            </a:xfrm>
            <a:prstGeom prst="line">
              <a:avLst/>
            </a:prstGeom>
            <a:noFill/>
            <a:ln w="19050">
              <a:solidFill>
                <a:sysClr val="windowText" lastClr="000000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F0502020204030204"/>
                <a:ea typeface="等线" panose="02010600030101010101" pitchFamily="2" charset="-122"/>
              </a:endParaRPr>
            </a:p>
          </p:txBody>
        </p:sp>
        <p:sp>
          <p:nvSpPr>
            <p:cNvPr id="95" name="Line 123">
              <a:extLst>
                <a:ext uri="{FF2B5EF4-FFF2-40B4-BE49-F238E27FC236}">
                  <a16:creationId xmlns:a16="http://schemas.microsoft.com/office/drawing/2014/main" id="{CC76E189-B785-E510-6220-17146280DD0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304485" y="1621538"/>
              <a:ext cx="0" cy="902718"/>
            </a:xfrm>
            <a:prstGeom prst="line">
              <a:avLst/>
            </a:prstGeom>
            <a:noFill/>
            <a:ln w="19050">
              <a:solidFill>
                <a:sysClr val="windowText" lastClr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F0502020204030204"/>
                <a:ea typeface="等线" panose="02010600030101010101" pitchFamily="2" charset="-122"/>
              </a:endParaRPr>
            </a:p>
          </p:txBody>
        </p:sp>
        <p:sp>
          <p:nvSpPr>
            <p:cNvPr id="96" name="Line 124">
              <a:extLst>
                <a:ext uri="{FF2B5EF4-FFF2-40B4-BE49-F238E27FC236}">
                  <a16:creationId xmlns:a16="http://schemas.microsoft.com/office/drawing/2014/main" id="{2B2F4A3C-6D6B-E75E-49EA-466CEAC5C32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027502" y="3037144"/>
              <a:ext cx="0" cy="389829"/>
            </a:xfrm>
            <a:prstGeom prst="line">
              <a:avLst/>
            </a:prstGeom>
            <a:noFill/>
            <a:ln w="19050">
              <a:solidFill>
                <a:sysClr val="windowText" lastClr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F0502020204030204"/>
                <a:ea typeface="等线" panose="02010600030101010101" pitchFamily="2" charset="-122"/>
              </a:endParaRPr>
            </a:p>
          </p:txBody>
        </p:sp>
        <p:sp>
          <p:nvSpPr>
            <p:cNvPr id="97" name="Line 125">
              <a:extLst>
                <a:ext uri="{FF2B5EF4-FFF2-40B4-BE49-F238E27FC236}">
                  <a16:creationId xmlns:a16="http://schemas.microsoft.com/office/drawing/2014/main" id="{3D283AA8-54D5-01A9-3F5E-DC9A057A6E4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06394" y="2246497"/>
              <a:ext cx="0" cy="1458237"/>
            </a:xfrm>
            <a:prstGeom prst="line">
              <a:avLst/>
            </a:prstGeom>
            <a:noFill/>
            <a:ln w="19050">
              <a:solidFill>
                <a:sysClr val="windowText" lastClr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F0502020204030204"/>
                <a:ea typeface="等线" panose="02010600030101010101" pitchFamily="2" charset="-122"/>
              </a:endParaRPr>
            </a:p>
          </p:txBody>
        </p:sp>
        <p:sp>
          <p:nvSpPr>
            <p:cNvPr id="98" name="Rectangle 126">
              <a:extLst>
                <a:ext uri="{FF2B5EF4-FFF2-40B4-BE49-F238E27FC236}">
                  <a16:creationId xmlns:a16="http://schemas.microsoft.com/office/drawing/2014/main" id="{C14BEB78-CB16-ABE7-4B52-C7D71D10B3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55441" y="1966185"/>
              <a:ext cx="151960" cy="3266225"/>
            </a:xfrm>
            <a:prstGeom prst="rect">
              <a:avLst/>
            </a:prstGeom>
            <a:solidFill>
              <a:srgbClr val="A6E2F9"/>
            </a:solidFill>
            <a:ln w="19050">
              <a:solidFill>
                <a:sysClr val="windowText" lastClr="000000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F0502020204030204"/>
                <a:ea typeface="等线" panose="02010600030101010101" pitchFamily="2" charset="-122"/>
              </a:endParaRPr>
            </a:p>
          </p:txBody>
        </p:sp>
        <p:sp>
          <p:nvSpPr>
            <p:cNvPr id="99" name="Oval 127">
              <a:extLst>
                <a:ext uri="{FF2B5EF4-FFF2-40B4-BE49-F238E27FC236}">
                  <a16:creationId xmlns:a16="http://schemas.microsoft.com/office/drawing/2014/main" id="{C8853585-24E5-66BB-076A-B69173493D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16244" y="4607451"/>
              <a:ext cx="810453" cy="416639"/>
            </a:xfrm>
            <a:prstGeom prst="ellipse">
              <a:avLst/>
            </a:prstGeom>
            <a:solidFill>
              <a:sysClr val="window" lastClr="FFFFFF"/>
            </a:solidFill>
            <a:ln w="19050">
              <a:solidFill>
                <a:sysClr val="windowText" lastClr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F0502020204030204"/>
                <a:ea typeface="等线" panose="02010600030101010101" pitchFamily="2" charset="-122"/>
              </a:endParaRPr>
            </a:p>
          </p:txBody>
        </p:sp>
        <p:sp>
          <p:nvSpPr>
            <p:cNvPr id="100" name="Rectangle 128">
              <a:extLst>
                <a:ext uri="{FF2B5EF4-FFF2-40B4-BE49-F238E27FC236}">
                  <a16:creationId xmlns:a16="http://schemas.microsoft.com/office/drawing/2014/main" id="{0C485A68-8547-2D66-4FE9-32DA3C9992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68204" y="4594606"/>
              <a:ext cx="531860" cy="41663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19047" tIns="26984" rIns="19047" bIns="26984"/>
            <a:lstStyle/>
            <a:p>
              <a:pPr algn="ctr" eaLnBrk="0" fontAlgn="auto" hangingPunct="0">
                <a:spcBef>
                  <a:spcPts val="0"/>
                </a:spcBef>
                <a:spcAft>
                  <a:spcPts val="0"/>
                </a:spcAft>
              </a:pPr>
              <a:r>
                <a:rPr lang="en-US" altLang="zh-CN" sz="1200" dirty="0">
                  <a:solidFill>
                    <a:srgbClr val="000000"/>
                  </a:solidFill>
                  <a:latin typeface="Arial" pitchFamily="34" charset="0"/>
                  <a:ea typeface="等线" panose="02010600030101010101" pitchFamily="2" charset="-122"/>
                </a:rPr>
                <a:t>Sign</a:t>
              </a:r>
            </a:p>
            <a:p>
              <a:pPr algn="ctr" eaLnBrk="0" fontAlgn="auto" hangingPunct="0">
                <a:spcBef>
                  <a:spcPts val="0"/>
                </a:spcBef>
                <a:spcAft>
                  <a:spcPts val="0"/>
                </a:spcAft>
              </a:pPr>
              <a:r>
                <a:rPr lang="en-US" altLang="zh-CN" sz="1200" dirty="0">
                  <a:solidFill>
                    <a:srgbClr val="000000"/>
                  </a:solidFill>
                  <a:latin typeface="Arial" pitchFamily="34" charset="0"/>
                  <a:ea typeface="等线" panose="02010600030101010101" pitchFamily="2" charset="-122"/>
                </a:rPr>
                <a:t>Extend</a:t>
              </a:r>
            </a:p>
          </p:txBody>
        </p:sp>
        <p:sp>
          <p:nvSpPr>
            <p:cNvPr id="101" name="Line 129">
              <a:extLst>
                <a:ext uri="{FF2B5EF4-FFF2-40B4-BE49-F238E27FC236}">
                  <a16:creationId xmlns:a16="http://schemas.microsoft.com/office/drawing/2014/main" id="{2205CACD-012C-B261-4D1F-06CE248181A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407400" y="2732575"/>
              <a:ext cx="526419" cy="0"/>
            </a:xfrm>
            <a:prstGeom prst="line">
              <a:avLst/>
            </a:prstGeom>
            <a:noFill/>
            <a:ln w="19050">
              <a:solidFill>
                <a:sysClr val="windowText" lastClr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F0502020204030204"/>
                <a:ea typeface="等线" panose="02010600030101010101" pitchFamily="2" charset="-122"/>
              </a:endParaRPr>
            </a:p>
          </p:txBody>
        </p:sp>
        <p:sp>
          <p:nvSpPr>
            <p:cNvPr id="102" name="Line 130">
              <a:extLst>
                <a:ext uri="{FF2B5EF4-FFF2-40B4-BE49-F238E27FC236}">
                  <a16:creationId xmlns:a16="http://schemas.microsoft.com/office/drawing/2014/main" id="{22F516A5-2420-5FD3-1B4E-6BA5EE96DD4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027502" y="3037145"/>
              <a:ext cx="227940" cy="0"/>
            </a:xfrm>
            <a:prstGeom prst="line">
              <a:avLst/>
            </a:prstGeom>
            <a:noFill/>
            <a:ln w="19050">
              <a:solidFill>
                <a:sysClr val="windowText" lastClr="000000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F0502020204030204"/>
                <a:ea typeface="等线" panose="02010600030101010101" pitchFamily="2" charset="-122"/>
              </a:endParaRPr>
            </a:p>
          </p:txBody>
        </p:sp>
        <p:sp>
          <p:nvSpPr>
            <p:cNvPr id="103" name="Line 131">
              <a:extLst>
                <a:ext uri="{FF2B5EF4-FFF2-40B4-BE49-F238E27FC236}">
                  <a16:creationId xmlns:a16="http://schemas.microsoft.com/office/drawing/2014/main" id="{A9B606E2-51B0-DD75-5C7E-548A7F1042C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407400" y="3037145"/>
              <a:ext cx="835780" cy="0"/>
            </a:xfrm>
            <a:prstGeom prst="line">
              <a:avLst/>
            </a:prstGeom>
            <a:noFill/>
            <a:ln w="19050">
              <a:solidFill>
                <a:sysClr val="windowText" lastClr="000000"/>
              </a:solidFill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F0502020204030204"/>
                <a:ea typeface="等线" panose="02010600030101010101" pitchFamily="2" charset="-122"/>
              </a:endParaRPr>
            </a:p>
          </p:txBody>
        </p:sp>
        <p:sp>
          <p:nvSpPr>
            <p:cNvPr id="104" name="Line 132">
              <a:extLst>
                <a:ext uri="{FF2B5EF4-FFF2-40B4-BE49-F238E27FC236}">
                  <a16:creationId xmlns:a16="http://schemas.microsoft.com/office/drawing/2014/main" id="{11D0544A-57C2-354E-3ADA-32A6BC3629D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483381" y="3774173"/>
              <a:ext cx="0" cy="1041598"/>
            </a:xfrm>
            <a:prstGeom prst="line">
              <a:avLst/>
            </a:prstGeom>
            <a:noFill/>
            <a:ln w="19050">
              <a:solidFill>
                <a:sysClr val="windowText" lastClr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F0502020204030204"/>
                <a:ea typeface="等线" panose="02010600030101010101" pitchFamily="2" charset="-122"/>
              </a:endParaRPr>
            </a:p>
          </p:txBody>
        </p:sp>
        <p:sp>
          <p:nvSpPr>
            <p:cNvPr id="105" name="Text Box 133">
              <a:extLst>
                <a:ext uri="{FF2B5EF4-FFF2-40B4-BE49-F238E27FC236}">
                  <a16:creationId xmlns:a16="http://schemas.microsoft.com/office/drawing/2014/main" id="{ABFD1DE2-A75E-B1E1-C6CD-1248493ACF8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98678" y="1449977"/>
              <a:ext cx="787365" cy="36931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1425" tIns="45713" rIns="91425" bIns="45713">
              <a:spAutoFit/>
            </a:bodyPr>
            <a:lstStyle>
              <a:lvl1pPr eaLnBrk="0" hangingPunct="0"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1pPr>
              <a:lvl2pPr marL="742950" indent="-285750" eaLnBrk="0" hangingPunct="0"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2pPr>
              <a:lvl3pPr marL="1143000" indent="-228600" eaLnBrk="0" hangingPunct="0"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3pPr>
              <a:lvl4pPr marL="1600200" indent="-228600" eaLnBrk="0" hangingPunct="0"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4pPr>
              <a:lvl5pPr marL="2057400" indent="-228600" eaLnBrk="0" hangingPunct="0"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9pPr>
            </a:lstStyle>
            <a:p>
              <a:pPr fontAlgn="auto">
                <a:spcBef>
                  <a:spcPts val="0"/>
                </a:spcBef>
                <a:spcAft>
                  <a:spcPts val="0"/>
                </a:spcAft>
              </a:pPr>
              <a:r>
                <a:rPr lang="en-US" altLang="zh-CN" b="0" dirty="0">
                  <a:solidFill>
                    <a:prstClr val="black"/>
                  </a:solidFill>
                  <a:latin typeface="Arial" pitchFamily="34" charset="0"/>
                  <a:ea typeface="SimHei" panose="02010609060101010101" pitchFamily="49" charset="-122"/>
                </a:rPr>
                <a:t>ID/EX</a:t>
              </a:r>
            </a:p>
          </p:txBody>
        </p:sp>
        <p:sp>
          <p:nvSpPr>
            <p:cNvPr id="106" name="Text Box 134">
              <a:extLst>
                <a:ext uri="{FF2B5EF4-FFF2-40B4-BE49-F238E27FC236}">
                  <a16:creationId xmlns:a16="http://schemas.microsoft.com/office/drawing/2014/main" id="{2684EC96-70EF-3DF9-A01C-FED4C480852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838680" y="1626984"/>
              <a:ext cx="1095141" cy="36931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1425" tIns="45713" rIns="91425" bIns="45713">
              <a:spAutoFit/>
            </a:bodyPr>
            <a:lstStyle>
              <a:lvl1pPr eaLnBrk="0" hangingPunct="0"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1pPr>
              <a:lvl2pPr marL="742950" indent="-285750" eaLnBrk="0" hangingPunct="0"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2pPr>
              <a:lvl3pPr marL="1143000" indent="-228600" eaLnBrk="0" hangingPunct="0"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3pPr>
              <a:lvl4pPr marL="1600200" indent="-228600" eaLnBrk="0" hangingPunct="0"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4pPr>
              <a:lvl5pPr marL="2057400" indent="-228600" eaLnBrk="0" hangingPunct="0"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9pPr>
            </a:lstStyle>
            <a:p>
              <a:pPr fontAlgn="auto">
                <a:spcBef>
                  <a:spcPts val="0"/>
                </a:spcBef>
                <a:spcAft>
                  <a:spcPts val="0"/>
                </a:spcAft>
              </a:pPr>
              <a:r>
                <a:rPr lang="en-US" altLang="zh-CN" b="0" dirty="0">
                  <a:solidFill>
                    <a:prstClr val="black"/>
                  </a:solidFill>
                  <a:latin typeface="Arial" pitchFamily="34" charset="0"/>
                  <a:ea typeface="SimHei" panose="02010609060101010101" pitchFamily="49" charset="-122"/>
                </a:rPr>
                <a:t>EX/MEM</a:t>
              </a:r>
            </a:p>
          </p:txBody>
        </p:sp>
        <p:sp>
          <p:nvSpPr>
            <p:cNvPr id="107" name="Text Box 135">
              <a:extLst>
                <a:ext uri="{FF2B5EF4-FFF2-40B4-BE49-F238E27FC236}">
                  <a16:creationId xmlns:a16="http://schemas.microsoft.com/office/drawing/2014/main" id="{8B88AF78-223A-160E-B190-ADAA2715A0C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575837" y="2330780"/>
              <a:ext cx="1172085" cy="36931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1425" tIns="45713" rIns="91425" bIns="45713">
              <a:spAutoFit/>
            </a:bodyPr>
            <a:lstStyle>
              <a:lvl1pPr eaLnBrk="0" hangingPunct="0"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1pPr>
              <a:lvl2pPr marL="742950" indent="-285750" eaLnBrk="0" hangingPunct="0"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2pPr>
              <a:lvl3pPr marL="1143000" indent="-228600" eaLnBrk="0" hangingPunct="0"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3pPr>
              <a:lvl4pPr marL="1600200" indent="-228600" eaLnBrk="0" hangingPunct="0"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4pPr>
              <a:lvl5pPr marL="2057400" indent="-228600" eaLnBrk="0" hangingPunct="0"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9pPr>
            </a:lstStyle>
            <a:p>
              <a:pPr fontAlgn="auto">
                <a:spcBef>
                  <a:spcPts val="0"/>
                </a:spcBef>
                <a:spcAft>
                  <a:spcPts val="0"/>
                </a:spcAft>
              </a:pPr>
              <a:r>
                <a:rPr lang="en-US" altLang="zh-CN" b="0" dirty="0">
                  <a:solidFill>
                    <a:prstClr val="black"/>
                  </a:solidFill>
                  <a:latin typeface="Arial" pitchFamily="34" charset="0"/>
                  <a:ea typeface="SimHei" panose="02010609060101010101" pitchFamily="49" charset="-122"/>
                </a:rPr>
                <a:t>MEM/WB</a:t>
              </a:r>
            </a:p>
          </p:txBody>
        </p:sp>
        <p:sp>
          <p:nvSpPr>
            <p:cNvPr id="108" name="Line 13">
              <a:extLst>
                <a:ext uri="{FF2B5EF4-FFF2-40B4-BE49-F238E27FC236}">
                  <a16:creationId xmlns:a16="http://schemas.microsoft.com/office/drawing/2014/main" id="{AFA94767-AF0A-6DD6-997B-05EB6DB7DCA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686799" y="3913053"/>
              <a:ext cx="151960" cy="0"/>
            </a:xfrm>
            <a:prstGeom prst="line">
              <a:avLst/>
            </a:prstGeom>
            <a:noFill/>
            <a:ln w="19050">
              <a:solidFill>
                <a:sysClr val="windowText" lastClr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F0502020204030204"/>
                <a:ea typeface="等线" panose="02010600030101010101" pitchFamily="2" charset="-122"/>
              </a:endParaRPr>
            </a:p>
          </p:txBody>
        </p:sp>
        <p:sp>
          <p:nvSpPr>
            <p:cNvPr id="109" name="Line 110">
              <a:extLst>
                <a:ext uri="{FF2B5EF4-FFF2-40B4-BE49-F238E27FC236}">
                  <a16:creationId xmlns:a16="http://schemas.microsoft.com/office/drawing/2014/main" id="{EC430CD9-B342-FAEE-8986-1837A4042C4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35723" y="5093529"/>
              <a:ext cx="0" cy="236873"/>
            </a:xfrm>
            <a:prstGeom prst="line">
              <a:avLst/>
            </a:prstGeom>
            <a:noFill/>
            <a:ln w="19050">
              <a:solidFill>
                <a:sysClr val="windowText" lastClr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F0502020204030204"/>
                <a:ea typeface="等线" panose="02010600030101010101" pitchFamily="2" charset="-122"/>
              </a:endParaRPr>
            </a:p>
          </p:txBody>
        </p:sp>
        <p:sp>
          <p:nvSpPr>
            <p:cNvPr id="110" name="Line 8">
              <a:extLst>
                <a:ext uri="{FF2B5EF4-FFF2-40B4-BE49-F238E27FC236}">
                  <a16:creationId xmlns:a16="http://schemas.microsoft.com/office/drawing/2014/main" id="{27D42031-9C86-1D12-5EAC-3F2D131127A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35723" y="5326892"/>
              <a:ext cx="1747538" cy="0"/>
            </a:xfrm>
            <a:prstGeom prst="line">
              <a:avLst/>
            </a:prstGeom>
            <a:noFill/>
            <a:ln w="19050">
              <a:solidFill>
                <a:sysClr val="windowText" lastClr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F0502020204030204"/>
                <a:ea typeface="等线" panose="02010600030101010101" pitchFamily="2" charset="-122"/>
              </a:endParaRPr>
            </a:p>
          </p:txBody>
        </p:sp>
        <p:sp>
          <p:nvSpPr>
            <p:cNvPr id="111" name="Line 9">
              <a:extLst>
                <a:ext uri="{FF2B5EF4-FFF2-40B4-BE49-F238E27FC236}">
                  <a16:creationId xmlns:a16="http://schemas.microsoft.com/office/drawing/2014/main" id="{562FAC1B-D3E6-610A-44D0-54984713C0C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42201" y="5326892"/>
              <a:ext cx="262057" cy="0"/>
            </a:xfrm>
            <a:prstGeom prst="line">
              <a:avLst/>
            </a:prstGeom>
            <a:noFill/>
            <a:ln w="19050">
              <a:solidFill>
                <a:sysClr val="windowText" lastClr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F0502020204030204"/>
                <a:ea typeface="等线" panose="02010600030101010101" pitchFamily="2" charset="-122"/>
              </a:endParaRPr>
            </a:p>
          </p:txBody>
        </p:sp>
        <p:sp>
          <p:nvSpPr>
            <p:cNvPr id="112" name="AutoShape 67">
              <a:extLst>
                <a:ext uri="{FF2B5EF4-FFF2-40B4-BE49-F238E27FC236}">
                  <a16:creationId xmlns:a16="http://schemas.microsoft.com/office/drawing/2014/main" id="{F8708DC5-FC0A-E418-A354-E76E77D2CF20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6200000">
              <a:off x="4840498" y="5024784"/>
              <a:ext cx="565593" cy="236773"/>
            </a:xfrm>
            <a:custGeom>
              <a:avLst/>
              <a:gdLst>
                <a:gd name="T0" fmla="*/ 9 w 21600"/>
                <a:gd name="T1" fmla="*/ 0 h 21600"/>
                <a:gd name="T2" fmla="*/ 5 w 21600"/>
                <a:gd name="T3" fmla="*/ 1 h 21600"/>
                <a:gd name="T4" fmla="*/ 1 w 21600"/>
                <a:gd name="T5" fmla="*/ 0 h 21600"/>
                <a:gd name="T6" fmla="*/ 5 w 21600"/>
                <a:gd name="T7" fmla="*/ 0 h 21600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4500 w 21600"/>
                <a:gd name="T13" fmla="*/ 4500 h 21600"/>
                <a:gd name="T14" fmla="*/ 17100 w 21600"/>
                <a:gd name="T15" fmla="*/ 17100 h 2160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600" h="21600">
                  <a:moveTo>
                    <a:pt x="0" y="0"/>
                  </a:moveTo>
                  <a:lnTo>
                    <a:pt x="5400" y="21600"/>
                  </a:lnTo>
                  <a:lnTo>
                    <a:pt x="16200" y="21600"/>
                  </a:lnTo>
                  <a:lnTo>
                    <a:pt x="21600" y="0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9050">
              <a:solidFill>
                <a:sysClr val="windowText" lastClr="000000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2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F0502020204030204"/>
                <a:ea typeface="等线" panose="02010600030101010101" pitchFamily="2" charset="-122"/>
              </a:endParaRPr>
            </a:p>
          </p:txBody>
        </p:sp>
        <p:sp>
          <p:nvSpPr>
            <p:cNvPr id="113" name="Rectangle 70">
              <a:extLst>
                <a:ext uri="{FF2B5EF4-FFF2-40B4-BE49-F238E27FC236}">
                  <a16:creationId xmlns:a16="http://schemas.microsoft.com/office/drawing/2014/main" id="{4A64661D-84B3-82E5-B475-7308ADC587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39139" y="5177696"/>
              <a:ext cx="137639" cy="20832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19047" tIns="26984" rIns="19047" bIns="26984"/>
            <a:lstStyle/>
            <a:p>
              <a:pPr algn="ctr" eaLnBrk="0" fontAlgn="auto" hangingPunct="0">
                <a:lnSpc>
                  <a:spcPct val="75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en-US" altLang="zh-CN" sz="1400" dirty="0">
                  <a:solidFill>
                    <a:prstClr val="black"/>
                  </a:solidFill>
                  <a:latin typeface="Arial" pitchFamily="34" charset="0"/>
                  <a:ea typeface="等线" panose="02010600030101010101" pitchFamily="2" charset="-122"/>
                </a:rPr>
                <a:t>1</a:t>
              </a:r>
            </a:p>
          </p:txBody>
        </p:sp>
        <p:sp>
          <p:nvSpPr>
            <p:cNvPr id="114" name="Line 10">
              <a:extLst>
                <a:ext uri="{FF2B5EF4-FFF2-40B4-BE49-F238E27FC236}">
                  <a16:creationId xmlns:a16="http://schemas.microsoft.com/office/drawing/2014/main" id="{4B8DC0D1-7AEB-3776-4226-7DC9FD83638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234753" y="5093529"/>
              <a:ext cx="1008061" cy="0"/>
            </a:xfrm>
            <a:prstGeom prst="line">
              <a:avLst/>
            </a:prstGeom>
            <a:noFill/>
            <a:ln w="19050">
              <a:solidFill>
                <a:sysClr val="windowText" lastClr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F0502020204030204"/>
                <a:ea typeface="等线" panose="02010600030101010101" pitchFamily="2" charset="-122"/>
              </a:endParaRPr>
            </a:p>
          </p:txBody>
        </p:sp>
        <p:sp>
          <p:nvSpPr>
            <p:cNvPr id="115" name="Text Box 30">
              <a:extLst>
                <a:ext uri="{FF2B5EF4-FFF2-40B4-BE49-F238E27FC236}">
                  <a16:creationId xmlns:a16="http://schemas.microsoft.com/office/drawing/2014/main" id="{E93ED953-B613-B2BC-78B2-AEE85F70C1B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663014" y="3367716"/>
              <a:ext cx="500428" cy="27698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1425" tIns="45713" rIns="91425" bIns="45713">
              <a:spAutoFit/>
            </a:bodyPr>
            <a:lstStyle>
              <a:lvl1pPr eaLnBrk="0" hangingPunct="0"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1pPr>
              <a:lvl2pPr marL="742950" indent="-285750" eaLnBrk="0" hangingPunct="0"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2pPr>
              <a:lvl3pPr marL="1143000" indent="-228600" eaLnBrk="0" hangingPunct="0"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3pPr>
              <a:lvl4pPr marL="1600200" indent="-228600" eaLnBrk="0" hangingPunct="0"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4pPr>
              <a:lvl5pPr marL="2057400" indent="-228600" eaLnBrk="0" hangingPunct="0"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9pPr>
            </a:lstStyle>
            <a:p>
              <a:pPr fontAlgn="auto">
                <a:spcBef>
                  <a:spcPts val="0"/>
                </a:spcBef>
                <a:spcAft>
                  <a:spcPts val="0"/>
                </a:spcAft>
              </a:pPr>
              <a:r>
                <a:rPr lang="en-US" altLang="zh-CN" sz="1200" b="0" dirty="0">
                  <a:solidFill>
                    <a:prstClr val="black"/>
                  </a:solidFill>
                  <a:latin typeface="Arial" pitchFamily="34" charset="0"/>
                  <a:ea typeface="SimHei" panose="02010609060101010101" pitchFamily="49" charset="-122"/>
                </a:rPr>
                <a:t>Zero</a:t>
              </a:r>
            </a:p>
          </p:txBody>
        </p:sp>
        <p:sp>
          <p:nvSpPr>
            <p:cNvPr id="116" name="Line 124">
              <a:extLst>
                <a:ext uri="{FF2B5EF4-FFF2-40B4-BE49-F238E27FC236}">
                  <a16:creationId xmlns:a16="http://schemas.microsoft.com/office/drawing/2014/main" id="{976DA7DA-314A-7B92-78DB-AD6A5A8D11C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243180" y="1794328"/>
              <a:ext cx="0" cy="1236577"/>
            </a:xfrm>
            <a:prstGeom prst="line">
              <a:avLst/>
            </a:prstGeom>
            <a:noFill/>
            <a:ln w="19050">
              <a:solidFill>
                <a:sysClr val="windowText" lastClr="000000"/>
              </a:solidFill>
              <a:round/>
              <a:headEnd type="none" w="med" len="med"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F0502020204030204"/>
                <a:ea typeface="等线" panose="02010600030101010101" pitchFamily="2" charset="-122"/>
              </a:endParaRPr>
            </a:p>
          </p:txBody>
        </p:sp>
        <p:sp>
          <p:nvSpPr>
            <p:cNvPr id="117" name="Rectangle 70">
              <a:extLst>
                <a:ext uri="{FF2B5EF4-FFF2-40B4-BE49-F238E27FC236}">
                  <a16:creationId xmlns:a16="http://schemas.microsoft.com/office/drawing/2014/main" id="{10561B78-A5CF-D848-71FC-20B4BEB2F6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3050" y="4958616"/>
              <a:ext cx="137639" cy="18354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19047" tIns="26984" rIns="19047" bIns="26984"/>
            <a:lstStyle/>
            <a:p>
              <a:pPr algn="ctr" eaLnBrk="0" fontAlgn="auto" hangingPunct="0">
                <a:lnSpc>
                  <a:spcPct val="75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en-US" altLang="zh-CN" sz="1400" dirty="0">
                  <a:solidFill>
                    <a:prstClr val="black"/>
                  </a:solidFill>
                  <a:latin typeface="Arial" pitchFamily="34" charset="0"/>
                  <a:ea typeface="等线" panose="02010600030101010101" pitchFamily="2" charset="-122"/>
                </a:rPr>
                <a:t>0</a:t>
              </a:r>
            </a:p>
          </p:txBody>
        </p:sp>
        <p:sp>
          <p:nvSpPr>
            <p:cNvPr id="118" name="Rectangle 70">
              <a:extLst>
                <a:ext uri="{FF2B5EF4-FFF2-40B4-BE49-F238E27FC236}">
                  <a16:creationId xmlns:a16="http://schemas.microsoft.com/office/drawing/2014/main" id="{0EE772EE-E6BF-7D60-89D3-340C565BE8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39380" y="4190812"/>
              <a:ext cx="137639" cy="20832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19047" tIns="26984" rIns="19047" bIns="26984"/>
            <a:lstStyle/>
            <a:p>
              <a:pPr algn="ctr" eaLnBrk="0" fontAlgn="auto" hangingPunct="0">
                <a:lnSpc>
                  <a:spcPct val="75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en-US" altLang="zh-CN" sz="1400" dirty="0">
                  <a:solidFill>
                    <a:prstClr val="black"/>
                  </a:solidFill>
                  <a:latin typeface="Arial" pitchFamily="34" charset="0"/>
                  <a:ea typeface="等线" panose="02010600030101010101" pitchFamily="2" charset="-122"/>
                </a:rPr>
                <a:t>1</a:t>
              </a:r>
            </a:p>
          </p:txBody>
        </p:sp>
        <p:sp>
          <p:nvSpPr>
            <p:cNvPr id="119" name="Rectangle 70">
              <a:extLst>
                <a:ext uri="{FF2B5EF4-FFF2-40B4-BE49-F238E27FC236}">
                  <a16:creationId xmlns:a16="http://schemas.microsoft.com/office/drawing/2014/main" id="{4E7ACFA2-D888-1C41-335D-631A39021D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4337" y="3913052"/>
              <a:ext cx="137639" cy="18354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19047" tIns="26984" rIns="19047" bIns="26984"/>
            <a:lstStyle/>
            <a:p>
              <a:pPr algn="ctr" eaLnBrk="0" fontAlgn="auto" hangingPunct="0">
                <a:lnSpc>
                  <a:spcPct val="75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en-US" altLang="zh-CN" sz="1400" dirty="0">
                  <a:solidFill>
                    <a:prstClr val="black"/>
                  </a:solidFill>
                  <a:latin typeface="Arial" pitchFamily="34" charset="0"/>
                  <a:ea typeface="等线" panose="02010600030101010101" pitchFamily="2" charset="-122"/>
                </a:rPr>
                <a:t>0</a:t>
              </a:r>
            </a:p>
          </p:txBody>
        </p:sp>
        <p:sp>
          <p:nvSpPr>
            <p:cNvPr id="120" name="Rectangle 70">
              <a:extLst>
                <a:ext uri="{FF2B5EF4-FFF2-40B4-BE49-F238E27FC236}">
                  <a16:creationId xmlns:a16="http://schemas.microsoft.com/office/drawing/2014/main" id="{89FDBFF1-253A-CF70-E69A-F2AD350513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34767" y="1292554"/>
              <a:ext cx="137639" cy="20832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19047" tIns="26984" rIns="19047" bIns="26984"/>
            <a:lstStyle/>
            <a:p>
              <a:pPr algn="ctr" eaLnBrk="0" fontAlgn="auto" hangingPunct="0">
                <a:lnSpc>
                  <a:spcPct val="75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en-US" altLang="zh-CN" sz="1400" dirty="0">
                  <a:solidFill>
                    <a:prstClr val="black"/>
                  </a:solidFill>
                  <a:latin typeface="Arial" pitchFamily="34" charset="0"/>
                  <a:ea typeface="等线" panose="02010600030101010101" pitchFamily="2" charset="-122"/>
                </a:rPr>
                <a:t>1</a:t>
              </a:r>
            </a:p>
          </p:txBody>
        </p:sp>
        <p:sp>
          <p:nvSpPr>
            <p:cNvPr id="121" name="Rectangle 70">
              <a:extLst>
                <a:ext uri="{FF2B5EF4-FFF2-40B4-BE49-F238E27FC236}">
                  <a16:creationId xmlns:a16="http://schemas.microsoft.com/office/drawing/2014/main" id="{FC2184B2-D6CA-105A-A635-E7396E95C5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38678" y="1561154"/>
              <a:ext cx="137639" cy="18354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19047" tIns="26984" rIns="19047" bIns="26984"/>
            <a:lstStyle/>
            <a:p>
              <a:pPr algn="ctr" eaLnBrk="0" fontAlgn="auto" hangingPunct="0">
                <a:lnSpc>
                  <a:spcPct val="75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en-US" altLang="zh-CN" sz="1400" dirty="0">
                  <a:solidFill>
                    <a:prstClr val="black"/>
                  </a:solidFill>
                  <a:latin typeface="Arial" pitchFamily="34" charset="0"/>
                  <a:ea typeface="等线" panose="02010600030101010101" pitchFamily="2" charset="-122"/>
                </a:rPr>
                <a:t>0</a:t>
              </a:r>
            </a:p>
          </p:txBody>
        </p:sp>
        <p:sp>
          <p:nvSpPr>
            <p:cNvPr id="122" name="Text Box 32">
              <a:extLst>
                <a:ext uri="{FF2B5EF4-FFF2-40B4-BE49-F238E27FC236}">
                  <a16:creationId xmlns:a16="http://schemas.microsoft.com/office/drawing/2014/main" id="{89C9CD13-7EE6-17CD-7894-2E6BE714663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825656" y="2480153"/>
              <a:ext cx="314479" cy="55635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1425" tIns="45713" rIns="91425" bIns="45713">
              <a:spAutoFit/>
            </a:bodyPr>
            <a:lstStyle>
              <a:lvl1pPr eaLnBrk="0" hangingPunct="0"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1pPr>
              <a:lvl2pPr marL="742950" indent="-285750" eaLnBrk="0" hangingPunct="0"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2pPr>
              <a:lvl3pPr marL="1143000" indent="-228600" eaLnBrk="0" hangingPunct="0"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3pPr>
              <a:lvl4pPr marL="1600200" indent="-228600" eaLnBrk="0" hangingPunct="0"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4pPr>
              <a:lvl5pPr marL="2057400" indent="-228600" eaLnBrk="0" hangingPunct="0"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9pPr>
            </a:lstStyle>
            <a:p>
              <a:pPr fontAlgn="auto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lang="en-US" altLang="zh-CN" sz="1400" b="0" dirty="0">
                  <a:solidFill>
                    <a:prstClr val="black"/>
                  </a:solidFill>
                  <a:latin typeface="Arial" pitchFamily="34" charset="0"/>
                  <a:ea typeface="SimHei" panose="02010609060101010101" pitchFamily="49" charset="-122"/>
                </a:rPr>
                <a:t>A</a:t>
              </a:r>
            </a:p>
            <a:p>
              <a:pPr fontAlgn="auto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lang="en-US" altLang="zh-CN" sz="1400" b="0" dirty="0">
                  <a:solidFill>
                    <a:prstClr val="black"/>
                  </a:solidFill>
                  <a:latin typeface="Arial" pitchFamily="34" charset="0"/>
                  <a:ea typeface="SimHei" panose="02010609060101010101" pitchFamily="49" charset="-122"/>
                </a:rPr>
                <a:t>D</a:t>
              </a:r>
            </a:p>
            <a:p>
              <a:pPr fontAlgn="auto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lang="en-US" altLang="zh-CN" sz="1400" b="0" dirty="0">
                  <a:solidFill>
                    <a:prstClr val="black"/>
                  </a:solidFill>
                  <a:latin typeface="Arial" pitchFamily="34" charset="0"/>
                  <a:ea typeface="SimHei" panose="02010609060101010101" pitchFamily="49" charset="-122"/>
                </a:rPr>
                <a:t>D</a:t>
              </a:r>
            </a:p>
          </p:txBody>
        </p:sp>
        <p:sp>
          <p:nvSpPr>
            <p:cNvPr id="123" name="Rectangle 70">
              <a:extLst>
                <a:ext uri="{FF2B5EF4-FFF2-40B4-BE49-F238E27FC236}">
                  <a16:creationId xmlns:a16="http://schemas.microsoft.com/office/drawing/2014/main" id="{890CBAF3-B3D2-EADE-5BA7-1242976036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494772" y="3734735"/>
              <a:ext cx="137639" cy="20832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19047" tIns="26984" rIns="19047" bIns="26984"/>
            <a:lstStyle/>
            <a:p>
              <a:pPr algn="ctr" eaLnBrk="0" fontAlgn="auto" hangingPunct="0">
                <a:lnSpc>
                  <a:spcPct val="75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en-US" altLang="zh-CN" sz="1400" dirty="0">
                  <a:solidFill>
                    <a:prstClr val="black"/>
                  </a:solidFill>
                  <a:latin typeface="Arial" pitchFamily="34" charset="0"/>
                  <a:ea typeface="等线" panose="02010600030101010101" pitchFamily="2" charset="-122"/>
                </a:rPr>
                <a:t>1</a:t>
              </a:r>
            </a:p>
          </p:txBody>
        </p:sp>
        <p:sp>
          <p:nvSpPr>
            <p:cNvPr id="124" name="Rectangle 70">
              <a:extLst>
                <a:ext uri="{FF2B5EF4-FFF2-40B4-BE49-F238E27FC236}">
                  <a16:creationId xmlns:a16="http://schemas.microsoft.com/office/drawing/2014/main" id="{4ED12E0F-940A-C3FB-0F49-4F85B7D634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498683" y="4003335"/>
              <a:ext cx="137639" cy="18354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19047" tIns="26984" rIns="19047" bIns="26984"/>
            <a:lstStyle/>
            <a:p>
              <a:pPr algn="ctr" eaLnBrk="0" fontAlgn="auto" hangingPunct="0">
                <a:lnSpc>
                  <a:spcPct val="75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en-US" altLang="zh-CN" sz="1400" dirty="0">
                  <a:solidFill>
                    <a:prstClr val="black"/>
                  </a:solidFill>
                  <a:latin typeface="Arial" pitchFamily="34" charset="0"/>
                  <a:ea typeface="等线" panose="02010600030101010101" pitchFamily="2" charset="-122"/>
                </a:rPr>
                <a:t>0</a:t>
              </a:r>
            </a:p>
          </p:txBody>
        </p:sp>
        <p:sp>
          <p:nvSpPr>
            <p:cNvPr id="125" name="Line 118">
              <a:extLst>
                <a:ext uri="{FF2B5EF4-FFF2-40B4-BE49-F238E27FC236}">
                  <a16:creationId xmlns:a16="http://schemas.microsoft.com/office/drawing/2014/main" id="{016AB477-2148-FB4F-8E59-30A55AC42F0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268069" y="4143847"/>
              <a:ext cx="118182" cy="694398"/>
            </a:xfrm>
            <a:prstGeom prst="line">
              <a:avLst/>
            </a:prstGeom>
            <a:noFill/>
            <a:ln w="28575" cap="rnd">
              <a:solidFill>
                <a:sysClr val="windowText" lastClr="000000"/>
              </a:solidFill>
              <a:prstDash val="sysDot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F0502020204030204"/>
                <a:ea typeface="等线" panose="02010600030101010101" pitchFamily="2" charset="-122"/>
              </a:endParaRPr>
            </a:p>
          </p:txBody>
        </p:sp>
        <p:sp>
          <p:nvSpPr>
            <p:cNvPr id="126" name="Line 118">
              <a:extLst>
                <a:ext uri="{FF2B5EF4-FFF2-40B4-BE49-F238E27FC236}">
                  <a16:creationId xmlns:a16="http://schemas.microsoft.com/office/drawing/2014/main" id="{56270012-2A0D-1F2C-F38D-F23F1CACBAD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078960" y="4121372"/>
              <a:ext cx="151960" cy="694398"/>
            </a:xfrm>
            <a:prstGeom prst="line">
              <a:avLst/>
            </a:prstGeom>
            <a:noFill/>
            <a:ln w="28575" cap="rnd">
              <a:solidFill>
                <a:sysClr val="windowText" lastClr="000000"/>
              </a:solidFill>
              <a:prstDash val="sysDot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F0502020204030204"/>
                <a:ea typeface="等线" panose="02010600030101010101" pitchFamily="2" charset="-122"/>
              </a:endParaRPr>
            </a:p>
          </p:txBody>
        </p:sp>
        <p:sp>
          <p:nvSpPr>
            <p:cNvPr id="127" name="任意多边形: 形状 2">
              <a:extLst>
                <a:ext uri="{FF2B5EF4-FFF2-40B4-BE49-F238E27FC236}">
                  <a16:creationId xmlns:a16="http://schemas.microsoft.com/office/drawing/2014/main" id="{EDCE5FE3-9B57-559C-54A2-D5A80B8CFC88}"/>
                </a:ext>
              </a:extLst>
            </p:cNvPr>
            <p:cNvSpPr/>
            <p:nvPr/>
          </p:nvSpPr>
          <p:spPr>
            <a:xfrm>
              <a:off x="1778065" y="2094312"/>
              <a:ext cx="372209" cy="842010"/>
            </a:xfrm>
            <a:custGeom>
              <a:avLst/>
              <a:gdLst>
                <a:gd name="connsiteX0" fmla="*/ 9525 w 386715"/>
                <a:gd name="connsiteY0" fmla="*/ 0 h 830580"/>
                <a:gd name="connsiteX1" fmla="*/ 386715 w 386715"/>
                <a:gd name="connsiteY1" fmla="*/ 245745 h 830580"/>
                <a:gd name="connsiteX2" fmla="*/ 384810 w 386715"/>
                <a:gd name="connsiteY2" fmla="*/ 579120 h 830580"/>
                <a:gd name="connsiteX3" fmla="*/ 0 w 386715"/>
                <a:gd name="connsiteY3" fmla="*/ 830580 h 830580"/>
                <a:gd name="connsiteX4" fmla="*/ 3810 w 386715"/>
                <a:gd name="connsiteY4" fmla="*/ 497205 h 830580"/>
                <a:gd name="connsiteX5" fmla="*/ 70485 w 386715"/>
                <a:gd name="connsiteY5" fmla="*/ 409575 h 830580"/>
                <a:gd name="connsiteX6" fmla="*/ 3810 w 386715"/>
                <a:gd name="connsiteY6" fmla="*/ 320040 h 830580"/>
                <a:gd name="connsiteX7" fmla="*/ 9525 w 386715"/>
                <a:gd name="connsiteY7" fmla="*/ 0 h 830580"/>
                <a:gd name="connsiteX0" fmla="*/ 9525 w 386715"/>
                <a:gd name="connsiteY0" fmla="*/ 0 h 830580"/>
                <a:gd name="connsiteX1" fmla="*/ 386715 w 386715"/>
                <a:gd name="connsiteY1" fmla="*/ 245745 h 830580"/>
                <a:gd name="connsiteX2" fmla="*/ 384810 w 386715"/>
                <a:gd name="connsiteY2" fmla="*/ 579120 h 830580"/>
                <a:gd name="connsiteX3" fmla="*/ 0 w 386715"/>
                <a:gd name="connsiteY3" fmla="*/ 830580 h 830580"/>
                <a:gd name="connsiteX4" fmla="*/ 3810 w 386715"/>
                <a:gd name="connsiteY4" fmla="*/ 497205 h 830580"/>
                <a:gd name="connsiteX5" fmla="*/ 70485 w 386715"/>
                <a:gd name="connsiteY5" fmla="*/ 409575 h 830580"/>
                <a:gd name="connsiteX6" fmla="*/ 7620 w 386715"/>
                <a:gd name="connsiteY6" fmla="*/ 318135 h 830580"/>
                <a:gd name="connsiteX7" fmla="*/ 9525 w 386715"/>
                <a:gd name="connsiteY7" fmla="*/ 0 h 830580"/>
                <a:gd name="connsiteX0" fmla="*/ 9525 w 386715"/>
                <a:gd name="connsiteY0" fmla="*/ 0 h 830580"/>
                <a:gd name="connsiteX1" fmla="*/ 386715 w 386715"/>
                <a:gd name="connsiteY1" fmla="*/ 245745 h 830580"/>
                <a:gd name="connsiteX2" fmla="*/ 384810 w 386715"/>
                <a:gd name="connsiteY2" fmla="*/ 579120 h 830580"/>
                <a:gd name="connsiteX3" fmla="*/ 0 w 386715"/>
                <a:gd name="connsiteY3" fmla="*/ 830580 h 830580"/>
                <a:gd name="connsiteX4" fmla="*/ 0 w 386715"/>
                <a:gd name="connsiteY4" fmla="*/ 508635 h 830580"/>
                <a:gd name="connsiteX5" fmla="*/ 70485 w 386715"/>
                <a:gd name="connsiteY5" fmla="*/ 409575 h 830580"/>
                <a:gd name="connsiteX6" fmla="*/ 7620 w 386715"/>
                <a:gd name="connsiteY6" fmla="*/ 318135 h 830580"/>
                <a:gd name="connsiteX7" fmla="*/ 9525 w 386715"/>
                <a:gd name="connsiteY7" fmla="*/ 0 h 830580"/>
                <a:gd name="connsiteX0" fmla="*/ 1905 w 386715"/>
                <a:gd name="connsiteY0" fmla="*/ 0 h 842010"/>
                <a:gd name="connsiteX1" fmla="*/ 386715 w 386715"/>
                <a:gd name="connsiteY1" fmla="*/ 257175 h 842010"/>
                <a:gd name="connsiteX2" fmla="*/ 384810 w 386715"/>
                <a:gd name="connsiteY2" fmla="*/ 590550 h 842010"/>
                <a:gd name="connsiteX3" fmla="*/ 0 w 386715"/>
                <a:gd name="connsiteY3" fmla="*/ 842010 h 842010"/>
                <a:gd name="connsiteX4" fmla="*/ 0 w 386715"/>
                <a:gd name="connsiteY4" fmla="*/ 520065 h 842010"/>
                <a:gd name="connsiteX5" fmla="*/ 70485 w 386715"/>
                <a:gd name="connsiteY5" fmla="*/ 421005 h 842010"/>
                <a:gd name="connsiteX6" fmla="*/ 7620 w 386715"/>
                <a:gd name="connsiteY6" fmla="*/ 329565 h 842010"/>
                <a:gd name="connsiteX7" fmla="*/ 1905 w 386715"/>
                <a:gd name="connsiteY7" fmla="*/ 0 h 842010"/>
                <a:gd name="connsiteX0" fmla="*/ 5715 w 390525"/>
                <a:gd name="connsiteY0" fmla="*/ 0 h 842010"/>
                <a:gd name="connsiteX1" fmla="*/ 390525 w 390525"/>
                <a:gd name="connsiteY1" fmla="*/ 257175 h 842010"/>
                <a:gd name="connsiteX2" fmla="*/ 388620 w 390525"/>
                <a:gd name="connsiteY2" fmla="*/ 590550 h 842010"/>
                <a:gd name="connsiteX3" fmla="*/ 3810 w 390525"/>
                <a:gd name="connsiteY3" fmla="*/ 842010 h 842010"/>
                <a:gd name="connsiteX4" fmla="*/ 3810 w 390525"/>
                <a:gd name="connsiteY4" fmla="*/ 520065 h 842010"/>
                <a:gd name="connsiteX5" fmla="*/ 74295 w 390525"/>
                <a:gd name="connsiteY5" fmla="*/ 421005 h 842010"/>
                <a:gd name="connsiteX6" fmla="*/ 0 w 390525"/>
                <a:gd name="connsiteY6" fmla="*/ 327660 h 842010"/>
                <a:gd name="connsiteX7" fmla="*/ 5715 w 390525"/>
                <a:gd name="connsiteY7" fmla="*/ 0 h 842010"/>
                <a:gd name="connsiteX0" fmla="*/ 1905 w 386715"/>
                <a:gd name="connsiteY0" fmla="*/ 0 h 842010"/>
                <a:gd name="connsiteX1" fmla="*/ 386715 w 386715"/>
                <a:gd name="connsiteY1" fmla="*/ 257175 h 842010"/>
                <a:gd name="connsiteX2" fmla="*/ 384810 w 386715"/>
                <a:gd name="connsiteY2" fmla="*/ 590550 h 842010"/>
                <a:gd name="connsiteX3" fmla="*/ 0 w 386715"/>
                <a:gd name="connsiteY3" fmla="*/ 842010 h 842010"/>
                <a:gd name="connsiteX4" fmla="*/ 0 w 386715"/>
                <a:gd name="connsiteY4" fmla="*/ 520065 h 842010"/>
                <a:gd name="connsiteX5" fmla="*/ 70485 w 386715"/>
                <a:gd name="connsiteY5" fmla="*/ 421005 h 842010"/>
                <a:gd name="connsiteX6" fmla="*/ 5715 w 386715"/>
                <a:gd name="connsiteY6" fmla="*/ 327660 h 842010"/>
                <a:gd name="connsiteX7" fmla="*/ 1905 w 386715"/>
                <a:gd name="connsiteY7" fmla="*/ 0 h 842010"/>
                <a:gd name="connsiteX0" fmla="*/ 1905 w 386715"/>
                <a:gd name="connsiteY0" fmla="*/ 0 h 842010"/>
                <a:gd name="connsiteX1" fmla="*/ 386715 w 386715"/>
                <a:gd name="connsiteY1" fmla="*/ 257175 h 842010"/>
                <a:gd name="connsiteX2" fmla="*/ 384810 w 386715"/>
                <a:gd name="connsiteY2" fmla="*/ 590550 h 842010"/>
                <a:gd name="connsiteX3" fmla="*/ 0 w 386715"/>
                <a:gd name="connsiteY3" fmla="*/ 842010 h 842010"/>
                <a:gd name="connsiteX4" fmla="*/ 0 w 386715"/>
                <a:gd name="connsiteY4" fmla="*/ 520065 h 842010"/>
                <a:gd name="connsiteX5" fmla="*/ 70485 w 386715"/>
                <a:gd name="connsiteY5" fmla="*/ 421005 h 842010"/>
                <a:gd name="connsiteX6" fmla="*/ 1905 w 386715"/>
                <a:gd name="connsiteY6" fmla="*/ 327660 h 842010"/>
                <a:gd name="connsiteX7" fmla="*/ 1905 w 386715"/>
                <a:gd name="connsiteY7" fmla="*/ 0 h 8420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6715" h="842010">
                  <a:moveTo>
                    <a:pt x="1905" y="0"/>
                  </a:moveTo>
                  <a:lnTo>
                    <a:pt x="386715" y="257175"/>
                  </a:lnTo>
                  <a:lnTo>
                    <a:pt x="384810" y="590550"/>
                  </a:lnTo>
                  <a:lnTo>
                    <a:pt x="0" y="842010"/>
                  </a:lnTo>
                  <a:lnTo>
                    <a:pt x="0" y="520065"/>
                  </a:lnTo>
                  <a:lnTo>
                    <a:pt x="70485" y="421005"/>
                  </a:lnTo>
                  <a:lnTo>
                    <a:pt x="1905" y="327660"/>
                  </a:lnTo>
                  <a:lnTo>
                    <a:pt x="1905" y="0"/>
                  </a:lnTo>
                  <a:close/>
                </a:path>
              </a:pathLst>
            </a:custGeom>
            <a:noFill/>
            <a:ln w="190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dirty="0"/>
            </a:p>
          </p:txBody>
        </p:sp>
        <p:sp>
          <p:nvSpPr>
            <p:cNvPr id="128" name="任意多边形: 形状 146">
              <a:extLst>
                <a:ext uri="{FF2B5EF4-FFF2-40B4-BE49-F238E27FC236}">
                  <a16:creationId xmlns:a16="http://schemas.microsoft.com/office/drawing/2014/main" id="{0B7BE656-E835-2709-5EC2-A481FD262166}"/>
                </a:ext>
              </a:extLst>
            </p:cNvPr>
            <p:cNvSpPr/>
            <p:nvPr/>
          </p:nvSpPr>
          <p:spPr>
            <a:xfrm>
              <a:off x="5785707" y="2316635"/>
              <a:ext cx="372209" cy="842010"/>
            </a:xfrm>
            <a:custGeom>
              <a:avLst/>
              <a:gdLst>
                <a:gd name="connsiteX0" fmla="*/ 9525 w 386715"/>
                <a:gd name="connsiteY0" fmla="*/ 0 h 830580"/>
                <a:gd name="connsiteX1" fmla="*/ 386715 w 386715"/>
                <a:gd name="connsiteY1" fmla="*/ 245745 h 830580"/>
                <a:gd name="connsiteX2" fmla="*/ 384810 w 386715"/>
                <a:gd name="connsiteY2" fmla="*/ 579120 h 830580"/>
                <a:gd name="connsiteX3" fmla="*/ 0 w 386715"/>
                <a:gd name="connsiteY3" fmla="*/ 830580 h 830580"/>
                <a:gd name="connsiteX4" fmla="*/ 3810 w 386715"/>
                <a:gd name="connsiteY4" fmla="*/ 497205 h 830580"/>
                <a:gd name="connsiteX5" fmla="*/ 70485 w 386715"/>
                <a:gd name="connsiteY5" fmla="*/ 409575 h 830580"/>
                <a:gd name="connsiteX6" fmla="*/ 3810 w 386715"/>
                <a:gd name="connsiteY6" fmla="*/ 320040 h 830580"/>
                <a:gd name="connsiteX7" fmla="*/ 9525 w 386715"/>
                <a:gd name="connsiteY7" fmla="*/ 0 h 830580"/>
                <a:gd name="connsiteX0" fmla="*/ 9525 w 386715"/>
                <a:gd name="connsiteY0" fmla="*/ 0 h 830580"/>
                <a:gd name="connsiteX1" fmla="*/ 386715 w 386715"/>
                <a:gd name="connsiteY1" fmla="*/ 245745 h 830580"/>
                <a:gd name="connsiteX2" fmla="*/ 384810 w 386715"/>
                <a:gd name="connsiteY2" fmla="*/ 579120 h 830580"/>
                <a:gd name="connsiteX3" fmla="*/ 0 w 386715"/>
                <a:gd name="connsiteY3" fmla="*/ 830580 h 830580"/>
                <a:gd name="connsiteX4" fmla="*/ 3810 w 386715"/>
                <a:gd name="connsiteY4" fmla="*/ 497205 h 830580"/>
                <a:gd name="connsiteX5" fmla="*/ 70485 w 386715"/>
                <a:gd name="connsiteY5" fmla="*/ 409575 h 830580"/>
                <a:gd name="connsiteX6" fmla="*/ 7620 w 386715"/>
                <a:gd name="connsiteY6" fmla="*/ 318135 h 830580"/>
                <a:gd name="connsiteX7" fmla="*/ 9525 w 386715"/>
                <a:gd name="connsiteY7" fmla="*/ 0 h 830580"/>
                <a:gd name="connsiteX0" fmla="*/ 9525 w 386715"/>
                <a:gd name="connsiteY0" fmla="*/ 0 h 830580"/>
                <a:gd name="connsiteX1" fmla="*/ 386715 w 386715"/>
                <a:gd name="connsiteY1" fmla="*/ 245745 h 830580"/>
                <a:gd name="connsiteX2" fmla="*/ 384810 w 386715"/>
                <a:gd name="connsiteY2" fmla="*/ 579120 h 830580"/>
                <a:gd name="connsiteX3" fmla="*/ 0 w 386715"/>
                <a:gd name="connsiteY3" fmla="*/ 830580 h 830580"/>
                <a:gd name="connsiteX4" fmla="*/ 0 w 386715"/>
                <a:gd name="connsiteY4" fmla="*/ 508635 h 830580"/>
                <a:gd name="connsiteX5" fmla="*/ 70485 w 386715"/>
                <a:gd name="connsiteY5" fmla="*/ 409575 h 830580"/>
                <a:gd name="connsiteX6" fmla="*/ 7620 w 386715"/>
                <a:gd name="connsiteY6" fmla="*/ 318135 h 830580"/>
                <a:gd name="connsiteX7" fmla="*/ 9525 w 386715"/>
                <a:gd name="connsiteY7" fmla="*/ 0 h 830580"/>
                <a:gd name="connsiteX0" fmla="*/ 1905 w 386715"/>
                <a:gd name="connsiteY0" fmla="*/ 0 h 842010"/>
                <a:gd name="connsiteX1" fmla="*/ 386715 w 386715"/>
                <a:gd name="connsiteY1" fmla="*/ 257175 h 842010"/>
                <a:gd name="connsiteX2" fmla="*/ 384810 w 386715"/>
                <a:gd name="connsiteY2" fmla="*/ 590550 h 842010"/>
                <a:gd name="connsiteX3" fmla="*/ 0 w 386715"/>
                <a:gd name="connsiteY3" fmla="*/ 842010 h 842010"/>
                <a:gd name="connsiteX4" fmla="*/ 0 w 386715"/>
                <a:gd name="connsiteY4" fmla="*/ 520065 h 842010"/>
                <a:gd name="connsiteX5" fmla="*/ 70485 w 386715"/>
                <a:gd name="connsiteY5" fmla="*/ 421005 h 842010"/>
                <a:gd name="connsiteX6" fmla="*/ 7620 w 386715"/>
                <a:gd name="connsiteY6" fmla="*/ 329565 h 842010"/>
                <a:gd name="connsiteX7" fmla="*/ 1905 w 386715"/>
                <a:gd name="connsiteY7" fmla="*/ 0 h 842010"/>
                <a:gd name="connsiteX0" fmla="*/ 5715 w 390525"/>
                <a:gd name="connsiteY0" fmla="*/ 0 h 842010"/>
                <a:gd name="connsiteX1" fmla="*/ 390525 w 390525"/>
                <a:gd name="connsiteY1" fmla="*/ 257175 h 842010"/>
                <a:gd name="connsiteX2" fmla="*/ 388620 w 390525"/>
                <a:gd name="connsiteY2" fmla="*/ 590550 h 842010"/>
                <a:gd name="connsiteX3" fmla="*/ 3810 w 390525"/>
                <a:gd name="connsiteY3" fmla="*/ 842010 h 842010"/>
                <a:gd name="connsiteX4" fmla="*/ 3810 w 390525"/>
                <a:gd name="connsiteY4" fmla="*/ 520065 h 842010"/>
                <a:gd name="connsiteX5" fmla="*/ 74295 w 390525"/>
                <a:gd name="connsiteY5" fmla="*/ 421005 h 842010"/>
                <a:gd name="connsiteX6" fmla="*/ 0 w 390525"/>
                <a:gd name="connsiteY6" fmla="*/ 327660 h 842010"/>
                <a:gd name="connsiteX7" fmla="*/ 5715 w 390525"/>
                <a:gd name="connsiteY7" fmla="*/ 0 h 842010"/>
                <a:gd name="connsiteX0" fmla="*/ 1905 w 386715"/>
                <a:gd name="connsiteY0" fmla="*/ 0 h 842010"/>
                <a:gd name="connsiteX1" fmla="*/ 386715 w 386715"/>
                <a:gd name="connsiteY1" fmla="*/ 257175 h 842010"/>
                <a:gd name="connsiteX2" fmla="*/ 384810 w 386715"/>
                <a:gd name="connsiteY2" fmla="*/ 590550 h 842010"/>
                <a:gd name="connsiteX3" fmla="*/ 0 w 386715"/>
                <a:gd name="connsiteY3" fmla="*/ 842010 h 842010"/>
                <a:gd name="connsiteX4" fmla="*/ 0 w 386715"/>
                <a:gd name="connsiteY4" fmla="*/ 520065 h 842010"/>
                <a:gd name="connsiteX5" fmla="*/ 70485 w 386715"/>
                <a:gd name="connsiteY5" fmla="*/ 421005 h 842010"/>
                <a:gd name="connsiteX6" fmla="*/ 5715 w 386715"/>
                <a:gd name="connsiteY6" fmla="*/ 327660 h 842010"/>
                <a:gd name="connsiteX7" fmla="*/ 1905 w 386715"/>
                <a:gd name="connsiteY7" fmla="*/ 0 h 842010"/>
                <a:gd name="connsiteX0" fmla="*/ 1905 w 386715"/>
                <a:gd name="connsiteY0" fmla="*/ 0 h 842010"/>
                <a:gd name="connsiteX1" fmla="*/ 386715 w 386715"/>
                <a:gd name="connsiteY1" fmla="*/ 257175 h 842010"/>
                <a:gd name="connsiteX2" fmla="*/ 384810 w 386715"/>
                <a:gd name="connsiteY2" fmla="*/ 590550 h 842010"/>
                <a:gd name="connsiteX3" fmla="*/ 0 w 386715"/>
                <a:gd name="connsiteY3" fmla="*/ 842010 h 842010"/>
                <a:gd name="connsiteX4" fmla="*/ 0 w 386715"/>
                <a:gd name="connsiteY4" fmla="*/ 520065 h 842010"/>
                <a:gd name="connsiteX5" fmla="*/ 70485 w 386715"/>
                <a:gd name="connsiteY5" fmla="*/ 421005 h 842010"/>
                <a:gd name="connsiteX6" fmla="*/ 1905 w 386715"/>
                <a:gd name="connsiteY6" fmla="*/ 327660 h 842010"/>
                <a:gd name="connsiteX7" fmla="*/ 1905 w 386715"/>
                <a:gd name="connsiteY7" fmla="*/ 0 h 8420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6715" h="842010">
                  <a:moveTo>
                    <a:pt x="1905" y="0"/>
                  </a:moveTo>
                  <a:lnTo>
                    <a:pt x="386715" y="257175"/>
                  </a:lnTo>
                  <a:lnTo>
                    <a:pt x="384810" y="590550"/>
                  </a:lnTo>
                  <a:lnTo>
                    <a:pt x="0" y="842010"/>
                  </a:lnTo>
                  <a:lnTo>
                    <a:pt x="0" y="520065"/>
                  </a:lnTo>
                  <a:lnTo>
                    <a:pt x="70485" y="421005"/>
                  </a:lnTo>
                  <a:lnTo>
                    <a:pt x="1905" y="327660"/>
                  </a:lnTo>
                  <a:lnTo>
                    <a:pt x="1905" y="0"/>
                  </a:lnTo>
                  <a:close/>
                </a:path>
              </a:pathLst>
            </a:custGeom>
            <a:noFill/>
            <a:ln w="190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dirty="0"/>
            </a:p>
          </p:txBody>
        </p:sp>
      </p:grpSp>
      <p:sp>
        <p:nvSpPr>
          <p:cNvPr id="129" name="内容占位符 2">
            <a:extLst>
              <a:ext uri="{FF2B5EF4-FFF2-40B4-BE49-F238E27FC236}">
                <a16:creationId xmlns:a16="http://schemas.microsoft.com/office/drawing/2014/main" id="{5D9BD6E9-CAD2-9867-CA90-27EEC5EDF0F4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457200" y="1166020"/>
            <a:ext cx="8229600" cy="4525963"/>
          </a:xfrm>
        </p:spPr>
        <p:txBody>
          <a:bodyPr/>
          <a:lstStyle/>
          <a:p>
            <a:r>
              <a:rPr lang="zh-CN" altLang="en-US" sz="2600" dirty="0"/>
              <a:t>以</a:t>
            </a:r>
            <a:r>
              <a:rPr lang="en-US" altLang="zh-CN" sz="2600" dirty="0"/>
              <a:t>t</a:t>
            </a:r>
            <a:r>
              <a:rPr lang="en-US" altLang="zh-CN" sz="2600" baseline="-25000" dirty="0"/>
              <a:t>3</a:t>
            </a:r>
            <a:r>
              <a:rPr lang="zh-CN" altLang="en-US" sz="2600" dirty="0"/>
              <a:t>为例，硬件中的指令和数据关联如下图</a:t>
            </a:r>
            <a:endParaRPr lang="zh-CN" altLang="en-US" dirty="0"/>
          </a:p>
        </p:txBody>
      </p:sp>
      <p:sp>
        <p:nvSpPr>
          <p:cNvPr id="130" name="文本框 129">
            <a:extLst>
              <a:ext uri="{FF2B5EF4-FFF2-40B4-BE49-F238E27FC236}">
                <a16:creationId xmlns:a16="http://schemas.microsoft.com/office/drawing/2014/main" id="{066ED32D-E7A0-B53B-04B9-4329D61DE055}"/>
              </a:ext>
            </a:extLst>
          </p:cNvPr>
          <p:cNvSpPr txBox="1"/>
          <p:nvPr/>
        </p:nvSpPr>
        <p:spPr>
          <a:xfrm>
            <a:off x="2176925" y="5446415"/>
            <a:ext cx="437863" cy="4154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eaLnBrk="0" hangingPunct="0"/>
            <a:r>
              <a:rPr lang="en-US" altLang="zh-CN" sz="2100">
                <a:solidFill>
                  <a:srgbClr val="00B0F0"/>
                </a:solidFill>
                <a:latin typeface="Arial" panose="020B0604020202020204" pitchFamily="34" charset="0"/>
                <a:ea typeface="SimHei" panose="02010609060101010101" pitchFamily="49" charset="-122"/>
              </a:rPr>
              <a:t>I1</a:t>
            </a:r>
            <a:endParaRPr lang="zh-CN" altLang="en-US" sz="2100">
              <a:solidFill>
                <a:srgbClr val="00B0F0"/>
              </a:solidFill>
              <a:latin typeface="Arial" panose="020B0604020202020204" pitchFamily="34" charset="0"/>
              <a:ea typeface="SimHei" panose="02010609060101010101" pitchFamily="49" charset="-122"/>
            </a:endParaRPr>
          </a:p>
        </p:txBody>
      </p:sp>
      <p:sp>
        <p:nvSpPr>
          <p:cNvPr id="131" name="文本框 130">
            <a:extLst>
              <a:ext uri="{FF2B5EF4-FFF2-40B4-BE49-F238E27FC236}">
                <a16:creationId xmlns:a16="http://schemas.microsoft.com/office/drawing/2014/main" id="{521BD50A-C490-FCA0-D203-D1FEA2027593}"/>
              </a:ext>
            </a:extLst>
          </p:cNvPr>
          <p:cNvSpPr txBox="1"/>
          <p:nvPr/>
        </p:nvSpPr>
        <p:spPr>
          <a:xfrm>
            <a:off x="7202549" y="2104634"/>
            <a:ext cx="437863" cy="4154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eaLnBrk="0" hangingPunct="0"/>
            <a:r>
              <a:rPr lang="en-US" altLang="zh-CN" sz="2100">
                <a:solidFill>
                  <a:srgbClr val="00B0F0"/>
                </a:solidFill>
                <a:latin typeface="Arial" panose="020B0604020202020204" pitchFamily="34" charset="0"/>
                <a:ea typeface="SimHei" panose="02010609060101010101" pitchFamily="49" charset="-122"/>
              </a:rPr>
              <a:t>I2</a:t>
            </a:r>
            <a:endParaRPr lang="zh-CN" altLang="en-US" sz="2100">
              <a:solidFill>
                <a:srgbClr val="00B0F0"/>
              </a:solidFill>
              <a:latin typeface="Arial" panose="020B0604020202020204" pitchFamily="34" charset="0"/>
              <a:ea typeface="SimHei" panose="02010609060101010101" pitchFamily="49" charset="-122"/>
            </a:endParaRPr>
          </a:p>
        </p:txBody>
      </p:sp>
      <p:sp>
        <p:nvSpPr>
          <p:cNvPr id="132" name="文本框 131">
            <a:extLst>
              <a:ext uri="{FF2B5EF4-FFF2-40B4-BE49-F238E27FC236}">
                <a16:creationId xmlns:a16="http://schemas.microsoft.com/office/drawing/2014/main" id="{EDFA9D18-6CAC-64D2-A1CB-307D32F292BF}"/>
              </a:ext>
            </a:extLst>
          </p:cNvPr>
          <p:cNvSpPr txBox="1"/>
          <p:nvPr/>
        </p:nvSpPr>
        <p:spPr>
          <a:xfrm>
            <a:off x="5351892" y="2117006"/>
            <a:ext cx="437863" cy="4154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eaLnBrk="0" hangingPunct="0"/>
            <a:r>
              <a:rPr lang="en-US" altLang="zh-CN" sz="2100">
                <a:solidFill>
                  <a:srgbClr val="00B0F0"/>
                </a:solidFill>
                <a:latin typeface="Arial" panose="020B0604020202020204" pitchFamily="34" charset="0"/>
                <a:ea typeface="SimHei" panose="02010609060101010101" pitchFamily="49" charset="-122"/>
              </a:rPr>
              <a:t>I3</a:t>
            </a:r>
            <a:endParaRPr lang="zh-CN" altLang="en-US" sz="2100">
              <a:solidFill>
                <a:srgbClr val="00B0F0"/>
              </a:solidFill>
              <a:latin typeface="Arial" panose="020B0604020202020204" pitchFamily="34" charset="0"/>
              <a:ea typeface="SimHei" panose="02010609060101010101" pitchFamily="49" charset="-122"/>
            </a:endParaRPr>
          </a:p>
        </p:txBody>
      </p:sp>
      <p:sp>
        <p:nvSpPr>
          <p:cNvPr id="133" name="文本框 132">
            <a:extLst>
              <a:ext uri="{FF2B5EF4-FFF2-40B4-BE49-F238E27FC236}">
                <a16:creationId xmlns:a16="http://schemas.microsoft.com/office/drawing/2014/main" id="{D9B3E616-1D32-016E-90A0-D05ECD18EEC8}"/>
              </a:ext>
            </a:extLst>
          </p:cNvPr>
          <p:cNvSpPr txBox="1"/>
          <p:nvPr/>
        </p:nvSpPr>
        <p:spPr>
          <a:xfrm>
            <a:off x="3641858" y="2717220"/>
            <a:ext cx="437863" cy="4154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eaLnBrk="0" hangingPunct="0"/>
            <a:r>
              <a:rPr lang="en-US" altLang="zh-CN" sz="2100">
                <a:solidFill>
                  <a:srgbClr val="00B0F0"/>
                </a:solidFill>
                <a:latin typeface="Arial" panose="020B0604020202020204" pitchFamily="34" charset="0"/>
                <a:ea typeface="SimHei" panose="02010609060101010101" pitchFamily="49" charset="-122"/>
              </a:rPr>
              <a:t>I4</a:t>
            </a:r>
            <a:endParaRPr lang="zh-CN" altLang="en-US" sz="2100">
              <a:solidFill>
                <a:srgbClr val="00B0F0"/>
              </a:solidFill>
              <a:latin typeface="Arial" panose="020B0604020202020204" pitchFamily="34" charset="0"/>
              <a:ea typeface="SimHei" panose="02010609060101010101" pitchFamily="49" charset="-122"/>
            </a:endParaRPr>
          </a:p>
        </p:txBody>
      </p:sp>
      <p:sp>
        <p:nvSpPr>
          <p:cNvPr id="134" name="文本框 133">
            <a:extLst>
              <a:ext uri="{FF2B5EF4-FFF2-40B4-BE49-F238E27FC236}">
                <a16:creationId xmlns:a16="http://schemas.microsoft.com/office/drawing/2014/main" id="{68909055-C64F-6CB2-B415-29160B417221}"/>
              </a:ext>
            </a:extLst>
          </p:cNvPr>
          <p:cNvSpPr txBox="1"/>
          <p:nvPr/>
        </p:nvSpPr>
        <p:spPr>
          <a:xfrm>
            <a:off x="1619985" y="2452308"/>
            <a:ext cx="437863" cy="4154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eaLnBrk="0" hangingPunct="0"/>
            <a:r>
              <a:rPr lang="en-US" altLang="zh-CN" sz="2100">
                <a:solidFill>
                  <a:srgbClr val="00B0F0"/>
                </a:solidFill>
                <a:latin typeface="Arial" panose="020B0604020202020204" pitchFamily="34" charset="0"/>
                <a:ea typeface="SimHei" panose="02010609060101010101" pitchFamily="49" charset="-122"/>
              </a:rPr>
              <a:t>I5</a:t>
            </a:r>
            <a:endParaRPr lang="zh-CN" altLang="en-US" sz="2100">
              <a:solidFill>
                <a:srgbClr val="00B0F0"/>
              </a:solidFill>
              <a:latin typeface="Arial" panose="020B0604020202020204" pitchFamily="34" charset="0"/>
              <a:ea typeface="SimHei" panose="02010609060101010101" pitchFamily="49" charset="-122"/>
            </a:endParaRPr>
          </a:p>
        </p:txBody>
      </p:sp>
      <p:sp>
        <p:nvSpPr>
          <p:cNvPr id="135" name="椭圆 134">
            <a:extLst>
              <a:ext uri="{FF2B5EF4-FFF2-40B4-BE49-F238E27FC236}">
                <a16:creationId xmlns:a16="http://schemas.microsoft.com/office/drawing/2014/main" id="{03362C6D-4242-4C55-582A-D8C190B92D0F}"/>
              </a:ext>
            </a:extLst>
          </p:cNvPr>
          <p:cNvSpPr/>
          <p:nvPr/>
        </p:nvSpPr>
        <p:spPr>
          <a:xfrm>
            <a:off x="2067742" y="5432642"/>
            <a:ext cx="613727" cy="446700"/>
          </a:xfrm>
          <a:prstGeom prst="ellipse">
            <a:avLst/>
          </a:prstGeom>
          <a:noFill/>
          <a:ln>
            <a:solidFill>
              <a:srgbClr val="0099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zh-CN" altLang="en-US">
              <a:solidFill>
                <a:srgbClr val="00B050"/>
              </a:solidFill>
            </a:endParaRPr>
          </a:p>
        </p:txBody>
      </p:sp>
      <p:cxnSp>
        <p:nvCxnSpPr>
          <p:cNvPr id="137" name="直线箭头连接符 136">
            <a:extLst>
              <a:ext uri="{FF2B5EF4-FFF2-40B4-BE49-F238E27FC236}">
                <a16:creationId xmlns:a16="http://schemas.microsoft.com/office/drawing/2014/main" id="{A6FED4EE-6FA5-674B-9C57-7DC4C2EB2225}"/>
              </a:ext>
            </a:extLst>
          </p:cNvPr>
          <p:cNvCxnSpPr>
            <a:cxnSpLocks/>
            <a:stCxn id="135" idx="7"/>
          </p:cNvCxnSpPr>
          <p:nvPr/>
        </p:nvCxnSpPr>
        <p:spPr>
          <a:xfrm flipV="1">
            <a:off x="2591591" y="5188103"/>
            <a:ext cx="493485" cy="309957"/>
          </a:xfrm>
          <a:prstGeom prst="straightConnector1">
            <a:avLst/>
          </a:prstGeom>
          <a:ln w="19050">
            <a:solidFill>
              <a:srgbClr val="0099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8" name="椭圆 137">
            <a:extLst>
              <a:ext uri="{FF2B5EF4-FFF2-40B4-BE49-F238E27FC236}">
                <a16:creationId xmlns:a16="http://schemas.microsoft.com/office/drawing/2014/main" id="{63122AFC-4577-8FFF-27AB-A782DB79D724}"/>
              </a:ext>
            </a:extLst>
          </p:cNvPr>
          <p:cNvSpPr/>
          <p:nvPr/>
        </p:nvSpPr>
        <p:spPr>
          <a:xfrm>
            <a:off x="3539176" y="2702944"/>
            <a:ext cx="613727" cy="446700"/>
          </a:xfrm>
          <a:prstGeom prst="ellipse">
            <a:avLst/>
          </a:prstGeom>
          <a:noFill/>
          <a:ln>
            <a:solidFill>
              <a:srgbClr val="0099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zh-CN" altLang="en-US">
              <a:solidFill>
                <a:srgbClr val="00B050"/>
              </a:solidFill>
            </a:endParaRPr>
          </a:p>
        </p:txBody>
      </p:sp>
      <p:cxnSp>
        <p:nvCxnSpPr>
          <p:cNvPr id="139" name="直线箭头连接符 138">
            <a:extLst>
              <a:ext uri="{FF2B5EF4-FFF2-40B4-BE49-F238E27FC236}">
                <a16:creationId xmlns:a16="http://schemas.microsoft.com/office/drawing/2014/main" id="{F24D67BF-38CC-56C3-6B78-53D61F8CE3F5}"/>
              </a:ext>
            </a:extLst>
          </p:cNvPr>
          <p:cNvCxnSpPr>
            <a:cxnSpLocks/>
            <a:stCxn id="30" idx="0"/>
            <a:endCxn id="138" idx="4"/>
          </p:cNvCxnSpPr>
          <p:nvPr/>
        </p:nvCxnSpPr>
        <p:spPr>
          <a:xfrm flipH="1" flipV="1">
            <a:off x="3846040" y="3149644"/>
            <a:ext cx="439" cy="551834"/>
          </a:xfrm>
          <a:prstGeom prst="straightConnector1">
            <a:avLst/>
          </a:prstGeom>
          <a:ln w="19050">
            <a:solidFill>
              <a:srgbClr val="0099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4" name="Text Box 119">
            <a:extLst>
              <a:ext uri="{FF2B5EF4-FFF2-40B4-BE49-F238E27FC236}">
                <a16:creationId xmlns:a16="http://schemas.microsoft.com/office/drawing/2014/main" id="{82D153B7-19B0-22BD-82E6-5D44A776D6E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453110" y="5485097"/>
            <a:ext cx="655919" cy="36931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1425" tIns="45713" rIns="91425" bIns="45713">
            <a:spAutoFit/>
          </a:bodyPr>
          <a:lstStyle>
            <a:lvl1pPr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1pPr>
            <a:lvl2pPr marL="742950" indent="-28575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2pPr>
            <a:lvl3pPr marL="11430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3pPr>
            <a:lvl4pPr marL="16002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4pPr>
            <a:lvl5pPr marL="20574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9pPr>
          </a:lstStyle>
          <a:p>
            <a:pPr fontAlgn="auto">
              <a:spcBef>
                <a:spcPts val="0"/>
              </a:spcBef>
              <a:spcAft>
                <a:spcPts val="0"/>
              </a:spcAft>
            </a:pPr>
            <a:r>
              <a:rPr lang="zh-CN" altLang="en-US" dirty="0">
                <a:solidFill>
                  <a:srgbClr val="009900"/>
                </a:solidFill>
                <a:latin typeface="+mn-lt"/>
                <a:ea typeface="+mn-ea"/>
              </a:rPr>
              <a:t>先写</a:t>
            </a:r>
            <a:endParaRPr lang="en-US" altLang="zh-CN" dirty="0">
              <a:solidFill>
                <a:srgbClr val="009900"/>
              </a:solidFill>
              <a:latin typeface="+mn-lt"/>
              <a:ea typeface="+mn-ea"/>
            </a:endParaRPr>
          </a:p>
        </p:txBody>
      </p:sp>
      <p:sp>
        <p:nvSpPr>
          <p:cNvPr id="145" name="Text Box 119">
            <a:extLst>
              <a:ext uri="{FF2B5EF4-FFF2-40B4-BE49-F238E27FC236}">
                <a16:creationId xmlns:a16="http://schemas.microsoft.com/office/drawing/2014/main" id="{F5BB5EE8-0075-C132-EFB7-DE068AC211A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92667" y="2678405"/>
            <a:ext cx="655919" cy="36931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1425" tIns="45713" rIns="91425" bIns="45713">
            <a:spAutoFit/>
          </a:bodyPr>
          <a:lstStyle>
            <a:lvl1pPr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1pPr>
            <a:lvl2pPr marL="742950" indent="-28575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2pPr>
            <a:lvl3pPr marL="11430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3pPr>
            <a:lvl4pPr marL="16002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4pPr>
            <a:lvl5pPr marL="20574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9pPr>
          </a:lstStyle>
          <a:p>
            <a:pPr fontAlgn="auto">
              <a:spcBef>
                <a:spcPts val="0"/>
              </a:spcBef>
              <a:spcAft>
                <a:spcPts val="0"/>
              </a:spcAft>
            </a:pPr>
            <a:r>
              <a:rPr lang="zh-CN" altLang="en-US" dirty="0">
                <a:solidFill>
                  <a:srgbClr val="009900"/>
                </a:solidFill>
                <a:latin typeface="+mn-lt"/>
                <a:ea typeface="+mn-ea"/>
              </a:rPr>
              <a:t>后读</a:t>
            </a:r>
            <a:endParaRPr lang="en-US" altLang="zh-CN" dirty="0">
              <a:solidFill>
                <a:srgbClr val="009900"/>
              </a:solidFill>
              <a:latin typeface="+mn-lt"/>
              <a:ea typeface="+mn-ea"/>
            </a:endParaRPr>
          </a:p>
        </p:txBody>
      </p:sp>
      <p:sp>
        <p:nvSpPr>
          <p:cNvPr id="146" name="椭圆 145">
            <a:extLst>
              <a:ext uri="{FF2B5EF4-FFF2-40B4-BE49-F238E27FC236}">
                <a16:creationId xmlns:a16="http://schemas.microsoft.com/office/drawing/2014/main" id="{63EFF83E-B271-C40C-FD93-1DF0674735C4}"/>
              </a:ext>
            </a:extLst>
          </p:cNvPr>
          <p:cNvSpPr/>
          <p:nvPr/>
        </p:nvSpPr>
        <p:spPr>
          <a:xfrm>
            <a:off x="1516712" y="2424260"/>
            <a:ext cx="613727" cy="446700"/>
          </a:xfrm>
          <a:prstGeom prst="ellipse">
            <a:avLst/>
          </a:prstGeom>
          <a:noFill/>
          <a:ln>
            <a:solidFill>
              <a:srgbClr val="0099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zh-CN" altLang="en-US">
              <a:solidFill>
                <a:srgbClr val="00B050"/>
              </a:solidFill>
            </a:endParaRPr>
          </a:p>
        </p:txBody>
      </p:sp>
      <p:cxnSp>
        <p:nvCxnSpPr>
          <p:cNvPr id="147" name="直线箭头连接符 146">
            <a:extLst>
              <a:ext uri="{FF2B5EF4-FFF2-40B4-BE49-F238E27FC236}">
                <a16:creationId xmlns:a16="http://schemas.microsoft.com/office/drawing/2014/main" id="{5723878A-5D9C-20B1-4343-C32F3B9D9757}"/>
              </a:ext>
            </a:extLst>
          </p:cNvPr>
          <p:cNvCxnSpPr>
            <a:cxnSpLocks/>
            <a:endCxn id="146" idx="2"/>
          </p:cNvCxnSpPr>
          <p:nvPr/>
        </p:nvCxnSpPr>
        <p:spPr>
          <a:xfrm>
            <a:off x="491428" y="2647610"/>
            <a:ext cx="1025284" cy="0"/>
          </a:xfrm>
          <a:prstGeom prst="straightConnector1">
            <a:avLst/>
          </a:prstGeom>
          <a:ln w="19050">
            <a:solidFill>
              <a:srgbClr val="0099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1" name="Text Box 119">
            <a:extLst>
              <a:ext uri="{FF2B5EF4-FFF2-40B4-BE49-F238E27FC236}">
                <a16:creationId xmlns:a16="http://schemas.microsoft.com/office/drawing/2014/main" id="{7F8181D9-4314-2476-7EEB-716AFAA67EE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51339" y="2622793"/>
            <a:ext cx="1396506" cy="36931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1425" tIns="45713" rIns="91425" bIns="45713">
            <a:spAutoFit/>
          </a:bodyPr>
          <a:lstStyle>
            <a:lvl1pPr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1pPr>
            <a:lvl2pPr marL="742950" indent="-28575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2pPr>
            <a:lvl3pPr marL="11430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3pPr>
            <a:lvl4pPr marL="16002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4pPr>
            <a:lvl5pPr marL="20574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9pPr>
          </a:lstStyle>
          <a:p>
            <a:pPr fontAlgn="auto">
              <a:spcBef>
                <a:spcPts val="0"/>
              </a:spcBef>
              <a:spcAft>
                <a:spcPts val="0"/>
              </a:spcAft>
            </a:pPr>
            <a:r>
              <a:rPr lang="zh-CN" altLang="en-US" dirty="0">
                <a:solidFill>
                  <a:srgbClr val="009900"/>
                </a:solidFill>
                <a:latin typeface="+mn-lt"/>
                <a:ea typeface="+mn-ea"/>
              </a:rPr>
              <a:t>下一时钟</a:t>
            </a:r>
            <a:r>
              <a:rPr lang="en-US" altLang="zh-CN" dirty="0">
                <a:solidFill>
                  <a:srgbClr val="009900"/>
                </a:solidFill>
                <a:latin typeface="+mn-lt"/>
                <a:ea typeface="+mn-ea"/>
              </a:rPr>
              <a:t>t4</a:t>
            </a:r>
            <a:r>
              <a:rPr lang="zh-CN" altLang="en-US" dirty="0">
                <a:solidFill>
                  <a:srgbClr val="009900"/>
                </a:solidFill>
                <a:latin typeface="+mn-lt"/>
                <a:ea typeface="+mn-ea"/>
              </a:rPr>
              <a:t> </a:t>
            </a:r>
            <a:endParaRPr lang="en-US" altLang="zh-CN" dirty="0">
              <a:solidFill>
                <a:srgbClr val="009900"/>
              </a:solidFill>
              <a:latin typeface="+mn-lt"/>
              <a:ea typeface="+mn-ea"/>
            </a:endParaRPr>
          </a:p>
        </p:txBody>
      </p:sp>
      <p:sp>
        <p:nvSpPr>
          <p:cNvPr id="152" name="椭圆 151">
            <a:extLst>
              <a:ext uri="{FF2B5EF4-FFF2-40B4-BE49-F238E27FC236}">
                <a16:creationId xmlns:a16="http://schemas.microsoft.com/office/drawing/2014/main" id="{F6BB698D-CA24-8193-0E6F-35B08EF4AA59}"/>
              </a:ext>
            </a:extLst>
          </p:cNvPr>
          <p:cNvSpPr/>
          <p:nvPr/>
        </p:nvSpPr>
        <p:spPr>
          <a:xfrm>
            <a:off x="5252492" y="2101020"/>
            <a:ext cx="613727" cy="446700"/>
          </a:xfrm>
          <a:prstGeom prst="ellipse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zh-CN" altLang="en-US">
              <a:solidFill>
                <a:srgbClr val="00B050"/>
              </a:solidFill>
            </a:endParaRPr>
          </a:p>
        </p:txBody>
      </p:sp>
      <p:cxnSp>
        <p:nvCxnSpPr>
          <p:cNvPr id="153" name="直线箭头连接符 152">
            <a:extLst>
              <a:ext uri="{FF2B5EF4-FFF2-40B4-BE49-F238E27FC236}">
                <a16:creationId xmlns:a16="http://schemas.microsoft.com/office/drawing/2014/main" id="{0C44F4BF-FE4D-EED3-4F09-6806DACE6256}"/>
              </a:ext>
            </a:extLst>
          </p:cNvPr>
          <p:cNvCxnSpPr>
            <a:cxnSpLocks/>
            <a:stCxn id="160" idx="2"/>
            <a:endCxn id="152" idx="6"/>
          </p:cNvCxnSpPr>
          <p:nvPr/>
        </p:nvCxnSpPr>
        <p:spPr>
          <a:xfrm flipH="1">
            <a:off x="5866219" y="2320745"/>
            <a:ext cx="1234050" cy="3625"/>
          </a:xfrm>
          <a:prstGeom prst="straightConnector1">
            <a:avLst/>
          </a:prstGeom>
          <a:ln w="19050"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4" name="Text Box 119">
            <a:extLst>
              <a:ext uri="{FF2B5EF4-FFF2-40B4-BE49-F238E27FC236}">
                <a16:creationId xmlns:a16="http://schemas.microsoft.com/office/drawing/2014/main" id="{F306F50B-28E8-1206-C7B8-AAEE091AF4F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432197" y="1748762"/>
            <a:ext cx="2103431" cy="36931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1425" tIns="45713" rIns="91425" bIns="45713">
            <a:spAutoFit/>
          </a:bodyPr>
          <a:lstStyle>
            <a:lvl1pPr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1pPr>
            <a:lvl2pPr marL="742950" indent="-28575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2pPr>
            <a:lvl3pPr marL="11430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3pPr>
            <a:lvl4pPr marL="16002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4pPr>
            <a:lvl5pPr marL="20574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9pPr>
          </a:lstStyle>
          <a:p>
            <a:pPr fontAlgn="auto">
              <a:spcBef>
                <a:spcPts val="0"/>
              </a:spcBef>
              <a:spcAft>
                <a:spcPts val="0"/>
              </a:spcAft>
            </a:pPr>
            <a:r>
              <a:rPr lang="zh-CN" altLang="en-US" dirty="0">
                <a:solidFill>
                  <a:srgbClr val="FF0000"/>
                </a:solidFill>
                <a:latin typeface="+mn-lt"/>
                <a:ea typeface="+mn-ea"/>
              </a:rPr>
              <a:t>上一时钟</a:t>
            </a:r>
            <a:r>
              <a:rPr lang="en-US" altLang="zh-CN" dirty="0">
                <a:solidFill>
                  <a:srgbClr val="FF0000"/>
                </a:solidFill>
                <a:latin typeface="+mn-lt"/>
                <a:ea typeface="+mn-ea"/>
              </a:rPr>
              <a:t>t2</a:t>
            </a:r>
            <a:r>
              <a:rPr lang="zh-CN" altLang="en-US" dirty="0">
                <a:solidFill>
                  <a:srgbClr val="FF0000"/>
                </a:solidFill>
                <a:latin typeface="+mn-lt"/>
                <a:ea typeface="+mn-ea"/>
              </a:rPr>
              <a:t>：冒险 </a:t>
            </a:r>
            <a:endParaRPr lang="en-US" altLang="zh-CN" dirty="0">
              <a:solidFill>
                <a:srgbClr val="FF0000"/>
              </a:solidFill>
              <a:latin typeface="+mn-lt"/>
              <a:ea typeface="+mn-ea"/>
            </a:endParaRPr>
          </a:p>
        </p:txBody>
      </p:sp>
      <p:sp>
        <p:nvSpPr>
          <p:cNvPr id="160" name="椭圆 159">
            <a:extLst>
              <a:ext uri="{FF2B5EF4-FFF2-40B4-BE49-F238E27FC236}">
                <a16:creationId xmlns:a16="http://schemas.microsoft.com/office/drawing/2014/main" id="{5974C577-C162-47C3-85FE-FF83ED296C3D}"/>
              </a:ext>
            </a:extLst>
          </p:cNvPr>
          <p:cNvSpPr/>
          <p:nvPr/>
        </p:nvSpPr>
        <p:spPr>
          <a:xfrm>
            <a:off x="7100269" y="2097395"/>
            <a:ext cx="613727" cy="446700"/>
          </a:xfrm>
          <a:prstGeom prst="ellipse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zh-CN" altLang="en-US">
              <a:solidFill>
                <a:srgbClr val="00B05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522462366"/>
      </p:ext>
    </p:extLst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>
            <a:extLst>
              <a:ext uri="{FF2B5EF4-FFF2-40B4-BE49-F238E27FC236}">
                <a16:creationId xmlns:a16="http://schemas.microsoft.com/office/drawing/2014/main" id="{1F2C6967-8B94-4D01-A391-022BA5503663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dirty="0"/>
              <a:t>寄存器数据冒险</a:t>
            </a:r>
            <a:r>
              <a:rPr lang="en-US" altLang="zh-CN" dirty="0"/>
              <a:t>-</a:t>
            </a:r>
            <a:r>
              <a:rPr lang="zh-CN" altLang="en-US" dirty="0"/>
              <a:t>解决方案</a:t>
            </a:r>
            <a:r>
              <a:rPr lang="en-US" altLang="zh-CN" dirty="0"/>
              <a:t>-1</a:t>
            </a:r>
            <a:endParaRPr lang="zh-CN" altLang="en-US" dirty="0"/>
          </a:p>
        </p:txBody>
      </p:sp>
      <p:sp>
        <p:nvSpPr>
          <p:cNvPr id="3" name="内容占位符 2">
            <a:extLst>
              <a:ext uri="{FF2B5EF4-FFF2-40B4-BE49-F238E27FC236}">
                <a16:creationId xmlns:a16="http://schemas.microsoft.com/office/drawing/2014/main" id="{70A3A03D-A79D-4B31-857E-63ED06DAAF98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r>
              <a:rPr lang="zh-CN" altLang="en-US" dirty="0"/>
              <a:t>流水线阻塞（</a:t>
            </a:r>
            <a:r>
              <a:rPr lang="en-US" altLang="zh-CN" dirty="0"/>
              <a:t>stall</a:t>
            </a:r>
            <a:r>
              <a:rPr lang="zh-CN" altLang="en-US" dirty="0"/>
              <a:t>）：插入</a:t>
            </a:r>
            <a:r>
              <a:rPr lang="en-US" altLang="zh-CN" dirty="0"/>
              <a:t>stall</a:t>
            </a:r>
            <a:r>
              <a:rPr lang="zh-CN" altLang="en-US" dirty="0"/>
              <a:t>等待（空白指令）</a:t>
            </a:r>
            <a:endParaRPr lang="en-US" altLang="zh-CN" dirty="0"/>
          </a:p>
          <a:p>
            <a:pPr lvl="1"/>
            <a:r>
              <a:rPr lang="zh-CN" altLang="en-US" dirty="0"/>
              <a:t>对吞吐率的影响？</a:t>
            </a:r>
          </a:p>
        </p:txBody>
      </p:sp>
      <p:sp>
        <p:nvSpPr>
          <p:cNvPr id="4" name="灯片编号占位符 3">
            <a:extLst>
              <a:ext uri="{FF2B5EF4-FFF2-40B4-BE49-F238E27FC236}">
                <a16:creationId xmlns:a16="http://schemas.microsoft.com/office/drawing/2014/main" id="{A3AD980F-A6E0-4097-8E43-967228E7148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0626FCE3-5FF9-430D-BA0B-DE80AAE71673}" type="slidenum">
              <a:rPr lang="zh-CN" altLang="en-US" smtClean="0"/>
              <a:t>21</a:t>
            </a:fld>
            <a:endParaRPr lang="zh-CN" altLang="en-US"/>
          </a:p>
        </p:txBody>
      </p:sp>
      <p:pic>
        <p:nvPicPr>
          <p:cNvPr id="5" name="图片 4">
            <a:extLst>
              <a:ext uri="{FF2B5EF4-FFF2-40B4-BE49-F238E27FC236}">
                <a16:creationId xmlns:a16="http://schemas.microsoft.com/office/drawing/2014/main" id="{6D8A1325-DD89-4A7B-A387-B67730AED6CA}"/>
              </a:ext>
            </a:extLst>
          </p:cNvPr>
          <p:cNvPicPr/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57199" y="2194560"/>
            <a:ext cx="7709397" cy="4663440"/>
          </a:xfrm>
          <a:prstGeom prst="rect">
            <a:avLst/>
          </a:prstGeom>
          <a:noFill/>
          <a:ln>
            <a:noFill/>
          </a:ln>
        </p:spPr>
      </p:pic>
      <mc:AlternateContent xmlns:mc="http://schemas.openxmlformats.org/markup-compatibility/2006" xmlns:p14="http://schemas.microsoft.com/office/powerpoint/2010/main">
        <mc:Choice Requires="p14">
          <p:contentPart p14:bwMode="auto" r:id="rId4">
            <p14:nvContentPartPr>
              <p14:cNvPr id="6" name="墨迹 5">
                <a:extLst>
                  <a:ext uri="{FF2B5EF4-FFF2-40B4-BE49-F238E27FC236}">
                    <a16:creationId xmlns:a16="http://schemas.microsoft.com/office/drawing/2014/main" id="{1E15717B-4934-0DA6-96C4-682A78FB6FA5}"/>
                  </a:ext>
                </a:extLst>
              </p14:cNvPr>
              <p14:cNvContentPartPr/>
              <p14:nvPr/>
            </p14:nvContentPartPr>
            <p14:xfrm>
              <a:off x="1449360" y="3423960"/>
              <a:ext cx="1681560" cy="2062440"/>
            </p14:xfrm>
          </p:contentPart>
        </mc:Choice>
        <mc:Fallback xmlns="">
          <p:pic>
            <p:nvPicPr>
              <p:cNvPr id="6" name="墨迹 5">
                <a:extLst>
                  <a:ext uri="{FF2B5EF4-FFF2-40B4-BE49-F238E27FC236}">
                    <a16:creationId xmlns:a16="http://schemas.microsoft.com/office/drawing/2014/main" id="{1E15717B-4934-0DA6-96C4-682A78FB6FA5}"/>
                  </a:ext>
                </a:extLst>
              </p:cNvPr>
              <p:cNvPicPr/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1440000" y="3414600"/>
                <a:ext cx="1700280" cy="208116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2863228434"/>
      </p:ext>
    </p:extLst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>
            <a:extLst>
              <a:ext uri="{FF2B5EF4-FFF2-40B4-BE49-F238E27FC236}">
                <a16:creationId xmlns:a16="http://schemas.microsoft.com/office/drawing/2014/main" id="{C6A763F3-CCFB-46D5-BD0B-AE244814389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dirty="0"/>
              <a:t>寄存器数据冒险</a:t>
            </a:r>
            <a:r>
              <a:rPr lang="en-US" altLang="zh-CN" dirty="0"/>
              <a:t>-</a:t>
            </a:r>
            <a:r>
              <a:rPr lang="zh-CN" altLang="en-US" dirty="0"/>
              <a:t>解决方案</a:t>
            </a:r>
            <a:r>
              <a:rPr lang="en-US" altLang="zh-CN" dirty="0"/>
              <a:t>-1</a:t>
            </a:r>
            <a:endParaRPr lang="zh-CN" altLang="en-US" dirty="0"/>
          </a:p>
        </p:txBody>
      </p:sp>
      <p:sp>
        <p:nvSpPr>
          <p:cNvPr id="3" name="内容占位符 2">
            <a:extLst>
              <a:ext uri="{FF2B5EF4-FFF2-40B4-BE49-F238E27FC236}">
                <a16:creationId xmlns:a16="http://schemas.microsoft.com/office/drawing/2014/main" id="{B57DB1FE-9DD3-4EF9-BC30-B45E8468142A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r>
              <a:rPr lang="zh-CN" altLang="en-US" dirty="0"/>
              <a:t>是否可以减少</a:t>
            </a:r>
            <a:r>
              <a:rPr lang="en-US" altLang="zh-CN" dirty="0"/>
              <a:t>stall</a:t>
            </a:r>
            <a:r>
              <a:rPr lang="zh-CN" altLang="en-US" dirty="0"/>
              <a:t>的周期？</a:t>
            </a:r>
            <a:endParaRPr lang="en-US" altLang="zh-CN" dirty="0"/>
          </a:p>
          <a:p>
            <a:pPr lvl="1"/>
            <a:r>
              <a:rPr lang="en-US" altLang="zh-CN" dirty="0"/>
              <a:t>r1</a:t>
            </a:r>
            <a:r>
              <a:rPr lang="zh-CN" altLang="en-US" dirty="0"/>
              <a:t>寄存器更新前已经产生！</a:t>
            </a:r>
            <a:endParaRPr lang="en-US" altLang="zh-CN" dirty="0"/>
          </a:p>
          <a:p>
            <a:endParaRPr lang="zh-CN" altLang="en-US" dirty="0"/>
          </a:p>
        </p:txBody>
      </p:sp>
      <p:sp>
        <p:nvSpPr>
          <p:cNvPr id="4" name="灯片编号占位符 3">
            <a:extLst>
              <a:ext uri="{FF2B5EF4-FFF2-40B4-BE49-F238E27FC236}">
                <a16:creationId xmlns:a16="http://schemas.microsoft.com/office/drawing/2014/main" id="{1757D23A-AD4D-480C-8568-CE84A9CD393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0626FCE3-5FF9-430D-BA0B-DE80AAE71673}" type="slidenum">
              <a:rPr lang="zh-CN" altLang="en-US" smtClean="0"/>
              <a:t>22</a:t>
            </a:fld>
            <a:endParaRPr lang="zh-CN" altLang="en-US"/>
          </a:p>
        </p:txBody>
      </p:sp>
      <p:sp>
        <p:nvSpPr>
          <p:cNvPr id="327" name="椭圆 326">
            <a:extLst>
              <a:ext uri="{FF2B5EF4-FFF2-40B4-BE49-F238E27FC236}">
                <a16:creationId xmlns:a16="http://schemas.microsoft.com/office/drawing/2014/main" id="{B3E902CC-32CD-43D2-8E8B-E331ECC0D20F}"/>
              </a:ext>
            </a:extLst>
          </p:cNvPr>
          <p:cNvSpPr/>
          <p:nvPr/>
        </p:nvSpPr>
        <p:spPr>
          <a:xfrm>
            <a:off x="1335881" y="2874169"/>
            <a:ext cx="398463" cy="398463"/>
          </a:xfrm>
          <a:prstGeom prst="ellipse">
            <a:avLst/>
          </a:prstGeom>
          <a:noFill/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29" name="椭圆 328">
            <a:extLst>
              <a:ext uri="{FF2B5EF4-FFF2-40B4-BE49-F238E27FC236}">
                <a16:creationId xmlns:a16="http://schemas.microsoft.com/office/drawing/2014/main" id="{8FA53EA6-0612-460A-9091-3E1127C4267B}"/>
              </a:ext>
            </a:extLst>
          </p:cNvPr>
          <p:cNvSpPr/>
          <p:nvPr/>
        </p:nvSpPr>
        <p:spPr>
          <a:xfrm>
            <a:off x="1611312" y="3681413"/>
            <a:ext cx="398463" cy="398463"/>
          </a:xfrm>
          <a:prstGeom prst="ellipse">
            <a:avLst/>
          </a:prstGeom>
          <a:noFill/>
          <a:ln>
            <a:solidFill>
              <a:srgbClr val="00B0F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31" name="椭圆 330">
            <a:extLst>
              <a:ext uri="{FF2B5EF4-FFF2-40B4-BE49-F238E27FC236}">
                <a16:creationId xmlns:a16="http://schemas.microsoft.com/office/drawing/2014/main" id="{4DE92B0E-8DB4-4427-B5DF-6AFE61886408}"/>
              </a:ext>
            </a:extLst>
          </p:cNvPr>
          <p:cNvSpPr/>
          <p:nvPr/>
        </p:nvSpPr>
        <p:spPr>
          <a:xfrm>
            <a:off x="1630363" y="4491038"/>
            <a:ext cx="398463" cy="398463"/>
          </a:xfrm>
          <a:prstGeom prst="ellipse">
            <a:avLst/>
          </a:prstGeom>
          <a:noFill/>
          <a:ln>
            <a:solidFill>
              <a:srgbClr val="00B0F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pic>
        <p:nvPicPr>
          <p:cNvPr id="341" name="图片 340">
            <a:extLst>
              <a:ext uri="{FF2B5EF4-FFF2-40B4-BE49-F238E27FC236}">
                <a16:creationId xmlns:a16="http://schemas.microsoft.com/office/drawing/2014/main" id="{D7EB1E2A-C88D-493E-97B6-95CB5BAC2241}"/>
              </a:ext>
            </a:extLst>
          </p:cNvPr>
          <p:cNvPicPr/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23632" y="2363458"/>
            <a:ext cx="7995084" cy="4356227"/>
          </a:xfrm>
          <a:prstGeom prst="rect">
            <a:avLst/>
          </a:prstGeom>
          <a:noFill/>
          <a:ln>
            <a:noFill/>
          </a:ln>
        </p:spPr>
      </p:pic>
      <p:cxnSp>
        <p:nvCxnSpPr>
          <p:cNvPr id="342" name="直接箭头连接符 341">
            <a:extLst>
              <a:ext uri="{FF2B5EF4-FFF2-40B4-BE49-F238E27FC236}">
                <a16:creationId xmlns:a16="http://schemas.microsoft.com/office/drawing/2014/main" id="{1BC8CCCD-05A2-42E9-8085-D066D910A4DE}"/>
              </a:ext>
            </a:extLst>
          </p:cNvPr>
          <p:cNvCxnSpPr>
            <a:cxnSpLocks/>
            <a:endCxn id="346" idx="2"/>
          </p:cNvCxnSpPr>
          <p:nvPr/>
        </p:nvCxnSpPr>
        <p:spPr>
          <a:xfrm flipV="1">
            <a:off x="4517394" y="2214831"/>
            <a:ext cx="582288" cy="1582977"/>
          </a:xfrm>
          <a:prstGeom prst="straightConnector1">
            <a:avLst/>
          </a:prstGeom>
          <a:ln w="28575">
            <a:solidFill>
              <a:srgbClr val="00B0F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47" name="直接箭头连接符 346">
            <a:extLst>
              <a:ext uri="{FF2B5EF4-FFF2-40B4-BE49-F238E27FC236}">
                <a16:creationId xmlns:a16="http://schemas.microsoft.com/office/drawing/2014/main" id="{015FC3C6-6B7B-46B7-8218-DAF3285D3C97}"/>
              </a:ext>
            </a:extLst>
          </p:cNvPr>
          <p:cNvCxnSpPr>
            <a:cxnSpLocks/>
            <a:endCxn id="346" idx="2"/>
          </p:cNvCxnSpPr>
          <p:nvPr/>
        </p:nvCxnSpPr>
        <p:spPr>
          <a:xfrm flipV="1">
            <a:off x="5099682" y="2214831"/>
            <a:ext cx="0" cy="2344977"/>
          </a:xfrm>
          <a:prstGeom prst="straightConnector1">
            <a:avLst/>
          </a:prstGeom>
          <a:ln w="28575">
            <a:solidFill>
              <a:srgbClr val="00B0F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34" name="直接箭头连接符 333">
            <a:extLst>
              <a:ext uri="{FF2B5EF4-FFF2-40B4-BE49-F238E27FC236}">
                <a16:creationId xmlns:a16="http://schemas.microsoft.com/office/drawing/2014/main" id="{8AC69877-09B8-4CA5-8C21-644033D6F77E}"/>
              </a:ext>
            </a:extLst>
          </p:cNvPr>
          <p:cNvCxnSpPr>
            <a:cxnSpLocks/>
          </p:cNvCxnSpPr>
          <p:nvPr/>
        </p:nvCxnSpPr>
        <p:spPr>
          <a:xfrm flipV="1">
            <a:off x="4364609" y="2193925"/>
            <a:ext cx="0" cy="947738"/>
          </a:xfrm>
          <a:prstGeom prst="straightConnector1">
            <a:avLst/>
          </a:prstGeom>
          <a:ln w="28575">
            <a:solidFill>
              <a:srgbClr val="00B05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38" name="文本框 337">
            <a:extLst>
              <a:ext uri="{FF2B5EF4-FFF2-40B4-BE49-F238E27FC236}">
                <a16:creationId xmlns:a16="http://schemas.microsoft.com/office/drawing/2014/main" id="{9B4F0D13-B9E1-4169-AEC1-C4004D60668D}"/>
              </a:ext>
            </a:extLst>
          </p:cNvPr>
          <p:cNvSpPr txBox="1"/>
          <p:nvPr/>
        </p:nvSpPr>
        <p:spPr>
          <a:xfrm>
            <a:off x="3571800" y="2007469"/>
            <a:ext cx="890987" cy="3693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altLang="zh-CN" dirty="0">
                <a:solidFill>
                  <a:srgbClr val="00B050"/>
                </a:solidFill>
                <a:ea typeface="SimHei" panose="02010609060101010101" pitchFamily="49" charset="-122"/>
              </a:rPr>
              <a:t>r1</a:t>
            </a:r>
            <a:r>
              <a:rPr lang="zh-CN" altLang="en-US" dirty="0">
                <a:solidFill>
                  <a:srgbClr val="00B050"/>
                </a:solidFill>
                <a:ea typeface="SimHei" panose="02010609060101010101" pitchFamily="49" charset="-122"/>
              </a:rPr>
              <a:t>产生</a:t>
            </a:r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346" name="文本框 345">
            <a:extLst>
              <a:ext uri="{FF2B5EF4-FFF2-40B4-BE49-F238E27FC236}">
                <a16:creationId xmlns:a16="http://schemas.microsoft.com/office/drawing/2014/main" id="{D416C010-ECA1-48BE-8684-3C07217245B2}"/>
              </a:ext>
            </a:extLst>
          </p:cNvPr>
          <p:cNvSpPr txBox="1"/>
          <p:nvPr/>
        </p:nvSpPr>
        <p:spPr>
          <a:xfrm>
            <a:off x="4626607" y="1845499"/>
            <a:ext cx="946150" cy="3693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zh-CN" altLang="en-US" dirty="0">
                <a:solidFill>
                  <a:srgbClr val="00B0F0"/>
                </a:solidFill>
                <a:ea typeface="SimHei" panose="02010609060101010101" pitchFamily="49" charset="-122"/>
              </a:rPr>
              <a:t>需要</a:t>
            </a:r>
            <a:r>
              <a:rPr lang="en-US" altLang="zh-CN" dirty="0">
                <a:solidFill>
                  <a:srgbClr val="00B0F0"/>
                </a:solidFill>
                <a:ea typeface="SimHei" panose="02010609060101010101" pitchFamily="49" charset="-122"/>
              </a:rPr>
              <a:t>r1</a:t>
            </a:r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349" name="文本框 348">
            <a:extLst>
              <a:ext uri="{FF2B5EF4-FFF2-40B4-BE49-F238E27FC236}">
                <a16:creationId xmlns:a16="http://schemas.microsoft.com/office/drawing/2014/main" id="{C7ABA4E2-6A3D-4C5E-AA43-9A718A925CF4}"/>
              </a:ext>
            </a:extLst>
          </p:cNvPr>
          <p:cNvSpPr txBox="1"/>
          <p:nvPr/>
        </p:nvSpPr>
        <p:spPr>
          <a:xfrm>
            <a:off x="5296598" y="1843709"/>
            <a:ext cx="2986941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zh-CN" dirty="0">
                <a:ea typeface="SimHei" panose="02010609060101010101" pitchFamily="49" charset="-122"/>
                <a:sym typeface="Wingdings" panose="05000000000000000000" pitchFamily="2" charset="2"/>
              </a:rPr>
              <a:t> </a:t>
            </a:r>
            <a:r>
              <a:rPr lang="zh-CN" altLang="en-US" dirty="0">
                <a:ea typeface="SimHei" panose="02010609060101010101" pitchFamily="49" charset="-122"/>
              </a:rPr>
              <a:t>数据产生早于计算需求</a:t>
            </a:r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3">
            <p14:nvContentPartPr>
              <p14:cNvPr id="5" name="墨迹 4">
                <a:extLst>
                  <a:ext uri="{FF2B5EF4-FFF2-40B4-BE49-F238E27FC236}">
                    <a16:creationId xmlns:a16="http://schemas.microsoft.com/office/drawing/2014/main" id="{C37C371F-47FA-C017-C44B-CC2D3519262E}"/>
                  </a:ext>
                </a:extLst>
              </p14:cNvPr>
              <p14:cNvContentPartPr/>
              <p14:nvPr/>
            </p14:nvContentPartPr>
            <p14:xfrm>
              <a:off x="4256640" y="3063240"/>
              <a:ext cx="2930760" cy="969480"/>
            </p14:xfrm>
          </p:contentPart>
        </mc:Choice>
        <mc:Fallback xmlns="">
          <p:pic>
            <p:nvPicPr>
              <p:cNvPr id="5" name="墨迹 4">
                <a:extLst>
                  <a:ext uri="{FF2B5EF4-FFF2-40B4-BE49-F238E27FC236}">
                    <a16:creationId xmlns:a16="http://schemas.microsoft.com/office/drawing/2014/main" id="{C37C371F-47FA-C017-C44B-CC2D3519262E}"/>
                  </a:ext>
                </a:extLst>
              </p:cNvPr>
              <p:cNvPicPr/>
              <p:nvPr/>
            </p:nvPicPr>
            <p:blipFill>
              <a:blip r:embed="rId4"/>
              <a:stretch>
                <a:fillRect/>
              </a:stretch>
            </p:blipFill>
            <p:spPr>
              <a:xfrm>
                <a:off x="4247280" y="3053880"/>
                <a:ext cx="2949480" cy="98820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2531054243"/>
      </p:ext>
    </p:extLst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>
            <a:extLst>
              <a:ext uri="{FF2B5EF4-FFF2-40B4-BE49-F238E27FC236}">
                <a16:creationId xmlns:a16="http://schemas.microsoft.com/office/drawing/2014/main" id="{1F2C6967-8B94-4D01-A391-022BA5503663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dirty="0"/>
              <a:t>寄存器数据冒险</a:t>
            </a:r>
            <a:r>
              <a:rPr lang="en-US" altLang="zh-CN" dirty="0"/>
              <a:t>-</a:t>
            </a:r>
            <a:r>
              <a:rPr lang="zh-CN" altLang="en-US" dirty="0"/>
              <a:t>解决方案</a:t>
            </a:r>
            <a:r>
              <a:rPr lang="en-US" altLang="zh-CN" dirty="0"/>
              <a:t>-2</a:t>
            </a:r>
            <a:endParaRPr lang="zh-CN" altLang="en-US" dirty="0"/>
          </a:p>
        </p:txBody>
      </p:sp>
      <p:sp>
        <p:nvSpPr>
          <p:cNvPr id="3" name="内容占位符 2">
            <a:extLst>
              <a:ext uri="{FF2B5EF4-FFF2-40B4-BE49-F238E27FC236}">
                <a16:creationId xmlns:a16="http://schemas.microsoft.com/office/drawing/2014/main" id="{70A3A03D-A79D-4B31-857E-63ED06DAAF98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r>
              <a:rPr lang="zh-CN" altLang="en-US" dirty="0"/>
              <a:t>流水线旁路（</a:t>
            </a:r>
            <a:r>
              <a:rPr lang="en-US" altLang="zh-CN" dirty="0"/>
              <a:t>Forward or Bypass</a:t>
            </a:r>
            <a:r>
              <a:rPr lang="zh-CN" altLang="en-US" dirty="0"/>
              <a:t>）</a:t>
            </a:r>
            <a:endParaRPr lang="en-US" altLang="zh-CN" dirty="0"/>
          </a:p>
          <a:p>
            <a:pPr lvl="1"/>
            <a:r>
              <a:rPr lang="zh-CN" altLang="en-US" dirty="0"/>
              <a:t>数据计算完成后，马上提供给后续指令使用</a:t>
            </a:r>
            <a:endParaRPr lang="en-US" altLang="zh-CN" dirty="0"/>
          </a:p>
          <a:p>
            <a:pPr lvl="1"/>
            <a:r>
              <a:rPr lang="zh-CN" altLang="en-US" dirty="0"/>
              <a:t>提前提供数据，需要额外的硬件电路支持</a:t>
            </a:r>
            <a:endParaRPr lang="en-US" altLang="zh-CN" dirty="0"/>
          </a:p>
        </p:txBody>
      </p:sp>
      <p:sp>
        <p:nvSpPr>
          <p:cNvPr id="4" name="灯片编号占位符 3">
            <a:extLst>
              <a:ext uri="{FF2B5EF4-FFF2-40B4-BE49-F238E27FC236}">
                <a16:creationId xmlns:a16="http://schemas.microsoft.com/office/drawing/2014/main" id="{A3AD980F-A6E0-4097-8E43-967228E7148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0626FCE3-5FF9-430D-BA0B-DE80AAE71673}" type="slidenum">
              <a:rPr lang="zh-CN" altLang="en-US" smtClean="0"/>
              <a:t>23</a:t>
            </a:fld>
            <a:endParaRPr lang="zh-CN" altLang="en-US"/>
          </a:p>
        </p:txBody>
      </p:sp>
      <p:grpSp>
        <p:nvGrpSpPr>
          <p:cNvPr id="5" name="组合 4">
            <a:extLst>
              <a:ext uri="{FF2B5EF4-FFF2-40B4-BE49-F238E27FC236}">
                <a16:creationId xmlns:a16="http://schemas.microsoft.com/office/drawing/2014/main" id="{1D30520C-62C2-4F88-AC91-29B15D1826A1}"/>
              </a:ext>
            </a:extLst>
          </p:cNvPr>
          <p:cNvGrpSpPr/>
          <p:nvPr/>
        </p:nvGrpSpPr>
        <p:grpSpPr>
          <a:xfrm>
            <a:off x="1021080" y="2479502"/>
            <a:ext cx="7233904" cy="4378499"/>
            <a:chOff x="1021080" y="2479502"/>
            <a:chExt cx="7233904" cy="4378499"/>
          </a:xfrm>
        </p:grpSpPr>
        <p:sp>
          <p:nvSpPr>
            <p:cNvPr id="91" name="Rectangle 87">
              <a:extLst>
                <a:ext uri="{FF2B5EF4-FFF2-40B4-BE49-F238E27FC236}">
                  <a16:creationId xmlns:a16="http://schemas.microsoft.com/office/drawing/2014/main" id="{7A95F2A8-CFF8-4A67-BF1A-EFD987F29B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69857" y="5436658"/>
              <a:ext cx="192374" cy="384748"/>
            </a:xfrm>
            <a:prstGeom prst="rect">
              <a:avLst/>
            </a:prstGeom>
            <a:solidFill>
              <a:srgbClr val="00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89" name="Rectangle 85">
              <a:extLst>
                <a:ext uri="{FF2B5EF4-FFF2-40B4-BE49-F238E27FC236}">
                  <a16:creationId xmlns:a16="http://schemas.microsoft.com/office/drawing/2014/main" id="{17C90B3E-B996-4558-8438-F1C70EDA1D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46979" y="6142560"/>
              <a:ext cx="193964" cy="386338"/>
            </a:xfrm>
            <a:prstGeom prst="rect">
              <a:avLst/>
            </a:prstGeom>
            <a:solidFill>
              <a:srgbClr val="00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8" name="AutoShape 3">
              <a:extLst>
                <a:ext uri="{FF2B5EF4-FFF2-40B4-BE49-F238E27FC236}">
                  <a16:creationId xmlns:a16="http://schemas.microsoft.com/office/drawing/2014/main" id="{30EE26AE-D7C1-4B2A-8053-644B1F87CF52}"/>
                </a:ext>
              </a:extLst>
            </p:cNvPr>
            <p:cNvSpPr>
              <a:spLocks noChangeAspect="1" noChangeArrowheads="1" noTextEdit="1"/>
            </p:cNvSpPr>
            <p:nvPr/>
          </p:nvSpPr>
          <p:spPr bwMode="auto">
            <a:xfrm>
              <a:off x="1021080" y="2479502"/>
              <a:ext cx="7233904" cy="437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9" name="Freeform 5">
              <a:extLst>
                <a:ext uri="{FF2B5EF4-FFF2-40B4-BE49-F238E27FC236}">
                  <a16:creationId xmlns:a16="http://schemas.microsoft.com/office/drawing/2014/main" id="{C9DAD577-6789-4CD5-AE20-FCF804DA7EA5}"/>
                </a:ext>
              </a:extLst>
            </p:cNvPr>
            <p:cNvSpPr>
              <a:spLocks/>
            </p:cNvSpPr>
            <p:nvPr/>
          </p:nvSpPr>
          <p:spPr bwMode="auto">
            <a:xfrm>
              <a:off x="6665115" y="6013781"/>
              <a:ext cx="279817" cy="642307"/>
            </a:xfrm>
            <a:custGeom>
              <a:avLst/>
              <a:gdLst>
                <a:gd name="T0" fmla="*/ 0 w 176"/>
                <a:gd name="T1" fmla="*/ 270 h 404"/>
                <a:gd name="T2" fmla="*/ 59 w 176"/>
                <a:gd name="T3" fmla="*/ 202 h 404"/>
                <a:gd name="T4" fmla="*/ 0 w 176"/>
                <a:gd name="T5" fmla="*/ 135 h 404"/>
                <a:gd name="T6" fmla="*/ 0 w 176"/>
                <a:gd name="T7" fmla="*/ 0 h 404"/>
                <a:gd name="T8" fmla="*/ 176 w 176"/>
                <a:gd name="T9" fmla="*/ 135 h 404"/>
                <a:gd name="T10" fmla="*/ 176 w 176"/>
                <a:gd name="T11" fmla="*/ 270 h 404"/>
                <a:gd name="T12" fmla="*/ 0 w 176"/>
                <a:gd name="T13" fmla="*/ 404 h 404"/>
                <a:gd name="T14" fmla="*/ 0 w 176"/>
                <a:gd name="T15" fmla="*/ 270 h 4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76" h="404">
                  <a:moveTo>
                    <a:pt x="0" y="270"/>
                  </a:moveTo>
                  <a:lnTo>
                    <a:pt x="59" y="202"/>
                  </a:lnTo>
                  <a:lnTo>
                    <a:pt x="0" y="135"/>
                  </a:lnTo>
                  <a:lnTo>
                    <a:pt x="0" y="0"/>
                  </a:lnTo>
                  <a:lnTo>
                    <a:pt x="176" y="135"/>
                  </a:lnTo>
                  <a:lnTo>
                    <a:pt x="176" y="270"/>
                  </a:lnTo>
                  <a:lnTo>
                    <a:pt x="0" y="404"/>
                  </a:lnTo>
                  <a:lnTo>
                    <a:pt x="0" y="270"/>
                  </a:lnTo>
                </a:path>
              </a:pathLst>
            </a:custGeom>
            <a:noFill/>
            <a:ln w="222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11" name="Rectangle 7">
              <a:extLst>
                <a:ext uri="{FF2B5EF4-FFF2-40B4-BE49-F238E27FC236}">
                  <a16:creationId xmlns:a16="http://schemas.microsoft.com/office/drawing/2014/main" id="{52E71130-E1E5-4DE2-82B5-E8DB8F1EE5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94971" y="6191846"/>
              <a:ext cx="186015" cy="20032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1300" u="none" strike="noStrike" cap="none" normalizeH="0" baseline="0" dirty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  <a:ea typeface="SimHei" panose="02010609060101010101" pitchFamily="49" charset="-122"/>
                </a:rPr>
                <a:t>IM</a:t>
              </a:r>
              <a:endParaRPr kumimoji="0" lang="zh-CN" altLang="zh-CN" sz="180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endParaRPr>
            </a:p>
          </p:txBody>
        </p:sp>
        <p:sp>
          <p:nvSpPr>
            <p:cNvPr id="12" name="Freeform 8">
              <a:extLst>
                <a:ext uri="{FF2B5EF4-FFF2-40B4-BE49-F238E27FC236}">
                  <a16:creationId xmlns:a16="http://schemas.microsoft.com/office/drawing/2014/main" id="{F14BA762-4E16-4E1C-B9CE-3FFC393FA156}"/>
                </a:ext>
              </a:extLst>
            </p:cNvPr>
            <p:cNvSpPr>
              <a:spLocks/>
            </p:cNvSpPr>
            <p:nvPr/>
          </p:nvSpPr>
          <p:spPr bwMode="auto">
            <a:xfrm>
              <a:off x="5420248" y="6142560"/>
              <a:ext cx="232121" cy="384748"/>
            </a:xfrm>
            <a:custGeom>
              <a:avLst/>
              <a:gdLst>
                <a:gd name="T0" fmla="*/ 146 w 146"/>
                <a:gd name="T1" fmla="*/ 0 h 242"/>
                <a:gd name="T2" fmla="*/ 0 w 146"/>
                <a:gd name="T3" fmla="*/ 0 h 242"/>
                <a:gd name="T4" fmla="*/ 0 w 146"/>
                <a:gd name="T5" fmla="*/ 242 h 242"/>
                <a:gd name="T6" fmla="*/ 146 w 146"/>
                <a:gd name="T7" fmla="*/ 242 h 2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46" h="242">
                  <a:moveTo>
                    <a:pt x="146" y="0"/>
                  </a:moveTo>
                  <a:lnTo>
                    <a:pt x="0" y="0"/>
                  </a:lnTo>
                  <a:lnTo>
                    <a:pt x="0" y="242"/>
                  </a:lnTo>
                  <a:lnTo>
                    <a:pt x="146" y="242"/>
                  </a:lnTo>
                </a:path>
              </a:pathLst>
            </a:custGeom>
            <a:noFill/>
            <a:ln w="222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13" name="Freeform 9">
              <a:extLst>
                <a:ext uri="{FF2B5EF4-FFF2-40B4-BE49-F238E27FC236}">
                  <a16:creationId xmlns:a16="http://schemas.microsoft.com/office/drawing/2014/main" id="{3C24A6B1-EAF3-4D90-88C5-2C0B0D867D80}"/>
                </a:ext>
              </a:extLst>
            </p:cNvPr>
            <p:cNvSpPr>
              <a:spLocks/>
            </p:cNvSpPr>
            <p:nvPr/>
          </p:nvSpPr>
          <p:spPr bwMode="auto">
            <a:xfrm>
              <a:off x="5646009" y="6142560"/>
              <a:ext cx="232121" cy="384748"/>
            </a:xfrm>
            <a:custGeom>
              <a:avLst/>
              <a:gdLst>
                <a:gd name="T0" fmla="*/ 0 w 146"/>
                <a:gd name="T1" fmla="*/ 0 h 242"/>
                <a:gd name="T2" fmla="*/ 146 w 146"/>
                <a:gd name="T3" fmla="*/ 0 h 242"/>
                <a:gd name="T4" fmla="*/ 146 w 146"/>
                <a:gd name="T5" fmla="*/ 242 h 242"/>
                <a:gd name="T6" fmla="*/ 0 w 146"/>
                <a:gd name="T7" fmla="*/ 242 h 2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46" h="242">
                  <a:moveTo>
                    <a:pt x="0" y="0"/>
                  </a:moveTo>
                  <a:lnTo>
                    <a:pt x="146" y="0"/>
                  </a:lnTo>
                  <a:lnTo>
                    <a:pt x="146" y="242"/>
                  </a:lnTo>
                  <a:lnTo>
                    <a:pt x="0" y="242"/>
                  </a:lnTo>
                </a:path>
              </a:pathLst>
            </a:custGeom>
            <a:noFill/>
            <a:ln w="222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14" name="Rectangle 10">
              <a:extLst>
                <a:ext uri="{FF2B5EF4-FFF2-40B4-BE49-F238E27FC236}">
                  <a16:creationId xmlns:a16="http://schemas.microsoft.com/office/drawing/2014/main" id="{C2A12406-077E-4C8A-BF08-4F2EEB93E4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87993" y="6198205"/>
              <a:ext cx="306845" cy="20032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1300" u="none" strike="noStrike" cap="none" normalizeH="0" baseline="0" dirty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  <a:ea typeface="SimHei" panose="02010609060101010101" pitchFamily="49" charset="-122"/>
                </a:rPr>
                <a:t>Reg</a:t>
              </a:r>
              <a:endParaRPr kumimoji="0" lang="zh-CN" altLang="zh-CN" sz="180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endParaRPr>
            </a:p>
          </p:txBody>
        </p:sp>
        <p:sp>
          <p:nvSpPr>
            <p:cNvPr id="15" name="Freeform 11">
              <a:extLst>
                <a:ext uri="{FF2B5EF4-FFF2-40B4-BE49-F238E27FC236}">
                  <a16:creationId xmlns:a16="http://schemas.microsoft.com/office/drawing/2014/main" id="{4B2F999C-441C-45D8-9146-CAE0D8447900}"/>
                </a:ext>
              </a:extLst>
            </p:cNvPr>
            <p:cNvSpPr>
              <a:spLocks/>
            </p:cNvSpPr>
            <p:nvPr/>
          </p:nvSpPr>
          <p:spPr bwMode="auto">
            <a:xfrm>
              <a:off x="6038707" y="6142560"/>
              <a:ext cx="200323" cy="384748"/>
            </a:xfrm>
            <a:custGeom>
              <a:avLst/>
              <a:gdLst>
                <a:gd name="T0" fmla="*/ 126 w 126"/>
                <a:gd name="T1" fmla="*/ 0 h 242"/>
                <a:gd name="T2" fmla="*/ 0 w 126"/>
                <a:gd name="T3" fmla="*/ 0 h 242"/>
                <a:gd name="T4" fmla="*/ 0 w 126"/>
                <a:gd name="T5" fmla="*/ 242 h 242"/>
                <a:gd name="T6" fmla="*/ 126 w 126"/>
                <a:gd name="T7" fmla="*/ 242 h 2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6" h="242">
                  <a:moveTo>
                    <a:pt x="126" y="0"/>
                  </a:moveTo>
                  <a:lnTo>
                    <a:pt x="0" y="0"/>
                  </a:lnTo>
                  <a:lnTo>
                    <a:pt x="0" y="242"/>
                  </a:lnTo>
                  <a:lnTo>
                    <a:pt x="126" y="242"/>
                  </a:lnTo>
                </a:path>
              </a:pathLst>
            </a:custGeom>
            <a:noFill/>
            <a:ln w="222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16" name="Freeform 12">
              <a:extLst>
                <a:ext uri="{FF2B5EF4-FFF2-40B4-BE49-F238E27FC236}">
                  <a16:creationId xmlns:a16="http://schemas.microsoft.com/office/drawing/2014/main" id="{A96BDB08-4A93-4065-9CB6-9B005A51D8F7}"/>
                </a:ext>
              </a:extLst>
            </p:cNvPr>
            <p:cNvSpPr>
              <a:spLocks/>
            </p:cNvSpPr>
            <p:nvPr/>
          </p:nvSpPr>
          <p:spPr bwMode="auto">
            <a:xfrm>
              <a:off x="6239030" y="6142560"/>
              <a:ext cx="192374" cy="384748"/>
            </a:xfrm>
            <a:custGeom>
              <a:avLst/>
              <a:gdLst>
                <a:gd name="T0" fmla="*/ 0 w 121"/>
                <a:gd name="T1" fmla="*/ 0 h 242"/>
                <a:gd name="T2" fmla="*/ 121 w 121"/>
                <a:gd name="T3" fmla="*/ 0 h 242"/>
                <a:gd name="T4" fmla="*/ 121 w 121"/>
                <a:gd name="T5" fmla="*/ 242 h 242"/>
                <a:gd name="T6" fmla="*/ 0 w 121"/>
                <a:gd name="T7" fmla="*/ 242 h 2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1" h="242">
                  <a:moveTo>
                    <a:pt x="0" y="0"/>
                  </a:moveTo>
                  <a:lnTo>
                    <a:pt x="121" y="0"/>
                  </a:lnTo>
                  <a:lnTo>
                    <a:pt x="121" y="242"/>
                  </a:lnTo>
                  <a:lnTo>
                    <a:pt x="0" y="242"/>
                  </a:lnTo>
                </a:path>
              </a:pathLst>
            </a:custGeom>
            <a:noFill/>
            <a:ln w="222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17" name="Line 13">
              <a:extLst>
                <a:ext uri="{FF2B5EF4-FFF2-40B4-BE49-F238E27FC236}">
                  <a16:creationId xmlns:a16="http://schemas.microsoft.com/office/drawing/2014/main" id="{81B094CA-359A-443D-9A1E-915D1AEB2CD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886079" y="6336524"/>
              <a:ext cx="152627" cy="0"/>
            </a:xfrm>
            <a:prstGeom prst="line">
              <a:avLst/>
            </a:prstGeom>
            <a:noFill/>
            <a:ln w="22225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18" name="Freeform 14">
              <a:extLst>
                <a:ext uri="{FF2B5EF4-FFF2-40B4-BE49-F238E27FC236}">
                  <a16:creationId xmlns:a16="http://schemas.microsoft.com/office/drawing/2014/main" id="{8F9EF36C-577A-4E49-805A-AE2E78BE9FA9}"/>
                </a:ext>
              </a:extLst>
            </p:cNvPr>
            <p:cNvSpPr>
              <a:spLocks/>
            </p:cNvSpPr>
            <p:nvPr/>
          </p:nvSpPr>
          <p:spPr bwMode="auto">
            <a:xfrm>
              <a:off x="5975112" y="6207745"/>
              <a:ext cx="63595" cy="127190"/>
            </a:xfrm>
            <a:custGeom>
              <a:avLst/>
              <a:gdLst>
                <a:gd name="T0" fmla="*/ 0 w 40"/>
                <a:gd name="T1" fmla="*/ 80 h 80"/>
                <a:gd name="T2" fmla="*/ 0 w 40"/>
                <a:gd name="T3" fmla="*/ 0 h 80"/>
                <a:gd name="T4" fmla="*/ 40 w 40"/>
                <a:gd name="T5" fmla="*/ 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0" h="80">
                  <a:moveTo>
                    <a:pt x="0" y="80"/>
                  </a:moveTo>
                  <a:lnTo>
                    <a:pt x="0" y="0"/>
                  </a:lnTo>
                  <a:lnTo>
                    <a:pt x="40" y="0"/>
                  </a:lnTo>
                </a:path>
              </a:pathLst>
            </a:custGeom>
            <a:noFill/>
            <a:ln w="222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19" name="Line 15">
              <a:extLst>
                <a:ext uri="{FF2B5EF4-FFF2-40B4-BE49-F238E27FC236}">
                  <a16:creationId xmlns:a16="http://schemas.microsoft.com/office/drawing/2014/main" id="{4463D99F-C26A-4363-B627-8309216A8B0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440943" y="6207745"/>
              <a:ext cx="208273" cy="0"/>
            </a:xfrm>
            <a:prstGeom prst="line">
              <a:avLst/>
            </a:prstGeom>
            <a:noFill/>
            <a:ln w="22225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20" name="Rectangle 16">
              <a:extLst>
                <a:ext uri="{FF2B5EF4-FFF2-40B4-BE49-F238E27FC236}">
                  <a16:creationId xmlns:a16="http://schemas.microsoft.com/office/drawing/2014/main" id="{EB5BD731-52DB-422C-B035-3051ECC6FD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181822" y="6191846"/>
              <a:ext cx="259149" cy="20032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1300" u="none" strike="noStrike" cap="none" normalizeH="0" baseline="0" dirty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  <a:ea typeface="SimHei" panose="02010609060101010101" pitchFamily="49" charset="-122"/>
                </a:rPr>
                <a:t>DM</a:t>
              </a:r>
              <a:endParaRPr kumimoji="0" lang="zh-CN" altLang="zh-CN" sz="180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endParaRPr>
            </a:p>
          </p:txBody>
        </p:sp>
        <p:sp>
          <p:nvSpPr>
            <p:cNvPr id="21" name="Freeform 17">
              <a:extLst>
                <a:ext uri="{FF2B5EF4-FFF2-40B4-BE49-F238E27FC236}">
                  <a16:creationId xmlns:a16="http://schemas.microsoft.com/office/drawing/2014/main" id="{BFAF313B-BD52-45B7-B178-1DA2F4A068DB}"/>
                </a:ext>
              </a:extLst>
            </p:cNvPr>
            <p:cNvSpPr>
              <a:spLocks/>
            </p:cNvSpPr>
            <p:nvPr/>
          </p:nvSpPr>
          <p:spPr bwMode="auto">
            <a:xfrm>
              <a:off x="7170693" y="6142560"/>
              <a:ext cx="216222" cy="384748"/>
            </a:xfrm>
            <a:custGeom>
              <a:avLst/>
              <a:gdLst>
                <a:gd name="T0" fmla="*/ 136 w 136"/>
                <a:gd name="T1" fmla="*/ 0 h 242"/>
                <a:gd name="T2" fmla="*/ 0 w 136"/>
                <a:gd name="T3" fmla="*/ 0 h 242"/>
                <a:gd name="T4" fmla="*/ 0 w 136"/>
                <a:gd name="T5" fmla="*/ 242 h 242"/>
                <a:gd name="T6" fmla="*/ 136 w 136"/>
                <a:gd name="T7" fmla="*/ 242 h 2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6" h="242">
                  <a:moveTo>
                    <a:pt x="136" y="0"/>
                  </a:moveTo>
                  <a:lnTo>
                    <a:pt x="0" y="0"/>
                  </a:lnTo>
                  <a:lnTo>
                    <a:pt x="0" y="242"/>
                  </a:lnTo>
                  <a:lnTo>
                    <a:pt x="136" y="242"/>
                  </a:lnTo>
                </a:path>
              </a:pathLst>
            </a:custGeom>
            <a:noFill/>
            <a:ln w="222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22" name="Freeform 18">
              <a:extLst>
                <a:ext uri="{FF2B5EF4-FFF2-40B4-BE49-F238E27FC236}">
                  <a16:creationId xmlns:a16="http://schemas.microsoft.com/office/drawing/2014/main" id="{91A18D1F-F4DE-41B6-ABDD-D56FCBCA78CE}"/>
                </a:ext>
              </a:extLst>
            </p:cNvPr>
            <p:cNvSpPr>
              <a:spLocks/>
            </p:cNvSpPr>
            <p:nvPr/>
          </p:nvSpPr>
          <p:spPr bwMode="auto">
            <a:xfrm>
              <a:off x="7388505" y="6142560"/>
              <a:ext cx="222582" cy="384748"/>
            </a:xfrm>
            <a:custGeom>
              <a:avLst/>
              <a:gdLst>
                <a:gd name="T0" fmla="*/ 0 w 140"/>
                <a:gd name="T1" fmla="*/ 0 h 242"/>
                <a:gd name="T2" fmla="*/ 140 w 140"/>
                <a:gd name="T3" fmla="*/ 0 h 242"/>
                <a:gd name="T4" fmla="*/ 140 w 140"/>
                <a:gd name="T5" fmla="*/ 242 h 242"/>
                <a:gd name="T6" fmla="*/ 0 w 140"/>
                <a:gd name="T7" fmla="*/ 242 h 2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40" h="242">
                  <a:moveTo>
                    <a:pt x="0" y="0"/>
                  </a:moveTo>
                  <a:lnTo>
                    <a:pt x="140" y="0"/>
                  </a:lnTo>
                  <a:lnTo>
                    <a:pt x="140" y="242"/>
                  </a:lnTo>
                  <a:lnTo>
                    <a:pt x="0" y="242"/>
                  </a:lnTo>
                </a:path>
              </a:pathLst>
            </a:custGeom>
            <a:noFill/>
            <a:ln w="222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23" name="Rectangle 19">
              <a:extLst>
                <a:ext uri="{FF2B5EF4-FFF2-40B4-BE49-F238E27FC236}">
                  <a16:creationId xmlns:a16="http://schemas.microsoft.com/office/drawing/2014/main" id="{8E9879FF-B824-408D-B127-12A36BE210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840028" y="6191846"/>
              <a:ext cx="306845" cy="20032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1300" u="none" strike="noStrike" cap="none" normalizeH="0" baseline="0" dirty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  <a:ea typeface="SimHei" panose="02010609060101010101" pitchFamily="49" charset="-122"/>
                </a:rPr>
                <a:t>Reg</a:t>
              </a:r>
              <a:endParaRPr kumimoji="0" lang="zh-CN" altLang="zh-CN" sz="180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endParaRPr>
            </a:p>
          </p:txBody>
        </p:sp>
        <p:sp>
          <p:nvSpPr>
            <p:cNvPr id="24" name="Freeform 20">
              <a:extLst>
                <a:ext uri="{FF2B5EF4-FFF2-40B4-BE49-F238E27FC236}">
                  <a16:creationId xmlns:a16="http://schemas.microsoft.com/office/drawing/2014/main" id="{BB3DB065-237A-4727-A932-44D3D8F130B8}"/>
                </a:ext>
              </a:extLst>
            </p:cNvPr>
            <p:cNvSpPr>
              <a:spLocks/>
            </p:cNvSpPr>
            <p:nvPr/>
          </p:nvSpPr>
          <p:spPr bwMode="auto">
            <a:xfrm>
              <a:off x="7797102" y="6142560"/>
              <a:ext cx="192374" cy="384748"/>
            </a:xfrm>
            <a:custGeom>
              <a:avLst/>
              <a:gdLst>
                <a:gd name="T0" fmla="*/ 121 w 121"/>
                <a:gd name="T1" fmla="*/ 0 h 242"/>
                <a:gd name="T2" fmla="*/ 0 w 121"/>
                <a:gd name="T3" fmla="*/ 0 h 242"/>
                <a:gd name="T4" fmla="*/ 0 w 121"/>
                <a:gd name="T5" fmla="*/ 242 h 242"/>
                <a:gd name="T6" fmla="*/ 121 w 121"/>
                <a:gd name="T7" fmla="*/ 242 h 2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1" h="242">
                  <a:moveTo>
                    <a:pt x="121" y="0"/>
                  </a:moveTo>
                  <a:lnTo>
                    <a:pt x="0" y="0"/>
                  </a:lnTo>
                  <a:lnTo>
                    <a:pt x="0" y="242"/>
                  </a:lnTo>
                  <a:lnTo>
                    <a:pt x="121" y="242"/>
                  </a:lnTo>
                </a:path>
              </a:pathLst>
            </a:custGeom>
            <a:noFill/>
            <a:ln w="222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25" name="Freeform 21">
              <a:extLst>
                <a:ext uri="{FF2B5EF4-FFF2-40B4-BE49-F238E27FC236}">
                  <a16:creationId xmlns:a16="http://schemas.microsoft.com/office/drawing/2014/main" id="{3DCF469A-B174-4A19-91C3-2E7DB10E3D31}"/>
                </a:ext>
              </a:extLst>
            </p:cNvPr>
            <p:cNvSpPr>
              <a:spLocks/>
            </p:cNvSpPr>
            <p:nvPr/>
          </p:nvSpPr>
          <p:spPr bwMode="auto">
            <a:xfrm>
              <a:off x="7989476" y="6142560"/>
              <a:ext cx="192374" cy="384748"/>
            </a:xfrm>
            <a:custGeom>
              <a:avLst/>
              <a:gdLst>
                <a:gd name="T0" fmla="*/ 0 w 121"/>
                <a:gd name="T1" fmla="*/ 0 h 242"/>
                <a:gd name="T2" fmla="*/ 121 w 121"/>
                <a:gd name="T3" fmla="*/ 0 h 242"/>
                <a:gd name="T4" fmla="*/ 121 w 121"/>
                <a:gd name="T5" fmla="*/ 242 h 242"/>
                <a:gd name="T6" fmla="*/ 0 w 121"/>
                <a:gd name="T7" fmla="*/ 242 h 2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1" h="242">
                  <a:moveTo>
                    <a:pt x="0" y="0"/>
                  </a:moveTo>
                  <a:lnTo>
                    <a:pt x="121" y="0"/>
                  </a:lnTo>
                  <a:lnTo>
                    <a:pt x="121" y="242"/>
                  </a:lnTo>
                  <a:lnTo>
                    <a:pt x="0" y="242"/>
                  </a:lnTo>
                </a:path>
              </a:pathLst>
            </a:custGeom>
            <a:noFill/>
            <a:ln w="222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26" name="Line 22">
              <a:extLst>
                <a:ext uri="{FF2B5EF4-FFF2-40B4-BE49-F238E27FC236}">
                  <a16:creationId xmlns:a16="http://schemas.microsoft.com/office/drawing/2014/main" id="{FF6DEF45-32E3-4087-97F5-19052C887C8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604728" y="6336524"/>
              <a:ext cx="184425" cy="0"/>
            </a:xfrm>
            <a:prstGeom prst="line">
              <a:avLst/>
            </a:prstGeom>
            <a:noFill/>
            <a:ln w="22225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27" name="Line 23">
              <a:extLst>
                <a:ext uri="{FF2B5EF4-FFF2-40B4-BE49-F238E27FC236}">
                  <a16:creationId xmlns:a16="http://schemas.microsoft.com/office/drawing/2014/main" id="{6C2F9618-09D3-4921-9CDD-47ADEF54F15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954471" y="6336524"/>
              <a:ext cx="208273" cy="0"/>
            </a:xfrm>
            <a:prstGeom prst="line">
              <a:avLst/>
            </a:prstGeom>
            <a:noFill/>
            <a:ln w="22225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28" name="Line 24">
              <a:extLst>
                <a:ext uri="{FF2B5EF4-FFF2-40B4-BE49-F238E27FC236}">
                  <a16:creationId xmlns:a16="http://schemas.microsoft.com/office/drawing/2014/main" id="{0CA6CE31-98A8-4005-AC41-8A910A37023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440943" y="6463714"/>
              <a:ext cx="208273" cy="0"/>
            </a:xfrm>
            <a:prstGeom prst="line">
              <a:avLst/>
            </a:prstGeom>
            <a:noFill/>
            <a:ln w="22225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29" name="Line 25">
              <a:extLst>
                <a:ext uri="{FF2B5EF4-FFF2-40B4-BE49-F238E27FC236}">
                  <a16:creationId xmlns:a16="http://schemas.microsoft.com/office/drawing/2014/main" id="{C36C9F8D-6BD5-4276-95F0-89272BC0A8B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552234" y="6463714"/>
              <a:ext cx="0" cy="257559"/>
            </a:xfrm>
            <a:prstGeom prst="line">
              <a:avLst/>
            </a:prstGeom>
            <a:noFill/>
            <a:ln w="23813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30" name="Line 26">
              <a:extLst>
                <a:ext uri="{FF2B5EF4-FFF2-40B4-BE49-F238E27FC236}">
                  <a16:creationId xmlns:a16="http://schemas.microsoft.com/office/drawing/2014/main" id="{43B4EBEA-BE7E-4B0D-A6B9-A4F26AE001F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552234" y="6721272"/>
              <a:ext cx="449933" cy="0"/>
            </a:xfrm>
            <a:prstGeom prst="line">
              <a:avLst/>
            </a:prstGeom>
            <a:noFill/>
            <a:ln w="23813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31" name="Line 27">
              <a:extLst>
                <a:ext uri="{FF2B5EF4-FFF2-40B4-BE49-F238E27FC236}">
                  <a16:creationId xmlns:a16="http://schemas.microsoft.com/office/drawing/2014/main" id="{129F68C1-D300-45A1-A119-03642B6C058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002167" y="6336524"/>
              <a:ext cx="0" cy="384748"/>
            </a:xfrm>
            <a:prstGeom prst="line">
              <a:avLst/>
            </a:prstGeom>
            <a:noFill/>
            <a:ln w="23813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32" name="Line 28">
              <a:extLst>
                <a:ext uri="{FF2B5EF4-FFF2-40B4-BE49-F238E27FC236}">
                  <a16:creationId xmlns:a16="http://schemas.microsoft.com/office/drawing/2014/main" id="{8BF118BE-31A2-41DC-9237-2AE87527FD3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107099" y="6336524"/>
              <a:ext cx="0" cy="321154"/>
            </a:xfrm>
            <a:prstGeom prst="line">
              <a:avLst/>
            </a:prstGeom>
            <a:noFill/>
            <a:ln w="23813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33" name="Line 29">
              <a:extLst>
                <a:ext uri="{FF2B5EF4-FFF2-40B4-BE49-F238E27FC236}">
                  <a16:creationId xmlns:a16="http://schemas.microsoft.com/office/drawing/2014/main" id="{9D9F774B-89ED-4EE8-A2EA-61A16F52B0E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107099" y="6657678"/>
              <a:ext cx="577122" cy="0"/>
            </a:xfrm>
            <a:prstGeom prst="line">
              <a:avLst/>
            </a:prstGeom>
            <a:noFill/>
            <a:ln w="23813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34" name="Line 30">
              <a:extLst>
                <a:ext uri="{FF2B5EF4-FFF2-40B4-BE49-F238E27FC236}">
                  <a16:creationId xmlns:a16="http://schemas.microsoft.com/office/drawing/2014/main" id="{ADB9D736-C435-4087-884B-51F5ADFA412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684221" y="6336524"/>
              <a:ext cx="0" cy="321154"/>
            </a:xfrm>
            <a:prstGeom prst="line">
              <a:avLst/>
            </a:prstGeom>
            <a:noFill/>
            <a:ln w="23813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35" name="Freeform 31">
              <a:extLst>
                <a:ext uri="{FF2B5EF4-FFF2-40B4-BE49-F238E27FC236}">
                  <a16:creationId xmlns:a16="http://schemas.microsoft.com/office/drawing/2014/main" id="{C8AE8F3B-E6DF-4A21-82B8-2B1908636EB3}"/>
                </a:ext>
              </a:extLst>
            </p:cNvPr>
            <p:cNvSpPr>
              <a:spLocks/>
            </p:cNvSpPr>
            <p:nvPr/>
          </p:nvSpPr>
          <p:spPr bwMode="auto">
            <a:xfrm>
              <a:off x="6078453" y="5307879"/>
              <a:ext cx="289356" cy="640717"/>
            </a:xfrm>
            <a:custGeom>
              <a:avLst/>
              <a:gdLst>
                <a:gd name="T0" fmla="*/ 0 w 182"/>
                <a:gd name="T1" fmla="*/ 269 h 403"/>
                <a:gd name="T2" fmla="*/ 61 w 182"/>
                <a:gd name="T3" fmla="*/ 202 h 403"/>
                <a:gd name="T4" fmla="*/ 0 w 182"/>
                <a:gd name="T5" fmla="*/ 134 h 403"/>
                <a:gd name="T6" fmla="*/ 0 w 182"/>
                <a:gd name="T7" fmla="*/ 0 h 403"/>
                <a:gd name="T8" fmla="*/ 182 w 182"/>
                <a:gd name="T9" fmla="*/ 134 h 403"/>
                <a:gd name="T10" fmla="*/ 182 w 182"/>
                <a:gd name="T11" fmla="*/ 269 h 403"/>
                <a:gd name="T12" fmla="*/ 0 w 182"/>
                <a:gd name="T13" fmla="*/ 403 h 403"/>
                <a:gd name="T14" fmla="*/ 0 w 182"/>
                <a:gd name="T15" fmla="*/ 269 h 4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82" h="403">
                  <a:moveTo>
                    <a:pt x="0" y="269"/>
                  </a:moveTo>
                  <a:lnTo>
                    <a:pt x="61" y="202"/>
                  </a:lnTo>
                  <a:lnTo>
                    <a:pt x="0" y="134"/>
                  </a:lnTo>
                  <a:lnTo>
                    <a:pt x="0" y="0"/>
                  </a:lnTo>
                  <a:lnTo>
                    <a:pt x="182" y="134"/>
                  </a:lnTo>
                  <a:lnTo>
                    <a:pt x="182" y="269"/>
                  </a:lnTo>
                  <a:lnTo>
                    <a:pt x="0" y="403"/>
                  </a:lnTo>
                  <a:lnTo>
                    <a:pt x="0" y="269"/>
                  </a:lnTo>
                </a:path>
              </a:pathLst>
            </a:custGeom>
            <a:noFill/>
            <a:ln w="222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37" name="Rectangle 33">
              <a:extLst>
                <a:ext uri="{FF2B5EF4-FFF2-40B4-BE49-F238E27FC236}">
                  <a16:creationId xmlns:a16="http://schemas.microsoft.com/office/drawing/2014/main" id="{69D681BB-33F1-47AD-9CE5-15734F7735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14669" y="5484354"/>
              <a:ext cx="186015" cy="20032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1300" u="none" strike="noStrike" cap="none" normalizeH="0" baseline="0" dirty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  <a:ea typeface="SimHei" panose="02010609060101010101" pitchFamily="49" charset="-122"/>
                </a:rPr>
                <a:t>IM</a:t>
              </a:r>
              <a:endParaRPr kumimoji="0" lang="zh-CN" altLang="zh-CN" sz="180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endParaRPr>
            </a:p>
          </p:txBody>
        </p:sp>
        <p:sp>
          <p:nvSpPr>
            <p:cNvPr id="38" name="Freeform 34">
              <a:extLst>
                <a:ext uri="{FF2B5EF4-FFF2-40B4-BE49-F238E27FC236}">
                  <a16:creationId xmlns:a16="http://schemas.microsoft.com/office/drawing/2014/main" id="{3E20DA51-7D79-4225-B07E-9D059C1B0F3A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3125" y="5436658"/>
              <a:ext cx="222582" cy="384748"/>
            </a:xfrm>
            <a:custGeom>
              <a:avLst/>
              <a:gdLst>
                <a:gd name="T0" fmla="*/ 140 w 140"/>
                <a:gd name="T1" fmla="*/ 0 h 242"/>
                <a:gd name="T2" fmla="*/ 0 w 140"/>
                <a:gd name="T3" fmla="*/ 0 h 242"/>
                <a:gd name="T4" fmla="*/ 0 w 140"/>
                <a:gd name="T5" fmla="*/ 242 h 242"/>
                <a:gd name="T6" fmla="*/ 140 w 140"/>
                <a:gd name="T7" fmla="*/ 242 h 2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40" h="242">
                  <a:moveTo>
                    <a:pt x="140" y="0"/>
                  </a:moveTo>
                  <a:lnTo>
                    <a:pt x="0" y="0"/>
                  </a:lnTo>
                  <a:lnTo>
                    <a:pt x="0" y="242"/>
                  </a:lnTo>
                  <a:lnTo>
                    <a:pt x="140" y="242"/>
                  </a:lnTo>
                </a:path>
              </a:pathLst>
            </a:custGeom>
            <a:noFill/>
            <a:ln w="222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39" name="Freeform 35">
              <a:extLst>
                <a:ext uri="{FF2B5EF4-FFF2-40B4-BE49-F238E27FC236}">
                  <a16:creationId xmlns:a16="http://schemas.microsoft.com/office/drawing/2014/main" id="{A736328E-628C-4CF9-873E-0E28DDAC34FF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7297" y="5436658"/>
              <a:ext cx="232121" cy="384748"/>
            </a:xfrm>
            <a:custGeom>
              <a:avLst/>
              <a:gdLst>
                <a:gd name="T0" fmla="*/ 0 w 146"/>
                <a:gd name="T1" fmla="*/ 0 h 242"/>
                <a:gd name="T2" fmla="*/ 146 w 146"/>
                <a:gd name="T3" fmla="*/ 0 h 242"/>
                <a:gd name="T4" fmla="*/ 146 w 146"/>
                <a:gd name="T5" fmla="*/ 242 h 242"/>
                <a:gd name="T6" fmla="*/ 0 w 146"/>
                <a:gd name="T7" fmla="*/ 242 h 2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46" h="242">
                  <a:moveTo>
                    <a:pt x="0" y="0"/>
                  </a:moveTo>
                  <a:lnTo>
                    <a:pt x="146" y="0"/>
                  </a:lnTo>
                  <a:lnTo>
                    <a:pt x="146" y="242"/>
                  </a:lnTo>
                  <a:lnTo>
                    <a:pt x="0" y="242"/>
                  </a:lnTo>
                </a:path>
              </a:pathLst>
            </a:custGeom>
            <a:noFill/>
            <a:ln w="222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40" name="Rectangle 36">
              <a:extLst>
                <a:ext uri="{FF2B5EF4-FFF2-40B4-BE49-F238E27FC236}">
                  <a16:creationId xmlns:a16="http://schemas.microsoft.com/office/drawing/2014/main" id="{50273335-DA5B-4010-90C6-F7BC697ED4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09280" y="5490714"/>
              <a:ext cx="306845" cy="20032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1300" u="none" strike="noStrike" cap="none" normalizeH="0" baseline="0" dirty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  <a:ea typeface="SimHei" panose="02010609060101010101" pitchFamily="49" charset="-122"/>
                </a:rPr>
                <a:t>Reg</a:t>
              </a:r>
              <a:endParaRPr kumimoji="0" lang="zh-CN" altLang="zh-CN" sz="180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endParaRPr>
            </a:p>
          </p:txBody>
        </p:sp>
        <p:sp>
          <p:nvSpPr>
            <p:cNvPr id="41" name="Freeform 37">
              <a:extLst>
                <a:ext uri="{FF2B5EF4-FFF2-40B4-BE49-F238E27FC236}">
                  <a16:creationId xmlns:a16="http://schemas.microsoft.com/office/drawing/2014/main" id="{36E46226-65A9-408E-AFEE-DC5D5E583D2B}"/>
                </a:ext>
              </a:extLst>
            </p:cNvPr>
            <p:cNvSpPr>
              <a:spLocks/>
            </p:cNvSpPr>
            <p:nvPr/>
          </p:nvSpPr>
          <p:spPr bwMode="auto">
            <a:xfrm>
              <a:off x="5461584" y="5436658"/>
              <a:ext cx="198734" cy="384748"/>
            </a:xfrm>
            <a:custGeom>
              <a:avLst/>
              <a:gdLst>
                <a:gd name="T0" fmla="*/ 125 w 125"/>
                <a:gd name="T1" fmla="*/ 0 h 242"/>
                <a:gd name="T2" fmla="*/ 0 w 125"/>
                <a:gd name="T3" fmla="*/ 0 h 242"/>
                <a:gd name="T4" fmla="*/ 0 w 125"/>
                <a:gd name="T5" fmla="*/ 242 h 242"/>
                <a:gd name="T6" fmla="*/ 125 w 125"/>
                <a:gd name="T7" fmla="*/ 242 h 2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5" h="242">
                  <a:moveTo>
                    <a:pt x="125" y="0"/>
                  </a:moveTo>
                  <a:lnTo>
                    <a:pt x="0" y="0"/>
                  </a:lnTo>
                  <a:lnTo>
                    <a:pt x="0" y="242"/>
                  </a:lnTo>
                  <a:lnTo>
                    <a:pt x="125" y="242"/>
                  </a:lnTo>
                </a:path>
              </a:pathLst>
            </a:custGeom>
            <a:noFill/>
            <a:ln w="222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42" name="Freeform 38">
              <a:extLst>
                <a:ext uri="{FF2B5EF4-FFF2-40B4-BE49-F238E27FC236}">
                  <a16:creationId xmlns:a16="http://schemas.microsoft.com/office/drawing/2014/main" id="{CB8C5A9B-4546-470D-AB23-CFCEC746E20F}"/>
                </a:ext>
              </a:extLst>
            </p:cNvPr>
            <p:cNvSpPr>
              <a:spLocks/>
            </p:cNvSpPr>
            <p:nvPr/>
          </p:nvSpPr>
          <p:spPr bwMode="auto">
            <a:xfrm>
              <a:off x="5653958" y="5436658"/>
              <a:ext cx="198734" cy="384748"/>
            </a:xfrm>
            <a:custGeom>
              <a:avLst/>
              <a:gdLst>
                <a:gd name="T0" fmla="*/ 0 w 125"/>
                <a:gd name="T1" fmla="*/ 0 h 242"/>
                <a:gd name="T2" fmla="*/ 125 w 125"/>
                <a:gd name="T3" fmla="*/ 0 h 242"/>
                <a:gd name="T4" fmla="*/ 125 w 125"/>
                <a:gd name="T5" fmla="*/ 242 h 242"/>
                <a:gd name="T6" fmla="*/ 0 w 125"/>
                <a:gd name="T7" fmla="*/ 242 h 2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5" h="242">
                  <a:moveTo>
                    <a:pt x="0" y="0"/>
                  </a:moveTo>
                  <a:lnTo>
                    <a:pt x="125" y="0"/>
                  </a:lnTo>
                  <a:lnTo>
                    <a:pt x="125" y="242"/>
                  </a:lnTo>
                  <a:lnTo>
                    <a:pt x="0" y="242"/>
                  </a:lnTo>
                </a:path>
              </a:pathLst>
            </a:custGeom>
            <a:noFill/>
            <a:ln w="222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43" name="Line 39">
              <a:extLst>
                <a:ext uri="{FF2B5EF4-FFF2-40B4-BE49-F238E27FC236}">
                  <a16:creationId xmlns:a16="http://schemas.microsoft.com/office/drawing/2014/main" id="{7E1D6035-A4B2-41BE-804F-A3BB53F9366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308957" y="5629032"/>
              <a:ext cx="152627" cy="0"/>
            </a:xfrm>
            <a:prstGeom prst="line">
              <a:avLst/>
            </a:prstGeom>
            <a:noFill/>
            <a:ln w="22225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44" name="Freeform 40">
              <a:extLst>
                <a:ext uri="{FF2B5EF4-FFF2-40B4-BE49-F238E27FC236}">
                  <a16:creationId xmlns:a16="http://schemas.microsoft.com/office/drawing/2014/main" id="{A073465E-A1F9-4833-AFB6-4046E685B539}"/>
                </a:ext>
              </a:extLst>
            </p:cNvPr>
            <p:cNvSpPr>
              <a:spLocks/>
            </p:cNvSpPr>
            <p:nvPr/>
          </p:nvSpPr>
          <p:spPr bwMode="auto">
            <a:xfrm>
              <a:off x="5396400" y="5500253"/>
              <a:ext cx="63595" cy="127190"/>
            </a:xfrm>
            <a:custGeom>
              <a:avLst/>
              <a:gdLst>
                <a:gd name="T0" fmla="*/ 0 w 40"/>
                <a:gd name="T1" fmla="*/ 80 h 80"/>
                <a:gd name="T2" fmla="*/ 0 w 40"/>
                <a:gd name="T3" fmla="*/ 0 h 80"/>
                <a:gd name="T4" fmla="*/ 40 w 40"/>
                <a:gd name="T5" fmla="*/ 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0" h="80">
                  <a:moveTo>
                    <a:pt x="0" y="80"/>
                  </a:moveTo>
                  <a:lnTo>
                    <a:pt x="0" y="0"/>
                  </a:lnTo>
                  <a:lnTo>
                    <a:pt x="40" y="0"/>
                  </a:lnTo>
                </a:path>
              </a:pathLst>
            </a:custGeom>
            <a:noFill/>
            <a:ln w="222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45" name="Line 41">
              <a:extLst>
                <a:ext uri="{FF2B5EF4-FFF2-40B4-BE49-F238E27FC236}">
                  <a16:creationId xmlns:a16="http://schemas.microsoft.com/office/drawing/2014/main" id="{07A91C83-EEBE-4421-A166-A78BCD82633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862231" y="5500253"/>
              <a:ext cx="208273" cy="0"/>
            </a:xfrm>
            <a:prstGeom prst="line">
              <a:avLst/>
            </a:prstGeom>
            <a:noFill/>
            <a:ln w="22225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46" name="Rectangle 42">
              <a:extLst>
                <a:ext uri="{FF2B5EF4-FFF2-40B4-BE49-F238E27FC236}">
                  <a16:creationId xmlns:a16="http://schemas.microsoft.com/office/drawing/2014/main" id="{D5F3093F-7F66-449A-9A62-472FAFBEAC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603110" y="5484354"/>
              <a:ext cx="259149" cy="20032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1300" u="none" strike="noStrike" cap="none" normalizeH="0" baseline="0" dirty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  <a:ea typeface="SimHei" panose="02010609060101010101" pitchFamily="49" charset="-122"/>
                </a:rPr>
                <a:t>DM</a:t>
              </a:r>
              <a:endParaRPr kumimoji="0" lang="zh-CN" altLang="zh-CN" sz="180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endParaRPr>
            </a:p>
          </p:txBody>
        </p:sp>
        <p:sp>
          <p:nvSpPr>
            <p:cNvPr id="47" name="Freeform 43">
              <a:extLst>
                <a:ext uri="{FF2B5EF4-FFF2-40B4-BE49-F238E27FC236}">
                  <a16:creationId xmlns:a16="http://schemas.microsoft.com/office/drawing/2014/main" id="{878FE3B6-BCAF-43DA-AD77-9F5BD90D7EA6}"/>
                </a:ext>
              </a:extLst>
            </p:cNvPr>
            <p:cNvSpPr>
              <a:spLocks/>
            </p:cNvSpPr>
            <p:nvPr/>
          </p:nvSpPr>
          <p:spPr bwMode="auto">
            <a:xfrm>
              <a:off x="6593571" y="5436658"/>
              <a:ext cx="214632" cy="384748"/>
            </a:xfrm>
            <a:custGeom>
              <a:avLst/>
              <a:gdLst>
                <a:gd name="T0" fmla="*/ 135 w 135"/>
                <a:gd name="T1" fmla="*/ 0 h 242"/>
                <a:gd name="T2" fmla="*/ 0 w 135"/>
                <a:gd name="T3" fmla="*/ 0 h 242"/>
                <a:gd name="T4" fmla="*/ 0 w 135"/>
                <a:gd name="T5" fmla="*/ 242 h 242"/>
                <a:gd name="T6" fmla="*/ 135 w 135"/>
                <a:gd name="T7" fmla="*/ 242 h 2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5" h="242">
                  <a:moveTo>
                    <a:pt x="135" y="0"/>
                  </a:moveTo>
                  <a:lnTo>
                    <a:pt x="0" y="0"/>
                  </a:lnTo>
                  <a:lnTo>
                    <a:pt x="0" y="242"/>
                  </a:lnTo>
                  <a:lnTo>
                    <a:pt x="135" y="242"/>
                  </a:lnTo>
                </a:path>
              </a:pathLst>
            </a:custGeom>
            <a:noFill/>
            <a:ln w="222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48" name="Freeform 44">
              <a:extLst>
                <a:ext uri="{FF2B5EF4-FFF2-40B4-BE49-F238E27FC236}">
                  <a16:creationId xmlns:a16="http://schemas.microsoft.com/office/drawing/2014/main" id="{B59AAA0D-365B-4D2F-81E4-AB5E57AACAC6}"/>
                </a:ext>
              </a:extLst>
            </p:cNvPr>
            <p:cNvSpPr>
              <a:spLocks/>
            </p:cNvSpPr>
            <p:nvPr/>
          </p:nvSpPr>
          <p:spPr bwMode="auto">
            <a:xfrm>
              <a:off x="6809793" y="5436658"/>
              <a:ext cx="216222" cy="384748"/>
            </a:xfrm>
            <a:custGeom>
              <a:avLst/>
              <a:gdLst>
                <a:gd name="T0" fmla="*/ 0 w 136"/>
                <a:gd name="T1" fmla="*/ 0 h 242"/>
                <a:gd name="T2" fmla="*/ 136 w 136"/>
                <a:gd name="T3" fmla="*/ 0 h 242"/>
                <a:gd name="T4" fmla="*/ 136 w 136"/>
                <a:gd name="T5" fmla="*/ 242 h 242"/>
                <a:gd name="T6" fmla="*/ 0 w 136"/>
                <a:gd name="T7" fmla="*/ 242 h 2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6" h="242">
                  <a:moveTo>
                    <a:pt x="0" y="0"/>
                  </a:moveTo>
                  <a:lnTo>
                    <a:pt x="136" y="0"/>
                  </a:lnTo>
                  <a:lnTo>
                    <a:pt x="136" y="242"/>
                  </a:lnTo>
                  <a:lnTo>
                    <a:pt x="0" y="242"/>
                  </a:lnTo>
                </a:path>
              </a:pathLst>
            </a:custGeom>
            <a:noFill/>
            <a:ln w="222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49" name="Rectangle 45">
              <a:extLst>
                <a:ext uri="{FF2B5EF4-FFF2-40B4-BE49-F238E27FC236}">
                  <a16:creationId xmlns:a16="http://schemas.microsoft.com/office/drawing/2014/main" id="{2BD03237-7E71-4EE3-A0AB-0A2FBA6DFA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61316" y="5484354"/>
              <a:ext cx="306845" cy="20032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1300" u="none" strike="noStrike" cap="none" normalizeH="0" baseline="0" dirty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  <a:ea typeface="SimHei" panose="02010609060101010101" pitchFamily="49" charset="-122"/>
                </a:rPr>
                <a:t>Reg</a:t>
              </a:r>
              <a:endParaRPr kumimoji="0" lang="zh-CN" altLang="zh-CN" sz="180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endParaRPr>
            </a:p>
          </p:txBody>
        </p:sp>
        <p:sp>
          <p:nvSpPr>
            <p:cNvPr id="50" name="Freeform 46">
              <a:extLst>
                <a:ext uri="{FF2B5EF4-FFF2-40B4-BE49-F238E27FC236}">
                  <a16:creationId xmlns:a16="http://schemas.microsoft.com/office/drawing/2014/main" id="{1541A1BE-CC24-4433-B5A5-6B636ABF8507}"/>
                </a:ext>
              </a:extLst>
            </p:cNvPr>
            <p:cNvSpPr>
              <a:spLocks/>
            </p:cNvSpPr>
            <p:nvPr/>
          </p:nvSpPr>
          <p:spPr bwMode="auto">
            <a:xfrm>
              <a:off x="7218389" y="5436658"/>
              <a:ext cx="192374" cy="384748"/>
            </a:xfrm>
            <a:custGeom>
              <a:avLst/>
              <a:gdLst>
                <a:gd name="T0" fmla="*/ 121 w 121"/>
                <a:gd name="T1" fmla="*/ 0 h 242"/>
                <a:gd name="T2" fmla="*/ 0 w 121"/>
                <a:gd name="T3" fmla="*/ 0 h 242"/>
                <a:gd name="T4" fmla="*/ 0 w 121"/>
                <a:gd name="T5" fmla="*/ 242 h 242"/>
                <a:gd name="T6" fmla="*/ 121 w 121"/>
                <a:gd name="T7" fmla="*/ 242 h 2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1" h="242">
                  <a:moveTo>
                    <a:pt x="121" y="0"/>
                  </a:moveTo>
                  <a:lnTo>
                    <a:pt x="0" y="0"/>
                  </a:lnTo>
                  <a:lnTo>
                    <a:pt x="0" y="242"/>
                  </a:lnTo>
                  <a:lnTo>
                    <a:pt x="121" y="242"/>
                  </a:lnTo>
                </a:path>
              </a:pathLst>
            </a:custGeom>
            <a:noFill/>
            <a:ln w="222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51" name="Freeform 47">
              <a:extLst>
                <a:ext uri="{FF2B5EF4-FFF2-40B4-BE49-F238E27FC236}">
                  <a16:creationId xmlns:a16="http://schemas.microsoft.com/office/drawing/2014/main" id="{AE60B3D0-925A-4A11-A822-20EE82643052}"/>
                </a:ext>
              </a:extLst>
            </p:cNvPr>
            <p:cNvSpPr>
              <a:spLocks/>
            </p:cNvSpPr>
            <p:nvPr/>
          </p:nvSpPr>
          <p:spPr bwMode="auto">
            <a:xfrm>
              <a:off x="7412353" y="5436658"/>
              <a:ext cx="190784" cy="384748"/>
            </a:xfrm>
            <a:custGeom>
              <a:avLst/>
              <a:gdLst>
                <a:gd name="T0" fmla="*/ 0 w 120"/>
                <a:gd name="T1" fmla="*/ 0 h 242"/>
                <a:gd name="T2" fmla="*/ 120 w 120"/>
                <a:gd name="T3" fmla="*/ 0 h 242"/>
                <a:gd name="T4" fmla="*/ 120 w 120"/>
                <a:gd name="T5" fmla="*/ 242 h 242"/>
                <a:gd name="T6" fmla="*/ 0 w 120"/>
                <a:gd name="T7" fmla="*/ 242 h 2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0" h="242">
                  <a:moveTo>
                    <a:pt x="0" y="0"/>
                  </a:moveTo>
                  <a:lnTo>
                    <a:pt x="120" y="0"/>
                  </a:lnTo>
                  <a:lnTo>
                    <a:pt x="120" y="242"/>
                  </a:lnTo>
                  <a:lnTo>
                    <a:pt x="0" y="242"/>
                  </a:lnTo>
                </a:path>
              </a:pathLst>
            </a:custGeom>
            <a:noFill/>
            <a:ln w="222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52" name="Line 48">
              <a:extLst>
                <a:ext uri="{FF2B5EF4-FFF2-40B4-BE49-F238E27FC236}">
                  <a16:creationId xmlns:a16="http://schemas.microsoft.com/office/drawing/2014/main" id="{6760B371-955A-4B9F-8E31-DAD44B11F3B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026015" y="5629032"/>
              <a:ext cx="184425" cy="0"/>
            </a:xfrm>
            <a:prstGeom prst="line">
              <a:avLst/>
            </a:prstGeom>
            <a:noFill/>
            <a:ln w="22225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53" name="Line 49">
              <a:extLst>
                <a:ext uri="{FF2B5EF4-FFF2-40B4-BE49-F238E27FC236}">
                  <a16:creationId xmlns:a16="http://schemas.microsoft.com/office/drawing/2014/main" id="{9D0B9965-AB99-4CC6-A873-7DF696E24F4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375759" y="5629032"/>
              <a:ext cx="209863" cy="0"/>
            </a:xfrm>
            <a:prstGeom prst="line">
              <a:avLst/>
            </a:prstGeom>
            <a:noFill/>
            <a:ln w="22225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54" name="Line 50">
              <a:extLst>
                <a:ext uri="{FF2B5EF4-FFF2-40B4-BE49-F238E27FC236}">
                  <a16:creationId xmlns:a16="http://schemas.microsoft.com/office/drawing/2014/main" id="{F37C71E9-7DD6-4C48-9C28-AA5B60EBFBA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862231" y="5757812"/>
              <a:ext cx="208273" cy="0"/>
            </a:xfrm>
            <a:prstGeom prst="line">
              <a:avLst/>
            </a:prstGeom>
            <a:noFill/>
            <a:ln w="22225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55" name="Line 51">
              <a:extLst>
                <a:ext uri="{FF2B5EF4-FFF2-40B4-BE49-F238E27FC236}">
                  <a16:creationId xmlns:a16="http://schemas.microsoft.com/office/drawing/2014/main" id="{AD489DC4-EAFD-4AA3-987B-7EC4F2B9D14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975112" y="5757812"/>
              <a:ext cx="0" cy="255969"/>
            </a:xfrm>
            <a:prstGeom prst="line">
              <a:avLst/>
            </a:prstGeom>
            <a:noFill/>
            <a:ln w="23813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56" name="Line 52">
              <a:extLst>
                <a:ext uri="{FF2B5EF4-FFF2-40B4-BE49-F238E27FC236}">
                  <a16:creationId xmlns:a16="http://schemas.microsoft.com/office/drawing/2014/main" id="{3C348487-3F1C-405C-952F-874F2BD5DB3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975112" y="6013781"/>
              <a:ext cx="449933" cy="0"/>
            </a:xfrm>
            <a:prstGeom prst="line">
              <a:avLst/>
            </a:prstGeom>
            <a:noFill/>
            <a:ln w="23813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57" name="Line 53">
              <a:extLst>
                <a:ext uri="{FF2B5EF4-FFF2-40B4-BE49-F238E27FC236}">
                  <a16:creationId xmlns:a16="http://schemas.microsoft.com/office/drawing/2014/main" id="{FE2C3653-4899-4153-8DEE-4E30770AE54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425045" y="5629032"/>
              <a:ext cx="0" cy="384748"/>
            </a:xfrm>
            <a:prstGeom prst="line">
              <a:avLst/>
            </a:prstGeom>
            <a:noFill/>
            <a:ln w="23813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58" name="Line 54">
              <a:extLst>
                <a:ext uri="{FF2B5EF4-FFF2-40B4-BE49-F238E27FC236}">
                  <a16:creationId xmlns:a16="http://schemas.microsoft.com/office/drawing/2014/main" id="{D14A6C5A-4AB0-4FF9-B382-C3B8CC13847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528386" y="5629032"/>
              <a:ext cx="0" cy="321154"/>
            </a:xfrm>
            <a:prstGeom prst="line">
              <a:avLst/>
            </a:prstGeom>
            <a:noFill/>
            <a:ln w="23813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59" name="Line 55">
              <a:extLst>
                <a:ext uri="{FF2B5EF4-FFF2-40B4-BE49-F238E27FC236}">
                  <a16:creationId xmlns:a16="http://schemas.microsoft.com/office/drawing/2014/main" id="{F1475BFA-6797-4A8C-AEB4-31F5DC8EECB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528386" y="5950186"/>
              <a:ext cx="578712" cy="0"/>
            </a:xfrm>
            <a:prstGeom prst="line">
              <a:avLst/>
            </a:prstGeom>
            <a:noFill/>
            <a:ln w="23813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60" name="Line 56">
              <a:extLst>
                <a:ext uri="{FF2B5EF4-FFF2-40B4-BE49-F238E27FC236}">
                  <a16:creationId xmlns:a16="http://schemas.microsoft.com/office/drawing/2014/main" id="{03761C45-7755-4701-BCD4-DB5E6CB3BDC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107099" y="5629032"/>
              <a:ext cx="0" cy="321154"/>
            </a:xfrm>
            <a:prstGeom prst="line">
              <a:avLst/>
            </a:prstGeom>
            <a:noFill/>
            <a:ln w="23813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61" name="Rectangle 57">
              <a:extLst>
                <a:ext uri="{FF2B5EF4-FFF2-40B4-BE49-F238E27FC236}">
                  <a16:creationId xmlns:a16="http://schemas.microsoft.com/office/drawing/2014/main" id="{41195994-DBFD-4E9D-BDED-C76FC360A3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88612" y="2993030"/>
              <a:ext cx="193964" cy="386338"/>
            </a:xfrm>
            <a:prstGeom prst="rect">
              <a:avLst/>
            </a:prstGeom>
            <a:solidFill>
              <a:srgbClr val="DE25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1600" dirty="0">
                <a:ea typeface="SimHei" panose="02010609060101010101" pitchFamily="49" charset="-122"/>
              </a:endParaRPr>
            </a:p>
          </p:txBody>
        </p:sp>
        <p:sp>
          <p:nvSpPr>
            <p:cNvPr id="63" name="Rectangle 59">
              <a:extLst>
                <a:ext uri="{FF2B5EF4-FFF2-40B4-BE49-F238E27FC236}">
                  <a16:creationId xmlns:a16="http://schemas.microsoft.com/office/drawing/2014/main" id="{B025C40C-1993-47DF-9014-1259497CDB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86860" y="4598797"/>
              <a:ext cx="128779" cy="386338"/>
            </a:xfrm>
            <a:prstGeom prst="rect">
              <a:avLst/>
            </a:prstGeom>
            <a:solidFill>
              <a:srgbClr val="00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65" name="Rectangle 61">
              <a:extLst>
                <a:ext uri="{FF2B5EF4-FFF2-40B4-BE49-F238E27FC236}">
                  <a16:creationId xmlns:a16="http://schemas.microsoft.com/office/drawing/2014/main" id="{C43E4A0E-A97D-4157-9CE1-27A255D623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04968" y="3781605"/>
              <a:ext cx="128779" cy="384748"/>
            </a:xfrm>
            <a:prstGeom prst="rect">
              <a:avLst/>
            </a:prstGeom>
            <a:solidFill>
              <a:srgbClr val="00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67" name="Rectangle 63">
              <a:extLst>
                <a:ext uri="{FF2B5EF4-FFF2-40B4-BE49-F238E27FC236}">
                  <a16:creationId xmlns:a16="http://schemas.microsoft.com/office/drawing/2014/main" id="{41578AF5-135F-4A4A-B17A-6E8E0AEB24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01465" y="2997799"/>
              <a:ext cx="128779" cy="386338"/>
            </a:xfrm>
            <a:prstGeom prst="rect">
              <a:avLst/>
            </a:prstGeom>
            <a:solidFill>
              <a:srgbClr val="DE25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69" name="Freeform 65">
              <a:extLst>
                <a:ext uri="{FF2B5EF4-FFF2-40B4-BE49-F238E27FC236}">
                  <a16:creationId xmlns:a16="http://schemas.microsoft.com/office/drawing/2014/main" id="{67F0D27F-D40C-4081-A75C-607BA625777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631673" y="3311003"/>
              <a:ext cx="178065" cy="492859"/>
            </a:xfrm>
            <a:custGeom>
              <a:avLst/>
              <a:gdLst>
                <a:gd name="T0" fmla="*/ 14 w 172"/>
                <a:gd name="T1" fmla="*/ 0 h 407"/>
                <a:gd name="T2" fmla="*/ 161 w 172"/>
                <a:gd name="T3" fmla="*/ 369 h 407"/>
                <a:gd name="T4" fmla="*/ 147 w 172"/>
                <a:gd name="T5" fmla="*/ 375 h 407"/>
                <a:gd name="T6" fmla="*/ 0 w 172"/>
                <a:gd name="T7" fmla="*/ 5 h 407"/>
                <a:gd name="T8" fmla="*/ 14 w 172"/>
                <a:gd name="T9" fmla="*/ 0 h 407"/>
                <a:gd name="T10" fmla="*/ 172 w 172"/>
                <a:gd name="T11" fmla="*/ 356 h 407"/>
                <a:gd name="T12" fmla="*/ 168 w 172"/>
                <a:gd name="T13" fmla="*/ 407 h 407"/>
                <a:gd name="T14" fmla="*/ 130 w 172"/>
                <a:gd name="T15" fmla="*/ 373 h 407"/>
                <a:gd name="T16" fmla="*/ 172 w 172"/>
                <a:gd name="T17" fmla="*/ 356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2" h="407">
                  <a:moveTo>
                    <a:pt x="14" y="0"/>
                  </a:moveTo>
                  <a:lnTo>
                    <a:pt x="161" y="369"/>
                  </a:lnTo>
                  <a:lnTo>
                    <a:pt x="147" y="375"/>
                  </a:lnTo>
                  <a:lnTo>
                    <a:pt x="0" y="5"/>
                  </a:lnTo>
                  <a:lnTo>
                    <a:pt x="14" y="0"/>
                  </a:lnTo>
                  <a:close/>
                  <a:moveTo>
                    <a:pt x="172" y="356"/>
                  </a:moveTo>
                  <a:lnTo>
                    <a:pt x="168" y="407"/>
                  </a:lnTo>
                  <a:lnTo>
                    <a:pt x="130" y="373"/>
                  </a:lnTo>
                  <a:lnTo>
                    <a:pt x="172" y="356"/>
                  </a:lnTo>
                  <a:close/>
                </a:path>
              </a:pathLst>
            </a:custGeom>
            <a:solidFill>
              <a:srgbClr val="009900"/>
            </a:solidFill>
            <a:ln w="0" cap="flat">
              <a:solidFill>
                <a:srgbClr val="0099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70" name="Freeform 66">
              <a:extLst>
                <a:ext uri="{FF2B5EF4-FFF2-40B4-BE49-F238E27FC236}">
                  <a16:creationId xmlns:a16="http://schemas.microsoft.com/office/drawing/2014/main" id="{9CA78D99-8971-4F4C-AF58-913266A5A16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631673" y="3309414"/>
              <a:ext cx="814013" cy="1300513"/>
            </a:xfrm>
            <a:custGeom>
              <a:avLst/>
              <a:gdLst>
                <a:gd name="T0" fmla="*/ 13 w 491"/>
                <a:gd name="T1" fmla="*/ 0 h 974"/>
                <a:gd name="T2" fmla="*/ 481 w 491"/>
                <a:gd name="T3" fmla="*/ 936 h 974"/>
                <a:gd name="T4" fmla="*/ 468 w 491"/>
                <a:gd name="T5" fmla="*/ 943 h 974"/>
                <a:gd name="T6" fmla="*/ 0 w 491"/>
                <a:gd name="T7" fmla="*/ 7 h 974"/>
                <a:gd name="T8" fmla="*/ 13 w 491"/>
                <a:gd name="T9" fmla="*/ 0 h 974"/>
                <a:gd name="T10" fmla="*/ 491 w 491"/>
                <a:gd name="T11" fmla="*/ 923 h 974"/>
                <a:gd name="T12" fmla="*/ 491 w 491"/>
                <a:gd name="T13" fmla="*/ 974 h 974"/>
                <a:gd name="T14" fmla="*/ 451 w 491"/>
                <a:gd name="T15" fmla="*/ 943 h 974"/>
                <a:gd name="T16" fmla="*/ 491 w 491"/>
                <a:gd name="T17" fmla="*/ 923 h 9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91" h="974">
                  <a:moveTo>
                    <a:pt x="13" y="0"/>
                  </a:moveTo>
                  <a:lnTo>
                    <a:pt x="481" y="936"/>
                  </a:lnTo>
                  <a:lnTo>
                    <a:pt x="468" y="943"/>
                  </a:lnTo>
                  <a:lnTo>
                    <a:pt x="0" y="7"/>
                  </a:lnTo>
                  <a:lnTo>
                    <a:pt x="13" y="0"/>
                  </a:lnTo>
                  <a:close/>
                  <a:moveTo>
                    <a:pt x="491" y="923"/>
                  </a:moveTo>
                  <a:lnTo>
                    <a:pt x="491" y="974"/>
                  </a:lnTo>
                  <a:lnTo>
                    <a:pt x="451" y="943"/>
                  </a:lnTo>
                  <a:lnTo>
                    <a:pt x="491" y="923"/>
                  </a:lnTo>
                  <a:close/>
                </a:path>
              </a:pathLst>
            </a:custGeom>
            <a:solidFill>
              <a:srgbClr val="009900"/>
            </a:solidFill>
            <a:ln w="0" cap="flat">
              <a:solidFill>
                <a:srgbClr val="0099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71" name="Rectangle 67">
              <a:extLst>
                <a:ext uri="{FF2B5EF4-FFF2-40B4-BE49-F238E27FC236}">
                  <a16:creationId xmlns:a16="http://schemas.microsoft.com/office/drawing/2014/main" id="{F3FCCF79-FEF9-444E-9C6E-8D79E875EB6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86426" y="3105910"/>
              <a:ext cx="52466" cy="2305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1500" i="1" u="none" strike="noStrike" cap="none" normalizeH="0" baseline="0" dirty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  <a:ea typeface="SimHei" panose="02010609060101010101" pitchFamily="49" charset="-122"/>
                </a:rPr>
                <a:t>I</a:t>
              </a:r>
              <a:endParaRPr kumimoji="0" lang="zh-CN" altLang="zh-CN" sz="1800" i="1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endParaRPr>
            </a:p>
          </p:txBody>
        </p:sp>
        <p:sp>
          <p:nvSpPr>
            <p:cNvPr id="72" name="Rectangle 68">
              <a:extLst>
                <a:ext uri="{FF2B5EF4-FFF2-40B4-BE49-F238E27FC236}">
                  <a16:creationId xmlns:a16="http://schemas.microsoft.com/office/drawing/2014/main" id="{234331A9-18E6-4BE4-8D70-F483042F3D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60988" y="3338031"/>
              <a:ext cx="108111" cy="2305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1500" i="1" u="none" strike="noStrike" cap="none" normalizeH="0" baseline="0" dirty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  <a:ea typeface="SimHei" panose="02010609060101010101" pitchFamily="49" charset="-122"/>
                </a:rPr>
                <a:t>n</a:t>
              </a:r>
              <a:endParaRPr kumimoji="0" lang="zh-CN" altLang="zh-CN" sz="1800" i="1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endParaRPr>
            </a:p>
          </p:txBody>
        </p:sp>
        <p:sp>
          <p:nvSpPr>
            <p:cNvPr id="73" name="Rectangle 69">
              <a:extLst>
                <a:ext uri="{FF2B5EF4-FFF2-40B4-BE49-F238E27FC236}">
                  <a16:creationId xmlns:a16="http://schemas.microsoft.com/office/drawing/2014/main" id="{0A5482C1-DCB9-4A30-9C31-2B69077136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60988" y="3571742"/>
              <a:ext cx="95392" cy="2305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1500" i="1" u="none" strike="noStrike" cap="none" normalizeH="0" baseline="0" dirty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  <a:ea typeface="SimHei" panose="02010609060101010101" pitchFamily="49" charset="-122"/>
                </a:rPr>
                <a:t>s</a:t>
              </a:r>
              <a:endParaRPr kumimoji="0" lang="zh-CN" altLang="zh-CN" sz="1800" i="1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endParaRPr>
            </a:p>
          </p:txBody>
        </p:sp>
        <p:sp>
          <p:nvSpPr>
            <p:cNvPr id="74" name="Rectangle 70">
              <a:extLst>
                <a:ext uri="{FF2B5EF4-FFF2-40B4-BE49-F238E27FC236}">
                  <a16:creationId xmlns:a16="http://schemas.microsoft.com/office/drawing/2014/main" id="{2CDDF2FD-93E3-4A3D-B722-3BBEF02CB6C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86426" y="3803863"/>
              <a:ext cx="52466" cy="2305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1500" i="1" u="none" strike="noStrike" cap="none" normalizeH="0" baseline="0" dirty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  <a:ea typeface="SimHei" panose="02010609060101010101" pitchFamily="49" charset="-122"/>
                </a:rPr>
                <a:t>t</a:t>
              </a:r>
              <a:endParaRPr kumimoji="0" lang="zh-CN" altLang="zh-CN" sz="1800" i="1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endParaRPr>
            </a:p>
          </p:txBody>
        </p:sp>
        <p:sp>
          <p:nvSpPr>
            <p:cNvPr id="75" name="Rectangle 71">
              <a:extLst>
                <a:ext uri="{FF2B5EF4-FFF2-40B4-BE49-F238E27FC236}">
                  <a16:creationId xmlns:a16="http://schemas.microsoft.com/office/drawing/2014/main" id="{A1EDA2E0-47EA-40ED-BF92-DC9270A2F3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53039" y="4037574"/>
              <a:ext cx="109902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1500" i="1" u="none" strike="noStrike" cap="none" normalizeH="0" baseline="0" dirty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  <a:ea typeface="SimHei" panose="02010609060101010101" pitchFamily="49" charset="-122"/>
                </a:rPr>
                <a:t>r.</a:t>
              </a:r>
              <a:endParaRPr kumimoji="0" lang="zh-CN" altLang="zh-CN" sz="1800" i="1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endParaRPr>
            </a:p>
          </p:txBody>
        </p:sp>
        <p:sp>
          <p:nvSpPr>
            <p:cNvPr id="76" name="Rectangle 72">
              <a:extLst>
                <a:ext uri="{FF2B5EF4-FFF2-40B4-BE49-F238E27FC236}">
                  <a16:creationId xmlns:a16="http://schemas.microsoft.com/office/drawing/2014/main" id="{3CB0D212-1010-4A83-B633-F2DAD9DF3B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37140" y="4495456"/>
              <a:ext cx="149448" cy="2305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1500" i="1" u="none" strike="noStrike" cap="none" normalizeH="0" baseline="0" dirty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  <a:ea typeface="SimHei" panose="02010609060101010101" pitchFamily="49" charset="-122"/>
                </a:rPr>
                <a:t>O</a:t>
              </a:r>
              <a:endParaRPr kumimoji="0" lang="zh-CN" altLang="zh-CN" sz="1800" i="1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endParaRPr>
            </a:p>
          </p:txBody>
        </p:sp>
        <p:sp>
          <p:nvSpPr>
            <p:cNvPr id="77" name="Rectangle 73">
              <a:extLst>
                <a:ext uri="{FF2B5EF4-FFF2-40B4-BE49-F238E27FC236}">
                  <a16:creationId xmlns:a16="http://schemas.microsoft.com/office/drawing/2014/main" id="{D4A907DB-12DB-4CF4-A440-8A9A60F46D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78477" y="4727577"/>
              <a:ext cx="63595" cy="2305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1500" i="1" u="none" strike="noStrike" cap="none" normalizeH="0" baseline="0" dirty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  <a:ea typeface="SimHei" panose="02010609060101010101" pitchFamily="49" charset="-122"/>
                </a:rPr>
                <a:t>r</a:t>
              </a:r>
              <a:endParaRPr kumimoji="0" lang="zh-CN" altLang="zh-CN" sz="1800" i="1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endParaRPr>
            </a:p>
          </p:txBody>
        </p:sp>
        <p:sp>
          <p:nvSpPr>
            <p:cNvPr id="78" name="Rectangle 74">
              <a:extLst>
                <a:ext uri="{FF2B5EF4-FFF2-40B4-BE49-F238E27FC236}">
                  <a16:creationId xmlns:a16="http://schemas.microsoft.com/office/drawing/2014/main" id="{7E1B3446-B2E7-4233-899E-B122197146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60988" y="4961287"/>
              <a:ext cx="108111" cy="2305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1500" i="1" u="none" strike="noStrike" cap="none" normalizeH="0" baseline="0" dirty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  <a:ea typeface="SimHei" panose="02010609060101010101" pitchFamily="49" charset="-122"/>
                </a:rPr>
                <a:t>d</a:t>
              </a:r>
              <a:endParaRPr kumimoji="0" lang="zh-CN" altLang="zh-CN" sz="1800" i="1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endParaRPr>
            </a:p>
          </p:txBody>
        </p:sp>
        <p:sp>
          <p:nvSpPr>
            <p:cNvPr id="79" name="Rectangle 75">
              <a:extLst>
                <a:ext uri="{FF2B5EF4-FFF2-40B4-BE49-F238E27FC236}">
                  <a16:creationId xmlns:a16="http://schemas.microsoft.com/office/drawing/2014/main" id="{DB50F413-9A6B-4F18-BC70-C313E63614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60988" y="5193408"/>
              <a:ext cx="108111" cy="2305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1500" i="1" u="none" strike="noStrike" cap="none" normalizeH="0" baseline="0" dirty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  <a:ea typeface="SimHei" panose="02010609060101010101" pitchFamily="49" charset="-122"/>
                </a:rPr>
                <a:t>e</a:t>
              </a:r>
              <a:endParaRPr kumimoji="0" lang="zh-CN" altLang="zh-CN" sz="1800" i="1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endParaRPr>
            </a:p>
          </p:txBody>
        </p:sp>
        <p:sp>
          <p:nvSpPr>
            <p:cNvPr id="80" name="Rectangle 76">
              <a:extLst>
                <a:ext uri="{FF2B5EF4-FFF2-40B4-BE49-F238E27FC236}">
                  <a16:creationId xmlns:a16="http://schemas.microsoft.com/office/drawing/2014/main" id="{D4C864D3-D81C-42DB-A215-CB36A5DA52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78477" y="5419170"/>
              <a:ext cx="63595" cy="2305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1500" i="1" u="none" strike="noStrike" cap="none" normalizeH="0" baseline="0" dirty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  <a:ea typeface="SimHei" panose="02010609060101010101" pitchFamily="49" charset="-122"/>
                </a:rPr>
                <a:t>r</a:t>
              </a:r>
              <a:endParaRPr kumimoji="0" lang="zh-CN" altLang="zh-CN" sz="1800" i="1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endParaRPr>
            </a:p>
          </p:txBody>
        </p:sp>
        <p:sp>
          <p:nvSpPr>
            <p:cNvPr id="81" name="Freeform 77">
              <a:extLst>
                <a:ext uri="{FF2B5EF4-FFF2-40B4-BE49-F238E27FC236}">
                  <a16:creationId xmlns:a16="http://schemas.microsoft.com/office/drawing/2014/main" id="{F345B094-A4F2-416E-9F08-353B1D2CCE2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587101" y="2519249"/>
              <a:ext cx="5314932" cy="65185"/>
            </a:xfrm>
            <a:custGeom>
              <a:avLst/>
              <a:gdLst>
                <a:gd name="T0" fmla="*/ 0 w 3343"/>
                <a:gd name="T1" fmla="*/ 14 h 41"/>
                <a:gd name="T2" fmla="*/ 3309 w 3343"/>
                <a:gd name="T3" fmla="*/ 14 h 41"/>
                <a:gd name="T4" fmla="*/ 3309 w 3343"/>
                <a:gd name="T5" fmla="*/ 27 h 41"/>
                <a:gd name="T6" fmla="*/ 0 w 3343"/>
                <a:gd name="T7" fmla="*/ 27 h 41"/>
                <a:gd name="T8" fmla="*/ 0 w 3343"/>
                <a:gd name="T9" fmla="*/ 14 h 41"/>
                <a:gd name="T10" fmla="*/ 3302 w 3343"/>
                <a:gd name="T11" fmla="*/ 0 h 41"/>
                <a:gd name="T12" fmla="*/ 3343 w 3343"/>
                <a:gd name="T13" fmla="*/ 20 h 41"/>
                <a:gd name="T14" fmla="*/ 3302 w 3343"/>
                <a:gd name="T15" fmla="*/ 41 h 41"/>
                <a:gd name="T16" fmla="*/ 3302 w 3343"/>
                <a:gd name="T17" fmla="*/ 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343" h="41">
                  <a:moveTo>
                    <a:pt x="0" y="14"/>
                  </a:moveTo>
                  <a:lnTo>
                    <a:pt x="3309" y="14"/>
                  </a:lnTo>
                  <a:lnTo>
                    <a:pt x="3309" y="27"/>
                  </a:lnTo>
                  <a:lnTo>
                    <a:pt x="0" y="27"/>
                  </a:lnTo>
                  <a:lnTo>
                    <a:pt x="0" y="14"/>
                  </a:lnTo>
                  <a:close/>
                  <a:moveTo>
                    <a:pt x="3302" y="0"/>
                  </a:moveTo>
                  <a:lnTo>
                    <a:pt x="3343" y="20"/>
                  </a:lnTo>
                  <a:lnTo>
                    <a:pt x="3302" y="41"/>
                  </a:lnTo>
                  <a:lnTo>
                    <a:pt x="3302" y="0"/>
                  </a:lnTo>
                  <a:close/>
                </a:path>
              </a:pathLst>
            </a:custGeom>
            <a:solidFill>
              <a:srgbClr val="000000"/>
            </a:solidFill>
            <a:ln w="0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82" name="Rectangle 78">
              <a:extLst>
                <a:ext uri="{FF2B5EF4-FFF2-40B4-BE49-F238E27FC236}">
                  <a16:creationId xmlns:a16="http://schemas.microsoft.com/office/drawing/2014/main" id="{416BFF0F-A6C1-4092-8839-CBF8768900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04400" y="2973951"/>
              <a:ext cx="427675" cy="30843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2000" u="none" strike="noStrike" cap="none" normalizeH="0" baseline="0" dirty="0">
                  <a:ln>
                    <a:noFill/>
                  </a:ln>
                  <a:solidFill>
                    <a:srgbClr val="3333CC"/>
                  </a:solidFill>
                  <a:effectLst/>
                  <a:latin typeface="Arial" panose="020B0604020202020204" pitchFamily="34" charset="0"/>
                  <a:ea typeface="SimHei" panose="02010609060101010101" pitchFamily="49" charset="-122"/>
                </a:rPr>
                <a:t>add</a:t>
              </a:r>
              <a:endParaRPr kumimoji="0" lang="zh-CN" altLang="zh-CN" sz="180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endParaRPr>
            </a:p>
          </p:txBody>
        </p:sp>
        <p:sp>
          <p:nvSpPr>
            <p:cNvPr id="83" name="Rectangle 79">
              <a:extLst>
                <a:ext uri="{FF2B5EF4-FFF2-40B4-BE49-F238E27FC236}">
                  <a16:creationId xmlns:a16="http://schemas.microsoft.com/office/drawing/2014/main" id="{51F70B3C-5BEB-445D-BE62-7A6ADCD46C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33827" y="2981901"/>
              <a:ext cx="227351" cy="30843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2000" u="none" strike="noStrike" cap="none" normalizeH="0" baseline="0" dirty="0">
                  <a:ln>
                    <a:noFill/>
                  </a:ln>
                  <a:solidFill>
                    <a:srgbClr val="DE2506"/>
                  </a:solidFill>
                  <a:effectLst/>
                  <a:latin typeface="Arial" panose="020B0604020202020204" pitchFamily="34" charset="0"/>
                  <a:ea typeface="SimHei" panose="02010609060101010101" pitchFamily="49" charset="-122"/>
                </a:rPr>
                <a:t>r1</a:t>
              </a:r>
              <a:endParaRPr kumimoji="0" lang="zh-CN" altLang="zh-CN" sz="180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endParaRPr>
            </a:p>
          </p:txBody>
        </p:sp>
        <p:sp>
          <p:nvSpPr>
            <p:cNvPr id="84" name="Rectangle 80">
              <a:extLst>
                <a:ext uri="{FF2B5EF4-FFF2-40B4-BE49-F238E27FC236}">
                  <a16:creationId xmlns:a16="http://schemas.microsoft.com/office/drawing/2014/main" id="{470AA171-979E-47A2-8CC3-E182AC6AB9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67537" y="2981901"/>
              <a:ext cx="596201" cy="30843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2000" u="none" strike="noStrike" cap="none" normalizeH="0" baseline="0" dirty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  <a:ea typeface="SimHei" panose="02010609060101010101" pitchFamily="49" charset="-122"/>
                </a:rPr>
                <a:t>,r2,r3</a:t>
              </a:r>
              <a:endParaRPr kumimoji="0" lang="zh-CN" altLang="zh-CN" sz="180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endParaRPr>
            </a:p>
          </p:txBody>
        </p:sp>
        <p:sp>
          <p:nvSpPr>
            <p:cNvPr id="85" name="Freeform 81">
              <a:extLst>
                <a:ext uri="{FF2B5EF4-FFF2-40B4-BE49-F238E27FC236}">
                  <a16:creationId xmlns:a16="http://schemas.microsoft.com/office/drawing/2014/main" id="{45DE676F-19C6-4081-9848-65714389418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571230" y="2655977"/>
              <a:ext cx="22258" cy="3748911"/>
            </a:xfrm>
            <a:custGeom>
              <a:avLst/>
              <a:gdLst>
                <a:gd name="T0" fmla="*/ 14 w 14"/>
                <a:gd name="T1" fmla="*/ 41 h 2358"/>
                <a:gd name="T2" fmla="*/ 0 w 14"/>
                <a:gd name="T3" fmla="*/ 54 h 2358"/>
                <a:gd name="T4" fmla="*/ 14 w 14"/>
                <a:gd name="T5" fmla="*/ 108 h 2358"/>
                <a:gd name="T6" fmla="*/ 0 w 14"/>
                <a:gd name="T7" fmla="*/ 149 h 2358"/>
                <a:gd name="T8" fmla="*/ 14 w 14"/>
                <a:gd name="T9" fmla="*/ 162 h 2358"/>
                <a:gd name="T10" fmla="*/ 14 w 14"/>
                <a:gd name="T11" fmla="*/ 229 h 2358"/>
                <a:gd name="T12" fmla="*/ 0 w 14"/>
                <a:gd name="T13" fmla="*/ 243 h 2358"/>
                <a:gd name="T14" fmla="*/ 14 w 14"/>
                <a:gd name="T15" fmla="*/ 297 h 2358"/>
                <a:gd name="T16" fmla="*/ 0 w 14"/>
                <a:gd name="T17" fmla="*/ 337 h 2358"/>
                <a:gd name="T18" fmla="*/ 14 w 14"/>
                <a:gd name="T19" fmla="*/ 351 h 2358"/>
                <a:gd name="T20" fmla="*/ 14 w 14"/>
                <a:gd name="T21" fmla="*/ 418 h 2358"/>
                <a:gd name="T22" fmla="*/ 0 w 14"/>
                <a:gd name="T23" fmla="*/ 432 h 2358"/>
                <a:gd name="T24" fmla="*/ 14 w 14"/>
                <a:gd name="T25" fmla="*/ 485 h 2358"/>
                <a:gd name="T26" fmla="*/ 0 w 14"/>
                <a:gd name="T27" fmla="*/ 526 h 2358"/>
                <a:gd name="T28" fmla="*/ 14 w 14"/>
                <a:gd name="T29" fmla="*/ 539 h 2358"/>
                <a:gd name="T30" fmla="*/ 14 w 14"/>
                <a:gd name="T31" fmla="*/ 607 h 2358"/>
                <a:gd name="T32" fmla="*/ 0 w 14"/>
                <a:gd name="T33" fmla="*/ 620 h 2358"/>
                <a:gd name="T34" fmla="*/ 14 w 14"/>
                <a:gd name="T35" fmla="*/ 674 h 2358"/>
                <a:gd name="T36" fmla="*/ 0 w 14"/>
                <a:gd name="T37" fmla="*/ 715 h 2358"/>
                <a:gd name="T38" fmla="*/ 14 w 14"/>
                <a:gd name="T39" fmla="*/ 728 h 2358"/>
                <a:gd name="T40" fmla="*/ 14 w 14"/>
                <a:gd name="T41" fmla="*/ 795 h 2358"/>
                <a:gd name="T42" fmla="*/ 0 w 14"/>
                <a:gd name="T43" fmla="*/ 809 h 2358"/>
                <a:gd name="T44" fmla="*/ 14 w 14"/>
                <a:gd name="T45" fmla="*/ 863 h 2358"/>
                <a:gd name="T46" fmla="*/ 0 w 14"/>
                <a:gd name="T47" fmla="*/ 903 h 2358"/>
                <a:gd name="T48" fmla="*/ 14 w 14"/>
                <a:gd name="T49" fmla="*/ 917 h 2358"/>
                <a:gd name="T50" fmla="*/ 14 w 14"/>
                <a:gd name="T51" fmla="*/ 984 h 2358"/>
                <a:gd name="T52" fmla="*/ 0 w 14"/>
                <a:gd name="T53" fmla="*/ 998 h 2358"/>
                <a:gd name="T54" fmla="*/ 14 w 14"/>
                <a:gd name="T55" fmla="*/ 1051 h 2358"/>
                <a:gd name="T56" fmla="*/ 0 w 14"/>
                <a:gd name="T57" fmla="*/ 1092 h 2358"/>
                <a:gd name="T58" fmla="*/ 14 w 14"/>
                <a:gd name="T59" fmla="*/ 1105 h 2358"/>
                <a:gd name="T60" fmla="*/ 14 w 14"/>
                <a:gd name="T61" fmla="*/ 1173 h 2358"/>
                <a:gd name="T62" fmla="*/ 0 w 14"/>
                <a:gd name="T63" fmla="*/ 1186 h 2358"/>
                <a:gd name="T64" fmla="*/ 14 w 14"/>
                <a:gd name="T65" fmla="*/ 1240 h 2358"/>
                <a:gd name="T66" fmla="*/ 0 w 14"/>
                <a:gd name="T67" fmla="*/ 1281 h 2358"/>
                <a:gd name="T68" fmla="*/ 14 w 14"/>
                <a:gd name="T69" fmla="*/ 1294 h 2358"/>
                <a:gd name="T70" fmla="*/ 14 w 14"/>
                <a:gd name="T71" fmla="*/ 1361 h 2358"/>
                <a:gd name="T72" fmla="*/ 0 w 14"/>
                <a:gd name="T73" fmla="*/ 1375 h 2358"/>
                <a:gd name="T74" fmla="*/ 14 w 14"/>
                <a:gd name="T75" fmla="*/ 1429 h 2358"/>
                <a:gd name="T76" fmla="*/ 0 w 14"/>
                <a:gd name="T77" fmla="*/ 1469 h 2358"/>
                <a:gd name="T78" fmla="*/ 14 w 14"/>
                <a:gd name="T79" fmla="*/ 1483 h 2358"/>
                <a:gd name="T80" fmla="*/ 14 w 14"/>
                <a:gd name="T81" fmla="*/ 1550 h 2358"/>
                <a:gd name="T82" fmla="*/ 0 w 14"/>
                <a:gd name="T83" fmla="*/ 1564 h 2358"/>
                <a:gd name="T84" fmla="*/ 14 w 14"/>
                <a:gd name="T85" fmla="*/ 1617 h 2358"/>
                <a:gd name="T86" fmla="*/ 0 w 14"/>
                <a:gd name="T87" fmla="*/ 1658 h 2358"/>
                <a:gd name="T88" fmla="*/ 14 w 14"/>
                <a:gd name="T89" fmla="*/ 1671 h 2358"/>
                <a:gd name="T90" fmla="*/ 14 w 14"/>
                <a:gd name="T91" fmla="*/ 1738 h 2358"/>
                <a:gd name="T92" fmla="*/ 0 w 14"/>
                <a:gd name="T93" fmla="*/ 1752 h 2358"/>
                <a:gd name="T94" fmla="*/ 14 w 14"/>
                <a:gd name="T95" fmla="*/ 1806 h 2358"/>
                <a:gd name="T96" fmla="*/ 0 w 14"/>
                <a:gd name="T97" fmla="*/ 1846 h 2358"/>
                <a:gd name="T98" fmla="*/ 14 w 14"/>
                <a:gd name="T99" fmla="*/ 1860 h 2358"/>
                <a:gd name="T100" fmla="*/ 14 w 14"/>
                <a:gd name="T101" fmla="*/ 1927 h 2358"/>
                <a:gd name="T102" fmla="*/ 0 w 14"/>
                <a:gd name="T103" fmla="*/ 1941 h 2358"/>
                <a:gd name="T104" fmla="*/ 14 w 14"/>
                <a:gd name="T105" fmla="*/ 1995 h 2358"/>
                <a:gd name="T106" fmla="*/ 0 w 14"/>
                <a:gd name="T107" fmla="*/ 2035 h 2358"/>
                <a:gd name="T108" fmla="*/ 14 w 14"/>
                <a:gd name="T109" fmla="*/ 2049 h 2358"/>
                <a:gd name="T110" fmla="*/ 14 w 14"/>
                <a:gd name="T111" fmla="*/ 2116 h 2358"/>
                <a:gd name="T112" fmla="*/ 0 w 14"/>
                <a:gd name="T113" fmla="*/ 2129 h 2358"/>
                <a:gd name="T114" fmla="*/ 14 w 14"/>
                <a:gd name="T115" fmla="*/ 2183 h 2358"/>
                <a:gd name="T116" fmla="*/ 0 w 14"/>
                <a:gd name="T117" fmla="*/ 2224 h 2358"/>
                <a:gd name="T118" fmla="*/ 14 w 14"/>
                <a:gd name="T119" fmla="*/ 2237 h 2358"/>
                <a:gd name="T120" fmla="*/ 14 w 14"/>
                <a:gd name="T121" fmla="*/ 2304 h 2358"/>
                <a:gd name="T122" fmla="*/ 0 w 14"/>
                <a:gd name="T123" fmla="*/ 2318 h 23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4" h="2358">
                  <a:moveTo>
                    <a:pt x="14" y="0"/>
                  </a:moveTo>
                  <a:lnTo>
                    <a:pt x="14" y="14"/>
                  </a:lnTo>
                  <a:lnTo>
                    <a:pt x="0" y="14"/>
                  </a:lnTo>
                  <a:lnTo>
                    <a:pt x="0" y="0"/>
                  </a:lnTo>
                  <a:lnTo>
                    <a:pt x="14" y="0"/>
                  </a:lnTo>
                  <a:close/>
                  <a:moveTo>
                    <a:pt x="14" y="27"/>
                  </a:moveTo>
                  <a:lnTo>
                    <a:pt x="14" y="41"/>
                  </a:lnTo>
                  <a:lnTo>
                    <a:pt x="0" y="41"/>
                  </a:lnTo>
                  <a:lnTo>
                    <a:pt x="0" y="27"/>
                  </a:lnTo>
                  <a:lnTo>
                    <a:pt x="14" y="27"/>
                  </a:lnTo>
                  <a:close/>
                  <a:moveTo>
                    <a:pt x="14" y="54"/>
                  </a:moveTo>
                  <a:lnTo>
                    <a:pt x="14" y="68"/>
                  </a:lnTo>
                  <a:lnTo>
                    <a:pt x="0" y="68"/>
                  </a:lnTo>
                  <a:lnTo>
                    <a:pt x="0" y="54"/>
                  </a:lnTo>
                  <a:lnTo>
                    <a:pt x="14" y="54"/>
                  </a:lnTo>
                  <a:close/>
                  <a:moveTo>
                    <a:pt x="14" y="81"/>
                  </a:moveTo>
                  <a:lnTo>
                    <a:pt x="14" y="95"/>
                  </a:lnTo>
                  <a:lnTo>
                    <a:pt x="0" y="95"/>
                  </a:lnTo>
                  <a:lnTo>
                    <a:pt x="0" y="81"/>
                  </a:lnTo>
                  <a:lnTo>
                    <a:pt x="14" y="81"/>
                  </a:lnTo>
                  <a:close/>
                  <a:moveTo>
                    <a:pt x="14" y="108"/>
                  </a:moveTo>
                  <a:lnTo>
                    <a:pt x="14" y="121"/>
                  </a:lnTo>
                  <a:lnTo>
                    <a:pt x="0" y="121"/>
                  </a:lnTo>
                  <a:lnTo>
                    <a:pt x="0" y="108"/>
                  </a:lnTo>
                  <a:lnTo>
                    <a:pt x="14" y="108"/>
                  </a:lnTo>
                  <a:close/>
                  <a:moveTo>
                    <a:pt x="14" y="135"/>
                  </a:moveTo>
                  <a:lnTo>
                    <a:pt x="14" y="149"/>
                  </a:lnTo>
                  <a:lnTo>
                    <a:pt x="0" y="149"/>
                  </a:lnTo>
                  <a:lnTo>
                    <a:pt x="0" y="135"/>
                  </a:lnTo>
                  <a:lnTo>
                    <a:pt x="14" y="135"/>
                  </a:lnTo>
                  <a:close/>
                  <a:moveTo>
                    <a:pt x="14" y="162"/>
                  </a:moveTo>
                  <a:lnTo>
                    <a:pt x="14" y="175"/>
                  </a:lnTo>
                  <a:lnTo>
                    <a:pt x="0" y="175"/>
                  </a:lnTo>
                  <a:lnTo>
                    <a:pt x="0" y="162"/>
                  </a:lnTo>
                  <a:lnTo>
                    <a:pt x="14" y="162"/>
                  </a:lnTo>
                  <a:close/>
                  <a:moveTo>
                    <a:pt x="14" y="189"/>
                  </a:moveTo>
                  <a:lnTo>
                    <a:pt x="14" y="202"/>
                  </a:lnTo>
                  <a:lnTo>
                    <a:pt x="0" y="202"/>
                  </a:lnTo>
                  <a:lnTo>
                    <a:pt x="0" y="189"/>
                  </a:lnTo>
                  <a:lnTo>
                    <a:pt x="14" y="189"/>
                  </a:lnTo>
                  <a:close/>
                  <a:moveTo>
                    <a:pt x="14" y="216"/>
                  </a:moveTo>
                  <a:lnTo>
                    <a:pt x="14" y="229"/>
                  </a:lnTo>
                  <a:lnTo>
                    <a:pt x="0" y="229"/>
                  </a:lnTo>
                  <a:lnTo>
                    <a:pt x="0" y="216"/>
                  </a:lnTo>
                  <a:lnTo>
                    <a:pt x="14" y="216"/>
                  </a:lnTo>
                  <a:close/>
                  <a:moveTo>
                    <a:pt x="14" y="243"/>
                  </a:moveTo>
                  <a:lnTo>
                    <a:pt x="14" y="256"/>
                  </a:lnTo>
                  <a:lnTo>
                    <a:pt x="0" y="256"/>
                  </a:lnTo>
                  <a:lnTo>
                    <a:pt x="0" y="243"/>
                  </a:lnTo>
                  <a:lnTo>
                    <a:pt x="14" y="243"/>
                  </a:lnTo>
                  <a:close/>
                  <a:moveTo>
                    <a:pt x="14" y="270"/>
                  </a:moveTo>
                  <a:lnTo>
                    <a:pt x="14" y="283"/>
                  </a:lnTo>
                  <a:lnTo>
                    <a:pt x="0" y="283"/>
                  </a:lnTo>
                  <a:lnTo>
                    <a:pt x="0" y="270"/>
                  </a:lnTo>
                  <a:lnTo>
                    <a:pt x="14" y="270"/>
                  </a:lnTo>
                  <a:close/>
                  <a:moveTo>
                    <a:pt x="14" y="297"/>
                  </a:moveTo>
                  <a:lnTo>
                    <a:pt x="14" y="310"/>
                  </a:lnTo>
                  <a:lnTo>
                    <a:pt x="0" y="310"/>
                  </a:lnTo>
                  <a:lnTo>
                    <a:pt x="0" y="297"/>
                  </a:lnTo>
                  <a:lnTo>
                    <a:pt x="14" y="297"/>
                  </a:lnTo>
                  <a:close/>
                  <a:moveTo>
                    <a:pt x="14" y="324"/>
                  </a:moveTo>
                  <a:lnTo>
                    <a:pt x="14" y="337"/>
                  </a:lnTo>
                  <a:lnTo>
                    <a:pt x="0" y="337"/>
                  </a:lnTo>
                  <a:lnTo>
                    <a:pt x="0" y="324"/>
                  </a:lnTo>
                  <a:lnTo>
                    <a:pt x="14" y="324"/>
                  </a:lnTo>
                  <a:close/>
                  <a:moveTo>
                    <a:pt x="14" y="351"/>
                  </a:moveTo>
                  <a:lnTo>
                    <a:pt x="14" y="364"/>
                  </a:lnTo>
                  <a:lnTo>
                    <a:pt x="0" y="364"/>
                  </a:lnTo>
                  <a:lnTo>
                    <a:pt x="0" y="351"/>
                  </a:lnTo>
                  <a:lnTo>
                    <a:pt x="14" y="351"/>
                  </a:lnTo>
                  <a:close/>
                  <a:moveTo>
                    <a:pt x="14" y="378"/>
                  </a:moveTo>
                  <a:lnTo>
                    <a:pt x="14" y="391"/>
                  </a:lnTo>
                  <a:lnTo>
                    <a:pt x="0" y="391"/>
                  </a:lnTo>
                  <a:lnTo>
                    <a:pt x="0" y="378"/>
                  </a:lnTo>
                  <a:lnTo>
                    <a:pt x="14" y="378"/>
                  </a:lnTo>
                  <a:close/>
                  <a:moveTo>
                    <a:pt x="14" y="404"/>
                  </a:moveTo>
                  <a:lnTo>
                    <a:pt x="14" y="418"/>
                  </a:lnTo>
                  <a:lnTo>
                    <a:pt x="0" y="418"/>
                  </a:lnTo>
                  <a:lnTo>
                    <a:pt x="0" y="404"/>
                  </a:lnTo>
                  <a:lnTo>
                    <a:pt x="14" y="404"/>
                  </a:lnTo>
                  <a:close/>
                  <a:moveTo>
                    <a:pt x="14" y="432"/>
                  </a:moveTo>
                  <a:lnTo>
                    <a:pt x="14" y="445"/>
                  </a:lnTo>
                  <a:lnTo>
                    <a:pt x="0" y="445"/>
                  </a:lnTo>
                  <a:lnTo>
                    <a:pt x="0" y="432"/>
                  </a:lnTo>
                  <a:lnTo>
                    <a:pt x="14" y="432"/>
                  </a:lnTo>
                  <a:close/>
                  <a:moveTo>
                    <a:pt x="14" y="458"/>
                  </a:moveTo>
                  <a:lnTo>
                    <a:pt x="14" y="472"/>
                  </a:lnTo>
                  <a:lnTo>
                    <a:pt x="0" y="472"/>
                  </a:lnTo>
                  <a:lnTo>
                    <a:pt x="0" y="458"/>
                  </a:lnTo>
                  <a:lnTo>
                    <a:pt x="14" y="458"/>
                  </a:lnTo>
                  <a:close/>
                  <a:moveTo>
                    <a:pt x="14" y="485"/>
                  </a:moveTo>
                  <a:lnTo>
                    <a:pt x="14" y="499"/>
                  </a:lnTo>
                  <a:lnTo>
                    <a:pt x="0" y="499"/>
                  </a:lnTo>
                  <a:lnTo>
                    <a:pt x="0" y="485"/>
                  </a:lnTo>
                  <a:lnTo>
                    <a:pt x="14" y="485"/>
                  </a:lnTo>
                  <a:close/>
                  <a:moveTo>
                    <a:pt x="14" y="512"/>
                  </a:moveTo>
                  <a:lnTo>
                    <a:pt x="14" y="526"/>
                  </a:lnTo>
                  <a:lnTo>
                    <a:pt x="0" y="526"/>
                  </a:lnTo>
                  <a:lnTo>
                    <a:pt x="0" y="512"/>
                  </a:lnTo>
                  <a:lnTo>
                    <a:pt x="14" y="512"/>
                  </a:lnTo>
                  <a:close/>
                  <a:moveTo>
                    <a:pt x="14" y="539"/>
                  </a:moveTo>
                  <a:lnTo>
                    <a:pt x="14" y="553"/>
                  </a:lnTo>
                  <a:lnTo>
                    <a:pt x="0" y="553"/>
                  </a:lnTo>
                  <a:lnTo>
                    <a:pt x="0" y="539"/>
                  </a:lnTo>
                  <a:lnTo>
                    <a:pt x="14" y="539"/>
                  </a:lnTo>
                  <a:close/>
                  <a:moveTo>
                    <a:pt x="14" y="566"/>
                  </a:moveTo>
                  <a:lnTo>
                    <a:pt x="14" y="580"/>
                  </a:lnTo>
                  <a:lnTo>
                    <a:pt x="0" y="580"/>
                  </a:lnTo>
                  <a:lnTo>
                    <a:pt x="0" y="566"/>
                  </a:lnTo>
                  <a:lnTo>
                    <a:pt x="14" y="566"/>
                  </a:lnTo>
                  <a:close/>
                  <a:moveTo>
                    <a:pt x="14" y="593"/>
                  </a:moveTo>
                  <a:lnTo>
                    <a:pt x="14" y="607"/>
                  </a:lnTo>
                  <a:lnTo>
                    <a:pt x="0" y="607"/>
                  </a:lnTo>
                  <a:lnTo>
                    <a:pt x="0" y="593"/>
                  </a:lnTo>
                  <a:lnTo>
                    <a:pt x="14" y="593"/>
                  </a:lnTo>
                  <a:close/>
                  <a:moveTo>
                    <a:pt x="14" y="620"/>
                  </a:moveTo>
                  <a:lnTo>
                    <a:pt x="14" y="634"/>
                  </a:lnTo>
                  <a:lnTo>
                    <a:pt x="0" y="634"/>
                  </a:lnTo>
                  <a:lnTo>
                    <a:pt x="0" y="620"/>
                  </a:lnTo>
                  <a:lnTo>
                    <a:pt x="14" y="620"/>
                  </a:lnTo>
                  <a:close/>
                  <a:moveTo>
                    <a:pt x="14" y="647"/>
                  </a:moveTo>
                  <a:lnTo>
                    <a:pt x="14" y="661"/>
                  </a:lnTo>
                  <a:lnTo>
                    <a:pt x="0" y="661"/>
                  </a:lnTo>
                  <a:lnTo>
                    <a:pt x="0" y="647"/>
                  </a:lnTo>
                  <a:lnTo>
                    <a:pt x="14" y="647"/>
                  </a:lnTo>
                  <a:close/>
                  <a:moveTo>
                    <a:pt x="14" y="674"/>
                  </a:moveTo>
                  <a:lnTo>
                    <a:pt x="14" y="687"/>
                  </a:lnTo>
                  <a:lnTo>
                    <a:pt x="0" y="687"/>
                  </a:lnTo>
                  <a:lnTo>
                    <a:pt x="0" y="674"/>
                  </a:lnTo>
                  <a:lnTo>
                    <a:pt x="14" y="674"/>
                  </a:lnTo>
                  <a:close/>
                  <a:moveTo>
                    <a:pt x="14" y="701"/>
                  </a:moveTo>
                  <a:lnTo>
                    <a:pt x="14" y="715"/>
                  </a:lnTo>
                  <a:lnTo>
                    <a:pt x="0" y="715"/>
                  </a:lnTo>
                  <a:lnTo>
                    <a:pt x="0" y="701"/>
                  </a:lnTo>
                  <a:lnTo>
                    <a:pt x="14" y="701"/>
                  </a:lnTo>
                  <a:close/>
                  <a:moveTo>
                    <a:pt x="14" y="728"/>
                  </a:moveTo>
                  <a:lnTo>
                    <a:pt x="14" y="741"/>
                  </a:lnTo>
                  <a:lnTo>
                    <a:pt x="0" y="741"/>
                  </a:lnTo>
                  <a:lnTo>
                    <a:pt x="0" y="728"/>
                  </a:lnTo>
                  <a:lnTo>
                    <a:pt x="14" y="728"/>
                  </a:lnTo>
                  <a:close/>
                  <a:moveTo>
                    <a:pt x="14" y="755"/>
                  </a:moveTo>
                  <a:lnTo>
                    <a:pt x="14" y="768"/>
                  </a:lnTo>
                  <a:lnTo>
                    <a:pt x="0" y="768"/>
                  </a:lnTo>
                  <a:lnTo>
                    <a:pt x="0" y="755"/>
                  </a:lnTo>
                  <a:lnTo>
                    <a:pt x="14" y="755"/>
                  </a:lnTo>
                  <a:close/>
                  <a:moveTo>
                    <a:pt x="14" y="782"/>
                  </a:moveTo>
                  <a:lnTo>
                    <a:pt x="14" y="795"/>
                  </a:lnTo>
                  <a:lnTo>
                    <a:pt x="0" y="795"/>
                  </a:lnTo>
                  <a:lnTo>
                    <a:pt x="0" y="782"/>
                  </a:lnTo>
                  <a:lnTo>
                    <a:pt x="14" y="782"/>
                  </a:lnTo>
                  <a:close/>
                  <a:moveTo>
                    <a:pt x="14" y="809"/>
                  </a:moveTo>
                  <a:lnTo>
                    <a:pt x="14" y="822"/>
                  </a:lnTo>
                  <a:lnTo>
                    <a:pt x="0" y="822"/>
                  </a:lnTo>
                  <a:lnTo>
                    <a:pt x="0" y="809"/>
                  </a:lnTo>
                  <a:lnTo>
                    <a:pt x="14" y="809"/>
                  </a:lnTo>
                  <a:close/>
                  <a:moveTo>
                    <a:pt x="14" y="836"/>
                  </a:moveTo>
                  <a:lnTo>
                    <a:pt x="14" y="849"/>
                  </a:lnTo>
                  <a:lnTo>
                    <a:pt x="0" y="849"/>
                  </a:lnTo>
                  <a:lnTo>
                    <a:pt x="0" y="836"/>
                  </a:lnTo>
                  <a:lnTo>
                    <a:pt x="14" y="836"/>
                  </a:lnTo>
                  <a:close/>
                  <a:moveTo>
                    <a:pt x="14" y="863"/>
                  </a:moveTo>
                  <a:lnTo>
                    <a:pt x="14" y="876"/>
                  </a:lnTo>
                  <a:lnTo>
                    <a:pt x="0" y="876"/>
                  </a:lnTo>
                  <a:lnTo>
                    <a:pt x="0" y="863"/>
                  </a:lnTo>
                  <a:lnTo>
                    <a:pt x="14" y="863"/>
                  </a:lnTo>
                  <a:close/>
                  <a:moveTo>
                    <a:pt x="14" y="890"/>
                  </a:moveTo>
                  <a:lnTo>
                    <a:pt x="14" y="903"/>
                  </a:lnTo>
                  <a:lnTo>
                    <a:pt x="0" y="903"/>
                  </a:lnTo>
                  <a:lnTo>
                    <a:pt x="0" y="890"/>
                  </a:lnTo>
                  <a:lnTo>
                    <a:pt x="14" y="890"/>
                  </a:lnTo>
                  <a:close/>
                  <a:moveTo>
                    <a:pt x="14" y="917"/>
                  </a:moveTo>
                  <a:lnTo>
                    <a:pt x="14" y="930"/>
                  </a:lnTo>
                  <a:lnTo>
                    <a:pt x="0" y="930"/>
                  </a:lnTo>
                  <a:lnTo>
                    <a:pt x="0" y="917"/>
                  </a:lnTo>
                  <a:lnTo>
                    <a:pt x="14" y="917"/>
                  </a:lnTo>
                  <a:close/>
                  <a:moveTo>
                    <a:pt x="14" y="944"/>
                  </a:moveTo>
                  <a:lnTo>
                    <a:pt x="14" y="957"/>
                  </a:lnTo>
                  <a:lnTo>
                    <a:pt x="0" y="957"/>
                  </a:lnTo>
                  <a:lnTo>
                    <a:pt x="0" y="944"/>
                  </a:lnTo>
                  <a:lnTo>
                    <a:pt x="14" y="944"/>
                  </a:lnTo>
                  <a:close/>
                  <a:moveTo>
                    <a:pt x="14" y="970"/>
                  </a:moveTo>
                  <a:lnTo>
                    <a:pt x="14" y="984"/>
                  </a:lnTo>
                  <a:lnTo>
                    <a:pt x="0" y="984"/>
                  </a:lnTo>
                  <a:lnTo>
                    <a:pt x="0" y="970"/>
                  </a:lnTo>
                  <a:lnTo>
                    <a:pt x="14" y="970"/>
                  </a:lnTo>
                  <a:close/>
                  <a:moveTo>
                    <a:pt x="14" y="998"/>
                  </a:moveTo>
                  <a:lnTo>
                    <a:pt x="14" y="1011"/>
                  </a:lnTo>
                  <a:lnTo>
                    <a:pt x="0" y="1011"/>
                  </a:lnTo>
                  <a:lnTo>
                    <a:pt x="0" y="998"/>
                  </a:lnTo>
                  <a:lnTo>
                    <a:pt x="14" y="998"/>
                  </a:lnTo>
                  <a:close/>
                  <a:moveTo>
                    <a:pt x="14" y="1024"/>
                  </a:moveTo>
                  <a:lnTo>
                    <a:pt x="14" y="1038"/>
                  </a:lnTo>
                  <a:lnTo>
                    <a:pt x="0" y="1038"/>
                  </a:lnTo>
                  <a:lnTo>
                    <a:pt x="0" y="1024"/>
                  </a:lnTo>
                  <a:lnTo>
                    <a:pt x="14" y="1024"/>
                  </a:lnTo>
                  <a:close/>
                  <a:moveTo>
                    <a:pt x="14" y="1051"/>
                  </a:moveTo>
                  <a:lnTo>
                    <a:pt x="14" y="1065"/>
                  </a:lnTo>
                  <a:lnTo>
                    <a:pt x="0" y="1065"/>
                  </a:lnTo>
                  <a:lnTo>
                    <a:pt x="0" y="1051"/>
                  </a:lnTo>
                  <a:lnTo>
                    <a:pt x="14" y="1051"/>
                  </a:lnTo>
                  <a:close/>
                  <a:moveTo>
                    <a:pt x="14" y="1078"/>
                  </a:moveTo>
                  <a:lnTo>
                    <a:pt x="14" y="1092"/>
                  </a:lnTo>
                  <a:lnTo>
                    <a:pt x="0" y="1092"/>
                  </a:lnTo>
                  <a:lnTo>
                    <a:pt x="0" y="1078"/>
                  </a:lnTo>
                  <a:lnTo>
                    <a:pt x="14" y="1078"/>
                  </a:lnTo>
                  <a:close/>
                  <a:moveTo>
                    <a:pt x="14" y="1105"/>
                  </a:moveTo>
                  <a:lnTo>
                    <a:pt x="14" y="1119"/>
                  </a:lnTo>
                  <a:lnTo>
                    <a:pt x="0" y="1119"/>
                  </a:lnTo>
                  <a:lnTo>
                    <a:pt x="0" y="1105"/>
                  </a:lnTo>
                  <a:lnTo>
                    <a:pt x="14" y="1105"/>
                  </a:lnTo>
                  <a:close/>
                  <a:moveTo>
                    <a:pt x="14" y="1132"/>
                  </a:moveTo>
                  <a:lnTo>
                    <a:pt x="14" y="1146"/>
                  </a:lnTo>
                  <a:lnTo>
                    <a:pt x="0" y="1146"/>
                  </a:lnTo>
                  <a:lnTo>
                    <a:pt x="0" y="1132"/>
                  </a:lnTo>
                  <a:lnTo>
                    <a:pt x="14" y="1132"/>
                  </a:lnTo>
                  <a:close/>
                  <a:moveTo>
                    <a:pt x="14" y="1159"/>
                  </a:moveTo>
                  <a:lnTo>
                    <a:pt x="14" y="1173"/>
                  </a:lnTo>
                  <a:lnTo>
                    <a:pt x="0" y="1173"/>
                  </a:lnTo>
                  <a:lnTo>
                    <a:pt x="0" y="1159"/>
                  </a:lnTo>
                  <a:lnTo>
                    <a:pt x="14" y="1159"/>
                  </a:lnTo>
                  <a:close/>
                  <a:moveTo>
                    <a:pt x="14" y="1186"/>
                  </a:moveTo>
                  <a:lnTo>
                    <a:pt x="14" y="1200"/>
                  </a:lnTo>
                  <a:lnTo>
                    <a:pt x="0" y="1200"/>
                  </a:lnTo>
                  <a:lnTo>
                    <a:pt x="0" y="1186"/>
                  </a:lnTo>
                  <a:lnTo>
                    <a:pt x="14" y="1186"/>
                  </a:lnTo>
                  <a:close/>
                  <a:moveTo>
                    <a:pt x="14" y="1213"/>
                  </a:moveTo>
                  <a:lnTo>
                    <a:pt x="14" y="1227"/>
                  </a:lnTo>
                  <a:lnTo>
                    <a:pt x="0" y="1227"/>
                  </a:lnTo>
                  <a:lnTo>
                    <a:pt x="0" y="1213"/>
                  </a:lnTo>
                  <a:lnTo>
                    <a:pt x="14" y="1213"/>
                  </a:lnTo>
                  <a:close/>
                  <a:moveTo>
                    <a:pt x="14" y="1240"/>
                  </a:moveTo>
                  <a:lnTo>
                    <a:pt x="14" y="1253"/>
                  </a:lnTo>
                  <a:lnTo>
                    <a:pt x="0" y="1253"/>
                  </a:lnTo>
                  <a:lnTo>
                    <a:pt x="0" y="1240"/>
                  </a:lnTo>
                  <a:lnTo>
                    <a:pt x="14" y="1240"/>
                  </a:lnTo>
                  <a:close/>
                  <a:moveTo>
                    <a:pt x="14" y="1267"/>
                  </a:moveTo>
                  <a:lnTo>
                    <a:pt x="14" y="1281"/>
                  </a:lnTo>
                  <a:lnTo>
                    <a:pt x="0" y="1281"/>
                  </a:lnTo>
                  <a:lnTo>
                    <a:pt x="0" y="1267"/>
                  </a:lnTo>
                  <a:lnTo>
                    <a:pt x="14" y="1267"/>
                  </a:lnTo>
                  <a:close/>
                  <a:moveTo>
                    <a:pt x="14" y="1294"/>
                  </a:moveTo>
                  <a:lnTo>
                    <a:pt x="14" y="1307"/>
                  </a:lnTo>
                  <a:lnTo>
                    <a:pt x="0" y="1307"/>
                  </a:lnTo>
                  <a:lnTo>
                    <a:pt x="0" y="1294"/>
                  </a:lnTo>
                  <a:lnTo>
                    <a:pt x="14" y="1294"/>
                  </a:lnTo>
                  <a:close/>
                  <a:moveTo>
                    <a:pt x="14" y="1321"/>
                  </a:moveTo>
                  <a:lnTo>
                    <a:pt x="14" y="1334"/>
                  </a:lnTo>
                  <a:lnTo>
                    <a:pt x="0" y="1334"/>
                  </a:lnTo>
                  <a:lnTo>
                    <a:pt x="0" y="1321"/>
                  </a:lnTo>
                  <a:lnTo>
                    <a:pt x="14" y="1321"/>
                  </a:lnTo>
                  <a:close/>
                  <a:moveTo>
                    <a:pt x="14" y="1348"/>
                  </a:moveTo>
                  <a:lnTo>
                    <a:pt x="14" y="1361"/>
                  </a:lnTo>
                  <a:lnTo>
                    <a:pt x="0" y="1361"/>
                  </a:lnTo>
                  <a:lnTo>
                    <a:pt x="0" y="1348"/>
                  </a:lnTo>
                  <a:lnTo>
                    <a:pt x="14" y="1348"/>
                  </a:lnTo>
                  <a:close/>
                  <a:moveTo>
                    <a:pt x="14" y="1375"/>
                  </a:moveTo>
                  <a:lnTo>
                    <a:pt x="14" y="1388"/>
                  </a:lnTo>
                  <a:lnTo>
                    <a:pt x="0" y="1388"/>
                  </a:lnTo>
                  <a:lnTo>
                    <a:pt x="0" y="1375"/>
                  </a:lnTo>
                  <a:lnTo>
                    <a:pt x="14" y="1375"/>
                  </a:lnTo>
                  <a:close/>
                  <a:moveTo>
                    <a:pt x="14" y="1402"/>
                  </a:moveTo>
                  <a:lnTo>
                    <a:pt x="14" y="1415"/>
                  </a:lnTo>
                  <a:lnTo>
                    <a:pt x="0" y="1415"/>
                  </a:lnTo>
                  <a:lnTo>
                    <a:pt x="0" y="1402"/>
                  </a:lnTo>
                  <a:lnTo>
                    <a:pt x="14" y="1402"/>
                  </a:lnTo>
                  <a:close/>
                  <a:moveTo>
                    <a:pt x="14" y="1429"/>
                  </a:moveTo>
                  <a:lnTo>
                    <a:pt x="14" y="1442"/>
                  </a:lnTo>
                  <a:lnTo>
                    <a:pt x="0" y="1442"/>
                  </a:lnTo>
                  <a:lnTo>
                    <a:pt x="0" y="1429"/>
                  </a:lnTo>
                  <a:lnTo>
                    <a:pt x="14" y="1429"/>
                  </a:lnTo>
                  <a:close/>
                  <a:moveTo>
                    <a:pt x="14" y="1455"/>
                  </a:moveTo>
                  <a:lnTo>
                    <a:pt x="14" y="1469"/>
                  </a:lnTo>
                  <a:lnTo>
                    <a:pt x="0" y="1469"/>
                  </a:lnTo>
                  <a:lnTo>
                    <a:pt x="0" y="1455"/>
                  </a:lnTo>
                  <a:lnTo>
                    <a:pt x="14" y="1455"/>
                  </a:lnTo>
                  <a:close/>
                  <a:moveTo>
                    <a:pt x="14" y="1483"/>
                  </a:moveTo>
                  <a:lnTo>
                    <a:pt x="14" y="1496"/>
                  </a:lnTo>
                  <a:lnTo>
                    <a:pt x="0" y="1496"/>
                  </a:lnTo>
                  <a:lnTo>
                    <a:pt x="0" y="1483"/>
                  </a:lnTo>
                  <a:lnTo>
                    <a:pt x="14" y="1483"/>
                  </a:lnTo>
                  <a:close/>
                  <a:moveTo>
                    <a:pt x="14" y="1510"/>
                  </a:moveTo>
                  <a:lnTo>
                    <a:pt x="14" y="1523"/>
                  </a:lnTo>
                  <a:lnTo>
                    <a:pt x="0" y="1523"/>
                  </a:lnTo>
                  <a:lnTo>
                    <a:pt x="0" y="1510"/>
                  </a:lnTo>
                  <a:lnTo>
                    <a:pt x="14" y="1510"/>
                  </a:lnTo>
                  <a:close/>
                  <a:moveTo>
                    <a:pt x="14" y="1536"/>
                  </a:moveTo>
                  <a:lnTo>
                    <a:pt x="14" y="1550"/>
                  </a:lnTo>
                  <a:lnTo>
                    <a:pt x="0" y="1550"/>
                  </a:lnTo>
                  <a:lnTo>
                    <a:pt x="0" y="1536"/>
                  </a:lnTo>
                  <a:lnTo>
                    <a:pt x="14" y="1536"/>
                  </a:lnTo>
                  <a:close/>
                  <a:moveTo>
                    <a:pt x="14" y="1564"/>
                  </a:moveTo>
                  <a:lnTo>
                    <a:pt x="14" y="1577"/>
                  </a:lnTo>
                  <a:lnTo>
                    <a:pt x="0" y="1577"/>
                  </a:lnTo>
                  <a:lnTo>
                    <a:pt x="0" y="1564"/>
                  </a:lnTo>
                  <a:lnTo>
                    <a:pt x="14" y="1564"/>
                  </a:lnTo>
                  <a:close/>
                  <a:moveTo>
                    <a:pt x="14" y="1590"/>
                  </a:moveTo>
                  <a:lnTo>
                    <a:pt x="14" y="1604"/>
                  </a:lnTo>
                  <a:lnTo>
                    <a:pt x="0" y="1604"/>
                  </a:lnTo>
                  <a:lnTo>
                    <a:pt x="0" y="1590"/>
                  </a:lnTo>
                  <a:lnTo>
                    <a:pt x="14" y="1590"/>
                  </a:lnTo>
                  <a:close/>
                  <a:moveTo>
                    <a:pt x="14" y="1617"/>
                  </a:moveTo>
                  <a:lnTo>
                    <a:pt x="14" y="1631"/>
                  </a:lnTo>
                  <a:lnTo>
                    <a:pt x="0" y="1631"/>
                  </a:lnTo>
                  <a:lnTo>
                    <a:pt x="0" y="1617"/>
                  </a:lnTo>
                  <a:lnTo>
                    <a:pt x="14" y="1617"/>
                  </a:lnTo>
                  <a:close/>
                  <a:moveTo>
                    <a:pt x="14" y="1644"/>
                  </a:moveTo>
                  <a:lnTo>
                    <a:pt x="14" y="1658"/>
                  </a:lnTo>
                  <a:lnTo>
                    <a:pt x="0" y="1658"/>
                  </a:lnTo>
                  <a:lnTo>
                    <a:pt x="0" y="1644"/>
                  </a:lnTo>
                  <a:lnTo>
                    <a:pt x="14" y="1644"/>
                  </a:lnTo>
                  <a:close/>
                  <a:moveTo>
                    <a:pt x="14" y="1671"/>
                  </a:moveTo>
                  <a:lnTo>
                    <a:pt x="14" y="1685"/>
                  </a:lnTo>
                  <a:lnTo>
                    <a:pt x="0" y="1685"/>
                  </a:lnTo>
                  <a:lnTo>
                    <a:pt x="0" y="1671"/>
                  </a:lnTo>
                  <a:lnTo>
                    <a:pt x="14" y="1671"/>
                  </a:lnTo>
                  <a:close/>
                  <a:moveTo>
                    <a:pt x="14" y="1698"/>
                  </a:moveTo>
                  <a:lnTo>
                    <a:pt x="14" y="1712"/>
                  </a:lnTo>
                  <a:lnTo>
                    <a:pt x="0" y="1712"/>
                  </a:lnTo>
                  <a:lnTo>
                    <a:pt x="0" y="1698"/>
                  </a:lnTo>
                  <a:lnTo>
                    <a:pt x="14" y="1698"/>
                  </a:lnTo>
                  <a:close/>
                  <a:moveTo>
                    <a:pt x="14" y="1725"/>
                  </a:moveTo>
                  <a:lnTo>
                    <a:pt x="14" y="1738"/>
                  </a:lnTo>
                  <a:lnTo>
                    <a:pt x="0" y="1738"/>
                  </a:lnTo>
                  <a:lnTo>
                    <a:pt x="0" y="1725"/>
                  </a:lnTo>
                  <a:lnTo>
                    <a:pt x="14" y="1725"/>
                  </a:lnTo>
                  <a:close/>
                  <a:moveTo>
                    <a:pt x="14" y="1752"/>
                  </a:moveTo>
                  <a:lnTo>
                    <a:pt x="14" y="1766"/>
                  </a:lnTo>
                  <a:lnTo>
                    <a:pt x="0" y="1766"/>
                  </a:lnTo>
                  <a:lnTo>
                    <a:pt x="0" y="1752"/>
                  </a:lnTo>
                  <a:lnTo>
                    <a:pt x="14" y="1752"/>
                  </a:lnTo>
                  <a:close/>
                  <a:moveTo>
                    <a:pt x="14" y="1779"/>
                  </a:moveTo>
                  <a:lnTo>
                    <a:pt x="14" y="1792"/>
                  </a:lnTo>
                  <a:lnTo>
                    <a:pt x="0" y="1792"/>
                  </a:lnTo>
                  <a:lnTo>
                    <a:pt x="0" y="1779"/>
                  </a:lnTo>
                  <a:lnTo>
                    <a:pt x="14" y="1779"/>
                  </a:lnTo>
                  <a:close/>
                  <a:moveTo>
                    <a:pt x="14" y="1806"/>
                  </a:moveTo>
                  <a:lnTo>
                    <a:pt x="14" y="1819"/>
                  </a:lnTo>
                  <a:lnTo>
                    <a:pt x="0" y="1819"/>
                  </a:lnTo>
                  <a:lnTo>
                    <a:pt x="0" y="1806"/>
                  </a:lnTo>
                  <a:lnTo>
                    <a:pt x="14" y="1806"/>
                  </a:lnTo>
                  <a:close/>
                  <a:moveTo>
                    <a:pt x="14" y="1833"/>
                  </a:moveTo>
                  <a:lnTo>
                    <a:pt x="14" y="1846"/>
                  </a:lnTo>
                  <a:lnTo>
                    <a:pt x="0" y="1846"/>
                  </a:lnTo>
                  <a:lnTo>
                    <a:pt x="0" y="1833"/>
                  </a:lnTo>
                  <a:lnTo>
                    <a:pt x="14" y="1833"/>
                  </a:lnTo>
                  <a:close/>
                  <a:moveTo>
                    <a:pt x="14" y="1860"/>
                  </a:moveTo>
                  <a:lnTo>
                    <a:pt x="14" y="1873"/>
                  </a:lnTo>
                  <a:lnTo>
                    <a:pt x="0" y="1873"/>
                  </a:lnTo>
                  <a:lnTo>
                    <a:pt x="0" y="1860"/>
                  </a:lnTo>
                  <a:lnTo>
                    <a:pt x="14" y="1860"/>
                  </a:lnTo>
                  <a:close/>
                  <a:moveTo>
                    <a:pt x="14" y="1887"/>
                  </a:moveTo>
                  <a:lnTo>
                    <a:pt x="14" y="1900"/>
                  </a:lnTo>
                  <a:lnTo>
                    <a:pt x="0" y="1900"/>
                  </a:lnTo>
                  <a:lnTo>
                    <a:pt x="0" y="1887"/>
                  </a:lnTo>
                  <a:lnTo>
                    <a:pt x="14" y="1887"/>
                  </a:lnTo>
                  <a:close/>
                  <a:moveTo>
                    <a:pt x="14" y="1914"/>
                  </a:moveTo>
                  <a:lnTo>
                    <a:pt x="14" y="1927"/>
                  </a:lnTo>
                  <a:lnTo>
                    <a:pt x="0" y="1927"/>
                  </a:lnTo>
                  <a:lnTo>
                    <a:pt x="0" y="1914"/>
                  </a:lnTo>
                  <a:lnTo>
                    <a:pt x="14" y="1914"/>
                  </a:lnTo>
                  <a:close/>
                  <a:moveTo>
                    <a:pt x="14" y="1941"/>
                  </a:moveTo>
                  <a:lnTo>
                    <a:pt x="14" y="1954"/>
                  </a:lnTo>
                  <a:lnTo>
                    <a:pt x="0" y="1954"/>
                  </a:lnTo>
                  <a:lnTo>
                    <a:pt x="0" y="1941"/>
                  </a:lnTo>
                  <a:lnTo>
                    <a:pt x="14" y="1941"/>
                  </a:lnTo>
                  <a:close/>
                  <a:moveTo>
                    <a:pt x="14" y="1968"/>
                  </a:moveTo>
                  <a:lnTo>
                    <a:pt x="14" y="1981"/>
                  </a:lnTo>
                  <a:lnTo>
                    <a:pt x="0" y="1981"/>
                  </a:lnTo>
                  <a:lnTo>
                    <a:pt x="0" y="1968"/>
                  </a:lnTo>
                  <a:lnTo>
                    <a:pt x="14" y="1968"/>
                  </a:lnTo>
                  <a:close/>
                  <a:moveTo>
                    <a:pt x="14" y="1995"/>
                  </a:moveTo>
                  <a:lnTo>
                    <a:pt x="14" y="2008"/>
                  </a:lnTo>
                  <a:lnTo>
                    <a:pt x="0" y="2008"/>
                  </a:lnTo>
                  <a:lnTo>
                    <a:pt x="0" y="1995"/>
                  </a:lnTo>
                  <a:lnTo>
                    <a:pt x="14" y="1995"/>
                  </a:lnTo>
                  <a:close/>
                  <a:moveTo>
                    <a:pt x="14" y="2021"/>
                  </a:moveTo>
                  <a:lnTo>
                    <a:pt x="14" y="2035"/>
                  </a:lnTo>
                  <a:lnTo>
                    <a:pt x="0" y="2035"/>
                  </a:lnTo>
                  <a:lnTo>
                    <a:pt x="0" y="2021"/>
                  </a:lnTo>
                  <a:lnTo>
                    <a:pt x="14" y="2021"/>
                  </a:lnTo>
                  <a:close/>
                  <a:moveTo>
                    <a:pt x="14" y="2049"/>
                  </a:moveTo>
                  <a:lnTo>
                    <a:pt x="14" y="2062"/>
                  </a:lnTo>
                  <a:lnTo>
                    <a:pt x="0" y="2062"/>
                  </a:lnTo>
                  <a:lnTo>
                    <a:pt x="0" y="2049"/>
                  </a:lnTo>
                  <a:lnTo>
                    <a:pt x="14" y="2049"/>
                  </a:lnTo>
                  <a:close/>
                  <a:moveTo>
                    <a:pt x="14" y="2075"/>
                  </a:moveTo>
                  <a:lnTo>
                    <a:pt x="14" y="2089"/>
                  </a:lnTo>
                  <a:lnTo>
                    <a:pt x="0" y="2089"/>
                  </a:lnTo>
                  <a:lnTo>
                    <a:pt x="0" y="2075"/>
                  </a:lnTo>
                  <a:lnTo>
                    <a:pt x="14" y="2075"/>
                  </a:lnTo>
                  <a:close/>
                  <a:moveTo>
                    <a:pt x="14" y="2102"/>
                  </a:moveTo>
                  <a:lnTo>
                    <a:pt x="14" y="2116"/>
                  </a:lnTo>
                  <a:lnTo>
                    <a:pt x="0" y="2116"/>
                  </a:lnTo>
                  <a:lnTo>
                    <a:pt x="0" y="2102"/>
                  </a:lnTo>
                  <a:lnTo>
                    <a:pt x="14" y="2102"/>
                  </a:lnTo>
                  <a:close/>
                  <a:moveTo>
                    <a:pt x="14" y="2129"/>
                  </a:moveTo>
                  <a:lnTo>
                    <a:pt x="14" y="2143"/>
                  </a:lnTo>
                  <a:lnTo>
                    <a:pt x="0" y="2143"/>
                  </a:lnTo>
                  <a:lnTo>
                    <a:pt x="0" y="2129"/>
                  </a:lnTo>
                  <a:lnTo>
                    <a:pt x="14" y="2129"/>
                  </a:lnTo>
                  <a:close/>
                  <a:moveTo>
                    <a:pt x="14" y="2156"/>
                  </a:moveTo>
                  <a:lnTo>
                    <a:pt x="14" y="2170"/>
                  </a:lnTo>
                  <a:lnTo>
                    <a:pt x="0" y="2170"/>
                  </a:lnTo>
                  <a:lnTo>
                    <a:pt x="0" y="2156"/>
                  </a:lnTo>
                  <a:lnTo>
                    <a:pt x="14" y="2156"/>
                  </a:lnTo>
                  <a:close/>
                  <a:moveTo>
                    <a:pt x="14" y="2183"/>
                  </a:moveTo>
                  <a:lnTo>
                    <a:pt x="14" y="2197"/>
                  </a:lnTo>
                  <a:lnTo>
                    <a:pt x="0" y="2197"/>
                  </a:lnTo>
                  <a:lnTo>
                    <a:pt x="0" y="2183"/>
                  </a:lnTo>
                  <a:lnTo>
                    <a:pt x="14" y="2183"/>
                  </a:lnTo>
                  <a:close/>
                  <a:moveTo>
                    <a:pt x="14" y="2210"/>
                  </a:moveTo>
                  <a:lnTo>
                    <a:pt x="14" y="2224"/>
                  </a:lnTo>
                  <a:lnTo>
                    <a:pt x="0" y="2224"/>
                  </a:lnTo>
                  <a:lnTo>
                    <a:pt x="0" y="2210"/>
                  </a:lnTo>
                  <a:lnTo>
                    <a:pt x="14" y="2210"/>
                  </a:lnTo>
                  <a:close/>
                  <a:moveTo>
                    <a:pt x="14" y="2237"/>
                  </a:moveTo>
                  <a:lnTo>
                    <a:pt x="14" y="2251"/>
                  </a:lnTo>
                  <a:lnTo>
                    <a:pt x="0" y="2251"/>
                  </a:lnTo>
                  <a:lnTo>
                    <a:pt x="0" y="2237"/>
                  </a:lnTo>
                  <a:lnTo>
                    <a:pt x="14" y="2237"/>
                  </a:lnTo>
                  <a:close/>
                  <a:moveTo>
                    <a:pt x="14" y="2264"/>
                  </a:moveTo>
                  <a:lnTo>
                    <a:pt x="14" y="2278"/>
                  </a:lnTo>
                  <a:lnTo>
                    <a:pt x="0" y="2278"/>
                  </a:lnTo>
                  <a:lnTo>
                    <a:pt x="0" y="2264"/>
                  </a:lnTo>
                  <a:lnTo>
                    <a:pt x="14" y="2264"/>
                  </a:lnTo>
                  <a:close/>
                  <a:moveTo>
                    <a:pt x="14" y="2291"/>
                  </a:moveTo>
                  <a:lnTo>
                    <a:pt x="14" y="2304"/>
                  </a:lnTo>
                  <a:lnTo>
                    <a:pt x="0" y="2304"/>
                  </a:lnTo>
                  <a:lnTo>
                    <a:pt x="0" y="2291"/>
                  </a:lnTo>
                  <a:lnTo>
                    <a:pt x="14" y="2291"/>
                  </a:lnTo>
                  <a:close/>
                  <a:moveTo>
                    <a:pt x="14" y="2318"/>
                  </a:moveTo>
                  <a:lnTo>
                    <a:pt x="14" y="2332"/>
                  </a:lnTo>
                  <a:lnTo>
                    <a:pt x="0" y="2332"/>
                  </a:lnTo>
                  <a:lnTo>
                    <a:pt x="0" y="2318"/>
                  </a:lnTo>
                  <a:lnTo>
                    <a:pt x="14" y="2318"/>
                  </a:lnTo>
                  <a:close/>
                  <a:moveTo>
                    <a:pt x="14" y="2345"/>
                  </a:moveTo>
                  <a:lnTo>
                    <a:pt x="14" y="2358"/>
                  </a:lnTo>
                  <a:lnTo>
                    <a:pt x="0" y="2358"/>
                  </a:lnTo>
                  <a:lnTo>
                    <a:pt x="0" y="2345"/>
                  </a:lnTo>
                  <a:lnTo>
                    <a:pt x="14" y="2345"/>
                  </a:lnTo>
                  <a:close/>
                </a:path>
              </a:pathLst>
            </a:custGeom>
            <a:solidFill>
              <a:srgbClr val="000000"/>
            </a:solidFill>
            <a:ln w="0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86" name="Freeform 82">
              <a:extLst>
                <a:ext uri="{FF2B5EF4-FFF2-40B4-BE49-F238E27FC236}">
                  <a16:creationId xmlns:a16="http://schemas.microsoft.com/office/drawing/2014/main" id="{93BE9FA2-DA23-4157-8249-23196625421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149942" y="2655977"/>
              <a:ext cx="20668" cy="3748911"/>
            </a:xfrm>
            <a:custGeom>
              <a:avLst/>
              <a:gdLst>
                <a:gd name="T0" fmla="*/ 13 w 13"/>
                <a:gd name="T1" fmla="*/ 41 h 2358"/>
                <a:gd name="T2" fmla="*/ 0 w 13"/>
                <a:gd name="T3" fmla="*/ 54 h 2358"/>
                <a:gd name="T4" fmla="*/ 13 w 13"/>
                <a:gd name="T5" fmla="*/ 108 h 2358"/>
                <a:gd name="T6" fmla="*/ 0 w 13"/>
                <a:gd name="T7" fmla="*/ 149 h 2358"/>
                <a:gd name="T8" fmla="*/ 13 w 13"/>
                <a:gd name="T9" fmla="*/ 162 h 2358"/>
                <a:gd name="T10" fmla="*/ 13 w 13"/>
                <a:gd name="T11" fmla="*/ 229 h 2358"/>
                <a:gd name="T12" fmla="*/ 0 w 13"/>
                <a:gd name="T13" fmla="*/ 243 h 2358"/>
                <a:gd name="T14" fmla="*/ 13 w 13"/>
                <a:gd name="T15" fmla="*/ 297 h 2358"/>
                <a:gd name="T16" fmla="*/ 0 w 13"/>
                <a:gd name="T17" fmla="*/ 337 h 2358"/>
                <a:gd name="T18" fmla="*/ 13 w 13"/>
                <a:gd name="T19" fmla="*/ 351 h 2358"/>
                <a:gd name="T20" fmla="*/ 13 w 13"/>
                <a:gd name="T21" fmla="*/ 418 h 2358"/>
                <a:gd name="T22" fmla="*/ 0 w 13"/>
                <a:gd name="T23" fmla="*/ 432 h 2358"/>
                <a:gd name="T24" fmla="*/ 13 w 13"/>
                <a:gd name="T25" fmla="*/ 485 h 2358"/>
                <a:gd name="T26" fmla="*/ 0 w 13"/>
                <a:gd name="T27" fmla="*/ 526 h 2358"/>
                <a:gd name="T28" fmla="*/ 13 w 13"/>
                <a:gd name="T29" fmla="*/ 539 h 2358"/>
                <a:gd name="T30" fmla="*/ 13 w 13"/>
                <a:gd name="T31" fmla="*/ 607 h 2358"/>
                <a:gd name="T32" fmla="*/ 0 w 13"/>
                <a:gd name="T33" fmla="*/ 620 h 2358"/>
                <a:gd name="T34" fmla="*/ 13 w 13"/>
                <a:gd name="T35" fmla="*/ 674 h 2358"/>
                <a:gd name="T36" fmla="*/ 0 w 13"/>
                <a:gd name="T37" fmla="*/ 715 h 2358"/>
                <a:gd name="T38" fmla="*/ 13 w 13"/>
                <a:gd name="T39" fmla="*/ 728 h 2358"/>
                <a:gd name="T40" fmla="*/ 13 w 13"/>
                <a:gd name="T41" fmla="*/ 795 h 2358"/>
                <a:gd name="T42" fmla="*/ 0 w 13"/>
                <a:gd name="T43" fmla="*/ 809 h 2358"/>
                <a:gd name="T44" fmla="*/ 13 w 13"/>
                <a:gd name="T45" fmla="*/ 863 h 2358"/>
                <a:gd name="T46" fmla="*/ 0 w 13"/>
                <a:gd name="T47" fmla="*/ 903 h 2358"/>
                <a:gd name="T48" fmla="*/ 13 w 13"/>
                <a:gd name="T49" fmla="*/ 917 h 2358"/>
                <a:gd name="T50" fmla="*/ 13 w 13"/>
                <a:gd name="T51" fmla="*/ 984 h 2358"/>
                <a:gd name="T52" fmla="*/ 0 w 13"/>
                <a:gd name="T53" fmla="*/ 998 h 2358"/>
                <a:gd name="T54" fmla="*/ 13 w 13"/>
                <a:gd name="T55" fmla="*/ 1051 h 2358"/>
                <a:gd name="T56" fmla="*/ 0 w 13"/>
                <a:gd name="T57" fmla="*/ 1092 h 2358"/>
                <a:gd name="T58" fmla="*/ 13 w 13"/>
                <a:gd name="T59" fmla="*/ 1105 h 2358"/>
                <a:gd name="T60" fmla="*/ 13 w 13"/>
                <a:gd name="T61" fmla="*/ 1173 h 2358"/>
                <a:gd name="T62" fmla="*/ 0 w 13"/>
                <a:gd name="T63" fmla="*/ 1186 h 2358"/>
                <a:gd name="T64" fmla="*/ 13 w 13"/>
                <a:gd name="T65" fmla="*/ 1240 h 2358"/>
                <a:gd name="T66" fmla="*/ 0 w 13"/>
                <a:gd name="T67" fmla="*/ 1281 h 2358"/>
                <a:gd name="T68" fmla="*/ 13 w 13"/>
                <a:gd name="T69" fmla="*/ 1294 h 2358"/>
                <a:gd name="T70" fmla="*/ 13 w 13"/>
                <a:gd name="T71" fmla="*/ 1361 h 2358"/>
                <a:gd name="T72" fmla="*/ 0 w 13"/>
                <a:gd name="T73" fmla="*/ 1375 h 2358"/>
                <a:gd name="T74" fmla="*/ 13 w 13"/>
                <a:gd name="T75" fmla="*/ 1429 h 2358"/>
                <a:gd name="T76" fmla="*/ 0 w 13"/>
                <a:gd name="T77" fmla="*/ 1469 h 2358"/>
                <a:gd name="T78" fmla="*/ 13 w 13"/>
                <a:gd name="T79" fmla="*/ 1483 h 2358"/>
                <a:gd name="T80" fmla="*/ 13 w 13"/>
                <a:gd name="T81" fmla="*/ 1550 h 2358"/>
                <a:gd name="T82" fmla="*/ 0 w 13"/>
                <a:gd name="T83" fmla="*/ 1564 h 2358"/>
                <a:gd name="T84" fmla="*/ 13 w 13"/>
                <a:gd name="T85" fmla="*/ 1617 h 2358"/>
                <a:gd name="T86" fmla="*/ 0 w 13"/>
                <a:gd name="T87" fmla="*/ 1658 h 2358"/>
                <a:gd name="T88" fmla="*/ 13 w 13"/>
                <a:gd name="T89" fmla="*/ 1671 h 2358"/>
                <a:gd name="T90" fmla="*/ 13 w 13"/>
                <a:gd name="T91" fmla="*/ 1738 h 2358"/>
                <a:gd name="T92" fmla="*/ 0 w 13"/>
                <a:gd name="T93" fmla="*/ 1752 h 2358"/>
                <a:gd name="T94" fmla="*/ 13 w 13"/>
                <a:gd name="T95" fmla="*/ 1806 h 2358"/>
                <a:gd name="T96" fmla="*/ 0 w 13"/>
                <a:gd name="T97" fmla="*/ 1846 h 2358"/>
                <a:gd name="T98" fmla="*/ 13 w 13"/>
                <a:gd name="T99" fmla="*/ 1860 h 2358"/>
                <a:gd name="T100" fmla="*/ 13 w 13"/>
                <a:gd name="T101" fmla="*/ 1927 h 2358"/>
                <a:gd name="T102" fmla="*/ 0 w 13"/>
                <a:gd name="T103" fmla="*/ 1941 h 2358"/>
                <a:gd name="T104" fmla="*/ 13 w 13"/>
                <a:gd name="T105" fmla="*/ 1995 h 2358"/>
                <a:gd name="T106" fmla="*/ 0 w 13"/>
                <a:gd name="T107" fmla="*/ 2035 h 2358"/>
                <a:gd name="T108" fmla="*/ 13 w 13"/>
                <a:gd name="T109" fmla="*/ 2049 h 2358"/>
                <a:gd name="T110" fmla="*/ 13 w 13"/>
                <a:gd name="T111" fmla="*/ 2116 h 2358"/>
                <a:gd name="T112" fmla="*/ 0 w 13"/>
                <a:gd name="T113" fmla="*/ 2129 h 2358"/>
                <a:gd name="T114" fmla="*/ 13 w 13"/>
                <a:gd name="T115" fmla="*/ 2183 h 2358"/>
                <a:gd name="T116" fmla="*/ 0 w 13"/>
                <a:gd name="T117" fmla="*/ 2224 h 2358"/>
                <a:gd name="T118" fmla="*/ 13 w 13"/>
                <a:gd name="T119" fmla="*/ 2237 h 2358"/>
                <a:gd name="T120" fmla="*/ 13 w 13"/>
                <a:gd name="T121" fmla="*/ 2304 h 2358"/>
                <a:gd name="T122" fmla="*/ 0 w 13"/>
                <a:gd name="T123" fmla="*/ 2318 h 23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3" h="2358">
                  <a:moveTo>
                    <a:pt x="13" y="0"/>
                  </a:moveTo>
                  <a:lnTo>
                    <a:pt x="13" y="14"/>
                  </a:lnTo>
                  <a:lnTo>
                    <a:pt x="0" y="14"/>
                  </a:lnTo>
                  <a:lnTo>
                    <a:pt x="0" y="0"/>
                  </a:lnTo>
                  <a:lnTo>
                    <a:pt x="13" y="0"/>
                  </a:lnTo>
                  <a:close/>
                  <a:moveTo>
                    <a:pt x="13" y="27"/>
                  </a:moveTo>
                  <a:lnTo>
                    <a:pt x="13" y="41"/>
                  </a:lnTo>
                  <a:lnTo>
                    <a:pt x="0" y="41"/>
                  </a:lnTo>
                  <a:lnTo>
                    <a:pt x="0" y="27"/>
                  </a:lnTo>
                  <a:lnTo>
                    <a:pt x="13" y="27"/>
                  </a:lnTo>
                  <a:close/>
                  <a:moveTo>
                    <a:pt x="13" y="54"/>
                  </a:moveTo>
                  <a:lnTo>
                    <a:pt x="13" y="68"/>
                  </a:lnTo>
                  <a:lnTo>
                    <a:pt x="0" y="68"/>
                  </a:lnTo>
                  <a:lnTo>
                    <a:pt x="0" y="54"/>
                  </a:lnTo>
                  <a:lnTo>
                    <a:pt x="13" y="54"/>
                  </a:lnTo>
                  <a:close/>
                  <a:moveTo>
                    <a:pt x="13" y="81"/>
                  </a:moveTo>
                  <a:lnTo>
                    <a:pt x="13" y="95"/>
                  </a:lnTo>
                  <a:lnTo>
                    <a:pt x="0" y="95"/>
                  </a:lnTo>
                  <a:lnTo>
                    <a:pt x="0" y="81"/>
                  </a:lnTo>
                  <a:lnTo>
                    <a:pt x="13" y="81"/>
                  </a:lnTo>
                  <a:close/>
                  <a:moveTo>
                    <a:pt x="13" y="108"/>
                  </a:moveTo>
                  <a:lnTo>
                    <a:pt x="13" y="121"/>
                  </a:lnTo>
                  <a:lnTo>
                    <a:pt x="0" y="121"/>
                  </a:lnTo>
                  <a:lnTo>
                    <a:pt x="0" y="108"/>
                  </a:lnTo>
                  <a:lnTo>
                    <a:pt x="13" y="108"/>
                  </a:lnTo>
                  <a:close/>
                  <a:moveTo>
                    <a:pt x="13" y="135"/>
                  </a:moveTo>
                  <a:lnTo>
                    <a:pt x="13" y="149"/>
                  </a:lnTo>
                  <a:lnTo>
                    <a:pt x="0" y="149"/>
                  </a:lnTo>
                  <a:lnTo>
                    <a:pt x="0" y="135"/>
                  </a:lnTo>
                  <a:lnTo>
                    <a:pt x="13" y="135"/>
                  </a:lnTo>
                  <a:close/>
                  <a:moveTo>
                    <a:pt x="13" y="162"/>
                  </a:moveTo>
                  <a:lnTo>
                    <a:pt x="13" y="175"/>
                  </a:lnTo>
                  <a:lnTo>
                    <a:pt x="0" y="175"/>
                  </a:lnTo>
                  <a:lnTo>
                    <a:pt x="0" y="162"/>
                  </a:lnTo>
                  <a:lnTo>
                    <a:pt x="13" y="162"/>
                  </a:lnTo>
                  <a:close/>
                  <a:moveTo>
                    <a:pt x="13" y="189"/>
                  </a:moveTo>
                  <a:lnTo>
                    <a:pt x="13" y="202"/>
                  </a:lnTo>
                  <a:lnTo>
                    <a:pt x="0" y="202"/>
                  </a:lnTo>
                  <a:lnTo>
                    <a:pt x="0" y="189"/>
                  </a:lnTo>
                  <a:lnTo>
                    <a:pt x="13" y="189"/>
                  </a:lnTo>
                  <a:close/>
                  <a:moveTo>
                    <a:pt x="13" y="216"/>
                  </a:moveTo>
                  <a:lnTo>
                    <a:pt x="13" y="229"/>
                  </a:lnTo>
                  <a:lnTo>
                    <a:pt x="0" y="229"/>
                  </a:lnTo>
                  <a:lnTo>
                    <a:pt x="0" y="216"/>
                  </a:lnTo>
                  <a:lnTo>
                    <a:pt x="13" y="216"/>
                  </a:lnTo>
                  <a:close/>
                  <a:moveTo>
                    <a:pt x="13" y="243"/>
                  </a:moveTo>
                  <a:lnTo>
                    <a:pt x="13" y="256"/>
                  </a:lnTo>
                  <a:lnTo>
                    <a:pt x="0" y="256"/>
                  </a:lnTo>
                  <a:lnTo>
                    <a:pt x="0" y="243"/>
                  </a:lnTo>
                  <a:lnTo>
                    <a:pt x="13" y="243"/>
                  </a:lnTo>
                  <a:close/>
                  <a:moveTo>
                    <a:pt x="13" y="270"/>
                  </a:moveTo>
                  <a:lnTo>
                    <a:pt x="13" y="283"/>
                  </a:lnTo>
                  <a:lnTo>
                    <a:pt x="0" y="283"/>
                  </a:lnTo>
                  <a:lnTo>
                    <a:pt x="0" y="270"/>
                  </a:lnTo>
                  <a:lnTo>
                    <a:pt x="13" y="270"/>
                  </a:lnTo>
                  <a:close/>
                  <a:moveTo>
                    <a:pt x="13" y="297"/>
                  </a:moveTo>
                  <a:lnTo>
                    <a:pt x="13" y="310"/>
                  </a:lnTo>
                  <a:lnTo>
                    <a:pt x="0" y="310"/>
                  </a:lnTo>
                  <a:lnTo>
                    <a:pt x="0" y="297"/>
                  </a:lnTo>
                  <a:lnTo>
                    <a:pt x="13" y="297"/>
                  </a:lnTo>
                  <a:close/>
                  <a:moveTo>
                    <a:pt x="13" y="324"/>
                  </a:moveTo>
                  <a:lnTo>
                    <a:pt x="13" y="337"/>
                  </a:lnTo>
                  <a:lnTo>
                    <a:pt x="0" y="337"/>
                  </a:lnTo>
                  <a:lnTo>
                    <a:pt x="0" y="324"/>
                  </a:lnTo>
                  <a:lnTo>
                    <a:pt x="13" y="324"/>
                  </a:lnTo>
                  <a:close/>
                  <a:moveTo>
                    <a:pt x="13" y="351"/>
                  </a:moveTo>
                  <a:lnTo>
                    <a:pt x="13" y="364"/>
                  </a:lnTo>
                  <a:lnTo>
                    <a:pt x="0" y="364"/>
                  </a:lnTo>
                  <a:lnTo>
                    <a:pt x="0" y="351"/>
                  </a:lnTo>
                  <a:lnTo>
                    <a:pt x="13" y="351"/>
                  </a:lnTo>
                  <a:close/>
                  <a:moveTo>
                    <a:pt x="13" y="378"/>
                  </a:moveTo>
                  <a:lnTo>
                    <a:pt x="13" y="391"/>
                  </a:lnTo>
                  <a:lnTo>
                    <a:pt x="0" y="391"/>
                  </a:lnTo>
                  <a:lnTo>
                    <a:pt x="0" y="378"/>
                  </a:lnTo>
                  <a:lnTo>
                    <a:pt x="13" y="378"/>
                  </a:lnTo>
                  <a:close/>
                  <a:moveTo>
                    <a:pt x="13" y="404"/>
                  </a:moveTo>
                  <a:lnTo>
                    <a:pt x="13" y="418"/>
                  </a:lnTo>
                  <a:lnTo>
                    <a:pt x="0" y="418"/>
                  </a:lnTo>
                  <a:lnTo>
                    <a:pt x="0" y="404"/>
                  </a:lnTo>
                  <a:lnTo>
                    <a:pt x="13" y="404"/>
                  </a:lnTo>
                  <a:close/>
                  <a:moveTo>
                    <a:pt x="13" y="432"/>
                  </a:moveTo>
                  <a:lnTo>
                    <a:pt x="13" y="445"/>
                  </a:lnTo>
                  <a:lnTo>
                    <a:pt x="0" y="445"/>
                  </a:lnTo>
                  <a:lnTo>
                    <a:pt x="0" y="432"/>
                  </a:lnTo>
                  <a:lnTo>
                    <a:pt x="13" y="432"/>
                  </a:lnTo>
                  <a:close/>
                  <a:moveTo>
                    <a:pt x="13" y="458"/>
                  </a:moveTo>
                  <a:lnTo>
                    <a:pt x="13" y="472"/>
                  </a:lnTo>
                  <a:lnTo>
                    <a:pt x="0" y="472"/>
                  </a:lnTo>
                  <a:lnTo>
                    <a:pt x="0" y="458"/>
                  </a:lnTo>
                  <a:lnTo>
                    <a:pt x="13" y="458"/>
                  </a:lnTo>
                  <a:close/>
                  <a:moveTo>
                    <a:pt x="13" y="485"/>
                  </a:moveTo>
                  <a:lnTo>
                    <a:pt x="13" y="499"/>
                  </a:lnTo>
                  <a:lnTo>
                    <a:pt x="0" y="499"/>
                  </a:lnTo>
                  <a:lnTo>
                    <a:pt x="0" y="485"/>
                  </a:lnTo>
                  <a:lnTo>
                    <a:pt x="13" y="485"/>
                  </a:lnTo>
                  <a:close/>
                  <a:moveTo>
                    <a:pt x="13" y="512"/>
                  </a:moveTo>
                  <a:lnTo>
                    <a:pt x="13" y="526"/>
                  </a:lnTo>
                  <a:lnTo>
                    <a:pt x="0" y="526"/>
                  </a:lnTo>
                  <a:lnTo>
                    <a:pt x="0" y="512"/>
                  </a:lnTo>
                  <a:lnTo>
                    <a:pt x="13" y="512"/>
                  </a:lnTo>
                  <a:close/>
                  <a:moveTo>
                    <a:pt x="13" y="539"/>
                  </a:moveTo>
                  <a:lnTo>
                    <a:pt x="13" y="553"/>
                  </a:lnTo>
                  <a:lnTo>
                    <a:pt x="0" y="553"/>
                  </a:lnTo>
                  <a:lnTo>
                    <a:pt x="0" y="539"/>
                  </a:lnTo>
                  <a:lnTo>
                    <a:pt x="13" y="539"/>
                  </a:lnTo>
                  <a:close/>
                  <a:moveTo>
                    <a:pt x="13" y="566"/>
                  </a:moveTo>
                  <a:lnTo>
                    <a:pt x="13" y="580"/>
                  </a:lnTo>
                  <a:lnTo>
                    <a:pt x="0" y="580"/>
                  </a:lnTo>
                  <a:lnTo>
                    <a:pt x="0" y="566"/>
                  </a:lnTo>
                  <a:lnTo>
                    <a:pt x="13" y="566"/>
                  </a:lnTo>
                  <a:close/>
                  <a:moveTo>
                    <a:pt x="13" y="593"/>
                  </a:moveTo>
                  <a:lnTo>
                    <a:pt x="13" y="607"/>
                  </a:lnTo>
                  <a:lnTo>
                    <a:pt x="0" y="607"/>
                  </a:lnTo>
                  <a:lnTo>
                    <a:pt x="0" y="593"/>
                  </a:lnTo>
                  <a:lnTo>
                    <a:pt x="13" y="593"/>
                  </a:lnTo>
                  <a:close/>
                  <a:moveTo>
                    <a:pt x="13" y="620"/>
                  </a:moveTo>
                  <a:lnTo>
                    <a:pt x="13" y="634"/>
                  </a:lnTo>
                  <a:lnTo>
                    <a:pt x="0" y="634"/>
                  </a:lnTo>
                  <a:lnTo>
                    <a:pt x="0" y="620"/>
                  </a:lnTo>
                  <a:lnTo>
                    <a:pt x="13" y="620"/>
                  </a:lnTo>
                  <a:close/>
                  <a:moveTo>
                    <a:pt x="13" y="647"/>
                  </a:moveTo>
                  <a:lnTo>
                    <a:pt x="13" y="661"/>
                  </a:lnTo>
                  <a:lnTo>
                    <a:pt x="0" y="661"/>
                  </a:lnTo>
                  <a:lnTo>
                    <a:pt x="0" y="647"/>
                  </a:lnTo>
                  <a:lnTo>
                    <a:pt x="13" y="647"/>
                  </a:lnTo>
                  <a:close/>
                  <a:moveTo>
                    <a:pt x="13" y="674"/>
                  </a:moveTo>
                  <a:lnTo>
                    <a:pt x="13" y="687"/>
                  </a:lnTo>
                  <a:lnTo>
                    <a:pt x="0" y="687"/>
                  </a:lnTo>
                  <a:lnTo>
                    <a:pt x="0" y="674"/>
                  </a:lnTo>
                  <a:lnTo>
                    <a:pt x="13" y="674"/>
                  </a:lnTo>
                  <a:close/>
                  <a:moveTo>
                    <a:pt x="13" y="701"/>
                  </a:moveTo>
                  <a:lnTo>
                    <a:pt x="13" y="715"/>
                  </a:lnTo>
                  <a:lnTo>
                    <a:pt x="0" y="715"/>
                  </a:lnTo>
                  <a:lnTo>
                    <a:pt x="0" y="701"/>
                  </a:lnTo>
                  <a:lnTo>
                    <a:pt x="13" y="701"/>
                  </a:lnTo>
                  <a:close/>
                  <a:moveTo>
                    <a:pt x="13" y="728"/>
                  </a:moveTo>
                  <a:lnTo>
                    <a:pt x="13" y="741"/>
                  </a:lnTo>
                  <a:lnTo>
                    <a:pt x="0" y="741"/>
                  </a:lnTo>
                  <a:lnTo>
                    <a:pt x="0" y="728"/>
                  </a:lnTo>
                  <a:lnTo>
                    <a:pt x="13" y="728"/>
                  </a:lnTo>
                  <a:close/>
                  <a:moveTo>
                    <a:pt x="13" y="755"/>
                  </a:moveTo>
                  <a:lnTo>
                    <a:pt x="13" y="768"/>
                  </a:lnTo>
                  <a:lnTo>
                    <a:pt x="0" y="768"/>
                  </a:lnTo>
                  <a:lnTo>
                    <a:pt x="0" y="755"/>
                  </a:lnTo>
                  <a:lnTo>
                    <a:pt x="13" y="755"/>
                  </a:lnTo>
                  <a:close/>
                  <a:moveTo>
                    <a:pt x="13" y="782"/>
                  </a:moveTo>
                  <a:lnTo>
                    <a:pt x="13" y="795"/>
                  </a:lnTo>
                  <a:lnTo>
                    <a:pt x="0" y="795"/>
                  </a:lnTo>
                  <a:lnTo>
                    <a:pt x="0" y="782"/>
                  </a:lnTo>
                  <a:lnTo>
                    <a:pt x="13" y="782"/>
                  </a:lnTo>
                  <a:close/>
                  <a:moveTo>
                    <a:pt x="13" y="809"/>
                  </a:moveTo>
                  <a:lnTo>
                    <a:pt x="13" y="822"/>
                  </a:lnTo>
                  <a:lnTo>
                    <a:pt x="0" y="822"/>
                  </a:lnTo>
                  <a:lnTo>
                    <a:pt x="0" y="809"/>
                  </a:lnTo>
                  <a:lnTo>
                    <a:pt x="13" y="809"/>
                  </a:lnTo>
                  <a:close/>
                  <a:moveTo>
                    <a:pt x="13" y="836"/>
                  </a:moveTo>
                  <a:lnTo>
                    <a:pt x="13" y="849"/>
                  </a:lnTo>
                  <a:lnTo>
                    <a:pt x="0" y="849"/>
                  </a:lnTo>
                  <a:lnTo>
                    <a:pt x="0" y="836"/>
                  </a:lnTo>
                  <a:lnTo>
                    <a:pt x="13" y="836"/>
                  </a:lnTo>
                  <a:close/>
                  <a:moveTo>
                    <a:pt x="13" y="863"/>
                  </a:moveTo>
                  <a:lnTo>
                    <a:pt x="13" y="876"/>
                  </a:lnTo>
                  <a:lnTo>
                    <a:pt x="0" y="876"/>
                  </a:lnTo>
                  <a:lnTo>
                    <a:pt x="0" y="863"/>
                  </a:lnTo>
                  <a:lnTo>
                    <a:pt x="13" y="863"/>
                  </a:lnTo>
                  <a:close/>
                  <a:moveTo>
                    <a:pt x="13" y="890"/>
                  </a:moveTo>
                  <a:lnTo>
                    <a:pt x="13" y="903"/>
                  </a:lnTo>
                  <a:lnTo>
                    <a:pt x="0" y="903"/>
                  </a:lnTo>
                  <a:lnTo>
                    <a:pt x="0" y="890"/>
                  </a:lnTo>
                  <a:lnTo>
                    <a:pt x="13" y="890"/>
                  </a:lnTo>
                  <a:close/>
                  <a:moveTo>
                    <a:pt x="13" y="917"/>
                  </a:moveTo>
                  <a:lnTo>
                    <a:pt x="13" y="930"/>
                  </a:lnTo>
                  <a:lnTo>
                    <a:pt x="0" y="930"/>
                  </a:lnTo>
                  <a:lnTo>
                    <a:pt x="0" y="917"/>
                  </a:lnTo>
                  <a:lnTo>
                    <a:pt x="13" y="917"/>
                  </a:lnTo>
                  <a:close/>
                  <a:moveTo>
                    <a:pt x="13" y="944"/>
                  </a:moveTo>
                  <a:lnTo>
                    <a:pt x="13" y="957"/>
                  </a:lnTo>
                  <a:lnTo>
                    <a:pt x="0" y="957"/>
                  </a:lnTo>
                  <a:lnTo>
                    <a:pt x="0" y="944"/>
                  </a:lnTo>
                  <a:lnTo>
                    <a:pt x="13" y="944"/>
                  </a:lnTo>
                  <a:close/>
                  <a:moveTo>
                    <a:pt x="13" y="970"/>
                  </a:moveTo>
                  <a:lnTo>
                    <a:pt x="13" y="984"/>
                  </a:lnTo>
                  <a:lnTo>
                    <a:pt x="0" y="984"/>
                  </a:lnTo>
                  <a:lnTo>
                    <a:pt x="0" y="970"/>
                  </a:lnTo>
                  <a:lnTo>
                    <a:pt x="13" y="970"/>
                  </a:lnTo>
                  <a:close/>
                  <a:moveTo>
                    <a:pt x="13" y="998"/>
                  </a:moveTo>
                  <a:lnTo>
                    <a:pt x="13" y="1011"/>
                  </a:lnTo>
                  <a:lnTo>
                    <a:pt x="0" y="1011"/>
                  </a:lnTo>
                  <a:lnTo>
                    <a:pt x="0" y="998"/>
                  </a:lnTo>
                  <a:lnTo>
                    <a:pt x="13" y="998"/>
                  </a:lnTo>
                  <a:close/>
                  <a:moveTo>
                    <a:pt x="13" y="1024"/>
                  </a:moveTo>
                  <a:lnTo>
                    <a:pt x="13" y="1038"/>
                  </a:lnTo>
                  <a:lnTo>
                    <a:pt x="0" y="1038"/>
                  </a:lnTo>
                  <a:lnTo>
                    <a:pt x="0" y="1024"/>
                  </a:lnTo>
                  <a:lnTo>
                    <a:pt x="13" y="1024"/>
                  </a:lnTo>
                  <a:close/>
                  <a:moveTo>
                    <a:pt x="13" y="1051"/>
                  </a:moveTo>
                  <a:lnTo>
                    <a:pt x="13" y="1065"/>
                  </a:lnTo>
                  <a:lnTo>
                    <a:pt x="0" y="1065"/>
                  </a:lnTo>
                  <a:lnTo>
                    <a:pt x="0" y="1051"/>
                  </a:lnTo>
                  <a:lnTo>
                    <a:pt x="13" y="1051"/>
                  </a:lnTo>
                  <a:close/>
                  <a:moveTo>
                    <a:pt x="13" y="1078"/>
                  </a:moveTo>
                  <a:lnTo>
                    <a:pt x="13" y="1092"/>
                  </a:lnTo>
                  <a:lnTo>
                    <a:pt x="0" y="1092"/>
                  </a:lnTo>
                  <a:lnTo>
                    <a:pt x="0" y="1078"/>
                  </a:lnTo>
                  <a:lnTo>
                    <a:pt x="13" y="1078"/>
                  </a:lnTo>
                  <a:close/>
                  <a:moveTo>
                    <a:pt x="13" y="1105"/>
                  </a:moveTo>
                  <a:lnTo>
                    <a:pt x="13" y="1119"/>
                  </a:lnTo>
                  <a:lnTo>
                    <a:pt x="0" y="1119"/>
                  </a:lnTo>
                  <a:lnTo>
                    <a:pt x="0" y="1105"/>
                  </a:lnTo>
                  <a:lnTo>
                    <a:pt x="13" y="1105"/>
                  </a:lnTo>
                  <a:close/>
                  <a:moveTo>
                    <a:pt x="13" y="1132"/>
                  </a:moveTo>
                  <a:lnTo>
                    <a:pt x="13" y="1146"/>
                  </a:lnTo>
                  <a:lnTo>
                    <a:pt x="0" y="1146"/>
                  </a:lnTo>
                  <a:lnTo>
                    <a:pt x="0" y="1132"/>
                  </a:lnTo>
                  <a:lnTo>
                    <a:pt x="13" y="1132"/>
                  </a:lnTo>
                  <a:close/>
                  <a:moveTo>
                    <a:pt x="13" y="1159"/>
                  </a:moveTo>
                  <a:lnTo>
                    <a:pt x="13" y="1173"/>
                  </a:lnTo>
                  <a:lnTo>
                    <a:pt x="0" y="1173"/>
                  </a:lnTo>
                  <a:lnTo>
                    <a:pt x="0" y="1159"/>
                  </a:lnTo>
                  <a:lnTo>
                    <a:pt x="13" y="1159"/>
                  </a:lnTo>
                  <a:close/>
                  <a:moveTo>
                    <a:pt x="13" y="1186"/>
                  </a:moveTo>
                  <a:lnTo>
                    <a:pt x="13" y="1200"/>
                  </a:lnTo>
                  <a:lnTo>
                    <a:pt x="0" y="1200"/>
                  </a:lnTo>
                  <a:lnTo>
                    <a:pt x="0" y="1186"/>
                  </a:lnTo>
                  <a:lnTo>
                    <a:pt x="13" y="1186"/>
                  </a:lnTo>
                  <a:close/>
                  <a:moveTo>
                    <a:pt x="13" y="1213"/>
                  </a:moveTo>
                  <a:lnTo>
                    <a:pt x="13" y="1227"/>
                  </a:lnTo>
                  <a:lnTo>
                    <a:pt x="0" y="1227"/>
                  </a:lnTo>
                  <a:lnTo>
                    <a:pt x="0" y="1213"/>
                  </a:lnTo>
                  <a:lnTo>
                    <a:pt x="13" y="1213"/>
                  </a:lnTo>
                  <a:close/>
                  <a:moveTo>
                    <a:pt x="13" y="1240"/>
                  </a:moveTo>
                  <a:lnTo>
                    <a:pt x="13" y="1253"/>
                  </a:lnTo>
                  <a:lnTo>
                    <a:pt x="0" y="1253"/>
                  </a:lnTo>
                  <a:lnTo>
                    <a:pt x="0" y="1240"/>
                  </a:lnTo>
                  <a:lnTo>
                    <a:pt x="13" y="1240"/>
                  </a:lnTo>
                  <a:close/>
                  <a:moveTo>
                    <a:pt x="13" y="1267"/>
                  </a:moveTo>
                  <a:lnTo>
                    <a:pt x="13" y="1281"/>
                  </a:lnTo>
                  <a:lnTo>
                    <a:pt x="0" y="1281"/>
                  </a:lnTo>
                  <a:lnTo>
                    <a:pt x="0" y="1267"/>
                  </a:lnTo>
                  <a:lnTo>
                    <a:pt x="13" y="1267"/>
                  </a:lnTo>
                  <a:close/>
                  <a:moveTo>
                    <a:pt x="13" y="1294"/>
                  </a:moveTo>
                  <a:lnTo>
                    <a:pt x="13" y="1307"/>
                  </a:lnTo>
                  <a:lnTo>
                    <a:pt x="0" y="1307"/>
                  </a:lnTo>
                  <a:lnTo>
                    <a:pt x="0" y="1294"/>
                  </a:lnTo>
                  <a:lnTo>
                    <a:pt x="13" y="1294"/>
                  </a:lnTo>
                  <a:close/>
                  <a:moveTo>
                    <a:pt x="13" y="1321"/>
                  </a:moveTo>
                  <a:lnTo>
                    <a:pt x="13" y="1334"/>
                  </a:lnTo>
                  <a:lnTo>
                    <a:pt x="0" y="1334"/>
                  </a:lnTo>
                  <a:lnTo>
                    <a:pt x="0" y="1321"/>
                  </a:lnTo>
                  <a:lnTo>
                    <a:pt x="13" y="1321"/>
                  </a:lnTo>
                  <a:close/>
                  <a:moveTo>
                    <a:pt x="13" y="1348"/>
                  </a:moveTo>
                  <a:lnTo>
                    <a:pt x="13" y="1361"/>
                  </a:lnTo>
                  <a:lnTo>
                    <a:pt x="0" y="1361"/>
                  </a:lnTo>
                  <a:lnTo>
                    <a:pt x="0" y="1348"/>
                  </a:lnTo>
                  <a:lnTo>
                    <a:pt x="13" y="1348"/>
                  </a:lnTo>
                  <a:close/>
                  <a:moveTo>
                    <a:pt x="13" y="1375"/>
                  </a:moveTo>
                  <a:lnTo>
                    <a:pt x="13" y="1388"/>
                  </a:lnTo>
                  <a:lnTo>
                    <a:pt x="0" y="1388"/>
                  </a:lnTo>
                  <a:lnTo>
                    <a:pt x="0" y="1375"/>
                  </a:lnTo>
                  <a:lnTo>
                    <a:pt x="13" y="1375"/>
                  </a:lnTo>
                  <a:close/>
                  <a:moveTo>
                    <a:pt x="13" y="1402"/>
                  </a:moveTo>
                  <a:lnTo>
                    <a:pt x="13" y="1415"/>
                  </a:lnTo>
                  <a:lnTo>
                    <a:pt x="0" y="1415"/>
                  </a:lnTo>
                  <a:lnTo>
                    <a:pt x="0" y="1402"/>
                  </a:lnTo>
                  <a:lnTo>
                    <a:pt x="13" y="1402"/>
                  </a:lnTo>
                  <a:close/>
                  <a:moveTo>
                    <a:pt x="13" y="1429"/>
                  </a:moveTo>
                  <a:lnTo>
                    <a:pt x="13" y="1442"/>
                  </a:lnTo>
                  <a:lnTo>
                    <a:pt x="0" y="1442"/>
                  </a:lnTo>
                  <a:lnTo>
                    <a:pt x="0" y="1429"/>
                  </a:lnTo>
                  <a:lnTo>
                    <a:pt x="13" y="1429"/>
                  </a:lnTo>
                  <a:close/>
                  <a:moveTo>
                    <a:pt x="13" y="1455"/>
                  </a:moveTo>
                  <a:lnTo>
                    <a:pt x="13" y="1469"/>
                  </a:lnTo>
                  <a:lnTo>
                    <a:pt x="0" y="1469"/>
                  </a:lnTo>
                  <a:lnTo>
                    <a:pt x="0" y="1455"/>
                  </a:lnTo>
                  <a:lnTo>
                    <a:pt x="13" y="1455"/>
                  </a:lnTo>
                  <a:close/>
                  <a:moveTo>
                    <a:pt x="13" y="1483"/>
                  </a:moveTo>
                  <a:lnTo>
                    <a:pt x="13" y="1496"/>
                  </a:lnTo>
                  <a:lnTo>
                    <a:pt x="0" y="1496"/>
                  </a:lnTo>
                  <a:lnTo>
                    <a:pt x="0" y="1483"/>
                  </a:lnTo>
                  <a:lnTo>
                    <a:pt x="13" y="1483"/>
                  </a:lnTo>
                  <a:close/>
                  <a:moveTo>
                    <a:pt x="13" y="1510"/>
                  </a:moveTo>
                  <a:lnTo>
                    <a:pt x="13" y="1523"/>
                  </a:lnTo>
                  <a:lnTo>
                    <a:pt x="0" y="1523"/>
                  </a:lnTo>
                  <a:lnTo>
                    <a:pt x="0" y="1510"/>
                  </a:lnTo>
                  <a:lnTo>
                    <a:pt x="13" y="1510"/>
                  </a:lnTo>
                  <a:close/>
                  <a:moveTo>
                    <a:pt x="13" y="1536"/>
                  </a:moveTo>
                  <a:lnTo>
                    <a:pt x="13" y="1550"/>
                  </a:lnTo>
                  <a:lnTo>
                    <a:pt x="0" y="1550"/>
                  </a:lnTo>
                  <a:lnTo>
                    <a:pt x="0" y="1536"/>
                  </a:lnTo>
                  <a:lnTo>
                    <a:pt x="13" y="1536"/>
                  </a:lnTo>
                  <a:close/>
                  <a:moveTo>
                    <a:pt x="13" y="1564"/>
                  </a:moveTo>
                  <a:lnTo>
                    <a:pt x="13" y="1577"/>
                  </a:lnTo>
                  <a:lnTo>
                    <a:pt x="0" y="1577"/>
                  </a:lnTo>
                  <a:lnTo>
                    <a:pt x="0" y="1564"/>
                  </a:lnTo>
                  <a:lnTo>
                    <a:pt x="13" y="1564"/>
                  </a:lnTo>
                  <a:close/>
                  <a:moveTo>
                    <a:pt x="13" y="1590"/>
                  </a:moveTo>
                  <a:lnTo>
                    <a:pt x="13" y="1604"/>
                  </a:lnTo>
                  <a:lnTo>
                    <a:pt x="0" y="1604"/>
                  </a:lnTo>
                  <a:lnTo>
                    <a:pt x="0" y="1590"/>
                  </a:lnTo>
                  <a:lnTo>
                    <a:pt x="13" y="1590"/>
                  </a:lnTo>
                  <a:close/>
                  <a:moveTo>
                    <a:pt x="13" y="1617"/>
                  </a:moveTo>
                  <a:lnTo>
                    <a:pt x="13" y="1631"/>
                  </a:lnTo>
                  <a:lnTo>
                    <a:pt x="0" y="1631"/>
                  </a:lnTo>
                  <a:lnTo>
                    <a:pt x="0" y="1617"/>
                  </a:lnTo>
                  <a:lnTo>
                    <a:pt x="13" y="1617"/>
                  </a:lnTo>
                  <a:close/>
                  <a:moveTo>
                    <a:pt x="13" y="1644"/>
                  </a:moveTo>
                  <a:lnTo>
                    <a:pt x="13" y="1658"/>
                  </a:lnTo>
                  <a:lnTo>
                    <a:pt x="0" y="1658"/>
                  </a:lnTo>
                  <a:lnTo>
                    <a:pt x="0" y="1644"/>
                  </a:lnTo>
                  <a:lnTo>
                    <a:pt x="13" y="1644"/>
                  </a:lnTo>
                  <a:close/>
                  <a:moveTo>
                    <a:pt x="13" y="1671"/>
                  </a:moveTo>
                  <a:lnTo>
                    <a:pt x="13" y="1685"/>
                  </a:lnTo>
                  <a:lnTo>
                    <a:pt x="0" y="1685"/>
                  </a:lnTo>
                  <a:lnTo>
                    <a:pt x="0" y="1671"/>
                  </a:lnTo>
                  <a:lnTo>
                    <a:pt x="13" y="1671"/>
                  </a:lnTo>
                  <a:close/>
                  <a:moveTo>
                    <a:pt x="13" y="1698"/>
                  </a:moveTo>
                  <a:lnTo>
                    <a:pt x="13" y="1712"/>
                  </a:lnTo>
                  <a:lnTo>
                    <a:pt x="0" y="1712"/>
                  </a:lnTo>
                  <a:lnTo>
                    <a:pt x="0" y="1698"/>
                  </a:lnTo>
                  <a:lnTo>
                    <a:pt x="13" y="1698"/>
                  </a:lnTo>
                  <a:close/>
                  <a:moveTo>
                    <a:pt x="13" y="1725"/>
                  </a:moveTo>
                  <a:lnTo>
                    <a:pt x="13" y="1738"/>
                  </a:lnTo>
                  <a:lnTo>
                    <a:pt x="0" y="1738"/>
                  </a:lnTo>
                  <a:lnTo>
                    <a:pt x="0" y="1725"/>
                  </a:lnTo>
                  <a:lnTo>
                    <a:pt x="13" y="1725"/>
                  </a:lnTo>
                  <a:close/>
                  <a:moveTo>
                    <a:pt x="13" y="1752"/>
                  </a:moveTo>
                  <a:lnTo>
                    <a:pt x="13" y="1766"/>
                  </a:lnTo>
                  <a:lnTo>
                    <a:pt x="0" y="1766"/>
                  </a:lnTo>
                  <a:lnTo>
                    <a:pt x="0" y="1752"/>
                  </a:lnTo>
                  <a:lnTo>
                    <a:pt x="13" y="1752"/>
                  </a:lnTo>
                  <a:close/>
                  <a:moveTo>
                    <a:pt x="13" y="1779"/>
                  </a:moveTo>
                  <a:lnTo>
                    <a:pt x="13" y="1792"/>
                  </a:lnTo>
                  <a:lnTo>
                    <a:pt x="0" y="1792"/>
                  </a:lnTo>
                  <a:lnTo>
                    <a:pt x="0" y="1779"/>
                  </a:lnTo>
                  <a:lnTo>
                    <a:pt x="13" y="1779"/>
                  </a:lnTo>
                  <a:close/>
                  <a:moveTo>
                    <a:pt x="13" y="1806"/>
                  </a:moveTo>
                  <a:lnTo>
                    <a:pt x="13" y="1819"/>
                  </a:lnTo>
                  <a:lnTo>
                    <a:pt x="0" y="1819"/>
                  </a:lnTo>
                  <a:lnTo>
                    <a:pt x="0" y="1806"/>
                  </a:lnTo>
                  <a:lnTo>
                    <a:pt x="13" y="1806"/>
                  </a:lnTo>
                  <a:close/>
                  <a:moveTo>
                    <a:pt x="13" y="1833"/>
                  </a:moveTo>
                  <a:lnTo>
                    <a:pt x="13" y="1846"/>
                  </a:lnTo>
                  <a:lnTo>
                    <a:pt x="0" y="1846"/>
                  </a:lnTo>
                  <a:lnTo>
                    <a:pt x="0" y="1833"/>
                  </a:lnTo>
                  <a:lnTo>
                    <a:pt x="13" y="1833"/>
                  </a:lnTo>
                  <a:close/>
                  <a:moveTo>
                    <a:pt x="13" y="1860"/>
                  </a:moveTo>
                  <a:lnTo>
                    <a:pt x="13" y="1873"/>
                  </a:lnTo>
                  <a:lnTo>
                    <a:pt x="0" y="1873"/>
                  </a:lnTo>
                  <a:lnTo>
                    <a:pt x="0" y="1860"/>
                  </a:lnTo>
                  <a:lnTo>
                    <a:pt x="13" y="1860"/>
                  </a:lnTo>
                  <a:close/>
                  <a:moveTo>
                    <a:pt x="13" y="1887"/>
                  </a:moveTo>
                  <a:lnTo>
                    <a:pt x="13" y="1900"/>
                  </a:lnTo>
                  <a:lnTo>
                    <a:pt x="0" y="1900"/>
                  </a:lnTo>
                  <a:lnTo>
                    <a:pt x="0" y="1887"/>
                  </a:lnTo>
                  <a:lnTo>
                    <a:pt x="13" y="1887"/>
                  </a:lnTo>
                  <a:close/>
                  <a:moveTo>
                    <a:pt x="13" y="1914"/>
                  </a:moveTo>
                  <a:lnTo>
                    <a:pt x="13" y="1927"/>
                  </a:lnTo>
                  <a:lnTo>
                    <a:pt x="0" y="1927"/>
                  </a:lnTo>
                  <a:lnTo>
                    <a:pt x="0" y="1914"/>
                  </a:lnTo>
                  <a:lnTo>
                    <a:pt x="13" y="1914"/>
                  </a:lnTo>
                  <a:close/>
                  <a:moveTo>
                    <a:pt x="13" y="1941"/>
                  </a:moveTo>
                  <a:lnTo>
                    <a:pt x="13" y="1954"/>
                  </a:lnTo>
                  <a:lnTo>
                    <a:pt x="0" y="1954"/>
                  </a:lnTo>
                  <a:lnTo>
                    <a:pt x="0" y="1941"/>
                  </a:lnTo>
                  <a:lnTo>
                    <a:pt x="13" y="1941"/>
                  </a:lnTo>
                  <a:close/>
                  <a:moveTo>
                    <a:pt x="13" y="1968"/>
                  </a:moveTo>
                  <a:lnTo>
                    <a:pt x="13" y="1981"/>
                  </a:lnTo>
                  <a:lnTo>
                    <a:pt x="0" y="1981"/>
                  </a:lnTo>
                  <a:lnTo>
                    <a:pt x="0" y="1968"/>
                  </a:lnTo>
                  <a:lnTo>
                    <a:pt x="13" y="1968"/>
                  </a:lnTo>
                  <a:close/>
                  <a:moveTo>
                    <a:pt x="13" y="1995"/>
                  </a:moveTo>
                  <a:lnTo>
                    <a:pt x="13" y="2008"/>
                  </a:lnTo>
                  <a:lnTo>
                    <a:pt x="0" y="2008"/>
                  </a:lnTo>
                  <a:lnTo>
                    <a:pt x="0" y="1995"/>
                  </a:lnTo>
                  <a:lnTo>
                    <a:pt x="13" y="1995"/>
                  </a:lnTo>
                  <a:close/>
                  <a:moveTo>
                    <a:pt x="13" y="2021"/>
                  </a:moveTo>
                  <a:lnTo>
                    <a:pt x="13" y="2035"/>
                  </a:lnTo>
                  <a:lnTo>
                    <a:pt x="0" y="2035"/>
                  </a:lnTo>
                  <a:lnTo>
                    <a:pt x="0" y="2021"/>
                  </a:lnTo>
                  <a:lnTo>
                    <a:pt x="13" y="2021"/>
                  </a:lnTo>
                  <a:close/>
                  <a:moveTo>
                    <a:pt x="13" y="2049"/>
                  </a:moveTo>
                  <a:lnTo>
                    <a:pt x="13" y="2062"/>
                  </a:lnTo>
                  <a:lnTo>
                    <a:pt x="0" y="2062"/>
                  </a:lnTo>
                  <a:lnTo>
                    <a:pt x="0" y="2049"/>
                  </a:lnTo>
                  <a:lnTo>
                    <a:pt x="13" y="2049"/>
                  </a:lnTo>
                  <a:close/>
                  <a:moveTo>
                    <a:pt x="13" y="2075"/>
                  </a:moveTo>
                  <a:lnTo>
                    <a:pt x="13" y="2089"/>
                  </a:lnTo>
                  <a:lnTo>
                    <a:pt x="0" y="2089"/>
                  </a:lnTo>
                  <a:lnTo>
                    <a:pt x="0" y="2075"/>
                  </a:lnTo>
                  <a:lnTo>
                    <a:pt x="13" y="2075"/>
                  </a:lnTo>
                  <a:close/>
                  <a:moveTo>
                    <a:pt x="13" y="2102"/>
                  </a:moveTo>
                  <a:lnTo>
                    <a:pt x="13" y="2116"/>
                  </a:lnTo>
                  <a:lnTo>
                    <a:pt x="0" y="2116"/>
                  </a:lnTo>
                  <a:lnTo>
                    <a:pt x="0" y="2102"/>
                  </a:lnTo>
                  <a:lnTo>
                    <a:pt x="13" y="2102"/>
                  </a:lnTo>
                  <a:close/>
                  <a:moveTo>
                    <a:pt x="13" y="2129"/>
                  </a:moveTo>
                  <a:lnTo>
                    <a:pt x="13" y="2143"/>
                  </a:lnTo>
                  <a:lnTo>
                    <a:pt x="0" y="2143"/>
                  </a:lnTo>
                  <a:lnTo>
                    <a:pt x="0" y="2129"/>
                  </a:lnTo>
                  <a:lnTo>
                    <a:pt x="13" y="2129"/>
                  </a:lnTo>
                  <a:close/>
                  <a:moveTo>
                    <a:pt x="13" y="2156"/>
                  </a:moveTo>
                  <a:lnTo>
                    <a:pt x="13" y="2170"/>
                  </a:lnTo>
                  <a:lnTo>
                    <a:pt x="0" y="2170"/>
                  </a:lnTo>
                  <a:lnTo>
                    <a:pt x="0" y="2156"/>
                  </a:lnTo>
                  <a:lnTo>
                    <a:pt x="13" y="2156"/>
                  </a:lnTo>
                  <a:close/>
                  <a:moveTo>
                    <a:pt x="13" y="2183"/>
                  </a:moveTo>
                  <a:lnTo>
                    <a:pt x="13" y="2197"/>
                  </a:lnTo>
                  <a:lnTo>
                    <a:pt x="0" y="2197"/>
                  </a:lnTo>
                  <a:lnTo>
                    <a:pt x="0" y="2183"/>
                  </a:lnTo>
                  <a:lnTo>
                    <a:pt x="13" y="2183"/>
                  </a:lnTo>
                  <a:close/>
                  <a:moveTo>
                    <a:pt x="13" y="2210"/>
                  </a:moveTo>
                  <a:lnTo>
                    <a:pt x="13" y="2224"/>
                  </a:lnTo>
                  <a:lnTo>
                    <a:pt x="0" y="2224"/>
                  </a:lnTo>
                  <a:lnTo>
                    <a:pt x="0" y="2210"/>
                  </a:lnTo>
                  <a:lnTo>
                    <a:pt x="13" y="2210"/>
                  </a:lnTo>
                  <a:close/>
                  <a:moveTo>
                    <a:pt x="13" y="2237"/>
                  </a:moveTo>
                  <a:lnTo>
                    <a:pt x="13" y="2251"/>
                  </a:lnTo>
                  <a:lnTo>
                    <a:pt x="0" y="2251"/>
                  </a:lnTo>
                  <a:lnTo>
                    <a:pt x="0" y="2237"/>
                  </a:lnTo>
                  <a:lnTo>
                    <a:pt x="13" y="2237"/>
                  </a:lnTo>
                  <a:close/>
                  <a:moveTo>
                    <a:pt x="13" y="2264"/>
                  </a:moveTo>
                  <a:lnTo>
                    <a:pt x="13" y="2278"/>
                  </a:lnTo>
                  <a:lnTo>
                    <a:pt x="0" y="2278"/>
                  </a:lnTo>
                  <a:lnTo>
                    <a:pt x="0" y="2264"/>
                  </a:lnTo>
                  <a:lnTo>
                    <a:pt x="13" y="2264"/>
                  </a:lnTo>
                  <a:close/>
                  <a:moveTo>
                    <a:pt x="13" y="2291"/>
                  </a:moveTo>
                  <a:lnTo>
                    <a:pt x="13" y="2304"/>
                  </a:lnTo>
                  <a:lnTo>
                    <a:pt x="0" y="2304"/>
                  </a:lnTo>
                  <a:lnTo>
                    <a:pt x="0" y="2291"/>
                  </a:lnTo>
                  <a:lnTo>
                    <a:pt x="13" y="2291"/>
                  </a:lnTo>
                  <a:close/>
                  <a:moveTo>
                    <a:pt x="13" y="2318"/>
                  </a:moveTo>
                  <a:lnTo>
                    <a:pt x="13" y="2332"/>
                  </a:lnTo>
                  <a:lnTo>
                    <a:pt x="0" y="2332"/>
                  </a:lnTo>
                  <a:lnTo>
                    <a:pt x="0" y="2318"/>
                  </a:lnTo>
                  <a:lnTo>
                    <a:pt x="13" y="2318"/>
                  </a:lnTo>
                  <a:close/>
                  <a:moveTo>
                    <a:pt x="13" y="2345"/>
                  </a:moveTo>
                  <a:lnTo>
                    <a:pt x="13" y="2358"/>
                  </a:lnTo>
                  <a:lnTo>
                    <a:pt x="0" y="2358"/>
                  </a:lnTo>
                  <a:lnTo>
                    <a:pt x="0" y="2345"/>
                  </a:lnTo>
                  <a:lnTo>
                    <a:pt x="13" y="2345"/>
                  </a:lnTo>
                  <a:close/>
                </a:path>
              </a:pathLst>
            </a:custGeom>
            <a:solidFill>
              <a:srgbClr val="000000"/>
            </a:solidFill>
            <a:ln w="0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87" name="Freeform 83">
              <a:extLst>
                <a:ext uri="{FF2B5EF4-FFF2-40B4-BE49-F238E27FC236}">
                  <a16:creationId xmlns:a16="http://schemas.microsoft.com/office/drawing/2014/main" id="{53378ADD-C1B4-4DFE-905A-E10381E1C8E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727065" y="2655977"/>
              <a:ext cx="22258" cy="3748911"/>
            </a:xfrm>
            <a:custGeom>
              <a:avLst/>
              <a:gdLst>
                <a:gd name="T0" fmla="*/ 14 w 14"/>
                <a:gd name="T1" fmla="*/ 41 h 2358"/>
                <a:gd name="T2" fmla="*/ 0 w 14"/>
                <a:gd name="T3" fmla="*/ 54 h 2358"/>
                <a:gd name="T4" fmla="*/ 14 w 14"/>
                <a:gd name="T5" fmla="*/ 108 h 2358"/>
                <a:gd name="T6" fmla="*/ 0 w 14"/>
                <a:gd name="T7" fmla="*/ 149 h 2358"/>
                <a:gd name="T8" fmla="*/ 14 w 14"/>
                <a:gd name="T9" fmla="*/ 162 h 2358"/>
                <a:gd name="T10" fmla="*/ 14 w 14"/>
                <a:gd name="T11" fmla="*/ 229 h 2358"/>
                <a:gd name="T12" fmla="*/ 0 w 14"/>
                <a:gd name="T13" fmla="*/ 243 h 2358"/>
                <a:gd name="T14" fmla="*/ 14 w 14"/>
                <a:gd name="T15" fmla="*/ 297 h 2358"/>
                <a:gd name="T16" fmla="*/ 0 w 14"/>
                <a:gd name="T17" fmla="*/ 337 h 2358"/>
                <a:gd name="T18" fmla="*/ 14 w 14"/>
                <a:gd name="T19" fmla="*/ 351 h 2358"/>
                <a:gd name="T20" fmla="*/ 14 w 14"/>
                <a:gd name="T21" fmla="*/ 418 h 2358"/>
                <a:gd name="T22" fmla="*/ 0 w 14"/>
                <a:gd name="T23" fmla="*/ 432 h 2358"/>
                <a:gd name="T24" fmla="*/ 14 w 14"/>
                <a:gd name="T25" fmla="*/ 485 h 2358"/>
                <a:gd name="T26" fmla="*/ 0 w 14"/>
                <a:gd name="T27" fmla="*/ 526 h 2358"/>
                <a:gd name="T28" fmla="*/ 14 w 14"/>
                <a:gd name="T29" fmla="*/ 539 h 2358"/>
                <a:gd name="T30" fmla="*/ 14 w 14"/>
                <a:gd name="T31" fmla="*/ 607 h 2358"/>
                <a:gd name="T32" fmla="*/ 0 w 14"/>
                <a:gd name="T33" fmla="*/ 620 h 2358"/>
                <a:gd name="T34" fmla="*/ 14 w 14"/>
                <a:gd name="T35" fmla="*/ 674 h 2358"/>
                <a:gd name="T36" fmla="*/ 0 w 14"/>
                <a:gd name="T37" fmla="*/ 715 h 2358"/>
                <a:gd name="T38" fmla="*/ 14 w 14"/>
                <a:gd name="T39" fmla="*/ 728 h 2358"/>
                <a:gd name="T40" fmla="*/ 14 w 14"/>
                <a:gd name="T41" fmla="*/ 795 h 2358"/>
                <a:gd name="T42" fmla="*/ 0 w 14"/>
                <a:gd name="T43" fmla="*/ 809 h 2358"/>
                <a:gd name="T44" fmla="*/ 14 w 14"/>
                <a:gd name="T45" fmla="*/ 863 h 2358"/>
                <a:gd name="T46" fmla="*/ 0 w 14"/>
                <a:gd name="T47" fmla="*/ 903 h 2358"/>
                <a:gd name="T48" fmla="*/ 14 w 14"/>
                <a:gd name="T49" fmla="*/ 917 h 2358"/>
                <a:gd name="T50" fmla="*/ 14 w 14"/>
                <a:gd name="T51" fmla="*/ 984 h 2358"/>
                <a:gd name="T52" fmla="*/ 0 w 14"/>
                <a:gd name="T53" fmla="*/ 998 h 2358"/>
                <a:gd name="T54" fmla="*/ 14 w 14"/>
                <a:gd name="T55" fmla="*/ 1051 h 2358"/>
                <a:gd name="T56" fmla="*/ 0 w 14"/>
                <a:gd name="T57" fmla="*/ 1092 h 2358"/>
                <a:gd name="T58" fmla="*/ 14 w 14"/>
                <a:gd name="T59" fmla="*/ 1105 h 2358"/>
                <a:gd name="T60" fmla="*/ 14 w 14"/>
                <a:gd name="T61" fmla="*/ 1173 h 2358"/>
                <a:gd name="T62" fmla="*/ 0 w 14"/>
                <a:gd name="T63" fmla="*/ 1186 h 2358"/>
                <a:gd name="T64" fmla="*/ 14 w 14"/>
                <a:gd name="T65" fmla="*/ 1240 h 2358"/>
                <a:gd name="T66" fmla="*/ 0 w 14"/>
                <a:gd name="T67" fmla="*/ 1281 h 2358"/>
                <a:gd name="T68" fmla="*/ 14 w 14"/>
                <a:gd name="T69" fmla="*/ 1294 h 2358"/>
                <a:gd name="T70" fmla="*/ 14 w 14"/>
                <a:gd name="T71" fmla="*/ 1361 h 2358"/>
                <a:gd name="T72" fmla="*/ 0 w 14"/>
                <a:gd name="T73" fmla="*/ 1375 h 2358"/>
                <a:gd name="T74" fmla="*/ 14 w 14"/>
                <a:gd name="T75" fmla="*/ 1429 h 2358"/>
                <a:gd name="T76" fmla="*/ 0 w 14"/>
                <a:gd name="T77" fmla="*/ 1469 h 2358"/>
                <a:gd name="T78" fmla="*/ 14 w 14"/>
                <a:gd name="T79" fmla="*/ 1483 h 2358"/>
                <a:gd name="T80" fmla="*/ 14 w 14"/>
                <a:gd name="T81" fmla="*/ 1550 h 2358"/>
                <a:gd name="T82" fmla="*/ 0 w 14"/>
                <a:gd name="T83" fmla="*/ 1564 h 2358"/>
                <a:gd name="T84" fmla="*/ 14 w 14"/>
                <a:gd name="T85" fmla="*/ 1617 h 2358"/>
                <a:gd name="T86" fmla="*/ 0 w 14"/>
                <a:gd name="T87" fmla="*/ 1658 h 2358"/>
                <a:gd name="T88" fmla="*/ 14 w 14"/>
                <a:gd name="T89" fmla="*/ 1671 h 2358"/>
                <a:gd name="T90" fmla="*/ 14 w 14"/>
                <a:gd name="T91" fmla="*/ 1738 h 2358"/>
                <a:gd name="T92" fmla="*/ 0 w 14"/>
                <a:gd name="T93" fmla="*/ 1752 h 2358"/>
                <a:gd name="T94" fmla="*/ 14 w 14"/>
                <a:gd name="T95" fmla="*/ 1806 h 2358"/>
                <a:gd name="T96" fmla="*/ 0 w 14"/>
                <a:gd name="T97" fmla="*/ 1846 h 2358"/>
                <a:gd name="T98" fmla="*/ 14 w 14"/>
                <a:gd name="T99" fmla="*/ 1860 h 2358"/>
                <a:gd name="T100" fmla="*/ 14 w 14"/>
                <a:gd name="T101" fmla="*/ 1927 h 2358"/>
                <a:gd name="T102" fmla="*/ 0 w 14"/>
                <a:gd name="T103" fmla="*/ 1941 h 2358"/>
                <a:gd name="T104" fmla="*/ 14 w 14"/>
                <a:gd name="T105" fmla="*/ 1995 h 2358"/>
                <a:gd name="T106" fmla="*/ 0 w 14"/>
                <a:gd name="T107" fmla="*/ 2035 h 2358"/>
                <a:gd name="T108" fmla="*/ 14 w 14"/>
                <a:gd name="T109" fmla="*/ 2049 h 2358"/>
                <a:gd name="T110" fmla="*/ 14 w 14"/>
                <a:gd name="T111" fmla="*/ 2116 h 2358"/>
                <a:gd name="T112" fmla="*/ 0 w 14"/>
                <a:gd name="T113" fmla="*/ 2129 h 2358"/>
                <a:gd name="T114" fmla="*/ 14 w 14"/>
                <a:gd name="T115" fmla="*/ 2183 h 2358"/>
                <a:gd name="T116" fmla="*/ 0 w 14"/>
                <a:gd name="T117" fmla="*/ 2224 h 2358"/>
                <a:gd name="T118" fmla="*/ 14 w 14"/>
                <a:gd name="T119" fmla="*/ 2237 h 2358"/>
                <a:gd name="T120" fmla="*/ 14 w 14"/>
                <a:gd name="T121" fmla="*/ 2304 h 2358"/>
                <a:gd name="T122" fmla="*/ 0 w 14"/>
                <a:gd name="T123" fmla="*/ 2318 h 23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4" h="2358">
                  <a:moveTo>
                    <a:pt x="14" y="0"/>
                  </a:moveTo>
                  <a:lnTo>
                    <a:pt x="14" y="14"/>
                  </a:lnTo>
                  <a:lnTo>
                    <a:pt x="0" y="14"/>
                  </a:lnTo>
                  <a:lnTo>
                    <a:pt x="0" y="0"/>
                  </a:lnTo>
                  <a:lnTo>
                    <a:pt x="14" y="0"/>
                  </a:lnTo>
                  <a:close/>
                  <a:moveTo>
                    <a:pt x="14" y="27"/>
                  </a:moveTo>
                  <a:lnTo>
                    <a:pt x="14" y="41"/>
                  </a:lnTo>
                  <a:lnTo>
                    <a:pt x="0" y="41"/>
                  </a:lnTo>
                  <a:lnTo>
                    <a:pt x="0" y="27"/>
                  </a:lnTo>
                  <a:lnTo>
                    <a:pt x="14" y="27"/>
                  </a:lnTo>
                  <a:close/>
                  <a:moveTo>
                    <a:pt x="14" y="54"/>
                  </a:moveTo>
                  <a:lnTo>
                    <a:pt x="14" y="68"/>
                  </a:lnTo>
                  <a:lnTo>
                    <a:pt x="0" y="68"/>
                  </a:lnTo>
                  <a:lnTo>
                    <a:pt x="0" y="54"/>
                  </a:lnTo>
                  <a:lnTo>
                    <a:pt x="14" y="54"/>
                  </a:lnTo>
                  <a:close/>
                  <a:moveTo>
                    <a:pt x="14" y="81"/>
                  </a:moveTo>
                  <a:lnTo>
                    <a:pt x="14" y="95"/>
                  </a:lnTo>
                  <a:lnTo>
                    <a:pt x="0" y="95"/>
                  </a:lnTo>
                  <a:lnTo>
                    <a:pt x="0" y="81"/>
                  </a:lnTo>
                  <a:lnTo>
                    <a:pt x="14" y="81"/>
                  </a:lnTo>
                  <a:close/>
                  <a:moveTo>
                    <a:pt x="14" y="108"/>
                  </a:moveTo>
                  <a:lnTo>
                    <a:pt x="14" y="121"/>
                  </a:lnTo>
                  <a:lnTo>
                    <a:pt x="0" y="121"/>
                  </a:lnTo>
                  <a:lnTo>
                    <a:pt x="0" y="108"/>
                  </a:lnTo>
                  <a:lnTo>
                    <a:pt x="14" y="108"/>
                  </a:lnTo>
                  <a:close/>
                  <a:moveTo>
                    <a:pt x="14" y="135"/>
                  </a:moveTo>
                  <a:lnTo>
                    <a:pt x="14" y="149"/>
                  </a:lnTo>
                  <a:lnTo>
                    <a:pt x="0" y="149"/>
                  </a:lnTo>
                  <a:lnTo>
                    <a:pt x="0" y="135"/>
                  </a:lnTo>
                  <a:lnTo>
                    <a:pt x="14" y="135"/>
                  </a:lnTo>
                  <a:close/>
                  <a:moveTo>
                    <a:pt x="14" y="162"/>
                  </a:moveTo>
                  <a:lnTo>
                    <a:pt x="14" y="175"/>
                  </a:lnTo>
                  <a:lnTo>
                    <a:pt x="0" y="175"/>
                  </a:lnTo>
                  <a:lnTo>
                    <a:pt x="0" y="162"/>
                  </a:lnTo>
                  <a:lnTo>
                    <a:pt x="14" y="162"/>
                  </a:lnTo>
                  <a:close/>
                  <a:moveTo>
                    <a:pt x="14" y="189"/>
                  </a:moveTo>
                  <a:lnTo>
                    <a:pt x="14" y="202"/>
                  </a:lnTo>
                  <a:lnTo>
                    <a:pt x="0" y="202"/>
                  </a:lnTo>
                  <a:lnTo>
                    <a:pt x="0" y="189"/>
                  </a:lnTo>
                  <a:lnTo>
                    <a:pt x="14" y="189"/>
                  </a:lnTo>
                  <a:close/>
                  <a:moveTo>
                    <a:pt x="14" y="216"/>
                  </a:moveTo>
                  <a:lnTo>
                    <a:pt x="14" y="229"/>
                  </a:lnTo>
                  <a:lnTo>
                    <a:pt x="0" y="229"/>
                  </a:lnTo>
                  <a:lnTo>
                    <a:pt x="0" y="216"/>
                  </a:lnTo>
                  <a:lnTo>
                    <a:pt x="14" y="216"/>
                  </a:lnTo>
                  <a:close/>
                  <a:moveTo>
                    <a:pt x="14" y="243"/>
                  </a:moveTo>
                  <a:lnTo>
                    <a:pt x="14" y="256"/>
                  </a:lnTo>
                  <a:lnTo>
                    <a:pt x="0" y="256"/>
                  </a:lnTo>
                  <a:lnTo>
                    <a:pt x="0" y="243"/>
                  </a:lnTo>
                  <a:lnTo>
                    <a:pt x="14" y="243"/>
                  </a:lnTo>
                  <a:close/>
                  <a:moveTo>
                    <a:pt x="14" y="270"/>
                  </a:moveTo>
                  <a:lnTo>
                    <a:pt x="14" y="283"/>
                  </a:lnTo>
                  <a:lnTo>
                    <a:pt x="0" y="283"/>
                  </a:lnTo>
                  <a:lnTo>
                    <a:pt x="0" y="270"/>
                  </a:lnTo>
                  <a:lnTo>
                    <a:pt x="14" y="270"/>
                  </a:lnTo>
                  <a:close/>
                  <a:moveTo>
                    <a:pt x="14" y="297"/>
                  </a:moveTo>
                  <a:lnTo>
                    <a:pt x="14" y="310"/>
                  </a:lnTo>
                  <a:lnTo>
                    <a:pt x="0" y="310"/>
                  </a:lnTo>
                  <a:lnTo>
                    <a:pt x="0" y="297"/>
                  </a:lnTo>
                  <a:lnTo>
                    <a:pt x="14" y="297"/>
                  </a:lnTo>
                  <a:close/>
                  <a:moveTo>
                    <a:pt x="14" y="324"/>
                  </a:moveTo>
                  <a:lnTo>
                    <a:pt x="14" y="337"/>
                  </a:lnTo>
                  <a:lnTo>
                    <a:pt x="0" y="337"/>
                  </a:lnTo>
                  <a:lnTo>
                    <a:pt x="0" y="324"/>
                  </a:lnTo>
                  <a:lnTo>
                    <a:pt x="14" y="324"/>
                  </a:lnTo>
                  <a:close/>
                  <a:moveTo>
                    <a:pt x="14" y="351"/>
                  </a:moveTo>
                  <a:lnTo>
                    <a:pt x="14" y="364"/>
                  </a:lnTo>
                  <a:lnTo>
                    <a:pt x="0" y="364"/>
                  </a:lnTo>
                  <a:lnTo>
                    <a:pt x="0" y="351"/>
                  </a:lnTo>
                  <a:lnTo>
                    <a:pt x="14" y="351"/>
                  </a:lnTo>
                  <a:close/>
                  <a:moveTo>
                    <a:pt x="14" y="378"/>
                  </a:moveTo>
                  <a:lnTo>
                    <a:pt x="14" y="391"/>
                  </a:lnTo>
                  <a:lnTo>
                    <a:pt x="0" y="391"/>
                  </a:lnTo>
                  <a:lnTo>
                    <a:pt x="0" y="378"/>
                  </a:lnTo>
                  <a:lnTo>
                    <a:pt x="14" y="378"/>
                  </a:lnTo>
                  <a:close/>
                  <a:moveTo>
                    <a:pt x="14" y="404"/>
                  </a:moveTo>
                  <a:lnTo>
                    <a:pt x="14" y="418"/>
                  </a:lnTo>
                  <a:lnTo>
                    <a:pt x="0" y="418"/>
                  </a:lnTo>
                  <a:lnTo>
                    <a:pt x="0" y="404"/>
                  </a:lnTo>
                  <a:lnTo>
                    <a:pt x="14" y="404"/>
                  </a:lnTo>
                  <a:close/>
                  <a:moveTo>
                    <a:pt x="14" y="432"/>
                  </a:moveTo>
                  <a:lnTo>
                    <a:pt x="14" y="445"/>
                  </a:lnTo>
                  <a:lnTo>
                    <a:pt x="0" y="445"/>
                  </a:lnTo>
                  <a:lnTo>
                    <a:pt x="0" y="432"/>
                  </a:lnTo>
                  <a:lnTo>
                    <a:pt x="14" y="432"/>
                  </a:lnTo>
                  <a:close/>
                  <a:moveTo>
                    <a:pt x="14" y="458"/>
                  </a:moveTo>
                  <a:lnTo>
                    <a:pt x="14" y="472"/>
                  </a:lnTo>
                  <a:lnTo>
                    <a:pt x="0" y="472"/>
                  </a:lnTo>
                  <a:lnTo>
                    <a:pt x="0" y="458"/>
                  </a:lnTo>
                  <a:lnTo>
                    <a:pt x="14" y="458"/>
                  </a:lnTo>
                  <a:close/>
                  <a:moveTo>
                    <a:pt x="14" y="485"/>
                  </a:moveTo>
                  <a:lnTo>
                    <a:pt x="14" y="499"/>
                  </a:lnTo>
                  <a:lnTo>
                    <a:pt x="0" y="499"/>
                  </a:lnTo>
                  <a:lnTo>
                    <a:pt x="0" y="485"/>
                  </a:lnTo>
                  <a:lnTo>
                    <a:pt x="14" y="485"/>
                  </a:lnTo>
                  <a:close/>
                  <a:moveTo>
                    <a:pt x="14" y="512"/>
                  </a:moveTo>
                  <a:lnTo>
                    <a:pt x="14" y="526"/>
                  </a:lnTo>
                  <a:lnTo>
                    <a:pt x="0" y="526"/>
                  </a:lnTo>
                  <a:lnTo>
                    <a:pt x="0" y="512"/>
                  </a:lnTo>
                  <a:lnTo>
                    <a:pt x="14" y="512"/>
                  </a:lnTo>
                  <a:close/>
                  <a:moveTo>
                    <a:pt x="14" y="539"/>
                  </a:moveTo>
                  <a:lnTo>
                    <a:pt x="14" y="553"/>
                  </a:lnTo>
                  <a:lnTo>
                    <a:pt x="0" y="553"/>
                  </a:lnTo>
                  <a:lnTo>
                    <a:pt x="0" y="539"/>
                  </a:lnTo>
                  <a:lnTo>
                    <a:pt x="14" y="539"/>
                  </a:lnTo>
                  <a:close/>
                  <a:moveTo>
                    <a:pt x="14" y="566"/>
                  </a:moveTo>
                  <a:lnTo>
                    <a:pt x="14" y="580"/>
                  </a:lnTo>
                  <a:lnTo>
                    <a:pt x="0" y="580"/>
                  </a:lnTo>
                  <a:lnTo>
                    <a:pt x="0" y="566"/>
                  </a:lnTo>
                  <a:lnTo>
                    <a:pt x="14" y="566"/>
                  </a:lnTo>
                  <a:close/>
                  <a:moveTo>
                    <a:pt x="14" y="593"/>
                  </a:moveTo>
                  <a:lnTo>
                    <a:pt x="14" y="607"/>
                  </a:lnTo>
                  <a:lnTo>
                    <a:pt x="0" y="607"/>
                  </a:lnTo>
                  <a:lnTo>
                    <a:pt x="0" y="593"/>
                  </a:lnTo>
                  <a:lnTo>
                    <a:pt x="14" y="593"/>
                  </a:lnTo>
                  <a:close/>
                  <a:moveTo>
                    <a:pt x="14" y="620"/>
                  </a:moveTo>
                  <a:lnTo>
                    <a:pt x="14" y="634"/>
                  </a:lnTo>
                  <a:lnTo>
                    <a:pt x="0" y="634"/>
                  </a:lnTo>
                  <a:lnTo>
                    <a:pt x="0" y="620"/>
                  </a:lnTo>
                  <a:lnTo>
                    <a:pt x="14" y="620"/>
                  </a:lnTo>
                  <a:close/>
                  <a:moveTo>
                    <a:pt x="14" y="647"/>
                  </a:moveTo>
                  <a:lnTo>
                    <a:pt x="14" y="661"/>
                  </a:lnTo>
                  <a:lnTo>
                    <a:pt x="0" y="661"/>
                  </a:lnTo>
                  <a:lnTo>
                    <a:pt x="0" y="647"/>
                  </a:lnTo>
                  <a:lnTo>
                    <a:pt x="14" y="647"/>
                  </a:lnTo>
                  <a:close/>
                  <a:moveTo>
                    <a:pt x="14" y="674"/>
                  </a:moveTo>
                  <a:lnTo>
                    <a:pt x="14" y="687"/>
                  </a:lnTo>
                  <a:lnTo>
                    <a:pt x="0" y="687"/>
                  </a:lnTo>
                  <a:lnTo>
                    <a:pt x="0" y="674"/>
                  </a:lnTo>
                  <a:lnTo>
                    <a:pt x="14" y="674"/>
                  </a:lnTo>
                  <a:close/>
                  <a:moveTo>
                    <a:pt x="14" y="701"/>
                  </a:moveTo>
                  <a:lnTo>
                    <a:pt x="14" y="715"/>
                  </a:lnTo>
                  <a:lnTo>
                    <a:pt x="0" y="715"/>
                  </a:lnTo>
                  <a:lnTo>
                    <a:pt x="0" y="701"/>
                  </a:lnTo>
                  <a:lnTo>
                    <a:pt x="14" y="701"/>
                  </a:lnTo>
                  <a:close/>
                  <a:moveTo>
                    <a:pt x="14" y="728"/>
                  </a:moveTo>
                  <a:lnTo>
                    <a:pt x="14" y="741"/>
                  </a:lnTo>
                  <a:lnTo>
                    <a:pt x="0" y="741"/>
                  </a:lnTo>
                  <a:lnTo>
                    <a:pt x="0" y="728"/>
                  </a:lnTo>
                  <a:lnTo>
                    <a:pt x="14" y="728"/>
                  </a:lnTo>
                  <a:close/>
                  <a:moveTo>
                    <a:pt x="14" y="755"/>
                  </a:moveTo>
                  <a:lnTo>
                    <a:pt x="14" y="768"/>
                  </a:lnTo>
                  <a:lnTo>
                    <a:pt x="0" y="768"/>
                  </a:lnTo>
                  <a:lnTo>
                    <a:pt x="0" y="755"/>
                  </a:lnTo>
                  <a:lnTo>
                    <a:pt x="14" y="755"/>
                  </a:lnTo>
                  <a:close/>
                  <a:moveTo>
                    <a:pt x="14" y="782"/>
                  </a:moveTo>
                  <a:lnTo>
                    <a:pt x="14" y="795"/>
                  </a:lnTo>
                  <a:lnTo>
                    <a:pt x="0" y="795"/>
                  </a:lnTo>
                  <a:lnTo>
                    <a:pt x="0" y="782"/>
                  </a:lnTo>
                  <a:lnTo>
                    <a:pt x="14" y="782"/>
                  </a:lnTo>
                  <a:close/>
                  <a:moveTo>
                    <a:pt x="14" y="809"/>
                  </a:moveTo>
                  <a:lnTo>
                    <a:pt x="14" y="822"/>
                  </a:lnTo>
                  <a:lnTo>
                    <a:pt x="0" y="822"/>
                  </a:lnTo>
                  <a:lnTo>
                    <a:pt x="0" y="809"/>
                  </a:lnTo>
                  <a:lnTo>
                    <a:pt x="14" y="809"/>
                  </a:lnTo>
                  <a:close/>
                  <a:moveTo>
                    <a:pt x="14" y="836"/>
                  </a:moveTo>
                  <a:lnTo>
                    <a:pt x="14" y="849"/>
                  </a:lnTo>
                  <a:lnTo>
                    <a:pt x="0" y="849"/>
                  </a:lnTo>
                  <a:lnTo>
                    <a:pt x="0" y="836"/>
                  </a:lnTo>
                  <a:lnTo>
                    <a:pt x="14" y="836"/>
                  </a:lnTo>
                  <a:close/>
                  <a:moveTo>
                    <a:pt x="14" y="863"/>
                  </a:moveTo>
                  <a:lnTo>
                    <a:pt x="14" y="876"/>
                  </a:lnTo>
                  <a:lnTo>
                    <a:pt x="0" y="876"/>
                  </a:lnTo>
                  <a:lnTo>
                    <a:pt x="0" y="863"/>
                  </a:lnTo>
                  <a:lnTo>
                    <a:pt x="14" y="863"/>
                  </a:lnTo>
                  <a:close/>
                  <a:moveTo>
                    <a:pt x="14" y="890"/>
                  </a:moveTo>
                  <a:lnTo>
                    <a:pt x="14" y="903"/>
                  </a:lnTo>
                  <a:lnTo>
                    <a:pt x="0" y="903"/>
                  </a:lnTo>
                  <a:lnTo>
                    <a:pt x="0" y="890"/>
                  </a:lnTo>
                  <a:lnTo>
                    <a:pt x="14" y="890"/>
                  </a:lnTo>
                  <a:close/>
                  <a:moveTo>
                    <a:pt x="14" y="917"/>
                  </a:moveTo>
                  <a:lnTo>
                    <a:pt x="14" y="930"/>
                  </a:lnTo>
                  <a:lnTo>
                    <a:pt x="0" y="930"/>
                  </a:lnTo>
                  <a:lnTo>
                    <a:pt x="0" y="917"/>
                  </a:lnTo>
                  <a:lnTo>
                    <a:pt x="14" y="917"/>
                  </a:lnTo>
                  <a:close/>
                  <a:moveTo>
                    <a:pt x="14" y="944"/>
                  </a:moveTo>
                  <a:lnTo>
                    <a:pt x="14" y="957"/>
                  </a:lnTo>
                  <a:lnTo>
                    <a:pt x="0" y="957"/>
                  </a:lnTo>
                  <a:lnTo>
                    <a:pt x="0" y="944"/>
                  </a:lnTo>
                  <a:lnTo>
                    <a:pt x="14" y="944"/>
                  </a:lnTo>
                  <a:close/>
                  <a:moveTo>
                    <a:pt x="14" y="970"/>
                  </a:moveTo>
                  <a:lnTo>
                    <a:pt x="14" y="984"/>
                  </a:lnTo>
                  <a:lnTo>
                    <a:pt x="0" y="984"/>
                  </a:lnTo>
                  <a:lnTo>
                    <a:pt x="0" y="970"/>
                  </a:lnTo>
                  <a:lnTo>
                    <a:pt x="14" y="970"/>
                  </a:lnTo>
                  <a:close/>
                  <a:moveTo>
                    <a:pt x="14" y="998"/>
                  </a:moveTo>
                  <a:lnTo>
                    <a:pt x="14" y="1011"/>
                  </a:lnTo>
                  <a:lnTo>
                    <a:pt x="0" y="1011"/>
                  </a:lnTo>
                  <a:lnTo>
                    <a:pt x="0" y="998"/>
                  </a:lnTo>
                  <a:lnTo>
                    <a:pt x="14" y="998"/>
                  </a:lnTo>
                  <a:close/>
                  <a:moveTo>
                    <a:pt x="14" y="1024"/>
                  </a:moveTo>
                  <a:lnTo>
                    <a:pt x="14" y="1038"/>
                  </a:lnTo>
                  <a:lnTo>
                    <a:pt x="0" y="1038"/>
                  </a:lnTo>
                  <a:lnTo>
                    <a:pt x="0" y="1024"/>
                  </a:lnTo>
                  <a:lnTo>
                    <a:pt x="14" y="1024"/>
                  </a:lnTo>
                  <a:close/>
                  <a:moveTo>
                    <a:pt x="14" y="1051"/>
                  </a:moveTo>
                  <a:lnTo>
                    <a:pt x="14" y="1065"/>
                  </a:lnTo>
                  <a:lnTo>
                    <a:pt x="0" y="1065"/>
                  </a:lnTo>
                  <a:lnTo>
                    <a:pt x="0" y="1051"/>
                  </a:lnTo>
                  <a:lnTo>
                    <a:pt x="14" y="1051"/>
                  </a:lnTo>
                  <a:close/>
                  <a:moveTo>
                    <a:pt x="14" y="1078"/>
                  </a:moveTo>
                  <a:lnTo>
                    <a:pt x="14" y="1092"/>
                  </a:lnTo>
                  <a:lnTo>
                    <a:pt x="0" y="1092"/>
                  </a:lnTo>
                  <a:lnTo>
                    <a:pt x="0" y="1078"/>
                  </a:lnTo>
                  <a:lnTo>
                    <a:pt x="14" y="1078"/>
                  </a:lnTo>
                  <a:close/>
                  <a:moveTo>
                    <a:pt x="14" y="1105"/>
                  </a:moveTo>
                  <a:lnTo>
                    <a:pt x="14" y="1119"/>
                  </a:lnTo>
                  <a:lnTo>
                    <a:pt x="0" y="1119"/>
                  </a:lnTo>
                  <a:lnTo>
                    <a:pt x="0" y="1105"/>
                  </a:lnTo>
                  <a:lnTo>
                    <a:pt x="14" y="1105"/>
                  </a:lnTo>
                  <a:close/>
                  <a:moveTo>
                    <a:pt x="14" y="1132"/>
                  </a:moveTo>
                  <a:lnTo>
                    <a:pt x="14" y="1146"/>
                  </a:lnTo>
                  <a:lnTo>
                    <a:pt x="0" y="1146"/>
                  </a:lnTo>
                  <a:lnTo>
                    <a:pt x="0" y="1132"/>
                  </a:lnTo>
                  <a:lnTo>
                    <a:pt x="14" y="1132"/>
                  </a:lnTo>
                  <a:close/>
                  <a:moveTo>
                    <a:pt x="14" y="1159"/>
                  </a:moveTo>
                  <a:lnTo>
                    <a:pt x="14" y="1173"/>
                  </a:lnTo>
                  <a:lnTo>
                    <a:pt x="0" y="1173"/>
                  </a:lnTo>
                  <a:lnTo>
                    <a:pt x="0" y="1159"/>
                  </a:lnTo>
                  <a:lnTo>
                    <a:pt x="14" y="1159"/>
                  </a:lnTo>
                  <a:close/>
                  <a:moveTo>
                    <a:pt x="14" y="1186"/>
                  </a:moveTo>
                  <a:lnTo>
                    <a:pt x="14" y="1200"/>
                  </a:lnTo>
                  <a:lnTo>
                    <a:pt x="0" y="1200"/>
                  </a:lnTo>
                  <a:lnTo>
                    <a:pt x="0" y="1186"/>
                  </a:lnTo>
                  <a:lnTo>
                    <a:pt x="14" y="1186"/>
                  </a:lnTo>
                  <a:close/>
                  <a:moveTo>
                    <a:pt x="14" y="1213"/>
                  </a:moveTo>
                  <a:lnTo>
                    <a:pt x="14" y="1227"/>
                  </a:lnTo>
                  <a:lnTo>
                    <a:pt x="0" y="1227"/>
                  </a:lnTo>
                  <a:lnTo>
                    <a:pt x="0" y="1213"/>
                  </a:lnTo>
                  <a:lnTo>
                    <a:pt x="14" y="1213"/>
                  </a:lnTo>
                  <a:close/>
                  <a:moveTo>
                    <a:pt x="14" y="1240"/>
                  </a:moveTo>
                  <a:lnTo>
                    <a:pt x="14" y="1253"/>
                  </a:lnTo>
                  <a:lnTo>
                    <a:pt x="0" y="1253"/>
                  </a:lnTo>
                  <a:lnTo>
                    <a:pt x="0" y="1240"/>
                  </a:lnTo>
                  <a:lnTo>
                    <a:pt x="14" y="1240"/>
                  </a:lnTo>
                  <a:close/>
                  <a:moveTo>
                    <a:pt x="14" y="1267"/>
                  </a:moveTo>
                  <a:lnTo>
                    <a:pt x="14" y="1281"/>
                  </a:lnTo>
                  <a:lnTo>
                    <a:pt x="0" y="1281"/>
                  </a:lnTo>
                  <a:lnTo>
                    <a:pt x="0" y="1267"/>
                  </a:lnTo>
                  <a:lnTo>
                    <a:pt x="14" y="1267"/>
                  </a:lnTo>
                  <a:close/>
                  <a:moveTo>
                    <a:pt x="14" y="1294"/>
                  </a:moveTo>
                  <a:lnTo>
                    <a:pt x="14" y="1307"/>
                  </a:lnTo>
                  <a:lnTo>
                    <a:pt x="0" y="1307"/>
                  </a:lnTo>
                  <a:lnTo>
                    <a:pt x="0" y="1294"/>
                  </a:lnTo>
                  <a:lnTo>
                    <a:pt x="14" y="1294"/>
                  </a:lnTo>
                  <a:close/>
                  <a:moveTo>
                    <a:pt x="14" y="1321"/>
                  </a:moveTo>
                  <a:lnTo>
                    <a:pt x="14" y="1334"/>
                  </a:lnTo>
                  <a:lnTo>
                    <a:pt x="0" y="1334"/>
                  </a:lnTo>
                  <a:lnTo>
                    <a:pt x="0" y="1321"/>
                  </a:lnTo>
                  <a:lnTo>
                    <a:pt x="14" y="1321"/>
                  </a:lnTo>
                  <a:close/>
                  <a:moveTo>
                    <a:pt x="14" y="1348"/>
                  </a:moveTo>
                  <a:lnTo>
                    <a:pt x="14" y="1361"/>
                  </a:lnTo>
                  <a:lnTo>
                    <a:pt x="0" y="1361"/>
                  </a:lnTo>
                  <a:lnTo>
                    <a:pt x="0" y="1348"/>
                  </a:lnTo>
                  <a:lnTo>
                    <a:pt x="14" y="1348"/>
                  </a:lnTo>
                  <a:close/>
                  <a:moveTo>
                    <a:pt x="14" y="1375"/>
                  </a:moveTo>
                  <a:lnTo>
                    <a:pt x="14" y="1388"/>
                  </a:lnTo>
                  <a:lnTo>
                    <a:pt x="0" y="1388"/>
                  </a:lnTo>
                  <a:lnTo>
                    <a:pt x="0" y="1375"/>
                  </a:lnTo>
                  <a:lnTo>
                    <a:pt x="14" y="1375"/>
                  </a:lnTo>
                  <a:close/>
                  <a:moveTo>
                    <a:pt x="14" y="1402"/>
                  </a:moveTo>
                  <a:lnTo>
                    <a:pt x="14" y="1415"/>
                  </a:lnTo>
                  <a:lnTo>
                    <a:pt x="0" y="1415"/>
                  </a:lnTo>
                  <a:lnTo>
                    <a:pt x="0" y="1402"/>
                  </a:lnTo>
                  <a:lnTo>
                    <a:pt x="14" y="1402"/>
                  </a:lnTo>
                  <a:close/>
                  <a:moveTo>
                    <a:pt x="14" y="1429"/>
                  </a:moveTo>
                  <a:lnTo>
                    <a:pt x="14" y="1442"/>
                  </a:lnTo>
                  <a:lnTo>
                    <a:pt x="0" y="1442"/>
                  </a:lnTo>
                  <a:lnTo>
                    <a:pt x="0" y="1429"/>
                  </a:lnTo>
                  <a:lnTo>
                    <a:pt x="14" y="1429"/>
                  </a:lnTo>
                  <a:close/>
                  <a:moveTo>
                    <a:pt x="14" y="1455"/>
                  </a:moveTo>
                  <a:lnTo>
                    <a:pt x="14" y="1469"/>
                  </a:lnTo>
                  <a:lnTo>
                    <a:pt x="0" y="1469"/>
                  </a:lnTo>
                  <a:lnTo>
                    <a:pt x="0" y="1455"/>
                  </a:lnTo>
                  <a:lnTo>
                    <a:pt x="14" y="1455"/>
                  </a:lnTo>
                  <a:close/>
                  <a:moveTo>
                    <a:pt x="14" y="1483"/>
                  </a:moveTo>
                  <a:lnTo>
                    <a:pt x="14" y="1496"/>
                  </a:lnTo>
                  <a:lnTo>
                    <a:pt x="0" y="1496"/>
                  </a:lnTo>
                  <a:lnTo>
                    <a:pt x="0" y="1483"/>
                  </a:lnTo>
                  <a:lnTo>
                    <a:pt x="14" y="1483"/>
                  </a:lnTo>
                  <a:close/>
                  <a:moveTo>
                    <a:pt x="14" y="1510"/>
                  </a:moveTo>
                  <a:lnTo>
                    <a:pt x="14" y="1523"/>
                  </a:lnTo>
                  <a:lnTo>
                    <a:pt x="0" y="1523"/>
                  </a:lnTo>
                  <a:lnTo>
                    <a:pt x="0" y="1510"/>
                  </a:lnTo>
                  <a:lnTo>
                    <a:pt x="14" y="1510"/>
                  </a:lnTo>
                  <a:close/>
                  <a:moveTo>
                    <a:pt x="14" y="1536"/>
                  </a:moveTo>
                  <a:lnTo>
                    <a:pt x="14" y="1550"/>
                  </a:lnTo>
                  <a:lnTo>
                    <a:pt x="0" y="1550"/>
                  </a:lnTo>
                  <a:lnTo>
                    <a:pt x="0" y="1536"/>
                  </a:lnTo>
                  <a:lnTo>
                    <a:pt x="14" y="1536"/>
                  </a:lnTo>
                  <a:close/>
                  <a:moveTo>
                    <a:pt x="14" y="1564"/>
                  </a:moveTo>
                  <a:lnTo>
                    <a:pt x="14" y="1577"/>
                  </a:lnTo>
                  <a:lnTo>
                    <a:pt x="0" y="1577"/>
                  </a:lnTo>
                  <a:lnTo>
                    <a:pt x="0" y="1564"/>
                  </a:lnTo>
                  <a:lnTo>
                    <a:pt x="14" y="1564"/>
                  </a:lnTo>
                  <a:close/>
                  <a:moveTo>
                    <a:pt x="14" y="1590"/>
                  </a:moveTo>
                  <a:lnTo>
                    <a:pt x="14" y="1604"/>
                  </a:lnTo>
                  <a:lnTo>
                    <a:pt x="0" y="1604"/>
                  </a:lnTo>
                  <a:lnTo>
                    <a:pt x="0" y="1590"/>
                  </a:lnTo>
                  <a:lnTo>
                    <a:pt x="14" y="1590"/>
                  </a:lnTo>
                  <a:close/>
                  <a:moveTo>
                    <a:pt x="14" y="1617"/>
                  </a:moveTo>
                  <a:lnTo>
                    <a:pt x="14" y="1631"/>
                  </a:lnTo>
                  <a:lnTo>
                    <a:pt x="0" y="1631"/>
                  </a:lnTo>
                  <a:lnTo>
                    <a:pt x="0" y="1617"/>
                  </a:lnTo>
                  <a:lnTo>
                    <a:pt x="14" y="1617"/>
                  </a:lnTo>
                  <a:close/>
                  <a:moveTo>
                    <a:pt x="14" y="1644"/>
                  </a:moveTo>
                  <a:lnTo>
                    <a:pt x="14" y="1658"/>
                  </a:lnTo>
                  <a:lnTo>
                    <a:pt x="0" y="1658"/>
                  </a:lnTo>
                  <a:lnTo>
                    <a:pt x="0" y="1644"/>
                  </a:lnTo>
                  <a:lnTo>
                    <a:pt x="14" y="1644"/>
                  </a:lnTo>
                  <a:close/>
                  <a:moveTo>
                    <a:pt x="14" y="1671"/>
                  </a:moveTo>
                  <a:lnTo>
                    <a:pt x="14" y="1685"/>
                  </a:lnTo>
                  <a:lnTo>
                    <a:pt x="0" y="1685"/>
                  </a:lnTo>
                  <a:lnTo>
                    <a:pt x="0" y="1671"/>
                  </a:lnTo>
                  <a:lnTo>
                    <a:pt x="14" y="1671"/>
                  </a:lnTo>
                  <a:close/>
                  <a:moveTo>
                    <a:pt x="14" y="1698"/>
                  </a:moveTo>
                  <a:lnTo>
                    <a:pt x="14" y="1712"/>
                  </a:lnTo>
                  <a:lnTo>
                    <a:pt x="0" y="1712"/>
                  </a:lnTo>
                  <a:lnTo>
                    <a:pt x="0" y="1698"/>
                  </a:lnTo>
                  <a:lnTo>
                    <a:pt x="14" y="1698"/>
                  </a:lnTo>
                  <a:close/>
                  <a:moveTo>
                    <a:pt x="14" y="1725"/>
                  </a:moveTo>
                  <a:lnTo>
                    <a:pt x="14" y="1738"/>
                  </a:lnTo>
                  <a:lnTo>
                    <a:pt x="0" y="1738"/>
                  </a:lnTo>
                  <a:lnTo>
                    <a:pt x="0" y="1725"/>
                  </a:lnTo>
                  <a:lnTo>
                    <a:pt x="14" y="1725"/>
                  </a:lnTo>
                  <a:close/>
                  <a:moveTo>
                    <a:pt x="14" y="1752"/>
                  </a:moveTo>
                  <a:lnTo>
                    <a:pt x="14" y="1766"/>
                  </a:lnTo>
                  <a:lnTo>
                    <a:pt x="0" y="1766"/>
                  </a:lnTo>
                  <a:lnTo>
                    <a:pt x="0" y="1752"/>
                  </a:lnTo>
                  <a:lnTo>
                    <a:pt x="14" y="1752"/>
                  </a:lnTo>
                  <a:close/>
                  <a:moveTo>
                    <a:pt x="14" y="1779"/>
                  </a:moveTo>
                  <a:lnTo>
                    <a:pt x="14" y="1792"/>
                  </a:lnTo>
                  <a:lnTo>
                    <a:pt x="0" y="1792"/>
                  </a:lnTo>
                  <a:lnTo>
                    <a:pt x="0" y="1779"/>
                  </a:lnTo>
                  <a:lnTo>
                    <a:pt x="14" y="1779"/>
                  </a:lnTo>
                  <a:close/>
                  <a:moveTo>
                    <a:pt x="14" y="1806"/>
                  </a:moveTo>
                  <a:lnTo>
                    <a:pt x="14" y="1819"/>
                  </a:lnTo>
                  <a:lnTo>
                    <a:pt x="0" y="1819"/>
                  </a:lnTo>
                  <a:lnTo>
                    <a:pt x="0" y="1806"/>
                  </a:lnTo>
                  <a:lnTo>
                    <a:pt x="14" y="1806"/>
                  </a:lnTo>
                  <a:close/>
                  <a:moveTo>
                    <a:pt x="14" y="1833"/>
                  </a:moveTo>
                  <a:lnTo>
                    <a:pt x="14" y="1846"/>
                  </a:lnTo>
                  <a:lnTo>
                    <a:pt x="0" y="1846"/>
                  </a:lnTo>
                  <a:lnTo>
                    <a:pt x="0" y="1833"/>
                  </a:lnTo>
                  <a:lnTo>
                    <a:pt x="14" y="1833"/>
                  </a:lnTo>
                  <a:close/>
                  <a:moveTo>
                    <a:pt x="14" y="1860"/>
                  </a:moveTo>
                  <a:lnTo>
                    <a:pt x="14" y="1873"/>
                  </a:lnTo>
                  <a:lnTo>
                    <a:pt x="0" y="1873"/>
                  </a:lnTo>
                  <a:lnTo>
                    <a:pt x="0" y="1860"/>
                  </a:lnTo>
                  <a:lnTo>
                    <a:pt x="14" y="1860"/>
                  </a:lnTo>
                  <a:close/>
                  <a:moveTo>
                    <a:pt x="14" y="1887"/>
                  </a:moveTo>
                  <a:lnTo>
                    <a:pt x="14" y="1900"/>
                  </a:lnTo>
                  <a:lnTo>
                    <a:pt x="0" y="1900"/>
                  </a:lnTo>
                  <a:lnTo>
                    <a:pt x="0" y="1887"/>
                  </a:lnTo>
                  <a:lnTo>
                    <a:pt x="14" y="1887"/>
                  </a:lnTo>
                  <a:close/>
                  <a:moveTo>
                    <a:pt x="14" y="1914"/>
                  </a:moveTo>
                  <a:lnTo>
                    <a:pt x="14" y="1927"/>
                  </a:lnTo>
                  <a:lnTo>
                    <a:pt x="0" y="1927"/>
                  </a:lnTo>
                  <a:lnTo>
                    <a:pt x="0" y="1914"/>
                  </a:lnTo>
                  <a:lnTo>
                    <a:pt x="14" y="1914"/>
                  </a:lnTo>
                  <a:close/>
                  <a:moveTo>
                    <a:pt x="14" y="1941"/>
                  </a:moveTo>
                  <a:lnTo>
                    <a:pt x="14" y="1954"/>
                  </a:lnTo>
                  <a:lnTo>
                    <a:pt x="0" y="1954"/>
                  </a:lnTo>
                  <a:lnTo>
                    <a:pt x="0" y="1941"/>
                  </a:lnTo>
                  <a:lnTo>
                    <a:pt x="14" y="1941"/>
                  </a:lnTo>
                  <a:close/>
                  <a:moveTo>
                    <a:pt x="14" y="1968"/>
                  </a:moveTo>
                  <a:lnTo>
                    <a:pt x="14" y="1981"/>
                  </a:lnTo>
                  <a:lnTo>
                    <a:pt x="0" y="1981"/>
                  </a:lnTo>
                  <a:lnTo>
                    <a:pt x="0" y="1968"/>
                  </a:lnTo>
                  <a:lnTo>
                    <a:pt x="14" y="1968"/>
                  </a:lnTo>
                  <a:close/>
                  <a:moveTo>
                    <a:pt x="14" y="1995"/>
                  </a:moveTo>
                  <a:lnTo>
                    <a:pt x="14" y="2008"/>
                  </a:lnTo>
                  <a:lnTo>
                    <a:pt x="0" y="2008"/>
                  </a:lnTo>
                  <a:lnTo>
                    <a:pt x="0" y="1995"/>
                  </a:lnTo>
                  <a:lnTo>
                    <a:pt x="14" y="1995"/>
                  </a:lnTo>
                  <a:close/>
                  <a:moveTo>
                    <a:pt x="14" y="2021"/>
                  </a:moveTo>
                  <a:lnTo>
                    <a:pt x="14" y="2035"/>
                  </a:lnTo>
                  <a:lnTo>
                    <a:pt x="0" y="2035"/>
                  </a:lnTo>
                  <a:lnTo>
                    <a:pt x="0" y="2021"/>
                  </a:lnTo>
                  <a:lnTo>
                    <a:pt x="14" y="2021"/>
                  </a:lnTo>
                  <a:close/>
                  <a:moveTo>
                    <a:pt x="14" y="2049"/>
                  </a:moveTo>
                  <a:lnTo>
                    <a:pt x="14" y="2062"/>
                  </a:lnTo>
                  <a:lnTo>
                    <a:pt x="0" y="2062"/>
                  </a:lnTo>
                  <a:lnTo>
                    <a:pt x="0" y="2049"/>
                  </a:lnTo>
                  <a:lnTo>
                    <a:pt x="14" y="2049"/>
                  </a:lnTo>
                  <a:close/>
                  <a:moveTo>
                    <a:pt x="14" y="2075"/>
                  </a:moveTo>
                  <a:lnTo>
                    <a:pt x="14" y="2089"/>
                  </a:lnTo>
                  <a:lnTo>
                    <a:pt x="0" y="2089"/>
                  </a:lnTo>
                  <a:lnTo>
                    <a:pt x="0" y="2075"/>
                  </a:lnTo>
                  <a:lnTo>
                    <a:pt x="14" y="2075"/>
                  </a:lnTo>
                  <a:close/>
                  <a:moveTo>
                    <a:pt x="14" y="2102"/>
                  </a:moveTo>
                  <a:lnTo>
                    <a:pt x="14" y="2116"/>
                  </a:lnTo>
                  <a:lnTo>
                    <a:pt x="0" y="2116"/>
                  </a:lnTo>
                  <a:lnTo>
                    <a:pt x="0" y="2102"/>
                  </a:lnTo>
                  <a:lnTo>
                    <a:pt x="14" y="2102"/>
                  </a:lnTo>
                  <a:close/>
                  <a:moveTo>
                    <a:pt x="14" y="2129"/>
                  </a:moveTo>
                  <a:lnTo>
                    <a:pt x="14" y="2143"/>
                  </a:lnTo>
                  <a:lnTo>
                    <a:pt x="0" y="2143"/>
                  </a:lnTo>
                  <a:lnTo>
                    <a:pt x="0" y="2129"/>
                  </a:lnTo>
                  <a:lnTo>
                    <a:pt x="14" y="2129"/>
                  </a:lnTo>
                  <a:close/>
                  <a:moveTo>
                    <a:pt x="14" y="2156"/>
                  </a:moveTo>
                  <a:lnTo>
                    <a:pt x="14" y="2170"/>
                  </a:lnTo>
                  <a:lnTo>
                    <a:pt x="0" y="2170"/>
                  </a:lnTo>
                  <a:lnTo>
                    <a:pt x="0" y="2156"/>
                  </a:lnTo>
                  <a:lnTo>
                    <a:pt x="14" y="2156"/>
                  </a:lnTo>
                  <a:close/>
                  <a:moveTo>
                    <a:pt x="14" y="2183"/>
                  </a:moveTo>
                  <a:lnTo>
                    <a:pt x="14" y="2197"/>
                  </a:lnTo>
                  <a:lnTo>
                    <a:pt x="0" y="2197"/>
                  </a:lnTo>
                  <a:lnTo>
                    <a:pt x="0" y="2183"/>
                  </a:lnTo>
                  <a:lnTo>
                    <a:pt x="14" y="2183"/>
                  </a:lnTo>
                  <a:close/>
                  <a:moveTo>
                    <a:pt x="14" y="2210"/>
                  </a:moveTo>
                  <a:lnTo>
                    <a:pt x="14" y="2224"/>
                  </a:lnTo>
                  <a:lnTo>
                    <a:pt x="0" y="2224"/>
                  </a:lnTo>
                  <a:lnTo>
                    <a:pt x="0" y="2210"/>
                  </a:lnTo>
                  <a:lnTo>
                    <a:pt x="14" y="2210"/>
                  </a:lnTo>
                  <a:close/>
                  <a:moveTo>
                    <a:pt x="14" y="2237"/>
                  </a:moveTo>
                  <a:lnTo>
                    <a:pt x="14" y="2251"/>
                  </a:lnTo>
                  <a:lnTo>
                    <a:pt x="0" y="2251"/>
                  </a:lnTo>
                  <a:lnTo>
                    <a:pt x="0" y="2237"/>
                  </a:lnTo>
                  <a:lnTo>
                    <a:pt x="14" y="2237"/>
                  </a:lnTo>
                  <a:close/>
                  <a:moveTo>
                    <a:pt x="14" y="2264"/>
                  </a:moveTo>
                  <a:lnTo>
                    <a:pt x="14" y="2278"/>
                  </a:lnTo>
                  <a:lnTo>
                    <a:pt x="0" y="2278"/>
                  </a:lnTo>
                  <a:lnTo>
                    <a:pt x="0" y="2264"/>
                  </a:lnTo>
                  <a:lnTo>
                    <a:pt x="14" y="2264"/>
                  </a:lnTo>
                  <a:close/>
                  <a:moveTo>
                    <a:pt x="14" y="2291"/>
                  </a:moveTo>
                  <a:lnTo>
                    <a:pt x="14" y="2304"/>
                  </a:lnTo>
                  <a:lnTo>
                    <a:pt x="0" y="2304"/>
                  </a:lnTo>
                  <a:lnTo>
                    <a:pt x="0" y="2291"/>
                  </a:lnTo>
                  <a:lnTo>
                    <a:pt x="14" y="2291"/>
                  </a:lnTo>
                  <a:close/>
                  <a:moveTo>
                    <a:pt x="14" y="2318"/>
                  </a:moveTo>
                  <a:lnTo>
                    <a:pt x="14" y="2332"/>
                  </a:lnTo>
                  <a:lnTo>
                    <a:pt x="0" y="2332"/>
                  </a:lnTo>
                  <a:lnTo>
                    <a:pt x="0" y="2318"/>
                  </a:lnTo>
                  <a:lnTo>
                    <a:pt x="14" y="2318"/>
                  </a:lnTo>
                  <a:close/>
                  <a:moveTo>
                    <a:pt x="14" y="2345"/>
                  </a:moveTo>
                  <a:lnTo>
                    <a:pt x="14" y="2358"/>
                  </a:lnTo>
                  <a:lnTo>
                    <a:pt x="0" y="2358"/>
                  </a:lnTo>
                  <a:lnTo>
                    <a:pt x="0" y="2345"/>
                  </a:lnTo>
                  <a:lnTo>
                    <a:pt x="14" y="2345"/>
                  </a:lnTo>
                  <a:close/>
                </a:path>
              </a:pathLst>
            </a:custGeom>
            <a:solidFill>
              <a:srgbClr val="000000"/>
            </a:solidFill>
            <a:ln w="0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88" name="Freeform 84">
              <a:extLst>
                <a:ext uri="{FF2B5EF4-FFF2-40B4-BE49-F238E27FC236}">
                  <a16:creationId xmlns:a16="http://schemas.microsoft.com/office/drawing/2014/main" id="{484ECA26-3C8F-43E6-88BC-76021EC6056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305777" y="2655977"/>
              <a:ext cx="22258" cy="3748911"/>
            </a:xfrm>
            <a:custGeom>
              <a:avLst/>
              <a:gdLst>
                <a:gd name="T0" fmla="*/ 14 w 14"/>
                <a:gd name="T1" fmla="*/ 41 h 2358"/>
                <a:gd name="T2" fmla="*/ 0 w 14"/>
                <a:gd name="T3" fmla="*/ 54 h 2358"/>
                <a:gd name="T4" fmla="*/ 14 w 14"/>
                <a:gd name="T5" fmla="*/ 108 h 2358"/>
                <a:gd name="T6" fmla="*/ 0 w 14"/>
                <a:gd name="T7" fmla="*/ 149 h 2358"/>
                <a:gd name="T8" fmla="*/ 14 w 14"/>
                <a:gd name="T9" fmla="*/ 162 h 2358"/>
                <a:gd name="T10" fmla="*/ 14 w 14"/>
                <a:gd name="T11" fmla="*/ 229 h 2358"/>
                <a:gd name="T12" fmla="*/ 0 w 14"/>
                <a:gd name="T13" fmla="*/ 243 h 2358"/>
                <a:gd name="T14" fmla="*/ 14 w 14"/>
                <a:gd name="T15" fmla="*/ 297 h 2358"/>
                <a:gd name="T16" fmla="*/ 0 w 14"/>
                <a:gd name="T17" fmla="*/ 337 h 2358"/>
                <a:gd name="T18" fmla="*/ 14 w 14"/>
                <a:gd name="T19" fmla="*/ 351 h 2358"/>
                <a:gd name="T20" fmla="*/ 14 w 14"/>
                <a:gd name="T21" fmla="*/ 418 h 2358"/>
                <a:gd name="T22" fmla="*/ 0 w 14"/>
                <a:gd name="T23" fmla="*/ 432 h 2358"/>
                <a:gd name="T24" fmla="*/ 14 w 14"/>
                <a:gd name="T25" fmla="*/ 485 h 2358"/>
                <a:gd name="T26" fmla="*/ 0 w 14"/>
                <a:gd name="T27" fmla="*/ 526 h 2358"/>
                <a:gd name="T28" fmla="*/ 14 w 14"/>
                <a:gd name="T29" fmla="*/ 539 h 2358"/>
                <a:gd name="T30" fmla="*/ 14 w 14"/>
                <a:gd name="T31" fmla="*/ 607 h 2358"/>
                <a:gd name="T32" fmla="*/ 0 w 14"/>
                <a:gd name="T33" fmla="*/ 620 h 2358"/>
                <a:gd name="T34" fmla="*/ 14 w 14"/>
                <a:gd name="T35" fmla="*/ 674 h 2358"/>
                <a:gd name="T36" fmla="*/ 0 w 14"/>
                <a:gd name="T37" fmla="*/ 715 h 2358"/>
                <a:gd name="T38" fmla="*/ 14 w 14"/>
                <a:gd name="T39" fmla="*/ 728 h 2358"/>
                <a:gd name="T40" fmla="*/ 14 w 14"/>
                <a:gd name="T41" fmla="*/ 795 h 2358"/>
                <a:gd name="T42" fmla="*/ 0 w 14"/>
                <a:gd name="T43" fmla="*/ 809 h 2358"/>
                <a:gd name="T44" fmla="*/ 14 w 14"/>
                <a:gd name="T45" fmla="*/ 863 h 2358"/>
                <a:gd name="T46" fmla="*/ 0 w 14"/>
                <a:gd name="T47" fmla="*/ 903 h 2358"/>
                <a:gd name="T48" fmla="*/ 14 w 14"/>
                <a:gd name="T49" fmla="*/ 917 h 2358"/>
                <a:gd name="T50" fmla="*/ 14 w 14"/>
                <a:gd name="T51" fmla="*/ 984 h 2358"/>
                <a:gd name="T52" fmla="*/ 0 w 14"/>
                <a:gd name="T53" fmla="*/ 998 h 2358"/>
                <a:gd name="T54" fmla="*/ 14 w 14"/>
                <a:gd name="T55" fmla="*/ 1051 h 2358"/>
                <a:gd name="T56" fmla="*/ 0 w 14"/>
                <a:gd name="T57" fmla="*/ 1092 h 2358"/>
                <a:gd name="T58" fmla="*/ 14 w 14"/>
                <a:gd name="T59" fmla="*/ 1105 h 2358"/>
                <a:gd name="T60" fmla="*/ 14 w 14"/>
                <a:gd name="T61" fmla="*/ 1173 h 2358"/>
                <a:gd name="T62" fmla="*/ 0 w 14"/>
                <a:gd name="T63" fmla="*/ 1186 h 2358"/>
                <a:gd name="T64" fmla="*/ 14 w 14"/>
                <a:gd name="T65" fmla="*/ 1240 h 2358"/>
                <a:gd name="T66" fmla="*/ 0 w 14"/>
                <a:gd name="T67" fmla="*/ 1281 h 2358"/>
                <a:gd name="T68" fmla="*/ 14 w 14"/>
                <a:gd name="T69" fmla="*/ 1294 h 2358"/>
                <a:gd name="T70" fmla="*/ 14 w 14"/>
                <a:gd name="T71" fmla="*/ 1361 h 2358"/>
                <a:gd name="T72" fmla="*/ 0 w 14"/>
                <a:gd name="T73" fmla="*/ 1375 h 2358"/>
                <a:gd name="T74" fmla="*/ 14 w 14"/>
                <a:gd name="T75" fmla="*/ 1429 h 2358"/>
                <a:gd name="T76" fmla="*/ 0 w 14"/>
                <a:gd name="T77" fmla="*/ 1469 h 2358"/>
                <a:gd name="T78" fmla="*/ 14 w 14"/>
                <a:gd name="T79" fmla="*/ 1483 h 2358"/>
                <a:gd name="T80" fmla="*/ 14 w 14"/>
                <a:gd name="T81" fmla="*/ 1550 h 2358"/>
                <a:gd name="T82" fmla="*/ 0 w 14"/>
                <a:gd name="T83" fmla="*/ 1564 h 2358"/>
                <a:gd name="T84" fmla="*/ 14 w 14"/>
                <a:gd name="T85" fmla="*/ 1617 h 2358"/>
                <a:gd name="T86" fmla="*/ 0 w 14"/>
                <a:gd name="T87" fmla="*/ 1658 h 2358"/>
                <a:gd name="T88" fmla="*/ 14 w 14"/>
                <a:gd name="T89" fmla="*/ 1671 h 2358"/>
                <a:gd name="T90" fmla="*/ 14 w 14"/>
                <a:gd name="T91" fmla="*/ 1738 h 2358"/>
                <a:gd name="T92" fmla="*/ 0 w 14"/>
                <a:gd name="T93" fmla="*/ 1752 h 2358"/>
                <a:gd name="T94" fmla="*/ 14 w 14"/>
                <a:gd name="T95" fmla="*/ 1806 h 2358"/>
                <a:gd name="T96" fmla="*/ 0 w 14"/>
                <a:gd name="T97" fmla="*/ 1846 h 2358"/>
                <a:gd name="T98" fmla="*/ 14 w 14"/>
                <a:gd name="T99" fmla="*/ 1860 h 2358"/>
                <a:gd name="T100" fmla="*/ 14 w 14"/>
                <a:gd name="T101" fmla="*/ 1927 h 2358"/>
                <a:gd name="T102" fmla="*/ 0 w 14"/>
                <a:gd name="T103" fmla="*/ 1941 h 2358"/>
                <a:gd name="T104" fmla="*/ 14 w 14"/>
                <a:gd name="T105" fmla="*/ 1995 h 2358"/>
                <a:gd name="T106" fmla="*/ 0 w 14"/>
                <a:gd name="T107" fmla="*/ 2035 h 2358"/>
                <a:gd name="T108" fmla="*/ 14 w 14"/>
                <a:gd name="T109" fmla="*/ 2049 h 2358"/>
                <a:gd name="T110" fmla="*/ 14 w 14"/>
                <a:gd name="T111" fmla="*/ 2116 h 2358"/>
                <a:gd name="T112" fmla="*/ 0 w 14"/>
                <a:gd name="T113" fmla="*/ 2129 h 2358"/>
                <a:gd name="T114" fmla="*/ 14 w 14"/>
                <a:gd name="T115" fmla="*/ 2183 h 2358"/>
                <a:gd name="T116" fmla="*/ 0 w 14"/>
                <a:gd name="T117" fmla="*/ 2224 h 2358"/>
                <a:gd name="T118" fmla="*/ 14 w 14"/>
                <a:gd name="T119" fmla="*/ 2237 h 2358"/>
                <a:gd name="T120" fmla="*/ 14 w 14"/>
                <a:gd name="T121" fmla="*/ 2304 h 2358"/>
                <a:gd name="T122" fmla="*/ 0 w 14"/>
                <a:gd name="T123" fmla="*/ 2318 h 23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4" h="2358">
                  <a:moveTo>
                    <a:pt x="14" y="0"/>
                  </a:moveTo>
                  <a:lnTo>
                    <a:pt x="14" y="14"/>
                  </a:lnTo>
                  <a:lnTo>
                    <a:pt x="0" y="14"/>
                  </a:lnTo>
                  <a:lnTo>
                    <a:pt x="0" y="0"/>
                  </a:lnTo>
                  <a:lnTo>
                    <a:pt x="14" y="0"/>
                  </a:lnTo>
                  <a:close/>
                  <a:moveTo>
                    <a:pt x="14" y="27"/>
                  </a:moveTo>
                  <a:lnTo>
                    <a:pt x="14" y="41"/>
                  </a:lnTo>
                  <a:lnTo>
                    <a:pt x="0" y="41"/>
                  </a:lnTo>
                  <a:lnTo>
                    <a:pt x="0" y="27"/>
                  </a:lnTo>
                  <a:lnTo>
                    <a:pt x="14" y="27"/>
                  </a:lnTo>
                  <a:close/>
                  <a:moveTo>
                    <a:pt x="14" y="54"/>
                  </a:moveTo>
                  <a:lnTo>
                    <a:pt x="14" y="68"/>
                  </a:lnTo>
                  <a:lnTo>
                    <a:pt x="0" y="68"/>
                  </a:lnTo>
                  <a:lnTo>
                    <a:pt x="0" y="54"/>
                  </a:lnTo>
                  <a:lnTo>
                    <a:pt x="14" y="54"/>
                  </a:lnTo>
                  <a:close/>
                  <a:moveTo>
                    <a:pt x="14" y="81"/>
                  </a:moveTo>
                  <a:lnTo>
                    <a:pt x="14" y="95"/>
                  </a:lnTo>
                  <a:lnTo>
                    <a:pt x="0" y="95"/>
                  </a:lnTo>
                  <a:lnTo>
                    <a:pt x="0" y="81"/>
                  </a:lnTo>
                  <a:lnTo>
                    <a:pt x="14" y="81"/>
                  </a:lnTo>
                  <a:close/>
                  <a:moveTo>
                    <a:pt x="14" y="108"/>
                  </a:moveTo>
                  <a:lnTo>
                    <a:pt x="14" y="121"/>
                  </a:lnTo>
                  <a:lnTo>
                    <a:pt x="0" y="121"/>
                  </a:lnTo>
                  <a:lnTo>
                    <a:pt x="0" y="108"/>
                  </a:lnTo>
                  <a:lnTo>
                    <a:pt x="14" y="108"/>
                  </a:lnTo>
                  <a:close/>
                  <a:moveTo>
                    <a:pt x="14" y="135"/>
                  </a:moveTo>
                  <a:lnTo>
                    <a:pt x="14" y="149"/>
                  </a:lnTo>
                  <a:lnTo>
                    <a:pt x="0" y="149"/>
                  </a:lnTo>
                  <a:lnTo>
                    <a:pt x="0" y="135"/>
                  </a:lnTo>
                  <a:lnTo>
                    <a:pt x="14" y="135"/>
                  </a:lnTo>
                  <a:close/>
                  <a:moveTo>
                    <a:pt x="14" y="162"/>
                  </a:moveTo>
                  <a:lnTo>
                    <a:pt x="14" y="175"/>
                  </a:lnTo>
                  <a:lnTo>
                    <a:pt x="0" y="175"/>
                  </a:lnTo>
                  <a:lnTo>
                    <a:pt x="0" y="162"/>
                  </a:lnTo>
                  <a:lnTo>
                    <a:pt x="14" y="162"/>
                  </a:lnTo>
                  <a:close/>
                  <a:moveTo>
                    <a:pt x="14" y="189"/>
                  </a:moveTo>
                  <a:lnTo>
                    <a:pt x="14" y="202"/>
                  </a:lnTo>
                  <a:lnTo>
                    <a:pt x="0" y="202"/>
                  </a:lnTo>
                  <a:lnTo>
                    <a:pt x="0" y="189"/>
                  </a:lnTo>
                  <a:lnTo>
                    <a:pt x="14" y="189"/>
                  </a:lnTo>
                  <a:close/>
                  <a:moveTo>
                    <a:pt x="14" y="216"/>
                  </a:moveTo>
                  <a:lnTo>
                    <a:pt x="14" y="229"/>
                  </a:lnTo>
                  <a:lnTo>
                    <a:pt x="0" y="229"/>
                  </a:lnTo>
                  <a:lnTo>
                    <a:pt x="0" y="216"/>
                  </a:lnTo>
                  <a:lnTo>
                    <a:pt x="14" y="216"/>
                  </a:lnTo>
                  <a:close/>
                  <a:moveTo>
                    <a:pt x="14" y="243"/>
                  </a:moveTo>
                  <a:lnTo>
                    <a:pt x="14" y="256"/>
                  </a:lnTo>
                  <a:lnTo>
                    <a:pt x="0" y="256"/>
                  </a:lnTo>
                  <a:lnTo>
                    <a:pt x="0" y="243"/>
                  </a:lnTo>
                  <a:lnTo>
                    <a:pt x="14" y="243"/>
                  </a:lnTo>
                  <a:close/>
                  <a:moveTo>
                    <a:pt x="14" y="270"/>
                  </a:moveTo>
                  <a:lnTo>
                    <a:pt x="14" y="283"/>
                  </a:lnTo>
                  <a:lnTo>
                    <a:pt x="0" y="283"/>
                  </a:lnTo>
                  <a:lnTo>
                    <a:pt x="0" y="270"/>
                  </a:lnTo>
                  <a:lnTo>
                    <a:pt x="14" y="270"/>
                  </a:lnTo>
                  <a:close/>
                  <a:moveTo>
                    <a:pt x="14" y="297"/>
                  </a:moveTo>
                  <a:lnTo>
                    <a:pt x="14" y="310"/>
                  </a:lnTo>
                  <a:lnTo>
                    <a:pt x="0" y="310"/>
                  </a:lnTo>
                  <a:lnTo>
                    <a:pt x="0" y="297"/>
                  </a:lnTo>
                  <a:lnTo>
                    <a:pt x="14" y="297"/>
                  </a:lnTo>
                  <a:close/>
                  <a:moveTo>
                    <a:pt x="14" y="324"/>
                  </a:moveTo>
                  <a:lnTo>
                    <a:pt x="14" y="337"/>
                  </a:lnTo>
                  <a:lnTo>
                    <a:pt x="0" y="337"/>
                  </a:lnTo>
                  <a:lnTo>
                    <a:pt x="0" y="324"/>
                  </a:lnTo>
                  <a:lnTo>
                    <a:pt x="14" y="324"/>
                  </a:lnTo>
                  <a:close/>
                  <a:moveTo>
                    <a:pt x="14" y="351"/>
                  </a:moveTo>
                  <a:lnTo>
                    <a:pt x="14" y="364"/>
                  </a:lnTo>
                  <a:lnTo>
                    <a:pt x="0" y="364"/>
                  </a:lnTo>
                  <a:lnTo>
                    <a:pt x="0" y="351"/>
                  </a:lnTo>
                  <a:lnTo>
                    <a:pt x="14" y="351"/>
                  </a:lnTo>
                  <a:close/>
                  <a:moveTo>
                    <a:pt x="14" y="378"/>
                  </a:moveTo>
                  <a:lnTo>
                    <a:pt x="14" y="391"/>
                  </a:lnTo>
                  <a:lnTo>
                    <a:pt x="0" y="391"/>
                  </a:lnTo>
                  <a:lnTo>
                    <a:pt x="0" y="378"/>
                  </a:lnTo>
                  <a:lnTo>
                    <a:pt x="14" y="378"/>
                  </a:lnTo>
                  <a:close/>
                  <a:moveTo>
                    <a:pt x="14" y="404"/>
                  </a:moveTo>
                  <a:lnTo>
                    <a:pt x="14" y="418"/>
                  </a:lnTo>
                  <a:lnTo>
                    <a:pt x="0" y="418"/>
                  </a:lnTo>
                  <a:lnTo>
                    <a:pt x="0" y="404"/>
                  </a:lnTo>
                  <a:lnTo>
                    <a:pt x="14" y="404"/>
                  </a:lnTo>
                  <a:close/>
                  <a:moveTo>
                    <a:pt x="14" y="432"/>
                  </a:moveTo>
                  <a:lnTo>
                    <a:pt x="14" y="445"/>
                  </a:lnTo>
                  <a:lnTo>
                    <a:pt x="0" y="445"/>
                  </a:lnTo>
                  <a:lnTo>
                    <a:pt x="0" y="432"/>
                  </a:lnTo>
                  <a:lnTo>
                    <a:pt x="14" y="432"/>
                  </a:lnTo>
                  <a:close/>
                  <a:moveTo>
                    <a:pt x="14" y="458"/>
                  </a:moveTo>
                  <a:lnTo>
                    <a:pt x="14" y="472"/>
                  </a:lnTo>
                  <a:lnTo>
                    <a:pt x="0" y="472"/>
                  </a:lnTo>
                  <a:lnTo>
                    <a:pt x="0" y="458"/>
                  </a:lnTo>
                  <a:lnTo>
                    <a:pt x="14" y="458"/>
                  </a:lnTo>
                  <a:close/>
                  <a:moveTo>
                    <a:pt x="14" y="485"/>
                  </a:moveTo>
                  <a:lnTo>
                    <a:pt x="14" y="499"/>
                  </a:lnTo>
                  <a:lnTo>
                    <a:pt x="0" y="499"/>
                  </a:lnTo>
                  <a:lnTo>
                    <a:pt x="0" y="485"/>
                  </a:lnTo>
                  <a:lnTo>
                    <a:pt x="14" y="485"/>
                  </a:lnTo>
                  <a:close/>
                  <a:moveTo>
                    <a:pt x="14" y="512"/>
                  </a:moveTo>
                  <a:lnTo>
                    <a:pt x="14" y="526"/>
                  </a:lnTo>
                  <a:lnTo>
                    <a:pt x="0" y="526"/>
                  </a:lnTo>
                  <a:lnTo>
                    <a:pt x="0" y="512"/>
                  </a:lnTo>
                  <a:lnTo>
                    <a:pt x="14" y="512"/>
                  </a:lnTo>
                  <a:close/>
                  <a:moveTo>
                    <a:pt x="14" y="539"/>
                  </a:moveTo>
                  <a:lnTo>
                    <a:pt x="14" y="553"/>
                  </a:lnTo>
                  <a:lnTo>
                    <a:pt x="0" y="553"/>
                  </a:lnTo>
                  <a:lnTo>
                    <a:pt x="0" y="539"/>
                  </a:lnTo>
                  <a:lnTo>
                    <a:pt x="14" y="539"/>
                  </a:lnTo>
                  <a:close/>
                  <a:moveTo>
                    <a:pt x="14" y="566"/>
                  </a:moveTo>
                  <a:lnTo>
                    <a:pt x="14" y="580"/>
                  </a:lnTo>
                  <a:lnTo>
                    <a:pt x="0" y="580"/>
                  </a:lnTo>
                  <a:lnTo>
                    <a:pt x="0" y="566"/>
                  </a:lnTo>
                  <a:lnTo>
                    <a:pt x="14" y="566"/>
                  </a:lnTo>
                  <a:close/>
                  <a:moveTo>
                    <a:pt x="14" y="593"/>
                  </a:moveTo>
                  <a:lnTo>
                    <a:pt x="14" y="607"/>
                  </a:lnTo>
                  <a:lnTo>
                    <a:pt x="0" y="607"/>
                  </a:lnTo>
                  <a:lnTo>
                    <a:pt x="0" y="593"/>
                  </a:lnTo>
                  <a:lnTo>
                    <a:pt x="14" y="593"/>
                  </a:lnTo>
                  <a:close/>
                  <a:moveTo>
                    <a:pt x="14" y="620"/>
                  </a:moveTo>
                  <a:lnTo>
                    <a:pt x="14" y="634"/>
                  </a:lnTo>
                  <a:lnTo>
                    <a:pt x="0" y="634"/>
                  </a:lnTo>
                  <a:lnTo>
                    <a:pt x="0" y="620"/>
                  </a:lnTo>
                  <a:lnTo>
                    <a:pt x="14" y="620"/>
                  </a:lnTo>
                  <a:close/>
                  <a:moveTo>
                    <a:pt x="14" y="647"/>
                  </a:moveTo>
                  <a:lnTo>
                    <a:pt x="14" y="661"/>
                  </a:lnTo>
                  <a:lnTo>
                    <a:pt x="0" y="661"/>
                  </a:lnTo>
                  <a:lnTo>
                    <a:pt x="0" y="647"/>
                  </a:lnTo>
                  <a:lnTo>
                    <a:pt x="14" y="647"/>
                  </a:lnTo>
                  <a:close/>
                  <a:moveTo>
                    <a:pt x="14" y="674"/>
                  </a:moveTo>
                  <a:lnTo>
                    <a:pt x="14" y="687"/>
                  </a:lnTo>
                  <a:lnTo>
                    <a:pt x="0" y="687"/>
                  </a:lnTo>
                  <a:lnTo>
                    <a:pt x="0" y="674"/>
                  </a:lnTo>
                  <a:lnTo>
                    <a:pt x="14" y="674"/>
                  </a:lnTo>
                  <a:close/>
                  <a:moveTo>
                    <a:pt x="14" y="701"/>
                  </a:moveTo>
                  <a:lnTo>
                    <a:pt x="14" y="715"/>
                  </a:lnTo>
                  <a:lnTo>
                    <a:pt x="0" y="715"/>
                  </a:lnTo>
                  <a:lnTo>
                    <a:pt x="0" y="701"/>
                  </a:lnTo>
                  <a:lnTo>
                    <a:pt x="14" y="701"/>
                  </a:lnTo>
                  <a:close/>
                  <a:moveTo>
                    <a:pt x="14" y="728"/>
                  </a:moveTo>
                  <a:lnTo>
                    <a:pt x="14" y="741"/>
                  </a:lnTo>
                  <a:lnTo>
                    <a:pt x="0" y="741"/>
                  </a:lnTo>
                  <a:lnTo>
                    <a:pt x="0" y="728"/>
                  </a:lnTo>
                  <a:lnTo>
                    <a:pt x="14" y="728"/>
                  </a:lnTo>
                  <a:close/>
                  <a:moveTo>
                    <a:pt x="14" y="755"/>
                  </a:moveTo>
                  <a:lnTo>
                    <a:pt x="14" y="768"/>
                  </a:lnTo>
                  <a:lnTo>
                    <a:pt x="0" y="768"/>
                  </a:lnTo>
                  <a:lnTo>
                    <a:pt x="0" y="755"/>
                  </a:lnTo>
                  <a:lnTo>
                    <a:pt x="14" y="755"/>
                  </a:lnTo>
                  <a:close/>
                  <a:moveTo>
                    <a:pt x="14" y="782"/>
                  </a:moveTo>
                  <a:lnTo>
                    <a:pt x="14" y="795"/>
                  </a:lnTo>
                  <a:lnTo>
                    <a:pt x="0" y="795"/>
                  </a:lnTo>
                  <a:lnTo>
                    <a:pt x="0" y="782"/>
                  </a:lnTo>
                  <a:lnTo>
                    <a:pt x="14" y="782"/>
                  </a:lnTo>
                  <a:close/>
                  <a:moveTo>
                    <a:pt x="14" y="809"/>
                  </a:moveTo>
                  <a:lnTo>
                    <a:pt x="14" y="822"/>
                  </a:lnTo>
                  <a:lnTo>
                    <a:pt x="0" y="822"/>
                  </a:lnTo>
                  <a:lnTo>
                    <a:pt x="0" y="809"/>
                  </a:lnTo>
                  <a:lnTo>
                    <a:pt x="14" y="809"/>
                  </a:lnTo>
                  <a:close/>
                  <a:moveTo>
                    <a:pt x="14" y="836"/>
                  </a:moveTo>
                  <a:lnTo>
                    <a:pt x="14" y="849"/>
                  </a:lnTo>
                  <a:lnTo>
                    <a:pt x="0" y="849"/>
                  </a:lnTo>
                  <a:lnTo>
                    <a:pt x="0" y="836"/>
                  </a:lnTo>
                  <a:lnTo>
                    <a:pt x="14" y="836"/>
                  </a:lnTo>
                  <a:close/>
                  <a:moveTo>
                    <a:pt x="14" y="863"/>
                  </a:moveTo>
                  <a:lnTo>
                    <a:pt x="14" y="876"/>
                  </a:lnTo>
                  <a:lnTo>
                    <a:pt x="0" y="876"/>
                  </a:lnTo>
                  <a:lnTo>
                    <a:pt x="0" y="863"/>
                  </a:lnTo>
                  <a:lnTo>
                    <a:pt x="14" y="863"/>
                  </a:lnTo>
                  <a:close/>
                  <a:moveTo>
                    <a:pt x="14" y="890"/>
                  </a:moveTo>
                  <a:lnTo>
                    <a:pt x="14" y="903"/>
                  </a:lnTo>
                  <a:lnTo>
                    <a:pt x="0" y="903"/>
                  </a:lnTo>
                  <a:lnTo>
                    <a:pt x="0" y="890"/>
                  </a:lnTo>
                  <a:lnTo>
                    <a:pt x="14" y="890"/>
                  </a:lnTo>
                  <a:close/>
                  <a:moveTo>
                    <a:pt x="14" y="917"/>
                  </a:moveTo>
                  <a:lnTo>
                    <a:pt x="14" y="930"/>
                  </a:lnTo>
                  <a:lnTo>
                    <a:pt x="0" y="930"/>
                  </a:lnTo>
                  <a:lnTo>
                    <a:pt x="0" y="917"/>
                  </a:lnTo>
                  <a:lnTo>
                    <a:pt x="14" y="917"/>
                  </a:lnTo>
                  <a:close/>
                  <a:moveTo>
                    <a:pt x="14" y="944"/>
                  </a:moveTo>
                  <a:lnTo>
                    <a:pt x="14" y="957"/>
                  </a:lnTo>
                  <a:lnTo>
                    <a:pt x="0" y="957"/>
                  </a:lnTo>
                  <a:lnTo>
                    <a:pt x="0" y="944"/>
                  </a:lnTo>
                  <a:lnTo>
                    <a:pt x="14" y="944"/>
                  </a:lnTo>
                  <a:close/>
                  <a:moveTo>
                    <a:pt x="14" y="970"/>
                  </a:moveTo>
                  <a:lnTo>
                    <a:pt x="14" y="984"/>
                  </a:lnTo>
                  <a:lnTo>
                    <a:pt x="0" y="984"/>
                  </a:lnTo>
                  <a:lnTo>
                    <a:pt x="0" y="970"/>
                  </a:lnTo>
                  <a:lnTo>
                    <a:pt x="14" y="970"/>
                  </a:lnTo>
                  <a:close/>
                  <a:moveTo>
                    <a:pt x="14" y="998"/>
                  </a:moveTo>
                  <a:lnTo>
                    <a:pt x="14" y="1011"/>
                  </a:lnTo>
                  <a:lnTo>
                    <a:pt x="0" y="1011"/>
                  </a:lnTo>
                  <a:lnTo>
                    <a:pt x="0" y="998"/>
                  </a:lnTo>
                  <a:lnTo>
                    <a:pt x="14" y="998"/>
                  </a:lnTo>
                  <a:close/>
                  <a:moveTo>
                    <a:pt x="14" y="1024"/>
                  </a:moveTo>
                  <a:lnTo>
                    <a:pt x="14" y="1038"/>
                  </a:lnTo>
                  <a:lnTo>
                    <a:pt x="0" y="1038"/>
                  </a:lnTo>
                  <a:lnTo>
                    <a:pt x="0" y="1024"/>
                  </a:lnTo>
                  <a:lnTo>
                    <a:pt x="14" y="1024"/>
                  </a:lnTo>
                  <a:close/>
                  <a:moveTo>
                    <a:pt x="14" y="1051"/>
                  </a:moveTo>
                  <a:lnTo>
                    <a:pt x="14" y="1065"/>
                  </a:lnTo>
                  <a:lnTo>
                    <a:pt x="0" y="1065"/>
                  </a:lnTo>
                  <a:lnTo>
                    <a:pt x="0" y="1051"/>
                  </a:lnTo>
                  <a:lnTo>
                    <a:pt x="14" y="1051"/>
                  </a:lnTo>
                  <a:close/>
                  <a:moveTo>
                    <a:pt x="14" y="1078"/>
                  </a:moveTo>
                  <a:lnTo>
                    <a:pt x="14" y="1092"/>
                  </a:lnTo>
                  <a:lnTo>
                    <a:pt x="0" y="1092"/>
                  </a:lnTo>
                  <a:lnTo>
                    <a:pt x="0" y="1078"/>
                  </a:lnTo>
                  <a:lnTo>
                    <a:pt x="14" y="1078"/>
                  </a:lnTo>
                  <a:close/>
                  <a:moveTo>
                    <a:pt x="14" y="1105"/>
                  </a:moveTo>
                  <a:lnTo>
                    <a:pt x="14" y="1119"/>
                  </a:lnTo>
                  <a:lnTo>
                    <a:pt x="0" y="1119"/>
                  </a:lnTo>
                  <a:lnTo>
                    <a:pt x="0" y="1105"/>
                  </a:lnTo>
                  <a:lnTo>
                    <a:pt x="14" y="1105"/>
                  </a:lnTo>
                  <a:close/>
                  <a:moveTo>
                    <a:pt x="14" y="1132"/>
                  </a:moveTo>
                  <a:lnTo>
                    <a:pt x="14" y="1146"/>
                  </a:lnTo>
                  <a:lnTo>
                    <a:pt x="0" y="1146"/>
                  </a:lnTo>
                  <a:lnTo>
                    <a:pt x="0" y="1132"/>
                  </a:lnTo>
                  <a:lnTo>
                    <a:pt x="14" y="1132"/>
                  </a:lnTo>
                  <a:close/>
                  <a:moveTo>
                    <a:pt x="14" y="1159"/>
                  </a:moveTo>
                  <a:lnTo>
                    <a:pt x="14" y="1173"/>
                  </a:lnTo>
                  <a:lnTo>
                    <a:pt x="0" y="1173"/>
                  </a:lnTo>
                  <a:lnTo>
                    <a:pt x="0" y="1159"/>
                  </a:lnTo>
                  <a:lnTo>
                    <a:pt x="14" y="1159"/>
                  </a:lnTo>
                  <a:close/>
                  <a:moveTo>
                    <a:pt x="14" y="1186"/>
                  </a:moveTo>
                  <a:lnTo>
                    <a:pt x="14" y="1200"/>
                  </a:lnTo>
                  <a:lnTo>
                    <a:pt x="0" y="1200"/>
                  </a:lnTo>
                  <a:lnTo>
                    <a:pt x="0" y="1186"/>
                  </a:lnTo>
                  <a:lnTo>
                    <a:pt x="14" y="1186"/>
                  </a:lnTo>
                  <a:close/>
                  <a:moveTo>
                    <a:pt x="14" y="1213"/>
                  </a:moveTo>
                  <a:lnTo>
                    <a:pt x="14" y="1227"/>
                  </a:lnTo>
                  <a:lnTo>
                    <a:pt x="0" y="1227"/>
                  </a:lnTo>
                  <a:lnTo>
                    <a:pt x="0" y="1213"/>
                  </a:lnTo>
                  <a:lnTo>
                    <a:pt x="14" y="1213"/>
                  </a:lnTo>
                  <a:close/>
                  <a:moveTo>
                    <a:pt x="14" y="1240"/>
                  </a:moveTo>
                  <a:lnTo>
                    <a:pt x="14" y="1253"/>
                  </a:lnTo>
                  <a:lnTo>
                    <a:pt x="0" y="1253"/>
                  </a:lnTo>
                  <a:lnTo>
                    <a:pt x="0" y="1240"/>
                  </a:lnTo>
                  <a:lnTo>
                    <a:pt x="14" y="1240"/>
                  </a:lnTo>
                  <a:close/>
                  <a:moveTo>
                    <a:pt x="14" y="1267"/>
                  </a:moveTo>
                  <a:lnTo>
                    <a:pt x="14" y="1281"/>
                  </a:lnTo>
                  <a:lnTo>
                    <a:pt x="0" y="1281"/>
                  </a:lnTo>
                  <a:lnTo>
                    <a:pt x="0" y="1267"/>
                  </a:lnTo>
                  <a:lnTo>
                    <a:pt x="14" y="1267"/>
                  </a:lnTo>
                  <a:close/>
                  <a:moveTo>
                    <a:pt x="14" y="1294"/>
                  </a:moveTo>
                  <a:lnTo>
                    <a:pt x="14" y="1307"/>
                  </a:lnTo>
                  <a:lnTo>
                    <a:pt x="0" y="1307"/>
                  </a:lnTo>
                  <a:lnTo>
                    <a:pt x="0" y="1294"/>
                  </a:lnTo>
                  <a:lnTo>
                    <a:pt x="14" y="1294"/>
                  </a:lnTo>
                  <a:close/>
                  <a:moveTo>
                    <a:pt x="14" y="1321"/>
                  </a:moveTo>
                  <a:lnTo>
                    <a:pt x="14" y="1334"/>
                  </a:lnTo>
                  <a:lnTo>
                    <a:pt x="0" y="1334"/>
                  </a:lnTo>
                  <a:lnTo>
                    <a:pt x="0" y="1321"/>
                  </a:lnTo>
                  <a:lnTo>
                    <a:pt x="14" y="1321"/>
                  </a:lnTo>
                  <a:close/>
                  <a:moveTo>
                    <a:pt x="14" y="1348"/>
                  </a:moveTo>
                  <a:lnTo>
                    <a:pt x="14" y="1361"/>
                  </a:lnTo>
                  <a:lnTo>
                    <a:pt x="0" y="1361"/>
                  </a:lnTo>
                  <a:lnTo>
                    <a:pt x="0" y="1348"/>
                  </a:lnTo>
                  <a:lnTo>
                    <a:pt x="14" y="1348"/>
                  </a:lnTo>
                  <a:close/>
                  <a:moveTo>
                    <a:pt x="14" y="1375"/>
                  </a:moveTo>
                  <a:lnTo>
                    <a:pt x="14" y="1388"/>
                  </a:lnTo>
                  <a:lnTo>
                    <a:pt x="0" y="1388"/>
                  </a:lnTo>
                  <a:lnTo>
                    <a:pt x="0" y="1375"/>
                  </a:lnTo>
                  <a:lnTo>
                    <a:pt x="14" y="1375"/>
                  </a:lnTo>
                  <a:close/>
                  <a:moveTo>
                    <a:pt x="14" y="1402"/>
                  </a:moveTo>
                  <a:lnTo>
                    <a:pt x="14" y="1415"/>
                  </a:lnTo>
                  <a:lnTo>
                    <a:pt x="0" y="1415"/>
                  </a:lnTo>
                  <a:lnTo>
                    <a:pt x="0" y="1402"/>
                  </a:lnTo>
                  <a:lnTo>
                    <a:pt x="14" y="1402"/>
                  </a:lnTo>
                  <a:close/>
                  <a:moveTo>
                    <a:pt x="14" y="1429"/>
                  </a:moveTo>
                  <a:lnTo>
                    <a:pt x="14" y="1442"/>
                  </a:lnTo>
                  <a:lnTo>
                    <a:pt x="0" y="1442"/>
                  </a:lnTo>
                  <a:lnTo>
                    <a:pt x="0" y="1429"/>
                  </a:lnTo>
                  <a:lnTo>
                    <a:pt x="14" y="1429"/>
                  </a:lnTo>
                  <a:close/>
                  <a:moveTo>
                    <a:pt x="14" y="1455"/>
                  </a:moveTo>
                  <a:lnTo>
                    <a:pt x="14" y="1469"/>
                  </a:lnTo>
                  <a:lnTo>
                    <a:pt x="0" y="1469"/>
                  </a:lnTo>
                  <a:lnTo>
                    <a:pt x="0" y="1455"/>
                  </a:lnTo>
                  <a:lnTo>
                    <a:pt x="14" y="1455"/>
                  </a:lnTo>
                  <a:close/>
                  <a:moveTo>
                    <a:pt x="14" y="1483"/>
                  </a:moveTo>
                  <a:lnTo>
                    <a:pt x="14" y="1496"/>
                  </a:lnTo>
                  <a:lnTo>
                    <a:pt x="0" y="1496"/>
                  </a:lnTo>
                  <a:lnTo>
                    <a:pt x="0" y="1483"/>
                  </a:lnTo>
                  <a:lnTo>
                    <a:pt x="14" y="1483"/>
                  </a:lnTo>
                  <a:close/>
                  <a:moveTo>
                    <a:pt x="14" y="1510"/>
                  </a:moveTo>
                  <a:lnTo>
                    <a:pt x="14" y="1523"/>
                  </a:lnTo>
                  <a:lnTo>
                    <a:pt x="0" y="1523"/>
                  </a:lnTo>
                  <a:lnTo>
                    <a:pt x="0" y="1510"/>
                  </a:lnTo>
                  <a:lnTo>
                    <a:pt x="14" y="1510"/>
                  </a:lnTo>
                  <a:close/>
                  <a:moveTo>
                    <a:pt x="14" y="1536"/>
                  </a:moveTo>
                  <a:lnTo>
                    <a:pt x="14" y="1550"/>
                  </a:lnTo>
                  <a:lnTo>
                    <a:pt x="0" y="1550"/>
                  </a:lnTo>
                  <a:lnTo>
                    <a:pt x="0" y="1536"/>
                  </a:lnTo>
                  <a:lnTo>
                    <a:pt x="14" y="1536"/>
                  </a:lnTo>
                  <a:close/>
                  <a:moveTo>
                    <a:pt x="14" y="1564"/>
                  </a:moveTo>
                  <a:lnTo>
                    <a:pt x="14" y="1577"/>
                  </a:lnTo>
                  <a:lnTo>
                    <a:pt x="0" y="1577"/>
                  </a:lnTo>
                  <a:lnTo>
                    <a:pt x="0" y="1564"/>
                  </a:lnTo>
                  <a:lnTo>
                    <a:pt x="14" y="1564"/>
                  </a:lnTo>
                  <a:close/>
                  <a:moveTo>
                    <a:pt x="14" y="1590"/>
                  </a:moveTo>
                  <a:lnTo>
                    <a:pt x="14" y="1604"/>
                  </a:lnTo>
                  <a:lnTo>
                    <a:pt x="0" y="1604"/>
                  </a:lnTo>
                  <a:lnTo>
                    <a:pt x="0" y="1590"/>
                  </a:lnTo>
                  <a:lnTo>
                    <a:pt x="14" y="1590"/>
                  </a:lnTo>
                  <a:close/>
                  <a:moveTo>
                    <a:pt x="14" y="1617"/>
                  </a:moveTo>
                  <a:lnTo>
                    <a:pt x="14" y="1631"/>
                  </a:lnTo>
                  <a:lnTo>
                    <a:pt x="0" y="1631"/>
                  </a:lnTo>
                  <a:lnTo>
                    <a:pt x="0" y="1617"/>
                  </a:lnTo>
                  <a:lnTo>
                    <a:pt x="14" y="1617"/>
                  </a:lnTo>
                  <a:close/>
                  <a:moveTo>
                    <a:pt x="14" y="1644"/>
                  </a:moveTo>
                  <a:lnTo>
                    <a:pt x="14" y="1658"/>
                  </a:lnTo>
                  <a:lnTo>
                    <a:pt x="0" y="1658"/>
                  </a:lnTo>
                  <a:lnTo>
                    <a:pt x="0" y="1644"/>
                  </a:lnTo>
                  <a:lnTo>
                    <a:pt x="14" y="1644"/>
                  </a:lnTo>
                  <a:close/>
                  <a:moveTo>
                    <a:pt x="14" y="1671"/>
                  </a:moveTo>
                  <a:lnTo>
                    <a:pt x="14" y="1685"/>
                  </a:lnTo>
                  <a:lnTo>
                    <a:pt x="0" y="1685"/>
                  </a:lnTo>
                  <a:lnTo>
                    <a:pt x="0" y="1671"/>
                  </a:lnTo>
                  <a:lnTo>
                    <a:pt x="14" y="1671"/>
                  </a:lnTo>
                  <a:close/>
                  <a:moveTo>
                    <a:pt x="14" y="1698"/>
                  </a:moveTo>
                  <a:lnTo>
                    <a:pt x="14" y="1712"/>
                  </a:lnTo>
                  <a:lnTo>
                    <a:pt x="0" y="1712"/>
                  </a:lnTo>
                  <a:lnTo>
                    <a:pt x="0" y="1698"/>
                  </a:lnTo>
                  <a:lnTo>
                    <a:pt x="14" y="1698"/>
                  </a:lnTo>
                  <a:close/>
                  <a:moveTo>
                    <a:pt x="14" y="1725"/>
                  </a:moveTo>
                  <a:lnTo>
                    <a:pt x="14" y="1738"/>
                  </a:lnTo>
                  <a:lnTo>
                    <a:pt x="0" y="1738"/>
                  </a:lnTo>
                  <a:lnTo>
                    <a:pt x="0" y="1725"/>
                  </a:lnTo>
                  <a:lnTo>
                    <a:pt x="14" y="1725"/>
                  </a:lnTo>
                  <a:close/>
                  <a:moveTo>
                    <a:pt x="14" y="1752"/>
                  </a:moveTo>
                  <a:lnTo>
                    <a:pt x="14" y="1766"/>
                  </a:lnTo>
                  <a:lnTo>
                    <a:pt x="0" y="1766"/>
                  </a:lnTo>
                  <a:lnTo>
                    <a:pt x="0" y="1752"/>
                  </a:lnTo>
                  <a:lnTo>
                    <a:pt x="14" y="1752"/>
                  </a:lnTo>
                  <a:close/>
                  <a:moveTo>
                    <a:pt x="14" y="1779"/>
                  </a:moveTo>
                  <a:lnTo>
                    <a:pt x="14" y="1792"/>
                  </a:lnTo>
                  <a:lnTo>
                    <a:pt x="0" y="1792"/>
                  </a:lnTo>
                  <a:lnTo>
                    <a:pt x="0" y="1779"/>
                  </a:lnTo>
                  <a:lnTo>
                    <a:pt x="14" y="1779"/>
                  </a:lnTo>
                  <a:close/>
                  <a:moveTo>
                    <a:pt x="14" y="1806"/>
                  </a:moveTo>
                  <a:lnTo>
                    <a:pt x="14" y="1819"/>
                  </a:lnTo>
                  <a:lnTo>
                    <a:pt x="0" y="1819"/>
                  </a:lnTo>
                  <a:lnTo>
                    <a:pt x="0" y="1806"/>
                  </a:lnTo>
                  <a:lnTo>
                    <a:pt x="14" y="1806"/>
                  </a:lnTo>
                  <a:close/>
                  <a:moveTo>
                    <a:pt x="14" y="1833"/>
                  </a:moveTo>
                  <a:lnTo>
                    <a:pt x="14" y="1846"/>
                  </a:lnTo>
                  <a:lnTo>
                    <a:pt x="0" y="1846"/>
                  </a:lnTo>
                  <a:lnTo>
                    <a:pt x="0" y="1833"/>
                  </a:lnTo>
                  <a:lnTo>
                    <a:pt x="14" y="1833"/>
                  </a:lnTo>
                  <a:close/>
                  <a:moveTo>
                    <a:pt x="14" y="1860"/>
                  </a:moveTo>
                  <a:lnTo>
                    <a:pt x="14" y="1873"/>
                  </a:lnTo>
                  <a:lnTo>
                    <a:pt x="0" y="1873"/>
                  </a:lnTo>
                  <a:lnTo>
                    <a:pt x="0" y="1860"/>
                  </a:lnTo>
                  <a:lnTo>
                    <a:pt x="14" y="1860"/>
                  </a:lnTo>
                  <a:close/>
                  <a:moveTo>
                    <a:pt x="14" y="1887"/>
                  </a:moveTo>
                  <a:lnTo>
                    <a:pt x="14" y="1900"/>
                  </a:lnTo>
                  <a:lnTo>
                    <a:pt x="0" y="1900"/>
                  </a:lnTo>
                  <a:lnTo>
                    <a:pt x="0" y="1887"/>
                  </a:lnTo>
                  <a:lnTo>
                    <a:pt x="14" y="1887"/>
                  </a:lnTo>
                  <a:close/>
                  <a:moveTo>
                    <a:pt x="14" y="1914"/>
                  </a:moveTo>
                  <a:lnTo>
                    <a:pt x="14" y="1927"/>
                  </a:lnTo>
                  <a:lnTo>
                    <a:pt x="0" y="1927"/>
                  </a:lnTo>
                  <a:lnTo>
                    <a:pt x="0" y="1914"/>
                  </a:lnTo>
                  <a:lnTo>
                    <a:pt x="14" y="1914"/>
                  </a:lnTo>
                  <a:close/>
                  <a:moveTo>
                    <a:pt x="14" y="1941"/>
                  </a:moveTo>
                  <a:lnTo>
                    <a:pt x="14" y="1954"/>
                  </a:lnTo>
                  <a:lnTo>
                    <a:pt x="0" y="1954"/>
                  </a:lnTo>
                  <a:lnTo>
                    <a:pt x="0" y="1941"/>
                  </a:lnTo>
                  <a:lnTo>
                    <a:pt x="14" y="1941"/>
                  </a:lnTo>
                  <a:close/>
                  <a:moveTo>
                    <a:pt x="14" y="1968"/>
                  </a:moveTo>
                  <a:lnTo>
                    <a:pt x="14" y="1981"/>
                  </a:lnTo>
                  <a:lnTo>
                    <a:pt x="0" y="1981"/>
                  </a:lnTo>
                  <a:lnTo>
                    <a:pt x="0" y="1968"/>
                  </a:lnTo>
                  <a:lnTo>
                    <a:pt x="14" y="1968"/>
                  </a:lnTo>
                  <a:close/>
                  <a:moveTo>
                    <a:pt x="14" y="1995"/>
                  </a:moveTo>
                  <a:lnTo>
                    <a:pt x="14" y="2008"/>
                  </a:lnTo>
                  <a:lnTo>
                    <a:pt x="0" y="2008"/>
                  </a:lnTo>
                  <a:lnTo>
                    <a:pt x="0" y="1995"/>
                  </a:lnTo>
                  <a:lnTo>
                    <a:pt x="14" y="1995"/>
                  </a:lnTo>
                  <a:close/>
                  <a:moveTo>
                    <a:pt x="14" y="2021"/>
                  </a:moveTo>
                  <a:lnTo>
                    <a:pt x="14" y="2035"/>
                  </a:lnTo>
                  <a:lnTo>
                    <a:pt x="0" y="2035"/>
                  </a:lnTo>
                  <a:lnTo>
                    <a:pt x="0" y="2021"/>
                  </a:lnTo>
                  <a:lnTo>
                    <a:pt x="14" y="2021"/>
                  </a:lnTo>
                  <a:close/>
                  <a:moveTo>
                    <a:pt x="14" y="2049"/>
                  </a:moveTo>
                  <a:lnTo>
                    <a:pt x="14" y="2062"/>
                  </a:lnTo>
                  <a:lnTo>
                    <a:pt x="0" y="2062"/>
                  </a:lnTo>
                  <a:lnTo>
                    <a:pt x="0" y="2049"/>
                  </a:lnTo>
                  <a:lnTo>
                    <a:pt x="14" y="2049"/>
                  </a:lnTo>
                  <a:close/>
                  <a:moveTo>
                    <a:pt x="14" y="2075"/>
                  </a:moveTo>
                  <a:lnTo>
                    <a:pt x="14" y="2089"/>
                  </a:lnTo>
                  <a:lnTo>
                    <a:pt x="0" y="2089"/>
                  </a:lnTo>
                  <a:lnTo>
                    <a:pt x="0" y="2075"/>
                  </a:lnTo>
                  <a:lnTo>
                    <a:pt x="14" y="2075"/>
                  </a:lnTo>
                  <a:close/>
                  <a:moveTo>
                    <a:pt x="14" y="2102"/>
                  </a:moveTo>
                  <a:lnTo>
                    <a:pt x="14" y="2116"/>
                  </a:lnTo>
                  <a:lnTo>
                    <a:pt x="0" y="2116"/>
                  </a:lnTo>
                  <a:lnTo>
                    <a:pt x="0" y="2102"/>
                  </a:lnTo>
                  <a:lnTo>
                    <a:pt x="14" y="2102"/>
                  </a:lnTo>
                  <a:close/>
                  <a:moveTo>
                    <a:pt x="14" y="2129"/>
                  </a:moveTo>
                  <a:lnTo>
                    <a:pt x="14" y="2143"/>
                  </a:lnTo>
                  <a:lnTo>
                    <a:pt x="0" y="2143"/>
                  </a:lnTo>
                  <a:lnTo>
                    <a:pt x="0" y="2129"/>
                  </a:lnTo>
                  <a:lnTo>
                    <a:pt x="14" y="2129"/>
                  </a:lnTo>
                  <a:close/>
                  <a:moveTo>
                    <a:pt x="14" y="2156"/>
                  </a:moveTo>
                  <a:lnTo>
                    <a:pt x="14" y="2170"/>
                  </a:lnTo>
                  <a:lnTo>
                    <a:pt x="0" y="2170"/>
                  </a:lnTo>
                  <a:lnTo>
                    <a:pt x="0" y="2156"/>
                  </a:lnTo>
                  <a:lnTo>
                    <a:pt x="14" y="2156"/>
                  </a:lnTo>
                  <a:close/>
                  <a:moveTo>
                    <a:pt x="14" y="2183"/>
                  </a:moveTo>
                  <a:lnTo>
                    <a:pt x="14" y="2197"/>
                  </a:lnTo>
                  <a:lnTo>
                    <a:pt x="0" y="2197"/>
                  </a:lnTo>
                  <a:lnTo>
                    <a:pt x="0" y="2183"/>
                  </a:lnTo>
                  <a:lnTo>
                    <a:pt x="14" y="2183"/>
                  </a:lnTo>
                  <a:close/>
                  <a:moveTo>
                    <a:pt x="14" y="2210"/>
                  </a:moveTo>
                  <a:lnTo>
                    <a:pt x="14" y="2224"/>
                  </a:lnTo>
                  <a:lnTo>
                    <a:pt x="0" y="2224"/>
                  </a:lnTo>
                  <a:lnTo>
                    <a:pt x="0" y="2210"/>
                  </a:lnTo>
                  <a:lnTo>
                    <a:pt x="14" y="2210"/>
                  </a:lnTo>
                  <a:close/>
                  <a:moveTo>
                    <a:pt x="14" y="2237"/>
                  </a:moveTo>
                  <a:lnTo>
                    <a:pt x="14" y="2251"/>
                  </a:lnTo>
                  <a:lnTo>
                    <a:pt x="0" y="2251"/>
                  </a:lnTo>
                  <a:lnTo>
                    <a:pt x="0" y="2237"/>
                  </a:lnTo>
                  <a:lnTo>
                    <a:pt x="14" y="2237"/>
                  </a:lnTo>
                  <a:close/>
                  <a:moveTo>
                    <a:pt x="14" y="2264"/>
                  </a:moveTo>
                  <a:lnTo>
                    <a:pt x="14" y="2278"/>
                  </a:lnTo>
                  <a:lnTo>
                    <a:pt x="0" y="2278"/>
                  </a:lnTo>
                  <a:lnTo>
                    <a:pt x="0" y="2264"/>
                  </a:lnTo>
                  <a:lnTo>
                    <a:pt x="14" y="2264"/>
                  </a:lnTo>
                  <a:close/>
                  <a:moveTo>
                    <a:pt x="14" y="2291"/>
                  </a:moveTo>
                  <a:lnTo>
                    <a:pt x="14" y="2304"/>
                  </a:lnTo>
                  <a:lnTo>
                    <a:pt x="0" y="2304"/>
                  </a:lnTo>
                  <a:lnTo>
                    <a:pt x="0" y="2291"/>
                  </a:lnTo>
                  <a:lnTo>
                    <a:pt x="14" y="2291"/>
                  </a:lnTo>
                  <a:close/>
                  <a:moveTo>
                    <a:pt x="14" y="2318"/>
                  </a:moveTo>
                  <a:lnTo>
                    <a:pt x="14" y="2332"/>
                  </a:lnTo>
                  <a:lnTo>
                    <a:pt x="0" y="2332"/>
                  </a:lnTo>
                  <a:lnTo>
                    <a:pt x="0" y="2318"/>
                  </a:lnTo>
                  <a:lnTo>
                    <a:pt x="14" y="2318"/>
                  </a:lnTo>
                  <a:close/>
                  <a:moveTo>
                    <a:pt x="14" y="2345"/>
                  </a:moveTo>
                  <a:lnTo>
                    <a:pt x="14" y="2358"/>
                  </a:lnTo>
                  <a:lnTo>
                    <a:pt x="0" y="2358"/>
                  </a:lnTo>
                  <a:lnTo>
                    <a:pt x="0" y="2345"/>
                  </a:lnTo>
                  <a:lnTo>
                    <a:pt x="14" y="2345"/>
                  </a:lnTo>
                  <a:close/>
                </a:path>
              </a:pathLst>
            </a:custGeom>
            <a:solidFill>
              <a:srgbClr val="000000"/>
            </a:solidFill>
            <a:ln w="0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90" name="Rectangle 86">
              <a:extLst>
                <a:ext uri="{FF2B5EF4-FFF2-40B4-BE49-F238E27FC236}">
                  <a16:creationId xmlns:a16="http://schemas.microsoft.com/office/drawing/2014/main" id="{B5475C25-3241-409D-A72D-D4FBADE01A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46979" y="6142560"/>
              <a:ext cx="193964" cy="386338"/>
            </a:xfrm>
            <a:prstGeom prst="rect">
              <a:avLst/>
            </a:prstGeom>
            <a:noFill/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92" name="Rectangle 88">
              <a:extLst>
                <a:ext uri="{FF2B5EF4-FFF2-40B4-BE49-F238E27FC236}">
                  <a16:creationId xmlns:a16="http://schemas.microsoft.com/office/drawing/2014/main" id="{CD1BCD0B-9E8C-4891-945E-E520311D72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69857" y="5436658"/>
              <a:ext cx="192374" cy="384748"/>
            </a:xfrm>
            <a:prstGeom prst="rect">
              <a:avLst/>
            </a:prstGeom>
            <a:noFill/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95" name="Freeform 91">
              <a:extLst>
                <a:ext uri="{FF2B5EF4-FFF2-40B4-BE49-F238E27FC236}">
                  <a16:creationId xmlns:a16="http://schemas.microsoft.com/office/drawing/2014/main" id="{91317D4E-0DA6-46B1-952D-4D51EBB2C8B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884489" y="2655977"/>
              <a:ext cx="20668" cy="3748911"/>
            </a:xfrm>
            <a:custGeom>
              <a:avLst/>
              <a:gdLst>
                <a:gd name="T0" fmla="*/ 13 w 13"/>
                <a:gd name="T1" fmla="*/ 41 h 2358"/>
                <a:gd name="T2" fmla="*/ 0 w 13"/>
                <a:gd name="T3" fmla="*/ 54 h 2358"/>
                <a:gd name="T4" fmla="*/ 13 w 13"/>
                <a:gd name="T5" fmla="*/ 108 h 2358"/>
                <a:gd name="T6" fmla="*/ 0 w 13"/>
                <a:gd name="T7" fmla="*/ 149 h 2358"/>
                <a:gd name="T8" fmla="*/ 13 w 13"/>
                <a:gd name="T9" fmla="*/ 162 h 2358"/>
                <a:gd name="T10" fmla="*/ 13 w 13"/>
                <a:gd name="T11" fmla="*/ 229 h 2358"/>
                <a:gd name="T12" fmla="*/ 0 w 13"/>
                <a:gd name="T13" fmla="*/ 243 h 2358"/>
                <a:gd name="T14" fmla="*/ 13 w 13"/>
                <a:gd name="T15" fmla="*/ 297 h 2358"/>
                <a:gd name="T16" fmla="*/ 0 w 13"/>
                <a:gd name="T17" fmla="*/ 337 h 2358"/>
                <a:gd name="T18" fmla="*/ 13 w 13"/>
                <a:gd name="T19" fmla="*/ 351 h 2358"/>
                <a:gd name="T20" fmla="*/ 13 w 13"/>
                <a:gd name="T21" fmla="*/ 418 h 2358"/>
                <a:gd name="T22" fmla="*/ 0 w 13"/>
                <a:gd name="T23" fmla="*/ 432 h 2358"/>
                <a:gd name="T24" fmla="*/ 13 w 13"/>
                <a:gd name="T25" fmla="*/ 485 h 2358"/>
                <a:gd name="T26" fmla="*/ 0 w 13"/>
                <a:gd name="T27" fmla="*/ 526 h 2358"/>
                <a:gd name="T28" fmla="*/ 13 w 13"/>
                <a:gd name="T29" fmla="*/ 539 h 2358"/>
                <a:gd name="T30" fmla="*/ 13 w 13"/>
                <a:gd name="T31" fmla="*/ 607 h 2358"/>
                <a:gd name="T32" fmla="*/ 0 w 13"/>
                <a:gd name="T33" fmla="*/ 620 h 2358"/>
                <a:gd name="T34" fmla="*/ 13 w 13"/>
                <a:gd name="T35" fmla="*/ 674 h 2358"/>
                <a:gd name="T36" fmla="*/ 0 w 13"/>
                <a:gd name="T37" fmla="*/ 715 h 2358"/>
                <a:gd name="T38" fmla="*/ 13 w 13"/>
                <a:gd name="T39" fmla="*/ 728 h 2358"/>
                <a:gd name="T40" fmla="*/ 13 w 13"/>
                <a:gd name="T41" fmla="*/ 795 h 2358"/>
                <a:gd name="T42" fmla="*/ 0 w 13"/>
                <a:gd name="T43" fmla="*/ 809 h 2358"/>
                <a:gd name="T44" fmla="*/ 13 w 13"/>
                <a:gd name="T45" fmla="*/ 863 h 2358"/>
                <a:gd name="T46" fmla="*/ 0 w 13"/>
                <a:gd name="T47" fmla="*/ 903 h 2358"/>
                <a:gd name="T48" fmla="*/ 13 w 13"/>
                <a:gd name="T49" fmla="*/ 917 h 2358"/>
                <a:gd name="T50" fmla="*/ 13 w 13"/>
                <a:gd name="T51" fmla="*/ 984 h 2358"/>
                <a:gd name="T52" fmla="*/ 0 w 13"/>
                <a:gd name="T53" fmla="*/ 998 h 2358"/>
                <a:gd name="T54" fmla="*/ 13 w 13"/>
                <a:gd name="T55" fmla="*/ 1051 h 2358"/>
                <a:gd name="T56" fmla="*/ 0 w 13"/>
                <a:gd name="T57" fmla="*/ 1092 h 2358"/>
                <a:gd name="T58" fmla="*/ 13 w 13"/>
                <a:gd name="T59" fmla="*/ 1105 h 2358"/>
                <a:gd name="T60" fmla="*/ 13 w 13"/>
                <a:gd name="T61" fmla="*/ 1173 h 2358"/>
                <a:gd name="T62" fmla="*/ 0 w 13"/>
                <a:gd name="T63" fmla="*/ 1186 h 2358"/>
                <a:gd name="T64" fmla="*/ 13 w 13"/>
                <a:gd name="T65" fmla="*/ 1240 h 2358"/>
                <a:gd name="T66" fmla="*/ 0 w 13"/>
                <a:gd name="T67" fmla="*/ 1281 h 2358"/>
                <a:gd name="T68" fmla="*/ 13 w 13"/>
                <a:gd name="T69" fmla="*/ 1294 h 2358"/>
                <a:gd name="T70" fmla="*/ 13 w 13"/>
                <a:gd name="T71" fmla="*/ 1361 h 2358"/>
                <a:gd name="T72" fmla="*/ 0 w 13"/>
                <a:gd name="T73" fmla="*/ 1375 h 2358"/>
                <a:gd name="T74" fmla="*/ 13 w 13"/>
                <a:gd name="T75" fmla="*/ 1429 h 2358"/>
                <a:gd name="T76" fmla="*/ 0 w 13"/>
                <a:gd name="T77" fmla="*/ 1469 h 2358"/>
                <a:gd name="T78" fmla="*/ 13 w 13"/>
                <a:gd name="T79" fmla="*/ 1483 h 2358"/>
                <a:gd name="T80" fmla="*/ 13 w 13"/>
                <a:gd name="T81" fmla="*/ 1550 h 2358"/>
                <a:gd name="T82" fmla="*/ 0 w 13"/>
                <a:gd name="T83" fmla="*/ 1564 h 2358"/>
                <a:gd name="T84" fmla="*/ 13 w 13"/>
                <a:gd name="T85" fmla="*/ 1617 h 2358"/>
                <a:gd name="T86" fmla="*/ 0 w 13"/>
                <a:gd name="T87" fmla="*/ 1658 h 2358"/>
                <a:gd name="T88" fmla="*/ 13 w 13"/>
                <a:gd name="T89" fmla="*/ 1671 h 2358"/>
                <a:gd name="T90" fmla="*/ 13 w 13"/>
                <a:gd name="T91" fmla="*/ 1738 h 2358"/>
                <a:gd name="T92" fmla="*/ 0 w 13"/>
                <a:gd name="T93" fmla="*/ 1752 h 2358"/>
                <a:gd name="T94" fmla="*/ 13 w 13"/>
                <a:gd name="T95" fmla="*/ 1806 h 2358"/>
                <a:gd name="T96" fmla="*/ 0 w 13"/>
                <a:gd name="T97" fmla="*/ 1846 h 2358"/>
                <a:gd name="T98" fmla="*/ 13 w 13"/>
                <a:gd name="T99" fmla="*/ 1860 h 2358"/>
                <a:gd name="T100" fmla="*/ 13 w 13"/>
                <a:gd name="T101" fmla="*/ 1927 h 2358"/>
                <a:gd name="T102" fmla="*/ 0 w 13"/>
                <a:gd name="T103" fmla="*/ 1941 h 2358"/>
                <a:gd name="T104" fmla="*/ 13 w 13"/>
                <a:gd name="T105" fmla="*/ 1995 h 2358"/>
                <a:gd name="T106" fmla="*/ 0 w 13"/>
                <a:gd name="T107" fmla="*/ 2035 h 2358"/>
                <a:gd name="T108" fmla="*/ 13 w 13"/>
                <a:gd name="T109" fmla="*/ 2049 h 2358"/>
                <a:gd name="T110" fmla="*/ 13 w 13"/>
                <a:gd name="T111" fmla="*/ 2116 h 2358"/>
                <a:gd name="T112" fmla="*/ 0 w 13"/>
                <a:gd name="T113" fmla="*/ 2129 h 2358"/>
                <a:gd name="T114" fmla="*/ 13 w 13"/>
                <a:gd name="T115" fmla="*/ 2183 h 2358"/>
                <a:gd name="T116" fmla="*/ 0 w 13"/>
                <a:gd name="T117" fmla="*/ 2224 h 2358"/>
                <a:gd name="T118" fmla="*/ 13 w 13"/>
                <a:gd name="T119" fmla="*/ 2237 h 2358"/>
                <a:gd name="T120" fmla="*/ 13 w 13"/>
                <a:gd name="T121" fmla="*/ 2304 h 2358"/>
                <a:gd name="T122" fmla="*/ 0 w 13"/>
                <a:gd name="T123" fmla="*/ 2318 h 23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3" h="2358">
                  <a:moveTo>
                    <a:pt x="13" y="0"/>
                  </a:moveTo>
                  <a:lnTo>
                    <a:pt x="13" y="14"/>
                  </a:lnTo>
                  <a:lnTo>
                    <a:pt x="0" y="14"/>
                  </a:lnTo>
                  <a:lnTo>
                    <a:pt x="0" y="0"/>
                  </a:lnTo>
                  <a:lnTo>
                    <a:pt x="13" y="0"/>
                  </a:lnTo>
                  <a:close/>
                  <a:moveTo>
                    <a:pt x="13" y="27"/>
                  </a:moveTo>
                  <a:lnTo>
                    <a:pt x="13" y="41"/>
                  </a:lnTo>
                  <a:lnTo>
                    <a:pt x="0" y="41"/>
                  </a:lnTo>
                  <a:lnTo>
                    <a:pt x="0" y="27"/>
                  </a:lnTo>
                  <a:lnTo>
                    <a:pt x="13" y="27"/>
                  </a:lnTo>
                  <a:close/>
                  <a:moveTo>
                    <a:pt x="13" y="54"/>
                  </a:moveTo>
                  <a:lnTo>
                    <a:pt x="13" y="68"/>
                  </a:lnTo>
                  <a:lnTo>
                    <a:pt x="0" y="68"/>
                  </a:lnTo>
                  <a:lnTo>
                    <a:pt x="0" y="54"/>
                  </a:lnTo>
                  <a:lnTo>
                    <a:pt x="13" y="54"/>
                  </a:lnTo>
                  <a:close/>
                  <a:moveTo>
                    <a:pt x="13" y="81"/>
                  </a:moveTo>
                  <a:lnTo>
                    <a:pt x="13" y="95"/>
                  </a:lnTo>
                  <a:lnTo>
                    <a:pt x="0" y="95"/>
                  </a:lnTo>
                  <a:lnTo>
                    <a:pt x="0" y="81"/>
                  </a:lnTo>
                  <a:lnTo>
                    <a:pt x="13" y="81"/>
                  </a:lnTo>
                  <a:close/>
                  <a:moveTo>
                    <a:pt x="13" y="108"/>
                  </a:moveTo>
                  <a:lnTo>
                    <a:pt x="13" y="121"/>
                  </a:lnTo>
                  <a:lnTo>
                    <a:pt x="0" y="121"/>
                  </a:lnTo>
                  <a:lnTo>
                    <a:pt x="0" y="108"/>
                  </a:lnTo>
                  <a:lnTo>
                    <a:pt x="13" y="108"/>
                  </a:lnTo>
                  <a:close/>
                  <a:moveTo>
                    <a:pt x="13" y="135"/>
                  </a:moveTo>
                  <a:lnTo>
                    <a:pt x="13" y="149"/>
                  </a:lnTo>
                  <a:lnTo>
                    <a:pt x="0" y="149"/>
                  </a:lnTo>
                  <a:lnTo>
                    <a:pt x="0" y="135"/>
                  </a:lnTo>
                  <a:lnTo>
                    <a:pt x="13" y="135"/>
                  </a:lnTo>
                  <a:close/>
                  <a:moveTo>
                    <a:pt x="13" y="162"/>
                  </a:moveTo>
                  <a:lnTo>
                    <a:pt x="13" y="175"/>
                  </a:lnTo>
                  <a:lnTo>
                    <a:pt x="0" y="175"/>
                  </a:lnTo>
                  <a:lnTo>
                    <a:pt x="0" y="162"/>
                  </a:lnTo>
                  <a:lnTo>
                    <a:pt x="13" y="162"/>
                  </a:lnTo>
                  <a:close/>
                  <a:moveTo>
                    <a:pt x="13" y="189"/>
                  </a:moveTo>
                  <a:lnTo>
                    <a:pt x="13" y="202"/>
                  </a:lnTo>
                  <a:lnTo>
                    <a:pt x="0" y="202"/>
                  </a:lnTo>
                  <a:lnTo>
                    <a:pt x="0" y="189"/>
                  </a:lnTo>
                  <a:lnTo>
                    <a:pt x="13" y="189"/>
                  </a:lnTo>
                  <a:close/>
                  <a:moveTo>
                    <a:pt x="13" y="216"/>
                  </a:moveTo>
                  <a:lnTo>
                    <a:pt x="13" y="229"/>
                  </a:lnTo>
                  <a:lnTo>
                    <a:pt x="0" y="229"/>
                  </a:lnTo>
                  <a:lnTo>
                    <a:pt x="0" y="216"/>
                  </a:lnTo>
                  <a:lnTo>
                    <a:pt x="13" y="216"/>
                  </a:lnTo>
                  <a:close/>
                  <a:moveTo>
                    <a:pt x="13" y="243"/>
                  </a:moveTo>
                  <a:lnTo>
                    <a:pt x="13" y="256"/>
                  </a:lnTo>
                  <a:lnTo>
                    <a:pt x="0" y="256"/>
                  </a:lnTo>
                  <a:lnTo>
                    <a:pt x="0" y="243"/>
                  </a:lnTo>
                  <a:lnTo>
                    <a:pt x="13" y="243"/>
                  </a:lnTo>
                  <a:close/>
                  <a:moveTo>
                    <a:pt x="13" y="270"/>
                  </a:moveTo>
                  <a:lnTo>
                    <a:pt x="13" y="283"/>
                  </a:lnTo>
                  <a:lnTo>
                    <a:pt x="0" y="283"/>
                  </a:lnTo>
                  <a:lnTo>
                    <a:pt x="0" y="270"/>
                  </a:lnTo>
                  <a:lnTo>
                    <a:pt x="13" y="270"/>
                  </a:lnTo>
                  <a:close/>
                  <a:moveTo>
                    <a:pt x="13" y="297"/>
                  </a:moveTo>
                  <a:lnTo>
                    <a:pt x="13" y="310"/>
                  </a:lnTo>
                  <a:lnTo>
                    <a:pt x="0" y="310"/>
                  </a:lnTo>
                  <a:lnTo>
                    <a:pt x="0" y="297"/>
                  </a:lnTo>
                  <a:lnTo>
                    <a:pt x="13" y="297"/>
                  </a:lnTo>
                  <a:close/>
                  <a:moveTo>
                    <a:pt x="13" y="324"/>
                  </a:moveTo>
                  <a:lnTo>
                    <a:pt x="13" y="337"/>
                  </a:lnTo>
                  <a:lnTo>
                    <a:pt x="0" y="337"/>
                  </a:lnTo>
                  <a:lnTo>
                    <a:pt x="0" y="324"/>
                  </a:lnTo>
                  <a:lnTo>
                    <a:pt x="13" y="324"/>
                  </a:lnTo>
                  <a:close/>
                  <a:moveTo>
                    <a:pt x="13" y="351"/>
                  </a:moveTo>
                  <a:lnTo>
                    <a:pt x="13" y="364"/>
                  </a:lnTo>
                  <a:lnTo>
                    <a:pt x="0" y="364"/>
                  </a:lnTo>
                  <a:lnTo>
                    <a:pt x="0" y="351"/>
                  </a:lnTo>
                  <a:lnTo>
                    <a:pt x="13" y="351"/>
                  </a:lnTo>
                  <a:close/>
                  <a:moveTo>
                    <a:pt x="13" y="378"/>
                  </a:moveTo>
                  <a:lnTo>
                    <a:pt x="13" y="391"/>
                  </a:lnTo>
                  <a:lnTo>
                    <a:pt x="0" y="391"/>
                  </a:lnTo>
                  <a:lnTo>
                    <a:pt x="0" y="378"/>
                  </a:lnTo>
                  <a:lnTo>
                    <a:pt x="13" y="378"/>
                  </a:lnTo>
                  <a:close/>
                  <a:moveTo>
                    <a:pt x="13" y="404"/>
                  </a:moveTo>
                  <a:lnTo>
                    <a:pt x="13" y="418"/>
                  </a:lnTo>
                  <a:lnTo>
                    <a:pt x="0" y="418"/>
                  </a:lnTo>
                  <a:lnTo>
                    <a:pt x="0" y="404"/>
                  </a:lnTo>
                  <a:lnTo>
                    <a:pt x="13" y="404"/>
                  </a:lnTo>
                  <a:close/>
                  <a:moveTo>
                    <a:pt x="13" y="432"/>
                  </a:moveTo>
                  <a:lnTo>
                    <a:pt x="13" y="445"/>
                  </a:lnTo>
                  <a:lnTo>
                    <a:pt x="0" y="445"/>
                  </a:lnTo>
                  <a:lnTo>
                    <a:pt x="0" y="432"/>
                  </a:lnTo>
                  <a:lnTo>
                    <a:pt x="13" y="432"/>
                  </a:lnTo>
                  <a:close/>
                  <a:moveTo>
                    <a:pt x="13" y="458"/>
                  </a:moveTo>
                  <a:lnTo>
                    <a:pt x="13" y="472"/>
                  </a:lnTo>
                  <a:lnTo>
                    <a:pt x="0" y="472"/>
                  </a:lnTo>
                  <a:lnTo>
                    <a:pt x="0" y="458"/>
                  </a:lnTo>
                  <a:lnTo>
                    <a:pt x="13" y="458"/>
                  </a:lnTo>
                  <a:close/>
                  <a:moveTo>
                    <a:pt x="13" y="485"/>
                  </a:moveTo>
                  <a:lnTo>
                    <a:pt x="13" y="499"/>
                  </a:lnTo>
                  <a:lnTo>
                    <a:pt x="0" y="499"/>
                  </a:lnTo>
                  <a:lnTo>
                    <a:pt x="0" y="485"/>
                  </a:lnTo>
                  <a:lnTo>
                    <a:pt x="13" y="485"/>
                  </a:lnTo>
                  <a:close/>
                  <a:moveTo>
                    <a:pt x="13" y="512"/>
                  </a:moveTo>
                  <a:lnTo>
                    <a:pt x="13" y="526"/>
                  </a:lnTo>
                  <a:lnTo>
                    <a:pt x="0" y="526"/>
                  </a:lnTo>
                  <a:lnTo>
                    <a:pt x="0" y="512"/>
                  </a:lnTo>
                  <a:lnTo>
                    <a:pt x="13" y="512"/>
                  </a:lnTo>
                  <a:close/>
                  <a:moveTo>
                    <a:pt x="13" y="539"/>
                  </a:moveTo>
                  <a:lnTo>
                    <a:pt x="13" y="553"/>
                  </a:lnTo>
                  <a:lnTo>
                    <a:pt x="0" y="553"/>
                  </a:lnTo>
                  <a:lnTo>
                    <a:pt x="0" y="539"/>
                  </a:lnTo>
                  <a:lnTo>
                    <a:pt x="13" y="539"/>
                  </a:lnTo>
                  <a:close/>
                  <a:moveTo>
                    <a:pt x="13" y="566"/>
                  </a:moveTo>
                  <a:lnTo>
                    <a:pt x="13" y="580"/>
                  </a:lnTo>
                  <a:lnTo>
                    <a:pt x="0" y="580"/>
                  </a:lnTo>
                  <a:lnTo>
                    <a:pt x="0" y="566"/>
                  </a:lnTo>
                  <a:lnTo>
                    <a:pt x="13" y="566"/>
                  </a:lnTo>
                  <a:close/>
                  <a:moveTo>
                    <a:pt x="13" y="593"/>
                  </a:moveTo>
                  <a:lnTo>
                    <a:pt x="13" y="607"/>
                  </a:lnTo>
                  <a:lnTo>
                    <a:pt x="0" y="607"/>
                  </a:lnTo>
                  <a:lnTo>
                    <a:pt x="0" y="593"/>
                  </a:lnTo>
                  <a:lnTo>
                    <a:pt x="13" y="593"/>
                  </a:lnTo>
                  <a:close/>
                  <a:moveTo>
                    <a:pt x="13" y="620"/>
                  </a:moveTo>
                  <a:lnTo>
                    <a:pt x="13" y="634"/>
                  </a:lnTo>
                  <a:lnTo>
                    <a:pt x="0" y="634"/>
                  </a:lnTo>
                  <a:lnTo>
                    <a:pt x="0" y="620"/>
                  </a:lnTo>
                  <a:lnTo>
                    <a:pt x="13" y="620"/>
                  </a:lnTo>
                  <a:close/>
                  <a:moveTo>
                    <a:pt x="13" y="647"/>
                  </a:moveTo>
                  <a:lnTo>
                    <a:pt x="13" y="661"/>
                  </a:lnTo>
                  <a:lnTo>
                    <a:pt x="0" y="661"/>
                  </a:lnTo>
                  <a:lnTo>
                    <a:pt x="0" y="647"/>
                  </a:lnTo>
                  <a:lnTo>
                    <a:pt x="13" y="647"/>
                  </a:lnTo>
                  <a:close/>
                  <a:moveTo>
                    <a:pt x="13" y="674"/>
                  </a:moveTo>
                  <a:lnTo>
                    <a:pt x="13" y="687"/>
                  </a:lnTo>
                  <a:lnTo>
                    <a:pt x="0" y="687"/>
                  </a:lnTo>
                  <a:lnTo>
                    <a:pt x="0" y="674"/>
                  </a:lnTo>
                  <a:lnTo>
                    <a:pt x="13" y="674"/>
                  </a:lnTo>
                  <a:close/>
                  <a:moveTo>
                    <a:pt x="13" y="701"/>
                  </a:moveTo>
                  <a:lnTo>
                    <a:pt x="13" y="715"/>
                  </a:lnTo>
                  <a:lnTo>
                    <a:pt x="0" y="715"/>
                  </a:lnTo>
                  <a:lnTo>
                    <a:pt x="0" y="701"/>
                  </a:lnTo>
                  <a:lnTo>
                    <a:pt x="13" y="701"/>
                  </a:lnTo>
                  <a:close/>
                  <a:moveTo>
                    <a:pt x="13" y="728"/>
                  </a:moveTo>
                  <a:lnTo>
                    <a:pt x="13" y="741"/>
                  </a:lnTo>
                  <a:lnTo>
                    <a:pt x="0" y="741"/>
                  </a:lnTo>
                  <a:lnTo>
                    <a:pt x="0" y="728"/>
                  </a:lnTo>
                  <a:lnTo>
                    <a:pt x="13" y="728"/>
                  </a:lnTo>
                  <a:close/>
                  <a:moveTo>
                    <a:pt x="13" y="755"/>
                  </a:moveTo>
                  <a:lnTo>
                    <a:pt x="13" y="768"/>
                  </a:lnTo>
                  <a:lnTo>
                    <a:pt x="0" y="768"/>
                  </a:lnTo>
                  <a:lnTo>
                    <a:pt x="0" y="755"/>
                  </a:lnTo>
                  <a:lnTo>
                    <a:pt x="13" y="755"/>
                  </a:lnTo>
                  <a:close/>
                  <a:moveTo>
                    <a:pt x="13" y="782"/>
                  </a:moveTo>
                  <a:lnTo>
                    <a:pt x="13" y="795"/>
                  </a:lnTo>
                  <a:lnTo>
                    <a:pt x="0" y="795"/>
                  </a:lnTo>
                  <a:lnTo>
                    <a:pt x="0" y="782"/>
                  </a:lnTo>
                  <a:lnTo>
                    <a:pt x="13" y="782"/>
                  </a:lnTo>
                  <a:close/>
                  <a:moveTo>
                    <a:pt x="13" y="809"/>
                  </a:moveTo>
                  <a:lnTo>
                    <a:pt x="13" y="822"/>
                  </a:lnTo>
                  <a:lnTo>
                    <a:pt x="0" y="822"/>
                  </a:lnTo>
                  <a:lnTo>
                    <a:pt x="0" y="809"/>
                  </a:lnTo>
                  <a:lnTo>
                    <a:pt x="13" y="809"/>
                  </a:lnTo>
                  <a:close/>
                  <a:moveTo>
                    <a:pt x="13" y="836"/>
                  </a:moveTo>
                  <a:lnTo>
                    <a:pt x="13" y="849"/>
                  </a:lnTo>
                  <a:lnTo>
                    <a:pt x="0" y="849"/>
                  </a:lnTo>
                  <a:lnTo>
                    <a:pt x="0" y="836"/>
                  </a:lnTo>
                  <a:lnTo>
                    <a:pt x="13" y="836"/>
                  </a:lnTo>
                  <a:close/>
                  <a:moveTo>
                    <a:pt x="13" y="863"/>
                  </a:moveTo>
                  <a:lnTo>
                    <a:pt x="13" y="876"/>
                  </a:lnTo>
                  <a:lnTo>
                    <a:pt x="0" y="876"/>
                  </a:lnTo>
                  <a:lnTo>
                    <a:pt x="0" y="863"/>
                  </a:lnTo>
                  <a:lnTo>
                    <a:pt x="13" y="863"/>
                  </a:lnTo>
                  <a:close/>
                  <a:moveTo>
                    <a:pt x="13" y="890"/>
                  </a:moveTo>
                  <a:lnTo>
                    <a:pt x="13" y="903"/>
                  </a:lnTo>
                  <a:lnTo>
                    <a:pt x="0" y="903"/>
                  </a:lnTo>
                  <a:lnTo>
                    <a:pt x="0" y="890"/>
                  </a:lnTo>
                  <a:lnTo>
                    <a:pt x="13" y="890"/>
                  </a:lnTo>
                  <a:close/>
                  <a:moveTo>
                    <a:pt x="13" y="917"/>
                  </a:moveTo>
                  <a:lnTo>
                    <a:pt x="13" y="930"/>
                  </a:lnTo>
                  <a:lnTo>
                    <a:pt x="0" y="930"/>
                  </a:lnTo>
                  <a:lnTo>
                    <a:pt x="0" y="917"/>
                  </a:lnTo>
                  <a:lnTo>
                    <a:pt x="13" y="917"/>
                  </a:lnTo>
                  <a:close/>
                  <a:moveTo>
                    <a:pt x="13" y="944"/>
                  </a:moveTo>
                  <a:lnTo>
                    <a:pt x="13" y="957"/>
                  </a:lnTo>
                  <a:lnTo>
                    <a:pt x="0" y="957"/>
                  </a:lnTo>
                  <a:lnTo>
                    <a:pt x="0" y="944"/>
                  </a:lnTo>
                  <a:lnTo>
                    <a:pt x="13" y="944"/>
                  </a:lnTo>
                  <a:close/>
                  <a:moveTo>
                    <a:pt x="13" y="970"/>
                  </a:moveTo>
                  <a:lnTo>
                    <a:pt x="13" y="984"/>
                  </a:lnTo>
                  <a:lnTo>
                    <a:pt x="0" y="984"/>
                  </a:lnTo>
                  <a:lnTo>
                    <a:pt x="0" y="970"/>
                  </a:lnTo>
                  <a:lnTo>
                    <a:pt x="13" y="970"/>
                  </a:lnTo>
                  <a:close/>
                  <a:moveTo>
                    <a:pt x="13" y="998"/>
                  </a:moveTo>
                  <a:lnTo>
                    <a:pt x="13" y="1011"/>
                  </a:lnTo>
                  <a:lnTo>
                    <a:pt x="0" y="1011"/>
                  </a:lnTo>
                  <a:lnTo>
                    <a:pt x="0" y="998"/>
                  </a:lnTo>
                  <a:lnTo>
                    <a:pt x="13" y="998"/>
                  </a:lnTo>
                  <a:close/>
                  <a:moveTo>
                    <a:pt x="13" y="1024"/>
                  </a:moveTo>
                  <a:lnTo>
                    <a:pt x="13" y="1038"/>
                  </a:lnTo>
                  <a:lnTo>
                    <a:pt x="0" y="1038"/>
                  </a:lnTo>
                  <a:lnTo>
                    <a:pt x="0" y="1024"/>
                  </a:lnTo>
                  <a:lnTo>
                    <a:pt x="13" y="1024"/>
                  </a:lnTo>
                  <a:close/>
                  <a:moveTo>
                    <a:pt x="13" y="1051"/>
                  </a:moveTo>
                  <a:lnTo>
                    <a:pt x="13" y="1065"/>
                  </a:lnTo>
                  <a:lnTo>
                    <a:pt x="0" y="1065"/>
                  </a:lnTo>
                  <a:lnTo>
                    <a:pt x="0" y="1051"/>
                  </a:lnTo>
                  <a:lnTo>
                    <a:pt x="13" y="1051"/>
                  </a:lnTo>
                  <a:close/>
                  <a:moveTo>
                    <a:pt x="13" y="1078"/>
                  </a:moveTo>
                  <a:lnTo>
                    <a:pt x="13" y="1092"/>
                  </a:lnTo>
                  <a:lnTo>
                    <a:pt x="0" y="1092"/>
                  </a:lnTo>
                  <a:lnTo>
                    <a:pt x="0" y="1078"/>
                  </a:lnTo>
                  <a:lnTo>
                    <a:pt x="13" y="1078"/>
                  </a:lnTo>
                  <a:close/>
                  <a:moveTo>
                    <a:pt x="13" y="1105"/>
                  </a:moveTo>
                  <a:lnTo>
                    <a:pt x="13" y="1119"/>
                  </a:lnTo>
                  <a:lnTo>
                    <a:pt x="0" y="1119"/>
                  </a:lnTo>
                  <a:lnTo>
                    <a:pt x="0" y="1105"/>
                  </a:lnTo>
                  <a:lnTo>
                    <a:pt x="13" y="1105"/>
                  </a:lnTo>
                  <a:close/>
                  <a:moveTo>
                    <a:pt x="13" y="1132"/>
                  </a:moveTo>
                  <a:lnTo>
                    <a:pt x="13" y="1146"/>
                  </a:lnTo>
                  <a:lnTo>
                    <a:pt x="0" y="1146"/>
                  </a:lnTo>
                  <a:lnTo>
                    <a:pt x="0" y="1132"/>
                  </a:lnTo>
                  <a:lnTo>
                    <a:pt x="13" y="1132"/>
                  </a:lnTo>
                  <a:close/>
                  <a:moveTo>
                    <a:pt x="13" y="1159"/>
                  </a:moveTo>
                  <a:lnTo>
                    <a:pt x="13" y="1173"/>
                  </a:lnTo>
                  <a:lnTo>
                    <a:pt x="0" y="1173"/>
                  </a:lnTo>
                  <a:lnTo>
                    <a:pt x="0" y="1159"/>
                  </a:lnTo>
                  <a:lnTo>
                    <a:pt x="13" y="1159"/>
                  </a:lnTo>
                  <a:close/>
                  <a:moveTo>
                    <a:pt x="13" y="1186"/>
                  </a:moveTo>
                  <a:lnTo>
                    <a:pt x="13" y="1200"/>
                  </a:lnTo>
                  <a:lnTo>
                    <a:pt x="0" y="1200"/>
                  </a:lnTo>
                  <a:lnTo>
                    <a:pt x="0" y="1186"/>
                  </a:lnTo>
                  <a:lnTo>
                    <a:pt x="13" y="1186"/>
                  </a:lnTo>
                  <a:close/>
                  <a:moveTo>
                    <a:pt x="13" y="1213"/>
                  </a:moveTo>
                  <a:lnTo>
                    <a:pt x="13" y="1227"/>
                  </a:lnTo>
                  <a:lnTo>
                    <a:pt x="0" y="1227"/>
                  </a:lnTo>
                  <a:lnTo>
                    <a:pt x="0" y="1213"/>
                  </a:lnTo>
                  <a:lnTo>
                    <a:pt x="13" y="1213"/>
                  </a:lnTo>
                  <a:close/>
                  <a:moveTo>
                    <a:pt x="13" y="1240"/>
                  </a:moveTo>
                  <a:lnTo>
                    <a:pt x="13" y="1253"/>
                  </a:lnTo>
                  <a:lnTo>
                    <a:pt x="0" y="1253"/>
                  </a:lnTo>
                  <a:lnTo>
                    <a:pt x="0" y="1240"/>
                  </a:lnTo>
                  <a:lnTo>
                    <a:pt x="13" y="1240"/>
                  </a:lnTo>
                  <a:close/>
                  <a:moveTo>
                    <a:pt x="13" y="1267"/>
                  </a:moveTo>
                  <a:lnTo>
                    <a:pt x="13" y="1281"/>
                  </a:lnTo>
                  <a:lnTo>
                    <a:pt x="0" y="1281"/>
                  </a:lnTo>
                  <a:lnTo>
                    <a:pt x="0" y="1267"/>
                  </a:lnTo>
                  <a:lnTo>
                    <a:pt x="13" y="1267"/>
                  </a:lnTo>
                  <a:close/>
                  <a:moveTo>
                    <a:pt x="13" y="1294"/>
                  </a:moveTo>
                  <a:lnTo>
                    <a:pt x="13" y="1307"/>
                  </a:lnTo>
                  <a:lnTo>
                    <a:pt x="0" y="1307"/>
                  </a:lnTo>
                  <a:lnTo>
                    <a:pt x="0" y="1294"/>
                  </a:lnTo>
                  <a:lnTo>
                    <a:pt x="13" y="1294"/>
                  </a:lnTo>
                  <a:close/>
                  <a:moveTo>
                    <a:pt x="13" y="1321"/>
                  </a:moveTo>
                  <a:lnTo>
                    <a:pt x="13" y="1334"/>
                  </a:lnTo>
                  <a:lnTo>
                    <a:pt x="0" y="1334"/>
                  </a:lnTo>
                  <a:lnTo>
                    <a:pt x="0" y="1321"/>
                  </a:lnTo>
                  <a:lnTo>
                    <a:pt x="13" y="1321"/>
                  </a:lnTo>
                  <a:close/>
                  <a:moveTo>
                    <a:pt x="13" y="1348"/>
                  </a:moveTo>
                  <a:lnTo>
                    <a:pt x="13" y="1361"/>
                  </a:lnTo>
                  <a:lnTo>
                    <a:pt x="0" y="1361"/>
                  </a:lnTo>
                  <a:lnTo>
                    <a:pt x="0" y="1348"/>
                  </a:lnTo>
                  <a:lnTo>
                    <a:pt x="13" y="1348"/>
                  </a:lnTo>
                  <a:close/>
                  <a:moveTo>
                    <a:pt x="13" y="1375"/>
                  </a:moveTo>
                  <a:lnTo>
                    <a:pt x="13" y="1388"/>
                  </a:lnTo>
                  <a:lnTo>
                    <a:pt x="0" y="1388"/>
                  </a:lnTo>
                  <a:lnTo>
                    <a:pt x="0" y="1375"/>
                  </a:lnTo>
                  <a:lnTo>
                    <a:pt x="13" y="1375"/>
                  </a:lnTo>
                  <a:close/>
                  <a:moveTo>
                    <a:pt x="13" y="1402"/>
                  </a:moveTo>
                  <a:lnTo>
                    <a:pt x="13" y="1415"/>
                  </a:lnTo>
                  <a:lnTo>
                    <a:pt x="0" y="1415"/>
                  </a:lnTo>
                  <a:lnTo>
                    <a:pt x="0" y="1402"/>
                  </a:lnTo>
                  <a:lnTo>
                    <a:pt x="13" y="1402"/>
                  </a:lnTo>
                  <a:close/>
                  <a:moveTo>
                    <a:pt x="13" y="1429"/>
                  </a:moveTo>
                  <a:lnTo>
                    <a:pt x="13" y="1442"/>
                  </a:lnTo>
                  <a:lnTo>
                    <a:pt x="0" y="1442"/>
                  </a:lnTo>
                  <a:lnTo>
                    <a:pt x="0" y="1429"/>
                  </a:lnTo>
                  <a:lnTo>
                    <a:pt x="13" y="1429"/>
                  </a:lnTo>
                  <a:close/>
                  <a:moveTo>
                    <a:pt x="13" y="1455"/>
                  </a:moveTo>
                  <a:lnTo>
                    <a:pt x="13" y="1469"/>
                  </a:lnTo>
                  <a:lnTo>
                    <a:pt x="0" y="1469"/>
                  </a:lnTo>
                  <a:lnTo>
                    <a:pt x="0" y="1455"/>
                  </a:lnTo>
                  <a:lnTo>
                    <a:pt x="13" y="1455"/>
                  </a:lnTo>
                  <a:close/>
                  <a:moveTo>
                    <a:pt x="13" y="1483"/>
                  </a:moveTo>
                  <a:lnTo>
                    <a:pt x="13" y="1496"/>
                  </a:lnTo>
                  <a:lnTo>
                    <a:pt x="0" y="1496"/>
                  </a:lnTo>
                  <a:lnTo>
                    <a:pt x="0" y="1483"/>
                  </a:lnTo>
                  <a:lnTo>
                    <a:pt x="13" y="1483"/>
                  </a:lnTo>
                  <a:close/>
                  <a:moveTo>
                    <a:pt x="13" y="1510"/>
                  </a:moveTo>
                  <a:lnTo>
                    <a:pt x="13" y="1523"/>
                  </a:lnTo>
                  <a:lnTo>
                    <a:pt x="0" y="1523"/>
                  </a:lnTo>
                  <a:lnTo>
                    <a:pt x="0" y="1510"/>
                  </a:lnTo>
                  <a:lnTo>
                    <a:pt x="13" y="1510"/>
                  </a:lnTo>
                  <a:close/>
                  <a:moveTo>
                    <a:pt x="13" y="1536"/>
                  </a:moveTo>
                  <a:lnTo>
                    <a:pt x="13" y="1550"/>
                  </a:lnTo>
                  <a:lnTo>
                    <a:pt x="0" y="1550"/>
                  </a:lnTo>
                  <a:lnTo>
                    <a:pt x="0" y="1536"/>
                  </a:lnTo>
                  <a:lnTo>
                    <a:pt x="13" y="1536"/>
                  </a:lnTo>
                  <a:close/>
                  <a:moveTo>
                    <a:pt x="13" y="1564"/>
                  </a:moveTo>
                  <a:lnTo>
                    <a:pt x="13" y="1577"/>
                  </a:lnTo>
                  <a:lnTo>
                    <a:pt x="0" y="1577"/>
                  </a:lnTo>
                  <a:lnTo>
                    <a:pt x="0" y="1564"/>
                  </a:lnTo>
                  <a:lnTo>
                    <a:pt x="13" y="1564"/>
                  </a:lnTo>
                  <a:close/>
                  <a:moveTo>
                    <a:pt x="13" y="1590"/>
                  </a:moveTo>
                  <a:lnTo>
                    <a:pt x="13" y="1604"/>
                  </a:lnTo>
                  <a:lnTo>
                    <a:pt x="0" y="1604"/>
                  </a:lnTo>
                  <a:lnTo>
                    <a:pt x="0" y="1590"/>
                  </a:lnTo>
                  <a:lnTo>
                    <a:pt x="13" y="1590"/>
                  </a:lnTo>
                  <a:close/>
                  <a:moveTo>
                    <a:pt x="13" y="1617"/>
                  </a:moveTo>
                  <a:lnTo>
                    <a:pt x="13" y="1631"/>
                  </a:lnTo>
                  <a:lnTo>
                    <a:pt x="0" y="1631"/>
                  </a:lnTo>
                  <a:lnTo>
                    <a:pt x="0" y="1617"/>
                  </a:lnTo>
                  <a:lnTo>
                    <a:pt x="13" y="1617"/>
                  </a:lnTo>
                  <a:close/>
                  <a:moveTo>
                    <a:pt x="13" y="1644"/>
                  </a:moveTo>
                  <a:lnTo>
                    <a:pt x="13" y="1658"/>
                  </a:lnTo>
                  <a:lnTo>
                    <a:pt x="0" y="1658"/>
                  </a:lnTo>
                  <a:lnTo>
                    <a:pt x="0" y="1644"/>
                  </a:lnTo>
                  <a:lnTo>
                    <a:pt x="13" y="1644"/>
                  </a:lnTo>
                  <a:close/>
                  <a:moveTo>
                    <a:pt x="13" y="1671"/>
                  </a:moveTo>
                  <a:lnTo>
                    <a:pt x="13" y="1685"/>
                  </a:lnTo>
                  <a:lnTo>
                    <a:pt x="0" y="1685"/>
                  </a:lnTo>
                  <a:lnTo>
                    <a:pt x="0" y="1671"/>
                  </a:lnTo>
                  <a:lnTo>
                    <a:pt x="13" y="1671"/>
                  </a:lnTo>
                  <a:close/>
                  <a:moveTo>
                    <a:pt x="13" y="1698"/>
                  </a:moveTo>
                  <a:lnTo>
                    <a:pt x="13" y="1712"/>
                  </a:lnTo>
                  <a:lnTo>
                    <a:pt x="0" y="1712"/>
                  </a:lnTo>
                  <a:lnTo>
                    <a:pt x="0" y="1698"/>
                  </a:lnTo>
                  <a:lnTo>
                    <a:pt x="13" y="1698"/>
                  </a:lnTo>
                  <a:close/>
                  <a:moveTo>
                    <a:pt x="13" y="1725"/>
                  </a:moveTo>
                  <a:lnTo>
                    <a:pt x="13" y="1738"/>
                  </a:lnTo>
                  <a:lnTo>
                    <a:pt x="0" y="1738"/>
                  </a:lnTo>
                  <a:lnTo>
                    <a:pt x="0" y="1725"/>
                  </a:lnTo>
                  <a:lnTo>
                    <a:pt x="13" y="1725"/>
                  </a:lnTo>
                  <a:close/>
                  <a:moveTo>
                    <a:pt x="13" y="1752"/>
                  </a:moveTo>
                  <a:lnTo>
                    <a:pt x="13" y="1766"/>
                  </a:lnTo>
                  <a:lnTo>
                    <a:pt x="0" y="1766"/>
                  </a:lnTo>
                  <a:lnTo>
                    <a:pt x="0" y="1752"/>
                  </a:lnTo>
                  <a:lnTo>
                    <a:pt x="13" y="1752"/>
                  </a:lnTo>
                  <a:close/>
                  <a:moveTo>
                    <a:pt x="13" y="1779"/>
                  </a:moveTo>
                  <a:lnTo>
                    <a:pt x="13" y="1792"/>
                  </a:lnTo>
                  <a:lnTo>
                    <a:pt x="0" y="1792"/>
                  </a:lnTo>
                  <a:lnTo>
                    <a:pt x="0" y="1779"/>
                  </a:lnTo>
                  <a:lnTo>
                    <a:pt x="13" y="1779"/>
                  </a:lnTo>
                  <a:close/>
                  <a:moveTo>
                    <a:pt x="13" y="1806"/>
                  </a:moveTo>
                  <a:lnTo>
                    <a:pt x="13" y="1819"/>
                  </a:lnTo>
                  <a:lnTo>
                    <a:pt x="0" y="1819"/>
                  </a:lnTo>
                  <a:lnTo>
                    <a:pt x="0" y="1806"/>
                  </a:lnTo>
                  <a:lnTo>
                    <a:pt x="13" y="1806"/>
                  </a:lnTo>
                  <a:close/>
                  <a:moveTo>
                    <a:pt x="13" y="1833"/>
                  </a:moveTo>
                  <a:lnTo>
                    <a:pt x="13" y="1846"/>
                  </a:lnTo>
                  <a:lnTo>
                    <a:pt x="0" y="1846"/>
                  </a:lnTo>
                  <a:lnTo>
                    <a:pt x="0" y="1833"/>
                  </a:lnTo>
                  <a:lnTo>
                    <a:pt x="13" y="1833"/>
                  </a:lnTo>
                  <a:close/>
                  <a:moveTo>
                    <a:pt x="13" y="1860"/>
                  </a:moveTo>
                  <a:lnTo>
                    <a:pt x="13" y="1873"/>
                  </a:lnTo>
                  <a:lnTo>
                    <a:pt x="0" y="1873"/>
                  </a:lnTo>
                  <a:lnTo>
                    <a:pt x="0" y="1860"/>
                  </a:lnTo>
                  <a:lnTo>
                    <a:pt x="13" y="1860"/>
                  </a:lnTo>
                  <a:close/>
                  <a:moveTo>
                    <a:pt x="13" y="1887"/>
                  </a:moveTo>
                  <a:lnTo>
                    <a:pt x="13" y="1900"/>
                  </a:lnTo>
                  <a:lnTo>
                    <a:pt x="0" y="1900"/>
                  </a:lnTo>
                  <a:lnTo>
                    <a:pt x="0" y="1887"/>
                  </a:lnTo>
                  <a:lnTo>
                    <a:pt x="13" y="1887"/>
                  </a:lnTo>
                  <a:close/>
                  <a:moveTo>
                    <a:pt x="13" y="1914"/>
                  </a:moveTo>
                  <a:lnTo>
                    <a:pt x="13" y="1927"/>
                  </a:lnTo>
                  <a:lnTo>
                    <a:pt x="0" y="1927"/>
                  </a:lnTo>
                  <a:lnTo>
                    <a:pt x="0" y="1914"/>
                  </a:lnTo>
                  <a:lnTo>
                    <a:pt x="13" y="1914"/>
                  </a:lnTo>
                  <a:close/>
                  <a:moveTo>
                    <a:pt x="13" y="1941"/>
                  </a:moveTo>
                  <a:lnTo>
                    <a:pt x="13" y="1954"/>
                  </a:lnTo>
                  <a:lnTo>
                    <a:pt x="0" y="1954"/>
                  </a:lnTo>
                  <a:lnTo>
                    <a:pt x="0" y="1941"/>
                  </a:lnTo>
                  <a:lnTo>
                    <a:pt x="13" y="1941"/>
                  </a:lnTo>
                  <a:close/>
                  <a:moveTo>
                    <a:pt x="13" y="1968"/>
                  </a:moveTo>
                  <a:lnTo>
                    <a:pt x="13" y="1981"/>
                  </a:lnTo>
                  <a:lnTo>
                    <a:pt x="0" y="1981"/>
                  </a:lnTo>
                  <a:lnTo>
                    <a:pt x="0" y="1968"/>
                  </a:lnTo>
                  <a:lnTo>
                    <a:pt x="13" y="1968"/>
                  </a:lnTo>
                  <a:close/>
                  <a:moveTo>
                    <a:pt x="13" y="1995"/>
                  </a:moveTo>
                  <a:lnTo>
                    <a:pt x="13" y="2008"/>
                  </a:lnTo>
                  <a:lnTo>
                    <a:pt x="0" y="2008"/>
                  </a:lnTo>
                  <a:lnTo>
                    <a:pt x="0" y="1995"/>
                  </a:lnTo>
                  <a:lnTo>
                    <a:pt x="13" y="1995"/>
                  </a:lnTo>
                  <a:close/>
                  <a:moveTo>
                    <a:pt x="13" y="2021"/>
                  </a:moveTo>
                  <a:lnTo>
                    <a:pt x="13" y="2035"/>
                  </a:lnTo>
                  <a:lnTo>
                    <a:pt x="0" y="2035"/>
                  </a:lnTo>
                  <a:lnTo>
                    <a:pt x="0" y="2021"/>
                  </a:lnTo>
                  <a:lnTo>
                    <a:pt x="13" y="2021"/>
                  </a:lnTo>
                  <a:close/>
                  <a:moveTo>
                    <a:pt x="13" y="2049"/>
                  </a:moveTo>
                  <a:lnTo>
                    <a:pt x="13" y="2062"/>
                  </a:lnTo>
                  <a:lnTo>
                    <a:pt x="0" y="2062"/>
                  </a:lnTo>
                  <a:lnTo>
                    <a:pt x="0" y="2049"/>
                  </a:lnTo>
                  <a:lnTo>
                    <a:pt x="13" y="2049"/>
                  </a:lnTo>
                  <a:close/>
                  <a:moveTo>
                    <a:pt x="13" y="2075"/>
                  </a:moveTo>
                  <a:lnTo>
                    <a:pt x="13" y="2089"/>
                  </a:lnTo>
                  <a:lnTo>
                    <a:pt x="0" y="2089"/>
                  </a:lnTo>
                  <a:lnTo>
                    <a:pt x="0" y="2075"/>
                  </a:lnTo>
                  <a:lnTo>
                    <a:pt x="13" y="2075"/>
                  </a:lnTo>
                  <a:close/>
                  <a:moveTo>
                    <a:pt x="13" y="2102"/>
                  </a:moveTo>
                  <a:lnTo>
                    <a:pt x="13" y="2116"/>
                  </a:lnTo>
                  <a:lnTo>
                    <a:pt x="0" y="2116"/>
                  </a:lnTo>
                  <a:lnTo>
                    <a:pt x="0" y="2102"/>
                  </a:lnTo>
                  <a:lnTo>
                    <a:pt x="13" y="2102"/>
                  </a:lnTo>
                  <a:close/>
                  <a:moveTo>
                    <a:pt x="13" y="2129"/>
                  </a:moveTo>
                  <a:lnTo>
                    <a:pt x="13" y="2143"/>
                  </a:lnTo>
                  <a:lnTo>
                    <a:pt x="0" y="2143"/>
                  </a:lnTo>
                  <a:lnTo>
                    <a:pt x="0" y="2129"/>
                  </a:lnTo>
                  <a:lnTo>
                    <a:pt x="13" y="2129"/>
                  </a:lnTo>
                  <a:close/>
                  <a:moveTo>
                    <a:pt x="13" y="2156"/>
                  </a:moveTo>
                  <a:lnTo>
                    <a:pt x="13" y="2170"/>
                  </a:lnTo>
                  <a:lnTo>
                    <a:pt x="0" y="2170"/>
                  </a:lnTo>
                  <a:lnTo>
                    <a:pt x="0" y="2156"/>
                  </a:lnTo>
                  <a:lnTo>
                    <a:pt x="13" y="2156"/>
                  </a:lnTo>
                  <a:close/>
                  <a:moveTo>
                    <a:pt x="13" y="2183"/>
                  </a:moveTo>
                  <a:lnTo>
                    <a:pt x="13" y="2197"/>
                  </a:lnTo>
                  <a:lnTo>
                    <a:pt x="0" y="2197"/>
                  </a:lnTo>
                  <a:lnTo>
                    <a:pt x="0" y="2183"/>
                  </a:lnTo>
                  <a:lnTo>
                    <a:pt x="13" y="2183"/>
                  </a:lnTo>
                  <a:close/>
                  <a:moveTo>
                    <a:pt x="13" y="2210"/>
                  </a:moveTo>
                  <a:lnTo>
                    <a:pt x="13" y="2224"/>
                  </a:lnTo>
                  <a:lnTo>
                    <a:pt x="0" y="2224"/>
                  </a:lnTo>
                  <a:lnTo>
                    <a:pt x="0" y="2210"/>
                  </a:lnTo>
                  <a:lnTo>
                    <a:pt x="13" y="2210"/>
                  </a:lnTo>
                  <a:close/>
                  <a:moveTo>
                    <a:pt x="13" y="2237"/>
                  </a:moveTo>
                  <a:lnTo>
                    <a:pt x="13" y="2251"/>
                  </a:lnTo>
                  <a:lnTo>
                    <a:pt x="0" y="2251"/>
                  </a:lnTo>
                  <a:lnTo>
                    <a:pt x="0" y="2237"/>
                  </a:lnTo>
                  <a:lnTo>
                    <a:pt x="13" y="2237"/>
                  </a:lnTo>
                  <a:close/>
                  <a:moveTo>
                    <a:pt x="13" y="2264"/>
                  </a:moveTo>
                  <a:lnTo>
                    <a:pt x="13" y="2278"/>
                  </a:lnTo>
                  <a:lnTo>
                    <a:pt x="0" y="2278"/>
                  </a:lnTo>
                  <a:lnTo>
                    <a:pt x="0" y="2264"/>
                  </a:lnTo>
                  <a:lnTo>
                    <a:pt x="13" y="2264"/>
                  </a:lnTo>
                  <a:close/>
                  <a:moveTo>
                    <a:pt x="13" y="2291"/>
                  </a:moveTo>
                  <a:lnTo>
                    <a:pt x="13" y="2304"/>
                  </a:lnTo>
                  <a:lnTo>
                    <a:pt x="0" y="2304"/>
                  </a:lnTo>
                  <a:lnTo>
                    <a:pt x="0" y="2291"/>
                  </a:lnTo>
                  <a:lnTo>
                    <a:pt x="13" y="2291"/>
                  </a:lnTo>
                  <a:close/>
                  <a:moveTo>
                    <a:pt x="13" y="2318"/>
                  </a:moveTo>
                  <a:lnTo>
                    <a:pt x="13" y="2332"/>
                  </a:lnTo>
                  <a:lnTo>
                    <a:pt x="0" y="2332"/>
                  </a:lnTo>
                  <a:lnTo>
                    <a:pt x="0" y="2318"/>
                  </a:lnTo>
                  <a:lnTo>
                    <a:pt x="13" y="2318"/>
                  </a:lnTo>
                  <a:close/>
                  <a:moveTo>
                    <a:pt x="13" y="2345"/>
                  </a:moveTo>
                  <a:lnTo>
                    <a:pt x="13" y="2358"/>
                  </a:lnTo>
                  <a:lnTo>
                    <a:pt x="0" y="2358"/>
                  </a:lnTo>
                  <a:lnTo>
                    <a:pt x="0" y="2345"/>
                  </a:lnTo>
                  <a:lnTo>
                    <a:pt x="13" y="2345"/>
                  </a:lnTo>
                  <a:close/>
                </a:path>
              </a:pathLst>
            </a:custGeom>
            <a:solidFill>
              <a:srgbClr val="000000"/>
            </a:solidFill>
            <a:ln w="0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96" name="Freeform 92">
              <a:extLst>
                <a:ext uri="{FF2B5EF4-FFF2-40B4-BE49-F238E27FC236}">
                  <a16:creationId xmlns:a16="http://schemas.microsoft.com/office/drawing/2014/main" id="{C2E7FF81-E005-4275-AA46-F657E989E2C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461612" y="2655977"/>
              <a:ext cx="22258" cy="3748911"/>
            </a:xfrm>
            <a:custGeom>
              <a:avLst/>
              <a:gdLst>
                <a:gd name="T0" fmla="*/ 14 w 14"/>
                <a:gd name="T1" fmla="*/ 41 h 2358"/>
                <a:gd name="T2" fmla="*/ 0 w 14"/>
                <a:gd name="T3" fmla="*/ 54 h 2358"/>
                <a:gd name="T4" fmla="*/ 14 w 14"/>
                <a:gd name="T5" fmla="*/ 108 h 2358"/>
                <a:gd name="T6" fmla="*/ 0 w 14"/>
                <a:gd name="T7" fmla="*/ 149 h 2358"/>
                <a:gd name="T8" fmla="*/ 14 w 14"/>
                <a:gd name="T9" fmla="*/ 162 h 2358"/>
                <a:gd name="T10" fmla="*/ 14 w 14"/>
                <a:gd name="T11" fmla="*/ 229 h 2358"/>
                <a:gd name="T12" fmla="*/ 0 w 14"/>
                <a:gd name="T13" fmla="*/ 243 h 2358"/>
                <a:gd name="T14" fmla="*/ 14 w 14"/>
                <a:gd name="T15" fmla="*/ 297 h 2358"/>
                <a:gd name="T16" fmla="*/ 0 w 14"/>
                <a:gd name="T17" fmla="*/ 337 h 2358"/>
                <a:gd name="T18" fmla="*/ 14 w 14"/>
                <a:gd name="T19" fmla="*/ 351 h 2358"/>
                <a:gd name="T20" fmla="*/ 14 w 14"/>
                <a:gd name="T21" fmla="*/ 418 h 2358"/>
                <a:gd name="T22" fmla="*/ 0 w 14"/>
                <a:gd name="T23" fmla="*/ 432 h 2358"/>
                <a:gd name="T24" fmla="*/ 14 w 14"/>
                <a:gd name="T25" fmla="*/ 485 h 2358"/>
                <a:gd name="T26" fmla="*/ 0 w 14"/>
                <a:gd name="T27" fmla="*/ 526 h 2358"/>
                <a:gd name="T28" fmla="*/ 14 w 14"/>
                <a:gd name="T29" fmla="*/ 539 h 2358"/>
                <a:gd name="T30" fmla="*/ 14 w 14"/>
                <a:gd name="T31" fmla="*/ 607 h 2358"/>
                <a:gd name="T32" fmla="*/ 0 w 14"/>
                <a:gd name="T33" fmla="*/ 620 h 2358"/>
                <a:gd name="T34" fmla="*/ 14 w 14"/>
                <a:gd name="T35" fmla="*/ 674 h 2358"/>
                <a:gd name="T36" fmla="*/ 0 w 14"/>
                <a:gd name="T37" fmla="*/ 715 h 2358"/>
                <a:gd name="T38" fmla="*/ 14 w 14"/>
                <a:gd name="T39" fmla="*/ 728 h 2358"/>
                <a:gd name="T40" fmla="*/ 14 w 14"/>
                <a:gd name="T41" fmla="*/ 795 h 2358"/>
                <a:gd name="T42" fmla="*/ 0 w 14"/>
                <a:gd name="T43" fmla="*/ 809 h 2358"/>
                <a:gd name="T44" fmla="*/ 14 w 14"/>
                <a:gd name="T45" fmla="*/ 863 h 2358"/>
                <a:gd name="T46" fmla="*/ 0 w 14"/>
                <a:gd name="T47" fmla="*/ 903 h 2358"/>
                <a:gd name="T48" fmla="*/ 14 w 14"/>
                <a:gd name="T49" fmla="*/ 917 h 2358"/>
                <a:gd name="T50" fmla="*/ 14 w 14"/>
                <a:gd name="T51" fmla="*/ 984 h 2358"/>
                <a:gd name="T52" fmla="*/ 0 w 14"/>
                <a:gd name="T53" fmla="*/ 998 h 2358"/>
                <a:gd name="T54" fmla="*/ 14 w 14"/>
                <a:gd name="T55" fmla="*/ 1051 h 2358"/>
                <a:gd name="T56" fmla="*/ 0 w 14"/>
                <a:gd name="T57" fmla="*/ 1092 h 2358"/>
                <a:gd name="T58" fmla="*/ 14 w 14"/>
                <a:gd name="T59" fmla="*/ 1105 h 2358"/>
                <a:gd name="T60" fmla="*/ 14 w 14"/>
                <a:gd name="T61" fmla="*/ 1173 h 2358"/>
                <a:gd name="T62" fmla="*/ 0 w 14"/>
                <a:gd name="T63" fmla="*/ 1186 h 2358"/>
                <a:gd name="T64" fmla="*/ 14 w 14"/>
                <a:gd name="T65" fmla="*/ 1240 h 2358"/>
                <a:gd name="T66" fmla="*/ 0 w 14"/>
                <a:gd name="T67" fmla="*/ 1281 h 2358"/>
                <a:gd name="T68" fmla="*/ 14 w 14"/>
                <a:gd name="T69" fmla="*/ 1294 h 2358"/>
                <a:gd name="T70" fmla="*/ 14 w 14"/>
                <a:gd name="T71" fmla="*/ 1361 h 2358"/>
                <a:gd name="T72" fmla="*/ 0 w 14"/>
                <a:gd name="T73" fmla="*/ 1375 h 2358"/>
                <a:gd name="T74" fmla="*/ 14 w 14"/>
                <a:gd name="T75" fmla="*/ 1429 h 2358"/>
                <a:gd name="T76" fmla="*/ 0 w 14"/>
                <a:gd name="T77" fmla="*/ 1469 h 2358"/>
                <a:gd name="T78" fmla="*/ 14 w 14"/>
                <a:gd name="T79" fmla="*/ 1483 h 2358"/>
                <a:gd name="T80" fmla="*/ 14 w 14"/>
                <a:gd name="T81" fmla="*/ 1550 h 2358"/>
                <a:gd name="T82" fmla="*/ 0 w 14"/>
                <a:gd name="T83" fmla="*/ 1564 h 2358"/>
                <a:gd name="T84" fmla="*/ 14 w 14"/>
                <a:gd name="T85" fmla="*/ 1617 h 2358"/>
                <a:gd name="T86" fmla="*/ 0 w 14"/>
                <a:gd name="T87" fmla="*/ 1658 h 2358"/>
                <a:gd name="T88" fmla="*/ 14 w 14"/>
                <a:gd name="T89" fmla="*/ 1671 h 2358"/>
                <a:gd name="T90" fmla="*/ 14 w 14"/>
                <a:gd name="T91" fmla="*/ 1738 h 2358"/>
                <a:gd name="T92" fmla="*/ 0 w 14"/>
                <a:gd name="T93" fmla="*/ 1752 h 2358"/>
                <a:gd name="T94" fmla="*/ 14 w 14"/>
                <a:gd name="T95" fmla="*/ 1806 h 2358"/>
                <a:gd name="T96" fmla="*/ 0 w 14"/>
                <a:gd name="T97" fmla="*/ 1846 h 2358"/>
                <a:gd name="T98" fmla="*/ 14 w 14"/>
                <a:gd name="T99" fmla="*/ 1860 h 2358"/>
                <a:gd name="T100" fmla="*/ 14 w 14"/>
                <a:gd name="T101" fmla="*/ 1927 h 2358"/>
                <a:gd name="T102" fmla="*/ 0 w 14"/>
                <a:gd name="T103" fmla="*/ 1941 h 2358"/>
                <a:gd name="T104" fmla="*/ 14 w 14"/>
                <a:gd name="T105" fmla="*/ 1995 h 2358"/>
                <a:gd name="T106" fmla="*/ 0 w 14"/>
                <a:gd name="T107" fmla="*/ 2035 h 2358"/>
                <a:gd name="T108" fmla="*/ 14 w 14"/>
                <a:gd name="T109" fmla="*/ 2049 h 2358"/>
                <a:gd name="T110" fmla="*/ 14 w 14"/>
                <a:gd name="T111" fmla="*/ 2116 h 2358"/>
                <a:gd name="T112" fmla="*/ 0 w 14"/>
                <a:gd name="T113" fmla="*/ 2129 h 2358"/>
                <a:gd name="T114" fmla="*/ 14 w 14"/>
                <a:gd name="T115" fmla="*/ 2183 h 2358"/>
                <a:gd name="T116" fmla="*/ 0 w 14"/>
                <a:gd name="T117" fmla="*/ 2224 h 2358"/>
                <a:gd name="T118" fmla="*/ 14 w 14"/>
                <a:gd name="T119" fmla="*/ 2237 h 2358"/>
                <a:gd name="T120" fmla="*/ 14 w 14"/>
                <a:gd name="T121" fmla="*/ 2304 h 2358"/>
                <a:gd name="T122" fmla="*/ 0 w 14"/>
                <a:gd name="T123" fmla="*/ 2318 h 23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4" h="2358">
                  <a:moveTo>
                    <a:pt x="14" y="0"/>
                  </a:moveTo>
                  <a:lnTo>
                    <a:pt x="14" y="14"/>
                  </a:lnTo>
                  <a:lnTo>
                    <a:pt x="0" y="14"/>
                  </a:lnTo>
                  <a:lnTo>
                    <a:pt x="0" y="0"/>
                  </a:lnTo>
                  <a:lnTo>
                    <a:pt x="14" y="0"/>
                  </a:lnTo>
                  <a:close/>
                  <a:moveTo>
                    <a:pt x="14" y="27"/>
                  </a:moveTo>
                  <a:lnTo>
                    <a:pt x="14" y="41"/>
                  </a:lnTo>
                  <a:lnTo>
                    <a:pt x="0" y="41"/>
                  </a:lnTo>
                  <a:lnTo>
                    <a:pt x="0" y="27"/>
                  </a:lnTo>
                  <a:lnTo>
                    <a:pt x="14" y="27"/>
                  </a:lnTo>
                  <a:close/>
                  <a:moveTo>
                    <a:pt x="14" y="54"/>
                  </a:moveTo>
                  <a:lnTo>
                    <a:pt x="14" y="68"/>
                  </a:lnTo>
                  <a:lnTo>
                    <a:pt x="0" y="68"/>
                  </a:lnTo>
                  <a:lnTo>
                    <a:pt x="0" y="54"/>
                  </a:lnTo>
                  <a:lnTo>
                    <a:pt x="14" y="54"/>
                  </a:lnTo>
                  <a:close/>
                  <a:moveTo>
                    <a:pt x="14" y="81"/>
                  </a:moveTo>
                  <a:lnTo>
                    <a:pt x="14" y="95"/>
                  </a:lnTo>
                  <a:lnTo>
                    <a:pt x="0" y="95"/>
                  </a:lnTo>
                  <a:lnTo>
                    <a:pt x="0" y="81"/>
                  </a:lnTo>
                  <a:lnTo>
                    <a:pt x="14" y="81"/>
                  </a:lnTo>
                  <a:close/>
                  <a:moveTo>
                    <a:pt x="14" y="108"/>
                  </a:moveTo>
                  <a:lnTo>
                    <a:pt x="14" y="121"/>
                  </a:lnTo>
                  <a:lnTo>
                    <a:pt x="0" y="121"/>
                  </a:lnTo>
                  <a:lnTo>
                    <a:pt x="0" y="108"/>
                  </a:lnTo>
                  <a:lnTo>
                    <a:pt x="14" y="108"/>
                  </a:lnTo>
                  <a:close/>
                  <a:moveTo>
                    <a:pt x="14" y="135"/>
                  </a:moveTo>
                  <a:lnTo>
                    <a:pt x="14" y="149"/>
                  </a:lnTo>
                  <a:lnTo>
                    <a:pt x="0" y="149"/>
                  </a:lnTo>
                  <a:lnTo>
                    <a:pt x="0" y="135"/>
                  </a:lnTo>
                  <a:lnTo>
                    <a:pt x="14" y="135"/>
                  </a:lnTo>
                  <a:close/>
                  <a:moveTo>
                    <a:pt x="14" y="162"/>
                  </a:moveTo>
                  <a:lnTo>
                    <a:pt x="14" y="175"/>
                  </a:lnTo>
                  <a:lnTo>
                    <a:pt x="0" y="175"/>
                  </a:lnTo>
                  <a:lnTo>
                    <a:pt x="0" y="162"/>
                  </a:lnTo>
                  <a:lnTo>
                    <a:pt x="14" y="162"/>
                  </a:lnTo>
                  <a:close/>
                  <a:moveTo>
                    <a:pt x="14" y="189"/>
                  </a:moveTo>
                  <a:lnTo>
                    <a:pt x="14" y="202"/>
                  </a:lnTo>
                  <a:lnTo>
                    <a:pt x="0" y="202"/>
                  </a:lnTo>
                  <a:lnTo>
                    <a:pt x="0" y="189"/>
                  </a:lnTo>
                  <a:lnTo>
                    <a:pt x="14" y="189"/>
                  </a:lnTo>
                  <a:close/>
                  <a:moveTo>
                    <a:pt x="14" y="216"/>
                  </a:moveTo>
                  <a:lnTo>
                    <a:pt x="14" y="229"/>
                  </a:lnTo>
                  <a:lnTo>
                    <a:pt x="0" y="229"/>
                  </a:lnTo>
                  <a:lnTo>
                    <a:pt x="0" y="216"/>
                  </a:lnTo>
                  <a:lnTo>
                    <a:pt x="14" y="216"/>
                  </a:lnTo>
                  <a:close/>
                  <a:moveTo>
                    <a:pt x="14" y="243"/>
                  </a:moveTo>
                  <a:lnTo>
                    <a:pt x="14" y="256"/>
                  </a:lnTo>
                  <a:lnTo>
                    <a:pt x="0" y="256"/>
                  </a:lnTo>
                  <a:lnTo>
                    <a:pt x="0" y="243"/>
                  </a:lnTo>
                  <a:lnTo>
                    <a:pt x="14" y="243"/>
                  </a:lnTo>
                  <a:close/>
                  <a:moveTo>
                    <a:pt x="14" y="270"/>
                  </a:moveTo>
                  <a:lnTo>
                    <a:pt x="14" y="283"/>
                  </a:lnTo>
                  <a:lnTo>
                    <a:pt x="0" y="283"/>
                  </a:lnTo>
                  <a:lnTo>
                    <a:pt x="0" y="270"/>
                  </a:lnTo>
                  <a:lnTo>
                    <a:pt x="14" y="270"/>
                  </a:lnTo>
                  <a:close/>
                  <a:moveTo>
                    <a:pt x="14" y="297"/>
                  </a:moveTo>
                  <a:lnTo>
                    <a:pt x="14" y="310"/>
                  </a:lnTo>
                  <a:lnTo>
                    <a:pt x="0" y="310"/>
                  </a:lnTo>
                  <a:lnTo>
                    <a:pt x="0" y="297"/>
                  </a:lnTo>
                  <a:lnTo>
                    <a:pt x="14" y="297"/>
                  </a:lnTo>
                  <a:close/>
                  <a:moveTo>
                    <a:pt x="14" y="324"/>
                  </a:moveTo>
                  <a:lnTo>
                    <a:pt x="14" y="337"/>
                  </a:lnTo>
                  <a:lnTo>
                    <a:pt x="0" y="337"/>
                  </a:lnTo>
                  <a:lnTo>
                    <a:pt x="0" y="324"/>
                  </a:lnTo>
                  <a:lnTo>
                    <a:pt x="14" y="324"/>
                  </a:lnTo>
                  <a:close/>
                  <a:moveTo>
                    <a:pt x="14" y="351"/>
                  </a:moveTo>
                  <a:lnTo>
                    <a:pt x="14" y="364"/>
                  </a:lnTo>
                  <a:lnTo>
                    <a:pt x="0" y="364"/>
                  </a:lnTo>
                  <a:lnTo>
                    <a:pt x="0" y="351"/>
                  </a:lnTo>
                  <a:lnTo>
                    <a:pt x="14" y="351"/>
                  </a:lnTo>
                  <a:close/>
                  <a:moveTo>
                    <a:pt x="14" y="378"/>
                  </a:moveTo>
                  <a:lnTo>
                    <a:pt x="14" y="391"/>
                  </a:lnTo>
                  <a:lnTo>
                    <a:pt x="0" y="391"/>
                  </a:lnTo>
                  <a:lnTo>
                    <a:pt x="0" y="378"/>
                  </a:lnTo>
                  <a:lnTo>
                    <a:pt x="14" y="378"/>
                  </a:lnTo>
                  <a:close/>
                  <a:moveTo>
                    <a:pt x="14" y="404"/>
                  </a:moveTo>
                  <a:lnTo>
                    <a:pt x="14" y="418"/>
                  </a:lnTo>
                  <a:lnTo>
                    <a:pt x="0" y="418"/>
                  </a:lnTo>
                  <a:lnTo>
                    <a:pt x="0" y="404"/>
                  </a:lnTo>
                  <a:lnTo>
                    <a:pt x="14" y="404"/>
                  </a:lnTo>
                  <a:close/>
                  <a:moveTo>
                    <a:pt x="14" y="432"/>
                  </a:moveTo>
                  <a:lnTo>
                    <a:pt x="14" y="445"/>
                  </a:lnTo>
                  <a:lnTo>
                    <a:pt x="0" y="445"/>
                  </a:lnTo>
                  <a:lnTo>
                    <a:pt x="0" y="432"/>
                  </a:lnTo>
                  <a:lnTo>
                    <a:pt x="14" y="432"/>
                  </a:lnTo>
                  <a:close/>
                  <a:moveTo>
                    <a:pt x="14" y="458"/>
                  </a:moveTo>
                  <a:lnTo>
                    <a:pt x="14" y="472"/>
                  </a:lnTo>
                  <a:lnTo>
                    <a:pt x="0" y="472"/>
                  </a:lnTo>
                  <a:lnTo>
                    <a:pt x="0" y="458"/>
                  </a:lnTo>
                  <a:lnTo>
                    <a:pt x="14" y="458"/>
                  </a:lnTo>
                  <a:close/>
                  <a:moveTo>
                    <a:pt x="14" y="485"/>
                  </a:moveTo>
                  <a:lnTo>
                    <a:pt x="14" y="499"/>
                  </a:lnTo>
                  <a:lnTo>
                    <a:pt x="0" y="499"/>
                  </a:lnTo>
                  <a:lnTo>
                    <a:pt x="0" y="485"/>
                  </a:lnTo>
                  <a:lnTo>
                    <a:pt x="14" y="485"/>
                  </a:lnTo>
                  <a:close/>
                  <a:moveTo>
                    <a:pt x="14" y="512"/>
                  </a:moveTo>
                  <a:lnTo>
                    <a:pt x="14" y="526"/>
                  </a:lnTo>
                  <a:lnTo>
                    <a:pt x="0" y="526"/>
                  </a:lnTo>
                  <a:lnTo>
                    <a:pt x="0" y="512"/>
                  </a:lnTo>
                  <a:lnTo>
                    <a:pt x="14" y="512"/>
                  </a:lnTo>
                  <a:close/>
                  <a:moveTo>
                    <a:pt x="14" y="539"/>
                  </a:moveTo>
                  <a:lnTo>
                    <a:pt x="14" y="553"/>
                  </a:lnTo>
                  <a:lnTo>
                    <a:pt x="0" y="553"/>
                  </a:lnTo>
                  <a:lnTo>
                    <a:pt x="0" y="539"/>
                  </a:lnTo>
                  <a:lnTo>
                    <a:pt x="14" y="539"/>
                  </a:lnTo>
                  <a:close/>
                  <a:moveTo>
                    <a:pt x="14" y="566"/>
                  </a:moveTo>
                  <a:lnTo>
                    <a:pt x="14" y="580"/>
                  </a:lnTo>
                  <a:lnTo>
                    <a:pt x="0" y="580"/>
                  </a:lnTo>
                  <a:lnTo>
                    <a:pt x="0" y="566"/>
                  </a:lnTo>
                  <a:lnTo>
                    <a:pt x="14" y="566"/>
                  </a:lnTo>
                  <a:close/>
                  <a:moveTo>
                    <a:pt x="14" y="593"/>
                  </a:moveTo>
                  <a:lnTo>
                    <a:pt x="14" y="607"/>
                  </a:lnTo>
                  <a:lnTo>
                    <a:pt x="0" y="607"/>
                  </a:lnTo>
                  <a:lnTo>
                    <a:pt x="0" y="593"/>
                  </a:lnTo>
                  <a:lnTo>
                    <a:pt x="14" y="593"/>
                  </a:lnTo>
                  <a:close/>
                  <a:moveTo>
                    <a:pt x="14" y="620"/>
                  </a:moveTo>
                  <a:lnTo>
                    <a:pt x="14" y="634"/>
                  </a:lnTo>
                  <a:lnTo>
                    <a:pt x="0" y="634"/>
                  </a:lnTo>
                  <a:lnTo>
                    <a:pt x="0" y="620"/>
                  </a:lnTo>
                  <a:lnTo>
                    <a:pt x="14" y="620"/>
                  </a:lnTo>
                  <a:close/>
                  <a:moveTo>
                    <a:pt x="14" y="647"/>
                  </a:moveTo>
                  <a:lnTo>
                    <a:pt x="14" y="661"/>
                  </a:lnTo>
                  <a:lnTo>
                    <a:pt x="0" y="661"/>
                  </a:lnTo>
                  <a:lnTo>
                    <a:pt x="0" y="647"/>
                  </a:lnTo>
                  <a:lnTo>
                    <a:pt x="14" y="647"/>
                  </a:lnTo>
                  <a:close/>
                  <a:moveTo>
                    <a:pt x="14" y="674"/>
                  </a:moveTo>
                  <a:lnTo>
                    <a:pt x="14" y="687"/>
                  </a:lnTo>
                  <a:lnTo>
                    <a:pt x="0" y="687"/>
                  </a:lnTo>
                  <a:lnTo>
                    <a:pt x="0" y="674"/>
                  </a:lnTo>
                  <a:lnTo>
                    <a:pt x="14" y="674"/>
                  </a:lnTo>
                  <a:close/>
                  <a:moveTo>
                    <a:pt x="14" y="701"/>
                  </a:moveTo>
                  <a:lnTo>
                    <a:pt x="14" y="715"/>
                  </a:lnTo>
                  <a:lnTo>
                    <a:pt x="0" y="715"/>
                  </a:lnTo>
                  <a:lnTo>
                    <a:pt x="0" y="701"/>
                  </a:lnTo>
                  <a:lnTo>
                    <a:pt x="14" y="701"/>
                  </a:lnTo>
                  <a:close/>
                  <a:moveTo>
                    <a:pt x="14" y="728"/>
                  </a:moveTo>
                  <a:lnTo>
                    <a:pt x="14" y="741"/>
                  </a:lnTo>
                  <a:lnTo>
                    <a:pt x="0" y="741"/>
                  </a:lnTo>
                  <a:lnTo>
                    <a:pt x="0" y="728"/>
                  </a:lnTo>
                  <a:lnTo>
                    <a:pt x="14" y="728"/>
                  </a:lnTo>
                  <a:close/>
                  <a:moveTo>
                    <a:pt x="14" y="755"/>
                  </a:moveTo>
                  <a:lnTo>
                    <a:pt x="14" y="768"/>
                  </a:lnTo>
                  <a:lnTo>
                    <a:pt x="0" y="768"/>
                  </a:lnTo>
                  <a:lnTo>
                    <a:pt x="0" y="755"/>
                  </a:lnTo>
                  <a:lnTo>
                    <a:pt x="14" y="755"/>
                  </a:lnTo>
                  <a:close/>
                  <a:moveTo>
                    <a:pt x="14" y="782"/>
                  </a:moveTo>
                  <a:lnTo>
                    <a:pt x="14" y="795"/>
                  </a:lnTo>
                  <a:lnTo>
                    <a:pt x="0" y="795"/>
                  </a:lnTo>
                  <a:lnTo>
                    <a:pt x="0" y="782"/>
                  </a:lnTo>
                  <a:lnTo>
                    <a:pt x="14" y="782"/>
                  </a:lnTo>
                  <a:close/>
                  <a:moveTo>
                    <a:pt x="14" y="809"/>
                  </a:moveTo>
                  <a:lnTo>
                    <a:pt x="14" y="822"/>
                  </a:lnTo>
                  <a:lnTo>
                    <a:pt x="0" y="822"/>
                  </a:lnTo>
                  <a:lnTo>
                    <a:pt x="0" y="809"/>
                  </a:lnTo>
                  <a:lnTo>
                    <a:pt x="14" y="809"/>
                  </a:lnTo>
                  <a:close/>
                  <a:moveTo>
                    <a:pt x="14" y="836"/>
                  </a:moveTo>
                  <a:lnTo>
                    <a:pt x="14" y="849"/>
                  </a:lnTo>
                  <a:lnTo>
                    <a:pt x="0" y="849"/>
                  </a:lnTo>
                  <a:lnTo>
                    <a:pt x="0" y="836"/>
                  </a:lnTo>
                  <a:lnTo>
                    <a:pt x="14" y="836"/>
                  </a:lnTo>
                  <a:close/>
                  <a:moveTo>
                    <a:pt x="14" y="863"/>
                  </a:moveTo>
                  <a:lnTo>
                    <a:pt x="14" y="876"/>
                  </a:lnTo>
                  <a:lnTo>
                    <a:pt x="0" y="876"/>
                  </a:lnTo>
                  <a:lnTo>
                    <a:pt x="0" y="863"/>
                  </a:lnTo>
                  <a:lnTo>
                    <a:pt x="14" y="863"/>
                  </a:lnTo>
                  <a:close/>
                  <a:moveTo>
                    <a:pt x="14" y="890"/>
                  </a:moveTo>
                  <a:lnTo>
                    <a:pt x="14" y="903"/>
                  </a:lnTo>
                  <a:lnTo>
                    <a:pt x="0" y="903"/>
                  </a:lnTo>
                  <a:lnTo>
                    <a:pt x="0" y="890"/>
                  </a:lnTo>
                  <a:lnTo>
                    <a:pt x="14" y="890"/>
                  </a:lnTo>
                  <a:close/>
                  <a:moveTo>
                    <a:pt x="14" y="917"/>
                  </a:moveTo>
                  <a:lnTo>
                    <a:pt x="14" y="930"/>
                  </a:lnTo>
                  <a:lnTo>
                    <a:pt x="0" y="930"/>
                  </a:lnTo>
                  <a:lnTo>
                    <a:pt x="0" y="917"/>
                  </a:lnTo>
                  <a:lnTo>
                    <a:pt x="14" y="917"/>
                  </a:lnTo>
                  <a:close/>
                  <a:moveTo>
                    <a:pt x="14" y="944"/>
                  </a:moveTo>
                  <a:lnTo>
                    <a:pt x="14" y="957"/>
                  </a:lnTo>
                  <a:lnTo>
                    <a:pt x="0" y="957"/>
                  </a:lnTo>
                  <a:lnTo>
                    <a:pt x="0" y="944"/>
                  </a:lnTo>
                  <a:lnTo>
                    <a:pt x="14" y="944"/>
                  </a:lnTo>
                  <a:close/>
                  <a:moveTo>
                    <a:pt x="14" y="970"/>
                  </a:moveTo>
                  <a:lnTo>
                    <a:pt x="14" y="984"/>
                  </a:lnTo>
                  <a:lnTo>
                    <a:pt x="0" y="984"/>
                  </a:lnTo>
                  <a:lnTo>
                    <a:pt x="0" y="970"/>
                  </a:lnTo>
                  <a:lnTo>
                    <a:pt x="14" y="970"/>
                  </a:lnTo>
                  <a:close/>
                  <a:moveTo>
                    <a:pt x="14" y="998"/>
                  </a:moveTo>
                  <a:lnTo>
                    <a:pt x="14" y="1011"/>
                  </a:lnTo>
                  <a:lnTo>
                    <a:pt x="0" y="1011"/>
                  </a:lnTo>
                  <a:lnTo>
                    <a:pt x="0" y="998"/>
                  </a:lnTo>
                  <a:lnTo>
                    <a:pt x="14" y="998"/>
                  </a:lnTo>
                  <a:close/>
                  <a:moveTo>
                    <a:pt x="14" y="1024"/>
                  </a:moveTo>
                  <a:lnTo>
                    <a:pt x="14" y="1038"/>
                  </a:lnTo>
                  <a:lnTo>
                    <a:pt x="0" y="1038"/>
                  </a:lnTo>
                  <a:lnTo>
                    <a:pt x="0" y="1024"/>
                  </a:lnTo>
                  <a:lnTo>
                    <a:pt x="14" y="1024"/>
                  </a:lnTo>
                  <a:close/>
                  <a:moveTo>
                    <a:pt x="14" y="1051"/>
                  </a:moveTo>
                  <a:lnTo>
                    <a:pt x="14" y="1065"/>
                  </a:lnTo>
                  <a:lnTo>
                    <a:pt x="0" y="1065"/>
                  </a:lnTo>
                  <a:lnTo>
                    <a:pt x="0" y="1051"/>
                  </a:lnTo>
                  <a:lnTo>
                    <a:pt x="14" y="1051"/>
                  </a:lnTo>
                  <a:close/>
                  <a:moveTo>
                    <a:pt x="14" y="1078"/>
                  </a:moveTo>
                  <a:lnTo>
                    <a:pt x="14" y="1092"/>
                  </a:lnTo>
                  <a:lnTo>
                    <a:pt x="0" y="1092"/>
                  </a:lnTo>
                  <a:lnTo>
                    <a:pt x="0" y="1078"/>
                  </a:lnTo>
                  <a:lnTo>
                    <a:pt x="14" y="1078"/>
                  </a:lnTo>
                  <a:close/>
                  <a:moveTo>
                    <a:pt x="14" y="1105"/>
                  </a:moveTo>
                  <a:lnTo>
                    <a:pt x="14" y="1119"/>
                  </a:lnTo>
                  <a:lnTo>
                    <a:pt x="0" y="1119"/>
                  </a:lnTo>
                  <a:lnTo>
                    <a:pt x="0" y="1105"/>
                  </a:lnTo>
                  <a:lnTo>
                    <a:pt x="14" y="1105"/>
                  </a:lnTo>
                  <a:close/>
                  <a:moveTo>
                    <a:pt x="14" y="1132"/>
                  </a:moveTo>
                  <a:lnTo>
                    <a:pt x="14" y="1146"/>
                  </a:lnTo>
                  <a:lnTo>
                    <a:pt x="0" y="1146"/>
                  </a:lnTo>
                  <a:lnTo>
                    <a:pt x="0" y="1132"/>
                  </a:lnTo>
                  <a:lnTo>
                    <a:pt x="14" y="1132"/>
                  </a:lnTo>
                  <a:close/>
                  <a:moveTo>
                    <a:pt x="14" y="1159"/>
                  </a:moveTo>
                  <a:lnTo>
                    <a:pt x="14" y="1173"/>
                  </a:lnTo>
                  <a:lnTo>
                    <a:pt x="0" y="1173"/>
                  </a:lnTo>
                  <a:lnTo>
                    <a:pt x="0" y="1159"/>
                  </a:lnTo>
                  <a:lnTo>
                    <a:pt x="14" y="1159"/>
                  </a:lnTo>
                  <a:close/>
                  <a:moveTo>
                    <a:pt x="14" y="1186"/>
                  </a:moveTo>
                  <a:lnTo>
                    <a:pt x="14" y="1200"/>
                  </a:lnTo>
                  <a:lnTo>
                    <a:pt x="0" y="1200"/>
                  </a:lnTo>
                  <a:lnTo>
                    <a:pt x="0" y="1186"/>
                  </a:lnTo>
                  <a:lnTo>
                    <a:pt x="14" y="1186"/>
                  </a:lnTo>
                  <a:close/>
                  <a:moveTo>
                    <a:pt x="14" y="1213"/>
                  </a:moveTo>
                  <a:lnTo>
                    <a:pt x="14" y="1227"/>
                  </a:lnTo>
                  <a:lnTo>
                    <a:pt x="0" y="1227"/>
                  </a:lnTo>
                  <a:lnTo>
                    <a:pt x="0" y="1213"/>
                  </a:lnTo>
                  <a:lnTo>
                    <a:pt x="14" y="1213"/>
                  </a:lnTo>
                  <a:close/>
                  <a:moveTo>
                    <a:pt x="14" y="1240"/>
                  </a:moveTo>
                  <a:lnTo>
                    <a:pt x="14" y="1253"/>
                  </a:lnTo>
                  <a:lnTo>
                    <a:pt x="0" y="1253"/>
                  </a:lnTo>
                  <a:lnTo>
                    <a:pt x="0" y="1240"/>
                  </a:lnTo>
                  <a:lnTo>
                    <a:pt x="14" y="1240"/>
                  </a:lnTo>
                  <a:close/>
                  <a:moveTo>
                    <a:pt x="14" y="1267"/>
                  </a:moveTo>
                  <a:lnTo>
                    <a:pt x="14" y="1281"/>
                  </a:lnTo>
                  <a:lnTo>
                    <a:pt x="0" y="1281"/>
                  </a:lnTo>
                  <a:lnTo>
                    <a:pt x="0" y="1267"/>
                  </a:lnTo>
                  <a:lnTo>
                    <a:pt x="14" y="1267"/>
                  </a:lnTo>
                  <a:close/>
                  <a:moveTo>
                    <a:pt x="14" y="1294"/>
                  </a:moveTo>
                  <a:lnTo>
                    <a:pt x="14" y="1307"/>
                  </a:lnTo>
                  <a:lnTo>
                    <a:pt x="0" y="1307"/>
                  </a:lnTo>
                  <a:lnTo>
                    <a:pt x="0" y="1294"/>
                  </a:lnTo>
                  <a:lnTo>
                    <a:pt x="14" y="1294"/>
                  </a:lnTo>
                  <a:close/>
                  <a:moveTo>
                    <a:pt x="14" y="1321"/>
                  </a:moveTo>
                  <a:lnTo>
                    <a:pt x="14" y="1334"/>
                  </a:lnTo>
                  <a:lnTo>
                    <a:pt x="0" y="1334"/>
                  </a:lnTo>
                  <a:lnTo>
                    <a:pt x="0" y="1321"/>
                  </a:lnTo>
                  <a:lnTo>
                    <a:pt x="14" y="1321"/>
                  </a:lnTo>
                  <a:close/>
                  <a:moveTo>
                    <a:pt x="14" y="1348"/>
                  </a:moveTo>
                  <a:lnTo>
                    <a:pt x="14" y="1361"/>
                  </a:lnTo>
                  <a:lnTo>
                    <a:pt x="0" y="1361"/>
                  </a:lnTo>
                  <a:lnTo>
                    <a:pt x="0" y="1348"/>
                  </a:lnTo>
                  <a:lnTo>
                    <a:pt x="14" y="1348"/>
                  </a:lnTo>
                  <a:close/>
                  <a:moveTo>
                    <a:pt x="14" y="1375"/>
                  </a:moveTo>
                  <a:lnTo>
                    <a:pt x="14" y="1388"/>
                  </a:lnTo>
                  <a:lnTo>
                    <a:pt x="0" y="1388"/>
                  </a:lnTo>
                  <a:lnTo>
                    <a:pt x="0" y="1375"/>
                  </a:lnTo>
                  <a:lnTo>
                    <a:pt x="14" y="1375"/>
                  </a:lnTo>
                  <a:close/>
                  <a:moveTo>
                    <a:pt x="14" y="1402"/>
                  </a:moveTo>
                  <a:lnTo>
                    <a:pt x="14" y="1415"/>
                  </a:lnTo>
                  <a:lnTo>
                    <a:pt x="0" y="1415"/>
                  </a:lnTo>
                  <a:lnTo>
                    <a:pt x="0" y="1402"/>
                  </a:lnTo>
                  <a:lnTo>
                    <a:pt x="14" y="1402"/>
                  </a:lnTo>
                  <a:close/>
                  <a:moveTo>
                    <a:pt x="14" y="1429"/>
                  </a:moveTo>
                  <a:lnTo>
                    <a:pt x="14" y="1442"/>
                  </a:lnTo>
                  <a:lnTo>
                    <a:pt x="0" y="1442"/>
                  </a:lnTo>
                  <a:lnTo>
                    <a:pt x="0" y="1429"/>
                  </a:lnTo>
                  <a:lnTo>
                    <a:pt x="14" y="1429"/>
                  </a:lnTo>
                  <a:close/>
                  <a:moveTo>
                    <a:pt x="14" y="1455"/>
                  </a:moveTo>
                  <a:lnTo>
                    <a:pt x="14" y="1469"/>
                  </a:lnTo>
                  <a:lnTo>
                    <a:pt x="0" y="1469"/>
                  </a:lnTo>
                  <a:lnTo>
                    <a:pt x="0" y="1455"/>
                  </a:lnTo>
                  <a:lnTo>
                    <a:pt x="14" y="1455"/>
                  </a:lnTo>
                  <a:close/>
                  <a:moveTo>
                    <a:pt x="14" y="1483"/>
                  </a:moveTo>
                  <a:lnTo>
                    <a:pt x="14" y="1496"/>
                  </a:lnTo>
                  <a:lnTo>
                    <a:pt x="0" y="1496"/>
                  </a:lnTo>
                  <a:lnTo>
                    <a:pt x="0" y="1483"/>
                  </a:lnTo>
                  <a:lnTo>
                    <a:pt x="14" y="1483"/>
                  </a:lnTo>
                  <a:close/>
                  <a:moveTo>
                    <a:pt x="14" y="1510"/>
                  </a:moveTo>
                  <a:lnTo>
                    <a:pt x="14" y="1523"/>
                  </a:lnTo>
                  <a:lnTo>
                    <a:pt x="0" y="1523"/>
                  </a:lnTo>
                  <a:lnTo>
                    <a:pt x="0" y="1510"/>
                  </a:lnTo>
                  <a:lnTo>
                    <a:pt x="14" y="1510"/>
                  </a:lnTo>
                  <a:close/>
                  <a:moveTo>
                    <a:pt x="14" y="1536"/>
                  </a:moveTo>
                  <a:lnTo>
                    <a:pt x="14" y="1550"/>
                  </a:lnTo>
                  <a:lnTo>
                    <a:pt x="0" y="1550"/>
                  </a:lnTo>
                  <a:lnTo>
                    <a:pt x="0" y="1536"/>
                  </a:lnTo>
                  <a:lnTo>
                    <a:pt x="14" y="1536"/>
                  </a:lnTo>
                  <a:close/>
                  <a:moveTo>
                    <a:pt x="14" y="1564"/>
                  </a:moveTo>
                  <a:lnTo>
                    <a:pt x="14" y="1577"/>
                  </a:lnTo>
                  <a:lnTo>
                    <a:pt x="0" y="1577"/>
                  </a:lnTo>
                  <a:lnTo>
                    <a:pt x="0" y="1564"/>
                  </a:lnTo>
                  <a:lnTo>
                    <a:pt x="14" y="1564"/>
                  </a:lnTo>
                  <a:close/>
                  <a:moveTo>
                    <a:pt x="14" y="1590"/>
                  </a:moveTo>
                  <a:lnTo>
                    <a:pt x="14" y="1604"/>
                  </a:lnTo>
                  <a:lnTo>
                    <a:pt x="0" y="1604"/>
                  </a:lnTo>
                  <a:lnTo>
                    <a:pt x="0" y="1590"/>
                  </a:lnTo>
                  <a:lnTo>
                    <a:pt x="14" y="1590"/>
                  </a:lnTo>
                  <a:close/>
                  <a:moveTo>
                    <a:pt x="14" y="1617"/>
                  </a:moveTo>
                  <a:lnTo>
                    <a:pt x="14" y="1631"/>
                  </a:lnTo>
                  <a:lnTo>
                    <a:pt x="0" y="1631"/>
                  </a:lnTo>
                  <a:lnTo>
                    <a:pt x="0" y="1617"/>
                  </a:lnTo>
                  <a:lnTo>
                    <a:pt x="14" y="1617"/>
                  </a:lnTo>
                  <a:close/>
                  <a:moveTo>
                    <a:pt x="14" y="1644"/>
                  </a:moveTo>
                  <a:lnTo>
                    <a:pt x="14" y="1658"/>
                  </a:lnTo>
                  <a:lnTo>
                    <a:pt x="0" y="1658"/>
                  </a:lnTo>
                  <a:lnTo>
                    <a:pt x="0" y="1644"/>
                  </a:lnTo>
                  <a:lnTo>
                    <a:pt x="14" y="1644"/>
                  </a:lnTo>
                  <a:close/>
                  <a:moveTo>
                    <a:pt x="14" y="1671"/>
                  </a:moveTo>
                  <a:lnTo>
                    <a:pt x="14" y="1685"/>
                  </a:lnTo>
                  <a:lnTo>
                    <a:pt x="0" y="1685"/>
                  </a:lnTo>
                  <a:lnTo>
                    <a:pt x="0" y="1671"/>
                  </a:lnTo>
                  <a:lnTo>
                    <a:pt x="14" y="1671"/>
                  </a:lnTo>
                  <a:close/>
                  <a:moveTo>
                    <a:pt x="14" y="1698"/>
                  </a:moveTo>
                  <a:lnTo>
                    <a:pt x="14" y="1712"/>
                  </a:lnTo>
                  <a:lnTo>
                    <a:pt x="0" y="1712"/>
                  </a:lnTo>
                  <a:lnTo>
                    <a:pt x="0" y="1698"/>
                  </a:lnTo>
                  <a:lnTo>
                    <a:pt x="14" y="1698"/>
                  </a:lnTo>
                  <a:close/>
                  <a:moveTo>
                    <a:pt x="14" y="1725"/>
                  </a:moveTo>
                  <a:lnTo>
                    <a:pt x="14" y="1738"/>
                  </a:lnTo>
                  <a:lnTo>
                    <a:pt x="0" y="1738"/>
                  </a:lnTo>
                  <a:lnTo>
                    <a:pt x="0" y="1725"/>
                  </a:lnTo>
                  <a:lnTo>
                    <a:pt x="14" y="1725"/>
                  </a:lnTo>
                  <a:close/>
                  <a:moveTo>
                    <a:pt x="14" y="1752"/>
                  </a:moveTo>
                  <a:lnTo>
                    <a:pt x="14" y="1766"/>
                  </a:lnTo>
                  <a:lnTo>
                    <a:pt x="0" y="1766"/>
                  </a:lnTo>
                  <a:lnTo>
                    <a:pt x="0" y="1752"/>
                  </a:lnTo>
                  <a:lnTo>
                    <a:pt x="14" y="1752"/>
                  </a:lnTo>
                  <a:close/>
                  <a:moveTo>
                    <a:pt x="14" y="1779"/>
                  </a:moveTo>
                  <a:lnTo>
                    <a:pt x="14" y="1792"/>
                  </a:lnTo>
                  <a:lnTo>
                    <a:pt x="0" y="1792"/>
                  </a:lnTo>
                  <a:lnTo>
                    <a:pt x="0" y="1779"/>
                  </a:lnTo>
                  <a:lnTo>
                    <a:pt x="14" y="1779"/>
                  </a:lnTo>
                  <a:close/>
                  <a:moveTo>
                    <a:pt x="14" y="1806"/>
                  </a:moveTo>
                  <a:lnTo>
                    <a:pt x="14" y="1819"/>
                  </a:lnTo>
                  <a:lnTo>
                    <a:pt x="0" y="1819"/>
                  </a:lnTo>
                  <a:lnTo>
                    <a:pt x="0" y="1806"/>
                  </a:lnTo>
                  <a:lnTo>
                    <a:pt x="14" y="1806"/>
                  </a:lnTo>
                  <a:close/>
                  <a:moveTo>
                    <a:pt x="14" y="1833"/>
                  </a:moveTo>
                  <a:lnTo>
                    <a:pt x="14" y="1846"/>
                  </a:lnTo>
                  <a:lnTo>
                    <a:pt x="0" y="1846"/>
                  </a:lnTo>
                  <a:lnTo>
                    <a:pt x="0" y="1833"/>
                  </a:lnTo>
                  <a:lnTo>
                    <a:pt x="14" y="1833"/>
                  </a:lnTo>
                  <a:close/>
                  <a:moveTo>
                    <a:pt x="14" y="1860"/>
                  </a:moveTo>
                  <a:lnTo>
                    <a:pt x="14" y="1873"/>
                  </a:lnTo>
                  <a:lnTo>
                    <a:pt x="0" y="1873"/>
                  </a:lnTo>
                  <a:lnTo>
                    <a:pt x="0" y="1860"/>
                  </a:lnTo>
                  <a:lnTo>
                    <a:pt x="14" y="1860"/>
                  </a:lnTo>
                  <a:close/>
                  <a:moveTo>
                    <a:pt x="14" y="1887"/>
                  </a:moveTo>
                  <a:lnTo>
                    <a:pt x="14" y="1900"/>
                  </a:lnTo>
                  <a:lnTo>
                    <a:pt x="0" y="1900"/>
                  </a:lnTo>
                  <a:lnTo>
                    <a:pt x="0" y="1887"/>
                  </a:lnTo>
                  <a:lnTo>
                    <a:pt x="14" y="1887"/>
                  </a:lnTo>
                  <a:close/>
                  <a:moveTo>
                    <a:pt x="14" y="1914"/>
                  </a:moveTo>
                  <a:lnTo>
                    <a:pt x="14" y="1927"/>
                  </a:lnTo>
                  <a:lnTo>
                    <a:pt x="0" y="1927"/>
                  </a:lnTo>
                  <a:lnTo>
                    <a:pt x="0" y="1914"/>
                  </a:lnTo>
                  <a:lnTo>
                    <a:pt x="14" y="1914"/>
                  </a:lnTo>
                  <a:close/>
                  <a:moveTo>
                    <a:pt x="14" y="1941"/>
                  </a:moveTo>
                  <a:lnTo>
                    <a:pt x="14" y="1954"/>
                  </a:lnTo>
                  <a:lnTo>
                    <a:pt x="0" y="1954"/>
                  </a:lnTo>
                  <a:lnTo>
                    <a:pt x="0" y="1941"/>
                  </a:lnTo>
                  <a:lnTo>
                    <a:pt x="14" y="1941"/>
                  </a:lnTo>
                  <a:close/>
                  <a:moveTo>
                    <a:pt x="14" y="1968"/>
                  </a:moveTo>
                  <a:lnTo>
                    <a:pt x="14" y="1981"/>
                  </a:lnTo>
                  <a:lnTo>
                    <a:pt x="0" y="1981"/>
                  </a:lnTo>
                  <a:lnTo>
                    <a:pt x="0" y="1968"/>
                  </a:lnTo>
                  <a:lnTo>
                    <a:pt x="14" y="1968"/>
                  </a:lnTo>
                  <a:close/>
                  <a:moveTo>
                    <a:pt x="14" y="1995"/>
                  </a:moveTo>
                  <a:lnTo>
                    <a:pt x="14" y="2008"/>
                  </a:lnTo>
                  <a:lnTo>
                    <a:pt x="0" y="2008"/>
                  </a:lnTo>
                  <a:lnTo>
                    <a:pt x="0" y="1995"/>
                  </a:lnTo>
                  <a:lnTo>
                    <a:pt x="14" y="1995"/>
                  </a:lnTo>
                  <a:close/>
                  <a:moveTo>
                    <a:pt x="14" y="2021"/>
                  </a:moveTo>
                  <a:lnTo>
                    <a:pt x="14" y="2035"/>
                  </a:lnTo>
                  <a:lnTo>
                    <a:pt x="0" y="2035"/>
                  </a:lnTo>
                  <a:lnTo>
                    <a:pt x="0" y="2021"/>
                  </a:lnTo>
                  <a:lnTo>
                    <a:pt x="14" y="2021"/>
                  </a:lnTo>
                  <a:close/>
                  <a:moveTo>
                    <a:pt x="14" y="2049"/>
                  </a:moveTo>
                  <a:lnTo>
                    <a:pt x="14" y="2062"/>
                  </a:lnTo>
                  <a:lnTo>
                    <a:pt x="0" y="2062"/>
                  </a:lnTo>
                  <a:lnTo>
                    <a:pt x="0" y="2049"/>
                  </a:lnTo>
                  <a:lnTo>
                    <a:pt x="14" y="2049"/>
                  </a:lnTo>
                  <a:close/>
                  <a:moveTo>
                    <a:pt x="14" y="2075"/>
                  </a:moveTo>
                  <a:lnTo>
                    <a:pt x="14" y="2089"/>
                  </a:lnTo>
                  <a:lnTo>
                    <a:pt x="0" y="2089"/>
                  </a:lnTo>
                  <a:lnTo>
                    <a:pt x="0" y="2075"/>
                  </a:lnTo>
                  <a:lnTo>
                    <a:pt x="14" y="2075"/>
                  </a:lnTo>
                  <a:close/>
                  <a:moveTo>
                    <a:pt x="14" y="2102"/>
                  </a:moveTo>
                  <a:lnTo>
                    <a:pt x="14" y="2116"/>
                  </a:lnTo>
                  <a:lnTo>
                    <a:pt x="0" y="2116"/>
                  </a:lnTo>
                  <a:lnTo>
                    <a:pt x="0" y="2102"/>
                  </a:lnTo>
                  <a:lnTo>
                    <a:pt x="14" y="2102"/>
                  </a:lnTo>
                  <a:close/>
                  <a:moveTo>
                    <a:pt x="14" y="2129"/>
                  </a:moveTo>
                  <a:lnTo>
                    <a:pt x="14" y="2143"/>
                  </a:lnTo>
                  <a:lnTo>
                    <a:pt x="0" y="2143"/>
                  </a:lnTo>
                  <a:lnTo>
                    <a:pt x="0" y="2129"/>
                  </a:lnTo>
                  <a:lnTo>
                    <a:pt x="14" y="2129"/>
                  </a:lnTo>
                  <a:close/>
                  <a:moveTo>
                    <a:pt x="14" y="2156"/>
                  </a:moveTo>
                  <a:lnTo>
                    <a:pt x="14" y="2170"/>
                  </a:lnTo>
                  <a:lnTo>
                    <a:pt x="0" y="2170"/>
                  </a:lnTo>
                  <a:lnTo>
                    <a:pt x="0" y="2156"/>
                  </a:lnTo>
                  <a:lnTo>
                    <a:pt x="14" y="2156"/>
                  </a:lnTo>
                  <a:close/>
                  <a:moveTo>
                    <a:pt x="14" y="2183"/>
                  </a:moveTo>
                  <a:lnTo>
                    <a:pt x="14" y="2197"/>
                  </a:lnTo>
                  <a:lnTo>
                    <a:pt x="0" y="2197"/>
                  </a:lnTo>
                  <a:lnTo>
                    <a:pt x="0" y="2183"/>
                  </a:lnTo>
                  <a:lnTo>
                    <a:pt x="14" y="2183"/>
                  </a:lnTo>
                  <a:close/>
                  <a:moveTo>
                    <a:pt x="14" y="2210"/>
                  </a:moveTo>
                  <a:lnTo>
                    <a:pt x="14" y="2224"/>
                  </a:lnTo>
                  <a:lnTo>
                    <a:pt x="0" y="2224"/>
                  </a:lnTo>
                  <a:lnTo>
                    <a:pt x="0" y="2210"/>
                  </a:lnTo>
                  <a:lnTo>
                    <a:pt x="14" y="2210"/>
                  </a:lnTo>
                  <a:close/>
                  <a:moveTo>
                    <a:pt x="14" y="2237"/>
                  </a:moveTo>
                  <a:lnTo>
                    <a:pt x="14" y="2251"/>
                  </a:lnTo>
                  <a:lnTo>
                    <a:pt x="0" y="2251"/>
                  </a:lnTo>
                  <a:lnTo>
                    <a:pt x="0" y="2237"/>
                  </a:lnTo>
                  <a:lnTo>
                    <a:pt x="14" y="2237"/>
                  </a:lnTo>
                  <a:close/>
                  <a:moveTo>
                    <a:pt x="14" y="2264"/>
                  </a:moveTo>
                  <a:lnTo>
                    <a:pt x="14" y="2278"/>
                  </a:lnTo>
                  <a:lnTo>
                    <a:pt x="0" y="2278"/>
                  </a:lnTo>
                  <a:lnTo>
                    <a:pt x="0" y="2264"/>
                  </a:lnTo>
                  <a:lnTo>
                    <a:pt x="14" y="2264"/>
                  </a:lnTo>
                  <a:close/>
                  <a:moveTo>
                    <a:pt x="14" y="2291"/>
                  </a:moveTo>
                  <a:lnTo>
                    <a:pt x="14" y="2304"/>
                  </a:lnTo>
                  <a:lnTo>
                    <a:pt x="0" y="2304"/>
                  </a:lnTo>
                  <a:lnTo>
                    <a:pt x="0" y="2291"/>
                  </a:lnTo>
                  <a:lnTo>
                    <a:pt x="14" y="2291"/>
                  </a:lnTo>
                  <a:close/>
                  <a:moveTo>
                    <a:pt x="14" y="2318"/>
                  </a:moveTo>
                  <a:lnTo>
                    <a:pt x="14" y="2332"/>
                  </a:lnTo>
                  <a:lnTo>
                    <a:pt x="0" y="2332"/>
                  </a:lnTo>
                  <a:lnTo>
                    <a:pt x="0" y="2318"/>
                  </a:lnTo>
                  <a:lnTo>
                    <a:pt x="14" y="2318"/>
                  </a:lnTo>
                  <a:close/>
                  <a:moveTo>
                    <a:pt x="14" y="2345"/>
                  </a:moveTo>
                  <a:lnTo>
                    <a:pt x="14" y="2358"/>
                  </a:lnTo>
                  <a:lnTo>
                    <a:pt x="0" y="2358"/>
                  </a:lnTo>
                  <a:lnTo>
                    <a:pt x="0" y="2345"/>
                  </a:lnTo>
                  <a:lnTo>
                    <a:pt x="14" y="2345"/>
                  </a:lnTo>
                  <a:close/>
                </a:path>
              </a:pathLst>
            </a:custGeom>
            <a:solidFill>
              <a:srgbClr val="000000"/>
            </a:solidFill>
            <a:ln w="0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97" name="Freeform 93">
              <a:extLst>
                <a:ext uri="{FF2B5EF4-FFF2-40B4-BE49-F238E27FC236}">
                  <a16:creationId xmlns:a16="http://schemas.microsoft.com/office/drawing/2014/main" id="{4D960EE1-FFDD-4BF6-BD2D-2D1DCE82F52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040324" y="2655977"/>
              <a:ext cx="20668" cy="3748911"/>
            </a:xfrm>
            <a:custGeom>
              <a:avLst/>
              <a:gdLst>
                <a:gd name="T0" fmla="*/ 13 w 13"/>
                <a:gd name="T1" fmla="*/ 41 h 2358"/>
                <a:gd name="T2" fmla="*/ 0 w 13"/>
                <a:gd name="T3" fmla="*/ 54 h 2358"/>
                <a:gd name="T4" fmla="*/ 13 w 13"/>
                <a:gd name="T5" fmla="*/ 108 h 2358"/>
                <a:gd name="T6" fmla="*/ 0 w 13"/>
                <a:gd name="T7" fmla="*/ 149 h 2358"/>
                <a:gd name="T8" fmla="*/ 13 w 13"/>
                <a:gd name="T9" fmla="*/ 162 h 2358"/>
                <a:gd name="T10" fmla="*/ 13 w 13"/>
                <a:gd name="T11" fmla="*/ 229 h 2358"/>
                <a:gd name="T12" fmla="*/ 0 w 13"/>
                <a:gd name="T13" fmla="*/ 243 h 2358"/>
                <a:gd name="T14" fmla="*/ 13 w 13"/>
                <a:gd name="T15" fmla="*/ 297 h 2358"/>
                <a:gd name="T16" fmla="*/ 0 w 13"/>
                <a:gd name="T17" fmla="*/ 337 h 2358"/>
                <a:gd name="T18" fmla="*/ 13 w 13"/>
                <a:gd name="T19" fmla="*/ 351 h 2358"/>
                <a:gd name="T20" fmla="*/ 13 w 13"/>
                <a:gd name="T21" fmla="*/ 418 h 2358"/>
                <a:gd name="T22" fmla="*/ 0 w 13"/>
                <a:gd name="T23" fmla="*/ 432 h 2358"/>
                <a:gd name="T24" fmla="*/ 13 w 13"/>
                <a:gd name="T25" fmla="*/ 485 h 2358"/>
                <a:gd name="T26" fmla="*/ 0 w 13"/>
                <a:gd name="T27" fmla="*/ 526 h 2358"/>
                <a:gd name="T28" fmla="*/ 13 w 13"/>
                <a:gd name="T29" fmla="*/ 539 h 2358"/>
                <a:gd name="T30" fmla="*/ 13 w 13"/>
                <a:gd name="T31" fmla="*/ 607 h 2358"/>
                <a:gd name="T32" fmla="*/ 0 w 13"/>
                <a:gd name="T33" fmla="*/ 620 h 2358"/>
                <a:gd name="T34" fmla="*/ 13 w 13"/>
                <a:gd name="T35" fmla="*/ 674 h 2358"/>
                <a:gd name="T36" fmla="*/ 0 w 13"/>
                <a:gd name="T37" fmla="*/ 715 h 2358"/>
                <a:gd name="T38" fmla="*/ 13 w 13"/>
                <a:gd name="T39" fmla="*/ 728 h 2358"/>
                <a:gd name="T40" fmla="*/ 13 w 13"/>
                <a:gd name="T41" fmla="*/ 795 h 2358"/>
                <a:gd name="T42" fmla="*/ 0 w 13"/>
                <a:gd name="T43" fmla="*/ 809 h 2358"/>
                <a:gd name="T44" fmla="*/ 13 w 13"/>
                <a:gd name="T45" fmla="*/ 863 h 2358"/>
                <a:gd name="T46" fmla="*/ 0 w 13"/>
                <a:gd name="T47" fmla="*/ 903 h 2358"/>
                <a:gd name="T48" fmla="*/ 13 w 13"/>
                <a:gd name="T49" fmla="*/ 917 h 2358"/>
                <a:gd name="T50" fmla="*/ 13 w 13"/>
                <a:gd name="T51" fmla="*/ 984 h 2358"/>
                <a:gd name="T52" fmla="*/ 0 w 13"/>
                <a:gd name="T53" fmla="*/ 998 h 2358"/>
                <a:gd name="T54" fmla="*/ 13 w 13"/>
                <a:gd name="T55" fmla="*/ 1051 h 2358"/>
                <a:gd name="T56" fmla="*/ 0 w 13"/>
                <a:gd name="T57" fmla="*/ 1092 h 2358"/>
                <a:gd name="T58" fmla="*/ 13 w 13"/>
                <a:gd name="T59" fmla="*/ 1105 h 2358"/>
                <a:gd name="T60" fmla="*/ 13 w 13"/>
                <a:gd name="T61" fmla="*/ 1173 h 2358"/>
                <a:gd name="T62" fmla="*/ 0 w 13"/>
                <a:gd name="T63" fmla="*/ 1186 h 2358"/>
                <a:gd name="T64" fmla="*/ 13 w 13"/>
                <a:gd name="T65" fmla="*/ 1240 h 2358"/>
                <a:gd name="T66" fmla="*/ 0 w 13"/>
                <a:gd name="T67" fmla="*/ 1281 h 2358"/>
                <a:gd name="T68" fmla="*/ 13 w 13"/>
                <a:gd name="T69" fmla="*/ 1294 h 2358"/>
                <a:gd name="T70" fmla="*/ 13 w 13"/>
                <a:gd name="T71" fmla="*/ 1361 h 2358"/>
                <a:gd name="T72" fmla="*/ 0 w 13"/>
                <a:gd name="T73" fmla="*/ 1375 h 2358"/>
                <a:gd name="T74" fmla="*/ 13 w 13"/>
                <a:gd name="T75" fmla="*/ 1429 h 2358"/>
                <a:gd name="T76" fmla="*/ 0 w 13"/>
                <a:gd name="T77" fmla="*/ 1469 h 2358"/>
                <a:gd name="T78" fmla="*/ 13 w 13"/>
                <a:gd name="T79" fmla="*/ 1483 h 2358"/>
                <a:gd name="T80" fmla="*/ 13 w 13"/>
                <a:gd name="T81" fmla="*/ 1550 h 2358"/>
                <a:gd name="T82" fmla="*/ 0 w 13"/>
                <a:gd name="T83" fmla="*/ 1564 h 2358"/>
                <a:gd name="T84" fmla="*/ 13 w 13"/>
                <a:gd name="T85" fmla="*/ 1617 h 2358"/>
                <a:gd name="T86" fmla="*/ 0 w 13"/>
                <a:gd name="T87" fmla="*/ 1658 h 2358"/>
                <a:gd name="T88" fmla="*/ 13 w 13"/>
                <a:gd name="T89" fmla="*/ 1671 h 2358"/>
                <a:gd name="T90" fmla="*/ 13 w 13"/>
                <a:gd name="T91" fmla="*/ 1738 h 2358"/>
                <a:gd name="T92" fmla="*/ 0 w 13"/>
                <a:gd name="T93" fmla="*/ 1752 h 2358"/>
                <a:gd name="T94" fmla="*/ 13 w 13"/>
                <a:gd name="T95" fmla="*/ 1806 h 2358"/>
                <a:gd name="T96" fmla="*/ 0 w 13"/>
                <a:gd name="T97" fmla="*/ 1846 h 2358"/>
                <a:gd name="T98" fmla="*/ 13 w 13"/>
                <a:gd name="T99" fmla="*/ 1860 h 2358"/>
                <a:gd name="T100" fmla="*/ 13 w 13"/>
                <a:gd name="T101" fmla="*/ 1927 h 2358"/>
                <a:gd name="T102" fmla="*/ 0 w 13"/>
                <a:gd name="T103" fmla="*/ 1941 h 2358"/>
                <a:gd name="T104" fmla="*/ 13 w 13"/>
                <a:gd name="T105" fmla="*/ 1995 h 2358"/>
                <a:gd name="T106" fmla="*/ 0 w 13"/>
                <a:gd name="T107" fmla="*/ 2035 h 2358"/>
                <a:gd name="T108" fmla="*/ 13 w 13"/>
                <a:gd name="T109" fmla="*/ 2049 h 2358"/>
                <a:gd name="T110" fmla="*/ 13 w 13"/>
                <a:gd name="T111" fmla="*/ 2116 h 2358"/>
                <a:gd name="T112" fmla="*/ 0 w 13"/>
                <a:gd name="T113" fmla="*/ 2129 h 2358"/>
                <a:gd name="T114" fmla="*/ 13 w 13"/>
                <a:gd name="T115" fmla="*/ 2183 h 2358"/>
                <a:gd name="T116" fmla="*/ 0 w 13"/>
                <a:gd name="T117" fmla="*/ 2224 h 2358"/>
                <a:gd name="T118" fmla="*/ 13 w 13"/>
                <a:gd name="T119" fmla="*/ 2237 h 2358"/>
                <a:gd name="T120" fmla="*/ 13 w 13"/>
                <a:gd name="T121" fmla="*/ 2304 h 2358"/>
                <a:gd name="T122" fmla="*/ 0 w 13"/>
                <a:gd name="T123" fmla="*/ 2318 h 23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3" h="2358">
                  <a:moveTo>
                    <a:pt x="13" y="0"/>
                  </a:moveTo>
                  <a:lnTo>
                    <a:pt x="13" y="14"/>
                  </a:lnTo>
                  <a:lnTo>
                    <a:pt x="0" y="14"/>
                  </a:lnTo>
                  <a:lnTo>
                    <a:pt x="0" y="0"/>
                  </a:lnTo>
                  <a:lnTo>
                    <a:pt x="13" y="0"/>
                  </a:lnTo>
                  <a:close/>
                  <a:moveTo>
                    <a:pt x="13" y="27"/>
                  </a:moveTo>
                  <a:lnTo>
                    <a:pt x="13" y="41"/>
                  </a:lnTo>
                  <a:lnTo>
                    <a:pt x="0" y="41"/>
                  </a:lnTo>
                  <a:lnTo>
                    <a:pt x="0" y="27"/>
                  </a:lnTo>
                  <a:lnTo>
                    <a:pt x="13" y="27"/>
                  </a:lnTo>
                  <a:close/>
                  <a:moveTo>
                    <a:pt x="13" y="54"/>
                  </a:moveTo>
                  <a:lnTo>
                    <a:pt x="13" y="68"/>
                  </a:lnTo>
                  <a:lnTo>
                    <a:pt x="0" y="68"/>
                  </a:lnTo>
                  <a:lnTo>
                    <a:pt x="0" y="54"/>
                  </a:lnTo>
                  <a:lnTo>
                    <a:pt x="13" y="54"/>
                  </a:lnTo>
                  <a:close/>
                  <a:moveTo>
                    <a:pt x="13" y="81"/>
                  </a:moveTo>
                  <a:lnTo>
                    <a:pt x="13" y="95"/>
                  </a:lnTo>
                  <a:lnTo>
                    <a:pt x="0" y="95"/>
                  </a:lnTo>
                  <a:lnTo>
                    <a:pt x="0" y="81"/>
                  </a:lnTo>
                  <a:lnTo>
                    <a:pt x="13" y="81"/>
                  </a:lnTo>
                  <a:close/>
                  <a:moveTo>
                    <a:pt x="13" y="108"/>
                  </a:moveTo>
                  <a:lnTo>
                    <a:pt x="13" y="121"/>
                  </a:lnTo>
                  <a:lnTo>
                    <a:pt x="0" y="121"/>
                  </a:lnTo>
                  <a:lnTo>
                    <a:pt x="0" y="108"/>
                  </a:lnTo>
                  <a:lnTo>
                    <a:pt x="13" y="108"/>
                  </a:lnTo>
                  <a:close/>
                  <a:moveTo>
                    <a:pt x="13" y="135"/>
                  </a:moveTo>
                  <a:lnTo>
                    <a:pt x="13" y="149"/>
                  </a:lnTo>
                  <a:lnTo>
                    <a:pt x="0" y="149"/>
                  </a:lnTo>
                  <a:lnTo>
                    <a:pt x="0" y="135"/>
                  </a:lnTo>
                  <a:lnTo>
                    <a:pt x="13" y="135"/>
                  </a:lnTo>
                  <a:close/>
                  <a:moveTo>
                    <a:pt x="13" y="162"/>
                  </a:moveTo>
                  <a:lnTo>
                    <a:pt x="13" y="175"/>
                  </a:lnTo>
                  <a:lnTo>
                    <a:pt x="0" y="175"/>
                  </a:lnTo>
                  <a:lnTo>
                    <a:pt x="0" y="162"/>
                  </a:lnTo>
                  <a:lnTo>
                    <a:pt x="13" y="162"/>
                  </a:lnTo>
                  <a:close/>
                  <a:moveTo>
                    <a:pt x="13" y="189"/>
                  </a:moveTo>
                  <a:lnTo>
                    <a:pt x="13" y="202"/>
                  </a:lnTo>
                  <a:lnTo>
                    <a:pt x="0" y="202"/>
                  </a:lnTo>
                  <a:lnTo>
                    <a:pt x="0" y="189"/>
                  </a:lnTo>
                  <a:lnTo>
                    <a:pt x="13" y="189"/>
                  </a:lnTo>
                  <a:close/>
                  <a:moveTo>
                    <a:pt x="13" y="216"/>
                  </a:moveTo>
                  <a:lnTo>
                    <a:pt x="13" y="229"/>
                  </a:lnTo>
                  <a:lnTo>
                    <a:pt x="0" y="229"/>
                  </a:lnTo>
                  <a:lnTo>
                    <a:pt x="0" y="216"/>
                  </a:lnTo>
                  <a:lnTo>
                    <a:pt x="13" y="216"/>
                  </a:lnTo>
                  <a:close/>
                  <a:moveTo>
                    <a:pt x="13" y="243"/>
                  </a:moveTo>
                  <a:lnTo>
                    <a:pt x="13" y="256"/>
                  </a:lnTo>
                  <a:lnTo>
                    <a:pt x="0" y="256"/>
                  </a:lnTo>
                  <a:lnTo>
                    <a:pt x="0" y="243"/>
                  </a:lnTo>
                  <a:lnTo>
                    <a:pt x="13" y="243"/>
                  </a:lnTo>
                  <a:close/>
                  <a:moveTo>
                    <a:pt x="13" y="270"/>
                  </a:moveTo>
                  <a:lnTo>
                    <a:pt x="13" y="283"/>
                  </a:lnTo>
                  <a:lnTo>
                    <a:pt x="0" y="283"/>
                  </a:lnTo>
                  <a:lnTo>
                    <a:pt x="0" y="270"/>
                  </a:lnTo>
                  <a:lnTo>
                    <a:pt x="13" y="270"/>
                  </a:lnTo>
                  <a:close/>
                  <a:moveTo>
                    <a:pt x="13" y="297"/>
                  </a:moveTo>
                  <a:lnTo>
                    <a:pt x="13" y="310"/>
                  </a:lnTo>
                  <a:lnTo>
                    <a:pt x="0" y="310"/>
                  </a:lnTo>
                  <a:lnTo>
                    <a:pt x="0" y="297"/>
                  </a:lnTo>
                  <a:lnTo>
                    <a:pt x="13" y="297"/>
                  </a:lnTo>
                  <a:close/>
                  <a:moveTo>
                    <a:pt x="13" y="324"/>
                  </a:moveTo>
                  <a:lnTo>
                    <a:pt x="13" y="337"/>
                  </a:lnTo>
                  <a:lnTo>
                    <a:pt x="0" y="337"/>
                  </a:lnTo>
                  <a:lnTo>
                    <a:pt x="0" y="324"/>
                  </a:lnTo>
                  <a:lnTo>
                    <a:pt x="13" y="324"/>
                  </a:lnTo>
                  <a:close/>
                  <a:moveTo>
                    <a:pt x="13" y="351"/>
                  </a:moveTo>
                  <a:lnTo>
                    <a:pt x="13" y="364"/>
                  </a:lnTo>
                  <a:lnTo>
                    <a:pt x="0" y="364"/>
                  </a:lnTo>
                  <a:lnTo>
                    <a:pt x="0" y="351"/>
                  </a:lnTo>
                  <a:lnTo>
                    <a:pt x="13" y="351"/>
                  </a:lnTo>
                  <a:close/>
                  <a:moveTo>
                    <a:pt x="13" y="378"/>
                  </a:moveTo>
                  <a:lnTo>
                    <a:pt x="13" y="391"/>
                  </a:lnTo>
                  <a:lnTo>
                    <a:pt x="0" y="391"/>
                  </a:lnTo>
                  <a:lnTo>
                    <a:pt x="0" y="378"/>
                  </a:lnTo>
                  <a:lnTo>
                    <a:pt x="13" y="378"/>
                  </a:lnTo>
                  <a:close/>
                  <a:moveTo>
                    <a:pt x="13" y="404"/>
                  </a:moveTo>
                  <a:lnTo>
                    <a:pt x="13" y="418"/>
                  </a:lnTo>
                  <a:lnTo>
                    <a:pt x="0" y="418"/>
                  </a:lnTo>
                  <a:lnTo>
                    <a:pt x="0" y="404"/>
                  </a:lnTo>
                  <a:lnTo>
                    <a:pt x="13" y="404"/>
                  </a:lnTo>
                  <a:close/>
                  <a:moveTo>
                    <a:pt x="13" y="432"/>
                  </a:moveTo>
                  <a:lnTo>
                    <a:pt x="13" y="445"/>
                  </a:lnTo>
                  <a:lnTo>
                    <a:pt x="0" y="445"/>
                  </a:lnTo>
                  <a:lnTo>
                    <a:pt x="0" y="432"/>
                  </a:lnTo>
                  <a:lnTo>
                    <a:pt x="13" y="432"/>
                  </a:lnTo>
                  <a:close/>
                  <a:moveTo>
                    <a:pt x="13" y="458"/>
                  </a:moveTo>
                  <a:lnTo>
                    <a:pt x="13" y="472"/>
                  </a:lnTo>
                  <a:lnTo>
                    <a:pt x="0" y="472"/>
                  </a:lnTo>
                  <a:lnTo>
                    <a:pt x="0" y="458"/>
                  </a:lnTo>
                  <a:lnTo>
                    <a:pt x="13" y="458"/>
                  </a:lnTo>
                  <a:close/>
                  <a:moveTo>
                    <a:pt x="13" y="485"/>
                  </a:moveTo>
                  <a:lnTo>
                    <a:pt x="13" y="499"/>
                  </a:lnTo>
                  <a:lnTo>
                    <a:pt x="0" y="499"/>
                  </a:lnTo>
                  <a:lnTo>
                    <a:pt x="0" y="485"/>
                  </a:lnTo>
                  <a:lnTo>
                    <a:pt x="13" y="485"/>
                  </a:lnTo>
                  <a:close/>
                  <a:moveTo>
                    <a:pt x="13" y="512"/>
                  </a:moveTo>
                  <a:lnTo>
                    <a:pt x="13" y="526"/>
                  </a:lnTo>
                  <a:lnTo>
                    <a:pt x="0" y="526"/>
                  </a:lnTo>
                  <a:lnTo>
                    <a:pt x="0" y="512"/>
                  </a:lnTo>
                  <a:lnTo>
                    <a:pt x="13" y="512"/>
                  </a:lnTo>
                  <a:close/>
                  <a:moveTo>
                    <a:pt x="13" y="539"/>
                  </a:moveTo>
                  <a:lnTo>
                    <a:pt x="13" y="553"/>
                  </a:lnTo>
                  <a:lnTo>
                    <a:pt x="0" y="553"/>
                  </a:lnTo>
                  <a:lnTo>
                    <a:pt x="0" y="539"/>
                  </a:lnTo>
                  <a:lnTo>
                    <a:pt x="13" y="539"/>
                  </a:lnTo>
                  <a:close/>
                  <a:moveTo>
                    <a:pt x="13" y="566"/>
                  </a:moveTo>
                  <a:lnTo>
                    <a:pt x="13" y="580"/>
                  </a:lnTo>
                  <a:lnTo>
                    <a:pt x="0" y="580"/>
                  </a:lnTo>
                  <a:lnTo>
                    <a:pt x="0" y="566"/>
                  </a:lnTo>
                  <a:lnTo>
                    <a:pt x="13" y="566"/>
                  </a:lnTo>
                  <a:close/>
                  <a:moveTo>
                    <a:pt x="13" y="593"/>
                  </a:moveTo>
                  <a:lnTo>
                    <a:pt x="13" y="607"/>
                  </a:lnTo>
                  <a:lnTo>
                    <a:pt x="0" y="607"/>
                  </a:lnTo>
                  <a:lnTo>
                    <a:pt x="0" y="593"/>
                  </a:lnTo>
                  <a:lnTo>
                    <a:pt x="13" y="593"/>
                  </a:lnTo>
                  <a:close/>
                  <a:moveTo>
                    <a:pt x="13" y="620"/>
                  </a:moveTo>
                  <a:lnTo>
                    <a:pt x="13" y="634"/>
                  </a:lnTo>
                  <a:lnTo>
                    <a:pt x="0" y="634"/>
                  </a:lnTo>
                  <a:lnTo>
                    <a:pt x="0" y="620"/>
                  </a:lnTo>
                  <a:lnTo>
                    <a:pt x="13" y="620"/>
                  </a:lnTo>
                  <a:close/>
                  <a:moveTo>
                    <a:pt x="13" y="647"/>
                  </a:moveTo>
                  <a:lnTo>
                    <a:pt x="13" y="661"/>
                  </a:lnTo>
                  <a:lnTo>
                    <a:pt x="0" y="661"/>
                  </a:lnTo>
                  <a:lnTo>
                    <a:pt x="0" y="647"/>
                  </a:lnTo>
                  <a:lnTo>
                    <a:pt x="13" y="647"/>
                  </a:lnTo>
                  <a:close/>
                  <a:moveTo>
                    <a:pt x="13" y="674"/>
                  </a:moveTo>
                  <a:lnTo>
                    <a:pt x="13" y="687"/>
                  </a:lnTo>
                  <a:lnTo>
                    <a:pt x="0" y="687"/>
                  </a:lnTo>
                  <a:lnTo>
                    <a:pt x="0" y="674"/>
                  </a:lnTo>
                  <a:lnTo>
                    <a:pt x="13" y="674"/>
                  </a:lnTo>
                  <a:close/>
                  <a:moveTo>
                    <a:pt x="13" y="701"/>
                  </a:moveTo>
                  <a:lnTo>
                    <a:pt x="13" y="715"/>
                  </a:lnTo>
                  <a:lnTo>
                    <a:pt x="0" y="715"/>
                  </a:lnTo>
                  <a:lnTo>
                    <a:pt x="0" y="701"/>
                  </a:lnTo>
                  <a:lnTo>
                    <a:pt x="13" y="701"/>
                  </a:lnTo>
                  <a:close/>
                  <a:moveTo>
                    <a:pt x="13" y="728"/>
                  </a:moveTo>
                  <a:lnTo>
                    <a:pt x="13" y="741"/>
                  </a:lnTo>
                  <a:lnTo>
                    <a:pt x="0" y="741"/>
                  </a:lnTo>
                  <a:lnTo>
                    <a:pt x="0" y="728"/>
                  </a:lnTo>
                  <a:lnTo>
                    <a:pt x="13" y="728"/>
                  </a:lnTo>
                  <a:close/>
                  <a:moveTo>
                    <a:pt x="13" y="755"/>
                  </a:moveTo>
                  <a:lnTo>
                    <a:pt x="13" y="768"/>
                  </a:lnTo>
                  <a:lnTo>
                    <a:pt x="0" y="768"/>
                  </a:lnTo>
                  <a:lnTo>
                    <a:pt x="0" y="755"/>
                  </a:lnTo>
                  <a:lnTo>
                    <a:pt x="13" y="755"/>
                  </a:lnTo>
                  <a:close/>
                  <a:moveTo>
                    <a:pt x="13" y="782"/>
                  </a:moveTo>
                  <a:lnTo>
                    <a:pt x="13" y="795"/>
                  </a:lnTo>
                  <a:lnTo>
                    <a:pt x="0" y="795"/>
                  </a:lnTo>
                  <a:lnTo>
                    <a:pt x="0" y="782"/>
                  </a:lnTo>
                  <a:lnTo>
                    <a:pt x="13" y="782"/>
                  </a:lnTo>
                  <a:close/>
                  <a:moveTo>
                    <a:pt x="13" y="809"/>
                  </a:moveTo>
                  <a:lnTo>
                    <a:pt x="13" y="822"/>
                  </a:lnTo>
                  <a:lnTo>
                    <a:pt x="0" y="822"/>
                  </a:lnTo>
                  <a:lnTo>
                    <a:pt x="0" y="809"/>
                  </a:lnTo>
                  <a:lnTo>
                    <a:pt x="13" y="809"/>
                  </a:lnTo>
                  <a:close/>
                  <a:moveTo>
                    <a:pt x="13" y="836"/>
                  </a:moveTo>
                  <a:lnTo>
                    <a:pt x="13" y="849"/>
                  </a:lnTo>
                  <a:lnTo>
                    <a:pt x="0" y="849"/>
                  </a:lnTo>
                  <a:lnTo>
                    <a:pt x="0" y="836"/>
                  </a:lnTo>
                  <a:lnTo>
                    <a:pt x="13" y="836"/>
                  </a:lnTo>
                  <a:close/>
                  <a:moveTo>
                    <a:pt x="13" y="863"/>
                  </a:moveTo>
                  <a:lnTo>
                    <a:pt x="13" y="876"/>
                  </a:lnTo>
                  <a:lnTo>
                    <a:pt x="0" y="876"/>
                  </a:lnTo>
                  <a:lnTo>
                    <a:pt x="0" y="863"/>
                  </a:lnTo>
                  <a:lnTo>
                    <a:pt x="13" y="863"/>
                  </a:lnTo>
                  <a:close/>
                  <a:moveTo>
                    <a:pt x="13" y="890"/>
                  </a:moveTo>
                  <a:lnTo>
                    <a:pt x="13" y="903"/>
                  </a:lnTo>
                  <a:lnTo>
                    <a:pt x="0" y="903"/>
                  </a:lnTo>
                  <a:lnTo>
                    <a:pt x="0" y="890"/>
                  </a:lnTo>
                  <a:lnTo>
                    <a:pt x="13" y="890"/>
                  </a:lnTo>
                  <a:close/>
                  <a:moveTo>
                    <a:pt x="13" y="917"/>
                  </a:moveTo>
                  <a:lnTo>
                    <a:pt x="13" y="930"/>
                  </a:lnTo>
                  <a:lnTo>
                    <a:pt x="0" y="930"/>
                  </a:lnTo>
                  <a:lnTo>
                    <a:pt x="0" y="917"/>
                  </a:lnTo>
                  <a:lnTo>
                    <a:pt x="13" y="917"/>
                  </a:lnTo>
                  <a:close/>
                  <a:moveTo>
                    <a:pt x="13" y="944"/>
                  </a:moveTo>
                  <a:lnTo>
                    <a:pt x="13" y="957"/>
                  </a:lnTo>
                  <a:lnTo>
                    <a:pt x="0" y="957"/>
                  </a:lnTo>
                  <a:lnTo>
                    <a:pt x="0" y="944"/>
                  </a:lnTo>
                  <a:lnTo>
                    <a:pt x="13" y="944"/>
                  </a:lnTo>
                  <a:close/>
                  <a:moveTo>
                    <a:pt x="13" y="970"/>
                  </a:moveTo>
                  <a:lnTo>
                    <a:pt x="13" y="984"/>
                  </a:lnTo>
                  <a:lnTo>
                    <a:pt x="0" y="984"/>
                  </a:lnTo>
                  <a:lnTo>
                    <a:pt x="0" y="970"/>
                  </a:lnTo>
                  <a:lnTo>
                    <a:pt x="13" y="970"/>
                  </a:lnTo>
                  <a:close/>
                  <a:moveTo>
                    <a:pt x="13" y="998"/>
                  </a:moveTo>
                  <a:lnTo>
                    <a:pt x="13" y="1011"/>
                  </a:lnTo>
                  <a:lnTo>
                    <a:pt x="0" y="1011"/>
                  </a:lnTo>
                  <a:lnTo>
                    <a:pt x="0" y="998"/>
                  </a:lnTo>
                  <a:lnTo>
                    <a:pt x="13" y="998"/>
                  </a:lnTo>
                  <a:close/>
                  <a:moveTo>
                    <a:pt x="13" y="1024"/>
                  </a:moveTo>
                  <a:lnTo>
                    <a:pt x="13" y="1038"/>
                  </a:lnTo>
                  <a:lnTo>
                    <a:pt x="0" y="1038"/>
                  </a:lnTo>
                  <a:lnTo>
                    <a:pt x="0" y="1024"/>
                  </a:lnTo>
                  <a:lnTo>
                    <a:pt x="13" y="1024"/>
                  </a:lnTo>
                  <a:close/>
                  <a:moveTo>
                    <a:pt x="13" y="1051"/>
                  </a:moveTo>
                  <a:lnTo>
                    <a:pt x="13" y="1065"/>
                  </a:lnTo>
                  <a:lnTo>
                    <a:pt x="0" y="1065"/>
                  </a:lnTo>
                  <a:lnTo>
                    <a:pt x="0" y="1051"/>
                  </a:lnTo>
                  <a:lnTo>
                    <a:pt x="13" y="1051"/>
                  </a:lnTo>
                  <a:close/>
                  <a:moveTo>
                    <a:pt x="13" y="1078"/>
                  </a:moveTo>
                  <a:lnTo>
                    <a:pt x="13" y="1092"/>
                  </a:lnTo>
                  <a:lnTo>
                    <a:pt x="0" y="1092"/>
                  </a:lnTo>
                  <a:lnTo>
                    <a:pt x="0" y="1078"/>
                  </a:lnTo>
                  <a:lnTo>
                    <a:pt x="13" y="1078"/>
                  </a:lnTo>
                  <a:close/>
                  <a:moveTo>
                    <a:pt x="13" y="1105"/>
                  </a:moveTo>
                  <a:lnTo>
                    <a:pt x="13" y="1119"/>
                  </a:lnTo>
                  <a:lnTo>
                    <a:pt x="0" y="1119"/>
                  </a:lnTo>
                  <a:lnTo>
                    <a:pt x="0" y="1105"/>
                  </a:lnTo>
                  <a:lnTo>
                    <a:pt x="13" y="1105"/>
                  </a:lnTo>
                  <a:close/>
                  <a:moveTo>
                    <a:pt x="13" y="1132"/>
                  </a:moveTo>
                  <a:lnTo>
                    <a:pt x="13" y="1146"/>
                  </a:lnTo>
                  <a:lnTo>
                    <a:pt x="0" y="1146"/>
                  </a:lnTo>
                  <a:lnTo>
                    <a:pt x="0" y="1132"/>
                  </a:lnTo>
                  <a:lnTo>
                    <a:pt x="13" y="1132"/>
                  </a:lnTo>
                  <a:close/>
                  <a:moveTo>
                    <a:pt x="13" y="1159"/>
                  </a:moveTo>
                  <a:lnTo>
                    <a:pt x="13" y="1173"/>
                  </a:lnTo>
                  <a:lnTo>
                    <a:pt x="0" y="1173"/>
                  </a:lnTo>
                  <a:lnTo>
                    <a:pt x="0" y="1159"/>
                  </a:lnTo>
                  <a:lnTo>
                    <a:pt x="13" y="1159"/>
                  </a:lnTo>
                  <a:close/>
                  <a:moveTo>
                    <a:pt x="13" y="1186"/>
                  </a:moveTo>
                  <a:lnTo>
                    <a:pt x="13" y="1200"/>
                  </a:lnTo>
                  <a:lnTo>
                    <a:pt x="0" y="1200"/>
                  </a:lnTo>
                  <a:lnTo>
                    <a:pt x="0" y="1186"/>
                  </a:lnTo>
                  <a:lnTo>
                    <a:pt x="13" y="1186"/>
                  </a:lnTo>
                  <a:close/>
                  <a:moveTo>
                    <a:pt x="13" y="1213"/>
                  </a:moveTo>
                  <a:lnTo>
                    <a:pt x="13" y="1227"/>
                  </a:lnTo>
                  <a:lnTo>
                    <a:pt x="0" y="1227"/>
                  </a:lnTo>
                  <a:lnTo>
                    <a:pt x="0" y="1213"/>
                  </a:lnTo>
                  <a:lnTo>
                    <a:pt x="13" y="1213"/>
                  </a:lnTo>
                  <a:close/>
                  <a:moveTo>
                    <a:pt x="13" y="1240"/>
                  </a:moveTo>
                  <a:lnTo>
                    <a:pt x="13" y="1253"/>
                  </a:lnTo>
                  <a:lnTo>
                    <a:pt x="0" y="1253"/>
                  </a:lnTo>
                  <a:lnTo>
                    <a:pt x="0" y="1240"/>
                  </a:lnTo>
                  <a:lnTo>
                    <a:pt x="13" y="1240"/>
                  </a:lnTo>
                  <a:close/>
                  <a:moveTo>
                    <a:pt x="13" y="1267"/>
                  </a:moveTo>
                  <a:lnTo>
                    <a:pt x="13" y="1281"/>
                  </a:lnTo>
                  <a:lnTo>
                    <a:pt x="0" y="1281"/>
                  </a:lnTo>
                  <a:lnTo>
                    <a:pt x="0" y="1267"/>
                  </a:lnTo>
                  <a:lnTo>
                    <a:pt x="13" y="1267"/>
                  </a:lnTo>
                  <a:close/>
                  <a:moveTo>
                    <a:pt x="13" y="1294"/>
                  </a:moveTo>
                  <a:lnTo>
                    <a:pt x="13" y="1307"/>
                  </a:lnTo>
                  <a:lnTo>
                    <a:pt x="0" y="1307"/>
                  </a:lnTo>
                  <a:lnTo>
                    <a:pt x="0" y="1294"/>
                  </a:lnTo>
                  <a:lnTo>
                    <a:pt x="13" y="1294"/>
                  </a:lnTo>
                  <a:close/>
                  <a:moveTo>
                    <a:pt x="13" y="1321"/>
                  </a:moveTo>
                  <a:lnTo>
                    <a:pt x="13" y="1334"/>
                  </a:lnTo>
                  <a:lnTo>
                    <a:pt x="0" y="1334"/>
                  </a:lnTo>
                  <a:lnTo>
                    <a:pt x="0" y="1321"/>
                  </a:lnTo>
                  <a:lnTo>
                    <a:pt x="13" y="1321"/>
                  </a:lnTo>
                  <a:close/>
                  <a:moveTo>
                    <a:pt x="13" y="1348"/>
                  </a:moveTo>
                  <a:lnTo>
                    <a:pt x="13" y="1361"/>
                  </a:lnTo>
                  <a:lnTo>
                    <a:pt x="0" y="1361"/>
                  </a:lnTo>
                  <a:lnTo>
                    <a:pt x="0" y="1348"/>
                  </a:lnTo>
                  <a:lnTo>
                    <a:pt x="13" y="1348"/>
                  </a:lnTo>
                  <a:close/>
                  <a:moveTo>
                    <a:pt x="13" y="1375"/>
                  </a:moveTo>
                  <a:lnTo>
                    <a:pt x="13" y="1388"/>
                  </a:lnTo>
                  <a:lnTo>
                    <a:pt x="0" y="1388"/>
                  </a:lnTo>
                  <a:lnTo>
                    <a:pt x="0" y="1375"/>
                  </a:lnTo>
                  <a:lnTo>
                    <a:pt x="13" y="1375"/>
                  </a:lnTo>
                  <a:close/>
                  <a:moveTo>
                    <a:pt x="13" y="1402"/>
                  </a:moveTo>
                  <a:lnTo>
                    <a:pt x="13" y="1415"/>
                  </a:lnTo>
                  <a:lnTo>
                    <a:pt x="0" y="1415"/>
                  </a:lnTo>
                  <a:lnTo>
                    <a:pt x="0" y="1402"/>
                  </a:lnTo>
                  <a:lnTo>
                    <a:pt x="13" y="1402"/>
                  </a:lnTo>
                  <a:close/>
                  <a:moveTo>
                    <a:pt x="13" y="1429"/>
                  </a:moveTo>
                  <a:lnTo>
                    <a:pt x="13" y="1442"/>
                  </a:lnTo>
                  <a:lnTo>
                    <a:pt x="0" y="1442"/>
                  </a:lnTo>
                  <a:lnTo>
                    <a:pt x="0" y="1429"/>
                  </a:lnTo>
                  <a:lnTo>
                    <a:pt x="13" y="1429"/>
                  </a:lnTo>
                  <a:close/>
                  <a:moveTo>
                    <a:pt x="13" y="1455"/>
                  </a:moveTo>
                  <a:lnTo>
                    <a:pt x="13" y="1469"/>
                  </a:lnTo>
                  <a:lnTo>
                    <a:pt x="0" y="1469"/>
                  </a:lnTo>
                  <a:lnTo>
                    <a:pt x="0" y="1455"/>
                  </a:lnTo>
                  <a:lnTo>
                    <a:pt x="13" y="1455"/>
                  </a:lnTo>
                  <a:close/>
                  <a:moveTo>
                    <a:pt x="13" y="1483"/>
                  </a:moveTo>
                  <a:lnTo>
                    <a:pt x="13" y="1496"/>
                  </a:lnTo>
                  <a:lnTo>
                    <a:pt x="0" y="1496"/>
                  </a:lnTo>
                  <a:lnTo>
                    <a:pt x="0" y="1483"/>
                  </a:lnTo>
                  <a:lnTo>
                    <a:pt x="13" y="1483"/>
                  </a:lnTo>
                  <a:close/>
                  <a:moveTo>
                    <a:pt x="13" y="1510"/>
                  </a:moveTo>
                  <a:lnTo>
                    <a:pt x="13" y="1523"/>
                  </a:lnTo>
                  <a:lnTo>
                    <a:pt x="0" y="1523"/>
                  </a:lnTo>
                  <a:lnTo>
                    <a:pt x="0" y="1510"/>
                  </a:lnTo>
                  <a:lnTo>
                    <a:pt x="13" y="1510"/>
                  </a:lnTo>
                  <a:close/>
                  <a:moveTo>
                    <a:pt x="13" y="1536"/>
                  </a:moveTo>
                  <a:lnTo>
                    <a:pt x="13" y="1550"/>
                  </a:lnTo>
                  <a:lnTo>
                    <a:pt x="0" y="1550"/>
                  </a:lnTo>
                  <a:lnTo>
                    <a:pt x="0" y="1536"/>
                  </a:lnTo>
                  <a:lnTo>
                    <a:pt x="13" y="1536"/>
                  </a:lnTo>
                  <a:close/>
                  <a:moveTo>
                    <a:pt x="13" y="1564"/>
                  </a:moveTo>
                  <a:lnTo>
                    <a:pt x="13" y="1577"/>
                  </a:lnTo>
                  <a:lnTo>
                    <a:pt x="0" y="1577"/>
                  </a:lnTo>
                  <a:lnTo>
                    <a:pt x="0" y="1564"/>
                  </a:lnTo>
                  <a:lnTo>
                    <a:pt x="13" y="1564"/>
                  </a:lnTo>
                  <a:close/>
                  <a:moveTo>
                    <a:pt x="13" y="1590"/>
                  </a:moveTo>
                  <a:lnTo>
                    <a:pt x="13" y="1604"/>
                  </a:lnTo>
                  <a:lnTo>
                    <a:pt x="0" y="1604"/>
                  </a:lnTo>
                  <a:lnTo>
                    <a:pt x="0" y="1590"/>
                  </a:lnTo>
                  <a:lnTo>
                    <a:pt x="13" y="1590"/>
                  </a:lnTo>
                  <a:close/>
                  <a:moveTo>
                    <a:pt x="13" y="1617"/>
                  </a:moveTo>
                  <a:lnTo>
                    <a:pt x="13" y="1631"/>
                  </a:lnTo>
                  <a:lnTo>
                    <a:pt x="0" y="1631"/>
                  </a:lnTo>
                  <a:lnTo>
                    <a:pt x="0" y="1617"/>
                  </a:lnTo>
                  <a:lnTo>
                    <a:pt x="13" y="1617"/>
                  </a:lnTo>
                  <a:close/>
                  <a:moveTo>
                    <a:pt x="13" y="1644"/>
                  </a:moveTo>
                  <a:lnTo>
                    <a:pt x="13" y="1658"/>
                  </a:lnTo>
                  <a:lnTo>
                    <a:pt x="0" y="1658"/>
                  </a:lnTo>
                  <a:lnTo>
                    <a:pt x="0" y="1644"/>
                  </a:lnTo>
                  <a:lnTo>
                    <a:pt x="13" y="1644"/>
                  </a:lnTo>
                  <a:close/>
                  <a:moveTo>
                    <a:pt x="13" y="1671"/>
                  </a:moveTo>
                  <a:lnTo>
                    <a:pt x="13" y="1685"/>
                  </a:lnTo>
                  <a:lnTo>
                    <a:pt x="0" y="1685"/>
                  </a:lnTo>
                  <a:lnTo>
                    <a:pt x="0" y="1671"/>
                  </a:lnTo>
                  <a:lnTo>
                    <a:pt x="13" y="1671"/>
                  </a:lnTo>
                  <a:close/>
                  <a:moveTo>
                    <a:pt x="13" y="1698"/>
                  </a:moveTo>
                  <a:lnTo>
                    <a:pt x="13" y="1712"/>
                  </a:lnTo>
                  <a:lnTo>
                    <a:pt x="0" y="1712"/>
                  </a:lnTo>
                  <a:lnTo>
                    <a:pt x="0" y="1698"/>
                  </a:lnTo>
                  <a:lnTo>
                    <a:pt x="13" y="1698"/>
                  </a:lnTo>
                  <a:close/>
                  <a:moveTo>
                    <a:pt x="13" y="1725"/>
                  </a:moveTo>
                  <a:lnTo>
                    <a:pt x="13" y="1738"/>
                  </a:lnTo>
                  <a:lnTo>
                    <a:pt x="0" y="1738"/>
                  </a:lnTo>
                  <a:lnTo>
                    <a:pt x="0" y="1725"/>
                  </a:lnTo>
                  <a:lnTo>
                    <a:pt x="13" y="1725"/>
                  </a:lnTo>
                  <a:close/>
                  <a:moveTo>
                    <a:pt x="13" y="1752"/>
                  </a:moveTo>
                  <a:lnTo>
                    <a:pt x="13" y="1766"/>
                  </a:lnTo>
                  <a:lnTo>
                    <a:pt x="0" y="1766"/>
                  </a:lnTo>
                  <a:lnTo>
                    <a:pt x="0" y="1752"/>
                  </a:lnTo>
                  <a:lnTo>
                    <a:pt x="13" y="1752"/>
                  </a:lnTo>
                  <a:close/>
                  <a:moveTo>
                    <a:pt x="13" y="1779"/>
                  </a:moveTo>
                  <a:lnTo>
                    <a:pt x="13" y="1792"/>
                  </a:lnTo>
                  <a:lnTo>
                    <a:pt x="0" y="1792"/>
                  </a:lnTo>
                  <a:lnTo>
                    <a:pt x="0" y="1779"/>
                  </a:lnTo>
                  <a:lnTo>
                    <a:pt x="13" y="1779"/>
                  </a:lnTo>
                  <a:close/>
                  <a:moveTo>
                    <a:pt x="13" y="1806"/>
                  </a:moveTo>
                  <a:lnTo>
                    <a:pt x="13" y="1819"/>
                  </a:lnTo>
                  <a:lnTo>
                    <a:pt x="0" y="1819"/>
                  </a:lnTo>
                  <a:lnTo>
                    <a:pt x="0" y="1806"/>
                  </a:lnTo>
                  <a:lnTo>
                    <a:pt x="13" y="1806"/>
                  </a:lnTo>
                  <a:close/>
                  <a:moveTo>
                    <a:pt x="13" y="1833"/>
                  </a:moveTo>
                  <a:lnTo>
                    <a:pt x="13" y="1846"/>
                  </a:lnTo>
                  <a:lnTo>
                    <a:pt x="0" y="1846"/>
                  </a:lnTo>
                  <a:lnTo>
                    <a:pt x="0" y="1833"/>
                  </a:lnTo>
                  <a:lnTo>
                    <a:pt x="13" y="1833"/>
                  </a:lnTo>
                  <a:close/>
                  <a:moveTo>
                    <a:pt x="13" y="1860"/>
                  </a:moveTo>
                  <a:lnTo>
                    <a:pt x="13" y="1873"/>
                  </a:lnTo>
                  <a:lnTo>
                    <a:pt x="0" y="1873"/>
                  </a:lnTo>
                  <a:lnTo>
                    <a:pt x="0" y="1860"/>
                  </a:lnTo>
                  <a:lnTo>
                    <a:pt x="13" y="1860"/>
                  </a:lnTo>
                  <a:close/>
                  <a:moveTo>
                    <a:pt x="13" y="1887"/>
                  </a:moveTo>
                  <a:lnTo>
                    <a:pt x="13" y="1900"/>
                  </a:lnTo>
                  <a:lnTo>
                    <a:pt x="0" y="1900"/>
                  </a:lnTo>
                  <a:lnTo>
                    <a:pt x="0" y="1887"/>
                  </a:lnTo>
                  <a:lnTo>
                    <a:pt x="13" y="1887"/>
                  </a:lnTo>
                  <a:close/>
                  <a:moveTo>
                    <a:pt x="13" y="1914"/>
                  </a:moveTo>
                  <a:lnTo>
                    <a:pt x="13" y="1927"/>
                  </a:lnTo>
                  <a:lnTo>
                    <a:pt x="0" y="1927"/>
                  </a:lnTo>
                  <a:lnTo>
                    <a:pt x="0" y="1914"/>
                  </a:lnTo>
                  <a:lnTo>
                    <a:pt x="13" y="1914"/>
                  </a:lnTo>
                  <a:close/>
                  <a:moveTo>
                    <a:pt x="13" y="1941"/>
                  </a:moveTo>
                  <a:lnTo>
                    <a:pt x="13" y="1954"/>
                  </a:lnTo>
                  <a:lnTo>
                    <a:pt x="0" y="1954"/>
                  </a:lnTo>
                  <a:lnTo>
                    <a:pt x="0" y="1941"/>
                  </a:lnTo>
                  <a:lnTo>
                    <a:pt x="13" y="1941"/>
                  </a:lnTo>
                  <a:close/>
                  <a:moveTo>
                    <a:pt x="13" y="1968"/>
                  </a:moveTo>
                  <a:lnTo>
                    <a:pt x="13" y="1981"/>
                  </a:lnTo>
                  <a:lnTo>
                    <a:pt x="0" y="1981"/>
                  </a:lnTo>
                  <a:lnTo>
                    <a:pt x="0" y="1968"/>
                  </a:lnTo>
                  <a:lnTo>
                    <a:pt x="13" y="1968"/>
                  </a:lnTo>
                  <a:close/>
                  <a:moveTo>
                    <a:pt x="13" y="1995"/>
                  </a:moveTo>
                  <a:lnTo>
                    <a:pt x="13" y="2008"/>
                  </a:lnTo>
                  <a:lnTo>
                    <a:pt x="0" y="2008"/>
                  </a:lnTo>
                  <a:lnTo>
                    <a:pt x="0" y="1995"/>
                  </a:lnTo>
                  <a:lnTo>
                    <a:pt x="13" y="1995"/>
                  </a:lnTo>
                  <a:close/>
                  <a:moveTo>
                    <a:pt x="13" y="2021"/>
                  </a:moveTo>
                  <a:lnTo>
                    <a:pt x="13" y="2035"/>
                  </a:lnTo>
                  <a:lnTo>
                    <a:pt x="0" y="2035"/>
                  </a:lnTo>
                  <a:lnTo>
                    <a:pt x="0" y="2021"/>
                  </a:lnTo>
                  <a:lnTo>
                    <a:pt x="13" y="2021"/>
                  </a:lnTo>
                  <a:close/>
                  <a:moveTo>
                    <a:pt x="13" y="2049"/>
                  </a:moveTo>
                  <a:lnTo>
                    <a:pt x="13" y="2062"/>
                  </a:lnTo>
                  <a:lnTo>
                    <a:pt x="0" y="2062"/>
                  </a:lnTo>
                  <a:lnTo>
                    <a:pt x="0" y="2049"/>
                  </a:lnTo>
                  <a:lnTo>
                    <a:pt x="13" y="2049"/>
                  </a:lnTo>
                  <a:close/>
                  <a:moveTo>
                    <a:pt x="13" y="2075"/>
                  </a:moveTo>
                  <a:lnTo>
                    <a:pt x="13" y="2089"/>
                  </a:lnTo>
                  <a:lnTo>
                    <a:pt x="0" y="2089"/>
                  </a:lnTo>
                  <a:lnTo>
                    <a:pt x="0" y="2075"/>
                  </a:lnTo>
                  <a:lnTo>
                    <a:pt x="13" y="2075"/>
                  </a:lnTo>
                  <a:close/>
                  <a:moveTo>
                    <a:pt x="13" y="2102"/>
                  </a:moveTo>
                  <a:lnTo>
                    <a:pt x="13" y="2116"/>
                  </a:lnTo>
                  <a:lnTo>
                    <a:pt x="0" y="2116"/>
                  </a:lnTo>
                  <a:lnTo>
                    <a:pt x="0" y="2102"/>
                  </a:lnTo>
                  <a:lnTo>
                    <a:pt x="13" y="2102"/>
                  </a:lnTo>
                  <a:close/>
                  <a:moveTo>
                    <a:pt x="13" y="2129"/>
                  </a:moveTo>
                  <a:lnTo>
                    <a:pt x="13" y="2143"/>
                  </a:lnTo>
                  <a:lnTo>
                    <a:pt x="0" y="2143"/>
                  </a:lnTo>
                  <a:lnTo>
                    <a:pt x="0" y="2129"/>
                  </a:lnTo>
                  <a:lnTo>
                    <a:pt x="13" y="2129"/>
                  </a:lnTo>
                  <a:close/>
                  <a:moveTo>
                    <a:pt x="13" y="2156"/>
                  </a:moveTo>
                  <a:lnTo>
                    <a:pt x="13" y="2170"/>
                  </a:lnTo>
                  <a:lnTo>
                    <a:pt x="0" y="2170"/>
                  </a:lnTo>
                  <a:lnTo>
                    <a:pt x="0" y="2156"/>
                  </a:lnTo>
                  <a:lnTo>
                    <a:pt x="13" y="2156"/>
                  </a:lnTo>
                  <a:close/>
                  <a:moveTo>
                    <a:pt x="13" y="2183"/>
                  </a:moveTo>
                  <a:lnTo>
                    <a:pt x="13" y="2197"/>
                  </a:lnTo>
                  <a:lnTo>
                    <a:pt x="0" y="2197"/>
                  </a:lnTo>
                  <a:lnTo>
                    <a:pt x="0" y="2183"/>
                  </a:lnTo>
                  <a:lnTo>
                    <a:pt x="13" y="2183"/>
                  </a:lnTo>
                  <a:close/>
                  <a:moveTo>
                    <a:pt x="13" y="2210"/>
                  </a:moveTo>
                  <a:lnTo>
                    <a:pt x="13" y="2224"/>
                  </a:lnTo>
                  <a:lnTo>
                    <a:pt x="0" y="2224"/>
                  </a:lnTo>
                  <a:lnTo>
                    <a:pt x="0" y="2210"/>
                  </a:lnTo>
                  <a:lnTo>
                    <a:pt x="13" y="2210"/>
                  </a:lnTo>
                  <a:close/>
                  <a:moveTo>
                    <a:pt x="13" y="2237"/>
                  </a:moveTo>
                  <a:lnTo>
                    <a:pt x="13" y="2251"/>
                  </a:lnTo>
                  <a:lnTo>
                    <a:pt x="0" y="2251"/>
                  </a:lnTo>
                  <a:lnTo>
                    <a:pt x="0" y="2237"/>
                  </a:lnTo>
                  <a:lnTo>
                    <a:pt x="13" y="2237"/>
                  </a:lnTo>
                  <a:close/>
                  <a:moveTo>
                    <a:pt x="13" y="2264"/>
                  </a:moveTo>
                  <a:lnTo>
                    <a:pt x="13" y="2278"/>
                  </a:lnTo>
                  <a:lnTo>
                    <a:pt x="0" y="2278"/>
                  </a:lnTo>
                  <a:lnTo>
                    <a:pt x="0" y="2264"/>
                  </a:lnTo>
                  <a:lnTo>
                    <a:pt x="13" y="2264"/>
                  </a:lnTo>
                  <a:close/>
                  <a:moveTo>
                    <a:pt x="13" y="2291"/>
                  </a:moveTo>
                  <a:lnTo>
                    <a:pt x="13" y="2304"/>
                  </a:lnTo>
                  <a:lnTo>
                    <a:pt x="0" y="2304"/>
                  </a:lnTo>
                  <a:lnTo>
                    <a:pt x="0" y="2291"/>
                  </a:lnTo>
                  <a:lnTo>
                    <a:pt x="13" y="2291"/>
                  </a:lnTo>
                  <a:close/>
                  <a:moveTo>
                    <a:pt x="13" y="2318"/>
                  </a:moveTo>
                  <a:lnTo>
                    <a:pt x="13" y="2332"/>
                  </a:lnTo>
                  <a:lnTo>
                    <a:pt x="0" y="2332"/>
                  </a:lnTo>
                  <a:lnTo>
                    <a:pt x="0" y="2318"/>
                  </a:lnTo>
                  <a:lnTo>
                    <a:pt x="13" y="2318"/>
                  </a:lnTo>
                  <a:close/>
                  <a:moveTo>
                    <a:pt x="13" y="2345"/>
                  </a:moveTo>
                  <a:lnTo>
                    <a:pt x="13" y="2358"/>
                  </a:lnTo>
                  <a:lnTo>
                    <a:pt x="0" y="2358"/>
                  </a:lnTo>
                  <a:lnTo>
                    <a:pt x="0" y="2345"/>
                  </a:lnTo>
                  <a:lnTo>
                    <a:pt x="13" y="2345"/>
                  </a:lnTo>
                  <a:close/>
                </a:path>
              </a:pathLst>
            </a:custGeom>
            <a:solidFill>
              <a:srgbClr val="000000"/>
            </a:solidFill>
            <a:ln w="0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98" name="Freeform 94">
              <a:extLst>
                <a:ext uri="{FF2B5EF4-FFF2-40B4-BE49-F238E27FC236}">
                  <a16:creationId xmlns:a16="http://schemas.microsoft.com/office/drawing/2014/main" id="{BC9EB0D1-3C2A-4B1B-9F12-7A91FC818EC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617447" y="2655977"/>
              <a:ext cx="22258" cy="3748911"/>
            </a:xfrm>
            <a:custGeom>
              <a:avLst/>
              <a:gdLst>
                <a:gd name="T0" fmla="*/ 14 w 14"/>
                <a:gd name="T1" fmla="*/ 41 h 2358"/>
                <a:gd name="T2" fmla="*/ 0 w 14"/>
                <a:gd name="T3" fmla="*/ 54 h 2358"/>
                <a:gd name="T4" fmla="*/ 14 w 14"/>
                <a:gd name="T5" fmla="*/ 108 h 2358"/>
                <a:gd name="T6" fmla="*/ 0 w 14"/>
                <a:gd name="T7" fmla="*/ 149 h 2358"/>
                <a:gd name="T8" fmla="*/ 14 w 14"/>
                <a:gd name="T9" fmla="*/ 162 h 2358"/>
                <a:gd name="T10" fmla="*/ 14 w 14"/>
                <a:gd name="T11" fmla="*/ 229 h 2358"/>
                <a:gd name="T12" fmla="*/ 0 w 14"/>
                <a:gd name="T13" fmla="*/ 243 h 2358"/>
                <a:gd name="T14" fmla="*/ 14 w 14"/>
                <a:gd name="T15" fmla="*/ 297 h 2358"/>
                <a:gd name="T16" fmla="*/ 0 w 14"/>
                <a:gd name="T17" fmla="*/ 337 h 2358"/>
                <a:gd name="T18" fmla="*/ 14 w 14"/>
                <a:gd name="T19" fmla="*/ 351 h 2358"/>
                <a:gd name="T20" fmla="*/ 14 w 14"/>
                <a:gd name="T21" fmla="*/ 418 h 2358"/>
                <a:gd name="T22" fmla="*/ 0 w 14"/>
                <a:gd name="T23" fmla="*/ 432 h 2358"/>
                <a:gd name="T24" fmla="*/ 14 w 14"/>
                <a:gd name="T25" fmla="*/ 485 h 2358"/>
                <a:gd name="T26" fmla="*/ 0 w 14"/>
                <a:gd name="T27" fmla="*/ 526 h 2358"/>
                <a:gd name="T28" fmla="*/ 14 w 14"/>
                <a:gd name="T29" fmla="*/ 539 h 2358"/>
                <a:gd name="T30" fmla="*/ 14 w 14"/>
                <a:gd name="T31" fmla="*/ 607 h 2358"/>
                <a:gd name="T32" fmla="*/ 0 w 14"/>
                <a:gd name="T33" fmla="*/ 620 h 2358"/>
                <a:gd name="T34" fmla="*/ 14 w 14"/>
                <a:gd name="T35" fmla="*/ 674 h 2358"/>
                <a:gd name="T36" fmla="*/ 0 w 14"/>
                <a:gd name="T37" fmla="*/ 715 h 2358"/>
                <a:gd name="T38" fmla="*/ 14 w 14"/>
                <a:gd name="T39" fmla="*/ 728 h 2358"/>
                <a:gd name="T40" fmla="*/ 14 w 14"/>
                <a:gd name="T41" fmla="*/ 795 h 2358"/>
                <a:gd name="T42" fmla="*/ 0 w 14"/>
                <a:gd name="T43" fmla="*/ 809 h 2358"/>
                <a:gd name="T44" fmla="*/ 14 w 14"/>
                <a:gd name="T45" fmla="*/ 863 h 2358"/>
                <a:gd name="T46" fmla="*/ 0 w 14"/>
                <a:gd name="T47" fmla="*/ 903 h 2358"/>
                <a:gd name="T48" fmla="*/ 14 w 14"/>
                <a:gd name="T49" fmla="*/ 917 h 2358"/>
                <a:gd name="T50" fmla="*/ 14 w 14"/>
                <a:gd name="T51" fmla="*/ 984 h 2358"/>
                <a:gd name="T52" fmla="*/ 0 w 14"/>
                <a:gd name="T53" fmla="*/ 998 h 2358"/>
                <a:gd name="T54" fmla="*/ 14 w 14"/>
                <a:gd name="T55" fmla="*/ 1051 h 2358"/>
                <a:gd name="T56" fmla="*/ 0 w 14"/>
                <a:gd name="T57" fmla="*/ 1092 h 2358"/>
                <a:gd name="T58" fmla="*/ 14 w 14"/>
                <a:gd name="T59" fmla="*/ 1105 h 2358"/>
                <a:gd name="T60" fmla="*/ 14 w 14"/>
                <a:gd name="T61" fmla="*/ 1173 h 2358"/>
                <a:gd name="T62" fmla="*/ 0 w 14"/>
                <a:gd name="T63" fmla="*/ 1186 h 2358"/>
                <a:gd name="T64" fmla="*/ 14 w 14"/>
                <a:gd name="T65" fmla="*/ 1240 h 2358"/>
                <a:gd name="T66" fmla="*/ 0 w 14"/>
                <a:gd name="T67" fmla="*/ 1281 h 2358"/>
                <a:gd name="T68" fmla="*/ 14 w 14"/>
                <a:gd name="T69" fmla="*/ 1294 h 2358"/>
                <a:gd name="T70" fmla="*/ 14 w 14"/>
                <a:gd name="T71" fmla="*/ 1361 h 2358"/>
                <a:gd name="T72" fmla="*/ 0 w 14"/>
                <a:gd name="T73" fmla="*/ 1375 h 2358"/>
                <a:gd name="T74" fmla="*/ 14 w 14"/>
                <a:gd name="T75" fmla="*/ 1429 h 2358"/>
                <a:gd name="T76" fmla="*/ 0 w 14"/>
                <a:gd name="T77" fmla="*/ 1469 h 2358"/>
                <a:gd name="T78" fmla="*/ 14 w 14"/>
                <a:gd name="T79" fmla="*/ 1483 h 2358"/>
                <a:gd name="T80" fmla="*/ 14 w 14"/>
                <a:gd name="T81" fmla="*/ 1550 h 2358"/>
                <a:gd name="T82" fmla="*/ 0 w 14"/>
                <a:gd name="T83" fmla="*/ 1564 h 2358"/>
                <a:gd name="T84" fmla="*/ 14 w 14"/>
                <a:gd name="T85" fmla="*/ 1617 h 2358"/>
                <a:gd name="T86" fmla="*/ 0 w 14"/>
                <a:gd name="T87" fmla="*/ 1658 h 2358"/>
                <a:gd name="T88" fmla="*/ 14 w 14"/>
                <a:gd name="T89" fmla="*/ 1671 h 2358"/>
                <a:gd name="T90" fmla="*/ 14 w 14"/>
                <a:gd name="T91" fmla="*/ 1738 h 2358"/>
                <a:gd name="T92" fmla="*/ 0 w 14"/>
                <a:gd name="T93" fmla="*/ 1752 h 2358"/>
                <a:gd name="T94" fmla="*/ 14 w 14"/>
                <a:gd name="T95" fmla="*/ 1806 h 2358"/>
                <a:gd name="T96" fmla="*/ 0 w 14"/>
                <a:gd name="T97" fmla="*/ 1846 h 2358"/>
                <a:gd name="T98" fmla="*/ 14 w 14"/>
                <a:gd name="T99" fmla="*/ 1860 h 2358"/>
                <a:gd name="T100" fmla="*/ 14 w 14"/>
                <a:gd name="T101" fmla="*/ 1927 h 2358"/>
                <a:gd name="T102" fmla="*/ 0 w 14"/>
                <a:gd name="T103" fmla="*/ 1941 h 2358"/>
                <a:gd name="T104" fmla="*/ 14 w 14"/>
                <a:gd name="T105" fmla="*/ 1995 h 2358"/>
                <a:gd name="T106" fmla="*/ 0 w 14"/>
                <a:gd name="T107" fmla="*/ 2035 h 2358"/>
                <a:gd name="T108" fmla="*/ 14 w 14"/>
                <a:gd name="T109" fmla="*/ 2049 h 2358"/>
                <a:gd name="T110" fmla="*/ 14 w 14"/>
                <a:gd name="T111" fmla="*/ 2116 h 2358"/>
                <a:gd name="T112" fmla="*/ 0 w 14"/>
                <a:gd name="T113" fmla="*/ 2129 h 2358"/>
                <a:gd name="T114" fmla="*/ 14 w 14"/>
                <a:gd name="T115" fmla="*/ 2183 h 2358"/>
                <a:gd name="T116" fmla="*/ 0 w 14"/>
                <a:gd name="T117" fmla="*/ 2224 h 2358"/>
                <a:gd name="T118" fmla="*/ 14 w 14"/>
                <a:gd name="T119" fmla="*/ 2237 h 2358"/>
                <a:gd name="T120" fmla="*/ 14 w 14"/>
                <a:gd name="T121" fmla="*/ 2304 h 2358"/>
                <a:gd name="T122" fmla="*/ 0 w 14"/>
                <a:gd name="T123" fmla="*/ 2318 h 23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4" h="2358">
                  <a:moveTo>
                    <a:pt x="14" y="0"/>
                  </a:moveTo>
                  <a:lnTo>
                    <a:pt x="14" y="14"/>
                  </a:lnTo>
                  <a:lnTo>
                    <a:pt x="0" y="14"/>
                  </a:lnTo>
                  <a:lnTo>
                    <a:pt x="0" y="0"/>
                  </a:lnTo>
                  <a:lnTo>
                    <a:pt x="14" y="0"/>
                  </a:lnTo>
                  <a:close/>
                  <a:moveTo>
                    <a:pt x="14" y="27"/>
                  </a:moveTo>
                  <a:lnTo>
                    <a:pt x="14" y="41"/>
                  </a:lnTo>
                  <a:lnTo>
                    <a:pt x="0" y="41"/>
                  </a:lnTo>
                  <a:lnTo>
                    <a:pt x="0" y="27"/>
                  </a:lnTo>
                  <a:lnTo>
                    <a:pt x="14" y="27"/>
                  </a:lnTo>
                  <a:close/>
                  <a:moveTo>
                    <a:pt x="14" y="54"/>
                  </a:moveTo>
                  <a:lnTo>
                    <a:pt x="14" y="68"/>
                  </a:lnTo>
                  <a:lnTo>
                    <a:pt x="0" y="68"/>
                  </a:lnTo>
                  <a:lnTo>
                    <a:pt x="0" y="54"/>
                  </a:lnTo>
                  <a:lnTo>
                    <a:pt x="14" y="54"/>
                  </a:lnTo>
                  <a:close/>
                  <a:moveTo>
                    <a:pt x="14" y="81"/>
                  </a:moveTo>
                  <a:lnTo>
                    <a:pt x="14" y="95"/>
                  </a:lnTo>
                  <a:lnTo>
                    <a:pt x="0" y="95"/>
                  </a:lnTo>
                  <a:lnTo>
                    <a:pt x="0" y="81"/>
                  </a:lnTo>
                  <a:lnTo>
                    <a:pt x="14" y="81"/>
                  </a:lnTo>
                  <a:close/>
                  <a:moveTo>
                    <a:pt x="14" y="108"/>
                  </a:moveTo>
                  <a:lnTo>
                    <a:pt x="14" y="121"/>
                  </a:lnTo>
                  <a:lnTo>
                    <a:pt x="0" y="121"/>
                  </a:lnTo>
                  <a:lnTo>
                    <a:pt x="0" y="108"/>
                  </a:lnTo>
                  <a:lnTo>
                    <a:pt x="14" y="108"/>
                  </a:lnTo>
                  <a:close/>
                  <a:moveTo>
                    <a:pt x="14" y="135"/>
                  </a:moveTo>
                  <a:lnTo>
                    <a:pt x="14" y="149"/>
                  </a:lnTo>
                  <a:lnTo>
                    <a:pt x="0" y="149"/>
                  </a:lnTo>
                  <a:lnTo>
                    <a:pt x="0" y="135"/>
                  </a:lnTo>
                  <a:lnTo>
                    <a:pt x="14" y="135"/>
                  </a:lnTo>
                  <a:close/>
                  <a:moveTo>
                    <a:pt x="14" y="162"/>
                  </a:moveTo>
                  <a:lnTo>
                    <a:pt x="14" y="175"/>
                  </a:lnTo>
                  <a:lnTo>
                    <a:pt x="0" y="175"/>
                  </a:lnTo>
                  <a:lnTo>
                    <a:pt x="0" y="162"/>
                  </a:lnTo>
                  <a:lnTo>
                    <a:pt x="14" y="162"/>
                  </a:lnTo>
                  <a:close/>
                  <a:moveTo>
                    <a:pt x="14" y="189"/>
                  </a:moveTo>
                  <a:lnTo>
                    <a:pt x="14" y="202"/>
                  </a:lnTo>
                  <a:lnTo>
                    <a:pt x="0" y="202"/>
                  </a:lnTo>
                  <a:lnTo>
                    <a:pt x="0" y="189"/>
                  </a:lnTo>
                  <a:lnTo>
                    <a:pt x="14" y="189"/>
                  </a:lnTo>
                  <a:close/>
                  <a:moveTo>
                    <a:pt x="14" y="216"/>
                  </a:moveTo>
                  <a:lnTo>
                    <a:pt x="14" y="229"/>
                  </a:lnTo>
                  <a:lnTo>
                    <a:pt x="0" y="229"/>
                  </a:lnTo>
                  <a:lnTo>
                    <a:pt x="0" y="216"/>
                  </a:lnTo>
                  <a:lnTo>
                    <a:pt x="14" y="216"/>
                  </a:lnTo>
                  <a:close/>
                  <a:moveTo>
                    <a:pt x="14" y="243"/>
                  </a:moveTo>
                  <a:lnTo>
                    <a:pt x="14" y="256"/>
                  </a:lnTo>
                  <a:lnTo>
                    <a:pt x="0" y="256"/>
                  </a:lnTo>
                  <a:lnTo>
                    <a:pt x="0" y="243"/>
                  </a:lnTo>
                  <a:lnTo>
                    <a:pt x="14" y="243"/>
                  </a:lnTo>
                  <a:close/>
                  <a:moveTo>
                    <a:pt x="14" y="270"/>
                  </a:moveTo>
                  <a:lnTo>
                    <a:pt x="14" y="283"/>
                  </a:lnTo>
                  <a:lnTo>
                    <a:pt x="0" y="283"/>
                  </a:lnTo>
                  <a:lnTo>
                    <a:pt x="0" y="270"/>
                  </a:lnTo>
                  <a:lnTo>
                    <a:pt x="14" y="270"/>
                  </a:lnTo>
                  <a:close/>
                  <a:moveTo>
                    <a:pt x="14" y="297"/>
                  </a:moveTo>
                  <a:lnTo>
                    <a:pt x="14" y="310"/>
                  </a:lnTo>
                  <a:lnTo>
                    <a:pt x="0" y="310"/>
                  </a:lnTo>
                  <a:lnTo>
                    <a:pt x="0" y="297"/>
                  </a:lnTo>
                  <a:lnTo>
                    <a:pt x="14" y="297"/>
                  </a:lnTo>
                  <a:close/>
                  <a:moveTo>
                    <a:pt x="14" y="324"/>
                  </a:moveTo>
                  <a:lnTo>
                    <a:pt x="14" y="337"/>
                  </a:lnTo>
                  <a:lnTo>
                    <a:pt x="0" y="337"/>
                  </a:lnTo>
                  <a:lnTo>
                    <a:pt x="0" y="324"/>
                  </a:lnTo>
                  <a:lnTo>
                    <a:pt x="14" y="324"/>
                  </a:lnTo>
                  <a:close/>
                  <a:moveTo>
                    <a:pt x="14" y="351"/>
                  </a:moveTo>
                  <a:lnTo>
                    <a:pt x="14" y="364"/>
                  </a:lnTo>
                  <a:lnTo>
                    <a:pt x="0" y="364"/>
                  </a:lnTo>
                  <a:lnTo>
                    <a:pt x="0" y="351"/>
                  </a:lnTo>
                  <a:lnTo>
                    <a:pt x="14" y="351"/>
                  </a:lnTo>
                  <a:close/>
                  <a:moveTo>
                    <a:pt x="14" y="378"/>
                  </a:moveTo>
                  <a:lnTo>
                    <a:pt x="14" y="391"/>
                  </a:lnTo>
                  <a:lnTo>
                    <a:pt x="0" y="391"/>
                  </a:lnTo>
                  <a:lnTo>
                    <a:pt x="0" y="378"/>
                  </a:lnTo>
                  <a:lnTo>
                    <a:pt x="14" y="378"/>
                  </a:lnTo>
                  <a:close/>
                  <a:moveTo>
                    <a:pt x="14" y="404"/>
                  </a:moveTo>
                  <a:lnTo>
                    <a:pt x="14" y="418"/>
                  </a:lnTo>
                  <a:lnTo>
                    <a:pt x="0" y="418"/>
                  </a:lnTo>
                  <a:lnTo>
                    <a:pt x="0" y="404"/>
                  </a:lnTo>
                  <a:lnTo>
                    <a:pt x="14" y="404"/>
                  </a:lnTo>
                  <a:close/>
                  <a:moveTo>
                    <a:pt x="14" y="432"/>
                  </a:moveTo>
                  <a:lnTo>
                    <a:pt x="14" y="445"/>
                  </a:lnTo>
                  <a:lnTo>
                    <a:pt x="0" y="445"/>
                  </a:lnTo>
                  <a:lnTo>
                    <a:pt x="0" y="432"/>
                  </a:lnTo>
                  <a:lnTo>
                    <a:pt x="14" y="432"/>
                  </a:lnTo>
                  <a:close/>
                  <a:moveTo>
                    <a:pt x="14" y="458"/>
                  </a:moveTo>
                  <a:lnTo>
                    <a:pt x="14" y="472"/>
                  </a:lnTo>
                  <a:lnTo>
                    <a:pt x="0" y="472"/>
                  </a:lnTo>
                  <a:lnTo>
                    <a:pt x="0" y="458"/>
                  </a:lnTo>
                  <a:lnTo>
                    <a:pt x="14" y="458"/>
                  </a:lnTo>
                  <a:close/>
                  <a:moveTo>
                    <a:pt x="14" y="485"/>
                  </a:moveTo>
                  <a:lnTo>
                    <a:pt x="14" y="499"/>
                  </a:lnTo>
                  <a:lnTo>
                    <a:pt x="0" y="499"/>
                  </a:lnTo>
                  <a:lnTo>
                    <a:pt x="0" y="485"/>
                  </a:lnTo>
                  <a:lnTo>
                    <a:pt x="14" y="485"/>
                  </a:lnTo>
                  <a:close/>
                  <a:moveTo>
                    <a:pt x="14" y="512"/>
                  </a:moveTo>
                  <a:lnTo>
                    <a:pt x="14" y="526"/>
                  </a:lnTo>
                  <a:lnTo>
                    <a:pt x="0" y="526"/>
                  </a:lnTo>
                  <a:lnTo>
                    <a:pt x="0" y="512"/>
                  </a:lnTo>
                  <a:lnTo>
                    <a:pt x="14" y="512"/>
                  </a:lnTo>
                  <a:close/>
                  <a:moveTo>
                    <a:pt x="14" y="539"/>
                  </a:moveTo>
                  <a:lnTo>
                    <a:pt x="14" y="553"/>
                  </a:lnTo>
                  <a:lnTo>
                    <a:pt x="0" y="553"/>
                  </a:lnTo>
                  <a:lnTo>
                    <a:pt x="0" y="539"/>
                  </a:lnTo>
                  <a:lnTo>
                    <a:pt x="14" y="539"/>
                  </a:lnTo>
                  <a:close/>
                  <a:moveTo>
                    <a:pt x="14" y="566"/>
                  </a:moveTo>
                  <a:lnTo>
                    <a:pt x="14" y="580"/>
                  </a:lnTo>
                  <a:lnTo>
                    <a:pt x="0" y="580"/>
                  </a:lnTo>
                  <a:lnTo>
                    <a:pt x="0" y="566"/>
                  </a:lnTo>
                  <a:lnTo>
                    <a:pt x="14" y="566"/>
                  </a:lnTo>
                  <a:close/>
                  <a:moveTo>
                    <a:pt x="14" y="593"/>
                  </a:moveTo>
                  <a:lnTo>
                    <a:pt x="14" y="607"/>
                  </a:lnTo>
                  <a:lnTo>
                    <a:pt x="0" y="607"/>
                  </a:lnTo>
                  <a:lnTo>
                    <a:pt x="0" y="593"/>
                  </a:lnTo>
                  <a:lnTo>
                    <a:pt x="14" y="593"/>
                  </a:lnTo>
                  <a:close/>
                  <a:moveTo>
                    <a:pt x="14" y="620"/>
                  </a:moveTo>
                  <a:lnTo>
                    <a:pt x="14" y="634"/>
                  </a:lnTo>
                  <a:lnTo>
                    <a:pt x="0" y="634"/>
                  </a:lnTo>
                  <a:lnTo>
                    <a:pt x="0" y="620"/>
                  </a:lnTo>
                  <a:lnTo>
                    <a:pt x="14" y="620"/>
                  </a:lnTo>
                  <a:close/>
                  <a:moveTo>
                    <a:pt x="14" y="647"/>
                  </a:moveTo>
                  <a:lnTo>
                    <a:pt x="14" y="661"/>
                  </a:lnTo>
                  <a:lnTo>
                    <a:pt x="0" y="661"/>
                  </a:lnTo>
                  <a:lnTo>
                    <a:pt x="0" y="647"/>
                  </a:lnTo>
                  <a:lnTo>
                    <a:pt x="14" y="647"/>
                  </a:lnTo>
                  <a:close/>
                  <a:moveTo>
                    <a:pt x="14" y="674"/>
                  </a:moveTo>
                  <a:lnTo>
                    <a:pt x="14" y="687"/>
                  </a:lnTo>
                  <a:lnTo>
                    <a:pt x="0" y="687"/>
                  </a:lnTo>
                  <a:lnTo>
                    <a:pt x="0" y="674"/>
                  </a:lnTo>
                  <a:lnTo>
                    <a:pt x="14" y="674"/>
                  </a:lnTo>
                  <a:close/>
                  <a:moveTo>
                    <a:pt x="14" y="701"/>
                  </a:moveTo>
                  <a:lnTo>
                    <a:pt x="14" y="715"/>
                  </a:lnTo>
                  <a:lnTo>
                    <a:pt x="0" y="715"/>
                  </a:lnTo>
                  <a:lnTo>
                    <a:pt x="0" y="701"/>
                  </a:lnTo>
                  <a:lnTo>
                    <a:pt x="14" y="701"/>
                  </a:lnTo>
                  <a:close/>
                  <a:moveTo>
                    <a:pt x="14" y="728"/>
                  </a:moveTo>
                  <a:lnTo>
                    <a:pt x="14" y="741"/>
                  </a:lnTo>
                  <a:lnTo>
                    <a:pt x="0" y="741"/>
                  </a:lnTo>
                  <a:lnTo>
                    <a:pt x="0" y="728"/>
                  </a:lnTo>
                  <a:lnTo>
                    <a:pt x="14" y="728"/>
                  </a:lnTo>
                  <a:close/>
                  <a:moveTo>
                    <a:pt x="14" y="755"/>
                  </a:moveTo>
                  <a:lnTo>
                    <a:pt x="14" y="768"/>
                  </a:lnTo>
                  <a:lnTo>
                    <a:pt x="0" y="768"/>
                  </a:lnTo>
                  <a:lnTo>
                    <a:pt x="0" y="755"/>
                  </a:lnTo>
                  <a:lnTo>
                    <a:pt x="14" y="755"/>
                  </a:lnTo>
                  <a:close/>
                  <a:moveTo>
                    <a:pt x="14" y="782"/>
                  </a:moveTo>
                  <a:lnTo>
                    <a:pt x="14" y="795"/>
                  </a:lnTo>
                  <a:lnTo>
                    <a:pt x="0" y="795"/>
                  </a:lnTo>
                  <a:lnTo>
                    <a:pt x="0" y="782"/>
                  </a:lnTo>
                  <a:lnTo>
                    <a:pt x="14" y="782"/>
                  </a:lnTo>
                  <a:close/>
                  <a:moveTo>
                    <a:pt x="14" y="809"/>
                  </a:moveTo>
                  <a:lnTo>
                    <a:pt x="14" y="822"/>
                  </a:lnTo>
                  <a:lnTo>
                    <a:pt x="0" y="822"/>
                  </a:lnTo>
                  <a:lnTo>
                    <a:pt x="0" y="809"/>
                  </a:lnTo>
                  <a:lnTo>
                    <a:pt x="14" y="809"/>
                  </a:lnTo>
                  <a:close/>
                  <a:moveTo>
                    <a:pt x="14" y="836"/>
                  </a:moveTo>
                  <a:lnTo>
                    <a:pt x="14" y="849"/>
                  </a:lnTo>
                  <a:lnTo>
                    <a:pt x="0" y="849"/>
                  </a:lnTo>
                  <a:lnTo>
                    <a:pt x="0" y="836"/>
                  </a:lnTo>
                  <a:lnTo>
                    <a:pt x="14" y="836"/>
                  </a:lnTo>
                  <a:close/>
                  <a:moveTo>
                    <a:pt x="14" y="863"/>
                  </a:moveTo>
                  <a:lnTo>
                    <a:pt x="14" y="876"/>
                  </a:lnTo>
                  <a:lnTo>
                    <a:pt x="0" y="876"/>
                  </a:lnTo>
                  <a:lnTo>
                    <a:pt x="0" y="863"/>
                  </a:lnTo>
                  <a:lnTo>
                    <a:pt x="14" y="863"/>
                  </a:lnTo>
                  <a:close/>
                  <a:moveTo>
                    <a:pt x="14" y="890"/>
                  </a:moveTo>
                  <a:lnTo>
                    <a:pt x="14" y="903"/>
                  </a:lnTo>
                  <a:lnTo>
                    <a:pt x="0" y="903"/>
                  </a:lnTo>
                  <a:lnTo>
                    <a:pt x="0" y="890"/>
                  </a:lnTo>
                  <a:lnTo>
                    <a:pt x="14" y="890"/>
                  </a:lnTo>
                  <a:close/>
                  <a:moveTo>
                    <a:pt x="14" y="917"/>
                  </a:moveTo>
                  <a:lnTo>
                    <a:pt x="14" y="930"/>
                  </a:lnTo>
                  <a:lnTo>
                    <a:pt x="0" y="930"/>
                  </a:lnTo>
                  <a:lnTo>
                    <a:pt x="0" y="917"/>
                  </a:lnTo>
                  <a:lnTo>
                    <a:pt x="14" y="917"/>
                  </a:lnTo>
                  <a:close/>
                  <a:moveTo>
                    <a:pt x="14" y="944"/>
                  </a:moveTo>
                  <a:lnTo>
                    <a:pt x="14" y="957"/>
                  </a:lnTo>
                  <a:lnTo>
                    <a:pt x="0" y="957"/>
                  </a:lnTo>
                  <a:lnTo>
                    <a:pt x="0" y="944"/>
                  </a:lnTo>
                  <a:lnTo>
                    <a:pt x="14" y="944"/>
                  </a:lnTo>
                  <a:close/>
                  <a:moveTo>
                    <a:pt x="14" y="970"/>
                  </a:moveTo>
                  <a:lnTo>
                    <a:pt x="14" y="984"/>
                  </a:lnTo>
                  <a:lnTo>
                    <a:pt x="0" y="984"/>
                  </a:lnTo>
                  <a:lnTo>
                    <a:pt x="0" y="970"/>
                  </a:lnTo>
                  <a:lnTo>
                    <a:pt x="14" y="970"/>
                  </a:lnTo>
                  <a:close/>
                  <a:moveTo>
                    <a:pt x="14" y="998"/>
                  </a:moveTo>
                  <a:lnTo>
                    <a:pt x="14" y="1011"/>
                  </a:lnTo>
                  <a:lnTo>
                    <a:pt x="0" y="1011"/>
                  </a:lnTo>
                  <a:lnTo>
                    <a:pt x="0" y="998"/>
                  </a:lnTo>
                  <a:lnTo>
                    <a:pt x="14" y="998"/>
                  </a:lnTo>
                  <a:close/>
                  <a:moveTo>
                    <a:pt x="14" y="1024"/>
                  </a:moveTo>
                  <a:lnTo>
                    <a:pt x="14" y="1038"/>
                  </a:lnTo>
                  <a:lnTo>
                    <a:pt x="0" y="1038"/>
                  </a:lnTo>
                  <a:lnTo>
                    <a:pt x="0" y="1024"/>
                  </a:lnTo>
                  <a:lnTo>
                    <a:pt x="14" y="1024"/>
                  </a:lnTo>
                  <a:close/>
                  <a:moveTo>
                    <a:pt x="14" y="1051"/>
                  </a:moveTo>
                  <a:lnTo>
                    <a:pt x="14" y="1065"/>
                  </a:lnTo>
                  <a:lnTo>
                    <a:pt x="0" y="1065"/>
                  </a:lnTo>
                  <a:lnTo>
                    <a:pt x="0" y="1051"/>
                  </a:lnTo>
                  <a:lnTo>
                    <a:pt x="14" y="1051"/>
                  </a:lnTo>
                  <a:close/>
                  <a:moveTo>
                    <a:pt x="14" y="1078"/>
                  </a:moveTo>
                  <a:lnTo>
                    <a:pt x="14" y="1092"/>
                  </a:lnTo>
                  <a:lnTo>
                    <a:pt x="0" y="1092"/>
                  </a:lnTo>
                  <a:lnTo>
                    <a:pt x="0" y="1078"/>
                  </a:lnTo>
                  <a:lnTo>
                    <a:pt x="14" y="1078"/>
                  </a:lnTo>
                  <a:close/>
                  <a:moveTo>
                    <a:pt x="14" y="1105"/>
                  </a:moveTo>
                  <a:lnTo>
                    <a:pt x="14" y="1119"/>
                  </a:lnTo>
                  <a:lnTo>
                    <a:pt x="0" y="1119"/>
                  </a:lnTo>
                  <a:lnTo>
                    <a:pt x="0" y="1105"/>
                  </a:lnTo>
                  <a:lnTo>
                    <a:pt x="14" y="1105"/>
                  </a:lnTo>
                  <a:close/>
                  <a:moveTo>
                    <a:pt x="14" y="1132"/>
                  </a:moveTo>
                  <a:lnTo>
                    <a:pt x="14" y="1146"/>
                  </a:lnTo>
                  <a:lnTo>
                    <a:pt x="0" y="1146"/>
                  </a:lnTo>
                  <a:lnTo>
                    <a:pt x="0" y="1132"/>
                  </a:lnTo>
                  <a:lnTo>
                    <a:pt x="14" y="1132"/>
                  </a:lnTo>
                  <a:close/>
                  <a:moveTo>
                    <a:pt x="14" y="1159"/>
                  </a:moveTo>
                  <a:lnTo>
                    <a:pt x="14" y="1173"/>
                  </a:lnTo>
                  <a:lnTo>
                    <a:pt x="0" y="1173"/>
                  </a:lnTo>
                  <a:lnTo>
                    <a:pt x="0" y="1159"/>
                  </a:lnTo>
                  <a:lnTo>
                    <a:pt x="14" y="1159"/>
                  </a:lnTo>
                  <a:close/>
                  <a:moveTo>
                    <a:pt x="14" y="1186"/>
                  </a:moveTo>
                  <a:lnTo>
                    <a:pt x="14" y="1200"/>
                  </a:lnTo>
                  <a:lnTo>
                    <a:pt x="0" y="1200"/>
                  </a:lnTo>
                  <a:lnTo>
                    <a:pt x="0" y="1186"/>
                  </a:lnTo>
                  <a:lnTo>
                    <a:pt x="14" y="1186"/>
                  </a:lnTo>
                  <a:close/>
                  <a:moveTo>
                    <a:pt x="14" y="1213"/>
                  </a:moveTo>
                  <a:lnTo>
                    <a:pt x="14" y="1227"/>
                  </a:lnTo>
                  <a:lnTo>
                    <a:pt x="0" y="1227"/>
                  </a:lnTo>
                  <a:lnTo>
                    <a:pt x="0" y="1213"/>
                  </a:lnTo>
                  <a:lnTo>
                    <a:pt x="14" y="1213"/>
                  </a:lnTo>
                  <a:close/>
                  <a:moveTo>
                    <a:pt x="14" y="1240"/>
                  </a:moveTo>
                  <a:lnTo>
                    <a:pt x="14" y="1253"/>
                  </a:lnTo>
                  <a:lnTo>
                    <a:pt x="0" y="1253"/>
                  </a:lnTo>
                  <a:lnTo>
                    <a:pt x="0" y="1240"/>
                  </a:lnTo>
                  <a:lnTo>
                    <a:pt x="14" y="1240"/>
                  </a:lnTo>
                  <a:close/>
                  <a:moveTo>
                    <a:pt x="14" y="1267"/>
                  </a:moveTo>
                  <a:lnTo>
                    <a:pt x="14" y="1281"/>
                  </a:lnTo>
                  <a:lnTo>
                    <a:pt x="0" y="1281"/>
                  </a:lnTo>
                  <a:lnTo>
                    <a:pt x="0" y="1267"/>
                  </a:lnTo>
                  <a:lnTo>
                    <a:pt x="14" y="1267"/>
                  </a:lnTo>
                  <a:close/>
                  <a:moveTo>
                    <a:pt x="14" y="1294"/>
                  </a:moveTo>
                  <a:lnTo>
                    <a:pt x="14" y="1307"/>
                  </a:lnTo>
                  <a:lnTo>
                    <a:pt x="0" y="1307"/>
                  </a:lnTo>
                  <a:lnTo>
                    <a:pt x="0" y="1294"/>
                  </a:lnTo>
                  <a:lnTo>
                    <a:pt x="14" y="1294"/>
                  </a:lnTo>
                  <a:close/>
                  <a:moveTo>
                    <a:pt x="14" y="1321"/>
                  </a:moveTo>
                  <a:lnTo>
                    <a:pt x="14" y="1334"/>
                  </a:lnTo>
                  <a:lnTo>
                    <a:pt x="0" y="1334"/>
                  </a:lnTo>
                  <a:lnTo>
                    <a:pt x="0" y="1321"/>
                  </a:lnTo>
                  <a:lnTo>
                    <a:pt x="14" y="1321"/>
                  </a:lnTo>
                  <a:close/>
                  <a:moveTo>
                    <a:pt x="14" y="1348"/>
                  </a:moveTo>
                  <a:lnTo>
                    <a:pt x="14" y="1361"/>
                  </a:lnTo>
                  <a:lnTo>
                    <a:pt x="0" y="1361"/>
                  </a:lnTo>
                  <a:lnTo>
                    <a:pt x="0" y="1348"/>
                  </a:lnTo>
                  <a:lnTo>
                    <a:pt x="14" y="1348"/>
                  </a:lnTo>
                  <a:close/>
                  <a:moveTo>
                    <a:pt x="14" y="1375"/>
                  </a:moveTo>
                  <a:lnTo>
                    <a:pt x="14" y="1388"/>
                  </a:lnTo>
                  <a:lnTo>
                    <a:pt x="0" y="1388"/>
                  </a:lnTo>
                  <a:lnTo>
                    <a:pt x="0" y="1375"/>
                  </a:lnTo>
                  <a:lnTo>
                    <a:pt x="14" y="1375"/>
                  </a:lnTo>
                  <a:close/>
                  <a:moveTo>
                    <a:pt x="14" y="1402"/>
                  </a:moveTo>
                  <a:lnTo>
                    <a:pt x="14" y="1415"/>
                  </a:lnTo>
                  <a:lnTo>
                    <a:pt x="0" y="1415"/>
                  </a:lnTo>
                  <a:lnTo>
                    <a:pt x="0" y="1402"/>
                  </a:lnTo>
                  <a:lnTo>
                    <a:pt x="14" y="1402"/>
                  </a:lnTo>
                  <a:close/>
                  <a:moveTo>
                    <a:pt x="14" y="1429"/>
                  </a:moveTo>
                  <a:lnTo>
                    <a:pt x="14" y="1442"/>
                  </a:lnTo>
                  <a:lnTo>
                    <a:pt x="0" y="1442"/>
                  </a:lnTo>
                  <a:lnTo>
                    <a:pt x="0" y="1429"/>
                  </a:lnTo>
                  <a:lnTo>
                    <a:pt x="14" y="1429"/>
                  </a:lnTo>
                  <a:close/>
                  <a:moveTo>
                    <a:pt x="14" y="1455"/>
                  </a:moveTo>
                  <a:lnTo>
                    <a:pt x="14" y="1469"/>
                  </a:lnTo>
                  <a:lnTo>
                    <a:pt x="0" y="1469"/>
                  </a:lnTo>
                  <a:lnTo>
                    <a:pt x="0" y="1455"/>
                  </a:lnTo>
                  <a:lnTo>
                    <a:pt x="14" y="1455"/>
                  </a:lnTo>
                  <a:close/>
                  <a:moveTo>
                    <a:pt x="14" y="1483"/>
                  </a:moveTo>
                  <a:lnTo>
                    <a:pt x="14" y="1496"/>
                  </a:lnTo>
                  <a:lnTo>
                    <a:pt x="0" y="1496"/>
                  </a:lnTo>
                  <a:lnTo>
                    <a:pt x="0" y="1483"/>
                  </a:lnTo>
                  <a:lnTo>
                    <a:pt x="14" y="1483"/>
                  </a:lnTo>
                  <a:close/>
                  <a:moveTo>
                    <a:pt x="14" y="1510"/>
                  </a:moveTo>
                  <a:lnTo>
                    <a:pt x="14" y="1523"/>
                  </a:lnTo>
                  <a:lnTo>
                    <a:pt x="0" y="1523"/>
                  </a:lnTo>
                  <a:lnTo>
                    <a:pt x="0" y="1510"/>
                  </a:lnTo>
                  <a:lnTo>
                    <a:pt x="14" y="1510"/>
                  </a:lnTo>
                  <a:close/>
                  <a:moveTo>
                    <a:pt x="14" y="1536"/>
                  </a:moveTo>
                  <a:lnTo>
                    <a:pt x="14" y="1550"/>
                  </a:lnTo>
                  <a:lnTo>
                    <a:pt x="0" y="1550"/>
                  </a:lnTo>
                  <a:lnTo>
                    <a:pt x="0" y="1536"/>
                  </a:lnTo>
                  <a:lnTo>
                    <a:pt x="14" y="1536"/>
                  </a:lnTo>
                  <a:close/>
                  <a:moveTo>
                    <a:pt x="14" y="1564"/>
                  </a:moveTo>
                  <a:lnTo>
                    <a:pt x="14" y="1577"/>
                  </a:lnTo>
                  <a:lnTo>
                    <a:pt x="0" y="1577"/>
                  </a:lnTo>
                  <a:lnTo>
                    <a:pt x="0" y="1564"/>
                  </a:lnTo>
                  <a:lnTo>
                    <a:pt x="14" y="1564"/>
                  </a:lnTo>
                  <a:close/>
                  <a:moveTo>
                    <a:pt x="14" y="1590"/>
                  </a:moveTo>
                  <a:lnTo>
                    <a:pt x="14" y="1604"/>
                  </a:lnTo>
                  <a:lnTo>
                    <a:pt x="0" y="1604"/>
                  </a:lnTo>
                  <a:lnTo>
                    <a:pt x="0" y="1590"/>
                  </a:lnTo>
                  <a:lnTo>
                    <a:pt x="14" y="1590"/>
                  </a:lnTo>
                  <a:close/>
                  <a:moveTo>
                    <a:pt x="14" y="1617"/>
                  </a:moveTo>
                  <a:lnTo>
                    <a:pt x="14" y="1631"/>
                  </a:lnTo>
                  <a:lnTo>
                    <a:pt x="0" y="1631"/>
                  </a:lnTo>
                  <a:lnTo>
                    <a:pt x="0" y="1617"/>
                  </a:lnTo>
                  <a:lnTo>
                    <a:pt x="14" y="1617"/>
                  </a:lnTo>
                  <a:close/>
                  <a:moveTo>
                    <a:pt x="14" y="1644"/>
                  </a:moveTo>
                  <a:lnTo>
                    <a:pt x="14" y="1658"/>
                  </a:lnTo>
                  <a:lnTo>
                    <a:pt x="0" y="1658"/>
                  </a:lnTo>
                  <a:lnTo>
                    <a:pt x="0" y="1644"/>
                  </a:lnTo>
                  <a:lnTo>
                    <a:pt x="14" y="1644"/>
                  </a:lnTo>
                  <a:close/>
                  <a:moveTo>
                    <a:pt x="14" y="1671"/>
                  </a:moveTo>
                  <a:lnTo>
                    <a:pt x="14" y="1685"/>
                  </a:lnTo>
                  <a:lnTo>
                    <a:pt x="0" y="1685"/>
                  </a:lnTo>
                  <a:lnTo>
                    <a:pt x="0" y="1671"/>
                  </a:lnTo>
                  <a:lnTo>
                    <a:pt x="14" y="1671"/>
                  </a:lnTo>
                  <a:close/>
                  <a:moveTo>
                    <a:pt x="14" y="1698"/>
                  </a:moveTo>
                  <a:lnTo>
                    <a:pt x="14" y="1712"/>
                  </a:lnTo>
                  <a:lnTo>
                    <a:pt x="0" y="1712"/>
                  </a:lnTo>
                  <a:lnTo>
                    <a:pt x="0" y="1698"/>
                  </a:lnTo>
                  <a:lnTo>
                    <a:pt x="14" y="1698"/>
                  </a:lnTo>
                  <a:close/>
                  <a:moveTo>
                    <a:pt x="14" y="1725"/>
                  </a:moveTo>
                  <a:lnTo>
                    <a:pt x="14" y="1738"/>
                  </a:lnTo>
                  <a:lnTo>
                    <a:pt x="0" y="1738"/>
                  </a:lnTo>
                  <a:lnTo>
                    <a:pt x="0" y="1725"/>
                  </a:lnTo>
                  <a:lnTo>
                    <a:pt x="14" y="1725"/>
                  </a:lnTo>
                  <a:close/>
                  <a:moveTo>
                    <a:pt x="14" y="1752"/>
                  </a:moveTo>
                  <a:lnTo>
                    <a:pt x="14" y="1766"/>
                  </a:lnTo>
                  <a:lnTo>
                    <a:pt x="0" y="1766"/>
                  </a:lnTo>
                  <a:lnTo>
                    <a:pt x="0" y="1752"/>
                  </a:lnTo>
                  <a:lnTo>
                    <a:pt x="14" y="1752"/>
                  </a:lnTo>
                  <a:close/>
                  <a:moveTo>
                    <a:pt x="14" y="1779"/>
                  </a:moveTo>
                  <a:lnTo>
                    <a:pt x="14" y="1792"/>
                  </a:lnTo>
                  <a:lnTo>
                    <a:pt x="0" y="1792"/>
                  </a:lnTo>
                  <a:lnTo>
                    <a:pt x="0" y="1779"/>
                  </a:lnTo>
                  <a:lnTo>
                    <a:pt x="14" y="1779"/>
                  </a:lnTo>
                  <a:close/>
                  <a:moveTo>
                    <a:pt x="14" y="1806"/>
                  </a:moveTo>
                  <a:lnTo>
                    <a:pt x="14" y="1819"/>
                  </a:lnTo>
                  <a:lnTo>
                    <a:pt x="0" y="1819"/>
                  </a:lnTo>
                  <a:lnTo>
                    <a:pt x="0" y="1806"/>
                  </a:lnTo>
                  <a:lnTo>
                    <a:pt x="14" y="1806"/>
                  </a:lnTo>
                  <a:close/>
                  <a:moveTo>
                    <a:pt x="14" y="1833"/>
                  </a:moveTo>
                  <a:lnTo>
                    <a:pt x="14" y="1846"/>
                  </a:lnTo>
                  <a:lnTo>
                    <a:pt x="0" y="1846"/>
                  </a:lnTo>
                  <a:lnTo>
                    <a:pt x="0" y="1833"/>
                  </a:lnTo>
                  <a:lnTo>
                    <a:pt x="14" y="1833"/>
                  </a:lnTo>
                  <a:close/>
                  <a:moveTo>
                    <a:pt x="14" y="1860"/>
                  </a:moveTo>
                  <a:lnTo>
                    <a:pt x="14" y="1873"/>
                  </a:lnTo>
                  <a:lnTo>
                    <a:pt x="0" y="1873"/>
                  </a:lnTo>
                  <a:lnTo>
                    <a:pt x="0" y="1860"/>
                  </a:lnTo>
                  <a:lnTo>
                    <a:pt x="14" y="1860"/>
                  </a:lnTo>
                  <a:close/>
                  <a:moveTo>
                    <a:pt x="14" y="1887"/>
                  </a:moveTo>
                  <a:lnTo>
                    <a:pt x="14" y="1900"/>
                  </a:lnTo>
                  <a:lnTo>
                    <a:pt x="0" y="1900"/>
                  </a:lnTo>
                  <a:lnTo>
                    <a:pt x="0" y="1887"/>
                  </a:lnTo>
                  <a:lnTo>
                    <a:pt x="14" y="1887"/>
                  </a:lnTo>
                  <a:close/>
                  <a:moveTo>
                    <a:pt x="14" y="1914"/>
                  </a:moveTo>
                  <a:lnTo>
                    <a:pt x="14" y="1927"/>
                  </a:lnTo>
                  <a:lnTo>
                    <a:pt x="0" y="1927"/>
                  </a:lnTo>
                  <a:lnTo>
                    <a:pt x="0" y="1914"/>
                  </a:lnTo>
                  <a:lnTo>
                    <a:pt x="14" y="1914"/>
                  </a:lnTo>
                  <a:close/>
                  <a:moveTo>
                    <a:pt x="14" y="1941"/>
                  </a:moveTo>
                  <a:lnTo>
                    <a:pt x="14" y="1954"/>
                  </a:lnTo>
                  <a:lnTo>
                    <a:pt x="0" y="1954"/>
                  </a:lnTo>
                  <a:lnTo>
                    <a:pt x="0" y="1941"/>
                  </a:lnTo>
                  <a:lnTo>
                    <a:pt x="14" y="1941"/>
                  </a:lnTo>
                  <a:close/>
                  <a:moveTo>
                    <a:pt x="14" y="1968"/>
                  </a:moveTo>
                  <a:lnTo>
                    <a:pt x="14" y="1981"/>
                  </a:lnTo>
                  <a:lnTo>
                    <a:pt x="0" y="1981"/>
                  </a:lnTo>
                  <a:lnTo>
                    <a:pt x="0" y="1968"/>
                  </a:lnTo>
                  <a:lnTo>
                    <a:pt x="14" y="1968"/>
                  </a:lnTo>
                  <a:close/>
                  <a:moveTo>
                    <a:pt x="14" y="1995"/>
                  </a:moveTo>
                  <a:lnTo>
                    <a:pt x="14" y="2008"/>
                  </a:lnTo>
                  <a:lnTo>
                    <a:pt x="0" y="2008"/>
                  </a:lnTo>
                  <a:lnTo>
                    <a:pt x="0" y="1995"/>
                  </a:lnTo>
                  <a:lnTo>
                    <a:pt x="14" y="1995"/>
                  </a:lnTo>
                  <a:close/>
                  <a:moveTo>
                    <a:pt x="14" y="2021"/>
                  </a:moveTo>
                  <a:lnTo>
                    <a:pt x="14" y="2035"/>
                  </a:lnTo>
                  <a:lnTo>
                    <a:pt x="0" y="2035"/>
                  </a:lnTo>
                  <a:lnTo>
                    <a:pt x="0" y="2021"/>
                  </a:lnTo>
                  <a:lnTo>
                    <a:pt x="14" y="2021"/>
                  </a:lnTo>
                  <a:close/>
                  <a:moveTo>
                    <a:pt x="14" y="2049"/>
                  </a:moveTo>
                  <a:lnTo>
                    <a:pt x="14" y="2062"/>
                  </a:lnTo>
                  <a:lnTo>
                    <a:pt x="0" y="2062"/>
                  </a:lnTo>
                  <a:lnTo>
                    <a:pt x="0" y="2049"/>
                  </a:lnTo>
                  <a:lnTo>
                    <a:pt x="14" y="2049"/>
                  </a:lnTo>
                  <a:close/>
                  <a:moveTo>
                    <a:pt x="14" y="2075"/>
                  </a:moveTo>
                  <a:lnTo>
                    <a:pt x="14" y="2089"/>
                  </a:lnTo>
                  <a:lnTo>
                    <a:pt x="0" y="2089"/>
                  </a:lnTo>
                  <a:lnTo>
                    <a:pt x="0" y="2075"/>
                  </a:lnTo>
                  <a:lnTo>
                    <a:pt x="14" y="2075"/>
                  </a:lnTo>
                  <a:close/>
                  <a:moveTo>
                    <a:pt x="14" y="2102"/>
                  </a:moveTo>
                  <a:lnTo>
                    <a:pt x="14" y="2116"/>
                  </a:lnTo>
                  <a:lnTo>
                    <a:pt x="0" y="2116"/>
                  </a:lnTo>
                  <a:lnTo>
                    <a:pt x="0" y="2102"/>
                  </a:lnTo>
                  <a:lnTo>
                    <a:pt x="14" y="2102"/>
                  </a:lnTo>
                  <a:close/>
                  <a:moveTo>
                    <a:pt x="14" y="2129"/>
                  </a:moveTo>
                  <a:lnTo>
                    <a:pt x="14" y="2143"/>
                  </a:lnTo>
                  <a:lnTo>
                    <a:pt x="0" y="2143"/>
                  </a:lnTo>
                  <a:lnTo>
                    <a:pt x="0" y="2129"/>
                  </a:lnTo>
                  <a:lnTo>
                    <a:pt x="14" y="2129"/>
                  </a:lnTo>
                  <a:close/>
                  <a:moveTo>
                    <a:pt x="14" y="2156"/>
                  </a:moveTo>
                  <a:lnTo>
                    <a:pt x="14" y="2170"/>
                  </a:lnTo>
                  <a:lnTo>
                    <a:pt x="0" y="2170"/>
                  </a:lnTo>
                  <a:lnTo>
                    <a:pt x="0" y="2156"/>
                  </a:lnTo>
                  <a:lnTo>
                    <a:pt x="14" y="2156"/>
                  </a:lnTo>
                  <a:close/>
                  <a:moveTo>
                    <a:pt x="14" y="2183"/>
                  </a:moveTo>
                  <a:lnTo>
                    <a:pt x="14" y="2197"/>
                  </a:lnTo>
                  <a:lnTo>
                    <a:pt x="0" y="2197"/>
                  </a:lnTo>
                  <a:lnTo>
                    <a:pt x="0" y="2183"/>
                  </a:lnTo>
                  <a:lnTo>
                    <a:pt x="14" y="2183"/>
                  </a:lnTo>
                  <a:close/>
                  <a:moveTo>
                    <a:pt x="14" y="2210"/>
                  </a:moveTo>
                  <a:lnTo>
                    <a:pt x="14" y="2224"/>
                  </a:lnTo>
                  <a:lnTo>
                    <a:pt x="0" y="2224"/>
                  </a:lnTo>
                  <a:lnTo>
                    <a:pt x="0" y="2210"/>
                  </a:lnTo>
                  <a:lnTo>
                    <a:pt x="14" y="2210"/>
                  </a:lnTo>
                  <a:close/>
                  <a:moveTo>
                    <a:pt x="14" y="2237"/>
                  </a:moveTo>
                  <a:lnTo>
                    <a:pt x="14" y="2251"/>
                  </a:lnTo>
                  <a:lnTo>
                    <a:pt x="0" y="2251"/>
                  </a:lnTo>
                  <a:lnTo>
                    <a:pt x="0" y="2237"/>
                  </a:lnTo>
                  <a:lnTo>
                    <a:pt x="14" y="2237"/>
                  </a:lnTo>
                  <a:close/>
                  <a:moveTo>
                    <a:pt x="14" y="2264"/>
                  </a:moveTo>
                  <a:lnTo>
                    <a:pt x="14" y="2278"/>
                  </a:lnTo>
                  <a:lnTo>
                    <a:pt x="0" y="2278"/>
                  </a:lnTo>
                  <a:lnTo>
                    <a:pt x="0" y="2264"/>
                  </a:lnTo>
                  <a:lnTo>
                    <a:pt x="14" y="2264"/>
                  </a:lnTo>
                  <a:close/>
                  <a:moveTo>
                    <a:pt x="14" y="2291"/>
                  </a:moveTo>
                  <a:lnTo>
                    <a:pt x="14" y="2304"/>
                  </a:lnTo>
                  <a:lnTo>
                    <a:pt x="0" y="2304"/>
                  </a:lnTo>
                  <a:lnTo>
                    <a:pt x="0" y="2291"/>
                  </a:lnTo>
                  <a:lnTo>
                    <a:pt x="14" y="2291"/>
                  </a:lnTo>
                  <a:close/>
                  <a:moveTo>
                    <a:pt x="14" y="2318"/>
                  </a:moveTo>
                  <a:lnTo>
                    <a:pt x="14" y="2332"/>
                  </a:lnTo>
                  <a:lnTo>
                    <a:pt x="0" y="2332"/>
                  </a:lnTo>
                  <a:lnTo>
                    <a:pt x="0" y="2318"/>
                  </a:lnTo>
                  <a:lnTo>
                    <a:pt x="14" y="2318"/>
                  </a:lnTo>
                  <a:close/>
                  <a:moveTo>
                    <a:pt x="14" y="2345"/>
                  </a:moveTo>
                  <a:lnTo>
                    <a:pt x="14" y="2358"/>
                  </a:lnTo>
                  <a:lnTo>
                    <a:pt x="0" y="2358"/>
                  </a:lnTo>
                  <a:lnTo>
                    <a:pt x="0" y="2345"/>
                  </a:lnTo>
                  <a:lnTo>
                    <a:pt x="14" y="2345"/>
                  </a:lnTo>
                  <a:close/>
                </a:path>
              </a:pathLst>
            </a:custGeom>
            <a:solidFill>
              <a:srgbClr val="000000"/>
            </a:solidFill>
            <a:ln w="0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99" name="Freeform 95">
              <a:extLst>
                <a:ext uri="{FF2B5EF4-FFF2-40B4-BE49-F238E27FC236}">
                  <a16:creationId xmlns:a16="http://schemas.microsoft.com/office/drawing/2014/main" id="{C0E62672-D2D3-4CB8-BDC5-80CE95A3A67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329515" y="2993030"/>
              <a:ext cx="73134" cy="3793427"/>
            </a:xfrm>
            <a:custGeom>
              <a:avLst/>
              <a:gdLst>
                <a:gd name="T0" fmla="*/ 31 w 46"/>
                <a:gd name="T1" fmla="*/ 0 h 2386"/>
                <a:gd name="T2" fmla="*/ 31 w 46"/>
                <a:gd name="T3" fmla="*/ 2348 h 2386"/>
                <a:gd name="T4" fmla="*/ 16 w 46"/>
                <a:gd name="T5" fmla="*/ 2348 h 2386"/>
                <a:gd name="T6" fmla="*/ 16 w 46"/>
                <a:gd name="T7" fmla="*/ 0 h 2386"/>
                <a:gd name="T8" fmla="*/ 31 w 46"/>
                <a:gd name="T9" fmla="*/ 0 h 2386"/>
                <a:gd name="T10" fmla="*/ 46 w 46"/>
                <a:gd name="T11" fmla="*/ 2340 h 2386"/>
                <a:gd name="T12" fmla="*/ 23 w 46"/>
                <a:gd name="T13" fmla="*/ 2386 h 2386"/>
                <a:gd name="T14" fmla="*/ 0 w 46"/>
                <a:gd name="T15" fmla="*/ 2340 h 2386"/>
                <a:gd name="T16" fmla="*/ 46 w 46"/>
                <a:gd name="T17" fmla="*/ 2340 h 23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6" h="2386">
                  <a:moveTo>
                    <a:pt x="31" y="0"/>
                  </a:moveTo>
                  <a:lnTo>
                    <a:pt x="31" y="2348"/>
                  </a:lnTo>
                  <a:lnTo>
                    <a:pt x="16" y="2348"/>
                  </a:lnTo>
                  <a:lnTo>
                    <a:pt x="16" y="0"/>
                  </a:lnTo>
                  <a:lnTo>
                    <a:pt x="31" y="0"/>
                  </a:lnTo>
                  <a:close/>
                  <a:moveTo>
                    <a:pt x="46" y="2340"/>
                  </a:moveTo>
                  <a:lnTo>
                    <a:pt x="23" y="2386"/>
                  </a:lnTo>
                  <a:lnTo>
                    <a:pt x="0" y="2340"/>
                  </a:lnTo>
                  <a:lnTo>
                    <a:pt x="46" y="2340"/>
                  </a:lnTo>
                  <a:close/>
                </a:path>
              </a:pathLst>
            </a:custGeom>
            <a:solidFill>
              <a:srgbClr val="000000"/>
            </a:solidFill>
            <a:ln w="0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100" name="Freeform 96">
              <a:extLst>
                <a:ext uri="{FF2B5EF4-FFF2-40B4-BE49-F238E27FC236}">
                  <a16:creationId xmlns:a16="http://schemas.microsoft.com/office/drawing/2014/main" id="{22AA39B6-2135-456D-A3F6-7205BF8DF80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5496" y="2865840"/>
              <a:ext cx="287766" cy="640717"/>
            </a:xfrm>
            <a:custGeom>
              <a:avLst/>
              <a:gdLst>
                <a:gd name="T0" fmla="*/ 0 w 181"/>
                <a:gd name="T1" fmla="*/ 269 h 403"/>
                <a:gd name="T2" fmla="*/ 60 w 181"/>
                <a:gd name="T3" fmla="*/ 201 h 403"/>
                <a:gd name="T4" fmla="*/ 0 w 181"/>
                <a:gd name="T5" fmla="*/ 134 h 403"/>
                <a:gd name="T6" fmla="*/ 0 w 181"/>
                <a:gd name="T7" fmla="*/ 0 h 403"/>
                <a:gd name="T8" fmla="*/ 181 w 181"/>
                <a:gd name="T9" fmla="*/ 134 h 403"/>
                <a:gd name="T10" fmla="*/ 181 w 181"/>
                <a:gd name="T11" fmla="*/ 269 h 403"/>
                <a:gd name="T12" fmla="*/ 0 w 181"/>
                <a:gd name="T13" fmla="*/ 403 h 403"/>
                <a:gd name="T14" fmla="*/ 0 w 181"/>
                <a:gd name="T15" fmla="*/ 269 h 4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81" h="403">
                  <a:moveTo>
                    <a:pt x="0" y="269"/>
                  </a:moveTo>
                  <a:lnTo>
                    <a:pt x="60" y="201"/>
                  </a:lnTo>
                  <a:lnTo>
                    <a:pt x="0" y="134"/>
                  </a:lnTo>
                  <a:lnTo>
                    <a:pt x="0" y="0"/>
                  </a:lnTo>
                  <a:lnTo>
                    <a:pt x="181" y="134"/>
                  </a:lnTo>
                  <a:lnTo>
                    <a:pt x="181" y="269"/>
                  </a:lnTo>
                  <a:lnTo>
                    <a:pt x="0" y="403"/>
                  </a:lnTo>
                  <a:lnTo>
                    <a:pt x="0" y="269"/>
                  </a:lnTo>
                </a:path>
              </a:pathLst>
            </a:custGeom>
            <a:noFill/>
            <a:ln w="222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101" name="Rectangle 97">
              <a:extLst>
                <a:ext uri="{FF2B5EF4-FFF2-40B4-BE49-F238E27FC236}">
                  <a16:creationId xmlns:a16="http://schemas.microsoft.com/office/drawing/2014/main" id="{27D29FD4-8B69-41A1-A953-4BC80AA97D91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4176970" y="3083652"/>
              <a:ext cx="685234" cy="20032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1300" u="none" strike="noStrike" cap="none" normalizeH="0" baseline="0" dirty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  <a:ea typeface="SimHei" panose="02010609060101010101" pitchFamily="49" charset="-122"/>
                </a:rPr>
                <a:t>ALU</a:t>
              </a:r>
              <a:endParaRPr kumimoji="0" lang="zh-CN" altLang="zh-CN" sz="130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endParaRPr>
            </a:p>
          </p:txBody>
        </p:sp>
        <p:sp>
          <p:nvSpPr>
            <p:cNvPr id="102" name="Rectangle 98">
              <a:extLst>
                <a:ext uri="{FF2B5EF4-FFF2-40B4-BE49-F238E27FC236}">
                  <a16:creationId xmlns:a16="http://schemas.microsoft.com/office/drawing/2014/main" id="{BD462009-4DC6-498C-8D0C-6E2894EF58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80122" y="3042316"/>
              <a:ext cx="186015" cy="20032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1300" u="none" strike="noStrike" cap="none" normalizeH="0" baseline="0" dirty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  <a:ea typeface="SimHei" panose="02010609060101010101" pitchFamily="49" charset="-122"/>
                </a:rPr>
                <a:t>IM</a:t>
              </a:r>
              <a:endParaRPr kumimoji="0" lang="zh-CN" altLang="zh-CN" sz="180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endParaRPr>
            </a:p>
          </p:txBody>
        </p:sp>
        <p:sp>
          <p:nvSpPr>
            <p:cNvPr id="103" name="Freeform 99">
              <a:extLst>
                <a:ext uri="{FF2B5EF4-FFF2-40B4-BE49-F238E27FC236}">
                  <a16:creationId xmlns:a16="http://schemas.microsoft.com/office/drawing/2014/main" id="{73FB23AF-EAE8-4ECE-948E-299DC736358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8578" y="2993030"/>
              <a:ext cx="224172" cy="384748"/>
            </a:xfrm>
            <a:custGeom>
              <a:avLst/>
              <a:gdLst>
                <a:gd name="T0" fmla="*/ 141 w 141"/>
                <a:gd name="T1" fmla="*/ 0 h 242"/>
                <a:gd name="T2" fmla="*/ 0 w 141"/>
                <a:gd name="T3" fmla="*/ 0 h 242"/>
                <a:gd name="T4" fmla="*/ 0 w 141"/>
                <a:gd name="T5" fmla="*/ 242 h 242"/>
                <a:gd name="T6" fmla="*/ 141 w 141"/>
                <a:gd name="T7" fmla="*/ 242 h 2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41" h="242">
                  <a:moveTo>
                    <a:pt x="141" y="0"/>
                  </a:moveTo>
                  <a:lnTo>
                    <a:pt x="0" y="0"/>
                  </a:lnTo>
                  <a:lnTo>
                    <a:pt x="0" y="242"/>
                  </a:lnTo>
                  <a:lnTo>
                    <a:pt x="141" y="242"/>
                  </a:lnTo>
                </a:path>
              </a:pathLst>
            </a:custGeom>
            <a:noFill/>
            <a:ln w="222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104" name="Freeform 100">
              <a:extLst>
                <a:ext uri="{FF2B5EF4-FFF2-40B4-BE49-F238E27FC236}">
                  <a16:creationId xmlns:a16="http://schemas.microsoft.com/office/drawing/2014/main" id="{38AB309C-4270-4715-A208-A2DE944FAED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2750" y="2993030"/>
              <a:ext cx="232121" cy="384748"/>
            </a:xfrm>
            <a:custGeom>
              <a:avLst/>
              <a:gdLst>
                <a:gd name="T0" fmla="*/ 0 w 146"/>
                <a:gd name="T1" fmla="*/ 0 h 242"/>
                <a:gd name="T2" fmla="*/ 146 w 146"/>
                <a:gd name="T3" fmla="*/ 0 h 242"/>
                <a:gd name="T4" fmla="*/ 146 w 146"/>
                <a:gd name="T5" fmla="*/ 242 h 242"/>
                <a:gd name="T6" fmla="*/ 0 w 146"/>
                <a:gd name="T7" fmla="*/ 242 h 2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46" h="242">
                  <a:moveTo>
                    <a:pt x="0" y="0"/>
                  </a:moveTo>
                  <a:lnTo>
                    <a:pt x="146" y="0"/>
                  </a:lnTo>
                  <a:lnTo>
                    <a:pt x="146" y="242"/>
                  </a:lnTo>
                  <a:lnTo>
                    <a:pt x="0" y="242"/>
                  </a:lnTo>
                </a:path>
              </a:pathLst>
            </a:custGeom>
            <a:noFill/>
            <a:ln w="222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105" name="Rectangle 101">
              <a:extLst>
                <a:ext uri="{FF2B5EF4-FFF2-40B4-BE49-F238E27FC236}">
                  <a16:creationId xmlns:a16="http://schemas.microsoft.com/office/drawing/2014/main" id="{870EBF86-DD73-48ED-8406-2AF419F9B6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74733" y="3048675"/>
              <a:ext cx="306845" cy="20032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1300" u="none" strike="noStrike" cap="none" normalizeH="0" baseline="0" dirty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  <a:ea typeface="SimHei" panose="02010609060101010101" pitchFamily="49" charset="-122"/>
                </a:rPr>
                <a:t>Reg</a:t>
              </a:r>
              <a:endParaRPr kumimoji="0" lang="zh-CN" altLang="zh-CN" sz="180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endParaRPr>
            </a:p>
          </p:txBody>
        </p:sp>
        <p:sp>
          <p:nvSpPr>
            <p:cNvPr id="106" name="Freeform 102">
              <a:extLst>
                <a:ext uri="{FF2B5EF4-FFF2-40B4-BE49-F238E27FC236}">
                  <a16:creationId xmlns:a16="http://schemas.microsoft.com/office/drawing/2014/main" id="{0FD69378-42E7-4263-93AC-A83A49B29A3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7037" y="2993030"/>
              <a:ext cx="198734" cy="384748"/>
            </a:xfrm>
            <a:custGeom>
              <a:avLst/>
              <a:gdLst>
                <a:gd name="T0" fmla="*/ 125 w 125"/>
                <a:gd name="T1" fmla="*/ 0 h 242"/>
                <a:gd name="T2" fmla="*/ 0 w 125"/>
                <a:gd name="T3" fmla="*/ 0 h 242"/>
                <a:gd name="T4" fmla="*/ 0 w 125"/>
                <a:gd name="T5" fmla="*/ 242 h 242"/>
                <a:gd name="T6" fmla="*/ 125 w 125"/>
                <a:gd name="T7" fmla="*/ 242 h 2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5" h="242">
                  <a:moveTo>
                    <a:pt x="125" y="0"/>
                  </a:moveTo>
                  <a:lnTo>
                    <a:pt x="0" y="0"/>
                  </a:lnTo>
                  <a:lnTo>
                    <a:pt x="0" y="242"/>
                  </a:lnTo>
                  <a:lnTo>
                    <a:pt x="125" y="242"/>
                  </a:lnTo>
                </a:path>
              </a:pathLst>
            </a:custGeom>
            <a:noFill/>
            <a:ln w="222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107" name="Freeform 103">
              <a:extLst>
                <a:ext uri="{FF2B5EF4-FFF2-40B4-BE49-F238E27FC236}">
                  <a16:creationId xmlns:a16="http://schemas.microsoft.com/office/drawing/2014/main" id="{2097C185-E6CA-4297-A00D-EED3FA1C7698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9411" y="2993030"/>
              <a:ext cx="200323" cy="384748"/>
            </a:xfrm>
            <a:custGeom>
              <a:avLst/>
              <a:gdLst>
                <a:gd name="T0" fmla="*/ 0 w 126"/>
                <a:gd name="T1" fmla="*/ 0 h 242"/>
                <a:gd name="T2" fmla="*/ 126 w 126"/>
                <a:gd name="T3" fmla="*/ 0 h 242"/>
                <a:gd name="T4" fmla="*/ 126 w 126"/>
                <a:gd name="T5" fmla="*/ 242 h 242"/>
                <a:gd name="T6" fmla="*/ 0 w 126"/>
                <a:gd name="T7" fmla="*/ 242 h 2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6" h="242">
                  <a:moveTo>
                    <a:pt x="0" y="0"/>
                  </a:moveTo>
                  <a:lnTo>
                    <a:pt x="126" y="0"/>
                  </a:lnTo>
                  <a:lnTo>
                    <a:pt x="126" y="242"/>
                  </a:lnTo>
                  <a:lnTo>
                    <a:pt x="0" y="242"/>
                  </a:lnTo>
                </a:path>
              </a:pathLst>
            </a:custGeom>
            <a:noFill/>
            <a:ln w="222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108" name="Line 104">
              <a:extLst>
                <a:ext uri="{FF2B5EF4-FFF2-40B4-BE49-F238E27FC236}">
                  <a16:creationId xmlns:a16="http://schemas.microsoft.com/office/drawing/2014/main" id="{7B361365-615A-4951-9217-0059379E954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74410" y="3186994"/>
              <a:ext cx="152627" cy="0"/>
            </a:xfrm>
            <a:prstGeom prst="line">
              <a:avLst/>
            </a:prstGeom>
            <a:noFill/>
            <a:ln w="22225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109" name="Freeform 105">
              <a:extLst>
                <a:ext uri="{FF2B5EF4-FFF2-40B4-BE49-F238E27FC236}">
                  <a16:creationId xmlns:a16="http://schemas.microsoft.com/office/drawing/2014/main" id="{BB1129DD-4363-4D9A-84D9-E3819CBE7E4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1852" y="3058214"/>
              <a:ext cx="63595" cy="127190"/>
            </a:xfrm>
            <a:custGeom>
              <a:avLst/>
              <a:gdLst>
                <a:gd name="T0" fmla="*/ 0 w 40"/>
                <a:gd name="T1" fmla="*/ 80 h 80"/>
                <a:gd name="T2" fmla="*/ 0 w 40"/>
                <a:gd name="T3" fmla="*/ 0 h 80"/>
                <a:gd name="T4" fmla="*/ 40 w 40"/>
                <a:gd name="T5" fmla="*/ 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0" h="80">
                  <a:moveTo>
                    <a:pt x="0" y="80"/>
                  </a:moveTo>
                  <a:lnTo>
                    <a:pt x="0" y="0"/>
                  </a:lnTo>
                  <a:lnTo>
                    <a:pt x="40" y="0"/>
                  </a:lnTo>
                </a:path>
              </a:pathLst>
            </a:custGeom>
            <a:noFill/>
            <a:ln w="222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110" name="Line 106">
              <a:extLst>
                <a:ext uri="{FF2B5EF4-FFF2-40B4-BE49-F238E27FC236}">
                  <a16:creationId xmlns:a16="http://schemas.microsoft.com/office/drawing/2014/main" id="{E666D77B-612D-4CC8-8B54-053C10D98C0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127684" y="3058214"/>
              <a:ext cx="209863" cy="0"/>
            </a:xfrm>
            <a:prstGeom prst="line">
              <a:avLst/>
            </a:prstGeom>
            <a:noFill/>
            <a:ln w="22225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111" name="Rectangle 107">
              <a:extLst>
                <a:ext uri="{FF2B5EF4-FFF2-40B4-BE49-F238E27FC236}">
                  <a16:creationId xmlns:a16="http://schemas.microsoft.com/office/drawing/2014/main" id="{3980D9D0-9181-4213-910B-062142B523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68563" y="3042316"/>
              <a:ext cx="259149" cy="20032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1300" u="none" strike="noStrike" cap="none" normalizeH="0" baseline="0" dirty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  <a:ea typeface="SimHei" panose="02010609060101010101" pitchFamily="49" charset="-122"/>
                </a:rPr>
                <a:t>DM</a:t>
              </a:r>
              <a:endParaRPr kumimoji="0" lang="zh-CN" altLang="zh-CN" sz="180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endParaRPr>
            </a:p>
          </p:txBody>
        </p:sp>
        <p:sp>
          <p:nvSpPr>
            <p:cNvPr id="112" name="Freeform 108">
              <a:extLst>
                <a:ext uri="{FF2B5EF4-FFF2-40B4-BE49-F238E27FC236}">
                  <a16:creationId xmlns:a16="http://schemas.microsoft.com/office/drawing/2014/main" id="{DBA77EB4-55D6-43A0-95AB-6F792BE721EF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9024" y="2993030"/>
              <a:ext cx="216222" cy="384748"/>
            </a:xfrm>
            <a:custGeom>
              <a:avLst/>
              <a:gdLst>
                <a:gd name="T0" fmla="*/ 136 w 136"/>
                <a:gd name="T1" fmla="*/ 0 h 242"/>
                <a:gd name="T2" fmla="*/ 0 w 136"/>
                <a:gd name="T3" fmla="*/ 0 h 242"/>
                <a:gd name="T4" fmla="*/ 0 w 136"/>
                <a:gd name="T5" fmla="*/ 242 h 242"/>
                <a:gd name="T6" fmla="*/ 136 w 136"/>
                <a:gd name="T7" fmla="*/ 242 h 2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6" h="242">
                  <a:moveTo>
                    <a:pt x="136" y="0"/>
                  </a:moveTo>
                  <a:lnTo>
                    <a:pt x="0" y="0"/>
                  </a:lnTo>
                  <a:lnTo>
                    <a:pt x="0" y="242"/>
                  </a:lnTo>
                  <a:lnTo>
                    <a:pt x="136" y="242"/>
                  </a:lnTo>
                </a:path>
              </a:pathLst>
            </a:custGeom>
            <a:noFill/>
            <a:ln w="222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113" name="Freeform 109">
              <a:extLst>
                <a:ext uri="{FF2B5EF4-FFF2-40B4-BE49-F238E27FC236}">
                  <a16:creationId xmlns:a16="http://schemas.microsoft.com/office/drawing/2014/main" id="{B6B813D3-B15B-4EBF-9C4B-26AF57988569}"/>
                </a:ext>
              </a:extLst>
            </p:cNvPr>
            <p:cNvSpPr>
              <a:spLocks/>
            </p:cNvSpPr>
            <p:nvPr/>
          </p:nvSpPr>
          <p:spPr bwMode="auto">
            <a:xfrm>
              <a:off x="5075246" y="2993030"/>
              <a:ext cx="216222" cy="384748"/>
            </a:xfrm>
            <a:custGeom>
              <a:avLst/>
              <a:gdLst>
                <a:gd name="T0" fmla="*/ 0 w 136"/>
                <a:gd name="T1" fmla="*/ 0 h 242"/>
                <a:gd name="T2" fmla="*/ 136 w 136"/>
                <a:gd name="T3" fmla="*/ 0 h 242"/>
                <a:gd name="T4" fmla="*/ 136 w 136"/>
                <a:gd name="T5" fmla="*/ 242 h 242"/>
                <a:gd name="T6" fmla="*/ 0 w 136"/>
                <a:gd name="T7" fmla="*/ 242 h 2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6" h="242">
                  <a:moveTo>
                    <a:pt x="0" y="0"/>
                  </a:moveTo>
                  <a:lnTo>
                    <a:pt x="136" y="0"/>
                  </a:lnTo>
                  <a:lnTo>
                    <a:pt x="136" y="242"/>
                  </a:lnTo>
                  <a:lnTo>
                    <a:pt x="0" y="242"/>
                  </a:lnTo>
                </a:path>
              </a:pathLst>
            </a:custGeom>
            <a:noFill/>
            <a:ln w="222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114" name="Rectangle 110">
              <a:extLst>
                <a:ext uri="{FF2B5EF4-FFF2-40B4-BE49-F238E27FC236}">
                  <a16:creationId xmlns:a16="http://schemas.microsoft.com/office/drawing/2014/main" id="{9B0A1F30-7B43-49AA-AAB9-2BE94DF376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28359" y="3042316"/>
              <a:ext cx="306845" cy="20032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1300" u="none" strike="noStrike" cap="none" normalizeH="0" baseline="0" dirty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  <a:ea typeface="SimHei" panose="02010609060101010101" pitchFamily="49" charset="-122"/>
                </a:rPr>
                <a:t>Reg</a:t>
              </a:r>
              <a:endParaRPr kumimoji="0" lang="zh-CN" altLang="zh-CN" sz="180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endParaRPr>
            </a:p>
          </p:txBody>
        </p:sp>
        <p:sp>
          <p:nvSpPr>
            <p:cNvPr id="115" name="Freeform 111">
              <a:extLst>
                <a:ext uri="{FF2B5EF4-FFF2-40B4-BE49-F238E27FC236}">
                  <a16:creationId xmlns:a16="http://schemas.microsoft.com/office/drawing/2014/main" id="{7422F700-51CD-4D07-A371-3A11CBA1153C}"/>
                </a:ext>
              </a:extLst>
            </p:cNvPr>
            <p:cNvSpPr>
              <a:spLocks/>
            </p:cNvSpPr>
            <p:nvPr/>
          </p:nvSpPr>
          <p:spPr bwMode="auto">
            <a:xfrm>
              <a:off x="5485432" y="2993030"/>
              <a:ext cx="190784" cy="384748"/>
            </a:xfrm>
            <a:custGeom>
              <a:avLst/>
              <a:gdLst>
                <a:gd name="T0" fmla="*/ 120 w 120"/>
                <a:gd name="T1" fmla="*/ 0 h 242"/>
                <a:gd name="T2" fmla="*/ 0 w 120"/>
                <a:gd name="T3" fmla="*/ 0 h 242"/>
                <a:gd name="T4" fmla="*/ 0 w 120"/>
                <a:gd name="T5" fmla="*/ 242 h 242"/>
                <a:gd name="T6" fmla="*/ 120 w 120"/>
                <a:gd name="T7" fmla="*/ 242 h 2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0" h="242">
                  <a:moveTo>
                    <a:pt x="120" y="0"/>
                  </a:moveTo>
                  <a:lnTo>
                    <a:pt x="0" y="0"/>
                  </a:lnTo>
                  <a:lnTo>
                    <a:pt x="0" y="242"/>
                  </a:lnTo>
                  <a:lnTo>
                    <a:pt x="120" y="242"/>
                  </a:lnTo>
                </a:path>
              </a:pathLst>
            </a:custGeom>
            <a:noFill/>
            <a:ln w="222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116" name="Freeform 112">
              <a:extLst>
                <a:ext uri="{FF2B5EF4-FFF2-40B4-BE49-F238E27FC236}">
                  <a16:creationId xmlns:a16="http://schemas.microsoft.com/office/drawing/2014/main" id="{5449E963-3371-4DE3-8754-E31BEEA5D11F}"/>
                </a:ext>
              </a:extLst>
            </p:cNvPr>
            <p:cNvSpPr>
              <a:spLocks/>
            </p:cNvSpPr>
            <p:nvPr/>
          </p:nvSpPr>
          <p:spPr bwMode="auto">
            <a:xfrm>
              <a:off x="5677806" y="2993030"/>
              <a:ext cx="190784" cy="384748"/>
            </a:xfrm>
            <a:custGeom>
              <a:avLst/>
              <a:gdLst>
                <a:gd name="T0" fmla="*/ 0 w 120"/>
                <a:gd name="T1" fmla="*/ 0 h 242"/>
                <a:gd name="T2" fmla="*/ 120 w 120"/>
                <a:gd name="T3" fmla="*/ 0 h 242"/>
                <a:gd name="T4" fmla="*/ 120 w 120"/>
                <a:gd name="T5" fmla="*/ 242 h 242"/>
                <a:gd name="T6" fmla="*/ 0 w 120"/>
                <a:gd name="T7" fmla="*/ 242 h 2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0" h="242">
                  <a:moveTo>
                    <a:pt x="0" y="0"/>
                  </a:moveTo>
                  <a:lnTo>
                    <a:pt x="120" y="0"/>
                  </a:lnTo>
                  <a:lnTo>
                    <a:pt x="120" y="242"/>
                  </a:lnTo>
                  <a:lnTo>
                    <a:pt x="0" y="242"/>
                  </a:lnTo>
                </a:path>
              </a:pathLst>
            </a:custGeom>
            <a:noFill/>
            <a:ln w="222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117" name="Line 113">
              <a:extLst>
                <a:ext uri="{FF2B5EF4-FFF2-40B4-BE49-F238E27FC236}">
                  <a16:creationId xmlns:a16="http://schemas.microsoft.com/office/drawing/2014/main" id="{E2E4A511-F4E1-4C9C-8A12-0F67EF17A50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293058" y="3186994"/>
              <a:ext cx="184425" cy="0"/>
            </a:xfrm>
            <a:prstGeom prst="line">
              <a:avLst/>
            </a:prstGeom>
            <a:noFill/>
            <a:ln w="22225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118" name="Line 114">
              <a:extLst>
                <a:ext uri="{FF2B5EF4-FFF2-40B4-BE49-F238E27FC236}">
                  <a16:creationId xmlns:a16="http://schemas.microsoft.com/office/drawing/2014/main" id="{C4679A25-F9DB-40DA-B46F-13F92E74FD5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41212" y="3186994"/>
              <a:ext cx="209863" cy="0"/>
            </a:xfrm>
            <a:prstGeom prst="line">
              <a:avLst/>
            </a:prstGeom>
            <a:noFill/>
            <a:ln w="22225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119" name="Line 115">
              <a:extLst>
                <a:ext uri="{FF2B5EF4-FFF2-40B4-BE49-F238E27FC236}">
                  <a16:creationId xmlns:a16="http://schemas.microsoft.com/office/drawing/2014/main" id="{DF57C29D-9F06-4D67-B0EC-A38473BF851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127684" y="3315773"/>
              <a:ext cx="209863" cy="0"/>
            </a:xfrm>
            <a:prstGeom prst="line">
              <a:avLst/>
            </a:prstGeom>
            <a:noFill/>
            <a:ln w="22225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120" name="Line 116">
              <a:extLst>
                <a:ext uri="{FF2B5EF4-FFF2-40B4-BE49-F238E27FC236}">
                  <a16:creationId xmlns:a16="http://schemas.microsoft.com/office/drawing/2014/main" id="{9BF67FE8-16B5-4820-AD33-2D29AAF5A6C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40565" y="3315773"/>
              <a:ext cx="0" cy="255969"/>
            </a:xfrm>
            <a:prstGeom prst="line">
              <a:avLst/>
            </a:prstGeom>
            <a:noFill/>
            <a:ln w="23813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121" name="Line 117">
              <a:extLst>
                <a:ext uri="{FF2B5EF4-FFF2-40B4-BE49-F238E27FC236}">
                  <a16:creationId xmlns:a16="http://schemas.microsoft.com/office/drawing/2014/main" id="{21F18942-C172-4131-B42A-D9166E81510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40565" y="3571742"/>
              <a:ext cx="449933" cy="0"/>
            </a:xfrm>
            <a:prstGeom prst="line">
              <a:avLst/>
            </a:prstGeom>
            <a:noFill/>
            <a:ln w="23813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122" name="Line 118">
              <a:extLst>
                <a:ext uri="{FF2B5EF4-FFF2-40B4-BE49-F238E27FC236}">
                  <a16:creationId xmlns:a16="http://schemas.microsoft.com/office/drawing/2014/main" id="{7C2600B8-3CB9-41D4-83B6-C31F921E87C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90498" y="3186994"/>
              <a:ext cx="0" cy="384748"/>
            </a:xfrm>
            <a:prstGeom prst="line">
              <a:avLst/>
            </a:prstGeom>
            <a:noFill/>
            <a:ln w="23813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123" name="Line 119">
              <a:extLst>
                <a:ext uri="{FF2B5EF4-FFF2-40B4-BE49-F238E27FC236}">
                  <a16:creationId xmlns:a16="http://schemas.microsoft.com/office/drawing/2014/main" id="{9FC6EDDF-91EB-4DEC-A2F2-D24DF0D1C30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93839" y="3186994"/>
              <a:ext cx="0" cy="321154"/>
            </a:xfrm>
            <a:prstGeom prst="line">
              <a:avLst/>
            </a:prstGeom>
            <a:noFill/>
            <a:ln w="23813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124" name="Line 120">
              <a:extLst>
                <a:ext uri="{FF2B5EF4-FFF2-40B4-BE49-F238E27FC236}">
                  <a16:creationId xmlns:a16="http://schemas.microsoft.com/office/drawing/2014/main" id="{0D760DD3-6A8F-484D-93C3-C528C31C98C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93839" y="3508147"/>
              <a:ext cx="578712" cy="0"/>
            </a:xfrm>
            <a:prstGeom prst="line">
              <a:avLst/>
            </a:prstGeom>
            <a:noFill/>
            <a:ln w="23813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125" name="Line 121">
              <a:extLst>
                <a:ext uri="{FF2B5EF4-FFF2-40B4-BE49-F238E27FC236}">
                  <a16:creationId xmlns:a16="http://schemas.microsoft.com/office/drawing/2014/main" id="{8EA70FBC-08A4-451C-A069-44475AB6A70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372551" y="3186994"/>
              <a:ext cx="0" cy="321154"/>
            </a:xfrm>
            <a:prstGeom prst="line">
              <a:avLst/>
            </a:prstGeom>
            <a:noFill/>
            <a:ln w="23813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126" name="Rectangle 122">
              <a:extLst>
                <a:ext uri="{FF2B5EF4-FFF2-40B4-BE49-F238E27FC236}">
                  <a16:creationId xmlns:a16="http://schemas.microsoft.com/office/drawing/2014/main" id="{C7151EC3-A7D7-45DB-9696-CDBD7B85E7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04400" y="3819761"/>
              <a:ext cx="782216" cy="30843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2000" u="none" strike="noStrike" cap="none" normalizeH="0" baseline="0" dirty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  <a:ea typeface="SimHei" panose="02010609060101010101" pitchFamily="49" charset="-122"/>
                </a:rPr>
                <a:t>sub r4,</a:t>
              </a:r>
              <a:endParaRPr kumimoji="0" lang="zh-CN" altLang="zh-CN" sz="180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endParaRPr>
            </a:p>
          </p:txBody>
        </p:sp>
        <p:sp>
          <p:nvSpPr>
            <p:cNvPr id="127" name="Rectangle 123">
              <a:extLst>
                <a:ext uri="{FF2B5EF4-FFF2-40B4-BE49-F238E27FC236}">
                  <a16:creationId xmlns:a16="http://schemas.microsoft.com/office/drawing/2014/main" id="{B7F74DB3-E841-45FB-9CA8-DE43465074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91385" y="3819761"/>
              <a:ext cx="227351" cy="30843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2000" u="none" strike="noStrike" cap="none" normalizeH="0" baseline="0" dirty="0">
                  <a:ln>
                    <a:noFill/>
                  </a:ln>
                  <a:solidFill>
                    <a:srgbClr val="009900"/>
                  </a:solidFill>
                  <a:effectLst/>
                  <a:latin typeface="Arial" panose="020B0604020202020204" pitchFamily="34" charset="0"/>
                  <a:ea typeface="SimHei" panose="02010609060101010101" pitchFamily="49" charset="-122"/>
                </a:rPr>
                <a:t>r1</a:t>
              </a:r>
              <a:endParaRPr kumimoji="0" lang="zh-CN" altLang="zh-CN" sz="180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endParaRPr>
            </a:p>
          </p:txBody>
        </p:sp>
        <p:sp>
          <p:nvSpPr>
            <p:cNvPr id="128" name="Rectangle 124">
              <a:extLst>
                <a:ext uri="{FF2B5EF4-FFF2-40B4-BE49-F238E27FC236}">
                  <a16:creationId xmlns:a16="http://schemas.microsoft.com/office/drawing/2014/main" id="{AADCAAFC-9905-4F19-9AB3-778633F5C8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23506" y="3819761"/>
              <a:ext cx="298895" cy="30843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2000" u="none" strike="noStrike" cap="none" normalizeH="0" baseline="0" dirty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  <a:ea typeface="SimHei" panose="02010609060101010101" pitchFamily="49" charset="-122"/>
                </a:rPr>
                <a:t>,r5</a:t>
              </a:r>
              <a:endParaRPr kumimoji="0" lang="zh-CN" altLang="zh-CN" sz="180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endParaRPr>
            </a:p>
          </p:txBody>
        </p:sp>
        <p:sp>
          <p:nvSpPr>
            <p:cNvPr id="129" name="Rectangle 125">
              <a:extLst>
                <a:ext uri="{FF2B5EF4-FFF2-40B4-BE49-F238E27FC236}">
                  <a16:creationId xmlns:a16="http://schemas.microsoft.com/office/drawing/2014/main" id="{D8DF3189-DC91-45CD-B5D0-A24180071D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04400" y="4719627"/>
              <a:ext cx="726570" cy="30843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2000" u="none" strike="noStrike" cap="none" normalizeH="0" baseline="0" dirty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  <a:ea typeface="SimHei" panose="02010609060101010101" pitchFamily="49" charset="-122"/>
                </a:rPr>
                <a:t>and r6</a:t>
              </a:r>
              <a:endParaRPr kumimoji="0" lang="zh-CN" altLang="zh-CN" sz="180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endParaRPr>
            </a:p>
          </p:txBody>
        </p:sp>
        <p:sp>
          <p:nvSpPr>
            <p:cNvPr id="130" name="Rectangle 126">
              <a:extLst>
                <a:ext uri="{FF2B5EF4-FFF2-40B4-BE49-F238E27FC236}">
                  <a16:creationId xmlns:a16="http://schemas.microsoft.com/office/drawing/2014/main" id="{4B76FB8C-8DA0-4EC4-869A-AAAE38DE08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34150" y="4719627"/>
              <a:ext cx="298895" cy="30843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2000" u="none" strike="noStrike" cap="none" normalizeH="0" baseline="0" dirty="0">
                  <a:ln>
                    <a:noFill/>
                  </a:ln>
                  <a:solidFill>
                    <a:srgbClr val="009900"/>
                  </a:solidFill>
                  <a:effectLst/>
                  <a:latin typeface="Arial" panose="020B0604020202020204" pitchFamily="34" charset="0"/>
                  <a:ea typeface="SimHei" panose="02010609060101010101" pitchFamily="49" charset="-122"/>
                </a:rPr>
                <a:t>,r1</a:t>
              </a:r>
              <a:endParaRPr kumimoji="0" lang="zh-CN" altLang="zh-CN" sz="180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endParaRPr>
            </a:p>
          </p:txBody>
        </p:sp>
        <p:sp>
          <p:nvSpPr>
            <p:cNvPr id="131" name="Rectangle 127">
              <a:extLst>
                <a:ext uri="{FF2B5EF4-FFF2-40B4-BE49-F238E27FC236}">
                  <a16:creationId xmlns:a16="http://schemas.microsoft.com/office/drawing/2014/main" id="{27810670-93B8-4B68-97D3-99A1A1F280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39405" y="4719627"/>
              <a:ext cx="298895" cy="30843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2000" u="none" strike="noStrike" cap="none" normalizeH="0" baseline="0" dirty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  <a:ea typeface="SimHei" panose="02010609060101010101" pitchFamily="49" charset="-122"/>
                </a:rPr>
                <a:t>,r7</a:t>
              </a:r>
              <a:endParaRPr kumimoji="0" lang="zh-CN" altLang="zh-CN" sz="180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endParaRPr>
            </a:p>
          </p:txBody>
        </p:sp>
        <p:sp>
          <p:nvSpPr>
            <p:cNvPr id="132" name="Freeform 128">
              <a:extLst>
                <a:ext uri="{FF2B5EF4-FFF2-40B4-BE49-F238E27FC236}">
                  <a16:creationId xmlns:a16="http://schemas.microsoft.com/office/drawing/2014/main" id="{97F02662-A29D-42A0-AD13-D186619E64A6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0568" y="3636927"/>
              <a:ext cx="279817" cy="640717"/>
            </a:xfrm>
            <a:custGeom>
              <a:avLst/>
              <a:gdLst>
                <a:gd name="T0" fmla="*/ 0 w 176"/>
                <a:gd name="T1" fmla="*/ 269 h 403"/>
                <a:gd name="T2" fmla="*/ 59 w 176"/>
                <a:gd name="T3" fmla="*/ 201 h 403"/>
                <a:gd name="T4" fmla="*/ 0 w 176"/>
                <a:gd name="T5" fmla="*/ 134 h 403"/>
                <a:gd name="T6" fmla="*/ 0 w 176"/>
                <a:gd name="T7" fmla="*/ 0 h 403"/>
                <a:gd name="T8" fmla="*/ 176 w 176"/>
                <a:gd name="T9" fmla="*/ 134 h 403"/>
                <a:gd name="T10" fmla="*/ 176 w 176"/>
                <a:gd name="T11" fmla="*/ 269 h 403"/>
                <a:gd name="T12" fmla="*/ 0 w 176"/>
                <a:gd name="T13" fmla="*/ 403 h 403"/>
                <a:gd name="T14" fmla="*/ 0 w 176"/>
                <a:gd name="T15" fmla="*/ 269 h 4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76" h="403">
                  <a:moveTo>
                    <a:pt x="0" y="269"/>
                  </a:moveTo>
                  <a:lnTo>
                    <a:pt x="59" y="201"/>
                  </a:lnTo>
                  <a:lnTo>
                    <a:pt x="0" y="134"/>
                  </a:lnTo>
                  <a:lnTo>
                    <a:pt x="0" y="0"/>
                  </a:lnTo>
                  <a:lnTo>
                    <a:pt x="176" y="134"/>
                  </a:lnTo>
                  <a:lnTo>
                    <a:pt x="176" y="269"/>
                  </a:lnTo>
                  <a:lnTo>
                    <a:pt x="0" y="403"/>
                  </a:lnTo>
                  <a:lnTo>
                    <a:pt x="0" y="269"/>
                  </a:lnTo>
                </a:path>
              </a:pathLst>
            </a:custGeom>
            <a:noFill/>
            <a:ln w="222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134" name="Rectangle 130">
              <a:extLst>
                <a:ext uri="{FF2B5EF4-FFF2-40B4-BE49-F238E27FC236}">
                  <a16:creationId xmlns:a16="http://schemas.microsoft.com/office/drawing/2014/main" id="{1651756C-C4B4-4335-93E8-1ECDC43380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60424" y="3813402"/>
              <a:ext cx="186015" cy="20032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1300" u="none" strike="noStrike" cap="none" normalizeH="0" baseline="0" dirty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  <a:ea typeface="SimHei" panose="02010609060101010101" pitchFamily="49" charset="-122"/>
                </a:rPr>
                <a:t>IM</a:t>
              </a:r>
              <a:endParaRPr kumimoji="0" lang="zh-CN" altLang="zh-CN" sz="180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endParaRPr>
            </a:p>
          </p:txBody>
        </p:sp>
        <p:sp>
          <p:nvSpPr>
            <p:cNvPr id="135" name="Freeform 131">
              <a:extLst>
                <a:ext uri="{FF2B5EF4-FFF2-40B4-BE49-F238E27FC236}">
                  <a16:creationId xmlns:a16="http://schemas.microsoft.com/office/drawing/2014/main" id="{64DCE468-FFD7-4E54-B27D-9ABDBBA2042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7290" y="3765706"/>
              <a:ext cx="230531" cy="383158"/>
            </a:xfrm>
            <a:custGeom>
              <a:avLst/>
              <a:gdLst>
                <a:gd name="T0" fmla="*/ 145 w 145"/>
                <a:gd name="T1" fmla="*/ 0 h 241"/>
                <a:gd name="T2" fmla="*/ 0 w 145"/>
                <a:gd name="T3" fmla="*/ 0 h 241"/>
                <a:gd name="T4" fmla="*/ 0 w 145"/>
                <a:gd name="T5" fmla="*/ 241 h 241"/>
                <a:gd name="T6" fmla="*/ 145 w 145"/>
                <a:gd name="T7" fmla="*/ 24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45" h="241">
                  <a:moveTo>
                    <a:pt x="145" y="0"/>
                  </a:moveTo>
                  <a:lnTo>
                    <a:pt x="0" y="0"/>
                  </a:lnTo>
                  <a:lnTo>
                    <a:pt x="0" y="241"/>
                  </a:lnTo>
                  <a:lnTo>
                    <a:pt x="145" y="241"/>
                  </a:lnTo>
                </a:path>
              </a:pathLst>
            </a:custGeom>
            <a:noFill/>
            <a:ln w="222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136" name="Freeform 132">
              <a:extLst>
                <a:ext uri="{FF2B5EF4-FFF2-40B4-BE49-F238E27FC236}">
                  <a16:creationId xmlns:a16="http://schemas.microsoft.com/office/drawing/2014/main" id="{1E432C8E-2016-4372-91C1-6818662EF3E3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1462" y="3765706"/>
              <a:ext cx="232121" cy="383158"/>
            </a:xfrm>
            <a:custGeom>
              <a:avLst/>
              <a:gdLst>
                <a:gd name="T0" fmla="*/ 0 w 146"/>
                <a:gd name="T1" fmla="*/ 0 h 241"/>
                <a:gd name="T2" fmla="*/ 146 w 146"/>
                <a:gd name="T3" fmla="*/ 0 h 241"/>
                <a:gd name="T4" fmla="*/ 146 w 146"/>
                <a:gd name="T5" fmla="*/ 241 h 241"/>
                <a:gd name="T6" fmla="*/ 0 w 146"/>
                <a:gd name="T7" fmla="*/ 24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46" h="241">
                  <a:moveTo>
                    <a:pt x="0" y="0"/>
                  </a:moveTo>
                  <a:lnTo>
                    <a:pt x="146" y="0"/>
                  </a:lnTo>
                  <a:lnTo>
                    <a:pt x="146" y="241"/>
                  </a:lnTo>
                  <a:lnTo>
                    <a:pt x="0" y="241"/>
                  </a:lnTo>
                </a:path>
              </a:pathLst>
            </a:custGeom>
            <a:noFill/>
            <a:ln w="222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137" name="Rectangle 133">
              <a:extLst>
                <a:ext uri="{FF2B5EF4-FFF2-40B4-BE49-F238E27FC236}">
                  <a16:creationId xmlns:a16="http://schemas.microsoft.com/office/drawing/2014/main" id="{4201A395-9725-48B7-B2FE-60808731AF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55035" y="3819761"/>
              <a:ext cx="306845" cy="20032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1300" u="none" strike="noStrike" cap="none" normalizeH="0" baseline="0" dirty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  <a:ea typeface="SimHei" panose="02010609060101010101" pitchFamily="49" charset="-122"/>
                </a:rPr>
                <a:t>Reg</a:t>
              </a:r>
              <a:endParaRPr kumimoji="0" lang="zh-CN" altLang="zh-CN" sz="180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endParaRPr>
            </a:p>
          </p:txBody>
        </p:sp>
        <p:sp>
          <p:nvSpPr>
            <p:cNvPr id="138" name="Freeform 134">
              <a:extLst>
                <a:ext uri="{FF2B5EF4-FFF2-40B4-BE49-F238E27FC236}">
                  <a16:creationId xmlns:a16="http://schemas.microsoft.com/office/drawing/2014/main" id="{0D12BA16-527A-41ED-BD90-8F5C11AB0EA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4160" y="3765706"/>
              <a:ext cx="200323" cy="383158"/>
            </a:xfrm>
            <a:custGeom>
              <a:avLst/>
              <a:gdLst>
                <a:gd name="T0" fmla="*/ 126 w 126"/>
                <a:gd name="T1" fmla="*/ 0 h 241"/>
                <a:gd name="T2" fmla="*/ 0 w 126"/>
                <a:gd name="T3" fmla="*/ 0 h 241"/>
                <a:gd name="T4" fmla="*/ 0 w 126"/>
                <a:gd name="T5" fmla="*/ 241 h 241"/>
                <a:gd name="T6" fmla="*/ 126 w 126"/>
                <a:gd name="T7" fmla="*/ 24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6" h="241">
                  <a:moveTo>
                    <a:pt x="126" y="0"/>
                  </a:moveTo>
                  <a:lnTo>
                    <a:pt x="0" y="0"/>
                  </a:lnTo>
                  <a:lnTo>
                    <a:pt x="0" y="241"/>
                  </a:lnTo>
                  <a:lnTo>
                    <a:pt x="126" y="241"/>
                  </a:lnTo>
                </a:path>
              </a:pathLst>
            </a:custGeom>
            <a:noFill/>
            <a:ln w="222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139" name="Freeform 135">
              <a:extLst>
                <a:ext uri="{FF2B5EF4-FFF2-40B4-BE49-F238E27FC236}">
                  <a16:creationId xmlns:a16="http://schemas.microsoft.com/office/drawing/2014/main" id="{82294400-6852-419E-B9F9-5FC6277463BE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6073" y="3765706"/>
              <a:ext cx="190784" cy="383158"/>
            </a:xfrm>
            <a:custGeom>
              <a:avLst/>
              <a:gdLst>
                <a:gd name="T0" fmla="*/ 0 w 120"/>
                <a:gd name="T1" fmla="*/ 0 h 241"/>
                <a:gd name="T2" fmla="*/ 120 w 120"/>
                <a:gd name="T3" fmla="*/ 0 h 241"/>
                <a:gd name="T4" fmla="*/ 120 w 120"/>
                <a:gd name="T5" fmla="*/ 241 h 241"/>
                <a:gd name="T6" fmla="*/ 0 w 120"/>
                <a:gd name="T7" fmla="*/ 24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0" h="241">
                  <a:moveTo>
                    <a:pt x="0" y="0"/>
                  </a:moveTo>
                  <a:lnTo>
                    <a:pt x="120" y="0"/>
                  </a:lnTo>
                  <a:lnTo>
                    <a:pt x="120" y="241"/>
                  </a:lnTo>
                  <a:lnTo>
                    <a:pt x="0" y="241"/>
                  </a:lnTo>
                </a:path>
              </a:pathLst>
            </a:custGeom>
            <a:noFill/>
            <a:ln w="222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140" name="Line 136">
              <a:extLst>
                <a:ext uri="{FF2B5EF4-FFF2-40B4-BE49-F238E27FC236}">
                  <a16:creationId xmlns:a16="http://schemas.microsoft.com/office/drawing/2014/main" id="{67D9FDD3-4032-467A-A59B-DF39F9F8250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151532" y="3958080"/>
              <a:ext cx="152627" cy="0"/>
            </a:xfrm>
            <a:prstGeom prst="line">
              <a:avLst/>
            </a:prstGeom>
            <a:noFill/>
            <a:ln w="22225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141" name="Freeform 137">
              <a:extLst>
                <a:ext uri="{FF2B5EF4-FFF2-40B4-BE49-F238E27FC236}">
                  <a16:creationId xmlns:a16="http://schemas.microsoft.com/office/drawing/2014/main" id="{56572EFE-9D16-44E9-82FF-B69D37774058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0565" y="3829301"/>
              <a:ext cx="63595" cy="127190"/>
            </a:xfrm>
            <a:custGeom>
              <a:avLst/>
              <a:gdLst>
                <a:gd name="T0" fmla="*/ 0 w 40"/>
                <a:gd name="T1" fmla="*/ 80 h 80"/>
                <a:gd name="T2" fmla="*/ 0 w 40"/>
                <a:gd name="T3" fmla="*/ 0 h 80"/>
                <a:gd name="T4" fmla="*/ 40 w 40"/>
                <a:gd name="T5" fmla="*/ 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0" h="80">
                  <a:moveTo>
                    <a:pt x="0" y="80"/>
                  </a:moveTo>
                  <a:lnTo>
                    <a:pt x="0" y="0"/>
                  </a:lnTo>
                  <a:lnTo>
                    <a:pt x="40" y="0"/>
                  </a:lnTo>
                </a:path>
              </a:pathLst>
            </a:custGeom>
            <a:noFill/>
            <a:ln w="222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142" name="Line 138">
              <a:extLst>
                <a:ext uri="{FF2B5EF4-FFF2-40B4-BE49-F238E27FC236}">
                  <a16:creationId xmlns:a16="http://schemas.microsoft.com/office/drawing/2014/main" id="{AE23D33D-FB33-4CD6-8066-836B83D7ED1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06396" y="3829301"/>
              <a:ext cx="208273" cy="0"/>
            </a:xfrm>
            <a:prstGeom prst="line">
              <a:avLst/>
            </a:prstGeom>
            <a:noFill/>
            <a:ln w="22225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143" name="Rectangle 139">
              <a:extLst>
                <a:ext uri="{FF2B5EF4-FFF2-40B4-BE49-F238E27FC236}">
                  <a16:creationId xmlns:a16="http://schemas.microsoft.com/office/drawing/2014/main" id="{9CC98E47-60C4-47E7-9D75-BBE04451A6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47275" y="3813402"/>
              <a:ext cx="259149" cy="20032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1300" u="none" strike="noStrike" cap="none" normalizeH="0" baseline="0" dirty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  <a:ea typeface="SimHei" panose="02010609060101010101" pitchFamily="49" charset="-122"/>
                </a:rPr>
                <a:t>DM</a:t>
              </a:r>
              <a:endParaRPr kumimoji="0" lang="zh-CN" altLang="zh-CN" sz="180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endParaRPr>
            </a:p>
          </p:txBody>
        </p:sp>
        <p:sp>
          <p:nvSpPr>
            <p:cNvPr id="144" name="Freeform 140">
              <a:extLst>
                <a:ext uri="{FF2B5EF4-FFF2-40B4-BE49-F238E27FC236}">
                  <a16:creationId xmlns:a16="http://schemas.microsoft.com/office/drawing/2014/main" id="{9873794D-FE59-400D-ABFB-2729EA8B56E1}"/>
                </a:ext>
              </a:extLst>
            </p:cNvPr>
            <p:cNvSpPr>
              <a:spLocks/>
            </p:cNvSpPr>
            <p:nvPr/>
          </p:nvSpPr>
          <p:spPr bwMode="auto">
            <a:xfrm>
              <a:off x="5436146" y="3765706"/>
              <a:ext cx="216222" cy="383158"/>
            </a:xfrm>
            <a:custGeom>
              <a:avLst/>
              <a:gdLst>
                <a:gd name="T0" fmla="*/ 136 w 136"/>
                <a:gd name="T1" fmla="*/ 0 h 241"/>
                <a:gd name="T2" fmla="*/ 0 w 136"/>
                <a:gd name="T3" fmla="*/ 0 h 241"/>
                <a:gd name="T4" fmla="*/ 0 w 136"/>
                <a:gd name="T5" fmla="*/ 241 h 241"/>
                <a:gd name="T6" fmla="*/ 136 w 136"/>
                <a:gd name="T7" fmla="*/ 24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6" h="241">
                  <a:moveTo>
                    <a:pt x="136" y="0"/>
                  </a:moveTo>
                  <a:lnTo>
                    <a:pt x="0" y="0"/>
                  </a:lnTo>
                  <a:lnTo>
                    <a:pt x="0" y="241"/>
                  </a:lnTo>
                  <a:lnTo>
                    <a:pt x="136" y="241"/>
                  </a:lnTo>
                </a:path>
              </a:pathLst>
            </a:custGeom>
            <a:noFill/>
            <a:ln w="222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145" name="Freeform 141">
              <a:extLst>
                <a:ext uri="{FF2B5EF4-FFF2-40B4-BE49-F238E27FC236}">
                  <a16:creationId xmlns:a16="http://schemas.microsoft.com/office/drawing/2014/main" id="{EC79A5FD-5557-414D-8682-91D21A532CF9}"/>
                </a:ext>
              </a:extLst>
            </p:cNvPr>
            <p:cNvSpPr>
              <a:spLocks/>
            </p:cNvSpPr>
            <p:nvPr/>
          </p:nvSpPr>
          <p:spPr bwMode="auto">
            <a:xfrm>
              <a:off x="5653958" y="3765706"/>
              <a:ext cx="224172" cy="383158"/>
            </a:xfrm>
            <a:custGeom>
              <a:avLst/>
              <a:gdLst>
                <a:gd name="T0" fmla="*/ 0 w 141"/>
                <a:gd name="T1" fmla="*/ 0 h 241"/>
                <a:gd name="T2" fmla="*/ 141 w 141"/>
                <a:gd name="T3" fmla="*/ 0 h 241"/>
                <a:gd name="T4" fmla="*/ 141 w 141"/>
                <a:gd name="T5" fmla="*/ 241 h 241"/>
                <a:gd name="T6" fmla="*/ 0 w 141"/>
                <a:gd name="T7" fmla="*/ 24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41" h="241">
                  <a:moveTo>
                    <a:pt x="0" y="0"/>
                  </a:moveTo>
                  <a:lnTo>
                    <a:pt x="141" y="0"/>
                  </a:lnTo>
                  <a:lnTo>
                    <a:pt x="141" y="241"/>
                  </a:lnTo>
                  <a:lnTo>
                    <a:pt x="0" y="241"/>
                  </a:lnTo>
                </a:path>
              </a:pathLst>
            </a:custGeom>
            <a:noFill/>
            <a:ln w="222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146" name="Rectangle 142">
              <a:extLst>
                <a:ext uri="{FF2B5EF4-FFF2-40B4-BE49-F238E27FC236}">
                  <a16:creationId xmlns:a16="http://schemas.microsoft.com/office/drawing/2014/main" id="{813F3DC3-A0A0-4D2D-A1F0-D64DE94D61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05481" y="3813402"/>
              <a:ext cx="306845" cy="20032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1300" u="none" strike="noStrike" cap="none" normalizeH="0" baseline="0" dirty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  <a:ea typeface="SimHei" panose="02010609060101010101" pitchFamily="49" charset="-122"/>
                </a:rPr>
                <a:t>Reg</a:t>
              </a:r>
              <a:endParaRPr kumimoji="0" lang="zh-CN" altLang="zh-CN" sz="180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endParaRPr>
            </a:p>
          </p:txBody>
        </p:sp>
        <p:sp>
          <p:nvSpPr>
            <p:cNvPr id="147" name="Freeform 143">
              <a:extLst>
                <a:ext uri="{FF2B5EF4-FFF2-40B4-BE49-F238E27FC236}">
                  <a16:creationId xmlns:a16="http://schemas.microsoft.com/office/drawing/2014/main" id="{7404F166-82B7-4664-BAD3-FC15CB519010}"/>
                </a:ext>
              </a:extLst>
            </p:cNvPr>
            <p:cNvSpPr>
              <a:spLocks/>
            </p:cNvSpPr>
            <p:nvPr/>
          </p:nvSpPr>
          <p:spPr bwMode="auto">
            <a:xfrm>
              <a:off x="6062555" y="3765706"/>
              <a:ext cx="192374" cy="383158"/>
            </a:xfrm>
            <a:custGeom>
              <a:avLst/>
              <a:gdLst>
                <a:gd name="T0" fmla="*/ 121 w 121"/>
                <a:gd name="T1" fmla="*/ 0 h 241"/>
                <a:gd name="T2" fmla="*/ 0 w 121"/>
                <a:gd name="T3" fmla="*/ 0 h 241"/>
                <a:gd name="T4" fmla="*/ 0 w 121"/>
                <a:gd name="T5" fmla="*/ 241 h 241"/>
                <a:gd name="T6" fmla="*/ 121 w 121"/>
                <a:gd name="T7" fmla="*/ 24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1" h="241">
                  <a:moveTo>
                    <a:pt x="121" y="0"/>
                  </a:moveTo>
                  <a:lnTo>
                    <a:pt x="0" y="0"/>
                  </a:lnTo>
                  <a:lnTo>
                    <a:pt x="0" y="241"/>
                  </a:lnTo>
                  <a:lnTo>
                    <a:pt x="121" y="241"/>
                  </a:lnTo>
                </a:path>
              </a:pathLst>
            </a:custGeom>
            <a:noFill/>
            <a:ln w="222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148" name="Freeform 144">
              <a:extLst>
                <a:ext uri="{FF2B5EF4-FFF2-40B4-BE49-F238E27FC236}">
                  <a16:creationId xmlns:a16="http://schemas.microsoft.com/office/drawing/2014/main" id="{0B3C287A-F6A8-4F78-A273-904AD10DB3E2}"/>
                </a:ext>
              </a:extLst>
            </p:cNvPr>
            <p:cNvSpPr>
              <a:spLocks/>
            </p:cNvSpPr>
            <p:nvPr/>
          </p:nvSpPr>
          <p:spPr bwMode="auto">
            <a:xfrm>
              <a:off x="6256519" y="3765706"/>
              <a:ext cx="190784" cy="383158"/>
            </a:xfrm>
            <a:custGeom>
              <a:avLst/>
              <a:gdLst>
                <a:gd name="T0" fmla="*/ 0 w 120"/>
                <a:gd name="T1" fmla="*/ 0 h 241"/>
                <a:gd name="T2" fmla="*/ 120 w 120"/>
                <a:gd name="T3" fmla="*/ 0 h 241"/>
                <a:gd name="T4" fmla="*/ 120 w 120"/>
                <a:gd name="T5" fmla="*/ 241 h 241"/>
                <a:gd name="T6" fmla="*/ 0 w 120"/>
                <a:gd name="T7" fmla="*/ 24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0" h="241">
                  <a:moveTo>
                    <a:pt x="0" y="0"/>
                  </a:moveTo>
                  <a:lnTo>
                    <a:pt x="120" y="0"/>
                  </a:lnTo>
                  <a:lnTo>
                    <a:pt x="120" y="241"/>
                  </a:lnTo>
                  <a:lnTo>
                    <a:pt x="0" y="241"/>
                  </a:lnTo>
                </a:path>
              </a:pathLst>
            </a:custGeom>
            <a:noFill/>
            <a:ln w="222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149" name="Line 145">
              <a:extLst>
                <a:ext uri="{FF2B5EF4-FFF2-40B4-BE49-F238E27FC236}">
                  <a16:creationId xmlns:a16="http://schemas.microsoft.com/office/drawing/2014/main" id="{39544338-F1A8-422E-97DB-F6CC8AC08BF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870180" y="3958080"/>
              <a:ext cx="184425" cy="0"/>
            </a:xfrm>
            <a:prstGeom prst="line">
              <a:avLst/>
            </a:prstGeom>
            <a:noFill/>
            <a:ln w="22225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150" name="Line 146">
              <a:extLst>
                <a:ext uri="{FF2B5EF4-FFF2-40B4-BE49-F238E27FC236}">
                  <a16:creationId xmlns:a16="http://schemas.microsoft.com/office/drawing/2014/main" id="{4B62CDFE-FB7A-484A-8BD0-979463CEBAD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219924" y="3958080"/>
              <a:ext cx="208273" cy="0"/>
            </a:xfrm>
            <a:prstGeom prst="line">
              <a:avLst/>
            </a:prstGeom>
            <a:noFill/>
            <a:ln w="22225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151" name="Line 147">
              <a:extLst>
                <a:ext uri="{FF2B5EF4-FFF2-40B4-BE49-F238E27FC236}">
                  <a16:creationId xmlns:a16="http://schemas.microsoft.com/office/drawing/2014/main" id="{75D313B2-CD62-4B4E-AF2C-21115311F71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06396" y="4086859"/>
              <a:ext cx="208273" cy="0"/>
            </a:xfrm>
            <a:prstGeom prst="line">
              <a:avLst/>
            </a:prstGeom>
            <a:noFill/>
            <a:ln w="22225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152" name="Line 148">
              <a:extLst>
                <a:ext uri="{FF2B5EF4-FFF2-40B4-BE49-F238E27FC236}">
                  <a16:creationId xmlns:a16="http://schemas.microsoft.com/office/drawing/2014/main" id="{A25C880C-466B-4EC2-BDCB-30DC197E371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819277" y="4086859"/>
              <a:ext cx="0" cy="255969"/>
            </a:xfrm>
            <a:prstGeom prst="line">
              <a:avLst/>
            </a:prstGeom>
            <a:noFill/>
            <a:ln w="23813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153" name="Line 149">
              <a:extLst>
                <a:ext uri="{FF2B5EF4-FFF2-40B4-BE49-F238E27FC236}">
                  <a16:creationId xmlns:a16="http://schemas.microsoft.com/office/drawing/2014/main" id="{53D1D57C-C2AF-4B4C-9B02-781EA490732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819277" y="4342828"/>
              <a:ext cx="448343" cy="0"/>
            </a:xfrm>
            <a:prstGeom prst="line">
              <a:avLst/>
            </a:prstGeom>
            <a:noFill/>
            <a:ln w="23813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154" name="Line 150">
              <a:extLst>
                <a:ext uri="{FF2B5EF4-FFF2-40B4-BE49-F238E27FC236}">
                  <a16:creationId xmlns:a16="http://schemas.microsoft.com/office/drawing/2014/main" id="{3C62E5E6-1AFA-43E7-9AE3-9B3AA40B8FB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267620" y="3958080"/>
              <a:ext cx="0" cy="384748"/>
            </a:xfrm>
            <a:prstGeom prst="line">
              <a:avLst/>
            </a:prstGeom>
            <a:noFill/>
            <a:ln w="23813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155" name="Line 151">
              <a:extLst>
                <a:ext uri="{FF2B5EF4-FFF2-40B4-BE49-F238E27FC236}">
                  <a16:creationId xmlns:a16="http://schemas.microsoft.com/office/drawing/2014/main" id="{B494A1B2-793B-4194-8586-C3E310903D0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372551" y="3958080"/>
              <a:ext cx="0" cy="321154"/>
            </a:xfrm>
            <a:prstGeom prst="line">
              <a:avLst/>
            </a:prstGeom>
            <a:noFill/>
            <a:ln w="23813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156" name="Line 152">
              <a:extLst>
                <a:ext uri="{FF2B5EF4-FFF2-40B4-BE49-F238E27FC236}">
                  <a16:creationId xmlns:a16="http://schemas.microsoft.com/office/drawing/2014/main" id="{0DC215A6-8AF5-4735-AF14-FDEEE69C3A2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372551" y="4279234"/>
              <a:ext cx="578712" cy="0"/>
            </a:xfrm>
            <a:prstGeom prst="line">
              <a:avLst/>
            </a:prstGeom>
            <a:noFill/>
            <a:ln w="23813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157" name="Line 153">
              <a:extLst>
                <a:ext uri="{FF2B5EF4-FFF2-40B4-BE49-F238E27FC236}">
                  <a16:creationId xmlns:a16="http://schemas.microsoft.com/office/drawing/2014/main" id="{F947DCCD-425D-451F-BF7B-DD01875A213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951264" y="3958080"/>
              <a:ext cx="0" cy="321154"/>
            </a:xfrm>
            <a:prstGeom prst="line">
              <a:avLst/>
            </a:prstGeom>
            <a:noFill/>
            <a:ln w="23813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158" name="Freeform 154">
              <a:extLst>
                <a:ext uri="{FF2B5EF4-FFF2-40B4-BE49-F238E27FC236}">
                  <a16:creationId xmlns:a16="http://schemas.microsoft.com/office/drawing/2014/main" id="{90F76EB4-6ADE-47AE-B5A9-E3EB1BD026D7}"/>
                </a:ext>
              </a:extLst>
            </p:cNvPr>
            <p:cNvSpPr>
              <a:spLocks/>
            </p:cNvSpPr>
            <p:nvPr/>
          </p:nvSpPr>
          <p:spPr bwMode="auto">
            <a:xfrm>
              <a:off x="5501331" y="4471608"/>
              <a:ext cx="287766" cy="642307"/>
            </a:xfrm>
            <a:custGeom>
              <a:avLst/>
              <a:gdLst>
                <a:gd name="T0" fmla="*/ 0 w 181"/>
                <a:gd name="T1" fmla="*/ 269 h 404"/>
                <a:gd name="T2" fmla="*/ 60 w 181"/>
                <a:gd name="T3" fmla="*/ 202 h 404"/>
                <a:gd name="T4" fmla="*/ 0 w 181"/>
                <a:gd name="T5" fmla="*/ 135 h 404"/>
                <a:gd name="T6" fmla="*/ 0 w 181"/>
                <a:gd name="T7" fmla="*/ 0 h 404"/>
                <a:gd name="T8" fmla="*/ 181 w 181"/>
                <a:gd name="T9" fmla="*/ 135 h 404"/>
                <a:gd name="T10" fmla="*/ 181 w 181"/>
                <a:gd name="T11" fmla="*/ 269 h 404"/>
                <a:gd name="T12" fmla="*/ 0 w 181"/>
                <a:gd name="T13" fmla="*/ 404 h 404"/>
                <a:gd name="T14" fmla="*/ 0 w 181"/>
                <a:gd name="T15" fmla="*/ 269 h 4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81" h="404">
                  <a:moveTo>
                    <a:pt x="0" y="269"/>
                  </a:moveTo>
                  <a:lnTo>
                    <a:pt x="60" y="202"/>
                  </a:lnTo>
                  <a:lnTo>
                    <a:pt x="0" y="135"/>
                  </a:lnTo>
                  <a:lnTo>
                    <a:pt x="0" y="0"/>
                  </a:lnTo>
                  <a:lnTo>
                    <a:pt x="181" y="135"/>
                  </a:lnTo>
                  <a:lnTo>
                    <a:pt x="181" y="269"/>
                  </a:lnTo>
                  <a:lnTo>
                    <a:pt x="0" y="404"/>
                  </a:lnTo>
                  <a:lnTo>
                    <a:pt x="0" y="269"/>
                  </a:lnTo>
                </a:path>
              </a:pathLst>
            </a:custGeom>
            <a:noFill/>
            <a:ln w="222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160" name="Rectangle 156">
              <a:extLst>
                <a:ext uri="{FF2B5EF4-FFF2-40B4-BE49-F238E27FC236}">
                  <a16:creationId xmlns:a16="http://schemas.microsoft.com/office/drawing/2014/main" id="{DAA7D609-79FC-4BB7-B8A1-68BDD05B87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39137" y="4646493"/>
              <a:ext cx="186015" cy="20032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1300" u="none" strike="noStrike" cap="none" normalizeH="0" baseline="0" dirty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  <a:ea typeface="SimHei" panose="02010609060101010101" pitchFamily="49" charset="-122"/>
                </a:rPr>
                <a:t>IM</a:t>
              </a:r>
              <a:endParaRPr kumimoji="0" lang="zh-CN" altLang="zh-CN" sz="180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endParaRPr>
            </a:p>
          </p:txBody>
        </p:sp>
        <p:sp>
          <p:nvSpPr>
            <p:cNvPr id="161" name="Freeform 157">
              <a:extLst>
                <a:ext uri="{FF2B5EF4-FFF2-40B4-BE49-F238E27FC236}">
                  <a16:creationId xmlns:a16="http://schemas.microsoft.com/office/drawing/2014/main" id="{2F08D291-B920-45B1-8282-D0D9D2B86D7A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4413" y="4600387"/>
              <a:ext cx="224172" cy="384748"/>
            </a:xfrm>
            <a:custGeom>
              <a:avLst/>
              <a:gdLst>
                <a:gd name="T0" fmla="*/ 141 w 141"/>
                <a:gd name="T1" fmla="*/ 0 h 242"/>
                <a:gd name="T2" fmla="*/ 0 w 141"/>
                <a:gd name="T3" fmla="*/ 0 h 242"/>
                <a:gd name="T4" fmla="*/ 0 w 141"/>
                <a:gd name="T5" fmla="*/ 242 h 242"/>
                <a:gd name="T6" fmla="*/ 141 w 141"/>
                <a:gd name="T7" fmla="*/ 242 h 2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41" h="242">
                  <a:moveTo>
                    <a:pt x="141" y="0"/>
                  </a:moveTo>
                  <a:lnTo>
                    <a:pt x="0" y="0"/>
                  </a:lnTo>
                  <a:lnTo>
                    <a:pt x="0" y="242"/>
                  </a:lnTo>
                  <a:lnTo>
                    <a:pt x="141" y="242"/>
                  </a:lnTo>
                </a:path>
              </a:pathLst>
            </a:custGeom>
            <a:noFill/>
            <a:ln w="222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162" name="Freeform 158">
              <a:extLst>
                <a:ext uri="{FF2B5EF4-FFF2-40B4-BE49-F238E27FC236}">
                  <a16:creationId xmlns:a16="http://schemas.microsoft.com/office/drawing/2014/main" id="{35C76208-2B48-40CA-949F-654D07A15CD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0174" y="4600387"/>
              <a:ext cx="230531" cy="384748"/>
            </a:xfrm>
            <a:custGeom>
              <a:avLst/>
              <a:gdLst>
                <a:gd name="T0" fmla="*/ 0 w 145"/>
                <a:gd name="T1" fmla="*/ 0 h 242"/>
                <a:gd name="T2" fmla="*/ 145 w 145"/>
                <a:gd name="T3" fmla="*/ 0 h 242"/>
                <a:gd name="T4" fmla="*/ 145 w 145"/>
                <a:gd name="T5" fmla="*/ 242 h 242"/>
                <a:gd name="T6" fmla="*/ 0 w 145"/>
                <a:gd name="T7" fmla="*/ 242 h 2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45" h="242">
                  <a:moveTo>
                    <a:pt x="0" y="0"/>
                  </a:moveTo>
                  <a:lnTo>
                    <a:pt x="145" y="0"/>
                  </a:lnTo>
                  <a:lnTo>
                    <a:pt x="145" y="242"/>
                  </a:lnTo>
                  <a:lnTo>
                    <a:pt x="0" y="242"/>
                  </a:lnTo>
                </a:path>
              </a:pathLst>
            </a:custGeom>
            <a:noFill/>
            <a:ln w="222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163" name="Rectangle 159">
              <a:extLst>
                <a:ext uri="{FF2B5EF4-FFF2-40B4-BE49-F238E27FC236}">
                  <a16:creationId xmlns:a16="http://schemas.microsoft.com/office/drawing/2014/main" id="{9AD4E76D-F310-4759-8CC4-A64A88B95C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32158" y="4656033"/>
              <a:ext cx="306845" cy="20032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1300" u="none" strike="noStrike" cap="none" normalizeH="0" baseline="0" dirty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  <a:ea typeface="SimHei" panose="02010609060101010101" pitchFamily="49" charset="-122"/>
                </a:rPr>
                <a:t>Reg</a:t>
              </a:r>
              <a:endParaRPr kumimoji="0" lang="zh-CN" altLang="zh-CN" sz="180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endParaRPr>
            </a:p>
          </p:txBody>
        </p:sp>
        <p:sp>
          <p:nvSpPr>
            <p:cNvPr id="164" name="Freeform 160">
              <a:extLst>
                <a:ext uri="{FF2B5EF4-FFF2-40B4-BE49-F238E27FC236}">
                  <a16:creationId xmlns:a16="http://schemas.microsoft.com/office/drawing/2014/main" id="{9DB2C9CC-9D01-4024-9859-1B89D6563E96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2872" y="4600387"/>
              <a:ext cx="200323" cy="384748"/>
            </a:xfrm>
            <a:custGeom>
              <a:avLst/>
              <a:gdLst>
                <a:gd name="T0" fmla="*/ 126 w 126"/>
                <a:gd name="T1" fmla="*/ 0 h 242"/>
                <a:gd name="T2" fmla="*/ 0 w 126"/>
                <a:gd name="T3" fmla="*/ 0 h 242"/>
                <a:gd name="T4" fmla="*/ 0 w 126"/>
                <a:gd name="T5" fmla="*/ 242 h 242"/>
                <a:gd name="T6" fmla="*/ 126 w 126"/>
                <a:gd name="T7" fmla="*/ 242 h 2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6" h="242">
                  <a:moveTo>
                    <a:pt x="126" y="0"/>
                  </a:moveTo>
                  <a:lnTo>
                    <a:pt x="0" y="0"/>
                  </a:lnTo>
                  <a:lnTo>
                    <a:pt x="0" y="242"/>
                  </a:lnTo>
                  <a:lnTo>
                    <a:pt x="126" y="242"/>
                  </a:lnTo>
                </a:path>
              </a:pathLst>
            </a:custGeom>
            <a:noFill/>
            <a:ln w="222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165" name="Freeform 161">
              <a:extLst>
                <a:ext uri="{FF2B5EF4-FFF2-40B4-BE49-F238E27FC236}">
                  <a16:creationId xmlns:a16="http://schemas.microsoft.com/office/drawing/2014/main" id="{C2AED59C-5D99-4A48-AD89-AC7CBE9F8204}"/>
                </a:ext>
              </a:extLst>
            </p:cNvPr>
            <p:cNvSpPr>
              <a:spLocks/>
            </p:cNvSpPr>
            <p:nvPr/>
          </p:nvSpPr>
          <p:spPr bwMode="auto">
            <a:xfrm>
              <a:off x="5075246" y="4600387"/>
              <a:ext cx="200323" cy="384748"/>
            </a:xfrm>
            <a:custGeom>
              <a:avLst/>
              <a:gdLst>
                <a:gd name="T0" fmla="*/ 0 w 126"/>
                <a:gd name="T1" fmla="*/ 0 h 242"/>
                <a:gd name="T2" fmla="*/ 126 w 126"/>
                <a:gd name="T3" fmla="*/ 0 h 242"/>
                <a:gd name="T4" fmla="*/ 126 w 126"/>
                <a:gd name="T5" fmla="*/ 242 h 242"/>
                <a:gd name="T6" fmla="*/ 0 w 126"/>
                <a:gd name="T7" fmla="*/ 242 h 2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6" h="242">
                  <a:moveTo>
                    <a:pt x="0" y="0"/>
                  </a:moveTo>
                  <a:lnTo>
                    <a:pt x="126" y="0"/>
                  </a:lnTo>
                  <a:lnTo>
                    <a:pt x="126" y="242"/>
                  </a:lnTo>
                  <a:lnTo>
                    <a:pt x="0" y="242"/>
                  </a:lnTo>
                </a:path>
              </a:pathLst>
            </a:custGeom>
            <a:noFill/>
            <a:ln w="222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166" name="Line 162">
              <a:extLst>
                <a:ext uri="{FF2B5EF4-FFF2-40B4-BE49-F238E27FC236}">
                  <a16:creationId xmlns:a16="http://schemas.microsoft.com/office/drawing/2014/main" id="{E738A99F-28BB-46C1-A3EB-62BCC296AA7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30244" y="4792761"/>
              <a:ext cx="152627" cy="0"/>
            </a:xfrm>
            <a:prstGeom prst="line">
              <a:avLst/>
            </a:prstGeom>
            <a:noFill/>
            <a:ln w="22225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167" name="Freeform 163">
              <a:extLst>
                <a:ext uri="{FF2B5EF4-FFF2-40B4-BE49-F238E27FC236}">
                  <a16:creationId xmlns:a16="http://schemas.microsoft.com/office/drawing/2014/main" id="{EBD890B8-E273-403F-809E-37754ED0803D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9277" y="4663982"/>
              <a:ext cx="62005" cy="128779"/>
            </a:xfrm>
            <a:custGeom>
              <a:avLst/>
              <a:gdLst>
                <a:gd name="T0" fmla="*/ 0 w 39"/>
                <a:gd name="T1" fmla="*/ 81 h 81"/>
                <a:gd name="T2" fmla="*/ 0 w 39"/>
                <a:gd name="T3" fmla="*/ 0 h 81"/>
                <a:gd name="T4" fmla="*/ 39 w 39"/>
                <a:gd name="T5" fmla="*/ 0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9" h="81">
                  <a:moveTo>
                    <a:pt x="0" y="81"/>
                  </a:moveTo>
                  <a:lnTo>
                    <a:pt x="0" y="0"/>
                  </a:lnTo>
                  <a:lnTo>
                    <a:pt x="39" y="0"/>
                  </a:lnTo>
                </a:path>
              </a:pathLst>
            </a:custGeom>
            <a:noFill/>
            <a:ln w="222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168" name="Line 164">
              <a:extLst>
                <a:ext uri="{FF2B5EF4-FFF2-40B4-BE49-F238E27FC236}">
                  <a16:creationId xmlns:a16="http://schemas.microsoft.com/office/drawing/2014/main" id="{FA4226AE-D28A-44C3-BADD-D6D268A1A2C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283519" y="4663982"/>
              <a:ext cx="209863" cy="0"/>
            </a:xfrm>
            <a:prstGeom prst="line">
              <a:avLst/>
            </a:prstGeom>
            <a:noFill/>
            <a:ln w="22225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169" name="Rectangle 165">
              <a:extLst>
                <a:ext uri="{FF2B5EF4-FFF2-40B4-BE49-F238E27FC236}">
                  <a16:creationId xmlns:a16="http://schemas.microsoft.com/office/drawing/2014/main" id="{980C09E0-55D2-4FFB-90B7-CAD28BB1A1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24398" y="4646493"/>
              <a:ext cx="259149" cy="20032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1300" u="none" strike="noStrike" cap="none" normalizeH="0" baseline="0" dirty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  <a:ea typeface="SimHei" panose="02010609060101010101" pitchFamily="49" charset="-122"/>
                </a:rPr>
                <a:t>DM</a:t>
              </a:r>
              <a:endParaRPr kumimoji="0" lang="zh-CN" altLang="zh-CN" sz="180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endParaRPr>
            </a:p>
          </p:txBody>
        </p:sp>
        <p:sp>
          <p:nvSpPr>
            <p:cNvPr id="170" name="Freeform 166">
              <a:extLst>
                <a:ext uri="{FF2B5EF4-FFF2-40B4-BE49-F238E27FC236}">
                  <a16:creationId xmlns:a16="http://schemas.microsoft.com/office/drawing/2014/main" id="{2301E547-1BB8-4D96-B47B-1D77D11C867D}"/>
                </a:ext>
              </a:extLst>
            </p:cNvPr>
            <p:cNvSpPr>
              <a:spLocks/>
            </p:cNvSpPr>
            <p:nvPr/>
          </p:nvSpPr>
          <p:spPr bwMode="auto">
            <a:xfrm>
              <a:off x="6014859" y="4600387"/>
              <a:ext cx="216222" cy="384748"/>
            </a:xfrm>
            <a:custGeom>
              <a:avLst/>
              <a:gdLst>
                <a:gd name="T0" fmla="*/ 136 w 136"/>
                <a:gd name="T1" fmla="*/ 0 h 242"/>
                <a:gd name="T2" fmla="*/ 0 w 136"/>
                <a:gd name="T3" fmla="*/ 0 h 242"/>
                <a:gd name="T4" fmla="*/ 0 w 136"/>
                <a:gd name="T5" fmla="*/ 242 h 242"/>
                <a:gd name="T6" fmla="*/ 136 w 136"/>
                <a:gd name="T7" fmla="*/ 242 h 2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6" h="242">
                  <a:moveTo>
                    <a:pt x="136" y="0"/>
                  </a:moveTo>
                  <a:lnTo>
                    <a:pt x="0" y="0"/>
                  </a:lnTo>
                  <a:lnTo>
                    <a:pt x="0" y="242"/>
                  </a:lnTo>
                  <a:lnTo>
                    <a:pt x="136" y="242"/>
                  </a:lnTo>
                </a:path>
              </a:pathLst>
            </a:custGeom>
            <a:noFill/>
            <a:ln w="222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171" name="Freeform 167">
              <a:extLst>
                <a:ext uri="{FF2B5EF4-FFF2-40B4-BE49-F238E27FC236}">
                  <a16:creationId xmlns:a16="http://schemas.microsoft.com/office/drawing/2014/main" id="{D3C8ED34-20FA-47D5-A761-AA3F9A6AF0EA}"/>
                </a:ext>
              </a:extLst>
            </p:cNvPr>
            <p:cNvSpPr>
              <a:spLocks/>
            </p:cNvSpPr>
            <p:nvPr/>
          </p:nvSpPr>
          <p:spPr bwMode="auto">
            <a:xfrm>
              <a:off x="6231081" y="4600387"/>
              <a:ext cx="216222" cy="384748"/>
            </a:xfrm>
            <a:custGeom>
              <a:avLst/>
              <a:gdLst>
                <a:gd name="T0" fmla="*/ 0 w 136"/>
                <a:gd name="T1" fmla="*/ 0 h 242"/>
                <a:gd name="T2" fmla="*/ 136 w 136"/>
                <a:gd name="T3" fmla="*/ 0 h 242"/>
                <a:gd name="T4" fmla="*/ 136 w 136"/>
                <a:gd name="T5" fmla="*/ 242 h 242"/>
                <a:gd name="T6" fmla="*/ 0 w 136"/>
                <a:gd name="T7" fmla="*/ 242 h 2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6" h="242">
                  <a:moveTo>
                    <a:pt x="0" y="0"/>
                  </a:moveTo>
                  <a:lnTo>
                    <a:pt x="136" y="0"/>
                  </a:lnTo>
                  <a:lnTo>
                    <a:pt x="136" y="242"/>
                  </a:lnTo>
                  <a:lnTo>
                    <a:pt x="0" y="242"/>
                  </a:lnTo>
                </a:path>
              </a:pathLst>
            </a:custGeom>
            <a:noFill/>
            <a:ln w="222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172" name="Rectangle 168">
              <a:extLst>
                <a:ext uri="{FF2B5EF4-FFF2-40B4-BE49-F238E27FC236}">
                  <a16:creationId xmlns:a16="http://schemas.microsoft.com/office/drawing/2014/main" id="{B6F52E46-B7B4-490F-9449-7D9E5F2BDD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682604" y="4646493"/>
              <a:ext cx="306845" cy="20032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1300" u="none" strike="noStrike" cap="none" normalizeH="0" baseline="0" dirty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  <a:ea typeface="SimHei" panose="02010609060101010101" pitchFamily="49" charset="-122"/>
                </a:rPr>
                <a:t>Reg</a:t>
              </a:r>
              <a:endParaRPr kumimoji="0" lang="zh-CN" altLang="zh-CN" sz="180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endParaRPr>
            </a:p>
          </p:txBody>
        </p:sp>
        <p:sp>
          <p:nvSpPr>
            <p:cNvPr id="173" name="Freeform 169">
              <a:extLst>
                <a:ext uri="{FF2B5EF4-FFF2-40B4-BE49-F238E27FC236}">
                  <a16:creationId xmlns:a16="http://schemas.microsoft.com/office/drawing/2014/main" id="{D299A12D-AD99-4629-937B-85B26E288E85}"/>
                </a:ext>
              </a:extLst>
            </p:cNvPr>
            <p:cNvSpPr>
              <a:spLocks/>
            </p:cNvSpPr>
            <p:nvPr/>
          </p:nvSpPr>
          <p:spPr bwMode="auto">
            <a:xfrm>
              <a:off x="6641267" y="4600387"/>
              <a:ext cx="190784" cy="384748"/>
            </a:xfrm>
            <a:custGeom>
              <a:avLst/>
              <a:gdLst>
                <a:gd name="T0" fmla="*/ 120 w 120"/>
                <a:gd name="T1" fmla="*/ 0 h 242"/>
                <a:gd name="T2" fmla="*/ 0 w 120"/>
                <a:gd name="T3" fmla="*/ 0 h 242"/>
                <a:gd name="T4" fmla="*/ 0 w 120"/>
                <a:gd name="T5" fmla="*/ 242 h 242"/>
                <a:gd name="T6" fmla="*/ 120 w 120"/>
                <a:gd name="T7" fmla="*/ 242 h 2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0" h="242">
                  <a:moveTo>
                    <a:pt x="120" y="0"/>
                  </a:moveTo>
                  <a:lnTo>
                    <a:pt x="0" y="0"/>
                  </a:lnTo>
                  <a:lnTo>
                    <a:pt x="0" y="242"/>
                  </a:lnTo>
                  <a:lnTo>
                    <a:pt x="120" y="242"/>
                  </a:lnTo>
                </a:path>
              </a:pathLst>
            </a:custGeom>
            <a:noFill/>
            <a:ln w="222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174" name="Freeform 170">
              <a:extLst>
                <a:ext uri="{FF2B5EF4-FFF2-40B4-BE49-F238E27FC236}">
                  <a16:creationId xmlns:a16="http://schemas.microsoft.com/office/drawing/2014/main" id="{FAE9CA56-6BD8-4622-8EEA-4FF6576A45A8}"/>
                </a:ext>
              </a:extLst>
            </p:cNvPr>
            <p:cNvSpPr>
              <a:spLocks/>
            </p:cNvSpPr>
            <p:nvPr/>
          </p:nvSpPr>
          <p:spPr bwMode="auto">
            <a:xfrm>
              <a:off x="6833641" y="4600387"/>
              <a:ext cx="192374" cy="384748"/>
            </a:xfrm>
            <a:custGeom>
              <a:avLst/>
              <a:gdLst>
                <a:gd name="T0" fmla="*/ 0 w 121"/>
                <a:gd name="T1" fmla="*/ 0 h 242"/>
                <a:gd name="T2" fmla="*/ 121 w 121"/>
                <a:gd name="T3" fmla="*/ 0 h 242"/>
                <a:gd name="T4" fmla="*/ 121 w 121"/>
                <a:gd name="T5" fmla="*/ 242 h 242"/>
                <a:gd name="T6" fmla="*/ 0 w 121"/>
                <a:gd name="T7" fmla="*/ 242 h 2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1" h="242">
                  <a:moveTo>
                    <a:pt x="0" y="0"/>
                  </a:moveTo>
                  <a:lnTo>
                    <a:pt x="121" y="0"/>
                  </a:lnTo>
                  <a:lnTo>
                    <a:pt x="121" y="242"/>
                  </a:lnTo>
                  <a:lnTo>
                    <a:pt x="0" y="242"/>
                  </a:lnTo>
                </a:path>
              </a:pathLst>
            </a:custGeom>
            <a:noFill/>
            <a:ln w="222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175" name="Line 171">
              <a:extLst>
                <a:ext uri="{FF2B5EF4-FFF2-40B4-BE49-F238E27FC236}">
                  <a16:creationId xmlns:a16="http://schemas.microsoft.com/office/drawing/2014/main" id="{878304E1-A156-49C4-B739-F89DFA4A0DB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448893" y="4792761"/>
              <a:ext cx="184425" cy="0"/>
            </a:xfrm>
            <a:prstGeom prst="line">
              <a:avLst/>
            </a:prstGeom>
            <a:noFill/>
            <a:ln w="22225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176" name="Line 172">
              <a:extLst>
                <a:ext uri="{FF2B5EF4-FFF2-40B4-BE49-F238E27FC236}">
                  <a16:creationId xmlns:a16="http://schemas.microsoft.com/office/drawing/2014/main" id="{4636D761-DE92-43E3-82ED-2C2407B4CC5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798636" y="4792761"/>
              <a:ext cx="208273" cy="0"/>
            </a:xfrm>
            <a:prstGeom prst="line">
              <a:avLst/>
            </a:prstGeom>
            <a:noFill/>
            <a:ln w="22225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177" name="Line 173">
              <a:extLst>
                <a:ext uri="{FF2B5EF4-FFF2-40B4-BE49-F238E27FC236}">
                  <a16:creationId xmlns:a16="http://schemas.microsoft.com/office/drawing/2014/main" id="{7215B06F-1DD5-4C7E-8F09-AFC40963FFB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283519" y="4921541"/>
              <a:ext cx="209863" cy="0"/>
            </a:xfrm>
            <a:prstGeom prst="line">
              <a:avLst/>
            </a:prstGeom>
            <a:noFill/>
            <a:ln w="22225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178" name="Line 174">
              <a:extLst>
                <a:ext uri="{FF2B5EF4-FFF2-40B4-BE49-F238E27FC236}">
                  <a16:creationId xmlns:a16="http://schemas.microsoft.com/office/drawing/2014/main" id="{326C07FB-63F7-4EC9-BDBF-2EB39BF7BEF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396400" y="4921541"/>
              <a:ext cx="0" cy="257559"/>
            </a:xfrm>
            <a:prstGeom prst="line">
              <a:avLst/>
            </a:prstGeom>
            <a:noFill/>
            <a:ln w="23813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179" name="Line 175">
              <a:extLst>
                <a:ext uri="{FF2B5EF4-FFF2-40B4-BE49-F238E27FC236}">
                  <a16:creationId xmlns:a16="http://schemas.microsoft.com/office/drawing/2014/main" id="{1A469005-1B77-40E9-A2BA-5930B963A69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396400" y="5179099"/>
              <a:ext cx="449933" cy="0"/>
            </a:xfrm>
            <a:prstGeom prst="line">
              <a:avLst/>
            </a:prstGeom>
            <a:noFill/>
            <a:ln w="23813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180" name="Line 176">
              <a:extLst>
                <a:ext uri="{FF2B5EF4-FFF2-40B4-BE49-F238E27FC236}">
                  <a16:creationId xmlns:a16="http://schemas.microsoft.com/office/drawing/2014/main" id="{7987C501-137A-4D90-A68B-66B18EDE4EC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846332" y="4792761"/>
              <a:ext cx="0" cy="386338"/>
            </a:xfrm>
            <a:prstGeom prst="line">
              <a:avLst/>
            </a:prstGeom>
            <a:noFill/>
            <a:ln w="23813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181" name="Line 177">
              <a:extLst>
                <a:ext uri="{FF2B5EF4-FFF2-40B4-BE49-F238E27FC236}">
                  <a16:creationId xmlns:a16="http://schemas.microsoft.com/office/drawing/2014/main" id="{203C5AAD-97F1-408A-8144-BA60398D6C2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951264" y="4792761"/>
              <a:ext cx="0" cy="321154"/>
            </a:xfrm>
            <a:prstGeom prst="line">
              <a:avLst/>
            </a:prstGeom>
            <a:noFill/>
            <a:ln w="23813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182" name="Line 178">
              <a:extLst>
                <a:ext uri="{FF2B5EF4-FFF2-40B4-BE49-F238E27FC236}">
                  <a16:creationId xmlns:a16="http://schemas.microsoft.com/office/drawing/2014/main" id="{B08ECE67-996F-43FB-B008-F9983D725EA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951264" y="5113915"/>
              <a:ext cx="577122" cy="0"/>
            </a:xfrm>
            <a:prstGeom prst="line">
              <a:avLst/>
            </a:prstGeom>
            <a:noFill/>
            <a:ln w="23813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183" name="Line 179">
              <a:extLst>
                <a:ext uri="{FF2B5EF4-FFF2-40B4-BE49-F238E27FC236}">
                  <a16:creationId xmlns:a16="http://schemas.microsoft.com/office/drawing/2014/main" id="{7418353F-A497-498C-BD91-0463821A6CB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528386" y="4792761"/>
              <a:ext cx="0" cy="321154"/>
            </a:xfrm>
            <a:prstGeom prst="line">
              <a:avLst/>
            </a:prstGeom>
            <a:noFill/>
            <a:ln w="23813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184" name="Rectangle 180">
              <a:extLst>
                <a:ext uri="{FF2B5EF4-FFF2-40B4-BE49-F238E27FC236}">
                  <a16:creationId xmlns:a16="http://schemas.microsoft.com/office/drawing/2014/main" id="{AF9952C8-8333-4B7A-BAAF-B29280F0E6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04400" y="6198205"/>
              <a:ext cx="724980" cy="30843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2000" u="none" strike="noStrike" cap="none" normalizeH="0" baseline="0" dirty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  <a:ea typeface="SimHei" panose="02010609060101010101" pitchFamily="49" charset="-122"/>
                </a:rPr>
                <a:t>xor r4,</a:t>
              </a:r>
              <a:endParaRPr kumimoji="0" lang="zh-CN" altLang="zh-CN" sz="180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endParaRPr>
            </a:p>
          </p:txBody>
        </p:sp>
        <p:sp>
          <p:nvSpPr>
            <p:cNvPr id="185" name="Rectangle 181">
              <a:extLst>
                <a:ext uri="{FF2B5EF4-FFF2-40B4-BE49-F238E27FC236}">
                  <a16:creationId xmlns:a16="http://schemas.microsoft.com/office/drawing/2014/main" id="{F39FA89B-32E6-4FBD-ADC6-B33CC74F84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34150" y="6198205"/>
              <a:ext cx="227351" cy="30843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2000" u="none" strike="noStrike" cap="none" normalizeH="0" baseline="0" dirty="0">
                  <a:ln>
                    <a:noFill/>
                  </a:ln>
                  <a:solidFill>
                    <a:srgbClr val="009900"/>
                  </a:solidFill>
                  <a:effectLst/>
                  <a:latin typeface="Arial" panose="020B0604020202020204" pitchFamily="34" charset="0"/>
                  <a:ea typeface="SimHei" panose="02010609060101010101" pitchFamily="49" charset="-122"/>
                </a:rPr>
                <a:t>r1</a:t>
              </a:r>
              <a:endParaRPr kumimoji="0" lang="zh-CN" altLang="zh-CN" sz="180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endParaRPr>
            </a:p>
          </p:txBody>
        </p:sp>
        <p:sp>
          <p:nvSpPr>
            <p:cNvPr id="186" name="Rectangle 182">
              <a:extLst>
                <a:ext uri="{FF2B5EF4-FFF2-40B4-BE49-F238E27FC236}">
                  <a16:creationId xmlns:a16="http://schemas.microsoft.com/office/drawing/2014/main" id="{F30DBE9F-2AC3-431A-89E5-35515320E0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67861" y="6198205"/>
              <a:ext cx="298895" cy="30843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2000" u="none" strike="noStrike" cap="none" normalizeH="0" baseline="0" dirty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  <a:ea typeface="SimHei" panose="02010609060101010101" pitchFamily="49" charset="-122"/>
                </a:rPr>
                <a:t>,r5</a:t>
              </a:r>
              <a:endParaRPr kumimoji="0" lang="zh-CN" altLang="zh-CN" sz="180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endParaRPr>
            </a:p>
          </p:txBody>
        </p:sp>
        <p:sp>
          <p:nvSpPr>
            <p:cNvPr id="187" name="Rectangle 183">
              <a:extLst>
                <a:ext uri="{FF2B5EF4-FFF2-40B4-BE49-F238E27FC236}">
                  <a16:creationId xmlns:a16="http://schemas.microsoft.com/office/drawing/2014/main" id="{3EB35709-49F3-4507-B800-D8BDC09D81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04400" y="5460506"/>
              <a:ext cx="737699" cy="30843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2000" u="none" strike="noStrike" cap="none" normalizeH="0" baseline="0" dirty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  <a:ea typeface="SimHei" panose="02010609060101010101" pitchFamily="49" charset="-122"/>
                </a:rPr>
                <a:t>or  r8, </a:t>
              </a:r>
              <a:endParaRPr kumimoji="0" lang="zh-CN" altLang="zh-CN" sz="180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endParaRPr>
            </a:p>
          </p:txBody>
        </p:sp>
        <p:sp>
          <p:nvSpPr>
            <p:cNvPr id="188" name="Rectangle 184">
              <a:extLst>
                <a:ext uri="{FF2B5EF4-FFF2-40B4-BE49-F238E27FC236}">
                  <a16:creationId xmlns:a16="http://schemas.microsoft.com/office/drawing/2014/main" id="{03F6A719-BB34-4CF7-AFA1-F0E50C788E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42099" y="5460506"/>
              <a:ext cx="227351" cy="30843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2000" u="none" strike="noStrike" cap="none" normalizeH="0" baseline="0" dirty="0">
                  <a:ln>
                    <a:noFill/>
                  </a:ln>
                  <a:solidFill>
                    <a:srgbClr val="009900"/>
                  </a:solidFill>
                  <a:effectLst/>
                  <a:latin typeface="Arial" panose="020B0604020202020204" pitchFamily="34" charset="0"/>
                  <a:ea typeface="SimHei" panose="02010609060101010101" pitchFamily="49" charset="-122"/>
                </a:rPr>
                <a:t>r1</a:t>
              </a:r>
              <a:endParaRPr kumimoji="0" lang="zh-CN" altLang="zh-CN" sz="180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endParaRPr>
            </a:p>
          </p:txBody>
        </p:sp>
        <p:sp>
          <p:nvSpPr>
            <p:cNvPr id="189" name="Rectangle 185">
              <a:extLst>
                <a:ext uri="{FF2B5EF4-FFF2-40B4-BE49-F238E27FC236}">
                  <a16:creationId xmlns:a16="http://schemas.microsoft.com/office/drawing/2014/main" id="{971FF72E-B8AA-4B26-8B63-F0FFE842EC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75810" y="5460506"/>
              <a:ext cx="368850" cy="30843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2000" u="none" strike="noStrike" cap="none" normalizeH="0" baseline="0" dirty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  <a:ea typeface="SimHei" panose="02010609060101010101" pitchFamily="49" charset="-122"/>
                </a:rPr>
                <a:t>, r9</a:t>
              </a:r>
              <a:endParaRPr kumimoji="0" lang="zh-CN" altLang="zh-CN" sz="180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endParaRPr>
            </a:p>
          </p:txBody>
        </p:sp>
        <p:sp>
          <p:nvSpPr>
            <p:cNvPr id="190" name="Rectangle 97">
              <a:extLst>
                <a:ext uri="{FF2B5EF4-FFF2-40B4-BE49-F238E27FC236}">
                  <a16:creationId xmlns:a16="http://schemas.microsoft.com/office/drawing/2014/main" id="{5E7B3E28-BFC0-8950-7655-E56708742174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4758531" y="3858579"/>
              <a:ext cx="684213" cy="2000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1300" u="none" strike="noStrike" cap="none" normalizeH="0" baseline="0" dirty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  <a:ea typeface="SimHei" panose="02010609060101010101" pitchFamily="49" charset="-122"/>
                </a:rPr>
                <a:t>ALU</a:t>
              </a:r>
              <a:endParaRPr kumimoji="0" lang="zh-CN" altLang="zh-CN" sz="130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endParaRPr>
            </a:p>
          </p:txBody>
        </p:sp>
        <p:sp>
          <p:nvSpPr>
            <p:cNvPr id="191" name="Rectangle 97">
              <a:extLst>
                <a:ext uri="{FF2B5EF4-FFF2-40B4-BE49-F238E27FC236}">
                  <a16:creationId xmlns:a16="http://schemas.microsoft.com/office/drawing/2014/main" id="{B2B0E58A-4073-B85D-ACD2-1313661A7F4E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5334794" y="4695032"/>
              <a:ext cx="684213" cy="2000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1300" u="none" strike="noStrike" cap="none" normalizeH="0" baseline="0" dirty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  <a:ea typeface="SimHei" panose="02010609060101010101" pitchFamily="49" charset="-122"/>
                </a:rPr>
                <a:t>ALU</a:t>
              </a:r>
              <a:endParaRPr kumimoji="0" lang="zh-CN" altLang="zh-CN" sz="130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endParaRPr>
            </a:p>
          </p:txBody>
        </p:sp>
        <p:sp>
          <p:nvSpPr>
            <p:cNvPr id="192" name="Rectangle 97">
              <a:extLst>
                <a:ext uri="{FF2B5EF4-FFF2-40B4-BE49-F238E27FC236}">
                  <a16:creationId xmlns:a16="http://schemas.microsoft.com/office/drawing/2014/main" id="{1B809C3B-865B-9E33-DF08-BB4D34B6B51B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5916614" y="5522913"/>
              <a:ext cx="684213" cy="2000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1300" u="none" strike="noStrike" cap="none" normalizeH="0" baseline="0" dirty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  <a:ea typeface="SimHei" panose="02010609060101010101" pitchFamily="49" charset="-122"/>
                </a:rPr>
                <a:t>ALU</a:t>
              </a:r>
              <a:endParaRPr kumimoji="0" lang="zh-CN" altLang="zh-CN" sz="130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endParaRPr>
            </a:p>
          </p:txBody>
        </p:sp>
        <p:sp>
          <p:nvSpPr>
            <p:cNvPr id="193" name="Rectangle 97">
              <a:extLst>
                <a:ext uri="{FF2B5EF4-FFF2-40B4-BE49-F238E27FC236}">
                  <a16:creationId xmlns:a16="http://schemas.microsoft.com/office/drawing/2014/main" id="{2109BF2A-0A2A-2383-A1B3-3727EA723DFC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6490493" y="6227762"/>
              <a:ext cx="684213" cy="2000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1300" u="none" strike="noStrike" cap="none" normalizeH="0" baseline="0" dirty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  <a:ea typeface="SimHei" panose="02010609060101010101" pitchFamily="49" charset="-122"/>
                </a:rPr>
                <a:t>ALU</a:t>
              </a:r>
              <a:endParaRPr kumimoji="0" lang="zh-CN" altLang="zh-CN" sz="130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endParaRPr>
            </a:p>
          </p:txBody>
        </p:sp>
        <p:cxnSp>
          <p:nvCxnSpPr>
            <p:cNvPr id="6" name="直接箭头连接符 5">
              <a:extLst>
                <a:ext uri="{FF2B5EF4-FFF2-40B4-BE49-F238E27FC236}">
                  <a16:creationId xmlns:a16="http://schemas.microsoft.com/office/drawing/2014/main" id="{45302874-E8E9-1A60-11B4-92D3C479A22B}"/>
                </a:ext>
              </a:extLst>
            </p:cNvPr>
            <p:cNvCxnSpPr>
              <a:cxnSpLocks/>
              <a:stCxn id="61" idx="2"/>
              <a:endCxn id="91" idx="0"/>
            </p:cNvCxnSpPr>
            <p:nvPr/>
          </p:nvCxnSpPr>
          <p:spPr>
            <a:xfrm>
              <a:off x="5585594" y="3379368"/>
              <a:ext cx="180450" cy="2057290"/>
            </a:xfrm>
            <a:prstGeom prst="straightConnector1">
              <a:avLst/>
            </a:prstGeom>
            <a:ln w="25400">
              <a:solidFill>
                <a:srgbClr val="009900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直接箭头连接符 9">
              <a:extLst>
                <a:ext uri="{FF2B5EF4-FFF2-40B4-BE49-F238E27FC236}">
                  <a16:creationId xmlns:a16="http://schemas.microsoft.com/office/drawing/2014/main" id="{DC785B58-648D-C99F-5FE3-90D8C77DEE82}"/>
                </a:ext>
              </a:extLst>
            </p:cNvPr>
            <p:cNvCxnSpPr>
              <a:cxnSpLocks/>
              <a:stCxn id="61" idx="2"/>
              <a:endCxn id="89" idx="0"/>
            </p:cNvCxnSpPr>
            <p:nvPr/>
          </p:nvCxnSpPr>
          <p:spPr>
            <a:xfrm>
              <a:off x="5585594" y="3379368"/>
              <a:ext cx="758367" cy="2763192"/>
            </a:xfrm>
            <a:prstGeom prst="straightConnector1">
              <a:avLst/>
            </a:prstGeom>
            <a:ln w="25400">
              <a:solidFill>
                <a:srgbClr val="009900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7" name="文本框 6">
            <a:extLst>
              <a:ext uri="{FF2B5EF4-FFF2-40B4-BE49-F238E27FC236}">
                <a16:creationId xmlns:a16="http://schemas.microsoft.com/office/drawing/2014/main" id="{A7E08070-FEB8-41CC-338A-FC98B5A8D301}"/>
              </a:ext>
            </a:extLst>
          </p:cNvPr>
          <p:cNvSpPr txBox="1"/>
          <p:nvPr/>
        </p:nvSpPr>
        <p:spPr>
          <a:xfrm>
            <a:off x="4313311" y="2489864"/>
            <a:ext cx="370053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en-US" altLang="zh-CN">
                <a:solidFill>
                  <a:srgbClr val="FF0000"/>
                </a:solidFill>
              </a:rPr>
              <a:t>t</a:t>
            </a:r>
            <a:r>
              <a:rPr kumimoji="1" lang="en-US" altLang="zh-CN" baseline="-25000">
                <a:solidFill>
                  <a:srgbClr val="FF0000"/>
                </a:solidFill>
              </a:rPr>
              <a:t>1</a:t>
            </a:r>
            <a:endParaRPr kumimoji="1" lang="zh-CN" altLang="en-US" baseline="-25000">
              <a:solidFill>
                <a:srgbClr val="FF0000"/>
              </a:solidFill>
            </a:endParaRPr>
          </a:p>
        </p:txBody>
      </p:sp>
      <p:sp>
        <p:nvSpPr>
          <p:cNvPr id="36" name="文本框 35">
            <a:extLst>
              <a:ext uri="{FF2B5EF4-FFF2-40B4-BE49-F238E27FC236}">
                <a16:creationId xmlns:a16="http://schemas.microsoft.com/office/drawing/2014/main" id="{A5865D0E-E80C-C8B9-A091-B5618148F3A0}"/>
              </a:ext>
            </a:extLst>
          </p:cNvPr>
          <p:cNvSpPr txBox="1"/>
          <p:nvPr/>
        </p:nvSpPr>
        <p:spPr>
          <a:xfrm>
            <a:off x="4913429" y="2489864"/>
            <a:ext cx="370053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en-US" altLang="zh-CN">
                <a:solidFill>
                  <a:srgbClr val="FF0000"/>
                </a:solidFill>
              </a:rPr>
              <a:t>t</a:t>
            </a:r>
            <a:r>
              <a:rPr kumimoji="1" lang="en-US" altLang="zh-CN" baseline="-25000">
                <a:solidFill>
                  <a:srgbClr val="FF0000"/>
                </a:solidFill>
              </a:rPr>
              <a:t>2</a:t>
            </a:r>
            <a:endParaRPr kumimoji="1" lang="zh-CN" altLang="en-US" baseline="-25000">
              <a:solidFill>
                <a:srgbClr val="FF0000"/>
              </a:solidFill>
            </a:endParaRPr>
          </a:p>
        </p:txBody>
      </p:sp>
      <p:sp>
        <p:nvSpPr>
          <p:cNvPr id="62" name="文本框 61">
            <a:extLst>
              <a:ext uri="{FF2B5EF4-FFF2-40B4-BE49-F238E27FC236}">
                <a16:creationId xmlns:a16="http://schemas.microsoft.com/office/drawing/2014/main" id="{344159DB-38EE-CAE0-233E-817117806BF3}"/>
              </a:ext>
            </a:extLst>
          </p:cNvPr>
          <p:cNvSpPr txBox="1"/>
          <p:nvPr/>
        </p:nvSpPr>
        <p:spPr>
          <a:xfrm>
            <a:off x="5526849" y="2489864"/>
            <a:ext cx="370053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en-US" altLang="zh-CN">
                <a:solidFill>
                  <a:srgbClr val="00B050"/>
                </a:solidFill>
              </a:rPr>
              <a:t>t</a:t>
            </a:r>
            <a:r>
              <a:rPr kumimoji="1" lang="en-US" altLang="zh-CN" baseline="-25000">
                <a:solidFill>
                  <a:srgbClr val="00B050"/>
                </a:solidFill>
              </a:rPr>
              <a:t>3</a:t>
            </a:r>
            <a:endParaRPr kumimoji="1" lang="zh-CN" altLang="en-US" baseline="-25000">
              <a:solidFill>
                <a:srgbClr val="00B050"/>
              </a:solidFill>
            </a:endParaRPr>
          </a:p>
        </p:txBody>
      </p:sp>
      <p:sp>
        <p:nvSpPr>
          <p:cNvPr id="64" name="文本框 63">
            <a:extLst>
              <a:ext uri="{FF2B5EF4-FFF2-40B4-BE49-F238E27FC236}">
                <a16:creationId xmlns:a16="http://schemas.microsoft.com/office/drawing/2014/main" id="{EC422015-4646-49C9-0264-CB3D5EF20386}"/>
              </a:ext>
            </a:extLst>
          </p:cNvPr>
          <p:cNvSpPr txBox="1"/>
          <p:nvPr/>
        </p:nvSpPr>
        <p:spPr>
          <a:xfrm>
            <a:off x="6136319" y="2497220"/>
            <a:ext cx="370053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en-US" altLang="zh-CN">
                <a:solidFill>
                  <a:srgbClr val="00B050"/>
                </a:solidFill>
              </a:rPr>
              <a:t>t</a:t>
            </a:r>
            <a:r>
              <a:rPr kumimoji="1" lang="en-US" altLang="zh-CN" baseline="-25000">
                <a:solidFill>
                  <a:srgbClr val="00B050"/>
                </a:solidFill>
              </a:rPr>
              <a:t>4</a:t>
            </a:r>
            <a:endParaRPr kumimoji="1" lang="zh-CN" altLang="en-US" baseline="-25000">
              <a:solidFill>
                <a:srgbClr val="00B050"/>
              </a:solidFill>
            </a:endParaRPr>
          </a:p>
        </p:txBody>
      </p:sp>
      <p:sp>
        <p:nvSpPr>
          <p:cNvPr id="66" name="文本框 65">
            <a:extLst>
              <a:ext uri="{FF2B5EF4-FFF2-40B4-BE49-F238E27FC236}">
                <a16:creationId xmlns:a16="http://schemas.microsoft.com/office/drawing/2014/main" id="{83140890-4CB9-9C16-78EE-38FB106F7678}"/>
              </a:ext>
            </a:extLst>
          </p:cNvPr>
          <p:cNvSpPr txBox="1"/>
          <p:nvPr/>
        </p:nvSpPr>
        <p:spPr>
          <a:xfrm>
            <a:off x="464002" y="3034469"/>
            <a:ext cx="437863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eaLnBrk="0" hangingPunct="0"/>
            <a:r>
              <a:rPr lang="en-US" altLang="zh-CN">
                <a:solidFill>
                  <a:srgbClr val="000000"/>
                </a:solidFill>
                <a:latin typeface="Arial" panose="020B0604020202020204" pitchFamily="34" charset="0"/>
                <a:ea typeface="SimHei" panose="02010609060101010101" pitchFamily="49" charset="-122"/>
              </a:rPr>
              <a:t>I1</a:t>
            </a:r>
            <a:endParaRPr lang="zh-CN" altLang="en-US">
              <a:solidFill>
                <a:srgbClr val="000000"/>
              </a:solidFill>
              <a:latin typeface="Arial" panose="020B0604020202020204" pitchFamily="34" charset="0"/>
              <a:ea typeface="SimHei" panose="02010609060101010101" pitchFamily="49" charset="-122"/>
            </a:endParaRPr>
          </a:p>
        </p:txBody>
      </p:sp>
      <p:sp>
        <p:nvSpPr>
          <p:cNvPr id="68" name="文本框 67">
            <a:extLst>
              <a:ext uri="{FF2B5EF4-FFF2-40B4-BE49-F238E27FC236}">
                <a16:creationId xmlns:a16="http://schemas.microsoft.com/office/drawing/2014/main" id="{CEB345EB-9C97-7D24-C92C-BFE26466105B}"/>
              </a:ext>
            </a:extLst>
          </p:cNvPr>
          <p:cNvSpPr txBox="1"/>
          <p:nvPr/>
        </p:nvSpPr>
        <p:spPr>
          <a:xfrm>
            <a:off x="464002" y="3821484"/>
            <a:ext cx="437863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eaLnBrk="0" hangingPunct="0"/>
            <a:r>
              <a:rPr lang="en-US" altLang="zh-CN">
                <a:solidFill>
                  <a:srgbClr val="000000"/>
                </a:solidFill>
                <a:latin typeface="Arial" panose="020B0604020202020204" pitchFamily="34" charset="0"/>
                <a:ea typeface="SimHei" panose="02010609060101010101" pitchFamily="49" charset="-122"/>
              </a:rPr>
              <a:t>I2</a:t>
            </a:r>
            <a:endParaRPr lang="zh-CN" altLang="en-US">
              <a:solidFill>
                <a:srgbClr val="000000"/>
              </a:solidFill>
              <a:latin typeface="Arial" panose="020B0604020202020204" pitchFamily="34" charset="0"/>
              <a:ea typeface="SimHei" panose="02010609060101010101" pitchFamily="49" charset="-122"/>
            </a:endParaRPr>
          </a:p>
        </p:txBody>
      </p:sp>
      <p:sp>
        <p:nvSpPr>
          <p:cNvPr id="93" name="文本框 92">
            <a:extLst>
              <a:ext uri="{FF2B5EF4-FFF2-40B4-BE49-F238E27FC236}">
                <a16:creationId xmlns:a16="http://schemas.microsoft.com/office/drawing/2014/main" id="{3C21920C-BE75-AEC6-F964-47BCAC429D3D}"/>
              </a:ext>
            </a:extLst>
          </p:cNvPr>
          <p:cNvSpPr txBox="1"/>
          <p:nvPr/>
        </p:nvSpPr>
        <p:spPr>
          <a:xfrm>
            <a:off x="464002" y="4608499"/>
            <a:ext cx="437863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eaLnBrk="0" hangingPunct="0"/>
            <a:r>
              <a:rPr lang="en-US" altLang="zh-CN">
                <a:solidFill>
                  <a:srgbClr val="000000"/>
                </a:solidFill>
                <a:latin typeface="Arial" panose="020B0604020202020204" pitchFamily="34" charset="0"/>
                <a:ea typeface="SimHei" panose="02010609060101010101" pitchFamily="49" charset="-122"/>
              </a:rPr>
              <a:t>I3</a:t>
            </a:r>
            <a:endParaRPr lang="zh-CN" altLang="en-US">
              <a:solidFill>
                <a:srgbClr val="000000"/>
              </a:solidFill>
              <a:latin typeface="Arial" panose="020B0604020202020204" pitchFamily="34" charset="0"/>
              <a:ea typeface="SimHei" panose="02010609060101010101" pitchFamily="49" charset="-122"/>
            </a:endParaRPr>
          </a:p>
        </p:txBody>
      </p:sp>
      <p:sp>
        <p:nvSpPr>
          <p:cNvPr id="94" name="文本框 93">
            <a:extLst>
              <a:ext uri="{FF2B5EF4-FFF2-40B4-BE49-F238E27FC236}">
                <a16:creationId xmlns:a16="http://schemas.microsoft.com/office/drawing/2014/main" id="{4137AAB6-2D16-E9C9-67F4-9193AEF4AF7F}"/>
              </a:ext>
            </a:extLst>
          </p:cNvPr>
          <p:cNvSpPr txBox="1"/>
          <p:nvPr/>
        </p:nvSpPr>
        <p:spPr>
          <a:xfrm>
            <a:off x="464002" y="5395514"/>
            <a:ext cx="437863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eaLnBrk="0" hangingPunct="0"/>
            <a:r>
              <a:rPr lang="en-US" altLang="zh-CN">
                <a:solidFill>
                  <a:srgbClr val="000000"/>
                </a:solidFill>
                <a:latin typeface="Arial" panose="020B0604020202020204" pitchFamily="34" charset="0"/>
                <a:ea typeface="SimHei" panose="02010609060101010101" pitchFamily="49" charset="-122"/>
              </a:rPr>
              <a:t>I4</a:t>
            </a:r>
            <a:endParaRPr lang="zh-CN" altLang="en-US">
              <a:solidFill>
                <a:srgbClr val="000000"/>
              </a:solidFill>
              <a:latin typeface="Arial" panose="020B0604020202020204" pitchFamily="34" charset="0"/>
              <a:ea typeface="SimHei" panose="02010609060101010101" pitchFamily="49" charset="-122"/>
            </a:endParaRPr>
          </a:p>
        </p:txBody>
      </p:sp>
      <p:sp>
        <p:nvSpPr>
          <p:cNvPr id="133" name="文本框 132">
            <a:extLst>
              <a:ext uri="{FF2B5EF4-FFF2-40B4-BE49-F238E27FC236}">
                <a16:creationId xmlns:a16="http://schemas.microsoft.com/office/drawing/2014/main" id="{E5A8981E-C0FE-241A-A86F-3C82CEE15C69}"/>
              </a:ext>
            </a:extLst>
          </p:cNvPr>
          <p:cNvSpPr txBox="1"/>
          <p:nvPr/>
        </p:nvSpPr>
        <p:spPr>
          <a:xfrm>
            <a:off x="464002" y="6182529"/>
            <a:ext cx="437863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eaLnBrk="0" hangingPunct="0"/>
            <a:r>
              <a:rPr lang="en-US" altLang="zh-CN">
                <a:solidFill>
                  <a:srgbClr val="000000"/>
                </a:solidFill>
                <a:latin typeface="Arial" panose="020B0604020202020204" pitchFamily="34" charset="0"/>
                <a:ea typeface="SimHei" panose="02010609060101010101" pitchFamily="49" charset="-122"/>
              </a:rPr>
              <a:t>I5</a:t>
            </a:r>
            <a:endParaRPr lang="zh-CN" altLang="en-US">
              <a:solidFill>
                <a:srgbClr val="000000"/>
              </a:solidFill>
              <a:latin typeface="Arial" panose="020B0604020202020204" pitchFamily="34" charset="0"/>
              <a:ea typeface="SimHei" panose="02010609060101010101" pitchFamily="49" charset="-122"/>
            </a:endParaRPr>
          </a:p>
        </p:txBody>
      </p:sp>
      <p:sp>
        <p:nvSpPr>
          <p:cNvPr id="159" name="文本框 158">
            <a:extLst>
              <a:ext uri="{FF2B5EF4-FFF2-40B4-BE49-F238E27FC236}">
                <a16:creationId xmlns:a16="http://schemas.microsoft.com/office/drawing/2014/main" id="{0022E2CC-6ED8-96CC-5472-2A7C54488D54}"/>
              </a:ext>
            </a:extLst>
          </p:cNvPr>
          <p:cNvSpPr txBox="1"/>
          <p:nvPr/>
        </p:nvSpPr>
        <p:spPr>
          <a:xfrm>
            <a:off x="96031" y="2560425"/>
            <a:ext cx="1327285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/>
            <a:r>
              <a:rPr lang="zh-CN" altLang="en-US">
                <a:latin typeface="+mn-lt"/>
                <a:ea typeface="+mn-ea"/>
              </a:rPr>
              <a:t>指令序列</a:t>
            </a:r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3">
            <p14:nvContentPartPr>
              <p14:cNvPr id="194" name="墨迹 193">
                <a:extLst>
                  <a:ext uri="{FF2B5EF4-FFF2-40B4-BE49-F238E27FC236}">
                    <a16:creationId xmlns:a16="http://schemas.microsoft.com/office/drawing/2014/main" id="{D892C7AC-A755-7B7A-B5C4-DAE09734C81A}"/>
                  </a:ext>
                </a:extLst>
              </p14:cNvPr>
              <p14:cNvContentPartPr/>
              <p14:nvPr/>
            </p14:nvContentPartPr>
            <p14:xfrm>
              <a:off x="4674960" y="3492720"/>
              <a:ext cx="957960" cy="1246680"/>
            </p14:xfrm>
          </p:contentPart>
        </mc:Choice>
        <mc:Fallback xmlns="">
          <p:pic>
            <p:nvPicPr>
              <p:cNvPr id="194" name="墨迹 193">
                <a:extLst>
                  <a:ext uri="{FF2B5EF4-FFF2-40B4-BE49-F238E27FC236}">
                    <a16:creationId xmlns:a16="http://schemas.microsoft.com/office/drawing/2014/main" id="{D892C7AC-A755-7B7A-B5C4-DAE09734C81A}"/>
                  </a:ext>
                </a:extLst>
              </p:cNvPr>
              <p:cNvPicPr/>
              <p:nvPr/>
            </p:nvPicPr>
            <p:blipFill>
              <a:blip r:embed="rId4"/>
              <a:stretch>
                <a:fillRect/>
              </a:stretch>
            </p:blipFill>
            <p:spPr>
              <a:xfrm>
                <a:off x="4665600" y="3483360"/>
                <a:ext cx="976680" cy="1265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">
            <p14:nvContentPartPr>
              <p14:cNvPr id="195" name="墨迹 194">
                <a:extLst>
                  <a:ext uri="{FF2B5EF4-FFF2-40B4-BE49-F238E27FC236}">
                    <a16:creationId xmlns:a16="http://schemas.microsoft.com/office/drawing/2014/main" id="{DE8C18A6-C572-9402-A333-F1CE930218E4}"/>
                  </a:ext>
                </a:extLst>
              </p14:cNvPr>
              <p14:cNvContentPartPr/>
              <p14:nvPr/>
            </p14:nvContentPartPr>
            <p14:xfrm>
              <a:off x="5342760" y="4347360"/>
              <a:ext cx="1330200" cy="1158480"/>
            </p14:xfrm>
          </p:contentPart>
        </mc:Choice>
        <mc:Fallback xmlns="">
          <p:pic>
            <p:nvPicPr>
              <p:cNvPr id="195" name="墨迹 194">
                <a:extLst>
                  <a:ext uri="{FF2B5EF4-FFF2-40B4-BE49-F238E27FC236}">
                    <a16:creationId xmlns:a16="http://schemas.microsoft.com/office/drawing/2014/main" id="{DE8C18A6-C572-9402-A333-F1CE930218E4}"/>
                  </a:ext>
                </a:extLst>
              </p:cNvPr>
              <p:cNvPicPr/>
              <p:nvPr/>
            </p:nvPicPr>
            <p:blipFill>
              <a:blip r:embed="rId6"/>
              <a:stretch>
                <a:fillRect/>
              </a:stretch>
            </p:blipFill>
            <p:spPr>
              <a:xfrm>
                <a:off x="5333400" y="4338000"/>
                <a:ext cx="1348920" cy="117720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1573340582"/>
      </p:ext>
    </p:extLst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>
            <a:extLst>
              <a:ext uri="{FF2B5EF4-FFF2-40B4-BE49-F238E27FC236}">
                <a16:creationId xmlns:a16="http://schemas.microsoft.com/office/drawing/2014/main" id="{9ED976B1-FFB4-D7A4-FA25-2E92D4759B3D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zh-CN" altLang="en-US"/>
              <a:t>寄存器使用引起的冒险</a:t>
            </a:r>
          </a:p>
        </p:txBody>
      </p:sp>
      <p:sp>
        <p:nvSpPr>
          <p:cNvPr id="4" name="灯片编号占位符 3">
            <a:extLst>
              <a:ext uri="{FF2B5EF4-FFF2-40B4-BE49-F238E27FC236}">
                <a16:creationId xmlns:a16="http://schemas.microsoft.com/office/drawing/2014/main" id="{DDB32E0A-A850-A04C-AD61-3231F0AE5DA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6553200" y="6504005"/>
            <a:ext cx="2133600" cy="476250"/>
          </a:xfrm>
        </p:spPr>
        <p:txBody>
          <a:bodyPr/>
          <a:lstStyle/>
          <a:p>
            <a:fld id="{B1806CE5-282B-4233-8654-09F35EA875E2}" type="slidenum">
              <a:rPr lang="zh-CN" altLang="en-US" smtClean="0"/>
              <a:t>24</a:t>
            </a:fld>
            <a:endParaRPr lang="zh-CN" altLang="en-US"/>
          </a:p>
        </p:txBody>
      </p:sp>
      <p:grpSp>
        <p:nvGrpSpPr>
          <p:cNvPr id="5" name="组合 4">
            <a:extLst>
              <a:ext uri="{FF2B5EF4-FFF2-40B4-BE49-F238E27FC236}">
                <a16:creationId xmlns:a16="http://schemas.microsoft.com/office/drawing/2014/main" id="{0175F6D0-62F7-38AC-EAAB-4E854D26CF58}"/>
              </a:ext>
            </a:extLst>
          </p:cNvPr>
          <p:cNvGrpSpPr/>
          <p:nvPr/>
        </p:nvGrpSpPr>
        <p:grpSpPr>
          <a:xfrm>
            <a:off x="389391" y="1992967"/>
            <a:ext cx="8509753" cy="4511038"/>
            <a:chOff x="329006" y="1204898"/>
            <a:chExt cx="8509753" cy="4511038"/>
          </a:xfrm>
        </p:grpSpPr>
        <p:sp>
          <p:nvSpPr>
            <p:cNvPr id="6" name="Line 8">
              <a:extLst>
                <a:ext uri="{FF2B5EF4-FFF2-40B4-BE49-F238E27FC236}">
                  <a16:creationId xmlns:a16="http://schemas.microsoft.com/office/drawing/2014/main" id="{DD47C116-94B2-8EA2-5F85-06C66C7A24E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36345" y="5093530"/>
              <a:ext cx="1747538" cy="0"/>
            </a:xfrm>
            <a:prstGeom prst="line">
              <a:avLst/>
            </a:prstGeom>
            <a:noFill/>
            <a:ln w="19050">
              <a:solidFill>
                <a:sysClr val="windowText" lastClr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F0502020204030204"/>
                <a:ea typeface="等线" panose="02010600030101010101" pitchFamily="2" charset="-122"/>
              </a:endParaRPr>
            </a:p>
          </p:txBody>
        </p:sp>
        <p:sp>
          <p:nvSpPr>
            <p:cNvPr id="7" name="Line 9">
              <a:extLst>
                <a:ext uri="{FF2B5EF4-FFF2-40B4-BE49-F238E27FC236}">
                  <a16:creationId xmlns:a16="http://schemas.microsoft.com/office/drawing/2014/main" id="{A3965C32-5412-5136-43BE-9F4BFD4E99B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35843" y="5093530"/>
              <a:ext cx="262057" cy="0"/>
            </a:xfrm>
            <a:prstGeom prst="line">
              <a:avLst/>
            </a:prstGeom>
            <a:noFill/>
            <a:ln w="19050">
              <a:solidFill>
                <a:sysClr val="windowText" lastClr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F0502020204030204"/>
                <a:ea typeface="等线" panose="02010600030101010101" pitchFamily="2" charset="-122"/>
              </a:endParaRPr>
            </a:p>
          </p:txBody>
        </p:sp>
        <p:sp>
          <p:nvSpPr>
            <p:cNvPr id="8" name="Line 10">
              <a:extLst>
                <a:ext uri="{FF2B5EF4-FFF2-40B4-BE49-F238E27FC236}">
                  <a16:creationId xmlns:a16="http://schemas.microsoft.com/office/drawing/2014/main" id="{FB2D3137-A828-B9B6-B7BF-52EF06F6287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407401" y="5093530"/>
              <a:ext cx="1671558" cy="0"/>
            </a:xfrm>
            <a:prstGeom prst="line">
              <a:avLst/>
            </a:prstGeom>
            <a:noFill/>
            <a:ln w="19050">
              <a:solidFill>
                <a:sysClr val="windowText" lastClr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F0502020204030204"/>
                <a:ea typeface="等线" panose="02010600030101010101" pitchFamily="2" charset="-122"/>
              </a:endParaRPr>
            </a:p>
          </p:txBody>
        </p:sp>
        <p:sp>
          <p:nvSpPr>
            <p:cNvPr id="9" name="Line 11">
              <a:extLst>
                <a:ext uri="{FF2B5EF4-FFF2-40B4-BE49-F238E27FC236}">
                  <a16:creationId xmlns:a16="http://schemas.microsoft.com/office/drawing/2014/main" id="{E477FF57-DD43-3FA5-0565-12156773CA8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36345" y="4815770"/>
              <a:ext cx="0" cy="277759"/>
            </a:xfrm>
            <a:prstGeom prst="line">
              <a:avLst/>
            </a:prstGeom>
            <a:noFill/>
            <a:ln w="19050">
              <a:solidFill>
                <a:sysClr val="windowText" lastClr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F0502020204030204"/>
                <a:ea typeface="等线" panose="02010600030101010101" pitchFamily="2" charset="-122"/>
              </a:endParaRPr>
            </a:p>
          </p:txBody>
        </p:sp>
        <p:sp>
          <p:nvSpPr>
            <p:cNvPr id="10" name="Line 12">
              <a:extLst>
                <a:ext uri="{FF2B5EF4-FFF2-40B4-BE49-F238E27FC236}">
                  <a16:creationId xmlns:a16="http://schemas.microsoft.com/office/drawing/2014/main" id="{CAA2AD4A-5532-4DFA-B3A1-D61E74B1CD3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760365" y="5541548"/>
              <a:ext cx="5622515" cy="0"/>
            </a:xfrm>
            <a:prstGeom prst="line">
              <a:avLst/>
            </a:prstGeom>
            <a:noFill/>
            <a:ln w="19050">
              <a:solidFill>
                <a:sysClr val="windowText" lastClr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F0502020204030204"/>
                <a:ea typeface="等线" panose="02010600030101010101" pitchFamily="2" charset="-122"/>
              </a:endParaRPr>
            </a:p>
          </p:txBody>
        </p:sp>
        <p:sp>
          <p:nvSpPr>
            <p:cNvPr id="11" name="Line 13">
              <a:extLst>
                <a:ext uri="{FF2B5EF4-FFF2-40B4-BE49-F238E27FC236}">
                  <a16:creationId xmlns:a16="http://schemas.microsoft.com/office/drawing/2014/main" id="{34C471FA-DAF4-EAF0-0E5C-B824D3C5239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230920" y="5093530"/>
              <a:ext cx="151960" cy="0"/>
            </a:xfrm>
            <a:prstGeom prst="line">
              <a:avLst/>
            </a:prstGeom>
            <a:noFill/>
            <a:ln w="19050">
              <a:solidFill>
                <a:sysClr val="windowText" lastClr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F0502020204030204"/>
                <a:ea typeface="等线" panose="02010600030101010101" pitchFamily="2" charset="-122"/>
              </a:endParaRPr>
            </a:p>
          </p:txBody>
        </p:sp>
        <p:sp>
          <p:nvSpPr>
            <p:cNvPr id="12" name="Line 14">
              <a:extLst>
                <a:ext uri="{FF2B5EF4-FFF2-40B4-BE49-F238E27FC236}">
                  <a16:creationId xmlns:a16="http://schemas.microsoft.com/office/drawing/2014/main" id="{50863D74-1A5F-35A7-71FC-DC47B2BB664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382879" y="5093530"/>
              <a:ext cx="0" cy="448018"/>
            </a:xfrm>
            <a:prstGeom prst="line">
              <a:avLst/>
            </a:prstGeom>
            <a:noFill/>
            <a:ln w="19050">
              <a:solidFill>
                <a:sysClr val="windowText" lastClr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F0502020204030204"/>
                <a:ea typeface="等线" panose="02010600030101010101" pitchFamily="2" charset="-122"/>
              </a:endParaRPr>
            </a:p>
          </p:txBody>
        </p:sp>
        <p:sp>
          <p:nvSpPr>
            <p:cNvPr id="13" name="Line 15">
              <a:extLst>
                <a:ext uri="{FF2B5EF4-FFF2-40B4-BE49-F238E27FC236}">
                  <a16:creationId xmlns:a16="http://schemas.microsoft.com/office/drawing/2014/main" id="{F450B70E-96BE-661F-D936-86A26E8DB65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760365" y="3899306"/>
              <a:ext cx="0" cy="1642241"/>
            </a:xfrm>
            <a:prstGeom prst="line">
              <a:avLst/>
            </a:prstGeom>
            <a:noFill/>
            <a:ln w="19050">
              <a:solidFill>
                <a:sysClr val="windowText" lastClr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F0502020204030204"/>
                <a:ea typeface="等线" panose="02010600030101010101" pitchFamily="2" charset="-122"/>
              </a:endParaRPr>
            </a:p>
          </p:txBody>
        </p:sp>
        <p:sp>
          <p:nvSpPr>
            <p:cNvPr id="14" name="Line 16">
              <a:extLst>
                <a:ext uri="{FF2B5EF4-FFF2-40B4-BE49-F238E27FC236}">
                  <a16:creationId xmlns:a16="http://schemas.microsoft.com/office/drawing/2014/main" id="{7EEE81F7-A306-6B43-F00B-A58FA9860FA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760365" y="3904769"/>
              <a:ext cx="379900" cy="0"/>
            </a:xfrm>
            <a:prstGeom prst="line">
              <a:avLst/>
            </a:prstGeom>
            <a:noFill/>
            <a:ln w="19050">
              <a:solidFill>
                <a:sysClr val="windowText" lastClr="000000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F0502020204030204"/>
                <a:ea typeface="等线" panose="02010600030101010101" pitchFamily="2" charset="-122"/>
              </a:endParaRPr>
            </a:p>
          </p:txBody>
        </p:sp>
        <p:sp>
          <p:nvSpPr>
            <p:cNvPr id="15" name="Rectangle 25">
              <a:extLst>
                <a:ext uri="{FF2B5EF4-FFF2-40B4-BE49-F238E27FC236}">
                  <a16:creationId xmlns:a16="http://schemas.microsoft.com/office/drawing/2014/main" id="{6F0509D3-77CF-B78E-534B-D03868CE09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88806" y="3010335"/>
              <a:ext cx="1291659" cy="1319357"/>
            </a:xfrm>
            <a:prstGeom prst="rect">
              <a:avLst/>
            </a:prstGeom>
            <a:noFill/>
            <a:ln w="19050">
              <a:solidFill>
                <a:sysClr val="windowText" lastClr="000000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F0502020204030204"/>
                <a:ea typeface="等线" panose="02010600030101010101" pitchFamily="2" charset="-122"/>
              </a:endParaRPr>
            </a:p>
          </p:txBody>
        </p:sp>
        <p:sp>
          <p:nvSpPr>
            <p:cNvPr id="16" name="Rectangle 26">
              <a:extLst>
                <a:ext uri="{FF2B5EF4-FFF2-40B4-BE49-F238E27FC236}">
                  <a16:creationId xmlns:a16="http://schemas.microsoft.com/office/drawing/2014/main" id="{D6785D45-41EE-1EF3-05AC-C6E8C22AD9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1008" y="3357534"/>
              <a:ext cx="243879" cy="763838"/>
            </a:xfrm>
            <a:prstGeom prst="rect">
              <a:avLst/>
            </a:prstGeom>
            <a:noFill/>
            <a:ln w="19050">
              <a:solidFill>
                <a:sysClr val="windowText" lastClr="000000"/>
              </a:solidFill>
              <a:miter lim="800000"/>
              <a:headEnd/>
              <a:tailEnd/>
            </a:ln>
            <a:effectLst/>
          </p:spPr>
          <p:txBody>
            <a:bodyPr wrap="none" lIns="0" rIns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altLang="zh-CN" sz="1400" kern="0" dirty="0">
                  <a:solidFill>
                    <a:prstClr val="black"/>
                  </a:solidFill>
                  <a:latin typeface="+mj-lt"/>
                  <a:ea typeface="等线" panose="02010600030101010101" pitchFamily="2" charset="-122"/>
                </a:rPr>
                <a:t>P</a:t>
              </a:r>
            </a:p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altLang="zh-CN" sz="1400" kern="0" dirty="0">
                  <a:solidFill>
                    <a:prstClr val="black"/>
                  </a:solidFill>
                  <a:latin typeface="+mj-lt"/>
                  <a:ea typeface="等线" panose="02010600030101010101" pitchFamily="2" charset="-122"/>
                </a:rPr>
                <a:t>C</a:t>
              </a:r>
              <a:endParaRPr kumimoji="0" lang="zh-CN" altLang="en-US" sz="14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  <a:ea typeface="等线" panose="02010600030101010101" pitchFamily="2" charset="-122"/>
              </a:endParaRPr>
            </a:p>
          </p:txBody>
        </p:sp>
        <p:sp>
          <p:nvSpPr>
            <p:cNvPr id="17" name="Line 27">
              <a:extLst>
                <a:ext uri="{FF2B5EF4-FFF2-40B4-BE49-F238E27FC236}">
                  <a16:creationId xmlns:a16="http://schemas.microsoft.com/office/drawing/2014/main" id="{7581F21A-26C9-F121-077A-14C1018B5BF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84887" y="3704733"/>
              <a:ext cx="303920" cy="0"/>
            </a:xfrm>
            <a:prstGeom prst="line">
              <a:avLst/>
            </a:prstGeom>
            <a:noFill/>
            <a:ln w="19050">
              <a:solidFill>
                <a:sysClr val="windowText" lastClr="000000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F0502020204030204"/>
                <a:ea typeface="等线" panose="02010600030101010101" pitchFamily="2" charset="-122"/>
              </a:endParaRPr>
            </a:p>
          </p:txBody>
        </p:sp>
        <p:sp>
          <p:nvSpPr>
            <p:cNvPr id="18" name="Line 28">
              <a:extLst>
                <a:ext uri="{FF2B5EF4-FFF2-40B4-BE49-F238E27FC236}">
                  <a16:creationId xmlns:a16="http://schemas.microsoft.com/office/drawing/2014/main" id="{7B445A15-7090-8DD2-8988-AB6184E0F41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06394" y="2246497"/>
              <a:ext cx="866232" cy="0"/>
            </a:xfrm>
            <a:prstGeom prst="line">
              <a:avLst/>
            </a:prstGeom>
            <a:noFill/>
            <a:ln w="19050">
              <a:solidFill>
                <a:sysClr val="windowText" lastClr="000000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F0502020204030204"/>
                <a:ea typeface="等线" panose="02010600030101010101" pitchFamily="2" charset="-122"/>
              </a:endParaRPr>
            </a:p>
          </p:txBody>
        </p:sp>
        <p:sp>
          <p:nvSpPr>
            <p:cNvPr id="19" name="Line 29">
              <a:extLst>
                <a:ext uri="{FF2B5EF4-FFF2-40B4-BE49-F238E27FC236}">
                  <a16:creationId xmlns:a16="http://schemas.microsoft.com/office/drawing/2014/main" id="{7E08244F-8B4D-4DF2-CDEE-F7FEF7FC576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92726" y="2802015"/>
              <a:ext cx="379900" cy="0"/>
            </a:xfrm>
            <a:prstGeom prst="line">
              <a:avLst/>
            </a:prstGeom>
            <a:noFill/>
            <a:ln w="19050">
              <a:solidFill>
                <a:sysClr val="windowText" lastClr="000000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F0502020204030204"/>
                <a:ea typeface="等线" panose="02010600030101010101" pitchFamily="2" charset="-122"/>
              </a:endParaRPr>
            </a:p>
          </p:txBody>
        </p:sp>
        <p:sp>
          <p:nvSpPr>
            <p:cNvPr id="20" name="Text Box 30">
              <a:extLst>
                <a:ext uri="{FF2B5EF4-FFF2-40B4-BE49-F238E27FC236}">
                  <a16:creationId xmlns:a16="http://schemas.microsoft.com/office/drawing/2014/main" id="{14C7BBBA-1C5E-5A8A-C9D3-17198A79AF8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20247" y="3473905"/>
              <a:ext cx="550120" cy="46165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1425" tIns="45713" rIns="91425" bIns="45713">
              <a:spAutoFit/>
            </a:bodyPr>
            <a:lstStyle>
              <a:lvl1pPr eaLnBrk="0" hangingPunct="0"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1pPr>
              <a:lvl2pPr marL="742950" indent="-285750" eaLnBrk="0" hangingPunct="0"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2pPr>
              <a:lvl3pPr marL="1143000" indent="-228600" eaLnBrk="0" hangingPunct="0"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3pPr>
              <a:lvl4pPr marL="1600200" indent="-228600" eaLnBrk="0" hangingPunct="0"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4pPr>
              <a:lvl5pPr marL="2057400" indent="-228600" eaLnBrk="0" hangingPunct="0"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9pPr>
            </a:lstStyle>
            <a:p>
              <a:pPr fontAlgn="auto">
                <a:spcBef>
                  <a:spcPts val="0"/>
                </a:spcBef>
                <a:spcAft>
                  <a:spcPts val="0"/>
                </a:spcAft>
              </a:pPr>
              <a:r>
                <a:rPr lang="en-US" altLang="zh-CN" sz="1200" b="0" dirty="0">
                  <a:solidFill>
                    <a:prstClr val="black"/>
                  </a:solidFill>
                  <a:latin typeface="Arial" pitchFamily="34" charset="0"/>
                  <a:ea typeface="SimHei" panose="02010609060101010101" pitchFamily="49" charset="-122"/>
                </a:rPr>
                <a:t>Read</a:t>
              </a:r>
            </a:p>
            <a:p>
              <a:pPr fontAlgn="auto">
                <a:spcBef>
                  <a:spcPts val="0"/>
                </a:spcBef>
                <a:spcAft>
                  <a:spcPts val="0"/>
                </a:spcAft>
              </a:pPr>
              <a:r>
                <a:rPr lang="en-US" altLang="zh-CN" sz="1200" b="0" dirty="0" err="1">
                  <a:solidFill>
                    <a:prstClr val="black"/>
                  </a:solidFill>
                  <a:latin typeface="Arial" pitchFamily="34" charset="0"/>
                  <a:ea typeface="SimHei" panose="02010609060101010101" pitchFamily="49" charset="-122"/>
                </a:rPr>
                <a:t>Addr</a:t>
              </a:r>
              <a:endParaRPr lang="en-US" altLang="zh-CN" sz="1200" b="0" dirty="0">
                <a:solidFill>
                  <a:prstClr val="black"/>
                </a:solidFill>
                <a:latin typeface="Arial" pitchFamily="34" charset="0"/>
                <a:ea typeface="SimHei" panose="02010609060101010101" pitchFamily="49" charset="-122"/>
              </a:endParaRPr>
            </a:p>
          </p:txBody>
        </p:sp>
        <p:sp>
          <p:nvSpPr>
            <p:cNvPr id="21" name="Text Box 31">
              <a:extLst>
                <a:ext uri="{FF2B5EF4-FFF2-40B4-BE49-F238E27FC236}">
                  <a16:creationId xmlns:a16="http://schemas.microsoft.com/office/drawing/2014/main" id="{1276551F-A0DA-2154-E27B-DE221292F6B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168631" y="2960993"/>
              <a:ext cx="1132010" cy="58476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1425" tIns="45713" rIns="91425" bIns="45713">
              <a:spAutoFit/>
            </a:bodyPr>
            <a:lstStyle>
              <a:lvl1pPr eaLnBrk="0" hangingPunct="0"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1pPr>
              <a:lvl2pPr marL="742950" indent="-285750" eaLnBrk="0" hangingPunct="0"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2pPr>
              <a:lvl3pPr marL="1143000" indent="-228600" eaLnBrk="0" hangingPunct="0"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3pPr>
              <a:lvl4pPr marL="1600200" indent="-228600" eaLnBrk="0" hangingPunct="0"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4pPr>
              <a:lvl5pPr marL="2057400" indent="-228600" eaLnBrk="0" hangingPunct="0"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9pPr>
            </a:lstStyle>
            <a:p>
              <a:pPr algn="ctr" fontAlgn="auto">
                <a:spcBef>
                  <a:spcPts val="0"/>
                </a:spcBef>
                <a:spcAft>
                  <a:spcPts val="0"/>
                </a:spcAft>
              </a:pPr>
              <a:r>
                <a:rPr lang="en-US" altLang="zh-CN" sz="1600" b="0" dirty="0">
                  <a:solidFill>
                    <a:prstClr val="black"/>
                  </a:solidFill>
                  <a:latin typeface="Arial" pitchFamily="34" charset="0"/>
                  <a:ea typeface="SimHei" panose="02010609060101010101" pitchFamily="49" charset="-122"/>
                </a:rPr>
                <a:t>Instruction</a:t>
              </a: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</a:pPr>
              <a:r>
                <a:rPr lang="en-US" altLang="zh-CN" sz="1600" b="0" dirty="0">
                  <a:solidFill>
                    <a:prstClr val="black"/>
                  </a:solidFill>
                  <a:latin typeface="Arial" pitchFamily="34" charset="0"/>
                  <a:ea typeface="SimHei" panose="02010609060101010101" pitchFamily="49" charset="-122"/>
                </a:rPr>
                <a:t>Memory</a:t>
              </a:r>
            </a:p>
          </p:txBody>
        </p:sp>
        <p:sp>
          <p:nvSpPr>
            <p:cNvPr id="22" name="Text Box 32">
              <a:extLst>
                <a:ext uri="{FF2B5EF4-FFF2-40B4-BE49-F238E27FC236}">
                  <a16:creationId xmlns:a16="http://schemas.microsoft.com/office/drawing/2014/main" id="{460CF513-CEE0-8315-A1D3-392EAF999CF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810940" y="2269663"/>
              <a:ext cx="314479" cy="55635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1425" tIns="45713" rIns="91425" bIns="45713">
              <a:spAutoFit/>
            </a:bodyPr>
            <a:lstStyle>
              <a:lvl1pPr eaLnBrk="0" hangingPunct="0"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1pPr>
              <a:lvl2pPr marL="742950" indent="-285750" eaLnBrk="0" hangingPunct="0"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2pPr>
              <a:lvl3pPr marL="1143000" indent="-228600" eaLnBrk="0" hangingPunct="0"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3pPr>
              <a:lvl4pPr marL="1600200" indent="-228600" eaLnBrk="0" hangingPunct="0"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4pPr>
              <a:lvl5pPr marL="2057400" indent="-228600" eaLnBrk="0" hangingPunct="0"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9pPr>
            </a:lstStyle>
            <a:p>
              <a:pPr fontAlgn="auto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lang="en-US" altLang="zh-CN" sz="1400" b="0" dirty="0">
                  <a:solidFill>
                    <a:prstClr val="black"/>
                  </a:solidFill>
                  <a:latin typeface="Arial" pitchFamily="34" charset="0"/>
                  <a:ea typeface="SimHei" panose="02010609060101010101" pitchFamily="49" charset="-122"/>
                </a:rPr>
                <a:t>A</a:t>
              </a:r>
            </a:p>
            <a:p>
              <a:pPr fontAlgn="auto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lang="en-US" altLang="zh-CN" sz="1400" b="0" dirty="0">
                  <a:solidFill>
                    <a:prstClr val="black"/>
                  </a:solidFill>
                  <a:latin typeface="Arial" pitchFamily="34" charset="0"/>
                  <a:ea typeface="SimHei" panose="02010609060101010101" pitchFamily="49" charset="-122"/>
                </a:rPr>
                <a:t>D</a:t>
              </a:r>
            </a:p>
            <a:p>
              <a:pPr fontAlgn="auto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lang="en-US" altLang="zh-CN" sz="1400" b="0" dirty="0">
                  <a:solidFill>
                    <a:prstClr val="black"/>
                  </a:solidFill>
                  <a:latin typeface="Arial" pitchFamily="34" charset="0"/>
                  <a:ea typeface="SimHei" panose="02010609060101010101" pitchFamily="49" charset="-122"/>
                </a:rPr>
                <a:t>D</a:t>
              </a:r>
            </a:p>
          </p:txBody>
        </p:sp>
        <p:sp>
          <p:nvSpPr>
            <p:cNvPr id="23" name="Line 34">
              <a:extLst>
                <a:ext uri="{FF2B5EF4-FFF2-40B4-BE49-F238E27FC236}">
                  <a16:creationId xmlns:a16="http://schemas.microsoft.com/office/drawing/2014/main" id="{FCD0896A-66D8-DFCA-C0D7-6B3B027535E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9007" y="3704733"/>
              <a:ext cx="212001" cy="0"/>
            </a:xfrm>
            <a:prstGeom prst="line">
              <a:avLst/>
            </a:prstGeom>
            <a:noFill/>
            <a:ln w="19050">
              <a:solidFill>
                <a:sysClr val="windowText" lastClr="000000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F0502020204030204"/>
                <a:ea typeface="等线" panose="02010600030101010101" pitchFamily="2" charset="-122"/>
              </a:endParaRPr>
            </a:p>
          </p:txBody>
        </p:sp>
        <p:sp>
          <p:nvSpPr>
            <p:cNvPr id="24" name="Text Box 35">
              <a:extLst>
                <a:ext uri="{FF2B5EF4-FFF2-40B4-BE49-F238E27FC236}">
                  <a16:creationId xmlns:a16="http://schemas.microsoft.com/office/drawing/2014/main" id="{99199D46-0B37-33E5-7870-62AA1518D02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164786" y="2663136"/>
              <a:ext cx="269595" cy="27698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1425" tIns="45713" rIns="91425" bIns="45713">
              <a:spAutoFit/>
            </a:bodyPr>
            <a:lstStyle>
              <a:lvl1pPr eaLnBrk="0" hangingPunct="0"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1pPr>
              <a:lvl2pPr marL="742950" indent="-285750" eaLnBrk="0" hangingPunct="0"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2pPr>
              <a:lvl3pPr marL="1143000" indent="-228600" eaLnBrk="0" hangingPunct="0"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3pPr>
              <a:lvl4pPr marL="1600200" indent="-228600" eaLnBrk="0" hangingPunct="0"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4pPr>
              <a:lvl5pPr marL="2057400" indent="-228600" eaLnBrk="0" hangingPunct="0"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9pPr>
            </a:lstStyle>
            <a:p>
              <a:pPr fontAlgn="auto">
                <a:spcBef>
                  <a:spcPts val="0"/>
                </a:spcBef>
                <a:spcAft>
                  <a:spcPts val="0"/>
                </a:spcAft>
              </a:pPr>
              <a:r>
                <a:rPr lang="en-US" altLang="zh-CN" sz="1200" b="0" dirty="0">
                  <a:solidFill>
                    <a:prstClr val="black"/>
                  </a:solidFill>
                  <a:latin typeface="Arial" pitchFamily="34" charset="0"/>
                  <a:ea typeface="SimHei" panose="02010609060101010101" pitchFamily="49" charset="-122"/>
                </a:rPr>
                <a:t>4</a:t>
              </a:r>
            </a:p>
          </p:txBody>
        </p:sp>
        <p:sp>
          <p:nvSpPr>
            <p:cNvPr id="25" name="Line 36">
              <a:extLst>
                <a:ext uri="{FF2B5EF4-FFF2-40B4-BE49-F238E27FC236}">
                  <a16:creationId xmlns:a16="http://schemas.microsoft.com/office/drawing/2014/main" id="{FAE2273D-56C6-A3BE-3A80-085EB061C22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9007" y="1482658"/>
              <a:ext cx="0" cy="2222075"/>
            </a:xfrm>
            <a:prstGeom prst="line">
              <a:avLst/>
            </a:prstGeom>
            <a:noFill/>
            <a:ln w="19050">
              <a:solidFill>
                <a:sysClr val="windowText" lastClr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F0502020204030204"/>
                <a:ea typeface="等线" panose="02010600030101010101" pitchFamily="2" charset="-122"/>
              </a:endParaRPr>
            </a:p>
          </p:txBody>
        </p:sp>
        <p:sp>
          <p:nvSpPr>
            <p:cNvPr id="26" name="AutoShape 37">
              <a:extLst>
                <a:ext uri="{FF2B5EF4-FFF2-40B4-BE49-F238E27FC236}">
                  <a16:creationId xmlns:a16="http://schemas.microsoft.com/office/drawing/2014/main" id="{82417BE3-B2C5-94AB-DE54-F8D3AC08838D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 flipH="1">
              <a:off x="966277" y="1403408"/>
              <a:ext cx="624959" cy="227940"/>
            </a:xfrm>
            <a:custGeom>
              <a:avLst/>
              <a:gdLst>
                <a:gd name="T0" fmla="*/ 8 w 21600"/>
                <a:gd name="T1" fmla="*/ 0 h 21600"/>
                <a:gd name="T2" fmla="*/ 4 w 21600"/>
                <a:gd name="T3" fmla="*/ 1 h 21600"/>
                <a:gd name="T4" fmla="*/ 1 w 21600"/>
                <a:gd name="T5" fmla="*/ 0 h 21600"/>
                <a:gd name="T6" fmla="*/ 4 w 21600"/>
                <a:gd name="T7" fmla="*/ 0 h 21600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4500 w 21600"/>
                <a:gd name="T13" fmla="*/ 4500 h 21600"/>
                <a:gd name="T14" fmla="*/ 17100 w 21600"/>
                <a:gd name="T15" fmla="*/ 17100 h 2160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600" h="21600">
                  <a:moveTo>
                    <a:pt x="0" y="0"/>
                  </a:moveTo>
                  <a:lnTo>
                    <a:pt x="5400" y="21600"/>
                  </a:lnTo>
                  <a:lnTo>
                    <a:pt x="16200" y="21600"/>
                  </a:lnTo>
                  <a:lnTo>
                    <a:pt x="21600" y="0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9050">
              <a:solidFill>
                <a:sysClr val="windowText" lastClr="000000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F0502020204030204"/>
                <a:ea typeface="等线" panose="02010600030101010101" pitchFamily="2" charset="-122"/>
              </a:endParaRPr>
            </a:p>
          </p:txBody>
        </p:sp>
        <p:sp>
          <p:nvSpPr>
            <p:cNvPr id="27" name="Line 38">
              <a:extLst>
                <a:ext uri="{FF2B5EF4-FFF2-40B4-BE49-F238E27FC236}">
                  <a16:creationId xmlns:a16="http://schemas.microsoft.com/office/drawing/2014/main" id="{ED157D76-F1B9-35EE-F6D4-AC665218F25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29006" y="1482658"/>
              <a:ext cx="835779" cy="0"/>
            </a:xfrm>
            <a:prstGeom prst="line">
              <a:avLst/>
            </a:prstGeom>
            <a:noFill/>
            <a:ln w="19050">
              <a:solidFill>
                <a:sysClr val="windowText" lastClr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F0502020204030204"/>
                <a:ea typeface="等线" panose="02010600030101010101" pitchFamily="2" charset="-122"/>
              </a:endParaRPr>
            </a:p>
          </p:txBody>
        </p:sp>
        <p:sp>
          <p:nvSpPr>
            <p:cNvPr id="28" name="Line 41">
              <a:extLst>
                <a:ext uri="{FF2B5EF4-FFF2-40B4-BE49-F238E27FC236}">
                  <a16:creationId xmlns:a16="http://schemas.microsoft.com/office/drawing/2014/main" id="{27C4C561-AE5D-13C0-36D9-CFEFC8101DC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392725" y="1343779"/>
              <a:ext cx="5541095" cy="0"/>
            </a:xfrm>
            <a:prstGeom prst="line">
              <a:avLst/>
            </a:prstGeom>
            <a:noFill/>
            <a:ln w="19050">
              <a:solidFill>
                <a:sysClr val="windowText" lastClr="000000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F0502020204030204"/>
                <a:ea typeface="等线" panose="02010600030101010101" pitchFamily="2" charset="-122"/>
              </a:endParaRPr>
            </a:p>
          </p:txBody>
        </p:sp>
        <p:sp>
          <p:nvSpPr>
            <p:cNvPr id="29" name="Line 42">
              <a:extLst>
                <a:ext uri="{FF2B5EF4-FFF2-40B4-BE49-F238E27FC236}">
                  <a16:creationId xmlns:a16="http://schemas.microsoft.com/office/drawing/2014/main" id="{04DC564E-4362-483D-3840-CBF912DAB17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912325" y="5715936"/>
              <a:ext cx="5926434" cy="0"/>
            </a:xfrm>
            <a:prstGeom prst="line">
              <a:avLst/>
            </a:prstGeom>
            <a:noFill/>
            <a:ln w="19050">
              <a:solidFill>
                <a:sysClr val="windowText" lastClr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F0502020204030204"/>
                <a:ea typeface="等线" panose="02010600030101010101" pitchFamily="2" charset="-122"/>
              </a:endParaRPr>
            </a:p>
          </p:txBody>
        </p:sp>
        <p:sp>
          <p:nvSpPr>
            <p:cNvPr id="30" name="Rectangle 43">
              <a:extLst>
                <a:ext uri="{FF2B5EF4-FFF2-40B4-BE49-F238E27FC236}">
                  <a16:creationId xmlns:a16="http://schemas.microsoft.com/office/drawing/2014/main" id="{92F6A755-E7BA-6BDA-7A0D-8758B6BD27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40264" y="2913409"/>
              <a:ext cx="1291659" cy="1587077"/>
            </a:xfrm>
            <a:prstGeom prst="rect">
              <a:avLst/>
            </a:prstGeom>
            <a:noFill/>
            <a:ln w="19050">
              <a:solidFill>
                <a:sysClr val="windowText" lastClr="000000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20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F0502020204030204"/>
                <a:ea typeface="等线" panose="02010600030101010101" pitchFamily="2" charset="-122"/>
              </a:endParaRPr>
            </a:p>
          </p:txBody>
        </p:sp>
        <p:sp>
          <p:nvSpPr>
            <p:cNvPr id="31" name="Line 44">
              <a:extLst>
                <a:ext uri="{FF2B5EF4-FFF2-40B4-BE49-F238E27FC236}">
                  <a16:creationId xmlns:a16="http://schemas.microsoft.com/office/drawing/2014/main" id="{40BD942A-2019-F11D-2E92-CE3B2CC75B3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380465" y="3704733"/>
              <a:ext cx="151960" cy="0"/>
            </a:xfrm>
            <a:prstGeom prst="line">
              <a:avLst/>
            </a:prstGeom>
            <a:noFill/>
            <a:ln w="19050">
              <a:solidFill>
                <a:sysClr val="windowText" lastClr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F0502020204030204"/>
                <a:ea typeface="等线" panose="02010600030101010101" pitchFamily="2" charset="-122"/>
              </a:endParaRPr>
            </a:p>
          </p:txBody>
        </p:sp>
        <p:sp>
          <p:nvSpPr>
            <p:cNvPr id="32" name="Line 45">
              <a:extLst>
                <a:ext uri="{FF2B5EF4-FFF2-40B4-BE49-F238E27FC236}">
                  <a16:creationId xmlns:a16="http://schemas.microsoft.com/office/drawing/2014/main" id="{BA19A274-4DE1-30B8-6DB1-65DEE885CCA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36345" y="3496414"/>
              <a:ext cx="303920" cy="0"/>
            </a:xfrm>
            <a:prstGeom prst="line">
              <a:avLst/>
            </a:prstGeom>
            <a:noFill/>
            <a:ln w="19050">
              <a:solidFill>
                <a:sysClr val="windowText" lastClr="000000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F0502020204030204"/>
                <a:ea typeface="等线" panose="02010600030101010101" pitchFamily="2" charset="-122"/>
              </a:endParaRPr>
            </a:p>
          </p:txBody>
        </p:sp>
        <p:sp>
          <p:nvSpPr>
            <p:cNvPr id="33" name="Text Box 46">
              <a:extLst>
                <a:ext uri="{FF2B5EF4-FFF2-40B4-BE49-F238E27FC236}">
                  <a16:creationId xmlns:a16="http://schemas.microsoft.com/office/drawing/2014/main" id="{30924616-4ED0-7AC4-147A-76B7E653EE9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079726" y="4069515"/>
              <a:ext cx="540952" cy="40009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1425" tIns="45713" rIns="91425" bIns="45713">
              <a:spAutoFit/>
            </a:bodyPr>
            <a:lstStyle>
              <a:lvl1pPr eaLnBrk="0" hangingPunct="0"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1pPr>
              <a:lvl2pPr marL="742950" indent="-285750" eaLnBrk="0" hangingPunct="0"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2pPr>
              <a:lvl3pPr marL="1143000" indent="-228600" eaLnBrk="0" hangingPunct="0"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3pPr>
              <a:lvl4pPr marL="1600200" indent="-228600" eaLnBrk="0" hangingPunct="0"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4pPr>
              <a:lvl5pPr marL="2057400" indent="-228600" eaLnBrk="0" hangingPunct="0"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9pPr>
            </a:lstStyle>
            <a:p>
              <a:pPr fontAlgn="auto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lang="en-US" altLang="zh-CN" sz="1200" b="0" dirty="0">
                  <a:solidFill>
                    <a:prstClr val="black"/>
                  </a:solidFill>
                  <a:latin typeface="Arial" pitchFamily="34" charset="0"/>
                  <a:ea typeface="SimHei" panose="02010609060101010101" pitchFamily="49" charset="-122"/>
                </a:rPr>
                <a:t>Write</a:t>
              </a:r>
            </a:p>
            <a:p>
              <a:pPr fontAlgn="auto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lang="en-US" altLang="zh-CN" sz="1200" b="0" dirty="0">
                  <a:solidFill>
                    <a:prstClr val="black"/>
                  </a:solidFill>
                  <a:latin typeface="Arial" pitchFamily="34" charset="0"/>
                  <a:ea typeface="SimHei" panose="02010609060101010101" pitchFamily="49" charset="-122"/>
                </a:rPr>
                <a:t>Data</a:t>
              </a:r>
            </a:p>
          </p:txBody>
        </p:sp>
        <p:sp>
          <p:nvSpPr>
            <p:cNvPr id="34" name="Text Box 47">
              <a:extLst>
                <a:ext uri="{FF2B5EF4-FFF2-40B4-BE49-F238E27FC236}">
                  <a16:creationId xmlns:a16="http://schemas.microsoft.com/office/drawing/2014/main" id="{836141B1-7E2A-6A90-DFD4-5AB18E7175F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070642" y="2967621"/>
              <a:ext cx="636682" cy="40009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1425" tIns="45713" rIns="91425" bIns="45713">
              <a:spAutoFit/>
            </a:bodyPr>
            <a:lstStyle>
              <a:lvl1pPr eaLnBrk="0" hangingPunct="0"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1pPr>
              <a:lvl2pPr marL="742950" indent="-285750" eaLnBrk="0" hangingPunct="0"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2pPr>
              <a:lvl3pPr marL="1143000" indent="-228600" eaLnBrk="0" hangingPunct="0"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3pPr>
              <a:lvl4pPr marL="1600200" indent="-228600" eaLnBrk="0" hangingPunct="0"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4pPr>
              <a:lvl5pPr marL="2057400" indent="-228600" eaLnBrk="0" hangingPunct="0"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9pPr>
            </a:lstStyle>
            <a:p>
              <a:pPr fontAlgn="auto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lang="en-US" altLang="zh-CN" sz="1200" b="0" dirty="0">
                  <a:solidFill>
                    <a:prstClr val="black"/>
                  </a:solidFill>
                  <a:latin typeface="Arial" pitchFamily="34" charset="0"/>
                  <a:ea typeface="SimHei" panose="02010609060101010101" pitchFamily="49" charset="-122"/>
                </a:rPr>
                <a:t>Read </a:t>
              </a:r>
            </a:p>
            <a:p>
              <a:pPr fontAlgn="auto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lang="en-US" altLang="zh-CN" sz="1200" b="0" dirty="0" err="1">
                  <a:solidFill>
                    <a:prstClr val="black"/>
                  </a:solidFill>
                  <a:latin typeface="Arial" pitchFamily="34" charset="0"/>
                  <a:ea typeface="SimHei" panose="02010609060101010101" pitchFamily="49" charset="-122"/>
                </a:rPr>
                <a:t>Addr</a:t>
              </a:r>
              <a:r>
                <a:rPr lang="en-US" altLang="zh-CN" sz="1200" b="0" dirty="0">
                  <a:solidFill>
                    <a:prstClr val="black"/>
                  </a:solidFill>
                  <a:latin typeface="Arial" pitchFamily="34" charset="0"/>
                  <a:ea typeface="SimHei" panose="02010609060101010101" pitchFamily="49" charset="-122"/>
                </a:rPr>
                <a:t> 1</a:t>
              </a:r>
            </a:p>
          </p:txBody>
        </p:sp>
        <p:sp>
          <p:nvSpPr>
            <p:cNvPr id="35" name="Text Box 48">
              <a:extLst>
                <a:ext uri="{FF2B5EF4-FFF2-40B4-BE49-F238E27FC236}">
                  <a16:creationId xmlns:a16="http://schemas.microsoft.com/office/drawing/2014/main" id="{AFC7F41F-9199-ED78-3FB1-D59F76261D4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073432" y="3329446"/>
              <a:ext cx="636682" cy="40009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1425" tIns="45713" rIns="91425" bIns="45713">
              <a:spAutoFit/>
            </a:bodyPr>
            <a:lstStyle>
              <a:lvl1pPr eaLnBrk="0" hangingPunct="0"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1pPr>
              <a:lvl2pPr marL="742950" indent="-285750" eaLnBrk="0" hangingPunct="0"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2pPr>
              <a:lvl3pPr marL="1143000" indent="-228600" eaLnBrk="0" hangingPunct="0"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3pPr>
              <a:lvl4pPr marL="1600200" indent="-228600" eaLnBrk="0" hangingPunct="0"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4pPr>
              <a:lvl5pPr marL="2057400" indent="-228600" eaLnBrk="0" hangingPunct="0"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9pPr>
            </a:lstStyle>
            <a:p>
              <a:pPr fontAlgn="auto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lang="en-US" altLang="zh-CN" sz="1200" b="0" dirty="0">
                  <a:solidFill>
                    <a:prstClr val="black"/>
                  </a:solidFill>
                  <a:latin typeface="Arial" pitchFamily="34" charset="0"/>
                  <a:ea typeface="SimHei" panose="02010609060101010101" pitchFamily="49" charset="-122"/>
                </a:rPr>
                <a:t>Read </a:t>
              </a:r>
            </a:p>
            <a:p>
              <a:pPr fontAlgn="auto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lang="en-US" altLang="zh-CN" sz="1200" b="0" dirty="0" err="1">
                  <a:solidFill>
                    <a:prstClr val="black"/>
                  </a:solidFill>
                  <a:latin typeface="Arial" pitchFamily="34" charset="0"/>
                  <a:ea typeface="SimHei" panose="02010609060101010101" pitchFamily="49" charset="-122"/>
                </a:rPr>
                <a:t>Addr</a:t>
              </a:r>
              <a:r>
                <a:rPr lang="en-US" altLang="zh-CN" sz="1200" b="0" dirty="0">
                  <a:solidFill>
                    <a:prstClr val="black"/>
                  </a:solidFill>
                  <a:latin typeface="Arial" pitchFamily="34" charset="0"/>
                  <a:ea typeface="SimHei" panose="02010609060101010101" pitchFamily="49" charset="-122"/>
                </a:rPr>
                <a:t> 2</a:t>
              </a:r>
            </a:p>
          </p:txBody>
        </p:sp>
        <p:sp>
          <p:nvSpPr>
            <p:cNvPr id="36" name="Text Box 49">
              <a:extLst>
                <a:ext uri="{FF2B5EF4-FFF2-40B4-BE49-F238E27FC236}">
                  <a16:creationId xmlns:a16="http://schemas.microsoft.com/office/drawing/2014/main" id="{6B9D831E-B7C8-5347-71F7-32BB98432C6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079375" y="3715251"/>
              <a:ext cx="540952" cy="40009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1425" tIns="45713" rIns="91425" bIns="45713">
              <a:spAutoFit/>
            </a:bodyPr>
            <a:lstStyle>
              <a:lvl1pPr eaLnBrk="0" hangingPunct="0"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1pPr>
              <a:lvl2pPr marL="742950" indent="-285750" eaLnBrk="0" hangingPunct="0"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2pPr>
              <a:lvl3pPr marL="1143000" indent="-228600" eaLnBrk="0" hangingPunct="0"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3pPr>
              <a:lvl4pPr marL="1600200" indent="-228600" eaLnBrk="0" hangingPunct="0"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4pPr>
              <a:lvl5pPr marL="2057400" indent="-228600" eaLnBrk="0" hangingPunct="0"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9pPr>
            </a:lstStyle>
            <a:p>
              <a:pPr fontAlgn="auto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lang="en-US" altLang="zh-CN" sz="1200" b="0" dirty="0">
                  <a:solidFill>
                    <a:prstClr val="black"/>
                  </a:solidFill>
                  <a:latin typeface="Arial" pitchFamily="34" charset="0"/>
                  <a:ea typeface="SimHei" panose="02010609060101010101" pitchFamily="49" charset="-122"/>
                </a:rPr>
                <a:t>Write</a:t>
              </a:r>
            </a:p>
            <a:p>
              <a:pPr fontAlgn="auto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lang="en-US" altLang="zh-CN" sz="1200" b="0" dirty="0" err="1">
                  <a:solidFill>
                    <a:prstClr val="black"/>
                  </a:solidFill>
                  <a:latin typeface="Arial" pitchFamily="34" charset="0"/>
                  <a:ea typeface="SimHei" panose="02010609060101010101" pitchFamily="49" charset="-122"/>
                </a:rPr>
                <a:t>Addr</a:t>
              </a:r>
              <a:endParaRPr lang="en-US" altLang="zh-CN" sz="1200" b="0" dirty="0">
                <a:solidFill>
                  <a:prstClr val="black"/>
                </a:solidFill>
                <a:latin typeface="Arial" pitchFamily="34" charset="0"/>
                <a:ea typeface="SimHei" panose="02010609060101010101" pitchFamily="49" charset="-122"/>
              </a:endParaRPr>
            </a:p>
          </p:txBody>
        </p:sp>
        <p:sp>
          <p:nvSpPr>
            <p:cNvPr id="37" name="Text Box 50">
              <a:extLst>
                <a:ext uri="{FF2B5EF4-FFF2-40B4-BE49-F238E27FC236}">
                  <a16:creationId xmlns:a16="http://schemas.microsoft.com/office/drawing/2014/main" id="{389FC7CE-0D07-467A-4861-11A8E364B27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745972" y="3523895"/>
              <a:ext cx="684773" cy="33854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1425" tIns="45713" rIns="91425" bIns="45713">
              <a:spAutoFit/>
            </a:bodyPr>
            <a:lstStyle>
              <a:lvl1pPr eaLnBrk="0" hangingPunct="0"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1pPr>
              <a:lvl2pPr marL="742950" indent="-285750" eaLnBrk="0" hangingPunct="0"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2pPr>
              <a:lvl3pPr marL="1143000" indent="-228600" eaLnBrk="0" hangingPunct="0"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3pPr>
              <a:lvl4pPr marL="1600200" indent="-228600" eaLnBrk="0" hangingPunct="0"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4pPr>
              <a:lvl5pPr marL="2057400" indent="-228600" eaLnBrk="0" hangingPunct="0"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9pPr>
            </a:lstStyle>
            <a:p>
              <a:pPr algn="ctr" fontAlgn="auto">
                <a:spcBef>
                  <a:spcPts val="0"/>
                </a:spcBef>
                <a:spcAft>
                  <a:spcPts val="0"/>
                </a:spcAft>
              </a:pPr>
              <a:r>
                <a:rPr lang="en-US" altLang="zh-CN" sz="1600" b="0" dirty="0">
                  <a:solidFill>
                    <a:prstClr val="black"/>
                  </a:solidFill>
                  <a:latin typeface="Arial" pitchFamily="34" charset="0"/>
                  <a:ea typeface="SimHei" panose="02010609060101010101" pitchFamily="49" charset="-122"/>
                </a:rPr>
                <a:t>Regs</a:t>
              </a:r>
            </a:p>
          </p:txBody>
        </p:sp>
        <p:sp>
          <p:nvSpPr>
            <p:cNvPr id="38" name="Text Box 51">
              <a:extLst>
                <a:ext uri="{FF2B5EF4-FFF2-40B4-BE49-F238E27FC236}">
                  <a16:creationId xmlns:a16="http://schemas.microsoft.com/office/drawing/2014/main" id="{AF9CC1DA-B7E6-4413-CC07-18EE6B24CE7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807047" y="3141428"/>
              <a:ext cx="679963" cy="40009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1425" tIns="45713" rIns="91425" bIns="45713">
              <a:spAutoFit/>
            </a:bodyPr>
            <a:lstStyle>
              <a:lvl1pPr eaLnBrk="0" hangingPunct="0"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1pPr>
              <a:lvl2pPr marL="742950" indent="-285750" eaLnBrk="0" hangingPunct="0"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2pPr>
              <a:lvl3pPr marL="1143000" indent="-228600" eaLnBrk="0" hangingPunct="0"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3pPr>
              <a:lvl4pPr marL="1600200" indent="-228600" eaLnBrk="0" hangingPunct="0"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4pPr>
              <a:lvl5pPr marL="2057400" indent="-228600" eaLnBrk="0" hangingPunct="0"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9pPr>
            </a:lstStyle>
            <a:p>
              <a:pPr algn="r" fontAlgn="auto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lang="en-US" altLang="zh-CN" sz="1200" b="0" dirty="0">
                  <a:solidFill>
                    <a:prstClr val="black"/>
                  </a:solidFill>
                  <a:latin typeface="Arial" pitchFamily="34" charset="0"/>
                  <a:ea typeface="SimHei" panose="02010609060101010101" pitchFamily="49" charset="-122"/>
                </a:rPr>
                <a:t>Read</a:t>
              </a:r>
            </a:p>
            <a:p>
              <a:pPr algn="r" fontAlgn="auto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lang="en-US" altLang="zh-CN" sz="1200" b="0" dirty="0">
                  <a:solidFill>
                    <a:prstClr val="black"/>
                  </a:solidFill>
                  <a:latin typeface="Arial" pitchFamily="34" charset="0"/>
                  <a:ea typeface="SimHei" panose="02010609060101010101" pitchFamily="49" charset="-122"/>
                </a:rPr>
                <a:t> Data 1</a:t>
              </a:r>
            </a:p>
          </p:txBody>
        </p:sp>
        <p:sp>
          <p:nvSpPr>
            <p:cNvPr id="39" name="Text Box 52">
              <a:extLst>
                <a:ext uri="{FF2B5EF4-FFF2-40B4-BE49-F238E27FC236}">
                  <a16:creationId xmlns:a16="http://schemas.microsoft.com/office/drawing/2014/main" id="{81F9A144-1BB9-A29A-E9BD-0C457457F0F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797411" y="3892751"/>
              <a:ext cx="679963" cy="40009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1425" tIns="45713" rIns="91425" bIns="45713">
              <a:spAutoFit/>
            </a:bodyPr>
            <a:lstStyle>
              <a:lvl1pPr eaLnBrk="0" hangingPunct="0"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1pPr>
              <a:lvl2pPr marL="742950" indent="-285750" eaLnBrk="0" hangingPunct="0"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2pPr>
              <a:lvl3pPr marL="1143000" indent="-228600" eaLnBrk="0" hangingPunct="0"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3pPr>
              <a:lvl4pPr marL="1600200" indent="-228600" eaLnBrk="0" hangingPunct="0"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4pPr>
              <a:lvl5pPr marL="2057400" indent="-228600" eaLnBrk="0" hangingPunct="0"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9pPr>
            </a:lstStyle>
            <a:p>
              <a:pPr algn="r" fontAlgn="auto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lang="en-US" altLang="zh-CN" sz="1200" b="0" dirty="0">
                  <a:solidFill>
                    <a:prstClr val="black"/>
                  </a:solidFill>
                  <a:latin typeface="Arial" pitchFamily="34" charset="0"/>
                  <a:ea typeface="SimHei" panose="02010609060101010101" pitchFamily="49" charset="-122"/>
                </a:rPr>
                <a:t>Read</a:t>
              </a:r>
            </a:p>
            <a:p>
              <a:pPr algn="r" fontAlgn="auto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lang="en-US" altLang="zh-CN" sz="1200" b="0" dirty="0">
                  <a:solidFill>
                    <a:prstClr val="black"/>
                  </a:solidFill>
                  <a:latin typeface="Arial" pitchFamily="34" charset="0"/>
                  <a:ea typeface="SimHei" panose="02010609060101010101" pitchFamily="49" charset="-122"/>
                </a:rPr>
                <a:t> Data 2</a:t>
              </a:r>
            </a:p>
          </p:txBody>
        </p:sp>
        <p:sp>
          <p:nvSpPr>
            <p:cNvPr id="40" name="Line 53">
              <a:extLst>
                <a:ext uri="{FF2B5EF4-FFF2-40B4-BE49-F238E27FC236}">
                  <a16:creationId xmlns:a16="http://schemas.microsoft.com/office/drawing/2014/main" id="{AEA617AD-EB0E-6B65-38BA-E9D8FA49CD7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36345" y="4815770"/>
              <a:ext cx="379900" cy="0"/>
            </a:xfrm>
            <a:prstGeom prst="line">
              <a:avLst/>
            </a:prstGeom>
            <a:noFill/>
            <a:ln w="19050">
              <a:solidFill>
                <a:sysClr val="windowText" lastClr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F0502020204030204"/>
                <a:ea typeface="等线" panose="02010600030101010101" pitchFamily="2" charset="-122"/>
              </a:endParaRPr>
            </a:p>
          </p:txBody>
        </p:sp>
        <p:sp>
          <p:nvSpPr>
            <p:cNvPr id="41" name="Line 54">
              <a:extLst>
                <a:ext uri="{FF2B5EF4-FFF2-40B4-BE49-F238E27FC236}">
                  <a16:creationId xmlns:a16="http://schemas.microsoft.com/office/drawing/2014/main" id="{8F278492-9C29-F00A-6302-605573FA363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21543" y="4749518"/>
              <a:ext cx="75980" cy="138880"/>
            </a:xfrm>
            <a:prstGeom prst="line">
              <a:avLst/>
            </a:prstGeom>
            <a:noFill/>
            <a:ln w="12700">
              <a:solidFill>
                <a:sysClr val="windowText" lastClr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F0502020204030204"/>
                <a:ea typeface="等线" panose="02010600030101010101" pitchFamily="2" charset="-122"/>
              </a:endParaRPr>
            </a:p>
          </p:txBody>
        </p:sp>
        <p:sp>
          <p:nvSpPr>
            <p:cNvPr id="42" name="Line 55">
              <a:extLst>
                <a:ext uri="{FF2B5EF4-FFF2-40B4-BE49-F238E27FC236}">
                  <a16:creationId xmlns:a16="http://schemas.microsoft.com/office/drawing/2014/main" id="{0BB47E39-BE78-040F-835C-1417A41B195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34054" y="4733847"/>
              <a:ext cx="75980" cy="138880"/>
            </a:xfrm>
            <a:prstGeom prst="line">
              <a:avLst/>
            </a:prstGeom>
            <a:noFill/>
            <a:ln w="12700">
              <a:solidFill>
                <a:sysClr val="windowText" lastClr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F0502020204030204"/>
                <a:ea typeface="等线" panose="02010600030101010101" pitchFamily="2" charset="-122"/>
              </a:endParaRPr>
            </a:p>
          </p:txBody>
        </p:sp>
        <p:sp>
          <p:nvSpPr>
            <p:cNvPr id="43" name="Text Box 56">
              <a:extLst>
                <a:ext uri="{FF2B5EF4-FFF2-40B4-BE49-F238E27FC236}">
                  <a16:creationId xmlns:a16="http://schemas.microsoft.com/office/drawing/2014/main" id="{00EB2D7E-BF01-2A88-1D9E-501DFC451A4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902832" y="4838245"/>
              <a:ext cx="379889" cy="27698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91425" tIns="45713" rIns="91425" bIns="45713">
              <a:spAutoFit/>
            </a:bodyPr>
            <a:lstStyle>
              <a:lvl1pPr eaLnBrk="0" hangingPunct="0"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1pPr>
              <a:lvl2pPr marL="742950" indent="-285750" eaLnBrk="0" hangingPunct="0"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2pPr>
              <a:lvl3pPr marL="1143000" indent="-228600" eaLnBrk="0" hangingPunct="0"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3pPr>
              <a:lvl4pPr marL="1600200" indent="-228600" eaLnBrk="0" hangingPunct="0"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4pPr>
              <a:lvl5pPr marL="2057400" indent="-228600" eaLnBrk="0" hangingPunct="0"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9pPr>
            </a:lstStyle>
            <a:p>
              <a:pPr fontAlgn="auto">
                <a:spcBef>
                  <a:spcPts val="0"/>
                </a:spcBef>
                <a:spcAft>
                  <a:spcPts val="0"/>
                </a:spcAft>
              </a:pPr>
              <a:r>
                <a:rPr lang="en-US" altLang="zh-CN" sz="1200" b="0" dirty="0">
                  <a:solidFill>
                    <a:prstClr val="black"/>
                  </a:solidFill>
                  <a:latin typeface="Arial" pitchFamily="34" charset="0"/>
                  <a:ea typeface="SimHei" panose="02010609060101010101" pitchFamily="49" charset="-122"/>
                </a:rPr>
                <a:t>16</a:t>
              </a:r>
            </a:p>
          </p:txBody>
        </p:sp>
        <p:sp>
          <p:nvSpPr>
            <p:cNvPr id="44" name="Text Box 57">
              <a:extLst>
                <a:ext uri="{FF2B5EF4-FFF2-40B4-BE49-F238E27FC236}">
                  <a16:creationId xmlns:a16="http://schemas.microsoft.com/office/drawing/2014/main" id="{8737CE00-58F9-D00B-DBDC-B9183B83C88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28003" y="4815770"/>
              <a:ext cx="354554" cy="27698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1425" tIns="45713" rIns="91425" bIns="45713">
              <a:spAutoFit/>
            </a:bodyPr>
            <a:lstStyle>
              <a:lvl1pPr eaLnBrk="0" hangingPunct="0"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1pPr>
              <a:lvl2pPr marL="742950" indent="-285750" eaLnBrk="0" hangingPunct="0"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2pPr>
              <a:lvl3pPr marL="1143000" indent="-228600" eaLnBrk="0" hangingPunct="0"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3pPr>
              <a:lvl4pPr marL="1600200" indent="-228600" eaLnBrk="0" hangingPunct="0"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4pPr>
              <a:lvl5pPr marL="2057400" indent="-228600" eaLnBrk="0" hangingPunct="0"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9pPr>
            </a:lstStyle>
            <a:p>
              <a:pPr fontAlgn="auto">
                <a:spcBef>
                  <a:spcPts val="0"/>
                </a:spcBef>
                <a:spcAft>
                  <a:spcPts val="0"/>
                </a:spcAft>
              </a:pPr>
              <a:r>
                <a:rPr lang="en-US" altLang="zh-CN" sz="1200" b="0" dirty="0">
                  <a:solidFill>
                    <a:prstClr val="black"/>
                  </a:solidFill>
                  <a:latin typeface="Arial" pitchFamily="34" charset="0"/>
                  <a:ea typeface="SimHei" panose="02010609060101010101" pitchFamily="49" charset="-122"/>
                </a:rPr>
                <a:t>32</a:t>
              </a:r>
            </a:p>
          </p:txBody>
        </p:sp>
        <p:sp>
          <p:nvSpPr>
            <p:cNvPr id="45" name="Line 58">
              <a:extLst>
                <a:ext uri="{FF2B5EF4-FFF2-40B4-BE49-F238E27FC236}">
                  <a16:creationId xmlns:a16="http://schemas.microsoft.com/office/drawing/2014/main" id="{22E7F4A9-3AEB-77DB-3B49-234A2EE99C7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12325" y="4190812"/>
              <a:ext cx="227939" cy="0"/>
            </a:xfrm>
            <a:prstGeom prst="line">
              <a:avLst/>
            </a:prstGeom>
            <a:noFill/>
            <a:ln w="19050">
              <a:solidFill>
                <a:sysClr val="windowText" lastClr="000000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F0502020204030204"/>
                <a:ea typeface="等线" panose="02010600030101010101" pitchFamily="2" charset="-122"/>
              </a:endParaRPr>
            </a:p>
          </p:txBody>
        </p:sp>
        <p:sp>
          <p:nvSpPr>
            <p:cNvPr id="46" name="Line 59">
              <a:extLst>
                <a:ext uri="{FF2B5EF4-FFF2-40B4-BE49-F238E27FC236}">
                  <a16:creationId xmlns:a16="http://schemas.microsoft.com/office/drawing/2014/main" id="{6C5E2EE0-DFF5-BECC-2640-D4984C4B759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843353" y="4329692"/>
              <a:ext cx="0" cy="486079"/>
            </a:xfrm>
            <a:prstGeom prst="line">
              <a:avLst/>
            </a:prstGeom>
            <a:noFill/>
            <a:ln w="19050">
              <a:solidFill>
                <a:sysClr val="windowText" lastClr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20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F0502020204030204"/>
                <a:ea typeface="等线" panose="02010600030101010101" pitchFamily="2" charset="-122"/>
              </a:endParaRPr>
            </a:p>
          </p:txBody>
        </p:sp>
        <p:sp>
          <p:nvSpPr>
            <p:cNvPr id="47" name="Line 60">
              <a:extLst>
                <a:ext uri="{FF2B5EF4-FFF2-40B4-BE49-F238E27FC236}">
                  <a16:creationId xmlns:a16="http://schemas.microsoft.com/office/drawing/2014/main" id="{FB3FF421-DF97-C606-E66F-8812C865DED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431923" y="3982492"/>
              <a:ext cx="151960" cy="0"/>
            </a:xfrm>
            <a:prstGeom prst="line">
              <a:avLst/>
            </a:prstGeom>
            <a:noFill/>
            <a:ln w="19050">
              <a:solidFill>
                <a:sysClr val="windowText" lastClr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20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F0502020204030204"/>
                <a:ea typeface="等线" panose="02010600030101010101" pitchFamily="2" charset="-122"/>
              </a:endParaRPr>
            </a:p>
          </p:txBody>
        </p:sp>
        <p:sp>
          <p:nvSpPr>
            <p:cNvPr id="48" name="Line 61">
              <a:extLst>
                <a:ext uri="{FF2B5EF4-FFF2-40B4-BE49-F238E27FC236}">
                  <a16:creationId xmlns:a16="http://schemas.microsoft.com/office/drawing/2014/main" id="{A092B91B-3023-7386-14D5-36A5584BE5E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36345" y="3149214"/>
              <a:ext cx="0" cy="1666556"/>
            </a:xfrm>
            <a:prstGeom prst="line">
              <a:avLst/>
            </a:prstGeom>
            <a:noFill/>
            <a:ln w="19050">
              <a:solidFill>
                <a:sysClr val="windowText" lastClr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F0502020204030204"/>
                <a:ea typeface="等线" panose="02010600030101010101" pitchFamily="2" charset="-122"/>
              </a:endParaRPr>
            </a:p>
          </p:txBody>
        </p:sp>
        <p:sp>
          <p:nvSpPr>
            <p:cNvPr id="49" name="Line 62">
              <a:extLst>
                <a:ext uri="{FF2B5EF4-FFF2-40B4-BE49-F238E27FC236}">
                  <a16:creationId xmlns:a16="http://schemas.microsoft.com/office/drawing/2014/main" id="{720EA65D-AF85-7646-1A50-B7C0341029F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36345" y="3149214"/>
              <a:ext cx="303920" cy="0"/>
            </a:xfrm>
            <a:prstGeom prst="line">
              <a:avLst/>
            </a:prstGeom>
            <a:noFill/>
            <a:ln w="19050">
              <a:solidFill>
                <a:sysClr val="windowText" lastClr="000000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F0502020204030204"/>
                <a:ea typeface="等线" panose="02010600030101010101" pitchFamily="2" charset="-122"/>
              </a:endParaRPr>
            </a:p>
          </p:txBody>
        </p:sp>
        <p:sp>
          <p:nvSpPr>
            <p:cNvPr id="50" name="Line 63">
              <a:extLst>
                <a:ext uri="{FF2B5EF4-FFF2-40B4-BE49-F238E27FC236}">
                  <a16:creationId xmlns:a16="http://schemas.microsoft.com/office/drawing/2014/main" id="{8463B6BA-8B08-60E5-2F8B-7FA92F54748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35843" y="3982492"/>
              <a:ext cx="471997" cy="0"/>
            </a:xfrm>
            <a:prstGeom prst="line">
              <a:avLst/>
            </a:prstGeom>
            <a:noFill/>
            <a:ln w="19050">
              <a:solidFill>
                <a:sysClr val="windowText" lastClr="000000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F0502020204030204"/>
                <a:ea typeface="等线" panose="02010600030101010101" pitchFamily="2" charset="-122"/>
              </a:endParaRPr>
            </a:p>
          </p:txBody>
        </p:sp>
        <p:sp>
          <p:nvSpPr>
            <p:cNvPr id="51" name="Line 64">
              <a:extLst>
                <a:ext uri="{FF2B5EF4-FFF2-40B4-BE49-F238E27FC236}">
                  <a16:creationId xmlns:a16="http://schemas.microsoft.com/office/drawing/2014/main" id="{F5E7488C-BB3F-B9AF-3298-FA9D705CE79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103483" y="3774173"/>
              <a:ext cx="151514" cy="0"/>
            </a:xfrm>
            <a:prstGeom prst="line">
              <a:avLst/>
            </a:prstGeom>
            <a:noFill/>
            <a:ln w="19050">
              <a:solidFill>
                <a:sysClr val="windowText" lastClr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F0502020204030204"/>
                <a:ea typeface="等线" panose="02010600030101010101" pitchFamily="2" charset="-122"/>
              </a:endParaRPr>
            </a:p>
          </p:txBody>
        </p:sp>
        <p:sp>
          <p:nvSpPr>
            <p:cNvPr id="52" name="Freeform 65">
              <a:extLst>
                <a:ext uri="{FF2B5EF4-FFF2-40B4-BE49-F238E27FC236}">
                  <a16:creationId xmlns:a16="http://schemas.microsoft.com/office/drawing/2014/main" id="{B69F85F3-E0AC-B6BB-63DF-E08F7E68441D}"/>
                </a:ext>
              </a:extLst>
            </p:cNvPr>
            <p:cNvSpPr>
              <a:spLocks/>
            </p:cNvSpPr>
            <p:nvPr/>
          </p:nvSpPr>
          <p:spPr bwMode="auto">
            <a:xfrm>
              <a:off x="5571622" y="3149214"/>
              <a:ext cx="531860" cy="1180477"/>
            </a:xfrm>
            <a:custGeom>
              <a:avLst/>
              <a:gdLst>
                <a:gd name="T0" fmla="*/ 0 w 388"/>
                <a:gd name="T1" fmla="*/ 0 h 1099"/>
                <a:gd name="T2" fmla="*/ 0 w 388"/>
                <a:gd name="T3" fmla="*/ 235 h 1099"/>
                <a:gd name="T4" fmla="*/ 83 w 388"/>
                <a:gd name="T5" fmla="*/ 305 h 1099"/>
                <a:gd name="T6" fmla="*/ 0 w 388"/>
                <a:gd name="T7" fmla="*/ 370 h 1099"/>
                <a:gd name="T8" fmla="*/ 0 w 388"/>
                <a:gd name="T9" fmla="*/ 605 h 1099"/>
                <a:gd name="T10" fmla="*/ 290 w 388"/>
                <a:gd name="T11" fmla="*/ 436 h 1099"/>
                <a:gd name="T12" fmla="*/ 290 w 388"/>
                <a:gd name="T13" fmla="*/ 170 h 1099"/>
                <a:gd name="T14" fmla="*/ 0 w 388"/>
                <a:gd name="T15" fmla="*/ 0 h 109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88" h="1099">
                  <a:moveTo>
                    <a:pt x="0" y="0"/>
                  </a:moveTo>
                  <a:lnTo>
                    <a:pt x="0" y="427"/>
                  </a:lnTo>
                  <a:lnTo>
                    <a:pt x="111" y="553"/>
                  </a:lnTo>
                  <a:lnTo>
                    <a:pt x="0" y="671"/>
                  </a:lnTo>
                  <a:lnTo>
                    <a:pt x="0" y="1098"/>
                  </a:lnTo>
                  <a:lnTo>
                    <a:pt x="387" y="790"/>
                  </a:lnTo>
                  <a:lnTo>
                    <a:pt x="387" y="308"/>
                  </a:lnTo>
                  <a:lnTo>
                    <a:pt x="0" y="0"/>
                  </a:lnTo>
                </a:path>
              </a:pathLst>
            </a:custGeom>
            <a:noFill/>
            <a:ln w="19050" cap="rnd" cmpd="sng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</a:pPr>
              <a:endParaRPr lang="zh-CN" altLang="en-US">
                <a:solidFill>
                  <a:prstClr val="black"/>
                </a:solidFill>
                <a:latin typeface="等线" panose="020F0502020204030204"/>
                <a:ea typeface="等线" panose="02010600030101010101" pitchFamily="2" charset="-122"/>
              </a:endParaRPr>
            </a:p>
          </p:txBody>
        </p:sp>
        <p:sp>
          <p:nvSpPr>
            <p:cNvPr id="53" name="Rectangle 66">
              <a:extLst>
                <a:ext uri="{FF2B5EF4-FFF2-40B4-BE49-F238E27FC236}">
                  <a16:creationId xmlns:a16="http://schemas.microsoft.com/office/drawing/2014/main" id="{51B0989E-FC6A-93FF-B1B9-5108763CB5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68180" y="3626888"/>
              <a:ext cx="473292" cy="19851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19047" tIns="26984" rIns="19047" bIns="26984"/>
            <a:lstStyle/>
            <a:p>
              <a:pPr algn="ctr" defTabSz="903288" eaLnBrk="0" fontAlgn="auto" hangingPunct="0">
                <a:lnSpc>
                  <a:spcPts val="1600"/>
                </a:lnSpc>
                <a:spcBef>
                  <a:spcPts val="0"/>
                </a:spcBef>
                <a:spcAft>
                  <a:spcPts val="0"/>
                </a:spcAft>
                <a:tabLst>
                  <a:tab pos="452438" algn="l"/>
                  <a:tab pos="903288" algn="l"/>
                  <a:tab pos="1357313" algn="l"/>
                </a:tabLst>
              </a:pPr>
              <a:r>
                <a:rPr lang="en-US" altLang="zh-CN" sz="1400" b="1" dirty="0">
                  <a:solidFill>
                    <a:srgbClr val="000000"/>
                  </a:solidFill>
                  <a:latin typeface="Arial" pitchFamily="34" charset="0"/>
                  <a:ea typeface="等线" panose="02010600030101010101" pitchFamily="2" charset="-122"/>
                </a:rPr>
                <a:t>ALU</a:t>
              </a:r>
            </a:p>
          </p:txBody>
        </p:sp>
        <p:sp>
          <p:nvSpPr>
            <p:cNvPr id="54" name="AutoShape 67">
              <a:extLst>
                <a:ext uri="{FF2B5EF4-FFF2-40B4-BE49-F238E27FC236}">
                  <a16:creationId xmlns:a16="http://schemas.microsoft.com/office/drawing/2014/main" id="{C399C734-8811-2994-5EF3-BD23833BE31B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6200000">
              <a:off x="4974612" y="4005956"/>
              <a:ext cx="694398" cy="227940"/>
            </a:xfrm>
            <a:custGeom>
              <a:avLst/>
              <a:gdLst>
                <a:gd name="T0" fmla="*/ 9 w 21600"/>
                <a:gd name="T1" fmla="*/ 0 h 21600"/>
                <a:gd name="T2" fmla="*/ 5 w 21600"/>
                <a:gd name="T3" fmla="*/ 1 h 21600"/>
                <a:gd name="T4" fmla="*/ 1 w 21600"/>
                <a:gd name="T5" fmla="*/ 0 h 21600"/>
                <a:gd name="T6" fmla="*/ 5 w 21600"/>
                <a:gd name="T7" fmla="*/ 0 h 21600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4500 w 21600"/>
                <a:gd name="T13" fmla="*/ 4500 h 21600"/>
                <a:gd name="T14" fmla="*/ 17100 w 21600"/>
                <a:gd name="T15" fmla="*/ 17100 h 2160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600" h="21600">
                  <a:moveTo>
                    <a:pt x="0" y="0"/>
                  </a:moveTo>
                  <a:lnTo>
                    <a:pt x="5400" y="21600"/>
                  </a:lnTo>
                  <a:lnTo>
                    <a:pt x="16200" y="21600"/>
                  </a:lnTo>
                  <a:lnTo>
                    <a:pt x="21600" y="0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9050">
              <a:solidFill>
                <a:sysClr val="windowText" lastClr="000000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20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F0502020204030204"/>
                <a:ea typeface="等线" panose="02010600030101010101" pitchFamily="2" charset="-122"/>
              </a:endParaRPr>
            </a:p>
          </p:txBody>
        </p:sp>
        <p:sp>
          <p:nvSpPr>
            <p:cNvPr id="55" name="Line 68">
              <a:extLst>
                <a:ext uri="{FF2B5EF4-FFF2-40B4-BE49-F238E27FC236}">
                  <a16:creationId xmlns:a16="http://schemas.microsoft.com/office/drawing/2014/main" id="{5971D537-54C1-0CA7-7EC6-06C16A6C4B0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440813" y="4121372"/>
              <a:ext cx="130809" cy="0"/>
            </a:xfrm>
            <a:prstGeom prst="line">
              <a:avLst/>
            </a:prstGeom>
            <a:noFill/>
            <a:ln w="19050">
              <a:solidFill>
                <a:sysClr val="windowText" lastClr="000000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20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F0502020204030204"/>
                <a:ea typeface="等线" panose="02010600030101010101" pitchFamily="2" charset="-122"/>
              </a:endParaRPr>
            </a:p>
          </p:txBody>
        </p:sp>
        <p:sp>
          <p:nvSpPr>
            <p:cNvPr id="56" name="Line 71">
              <a:extLst>
                <a:ext uri="{FF2B5EF4-FFF2-40B4-BE49-F238E27FC236}">
                  <a16:creationId xmlns:a16="http://schemas.microsoft.com/office/drawing/2014/main" id="{DC19B27E-23EF-9213-CD6C-EDBD2A17339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843354" y="4329692"/>
              <a:ext cx="364486" cy="0"/>
            </a:xfrm>
            <a:prstGeom prst="line">
              <a:avLst/>
            </a:prstGeom>
            <a:noFill/>
            <a:ln w="19050">
              <a:solidFill>
                <a:sysClr val="windowText" lastClr="000000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20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F0502020204030204"/>
                <a:ea typeface="等线" panose="02010600030101010101" pitchFamily="2" charset="-122"/>
              </a:endParaRPr>
            </a:p>
          </p:txBody>
        </p:sp>
        <p:sp>
          <p:nvSpPr>
            <p:cNvPr id="57" name="Line 72">
              <a:extLst>
                <a:ext uri="{FF2B5EF4-FFF2-40B4-BE49-F238E27FC236}">
                  <a16:creationId xmlns:a16="http://schemas.microsoft.com/office/drawing/2014/main" id="{500EBD3D-5388-5368-1903-840AA69B43B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35843" y="3357534"/>
              <a:ext cx="810453" cy="0"/>
            </a:xfrm>
            <a:prstGeom prst="line">
              <a:avLst/>
            </a:prstGeom>
            <a:noFill/>
            <a:ln w="19050">
              <a:solidFill>
                <a:sysClr val="windowText" lastClr="000000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F0502020204030204"/>
                <a:ea typeface="等线" panose="02010600030101010101" pitchFamily="2" charset="-122"/>
              </a:endParaRPr>
            </a:p>
          </p:txBody>
        </p:sp>
        <p:sp>
          <p:nvSpPr>
            <p:cNvPr id="58" name="Oval 73">
              <a:extLst>
                <a:ext uri="{FF2B5EF4-FFF2-40B4-BE49-F238E27FC236}">
                  <a16:creationId xmlns:a16="http://schemas.microsoft.com/office/drawing/2014/main" id="{5413278B-8E3B-D086-217B-937B7DEAF7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15743" y="2663136"/>
              <a:ext cx="455880" cy="486079"/>
            </a:xfrm>
            <a:prstGeom prst="ellipse">
              <a:avLst/>
            </a:prstGeom>
            <a:noFill/>
            <a:ln w="19050">
              <a:solidFill>
                <a:sysClr val="windowText" lastClr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F0502020204030204"/>
                <a:ea typeface="等线" panose="02010600030101010101" pitchFamily="2" charset="-122"/>
              </a:endParaRPr>
            </a:p>
          </p:txBody>
        </p:sp>
        <p:sp>
          <p:nvSpPr>
            <p:cNvPr id="59" name="Rectangle 74">
              <a:extLst>
                <a:ext uri="{FF2B5EF4-FFF2-40B4-BE49-F238E27FC236}">
                  <a16:creationId xmlns:a16="http://schemas.microsoft.com/office/drawing/2014/main" id="{275421A5-7502-B65E-77FE-A97A919C38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22714" y="2782822"/>
              <a:ext cx="441936" cy="239554"/>
            </a:xfrm>
            <a:prstGeom prst="rect">
              <a:avLst/>
            </a:prstGeom>
            <a:noFill/>
            <a:ln w="12700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19047" tIns="26984" rIns="19047" bIns="26984"/>
            <a:lstStyle/>
            <a:p>
              <a:pPr algn="ctr" defTabSz="903288" eaLnBrk="0" fontAlgn="auto" hangingPunct="0">
                <a:lnSpc>
                  <a:spcPts val="1600"/>
                </a:lnSpc>
                <a:spcBef>
                  <a:spcPts val="0"/>
                </a:spcBef>
                <a:spcAft>
                  <a:spcPts val="0"/>
                </a:spcAft>
                <a:tabLst>
                  <a:tab pos="452438" algn="l"/>
                  <a:tab pos="903288" algn="l"/>
                  <a:tab pos="1357313" algn="l"/>
                </a:tabLst>
              </a:pPr>
              <a:r>
                <a:rPr lang="en-US" altLang="zh-CN" sz="1400" dirty="0">
                  <a:solidFill>
                    <a:srgbClr val="000000"/>
                  </a:solidFill>
                  <a:latin typeface="Arial" pitchFamily="34" charset="0"/>
                  <a:ea typeface="等线" panose="02010600030101010101" pitchFamily="2" charset="-122"/>
                </a:rPr>
                <a:t>&lt;&lt;2</a:t>
              </a:r>
            </a:p>
          </p:txBody>
        </p:sp>
        <p:sp>
          <p:nvSpPr>
            <p:cNvPr id="60" name="Line 75">
              <a:extLst>
                <a:ext uri="{FF2B5EF4-FFF2-40B4-BE49-F238E27FC236}">
                  <a16:creationId xmlns:a16="http://schemas.microsoft.com/office/drawing/2014/main" id="{6343E763-5717-D7CA-47D7-D5F4EDEFDEE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843353" y="2940895"/>
              <a:ext cx="272390" cy="0"/>
            </a:xfrm>
            <a:prstGeom prst="line">
              <a:avLst/>
            </a:prstGeom>
            <a:noFill/>
            <a:ln w="19050">
              <a:solidFill>
                <a:sysClr val="windowText" lastClr="000000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F0502020204030204"/>
                <a:ea typeface="等线" panose="02010600030101010101" pitchFamily="2" charset="-122"/>
              </a:endParaRPr>
            </a:p>
          </p:txBody>
        </p:sp>
        <p:sp>
          <p:nvSpPr>
            <p:cNvPr id="61" name="Line 85">
              <a:extLst>
                <a:ext uri="{FF2B5EF4-FFF2-40B4-BE49-F238E27FC236}">
                  <a16:creationId xmlns:a16="http://schemas.microsoft.com/office/drawing/2014/main" id="{86D8D290-A574-86DD-A011-9C43018D274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566901" y="2940895"/>
              <a:ext cx="227940" cy="0"/>
            </a:xfrm>
            <a:prstGeom prst="line">
              <a:avLst/>
            </a:prstGeom>
            <a:noFill/>
            <a:ln w="19050">
              <a:solidFill>
                <a:sysClr val="windowText" lastClr="000000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F0502020204030204"/>
                <a:ea typeface="等线" panose="02010600030101010101" pitchFamily="2" charset="-122"/>
              </a:endParaRPr>
            </a:p>
          </p:txBody>
        </p:sp>
        <p:sp>
          <p:nvSpPr>
            <p:cNvPr id="62" name="Rectangle 86">
              <a:extLst>
                <a:ext uri="{FF2B5EF4-FFF2-40B4-BE49-F238E27FC236}">
                  <a16:creationId xmlns:a16="http://schemas.microsoft.com/office/drawing/2014/main" id="{E522D13D-A678-E5A1-49F4-3789DD17E0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635341" y="3184998"/>
              <a:ext cx="1291659" cy="1117207"/>
            </a:xfrm>
            <a:prstGeom prst="rect">
              <a:avLst/>
            </a:prstGeom>
            <a:noFill/>
            <a:ln w="19050">
              <a:solidFill>
                <a:sysClr val="windowText" lastClr="000000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F0502020204030204"/>
                <a:ea typeface="等线" panose="02010600030101010101" pitchFamily="2" charset="-122"/>
              </a:endParaRPr>
            </a:p>
          </p:txBody>
        </p:sp>
        <p:sp>
          <p:nvSpPr>
            <p:cNvPr id="63" name="Line 87">
              <a:extLst>
                <a:ext uri="{FF2B5EF4-FFF2-40B4-BE49-F238E27FC236}">
                  <a16:creationId xmlns:a16="http://schemas.microsoft.com/office/drawing/2014/main" id="{65F8F1F9-B9C5-56AE-4B9B-3F215D9FEB3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407401" y="3774173"/>
              <a:ext cx="227940" cy="0"/>
            </a:xfrm>
            <a:prstGeom prst="line">
              <a:avLst/>
            </a:prstGeom>
            <a:noFill/>
            <a:ln w="19050">
              <a:solidFill>
                <a:sysClr val="windowText" lastClr="000000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F0502020204030204"/>
                <a:ea typeface="等线" panose="02010600030101010101" pitchFamily="2" charset="-122"/>
              </a:endParaRPr>
            </a:p>
          </p:txBody>
        </p:sp>
        <p:sp>
          <p:nvSpPr>
            <p:cNvPr id="64" name="Text Box 88">
              <a:extLst>
                <a:ext uri="{FF2B5EF4-FFF2-40B4-BE49-F238E27FC236}">
                  <a16:creationId xmlns:a16="http://schemas.microsoft.com/office/drawing/2014/main" id="{18AD45DF-D47E-8895-3BDF-20D6093FE95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863363" y="3164294"/>
              <a:ext cx="830645" cy="52320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1425" tIns="45713" rIns="91425" bIns="45713">
              <a:spAutoFit/>
            </a:bodyPr>
            <a:lstStyle>
              <a:lvl1pPr eaLnBrk="0" hangingPunct="0"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1pPr>
              <a:lvl2pPr marL="742950" indent="-285750" eaLnBrk="0" hangingPunct="0"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2pPr>
              <a:lvl3pPr marL="1143000" indent="-228600" eaLnBrk="0" hangingPunct="0"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3pPr>
              <a:lvl4pPr marL="1600200" indent="-228600" eaLnBrk="0" hangingPunct="0"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4pPr>
              <a:lvl5pPr marL="2057400" indent="-228600" eaLnBrk="0" hangingPunct="0"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9pPr>
            </a:lstStyle>
            <a:p>
              <a:pPr algn="ctr" fontAlgn="auto">
                <a:spcBef>
                  <a:spcPts val="0"/>
                </a:spcBef>
                <a:spcAft>
                  <a:spcPts val="0"/>
                </a:spcAft>
              </a:pPr>
              <a:r>
                <a:rPr lang="en-US" altLang="zh-CN" sz="1400" b="0" dirty="0">
                  <a:solidFill>
                    <a:prstClr val="black"/>
                  </a:solidFill>
                  <a:latin typeface="Arial" pitchFamily="34" charset="0"/>
                  <a:ea typeface="SimHei" panose="02010609060101010101" pitchFamily="49" charset="-122"/>
                </a:rPr>
                <a:t>Data</a:t>
              </a: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</a:pPr>
              <a:r>
                <a:rPr lang="en-US" altLang="zh-CN" sz="1400" b="0" dirty="0">
                  <a:solidFill>
                    <a:prstClr val="black"/>
                  </a:solidFill>
                  <a:latin typeface="Arial" pitchFamily="34" charset="0"/>
                  <a:ea typeface="SimHei" panose="02010609060101010101" pitchFamily="49" charset="-122"/>
                </a:rPr>
                <a:t>Memory</a:t>
              </a:r>
            </a:p>
          </p:txBody>
        </p:sp>
        <p:sp>
          <p:nvSpPr>
            <p:cNvPr id="65" name="Text Box 89">
              <a:extLst>
                <a:ext uri="{FF2B5EF4-FFF2-40B4-BE49-F238E27FC236}">
                  <a16:creationId xmlns:a16="http://schemas.microsoft.com/office/drawing/2014/main" id="{1FA0CC22-57AD-CC7A-D519-15ADE3D1794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579680" y="3635293"/>
              <a:ext cx="508442" cy="27698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1425" tIns="45713" rIns="91425" bIns="45713">
              <a:spAutoFit/>
            </a:bodyPr>
            <a:lstStyle>
              <a:lvl1pPr eaLnBrk="0" hangingPunct="0"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1pPr>
              <a:lvl2pPr marL="742950" indent="-285750" eaLnBrk="0" hangingPunct="0"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2pPr>
              <a:lvl3pPr marL="1143000" indent="-228600" eaLnBrk="0" hangingPunct="0"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3pPr>
              <a:lvl4pPr marL="1600200" indent="-228600" eaLnBrk="0" hangingPunct="0"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4pPr>
              <a:lvl5pPr marL="2057400" indent="-228600" eaLnBrk="0" hangingPunct="0"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9pPr>
            </a:lstStyle>
            <a:p>
              <a:pPr fontAlgn="auto">
                <a:spcBef>
                  <a:spcPts val="0"/>
                </a:spcBef>
                <a:spcAft>
                  <a:spcPts val="0"/>
                </a:spcAft>
              </a:pPr>
              <a:r>
                <a:rPr lang="en-US" altLang="zh-CN" sz="1200" b="0" dirty="0" err="1">
                  <a:solidFill>
                    <a:prstClr val="black"/>
                  </a:solidFill>
                  <a:latin typeface="Arial" pitchFamily="34" charset="0"/>
                  <a:ea typeface="SimHei" panose="02010609060101010101" pitchFamily="49" charset="-122"/>
                </a:rPr>
                <a:t>Addr</a:t>
              </a:r>
              <a:endParaRPr lang="en-US" altLang="zh-CN" sz="1200" b="0" dirty="0">
                <a:solidFill>
                  <a:prstClr val="black"/>
                </a:solidFill>
                <a:latin typeface="Arial" pitchFamily="34" charset="0"/>
                <a:ea typeface="SimHei" panose="02010609060101010101" pitchFamily="49" charset="-122"/>
              </a:endParaRPr>
            </a:p>
          </p:txBody>
        </p:sp>
        <p:sp>
          <p:nvSpPr>
            <p:cNvPr id="66" name="Text Box 90">
              <a:extLst>
                <a:ext uri="{FF2B5EF4-FFF2-40B4-BE49-F238E27FC236}">
                  <a16:creationId xmlns:a16="http://schemas.microsoft.com/office/drawing/2014/main" id="{7EB2BB51-B37F-AD31-9D68-DFE81767DF2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579680" y="3982492"/>
              <a:ext cx="908039" cy="27698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1425" tIns="45713" rIns="91425" bIns="45713">
              <a:spAutoFit/>
            </a:bodyPr>
            <a:lstStyle>
              <a:lvl1pPr eaLnBrk="0" hangingPunct="0"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1pPr>
              <a:lvl2pPr marL="742950" indent="-285750" eaLnBrk="0" hangingPunct="0"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2pPr>
              <a:lvl3pPr marL="1143000" indent="-228600" eaLnBrk="0" hangingPunct="0"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3pPr>
              <a:lvl4pPr marL="1600200" indent="-228600" eaLnBrk="0" hangingPunct="0"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4pPr>
              <a:lvl5pPr marL="2057400" indent="-228600" eaLnBrk="0" hangingPunct="0"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9pPr>
            </a:lstStyle>
            <a:p>
              <a:pPr fontAlgn="auto">
                <a:spcBef>
                  <a:spcPts val="0"/>
                </a:spcBef>
                <a:spcAft>
                  <a:spcPts val="0"/>
                </a:spcAft>
              </a:pPr>
              <a:r>
                <a:rPr lang="en-US" altLang="zh-CN" sz="1200" b="0" dirty="0">
                  <a:solidFill>
                    <a:prstClr val="black"/>
                  </a:solidFill>
                  <a:latin typeface="Arial" pitchFamily="34" charset="0"/>
                  <a:ea typeface="SimHei" panose="02010609060101010101" pitchFamily="49" charset="-122"/>
                </a:rPr>
                <a:t>Write Data</a:t>
              </a:r>
            </a:p>
          </p:txBody>
        </p:sp>
        <p:sp>
          <p:nvSpPr>
            <p:cNvPr id="67" name="Text Box 91">
              <a:extLst>
                <a:ext uri="{FF2B5EF4-FFF2-40B4-BE49-F238E27FC236}">
                  <a16:creationId xmlns:a16="http://schemas.microsoft.com/office/drawing/2014/main" id="{E38E101C-F98B-AF18-82E2-75DB76E0942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092245" y="3630802"/>
              <a:ext cx="917208" cy="27698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1425" tIns="45713" rIns="91425" bIns="45713">
              <a:spAutoFit/>
            </a:bodyPr>
            <a:lstStyle>
              <a:lvl1pPr eaLnBrk="0" hangingPunct="0"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1pPr>
              <a:lvl2pPr marL="742950" indent="-285750" eaLnBrk="0" hangingPunct="0"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2pPr>
              <a:lvl3pPr marL="1143000" indent="-228600" eaLnBrk="0" hangingPunct="0"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3pPr>
              <a:lvl4pPr marL="1600200" indent="-228600" eaLnBrk="0" hangingPunct="0"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4pPr>
              <a:lvl5pPr marL="2057400" indent="-228600" eaLnBrk="0" hangingPunct="0"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9pPr>
            </a:lstStyle>
            <a:p>
              <a:pPr fontAlgn="auto">
                <a:spcBef>
                  <a:spcPts val="0"/>
                </a:spcBef>
                <a:spcAft>
                  <a:spcPts val="0"/>
                </a:spcAft>
              </a:pPr>
              <a:r>
                <a:rPr lang="en-US" altLang="zh-CN" sz="1200" b="0" dirty="0">
                  <a:solidFill>
                    <a:prstClr val="black"/>
                  </a:solidFill>
                  <a:latin typeface="Arial" pitchFamily="34" charset="0"/>
                  <a:ea typeface="SimHei" panose="02010609060101010101" pitchFamily="49" charset="-122"/>
                </a:rPr>
                <a:t>Read Data</a:t>
              </a:r>
            </a:p>
          </p:txBody>
        </p:sp>
        <p:sp>
          <p:nvSpPr>
            <p:cNvPr id="68" name="Line 92">
              <a:extLst>
                <a:ext uri="{FF2B5EF4-FFF2-40B4-BE49-F238E27FC236}">
                  <a16:creationId xmlns:a16="http://schemas.microsoft.com/office/drawing/2014/main" id="{B37774D9-4E8B-4C5E-8E4C-2A57F10DFA7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407401" y="4121372"/>
              <a:ext cx="227940" cy="0"/>
            </a:xfrm>
            <a:prstGeom prst="line">
              <a:avLst/>
            </a:prstGeom>
            <a:noFill/>
            <a:ln w="19050">
              <a:solidFill>
                <a:sysClr val="windowText" lastClr="000000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F0502020204030204"/>
                <a:ea typeface="等线" panose="02010600030101010101" pitchFamily="2" charset="-122"/>
              </a:endParaRPr>
            </a:p>
          </p:txBody>
        </p:sp>
        <p:sp>
          <p:nvSpPr>
            <p:cNvPr id="69" name="Line 93">
              <a:extLst>
                <a:ext uri="{FF2B5EF4-FFF2-40B4-BE49-F238E27FC236}">
                  <a16:creationId xmlns:a16="http://schemas.microsoft.com/office/drawing/2014/main" id="{8D2C5821-0521-A58E-9F40-4C5F9127BF0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230920" y="4121372"/>
              <a:ext cx="227940" cy="1447"/>
            </a:xfrm>
            <a:prstGeom prst="line">
              <a:avLst/>
            </a:prstGeom>
            <a:noFill/>
            <a:ln w="19050">
              <a:solidFill>
                <a:sysClr val="windowText" lastClr="000000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F0502020204030204"/>
                <a:ea typeface="等线" panose="02010600030101010101" pitchFamily="2" charset="-122"/>
              </a:endParaRPr>
            </a:p>
          </p:txBody>
        </p:sp>
        <p:sp>
          <p:nvSpPr>
            <p:cNvPr id="70" name="AutoShape 94">
              <a:extLst>
                <a:ext uri="{FF2B5EF4-FFF2-40B4-BE49-F238E27FC236}">
                  <a16:creationId xmlns:a16="http://schemas.microsoft.com/office/drawing/2014/main" id="{35B35F16-61DC-7DB0-95C4-20977492065B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6200000">
              <a:off x="8260350" y="3833803"/>
              <a:ext cx="624959" cy="227940"/>
            </a:xfrm>
            <a:custGeom>
              <a:avLst/>
              <a:gdLst>
                <a:gd name="T0" fmla="*/ 8 w 21600"/>
                <a:gd name="T1" fmla="*/ 0 h 21600"/>
                <a:gd name="T2" fmla="*/ 4 w 21600"/>
                <a:gd name="T3" fmla="*/ 1 h 21600"/>
                <a:gd name="T4" fmla="*/ 1 w 21600"/>
                <a:gd name="T5" fmla="*/ 0 h 21600"/>
                <a:gd name="T6" fmla="*/ 4 w 21600"/>
                <a:gd name="T7" fmla="*/ 0 h 21600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4500 w 21600"/>
                <a:gd name="T13" fmla="*/ 4500 h 21600"/>
                <a:gd name="T14" fmla="*/ 17100 w 21600"/>
                <a:gd name="T15" fmla="*/ 17100 h 2160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600" h="21600">
                  <a:moveTo>
                    <a:pt x="0" y="0"/>
                  </a:moveTo>
                  <a:lnTo>
                    <a:pt x="5400" y="21600"/>
                  </a:lnTo>
                  <a:lnTo>
                    <a:pt x="16200" y="21600"/>
                  </a:lnTo>
                  <a:lnTo>
                    <a:pt x="21600" y="0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9050">
              <a:solidFill>
                <a:sysClr val="windowText" lastClr="000000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F0502020204030204"/>
                <a:ea typeface="等线" panose="02010600030101010101" pitchFamily="2" charset="-122"/>
              </a:endParaRPr>
            </a:p>
          </p:txBody>
        </p:sp>
        <p:sp>
          <p:nvSpPr>
            <p:cNvPr id="71" name="Line 98">
              <a:extLst>
                <a:ext uri="{FF2B5EF4-FFF2-40B4-BE49-F238E27FC236}">
                  <a16:creationId xmlns:a16="http://schemas.microsoft.com/office/drawing/2014/main" id="{30968CAE-6BEA-DEE8-EE76-A1B48BB7399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431923" y="3357534"/>
              <a:ext cx="151960" cy="0"/>
            </a:xfrm>
            <a:prstGeom prst="line">
              <a:avLst/>
            </a:prstGeom>
            <a:noFill/>
            <a:ln w="19050">
              <a:solidFill>
                <a:sysClr val="windowText" lastClr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20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F0502020204030204"/>
                <a:ea typeface="等线" panose="02010600030101010101" pitchFamily="2" charset="-122"/>
              </a:endParaRPr>
            </a:p>
          </p:txBody>
        </p:sp>
        <p:sp>
          <p:nvSpPr>
            <p:cNvPr id="72" name="Line 99">
              <a:extLst>
                <a:ext uri="{FF2B5EF4-FFF2-40B4-BE49-F238E27FC236}">
                  <a16:creationId xmlns:a16="http://schemas.microsoft.com/office/drawing/2014/main" id="{50992E98-B7A5-4648-2CA6-45D736BC255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12325" y="4190812"/>
              <a:ext cx="0" cy="1525123"/>
            </a:xfrm>
            <a:prstGeom prst="line">
              <a:avLst/>
            </a:prstGeom>
            <a:noFill/>
            <a:ln w="19050">
              <a:solidFill>
                <a:sysClr val="windowText" lastClr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F0502020204030204"/>
                <a:ea typeface="等线" panose="02010600030101010101" pitchFamily="2" charset="-122"/>
              </a:endParaRPr>
            </a:p>
          </p:txBody>
        </p:sp>
        <p:sp>
          <p:nvSpPr>
            <p:cNvPr id="73" name="Line 100">
              <a:extLst>
                <a:ext uri="{FF2B5EF4-FFF2-40B4-BE49-F238E27FC236}">
                  <a16:creationId xmlns:a16="http://schemas.microsoft.com/office/drawing/2014/main" id="{0122EEE0-011D-5F8E-F537-E2370E3A886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152525" y="2524256"/>
              <a:ext cx="227940" cy="0"/>
            </a:xfrm>
            <a:prstGeom prst="line">
              <a:avLst/>
            </a:prstGeom>
            <a:noFill/>
            <a:ln w="19050">
              <a:solidFill>
                <a:sysClr val="windowText" lastClr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F0502020204030204"/>
                <a:ea typeface="等线" panose="02010600030101010101" pitchFamily="2" charset="-122"/>
              </a:endParaRPr>
            </a:p>
          </p:txBody>
        </p:sp>
        <p:sp>
          <p:nvSpPr>
            <p:cNvPr id="74" name="Line 101">
              <a:extLst>
                <a:ext uri="{FF2B5EF4-FFF2-40B4-BE49-F238E27FC236}">
                  <a16:creationId xmlns:a16="http://schemas.microsoft.com/office/drawing/2014/main" id="{A943847B-41B8-0F6C-4B25-CE1984E7F39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92726" y="1621538"/>
              <a:ext cx="911759" cy="0"/>
            </a:xfrm>
            <a:prstGeom prst="line">
              <a:avLst/>
            </a:prstGeom>
            <a:noFill/>
            <a:ln w="19050">
              <a:solidFill>
                <a:sysClr val="windowText" lastClr="000000"/>
              </a:solidFill>
              <a:round/>
              <a:headEnd type="triangle" w="med" len="med"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F0502020204030204"/>
                <a:ea typeface="等线" panose="02010600030101010101" pitchFamily="2" charset="-122"/>
              </a:endParaRPr>
            </a:p>
          </p:txBody>
        </p:sp>
        <p:sp>
          <p:nvSpPr>
            <p:cNvPr id="75" name="Line 102">
              <a:extLst>
                <a:ext uri="{FF2B5EF4-FFF2-40B4-BE49-F238E27FC236}">
                  <a16:creationId xmlns:a16="http://schemas.microsoft.com/office/drawing/2014/main" id="{E71E4749-0B8F-E28F-25CE-F7444118743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684385" y="3704733"/>
              <a:ext cx="151960" cy="0"/>
            </a:xfrm>
            <a:prstGeom prst="line">
              <a:avLst/>
            </a:prstGeom>
            <a:noFill/>
            <a:ln w="19050">
              <a:solidFill>
                <a:sysClr val="windowText" lastClr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F0502020204030204"/>
                <a:ea typeface="等线" panose="02010600030101010101" pitchFamily="2" charset="-122"/>
              </a:endParaRPr>
            </a:p>
          </p:txBody>
        </p:sp>
        <p:sp>
          <p:nvSpPr>
            <p:cNvPr id="76" name="Line 103">
              <a:extLst>
                <a:ext uri="{FF2B5EF4-FFF2-40B4-BE49-F238E27FC236}">
                  <a16:creationId xmlns:a16="http://schemas.microsoft.com/office/drawing/2014/main" id="{9CA6CC64-2208-E853-3CF5-4403CE8FEF8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927000" y="3774173"/>
              <a:ext cx="151609" cy="0"/>
            </a:xfrm>
            <a:prstGeom prst="line">
              <a:avLst/>
            </a:prstGeom>
            <a:noFill/>
            <a:ln w="19050">
              <a:solidFill>
                <a:sysClr val="windowText" lastClr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F0502020204030204"/>
                <a:ea typeface="等线" panose="02010600030101010101" pitchFamily="2" charset="-122"/>
              </a:endParaRPr>
            </a:p>
          </p:txBody>
        </p:sp>
        <p:sp>
          <p:nvSpPr>
            <p:cNvPr id="77" name="Rectangle 104">
              <a:extLst>
                <a:ext uri="{FF2B5EF4-FFF2-40B4-BE49-F238E27FC236}">
                  <a16:creationId xmlns:a16="http://schemas.microsoft.com/office/drawing/2014/main" id="{420A403D-3627-2265-E8B8-08C5F2526D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32425" y="2315936"/>
              <a:ext cx="151960" cy="2013755"/>
            </a:xfrm>
            <a:prstGeom prst="rect">
              <a:avLst/>
            </a:prstGeom>
            <a:solidFill>
              <a:srgbClr val="A6E2F9"/>
            </a:solidFill>
            <a:ln w="19050">
              <a:solidFill>
                <a:sysClr val="windowText" lastClr="000000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F0502020204030204"/>
                <a:ea typeface="等线" panose="02010600030101010101" pitchFamily="2" charset="-122"/>
              </a:endParaRPr>
            </a:p>
          </p:txBody>
        </p:sp>
        <p:sp>
          <p:nvSpPr>
            <p:cNvPr id="78" name="Rectangle 105">
              <a:extLst>
                <a:ext uri="{FF2B5EF4-FFF2-40B4-BE49-F238E27FC236}">
                  <a16:creationId xmlns:a16="http://schemas.microsoft.com/office/drawing/2014/main" id="{FD47FE33-A07C-D7F7-3592-997BCC2919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83882" y="1800567"/>
              <a:ext cx="158319" cy="3648398"/>
            </a:xfrm>
            <a:prstGeom prst="rect">
              <a:avLst/>
            </a:prstGeom>
            <a:solidFill>
              <a:srgbClr val="A6E2F9"/>
            </a:solidFill>
            <a:ln w="19050">
              <a:solidFill>
                <a:sysClr val="windowText" lastClr="000000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F0502020204030204"/>
                <a:ea typeface="等线" panose="02010600030101010101" pitchFamily="2" charset="-122"/>
              </a:endParaRPr>
            </a:p>
          </p:txBody>
        </p:sp>
        <p:sp>
          <p:nvSpPr>
            <p:cNvPr id="79" name="Line 106">
              <a:extLst>
                <a:ext uri="{FF2B5EF4-FFF2-40B4-BE49-F238E27FC236}">
                  <a16:creationId xmlns:a16="http://schemas.microsoft.com/office/drawing/2014/main" id="{C6D023AD-C3C2-AB5F-B803-86BFC0A69CF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304485" y="2524256"/>
              <a:ext cx="227940" cy="0"/>
            </a:xfrm>
            <a:prstGeom prst="line">
              <a:avLst/>
            </a:prstGeom>
            <a:noFill/>
            <a:ln w="19050">
              <a:solidFill>
                <a:sysClr val="windowText" lastClr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F0502020204030204"/>
                <a:ea typeface="等线" panose="02010600030101010101" pitchFamily="2" charset="-122"/>
              </a:endParaRPr>
            </a:p>
          </p:txBody>
        </p:sp>
        <p:sp>
          <p:nvSpPr>
            <p:cNvPr id="80" name="Line 107">
              <a:extLst>
                <a:ext uri="{FF2B5EF4-FFF2-40B4-BE49-F238E27FC236}">
                  <a16:creationId xmlns:a16="http://schemas.microsoft.com/office/drawing/2014/main" id="{BED375A5-6E97-302B-40A4-F2C8CB8668A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684385" y="2524256"/>
              <a:ext cx="1899498" cy="0"/>
            </a:xfrm>
            <a:prstGeom prst="line">
              <a:avLst/>
            </a:prstGeom>
            <a:noFill/>
            <a:ln w="19050">
              <a:solidFill>
                <a:sysClr val="windowText" lastClr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F0502020204030204"/>
                <a:ea typeface="等线" panose="02010600030101010101" pitchFamily="2" charset="-122"/>
              </a:endParaRPr>
            </a:p>
          </p:txBody>
        </p:sp>
        <p:sp>
          <p:nvSpPr>
            <p:cNvPr id="81" name="Line 108">
              <a:extLst>
                <a:ext uri="{FF2B5EF4-FFF2-40B4-BE49-F238E27FC236}">
                  <a16:creationId xmlns:a16="http://schemas.microsoft.com/office/drawing/2014/main" id="{277F82CE-3462-B25B-BE76-54E5E7DA76B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155718" y="2732575"/>
              <a:ext cx="99724" cy="0"/>
            </a:xfrm>
            <a:prstGeom prst="line">
              <a:avLst/>
            </a:prstGeom>
            <a:noFill/>
            <a:ln w="19050">
              <a:solidFill>
                <a:sysClr val="windowText" lastClr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F0502020204030204"/>
                <a:ea typeface="等线" panose="02010600030101010101" pitchFamily="2" charset="-122"/>
              </a:endParaRPr>
            </a:p>
          </p:txBody>
        </p:sp>
        <p:sp>
          <p:nvSpPr>
            <p:cNvPr id="82" name="Line 109">
              <a:extLst>
                <a:ext uri="{FF2B5EF4-FFF2-40B4-BE49-F238E27FC236}">
                  <a16:creationId xmlns:a16="http://schemas.microsoft.com/office/drawing/2014/main" id="{464313F2-1171-C2B7-EA30-7A7816871F3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35843" y="4815770"/>
              <a:ext cx="107510" cy="0"/>
            </a:xfrm>
            <a:prstGeom prst="line">
              <a:avLst/>
            </a:prstGeom>
            <a:noFill/>
            <a:ln w="19050">
              <a:solidFill>
                <a:sysClr val="windowText" lastClr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F0502020204030204"/>
                <a:ea typeface="等线" panose="02010600030101010101" pitchFamily="2" charset="-122"/>
              </a:endParaRPr>
            </a:p>
          </p:txBody>
        </p:sp>
        <p:sp>
          <p:nvSpPr>
            <p:cNvPr id="83" name="Line 110">
              <a:extLst>
                <a:ext uri="{FF2B5EF4-FFF2-40B4-BE49-F238E27FC236}">
                  <a16:creationId xmlns:a16="http://schemas.microsoft.com/office/drawing/2014/main" id="{D6D220E5-B469-806F-1142-0B0F3C8F843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963783" y="3982492"/>
              <a:ext cx="0" cy="833278"/>
            </a:xfrm>
            <a:prstGeom prst="line">
              <a:avLst/>
            </a:prstGeom>
            <a:noFill/>
            <a:ln w="19050">
              <a:solidFill>
                <a:sysClr val="windowText" lastClr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20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F0502020204030204"/>
                <a:ea typeface="等线" panose="02010600030101010101" pitchFamily="2" charset="-122"/>
              </a:endParaRPr>
            </a:p>
          </p:txBody>
        </p:sp>
        <p:sp>
          <p:nvSpPr>
            <p:cNvPr id="84" name="Line 111">
              <a:extLst>
                <a:ext uri="{FF2B5EF4-FFF2-40B4-BE49-F238E27FC236}">
                  <a16:creationId xmlns:a16="http://schemas.microsoft.com/office/drawing/2014/main" id="{333241F6-DE3C-C7A7-3AE1-462C3EC8836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963783" y="4815770"/>
              <a:ext cx="1291659" cy="0"/>
            </a:xfrm>
            <a:prstGeom prst="line">
              <a:avLst/>
            </a:prstGeom>
            <a:noFill/>
            <a:ln w="19050">
              <a:solidFill>
                <a:sysClr val="windowText" lastClr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F0502020204030204"/>
                <a:ea typeface="等线" panose="02010600030101010101" pitchFamily="2" charset="-122"/>
              </a:endParaRPr>
            </a:p>
          </p:txBody>
        </p:sp>
        <p:sp>
          <p:nvSpPr>
            <p:cNvPr id="85" name="Rectangle 112">
              <a:extLst>
                <a:ext uri="{FF2B5EF4-FFF2-40B4-BE49-F238E27FC236}">
                  <a16:creationId xmlns:a16="http://schemas.microsoft.com/office/drawing/2014/main" id="{CC535C4C-E95A-9036-C84B-42010994BB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078960" y="2690911"/>
              <a:ext cx="151960" cy="2541498"/>
            </a:xfrm>
            <a:prstGeom prst="rect">
              <a:avLst/>
            </a:prstGeom>
            <a:solidFill>
              <a:srgbClr val="A6E2F9"/>
            </a:solidFill>
            <a:ln w="19050">
              <a:solidFill>
                <a:sysClr val="windowText" lastClr="000000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F0502020204030204"/>
                <a:ea typeface="等线" panose="02010600030101010101" pitchFamily="2" charset="-122"/>
              </a:endParaRPr>
            </a:p>
          </p:txBody>
        </p:sp>
        <p:sp>
          <p:nvSpPr>
            <p:cNvPr id="86" name="Line 113">
              <a:extLst>
                <a:ext uri="{FF2B5EF4-FFF2-40B4-BE49-F238E27FC236}">
                  <a16:creationId xmlns:a16="http://schemas.microsoft.com/office/drawing/2014/main" id="{55D5BB35-A77C-39C1-6721-5C4132FE9D4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483381" y="4815770"/>
              <a:ext cx="1595579" cy="0"/>
            </a:xfrm>
            <a:prstGeom prst="line">
              <a:avLst/>
            </a:prstGeom>
            <a:noFill/>
            <a:ln w="19050">
              <a:solidFill>
                <a:sysClr val="windowText" lastClr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F0502020204030204"/>
                <a:ea typeface="等线" panose="02010600030101010101" pitchFamily="2" charset="-122"/>
              </a:endParaRPr>
            </a:p>
          </p:txBody>
        </p:sp>
        <p:sp>
          <p:nvSpPr>
            <p:cNvPr id="87" name="Line 114">
              <a:extLst>
                <a:ext uri="{FF2B5EF4-FFF2-40B4-BE49-F238E27FC236}">
                  <a16:creationId xmlns:a16="http://schemas.microsoft.com/office/drawing/2014/main" id="{55EC86C1-164B-877C-12AD-946680E53D9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230920" y="3774173"/>
              <a:ext cx="227940" cy="1447"/>
            </a:xfrm>
            <a:prstGeom prst="line">
              <a:avLst/>
            </a:prstGeom>
            <a:noFill/>
            <a:ln w="19050">
              <a:solidFill>
                <a:sysClr val="windowText" lastClr="000000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F0502020204030204"/>
                <a:ea typeface="等线" panose="02010600030101010101" pitchFamily="2" charset="-122"/>
              </a:endParaRPr>
            </a:p>
          </p:txBody>
        </p:sp>
        <p:sp>
          <p:nvSpPr>
            <p:cNvPr id="88" name="Line 115">
              <a:extLst>
                <a:ext uri="{FF2B5EF4-FFF2-40B4-BE49-F238E27FC236}">
                  <a16:creationId xmlns:a16="http://schemas.microsoft.com/office/drawing/2014/main" id="{65E2EE4E-0E3B-FEEF-6D69-721473D6940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838759" y="3913052"/>
              <a:ext cx="0" cy="1802883"/>
            </a:xfrm>
            <a:prstGeom prst="line">
              <a:avLst/>
            </a:prstGeom>
            <a:noFill/>
            <a:ln w="19050">
              <a:solidFill>
                <a:sysClr val="windowText" lastClr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F0502020204030204"/>
                <a:ea typeface="等线" panose="02010600030101010101" pitchFamily="2" charset="-122"/>
              </a:endParaRPr>
            </a:p>
          </p:txBody>
        </p:sp>
        <p:sp>
          <p:nvSpPr>
            <p:cNvPr id="89" name="Line 116">
              <a:extLst>
                <a:ext uri="{FF2B5EF4-FFF2-40B4-BE49-F238E27FC236}">
                  <a16:creationId xmlns:a16="http://schemas.microsoft.com/office/drawing/2014/main" id="{2C0F9640-9477-F429-2283-9BDBDCE3C29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933821" y="1343777"/>
              <a:ext cx="0" cy="1388797"/>
            </a:xfrm>
            <a:prstGeom prst="line">
              <a:avLst/>
            </a:prstGeom>
            <a:noFill/>
            <a:ln w="19050">
              <a:solidFill>
                <a:sysClr val="windowText" lastClr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F0502020204030204"/>
                <a:ea typeface="等线" panose="02010600030101010101" pitchFamily="2" charset="-122"/>
              </a:endParaRPr>
            </a:p>
          </p:txBody>
        </p:sp>
        <p:sp>
          <p:nvSpPr>
            <p:cNvPr id="90" name="Line 117">
              <a:extLst>
                <a:ext uri="{FF2B5EF4-FFF2-40B4-BE49-F238E27FC236}">
                  <a16:creationId xmlns:a16="http://schemas.microsoft.com/office/drawing/2014/main" id="{F8B77C54-2DB9-EEC3-6808-869EA012EC7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255441" y="4121372"/>
              <a:ext cx="151960" cy="694398"/>
            </a:xfrm>
            <a:prstGeom prst="line">
              <a:avLst/>
            </a:prstGeom>
            <a:noFill/>
            <a:ln w="28575" cap="rnd">
              <a:solidFill>
                <a:srgbClr val="ED7D31"/>
              </a:solidFill>
              <a:prstDash val="sysDot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F0502020204030204"/>
                <a:ea typeface="等线" panose="02010600030101010101" pitchFamily="2" charset="-122"/>
              </a:endParaRPr>
            </a:p>
          </p:txBody>
        </p:sp>
        <p:sp>
          <p:nvSpPr>
            <p:cNvPr id="91" name="Text Box 119">
              <a:extLst>
                <a:ext uri="{FF2B5EF4-FFF2-40B4-BE49-F238E27FC236}">
                  <a16:creationId xmlns:a16="http://schemas.microsoft.com/office/drawing/2014/main" id="{47B611CA-23F6-D0C1-088E-1384D6A3D0F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295221" y="1924885"/>
              <a:ext cx="684773" cy="36931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1425" tIns="45713" rIns="91425" bIns="45713">
              <a:spAutoFit/>
            </a:bodyPr>
            <a:lstStyle>
              <a:lvl1pPr eaLnBrk="0" hangingPunct="0"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1pPr>
              <a:lvl2pPr marL="742950" indent="-285750" eaLnBrk="0" hangingPunct="0"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2pPr>
              <a:lvl3pPr marL="1143000" indent="-228600" eaLnBrk="0" hangingPunct="0"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3pPr>
              <a:lvl4pPr marL="1600200" indent="-228600" eaLnBrk="0" hangingPunct="0"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4pPr>
              <a:lvl5pPr marL="2057400" indent="-228600" eaLnBrk="0" hangingPunct="0"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9pPr>
            </a:lstStyle>
            <a:p>
              <a:pPr fontAlgn="auto">
                <a:spcBef>
                  <a:spcPts val="0"/>
                </a:spcBef>
                <a:spcAft>
                  <a:spcPts val="0"/>
                </a:spcAft>
              </a:pPr>
              <a:r>
                <a:rPr lang="en-US" altLang="zh-CN" b="0" dirty="0">
                  <a:solidFill>
                    <a:prstClr val="black"/>
                  </a:solidFill>
                  <a:latin typeface="Arial" pitchFamily="34" charset="0"/>
                  <a:ea typeface="SimHei" panose="02010609060101010101" pitchFamily="49" charset="-122"/>
                </a:rPr>
                <a:t>IF/ID</a:t>
              </a:r>
            </a:p>
          </p:txBody>
        </p:sp>
        <p:sp>
          <p:nvSpPr>
            <p:cNvPr id="92" name="Line 120">
              <a:extLst>
                <a:ext uri="{FF2B5EF4-FFF2-40B4-BE49-F238E27FC236}">
                  <a16:creationId xmlns:a16="http://schemas.microsoft.com/office/drawing/2014/main" id="{C5AEF1DB-0A40-E778-88AE-E6A1B4C550A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843353" y="2940895"/>
              <a:ext cx="0" cy="1388797"/>
            </a:xfrm>
            <a:prstGeom prst="line">
              <a:avLst/>
            </a:prstGeom>
            <a:noFill/>
            <a:ln w="19050">
              <a:solidFill>
                <a:sysClr val="windowText" lastClr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F0502020204030204"/>
                <a:ea typeface="等线" panose="02010600030101010101" pitchFamily="2" charset="-122"/>
              </a:endParaRPr>
            </a:p>
          </p:txBody>
        </p:sp>
        <p:sp>
          <p:nvSpPr>
            <p:cNvPr id="93" name="Line 121">
              <a:extLst>
                <a:ext uri="{FF2B5EF4-FFF2-40B4-BE49-F238E27FC236}">
                  <a16:creationId xmlns:a16="http://schemas.microsoft.com/office/drawing/2014/main" id="{DE4FD621-A8A0-88EB-DFE6-1B291D1B7E3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13473" y="4815770"/>
              <a:ext cx="570411" cy="0"/>
            </a:xfrm>
            <a:prstGeom prst="line">
              <a:avLst/>
            </a:prstGeom>
            <a:noFill/>
            <a:ln w="19050">
              <a:solidFill>
                <a:sysClr val="windowText" lastClr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F0502020204030204"/>
                <a:ea typeface="等线" panose="02010600030101010101" pitchFamily="2" charset="-122"/>
              </a:endParaRPr>
            </a:p>
          </p:txBody>
        </p:sp>
        <p:sp>
          <p:nvSpPr>
            <p:cNvPr id="94" name="Line 122">
              <a:extLst>
                <a:ext uri="{FF2B5EF4-FFF2-40B4-BE49-F238E27FC236}">
                  <a16:creationId xmlns:a16="http://schemas.microsoft.com/office/drawing/2014/main" id="{FFAFDF12-2D20-3E3F-734E-C083476D9C1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35843" y="2524256"/>
              <a:ext cx="1063719" cy="0"/>
            </a:xfrm>
            <a:prstGeom prst="line">
              <a:avLst/>
            </a:prstGeom>
            <a:noFill/>
            <a:ln w="19050">
              <a:solidFill>
                <a:sysClr val="windowText" lastClr="000000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F0502020204030204"/>
                <a:ea typeface="等线" panose="02010600030101010101" pitchFamily="2" charset="-122"/>
              </a:endParaRPr>
            </a:p>
          </p:txBody>
        </p:sp>
        <p:sp>
          <p:nvSpPr>
            <p:cNvPr id="95" name="Line 123">
              <a:extLst>
                <a:ext uri="{FF2B5EF4-FFF2-40B4-BE49-F238E27FC236}">
                  <a16:creationId xmlns:a16="http://schemas.microsoft.com/office/drawing/2014/main" id="{CC76E189-B785-E510-6220-17146280DD0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304485" y="1621538"/>
              <a:ext cx="0" cy="902718"/>
            </a:xfrm>
            <a:prstGeom prst="line">
              <a:avLst/>
            </a:prstGeom>
            <a:noFill/>
            <a:ln w="19050">
              <a:solidFill>
                <a:sysClr val="windowText" lastClr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F0502020204030204"/>
                <a:ea typeface="等线" panose="02010600030101010101" pitchFamily="2" charset="-122"/>
              </a:endParaRPr>
            </a:p>
          </p:txBody>
        </p:sp>
        <p:sp>
          <p:nvSpPr>
            <p:cNvPr id="96" name="Line 124">
              <a:extLst>
                <a:ext uri="{FF2B5EF4-FFF2-40B4-BE49-F238E27FC236}">
                  <a16:creationId xmlns:a16="http://schemas.microsoft.com/office/drawing/2014/main" id="{2B2F4A3C-6D6B-E75E-49EA-466CEAC5C32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027502" y="3037144"/>
              <a:ext cx="0" cy="389829"/>
            </a:xfrm>
            <a:prstGeom prst="line">
              <a:avLst/>
            </a:prstGeom>
            <a:noFill/>
            <a:ln w="19050">
              <a:solidFill>
                <a:sysClr val="windowText" lastClr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F0502020204030204"/>
                <a:ea typeface="等线" panose="02010600030101010101" pitchFamily="2" charset="-122"/>
              </a:endParaRPr>
            </a:p>
          </p:txBody>
        </p:sp>
        <p:sp>
          <p:nvSpPr>
            <p:cNvPr id="97" name="Line 125">
              <a:extLst>
                <a:ext uri="{FF2B5EF4-FFF2-40B4-BE49-F238E27FC236}">
                  <a16:creationId xmlns:a16="http://schemas.microsoft.com/office/drawing/2014/main" id="{3D283AA8-54D5-01A9-3F5E-DC9A057A6E4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06394" y="2246497"/>
              <a:ext cx="0" cy="1458237"/>
            </a:xfrm>
            <a:prstGeom prst="line">
              <a:avLst/>
            </a:prstGeom>
            <a:noFill/>
            <a:ln w="19050">
              <a:solidFill>
                <a:sysClr val="windowText" lastClr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F0502020204030204"/>
                <a:ea typeface="等线" panose="02010600030101010101" pitchFamily="2" charset="-122"/>
              </a:endParaRPr>
            </a:p>
          </p:txBody>
        </p:sp>
        <p:sp>
          <p:nvSpPr>
            <p:cNvPr id="98" name="Rectangle 126">
              <a:extLst>
                <a:ext uri="{FF2B5EF4-FFF2-40B4-BE49-F238E27FC236}">
                  <a16:creationId xmlns:a16="http://schemas.microsoft.com/office/drawing/2014/main" id="{C14BEB78-CB16-ABE7-4B52-C7D71D10B3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55441" y="1966185"/>
              <a:ext cx="151960" cy="3266225"/>
            </a:xfrm>
            <a:prstGeom prst="rect">
              <a:avLst/>
            </a:prstGeom>
            <a:solidFill>
              <a:srgbClr val="A6E2F9"/>
            </a:solidFill>
            <a:ln w="19050">
              <a:solidFill>
                <a:sysClr val="windowText" lastClr="000000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F0502020204030204"/>
                <a:ea typeface="等线" panose="02010600030101010101" pitchFamily="2" charset="-122"/>
              </a:endParaRPr>
            </a:p>
          </p:txBody>
        </p:sp>
        <p:sp>
          <p:nvSpPr>
            <p:cNvPr id="99" name="Oval 127">
              <a:extLst>
                <a:ext uri="{FF2B5EF4-FFF2-40B4-BE49-F238E27FC236}">
                  <a16:creationId xmlns:a16="http://schemas.microsoft.com/office/drawing/2014/main" id="{C8853585-24E5-66BB-076A-B69173493D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16244" y="4607451"/>
              <a:ext cx="810453" cy="416639"/>
            </a:xfrm>
            <a:prstGeom prst="ellipse">
              <a:avLst/>
            </a:prstGeom>
            <a:solidFill>
              <a:sysClr val="window" lastClr="FFFFFF"/>
            </a:solidFill>
            <a:ln w="19050">
              <a:solidFill>
                <a:sysClr val="windowText" lastClr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F0502020204030204"/>
                <a:ea typeface="等线" panose="02010600030101010101" pitchFamily="2" charset="-122"/>
              </a:endParaRPr>
            </a:p>
          </p:txBody>
        </p:sp>
        <p:sp>
          <p:nvSpPr>
            <p:cNvPr id="100" name="Rectangle 128">
              <a:extLst>
                <a:ext uri="{FF2B5EF4-FFF2-40B4-BE49-F238E27FC236}">
                  <a16:creationId xmlns:a16="http://schemas.microsoft.com/office/drawing/2014/main" id="{0C485A68-8547-2D66-4FE9-32DA3C9992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68204" y="4594606"/>
              <a:ext cx="531860" cy="41663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19047" tIns="26984" rIns="19047" bIns="26984"/>
            <a:lstStyle/>
            <a:p>
              <a:pPr algn="ctr" eaLnBrk="0" fontAlgn="auto" hangingPunct="0">
                <a:spcBef>
                  <a:spcPts val="0"/>
                </a:spcBef>
                <a:spcAft>
                  <a:spcPts val="0"/>
                </a:spcAft>
              </a:pPr>
              <a:r>
                <a:rPr lang="en-US" altLang="zh-CN" sz="1200" dirty="0">
                  <a:solidFill>
                    <a:srgbClr val="000000"/>
                  </a:solidFill>
                  <a:latin typeface="Arial" pitchFamily="34" charset="0"/>
                  <a:ea typeface="等线" panose="02010600030101010101" pitchFamily="2" charset="-122"/>
                </a:rPr>
                <a:t>Sign</a:t>
              </a:r>
            </a:p>
            <a:p>
              <a:pPr algn="ctr" eaLnBrk="0" fontAlgn="auto" hangingPunct="0">
                <a:spcBef>
                  <a:spcPts val="0"/>
                </a:spcBef>
                <a:spcAft>
                  <a:spcPts val="0"/>
                </a:spcAft>
              </a:pPr>
              <a:r>
                <a:rPr lang="en-US" altLang="zh-CN" sz="1200" dirty="0">
                  <a:solidFill>
                    <a:srgbClr val="000000"/>
                  </a:solidFill>
                  <a:latin typeface="Arial" pitchFamily="34" charset="0"/>
                  <a:ea typeface="等线" panose="02010600030101010101" pitchFamily="2" charset="-122"/>
                </a:rPr>
                <a:t>Extend</a:t>
              </a:r>
            </a:p>
          </p:txBody>
        </p:sp>
        <p:sp>
          <p:nvSpPr>
            <p:cNvPr id="101" name="Line 129">
              <a:extLst>
                <a:ext uri="{FF2B5EF4-FFF2-40B4-BE49-F238E27FC236}">
                  <a16:creationId xmlns:a16="http://schemas.microsoft.com/office/drawing/2014/main" id="{2205CACD-012C-B261-4D1F-06CE248181A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407400" y="2732575"/>
              <a:ext cx="526419" cy="0"/>
            </a:xfrm>
            <a:prstGeom prst="line">
              <a:avLst/>
            </a:prstGeom>
            <a:noFill/>
            <a:ln w="19050">
              <a:solidFill>
                <a:sysClr val="windowText" lastClr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F0502020204030204"/>
                <a:ea typeface="等线" panose="02010600030101010101" pitchFamily="2" charset="-122"/>
              </a:endParaRPr>
            </a:p>
          </p:txBody>
        </p:sp>
        <p:sp>
          <p:nvSpPr>
            <p:cNvPr id="102" name="Line 130">
              <a:extLst>
                <a:ext uri="{FF2B5EF4-FFF2-40B4-BE49-F238E27FC236}">
                  <a16:creationId xmlns:a16="http://schemas.microsoft.com/office/drawing/2014/main" id="{22F516A5-2420-5FD3-1B4E-6BA5EE96DD4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027502" y="3037145"/>
              <a:ext cx="227940" cy="0"/>
            </a:xfrm>
            <a:prstGeom prst="line">
              <a:avLst/>
            </a:prstGeom>
            <a:noFill/>
            <a:ln w="19050">
              <a:solidFill>
                <a:sysClr val="windowText" lastClr="000000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F0502020204030204"/>
                <a:ea typeface="等线" panose="02010600030101010101" pitchFamily="2" charset="-122"/>
              </a:endParaRPr>
            </a:p>
          </p:txBody>
        </p:sp>
        <p:sp>
          <p:nvSpPr>
            <p:cNvPr id="103" name="Line 131">
              <a:extLst>
                <a:ext uri="{FF2B5EF4-FFF2-40B4-BE49-F238E27FC236}">
                  <a16:creationId xmlns:a16="http://schemas.microsoft.com/office/drawing/2014/main" id="{A9B606E2-51B0-DD75-5C7E-548A7F1042C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407400" y="3037145"/>
              <a:ext cx="835780" cy="0"/>
            </a:xfrm>
            <a:prstGeom prst="line">
              <a:avLst/>
            </a:prstGeom>
            <a:noFill/>
            <a:ln w="19050">
              <a:solidFill>
                <a:sysClr val="windowText" lastClr="000000"/>
              </a:solidFill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F0502020204030204"/>
                <a:ea typeface="等线" panose="02010600030101010101" pitchFamily="2" charset="-122"/>
              </a:endParaRPr>
            </a:p>
          </p:txBody>
        </p:sp>
        <p:sp>
          <p:nvSpPr>
            <p:cNvPr id="104" name="Line 132">
              <a:extLst>
                <a:ext uri="{FF2B5EF4-FFF2-40B4-BE49-F238E27FC236}">
                  <a16:creationId xmlns:a16="http://schemas.microsoft.com/office/drawing/2014/main" id="{11D0544A-57C2-354E-3ADA-32A6BC3629D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483381" y="3774173"/>
              <a:ext cx="0" cy="1041598"/>
            </a:xfrm>
            <a:prstGeom prst="line">
              <a:avLst/>
            </a:prstGeom>
            <a:noFill/>
            <a:ln w="19050">
              <a:solidFill>
                <a:sysClr val="windowText" lastClr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F0502020204030204"/>
                <a:ea typeface="等线" panose="02010600030101010101" pitchFamily="2" charset="-122"/>
              </a:endParaRPr>
            </a:p>
          </p:txBody>
        </p:sp>
        <p:sp>
          <p:nvSpPr>
            <p:cNvPr id="105" name="Text Box 133">
              <a:extLst>
                <a:ext uri="{FF2B5EF4-FFF2-40B4-BE49-F238E27FC236}">
                  <a16:creationId xmlns:a16="http://schemas.microsoft.com/office/drawing/2014/main" id="{ABFD1DE2-A75E-B1E1-C6CD-1248493ACF8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98678" y="1449977"/>
              <a:ext cx="787365" cy="36931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1425" tIns="45713" rIns="91425" bIns="45713">
              <a:spAutoFit/>
            </a:bodyPr>
            <a:lstStyle>
              <a:lvl1pPr eaLnBrk="0" hangingPunct="0"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1pPr>
              <a:lvl2pPr marL="742950" indent="-285750" eaLnBrk="0" hangingPunct="0"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2pPr>
              <a:lvl3pPr marL="1143000" indent="-228600" eaLnBrk="0" hangingPunct="0"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3pPr>
              <a:lvl4pPr marL="1600200" indent="-228600" eaLnBrk="0" hangingPunct="0"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4pPr>
              <a:lvl5pPr marL="2057400" indent="-228600" eaLnBrk="0" hangingPunct="0"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9pPr>
            </a:lstStyle>
            <a:p>
              <a:pPr fontAlgn="auto">
                <a:spcBef>
                  <a:spcPts val="0"/>
                </a:spcBef>
                <a:spcAft>
                  <a:spcPts val="0"/>
                </a:spcAft>
              </a:pPr>
              <a:r>
                <a:rPr lang="en-US" altLang="zh-CN" b="0" dirty="0">
                  <a:solidFill>
                    <a:prstClr val="black"/>
                  </a:solidFill>
                  <a:latin typeface="Arial" pitchFamily="34" charset="0"/>
                  <a:ea typeface="SimHei" panose="02010609060101010101" pitchFamily="49" charset="-122"/>
                </a:rPr>
                <a:t>ID/EX</a:t>
              </a:r>
            </a:p>
          </p:txBody>
        </p:sp>
        <p:sp>
          <p:nvSpPr>
            <p:cNvPr id="106" name="Text Box 134">
              <a:extLst>
                <a:ext uri="{FF2B5EF4-FFF2-40B4-BE49-F238E27FC236}">
                  <a16:creationId xmlns:a16="http://schemas.microsoft.com/office/drawing/2014/main" id="{2684EC96-70EF-3DF9-A01C-FED4C480852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838680" y="1626984"/>
              <a:ext cx="1095141" cy="36931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1425" tIns="45713" rIns="91425" bIns="45713">
              <a:spAutoFit/>
            </a:bodyPr>
            <a:lstStyle>
              <a:lvl1pPr eaLnBrk="0" hangingPunct="0"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1pPr>
              <a:lvl2pPr marL="742950" indent="-285750" eaLnBrk="0" hangingPunct="0"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2pPr>
              <a:lvl3pPr marL="1143000" indent="-228600" eaLnBrk="0" hangingPunct="0"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3pPr>
              <a:lvl4pPr marL="1600200" indent="-228600" eaLnBrk="0" hangingPunct="0"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4pPr>
              <a:lvl5pPr marL="2057400" indent="-228600" eaLnBrk="0" hangingPunct="0"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9pPr>
            </a:lstStyle>
            <a:p>
              <a:pPr fontAlgn="auto">
                <a:spcBef>
                  <a:spcPts val="0"/>
                </a:spcBef>
                <a:spcAft>
                  <a:spcPts val="0"/>
                </a:spcAft>
              </a:pPr>
              <a:r>
                <a:rPr lang="en-US" altLang="zh-CN" b="0" dirty="0">
                  <a:solidFill>
                    <a:prstClr val="black"/>
                  </a:solidFill>
                  <a:latin typeface="Arial" pitchFamily="34" charset="0"/>
                  <a:ea typeface="SimHei" panose="02010609060101010101" pitchFamily="49" charset="-122"/>
                </a:rPr>
                <a:t>EX/MEM</a:t>
              </a:r>
            </a:p>
          </p:txBody>
        </p:sp>
        <p:sp>
          <p:nvSpPr>
            <p:cNvPr id="107" name="Text Box 135">
              <a:extLst>
                <a:ext uri="{FF2B5EF4-FFF2-40B4-BE49-F238E27FC236}">
                  <a16:creationId xmlns:a16="http://schemas.microsoft.com/office/drawing/2014/main" id="{8B88AF78-223A-160E-B190-ADAA2715A0C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575837" y="2330780"/>
              <a:ext cx="1172085" cy="36931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1425" tIns="45713" rIns="91425" bIns="45713">
              <a:spAutoFit/>
            </a:bodyPr>
            <a:lstStyle>
              <a:lvl1pPr eaLnBrk="0" hangingPunct="0"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1pPr>
              <a:lvl2pPr marL="742950" indent="-285750" eaLnBrk="0" hangingPunct="0"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2pPr>
              <a:lvl3pPr marL="1143000" indent="-228600" eaLnBrk="0" hangingPunct="0"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3pPr>
              <a:lvl4pPr marL="1600200" indent="-228600" eaLnBrk="0" hangingPunct="0"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4pPr>
              <a:lvl5pPr marL="2057400" indent="-228600" eaLnBrk="0" hangingPunct="0"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9pPr>
            </a:lstStyle>
            <a:p>
              <a:pPr fontAlgn="auto">
                <a:spcBef>
                  <a:spcPts val="0"/>
                </a:spcBef>
                <a:spcAft>
                  <a:spcPts val="0"/>
                </a:spcAft>
              </a:pPr>
              <a:r>
                <a:rPr lang="en-US" altLang="zh-CN" b="0" dirty="0">
                  <a:solidFill>
                    <a:prstClr val="black"/>
                  </a:solidFill>
                  <a:latin typeface="Arial" pitchFamily="34" charset="0"/>
                  <a:ea typeface="SimHei" panose="02010609060101010101" pitchFamily="49" charset="-122"/>
                </a:rPr>
                <a:t>MEM/WB</a:t>
              </a:r>
            </a:p>
          </p:txBody>
        </p:sp>
        <p:sp>
          <p:nvSpPr>
            <p:cNvPr id="108" name="Line 13">
              <a:extLst>
                <a:ext uri="{FF2B5EF4-FFF2-40B4-BE49-F238E27FC236}">
                  <a16:creationId xmlns:a16="http://schemas.microsoft.com/office/drawing/2014/main" id="{AFA94767-AF0A-6DD6-997B-05EB6DB7DCA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686799" y="3913053"/>
              <a:ext cx="151960" cy="0"/>
            </a:xfrm>
            <a:prstGeom prst="line">
              <a:avLst/>
            </a:prstGeom>
            <a:noFill/>
            <a:ln w="19050">
              <a:solidFill>
                <a:sysClr val="windowText" lastClr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F0502020204030204"/>
                <a:ea typeface="等线" panose="02010600030101010101" pitchFamily="2" charset="-122"/>
              </a:endParaRPr>
            </a:p>
          </p:txBody>
        </p:sp>
        <p:sp>
          <p:nvSpPr>
            <p:cNvPr id="109" name="Line 110">
              <a:extLst>
                <a:ext uri="{FF2B5EF4-FFF2-40B4-BE49-F238E27FC236}">
                  <a16:creationId xmlns:a16="http://schemas.microsoft.com/office/drawing/2014/main" id="{EC430CD9-B342-FAEE-8986-1837A4042C4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35723" y="5093529"/>
              <a:ext cx="0" cy="236873"/>
            </a:xfrm>
            <a:prstGeom prst="line">
              <a:avLst/>
            </a:prstGeom>
            <a:noFill/>
            <a:ln w="19050">
              <a:solidFill>
                <a:sysClr val="windowText" lastClr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F0502020204030204"/>
                <a:ea typeface="等线" panose="02010600030101010101" pitchFamily="2" charset="-122"/>
              </a:endParaRPr>
            </a:p>
          </p:txBody>
        </p:sp>
        <p:sp>
          <p:nvSpPr>
            <p:cNvPr id="110" name="Line 8">
              <a:extLst>
                <a:ext uri="{FF2B5EF4-FFF2-40B4-BE49-F238E27FC236}">
                  <a16:creationId xmlns:a16="http://schemas.microsoft.com/office/drawing/2014/main" id="{27D42031-9C86-1D12-5EAC-3F2D131127A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35723" y="5326892"/>
              <a:ext cx="1747538" cy="0"/>
            </a:xfrm>
            <a:prstGeom prst="line">
              <a:avLst/>
            </a:prstGeom>
            <a:noFill/>
            <a:ln w="19050">
              <a:solidFill>
                <a:sysClr val="windowText" lastClr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F0502020204030204"/>
                <a:ea typeface="等线" panose="02010600030101010101" pitchFamily="2" charset="-122"/>
              </a:endParaRPr>
            </a:p>
          </p:txBody>
        </p:sp>
        <p:sp>
          <p:nvSpPr>
            <p:cNvPr id="111" name="Line 9">
              <a:extLst>
                <a:ext uri="{FF2B5EF4-FFF2-40B4-BE49-F238E27FC236}">
                  <a16:creationId xmlns:a16="http://schemas.microsoft.com/office/drawing/2014/main" id="{562FAC1B-D3E6-610A-44D0-54984713C0C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42201" y="5326892"/>
              <a:ext cx="262057" cy="0"/>
            </a:xfrm>
            <a:prstGeom prst="line">
              <a:avLst/>
            </a:prstGeom>
            <a:noFill/>
            <a:ln w="19050">
              <a:solidFill>
                <a:sysClr val="windowText" lastClr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F0502020204030204"/>
                <a:ea typeface="等线" panose="02010600030101010101" pitchFamily="2" charset="-122"/>
              </a:endParaRPr>
            </a:p>
          </p:txBody>
        </p:sp>
        <p:sp>
          <p:nvSpPr>
            <p:cNvPr id="112" name="AutoShape 67">
              <a:extLst>
                <a:ext uri="{FF2B5EF4-FFF2-40B4-BE49-F238E27FC236}">
                  <a16:creationId xmlns:a16="http://schemas.microsoft.com/office/drawing/2014/main" id="{F8708DC5-FC0A-E418-A354-E76E77D2CF20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6200000">
              <a:off x="4840498" y="5024784"/>
              <a:ext cx="565593" cy="236773"/>
            </a:xfrm>
            <a:custGeom>
              <a:avLst/>
              <a:gdLst>
                <a:gd name="T0" fmla="*/ 9 w 21600"/>
                <a:gd name="T1" fmla="*/ 0 h 21600"/>
                <a:gd name="T2" fmla="*/ 5 w 21600"/>
                <a:gd name="T3" fmla="*/ 1 h 21600"/>
                <a:gd name="T4" fmla="*/ 1 w 21600"/>
                <a:gd name="T5" fmla="*/ 0 h 21600"/>
                <a:gd name="T6" fmla="*/ 5 w 21600"/>
                <a:gd name="T7" fmla="*/ 0 h 21600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4500 w 21600"/>
                <a:gd name="T13" fmla="*/ 4500 h 21600"/>
                <a:gd name="T14" fmla="*/ 17100 w 21600"/>
                <a:gd name="T15" fmla="*/ 17100 h 2160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600" h="21600">
                  <a:moveTo>
                    <a:pt x="0" y="0"/>
                  </a:moveTo>
                  <a:lnTo>
                    <a:pt x="5400" y="21600"/>
                  </a:lnTo>
                  <a:lnTo>
                    <a:pt x="16200" y="21600"/>
                  </a:lnTo>
                  <a:lnTo>
                    <a:pt x="21600" y="0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9050">
              <a:solidFill>
                <a:sysClr val="windowText" lastClr="000000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2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F0502020204030204"/>
                <a:ea typeface="等线" panose="02010600030101010101" pitchFamily="2" charset="-122"/>
              </a:endParaRPr>
            </a:p>
          </p:txBody>
        </p:sp>
        <p:sp>
          <p:nvSpPr>
            <p:cNvPr id="113" name="Rectangle 70">
              <a:extLst>
                <a:ext uri="{FF2B5EF4-FFF2-40B4-BE49-F238E27FC236}">
                  <a16:creationId xmlns:a16="http://schemas.microsoft.com/office/drawing/2014/main" id="{4A64661D-84B3-82E5-B475-7308ADC587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39139" y="5177696"/>
              <a:ext cx="137639" cy="20832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19047" tIns="26984" rIns="19047" bIns="26984"/>
            <a:lstStyle/>
            <a:p>
              <a:pPr algn="ctr" eaLnBrk="0" fontAlgn="auto" hangingPunct="0">
                <a:lnSpc>
                  <a:spcPct val="75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en-US" altLang="zh-CN" sz="1400" dirty="0">
                  <a:solidFill>
                    <a:prstClr val="black"/>
                  </a:solidFill>
                  <a:latin typeface="Arial" pitchFamily="34" charset="0"/>
                  <a:ea typeface="等线" panose="02010600030101010101" pitchFamily="2" charset="-122"/>
                </a:rPr>
                <a:t>1</a:t>
              </a:r>
            </a:p>
          </p:txBody>
        </p:sp>
        <p:sp>
          <p:nvSpPr>
            <p:cNvPr id="114" name="Line 10">
              <a:extLst>
                <a:ext uri="{FF2B5EF4-FFF2-40B4-BE49-F238E27FC236}">
                  <a16:creationId xmlns:a16="http://schemas.microsoft.com/office/drawing/2014/main" id="{4B8DC0D1-7AEB-3776-4226-7DC9FD83638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234753" y="5093529"/>
              <a:ext cx="1008061" cy="0"/>
            </a:xfrm>
            <a:prstGeom prst="line">
              <a:avLst/>
            </a:prstGeom>
            <a:noFill/>
            <a:ln w="19050">
              <a:solidFill>
                <a:sysClr val="windowText" lastClr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F0502020204030204"/>
                <a:ea typeface="等线" panose="02010600030101010101" pitchFamily="2" charset="-122"/>
              </a:endParaRPr>
            </a:p>
          </p:txBody>
        </p:sp>
        <p:sp>
          <p:nvSpPr>
            <p:cNvPr id="115" name="Text Box 30">
              <a:extLst>
                <a:ext uri="{FF2B5EF4-FFF2-40B4-BE49-F238E27FC236}">
                  <a16:creationId xmlns:a16="http://schemas.microsoft.com/office/drawing/2014/main" id="{E93ED953-B613-B2BC-78B2-AEE85F70C1B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663014" y="3367716"/>
              <a:ext cx="500428" cy="27698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1425" tIns="45713" rIns="91425" bIns="45713">
              <a:spAutoFit/>
            </a:bodyPr>
            <a:lstStyle>
              <a:lvl1pPr eaLnBrk="0" hangingPunct="0"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1pPr>
              <a:lvl2pPr marL="742950" indent="-285750" eaLnBrk="0" hangingPunct="0"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2pPr>
              <a:lvl3pPr marL="1143000" indent="-228600" eaLnBrk="0" hangingPunct="0"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3pPr>
              <a:lvl4pPr marL="1600200" indent="-228600" eaLnBrk="0" hangingPunct="0"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4pPr>
              <a:lvl5pPr marL="2057400" indent="-228600" eaLnBrk="0" hangingPunct="0"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9pPr>
            </a:lstStyle>
            <a:p>
              <a:pPr fontAlgn="auto">
                <a:spcBef>
                  <a:spcPts val="0"/>
                </a:spcBef>
                <a:spcAft>
                  <a:spcPts val="0"/>
                </a:spcAft>
              </a:pPr>
              <a:r>
                <a:rPr lang="en-US" altLang="zh-CN" sz="1200" b="0" dirty="0">
                  <a:solidFill>
                    <a:prstClr val="black"/>
                  </a:solidFill>
                  <a:latin typeface="Arial" pitchFamily="34" charset="0"/>
                  <a:ea typeface="SimHei" panose="02010609060101010101" pitchFamily="49" charset="-122"/>
                </a:rPr>
                <a:t>Zero</a:t>
              </a:r>
            </a:p>
          </p:txBody>
        </p:sp>
        <p:sp>
          <p:nvSpPr>
            <p:cNvPr id="116" name="Line 124">
              <a:extLst>
                <a:ext uri="{FF2B5EF4-FFF2-40B4-BE49-F238E27FC236}">
                  <a16:creationId xmlns:a16="http://schemas.microsoft.com/office/drawing/2014/main" id="{976DA7DA-314A-7B92-78DB-AD6A5A8D11C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243180" y="1794328"/>
              <a:ext cx="0" cy="1236577"/>
            </a:xfrm>
            <a:prstGeom prst="line">
              <a:avLst/>
            </a:prstGeom>
            <a:noFill/>
            <a:ln w="19050">
              <a:solidFill>
                <a:sysClr val="windowText" lastClr="000000"/>
              </a:solidFill>
              <a:round/>
              <a:headEnd type="none" w="med" len="med"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F0502020204030204"/>
                <a:ea typeface="等线" panose="02010600030101010101" pitchFamily="2" charset="-122"/>
              </a:endParaRPr>
            </a:p>
          </p:txBody>
        </p:sp>
        <p:sp>
          <p:nvSpPr>
            <p:cNvPr id="117" name="Rectangle 70">
              <a:extLst>
                <a:ext uri="{FF2B5EF4-FFF2-40B4-BE49-F238E27FC236}">
                  <a16:creationId xmlns:a16="http://schemas.microsoft.com/office/drawing/2014/main" id="{10561B78-A5CF-D848-71FC-20B4BEB2F6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3050" y="4958616"/>
              <a:ext cx="137639" cy="18354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19047" tIns="26984" rIns="19047" bIns="26984"/>
            <a:lstStyle/>
            <a:p>
              <a:pPr algn="ctr" eaLnBrk="0" fontAlgn="auto" hangingPunct="0">
                <a:lnSpc>
                  <a:spcPct val="75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en-US" altLang="zh-CN" sz="1400" dirty="0">
                  <a:solidFill>
                    <a:prstClr val="black"/>
                  </a:solidFill>
                  <a:latin typeface="Arial" pitchFamily="34" charset="0"/>
                  <a:ea typeface="等线" panose="02010600030101010101" pitchFamily="2" charset="-122"/>
                </a:rPr>
                <a:t>0</a:t>
              </a:r>
            </a:p>
          </p:txBody>
        </p:sp>
        <p:sp>
          <p:nvSpPr>
            <p:cNvPr id="118" name="Rectangle 70">
              <a:extLst>
                <a:ext uri="{FF2B5EF4-FFF2-40B4-BE49-F238E27FC236}">
                  <a16:creationId xmlns:a16="http://schemas.microsoft.com/office/drawing/2014/main" id="{0EE772EE-E6BF-7D60-89D3-340C565BE8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39380" y="4190812"/>
              <a:ext cx="137639" cy="20832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19047" tIns="26984" rIns="19047" bIns="26984"/>
            <a:lstStyle/>
            <a:p>
              <a:pPr algn="ctr" eaLnBrk="0" fontAlgn="auto" hangingPunct="0">
                <a:lnSpc>
                  <a:spcPct val="75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en-US" altLang="zh-CN" sz="1400" dirty="0">
                  <a:solidFill>
                    <a:prstClr val="black"/>
                  </a:solidFill>
                  <a:latin typeface="Arial" pitchFamily="34" charset="0"/>
                  <a:ea typeface="等线" panose="02010600030101010101" pitchFamily="2" charset="-122"/>
                </a:rPr>
                <a:t>1</a:t>
              </a:r>
            </a:p>
          </p:txBody>
        </p:sp>
        <p:sp>
          <p:nvSpPr>
            <p:cNvPr id="119" name="Rectangle 70">
              <a:extLst>
                <a:ext uri="{FF2B5EF4-FFF2-40B4-BE49-F238E27FC236}">
                  <a16:creationId xmlns:a16="http://schemas.microsoft.com/office/drawing/2014/main" id="{4E7ACFA2-D888-1C41-335D-631A39021D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4337" y="3913052"/>
              <a:ext cx="137639" cy="18354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19047" tIns="26984" rIns="19047" bIns="26984"/>
            <a:lstStyle/>
            <a:p>
              <a:pPr algn="ctr" eaLnBrk="0" fontAlgn="auto" hangingPunct="0">
                <a:lnSpc>
                  <a:spcPct val="75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en-US" altLang="zh-CN" sz="1400" dirty="0">
                  <a:solidFill>
                    <a:prstClr val="black"/>
                  </a:solidFill>
                  <a:latin typeface="Arial" pitchFamily="34" charset="0"/>
                  <a:ea typeface="等线" panose="02010600030101010101" pitchFamily="2" charset="-122"/>
                </a:rPr>
                <a:t>0</a:t>
              </a:r>
            </a:p>
          </p:txBody>
        </p:sp>
        <p:sp>
          <p:nvSpPr>
            <p:cNvPr id="120" name="Rectangle 70">
              <a:extLst>
                <a:ext uri="{FF2B5EF4-FFF2-40B4-BE49-F238E27FC236}">
                  <a16:creationId xmlns:a16="http://schemas.microsoft.com/office/drawing/2014/main" id="{89FDBFF1-253A-CF70-E69A-F2AD350513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34767" y="1292554"/>
              <a:ext cx="137639" cy="20832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19047" tIns="26984" rIns="19047" bIns="26984"/>
            <a:lstStyle/>
            <a:p>
              <a:pPr algn="ctr" eaLnBrk="0" fontAlgn="auto" hangingPunct="0">
                <a:lnSpc>
                  <a:spcPct val="75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en-US" altLang="zh-CN" sz="1400" dirty="0">
                  <a:solidFill>
                    <a:prstClr val="black"/>
                  </a:solidFill>
                  <a:latin typeface="Arial" pitchFamily="34" charset="0"/>
                  <a:ea typeface="等线" panose="02010600030101010101" pitchFamily="2" charset="-122"/>
                </a:rPr>
                <a:t>1</a:t>
              </a:r>
            </a:p>
          </p:txBody>
        </p:sp>
        <p:sp>
          <p:nvSpPr>
            <p:cNvPr id="121" name="Rectangle 70">
              <a:extLst>
                <a:ext uri="{FF2B5EF4-FFF2-40B4-BE49-F238E27FC236}">
                  <a16:creationId xmlns:a16="http://schemas.microsoft.com/office/drawing/2014/main" id="{FC2184B2-D6CA-105A-A635-E7396E95C5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38678" y="1561154"/>
              <a:ext cx="137639" cy="18354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19047" tIns="26984" rIns="19047" bIns="26984"/>
            <a:lstStyle/>
            <a:p>
              <a:pPr algn="ctr" eaLnBrk="0" fontAlgn="auto" hangingPunct="0">
                <a:lnSpc>
                  <a:spcPct val="75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en-US" altLang="zh-CN" sz="1400" dirty="0">
                  <a:solidFill>
                    <a:prstClr val="black"/>
                  </a:solidFill>
                  <a:latin typeface="Arial" pitchFamily="34" charset="0"/>
                  <a:ea typeface="等线" panose="02010600030101010101" pitchFamily="2" charset="-122"/>
                </a:rPr>
                <a:t>0</a:t>
              </a:r>
            </a:p>
          </p:txBody>
        </p:sp>
        <p:sp>
          <p:nvSpPr>
            <p:cNvPr id="122" name="Text Box 32">
              <a:extLst>
                <a:ext uri="{FF2B5EF4-FFF2-40B4-BE49-F238E27FC236}">
                  <a16:creationId xmlns:a16="http://schemas.microsoft.com/office/drawing/2014/main" id="{89C9CD13-7EE6-17CD-7894-2E6BE714663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825656" y="2480153"/>
              <a:ext cx="314479" cy="55635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1425" tIns="45713" rIns="91425" bIns="45713">
              <a:spAutoFit/>
            </a:bodyPr>
            <a:lstStyle>
              <a:lvl1pPr eaLnBrk="0" hangingPunct="0"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1pPr>
              <a:lvl2pPr marL="742950" indent="-285750" eaLnBrk="0" hangingPunct="0"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2pPr>
              <a:lvl3pPr marL="1143000" indent="-228600" eaLnBrk="0" hangingPunct="0"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3pPr>
              <a:lvl4pPr marL="1600200" indent="-228600" eaLnBrk="0" hangingPunct="0"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4pPr>
              <a:lvl5pPr marL="2057400" indent="-228600" eaLnBrk="0" hangingPunct="0"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Tahoma" pitchFamily="34" charset="0"/>
                  <a:ea typeface="宋体" pitchFamily="2" charset="-122"/>
                </a:defRPr>
              </a:lvl9pPr>
            </a:lstStyle>
            <a:p>
              <a:pPr fontAlgn="auto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lang="en-US" altLang="zh-CN" sz="1400" b="0" dirty="0">
                  <a:solidFill>
                    <a:prstClr val="black"/>
                  </a:solidFill>
                  <a:latin typeface="Arial" pitchFamily="34" charset="0"/>
                  <a:ea typeface="SimHei" panose="02010609060101010101" pitchFamily="49" charset="-122"/>
                </a:rPr>
                <a:t>A</a:t>
              </a:r>
            </a:p>
            <a:p>
              <a:pPr fontAlgn="auto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lang="en-US" altLang="zh-CN" sz="1400" b="0" dirty="0">
                  <a:solidFill>
                    <a:prstClr val="black"/>
                  </a:solidFill>
                  <a:latin typeface="Arial" pitchFamily="34" charset="0"/>
                  <a:ea typeface="SimHei" panose="02010609060101010101" pitchFamily="49" charset="-122"/>
                </a:rPr>
                <a:t>D</a:t>
              </a:r>
            </a:p>
            <a:p>
              <a:pPr fontAlgn="auto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lang="en-US" altLang="zh-CN" sz="1400" b="0" dirty="0">
                  <a:solidFill>
                    <a:prstClr val="black"/>
                  </a:solidFill>
                  <a:latin typeface="Arial" pitchFamily="34" charset="0"/>
                  <a:ea typeface="SimHei" panose="02010609060101010101" pitchFamily="49" charset="-122"/>
                </a:rPr>
                <a:t>D</a:t>
              </a:r>
            </a:p>
          </p:txBody>
        </p:sp>
        <p:sp>
          <p:nvSpPr>
            <p:cNvPr id="123" name="Rectangle 70">
              <a:extLst>
                <a:ext uri="{FF2B5EF4-FFF2-40B4-BE49-F238E27FC236}">
                  <a16:creationId xmlns:a16="http://schemas.microsoft.com/office/drawing/2014/main" id="{890CBAF3-B3D2-EADE-5BA7-1242976036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494772" y="3734735"/>
              <a:ext cx="137639" cy="20832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19047" tIns="26984" rIns="19047" bIns="26984"/>
            <a:lstStyle/>
            <a:p>
              <a:pPr algn="ctr" eaLnBrk="0" fontAlgn="auto" hangingPunct="0">
                <a:lnSpc>
                  <a:spcPct val="75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en-US" altLang="zh-CN" sz="1400" dirty="0">
                  <a:solidFill>
                    <a:prstClr val="black"/>
                  </a:solidFill>
                  <a:latin typeface="Arial" pitchFamily="34" charset="0"/>
                  <a:ea typeface="等线" panose="02010600030101010101" pitchFamily="2" charset="-122"/>
                </a:rPr>
                <a:t>1</a:t>
              </a:r>
            </a:p>
          </p:txBody>
        </p:sp>
        <p:sp>
          <p:nvSpPr>
            <p:cNvPr id="124" name="Rectangle 70">
              <a:extLst>
                <a:ext uri="{FF2B5EF4-FFF2-40B4-BE49-F238E27FC236}">
                  <a16:creationId xmlns:a16="http://schemas.microsoft.com/office/drawing/2014/main" id="{4ED12E0F-940A-C3FB-0F49-4F85B7D634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498683" y="4003335"/>
              <a:ext cx="137639" cy="18354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19047" tIns="26984" rIns="19047" bIns="26984"/>
            <a:lstStyle/>
            <a:p>
              <a:pPr algn="ctr" eaLnBrk="0" fontAlgn="auto" hangingPunct="0">
                <a:lnSpc>
                  <a:spcPct val="75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en-US" altLang="zh-CN" sz="1400" dirty="0">
                  <a:solidFill>
                    <a:prstClr val="black"/>
                  </a:solidFill>
                  <a:latin typeface="Arial" pitchFamily="34" charset="0"/>
                  <a:ea typeface="等线" panose="02010600030101010101" pitchFamily="2" charset="-122"/>
                </a:rPr>
                <a:t>0</a:t>
              </a:r>
            </a:p>
          </p:txBody>
        </p:sp>
        <p:sp>
          <p:nvSpPr>
            <p:cNvPr id="125" name="Line 118">
              <a:extLst>
                <a:ext uri="{FF2B5EF4-FFF2-40B4-BE49-F238E27FC236}">
                  <a16:creationId xmlns:a16="http://schemas.microsoft.com/office/drawing/2014/main" id="{016AB477-2148-FB4F-8E59-30A55AC42F0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268069" y="4143847"/>
              <a:ext cx="118182" cy="694398"/>
            </a:xfrm>
            <a:prstGeom prst="line">
              <a:avLst/>
            </a:prstGeom>
            <a:noFill/>
            <a:ln w="28575" cap="rnd">
              <a:solidFill>
                <a:sysClr val="windowText" lastClr="000000"/>
              </a:solidFill>
              <a:prstDash val="sysDot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F0502020204030204"/>
                <a:ea typeface="等线" panose="02010600030101010101" pitchFamily="2" charset="-122"/>
              </a:endParaRPr>
            </a:p>
          </p:txBody>
        </p:sp>
        <p:sp>
          <p:nvSpPr>
            <p:cNvPr id="126" name="Line 118">
              <a:extLst>
                <a:ext uri="{FF2B5EF4-FFF2-40B4-BE49-F238E27FC236}">
                  <a16:creationId xmlns:a16="http://schemas.microsoft.com/office/drawing/2014/main" id="{56270012-2A0D-1F2C-F38D-F23F1CACBAD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078960" y="4121372"/>
              <a:ext cx="151960" cy="694398"/>
            </a:xfrm>
            <a:prstGeom prst="line">
              <a:avLst/>
            </a:prstGeom>
            <a:noFill/>
            <a:ln w="28575" cap="rnd">
              <a:solidFill>
                <a:sysClr val="windowText" lastClr="000000"/>
              </a:solidFill>
              <a:prstDash val="sysDot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F0502020204030204"/>
                <a:ea typeface="等线" panose="02010600030101010101" pitchFamily="2" charset="-122"/>
              </a:endParaRPr>
            </a:p>
          </p:txBody>
        </p:sp>
        <p:sp>
          <p:nvSpPr>
            <p:cNvPr id="127" name="任意多边形: 形状 2">
              <a:extLst>
                <a:ext uri="{FF2B5EF4-FFF2-40B4-BE49-F238E27FC236}">
                  <a16:creationId xmlns:a16="http://schemas.microsoft.com/office/drawing/2014/main" id="{EDCE5FE3-9B57-559C-54A2-D5A80B8CFC88}"/>
                </a:ext>
              </a:extLst>
            </p:cNvPr>
            <p:cNvSpPr/>
            <p:nvPr/>
          </p:nvSpPr>
          <p:spPr>
            <a:xfrm>
              <a:off x="1778065" y="2094312"/>
              <a:ext cx="372209" cy="842010"/>
            </a:xfrm>
            <a:custGeom>
              <a:avLst/>
              <a:gdLst>
                <a:gd name="connsiteX0" fmla="*/ 9525 w 386715"/>
                <a:gd name="connsiteY0" fmla="*/ 0 h 830580"/>
                <a:gd name="connsiteX1" fmla="*/ 386715 w 386715"/>
                <a:gd name="connsiteY1" fmla="*/ 245745 h 830580"/>
                <a:gd name="connsiteX2" fmla="*/ 384810 w 386715"/>
                <a:gd name="connsiteY2" fmla="*/ 579120 h 830580"/>
                <a:gd name="connsiteX3" fmla="*/ 0 w 386715"/>
                <a:gd name="connsiteY3" fmla="*/ 830580 h 830580"/>
                <a:gd name="connsiteX4" fmla="*/ 3810 w 386715"/>
                <a:gd name="connsiteY4" fmla="*/ 497205 h 830580"/>
                <a:gd name="connsiteX5" fmla="*/ 70485 w 386715"/>
                <a:gd name="connsiteY5" fmla="*/ 409575 h 830580"/>
                <a:gd name="connsiteX6" fmla="*/ 3810 w 386715"/>
                <a:gd name="connsiteY6" fmla="*/ 320040 h 830580"/>
                <a:gd name="connsiteX7" fmla="*/ 9525 w 386715"/>
                <a:gd name="connsiteY7" fmla="*/ 0 h 830580"/>
                <a:gd name="connsiteX0" fmla="*/ 9525 w 386715"/>
                <a:gd name="connsiteY0" fmla="*/ 0 h 830580"/>
                <a:gd name="connsiteX1" fmla="*/ 386715 w 386715"/>
                <a:gd name="connsiteY1" fmla="*/ 245745 h 830580"/>
                <a:gd name="connsiteX2" fmla="*/ 384810 w 386715"/>
                <a:gd name="connsiteY2" fmla="*/ 579120 h 830580"/>
                <a:gd name="connsiteX3" fmla="*/ 0 w 386715"/>
                <a:gd name="connsiteY3" fmla="*/ 830580 h 830580"/>
                <a:gd name="connsiteX4" fmla="*/ 3810 w 386715"/>
                <a:gd name="connsiteY4" fmla="*/ 497205 h 830580"/>
                <a:gd name="connsiteX5" fmla="*/ 70485 w 386715"/>
                <a:gd name="connsiteY5" fmla="*/ 409575 h 830580"/>
                <a:gd name="connsiteX6" fmla="*/ 7620 w 386715"/>
                <a:gd name="connsiteY6" fmla="*/ 318135 h 830580"/>
                <a:gd name="connsiteX7" fmla="*/ 9525 w 386715"/>
                <a:gd name="connsiteY7" fmla="*/ 0 h 830580"/>
                <a:gd name="connsiteX0" fmla="*/ 9525 w 386715"/>
                <a:gd name="connsiteY0" fmla="*/ 0 h 830580"/>
                <a:gd name="connsiteX1" fmla="*/ 386715 w 386715"/>
                <a:gd name="connsiteY1" fmla="*/ 245745 h 830580"/>
                <a:gd name="connsiteX2" fmla="*/ 384810 w 386715"/>
                <a:gd name="connsiteY2" fmla="*/ 579120 h 830580"/>
                <a:gd name="connsiteX3" fmla="*/ 0 w 386715"/>
                <a:gd name="connsiteY3" fmla="*/ 830580 h 830580"/>
                <a:gd name="connsiteX4" fmla="*/ 0 w 386715"/>
                <a:gd name="connsiteY4" fmla="*/ 508635 h 830580"/>
                <a:gd name="connsiteX5" fmla="*/ 70485 w 386715"/>
                <a:gd name="connsiteY5" fmla="*/ 409575 h 830580"/>
                <a:gd name="connsiteX6" fmla="*/ 7620 w 386715"/>
                <a:gd name="connsiteY6" fmla="*/ 318135 h 830580"/>
                <a:gd name="connsiteX7" fmla="*/ 9525 w 386715"/>
                <a:gd name="connsiteY7" fmla="*/ 0 h 830580"/>
                <a:gd name="connsiteX0" fmla="*/ 1905 w 386715"/>
                <a:gd name="connsiteY0" fmla="*/ 0 h 842010"/>
                <a:gd name="connsiteX1" fmla="*/ 386715 w 386715"/>
                <a:gd name="connsiteY1" fmla="*/ 257175 h 842010"/>
                <a:gd name="connsiteX2" fmla="*/ 384810 w 386715"/>
                <a:gd name="connsiteY2" fmla="*/ 590550 h 842010"/>
                <a:gd name="connsiteX3" fmla="*/ 0 w 386715"/>
                <a:gd name="connsiteY3" fmla="*/ 842010 h 842010"/>
                <a:gd name="connsiteX4" fmla="*/ 0 w 386715"/>
                <a:gd name="connsiteY4" fmla="*/ 520065 h 842010"/>
                <a:gd name="connsiteX5" fmla="*/ 70485 w 386715"/>
                <a:gd name="connsiteY5" fmla="*/ 421005 h 842010"/>
                <a:gd name="connsiteX6" fmla="*/ 7620 w 386715"/>
                <a:gd name="connsiteY6" fmla="*/ 329565 h 842010"/>
                <a:gd name="connsiteX7" fmla="*/ 1905 w 386715"/>
                <a:gd name="connsiteY7" fmla="*/ 0 h 842010"/>
                <a:gd name="connsiteX0" fmla="*/ 5715 w 390525"/>
                <a:gd name="connsiteY0" fmla="*/ 0 h 842010"/>
                <a:gd name="connsiteX1" fmla="*/ 390525 w 390525"/>
                <a:gd name="connsiteY1" fmla="*/ 257175 h 842010"/>
                <a:gd name="connsiteX2" fmla="*/ 388620 w 390525"/>
                <a:gd name="connsiteY2" fmla="*/ 590550 h 842010"/>
                <a:gd name="connsiteX3" fmla="*/ 3810 w 390525"/>
                <a:gd name="connsiteY3" fmla="*/ 842010 h 842010"/>
                <a:gd name="connsiteX4" fmla="*/ 3810 w 390525"/>
                <a:gd name="connsiteY4" fmla="*/ 520065 h 842010"/>
                <a:gd name="connsiteX5" fmla="*/ 74295 w 390525"/>
                <a:gd name="connsiteY5" fmla="*/ 421005 h 842010"/>
                <a:gd name="connsiteX6" fmla="*/ 0 w 390525"/>
                <a:gd name="connsiteY6" fmla="*/ 327660 h 842010"/>
                <a:gd name="connsiteX7" fmla="*/ 5715 w 390525"/>
                <a:gd name="connsiteY7" fmla="*/ 0 h 842010"/>
                <a:gd name="connsiteX0" fmla="*/ 1905 w 386715"/>
                <a:gd name="connsiteY0" fmla="*/ 0 h 842010"/>
                <a:gd name="connsiteX1" fmla="*/ 386715 w 386715"/>
                <a:gd name="connsiteY1" fmla="*/ 257175 h 842010"/>
                <a:gd name="connsiteX2" fmla="*/ 384810 w 386715"/>
                <a:gd name="connsiteY2" fmla="*/ 590550 h 842010"/>
                <a:gd name="connsiteX3" fmla="*/ 0 w 386715"/>
                <a:gd name="connsiteY3" fmla="*/ 842010 h 842010"/>
                <a:gd name="connsiteX4" fmla="*/ 0 w 386715"/>
                <a:gd name="connsiteY4" fmla="*/ 520065 h 842010"/>
                <a:gd name="connsiteX5" fmla="*/ 70485 w 386715"/>
                <a:gd name="connsiteY5" fmla="*/ 421005 h 842010"/>
                <a:gd name="connsiteX6" fmla="*/ 5715 w 386715"/>
                <a:gd name="connsiteY6" fmla="*/ 327660 h 842010"/>
                <a:gd name="connsiteX7" fmla="*/ 1905 w 386715"/>
                <a:gd name="connsiteY7" fmla="*/ 0 h 842010"/>
                <a:gd name="connsiteX0" fmla="*/ 1905 w 386715"/>
                <a:gd name="connsiteY0" fmla="*/ 0 h 842010"/>
                <a:gd name="connsiteX1" fmla="*/ 386715 w 386715"/>
                <a:gd name="connsiteY1" fmla="*/ 257175 h 842010"/>
                <a:gd name="connsiteX2" fmla="*/ 384810 w 386715"/>
                <a:gd name="connsiteY2" fmla="*/ 590550 h 842010"/>
                <a:gd name="connsiteX3" fmla="*/ 0 w 386715"/>
                <a:gd name="connsiteY3" fmla="*/ 842010 h 842010"/>
                <a:gd name="connsiteX4" fmla="*/ 0 w 386715"/>
                <a:gd name="connsiteY4" fmla="*/ 520065 h 842010"/>
                <a:gd name="connsiteX5" fmla="*/ 70485 w 386715"/>
                <a:gd name="connsiteY5" fmla="*/ 421005 h 842010"/>
                <a:gd name="connsiteX6" fmla="*/ 1905 w 386715"/>
                <a:gd name="connsiteY6" fmla="*/ 327660 h 842010"/>
                <a:gd name="connsiteX7" fmla="*/ 1905 w 386715"/>
                <a:gd name="connsiteY7" fmla="*/ 0 h 8420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6715" h="842010">
                  <a:moveTo>
                    <a:pt x="1905" y="0"/>
                  </a:moveTo>
                  <a:lnTo>
                    <a:pt x="386715" y="257175"/>
                  </a:lnTo>
                  <a:lnTo>
                    <a:pt x="384810" y="590550"/>
                  </a:lnTo>
                  <a:lnTo>
                    <a:pt x="0" y="842010"/>
                  </a:lnTo>
                  <a:lnTo>
                    <a:pt x="0" y="520065"/>
                  </a:lnTo>
                  <a:lnTo>
                    <a:pt x="70485" y="421005"/>
                  </a:lnTo>
                  <a:lnTo>
                    <a:pt x="1905" y="327660"/>
                  </a:lnTo>
                  <a:lnTo>
                    <a:pt x="1905" y="0"/>
                  </a:lnTo>
                  <a:close/>
                </a:path>
              </a:pathLst>
            </a:custGeom>
            <a:noFill/>
            <a:ln w="190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dirty="0"/>
            </a:p>
          </p:txBody>
        </p:sp>
        <p:sp>
          <p:nvSpPr>
            <p:cNvPr id="128" name="任意多边形: 形状 146">
              <a:extLst>
                <a:ext uri="{FF2B5EF4-FFF2-40B4-BE49-F238E27FC236}">
                  <a16:creationId xmlns:a16="http://schemas.microsoft.com/office/drawing/2014/main" id="{0B7BE656-E835-2709-5EC2-A481FD262166}"/>
                </a:ext>
              </a:extLst>
            </p:cNvPr>
            <p:cNvSpPr/>
            <p:nvPr/>
          </p:nvSpPr>
          <p:spPr>
            <a:xfrm>
              <a:off x="5785707" y="2316635"/>
              <a:ext cx="372209" cy="842010"/>
            </a:xfrm>
            <a:custGeom>
              <a:avLst/>
              <a:gdLst>
                <a:gd name="connsiteX0" fmla="*/ 9525 w 386715"/>
                <a:gd name="connsiteY0" fmla="*/ 0 h 830580"/>
                <a:gd name="connsiteX1" fmla="*/ 386715 w 386715"/>
                <a:gd name="connsiteY1" fmla="*/ 245745 h 830580"/>
                <a:gd name="connsiteX2" fmla="*/ 384810 w 386715"/>
                <a:gd name="connsiteY2" fmla="*/ 579120 h 830580"/>
                <a:gd name="connsiteX3" fmla="*/ 0 w 386715"/>
                <a:gd name="connsiteY3" fmla="*/ 830580 h 830580"/>
                <a:gd name="connsiteX4" fmla="*/ 3810 w 386715"/>
                <a:gd name="connsiteY4" fmla="*/ 497205 h 830580"/>
                <a:gd name="connsiteX5" fmla="*/ 70485 w 386715"/>
                <a:gd name="connsiteY5" fmla="*/ 409575 h 830580"/>
                <a:gd name="connsiteX6" fmla="*/ 3810 w 386715"/>
                <a:gd name="connsiteY6" fmla="*/ 320040 h 830580"/>
                <a:gd name="connsiteX7" fmla="*/ 9525 w 386715"/>
                <a:gd name="connsiteY7" fmla="*/ 0 h 830580"/>
                <a:gd name="connsiteX0" fmla="*/ 9525 w 386715"/>
                <a:gd name="connsiteY0" fmla="*/ 0 h 830580"/>
                <a:gd name="connsiteX1" fmla="*/ 386715 w 386715"/>
                <a:gd name="connsiteY1" fmla="*/ 245745 h 830580"/>
                <a:gd name="connsiteX2" fmla="*/ 384810 w 386715"/>
                <a:gd name="connsiteY2" fmla="*/ 579120 h 830580"/>
                <a:gd name="connsiteX3" fmla="*/ 0 w 386715"/>
                <a:gd name="connsiteY3" fmla="*/ 830580 h 830580"/>
                <a:gd name="connsiteX4" fmla="*/ 3810 w 386715"/>
                <a:gd name="connsiteY4" fmla="*/ 497205 h 830580"/>
                <a:gd name="connsiteX5" fmla="*/ 70485 w 386715"/>
                <a:gd name="connsiteY5" fmla="*/ 409575 h 830580"/>
                <a:gd name="connsiteX6" fmla="*/ 7620 w 386715"/>
                <a:gd name="connsiteY6" fmla="*/ 318135 h 830580"/>
                <a:gd name="connsiteX7" fmla="*/ 9525 w 386715"/>
                <a:gd name="connsiteY7" fmla="*/ 0 h 830580"/>
                <a:gd name="connsiteX0" fmla="*/ 9525 w 386715"/>
                <a:gd name="connsiteY0" fmla="*/ 0 h 830580"/>
                <a:gd name="connsiteX1" fmla="*/ 386715 w 386715"/>
                <a:gd name="connsiteY1" fmla="*/ 245745 h 830580"/>
                <a:gd name="connsiteX2" fmla="*/ 384810 w 386715"/>
                <a:gd name="connsiteY2" fmla="*/ 579120 h 830580"/>
                <a:gd name="connsiteX3" fmla="*/ 0 w 386715"/>
                <a:gd name="connsiteY3" fmla="*/ 830580 h 830580"/>
                <a:gd name="connsiteX4" fmla="*/ 0 w 386715"/>
                <a:gd name="connsiteY4" fmla="*/ 508635 h 830580"/>
                <a:gd name="connsiteX5" fmla="*/ 70485 w 386715"/>
                <a:gd name="connsiteY5" fmla="*/ 409575 h 830580"/>
                <a:gd name="connsiteX6" fmla="*/ 7620 w 386715"/>
                <a:gd name="connsiteY6" fmla="*/ 318135 h 830580"/>
                <a:gd name="connsiteX7" fmla="*/ 9525 w 386715"/>
                <a:gd name="connsiteY7" fmla="*/ 0 h 830580"/>
                <a:gd name="connsiteX0" fmla="*/ 1905 w 386715"/>
                <a:gd name="connsiteY0" fmla="*/ 0 h 842010"/>
                <a:gd name="connsiteX1" fmla="*/ 386715 w 386715"/>
                <a:gd name="connsiteY1" fmla="*/ 257175 h 842010"/>
                <a:gd name="connsiteX2" fmla="*/ 384810 w 386715"/>
                <a:gd name="connsiteY2" fmla="*/ 590550 h 842010"/>
                <a:gd name="connsiteX3" fmla="*/ 0 w 386715"/>
                <a:gd name="connsiteY3" fmla="*/ 842010 h 842010"/>
                <a:gd name="connsiteX4" fmla="*/ 0 w 386715"/>
                <a:gd name="connsiteY4" fmla="*/ 520065 h 842010"/>
                <a:gd name="connsiteX5" fmla="*/ 70485 w 386715"/>
                <a:gd name="connsiteY5" fmla="*/ 421005 h 842010"/>
                <a:gd name="connsiteX6" fmla="*/ 7620 w 386715"/>
                <a:gd name="connsiteY6" fmla="*/ 329565 h 842010"/>
                <a:gd name="connsiteX7" fmla="*/ 1905 w 386715"/>
                <a:gd name="connsiteY7" fmla="*/ 0 h 842010"/>
                <a:gd name="connsiteX0" fmla="*/ 5715 w 390525"/>
                <a:gd name="connsiteY0" fmla="*/ 0 h 842010"/>
                <a:gd name="connsiteX1" fmla="*/ 390525 w 390525"/>
                <a:gd name="connsiteY1" fmla="*/ 257175 h 842010"/>
                <a:gd name="connsiteX2" fmla="*/ 388620 w 390525"/>
                <a:gd name="connsiteY2" fmla="*/ 590550 h 842010"/>
                <a:gd name="connsiteX3" fmla="*/ 3810 w 390525"/>
                <a:gd name="connsiteY3" fmla="*/ 842010 h 842010"/>
                <a:gd name="connsiteX4" fmla="*/ 3810 w 390525"/>
                <a:gd name="connsiteY4" fmla="*/ 520065 h 842010"/>
                <a:gd name="connsiteX5" fmla="*/ 74295 w 390525"/>
                <a:gd name="connsiteY5" fmla="*/ 421005 h 842010"/>
                <a:gd name="connsiteX6" fmla="*/ 0 w 390525"/>
                <a:gd name="connsiteY6" fmla="*/ 327660 h 842010"/>
                <a:gd name="connsiteX7" fmla="*/ 5715 w 390525"/>
                <a:gd name="connsiteY7" fmla="*/ 0 h 842010"/>
                <a:gd name="connsiteX0" fmla="*/ 1905 w 386715"/>
                <a:gd name="connsiteY0" fmla="*/ 0 h 842010"/>
                <a:gd name="connsiteX1" fmla="*/ 386715 w 386715"/>
                <a:gd name="connsiteY1" fmla="*/ 257175 h 842010"/>
                <a:gd name="connsiteX2" fmla="*/ 384810 w 386715"/>
                <a:gd name="connsiteY2" fmla="*/ 590550 h 842010"/>
                <a:gd name="connsiteX3" fmla="*/ 0 w 386715"/>
                <a:gd name="connsiteY3" fmla="*/ 842010 h 842010"/>
                <a:gd name="connsiteX4" fmla="*/ 0 w 386715"/>
                <a:gd name="connsiteY4" fmla="*/ 520065 h 842010"/>
                <a:gd name="connsiteX5" fmla="*/ 70485 w 386715"/>
                <a:gd name="connsiteY5" fmla="*/ 421005 h 842010"/>
                <a:gd name="connsiteX6" fmla="*/ 5715 w 386715"/>
                <a:gd name="connsiteY6" fmla="*/ 327660 h 842010"/>
                <a:gd name="connsiteX7" fmla="*/ 1905 w 386715"/>
                <a:gd name="connsiteY7" fmla="*/ 0 h 842010"/>
                <a:gd name="connsiteX0" fmla="*/ 1905 w 386715"/>
                <a:gd name="connsiteY0" fmla="*/ 0 h 842010"/>
                <a:gd name="connsiteX1" fmla="*/ 386715 w 386715"/>
                <a:gd name="connsiteY1" fmla="*/ 257175 h 842010"/>
                <a:gd name="connsiteX2" fmla="*/ 384810 w 386715"/>
                <a:gd name="connsiteY2" fmla="*/ 590550 h 842010"/>
                <a:gd name="connsiteX3" fmla="*/ 0 w 386715"/>
                <a:gd name="connsiteY3" fmla="*/ 842010 h 842010"/>
                <a:gd name="connsiteX4" fmla="*/ 0 w 386715"/>
                <a:gd name="connsiteY4" fmla="*/ 520065 h 842010"/>
                <a:gd name="connsiteX5" fmla="*/ 70485 w 386715"/>
                <a:gd name="connsiteY5" fmla="*/ 421005 h 842010"/>
                <a:gd name="connsiteX6" fmla="*/ 1905 w 386715"/>
                <a:gd name="connsiteY6" fmla="*/ 327660 h 842010"/>
                <a:gd name="connsiteX7" fmla="*/ 1905 w 386715"/>
                <a:gd name="connsiteY7" fmla="*/ 0 h 8420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6715" h="842010">
                  <a:moveTo>
                    <a:pt x="1905" y="0"/>
                  </a:moveTo>
                  <a:lnTo>
                    <a:pt x="386715" y="257175"/>
                  </a:lnTo>
                  <a:lnTo>
                    <a:pt x="384810" y="590550"/>
                  </a:lnTo>
                  <a:lnTo>
                    <a:pt x="0" y="842010"/>
                  </a:lnTo>
                  <a:lnTo>
                    <a:pt x="0" y="520065"/>
                  </a:lnTo>
                  <a:lnTo>
                    <a:pt x="70485" y="421005"/>
                  </a:lnTo>
                  <a:lnTo>
                    <a:pt x="1905" y="327660"/>
                  </a:lnTo>
                  <a:lnTo>
                    <a:pt x="1905" y="0"/>
                  </a:lnTo>
                  <a:close/>
                </a:path>
              </a:pathLst>
            </a:custGeom>
            <a:noFill/>
            <a:ln w="190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dirty="0"/>
            </a:p>
          </p:txBody>
        </p:sp>
      </p:grpSp>
      <p:sp>
        <p:nvSpPr>
          <p:cNvPr id="129" name="内容占位符 2">
            <a:extLst>
              <a:ext uri="{FF2B5EF4-FFF2-40B4-BE49-F238E27FC236}">
                <a16:creationId xmlns:a16="http://schemas.microsoft.com/office/drawing/2014/main" id="{5D9BD6E9-CAD2-9867-CA90-27EEC5EDF0F4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457200" y="1166020"/>
            <a:ext cx="8229600" cy="4525963"/>
          </a:xfrm>
        </p:spPr>
        <p:txBody>
          <a:bodyPr/>
          <a:lstStyle/>
          <a:p>
            <a:r>
              <a:rPr lang="zh-CN" altLang="en-US" sz="2600" dirty="0"/>
              <a:t>以</a:t>
            </a:r>
            <a:r>
              <a:rPr lang="en-US" altLang="zh-CN" sz="2600" dirty="0"/>
              <a:t>t</a:t>
            </a:r>
            <a:r>
              <a:rPr lang="en-US" altLang="zh-CN" sz="2600" baseline="-25000" dirty="0"/>
              <a:t>2</a:t>
            </a:r>
            <a:r>
              <a:rPr lang="zh-CN" altLang="en-US" sz="2600" dirty="0"/>
              <a:t>为例，硬件中的数据转发如下图</a:t>
            </a:r>
            <a:endParaRPr lang="zh-CN" altLang="en-US" dirty="0"/>
          </a:p>
        </p:txBody>
      </p:sp>
      <p:sp>
        <p:nvSpPr>
          <p:cNvPr id="131" name="文本框 130">
            <a:extLst>
              <a:ext uri="{FF2B5EF4-FFF2-40B4-BE49-F238E27FC236}">
                <a16:creationId xmlns:a16="http://schemas.microsoft.com/office/drawing/2014/main" id="{521BD50A-C490-FCA0-D203-D1FEA2027593}"/>
              </a:ext>
            </a:extLst>
          </p:cNvPr>
          <p:cNvSpPr txBox="1"/>
          <p:nvPr/>
        </p:nvSpPr>
        <p:spPr>
          <a:xfrm>
            <a:off x="7487479" y="2812475"/>
            <a:ext cx="437863" cy="4154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eaLnBrk="0" hangingPunct="0"/>
            <a:r>
              <a:rPr lang="en-US" altLang="zh-CN" sz="2100">
                <a:solidFill>
                  <a:srgbClr val="00B0F0"/>
                </a:solidFill>
                <a:latin typeface="Arial" panose="020B0604020202020204" pitchFamily="34" charset="0"/>
                <a:ea typeface="SimHei" panose="02010609060101010101" pitchFamily="49" charset="-122"/>
              </a:rPr>
              <a:t>I1</a:t>
            </a:r>
            <a:endParaRPr lang="zh-CN" altLang="en-US" sz="2100">
              <a:solidFill>
                <a:srgbClr val="00B0F0"/>
              </a:solidFill>
              <a:latin typeface="Arial" panose="020B0604020202020204" pitchFamily="34" charset="0"/>
              <a:ea typeface="SimHei" panose="02010609060101010101" pitchFamily="49" charset="-122"/>
            </a:endParaRPr>
          </a:p>
        </p:txBody>
      </p:sp>
      <p:sp>
        <p:nvSpPr>
          <p:cNvPr id="132" name="文本框 131">
            <a:extLst>
              <a:ext uri="{FF2B5EF4-FFF2-40B4-BE49-F238E27FC236}">
                <a16:creationId xmlns:a16="http://schemas.microsoft.com/office/drawing/2014/main" id="{EDFA9D18-6CAC-64D2-A1CB-307D32F292BF}"/>
              </a:ext>
            </a:extLst>
          </p:cNvPr>
          <p:cNvSpPr txBox="1"/>
          <p:nvPr/>
        </p:nvSpPr>
        <p:spPr>
          <a:xfrm>
            <a:off x="5343268" y="2807119"/>
            <a:ext cx="437863" cy="4154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eaLnBrk="0" hangingPunct="0"/>
            <a:r>
              <a:rPr lang="en-US" altLang="zh-CN" sz="2100">
                <a:solidFill>
                  <a:srgbClr val="00B0F0"/>
                </a:solidFill>
                <a:latin typeface="Arial" panose="020B0604020202020204" pitchFamily="34" charset="0"/>
                <a:ea typeface="SimHei" panose="02010609060101010101" pitchFamily="49" charset="-122"/>
              </a:rPr>
              <a:t>I2</a:t>
            </a:r>
            <a:endParaRPr lang="zh-CN" altLang="en-US" sz="2100">
              <a:solidFill>
                <a:srgbClr val="00B0F0"/>
              </a:solidFill>
              <a:latin typeface="Arial" panose="020B0604020202020204" pitchFamily="34" charset="0"/>
              <a:ea typeface="SimHei" panose="02010609060101010101" pitchFamily="49" charset="-122"/>
            </a:endParaRPr>
          </a:p>
        </p:txBody>
      </p:sp>
      <p:sp>
        <p:nvSpPr>
          <p:cNvPr id="133" name="文本框 132">
            <a:extLst>
              <a:ext uri="{FF2B5EF4-FFF2-40B4-BE49-F238E27FC236}">
                <a16:creationId xmlns:a16="http://schemas.microsoft.com/office/drawing/2014/main" id="{D9B3E616-1D32-016E-90A0-D05ECD18EEC8}"/>
              </a:ext>
            </a:extLst>
          </p:cNvPr>
          <p:cNvSpPr txBox="1"/>
          <p:nvPr/>
        </p:nvSpPr>
        <p:spPr>
          <a:xfrm>
            <a:off x="3616276" y="2829033"/>
            <a:ext cx="437863" cy="4154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eaLnBrk="0" hangingPunct="0"/>
            <a:r>
              <a:rPr lang="en-US" altLang="zh-CN" sz="2100">
                <a:solidFill>
                  <a:srgbClr val="00B0F0"/>
                </a:solidFill>
                <a:latin typeface="Arial" panose="020B0604020202020204" pitchFamily="34" charset="0"/>
                <a:ea typeface="SimHei" panose="02010609060101010101" pitchFamily="49" charset="-122"/>
              </a:rPr>
              <a:t>I3</a:t>
            </a:r>
            <a:endParaRPr lang="zh-CN" altLang="en-US" sz="2100">
              <a:solidFill>
                <a:srgbClr val="00B0F0"/>
              </a:solidFill>
              <a:latin typeface="Arial" panose="020B0604020202020204" pitchFamily="34" charset="0"/>
              <a:ea typeface="SimHei" panose="02010609060101010101" pitchFamily="49" charset="-122"/>
            </a:endParaRPr>
          </a:p>
        </p:txBody>
      </p:sp>
      <p:sp>
        <p:nvSpPr>
          <p:cNvPr id="134" name="文本框 133">
            <a:extLst>
              <a:ext uri="{FF2B5EF4-FFF2-40B4-BE49-F238E27FC236}">
                <a16:creationId xmlns:a16="http://schemas.microsoft.com/office/drawing/2014/main" id="{68909055-C64F-6CB2-B415-29160B417221}"/>
              </a:ext>
            </a:extLst>
          </p:cNvPr>
          <p:cNvSpPr txBox="1"/>
          <p:nvPr/>
        </p:nvSpPr>
        <p:spPr>
          <a:xfrm>
            <a:off x="1611361" y="2469562"/>
            <a:ext cx="437863" cy="4154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eaLnBrk="0" hangingPunct="0"/>
            <a:r>
              <a:rPr lang="en-US" altLang="zh-CN" sz="2100">
                <a:solidFill>
                  <a:srgbClr val="00B0F0"/>
                </a:solidFill>
                <a:latin typeface="Arial" panose="020B0604020202020204" pitchFamily="34" charset="0"/>
                <a:ea typeface="SimHei" panose="02010609060101010101" pitchFamily="49" charset="-122"/>
              </a:rPr>
              <a:t>I4</a:t>
            </a:r>
            <a:endParaRPr lang="zh-CN" altLang="en-US" sz="2100">
              <a:solidFill>
                <a:srgbClr val="00B0F0"/>
              </a:solidFill>
              <a:latin typeface="Arial" panose="020B0604020202020204" pitchFamily="34" charset="0"/>
              <a:ea typeface="SimHei" panose="02010609060101010101" pitchFamily="49" charset="-122"/>
            </a:endParaRPr>
          </a:p>
        </p:txBody>
      </p:sp>
      <p:sp>
        <p:nvSpPr>
          <p:cNvPr id="138" name="椭圆 137">
            <a:extLst>
              <a:ext uri="{FF2B5EF4-FFF2-40B4-BE49-F238E27FC236}">
                <a16:creationId xmlns:a16="http://schemas.microsoft.com/office/drawing/2014/main" id="{63122AFC-4577-8FFF-27AB-A782DB79D724}"/>
              </a:ext>
            </a:extLst>
          </p:cNvPr>
          <p:cNvSpPr/>
          <p:nvPr/>
        </p:nvSpPr>
        <p:spPr>
          <a:xfrm>
            <a:off x="7369992" y="2781225"/>
            <a:ext cx="613727" cy="446700"/>
          </a:xfrm>
          <a:prstGeom prst="ellipse">
            <a:avLst/>
          </a:prstGeom>
          <a:noFill/>
          <a:ln>
            <a:solidFill>
              <a:srgbClr val="0099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zh-CN" altLang="en-US">
              <a:solidFill>
                <a:srgbClr val="00B050"/>
              </a:solidFill>
            </a:endParaRPr>
          </a:p>
        </p:txBody>
      </p:sp>
      <p:cxnSp>
        <p:nvCxnSpPr>
          <p:cNvPr id="139" name="直线箭头连接符 138">
            <a:extLst>
              <a:ext uri="{FF2B5EF4-FFF2-40B4-BE49-F238E27FC236}">
                <a16:creationId xmlns:a16="http://schemas.microsoft.com/office/drawing/2014/main" id="{F24D67BF-38CC-56C3-6B78-53D61F8CE3F5}"/>
              </a:ext>
            </a:extLst>
          </p:cNvPr>
          <p:cNvCxnSpPr>
            <a:cxnSpLocks/>
            <a:stCxn id="138" idx="2"/>
            <a:endCxn id="149" idx="6"/>
          </p:cNvCxnSpPr>
          <p:nvPr/>
        </p:nvCxnSpPr>
        <p:spPr>
          <a:xfrm flipH="1">
            <a:off x="5866069" y="3004575"/>
            <a:ext cx="1503923" cy="5364"/>
          </a:xfrm>
          <a:prstGeom prst="straightConnector1">
            <a:avLst/>
          </a:prstGeom>
          <a:ln w="19050">
            <a:solidFill>
              <a:srgbClr val="0099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5" name="Text Box 119">
            <a:extLst>
              <a:ext uri="{FF2B5EF4-FFF2-40B4-BE49-F238E27FC236}">
                <a16:creationId xmlns:a16="http://schemas.microsoft.com/office/drawing/2014/main" id="{F5BB5EE8-0075-C132-EFB7-DE068AC211A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662241" y="2967472"/>
            <a:ext cx="655919" cy="36931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1425" tIns="45713" rIns="91425" bIns="45713">
            <a:spAutoFit/>
          </a:bodyPr>
          <a:lstStyle>
            <a:lvl1pPr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1pPr>
            <a:lvl2pPr marL="742950" indent="-28575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2pPr>
            <a:lvl3pPr marL="11430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3pPr>
            <a:lvl4pPr marL="16002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4pPr>
            <a:lvl5pPr marL="20574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9pPr>
          </a:lstStyle>
          <a:p>
            <a:pPr fontAlgn="auto">
              <a:spcBef>
                <a:spcPts val="0"/>
              </a:spcBef>
              <a:spcAft>
                <a:spcPts val="0"/>
              </a:spcAft>
            </a:pPr>
            <a:r>
              <a:rPr lang="zh-CN" altLang="en-US" dirty="0">
                <a:solidFill>
                  <a:srgbClr val="009900"/>
                </a:solidFill>
                <a:latin typeface="+mn-lt"/>
                <a:ea typeface="+mn-ea"/>
              </a:rPr>
              <a:t>转发</a:t>
            </a:r>
            <a:endParaRPr lang="en-US" altLang="zh-CN" dirty="0">
              <a:solidFill>
                <a:srgbClr val="009900"/>
              </a:solidFill>
              <a:latin typeface="+mn-lt"/>
              <a:ea typeface="+mn-ea"/>
            </a:endParaRPr>
          </a:p>
        </p:txBody>
      </p:sp>
      <p:sp>
        <p:nvSpPr>
          <p:cNvPr id="149" name="椭圆 148">
            <a:extLst>
              <a:ext uri="{FF2B5EF4-FFF2-40B4-BE49-F238E27FC236}">
                <a16:creationId xmlns:a16="http://schemas.microsoft.com/office/drawing/2014/main" id="{A7C1614E-AFF1-02BE-AE90-DF2B702349FF}"/>
              </a:ext>
            </a:extLst>
          </p:cNvPr>
          <p:cNvSpPr/>
          <p:nvPr/>
        </p:nvSpPr>
        <p:spPr>
          <a:xfrm>
            <a:off x="5252342" y="2786589"/>
            <a:ext cx="613727" cy="446700"/>
          </a:xfrm>
          <a:prstGeom prst="ellipse">
            <a:avLst/>
          </a:prstGeom>
          <a:noFill/>
          <a:ln>
            <a:solidFill>
              <a:srgbClr val="0099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zh-CN" altLang="en-US">
              <a:solidFill>
                <a:srgbClr val="00B050"/>
              </a:solidFill>
            </a:endParaRPr>
          </a:p>
        </p:txBody>
      </p:sp>
      <p:sp>
        <p:nvSpPr>
          <p:cNvPr id="130" name="文本框 129">
            <a:extLst>
              <a:ext uri="{FF2B5EF4-FFF2-40B4-BE49-F238E27FC236}">
                <a16:creationId xmlns:a16="http://schemas.microsoft.com/office/drawing/2014/main" id="{7A564DE2-28E3-25E6-BF68-85623CF43E4A}"/>
              </a:ext>
            </a:extLst>
          </p:cNvPr>
          <p:cNvSpPr txBox="1"/>
          <p:nvPr/>
        </p:nvSpPr>
        <p:spPr>
          <a:xfrm>
            <a:off x="7332628" y="2114246"/>
            <a:ext cx="1639375" cy="64633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zh-CN" altLang="en-US" b="1" dirty="0">
                <a:solidFill>
                  <a:srgbClr val="009900"/>
                </a:solidFill>
                <a:latin typeface="+mn-lt"/>
                <a:ea typeface="+mn-ea"/>
              </a:rPr>
              <a:t>数据已有，尚未写入寄存器</a:t>
            </a:r>
            <a:endParaRPr lang="zh-CN" altLang="en-US" b="1">
              <a:solidFill>
                <a:srgbClr val="009900"/>
              </a:solidFill>
              <a:latin typeface="+mn-lt"/>
              <a:ea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1291154383"/>
      </p:ext>
    </p:extLst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>
            <a:extLst>
              <a:ext uri="{FF2B5EF4-FFF2-40B4-BE49-F238E27FC236}">
                <a16:creationId xmlns:a16="http://schemas.microsoft.com/office/drawing/2014/main" id="{745E8172-3E9B-485A-9F74-7D8B300826E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dirty="0"/>
              <a:t>寄存器数据冒险</a:t>
            </a:r>
            <a:r>
              <a:rPr lang="en-US" altLang="zh-CN" dirty="0"/>
              <a:t>-</a:t>
            </a:r>
            <a:r>
              <a:rPr lang="zh-CN" altLang="en-US" dirty="0"/>
              <a:t>解决方案</a:t>
            </a:r>
            <a:r>
              <a:rPr lang="en-US" altLang="zh-CN" dirty="0"/>
              <a:t>-2</a:t>
            </a:r>
            <a:endParaRPr lang="zh-CN" altLang="en-US" dirty="0"/>
          </a:p>
        </p:txBody>
      </p:sp>
      <p:sp>
        <p:nvSpPr>
          <p:cNvPr id="3" name="内容占位符 2">
            <a:extLst>
              <a:ext uri="{FF2B5EF4-FFF2-40B4-BE49-F238E27FC236}">
                <a16:creationId xmlns:a16="http://schemas.microsoft.com/office/drawing/2014/main" id="{3AEA1F94-CA3A-440F-90E0-9779F8495D03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457200" y="1166020"/>
            <a:ext cx="8819804" cy="1660307"/>
          </a:xfrm>
        </p:spPr>
        <p:txBody>
          <a:bodyPr/>
          <a:lstStyle/>
          <a:p>
            <a:r>
              <a:rPr lang="en-US" altLang="zh-CN" sz="2400" dirty="0"/>
              <a:t>ALU</a:t>
            </a:r>
            <a:r>
              <a:rPr lang="zh-CN" altLang="en-US" sz="2400" dirty="0"/>
              <a:t>操作数可能来自</a:t>
            </a:r>
            <a:r>
              <a:rPr lang="en-US" altLang="zh-CN" sz="2400" dirty="0">
                <a:solidFill>
                  <a:srgbClr val="0070C0"/>
                </a:solidFill>
              </a:rPr>
              <a:t>EX/</a:t>
            </a:r>
            <a:r>
              <a:rPr lang="en-US" altLang="zh-CN" sz="2400" dirty="0" err="1">
                <a:solidFill>
                  <a:srgbClr val="0070C0"/>
                </a:solidFill>
              </a:rPr>
              <a:t>MEM.ALUOut</a:t>
            </a:r>
            <a:r>
              <a:rPr lang="zh-CN" altLang="en-US" sz="2400" dirty="0"/>
              <a:t>或</a:t>
            </a:r>
            <a:r>
              <a:rPr lang="en-US" altLang="zh-CN" sz="2400" dirty="0">
                <a:solidFill>
                  <a:srgbClr val="009900"/>
                </a:solidFill>
              </a:rPr>
              <a:t>MEM/</a:t>
            </a:r>
            <a:r>
              <a:rPr lang="en-US" altLang="zh-CN" sz="2400" dirty="0" err="1">
                <a:solidFill>
                  <a:srgbClr val="009900"/>
                </a:solidFill>
              </a:rPr>
              <a:t>WB.ALUOut</a:t>
            </a:r>
            <a:endParaRPr lang="en-US" altLang="zh-CN" sz="2400" dirty="0">
              <a:solidFill>
                <a:srgbClr val="009900"/>
              </a:solidFill>
            </a:endParaRPr>
          </a:p>
          <a:p>
            <a:pPr lvl="1"/>
            <a:r>
              <a:rPr lang="en-US" altLang="zh-CN" sz="2000" dirty="0">
                <a:solidFill>
                  <a:srgbClr val="0070C0"/>
                </a:solidFill>
              </a:rPr>
              <a:t>EX/</a:t>
            </a:r>
            <a:r>
              <a:rPr lang="en-US" altLang="zh-CN" sz="2000" dirty="0" err="1">
                <a:solidFill>
                  <a:srgbClr val="0070C0"/>
                </a:solidFill>
              </a:rPr>
              <a:t>MEM.ALUOut</a:t>
            </a:r>
            <a:r>
              <a:rPr lang="zh-CN" altLang="en-US" sz="2000" dirty="0"/>
              <a:t>来自上一条指令</a:t>
            </a:r>
            <a:endParaRPr lang="en-US" altLang="zh-CN" sz="2000" dirty="0"/>
          </a:p>
          <a:p>
            <a:pPr lvl="1"/>
            <a:r>
              <a:rPr lang="en-US" altLang="zh-CN" sz="2000" dirty="0">
                <a:solidFill>
                  <a:srgbClr val="009900"/>
                </a:solidFill>
              </a:rPr>
              <a:t>MEM/</a:t>
            </a:r>
            <a:r>
              <a:rPr lang="en-US" altLang="zh-CN" sz="2000" dirty="0" err="1">
                <a:solidFill>
                  <a:srgbClr val="009900"/>
                </a:solidFill>
              </a:rPr>
              <a:t>WB.ALUOut</a:t>
            </a:r>
            <a:r>
              <a:rPr lang="zh-CN" altLang="en-US" sz="2000" dirty="0"/>
              <a:t>来自上上条指令</a:t>
            </a:r>
          </a:p>
        </p:txBody>
      </p:sp>
      <p:sp>
        <p:nvSpPr>
          <p:cNvPr id="4" name="灯片编号占位符 3">
            <a:extLst>
              <a:ext uri="{FF2B5EF4-FFF2-40B4-BE49-F238E27FC236}">
                <a16:creationId xmlns:a16="http://schemas.microsoft.com/office/drawing/2014/main" id="{D2FCCCF9-66F6-41C7-A762-0358F404D24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0626FCE3-5FF9-430D-BA0B-DE80AAE71673}" type="slidenum">
              <a:rPr lang="zh-CN" altLang="en-US" smtClean="0"/>
              <a:t>25</a:t>
            </a:fld>
            <a:endParaRPr lang="zh-CN" altLang="en-US"/>
          </a:p>
        </p:txBody>
      </p:sp>
      <p:graphicFrame>
        <p:nvGraphicFramePr>
          <p:cNvPr id="5" name="内容占位符 3">
            <a:extLst>
              <a:ext uri="{FF2B5EF4-FFF2-40B4-BE49-F238E27FC236}">
                <a16:creationId xmlns:a16="http://schemas.microsoft.com/office/drawing/2014/main" id="{472129B3-E12B-4254-BEDD-6BDE652CD413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2026883482"/>
              </p:ext>
            </p:extLst>
          </p:nvPr>
        </p:nvGraphicFramePr>
        <p:xfrm>
          <a:off x="289559" y="2511137"/>
          <a:ext cx="8613141" cy="3972213"/>
        </p:xfrm>
        <a:graphic>
          <a:graphicData uri="http://schemas.openxmlformats.org/drawingml/2006/table">
            <a:tbl>
              <a:tblPr firstRow="1" bandRow="1">
                <a:tableStyleId>{E8B1032C-EA38-4F05-BA0D-38AFFFC7BED3}</a:tableStyleId>
              </a:tblPr>
              <a:tblGrid>
                <a:gridCol w="106069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8811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888112">
                  <a:extLst>
                    <a:ext uri="{9D8B030D-6E8A-4147-A177-3AD203B41FA5}">
                      <a16:colId xmlns:a16="http://schemas.microsoft.com/office/drawing/2014/main" val="1851298935"/>
                    </a:ext>
                  </a:extLst>
                </a:gridCol>
                <a:gridCol w="1888112">
                  <a:extLst>
                    <a:ext uri="{9D8B030D-6E8A-4147-A177-3AD203B41FA5}">
                      <a16:colId xmlns:a16="http://schemas.microsoft.com/office/drawing/2014/main" val="496824974"/>
                    </a:ext>
                  </a:extLst>
                </a:gridCol>
                <a:gridCol w="188811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503605">
                <a:tc>
                  <a:txBody>
                    <a:bodyPr/>
                    <a:lstStyle/>
                    <a:p>
                      <a:pPr algn="ctr"/>
                      <a:r>
                        <a:rPr lang="zh-CN" altLang="en-US" sz="2000" dirty="0"/>
                        <a:t>流水线</a:t>
                      </a:r>
                    </a:p>
                  </a:txBody>
                  <a:tcPr marL="36000" marR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4C6E7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2000" dirty="0"/>
                        <a:t>R</a:t>
                      </a:r>
                      <a:r>
                        <a:rPr lang="zh-CN" altLang="en-US" sz="2000" dirty="0"/>
                        <a:t>类型</a:t>
                      </a:r>
                    </a:p>
                  </a:txBody>
                  <a:tcPr marL="36000" marR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4C6E7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CN" altLang="en-US" sz="2000" dirty="0"/>
                        <a:t>读存储器</a:t>
                      </a:r>
                    </a:p>
                  </a:txBody>
                  <a:tcPr marL="36000" marR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4C6E7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CN" altLang="en-US" sz="2000" dirty="0"/>
                        <a:t>写存储器</a:t>
                      </a:r>
                    </a:p>
                  </a:txBody>
                  <a:tcPr marL="36000" marR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4C6E7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CN" altLang="en-US" sz="2000" dirty="0"/>
                        <a:t>分支</a:t>
                      </a:r>
                    </a:p>
                  </a:txBody>
                  <a:tcPr marL="36000" marR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4C6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26127"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600" dirty="0"/>
                        <a:t>IF</a:t>
                      </a:r>
                    </a:p>
                  </a:txBody>
                  <a:tcPr marL="36000" marR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4">
                  <a:txBody>
                    <a:bodyPr/>
                    <a:lstStyle/>
                    <a:p>
                      <a:pPr algn="ctr"/>
                      <a:r>
                        <a:rPr lang="en-US" altLang="zh-CN" sz="1600" dirty="0"/>
                        <a:t>IR </a:t>
                      </a:r>
                      <a:r>
                        <a:rPr lang="en-US" altLang="zh-CN" sz="1600" dirty="0">
                          <a:sym typeface="Symbol"/>
                        </a:rPr>
                        <a:t>&lt;= </a:t>
                      </a:r>
                      <a:r>
                        <a:rPr lang="en-US" altLang="zh-CN" sz="1600" dirty="0" err="1"/>
                        <a:t>MemInst</a:t>
                      </a:r>
                      <a:r>
                        <a:rPr lang="en-US" altLang="zh-CN" sz="1600" dirty="0"/>
                        <a:t>[PC];  PC </a:t>
                      </a:r>
                      <a:r>
                        <a:rPr lang="en-US" altLang="zh-CN" sz="1600" dirty="0">
                          <a:sym typeface="Symbol"/>
                        </a:rPr>
                        <a:t>&lt;= PC+4</a:t>
                      </a:r>
                      <a:endParaRPr lang="en-US" altLang="zh-CN" sz="1600" dirty="0"/>
                    </a:p>
                  </a:txBody>
                  <a:tcPr marL="36000" marR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zh-CN" altLang="en-US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>
                  <a:txBody>
                    <a:bodyPr/>
                    <a:lstStyle/>
                    <a:p>
                      <a:endParaRPr lang="zh-CN" altLang="en-US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>
                  <a:txBody>
                    <a:bodyPr/>
                    <a:lstStyle/>
                    <a:p>
                      <a:endParaRPr lang="zh-CN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426127">
                <a:tc>
                  <a:txBody>
                    <a:bodyPr/>
                    <a:lstStyle/>
                    <a:p>
                      <a:pPr marL="0" marR="0" lvl="1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CN" sz="1600" dirty="0"/>
                        <a:t>ID</a:t>
                      </a:r>
                    </a:p>
                  </a:txBody>
                  <a:tcPr marL="36000" marR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4">
                  <a:txBody>
                    <a:bodyPr/>
                    <a:lstStyle/>
                    <a:p>
                      <a:pPr marL="0" marR="0" lvl="1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CN" sz="1600" dirty="0"/>
                        <a:t>op </a:t>
                      </a:r>
                      <a:r>
                        <a:rPr lang="en-US" altLang="zh-CN" sz="1600" dirty="0">
                          <a:sym typeface="Symbol"/>
                        </a:rPr>
                        <a:t>&lt;= </a:t>
                      </a:r>
                      <a:r>
                        <a:rPr lang="en-US" altLang="zh-CN" sz="1600" dirty="0"/>
                        <a:t>IR[31:26]; A </a:t>
                      </a:r>
                      <a:r>
                        <a:rPr lang="en-US" altLang="zh-CN" sz="1600" dirty="0">
                          <a:sym typeface="Symbol"/>
                        </a:rPr>
                        <a:t>&lt;= </a:t>
                      </a:r>
                      <a:r>
                        <a:rPr lang="en-US" altLang="zh-CN" sz="1600" dirty="0"/>
                        <a:t>Reg[IR[25:21]]; B </a:t>
                      </a:r>
                      <a:r>
                        <a:rPr lang="en-US" altLang="zh-CN" sz="1600" dirty="0">
                          <a:sym typeface="Symbol"/>
                        </a:rPr>
                        <a:t>&lt;= </a:t>
                      </a:r>
                      <a:r>
                        <a:rPr lang="en-US" altLang="zh-CN" sz="1600" dirty="0"/>
                        <a:t>Reg[IR[20:16]]; </a:t>
                      </a:r>
                    </a:p>
                  </a:txBody>
                  <a:tcPr marL="36000" marR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zh-CN" altLang="en-US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zh-CN" altLang="en-US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pPr marL="0" marR="0" lvl="1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zh-CN" sz="1600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045949"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600" dirty="0"/>
                        <a:t>EX</a:t>
                      </a:r>
                    </a:p>
                  </a:txBody>
                  <a:tcPr marL="36000" marR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600" dirty="0" err="1"/>
                        <a:t>ALUOut</a:t>
                      </a:r>
                      <a:r>
                        <a:rPr lang="en-US" altLang="zh-CN" sz="1600" dirty="0"/>
                        <a:t> </a:t>
                      </a:r>
                      <a:r>
                        <a:rPr lang="en-US" altLang="zh-CN" sz="1600" dirty="0">
                          <a:sym typeface="Symbol"/>
                        </a:rPr>
                        <a:t>&lt;= </a:t>
                      </a:r>
                      <a:r>
                        <a:rPr lang="en-US" altLang="zh-CN" sz="1600" dirty="0"/>
                        <a:t>A op B</a:t>
                      </a:r>
                    </a:p>
                    <a:p>
                      <a:pPr algn="ctr"/>
                      <a:r>
                        <a:rPr lang="en-US" altLang="zh-CN" sz="1600" b="1" dirty="0">
                          <a:solidFill>
                            <a:srgbClr val="0070C0"/>
                          </a:solidFill>
                        </a:rPr>
                        <a:t>EX/</a:t>
                      </a:r>
                      <a:r>
                        <a:rPr lang="en-US" altLang="zh-CN" sz="1600" b="1" dirty="0" err="1">
                          <a:solidFill>
                            <a:srgbClr val="0070C0"/>
                          </a:solidFill>
                        </a:rPr>
                        <a:t>MEM.ALUOut</a:t>
                      </a:r>
                      <a:endParaRPr lang="en-US" altLang="zh-CN" sz="1600" b="1" dirty="0">
                        <a:solidFill>
                          <a:srgbClr val="0070C0"/>
                        </a:solidFill>
                      </a:endParaRPr>
                    </a:p>
                    <a:p>
                      <a:pPr algn="ctr"/>
                      <a:r>
                        <a:rPr lang="en-US" altLang="zh-CN" sz="1600" b="1" dirty="0">
                          <a:solidFill>
                            <a:srgbClr val="009900"/>
                          </a:solidFill>
                        </a:rPr>
                        <a:t>MEM/</a:t>
                      </a:r>
                      <a:r>
                        <a:rPr lang="en-US" altLang="zh-CN" sz="1600" b="1" dirty="0" err="1">
                          <a:solidFill>
                            <a:srgbClr val="009900"/>
                          </a:solidFill>
                        </a:rPr>
                        <a:t>WB.ALUOut</a:t>
                      </a:r>
                      <a:endParaRPr lang="en-US" altLang="zh-CN" sz="1600" b="1" dirty="0">
                        <a:solidFill>
                          <a:srgbClr val="009900"/>
                        </a:solidFill>
                      </a:endParaRPr>
                    </a:p>
                  </a:txBody>
                  <a:tcPr marL="36000" marR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2"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CN" sz="1600" dirty="0" err="1"/>
                        <a:t>ALUOut</a:t>
                      </a:r>
                      <a:r>
                        <a:rPr lang="en-US" altLang="zh-CN" sz="1600" dirty="0"/>
                        <a:t> </a:t>
                      </a:r>
                      <a:r>
                        <a:rPr lang="en-US" altLang="zh-CN" sz="1600" dirty="0">
                          <a:sym typeface="Symbol"/>
                        </a:rPr>
                        <a:t>&lt;= </a:t>
                      </a:r>
                      <a:r>
                        <a:rPr lang="en-US" altLang="zh-CN" sz="1600" dirty="0"/>
                        <a:t>A + </a:t>
                      </a:r>
                      <a:r>
                        <a:rPr lang="en-US" altLang="zh-CN" sz="1600" dirty="0" err="1"/>
                        <a:t>signext</a:t>
                      </a:r>
                      <a:r>
                        <a:rPr lang="en-US" altLang="zh-CN" sz="1600" dirty="0"/>
                        <a:t>(IR[15:0])</a:t>
                      </a: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CN" sz="1600" b="1" dirty="0">
                          <a:solidFill>
                            <a:srgbClr val="0070C0"/>
                          </a:solidFill>
                        </a:rPr>
                        <a:t>EX/</a:t>
                      </a:r>
                      <a:r>
                        <a:rPr lang="en-US" altLang="zh-CN" sz="1600" b="1" dirty="0" err="1">
                          <a:solidFill>
                            <a:srgbClr val="0070C0"/>
                          </a:solidFill>
                        </a:rPr>
                        <a:t>MEM.ALUOut</a:t>
                      </a:r>
                      <a:endParaRPr lang="en-US" altLang="zh-CN" sz="1600" b="1" dirty="0">
                        <a:solidFill>
                          <a:srgbClr val="0070C0"/>
                        </a:solidFill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CN" sz="1600" b="1" dirty="0">
                          <a:solidFill>
                            <a:srgbClr val="009900"/>
                          </a:solidFill>
                        </a:rPr>
                        <a:t>MEM/</a:t>
                      </a:r>
                      <a:r>
                        <a:rPr lang="en-US" altLang="zh-CN" sz="1600" b="1" dirty="0" err="1">
                          <a:solidFill>
                            <a:srgbClr val="009900"/>
                          </a:solidFill>
                        </a:rPr>
                        <a:t>WB.ALUOut</a:t>
                      </a:r>
                      <a:endParaRPr lang="zh-CN" altLang="en-US" sz="1600" dirty="0">
                        <a:solidFill>
                          <a:srgbClr val="009900"/>
                        </a:solidFill>
                      </a:endParaRPr>
                    </a:p>
                  </a:txBody>
                  <a:tcPr marL="36000" marR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zh-CN" altLang="en-US" dirty="0">
                        <a:solidFill>
                          <a:srgbClr val="C00000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1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CN" sz="1600" dirty="0"/>
                        <a:t>ALUOut </a:t>
                      </a:r>
                      <a:r>
                        <a:rPr lang="en-US" altLang="zh-CN" sz="1600" dirty="0">
                          <a:sym typeface="Symbol"/>
                        </a:rPr>
                        <a:t>&lt;= </a:t>
                      </a:r>
                      <a:r>
                        <a:rPr lang="en-US" altLang="zh-CN" sz="1600" dirty="0"/>
                        <a:t>A - B </a:t>
                      </a:r>
                    </a:p>
                    <a:p>
                      <a:pPr marL="0" marR="0" lvl="1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CN" sz="1600" dirty="0" err="1"/>
                        <a:t>PCAdd</a:t>
                      </a:r>
                      <a:r>
                        <a:rPr lang="en-US" altLang="zh-CN" sz="1600" dirty="0"/>
                        <a:t> </a:t>
                      </a:r>
                      <a:r>
                        <a:rPr lang="en-US" altLang="zh-CN" sz="1600" dirty="0">
                          <a:sym typeface="Symbol"/>
                        </a:rPr>
                        <a:t>&lt;= </a:t>
                      </a:r>
                      <a:r>
                        <a:rPr lang="en-US" altLang="zh-CN" sz="1600" dirty="0"/>
                        <a:t>PC + </a:t>
                      </a:r>
                      <a:r>
                        <a:rPr lang="en-US" altLang="zh-CN" sz="1600" dirty="0" err="1"/>
                        <a:t>signext</a:t>
                      </a:r>
                      <a:r>
                        <a:rPr lang="en-US" altLang="zh-CN" sz="1600" dirty="0"/>
                        <a:t>(IR[15:0]) &lt;&lt; 2</a:t>
                      </a:r>
                    </a:p>
                  </a:txBody>
                  <a:tcPr marL="36000" marR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813516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CN" sz="1600" dirty="0"/>
                        <a:t>MEM</a:t>
                      </a:r>
                      <a:endParaRPr lang="zh-CN" altLang="en-US" sz="1600" dirty="0"/>
                    </a:p>
                  </a:txBody>
                  <a:tcPr marL="36000" marR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zh-CN" altLang="en-US" sz="1600" dirty="0"/>
                    </a:p>
                  </a:txBody>
                  <a:tcPr marL="36000" marR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600" dirty="0"/>
                        <a:t>MDR </a:t>
                      </a:r>
                      <a:r>
                        <a:rPr lang="en-US" altLang="zh-CN" sz="1600" dirty="0">
                          <a:sym typeface="Symbol"/>
                        </a:rPr>
                        <a:t>&lt;= </a:t>
                      </a:r>
                      <a:r>
                        <a:rPr lang="en-US" altLang="zh-CN" sz="1600" dirty="0" err="1">
                          <a:sym typeface="Symbol"/>
                        </a:rPr>
                        <a:t>MemData</a:t>
                      </a:r>
                      <a:r>
                        <a:rPr lang="en-US" altLang="zh-CN" sz="1600" dirty="0">
                          <a:sym typeface="Symbol"/>
                        </a:rPr>
                        <a:t>[</a:t>
                      </a:r>
                      <a:r>
                        <a:rPr lang="en-US" altLang="zh-CN" sz="1600" dirty="0" err="1">
                          <a:sym typeface="Symbol"/>
                        </a:rPr>
                        <a:t>ALUOut</a:t>
                      </a:r>
                      <a:r>
                        <a:rPr lang="en-US" altLang="zh-CN" sz="1600" dirty="0">
                          <a:sym typeface="Symbol"/>
                        </a:rPr>
                        <a:t>];</a:t>
                      </a:r>
                    </a:p>
                  </a:txBody>
                  <a:tcPr marL="36000" marR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600" dirty="0" err="1">
                          <a:sym typeface="Symbol"/>
                        </a:rPr>
                        <a:t>MemData</a:t>
                      </a:r>
                      <a:r>
                        <a:rPr lang="en-US" altLang="zh-CN" sz="1600" dirty="0">
                          <a:sym typeface="Symbol"/>
                        </a:rPr>
                        <a:t>[</a:t>
                      </a:r>
                      <a:r>
                        <a:rPr lang="en-US" altLang="zh-CN" sz="1600" dirty="0" err="1">
                          <a:sym typeface="Symbol"/>
                        </a:rPr>
                        <a:t>ALUout</a:t>
                      </a:r>
                      <a:r>
                        <a:rPr lang="en-US" altLang="zh-CN" sz="1600" dirty="0">
                          <a:sym typeface="Symbol"/>
                        </a:rPr>
                        <a:t>] &lt;= B</a:t>
                      </a:r>
                      <a:endParaRPr lang="zh-CN" altLang="en-US" sz="1600" dirty="0"/>
                    </a:p>
                  </a:txBody>
                  <a:tcPr marL="36000" marR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CN" sz="1600" dirty="0"/>
                        <a:t>if (Zero)</a:t>
                      </a: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CN" sz="1600" dirty="0"/>
                        <a:t>PC </a:t>
                      </a:r>
                      <a:r>
                        <a:rPr lang="en-US" altLang="zh-CN" sz="1600" dirty="0">
                          <a:sym typeface="Symbol"/>
                        </a:rPr>
                        <a:t>&lt;= </a:t>
                      </a:r>
                      <a:r>
                        <a:rPr lang="en-US" altLang="zh-CN" sz="1600" dirty="0" err="1">
                          <a:sym typeface="Symbol"/>
                        </a:rPr>
                        <a:t>PCAdd</a:t>
                      </a:r>
                      <a:endParaRPr lang="zh-CN" altLang="en-US" sz="1600" dirty="0"/>
                    </a:p>
                  </a:txBody>
                  <a:tcPr marL="36000" marR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736038"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600" dirty="0"/>
                        <a:t>WB</a:t>
                      </a:r>
                      <a:endParaRPr lang="zh-CN" altLang="en-US" sz="1600" dirty="0"/>
                    </a:p>
                  </a:txBody>
                  <a:tcPr marL="36000" marR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CN" sz="1600" dirty="0"/>
                        <a:t>Reg[IR[15:11]]</a:t>
                      </a:r>
                      <a:r>
                        <a:rPr lang="en-US" altLang="zh-CN" sz="1600" dirty="0">
                          <a:sym typeface="Symbol"/>
                        </a:rPr>
                        <a:t> &lt;= </a:t>
                      </a:r>
                      <a:r>
                        <a:rPr lang="en-US" altLang="zh-CN" sz="1600" dirty="0" err="1"/>
                        <a:t>ALUOut</a:t>
                      </a:r>
                      <a:endParaRPr lang="zh-CN" altLang="en-US" sz="1600" dirty="0"/>
                    </a:p>
                  </a:txBody>
                  <a:tcPr marL="36000" marR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600" dirty="0"/>
                        <a:t>Reg[IR[20:16]]</a:t>
                      </a:r>
                      <a:r>
                        <a:rPr lang="en-US" altLang="zh-CN" sz="1600" dirty="0">
                          <a:sym typeface="Symbol"/>
                        </a:rPr>
                        <a:t> &lt;= MDR</a:t>
                      </a:r>
                      <a:endParaRPr lang="zh-CN" altLang="en-US" sz="1600" dirty="0"/>
                    </a:p>
                  </a:txBody>
                  <a:tcPr marL="36000" marR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CN" altLang="en-US" sz="1600" dirty="0"/>
                    </a:p>
                  </a:txBody>
                  <a:tcPr marL="36000" marR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CN" altLang="en-US" dirty="0"/>
                    </a:p>
                  </a:txBody>
                  <a:tcPr marL="36000" marR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</a:tbl>
          </a:graphicData>
        </a:graphic>
      </p:graphicFrame>
      <mc:AlternateContent xmlns:mc="http://schemas.openxmlformats.org/markup-compatibility/2006" xmlns:p14="http://schemas.microsoft.com/office/powerpoint/2010/main">
        <mc:Choice Requires="p14">
          <p:contentPart p14:bwMode="auto" r:id="rId3">
            <p14:nvContentPartPr>
              <p14:cNvPr id="6" name="墨迹 5">
                <a:extLst>
                  <a:ext uri="{FF2B5EF4-FFF2-40B4-BE49-F238E27FC236}">
                    <a16:creationId xmlns:a16="http://schemas.microsoft.com/office/drawing/2014/main" id="{FF2D5A91-F62A-673D-E53E-1061F1FBF01B}"/>
                  </a:ext>
                </a:extLst>
              </p14:cNvPr>
              <p14:cNvContentPartPr/>
              <p14:nvPr/>
            </p14:nvContentPartPr>
            <p14:xfrm>
              <a:off x="6479280" y="1611000"/>
              <a:ext cx="360" cy="360"/>
            </p14:xfrm>
          </p:contentPart>
        </mc:Choice>
        <mc:Fallback xmlns="">
          <p:pic>
            <p:nvPicPr>
              <p:cNvPr id="6" name="墨迹 5">
                <a:extLst>
                  <a:ext uri="{FF2B5EF4-FFF2-40B4-BE49-F238E27FC236}">
                    <a16:creationId xmlns:a16="http://schemas.microsoft.com/office/drawing/2014/main" id="{FF2D5A91-F62A-673D-E53E-1061F1FBF01B}"/>
                  </a:ext>
                </a:extLst>
              </p:cNvPr>
              <p:cNvPicPr/>
              <p:nvPr/>
            </p:nvPicPr>
            <p:blipFill>
              <a:blip r:embed="rId4"/>
              <a:stretch>
                <a:fillRect/>
              </a:stretch>
            </p:blipFill>
            <p:spPr>
              <a:xfrm>
                <a:off x="6469920" y="1601640"/>
                <a:ext cx="19080" cy="1908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2765303535"/>
      </p:ext>
    </p:extLst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>
            <a:extLst>
              <a:ext uri="{FF2B5EF4-FFF2-40B4-BE49-F238E27FC236}">
                <a16:creationId xmlns:a16="http://schemas.microsoft.com/office/drawing/2014/main" id="{1F2C6967-8B94-4D01-A391-022BA5503663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dirty="0"/>
              <a:t>解决数据冒险的方法</a:t>
            </a:r>
            <a:r>
              <a:rPr lang="en-US" altLang="zh-CN" dirty="0"/>
              <a:t>-2</a:t>
            </a:r>
            <a:endParaRPr lang="zh-CN" altLang="en-US" dirty="0"/>
          </a:p>
        </p:txBody>
      </p:sp>
      <p:sp>
        <p:nvSpPr>
          <p:cNvPr id="3" name="内容占位符 2">
            <a:extLst>
              <a:ext uri="{FF2B5EF4-FFF2-40B4-BE49-F238E27FC236}">
                <a16:creationId xmlns:a16="http://schemas.microsoft.com/office/drawing/2014/main" id="{70A3A03D-A79D-4B31-857E-63ED06DAAF9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420383" y="1166018"/>
            <a:ext cx="8703284" cy="1451421"/>
          </a:xfrm>
        </p:spPr>
        <p:txBody>
          <a:bodyPr/>
          <a:lstStyle/>
          <a:p>
            <a:r>
              <a:rPr lang="zh-CN" altLang="en-US" dirty="0"/>
              <a:t>流水线旁路（</a:t>
            </a:r>
            <a:r>
              <a:rPr lang="en-US" altLang="zh-CN" dirty="0"/>
              <a:t>Forward or Bypass</a:t>
            </a:r>
            <a:r>
              <a:rPr lang="zh-CN" altLang="en-US" dirty="0"/>
              <a:t>）</a:t>
            </a:r>
            <a:endParaRPr lang="en-US" altLang="zh-CN" dirty="0"/>
          </a:p>
          <a:p>
            <a:pPr lvl="1"/>
            <a:r>
              <a:rPr lang="zh-CN" altLang="en-US" dirty="0"/>
              <a:t>需要额外的硬件电路支持</a:t>
            </a:r>
          </a:p>
          <a:p>
            <a:pPr lvl="1"/>
            <a:r>
              <a:rPr lang="zh-CN" altLang="en-US" dirty="0"/>
              <a:t>在寄存器堆内，“先写后读”也可以看做一种转发</a:t>
            </a:r>
          </a:p>
        </p:txBody>
      </p:sp>
      <p:sp>
        <p:nvSpPr>
          <p:cNvPr id="4" name="灯片编号占位符 3">
            <a:extLst>
              <a:ext uri="{FF2B5EF4-FFF2-40B4-BE49-F238E27FC236}">
                <a16:creationId xmlns:a16="http://schemas.microsoft.com/office/drawing/2014/main" id="{A3AD980F-A6E0-4097-8E43-967228E7148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0626FCE3-5FF9-430D-BA0B-DE80AAE71673}" type="slidenum">
              <a:rPr lang="zh-CN" altLang="en-US" smtClean="0"/>
              <a:t>26</a:t>
            </a:fld>
            <a:endParaRPr lang="zh-CN" altLang="en-US"/>
          </a:p>
        </p:txBody>
      </p:sp>
      <p:sp>
        <p:nvSpPr>
          <p:cNvPr id="191" name="Rectangle 5">
            <a:extLst>
              <a:ext uri="{FF2B5EF4-FFF2-40B4-BE49-F238E27FC236}">
                <a16:creationId xmlns:a16="http://schemas.microsoft.com/office/drawing/2014/main" id="{197B8DC2-7765-4E4A-894E-565F83488639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66508" y="5117869"/>
            <a:ext cx="154916" cy="306488"/>
          </a:xfrm>
          <a:prstGeom prst="rect">
            <a:avLst/>
          </a:prstGeom>
          <a:solidFill>
            <a:srgbClr val="0099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sz="1600" dirty="0">
              <a:ea typeface="SimHei" panose="02010609060101010101" pitchFamily="49" charset="-122"/>
            </a:endParaRPr>
          </a:p>
        </p:txBody>
      </p:sp>
      <p:sp>
        <p:nvSpPr>
          <p:cNvPr id="192" name="Rectangle 6">
            <a:extLst>
              <a:ext uri="{FF2B5EF4-FFF2-40B4-BE49-F238E27FC236}">
                <a16:creationId xmlns:a16="http://schemas.microsoft.com/office/drawing/2014/main" id="{C9BC0D27-026B-4687-992A-A832F5361D56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66508" y="5117869"/>
            <a:ext cx="154916" cy="306488"/>
          </a:xfrm>
          <a:prstGeom prst="rect">
            <a:avLst/>
          </a:prstGeom>
          <a:noFill/>
          <a:ln w="11113" cap="flat">
            <a:solidFill>
              <a:srgbClr val="009900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sz="1600" dirty="0">
              <a:ea typeface="SimHei" panose="02010609060101010101" pitchFamily="49" charset="-122"/>
            </a:endParaRPr>
          </a:p>
        </p:txBody>
      </p:sp>
      <p:sp>
        <p:nvSpPr>
          <p:cNvPr id="193" name="Rectangle 7">
            <a:extLst>
              <a:ext uri="{FF2B5EF4-FFF2-40B4-BE49-F238E27FC236}">
                <a16:creationId xmlns:a16="http://schemas.microsoft.com/office/drawing/2014/main" id="{14983954-EFB6-47E0-9845-8D77719C348F}"/>
              </a:ext>
            </a:extLst>
          </p:cNvPr>
          <p:cNvSpPr>
            <a:spLocks noChangeArrowheads="1"/>
          </p:cNvSpPr>
          <p:nvPr/>
        </p:nvSpPr>
        <p:spPr bwMode="auto">
          <a:xfrm>
            <a:off x="5311592" y="3433463"/>
            <a:ext cx="154916" cy="306488"/>
          </a:xfrm>
          <a:prstGeom prst="rect">
            <a:avLst/>
          </a:prstGeom>
          <a:solidFill>
            <a:srgbClr val="DE250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sz="1600" dirty="0">
              <a:ea typeface="SimHei" panose="02010609060101010101" pitchFamily="49" charset="-122"/>
            </a:endParaRPr>
          </a:p>
        </p:txBody>
      </p:sp>
      <p:sp>
        <p:nvSpPr>
          <p:cNvPr id="194" name="Rectangle 8">
            <a:extLst>
              <a:ext uri="{FF2B5EF4-FFF2-40B4-BE49-F238E27FC236}">
                <a16:creationId xmlns:a16="http://schemas.microsoft.com/office/drawing/2014/main" id="{246B5759-E7A4-429D-BD1F-DEFF4F7D56AD}"/>
              </a:ext>
            </a:extLst>
          </p:cNvPr>
          <p:cNvSpPr>
            <a:spLocks noChangeArrowheads="1"/>
          </p:cNvSpPr>
          <p:nvPr/>
        </p:nvSpPr>
        <p:spPr bwMode="auto">
          <a:xfrm>
            <a:off x="5311592" y="3433463"/>
            <a:ext cx="154916" cy="306488"/>
          </a:xfrm>
          <a:prstGeom prst="rect">
            <a:avLst/>
          </a:prstGeom>
          <a:noFill/>
          <a:ln w="11113" cap="flat">
            <a:solidFill>
              <a:srgbClr val="000000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sz="1600" dirty="0">
              <a:ea typeface="SimHei" panose="02010609060101010101" pitchFamily="49" charset="-122"/>
            </a:endParaRPr>
          </a:p>
        </p:txBody>
      </p:sp>
      <p:sp>
        <p:nvSpPr>
          <p:cNvPr id="196" name="Rectangle 10">
            <a:extLst>
              <a:ext uri="{FF2B5EF4-FFF2-40B4-BE49-F238E27FC236}">
                <a16:creationId xmlns:a16="http://schemas.microsoft.com/office/drawing/2014/main" id="{D51679A5-9A60-4C53-87BE-EBCE9BBFD3D5}"/>
              </a:ext>
            </a:extLst>
          </p:cNvPr>
          <p:cNvSpPr>
            <a:spLocks noChangeArrowheads="1"/>
          </p:cNvSpPr>
          <p:nvPr/>
        </p:nvSpPr>
        <p:spPr bwMode="auto">
          <a:xfrm>
            <a:off x="1691742" y="3528550"/>
            <a:ext cx="5290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zh-CN" altLang="zh-CN" sz="1500" i="1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rPr>
              <a:t>I</a:t>
            </a:r>
            <a:endParaRPr kumimoji="0" lang="zh-CN" altLang="zh-CN" sz="1800" i="1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  <a:ea typeface="SimHei" panose="02010609060101010101" pitchFamily="49" charset="-122"/>
            </a:endParaRPr>
          </a:p>
        </p:txBody>
      </p:sp>
      <p:sp>
        <p:nvSpPr>
          <p:cNvPr id="197" name="Rectangle 11">
            <a:extLst>
              <a:ext uri="{FF2B5EF4-FFF2-40B4-BE49-F238E27FC236}">
                <a16:creationId xmlns:a16="http://schemas.microsoft.com/office/drawing/2014/main" id="{2887A8AE-36DA-488F-9214-D0DA33FA5E0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672378" y="3713719"/>
            <a:ext cx="107402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zh-CN" altLang="zh-CN" sz="1500" i="1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rPr>
              <a:t>n</a:t>
            </a:r>
            <a:endParaRPr kumimoji="0" lang="zh-CN" altLang="zh-CN" sz="1800" i="1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  <a:ea typeface="SimHei" panose="02010609060101010101" pitchFamily="49" charset="-122"/>
            </a:endParaRPr>
          </a:p>
        </p:txBody>
      </p:sp>
      <p:sp>
        <p:nvSpPr>
          <p:cNvPr id="198" name="Rectangle 12">
            <a:extLst>
              <a:ext uri="{FF2B5EF4-FFF2-40B4-BE49-F238E27FC236}">
                <a16:creationId xmlns:a16="http://schemas.microsoft.com/office/drawing/2014/main" id="{3D733BA0-0531-4D9D-8D36-24BB81F2E784}"/>
              </a:ext>
            </a:extLst>
          </p:cNvPr>
          <p:cNvSpPr>
            <a:spLocks noChangeArrowheads="1"/>
          </p:cNvSpPr>
          <p:nvPr/>
        </p:nvSpPr>
        <p:spPr bwMode="auto">
          <a:xfrm>
            <a:off x="1672378" y="3900165"/>
            <a:ext cx="9618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zh-CN" altLang="zh-CN" sz="1500" i="1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rPr>
              <a:t>s</a:t>
            </a:r>
            <a:endParaRPr kumimoji="0" lang="zh-CN" altLang="zh-CN" sz="1800" i="1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  <a:ea typeface="SimHei" panose="02010609060101010101" pitchFamily="49" charset="-122"/>
            </a:endParaRPr>
          </a:p>
        </p:txBody>
      </p:sp>
      <p:sp>
        <p:nvSpPr>
          <p:cNvPr id="199" name="Rectangle 13">
            <a:extLst>
              <a:ext uri="{FF2B5EF4-FFF2-40B4-BE49-F238E27FC236}">
                <a16:creationId xmlns:a16="http://schemas.microsoft.com/office/drawing/2014/main" id="{CF611F05-40FF-462D-8C71-8AEC8516B404}"/>
              </a:ext>
            </a:extLst>
          </p:cNvPr>
          <p:cNvSpPr>
            <a:spLocks noChangeArrowheads="1"/>
          </p:cNvSpPr>
          <p:nvPr/>
        </p:nvSpPr>
        <p:spPr bwMode="auto">
          <a:xfrm>
            <a:off x="1691742" y="4082782"/>
            <a:ext cx="5290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zh-CN" altLang="zh-CN" sz="1500" i="1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rPr>
              <a:t>t</a:t>
            </a:r>
            <a:endParaRPr kumimoji="0" lang="zh-CN" altLang="zh-CN" sz="1800" i="1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  <a:ea typeface="SimHei" panose="02010609060101010101" pitchFamily="49" charset="-122"/>
            </a:endParaRPr>
          </a:p>
        </p:txBody>
      </p:sp>
      <p:sp>
        <p:nvSpPr>
          <p:cNvPr id="200" name="Rectangle 14">
            <a:extLst>
              <a:ext uri="{FF2B5EF4-FFF2-40B4-BE49-F238E27FC236}">
                <a16:creationId xmlns:a16="http://schemas.microsoft.com/office/drawing/2014/main" id="{8B3FF884-71AA-4102-9841-022D82909CC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665922" y="4267952"/>
            <a:ext cx="109902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zh-CN" altLang="zh-CN" sz="1500" i="1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rPr>
              <a:t>r.</a:t>
            </a:r>
            <a:endParaRPr kumimoji="0" lang="zh-CN" altLang="zh-CN" sz="1800" i="1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  <a:ea typeface="SimHei" panose="02010609060101010101" pitchFamily="49" charset="-122"/>
            </a:endParaRPr>
          </a:p>
        </p:txBody>
      </p:sp>
      <p:sp>
        <p:nvSpPr>
          <p:cNvPr id="201" name="Rectangle 15">
            <a:extLst>
              <a:ext uri="{FF2B5EF4-FFF2-40B4-BE49-F238E27FC236}">
                <a16:creationId xmlns:a16="http://schemas.microsoft.com/office/drawing/2014/main" id="{A941AAD3-B4C0-456B-A36A-229D6E36536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653013" y="4631906"/>
            <a:ext cx="14908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zh-CN" altLang="zh-CN" sz="1500" i="1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rPr>
              <a:t>O</a:t>
            </a:r>
            <a:endParaRPr kumimoji="0" lang="zh-CN" altLang="zh-CN" sz="1800" i="1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  <a:ea typeface="SimHei" panose="02010609060101010101" pitchFamily="49" charset="-122"/>
            </a:endParaRPr>
          </a:p>
        </p:txBody>
      </p:sp>
      <p:sp>
        <p:nvSpPr>
          <p:cNvPr id="202" name="Rectangle 16">
            <a:extLst>
              <a:ext uri="{FF2B5EF4-FFF2-40B4-BE49-F238E27FC236}">
                <a16:creationId xmlns:a16="http://schemas.microsoft.com/office/drawing/2014/main" id="{FD561500-9063-4809-818B-A7C40685038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685288" y="4817075"/>
            <a:ext cx="6412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zh-CN" altLang="zh-CN" sz="1500" i="1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rPr>
              <a:t>r</a:t>
            </a:r>
            <a:endParaRPr kumimoji="0" lang="zh-CN" altLang="zh-CN" sz="1800" i="1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  <a:ea typeface="SimHei" panose="02010609060101010101" pitchFamily="49" charset="-122"/>
            </a:endParaRPr>
          </a:p>
        </p:txBody>
      </p:sp>
      <p:sp>
        <p:nvSpPr>
          <p:cNvPr id="203" name="Rectangle 17">
            <a:extLst>
              <a:ext uri="{FF2B5EF4-FFF2-40B4-BE49-F238E27FC236}">
                <a16:creationId xmlns:a16="http://schemas.microsoft.com/office/drawing/2014/main" id="{42BC82FF-2537-4E70-B73B-B02568C95B94}"/>
              </a:ext>
            </a:extLst>
          </p:cNvPr>
          <p:cNvSpPr>
            <a:spLocks noChangeArrowheads="1"/>
          </p:cNvSpPr>
          <p:nvPr/>
        </p:nvSpPr>
        <p:spPr bwMode="auto">
          <a:xfrm>
            <a:off x="1672378" y="5003521"/>
            <a:ext cx="107402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zh-CN" altLang="zh-CN" sz="1500" i="1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rPr>
              <a:t>d</a:t>
            </a:r>
            <a:endParaRPr kumimoji="0" lang="zh-CN" altLang="zh-CN" sz="1800" i="1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  <a:ea typeface="SimHei" panose="02010609060101010101" pitchFamily="49" charset="-122"/>
            </a:endParaRPr>
          </a:p>
        </p:txBody>
      </p:sp>
      <p:sp>
        <p:nvSpPr>
          <p:cNvPr id="204" name="Rectangle 18">
            <a:extLst>
              <a:ext uri="{FF2B5EF4-FFF2-40B4-BE49-F238E27FC236}">
                <a16:creationId xmlns:a16="http://schemas.microsoft.com/office/drawing/2014/main" id="{EF883303-F396-481F-9C0A-7DC6E69DA36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672378" y="5186137"/>
            <a:ext cx="107402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zh-CN" altLang="zh-CN" sz="1500" i="1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rPr>
              <a:t>e</a:t>
            </a:r>
            <a:endParaRPr kumimoji="0" lang="zh-CN" altLang="zh-CN" sz="1800" i="1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  <a:ea typeface="SimHei" panose="02010609060101010101" pitchFamily="49" charset="-122"/>
            </a:endParaRPr>
          </a:p>
        </p:txBody>
      </p:sp>
      <p:sp>
        <p:nvSpPr>
          <p:cNvPr id="205" name="Rectangle 19">
            <a:extLst>
              <a:ext uri="{FF2B5EF4-FFF2-40B4-BE49-F238E27FC236}">
                <a16:creationId xmlns:a16="http://schemas.microsoft.com/office/drawing/2014/main" id="{8F515EF4-4B23-4434-B5C6-D44978C8AEB5}"/>
              </a:ext>
            </a:extLst>
          </p:cNvPr>
          <p:cNvSpPr>
            <a:spLocks noChangeArrowheads="1"/>
          </p:cNvSpPr>
          <p:nvPr/>
        </p:nvSpPr>
        <p:spPr bwMode="auto">
          <a:xfrm>
            <a:off x="1685288" y="5364922"/>
            <a:ext cx="6412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zh-CN" altLang="zh-CN" sz="1500" i="1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rPr>
              <a:t>r</a:t>
            </a:r>
            <a:endParaRPr kumimoji="0" lang="zh-CN" altLang="zh-CN" sz="1800" i="1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  <a:ea typeface="SimHei" panose="02010609060101010101" pitchFamily="49" charset="-122"/>
            </a:endParaRPr>
          </a:p>
        </p:txBody>
      </p:sp>
      <p:sp>
        <p:nvSpPr>
          <p:cNvPr id="206" name="Freeform 20">
            <a:extLst>
              <a:ext uri="{FF2B5EF4-FFF2-40B4-BE49-F238E27FC236}">
                <a16:creationId xmlns:a16="http://schemas.microsoft.com/office/drawing/2014/main" id="{BDAABFF6-AD5E-4C98-81B6-376A4DB8F3CB}"/>
              </a:ext>
            </a:extLst>
          </p:cNvPr>
          <p:cNvSpPr>
            <a:spLocks noEditPoints="1"/>
          </p:cNvSpPr>
          <p:nvPr/>
        </p:nvSpPr>
        <p:spPr bwMode="auto">
          <a:xfrm>
            <a:off x="2990430" y="3051631"/>
            <a:ext cx="4269230" cy="51081"/>
          </a:xfrm>
          <a:custGeom>
            <a:avLst/>
            <a:gdLst>
              <a:gd name="T0" fmla="*/ 0 w 3307"/>
              <a:gd name="T1" fmla="*/ 13 h 40"/>
              <a:gd name="T2" fmla="*/ 3274 w 3307"/>
              <a:gd name="T3" fmla="*/ 13 h 40"/>
              <a:gd name="T4" fmla="*/ 3274 w 3307"/>
              <a:gd name="T5" fmla="*/ 27 h 40"/>
              <a:gd name="T6" fmla="*/ 0 w 3307"/>
              <a:gd name="T7" fmla="*/ 27 h 40"/>
              <a:gd name="T8" fmla="*/ 0 w 3307"/>
              <a:gd name="T9" fmla="*/ 13 h 40"/>
              <a:gd name="T10" fmla="*/ 3267 w 3307"/>
              <a:gd name="T11" fmla="*/ 0 h 40"/>
              <a:gd name="T12" fmla="*/ 3307 w 3307"/>
              <a:gd name="T13" fmla="*/ 20 h 40"/>
              <a:gd name="T14" fmla="*/ 3267 w 3307"/>
              <a:gd name="T15" fmla="*/ 40 h 40"/>
              <a:gd name="T16" fmla="*/ 3267 w 3307"/>
              <a:gd name="T17" fmla="*/ 0 h 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3307" h="40">
                <a:moveTo>
                  <a:pt x="0" y="13"/>
                </a:moveTo>
                <a:lnTo>
                  <a:pt x="3274" y="13"/>
                </a:lnTo>
                <a:lnTo>
                  <a:pt x="3274" y="27"/>
                </a:lnTo>
                <a:lnTo>
                  <a:pt x="0" y="27"/>
                </a:lnTo>
                <a:lnTo>
                  <a:pt x="0" y="13"/>
                </a:lnTo>
                <a:close/>
                <a:moveTo>
                  <a:pt x="3267" y="0"/>
                </a:moveTo>
                <a:lnTo>
                  <a:pt x="3307" y="20"/>
                </a:lnTo>
                <a:lnTo>
                  <a:pt x="3267" y="40"/>
                </a:lnTo>
                <a:lnTo>
                  <a:pt x="3267" y="0"/>
                </a:lnTo>
                <a:close/>
              </a:path>
            </a:pathLst>
          </a:custGeom>
          <a:solidFill>
            <a:srgbClr val="000000"/>
          </a:solidFill>
          <a:ln w="0" cap="flat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207" name="Rectangle 21">
            <a:extLst>
              <a:ext uri="{FF2B5EF4-FFF2-40B4-BE49-F238E27FC236}">
                <a16:creationId xmlns:a16="http://schemas.microsoft.com/office/drawing/2014/main" id="{BF54921C-6A27-4F0D-857A-0CDC83E18298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93118" y="2803887"/>
            <a:ext cx="1629549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zh-CN" altLang="zh-CN" sz="1500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rPr>
              <a:t>Time (clock cycles)</a:t>
            </a:r>
            <a:endParaRPr kumimoji="0" lang="zh-CN" altLang="zh-CN" sz="180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  <a:ea typeface="SimHei" panose="02010609060101010101" pitchFamily="49" charset="-122"/>
            </a:endParaRPr>
          </a:p>
        </p:txBody>
      </p:sp>
      <p:sp>
        <p:nvSpPr>
          <p:cNvPr id="208" name="Rectangle 22">
            <a:extLst>
              <a:ext uri="{FF2B5EF4-FFF2-40B4-BE49-F238E27FC236}">
                <a16:creationId xmlns:a16="http://schemas.microsoft.com/office/drawing/2014/main" id="{D94345B5-CB3D-493B-BD09-3A6266305EF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47354" y="3994666"/>
            <a:ext cx="564257" cy="2769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zh-CN" altLang="zh-CN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rPr>
              <a:t>Inst 1</a:t>
            </a:r>
            <a:endParaRPr kumimoji="0" lang="zh-CN" altLang="zh-CN" sz="160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  <a:ea typeface="SimHei" panose="02010609060101010101" pitchFamily="49" charset="-122"/>
            </a:endParaRPr>
          </a:p>
        </p:txBody>
      </p:sp>
      <p:sp>
        <p:nvSpPr>
          <p:cNvPr id="209" name="Rectangle 23">
            <a:extLst>
              <a:ext uri="{FF2B5EF4-FFF2-40B4-BE49-F238E27FC236}">
                <a16:creationId xmlns:a16="http://schemas.microsoft.com/office/drawing/2014/main" id="{5C7C8752-56B7-4B21-A0D9-5C1F91578644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47354" y="4584655"/>
            <a:ext cx="564257" cy="2769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zh-CN" altLang="zh-CN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rPr>
              <a:t>Inst 2</a:t>
            </a:r>
            <a:endParaRPr kumimoji="0" lang="zh-CN" altLang="zh-CN" sz="160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  <a:ea typeface="SimHei" panose="02010609060101010101" pitchFamily="49" charset="-122"/>
            </a:endParaRPr>
          </a:p>
        </p:txBody>
      </p:sp>
      <p:sp>
        <p:nvSpPr>
          <p:cNvPr id="210" name="Rectangle 24">
            <a:extLst>
              <a:ext uri="{FF2B5EF4-FFF2-40B4-BE49-F238E27FC236}">
                <a16:creationId xmlns:a16="http://schemas.microsoft.com/office/drawing/2014/main" id="{5694EF6B-3B5C-4532-9C93-0E0E5EF5F38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47354" y="5727599"/>
            <a:ext cx="564257" cy="2769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zh-CN" altLang="zh-CN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rPr>
              <a:t>Inst 4</a:t>
            </a:r>
            <a:endParaRPr kumimoji="0" lang="zh-CN" altLang="zh-CN" sz="160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  <a:ea typeface="SimHei" panose="02010609060101010101" pitchFamily="49" charset="-122"/>
            </a:endParaRPr>
          </a:p>
        </p:txBody>
      </p:sp>
      <p:sp>
        <p:nvSpPr>
          <p:cNvPr id="211" name="Freeform 25">
            <a:extLst>
              <a:ext uri="{FF2B5EF4-FFF2-40B4-BE49-F238E27FC236}">
                <a16:creationId xmlns:a16="http://schemas.microsoft.com/office/drawing/2014/main" id="{6B16A03B-FAF8-42B2-B8B1-401BA4185782}"/>
              </a:ext>
            </a:extLst>
          </p:cNvPr>
          <p:cNvSpPr>
            <a:spLocks noEditPoints="1"/>
          </p:cNvSpPr>
          <p:nvPr/>
        </p:nvSpPr>
        <p:spPr bwMode="auto">
          <a:xfrm>
            <a:off x="3781793" y="3160179"/>
            <a:ext cx="16782" cy="2997194"/>
          </a:xfrm>
          <a:custGeom>
            <a:avLst/>
            <a:gdLst>
              <a:gd name="T0" fmla="*/ 13 w 13"/>
              <a:gd name="T1" fmla="*/ 40 h 2347"/>
              <a:gd name="T2" fmla="*/ 0 w 13"/>
              <a:gd name="T3" fmla="*/ 53 h 2347"/>
              <a:gd name="T4" fmla="*/ 13 w 13"/>
              <a:gd name="T5" fmla="*/ 106 h 2347"/>
              <a:gd name="T6" fmla="*/ 0 w 13"/>
              <a:gd name="T7" fmla="*/ 146 h 2347"/>
              <a:gd name="T8" fmla="*/ 13 w 13"/>
              <a:gd name="T9" fmla="*/ 159 h 2347"/>
              <a:gd name="T10" fmla="*/ 13 w 13"/>
              <a:gd name="T11" fmla="*/ 226 h 2347"/>
              <a:gd name="T12" fmla="*/ 0 w 13"/>
              <a:gd name="T13" fmla="*/ 239 h 2347"/>
              <a:gd name="T14" fmla="*/ 13 w 13"/>
              <a:gd name="T15" fmla="*/ 293 h 2347"/>
              <a:gd name="T16" fmla="*/ 0 w 13"/>
              <a:gd name="T17" fmla="*/ 333 h 2347"/>
              <a:gd name="T18" fmla="*/ 13 w 13"/>
              <a:gd name="T19" fmla="*/ 346 h 2347"/>
              <a:gd name="T20" fmla="*/ 13 w 13"/>
              <a:gd name="T21" fmla="*/ 413 h 2347"/>
              <a:gd name="T22" fmla="*/ 0 w 13"/>
              <a:gd name="T23" fmla="*/ 426 h 2347"/>
              <a:gd name="T24" fmla="*/ 13 w 13"/>
              <a:gd name="T25" fmla="*/ 479 h 2347"/>
              <a:gd name="T26" fmla="*/ 0 w 13"/>
              <a:gd name="T27" fmla="*/ 519 h 2347"/>
              <a:gd name="T28" fmla="*/ 13 w 13"/>
              <a:gd name="T29" fmla="*/ 532 h 2347"/>
              <a:gd name="T30" fmla="*/ 13 w 13"/>
              <a:gd name="T31" fmla="*/ 599 h 2347"/>
              <a:gd name="T32" fmla="*/ 0 w 13"/>
              <a:gd name="T33" fmla="*/ 612 h 2347"/>
              <a:gd name="T34" fmla="*/ 13 w 13"/>
              <a:gd name="T35" fmla="*/ 666 h 2347"/>
              <a:gd name="T36" fmla="*/ 0 w 13"/>
              <a:gd name="T37" fmla="*/ 706 h 2347"/>
              <a:gd name="T38" fmla="*/ 13 w 13"/>
              <a:gd name="T39" fmla="*/ 719 h 2347"/>
              <a:gd name="T40" fmla="*/ 13 w 13"/>
              <a:gd name="T41" fmla="*/ 786 h 2347"/>
              <a:gd name="T42" fmla="*/ 0 w 13"/>
              <a:gd name="T43" fmla="*/ 799 h 2347"/>
              <a:gd name="T44" fmla="*/ 13 w 13"/>
              <a:gd name="T45" fmla="*/ 852 h 2347"/>
              <a:gd name="T46" fmla="*/ 0 w 13"/>
              <a:gd name="T47" fmla="*/ 892 h 2347"/>
              <a:gd name="T48" fmla="*/ 13 w 13"/>
              <a:gd name="T49" fmla="*/ 905 h 2347"/>
              <a:gd name="T50" fmla="*/ 13 w 13"/>
              <a:gd name="T51" fmla="*/ 972 h 2347"/>
              <a:gd name="T52" fmla="*/ 0 w 13"/>
              <a:gd name="T53" fmla="*/ 985 h 2347"/>
              <a:gd name="T54" fmla="*/ 13 w 13"/>
              <a:gd name="T55" fmla="*/ 1038 h 2347"/>
              <a:gd name="T56" fmla="*/ 0 w 13"/>
              <a:gd name="T57" fmla="*/ 1078 h 2347"/>
              <a:gd name="T58" fmla="*/ 13 w 13"/>
              <a:gd name="T59" fmla="*/ 1092 h 2347"/>
              <a:gd name="T60" fmla="*/ 13 w 13"/>
              <a:gd name="T61" fmla="*/ 1158 h 2347"/>
              <a:gd name="T62" fmla="*/ 0 w 13"/>
              <a:gd name="T63" fmla="*/ 1172 h 2347"/>
              <a:gd name="T64" fmla="*/ 13 w 13"/>
              <a:gd name="T65" fmla="*/ 1225 h 2347"/>
              <a:gd name="T66" fmla="*/ 0 w 13"/>
              <a:gd name="T67" fmla="*/ 1265 h 2347"/>
              <a:gd name="T68" fmla="*/ 13 w 13"/>
              <a:gd name="T69" fmla="*/ 1278 h 2347"/>
              <a:gd name="T70" fmla="*/ 13 w 13"/>
              <a:gd name="T71" fmla="*/ 1345 h 2347"/>
              <a:gd name="T72" fmla="*/ 0 w 13"/>
              <a:gd name="T73" fmla="*/ 1358 h 2347"/>
              <a:gd name="T74" fmla="*/ 13 w 13"/>
              <a:gd name="T75" fmla="*/ 1411 h 2347"/>
              <a:gd name="T76" fmla="*/ 0 w 13"/>
              <a:gd name="T77" fmla="*/ 1451 h 2347"/>
              <a:gd name="T78" fmla="*/ 13 w 13"/>
              <a:gd name="T79" fmla="*/ 1465 h 2347"/>
              <a:gd name="T80" fmla="*/ 13 w 13"/>
              <a:gd name="T81" fmla="*/ 1531 h 2347"/>
              <a:gd name="T82" fmla="*/ 0 w 13"/>
              <a:gd name="T83" fmla="*/ 1545 h 2347"/>
              <a:gd name="T84" fmla="*/ 13 w 13"/>
              <a:gd name="T85" fmla="*/ 1598 h 2347"/>
              <a:gd name="T86" fmla="*/ 0 w 13"/>
              <a:gd name="T87" fmla="*/ 1638 h 2347"/>
              <a:gd name="T88" fmla="*/ 13 w 13"/>
              <a:gd name="T89" fmla="*/ 1651 h 2347"/>
              <a:gd name="T90" fmla="*/ 13 w 13"/>
              <a:gd name="T91" fmla="*/ 1718 h 2347"/>
              <a:gd name="T92" fmla="*/ 0 w 13"/>
              <a:gd name="T93" fmla="*/ 1731 h 2347"/>
              <a:gd name="T94" fmla="*/ 13 w 13"/>
              <a:gd name="T95" fmla="*/ 1784 h 2347"/>
              <a:gd name="T96" fmla="*/ 0 w 13"/>
              <a:gd name="T97" fmla="*/ 1824 h 2347"/>
              <a:gd name="T98" fmla="*/ 13 w 13"/>
              <a:gd name="T99" fmla="*/ 1838 h 2347"/>
              <a:gd name="T100" fmla="*/ 13 w 13"/>
              <a:gd name="T101" fmla="*/ 1904 h 2347"/>
              <a:gd name="T102" fmla="*/ 0 w 13"/>
              <a:gd name="T103" fmla="*/ 1917 h 2347"/>
              <a:gd name="T104" fmla="*/ 13 w 13"/>
              <a:gd name="T105" fmla="*/ 1971 h 2347"/>
              <a:gd name="T106" fmla="*/ 0 w 13"/>
              <a:gd name="T107" fmla="*/ 2011 h 2347"/>
              <a:gd name="T108" fmla="*/ 13 w 13"/>
              <a:gd name="T109" fmla="*/ 2024 h 2347"/>
              <a:gd name="T110" fmla="*/ 13 w 13"/>
              <a:gd name="T111" fmla="*/ 2091 h 2347"/>
              <a:gd name="T112" fmla="*/ 0 w 13"/>
              <a:gd name="T113" fmla="*/ 2104 h 2347"/>
              <a:gd name="T114" fmla="*/ 13 w 13"/>
              <a:gd name="T115" fmla="*/ 2157 h 2347"/>
              <a:gd name="T116" fmla="*/ 0 w 13"/>
              <a:gd name="T117" fmla="*/ 2197 h 2347"/>
              <a:gd name="T118" fmla="*/ 13 w 13"/>
              <a:gd name="T119" fmla="*/ 2211 h 2347"/>
              <a:gd name="T120" fmla="*/ 13 w 13"/>
              <a:gd name="T121" fmla="*/ 2277 h 2347"/>
              <a:gd name="T122" fmla="*/ 0 w 13"/>
              <a:gd name="T123" fmla="*/ 2290 h 2347"/>
              <a:gd name="T124" fmla="*/ 13 w 13"/>
              <a:gd name="T125" fmla="*/ 2344 h 234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13" h="2347">
                <a:moveTo>
                  <a:pt x="13" y="0"/>
                </a:moveTo>
                <a:lnTo>
                  <a:pt x="13" y="13"/>
                </a:lnTo>
                <a:lnTo>
                  <a:pt x="0" y="13"/>
                </a:lnTo>
                <a:lnTo>
                  <a:pt x="0" y="0"/>
                </a:lnTo>
                <a:lnTo>
                  <a:pt x="13" y="0"/>
                </a:lnTo>
                <a:close/>
                <a:moveTo>
                  <a:pt x="13" y="26"/>
                </a:moveTo>
                <a:lnTo>
                  <a:pt x="13" y="40"/>
                </a:lnTo>
                <a:lnTo>
                  <a:pt x="0" y="40"/>
                </a:lnTo>
                <a:lnTo>
                  <a:pt x="0" y="26"/>
                </a:lnTo>
                <a:lnTo>
                  <a:pt x="13" y="26"/>
                </a:lnTo>
                <a:close/>
                <a:moveTo>
                  <a:pt x="13" y="53"/>
                </a:moveTo>
                <a:lnTo>
                  <a:pt x="13" y="66"/>
                </a:lnTo>
                <a:lnTo>
                  <a:pt x="0" y="66"/>
                </a:lnTo>
                <a:lnTo>
                  <a:pt x="0" y="53"/>
                </a:lnTo>
                <a:lnTo>
                  <a:pt x="13" y="53"/>
                </a:lnTo>
                <a:close/>
                <a:moveTo>
                  <a:pt x="13" y="80"/>
                </a:moveTo>
                <a:lnTo>
                  <a:pt x="13" y="93"/>
                </a:lnTo>
                <a:lnTo>
                  <a:pt x="0" y="93"/>
                </a:lnTo>
                <a:lnTo>
                  <a:pt x="0" y="80"/>
                </a:lnTo>
                <a:lnTo>
                  <a:pt x="13" y="80"/>
                </a:lnTo>
                <a:close/>
                <a:moveTo>
                  <a:pt x="13" y="106"/>
                </a:moveTo>
                <a:lnTo>
                  <a:pt x="13" y="119"/>
                </a:lnTo>
                <a:lnTo>
                  <a:pt x="0" y="119"/>
                </a:lnTo>
                <a:lnTo>
                  <a:pt x="0" y="106"/>
                </a:lnTo>
                <a:lnTo>
                  <a:pt x="13" y="106"/>
                </a:lnTo>
                <a:close/>
                <a:moveTo>
                  <a:pt x="13" y="133"/>
                </a:moveTo>
                <a:lnTo>
                  <a:pt x="13" y="146"/>
                </a:lnTo>
                <a:lnTo>
                  <a:pt x="0" y="146"/>
                </a:lnTo>
                <a:lnTo>
                  <a:pt x="0" y="133"/>
                </a:lnTo>
                <a:lnTo>
                  <a:pt x="13" y="133"/>
                </a:lnTo>
                <a:close/>
                <a:moveTo>
                  <a:pt x="13" y="159"/>
                </a:moveTo>
                <a:lnTo>
                  <a:pt x="13" y="173"/>
                </a:lnTo>
                <a:lnTo>
                  <a:pt x="0" y="173"/>
                </a:lnTo>
                <a:lnTo>
                  <a:pt x="0" y="159"/>
                </a:lnTo>
                <a:lnTo>
                  <a:pt x="13" y="159"/>
                </a:lnTo>
                <a:close/>
                <a:moveTo>
                  <a:pt x="13" y="186"/>
                </a:moveTo>
                <a:lnTo>
                  <a:pt x="13" y="199"/>
                </a:lnTo>
                <a:lnTo>
                  <a:pt x="0" y="199"/>
                </a:lnTo>
                <a:lnTo>
                  <a:pt x="0" y="186"/>
                </a:lnTo>
                <a:lnTo>
                  <a:pt x="13" y="186"/>
                </a:lnTo>
                <a:close/>
                <a:moveTo>
                  <a:pt x="13" y="213"/>
                </a:moveTo>
                <a:lnTo>
                  <a:pt x="13" y="226"/>
                </a:lnTo>
                <a:lnTo>
                  <a:pt x="0" y="226"/>
                </a:lnTo>
                <a:lnTo>
                  <a:pt x="0" y="213"/>
                </a:lnTo>
                <a:lnTo>
                  <a:pt x="13" y="213"/>
                </a:lnTo>
                <a:close/>
                <a:moveTo>
                  <a:pt x="13" y="239"/>
                </a:moveTo>
                <a:lnTo>
                  <a:pt x="13" y="253"/>
                </a:lnTo>
                <a:lnTo>
                  <a:pt x="0" y="253"/>
                </a:lnTo>
                <a:lnTo>
                  <a:pt x="0" y="239"/>
                </a:lnTo>
                <a:lnTo>
                  <a:pt x="13" y="239"/>
                </a:lnTo>
                <a:close/>
                <a:moveTo>
                  <a:pt x="13" y="266"/>
                </a:moveTo>
                <a:lnTo>
                  <a:pt x="13" y="279"/>
                </a:lnTo>
                <a:lnTo>
                  <a:pt x="0" y="279"/>
                </a:lnTo>
                <a:lnTo>
                  <a:pt x="0" y="266"/>
                </a:lnTo>
                <a:lnTo>
                  <a:pt x="13" y="266"/>
                </a:lnTo>
                <a:close/>
                <a:moveTo>
                  <a:pt x="13" y="293"/>
                </a:moveTo>
                <a:lnTo>
                  <a:pt x="13" y="306"/>
                </a:lnTo>
                <a:lnTo>
                  <a:pt x="0" y="306"/>
                </a:lnTo>
                <a:lnTo>
                  <a:pt x="0" y="293"/>
                </a:lnTo>
                <a:lnTo>
                  <a:pt x="13" y="293"/>
                </a:lnTo>
                <a:close/>
                <a:moveTo>
                  <a:pt x="13" y="319"/>
                </a:moveTo>
                <a:lnTo>
                  <a:pt x="13" y="333"/>
                </a:lnTo>
                <a:lnTo>
                  <a:pt x="0" y="333"/>
                </a:lnTo>
                <a:lnTo>
                  <a:pt x="0" y="319"/>
                </a:lnTo>
                <a:lnTo>
                  <a:pt x="13" y="319"/>
                </a:lnTo>
                <a:close/>
                <a:moveTo>
                  <a:pt x="13" y="346"/>
                </a:moveTo>
                <a:lnTo>
                  <a:pt x="13" y="359"/>
                </a:lnTo>
                <a:lnTo>
                  <a:pt x="0" y="359"/>
                </a:lnTo>
                <a:lnTo>
                  <a:pt x="0" y="346"/>
                </a:lnTo>
                <a:lnTo>
                  <a:pt x="13" y="346"/>
                </a:lnTo>
                <a:close/>
                <a:moveTo>
                  <a:pt x="13" y="373"/>
                </a:moveTo>
                <a:lnTo>
                  <a:pt x="13" y="386"/>
                </a:lnTo>
                <a:lnTo>
                  <a:pt x="0" y="386"/>
                </a:lnTo>
                <a:lnTo>
                  <a:pt x="0" y="373"/>
                </a:lnTo>
                <a:lnTo>
                  <a:pt x="13" y="373"/>
                </a:lnTo>
                <a:close/>
                <a:moveTo>
                  <a:pt x="13" y="399"/>
                </a:moveTo>
                <a:lnTo>
                  <a:pt x="13" y="413"/>
                </a:lnTo>
                <a:lnTo>
                  <a:pt x="0" y="413"/>
                </a:lnTo>
                <a:lnTo>
                  <a:pt x="0" y="399"/>
                </a:lnTo>
                <a:lnTo>
                  <a:pt x="13" y="399"/>
                </a:lnTo>
                <a:close/>
                <a:moveTo>
                  <a:pt x="13" y="426"/>
                </a:moveTo>
                <a:lnTo>
                  <a:pt x="13" y="439"/>
                </a:lnTo>
                <a:lnTo>
                  <a:pt x="0" y="439"/>
                </a:lnTo>
                <a:lnTo>
                  <a:pt x="0" y="426"/>
                </a:lnTo>
                <a:lnTo>
                  <a:pt x="13" y="426"/>
                </a:lnTo>
                <a:close/>
                <a:moveTo>
                  <a:pt x="13" y="453"/>
                </a:moveTo>
                <a:lnTo>
                  <a:pt x="13" y="466"/>
                </a:lnTo>
                <a:lnTo>
                  <a:pt x="0" y="466"/>
                </a:lnTo>
                <a:lnTo>
                  <a:pt x="0" y="453"/>
                </a:lnTo>
                <a:lnTo>
                  <a:pt x="13" y="453"/>
                </a:lnTo>
                <a:close/>
                <a:moveTo>
                  <a:pt x="13" y="479"/>
                </a:moveTo>
                <a:lnTo>
                  <a:pt x="13" y="493"/>
                </a:lnTo>
                <a:lnTo>
                  <a:pt x="0" y="493"/>
                </a:lnTo>
                <a:lnTo>
                  <a:pt x="0" y="479"/>
                </a:lnTo>
                <a:lnTo>
                  <a:pt x="13" y="479"/>
                </a:lnTo>
                <a:close/>
                <a:moveTo>
                  <a:pt x="13" y="506"/>
                </a:moveTo>
                <a:lnTo>
                  <a:pt x="13" y="519"/>
                </a:lnTo>
                <a:lnTo>
                  <a:pt x="0" y="519"/>
                </a:lnTo>
                <a:lnTo>
                  <a:pt x="0" y="506"/>
                </a:lnTo>
                <a:lnTo>
                  <a:pt x="13" y="506"/>
                </a:lnTo>
                <a:close/>
                <a:moveTo>
                  <a:pt x="13" y="532"/>
                </a:moveTo>
                <a:lnTo>
                  <a:pt x="13" y="546"/>
                </a:lnTo>
                <a:lnTo>
                  <a:pt x="0" y="546"/>
                </a:lnTo>
                <a:lnTo>
                  <a:pt x="0" y="532"/>
                </a:lnTo>
                <a:lnTo>
                  <a:pt x="13" y="532"/>
                </a:lnTo>
                <a:close/>
                <a:moveTo>
                  <a:pt x="13" y="559"/>
                </a:moveTo>
                <a:lnTo>
                  <a:pt x="13" y="572"/>
                </a:lnTo>
                <a:lnTo>
                  <a:pt x="0" y="572"/>
                </a:lnTo>
                <a:lnTo>
                  <a:pt x="0" y="559"/>
                </a:lnTo>
                <a:lnTo>
                  <a:pt x="13" y="559"/>
                </a:lnTo>
                <a:close/>
                <a:moveTo>
                  <a:pt x="13" y="586"/>
                </a:moveTo>
                <a:lnTo>
                  <a:pt x="13" y="599"/>
                </a:lnTo>
                <a:lnTo>
                  <a:pt x="0" y="599"/>
                </a:lnTo>
                <a:lnTo>
                  <a:pt x="0" y="586"/>
                </a:lnTo>
                <a:lnTo>
                  <a:pt x="13" y="586"/>
                </a:lnTo>
                <a:close/>
                <a:moveTo>
                  <a:pt x="13" y="612"/>
                </a:moveTo>
                <a:lnTo>
                  <a:pt x="13" y="626"/>
                </a:lnTo>
                <a:lnTo>
                  <a:pt x="0" y="626"/>
                </a:lnTo>
                <a:lnTo>
                  <a:pt x="0" y="612"/>
                </a:lnTo>
                <a:lnTo>
                  <a:pt x="13" y="612"/>
                </a:lnTo>
                <a:close/>
                <a:moveTo>
                  <a:pt x="13" y="639"/>
                </a:moveTo>
                <a:lnTo>
                  <a:pt x="13" y="652"/>
                </a:lnTo>
                <a:lnTo>
                  <a:pt x="0" y="652"/>
                </a:lnTo>
                <a:lnTo>
                  <a:pt x="0" y="639"/>
                </a:lnTo>
                <a:lnTo>
                  <a:pt x="13" y="639"/>
                </a:lnTo>
                <a:close/>
                <a:moveTo>
                  <a:pt x="13" y="666"/>
                </a:moveTo>
                <a:lnTo>
                  <a:pt x="13" y="679"/>
                </a:lnTo>
                <a:lnTo>
                  <a:pt x="0" y="679"/>
                </a:lnTo>
                <a:lnTo>
                  <a:pt x="0" y="666"/>
                </a:lnTo>
                <a:lnTo>
                  <a:pt x="13" y="666"/>
                </a:lnTo>
                <a:close/>
                <a:moveTo>
                  <a:pt x="13" y="692"/>
                </a:moveTo>
                <a:lnTo>
                  <a:pt x="13" y="706"/>
                </a:lnTo>
                <a:lnTo>
                  <a:pt x="0" y="706"/>
                </a:lnTo>
                <a:lnTo>
                  <a:pt x="0" y="692"/>
                </a:lnTo>
                <a:lnTo>
                  <a:pt x="13" y="692"/>
                </a:lnTo>
                <a:close/>
                <a:moveTo>
                  <a:pt x="13" y="719"/>
                </a:moveTo>
                <a:lnTo>
                  <a:pt x="13" y="732"/>
                </a:lnTo>
                <a:lnTo>
                  <a:pt x="0" y="732"/>
                </a:lnTo>
                <a:lnTo>
                  <a:pt x="0" y="719"/>
                </a:lnTo>
                <a:lnTo>
                  <a:pt x="13" y="719"/>
                </a:lnTo>
                <a:close/>
                <a:moveTo>
                  <a:pt x="13" y="746"/>
                </a:moveTo>
                <a:lnTo>
                  <a:pt x="13" y="759"/>
                </a:lnTo>
                <a:lnTo>
                  <a:pt x="0" y="759"/>
                </a:lnTo>
                <a:lnTo>
                  <a:pt x="0" y="746"/>
                </a:lnTo>
                <a:lnTo>
                  <a:pt x="13" y="746"/>
                </a:lnTo>
                <a:close/>
                <a:moveTo>
                  <a:pt x="13" y="772"/>
                </a:moveTo>
                <a:lnTo>
                  <a:pt x="13" y="786"/>
                </a:lnTo>
                <a:lnTo>
                  <a:pt x="0" y="786"/>
                </a:lnTo>
                <a:lnTo>
                  <a:pt x="0" y="772"/>
                </a:lnTo>
                <a:lnTo>
                  <a:pt x="13" y="772"/>
                </a:lnTo>
                <a:close/>
                <a:moveTo>
                  <a:pt x="13" y="799"/>
                </a:moveTo>
                <a:lnTo>
                  <a:pt x="13" y="812"/>
                </a:lnTo>
                <a:lnTo>
                  <a:pt x="0" y="812"/>
                </a:lnTo>
                <a:lnTo>
                  <a:pt x="0" y="799"/>
                </a:lnTo>
                <a:lnTo>
                  <a:pt x="13" y="799"/>
                </a:lnTo>
                <a:close/>
                <a:moveTo>
                  <a:pt x="13" y="826"/>
                </a:moveTo>
                <a:lnTo>
                  <a:pt x="13" y="839"/>
                </a:lnTo>
                <a:lnTo>
                  <a:pt x="0" y="839"/>
                </a:lnTo>
                <a:lnTo>
                  <a:pt x="0" y="826"/>
                </a:lnTo>
                <a:lnTo>
                  <a:pt x="13" y="826"/>
                </a:lnTo>
                <a:close/>
                <a:moveTo>
                  <a:pt x="13" y="852"/>
                </a:moveTo>
                <a:lnTo>
                  <a:pt x="13" y="866"/>
                </a:lnTo>
                <a:lnTo>
                  <a:pt x="0" y="866"/>
                </a:lnTo>
                <a:lnTo>
                  <a:pt x="0" y="852"/>
                </a:lnTo>
                <a:lnTo>
                  <a:pt x="13" y="852"/>
                </a:lnTo>
                <a:close/>
                <a:moveTo>
                  <a:pt x="13" y="879"/>
                </a:moveTo>
                <a:lnTo>
                  <a:pt x="13" y="892"/>
                </a:lnTo>
                <a:lnTo>
                  <a:pt x="0" y="892"/>
                </a:lnTo>
                <a:lnTo>
                  <a:pt x="0" y="879"/>
                </a:lnTo>
                <a:lnTo>
                  <a:pt x="13" y="879"/>
                </a:lnTo>
                <a:close/>
                <a:moveTo>
                  <a:pt x="13" y="905"/>
                </a:moveTo>
                <a:lnTo>
                  <a:pt x="13" y="919"/>
                </a:lnTo>
                <a:lnTo>
                  <a:pt x="0" y="919"/>
                </a:lnTo>
                <a:lnTo>
                  <a:pt x="0" y="905"/>
                </a:lnTo>
                <a:lnTo>
                  <a:pt x="13" y="905"/>
                </a:lnTo>
                <a:close/>
                <a:moveTo>
                  <a:pt x="13" y="932"/>
                </a:moveTo>
                <a:lnTo>
                  <a:pt x="13" y="945"/>
                </a:lnTo>
                <a:lnTo>
                  <a:pt x="0" y="945"/>
                </a:lnTo>
                <a:lnTo>
                  <a:pt x="0" y="932"/>
                </a:lnTo>
                <a:lnTo>
                  <a:pt x="13" y="932"/>
                </a:lnTo>
                <a:close/>
                <a:moveTo>
                  <a:pt x="13" y="959"/>
                </a:moveTo>
                <a:lnTo>
                  <a:pt x="13" y="972"/>
                </a:lnTo>
                <a:lnTo>
                  <a:pt x="0" y="972"/>
                </a:lnTo>
                <a:lnTo>
                  <a:pt x="0" y="959"/>
                </a:lnTo>
                <a:lnTo>
                  <a:pt x="13" y="959"/>
                </a:lnTo>
                <a:close/>
                <a:moveTo>
                  <a:pt x="13" y="985"/>
                </a:moveTo>
                <a:lnTo>
                  <a:pt x="13" y="998"/>
                </a:lnTo>
                <a:lnTo>
                  <a:pt x="0" y="998"/>
                </a:lnTo>
                <a:lnTo>
                  <a:pt x="0" y="985"/>
                </a:lnTo>
                <a:lnTo>
                  <a:pt x="13" y="985"/>
                </a:lnTo>
                <a:close/>
                <a:moveTo>
                  <a:pt x="13" y="1012"/>
                </a:moveTo>
                <a:lnTo>
                  <a:pt x="13" y="1025"/>
                </a:lnTo>
                <a:lnTo>
                  <a:pt x="0" y="1025"/>
                </a:lnTo>
                <a:lnTo>
                  <a:pt x="0" y="1012"/>
                </a:lnTo>
                <a:lnTo>
                  <a:pt x="13" y="1012"/>
                </a:lnTo>
                <a:close/>
                <a:moveTo>
                  <a:pt x="13" y="1038"/>
                </a:moveTo>
                <a:lnTo>
                  <a:pt x="13" y="1052"/>
                </a:lnTo>
                <a:lnTo>
                  <a:pt x="0" y="1052"/>
                </a:lnTo>
                <a:lnTo>
                  <a:pt x="0" y="1038"/>
                </a:lnTo>
                <a:lnTo>
                  <a:pt x="13" y="1038"/>
                </a:lnTo>
                <a:close/>
                <a:moveTo>
                  <a:pt x="13" y="1065"/>
                </a:moveTo>
                <a:lnTo>
                  <a:pt x="13" y="1078"/>
                </a:lnTo>
                <a:lnTo>
                  <a:pt x="0" y="1078"/>
                </a:lnTo>
                <a:lnTo>
                  <a:pt x="0" y="1065"/>
                </a:lnTo>
                <a:lnTo>
                  <a:pt x="13" y="1065"/>
                </a:lnTo>
                <a:close/>
                <a:moveTo>
                  <a:pt x="13" y="1092"/>
                </a:moveTo>
                <a:lnTo>
                  <a:pt x="13" y="1105"/>
                </a:lnTo>
                <a:lnTo>
                  <a:pt x="0" y="1105"/>
                </a:lnTo>
                <a:lnTo>
                  <a:pt x="0" y="1092"/>
                </a:lnTo>
                <a:lnTo>
                  <a:pt x="13" y="1092"/>
                </a:lnTo>
                <a:close/>
                <a:moveTo>
                  <a:pt x="13" y="1118"/>
                </a:moveTo>
                <a:lnTo>
                  <a:pt x="13" y="1132"/>
                </a:lnTo>
                <a:lnTo>
                  <a:pt x="0" y="1132"/>
                </a:lnTo>
                <a:lnTo>
                  <a:pt x="0" y="1118"/>
                </a:lnTo>
                <a:lnTo>
                  <a:pt x="13" y="1118"/>
                </a:lnTo>
                <a:close/>
                <a:moveTo>
                  <a:pt x="13" y="1145"/>
                </a:moveTo>
                <a:lnTo>
                  <a:pt x="13" y="1158"/>
                </a:lnTo>
                <a:lnTo>
                  <a:pt x="0" y="1158"/>
                </a:lnTo>
                <a:lnTo>
                  <a:pt x="0" y="1145"/>
                </a:lnTo>
                <a:lnTo>
                  <a:pt x="13" y="1145"/>
                </a:lnTo>
                <a:close/>
                <a:moveTo>
                  <a:pt x="13" y="1172"/>
                </a:moveTo>
                <a:lnTo>
                  <a:pt x="13" y="1185"/>
                </a:lnTo>
                <a:lnTo>
                  <a:pt x="0" y="1185"/>
                </a:lnTo>
                <a:lnTo>
                  <a:pt x="0" y="1172"/>
                </a:lnTo>
                <a:lnTo>
                  <a:pt x="13" y="1172"/>
                </a:lnTo>
                <a:close/>
                <a:moveTo>
                  <a:pt x="13" y="1198"/>
                </a:moveTo>
                <a:lnTo>
                  <a:pt x="13" y="1212"/>
                </a:lnTo>
                <a:lnTo>
                  <a:pt x="0" y="1212"/>
                </a:lnTo>
                <a:lnTo>
                  <a:pt x="0" y="1198"/>
                </a:lnTo>
                <a:lnTo>
                  <a:pt x="13" y="1198"/>
                </a:lnTo>
                <a:close/>
                <a:moveTo>
                  <a:pt x="13" y="1225"/>
                </a:moveTo>
                <a:lnTo>
                  <a:pt x="13" y="1238"/>
                </a:lnTo>
                <a:lnTo>
                  <a:pt x="0" y="1238"/>
                </a:lnTo>
                <a:lnTo>
                  <a:pt x="0" y="1225"/>
                </a:lnTo>
                <a:lnTo>
                  <a:pt x="13" y="1225"/>
                </a:lnTo>
                <a:close/>
                <a:moveTo>
                  <a:pt x="13" y="1252"/>
                </a:moveTo>
                <a:lnTo>
                  <a:pt x="13" y="1265"/>
                </a:lnTo>
                <a:lnTo>
                  <a:pt x="0" y="1265"/>
                </a:lnTo>
                <a:lnTo>
                  <a:pt x="0" y="1252"/>
                </a:lnTo>
                <a:lnTo>
                  <a:pt x="13" y="1252"/>
                </a:lnTo>
                <a:close/>
                <a:moveTo>
                  <a:pt x="13" y="1278"/>
                </a:moveTo>
                <a:lnTo>
                  <a:pt x="13" y="1292"/>
                </a:lnTo>
                <a:lnTo>
                  <a:pt x="0" y="1292"/>
                </a:lnTo>
                <a:lnTo>
                  <a:pt x="0" y="1278"/>
                </a:lnTo>
                <a:lnTo>
                  <a:pt x="13" y="1278"/>
                </a:lnTo>
                <a:close/>
                <a:moveTo>
                  <a:pt x="13" y="1305"/>
                </a:moveTo>
                <a:lnTo>
                  <a:pt x="13" y="1318"/>
                </a:lnTo>
                <a:lnTo>
                  <a:pt x="0" y="1318"/>
                </a:lnTo>
                <a:lnTo>
                  <a:pt x="0" y="1305"/>
                </a:lnTo>
                <a:lnTo>
                  <a:pt x="13" y="1305"/>
                </a:lnTo>
                <a:close/>
                <a:moveTo>
                  <a:pt x="13" y="1332"/>
                </a:moveTo>
                <a:lnTo>
                  <a:pt x="13" y="1345"/>
                </a:lnTo>
                <a:lnTo>
                  <a:pt x="0" y="1345"/>
                </a:lnTo>
                <a:lnTo>
                  <a:pt x="0" y="1332"/>
                </a:lnTo>
                <a:lnTo>
                  <a:pt x="13" y="1332"/>
                </a:lnTo>
                <a:close/>
                <a:moveTo>
                  <a:pt x="13" y="1358"/>
                </a:moveTo>
                <a:lnTo>
                  <a:pt x="13" y="1372"/>
                </a:lnTo>
                <a:lnTo>
                  <a:pt x="0" y="1372"/>
                </a:lnTo>
                <a:lnTo>
                  <a:pt x="0" y="1358"/>
                </a:lnTo>
                <a:lnTo>
                  <a:pt x="13" y="1358"/>
                </a:lnTo>
                <a:close/>
                <a:moveTo>
                  <a:pt x="13" y="1385"/>
                </a:moveTo>
                <a:lnTo>
                  <a:pt x="13" y="1398"/>
                </a:lnTo>
                <a:lnTo>
                  <a:pt x="0" y="1398"/>
                </a:lnTo>
                <a:lnTo>
                  <a:pt x="0" y="1385"/>
                </a:lnTo>
                <a:lnTo>
                  <a:pt x="13" y="1385"/>
                </a:lnTo>
                <a:close/>
                <a:moveTo>
                  <a:pt x="13" y="1411"/>
                </a:moveTo>
                <a:lnTo>
                  <a:pt x="13" y="1425"/>
                </a:lnTo>
                <a:lnTo>
                  <a:pt x="0" y="1425"/>
                </a:lnTo>
                <a:lnTo>
                  <a:pt x="0" y="1411"/>
                </a:lnTo>
                <a:lnTo>
                  <a:pt x="13" y="1411"/>
                </a:lnTo>
                <a:close/>
                <a:moveTo>
                  <a:pt x="13" y="1438"/>
                </a:moveTo>
                <a:lnTo>
                  <a:pt x="13" y="1451"/>
                </a:lnTo>
                <a:lnTo>
                  <a:pt x="0" y="1451"/>
                </a:lnTo>
                <a:lnTo>
                  <a:pt x="0" y="1438"/>
                </a:lnTo>
                <a:lnTo>
                  <a:pt x="13" y="1438"/>
                </a:lnTo>
                <a:close/>
                <a:moveTo>
                  <a:pt x="13" y="1465"/>
                </a:moveTo>
                <a:lnTo>
                  <a:pt x="13" y="1478"/>
                </a:lnTo>
                <a:lnTo>
                  <a:pt x="0" y="1478"/>
                </a:lnTo>
                <a:lnTo>
                  <a:pt x="0" y="1465"/>
                </a:lnTo>
                <a:lnTo>
                  <a:pt x="13" y="1465"/>
                </a:lnTo>
                <a:close/>
                <a:moveTo>
                  <a:pt x="13" y="1491"/>
                </a:moveTo>
                <a:lnTo>
                  <a:pt x="13" y="1505"/>
                </a:lnTo>
                <a:lnTo>
                  <a:pt x="0" y="1505"/>
                </a:lnTo>
                <a:lnTo>
                  <a:pt x="0" y="1491"/>
                </a:lnTo>
                <a:lnTo>
                  <a:pt x="13" y="1491"/>
                </a:lnTo>
                <a:close/>
                <a:moveTo>
                  <a:pt x="13" y="1518"/>
                </a:moveTo>
                <a:lnTo>
                  <a:pt x="13" y="1531"/>
                </a:lnTo>
                <a:lnTo>
                  <a:pt x="0" y="1531"/>
                </a:lnTo>
                <a:lnTo>
                  <a:pt x="0" y="1518"/>
                </a:lnTo>
                <a:lnTo>
                  <a:pt x="13" y="1518"/>
                </a:lnTo>
                <a:close/>
                <a:moveTo>
                  <a:pt x="13" y="1545"/>
                </a:moveTo>
                <a:lnTo>
                  <a:pt x="13" y="1558"/>
                </a:lnTo>
                <a:lnTo>
                  <a:pt x="0" y="1558"/>
                </a:lnTo>
                <a:lnTo>
                  <a:pt x="0" y="1545"/>
                </a:lnTo>
                <a:lnTo>
                  <a:pt x="13" y="1545"/>
                </a:lnTo>
                <a:close/>
                <a:moveTo>
                  <a:pt x="13" y="1571"/>
                </a:moveTo>
                <a:lnTo>
                  <a:pt x="13" y="1585"/>
                </a:lnTo>
                <a:lnTo>
                  <a:pt x="0" y="1585"/>
                </a:lnTo>
                <a:lnTo>
                  <a:pt x="0" y="1571"/>
                </a:lnTo>
                <a:lnTo>
                  <a:pt x="13" y="1571"/>
                </a:lnTo>
                <a:close/>
                <a:moveTo>
                  <a:pt x="13" y="1598"/>
                </a:moveTo>
                <a:lnTo>
                  <a:pt x="13" y="1611"/>
                </a:lnTo>
                <a:lnTo>
                  <a:pt x="0" y="1611"/>
                </a:lnTo>
                <a:lnTo>
                  <a:pt x="0" y="1598"/>
                </a:lnTo>
                <a:lnTo>
                  <a:pt x="13" y="1598"/>
                </a:lnTo>
                <a:close/>
                <a:moveTo>
                  <a:pt x="13" y="1625"/>
                </a:moveTo>
                <a:lnTo>
                  <a:pt x="13" y="1638"/>
                </a:lnTo>
                <a:lnTo>
                  <a:pt x="0" y="1638"/>
                </a:lnTo>
                <a:lnTo>
                  <a:pt x="0" y="1625"/>
                </a:lnTo>
                <a:lnTo>
                  <a:pt x="13" y="1625"/>
                </a:lnTo>
                <a:close/>
                <a:moveTo>
                  <a:pt x="13" y="1651"/>
                </a:moveTo>
                <a:lnTo>
                  <a:pt x="13" y="1665"/>
                </a:lnTo>
                <a:lnTo>
                  <a:pt x="0" y="1665"/>
                </a:lnTo>
                <a:lnTo>
                  <a:pt x="0" y="1651"/>
                </a:lnTo>
                <a:lnTo>
                  <a:pt x="13" y="1651"/>
                </a:lnTo>
                <a:close/>
                <a:moveTo>
                  <a:pt x="13" y="1678"/>
                </a:moveTo>
                <a:lnTo>
                  <a:pt x="13" y="1691"/>
                </a:lnTo>
                <a:lnTo>
                  <a:pt x="0" y="1691"/>
                </a:lnTo>
                <a:lnTo>
                  <a:pt x="0" y="1678"/>
                </a:lnTo>
                <a:lnTo>
                  <a:pt x="13" y="1678"/>
                </a:lnTo>
                <a:close/>
                <a:moveTo>
                  <a:pt x="13" y="1705"/>
                </a:moveTo>
                <a:lnTo>
                  <a:pt x="13" y="1718"/>
                </a:lnTo>
                <a:lnTo>
                  <a:pt x="0" y="1718"/>
                </a:lnTo>
                <a:lnTo>
                  <a:pt x="0" y="1705"/>
                </a:lnTo>
                <a:lnTo>
                  <a:pt x="13" y="1705"/>
                </a:lnTo>
                <a:close/>
                <a:moveTo>
                  <a:pt x="13" y="1731"/>
                </a:moveTo>
                <a:lnTo>
                  <a:pt x="13" y="1745"/>
                </a:lnTo>
                <a:lnTo>
                  <a:pt x="0" y="1745"/>
                </a:lnTo>
                <a:lnTo>
                  <a:pt x="0" y="1731"/>
                </a:lnTo>
                <a:lnTo>
                  <a:pt x="13" y="1731"/>
                </a:lnTo>
                <a:close/>
                <a:moveTo>
                  <a:pt x="13" y="1758"/>
                </a:moveTo>
                <a:lnTo>
                  <a:pt x="13" y="1771"/>
                </a:lnTo>
                <a:lnTo>
                  <a:pt x="0" y="1771"/>
                </a:lnTo>
                <a:lnTo>
                  <a:pt x="0" y="1758"/>
                </a:lnTo>
                <a:lnTo>
                  <a:pt x="13" y="1758"/>
                </a:lnTo>
                <a:close/>
                <a:moveTo>
                  <a:pt x="13" y="1784"/>
                </a:moveTo>
                <a:lnTo>
                  <a:pt x="13" y="1798"/>
                </a:lnTo>
                <a:lnTo>
                  <a:pt x="0" y="1798"/>
                </a:lnTo>
                <a:lnTo>
                  <a:pt x="0" y="1784"/>
                </a:lnTo>
                <a:lnTo>
                  <a:pt x="13" y="1784"/>
                </a:lnTo>
                <a:close/>
                <a:moveTo>
                  <a:pt x="13" y="1811"/>
                </a:moveTo>
                <a:lnTo>
                  <a:pt x="13" y="1824"/>
                </a:lnTo>
                <a:lnTo>
                  <a:pt x="0" y="1824"/>
                </a:lnTo>
                <a:lnTo>
                  <a:pt x="0" y="1811"/>
                </a:lnTo>
                <a:lnTo>
                  <a:pt x="13" y="1811"/>
                </a:lnTo>
                <a:close/>
                <a:moveTo>
                  <a:pt x="13" y="1838"/>
                </a:moveTo>
                <a:lnTo>
                  <a:pt x="13" y="1851"/>
                </a:lnTo>
                <a:lnTo>
                  <a:pt x="0" y="1851"/>
                </a:lnTo>
                <a:lnTo>
                  <a:pt x="0" y="1838"/>
                </a:lnTo>
                <a:lnTo>
                  <a:pt x="13" y="1838"/>
                </a:lnTo>
                <a:close/>
                <a:moveTo>
                  <a:pt x="13" y="1864"/>
                </a:moveTo>
                <a:lnTo>
                  <a:pt x="13" y="1877"/>
                </a:lnTo>
                <a:lnTo>
                  <a:pt x="0" y="1877"/>
                </a:lnTo>
                <a:lnTo>
                  <a:pt x="0" y="1864"/>
                </a:lnTo>
                <a:lnTo>
                  <a:pt x="13" y="1864"/>
                </a:lnTo>
                <a:close/>
                <a:moveTo>
                  <a:pt x="13" y="1891"/>
                </a:moveTo>
                <a:lnTo>
                  <a:pt x="13" y="1904"/>
                </a:lnTo>
                <a:lnTo>
                  <a:pt x="0" y="1904"/>
                </a:lnTo>
                <a:lnTo>
                  <a:pt x="0" y="1891"/>
                </a:lnTo>
                <a:lnTo>
                  <a:pt x="13" y="1891"/>
                </a:lnTo>
                <a:close/>
                <a:moveTo>
                  <a:pt x="13" y="1917"/>
                </a:moveTo>
                <a:lnTo>
                  <a:pt x="13" y="1931"/>
                </a:lnTo>
                <a:lnTo>
                  <a:pt x="0" y="1931"/>
                </a:lnTo>
                <a:lnTo>
                  <a:pt x="0" y="1917"/>
                </a:lnTo>
                <a:lnTo>
                  <a:pt x="13" y="1917"/>
                </a:lnTo>
                <a:close/>
                <a:moveTo>
                  <a:pt x="13" y="1944"/>
                </a:moveTo>
                <a:lnTo>
                  <a:pt x="13" y="1957"/>
                </a:lnTo>
                <a:lnTo>
                  <a:pt x="0" y="1957"/>
                </a:lnTo>
                <a:lnTo>
                  <a:pt x="0" y="1944"/>
                </a:lnTo>
                <a:lnTo>
                  <a:pt x="13" y="1944"/>
                </a:lnTo>
                <a:close/>
                <a:moveTo>
                  <a:pt x="13" y="1971"/>
                </a:moveTo>
                <a:lnTo>
                  <a:pt x="13" y="1984"/>
                </a:lnTo>
                <a:lnTo>
                  <a:pt x="0" y="1984"/>
                </a:lnTo>
                <a:lnTo>
                  <a:pt x="0" y="1971"/>
                </a:lnTo>
                <a:lnTo>
                  <a:pt x="13" y="1971"/>
                </a:lnTo>
                <a:close/>
                <a:moveTo>
                  <a:pt x="13" y="1997"/>
                </a:moveTo>
                <a:lnTo>
                  <a:pt x="13" y="2011"/>
                </a:lnTo>
                <a:lnTo>
                  <a:pt x="0" y="2011"/>
                </a:lnTo>
                <a:lnTo>
                  <a:pt x="0" y="1997"/>
                </a:lnTo>
                <a:lnTo>
                  <a:pt x="13" y="1997"/>
                </a:lnTo>
                <a:close/>
                <a:moveTo>
                  <a:pt x="13" y="2024"/>
                </a:moveTo>
                <a:lnTo>
                  <a:pt x="13" y="2037"/>
                </a:lnTo>
                <a:lnTo>
                  <a:pt x="0" y="2037"/>
                </a:lnTo>
                <a:lnTo>
                  <a:pt x="0" y="2024"/>
                </a:lnTo>
                <a:lnTo>
                  <a:pt x="13" y="2024"/>
                </a:lnTo>
                <a:close/>
                <a:moveTo>
                  <a:pt x="13" y="2051"/>
                </a:moveTo>
                <a:lnTo>
                  <a:pt x="13" y="2064"/>
                </a:lnTo>
                <a:lnTo>
                  <a:pt x="0" y="2064"/>
                </a:lnTo>
                <a:lnTo>
                  <a:pt x="0" y="2051"/>
                </a:lnTo>
                <a:lnTo>
                  <a:pt x="13" y="2051"/>
                </a:lnTo>
                <a:close/>
                <a:moveTo>
                  <a:pt x="13" y="2077"/>
                </a:moveTo>
                <a:lnTo>
                  <a:pt x="13" y="2091"/>
                </a:lnTo>
                <a:lnTo>
                  <a:pt x="0" y="2091"/>
                </a:lnTo>
                <a:lnTo>
                  <a:pt x="0" y="2077"/>
                </a:lnTo>
                <a:lnTo>
                  <a:pt x="13" y="2077"/>
                </a:lnTo>
                <a:close/>
                <a:moveTo>
                  <a:pt x="13" y="2104"/>
                </a:moveTo>
                <a:lnTo>
                  <a:pt x="13" y="2117"/>
                </a:lnTo>
                <a:lnTo>
                  <a:pt x="0" y="2117"/>
                </a:lnTo>
                <a:lnTo>
                  <a:pt x="0" y="2104"/>
                </a:lnTo>
                <a:lnTo>
                  <a:pt x="13" y="2104"/>
                </a:lnTo>
                <a:close/>
                <a:moveTo>
                  <a:pt x="13" y="2131"/>
                </a:moveTo>
                <a:lnTo>
                  <a:pt x="13" y="2144"/>
                </a:lnTo>
                <a:lnTo>
                  <a:pt x="0" y="2144"/>
                </a:lnTo>
                <a:lnTo>
                  <a:pt x="0" y="2131"/>
                </a:lnTo>
                <a:lnTo>
                  <a:pt x="13" y="2131"/>
                </a:lnTo>
                <a:close/>
                <a:moveTo>
                  <a:pt x="13" y="2157"/>
                </a:moveTo>
                <a:lnTo>
                  <a:pt x="13" y="2171"/>
                </a:lnTo>
                <a:lnTo>
                  <a:pt x="0" y="2171"/>
                </a:lnTo>
                <a:lnTo>
                  <a:pt x="0" y="2157"/>
                </a:lnTo>
                <a:lnTo>
                  <a:pt x="13" y="2157"/>
                </a:lnTo>
                <a:close/>
                <a:moveTo>
                  <a:pt x="13" y="2184"/>
                </a:moveTo>
                <a:lnTo>
                  <a:pt x="13" y="2197"/>
                </a:lnTo>
                <a:lnTo>
                  <a:pt x="0" y="2197"/>
                </a:lnTo>
                <a:lnTo>
                  <a:pt x="0" y="2184"/>
                </a:lnTo>
                <a:lnTo>
                  <a:pt x="13" y="2184"/>
                </a:lnTo>
                <a:close/>
                <a:moveTo>
                  <a:pt x="13" y="2211"/>
                </a:moveTo>
                <a:lnTo>
                  <a:pt x="13" y="2224"/>
                </a:lnTo>
                <a:lnTo>
                  <a:pt x="0" y="2224"/>
                </a:lnTo>
                <a:lnTo>
                  <a:pt x="0" y="2211"/>
                </a:lnTo>
                <a:lnTo>
                  <a:pt x="13" y="2211"/>
                </a:lnTo>
                <a:close/>
                <a:moveTo>
                  <a:pt x="13" y="2237"/>
                </a:moveTo>
                <a:lnTo>
                  <a:pt x="13" y="2251"/>
                </a:lnTo>
                <a:lnTo>
                  <a:pt x="0" y="2251"/>
                </a:lnTo>
                <a:lnTo>
                  <a:pt x="0" y="2237"/>
                </a:lnTo>
                <a:lnTo>
                  <a:pt x="13" y="2237"/>
                </a:lnTo>
                <a:close/>
                <a:moveTo>
                  <a:pt x="13" y="2264"/>
                </a:moveTo>
                <a:lnTo>
                  <a:pt x="13" y="2277"/>
                </a:lnTo>
                <a:lnTo>
                  <a:pt x="0" y="2277"/>
                </a:lnTo>
                <a:lnTo>
                  <a:pt x="0" y="2264"/>
                </a:lnTo>
                <a:lnTo>
                  <a:pt x="13" y="2264"/>
                </a:lnTo>
                <a:close/>
                <a:moveTo>
                  <a:pt x="13" y="2290"/>
                </a:moveTo>
                <a:lnTo>
                  <a:pt x="13" y="2304"/>
                </a:lnTo>
                <a:lnTo>
                  <a:pt x="0" y="2304"/>
                </a:lnTo>
                <a:lnTo>
                  <a:pt x="0" y="2290"/>
                </a:lnTo>
                <a:lnTo>
                  <a:pt x="13" y="2290"/>
                </a:lnTo>
                <a:close/>
                <a:moveTo>
                  <a:pt x="13" y="2317"/>
                </a:moveTo>
                <a:lnTo>
                  <a:pt x="13" y="2330"/>
                </a:lnTo>
                <a:lnTo>
                  <a:pt x="0" y="2330"/>
                </a:lnTo>
                <a:lnTo>
                  <a:pt x="0" y="2317"/>
                </a:lnTo>
                <a:lnTo>
                  <a:pt x="13" y="2317"/>
                </a:lnTo>
                <a:close/>
                <a:moveTo>
                  <a:pt x="13" y="2344"/>
                </a:moveTo>
                <a:lnTo>
                  <a:pt x="13" y="2347"/>
                </a:lnTo>
                <a:lnTo>
                  <a:pt x="0" y="2347"/>
                </a:lnTo>
                <a:lnTo>
                  <a:pt x="0" y="2344"/>
                </a:lnTo>
                <a:lnTo>
                  <a:pt x="13" y="2344"/>
                </a:lnTo>
                <a:close/>
              </a:path>
            </a:pathLst>
          </a:custGeom>
          <a:solidFill>
            <a:srgbClr val="000000"/>
          </a:solidFill>
          <a:ln w="0" cap="flat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sz="1600" dirty="0">
              <a:ea typeface="SimHei" panose="02010609060101010101" pitchFamily="49" charset="-122"/>
            </a:endParaRPr>
          </a:p>
        </p:txBody>
      </p:sp>
      <p:sp>
        <p:nvSpPr>
          <p:cNvPr id="212" name="Freeform 26">
            <a:extLst>
              <a:ext uri="{FF2B5EF4-FFF2-40B4-BE49-F238E27FC236}">
                <a16:creationId xmlns:a16="http://schemas.microsoft.com/office/drawing/2014/main" id="{B1DB12AA-7694-4F6A-9C36-1C5402A03A16}"/>
              </a:ext>
            </a:extLst>
          </p:cNvPr>
          <p:cNvSpPr>
            <a:spLocks noEditPoints="1"/>
          </p:cNvSpPr>
          <p:nvPr/>
        </p:nvSpPr>
        <p:spPr bwMode="auto">
          <a:xfrm>
            <a:off x="4245252" y="3160179"/>
            <a:ext cx="18074" cy="2997194"/>
          </a:xfrm>
          <a:custGeom>
            <a:avLst/>
            <a:gdLst>
              <a:gd name="T0" fmla="*/ 14 w 14"/>
              <a:gd name="T1" fmla="*/ 40 h 2347"/>
              <a:gd name="T2" fmla="*/ 0 w 14"/>
              <a:gd name="T3" fmla="*/ 53 h 2347"/>
              <a:gd name="T4" fmla="*/ 14 w 14"/>
              <a:gd name="T5" fmla="*/ 106 h 2347"/>
              <a:gd name="T6" fmla="*/ 0 w 14"/>
              <a:gd name="T7" fmla="*/ 146 h 2347"/>
              <a:gd name="T8" fmla="*/ 14 w 14"/>
              <a:gd name="T9" fmla="*/ 159 h 2347"/>
              <a:gd name="T10" fmla="*/ 14 w 14"/>
              <a:gd name="T11" fmla="*/ 226 h 2347"/>
              <a:gd name="T12" fmla="*/ 0 w 14"/>
              <a:gd name="T13" fmla="*/ 239 h 2347"/>
              <a:gd name="T14" fmla="*/ 14 w 14"/>
              <a:gd name="T15" fmla="*/ 293 h 2347"/>
              <a:gd name="T16" fmla="*/ 0 w 14"/>
              <a:gd name="T17" fmla="*/ 333 h 2347"/>
              <a:gd name="T18" fmla="*/ 14 w 14"/>
              <a:gd name="T19" fmla="*/ 346 h 2347"/>
              <a:gd name="T20" fmla="*/ 14 w 14"/>
              <a:gd name="T21" fmla="*/ 413 h 2347"/>
              <a:gd name="T22" fmla="*/ 0 w 14"/>
              <a:gd name="T23" fmla="*/ 426 h 2347"/>
              <a:gd name="T24" fmla="*/ 14 w 14"/>
              <a:gd name="T25" fmla="*/ 479 h 2347"/>
              <a:gd name="T26" fmla="*/ 0 w 14"/>
              <a:gd name="T27" fmla="*/ 519 h 2347"/>
              <a:gd name="T28" fmla="*/ 14 w 14"/>
              <a:gd name="T29" fmla="*/ 532 h 2347"/>
              <a:gd name="T30" fmla="*/ 14 w 14"/>
              <a:gd name="T31" fmla="*/ 599 h 2347"/>
              <a:gd name="T32" fmla="*/ 0 w 14"/>
              <a:gd name="T33" fmla="*/ 612 h 2347"/>
              <a:gd name="T34" fmla="*/ 14 w 14"/>
              <a:gd name="T35" fmla="*/ 666 h 2347"/>
              <a:gd name="T36" fmla="*/ 0 w 14"/>
              <a:gd name="T37" fmla="*/ 706 h 2347"/>
              <a:gd name="T38" fmla="*/ 14 w 14"/>
              <a:gd name="T39" fmla="*/ 719 h 2347"/>
              <a:gd name="T40" fmla="*/ 14 w 14"/>
              <a:gd name="T41" fmla="*/ 786 h 2347"/>
              <a:gd name="T42" fmla="*/ 0 w 14"/>
              <a:gd name="T43" fmla="*/ 799 h 2347"/>
              <a:gd name="T44" fmla="*/ 14 w 14"/>
              <a:gd name="T45" fmla="*/ 852 h 2347"/>
              <a:gd name="T46" fmla="*/ 0 w 14"/>
              <a:gd name="T47" fmla="*/ 892 h 2347"/>
              <a:gd name="T48" fmla="*/ 14 w 14"/>
              <a:gd name="T49" fmla="*/ 905 h 2347"/>
              <a:gd name="T50" fmla="*/ 14 w 14"/>
              <a:gd name="T51" fmla="*/ 972 h 2347"/>
              <a:gd name="T52" fmla="*/ 0 w 14"/>
              <a:gd name="T53" fmla="*/ 985 h 2347"/>
              <a:gd name="T54" fmla="*/ 14 w 14"/>
              <a:gd name="T55" fmla="*/ 1038 h 2347"/>
              <a:gd name="T56" fmla="*/ 0 w 14"/>
              <a:gd name="T57" fmla="*/ 1078 h 2347"/>
              <a:gd name="T58" fmla="*/ 14 w 14"/>
              <a:gd name="T59" fmla="*/ 1092 h 2347"/>
              <a:gd name="T60" fmla="*/ 14 w 14"/>
              <a:gd name="T61" fmla="*/ 1158 h 2347"/>
              <a:gd name="T62" fmla="*/ 0 w 14"/>
              <a:gd name="T63" fmla="*/ 1172 h 2347"/>
              <a:gd name="T64" fmla="*/ 14 w 14"/>
              <a:gd name="T65" fmla="*/ 1225 h 2347"/>
              <a:gd name="T66" fmla="*/ 0 w 14"/>
              <a:gd name="T67" fmla="*/ 1265 h 2347"/>
              <a:gd name="T68" fmla="*/ 14 w 14"/>
              <a:gd name="T69" fmla="*/ 1278 h 2347"/>
              <a:gd name="T70" fmla="*/ 14 w 14"/>
              <a:gd name="T71" fmla="*/ 1345 h 2347"/>
              <a:gd name="T72" fmla="*/ 0 w 14"/>
              <a:gd name="T73" fmla="*/ 1358 h 2347"/>
              <a:gd name="T74" fmla="*/ 14 w 14"/>
              <a:gd name="T75" fmla="*/ 1411 h 2347"/>
              <a:gd name="T76" fmla="*/ 0 w 14"/>
              <a:gd name="T77" fmla="*/ 1451 h 2347"/>
              <a:gd name="T78" fmla="*/ 14 w 14"/>
              <a:gd name="T79" fmla="*/ 1465 h 2347"/>
              <a:gd name="T80" fmla="*/ 14 w 14"/>
              <a:gd name="T81" fmla="*/ 1531 h 2347"/>
              <a:gd name="T82" fmla="*/ 0 w 14"/>
              <a:gd name="T83" fmla="*/ 1545 h 2347"/>
              <a:gd name="T84" fmla="*/ 14 w 14"/>
              <a:gd name="T85" fmla="*/ 1598 h 2347"/>
              <a:gd name="T86" fmla="*/ 0 w 14"/>
              <a:gd name="T87" fmla="*/ 1638 h 2347"/>
              <a:gd name="T88" fmla="*/ 14 w 14"/>
              <a:gd name="T89" fmla="*/ 1651 h 2347"/>
              <a:gd name="T90" fmla="*/ 14 w 14"/>
              <a:gd name="T91" fmla="*/ 1718 h 2347"/>
              <a:gd name="T92" fmla="*/ 0 w 14"/>
              <a:gd name="T93" fmla="*/ 1731 h 2347"/>
              <a:gd name="T94" fmla="*/ 14 w 14"/>
              <a:gd name="T95" fmla="*/ 1784 h 2347"/>
              <a:gd name="T96" fmla="*/ 0 w 14"/>
              <a:gd name="T97" fmla="*/ 1824 h 2347"/>
              <a:gd name="T98" fmla="*/ 14 w 14"/>
              <a:gd name="T99" fmla="*/ 1838 h 2347"/>
              <a:gd name="T100" fmla="*/ 14 w 14"/>
              <a:gd name="T101" fmla="*/ 1904 h 2347"/>
              <a:gd name="T102" fmla="*/ 0 w 14"/>
              <a:gd name="T103" fmla="*/ 1917 h 2347"/>
              <a:gd name="T104" fmla="*/ 14 w 14"/>
              <a:gd name="T105" fmla="*/ 1971 h 2347"/>
              <a:gd name="T106" fmla="*/ 0 w 14"/>
              <a:gd name="T107" fmla="*/ 2011 h 2347"/>
              <a:gd name="T108" fmla="*/ 14 w 14"/>
              <a:gd name="T109" fmla="*/ 2024 h 2347"/>
              <a:gd name="T110" fmla="*/ 14 w 14"/>
              <a:gd name="T111" fmla="*/ 2091 h 2347"/>
              <a:gd name="T112" fmla="*/ 0 w 14"/>
              <a:gd name="T113" fmla="*/ 2104 h 2347"/>
              <a:gd name="T114" fmla="*/ 14 w 14"/>
              <a:gd name="T115" fmla="*/ 2157 h 2347"/>
              <a:gd name="T116" fmla="*/ 0 w 14"/>
              <a:gd name="T117" fmla="*/ 2197 h 2347"/>
              <a:gd name="T118" fmla="*/ 14 w 14"/>
              <a:gd name="T119" fmla="*/ 2211 h 2347"/>
              <a:gd name="T120" fmla="*/ 14 w 14"/>
              <a:gd name="T121" fmla="*/ 2277 h 2347"/>
              <a:gd name="T122" fmla="*/ 0 w 14"/>
              <a:gd name="T123" fmla="*/ 2290 h 2347"/>
              <a:gd name="T124" fmla="*/ 14 w 14"/>
              <a:gd name="T125" fmla="*/ 2344 h 234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14" h="2347">
                <a:moveTo>
                  <a:pt x="14" y="0"/>
                </a:moveTo>
                <a:lnTo>
                  <a:pt x="14" y="13"/>
                </a:lnTo>
                <a:lnTo>
                  <a:pt x="0" y="13"/>
                </a:lnTo>
                <a:lnTo>
                  <a:pt x="0" y="0"/>
                </a:lnTo>
                <a:lnTo>
                  <a:pt x="14" y="0"/>
                </a:lnTo>
                <a:close/>
                <a:moveTo>
                  <a:pt x="14" y="26"/>
                </a:moveTo>
                <a:lnTo>
                  <a:pt x="14" y="40"/>
                </a:lnTo>
                <a:lnTo>
                  <a:pt x="0" y="40"/>
                </a:lnTo>
                <a:lnTo>
                  <a:pt x="0" y="26"/>
                </a:lnTo>
                <a:lnTo>
                  <a:pt x="14" y="26"/>
                </a:lnTo>
                <a:close/>
                <a:moveTo>
                  <a:pt x="14" y="53"/>
                </a:moveTo>
                <a:lnTo>
                  <a:pt x="14" y="66"/>
                </a:lnTo>
                <a:lnTo>
                  <a:pt x="0" y="66"/>
                </a:lnTo>
                <a:lnTo>
                  <a:pt x="0" y="53"/>
                </a:lnTo>
                <a:lnTo>
                  <a:pt x="14" y="53"/>
                </a:lnTo>
                <a:close/>
                <a:moveTo>
                  <a:pt x="14" y="80"/>
                </a:moveTo>
                <a:lnTo>
                  <a:pt x="14" y="93"/>
                </a:lnTo>
                <a:lnTo>
                  <a:pt x="0" y="93"/>
                </a:lnTo>
                <a:lnTo>
                  <a:pt x="0" y="80"/>
                </a:lnTo>
                <a:lnTo>
                  <a:pt x="14" y="80"/>
                </a:lnTo>
                <a:close/>
                <a:moveTo>
                  <a:pt x="14" y="106"/>
                </a:moveTo>
                <a:lnTo>
                  <a:pt x="14" y="119"/>
                </a:lnTo>
                <a:lnTo>
                  <a:pt x="0" y="119"/>
                </a:lnTo>
                <a:lnTo>
                  <a:pt x="0" y="106"/>
                </a:lnTo>
                <a:lnTo>
                  <a:pt x="14" y="106"/>
                </a:lnTo>
                <a:close/>
                <a:moveTo>
                  <a:pt x="14" y="133"/>
                </a:moveTo>
                <a:lnTo>
                  <a:pt x="14" y="146"/>
                </a:lnTo>
                <a:lnTo>
                  <a:pt x="0" y="146"/>
                </a:lnTo>
                <a:lnTo>
                  <a:pt x="0" y="133"/>
                </a:lnTo>
                <a:lnTo>
                  <a:pt x="14" y="133"/>
                </a:lnTo>
                <a:close/>
                <a:moveTo>
                  <a:pt x="14" y="159"/>
                </a:moveTo>
                <a:lnTo>
                  <a:pt x="14" y="173"/>
                </a:lnTo>
                <a:lnTo>
                  <a:pt x="0" y="173"/>
                </a:lnTo>
                <a:lnTo>
                  <a:pt x="0" y="159"/>
                </a:lnTo>
                <a:lnTo>
                  <a:pt x="14" y="159"/>
                </a:lnTo>
                <a:close/>
                <a:moveTo>
                  <a:pt x="14" y="186"/>
                </a:moveTo>
                <a:lnTo>
                  <a:pt x="14" y="199"/>
                </a:lnTo>
                <a:lnTo>
                  <a:pt x="0" y="199"/>
                </a:lnTo>
                <a:lnTo>
                  <a:pt x="0" y="186"/>
                </a:lnTo>
                <a:lnTo>
                  <a:pt x="14" y="186"/>
                </a:lnTo>
                <a:close/>
                <a:moveTo>
                  <a:pt x="14" y="213"/>
                </a:moveTo>
                <a:lnTo>
                  <a:pt x="14" y="226"/>
                </a:lnTo>
                <a:lnTo>
                  <a:pt x="0" y="226"/>
                </a:lnTo>
                <a:lnTo>
                  <a:pt x="0" y="213"/>
                </a:lnTo>
                <a:lnTo>
                  <a:pt x="14" y="213"/>
                </a:lnTo>
                <a:close/>
                <a:moveTo>
                  <a:pt x="14" y="239"/>
                </a:moveTo>
                <a:lnTo>
                  <a:pt x="14" y="253"/>
                </a:lnTo>
                <a:lnTo>
                  <a:pt x="0" y="253"/>
                </a:lnTo>
                <a:lnTo>
                  <a:pt x="0" y="239"/>
                </a:lnTo>
                <a:lnTo>
                  <a:pt x="14" y="239"/>
                </a:lnTo>
                <a:close/>
                <a:moveTo>
                  <a:pt x="14" y="266"/>
                </a:moveTo>
                <a:lnTo>
                  <a:pt x="14" y="279"/>
                </a:lnTo>
                <a:lnTo>
                  <a:pt x="0" y="279"/>
                </a:lnTo>
                <a:lnTo>
                  <a:pt x="0" y="266"/>
                </a:lnTo>
                <a:lnTo>
                  <a:pt x="14" y="266"/>
                </a:lnTo>
                <a:close/>
                <a:moveTo>
                  <a:pt x="14" y="293"/>
                </a:moveTo>
                <a:lnTo>
                  <a:pt x="14" y="306"/>
                </a:lnTo>
                <a:lnTo>
                  <a:pt x="0" y="306"/>
                </a:lnTo>
                <a:lnTo>
                  <a:pt x="0" y="293"/>
                </a:lnTo>
                <a:lnTo>
                  <a:pt x="14" y="293"/>
                </a:lnTo>
                <a:close/>
                <a:moveTo>
                  <a:pt x="14" y="319"/>
                </a:moveTo>
                <a:lnTo>
                  <a:pt x="14" y="333"/>
                </a:lnTo>
                <a:lnTo>
                  <a:pt x="0" y="333"/>
                </a:lnTo>
                <a:lnTo>
                  <a:pt x="0" y="319"/>
                </a:lnTo>
                <a:lnTo>
                  <a:pt x="14" y="319"/>
                </a:lnTo>
                <a:close/>
                <a:moveTo>
                  <a:pt x="14" y="346"/>
                </a:moveTo>
                <a:lnTo>
                  <a:pt x="14" y="359"/>
                </a:lnTo>
                <a:lnTo>
                  <a:pt x="0" y="359"/>
                </a:lnTo>
                <a:lnTo>
                  <a:pt x="0" y="346"/>
                </a:lnTo>
                <a:lnTo>
                  <a:pt x="14" y="346"/>
                </a:lnTo>
                <a:close/>
                <a:moveTo>
                  <a:pt x="14" y="373"/>
                </a:moveTo>
                <a:lnTo>
                  <a:pt x="14" y="386"/>
                </a:lnTo>
                <a:lnTo>
                  <a:pt x="0" y="386"/>
                </a:lnTo>
                <a:lnTo>
                  <a:pt x="0" y="373"/>
                </a:lnTo>
                <a:lnTo>
                  <a:pt x="14" y="373"/>
                </a:lnTo>
                <a:close/>
                <a:moveTo>
                  <a:pt x="14" y="399"/>
                </a:moveTo>
                <a:lnTo>
                  <a:pt x="14" y="413"/>
                </a:lnTo>
                <a:lnTo>
                  <a:pt x="0" y="413"/>
                </a:lnTo>
                <a:lnTo>
                  <a:pt x="0" y="399"/>
                </a:lnTo>
                <a:lnTo>
                  <a:pt x="14" y="399"/>
                </a:lnTo>
                <a:close/>
                <a:moveTo>
                  <a:pt x="14" y="426"/>
                </a:moveTo>
                <a:lnTo>
                  <a:pt x="14" y="439"/>
                </a:lnTo>
                <a:lnTo>
                  <a:pt x="0" y="439"/>
                </a:lnTo>
                <a:lnTo>
                  <a:pt x="0" y="426"/>
                </a:lnTo>
                <a:lnTo>
                  <a:pt x="14" y="426"/>
                </a:lnTo>
                <a:close/>
                <a:moveTo>
                  <a:pt x="14" y="453"/>
                </a:moveTo>
                <a:lnTo>
                  <a:pt x="14" y="466"/>
                </a:lnTo>
                <a:lnTo>
                  <a:pt x="0" y="466"/>
                </a:lnTo>
                <a:lnTo>
                  <a:pt x="0" y="453"/>
                </a:lnTo>
                <a:lnTo>
                  <a:pt x="14" y="453"/>
                </a:lnTo>
                <a:close/>
                <a:moveTo>
                  <a:pt x="14" y="479"/>
                </a:moveTo>
                <a:lnTo>
                  <a:pt x="14" y="493"/>
                </a:lnTo>
                <a:lnTo>
                  <a:pt x="0" y="493"/>
                </a:lnTo>
                <a:lnTo>
                  <a:pt x="0" y="479"/>
                </a:lnTo>
                <a:lnTo>
                  <a:pt x="14" y="479"/>
                </a:lnTo>
                <a:close/>
                <a:moveTo>
                  <a:pt x="14" y="506"/>
                </a:moveTo>
                <a:lnTo>
                  <a:pt x="14" y="519"/>
                </a:lnTo>
                <a:lnTo>
                  <a:pt x="0" y="519"/>
                </a:lnTo>
                <a:lnTo>
                  <a:pt x="0" y="506"/>
                </a:lnTo>
                <a:lnTo>
                  <a:pt x="14" y="506"/>
                </a:lnTo>
                <a:close/>
                <a:moveTo>
                  <a:pt x="14" y="532"/>
                </a:moveTo>
                <a:lnTo>
                  <a:pt x="14" y="546"/>
                </a:lnTo>
                <a:lnTo>
                  <a:pt x="0" y="546"/>
                </a:lnTo>
                <a:lnTo>
                  <a:pt x="0" y="532"/>
                </a:lnTo>
                <a:lnTo>
                  <a:pt x="14" y="532"/>
                </a:lnTo>
                <a:close/>
                <a:moveTo>
                  <a:pt x="14" y="559"/>
                </a:moveTo>
                <a:lnTo>
                  <a:pt x="14" y="572"/>
                </a:lnTo>
                <a:lnTo>
                  <a:pt x="0" y="572"/>
                </a:lnTo>
                <a:lnTo>
                  <a:pt x="0" y="559"/>
                </a:lnTo>
                <a:lnTo>
                  <a:pt x="14" y="559"/>
                </a:lnTo>
                <a:close/>
                <a:moveTo>
                  <a:pt x="14" y="586"/>
                </a:moveTo>
                <a:lnTo>
                  <a:pt x="14" y="599"/>
                </a:lnTo>
                <a:lnTo>
                  <a:pt x="0" y="599"/>
                </a:lnTo>
                <a:lnTo>
                  <a:pt x="0" y="586"/>
                </a:lnTo>
                <a:lnTo>
                  <a:pt x="14" y="586"/>
                </a:lnTo>
                <a:close/>
                <a:moveTo>
                  <a:pt x="14" y="612"/>
                </a:moveTo>
                <a:lnTo>
                  <a:pt x="14" y="626"/>
                </a:lnTo>
                <a:lnTo>
                  <a:pt x="0" y="626"/>
                </a:lnTo>
                <a:lnTo>
                  <a:pt x="0" y="612"/>
                </a:lnTo>
                <a:lnTo>
                  <a:pt x="14" y="612"/>
                </a:lnTo>
                <a:close/>
                <a:moveTo>
                  <a:pt x="14" y="639"/>
                </a:moveTo>
                <a:lnTo>
                  <a:pt x="14" y="652"/>
                </a:lnTo>
                <a:lnTo>
                  <a:pt x="0" y="652"/>
                </a:lnTo>
                <a:lnTo>
                  <a:pt x="0" y="639"/>
                </a:lnTo>
                <a:lnTo>
                  <a:pt x="14" y="639"/>
                </a:lnTo>
                <a:close/>
                <a:moveTo>
                  <a:pt x="14" y="666"/>
                </a:moveTo>
                <a:lnTo>
                  <a:pt x="14" y="679"/>
                </a:lnTo>
                <a:lnTo>
                  <a:pt x="0" y="679"/>
                </a:lnTo>
                <a:lnTo>
                  <a:pt x="0" y="666"/>
                </a:lnTo>
                <a:lnTo>
                  <a:pt x="14" y="666"/>
                </a:lnTo>
                <a:close/>
                <a:moveTo>
                  <a:pt x="14" y="692"/>
                </a:moveTo>
                <a:lnTo>
                  <a:pt x="14" y="706"/>
                </a:lnTo>
                <a:lnTo>
                  <a:pt x="0" y="706"/>
                </a:lnTo>
                <a:lnTo>
                  <a:pt x="0" y="692"/>
                </a:lnTo>
                <a:lnTo>
                  <a:pt x="14" y="692"/>
                </a:lnTo>
                <a:close/>
                <a:moveTo>
                  <a:pt x="14" y="719"/>
                </a:moveTo>
                <a:lnTo>
                  <a:pt x="14" y="732"/>
                </a:lnTo>
                <a:lnTo>
                  <a:pt x="0" y="732"/>
                </a:lnTo>
                <a:lnTo>
                  <a:pt x="0" y="719"/>
                </a:lnTo>
                <a:lnTo>
                  <a:pt x="14" y="719"/>
                </a:lnTo>
                <a:close/>
                <a:moveTo>
                  <a:pt x="14" y="746"/>
                </a:moveTo>
                <a:lnTo>
                  <a:pt x="14" y="759"/>
                </a:lnTo>
                <a:lnTo>
                  <a:pt x="0" y="759"/>
                </a:lnTo>
                <a:lnTo>
                  <a:pt x="0" y="746"/>
                </a:lnTo>
                <a:lnTo>
                  <a:pt x="14" y="746"/>
                </a:lnTo>
                <a:close/>
                <a:moveTo>
                  <a:pt x="14" y="772"/>
                </a:moveTo>
                <a:lnTo>
                  <a:pt x="14" y="786"/>
                </a:lnTo>
                <a:lnTo>
                  <a:pt x="0" y="786"/>
                </a:lnTo>
                <a:lnTo>
                  <a:pt x="0" y="772"/>
                </a:lnTo>
                <a:lnTo>
                  <a:pt x="14" y="772"/>
                </a:lnTo>
                <a:close/>
                <a:moveTo>
                  <a:pt x="14" y="799"/>
                </a:moveTo>
                <a:lnTo>
                  <a:pt x="14" y="812"/>
                </a:lnTo>
                <a:lnTo>
                  <a:pt x="0" y="812"/>
                </a:lnTo>
                <a:lnTo>
                  <a:pt x="0" y="799"/>
                </a:lnTo>
                <a:lnTo>
                  <a:pt x="14" y="799"/>
                </a:lnTo>
                <a:close/>
                <a:moveTo>
                  <a:pt x="14" y="826"/>
                </a:moveTo>
                <a:lnTo>
                  <a:pt x="14" y="839"/>
                </a:lnTo>
                <a:lnTo>
                  <a:pt x="0" y="839"/>
                </a:lnTo>
                <a:lnTo>
                  <a:pt x="0" y="826"/>
                </a:lnTo>
                <a:lnTo>
                  <a:pt x="14" y="826"/>
                </a:lnTo>
                <a:close/>
                <a:moveTo>
                  <a:pt x="14" y="852"/>
                </a:moveTo>
                <a:lnTo>
                  <a:pt x="14" y="866"/>
                </a:lnTo>
                <a:lnTo>
                  <a:pt x="0" y="866"/>
                </a:lnTo>
                <a:lnTo>
                  <a:pt x="0" y="852"/>
                </a:lnTo>
                <a:lnTo>
                  <a:pt x="14" y="852"/>
                </a:lnTo>
                <a:close/>
                <a:moveTo>
                  <a:pt x="14" y="879"/>
                </a:moveTo>
                <a:lnTo>
                  <a:pt x="14" y="892"/>
                </a:lnTo>
                <a:lnTo>
                  <a:pt x="0" y="892"/>
                </a:lnTo>
                <a:lnTo>
                  <a:pt x="0" y="879"/>
                </a:lnTo>
                <a:lnTo>
                  <a:pt x="14" y="879"/>
                </a:lnTo>
                <a:close/>
                <a:moveTo>
                  <a:pt x="14" y="905"/>
                </a:moveTo>
                <a:lnTo>
                  <a:pt x="14" y="919"/>
                </a:lnTo>
                <a:lnTo>
                  <a:pt x="0" y="919"/>
                </a:lnTo>
                <a:lnTo>
                  <a:pt x="0" y="905"/>
                </a:lnTo>
                <a:lnTo>
                  <a:pt x="14" y="905"/>
                </a:lnTo>
                <a:close/>
                <a:moveTo>
                  <a:pt x="14" y="932"/>
                </a:moveTo>
                <a:lnTo>
                  <a:pt x="14" y="945"/>
                </a:lnTo>
                <a:lnTo>
                  <a:pt x="0" y="945"/>
                </a:lnTo>
                <a:lnTo>
                  <a:pt x="0" y="932"/>
                </a:lnTo>
                <a:lnTo>
                  <a:pt x="14" y="932"/>
                </a:lnTo>
                <a:close/>
                <a:moveTo>
                  <a:pt x="14" y="959"/>
                </a:moveTo>
                <a:lnTo>
                  <a:pt x="14" y="972"/>
                </a:lnTo>
                <a:lnTo>
                  <a:pt x="0" y="972"/>
                </a:lnTo>
                <a:lnTo>
                  <a:pt x="0" y="959"/>
                </a:lnTo>
                <a:lnTo>
                  <a:pt x="14" y="959"/>
                </a:lnTo>
                <a:close/>
                <a:moveTo>
                  <a:pt x="14" y="985"/>
                </a:moveTo>
                <a:lnTo>
                  <a:pt x="14" y="998"/>
                </a:lnTo>
                <a:lnTo>
                  <a:pt x="0" y="998"/>
                </a:lnTo>
                <a:lnTo>
                  <a:pt x="0" y="985"/>
                </a:lnTo>
                <a:lnTo>
                  <a:pt x="14" y="985"/>
                </a:lnTo>
                <a:close/>
                <a:moveTo>
                  <a:pt x="14" y="1012"/>
                </a:moveTo>
                <a:lnTo>
                  <a:pt x="14" y="1025"/>
                </a:lnTo>
                <a:lnTo>
                  <a:pt x="0" y="1025"/>
                </a:lnTo>
                <a:lnTo>
                  <a:pt x="0" y="1012"/>
                </a:lnTo>
                <a:lnTo>
                  <a:pt x="14" y="1012"/>
                </a:lnTo>
                <a:close/>
                <a:moveTo>
                  <a:pt x="14" y="1038"/>
                </a:moveTo>
                <a:lnTo>
                  <a:pt x="14" y="1052"/>
                </a:lnTo>
                <a:lnTo>
                  <a:pt x="0" y="1052"/>
                </a:lnTo>
                <a:lnTo>
                  <a:pt x="0" y="1038"/>
                </a:lnTo>
                <a:lnTo>
                  <a:pt x="14" y="1038"/>
                </a:lnTo>
                <a:close/>
                <a:moveTo>
                  <a:pt x="14" y="1065"/>
                </a:moveTo>
                <a:lnTo>
                  <a:pt x="14" y="1078"/>
                </a:lnTo>
                <a:lnTo>
                  <a:pt x="0" y="1078"/>
                </a:lnTo>
                <a:lnTo>
                  <a:pt x="0" y="1065"/>
                </a:lnTo>
                <a:lnTo>
                  <a:pt x="14" y="1065"/>
                </a:lnTo>
                <a:close/>
                <a:moveTo>
                  <a:pt x="14" y="1092"/>
                </a:moveTo>
                <a:lnTo>
                  <a:pt x="14" y="1105"/>
                </a:lnTo>
                <a:lnTo>
                  <a:pt x="0" y="1105"/>
                </a:lnTo>
                <a:lnTo>
                  <a:pt x="0" y="1092"/>
                </a:lnTo>
                <a:lnTo>
                  <a:pt x="14" y="1092"/>
                </a:lnTo>
                <a:close/>
                <a:moveTo>
                  <a:pt x="14" y="1118"/>
                </a:moveTo>
                <a:lnTo>
                  <a:pt x="14" y="1132"/>
                </a:lnTo>
                <a:lnTo>
                  <a:pt x="0" y="1132"/>
                </a:lnTo>
                <a:lnTo>
                  <a:pt x="0" y="1118"/>
                </a:lnTo>
                <a:lnTo>
                  <a:pt x="14" y="1118"/>
                </a:lnTo>
                <a:close/>
                <a:moveTo>
                  <a:pt x="14" y="1145"/>
                </a:moveTo>
                <a:lnTo>
                  <a:pt x="14" y="1158"/>
                </a:lnTo>
                <a:lnTo>
                  <a:pt x="0" y="1158"/>
                </a:lnTo>
                <a:lnTo>
                  <a:pt x="0" y="1145"/>
                </a:lnTo>
                <a:lnTo>
                  <a:pt x="14" y="1145"/>
                </a:lnTo>
                <a:close/>
                <a:moveTo>
                  <a:pt x="14" y="1172"/>
                </a:moveTo>
                <a:lnTo>
                  <a:pt x="14" y="1185"/>
                </a:lnTo>
                <a:lnTo>
                  <a:pt x="0" y="1185"/>
                </a:lnTo>
                <a:lnTo>
                  <a:pt x="0" y="1172"/>
                </a:lnTo>
                <a:lnTo>
                  <a:pt x="14" y="1172"/>
                </a:lnTo>
                <a:close/>
                <a:moveTo>
                  <a:pt x="14" y="1198"/>
                </a:moveTo>
                <a:lnTo>
                  <a:pt x="14" y="1212"/>
                </a:lnTo>
                <a:lnTo>
                  <a:pt x="0" y="1212"/>
                </a:lnTo>
                <a:lnTo>
                  <a:pt x="0" y="1198"/>
                </a:lnTo>
                <a:lnTo>
                  <a:pt x="14" y="1198"/>
                </a:lnTo>
                <a:close/>
                <a:moveTo>
                  <a:pt x="14" y="1225"/>
                </a:moveTo>
                <a:lnTo>
                  <a:pt x="14" y="1238"/>
                </a:lnTo>
                <a:lnTo>
                  <a:pt x="0" y="1238"/>
                </a:lnTo>
                <a:lnTo>
                  <a:pt x="0" y="1225"/>
                </a:lnTo>
                <a:lnTo>
                  <a:pt x="14" y="1225"/>
                </a:lnTo>
                <a:close/>
                <a:moveTo>
                  <a:pt x="14" y="1252"/>
                </a:moveTo>
                <a:lnTo>
                  <a:pt x="14" y="1265"/>
                </a:lnTo>
                <a:lnTo>
                  <a:pt x="0" y="1265"/>
                </a:lnTo>
                <a:lnTo>
                  <a:pt x="0" y="1252"/>
                </a:lnTo>
                <a:lnTo>
                  <a:pt x="14" y="1252"/>
                </a:lnTo>
                <a:close/>
                <a:moveTo>
                  <a:pt x="14" y="1278"/>
                </a:moveTo>
                <a:lnTo>
                  <a:pt x="14" y="1292"/>
                </a:lnTo>
                <a:lnTo>
                  <a:pt x="0" y="1292"/>
                </a:lnTo>
                <a:lnTo>
                  <a:pt x="0" y="1278"/>
                </a:lnTo>
                <a:lnTo>
                  <a:pt x="14" y="1278"/>
                </a:lnTo>
                <a:close/>
                <a:moveTo>
                  <a:pt x="14" y="1305"/>
                </a:moveTo>
                <a:lnTo>
                  <a:pt x="14" y="1318"/>
                </a:lnTo>
                <a:lnTo>
                  <a:pt x="0" y="1318"/>
                </a:lnTo>
                <a:lnTo>
                  <a:pt x="0" y="1305"/>
                </a:lnTo>
                <a:lnTo>
                  <a:pt x="14" y="1305"/>
                </a:lnTo>
                <a:close/>
                <a:moveTo>
                  <a:pt x="14" y="1332"/>
                </a:moveTo>
                <a:lnTo>
                  <a:pt x="14" y="1345"/>
                </a:lnTo>
                <a:lnTo>
                  <a:pt x="0" y="1345"/>
                </a:lnTo>
                <a:lnTo>
                  <a:pt x="0" y="1332"/>
                </a:lnTo>
                <a:lnTo>
                  <a:pt x="14" y="1332"/>
                </a:lnTo>
                <a:close/>
                <a:moveTo>
                  <a:pt x="14" y="1358"/>
                </a:moveTo>
                <a:lnTo>
                  <a:pt x="14" y="1372"/>
                </a:lnTo>
                <a:lnTo>
                  <a:pt x="0" y="1372"/>
                </a:lnTo>
                <a:lnTo>
                  <a:pt x="0" y="1358"/>
                </a:lnTo>
                <a:lnTo>
                  <a:pt x="14" y="1358"/>
                </a:lnTo>
                <a:close/>
                <a:moveTo>
                  <a:pt x="14" y="1385"/>
                </a:moveTo>
                <a:lnTo>
                  <a:pt x="14" y="1398"/>
                </a:lnTo>
                <a:lnTo>
                  <a:pt x="0" y="1398"/>
                </a:lnTo>
                <a:lnTo>
                  <a:pt x="0" y="1385"/>
                </a:lnTo>
                <a:lnTo>
                  <a:pt x="14" y="1385"/>
                </a:lnTo>
                <a:close/>
                <a:moveTo>
                  <a:pt x="14" y="1411"/>
                </a:moveTo>
                <a:lnTo>
                  <a:pt x="14" y="1425"/>
                </a:lnTo>
                <a:lnTo>
                  <a:pt x="0" y="1425"/>
                </a:lnTo>
                <a:lnTo>
                  <a:pt x="0" y="1411"/>
                </a:lnTo>
                <a:lnTo>
                  <a:pt x="14" y="1411"/>
                </a:lnTo>
                <a:close/>
                <a:moveTo>
                  <a:pt x="14" y="1438"/>
                </a:moveTo>
                <a:lnTo>
                  <a:pt x="14" y="1451"/>
                </a:lnTo>
                <a:lnTo>
                  <a:pt x="0" y="1451"/>
                </a:lnTo>
                <a:lnTo>
                  <a:pt x="0" y="1438"/>
                </a:lnTo>
                <a:lnTo>
                  <a:pt x="14" y="1438"/>
                </a:lnTo>
                <a:close/>
                <a:moveTo>
                  <a:pt x="14" y="1465"/>
                </a:moveTo>
                <a:lnTo>
                  <a:pt x="14" y="1478"/>
                </a:lnTo>
                <a:lnTo>
                  <a:pt x="0" y="1478"/>
                </a:lnTo>
                <a:lnTo>
                  <a:pt x="0" y="1465"/>
                </a:lnTo>
                <a:lnTo>
                  <a:pt x="14" y="1465"/>
                </a:lnTo>
                <a:close/>
                <a:moveTo>
                  <a:pt x="14" y="1491"/>
                </a:moveTo>
                <a:lnTo>
                  <a:pt x="14" y="1505"/>
                </a:lnTo>
                <a:lnTo>
                  <a:pt x="0" y="1505"/>
                </a:lnTo>
                <a:lnTo>
                  <a:pt x="0" y="1491"/>
                </a:lnTo>
                <a:lnTo>
                  <a:pt x="14" y="1491"/>
                </a:lnTo>
                <a:close/>
                <a:moveTo>
                  <a:pt x="14" y="1518"/>
                </a:moveTo>
                <a:lnTo>
                  <a:pt x="14" y="1531"/>
                </a:lnTo>
                <a:lnTo>
                  <a:pt x="0" y="1531"/>
                </a:lnTo>
                <a:lnTo>
                  <a:pt x="0" y="1518"/>
                </a:lnTo>
                <a:lnTo>
                  <a:pt x="14" y="1518"/>
                </a:lnTo>
                <a:close/>
                <a:moveTo>
                  <a:pt x="14" y="1545"/>
                </a:moveTo>
                <a:lnTo>
                  <a:pt x="14" y="1558"/>
                </a:lnTo>
                <a:lnTo>
                  <a:pt x="0" y="1558"/>
                </a:lnTo>
                <a:lnTo>
                  <a:pt x="0" y="1545"/>
                </a:lnTo>
                <a:lnTo>
                  <a:pt x="14" y="1545"/>
                </a:lnTo>
                <a:close/>
                <a:moveTo>
                  <a:pt x="14" y="1571"/>
                </a:moveTo>
                <a:lnTo>
                  <a:pt x="14" y="1585"/>
                </a:lnTo>
                <a:lnTo>
                  <a:pt x="0" y="1585"/>
                </a:lnTo>
                <a:lnTo>
                  <a:pt x="0" y="1571"/>
                </a:lnTo>
                <a:lnTo>
                  <a:pt x="14" y="1571"/>
                </a:lnTo>
                <a:close/>
                <a:moveTo>
                  <a:pt x="14" y="1598"/>
                </a:moveTo>
                <a:lnTo>
                  <a:pt x="14" y="1611"/>
                </a:lnTo>
                <a:lnTo>
                  <a:pt x="0" y="1611"/>
                </a:lnTo>
                <a:lnTo>
                  <a:pt x="0" y="1598"/>
                </a:lnTo>
                <a:lnTo>
                  <a:pt x="14" y="1598"/>
                </a:lnTo>
                <a:close/>
                <a:moveTo>
                  <a:pt x="14" y="1625"/>
                </a:moveTo>
                <a:lnTo>
                  <a:pt x="14" y="1638"/>
                </a:lnTo>
                <a:lnTo>
                  <a:pt x="0" y="1638"/>
                </a:lnTo>
                <a:lnTo>
                  <a:pt x="0" y="1625"/>
                </a:lnTo>
                <a:lnTo>
                  <a:pt x="14" y="1625"/>
                </a:lnTo>
                <a:close/>
                <a:moveTo>
                  <a:pt x="14" y="1651"/>
                </a:moveTo>
                <a:lnTo>
                  <a:pt x="14" y="1665"/>
                </a:lnTo>
                <a:lnTo>
                  <a:pt x="0" y="1665"/>
                </a:lnTo>
                <a:lnTo>
                  <a:pt x="0" y="1651"/>
                </a:lnTo>
                <a:lnTo>
                  <a:pt x="14" y="1651"/>
                </a:lnTo>
                <a:close/>
                <a:moveTo>
                  <a:pt x="14" y="1678"/>
                </a:moveTo>
                <a:lnTo>
                  <a:pt x="14" y="1691"/>
                </a:lnTo>
                <a:lnTo>
                  <a:pt x="0" y="1691"/>
                </a:lnTo>
                <a:lnTo>
                  <a:pt x="0" y="1678"/>
                </a:lnTo>
                <a:lnTo>
                  <a:pt x="14" y="1678"/>
                </a:lnTo>
                <a:close/>
                <a:moveTo>
                  <a:pt x="14" y="1705"/>
                </a:moveTo>
                <a:lnTo>
                  <a:pt x="14" y="1718"/>
                </a:lnTo>
                <a:lnTo>
                  <a:pt x="0" y="1718"/>
                </a:lnTo>
                <a:lnTo>
                  <a:pt x="0" y="1705"/>
                </a:lnTo>
                <a:lnTo>
                  <a:pt x="14" y="1705"/>
                </a:lnTo>
                <a:close/>
                <a:moveTo>
                  <a:pt x="14" y="1731"/>
                </a:moveTo>
                <a:lnTo>
                  <a:pt x="14" y="1745"/>
                </a:lnTo>
                <a:lnTo>
                  <a:pt x="0" y="1745"/>
                </a:lnTo>
                <a:lnTo>
                  <a:pt x="0" y="1731"/>
                </a:lnTo>
                <a:lnTo>
                  <a:pt x="14" y="1731"/>
                </a:lnTo>
                <a:close/>
                <a:moveTo>
                  <a:pt x="14" y="1758"/>
                </a:moveTo>
                <a:lnTo>
                  <a:pt x="14" y="1771"/>
                </a:lnTo>
                <a:lnTo>
                  <a:pt x="0" y="1771"/>
                </a:lnTo>
                <a:lnTo>
                  <a:pt x="0" y="1758"/>
                </a:lnTo>
                <a:lnTo>
                  <a:pt x="14" y="1758"/>
                </a:lnTo>
                <a:close/>
                <a:moveTo>
                  <a:pt x="14" y="1784"/>
                </a:moveTo>
                <a:lnTo>
                  <a:pt x="14" y="1798"/>
                </a:lnTo>
                <a:lnTo>
                  <a:pt x="0" y="1798"/>
                </a:lnTo>
                <a:lnTo>
                  <a:pt x="0" y="1784"/>
                </a:lnTo>
                <a:lnTo>
                  <a:pt x="14" y="1784"/>
                </a:lnTo>
                <a:close/>
                <a:moveTo>
                  <a:pt x="14" y="1811"/>
                </a:moveTo>
                <a:lnTo>
                  <a:pt x="14" y="1824"/>
                </a:lnTo>
                <a:lnTo>
                  <a:pt x="0" y="1824"/>
                </a:lnTo>
                <a:lnTo>
                  <a:pt x="0" y="1811"/>
                </a:lnTo>
                <a:lnTo>
                  <a:pt x="14" y="1811"/>
                </a:lnTo>
                <a:close/>
                <a:moveTo>
                  <a:pt x="14" y="1838"/>
                </a:moveTo>
                <a:lnTo>
                  <a:pt x="14" y="1851"/>
                </a:lnTo>
                <a:lnTo>
                  <a:pt x="0" y="1851"/>
                </a:lnTo>
                <a:lnTo>
                  <a:pt x="0" y="1838"/>
                </a:lnTo>
                <a:lnTo>
                  <a:pt x="14" y="1838"/>
                </a:lnTo>
                <a:close/>
                <a:moveTo>
                  <a:pt x="14" y="1864"/>
                </a:moveTo>
                <a:lnTo>
                  <a:pt x="14" y="1877"/>
                </a:lnTo>
                <a:lnTo>
                  <a:pt x="0" y="1877"/>
                </a:lnTo>
                <a:lnTo>
                  <a:pt x="0" y="1864"/>
                </a:lnTo>
                <a:lnTo>
                  <a:pt x="14" y="1864"/>
                </a:lnTo>
                <a:close/>
                <a:moveTo>
                  <a:pt x="14" y="1891"/>
                </a:moveTo>
                <a:lnTo>
                  <a:pt x="14" y="1904"/>
                </a:lnTo>
                <a:lnTo>
                  <a:pt x="0" y="1904"/>
                </a:lnTo>
                <a:lnTo>
                  <a:pt x="0" y="1891"/>
                </a:lnTo>
                <a:lnTo>
                  <a:pt x="14" y="1891"/>
                </a:lnTo>
                <a:close/>
                <a:moveTo>
                  <a:pt x="14" y="1917"/>
                </a:moveTo>
                <a:lnTo>
                  <a:pt x="14" y="1931"/>
                </a:lnTo>
                <a:lnTo>
                  <a:pt x="0" y="1931"/>
                </a:lnTo>
                <a:lnTo>
                  <a:pt x="0" y="1917"/>
                </a:lnTo>
                <a:lnTo>
                  <a:pt x="14" y="1917"/>
                </a:lnTo>
                <a:close/>
                <a:moveTo>
                  <a:pt x="14" y="1944"/>
                </a:moveTo>
                <a:lnTo>
                  <a:pt x="14" y="1957"/>
                </a:lnTo>
                <a:lnTo>
                  <a:pt x="0" y="1957"/>
                </a:lnTo>
                <a:lnTo>
                  <a:pt x="0" y="1944"/>
                </a:lnTo>
                <a:lnTo>
                  <a:pt x="14" y="1944"/>
                </a:lnTo>
                <a:close/>
                <a:moveTo>
                  <a:pt x="14" y="1971"/>
                </a:moveTo>
                <a:lnTo>
                  <a:pt x="14" y="1984"/>
                </a:lnTo>
                <a:lnTo>
                  <a:pt x="0" y="1984"/>
                </a:lnTo>
                <a:lnTo>
                  <a:pt x="0" y="1971"/>
                </a:lnTo>
                <a:lnTo>
                  <a:pt x="14" y="1971"/>
                </a:lnTo>
                <a:close/>
                <a:moveTo>
                  <a:pt x="14" y="1997"/>
                </a:moveTo>
                <a:lnTo>
                  <a:pt x="14" y="2011"/>
                </a:lnTo>
                <a:lnTo>
                  <a:pt x="0" y="2011"/>
                </a:lnTo>
                <a:lnTo>
                  <a:pt x="0" y="1997"/>
                </a:lnTo>
                <a:lnTo>
                  <a:pt x="14" y="1997"/>
                </a:lnTo>
                <a:close/>
                <a:moveTo>
                  <a:pt x="14" y="2024"/>
                </a:moveTo>
                <a:lnTo>
                  <a:pt x="14" y="2037"/>
                </a:lnTo>
                <a:lnTo>
                  <a:pt x="0" y="2037"/>
                </a:lnTo>
                <a:lnTo>
                  <a:pt x="0" y="2024"/>
                </a:lnTo>
                <a:lnTo>
                  <a:pt x="14" y="2024"/>
                </a:lnTo>
                <a:close/>
                <a:moveTo>
                  <a:pt x="14" y="2051"/>
                </a:moveTo>
                <a:lnTo>
                  <a:pt x="14" y="2064"/>
                </a:lnTo>
                <a:lnTo>
                  <a:pt x="0" y="2064"/>
                </a:lnTo>
                <a:lnTo>
                  <a:pt x="0" y="2051"/>
                </a:lnTo>
                <a:lnTo>
                  <a:pt x="14" y="2051"/>
                </a:lnTo>
                <a:close/>
                <a:moveTo>
                  <a:pt x="14" y="2077"/>
                </a:moveTo>
                <a:lnTo>
                  <a:pt x="14" y="2091"/>
                </a:lnTo>
                <a:lnTo>
                  <a:pt x="0" y="2091"/>
                </a:lnTo>
                <a:lnTo>
                  <a:pt x="0" y="2077"/>
                </a:lnTo>
                <a:lnTo>
                  <a:pt x="14" y="2077"/>
                </a:lnTo>
                <a:close/>
                <a:moveTo>
                  <a:pt x="14" y="2104"/>
                </a:moveTo>
                <a:lnTo>
                  <a:pt x="14" y="2117"/>
                </a:lnTo>
                <a:lnTo>
                  <a:pt x="0" y="2117"/>
                </a:lnTo>
                <a:lnTo>
                  <a:pt x="0" y="2104"/>
                </a:lnTo>
                <a:lnTo>
                  <a:pt x="14" y="2104"/>
                </a:lnTo>
                <a:close/>
                <a:moveTo>
                  <a:pt x="14" y="2131"/>
                </a:moveTo>
                <a:lnTo>
                  <a:pt x="14" y="2144"/>
                </a:lnTo>
                <a:lnTo>
                  <a:pt x="0" y="2144"/>
                </a:lnTo>
                <a:lnTo>
                  <a:pt x="0" y="2131"/>
                </a:lnTo>
                <a:lnTo>
                  <a:pt x="14" y="2131"/>
                </a:lnTo>
                <a:close/>
                <a:moveTo>
                  <a:pt x="14" y="2157"/>
                </a:moveTo>
                <a:lnTo>
                  <a:pt x="14" y="2171"/>
                </a:lnTo>
                <a:lnTo>
                  <a:pt x="0" y="2171"/>
                </a:lnTo>
                <a:lnTo>
                  <a:pt x="0" y="2157"/>
                </a:lnTo>
                <a:lnTo>
                  <a:pt x="14" y="2157"/>
                </a:lnTo>
                <a:close/>
                <a:moveTo>
                  <a:pt x="14" y="2184"/>
                </a:moveTo>
                <a:lnTo>
                  <a:pt x="14" y="2197"/>
                </a:lnTo>
                <a:lnTo>
                  <a:pt x="0" y="2197"/>
                </a:lnTo>
                <a:lnTo>
                  <a:pt x="0" y="2184"/>
                </a:lnTo>
                <a:lnTo>
                  <a:pt x="14" y="2184"/>
                </a:lnTo>
                <a:close/>
                <a:moveTo>
                  <a:pt x="14" y="2211"/>
                </a:moveTo>
                <a:lnTo>
                  <a:pt x="14" y="2224"/>
                </a:lnTo>
                <a:lnTo>
                  <a:pt x="0" y="2224"/>
                </a:lnTo>
                <a:lnTo>
                  <a:pt x="0" y="2211"/>
                </a:lnTo>
                <a:lnTo>
                  <a:pt x="14" y="2211"/>
                </a:lnTo>
                <a:close/>
                <a:moveTo>
                  <a:pt x="14" y="2237"/>
                </a:moveTo>
                <a:lnTo>
                  <a:pt x="14" y="2251"/>
                </a:lnTo>
                <a:lnTo>
                  <a:pt x="0" y="2251"/>
                </a:lnTo>
                <a:lnTo>
                  <a:pt x="0" y="2237"/>
                </a:lnTo>
                <a:lnTo>
                  <a:pt x="14" y="2237"/>
                </a:lnTo>
                <a:close/>
                <a:moveTo>
                  <a:pt x="14" y="2264"/>
                </a:moveTo>
                <a:lnTo>
                  <a:pt x="14" y="2277"/>
                </a:lnTo>
                <a:lnTo>
                  <a:pt x="0" y="2277"/>
                </a:lnTo>
                <a:lnTo>
                  <a:pt x="0" y="2264"/>
                </a:lnTo>
                <a:lnTo>
                  <a:pt x="14" y="2264"/>
                </a:lnTo>
                <a:close/>
                <a:moveTo>
                  <a:pt x="14" y="2290"/>
                </a:moveTo>
                <a:lnTo>
                  <a:pt x="14" y="2304"/>
                </a:lnTo>
                <a:lnTo>
                  <a:pt x="0" y="2304"/>
                </a:lnTo>
                <a:lnTo>
                  <a:pt x="0" y="2290"/>
                </a:lnTo>
                <a:lnTo>
                  <a:pt x="14" y="2290"/>
                </a:lnTo>
                <a:close/>
                <a:moveTo>
                  <a:pt x="14" y="2317"/>
                </a:moveTo>
                <a:lnTo>
                  <a:pt x="14" y="2330"/>
                </a:lnTo>
                <a:lnTo>
                  <a:pt x="0" y="2330"/>
                </a:lnTo>
                <a:lnTo>
                  <a:pt x="0" y="2317"/>
                </a:lnTo>
                <a:lnTo>
                  <a:pt x="14" y="2317"/>
                </a:lnTo>
                <a:close/>
                <a:moveTo>
                  <a:pt x="14" y="2344"/>
                </a:moveTo>
                <a:lnTo>
                  <a:pt x="14" y="2347"/>
                </a:lnTo>
                <a:lnTo>
                  <a:pt x="0" y="2347"/>
                </a:lnTo>
                <a:lnTo>
                  <a:pt x="0" y="2344"/>
                </a:lnTo>
                <a:lnTo>
                  <a:pt x="14" y="2344"/>
                </a:lnTo>
                <a:close/>
              </a:path>
            </a:pathLst>
          </a:custGeom>
          <a:solidFill>
            <a:srgbClr val="000000"/>
          </a:solidFill>
          <a:ln w="0" cap="flat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sz="1600" dirty="0">
              <a:ea typeface="SimHei" panose="02010609060101010101" pitchFamily="49" charset="-122"/>
            </a:endParaRPr>
          </a:p>
        </p:txBody>
      </p:sp>
      <p:sp>
        <p:nvSpPr>
          <p:cNvPr id="213" name="Freeform 27">
            <a:extLst>
              <a:ext uri="{FF2B5EF4-FFF2-40B4-BE49-F238E27FC236}">
                <a16:creationId xmlns:a16="http://schemas.microsoft.com/office/drawing/2014/main" id="{B1F5460F-9E49-4722-B9E4-9188361649F5}"/>
              </a:ext>
            </a:extLst>
          </p:cNvPr>
          <p:cNvSpPr>
            <a:spLocks noEditPoints="1"/>
          </p:cNvSpPr>
          <p:nvPr/>
        </p:nvSpPr>
        <p:spPr bwMode="auto">
          <a:xfrm>
            <a:off x="4710001" y="3160179"/>
            <a:ext cx="16782" cy="2997194"/>
          </a:xfrm>
          <a:custGeom>
            <a:avLst/>
            <a:gdLst>
              <a:gd name="T0" fmla="*/ 13 w 13"/>
              <a:gd name="T1" fmla="*/ 40 h 2347"/>
              <a:gd name="T2" fmla="*/ 0 w 13"/>
              <a:gd name="T3" fmla="*/ 53 h 2347"/>
              <a:gd name="T4" fmla="*/ 13 w 13"/>
              <a:gd name="T5" fmla="*/ 106 h 2347"/>
              <a:gd name="T6" fmla="*/ 0 w 13"/>
              <a:gd name="T7" fmla="*/ 146 h 2347"/>
              <a:gd name="T8" fmla="*/ 13 w 13"/>
              <a:gd name="T9" fmla="*/ 159 h 2347"/>
              <a:gd name="T10" fmla="*/ 13 w 13"/>
              <a:gd name="T11" fmla="*/ 226 h 2347"/>
              <a:gd name="T12" fmla="*/ 0 w 13"/>
              <a:gd name="T13" fmla="*/ 239 h 2347"/>
              <a:gd name="T14" fmla="*/ 13 w 13"/>
              <a:gd name="T15" fmla="*/ 293 h 2347"/>
              <a:gd name="T16" fmla="*/ 0 w 13"/>
              <a:gd name="T17" fmla="*/ 333 h 2347"/>
              <a:gd name="T18" fmla="*/ 13 w 13"/>
              <a:gd name="T19" fmla="*/ 346 h 2347"/>
              <a:gd name="T20" fmla="*/ 13 w 13"/>
              <a:gd name="T21" fmla="*/ 413 h 2347"/>
              <a:gd name="T22" fmla="*/ 0 w 13"/>
              <a:gd name="T23" fmla="*/ 426 h 2347"/>
              <a:gd name="T24" fmla="*/ 13 w 13"/>
              <a:gd name="T25" fmla="*/ 479 h 2347"/>
              <a:gd name="T26" fmla="*/ 0 w 13"/>
              <a:gd name="T27" fmla="*/ 519 h 2347"/>
              <a:gd name="T28" fmla="*/ 13 w 13"/>
              <a:gd name="T29" fmla="*/ 532 h 2347"/>
              <a:gd name="T30" fmla="*/ 13 w 13"/>
              <a:gd name="T31" fmla="*/ 599 h 2347"/>
              <a:gd name="T32" fmla="*/ 0 w 13"/>
              <a:gd name="T33" fmla="*/ 612 h 2347"/>
              <a:gd name="T34" fmla="*/ 13 w 13"/>
              <a:gd name="T35" fmla="*/ 666 h 2347"/>
              <a:gd name="T36" fmla="*/ 0 w 13"/>
              <a:gd name="T37" fmla="*/ 706 h 2347"/>
              <a:gd name="T38" fmla="*/ 13 w 13"/>
              <a:gd name="T39" fmla="*/ 719 h 2347"/>
              <a:gd name="T40" fmla="*/ 13 w 13"/>
              <a:gd name="T41" fmla="*/ 786 h 2347"/>
              <a:gd name="T42" fmla="*/ 0 w 13"/>
              <a:gd name="T43" fmla="*/ 799 h 2347"/>
              <a:gd name="T44" fmla="*/ 13 w 13"/>
              <a:gd name="T45" fmla="*/ 852 h 2347"/>
              <a:gd name="T46" fmla="*/ 0 w 13"/>
              <a:gd name="T47" fmla="*/ 892 h 2347"/>
              <a:gd name="T48" fmla="*/ 13 w 13"/>
              <a:gd name="T49" fmla="*/ 905 h 2347"/>
              <a:gd name="T50" fmla="*/ 13 w 13"/>
              <a:gd name="T51" fmla="*/ 972 h 2347"/>
              <a:gd name="T52" fmla="*/ 0 w 13"/>
              <a:gd name="T53" fmla="*/ 985 h 2347"/>
              <a:gd name="T54" fmla="*/ 13 w 13"/>
              <a:gd name="T55" fmla="*/ 1038 h 2347"/>
              <a:gd name="T56" fmla="*/ 0 w 13"/>
              <a:gd name="T57" fmla="*/ 1078 h 2347"/>
              <a:gd name="T58" fmla="*/ 13 w 13"/>
              <a:gd name="T59" fmla="*/ 1092 h 2347"/>
              <a:gd name="T60" fmla="*/ 13 w 13"/>
              <a:gd name="T61" fmla="*/ 1158 h 2347"/>
              <a:gd name="T62" fmla="*/ 0 w 13"/>
              <a:gd name="T63" fmla="*/ 1172 h 2347"/>
              <a:gd name="T64" fmla="*/ 13 w 13"/>
              <a:gd name="T65" fmla="*/ 1225 h 2347"/>
              <a:gd name="T66" fmla="*/ 0 w 13"/>
              <a:gd name="T67" fmla="*/ 1265 h 2347"/>
              <a:gd name="T68" fmla="*/ 13 w 13"/>
              <a:gd name="T69" fmla="*/ 1278 h 2347"/>
              <a:gd name="T70" fmla="*/ 13 w 13"/>
              <a:gd name="T71" fmla="*/ 1345 h 2347"/>
              <a:gd name="T72" fmla="*/ 0 w 13"/>
              <a:gd name="T73" fmla="*/ 1358 h 2347"/>
              <a:gd name="T74" fmla="*/ 13 w 13"/>
              <a:gd name="T75" fmla="*/ 1411 h 2347"/>
              <a:gd name="T76" fmla="*/ 0 w 13"/>
              <a:gd name="T77" fmla="*/ 1451 h 2347"/>
              <a:gd name="T78" fmla="*/ 13 w 13"/>
              <a:gd name="T79" fmla="*/ 1465 h 2347"/>
              <a:gd name="T80" fmla="*/ 13 w 13"/>
              <a:gd name="T81" fmla="*/ 1531 h 2347"/>
              <a:gd name="T82" fmla="*/ 0 w 13"/>
              <a:gd name="T83" fmla="*/ 1545 h 2347"/>
              <a:gd name="T84" fmla="*/ 13 w 13"/>
              <a:gd name="T85" fmla="*/ 1598 h 2347"/>
              <a:gd name="T86" fmla="*/ 0 w 13"/>
              <a:gd name="T87" fmla="*/ 1638 h 2347"/>
              <a:gd name="T88" fmla="*/ 13 w 13"/>
              <a:gd name="T89" fmla="*/ 1651 h 2347"/>
              <a:gd name="T90" fmla="*/ 13 w 13"/>
              <a:gd name="T91" fmla="*/ 1718 h 2347"/>
              <a:gd name="T92" fmla="*/ 0 w 13"/>
              <a:gd name="T93" fmla="*/ 1731 h 2347"/>
              <a:gd name="T94" fmla="*/ 13 w 13"/>
              <a:gd name="T95" fmla="*/ 1784 h 2347"/>
              <a:gd name="T96" fmla="*/ 0 w 13"/>
              <a:gd name="T97" fmla="*/ 1824 h 2347"/>
              <a:gd name="T98" fmla="*/ 13 w 13"/>
              <a:gd name="T99" fmla="*/ 1838 h 2347"/>
              <a:gd name="T100" fmla="*/ 13 w 13"/>
              <a:gd name="T101" fmla="*/ 1904 h 2347"/>
              <a:gd name="T102" fmla="*/ 0 w 13"/>
              <a:gd name="T103" fmla="*/ 1917 h 2347"/>
              <a:gd name="T104" fmla="*/ 13 w 13"/>
              <a:gd name="T105" fmla="*/ 1971 h 2347"/>
              <a:gd name="T106" fmla="*/ 0 w 13"/>
              <a:gd name="T107" fmla="*/ 2011 h 2347"/>
              <a:gd name="T108" fmla="*/ 13 w 13"/>
              <a:gd name="T109" fmla="*/ 2024 h 2347"/>
              <a:gd name="T110" fmla="*/ 13 w 13"/>
              <a:gd name="T111" fmla="*/ 2091 h 2347"/>
              <a:gd name="T112" fmla="*/ 0 w 13"/>
              <a:gd name="T113" fmla="*/ 2104 h 2347"/>
              <a:gd name="T114" fmla="*/ 13 w 13"/>
              <a:gd name="T115" fmla="*/ 2157 h 2347"/>
              <a:gd name="T116" fmla="*/ 0 w 13"/>
              <a:gd name="T117" fmla="*/ 2197 h 2347"/>
              <a:gd name="T118" fmla="*/ 13 w 13"/>
              <a:gd name="T119" fmla="*/ 2211 h 2347"/>
              <a:gd name="T120" fmla="*/ 13 w 13"/>
              <a:gd name="T121" fmla="*/ 2277 h 2347"/>
              <a:gd name="T122" fmla="*/ 0 w 13"/>
              <a:gd name="T123" fmla="*/ 2290 h 2347"/>
              <a:gd name="T124" fmla="*/ 13 w 13"/>
              <a:gd name="T125" fmla="*/ 2344 h 234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13" h="2347">
                <a:moveTo>
                  <a:pt x="13" y="0"/>
                </a:moveTo>
                <a:lnTo>
                  <a:pt x="13" y="13"/>
                </a:lnTo>
                <a:lnTo>
                  <a:pt x="0" y="13"/>
                </a:lnTo>
                <a:lnTo>
                  <a:pt x="0" y="0"/>
                </a:lnTo>
                <a:lnTo>
                  <a:pt x="13" y="0"/>
                </a:lnTo>
                <a:close/>
                <a:moveTo>
                  <a:pt x="13" y="26"/>
                </a:moveTo>
                <a:lnTo>
                  <a:pt x="13" y="40"/>
                </a:lnTo>
                <a:lnTo>
                  <a:pt x="0" y="40"/>
                </a:lnTo>
                <a:lnTo>
                  <a:pt x="0" y="26"/>
                </a:lnTo>
                <a:lnTo>
                  <a:pt x="13" y="26"/>
                </a:lnTo>
                <a:close/>
                <a:moveTo>
                  <a:pt x="13" y="53"/>
                </a:moveTo>
                <a:lnTo>
                  <a:pt x="13" y="66"/>
                </a:lnTo>
                <a:lnTo>
                  <a:pt x="0" y="66"/>
                </a:lnTo>
                <a:lnTo>
                  <a:pt x="0" y="53"/>
                </a:lnTo>
                <a:lnTo>
                  <a:pt x="13" y="53"/>
                </a:lnTo>
                <a:close/>
                <a:moveTo>
                  <a:pt x="13" y="80"/>
                </a:moveTo>
                <a:lnTo>
                  <a:pt x="13" y="93"/>
                </a:lnTo>
                <a:lnTo>
                  <a:pt x="0" y="93"/>
                </a:lnTo>
                <a:lnTo>
                  <a:pt x="0" y="80"/>
                </a:lnTo>
                <a:lnTo>
                  <a:pt x="13" y="80"/>
                </a:lnTo>
                <a:close/>
                <a:moveTo>
                  <a:pt x="13" y="106"/>
                </a:moveTo>
                <a:lnTo>
                  <a:pt x="13" y="119"/>
                </a:lnTo>
                <a:lnTo>
                  <a:pt x="0" y="119"/>
                </a:lnTo>
                <a:lnTo>
                  <a:pt x="0" y="106"/>
                </a:lnTo>
                <a:lnTo>
                  <a:pt x="13" y="106"/>
                </a:lnTo>
                <a:close/>
                <a:moveTo>
                  <a:pt x="13" y="133"/>
                </a:moveTo>
                <a:lnTo>
                  <a:pt x="13" y="146"/>
                </a:lnTo>
                <a:lnTo>
                  <a:pt x="0" y="146"/>
                </a:lnTo>
                <a:lnTo>
                  <a:pt x="0" y="133"/>
                </a:lnTo>
                <a:lnTo>
                  <a:pt x="13" y="133"/>
                </a:lnTo>
                <a:close/>
                <a:moveTo>
                  <a:pt x="13" y="159"/>
                </a:moveTo>
                <a:lnTo>
                  <a:pt x="13" y="173"/>
                </a:lnTo>
                <a:lnTo>
                  <a:pt x="0" y="173"/>
                </a:lnTo>
                <a:lnTo>
                  <a:pt x="0" y="159"/>
                </a:lnTo>
                <a:lnTo>
                  <a:pt x="13" y="159"/>
                </a:lnTo>
                <a:close/>
                <a:moveTo>
                  <a:pt x="13" y="186"/>
                </a:moveTo>
                <a:lnTo>
                  <a:pt x="13" y="199"/>
                </a:lnTo>
                <a:lnTo>
                  <a:pt x="0" y="199"/>
                </a:lnTo>
                <a:lnTo>
                  <a:pt x="0" y="186"/>
                </a:lnTo>
                <a:lnTo>
                  <a:pt x="13" y="186"/>
                </a:lnTo>
                <a:close/>
                <a:moveTo>
                  <a:pt x="13" y="213"/>
                </a:moveTo>
                <a:lnTo>
                  <a:pt x="13" y="226"/>
                </a:lnTo>
                <a:lnTo>
                  <a:pt x="0" y="226"/>
                </a:lnTo>
                <a:lnTo>
                  <a:pt x="0" y="213"/>
                </a:lnTo>
                <a:lnTo>
                  <a:pt x="13" y="213"/>
                </a:lnTo>
                <a:close/>
                <a:moveTo>
                  <a:pt x="13" y="239"/>
                </a:moveTo>
                <a:lnTo>
                  <a:pt x="13" y="253"/>
                </a:lnTo>
                <a:lnTo>
                  <a:pt x="0" y="253"/>
                </a:lnTo>
                <a:lnTo>
                  <a:pt x="0" y="239"/>
                </a:lnTo>
                <a:lnTo>
                  <a:pt x="13" y="239"/>
                </a:lnTo>
                <a:close/>
                <a:moveTo>
                  <a:pt x="13" y="266"/>
                </a:moveTo>
                <a:lnTo>
                  <a:pt x="13" y="279"/>
                </a:lnTo>
                <a:lnTo>
                  <a:pt x="0" y="279"/>
                </a:lnTo>
                <a:lnTo>
                  <a:pt x="0" y="266"/>
                </a:lnTo>
                <a:lnTo>
                  <a:pt x="13" y="266"/>
                </a:lnTo>
                <a:close/>
                <a:moveTo>
                  <a:pt x="13" y="293"/>
                </a:moveTo>
                <a:lnTo>
                  <a:pt x="13" y="306"/>
                </a:lnTo>
                <a:lnTo>
                  <a:pt x="0" y="306"/>
                </a:lnTo>
                <a:lnTo>
                  <a:pt x="0" y="293"/>
                </a:lnTo>
                <a:lnTo>
                  <a:pt x="13" y="293"/>
                </a:lnTo>
                <a:close/>
                <a:moveTo>
                  <a:pt x="13" y="319"/>
                </a:moveTo>
                <a:lnTo>
                  <a:pt x="13" y="333"/>
                </a:lnTo>
                <a:lnTo>
                  <a:pt x="0" y="333"/>
                </a:lnTo>
                <a:lnTo>
                  <a:pt x="0" y="319"/>
                </a:lnTo>
                <a:lnTo>
                  <a:pt x="13" y="319"/>
                </a:lnTo>
                <a:close/>
                <a:moveTo>
                  <a:pt x="13" y="346"/>
                </a:moveTo>
                <a:lnTo>
                  <a:pt x="13" y="359"/>
                </a:lnTo>
                <a:lnTo>
                  <a:pt x="0" y="359"/>
                </a:lnTo>
                <a:lnTo>
                  <a:pt x="0" y="346"/>
                </a:lnTo>
                <a:lnTo>
                  <a:pt x="13" y="346"/>
                </a:lnTo>
                <a:close/>
                <a:moveTo>
                  <a:pt x="13" y="373"/>
                </a:moveTo>
                <a:lnTo>
                  <a:pt x="13" y="386"/>
                </a:lnTo>
                <a:lnTo>
                  <a:pt x="0" y="386"/>
                </a:lnTo>
                <a:lnTo>
                  <a:pt x="0" y="373"/>
                </a:lnTo>
                <a:lnTo>
                  <a:pt x="13" y="373"/>
                </a:lnTo>
                <a:close/>
                <a:moveTo>
                  <a:pt x="13" y="399"/>
                </a:moveTo>
                <a:lnTo>
                  <a:pt x="13" y="413"/>
                </a:lnTo>
                <a:lnTo>
                  <a:pt x="0" y="413"/>
                </a:lnTo>
                <a:lnTo>
                  <a:pt x="0" y="399"/>
                </a:lnTo>
                <a:lnTo>
                  <a:pt x="13" y="399"/>
                </a:lnTo>
                <a:close/>
                <a:moveTo>
                  <a:pt x="13" y="426"/>
                </a:moveTo>
                <a:lnTo>
                  <a:pt x="13" y="439"/>
                </a:lnTo>
                <a:lnTo>
                  <a:pt x="0" y="439"/>
                </a:lnTo>
                <a:lnTo>
                  <a:pt x="0" y="426"/>
                </a:lnTo>
                <a:lnTo>
                  <a:pt x="13" y="426"/>
                </a:lnTo>
                <a:close/>
                <a:moveTo>
                  <a:pt x="13" y="453"/>
                </a:moveTo>
                <a:lnTo>
                  <a:pt x="13" y="466"/>
                </a:lnTo>
                <a:lnTo>
                  <a:pt x="0" y="466"/>
                </a:lnTo>
                <a:lnTo>
                  <a:pt x="0" y="453"/>
                </a:lnTo>
                <a:lnTo>
                  <a:pt x="13" y="453"/>
                </a:lnTo>
                <a:close/>
                <a:moveTo>
                  <a:pt x="13" y="479"/>
                </a:moveTo>
                <a:lnTo>
                  <a:pt x="13" y="493"/>
                </a:lnTo>
                <a:lnTo>
                  <a:pt x="0" y="493"/>
                </a:lnTo>
                <a:lnTo>
                  <a:pt x="0" y="479"/>
                </a:lnTo>
                <a:lnTo>
                  <a:pt x="13" y="479"/>
                </a:lnTo>
                <a:close/>
                <a:moveTo>
                  <a:pt x="13" y="506"/>
                </a:moveTo>
                <a:lnTo>
                  <a:pt x="13" y="519"/>
                </a:lnTo>
                <a:lnTo>
                  <a:pt x="0" y="519"/>
                </a:lnTo>
                <a:lnTo>
                  <a:pt x="0" y="506"/>
                </a:lnTo>
                <a:lnTo>
                  <a:pt x="13" y="506"/>
                </a:lnTo>
                <a:close/>
                <a:moveTo>
                  <a:pt x="13" y="532"/>
                </a:moveTo>
                <a:lnTo>
                  <a:pt x="13" y="546"/>
                </a:lnTo>
                <a:lnTo>
                  <a:pt x="0" y="546"/>
                </a:lnTo>
                <a:lnTo>
                  <a:pt x="0" y="532"/>
                </a:lnTo>
                <a:lnTo>
                  <a:pt x="13" y="532"/>
                </a:lnTo>
                <a:close/>
                <a:moveTo>
                  <a:pt x="13" y="559"/>
                </a:moveTo>
                <a:lnTo>
                  <a:pt x="13" y="572"/>
                </a:lnTo>
                <a:lnTo>
                  <a:pt x="0" y="572"/>
                </a:lnTo>
                <a:lnTo>
                  <a:pt x="0" y="559"/>
                </a:lnTo>
                <a:lnTo>
                  <a:pt x="13" y="559"/>
                </a:lnTo>
                <a:close/>
                <a:moveTo>
                  <a:pt x="13" y="586"/>
                </a:moveTo>
                <a:lnTo>
                  <a:pt x="13" y="599"/>
                </a:lnTo>
                <a:lnTo>
                  <a:pt x="0" y="599"/>
                </a:lnTo>
                <a:lnTo>
                  <a:pt x="0" y="586"/>
                </a:lnTo>
                <a:lnTo>
                  <a:pt x="13" y="586"/>
                </a:lnTo>
                <a:close/>
                <a:moveTo>
                  <a:pt x="13" y="612"/>
                </a:moveTo>
                <a:lnTo>
                  <a:pt x="13" y="626"/>
                </a:lnTo>
                <a:lnTo>
                  <a:pt x="0" y="626"/>
                </a:lnTo>
                <a:lnTo>
                  <a:pt x="0" y="612"/>
                </a:lnTo>
                <a:lnTo>
                  <a:pt x="13" y="612"/>
                </a:lnTo>
                <a:close/>
                <a:moveTo>
                  <a:pt x="13" y="639"/>
                </a:moveTo>
                <a:lnTo>
                  <a:pt x="13" y="652"/>
                </a:lnTo>
                <a:lnTo>
                  <a:pt x="0" y="652"/>
                </a:lnTo>
                <a:lnTo>
                  <a:pt x="0" y="639"/>
                </a:lnTo>
                <a:lnTo>
                  <a:pt x="13" y="639"/>
                </a:lnTo>
                <a:close/>
                <a:moveTo>
                  <a:pt x="13" y="666"/>
                </a:moveTo>
                <a:lnTo>
                  <a:pt x="13" y="679"/>
                </a:lnTo>
                <a:lnTo>
                  <a:pt x="0" y="679"/>
                </a:lnTo>
                <a:lnTo>
                  <a:pt x="0" y="666"/>
                </a:lnTo>
                <a:lnTo>
                  <a:pt x="13" y="666"/>
                </a:lnTo>
                <a:close/>
                <a:moveTo>
                  <a:pt x="13" y="692"/>
                </a:moveTo>
                <a:lnTo>
                  <a:pt x="13" y="706"/>
                </a:lnTo>
                <a:lnTo>
                  <a:pt x="0" y="706"/>
                </a:lnTo>
                <a:lnTo>
                  <a:pt x="0" y="692"/>
                </a:lnTo>
                <a:lnTo>
                  <a:pt x="13" y="692"/>
                </a:lnTo>
                <a:close/>
                <a:moveTo>
                  <a:pt x="13" y="719"/>
                </a:moveTo>
                <a:lnTo>
                  <a:pt x="13" y="732"/>
                </a:lnTo>
                <a:lnTo>
                  <a:pt x="0" y="732"/>
                </a:lnTo>
                <a:lnTo>
                  <a:pt x="0" y="719"/>
                </a:lnTo>
                <a:lnTo>
                  <a:pt x="13" y="719"/>
                </a:lnTo>
                <a:close/>
                <a:moveTo>
                  <a:pt x="13" y="746"/>
                </a:moveTo>
                <a:lnTo>
                  <a:pt x="13" y="759"/>
                </a:lnTo>
                <a:lnTo>
                  <a:pt x="0" y="759"/>
                </a:lnTo>
                <a:lnTo>
                  <a:pt x="0" y="746"/>
                </a:lnTo>
                <a:lnTo>
                  <a:pt x="13" y="746"/>
                </a:lnTo>
                <a:close/>
                <a:moveTo>
                  <a:pt x="13" y="772"/>
                </a:moveTo>
                <a:lnTo>
                  <a:pt x="13" y="786"/>
                </a:lnTo>
                <a:lnTo>
                  <a:pt x="0" y="786"/>
                </a:lnTo>
                <a:lnTo>
                  <a:pt x="0" y="772"/>
                </a:lnTo>
                <a:lnTo>
                  <a:pt x="13" y="772"/>
                </a:lnTo>
                <a:close/>
                <a:moveTo>
                  <a:pt x="13" y="799"/>
                </a:moveTo>
                <a:lnTo>
                  <a:pt x="13" y="812"/>
                </a:lnTo>
                <a:lnTo>
                  <a:pt x="0" y="812"/>
                </a:lnTo>
                <a:lnTo>
                  <a:pt x="0" y="799"/>
                </a:lnTo>
                <a:lnTo>
                  <a:pt x="13" y="799"/>
                </a:lnTo>
                <a:close/>
                <a:moveTo>
                  <a:pt x="13" y="826"/>
                </a:moveTo>
                <a:lnTo>
                  <a:pt x="13" y="839"/>
                </a:lnTo>
                <a:lnTo>
                  <a:pt x="0" y="839"/>
                </a:lnTo>
                <a:lnTo>
                  <a:pt x="0" y="826"/>
                </a:lnTo>
                <a:lnTo>
                  <a:pt x="13" y="826"/>
                </a:lnTo>
                <a:close/>
                <a:moveTo>
                  <a:pt x="13" y="852"/>
                </a:moveTo>
                <a:lnTo>
                  <a:pt x="13" y="866"/>
                </a:lnTo>
                <a:lnTo>
                  <a:pt x="0" y="866"/>
                </a:lnTo>
                <a:lnTo>
                  <a:pt x="0" y="852"/>
                </a:lnTo>
                <a:lnTo>
                  <a:pt x="13" y="852"/>
                </a:lnTo>
                <a:close/>
                <a:moveTo>
                  <a:pt x="13" y="879"/>
                </a:moveTo>
                <a:lnTo>
                  <a:pt x="13" y="892"/>
                </a:lnTo>
                <a:lnTo>
                  <a:pt x="0" y="892"/>
                </a:lnTo>
                <a:lnTo>
                  <a:pt x="0" y="879"/>
                </a:lnTo>
                <a:lnTo>
                  <a:pt x="13" y="879"/>
                </a:lnTo>
                <a:close/>
                <a:moveTo>
                  <a:pt x="13" y="905"/>
                </a:moveTo>
                <a:lnTo>
                  <a:pt x="13" y="919"/>
                </a:lnTo>
                <a:lnTo>
                  <a:pt x="0" y="919"/>
                </a:lnTo>
                <a:lnTo>
                  <a:pt x="0" y="905"/>
                </a:lnTo>
                <a:lnTo>
                  <a:pt x="13" y="905"/>
                </a:lnTo>
                <a:close/>
                <a:moveTo>
                  <a:pt x="13" y="932"/>
                </a:moveTo>
                <a:lnTo>
                  <a:pt x="13" y="945"/>
                </a:lnTo>
                <a:lnTo>
                  <a:pt x="0" y="945"/>
                </a:lnTo>
                <a:lnTo>
                  <a:pt x="0" y="932"/>
                </a:lnTo>
                <a:lnTo>
                  <a:pt x="13" y="932"/>
                </a:lnTo>
                <a:close/>
                <a:moveTo>
                  <a:pt x="13" y="959"/>
                </a:moveTo>
                <a:lnTo>
                  <a:pt x="13" y="972"/>
                </a:lnTo>
                <a:lnTo>
                  <a:pt x="0" y="972"/>
                </a:lnTo>
                <a:lnTo>
                  <a:pt x="0" y="959"/>
                </a:lnTo>
                <a:lnTo>
                  <a:pt x="13" y="959"/>
                </a:lnTo>
                <a:close/>
                <a:moveTo>
                  <a:pt x="13" y="985"/>
                </a:moveTo>
                <a:lnTo>
                  <a:pt x="13" y="998"/>
                </a:lnTo>
                <a:lnTo>
                  <a:pt x="0" y="998"/>
                </a:lnTo>
                <a:lnTo>
                  <a:pt x="0" y="985"/>
                </a:lnTo>
                <a:lnTo>
                  <a:pt x="13" y="985"/>
                </a:lnTo>
                <a:close/>
                <a:moveTo>
                  <a:pt x="13" y="1012"/>
                </a:moveTo>
                <a:lnTo>
                  <a:pt x="13" y="1025"/>
                </a:lnTo>
                <a:lnTo>
                  <a:pt x="0" y="1025"/>
                </a:lnTo>
                <a:lnTo>
                  <a:pt x="0" y="1012"/>
                </a:lnTo>
                <a:lnTo>
                  <a:pt x="13" y="1012"/>
                </a:lnTo>
                <a:close/>
                <a:moveTo>
                  <a:pt x="13" y="1038"/>
                </a:moveTo>
                <a:lnTo>
                  <a:pt x="13" y="1052"/>
                </a:lnTo>
                <a:lnTo>
                  <a:pt x="0" y="1052"/>
                </a:lnTo>
                <a:lnTo>
                  <a:pt x="0" y="1038"/>
                </a:lnTo>
                <a:lnTo>
                  <a:pt x="13" y="1038"/>
                </a:lnTo>
                <a:close/>
                <a:moveTo>
                  <a:pt x="13" y="1065"/>
                </a:moveTo>
                <a:lnTo>
                  <a:pt x="13" y="1078"/>
                </a:lnTo>
                <a:lnTo>
                  <a:pt x="0" y="1078"/>
                </a:lnTo>
                <a:lnTo>
                  <a:pt x="0" y="1065"/>
                </a:lnTo>
                <a:lnTo>
                  <a:pt x="13" y="1065"/>
                </a:lnTo>
                <a:close/>
                <a:moveTo>
                  <a:pt x="13" y="1092"/>
                </a:moveTo>
                <a:lnTo>
                  <a:pt x="13" y="1105"/>
                </a:lnTo>
                <a:lnTo>
                  <a:pt x="0" y="1105"/>
                </a:lnTo>
                <a:lnTo>
                  <a:pt x="0" y="1092"/>
                </a:lnTo>
                <a:lnTo>
                  <a:pt x="13" y="1092"/>
                </a:lnTo>
                <a:close/>
                <a:moveTo>
                  <a:pt x="13" y="1118"/>
                </a:moveTo>
                <a:lnTo>
                  <a:pt x="13" y="1132"/>
                </a:lnTo>
                <a:lnTo>
                  <a:pt x="0" y="1132"/>
                </a:lnTo>
                <a:lnTo>
                  <a:pt x="0" y="1118"/>
                </a:lnTo>
                <a:lnTo>
                  <a:pt x="13" y="1118"/>
                </a:lnTo>
                <a:close/>
                <a:moveTo>
                  <a:pt x="13" y="1145"/>
                </a:moveTo>
                <a:lnTo>
                  <a:pt x="13" y="1158"/>
                </a:lnTo>
                <a:lnTo>
                  <a:pt x="0" y="1158"/>
                </a:lnTo>
                <a:lnTo>
                  <a:pt x="0" y="1145"/>
                </a:lnTo>
                <a:lnTo>
                  <a:pt x="13" y="1145"/>
                </a:lnTo>
                <a:close/>
                <a:moveTo>
                  <a:pt x="13" y="1172"/>
                </a:moveTo>
                <a:lnTo>
                  <a:pt x="13" y="1185"/>
                </a:lnTo>
                <a:lnTo>
                  <a:pt x="0" y="1185"/>
                </a:lnTo>
                <a:lnTo>
                  <a:pt x="0" y="1172"/>
                </a:lnTo>
                <a:lnTo>
                  <a:pt x="13" y="1172"/>
                </a:lnTo>
                <a:close/>
                <a:moveTo>
                  <a:pt x="13" y="1198"/>
                </a:moveTo>
                <a:lnTo>
                  <a:pt x="13" y="1212"/>
                </a:lnTo>
                <a:lnTo>
                  <a:pt x="0" y="1212"/>
                </a:lnTo>
                <a:lnTo>
                  <a:pt x="0" y="1198"/>
                </a:lnTo>
                <a:lnTo>
                  <a:pt x="13" y="1198"/>
                </a:lnTo>
                <a:close/>
                <a:moveTo>
                  <a:pt x="13" y="1225"/>
                </a:moveTo>
                <a:lnTo>
                  <a:pt x="13" y="1238"/>
                </a:lnTo>
                <a:lnTo>
                  <a:pt x="0" y="1238"/>
                </a:lnTo>
                <a:lnTo>
                  <a:pt x="0" y="1225"/>
                </a:lnTo>
                <a:lnTo>
                  <a:pt x="13" y="1225"/>
                </a:lnTo>
                <a:close/>
                <a:moveTo>
                  <a:pt x="13" y="1252"/>
                </a:moveTo>
                <a:lnTo>
                  <a:pt x="13" y="1265"/>
                </a:lnTo>
                <a:lnTo>
                  <a:pt x="0" y="1265"/>
                </a:lnTo>
                <a:lnTo>
                  <a:pt x="0" y="1252"/>
                </a:lnTo>
                <a:lnTo>
                  <a:pt x="13" y="1252"/>
                </a:lnTo>
                <a:close/>
                <a:moveTo>
                  <a:pt x="13" y="1278"/>
                </a:moveTo>
                <a:lnTo>
                  <a:pt x="13" y="1292"/>
                </a:lnTo>
                <a:lnTo>
                  <a:pt x="0" y="1292"/>
                </a:lnTo>
                <a:lnTo>
                  <a:pt x="0" y="1278"/>
                </a:lnTo>
                <a:lnTo>
                  <a:pt x="13" y="1278"/>
                </a:lnTo>
                <a:close/>
                <a:moveTo>
                  <a:pt x="13" y="1305"/>
                </a:moveTo>
                <a:lnTo>
                  <a:pt x="13" y="1318"/>
                </a:lnTo>
                <a:lnTo>
                  <a:pt x="0" y="1318"/>
                </a:lnTo>
                <a:lnTo>
                  <a:pt x="0" y="1305"/>
                </a:lnTo>
                <a:lnTo>
                  <a:pt x="13" y="1305"/>
                </a:lnTo>
                <a:close/>
                <a:moveTo>
                  <a:pt x="13" y="1332"/>
                </a:moveTo>
                <a:lnTo>
                  <a:pt x="13" y="1345"/>
                </a:lnTo>
                <a:lnTo>
                  <a:pt x="0" y="1345"/>
                </a:lnTo>
                <a:lnTo>
                  <a:pt x="0" y="1332"/>
                </a:lnTo>
                <a:lnTo>
                  <a:pt x="13" y="1332"/>
                </a:lnTo>
                <a:close/>
                <a:moveTo>
                  <a:pt x="13" y="1358"/>
                </a:moveTo>
                <a:lnTo>
                  <a:pt x="13" y="1372"/>
                </a:lnTo>
                <a:lnTo>
                  <a:pt x="0" y="1372"/>
                </a:lnTo>
                <a:lnTo>
                  <a:pt x="0" y="1358"/>
                </a:lnTo>
                <a:lnTo>
                  <a:pt x="13" y="1358"/>
                </a:lnTo>
                <a:close/>
                <a:moveTo>
                  <a:pt x="13" y="1385"/>
                </a:moveTo>
                <a:lnTo>
                  <a:pt x="13" y="1398"/>
                </a:lnTo>
                <a:lnTo>
                  <a:pt x="0" y="1398"/>
                </a:lnTo>
                <a:lnTo>
                  <a:pt x="0" y="1385"/>
                </a:lnTo>
                <a:lnTo>
                  <a:pt x="13" y="1385"/>
                </a:lnTo>
                <a:close/>
                <a:moveTo>
                  <a:pt x="13" y="1411"/>
                </a:moveTo>
                <a:lnTo>
                  <a:pt x="13" y="1425"/>
                </a:lnTo>
                <a:lnTo>
                  <a:pt x="0" y="1425"/>
                </a:lnTo>
                <a:lnTo>
                  <a:pt x="0" y="1411"/>
                </a:lnTo>
                <a:lnTo>
                  <a:pt x="13" y="1411"/>
                </a:lnTo>
                <a:close/>
                <a:moveTo>
                  <a:pt x="13" y="1438"/>
                </a:moveTo>
                <a:lnTo>
                  <a:pt x="13" y="1451"/>
                </a:lnTo>
                <a:lnTo>
                  <a:pt x="0" y="1451"/>
                </a:lnTo>
                <a:lnTo>
                  <a:pt x="0" y="1438"/>
                </a:lnTo>
                <a:lnTo>
                  <a:pt x="13" y="1438"/>
                </a:lnTo>
                <a:close/>
                <a:moveTo>
                  <a:pt x="13" y="1465"/>
                </a:moveTo>
                <a:lnTo>
                  <a:pt x="13" y="1478"/>
                </a:lnTo>
                <a:lnTo>
                  <a:pt x="0" y="1478"/>
                </a:lnTo>
                <a:lnTo>
                  <a:pt x="0" y="1465"/>
                </a:lnTo>
                <a:lnTo>
                  <a:pt x="13" y="1465"/>
                </a:lnTo>
                <a:close/>
                <a:moveTo>
                  <a:pt x="13" y="1491"/>
                </a:moveTo>
                <a:lnTo>
                  <a:pt x="13" y="1505"/>
                </a:lnTo>
                <a:lnTo>
                  <a:pt x="0" y="1505"/>
                </a:lnTo>
                <a:lnTo>
                  <a:pt x="0" y="1491"/>
                </a:lnTo>
                <a:lnTo>
                  <a:pt x="13" y="1491"/>
                </a:lnTo>
                <a:close/>
                <a:moveTo>
                  <a:pt x="13" y="1518"/>
                </a:moveTo>
                <a:lnTo>
                  <a:pt x="13" y="1531"/>
                </a:lnTo>
                <a:lnTo>
                  <a:pt x="0" y="1531"/>
                </a:lnTo>
                <a:lnTo>
                  <a:pt x="0" y="1518"/>
                </a:lnTo>
                <a:lnTo>
                  <a:pt x="13" y="1518"/>
                </a:lnTo>
                <a:close/>
                <a:moveTo>
                  <a:pt x="13" y="1545"/>
                </a:moveTo>
                <a:lnTo>
                  <a:pt x="13" y="1558"/>
                </a:lnTo>
                <a:lnTo>
                  <a:pt x="0" y="1558"/>
                </a:lnTo>
                <a:lnTo>
                  <a:pt x="0" y="1545"/>
                </a:lnTo>
                <a:lnTo>
                  <a:pt x="13" y="1545"/>
                </a:lnTo>
                <a:close/>
                <a:moveTo>
                  <a:pt x="13" y="1571"/>
                </a:moveTo>
                <a:lnTo>
                  <a:pt x="13" y="1585"/>
                </a:lnTo>
                <a:lnTo>
                  <a:pt x="0" y="1585"/>
                </a:lnTo>
                <a:lnTo>
                  <a:pt x="0" y="1571"/>
                </a:lnTo>
                <a:lnTo>
                  <a:pt x="13" y="1571"/>
                </a:lnTo>
                <a:close/>
                <a:moveTo>
                  <a:pt x="13" y="1598"/>
                </a:moveTo>
                <a:lnTo>
                  <a:pt x="13" y="1611"/>
                </a:lnTo>
                <a:lnTo>
                  <a:pt x="0" y="1611"/>
                </a:lnTo>
                <a:lnTo>
                  <a:pt x="0" y="1598"/>
                </a:lnTo>
                <a:lnTo>
                  <a:pt x="13" y="1598"/>
                </a:lnTo>
                <a:close/>
                <a:moveTo>
                  <a:pt x="13" y="1625"/>
                </a:moveTo>
                <a:lnTo>
                  <a:pt x="13" y="1638"/>
                </a:lnTo>
                <a:lnTo>
                  <a:pt x="0" y="1638"/>
                </a:lnTo>
                <a:lnTo>
                  <a:pt x="0" y="1625"/>
                </a:lnTo>
                <a:lnTo>
                  <a:pt x="13" y="1625"/>
                </a:lnTo>
                <a:close/>
                <a:moveTo>
                  <a:pt x="13" y="1651"/>
                </a:moveTo>
                <a:lnTo>
                  <a:pt x="13" y="1665"/>
                </a:lnTo>
                <a:lnTo>
                  <a:pt x="0" y="1665"/>
                </a:lnTo>
                <a:lnTo>
                  <a:pt x="0" y="1651"/>
                </a:lnTo>
                <a:lnTo>
                  <a:pt x="13" y="1651"/>
                </a:lnTo>
                <a:close/>
                <a:moveTo>
                  <a:pt x="13" y="1678"/>
                </a:moveTo>
                <a:lnTo>
                  <a:pt x="13" y="1691"/>
                </a:lnTo>
                <a:lnTo>
                  <a:pt x="0" y="1691"/>
                </a:lnTo>
                <a:lnTo>
                  <a:pt x="0" y="1678"/>
                </a:lnTo>
                <a:lnTo>
                  <a:pt x="13" y="1678"/>
                </a:lnTo>
                <a:close/>
                <a:moveTo>
                  <a:pt x="13" y="1705"/>
                </a:moveTo>
                <a:lnTo>
                  <a:pt x="13" y="1718"/>
                </a:lnTo>
                <a:lnTo>
                  <a:pt x="0" y="1718"/>
                </a:lnTo>
                <a:lnTo>
                  <a:pt x="0" y="1705"/>
                </a:lnTo>
                <a:lnTo>
                  <a:pt x="13" y="1705"/>
                </a:lnTo>
                <a:close/>
                <a:moveTo>
                  <a:pt x="13" y="1731"/>
                </a:moveTo>
                <a:lnTo>
                  <a:pt x="13" y="1745"/>
                </a:lnTo>
                <a:lnTo>
                  <a:pt x="0" y="1745"/>
                </a:lnTo>
                <a:lnTo>
                  <a:pt x="0" y="1731"/>
                </a:lnTo>
                <a:lnTo>
                  <a:pt x="13" y="1731"/>
                </a:lnTo>
                <a:close/>
                <a:moveTo>
                  <a:pt x="13" y="1758"/>
                </a:moveTo>
                <a:lnTo>
                  <a:pt x="13" y="1771"/>
                </a:lnTo>
                <a:lnTo>
                  <a:pt x="0" y="1771"/>
                </a:lnTo>
                <a:lnTo>
                  <a:pt x="0" y="1758"/>
                </a:lnTo>
                <a:lnTo>
                  <a:pt x="13" y="1758"/>
                </a:lnTo>
                <a:close/>
                <a:moveTo>
                  <a:pt x="13" y="1784"/>
                </a:moveTo>
                <a:lnTo>
                  <a:pt x="13" y="1798"/>
                </a:lnTo>
                <a:lnTo>
                  <a:pt x="0" y="1798"/>
                </a:lnTo>
                <a:lnTo>
                  <a:pt x="0" y="1784"/>
                </a:lnTo>
                <a:lnTo>
                  <a:pt x="13" y="1784"/>
                </a:lnTo>
                <a:close/>
                <a:moveTo>
                  <a:pt x="13" y="1811"/>
                </a:moveTo>
                <a:lnTo>
                  <a:pt x="13" y="1824"/>
                </a:lnTo>
                <a:lnTo>
                  <a:pt x="0" y="1824"/>
                </a:lnTo>
                <a:lnTo>
                  <a:pt x="0" y="1811"/>
                </a:lnTo>
                <a:lnTo>
                  <a:pt x="13" y="1811"/>
                </a:lnTo>
                <a:close/>
                <a:moveTo>
                  <a:pt x="13" y="1838"/>
                </a:moveTo>
                <a:lnTo>
                  <a:pt x="13" y="1851"/>
                </a:lnTo>
                <a:lnTo>
                  <a:pt x="0" y="1851"/>
                </a:lnTo>
                <a:lnTo>
                  <a:pt x="0" y="1838"/>
                </a:lnTo>
                <a:lnTo>
                  <a:pt x="13" y="1838"/>
                </a:lnTo>
                <a:close/>
                <a:moveTo>
                  <a:pt x="13" y="1864"/>
                </a:moveTo>
                <a:lnTo>
                  <a:pt x="13" y="1877"/>
                </a:lnTo>
                <a:lnTo>
                  <a:pt x="0" y="1877"/>
                </a:lnTo>
                <a:lnTo>
                  <a:pt x="0" y="1864"/>
                </a:lnTo>
                <a:lnTo>
                  <a:pt x="13" y="1864"/>
                </a:lnTo>
                <a:close/>
                <a:moveTo>
                  <a:pt x="13" y="1891"/>
                </a:moveTo>
                <a:lnTo>
                  <a:pt x="13" y="1904"/>
                </a:lnTo>
                <a:lnTo>
                  <a:pt x="0" y="1904"/>
                </a:lnTo>
                <a:lnTo>
                  <a:pt x="0" y="1891"/>
                </a:lnTo>
                <a:lnTo>
                  <a:pt x="13" y="1891"/>
                </a:lnTo>
                <a:close/>
                <a:moveTo>
                  <a:pt x="13" y="1917"/>
                </a:moveTo>
                <a:lnTo>
                  <a:pt x="13" y="1931"/>
                </a:lnTo>
                <a:lnTo>
                  <a:pt x="0" y="1931"/>
                </a:lnTo>
                <a:lnTo>
                  <a:pt x="0" y="1917"/>
                </a:lnTo>
                <a:lnTo>
                  <a:pt x="13" y="1917"/>
                </a:lnTo>
                <a:close/>
                <a:moveTo>
                  <a:pt x="13" y="1944"/>
                </a:moveTo>
                <a:lnTo>
                  <a:pt x="13" y="1957"/>
                </a:lnTo>
                <a:lnTo>
                  <a:pt x="0" y="1957"/>
                </a:lnTo>
                <a:lnTo>
                  <a:pt x="0" y="1944"/>
                </a:lnTo>
                <a:lnTo>
                  <a:pt x="13" y="1944"/>
                </a:lnTo>
                <a:close/>
                <a:moveTo>
                  <a:pt x="13" y="1971"/>
                </a:moveTo>
                <a:lnTo>
                  <a:pt x="13" y="1984"/>
                </a:lnTo>
                <a:lnTo>
                  <a:pt x="0" y="1984"/>
                </a:lnTo>
                <a:lnTo>
                  <a:pt x="0" y="1971"/>
                </a:lnTo>
                <a:lnTo>
                  <a:pt x="13" y="1971"/>
                </a:lnTo>
                <a:close/>
                <a:moveTo>
                  <a:pt x="13" y="1997"/>
                </a:moveTo>
                <a:lnTo>
                  <a:pt x="13" y="2011"/>
                </a:lnTo>
                <a:lnTo>
                  <a:pt x="0" y="2011"/>
                </a:lnTo>
                <a:lnTo>
                  <a:pt x="0" y="1997"/>
                </a:lnTo>
                <a:lnTo>
                  <a:pt x="13" y="1997"/>
                </a:lnTo>
                <a:close/>
                <a:moveTo>
                  <a:pt x="13" y="2024"/>
                </a:moveTo>
                <a:lnTo>
                  <a:pt x="13" y="2037"/>
                </a:lnTo>
                <a:lnTo>
                  <a:pt x="0" y="2037"/>
                </a:lnTo>
                <a:lnTo>
                  <a:pt x="0" y="2024"/>
                </a:lnTo>
                <a:lnTo>
                  <a:pt x="13" y="2024"/>
                </a:lnTo>
                <a:close/>
                <a:moveTo>
                  <a:pt x="13" y="2051"/>
                </a:moveTo>
                <a:lnTo>
                  <a:pt x="13" y="2064"/>
                </a:lnTo>
                <a:lnTo>
                  <a:pt x="0" y="2064"/>
                </a:lnTo>
                <a:lnTo>
                  <a:pt x="0" y="2051"/>
                </a:lnTo>
                <a:lnTo>
                  <a:pt x="13" y="2051"/>
                </a:lnTo>
                <a:close/>
                <a:moveTo>
                  <a:pt x="13" y="2077"/>
                </a:moveTo>
                <a:lnTo>
                  <a:pt x="13" y="2091"/>
                </a:lnTo>
                <a:lnTo>
                  <a:pt x="0" y="2091"/>
                </a:lnTo>
                <a:lnTo>
                  <a:pt x="0" y="2077"/>
                </a:lnTo>
                <a:lnTo>
                  <a:pt x="13" y="2077"/>
                </a:lnTo>
                <a:close/>
                <a:moveTo>
                  <a:pt x="13" y="2104"/>
                </a:moveTo>
                <a:lnTo>
                  <a:pt x="13" y="2117"/>
                </a:lnTo>
                <a:lnTo>
                  <a:pt x="0" y="2117"/>
                </a:lnTo>
                <a:lnTo>
                  <a:pt x="0" y="2104"/>
                </a:lnTo>
                <a:lnTo>
                  <a:pt x="13" y="2104"/>
                </a:lnTo>
                <a:close/>
                <a:moveTo>
                  <a:pt x="13" y="2131"/>
                </a:moveTo>
                <a:lnTo>
                  <a:pt x="13" y="2144"/>
                </a:lnTo>
                <a:lnTo>
                  <a:pt x="0" y="2144"/>
                </a:lnTo>
                <a:lnTo>
                  <a:pt x="0" y="2131"/>
                </a:lnTo>
                <a:lnTo>
                  <a:pt x="13" y="2131"/>
                </a:lnTo>
                <a:close/>
                <a:moveTo>
                  <a:pt x="13" y="2157"/>
                </a:moveTo>
                <a:lnTo>
                  <a:pt x="13" y="2171"/>
                </a:lnTo>
                <a:lnTo>
                  <a:pt x="0" y="2171"/>
                </a:lnTo>
                <a:lnTo>
                  <a:pt x="0" y="2157"/>
                </a:lnTo>
                <a:lnTo>
                  <a:pt x="13" y="2157"/>
                </a:lnTo>
                <a:close/>
                <a:moveTo>
                  <a:pt x="13" y="2184"/>
                </a:moveTo>
                <a:lnTo>
                  <a:pt x="13" y="2197"/>
                </a:lnTo>
                <a:lnTo>
                  <a:pt x="0" y="2197"/>
                </a:lnTo>
                <a:lnTo>
                  <a:pt x="0" y="2184"/>
                </a:lnTo>
                <a:lnTo>
                  <a:pt x="13" y="2184"/>
                </a:lnTo>
                <a:close/>
                <a:moveTo>
                  <a:pt x="13" y="2211"/>
                </a:moveTo>
                <a:lnTo>
                  <a:pt x="13" y="2224"/>
                </a:lnTo>
                <a:lnTo>
                  <a:pt x="0" y="2224"/>
                </a:lnTo>
                <a:lnTo>
                  <a:pt x="0" y="2211"/>
                </a:lnTo>
                <a:lnTo>
                  <a:pt x="13" y="2211"/>
                </a:lnTo>
                <a:close/>
                <a:moveTo>
                  <a:pt x="13" y="2237"/>
                </a:moveTo>
                <a:lnTo>
                  <a:pt x="13" y="2251"/>
                </a:lnTo>
                <a:lnTo>
                  <a:pt x="0" y="2251"/>
                </a:lnTo>
                <a:lnTo>
                  <a:pt x="0" y="2237"/>
                </a:lnTo>
                <a:lnTo>
                  <a:pt x="13" y="2237"/>
                </a:lnTo>
                <a:close/>
                <a:moveTo>
                  <a:pt x="13" y="2264"/>
                </a:moveTo>
                <a:lnTo>
                  <a:pt x="13" y="2277"/>
                </a:lnTo>
                <a:lnTo>
                  <a:pt x="0" y="2277"/>
                </a:lnTo>
                <a:lnTo>
                  <a:pt x="0" y="2264"/>
                </a:lnTo>
                <a:lnTo>
                  <a:pt x="13" y="2264"/>
                </a:lnTo>
                <a:close/>
                <a:moveTo>
                  <a:pt x="13" y="2290"/>
                </a:moveTo>
                <a:lnTo>
                  <a:pt x="13" y="2304"/>
                </a:lnTo>
                <a:lnTo>
                  <a:pt x="0" y="2304"/>
                </a:lnTo>
                <a:lnTo>
                  <a:pt x="0" y="2290"/>
                </a:lnTo>
                <a:lnTo>
                  <a:pt x="13" y="2290"/>
                </a:lnTo>
                <a:close/>
                <a:moveTo>
                  <a:pt x="13" y="2317"/>
                </a:moveTo>
                <a:lnTo>
                  <a:pt x="13" y="2330"/>
                </a:lnTo>
                <a:lnTo>
                  <a:pt x="0" y="2330"/>
                </a:lnTo>
                <a:lnTo>
                  <a:pt x="0" y="2317"/>
                </a:lnTo>
                <a:lnTo>
                  <a:pt x="13" y="2317"/>
                </a:lnTo>
                <a:close/>
                <a:moveTo>
                  <a:pt x="13" y="2344"/>
                </a:moveTo>
                <a:lnTo>
                  <a:pt x="13" y="2347"/>
                </a:lnTo>
                <a:lnTo>
                  <a:pt x="0" y="2347"/>
                </a:lnTo>
                <a:lnTo>
                  <a:pt x="0" y="2344"/>
                </a:lnTo>
                <a:lnTo>
                  <a:pt x="13" y="2344"/>
                </a:lnTo>
                <a:close/>
              </a:path>
            </a:pathLst>
          </a:custGeom>
          <a:solidFill>
            <a:srgbClr val="000000"/>
          </a:solidFill>
          <a:ln w="0" cap="flat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sz="1600" dirty="0">
              <a:ea typeface="SimHei" panose="02010609060101010101" pitchFamily="49" charset="-122"/>
            </a:endParaRPr>
          </a:p>
        </p:txBody>
      </p:sp>
      <p:sp>
        <p:nvSpPr>
          <p:cNvPr id="214" name="Freeform 28">
            <a:extLst>
              <a:ext uri="{FF2B5EF4-FFF2-40B4-BE49-F238E27FC236}">
                <a16:creationId xmlns:a16="http://schemas.microsoft.com/office/drawing/2014/main" id="{58A4D571-2680-43A9-BA27-A05FF9B61937}"/>
              </a:ext>
            </a:extLst>
          </p:cNvPr>
          <p:cNvSpPr>
            <a:spLocks noEditPoints="1"/>
          </p:cNvSpPr>
          <p:nvPr/>
        </p:nvSpPr>
        <p:spPr bwMode="auto">
          <a:xfrm>
            <a:off x="5174749" y="3160179"/>
            <a:ext cx="16782" cy="2997194"/>
          </a:xfrm>
          <a:custGeom>
            <a:avLst/>
            <a:gdLst>
              <a:gd name="T0" fmla="*/ 13 w 13"/>
              <a:gd name="T1" fmla="*/ 40 h 2347"/>
              <a:gd name="T2" fmla="*/ 0 w 13"/>
              <a:gd name="T3" fmla="*/ 53 h 2347"/>
              <a:gd name="T4" fmla="*/ 13 w 13"/>
              <a:gd name="T5" fmla="*/ 106 h 2347"/>
              <a:gd name="T6" fmla="*/ 0 w 13"/>
              <a:gd name="T7" fmla="*/ 146 h 2347"/>
              <a:gd name="T8" fmla="*/ 13 w 13"/>
              <a:gd name="T9" fmla="*/ 159 h 2347"/>
              <a:gd name="T10" fmla="*/ 13 w 13"/>
              <a:gd name="T11" fmla="*/ 226 h 2347"/>
              <a:gd name="T12" fmla="*/ 0 w 13"/>
              <a:gd name="T13" fmla="*/ 239 h 2347"/>
              <a:gd name="T14" fmla="*/ 13 w 13"/>
              <a:gd name="T15" fmla="*/ 293 h 2347"/>
              <a:gd name="T16" fmla="*/ 0 w 13"/>
              <a:gd name="T17" fmla="*/ 333 h 2347"/>
              <a:gd name="T18" fmla="*/ 13 w 13"/>
              <a:gd name="T19" fmla="*/ 346 h 2347"/>
              <a:gd name="T20" fmla="*/ 13 w 13"/>
              <a:gd name="T21" fmla="*/ 413 h 2347"/>
              <a:gd name="T22" fmla="*/ 0 w 13"/>
              <a:gd name="T23" fmla="*/ 426 h 2347"/>
              <a:gd name="T24" fmla="*/ 13 w 13"/>
              <a:gd name="T25" fmla="*/ 479 h 2347"/>
              <a:gd name="T26" fmla="*/ 0 w 13"/>
              <a:gd name="T27" fmla="*/ 519 h 2347"/>
              <a:gd name="T28" fmla="*/ 13 w 13"/>
              <a:gd name="T29" fmla="*/ 532 h 2347"/>
              <a:gd name="T30" fmla="*/ 13 w 13"/>
              <a:gd name="T31" fmla="*/ 599 h 2347"/>
              <a:gd name="T32" fmla="*/ 0 w 13"/>
              <a:gd name="T33" fmla="*/ 612 h 2347"/>
              <a:gd name="T34" fmla="*/ 13 w 13"/>
              <a:gd name="T35" fmla="*/ 666 h 2347"/>
              <a:gd name="T36" fmla="*/ 0 w 13"/>
              <a:gd name="T37" fmla="*/ 706 h 2347"/>
              <a:gd name="T38" fmla="*/ 13 w 13"/>
              <a:gd name="T39" fmla="*/ 719 h 2347"/>
              <a:gd name="T40" fmla="*/ 13 w 13"/>
              <a:gd name="T41" fmla="*/ 786 h 2347"/>
              <a:gd name="T42" fmla="*/ 0 w 13"/>
              <a:gd name="T43" fmla="*/ 799 h 2347"/>
              <a:gd name="T44" fmla="*/ 13 w 13"/>
              <a:gd name="T45" fmla="*/ 852 h 2347"/>
              <a:gd name="T46" fmla="*/ 0 w 13"/>
              <a:gd name="T47" fmla="*/ 892 h 2347"/>
              <a:gd name="T48" fmla="*/ 13 w 13"/>
              <a:gd name="T49" fmla="*/ 905 h 2347"/>
              <a:gd name="T50" fmla="*/ 13 w 13"/>
              <a:gd name="T51" fmla="*/ 972 h 2347"/>
              <a:gd name="T52" fmla="*/ 0 w 13"/>
              <a:gd name="T53" fmla="*/ 985 h 2347"/>
              <a:gd name="T54" fmla="*/ 13 w 13"/>
              <a:gd name="T55" fmla="*/ 1038 h 2347"/>
              <a:gd name="T56" fmla="*/ 0 w 13"/>
              <a:gd name="T57" fmla="*/ 1078 h 2347"/>
              <a:gd name="T58" fmla="*/ 13 w 13"/>
              <a:gd name="T59" fmla="*/ 1092 h 2347"/>
              <a:gd name="T60" fmla="*/ 13 w 13"/>
              <a:gd name="T61" fmla="*/ 1158 h 2347"/>
              <a:gd name="T62" fmla="*/ 0 w 13"/>
              <a:gd name="T63" fmla="*/ 1172 h 2347"/>
              <a:gd name="T64" fmla="*/ 13 w 13"/>
              <a:gd name="T65" fmla="*/ 1225 h 2347"/>
              <a:gd name="T66" fmla="*/ 0 w 13"/>
              <a:gd name="T67" fmla="*/ 1265 h 2347"/>
              <a:gd name="T68" fmla="*/ 13 w 13"/>
              <a:gd name="T69" fmla="*/ 1278 h 2347"/>
              <a:gd name="T70" fmla="*/ 13 w 13"/>
              <a:gd name="T71" fmla="*/ 1345 h 2347"/>
              <a:gd name="T72" fmla="*/ 0 w 13"/>
              <a:gd name="T73" fmla="*/ 1358 h 2347"/>
              <a:gd name="T74" fmla="*/ 13 w 13"/>
              <a:gd name="T75" fmla="*/ 1411 h 2347"/>
              <a:gd name="T76" fmla="*/ 0 w 13"/>
              <a:gd name="T77" fmla="*/ 1451 h 2347"/>
              <a:gd name="T78" fmla="*/ 13 w 13"/>
              <a:gd name="T79" fmla="*/ 1465 h 2347"/>
              <a:gd name="T80" fmla="*/ 13 w 13"/>
              <a:gd name="T81" fmla="*/ 1531 h 2347"/>
              <a:gd name="T82" fmla="*/ 0 w 13"/>
              <a:gd name="T83" fmla="*/ 1545 h 2347"/>
              <a:gd name="T84" fmla="*/ 13 w 13"/>
              <a:gd name="T85" fmla="*/ 1598 h 2347"/>
              <a:gd name="T86" fmla="*/ 0 w 13"/>
              <a:gd name="T87" fmla="*/ 1638 h 2347"/>
              <a:gd name="T88" fmla="*/ 13 w 13"/>
              <a:gd name="T89" fmla="*/ 1651 h 2347"/>
              <a:gd name="T90" fmla="*/ 13 w 13"/>
              <a:gd name="T91" fmla="*/ 1718 h 2347"/>
              <a:gd name="T92" fmla="*/ 0 w 13"/>
              <a:gd name="T93" fmla="*/ 1731 h 2347"/>
              <a:gd name="T94" fmla="*/ 13 w 13"/>
              <a:gd name="T95" fmla="*/ 1784 h 2347"/>
              <a:gd name="T96" fmla="*/ 0 w 13"/>
              <a:gd name="T97" fmla="*/ 1824 h 2347"/>
              <a:gd name="T98" fmla="*/ 13 w 13"/>
              <a:gd name="T99" fmla="*/ 1838 h 2347"/>
              <a:gd name="T100" fmla="*/ 13 w 13"/>
              <a:gd name="T101" fmla="*/ 1904 h 2347"/>
              <a:gd name="T102" fmla="*/ 0 w 13"/>
              <a:gd name="T103" fmla="*/ 1917 h 2347"/>
              <a:gd name="T104" fmla="*/ 13 w 13"/>
              <a:gd name="T105" fmla="*/ 1971 h 2347"/>
              <a:gd name="T106" fmla="*/ 0 w 13"/>
              <a:gd name="T107" fmla="*/ 2011 h 2347"/>
              <a:gd name="T108" fmla="*/ 13 w 13"/>
              <a:gd name="T109" fmla="*/ 2024 h 2347"/>
              <a:gd name="T110" fmla="*/ 13 w 13"/>
              <a:gd name="T111" fmla="*/ 2091 h 2347"/>
              <a:gd name="T112" fmla="*/ 0 w 13"/>
              <a:gd name="T113" fmla="*/ 2104 h 2347"/>
              <a:gd name="T114" fmla="*/ 13 w 13"/>
              <a:gd name="T115" fmla="*/ 2157 h 2347"/>
              <a:gd name="T116" fmla="*/ 0 w 13"/>
              <a:gd name="T117" fmla="*/ 2197 h 2347"/>
              <a:gd name="T118" fmla="*/ 13 w 13"/>
              <a:gd name="T119" fmla="*/ 2211 h 2347"/>
              <a:gd name="T120" fmla="*/ 13 w 13"/>
              <a:gd name="T121" fmla="*/ 2277 h 2347"/>
              <a:gd name="T122" fmla="*/ 0 w 13"/>
              <a:gd name="T123" fmla="*/ 2290 h 2347"/>
              <a:gd name="T124" fmla="*/ 13 w 13"/>
              <a:gd name="T125" fmla="*/ 2344 h 234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13" h="2347">
                <a:moveTo>
                  <a:pt x="13" y="0"/>
                </a:moveTo>
                <a:lnTo>
                  <a:pt x="13" y="13"/>
                </a:lnTo>
                <a:lnTo>
                  <a:pt x="0" y="13"/>
                </a:lnTo>
                <a:lnTo>
                  <a:pt x="0" y="0"/>
                </a:lnTo>
                <a:lnTo>
                  <a:pt x="13" y="0"/>
                </a:lnTo>
                <a:close/>
                <a:moveTo>
                  <a:pt x="13" y="26"/>
                </a:moveTo>
                <a:lnTo>
                  <a:pt x="13" y="40"/>
                </a:lnTo>
                <a:lnTo>
                  <a:pt x="0" y="40"/>
                </a:lnTo>
                <a:lnTo>
                  <a:pt x="0" y="26"/>
                </a:lnTo>
                <a:lnTo>
                  <a:pt x="13" y="26"/>
                </a:lnTo>
                <a:close/>
                <a:moveTo>
                  <a:pt x="13" y="53"/>
                </a:moveTo>
                <a:lnTo>
                  <a:pt x="13" y="66"/>
                </a:lnTo>
                <a:lnTo>
                  <a:pt x="0" y="66"/>
                </a:lnTo>
                <a:lnTo>
                  <a:pt x="0" y="53"/>
                </a:lnTo>
                <a:lnTo>
                  <a:pt x="13" y="53"/>
                </a:lnTo>
                <a:close/>
                <a:moveTo>
                  <a:pt x="13" y="80"/>
                </a:moveTo>
                <a:lnTo>
                  <a:pt x="13" y="93"/>
                </a:lnTo>
                <a:lnTo>
                  <a:pt x="0" y="93"/>
                </a:lnTo>
                <a:lnTo>
                  <a:pt x="0" y="80"/>
                </a:lnTo>
                <a:lnTo>
                  <a:pt x="13" y="80"/>
                </a:lnTo>
                <a:close/>
                <a:moveTo>
                  <a:pt x="13" y="106"/>
                </a:moveTo>
                <a:lnTo>
                  <a:pt x="13" y="119"/>
                </a:lnTo>
                <a:lnTo>
                  <a:pt x="0" y="119"/>
                </a:lnTo>
                <a:lnTo>
                  <a:pt x="0" y="106"/>
                </a:lnTo>
                <a:lnTo>
                  <a:pt x="13" y="106"/>
                </a:lnTo>
                <a:close/>
                <a:moveTo>
                  <a:pt x="13" y="133"/>
                </a:moveTo>
                <a:lnTo>
                  <a:pt x="13" y="146"/>
                </a:lnTo>
                <a:lnTo>
                  <a:pt x="0" y="146"/>
                </a:lnTo>
                <a:lnTo>
                  <a:pt x="0" y="133"/>
                </a:lnTo>
                <a:lnTo>
                  <a:pt x="13" y="133"/>
                </a:lnTo>
                <a:close/>
                <a:moveTo>
                  <a:pt x="13" y="159"/>
                </a:moveTo>
                <a:lnTo>
                  <a:pt x="13" y="173"/>
                </a:lnTo>
                <a:lnTo>
                  <a:pt x="0" y="173"/>
                </a:lnTo>
                <a:lnTo>
                  <a:pt x="0" y="159"/>
                </a:lnTo>
                <a:lnTo>
                  <a:pt x="13" y="159"/>
                </a:lnTo>
                <a:close/>
                <a:moveTo>
                  <a:pt x="13" y="186"/>
                </a:moveTo>
                <a:lnTo>
                  <a:pt x="13" y="199"/>
                </a:lnTo>
                <a:lnTo>
                  <a:pt x="0" y="199"/>
                </a:lnTo>
                <a:lnTo>
                  <a:pt x="0" y="186"/>
                </a:lnTo>
                <a:lnTo>
                  <a:pt x="13" y="186"/>
                </a:lnTo>
                <a:close/>
                <a:moveTo>
                  <a:pt x="13" y="213"/>
                </a:moveTo>
                <a:lnTo>
                  <a:pt x="13" y="226"/>
                </a:lnTo>
                <a:lnTo>
                  <a:pt x="0" y="226"/>
                </a:lnTo>
                <a:lnTo>
                  <a:pt x="0" y="213"/>
                </a:lnTo>
                <a:lnTo>
                  <a:pt x="13" y="213"/>
                </a:lnTo>
                <a:close/>
                <a:moveTo>
                  <a:pt x="13" y="239"/>
                </a:moveTo>
                <a:lnTo>
                  <a:pt x="13" y="253"/>
                </a:lnTo>
                <a:lnTo>
                  <a:pt x="0" y="253"/>
                </a:lnTo>
                <a:lnTo>
                  <a:pt x="0" y="239"/>
                </a:lnTo>
                <a:lnTo>
                  <a:pt x="13" y="239"/>
                </a:lnTo>
                <a:close/>
                <a:moveTo>
                  <a:pt x="13" y="266"/>
                </a:moveTo>
                <a:lnTo>
                  <a:pt x="13" y="279"/>
                </a:lnTo>
                <a:lnTo>
                  <a:pt x="0" y="279"/>
                </a:lnTo>
                <a:lnTo>
                  <a:pt x="0" y="266"/>
                </a:lnTo>
                <a:lnTo>
                  <a:pt x="13" y="266"/>
                </a:lnTo>
                <a:close/>
                <a:moveTo>
                  <a:pt x="13" y="293"/>
                </a:moveTo>
                <a:lnTo>
                  <a:pt x="13" y="306"/>
                </a:lnTo>
                <a:lnTo>
                  <a:pt x="0" y="306"/>
                </a:lnTo>
                <a:lnTo>
                  <a:pt x="0" y="293"/>
                </a:lnTo>
                <a:lnTo>
                  <a:pt x="13" y="293"/>
                </a:lnTo>
                <a:close/>
                <a:moveTo>
                  <a:pt x="13" y="319"/>
                </a:moveTo>
                <a:lnTo>
                  <a:pt x="13" y="333"/>
                </a:lnTo>
                <a:lnTo>
                  <a:pt x="0" y="333"/>
                </a:lnTo>
                <a:lnTo>
                  <a:pt x="0" y="319"/>
                </a:lnTo>
                <a:lnTo>
                  <a:pt x="13" y="319"/>
                </a:lnTo>
                <a:close/>
                <a:moveTo>
                  <a:pt x="13" y="346"/>
                </a:moveTo>
                <a:lnTo>
                  <a:pt x="13" y="359"/>
                </a:lnTo>
                <a:lnTo>
                  <a:pt x="0" y="359"/>
                </a:lnTo>
                <a:lnTo>
                  <a:pt x="0" y="346"/>
                </a:lnTo>
                <a:lnTo>
                  <a:pt x="13" y="346"/>
                </a:lnTo>
                <a:close/>
                <a:moveTo>
                  <a:pt x="13" y="373"/>
                </a:moveTo>
                <a:lnTo>
                  <a:pt x="13" y="386"/>
                </a:lnTo>
                <a:lnTo>
                  <a:pt x="0" y="386"/>
                </a:lnTo>
                <a:lnTo>
                  <a:pt x="0" y="373"/>
                </a:lnTo>
                <a:lnTo>
                  <a:pt x="13" y="373"/>
                </a:lnTo>
                <a:close/>
                <a:moveTo>
                  <a:pt x="13" y="399"/>
                </a:moveTo>
                <a:lnTo>
                  <a:pt x="13" y="413"/>
                </a:lnTo>
                <a:lnTo>
                  <a:pt x="0" y="413"/>
                </a:lnTo>
                <a:lnTo>
                  <a:pt x="0" y="399"/>
                </a:lnTo>
                <a:lnTo>
                  <a:pt x="13" y="399"/>
                </a:lnTo>
                <a:close/>
                <a:moveTo>
                  <a:pt x="13" y="426"/>
                </a:moveTo>
                <a:lnTo>
                  <a:pt x="13" y="439"/>
                </a:lnTo>
                <a:lnTo>
                  <a:pt x="0" y="439"/>
                </a:lnTo>
                <a:lnTo>
                  <a:pt x="0" y="426"/>
                </a:lnTo>
                <a:lnTo>
                  <a:pt x="13" y="426"/>
                </a:lnTo>
                <a:close/>
                <a:moveTo>
                  <a:pt x="13" y="453"/>
                </a:moveTo>
                <a:lnTo>
                  <a:pt x="13" y="466"/>
                </a:lnTo>
                <a:lnTo>
                  <a:pt x="0" y="466"/>
                </a:lnTo>
                <a:lnTo>
                  <a:pt x="0" y="453"/>
                </a:lnTo>
                <a:lnTo>
                  <a:pt x="13" y="453"/>
                </a:lnTo>
                <a:close/>
                <a:moveTo>
                  <a:pt x="13" y="479"/>
                </a:moveTo>
                <a:lnTo>
                  <a:pt x="13" y="493"/>
                </a:lnTo>
                <a:lnTo>
                  <a:pt x="0" y="493"/>
                </a:lnTo>
                <a:lnTo>
                  <a:pt x="0" y="479"/>
                </a:lnTo>
                <a:lnTo>
                  <a:pt x="13" y="479"/>
                </a:lnTo>
                <a:close/>
                <a:moveTo>
                  <a:pt x="13" y="506"/>
                </a:moveTo>
                <a:lnTo>
                  <a:pt x="13" y="519"/>
                </a:lnTo>
                <a:lnTo>
                  <a:pt x="0" y="519"/>
                </a:lnTo>
                <a:lnTo>
                  <a:pt x="0" y="506"/>
                </a:lnTo>
                <a:lnTo>
                  <a:pt x="13" y="506"/>
                </a:lnTo>
                <a:close/>
                <a:moveTo>
                  <a:pt x="13" y="532"/>
                </a:moveTo>
                <a:lnTo>
                  <a:pt x="13" y="546"/>
                </a:lnTo>
                <a:lnTo>
                  <a:pt x="0" y="546"/>
                </a:lnTo>
                <a:lnTo>
                  <a:pt x="0" y="532"/>
                </a:lnTo>
                <a:lnTo>
                  <a:pt x="13" y="532"/>
                </a:lnTo>
                <a:close/>
                <a:moveTo>
                  <a:pt x="13" y="559"/>
                </a:moveTo>
                <a:lnTo>
                  <a:pt x="13" y="572"/>
                </a:lnTo>
                <a:lnTo>
                  <a:pt x="0" y="572"/>
                </a:lnTo>
                <a:lnTo>
                  <a:pt x="0" y="559"/>
                </a:lnTo>
                <a:lnTo>
                  <a:pt x="13" y="559"/>
                </a:lnTo>
                <a:close/>
                <a:moveTo>
                  <a:pt x="13" y="586"/>
                </a:moveTo>
                <a:lnTo>
                  <a:pt x="13" y="599"/>
                </a:lnTo>
                <a:lnTo>
                  <a:pt x="0" y="599"/>
                </a:lnTo>
                <a:lnTo>
                  <a:pt x="0" y="586"/>
                </a:lnTo>
                <a:lnTo>
                  <a:pt x="13" y="586"/>
                </a:lnTo>
                <a:close/>
                <a:moveTo>
                  <a:pt x="13" y="612"/>
                </a:moveTo>
                <a:lnTo>
                  <a:pt x="13" y="626"/>
                </a:lnTo>
                <a:lnTo>
                  <a:pt x="0" y="626"/>
                </a:lnTo>
                <a:lnTo>
                  <a:pt x="0" y="612"/>
                </a:lnTo>
                <a:lnTo>
                  <a:pt x="13" y="612"/>
                </a:lnTo>
                <a:close/>
                <a:moveTo>
                  <a:pt x="13" y="639"/>
                </a:moveTo>
                <a:lnTo>
                  <a:pt x="13" y="652"/>
                </a:lnTo>
                <a:lnTo>
                  <a:pt x="0" y="652"/>
                </a:lnTo>
                <a:lnTo>
                  <a:pt x="0" y="639"/>
                </a:lnTo>
                <a:lnTo>
                  <a:pt x="13" y="639"/>
                </a:lnTo>
                <a:close/>
                <a:moveTo>
                  <a:pt x="13" y="666"/>
                </a:moveTo>
                <a:lnTo>
                  <a:pt x="13" y="679"/>
                </a:lnTo>
                <a:lnTo>
                  <a:pt x="0" y="679"/>
                </a:lnTo>
                <a:lnTo>
                  <a:pt x="0" y="666"/>
                </a:lnTo>
                <a:lnTo>
                  <a:pt x="13" y="666"/>
                </a:lnTo>
                <a:close/>
                <a:moveTo>
                  <a:pt x="13" y="692"/>
                </a:moveTo>
                <a:lnTo>
                  <a:pt x="13" y="706"/>
                </a:lnTo>
                <a:lnTo>
                  <a:pt x="0" y="706"/>
                </a:lnTo>
                <a:lnTo>
                  <a:pt x="0" y="692"/>
                </a:lnTo>
                <a:lnTo>
                  <a:pt x="13" y="692"/>
                </a:lnTo>
                <a:close/>
                <a:moveTo>
                  <a:pt x="13" y="719"/>
                </a:moveTo>
                <a:lnTo>
                  <a:pt x="13" y="732"/>
                </a:lnTo>
                <a:lnTo>
                  <a:pt x="0" y="732"/>
                </a:lnTo>
                <a:lnTo>
                  <a:pt x="0" y="719"/>
                </a:lnTo>
                <a:lnTo>
                  <a:pt x="13" y="719"/>
                </a:lnTo>
                <a:close/>
                <a:moveTo>
                  <a:pt x="13" y="746"/>
                </a:moveTo>
                <a:lnTo>
                  <a:pt x="13" y="759"/>
                </a:lnTo>
                <a:lnTo>
                  <a:pt x="0" y="759"/>
                </a:lnTo>
                <a:lnTo>
                  <a:pt x="0" y="746"/>
                </a:lnTo>
                <a:lnTo>
                  <a:pt x="13" y="746"/>
                </a:lnTo>
                <a:close/>
                <a:moveTo>
                  <a:pt x="13" y="772"/>
                </a:moveTo>
                <a:lnTo>
                  <a:pt x="13" y="786"/>
                </a:lnTo>
                <a:lnTo>
                  <a:pt x="0" y="786"/>
                </a:lnTo>
                <a:lnTo>
                  <a:pt x="0" y="772"/>
                </a:lnTo>
                <a:lnTo>
                  <a:pt x="13" y="772"/>
                </a:lnTo>
                <a:close/>
                <a:moveTo>
                  <a:pt x="13" y="799"/>
                </a:moveTo>
                <a:lnTo>
                  <a:pt x="13" y="812"/>
                </a:lnTo>
                <a:lnTo>
                  <a:pt x="0" y="812"/>
                </a:lnTo>
                <a:lnTo>
                  <a:pt x="0" y="799"/>
                </a:lnTo>
                <a:lnTo>
                  <a:pt x="13" y="799"/>
                </a:lnTo>
                <a:close/>
                <a:moveTo>
                  <a:pt x="13" y="826"/>
                </a:moveTo>
                <a:lnTo>
                  <a:pt x="13" y="839"/>
                </a:lnTo>
                <a:lnTo>
                  <a:pt x="0" y="839"/>
                </a:lnTo>
                <a:lnTo>
                  <a:pt x="0" y="826"/>
                </a:lnTo>
                <a:lnTo>
                  <a:pt x="13" y="826"/>
                </a:lnTo>
                <a:close/>
                <a:moveTo>
                  <a:pt x="13" y="852"/>
                </a:moveTo>
                <a:lnTo>
                  <a:pt x="13" y="866"/>
                </a:lnTo>
                <a:lnTo>
                  <a:pt x="0" y="866"/>
                </a:lnTo>
                <a:lnTo>
                  <a:pt x="0" y="852"/>
                </a:lnTo>
                <a:lnTo>
                  <a:pt x="13" y="852"/>
                </a:lnTo>
                <a:close/>
                <a:moveTo>
                  <a:pt x="13" y="879"/>
                </a:moveTo>
                <a:lnTo>
                  <a:pt x="13" y="892"/>
                </a:lnTo>
                <a:lnTo>
                  <a:pt x="0" y="892"/>
                </a:lnTo>
                <a:lnTo>
                  <a:pt x="0" y="879"/>
                </a:lnTo>
                <a:lnTo>
                  <a:pt x="13" y="879"/>
                </a:lnTo>
                <a:close/>
                <a:moveTo>
                  <a:pt x="13" y="905"/>
                </a:moveTo>
                <a:lnTo>
                  <a:pt x="13" y="919"/>
                </a:lnTo>
                <a:lnTo>
                  <a:pt x="0" y="919"/>
                </a:lnTo>
                <a:lnTo>
                  <a:pt x="0" y="905"/>
                </a:lnTo>
                <a:lnTo>
                  <a:pt x="13" y="905"/>
                </a:lnTo>
                <a:close/>
                <a:moveTo>
                  <a:pt x="13" y="932"/>
                </a:moveTo>
                <a:lnTo>
                  <a:pt x="13" y="945"/>
                </a:lnTo>
                <a:lnTo>
                  <a:pt x="0" y="945"/>
                </a:lnTo>
                <a:lnTo>
                  <a:pt x="0" y="932"/>
                </a:lnTo>
                <a:lnTo>
                  <a:pt x="13" y="932"/>
                </a:lnTo>
                <a:close/>
                <a:moveTo>
                  <a:pt x="13" y="959"/>
                </a:moveTo>
                <a:lnTo>
                  <a:pt x="13" y="972"/>
                </a:lnTo>
                <a:lnTo>
                  <a:pt x="0" y="972"/>
                </a:lnTo>
                <a:lnTo>
                  <a:pt x="0" y="959"/>
                </a:lnTo>
                <a:lnTo>
                  <a:pt x="13" y="959"/>
                </a:lnTo>
                <a:close/>
                <a:moveTo>
                  <a:pt x="13" y="985"/>
                </a:moveTo>
                <a:lnTo>
                  <a:pt x="13" y="998"/>
                </a:lnTo>
                <a:lnTo>
                  <a:pt x="0" y="998"/>
                </a:lnTo>
                <a:lnTo>
                  <a:pt x="0" y="985"/>
                </a:lnTo>
                <a:lnTo>
                  <a:pt x="13" y="985"/>
                </a:lnTo>
                <a:close/>
                <a:moveTo>
                  <a:pt x="13" y="1012"/>
                </a:moveTo>
                <a:lnTo>
                  <a:pt x="13" y="1025"/>
                </a:lnTo>
                <a:lnTo>
                  <a:pt x="0" y="1025"/>
                </a:lnTo>
                <a:lnTo>
                  <a:pt x="0" y="1012"/>
                </a:lnTo>
                <a:lnTo>
                  <a:pt x="13" y="1012"/>
                </a:lnTo>
                <a:close/>
                <a:moveTo>
                  <a:pt x="13" y="1038"/>
                </a:moveTo>
                <a:lnTo>
                  <a:pt x="13" y="1052"/>
                </a:lnTo>
                <a:lnTo>
                  <a:pt x="0" y="1052"/>
                </a:lnTo>
                <a:lnTo>
                  <a:pt x="0" y="1038"/>
                </a:lnTo>
                <a:lnTo>
                  <a:pt x="13" y="1038"/>
                </a:lnTo>
                <a:close/>
                <a:moveTo>
                  <a:pt x="13" y="1065"/>
                </a:moveTo>
                <a:lnTo>
                  <a:pt x="13" y="1078"/>
                </a:lnTo>
                <a:lnTo>
                  <a:pt x="0" y="1078"/>
                </a:lnTo>
                <a:lnTo>
                  <a:pt x="0" y="1065"/>
                </a:lnTo>
                <a:lnTo>
                  <a:pt x="13" y="1065"/>
                </a:lnTo>
                <a:close/>
                <a:moveTo>
                  <a:pt x="13" y="1092"/>
                </a:moveTo>
                <a:lnTo>
                  <a:pt x="13" y="1105"/>
                </a:lnTo>
                <a:lnTo>
                  <a:pt x="0" y="1105"/>
                </a:lnTo>
                <a:lnTo>
                  <a:pt x="0" y="1092"/>
                </a:lnTo>
                <a:lnTo>
                  <a:pt x="13" y="1092"/>
                </a:lnTo>
                <a:close/>
                <a:moveTo>
                  <a:pt x="13" y="1118"/>
                </a:moveTo>
                <a:lnTo>
                  <a:pt x="13" y="1132"/>
                </a:lnTo>
                <a:lnTo>
                  <a:pt x="0" y="1132"/>
                </a:lnTo>
                <a:lnTo>
                  <a:pt x="0" y="1118"/>
                </a:lnTo>
                <a:lnTo>
                  <a:pt x="13" y="1118"/>
                </a:lnTo>
                <a:close/>
                <a:moveTo>
                  <a:pt x="13" y="1145"/>
                </a:moveTo>
                <a:lnTo>
                  <a:pt x="13" y="1158"/>
                </a:lnTo>
                <a:lnTo>
                  <a:pt x="0" y="1158"/>
                </a:lnTo>
                <a:lnTo>
                  <a:pt x="0" y="1145"/>
                </a:lnTo>
                <a:lnTo>
                  <a:pt x="13" y="1145"/>
                </a:lnTo>
                <a:close/>
                <a:moveTo>
                  <a:pt x="13" y="1172"/>
                </a:moveTo>
                <a:lnTo>
                  <a:pt x="13" y="1185"/>
                </a:lnTo>
                <a:lnTo>
                  <a:pt x="0" y="1185"/>
                </a:lnTo>
                <a:lnTo>
                  <a:pt x="0" y="1172"/>
                </a:lnTo>
                <a:lnTo>
                  <a:pt x="13" y="1172"/>
                </a:lnTo>
                <a:close/>
                <a:moveTo>
                  <a:pt x="13" y="1198"/>
                </a:moveTo>
                <a:lnTo>
                  <a:pt x="13" y="1212"/>
                </a:lnTo>
                <a:lnTo>
                  <a:pt x="0" y="1212"/>
                </a:lnTo>
                <a:lnTo>
                  <a:pt x="0" y="1198"/>
                </a:lnTo>
                <a:lnTo>
                  <a:pt x="13" y="1198"/>
                </a:lnTo>
                <a:close/>
                <a:moveTo>
                  <a:pt x="13" y="1225"/>
                </a:moveTo>
                <a:lnTo>
                  <a:pt x="13" y="1238"/>
                </a:lnTo>
                <a:lnTo>
                  <a:pt x="0" y="1238"/>
                </a:lnTo>
                <a:lnTo>
                  <a:pt x="0" y="1225"/>
                </a:lnTo>
                <a:lnTo>
                  <a:pt x="13" y="1225"/>
                </a:lnTo>
                <a:close/>
                <a:moveTo>
                  <a:pt x="13" y="1252"/>
                </a:moveTo>
                <a:lnTo>
                  <a:pt x="13" y="1265"/>
                </a:lnTo>
                <a:lnTo>
                  <a:pt x="0" y="1265"/>
                </a:lnTo>
                <a:lnTo>
                  <a:pt x="0" y="1252"/>
                </a:lnTo>
                <a:lnTo>
                  <a:pt x="13" y="1252"/>
                </a:lnTo>
                <a:close/>
                <a:moveTo>
                  <a:pt x="13" y="1278"/>
                </a:moveTo>
                <a:lnTo>
                  <a:pt x="13" y="1292"/>
                </a:lnTo>
                <a:lnTo>
                  <a:pt x="0" y="1292"/>
                </a:lnTo>
                <a:lnTo>
                  <a:pt x="0" y="1278"/>
                </a:lnTo>
                <a:lnTo>
                  <a:pt x="13" y="1278"/>
                </a:lnTo>
                <a:close/>
                <a:moveTo>
                  <a:pt x="13" y="1305"/>
                </a:moveTo>
                <a:lnTo>
                  <a:pt x="13" y="1318"/>
                </a:lnTo>
                <a:lnTo>
                  <a:pt x="0" y="1318"/>
                </a:lnTo>
                <a:lnTo>
                  <a:pt x="0" y="1305"/>
                </a:lnTo>
                <a:lnTo>
                  <a:pt x="13" y="1305"/>
                </a:lnTo>
                <a:close/>
                <a:moveTo>
                  <a:pt x="13" y="1332"/>
                </a:moveTo>
                <a:lnTo>
                  <a:pt x="13" y="1345"/>
                </a:lnTo>
                <a:lnTo>
                  <a:pt x="0" y="1345"/>
                </a:lnTo>
                <a:lnTo>
                  <a:pt x="0" y="1332"/>
                </a:lnTo>
                <a:lnTo>
                  <a:pt x="13" y="1332"/>
                </a:lnTo>
                <a:close/>
                <a:moveTo>
                  <a:pt x="13" y="1358"/>
                </a:moveTo>
                <a:lnTo>
                  <a:pt x="13" y="1372"/>
                </a:lnTo>
                <a:lnTo>
                  <a:pt x="0" y="1372"/>
                </a:lnTo>
                <a:lnTo>
                  <a:pt x="0" y="1358"/>
                </a:lnTo>
                <a:lnTo>
                  <a:pt x="13" y="1358"/>
                </a:lnTo>
                <a:close/>
                <a:moveTo>
                  <a:pt x="13" y="1385"/>
                </a:moveTo>
                <a:lnTo>
                  <a:pt x="13" y="1398"/>
                </a:lnTo>
                <a:lnTo>
                  <a:pt x="0" y="1398"/>
                </a:lnTo>
                <a:lnTo>
                  <a:pt x="0" y="1385"/>
                </a:lnTo>
                <a:lnTo>
                  <a:pt x="13" y="1385"/>
                </a:lnTo>
                <a:close/>
                <a:moveTo>
                  <a:pt x="13" y="1411"/>
                </a:moveTo>
                <a:lnTo>
                  <a:pt x="13" y="1425"/>
                </a:lnTo>
                <a:lnTo>
                  <a:pt x="0" y="1425"/>
                </a:lnTo>
                <a:lnTo>
                  <a:pt x="0" y="1411"/>
                </a:lnTo>
                <a:lnTo>
                  <a:pt x="13" y="1411"/>
                </a:lnTo>
                <a:close/>
                <a:moveTo>
                  <a:pt x="13" y="1438"/>
                </a:moveTo>
                <a:lnTo>
                  <a:pt x="13" y="1451"/>
                </a:lnTo>
                <a:lnTo>
                  <a:pt x="0" y="1451"/>
                </a:lnTo>
                <a:lnTo>
                  <a:pt x="0" y="1438"/>
                </a:lnTo>
                <a:lnTo>
                  <a:pt x="13" y="1438"/>
                </a:lnTo>
                <a:close/>
                <a:moveTo>
                  <a:pt x="13" y="1465"/>
                </a:moveTo>
                <a:lnTo>
                  <a:pt x="13" y="1478"/>
                </a:lnTo>
                <a:lnTo>
                  <a:pt x="0" y="1478"/>
                </a:lnTo>
                <a:lnTo>
                  <a:pt x="0" y="1465"/>
                </a:lnTo>
                <a:lnTo>
                  <a:pt x="13" y="1465"/>
                </a:lnTo>
                <a:close/>
                <a:moveTo>
                  <a:pt x="13" y="1491"/>
                </a:moveTo>
                <a:lnTo>
                  <a:pt x="13" y="1505"/>
                </a:lnTo>
                <a:lnTo>
                  <a:pt x="0" y="1505"/>
                </a:lnTo>
                <a:lnTo>
                  <a:pt x="0" y="1491"/>
                </a:lnTo>
                <a:lnTo>
                  <a:pt x="13" y="1491"/>
                </a:lnTo>
                <a:close/>
                <a:moveTo>
                  <a:pt x="13" y="1518"/>
                </a:moveTo>
                <a:lnTo>
                  <a:pt x="13" y="1531"/>
                </a:lnTo>
                <a:lnTo>
                  <a:pt x="0" y="1531"/>
                </a:lnTo>
                <a:lnTo>
                  <a:pt x="0" y="1518"/>
                </a:lnTo>
                <a:lnTo>
                  <a:pt x="13" y="1518"/>
                </a:lnTo>
                <a:close/>
                <a:moveTo>
                  <a:pt x="13" y="1545"/>
                </a:moveTo>
                <a:lnTo>
                  <a:pt x="13" y="1558"/>
                </a:lnTo>
                <a:lnTo>
                  <a:pt x="0" y="1558"/>
                </a:lnTo>
                <a:lnTo>
                  <a:pt x="0" y="1545"/>
                </a:lnTo>
                <a:lnTo>
                  <a:pt x="13" y="1545"/>
                </a:lnTo>
                <a:close/>
                <a:moveTo>
                  <a:pt x="13" y="1571"/>
                </a:moveTo>
                <a:lnTo>
                  <a:pt x="13" y="1585"/>
                </a:lnTo>
                <a:lnTo>
                  <a:pt x="0" y="1585"/>
                </a:lnTo>
                <a:lnTo>
                  <a:pt x="0" y="1571"/>
                </a:lnTo>
                <a:lnTo>
                  <a:pt x="13" y="1571"/>
                </a:lnTo>
                <a:close/>
                <a:moveTo>
                  <a:pt x="13" y="1598"/>
                </a:moveTo>
                <a:lnTo>
                  <a:pt x="13" y="1611"/>
                </a:lnTo>
                <a:lnTo>
                  <a:pt x="0" y="1611"/>
                </a:lnTo>
                <a:lnTo>
                  <a:pt x="0" y="1598"/>
                </a:lnTo>
                <a:lnTo>
                  <a:pt x="13" y="1598"/>
                </a:lnTo>
                <a:close/>
                <a:moveTo>
                  <a:pt x="13" y="1625"/>
                </a:moveTo>
                <a:lnTo>
                  <a:pt x="13" y="1638"/>
                </a:lnTo>
                <a:lnTo>
                  <a:pt x="0" y="1638"/>
                </a:lnTo>
                <a:lnTo>
                  <a:pt x="0" y="1625"/>
                </a:lnTo>
                <a:lnTo>
                  <a:pt x="13" y="1625"/>
                </a:lnTo>
                <a:close/>
                <a:moveTo>
                  <a:pt x="13" y="1651"/>
                </a:moveTo>
                <a:lnTo>
                  <a:pt x="13" y="1665"/>
                </a:lnTo>
                <a:lnTo>
                  <a:pt x="0" y="1665"/>
                </a:lnTo>
                <a:lnTo>
                  <a:pt x="0" y="1651"/>
                </a:lnTo>
                <a:lnTo>
                  <a:pt x="13" y="1651"/>
                </a:lnTo>
                <a:close/>
                <a:moveTo>
                  <a:pt x="13" y="1678"/>
                </a:moveTo>
                <a:lnTo>
                  <a:pt x="13" y="1691"/>
                </a:lnTo>
                <a:lnTo>
                  <a:pt x="0" y="1691"/>
                </a:lnTo>
                <a:lnTo>
                  <a:pt x="0" y="1678"/>
                </a:lnTo>
                <a:lnTo>
                  <a:pt x="13" y="1678"/>
                </a:lnTo>
                <a:close/>
                <a:moveTo>
                  <a:pt x="13" y="1705"/>
                </a:moveTo>
                <a:lnTo>
                  <a:pt x="13" y="1718"/>
                </a:lnTo>
                <a:lnTo>
                  <a:pt x="0" y="1718"/>
                </a:lnTo>
                <a:lnTo>
                  <a:pt x="0" y="1705"/>
                </a:lnTo>
                <a:lnTo>
                  <a:pt x="13" y="1705"/>
                </a:lnTo>
                <a:close/>
                <a:moveTo>
                  <a:pt x="13" y="1731"/>
                </a:moveTo>
                <a:lnTo>
                  <a:pt x="13" y="1745"/>
                </a:lnTo>
                <a:lnTo>
                  <a:pt x="0" y="1745"/>
                </a:lnTo>
                <a:lnTo>
                  <a:pt x="0" y="1731"/>
                </a:lnTo>
                <a:lnTo>
                  <a:pt x="13" y="1731"/>
                </a:lnTo>
                <a:close/>
                <a:moveTo>
                  <a:pt x="13" y="1758"/>
                </a:moveTo>
                <a:lnTo>
                  <a:pt x="13" y="1771"/>
                </a:lnTo>
                <a:lnTo>
                  <a:pt x="0" y="1771"/>
                </a:lnTo>
                <a:lnTo>
                  <a:pt x="0" y="1758"/>
                </a:lnTo>
                <a:lnTo>
                  <a:pt x="13" y="1758"/>
                </a:lnTo>
                <a:close/>
                <a:moveTo>
                  <a:pt x="13" y="1784"/>
                </a:moveTo>
                <a:lnTo>
                  <a:pt x="13" y="1798"/>
                </a:lnTo>
                <a:lnTo>
                  <a:pt x="0" y="1798"/>
                </a:lnTo>
                <a:lnTo>
                  <a:pt x="0" y="1784"/>
                </a:lnTo>
                <a:lnTo>
                  <a:pt x="13" y="1784"/>
                </a:lnTo>
                <a:close/>
                <a:moveTo>
                  <a:pt x="13" y="1811"/>
                </a:moveTo>
                <a:lnTo>
                  <a:pt x="13" y="1824"/>
                </a:lnTo>
                <a:lnTo>
                  <a:pt x="0" y="1824"/>
                </a:lnTo>
                <a:lnTo>
                  <a:pt x="0" y="1811"/>
                </a:lnTo>
                <a:lnTo>
                  <a:pt x="13" y="1811"/>
                </a:lnTo>
                <a:close/>
                <a:moveTo>
                  <a:pt x="13" y="1838"/>
                </a:moveTo>
                <a:lnTo>
                  <a:pt x="13" y="1851"/>
                </a:lnTo>
                <a:lnTo>
                  <a:pt x="0" y="1851"/>
                </a:lnTo>
                <a:lnTo>
                  <a:pt x="0" y="1838"/>
                </a:lnTo>
                <a:lnTo>
                  <a:pt x="13" y="1838"/>
                </a:lnTo>
                <a:close/>
                <a:moveTo>
                  <a:pt x="13" y="1864"/>
                </a:moveTo>
                <a:lnTo>
                  <a:pt x="13" y="1877"/>
                </a:lnTo>
                <a:lnTo>
                  <a:pt x="0" y="1877"/>
                </a:lnTo>
                <a:lnTo>
                  <a:pt x="0" y="1864"/>
                </a:lnTo>
                <a:lnTo>
                  <a:pt x="13" y="1864"/>
                </a:lnTo>
                <a:close/>
                <a:moveTo>
                  <a:pt x="13" y="1891"/>
                </a:moveTo>
                <a:lnTo>
                  <a:pt x="13" y="1904"/>
                </a:lnTo>
                <a:lnTo>
                  <a:pt x="0" y="1904"/>
                </a:lnTo>
                <a:lnTo>
                  <a:pt x="0" y="1891"/>
                </a:lnTo>
                <a:lnTo>
                  <a:pt x="13" y="1891"/>
                </a:lnTo>
                <a:close/>
                <a:moveTo>
                  <a:pt x="13" y="1917"/>
                </a:moveTo>
                <a:lnTo>
                  <a:pt x="13" y="1931"/>
                </a:lnTo>
                <a:lnTo>
                  <a:pt x="0" y="1931"/>
                </a:lnTo>
                <a:lnTo>
                  <a:pt x="0" y="1917"/>
                </a:lnTo>
                <a:lnTo>
                  <a:pt x="13" y="1917"/>
                </a:lnTo>
                <a:close/>
                <a:moveTo>
                  <a:pt x="13" y="1944"/>
                </a:moveTo>
                <a:lnTo>
                  <a:pt x="13" y="1957"/>
                </a:lnTo>
                <a:lnTo>
                  <a:pt x="0" y="1957"/>
                </a:lnTo>
                <a:lnTo>
                  <a:pt x="0" y="1944"/>
                </a:lnTo>
                <a:lnTo>
                  <a:pt x="13" y="1944"/>
                </a:lnTo>
                <a:close/>
                <a:moveTo>
                  <a:pt x="13" y="1971"/>
                </a:moveTo>
                <a:lnTo>
                  <a:pt x="13" y="1984"/>
                </a:lnTo>
                <a:lnTo>
                  <a:pt x="0" y="1984"/>
                </a:lnTo>
                <a:lnTo>
                  <a:pt x="0" y="1971"/>
                </a:lnTo>
                <a:lnTo>
                  <a:pt x="13" y="1971"/>
                </a:lnTo>
                <a:close/>
                <a:moveTo>
                  <a:pt x="13" y="1997"/>
                </a:moveTo>
                <a:lnTo>
                  <a:pt x="13" y="2011"/>
                </a:lnTo>
                <a:lnTo>
                  <a:pt x="0" y="2011"/>
                </a:lnTo>
                <a:lnTo>
                  <a:pt x="0" y="1997"/>
                </a:lnTo>
                <a:lnTo>
                  <a:pt x="13" y="1997"/>
                </a:lnTo>
                <a:close/>
                <a:moveTo>
                  <a:pt x="13" y="2024"/>
                </a:moveTo>
                <a:lnTo>
                  <a:pt x="13" y="2037"/>
                </a:lnTo>
                <a:lnTo>
                  <a:pt x="0" y="2037"/>
                </a:lnTo>
                <a:lnTo>
                  <a:pt x="0" y="2024"/>
                </a:lnTo>
                <a:lnTo>
                  <a:pt x="13" y="2024"/>
                </a:lnTo>
                <a:close/>
                <a:moveTo>
                  <a:pt x="13" y="2051"/>
                </a:moveTo>
                <a:lnTo>
                  <a:pt x="13" y="2064"/>
                </a:lnTo>
                <a:lnTo>
                  <a:pt x="0" y="2064"/>
                </a:lnTo>
                <a:lnTo>
                  <a:pt x="0" y="2051"/>
                </a:lnTo>
                <a:lnTo>
                  <a:pt x="13" y="2051"/>
                </a:lnTo>
                <a:close/>
                <a:moveTo>
                  <a:pt x="13" y="2077"/>
                </a:moveTo>
                <a:lnTo>
                  <a:pt x="13" y="2091"/>
                </a:lnTo>
                <a:lnTo>
                  <a:pt x="0" y="2091"/>
                </a:lnTo>
                <a:lnTo>
                  <a:pt x="0" y="2077"/>
                </a:lnTo>
                <a:lnTo>
                  <a:pt x="13" y="2077"/>
                </a:lnTo>
                <a:close/>
                <a:moveTo>
                  <a:pt x="13" y="2104"/>
                </a:moveTo>
                <a:lnTo>
                  <a:pt x="13" y="2117"/>
                </a:lnTo>
                <a:lnTo>
                  <a:pt x="0" y="2117"/>
                </a:lnTo>
                <a:lnTo>
                  <a:pt x="0" y="2104"/>
                </a:lnTo>
                <a:lnTo>
                  <a:pt x="13" y="2104"/>
                </a:lnTo>
                <a:close/>
                <a:moveTo>
                  <a:pt x="13" y="2131"/>
                </a:moveTo>
                <a:lnTo>
                  <a:pt x="13" y="2144"/>
                </a:lnTo>
                <a:lnTo>
                  <a:pt x="0" y="2144"/>
                </a:lnTo>
                <a:lnTo>
                  <a:pt x="0" y="2131"/>
                </a:lnTo>
                <a:lnTo>
                  <a:pt x="13" y="2131"/>
                </a:lnTo>
                <a:close/>
                <a:moveTo>
                  <a:pt x="13" y="2157"/>
                </a:moveTo>
                <a:lnTo>
                  <a:pt x="13" y="2171"/>
                </a:lnTo>
                <a:lnTo>
                  <a:pt x="0" y="2171"/>
                </a:lnTo>
                <a:lnTo>
                  <a:pt x="0" y="2157"/>
                </a:lnTo>
                <a:lnTo>
                  <a:pt x="13" y="2157"/>
                </a:lnTo>
                <a:close/>
                <a:moveTo>
                  <a:pt x="13" y="2184"/>
                </a:moveTo>
                <a:lnTo>
                  <a:pt x="13" y="2197"/>
                </a:lnTo>
                <a:lnTo>
                  <a:pt x="0" y="2197"/>
                </a:lnTo>
                <a:lnTo>
                  <a:pt x="0" y="2184"/>
                </a:lnTo>
                <a:lnTo>
                  <a:pt x="13" y="2184"/>
                </a:lnTo>
                <a:close/>
                <a:moveTo>
                  <a:pt x="13" y="2211"/>
                </a:moveTo>
                <a:lnTo>
                  <a:pt x="13" y="2224"/>
                </a:lnTo>
                <a:lnTo>
                  <a:pt x="0" y="2224"/>
                </a:lnTo>
                <a:lnTo>
                  <a:pt x="0" y="2211"/>
                </a:lnTo>
                <a:lnTo>
                  <a:pt x="13" y="2211"/>
                </a:lnTo>
                <a:close/>
                <a:moveTo>
                  <a:pt x="13" y="2237"/>
                </a:moveTo>
                <a:lnTo>
                  <a:pt x="13" y="2251"/>
                </a:lnTo>
                <a:lnTo>
                  <a:pt x="0" y="2251"/>
                </a:lnTo>
                <a:lnTo>
                  <a:pt x="0" y="2237"/>
                </a:lnTo>
                <a:lnTo>
                  <a:pt x="13" y="2237"/>
                </a:lnTo>
                <a:close/>
                <a:moveTo>
                  <a:pt x="13" y="2264"/>
                </a:moveTo>
                <a:lnTo>
                  <a:pt x="13" y="2277"/>
                </a:lnTo>
                <a:lnTo>
                  <a:pt x="0" y="2277"/>
                </a:lnTo>
                <a:lnTo>
                  <a:pt x="0" y="2264"/>
                </a:lnTo>
                <a:lnTo>
                  <a:pt x="13" y="2264"/>
                </a:lnTo>
                <a:close/>
                <a:moveTo>
                  <a:pt x="13" y="2290"/>
                </a:moveTo>
                <a:lnTo>
                  <a:pt x="13" y="2304"/>
                </a:lnTo>
                <a:lnTo>
                  <a:pt x="0" y="2304"/>
                </a:lnTo>
                <a:lnTo>
                  <a:pt x="0" y="2290"/>
                </a:lnTo>
                <a:lnTo>
                  <a:pt x="13" y="2290"/>
                </a:lnTo>
                <a:close/>
                <a:moveTo>
                  <a:pt x="13" y="2317"/>
                </a:moveTo>
                <a:lnTo>
                  <a:pt x="13" y="2330"/>
                </a:lnTo>
                <a:lnTo>
                  <a:pt x="0" y="2330"/>
                </a:lnTo>
                <a:lnTo>
                  <a:pt x="0" y="2317"/>
                </a:lnTo>
                <a:lnTo>
                  <a:pt x="13" y="2317"/>
                </a:lnTo>
                <a:close/>
                <a:moveTo>
                  <a:pt x="13" y="2344"/>
                </a:moveTo>
                <a:lnTo>
                  <a:pt x="13" y="2347"/>
                </a:lnTo>
                <a:lnTo>
                  <a:pt x="0" y="2347"/>
                </a:lnTo>
                <a:lnTo>
                  <a:pt x="0" y="2344"/>
                </a:lnTo>
                <a:lnTo>
                  <a:pt x="13" y="2344"/>
                </a:lnTo>
                <a:close/>
              </a:path>
            </a:pathLst>
          </a:custGeom>
          <a:solidFill>
            <a:srgbClr val="000000"/>
          </a:solidFill>
          <a:ln w="0" cap="flat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sz="1600" dirty="0">
              <a:ea typeface="SimHei" panose="02010609060101010101" pitchFamily="49" charset="-122"/>
            </a:endParaRPr>
          </a:p>
        </p:txBody>
      </p:sp>
      <p:sp>
        <p:nvSpPr>
          <p:cNvPr id="215" name="Freeform 29">
            <a:extLst>
              <a:ext uri="{FF2B5EF4-FFF2-40B4-BE49-F238E27FC236}">
                <a16:creationId xmlns:a16="http://schemas.microsoft.com/office/drawing/2014/main" id="{767CD5D8-AF2C-4EFE-BB94-8A26B6160416}"/>
              </a:ext>
            </a:extLst>
          </p:cNvPr>
          <p:cNvSpPr>
            <a:spLocks noEditPoints="1"/>
          </p:cNvSpPr>
          <p:nvPr/>
        </p:nvSpPr>
        <p:spPr bwMode="auto">
          <a:xfrm>
            <a:off x="5638205" y="3160179"/>
            <a:ext cx="18074" cy="2997194"/>
          </a:xfrm>
          <a:custGeom>
            <a:avLst/>
            <a:gdLst>
              <a:gd name="T0" fmla="*/ 14 w 14"/>
              <a:gd name="T1" fmla="*/ 40 h 2347"/>
              <a:gd name="T2" fmla="*/ 0 w 14"/>
              <a:gd name="T3" fmla="*/ 53 h 2347"/>
              <a:gd name="T4" fmla="*/ 14 w 14"/>
              <a:gd name="T5" fmla="*/ 106 h 2347"/>
              <a:gd name="T6" fmla="*/ 0 w 14"/>
              <a:gd name="T7" fmla="*/ 146 h 2347"/>
              <a:gd name="T8" fmla="*/ 14 w 14"/>
              <a:gd name="T9" fmla="*/ 159 h 2347"/>
              <a:gd name="T10" fmla="*/ 14 w 14"/>
              <a:gd name="T11" fmla="*/ 226 h 2347"/>
              <a:gd name="T12" fmla="*/ 0 w 14"/>
              <a:gd name="T13" fmla="*/ 239 h 2347"/>
              <a:gd name="T14" fmla="*/ 14 w 14"/>
              <a:gd name="T15" fmla="*/ 293 h 2347"/>
              <a:gd name="T16" fmla="*/ 0 w 14"/>
              <a:gd name="T17" fmla="*/ 333 h 2347"/>
              <a:gd name="T18" fmla="*/ 14 w 14"/>
              <a:gd name="T19" fmla="*/ 346 h 2347"/>
              <a:gd name="T20" fmla="*/ 14 w 14"/>
              <a:gd name="T21" fmla="*/ 413 h 2347"/>
              <a:gd name="T22" fmla="*/ 0 w 14"/>
              <a:gd name="T23" fmla="*/ 426 h 2347"/>
              <a:gd name="T24" fmla="*/ 14 w 14"/>
              <a:gd name="T25" fmla="*/ 479 h 2347"/>
              <a:gd name="T26" fmla="*/ 0 w 14"/>
              <a:gd name="T27" fmla="*/ 519 h 2347"/>
              <a:gd name="T28" fmla="*/ 14 w 14"/>
              <a:gd name="T29" fmla="*/ 532 h 2347"/>
              <a:gd name="T30" fmla="*/ 14 w 14"/>
              <a:gd name="T31" fmla="*/ 599 h 2347"/>
              <a:gd name="T32" fmla="*/ 0 w 14"/>
              <a:gd name="T33" fmla="*/ 612 h 2347"/>
              <a:gd name="T34" fmla="*/ 14 w 14"/>
              <a:gd name="T35" fmla="*/ 666 h 2347"/>
              <a:gd name="T36" fmla="*/ 0 w 14"/>
              <a:gd name="T37" fmla="*/ 706 h 2347"/>
              <a:gd name="T38" fmla="*/ 14 w 14"/>
              <a:gd name="T39" fmla="*/ 719 h 2347"/>
              <a:gd name="T40" fmla="*/ 14 w 14"/>
              <a:gd name="T41" fmla="*/ 786 h 2347"/>
              <a:gd name="T42" fmla="*/ 0 w 14"/>
              <a:gd name="T43" fmla="*/ 799 h 2347"/>
              <a:gd name="T44" fmla="*/ 14 w 14"/>
              <a:gd name="T45" fmla="*/ 852 h 2347"/>
              <a:gd name="T46" fmla="*/ 0 w 14"/>
              <a:gd name="T47" fmla="*/ 892 h 2347"/>
              <a:gd name="T48" fmla="*/ 14 w 14"/>
              <a:gd name="T49" fmla="*/ 905 h 2347"/>
              <a:gd name="T50" fmla="*/ 14 w 14"/>
              <a:gd name="T51" fmla="*/ 972 h 2347"/>
              <a:gd name="T52" fmla="*/ 0 w 14"/>
              <a:gd name="T53" fmla="*/ 985 h 2347"/>
              <a:gd name="T54" fmla="*/ 14 w 14"/>
              <a:gd name="T55" fmla="*/ 1038 h 2347"/>
              <a:gd name="T56" fmla="*/ 0 w 14"/>
              <a:gd name="T57" fmla="*/ 1078 h 2347"/>
              <a:gd name="T58" fmla="*/ 14 w 14"/>
              <a:gd name="T59" fmla="*/ 1092 h 2347"/>
              <a:gd name="T60" fmla="*/ 14 w 14"/>
              <a:gd name="T61" fmla="*/ 1158 h 2347"/>
              <a:gd name="T62" fmla="*/ 0 w 14"/>
              <a:gd name="T63" fmla="*/ 1172 h 2347"/>
              <a:gd name="T64" fmla="*/ 14 w 14"/>
              <a:gd name="T65" fmla="*/ 1225 h 2347"/>
              <a:gd name="T66" fmla="*/ 0 w 14"/>
              <a:gd name="T67" fmla="*/ 1265 h 2347"/>
              <a:gd name="T68" fmla="*/ 14 w 14"/>
              <a:gd name="T69" fmla="*/ 1278 h 2347"/>
              <a:gd name="T70" fmla="*/ 14 w 14"/>
              <a:gd name="T71" fmla="*/ 1345 h 2347"/>
              <a:gd name="T72" fmla="*/ 0 w 14"/>
              <a:gd name="T73" fmla="*/ 1358 h 2347"/>
              <a:gd name="T74" fmla="*/ 14 w 14"/>
              <a:gd name="T75" fmla="*/ 1411 h 2347"/>
              <a:gd name="T76" fmla="*/ 0 w 14"/>
              <a:gd name="T77" fmla="*/ 1451 h 2347"/>
              <a:gd name="T78" fmla="*/ 14 w 14"/>
              <a:gd name="T79" fmla="*/ 1465 h 2347"/>
              <a:gd name="T80" fmla="*/ 14 w 14"/>
              <a:gd name="T81" fmla="*/ 1531 h 2347"/>
              <a:gd name="T82" fmla="*/ 0 w 14"/>
              <a:gd name="T83" fmla="*/ 1545 h 2347"/>
              <a:gd name="T84" fmla="*/ 14 w 14"/>
              <a:gd name="T85" fmla="*/ 1598 h 2347"/>
              <a:gd name="T86" fmla="*/ 0 w 14"/>
              <a:gd name="T87" fmla="*/ 1638 h 2347"/>
              <a:gd name="T88" fmla="*/ 14 w 14"/>
              <a:gd name="T89" fmla="*/ 1651 h 2347"/>
              <a:gd name="T90" fmla="*/ 14 w 14"/>
              <a:gd name="T91" fmla="*/ 1718 h 2347"/>
              <a:gd name="T92" fmla="*/ 0 w 14"/>
              <a:gd name="T93" fmla="*/ 1731 h 2347"/>
              <a:gd name="T94" fmla="*/ 14 w 14"/>
              <a:gd name="T95" fmla="*/ 1784 h 2347"/>
              <a:gd name="T96" fmla="*/ 0 w 14"/>
              <a:gd name="T97" fmla="*/ 1824 h 2347"/>
              <a:gd name="T98" fmla="*/ 14 w 14"/>
              <a:gd name="T99" fmla="*/ 1838 h 2347"/>
              <a:gd name="T100" fmla="*/ 14 w 14"/>
              <a:gd name="T101" fmla="*/ 1904 h 2347"/>
              <a:gd name="T102" fmla="*/ 0 w 14"/>
              <a:gd name="T103" fmla="*/ 1917 h 2347"/>
              <a:gd name="T104" fmla="*/ 14 w 14"/>
              <a:gd name="T105" fmla="*/ 1971 h 2347"/>
              <a:gd name="T106" fmla="*/ 0 w 14"/>
              <a:gd name="T107" fmla="*/ 2011 h 2347"/>
              <a:gd name="T108" fmla="*/ 14 w 14"/>
              <a:gd name="T109" fmla="*/ 2024 h 2347"/>
              <a:gd name="T110" fmla="*/ 14 w 14"/>
              <a:gd name="T111" fmla="*/ 2091 h 2347"/>
              <a:gd name="T112" fmla="*/ 0 w 14"/>
              <a:gd name="T113" fmla="*/ 2104 h 2347"/>
              <a:gd name="T114" fmla="*/ 14 w 14"/>
              <a:gd name="T115" fmla="*/ 2157 h 2347"/>
              <a:gd name="T116" fmla="*/ 0 w 14"/>
              <a:gd name="T117" fmla="*/ 2197 h 2347"/>
              <a:gd name="T118" fmla="*/ 14 w 14"/>
              <a:gd name="T119" fmla="*/ 2211 h 2347"/>
              <a:gd name="T120" fmla="*/ 14 w 14"/>
              <a:gd name="T121" fmla="*/ 2277 h 2347"/>
              <a:gd name="T122" fmla="*/ 0 w 14"/>
              <a:gd name="T123" fmla="*/ 2290 h 2347"/>
              <a:gd name="T124" fmla="*/ 14 w 14"/>
              <a:gd name="T125" fmla="*/ 2344 h 234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14" h="2347">
                <a:moveTo>
                  <a:pt x="14" y="0"/>
                </a:moveTo>
                <a:lnTo>
                  <a:pt x="14" y="13"/>
                </a:lnTo>
                <a:lnTo>
                  <a:pt x="0" y="13"/>
                </a:lnTo>
                <a:lnTo>
                  <a:pt x="0" y="0"/>
                </a:lnTo>
                <a:lnTo>
                  <a:pt x="14" y="0"/>
                </a:lnTo>
                <a:close/>
                <a:moveTo>
                  <a:pt x="14" y="26"/>
                </a:moveTo>
                <a:lnTo>
                  <a:pt x="14" y="40"/>
                </a:lnTo>
                <a:lnTo>
                  <a:pt x="0" y="40"/>
                </a:lnTo>
                <a:lnTo>
                  <a:pt x="0" y="26"/>
                </a:lnTo>
                <a:lnTo>
                  <a:pt x="14" y="26"/>
                </a:lnTo>
                <a:close/>
                <a:moveTo>
                  <a:pt x="14" y="53"/>
                </a:moveTo>
                <a:lnTo>
                  <a:pt x="14" y="66"/>
                </a:lnTo>
                <a:lnTo>
                  <a:pt x="0" y="66"/>
                </a:lnTo>
                <a:lnTo>
                  <a:pt x="0" y="53"/>
                </a:lnTo>
                <a:lnTo>
                  <a:pt x="14" y="53"/>
                </a:lnTo>
                <a:close/>
                <a:moveTo>
                  <a:pt x="14" y="80"/>
                </a:moveTo>
                <a:lnTo>
                  <a:pt x="14" y="93"/>
                </a:lnTo>
                <a:lnTo>
                  <a:pt x="0" y="93"/>
                </a:lnTo>
                <a:lnTo>
                  <a:pt x="0" y="80"/>
                </a:lnTo>
                <a:lnTo>
                  <a:pt x="14" y="80"/>
                </a:lnTo>
                <a:close/>
                <a:moveTo>
                  <a:pt x="14" y="106"/>
                </a:moveTo>
                <a:lnTo>
                  <a:pt x="14" y="119"/>
                </a:lnTo>
                <a:lnTo>
                  <a:pt x="0" y="119"/>
                </a:lnTo>
                <a:lnTo>
                  <a:pt x="0" y="106"/>
                </a:lnTo>
                <a:lnTo>
                  <a:pt x="14" y="106"/>
                </a:lnTo>
                <a:close/>
                <a:moveTo>
                  <a:pt x="14" y="133"/>
                </a:moveTo>
                <a:lnTo>
                  <a:pt x="14" y="146"/>
                </a:lnTo>
                <a:lnTo>
                  <a:pt x="0" y="146"/>
                </a:lnTo>
                <a:lnTo>
                  <a:pt x="0" y="133"/>
                </a:lnTo>
                <a:lnTo>
                  <a:pt x="14" y="133"/>
                </a:lnTo>
                <a:close/>
                <a:moveTo>
                  <a:pt x="14" y="159"/>
                </a:moveTo>
                <a:lnTo>
                  <a:pt x="14" y="173"/>
                </a:lnTo>
                <a:lnTo>
                  <a:pt x="0" y="173"/>
                </a:lnTo>
                <a:lnTo>
                  <a:pt x="0" y="159"/>
                </a:lnTo>
                <a:lnTo>
                  <a:pt x="14" y="159"/>
                </a:lnTo>
                <a:close/>
                <a:moveTo>
                  <a:pt x="14" y="186"/>
                </a:moveTo>
                <a:lnTo>
                  <a:pt x="14" y="199"/>
                </a:lnTo>
                <a:lnTo>
                  <a:pt x="0" y="199"/>
                </a:lnTo>
                <a:lnTo>
                  <a:pt x="0" y="186"/>
                </a:lnTo>
                <a:lnTo>
                  <a:pt x="14" y="186"/>
                </a:lnTo>
                <a:close/>
                <a:moveTo>
                  <a:pt x="14" y="213"/>
                </a:moveTo>
                <a:lnTo>
                  <a:pt x="14" y="226"/>
                </a:lnTo>
                <a:lnTo>
                  <a:pt x="0" y="226"/>
                </a:lnTo>
                <a:lnTo>
                  <a:pt x="0" y="213"/>
                </a:lnTo>
                <a:lnTo>
                  <a:pt x="14" y="213"/>
                </a:lnTo>
                <a:close/>
                <a:moveTo>
                  <a:pt x="14" y="239"/>
                </a:moveTo>
                <a:lnTo>
                  <a:pt x="14" y="253"/>
                </a:lnTo>
                <a:lnTo>
                  <a:pt x="0" y="253"/>
                </a:lnTo>
                <a:lnTo>
                  <a:pt x="0" y="239"/>
                </a:lnTo>
                <a:lnTo>
                  <a:pt x="14" y="239"/>
                </a:lnTo>
                <a:close/>
                <a:moveTo>
                  <a:pt x="14" y="266"/>
                </a:moveTo>
                <a:lnTo>
                  <a:pt x="14" y="279"/>
                </a:lnTo>
                <a:lnTo>
                  <a:pt x="0" y="279"/>
                </a:lnTo>
                <a:lnTo>
                  <a:pt x="0" y="266"/>
                </a:lnTo>
                <a:lnTo>
                  <a:pt x="14" y="266"/>
                </a:lnTo>
                <a:close/>
                <a:moveTo>
                  <a:pt x="14" y="293"/>
                </a:moveTo>
                <a:lnTo>
                  <a:pt x="14" y="306"/>
                </a:lnTo>
                <a:lnTo>
                  <a:pt x="0" y="306"/>
                </a:lnTo>
                <a:lnTo>
                  <a:pt x="0" y="293"/>
                </a:lnTo>
                <a:lnTo>
                  <a:pt x="14" y="293"/>
                </a:lnTo>
                <a:close/>
                <a:moveTo>
                  <a:pt x="14" y="319"/>
                </a:moveTo>
                <a:lnTo>
                  <a:pt x="14" y="333"/>
                </a:lnTo>
                <a:lnTo>
                  <a:pt x="0" y="333"/>
                </a:lnTo>
                <a:lnTo>
                  <a:pt x="0" y="319"/>
                </a:lnTo>
                <a:lnTo>
                  <a:pt x="14" y="319"/>
                </a:lnTo>
                <a:close/>
                <a:moveTo>
                  <a:pt x="14" y="346"/>
                </a:moveTo>
                <a:lnTo>
                  <a:pt x="14" y="359"/>
                </a:lnTo>
                <a:lnTo>
                  <a:pt x="0" y="359"/>
                </a:lnTo>
                <a:lnTo>
                  <a:pt x="0" y="346"/>
                </a:lnTo>
                <a:lnTo>
                  <a:pt x="14" y="346"/>
                </a:lnTo>
                <a:close/>
                <a:moveTo>
                  <a:pt x="14" y="373"/>
                </a:moveTo>
                <a:lnTo>
                  <a:pt x="14" y="386"/>
                </a:lnTo>
                <a:lnTo>
                  <a:pt x="0" y="386"/>
                </a:lnTo>
                <a:lnTo>
                  <a:pt x="0" y="373"/>
                </a:lnTo>
                <a:lnTo>
                  <a:pt x="14" y="373"/>
                </a:lnTo>
                <a:close/>
                <a:moveTo>
                  <a:pt x="14" y="399"/>
                </a:moveTo>
                <a:lnTo>
                  <a:pt x="14" y="413"/>
                </a:lnTo>
                <a:lnTo>
                  <a:pt x="0" y="413"/>
                </a:lnTo>
                <a:lnTo>
                  <a:pt x="0" y="399"/>
                </a:lnTo>
                <a:lnTo>
                  <a:pt x="14" y="399"/>
                </a:lnTo>
                <a:close/>
                <a:moveTo>
                  <a:pt x="14" y="426"/>
                </a:moveTo>
                <a:lnTo>
                  <a:pt x="14" y="439"/>
                </a:lnTo>
                <a:lnTo>
                  <a:pt x="0" y="439"/>
                </a:lnTo>
                <a:lnTo>
                  <a:pt x="0" y="426"/>
                </a:lnTo>
                <a:lnTo>
                  <a:pt x="14" y="426"/>
                </a:lnTo>
                <a:close/>
                <a:moveTo>
                  <a:pt x="14" y="453"/>
                </a:moveTo>
                <a:lnTo>
                  <a:pt x="14" y="466"/>
                </a:lnTo>
                <a:lnTo>
                  <a:pt x="0" y="466"/>
                </a:lnTo>
                <a:lnTo>
                  <a:pt x="0" y="453"/>
                </a:lnTo>
                <a:lnTo>
                  <a:pt x="14" y="453"/>
                </a:lnTo>
                <a:close/>
                <a:moveTo>
                  <a:pt x="14" y="479"/>
                </a:moveTo>
                <a:lnTo>
                  <a:pt x="14" y="493"/>
                </a:lnTo>
                <a:lnTo>
                  <a:pt x="0" y="493"/>
                </a:lnTo>
                <a:lnTo>
                  <a:pt x="0" y="479"/>
                </a:lnTo>
                <a:lnTo>
                  <a:pt x="14" y="479"/>
                </a:lnTo>
                <a:close/>
                <a:moveTo>
                  <a:pt x="14" y="506"/>
                </a:moveTo>
                <a:lnTo>
                  <a:pt x="14" y="519"/>
                </a:lnTo>
                <a:lnTo>
                  <a:pt x="0" y="519"/>
                </a:lnTo>
                <a:lnTo>
                  <a:pt x="0" y="506"/>
                </a:lnTo>
                <a:lnTo>
                  <a:pt x="14" y="506"/>
                </a:lnTo>
                <a:close/>
                <a:moveTo>
                  <a:pt x="14" y="532"/>
                </a:moveTo>
                <a:lnTo>
                  <a:pt x="14" y="546"/>
                </a:lnTo>
                <a:lnTo>
                  <a:pt x="0" y="546"/>
                </a:lnTo>
                <a:lnTo>
                  <a:pt x="0" y="532"/>
                </a:lnTo>
                <a:lnTo>
                  <a:pt x="14" y="532"/>
                </a:lnTo>
                <a:close/>
                <a:moveTo>
                  <a:pt x="14" y="559"/>
                </a:moveTo>
                <a:lnTo>
                  <a:pt x="14" y="572"/>
                </a:lnTo>
                <a:lnTo>
                  <a:pt x="0" y="572"/>
                </a:lnTo>
                <a:lnTo>
                  <a:pt x="0" y="559"/>
                </a:lnTo>
                <a:lnTo>
                  <a:pt x="14" y="559"/>
                </a:lnTo>
                <a:close/>
                <a:moveTo>
                  <a:pt x="14" y="586"/>
                </a:moveTo>
                <a:lnTo>
                  <a:pt x="14" y="599"/>
                </a:lnTo>
                <a:lnTo>
                  <a:pt x="0" y="599"/>
                </a:lnTo>
                <a:lnTo>
                  <a:pt x="0" y="586"/>
                </a:lnTo>
                <a:lnTo>
                  <a:pt x="14" y="586"/>
                </a:lnTo>
                <a:close/>
                <a:moveTo>
                  <a:pt x="14" y="612"/>
                </a:moveTo>
                <a:lnTo>
                  <a:pt x="14" y="626"/>
                </a:lnTo>
                <a:lnTo>
                  <a:pt x="0" y="626"/>
                </a:lnTo>
                <a:lnTo>
                  <a:pt x="0" y="612"/>
                </a:lnTo>
                <a:lnTo>
                  <a:pt x="14" y="612"/>
                </a:lnTo>
                <a:close/>
                <a:moveTo>
                  <a:pt x="14" y="639"/>
                </a:moveTo>
                <a:lnTo>
                  <a:pt x="14" y="652"/>
                </a:lnTo>
                <a:lnTo>
                  <a:pt x="0" y="652"/>
                </a:lnTo>
                <a:lnTo>
                  <a:pt x="0" y="639"/>
                </a:lnTo>
                <a:lnTo>
                  <a:pt x="14" y="639"/>
                </a:lnTo>
                <a:close/>
                <a:moveTo>
                  <a:pt x="14" y="666"/>
                </a:moveTo>
                <a:lnTo>
                  <a:pt x="14" y="679"/>
                </a:lnTo>
                <a:lnTo>
                  <a:pt x="0" y="679"/>
                </a:lnTo>
                <a:lnTo>
                  <a:pt x="0" y="666"/>
                </a:lnTo>
                <a:lnTo>
                  <a:pt x="14" y="666"/>
                </a:lnTo>
                <a:close/>
                <a:moveTo>
                  <a:pt x="14" y="692"/>
                </a:moveTo>
                <a:lnTo>
                  <a:pt x="14" y="706"/>
                </a:lnTo>
                <a:lnTo>
                  <a:pt x="0" y="706"/>
                </a:lnTo>
                <a:lnTo>
                  <a:pt x="0" y="692"/>
                </a:lnTo>
                <a:lnTo>
                  <a:pt x="14" y="692"/>
                </a:lnTo>
                <a:close/>
                <a:moveTo>
                  <a:pt x="14" y="719"/>
                </a:moveTo>
                <a:lnTo>
                  <a:pt x="14" y="732"/>
                </a:lnTo>
                <a:lnTo>
                  <a:pt x="0" y="732"/>
                </a:lnTo>
                <a:lnTo>
                  <a:pt x="0" y="719"/>
                </a:lnTo>
                <a:lnTo>
                  <a:pt x="14" y="719"/>
                </a:lnTo>
                <a:close/>
                <a:moveTo>
                  <a:pt x="14" y="746"/>
                </a:moveTo>
                <a:lnTo>
                  <a:pt x="14" y="759"/>
                </a:lnTo>
                <a:lnTo>
                  <a:pt x="0" y="759"/>
                </a:lnTo>
                <a:lnTo>
                  <a:pt x="0" y="746"/>
                </a:lnTo>
                <a:lnTo>
                  <a:pt x="14" y="746"/>
                </a:lnTo>
                <a:close/>
                <a:moveTo>
                  <a:pt x="14" y="772"/>
                </a:moveTo>
                <a:lnTo>
                  <a:pt x="14" y="786"/>
                </a:lnTo>
                <a:lnTo>
                  <a:pt x="0" y="786"/>
                </a:lnTo>
                <a:lnTo>
                  <a:pt x="0" y="772"/>
                </a:lnTo>
                <a:lnTo>
                  <a:pt x="14" y="772"/>
                </a:lnTo>
                <a:close/>
                <a:moveTo>
                  <a:pt x="14" y="799"/>
                </a:moveTo>
                <a:lnTo>
                  <a:pt x="14" y="812"/>
                </a:lnTo>
                <a:lnTo>
                  <a:pt x="0" y="812"/>
                </a:lnTo>
                <a:lnTo>
                  <a:pt x="0" y="799"/>
                </a:lnTo>
                <a:lnTo>
                  <a:pt x="14" y="799"/>
                </a:lnTo>
                <a:close/>
                <a:moveTo>
                  <a:pt x="14" y="826"/>
                </a:moveTo>
                <a:lnTo>
                  <a:pt x="14" y="839"/>
                </a:lnTo>
                <a:lnTo>
                  <a:pt x="0" y="839"/>
                </a:lnTo>
                <a:lnTo>
                  <a:pt x="0" y="826"/>
                </a:lnTo>
                <a:lnTo>
                  <a:pt x="14" y="826"/>
                </a:lnTo>
                <a:close/>
                <a:moveTo>
                  <a:pt x="14" y="852"/>
                </a:moveTo>
                <a:lnTo>
                  <a:pt x="14" y="866"/>
                </a:lnTo>
                <a:lnTo>
                  <a:pt x="0" y="866"/>
                </a:lnTo>
                <a:lnTo>
                  <a:pt x="0" y="852"/>
                </a:lnTo>
                <a:lnTo>
                  <a:pt x="14" y="852"/>
                </a:lnTo>
                <a:close/>
                <a:moveTo>
                  <a:pt x="14" y="879"/>
                </a:moveTo>
                <a:lnTo>
                  <a:pt x="14" y="892"/>
                </a:lnTo>
                <a:lnTo>
                  <a:pt x="0" y="892"/>
                </a:lnTo>
                <a:lnTo>
                  <a:pt x="0" y="879"/>
                </a:lnTo>
                <a:lnTo>
                  <a:pt x="14" y="879"/>
                </a:lnTo>
                <a:close/>
                <a:moveTo>
                  <a:pt x="14" y="905"/>
                </a:moveTo>
                <a:lnTo>
                  <a:pt x="14" y="919"/>
                </a:lnTo>
                <a:lnTo>
                  <a:pt x="0" y="919"/>
                </a:lnTo>
                <a:lnTo>
                  <a:pt x="0" y="905"/>
                </a:lnTo>
                <a:lnTo>
                  <a:pt x="14" y="905"/>
                </a:lnTo>
                <a:close/>
                <a:moveTo>
                  <a:pt x="14" y="932"/>
                </a:moveTo>
                <a:lnTo>
                  <a:pt x="14" y="945"/>
                </a:lnTo>
                <a:lnTo>
                  <a:pt x="0" y="945"/>
                </a:lnTo>
                <a:lnTo>
                  <a:pt x="0" y="932"/>
                </a:lnTo>
                <a:lnTo>
                  <a:pt x="14" y="932"/>
                </a:lnTo>
                <a:close/>
                <a:moveTo>
                  <a:pt x="14" y="959"/>
                </a:moveTo>
                <a:lnTo>
                  <a:pt x="14" y="972"/>
                </a:lnTo>
                <a:lnTo>
                  <a:pt x="0" y="972"/>
                </a:lnTo>
                <a:lnTo>
                  <a:pt x="0" y="959"/>
                </a:lnTo>
                <a:lnTo>
                  <a:pt x="14" y="959"/>
                </a:lnTo>
                <a:close/>
                <a:moveTo>
                  <a:pt x="14" y="985"/>
                </a:moveTo>
                <a:lnTo>
                  <a:pt x="14" y="998"/>
                </a:lnTo>
                <a:lnTo>
                  <a:pt x="0" y="998"/>
                </a:lnTo>
                <a:lnTo>
                  <a:pt x="0" y="985"/>
                </a:lnTo>
                <a:lnTo>
                  <a:pt x="14" y="985"/>
                </a:lnTo>
                <a:close/>
                <a:moveTo>
                  <a:pt x="14" y="1012"/>
                </a:moveTo>
                <a:lnTo>
                  <a:pt x="14" y="1025"/>
                </a:lnTo>
                <a:lnTo>
                  <a:pt x="0" y="1025"/>
                </a:lnTo>
                <a:lnTo>
                  <a:pt x="0" y="1012"/>
                </a:lnTo>
                <a:lnTo>
                  <a:pt x="14" y="1012"/>
                </a:lnTo>
                <a:close/>
                <a:moveTo>
                  <a:pt x="14" y="1038"/>
                </a:moveTo>
                <a:lnTo>
                  <a:pt x="14" y="1052"/>
                </a:lnTo>
                <a:lnTo>
                  <a:pt x="0" y="1052"/>
                </a:lnTo>
                <a:lnTo>
                  <a:pt x="0" y="1038"/>
                </a:lnTo>
                <a:lnTo>
                  <a:pt x="14" y="1038"/>
                </a:lnTo>
                <a:close/>
                <a:moveTo>
                  <a:pt x="14" y="1065"/>
                </a:moveTo>
                <a:lnTo>
                  <a:pt x="14" y="1078"/>
                </a:lnTo>
                <a:lnTo>
                  <a:pt x="0" y="1078"/>
                </a:lnTo>
                <a:lnTo>
                  <a:pt x="0" y="1065"/>
                </a:lnTo>
                <a:lnTo>
                  <a:pt x="14" y="1065"/>
                </a:lnTo>
                <a:close/>
                <a:moveTo>
                  <a:pt x="14" y="1092"/>
                </a:moveTo>
                <a:lnTo>
                  <a:pt x="14" y="1105"/>
                </a:lnTo>
                <a:lnTo>
                  <a:pt x="0" y="1105"/>
                </a:lnTo>
                <a:lnTo>
                  <a:pt x="0" y="1092"/>
                </a:lnTo>
                <a:lnTo>
                  <a:pt x="14" y="1092"/>
                </a:lnTo>
                <a:close/>
                <a:moveTo>
                  <a:pt x="14" y="1118"/>
                </a:moveTo>
                <a:lnTo>
                  <a:pt x="14" y="1132"/>
                </a:lnTo>
                <a:lnTo>
                  <a:pt x="0" y="1132"/>
                </a:lnTo>
                <a:lnTo>
                  <a:pt x="0" y="1118"/>
                </a:lnTo>
                <a:lnTo>
                  <a:pt x="14" y="1118"/>
                </a:lnTo>
                <a:close/>
                <a:moveTo>
                  <a:pt x="14" y="1145"/>
                </a:moveTo>
                <a:lnTo>
                  <a:pt x="14" y="1158"/>
                </a:lnTo>
                <a:lnTo>
                  <a:pt x="0" y="1158"/>
                </a:lnTo>
                <a:lnTo>
                  <a:pt x="0" y="1145"/>
                </a:lnTo>
                <a:lnTo>
                  <a:pt x="14" y="1145"/>
                </a:lnTo>
                <a:close/>
                <a:moveTo>
                  <a:pt x="14" y="1172"/>
                </a:moveTo>
                <a:lnTo>
                  <a:pt x="14" y="1185"/>
                </a:lnTo>
                <a:lnTo>
                  <a:pt x="0" y="1185"/>
                </a:lnTo>
                <a:lnTo>
                  <a:pt x="0" y="1172"/>
                </a:lnTo>
                <a:lnTo>
                  <a:pt x="14" y="1172"/>
                </a:lnTo>
                <a:close/>
                <a:moveTo>
                  <a:pt x="14" y="1198"/>
                </a:moveTo>
                <a:lnTo>
                  <a:pt x="14" y="1212"/>
                </a:lnTo>
                <a:lnTo>
                  <a:pt x="0" y="1212"/>
                </a:lnTo>
                <a:lnTo>
                  <a:pt x="0" y="1198"/>
                </a:lnTo>
                <a:lnTo>
                  <a:pt x="14" y="1198"/>
                </a:lnTo>
                <a:close/>
                <a:moveTo>
                  <a:pt x="14" y="1225"/>
                </a:moveTo>
                <a:lnTo>
                  <a:pt x="14" y="1238"/>
                </a:lnTo>
                <a:lnTo>
                  <a:pt x="0" y="1238"/>
                </a:lnTo>
                <a:lnTo>
                  <a:pt x="0" y="1225"/>
                </a:lnTo>
                <a:lnTo>
                  <a:pt x="14" y="1225"/>
                </a:lnTo>
                <a:close/>
                <a:moveTo>
                  <a:pt x="14" y="1252"/>
                </a:moveTo>
                <a:lnTo>
                  <a:pt x="14" y="1265"/>
                </a:lnTo>
                <a:lnTo>
                  <a:pt x="0" y="1265"/>
                </a:lnTo>
                <a:lnTo>
                  <a:pt x="0" y="1252"/>
                </a:lnTo>
                <a:lnTo>
                  <a:pt x="14" y="1252"/>
                </a:lnTo>
                <a:close/>
                <a:moveTo>
                  <a:pt x="14" y="1278"/>
                </a:moveTo>
                <a:lnTo>
                  <a:pt x="14" y="1292"/>
                </a:lnTo>
                <a:lnTo>
                  <a:pt x="0" y="1292"/>
                </a:lnTo>
                <a:lnTo>
                  <a:pt x="0" y="1278"/>
                </a:lnTo>
                <a:lnTo>
                  <a:pt x="14" y="1278"/>
                </a:lnTo>
                <a:close/>
                <a:moveTo>
                  <a:pt x="14" y="1305"/>
                </a:moveTo>
                <a:lnTo>
                  <a:pt x="14" y="1318"/>
                </a:lnTo>
                <a:lnTo>
                  <a:pt x="0" y="1318"/>
                </a:lnTo>
                <a:lnTo>
                  <a:pt x="0" y="1305"/>
                </a:lnTo>
                <a:lnTo>
                  <a:pt x="14" y="1305"/>
                </a:lnTo>
                <a:close/>
                <a:moveTo>
                  <a:pt x="14" y="1332"/>
                </a:moveTo>
                <a:lnTo>
                  <a:pt x="14" y="1345"/>
                </a:lnTo>
                <a:lnTo>
                  <a:pt x="0" y="1345"/>
                </a:lnTo>
                <a:lnTo>
                  <a:pt x="0" y="1332"/>
                </a:lnTo>
                <a:lnTo>
                  <a:pt x="14" y="1332"/>
                </a:lnTo>
                <a:close/>
                <a:moveTo>
                  <a:pt x="14" y="1358"/>
                </a:moveTo>
                <a:lnTo>
                  <a:pt x="14" y="1372"/>
                </a:lnTo>
                <a:lnTo>
                  <a:pt x="0" y="1372"/>
                </a:lnTo>
                <a:lnTo>
                  <a:pt x="0" y="1358"/>
                </a:lnTo>
                <a:lnTo>
                  <a:pt x="14" y="1358"/>
                </a:lnTo>
                <a:close/>
                <a:moveTo>
                  <a:pt x="14" y="1385"/>
                </a:moveTo>
                <a:lnTo>
                  <a:pt x="14" y="1398"/>
                </a:lnTo>
                <a:lnTo>
                  <a:pt x="0" y="1398"/>
                </a:lnTo>
                <a:lnTo>
                  <a:pt x="0" y="1385"/>
                </a:lnTo>
                <a:lnTo>
                  <a:pt x="14" y="1385"/>
                </a:lnTo>
                <a:close/>
                <a:moveTo>
                  <a:pt x="14" y="1411"/>
                </a:moveTo>
                <a:lnTo>
                  <a:pt x="14" y="1425"/>
                </a:lnTo>
                <a:lnTo>
                  <a:pt x="0" y="1425"/>
                </a:lnTo>
                <a:lnTo>
                  <a:pt x="0" y="1411"/>
                </a:lnTo>
                <a:lnTo>
                  <a:pt x="14" y="1411"/>
                </a:lnTo>
                <a:close/>
                <a:moveTo>
                  <a:pt x="14" y="1438"/>
                </a:moveTo>
                <a:lnTo>
                  <a:pt x="14" y="1451"/>
                </a:lnTo>
                <a:lnTo>
                  <a:pt x="0" y="1451"/>
                </a:lnTo>
                <a:lnTo>
                  <a:pt x="0" y="1438"/>
                </a:lnTo>
                <a:lnTo>
                  <a:pt x="14" y="1438"/>
                </a:lnTo>
                <a:close/>
                <a:moveTo>
                  <a:pt x="14" y="1465"/>
                </a:moveTo>
                <a:lnTo>
                  <a:pt x="14" y="1478"/>
                </a:lnTo>
                <a:lnTo>
                  <a:pt x="0" y="1478"/>
                </a:lnTo>
                <a:lnTo>
                  <a:pt x="0" y="1465"/>
                </a:lnTo>
                <a:lnTo>
                  <a:pt x="14" y="1465"/>
                </a:lnTo>
                <a:close/>
                <a:moveTo>
                  <a:pt x="14" y="1491"/>
                </a:moveTo>
                <a:lnTo>
                  <a:pt x="14" y="1505"/>
                </a:lnTo>
                <a:lnTo>
                  <a:pt x="0" y="1505"/>
                </a:lnTo>
                <a:lnTo>
                  <a:pt x="0" y="1491"/>
                </a:lnTo>
                <a:lnTo>
                  <a:pt x="14" y="1491"/>
                </a:lnTo>
                <a:close/>
                <a:moveTo>
                  <a:pt x="14" y="1518"/>
                </a:moveTo>
                <a:lnTo>
                  <a:pt x="14" y="1531"/>
                </a:lnTo>
                <a:lnTo>
                  <a:pt x="0" y="1531"/>
                </a:lnTo>
                <a:lnTo>
                  <a:pt x="0" y="1518"/>
                </a:lnTo>
                <a:lnTo>
                  <a:pt x="14" y="1518"/>
                </a:lnTo>
                <a:close/>
                <a:moveTo>
                  <a:pt x="14" y="1545"/>
                </a:moveTo>
                <a:lnTo>
                  <a:pt x="14" y="1558"/>
                </a:lnTo>
                <a:lnTo>
                  <a:pt x="0" y="1558"/>
                </a:lnTo>
                <a:lnTo>
                  <a:pt x="0" y="1545"/>
                </a:lnTo>
                <a:lnTo>
                  <a:pt x="14" y="1545"/>
                </a:lnTo>
                <a:close/>
                <a:moveTo>
                  <a:pt x="14" y="1571"/>
                </a:moveTo>
                <a:lnTo>
                  <a:pt x="14" y="1585"/>
                </a:lnTo>
                <a:lnTo>
                  <a:pt x="0" y="1585"/>
                </a:lnTo>
                <a:lnTo>
                  <a:pt x="0" y="1571"/>
                </a:lnTo>
                <a:lnTo>
                  <a:pt x="14" y="1571"/>
                </a:lnTo>
                <a:close/>
                <a:moveTo>
                  <a:pt x="14" y="1598"/>
                </a:moveTo>
                <a:lnTo>
                  <a:pt x="14" y="1611"/>
                </a:lnTo>
                <a:lnTo>
                  <a:pt x="0" y="1611"/>
                </a:lnTo>
                <a:lnTo>
                  <a:pt x="0" y="1598"/>
                </a:lnTo>
                <a:lnTo>
                  <a:pt x="14" y="1598"/>
                </a:lnTo>
                <a:close/>
                <a:moveTo>
                  <a:pt x="14" y="1625"/>
                </a:moveTo>
                <a:lnTo>
                  <a:pt x="14" y="1638"/>
                </a:lnTo>
                <a:lnTo>
                  <a:pt x="0" y="1638"/>
                </a:lnTo>
                <a:lnTo>
                  <a:pt x="0" y="1625"/>
                </a:lnTo>
                <a:lnTo>
                  <a:pt x="14" y="1625"/>
                </a:lnTo>
                <a:close/>
                <a:moveTo>
                  <a:pt x="14" y="1651"/>
                </a:moveTo>
                <a:lnTo>
                  <a:pt x="14" y="1665"/>
                </a:lnTo>
                <a:lnTo>
                  <a:pt x="0" y="1665"/>
                </a:lnTo>
                <a:lnTo>
                  <a:pt x="0" y="1651"/>
                </a:lnTo>
                <a:lnTo>
                  <a:pt x="14" y="1651"/>
                </a:lnTo>
                <a:close/>
                <a:moveTo>
                  <a:pt x="14" y="1678"/>
                </a:moveTo>
                <a:lnTo>
                  <a:pt x="14" y="1691"/>
                </a:lnTo>
                <a:lnTo>
                  <a:pt x="0" y="1691"/>
                </a:lnTo>
                <a:lnTo>
                  <a:pt x="0" y="1678"/>
                </a:lnTo>
                <a:lnTo>
                  <a:pt x="14" y="1678"/>
                </a:lnTo>
                <a:close/>
                <a:moveTo>
                  <a:pt x="14" y="1705"/>
                </a:moveTo>
                <a:lnTo>
                  <a:pt x="14" y="1718"/>
                </a:lnTo>
                <a:lnTo>
                  <a:pt x="0" y="1718"/>
                </a:lnTo>
                <a:lnTo>
                  <a:pt x="0" y="1705"/>
                </a:lnTo>
                <a:lnTo>
                  <a:pt x="14" y="1705"/>
                </a:lnTo>
                <a:close/>
                <a:moveTo>
                  <a:pt x="14" y="1731"/>
                </a:moveTo>
                <a:lnTo>
                  <a:pt x="14" y="1745"/>
                </a:lnTo>
                <a:lnTo>
                  <a:pt x="0" y="1745"/>
                </a:lnTo>
                <a:lnTo>
                  <a:pt x="0" y="1731"/>
                </a:lnTo>
                <a:lnTo>
                  <a:pt x="14" y="1731"/>
                </a:lnTo>
                <a:close/>
                <a:moveTo>
                  <a:pt x="14" y="1758"/>
                </a:moveTo>
                <a:lnTo>
                  <a:pt x="14" y="1771"/>
                </a:lnTo>
                <a:lnTo>
                  <a:pt x="0" y="1771"/>
                </a:lnTo>
                <a:lnTo>
                  <a:pt x="0" y="1758"/>
                </a:lnTo>
                <a:lnTo>
                  <a:pt x="14" y="1758"/>
                </a:lnTo>
                <a:close/>
                <a:moveTo>
                  <a:pt x="14" y="1784"/>
                </a:moveTo>
                <a:lnTo>
                  <a:pt x="14" y="1798"/>
                </a:lnTo>
                <a:lnTo>
                  <a:pt x="0" y="1798"/>
                </a:lnTo>
                <a:lnTo>
                  <a:pt x="0" y="1784"/>
                </a:lnTo>
                <a:lnTo>
                  <a:pt x="14" y="1784"/>
                </a:lnTo>
                <a:close/>
                <a:moveTo>
                  <a:pt x="14" y="1811"/>
                </a:moveTo>
                <a:lnTo>
                  <a:pt x="14" y="1824"/>
                </a:lnTo>
                <a:lnTo>
                  <a:pt x="0" y="1824"/>
                </a:lnTo>
                <a:lnTo>
                  <a:pt x="0" y="1811"/>
                </a:lnTo>
                <a:lnTo>
                  <a:pt x="14" y="1811"/>
                </a:lnTo>
                <a:close/>
                <a:moveTo>
                  <a:pt x="14" y="1838"/>
                </a:moveTo>
                <a:lnTo>
                  <a:pt x="14" y="1851"/>
                </a:lnTo>
                <a:lnTo>
                  <a:pt x="0" y="1851"/>
                </a:lnTo>
                <a:lnTo>
                  <a:pt x="0" y="1838"/>
                </a:lnTo>
                <a:lnTo>
                  <a:pt x="14" y="1838"/>
                </a:lnTo>
                <a:close/>
                <a:moveTo>
                  <a:pt x="14" y="1864"/>
                </a:moveTo>
                <a:lnTo>
                  <a:pt x="14" y="1877"/>
                </a:lnTo>
                <a:lnTo>
                  <a:pt x="0" y="1877"/>
                </a:lnTo>
                <a:lnTo>
                  <a:pt x="0" y="1864"/>
                </a:lnTo>
                <a:lnTo>
                  <a:pt x="14" y="1864"/>
                </a:lnTo>
                <a:close/>
                <a:moveTo>
                  <a:pt x="14" y="1891"/>
                </a:moveTo>
                <a:lnTo>
                  <a:pt x="14" y="1904"/>
                </a:lnTo>
                <a:lnTo>
                  <a:pt x="0" y="1904"/>
                </a:lnTo>
                <a:lnTo>
                  <a:pt x="0" y="1891"/>
                </a:lnTo>
                <a:lnTo>
                  <a:pt x="14" y="1891"/>
                </a:lnTo>
                <a:close/>
                <a:moveTo>
                  <a:pt x="14" y="1917"/>
                </a:moveTo>
                <a:lnTo>
                  <a:pt x="14" y="1931"/>
                </a:lnTo>
                <a:lnTo>
                  <a:pt x="0" y="1931"/>
                </a:lnTo>
                <a:lnTo>
                  <a:pt x="0" y="1917"/>
                </a:lnTo>
                <a:lnTo>
                  <a:pt x="14" y="1917"/>
                </a:lnTo>
                <a:close/>
                <a:moveTo>
                  <a:pt x="14" y="1944"/>
                </a:moveTo>
                <a:lnTo>
                  <a:pt x="14" y="1957"/>
                </a:lnTo>
                <a:lnTo>
                  <a:pt x="0" y="1957"/>
                </a:lnTo>
                <a:lnTo>
                  <a:pt x="0" y="1944"/>
                </a:lnTo>
                <a:lnTo>
                  <a:pt x="14" y="1944"/>
                </a:lnTo>
                <a:close/>
                <a:moveTo>
                  <a:pt x="14" y="1971"/>
                </a:moveTo>
                <a:lnTo>
                  <a:pt x="14" y="1984"/>
                </a:lnTo>
                <a:lnTo>
                  <a:pt x="0" y="1984"/>
                </a:lnTo>
                <a:lnTo>
                  <a:pt x="0" y="1971"/>
                </a:lnTo>
                <a:lnTo>
                  <a:pt x="14" y="1971"/>
                </a:lnTo>
                <a:close/>
                <a:moveTo>
                  <a:pt x="14" y="1997"/>
                </a:moveTo>
                <a:lnTo>
                  <a:pt x="14" y="2011"/>
                </a:lnTo>
                <a:lnTo>
                  <a:pt x="0" y="2011"/>
                </a:lnTo>
                <a:lnTo>
                  <a:pt x="0" y="1997"/>
                </a:lnTo>
                <a:lnTo>
                  <a:pt x="14" y="1997"/>
                </a:lnTo>
                <a:close/>
                <a:moveTo>
                  <a:pt x="14" y="2024"/>
                </a:moveTo>
                <a:lnTo>
                  <a:pt x="14" y="2037"/>
                </a:lnTo>
                <a:lnTo>
                  <a:pt x="0" y="2037"/>
                </a:lnTo>
                <a:lnTo>
                  <a:pt x="0" y="2024"/>
                </a:lnTo>
                <a:lnTo>
                  <a:pt x="14" y="2024"/>
                </a:lnTo>
                <a:close/>
                <a:moveTo>
                  <a:pt x="14" y="2051"/>
                </a:moveTo>
                <a:lnTo>
                  <a:pt x="14" y="2064"/>
                </a:lnTo>
                <a:lnTo>
                  <a:pt x="0" y="2064"/>
                </a:lnTo>
                <a:lnTo>
                  <a:pt x="0" y="2051"/>
                </a:lnTo>
                <a:lnTo>
                  <a:pt x="14" y="2051"/>
                </a:lnTo>
                <a:close/>
                <a:moveTo>
                  <a:pt x="14" y="2077"/>
                </a:moveTo>
                <a:lnTo>
                  <a:pt x="14" y="2091"/>
                </a:lnTo>
                <a:lnTo>
                  <a:pt x="0" y="2091"/>
                </a:lnTo>
                <a:lnTo>
                  <a:pt x="0" y="2077"/>
                </a:lnTo>
                <a:lnTo>
                  <a:pt x="14" y="2077"/>
                </a:lnTo>
                <a:close/>
                <a:moveTo>
                  <a:pt x="14" y="2104"/>
                </a:moveTo>
                <a:lnTo>
                  <a:pt x="14" y="2117"/>
                </a:lnTo>
                <a:lnTo>
                  <a:pt x="0" y="2117"/>
                </a:lnTo>
                <a:lnTo>
                  <a:pt x="0" y="2104"/>
                </a:lnTo>
                <a:lnTo>
                  <a:pt x="14" y="2104"/>
                </a:lnTo>
                <a:close/>
                <a:moveTo>
                  <a:pt x="14" y="2131"/>
                </a:moveTo>
                <a:lnTo>
                  <a:pt x="14" y="2144"/>
                </a:lnTo>
                <a:lnTo>
                  <a:pt x="0" y="2144"/>
                </a:lnTo>
                <a:lnTo>
                  <a:pt x="0" y="2131"/>
                </a:lnTo>
                <a:lnTo>
                  <a:pt x="14" y="2131"/>
                </a:lnTo>
                <a:close/>
                <a:moveTo>
                  <a:pt x="14" y="2157"/>
                </a:moveTo>
                <a:lnTo>
                  <a:pt x="14" y="2171"/>
                </a:lnTo>
                <a:lnTo>
                  <a:pt x="0" y="2171"/>
                </a:lnTo>
                <a:lnTo>
                  <a:pt x="0" y="2157"/>
                </a:lnTo>
                <a:lnTo>
                  <a:pt x="14" y="2157"/>
                </a:lnTo>
                <a:close/>
                <a:moveTo>
                  <a:pt x="14" y="2184"/>
                </a:moveTo>
                <a:lnTo>
                  <a:pt x="14" y="2197"/>
                </a:lnTo>
                <a:lnTo>
                  <a:pt x="0" y="2197"/>
                </a:lnTo>
                <a:lnTo>
                  <a:pt x="0" y="2184"/>
                </a:lnTo>
                <a:lnTo>
                  <a:pt x="14" y="2184"/>
                </a:lnTo>
                <a:close/>
                <a:moveTo>
                  <a:pt x="14" y="2211"/>
                </a:moveTo>
                <a:lnTo>
                  <a:pt x="14" y="2224"/>
                </a:lnTo>
                <a:lnTo>
                  <a:pt x="0" y="2224"/>
                </a:lnTo>
                <a:lnTo>
                  <a:pt x="0" y="2211"/>
                </a:lnTo>
                <a:lnTo>
                  <a:pt x="14" y="2211"/>
                </a:lnTo>
                <a:close/>
                <a:moveTo>
                  <a:pt x="14" y="2237"/>
                </a:moveTo>
                <a:lnTo>
                  <a:pt x="14" y="2251"/>
                </a:lnTo>
                <a:lnTo>
                  <a:pt x="0" y="2251"/>
                </a:lnTo>
                <a:lnTo>
                  <a:pt x="0" y="2237"/>
                </a:lnTo>
                <a:lnTo>
                  <a:pt x="14" y="2237"/>
                </a:lnTo>
                <a:close/>
                <a:moveTo>
                  <a:pt x="14" y="2264"/>
                </a:moveTo>
                <a:lnTo>
                  <a:pt x="14" y="2277"/>
                </a:lnTo>
                <a:lnTo>
                  <a:pt x="0" y="2277"/>
                </a:lnTo>
                <a:lnTo>
                  <a:pt x="0" y="2264"/>
                </a:lnTo>
                <a:lnTo>
                  <a:pt x="14" y="2264"/>
                </a:lnTo>
                <a:close/>
                <a:moveTo>
                  <a:pt x="14" y="2290"/>
                </a:moveTo>
                <a:lnTo>
                  <a:pt x="14" y="2304"/>
                </a:lnTo>
                <a:lnTo>
                  <a:pt x="0" y="2304"/>
                </a:lnTo>
                <a:lnTo>
                  <a:pt x="0" y="2290"/>
                </a:lnTo>
                <a:lnTo>
                  <a:pt x="14" y="2290"/>
                </a:lnTo>
                <a:close/>
                <a:moveTo>
                  <a:pt x="14" y="2317"/>
                </a:moveTo>
                <a:lnTo>
                  <a:pt x="14" y="2330"/>
                </a:lnTo>
                <a:lnTo>
                  <a:pt x="0" y="2330"/>
                </a:lnTo>
                <a:lnTo>
                  <a:pt x="0" y="2317"/>
                </a:lnTo>
                <a:lnTo>
                  <a:pt x="14" y="2317"/>
                </a:lnTo>
                <a:close/>
                <a:moveTo>
                  <a:pt x="14" y="2344"/>
                </a:moveTo>
                <a:lnTo>
                  <a:pt x="14" y="2347"/>
                </a:lnTo>
                <a:lnTo>
                  <a:pt x="0" y="2347"/>
                </a:lnTo>
                <a:lnTo>
                  <a:pt x="0" y="2344"/>
                </a:lnTo>
                <a:lnTo>
                  <a:pt x="14" y="2344"/>
                </a:lnTo>
                <a:close/>
              </a:path>
            </a:pathLst>
          </a:custGeom>
          <a:solidFill>
            <a:srgbClr val="000000"/>
          </a:solidFill>
          <a:ln w="0" cap="flat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sz="1600" dirty="0">
              <a:ea typeface="SimHei" panose="02010609060101010101" pitchFamily="49" charset="-122"/>
            </a:endParaRPr>
          </a:p>
        </p:txBody>
      </p:sp>
      <p:sp>
        <p:nvSpPr>
          <p:cNvPr id="216" name="Freeform 30">
            <a:extLst>
              <a:ext uri="{FF2B5EF4-FFF2-40B4-BE49-F238E27FC236}">
                <a16:creationId xmlns:a16="http://schemas.microsoft.com/office/drawing/2014/main" id="{F543F0A2-BB6E-4DE5-B59C-305A71150668}"/>
              </a:ext>
            </a:extLst>
          </p:cNvPr>
          <p:cNvSpPr>
            <a:spLocks noEditPoints="1"/>
          </p:cNvSpPr>
          <p:nvPr/>
        </p:nvSpPr>
        <p:spPr bwMode="auto">
          <a:xfrm>
            <a:off x="6102955" y="3160179"/>
            <a:ext cx="18074" cy="2997194"/>
          </a:xfrm>
          <a:custGeom>
            <a:avLst/>
            <a:gdLst>
              <a:gd name="T0" fmla="*/ 14 w 14"/>
              <a:gd name="T1" fmla="*/ 40 h 2347"/>
              <a:gd name="T2" fmla="*/ 0 w 14"/>
              <a:gd name="T3" fmla="*/ 53 h 2347"/>
              <a:gd name="T4" fmla="*/ 14 w 14"/>
              <a:gd name="T5" fmla="*/ 106 h 2347"/>
              <a:gd name="T6" fmla="*/ 0 w 14"/>
              <a:gd name="T7" fmla="*/ 146 h 2347"/>
              <a:gd name="T8" fmla="*/ 14 w 14"/>
              <a:gd name="T9" fmla="*/ 159 h 2347"/>
              <a:gd name="T10" fmla="*/ 14 w 14"/>
              <a:gd name="T11" fmla="*/ 226 h 2347"/>
              <a:gd name="T12" fmla="*/ 0 w 14"/>
              <a:gd name="T13" fmla="*/ 239 h 2347"/>
              <a:gd name="T14" fmla="*/ 14 w 14"/>
              <a:gd name="T15" fmla="*/ 293 h 2347"/>
              <a:gd name="T16" fmla="*/ 0 w 14"/>
              <a:gd name="T17" fmla="*/ 333 h 2347"/>
              <a:gd name="T18" fmla="*/ 14 w 14"/>
              <a:gd name="T19" fmla="*/ 346 h 2347"/>
              <a:gd name="T20" fmla="*/ 14 w 14"/>
              <a:gd name="T21" fmla="*/ 413 h 2347"/>
              <a:gd name="T22" fmla="*/ 0 w 14"/>
              <a:gd name="T23" fmla="*/ 426 h 2347"/>
              <a:gd name="T24" fmla="*/ 14 w 14"/>
              <a:gd name="T25" fmla="*/ 479 h 2347"/>
              <a:gd name="T26" fmla="*/ 0 w 14"/>
              <a:gd name="T27" fmla="*/ 519 h 2347"/>
              <a:gd name="T28" fmla="*/ 14 w 14"/>
              <a:gd name="T29" fmla="*/ 532 h 2347"/>
              <a:gd name="T30" fmla="*/ 14 w 14"/>
              <a:gd name="T31" fmla="*/ 599 h 2347"/>
              <a:gd name="T32" fmla="*/ 0 w 14"/>
              <a:gd name="T33" fmla="*/ 612 h 2347"/>
              <a:gd name="T34" fmla="*/ 14 w 14"/>
              <a:gd name="T35" fmla="*/ 666 h 2347"/>
              <a:gd name="T36" fmla="*/ 0 w 14"/>
              <a:gd name="T37" fmla="*/ 706 h 2347"/>
              <a:gd name="T38" fmla="*/ 14 w 14"/>
              <a:gd name="T39" fmla="*/ 719 h 2347"/>
              <a:gd name="T40" fmla="*/ 14 w 14"/>
              <a:gd name="T41" fmla="*/ 786 h 2347"/>
              <a:gd name="T42" fmla="*/ 0 w 14"/>
              <a:gd name="T43" fmla="*/ 799 h 2347"/>
              <a:gd name="T44" fmla="*/ 14 w 14"/>
              <a:gd name="T45" fmla="*/ 852 h 2347"/>
              <a:gd name="T46" fmla="*/ 0 w 14"/>
              <a:gd name="T47" fmla="*/ 892 h 2347"/>
              <a:gd name="T48" fmla="*/ 14 w 14"/>
              <a:gd name="T49" fmla="*/ 905 h 2347"/>
              <a:gd name="T50" fmla="*/ 14 w 14"/>
              <a:gd name="T51" fmla="*/ 972 h 2347"/>
              <a:gd name="T52" fmla="*/ 0 w 14"/>
              <a:gd name="T53" fmla="*/ 985 h 2347"/>
              <a:gd name="T54" fmla="*/ 14 w 14"/>
              <a:gd name="T55" fmla="*/ 1038 h 2347"/>
              <a:gd name="T56" fmla="*/ 0 w 14"/>
              <a:gd name="T57" fmla="*/ 1078 h 2347"/>
              <a:gd name="T58" fmla="*/ 14 w 14"/>
              <a:gd name="T59" fmla="*/ 1092 h 2347"/>
              <a:gd name="T60" fmla="*/ 14 w 14"/>
              <a:gd name="T61" fmla="*/ 1158 h 2347"/>
              <a:gd name="T62" fmla="*/ 0 w 14"/>
              <a:gd name="T63" fmla="*/ 1172 h 2347"/>
              <a:gd name="T64" fmla="*/ 14 w 14"/>
              <a:gd name="T65" fmla="*/ 1225 h 2347"/>
              <a:gd name="T66" fmla="*/ 0 w 14"/>
              <a:gd name="T67" fmla="*/ 1265 h 2347"/>
              <a:gd name="T68" fmla="*/ 14 w 14"/>
              <a:gd name="T69" fmla="*/ 1278 h 2347"/>
              <a:gd name="T70" fmla="*/ 14 w 14"/>
              <a:gd name="T71" fmla="*/ 1345 h 2347"/>
              <a:gd name="T72" fmla="*/ 0 w 14"/>
              <a:gd name="T73" fmla="*/ 1358 h 2347"/>
              <a:gd name="T74" fmla="*/ 14 w 14"/>
              <a:gd name="T75" fmla="*/ 1411 h 2347"/>
              <a:gd name="T76" fmla="*/ 0 w 14"/>
              <a:gd name="T77" fmla="*/ 1451 h 2347"/>
              <a:gd name="T78" fmla="*/ 14 w 14"/>
              <a:gd name="T79" fmla="*/ 1465 h 2347"/>
              <a:gd name="T80" fmla="*/ 14 w 14"/>
              <a:gd name="T81" fmla="*/ 1531 h 2347"/>
              <a:gd name="T82" fmla="*/ 0 w 14"/>
              <a:gd name="T83" fmla="*/ 1545 h 2347"/>
              <a:gd name="T84" fmla="*/ 14 w 14"/>
              <a:gd name="T85" fmla="*/ 1598 h 2347"/>
              <a:gd name="T86" fmla="*/ 0 w 14"/>
              <a:gd name="T87" fmla="*/ 1638 h 2347"/>
              <a:gd name="T88" fmla="*/ 14 w 14"/>
              <a:gd name="T89" fmla="*/ 1651 h 2347"/>
              <a:gd name="T90" fmla="*/ 14 w 14"/>
              <a:gd name="T91" fmla="*/ 1718 h 2347"/>
              <a:gd name="T92" fmla="*/ 0 w 14"/>
              <a:gd name="T93" fmla="*/ 1731 h 2347"/>
              <a:gd name="T94" fmla="*/ 14 w 14"/>
              <a:gd name="T95" fmla="*/ 1784 h 2347"/>
              <a:gd name="T96" fmla="*/ 0 w 14"/>
              <a:gd name="T97" fmla="*/ 1824 h 2347"/>
              <a:gd name="T98" fmla="*/ 14 w 14"/>
              <a:gd name="T99" fmla="*/ 1838 h 2347"/>
              <a:gd name="T100" fmla="*/ 14 w 14"/>
              <a:gd name="T101" fmla="*/ 1904 h 2347"/>
              <a:gd name="T102" fmla="*/ 0 w 14"/>
              <a:gd name="T103" fmla="*/ 1917 h 2347"/>
              <a:gd name="T104" fmla="*/ 14 w 14"/>
              <a:gd name="T105" fmla="*/ 1971 h 2347"/>
              <a:gd name="T106" fmla="*/ 0 w 14"/>
              <a:gd name="T107" fmla="*/ 2011 h 2347"/>
              <a:gd name="T108" fmla="*/ 14 w 14"/>
              <a:gd name="T109" fmla="*/ 2024 h 2347"/>
              <a:gd name="T110" fmla="*/ 14 w 14"/>
              <a:gd name="T111" fmla="*/ 2091 h 2347"/>
              <a:gd name="T112" fmla="*/ 0 w 14"/>
              <a:gd name="T113" fmla="*/ 2104 h 2347"/>
              <a:gd name="T114" fmla="*/ 14 w 14"/>
              <a:gd name="T115" fmla="*/ 2157 h 2347"/>
              <a:gd name="T116" fmla="*/ 0 w 14"/>
              <a:gd name="T117" fmla="*/ 2197 h 2347"/>
              <a:gd name="T118" fmla="*/ 14 w 14"/>
              <a:gd name="T119" fmla="*/ 2211 h 2347"/>
              <a:gd name="T120" fmla="*/ 14 w 14"/>
              <a:gd name="T121" fmla="*/ 2277 h 2347"/>
              <a:gd name="T122" fmla="*/ 0 w 14"/>
              <a:gd name="T123" fmla="*/ 2290 h 2347"/>
              <a:gd name="T124" fmla="*/ 14 w 14"/>
              <a:gd name="T125" fmla="*/ 2344 h 234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14" h="2347">
                <a:moveTo>
                  <a:pt x="14" y="0"/>
                </a:moveTo>
                <a:lnTo>
                  <a:pt x="14" y="13"/>
                </a:lnTo>
                <a:lnTo>
                  <a:pt x="0" y="13"/>
                </a:lnTo>
                <a:lnTo>
                  <a:pt x="0" y="0"/>
                </a:lnTo>
                <a:lnTo>
                  <a:pt x="14" y="0"/>
                </a:lnTo>
                <a:close/>
                <a:moveTo>
                  <a:pt x="14" y="26"/>
                </a:moveTo>
                <a:lnTo>
                  <a:pt x="14" y="40"/>
                </a:lnTo>
                <a:lnTo>
                  <a:pt x="0" y="40"/>
                </a:lnTo>
                <a:lnTo>
                  <a:pt x="0" y="26"/>
                </a:lnTo>
                <a:lnTo>
                  <a:pt x="14" y="26"/>
                </a:lnTo>
                <a:close/>
                <a:moveTo>
                  <a:pt x="14" y="53"/>
                </a:moveTo>
                <a:lnTo>
                  <a:pt x="14" y="66"/>
                </a:lnTo>
                <a:lnTo>
                  <a:pt x="0" y="66"/>
                </a:lnTo>
                <a:lnTo>
                  <a:pt x="0" y="53"/>
                </a:lnTo>
                <a:lnTo>
                  <a:pt x="14" y="53"/>
                </a:lnTo>
                <a:close/>
                <a:moveTo>
                  <a:pt x="14" y="80"/>
                </a:moveTo>
                <a:lnTo>
                  <a:pt x="14" y="93"/>
                </a:lnTo>
                <a:lnTo>
                  <a:pt x="0" y="93"/>
                </a:lnTo>
                <a:lnTo>
                  <a:pt x="0" y="80"/>
                </a:lnTo>
                <a:lnTo>
                  <a:pt x="14" y="80"/>
                </a:lnTo>
                <a:close/>
                <a:moveTo>
                  <a:pt x="14" y="106"/>
                </a:moveTo>
                <a:lnTo>
                  <a:pt x="14" y="119"/>
                </a:lnTo>
                <a:lnTo>
                  <a:pt x="0" y="119"/>
                </a:lnTo>
                <a:lnTo>
                  <a:pt x="0" y="106"/>
                </a:lnTo>
                <a:lnTo>
                  <a:pt x="14" y="106"/>
                </a:lnTo>
                <a:close/>
                <a:moveTo>
                  <a:pt x="14" y="133"/>
                </a:moveTo>
                <a:lnTo>
                  <a:pt x="14" y="146"/>
                </a:lnTo>
                <a:lnTo>
                  <a:pt x="0" y="146"/>
                </a:lnTo>
                <a:lnTo>
                  <a:pt x="0" y="133"/>
                </a:lnTo>
                <a:lnTo>
                  <a:pt x="14" y="133"/>
                </a:lnTo>
                <a:close/>
                <a:moveTo>
                  <a:pt x="14" y="159"/>
                </a:moveTo>
                <a:lnTo>
                  <a:pt x="14" y="173"/>
                </a:lnTo>
                <a:lnTo>
                  <a:pt x="0" y="173"/>
                </a:lnTo>
                <a:lnTo>
                  <a:pt x="0" y="159"/>
                </a:lnTo>
                <a:lnTo>
                  <a:pt x="14" y="159"/>
                </a:lnTo>
                <a:close/>
                <a:moveTo>
                  <a:pt x="14" y="186"/>
                </a:moveTo>
                <a:lnTo>
                  <a:pt x="14" y="199"/>
                </a:lnTo>
                <a:lnTo>
                  <a:pt x="0" y="199"/>
                </a:lnTo>
                <a:lnTo>
                  <a:pt x="0" y="186"/>
                </a:lnTo>
                <a:lnTo>
                  <a:pt x="14" y="186"/>
                </a:lnTo>
                <a:close/>
                <a:moveTo>
                  <a:pt x="14" y="213"/>
                </a:moveTo>
                <a:lnTo>
                  <a:pt x="14" y="226"/>
                </a:lnTo>
                <a:lnTo>
                  <a:pt x="0" y="226"/>
                </a:lnTo>
                <a:lnTo>
                  <a:pt x="0" y="213"/>
                </a:lnTo>
                <a:lnTo>
                  <a:pt x="14" y="213"/>
                </a:lnTo>
                <a:close/>
                <a:moveTo>
                  <a:pt x="14" y="239"/>
                </a:moveTo>
                <a:lnTo>
                  <a:pt x="14" y="253"/>
                </a:lnTo>
                <a:lnTo>
                  <a:pt x="0" y="253"/>
                </a:lnTo>
                <a:lnTo>
                  <a:pt x="0" y="239"/>
                </a:lnTo>
                <a:lnTo>
                  <a:pt x="14" y="239"/>
                </a:lnTo>
                <a:close/>
                <a:moveTo>
                  <a:pt x="14" y="266"/>
                </a:moveTo>
                <a:lnTo>
                  <a:pt x="14" y="279"/>
                </a:lnTo>
                <a:lnTo>
                  <a:pt x="0" y="279"/>
                </a:lnTo>
                <a:lnTo>
                  <a:pt x="0" y="266"/>
                </a:lnTo>
                <a:lnTo>
                  <a:pt x="14" y="266"/>
                </a:lnTo>
                <a:close/>
                <a:moveTo>
                  <a:pt x="14" y="293"/>
                </a:moveTo>
                <a:lnTo>
                  <a:pt x="14" y="306"/>
                </a:lnTo>
                <a:lnTo>
                  <a:pt x="0" y="306"/>
                </a:lnTo>
                <a:lnTo>
                  <a:pt x="0" y="293"/>
                </a:lnTo>
                <a:lnTo>
                  <a:pt x="14" y="293"/>
                </a:lnTo>
                <a:close/>
                <a:moveTo>
                  <a:pt x="14" y="319"/>
                </a:moveTo>
                <a:lnTo>
                  <a:pt x="14" y="333"/>
                </a:lnTo>
                <a:lnTo>
                  <a:pt x="0" y="333"/>
                </a:lnTo>
                <a:lnTo>
                  <a:pt x="0" y="319"/>
                </a:lnTo>
                <a:lnTo>
                  <a:pt x="14" y="319"/>
                </a:lnTo>
                <a:close/>
                <a:moveTo>
                  <a:pt x="14" y="346"/>
                </a:moveTo>
                <a:lnTo>
                  <a:pt x="14" y="359"/>
                </a:lnTo>
                <a:lnTo>
                  <a:pt x="0" y="359"/>
                </a:lnTo>
                <a:lnTo>
                  <a:pt x="0" y="346"/>
                </a:lnTo>
                <a:lnTo>
                  <a:pt x="14" y="346"/>
                </a:lnTo>
                <a:close/>
                <a:moveTo>
                  <a:pt x="14" y="373"/>
                </a:moveTo>
                <a:lnTo>
                  <a:pt x="14" y="386"/>
                </a:lnTo>
                <a:lnTo>
                  <a:pt x="0" y="386"/>
                </a:lnTo>
                <a:lnTo>
                  <a:pt x="0" y="373"/>
                </a:lnTo>
                <a:lnTo>
                  <a:pt x="14" y="373"/>
                </a:lnTo>
                <a:close/>
                <a:moveTo>
                  <a:pt x="14" y="399"/>
                </a:moveTo>
                <a:lnTo>
                  <a:pt x="14" y="413"/>
                </a:lnTo>
                <a:lnTo>
                  <a:pt x="0" y="413"/>
                </a:lnTo>
                <a:lnTo>
                  <a:pt x="0" y="399"/>
                </a:lnTo>
                <a:lnTo>
                  <a:pt x="14" y="399"/>
                </a:lnTo>
                <a:close/>
                <a:moveTo>
                  <a:pt x="14" y="426"/>
                </a:moveTo>
                <a:lnTo>
                  <a:pt x="14" y="439"/>
                </a:lnTo>
                <a:lnTo>
                  <a:pt x="0" y="439"/>
                </a:lnTo>
                <a:lnTo>
                  <a:pt x="0" y="426"/>
                </a:lnTo>
                <a:lnTo>
                  <a:pt x="14" y="426"/>
                </a:lnTo>
                <a:close/>
                <a:moveTo>
                  <a:pt x="14" y="453"/>
                </a:moveTo>
                <a:lnTo>
                  <a:pt x="14" y="466"/>
                </a:lnTo>
                <a:lnTo>
                  <a:pt x="0" y="466"/>
                </a:lnTo>
                <a:lnTo>
                  <a:pt x="0" y="453"/>
                </a:lnTo>
                <a:lnTo>
                  <a:pt x="14" y="453"/>
                </a:lnTo>
                <a:close/>
                <a:moveTo>
                  <a:pt x="14" y="479"/>
                </a:moveTo>
                <a:lnTo>
                  <a:pt x="14" y="493"/>
                </a:lnTo>
                <a:lnTo>
                  <a:pt x="0" y="493"/>
                </a:lnTo>
                <a:lnTo>
                  <a:pt x="0" y="479"/>
                </a:lnTo>
                <a:lnTo>
                  <a:pt x="14" y="479"/>
                </a:lnTo>
                <a:close/>
                <a:moveTo>
                  <a:pt x="14" y="506"/>
                </a:moveTo>
                <a:lnTo>
                  <a:pt x="14" y="519"/>
                </a:lnTo>
                <a:lnTo>
                  <a:pt x="0" y="519"/>
                </a:lnTo>
                <a:lnTo>
                  <a:pt x="0" y="506"/>
                </a:lnTo>
                <a:lnTo>
                  <a:pt x="14" y="506"/>
                </a:lnTo>
                <a:close/>
                <a:moveTo>
                  <a:pt x="14" y="532"/>
                </a:moveTo>
                <a:lnTo>
                  <a:pt x="14" y="546"/>
                </a:lnTo>
                <a:lnTo>
                  <a:pt x="0" y="546"/>
                </a:lnTo>
                <a:lnTo>
                  <a:pt x="0" y="532"/>
                </a:lnTo>
                <a:lnTo>
                  <a:pt x="14" y="532"/>
                </a:lnTo>
                <a:close/>
                <a:moveTo>
                  <a:pt x="14" y="559"/>
                </a:moveTo>
                <a:lnTo>
                  <a:pt x="14" y="572"/>
                </a:lnTo>
                <a:lnTo>
                  <a:pt x="0" y="572"/>
                </a:lnTo>
                <a:lnTo>
                  <a:pt x="0" y="559"/>
                </a:lnTo>
                <a:lnTo>
                  <a:pt x="14" y="559"/>
                </a:lnTo>
                <a:close/>
                <a:moveTo>
                  <a:pt x="14" y="586"/>
                </a:moveTo>
                <a:lnTo>
                  <a:pt x="14" y="599"/>
                </a:lnTo>
                <a:lnTo>
                  <a:pt x="0" y="599"/>
                </a:lnTo>
                <a:lnTo>
                  <a:pt x="0" y="586"/>
                </a:lnTo>
                <a:lnTo>
                  <a:pt x="14" y="586"/>
                </a:lnTo>
                <a:close/>
                <a:moveTo>
                  <a:pt x="14" y="612"/>
                </a:moveTo>
                <a:lnTo>
                  <a:pt x="14" y="626"/>
                </a:lnTo>
                <a:lnTo>
                  <a:pt x="0" y="626"/>
                </a:lnTo>
                <a:lnTo>
                  <a:pt x="0" y="612"/>
                </a:lnTo>
                <a:lnTo>
                  <a:pt x="14" y="612"/>
                </a:lnTo>
                <a:close/>
                <a:moveTo>
                  <a:pt x="14" y="639"/>
                </a:moveTo>
                <a:lnTo>
                  <a:pt x="14" y="652"/>
                </a:lnTo>
                <a:lnTo>
                  <a:pt x="0" y="652"/>
                </a:lnTo>
                <a:lnTo>
                  <a:pt x="0" y="639"/>
                </a:lnTo>
                <a:lnTo>
                  <a:pt x="14" y="639"/>
                </a:lnTo>
                <a:close/>
                <a:moveTo>
                  <a:pt x="14" y="666"/>
                </a:moveTo>
                <a:lnTo>
                  <a:pt x="14" y="679"/>
                </a:lnTo>
                <a:lnTo>
                  <a:pt x="0" y="679"/>
                </a:lnTo>
                <a:lnTo>
                  <a:pt x="0" y="666"/>
                </a:lnTo>
                <a:lnTo>
                  <a:pt x="14" y="666"/>
                </a:lnTo>
                <a:close/>
                <a:moveTo>
                  <a:pt x="14" y="692"/>
                </a:moveTo>
                <a:lnTo>
                  <a:pt x="14" y="706"/>
                </a:lnTo>
                <a:lnTo>
                  <a:pt x="0" y="706"/>
                </a:lnTo>
                <a:lnTo>
                  <a:pt x="0" y="692"/>
                </a:lnTo>
                <a:lnTo>
                  <a:pt x="14" y="692"/>
                </a:lnTo>
                <a:close/>
                <a:moveTo>
                  <a:pt x="14" y="719"/>
                </a:moveTo>
                <a:lnTo>
                  <a:pt x="14" y="732"/>
                </a:lnTo>
                <a:lnTo>
                  <a:pt x="0" y="732"/>
                </a:lnTo>
                <a:lnTo>
                  <a:pt x="0" y="719"/>
                </a:lnTo>
                <a:lnTo>
                  <a:pt x="14" y="719"/>
                </a:lnTo>
                <a:close/>
                <a:moveTo>
                  <a:pt x="14" y="746"/>
                </a:moveTo>
                <a:lnTo>
                  <a:pt x="14" y="759"/>
                </a:lnTo>
                <a:lnTo>
                  <a:pt x="0" y="759"/>
                </a:lnTo>
                <a:lnTo>
                  <a:pt x="0" y="746"/>
                </a:lnTo>
                <a:lnTo>
                  <a:pt x="14" y="746"/>
                </a:lnTo>
                <a:close/>
                <a:moveTo>
                  <a:pt x="14" y="772"/>
                </a:moveTo>
                <a:lnTo>
                  <a:pt x="14" y="786"/>
                </a:lnTo>
                <a:lnTo>
                  <a:pt x="0" y="786"/>
                </a:lnTo>
                <a:lnTo>
                  <a:pt x="0" y="772"/>
                </a:lnTo>
                <a:lnTo>
                  <a:pt x="14" y="772"/>
                </a:lnTo>
                <a:close/>
                <a:moveTo>
                  <a:pt x="14" y="799"/>
                </a:moveTo>
                <a:lnTo>
                  <a:pt x="14" y="812"/>
                </a:lnTo>
                <a:lnTo>
                  <a:pt x="0" y="812"/>
                </a:lnTo>
                <a:lnTo>
                  <a:pt x="0" y="799"/>
                </a:lnTo>
                <a:lnTo>
                  <a:pt x="14" y="799"/>
                </a:lnTo>
                <a:close/>
                <a:moveTo>
                  <a:pt x="14" y="826"/>
                </a:moveTo>
                <a:lnTo>
                  <a:pt x="14" y="839"/>
                </a:lnTo>
                <a:lnTo>
                  <a:pt x="0" y="839"/>
                </a:lnTo>
                <a:lnTo>
                  <a:pt x="0" y="826"/>
                </a:lnTo>
                <a:lnTo>
                  <a:pt x="14" y="826"/>
                </a:lnTo>
                <a:close/>
                <a:moveTo>
                  <a:pt x="14" y="852"/>
                </a:moveTo>
                <a:lnTo>
                  <a:pt x="14" y="866"/>
                </a:lnTo>
                <a:lnTo>
                  <a:pt x="0" y="866"/>
                </a:lnTo>
                <a:lnTo>
                  <a:pt x="0" y="852"/>
                </a:lnTo>
                <a:lnTo>
                  <a:pt x="14" y="852"/>
                </a:lnTo>
                <a:close/>
                <a:moveTo>
                  <a:pt x="14" y="879"/>
                </a:moveTo>
                <a:lnTo>
                  <a:pt x="14" y="892"/>
                </a:lnTo>
                <a:lnTo>
                  <a:pt x="0" y="892"/>
                </a:lnTo>
                <a:lnTo>
                  <a:pt x="0" y="879"/>
                </a:lnTo>
                <a:lnTo>
                  <a:pt x="14" y="879"/>
                </a:lnTo>
                <a:close/>
                <a:moveTo>
                  <a:pt x="14" y="905"/>
                </a:moveTo>
                <a:lnTo>
                  <a:pt x="14" y="919"/>
                </a:lnTo>
                <a:lnTo>
                  <a:pt x="0" y="919"/>
                </a:lnTo>
                <a:lnTo>
                  <a:pt x="0" y="905"/>
                </a:lnTo>
                <a:lnTo>
                  <a:pt x="14" y="905"/>
                </a:lnTo>
                <a:close/>
                <a:moveTo>
                  <a:pt x="14" y="932"/>
                </a:moveTo>
                <a:lnTo>
                  <a:pt x="14" y="945"/>
                </a:lnTo>
                <a:lnTo>
                  <a:pt x="0" y="945"/>
                </a:lnTo>
                <a:lnTo>
                  <a:pt x="0" y="932"/>
                </a:lnTo>
                <a:lnTo>
                  <a:pt x="14" y="932"/>
                </a:lnTo>
                <a:close/>
                <a:moveTo>
                  <a:pt x="14" y="959"/>
                </a:moveTo>
                <a:lnTo>
                  <a:pt x="14" y="972"/>
                </a:lnTo>
                <a:lnTo>
                  <a:pt x="0" y="972"/>
                </a:lnTo>
                <a:lnTo>
                  <a:pt x="0" y="959"/>
                </a:lnTo>
                <a:lnTo>
                  <a:pt x="14" y="959"/>
                </a:lnTo>
                <a:close/>
                <a:moveTo>
                  <a:pt x="14" y="985"/>
                </a:moveTo>
                <a:lnTo>
                  <a:pt x="14" y="998"/>
                </a:lnTo>
                <a:lnTo>
                  <a:pt x="0" y="998"/>
                </a:lnTo>
                <a:lnTo>
                  <a:pt x="0" y="985"/>
                </a:lnTo>
                <a:lnTo>
                  <a:pt x="14" y="985"/>
                </a:lnTo>
                <a:close/>
                <a:moveTo>
                  <a:pt x="14" y="1012"/>
                </a:moveTo>
                <a:lnTo>
                  <a:pt x="14" y="1025"/>
                </a:lnTo>
                <a:lnTo>
                  <a:pt x="0" y="1025"/>
                </a:lnTo>
                <a:lnTo>
                  <a:pt x="0" y="1012"/>
                </a:lnTo>
                <a:lnTo>
                  <a:pt x="14" y="1012"/>
                </a:lnTo>
                <a:close/>
                <a:moveTo>
                  <a:pt x="14" y="1038"/>
                </a:moveTo>
                <a:lnTo>
                  <a:pt x="14" y="1052"/>
                </a:lnTo>
                <a:lnTo>
                  <a:pt x="0" y="1052"/>
                </a:lnTo>
                <a:lnTo>
                  <a:pt x="0" y="1038"/>
                </a:lnTo>
                <a:lnTo>
                  <a:pt x="14" y="1038"/>
                </a:lnTo>
                <a:close/>
                <a:moveTo>
                  <a:pt x="14" y="1065"/>
                </a:moveTo>
                <a:lnTo>
                  <a:pt x="14" y="1078"/>
                </a:lnTo>
                <a:lnTo>
                  <a:pt x="0" y="1078"/>
                </a:lnTo>
                <a:lnTo>
                  <a:pt x="0" y="1065"/>
                </a:lnTo>
                <a:lnTo>
                  <a:pt x="14" y="1065"/>
                </a:lnTo>
                <a:close/>
                <a:moveTo>
                  <a:pt x="14" y="1092"/>
                </a:moveTo>
                <a:lnTo>
                  <a:pt x="14" y="1105"/>
                </a:lnTo>
                <a:lnTo>
                  <a:pt x="0" y="1105"/>
                </a:lnTo>
                <a:lnTo>
                  <a:pt x="0" y="1092"/>
                </a:lnTo>
                <a:lnTo>
                  <a:pt x="14" y="1092"/>
                </a:lnTo>
                <a:close/>
                <a:moveTo>
                  <a:pt x="14" y="1118"/>
                </a:moveTo>
                <a:lnTo>
                  <a:pt x="14" y="1132"/>
                </a:lnTo>
                <a:lnTo>
                  <a:pt x="0" y="1132"/>
                </a:lnTo>
                <a:lnTo>
                  <a:pt x="0" y="1118"/>
                </a:lnTo>
                <a:lnTo>
                  <a:pt x="14" y="1118"/>
                </a:lnTo>
                <a:close/>
                <a:moveTo>
                  <a:pt x="14" y="1145"/>
                </a:moveTo>
                <a:lnTo>
                  <a:pt x="14" y="1158"/>
                </a:lnTo>
                <a:lnTo>
                  <a:pt x="0" y="1158"/>
                </a:lnTo>
                <a:lnTo>
                  <a:pt x="0" y="1145"/>
                </a:lnTo>
                <a:lnTo>
                  <a:pt x="14" y="1145"/>
                </a:lnTo>
                <a:close/>
                <a:moveTo>
                  <a:pt x="14" y="1172"/>
                </a:moveTo>
                <a:lnTo>
                  <a:pt x="14" y="1185"/>
                </a:lnTo>
                <a:lnTo>
                  <a:pt x="0" y="1185"/>
                </a:lnTo>
                <a:lnTo>
                  <a:pt x="0" y="1172"/>
                </a:lnTo>
                <a:lnTo>
                  <a:pt x="14" y="1172"/>
                </a:lnTo>
                <a:close/>
                <a:moveTo>
                  <a:pt x="14" y="1198"/>
                </a:moveTo>
                <a:lnTo>
                  <a:pt x="14" y="1212"/>
                </a:lnTo>
                <a:lnTo>
                  <a:pt x="0" y="1212"/>
                </a:lnTo>
                <a:lnTo>
                  <a:pt x="0" y="1198"/>
                </a:lnTo>
                <a:lnTo>
                  <a:pt x="14" y="1198"/>
                </a:lnTo>
                <a:close/>
                <a:moveTo>
                  <a:pt x="14" y="1225"/>
                </a:moveTo>
                <a:lnTo>
                  <a:pt x="14" y="1238"/>
                </a:lnTo>
                <a:lnTo>
                  <a:pt x="0" y="1238"/>
                </a:lnTo>
                <a:lnTo>
                  <a:pt x="0" y="1225"/>
                </a:lnTo>
                <a:lnTo>
                  <a:pt x="14" y="1225"/>
                </a:lnTo>
                <a:close/>
                <a:moveTo>
                  <a:pt x="14" y="1252"/>
                </a:moveTo>
                <a:lnTo>
                  <a:pt x="14" y="1265"/>
                </a:lnTo>
                <a:lnTo>
                  <a:pt x="0" y="1265"/>
                </a:lnTo>
                <a:lnTo>
                  <a:pt x="0" y="1252"/>
                </a:lnTo>
                <a:lnTo>
                  <a:pt x="14" y="1252"/>
                </a:lnTo>
                <a:close/>
                <a:moveTo>
                  <a:pt x="14" y="1278"/>
                </a:moveTo>
                <a:lnTo>
                  <a:pt x="14" y="1292"/>
                </a:lnTo>
                <a:lnTo>
                  <a:pt x="0" y="1292"/>
                </a:lnTo>
                <a:lnTo>
                  <a:pt x="0" y="1278"/>
                </a:lnTo>
                <a:lnTo>
                  <a:pt x="14" y="1278"/>
                </a:lnTo>
                <a:close/>
                <a:moveTo>
                  <a:pt x="14" y="1305"/>
                </a:moveTo>
                <a:lnTo>
                  <a:pt x="14" y="1318"/>
                </a:lnTo>
                <a:lnTo>
                  <a:pt x="0" y="1318"/>
                </a:lnTo>
                <a:lnTo>
                  <a:pt x="0" y="1305"/>
                </a:lnTo>
                <a:lnTo>
                  <a:pt x="14" y="1305"/>
                </a:lnTo>
                <a:close/>
                <a:moveTo>
                  <a:pt x="14" y="1332"/>
                </a:moveTo>
                <a:lnTo>
                  <a:pt x="14" y="1345"/>
                </a:lnTo>
                <a:lnTo>
                  <a:pt x="0" y="1345"/>
                </a:lnTo>
                <a:lnTo>
                  <a:pt x="0" y="1332"/>
                </a:lnTo>
                <a:lnTo>
                  <a:pt x="14" y="1332"/>
                </a:lnTo>
                <a:close/>
                <a:moveTo>
                  <a:pt x="14" y="1358"/>
                </a:moveTo>
                <a:lnTo>
                  <a:pt x="14" y="1372"/>
                </a:lnTo>
                <a:lnTo>
                  <a:pt x="0" y="1372"/>
                </a:lnTo>
                <a:lnTo>
                  <a:pt x="0" y="1358"/>
                </a:lnTo>
                <a:lnTo>
                  <a:pt x="14" y="1358"/>
                </a:lnTo>
                <a:close/>
                <a:moveTo>
                  <a:pt x="14" y="1385"/>
                </a:moveTo>
                <a:lnTo>
                  <a:pt x="14" y="1398"/>
                </a:lnTo>
                <a:lnTo>
                  <a:pt x="0" y="1398"/>
                </a:lnTo>
                <a:lnTo>
                  <a:pt x="0" y="1385"/>
                </a:lnTo>
                <a:lnTo>
                  <a:pt x="14" y="1385"/>
                </a:lnTo>
                <a:close/>
                <a:moveTo>
                  <a:pt x="14" y="1411"/>
                </a:moveTo>
                <a:lnTo>
                  <a:pt x="14" y="1425"/>
                </a:lnTo>
                <a:lnTo>
                  <a:pt x="0" y="1425"/>
                </a:lnTo>
                <a:lnTo>
                  <a:pt x="0" y="1411"/>
                </a:lnTo>
                <a:lnTo>
                  <a:pt x="14" y="1411"/>
                </a:lnTo>
                <a:close/>
                <a:moveTo>
                  <a:pt x="14" y="1438"/>
                </a:moveTo>
                <a:lnTo>
                  <a:pt x="14" y="1451"/>
                </a:lnTo>
                <a:lnTo>
                  <a:pt x="0" y="1451"/>
                </a:lnTo>
                <a:lnTo>
                  <a:pt x="0" y="1438"/>
                </a:lnTo>
                <a:lnTo>
                  <a:pt x="14" y="1438"/>
                </a:lnTo>
                <a:close/>
                <a:moveTo>
                  <a:pt x="14" y="1465"/>
                </a:moveTo>
                <a:lnTo>
                  <a:pt x="14" y="1478"/>
                </a:lnTo>
                <a:lnTo>
                  <a:pt x="0" y="1478"/>
                </a:lnTo>
                <a:lnTo>
                  <a:pt x="0" y="1465"/>
                </a:lnTo>
                <a:lnTo>
                  <a:pt x="14" y="1465"/>
                </a:lnTo>
                <a:close/>
                <a:moveTo>
                  <a:pt x="14" y="1491"/>
                </a:moveTo>
                <a:lnTo>
                  <a:pt x="14" y="1505"/>
                </a:lnTo>
                <a:lnTo>
                  <a:pt x="0" y="1505"/>
                </a:lnTo>
                <a:lnTo>
                  <a:pt x="0" y="1491"/>
                </a:lnTo>
                <a:lnTo>
                  <a:pt x="14" y="1491"/>
                </a:lnTo>
                <a:close/>
                <a:moveTo>
                  <a:pt x="14" y="1518"/>
                </a:moveTo>
                <a:lnTo>
                  <a:pt x="14" y="1531"/>
                </a:lnTo>
                <a:lnTo>
                  <a:pt x="0" y="1531"/>
                </a:lnTo>
                <a:lnTo>
                  <a:pt x="0" y="1518"/>
                </a:lnTo>
                <a:lnTo>
                  <a:pt x="14" y="1518"/>
                </a:lnTo>
                <a:close/>
                <a:moveTo>
                  <a:pt x="14" y="1545"/>
                </a:moveTo>
                <a:lnTo>
                  <a:pt x="14" y="1558"/>
                </a:lnTo>
                <a:lnTo>
                  <a:pt x="0" y="1558"/>
                </a:lnTo>
                <a:lnTo>
                  <a:pt x="0" y="1545"/>
                </a:lnTo>
                <a:lnTo>
                  <a:pt x="14" y="1545"/>
                </a:lnTo>
                <a:close/>
                <a:moveTo>
                  <a:pt x="14" y="1571"/>
                </a:moveTo>
                <a:lnTo>
                  <a:pt x="14" y="1585"/>
                </a:lnTo>
                <a:lnTo>
                  <a:pt x="0" y="1585"/>
                </a:lnTo>
                <a:lnTo>
                  <a:pt x="0" y="1571"/>
                </a:lnTo>
                <a:lnTo>
                  <a:pt x="14" y="1571"/>
                </a:lnTo>
                <a:close/>
                <a:moveTo>
                  <a:pt x="14" y="1598"/>
                </a:moveTo>
                <a:lnTo>
                  <a:pt x="14" y="1611"/>
                </a:lnTo>
                <a:lnTo>
                  <a:pt x="0" y="1611"/>
                </a:lnTo>
                <a:lnTo>
                  <a:pt x="0" y="1598"/>
                </a:lnTo>
                <a:lnTo>
                  <a:pt x="14" y="1598"/>
                </a:lnTo>
                <a:close/>
                <a:moveTo>
                  <a:pt x="14" y="1625"/>
                </a:moveTo>
                <a:lnTo>
                  <a:pt x="14" y="1638"/>
                </a:lnTo>
                <a:lnTo>
                  <a:pt x="0" y="1638"/>
                </a:lnTo>
                <a:lnTo>
                  <a:pt x="0" y="1625"/>
                </a:lnTo>
                <a:lnTo>
                  <a:pt x="14" y="1625"/>
                </a:lnTo>
                <a:close/>
                <a:moveTo>
                  <a:pt x="14" y="1651"/>
                </a:moveTo>
                <a:lnTo>
                  <a:pt x="14" y="1665"/>
                </a:lnTo>
                <a:lnTo>
                  <a:pt x="0" y="1665"/>
                </a:lnTo>
                <a:lnTo>
                  <a:pt x="0" y="1651"/>
                </a:lnTo>
                <a:lnTo>
                  <a:pt x="14" y="1651"/>
                </a:lnTo>
                <a:close/>
                <a:moveTo>
                  <a:pt x="14" y="1678"/>
                </a:moveTo>
                <a:lnTo>
                  <a:pt x="14" y="1691"/>
                </a:lnTo>
                <a:lnTo>
                  <a:pt x="0" y="1691"/>
                </a:lnTo>
                <a:lnTo>
                  <a:pt x="0" y="1678"/>
                </a:lnTo>
                <a:lnTo>
                  <a:pt x="14" y="1678"/>
                </a:lnTo>
                <a:close/>
                <a:moveTo>
                  <a:pt x="14" y="1705"/>
                </a:moveTo>
                <a:lnTo>
                  <a:pt x="14" y="1718"/>
                </a:lnTo>
                <a:lnTo>
                  <a:pt x="0" y="1718"/>
                </a:lnTo>
                <a:lnTo>
                  <a:pt x="0" y="1705"/>
                </a:lnTo>
                <a:lnTo>
                  <a:pt x="14" y="1705"/>
                </a:lnTo>
                <a:close/>
                <a:moveTo>
                  <a:pt x="14" y="1731"/>
                </a:moveTo>
                <a:lnTo>
                  <a:pt x="14" y="1745"/>
                </a:lnTo>
                <a:lnTo>
                  <a:pt x="0" y="1745"/>
                </a:lnTo>
                <a:lnTo>
                  <a:pt x="0" y="1731"/>
                </a:lnTo>
                <a:lnTo>
                  <a:pt x="14" y="1731"/>
                </a:lnTo>
                <a:close/>
                <a:moveTo>
                  <a:pt x="14" y="1758"/>
                </a:moveTo>
                <a:lnTo>
                  <a:pt x="14" y="1771"/>
                </a:lnTo>
                <a:lnTo>
                  <a:pt x="0" y="1771"/>
                </a:lnTo>
                <a:lnTo>
                  <a:pt x="0" y="1758"/>
                </a:lnTo>
                <a:lnTo>
                  <a:pt x="14" y="1758"/>
                </a:lnTo>
                <a:close/>
                <a:moveTo>
                  <a:pt x="14" y="1784"/>
                </a:moveTo>
                <a:lnTo>
                  <a:pt x="14" y="1798"/>
                </a:lnTo>
                <a:lnTo>
                  <a:pt x="0" y="1798"/>
                </a:lnTo>
                <a:lnTo>
                  <a:pt x="0" y="1784"/>
                </a:lnTo>
                <a:lnTo>
                  <a:pt x="14" y="1784"/>
                </a:lnTo>
                <a:close/>
                <a:moveTo>
                  <a:pt x="14" y="1811"/>
                </a:moveTo>
                <a:lnTo>
                  <a:pt x="14" y="1824"/>
                </a:lnTo>
                <a:lnTo>
                  <a:pt x="0" y="1824"/>
                </a:lnTo>
                <a:lnTo>
                  <a:pt x="0" y="1811"/>
                </a:lnTo>
                <a:lnTo>
                  <a:pt x="14" y="1811"/>
                </a:lnTo>
                <a:close/>
                <a:moveTo>
                  <a:pt x="14" y="1838"/>
                </a:moveTo>
                <a:lnTo>
                  <a:pt x="14" y="1851"/>
                </a:lnTo>
                <a:lnTo>
                  <a:pt x="0" y="1851"/>
                </a:lnTo>
                <a:lnTo>
                  <a:pt x="0" y="1838"/>
                </a:lnTo>
                <a:lnTo>
                  <a:pt x="14" y="1838"/>
                </a:lnTo>
                <a:close/>
                <a:moveTo>
                  <a:pt x="14" y="1864"/>
                </a:moveTo>
                <a:lnTo>
                  <a:pt x="14" y="1877"/>
                </a:lnTo>
                <a:lnTo>
                  <a:pt x="0" y="1877"/>
                </a:lnTo>
                <a:lnTo>
                  <a:pt x="0" y="1864"/>
                </a:lnTo>
                <a:lnTo>
                  <a:pt x="14" y="1864"/>
                </a:lnTo>
                <a:close/>
                <a:moveTo>
                  <a:pt x="14" y="1891"/>
                </a:moveTo>
                <a:lnTo>
                  <a:pt x="14" y="1904"/>
                </a:lnTo>
                <a:lnTo>
                  <a:pt x="0" y="1904"/>
                </a:lnTo>
                <a:lnTo>
                  <a:pt x="0" y="1891"/>
                </a:lnTo>
                <a:lnTo>
                  <a:pt x="14" y="1891"/>
                </a:lnTo>
                <a:close/>
                <a:moveTo>
                  <a:pt x="14" y="1917"/>
                </a:moveTo>
                <a:lnTo>
                  <a:pt x="14" y="1931"/>
                </a:lnTo>
                <a:lnTo>
                  <a:pt x="0" y="1931"/>
                </a:lnTo>
                <a:lnTo>
                  <a:pt x="0" y="1917"/>
                </a:lnTo>
                <a:lnTo>
                  <a:pt x="14" y="1917"/>
                </a:lnTo>
                <a:close/>
                <a:moveTo>
                  <a:pt x="14" y="1944"/>
                </a:moveTo>
                <a:lnTo>
                  <a:pt x="14" y="1957"/>
                </a:lnTo>
                <a:lnTo>
                  <a:pt x="0" y="1957"/>
                </a:lnTo>
                <a:lnTo>
                  <a:pt x="0" y="1944"/>
                </a:lnTo>
                <a:lnTo>
                  <a:pt x="14" y="1944"/>
                </a:lnTo>
                <a:close/>
                <a:moveTo>
                  <a:pt x="14" y="1971"/>
                </a:moveTo>
                <a:lnTo>
                  <a:pt x="14" y="1984"/>
                </a:lnTo>
                <a:lnTo>
                  <a:pt x="0" y="1984"/>
                </a:lnTo>
                <a:lnTo>
                  <a:pt x="0" y="1971"/>
                </a:lnTo>
                <a:lnTo>
                  <a:pt x="14" y="1971"/>
                </a:lnTo>
                <a:close/>
                <a:moveTo>
                  <a:pt x="14" y="1997"/>
                </a:moveTo>
                <a:lnTo>
                  <a:pt x="14" y="2011"/>
                </a:lnTo>
                <a:lnTo>
                  <a:pt x="0" y="2011"/>
                </a:lnTo>
                <a:lnTo>
                  <a:pt x="0" y="1997"/>
                </a:lnTo>
                <a:lnTo>
                  <a:pt x="14" y="1997"/>
                </a:lnTo>
                <a:close/>
                <a:moveTo>
                  <a:pt x="14" y="2024"/>
                </a:moveTo>
                <a:lnTo>
                  <a:pt x="14" y="2037"/>
                </a:lnTo>
                <a:lnTo>
                  <a:pt x="0" y="2037"/>
                </a:lnTo>
                <a:lnTo>
                  <a:pt x="0" y="2024"/>
                </a:lnTo>
                <a:lnTo>
                  <a:pt x="14" y="2024"/>
                </a:lnTo>
                <a:close/>
                <a:moveTo>
                  <a:pt x="14" y="2051"/>
                </a:moveTo>
                <a:lnTo>
                  <a:pt x="14" y="2064"/>
                </a:lnTo>
                <a:lnTo>
                  <a:pt x="0" y="2064"/>
                </a:lnTo>
                <a:lnTo>
                  <a:pt x="0" y="2051"/>
                </a:lnTo>
                <a:lnTo>
                  <a:pt x="14" y="2051"/>
                </a:lnTo>
                <a:close/>
                <a:moveTo>
                  <a:pt x="14" y="2077"/>
                </a:moveTo>
                <a:lnTo>
                  <a:pt x="14" y="2091"/>
                </a:lnTo>
                <a:lnTo>
                  <a:pt x="0" y="2091"/>
                </a:lnTo>
                <a:lnTo>
                  <a:pt x="0" y="2077"/>
                </a:lnTo>
                <a:lnTo>
                  <a:pt x="14" y="2077"/>
                </a:lnTo>
                <a:close/>
                <a:moveTo>
                  <a:pt x="14" y="2104"/>
                </a:moveTo>
                <a:lnTo>
                  <a:pt x="14" y="2117"/>
                </a:lnTo>
                <a:lnTo>
                  <a:pt x="0" y="2117"/>
                </a:lnTo>
                <a:lnTo>
                  <a:pt x="0" y="2104"/>
                </a:lnTo>
                <a:lnTo>
                  <a:pt x="14" y="2104"/>
                </a:lnTo>
                <a:close/>
                <a:moveTo>
                  <a:pt x="14" y="2131"/>
                </a:moveTo>
                <a:lnTo>
                  <a:pt x="14" y="2144"/>
                </a:lnTo>
                <a:lnTo>
                  <a:pt x="0" y="2144"/>
                </a:lnTo>
                <a:lnTo>
                  <a:pt x="0" y="2131"/>
                </a:lnTo>
                <a:lnTo>
                  <a:pt x="14" y="2131"/>
                </a:lnTo>
                <a:close/>
                <a:moveTo>
                  <a:pt x="14" y="2157"/>
                </a:moveTo>
                <a:lnTo>
                  <a:pt x="14" y="2171"/>
                </a:lnTo>
                <a:lnTo>
                  <a:pt x="0" y="2171"/>
                </a:lnTo>
                <a:lnTo>
                  <a:pt x="0" y="2157"/>
                </a:lnTo>
                <a:lnTo>
                  <a:pt x="14" y="2157"/>
                </a:lnTo>
                <a:close/>
                <a:moveTo>
                  <a:pt x="14" y="2184"/>
                </a:moveTo>
                <a:lnTo>
                  <a:pt x="14" y="2197"/>
                </a:lnTo>
                <a:lnTo>
                  <a:pt x="0" y="2197"/>
                </a:lnTo>
                <a:lnTo>
                  <a:pt x="0" y="2184"/>
                </a:lnTo>
                <a:lnTo>
                  <a:pt x="14" y="2184"/>
                </a:lnTo>
                <a:close/>
                <a:moveTo>
                  <a:pt x="14" y="2211"/>
                </a:moveTo>
                <a:lnTo>
                  <a:pt x="14" y="2224"/>
                </a:lnTo>
                <a:lnTo>
                  <a:pt x="0" y="2224"/>
                </a:lnTo>
                <a:lnTo>
                  <a:pt x="0" y="2211"/>
                </a:lnTo>
                <a:lnTo>
                  <a:pt x="14" y="2211"/>
                </a:lnTo>
                <a:close/>
                <a:moveTo>
                  <a:pt x="14" y="2237"/>
                </a:moveTo>
                <a:lnTo>
                  <a:pt x="14" y="2251"/>
                </a:lnTo>
                <a:lnTo>
                  <a:pt x="0" y="2251"/>
                </a:lnTo>
                <a:lnTo>
                  <a:pt x="0" y="2237"/>
                </a:lnTo>
                <a:lnTo>
                  <a:pt x="14" y="2237"/>
                </a:lnTo>
                <a:close/>
                <a:moveTo>
                  <a:pt x="14" y="2264"/>
                </a:moveTo>
                <a:lnTo>
                  <a:pt x="14" y="2277"/>
                </a:lnTo>
                <a:lnTo>
                  <a:pt x="0" y="2277"/>
                </a:lnTo>
                <a:lnTo>
                  <a:pt x="0" y="2264"/>
                </a:lnTo>
                <a:lnTo>
                  <a:pt x="14" y="2264"/>
                </a:lnTo>
                <a:close/>
                <a:moveTo>
                  <a:pt x="14" y="2290"/>
                </a:moveTo>
                <a:lnTo>
                  <a:pt x="14" y="2304"/>
                </a:lnTo>
                <a:lnTo>
                  <a:pt x="0" y="2304"/>
                </a:lnTo>
                <a:lnTo>
                  <a:pt x="0" y="2290"/>
                </a:lnTo>
                <a:lnTo>
                  <a:pt x="14" y="2290"/>
                </a:lnTo>
                <a:close/>
                <a:moveTo>
                  <a:pt x="14" y="2317"/>
                </a:moveTo>
                <a:lnTo>
                  <a:pt x="14" y="2330"/>
                </a:lnTo>
                <a:lnTo>
                  <a:pt x="0" y="2330"/>
                </a:lnTo>
                <a:lnTo>
                  <a:pt x="0" y="2317"/>
                </a:lnTo>
                <a:lnTo>
                  <a:pt x="14" y="2317"/>
                </a:lnTo>
                <a:close/>
                <a:moveTo>
                  <a:pt x="14" y="2344"/>
                </a:moveTo>
                <a:lnTo>
                  <a:pt x="14" y="2347"/>
                </a:lnTo>
                <a:lnTo>
                  <a:pt x="0" y="2347"/>
                </a:lnTo>
                <a:lnTo>
                  <a:pt x="0" y="2344"/>
                </a:lnTo>
                <a:lnTo>
                  <a:pt x="14" y="2344"/>
                </a:lnTo>
                <a:close/>
              </a:path>
            </a:pathLst>
          </a:custGeom>
          <a:solidFill>
            <a:srgbClr val="000000"/>
          </a:solidFill>
          <a:ln w="0" cap="flat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sz="1600" dirty="0">
              <a:ea typeface="SimHei" panose="02010609060101010101" pitchFamily="49" charset="-122"/>
            </a:endParaRPr>
          </a:p>
        </p:txBody>
      </p:sp>
      <p:sp>
        <p:nvSpPr>
          <p:cNvPr id="217" name="Freeform 31">
            <a:extLst>
              <a:ext uri="{FF2B5EF4-FFF2-40B4-BE49-F238E27FC236}">
                <a16:creationId xmlns:a16="http://schemas.microsoft.com/office/drawing/2014/main" id="{C2D1202F-96EC-4F18-839E-BE0516B1D939}"/>
              </a:ext>
            </a:extLst>
          </p:cNvPr>
          <p:cNvSpPr>
            <a:spLocks noEditPoints="1"/>
          </p:cNvSpPr>
          <p:nvPr/>
        </p:nvSpPr>
        <p:spPr bwMode="auto">
          <a:xfrm>
            <a:off x="6567703" y="3160179"/>
            <a:ext cx="16782" cy="2997194"/>
          </a:xfrm>
          <a:custGeom>
            <a:avLst/>
            <a:gdLst>
              <a:gd name="T0" fmla="*/ 13 w 13"/>
              <a:gd name="T1" fmla="*/ 40 h 2347"/>
              <a:gd name="T2" fmla="*/ 0 w 13"/>
              <a:gd name="T3" fmla="*/ 53 h 2347"/>
              <a:gd name="T4" fmla="*/ 13 w 13"/>
              <a:gd name="T5" fmla="*/ 106 h 2347"/>
              <a:gd name="T6" fmla="*/ 0 w 13"/>
              <a:gd name="T7" fmla="*/ 146 h 2347"/>
              <a:gd name="T8" fmla="*/ 13 w 13"/>
              <a:gd name="T9" fmla="*/ 159 h 2347"/>
              <a:gd name="T10" fmla="*/ 13 w 13"/>
              <a:gd name="T11" fmla="*/ 226 h 2347"/>
              <a:gd name="T12" fmla="*/ 0 w 13"/>
              <a:gd name="T13" fmla="*/ 239 h 2347"/>
              <a:gd name="T14" fmla="*/ 13 w 13"/>
              <a:gd name="T15" fmla="*/ 293 h 2347"/>
              <a:gd name="T16" fmla="*/ 0 w 13"/>
              <a:gd name="T17" fmla="*/ 333 h 2347"/>
              <a:gd name="T18" fmla="*/ 13 w 13"/>
              <a:gd name="T19" fmla="*/ 346 h 2347"/>
              <a:gd name="T20" fmla="*/ 13 w 13"/>
              <a:gd name="T21" fmla="*/ 413 h 2347"/>
              <a:gd name="T22" fmla="*/ 0 w 13"/>
              <a:gd name="T23" fmla="*/ 426 h 2347"/>
              <a:gd name="T24" fmla="*/ 13 w 13"/>
              <a:gd name="T25" fmla="*/ 479 h 2347"/>
              <a:gd name="T26" fmla="*/ 0 w 13"/>
              <a:gd name="T27" fmla="*/ 519 h 2347"/>
              <a:gd name="T28" fmla="*/ 13 w 13"/>
              <a:gd name="T29" fmla="*/ 532 h 2347"/>
              <a:gd name="T30" fmla="*/ 13 w 13"/>
              <a:gd name="T31" fmla="*/ 599 h 2347"/>
              <a:gd name="T32" fmla="*/ 0 w 13"/>
              <a:gd name="T33" fmla="*/ 612 h 2347"/>
              <a:gd name="T34" fmla="*/ 13 w 13"/>
              <a:gd name="T35" fmla="*/ 666 h 2347"/>
              <a:gd name="T36" fmla="*/ 0 w 13"/>
              <a:gd name="T37" fmla="*/ 706 h 2347"/>
              <a:gd name="T38" fmla="*/ 13 w 13"/>
              <a:gd name="T39" fmla="*/ 719 h 2347"/>
              <a:gd name="T40" fmla="*/ 13 w 13"/>
              <a:gd name="T41" fmla="*/ 786 h 2347"/>
              <a:gd name="T42" fmla="*/ 0 w 13"/>
              <a:gd name="T43" fmla="*/ 799 h 2347"/>
              <a:gd name="T44" fmla="*/ 13 w 13"/>
              <a:gd name="T45" fmla="*/ 852 h 2347"/>
              <a:gd name="T46" fmla="*/ 0 w 13"/>
              <a:gd name="T47" fmla="*/ 892 h 2347"/>
              <a:gd name="T48" fmla="*/ 13 w 13"/>
              <a:gd name="T49" fmla="*/ 905 h 2347"/>
              <a:gd name="T50" fmla="*/ 13 w 13"/>
              <a:gd name="T51" fmla="*/ 972 h 2347"/>
              <a:gd name="T52" fmla="*/ 0 w 13"/>
              <a:gd name="T53" fmla="*/ 985 h 2347"/>
              <a:gd name="T54" fmla="*/ 13 w 13"/>
              <a:gd name="T55" fmla="*/ 1038 h 2347"/>
              <a:gd name="T56" fmla="*/ 0 w 13"/>
              <a:gd name="T57" fmla="*/ 1078 h 2347"/>
              <a:gd name="T58" fmla="*/ 13 w 13"/>
              <a:gd name="T59" fmla="*/ 1092 h 2347"/>
              <a:gd name="T60" fmla="*/ 13 w 13"/>
              <a:gd name="T61" fmla="*/ 1158 h 2347"/>
              <a:gd name="T62" fmla="*/ 0 w 13"/>
              <a:gd name="T63" fmla="*/ 1172 h 2347"/>
              <a:gd name="T64" fmla="*/ 13 w 13"/>
              <a:gd name="T65" fmla="*/ 1225 h 2347"/>
              <a:gd name="T66" fmla="*/ 0 w 13"/>
              <a:gd name="T67" fmla="*/ 1265 h 2347"/>
              <a:gd name="T68" fmla="*/ 13 w 13"/>
              <a:gd name="T69" fmla="*/ 1278 h 2347"/>
              <a:gd name="T70" fmla="*/ 13 w 13"/>
              <a:gd name="T71" fmla="*/ 1345 h 2347"/>
              <a:gd name="T72" fmla="*/ 0 w 13"/>
              <a:gd name="T73" fmla="*/ 1358 h 2347"/>
              <a:gd name="T74" fmla="*/ 13 w 13"/>
              <a:gd name="T75" fmla="*/ 1411 h 2347"/>
              <a:gd name="T76" fmla="*/ 0 w 13"/>
              <a:gd name="T77" fmla="*/ 1451 h 2347"/>
              <a:gd name="T78" fmla="*/ 13 w 13"/>
              <a:gd name="T79" fmla="*/ 1465 h 2347"/>
              <a:gd name="T80" fmla="*/ 13 w 13"/>
              <a:gd name="T81" fmla="*/ 1531 h 2347"/>
              <a:gd name="T82" fmla="*/ 0 w 13"/>
              <a:gd name="T83" fmla="*/ 1545 h 2347"/>
              <a:gd name="T84" fmla="*/ 13 w 13"/>
              <a:gd name="T85" fmla="*/ 1598 h 2347"/>
              <a:gd name="T86" fmla="*/ 0 w 13"/>
              <a:gd name="T87" fmla="*/ 1638 h 2347"/>
              <a:gd name="T88" fmla="*/ 13 w 13"/>
              <a:gd name="T89" fmla="*/ 1651 h 2347"/>
              <a:gd name="T90" fmla="*/ 13 w 13"/>
              <a:gd name="T91" fmla="*/ 1718 h 2347"/>
              <a:gd name="T92" fmla="*/ 0 w 13"/>
              <a:gd name="T93" fmla="*/ 1731 h 2347"/>
              <a:gd name="T94" fmla="*/ 13 w 13"/>
              <a:gd name="T95" fmla="*/ 1784 h 2347"/>
              <a:gd name="T96" fmla="*/ 0 w 13"/>
              <a:gd name="T97" fmla="*/ 1824 h 2347"/>
              <a:gd name="T98" fmla="*/ 13 w 13"/>
              <a:gd name="T99" fmla="*/ 1838 h 2347"/>
              <a:gd name="T100" fmla="*/ 13 w 13"/>
              <a:gd name="T101" fmla="*/ 1904 h 2347"/>
              <a:gd name="T102" fmla="*/ 0 w 13"/>
              <a:gd name="T103" fmla="*/ 1917 h 2347"/>
              <a:gd name="T104" fmla="*/ 13 w 13"/>
              <a:gd name="T105" fmla="*/ 1971 h 2347"/>
              <a:gd name="T106" fmla="*/ 0 w 13"/>
              <a:gd name="T107" fmla="*/ 2011 h 2347"/>
              <a:gd name="T108" fmla="*/ 13 w 13"/>
              <a:gd name="T109" fmla="*/ 2024 h 2347"/>
              <a:gd name="T110" fmla="*/ 13 w 13"/>
              <a:gd name="T111" fmla="*/ 2091 h 2347"/>
              <a:gd name="T112" fmla="*/ 0 w 13"/>
              <a:gd name="T113" fmla="*/ 2104 h 2347"/>
              <a:gd name="T114" fmla="*/ 13 w 13"/>
              <a:gd name="T115" fmla="*/ 2157 h 2347"/>
              <a:gd name="T116" fmla="*/ 0 w 13"/>
              <a:gd name="T117" fmla="*/ 2197 h 2347"/>
              <a:gd name="T118" fmla="*/ 13 w 13"/>
              <a:gd name="T119" fmla="*/ 2211 h 2347"/>
              <a:gd name="T120" fmla="*/ 13 w 13"/>
              <a:gd name="T121" fmla="*/ 2277 h 2347"/>
              <a:gd name="T122" fmla="*/ 0 w 13"/>
              <a:gd name="T123" fmla="*/ 2290 h 2347"/>
              <a:gd name="T124" fmla="*/ 13 w 13"/>
              <a:gd name="T125" fmla="*/ 2344 h 234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13" h="2347">
                <a:moveTo>
                  <a:pt x="13" y="0"/>
                </a:moveTo>
                <a:lnTo>
                  <a:pt x="13" y="13"/>
                </a:lnTo>
                <a:lnTo>
                  <a:pt x="0" y="13"/>
                </a:lnTo>
                <a:lnTo>
                  <a:pt x="0" y="0"/>
                </a:lnTo>
                <a:lnTo>
                  <a:pt x="13" y="0"/>
                </a:lnTo>
                <a:close/>
                <a:moveTo>
                  <a:pt x="13" y="26"/>
                </a:moveTo>
                <a:lnTo>
                  <a:pt x="13" y="40"/>
                </a:lnTo>
                <a:lnTo>
                  <a:pt x="0" y="40"/>
                </a:lnTo>
                <a:lnTo>
                  <a:pt x="0" y="26"/>
                </a:lnTo>
                <a:lnTo>
                  <a:pt x="13" y="26"/>
                </a:lnTo>
                <a:close/>
                <a:moveTo>
                  <a:pt x="13" y="53"/>
                </a:moveTo>
                <a:lnTo>
                  <a:pt x="13" y="66"/>
                </a:lnTo>
                <a:lnTo>
                  <a:pt x="0" y="66"/>
                </a:lnTo>
                <a:lnTo>
                  <a:pt x="0" y="53"/>
                </a:lnTo>
                <a:lnTo>
                  <a:pt x="13" y="53"/>
                </a:lnTo>
                <a:close/>
                <a:moveTo>
                  <a:pt x="13" y="80"/>
                </a:moveTo>
                <a:lnTo>
                  <a:pt x="13" y="93"/>
                </a:lnTo>
                <a:lnTo>
                  <a:pt x="0" y="93"/>
                </a:lnTo>
                <a:lnTo>
                  <a:pt x="0" y="80"/>
                </a:lnTo>
                <a:lnTo>
                  <a:pt x="13" y="80"/>
                </a:lnTo>
                <a:close/>
                <a:moveTo>
                  <a:pt x="13" y="106"/>
                </a:moveTo>
                <a:lnTo>
                  <a:pt x="13" y="119"/>
                </a:lnTo>
                <a:lnTo>
                  <a:pt x="0" y="119"/>
                </a:lnTo>
                <a:lnTo>
                  <a:pt x="0" y="106"/>
                </a:lnTo>
                <a:lnTo>
                  <a:pt x="13" y="106"/>
                </a:lnTo>
                <a:close/>
                <a:moveTo>
                  <a:pt x="13" y="133"/>
                </a:moveTo>
                <a:lnTo>
                  <a:pt x="13" y="146"/>
                </a:lnTo>
                <a:lnTo>
                  <a:pt x="0" y="146"/>
                </a:lnTo>
                <a:lnTo>
                  <a:pt x="0" y="133"/>
                </a:lnTo>
                <a:lnTo>
                  <a:pt x="13" y="133"/>
                </a:lnTo>
                <a:close/>
                <a:moveTo>
                  <a:pt x="13" y="159"/>
                </a:moveTo>
                <a:lnTo>
                  <a:pt x="13" y="173"/>
                </a:lnTo>
                <a:lnTo>
                  <a:pt x="0" y="173"/>
                </a:lnTo>
                <a:lnTo>
                  <a:pt x="0" y="159"/>
                </a:lnTo>
                <a:lnTo>
                  <a:pt x="13" y="159"/>
                </a:lnTo>
                <a:close/>
                <a:moveTo>
                  <a:pt x="13" y="186"/>
                </a:moveTo>
                <a:lnTo>
                  <a:pt x="13" y="199"/>
                </a:lnTo>
                <a:lnTo>
                  <a:pt x="0" y="199"/>
                </a:lnTo>
                <a:lnTo>
                  <a:pt x="0" y="186"/>
                </a:lnTo>
                <a:lnTo>
                  <a:pt x="13" y="186"/>
                </a:lnTo>
                <a:close/>
                <a:moveTo>
                  <a:pt x="13" y="213"/>
                </a:moveTo>
                <a:lnTo>
                  <a:pt x="13" y="226"/>
                </a:lnTo>
                <a:lnTo>
                  <a:pt x="0" y="226"/>
                </a:lnTo>
                <a:lnTo>
                  <a:pt x="0" y="213"/>
                </a:lnTo>
                <a:lnTo>
                  <a:pt x="13" y="213"/>
                </a:lnTo>
                <a:close/>
                <a:moveTo>
                  <a:pt x="13" y="239"/>
                </a:moveTo>
                <a:lnTo>
                  <a:pt x="13" y="253"/>
                </a:lnTo>
                <a:lnTo>
                  <a:pt x="0" y="253"/>
                </a:lnTo>
                <a:lnTo>
                  <a:pt x="0" y="239"/>
                </a:lnTo>
                <a:lnTo>
                  <a:pt x="13" y="239"/>
                </a:lnTo>
                <a:close/>
                <a:moveTo>
                  <a:pt x="13" y="266"/>
                </a:moveTo>
                <a:lnTo>
                  <a:pt x="13" y="279"/>
                </a:lnTo>
                <a:lnTo>
                  <a:pt x="0" y="279"/>
                </a:lnTo>
                <a:lnTo>
                  <a:pt x="0" y="266"/>
                </a:lnTo>
                <a:lnTo>
                  <a:pt x="13" y="266"/>
                </a:lnTo>
                <a:close/>
                <a:moveTo>
                  <a:pt x="13" y="293"/>
                </a:moveTo>
                <a:lnTo>
                  <a:pt x="13" y="306"/>
                </a:lnTo>
                <a:lnTo>
                  <a:pt x="0" y="306"/>
                </a:lnTo>
                <a:lnTo>
                  <a:pt x="0" y="293"/>
                </a:lnTo>
                <a:lnTo>
                  <a:pt x="13" y="293"/>
                </a:lnTo>
                <a:close/>
                <a:moveTo>
                  <a:pt x="13" y="319"/>
                </a:moveTo>
                <a:lnTo>
                  <a:pt x="13" y="333"/>
                </a:lnTo>
                <a:lnTo>
                  <a:pt x="0" y="333"/>
                </a:lnTo>
                <a:lnTo>
                  <a:pt x="0" y="319"/>
                </a:lnTo>
                <a:lnTo>
                  <a:pt x="13" y="319"/>
                </a:lnTo>
                <a:close/>
                <a:moveTo>
                  <a:pt x="13" y="346"/>
                </a:moveTo>
                <a:lnTo>
                  <a:pt x="13" y="359"/>
                </a:lnTo>
                <a:lnTo>
                  <a:pt x="0" y="359"/>
                </a:lnTo>
                <a:lnTo>
                  <a:pt x="0" y="346"/>
                </a:lnTo>
                <a:lnTo>
                  <a:pt x="13" y="346"/>
                </a:lnTo>
                <a:close/>
                <a:moveTo>
                  <a:pt x="13" y="373"/>
                </a:moveTo>
                <a:lnTo>
                  <a:pt x="13" y="386"/>
                </a:lnTo>
                <a:lnTo>
                  <a:pt x="0" y="386"/>
                </a:lnTo>
                <a:lnTo>
                  <a:pt x="0" y="373"/>
                </a:lnTo>
                <a:lnTo>
                  <a:pt x="13" y="373"/>
                </a:lnTo>
                <a:close/>
                <a:moveTo>
                  <a:pt x="13" y="399"/>
                </a:moveTo>
                <a:lnTo>
                  <a:pt x="13" y="413"/>
                </a:lnTo>
                <a:lnTo>
                  <a:pt x="0" y="413"/>
                </a:lnTo>
                <a:lnTo>
                  <a:pt x="0" y="399"/>
                </a:lnTo>
                <a:lnTo>
                  <a:pt x="13" y="399"/>
                </a:lnTo>
                <a:close/>
                <a:moveTo>
                  <a:pt x="13" y="426"/>
                </a:moveTo>
                <a:lnTo>
                  <a:pt x="13" y="439"/>
                </a:lnTo>
                <a:lnTo>
                  <a:pt x="0" y="439"/>
                </a:lnTo>
                <a:lnTo>
                  <a:pt x="0" y="426"/>
                </a:lnTo>
                <a:lnTo>
                  <a:pt x="13" y="426"/>
                </a:lnTo>
                <a:close/>
                <a:moveTo>
                  <a:pt x="13" y="453"/>
                </a:moveTo>
                <a:lnTo>
                  <a:pt x="13" y="466"/>
                </a:lnTo>
                <a:lnTo>
                  <a:pt x="0" y="466"/>
                </a:lnTo>
                <a:lnTo>
                  <a:pt x="0" y="453"/>
                </a:lnTo>
                <a:lnTo>
                  <a:pt x="13" y="453"/>
                </a:lnTo>
                <a:close/>
                <a:moveTo>
                  <a:pt x="13" y="479"/>
                </a:moveTo>
                <a:lnTo>
                  <a:pt x="13" y="493"/>
                </a:lnTo>
                <a:lnTo>
                  <a:pt x="0" y="493"/>
                </a:lnTo>
                <a:lnTo>
                  <a:pt x="0" y="479"/>
                </a:lnTo>
                <a:lnTo>
                  <a:pt x="13" y="479"/>
                </a:lnTo>
                <a:close/>
                <a:moveTo>
                  <a:pt x="13" y="506"/>
                </a:moveTo>
                <a:lnTo>
                  <a:pt x="13" y="519"/>
                </a:lnTo>
                <a:lnTo>
                  <a:pt x="0" y="519"/>
                </a:lnTo>
                <a:lnTo>
                  <a:pt x="0" y="506"/>
                </a:lnTo>
                <a:lnTo>
                  <a:pt x="13" y="506"/>
                </a:lnTo>
                <a:close/>
                <a:moveTo>
                  <a:pt x="13" y="532"/>
                </a:moveTo>
                <a:lnTo>
                  <a:pt x="13" y="546"/>
                </a:lnTo>
                <a:lnTo>
                  <a:pt x="0" y="546"/>
                </a:lnTo>
                <a:lnTo>
                  <a:pt x="0" y="532"/>
                </a:lnTo>
                <a:lnTo>
                  <a:pt x="13" y="532"/>
                </a:lnTo>
                <a:close/>
                <a:moveTo>
                  <a:pt x="13" y="559"/>
                </a:moveTo>
                <a:lnTo>
                  <a:pt x="13" y="572"/>
                </a:lnTo>
                <a:lnTo>
                  <a:pt x="0" y="572"/>
                </a:lnTo>
                <a:lnTo>
                  <a:pt x="0" y="559"/>
                </a:lnTo>
                <a:lnTo>
                  <a:pt x="13" y="559"/>
                </a:lnTo>
                <a:close/>
                <a:moveTo>
                  <a:pt x="13" y="586"/>
                </a:moveTo>
                <a:lnTo>
                  <a:pt x="13" y="599"/>
                </a:lnTo>
                <a:lnTo>
                  <a:pt x="0" y="599"/>
                </a:lnTo>
                <a:lnTo>
                  <a:pt x="0" y="586"/>
                </a:lnTo>
                <a:lnTo>
                  <a:pt x="13" y="586"/>
                </a:lnTo>
                <a:close/>
                <a:moveTo>
                  <a:pt x="13" y="612"/>
                </a:moveTo>
                <a:lnTo>
                  <a:pt x="13" y="626"/>
                </a:lnTo>
                <a:lnTo>
                  <a:pt x="0" y="626"/>
                </a:lnTo>
                <a:lnTo>
                  <a:pt x="0" y="612"/>
                </a:lnTo>
                <a:lnTo>
                  <a:pt x="13" y="612"/>
                </a:lnTo>
                <a:close/>
                <a:moveTo>
                  <a:pt x="13" y="639"/>
                </a:moveTo>
                <a:lnTo>
                  <a:pt x="13" y="652"/>
                </a:lnTo>
                <a:lnTo>
                  <a:pt x="0" y="652"/>
                </a:lnTo>
                <a:lnTo>
                  <a:pt x="0" y="639"/>
                </a:lnTo>
                <a:lnTo>
                  <a:pt x="13" y="639"/>
                </a:lnTo>
                <a:close/>
                <a:moveTo>
                  <a:pt x="13" y="666"/>
                </a:moveTo>
                <a:lnTo>
                  <a:pt x="13" y="679"/>
                </a:lnTo>
                <a:lnTo>
                  <a:pt x="0" y="679"/>
                </a:lnTo>
                <a:lnTo>
                  <a:pt x="0" y="666"/>
                </a:lnTo>
                <a:lnTo>
                  <a:pt x="13" y="666"/>
                </a:lnTo>
                <a:close/>
                <a:moveTo>
                  <a:pt x="13" y="692"/>
                </a:moveTo>
                <a:lnTo>
                  <a:pt x="13" y="706"/>
                </a:lnTo>
                <a:lnTo>
                  <a:pt x="0" y="706"/>
                </a:lnTo>
                <a:lnTo>
                  <a:pt x="0" y="692"/>
                </a:lnTo>
                <a:lnTo>
                  <a:pt x="13" y="692"/>
                </a:lnTo>
                <a:close/>
                <a:moveTo>
                  <a:pt x="13" y="719"/>
                </a:moveTo>
                <a:lnTo>
                  <a:pt x="13" y="732"/>
                </a:lnTo>
                <a:lnTo>
                  <a:pt x="0" y="732"/>
                </a:lnTo>
                <a:lnTo>
                  <a:pt x="0" y="719"/>
                </a:lnTo>
                <a:lnTo>
                  <a:pt x="13" y="719"/>
                </a:lnTo>
                <a:close/>
                <a:moveTo>
                  <a:pt x="13" y="746"/>
                </a:moveTo>
                <a:lnTo>
                  <a:pt x="13" y="759"/>
                </a:lnTo>
                <a:lnTo>
                  <a:pt x="0" y="759"/>
                </a:lnTo>
                <a:lnTo>
                  <a:pt x="0" y="746"/>
                </a:lnTo>
                <a:lnTo>
                  <a:pt x="13" y="746"/>
                </a:lnTo>
                <a:close/>
                <a:moveTo>
                  <a:pt x="13" y="772"/>
                </a:moveTo>
                <a:lnTo>
                  <a:pt x="13" y="786"/>
                </a:lnTo>
                <a:lnTo>
                  <a:pt x="0" y="786"/>
                </a:lnTo>
                <a:lnTo>
                  <a:pt x="0" y="772"/>
                </a:lnTo>
                <a:lnTo>
                  <a:pt x="13" y="772"/>
                </a:lnTo>
                <a:close/>
                <a:moveTo>
                  <a:pt x="13" y="799"/>
                </a:moveTo>
                <a:lnTo>
                  <a:pt x="13" y="812"/>
                </a:lnTo>
                <a:lnTo>
                  <a:pt x="0" y="812"/>
                </a:lnTo>
                <a:lnTo>
                  <a:pt x="0" y="799"/>
                </a:lnTo>
                <a:lnTo>
                  <a:pt x="13" y="799"/>
                </a:lnTo>
                <a:close/>
                <a:moveTo>
                  <a:pt x="13" y="826"/>
                </a:moveTo>
                <a:lnTo>
                  <a:pt x="13" y="839"/>
                </a:lnTo>
                <a:lnTo>
                  <a:pt x="0" y="839"/>
                </a:lnTo>
                <a:lnTo>
                  <a:pt x="0" y="826"/>
                </a:lnTo>
                <a:lnTo>
                  <a:pt x="13" y="826"/>
                </a:lnTo>
                <a:close/>
                <a:moveTo>
                  <a:pt x="13" y="852"/>
                </a:moveTo>
                <a:lnTo>
                  <a:pt x="13" y="866"/>
                </a:lnTo>
                <a:lnTo>
                  <a:pt x="0" y="866"/>
                </a:lnTo>
                <a:lnTo>
                  <a:pt x="0" y="852"/>
                </a:lnTo>
                <a:lnTo>
                  <a:pt x="13" y="852"/>
                </a:lnTo>
                <a:close/>
                <a:moveTo>
                  <a:pt x="13" y="879"/>
                </a:moveTo>
                <a:lnTo>
                  <a:pt x="13" y="892"/>
                </a:lnTo>
                <a:lnTo>
                  <a:pt x="0" y="892"/>
                </a:lnTo>
                <a:lnTo>
                  <a:pt x="0" y="879"/>
                </a:lnTo>
                <a:lnTo>
                  <a:pt x="13" y="879"/>
                </a:lnTo>
                <a:close/>
                <a:moveTo>
                  <a:pt x="13" y="905"/>
                </a:moveTo>
                <a:lnTo>
                  <a:pt x="13" y="919"/>
                </a:lnTo>
                <a:lnTo>
                  <a:pt x="0" y="919"/>
                </a:lnTo>
                <a:lnTo>
                  <a:pt x="0" y="905"/>
                </a:lnTo>
                <a:lnTo>
                  <a:pt x="13" y="905"/>
                </a:lnTo>
                <a:close/>
                <a:moveTo>
                  <a:pt x="13" y="932"/>
                </a:moveTo>
                <a:lnTo>
                  <a:pt x="13" y="945"/>
                </a:lnTo>
                <a:lnTo>
                  <a:pt x="0" y="945"/>
                </a:lnTo>
                <a:lnTo>
                  <a:pt x="0" y="932"/>
                </a:lnTo>
                <a:lnTo>
                  <a:pt x="13" y="932"/>
                </a:lnTo>
                <a:close/>
                <a:moveTo>
                  <a:pt x="13" y="959"/>
                </a:moveTo>
                <a:lnTo>
                  <a:pt x="13" y="972"/>
                </a:lnTo>
                <a:lnTo>
                  <a:pt x="0" y="972"/>
                </a:lnTo>
                <a:lnTo>
                  <a:pt x="0" y="959"/>
                </a:lnTo>
                <a:lnTo>
                  <a:pt x="13" y="959"/>
                </a:lnTo>
                <a:close/>
                <a:moveTo>
                  <a:pt x="13" y="985"/>
                </a:moveTo>
                <a:lnTo>
                  <a:pt x="13" y="998"/>
                </a:lnTo>
                <a:lnTo>
                  <a:pt x="0" y="998"/>
                </a:lnTo>
                <a:lnTo>
                  <a:pt x="0" y="985"/>
                </a:lnTo>
                <a:lnTo>
                  <a:pt x="13" y="985"/>
                </a:lnTo>
                <a:close/>
                <a:moveTo>
                  <a:pt x="13" y="1012"/>
                </a:moveTo>
                <a:lnTo>
                  <a:pt x="13" y="1025"/>
                </a:lnTo>
                <a:lnTo>
                  <a:pt x="0" y="1025"/>
                </a:lnTo>
                <a:lnTo>
                  <a:pt x="0" y="1012"/>
                </a:lnTo>
                <a:lnTo>
                  <a:pt x="13" y="1012"/>
                </a:lnTo>
                <a:close/>
                <a:moveTo>
                  <a:pt x="13" y="1038"/>
                </a:moveTo>
                <a:lnTo>
                  <a:pt x="13" y="1052"/>
                </a:lnTo>
                <a:lnTo>
                  <a:pt x="0" y="1052"/>
                </a:lnTo>
                <a:lnTo>
                  <a:pt x="0" y="1038"/>
                </a:lnTo>
                <a:lnTo>
                  <a:pt x="13" y="1038"/>
                </a:lnTo>
                <a:close/>
                <a:moveTo>
                  <a:pt x="13" y="1065"/>
                </a:moveTo>
                <a:lnTo>
                  <a:pt x="13" y="1078"/>
                </a:lnTo>
                <a:lnTo>
                  <a:pt x="0" y="1078"/>
                </a:lnTo>
                <a:lnTo>
                  <a:pt x="0" y="1065"/>
                </a:lnTo>
                <a:lnTo>
                  <a:pt x="13" y="1065"/>
                </a:lnTo>
                <a:close/>
                <a:moveTo>
                  <a:pt x="13" y="1092"/>
                </a:moveTo>
                <a:lnTo>
                  <a:pt x="13" y="1105"/>
                </a:lnTo>
                <a:lnTo>
                  <a:pt x="0" y="1105"/>
                </a:lnTo>
                <a:lnTo>
                  <a:pt x="0" y="1092"/>
                </a:lnTo>
                <a:lnTo>
                  <a:pt x="13" y="1092"/>
                </a:lnTo>
                <a:close/>
                <a:moveTo>
                  <a:pt x="13" y="1118"/>
                </a:moveTo>
                <a:lnTo>
                  <a:pt x="13" y="1132"/>
                </a:lnTo>
                <a:lnTo>
                  <a:pt x="0" y="1132"/>
                </a:lnTo>
                <a:lnTo>
                  <a:pt x="0" y="1118"/>
                </a:lnTo>
                <a:lnTo>
                  <a:pt x="13" y="1118"/>
                </a:lnTo>
                <a:close/>
                <a:moveTo>
                  <a:pt x="13" y="1145"/>
                </a:moveTo>
                <a:lnTo>
                  <a:pt x="13" y="1158"/>
                </a:lnTo>
                <a:lnTo>
                  <a:pt x="0" y="1158"/>
                </a:lnTo>
                <a:lnTo>
                  <a:pt x="0" y="1145"/>
                </a:lnTo>
                <a:lnTo>
                  <a:pt x="13" y="1145"/>
                </a:lnTo>
                <a:close/>
                <a:moveTo>
                  <a:pt x="13" y="1172"/>
                </a:moveTo>
                <a:lnTo>
                  <a:pt x="13" y="1185"/>
                </a:lnTo>
                <a:lnTo>
                  <a:pt x="0" y="1185"/>
                </a:lnTo>
                <a:lnTo>
                  <a:pt x="0" y="1172"/>
                </a:lnTo>
                <a:lnTo>
                  <a:pt x="13" y="1172"/>
                </a:lnTo>
                <a:close/>
                <a:moveTo>
                  <a:pt x="13" y="1198"/>
                </a:moveTo>
                <a:lnTo>
                  <a:pt x="13" y="1212"/>
                </a:lnTo>
                <a:lnTo>
                  <a:pt x="0" y="1212"/>
                </a:lnTo>
                <a:lnTo>
                  <a:pt x="0" y="1198"/>
                </a:lnTo>
                <a:lnTo>
                  <a:pt x="13" y="1198"/>
                </a:lnTo>
                <a:close/>
                <a:moveTo>
                  <a:pt x="13" y="1225"/>
                </a:moveTo>
                <a:lnTo>
                  <a:pt x="13" y="1238"/>
                </a:lnTo>
                <a:lnTo>
                  <a:pt x="0" y="1238"/>
                </a:lnTo>
                <a:lnTo>
                  <a:pt x="0" y="1225"/>
                </a:lnTo>
                <a:lnTo>
                  <a:pt x="13" y="1225"/>
                </a:lnTo>
                <a:close/>
                <a:moveTo>
                  <a:pt x="13" y="1252"/>
                </a:moveTo>
                <a:lnTo>
                  <a:pt x="13" y="1265"/>
                </a:lnTo>
                <a:lnTo>
                  <a:pt x="0" y="1265"/>
                </a:lnTo>
                <a:lnTo>
                  <a:pt x="0" y="1252"/>
                </a:lnTo>
                <a:lnTo>
                  <a:pt x="13" y="1252"/>
                </a:lnTo>
                <a:close/>
                <a:moveTo>
                  <a:pt x="13" y="1278"/>
                </a:moveTo>
                <a:lnTo>
                  <a:pt x="13" y="1292"/>
                </a:lnTo>
                <a:lnTo>
                  <a:pt x="0" y="1292"/>
                </a:lnTo>
                <a:lnTo>
                  <a:pt x="0" y="1278"/>
                </a:lnTo>
                <a:lnTo>
                  <a:pt x="13" y="1278"/>
                </a:lnTo>
                <a:close/>
                <a:moveTo>
                  <a:pt x="13" y="1305"/>
                </a:moveTo>
                <a:lnTo>
                  <a:pt x="13" y="1318"/>
                </a:lnTo>
                <a:lnTo>
                  <a:pt x="0" y="1318"/>
                </a:lnTo>
                <a:lnTo>
                  <a:pt x="0" y="1305"/>
                </a:lnTo>
                <a:lnTo>
                  <a:pt x="13" y="1305"/>
                </a:lnTo>
                <a:close/>
                <a:moveTo>
                  <a:pt x="13" y="1332"/>
                </a:moveTo>
                <a:lnTo>
                  <a:pt x="13" y="1345"/>
                </a:lnTo>
                <a:lnTo>
                  <a:pt x="0" y="1345"/>
                </a:lnTo>
                <a:lnTo>
                  <a:pt x="0" y="1332"/>
                </a:lnTo>
                <a:lnTo>
                  <a:pt x="13" y="1332"/>
                </a:lnTo>
                <a:close/>
                <a:moveTo>
                  <a:pt x="13" y="1358"/>
                </a:moveTo>
                <a:lnTo>
                  <a:pt x="13" y="1372"/>
                </a:lnTo>
                <a:lnTo>
                  <a:pt x="0" y="1372"/>
                </a:lnTo>
                <a:lnTo>
                  <a:pt x="0" y="1358"/>
                </a:lnTo>
                <a:lnTo>
                  <a:pt x="13" y="1358"/>
                </a:lnTo>
                <a:close/>
                <a:moveTo>
                  <a:pt x="13" y="1385"/>
                </a:moveTo>
                <a:lnTo>
                  <a:pt x="13" y="1398"/>
                </a:lnTo>
                <a:lnTo>
                  <a:pt x="0" y="1398"/>
                </a:lnTo>
                <a:lnTo>
                  <a:pt x="0" y="1385"/>
                </a:lnTo>
                <a:lnTo>
                  <a:pt x="13" y="1385"/>
                </a:lnTo>
                <a:close/>
                <a:moveTo>
                  <a:pt x="13" y="1411"/>
                </a:moveTo>
                <a:lnTo>
                  <a:pt x="13" y="1425"/>
                </a:lnTo>
                <a:lnTo>
                  <a:pt x="0" y="1425"/>
                </a:lnTo>
                <a:lnTo>
                  <a:pt x="0" y="1411"/>
                </a:lnTo>
                <a:lnTo>
                  <a:pt x="13" y="1411"/>
                </a:lnTo>
                <a:close/>
                <a:moveTo>
                  <a:pt x="13" y="1438"/>
                </a:moveTo>
                <a:lnTo>
                  <a:pt x="13" y="1451"/>
                </a:lnTo>
                <a:lnTo>
                  <a:pt x="0" y="1451"/>
                </a:lnTo>
                <a:lnTo>
                  <a:pt x="0" y="1438"/>
                </a:lnTo>
                <a:lnTo>
                  <a:pt x="13" y="1438"/>
                </a:lnTo>
                <a:close/>
                <a:moveTo>
                  <a:pt x="13" y="1465"/>
                </a:moveTo>
                <a:lnTo>
                  <a:pt x="13" y="1478"/>
                </a:lnTo>
                <a:lnTo>
                  <a:pt x="0" y="1478"/>
                </a:lnTo>
                <a:lnTo>
                  <a:pt x="0" y="1465"/>
                </a:lnTo>
                <a:lnTo>
                  <a:pt x="13" y="1465"/>
                </a:lnTo>
                <a:close/>
                <a:moveTo>
                  <a:pt x="13" y="1491"/>
                </a:moveTo>
                <a:lnTo>
                  <a:pt x="13" y="1505"/>
                </a:lnTo>
                <a:lnTo>
                  <a:pt x="0" y="1505"/>
                </a:lnTo>
                <a:lnTo>
                  <a:pt x="0" y="1491"/>
                </a:lnTo>
                <a:lnTo>
                  <a:pt x="13" y="1491"/>
                </a:lnTo>
                <a:close/>
                <a:moveTo>
                  <a:pt x="13" y="1518"/>
                </a:moveTo>
                <a:lnTo>
                  <a:pt x="13" y="1531"/>
                </a:lnTo>
                <a:lnTo>
                  <a:pt x="0" y="1531"/>
                </a:lnTo>
                <a:lnTo>
                  <a:pt x="0" y="1518"/>
                </a:lnTo>
                <a:lnTo>
                  <a:pt x="13" y="1518"/>
                </a:lnTo>
                <a:close/>
                <a:moveTo>
                  <a:pt x="13" y="1545"/>
                </a:moveTo>
                <a:lnTo>
                  <a:pt x="13" y="1558"/>
                </a:lnTo>
                <a:lnTo>
                  <a:pt x="0" y="1558"/>
                </a:lnTo>
                <a:lnTo>
                  <a:pt x="0" y="1545"/>
                </a:lnTo>
                <a:lnTo>
                  <a:pt x="13" y="1545"/>
                </a:lnTo>
                <a:close/>
                <a:moveTo>
                  <a:pt x="13" y="1571"/>
                </a:moveTo>
                <a:lnTo>
                  <a:pt x="13" y="1585"/>
                </a:lnTo>
                <a:lnTo>
                  <a:pt x="0" y="1585"/>
                </a:lnTo>
                <a:lnTo>
                  <a:pt x="0" y="1571"/>
                </a:lnTo>
                <a:lnTo>
                  <a:pt x="13" y="1571"/>
                </a:lnTo>
                <a:close/>
                <a:moveTo>
                  <a:pt x="13" y="1598"/>
                </a:moveTo>
                <a:lnTo>
                  <a:pt x="13" y="1611"/>
                </a:lnTo>
                <a:lnTo>
                  <a:pt x="0" y="1611"/>
                </a:lnTo>
                <a:lnTo>
                  <a:pt x="0" y="1598"/>
                </a:lnTo>
                <a:lnTo>
                  <a:pt x="13" y="1598"/>
                </a:lnTo>
                <a:close/>
                <a:moveTo>
                  <a:pt x="13" y="1625"/>
                </a:moveTo>
                <a:lnTo>
                  <a:pt x="13" y="1638"/>
                </a:lnTo>
                <a:lnTo>
                  <a:pt x="0" y="1638"/>
                </a:lnTo>
                <a:lnTo>
                  <a:pt x="0" y="1625"/>
                </a:lnTo>
                <a:lnTo>
                  <a:pt x="13" y="1625"/>
                </a:lnTo>
                <a:close/>
                <a:moveTo>
                  <a:pt x="13" y="1651"/>
                </a:moveTo>
                <a:lnTo>
                  <a:pt x="13" y="1665"/>
                </a:lnTo>
                <a:lnTo>
                  <a:pt x="0" y="1665"/>
                </a:lnTo>
                <a:lnTo>
                  <a:pt x="0" y="1651"/>
                </a:lnTo>
                <a:lnTo>
                  <a:pt x="13" y="1651"/>
                </a:lnTo>
                <a:close/>
                <a:moveTo>
                  <a:pt x="13" y="1678"/>
                </a:moveTo>
                <a:lnTo>
                  <a:pt x="13" y="1691"/>
                </a:lnTo>
                <a:lnTo>
                  <a:pt x="0" y="1691"/>
                </a:lnTo>
                <a:lnTo>
                  <a:pt x="0" y="1678"/>
                </a:lnTo>
                <a:lnTo>
                  <a:pt x="13" y="1678"/>
                </a:lnTo>
                <a:close/>
                <a:moveTo>
                  <a:pt x="13" y="1705"/>
                </a:moveTo>
                <a:lnTo>
                  <a:pt x="13" y="1718"/>
                </a:lnTo>
                <a:lnTo>
                  <a:pt x="0" y="1718"/>
                </a:lnTo>
                <a:lnTo>
                  <a:pt x="0" y="1705"/>
                </a:lnTo>
                <a:lnTo>
                  <a:pt x="13" y="1705"/>
                </a:lnTo>
                <a:close/>
                <a:moveTo>
                  <a:pt x="13" y="1731"/>
                </a:moveTo>
                <a:lnTo>
                  <a:pt x="13" y="1745"/>
                </a:lnTo>
                <a:lnTo>
                  <a:pt x="0" y="1745"/>
                </a:lnTo>
                <a:lnTo>
                  <a:pt x="0" y="1731"/>
                </a:lnTo>
                <a:lnTo>
                  <a:pt x="13" y="1731"/>
                </a:lnTo>
                <a:close/>
                <a:moveTo>
                  <a:pt x="13" y="1758"/>
                </a:moveTo>
                <a:lnTo>
                  <a:pt x="13" y="1771"/>
                </a:lnTo>
                <a:lnTo>
                  <a:pt x="0" y="1771"/>
                </a:lnTo>
                <a:lnTo>
                  <a:pt x="0" y="1758"/>
                </a:lnTo>
                <a:lnTo>
                  <a:pt x="13" y="1758"/>
                </a:lnTo>
                <a:close/>
                <a:moveTo>
                  <a:pt x="13" y="1784"/>
                </a:moveTo>
                <a:lnTo>
                  <a:pt x="13" y="1798"/>
                </a:lnTo>
                <a:lnTo>
                  <a:pt x="0" y="1798"/>
                </a:lnTo>
                <a:lnTo>
                  <a:pt x="0" y="1784"/>
                </a:lnTo>
                <a:lnTo>
                  <a:pt x="13" y="1784"/>
                </a:lnTo>
                <a:close/>
                <a:moveTo>
                  <a:pt x="13" y="1811"/>
                </a:moveTo>
                <a:lnTo>
                  <a:pt x="13" y="1824"/>
                </a:lnTo>
                <a:lnTo>
                  <a:pt x="0" y="1824"/>
                </a:lnTo>
                <a:lnTo>
                  <a:pt x="0" y="1811"/>
                </a:lnTo>
                <a:lnTo>
                  <a:pt x="13" y="1811"/>
                </a:lnTo>
                <a:close/>
                <a:moveTo>
                  <a:pt x="13" y="1838"/>
                </a:moveTo>
                <a:lnTo>
                  <a:pt x="13" y="1851"/>
                </a:lnTo>
                <a:lnTo>
                  <a:pt x="0" y="1851"/>
                </a:lnTo>
                <a:lnTo>
                  <a:pt x="0" y="1838"/>
                </a:lnTo>
                <a:lnTo>
                  <a:pt x="13" y="1838"/>
                </a:lnTo>
                <a:close/>
                <a:moveTo>
                  <a:pt x="13" y="1864"/>
                </a:moveTo>
                <a:lnTo>
                  <a:pt x="13" y="1877"/>
                </a:lnTo>
                <a:lnTo>
                  <a:pt x="0" y="1877"/>
                </a:lnTo>
                <a:lnTo>
                  <a:pt x="0" y="1864"/>
                </a:lnTo>
                <a:lnTo>
                  <a:pt x="13" y="1864"/>
                </a:lnTo>
                <a:close/>
                <a:moveTo>
                  <a:pt x="13" y="1891"/>
                </a:moveTo>
                <a:lnTo>
                  <a:pt x="13" y="1904"/>
                </a:lnTo>
                <a:lnTo>
                  <a:pt x="0" y="1904"/>
                </a:lnTo>
                <a:lnTo>
                  <a:pt x="0" y="1891"/>
                </a:lnTo>
                <a:lnTo>
                  <a:pt x="13" y="1891"/>
                </a:lnTo>
                <a:close/>
                <a:moveTo>
                  <a:pt x="13" y="1917"/>
                </a:moveTo>
                <a:lnTo>
                  <a:pt x="13" y="1931"/>
                </a:lnTo>
                <a:lnTo>
                  <a:pt x="0" y="1931"/>
                </a:lnTo>
                <a:lnTo>
                  <a:pt x="0" y="1917"/>
                </a:lnTo>
                <a:lnTo>
                  <a:pt x="13" y="1917"/>
                </a:lnTo>
                <a:close/>
                <a:moveTo>
                  <a:pt x="13" y="1944"/>
                </a:moveTo>
                <a:lnTo>
                  <a:pt x="13" y="1957"/>
                </a:lnTo>
                <a:lnTo>
                  <a:pt x="0" y="1957"/>
                </a:lnTo>
                <a:lnTo>
                  <a:pt x="0" y="1944"/>
                </a:lnTo>
                <a:lnTo>
                  <a:pt x="13" y="1944"/>
                </a:lnTo>
                <a:close/>
                <a:moveTo>
                  <a:pt x="13" y="1971"/>
                </a:moveTo>
                <a:lnTo>
                  <a:pt x="13" y="1984"/>
                </a:lnTo>
                <a:lnTo>
                  <a:pt x="0" y="1984"/>
                </a:lnTo>
                <a:lnTo>
                  <a:pt x="0" y="1971"/>
                </a:lnTo>
                <a:lnTo>
                  <a:pt x="13" y="1971"/>
                </a:lnTo>
                <a:close/>
                <a:moveTo>
                  <a:pt x="13" y="1997"/>
                </a:moveTo>
                <a:lnTo>
                  <a:pt x="13" y="2011"/>
                </a:lnTo>
                <a:lnTo>
                  <a:pt x="0" y="2011"/>
                </a:lnTo>
                <a:lnTo>
                  <a:pt x="0" y="1997"/>
                </a:lnTo>
                <a:lnTo>
                  <a:pt x="13" y="1997"/>
                </a:lnTo>
                <a:close/>
                <a:moveTo>
                  <a:pt x="13" y="2024"/>
                </a:moveTo>
                <a:lnTo>
                  <a:pt x="13" y="2037"/>
                </a:lnTo>
                <a:lnTo>
                  <a:pt x="0" y="2037"/>
                </a:lnTo>
                <a:lnTo>
                  <a:pt x="0" y="2024"/>
                </a:lnTo>
                <a:lnTo>
                  <a:pt x="13" y="2024"/>
                </a:lnTo>
                <a:close/>
                <a:moveTo>
                  <a:pt x="13" y="2051"/>
                </a:moveTo>
                <a:lnTo>
                  <a:pt x="13" y="2064"/>
                </a:lnTo>
                <a:lnTo>
                  <a:pt x="0" y="2064"/>
                </a:lnTo>
                <a:lnTo>
                  <a:pt x="0" y="2051"/>
                </a:lnTo>
                <a:lnTo>
                  <a:pt x="13" y="2051"/>
                </a:lnTo>
                <a:close/>
                <a:moveTo>
                  <a:pt x="13" y="2077"/>
                </a:moveTo>
                <a:lnTo>
                  <a:pt x="13" y="2091"/>
                </a:lnTo>
                <a:lnTo>
                  <a:pt x="0" y="2091"/>
                </a:lnTo>
                <a:lnTo>
                  <a:pt x="0" y="2077"/>
                </a:lnTo>
                <a:lnTo>
                  <a:pt x="13" y="2077"/>
                </a:lnTo>
                <a:close/>
                <a:moveTo>
                  <a:pt x="13" y="2104"/>
                </a:moveTo>
                <a:lnTo>
                  <a:pt x="13" y="2117"/>
                </a:lnTo>
                <a:lnTo>
                  <a:pt x="0" y="2117"/>
                </a:lnTo>
                <a:lnTo>
                  <a:pt x="0" y="2104"/>
                </a:lnTo>
                <a:lnTo>
                  <a:pt x="13" y="2104"/>
                </a:lnTo>
                <a:close/>
                <a:moveTo>
                  <a:pt x="13" y="2131"/>
                </a:moveTo>
                <a:lnTo>
                  <a:pt x="13" y="2144"/>
                </a:lnTo>
                <a:lnTo>
                  <a:pt x="0" y="2144"/>
                </a:lnTo>
                <a:lnTo>
                  <a:pt x="0" y="2131"/>
                </a:lnTo>
                <a:lnTo>
                  <a:pt x="13" y="2131"/>
                </a:lnTo>
                <a:close/>
                <a:moveTo>
                  <a:pt x="13" y="2157"/>
                </a:moveTo>
                <a:lnTo>
                  <a:pt x="13" y="2171"/>
                </a:lnTo>
                <a:lnTo>
                  <a:pt x="0" y="2171"/>
                </a:lnTo>
                <a:lnTo>
                  <a:pt x="0" y="2157"/>
                </a:lnTo>
                <a:lnTo>
                  <a:pt x="13" y="2157"/>
                </a:lnTo>
                <a:close/>
                <a:moveTo>
                  <a:pt x="13" y="2184"/>
                </a:moveTo>
                <a:lnTo>
                  <a:pt x="13" y="2197"/>
                </a:lnTo>
                <a:lnTo>
                  <a:pt x="0" y="2197"/>
                </a:lnTo>
                <a:lnTo>
                  <a:pt x="0" y="2184"/>
                </a:lnTo>
                <a:lnTo>
                  <a:pt x="13" y="2184"/>
                </a:lnTo>
                <a:close/>
                <a:moveTo>
                  <a:pt x="13" y="2211"/>
                </a:moveTo>
                <a:lnTo>
                  <a:pt x="13" y="2224"/>
                </a:lnTo>
                <a:lnTo>
                  <a:pt x="0" y="2224"/>
                </a:lnTo>
                <a:lnTo>
                  <a:pt x="0" y="2211"/>
                </a:lnTo>
                <a:lnTo>
                  <a:pt x="13" y="2211"/>
                </a:lnTo>
                <a:close/>
                <a:moveTo>
                  <a:pt x="13" y="2237"/>
                </a:moveTo>
                <a:lnTo>
                  <a:pt x="13" y="2251"/>
                </a:lnTo>
                <a:lnTo>
                  <a:pt x="0" y="2251"/>
                </a:lnTo>
                <a:lnTo>
                  <a:pt x="0" y="2237"/>
                </a:lnTo>
                <a:lnTo>
                  <a:pt x="13" y="2237"/>
                </a:lnTo>
                <a:close/>
                <a:moveTo>
                  <a:pt x="13" y="2264"/>
                </a:moveTo>
                <a:lnTo>
                  <a:pt x="13" y="2277"/>
                </a:lnTo>
                <a:lnTo>
                  <a:pt x="0" y="2277"/>
                </a:lnTo>
                <a:lnTo>
                  <a:pt x="0" y="2264"/>
                </a:lnTo>
                <a:lnTo>
                  <a:pt x="13" y="2264"/>
                </a:lnTo>
                <a:close/>
                <a:moveTo>
                  <a:pt x="13" y="2290"/>
                </a:moveTo>
                <a:lnTo>
                  <a:pt x="13" y="2304"/>
                </a:lnTo>
                <a:lnTo>
                  <a:pt x="0" y="2304"/>
                </a:lnTo>
                <a:lnTo>
                  <a:pt x="0" y="2290"/>
                </a:lnTo>
                <a:lnTo>
                  <a:pt x="13" y="2290"/>
                </a:lnTo>
                <a:close/>
                <a:moveTo>
                  <a:pt x="13" y="2317"/>
                </a:moveTo>
                <a:lnTo>
                  <a:pt x="13" y="2330"/>
                </a:lnTo>
                <a:lnTo>
                  <a:pt x="0" y="2330"/>
                </a:lnTo>
                <a:lnTo>
                  <a:pt x="0" y="2317"/>
                </a:lnTo>
                <a:lnTo>
                  <a:pt x="13" y="2317"/>
                </a:lnTo>
                <a:close/>
                <a:moveTo>
                  <a:pt x="13" y="2344"/>
                </a:moveTo>
                <a:lnTo>
                  <a:pt x="13" y="2347"/>
                </a:lnTo>
                <a:lnTo>
                  <a:pt x="0" y="2347"/>
                </a:lnTo>
                <a:lnTo>
                  <a:pt x="0" y="2344"/>
                </a:lnTo>
                <a:lnTo>
                  <a:pt x="13" y="2344"/>
                </a:lnTo>
                <a:close/>
              </a:path>
            </a:pathLst>
          </a:custGeom>
          <a:solidFill>
            <a:srgbClr val="000000"/>
          </a:solidFill>
          <a:ln w="0" cap="flat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sz="1600" dirty="0">
              <a:ea typeface="SimHei" panose="02010609060101010101" pitchFamily="49" charset="-122"/>
            </a:endParaRPr>
          </a:p>
        </p:txBody>
      </p:sp>
      <p:sp>
        <p:nvSpPr>
          <p:cNvPr id="218" name="Freeform 32">
            <a:extLst>
              <a:ext uri="{FF2B5EF4-FFF2-40B4-BE49-F238E27FC236}">
                <a16:creationId xmlns:a16="http://schemas.microsoft.com/office/drawing/2014/main" id="{54A1270F-292C-4C02-9EFF-C890A397A114}"/>
              </a:ext>
            </a:extLst>
          </p:cNvPr>
          <p:cNvSpPr>
            <a:spLocks noEditPoints="1"/>
          </p:cNvSpPr>
          <p:nvPr/>
        </p:nvSpPr>
        <p:spPr bwMode="auto">
          <a:xfrm>
            <a:off x="7032451" y="3160179"/>
            <a:ext cx="16782" cy="2997194"/>
          </a:xfrm>
          <a:custGeom>
            <a:avLst/>
            <a:gdLst>
              <a:gd name="T0" fmla="*/ 13 w 13"/>
              <a:gd name="T1" fmla="*/ 40 h 2347"/>
              <a:gd name="T2" fmla="*/ 0 w 13"/>
              <a:gd name="T3" fmla="*/ 53 h 2347"/>
              <a:gd name="T4" fmla="*/ 13 w 13"/>
              <a:gd name="T5" fmla="*/ 106 h 2347"/>
              <a:gd name="T6" fmla="*/ 0 w 13"/>
              <a:gd name="T7" fmla="*/ 146 h 2347"/>
              <a:gd name="T8" fmla="*/ 13 w 13"/>
              <a:gd name="T9" fmla="*/ 159 h 2347"/>
              <a:gd name="T10" fmla="*/ 13 w 13"/>
              <a:gd name="T11" fmla="*/ 226 h 2347"/>
              <a:gd name="T12" fmla="*/ 0 w 13"/>
              <a:gd name="T13" fmla="*/ 239 h 2347"/>
              <a:gd name="T14" fmla="*/ 13 w 13"/>
              <a:gd name="T15" fmla="*/ 293 h 2347"/>
              <a:gd name="T16" fmla="*/ 0 w 13"/>
              <a:gd name="T17" fmla="*/ 333 h 2347"/>
              <a:gd name="T18" fmla="*/ 13 w 13"/>
              <a:gd name="T19" fmla="*/ 346 h 2347"/>
              <a:gd name="T20" fmla="*/ 13 w 13"/>
              <a:gd name="T21" fmla="*/ 413 h 2347"/>
              <a:gd name="T22" fmla="*/ 0 w 13"/>
              <a:gd name="T23" fmla="*/ 426 h 2347"/>
              <a:gd name="T24" fmla="*/ 13 w 13"/>
              <a:gd name="T25" fmla="*/ 479 h 2347"/>
              <a:gd name="T26" fmla="*/ 0 w 13"/>
              <a:gd name="T27" fmla="*/ 519 h 2347"/>
              <a:gd name="T28" fmla="*/ 13 w 13"/>
              <a:gd name="T29" fmla="*/ 532 h 2347"/>
              <a:gd name="T30" fmla="*/ 13 w 13"/>
              <a:gd name="T31" fmla="*/ 599 h 2347"/>
              <a:gd name="T32" fmla="*/ 0 w 13"/>
              <a:gd name="T33" fmla="*/ 612 h 2347"/>
              <a:gd name="T34" fmla="*/ 13 w 13"/>
              <a:gd name="T35" fmla="*/ 666 h 2347"/>
              <a:gd name="T36" fmla="*/ 0 w 13"/>
              <a:gd name="T37" fmla="*/ 706 h 2347"/>
              <a:gd name="T38" fmla="*/ 13 w 13"/>
              <a:gd name="T39" fmla="*/ 719 h 2347"/>
              <a:gd name="T40" fmla="*/ 13 w 13"/>
              <a:gd name="T41" fmla="*/ 786 h 2347"/>
              <a:gd name="T42" fmla="*/ 0 w 13"/>
              <a:gd name="T43" fmla="*/ 799 h 2347"/>
              <a:gd name="T44" fmla="*/ 13 w 13"/>
              <a:gd name="T45" fmla="*/ 852 h 2347"/>
              <a:gd name="T46" fmla="*/ 0 w 13"/>
              <a:gd name="T47" fmla="*/ 892 h 2347"/>
              <a:gd name="T48" fmla="*/ 13 w 13"/>
              <a:gd name="T49" fmla="*/ 905 h 2347"/>
              <a:gd name="T50" fmla="*/ 13 w 13"/>
              <a:gd name="T51" fmla="*/ 972 h 2347"/>
              <a:gd name="T52" fmla="*/ 0 w 13"/>
              <a:gd name="T53" fmla="*/ 985 h 2347"/>
              <a:gd name="T54" fmla="*/ 13 w 13"/>
              <a:gd name="T55" fmla="*/ 1038 h 2347"/>
              <a:gd name="T56" fmla="*/ 0 w 13"/>
              <a:gd name="T57" fmla="*/ 1078 h 2347"/>
              <a:gd name="T58" fmla="*/ 13 w 13"/>
              <a:gd name="T59" fmla="*/ 1092 h 2347"/>
              <a:gd name="T60" fmla="*/ 13 w 13"/>
              <a:gd name="T61" fmla="*/ 1158 h 2347"/>
              <a:gd name="T62" fmla="*/ 0 w 13"/>
              <a:gd name="T63" fmla="*/ 1172 h 2347"/>
              <a:gd name="T64" fmla="*/ 13 w 13"/>
              <a:gd name="T65" fmla="*/ 1225 h 2347"/>
              <a:gd name="T66" fmla="*/ 0 w 13"/>
              <a:gd name="T67" fmla="*/ 1265 h 2347"/>
              <a:gd name="T68" fmla="*/ 13 w 13"/>
              <a:gd name="T69" fmla="*/ 1278 h 2347"/>
              <a:gd name="T70" fmla="*/ 13 w 13"/>
              <a:gd name="T71" fmla="*/ 1345 h 2347"/>
              <a:gd name="T72" fmla="*/ 0 w 13"/>
              <a:gd name="T73" fmla="*/ 1358 h 2347"/>
              <a:gd name="T74" fmla="*/ 13 w 13"/>
              <a:gd name="T75" fmla="*/ 1411 h 2347"/>
              <a:gd name="T76" fmla="*/ 0 w 13"/>
              <a:gd name="T77" fmla="*/ 1451 h 2347"/>
              <a:gd name="T78" fmla="*/ 13 w 13"/>
              <a:gd name="T79" fmla="*/ 1465 h 2347"/>
              <a:gd name="T80" fmla="*/ 13 w 13"/>
              <a:gd name="T81" fmla="*/ 1531 h 2347"/>
              <a:gd name="T82" fmla="*/ 0 w 13"/>
              <a:gd name="T83" fmla="*/ 1545 h 2347"/>
              <a:gd name="T84" fmla="*/ 13 w 13"/>
              <a:gd name="T85" fmla="*/ 1598 h 2347"/>
              <a:gd name="T86" fmla="*/ 0 w 13"/>
              <a:gd name="T87" fmla="*/ 1638 h 2347"/>
              <a:gd name="T88" fmla="*/ 13 w 13"/>
              <a:gd name="T89" fmla="*/ 1651 h 2347"/>
              <a:gd name="T90" fmla="*/ 13 w 13"/>
              <a:gd name="T91" fmla="*/ 1718 h 2347"/>
              <a:gd name="T92" fmla="*/ 0 w 13"/>
              <a:gd name="T93" fmla="*/ 1731 h 2347"/>
              <a:gd name="T94" fmla="*/ 13 w 13"/>
              <a:gd name="T95" fmla="*/ 1784 h 2347"/>
              <a:gd name="T96" fmla="*/ 0 w 13"/>
              <a:gd name="T97" fmla="*/ 1824 h 2347"/>
              <a:gd name="T98" fmla="*/ 13 w 13"/>
              <a:gd name="T99" fmla="*/ 1838 h 2347"/>
              <a:gd name="T100" fmla="*/ 13 w 13"/>
              <a:gd name="T101" fmla="*/ 1904 h 2347"/>
              <a:gd name="T102" fmla="*/ 0 w 13"/>
              <a:gd name="T103" fmla="*/ 1917 h 2347"/>
              <a:gd name="T104" fmla="*/ 13 w 13"/>
              <a:gd name="T105" fmla="*/ 1971 h 2347"/>
              <a:gd name="T106" fmla="*/ 0 w 13"/>
              <a:gd name="T107" fmla="*/ 2011 h 2347"/>
              <a:gd name="T108" fmla="*/ 13 w 13"/>
              <a:gd name="T109" fmla="*/ 2024 h 2347"/>
              <a:gd name="T110" fmla="*/ 13 w 13"/>
              <a:gd name="T111" fmla="*/ 2091 h 2347"/>
              <a:gd name="T112" fmla="*/ 0 w 13"/>
              <a:gd name="T113" fmla="*/ 2104 h 2347"/>
              <a:gd name="T114" fmla="*/ 13 w 13"/>
              <a:gd name="T115" fmla="*/ 2157 h 2347"/>
              <a:gd name="T116" fmla="*/ 0 w 13"/>
              <a:gd name="T117" fmla="*/ 2197 h 2347"/>
              <a:gd name="T118" fmla="*/ 13 w 13"/>
              <a:gd name="T119" fmla="*/ 2211 h 2347"/>
              <a:gd name="T120" fmla="*/ 13 w 13"/>
              <a:gd name="T121" fmla="*/ 2277 h 2347"/>
              <a:gd name="T122" fmla="*/ 0 w 13"/>
              <a:gd name="T123" fmla="*/ 2290 h 2347"/>
              <a:gd name="T124" fmla="*/ 13 w 13"/>
              <a:gd name="T125" fmla="*/ 2344 h 234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13" h="2347">
                <a:moveTo>
                  <a:pt x="13" y="0"/>
                </a:moveTo>
                <a:lnTo>
                  <a:pt x="13" y="13"/>
                </a:lnTo>
                <a:lnTo>
                  <a:pt x="0" y="13"/>
                </a:lnTo>
                <a:lnTo>
                  <a:pt x="0" y="0"/>
                </a:lnTo>
                <a:lnTo>
                  <a:pt x="13" y="0"/>
                </a:lnTo>
                <a:close/>
                <a:moveTo>
                  <a:pt x="13" y="26"/>
                </a:moveTo>
                <a:lnTo>
                  <a:pt x="13" y="40"/>
                </a:lnTo>
                <a:lnTo>
                  <a:pt x="0" y="40"/>
                </a:lnTo>
                <a:lnTo>
                  <a:pt x="0" y="26"/>
                </a:lnTo>
                <a:lnTo>
                  <a:pt x="13" y="26"/>
                </a:lnTo>
                <a:close/>
                <a:moveTo>
                  <a:pt x="13" y="53"/>
                </a:moveTo>
                <a:lnTo>
                  <a:pt x="13" y="66"/>
                </a:lnTo>
                <a:lnTo>
                  <a:pt x="0" y="66"/>
                </a:lnTo>
                <a:lnTo>
                  <a:pt x="0" y="53"/>
                </a:lnTo>
                <a:lnTo>
                  <a:pt x="13" y="53"/>
                </a:lnTo>
                <a:close/>
                <a:moveTo>
                  <a:pt x="13" y="80"/>
                </a:moveTo>
                <a:lnTo>
                  <a:pt x="13" y="93"/>
                </a:lnTo>
                <a:lnTo>
                  <a:pt x="0" y="93"/>
                </a:lnTo>
                <a:lnTo>
                  <a:pt x="0" y="80"/>
                </a:lnTo>
                <a:lnTo>
                  <a:pt x="13" y="80"/>
                </a:lnTo>
                <a:close/>
                <a:moveTo>
                  <a:pt x="13" y="106"/>
                </a:moveTo>
                <a:lnTo>
                  <a:pt x="13" y="119"/>
                </a:lnTo>
                <a:lnTo>
                  <a:pt x="0" y="119"/>
                </a:lnTo>
                <a:lnTo>
                  <a:pt x="0" y="106"/>
                </a:lnTo>
                <a:lnTo>
                  <a:pt x="13" y="106"/>
                </a:lnTo>
                <a:close/>
                <a:moveTo>
                  <a:pt x="13" y="133"/>
                </a:moveTo>
                <a:lnTo>
                  <a:pt x="13" y="146"/>
                </a:lnTo>
                <a:lnTo>
                  <a:pt x="0" y="146"/>
                </a:lnTo>
                <a:lnTo>
                  <a:pt x="0" y="133"/>
                </a:lnTo>
                <a:lnTo>
                  <a:pt x="13" y="133"/>
                </a:lnTo>
                <a:close/>
                <a:moveTo>
                  <a:pt x="13" y="159"/>
                </a:moveTo>
                <a:lnTo>
                  <a:pt x="13" y="173"/>
                </a:lnTo>
                <a:lnTo>
                  <a:pt x="0" y="173"/>
                </a:lnTo>
                <a:lnTo>
                  <a:pt x="0" y="159"/>
                </a:lnTo>
                <a:lnTo>
                  <a:pt x="13" y="159"/>
                </a:lnTo>
                <a:close/>
                <a:moveTo>
                  <a:pt x="13" y="186"/>
                </a:moveTo>
                <a:lnTo>
                  <a:pt x="13" y="199"/>
                </a:lnTo>
                <a:lnTo>
                  <a:pt x="0" y="199"/>
                </a:lnTo>
                <a:lnTo>
                  <a:pt x="0" y="186"/>
                </a:lnTo>
                <a:lnTo>
                  <a:pt x="13" y="186"/>
                </a:lnTo>
                <a:close/>
                <a:moveTo>
                  <a:pt x="13" y="213"/>
                </a:moveTo>
                <a:lnTo>
                  <a:pt x="13" y="226"/>
                </a:lnTo>
                <a:lnTo>
                  <a:pt x="0" y="226"/>
                </a:lnTo>
                <a:lnTo>
                  <a:pt x="0" y="213"/>
                </a:lnTo>
                <a:lnTo>
                  <a:pt x="13" y="213"/>
                </a:lnTo>
                <a:close/>
                <a:moveTo>
                  <a:pt x="13" y="239"/>
                </a:moveTo>
                <a:lnTo>
                  <a:pt x="13" y="253"/>
                </a:lnTo>
                <a:lnTo>
                  <a:pt x="0" y="253"/>
                </a:lnTo>
                <a:lnTo>
                  <a:pt x="0" y="239"/>
                </a:lnTo>
                <a:lnTo>
                  <a:pt x="13" y="239"/>
                </a:lnTo>
                <a:close/>
                <a:moveTo>
                  <a:pt x="13" y="266"/>
                </a:moveTo>
                <a:lnTo>
                  <a:pt x="13" y="279"/>
                </a:lnTo>
                <a:lnTo>
                  <a:pt x="0" y="279"/>
                </a:lnTo>
                <a:lnTo>
                  <a:pt x="0" y="266"/>
                </a:lnTo>
                <a:lnTo>
                  <a:pt x="13" y="266"/>
                </a:lnTo>
                <a:close/>
                <a:moveTo>
                  <a:pt x="13" y="293"/>
                </a:moveTo>
                <a:lnTo>
                  <a:pt x="13" y="306"/>
                </a:lnTo>
                <a:lnTo>
                  <a:pt x="0" y="306"/>
                </a:lnTo>
                <a:lnTo>
                  <a:pt x="0" y="293"/>
                </a:lnTo>
                <a:lnTo>
                  <a:pt x="13" y="293"/>
                </a:lnTo>
                <a:close/>
                <a:moveTo>
                  <a:pt x="13" y="319"/>
                </a:moveTo>
                <a:lnTo>
                  <a:pt x="13" y="333"/>
                </a:lnTo>
                <a:lnTo>
                  <a:pt x="0" y="333"/>
                </a:lnTo>
                <a:lnTo>
                  <a:pt x="0" y="319"/>
                </a:lnTo>
                <a:lnTo>
                  <a:pt x="13" y="319"/>
                </a:lnTo>
                <a:close/>
                <a:moveTo>
                  <a:pt x="13" y="346"/>
                </a:moveTo>
                <a:lnTo>
                  <a:pt x="13" y="359"/>
                </a:lnTo>
                <a:lnTo>
                  <a:pt x="0" y="359"/>
                </a:lnTo>
                <a:lnTo>
                  <a:pt x="0" y="346"/>
                </a:lnTo>
                <a:lnTo>
                  <a:pt x="13" y="346"/>
                </a:lnTo>
                <a:close/>
                <a:moveTo>
                  <a:pt x="13" y="373"/>
                </a:moveTo>
                <a:lnTo>
                  <a:pt x="13" y="386"/>
                </a:lnTo>
                <a:lnTo>
                  <a:pt x="0" y="386"/>
                </a:lnTo>
                <a:lnTo>
                  <a:pt x="0" y="373"/>
                </a:lnTo>
                <a:lnTo>
                  <a:pt x="13" y="373"/>
                </a:lnTo>
                <a:close/>
                <a:moveTo>
                  <a:pt x="13" y="399"/>
                </a:moveTo>
                <a:lnTo>
                  <a:pt x="13" y="413"/>
                </a:lnTo>
                <a:lnTo>
                  <a:pt x="0" y="413"/>
                </a:lnTo>
                <a:lnTo>
                  <a:pt x="0" y="399"/>
                </a:lnTo>
                <a:lnTo>
                  <a:pt x="13" y="399"/>
                </a:lnTo>
                <a:close/>
                <a:moveTo>
                  <a:pt x="13" y="426"/>
                </a:moveTo>
                <a:lnTo>
                  <a:pt x="13" y="439"/>
                </a:lnTo>
                <a:lnTo>
                  <a:pt x="0" y="439"/>
                </a:lnTo>
                <a:lnTo>
                  <a:pt x="0" y="426"/>
                </a:lnTo>
                <a:lnTo>
                  <a:pt x="13" y="426"/>
                </a:lnTo>
                <a:close/>
                <a:moveTo>
                  <a:pt x="13" y="453"/>
                </a:moveTo>
                <a:lnTo>
                  <a:pt x="13" y="466"/>
                </a:lnTo>
                <a:lnTo>
                  <a:pt x="0" y="466"/>
                </a:lnTo>
                <a:lnTo>
                  <a:pt x="0" y="453"/>
                </a:lnTo>
                <a:lnTo>
                  <a:pt x="13" y="453"/>
                </a:lnTo>
                <a:close/>
                <a:moveTo>
                  <a:pt x="13" y="479"/>
                </a:moveTo>
                <a:lnTo>
                  <a:pt x="13" y="493"/>
                </a:lnTo>
                <a:lnTo>
                  <a:pt x="0" y="493"/>
                </a:lnTo>
                <a:lnTo>
                  <a:pt x="0" y="479"/>
                </a:lnTo>
                <a:lnTo>
                  <a:pt x="13" y="479"/>
                </a:lnTo>
                <a:close/>
                <a:moveTo>
                  <a:pt x="13" y="506"/>
                </a:moveTo>
                <a:lnTo>
                  <a:pt x="13" y="519"/>
                </a:lnTo>
                <a:lnTo>
                  <a:pt x="0" y="519"/>
                </a:lnTo>
                <a:lnTo>
                  <a:pt x="0" y="506"/>
                </a:lnTo>
                <a:lnTo>
                  <a:pt x="13" y="506"/>
                </a:lnTo>
                <a:close/>
                <a:moveTo>
                  <a:pt x="13" y="532"/>
                </a:moveTo>
                <a:lnTo>
                  <a:pt x="13" y="546"/>
                </a:lnTo>
                <a:lnTo>
                  <a:pt x="0" y="546"/>
                </a:lnTo>
                <a:lnTo>
                  <a:pt x="0" y="532"/>
                </a:lnTo>
                <a:lnTo>
                  <a:pt x="13" y="532"/>
                </a:lnTo>
                <a:close/>
                <a:moveTo>
                  <a:pt x="13" y="559"/>
                </a:moveTo>
                <a:lnTo>
                  <a:pt x="13" y="572"/>
                </a:lnTo>
                <a:lnTo>
                  <a:pt x="0" y="572"/>
                </a:lnTo>
                <a:lnTo>
                  <a:pt x="0" y="559"/>
                </a:lnTo>
                <a:lnTo>
                  <a:pt x="13" y="559"/>
                </a:lnTo>
                <a:close/>
                <a:moveTo>
                  <a:pt x="13" y="586"/>
                </a:moveTo>
                <a:lnTo>
                  <a:pt x="13" y="599"/>
                </a:lnTo>
                <a:lnTo>
                  <a:pt x="0" y="599"/>
                </a:lnTo>
                <a:lnTo>
                  <a:pt x="0" y="586"/>
                </a:lnTo>
                <a:lnTo>
                  <a:pt x="13" y="586"/>
                </a:lnTo>
                <a:close/>
                <a:moveTo>
                  <a:pt x="13" y="612"/>
                </a:moveTo>
                <a:lnTo>
                  <a:pt x="13" y="626"/>
                </a:lnTo>
                <a:lnTo>
                  <a:pt x="0" y="626"/>
                </a:lnTo>
                <a:lnTo>
                  <a:pt x="0" y="612"/>
                </a:lnTo>
                <a:lnTo>
                  <a:pt x="13" y="612"/>
                </a:lnTo>
                <a:close/>
                <a:moveTo>
                  <a:pt x="13" y="639"/>
                </a:moveTo>
                <a:lnTo>
                  <a:pt x="13" y="652"/>
                </a:lnTo>
                <a:lnTo>
                  <a:pt x="0" y="652"/>
                </a:lnTo>
                <a:lnTo>
                  <a:pt x="0" y="639"/>
                </a:lnTo>
                <a:lnTo>
                  <a:pt x="13" y="639"/>
                </a:lnTo>
                <a:close/>
                <a:moveTo>
                  <a:pt x="13" y="666"/>
                </a:moveTo>
                <a:lnTo>
                  <a:pt x="13" y="679"/>
                </a:lnTo>
                <a:lnTo>
                  <a:pt x="0" y="679"/>
                </a:lnTo>
                <a:lnTo>
                  <a:pt x="0" y="666"/>
                </a:lnTo>
                <a:lnTo>
                  <a:pt x="13" y="666"/>
                </a:lnTo>
                <a:close/>
                <a:moveTo>
                  <a:pt x="13" y="692"/>
                </a:moveTo>
                <a:lnTo>
                  <a:pt x="13" y="706"/>
                </a:lnTo>
                <a:lnTo>
                  <a:pt x="0" y="706"/>
                </a:lnTo>
                <a:lnTo>
                  <a:pt x="0" y="692"/>
                </a:lnTo>
                <a:lnTo>
                  <a:pt x="13" y="692"/>
                </a:lnTo>
                <a:close/>
                <a:moveTo>
                  <a:pt x="13" y="719"/>
                </a:moveTo>
                <a:lnTo>
                  <a:pt x="13" y="732"/>
                </a:lnTo>
                <a:lnTo>
                  <a:pt x="0" y="732"/>
                </a:lnTo>
                <a:lnTo>
                  <a:pt x="0" y="719"/>
                </a:lnTo>
                <a:lnTo>
                  <a:pt x="13" y="719"/>
                </a:lnTo>
                <a:close/>
                <a:moveTo>
                  <a:pt x="13" y="746"/>
                </a:moveTo>
                <a:lnTo>
                  <a:pt x="13" y="759"/>
                </a:lnTo>
                <a:lnTo>
                  <a:pt x="0" y="759"/>
                </a:lnTo>
                <a:lnTo>
                  <a:pt x="0" y="746"/>
                </a:lnTo>
                <a:lnTo>
                  <a:pt x="13" y="746"/>
                </a:lnTo>
                <a:close/>
                <a:moveTo>
                  <a:pt x="13" y="772"/>
                </a:moveTo>
                <a:lnTo>
                  <a:pt x="13" y="786"/>
                </a:lnTo>
                <a:lnTo>
                  <a:pt x="0" y="786"/>
                </a:lnTo>
                <a:lnTo>
                  <a:pt x="0" y="772"/>
                </a:lnTo>
                <a:lnTo>
                  <a:pt x="13" y="772"/>
                </a:lnTo>
                <a:close/>
                <a:moveTo>
                  <a:pt x="13" y="799"/>
                </a:moveTo>
                <a:lnTo>
                  <a:pt x="13" y="812"/>
                </a:lnTo>
                <a:lnTo>
                  <a:pt x="0" y="812"/>
                </a:lnTo>
                <a:lnTo>
                  <a:pt x="0" y="799"/>
                </a:lnTo>
                <a:lnTo>
                  <a:pt x="13" y="799"/>
                </a:lnTo>
                <a:close/>
                <a:moveTo>
                  <a:pt x="13" y="826"/>
                </a:moveTo>
                <a:lnTo>
                  <a:pt x="13" y="839"/>
                </a:lnTo>
                <a:lnTo>
                  <a:pt x="0" y="839"/>
                </a:lnTo>
                <a:lnTo>
                  <a:pt x="0" y="826"/>
                </a:lnTo>
                <a:lnTo>
                  <a:pt x="13" y="826"/>
                </a:lnTo>
                <a:close/>
                <a:moveTo>
                  <a:pt x="13" y="852"/>
                </a:moveTo>
                <a:lnTo>
                  <a:pt x="13" y="866"/>
                </a:lnTo>
                <a:lnTo>
                  <a:pt x="0" y="866"/>
                </a:lnTo>
                <a:lnTo>
                  <a:pt x="0" y="852"/>
                </a:lnTo>
                <a:lnTo>
                  <a:pt x="13" y="852"/>
                </a:lnTo>
                <a:close/>
                <a:moveTo>
                  <a:pt x="13" y="879"/>
                </a:moveTo>
                <a:lnTo>
                  <a:pt x="13" y="892"/>
                </a:lnTo>
                <a:lnTo>
                  <a:pt x="0" y="892"/>
                </a:lnTo>
                <a:lnTo>
                  <a:pt x="0" y="879"/>
                </a:lnTo>
                <a:lnTo>
                  <a:pt x="13" y="879"/>
                </a:lnTo>
                <a:close/>
                <a:moveTo>
                  <a:pt x="13" y="905"/>
                </a:moveTo>
                <a:lnTo>
                  <a:pt x="13" y="919"/>
                </a:lnTo>
                <a:lnTo>
                  <a:pt x="0" y="919"/>
                </a:lnTo>
                <a:lnTo>
                  <a:pt x="0" y="905"/>
                </a:lnTo>
                <a:lnTo>
                  <a:pt x="13" y="905"/>
                </a:lnTo>
                <a:close/>
                <a:moveTo>
                  <a:pt x="13" y="932"/>
                </a:moveTo>
                <a:lnTo>
                  <a:pt x="13" y="945"/>
                </a:lnTo>
                <a:lnTo>
                  <a:pt x="0" y="945"/>
                </a:lnTo>
                <a:lnTo>
                  <a:pt x="0" y="932"/>
                </a:lnTo>
                <a:lnTo>
                  <a:pt x="13" y="932"/>
                </a:lnTo>
                <a:close/>
                <a:moveTo>
                  <a:pt x="13" y="959"/>
                </a:moveTo>
                <a:lnTo>
                  <a:pt x="13" y="972"/>
                </a:lnTo>
                <a:lnTo>
                  <a:pt x="0" y="972"/>
                </a:lnTo>
                <a:lnTo>
                  <a:pt x="0" y="959"/>
                </a:lnTo>
                <a:lnTo>
                  <a:pt x="13" y="959"/>
                </a:lnTo>
                <a:close/>
                <a:moveTo>
                  <a:pt x="13" y="985"/>
                </a:moveTo>
                <a:lnTo>
                  <a:pt x="13" y="998"/>
                </a:lnTo>
                <a:lnTo>
                  <a:pt x="0" y="998"/>
                </a:lnTo>
                <a:lnTo>
                  <a:pt x="0" y="985"/>
                </a:lnTo>
                <a:lnTo>
                  <a:pt x="13" y="985"/>
                </a:lnTo>
                <a:close/>
                <a:moveTo>
                  <a:pt x="13" y="1012"/>
                </a:moveTo>
                <a:lnTo>
                  <a:pt x="13" y="1025"/>
                </a:lnTo>
                <a:lnTo>
                  <a:pt x="0" y="1025"/>
                </a:lnTo>
                <a:lnTo>
                  <a:pt x="0" y="1012"/>
                </a:lnTo>
                <a:lnTo>
                  <a:pt x="13" y="1012"/>
                </a:lnTo>
                <a:close/>
                <a:moveTo>
                  <a:pt x="13" y="1038"/>
                </a:moveTo>
                <a:lnTo>
                  <a:pt x="13" y="1052"/>
                </a:lnTo>
                <a:lnTo>
                  <a:pt x="0" y="1052"/>
                </a:lnTo>
                <a:lnTo>
                  <a:pt x="0" y="1038"/>
                </a:lnTo>
                <a:lnTo>
                  <a:pt x="13" y="1038"/>
                </a:lnTo>
                <a:close/>
                <a:moveTo>
                  <a:pt x="13" y="1065"/>
                </a:moveTo>
                <a:lnTo>
                  <a:pt x="13" y="1078"/>
                </a:lnTo>
                <a:lnTo>
                  <a:pt x="0" y="1078"/>
                </a:lnTo>
                <a:lnTo>
                  <a:pt x="0" y="1065"/>
                </a:lnTo>
                <a:lnTo>
                  <a:pt x="13" y="1065"/>
                </a:lnTo>
                <a:close/>
                <a:moveTo>
                  <a:pt x="13" y="1092"/>
                </a:moveTo>
                <a:lnTo>
                  <a:pt x="13" y="1105"/>
                </a:lnTo>
                <a:lnTo>
                  <a:pt x="0" y="1105"/>
                </a:lnTo>
                <a:lnTo>
                  <a:pt x="0" y="1092"/>
                </a:lnTo>
                <a:lnTo>
                  <a:pt x="13" y="1092"/>
                </a:lnTo>
                <a:close/>
                <a:moveTo>
                  <a:pt x="13" y="1118"/>
                </a:moveTo>
                <a:lnTo>
                  <a:pt x="13" y="1132"/>
                </a:lnTo>
                <a:lnTo>
                  <a:pt x="0" y="1132"/>
                </a:lnTo>
                <a:lnTo>
                  <a:pt x="0" y="1118"/>
                </a:lnTo>
                <a:lnTo>
                  <a:pt x="13" y="1118"/>
                </a:lnTo>
                <a:close/>
                <a:moveTo>
                  <a:pt x="13" y="1145"/>
                </a:moveTo>
                <a:lnTo>
                  <a:pt x="13" y="1158"/>
                </a:lnTo>
                <a:lnTo>
                  <a:pt x="0" y="1158"/>
                </a:lnTo>
                <a:lnTo>
                  <a:pt x="0" y="1145"/>
                </a:lnTo>
                <a:lnTo>
                  <a:pt x="13" y="1145"/>
                </a:lnTo>
                <a:close/>
                <a:moveTo>
                  <a:pt x="13" y="1172"/>
                </a:moveTo>
                <a:lnTo>
                  <a:pt x="13" y="1185"/>
                </a:lnTo>
                <a:lnTo>
                  <a:pt x="0" y="1185"/>
                </a:lnTo>
                <a:lnTo>
                  <a:pt x="0" y="1172"/>
                </a:lnTo>
                <a:lnTo>
                  <a:pt x="13" y="1172"/>
                </a:lnTo>
                <a:close/>
                <a:moveTo>
                  <a:pt x="13" y="1198"/>
                </a:moveTo>
                <a:lnTo>
                  <a:pt x="13" y="1212"/>
                </a:lnTo>
                <a:lnTo>
                  <a:pt x="0" y="1212"/>
                </a:lnTo>
                <a:lnTo>
                  <a:pt x="0" y="1198"/>
                </a:lnTo>
                <a:lnTo>
                  <a:pt x="13" y="1198"/>
                </a:lnTo>
                <a:close/>
                <a:moveTo>
                  <a:pt x="13" y="1225"/>
                </a:moveTo>
                <a:lnTo>
                  <a:pt x="13" y="1238"/>
                </a:lnTo>
                <a:lnTo>
                  <a:pt x="0" y="1238"/>
                </a:lnTo>
                <a:lnTo>
                  <a:pt x="0" y="1225"/>
                </a:lnTo>
                <a:lnTo>
                  <a:pt x="13" y="1225"/>
                </a:lnTo>
                <a:close/>
                <a:moveTo>
                  <a:pt x="13" y="1252"/>
                </a:moveTo>
                <a:lnTo>
                  <a:pt x="13" y="1265"/>
                </a:lnTo>
                <a:lnTo>
                  <a:pt x="0" y="1265"/>
                </a:lnTo>
                <a:lnTo>
                  <a:pt x="0" y="1252"/>
                </a:lnTo>
                <a:lnTo>
                  <a:pt x="13" y="1252"/>
                </a:lnTo>
                <a:close/>
                <a:moveTo>
                  <a:pt x="13" y="1278"/>
                </a:moveTo>
                <a:lnTo>
                  <a:pt x="13" y="1292"/>
                </a:lnTo>
                <a:lnTo>
                  <a:pt x="0" y="1292"/>
                </a:lnTo>
                <a:lnTo>
                  <a:pt x="0" y="1278"/>
                </a:lnTo>
                <a:lnTo>
                  <a:pt x="13" y="1278"/>
                </a:lnTo>
                <a:close/>
                <a:moveTo>
                  <a:pt x="13" y="1305"/>
                </a:moveTo>
                <a:lnTo>
                  <a:pt x="13" y="1318"/>
                </a:lnTo>
                <a:lnTo>
                  <a:pt x="0" y="1318"/>
                </a:lnTo>
                <a:lnTo>
                  <a:pt x="0" y="1305"/>
                </a:lnTo>
                <a:lnTo>
                  <a:pt x="13" y="1305"/>
                </a:lnTo>
                <a:close/>
                <a:moveTo>
                  <a:pt x="13" y="1332"/>
                </a:moveTo>
                <a:lnTo>
                  <a:pt x="13" y="1345"/>
                </a:lnTo>
                <a:lnTo>
                  <a:pt x="0" y="1345"/>
                </a:lnTo>
                <a:lnTo>
                  <a:pt x="0" y="1332"/>
                </a:lnTo>
                <a:lnTo>
                  <a:pt x="13" y="1332"/>
                </a:lnTo>
                <a:close/>
                <a:moveTo>
                  <a:pt x="13" y="1358"/>
                </a:moveTo>
                <a:lnTo>
                  <a:pt x="13" y="1372"/>
                </a:lnTo>
                <a:lnTo>
                  <a:pt x="0" y="1372"/>
                </a:lnTo>
                <a:lnTo>
                  <a:pt x="0" y="1358"/>
                </a:lnTo>
                <a:lnTo>
                  <a:pt x="13" y="1358"/>
                </a:lnTo>
                <a:close/>
                <a:moveTo>
                  <a:pt x="13" y="1385"/>
                </a:moveTo>
                <a:lnTo>
                  <a:pt x="13" y="1398"/>
                </a:lnTo>
                <a:lnTo>
                  <a:pt x="0" y="1398"/>
                </a:lnTo>
                <a:lnTo>
                  <a:pt x="0" y="1385"/>
                </a:lnTo>
                <a:lnTo>
                  <a:pt x="13" y="1385"/>
                </a:lnTo>
                <a:close/>
                <a:moveTo>
                  <a:pt x="13" y="1411"/>
                </a:moveTo>
                <a:lnTo>
                  <a:pt x="13" y="1425"/>
                </a:lnTo>
                <a:lnTo>
                  <a:pt x="0" y="1425"/>
                </a:lnTo>
                <a:lnTo>
                  <a:pt x="0" y="1411"/>
                </a:lnTo>
                <a:lnTo>
                  <a:pt x="13" y="1411"/>
                </a:lnTo>
                <a:close/>
                <a:moveTo>
                  <a:pt x="13" y="1438"/>
                </a:moveTo>
                <a:lnTo>
                  <a:pt x="13" y="1451"/>
                </a:lnTo>
                <a:lnTo>
                  <a:pt x="0" y="1451"/>
                </a:lnTo>
                <a:lnTo>
                  <a:pt x="0" y="1438"/>
                </a:lnTo>
                <a:lnTo>
                  <a:pt x="13" y="1438"/>
                </a:lnTo>
                <a:close/>
                <a:moveTo>
                  <a:pt x="13" y="1465"/>
                </a:moveTo>
                <a:lnTo>
                  <a:pt x="13" y="1478"/>
                </a:lnTo>
                <a:lnTo>
                  <a:pt x="0" y="1478"/>
                </a:lnTo>
                <a:lnTo>
                  <a:pt x="0" y="1465"/>
                </a:lnTo>
                <a:lnTo>
                  <a:pt x="13" y="1465"/>
                </a:lnTo>
                <a:close/>
                <a:moveTo>
                  <a:pt x="13" y="1491"/>
                </a:moveTo>
                <a:lnTo>
                  <a:pt x="13" y="1505"/>
                </a:lnTo>
                <a:lnTo>
                  <a:pt x="0" y="1505"/>
                </a:lnTo>
                <a:lnTo>
                  <a:pt x="0" y="1491"/>
                </a:lnTo>
                <a:lnTo>
                  <a:pt x="13" y="1491"/>
                </a:lnTo>
                <a:close/>
                <a:moveTo>
                  <a:pt x="13" y="1518"/>
                </a:moveTo>
                <a:lnTo>
                  <a:pt x="13" y="1531"/>
                </a:lnTo>
                <a:lnTo>
                  <a:pt x="0" y="1531"/>
                </a:lnTo>
                <a:lnTo>
                  <a:pt x="0" y="1518"/>
                </a:lnTo>
                <a:lnTo>
                  <a:pt x="13" y="1518"/>
                </a:lnTo>
                <a:close/>
                <a:moveTo>
                  <a:pt x="13" y="1545"/>
                </a:moveTo>
                <a:lnTo>
                  <a:pt x="13" y="1558"/>
                </a:lnTo>
                <a:lnTo>
                  <a:pt x="0" y="1558"/>
                </a:lnTo>
                <a:lnTo>
                  <a:pt x="0" y="1545"/>
                </a:lnTo>
                <a:lnTo>
                  <a:pt x="13" y="1545"/>
                </a:lnTo>
                <a:close/>
                <a:moveTo>
                  <a:pt x="13" y="1571"/>
                </a:moveTo>
                <a:lnTo>
                  <a:pt x="13" y="1585"/>
                </a:lnTo>
                <a:lnTo>
                  <a:pt x="0" y="1585"/>
                </a:lnTo>
                <a:lnTo>
                  <a:pt x="0" y="1571"/>
                </a:lnTo>
                <a:lnTo>
                  <a:pt x="13" y="1571"/>
                </a:lnTo>
                <a:close/>
                <a:moveTo>
                  <a:pt x="13" y="1598"/>
                </a:moveTo>
                <a:lnTo>
                  <a:pt x="13" y="1611"/>
                </a:lnTo>
                <a:lnTo>
                  <a:pt x="0" y="1611"/>
                </a:lnTo>
                <a:lnTo>
                  <a:pt x="0" y="1598"/>
                </a:lnTo>
                <a:lnTo>
                  <a:pt x="13" y="1598"/>
                </a:lnTo>
                <a:close/>
                <a:moveTo>
                  <a:pt x="13" y="1625"/>
                </a:moveTo>
                <a:lnTo>
                  <a:pt x="13" y="1638"/>
                </a:lnTo>
                <a:lnTo>
                  <a:pt x="0" y="1638"/>
                </a:lnTo>
                <a:lnTo>
                  <a:pt x="0" y="1625"/>
                </a:lnTo>
                <a:lnTo>
                  <a:pt x="13" y="1625"/>
                </a:lnTo>
                <a:close/>
                <a:moveTo>
                  <a:pt x="13" y="1651"/>
                </a:moveTo>
                <a:lnTo>
                  <a:pt x="13" y="1665"/>
                </a:lnTo>
                <a:lnTo>
                  <a:pt x="0" y="1665"/>
                </a:lnTo>
                <a:lnTo>
                  <a:pt x="0" y="1651"/>
                </a:lnTo>
                <a:lnTo>
                  <a:pt x="13" y="1651"/>
                </a:lnTo>
                <a:close/>
                <a:moveTo>
                  <a:pt x="13" y="1678"/>
                </a:moveTo>
                <a:lnTo>
                  <a:pt x="13" y="1691"/>
                </a:lnTo>
                <a:lnTo>
                  <a:pt x="0" y="1691"/>
                </a:lnTo>
                <a:lnTo>
                  <a:pt x="0" y="1678"/>
                </a:lnTo>
                <a:lnTo>
                  <a:pt x="13" y="1678"/>
                </a:lnTo>
                <a:close/>
                <a:moveTo>
                  <a:pt x="13" y="1705"/>
                </a:moveTo>
                <a:lnTo>
                  <a:pt x="13" y="1718"/>
                </a:lnTo>
                <a:lnTo>
                  <a:pt x="0" y="1718"/>
                </a:lnTo>
                <a:lnTo>
                  <a:pt x="0" y="1705"/>
                </a:lnTo>
                <a:lnTo>
                  <a:pt x="13" y="1705"/>
                </a:lnTo>
                <a:close/>
                <a:moveTo>
                  <a:pt x="13" y="1731"/>
                </a:moveTo>
                <a:lnTo>
                  <a:pt x="13" y="1745"/>
                </a:lnTo>
                <a:lnTo>
                  <a:pt x="0" y="1745"/>
                </a:lnTo>
                <a:lnTo>
                  <a:pt x="0" y="1731"/>
                </a:lnTo>
                <a:lnTo>
                  <a:pt x="13" y="1731"/>
                </a:lnTo>
                <a:close/>
                <a:moveTo>
                  <a:pt x="13" y="1758"/>
                </a:moveTo>
                <a:lnTo>
                  <a:pt x="13" y="1771"/>
                </a:lnTo>
                <a:lnTo>
                  <a:pt x="0" y="1771"/>
                </a:lnTo>
                <a:lnTo>
                  <a:pt x="0" y="1758"/>
                </a:lnTo>
                <a:lnTo>
                  <a:pt x="13" y="1758"/>
                </a:lnTo>
                <a:close/>
                <a:moveTo>
                  <a:pt x="13" y="1784"/>
                </a:moveTo>
                <a:lnTo>
                  <a:pt x="13" y="1798"/>
                </a:lnTo>
                <a:lnTo>
                  <a:pt x="0" y="1798"/>
                </a:lnTo>
                <a:lnTo>
                  <a:pt x="0" y="1784"/>
                </a:lnTo>
                <a:lnTo>
                  <a:pt x="13" y="1784"/>
                </a:lnTo>
                <a:close/>
                <a:moveTo>
                  <a:pt x="13" y="1811"/>
                </a:moveTo>
                <a:lnTo>
                  <a:pt x="13" y="1824"/>
                </a:lnTo>
                <a:lnTo>
                  <a:pt x="0" y="1824"/>
                </a:lnTo>
                <a:lnTo>
                  <a:pt x="0" y="1811"/>
                </a:lnTo>
                <a:lnTo>
                  <a:pt x="13" y="1811"/>
                </a:lnTo>
                <a:close/>
                <a:moveTo>
                  <a:pt x="13" y="1838"/>
                </a:moveTo>
                <a:lnTo>
                  <a:pt x="13" y="1851"/>
                </a:lnTo>
                <a:lnTo>
                  <a:pt x="0" y="1851"/>
                </a:lnTo>
                <a:lnTo>
                  <a:pt x="0" y="1838"/>
                </a:lnTo>
                <a:lnTo>
                  <a:pt x="13" y="1838"/>
                </a:lnTo>
                <a:close/>
                <a:moveTo>
                  <a:pt x="13" y="1864"/>
                </a:moveTo>
                <a:lnTo>
                  <a:pt x="13" y="1877"/>
                </a:lnTo>
                <a:lnTo>
                  <a:pt x="0" y="1877"/>
                </a:lnTo>
                <a:lnTo>
                  <a:pt x="0" y="1864"/>
                </a:lnTo>
                <a:lnTo>
                  <a:pt x="13" y="1864"/>
                </a:lnTo>
                <a:close/>
                <a:moveTo>
                  <a:pt x="13" y="1891"/>
                </a:moveTo>
                <a:lnTo>
                  <a:pt x="13" y="1904"/>
                </a:lnTo>
                <a:lnTo>
                  <a:pt x="0" y="1904"/>
                </a:lnTo>
                <a:lnTo>
                  <a:pt x="0" y="1891"/>
                </a:lnTo>
                <a:lnTo>
                  <a:pt x="13" y="1891"/>
                </a:lnTo>
                <a:close/>
                <a:moveTo>
                  <a:pt x="13" y="1917"/>
                </a:moveTo>
                <a:lnTo>
                  <a:pt x="13" y="1931"/>
                </a:lnTo>
                <a:lnTo>
                  <a:pt x="0" y="1931"/>
                </a:lnTo>
                <a:lnTo>
                  <a:pt x="0" y="1917"/>
                </a:lnTo>
                <a:lnTo>
                  <a:pt x="13" y="1917"/>
                </a:lnTo>
                <a:close/>
                <a:moveTo>
                  <a:pt x="13" y="1944"/>
                </a:moveTo>
                <a:lnTo>
                  <a:pt x="13" y="1957"/>
                </a:lnTo>
                <a:lnTo>
                  <a:pt x="0" y="1957"/>
                </a:lnTo>
                <a:lnTo>
                  <a:pt x="0" y="1944"/>
                </a:lnTo>
                <a:lnTo>
                  <a:pt x="13" y="1944"/>
                </a:lnTo>
                <a:close/>
                <a:moveTo>
                  <a:pt x="13" y="1971"/>
                </a:moveTo>
                <a:lnTo>
                  <a:pt x="13" y="1984"/>
                </a:lnTo>
                <a:lnTo>
                  <a:pt x="0" y="1984"/>
                </a:lnTo>
                <a:lnTo>
                  <a:pt x="0" y="1971"/>
                </a:lnTo>
                <a:lnTo>
                  <a:pt x="13" y="1971"/>
                </a:lnTo>
                <a:close/>
                <a:moveTo>
                  <a:pt x="13" y="1997"/>
                </a:moveTo>
                <a:lnTo>
                  <a:pt x="13" y="2011"/>
                </a:lnTo>
                <a:lnTo>
                  <a:pt x="0" y="2011"/>
                </a:lnTo>
                <a:lnTo>
                  <a:pt x="0" y="1997"/>
                </a:lnTo>
                <a:lnTo>
                  <a:pt x="13" y="1997"/>
                </a:lnTo>
                <a:close/>
                <a:moveTo>
                  <a:pt x="13" y="2024"/>
                </a:moveTo>
                <a:lnTo>
                  <a:pt x="13" y="2037"/>
                </a:lnTo>
                <a:lnTo>
                  <a:pt x="0" y="2037"/>
                </a:lnTo>
                <a:lnTo>
                  <a:pt x="0" y="2024"/>
                </a:lnTo>
                <a:lnTo>
                  <a:pt x="13" y="2024"/>
                </a:lnTo>
                <a:close/>
                <a:moveTo>
                  <a:pt x="13" y="2051"/>
                </a:moveTo>
                <a:lnTo>
                  <a:pt x="13" y="2064"/>
                </a:lnTo>
                <a:lnTo>
                  <a:pt x="0" y="2064"/>
                </a:lnTo>
                <a:lnTo>
                  <a:pt x="0" y="2051"/>
                </a:lnTo>
                <a:lnTo>
                  <a:pt x="13" y="2051"/>
                </a:lnTo>
                <a:close/>
                <a:moveTo>
                  <a:pt x="13" y="2077"/>
                </a:moveTo>
                <a:lnTo>
                  <a:pt x="13" y="2091"/>
                </a:lnTo>
                <a:lnTo>
                  <a:pt x="0" y="2091"/>
                </a:lnTo>
                <a:lnTo>
                  <a:pt x="0" y="2077"/>
                </a:lnTo>
                <a:lnTo>
                  <a:pt x="13" y="2077"/>
                </a:lnTo>
                <a:close/>
                <a:moveTo>
                  <a:pt x="13" y="2104"/>
                </a:moveTo>
                <a:lnTo>
                  <a:pt x="13" y="2117"/>
                </a:lnTo>
                <a:lnTo>
                  <a:pt x="0" y="2117"/>
                </a:lnTo>
                <a:lnTo>
                  <a:pt x="0" y="2104"/>
                </a:lnTo>
                <a:lnTo>
                  <a:pt x="13" y="2104"/>
                </a:lnTo>
                <a:close/>
                <a:moveTo>
                  <a:pt x="13" y="2131"/>
                </a:moveTo>
                <a:lnTo>
                  <a:pt x="13" y="2144"/>
                </a:lnTo>
                <a:lnTo>
                  <a:pt x="0" y="2144"/>
                </a:lnTo>
                <a:lnTo>
                  <a:pt x="0" y="2131"/>
                </a:lnTo>
                <a:lnTo>
                  <a:pt x="13" y="2131"/>
                </a:lnTo>
                <a:close/>
                <a:moveTo>
                  <a:pt x="13" y="2157"/>
                </a:moveTo>
                <a:lnTo>
                  <a:pt x="13" y="2171"/>
                </a:lnTo>
                <a:lnTo>
                  <a:pt x="0" y="2171"/>
                </a:lnTo>
                <a:lnTo>
                  <a:pt x="0" y="2157"/>
                </a:lnTo>
                <a:lnTo>
                  <a:pt x="13" y="2157"/>
                </a:lnTo>
                <a:close/>
                <a:moveTo>
                  <a:pt x="13" y="2184"/>
                </a:moveTo>
                <a:lnTo>
                  <a:pt x="13" y="2197"/>
                </a:lnTo>
                <a:lnTo>
                  <a:pt x="0" y="2197"/>
                </a:lnTo>
                <a:lnTo>
                  <a:pt x="0" y="2184"/>
                </a:lnTo>
                <a:lnTo>
                  <a:pt x="13" y="2184"/>
                </a:lnTo>
                <a:close/>
                <a:moveTo>
                  <a:pt x="13" y="2211"/>
                </a:moveTo>
                <a:lnTo>
                  <a:pt x="13" y="2224"/>
                </a:lnTo>
                <a:lnTo>
                  <a:pt x="0" y="2224"/>
                </a:lnTo>
                <a:lnTo>
                  <a:pt x="0" y="2211"/>
                </a:lnTo>
                <a:lnTo>
                  <a:pt x="13" y="2211"/>
                </a:lnTo>
                <a:close/>
                <a:moveTo>
                  <a:pt x="13" y="2237"/>
                </a:moveTo>
                <a:lnTo>
                  <a:pt x="13" y="2251"/>
                </a:lnTo>
                <a:lnTo>
                  <a:pt x="0" y="2251"/>
                </a:lnTo>
                <a:lnTo>
                  <a:pt x="0" y="2237"/>
                </a:lnTo>
                <a:lnTo>
                  <a:pt x="13" y="2237"/>
                </a:lnTo>
                <a:close/>
                <a:moveTo>
                  <a:pt x="13" y="2264"/>
                </a:moveTo>
                <a:lnTo>
                  <a:pt x="13" y="2277"/>
                </a:lnTo>
                <a:lnTo>
                  <a:pt x="0" y="2277"/>
                </a:lnTo>
                <a:lnTo>
                  <a:pt x="0" y="2264"/>
                </a:lnTo>
                <a:lnTo>
                  <a:pt x="13" y="2264"/>
                </a:lnTo>
                <a:close/>
                <a:moveTo>
                  <a:pt x="13" y="2290"/>
                </a:moveTo>
                <a:lnTo>
                  <a:pt x="13" y="2304"/>
                </a:lnTo>
                <a:lnTo>
                  <a:pt x="0" y="2304"/>
                </a:lnTo>
                <a:lnTo>
                  <a:pt x="0" y="2290"/>
                </a:lnTo>
                <a:lnTo>
                  <a:pt x="13" y="2290"/>
                </a:lnTo>
                <a:close/>
                <a:moveTo>
                  <a:pt x="13" y="2317"/>
                </a:moveTo>
                <a:lnTo>
                  <a:pt x="13" y="2330"/>
                </a:lnTo>
                <a:lnTo>
                  <a:pt x="0" y="2330"/>
                </a:lnTo>
                <a:lnTo>
                  <a:pt x="0" y="2317"/>
                </a:lnTo>
                <a:lnTo>
                  <a:pt x="13" y="2317"/>
                </a:lnTo>
                <a:close/>
                <a:moveTo>
                  <a:pt x="13" y="2344"/>
                </a:moveTo>
                <a:lnTo>
                  <a:pt x="13" y="2347"/>
                </a:lnTo>
                <a:lnTo>
                  <a:pt x="0" y="2347"/>
                </a:lnTo>
                <a:lnTo>
                  <a:pt x="0" y="2344"/>
                </a:lnTo>
                <a:lnTo>
                  <a:pt x="13" y="2344"/>
                </a:lnTo>
                <a:close/>
              </a:path>
            </a:pathLst>
          </a:custGeom>
          <a:solidFill>
            <a:srgbClr val="000000"/>
          </a:solidFill>
          <a:ln w="0" cap="flat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sz="1600" dirty="0">
              <a:ea typeface="SimHei" panose="02010609060101010101" pitchFamily="49" charset="-122"/>
            </a:endParaRPr>
          </a:p>
        </p:txBody>
      </p:sp>
      <p:sp>
        <p:nvSpPr>
          <p:cNvPr id="219" name="Freeform 33">
            <a:extLst>
              <a:ext uri="{FF2B5EF4-FFF2-40B4-BE49-F238E27FC236}">
                <a16:creationId xmlns:a16="http://schemas.microsoft.com/office/drawing/2014/main" id="{910A2F32-1D9F-4F6A-B460-9F94ED7B4D88}"/>
              </a:ext>
            </a:extLst>
          </p:cNvPr>
          <p:cNvSpPr>
            <a:spLocks noEditPoints="1"/>
          </p:cNvSpPr>
          <p:nvPr/>
        </p:nvSpPr>
        <p:spPr bwMode="auto">
          <a:xfrm>
            <a:off x="1807928" y="3442987"/>
            <a:ext cx="58093" cy="2602591"/>
          </a:xfrm>
          <a:custGeom>
            <a:avLst/>
            <a:gdLst>
              <a:gd name="T0" fmla="*/ 30 w 45"/>
              <a:gd name="T1" fmla="*/ 0 h 2038"/>
              <a:gd name="T2" fmla="*/ 30 w 45"/>
              <a:gd name="T3" fmla="*/ 2001 h 2038"/>
              <a:gd name="T4" fmla="*/ 15 w 45"/>
              <a:gd name="T5" fmla="*/ 2001 h 2038"/>
              <a:gd name="T6" fmla="*/ 15 w 45"/>
              <a:gd name="T7" fmla="*/ 0 h 2038"/>
              <a:gd name="T8" fmla="*/ 30 w 45"/>
              <a:gd name="T9" fmla="*/ 0 h 2038"/>
              <a:gd name="T10" fmla="*/ 45 w 45"/>
              <a:gd name="T11" fmla="*/ 1993 h 2038"/>
              <a:gd name="T12" fmla="*/ 23 w 45"/>
              <a:gd name="T13" fmla="*/ 2038 h 2038"/>
              <a:gd name="T14" fmla="*/ 0 w 45"/>
              <a:gd name="T15" fmla="*/ 1993 h 2038"/>
              <a:gd name="T16" fmla="*/ 45 w 45"/>
              <a:gd name="T17" fmla="*/ 1993 h 20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45" h="2038">
                <a:moveTo>
                  <a:pt x="30" y="0"/>
                </a:moveTo>
                <a:lnTo>
                  <a:pt x="30" y="2001"/>
                </a:lnTo>
                <a:lnTo>
                  <a:pt x="15" y="2001"/>
                </a:lnTo>
                <a:lnTo>
                  <a:pt x="15" y="0"/>
                </a:lnTo>
                <a:lnTo>
                  <a:pt x="30" y="0"/>
                </a:lnTo>
                <a:close/>
                <a:moveTo>
                  <a:pt x="45" y="1993"/>
                </a:moveTo>
                <a:lnTo>
                  <a:pt x="23" y="2038"/>
                </a:lnTo>
                <a:lnTo>
                  <a:pt x="0" y="1993"/>
                </a:lnTo>
                <a:lnTo>
                  <a:pt x="45" y="1993"/>
                </a:lnTo>
                <a:close/>
              </a:path>
            </a:pathLst>
          </a:custGeom>
          <a:solidFill>
            <a:srgbClr val="000000"/>
          </a:solidFill>
          <a:ln w="0" cap="flat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i="1" dirty="0">
              <a:ea typeface="SimHei" panose="02010609060101010101" pitchFamily="49" charset="-122"/>
            </a:endParaRPr>
          </a:p>
        </p:txBody>
      </p:sp>
      <p:sp>
        <p:nvSpPr>
          <p:cNvPr id="220" name="Freeform 34">
            <a:extLst>
              <a:ext uri="{FF2B5EF4-FFF2-40B4-BE49-F238E27FC236}">
                <a16:creationId xmlns:a16="http://schemas.microsoft.com/office/drawing/2014/main" id="{506A86F1-90A4-44A2-9689-1EC9CABDE8CC}"/>
              </a:ext>
            </a:extLst>
          </p:cNvPr>
          <p:cNvSpPr>
            <a:spLocks/>
          </p:cNvSpPr>
          <p:nvPr/>
        </p:nvSpPr>
        <p:spPr bwMode="auto">
          <a:xfrm>
            <a:off x="4402750" y="3331301"/>
            <a:ext cx="231083" cy="509536"/>
          </a:xfrm>
          <a:custGeom>
            <a:avLst/>
            <a:gdLst>
              <a:gd name="T0" fmla="*/ 0 w 179"/>
              <a:gd name="T1" fmla="*/ 266 h 399"/>
              <a:gd name="T2" fmla="*/ 60 w 179"/>
              <a:gd name="T3" fmla="*/ 200 h 399"/>
              <a:gd name="T4" fmla="*/ 0 w 179"/>
              <a:gd name="T5" fmla="*/ 133 h 399"/>
              <a:gd name="T6" fmla="*/ 0 w 179"/>
              <a:gd name="T7" fmla="*/ 0 h 399"/>
              <a:gd name="T8" fmla="*/ 179 w 179"/>
              <a:gd name="T9" fmla="*/ 133 h 399"/>
              <a:gd name="T10" fmla="*/ 179 w 179"/>
              <a:gd name="T11" fmla="*/ 266 h 399"/>
              <a:gd name="T12" fmla="*/ 0 w 179"/>
              <a:gd name="T13" fmla="*/ 399 h 399"/>
              <a:gd name="T14" fmla="*/ 0 w 179"/>
              <a:gd name="T15" fmla="*/ 266 h 39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179" h="399">
                <a:moveTo>
                  <a:pt x="0" y="266"/>
                </a:moveTo>
                <a:lnTo>
                  <a:pt x="60" y="200"/>
                </a:lnTo>
                <a:lnTo>
                  <a:pt x="0" y="133"/>
                </a:lnTo>
                <a:lnTo>
                  <a:pt x="0" y="0"/>
                </a:lnTo>
                <a:lnTo>
                  <a:pt x="179" y="133"/>
                </a:lnTo>
                <a:lnTo>
                  <a:pt x="179" y="266"/>
                </a:lnTo>
                <a:lnTo>
                  <a:pt x="0" y="399"/>
                </a:lnTo>
                <a:lnTo>
                  <a:pt x="0" y="266"/>
                </a:lnTo>
              </a:path>
            </a:pathLst>
          </a:custGeom>
          <a:noFill/>
          <a:ln w="20638" cap="rnd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sz="1600" dirty="0">
              <a:ea typeface="SimHei" panose="02010609060101010101" pitchFamily="49" charset="-122"/>
            </a:endParaRPr>
          </a:p>
        </p:txBody>
      </p:sp>
      <p:sp>
        <p:nvSpPr>
          <p:cNvPr id="221" name="Rectangle 35">
            <a:extLst>
              <a:ext uri="{FF2B5EF4-FFF2-40B4-BE49-F238E27FC236}">
                <a16:creationId xmlns:a16="http://schemas.microsoft.com/office/drawing/2014/main" id="{C88B5585-35D7-48C4-B81E-786AEA704DE0}"/>
              </a:ext>
            </a:extLst>
          </p:cNvPr>
          <p:cNvSpPr>
            <a:spLocks noChangeArrowheads="1"/>
          </p:cNvSpPr>
          <p:nvPr/>
        </p:nvSpPr>
        <p:spPr bwMode="auto">
          <a:xfrm rot="5400000">
            <a:off x="4292019" y="3498237"/>
            <a:ext cx="492934" cy="1692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zh-CN" altLang="zh-CN" sz="1100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rPr>
              <a:t>ALU</a:t>
            </a:r>
            <a:endParaRPr kumimoji="0" lang="zh-CN" altLang="zh-CN" sz="110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  <a:ea typeface="SimHei" panose="02010609060101010101" pitchFamily="49" charset="-122"/>
            </a:endParaRPr>
          </a:p>
        </p:txBody>
      </p:sp>
      <p:sp>
        <p:nvSpPr>
          <p:cNvPr id="222" name="Rectangle 36">
            <a:extLst>
              <a:ext uri="{FF2B5EF4-FFF2-40B4-BE49-F238E27FC236}">
                <a16:creationId xmlns:a16="http://schemas.microsoft.com/office/drawing/2014/main" id="{3C7BA4B0-6EEF-4664-86AB-72DAFED913A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06190" y="3475606"/>
            <a:ext cx="171522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zh-CN" altLang="zh-CN" sz="1200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rPr>
              <a:t>IM</a:t>
            </a:r>
            <a:endParaRPr kumimoji="0" lang="zh-CN" altLang="zh-CN" sz="160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  <a:ea typeface="SimHei" panose="02010609060101010101" pitchFamily="49" charset="-122"/>
            </a:endParaRPr>
          </a:p>
        </p:txBody>
      </p:sp>
      <p:sp>
        <p:nvSpPr>
          <p:cNvPr id="223" name="Freeform 37">
            <a:extLst>
              <a:ext uri="{FF2B5EF4-FFF2-40B4-BE49-F238E27FC236}">
                <a16:creationId xmlns:a16="http://schemas.microsoft.com/office/drawing/2014/main" id="{5D5D6F6A-6238-4B94-83CB-1BA629EED944}"/>
              </a:ext>
            </a:extLst>
          </p:cNvPr>
          <p:cNvSpPr>
            <a:spLocks/>
          </p:cNvSpPr>
          <p:nvPr/>
        </p:nvSpPr>
        <p:spPr bwMode="auto">
          <a:xfrm>
            <a:off x="3408705" y="3433463"/>
            <a:ext cx="180735" cy="305211"/>
          </a:xfrm>
          <a:custGeom>
            <a:avLst/>
            <a:gdLst>
              <a:gd name="T0" fmla="*/ 140 w 140"/>
              <a:gd name="T1" fmla="*/ 0 h 239"/>
              <a:gd name="T2" fmla="*/ 0 w 140"/>
              <a:gd name="T3" fmla="*/ 0 h 239"/>
              <a:gd name="T4" fmla="*/ 0 w 140"/>
              <a:gd name="T5" fmla="*/ 239 h 239"/>
              <a:gd name="T6" fmla="*/ 140 w 140"/>
              <a:gd name="T7" fmla="*/ 239 h 2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140" h="239">
                <a:moveTo>
                  <a:pt x="140" y="0"/>
                </a:moveTo>
                <a:lnTo>
                  <a:pt x="0" y="0"/>
                </a:lnTo>
                <a:lnTo>
                  <a:pt x="0" y="239"/>
                </a:lnTo>
                <a:lnTo>
                  <a:pt x="140" y="239"/>
                </a:lnTo>
              </a:path>
            </a:pathLst>
          </a:custGeom>
          <a:noFill/>
          <a:ln w="20638" cap="rnd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sz="1600" dirty="0">
              <a:ea typeface="SimHei" panose="02010609060101010101" pitchFamily="49" charset="-122"/>
            </a:endParaRPr>
          </a:p>
        </p:txBody>
      </p:sp>
      <p:sp>
        <p:nvSpPr>
          <p:cNvPr id="224" name="Freeform 38">
            <a:extLst>
              <a:ext uri="{FF2B5EF4-FFF2-40B4-BE49-F238E27FC236}">
                <a16:creationId xmlns:a16="http://schemas.microsoft.com/office/drawing/2014/main" id="{8FD7AF53-DCF8-484F-8AF2-ED36CC5FE3C7}"/>
              </a:ext>
            </a:extLst>
          </p:cNvPr>
          <p:cNvSpPr>
            <a:spLocks/>
          </p:cNvSpPr>
          <p:nvPr/>
        </p:nvSpPr>
        <p:spPr bwMode="auto">
          <a:xfrm>
            <a:off x="3589441" y="3433463"/>
            <a:ext cx="185899" cy="305211"/>
          </a:xfrm>
          <a:custGeom>
            <a:avLst/>
            <a:gdLst>
              <a:gd name="T0" fmla="*/ 0 w 144"/>
              <a:gd name="T1" fmla="*/ 0 h 239"/>
              <a:gd name="T2" fmla="*/ 144 w 144"/>
              <a:gd name="T3" fmla="*/ 0 h 239"/>
              <a:gd name="T4" fmla="*/ 144 w 144"/>
              <a:gd name="T5" fmla="*/ 239 h 239"/>
              <a:gd name="T6" fmla="*/ 0 w 144"/>
              <a:gd name="T7" fmla="*/ 239 h 2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144" h="239">
                <a:moveTo>
                  <a:pt x="0" y="0"/>
                </a:moveTo>
                <a:lnTo>
                  <a:pt x="144" y="0"/>
                </a:lnTo>
                <a:lnTo>
                  <a:pt x="144" y="239"/>
                </a:lnTo>
                <a:lnTo>
                  <a:pt x="0" y="239"/>
                </a:lnTo>
              </a:path>
            </a:pathLst>
          </a:custGeom>
          <a:noFill/>
          <a:ln w="20638" cap="rnd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sz="1600" dirty="0">
              <a:ea typeface="SimHei" panose="02010609060101010101" pitchFamily="49" charset="-122"/>
            </a:endParaRPr>
          </a:p>
        </p:txBody>
      </p:sp>
      <p:sp>
        <p:nvSpPr>
          <p:cNvPr id="225" name="Rectangle 39">
            <a:extLst>
              <a:ext uri="{FF2B5EF4-FFF2-40B4-BE49-F238E27FC236}">
                <a16:creationId xmlns:a16="http://schemas.microsoft.com/office/drawing/2014/main" id="{77803E28-EAE4-4481-B9B7-29556A6D13B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34931" y="3490238"/>
            <a:ext cx="290144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zh-CN" altLang="zh-CN" sz="1200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rPr>
              <a:t>Reg</a:t>
            </a:r>
            <a:endParaRPr kumimoji="0" lang="zh-CN" altLang="zh-CN" sz="160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  <a:ea typeface="SimHei" panose="02010609060101010101" pitchFamily="49" charset="-122"/>
            </a:endParaRPr>
          </a:p>
        </p:txBody>
      </p:sp>
      <p:sp>
        <p:nvSpPr>
          <p:cNvPr id="226" name="Freeform 40">
            <a:extLst>
              <a:ext uri="{FF2B5EF4-FFF2-40B4-BE49-F238E27FC236}">
                <a16:creationId xmlns:a16="http://schemas.microsoft.com/office/drawing/2014/main" id="{760097EC-570E-4822-95E4-C3AF5C728E91}"/>
              </a:ext>
            </a:extLst>
          </p:cNvPr>
          <p:cNvSpPr>
            <a:spLocks/>
          </p:cNvSpPr>
          <p:nvPr/>
        </p:nvSpPr>
        <p:spPr bwMode="auto">
          <a:xfrm>
            <a:off x="3905727" y="3433463"/>
            <a:ext cx="153625" cy="305211"/>
          </a:xfrm>
          <a:custGeom>
            <a:avLst/>
            <a:gdLst>
              <a:gd name="T0" fmla="*/ 119 w 119"/>
              <a:gd name="T1" fmla="*/ 0 h 239"/>
              <a:gd name="T2" fmla="*/ 0 w 119"/>
              <a:gd name="T3" fmla="*/ 0 h 239"/>
              <a:gd name="T4" fmla="*/ 0 w 119"/>
              <a:gd name="T5" fmla="*/ 239 h 239"/>
              <a:gd name="T6" fmla="*/ 119 w 119"/>
              <a:gd name="T7" fmla="*/ 239 h 2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119" h="239">
                <a:moveTo>
                  <a:pt x="119" y="0"/>
                </a:moveTo>
                <a:lnTo>
                  <a:pt x="0" y="0"/>
                </a:lnTo>
                <a:lnTo>
                  <a:pt x="0" y="239"/>
                </a:lnTo>
                <a:lnTo>
                  <a:pt x="119" y="239"/>
                </a:lnTo>
              </a:path>
            </a:pathLst>
          </a:custGeom>
          <a:noFill/>
          <a:ln w="20638" cap="rnd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sz="1600" dirty="0">
              <a:ea typeface="SimHei" panose="02010609060101010101" pitchFamily="49" charset="-122"/>
            </a:endParaRPr>
          </a:p>
        </p:txBody>
      </p:sp>
      <p:sp>
        <p:nvSpPr>
          <p:cNvPr id="227" name="Freeform 41">
            <a:extLst>
              <a:ext uri="{FF2B5EF4-FFF2-40B4-BE49-F238E27FC236}">
                <a16:creationId xmlns:a16="http://schemas.microsoft.com/office/drawing/2014/main" id="{60DD780E-F50F-4038-8E74-EDAB484D6DCA}"/>
              </a:ext>
            </a:extLst>
          </p:cNvPr>
          <p:cNvSpPr>
            <a:spLocks/>
          </p:cNvSpPr>
          <p:nvPr/>
        </p:nvSpPr>
        <p:spPr bwMode="auto">
          <a:xfrm>
            <a:off x="4060643" y="3433463"/>
            <a:ext cx="160080" cy="305211"/>
          </a:xfrm>
          <a:custGeom>
            <a:avLst/>
            <a:gdLst>
              <a:gd name="T0" fmla="*/ 0 w 124"/>
              <a:gd name="T1" fmla="*/ 0 h 239"/>
              <a:gd name="T2" fmla="*/ 124 w 124"/>
              <a:gd name="T3" fmla="*/ 0 h 239"/>
              <a:gd name="T4" fmla="*/ 124 w 124"/>
              <a:gd name="T5" fmla="*/ 239 h 239"/>
              <a:gd name="T6" fmla="*/ 0 w 124"/>
              <a:gd name="T7" fmla="*/ 239 h 2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124" h="239">
                <a:moveTo>
                  <a:pt x="0" y="0"/>
                </a:moveTo>
                <a:lnTo>
                  <a:pt x="124" y="0"/>
                </a:lnTo>
                <a:lnTo>
                  <a:pt x="124" y="239"/>
                </a:lnTo>
                <a:lnTo>
                  <a:pt x="0" y="239"/>
                </a:lnTo>
              </a:path>
            </a:pathLst>
          </a:custGeom>
          <a:noFill/>
          <a:ln w="20638" cap="rnd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sz="1600" dirty="0">
              <a:ea typeface="SimHei" panose="02010609060101010101" pitchFamily="49" charset="-122"/>
            </a:endParaRPr>
          </a:p>
        </p:txBody>
      </p:sp>
      <p:sp>
        <p:nvSpPr>
          <p:cNvPr id="228" name="Line 42">
            <a:extLst>
              <a:ext uri="{FF2B5EF4-FFF2-40B4-BE49-F238E27FC236}">
                <a16:creationId xmlns:a16="http://schemas.microsoft.com/office/drawing/2014/main" id="{D73D3FB5-0FF7-4760-84FB-023332B5BC21}"/>
              </a:ext>
            </a:extLst>
          </p:cNvPr>
          <p:cNvSpPr>
            <a:spLocks noChangeShapeType="1"/>
          </p:cNvSpPr>
          <p:nvPr/>
        </p:nvSpPr>
        <p:spPr bwMode="auto">
          <a:xfrm>
            <a:off x="3776630" y="3586707"/>
            <a:ext cx="129097" cy="0"/>
          </a:xfrm>
          <a:prstGeom prst="line">
            <a:avLst/>
          </a:prstGeom>
          <a:noFill/>
          <a:ln w="20638" cap="flat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sz="1600" dirty="0">
              <a:ea typeface="SimHei" panose="02010609060101010101" pitchFamily="49" charset="-122"/>
            </a:endParaRPr>
          </a:p>
        </p:txBody>
      </p:sp>
      <p:sp>
        <p:nvSpPr>
          <p:cNvPr id="229" name="Freeform 43">
            <a:extLst>
              <a:ext uri="{FF2B5EF4-FFF2-40B4-BE49-F238E27FC236}">
                <a16:creationId xmlns:a16="http://schemas.microsoft.com/office/drawing/2014/main" id="{3679D7E7-C8A8-4FCB-8343-BD5D15E0035B}"/>
              </a:ext>
            </a:extLst>
          </p:cNvPr>
          <p:cNvSpPr>
            <a:spLocks/>
          </p:cNvSpPr>
          <p:nvPr/>
        </p:nvSpPr>
        <p:spPr bwMode="auto">
          <a:xfrm>
            <a:off x="3854089" y="3484545"/>
            <a:ext cx="50347" cy="102163"/>
          </a:xfrm>
          <a:custGeom>
            <a:avLst/>
            <a:gdLst>
              <a:gd name="T0" fmla="*/ 0 w 39"/>
              <a:gd name="T1" fmla="*/ 80 h 80"/>
              <a:gd name="T2" fmla="*/ 0 w 39"/>
              <a:gd name="T3" fmla="*/ 0 h 80"/>
              <a:gd name="T4" fmla="*/ 39 w 39"/>
              <a:gd name="T5" fmla="*/ 0 h 8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39" h="80">
                <a:moveTo>
                  <a:pt x="0" y="80"/>
                </a:moveTo>
                <a:lnTo>
                  <a:pt x="0" y="0"/>
                </a:lnTo>
                <a:lnTo>
                  <a:pt x="39" y="0"/>
                </a:lnTo>
              </a:path>
            </a:pathLst>
          </a:custGeom>
          <a:noFill/>
          <a:ln w="20638" cap="rnd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sz="1600" dirty="0">
              <a:ea typeface="SimHei" panose="02010609060101010101" pitchFamily="49" charset="-122"/>
            </a:endParaRPr>
          </a:p>
        </p:txBody>
      </p:sp>
      <p:sp>
        <p:nvSpPr>
          <p:cNvPr id="230" name="Line 44">
            <a:extLst>
              <a:ext uri="{FF2B5EF4-FFF2-40B4-BE49-F238E27FC236}">
                <a16:creationId xmlns:a16="http://schemas.microsoft.com/office/drawing/2014/main" id="{B641B5DD-FAF1-4F69-9236-AB719A145286}"/>
              </a:ext>
            </a:extLst>
          </p:cNvPr>
          <p:cNvSpPr>
            <a:spLocks noChangeShapeType="1"/>
          </p:cNvSpPr>
          <p:nvPr/>
        </p:nvSpPr>
        <p:spPr bwMode="auto">
          <a:xfrm>
            <a:off x="4228469" y="3484545"/>
            <a:ext cx="167826" cy="0"/>
          </a:xfrm>
          <a:prstGeom prst="line">
            <a:avLst/>
          </a:prstGeom>
          <a:noFill/>
          <a:ln w="20638" cap="flat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sz="1600" dirty="0">
              <a:ea typeface="SimHei" panose="02010609060101010101" pitchFamily="49" charset="-122"/>
            </a:endParaRPr>
          </a:p>
        </p:txBody>
      </p:sp>
      <p:sp>
        <p:nvSpPr>
          <p:cNvPr id="231" name="Rectangle 45">
            <a:extLst>
              <a:ext uri="{FF2B5EF4-FFF2-40B4-BE49-F238E27FC236}">
                <a16:creationId xmlns:a16="http://schemas.microsoft.com/office/drawing/2014/main" id="{3EB95C45-6EF2-4BB5-BDC1-95F1C79A696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69939" y="3485131"/>
            <a:ext cx="238848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zh-CN" altLang="zh-CN" sz="1200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rPr>
              <a:t>DM</a:t>
            </a:r>
            <a:endParaRPr kumimoji="0" lang="zh-CN" altLang="zh-CN" sz="160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  <a:ea typeface="SimHei" panose="02010609060101010101" pitchFamily="49" charset="-122"/>
            </a:endParaRPr>
          </a:p>
        </p:txBody>
      </p:sp>
      <p:sp>
        <p:nvSpPr>
          <p:cNvPr id="232" name="Freeform 46">
            <a:extLst>
              <a:ext uri="{FF2B5EF4-FFF2-40B4-BE49-F238E27FC236}">
                <a16:creationId xmlns:a16="http://schemas.microsoft.com/office/drawing/2014/main" id="{77A48C61-9F5C-4237-8DC9-21F66FB265F8}"/>
              </a:ext>
            </a:extLst>
          </p:cNvPr>
          <p:cNvSpPr>
            <a:spLocks/>
          </p:cNvSpPr>
          <p:nvPr/>
        </p:nvSpPr>
        <p:spPr bwMode="auto">
          <a:xfrm>
            <a:off x="4815860" y="3433463"/>
            <a:ext cx="172990" cy="305211"/>
          </a:xfrm>
          <a:custGeom>
            <a:avLst/>
            <a:gdLst>
              <a:gd name="T0" fmla="*/ 134 w 134"/>
              <a:gd name="T1" fmla="*/ 0 h 239"/>
              <a:gd name="T2" fmla="*/ 0 w 134"/>
              <a:gd name="T3" fmla="*/ 0 h 239"/>
              <a:gd name="T4" fmla="*/ 0 w 134"/>
              <a:gd name="T5" fmla="*/ 239 h 239"/>
              <a:gd name="T6" fmla="*/ 134 w 134"/>
              <a:gd name="T7" fmla="*/ 239 h 2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134" h="239">
                <a:moveTo>
                  <a:pt x="134" y="0"/>
                </a:moveTo>
                <a:lnTo>
                  <a:pt x="0" y="0"/>
                </a:lnTo>
                <a:lnTo>
                  <a:pt x="0" y="239"/>
                </a:lnTo>
                <a:lnTo>
                  <a:pt x="134" y="239"/>
                </a:lnTo>
              </a:path>
            </a:pathLst>
          </a:custGeom>
          <a:noFill/>
          <a:ln w="20638" cap="rnd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sz="1600" dirty="0">
              <a:ea typeface="SimHei" panose="02010609060101010101" pitchFamily="49" charset="-122"/>
            </a:endParaRPr>
          </a:p>
        </p:txBody>
      </p:sp>
      <p:sp>
        <p:nvSpPr>
          <p:cNvPr id="233" name="Freeform 47">
            <a:extLst>
              <a:ext uri="{FF2B5EF4-FFF2-40B4-BE49-F238E27FC236}">
                <a16:creationId xmlns:a16="http://schemas.microsoft.com/office/drawing/2014/main" id="{CB9AAEB5-6199-4247-83CA-1A2A9ABB2F95}"/>
              </a:ext>
            </a:extLst>
          </p:cNvPr>
          <p:cNvSpPr>
            <a:spLocks/>
          </p:cNvSpPr>
          <p:nvPr/>
        </p:nvSpPr>
        <p:spPr bwMode="auto">
          <a:xfrm>
            <a:off x="4988850" y="3433463"/>
            <a:ext cx="174280" cy="305211"/>
          </a:xfrm>
          <a:custGeom>
            <a:avLst/>
            <a:gdLst>
              <a:gd name="T0" fmla="*/ 0 w 135"/>
              <a:gd name="T1" fmla="*/ 0 h 239"/>
              <a:gd name="T2" fmla="*/ 135 w 135"/>
              <a:gd name="T3" fmla="*/ 0 h 239"/>
              <a:gd name="T4" fmla="*/ 135 w 135"/>
              <a:gd name="T5" fmla="*/ 239 h 239"/>
              <a:gd name="T6" fmla="*/ 0 w 135"/>
              <a:gd name="T7" fmla="*/ 239 h 2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135" h="239">
                <a:moveTo>
                  <a:pt x="0" y="0"/>
                </a:moveTo>
                <a:lnTo>
                  <a:pt x="135" y="0"/>
                </a:lnTo>
                <a:lnTo>
                  <a:pt x="135" y="239"/>
                </a:lnTo>
                <a:lnTo>
                  <a:pt x="0" y="239"/>
                </a:lnTo>
              </a:path>
            </a:pathLst>
          </a:custGeom>
          <a:noFill/>
          <a:ln w="20638" cap="rnd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sz="1600" dirty="0">
              <a:ea typeface="SimHei" panose="02010609060101010101" pitchFamily="49" charset="-122"/>
            </a:endParaRPr>
          </a:p>
        </p:txBody>
      </p:sp>
      <p:sp>
        <p:nvSpPr>
          <p:cNvPr id="234" name="Rectangle 48">
            <a:extLst>
              <a:ext uri="{FF2B5EF4-FFF2-40B4-BE49-F238E27FC236}">
                <a16:creationId xmlns:a16="http://schemas.microsoft.com/office/drawing/2014/main" id="{FBB70BB5-FA04-4F6A-B7A7-67E303973FA1}"/>
              </a:ext>
            </a:extLst>
          </p:cNvPr>
          <p:cNvSpPr>
            <a:spLocks noChangeArrowheads="1"/>
          </p:cNvSpPr>
          <p:nvPr/>
        </p:nvSpPr>
        <p:spPr bwMode="auto">
          <a:xfrm>
            <a:off x="5340796" y="3485131"/>
            <a:ext cx="290144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zh-CN" altLang="zh-CN" sz="1200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rPr>
              <a:t>Reg</a:t>
            </a:r>
            <a:endParaRPr kumimoji="0" lang="zh-CN" altLang="zh-CN" sz="160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  <a:ea typeface="SimHei" panose="02010609060101010101" pitchFamily="49" charset="-122"/>
            </a:endParaRPr>
          </a:p>
        </p:txBody>
      </p:sp>
      <p:sp>
        <p:nvSpPr>
          <p:cNvPr id="235" name="Freeform 49">
            <a:extLst>
              <a:ext uri="{FF2B5EF4-FFF2-40B4-BE49-F238E27FC236}">
                <a16:creationId xmlns:a16="http://schemas.microsoft.com/office/drawing/2014/main" id="{F10DB00A-07A3-46F5-A694-7CBF4D55140D}"/>
              </a:ext>
            </a:extLst>
          </p:cNvPr>
          <p:cNvSpPr>
            <a:spLocks/>
          </p:cNvSpPr>
          <p:nvPr/>
        </p:nvSpPr>
        <p:spPr bwMode="auto">
          <a:xfrm>
            <a:off x="5318046" y="3433463"/>
            <a:ext cx="154916" cy="305211"/>
          </a:xfrm>
          <a:custGeom>
            <a:avLst/>
            <a:gdLst>
              <a:gd name="T0" fmla="*/ 120 w 120"/>
              <a:gd name="T1" fmla="*/ 0 h 239"/>
              <a:gd name="T2" fmla="*/ 0 w 120"/>
              <a:gd name="T3" fmla="*/ 0 h 239"/>
              <a:gd name="T4" fmla="*/ 0 w 120"/>
              <a:gd name="T5" fmla="*/ 239 h 239"/>
              <a:gd name="T6" fmla="*/ 120 w 120"/>
              <a:gd name="T7" fmla="*/ 239 h 2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120" h="239">
                <a:moveTo>
                  <a:pt x="120" y="0"/>
                </a:moveTo>
                <a:lnTo>
                  <a:pt x="0" y="0"/>
                </a:lnTo>
                <a:lnTo>
                  <a:pt x="0" y="239"/>
                </a:lnTo>
                <a:lnTo>
                  <a:pt x="120" y="239"/>
                </a:lnTo>
              </a:path>
            </a:pathLst>
          </a:custGeom>
          <a:noFill/>
          <a:ln w="20638" cap="rnd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sz="1600" dirty="0">
              <a:ea typeface="SimHei" panose="02010609060101010101" pitchFamily="49" charset="-122"/>
            </a:endParaRPr>
          </a:p>
        </p:txBody>
      </p:sp>
      <p:sp>
        <p:nvSpPr>
          <p:cNvPr id="236" name="Freeform 50">
            <a:extLst>
              <a:ext uri="{FF2B5EF4-FFF2-40B4-BE49-F238E27FC236}">
                <a16:creationId xmlns:a16="http://schemas.microsoft.com/office/drawing/2014/main" id="{BD318FAE-5A1A-4CEE-9151-0DEB6E6ACABE}"/>
              </a:ext>
            </a:extLst>
          </p:cNvPr>
          <p:cNvSpPr>
            <a:spLocks/>
          </p:cNvSpPr>
          <p:nvPr/>
        </p:nvSpPr>
        <p:spPr bwMode="auto">
          <a:xfrm>
            <a:off x="5472962" y="3433463"/>
            <a:ext cx="147170" cy="305211"/>
          </a:xfrm>
          <a:custGeom>
            <a:avLst/>
            <a:gdLst>
              <a:gd name="T0" fmla="*/ 0 w 114"/>
              <a:gd name="T1" fmla="*/ 0 h 239"/>
              <a:gd name="T2" fmla="*/ 114 w 114"/>
              <a:gd name="T3" fmla="*/ 0 h 239"/>
              <a:gd name="T4" fmla="*/ 114 w 114"/>
              <a:gd name="T5" fmla="*/ 239 h 239"/>
              <a:gd name="T6" fmla="*/ 0 w 114"/>
              <a:gd name="T7" fmla="*/ 239 h 2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114" h="239">
                <a:moveTo>
                  <a:pt x="0" y="0"/>
                </a:moveTo>
                <a:lnTo>
                  <a:pt x="114" y="0"/>
                </a:lnTo>
                <a:lnTo>
                  <a:pt x="114" y="239"/>
                </a:lnTo>
                <a:lnTo>
                  <a:pt x="0" y="239"/>
                </a:lnTo>
              </a:path>
            </a:pathLst>
          </a:custGeom>
          <a:noFill/>
          <a:ln w="20638" cap="rnd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sz="1600" dirty="0">
              <a:ea typeface="SimHei" panose="02010609060101010101" pitchFamily="49" charset="-122"/>
            </a:endParaRPr>
          </a:p>
        </p:txBody>
      </p:sp>
      <p:sp>
        <p:nvSpPr>
          <p:cNvPr id="237" name="Line 51">
            <a:extLst>
              <a:ext uri="{FF2B5EF4-FFF2-40B4-BE49-F238E27FC236}">
                <a16:creationId xmlns:a16="http://schemas.microsoft.com/office/drawing/2014/main" id="{A8DCC027-97EF-41FF-8EDC-095EA0C1A17F}"/>
              </a:ext>
            </a:extLst>
          </p:cNvPr>
          <p:cNvSpPr>
            <a:spLocks noChangeShapeType="1"/>
          </p:cNvSpPr>
          <p:nvPr/>
        </p:nvSpPr>
        <p:spPr bwMode="auto">
          <a:xfrm>
            <a:off x="5163130" y="3586707"/>
            <a:ext cx="148461" cy="0"/>
          </a:xfrm>
          <a:prstGeom prst="line">
            <a:avLst/>
          </a:prstGeom>
          <a:noFill/>
          <a:ln w="20638" cap="flat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sz="1600" dirty="0">
              <a:ea typeface="SimHei" panose="02010609060101010101" pitchFamily="49" charset="-122"/>
            </a:endParaRPr>
          </a:p>
        </p:txBody>
      </p:sp>
      <p:sp>
        <p:nvSpPr>
          <p:cNvPr id="238" name="Line 52">
            <a:extLst>
              <a:ext uri="{FF2B5EF4-FFF2-40B4-BE49-F238E27FC236}">
                <a16:creationId xmlns:a16="http://schemas.microsoft.com/office/drawing/2014/main" id="{F650216B-3C21-477E-BEA6-EEA40F27EF12}"/>
              </a:ext>
            </a:extLst>
          </p:cNvPr>
          <p:cNvSpPr>
            <a:spLocks noChangeShapeType="1"/>
          </p:cNvSpPr>
          <p:nvPr/>
        </p:nvSpPr>
        <p:spPr bwMode="auto">
          <a:xfrm>
            <a:off x="4641579" y="3586707"/>
            <a:ext cx="167826" cy="0"/>
          </a:xfrm>
          <a:prstGeom prst="line">
            <a:avLst/>
          </a:prstGeom>
          <a:noFill/>
          <a:ln w="20638" cap="flat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sz="1600" dirty="0">
              <a:ea typeface="SimHei" panose="02010609060101010101" pitchFamily="49" charset="-122"/>
            </a:endParaRPr>
          </a:p>
        </p:txBody>
      </p:sp>
      <p:sp>
        <p:nvSpPr>
          <p:cNvPr id="239" name="Line 53">
            <a:extLst>
              <a:ext uri="{FF2B5EF4-FFF2-40B4-BE49-F238E27FC236}">
                <a16:creationId xmlns:a16="http://schemas.microsoft.com/office/drawing/2014/main" id="{3BD3E390-4DF6-4BDC-9EBE-24991AE3925D}"/>
              </a:ext>
            </a:extLst>
          </p:cNvPr>
          <p:cNvSpPr>
            <a:spLocks noChangeShapeType="1"/>
          </p:cNvSpPr>
          <p:nvPr/>
        </p:nvSpPr>
        <p:spPr bwMode="auto">
          <a:xfrm>
            <a:off x="4228469" y="3688870"/>
            <a:ext cx="167826" cy="0"/>
          </a:xfrm>
          <a:prstGeom prst="line">
            <a:avLst/>
          </a:prstGeom>
          <a:noFill/>
          <a:ln w="20638" cap="flat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sz="1600" dirty="0">
              <a:ea typeface="SimHei" panose="02010609060101010101" pitchFamily="49" charset="-122"/>
            </a:endParaRPr>
          </a:p>
        </p:txBody>
      </p:sp>
      <p:sp>
        <p:nvSpPr>
          <p:cNvPr id="240" name="Line 54">
            <a:extLst>
              <a:ext uri="{FF2B5EF4-FFF2-40B4-BE49-F238E27FC236}">
                <a16:creationId xmlns:a16="http://schemas.microsoft.com/office/drawing/2014/main" id="{E90EABDB-3510-420F-8D56-7A0DDA26600F}"/>
              </a:ext>
            </a:extLst>
          </p:cNvPr>
          <p:cNvSpPr>
            <a:spLocks noChangeShapeType="1"/>
          </p:cNvSpPr>
          <p:nvPr/>
        </p:nvSpPr>
        <p:spPr bwMode="auto">
          <a:xfrm>
            <a:off x="4318837" y="3688870"/>
            <a:ext cx="0" cy="204325"/>
          </a:xfrm>
          <a:prstGeom prst="line">
            <a:avLst/>
          </a:prstGeom>
          <a:noFill/>
          <a:ln w="23813" cap="flat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sz="1600" dirty="0">
              <a:ea typeface="SimHei" panose="02010609060101010101" pitchFamily="49" charset="-122"/>
            </a:endParaRPr>
          </a:p>
        </p:txBody>
      </p:sp>
      <p:sp>
        <p:nvSpPr>
          <p:cNvPr id="241" name="Line 55">
            <a:extLst>
              <a:ext uri="{FF2B5EF4-FFF2-40B4-BE49-F238E27FC236}">
                <a16:creationId xmlns:a16="http://schemas.microsoft.com/office/drawing/2014/main" id="{9A414C5D-8A24-4B16-A27C-32F49203F621}"/>
              </a:ext>
            </a:extLst>
          </p:cNvPr>
          <p:cNvSpPr>
            <a:spLocks noChangeShapeType="1"/>
          </p:cNvSpPr>
          <p:nvPr/>
        </p:nvSpPr>
        <p:spPr bwMode="auto">
          <a:xfrm>
            <a:off x="4318837" y="3893195"/>
            <a:ext cx="361471" cy="0"/>
          </a:xfrm>
          <a:prstGeom prst="line">
            <a:avLst/>
          </a:prstGeom>
          <a:noFill/>
          <a:ln w="23813" cap="flat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sz="1600" dirty="0">
              <a:ea typeface="SimHei" panose="02010609060101010101" pitchFamily="49" charset="-122"/>
            </a:endParaRPr>
          </a:p>
        </p:txBody>
      </p:sp>
      <p:sp>
        <p:nvSpPr>
          <p:cNvPr id="242" name="Line 56">
            <a:extLst>
              <a:ext uri="{FF2B5EF4-FFF2-40B4-BE49-F238E27FC236}">
                <a16:creationId xmlns:a16="http://schemas.microsoft.com/office/drawing/2014/main" id="{5CD35F76-99E4-4B63-9768-667F4C13C3D8}"/>
              </a:ext>
            </a:extLst>
          </p:cNvPr>
          <p:cNvSpPr>
            <a:spLocks noChangeShapeType="1"/>
          </p:cNvSpPr>
          <p:nvPr/>
        </p:nvSpPr>
        <p:spPr bwMode="auto">
          <a:xfrm>
            <a:off x="4680308" y="3586707"/>
            <a:ext cx="0" cy="306488"/>
          </a:xfrm>
          <a:prstGeom prst="line">
            <a:avLst/>
          </a:prstGeom>
          <a:noFill/>
          <a:ln w="23813" cap="flat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sz="1600" dirty="0">
              <a:ea typeface="SimHei" panose="02010609060101010101" pitchFamily="49" charset="-122"/>
            </a:endParaRPr>
          </a:p>
        </p:txBody>
      </p:sp>
      <p:sp>
        <p:nvSpPr>
          <p:cNvPr id="243" name="Line 57">
            <a:extLst>
              <a:ext uri="{FF2B5EF4-FFF2-40B4-BE49-F238E27FC236}">
                <a16:creationId xmlns:a16="http://schemas.microsoft.com/office/drawing/2014/main" id="{34646668-1DAE-441E-A4B8-5A42472675F8}"/>
              </a:ext>
            </a:extLst>
          </p:cNvPr>
          <p:cNvSpPr>
            <a:spLocks noChangeShapeType="1"/>
          </p:cNvSpPr>
          <p:nvPr/>
        </p:nvSpPr>
        <p:spPr bwMode="auto">
          <a:xfrm>
            <a:off x="4764221" y="3586707"/>
            <a:ext cx="0" cy="255406"/>
          </a:xfrm>
          <a:prstGeom prst="line">
            <a:avLst/>
          </a:prstGeom>
          <a:noFill/>
          <a:ln w="23813" cap="flat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sz="1600" dirty="0">
              <a:ea typeface="SimHei" panose="02010609060101010101" pitchFamily="49" charset="-122"/>
            </a:endParaRPr>
          </a:p>
        </p:txBody>
      </p:sp>
      <p:sp>
        <p:nvSpPr>
          <p:cNvPr id="244" name="Line 58">
            <a:extLst>
              <a:ext uri="{FF2B5EF4-FFF2-40B4-BE49-F238E27FC236}">
                <a16:creationId xmlns:a16="http://schemas.microsoft.com/office/drawing/2014/main" id="{B8EACD36-307E-449E-B20A-BB1DD11AD5F3}"/>
              </a:ext>
            </a:extLst>
          </p:cNvPr>
          <p:cNvSpPr>
            <a:spLocks noChangeShapeType="1"/>
          </p:cNvSpPr>
          <p:nvPr/>
        </p:nvSpPr>
        <p:spPr bwMode="auto">
          <a:xfrm>
            <a:off x="4764221" y="3842114"/>
            <a:ext cx="463457" cy="0"/>
          </a:xfrm>
          <a:prstGeom prst="line">
            <a:avLst/>
          </a:prstGeom>
          <a:noFill/>
          <a:ln w="23813" cap="flat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sz="1600" dirty="0">
              <a:ea typeface="SimHei" panose="02010609060101010101" pitchFamily="49" charset="-122"/>
            </a:endParaRPr>
          </a:p>
        </p:txBody>
      </p:sp>
      <p:sp>
        <p:nvSpPr>
          <p:cNvPr id="245" name="Line 59">
            <a:extLst>
              <a:ext uri="{FF2B5EF4-FFF2-40B4-BE49-F238E27FC236}">
                <a16:creationId xmlns:a16="http://schemas.microsoft.com/office/drawing/2014/main" id="{347DC831-4F16-433E-99F9-F2EB4AC9F815}"/>
              </a:ext>
            </a:extLst>
          </p:cNvPr>
          <p:cNvSpPr>
            <a:spLocks noChangeShapeType="1"/>
          </p:cNvSpPr>
          <p:nvPr/>
        </p:nvSpPr>
        <p:spPr bwMode="auto">
          <a:xfrm>
            <a:off x="5227678" y="3586707"/>
            <a:ext cx="0" cy="255406"/>
          </a:xfrm>
          <a:prstGeom prst="line">
            <a:avLst/>
          </a:prstGeom>
          <a:noFill/>
          <a:ln w="23813" cap="flat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sz="1600" dirty="0">
              <a:ea typeface="SimHei" panose="02010609060101010101" pitchFamily="49" charset="-122"/>
            </a:endParaRPr>
          </a:p>
        </p:txBody>
      </p:sp>
      <p:sp>
        <p:nvSpPr>
          <p:cNvPr id="246" name="Freeform 60">
            <a:extLst>
              <a:ext uri="{FF2B5EF4-FFF2-40B4-BE49-F238E27FC236}">
                <a16:creationId xmlns:a16="http://schemas.microsoft.com/office/drawing/2014/main" id="{C38FB20E-AA71-40AB-A9DA-7539FDAEF25C}"/>
              </a:ext>
            </a:extLst>
          </p:cNvPr>
          <p:cNvSpPr>
            <a:spLocks/>
          </p:cNvSpPr>
          <p:nvPr/>
        </p:nvSpPr>
        <p:spPr bwMode="auto">
          <a:xfrm>
            <a:off x="4866206" y="3893195"/>
            <a:ext cx="232374" cy="509536"/>
          </a:xfrm>
          <a:custGeom>
            <a:avLst/>
            <a:gdLst>
              <a:gd name="T0" fmla="*/ 0 w 180"/>
              <a:gd name="T1" fmla="*/ 266 h 399"/>
              <a:gd name="T2" fmla="*/ 60 w 180"/>
              <a:gd name="T3" fmla="*/ 199 h 399"/>
              <a:gd name="T4" fmla="*/ 0 w 180"/>
              <a:gd name="T5" fmla="*/ 133 h 399"/>
              <a:gd name="T6" fmla="*/ 0 w 180"/>
              <a:gd name="T7" fmla="*/ 0 h 399"/>
              <a:gd name="T8" fmla="*/ 180 w 180"/>
              <a:gd name="T9" fmla="*/ 133 h 399"/>
              <a:gd name="T10" fmla="*/ 180 w 180"/>
              <a:gd name="T11" fmla="*/ 266 h 399"/>
              <a:gd name="T12" fmla="*/ 0 w 180"/>
              <a:gd name="T13" fmla="*/ 399 h 399"/>
              <a:gd name="T14" fmla="*/ 0 w 180"/>
              <a:gd name="T15" fmla="*/ 266 h 39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180" h="399">
                <a:moveTo>
                  <a:pt x="0" y="266"/>
                </a:moveTo>
                <a:lnTo>
                  <a:pt x="60" y="199"/>
                </a:lnTo>
                <a:lnTo>
                  <a:pt x="0" y="133"/>
                </a:lnTo>
                <a:lnTo>
                  <a:pt x="0" y="0"/>
                </a:lnTo>
                <a:lnTo>
                  <a:pt x="180" y="133"/>
                </a:lnTo>
                <a:lnTo>
                  <a:pt x="180" y="266"/>
                </a:lnTo>
                <a:lnTo>
                  <a:pt x="0" y="399"/>
                </a:lnTo>
                <a:lnTo>
                  <a:pt x="0" y="266"/>
                </a:lnTo>
              </a:path>
            </a:pathLst>
          </a:custGeom>
          <a:noFill/>
          <a:ln w="20638" cap="rnd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sz="1600" dirty="0">
              <a:ea typeface="SimHei" panose="02010609060101010101" pitchFamily="49" charset="-122"/>
            </a:endParaRPr>
          </a:p>
        </p:txBody>
      </p:sp>
      <p:sp>
        <p:nvSpPr>
          <p:cNvPr id="247" name="Rectangle 61">
            <a:extLst>
              <a:ext uri="{FF2B5EF4-FFF2-40B4-BE49-F238E27FC236}">
                <a16:creationId xmlns:a16="http://schemas.microsoft.com/office/drawing/2014/main" id="{B8776C82-4C9B-45F8-B5E5-37809CB36587}"/>
              </a:ext>
            </a:extLst>
          </p:cNvPr>
          <p:cNvSpPr>
            <a:spLocks noChangeArrowheads="1"/>
          </p:cNvSpPr>
          <p:nvPr/>
        </p:nvSpPr>
        <p:spPr bwMode="auto">
          <a:xfrm rot="5400000">
            <a:off x="4756768" y="4058855"/>
            <a:ext cx="492934" cy="1692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zh-CN" altLang="zh-CN" sz="1100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rPr>
              <a:t>ALU</a:t>
            </a:r>
            <a:endParaRPr kumimoji="0" lang="zh-CN" altLang="zh-CN" sz="110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  <a:ea typeface="SimHei" panose="02010609060101010101" pitchFamily="49" charset="-122"/>
            </a:endParaRPr>
          </a:p>
        </p:txBody>
      </p:sp>
      <p:sp>
        <p:nvSpPr>
          <p:cNvPr id="248" name="Rectangle 62">
            <a:extLst>
              <a:ext uri="{FF2B5EF4-FFF2-40B4-BE49-F238E27FC236}">
                <a16:creationId xmlns:a16="http://schemas.microsoft.com/office/drawing/2014/main" id="{5158E7E5-378A-4B02-87C9-417F3AD642D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68356" y="4036223"/>
            <a:ext cx="171522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zh-CN" altLang="zh-CN" sz="1200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rPr>
              <a:t>IM</a:t>
            </a:r>
            <a:endParaRPr kumimoji="0" lang="zh-CN" altLang="zh-CN" sz="160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  <a:ea typeface="SimHei" panose="02010609060101010101" pitchFamily="49" charset="-122"/>
            </a:endParaRPr>
          </a:p>
        </p:txBody>
      </p:sp>
      <p:sp>
        <p:nvSpPr>
          <p:cNvPr id="249" name="Freeform 63">
            <a:extLst>
              <a:ext uri="{FF2B5EF4-FFF2-40B4-BE49-F238E27FC236}">
                <a16:creationId xmlns:a16="http://schemas.microsoft.com/office/drawing/2014/main" id="{A021A9B6-6BBB-451D-AE8F-8B64EBEA9609}"/>
              </a:ext>
            </a:extLst>
          </p:cNvPr>
          <p:cNvSpPr>
            <a:spLocks/>
          </p:cNvSpPr>
          <p:nvPr/>
        </p:nvSpPr>
        <p:spPr bwMode="auto">
          <a:xfrm>
            <a:off x="3873453" y="3995357"/>
            <a:ext cx="179444" cy="305211"/>
          </a:xfrm>
          <a:custGeom>
            <a:avLst/>
            <a:gdLst>
              <a:gd name="T0" fmla="*/ 139 w 139"/>
              <a:gd name="T1" fmla="*/ 0 h 239"/>
              <a:gd name="T2" fmla="*/ 0 w 139"/>
              <a:gd name="T3" fmla="*/ 0 h 239"/>
              <a:gd name="T4" fmla="*/ 0 w 139"/>
              <a:gd name="T5" fmla="*/ 239 h 239"/>
              <a:gd name="T6" fmla="*/ 139 w 139"/>
              <a:gd name="T7" fmla="*/ 239 h 2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139" h="239">
                <a:moveTo>
                  <a:pt x="139" y="0"/>
                </a:moveTo>
                <a:lnTo>
                  <a:pt x="0" y="0"/>
                </a:lnTo>
                <a:lnTo>
                  <a:pt x="0" y="239"/>
                </a:lnTo>
                <a:lnTo>
                  <a:pt x="139" y="239"/>
                </a:lnTo>
              </a:path>
            </a:pathLst>
          </a:custGeom>
          <a:noFill/>
          <a:ln w="20638" cap="rnd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sz="1600" dirty="0">
              <a:ea typeface="SimHei" panose="02010609060101010101" pitchFamily="49" charset="-122"/>
            </a:endParaRPr>
          </a:p>
        </p:txBody>
      </p:sp>
      <p:sp>
        <p:nvSpPr>
          <p:cNvPr id="250" name="Freeform 64">
            <a:extLst>
              <a:ext uri="{FF2B5EF4-FFF2-40B4-BE49-F238E27FC236}">
                <a16:creationId xmlns:a16="http://schemas.microsoft.com/office/drawing/2014/main" id="{3C49866D-25C8-4DDD-9107-6F1FFC2055E7}"/>
              </a:ext>
            </a:extLst>
          </p:cNvPr>
          <p:cNvSpPr>
            <a:spLocks/>
          </p:cNvSpPr>
          <p:nvPr/>
        </p:nvSpPr>
        <p:spPr bwMode="auto">
          <a:xfrm>
            <a:off x="4054189" y="3995357"/>
            <a:ext cx="185899" cy="305211"/>
          </a:xfrm>
          <a:custGeom>
            <a:avLst/>
            <a:gdLst>
              <a:gd name="T0" fmla="*/ 0 w 144"/>
              <a:gd name="T1" fmla="*/ 0 h 239"/>
              <a:gd name="T2" fmla="*/ 144 w 144"/>
              <a:gd name="T3" fmla="*/ 0 h 239"/>
              <a:gd name="T4" fmla="*/ 144 w 144"/>
              <a:gd name="T5" fmla="*/ 239 h 239"/>
              <a:gd name="T6" fmla="*/ 0 w 144"/>
              <a:gd name="T7" fmla="*/ 239 h 2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144" h="239">
                <a:moveTo>
                  <a:pt x="0" y="0"/>
                </a:moveTo>
                <a:lnTo>
                  <a:pt x="144" y="0"/>
                </a:lnTo>
                <a:lnTo>
                  <a:pt x="144" y="239"/>
                </a:lnTo>
                <a:lnTo>
                  <a:pt x="0" y="239"/>
                </a:lnTo>
              </a:path>
            </a:pathLst>
          </a:custGeom>
          <a:noFill/>
          <a:ln w="20638" cap="rnd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sz="1600" dirty="0">
              <a:ea typeface="SimHei" panose="02010609060101010101" pitchFamily="49" charset="-122"/>
            </a:endParaRPr>
          </a:p>
        </p:txBody>
      </p:sp>
      <p:sp>
        <p:nvSpPr>
          <p:cNvPr id="251" name="Rectangle 65">
            <a:extLst>
              <a:ext uri="{FF2B5EF4-FFF2-40B4-BE49-F238E27FC236}">
                <a16:creationId xmlns:a16="http://schemas.microsoft.com/office/drawing/2014/main" id="{3BC687F1-FB21-4887-B6F9-0D038E034826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98390" y="4050856"/>
            <a:ext cx="290144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zh-CN" altLang="zh-CN" sz="1200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rPr>
              <a:t>Reg</a:t>
            </a:r>
            <a:endParaRPr kumimoji="0" lang="zh-CN" altLang="zh-CN" sz="160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  <a:ea typeface="SimHei" panose="02010609060101010101" pitchFamily="49" charset="-122"/>
            </a:endParaRPr>
          </a:p>
        </p:txBody>
      </p:sp>
      <p:sp>
        <p:nvSpPr>
          <p:cNvPr id="252" name="Freeform 66">
            <a:extLst>
              <a:ext uri="{FF2B5EF4-FFF2-40B4-BE49-F238E27FC236}">
                <a16:creationId xmlns:a16="http://schemas.microsoft.com/office/drawing/2014/main" id="{A264143C-6627-421D-B58A-0B9EDDFE12F5}"/>
              </a:ext>
            </a:extLst>
          </p:cNvPr>
          <p:cNvSpPr>
            <a:spLocks/>
          </p:cNvSpPr>
          <p:nvPr/>
        </p:nvSpPr>
        <p:spPr bwMode="auto">
          <a:xfrm>
            <a:off x="4370476" y="3995357"/>
            <a:ext cx="153625" cy="305211"/>
          </a:xfrm>
          <a:custGeom>
            <a:avLst/>
            <a:gdLst>
              <a:gd name="T0" fmla="*/ 119 w 119"/>
              <a:gd name="T1" fmla="*/ 0 h 239"/>
              <a:gd name="T2" fmla="*/ 0 w 119"/>
              <a:gd name="T3" fmla="*/ 0 h 239"/>
              <a:gd name="T4" fmla="*/ 0 w 119"/>
              <a:gd name="T5" fmla="*/ 239 h 239"/>
              <a:gd name="T6" fmla="*/ 119 w 119"/>
              <a:gd name="T7" fmla="*/ 239 h 2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119" h="239">
                <a:moveTo>
                  <a:pt x="119" y="0"/>
                </a:moveTo>
                <a:lnTo>
                  <a:pt x="0" y="0"/>
                </a:lnTo>
                <a:lnTo>
                  <a:pt x="0" y="239"/>
                </a:lnTo>
                <a:lnTo>
                  <a:pt x="119" y="239"/>
                </a:lnTo>
              </a:path>
            </a:pathLst>
          </a:custGeom>
          <a:noFill/>
          <a:ln w="20638" cap="rnd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sz="1600" dirty="0">
              <a:ea typeface="SimHei" panose="02010609060101010101" pitchFamily="49" charset="-122"/>
            </a:endParaRPr>
          </a:p>
        </p:txBody>
      </p:sp>
      <p:sp>
        <p:nvSpPr>
          <p:cNvPr id="253" name="Freeform 67">
            <a:extLst>
              <a:ext uri="{FF2B5EF4-FFF2-40B4-BE49-F238E27FC236}">
                <a16:creationId xmlns:a16="http://schemas.microsoft.com/office/drawing/2014/main" id="{9C1FB02D-853C-4102-B390-21707ADC349E}"/>
              </a:ext>
            </a:extLst>
          </p:cNvPr>
          <p:cNvSpPr>
            <a:spLocks/>
          </p:cNvSpPr>
          <p:nvPr/>
        </p:nvSpPr>
        <p:spPr bwMode="auto">
          <a:xfrm>
            <a:off x="4525392" y="3995357"/>
            <a:ext cx="160080" cy="305211"/>
          </a:xfrm>
          <a:custGeom>
            <a:avLst/>
            <a:gdLst>
              <a:gd name="T0" fmla="*/ 0 w 124"/>
              <a:gd name="T1" fmla="*/ 0 h 239"/>
              <a:gd name="T2" fmla="*/ 124 w 124"/>
              <a:gd name="T3" fmla="*/ 0 h 239"/>
              <a:gd name="T4" fmla="*/ 124 w 124"/>
              <a:gd name="T5" fmla="*/ 239 h 239"/>
              <a:gd name="T6" fmla="*/ 0 w 124"/>
              <a:gd name="T7" fmla="*/ 239 h 2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124" h="239">
                <a:moveTo>
                  <a:pt x="0" y="0"/>
                </a:moveTo>
                <a:lnTo>
                  <a:pt x="124" y="0"/>
                </a:lnTo>
                <a:lnTo>
                  <a:pt x="124" y="239"/>
                </a:lnTo>
                <a:lnTo>
                  <a:pt x="0" y="239"/>
                </a:lnTo>
              </a:path>
            </a:pathLst>
          </a:custGeom>
          <a:noFill/>
          <a:ln w="20638" cap="rnd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sz="1600" dirty="0">
              <a:ea typeface="SimHei" panose="02010609060101010101" pitchFamily="49" charset="-122"/>
            </a:endParaRPr>
          </a:p>
        </p:txBody>
      </p:sp>
      <p:sp>
        <p:nvSpPr>
          <p:cNvPr id="254" name="Line 68">
            <a:extLst>
              <a:ext uri="{FF2B5EF4-FFF2-40B4-BE49-F238E27FC236}">
                <a16:creationId xmlns:a16="http://schemas.microsoft.com/office/drawing/2014/main" id="{92CFD391-6B00-4FA3-A877-EB6F0DE5FB0A}"/>
              </a:ext>
            </a:extLst>
          </p:cNvPr>
          <p:cNvSpPr>
            <a:spLocks noChangeShapeType="1"/>
          </p:cNvSpPr>
          <p:nvPr/>
        </p:nvSpPr>
        <p:spPr bwMode="auto">
          <a:xfrm>
            <a:off x="4241379" y="4148601"/>
            <a:ext cx="129097" cy="0"/>
          </a:xfrm>
          <a:prstGeom prst="line">
            <a:avLst/>
          </a:prstGeom>
          <a:noFill/>
          <a:ln w="20638" cap="flat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sz="1600" dirty="0">
              <a:ea typeface="SimHei" panose="02010609060101010101" pitchFamily="49" charset="-122"/>
            </a:endParaRPr>
          </a:p>
        </p:txBody>
      </p:sp>
      <p:sp>
        <p:nvSpPr>
          <p:cNvPr id="255" name="Freeform 69">
            <a:extLst>
              <a:ext uri="{FF2B5EF4-FFF2-40B4-BE49-F238E27FC236}">
                <a16:creationId xmlns:a16="http://schemas.microsoft.com/office/drawing/2014/main" id="{A492AD1B-D663-4B4C-B60B-6C940D2B446A}"/>
              </a:ext>
            </a:extLst>
          </p:cNvPr>
          <p:cNvSpPr>
            <a:spLocks/>
          </p:cNvSpPr>
          <p:nvPr/>
        </p:nvSpPr>
        <p:spPr bwMode="auto">
          <a:xfrm>
            <a:off x="4318837" y="4046439"/>
            <a:ext cx="50347" cy="100886"/>
          </a:xfrm>
          <a:custGeom>
            <a:avLst/>
            <a:gdLst>
              <a:gd name="T0" fmla="*/ 0 w 39"/>
              <a:gd name="T1" fmla="*/ 79 h 79"/>
              <a:gd name="T2" fmla="*/ 0 w 39"/>
              <a:gd name="T3" fmla="*/ 0 h 79"/>
              <a:gd name="T4" fmla="*/ 39 w 39"/>
              <a:gd name="T5" fmla="*/ 0 h 7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39" h="79">
                <a:moveTo>
                  <a:pt x="0" y="79"/>
                </a:moveTo>
                <a:lnTo>
                  <a:pt x="0" y="0"/>
                </a:lnTo>
                <a:lnTo>
                  <a:pt x="39" y="0"/>
                </a:lnTo>
              </a:path>
            </a:pathLst>
          </a:custGeom>
          <a:noFill/>
          <a:ln w="20638" cap="rnd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sz="1600" dirty="0">
              <a:ea typeface="SimHei" panose="02010609060101010101" pitchFamily="49" charset="-122"/>
            </a:endParaRPr>
          </a:p>
        </p:txBody>
      </p:sp>
      <p:sp>
        <p:nvSpPr>
          <p:cNvPr id="256" name="Line 70">
            <a:extLst>
              <a:ext uri="{FF2B5EF4-FFF2-40B4-BE49-F238E27FC236}">
                <a16:creationId xmlns:a16="http://schemas.microsoft.com/office/drawing/2014/main" id="{1605ADE7-7783-403A-936F-28182A99A620}"/>
              </a:ext>
            </a:extLst>
          </p:cNvPr>
          <p:cNvSpPr>
            <a:spLocks noChangeShapeType="1"/>
          </p:cNvSpPr>
          <p:nvPr/>
        </p:nvSpPr>
        <p:spPr bwMode="auto">
          <a:xfrm>
            <a:off x="4693218" y="4046439"/>
            <a:ext cx="166534" cy="0"/>
          </a:xfrm>
          <a:prstGeom prst="line">
            <a:avLst/>
          </a:prstGeom>
          <a:noFill/>
          <a:ln w="20638" cap="flat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sz="1600" dirty="0">
              <a:ea typeface="SimHei" panose="02010609060101010101" pitchFamily="49" charset="-122"/>
            </a:endParaRPr>
          </a:p>
        </p:txBody>
      </p:sp>
      <p:sp>
        <p:nvSpPr>
          <p:cNvPr id="257" name="Rectangle 71">
            <a:extLst>
              <a:ext uri="{FF2B5EF4-FFF2-40B4-BE49-F238E27FC236}">
                <a16:creationId xmlns:a16="http://schemas.microsoft.com/office/drawing/2014/main" id="{377948D2-D0F5-4489-9FC9-84AE6CF27D92}"/>
              </a:ext>
            </a:extLst>
          </p:cNvPr>
          <p:cNvSpPr>
            <a:spLocks noChangeArrowheads="1"/>
          </p:cNvSpPr>
          <p:nvPr/>
        </p:nvSpPr>
        <p:spPr bwMode="auto">
          <a:xfrm>
            <a:off x="5334688" y="4045748"/>
            <a:ext cx="238848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zh-CN" altLang="zh-CN" sz="1200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rPr>
              <a:t>DM</a:t>
            </a:r>
            <a:endParaRPr kumimoji="0" lang="zh-CN" altLang="zh-CN" sz="160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  <a:ea typeface="SimHei" panose="02010609060101010101" pitchFamily="49" charset="-122"/>
            </a:endParaRPr>
          </a:p>
        </p:txBody>
      </p:sp>
      <p:sp>
        <p:nvSpPr>
          <p:cNvPr id="258" name="Freeform 72">
            <a:extLst>
              <a:ext uri="{FF2B5EF4-FFF2-40B4-BE49-F238E27FC236}">
                <a16:creationId xmlns:a16="http://schemas.microsoft.com/office/drawing/2014/main" id="{D057509D-6836-4FDF-B66D-17BA65F27B64}"/>
              </a:ext>
            </a:extLst>
          </p:cNvPr>
          <p:cNvSpPr>
            <a:spLocks/>
          </p:cNvSpPr>
          <p:nvPr/>
        </p:nvSpPr>
        <p:spPr bwMode="auto">
          <a:xfrm>
            <a:off x="5279317" y="3995357"/>
            <a:ext cx="174280" cy="305211"/>
          </a:xfrm>
          <a:custGeom>
            <a:avLst/>
            <a:gdLst>
              <a:gd name="T0" fmla="*/ 135 w 135"/>
              <a:gd name="T1" fmla="*/ 0 h 239"/>
              <a:gd name="T2" fmla="*/ 0 w 135"/>
              <a:gd name="T3" fmla="*/ 0 h 239"/>
              <a:gd name="T4" fmla="*/ 0 w 135"/>
              <a:gd name="T5" fmla="*/ 239 h 239"/>
              <a:gd name="T6" fmla="*/ 135 w 135"/>
              <a:gd name="T7" fmla="*/ 239 h 2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135" h="239">
                <a:moveTo>
                  <a:pt x="135" y="0"/>
                </a:moveTo>
                <a:lnTo>
                  <a:pt x="0" y="0"/>
                </a:lnTo>
                <a:lnTo>
                  <a:pt x="0" y="239"/>
                </a:lnTo>
                <a:lnTo>
                  <a:pt x="135" y="239"/>
                </a:lnTo>
              </a:path>
            </a:pathLst>
          </a:custGeom>
          <a:noFill/>
          <a:ln w="20638" cap="rnd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sz="1600" dirty="0">
              <a:ea typeface="SimHei" panose="02010609060101010101" pitchFamily="49" charset="-122"/>
            </a:endParaRPr>
          </a:p>
        </p:txBody>
      </p:sp>
      <p:sp>
        <p:nvSpPr>
          <p:cNvPr id="259" name="Freeform 73">
            <a:extLst>
              <a:ext uri="{FF2B5EF4-FFF2-40B4-BE49-F238E27FC236}">
                <a16:creationId xmlns:a16="http://schemas.microsoft.com/office/drawing/2014/main" id="{DF2E6656-4B53-403B-BC8E-E4E4904D7AFC}"/>
              </a:ext>
            </a:extLst>
          </p:cNvPr>
          <p:cNvSpPr>
            <a:spLocks/>
          </p:cNvSpPr>
          <p:nvPr/>
        </p:nvSpPr>
        <p:spPr bwMode="auto">
          <a:xfrm>
            <a:off x="5453598" y="3995357"/>
            <a:ext cx="172990" cy="305211"/>
          </a:xfrm>
          <a:custGeom>
            <a:avLst/>
            <a:gdLst>
              <a:gd name="T0" fmla="*/ 0 w 134"/>
              <a:gd name="T1" fmla="*/ 0 h 239"/>
              <a:gd name="T2" fmla="*/ 134 w 134"/>
              <a:gd name="T3" fmla="*/ 0 h 239"/>
              <a:gd name="T4" fmla="*/ 134 w 134"/>
              <a:gd name="T5" fmla="*/ 239 h 239"/>
              <a:gd name="T6" fmla="*/ 0 w 134"/>
              <a:gd name="T7" fmla="*/ 239 h 2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134" h="239">
                <a:moveTo>
                  <a:pt x="0" y="0"/>
                </a:moveTo>
                <a:lnTo>
                  <a:pt x="134" y="0"/>
                </a:lnTo>
                <a:lnTo>
                  <a:pt x="134" y="239"/>
                </a:lnTo>
                <a:lnTo>
                  <a:pt x="0" y="239"/>
                </a:lnTo>
              </a:path>
            </a:pathLst>
          </a:custGeom>
          <a:noFill/>
          <a:ln w="20638" cap="rnd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sz="1600" dirty="0">
              <a:ea typeface="SimHei" panose="02010609060101010101" pitchFamily="49" charset="-122"/>
            </a:endParaRPr>
          </a:p>
        </p:txBody>
      </p:sp>
      <p:sp>
        <p:nvSpPr>
          <p:cNvPr id="260" name="Rectangle 74">
            <a:extLst>
              <a:ext uri="{FF2B5EF4-FFF2-40B4-BE49-F238E27FC236}">
                <a16:creationId xmlns:a16="http://schemas.microsoft.com/office/drawing/2014/main" id="{D847C27F-2022-42DD-88A4-A9F302A49F66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06835" y="4045748"/>
            <a:ext cx="290144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zh-CN" altLang="zh-CN" sz="1200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rPr>
              <a:t>Reg</a:t>
            </a:r>
            <a:endParaRPr kumimoji="0" lang="zh-CN" altLang="zh-CN" sz="160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  <a:ea typeface="SimHei" panose="02010609060101010101" pitchFamily="49" charset="-122"/>
            </a:endParaRPr>
          </a:p>
        </p:txBody>
      </p:sp>
      <p:sp>
        <p:nvSpPr>
          <p:cNvPr id="261" name="Freeform 75">
            <a:extLst>
              <a:ext uri="{FF2B5EF4-FFF2-40B4-BE49-F238E27FC236}">
                <a16:creationId xmlns:a16="http://schemas.microsoft.com/office/drawing/2014/main" id="{65C84A1B-4156-4EE5-9D51-38D361F9373F}"/>
              </a:ext>
            </a:extLst>
          </p:cNvPr>
          <p:cNvSpPr>
            <a:spLocks/>
          </p:cNvSpPr>
          <p:nvPr/>
        </p:nvSpPr>
        <p:spPr bwMode="auto">
          <a:xfrm>
            <a:off x="5782794" y="3995357"/>
            <a:ext cx="153625" cy="305211"/>
          </a:xfrm>
          <a:custGeom>
            <a:avLst/>
            <a:gdLst>
              <a:gd name="T0" fmla="*/ 119 w 119"/>
              <a:gd name="T1" fmla="*/ 0 h 239"/>
              <a:gd name="T2" fmla="*/ 0 w 119"/>
              <a:gd name="T3" fmla="*/ 0 h 239"/>
              <a:gd name="T4" fmla="*/ 0 w 119"/>
              <a:gd name="T5" fmla="*/ 239 h 239"/>
              <a:gd name="T6" fmla="*/ 119 w 119"/>
              <a:gd name="T7" fmla="*/ 239 h 2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119" h="239">
                <a:moveTo>
                  <a:pt x="119" y="0"/>
                </a:moveTo>
                <a:lnTo>
                  <a:pt x="0" y="0"/>
                </a:lnTo>
                <a:lnTo>
                  <a:pt x="0" y="239"/>
                </a:lnTo>
                <a:lnTo>
                  <a:pt x="119" y="239"/>
                </a:lnTo>
              </a:path>
            </a:pathLst>
          </a:custGeom>
          <a:noFill/>
          <a:ln w="20638" cap="rnd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sz="1600" dirty="0">
              <a:ea typeface="SimHei" panose="02010609060101010101" pitchFamily="49" charset="-122"/>
            </a:endParaRPr>
          </a:p>
        </p:txBody>
      </p:sp>
      <p:sp>
        <p:nvSpPr>
          <p:cNvPr id="262" name="Freeform 76">
            <a:extLst>
              <a:ext uri="{FF2B5EF4-FFF2-40B4-BE49-F238E27FC236}">
                <a16:creationId xmlns:a16="http://schemas.microsoft.com/office/drawing/2014/main" id="{0E935526-09BC-4BD9-90E7-F1BCE7914D9F}"/>
              </a:ext>
            </a:extLst>
          </p:cNvPr>
          <p:cNvSpPr>
            <a:spLocks/>
          </p:cNvSpPr>
          <p:nvPr/>
        </p:nvSpPr>
        <p:spPr bwMode="auto">
          <a:xfrm>
            <a:off x="5937711" y="3995357"/>
            <a:ext cx="147170" cy="305211"/>
          </a:xfrm>
          <a:custGeom>
            <a:avLst/>
            <a:gdLst>
              <a:gd name="T0" fmla="*/ 0 w 114"/>
              <a:gd name="T1" fmla="*/ 0 h 239"/>
              <a:gd name="T2" fmla="*/ 114 w 114"/>
              <a:gd name="T3" fmla="*/ 0 h 239"/>
              <a:gd name="T4" fmla="*/ 114 w 114"/>
              <a:gd name="T5" fmla="*/ 239 h 239"/>
              <a:gd name="T6" fmla="*/ 0 w 114"/>
              <a:gd name="T7" fmla="*/ 239 h 2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114" h="239">
                <a:moveTo>
                  <a:pt x="0" y="0"/>
                </a:moveTo>
                <a:lnTo>
                  <a:pt x="114" y="0"/>
                </a:lnTo>
                <a:lnTo>
                  <a:pt x="114" y="239"/>
                </a:lnTo>
                <a:lnTo>
                  <a:pt x="0" y="239"/>
                </a:lnTo>
              </a:path>
            </a:pathLst>
          </a:custGeom>
          <a:noFill/>
          <a:ln w="20638" cap="rnd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sz="1600" dirty="0">
              <a:ea typeface="SimHei" panose="02010609060101010101" pitchFamily="49" charset="-122"/>
            </a:endParaRPr>
          </a:p>
        </p:txBody>
      </p:sp>
      <p:sp>
        <p:nvSpPr>
          <p:cNvPr id="263" name="Line 77">
            <a:extLst>
              <a:ext uri="{FF2B5EF4-FFF2-40B4-BE49-F238E27FC236}">
                <a16:creationId xmlns:a16="http://schemas.microsoft.com/office/drawing/2014/main" id="{CE297765-4C16-49E9-942E-9D9AA9B8F9EA}"/>
              </a:ext>
            </a:extLst>
          </p:cNvPr>
          <p:cNvSpPr>
            <a:spLocks noChangeShapeType="1"/>
          </p:cNvSpPr>
          <p:nvPr/>
        </p:nvSpPr>
        <p:spPr bwMode="auto">
          <a:xfrm>
            <a:off x="5627878" y="4148601"/>
            <a:ext cx="148461" cy="0"/>
          </a:xfrm>
          <a:prstGeom prst="line">
            <a:avLst/>
          </a:prstGeom>
          <a:noFill/>
          <a:ln w="20638" cap="flat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sz="1600" dirty="0">
              <a:ea typeface="SimHei" panose="02010609060101010101" pitchFamily="49" charset="-122"/>
            </a:endParaRPr>
          </a:p>
        </p:txBody>
      </p:sp>
      <p:sp>
        <p:nvSpPr>
          <p:cNvPr id="264" name="Line 78">
            <a:extLst>
              <a:ext uri="{FF2B5EF4-FFF2-40B4-BE49-F238E27FC236}">
                <a16:creationId xmlns:a16="http://schemas.microsoft.com/office/drawing/2014/main" id="{E5393A0E-4622-4D3E-BF12-3432F9E618C4}"/>
              </a:ext>
            </a:extLst>
          </p:cNvPr>
          <p:cNvSpPr>
            <a:spLocks noChangeShapeType="1"/>
          </p:cNvSpPr>
          <p:nvPr/>
        </p:nvSpPr>
        <p:spPr bwMode="auto">
          <a:xfrm>
            <a:off x="5105037" y="4148601"/>
            <a:ext cx="167826" cy="0"/>
          </a:xfrm>
          <a:prstGeom prst="line">
            <a:avLst/>
          </a:prstGeom>
          <a:noFill/>
          <a:ln w="20638" cap="flat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sz="1600" dirty="0">
              <a:ea typeface="SimHei" panose="02010609060101010101" pitchFamily="49" charset="-122"/>
            </a:endParaRPr>
          </a:p>
        </p:txBody>
      </p:sp>
      <p:sp>
        <p:nvSpPr>
          <p:cNvPr id="265" name="Line 79">
            <a:extLst>
              <a:ext uri="{FF2B5EF4-FFF2-40B4-BE49-F238E27FC236}">
                <a16:creationId xmlns:a16="http://schemas.microsoft.com/office/drawing/2014/main" id="{32DD90B0-3754-481D-BC4F-EB96AA81E8B5}"/>
              </a:ext>
            </a:extLst>
          </p:cNvPr>
          <p:cNvSpPr>
            <a:spLocks noChangeShapeType="1"/>
          </p:cNvSpPr>
          <p:nvPr/>
        </p:nvSpPr>
        <p:spPr bwMode="auto">
          <a:xfrm>
            <a:off x="4693218" y="4250764"/>
            <a:ext cx="166534" cy="0"/>
          </a:xfrm>
          <a:prstGeom prst="line">
            <a:avLst/>
          </a:prstGeom>
          <a:noFill/>
          <a:ln w="20638" cap="flat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sz="1600" dirty="0">
              <a:ea typeface="SimHei" panose="02010609060101010101" pitchFamily="49" charset="-122"/>
            </a:endParaRPr>
          </a:p>
        </p:txBody>
      </p:sp>
      <p:sp>
        <p:nvSpPr>
          <p:cNvPr id="266" name="Line 80">
            <a:extLst>
              <a:ext uri="{FF2B5EF4-FFF2-40B4-BE49-F238E27FC236}">
                <a16:creationId xmlns:a16="http://schemas.microsoft.com/office/drawing/2014/main" id="{18F0D142-E445-4EA3-B668-57974F84FC3A}"/>
              </a:ext>
            </a:extLst>
          </p:cNvPr>
          <p:cNvSpPr>
            <a:spLocks noChangeShapeType="1"/>
          </p:cNvSpPr>
          <p:nvPr/>
        </p:nvSpPr>
        <p:spPr bwMode="auto">
          <a:xfrm>
            <a:off x="4783585" y="4250764"/>
            <a:ext cx="0" cy="203048"/>
          </a:xfrm>
          <a:prstGeom prst="line">
            <a:avLst/>
          </a:prstGeom>
          <a:noFill/>
          <a:ln w="23813" cap="flat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sz="1600" dirty="0">
              <a:ea typeface="SimHei" panose="02010609060101010101" pitchFamily="49" charset="-122"/>
            </a:endParaRPr>
          </a:p>
        </p:txBody>
      </p:sp>
      <p:sp>
        <p:nvSpPr>
          <p:cNvPr id="267" name="Line 81">
            <a:extLst>
              <a:ext uri="{FF2B5EF4-FFF2-40B4-BE49-F238E27FC236}">
                <a16:creationId xmlns:a16="http://schemas.microsoft.com/office/drawing/2014/main" id="{C0D97B05-A388-4A84-8AAC-663F7F6D29E7}"/>
              </a:ext>
            </a:extLst>
          </p:cNvPr>
          <p:cNvSpPr>
            <a:spLocks noChangeShapeType="1"/>
          </p:cNvSpPr>
          <p:nvPr/>
        </p:nvSpPr>
        <p:spPr bwMode="auto">
          <a:xfrm>
            <a:off x="4783585" y="4453812"/>
            <a:ext cx="360180" cy="0"/>
          </a:xfrm>
          <a:prstGeom prst="line">
            <a:avLst/>
          </a:prstGeom>
          <a:noFill/>
          <a:ln w="23813" cap="flat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sz="1600" dirty="0">
              <a:ea typeface="SimHei" panose="02010609060101010101" pitchFamily="49" charset="-122"/>
            </a:endParaRPr>
          </a:p>
        </p:txBody>
      </p:sp>
      <p:sp>
        <p:nvSpPr>
          <p:cNvPr id="268" name="Line 82">
            <a:extLst>
              <a:ext uri="{FF2B5EF4-FFF2-40B4-BE49-F238E27FC236}">
                <a16:creationId xmlns:a16="http://schemas.microsoft.com/office/drawing/2014/main" id="{5F06664F-ADB0-4000-BE58-BFE09441B0A9}"/>
              </a:ext>
            </a:extLst>
          </p:cNvPr>
          <p:cNvSpPr>
            <a:spLocks noChangeShapeType="1"/>
          </p:cNvSpPr>
          <p:nvPr/>
        </p:nvSpPr>
        <p:spPr bwMode="auto">
          <a:xfrm>
            <a:off x="5143766" y="4148601"/>
            <a:ext cx="0" cy="305211"/>
          </a:xfrm>
          <a:prstGeom prst="line">
            <a:avLst/>
          </a:prstGeom>
          <a:noFill/>
          <a:ln w="23813" cap="flat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sz="1600" dirty="0">
              <a:ea typeface="SimHei" panose="02010609060101010101" pitchFamily="49" charset="-122"/>
            </a:endParaRPr>
          </a:p>
        </p:txBody>
      </p:sp>
      <p:sp>
        <p:nvSpPr>
          <p:cNvPr id="269" name="Line 83">
            <a:extLst>
              <a:ext uri="{FF2B5EF4-FFF2-40B4-BE49-F238E27FC236}">
                <a16:creationId xmlns:a16="http://schemas.microsoft.com/office/drawing/2014/main" id="{C0C9E144-583D-4B6D-AB48-5A51B00685E3}"/>
              </a:ext>
            </a:extLst>
          </p:cNvPr>
          <p:cNvSpPr>
            <a:spLocks noChangeShapeType="1"/>
          </p:cNvSpPr>
          <p:nvPr/>
        </p:nvSpPr>
        <p:spPr bwMode="auto">
          <a:xfrm>
            <a:off x="5227678" y="4148601"/>
            <a:ext cx="0" cy="255406"/>
          </a:xfrm>
          <a:prstGeom prst="line">
            <a:avLst/>
          </a:prstGeom>
          <a:noFill/>
          <a:ln w="23813" cap="flat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sz="1600" dirty="0">
              <a:ea typeface="SimHei" panose="02010609060101010101" pitchFamily="49" charset="-122"/>
            </a:endParaRPr>
          </a:p>
        </p:txBody>
      </p:sp>
      <p:sp>
        <p:nvSpPr>
          <p:cNvPr id="270" name="Line 84">
            <a:extLst>
              <a:ext uri="{FF2B5EF4-FFF2-40B4-BE49-F238E27FC236}">
                <a16:creationId xmlns:a16="http://schemas.microsoft.com/office/drawing/2014/main" id="{30BAD0AD-ED82-4852-860C-FFD80370C605}"/>
              </a:ext>
            </a:extLst>
          </p:cNvPr>
          <p:cNvSpPr>
            <a:spLocks noChangeShapeType="1"/>
          </p:cNvSpPr>
          <p:nvPr/>
        </p:nvSpPr>
        <p:spPr bwMode="auto">
          <a:xfrm>
            <a:off x="5227678" y="4404008"/>
            <a:ext cx="464748" cy="0"/>
          </a:xfrm>
          <a:prstGeom prst="line">
            <a:avLst/>
          </a:prstGeom>
          <a:noFill/>
          <a:ln w="23813" cap="flat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sz="1600" dirty="0">
              <a:ea typeface="SimHei" panose="02010609060101010101" pitchFamily="49" charset="-122"/>
            </a:endParaRPr>
          </a:p>
        </p:txBody>
      </p:sp>
      <p:sp>
        <p:nvSpPr>
          <p:cNvPr id="271" name="Line 85">
            <a:extLst>
              <a:ext uri="{FF2B5EF4-FFF2-40B4-BE49-F238E27FC236}">
                <a16:creationId xmlns:a16="http://schemas.microsoft.com/office/drawing/2014/main" id="{3BA37CBE-2A87-49C0-8D3A-7C05BAB08952}"/>
              </a:ext>
            </a:extLst>
          </p:cNvPr>
          <p:cNvSpPr>
            <a:spLocks noChangeShapeType="1"/>
          </p:cNvSpPr>
          <p:nvPr/>
        </p:nvSpPr>
        <p:spPr bwMode="auto">
          <a:xfrm>
            <a:off x="5692427" y="4148601"/>
            <a:ext cx="0" cy="255406"/>
          </a:xfrm>
          <a:prstGeom prst="line">
            <a:avLst/>
          </a:prstGeom>
          <a:noFill/>
          <a:ln w="23813" cap="flat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sz="1600" dirty="0">
              <a:ea typeface="SimHei" panose="02010609060101010101" pitchFamily="49" charset="-122"/>
            </a:endParaRPr>
          </a:p>
        </p:txBody>
      </p:sp>
      <p:sp>
        <p:nvSpPr>
          <p:cNvPr id="272" name="Freeform 86">
            <a:extLst>
              <a:ext uri="{FF2B5EF4-FFF2-40B4-BE49-F238E27FC236}">
                <a16:creationId xmlns:a16="http://schemas.microsoft.com/office/drawing/2014/main" id="{9F3C8FE5-9F07-4D90-B244-D22646620B1F}"/>
              </a:ext>
            </a:extLst>
          </p:cNvPr>
          <p:cNvSpPr>
            <a:spLocks/>
          </p:cNvSpPr>
          <p:nvPr/>
        </p:nvSpPr>
        <p:spPr bwMode="auto">
          <a:xfrm>
            <a:off x="5330956" y="4453812"/>
            <a:ext cx="231083" cy="509536"/>
          </a:xfrm>
          <a:custGeom>
            <a:avLst/>
            <a:gdLst>
              <a:gd name="T0" fmla="*/ 0 w 179"/>
              <a:gd name="T1" fmla="*/ 266 h 399"/>
              <a:gd name="T2" fmla="*/ 60 w 179"/>
              <a:gd name="T3" fmla="*/ 200 h 399"/>
              <a:gd name="T4" fmla="*/ 0 w 179"/>
              <a:gd name="T5" fmla="*/ 133 h 399"/>
              <a:gd name="T6" fmla="*/ 0 w 179"/>
              <a:gd name="T7" fmla="*/ 0 h 399"/>
              <a:gd name="T8" fmla="*/ 179 w 179"/>
              <a:gd name="T9" fmla="*/ 133 h 399"/>
              <a:gd name="T10" fmla="*/ 179 w 179"/>
              <a:gd name="T11" fmla="*/ 266 h 399"/>
              <a:gd name="T12" fmla="*/ 0 w 179"/>
              <a:gd name="T13" fmla="*/ 399 h 399"/>
              <a:gd name="T14" fmla="*/ 0 w 179"/>
              <a:gd name="T15" fmla="*/ 266 h 39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179" h="399">
                <a:moveTo>
                  <a:pt x="0" y="266"/>
                </a:moveTo>
                <a:lnTo>
                  <a:pt x="60" y="200"/>
                </a:lnTo>
                <a:lnTo>
                  <a:pt x="0" y="133"/>
                </a:lnTo>
                <a:lnTo>
                  <a:pt x="0" y="0"/>
                </a:lnTo>
                <a:lnTo>
                  <a:pt x="179" y="133"/>
                </a:lnTo>
                <a:lnTo>
                  <a:pt x="179" y="266"/>
                </a:lnTo>
                <a:lnTo>
                  <a:pt x="0" y="399"/>
                </a:lnTo>
                <a:lnTo>
                  <a:pt x="0" y="266"/>
                </a:lnTo>
              </a:path>
            </a:pathLst>
          </a:custGeom>
          <a:noFill/>
          <a:ln w="20638" cap="rnd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sz="1600" dirty="0">
              <a:ea typeface="SimHei" panose="02010609060101010101" pitchFamily="49" charset="-122"/>
            </a:endParaRPr>
          </a:p>
        </p:txBody>
      </p:sp>
      <p:sp>
        <p:nvSpPr>
          <p:cNvPr id="273" name="Rectangle 87">
            <a:extLst>
              <a:ext uri="{FF2B5EF4-FFF2-40B4-BE49-F238E27FC236}">
                <a16:creationId xmlns:a16="http://schemas.microsoft.com/office/drawing/2014/main" id="{C5E0C267-7DF8-4AF6-94B7-480AB0AAEA55}"/>
              </a:ext>
            </a:extLst>
          </p:cNvPr>
          <p:cNvSpPr>
            <a:spLocks noChangeArrowheads="1"/>
          </p:cNvSpPr>
          <p:nvPr/>
        </p:nvSpPr>
        <p:spPr bwMode="auto">
          <a:xfrm rot="5400000">
            <a:off x="5220225" y="4620749"/>
            <a:ext cx="492934" cy="1692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zh-CN" altLang="zh-CN" sz="1100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rPr>
              <a:t>ALU</a:t>
            </a:r>
            <a:endParaRPr kumimoji="0" lang="zh-CN" altLang="zh-CN" sz="110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  <a:ea typeface="SimHei" panose="02010609060101010101" pitchFamily="49" charset="-122"/>
            </a:endParaRPr>
          </a:p>
        </p:txBody>
      </p:sp>
      <p:sp>
        <p:nvSpPr>
          <p:cNvPr id="274" name="Rectangle 88">
            <a:extLst>
              <a:ext uri="{FF2B5EF4-FFF2-40B4-BE49-F238E27FC236}">
                <a16:creationId xmlns:a16="http://schemas.microsoft.com/office/drawing/2014/main" id="{8C5988A1-0E5A-42B6-86B4-2ED4BF832B4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34396" y="4598117"/>
            <a:ext cx="171522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zh-CN" altLang="zh-CN" sz="1200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rPr>
              <a:t>IM</a:t>
            </a:r>
            <a:endParaRPr kumimoji="0" lang="zh-CN" altLang="zh-CN" sz="160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  <a:ea typeface="SimHei" panose="02010609060101010101" pitchFamily="49" charset="-122"/>
            </a:endParaRPr>
          </a:p>
        </p:txBody>
      </p:sp>
      <p:sp>
        <p:nvSpPr>
          <p:cNvPr id="275" name="Freeform 89">
            <a:extLst>
              <a:ext uri="{FF2B5EF4-FFF2-40B4-BE49-F238E27FC236}">
                <a16:creationId xmlns:a16="http://schemas.microsoft.com/office/drawing/2014/main" id="{42A80604-135B-4CAE-96D9-98E8EF4B7C39}"/>
              </a:ext>
            </a:extLst>
          </p:cNvPr>
          <p:cNvSpPr>
            <a:spLocks/>
          </p:cNvSpPr>
          <p:nvPr/>
        </p:nvSpPr>
        <p:spPr bwMode="auto">
          <a:xfrm>
            <a:off x="4338202" y="4555975"/>
            <a:ext cx="179444" cy="305211"/>
          </a:xfrm>
          <a:custGeom>
            <a:avLst/>
            <a:gdLst>
              <a:gd name="T0" fmla="*/ 139 w 139"/>
              <a:gd name="T1" fmla="*/ 0 h 239"/>
              <a:gd name="T2" fmla="*/ 0 w 139"/>
              <a:gd name="T3" fmla="*/ 0 h 239"/>
              <a:gd name="T4" fmla="*/ 0 w 139"/>
              <a:gd name="T5" fmla="*/ 239 h 239"/>
              <a:gd name="T6" fmla="*/ 139 w 139"/>
              <a:gd name="T7" fmla="*/ 239 h 2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139" h="239">
                <a:moveTo>
                  <a:pt x="139" y="0"/>
                </a:moveTo>
                <a:lnTo>
                  <a:pt x="0" y="0"/>
                </a:lnTo>
                <a:lnTo>
                  <a:pt x="0" y="239"/>
                </a:lnTo>
                <a:lnTo>
                  <a:pt x="139" y="239"/>
                </a:lnTo>
              </a:path>
            </a:pathLst>
          </a:custGeom>
          <a:noFill/>
          <a:ln w="20638" cap="rnd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sz="1600" dirty="0">
              <a:ea typeface="SimHei" panose="02010609060101010101" pitchFamily="49" charset="-122"/>
            </a:endParaRPr>
          </a:p>
        </p:txBody>
      </p:sp>
      <p:sp>
        <p:nvSpPr>
          <p:cNvPr id="276" name="Freeform 90">
            <a:extLst>
              <a:ext uri="{FF2B5EF4-FFF2-40B4-BE49-F238E27FC236}">
                <a16:creationId xmlns:a16="http://schemas.microsoft.com/office/drawing/2014/main" id="{D9403868-3B86-416C-8E04-5B62EEB0A8DB}"/>
              </a:ext>
            </a:extLst>
          </p:cNvPr>
          <p:cNvSpPr>
            <a:spLocks/>
          </p:cNvSpPr>
          <p:nvPr/>
        </p:nvSpPr>
        <p:spPr bwMode="auto">
          <a:xfrm>
            <a:off x="4518937" y="4555975"/>
            <a:ext cx="185899" cy="305211"/>
          </a:xfrm>
          <a:custGeom>
            <a:avLst/>
            <a:gdLst>
              <a:gd name="T0" fmla="*/ 0 w 144"/>
              <a:gd name="T1" fmla="*/ 0 h 239"/>
              <a:gd name="T2" fmla="*/ 144 w 144"/>
              <a:gd name="T3" fmla="*/ 0 h 239"/>
              <a:gd name="T4" fmla="*/ 144 w 144"/>
              <a:gd name="T5" fmla="*/ 239 h 239"/>
              <a:gd name="T6" fmla="*/ 0 w 144"/>
              <a:gd name="T7" fmla="*/ 239 h 2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144" h="239">
                <a:moveTo>
                  <a:pt x="0" y="0"/>
                </a:moveTo>
                <a:lnTo>
                  <a:pt x="144" y="0"/>
                </a:lnTo>
                <a:lnTo>
                  <a:pt x="144" y="239"/>
                </a:lnTo>
                <a:lnTo>
                  <a:pt x="0" y="239"/>
                </a:lnTo>
              </a:path>
            </a:pathLst>
          </a:custGeom>
          <a:noFill/>
          <a:ln w="20638" cap="rnd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sz="1600" dirty="0">
              <a:ea typeface="SimHei" panose="02010609060101010101" pitchFamily="49" charset="-122"/>
            </a:endParaRPr>
          </a:p>
        </p:txBody>
      </p:sp>
      <p:sp>
        <p:nvSpPr>
          <p:cNvPr id="277" name="Rectangle 91">
            <a:extLst>
              <a:ext uri="{FF2B5EF4-FFF2-40B4-BE49-F238E27FC236}">
                <a16:creationId xmlns:a16="http://schemas.microsoft.com/office/drawing/2014/main" id="{BD00648A-B59A-4B46-9E55-033FA624C3E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63138" y="4612751"/>
            <a:ext cx="290144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zh-CN" altLang="zh-CN" sz="1200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rPr>
              <a:t>Reg</a:t>
            </a:r>
            <a:endParaRPr kumimoji="0" lang="zh-CN" altLang="zh-CN" sz="160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  <a:ea typeface="SimHei" panose="02010609060101010101" pitchFamily="49" charset="-122"/>
            </a:endParaRPr>
          </a:p>
        </p:txBody>
      </p:sp>
      <p:sp>
        <p:nvSpPr>
          <p:cNvPr id="278" name="Freeform 92">
            <a:extLst>
              <a:ext uri="{FF2B5EF4-FFF2-40B4-BE49-F238E27FC236}">
                <a16:creationId xmlns:a16="http://schemas.microsoft.com/office/drawing/2014/main" id="{E9D366B8-4765-4520-818F-2AC57FA01316}"/>
              </a:ext>
            </a:extLst>
          </p:cNvPr>
          <p:cNvSpPr>
            <a:spLocks/>
          </p:cNvSpPr>
          <p:nvPr/>
        </p:nvSpPr>
        <p:spPr bwMode="auto">
          <a:xfrm>
            <a:off x="4833933" y="4555975"/>
            <a:ext cx="161371" cy="305211"/>
          </a:xfrm>
          <a:custGeom>
            <a:avLst/>
            <a:gdLst>
              <a:gd name="T0" fmla="*/ 125 w 125"/>
              <a:gd name="T1" fmla="*/ 0 h 239"/>
              <a:gd name="T2" fmla="*/ 0 w 125"/>
              <a:gd name="T3" fmla="*/ 0 h 239"/>
              <a:gd name="T4" fmla="*/ 0 w 125"/>
              <a:gd name="T5" fmla="*/ 239 h 239"/>
              <a:gd name="T6" fmla="*/ 125 w 125"/>
              <a:gd name="T7" fmla="*/ 239 h 2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125" h="239">
                <a:moveTo>
                  <a:pt x="125" y="0"/>
                </a:moveTo>
                <a:lnTo>
                  <a:pt x="0" y="0"/>
                </a:lnTo>
                <a:lnTo>
                  <a:pt x="0" y="239"/>
                </a:lnTo>
                <a:lnTo>
                  <a:pt x="125" y="239"/>
                </a:lnTo>
              </a:path>
            </a:pathLst>
          </a:custGeom>
          <a:noFill/>
          <a:ln w="20638" cap="rnd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sz="1600" dirty="0">
              <a:ea typeface="SimHei" panose="02010609060101010101" pitchFamily="49" charset="-122"/>
            </a:endParaRPr>
          </a:p>
        </p:txBody>
      </p:sp>
      <p:sp>
        <p:nvSpPr>
          <p:cNvPr id="279" name="Freeform 93">
            <a:extLst>
              <a:ext uri="{FF2B5EF4-FFF2-40B4-BE49-F238E27FC236}">
                <a16:creationId xmlns:a16="http://schemas.microsoft.com/office/drawing/2014/main" id="{B806F6D9-F45B-4CBF-8BD2-B06CBF5C8EE9}"/>
              </a:ext>
            </a:extLst>
          </p:cNvPr>
          <p:cNvSpPr>
            <a:spLocks/>
          </p:cNvSpPr>
          <p:nvPr/>
        </p:nvSpPr>
        <p:spPr bwMode="auto">
          <a:xfrm>
            <a:off x="4988850" y="4555975"/>
            <a:ext cx="161371" cy="305211"/>
          </a:xfrm>
          <a:custGeom>
            <a:avLst/>
            <a:gdLst>
              <a:gd name="T0" fmla="*/ 0 w 125"/>
              <a:gd name="T1" fmla="*/ 0 h 239"/>
              <a:gd name="T2" fmla="*/ 125 w 125"/>
              <a:gd name="T3" fmla="*/ 0 h 239"/>
              <a:gd name="T4" fmla="*/ 125 w 125"/>
              <a:gd name="T5" fmla="*/ 239 h 239"/>
              <a:gd name="T6" fmla="*/ 0 w 125"/>
              <a:gd name="T7" fmla="*/ 239 h 2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125" h="239">
                <a:moveTo>
                  <a:pt x="0" y="0"/>
                </a:moveTo>
                <a:lnTo>
                  <a:pt x="125" y="0"/>
                </a:lnTo>
                <a:lnTo>
                  <a:pt x="125" y="239"/>
                </a:lnTo>
                <a:lnTo>
                  <a:pt x="0" y="239"/>
                </a:lnTo>
              </a:path>
            </a:pathLst>
          </a:custGeom>
          <a:noFill/>
          <a:ln w="20638" cap="rnd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sz="1600" dirty="0">
              <a:ea typeface="SimHei" panose="02010609060101010101" pitchFamily="49" charset="-122"/>
            </a:endParaRPr>
          </a:p>
        </p:txBody>
      </p:sp>
      <p:sp>
        <p:nvSpPr>
          <p:cNvPr id="280" name="Line 94">
            <a:extLst>
              <a:ext uri="{FF2B5EF4-FFF2-40B4-BE49-F238E27FC236}">
                <a16:creationId xmlns:a16="http://schemas.microsoft.com/office/drawing/2014/main" id="{5B57891D-F7BE-43FD-9B84-768F3ED3F4A4}"/>
              </a:ext>
            </a:extLst>
          </p:cNvPr>
          <p:cNvSpPr>
            <a:spLocks noChangeShapeType="1"/>
          </p:cNvSpPr>
          <p:nvPr/>
        </p:nvSpPr>
        <p:spPr bwMode="auto">
          <a:xfrm>
            <a:off x="4712582" y="4709220"/>
            <a:ext cx="121351" cy="0"/>
          </a:xfrm>
          <a:prstGeom prst="line">
            <a:avLst/>
          </a:prstGeom>
          <a:noFill/>
          <a:ln w="20638" cap="flat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sz="1600" dirty="0">
              <a:ea typeface="SimHei" panose="02010609060101010101" pitchFamily="49" charset="-122"/>
            </a:endParaRPr>
          </a:p>
        </p:txBody>
      </p:sp>
      <p:sp>
        <p:nvSpPr>
          <p:cNvPr id="281" name="Freeform 95">
            <a:extLst>
              <a:ext uri="{FF2B5EF4-FFF2-40B4-BE49-F238E27FC236}">
                <a16:creationId xmlns:a16="http://schemas.microsoft.com/office/drawing/2014/main" id="{86CE55DA-5E08-405B-83C7-F2177B22309D}"/>
              </a:ext>
            </a:extLst>
          </p:cNvPr>
          <p:cNvSpPr>
            <a:spLocks/>
          </p:cNvSpPr>
          <p:nvPr/>
        </p:nvSpPr>
        <p:spPr bwMode="auto">
          <a:xfrm>
            <a:off x="4783585" y="4607056"/>
            <a:ext cx="50347" cy="102163"/>
          </a:xfrm>
          <a:custGeom>
            <a:avLst/>
            <a:gdLst>
              <a:gd name="T0" fmla="*/ 0 w 39"/>
              <a:gd name="T1" fmla="*/ 80 h 80"/>
              <a:gd name="T2" fmla="*/ 0 w 39"/>
              <a:gd name="T3" fmla="*/ 0 h 80"/>
              <a:gd name="T4" fmla="*/ 39 w 39"/>
              <a:gd name="T5" fmla="*/ 0 h 8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39" h="80">
                <a:moveTo>
                  <a:pt x="0" y="80"/>
                </a:moveTo>
                <a:lnTo>
                  <a:pt x="0" y="0"/>
                </a:lnTo>
                <a:lnTo>
                  <a:pt x="39" y="0"/>
                </a:lnTo>
              </a:path>
            </a:pathLst>
          </a:custGeom>
          <a:noFill/>
          <a:ln w="20638" cap="rnd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sz="1600" dirty="0">
              <a:ea typeface="SimHei" panose="02010609060101010101" pitchFamily="49" charset="-122"/>
            </a:endParaRPr>
          </a:p>
        </p:txBody>
      </p:sp>
      <p:sp>
        <p:nvSpPr>
          <p:cNvPr id="282" name="Line 96">
            <a:extLst>
              <a:ext uri="{FF2B5EF4-FFF2-40B4-BE49-F238E27FC236}">
                <a16:creationId xmlns:a16="http://schemas.microsoft.com/office/drawing/2014/main" id="{A9536BCD-D8A4-4A15-9169-17C6A3AA2638}"/>
              </a:ext>
            </a:extLst>
          </p:cNvPr>
          <p:cNvSpPr>
            <a:spLocks noChangeShapeType="1"/>
          </p:cNvSpPr>
          <p:nvPr/>
        </p:nvSpPr>
        <p:spPr bwMode="auto">
          <a:xfrm>
            <a:off x="5156675" y="4607056"/>
            <a:ext cx="167826" cy="0"/>
          </a:xfrm>
          <a:prstGeom prst="line">
            <a:avLst/>
          </a:prstGeom>
          <a:noFill/>
          <a:ln w="20638" cap="flat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sz="1600" dirty="0">
              <a:ea typeface="SimHei" panose="02010609060101010101" pitchFamily="49" charset="-122"/>
            </a:endParaRPr>
          </a:p>
        </p:txBody>
      </p:sp>
      <p:sp>
        <p:nvSpPr>
          <p:cNvPr id="283" name="Rectangle 97">
            <a:extLst>
              <a:ext uri="{FF2B5EF4-FFF2-40B4-BE49-F238E27FC236}">
                <a16:creationId xmlns:a16="http://schemas.microsoft.com/office/drawing/2014/main" id="{D5BB932D-761C-4CDD-9D0F-1656674416F9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99436" y="4607642"/>
            <a:ext cx="238848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zh-CN" altLang="zh-CN" sz="1200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rPr>
              <a:t>DM</a:t>
            </a:r>
            <a:endParaRPr kumimoji="0" lang="zh-CN" altLang="zh-CN" sz="160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  <a:ea typeface="SimHei" panose="02010609060101010101" pitchFamily="49" charset="-122"/>
            </a:endParaRPr>
          </a:p>
        </p:txBody>
      </p:sp>
      <p:sp>
        <p:nvSpPr>
          <p:cNvPr id="284" name="Freeform 98">
            <a:extLst>
              <a:ext uri="{FF2B5EF4-FFF2-40B4-BE49-F238E27FC236}">
                <a16:creationId xmlns:a16="http://schemas.microsoft.com/office/drawing/2014/main" id="{25DA789F-05BE-4E88-AF86-866364B21FA5}"/>
              </a:ext>
            </a:extLst>
          </p:cNvPr>
          <p:cNvSpPr>
            <a:spLocks/>
          </p:cNvSpPr>
          <p:nvPr/>
        </p:nvSpPr>
        <p:spPr bwMode="auto">
          <a:xfrm>
            <a:off x="5744065" y="4555975"/>
            <a:ext cx="172990" cy="305211"/>
          </a:xfrm>
          <a:custGeom>
            <a:avLst/>
            <a:gdLst>
              <a:gd name="T0" fmla="*/ 134 w 134"/>
              <a:gd name="T1" fmla="*/ 0 h 239"/>
              <a:gd name="T2" fmla="*/ 0 w 134"/>
              <a:gd name="T3" fmla="*/ 0 h 239"/>
              <a:gd name="T4" fmla="*/ 0 w 134"/>
              <a:gd name="T5" fmla="*/ 239 h 239"/>
              <a:gd name="T6" fmla="*/ 134 w 134"/>
              <a:gd name="T7" fmla="*/ 239 h 2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134" h="239">
                <a:moveTo>
                  <a:pt x="134" y="0"/>
                </a:moveTo>
                <a:lnTo>
                  <a:pt x="0" y="0"/>
                </a:lnTo>
                <a:lnTo>
                  <a:pt x="0" y="239"/>
                </a:lnTo>
                <a:lnTo>
                  <a:pt x="134" y="239"/>
                </a:lnTo>
              </a:path>
            </a:pathLst>
          </a:custGeom>
          <a:noFill/>
          <a:ln w="20638" cap="rnd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sz="1600" dirty="0">
              <a:ea typeface="SimHei" panose="02010609060101010101" pitchFamily="49" charset="-122"/>
            </a:endParaRPr>
          </a:p>
        </p:txBody>
      </p:sp>
      <p:sp>
        <p:nvSpPr>
          <p:cNvPr id="285" name="Freeform 99">
            <a:extLst>
              <a:ext uri="{FF2B5EF4-FFF2-40B4-BE49-F238E27FC236}">
                <a16:creationId xmlns:a16="http://schemas.microsoft.com/office/drawing/2014/main" id="{51E8E016-04AE-4D2D-9592-64F92B1F218B}"/>
              </a:ext>
            </a:extLst>
          </p:cNvPr>
          <p:cNvSpPr>
            <a:spLocks/>
          </p:cNvSpPr>
          <p:nvPr/>
        </p:nvSpPr>
        <p:spPr bwMode="auto">
          <a:xfrm>
            <a:off x="5918347" y="4555975"/>
            <a:ext cx="172990" cy="305211"/>
          </a:xfrm>
          <a:custGeom>
            <a:avLst/>
            <a:gdLst>
              <a:gd name="T0" fmla="*/ 0 w 134"/>
              <a:gd name="T1" fmla="*/ 0 h 239"/>
              <a:gd name="T2" fmla="*/ 134 w 134"/>
              <a:gd name="T3" fmla="*/ 0 h 239"/>
              <a:gd name="T4" fmla="*/ 134 w 134"/>
              <a:gd name="T5" fmla="*/ 239 h 239"/>
              <a:gd name="T6" fmla="*/ 0 w 134"/>
              <a:gd name="T7" fmla="*/ 239 h 2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134" h="239">
                <a:moveTo>
                  <a:pt x="0" y="0"/>
                </a:moveTo>
                <a:lnTo>
                  <a:pt x="134" y="0"/>
                </a:lnTo>
                <a:lnTo>
                  <a:pt x="134" y="239"/>
                </a:lnTo>
                <a:lnTo>
                  <a:pt x="0" y="239"/>
                </a:lnTo>
              </a:path>
            </a:pathLst>
          </a:custGeom>
          <a:noFill/>
          <a:ln w="20638" cap="rnd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sz="1600" dirty="0">
              <a:ea typeface="SimHei" panose="02010609060101010101" pitchFamily="49" charset="-122"/>
            </a:endParaRPr>
          </a:p>
        </p:txBody>
      </p:sp>
      <p:sp>
        <p:nvSpPr>
          <p:cNvPr id="286" name="Rectangle 100">
            <a:extLst>
              <a:ext uri="{FF2B5EF4-FFF2-40B4-BE49-F238E27FC236}">
                <a16:creationId xmlns:a16="http://schemas.microsoft.com/office/drawing/2014/main" id="{309E5C99-88D7-4E17-A6B6-8F75D5F6EAD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71583" y="4607642"/>
            <a:ext cx="290144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zh-CN" altLang="zh-CN" sz="1200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rPr>
              <a:t>Reg</a:t>
            </a:r>
            <a:endParaRPr kumimoji="0" lang="zh-CN" altLang="zh-CN" sz="160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  <a:ea typeface="SimHei" panose="02010609060101010101" pitchFamily="49" charset="-122"/>
            </a:endParaRPr>
          </a:p>
        </p:txBody>
      </p:sp>
      <p:sp>
        <p:nvSpPr>
          <p:cNvPr id="287" name="Freeform 101">
            <a:extLst>
              <a:ext uri="{FF2B5EF4-FFF2-40B4-BE49-F238E27FC236}">
                <a16:creationId xmlns:a16="http://schemas.microsoft.com/office/drawing/2014/main" id="{2C3E030D-A977-4EBE-AB3E-CB6C2AB8BFE8}"/>
              </a:ext>
            </a:extLst>
          </p:cNvPr>
          <p:cNvSpPr>
            <a:spLocks/>
          </p:cNvSpPr>
          <p:nvPr/>
        </p:nvSpPr>
        <p:spPr bwMode="auto">
          <a:xfrm>
            <a:off x="6247543" y="4555975"/>
            <a:ext cx="153625" cy="305211"/>
          </a:xfrm>
          <a:custGeom>
            <a:avLst/>
            <a:gdLst>
              <a:gd name="T0" fmla="*/ 119 w 119"/>
              <a:gd name="T1" fmla="*/ 0 h 239"/>
              <a:gd name="T2" fmla="*/ 0 w 119"/>
              <a:gd name="T3" fmla="*/ 0 h 239"/>
              <a:gd name="T4" fmla="*/ 0 w 119"/>
              <a:gd name="T5" fmla="*/ 239 h 239"/>
              <a:gd name="T6" fmla="*/ 119 w 119"/>
              <a:gd name="T7" fmla="*/ 239 h 2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119" h="239">
                <a:moveTo>
                  <a:pt x="119" y="0"/>
                </a:moveTo>
                <a:lnTo>
                  <a:pt x="0" y="0"/>
                </a:lnTo>
                <a:lnTo>
                  <a:pt x="0" y="239"/>
                </a:lnTo>
                <a:lnTo>
                  <a:pt x="119" y="239"/>
                </a:lnTo>
              </a:path>
            </a:pathLst>
          </a:custGeom>
          <a:noFill/>
          <a:ln w="20638" cap="rnd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sz="1600" dirty="0">
              <a:ea typeface="SimHei" panose="02010609060101010101" pitchFamily="49" charset="-122"/>
            </a:endParaRPr>
          </a:p>
        </p:txBody>
      </p:sp>
      <p:sp>
        <p:nvSpPr>
          <p:cNvPr id="288" name="Freeform 102">
            <a:extLst>
              <a:ext uri="{FF2B5EF4-FFF2-40B4-BE49-F238E27FC236}">
                <a16:creationId xmlns:a16="http://schemas.microsoft.com/office/drawing/2014/main" id="{5F95A91E-E236-4589-97CC-9556F04593C7}"/>
              </a:ext>
            </a:extLst>
          </p:cNvPr>
          <p:cNvSpPr>
            <a:spLocks/>
          </p:cNvSpPr>
          <p:nvPr/>
        </p:nvSpPr>
        <p:spPr bwMode="auto">
          <a:xfrm>
            <a:off x="6402459" y="4555975"/>
            <a:ext cx="153625" cy="305211"/>
          </a:xfrm>
          <a:custGeom>
            <a:avLst/>
            <a:gdLst>
              <a:gd name="T0" fmla="*/ 0 w 119"/>
              <a:gd name="T1" fmla="*/ 0 h 239"/>
              <a:gd name="T2" fmla="*/ 119 w 119"/>
              <a:gd name="T3" fmla="*/ 0 h 239"/>
              <a:gd name="T4" fmla="*/ 119 w 119"/>
              <a:gd name="T5" fmla="*/ 239 h 239"/>
              <a:gd name="T6" fmla="*/ 0 w 119"/>
              <a:gd name="T7" fmla="*/ 239 h 2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119" h="239">
                <a:moveTo>
                  <a:pt x="0" y="0"/>
                </a:moveTo>
                <a:lnTo>
                  <a:pt x="119" y="0"/>
                </a:lnTo>
                <a:lnTo>
                  <a:pt x="119" y="239"/>
                </a:lnTo>
                <a:lnTo>
                  <a:pt x="0" y="239"/>
                </a:lnTo>
              </a:path>
            </a:pathLst>
          </a:custGeom>
          <a:noFill/>
          <a:ln w="20638" cap="rnd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sz="1600" dirty="0">
              <a:ea typeface="SimHei" panose="02010609060101010101" pitchFamily="49" charset="-122"/>
            </a:endParaRPr>
          </a:p>
        </p:txBody>
      </p:sp>
      <p:sp>
        <p:nvSpPr>
          <p:cNvPr id="289" name="Line 103">
            <a:extLst>
              <a:ext uri="{FF2B5EF4-FFF2-40B4-BE49-F238E27FC236}">
                <a16:creationId xmlns:a16="http://schemas.microsoft.com/office/drawing/2014/main" id="{454BEACE-32A4-4CF2-8D74-002810D9F355}"/>
              </a:ext>
            </a:extLst>
          </p:cNvPr>
          <p:cNvSpPr>
            <a:spLocks noChangeShapeType="1"/>
          </p:cNvSpPr>
          <p:nvPr/>
        </p:nvSpPr>
        <p:spPr bwMode="auto">
          <a:xfrm>
            <a:off x="6092627" y="4709220"/>
            <a:ext cx="148461" cy="0"/>
          </a:xfrm>
          <a:prstGeom prst="line">
            <a:avLst/>
          </a:prstGeom>
          <a:noFill/>
          <a:ln w="20638" cap="flat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sz="1600" dirty="0">
              <a:ea typeface="SimHei" panose="02010609060101010101" pitchFamily="49" charset="-122"/>
            </a:endParaRPr>
          </a:p>
        </p:txBody>
      </p:sp>
      <p:sp>
        <p:nvSpPr>
          <p:cNvPr id="290" name="Line 104">
            <a:extLst>
              <a:ext uri="{FF2B5EF4-FFF2-40B4-BE49-F238E27FC236}">
                <a16:creationId xmlns:a16="http://schemas.microsoft.com/office/drawing/2014/main" id="{116E83AD-9DCD-42EE-83A9-93952C160220}"/>
              </a:ext>
            </a:extLst>
          </p:cNvPr>
          <p:cNvSpPr>
            <a:spLocks noChangeShapeType="1"/>
          </p:cNvSpPr>
          <p:nvPr/>
        </p:nvSpPr>
        <p:spPr bwMode="auto">
          <a:xfrm>
            <a:off x="5569785" y="4709220"/>
            <a:ext cx="167826" cy="0"/>
          </a:xfrm>
          <a:prstGeom prst="line">
            <a:avLst/>
          </a:prstGeom>
          <a:noFill/>
          <a:ln w="20638" cap="flat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sz="1600" dirty="0">
              <a:ea typeface="SimHei" panose="02010609060101010101" pitchFamily="49" charset="-122"/>
            </a:endParaRPr>
          </a:p>
        </p:txBody>
      </p:sp>
      <p:sp>
        <p:nvSpPr>
          <p:cNvPr id="291" name="Line 105">
            <a:extLst>
              <a:ext uri="{FF2B5EF4-FFF2-40B4-BE49-F238E27FC236}">
                <a16:creationId xmlns:a16="http://schemas.microsoft.com/office/drawing/2014/main" id="{E3A07CC4-4016-4452-8F88-9D8B4CBDDC06}"/>
              </a:ext>
            </a:extLst>
          </p:cNvPr>
          <p:cNvSpPr>
            <a:spLocks noChangeShapeType="1"/>
          </p:cNvSpPr>
          <p:nvPr/>
        </p:nvSpPr>
        <p:spPr bwMode="auto">
          <a:xfrm>
            <a:off x="5156675" y="4811382"/>
            <a:ext cx="167826" cy="0"/>
          </a:xfrm>
          <a:prstGeom prst="line">
            <a:avLst/>
          </a:prstGeom>
          <a:noFill/>
          <a:ln w="20638" cap="flat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sz="1600" dirty="0">
              <a:ea typeface="SimHei" panose="02010609060101010101" pitchFamily="49" charset="-122"/>
            </a:endParaRPr>
          </a:p>
        </p:txBody>
      </p:sp>
      <p:sp>
        <p:nvSpPr>
          <p:cNvPr id="292" name="Line 106">
            <a:extLst>
              <a:ext uri="{FF2B5EF4-FFF2-40B4-BE49-F238E27FC236}">
                <a16:creationId xmlns:a16="http://schemas.microsoft.com/office/drawing/2014/main" id="{D7D0D63A-DADD-4FBA-858F-7C328E51B3A4}"/>
              </a:ext>
            </a:extLst>
          </p:cNvPr>
          <p:cNvSpPr>
            <a:spLocks noChangeShapeType="1"/>
          </p:cNvSpPr>
          <p:nvPr/>
        </p:nvSpPr>
        <p:spPr bwMode="auto">
          <a:xfrm>
            <a:off x="5247042" y="4811382"/>
            <a:ext cx="0" cy="204325"/>
          </a:xfrm>
          <a:prstGeom prst="line">
            <a:avLst/>
          </a:prstGeom>
          <a:noFill/>
          <a:ln w="23813" cap="flat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sz="1600" dirty="0">
              <a:ea typeface="SimHei" panose="02010609060101010101" pitchFamily="49" charset="-122"/>
            </a:endParaRPr>
          </a:p>
        </p:txBody>
      </p:sp>
      <p:sp>
        <p:nvSpPr>
          <p:cNvPr id="293" name="Line 107">
            <a:extLst>
              <a:ext uri="{FF2B5EF4-FFF2-40B4-BE49-F238E27FC236}">
                <a16:creationId xmlns:a16="http://schemas.microsoft.com/office/drawing/2014/main" id="{438A29AF-9B78-4967-B2EC-4265C2CDE33C}"/>
              </a:ext>
            </a:extLst>
          </p:cNvPr>
          <p:cNvSpPr>
            <a:spLocks noChangeShapeType="1"/>
          </p:cNvSpPr>
          <p:nvPr/>
        </p:nvSpPr>
        <p:spPr bwMode="auto">
          <a:xfrm>
            <a:off x="5247042" y="5015706"/>
            <a:ext cx="361471" cy="0"/>
          </a:xfrm>
          <a:prstGeom prst="line">
            <a:avLst/>
          </a:prstGeom>
          <a:noFill/>
          <a:ln w="23813" cap="flat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sz="1600" dirty="0">
              <a:ea typeface="SimHei" panose="02010609060101010101" pitchFamily="49" charset="-122"/>
            </a:endParaRPr>
          </a:p>
        </p:txBody>
      </p:sp>
      <p:sp>
        <p:nvSpPr>
          <p:cNvPr id="294" name="Line 108">
            <a:extLst>
              <a:ext uri="{FF2B5EF4-FFF2-40B4-BE49-F238E27FC236}">
                <a16:creationId xmlns:a16="http://schemas.microsoft.com/office/drawing/2014/main" id="{F165AF9C-2CAB-4B89-AA79-DA01A2F31965}"/>
              </a:ext>
            </a:extLst>
          </p:cNvPr>
          <p:cNvSpPr>
            <a:spLocks noChangeShapeType="1"/>
          </p:cNvSpPr>
          <p:nvPr/>
        </p:nvSpPr>
        <p:spPr bwMode="auto">
          <a:xfrm>
            <a:off x="5608514" y="4709220"/>
            <a:ext cx="0" cy="306488"/>
          </a:xfrm>
          <a:prstGeom prst="line">
            <a:avLst/>
          </a:prstGeom>
          <a:noFill/>
          <a:ln w="23813" cap="flat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sz="1600" dirty="0">
              <a:ea typeface="SimHei" panose="02010609060101010101" pitchFamily="49" charset="-122"/>
            </a:endParaRPr>
          </a:p>
        </p:txBody>
      </p:sp>
      <p:sp>
        <p:nvSpPr>
          <p:cNvPr id="295" name="Line 109">
            <a:extLst>
              <a:ext uri="{FF2B5EF4-FFF2-40B4-BE49-F238E27FC236}">
                <a16:creationId xmlns:a16="http://schemas.microsoft.com/office/drawing/2014/main" id="{BF694A58-5AFA-45DD-8FCD-B028D961404E}"/>
              </a:ext>
            </a:extLst>
          </p:cNvPr>
          <p:cNvSpPr>
            <a:spLocks noChangeShapeType="1"/>
          </p:cNvSpPr>
          <p:nvPr/>
        </p:nvSpPr>
        <p:spPr bwMode="auto">
          <a:xfrm>
            <a:off x="5692427" y="4709220"/>
            <a:ext cx="0" cy="255406"/>
          </a:xfrm>
          <a:prstGeom prst="line">
            <a:avLst/>
          </a:prstGeom>
          <a:noFill/>
          <a:ln w="23813" cap="flat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sz="1600" dirty="0">
              <a:ea typeface="SimHei" panose="02010609060101010101" pitchFamily="49" charset="-122"/>
            </a:endParaRPr>
          </a:p>
        </p:txBody>
      </p:sp>
      <p:sp>
        <p:nvSpPr>
          <p:cNvPr id="296" name="Line 110">
            <a:extLst>
              <a:ext uri="{FF2B5EF4-FFF2-40B4-BE49-F238E27FC236}">
                <a16:creationId xmlns:a16="http://schemas.microsoft.com/office/drawing/2014/main" id="{DFD4332D-9684-45A3-A1BD-A8C491D525C5}"/>
              </a:ext>
            </a:extLst>
          </p:cNvPr>
          <p:cNvSpPr>
            <a:spLocks noChangeShapeType="1"/>
          </p:cNvSpPr>
          <p:nvPr/>
        </p:nvSpPr>
        <p:spPr bwMode="auto">
          <a:xfrm>
            <a:off x="5692427" y="4964626"/>
            <a:ext cx="464748" cy="0"/>
          </a:xfrm>
          <a:prstGeom prst="line">
            <a:avLst/>
          </a:prstGeom>
          <a:noFill/>
          <a:ln w="23813" cap="flat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sz="1600" dirty="0">
              <a:ea typeface="SimHei" panose="02010609060101010101" pitchFamily="49" charset="-122"/>
            </a:endParaRPr>
          </a:p>
        </p:txBody>
      </p:sp>
      <p:sp>
        <p:nvSpPr>
          <p:cNvPr id="297" name="Line 111">
            <a:extLst>
              <a:ext uri="{FF2B5EF4-FFF2-40B4-BE49-F238E27FC236}">
                <a16:creationId xmlns:a16="http://schemas.microsoft.com/office/drawing/2014/main" id="{D5411833-0439-4DE5-B188-2A931945670D}"/>
              </a:ext>
            </a:extLst>
          </p:cNvPr>
          <p:cNvSpPr>
            <a:spLocks noChangeShapeType="1"/>
          </p:cNvSpPr>
          <p:nvPr/>
        </p:nvSpPr>
        <p:spPr bwMode="auto">
          <a:xfrm>
            <a:off x="6157175" y="4709220"/>
            <a:ext cx="0" cy="255406"/>
          </a:xfrm>
          <a:prstGeom prst="line">
            <a:avLst/>
          </a:prstGeom>
          <a:noFill/>
          <a:ln w="23813" cap="flat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sz="1600" dirty="0">
              <a:ea typeface="SimHei" panose="02010609060101010101" pitchFamily="49" charset="-122"/>
            </a:endParaRPr>
          </a:p>
        </p:txBody>
      </p:sp>
      <p:sp>
        <p:nvSpPr>
          <p:cNvPr id="298" name="Freeform 112">
            <a:extLst>
              <a:ext uri="{FF2B5EF4-FFF2-40B4-BE49-F238E27FC236}">
                <a16:creationId xmlns:a16="http://schemas.microsoft.com/office/drawing/2014/main" id="{84037039-0028-4FCC-9984-B76B635B2E4A}"/>
              </a:ext>
            </a:extLst>
          </p:cNvPr>
          <p:cNvSpPr>
            <a:spLocks/>
          </p:cNvSpPr>
          <p:nvPr/>
        </p:nvSpPr>
        <p:spPr bwMode="auto">
          <a:xfrm>
            <a:off x="5795704" y="5015706"/>
            <a:ext cx="231083" cy="509536"/>
          </a:xfrm>
          <a:custGeom>
            <a:avLst/>
            <a:gdLst>
              <a:gd name="T0" fmla="*/ 0 w 179"/>
              <a:gd name="T1" fmla="*/ 266 h 399"/>
              <a:gd name="T2" fmla="*/ 60 w 179"/>
              <a:gd name="T3" fmla="*/ 199 h 399"/>
              <a:gd name="T4" fmla="*/ 0 w 179"/>
              <a:gd name="T5" fmla="*/ 133 h 399"/>
              <a:gd name="T6" fmla="*/ 0 w 179"/>
              <a:gd name="T7" fmla="*/ 0 h 399"/>
              <a:gd name="T8" fmla="*/ 179 w 179"/>
              <a:gd name="T9" fmla="*/ 133 h 399"/>
              <a:gd name="T10" fmla="*/ 179 w 179"/>
              <a:gd name="T11" fmla="*/ 266 h 399"/>
              <a:gd name="T12" fmla="*/ 0 w 179"/>
              <a:gd name="T13" fmla="*/ 399 h 399"/>
              <a:gd name="T14" fmla="*/ 0 w 179"/>
              <a:gd name="T15" fmla="*/ 266 h 39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179" h="399">
                <a:moveTo>
                  <a:pt x="0" y="266"/>
                </a:moveTo>
                <a:lnTo>
                  <a:pt x="60" y="199"/>
                </a:lnTo>
                <a:lnTo>
                  <a:pt x="0" y="133"/>
                </a:lnTo>
                <a:lnTo>
                  <a:pt x="0" y="0"/>
                </a:lnTo>
                <a:lnTo>
                  <a:pt x="179" y="133"/>
                </a:lnTo>
                <a:lnTo>
                  <a:pt x="179" y="266"/>
                </a:lnTo>
                <a:lnTo>
                  <a:pt x="0" y="399"/>
                </a:lnTo>
                <a:lnTo>
                  <a:pt x="0" y="266"/>
                </a:lnTo>
              </a:path>
            </a:pathLst>
          </a:custGeom>
          <a:noFill/>
          <a:ln w="20638" cap="rnd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sz="1600" dirty="0">
              <a:ea typeface="SimHei" panose="02010609060101010101" pitchFamily="49" charset="-122"/>
            </a:endParaRPr>
          </a:p>
        </p:txBody>
      </p:sp>
      <p:sp>
        <p:nvSpPr>
          <p:cNvPr id="299" name="Rectangle 113">
            <a:extLst>
              <a:ext uri="{FF2B5EF4-FFF2-40B4-BE49-F238E27FC236}">
                <a16:creationId xmlns:a16="http://schemas.microsoft.com/office/drawing/2014/main" id="{14735488-39DA-4708-AF6A-211950D66121}"/>
              </a:ext>
            </a:extLst>
          </p:cNvPr>
          <p:cNvSpPr>
            <a:spLocks noChangeArrowheads="1"/>
          </p:cNvSpPr>
          <p:nvPr/>
        </p:nvSpPr>
        <p:spPr bwMode="auto">
          <a:xfrm rot="5400000">
            <a:off x="5684973" y="5181365"/>
            <a:ext cx="492934" cy="1692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zh-CN" altLang="zh-CN" sz="1100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rPr>
              <a:t>ALU</a:t>
            </a:r>
            <a:endParaRPr kumimoji="0" lang="zh-CN" altLang="zh-CN" sz="110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  <a:ea typeface="SimHei" panose="02010609060101010101" pitchFamily="49" charset="-122"/>
            </a:endParaRPr>
          </a:p>
        </p:txBody>
      </p:sp>
      <p:sp>
        <p:nvSpPr>
          <p:cNvPr id="300" name="Rectangle 114">
            <a:extLst>
              <a:ext uri="{FF2B5EF4-FFF2-40B4-BE49-F238E27FC236}">
                <a16:creationId xmlns:a16="http://schemas.microsoft.com/office/drawing/2014/main" id="{DFF71015-9B5D-478D-A5CC-D0DCFC9FEA0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99143" y="5158735"/>
            <a:ext cx="171522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zh-CN" altLang="zh-CN" sz="1200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rPr>
              <a:t>IM</a:t>
            </a:r>
            <a:endParaRPr kumimoji="0" lang="zh-CN" altLang="zh-CN" sz="160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  <a:ea typeface="SimHei" panose="02010609060101010101" pitchFamily="49" charset="-122"/>
            </a:endParaRPr>
          </a:p>
        </p:txBody>
      </p:sp>
      <p:sp>
        <p:nvSpPr>
          <p:cNvPr id="301" name="Freeform 115">
            <a:extLst>
              <a:ext uri="{FF2B5EF4-FFF2-40B4-BE49-F238E27FC236}">
                <a16:creationId xmlns:a16="http://schemas.microsoft.com/office/drawing/2014/main" id="{5582082B-DAF6-440C-9765-D289683DD9FD}"/>
              </a:ext>
            </a:extLst>
          </p:cNvPr>
          <p:cNvSpPr>
            <a:spLocks/>
          </p:cNvSpPr>
          <p:nvPr/>
        </p:nvSpPr>
        <p:spPr bwMode="auto">
          <a:xfrm>
            <a:off x="4802950" y="5117870"/>
            <a:ext cx="179444" cy="305211"/>
          </a:xfrm>
          <a:custGeom>
            <a:avLst/>
            <a:gdLst>
              <a:gd name="T0" fmla="*/ 139 w 139"/>
              <a:gd name="T1" fmla="*/ 0 h 239"/>
              <a:gd name="T2" fmla="*/ 0 w 139"/>
              <a:gd name="T3" fmla="*/ 0 h 239"/>
              <a:gd name="T4" fmla="*/ 0 w 139"/>
              <a:gd name="T5" fmla="*/ 239 h 239"/>
              <a:gd name="T6" fmla="*/ 139 w 139"/>
              <a:gd name="T7" fmla="*/ 239 h 2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139" h="239">
                <a:moveTo>
                  <a:pt x="139" y="0"/>
                </a:moveTo>
                <a:lnTo>
                  <a:pt x="0" y="0"/>
                </a:lnTo>
                <a:lnTo>
                  <a:pt x="0" y="239"/>
                </a:lnTo>
                <a:lnTo>
                  <a:pt x="139" y="239"/>
                </a:lnTo>
              </a:path>
            </a:pathLst>
          </a:custGeom>
          <a:noFill/>
          <a:ln w="20638" cap="rnd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sz="1600" dirty="0">
              <a:ea typeface="SimHei" panose="02010609060101010101" pitchFamily="49" charset="-122"/>
            </a:endParaRPr>
          </a:p>
        </p:txBody>
      </p:sp>
      <p:sp>
        <p:nvSpPr>
          <p:cNvPr id="302" name="Freeform 116">
            <a:extLst>
              <a:ext uri="{FF2B5EF4-FFF2-40B4-BE49-F238E27FC236}">
                <a16:creationId xmlns:a16="http://schemas.microsoft.com/office/drawing/2014/main" id="{7612FE11-8597-4F6D-A229-6598D4EB7EFB}"/>
              </a:ext>
            </a:extLst>
          </p:cNvPr>
          <p:cNvSpPr>
            <a:spLocks/>
          </p:cNvSpPr>
          <p:nvPr/>
        </p:nvSpPr>
        <p:spPr bwMode="auto">
          <a:xfrm>
            <a:off x="4982394" y="5117870"/>
            <a:ext cx="187190" cy="305211"/>
          </a:xfrm>
          <a:custGeom>
            <a:avLst/>
            <a:gdLst>
              <a:gd name="T0" fmla="*/ 0 w 145"/>
              <a:gd name="T1" fmla="*/ 0 h 239"/>
              <a:gd name="T2" fmla="*/ 145 w 145"/>
              <a:gd name="T3" fmla="*/ 0 h 239"/>
              <a:gd name="T4" fmla="*/ 145 w 145"/>
              <a:gd name="T5" fmla="*/ 239 h 239"/>
              <a:gd name="T6" fmla="*/ 0 w 145"/>
              <a:gd name="T7" fmla="*/ 239 h 2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145" h="239">
                <a:moveTo>
                  <a:pt x="0" y="0"/>
                </a:moveTo>
                <a:lnTo>
                  <a:pt x="145" y="0"/>
                </a:lnTo>
                <a:lnTo>
                  <a:pt x="145" y="239"/>
                </a:lnTo>
                <a:lnTo>
                  <a:pt x="0" y="239"/>
                </a:lnTo>
              </a:path>
            </a:pathLst>
          </a:custGeom>
          <a:noFill/>
          <a:ln w="20638" cap="rnd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sz="1600" dirty="0">
              <a:ea typeface="SimHei" panose="02010609060101010101" pitchFamily="49" charset="-122"/>
            </a:endParaRPr>
          </a:p>
        </p:txBody>
      </p:sp>
      <p:sp>
        <p:nvSpPr>
          <p:cNvPr id="303" name="Rectangle 117">
            <a:extLst>
              <a:ext uri="{FF2B5EF4-FFF2-40B4-BE49-F238E27FC236}">
                <a16:creationId xmlns:a16="http://schemas.microsoft.com/office/drawing/2014/main" id="{576237D4-33F5-4F65-9C83-BDFAE5B8EABE}"/>
              </a:ext>
            </a:extLst>
          </p:cNvPr>
          <p:cNvSpPr>
            <a:spLocks noChangeArrowheads="1"/>
          </p:cNvSpPr>
          <p:nvPr/>
        </p:nvSpPr>
        <p:spPr bwMode="auto">
          <a:xfrm>
            <a:off x="5327886" y="5173368"/>
            <a:ext cx="290144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zh-CN" altLang="zh-CN" sz="1200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rPr>
              <a:t>Reg</a:t>
            </a:r>
            <a:endParaRPr kumimoji="0" lang="zh-CN" altLang="zh-CN" sz="160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  <a:ea typeface="SimHei" panose="02010609060101010101" pitchFamily="49" charset="-122"/>
            </a:endParaRPr>
          </a:p>
        </p:txBody>
      </p:sp>
      <p:sp>
        <p:nvSpPr>
          <p:cNvPr id="304" name="Freeform 118">
            <a:extLst>
              <a:ext uri="{FF2B5EF4-FFF2-40B4-BE49-F238E27FC236}">
                <a16:creationId xmlns:a16="http://schemas.microsoft.com/office/drawing/2014/main" id="{C34F86AB-3634-451C-B348-5F6FDC4CE103}"/>
              </a:ext>
            </a:extLst>
          </p:cNvPr>
          <p:cNvSpPr>
            <a:spLocks/>
          </p:cNvSpPr>
          <p:nvPr/>
        </p:nvSpPr>
        <p:spPr bwMode="auto">
          <a:xfrm>
            <a:off x="5298682" y="5117870"/>
            <a:ext cx="154916" cy="305211"/>
          </a:xfrm>
          <a:custGeom>
            <a:avLst/>
            <a:gdLst>
              <a:gd name="T0" fmla="*/ 120 w 120"/>
              <a:gd name="T1" fmla="*/ 0 h 239"/>
              <a:gd name="T2" fmla="*/ 0 w 120"/>
              <a:gd name="T3" fmla="*/ 0 h 239"/>
              <a:gd name="T4" fmla="*/ 0 w 120"/>
              <a:gd name="T5" fmla="*/ 239 h 239"/>
              <a:gd name="T6" fmla="*/ 120 w 120"/>
              <a:gd name="T7" fmla="*/ 239 h 2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120" h="239">
                <a:moveTo>
                  <a:pt x="120" y="0"/>
                </a:moveTo>
                <a:lnTo>
                  <a:pt x="0" y="0"/>
                </a:lnTo>
                <a:lnTo>
                  <a:pt x="0" y="239"/>
                </a:lnTo>
                <a:lnTo>
                  <a:pt x="120" y="239"/>
                </a:lnTo>
              </a:path>
            </a:pathLst>
          </a:custGeom>
          <a:noFill/>
          <a:ln w="20638" cap="rnd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sz="1600" dirty="0">
              <a:ea typeface="SimHei" panose="02010609060101010101" pitchFamily="49" charset="-122"/>
            </a:endParaRPr>
          </a:p>
        </p:txBody>
      </p:sp>
      <p:sp>
        <p:nvSpPr>
          <p:cNvPr id="305" name="Freeform 119">
            <a:extLst>
              <a:ext uri="{FF2B5EF4-FFF2-40B4-BE49-F238E27FC236}">
                <a16:creationId xmlns:a16="http://schemas.microsoft.com/office/drawing/2014/main" id="{E158196D-574D-4396-929A-8CBC32BB533A}"/>
              </a:ext>
            </a:extLst>
          </p:cNvPr>
          <p:cNvSpPr>
            <a:spLocks/>
          </p:cNvSpPr>
          <p:nvPr/>
        </p:nvSpPr>
        <p:spPr bwMode="auto">
          <a:xfrm>
            <a:off x="5453598" y="5117870"/>
            <a:ext cx="160080" cy="305211"/>
          </a:xfrm>
          <a:custGeom>
            <a:avLst/>
            <a:gdLst>
              <a:gd name="T0" fmla="*/ 0 w 124"/>
              <a:gd name="T1" fmla="*/ 0 h 239"/>
              <a:gd name="T2" fmla="*/ 124 w 124"/>
              <a:gd name="T3" fmla="*/ 0 h 239"/>
              <a:gd name="T4" fmla="*/ 124 w 124"/>
              <a:gd name="T5" fmla="*/ 239 h 239"/>
              <a:gd name="T6" fmla="*/ 0 w 124"/>
              <a:gd name="T7" fmla="*/ 239 h 2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124" h="239">
                <a:moveTo>
                  <a:pt x="0" y="0"/>
                </a:moveTo>
                <a:lnTo>
                  <a:pt x="124" y="0"/>
                </a:lnTo>
                <a:lnTo>
                  <a:pt x="124" y="239"/>
                </a:lnTo>
                <a:lnTo>
                  <a:pt x="0" y="239"/>
                </a:lnTo>
              </a:path>
            </a:pathLst>
          </a:custGeom>
          <a:noFill/>
          <a:ln w="20638" cap="rnd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sz="1600" dirty="0">
              <a:ea typeface="SimHei" panose="02010609060101010101" pitchFamily="49" charset="-122"/>
            </a:endParaRPr>
          </a:p>
        </p:txBody>
      </p:sp>
      <p:sp>
        <p:nvSpPr>
          <p:cNvPr id="306" name="Line 120">
            <a:extLst>
              <a:ext uri="{FF2B5EF4-FFF2-40B4-BE49-F238E27FC236}">
                <a16:creationId xmlns:a16="http://schemas.microsoft.com/office/drawing/2014/main" id="{C64ECF80-A49C-4BDD-AC81-83DD29A3B942}"/>
              </a:ext>
            </a:extLst>
          </p:cNvPr>
          <p:cNvSpPr>
            <a:spLocks noChangeShapeType="1"/>
          </p:cNvSpPr>
          <p:nvPr/>
        </p:nvSpPr>
        <p:spPr bwMode="auto">
          <a:xfrm>
            <a:off x="5169585" y="5271114"/>
            <a:ext cx="129097" cy="0"/>
          </a:xfrm>
          <a:prstGeom prst="line">
            <a:avLst/>
          </a:prstGeom>
          <a:noFill/>
          <a:ln w="20638" cap="flat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sz="1600" dirty="0">
              <a:ea typeface="SimHei" panose="02010609060101010101" pitchFamily="49" charset="-122"/>
            </a:endParaRPr>
          </a:p>
        </p:txBody>
      </p:sp>
      <p:sp>
        <p:nvSpPr>
          <p:cNvPr id="307" name="Freeform 121">
            <a:extLst>
              <a:ext uri="{FF2B5EF4-FFF2-40B4-BE49-F238E27FC236}">
                <a16:creationId xmlns:a16="http://schemas.microsoft.com/office/drawing/2014/main" id="{2F4DD101-891C-4495-9EF7-75652BDC4475}"/>
              </a:ext>
            </a:extLst>
          </p:cNvPr>
          <p:cNvSpPr>
            <a:spLocks/>
          </p:cNvSpPr>
          <p:nvPr/>
        </p:nvSpPr>
        <p:spPr bwMode="auto">
          <a:xfrm>
            <a:off x="5247042" y="5168950"/>
            <a:ext cx="51639" cy="100886"/>
          </a:xfrm>
          <a:custGeom>
            <a:avLst/>
            <a:gdLst>
              <a:gd name="T0" fmla="*/ 0 w 40"/>
              <a:gd name="T1" fmla="*/ 79 h 79"/>
              <a:gd name="T2" fmla="*/ 0 w 40"/>
              <a:gd name="T3" fmla="*/ 0 h 79"/>
              <a:gd name="T4" fmla="*/ 40 w 40"/>
              <a:gd name="T5" fmla="*/ 0 h 7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40" h="79">
                <a:moveTo>
                  <a:pt x="0" y="79"/>
                </a:moveTo>
                <a:lnTo>
                  <a:pt x="0" y="0"/>
                </a:lnTo>
                <a:lnTo>
                  <a:pt x="40" y="0"/>
                </a:lnTo>
              </a:path>
            </a:pathLst>
          </a:custGeom>
          <a:noFill/>
          <a:ln w="20638" cap="rnd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sz="1600" dirty="0">
              <a:ea typeface="SimHei" panose="02010609060101010101" pitchFamily="49" charset="-122"/>
            </a:endParaRPr>
          </a:p>
        </p:txBody>
      </p:sp>
      <p:sp>
        <p:nvSpPr>
          <p:cNvPr id="308" name="Line 122">
            <a:extLst>
              <a:ext uri="{FF2B5EF4-FFF2-40B4-BE49-F238E27FC236}">
                <a16:creationId xmlns:a16="http://schemas.microsoft.com/office/drawing/2014/main" id="{82FC7AFC-17FC-4A2D-BF37-12420572CC6A}"/>
              </a:ext>
            </a:extLst>
          </p:cNvPr>
          <p:cNvSpPr>
            <a:spLocks noChangeShapeType="1"/>
          </p:cNvSpPr>
          <p:nvPr/>
        </p:nvSpPr>
        <p:spPr bwMode="auto">
          <a:xfrm>
            <a:off x="5621424" y="5168950"/>
            <a:ext cx="167826" cy="0"/>
          </a:xfrm>
          <a:prstGeom prst="line">
            <a:avLst/>
          </a:prstGeom>
          <a:noFill/>
          <a:ln w="20638" cap="flat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sz="1600" dirty="0">
              <a:ea typeface="SimHei" panose="02010609060101010101" pitchFamily="49" charset="-122"/>
            </a:endParaRPr>
          </a:p>
        </p:txBody>
      </p:sp>
      <p:sp>
        <p:nvSpPr>
          <p:cNvPr id="309" name="Rectangle 123">
            <a:extLst>
              <a:ext uri="{FF2B5EF4-FFF2-40B4-BE49-F238E27FC236}">
                <a16:creationId xmlns:a16="http://schemas.microsoft.com/office/drawing/2014/main" id="{FCBC8AB3-B3E4-4CFA-91E4-3E8F8C0417A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62894" y="5168260"/>
            <a:ext cx="238848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zh-CN" altLang="zh-CN" sz="1200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rPr>
              <a:t>DM</a:t>
            </a:r>
            <a:endParaRPr kumimoji="0" lang="zh-CN" altLang="zh-CN" sz="160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  <a:ea typeface="SimHei" panose="02010609060101010101" pitchFamily="49" charset="-122"/>
            </a:endParaRPr>
          </a:p>
        </p:txBody>
      </p:sp>
      <p:sp>
        <p:nvSpPr>
          <p:cNvPr id="310" name="Freeform 124">
            <a:extLst>
              <a:ext uri="{FF2B5EF4-FFF2-40B4-BE49-F238E27FC236}">
                <a16:creationId xmlns:a16="http://schemas.microsoft.com/office/drawing/2014/main" id="{80E2672C-70B1-43C8-8F2F-64839B028EC7}"/>
              </a:ext>
            </a:extLst>
          </p:cNvPr>
          <p:cNvSpPr>
            <a:spLocks/>
          </p:cNvSpPr>
          <p:nvPr/>
        </p:nvSpPr>
        <p:spPr bwMode="auto">
          <a:xfrm>
            <a:off x="6208814" y="5117870"/>
            <a:ext cx="172990" cy="305211"/>
          </a:xfrm>
          <a:custGeom>
            <a:avLst/>
            <a:gdLst>
              <a:gd name="T0" fmla="*/ 134 w 134"/>
              <a:gd name="T1" fmla="*/ 0 h 239"/>
              <a:gd name="T2" fmla="*/ 0 w 134"/>
              <a:gd name="T3" fmla="*/ 0 h 239"/>
              <a:gd name="T4" fmla="*/ 0 w 134"/>
              <a:gd name="T5" fmla="*/ 239 h 239"/>
              <a:gd name="T6" fmla="*/ 134 w 134"/>
              <a:gd name="T7" fmla="*/ 239 h 2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134" h="239">
                <a:moveTo>
                  <a:pt x="134" y="0"/>
                </a:moveTo>
                <a:lnTo>
                  <a:pt x="0" y="0"/>
                </a:lnTo>
                <a:lnTo>
                  <a:pt x="0" y="239"/>
                </a:lnTo>
                <a:lnTo>
                  <a:pt x="134" y="239"/>
                </a:lnTo>
              </a:path>
            </a:pathLst>
          </a:custGeom>
          <a:noFill/>
          <a:ln w="20638" cap="rnd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sz="1600" dirty="0">
              <a:ea typeface="SimHei" panose="02010609060101010101" pitchFamily="49" charset="-122"/>
            </a:endParaRPr>
          </a:p>
        </p:txBody>
      </p:sp>
      <p:sp>
        <p:nvSpPr>
          <p:cNvPr id="311" name="Freeform 125">
            <a:extLst>
              <a:ext uri="{FF2B5EF4-FFF2-40B4-BE49-F238E27FC236}">
                <a16:creationId xmlns:a16="http://schemas.microsoft.com/office/drawing/2014/main" id="{B507CE54-EF1F-41D0-96E8-45B0E6AFBF93}"/>
              </a:ext>
            </a:extLst>
          </p:cNvPr>
          <p:cNvSpPr>
            <a:spLocks/>
          </p:cNvSpPr>
          <p:nvPr/>
        </p:nvSpPr>
        <p:spPr bwMode="auto">
          <a:xfrm>
            <a:off x="6383095" y="5117870"/>
            <a:ext cx="172990" cy="305211"/>
          </a:xfrm>
          <a:custGeom>
            <a:avLst/>
            <a:gdLst>
              <a:gd name="T0" fmla="*/ 0 w 134"/>
              <a:gd name="T1" fmla="*/ 0 h 239"/>
              <a:gd name="T2" fmla="*/ 134 w 134"/>
              <a:gd name="T3" fmla="*/ 0 h 239"/>
              <a:gd name="T4" fmla="*/ 134 w 134"/>
              <a:gd name="T5" fmla="*/ 239 h 239"/>
              <a:gd name="T6" fmla="*/ 0 w 134"/>
              <a:gd name="T7" fmla="*/ 239 h 2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134" h="239">
                <a:moveTo>
                  <a:pt x="0" y="0"/>
                </a:moveTo>
                <a:lnTo>
                  <a:pt x="134" y="0"/>
                </a:lnTo>
                <a:lnTo>
                  <a:pt x="134" y="239"/>
                </a:lnTo>
                <a:lnTo>
                  <a:pt x="0" y="239"/>
                </a:lnTo>
              </a:path>
            </a:pathLst>
          </a:custGeom>
          <a:noFill/>
          <a:ln w="20638" cap="rnd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sz="1600" dirty="0">
              <a:ea typeface="SimHei" panose="02010609060101010101" pitchFamily="49" charset="-122"/>
            </a:endParaRPr>
          </a:p>
        </p:txBody>
      </p:sp>
      <p:sp>
        <p:nvSpPr>
          <p:cNvPr id="312" name="Rectangle 126">
            <a:extLst>
              <a:ext uri="{FF2B5EF4-FFF2-40B4-BE49-F238E27FC236}">
                <a16:creationId xmlns:a16="http://schemas.microsoft.com/office/drawing/2014/main" id="{845F8BB2-CDD7-44A9-8A11-DD691D5CD5D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35041" y="5168260"/>
            <a:ext cx="290144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zh-CN" altLang="zh-CN" sz="1200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rPr>
              <a:t>Reg</a:t>
            </a:r>
            <a:endParaRPr kumimoji="0" lang="zh-CN" altLang="zh-CN" sz="160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  <a:ea typeface="SimHei" panose="02010609060101010101" pitchFamily="49" charset="-122"/>
            </a:endParaRPr>
          </a:p>
        </p:txBody>
      </p:sp>
      <p:sp>
        <p:nvSpPr>
          <p:cNvPr id="313" name="Freeform 127">
            <a:extLst>
              <a:ext uri="{FF2B5EF4-FFF2-40B4-BE49-F238E27FC236}">
                <a16:creationId xmlns:a16="http://schemas.microsoft.com/office/drawing/2014/main" id="{D3EDAEC1-BA6F-45C7-B550-5C3E3D0D7318}"/>
              </a:ext>
            </a:extLst>
          </p:cNvPr>
          <p:cNvSpPr>
            <a:spLocks/>
          </p:cNvSpPr>
          <p:nvPr/>
        </p:nvSpPr>
        <p:spPr bwMode="auto">
          <a:xfrm>
            <a:off x="6711001" y="5117870"/>
            <a:ext cx="154916" cy="305211"/>
          </a:xfrm>
          <a:custGeom>
            <a:avLst/>
            <a:gdLst>
              <a:gd name="T0" fmla="*/ 120 w 120"/>
              <a:gd name="T1" fmla="*/ 0 h 239"/>
              <a:gd name="T2" fmla="*/ 0 w 120"/>
              <a:gd name="T3" fmla="*/ 0 h 239"/>
              <a:gd name="T4" fmla="*/ 0 w 120"/>
              <a:gd name="T5" fmla="*/ 239 h 239"/>
              <a:gd name="T6" fmla="*/ 120 w 120"/>
              <a:gd name="T7" fmla="*/ 239 h 2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120" h="239">
                <a:moveTo>
                  <a:pt x="120" y="0"/>
                </a:moveTo>
                <a:lnTo>
                  <a:pt x="0" y="0"/>
                </a:lnTo>
                <a:lnTo>
                  <a:pt x="0" y="239"/>
                </a:lnTo>
                <a:lnTo>
                  <a:pt x="120" y="239"/>
                </a:lnTo>
              </a:path>
            </a:pathLst>
          </a:custGeom>
          <a:noFill/>
          <a:ln w="20638" cap="rnd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sz="1600" dirty="0">
              <a:ea typeface="SimHei" panose="02010609060101010101" pitchFamily="49" charset="-122"/>
            </a:endParaRPr>
          </a:p>
        </p:txBody>
      </p:sp>
      <p:sp>
        <p:nvSpPr>
          <p:cNvPr id="314" name="Freeform 128">
            <a:extLst>
              <a:ext uri="{FF2B5EF4-FFF2-40B4-BE49-F238E27FC236}">
                <a16:creationId xmlns:a16="http://schemas.microsoft.com/office/drawing/2014/main" id="{0C94C1C9-0B9A-4BF2-8411-7B105AE73B3A}"/>
              </a:ext>
            </a:extLst>
          </p:cNvPr>
          <p:cNvSpPr>
            <a:spLocks/>
          </p:cNvSpPr>
          <p:nvPr/>
        </p:nvSpPr>
        <p:spPr bwMode="auto">
          <a:xfrm>
            <a:off x="6865917" y="5117870"/>
            <a:ext cx="148461" cy="305211"/>
          </a:xfrm>
          <a:custGeom>
            <a:avLst/>
            <a:gdLst>
              <a:gd name="T0" fmla="*/ 0 w 115"/>
              <a:gd name="T1" fmla="*/ 0 h 239"/>
              <a:gd name="T2" fmla="*/ 115 w 115"/>
              <a:gd name="T3" fmla="*/ 0 h 239"/>
              <a:gd name="T4" fmla="*/ 115 w 115"/>
              <a:gd name="T5" fmla="*/ 239 h 239"/>
              <a:gd name="T6" fmla="*/ 0 w 115"/>
              <a:gd name="T7" fmla="*/ 239 h 2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115" h="239">
                <a:moveTo>
                  <a:pt x="0" y="0"/>
                </a:moveTo>
                <a:lnTo>
                  <a:pt x="115" y="0"/>
                </a:lnTo>
                <a:lnTo>
                  <a:pt x="115" y="239"/>
                </a:lnTo>
                <a:lnTo>
                  <a:pt x="0" y="239"/>
                </a:lnTo>
              </a:path>
            </a:pathLst>
          </a:custGeom>
          <a:noFill/>
          <a:ln w="20638" cap="rnd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sz="1600" dirty="0">
              <a:ea typeface="SimHei" panose="02010609060101010101" pitchFamily="49" charset="-122"/>
            </a:endParaRPr>
          </a:p>
        </p:txBody>
      </p:sp>
      <p:sp>
        <p:nvSpPr>
          <p:cNvPr id="315" name="Line 129">
            <a:extLst>
              <a:ext uri="{FF2B5EF4-FFF2-40B4-BE49-F238E27FC236}">
                <a16:creationId xmlns:a16="http://schemas.microsoft.com/office/drawing/2014/main" id="{302A465E-1A1A-44CD-914C-C318E8E79510}"/>
              </a:ext>
            </a:extLst>
          </p:cNvPr>
          <p:cNvSpPr>
            <a:spLocks noChangeShapeType="1"/>
          </p:cNvSpPr>
          <p:nvPr/>
        </p:nvSpPr>
        <p:spPr bwMode="auto">
          <a:xfrm>
            <a:off x="6557375" y="5271114"/>
            <a:ext cx="147170" cy="0"/>
          </a:xfrm>
          <a:prstGeom prst="line">
            <a:avLst/>
          </a:prstGeom>
          <a:noFill/>
          <a:ln w="20638" cap="flat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sz="1600" dirty="0">
              <a:ea typeface="SimHei" panose="02010609060101010101" pitchFamily="49" charset="-122"/>
            </a:endParaRPr>
          </a:p>
        </p:txBody>
      </p:sp>
      <p:sp>
        <p:nvSpPr>
          <p:cNvPr id="316" name="Line 130">
            <a:extLst>
              <a:ext uri="{FF2B5EF4-FFF2-40B4-BE49-F238E27FC236}">
                <a16:creationId xmlns:a16="http://schemas.microsoft.com/office/drawing/2014/main" id="{E9519FA5-728C-46CB-B10D-8B612751BE2C}"/>
              </a:ext>
            </a:extLst>
          </p:cNvPr>
          <p:cNvSpPr>
            <a:spLocks noChangeShapeType="1"/>
          </p:cNvSpPr>
          <p:nvPr/>
        </p:nvSpPr>
        <p:spPr bwMode="auto">
          <a:xfrm>
            <a:off x="6034534" y="5271114"/>
            <a:ext cx="167826" cy="0"/>
          </a:xfrm>
          <a:prstGeom prst="line">
            <a:avLst/>
          </a:prstGeom>
          <a:noFill/>
          <a:ln w="20638" cap="flat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sz="1600" dirty="0">
              <a:ea typeface="SimHei" panose="02010609060101010101" pitchFamily="49" charset="-122"/>
            </a:endParaRPr>
          </a:p>
        </p:txBody>
      </p:sp>
      <p:sp>
        <p:nvSpPr>
          <p:cNvPr id="317" name="Line 131">
            <a:extLst>
              <a:ext uri="{FF2B5EF4-FFF2-40B4-BE49-F238E27FC236}">
                <a16:creationId xmlns:a16="http://schemas.microsoft.com/office/drawing/2014/main" id="{96578BF9-094F-44F0-96AD-2892881D8D1F}"/>
              </a:ext>
            </a:extLst>
          </p:cNvPr>
          <p:cNvSpPr>
            <a:spLocks noChangeShapeType="1"/>
          </p:cNvSpPr>
          <p:nvPr/>
        </p:nvSpPr>
        <p:spPr bwMode="auto">
          <a:xfrm>
            <a:off x="5621424" y="5373275"/>
            <a:ext cx="167826" cy="0"/>
          </a:xfrm>
          <a:prstGeom prst="line">
            <a:avLst/>
          </a:prstGeom>
          <a:noFill/>
          <a:ln w="20638" cap="flat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sz="1600" dirty="0">
              <a:ea typeface="SimHei" panose="02010609060101010101" pitchFamily="49" charset="-122"/>
            </a:endParaRPr>
          </a:p>
        </p:txBody>
      </p:sp>
      <p:sp>
        <p:nvSpPr>
          <p:cNvPr id="318" name="Line 132">
            <a:extLst>
              <a:ext uri="{FF2B5EF4-FFF2-40B4-BE49-F238E27FC236}">
                <a16:creationId xmlns:a16="http://schemas.microsoft.com/office/drawing/2014/main" id="{7384A69C-5A84-4C1C-88DA-FF03BAAED248}"/>
              </a:ext>
            </a:extLst>
          </p:cNvPr>
          <p:cNvSpPr>
            <a:spLocks noChangeShapeType="1"/>
          </p:cNvSpPr>
          <p:nvPr/>
        </p:nvSpPr>
        <p:spPr bwMode="auto">
          <a:xfrm>
            <a:off x="5711792" y="5373275"/>
            <a:ext cx="0" cy="203048"/>
          </a:xfrm>
          <a:prstGeom prst="line">
            <a:avLst/>
          </a:prstGeom>
          <a:noFill/>
          <a:ln w="23813" cap="flat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sz="1600" dirty="0">
              <a:ea typeface="SimHei" panose="02010609060101010101" pitchFamily="49" charset="-122"/>
            </a:endParaRPr>
          </a:p>
        </p:txBody>
      </p:sp>
      <p:sp>
        <p:nvSpPr>
          <p:cNvPr id="319" name="Line 133">
            <a:extLst>
              <a:ext uri="{FF2B5EF4-FFF2-40B4-BE49-F238E27FC236}">
                <a16:creationId xmlns:a16="http://schemas.microsoft.com/office/drawing/2014/main" id="{61D884EE-2D14-4028-B6AD-3B79B5523BE3}"/>
              </a:ext>
            </a:extLst>
          </p:cNvPr>
          <p:cNvSpPr>
            <a:spLocks noChangeShapeType="1"/>
          </p:cNvSpPr>
          <p:nvPr/>
        </p:nvSpPr>
        <p:spPr bwMode="auto">
          <a:xfrm>
            <a:off x="5711792" y="5576323"/>
            <a:ext cx="361471" cy="0"/>
          </a:xfrm>
          <a:prstGeom prst="line">
            <a:avLst/>
          </a:prstGeom>
          <a:noFill/>
          <a:ln w="23813" cap="flat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sz="1600" dirty="0">
              <a:ea typeface="SimHei" panose="02010609060101010101" pitchFamily="49" charset="-122"/>
            </a:endParaRPr>
          </a:p>
        </p:txBody>
      </p:sp>
      <p:sp>
        <p:nvSpPr>
          <p:cNvPr id="320" name="Line 134">
            <a:extLst>
              <a:ext uri="{FF2B5EF4-FFF2-40B4-BE49-F238E27FC236}">
                <a16:creationId xmlns:a16="http://schemas.microsoft.com/office/drawing/2014/main" id="{60C084BC-AB17-4371-91DA-D22D7B2C1556}"/>
              </a:ext>
            </a:extLst>
          </p:cNvPr>
          <p:cNvSpPr>
            <a:spLocks noChangeShapeType="1"/>
          </p:cNvSpPr>
          <p:nvPr/>
        </p:nvSpPr>
        <p:spPr bwMode="auto">
          <a:xfrm>
            <a:off x="6073263" y="5271114"/>
            <a:ext cx="0" cy="305211"/>
          </a:xfrm>
          <a:prstGeom prst="line">
            <a:avLst/>
          </a:prstGeom>
          <a:noFill/>
          <a:ln w="23813" cap="flat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sz="1600" dirty="0">
              <a:ea typeface="SimHei" panose="02010609060101010101" pitchFamily="49" charset="-122"/>
            </a:endParaRPr>
          </a:p>
        </p:txBody>
      </p:sp>
      <p:sp>
        <p:nvSpPr>
          <p:cNvPr id="321" name="Line 135">
            <a:extLst>
              <a:ext uri="{FF2B5EF4-FFF2-40B4-BE49-F238E27FC236}">
                <a16:creationId xmlns:a16="http://schemas.microsoft.com/office/drawing/2014/main" id="{9D4AB295-7F86-4919-ACA0-0F7BC3C708D2}"/>
              </a:ext>
            </a:extLst>
          </p:cNvPr>
          <p:cNvSpPr>
            <a:spLocks noChangeShapeType="1"/>
          </p:cNvSpPr>
          <p:nvPr/>
        </p:nvSpPr>
        <p:spPr bwMode="auto">
          <a:xfrm>
            <a:off x="6157175" y="5271114"/>
            <a:ext cx="0" cy="255406"/>
          </a:xfrm>
          <a:prstGeom prst="line">
            <a:avLst/>
          </a:prstGeom>
          <a:noFill/>
          <a:ln w="23813" cap="flat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sz="1600" dirty="0">
              <a:ea typeface="SimHei" panose="02010609060101010101" pitchFamily="49" charset="-122"/>
            </a:endParaRPr>
          </a:p>
        </p:txBody>
      </p:sp>
      <p:sp>
        <p:nvSpPr>
          <p:cNvPr id="322" name="Line 136">
            <a:extLst>
              <a:ext uri="{FF2B5EF4-FFF2-40B4-BE49-F238E27FC236}">
                <a16:creationId xmlns:a16="http://schemas.microsoft.com/office/drawing/2014/main" id="{56D6CECD-AD03-4B24-8EF5-C7FC64F95CD8}"/>
              </a:ext>
            </a:extLst>
          </p:cNvPr>
          <p:cNvSpPr>
            <a:spLocks noChangeShapeType="1"/>
          </p:cNvSpPr>
          <p:nvPr/>
        </p:nvSpPr>
        <p:spPr bwMode="auto">
          <a:xfrm>
            <a:off x="6157175" y="5526519"/>
            <a:ext cx="463457" cy="0"/>
          </a:xfrm>
          <a:prstGeom prst="line">
            <a:avLst/>
          </a:prstGeom>
          <a:noFill/>
          <a:ln w="23813" cap="flat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sz="1600" dirty="0">
              <a:ea typeface="SimHei" panose="02010609060101010101" pitchFamily="49" charset="-122"/>
            </a:endParaRPr>
          </a:p>
        </p:txBody>
      </p:sp>
      <p:sp>
        <p:nvSpPr>
          <p:cNvPr id="323" name="Line 137">
            <a:extLst>
              <a:ext uri="{FF2B5EF4-FFF2-40B4-BE49-F238E27FC236}">
                <a16:creationId xmlns:a16="http://schemas.microsoft.com/office/drawing/2014/main" id="{BFD23279-D042-4A93-8167-598F4219BFF2}"/>
              </a:ext>
            </a:extLst>
          </p:cNvPr>
          <p:cNvSpPr>
            <a:spLocks noChangeShapeType="1"/>
          </p:cNvSpPr>
          <p:nvPr/>
        </p:nvSpPr>
        <p:spPr bwMode="auto">
          <a:xfrm>
            <a:off x="6620633" y="5271114"/>
            <a:ext cx="0" cy="255406"/>
          </a:xfrm>
          <a:prstGeom prst="line">
            <a:avLst/>
          </a:prstGeom>
          <a:noFill/>
          <a:ln w="23813" cap="flat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sz="1600" dirty="0">
              <a:ea typeface="SimHei" panose="02010609060101010101" pitchFamily="49" charset="-122"/>
            </a:endParaRPr>
          </a:p>
        </p:txBody>
      </p:sp>
      <p:sp>
        <p:nvSpPr>
          <p:cNvPr id="324" name="Freeform 138">
            <a:extLst>
              <a:ext uri="{FF2B5EF4-FFF2-40B4-BE49-F238E27FC236}">
                <a16:creationId xmlns:a16="http://schemas.microsoft.com/office/drawing/2014/main" id="{AE8A9322-4062-48E8-8CFD-91D8E1C2ACB9}"/>
              </a:ext>
            </a:extLst>
          </p:cNvPr>
          <p:cNvSpPr>
            <a:spLocks/>
          </p:cNvSpPr>
          <p:nvPr/>
        </p:nvSpPr>
        <p:spPr bwMode="auto">
          <a:xfrm>
            <a:off x="6260453" y="5576323"/>
            <a:ext cx="231083" cy="509536"/>
          </a:xfrm>
          <a:custGeom>
            <a:avLst/>
            <a:gdLst>
              <a:gd name="T0" fmla="*/ 0 w 179"/>
              <a:gd name="T1" fmla="*/ 266 h 399"/>
              <a:gd name="T2" fmla="*/ 60 w 179"/>
              <a:gd name="T3" fmla="*/ 200 h 399"/>
              <a:gd name="T4" fmla="*/ 0 w 179"/>
              <a:gd name="T5" fmla="*/ 133 h 399"/>
              <a:gd name="T6" fmla="*/ 0 w 179"/>
              <a:gd name="T7" fmla="*/ 0 h 399"/>
              <a:gd name="T8" fmla="*/ 179 w 179"/>
              <a:gd name="T9" fmla="*/ 133 h 399"/>
              <a:gd name="T10" fmla="*/ 179 w 179"/>
              <a:gd name="T11" fmla="*/ 266 h 399"/>
              <a:gd name="T12" fmla="*/ 0 w 179"/>
              <a:gd name="T13" fmla="*/ 399 h 399"/>
              <a:gd name="T14" fmla="*/ 0 w 179"/>
              <a:gd name="T15" fmla="*/ 266 h 39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179" h="399">
                <a:moveTo>
                  <a:pt x="0" y="266"/>
                </a:moveTo>
                <a:lnTo>
                  <a:pt x="60" y="200"/>
                </a:lnTo>
                <a:lnTo>
                  <a:pt x="0" y="133"/>
                </a:lnTo>
                <a:lnTo>
                  <a:pt x="0" y="0"/>
                </a:lnTo>
                <a:lnTo>
                  <a:pt x="179" y="133"/>
                </a:lnTo>
                <a:lnTo>
                  <a:pt x="179" y="266"/>
                </a:lnTo>
                <a:lnTo>
                  <a:pt x="0" y="399"/>
                </a:lnTo>
                <a:lnTo>
                  <a:pt x="0" y="266"/>
                </a:lnTo>
              </a:path>
            </a:pathLst>
          </a:custGeom>
          <a:noFill/>
          <a:ln w="20638" cap="rnd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sz="1600" dirty="0">
              <a:ea typeface="SimHei" panose="02010609060101010101" pitchFamily="49" charset="-122"/>
            </a:endParaRPr>
          </a:p>
        </p:txBody>
      </p:sp>
      <p:sp>
        <p:nvSpPr>
          <p:cNvPr id="325" name="Rectangle 139">
            <a:extLst>
              <a:ext uri="{FF2B5EF4-FFF2-40B4-BE49-F238E27FC236}">
                <a16:creationId xmlns:a16="http://schemas.microsoft.com/office/drawing/2014/main" id="{693CA8A3-E2A5-40BC-8145-89EA21DCE54C}"/>
              </a:ext>
            </a:extLst>
          </p:cNvPr>
          <p:cNvSpPr>
            <a:spLocks noChangeArrowheads="1"/>
          </p:cNvSpPr>
          <p:nvPr/>
        </p:nvSpPr>
        <p:spPr bwMode="auto">
          <a:xfrm rot="5400000">
            <a:off x="6149722" y="5743261"/>
            <a:ext cx="492934" cy="1692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zh-CN" altLang="zh-CN" sz="1100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rPr>
              <a:t>ALU</a:t>
            </a:r>
            <a:endParaRPr kumimoji="0" lang="zh-CN" altLang="zh-CN" sz="110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  <a:ea typeface="SimHei" panose="02010609060101010101" pitchFamily="49" charset="-122"/>
            </a:endParaRPr>
          </a:p>
        </p:txBody>
      </p:sp>
      <p:sp>
        <p:nvSpPr>
          <p:cNvPr id="326" name="Rectangle 140">
            <a:extLst>
              <a:ext uri="{FF2B5EF4-FFF2-40B4-BE49-F238E27FC236}">
                <a16:creationId xmlns:a16="http://schemas.microsoft.com/office/drawing/2014/main" id="{1952958F-57D2-418E-86F2-64B56CDA2F83}"/>
              </a:ext>
            </a:extLst>
          </p:cNvPr>
          <p:cNvSpPr>
            <a:spLocks noChangeArrowheads="1"/>
          </p:cNvSpPr>
          <p:nvPr/>
        </p:nvSpPr>
        <p:spPr bwMode="auto">
          <a:xfrm>
            <a:off x="5323210" y="5720628"/>
            <a:ext cx="171522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zh-CN" altLang="zh-CN" sz="1200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rPr>
              <a:t>IM</a:t>
            </a:r>
            <a:endParaRPr kumimoji="0" lang="zh-CN" altLang="zh-CN" sz="160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  <a:ea typeface="SimHei" panose="02010609060101010101" pitchFamily="49" charset="-122"/>
            </a:endParaRPr>
          </a:p>
        </p:txBody>
      </p:sp>
      <p:sp>
        <p:nvSpPr>
          <p:cNvPr id="327" name="Freeform 141">
            <a:extLst>
              <a:ext uri="{FF2B5EF4-FFF2-40B4-BE49-F238E27FC236}">
                <a16:creationId xmlns:a16="http://schemas.microsoft.com/office/drawing/2014/main" id="{6169853E-0173-4FB4-A7FC-3080C16CED54}"/>
              </a:ext>
            </a:extLst>
          </p:cNvPr>
          <p:cNvSpPr>
            <a:spLocks/>
          </p:cNvSpPr>
          <p:nvPr/>
        </p:nvSpPr>
        <p:spPr bwMode="auto">
          <a:xfrm>
            <a:off x="5304507" y="5678487"/>
            <a:ext cx="180735" cy="305211"/>
          </a:xfrm>
          <a:custGeom>
            <a:avLst/>
            <a:gdLst>
              <a:gd name="T0" fmla="*/ 140 w 140"/>
              <a:gd name="T1" fmla="*/ 0 h 239"/>
              <a:gd name="T2" fmla="*/ 0 w 140"/>
              <a:gd name="T3" fmla="*/ 0 h 239"/>
              <a:gd name="T4" fmla="*/ 0 w 140"/>
              <a:gd name="T5" fmla="*/ 239 h 239"/>
              <a:gd name="T6" fmla="*/ 140 w 140"/>
              <a:gd name="T7" fmla="*/ 239 h 2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140" h="239">
                <a:moveTo>
                  <a:pt x="140" y="0"/>
                </a:moveTo>
                <a:lnTo>
                  <a:pt x="0" y="0"/>
                </a:lnTo>
                <a:lnTo>
                  <a:pt x="0" y="239"/>
                </a:lnTo>
                <a:lnTo>
                  <a:pt x="140" y="239"/>
                </a:lnTo>
              </a:path>
            </a:pathLst>
          </a:custGeom>
          <a:noFill/>
          <a:ln w="20638" cap="rnd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sz="1600" dirty="0">
              <a:ea typeface="SimHei" panose="02010609060101010101" pitchFamily="49" charset="-122"/>
            </a:endParaRPr>
          </a:p>
        </p:txBody>
      </p:sp>
      <p:sp>
        <p:nvSpPr>
          <p:cNvPr id="328" name="Freeform 142">
            <a:extLst>
              <a:ext uri="{FF2B5EF4-FFF2-40B4-BE49-F238E27FC236}">
                <a16:creationId xmlns:a16="http://schemas.microsoft.com/office/drawing/2014/main" id="{0D16E52F-F0C4-4307-B6AC-90A9484599AF}"/>
              </a:ext>
            </a:extLst>
          </p:cNvPr>
          <p:cNvSpPr>
            <a:spLocks/>
          </p:cNvSpPr>
          <p:nvPr/>
        </p:nvSpPr>
        <p:spPr bwMode="auto">
          <a:xfrm>
            <a:off x="5447143" y="5678487"/>
            <a:ext cx="185899" cy="305211"/>
          </a:xfrm>
          <a:custGeom>
            <a:avLst/>
            <a:gdLst>
              <a:gd name="T0" fmla="*/ 0 w 144"/>
              <a:gd name="T1" fmla="*/ 0 h 239"/>
              <a:gd name="T2" fmla="*/ 144 w 144"/>
              <a:gd name="T3" fmla="*/ 0 h 239"/>
              <a:gd name="T4" fmla="*/ 144 w 144"/>
              <a:gd name="T5" fmla="*/ 239 h 239"/>
              <a:gd name="T6" fmla="*/ 0 w 144"/>
              <a:gd name="T7" fmla="*/ 239 h 2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144" h="239">
                <a:moveTo>
                  <a:pt x="0" y="0"/>
                </a:moveTo>
                <a:lnTo>
                  <a:pt x="144" y="0"/>
                </a:lnTo>
                <a:lnTo>
                  <a:pt x="144" y="239"/>
                </a:lnTo>
                <a:lnTo>
                  <a:pt x="0" y="239"/>
                </a:lnTo>
              </a:path>
            </a:pathLst>
          </a:custGeom>
          <a:noFill/>
          <a:ln w="20638" cap="rnd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sz="1600" dirty="0">
              <a:ea typeface="SimHei" panose="02010609060101010101" pitchFamily="49" charset="-122"/>
            </a:endParaRPr>
          </a:p>
        </p:txBody>
      </p:sp>
      <p:sp>
        <p:nvSpPr>
          <p:cNvPr id="329" name="Rectangle 143">
            <a:extLst>
              <a:ext uri="{FF2B5EF4-FFF2-40B4-BE49-F238E27FC236}">
                <a16:creationId xmlns:a16="http://schemas.microsoft.com/office/drawing/2014/main" id="{8EA0BFB7-67F5-4B6F-9FB9-6E79048D05B2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91343" y="5735262"/>
            <a:ext cx="290144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zh-CN" altLang="zh-CN" sz="1200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rPr>
              <a:t>Reg</a:t>
            </a:r>
            <a:endParaRPr kumimoji="0" lang="zh-CN" altLang="zh-CN" sz="160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  <a:ea typeface="SimHei" panose="02010609060101010101" pitchFamily="49" charset="-122"/>
            </a:endParaRPr>
          </a:p>
        </p:txBody>
      </p:sp>
      <p:sp>
        <p:nvSpPr>
          <p:cNvPr id="330" name="Freeform 144">
            <a:extLst>
              <a:ext uri="{FF2B5EF4-FFF2-40B4-BE49-F238E27FC236}">
                <a16:creationId xmlns:a16="http://schemas.microsoft.com/office/drawing/2014/main" id="{B46E6943-C6F6-4899-9DC4-F9BBE245822C}"/>
              </a:ext>
            </a:extLst>
          </p:cNvPr>
          <p:cNvSpPr>
            <a:spLocks/>
          </p:cNvSpPr>
          <p:nvPr/>
        </p:nvSpPr>
        <p:spPr bwMode="auto">
          <a:xfrm>
            <a:off x="5763430" y="5678487"/>
            <a:ext cx="153625" cy="305211"/>
          </a:xfrm>
          <a:custGeom>
            <a:avLst/>
            <a:gdLst>
              <a:gd name="T0" fmla="*/ 119 w 119"/>
              <a:gd name="T1" fmla="*/ 0 h 239"/>
              <a:gd name="T2" fmla="*/ 0 w 119"/>
              <a:gd name="T3" fmla="*/ 0 h 239"/>
              <a:gd name="T4" fmla="*/ 0 w 119"/>
              <a:gd name="T5" fmla="*/ 239 h 239"/>
              <a:gd name="T6" fmla="*/ 119 w 119"/>
              <a:gd name="T7" fmla="*/ 239 h 2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119" h="239">
                <a:moveTo>
                  <a:pt x="119" y="0"/>
                </a:moveTo>
                <a:lnTo>
                  <a:pt x="0" y="0"/>
                </a:lnTo>
                <a:lnTo>
                  <a:pt x="0" y="239"/>
                </a:lnTo>
                <a:lnTo>
                  <a:pt x="119" y="239"/>
                </a:lnTo>
              </a:path>
            </a:pathLst>
          </a:custGeom>
          <a:noFill/>
          <a:ln w="20638" cap="rnd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sz="1600" dirty="0">
              <a:ea typeface="SimHei" panose="02010609060101010101" pitchFamily="49" charset="-122"/>
            </a:endParaRPr>
          </a:p>
        </p:txBody>
      </p:sp>
      <p:sp>
        <p:nvSpPr>
          <p:cNvPr id="331" name="Freeform 145">
            <a:extLst>
              <a:ext uri="{FF2B5EF4-FFF2-40B4-BE49-F238E27FC236}">
                <a16:creationId xmlns:a16="http://schemas.microsoft.com/office/drawing/2014/main" id="{11AE7E2D-0681-4B69-9135-7DADF38F4E47}"/>
              </a:ext>
            </a:extLst>
          </p:cNvPr>
          <p:cNvSpPr>
            <a:spLocks/>
          </p:cNvSpPr>
          <p:nvPr/>
        </p:nvSpPr>
        <p:spPr bwMode="auto">
          <a:xfrm>
            <a:off x="5918347" y="5678487"/>
            <a:ext cx="160080" cy="305211"/>
          </a:xfrm>
          <a:custGeom>
            <a:avLst/>
            <a:gdLst>
              <a:gd name="T0" fmla="*/ 0 w 124"/>
              <a:gd name="T1" fmla="*/ 0 h 239"/>
              <a:gd name="T2" fmla="*/ 124 w 124"/>
              <a:gd name="T3" fmla="*/ 0 h 239"/>
              <a:gd name="T4" fmla="*/ 124 w 124"/>
              <a:gd name="T5" fmla="*/ 239 h 239"/>
              <a:gd name="T6" fmla="*/ 0 w 124"/>
              <a:gd name="T7" fmla="*/ 239 h 2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124" h="239">
                <a:moveTo>
                  <a:pt x="0" y="0"/>
                </a:moveTo>
                <a:lnTo>
                  <a:pt x="124" y="0"/>
                </a:lnTo>
                <a:lnTo>
                  <a:pt x="124" y="239"/>
                </a:lnTo>
                <a:lnTo>
                  <a:pt x="0" y="239"/>
                </a:lnTo>
              </a:path>
            </a:pathLst>
          </a:custGeom>
          <a:noFill/>
          <a:ln w="20638" cap="rnd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sz="1600" dirty="0">
              <a:ea typeface="SimHei" panose="02010609060101010101" pitchFamily="49" charset="-122"/>
            </a:endParaRPr>
          </a:p>
        </p:txBody>
      </p:sp>
      <p:sp>
        <p:nvSpPr>
          <p:cNvPr id="332" name="Line 146">
            <a:extLst>
              <a:ext uri="{FF2B5EF4-FFF2-40B4-BE49-F238E27FC236}">
                <a16:creationId xmlns:a16="http://schemas.microsoft.com/office/drawing/2014/main" id="{4F8CC119-1721-45E2-81F0-A3AEA6FEF4A9}"/>
              </a:ext>
            </a:extLst>
          </p:cNvPr>
          <p:cNvSpPr>
            <a:spLocks noChangeShapeType="1"/>
          </p:cNvSpPr>
          <p:nvPr/>
        </p:nvSpPr>
        <p:spPr bwMode="auto">
          <a:xfrm>
            <a:off x="5634334" y="5831730"/>
            <a:ext cx="129097" cy="0"/>
          </a:xfrm>
          <a:prstGeom prst="line">
            <a:avLst/>
          </a:prstGeom>
          <a:noFill/>
          <a:ln w="20638" cap="flat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sz="1600" dirty="0">
              <a:ea typeface="SimHei" panose="02010609060101010101" pitchFamily="49" charset="-122"/>
            </a:endParaRPr>
          </a:p>
        </p:txBody>
      </p:sp>
      <p:sp>
        <p:nvSpPr>
          <p:cNvPr id="333" name="Freeform 147">
            <a:extLst>
              <a:ext uri="{FF2B5EF4-FFF2-40B4-BE49-F238E27FC236}">
                <a16:creationId xmlns:a16="http://schemas.microsoft.com/office/drawing/2014/main" id="{2C3A4E45-CB3D-49B4-9F26-69E0FE609749}"/>
              </a:ext>
            </a:extLst>
          </p:cNvPr>
          <p:cNvSpPr>
            <a:spLocks/>
          </p:cNvSpPr>
          <p:nvPr/>
        </p:nvSpPr>
        <p:spPr bwMode="auto">
          <a:xfrm>
            <a:off x="5711792" y="5729567"/>
            <a:ext cx="50347" cy="102163"/>
          </a:xfrm>
          <a:custGeom>
            <a:avLst/>
            <a:gdLst>
              <a:gd name="T0" fmla="*/ 0 w 39"/>
              <a:gd name="T1" fmla="*/ 80 h 80"/>
              <a:gd name="T2" fmla="*/ 0 w 39"/>
              <a:gd name="T3" fmla="*/ 0 h 80"/>
              <a:gd name="T4" fmla="*/ 39 w 39"/>
              <a:gd name="T5" fmla="*/ 0 h 8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39" h="80">
                <a:moveTo>
                  <a:pt x="0" y="80"/>
                </a:moveTo>
                <a:lnTo>
                  <a:pt x="0" y="0"/>
                </a:lnTo>
                <a:lnTo>
                  <a:pt x="39" y="0"/>
                </a:lnTo>
              </a:path>
            </a:pathLst>
          </a:custGeom>
          <a:noFill/>
          <a:ln w="20638" cap="rnd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sz="1600" dirty="0">
              <a:ea typeface="SimHei" panose="02010609060101010101" pitchFamily="49" charset="-122"/>
            </a:endParaRPr>
          </a:p>
        </p:txBody>
      </p:sp>
      <p:sp>
        <p:nvSpPr>
          <p:cNvPr id="334" name="Line 148">
            <a:extLst>
              <a:ext uri="{FF2B5EF4-FFF2-40B4-BE49-F238E27FC236}">
                <a16:creationId xmlns:a16="http://schemas.microsoft.com/office/drawing/2014/main" id="{26D28949-7BC4-44CE-8971-BE615CCFB249}"/>
              </a:ext>
            </a:extLst>
          </p:cNvPr>
          <p:cNvSpPr>
            <a:spLocks noChangeShapeType="1"/>
          </p:cNvSpPr>
          <p:nvPr/>
        </p:nvSpPr>
        <p:spPr bwMode="auto">
          <a:xfrm>
            <a:off x="6086172" y="5729567"/>
            <a:ext cx="167826" cy="0"/>
          </a:xfrm>
          <a:prstGeom prst="line">
            <a:avLst/>
          </a:prstGeom>
          <a:noFill/>
          <a:ln w="20638" cap="flat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sz="1600" dirty="0">
              <a:ea typeface="SimHei" panose="02010609060101010101" pitchFamily="49" charset="-122"/>
            </a:endParaRPr>
          </a:p>
        </p:txBody>
      </p:sp>
      <p:sp>
        <p:nvSpPr>
          <p:cNvPr id="335" name="Rectangle 149">
            <a:extLst>
              <a:ext uri="{FF2B5EF4-FFF2-40B4-BE49-F238E27FC236}">
                <a16:creationId xmlns:a16="http://schemas.microsoft.com/office/drawing/2014/main" id="{B216BC44-42C6-4766-8F8A-AF6D21165EE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27643" y="5730153"/>
            <a:ext cx="238848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zh-CN" altLang="zh-CN" sz="1200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rPr>
              <a:t>DM</a:t>
            </a:r>
            <a:endParaRPr kumimoji="0" lang="zh-CN" altLang="zh-CN" sz="160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  <a:ea typeface="SimHei" panose="02010609060101010101" pitchFamily="49" charset="-122"/>
            </a:endParaRPr>
          </a:p>
        </p:txBody>
      </p:sp>
      <p:sp>
        <p:nvSpPr>
          <p:cNvPr id="336" name="Freeform 150">
            <a:extLst>
              <a:ext uri="{FF2B5EF4-FFF2-40B4-BE49-F238E27FC236}">
                <a16:creationId xmlns:a16="http://schemas.microsoft.com/office/drawing/2014/main" id="{599ACD59-068D-43AC-BD2D-C2B44962F097}"/>
              </a:ext>
            </a:extLst>
          </p:cNvPr>
          <p:cNvSpPr>
            <a:spLocks/>
          </p:cNvSpPr>
          <p:nvPr/>
        </p:nvSpPr>
        <p:spPr bwMode="auto">
          <a:xfrm>
            <a:off x="6672272" y="5678487"/>
            <a:ext cx="174280" cy="305211"/>
          </a:xfrm>
          <a:custGeom>
            <a:avLst/>
            <a:gdLst>
              <a:gd name="T0" fmla="*/ 135 w 135"/>
              <a:gd name="T1" fmla="*/ 0 h 239"/>
              <a:gd name="T2" fmla="*/ 0 w 135"/>
              <a:gd name="T3" fmla="*/ 0 h 239"/>
              <a:gd name="T4" fmla="*/ 0 w 135"/>
              <a:gd name="T5" fmla="*/ 239 h 239"/>
              <a:gd name="T6" fmla="*/ 135 w 135"/>
              <a:gd name="T7" fmla="*/ 239 h 2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135" h="239">
                <a:moveTo>
                  <a:pt x="135" y="0"/>
                </a:moveTo>
                <a:lnTo>
                  <a:pt x="0" y="0"/>
                </a:lnTo>
                <a:lnTo>
                  <a:pt x="0" y="239"/>
                </a:lnTo>
                <a:lnTo>
                  <a:pt x="135" y="239"/>
                </a:lnTo>
              </a:path>
            </a:pathLst>
          </a:custGeom>
          <a:noFill/>
          <a:ln w="20638" cap="rnd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sz="1600" dirty="0">
              <a:ea typeface="SimHei" panose="02010609060101010101" pitchFamily="49" charset="-122"/>
            </a:endParaRPr>
          </a:p>
        </p:txBody>
      </p:sp>
      <p:sp>
        <p:nvSpPr>
          <p:cNvPr id="337" name="Freeform 151">
            <a:extLst>
              <a:ext uri="{FF2B5EF4-FFF2-40B4-BE49-F238E27FC236}">
                <a16:creationId xmlns:a16="http://schemas.microsoft.com/office/drawing/2014/main" id="{6C1836D0-E7BB-4573-AEB0-C443A436C0FD}"/>
              </a:ext>
            </a:extLst>
          </p:cNvPr>
          <p:cNvSpPr>
            <a:spLocks/>
          </p:cNvSpPr>
          <p:nvPr/>
        </p:nvSpPr>
        <p:spPr bwMode="auto">
          <a:xfrm>
            <a:off x="6846552" y="5678487"/>
            <a:ext cx="174280" cy="305211"/>
          </a:xfrm>
          <a:custGeom>
            <a:avLst/>
            <a:gdLst>
              <a:gd name="T0" fmla="*/ 0 w 135"/>
              <a:gd name="T1" fmla="*/ 0 h 239"/>
              <a:gd name="T2" fmla="*/ 135 w 135"/>
              <a:gd name="T3" fmla="*/ 0 h 239"/>
              <a:gd name="T4" fmla="*/ 135 w 135"/>
              <a:gd name="T5" fmla="*/ 239 h 239"/>
              <a:gd name="T6" fmla="*/ 0 w 135"/>
              <a:gd name="T7" fmla="*/ 239 h 2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135" h="239">
                <a:moveTo>
                  <a:pt x="0" y="0"/>
                </a:moveTo>
                <a:lnTo>
                  <a:pt x="135" y="0"/>
                </a:lnTo>
                <a:lnTo>
                  <a:pt x="135" y="239"/>
                </a:lnTo>
                <a:lnTo>
                  <a:pt x="0" y="239"/>
                </a:lnTo>
              </a:path>
            </a:pathLst>
          </a:custGeom>
          <a:noFill/>
          <a:ln w="20638" cap="rnd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sz="1600" dirty="0">
              <a:ea typeface="SimHei" panose="02010609060101010101" pitchFamily="49" charset="-122"/>
            </a:endParaRPr>
          </a:p>
        </p:txBody>
      </p:sp>
      <p:sp>
        <p:nvSpPr>
          <p:cNvPr id="338" name="Rectangle 152">
            <a:extLst>
              <a:ext uri="{FF2B5EF4-FFF2-40B4-BE49-F238E27FC236}">
                <a16:creationId xmlns:a16="http://schemas.microsoft.com/office/drawing/2014/main" id="{15B63A83-7CAE-4916-92E3-5E81772033F8}"/>
              </a:ext>
            </a:extLst>
          </p:cNvPr>
          <p:cNvSpPr>
            <a:spLocks noChangeArrowheads="1"/>
          </p:cNvSpPr>
          <p:nvPr/>
        </p:nvSpPr>
        <p:spPr bwMode="auto">
          <a:xfrm>
            <a:off x="7199788" y="5730153"/>
            <a:ext cx="290144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zh-CN" altLang="zh-CN" sz="1200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rPr>
              <a:t>Reg</a:t>
            </a:r>
            <a:endParaRPr kumimoji="0" lang="zh-CN" altLang="zh-CN" sz="160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  <a:ea typeface="SimHei" panose="02010609060101010101" pitchFamily="49" charset="-122"/>
            </a:endParaRPr>
          </a:p>
        </p:txBody>
      </p:sp>
      <p:sp>
        <p:nvSpPr>
          <p:cNvPr id="339" name="Freeform 153">
            <a:extLst>
              <a:ext uri="{FF2B5EF4-FFF2-40B4-BE49-F238E27FC236}">
                <a16:creationId xmlns:a16="http://schemas.microsoft.com/office/drawing/2014/main" id="{A407EFAD-3177-443C-9D88-3C89D45411D2}"/>
              </a:ext>
            </a:extLst>
          </p:cNvPr>
          <p:cNvSpPr>
            <a:spLocks/>
          </p:cNvSpPr>
          <p:nvPr/>
        </p:nvSpPr>
        <p:spPr bwMode="auto">
          <a:xfrm>
            <a:off x="7175749" y="5678487"/>
            <a:ext cx="153625" cy="305211"/>
          </a:xfrm>
          <a:custGeom>
            <a:avLst/>
            <a:gdLst>
              <a:gd name="T0" fmla="*/ 119 w 119"/>
              <a:gd name="T1" fmla="*/ 0 h 239"/>
              <a:gd name="T2" fmla="*/ 0 w 119"/>
              <a:gd name="T3" fmla="*/ 0 h 239"/>
              <a:gd name="T4" fmla="*/ 0 w 119"/>
              <a:gd name="T5" fmla="*/ 239 h 239"/>
              <a:gd name="T6" fmla="*/ 119 w 119"/>
              <a:gd name="T7" fmla="*/ 239 h 2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119" h="239">
                <a:moveTo>
                  <a:pt x="119" y="0"/>
                </a:moveTo>
                <a:lnTo>
                  <a:pt x="0" y="0"/>
                </a:lnTo>
                <a:lnTo>
                  <a:pt x="0" y="239"/>
                </a:lnTo>
                <a:lnTo>
                  <a:pt x="119" y="239"/>
                </a:lnTo>
              </a:path>
            </a:pathLst>
          </a:custGeom>
          <a:noFill/>
          <a:ln w="20638" cap="rnd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sz="1600" dirty="0">
              <a:ea typeface="SimHei" panose="02010609060101010101" pitchFamily="49" charset="-122"/>
            </a:endParaRPr>
          </a:p>
        </p:txBody>
      </p:sp>
      <p:sp>
        <p:nvSpPr>
          <p:cNvPr id="340" name="Freeform 154">
            <a:extLst>
              <a:ext uri="{FF2B5EF4-FFF2-40B4-BE49-F238E27FC236}">
                <a16:creationId xmlns:a16="http://schemas.microsoft.com/office/drawing/2014/main" id="{2F213F6A-B070-4956-93C9-BD670F38F8FD}"/>
              </a:ext>
            </a:extLst>
          </p:cNvPr>
          <p:cNvSpPr>
            <a:spLocks/>
          </p:cNvSpPr>
          <p:nvPr/>
        </p:nvSpPr>
        <p:spPr bwMode="auto">
          <a:xfrm>
            <a:off x="7330664" y="5678487"/>
            <a:ext cx="147170" cy="305211"/>
          </a:xfrm>
          <a:custGeom>
            <a:avLst/>
            <a:gdLst>
              <a:gd name="T0" fmla="*/ 0 w 114"/>
              <a:gd name="T1" fmla="*/ 0 h 239"/>
              <a:gd name="T2" fmla="*/ 114 w 114"/>
              <a:gd name="T3" fmla="*/ 0 h 239"/>
              <a:gd name="T4" fmla="*/ 114 w 114"/>
              <a:gd name="T5" fmla="*/ 239 h 239"/>
              <a:gd name="T6" fmla="*/ 0 w 114"/>
              <a:gd name="T7" fmla="*/ 239 h 2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114" h="239">
                <a:moveTo>
                  <a:pt x="0" y="0"/>
                </a:moveTo>
                <a:lnTo>
                  <a:pt x="114" y="0"/>
                </a:lnTo>
                <a:lnTo>
                  <a:pt x="114" y="239"/>
                </a:lnTo>
                <a:lnTo>
                  <a:pt x="0" y="239"/>
                </a:lnTo>
              </a:path>
            </a:pathLst>
          </a:custGeom>
          <a:noFill/>
          <a:ln w="20638" cap="rnd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sz="1600" dirty="0">
              <a:ea typeface="SimHei" panose="02010609060101010101" pitchFamily="49" charset="-122"/>
            </a:endParaRPr>
          </a:p>
        </p:txBody>
      </p:sp>
      <p:sp>
        <p:nvSpPr>
          <p:cNvPr id="341" name="Line 155">
            <a:extLst>
              <a:ext uri="{FF2B5EF4-FFF2-40B4-BE49-F238E27FC236}">
                <a16:creationId xmlns:a16="http://schemas.microsoft.com/office/drawing/2014/main" id="{5DE1A362-AC06-4EBD-9E90-EA7CCECD824D}"/>
              </a:ext>
            </a:extLst>
          </p:cNvPr>
          <p:cNvSpPr>
            <a:spLocks noChangeShapeType="1"/>
          </p:cNvSpPr>
          <p:nvPr/>
        </p:nvSpPr>
        <p:spPr bwMode="auto">
          <a:xfrm>
            <a:off x="7020833" y="5831730"/>
            <a:ext cx="148461" cy="0"/>
          </a:xfrm>
          <a:prstGeom prst="line">
            <a:avLst/>
          </a:prstGeom>
          <a:noFill/>
          <a:ln w="20638" cap="flat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sz="1600" dirty="0">
              <a:ea typeface="SimHei" panose="02010609060101010101" pitchFamily="49" charset="-122"/>
            </a:endParaRPr>
          </a:p>
        </p:txBody>
      </p:sp>
      <p:sp>
        <p:nvSpPr>
          <p:cNvPr id="342" name="Line 156">
            <a:extLst>
              <a:ext uri="{FF2B5EF4-FFF2-40B4-BE49-F238E27FC236}">
                <a16:creationId xmlns:a16="http://schemas.microsoft.com/office/drawing/2014/main" id="{A68FBF5C-FA3C-44D4-B989-F92DE334B488}"/>
              </a:ext>
            </a:extLst>
          </p:cNvPr>
          <p:cNvSpPr>
            <a:spLocks noChangeShapeType="1"/>
          </p:cNvSpPr>
          <p:nvPr/>
        </p:nvSpPr>
        <p:spPr bwMode="auto">
          <a:xfrm>
            <a:off x="6499282" y="5831730"/>
            <a:ext cx="166534" cy="0"/>
          </a:xfrm>
          <a:prstGeom prst="line">
            <a:avLst/>
          </a:prstGeom>
          <a:noFill/>
          <a:ln w="20638" cap="flat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sz="1600" dirty="0">
              <a:ea typeface="SimHei" panose="02010609060101010101" pitchFamily="49" charset="-122"/>
            </a:endParaRPr>
          </a:p>
        </p:txBody>
      </p:sp>
      <p:sp>
        <p:nvSpPr>
          <p:cNvPr id="343" name="Line 157">
            <a:extLst>
              <a:ext uri="{FF2B5EF4-FFF2-40B4-BE49-F238E27FC236}">
                <a16:creationId xmlns:a16="http://schemas.microsoft.com/office/drawing/2014/main" id="{2374F737-047F-4829-843C-42C08AEA85D6}"/>
              </a:ext>
            </a:extLst>
          </p:cNvPr>
          <p:cNvSpPr>
            <a:spLocks noChangeShapeType="1"/>
          </p:cNvSpPr>
          <p:nvPr/>
        </p:nvSpPr>
        <p:spPr bwMode="auto">
          <a:xfrm>
            <a:off x="6086172" y="5933893"/>
            <a:ext cx="167826" cy="0"/>
          </a:xfrm>
          <a:prstGeom prst="line">
            <a:avLst/>
          </a:prstGeom>
          <a:noFill/>
          <a:ln w="20638" cap="flat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sz="1600" dirty="0">
              <a:ea typeface="SimHei" panose="02010609060101010101" pitchFamily="49" charset="-122"/>
            </a:endParaRPr>
          </a:p>
        </p:txBody>
      </p:sp>
      <p:sp>
        <p:nvSpPr>
          <p:cNvPr id="344" name="Line 158">
            <a:extLst>
              <a:ext uri="{FF2B5EF4-FFF2-40B4-BE49-F238E27FC236}">
                <a16:creationId xmlns:a16="http://schemas.microsoft.com/office/drawing/2014/main" id="{5DB0535F-A0D4-4F0D-9B94-B9259E9566F1}"/>
              </a:ext>
            </a:extLst>
          </p:cNvPr>
          <p:cNvSpPr>
            <a:spLocks noChangeShapeType="1"/>
          </p:cNvSpPr>
          <p:nvPr/>
        </p:nvSpPr>
        <p:spPr bwMode="auto">
          <a:xfrm>
            <a:off x="6176540" y="5933893"/>
            <a:ext cx="0" cy="204325"/>
          </a:xfrm>
          <a:prstGeom prst="line">
            <a:avLst/>
          </a:prstGeom>
          <a:noFill/>
          <a:ln w="23813" cap="flat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sz="1600" dirty="0">
              <a:ea typeface="SimHei" panose="02010609060101010101" pitchFamily="49" charset="-122"/>
            </a:endParaRPr>
          </a:p>
        </p:txBody>
      </p:sp>
      <p:sp>
        <p:nvSpPr>
          <p:cNvPr id="345" name="Line 159">
            <a:extLst>
              <a:ext uri="{FF2B5EF4-FFF2-40B4-BE49-F238E27FC236}">
                <a16:creationId xmlns:a16="http://schemas.microsoft.com/office/drawing/2014/main" id="{F18B55C5-A3C2-46CF-9148-C2B9CCBAAEB2}"/>
              </a:ext>
            </a:extLst>
          </p:cNvPr>
          <p:cNvSpPr>
            <a:spLocks noChangeShapeType="1"/>
          </p:cNvSpPr>
          <p:nvPr/>
        </p:nvSpPr>
        <p:spPr bwMode="auto">
          <a:xfrm>
            <a:off x="6176540" y="6138218"/>
            <a:ext cx="361471" cy="0"/>
          </a:xfrm>
          <a:prstGeom prst="line">
            <a:avLst/>
          </a:prstGeom>
          <a:noFill/>
          <a:ln w="23813" cap="flat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sz="1600" dirty="0">
              <a:ea typeface="SimHei" panose="02010609060101010101" pitchFamily="49" charset="-122"/>
            </a:endParaRPr>
          </a:p>
        </p:txBody>
      </p:sp>
      <p:sp>
        <p:nvSpPr>
          <p:cNvPr id="346" name="Line 160">
            <a:extLst>
              <a:ext uri="{FF2B5EF4-FFF2-40B4-BE49-F238E27FC236}">
                <a16:creationId xmlns:a16="http://schemas.microsoft.com/office/drawing/2014/main" id="{43FF6B4C-18B3-421D-B62B-9E9D6FB8D5E0}"/>
              </a:ext>
            </a:extLst>
          </p:cNvPr>
          <p:cNvSpPr>
            <a:spLocks noChangeShapeType="1"/>
          </p:cNvSpPr>
          <p:nvPr/>
        </p:nvSpPr>
        <p:spPr bwMode="auto">
          <a:xfrm>
            <a:off x="6538011" y="5831731"/>
            <a:ext cx="0" cy="306488"/>
          </a:xfrm>
          <a:prstGeom prst="line">
            <a:avLst/>
          </a:prstGeom>
          <a:noFill/>
          <a:ln w="23813" cap="flat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sz="1600" dirty="0">
              <a:ea typeface="SimHei" panose="02010609060101010101" pitchFamily="49" charset="-122"/>
            </a:endParaRPr>
          </a:p>
        </p:txBody>
      </p:sp>
      <p:sp>
        <p:nvSpPr>
          <p:cNvPr id="347" name="Line 161">
            <a:extLst>
              <a:ext uri="{FF2B5EF4-FFF2-40B4-BE49-F238E27FC236}">
                <a16:creationId xmlns:a16="http://schemas.microsoft.com/office/drawing/2014/main" id="{89555D83-6AD0-42B6-B47B-E58404CCA5B8}"/>
              </a:ext>
            </a:extLst>
          </p:cNvPr>
          <p:cNvSpPr>
            <a:spLocks noChangeShapeType="1"/>
          </p:cNvSpPr>
          <p:nvPr/>
        </p:nvSpPr>
        <p:spPr bwMode="auto">
          <a:xfrm>
            <a:off x="6620633" y="5831731"/>
            <a:ext cx="0" cy="255406"/>
          </a:xfrm>
          <a:prstGeom prst="line">
            <a:avLst/>
          </a:prstGeom>
          <a:noFill/>
          <a:ln w="23813" cap="flat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sz="1600" dirty="0">
              <a:ea typeface="SimHei" panose="02010609060101010101" pitchFamily="49" charset="-122"/>
            </a:endParaRPr>
          </a:p>
        </p:txBody>
      </p:sp>
      <p:sp>
        <p:nvSpPr>
          <p:cNvPr id="348" name="Line 162">
            <a:extLst>
              <a:ext uri="{FF2B5EF4-FFF2-40B4-BE49-F238E27FC236}">
                <a16:creationId xmlns:a16="http://schemas.microsoft.com/office/drawing/2014/main" id="{F7BAF547-276F-49A0-9D0C-8CDEEDBCDD28}"/>
              </a:ext>
            </a:extLst>
          </p:cNvPr>
          <p:cNvSpPr>
            <a:spLocks noChangeShapeType="1"/>
          </p:cNvSpPr>
          <p:nvPr/>
        </p:nvSpPr>
        <p:spPr bwMode="auto">
          <a:xfrm>
            <a:off x="6620633" y="6087138"/>
            <a:ext cx="464748" cy="0"/>
          </a:xfrm>
          <a:prstGeom prst="line">
            <a:avLst/>
          </a:prstGeom>
          <a:noFill/>
          <a:ln w="23813" cap="flat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sz="1600" dirty="0">
              <a:ea typeface="SimHei" panose="02010609060101010101" pitchFamily="49" charset="-122"/>
            </a:endParaRPr>
          </a:p>
        </p:txBody>
      </p:sp>
      <p:sp>
        <p:nvSpPr>
          <p:cNvPr id="349" name="Line 163">
            <a:extLst>
              <a:ext uri="{FF2B5EF4-FFF2-40B4-BE49-F238E27FC236}">
                <a16:creationId xmlns:a16="http://schemas.microsoft.com/office/drawing/2014/main" id="{561978C8-AAF2-4AC7-B2A8-AC98C59FAD11}"/>
              </a:ext>
            </a:extLst>
          </p:cNvPr>
          <p:cNvSpPr>
            <a:spLocks noChangeShapeType="1"/>
          </p:cNvSpPr>
          <p:nvPr/>
        </p:nvSpPr>
        <p:spPr bwMode="auto">
          <a:xfrm>
            <a:off x="7085381" y="5831732"/>
            <a:ext cx="0" cy="255406"/>
          </a:xfrm>
          <a:prstGeom prst="line">
            <a:avLst/>
          </a:prstGeom>
          <a:noFill/>
          <a:ln w="23813" cap="flat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sz="1600" dirty="0">
              <a:ea typeface="SimHei" panose="02010609060101010101" pitchFamily="49" charset="-122"/>
            </a:endParaRPr>
          </a:p>
        </p:txBody>
      </p:sp>
      <p:sp>
        <p:nvSpPr>
          <p:cNvPr id="351" name="Rectangle 165">
            <a:extLst>
              <a:ext uri="{FF2B5EF4-FFF2-40B4-BE49-F238E27FC236}">
                <a16:creationId xmlns:a16="http://schemas.microsoft.com/office/drawing/2014/main" id="{AA6C1199-4932-4314-A24D-2FF1692BBAE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47354" y="3431496"/>
            <a:ext cx="448841" cy="2769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zh-CN" altLang="zh-CN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rPr>
              <a:t>add </a:t>
            </a:r>
            <a:endParaRPr kumimoji="0" lang="zh-CN" altLang="zh-CN" sz="160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  <a:ea typeface="SimHei" panose="02010609060101010101" pitchFamily="49" charset="-122"/>
            </a:endParaRPr>
          </a:p>
        </p:txBody>
      </p:sp>
      <p:sp>
        <p:nvSpPr>
          <p:cNvPr id="352" name="Rectangle 166">
            <a:extLst>
              <a:ext uri="{FF2B5EF4-FFF2-40B4-BE49-F238E27FC236}">
                <a16:creationId xmlns:a16="http://schemas.microsoft.com/office/drawing/2014/main" id="{2BBCB15E-DBBA-45CD-863C-CE63684BEE0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442804" y="3431496"/>
            <a:ext cx="872034" cy="2769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altLang="zh-CN" dirty="0">
                <a:solidFill>
                  <a:srgbClr val="DE2506"/>
                </a:solidFill>
                <a:ea typeface="SimHei" panose="02010609060101010101" pitchFamily="49" charset="-122"/>
              </a:rPr>
              <a:t>r</a:t>
            </a:r>
            <a:r>
              <a:rPr kumimoji="0" lang="zh-CN" altLang="zh-CN" u="none" strike="noStrike" cap="none" normalizeH="0" baseline="0" dirty="0">
                <a:ln>
                  <a:noFill/>
                </a:ln>
                <a:solidFill>
                  <a:srgbClr val="DE2506"/>
                </a:solidFill>
                <a:effectLst/>
                <a:ea typeface="SimHei" panose="02010609060101010101" pitchFamily="49" charset="-122"/>
              </a:rPr>
              <a:t>1</a:t>
            </a:r>
            <a:r>
              <a:rPr lang="en-US" altLang="zh-CN" dirty="0">
                <a:ea typeface="SimHei" panose="02010609060101010101" pitchFamily="49" charset="-122"/>
              </a:rPr>
              <a:t>,</a:t>
            </a:r>
            <a:r>
              <a:rPr lang="zh-CN" altLang="en-US" dirty="0">
                <a:ea typeface="SimHei" panose="02010609060101010101" pitchFamily="49" charset="-122"/>
              </a:rPr>
              <a:t> </a:t>
            </a:r>
            <a:r>
              <a:rPr lang="en-US" altLang="zh-CN" dirty="0">
                <a:ea typeface="SimHei" panose="02010609060101010101" pitchFamily="49" charset="-122"/>
              </a:rPr>
              <a:t>r2,</a:t>
            </a:r>
            <a:r>
              <a:rPr lang="zh-CN" altLang="en-US" dirty="0">
                <a:ea typeface="SimHei" panose="02010609060101010101" pitchFamily="49" charset="-122"/>
              </a:rPr>
              <a:t> </a:t>
            </a:r>
            <a:r>
              <a:rPr lang="en-US" altLang="zh-CN" dirty="0">
                <a:ea typeface="SimHei" panose="02010609060101010101" pitchFamily="49" charset="-122"/>
              </a:rPr>
              <a:t>r3</a:t>
            </a:r>
            <a:endParaRPr kumimoji="0" lang="zh-CN" altLang="zh-CN" sz="1600" u="none" strike="noStrike" cap="none" normalizeH="0" baseline="0" dirty="0">
              <a:ln>
                <a:noFill/>
              </a:ln>
              <a:effectLst/>
              <a:latin typeface="Arial" panose="020B0604020202020204" pitchFamily="34" charset="0"/>
              <a:ea typeface="SimHei" panose="02010609060101010101" pitchFamily="49" charset="-122"/>
            </a:endParaRPr>
          </a:p>
        </p:txBody>
      </p:sp>
      <p:sp>
        <p:nvSpPr>
          <p:cNvPr id="354" name="Rectangle 168">
            <a:extLst>
              <a:ext uri="{FF2B5EF4-FFF2-40B4-BE49-F238E27FC236}">
                <a16:creationId xmlns:a16="http://schemas.microsoft.com/office/drawing/2014/main" id="{0DFF1BCD-B153-4C09-A4DE-1C4C233D2B3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47354" y="5143999"/>
            <a:ext cx="1449115" cy="2769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zh-CN" altLang="zh-CN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rPr>
              <a:t>add  r2</a:t>
            </a:r>
            <a:r>
              <a:rPr kumimoji="0" lang="en-US" altLang="zh-CN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rPr>
              <a:t>, </a:t>
            </a:r>
            <a:r>
              <a:rPr kumimoji="0" lang="en-US" altLang="zh-CN" u="none" strike="noStrike" cap="none" normalizeH="0" baseline="0" dirty="0">
                <a:ln>
                  <a:noFill/>
                </a:ln>
                <a:solidFill>
                  <a:srgbClr val="009900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rPr>
              <a:t>r1</a:t>
            </a:r>
            <a:r>
              <a:rPr kumimoji="0" lang="en-US" altLang="zh-CN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rPr>
              <a:t>, r3</a:t>
            </a:r>
            <a:r>
              <a:rPr kumimoji="0" lang="zh-CN" altLang="zh-CN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rPr>
              <a:t>,</a:t>
            </a:r>
            <a:endParaRPr kumimoji="0" lang="zh-CN" altLang="zh-CN" sz="160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  <a:ea typeface="SimHei" panose="02010609060101010101" pitchFamily="49" charset="-122"/>
            </a:endParaRPr>
          </a:p>
        </p:txBody>
      </p:sp>
      <p:sp>
        <p:nvSpPr>
          <p:cNvPr id="357" name="Freeform 171">
            <a:extLst>
              <a:ext uri="{FF2B5EF4-FFF2-40B4-BE49-F238E27FC236}">
                <a16:creationId xmlns:a16="http://schemas.microsoft.com/office/drawing/2014/main" id="{DBEC42FD-D760-4808-937E-875AD1A1377A}"/>
              </a:ext>
            </a:extLst>
          </p:cNvPr>
          <p:cNvSpPr>
            <a:spLocks noEditPoints="1"/>
          </p:cNvSpPr>
          <p:nvPr/>
        </p:nvSpPr>
        <p:spPr bwMode="auto">
          <a:xfrm>
            <a:off x="2559324" y="3706057"/>
            <a:ext cx="389857" cy="1462204"/>
          </a:xfrm>
          <a:custGeom>
            <a:avLst/>
            <a:gdLst>
              <a:gd name="T0" fmla="*/ 7 w 216"/>
              <a:gd name="T1" fmla="*/ 0 h 1159"/>
              <a:gd name="T2" fmla="*/ 201 w 216"/>
              <a:gd name="T3" fmla="*/ 1126 h 1159"/>
              <a:gd name="T4" fmla="*/ 195 w 216"/>
              <a:gd name="T5" fmla="*/ 1127 h 1159"/>
              <a:gd name="T6" fmla="*/ 0 w 216"/>
              <a:gd name="T7" fmla="*/ 1 h 1159"/>
              <a:gd name="T8" fmla="*/ 7 w 216"/>
              <a:gd name="T9" fmla="*/ 0 h 1159"/>
              <a:gd name="T10" fmla="*/ 216 w 216"/>
              <a:gd name="T11" fmla="*/ 1116 h 1159"/>
              <a:gd name="T12" fmla="*/ 203 w 216"/>
              <a:gd name="T13" fmla="*/ 1159 h 1159"/>
              <a:gd name="T14" fmla="*/ 177 w 216"/>
              <a:gd name="T15" fmla="*/ 1123 h 1159"/>
              <a:gd name="T16" fmla="*/ 216 w 216"/>
              <a:gd name="T17" fmla="*/ 1116 h 115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216" h="1159">
                <a:moveTo>
                  <a:pt x="7" y="0"/>
                </a:moveTo>
                <a:lnTo>
                  <a:pt x="201" y="1126"/>
                </a:lnTo>
                <a:lnTo>
                  <a:pt x="195" y="1127"/>
                </a:lnTo>
                <a:lnTo>
                  <a:pt x="0" y="1"/>
                </a:lnTo>
                <a:lnTo>
                  <a:pt x="7" y="0"/>
                </a:lnTo>
                <a:close/>
                <a:moveTo>
                  <a:pt x="216" y="1116"/>
                </a:moveTo>
                <a:lnTo>
                  <a:pt x="203" y="1159"/>
                </a:lnTo>
                <a:lnTo>
                  <a:pt x="177" y="1123"/>
                </a:lnTo>
                <a:lnTo>
                  <a:pt x="216" y="1116"/>
                </a:lnTo>
                <a:close/>
              </a:path>
            </a:pathLst>
          </a:custGeom>
          <a:solidFill>
            <a:srgbClr val="DE2506"/>
          </a:solidFill>
          <a:ln w="0" cap="flat">
            <a:solidFill>
              <a:srgbClr val="DE2506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sz="1600" dirty="0">
              <a:ea typeface="SimHei" panose="02010609060101010101" pitchFamily="49" charset="-122"/>
            </a:endParaRPr>
          </a:p>
        </p:txBody>
      </p:sp>
      <p:sp>
        <p:nvSpPr>
          <p:cNvPr id="195" name="Freeform 9">
            <a:extLst>
              <a:ext uri="{FF2B5EF4-FFF2-40B4-BE49-F238E27FC236}">
                <a16:creationId xmlns:a16="http://schemas.microsoft.com/office/drawing/2014/main" id="{4BD2338D-BE6E-4EFB-ABB4-A66C9A64D742}"/>
              </a:ext>
            </a:extLst>
          </p:cNvPr>
          <p:cNvSpPr>
            <a:spLocks noEditPoints="1"/>
          </p:cNvSpPr>
          <p:nvPr/>
        </p:nvSpPr>
        <p:spPr bwMode="auto">
          <a:xfrm>
            <a:off x="5438106" y="3739951"/>
            <a:ext cx="58093" cy="1377918"/>
          </a:xfrm>
          <a:custGeom>
            <a:avLst/>
            <a:gdLst>
              <a:gd name="T0" fmla="*/ 30 w 45"/>
              <a:gd name="T1" fmla="*/ 0 h 1079"/>
              <a:gd name="T2" fmla="*/ 30 w 45"/>
              <a:gd name="T3" fmla="*/ 1041 h 1079"/>
              <a:gd name="T4" fmla="*/ 15 w 45"/>
              <a:gd name="T5" fmla="*/ 1041 h 1079"/>
              <a:gd name="T6" fmla="*/ 15 w 45"/>
              <a:gd name="T7" fmla="*/ 0 h 1079"/>
              <a:gd name="T8" fmla="*/ 30 w 45"/>
              <a:gd name="T9" fmla="*/ 0 h 1079"/>
              <a:gd name="T10" fmla="*/ 45 w 45"/>
              <a:gd name="T11" fmla="*/ 1034 h 1079"/>
              <a:gd name="T12" fmla="*/ 22 w 45"/>
              <a:gd name="T13" fmla="*/ 1079 h 1079"/>
              <a:gd name="T14" fmla="*/ 0 w 45"/>
              <a:gd name="T15" fmla="*/ 1034 h 1079"/>
              <a:gd name="T16" fmla="*/ 45 w 45"/>
              <a:gd name="T17" fmla="*/ 1034 h 107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45" h="1079">
                <a:moveTo>
                  <a:pt x="30" y="0"/>
                </a:moveTo>
                <a:lnTo>
                  <a:pt x="30" y="1041"/>
                </a:lnTo>
                <a:lnTo>
                  <a:pt x="15" y="1041"/>
                </a:lnTo>
                <a:lnTo>
                  <a:pt x="15" y="0"/>
                </a:lnTo>
                <a:lnTo>
                  <a:pt x="30" y="0"/>
                </a:lnTo>
                <a:close/>
                <a:moveTo>
                  <a:pt x="45" y="1034"/>
                </a:moveTo>
                <a:lnTo>
                  <a:pt x="22" y="1079"/>
                </a:lnTo>
                <a:lnTo>
                  <a:pt x="0" y="1034"/>
                </a:lnTo>
                <a:lnTo>
                  <a:pt x="45" y="1034"/>
                </a:lnTo>
                <a:close/>
              </a:path>
            </a:pathLst>
          </a:custGeom>
          <a:solidFill>
            <a:srgbClr val="009900"/>
          </a:solidFill>
          <a:ln w="0" cap="flat">
            <a:solidFill>
              <a:srgbClr val="0099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sz="1600" dirty="0">
              <a:ea typeface="SimHei" panose="02010609060101010101" pitchFamily="49" charset="-122"/>
            </a:endParaRPr>
          </a:p>
        </p:txBody>
      </p:sp>
    </p:spTree>
    <p:extLst>
      <p:ext uri="{BB962C8B-B14F-4D97-AF65-F5344CB8AC3E}">
        <p14:creationId xmlns:p14="http://schemas.microsoft.com/office/powerpoint/2010/main" val="1135892422"/>
      </p:ext>
    </p:extLst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>
            <a:extLst>
              <a:ext uri="{FF2B5EF4-FFF2-40B4-BE49-F238E27FC236}">
                <a16:creationId xmlns:a16="http://schemas.microsoft.com/office/drawing/2014/main" id="{FDDE3914-8EEF-4431-96D5-BB0837337F9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zh-CN" dirty="0"/>
              <a:t>Load</a:t>
            </a:r>
            <a:r>
              <a:rPr lang="zh-CN" altLang="en-US" dirty="0"/>
              <a:t>指令引起的冒险</a:t>
            </a:r>
          </a:p>
        </p:txBody>
      </p:sp>
      <p:sp>
        <p:nvSpPr>
          <p:cNvPr id="3" name="内容占位符 2">
            <a:extLst>
              <a:ext uri="{FF2B5EF4-FFF2-40B4-BE49-F238E27FC236}">
                <a16:creationId xmlns:a16="http://schemas.microsoft.com/office/drawing/2014/main" id="{3A0957BB-889F-467C-894E-E45CE4F43E6F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r>
              <a:rPr lang="zh-CN" altLang="en-US" sz="2600" dirty="0"/>
              <a:t>指令在寄存器使用上的时间顺序关联引起了数据冒险</a:t>
            </a:r>
          </a:p>
          <a:p>
            <a:r>
              <a:rPr lang="en-US" altLang="zh-CN" sz="2600" dirty="0">
                <a:solidFill>
                  <a:srgbClr val="3333FF"/>
                </a:solidFill>
              </a:rPr>
              <a:t>Load-use</a:t>
            </a:r>
            <a:r>
              <a:rPr lang="en-US" altLang="zh-CN" sz="2600" dirty="0"/>
              <a:t> data hazard</a:t>
            </a:r>
            <a:endParaRPr lang="zh-CN" altLang="en-US" sz="2600" dirty="0"/>
          </a:p>
        </p:txBody>
      </p:sp>
      <p:sp>
        <p:nvSpPr>
          <p:cNvPr id="4" name="灯片编号占位符 3">
            <a:extLst>
              <a:ext uri="{FF2B5EF4-FFF2-40B4-BE49-F238E27FC236}">
                <a16:creationId xmlns:a16="http://schemas.microsoft.com/office/drawing/2014/main" id="{A592557A-034F-456F-84F2-3B7F999C38B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0626FCE3-5FF9-430D-BA0B-DE80AAE71673}" type="slidenum">
              <a:rPr lang="zh-CN" altLang="en-US" smtClean="0"/>
              <a:t>27</a:t>
            </a:fld>
            <a:endParaRPr lang="zh-CN" altLang="en-US"/>
          </a:p>
        </p:txBody>
      </p:sp>
      <p:pic>
        <p:nvPicPr>
          <p:cNvPr id="6" name="图片 5">
            <a:extLst>
              <a:ext uri="{FF2B5EF4-FFF2-40B4-BE49-F238E27FC236}">
                <a16:creationId xmlns:a16="http://schemas.microsoft.com/office/drawing/2014/main" id="{32268669-DBF5-4C22-9623-8C9212919A6D}"/>
              </a:ext>
            </a:extLst>
          </p:cNvPr>
          <p:cNvPicPr/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57200" y="2142015"/>
            <a:ext cx="7979664" cy="4362465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3773419706"/>
      </p:ext>
    </p:extLst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>
            <a:extLst>
              <a:ext uri="{FF2B5EF4-FFF2-40B4-BE49-F238E27FC236}">
                <a16:creationId xmlns:a16="http://schemas.microsoft.com/office/drawing/2014/main" id="{9E93CF03-D2D1-46D5-A1FE-A03980CD835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dirty="0"/>
              <a:t>解决</a:t>
            </a:r>
            <a:r>
              <a:rPr lang="en-US" altLang="zh-CN" dirty="0"/>
              <a:t>Load-use</a:t>
            </a:r>
            <a:r>
              <a:rPr lang="zh-CN" altLang="en-US" dirty="0"/>
              <a:t>冒险的方法</a:t>
            </a:r>
          </a:p>
        </p:txBody>
      </p:sp>
      <p:sp>
        <p:nvSpPr>
          <p:cNvPr id="3" name="内容占位符 2">
            <a:extLst>
              <a:ext uri="{FF2B5EF4-FFF2-40B4-BE49-F238E27FC236}">
                <a16:creationId xmlns:a16="http://schemas.microsoft.com/office/drawing/2014/main" id="{EBE0C683-B664-4501-9963-36F7084E1544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r>
              <a:rPr lang="en-US" altLang="zh-CN" sz="2400" dirty="0"/>
              <a:t>Load-use</a:t>
            </a:r>
            <a:r>
              <a:rPr lang="zh-CN" altLang="en-US" sz="2400" dirty="0"/>
              <a:t>冒险会影响几条后续的指令？</a:t>
            </a:r>
            <a:endParaRPr lang="en-US" altLang="zh-CN" sz="2400" dirty="0"/>
          </a:p>
          <a:p>
            <a:pPr lvl="1"/>
            <a:r>
              <a:rPr lang="zh-CN" altLang="en-US" b="0" dirty="0"/>
              <a:t>后续的第三、第四条指令受影响吗？</a:t>
            </a:r>
            <a:r>
              <a:rPr lang="en-US" altLang="zh-CN" b="0" dirty="0"/>
              <a:t>Instructions or, xor?</a:t>
            </a:r>
          </a:p>
        </p:txBody>
      </p:sp>
      <p:sp>
        <p:nvSpPr>
          <p:cNvPr id="4" name="灯片编号占位符 3">
            <a:extLst>
              <a:ext uri="{FF2B5EF4-FFF2-40B4-BE49-F238E27FC236}">
                <a16:creationId xmlns:a16="http://schemas.microsoft.com/office/drawing/2014/main" id="{63271D26-B263-467C-975B-BC6E3B2432B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0626FCE3-5FF9-430D-BA0B-DE80AAE71673}" type="slidenum">
              <a:rPr lang="zh-CN" altLang="en-US" smtClean="0"/>
              <a:t>28</a:t>
            </a:fld>
            <a:endParaRPr lang="zh-CN" altLang="en-US"/>
          </a:p>
        </p:txBody>
      </p:sp>
      <p:sp>
        <p:nvSpPr>
          <p:cNvPr id="5" name="Rectangle 5">
            <a:extLst>
              <a:ext uri="{FF2B5EF4-FFF2-40B4-BE49-F238E27FC236}">
                <a16:creationId xmlns:a16="http://schemas.microsoft.com/office/drawing/2014/main" id="{C618B70C-F5BA-41E1-AA4F-E2D46153CB2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97749" y="6039082"/>
            <a:ext cx="233530" cy="425686"/>
          </a:xfrm>
          <a:prstGeom prst="rect">
            <a:avLst/>
          </a:prstGeom>
          <a:solidFill>
            <a:srgbClr val="00B050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7" name="Rectangle 5">
            <a:extLst>
              <a:ext uri="{FF2B5EF4-FFF2-40B4-BE49-F238E27FC236}">
                <a16:creationId xmlns:a16="http://schemas.microsoft.com/office/drawing/2014/main" id="{C9FDFE0A-57E0-14CD-9D88-E2A9AE24DE01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48470" y="5254883"/>
            <a:ext cx="233530" cy="425686"/>
          </a:xfrm>
          <a:prstGeom prst="rect">
            <a:avLst/>
          </a:prstGeom>
          <a:solidFill>
            <a:srgbClr val="00B050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pic>
        <p:nvPicPr>
          <p:cNvPr id="8" name="图片 7">
            <a:extLst>
              <a:ext uri="{FF2B5EF4-FFF2-40B4-BE49-F238E27FC236}">
                <a16:creationId xmlns:a16="http://schemas.microsoft.com/office/drawing/2014/main" id="{55828D93-9CF8-277A-82B4-67C71F03A97C}"/>
              </a:ext>
            </a:extLst>
          </p:cNvPr>
          <p:cNvPicPr/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57200" y="2359010"/>
            <a:ext cx="7979664" cy="4362465"/>
          </a:xfrm>
          <a:prstGeom prst="rect">
            <a:avLst/>
          </a:prstGeom>
          <a:noFill/>
          <a:ln>
            <a:noFill/>
          </a:ln>
        </p:spPr>
      </p:pic>
      <p:cxnSp>
        <p:nvCxnSpPr>
          <p:cNvPr id="9" name="直接箭头连接符 5">
            <a:extLst>
              <a:ext uri="{FF2B5EF4-FFF2-40B4-BE49-F238E27FC236}">
                <a16:creationId xmlns:a16="http://schemas.microsoft.com/office/drawing/2014/main" id="{BD3DD69B-A78F-D1E6-0C39-7D1EAA141577}"/>
              </a:ext>
            </a:extLst>
          </p:cNvPr>
          <p:cNvCxnSpPr>
            <a:cxnSpLocks/>
          </p:cNvCxnSpPr>
          <p:nvPr/>
        </p:nvCxnSpPr>
        <p:spPr>
          <a:xfrm flipH="1">
            <a:off x="5562038" y="3346349"/>
            <a:ext cx="16959" cy="1911340"/>
          </a:xfrm>
          <a:prstGeom prst="straightConnector1">
            <a:avLst/>
          </a:prstGeom>
          <a:ln w="28575">
            <a:solidFill>
              <a:srgbClr val="00B05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" name="直接箭头连接符 6">
            <a:extLst>
              <a:ext uri="{FF2B5EF4-FFF2-40B4-BE49-F238E27FC236}">
                <a16:creationId xmlns:a16="http://schemas.microsoft.com/office/drawing/2014/main" id="{782320A4-D684-75D0-9555-DD2D0C1126FE}"/>
              </a:ext>
            </a:extLst>
          </p:cNvPr>
          <p:cNvCxnSpPr>
            <a:cxnSpLocks/>
          </p:cNvCxnSpPr>
          <p:nvPr/>
        </p:nvCxnSpPr>
        <p:spPr>
          <a:xfrm>
            <a:off x="5578998" y="3346349"/>
            <a:ext cx="639373" cy="2689783"/>
          </a:xfrm>
          <a:prstGeom prst="straightConnector1">
            <a:avLst/>
          </a:prstGeom>
          <a:ln w="28575">
            <a:solidFill>
              <a:srgbClr val="00B05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521307196"/>
      </p:ext>
    </p:extLst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>
            <a:extLst>
              <a:ext uri="{FF2B5EF4-FFF2-40B4-BE49-F238E27FC236}">
                <a16:creationId xmlns:a16="http://schemas.microsoft.com/office/drawing/2014/main" id="{9E93CF03-D2D1-46D5-A1FE-A03980CD835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dirty="0"/>
              <a:t>解决</a:t>
            </a:r>
            <a:r>
              <a:rPr lang="en-US" altLang="zh-CN" dirty="0"/>
              <a:t>Load-use</a:t>
            </a:r>
            <a:r>
              <a:rPr lang="zh-CN" altLang="en-US" dirty="0"/>
              <a:t>冒险的方法</a:t>
            </a:r>
          </a:p>
        </p:txBody>
      </p:sp>
      <p:sp>
        <p:nvSpPr>
          <p:cNvPr id="3" name="内容占位符 2">
            <a:extLst>
              <a:ext uri="{FF2B5EF4-FFF2-40B4-BE49-F238E27FC236}">
                <a16:creationId xmlns:a16="http://schemas.microsoft.com/office/drawing/2014/main" id="{EBE0C683-B664-4501-9963-36F7084E1544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r>
              <a:rPr lang="en-US" altLang="zh-CN" sz="2400" dirty="0"/>
              <a:t>Load-use</a:t>
            </a:r>
            <a:r>
              <a:rPr lang="zh-CN" altLang="en-US" sz="2400" dirty="0"/>
              <a:t>冒险会影响几条后续的指令？</a:t>
            </a:r>
            <a:endParaRPr lang="en-US" altLang="zh-CN" sz="2400" dirty="0"/>
          </a:p>
          <a:p>
            <a:pPr lvl="1"/>
            <a:r>
              <a:rPr lang="zh-CN" altLang="en-US" b="0" dirty="0"/>
              <a:t>后续的第二条指令受影响吗？</a:t>
            </a:r>
            <a:r>
              <a:rPr lang="en-US" altLang="zh-CN" b="0" dirty="0"/>
              <a:t>Instruction “</a:t>
            </a:r>
            <a:r>
              <a:rPr lang="en-US" altLang="zh-CN" b="0" i="1" dirty="0"/>
              <a:t>and”</a:t>
            </a:r>
          </a:p>
          <a:p>
            <a:pPr lvl="1"/>
            <a:r>
              <a:rPr lang="zh-CN" altLang="en-US" b="0" dirty="0"/>
              <a:t>可采用</a:t>
            </a:r>
            <a:r>
              <a:rPr lang="en-US" altLang="zh-CN" b="0" dirty="0"/>
              <a:t>forwarding</a:t>
            </a:r>
            <a:r>
              <a:rPr lang="zh-CN" altLang="en-US" b="0" dirty="0"/>
              <a:t>策略，不会造成一个周期的延误</a:t>
            </a:r>
            <a:endParaRPr lang="en-US" altLang="zh-CN" b="0" dirty="0"/>
          </a:p>
          <a:p>
            <a:pPr lvl="1"/>
            <a:r>
              <a:rPr lang="zh-CN" altLang="en-US" sz="2400" b="0" dirty="0"/>
              <a:t>存储器访问后数据在</a:t>
            </a:r>
            <a:r>
              <a:rPr lang="en-US" altLang="zh-CN" sz="2400" b="0" dirty="0"/>
              <a:t>MDR</a:t>
            </a:r>
            <a:r>
              <a:rPr lang="zh-CN" altLang="en-US" sz="2400" b="0" dirty="0"/>
              <a:t>寄存器中，可直接转发</a:t>
            </a:r>
          </a:p>
        </p:txBody>
      </p:sp>
      <p:sp>
        <p:nvSpPr>
          <p:cNvPr id="4" name="灯片编号占位符 3">
            <a:extLst>
              <a:ext uri="{FF2B5EF4-FFF2-40B4-BE49-F238E27FC236}">
                <a16:creationId xmlns:a16="http://schemas.microsoft.com/office/drawing/2014/main" id="{63271D26-B263-467C-975B-BC6E3B2432B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0626FCE3-5FF9-430D-BA0B-DE80AAE71673}" type="slidenum">
              <a:rPr lang="zh-CN" altLang="en-US" smtClean="0"/>
              <a:t>29</a:t>
            </a:fld>
            <a:endParaRPr lang="zh-CN" altLang="en-US"/>
          </a:p>
        </p:txBody>
      </p:sp>
      <p:grpSp>
        <p:nvGrpSpPr>
          <p:cNvPr id="5" name="Group 4">
            <a:extLst>
              <a:ext uri="{FF2B5EF4-FFF2-40B4-BE49-F238E27FC236}">
                <a16:creationId xmlns:a16="http://schemas.microsoft.com/office/drawing/2014/main" id="{8E23E7C1-7F72-4498-BBAA-6D263D0B85C8}"/>
              </a:ext>
            </a:extLst>
          </p:cNvPr>
          <p:cNvGrpSpPr>
            <a:grpSpLocks noChangeAspect="1"/>
          </p:cNvGrpSpPr>
          <p:nvPr/>
        </p:nvGrpSpPr>
        <p:grpSpPr bwMode="auto">
          <a:xfrm>
            <a:off x="750888" y="2970213"/>
            <a:ext cx="6961187" cy="3805237"/>
            <a:chOff x="473" y="1871"/>
            <a:chExt cx="4385" cy="2397"/>
          </a:xfrm>
        </p:grpSpPr>
        <p:sp>
          <p:nvSpPr>
            <p:cNvPr id="7" name="AutoShape 3">
              <a:extLst>
                <a:ext uri="{FF2B5EF4-FFF2-40B4-BE49-F238E27FC236}">
                  <a16:creationId xmlns:a16="http://schemas.microsoft.com/office/drawing/2014/main" id="{DE1FE5F0-80CB-4642-AD4D-774801628AB3}"/>
                </a:ext>
              </a:extLst>
            </p:cNvPr>
            <p:cNvSpPr>
              <a:spLocks noChangeAspect="1" noChangeArrowheads="1" noTextEdit="1"/>
            </p:cNvSpPr>
            <p:nvPr/>
          </p:nvSpPr>
          <p:spPr bwMode="auto">
            <a:xfrm>
              <a:off x="473" y="1871"/>
              <a:ext cx="4385" cy="239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" name="Rectangle 5">
              <a:extLst>
                <a:ext uri="{FF2B5EF4-FFF2-40B4-BE49-F238E27FC236}">
                  <a16:creationId xmlns:a16="http://schemas.microsoft.com/office/drawing/2014/main" id="{1126C314-7F43-4A0C-A1C5-B67B659796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71" y="2187"/>
              <a:ext cx="117" cy="233"/>
            </a:xfrm>
            <a:prstGeom prst="rect">
              <a:avLst/>
            </a:prstGeom>
            <a:solidFill>
              <a:srgbClr val="DE25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" name="Rectangle 6">
              <a:extLst>
                <a:ext uri="{FF2B5EF4-FFF2-40B4-BE49-F238E27FC236}">
                  <a16:creationId xmlns:a16="http://schemas.microsoft.com/office/drawing/2014/main" id="{D651F352-9A6D-4EBE-8A79-A0AB61A8F9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71" y="2187"/>
              <a:ext cx="117" cy="233"/>
            </a:xfrm>
            <a:prstGeom prst="rect">
              <a:avLst/>
            </a:prstGeom>
            <a:noFill/>
            <a:ln w="9525" cap="flat">
              <a:solidFill>
                <a:srgbClr val="DE2506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" name="Rectangle 7">
              <a:extLst>
                <a:ext uri="{FF2B5EF4-FFF2-40B4-BE49-F238E27FC236}">
                  <a16:creationId xmlns:a16="http://schemas.microsoft.com/office/drawing/2014/main" id="{68EB35DB-D72C-4AF6-9331-DD50D044A7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38" y="3898"/>
              <a:ext cx="116" cy="234"/>
            </a:xfrm>
            <a:prstGeom prst="rect">
              <a:avLst/>
            </a:prstGeom>
            <a:solidFill>
              <a:srgbClr val="00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" name="Rectangle 8">
              <a:extLst>
                <a:ext uri="{FF2B5EF4-FFF2-40B4-BE49-F238E27FC236}">
                  <a16:creationId xmlns:a16="http://schemas.microsoft.com/office/drawing/2014/main" id="{3AEA1440-AA25-4312-91DB-3C64BB4A1D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38" y="3898"/>
              <a:ext cx="116" cy="234"/>
            </a:xfrm>
            <a:prstGeom prst="rect">
              <a:avLst/>
            </a:prstGeom>
            <a:noFill/>
            <a:ln w="9525" cap="flat">
              <a:solidFill>
                <a:srgbClr val="0099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" name="Rectangle 9">
              <a:extLst>
                <a:ext uri="{FF2B5EF4-FFF2-40B4-BE49-F238E27FC236}">
                  <a16:creationId xmlns:a16="http://schemas.microsoft.com/office/drawing/2014/main" id="{AFD2E027-A0DA-4ED3-8927-EE9D568745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88" y="3471"/>
              <a:ext cx="116" cy="233"/>
            </a:xfrm>
            <a:prstGeom prst="rect">
              <a:avLst/>
            </a:prstGeom>
            <a:solidFill>
              <a:srgbClr val="00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" name="Rectangle 10">
              <a:extLst>
                <a:ext uri="{FF2B5EF4-FFF2-40B4-BE49-F238E27FC236}">
                  <a16:creationId xmlns:a16="http://schemas.microsoft.com/office/drawing/2014/main" id="{25E8A509-8675-4A06-A3C6-41683BD4F8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88" y="3471"/>
              <a:ext cx="116" cy="233"/>
            </a:xfrm>
            <a:prstGeom prst="rect">
              <a:avLst/>
            </a:prstGeom>
            <a:noFill/>
            <a:ln w="9525" cap="flat">
              <a:solidFill>
                <a:srgbClr val="0099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" name="Freeform 11">
              <a:extLst>
                <a:ext uri="{FF2B5EF4-FFF2-40B4-BE49-F238E27FC236}">
                  <a16:creationId xmlns:a16="http://schemas.microsoft.com/office/drawing/2014/main" id="{3786F45C-96BB-4329-868A-909E5D09A90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266" y="2420"/>
              <a:ext cx="44" cy="1051"/>
            </a:xfrm>
            <a:custGeom>
              <a:avLst/>
              <a:gdLst>
                <a:gd name="T0" fmla="*/ 29 w 44"/>
                <a:gd name="T1" fmla="*/ 0 h 1051"/>
                <a:gd name="T2" fmla="*/ 29 w 44"/>
                <a:gd name="T3" fmla="*/ 1014 h 1051"/>
                <a:gd name="T4" fmla="*/ 14 w 44"/>
                <a:gd name="T5" fmla="*/ 1014 h 1051"/>
                <a:gd name="T6" fmla="*/ 14 w 44"/>
                <a:gd name="T7" fmla="*/ 0 h 1051"/>
                <a:gd name="T8" fmla="*/ 29 w 44"/>
                <a:gd name="T9" fmla="*/ 0 h 1051"/>
                <a:gd name="T10" fmla="*/ 44 w 44"/>
                <a:gd name="T11" fmla="*/ 1007 h 1051"/>
                <a:gd name="T12" fmla="*/ 22 w 44"/>
                <a:gd name="T13" fmla="*/ 1051 h 1051"/>
                <a:gd name="T14" fmla="*/ 0 w 44"/>
                <a:gd name="T15" fmla="*/ 1007 h 1051"/>
                <a:gd name="T16" fmla="*/ 44 w 44"/>
                <a:gd name="T17" fmla="*/ 1007 h 10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4" h="1051">
                  <a:moveTo>
                    <a:pt x="29" y="0"/>
                  </a:moveTo>
                  <a:lnTo>
                    <a:pt x="29" y="1014"/>
                  </a:lnTo>
                  <a:lnTo>
                    <a:pt x="14" y="1014"/>
                  </a:lnTo>
                  <a:lnTo>
                    <a:pt x="14" y="0"/>
                  </a:lnTo>
                  <a:lnTo>
                    <a:pt x="29" y="0"/>
                  </a:lnTo>
                  <a:close/>
                  <a:moveTo>
                    <a:pt x="44" y="1007"/>
                  </a:moveTo>
                  <a:lnTo>
                    <a:pt x="22" y="1051"/>
                  </a:lnTo>
                  <a:lnTo>
                    <a:pt x="0" y="1007"/>
                  </a:lnTo>
                  <a:lnTo>
                    <a:pt x="44" y="1007"/>
                  </a:lnTo>
                  <a:close/>
                </a:path>
              </a:pathLst>
            </a:custGeom>
            <a:solidFill>
              <a:srgbClr val="009900"/>
            </a:solidFill>
            <a:ln w="0" cap="flat">
              <a:solidFill>
                <a:srgbClr val="0099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" name="Freeform 12">
              <a:extLst>
                <a:ext uri="{FF2B5EF4-FFF2-40B4-BE49-F238E27FC236}">
                  <a16:creationId xmlns:a16="http://schemas.microsoft.com/office/drawing/2014/main" id="{712AB174-F13E-46FB-889B-09725DCFE20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281" y="2380"/>
              <a:ext cx="368" cy="1518"/>
            </a:xfrm>
            <a:custGeom>
              <a:avLst/>
              <a:gdLst>
                <a:gd name="T0" fmla="*/ 14 w 368"/>
                <a:gd name="T1" fmla="*/ 0 h 1518"/>
                <a:gd name="T2" fmla="*/ 356 w 368"/>
                <a:gd name="T3" fmla="*/ 1481 h 1518"/>
                <a:gd name="T4" fmla="*/ 342 w 368"/>
                <a:gd name="T5" fmla="*/ 1485 h 1518"/>
                <a:gd name="T6" fmla="*/ 0 w 368"/>
                <a:gd name="T7" fmla="*/ 3 h 1518"/>
                <a:gd name="T8" fmla="*/ 14 w 368"/>
                <a:gd name="T9" fmla="*/ 0 h 1518"/>
                <a:gd name="T10" fmla="*/ 368 w 368"/>
                <a:gd name="T11" fmla="*/ 1471 h 1518"/>
                <a:gd name="T12" fmla="*/ 357 w 368"/>
                <a:gd name="T13" fmla="*/ 1518 h 1518"/>
                <a:gd name="T14" fmla="*/ 326 w 368"/>
                <a:gd name="T15" fmla="*/ 1481 h 1518"/>
                <a:gd name="T16" fmla="*/ 368 w 368"/>
                <a:gd name="T17" fmla="*/ 1471 h 15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68" h="1518">
                  <a:moveTo>
                    <a:pt x="14" y="0"/>
                  </a:moveTo>
                  <a:lnTo>
                    <a:pt x="356" y="1481"/>
                  </a:lnTo>
                  <a:lnTo>
                    <a:pt x="342" y="1485"/>
                  </a:lnTo>
                  <a:lnTo>
                    <a:pt x="0" y="3"/>
                  </a:lnTo>
                  <a:lnTo>
                    <a:pt x="14" y="0"/>
                  </a:lnTo>
                  <a:close/>
                  <a:moveTo>
                    <a:pt x="368" y="1471"/>
                  </a:moveTo>
                  <a:lnTo>
                    <a:pt x="357" y="1518"/>
                  </a:lnTo>
                  <a:lnTo>
                    <a:pt x="326" y="1481"/>
                  </a:lnTo>
                  <a:lnTo>
                    <a:pt x="368" y="1471"/>
                  </a:lnTo>
                  <a:close/>
                </a:path>
              </a:pathLst>
            </a:custGeom>
            <a:solidFill>
              <a:srgbClr val="009900"/>
            </a:solidFill>
            <a:ln w="0" cap="flat">
              <a:solidFill>
                <a:srgbClr val="0099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" name="Rectangle 13">
              <a:extLst>
                <a:ext uri="{FF2B5EF4-FFF2-40B4-BE49-F238E27FC236}">
                  <a16:creationId xmlns:a16="http://schemas.microsoft.com/office/drawing/2014/main" id="{93D8730B-6A88-4E16-B335-1F0111599C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32" y="3043"/>
              <a:ext cx="78" cy="233"/>
            </a:xfrm>
            <a:prstGeom prst="rect">
              <a:avLst/>
            </a:prstGeom>
            <a:solidFill>
              <a:srgbClr val="00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" name="Rectangle 14">
              <a:extLst>
                <a:ext uri="{FF2B5EF4-FFF2-40B4-BE49-F238E27FC236}">
                  <a16:creationId xmlns:a16="http://schemas.microsoft.com/office/drawing/2014/main" id="{CD2A4842-C835-4CCC-AFD3-6C3840934A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32" y="3043"/>
              <a:ext cx="78" cy="233"/>
            </a:xfrm>
            <a:prstGeom prst="rect">
              <a:avLst/>
            </a:prstGeom>
            <a:noFill/>
            <a:ln w="9525" cap="flat">
              <a:solidFill>
                <a:srgbClr val="0099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" name="Rectangle 15">
              <a:extLst>
                <a:ext uri="{FF2B5EF4-FFF2-40B4-BE49-F238E27FC236}">
                  <a16:creationId xmlns:a16="http://schemas.microsoft.com/office/drawing/2014/main" id="{57747C6B-490E-4FC6-8B06-AD78EEF97CC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82" y="2615"/>
              <a:ext cx="78" cy="233"/>
            </a:xfrm>
            <a:prstGeom prst="rect">
              <a:avLst/>
            </a:prstGeom>
            <a:solidFill>
              <a:srgbClr val="DE25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" name="Rectangle 16">
              <a:extLst>
                <a:ext uri="{FF2B5EF4-FFF2-40B4-BE49-F238E27FC236}">
                  <a16:creationId xmlns:a16="http://schemas.microsoft.com/office/drawing/2014/main" id="{D46656C7-DCCD-4B86-BFD8-052B8B28C8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82" y="2615"/>
              <a:ext cx="78" cy="233"/>
            </a:xfrm>
            <a:prstGeom prst="rect">
              <a:avLst/>
            </a:prstGeom>
            <a:noFill/>
            <a:ln w="952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" name="Rectangle 17">
              <a:extLst>
                <a:ext uri="{FF2B5EF4-FFF2-40B4-BE49-F238E27FC236}">
                  <a16:creationId xmlns:a16="http://schemas.microsoft.com/office/drawing/2014/main" id="{9A5C3A3E-4946-421E-A54C-C07226FB11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77" y="2187"/>
              <a:ext cx="77" cy="233"/>
            </a:xfrm>
            <a:prstGeom prst="rect">
              <a:avLst/>
            </a:prstGeom>
            <a:solidFill>
              <a:srgbClr val="DE25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" name="Rectangle 18">
              <a:extLst>
                <a:ext uri="{FF2B5EF4-FFF2-40B4-BE49-F238E27FC236}">
                  <a16:creationId xmlns:a16="http://schemas.microsoft.com/office/drawing/2014/main" id="{3E653A49-8485-4B82-89B0-52919F310B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77" y="2187"/>
              <a:ext cx="77" cy="233"/>
            </a:xfrm>
            <a:prstGeom prst="rect">
              <a:avLst/>
            </a:prstGeom>
            <a:noFill/>
            <a:ln w="952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2" name="Freeform 19">
              <a:extLst>
                <a:ext uri="{FF2B5EF4-FFF2-40B4-BE49-F238E27FC236}">
                  <a16:creationId xmlns:a16="http://schemas.microsoft.com/office/drawing/2014/main" id="{6BA532BE-CA47-4F28-9327-6E4210F75A5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821" y="2415"/>
              <a:ext cx="238" cy="200"/>
            </a:xfrm>
            <a:custGeom>
              <a:avLst/>
              <a:gdLst>
                <a:gd name="T0" fmla="*/ 229 w 238"/>
                <a:gd name="T1" fmla="*/ 0 h 200"/>
                <a:gd name="T2" fmla="*/ 23 w 238"/>
                <a:gd name="T3" fmla="*/ 171 h 200"/>
                <a:gd name="T4" fmla="*/ 33 w 238"/>
                <a:gd name="T5" fmla="*/ 182 h 200"/>
                <a:gd name="T6" fmla="*/ 238 w 238"/>
                <a:gd name="T7" fmla="*/ 11 h 200"/>
                <a:gd name="T8" fmla="*/ 229 w 238"/>
                <a:gd name="T9" fmla="*/ 0 h 200"/>
                <a:gd name="T10" fmla="*/ 20 w 238"/>
                <a:gd name="T11" fmla="*/ 155 h 200"/>
                <a:gd name="T12" fmla="*/ 0 w 238"/>
                <a:gd name="T13" fmla="*/ 200 h 200"/>
                <a:gd name="T14" fmla="*/ 48 w 238"/>
                <a:gd name="T15" fmla="*/ 189 h 200"/>
                <a:gd name="T16" fmla="*/ 20 w 238"/>
                <a:gd name="T17" fmla="*/ 155 h 2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38" h="200">
                  <a:moveTo>
                    <a:pt x="229" y="0"/>
                  </a:moveTo>
                  <a:lnTo>
                    <a:pt x="23" y="171"/>
                  </a:lnTo>
                  <a:lnTo>
                    <a:pt x="33" y="182"/>
                  </a:lnTo>
                  <a:lnTo>
                    <a:pt x="238" y="11"/>
                  </a:lnTo>
                  <a:lnTo>
                    <a:pt x="229" y="0"/>
                  </a:lnTo>
                  <a:close/>
                  <a:moveTo>
                    <a:pt x="20" y="155"/>
                  </a:moveTo>
                  <a:lnTo>
                    <a:pt x="0" y="200"/>
                  </a:lnTo>
                  <a:lnTo>
                    <a:pt x="48" y="189"/>
                  </a:lnTo>
                  <a:lnTo>
                    <a:pt x="20" y="155"/>
                  </a:lnTo>
                  <a:close/>
                </a:path>
              </a:pathLst>
            </a:custGeom>
            <a:solidFill>
              <a:srgbClr val="DE2506"/>
            </a:solidFill>
            <a:ln w="0" cap="flat">
              <a:solidFill>
                <a:srgbClr val="DE2506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3" name="Freeform 20">
              <a:extLst>
                <a:ext uri="{FF2B5EF4-FFF2-40B4-BE49-F238E27FC236}">
                  <a16:creationId xmlns:a16="http://schemas.microsoft.com/office/drawing/2014/main" id="{7C695793-810B-41FD-AAE7-EF9FE6FB393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047" y="2419"/>
              <a:ext cx="138" cy="624"/>
            </a:xfrm>
            <a:custGeom>
              <a:avLst/>
              <a:gdLst>
                <a:gd name="T0" fmla="*/ 15 w 138"/>
                <a:gd name="T1" fmla="*/ 0 h 624"/>
                <a:gd name="T2" fmla="*/ 125 w 138"/>
                <a:gd name="T3" fmla="*/ 587 h 624"/>
                <a:gd name="T4" fmla="*/ 110 w 138"/>
                <a:gd name="T5" fmla="*/ 589 h 624"/>
                <a:gd name="T6" fmla="*/ 0 w 138"/>
                <a:gd name="T7" fmla="*/ 3 h 624"/>
                <a:gd name="T8" fmla="*/ 15 w 138"/>
                <a:gd name="T9" fmla="*/ 0 h 624"/>
                <a:gd name="T10" fmla="*/ 138 w 138"/>
                <a:gd name="T11" fmla="*/ 577 h 624"/>
                <a:gd name="T12" fmla="*/ 124 w 138"/>
                <a:gd name="T13" fmla="*/ 624 h 624"/>
                <a:gd name="T14" fmla="*/ 95 w 138"/>
                <a:gd name="T15" fmla="*/ 585 h 624"/>
                <a:gd name="T16" fmla="*/ 138 w 138"/>
                <a:gd name="T17" fmla="*/ 577 h 6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38" h="624">
                  <a:moveTo>
                    <a:pt x="15" y="0"/>
                  </a:moveTo>
                  <a:lnTo>
                    <a:pt x="125" y="587"/>
                  </a:lnTo>
                  <a:lnTo>
                    <a:pt x="110" y="589"/>
                  </a:lnTo>
                  <a:lnTo>
                    <a:pt x="0" y="3"/>
                  </a:lnTo>
                  <a:lnTo>
                    <a:pt x="15" y="0"/>
                  </a:lnTo>
                  <a:close/>
                  <a:moveTo>
                    <a:pt x="138" y="577"/>
                  </a:moveTo>
                  <a:lnTo>
                    <a:pt x="124" y="624"/>
                  </a:lnTo>
                  <a:lnTo>
                    <a:pt x="95" y="585"/>
                  </a:lnTo>
                  <a:lnTo>
                    <a:pt x="138" y="577"/>
                  </a:lnTo>
                  <a:close/>
                </a:path>
              </a:pathLst>
            </a:custGeom>
            <a:solidFill>
              <a:srgbClr val="009900"/>
            </a:solidFill>
            <a:ln w="0" cap="flat">
              <a:solidFill>
                <a:srgbClr val="0099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4" name="Rectangle 21">
              <a:extLst>
                <a:ext uri="{FF2B5EF4-FFF2-40B4-BE49-F238E27FC236}">
                  <a16:creationId xmlns:a16="http://schemas.microsoft.com/office/drawing/2014/main" id="{D5682E5F-DF30-49A0-9451-8B0AEF3ABE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4" y="2252"/>
              <a:ext cx="88" cy="16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1500" b="0" i="1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I</a:t>
              </a:r>
              <a:endParaRPr kumimoji="0" lang="zh-CN" altLang="zh-CN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25" name="Rectangle 22">
              <a:extLst>
                <a:ext uri="{FF2B5EF4-FFF2-40B4-BE49-F238E27FC236}">
                  <a16:creationId xmlns:a16="http://schemas.microsoft.com/office/drawing/2014/main" id="{811A6892-EA28-4BB3-9B8E-66B400F67C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0" y="2393"/>
              <a:ext cx="121" cy="16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1500" b="0" i="1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n</a:t>
              </a:r>
              <a:endParaRPr kumimoji="0" lang="zh-CN" altLang="zh-CN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26" name="Rectangle 23">
              <a:extLst>
                <a:ext uri="{FF2B5EF4-FFF2-40B4-BE49-F238E27FC236}">
                  <a16:creationId xmlns:a16="http://schemas.microsoft.com/office/drawing/2014/main" id="{4A1888C4-B5C1-4A00-B027-A47E410AEB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0" y="2534"/>
              <a:ext cx="116" cy="16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1500" b="0" i="1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s</a:t>
              </a:r>
              <a:endParaRPr kumimoji="0" lang="zh-CN" altLang="zh-CN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27" name="Rectangle 24">
              <a:extLst>
                <a:ext uri="{FF2B5EF4-FFF2-40B4-BE49-F238E27FC236}">
                  <a16:creationId xmlns:a16="http://schemas.microsoft.com/office/drawing/2014/main" id="{73D4F1F9-2E85-4CF1-9782-ABE713867B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4" y="2675"/>
              <a:ext cx="88" cy="16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1500" b="0" i="1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t</a:t>
              </a:r>
              <a:endParaRPr kumimoji="0" lang="zh-CN" altLang="zh-CN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28" name="Rectangle 25">
              <a:extLst>
                <a:ext uri="{FF2B5EF4-FFF2-40B4-BE49-F238E27FC236}">
                  <a16:creationId xmlns:a16="http://schemas.microsoft.com/office/drawing/2014/main" id="{AC503B50-C3A5-4A37-BB5D-86D0D7B243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5" y="2816"/>
              <a:ext cx="126" cy="16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1500" b="0" i="1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r.</a:t>
              </a:r>
              <a:endParaRPr kumimoji="0" lang="zh-CN" altLang="zh-CN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29" name="Rectangle 26">
              <a:extLst>
                <a:ext uri="{FF2B5EF4-FFF2-40B4-BE49-F238E27FC236}">
                  <a16:creationId xmlns:a16="http://schemas.microsoft.com/office/drawing/2014/main" id="{D9C1489D-9236-4EB1-BCDC-2BC549D77F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5" y="3093"/>
              <a:ext cx="151" cy="16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1500" b="0" i="1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O</a:t>
              </a:r>
              <a:endParaRPr kumimoji="0" lang="zh-CN" altLang="zh-CN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30" name="Rectangle 27">
              <a:extLst>
                <a:ext uri="{FF2B5EF4-FFF2-40B4-BE49-F238E27FC236}">
                  <a16:creationId xmlns:a16="http://schemas.microsoft.com/office/drawing/2014/main" id="{699C4759-455D-47A0-A3C0-C6851EF414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9" y="3234"/>
              <a:ext cx="93" cy="16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1500" b="0" i="1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r</a:t>
              </a:r>
              <a:endParaRPr kumimoji="0" lang="zh-CN" altLang="zh-CN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31" name="Rectangle 28">
              <a:extLst>
                <a:ext uri="{FF2B5EF4-FFF2-40B4-BE49-F238E27FC236}">
                  <a16:creationId xmlns:a16="http://schemas.microsoft.com/office/drawing/2014/main" id="{9D106DDF-E715-44E4-A125-10A01DBB5A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0" y="3375"/>
              <a:ext cx="121" cy="16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1500" b="0" i="1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d</a:t>
              </a:r>
              <a:endParaRPr kumimoji="0" lang="zh-CN" altLang="zh-CN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32" name="Rectangle 29">
              <a:extLst>
                <a:ext uri="{FF2B5EF4-FFF2-40B4-BE49-F238E27FC236}">
                  <a16:creationId xmlns:a16="http://schemas.microsoft.com/office/drawing/2014/main" id="{F237B813-052D-4C8B-8AE2-5312943AC3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0" y="3516"/>
              <a:ext cx="121" cy="16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1500" b="0" i="1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e</a:t>
              </a:r>
              <a:endParaRPr kumimoji="0" lang="zh-CN" altLang="zh-CN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33" name="Rectangle 30">
              <a:extLst>
                <a:ext uri="{FF2B5EF4-FFF2-40B4-BE49-F238E27FC236}">
                  <a16:creationId xmlns:a16="http://schemas.microsoft.com/office/drawing/2014/main" id="{626D57E3-6E35-4107-9417-B90C1BDA7E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9" y="3652"/>
              <a:ext cx="93" cy="16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1500" b="0" i="1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r</a:t>
              </a:r>
              <a:endParaRPr kumimoji="0" lang="zh-CN" altLang="zh-CN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34" name="Freeform 31">
              <a:extLst>
                <a:ext uri="{FF2B5EF4-FFF2-40B4-BE49-F238E27FC236}">
                  <a16:creationId xmlns:a16="http://schemas.microsoft.com/office/drawing/2014/main" id="{019F99E5-D6AF-4F66-9A46-9F7719C4536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421" y="1895"/>
              <a:ext cx="3223" cy="39"/>
            </a:xfrm>
            <a:custGeom>
              <a:avLst/>
              <a:gdLst>
                <a:gd name="T0" fmla="*/ 0 w 3223"/>
                <a:gd name="T1" fmla="*/ 13 h 39"/>
                <a:gd name="T2" fmla="*/ 3191 w 3223"/>
                <a:gd name="T3" fmla="*/ 13 h 39"/>
                <a:gd name="T4" fmla="*/ 3191 w 3223"/>
                <a:gd name="T5" fmla="*/ 26 h 39"/>
                <a:gd name="T6" fmla="*/ 0 w 3223"/>
                <a:gd name="T7" fmla="*/ 26 h 39"/>
                <a:gd name="T8" fmla="*/ 0 w 3223"/>
                <a:gd name="T9" fmla="*/ 13 h 39"/>
                <a:gd name="T10" fmla="*/ 3184 w 3223"/>
                <a:gd name="T11" fmla="*/ 0 h 39"/>
                <a:gd name="T12" fmla="*/ 3223 w 3223"/>
                <a:gd name="T13" fmla="*/ 20 h 39"/>
                <a:gd name="T14" fmla="*/ 3184 w 3223"/>
                <a:gd name="T15" fmla="*/ 39 h 39"/>
                <a:gd name="T16" fmla="*/ 3184 w 3223"/>
                <a:gd name="T17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223" h="39">
                  <a:moveTo>
                    <a:pt x="0" y="13"/>
                  </a:moveTo>
                  <a:lnTo>
                    <a:pt x="3191" y="13"/>
                  </a:lnTo>
                  <a:lnTo>
                    <a:pt x="3191" y="26"/>
                  </a:lnTo>
                  <a:lnTo>
                    <a:pt x="0" y="26"/>
                  </a:lnTo>
                  <a:lnTo>
                    <a:pt x="0" y="13"/>
                  </a:lnTo>
                  <a:close/>
                  <a:moveTo>
                    <a:pt x="3184" y="0"/>
                  </a:moveTo>
                  <a:lnTo>
                    <a:pt x="3223" y="20"/>
                  </a:lnTo>
                  <a:lnTo>
                    <a:pt x="3184" y="39"/>
                  </a:lnTo>
                  <a:lnTo>
                    <a:pt x="3184" y="0"/>
                  </a:lnTo>
                  <a:close/>
                </a:path>
              </a:pathLst>
            </a:custGeom>
            <a:solidFill>
              <a:srgbClr val="000000"/>
            </a:solidFill>
            <a:ln w="0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5" name="Rectangle 32">
              <a:extLst>
                <a:ext uri="{FF2B5EF4-FFF2-40B4-BE49-F238E27FC236}">
                  <a16:creationId xmlns:a16="http://schemas.microsoft.com/office/drawing/2014/main" id="{5138F484-337D-4058-B8D8-AA7F05F62B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7" y="2173"/>
              <a:ext cx="253" cy="22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2000" b="1" i="0" u="none" strike="noStrike" cap="none" normalizeH="0" baseline="0">
                  <a:ln>
                    <a:noFill/>
                  </a:ln>
                  <a:solidFill>
                    <a:srgbClr val="3333CC"/>
                  </a:solidFill>
                  <a:effectLst/>
                  <a:latin typeface="Arial" panose="020B0604020202020204" pitchFamily="34" charset="0"/>
                </a:rPr>
                <a:t>lw</a:t>
              </a:r>
              <a:endParaRPr kumimoji="0" lang="zh-CN" altLang="zh-CN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36" name="Rectangle 33">
              <a:extLst>
                <a:ext uri="{FF2B5EF4-FFF2-40B4-BE49-F238E27FC236}">
                  <a16:creationId xmlns:a16="http://schemas.microsoft.com/office/drawing/2014/main" id="{A9EA4A57-3108-4C00-B080-9113D86184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71" y="2178"/>
              <a:ext cx="214" cy="21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2000" b="0" i="0" u="none" strike="noStrike" cap="none" normalizeH="0" baseline="0">
                  <a:ln>
                    <a:noFill/>
                  </a:ln>
                  <a:solidFill>
                    <a:srgbClr val="DE2506"/>
                  </a:solidFill>
                  <a:effectLst/>
                  <a:latin typeface="Arial" panose="020B0604020202020204" pitchFamily="34" charset="0"/>
                </a:rPr>
                <a:t>r1</a:t>
              </a:r>
              <a:endParaRPr kumimoji="0" lang="zh-CN" altLang="zh-CN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37" name="Rectangle 34">
              <a:extLst>
                <a:ext uri="{FF2B5EF4-FFF2-40B4-BE49-F238E27FC236}">
                  <a16:creationId xmlns:a16="http://schemas.microsoft.com/office/drawing/2014/main" id="{4FE2684C-FA38-45EA-BB11-6422CD2B97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12" y="2178"/>
              <a:ext cx="632" cy="21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20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,100(r2)</a:t>
              </a:r>
              <a:endParaRPr kumimoji="0" lang="zh-CN" altLang="zh-CN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38" name="Rectangle 35">
              <a:extLst>
                <a:ext uri="{FF2B5EF4-FFF2-40B4-BE49-F238E27FC236}">
                  <a16:creationId xmlns:a16="http://schemas.microsoft.com/office/drawing/2014/main" id="{C4B51964-46A2-4CB5-B245-DB21894F79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7" y="2606"/>
              <a:ext cx="559" cy="21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20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sub r4,</a:t>
              </a:r>
              <a:endParaRPr kumimoji="0" lang="zh-CN" altLang="zh-CN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39" name="Rectangle 36">
              <a:extLst>
                <a:ext uri="{FF2B5EF4-FFF2-40B4-BE49-F238E27FC236}">
                  <a16:creationId xmlns:a16="http://schemas.microsoft.com/office/drawing/2014/main" id="{C19C1CA2-E417-4DD7-9822-FB4DC8CC9C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4" y="2606"/>
              <a:ext cx="213" cy="21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2000" b="0" i="0" u="none" strike="noStrike" cap="none" normalizeH="0" baseline="0">
                  <a:ln>
                    <a:noFill/>
                  </a:ln>
                  <a:solidFill>
                    <a:srgbClr val="DE2506"/>
                  </a:solidFill>
                  <a:effectLst/>
                  <a:latin typeface="Arial" panose="020B0604020202020204" pitchFamily="34" charset="0"/>
                </a:rPr>
                <a:t>r1</a:t>
              </a:r>
              <a:endParaRPr kumimoji="0" lang="zh-CN" altLang="zh-CN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40" name="Rectangle 37">
              <a:extLst>
                <a:ext uri="{FF2B5EF4-FFF2-40B4-BE49-F238E27FC236}">
                  <a16:creationId xmlns:a16="http://schemas.microsoft.com/office/drawing/2014/main" id="{5FCBC458-E036-462B-AF4C-2DBAB83A21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85" y="2606"/>
              <a:ext cx="257" cy="21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20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,r5</a:t>
              </a:r>
              <a:endParaRPr kumimoji="0" lang="zh-CN" altLang="zh-CN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41" name="Rectangle 38">
              <a:extLst>
                <a:ext uri="{FF2B5EF4-FFF2-40B4-BE49-F238E27FC236}">
                  <a16:creationId xmlns:a16="http://schemas.microsoft.com/office/drawing/2014/main" id="{132956EA-A626-4123-8B81-2509F43D2E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7" y="3056"/>
              <a:ext cx="569" cy="21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1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and r6,</a:t>
              </a:r>
              <a:endParaRPr kumimoji="0" lang="zh-CN" altLang="zh-CN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42" name="Rectangle 39">
              <a:extLst>
                <a:ext uri="{FF2B5EF4-FFF2-40B4-BE49-F238E27FC236}">
                  <a16:creationId xmlns:a16="http://schemas.microsoft.com/office/drawing/2014/main" id="{A4AC1E54-C152-4E6F-BB99-0D385E9E2A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3" y="3056"/>
              <a:ext cx="214" cy="21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1900" b="0" i="0" u="none" strike="noStrike" cap="none" normalizeH="0" baseline="0">
                  <a:ln>
                    <a:noFill/>
                  </a:ln>
                  <a:solidFill>
                    <a:srgbClr val="009900"/>
                  </a:solidFill>
                  <a:effectLst/>
                  <a:latin typeface="Arial" panose="020B0604020202020204" pitchFamily="34" charset="0"/>
                </a:rPr>
                <a:t>r1</a:t>
              </a:r>
              <a:endParaRPr kumimoji="0" lang="zh-CN" altLang="zh-CN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43" name="Rectangle 40">
              <a:extLst>
                <a:ext uri="{FF2B5EF4-FFF2-40B4-BE49-F238E27FC236}">
                  <a16:creationId xmlns:a16="http://schemas.microsoft.com/office/drawing/2014/main" id="{64773C37-BD73-46AB-9EDB-95F7C8E78D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94" y="3056"/>
              <a:ext cx="258" cy="21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1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,r7</a:t>
              </a:r>
              <a:endParaRPr kumimoji="0" lang="zh-CN" altLang="zh-CN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44" name="Rectangle 41">
              <a:extLst>
                <a:ext uri="{FF2B5EF4-FFF2-40B4-BE49-F238E27FC236}">
                  <a16:creationId xmlns:a16="http://schemas.microsoft.com/office/drawing/2014/main" id="{DEEBC389-45AD-4481-9989-BDC2D42C00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7" y="3928"/>
              <a:ext cx="525" cy="21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20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xor r4,</a:t>
              </a:r>
              <a:endParaRPr kumimoji="0" lang="zh-CN" altLang="zh-CN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45" name="Rectangle 42">
              <a:extLst>
                <a:ext uri="{FF2B5EF4-FFF2-40B4-BE49-F238E27FC236}">
                  <a16:creationId xmlns:a16="http://schemas.microsoft.com/office/drawing/2014/main" id="{1B6745A7-627E-45BB-A9D7-272D116677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10" y="3928"/>
              <a:ext cx="213" cy="21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2000" b="0" i="0" u="none" strike="noStrike" cap="none" normalizeH="0" baseline="0">
                  <a:ln>
                    <a:noFill/>
                  </a:ln>
                  <a:solidFill>
                    <a:srgbClr val="009900"/>
                  </a:solidFill>
                  <a:effectLst/>
                  <a:latin typeface="Arial" panose="020B0604020202020204" pitchFamily="34" charset="0"/>
                </a:rPr>
                <a:t>r1</a:t>
              </a:r>
              <a:endParaRPr kumimoji="0" lang="zh-CN" altLang="zh-CN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46" name="Rectangle 43">
              <a:extLst>
                <a:ext uri="{FF2B5EF4-FFF2-40B4-BE49-F238E27FC236}">
                  <a16:creationId xmlns:a16="http://schemas.microsoft.com/office/drawing/2014/main" id="{B61AEA2B-680D-4793-ADAA-5B1D8BA7CE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51" y="3928"/>
              <a:ext cx="257" cy="21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20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,r5</a:t>
              </a:r>
              <a:endParaRPr kumimoji="0" lang="zh-CN" altLang="zh-CN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47" name="Freeform 44">
              <a:extLst>
                <a:ext uri="{FF2B5EF4-FFF2-40B4-BE49-F238E27FC236}">
                  <a16:creationId xmlns:a16="http://schemas.microsoft.com/office/drawing/2014/main" id="{966D3754-CA78-435B-899D-14E4FACB610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017" y="1978"/>
              <a:ext cx="13" cy="2285"/>
            </a:xfrm>
            <a:custGeom>
              <a:avLst/>
              <a:gdLst>
                <a:gd name="T0" fmla="*/ 13 w 13"/>
                <a:gd name="T1" fmla="*/ 39 h 2285"/>
                <a:gd name="T2" fmla="*/ 0 w 13"/>
                <a:gd name="T3" fmla="*/ 52 h 2285"/>
                <a:gd name="T4" fmla="*/ 13 w 13"/>
                <a:gd name="T5" fmla="*/ 104 h 2285"/>
                <a:gd name="T6" fmla="*/ 0 w 13"/>
                <a:gd name="T7" fmla="*/ 143 h 2285"/>
                <a:gd name="T8" fmla="*/ 13 w 13"/>
                <a:gd name="T9" fmla="*/ 156 h 2285"/>
                <a:gd name="T10" fmla="*/ 13 w 13"/>
                <a:gd name="T11" fmla="*/ 221 h 2285"/>
                <a:gd name="T12" fmla="*/ 0 w 13"/>
                <a:gd name="T13" fmla="*/ 233 h 2285"/>
                <a:gd name="T14" fmla="*/ 13 w 13"/>
                <a:gd name="T15" fmla="*/ 285 h 2285"/>
                <a:gd name="T16" fmla="*/ 0 w 13"/>
                <a:gd name="T17" fmla="*/ 324 h 2285"/>
                <a:gd name="T18" fmla="*/ 13 w 13"/>
                <a:gd name="T19" fmla="*/ 337 h 2285"/>
                <a:gd name="T20" fmla="*/ 13 w 13"/>
                <a:gd name="T21" fmla="*/ 402 h 2285"/>
                <a:gd name="T22" fmla="*/ 0 w 13"/>
                <a:gd name="T23" fmla="*/ 415 h 2285"/>
                <a:gd name="T24" fmla="*/ 13 w 13"/>
                <a:gd name="T25" fmla="*/ 467 h 2285"/>
                <a:gd name="T26" fmla="*/ 0 w 13"/>
                <a:gd name="T27" fmla="*/ 506 h 2285"/>
                <a:gd name="T28" fmla="*/ 13 w 13"/>
                <a:gd name="T29" fmla="*/ 519 h 2285"/>
                <a:gd name="T30" fmla="*/ 13 w 13"/>
                <a:gd name="T31" fmla="*/ 583 h 2285"/>
                <a:gd name="T32" fmla="*/ 0 w 13"/>
                <a:gd name="T33" fmla="*/ 596 h 2285"/>
                <a:gd name="T34" fmla="*/ 13 w 13"/>
                <a:gd name="T35" fmla="*/ 648 h 2285"/>
                <a:gd name="T36" fmla="*/ 0 w 13"/>
                <a:gd name="T37" fmla="*/ 687 h 2285"/>
                <a:gd name="T38" fmla="*/ 13 w 13"/>
                <a:gd name="T39" fmla="*/ 700 h 2285"/>
                <a:gd name="T40" fmla="*/ 13 w 13"/>
                <a:gd name="T41" fmla="*/ 765 h 2285"/>
                <a:gd name="T42" fmla="*/ 0 w 13"/>
                <a:gd name="T43" fmla="*/ 778 h 2285"/>
                <a:gd name="T44" fmla="*/ 13 w 13"/>
                <a:gd name="T45" fmla="*/ 830 h 2285"/>
                <a:gd name="T46" fmla="*/ 0 w 13"/>
                <a:gd name="T47" fmla="*/ 869 h 2285"/>
                <a:gd name="T48" fmla="*/ 13 w 13"/>
                <a:gd name="T49" fmla="*/ 882 h 2285"/>
                <a:gd name="T50" fmla="*/ 13 w 13"/>
                <a:gd name="T51" fmla="*/ 947 h 2285"/>
                <a:gd name="T52" fmla="*/ 0 w 13"/>
                <a:gd name="T53" fmla="*/ 960 h 2285"/>
                <a:gd name="T54" fmla="*/ 13 w 13"/>
                <a:gd name="T55" fmla="*/ 1011 h 2285"/>
                <a:gd name="T56" fmla="*/ 0 w 13"/>
                <a:gd name="T57" fmla="*/ 1050 h 2285"/>
                <a:gd name="T58" fmla="*/ 13 w 13"/>
                <a:gd name="T59" fmla="*/ 1063 h 2285"/>
                <a:gd name="T60" fmla="*/ 13 w 13"/>
                <a:gd name="T61" fmla="*/ 1128 h 2285"/>
                <a:gd name="T62" fmla="*/ 0 w 13"/>
                <a:gd name="T63" fmla="*/ 1141 h 2285"/>
                <a:gd name="T64" fmla="*/ 13 w 13"/>
                <a:gd name="T65" fmla="*/ 1193 h 2285"/>
                <a:gd name="T66" fmla="*/ 0 w 13"/>
                <a:gd name="T67" fmla="*/ 1232 h 2285"/>
                <a:gd name="T68" fmla="*/ 13 w 13"/>
                <a:gd name="T69" fmla="*/ 1245 h 2285"/>
                <a:gd name="T70" fmla="*/ 13 w 13"/>
                <a:gd name="T71" fmla="*/ 1310 h 2285"/>
                <a:gd name="T72" fmla="*/ 0 w 13"/>
                <a:gd name="T73" fmla="*/ 1322 h 2285"/>
                <a:gd name="T74" fmla="*/ 13 w 13"/>
                <a:gd name="T75" fmla="*/ 1374 h 2285"/>
                <a:gd name="T76" fmla="*/ 0 w 13"/>
                <a:gd name="T77" fmla="*/ 1413 h 2285"/>
                <a:gd name="T78" fmla="*/ 13 w 13"/>
                <a:gd name="T79" fmla="*/ 1426 h 2285"/>
                <a:gd name="T80" fmla="*/ 13 w 13"/>
                <a:gd name="T81" fmla="*/ 1491 h 2285"/>
                <a:gd name="T82" fmla="*/ 0 w 13"/>
                <a:gd name="T83" fmla="*/ 1504 h 2285"/>
                <a:gd name="T84" fmla="*/ 13 w 13"/>
                <a:gd name="T85" fmla="*/ 1556 h 2285"/>
                <a:gd name="T86" fmla="*/ 0 w 13"/>
                <a:gd name="T87" fmla="*/ 1595 h 2285"/>
                <a:gd name="T88" fmla="*/ 13 w 13"/>
                <a:gd name="T89" fmla="*/ 1608 h 2285"/>
                <a:gd name="T90" fmla="*/ 13 w 13"/>
                <a:gd name="T91" fmla="*/ 1672 h 2285"/>
                <a:gd name="T92" fmla="*/ 0 w 13"/>
                <a:gd name="T93" fmla="*/ 1686 h 2285"/>
                <a:gd name="T94" fmla="*/ 13 w 13"/>
                <a:gd name="T95" fmla="*/ 1738 h 2285"/>
                <a:gd name="T96" fmla="*/ 0 w 13"/>
                <a:gd name="T97" fmla="*/ 1776 h 2285"/>
                <a:gd name="T98" fmla="*/ 13 w 13"/>
                <a:gd name="T99" fmla="*/ 1789 h 2285"/>
                <a:gd name="T100" fmla="*/ 13 w 13"/>
                <a:gd name="T101" fmla="*/ 1854 h 2285"/>
                <a:gd name="T102" fmla="*/ 0 w 13"/>
                <a:gd name="T103" fmla="*/ 1867 h 2285"/>
                <a:gd name="T104" fmla="*/ 13 w 13"/>
                <a:gd name="T105" fmla="*/ 1919 h 2285"/>
                <a:gd name="T106" fmla="*/ 0 w 13"/>
                <a:gd name="T107" fmla="*/ 1958 h 2285"/>
                <a:gd name="T108" fmla="*/ 13 w 13"/>
                <a:gd name="T109" fmla="*/ 1971 h 2285"/>
                <a:gd name="T110" fmla="*/ 13 w 13"/>
                <a:gd name="T111" fmla="*/ 2036 h 2285"/>
                <a:gd name="T112" fmla="*/ 0 w 13"/>
                <a:gd name="T113" fmla="*/ 2049 h 2285"/>
                <a:gd name="T114" fmla="*/ 13 w 13"/>
                <a:gd name="T115" fmla="*/ 2100 h 2285"/>
                <a:gd name="T116" fmla="*/ 0 w 13"/>
                <a:gd name="T117" fmla="*/ 2139 h 2285"/>
                <a:gd name="T118" fmla="*/ 13 w 13"/>
                <a:gd name="T119" fmla="*/ 2152 h 2285"/>
                <a:gd name="T120" fmla="*/ 13 w 13"/>
                <a:gd name="T121" fmla="*/ 2217 h 2285"/>
                <a:gd name="T122" fmla="*/ 0 w 13"/>
                <a:gd name="T123" fmla="*/ 2230 h 2285"/>
                <a:gd name="T124" fmla="*/ 13 w 13"/>
                <a:gd name="T125" fmla="*/ 2282 h 22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3" h="2285">
                  <a:moveTo>
                    <a:pt x="13" y="0"/>
                  </a:moveTo>
                  <a:lnTo>
                    <a:pt x="13" y="13"/>
                  </a:lnTo>
                  <a:lnTo>
                    <a:pt x="0" y="13"/>
                  </a:lnTo>
                  <a:lnTo>
                    <a:pt x="0" y="0"/>
                  </a:lnTo>
                  <a:lnTo>
                    <a:pt x="13" y="0"/>
                  </a:lnTo>
                  <a:close/>
                  <a:moveTo>
                    <a:pt x="13" y="26"/>
                  </a:moveTo>
                  <a:lnTo>
                    <a:pt x="13" y="39"/>
                  </a:lnTo>
                  <a:lnTo>
                    <a:pt x="0" y="39"/>
                  </a:lnTo>
                  <a:lnTo>
                    <a:pt x="0" y="26"/>
                  </a:lnTo>
                  <a:lnTo>
                    <a:pt x="13" y="26"/>
                  </a:lnTo>
                  <a:close/>
                  <a:moveTo>
                    <a:pt x="13" y="52"/>
                  </a:moveTo>
                  <a:lnTo>
                    <a:pt x="13" y="65"/>
                  </a:lnTo>
                  <a:lnTo>
                    <a:pt x="0" y="65"/>
                  </a:lnTo>
                  <a:lnTo>
                    <a:pt x="0" y="52"/>
                  </a:lnTo>
                  <a:lnTo>
                    <a:pt x="13" y="52"/>
                  </a:lnTo>
                  <a:close/>
                  <a:moveTo>
                    <a:pt x="13" y="78"/>
                  </a:moveTo>
                  <a:lnTo>
                    <a:pt x="13" y="91"/>
                  </a:lnTo>
                  <a:lnTo>
                    <a:pt x="0" y="91"/>
                  </a:lnTo>
                  <a:lnTo>
                    <a:pt x="0" y="78"/>
                  </a:lnTo>
                  <a:lnTo>
                    <a:pt x="13" y="78"/>
                  </a:lnTo>
                  <a:close/>
                  <a:moveTo>
                    <a:pt x="13" y="104"/>
                  </a:moveTo>
                  <a:lnTo>
                    <a:pt x="13" y="117"/>
                  </a:lnTo>
                  <a:lnTo>
                    <a:pt x="0" y="117"/>
                  </a:lnTo>
                  <a:lnTo>
                    <a:pt x="0" y="104"/>
                  </a:lnTo>
                  <a:lnTo>
                    <a:pt x="13" y="104"/>
                  </a:lnTo>
                  <a:close/>
                  <a:moveTo>
                    <a:pt x="13" y="130"/>
                  </a:moveTo>
                  <a:lnTo>
                    <a:pt x="13" y="143"/>
                  </a:lnTo>
                  <a:lnTo>
                    <a:pt x="0" y="143"/>
                  </a:lnTo>
                  <a:lnTo>
                    <a:pt x="0" y="130"/>
                  </a:lnTo>
                  <a:lnTo>
                    <a:pt x="13" y="130"/>
                  </a:lnTo>
                  <a:close/>
                  <a:moveTo>
                    <a:pt x="13" y="156"/>
                  </a:moveTo>
                  <a:lnTo>
                    <a:pt x="13" y="169"/>
                  </a:lnTo>
                  <a:lnTo>
                    <a:pt x="0" y="169"/>
                  </a:lnTo>
                  <a:lnTo>
                    <a:pt x="0" y="156"/>
                  </a:lnTo>
                  <a:lnTo>
                    <a:pt x="13" y="156"/>
                  </a:lnTo>
                  <a:close/>
                  <a:moveTo>
                    <a:pt x="13" y="182"/>
                  </a:moveTo>
                  <a:lnTo>
                    <a:pt x="13" y="194"/>
                  </a:lnTo>
                  <a:lnTo>
                    <a:pt x="0" y="194"/>
                  </a:lnTo>
                  <a:lnTo>
                    <a:pt x="0" y="182"/>
                  </a:lnTo>
                  <a:lnTo>
                    <a:pt x="13" y="182"/>
                  </a:lnTo>
                  <a:close/>
                  <a:moveTo>
                    <a:pt x="13" y="208"/>
                  </a:moveTo>
                  <a:lnTo>
                    <a:pt x="13" y="221"/>
                  </a:lnTo>
                  <a:lnTo>
                    <a:pt x="0" y="221"/>
                  </a:lnTo>
                  <a:lnTo>
                    <a:pt x="0" y="208"/>
                  </a:lnTo>
                  <a:lnTo>
                    <a:pt x="13" y="208"/>
                  </a:lnTo>
                  <a:close/>
                  <a:moveTo>
                    <a:pt x="13" y="233"/>
                  </a:moveTo>
                  <a:lnTo>
                    <a:pt x="13" y="246"/>
                  </a:lnTo>
                  <a:lnTo>
                    <a:pt x="0" y="246"/>
                  </a:lnTo>
                  <a:lnTo>
                    <a:pt x="0" y="233"/>
                  </a:lnTo>
                  <a:lnTo>
                    <a:pt x="13" y="233"/>
                  </a:lnTo>
                  <a:close/>
                  <a:moveTo>
                    <a:pt x="13" y="259"/>
                  </a:moveTo>
                  <a:lnTo>
                    <a:pt x="13" y="272"/>
                  </a:lnTo>
                  <a:lnTo>
                    <a:pt x="0" y="272"/>
                  </a:lnTo>
                  <a:lnTo>
                    <a:pt x="0" y="259"/>
                  </a:lnTo>
                  <a:lnTo>
                    <a:pt x="13" y="259"/>
                  </a:lnTo>
                  <a:close/>
                  <a:moveTo>
                    <a:pt x="13" y="285"/>
                  </a:moveTo>
                  <a:lnTo>
                    <a:pt x="13" y="298"/>
                  </a:lnTo>
                  <a:lnTo>
                    <a:pt x="0" y="298"/>
                  </a:lnTo>
                  <a:lnTo>
                    <a:pt x="0" y="285"/>
                  </a:lnTo>
                  <a:lnTo>
                    <a:pt x="13" y="285"/>
                  </a:lnTo>
                  <a:close/>
                  <a:moveTo>
                    <a:pt x="13" y="311"/>
                  </a:moveTo>
                  <a:lnTo>
                    <a:pt x="13" y="324"/>
                  </a:lnTo>
                  <a:lnTo>
                    <a:pt x="0" y="324"/>
                  </a:lnTo>
                  <a:lnTo>
                    <a:pt x="0" y="311"/>
                  </a:lnTo>
                  <a:lnTo>
                    <a:pt x="13" y="311"/>
                  </a:lnTo>
                  <a:close/>
                  <a:moveTo>
                    <a:pt x="13" y="337"/>
                  </a:moveTo>
                  <a:lnTo>
                    <a:pt x="13" y="350"/>
                  </a:lnTo>
                  <a:lnTo>
                    <a:pt x="0" y="350"/>
                  </a:lnTo>
                  <a:lnTo>
                    <a:pt x="0" y="337"/>
                  </a:lnTo>
                  <a:lnTo>
                    <a:pt x="13" y="337"/>
                  </a:lnTo>
                  <a:close/>
                  <a:moveTo>
                    <a:pt x="13" y="363"/>
                  </a:moveTo>
                  <a:lnTo>
                    <a:pt x="13" y="376"/>
                  </a:lnTo>
                  <a:lnTo>
                    <a:pt x="0" y="376"/>
                  </a:lnTo>
                  <a:lnTo>
                    <a:pt x="0" y="363"/>
                  </a:lnTo>
                  <a:lnTo>
                    <a:pt x="13" y="363"/>
                  </a:lnTo>
                  <a:close/>
                  <a:moveTo>
                    <a:pt x="13" y="389"/>
                  </a:moveTo>
                  <a:lnTo>
                    <a:pt x="13" y="402"/>
                  </a:lnTo>
                  <a:lnTo>
                    <a:pt x="0" y="402"/>
                  </a:lnTo>
                  <a:lnTo>
                    <a:pt x="0" y="389"/>
                  </a:lnTo>
                  <a:lnTo>
                    <a:pt x="13" y="389"/>
                  </a:lnTo>
                  <a:close/>
                  <a:moveTo>
                    <a:pt x="13" y="415"/>
                  </a:moveTo>
                  <a:lnTo>
                    <a:pt x="13" y="428"/>
                  </a:lnTo>
                  <a:lnTo>
                    <a:pt x="0" y="428"/>
                  </a:lnTo>
                  <a:lnTo>
                    <a:pt x="0" y="415"/>
                  </a:lnTo>
                  <a:lnTo>
                    <a:pt x="13" y="415"/>
                  </a:lnTo>
                  <a:close/>
                  <a:moveTo>
                    <a:pt x="13" y="441"/>
                  </a:moveTo>
                  <a:lnTo>
                    <a:pt x="13" y="454"/>
                  </a:lnTo>
                  <a:lnTo>
                    <a:pt x="0" y="454"/>
                  </a:lnTo>
                  <a:lnTo>
                    <a:pt x="0" y="441"/>
                  </a:lnTo>
                  <a:lnTo>
                    <a:pt x="13" y="441"/>
                  </a:lnTo>
                  <a:close/>
                  <a:moveTo>
                    <a:pt x="13" y="467"/>
                  </a:moveTo>
                  <a:lnTo>
                    <a:pt x="13" y="480"/>
                  </a:lnTo>
                  <a:lnTo>
                    <a:pt x="0" y="480"/>
                  </a:lnTo>
                  <a:lnTo>
                    <a:pt x="0" y="467"/>
                  </a:lnTo>
                  <a:lnTo>
                    <a:pt x="13" y="467"/>
                  </a:lnTo>
                  <a:close/>
                  <a:moveTo>
                    <a:pt x="13" y="493"/>
                  </a:moveTo>
                  <a:lnTo>
                    <a:pt x="13" y="506"/>
                  </a:lnTo>
                  <a:lnTo>
                    <a:pt x="0" y="506"/>
                  </a:lnTo>
                  <a:lnTo>
                    <a:pt x="0" y="493"/>
                  </a:lnTo>
                  <a:lnTo>
                    <a:pt x="13" y="493"/>
                  </a:lnTo>
                  <a:close/>
                  <a:moveTo>
                    <a:pt x="13" y="519"/>
                  </a:moveTo>
                  <a:lnTo>
                    <a:pt x="13" y="532"/>
                  </a:lnTo>
                  <a:lnTo>
                    <a:pt x="0" y="532"/>
                  </a:lnTo>
                  <a:lnTo>
                    <a:pt x="0" y="519"/>
                  </a:lnTo>
                  <a:lnTo>
                    <a:pt x="13" y="519"/>
                  </a:lnTo>
                  <a:close/>
                  <a:moveTo>
                    <a:pt x="13" y="545"/>
                  </a:moveTo>
                  <a:lnTo>
                    <a:pt x="13" y="558"/>
                  </a:lnTo>
                  <a:lnTo>
                    <a:pt x="0" y="558"/>
                  </a:lnTo>
                  <a:lnTo>
                    <a:pt x="0" y="545"/>
                  </a:lnTo>
                  <a:lnTo>
                    <a:pt x="13" y="545"/>
                  </a:lnTo>
                  <a:close/>
                  <a:moveTo>
                    <a:pt x="13" y="571"/>
                  </a:moveTo>
                  <a:lnTo>
                    <a:pt x="13" y="583"/>
                  </a:lnTo>
                  <a:lnTo>
                    <a:pt x="0" y="583"/>
                  </a:lnTo>
                  <a:lnTo>
                    <a:pt x="0" y="571"/>
                  </a:lnTo>
                  <a:lnTo>
                    <a:pt x="13" y="571"/>
                  </a:lnTo>
                  <a:close/>
                  <a:moveTo>
                    <a:pt x="13" y="596"/>
                  </a:moveTo>
                  <a:lnTo>
                    <a:pt x="13" y="610"/>
                  </a:lnTo>
                  <a:lnTo>
                    <a:pt x="0" y="610"/>
                  </a:lnTo>
                  <a:lnTo>
                    <a:pt x="0" y="596"/>
                  </a:lnTo>
                  <a:lnTo>
                    <a:pt x="13" y="596"/>
                  </a:lnTo>
                  <a:close/>
                  <a:moveTo>
                    <a:pt x="13" y="622"/>
                  </a:moveTo>
                  <a:lnTo>
                    <a:pt x="13" y="635"/>
                  </a:lnTo>
                  <a:lnTo>
                    <a:pt x="0" y="635"/>
                  </a:lnTo>
                  <a:lnTo>
                    <a:pt x="0" y="622"/>
                  </a:lnTo>
                  <a:lnTo>
                    <a:pt x="13" y="622"/>
                  </a:lnTo>
                  <a:close/>
                  <a:moveTo>
                    <a:pt x="13" y="648"/>
                  </a:moveTo>
                  <a:lnTo>
                    <a:pt x="13" y="661"/>
                  </a:lnTo>
                  <a:lnTo>
                    <a:pt x="0" y="661"/>
                  </a:lnTo>
                  <a:lnTo>
                    <a:pt x="0" y="648"/>
                  </a:lnTo>
                  <a:lnTo>
                    <a:pt x="13" y="648"/>
                  </a:lnTo>
                  <a:close/>
                  <a:moveTo>
                    <a:pt x="13" y="674"/>
                  </a:moveTo>
                  <a:lnTo>
                    <a:pt x="13" y="687"/>
                  </a:lnTo>
                  <a:lnTo>
                    <a:pt x="0" y="687"/>
                  </a:lnTo>
                  <a:lnTo>
                    <a:pt x="0" y="674"/>
                  </a:lnTo>
                  <a:lnTo>
                    <a:pt x="13" y="674"/>
                  </a:lnTo>
                  <a:close/>
                  <a:moveTo>
                    <a:pt x="13" y="700"/>
                  </a:moveTo>
                  <a:lnTo>
                    <a:pt x="13" y="713"/>
                  </a:lnTo>
                  <a:lnTo>
                    <a:pt x="0" y="713"/>
                  </a:lnTo>
                  <a:lnTo>
                    <a:pt x="0" y="700"/>
                  </a:lnTo>
                  <a:lnTo>
                    <a:pt x="13" y="700"/>
                  </a:lnTo>
                  <a:close/>
                  <a:moveTo>
                    <a:pt x="13" y="726"/>
                  </a:moveTo>
                  <a:lnTo>
                    <a:pt x="13" y="739"/>
                  </a:lnTo>
                  <a:lnTo>
                    <a:pt x="0" y="739"/>
                  </a:lnTo>
                  <a:lnTo>
                    <a:pt x="0" y="726"/>
                  </a:lnTo>
                  <a:lnTo>
                    <a:pt x="13" y="726"/>
                  </a:lnTo>
                  <a:close/>
                  <a:moveTo>
                    <a:pt x="13" y="752"/>
                  </a:moveTo>
                  <a:lnTo>
                    <a:pt x="13" y="765"/>
                  </a:lnTo>
                  <a:lnTo>
                    <a:pt x="0" y="765"/>
                  </a:lnTo>
                  <a:lnTo>
                    <a:pt x="0" y="752"/>
                  </a:lnTo>
                  <a:lnTo>
                    <a:pt x="13" y="752"/>
                  </a:lnTo>
                  <a:close/>
                  <a:moveTo>
                    <a:pt x="13" y="778"/>
                  </a:moveTo>
                  <a:lnTo>
                    <a:pt x="13" y="791"/>
                  </a:lnTo>
                  <a:lnTo>
                    <a:pt x="0" y="791"/>
                  </a:lnTo>
                  <a:lnTo>
                    <a:pt x="0" y="778"/>
                  </a:lnTo>
                  <a:lnTo>
                    <a:pt x="13" y="778"/>
                  </a:lnTo>
                  <a:close/>
                  <a:moveTo>
                    <a:pt x="13" y="804"/>
                  </a:moveTo>
                  <a:lnTo>
                    <a:pt x="13" y="817"/>
                  </a:lnTo>
                  <a:lnTo>
                    <a:pt x="0" y="817"/>
                  </a:lnTo>
                  <a:lnTo>
                    <a:pt x="0" y="804"/>
                  </a:lnTo>
                  <a:lnTo>
                    <a:pt x="13" y="804"/>
                  </a:lnTo>
                  <a:close/>
                  <a:moveTo>
                    <a:pt x="13" y="830"/>
                  </a:moveTo>
                  <a:lnTo>
                    <a:pt x="13" y="843"/>
                  </a:lnTo>
                  <a:lnTo>
                    <a:pt x="0" y="843"/>
                  </a:lnTo>
                  <a:lnTo>
                    <a:pt x="0" y="830"/>
                  </a:lnTo>
                  <a:lnTo>
                    <a:pt x="13" y="830"/>
                  </a:lnTo>
                  <a:close/>
                  <a:moveTo>
                    <a:pt x="13" y="856"/>
                  </a:moveTo>
                  <a:lnTo>
                    <a:pt x="13" y="869"/>
                  </a:lnTo>
                  <a:lnTo>
                    <a:pt x="0" y="869"/>
                  </a:lnTo>
                  <a:lnTo>
                    <a:pt x="0" y="856"/>
                  </a:lnTo>
                  <a:lnTo>
                    <a:pt x="13" y="856"/>
                  </a:lnTo>
                  <a:close/>
                  <a:moveTo>
                    <a:pt x="13" y="882"/>
                  </a:moveTo>
                  <a:lnTo>
                    <a:pt x="13" y="895"/>
                  </a:lnTo>
                  <a:lnTo>
                    <a:pt x="0" y="895"/>
                  </a:lnTo>
                  <a:lnTo>
                    <a:pt x="0" y="882"/>
                  </a:lnTo>
                  <a:lnTo>
                    <a:pt x="13" y="882"/>
                  </a:lnTo>
                  <a:close/>
                  <a:moveTo>
                    <a:pt x="13" y="908"/>
                  </a:moveTo>
                  <a:lnTo>
                    <a:pt x="13" y="921"/>
                  </a:lnTo>
                  <a:lnTo>
                    <a:pt x="0" y="921"/>
                  </a:lnTo>
                  <a:lnTo>
                    <a:pt x="0" y="908"/>
                  </a:lnTo>
                  <a:lnTo>
                    <a:pt x="13" y="908"/>
                  </a:lnTo>
                  <a:close/>
                  <a:moveTo>
                    <a:pt x="13" y="933"/>
                  </a:moveTo>
                  <a:lnTo>
                    <a:pt x="13" y="947"/>
                  </a:lnTo>
                  <a:lnTo>
                    <a:pt x="0" y="947"/>
                  </a:lnTo>
                  <a:lnTo>
                    <a:pt x="0" y="933"/>
                  </a:lnTo>
                  <a:lnTo>
                    <a:pt x="13" y="933"/>
                  </a:lnTo>
                  <a:close/>
                  <a:moveTo>
                    <a:pt x="13" y="960"/>
                  </a:moveTo>
                  <a:lnTo>
                    <a:pt x="13" y="972"/>
                  </a:lnTo>
                  <a:lnTo>
                    <a:pt x="0" y="972"/>
                  </a:lnTo>
                  <a:lnTo>
                    <a:pt x="0" y="960"/>
                  </a:lnTo>
                  <a:lnTo>
                    <a:pt x="13" y="960"/>
                  </a:lnTo>
                  <a:close/>
                  <a:moveTo>
                    <a:pt x="13" y="985"/>
                  </a:moveTo>
                  <a:lnTo>
                    <a:pt x="13" y="999"/>
                  </a:lnTo>
                  <a:lnTo>
                    <a:pt x="0" y="999"/>
                  </a:lnTo>
                  <a:lnTo>
                    <a:pt x="0" y="985"/>
                  </a:lnTo>
                  <a:lnTo>
                    <a:pt x="13" y="985"/>
                  </a:lnTo>
                  <a:close/>
                  <a:moveTo>
                    <a:pt x="13" y="1011"/>
                  </a:moveTo>
                  <a:lnTo>
                    <a:pt x="13" y="1024"/>
                  </a:lnTo>
                  <a:lnTo>
                    <a:pt x="0" y="1024"/>
                  </a:lnTo>
                  <a:lnTo>
                    <a:pt x="0" y="1011"/>
                  </a:lnTo>
                  <a:lnTo>
                    <a:pt x="13" y="1011"/>
                  </a:lnTo>
                  <a:close/>
                  <a:moveTo>
                    <a:pt x="13" y="1037"/>
                  </a:moveTo>
                  <a:lnTo>
                    <a:pt x="13" y="1050"/>
                  </a:lnTo>
                  <a:lnTo>
                    <a:pt x="0" y="1050"/>
                  </a:lnTo>
                  <a:lnTo>
                    <a:pt x="0" y="1037"/>
                  </a:lnTo>
                  <a:lnTo>
                    <a:pt x="13" y="1037"/>
                  </a:lnTo>
                  <a:close/>
                  <a:moveTo>
                    <a:pt x="13" y="1063"/>
                  </a:moveTo>
                  <a:lnTo>
                    <a:pt x="13" y="1076"/>
                  </a:lnTo>
                  <a:lnTo>
                    <a:pt x="0" y="1076"/>
                  </a:lnTo>
                  <a:lnTo>
                    <a:pt x="0" y="1063"/>
                  </a:lnTo>
                  <a:lnTo>
                    <a:pt x="13" y="1063"/>
                  </a:lnTo>
                  <a:close/>
                  <a:moveTo>
                    <a:pt x="13" y="1089"/>
                  </a:moveTo>
                  <a:lnTo>
                    <a:pt x="13" y="1102"/>
                  </a:lnTo>
                  <a:lnTo>
                    <a:pt x="0" y="1102"/>
                  </a:lnTo>
                  <a:lnTo>
                    <a:pt x="0" y="1089"/>
                  </a:lnTo>
                  <a:lnTo>
                    <a:pt x="13" y="1089"/>
                  </a:lnTo>
                  <a:close/>
                  <a:moveTo>
                    <a:pt x="13" y="1115"/>
                  </a:moveTo>
                  <a:lnTo>
                    <a:pt x="13" y="1128"/>
                  </a:lnTo>
                  <a:lnTo>
                    <a:pt x="0" y="1128"/>
                  </a:lnTo>
                  <a:lnTo>
                    <a:pt x="0" y="1115"/>
                  </a:lnTo>
                  <a:lnTo>
                    <a:pt x="13" y="1115"/>
                  </a:lnTo>
                  <a:close/>
                  <a:moveTo>
                    <a:pt x="13" y="1141"/>
                  </a:moveTo>
                  <a:lnTo>
                    <a:pt x="13" y="1154"/>
                  </a:lnTo>
                  <a:lnTo>
                    <a:pt x="0" y="1154"/>
                  </a:lnTo>
                  <a:lnTo>
                    <a:pt x="0" y="1141"/>
                  </a:lnTo>
                  <a:lnTo>
                    <a:pt x="13" y="1141"/>
                  </a:lnTo>
                  <a:close/>
                  <a:moveTo>
                    <a:pt x="13" y="1167"/>
                  </a:moveTo>
                  <a:lnTo>
                    <a:pt x="13" y="1180"/>
                  </a:lnTo>
                  <a:lnTo>
                    <a:pt x="0" y="1180"/>
                  </a:lnTo>
                  <a:lnTo>
                    <a:pt x="0" y="1167"/>
                  </a:lnTo>
                  <a:lnTo>
                    <a:pt x="13" y="1167"/>
                  </a:lnTo>
                  <a:close/>
                  <a:moveTo>
                    <a:pt x="13" y="1193"/>
                  </a:moveTo>
                  <a:lnTo>
                    <a:pt x="13" y="1206"/>
                  </a:lnTo>
                  <a:lnTo>
                    <a:pt x="0" y="1206"/>
                  </a:lnTo>
                  <a:lnTo>
                    <a:pt x="0" y="1193"/>
                  </a:lnTo>
                  <a:lnTo>
                    <a:pt x="13" y="1193"/>
                  </a:lnTo>
                  <a:close/>
                  <a:moveTo>
                    <a:pt x="13" y="1219"/>
                  </a:moveTo>
                  <a:lnTo>
                    <a:pt x="13" y="1232"/>
                  </a:lnTo>
                  <a:lnTo>
                    <a:pt x="0" y="1232"/>
                  </a:lnTo>
                  <a:lnTo>
                    <a:pt x="0" y="1219"/>
                  </a:lnTo>
                  <a:lnTo>
                    <a:pt x="13" y="1219"/>
                  </a:lnTo>
                  <a:close/>
                  <a:moveTo>
                    <a:pt x="13" y="1245"/>
                  </a:moveTo>
                  <a:lnTo>
                    <a:pt x="13" y="1258"/>
                  </a:lnTo>
                  <a:lnTo>
                    <a:pt x="0" y="1258"/>
                  </a:lnTo>
                  <a:lnTo>
                    <a:pt x="0" y="1245"/>
                  </a:lnTo>
                  <a:lnTo>
                    <a:pt x="13" y="1245"/>
                  </a:lnTo>
                  <a:close/>
                  <a:moveTo>
                    <a:pt x="13" y="1271"/>
                  </a:moveTo>
                  <a:lnTo>
                    <a:pt x="13" y="1284"/>
                  </a:lnTo>
                  <a:lnTo>
                    <a:pt x="0" y="1284"/>
                  </a:lnTo>
                  <a:lnTo>
                    <a:pt x="0" y="1271"/>
                  </a:lnTo>
                  <a:lnTo>
                    <a:pt x="13" y="1271"/>
                  </a:lnTo>
                  <a:close/>
                  <a:moveTo>
                    <a:pt x="13" y="1297"/>
                  </a:moveTo>
                  <a:lnTo>
                    <a:pt x="13" y="1310"/>
                  </a:lnTo>
                  <a:lnTo>
                    <a:pt x="0" y="1310"/>
                  </a:lnTo>
                  <a:lnTo>
                    <a:pt x="0" y="1297"/>
                  </a:lnTo>
                  <a:lnTo>
                    <a:pt x="13" y="1297"/>
                  </a:lnTo>
                  <a:close/>
                  <a:moveTo>
                    <a:pt x="13" y="1322"/>
                  </a:moveTo>
                  <a:lnTo>
                    <a:pt x="13" y="1335"/>
                  </a:lnTo>
                  <a:lnTo>
                    <a:pt x="0" y="1335"/>
                  </a:lnTo>
                  <a:lnTo>
                    <a:pt x="0" y="1322"/>
                  </a:lnTo>
                  <a:lnTo>
                    <a:pt x="13" y="1322"/>
                  </a:lnTo>
                  <a:close/>
                  <a:moveTo>
                    <a:pt x="13" y="1349"/>
                  </a:moveTo>
                  <a:lnTo>
                    <a:pt x="13" y="1361"/>
                  </a:lnTo>
                  <a:lnTo>
                    <a:pt x="0" y="1361"/>
                  </a:lnTo>
                  <a:lnTo>
                    <a:pt x="0" y="1349"/>
                  </a:lnTo>
                  <a:lnTo>
                    <a:pt x="13" y="1349"/>
                  </a:lnTo>
                  <a:close/>
                  <a:moveTo>
                    <a:pt x="13" y="1374"/>
                  </a:moveTo>
                  <a:lnTo>
                    <a:pt x="13" y="1387"/>
                  </a:lnTo>
                  <a:lnTo>
                    <a:pt x="0" y="1387"/>
                  </a:lnTo>
                  <a:lnTo>
                    <a:pt x="0" y="1374"/>
                  </a:lnTo>
                  <a:lnTo>
                    <a:pt x="13" y="1374"/>
                  </a:lnTo>
                  <a:close/>
                  <a:moveTo>
                    <a:pt x="13" y="1400"/>
                  </a:moveTo>
                  <a:lnTo>
                    <a:pt x="13" y="1413"/>
                  </a:lnTo>
                  <a:lnTo>
                    <a:pt x="0" y="1413"/>
                  </a:lnTo>
                  <a:lnTo>
                    <a:pt x="0" y="1400"/>
                  </a:lnTo>
                  <a:lnTo>
                    <a:pt x="13" y="1400"/>
                  </a:lnTo>
                  <a:close/>
                  <a:moveTo>
                    <a:pt x="13" y="1426"/>
                  </a:moveTo>
                  <a:lnTo>
                    <a:pt x="13" y="1439"/>
                  </a:lnTo>
                  <a:lnTo>
                    <a:pt x="0" y="1439"/>
                  </a:lnTo>
                  <a:lnTo>
                    <a:pt x="0" y="1426"/>
                  </a:lnTo>
                  <a:lnTo>
                    <a:pt x="13" y="1426"/>
                  </a:lnTo>
                  <a:close/>
                  <a:moveTo>
                    <a:pt x="13" y="1452"/>
                  </a:moveTo>
                  <a:lnTo>
                    <a:pt x="13" y="1465"/>
                  </a:lnTo>
                  <a:lnTo>
                    <a:pt x="0" y="1465"/>
                  </a:lnTo>
                  <a:lnTo>
                    <a:pt x="0" y="1452"/>
                  </a:lnTo>
                  <a:lnTo>
                    <a:pt x="13" y="1452"/>
                  </a:lnTo>
                  <a:close/>
                  <a:moveTo>
                    <a:pt x="13" y="1478"/>
                  </a:moveTo>
                  <a:lnTo>
                    <a:pt x="13" y="1491"/>
                  </a:lnTo>
                  <a:lnTo>
                    <a:pt x="0" y="1491"/>
                  </a:lnTo>
                  <a:lnTo>
                    <a:pt x="0" y="1478"/>
                  </a:lnTo>
                  <a:lnTo>
                    <a:pt x="13" y="1478"/>
                  </a:lnTo>
                  <a:close/>
                  <a:moveTo>
                    <a:pt x="13" y="1504"/>
                  </a:moveTo>
                  <a:lnTo>
                    <a:pt x="13" y="1517"/>
                  </a:lnTo>
                  <a:lnTo>
                    <a:pt x="0" y="1517"/>
                  </a:lnTo>
                  <a:lnTo>
                    <a:pt x="0" y="1504"/>
                  </a:lnTo>
                  <a:lnTo>
                    <a:pt x="13" y="1504"/>
                  </a:lnTo>
                  <a:close/>
                  <a:moveTo>
                    <a:pt x="13" y="1530"/>
                  </a:moveTo>
                  <a:lnTo>
                    <a:pt x="13" y="1543"/>
                  </a:lnTo>
                  <a:lnTo>
                    <a:pt x="0" y="1543"/>
                  </a:lnTo>
                  <a:lnTo>
                    <a:pt x="0" y="1530"/>
                  </a:lnTo>
                  <a:lnTo>
                    <a:pt x="13" y="1530"/>
                  </a:lnTo>
                  <a:close/>
                  <a:moveTo>
                    <a:pt x="13" y="1556"/>
                  </a:moveTo>
                  <a:lnTo>
                    <a:pt x="13" y="1569"/>
                  </a:lnTo>
                  <a:lnTo>
                    <a:pt x="0" y="1569"/>
                  </a:lnTo>
                  <a:lnTo>
                    <a:pt x="0" y="1556"/>
                  </a:lnTo>
                  <a:lnTo>
                    <a:pt x="13" y="1556"/>
                  </a:lnTo>
                  <a:close/>
                  <a:moveTo>
                    <a:pt x="13" y="1582"/>
                  </a:moveTo>
                  <a:lnTo>
                    <a:pt x="13" y="1595"/>
                  </a:lnTo>
                  <a:lnTo>
                    <a:pt x="0" y="1595"/>
                  </a:lnTo>
                  <a:lnTo>
                    <a:pt x="0" y="1582"/>
                  </a:lnTo>
                  <a:lnTo>
                    <a:pt x="13" y="1582"/>
                  </a:lnTo>
                  <a:close/>
                  <a:moveTo>
                    <a:pt x="13" y="1608"/>
                  </a:moveTo>
                  <a:lnTo>
                    <a:pt x="13" y="1621"/>
                  </a:lnTo>
                  <a:lnTo>
                    <a:pt x="0" y="1621"/>
                  </a:lnTo>
                  <a:lnTo>
                    <a:pt x="0" y="1608"/>
                  </a:lnTo>
                  <a:lnTo>
                    <a:pt x="13" y="1608"/>
                  </a:lnTo>
                  <a:close/>
                  <a:moveTo>
                    <a:pt x="13" y="1634"/>
                  </a:moveTo>
                  <a:lnTo>
                    <a:pt x="13" y="1647"/>
                  </a:lnTo>
                  <a:lnTo>
                    <a:pt x="0" y="1647"/>
                  </a:lnTo>
                  <a:lnTo>
                    <a:pt x="0" y="1634"/>
                  </a:lnTo>
                  <a:lnTo>
                    <a:pt x="13" y="1634"/>
                  </a:lnTo>
                  <a:close/>
                  <a:moveTo>
                    <a:pt x="13" y="1660"/>
                  </a:moveTo>
                  <a:lnTo>
                    <a:pt x="13" y="1672"/>
                  </a:lnTo>
                  <a:lnTo>
                    <a:pt x="0" y="1672"/>
                  </a:lnTo>
                  <a:lnTo>
                    <a:pt x="0" y="1660"/>
                  </a:lnTo>
                  <a:lnTo>
                    <a:pt x="13" y="1660"/>
                  </a:lnTo>
                  <a:close/>
                  <a:moveTo>
                    <a:pt x="13" y="1686"/>
                  </a:moveTo>
                  <a:lnTo>
                    <a:pt x="13" y="1699"/>
                  </a:lnTo>
                  <a:lnTo>
                    <a:pt x="0" y="1699"/>
                  </a:lnTo>
                  <a:lnTo>
                    <a:pt x="0" y="1686"/>
                  </a:lnTo>
                  <a:lnTo>
                    <a:pt x="13" y="1686"/>
                  </a:lnTo>
                  <a:close/>
                  <a:moveTo>
                    <a:pt x="13" y="1711"/>
                  </a:moveTo>
                  <a:lnTo>
                    <a:pt x="13" y="1724"/>
                  </a:lnTo>
                  <a:lnTo>
                    <a:pt x="0" y="1724"/>
                  </a:lnTo>
                  <a:lnTo>
                    <a:pt x="0" y="1711"/>
                  </a:lnTo>
                  <a:lnTo>
                    <a:pt x="13" y="1711"/>
                  </a:lnTo>
                  <a:close/>
                  <a:moveTo>
                    <a:pt x="13" y="1738"/>
                  </a:moveTo>
                  <a:lnTo>
                    <a:pt x="13" y="1750"/>
                  </a:lnTo>
                  <a:lnTo>
                    <a:pt x="0" y="1750"/>
                  </a:lnTo>
                  <a:lnTo>
                    <a:pt x="0" y="1738"/>
                  </a:lnTo>
                  <a:lnTo>
                    <a:pt x="13" y="1738"/>
                  </a:lnTo>
                  <a:close/>
                  <a:moveTo>
                    <a:pt x="13" y="1763"/>
                  </a:moveTo>
                  <a:lnTo>
                    <a:pt x="13" y="1776"/>
                  </a:lnTo>
                  <a:lnTo>
                    <a:pt x="0" y="1776"/>
                  </a:lnTo>
                  <a:lnTo>
                    <a:pt x="0" y="1763"/>
                  </a:lnTo>
                  <a:lnTo>
                    <a:pt x="13" y="1763"/>
                  </a:lnTo>
                  <a:close/>
                  <a:moveTo>
                    <a:pt x="13" y="1789"/>
                  </a:moveTo>
                  <a:lnTo>
                    <a:pt x="13" y="1802"/>
                  </a:lnTo>
                  <a:lnTo>
                    <a:pt x="0" y="1802"/>
                  </a:lnTo>
                  <a:lnTo>
                    <a:pt x="0" y="1789"/>
                  </a:lnTo>
                  <a:lnTo>
                    <a:pt x="13" y="1789"/>
                  </a:lnTo>
                  <a:close/>
                  <a:moveTo>
                    <a:pt x="13" y="1815"/>
                  </a:moveTo>
                  <a:lnTo>
                    <a:pt x="13" y="1828"/>
                  </a:lnTo>
                  <a:lnTo>
                    <a:pt x="0" y="1828"/>
                  </a:lnTo>
                  <a:lnTo>
                    <a:pt x="0" y="1815"/>
                  </a:lnTo>
                  <a:lnTo>
                    <a:pt x="13" y="1815"/>
                  </a:lnTo>
                  <a:close/>
                  <a:moveTo>
                    <a:pt x="13" y="1841"/>
                  </a:moveTo>
                  <a:lnTo>
                    <a:pt x="13" y="1854"/>
                  </a:lnTo>
                  <a:lnTo>
                    <a:pt x="0" y="1854"/>
                  </a:lnTo>
                  <a:lnTo>
                    <a:pt x="0" y="1841"/>
                  </a:lnTo>
                  <a:lnTo>
                    <a:pt x="13" y="1841"/>
                  </a:lnTo>
                  <a:close/>
                  <a:moveTo>
                    <a:pt x="13" y="1867"/>
                  </a:moveTo>
                  <a:lnTo>
                    <a:pt x="13" y="1880"/>
                  </a:lnTo>
                  <a:lnTo>
                    <a:pt x="0" y="1880"/>
                  </a:lnTo>
                  <a:lnTo>
                    <a:pt x="0" y="1867"/>
                  </a:lnTo>
                  <a:lnTo>
                    <a:pt x="13" y="1867"/>
                  </a:lnTo>
                  <a:close/>
                  <a:moveTo>
                    <a:pt x="13" y="1893"/>
                  </a:moveTo>
                  <a:lnTo>
                    <a:pt x="13" y="1906"/>
                  </a:lnTo>
                  <a:lnTo>
                    <a:pt x="0" y="1906"/>
                  </a:lnTo>
                  <a:lnTo>
                    <a:pt x="0" y="1893"/>
                  </a:lnTo>
                  <a:lnTo>
                    <a:pt x="13" y="1893"/>
                  </a:lnTo>
                  <a:close/>
                  <a:moveTo>
                    <a:pt x="13" y="1919"/>
                  </a:moveTo>
                  <a:lnTo>
                    <a:pt x="13" y="1932"/>
                  </a:lnTo>
                  <a:lnTo>
                    <a:pt x="0" y="1932"/>
                  </a:lnTo>
                  <a:lnTo>
                    <a:pt x="0" y="1919"/>
                  </a:lnTo>
                  <a:lnTo>
                    <a:pt x="13" y="1919"/>
                  </a:lnTo>
                  <a:close/>
                  <a:moveTo>
                    <a:pt x="13" y="1945"/>
                  </a:moveTo>
                  <a:lnTo>
                    <a:pt x="13" y="1958"/>
                  </a:lnTo>
                  <a:lnTo>
                    <a:pt x="0" y="1958"/>
                  </a:lnTo>
                  <a:lnTo>
                    <a:pt x="0" y="1945"/>
                  </a:lnTo>
                  <a:lnTo>
                    <a:pt x="13" y="1945"/>
                  </a:lnTo>
                  <a:close/>
                  <a:moveTo>
                    <a:pt x="13" y="1971"/>
                  </a:moveTo>
                  <a:lnTo>
                    <a:pt x="13" y="1984"/>
                  </a:lnTo>
                  <a:lnTo>
                    <a:pt x="0" y="1984"/>
                  </a:lnTo>
                  <a:lnTo>
                    <a:pt x="0" y="1971"/>
                  </a:lnTo>
                  <a:lnTo>
                    <a:pt x="13" y="1971"/>
                  </a:lnTo>
                  <a:close/>
                  <a:moveTo>
                    <a:pt x="13" y="1997"/>
                  </a:moveTo>
                  <a:lnTo>
                    <a:pt x="13" y="2010"/>
                  </a:lnTo>
                  <a:lnTo>
                    <a:pt x="0" y="2010"/>
                  </a:lnTo>
                  <a:lnTo>
                    <a:pt x="0" y="1997"/>
                  </a:lnTo>
                  <a:lnTo>
                    <a:pt x="13" y="1997"/>
                  </a:lnTo>
                  <a:close/>
                  <a:moveTo>
                    <a:pt x="13" y="2023"/>
                  </a:moveTo>
                  <a:lnTo>
                    <a:pt x="13" y="2036"/>
                  </a:lnTo>
                  <a:lnTo>
                    <a:pt x="0" y="2036"/>
                  </a:lnTo>
                  <a:lnTo>
                    <a:pt x="0" y="2023"/>
                  </a:lnTo>
                  <a:lnTo>
                    <a:pt x="13" y="2023"/>
                  </a:lnTo>
                  <a:close/>
                  <a:moveTo>
                    <a:pt x="13" y="2049"/>
                  </a:moveTo>
                  <a:lnTo>
                    <a:pt x="13" y="2061"/>
                  </a:lnTo>
                  <a:lnTo>
                    <a:pt x="0" y="2061"/>
                  </a:lnTo>
                  <a:lnTo>
                    <a:pt x="0" y="2049"/>
                  </a:lnTo>
                  <a:lnTo>
                    <a:pt x="13" y="2049"/>
                  </a:lnTo>
                  <a:close/>
                  <a:moveTo>
                    <a:pt x="13" y="2075"/>
                  </a:moveTo>
                  <a:lnTo>
                    <a:pt x="13" y="2088"/>
                  </a:lnTo>
                  <a:lnTo>
                    <a:pt x="0" y="2088"/>
                  </a:lnTo>
                  <a:lnTo>
                    <a:pt x="0" y="2075"/>
                  </a:lnTo>
                  <a:lnTo>
                    <a:pt x="13" y="2075"/>
                  </a:lnTo>
                  <a:close/>
                  <a:moveTo>
                    <a:pt x="13" y="2100"/>
                  </a:moveTo>
                  <a:lnTo>
                    <a:pt x="13" y="2113"/>
                  </a:lnTo>
                  <a:lnTo>
                    <a:pt x="0" y="2113"/>
                  </a:lnTo>
                  <a:lnTo>
                    <a:pt x="0" y="2100"/>
                  </a:lnTo>
                  <a:lnTo>
                    <a:pt x="13" y="2100"/>
                  </a:lnTo>
                  <a:close/>
                  <a:moveTo>
                    <a:pt x="13" y="2126"/>
                  </a:moveTo>
                  <a:lnTo>
                    <a:pt x="13" y="2139"/>
                  </a:lnTo>
                  <a:lnTo>
                    <a:pt x="0" y="2139"/>
                  </a:lnTo>
                  <a:lnTo>
                    <a:pt x="0" y="2126"/>
                  </a:lnTo>
                  <a:lnTo>
                    <a:pt x="13" y="2126"/>
                  </a:lnTo>
                  <a:close/>
                  <a:moveTo>
                    <a:pt x="13" y="2152"/>
                  </a:moveTo>
                  <a:lnTo>
                    <a:pt x="13" y="2165"/>
                  </a:lnTo>
                  <a:lnTo>
                    <a:pt x="0" y="2165"/>
                  </a:lnTo>
                  <a:lnTo>
                    <a:pt x="0" y="2152"/>
                  </a:lnTo>
                  <a:lnTo>
                    <a:pt x="13" y="2152"/>
                  </a:lnTo>
                  <a:close/>
                  <a:moveTo>
                    <a:pt x="13" y="2178"/>
                  </a:moveTo>
                  <a:lnTo>
                    <a:pt x="13" y="2191"/>
                  </a:lnTo>
                  <a:lnTo>
                    <a:pt x="0" y="2191"/>
                  </a:lnTo>
                  <a:lnTo>
                    <a:pt x="0" y="2178"/>
                  </a:lnTo>
                  <a:lnTo>
                    <a:pt x="13" y="2178"/>
                  </a:lnTo>
                  <a:close/>
                  <a:moveTo>
                    <a:pt x="13" y="2204"/>
                  </a:moveTo>
                  <a:lnTo>
                    <a:pt x="13" y="2217"/>
                  </a:lnTo>
                  <a:lnTo>
                    <a:pt x="0" y="2217"/>
                  </a:lnTo>
                  <a:lnTo>
                    <a:pt x="0" y="2204"/>
                  </a:lnTo>
                  <a:lnTo>
                    <a:pt x="13" y="2204"/>
                  </a:lnTo>
                  <a:close/>
                  <a:moveTo>
                    <a:pt x="13" y="2230"/>
                  </a:moveTo>
                  <a:lnTo>
                    <a:pt x="13" y="2243"/>
                  </a:lnTo>
                  <a:lnTo>
                    <a:pt x="0" y="2243"/>
                  </a:lnTo>
                  <a:lnTo>
                    <a:pt x="0" y="2230"/>
                  </a:lnTo>
                  <a:lnTo>
                    <a:pt x="13" y="2230"/>
                  </a:lnTo>
                  <a:close/>
                  <a:moveTo>
                    <a:pt x="13" y="2256"/>
                  </a:moveTo>
                  <a:lnTo>
                    <a:pt x="13" y="2269"/>
                  </a:lnTo>
                  <a:lnTo>
                    <a:pt x="0" y="2269"/>
                  </a:lnTo>
                  <a:lnTo>
                    <a:pt x="0" y="2256"/>
                  </a:lnTo>
                  <a:lnTo>
                    <a:pt x="13" y="2256"/>
                  </a:lnTo>
                  <a:close/>
                  <a:moveTo>
                    <a:pt x="13" y="2282"/>
                  </a:moveTo>
                  <a:lnTo>
                    <a:pt x="13" y="2285"/>
                  </a:lnTo>
                  <a:lnTo>
                    <a:pt x="0" y="2285"/>
                  </a:lnTo>
                  <a:lnTo>
                    <a:pt x="0" y="2282"/>
                  </a:lnTo>
                  <a:lnTo>
                    <a:pt x="13" y="2282"/>
                  </a:lnTo>
                  <a:close/>
                </a:path>
              </a:pathLst>
            </a:custGeom>
            <a:solidFill>
              <a:srgbClr val="000000"/>
            </a:solidFill>
            <a:ln w="0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8" name="Freeform 45">
              <a:extLst>
                <a:ext uri="{FF2B5EF4-FFF2-40B4-BE49-F238E27FC236}">
                  <a16:creationId xmlns:a16="http://schemas.microsoft.com/office/drawing/2014/main" id="{936334F2-1FEA-4562-BADB-259E2BE5385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367" y="1978"/>
              <a:ext cx="14" cy="2285"/>
            </a:xfrm>
            <a:custGeom>
              <a:avLst/>
              <a:gdLst>
                <a:gd name="T0" fmla="*/ 14 w 14"/>
                <a:gd name="T1" fmla="*/ 39 h 2285"/>
                <a:gd name="T2" fmla="*/ 0 w 14"/>
                <a:gd name="T3" fmla="*/ 52 h 2285"/>
                <a:gd name="T4" fmla="*/ 14 w 14"/>
                <a:gd name="T5" fmla="*/ 104 h 2285"/>
                <a:gd name="T6" fmla="*/ 0 w 14"/>
                <a:gd name="T7" fmla="*/ 143 h 2285"/>
                <a:gd name="T8" fmla="*/ 14 w 14"/>
                <a:gd name="T9" fmla="*/ 156 h 2285"/>
                <a:gd name="T10" fmla="*/ 14 w 14"/>
                <a:gd name="T11" fmla="*/ 221 h 2285"/>
                <a:gd name="T12" fmla="*/ 0 w 14"/>
                <a:gd name="T13" fmla="*/ 233 h 2285"/>
                <a:gd name="T14" fmla="*/ 14 w 14"/>
                <a:gd name="T15" fmla="*/ 285 h 2285"/>
                <a:gd name="T16" fmla="*/ 0 w 14"/>
                <a:gd name="T17" fmla="*/ 324 h 2285"/>
                <a:gd name="T18" fmla="*/ 14 w 14"/>
                <a:gd name="T19" fmla="*/ 337 h 2285"/>
                <a:gd name="T20" fmla="*/ 14 w 14"/>
                <a:gd name="T21" fmla="*/ 402 h 2285"/>
                <a:gd name="T22" fmla="*/ 0 w 14"/>
                <a:gd name="T23" fmla="*/ 415 h 2285"/>
                <a:gd name="T24" fmla="*/ 14 w 14"/>
                <a:gd name="T25" fmla="*/ 467 h 2285"/>
                <a:gd name="T26" fmla="*/ 0 w 14"/>
                <a:gd name="T27" fmla="*/ 506 h 2285"/>
                <a:gd name="T28" fmla="*/ 14 w 14"/>
                <a:gd name="T29" fmla="*/ 519 h 2285"/>
                <a:gd name="T30" fmla="*/ 14 w 14"/>
                <a:gd name="T31" fmla="*/ 583 h 2285"/>
                <a:gd name="T32" fmla="*/ 0 w 14"/>
                <a:gd name="T33" fmla="*/ 596 h 2285"/>
                <a:gd name="T34" fmla="*/ 14 w 14"/>
                <a:gd name="T35" fmla="*/ 648 h 2285"/>
                <a:gd name="T36" fmla="*/ 0 w 14"/>
                <a:gd name="T37" fmla="*/ 687 h 2285"/>
                <a:gd name="T38" fmla="*/ 14 w 14"/>
                <a:gd name="T39" fmla="*/ 700 h 2285"/>
                <a:gd name="T40" fmla="*/ 14 w 14"/>
                <a:gd name="T41" fmla="*/ 765 h 2285"/>
                <a:gd name="T42" fmla="*/ 0 w 14"/>
                <a:gd name="T43" fmla="*/ 778 h 2285"/>
                <a:gd name="T44" fmla="*/ 14 w 14"/>
                <a:gd name="T45" fmla="*/ 830 h 2285"/>
                <a:gd name="T46" fmla="*/ 0 w 14"/>
                <a:gd name="T47" fmla="*/ 869 h 2285"/>
                <a:gd name="T48" fmla="*/ 14 w 14"/>
                <a:gd name="T49" fmla="*/ 882 h 2285"/>
                <a:gd name="T50" fmla="*/ 14 w 14"/>
                <a:gd name="T51" fmla="*/ 947 h 2285"/>
                <a:gd name="T52" fmla="*/ 0 w 14"/>
                <a:gd name="T53" fmla="*/ 960 h 2285"/>
                <a:gd name="T54" fmla="*/ 14 w 14"/>
                <a:gd name="T55" fmla="*/ 1011 h 2285"/>
                <a:gd name="T56" fmla="*/ 0 w 14"/>
                <a:gd name="T57" fmla="*/ 1050 h 2285"/>
                <a:gd name="T58" fmla="*/ 14 w 14"/>
                <a:gd name="T59" fmla="*/ 1063 h 2285"/>
                <a:gd name="T60" fmla="*/ 14 w 14"/>
                <a:gd name="T61" fmla="*/ 1128 h 2285"/>
                <a:gd name="T62" fmla="*/ 0 w 14"/>
                <a:gd name="T63" fmla="*/ 1141 h 2285"/>
                <a:gd name="T64" fmla="*/ 14 w 14"/>
                <a:gd name="T65" fmla="*/ 1193 h 2285"/>
                <a:gd name="T66" fmla="*/ 0 w 14"/>
                <a:gd name="T67" fmla="*/ 1232 h 2285"/>
                <a:gd name="T68" fmla="*/ 14 w 14"/>
                <a:gd name="T69" fmla="*/ 1245 h 2285"/>
                <a:gd name="T70" fmla="*/ 14 w 14"/>
                <a:gd name="T71" fmla="*/ 1310 h 2285"/>
                <a:gd name="T72" fmla="*/ 0 w 14"/>
                <a:gd name="T73" fmla="*/ 1322 h 2285"/>
                <a:gd name="T74" fmla="*/ 14 w 14"/>
                <a:gd name="T75" fmla="*/ 1374 h 2285"/>
                <a:gd name="T76" fmla="*/ 0 w 14"/>
                <a:gd name="T77" fmla="*/ 1413 h 2285"/>
                <a:gd name="T78" fmla="*/ 14 w 14"/>
                <a:gd name="T79" fmla="*/ 1426 h 2285"/>
                <a:gd name="T80" fmla="*/ 14 w 14"/>
                <a:gd name="T81" fmla="*/ 1491 h 2285"/>
                <a:gd name="T82" fmla="*/ 0 w 14"/>
                <a:gd name="T83" fmla="*/ 1504 h 2285"/>
                <a:gd name="T84" fmla="*/ 14 w 14"/>
                <a:gd name="T85" fmla="*/ 1556 h 2285"/>
                <a:gd name="T86" fmla="*/ 0 w 14"/>
                <a:gd name="T87" fmla="*/ 1595 h 2285"/>
                <a:gd name="T88" fmla="*/ 14 w 14"/>
                <a:gd name="T89" fmla="*/ 1608 h 2285"/>
                <a:gd name="T90" fmla="*/ 14 w 14"/>
                <a:gd name="T91" fmla="*/ 1672 h 2285"/>
                <a:gd name="T92" fmla="*/ 0 w 14"/>
                <a:gd name="T93" fmla="*/ 1686 h 2285"/>
                <a:gd name="T94" fmla="*/ 14 w 14"/>
                <a:gd name="T95" fmla="*/ 1738 h 2285"/>
                <a:gd name="T96" fmla="*/ 0 w 14"/>
                <a:gd name="T97" fmla="*/ 1776 h 2285"/>
                <a:gd name="T98" fmla="*/ 14 w 14"/>
                <a:gd name="T99" fmla="*/ 1789 h 2285"/>
                <a:gd name="T100" fmla="*/ 14 w 14"/>
                <a:gd name="T101" fmla="*/ 1854 h 2285"/>
                <a:gd name="T102" fmla="*/ 0 w 14"/>
                <a:gd name="T103" fmla="*/ 1867 h 2285"/>
                <a:gd name="T104" fmla="*/ 14 w 14"/>
                <a:gd name="T105" fmla="*/ 1919 h 2285"/>
                <a:gd name="T106" fmla="*/ 0 w 14"/>
                <a:gd name="T107" fmla="*/ 1958 h 2285"/>
                <a:gd name="T108" fmla="*/ 14 w 14"/>
                <a:gd name="T109" fmla="*/ 1971 h 2285"/>
                <a:gd name="T110" fmla="*/ 14 w 14"/>
                <a:gd name="T111" fmla="*/ 2036 h 2285"/>
                <a:gd name="T112" fmla="*/ 0 w 14"/>
                <a:gd name="T113" fmla="*/ 2049 h 2285"/>
                <a:gd name="T114" fmla="*/ 14 w 14"/>
                <a:gd name="T115" fmla="*/ 2100 h 2285"/>
                <a:gd name="T116" fmla="*/ 0 w 14"/>
                <a:gd name="T117" fmla="*/ 2139 h 2285"/>
                <a:gd name="T118" fmla="*/ 14 w 14"/>
                <a:gd name="T119" fmla="*/ 2152 h 2285"/>
                <a:gd name="T120" fmla="*/ 14 w 14"/>
                <a:gd name="T121" fmla="*/ 2217 h 2285"/>
                <a:gd name="T122" fmla="*/ 0 w 14"/>
                <a:gd name="T123" fmla="*/ 2230 h 2285"/>
                <a:gd name="T124" fmla="*/ 14 w 14"/>
                <a:gd name="T125" fmla="*/ 2282 h 22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4" h="2285">
                  <a:moveTo>
                    <a:pt x="14" y="0"/>
                  </a:moveTo>
                  <a:lnTo>
                    <a:pt x="14" y="13"/>
                  </a:lnTo>
                  <a:lnTo>
                    <a:pt x="0" y="13"/>
                  </a:lnTo>
                  <a:lnTo>
                    <a:pt x="0" y="0"/>
                  </a:lnTo>
                  <a:lnTo>
                    <a:pt x="14" y="0"/>
                  </a:lnTo>
                  <a:close/>
                  <a:moveTo>
                    <a:pt x="14" y="26"/>
                  </a:moveTo>
                  <a:lnTo>
                    <a:pt x="14" y="39"/>
                  </a:lnTo>
                  <a:lnTo>
                    <a:pt x="0" y="39"/>
                  </a:lnTo>
                  <a:lnTo>
                    <a:pt x="0" y="26"/>
                  </a:lnTo>
                  <a:lnTo>
                    <a:pt x="14" y="26"/>
                  </a:lnTo>
                  <a:close/>
                  <a:moveTo>
                    <a:pt x="14" y="52"/>
                  </a:moveTo>
                  <a:lnTo>
                    <a:pt x="14" y="65"/>
                  </a:lnTo>
                  <a:lnTo>
                    <a:pt x="0" y="65"/>
                  </a:lnTo>
                  <a:lnTo>
                    <a:pt x="0" y="52"/>
                  </a:lnTo>
                  <a:lnTo>
                    <a:pt x="14" y="52"/>
                  </a:lnTo>
                  <a:close/>
                  <a:moveTo>
                    <a:pt x="14" y="78"/>
                  </a:moveTo>
                  <a:lnTo>
                    <a:pt x="14" y="91"/>
                  </a:lnTo>
                  <a:lnTo>
                    <a:pt x="0" y="91"/>
                  </a:lnTo>
                  <a:lnTo>
                    <a:pt x="0" y="78"/>
                  </a:lnTo>
                  <a:lnTo>
                    <a:pt x="14" y="78"/>
                  </a:lnTo>
                  <a:close/>
                  <a:moveTo>
                    <a:pt x="14" y="104"/>
                  </a:moveTo>
                  <a:lnTo>
                    <a:pt x="14" y="117"/>
                  </a:lnTo>
                  <a:lnTo>
                    <a:pt x="0" y="117"/>
                  </a:lnTo>
                  <a:lnTo>
                    <a:pt x="0" y="104"/>
                  </a:lnTo>
                  <a:lnTo>
                    <a:pt x="14" y="104"/>
                  </a:lnTo>
                  <a:close/>
                  <a:moveTo>
                    <a:pt x="14" y="130"/>
                  </a:moveTo>
                  <a:lnTo>
                    <a:pt x="14" y="143"/>
                  </a:lnTo>
                  <a:lnTo>
                    <a:pt x="0" y="143"/>
                  </a:lnTo>
                  <a:lnTo>
                    <a:pt x="0" y="130"/>
                  </a:lnTo>
                  <a:lnTo>
                    <a:pt x="14" y="130"/>
                  </a:lnTo>
                  <a:close/>
                  <a:moveTo>
                    <a:pt x="14" y="156"/>
                  </a:moveTo>
                  <a:lnTo>
                    <a:pt x="14" y="169"/>
                  </a:lnTo>
                  <a:lnTo>
                    <a:pt x="0" y="169"/>
                  </a:lnTo>
                  <a:lnTo>
                    <a:pt x="0" y="156"/>
                  </a:lnTo>
                  <a:lnTo>
                    <a:pt x="14" y="156"/>
                  </a:lnTo>
                  <a:close/>
                  <a:moveTo>
                    <a:pt x="14" y="182"/>
                  </a:moveTo>
                  <a:lnTo>
                    <a:pt x="14" y="194"/>
                  </a:lnTo>
                  <a:lnTo>
                    <a:pt x="0" y="194"/>
                  </a:lnTo>
                  <a:lnTo>
                    <a:pt x="0" y="182"/>
                  </a:lnTo>
                  <a:lnTo>
                    <a:pt x="14" y="182"/>
                  </a:lnTo>
                  <a:close/>
                  <a:moveTo>
                    <a:pt x="14" y="208"/>
                  </a:moveTo>
                  <a:lnTo>
                    <a:pt x="14" y="221"/>
                  </a:lnTo>
                  <a:lnTo>
                    <a:pt x="0" y="221"/>
                  </a:lnTo>
                  <a:lnTo>
                    <a:pt x="0" y="208"/>
                  </a:lnTo>
                  <a:lnTo>
                    <a:pt x="14" y="208"/>
                  </a:lnTo>
                  <a:close/>
                  <a:moveTo>
                    <a:pt x="14" y="233"/>
                  </a:moveTo>
                  <a:lnTo>
                    <a:pt x="14" y="246"/>
                  </a:lnTo>
                  <a:lnTo>
                    <a:pt x="0" y="246"/>
                  </a:lnTo>
                  <a:lnTo>
                    <a:pt x="0" y="233"/>
                  </a:lnTo>
                  <a:lnTo>
                    <a:pt x="14" y="233"/>
                  </a:lnTo>
                  <a:close/>
                  <a:moveTo>
                    <a:pt x="14" y="259"/>
                  </a:moveTo>
                  <a:lnTo>
                    <a:pt x="14" y="272"/>
                  </a:lnTo>
                  <a:lnTo>
                    <a:pt x="0" y="272"/>
                  </a:lnTo>
                  <a:lnTo>
                    <a:pt x="0" y="259"/>
                  </a:lnTo>
                  <a:lnTo>
                    <a:pt x="14" y="259"/>
                  </a:lnTo>
                  <a:close/>
                  <a:moveTo>
                    <a:pt x="14" y="285"/>
                  </a:moveTo>
                  <a:lnTo>
                    <a:pt x="14" y="298"/>
                  </a:lnTo>
                  <a:lnTo>
                    <a:pt x="0" y="298"/>
                  </a:lnTo>
                  <a:lnTo>
                    <a:pt x="0" y="285"/>
                  </a:lnTo>
                  <a:lnTo>
                    <a:pt x="14" y="285"/>
                  </a:lnTo>
                  <a:close/>
                  <a:moveTo>
                    <a:pt x="14" y="311"/>
                  </a:moveTo>
                  <a:lnTo>
                    <a:pt x="14" y="324"/>
                  </a:lnTo>
                  <a:lnTo>
                    <a:pt x="0" y="324"/>
                  </a:lnTo>
                  <a:lnTo>
                    <a:pt x="0" y="311"/>
                  </a:lnTo>
                  <a:lnTo>
                    <a:pt x="14" y="311"/>
                  </a:lnTo>
                  <a:close/>
                  <a:moveTo>
                    <a:pt x="14" y="337"/>
                  </a:moveTo>
                  <a:lnTo>
                    <a:pt x="14" y="350"/>
                  </a:lnTo>
                  <a:lnTo>
                    <a:pt x="0" y="350"/>
                  </a:lnTo>
                  <a:lnTo>
                    <a:pt x="0" y="337"/>
                  </a:lnTo>
                  <a:lnTo>
                    <a:pt x="14" y="337"/>
                  </a:lnTo>
                  <a:close/>
                  <a:moveTo>
                    <a:pt x="14" y="363"/>
                  </a:moveTo>
                  <a:lnTo>
                    <a:pt x="14" y="376"/>
                  </a:lnTo>
                  <a:lnTo>
                    <a:pt x="0" y="376"/>
                  </a:lnTo>
                  <a:lnTo>
                    <a:pt x="0" y="363"/>
                  </a:lnTo>
                  <a:lnTo>
                    <a:pt x="14" y="363"/>
                  </a:lnTo>
                  <a:close/>
                  <a:moveTo>
                    <a:pt x="14" y="389"/>
                  </a:moveTo>
                  <a:lnTo>
                    <a:pt x="14" y="402"/>
                  </a:lnTo>
                  <a:lnTo>
                    <a:pt x="0" y="402"/>
                  </a:lnTo>
                  <a:lnTo>
                    <a:pt x="0" y="389"/>
                  </a:lnTo>
                  <a:lnTo>
                    <a:pt x="14" y="389"/>
                  </a:lnTo>
                  <a:close/>
                  <a:moveTo>
                    <a:pt x="14" y="415"/>
                  </a:moveTo>
                  <a:lnTo>
                    <a:pt x="14" y="428"/>
                  </a:lnTo>
                  <a:lnTo>
                    <a:pt x="0" y="428"/>
                  </a:lnTo>
                  <a:lnTo>
                    <a:pt x="0" y="415"/>
                  </a:lnTo>
                  <a:lnTo>
                    <a:pt x="14" y="415"/>
                  </a:lnTo>
                  <a:close/>
                  <a:moveTo>
                    <a:pt x="14" y="441"/>
                  </a:moveTo>
                  <a:lnTo>
                    <a:pt x="14" y="454"/>
                  </a:lnTo>
                  <a:lnTo>
                    <a:pt x="0" y="454"/>
                  </a:lnTo>
                  <a:lnTo>
                    <a:pt x="0" y="441"/>
                  </a:lnTo>
                  <a:lnTo>
                    <a:pt x="14" y="441"/>
                  </a:lnTo>
                  <a:close/>
                  <a:moveTo>
                    <a:pt x="14" y="467"/>
                  </a:moveTo>
                  <a:lnTo>
                    <a:pt x="14" y="480"/>
                  </a:lnTo>
                  <a:lnTo>
                    <a:pt x="0" y="480"/>
                  </a:lnTo>
                  <a:lnTo>
                    <a:pt x="0" y="467"/>
                  </a:lnTo>
                  <a:lnTo>
                    <a:pt x="14" y="467"/>
                  </a:lnTo>
                  <a:close/>
                  <a:moveTo>
                    <a:pt x="14" y="493"/>
                  </a:moveTo>
                  <a:lnTo>
                    <a:pt x="14" y="506"/>
                  </a:lnTo>
                  <a:lnTo>
                    <a:pt x="0" y="506"/>
                  </a:lnTo>
                  <a:lnTo>
                    <a:pt x="0" y="493"/>
                  </a:lnTo>
                  <a:lnTo>
                    <a:pt x="14" y="493"/>
                  </a:lnTo>
                  <a:close/>
                  <a:moveTo>
                    <a:pt x="14" y="519"/>
                  </a:moveTo>
                  <a:lnTo>
                    <a:pt x="14" y="532"/>
                  </a:lnTo>
                  <a:lnTo>
                    <a:pt x="0" y="532"/>
                  </a:lnTo>
                  <a:lnTo>
                    <a:pt x="0" y="519"/>
                  </a:lnTo>
                  <a:lnTo>
                    <a:pt x="14" y="519"/>
                  </a:lnTo>
                  <a:close/>
                  <a:moveTo>
                    <a:pt x="14" y="545"/>
                  </a:moveTo>
                  <a:lnTo>
                    <a:pt x="14" y="558"/>
                  </a:lnTo>
                  <a:lnTo>
                    <a:pt x="0" y="558"/>
                  </a:lnTo>
                  <a:lnTo>
                    <a:pt x="0" y="545"/>
                  </a:lnTo>
                  <a:lnTo>
                    <a:pt x="14" y="545"/>
                  </a:lnTo>
                  <a:close/>
                  <a:moveTo>
                    <a:pt x="14" y="571"/>
                  </a:moveTo>
                  <a:lnTo>
                    <a:pt x="14" y="583"/>
                  </a:lnTo>
                  <a:lnTo>
                    <a:pt x="0" y="583"/>
                  </a:lnTo>
                  <a:lnTo>
                    <a:pt x="0" y="571"/>
                  </a:lnTo>
                  <a:lnTo>
                    <a:pt x="14" y="571"/>
                  </a:lnTo>
                  <a:close/>
                  <a:moveTo>
                    <a:pt x="14" y="596"/>
                  </a:moveTo>
                  <a:lnTo>
                    <a:pt x="14" y="610"/>
                  </a:lnTo>
                  <a:lnTo>
                    <a:pt x="0" y="610"/>
                  </a:lnTo>
                  <a:lnTo>
                    <a:pt x="0" y="596"/>
                  </a:lnTo>
                  <a:lnTo>
                    <a:pt x="14" y="596"/>
                  </a:lnTo>
                  <a:close/>
                  <a:moveTo>
                    <a:pt x="14" y="622"/>
                  </a:moveTo>
                  <a:lnTo>
                    <a:pt x="14" y="635"/>
                  </a:lnTo>
                  <a:lnTo>
                    <a:pt x="0" y="635"/>
                  </a:lnTo>
                  <a:lnTo>
                    <a:pt x="0" y="622"/>
                  </a:lnTo>
                  <a:lnTo>
                    <a:pt x="14" y="622"/>
                  </a:lnTo>
                  <a:close/>
                  <a:moveTo>
                    <a:pt x="14" y="648"/>
                  </a:moveTo>
                  <a:lnTo>
                    <a:pt x="14" y="661"/>
                  </a:lnTo>
                  <a:lnTo>
                    <a:pt x="0" y="661"/>
                  </a:lnTo>
                  <a:lnTo>
                    <a:pt x="0" y="648"/>
                  </a:lnTo>
                  <a:lnTo>
                    <a:pt x="14" y="648"/>
                  </a:lnTo>
                  <a:close/>
                  <a:moveTo>
                    <a:pt x="14" y="674"/>
                  </a:moveTo>
                  <a:lnTo>
                    <a:pt x="14" y="687"/>
                  </a:lnTo>
                  <a:lnTo>
                    <a:pt x="0" y="687"/>
                  </a:lnTo>
                  <a:lnTo>
                    <a:pt x="0" y="674"/>
                  </a:lnTo>
                  <a:lnTo>
                    <a:pt x="14" y="674"/>
                  </a:lnTo>
                  <a:close/>
                  <a:moveTo>
                    <a:pt x="14" y="700"/>
                  </a:moveTo>
                  <a:lnTo>
                    <a:pt x="14" y="713"/>
                  </a:lnTo>
                  <a:lnTo>
                    <a:pt x="0" y="713"/>
                  </a:lnTo>
                  <a:lnTo>
                    <a:pt x="0" y="700"/>
                  </a:lnTo>
                  <a:lnTo>
                    <a:pt x="14" y="700"/>
                  </a:lnTo>
                  <a:close/>
                  <a:moveTo>
                    <a:pt x="14" y="726"/>
                  </a:moveTo>
                  <a:lnTo>
                    <a:pt x="14" y="739"/>
                  </a:lnTo>
                  <a:lnTo>
                    <a:pt x="0" y="739"/>
                  </a:lnTo>
                  <a:lnTo>
                    <a:pt x="0" y="726"/>
                  </a:lnTo>
                  <a:lnTo>
                    <a:pt x="14" y="726"/>
                  </a:lnTo>
                  <a:close/>
                  <a:moveTo>
                    <a:pt x="14" y="752"/>
                  </a:moveTo>
                  <a:lnTo>
                    <a:pt x="14" y="765"/>
                  </a:lnTo>
                  <a:lnTo>
                    <a:pt x="0" y="765"/>
                  </a:lnTo>
                  <a:lnTo>
                    <a:pt x="0" y="752"/>
                  </a:lnTo>
                  <a:lnTo>
                    <a:pt x="14" y="752"/>
                  </a:lnTo>
                  <a:close/>
                  <a:moveTo>
                    <a:pt x="14" y="778"/>
                  </a:moveTo>
                  <a:lnTo>
                    <a:pt x="14" y="791"/>
                  </a:lnTo>
                  <a:lnTo>
                    <a:pt x="0" y="791"/>
                  </a:lnTo>
                  <a:lnTo>
                    <a:pt x="0" y="778"/>
                  </a:lnTo>
                  <a:lnTo>
                    <a:pt x="14" y="778"/>
                  </a:lnTo>
                  <a:close/>
                  <a:moveTo>
                    <a:pt x="14" y="804"/>
                  </a:moveTo>
                  <a:lnTo>
                    <a:pt x="14" y="817"/>
                  </a:lnTo>
                  <a:lnTo>
                    <a:pt x="0" y="817"/>
                  </a:lnTo>
                  <a:lnTo>
                    <a:pt x="0" y="804"/>
                  </a:lnTo>
                  <a:lnTo>
                    <a:pt x="14" y="804"/>
                  </a:lnTo>
                  <a:close/>
                  <a:moveTo>
                    <a:pt x="14" y="830"/>
                  </a:moveTo>
                  <a:lnTo>
                    <a:pt x="14" y="843"/>
                  </a:lnTo>
                  <a:lnTo>
                    <a:pt x="0" y="843"/>
                  </a:lnTo>
                  <a:lnTo>
                    <a:pt x="0" y="830"/>
                  </a:lnTo>
                  <a:lnTo>
                    <a:pt x="14" y="830"/>
                  </a:lnTo>
                  <a:close/>
                  <a:moveTo>
                    <a:pt x="14" y="856"/>
                  </a:moveTo>
                  <a:lnTo>
                    <a:pt x="14" y="869"/>
                  </a:lnTo>
                  <a:lnTo>
                    <a:pt x="0" y="869"/>
                  </a:lnTo>
                  <a:lnTo>
                    <a:pt x="0" y="856"/>
                  </a:lnTo>
                  <a:lnTo>
                    <a:pt x="14" y="856"/>
                  </a:lnTo>
                  <a:close/>
                  <a:moveTo>
                    <a:pt x="14" y="882"/>
                  </a:moveTo>
                  <a:lnTo>
                    <a:pt x="14" y="895"/>
                  </a:lnTo>
                  <a:lnTo>
                    <a:pt x="0" y="895"/>
                  </a:lnTo>
                  <a:lnTo>
                    <a:pt x="0" y="882"/>
                  </a:lnTo>
                  <a:lnTo>
                    <a:pt x="14" y="882"/>
                  </a:lnTo>
                  <a:close/>
                  <a:moveTo>
                    <a:pt x="14" y="908"/>
                  </a:moveTo>
                  <a:lnTo>
                    <a:pt x="14" y="921"/>
                  </a:lnTo>
                  <a:lnTo>
                    <a:pt x="0" y="921"/>
                  </a:lnTo>
                  <a:lnTo>
                    <a:pt x="0" y="908"/>
                  </a:lnTo>
                  <a:lnTo>
                    <a:pt x="14" y="908"/>
                  </a:lnTo>
                  <a:close/>
                  <a:moveTo>
                    <a:pt x="14" y="933"/>
                  </a:moveTo>
                  <a:lnTo>
                    <a:pt x="14" y="947"/>
                  </a:lnTo>
                  <a:lnTo>
                    <a:pt x="0" y="947"/>
                  </a:lnTo>
                  <a:lnTo>
                    <a:pt x="0" y="933"/>
                  </a:lnTo>
                  <a:lnTo>
                    <a:pt x="14" y="933"/>
                  </a:lnTo>
                  <a:close/>
                  <a:moveTo>
                    <a:pt x="14" y="960"/>
                  </a:moveTo>
                  <a:lnTo>
                    <a:pt x="14" y="972"/>
                  </a:lnTo>
                  <a:lnTo>
                    <a:pt x="0" y="972"/>
                  </a:lnTo>
                  <a:lnTo>
                    <a:pt x="0" y="960"/>
                  </a:lnTo>
                  <a:lnTo>
                    <a:pt x="14" y="960"/>
                  </a:lnTo>
                  <a:close/>
                  <a:moveTo>
                    <a:pt x="14" y="985"/>
                  </a:moveTo>
                  <a:lnTo>
                    <a:pt x="14" y="999"/>
                  </a:lnTo>
                  <a:lnTo>
                    <a:pt x="0" y="999"/>
                  </a:lnTo>
                  <a:lnTo>
                    <a:pt x="0" y="985"/>
                  </a:lnTo>
                  <a:lnTo>
                    <a:pt x="14" y="985"/>
                  </a:lnTo>
                  <a:close/>
                  <a:moveTo>
                    <a:pt x="14" y="1011"/>
                  </a:moveTo>
                  <a:lnTo>
                    <a:pt x="14" y="1024"/>
                  </a:lnTo>
                  <a:lnTo>
                    <a:pt x="0" y="1024"/>
                  </a:lnTo>
                  <a:lnTo>
                    <a:pt x="0" y="1011"/>
                  </a:lnTo>
                  <a:lnTo>
                    <a:pt x="14" y="1011"/>
                  </a:lnTo>
                  <a:close/>
                  <a:moveTo>
                    <a:pt x="14" y="1037"/>
                  </a:moveTo>
                  <a:lnTo>
                    <a:pt x="14" y="1050"/>
                  </a:lnTo>
                  <a:lnTo>
                    <a:pt x="0" y="1050"/>
                  </a:lnTo>
                  <a:lnTo>
                    <a:pt x="0" y="1037"/>
                  </a:lnTo>
                  <a:lnTo>
                    <a:pt x="14" y="1037"/>
                  </a:lnTo>
                  <a:close/>
                  <a:moveTo>
                    <a:pt x="14" y="1063"/>
                  </a:moveTo>
                  <a:lnTo>
                    <a:pt x="14" y="1076"/>
                  </a:lnTo>
                  <a:lnTo>
                    <a:pt x="0" y="1076"/>
                  </a:lnTo>
                  <a:lnTo>
                    <a:pt x="0" y="1063"/>
                  </a:lnTo>
                  <a:lnTo>
                    <a:pt x="14" y="1063"/>
                  </a:lnTo>
                  <a:close/>
                  <a:moveTo>
                    <a:pt x="14" y="1089"/>
                  </a:moveTo>
                  <a:lnTo>
                    <a:pt x="14" y="1102"/>
                  </a:lnTo>
                  <a:lnTo>
                    <a:pt x="0" y="1102"/>
                  </a:lnTo>
                  <a:lnTo>
                    <a:pt x="0" y="1089"/>
                  </a:lnTo>
                  <a:lnTo>
                    <a:pt x="14" y="1089"/>
                  </a:lnTo>
                  <a:close/>
                  <a:moveTo>
                    <a:pt x="14" y="1115"/>
                  </a:moveTo>
                  <a:lnTo>
                    <a:pt x="14" y="1128"/>
                  </a:lnTo>
                  <a:lnTo>
                    <a:pt x="0" y="1128"/>
                  </a:lnTo>
                  <a:lnTo>
                    <a:pt x="0" y="1115"/>
                  </a:lnTo>
                  <a:lnTo>
                    <a:pt x="14" y="1115"/>
                  </a:lnTo>
                  <a:close/>
                  <a:moveTo>
                    <a:pt x="14" y="1141"/>
                  </a:moveTo>
                  <a:lnTo>
                    <a:pt x="14" y="1154"/>
                  </a:lnTo>
                  <a:lnTo>
                    <a:pt x="0" y="1154"/>
                  </a:lnTo>
                  <a:lnTo>
                    <a:pt x="0" y="1141"/>
                  </a:lnTo>
                  <a:lnTo>
                    <a:pt x="14" y="1141"/>
                  </a:lnTo>
                  <a:close/>
                  <a:moveTo>
                    <a:pt x="14" y="1167"/>
                  </a:moveTo>
                  <a:lnTo>
                    <a:pt x="14" y="1180"/>
                  </a:lnTo>
                  <a:lnTo>
                    <a:pt x="0" y="1180"/>
                  </a:lnTo>
                  <a:lnTo>
                    <a:pt x="0" y="1167"/>
                  </a:lnTo>
                  <a:lnTo>
                    <a:pt x="14" y="1167"/>
                  </a:lnTo>
                  <a:close/>
                  <a:moveTo>
                    <a:pt x="14" y="1193"/>
                  </a:moveTo>
                  <a:lnTo>
                    <a:pt x="14" y="1206"/>
                  </a:lnTo>
                  <a:lnTo>
                    <a:pt x="0" y="1206"/>
                  </a:lnTo>
                  <a:lnTo>
                    <a:pt x="0" y="1193"/>
                  </a:lnTo>
                  <a:lnTo>
                    <a:pt x="14" y="1193"/>
                  </a:lnTo>
                  <a:close/>
                  <a:moveTo>
                    <a:pt x="14" y="1219"/>
                  </a:moveTo>
                  <a:lnTo>
                    <a:pt x="14" y="1232"/>
                  </a:lnTo>
                  <a:lnTo>
                    <a:pt x="0" y="1232"/>
                  </a:lnTo>
                  <a:lnTo>
                    <a:pt x="0" y="1219"/>
                  </a:lnTo>
                  <a:lnTo>
                    <a:pt x="14" y="1219"/>
                  </a:lnTo>
                  <a:close/>
                  <a:moveTo>
                    <a:pt x="14" y="1245"/>
                  </a:moveTo>
                  <a:lnTo>
                    <a:pt x="14" y="1258"/>
                  </a:lnTo>
                  <a:lnTo>
                    <a:pt x="0" y="1258"/>
                  </a:lnTo>
                  <a:lnTo>
                    <a:pt x="0" y="1245"/>
                  </a:lnTo>
                  <a:lnTo>
                    <a:pt x="14" y="1245"/>
                  </a:lnTo>
                  <a:close/>
                  <a:moveTo>
                    <a:pt x="14" y="1271"/>
                  </a:moveTo>
                  <a:lnTo>
                    <a:pt x="14" y="1284"/>
                  </a:lnTo>
                  <a:lnTo>
                    <a:pt x="0" y="1284"/>
                  </a:lnTo>
                  <a:lnTo>
                    <a:pt x="0" y="1271"/>
                  </a:lnTo>
                  <a:lnTo>
                    <a:pt x="14" y="1271"/>
                  </a:lnTo>
                  <a:close/>
                  <a:moveTo>
                    <a:pt x="14" y="1297"/>
                  </a:moveTo>
                  <a:lnTo>
                    <a:pt x="14" y="1310"/>
                  </a:lnTo>
                  <a:lnTo>
                    <a:pt x="0" y="1310"/>
                  </a:lnTo>
                  <a:lnTo>
                    <a:pt x="0" y="1297"/>
                  </a:lnTo>
                  <a:lnTo>
                    <a:pt x="14" y="1297"/>
                  </a:lnTo>
                  <a:close/>
                  <a:moveTo>
                    <a:pt x="14" y="1322"/>
                  </a:moveTo>
                  <a:lnTo>
                    <a:pt x="14" y="1335"/>
                  </a:lnTo>
                  <a:lnTo>
                    <a:pt x="0" y="1335"/>
                  </a:lnTo>
                  <a:lnTo>
                    <a:pt x="0" y="1322"/>
                  </a:lnTo>
                  <a:lnTo>
                    <a:pt x="14" y="1322"/>
                  </a:lnTo>
                  <a:close/>
                  <a:moveTo>
                    <a:pt x="14" y="1349"/>
                  </a:moveTo>
                  <a:lnTo>
                    <a:pt x="14" y="1361"/>
                  </a:lnTo>
                  <a:lnTo>
                    <a:pt x="0" y="1361"/>
                  </a:lnTo>
                  <a:lnTo>
                    <a:pt x="0" y="1349"/>
                  </a:lnTo>
                  <a:lnTo>
                    <a:pt x="14" y="1349"/>
                  </a:lnTo>
                  <a:close/>
                  <a:moveTo>
                    <a:pt x="14" y="1374"/>
                  </a:moveTo>
                  <a:lnTo>
                    <a:pt x="14" y="1387"/>
                  </a:lnTo>
                  <a:lnTo>
                    <a:pt x="0" y="1387"/>
                  </a:lnTo>
                  <a:lnTo>
                    <a:pt x="0" y="1374"/>
                  </a:lnTo>
                  <a:lnTo>
                    <a:pt x="14" y="1374"/>
                  </a:lnTo>
                  <a:close/>
                  <a:moveTo>
                    <a:pt x="14" y="1400"/>
                  </a:moveTo>
                  <a:lnTo>
                    <a:pt x="14" y="1413"/>
                  </a:lnTo>
                  <a:lnTo>
                    <a:pt x="0" y="1413"/>
                  </a:lnTo>
                  <a:lnTo>
                    <a:pt x="0" y="1400"/>
                  </a:lnTo>
                  <a:lnTo>
                    <a:pt x="14" y="1400"/>
                  </a:lnTo>
                  <a:close/>
                  <a:moveTo>
                    <a:pt x="14" y="1426"/>
                  </a:moveTo>
                  <a:lnTo>
                    <a:pt x="14" y="1439"/>
                  </a:lnTo>
                  <a:lnTo>
                    <a:pt x="0" y="1439"/>
                  </a:lnTo>
                  <a:lnTo>
                    <a:pt x="0" y="1426"/>
                  </a:lnTo>
                  <a:lnTo>
                    <a:pt x="14" y="1426"/>
                  </a:lnTo>
                  <a:close/>
                  <a:moveTo>
                    <a:pt x="14" y="1452"/>
                  </a:moveTo>
                  <a:lnTo>
                    <a:pt x="14" y="1465"/>
                  </a:lnTo>
                  <a:lnTo>
                    <a:pt x="0" y="1465"/>
                  </a:lnTo>
                  <a:lnTo>
                    <a:pt x="0" y="1452"/>
                  </a:lnTo>
                  <a:lnTo>
                    <a:pt x="14" y="1452"/>
                  </a:lnTo>
                  <a:close/>
                  <a:moveTo>
                    <a:pt x="14" y="1478"/>
                  </a:moveTo>
                  <a:lnTo>
                    <a:pt x="14" y="1491"/>
                  </a:lnTo>
                  <a:lnTo>
                    <a:pt x="0" y="1491"/>
                  </a:lnTo>
                  <a:lnTo>
                    <a:pt x="0" y="1478"/>
                  </a:lnTo>
                  <a:lnTo>
                    <a:pt x="14" y="1478"/>
                  </a:lnTo>
                  <a:close/>
                  <a:moveTo>
                    <a:pt x="14" y="1504"/>
                  </a:moveTo>
                  <a:lnTo>
                    <a:pt x="14" y="1517"/>
                  </a:lnTo>
                  <a:lnTo>
                    <a:pt x="0" y="1517"/>
                  </a:lnTo>
                  <a:lnTo>
                    <a:pt x="0" y="1504"/>
                  </a:lnTo>
                  <a:lnTo>
                    <a:pt x="14" y="1504"/>
                  </a:lnTo>
                  <a:close/>
                  <a:moveTo>
                    <a:pt x="14" y="1530"/>
                  </a:moveTo>
                  <a:lnTo>
                    <a:pt x="14" y="1543"/>
                  </a:lnTo>
                  <a:lnTo>
                    <a:pt x="0" y="1543"/>
                  </a:lnTo>
                  <a:lnTo>
                    <a:pt x="0" y="1530"/>
                  </a:lnTo>
                  <a:lnTo>
                    <a:pt x="14" y="1530"/>
                  </a:lnTo>
                  <a:close/>
                  <a:moveTo>
                    <a:pt x="14" y="1556"/>
                  </a:moveTo>
                  <a:lnTo>
                    <a:pt x="14" y="1569"/>
                  </a:lnTo>
                  <a:lnTo>
                    <a:pt x="0" y="1569"/>
                  </a:lnTo>
                  <a:lnTo>
                    <a:pt x="0" y="1556"/>
                  </a:lnTo>
                  <a:lnTo>
                    <a:pt x="14" y="1556"/>
                  </a:lnTo>
                  <a:close/>
                  <a:moveTo>
                    <a:pt x="14" y="1582"/>
                  </a:moveTo>
                  <a:lnTo>
                    <a:pt x="14" y="1595"/>
                  </a:lnTo>
                  <a:lnTo>
                    <a:pt x="0" y="1595"/>
                  </a:lnTo>
                  <a:lnTo>
                    <a:pt x="0" y="1582"/>
                  </a:lnTo>
                  <a:lnTo>
                    <a:pt x="14" y="1582"/>
                  </a:lnTo>
                  <a:close/>
                  <a:moveTo>
                    <a:pt x="14" y="1608"/>
                  </a:moveTo>
                  <a:lnTo>
                    <a:pt x="14" y="1621"/>
                  </a:lnTo>
                  <a:lnTo>
                    <a:pt x="0" y="1621"/>
                  </a:lnTo>
                  <a:lnTo>
                    <a:pt x="0" y="1608"/>
                  </a:lnTo>
                  <a:lnTo>
                    <a:pt x="14" y="1608"/>
                  </a:lnTo>
                  <a:close/>
                  <a:moveTo>
                    <a:pt x="14" y="1634"/>
                  </a:moveTo>
                  <a:lnTo>
                    <a:pt x="14" y="1647"/>
                  </a:lnTo>
                  <a:lnTo>
                    <a:pt x="0" y="1647"/>
                  </a:lnTo>
                  <a:lnTo>
                    <a:pt x="0" y="1634"/>
                  </a:lnTo>
                  <a:lnTo>
                    <a:pt x="14" y="1634"/>
                  </a:lnTo>
                  <a:close/>
                  <a:moveTo>
                    <a:pt x="14" y="1660"/>
                  </a:moveTo>
                  <a:lnTo>
                    <a:pt x="14" y="1672"/>
                  </a:lnTo>
                  <a:lnTo>
                    <a:pt x="0" y="1672"/>
                  </a:lnTo>
                  <a:lnTo>
                    <a:pt x="0" y="1660"/>
                  </a:lnTo>
                  <a:lnTo>
                    <a:pt x="14" y="1660"/>
                  </a:lnTo>
                  <a:close/>
                  <a:moveTo>
                    <a:pt x="14" y="1686"/>
                  </a:moveTo>
                  <a:lnTo>
                    <a:pt x="14" y="1699"/>
                  </a:lnTo>
                  <a:lnTo>
                    <a:pt x="0" y="1699"/>
                  </a:lnTo>
                  <a:lnTo>
                    <a:pt x="0" y="1686"/>
                  </a:lnTo>
                  <a:lnTo>
                    <a:pt x="14" y="1686"/>
                  </a:lnTo>
                  <a:close/>
                  <a:moveTo>
                    <a:pt x="14" y="1711"/>
                  </a:moveTo>
                  <a:lnTo>
                    <a:pt x="14" y="1724"/>
                  </a:lnTo>
                  <a:lnTo>
                    <a:pt x="0" y="1724"/>
                  </a:lnTo>
                  <a:lnTo>
                    <a:pt x="0" y="1711"/>
                  </a:lnTo>
                  <a:lnTo>
                    <a:pt x="14" y="1711"/>
                  </a:lnTo>
                  <a:close/>
                  <a:moveTo>
                    <a:pt x="14" y="1738"/>
                  </a:moveTo>
                  <a:lnTo>
                    <a:pt x="14" y="1750"/>
                  </a:lnTo>
                  <a:lnTo>
                    <a:pt x="0" y="1750"/>
                  </a:lnTo>
                  <a:lnTo>
                    <a:pt x="0" y="1738"/>
                  </a:lnTo>
                  <a:lnTo>
                    <a:pt x="14" y="1738"/>
                  </a:lnTo>
                  <a:close/>
                  <a:moveTo>
                    <a:pt x="14" y="1763"/>
                  </a:moveTo>
                  <a:lnTo>
                    <a:pt x="14" y="1776"/>
                  </a:lnTo>
                  <a:lnTo>
                    <a:pt x="0" y="1776"/>
                  </a:lnTo>
                  <a:lnTo>
                    <a:pt x="0" y="1763"/>
                  </a:lnTo>
                  <a:lnTo>
                    <a:pt x="14" y="1763"/>
                  </a:lnTo>
                  <a:close/>
                  <a:moveTo>
                    <a:pt x="14" y="1789"/>
                  </a:moveTo>
                  <a:lnTo>
                    <a:pt x="14" y="1802"/>
                  </a:lnTo>
                  <a:lnTo>
                    <a:pt x="0" y="1802"/>
                  </a:lnTo>
                  <a:lnTo>
                    <a:pt x="0" y="1789"/>
                  </a:lnTo>
                  <a:lnTo>
                    <a:pt x="14" y="1789"/>
                  </a:lnTo>
                  <a:close/>
                  <a:moveTo>
                    <a:pt x="14" y="1815"/>
                  </a:moveTo>
                  <a:lnTo>
                    <a:pt x="14" y="1828"/>
                  </a:lnTo>
                  <a:lnTo>
                    <a:pt x="0" y="1828"/>
                  </a:lnTo>
                  <a:lnTo>
                    <a:pt x="0" y="1815"/>
                  </a:lnTo>
                  <a:lnTo>
                    <a:pt x="14" y="1815"/>
                  </a:lnTo>
                  <a:close/>
                  <a:moveTo>
                    <a:pt x="14" y="1841"/>
                  </a:moveTo>
                  <a:lnTo>
                    <a:pt x="14" y="1854"/>
                  </a:lnTo>
                  <a:lnTo>
                    <a:pt x="0" y="1854"/>
                  </a:lnTo>
                  <a:lnTo>
                    <a:pt x="0" y="1841"/>
                  </a:lnTo>
                  <a:lnTo>
                    <a:pt x="14" y="1841"/>
                  </a:lnTo>
                  <a:close/>
                  <a:moveTo>
                    <a:pt x="14" y="1867"/>
                  </a:moveTo>
                  <a:lnTo>
                    <a:pt x="14" y="1880"/>
                  </a:lnTo>
                  <a:lnTo>
                    <a:pt x="0" y="1880"/>
                  </a:lnTo>
                  <a:lnTo>
                    <a:pt x="0" y="1867"/>
                  </a:lnTo>
                  <a:lnTo>
                    <a:pt x="14" y="1867"/>
                  </a:lnTo>
                  <a:close/>
                  <a:moveTo>
                    <a:pt x="14" y="1893"/>
                  </a:moveTo>
                  <a:lnTo>
                    <a:pt x="14" y="1906"/>
                  </a:lnTo>
                  <a:lnTo>
                    <a:pt x="0" y="1906"/>
                  </a:lnTo>
                  <a:lnTo>
                    <a:pt x="0" y="1893"/>
                  </a:lnTo>
                  <a:lnTo>
                    <a:pt x="14" y="1893"/>
                  </a:lnTo>
                  <a:close/>
                  <a:moveTo>
                    <a:pt x="14" y="1919"/>
                  </a:moveTo>
                  <a:lnTo>
                    <a:pt x="14" y="1932"/>
                  </a:lnTo>
                  <a:lnTo>
                    <a:pt x="0" y="1932"/>
                  </a:lnTo>
                  <a:lnTo>
                    <a:pt x="0" y="1919"/>
                  </a:lnTo>
                  <a:lnTo>
                    <a:pt x="14" y="1919"/>
                  </a:lnTo>
                  <a:close/>
                  <a:moveTo>
                    <a:pt x="14" y="1945"/>
                  </a:moveTo>
                  <a:lnTo>
                    <a:pt x="14" y="1958"/>
                  </a:lnTo>
                  <a:lnTo>
                    <a:pt x="0" y="1958"/>
                  </a:lnTo>
                  <a:lnTo>
                    <a:pt x="0" y="1945"/>
                  </a:lnTo>
                  <a:lnTo>
                    <a:pt x="14" y="1945"/>
                  </a:lnTo>
                  <a:close/>
                  <a:moveTo>
                    <a:pt x="14" y="1971"/>
                  </a:moveTo>
                  <a:lnTo>
                    <a:pt x="14" y="1984"/>
                  </a:lnTo>
                  <a:lnTo>
                    <a:pt x="0" y="1984"/>
                  </a:lnTo>
                  <a:lnTo>
                    <a:pt x="0" y="1971"/>
                  </a:lnTo>
                  <a:lnTo>
                    <a:pt x="14" y="1971"/>
                  </a:lnTo>
                  <a:close/>
                  <a:moveTo>
                    <a:pt x="14" y="1997"/>
                  </a:moveTo>
                  <a:lnTo>
                    <a:pt x="14" y="2010"/>
                  </a:lnTo>
                  <a:lnTo>
                    <a:pt x="0" y="2010"/>
                  </a:lnTo>
                  <a:lnTo>
                    <a:pt x="0" y="1997"/>
                  </a:lnTo>
                  <a:lnTo>
                    <a:pt x="14" y="1997"/>
                  </a:lnTo>
                  <a:close/>
                  <a:moveTo>
                    <a:pt x="14" y="2023"/>
                  </a:moveTo>
                  <a:lnTo>
                    <a:pt x="14" y="2036"/>
                  </a:lnTo>
                  <a:lnTo>
                    <a:pt x="0" y="2036"/>
                  </a:lnTo>
                  <a:lnTo>
                    <a:pt x="0" y="2023"/>
                  </a:lnTo>
                  <a:lnTo>
                    <a:pt x="14" y="2023"/>
                  </a:lnTo>
                  <a:close/>
                  <a:moveTo>
                    <a:pt x="14" y="2049"/>
                  </a:moveTo>
                  <a:lnTo>
                    <a:pt x="14" y="2061"/>
                  </a:lnTo>
                  <a:lnTo>
                    <a:pt x="0" y="2061"/>
                  </a:lnTo>
                  <a:lnTo>
                    <a:pt x="0" y="2049"/>
                  </a:lnTo>
                  <a:lnTo>
                    <a:pt x="14" y="2049"/>
                  </a:lnTo>
                  <a:close/>
                  <a:moveTo>
                    <a:pt x="14" y="2075"/>
                  </a:moveTo>
                  <a:lnTo>
                    <a:pt x="14" y="2088"/>
                  </a:lnTo>
                  <a:lnTo>
                    <a:pt x="0" y="2088"/>
                  </a:lnTo>
                  <a:lnTo>
                    <a:pt x="0" y="2075"/>
                  </a:lnTo>
                  <a:lnTo>
                    <a:pt x="14" y="2075"/>
                  </a:lnTo>
                  <a:close/>
                  <a:moveTo>
                    <a:pt x="14" y="2100"/>
                  </a:moveTo>
                  <a:lnTo>
                    <a:pt x="14" y="2113"/>
                  </a:lnTo>
                  <a:lnTo>
                    <a:pt x="0" y="2113"/>
                  </a:lnTo>
                  <a:lnTo>
                    <a:pt x="0" y="2100"/>
                  </a:lnTo>
                  <a:lnTo>
                    <a:pt x="14" y="2100"/>
                  </a:lnTo>
                  <a:close/>
                  <a:moveTo>
                    <a:pt x="14" y="2126"/>
                  </a:moveTo>
                  <a:lnTo>
                    <a:pt x="14" y="2139"/>
                  </a:lnTo>
                  <a:lnTo>
                    <a:pt x="0" y="2139"/>
                  </a:lnTo>
                  <a:lnTo>
                    <a:pt x="0" y="2126"/>
                  </a:lnTo>
                  <a:lnTo>
                    <a:pt x="14" y="2126"/>
                  </a:lnTo>
                  <a:close/>
                  <a:moveTo>
                    <a:pt x="14" y="2152"/>
                  </a:moveTo>
                  <a:lnTo>
                    <a:pt x="14" y="2165"/>
                  </a:lnTo>
                  <a:lnTo>
                    <a:pt x="0" y="2165"/>
                  </a:lnTo>
                  <a:lnTo>
                    <a:pt x="0" y="2152"/>
                  </a:lnTo>
                  <a:lnTo>
                    <a:pt x="14" y="2152"/>
                  </a:lnTo>
                  <a:close/>
                  <a:moveTo>
                    <a:pt x="14" y="2178"/>
                  </a:moveTo>
                  <a:lnTo>
                    <a:pt x="14" y="2191"/>
                  </a:lnTo>
                  <a:lnTo>
                    <a:pt x="0" y="2191"/>
                  </a:lnTo>
                  <a:lnTo>
                    <a:pt x="0" y="2178"/>
                  </a:lnTo>
                  <a:lnTo>
                    <a:pt x="14" y="2178"/>
                  </a:lnTo>
                  <a:close/>
                  <a:moveTo>
                    <a:pt x="14" y="2204"/>
                  </a:moveTo>
                  <a:lnTo>
                    <a:pt x="14" y="2217"/>
                  </a:lnTo>
                  <a:lnTo>
                    <a:pt x="0" y="2217"/>
                  </a:lnTo>
                  <a:lnTo>
                    <a:pt x="0" y="2204"/>
                  </a:lnTo>
                  <a:lnTo>
                    <a:pt x="14" y="2204"/>
                  </a:lnTo>
                  <a:close/>
                  <a:moveTo>
                    <a:pt x="14" y="2230"/>
                  </a:moveTo>
                  <a:lnTo>
                    <a:pt x="14" y="2243"/>
                  </a:lnTo>
                  <a:lnTo>
                    <a:pt x="0" y="2243"/>
                  </a:lnTo>
                  <a:lnTo>
                    <a:pt x="0" y="2230"/>
                  </a:lnTo>
                  <a:lnTo>
                    <a:pt x="14" y="2230"/>
                  </a:lnTo>
                  <a:close/>
                  <a:moveTo>
                    <a:pt x="14" y="2256"/>
                  </a:moveTo>
                  <a:lnTo>
                    <a:pt x="14" y="2269"/>
                  </a:lnTo>
                  <a:lnTo>
                    <a:pt x="0" y="2269"/>
                  </a:lnTo>
                  <a:lnTo>
                    <a:pt x="0" y="2256"/>
                  </a:lnTo>
                  <a:lnTo>
                    <a:pt x="14" y="2256"/>
                  </a:lnTo>
                  <a:close/>
                  <a:moveTo>
                    <a:pt x="14" y="2282"/>
                  </a:moveTo>
                  <a:lnTo>
                    <a:pt x="14" y="2285"/>
                  </a:lnTo>
                  <a:lnTo>
                    <a:pt x="0" y="2285"/>
                  </a:lnTo>
                  <a:lnTo>
                    <a:pt x="0" y="2282"/>
                  </a:lnTo>
                  <a:lnTo>
                    <a:pt x="14" y="2282"/>
                  </a:lnTo>
                  <a:close/>
                </a:path>
              </a:pathLst>
            </a:custGeom>
            <a:solidFill>
              <a:srgbClr val="000000"/>
            </a:solidFill>
            <a:ln w="0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9" name="Freeform 46">
              <a:extLst>
                <a:ext uri="{FF2B5EF4-FFF2-40B4-BE49-F238E27FC236}">
                  <a16:creationId xmlns:a16="http://schemas.microsoft.com/office/drawing/2014/main" id="{F1F5D8ED-BF2E-46E9-B629-85FB8B2D82F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717" y="1978"/>
              <a:ext cx="14" cy="2285"/>
            </a:xfrm>
            <a:custGeom>
              <a:avLst/>
              <a:gdLst>
                <a:gd name="T0" fmla="*/ 14 w 14"/>
                <a:gd name="T1" fmla="*/ 39 h 2285"/>
                <a:gd name="T2" fmla="*/ 0 w 14"/>
                <a:gd name="T3" fmla="*/ 52 h 2285"/>
                <a:gd name="T4" fmla="*/ 14 w 14"/>
                <a:gd name="T5" fmla="*/ 104 h 2285"/>
                <a:gd name="T6" fmla="*/ 0 w 14"/>
                <a:gd name="T7" fmla="*/ 143 h 2285"/>
                <a:gd name="T8" fmla="*/ 14 w 14"/>
                <a:gd name="T9" fmla="*/ 156 h 2285"/>
                <a:gd name="T10" fmla="*/ 14 w 14"/>
                <a:gd name="T11" fmla="*/ 221 h 2285"/>
                <a:gd name="T12" fmla="*/ 0 w 14"/>
                <a:gd name="T13" fmla="*/ 233 h 2285"/>
                <a:gd name="T14" fmla="*/ 14 w 14"/>
                <a:gd name="T15" fmla="*/ 285 h 2285"/>
                <a:gd name="T16" fmla="*/ 0 w 14"/>
                <a:gd name="T17" fmla="*/ 324 h 2285"/>
                <a:gd name="T18" fmla="*/ 14 w 14"/>
                <a:gd name="T19" fmla="*/ 337 h 2285"/>
                <a:gd name="T20" fmla="*/ 14 w 14"/>
                <a:gd name="T21" fmla="*/ 402 h 2285"/>
                <a:gd name="T22" fmla="*/ 0 w 14"/>
                <a:gd name="T23" fmla="*/ 415 h 2285"/>
                <a:gd name="T24" fmla="*/ 14 w 14"/>
                <a:gd name="T25" fmla="*/ 467 h 2285"/>
                <a:gd name="T26" fmla="*/ 0 w 14"/>
                <a:gd name="T27" fmla="*/ 506 h 2285"/>
                <a:gd name="T28" fmla="*/ 14 w 14"/>
                <a:gd name="T29" fmla="*/ 519 h 2285"/>
                <a:gd name="T30" fmla="*/ 14 w 14"/>
                <a:gd name="T31" fmla="*/ 583 h 2285"/>
                <a:gd name="T32" fmla="*/ 0 w 14"/>
                <a:gd name="T33" fmla="*/ 596 h 2285"/>
                <a:gd name="T34" fmla="*/ 14 w 14"/>
                <a:gd name="T35" fmla="*/ 648 h 2285"/>
                <a:gd name="T36" fmla="*/ 0 w 14"/>
                <a:gd name="T37" fmla="*/ 687 h 2285"/>
                <a:gd name="T38" fmla="*/ 14 w 14"/>
                <a:gd name="T39" fmla="*/ 700 h 2285"/>
                <a:gd name="T40" fmla="*/ 14 w 14"/>
                <a:gd name="T41" fmla="*/ 765 h 2285"/>
                <a:gd name="T42" fmla="*/ 0 w 14"/>
                <a:gd name="T43" fmla="*/ 778 h 2285"/>
                <a:gd name="T44" fmla="*/ 14 w 14"/>
                <a:gd name="T45" fmla="*/ 830 h 2285"/>
                <a:gd name="T46" fmla="*/ 0 w 14"/>
                <a:gd name="T47" fmla="*/ 869 h 2285"/>
                <a:gd name="T48" fmla="*/ 14 w 14"/>
                <a:gd name="T49" fmla="*/ 882 h 2285"/>
                <a:gd name="T50" fmla="*/ 14 w 14"/>
                <a:gd name="T51" fmla="*/ 947 h 2285"/>
                <a:gd name="T52" fmla="*/ 0 w 14"/>
                <a:gd name="T53" fmla="*/ 960 h 2285"/>
                <a:gd name="T54" fmla="*/ 14 w 14"/>
                <a:gd name="T55" fmla="*/ 1011 h 2285"/>
                <a:gd name="T56" fmla="*/ 0 w 14"/>
                <a:gd name="T57" fmla="*/ 1050 h 2285"/>
                <a:gd name="T58" fmla="*/ 14 w 14"/>
                <a:gd name="T59" fmla="*/ 1063 h 2285"/>
                <a:gd name="T60" fmla="*/ 14 w 14"/>
                <a:gd name="T61" fmla="*/ 1128 h 2285"/>
                <a:gd name="T62" fmla="*/ 0 w 14"/>
                <a:gd name="T63" fmla="*/ 1141 h 2285"/>
                <a:gd name="T64" fmla="*/ 14 w 14"/>
                <a:gd name="T65" fmla="*/ 1193 h 2285"/>
                <a:gd name="T66" fmla="*/ 0 w 14"/>
                <a:gd name="T67" fmla="*/ 1232 h 2285"/>
                <a:gd name="T68" fmla="*/ 14 w 14"/>
                <a:gd name="T69" fmla="*/ 1245 h 2285"/>
                <a:gd name="T70" fmla="*/ 14 w 14"/>
                <a:gd name="T71" fmla="*/ 1310 h 2285"/>
                <a:gd name="T72" fmla="*/ 0 w 14"/>
                <a:gd name="T73" fmla="*/ 1322 h 2285"/>
                <a:gd name="T74" fmla="*/ 14 w 14"/>
                <a:gd name="T75" fmla="*/ 1374 h 2285"/>
                <a:gd name="T76" fmla="*/ 0 w 14"/>
                <a:gd name="T77" fmla="*/ 1413 h 2285"/>
                <a:gd name="T78" fmla="*/ 14 w 14"/>
                <a:gd name="T79" fmla="*/ 1426 h 2285"/>
                <a:gd name="T80" fmla="*/ 14 w 14"/>
                <a:gd name="T81" fmla="*/ 1491 h 2285"/>
                <a:gd name="T82" fmla="*/ 0 w 14"/>
                <a:gd name="T83" fmla="*/ 1504 h 2285"/>
                <a:gd name="T84" fmla="*/ 14 w 14"/>
                <a:gd name="T85" fmla="*/ 1556 h 2285"/>
                <a:gd name="T86" fmla="*/ 0 w 14"/>
                <a:gd name="T87" fmla="*/ 1595 h 2285"/>
                <a:gd name="T88" fmla="*/ 14 w 14"/>
                <a:gd name="T89" fmla="*/ 1608 h 2285"/>
                <a:gd name="T90" fmla="*/ 14 w 14"/>
                <a:gd name="T91" fmla="*/ 1672 h 2285"/>
                <a:gd name="T92" fmla="*/ 0 w 14"/>
                <a:gd name="T93" fmla="*/ 1686 h 2285"/>
                <a:gd name="T94" fmla="*/ 14 w 14"/>
                <a:gd name="T95" fmla="*/ 1738 h 2285"/>
                <a:gd name="T96" fmla="*/ 0 w 14"/>
                <a:gd name="T97" fmla="*/ 1776 h 2285"/>
                <a:gd name="T98" fmla="*/ 14 w 14"/>
                <a:gd name="T99" fmla="*/ 1789 h 2285"/>
                <a:gd name="T100" fmla="*/ 14 w 14"/>
                <a:gd name="T101" fmla="*/ 1854 h 2285"/>
                <a:gd name="T102" fmla="*/ 0 w 14"/>
                <a:gd name="T103" fmla="*/ 1867 h 2285"/>
                <a:gd name="T104" fmla="*/ 14 w 14"/>
                <a:gd name="T105" fmla="*/ 1919 h 2285"/>
                <a:gd name="T106" fmla="*/ 0 w 14"/>
                <a:gd name="T107" fmla="*/ 1958 h 2285"/>
                <a:gd name="T108" fmla="*/ 14 w 14"/>
                <a:gd name="T109" fmla="*/ 1971 h 2285"/>
                <a:gd name="T110" fmla="*/ 14 w 14"/>
                <a:gd name="T111" fmla="*/ 2036 h 2285"/>
                <a:gd name="T112" fmla="*/ 0 w 14"/>
                <a:gd name="T113" fmla="*/ 2049 h 2285"/>
                <a:gd name="T114" fmla="*/ 14 w 14"/>
                <a:gd name="T115" fmla="*/ 2100 h 2285"/>
                <a:gd name="T116" fmla="*/ 0 w 14"/>
                <a:gd name="T117" fmla="*/ 2139 h 2285"/>
                <a:gd name="T118" fmla="*/ 14 w 14"/>
                <a:gd name="T119" fmla="*/ 2152 h 2285"/>
                <a:gd name="T120" fmla="*/ 14 w 14"/>
                <a:gd name="T121" fmla="*/ 2217 h 2285"/>
                <a:gd name="T122" fmla="*/ 0 w 14"/>
                <a:gd name="T123" fmla="*/ 2230 h 2285"/>
                <a:gd name="T124" fmla="*/ 14 w 14"/>
                <a:gd name="T125" fmla="*/ 2282 h 22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4" h="2285">
                  <a:moveTo>
                    <a:pt x="14" y="0"/>
                  </a:moveTo>
                  <a:lnTo>
                    <a:pt x="14" y="13"/>
                  </a:lnTo>
                  <a:lnTo>
                    <a:pt x="0" y="13"/>
                  </a:lnTo>
                  <a:lnTo>
                    <a:pt x="0" y="0"/>
                  </a:lnTo>
                  <a:lnTo>
                    <a:pt x="14" y="0"/>
                  </a:lnTo>
                  <a:close/>
                  <a:moveTo>
                    <a:pt x="14" y="26"/>
                  </a:moveTo>
                  <a:lnTo>
                    <a:pt x="14" y="39"/>
                  </a:lnTo>
                  <a:lnTo>
                    <a:pt x="0" y="39"/>
                  </a:lnTo>
                  <a:lnTo>
                    <a:pt x="0" y="26"/>
                  </a:lnTo>
                  <a:lnTo>
                    <a:pt x="14" y="26"/>
                  </a:lnTo>
                  <a:close/>
                  <a:moveTo>
                    <a:pt x="14" y="52"/>
                  </a:moveTo>
                  <a:lnTo>
                    <a:pt x="14" y="65"/>
                  </a:lnTo>
                  <a:lnTo>
                    <a:pt x="0" y="65"/>
                  </a:lnTo>
                  <a:lnTo>
                    <a:pt x="0" y="52"/>
                  </a:lnTo>
                  <a:lnTo>
                    <a:pt x="14" y="52"/>
                  </a:lnTo>
                  <a:close/>
                  <a:moveTo>
                    <a:pt x="14" y="78"/>
                  </a:moveTo>
                  <a:lnTo>
                    <a:pt x="14" y="91"/>
                  </a:lnTo>
                  <a:lnTo>
                    <a:pt x="0" y="91"/>
                  </a:lnTo>
                  <a:lnTo>
                    <a:pt x="0" y="78"/>
                  </a:lnTo>
                  <a:lnTo>
                    <a:pt x="14" y="78"/>
                  </a:lnTo>
                  <a:close/>
                  <a:moveTo>
                    <a:pt x="14" y="104"/>
                  </a:moveTo>
                  <a:lnTo>
                    <a:pt x="14" y="117"/>
                  </a:lnTo>
                  <a:lnTo>
                    <a:pt x="0" y="117"/>
                  </a:lnTo>
                  <a:lnTo>
                    <a:pt x="0" y="104"/>
                  </a:lnTo>
                  <a:lnTo>
                    <a:pt x="14" y="104"/>
                  </a:lnTo>
                  <a:close/>
                  <a:moveTo>
                    <a:pt x="14" y="130"/>
                  </a:moveTo>
                  <a:lnTo>
                    <a:pt x="14" y="143"/>
                  </a:lnTo>
                  <a:lnTo>
                    <a:pt x="0" y="143"/>
                  </a:lnTo>
                  <a:lnTo>
                    <a:pt x="0" y="130"/>
                  </a:lnTo>
                  <a:lnTo>
                    <a:pt x="14" y="130"/>
                  </a:lnTo>
                  <a:close/>
                  <a:moveTo>
                    <a:pt x="14" y="156"/>
                  </a:moveTo>
                  <a:lnTo>
                    <a:pt x="14" y="169"/>
                  </a:lnTo>
                  <a:lnTo>
                    <a:pt x="0" y="169"/>
                  </a:lnTo>
                  <a:lnTo>
                    <a:pt x="0" y="156"/>
                  </a:lnTo>
                  <a:lnTo>
                    <a:pt x="14" y="156"/>
                  </a:lnTo>
                  <a:close/>
                  <a:moveTo>
                    <a:pt x="14" y="182"/>
                  </a:moveTo>
                  <a:lnTo>
                    <a:pt x="14" y="194"/>
                  </a:lnTo>
                  <a:lnTo>
                    <a:pt x="0" y="194"/>
                  </a:lnTo>
                  <a:lnTo>
                    <a:pt x="0" y="182"/>
                  </a:lnTo>
                  <a:lnTo>
                    <a:pt x="14" y="182"/>
                  </a:lnTo>
                  <a:close/>
                  <a:moveTo>
                    <a:pt x="14" y="208"/>
                  </a:moveTo>
                  <a:lnTo>
                    <a:pt x="14" y="221"/>
                  </a:lnTo>
                  <a:lnTo>
                    <a:pt x="0" y="221"/>
                  </a:lnTo>
                  <a:lnTo>
                    <a:pt x="0" y="208"/>
                  </a:lnTo>
                  <a:lnTo>
                    <a:pt x="14" y="208"/>
                  </a:lnTo>
                  <a:close/>
                  <a:moveTo>
                    <a:pt x="14" y="233"/>
                  </a:moveTo>
                  <a:lnTo>
                    <a:pt x="14" y="246"/>
                  </a:lnTo>
                  <a:lnTo>
                    <a:pt x="0" y="246"/>
                  </a:lnTo>
                  <a:lnTo>
                    <a:pt x="0" y="233"/>
                  </a:lnTo>
                  <a:lnTo>
                    <a:pt x="14" y="233"/>
                  </a:lnTo>
                  <a:close/>
                  <a:moveTo>
                    <a:pt x="14" y="259"/>
                  </a:moveTo>
                  <a:lnTo>
                    <a:pt x="14" y="272"/>
                  </a:lnTo>
                  <a:lnTo>
                    <a:pt x="0" y="272"/>
                  </a:lnTo>
                  <a:lnTo>
                    <a:pt x="0" y="259"/>
                  </a:lnTo>
                  <a:lnTo>
                    <a:pt x="14" y="259"/>
                  </a:lnTo>
                  <a:close/>
                  <a:moveTo>
                    <a:pt x="14" y="285"/>
                  </a:moveTo>
                  <a:lnTo>
                    <a:pt x="14" y="298"/>
                  </a:lnTo>
                  <a:lnTo>
                    <a:pt x="0" y="298"/>
                  </a:lnTo>
                  <a:lnTo>
                    <a:pt x="0" y="285"/>
                  </a:lnTo>
                  <a:lnTo>
                    <a:pt x="14" y="285"/>
                  </a:lnTo>
                  <a:close/>
                  <a:moveTo>
                    <a:pt x="14" y="311"/>
                  </a:moveTo>
                  <a:lnTo>
                    <a:pt x="14" y="324"/>
                  </a:lnTo>
                  <a:lnTo>
                    <a:pt x="0" y="324"/>
                  </a:lnTo>
                  <a:lnTo>
                    <a:pt x="0" y="311"/>
                  </a:lnTo>
                  <a:lnTo>
                    <a:pt x="14" y="311"/>
                  </a:lnTo>
                  <a:close/>
                  <a:moveTo>
                    <a:pt x="14" y="337"/>
                  </a:moveTo>
                  <a:lnTo>
                    <a:pt x="14" y="350"/>
                  </a:lnTo>
                  <a:lnTo>
                    <a:pt x="0" y="350"/>
                  </a:lnTo>
                  <a:lnTo>
                    <a:pt x="0" y="337"/>
                  </a:lnTo>
                  <a:lnTo>
                    <a:pt x="14" y="337"/>
                  </a:lnTo>
                  <a:close/>
                  <a:moveTo>
                    <a:pt x="14" y="363"/>
                  </a:moveTo>
                  <a:lnTo>
                    <a:pt x="14" y="376"/>
                  </a:lnTo>
                  <a:lnTo>
                    <a:pt x="0" y="376"/>
                  </a:lnTo>
                  <a:lnTo>
                    <a:pt x="0" y="363"/>
                  </a:lnTo>
                  <a:lnTo>
                    <a:pt x="14" y="363"/>
                  </a:lnTo>
                  <a:close/>
                  <a:moveTo>
                    <a:pt x="14" y="389"/>
                  </a:moveTo>
                  <a:lnTo>
                    <a:pt x="14" y="402"/>
                  </a:lnTo>
                  <a:lnTo>
                    <a:pt x="0" y="402"/>
                  </a:lnTo>
                  <a:lnTo>
                    <a:pt x="0" y="389"/>
                  </a:lnTo>
                  <a:lnTo>
                    <a:pt x="14" y="389"/>
                  </a:lnTo>
                  <a:close/>
                  <a:moveTo>
                    <a:pt x="14" y="415"/>
                  </a:moveTo>
                  <a:lnTo>
                    <a:pt x="14" y="428"/>
                  </a:lnTo>
                  <a:lnTo>
                    <a:pt x="0" y="428"/>
                  </a:lnTo>
                  <a:lnTo>
                    <a:pt x="0" y="415"/>
                  </a:lnTo>
                  <a:lnTo>
                    <a:pt x="14" y="415"/>
                  </a:lnTo>
                  <a:close/>
                  <a:moveTo>
                    <a:pt x="14" y="441"/>
                  </a:moveTo>
                  <a:lnTo>
                    <a:pt x="14" y="454"/>
                  </a:lnTo>
                  <a:lnTo>
                    <a:pt x="0" y="454"/>
                  </a:lnTo>
                  <a:lnTo>
                    <a:pt x="0" y="441"/>
                  </a:lnTo>
                  <a:lnTo>
                    <a:pt x="14" y="441"/>
                  </a:lnTo>
                  <a:close/>
                  <a:moveTo>
                    <a:pt x="14" y="467"/>
                  </a:moveTo>
                  <a:lnTo>
                    <a:pt x="14" y="480"/>
                  </a:lnTo>
                  <a:lnTo>
                    <a:pt x="0" y="480"/>
                  </a:lnTo>
                  <a:lnTo>
                    <a:pt x="0" y="467"/>
                  </a:lnTo>
                  <a:lnTo>
                    <a:pt x="14" y="467"/>
                  </a:lnTo>
                  <a:close/>
                  <a:moveTo>
                    <a:pt x="14" y="493"/>
                  </a:moveTo>
                  <a:lnTo>
                    <a:pt x="14" y="506"/>
                  </a:lnTo>
                  <a:lnTo>
                    <a:pt x="0" y="506"/>
                  </a:lnTo>
                  <a:lnTo>
                    <a:pt x="0" y="493"/>
                  </a:lnTo>
                  <a:lnTo>
                    <a:pt x="14" y="493"/>
                  </a:lnTo>
                  <a:close/>
                  <a:moveTo>
                    <a:pt x="14" y="519"/>
                  </a:moveTo>
                  <a:lnTo>
                    <a:pt x="14" y="532"/>
                  </a:lnTo>
                  <a:lnTo>
                    <a:pt x="0" y="532"/>
                  </a:lnTo>
                  <a:lnTo>
                    <a:pt x="0" y="519"/>
                  </a:lnTo>
                  <a:lnTo>
                    <a:pt x="14" y="519"/>
                  </a:lnTo>
                  <a:close/>
                  <a:moveTo>
                    <a:pt x="14" y="545"/>
                  </a:moveTo>
                  <a:lnTo>
                    <a:pt x="14" y="558"/>
                  </a:lnTo>
                  <a:lnTo>
                    <a:pt x="0" y="558"/>
                  </a:lnTo>
                  <a:lnTo>
                    <a:pt x="0" y="545"/>
                  </a:lnTo>
                  <a:lnTo>
                    <a:pt x="14" y="545"/>
                  </a:lnTo>
                  <a:close/>
                  <a:moveTo>
                    <a:pt x="14" y="571"/>
                  </a:moveTo>
                  <a:lnTo>
                    <a:pt x="14" y="583"/>
                  </a:lnTo>
                  <a:lnTo>
                    <a:pt x="0" y="583"/>
                  </a:lnTo>
                  <a:lnTo>
                    <a:pt x="0" y="571"/>
                  </a:lnTo>
                  <a:lnTo>
                    <a:pt x="14" y="571"/>
                  </a:lnTo>
                  <a:close/>
                  <a:moveTo>
                    <a:pt x="14" y="596"/>
                  </a:moveTo>
                  <a:lnTo>
                    <a:pt x="14" y="610"/>
                  </a:lnTo>
                  <a:lnTo>
                    <a:pt x="0" y="610"/>
                  </a:lnTo>
                  <a:lnTo>
                    <a:pt x="0" y="596"/>
                  </a:lnTo>
                  <a:lnTo>
                    <a:pt x="14" y="596"/>
                  </a:lnTo>
                  <a:close/>
                  <a:moveTo>
                    <a:pt x="14" y="622"/>
                  </a:moveTo>
                  <a:lnTo>
                    <a:pt x="14" y="635"/>
                  </a:lnTo>
                  <a:lnTo>
                    <a:pt x="0" y="635"/>
                  </a:lnTo>
                  <a:lnTo>
                    <a:pt x="0" y="622"/>
                  </a:lnTo>
                  <a:lnTo>
                    <a:pt x="14" y="622"/>
                  </a:lnTo>
                  <a:close/>
                  <a:moveTo>
                    <a:pt x="14" y="648"/>
                  </a:moveTo>
                  <a:lnTo>
                    <a:pt x="14" y="661"/>
                  </a:lnTo>
                  <a:lnTo>
                    <a:pt x="0" y="661"/>
                  </a:lnTo>
                  <a:lnTo>
                    <a:pt x="0" y="648"/>
                  </a:lnTo>
                  <a:lnTo>
                    <a:pt x="14" y="648"/>
                  </a:lnTo>
                  <a:close/>
                  <a:moveTo>
                    <a:pt x="14" y="674"/>
                  </a:moveTo>
                  <a:lnTo>
                    <a:pt x="14" y="687"/>
                  </a:lnTo>
                  <a:lnTo>
                    <a:pt x="0" y="687"/>
                  </a:lnTo>
                  <a:lnTo>
                    <a:pt x="0" y="674"/>
                  </a:lnTo>
                  <a:lnTo>
                    <a:pt x="14" y="674"/>
                  </a:lnTo>
                  <a:close/>
                  <a:moveTo>
                    <a:pt x="14" y="700"/>
                  </a:moveTo>
                  <a:lnTo>
                    <a:pt x="14" y="713"/>
                  </a:lnTo>
                  <a:lnTo>
                    <a:pt x="0" y="713"/>
                  </a:lnTo>
                  <a:lnTo>
                    <a:pt x="0" y="700"/>
                  </a:lnTo>
                  <a:lnTo>
                    <a:pt x="14" y="700"/>
                  </a:lnTo>
                  <a:close/>
                  <a:moveTo>
                    <a:pt x="14" y="726"/>
                  </a:moveTo>
                  <a:lnTo>
                    <a:pt x="14" y="739"/>
                  </a:lnTo>
                  <a:lnTo>
                    <a:pt x="0" y="739"/>
                  </a:lnTo>
                  <a:lnTo>
                    <a:pt x="0" y="726"/>
                  </a:lnTo>
                  <a:lnTo>
                    <a:pt x="14" y="726"/>
                  </a:lnTo>
                  <a:close/>
                  <a:moveTo>
                    <a:pt x="14" y="752"/>
                  </a:moveTo>
                  <a:lnTo>
                    <a:pt x="14" y="765"/>
                  </a:lnTo>
                  <a:lnTo>
                    <a:pt x="0" y="765"/>
                  </a:lnTo>
                  <a:lnTo>
                    <a:pt x="0" y="752"/>
                  </a:lnTo>
                  <a:lnTo>
                    <a:pt x="14" y="752"/>
                  </a:lnTo>
                  <a:close/>
                  <a:moveTo>
                    <a:pt x="14" y="778"/>
                  </a:moveTo>
                  <a:lnTo>
                    <a:pt x="14" y="791"/>
                  </a:lnTo>
                  <a:lnTo>
                    <a:pt x="0" y="791"/>
                  </a:lnTo>
                  <a:lnTo>
                    <a:pt x="0" y="778"/>
                  </a:lnTo>
                  <a:lnTo>
                    <a:pt x="14" y="778"/>
                  </a:lnTo>
                  <a:close/>
                  <a:moveTo>
                    <a:pt x="14" y="804"/>
                  </a:moveTo>
                  <a:lnTo>
                    <a:pt x="14" y="817"/>
                  </a:lnTo>
                  <a:lnTo>
                    <a:pt x="0" y="817"/>
                  </a:lnTo>
                  <a:lnTo>
                    <a:pt x="0" y="804"/>
                  </a:lnTo>
                  <a:lnTo>
                    <a:pt x="14" y="804"/>
                  </a:lnTo>
                  <a:close/>
                  <a:moveTo>
                    <a:pt x="14" y="830"/>
                  </a:moveTo>
                  <a:lnTo>
                    <a:pt x="14" y="843"/>
                  </a:lnTo>
                  <a:lnTo>
                    <a:pt x="0" y="843"/>
                  </a:lnTo>
                  <a:lnTo>
                    <a:pt x="0" y="830"/>
                  </a:lnTo>
                  <a:lnTo>
                    <a:pt x="14" y="830"/>
                  </a:lnTo>
                  <a:close/>
                  <a:moveTo>
                    <a:pt x="14" y="856"/>
                  </a:moveTo>
                  <a:lnTo>
                    <a:pt x="14" y="869"/>
                  </a:lnTo>
                  <a:lnTo>
                    <a:pt x="0" y="869"/>
                  </a:lnTo>
                  <a:lnTo>
                    <a:pt x="0" y="856"/>
                  </a:lnTo>
                  <a:lnTo>
                    <a:pt x="14" y="856"/>
                  </a:lnTo>
                  <a:close/>
                  <a:moveTo>
                    <a:pt x="14" y="882"/>
                  </a:moveTo>
                  <a:lnTo>
                    <a:pt x="14" y="895"/>
                  </a:lnTo>
                  <a:lnTo>
                    <a:pt x="0" y="895"/>
                  </a:lnTo>
                  <a:lnTo>
                    <a:pt x="0" y="882"/>
                  </a:lnTo>
                  <a:lnTo>
                    <a:pt x="14" y="882"/>
                  </a:lnTo>
                  <a:close/>
                  <a:moveTo>
                    <a:pt x="14" y="908"/>
                  </a:moveTo>
                  <a:lnTo>
                    <a:pt x="14" y="921"/>
                  </a:lnTo>
                  <a:lnTo>
                    <a:pt x="0" y="921"/>
                  </a:lnTo>
                  <a:lnTo>
                    <a:pt x="0" y="908"/>
                  </a:lnTo>
                  <a:lnTo>
                    <a:pt x="14" y="908"/>
                  </a:lnTo>
                  <a:close/>
                  <a:moveTo>
                    <a:pt x="14" y="933"/>
                  </a:moveTo>
                  <a:lnTo>
                    <a:pt x="14" y="947"/>
                  </a:lnTo>
                  <a:lnTo>
                    <a:pt x="0" y="947"/>
                  </a:lnTo>
                  <a:lnTo>
                    <a:pt x="0" y="933"/>
                  </a:lnTo>
                  <a:lnTo>
                    <a:pt x="14" y="933"/>
                  </a:lnTo>
                  <a:close/>
                  <a:moveTo>
                    <a:pt x="14" y="960"/>
                  </a:moveTo>
                  <a:lnTo>
                    <a:pt x="14" y="972"/>
                  </a:lnTo>
                  <a:lnTo>
                    <a:pt x="0" y="972"/>
                  </a:lnTo>
                  <a:lnTo>
                    <a:pt x="0" y="960"/>
                  </a:lnTo>
                  <a:lnTo>
                    <a:pt x="14" y="960"/>
                  </a:lnTo>
                  <a:close/>
                  <a:moveTo>
                    <a:pt x="14" y="985"/>
                  </a:moveTo>
                  <a:lnTo>
                    <a:pt x="14" y="999"/>
                  </a:lnTo>
                  <a:lnTo>
                    <a:pt x="0" y="999"/>
                  </a:lnTo>
                  <a:lnTo>
                    <a:pt x="0" y="985"/>
                  </a:lnTo>
                  <a:lnTo>
                    <a:pt x="14" y="985"/>
                  </a:lnTo>
                  <a:close/>
                  <a:moveTo>
                    <a:pt x="14" y="1011"/>
                  </a:moveTo>
                  <a:lnTo>
                    <a:pt x="14" y="1024"/>
                  </a:lnTo>
                  <a:lnTo>
                    <a:pt x="0" y="1024"/>
                  </a:lnTo>
                  <a:lnTo>
                    <a:pt x="0" y="1011"/>
                  </a:lnTo>
                  <a:lnTo>
                    <a:pt x="14" y="1011"/>
                  </a:lnTo>
                  <a:close/>
                  <a:moveTo>
                    <a:pt x="14" y="1037"/>
                  </a:moveTo>
                  <a:lnTo>
                    <a:pt x="14" y="1050"/>
                  </a:lnTo>
                  <a:lnTo>
                    <a:pt x="0" y="1050"/>
                  </a:lnTo>
                  <a:lnTo>
                    <a:pt x="0" y="1037"/>
                  </a:lnTo>
                  <a:lnTo>
                    <a:pt x="14" y="1037"/>
                  </a:lnTo>
                  <a:close/>
                  <a:moveTo>
                    <a:pt x="14" y="1063"/>
                  </a:moveTo>
                  <a:lnTo>
                    <a:pt x="14" y="1076"/>
                  </a:lnTo>
                  <a:lnTo>
                    <a:pt x="0" y="1076"/>
                  </a:lnTo>
                  <a:lnTo>
                    <a:pt x="0" y="1063"/>
                  </a:lnTo>
                  <a:lnTo>
                    <a:pt x="14" y="1063"/>
                  </a:lnTo>
                  <a:close/>
                  <a:moveTo>
                    <a:pt x="14" y="1089"/>
                  </a:moveTo>
                  <a:lnTo>
                    <a:pt x="14" y="1102"/>
                  </a:lnTo>
                  <a:lnTo>
                    <a:pt x="0" y="1102"/>
                  </a:lnTo>
                  <a:lnTo>
                    <a:pt x="0" y="1089"/>
                  </a:lnTo>
                  <a:lnTo>
                    <a:pt x="14" y="1089"/>
                  </a:lnTo>
                  <a:close/>
                  <a:moveTo>
                    <a:pt x="14" y="1115"/>
                  </a:moveTo>
                  <a:lnTo>
                    <a:pt x="14" y="1128"/>
                  </a:lnTo>
                  <a:lnTo>
                    <a:pt x="0" y="1128"/>
                  </a:lnTo>
                  <a:lnTo>
                    <a:pt x="0" y="1115"/>
                  </a:lnTo>
                  <a:lnTo>
                    <a:pt x="14" y="1115"/>
                  </a:lnTo>
                  <a:close/>
                  <a:moveTo>
                    <a:pt x="14" y="1141"/>
                  </a:moveTo>
                  <a:lnTo>
                    <a:pt x="14" y="1154"/>
                  </a:lnTo>
                  <a:lnTo>
                    <a:pt x="0" y="1154"/>
                  </a:lnTo>
                  <a:lnTo>
                    <a:pt x="0" y="1141"/>
                  </a:lnTo>
                  <a:lnTo>
                    <a:pt x="14" y="1141"/>
                  </a:lnTo>
                  <a:close/>
                  <a:moveTo>
                    <a:pt x="14" y="1167"/>
                  </a:moveTo>
                  <a:lnTo>
                    <a:pt x="14" y="1180"/>
                  </a:lnTo>
                  <a:lnTo>
                    <a:pt x="0" y="1180"/>
                  </a:lnTo>
                  <a:lnTo>
                    <a:pt x="0" y="1167"/>
                  </a:lnTo>
                  <a:lnTo>
                    <a:pt x="14" y="1167"/>
                  </a:lnTo>
                  <a:close/>
                  <a:moveTo>
                    <a:pt x="14" y="1193"/>
                  </a:moveTo>
                  <a:lnTo>
                    <a:pt x="14" y="1206"/>
                  </a:lnTo>
                  <a:lnTo>
                    <a:pt x="0" y="1206"/>
                  </a:lnTo>
                  <a:lnTo>
                    <a:pt x="0" y="1193"/>
                  </a:lnTo>
                  <a:lnTo>
                    <a:pt x="14" y="1193"/>
                  </a:lnTo>
                  <a:close/>
                  <a:moveTo>
                    <a:pt x="14" y="1219"/>
                  </a:moveTo>
                  <a:lnTo>
                    <a:pt x="14" y="1232"/>
                  </a:lnTo>
                  <a:lnTo>
                    <a:pt x="0" y="1232"/>
                  </a:lnTo>
                  <a:lnTo>
                    <a:pt x="0" y="1219"/>
                  </a:lnTo>
                  <a:lnTo>
                    <a:pt x="14" y="1219"/>
                  </a:lnTo>
                  <a:close/>
                  <a:moveTo>
                    <a:pt x="14" y="1245"/>
                  </a:moveTo>
                  <a:lnTo>
                    <a:pt x="14" y="1258"/>
                  </a:lnTo>
                  <a:lnTo>
                    <a:pt x="0" y="1258"/>
                  </a:lnTo>
                  <a:lnTo>
                    <a:pt x="0" y="1245"/>
                  </a:lnTo>
                  <a:lnTo>
                    <a:pt x="14" y="1245"/>
                  </a:lnTo>
                  <a:close/>
                  <a:moveTo>
                    <a:pt x="14" y="1271"/>
                  </a:moveTo>
                  <a:lnTo>
                    <a:pt x="14" y="1284"/>
                  </a:lnTo>
                  <a:lnTo>
                    <a:pt x="0" y="1284"/>
                  </a:lnTo>
                  <a:lnTo>
                    <a:pt x="0" y="1271"/>
                  </a:lnTo>
                  <a:lnTo>
                    <a:pt x="14" y="1271"/>
                  </a:lnTo>
                  <a:close/>
                  <a:moveTo>
                    <a:pt x="14" y="1297"/>
                  </a:moveTo>
                  <a:lnTo>
                    <a:pt x="14" y="1310"/>
                  </a:lnTo>
                  <a:lnTo>
                    <a:pt x="0" y="1310"/>
                  </a:lnTo>
                  <a:lnTo>
                    <a:pt x="0" y="1297"/>
                  </a:lnTo>
                  <a:lnTo>
                    <a:pt x="14" y="1297"/>
                  </a:lnTo>
                  <a:close/>
                  <a:moveTo>
                    <a:pt x="14" y="1322"/>
                  </a:moveTo>
                  <a:lnTo>
                    <a:pt x="14" y="1335"/>
                  </a:lnTo>
                  <a:lnTo>
                    <a:pt x="0" y="1335"/>
                  </a:lnTo>
                  <a:lnTo>
                    <a:pt x="0" y="1322"/>
                  </a:lnTo>
                  <a:lnTo>
                    <a:pt x="14" y="1322"/>
                  </a:lnTo>
                  <a:close/>
                  <a:moveTo>
                    <a:pt x="14" y="1349"/>
                  </a:moveTo>
                  <a:lnTo>
                    <a:pt x="14" y="1361"/>
                  </a:lnTo>
                  <a:lnTo>
                    <a:pt x="0" y="1361"/>
                  </a:lnTo>
                  <a:lnTo>
                    <a:pt x="0" y="1349"/>
                  </a:lnTo>
                  <a:lnTo>
                    <a:pt x="14" y="1349"/>
                  </a:lnTo>
                  <a:close/>
                  <a:moveTo>
                    <a:pt x="14" y="1374"/>
                  </a:moveTo>
                  <a:lnTo>
                    <a:pt x="14" y="1387"/>
                  </a:lnTo>
                  <a:lnTo>
                    <a:pt x="0" y="1387"/>
                  </a:lnTo>
                  <a:lnTo>
                    <a:pt x="0" y="1374"/>
                  </a:lnTo>
                  <a:lnTo>
                    <a:pt x="14" y="1374"/>
                  </a:lnTo>
                  <a:close/>
                  <a:moveTo>
                    <a:pt x="14" y="1400"/>
                  </a:moveTo>
                  <a:lnTo>
                    <a:pt x="14" y="1413"/>
                  </a:lnTo>
                  <a:lnTo>
                    <a:pt x="0" y="1413"/>
                  </a:lnTo>
                  <a:lnTo>
                    <a:pt x="0" y="1400"/>
                  </a:lnTo>
                  <a:lnTo>
                    <a:pt x="14" y="1400"/>
                  </a:lnTo>
                  <a:close/>
                  <a:moveTo>
                    <a:pt x="14" y="1426"/>
                  </a:moveTo>
                  <a:lnTo>
                    <a:pt x="14" y="1439"/>
                  </a:lnTo>
                  <a:lnTo>
                    <a:pt x="0" y="1439"/>
                  </a:lnTo>
                  <a:lnTo>
                    <a:pt x="0" y="1426"/>
                  </a:lnTo>
                  <a:lnTo>
                    <a:pt x="14" y="1426"/>
                  </a:lnTo>
                  <a:close/>
                  <a:moveTo>
                    <a:pt x="14" y="1452"/>
                  </a:moveTo>
                  <a:lnTo>
                    <a:pt x="14" y="1465"/>
                  </a:lnTo>
                  <a:lnTo>
                    <a:pt x="0" y="1465"/>
                  </a:lnTo>
                  <a:lnTo>
                    <a:pt x="0" y="1452"/>
                  </a:lnTo>
                  <a:lnTo>
                    <a:pt x="14" y="1452"/>
                  </a:lnTo>
                  <a:close/>
                  <a:moveTo>
                    <a:pt x="14" y="1478"/>
                  </a:moveTo>
                  <a:lnTo>
                    <a:pt x="14" y="1491"/>
                  </a:lnTo>
                  <a:lnTo>
                    <a:pt x="0" y="1491"/>
                  </a:lnTo>
                  <a:lnTo>
                    <a:pt x="0" y="1478"/>
                  </a:lnTo>
                  <a:lnTo>
                    <a:pt x="14" y="1478"/>
                  </a:lnTo>
                  <a:close/>
                  <a:moveTo>
                    <a:pt x="14" y="1504"/>
                  </a:moveTo>
                  <a:lnTo>
                    <a:pt x="14" y="1517"/>
                  </a:lnTo>
                  <a:lnTo>
                    <a:pt x="0" y="1517"/>
                  </a:lnTo>
                  <a:lnTo>
                    <a:pt x="0" y="1504"/>
                  </a:lnTo>
                  <a:lnTo>
                    <a:pt x="14" y="1504"/>
                  </a:lnTo>
                  <a:close/>
                  <a:moveTo>
                    <a:pt x="14" y="1530"/>
                  </a:moveTo>
                  <a:lnTo>
                    <a:pt x="14" y="1543"/>
                  </a:lnTo>
                  <a:lnTo>
                    <a:pt x="0" y="1543"/>
                  </a:lnTo>
                  <a:lnTo>
                    <a:pt x="0" y="1530"/>
                  </a:lnTo>
                  <a:lnTo>
                    <a:pt x="14" y="1530"/>
                  </a:lnTo>
                  <a:close/>
                  <a:moveTo>
                    <a:pt x="14" y="1556"/>
                  </a:moveTo>
                  <a:lnTo>
                    <a:pt x="14" y="1569"/>
                  </a:lnTo>
                  <a:lnTo>
                    <a:pt x="0" y="1569"/>
                  </a:lnTo>
                  <a:lnTo>
                    <a:pt x="0" y="1556"/>
                  </a:lnTo>
                  <a:lnTo>
                    <a:pt x="14" y="1556"/>
                  </a:lnTo>
                  <a:close/>
                  <a:moveTo>
                    <a:pt x="14" y="1582"/>
                  </a:moveTo>
                  <a:lnTo>
                    <a:pt x="14" y="1595"/>
                  </a:lnTo>
                  <a:lnTo>
                    <a:pt x="0" y="1595"/>
                  </a:lnTo>
                  <a:lnTo>
                    <a:pt x="0" y="1582"/>
                  </a:lnTo>
                  <a:lnTo>
                    <a:pt x="14" y="1582"/>
                  </a:lnTo>
                  <a:close/>
                  <a:moveTo>
                    <a:pt x="14" y="1608"/>
                  </a:moveTo>
                  <a:lnTo>
                    <a:pt x="14" y="1621"/>
                  </a:lnTo>
                  <a:lnTo>
                    <a:pt x="0" y="1621"/>
                  </a:lnTo>
                  <a:lnTo>
                    <a:pt x="0" y="1608"/>
                  </a:lnTo>
                  <a:lnTo>
                    <a:pt x="14" y="1608"/>
                  </a:lnTo>
                  <a:close/>
                  <a:moveTo>
                    <a:pt x="14" y="1634"/>
                  </a:moveTo>
                  <a:lnTo>
                    <a:pt x="14" y="1647"/>
                  </a:lnTo>
                  <a:lnTo>
                    <a:pt x="0" y="1647"/>
                  </a:lnTo>
                  <a:lnTo>
                    <a:pt x="0" y="1634"/>
                  </a:lnTo>
                  <a:lnTo>
                    <a:pt x="14" y="1634"/>
                  </a:lnTo>
                  <a:close/>
                  <a:moveTo>
                    <a:pt x="14" y="1660"/>
                  </a:moveTo>
                  <a:lnTo>
                    <a:pt x="14" y="1672"/>
                  </a:lnTo>
                  <a:lnTo>
                    <a:pt x="0" y="1672"/>
                  </a:lnTo>
                  <a:lnTo>
                    <a:pt x="0" y="1660"/>
                  </a:lnTo>
                  <a:lnTo>
                    <a:pt x="14" y="1660"/>
                  </a:lnTo>
                  <a:close/>
                  <a:moveTo>
                    <a:pt x="14" y="1686"/>
                  </a:moveTo>
                  <a:lnTo>
                    <a:pt x="14" y="1699"/>
                  </a:lnTo>
                  <a:lnTo>
                    <a:pt x="0" y="1699"/>
                  </a:lnTo>
                  <a:lnTo>
                    <a:pt x="0" y="1686"/>
                  </a:lnTo>
                  <a:lnTo>
                    <a:pt x="14" y="1686"/>
                  </a:lnTo>
                  <a:close/>
                  <a:moveTo>
                    <a:pt x="14" y="1711"/>
                  </a:moveTo>
                  <a:lnTo>
                    <a:pt x="14" y="1724"/>
                  </a:lnTo>
                  <a:lnTo>
                    <a:pt x="0" y="1724"/>
                  </a:lnTo>
                  <a:lnTo>
                    <a:pt x="0" y="1711"/>
                  </a:lnTo>
                  <a:lnTo>
                    <a:pt x="14" y="1711"/>
                  </a:lnTo>
                  <a:close/>
                  <a:moveTo>
                    <a:pt x="14" y="1738"/>
                  </a:moveTo>
                  <a:lnTo>
                    <a:pt x="14" y="1750"/>
                  </a:lnTo>
                  <a:lnTo>
                    <a:pt x="0" y="1750"/>
                  </a:lnTo>
                  <a:lnTo>
                    <a:pt x="0" y="1738"/>
                  </a:lnTo>
                  <a:lnTo>
                    <a:pt x="14" y="1738"/>
                  </a:lnTo>
                  <a:close/>
                  <a:moveTo>
                    <a:pt x="14" y="1763"/>
                  </a:moveTo>
                  <a:lnTo>
                    <a:pt x="14" y="1776"/>
                  </a:lnTo>
                  <a:lnTo>
                    <a:pt x="0" y="1776"/>
                  </a:lnTo>
                  <a:lnTo>
                    <a:pt x="0" y="1763"/>
                  </a:lnTo>
                  <a:lnTo>
                    <a:pt x="14" y="1763"/>
                  </a:lnTo>
                  <a:close/>
                  <a:moveTo>
                    <a:pt x="14" y="1789"/>
                  </a:moveTo>
                  <a:lnTo>
                    <a:pt x="14" y="1802"/>
                  </a:lnTo>
                  <a:lnTo>
                    <a:pt x="0" y="1802"/>
                  </a:lnTo>
                  <a:lnTo>
                    <a:pt x="0" y="1789"/>
                  </a:lnTo>
                  <a:lnTo>
                    <a:pt x="14" y="1789"/>
                  </a:lnTo>
                  <a:close/>
                  <a:moveTo>
                    <a:pt x="14" y="1815"/>
                  </a:moveTo>
                  <a:lnTo>
                    <a:pt x="14" y="1828"/>
                  </a:lnTo>
                  <a:lnTo>
                    <a:pt x="0" y="1828"/>
                  </a:lnTo>
                  <a:lnTo>
                    <a:pt x="0" y="1815"/>
                  </a:lnTo>
                  <a:lnTo>
                    <a:pt x="14" y="1815"/>
                  </a:lnTo>
                  <a:close/>
                  <a:moveTo>
                    <a:pt x="14" y="1841"/>
                  </a:moveTo>
                  <a:lnTo>
                    <a:pt x="14" y="1854"/>
                  </a:lnTo>
                  <a:lnTo>
                    <a:pt x="0" y="1854"/>
                  </a:lnTo>
                  <a:lnTo>
                    <a:pt x="0" y="1841"/>
                  </a:lnTo>
                  <a:lnTo>
                    <a:pt x="14" y="1841"/>
                  </a:lnTo>
                  <a:close/>
                  <a:moveTo>
                    <a:pt x="14" y="1867"/>
                  </a:moveTo>
                  <a:lnTo>
                    <a:pt x="14" y="1880"/>
                  </a:lnTo>
                  <a:lnTo>
                    <a:pt x="0" y="1880"/>
                  </a:lnTo>
                  <a:lnTo>
                    <a:pt x="0" y="1867"/>
                  </a:lnTo>
                  <a:lnTo>
                    <a:pt x="14" y="1867"/>
                  </a:lnTo>
                  <a:close/>
                  <a:moveTo>
                    <a:pt x="14" y="1893"/>
                  </a:moveTo>
                  <a:lnTo>
                    <a:pt x="14" y="1906"/>
                  </a:lnTo>
                  <a:lnTo>
                    <a:pt x="0" y="1906"/>
                  </a:lnTo>
                  <a:lnTo>
                    <a:pt x="0" y="1893"/>
                  </a:lnTo>
                  <a:lnTo>
                    <a:pt x="14" y="1893"/>
                  </a:lnTo>
                  <a:close/>
                  <a:moveTo>
                    <a:pt x="14" y="1919"/>
                  </a:moveTo>
                  <a:lnTo>
                    <a:pt x="14" y="1932"/>
                  </a:lnTo>
                  <a:lnTo>
                    <a:pt x="0" y="1932"/>
                  </a:lnTo>
                  <a:lnTo>
                    <a:pt x="0" y="1919"/>
                  </a:lnTo>
                  <a:lnTo>
                    <a:pt x="14" y="1919"/>
                  </a:lnTo>
                  <a:close/>
                  <a:moveTo>
                    <a:pt x="14" y="1945"/>
                  </a:moveTo>
                  <a:lnTo>
                    <a:pt x="14" y="1958"/>
                  </a:lnTo>
                  <a:lnTo>
                    <a:pt x="0" y="1958"/>
                  </a:lnTo>
                  <a:lnTo>
                    <a:pt x="0" y="1945"/>
                  </a:lnTo>
                  <a:lnTo>
                    <a:pt x="14" y="1945"/>
                  </a:lnTo>
                  <a:close/>
                  <a:moveTo>
                    <a:pt x="14" y="1971"/>
                  </a:moveTo>
                  <a:lnTo>
                    <a:pt x="14" y="1984"/>
                  </a:lnTo>
                  <a:lnTo>
                    <a:pt x="0" y="1984"/>
                  </a:lnTo>
                  <a:lnTo>
                    <a:pt x="0" y="1971"/>
                  </a:lnTo>
                  <a:lnTo>
                    <a:pt x="14" y="1971"/>
                  </a:lnTo>
                  <a:close/>
                  <a:moveTo>
                    <a:pt x="14" y="1997"/>
                  </a:moveTo>
                  <a:lnTo>
                    <a:pt x="14" y="2010"/>
                  </a:lnTo>
                  <a:lnTo>
                    <a:pt x="0" y="2010"/>
                  </a:lnTo>
                  <a:lnTo>
                    <a:pt x="0" y="1997"/>
                  </a:lnTo>
                  <a:lnTo>
                    <a:pt x="14" y="1997"/>
                  </a:lnTo>
                  <a:close/>
                  <a:moveTo>
                    <a:pt x="14" y="2023"/>
                  </a:moveTo>
                  <a:lnTo>
                    <a:pt x="14" y="2036"/>
                  </a:lnTo>
                  <a:lnTo>
                    <a:pt x="0" y="2036"/>
                  </a:lnTo>
                  <a:lnTo>
                    <a:pt x="0" y="2023"/>
                  </a:lnTo>
                  <a:lnTo>
                    <a:pt x="14" y="2023"/>
                  </a:lnTo>
                  <a:close/>
                  <a:moveTo>
                    <a:pt x="14" y="2049"/>
                  </a:moveTo>
                  <a:lnTo>
                    <a:pt x="14" y="2061"/>
                  </a:lnTo>
                  <a:lnTo>
                    <a:pt x="0" y="2061"/>
                  </a:lnTo>
                  <a:lnTo>
                    <a:pt x="0" y="2049"/>
                  </a:lnTo>
                  <a:lnTo>
                    <a:pt x="14" y="2049"/>
                  </a:lnTo>
                  <a:close/>
                  <a:moveTo>
                    <a:pt x="14" y="2075"/>
                  </a:moveTo>
                  <a:lnTo>
                    <a:pt x="14" y="2088"/>
                  </a:lnTo>
                  <a:lnTo>
                    <a:pt x="0" y="2088"/>
                  </a:lnTo>
                  <a:lnTo>
                    <a:pt x="0" y="2075"/>
                  </a:lnTo>
                  <a:lnTo>
                    <a:pt x="14" y="2075"/>
                  </a:lnTo>
                  <a:close/>
                  <a:moveTo>
                    <a:pt x="14" y="2100"/>
                  </a:moveTo>
                  <a:lnTo>
                    <a:pt x="14" y="2113"/>
                  </a:lnTo>
                  <a:lnTo>
                    <a:pt x="0" y="2113"/>
                  </a:lnTo>
                  <a:lnTo>
                    <a:pt x="0" y="2100"/>
                  </a:lnTo>
                  <a:lnTo>
                    <a:pt x="14" y="2100"/>
                  </a:lnTo>
                  <a:close/>
                  <a:moveTo>
                    <a:pt x="14" y="2126"/>
                  </a:moveTo>
                  <a:lnTo>
                    <a:pt x="14" y="2139"/>
                  </a:lnTo>
                  <a:lnTo>
                    <a:pt x="0" y="2139"/>
                  </a:lnTo>
                  <a:lnTo>
                    <a:pt x="0" y="2126"/>
                  </a:lnTo>
                  <a:lnTo>
                    <a:pt x="14" y="2126"/>
                  </a:lnTo>
                  <a:close/>
                  <a:moveTo>
                    <a:pt x="14" y="2152"/>
                  </a:moveTo>
                  <a:lnTo>
                    <a:pt x="14" y="2165"/>
                  </a:lnTo>
                  <a:lnTo>
                    <a:pt x="0" y="2165"/>
                  </a:lnTo>
                  <a:lnTo>
                    <a:pt x="0" y="2152"/>
                  </a:lnTo>
                  <a:lnTo>
                    <a:pt x="14" y="2152"/>
                  </a:lnTo>
                  <a:close/>
                  <a:moveTo>
                    <a:pt x="14" y="2178"/>
                  </a:moveTo>
                  <a:lnTo>
                    <a:pt x="14" y="2191"/>
                  </a:lnTo>
                  <a:lnTo>
                    <a:pt x="0" y="2191"/>
                  </a:lnTo>
                  <a:lnTo>
                    <a:pt x="0" y="2178"/>
                  </a:lnTo>
                  <a:lnTo>
                    <a:pt x="14" y="2178"/>
                  </a:lnTo>
                  <a:close/>
                  <a:moveTo>
                    <a:pt x="14" y="2204"/>
                  </a:moveTo>
                  <a:lnTo>
                    <a:pt x="14" y="2217"/>
                  </a:lnTo>
                  <a:lnTo>
                    <a:pt x="0" y="2217"/>
                  </a:lnTo>
                  <a:lnTo>
                    <a:pt x="0" y="2204"/>
                  </a:lnTo>
                  <a:lnTo>
                    <a:pt x="14" y="2204"/>
                  </a:lnTo>
                  <a:close/>
                  <a:moveTo>
                    <a:pt x="14" y="2230"/>
                  </a:moveTo>
                  <a:lnTo>
                    <a:pt x="14" y="2243"/>
                  </a:lnTo>
                  <a:lnTo>
                    <a:pt x="0" y="2243"/>
                  </a:lnTo>
                  <a:lnTo>
                    <a:pt x="0" y="2230"/>
                  </a:lnTo>
                  <a:lnTo>
                    <a:pt x="14" y="2230"/>
                  </a:lnTo>
                  <a:close/>
                  <a:moveTo>
                    <a:pt x="14" y="2256"/>
                  </a:moveTo>
                  <a:lnTo>
                    <a:pt x="14" y="2269"/>
                  </a:lnTo>
                  <a:lnTo>
                    <a:pt x="0" y="2269"/>
                  </a:lnTo>
                  <a:lnTo>
                    <a:pt x="0" y="2256"/>
                  </a:lnTo>
                  <a:lnTo>
                    <a:pt x="14" y="2256"/>
                  </a:lnTo>
                  <a:close/>
                  <a:moveTo>
                    <a:pt x="14" y="2282"/>
                  </a:moveTo>
                  <a:lnTo>
                    <a:pt x="14" y="2285"/>
                  </a:lnTo>
                  <a:lnTo>
                    <a:pt x="0" y="2285"/>
                  </a:lnTo>
                  <a:lnTo>
                    <a:pt x="0" y="2282"/>
                  </a:lnTo>
                  <a:lnTo>
                    <a:pt x="14" y="2282"/>
                  </a:lnTo>
                  <a:close/>
                </a:path>
              </a:pathLst>
            </a:custGeom>
            <a:solidFill>
              <a:srgbClr val="000000"/>
            </a:solidFill>
            <a:ln w="0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0" name="Freeform 47">
              <a:extLst>
                <a:ext uri="{FF2B5EF4-FFF2-40B4-BE49-F238E27FC236}">
                  <a16:creationId xmlns:a16="http://schemas.microsoft.com/office/drawing/2014/main" id="{CCC2A2EC-AA6B-4C5B-82F9-08FF830C78F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067" y="1978"/>
              <a:ext cx="14" cy="2285"/>
            </a:xfrm>
            <a:custGeom>
              <a:avLst/>
              <a:gdLst>
                <a:gd name="T0" fmla="*/ 14 w 14"/>
                <a:gd name="T1" fmla="*/ 39 h 2285"/>
                <a:gd name="T2" fmla="*/ 0 w 14"/>
                <a:gd name="T3" fmla="*/ 52 h 2285"/>
                <a:gd name="T4" fmla="*/ 14 w 14"/>
                <a:gd name="T5" fmla="*/ 104 h 2285"/>
                <a:gd name="T6" fmla="*/ 0 w 14"/>
                <a:gd name="T7" fmla="*/ 143 h 2285"/>
                <a:gd name="T8" fmla="*/ 14 w 14"/>
                <a:gd name="T9" fmla="*/ 156 h 2285"/>
                <a:gd name="T10" fmla="*/ 14 w 14"/>
                <a:gd name="T11" fmla="*/ 221 h 2285"/>
                <a:gd name="T12" fmla="*/ 0 w 14"/>
                <a:gd name="T13" fmla="*/ 233 h 2285"/>
                <a:gd name="T14" fmla="*/ 14 w 14"/>
                <a:gd name="T15" fmla="*/ 285 h 2285"/>
                <a:gd name="T16" fmla="*/ 0 w 14"/>
                <a:gd name="T17" fmla="*/ 324 h 2285"/>
                <a:gd name="T18" fmla="*/ 14 w 14"/>
                <a:gd name="T19" fmla="*/ 337 h 2285"/>
                <a:gd name="T20" fmla="*/ 14 w 14"/>
                <a:gd name="T21" fmla="*/ 402 h 2285"/>
                <a:gd name="T22" fmla="*/ 0 w 14"/>
                <a:gd name="T23" fmla="*/ 415 h 2285"/>
                <a:gd name="T24" fmla="*/ 14 w 14"/>
                <a:gd name="T25" fmla="*/ 467 h 2285"/>
                <a:gd name="T26" fmla="*/ 0 w 14"/>
                <a:gd name="T27" fmla="*/ 506 h 2285"/>
                <a:gd name="T28" fmla="*/ 14 w 14"/>
                <a:gd name="T29" fmla="*/ 519 h 2285"/>
                <a:gd name="T30" fmla="*/ 14 w 14"/>
                <a:gd name="T31" fmla="*/ 583 h 2285"/>
                <a:gd name="T32" fmla="*/ 0 w 14"/>
                <a:gd name="T33" fmla="*/ 596 h 2285"/>
                <a:gd name="T34" fmla="*/ 14 w 14"/>
                <a:gd name="T35" fmla="*/ 648 h 2285"/>
                <a:gd name="T36" fmla="*/ 0 w 14"/>
                <a:gd name="T37" fmla="*/ 687 h 2285"/>
                <a:gd name="T38" fmla="*/ 14 w 14"/>
                <a:gd name="T39" fmla="*/ 700 h 2285"/>
                <a:gd name="T40" fmla="*/ 14 w 14"/>
                <a:gd name="T41" fmla="*/ 765 h 2285"/>
                <a:gd name="T42" fmla="*/ 0 w 14"/>
                <a:gd name="T43" fmla="*/ 778 h 2285"/>
                <a:gd name="T44" fmla="*/ 14 w 14"/>
                <a:gd name="T45" fmla="*/ 830 h 2285"/>
                <a:gd name="T46" fmla="*/ 0 w 14"/>
                <a:gd name="T47" fmla="*/ 869 h 2285"/>
                <a:gd name="T48" fmla="*/ 14 w 14"/>
                <a:gd name="T49" fmla="*/ 882 h 2285"/>
                <a:gd name="T50" fmla="*/ 14 w 14"/>
                <a:gd name="T51" fmla="*/ 947 h 2285"/>
                <a:gd name="T52" fmla="*/ 0 w 14"/>
                <a:gd name="T53" fmla="*/ 960 h 2285"/>
                <a:gd name="T54" fmla="*/ 14 w 14"/>
                <a:gd name="T55" fmla="*/ 1011 h 2285"/>
                <a:gd name="T56" fmla="*/ 0 w 14"/>
                <a:gd name="T57" fmla="*/ 1050 h 2285"/>
                <a:gd name="T58" fmla="*/ 14 w 14"/>
                <a:gd name="T59" fmla="*/ 1063 h 2285"/>
                <a:gd name="T60" fmla="*/ 14 w 14"/>
                <a:gd name="T61" fmla="*/ 1128 h 2285"/>
                <a:gd name="T62" fmla="*/ 0 w 14"/>
                <a:gd name="T63" fmla="*/ 1141 h 2285"/>
                <a:gd name="T64" fmla="*/ 14 w 14"/>
                <a:gd name="T65" fmla="*/ 1193 h 2285"/>
                <a:gd name="T66" fmla="*/ 0 w 14"/>
                <a:gd name="T67" fmla="*/ 1232 h 2285"/>
                <a:gd name="T68" fmla="*/ 14 w 14"/>
                <a:gd name="T69" fmla="*/ 1245 h 2285"/>
                <a:gd name="T70" fmla="*/ 14 w 14"/>
                <a:gd name="T71" fmla="*/ 1310 h 2285"/>
                <a:gd name="T72" fmla="*/ 0 w 14"/>
                <a:gd name="T73" fmla="*/ 1322 h 2285"/>
                <a:gd name="T74" fmla="*/ 14 w 14"/>
                <a:gd name="T75" fmla="*/ 1374 h 2285"/>
                <a:gd name="T76" fmla="*/ 0 w 14"/>
                <a:gd name="T77" fmla="*/ 1413 h 2285"/>
                <a:gd name="T78" fmla="*/ 14 w 14"/>
                <a:gd name="T79" fmla="*/ 1426 h 2285"/>
                <a:gd name="T80" fmla="*/ 14 w 14"/>
                <a:gd name="T81" fmla="*/ 1491 h 2285"/>
                <a:gd name="T82" fmla="*/ 0 w 14"/>
                <a:gd name="T83" fmla="*/ 1504 h 2285"/>
                <a:gd name="T84" fmla="*/ 14 w 14"/>
                <a:gd name="T85" fmla="*/ 1556 h 2285"/>
                <a:gd name="T86" fmla="*/ 0 w 14"/>
                <a:gd name="T87" fmla="*/ 1595 h 2285"/>
                <a:gd name="T88" fmla="*/ 14 w 14"/>
                <a:gd name="T89" fmla="*/ 1608 h 2285"/>
                <a:gd name="T90" fmla="*/ 14 w 14"/>
                <a:gd name="T91" fmla="*/ 1672 h 2285"/>
                <a:gd name="T92" fmla="*/ 0 w 14"/>
                <a:gd name="T93" fmla="*/ 1686 h 2285"/>
                <a:gd name="T94" fmla="*/ 14 w 14"/>
                <a:gd name="T95" fmla="*/ 1738 h 2285"/>
                <a:gd name="T96" fmla="*/ 0 w 14"/>
                <a:gd name="T97" fmla="*/ 1776 h 2285"/>
                <a:gd name="T98" fmla="*/ 14 w 14"/>
                <a:gd name="T99" fmla="*/ 1789 h 2285"/>
                <a:gd name="T100" fmla="*/ 14 w 14"/>
                <a:gd name="T101" fmla="*/ 1854 h 2285"/>
                <a:gd name="T102" fmla="*/ 0 w 14"/>
                <a:gd name="T103" fmla="*/ 1867 h 2285"/>
                <a:gd name="T104" fmla="*/ 14 w 14"/>
                <a:gd name="T105" fmla="*/ 1919 h 2285"/>
                <a:gd name="T106" fmla="*/ 0 w 14"/>
                <a:gd name="T107" fmla="*/ 1958 h 2285"/>
                <a:gd name="T108" fmla="*/ 14 w 14"/>
                <a:gd name="T109" fmla="*/ 1971 h 2285"/>
                <a:gd name="T110" fmla="*/ 14 w 14"/>
                <a:gd name="T111" fmla="*/ 2036 h 2285"/>
                <a:gd name="T112" fmla="*/ 0 w 14"/>
                <a:gd name="T113" fmla="*/ 2049 h 2285"/>
                <a:gd name="T114" fmla="*/ 14 w 14"/>
                <a:gd name="T115" fmla="*/ 2100 h 2285"/>
                <a:gd name="T116" fmla="*/ 0 w 14"/>
                <a:gd name="T117" fmla="*/ 2139 h 2285"/>
                <a:gd name="T118" fmla="*/ 14 w 14"/>
                <a:gd name="T119" fmla="*/ 2152 h 2285"/>
                <a:gd name="T120" fmla="*/ 14 w 14"/>
                <a:gd name="T121" fmla="*/ 2217 h 2285"/>
                <a:gd name="T122" fmla="*/ 0 w 14"/>
                <a:gd name="T123" fmla="*/ 2230 h 2285"/>
                <a:gd name="T124" fmla="*/ 14 w 14"/>
                <a:gd name="T125" fmla="*/ 2282 h 22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4" h="2285">
                  <a:moveTo>
                    <a:pt x="14" y="0"/>
                  </a:moveTo>
                  <a:lnTo>
                    <a:pt x="14" y="13"/>
                  </a:lnTo>
                  <a:lnTo>
                    <a:pt x="0" y="13"/>
                  </a:lnTo>
                  <a:lnTo>
                    <a:pt x="0" y="0"/>
                  </a:lnTo>
                  <a:lnTo>
                    <a:pt x="14" y="0"/>
                  </a:lnTo>
                  <a:close/>
                  <a:moveTo>
                    <a:pt x="14" y="26"/>
                  </a:moveTo>
                  <a:lnTo>
                    <a:pt x="14" y="39"/>
                  </a:lnTo>
                  <a:lnTo>
                    <a:pt x="0" y="39"/>
                  </a:lnTo>
                  <a:lnTo>
                    <a:pt x="0" y="26"/>
                  </a:lnTo>
                  <a:lnTo>
                    <a:pt x="14" y="26"/>
                  </a:lnTo>
                  <a:close/>
                  <a:moveTo>
                    <a:pt x="14" y="52"/>
                  </a:moveTo>
                  <a:lnTo>
                    <a:pt x="14" y="65"/>
                  </a:lnTo>
                  <a:lnTo>
                    <a:pt x="0" y="65"/>
                  </a:lnTo>
                  <a:lnTo>
                    <a:pt x="0" y="52"/>
                  </a:lnTo>
                  <a:lnTo>
                    <a:pt x="14" y="52"/>
                  </a:lnTo>
                  <a:close/>
                  <a:moveTo>
                    <a:pt x="14" y="78"/>
                  </a:moveTo>
                  <a:lnTo>
                    <a:pt x="14" y="91"/>
                  </a:lnTo>
                  <a:lnTo>
                    <a:pt x="0" y="91"/>
                  </a:lnTo>
                  <a:lnTo>
                    <a:pt x="0" y="78"/>
                  </a:lnTo>
                  <a:lnTo>
                    <a:pt x="14" y="78"/>
                  </a:lnTo>
                  <a:close/>
                  <a:moveTo>
                    <a:pt x="14" y="104"/>
                  </a:moveTo>
                  <a:lnTo>
                    <a:pt x="14" y="117"/>
                  </a:lnTo>
                  <a:lnTo>
                    <a:pt x="0" y="117"/>
                  </a:lnTo>
                  <a:lnTo>
                    <a:pt x="0" y="104"/>
                  </a:lnTo>
                  <a:lnTo>
                    <a:pt x="14" y="104"/>
                  </a:lnTo>
                  <a:close/>
                  <a:moveTo>
                    <a:pt x="14" y="130"/>
                  </a:moveTo>
                  <a:lnTo>
                    <a:pt x="14" y="143"/>
                  </a:lnTo>
                  <a:lnTo>
                    <a:pt x="0" y="143"/>
                  </a:lnTo>
                  <a:lnTo>
                    <a:pt x="0" y="130"/>
                  </a:lnTo>
                  <a:lnTo>
                    <a:pt x="14" y="130"/>
                  </a:lnTo>
                  <a:close/>
                  <a:moveTo>
                    <a:pt x="14" y="156"/>
                  </a:moveTo>
                  <a:lnTo>
                    <a:pt x="14" y="169"/>
                  </a:lnTo>
                  <a:lnTo>
                    <a:pt x="0" y="169"/>
                  </a:lnTo>
                  <a:lnTo>
                    <a:pt x="0" y="156"/>
                  </a:lnTo>
                  <a:lnTo>
                    <a:pt x="14" y="156"/>
                  </a:lnTo>
                  <a:close/>
                  <a:moveTo>
                    <a:pt x="14" y="182"/>
                  </a:moveTo>
                  <a:lnTo>
                    <a:pt x="14" y="194"/>
                  </a:lnTo>
                  <a:lnTo>
                    <a:pt x="0" y="194"/>
                  </a:lnTo>
                  <a:lnTo>
                    <a:pt x="0" y="182"/>
                  </a:lnTo>
                  <a:lnTo>
                    <a:pt x="14" y="182"/>
                  </a:lnTo>
                  <a:close/>
                  <a:moveTo>
                    <a:pt x="14" y="208"/>
                  </a:moveTo>
                  <a:lnTo>
                    <a:pt x="14" y="221"/>
                  </a:lnTo>
                  <a:lnTo>
                    <a:pt x="0" y="221"/>
                  </a:lnTo>
                  <a:lnTo>
                    <a:pt x="0" y="208"/>
                  </a:lnTo>
                  <a:lnTo>
                    <a:pt x="14" y="208"/>
                  </a:lnTo>
                  <a:close/>
                  <a:moveTo>
                    <a:pt x="14" y="233"/>
                  </a:moveTo>
                  <a:lnTo>
                    <a:pt x="14" y="246"/>
                  </a:lnTo>
                  <a:lnTo>
                    <a:pt x="0" y="246"/>
                  </a:lnTo>
                  <a:lnTo>
                    <a:pt x="0" y="233"/>
                  </a:lnTo>
                  <a:lnTo>
                    <a:pt x="14" y="233"/>
                  </a:lnTo>
                  <a:close/>
                  <a:moveTo>
                    <a:pt x="14" y="259"/>
                  </a:moveTo>
                  <a:lnTo>
                    <a:pt x="14" y="272"/>
                  </a:lnTo>
                  <a:lnTo>
                    <a:pt x="0" y="272"/>
                  </a:lnTo>
                  <a:lnTo>
                    <a:pt x="0" y="259"/>
                  </a:lnTo>
                  <a:lnTo>
                    <a:pt x="14" y="259"/>
                  </a:lnTo>
                  <a:close/>
                  <a:moveTo>
                    <a:pt x="14" y="285"/>
                  </a:moveTo>
                  <a:lnTo>
                    <a:pt x="14" y="298"/>
                  </a:lnTo>
                  <a:lnTo>
                    <a:pt x="0" y="298"/>
                  </a:lnTo>
                  <a:lnTo>
                    <a:pt x="0" y="285"/>
                  </a:lnTo>
                  <a:lnTo>
                    <a:pt x="14" y="285"/>
                  </a:lnTo>
                  <a:close/>
                  <a:moveTo>
                    <a:pt x="14" y="311"/>
                  </a:moveTo>
                  <a:lnTo>
                    <a:pt x="14" y="324"/>
                  </a:lnTo>
                  <a:lnTo>
                    <a:pt x="0" y="324"/>
                  </a:lnTo>
                  <a:lnTo>
                    <a:pt x="0" y="311"/>
                  </a:lnTo>
                  <a:lnTo>
                    <a:pt x="14" y="311"/>
                  </a:lnTo>
                  <a:close/>
                  <a:moveTo>
                    <a:pt x="14" y="337"/>
                  </a:moveTo>
                  <a:lnTo>
                    <a:pt x="14" y="350"/>
                  </a:lnTo>
                  <a:lnTo>
                    <a:pt x="0" y="350"/>
                  </a:lnTo>
                  <a:lnTo>
                    <a:pt x="0" y="337"/>
                  </a:lnTo>
                  <a:lnTo>
                    <a:pt x="14" y="337"/>
                  </a:lnTo>
                  <a:close/>
                  <a:moveTo>
                    <a:pt x="14" y="363"/>
                  </a:moveTo>
                  <a:lnTo>
                    <a:pt x="14" y="376"/>
                  </a:lnTo>
                  <a:lnTo>
                    <a:pt x="0" y="376"/>
                  </a:lnTo>
                  <a:lnTo>
                    <a:pt x="0" y="363"/>
                  </a:lnTo>
                  <a:lnTo>
                    <a:pt x="14" y="363"/>
                  </a:lnTo>
                  <a:close/>
                  <a:moveTo>
                    <a:pt x="14" y="389"/>
                  </a:moveTo>
                  <a:lnTo>
                    <a:pt x="14" y="402"/>
                  </a:lnTo>
                  <a:lnTo>
                    <a:pt x="0" y="402"/>
                  </a:lnTo>
                  <a:lnTo>
                    <a:pt x="0" y="389"/>
                  </a:lnTo>
                  <a:lnTo>
                    <a:pt x="14" y="389"/>
                  </a:lnTo>
                  <a:close/>
                  <a:moveTo>
                    <a:pt x="14" y="415"/>
                  </a:moveTo>
                  <a:lnTo>
                    <a:pt x="14" y="428"/>
                  </a:lnTo>
                  <a:lnTo>
                    <a:pt x="0" y="428"/>
                  </a:lnTo>
                  <a:lnTo>
                    <a:pt x="0" y="415"/>
                  </a:lnTo>
                  <a:lnTo>
                    <a:pt x="14" y="415"/>
                  </a:lnTo>
                  <a:close/>
                  <a:moveTo>
                    <a:pt x="14" y="441"/>
                  </a:moveTo>
                  <a:lnTo>
                    <a:pt x="14" y="454"/>
                  </a:lnTo>
                  <a:lnTo>
                    <a:pt x="0" y="454"/>
                  </a:lnTo>
                  <a:lnTo>
                    <a:pt x="0" y="441"/>
                  </a:lnTo>
                  <a:lnTo>
                    <a:pt x="14" y="441"/>
                  </a:lnTo>
                  <a:close/>
                  <a:moveTo>
                    <a:pt x="14" y="467"/>
                  </a:moveTo>
                  <a:lnTo>
                    <a:pt x="14" y="480"/>
                  </a:lnTo>
                  <a:lnTo>
                    <a:pt x="0" y="480"/>
                  </a:lnTo>
                  <a:lnTo>
                    <a:pt x="0" y="467"/>
                  </a:lnTo>
                  <a:lnTo>
                    <a:pt x="14" y="467"/>
                  </a:lnTo>
                  <a:close/>
                  <a:moveTo>
                    <a:pt x="14" y="493"/>
                  </a:moveTo>
                  <a:lnTo>
                    <a:pt x="14" y="506"/>
                  </a:lnTo>
                  <a:lnTo>
                    <a:pt x="0" y="506"/>
                  </a:lnTo>
                  <a:lnTo>
                    <a:pt x="0" y="493"/>
                  </a:lnTo>
                  <a:lnTo>
                    <a:pt x="14" y="493"/>
                  </a:lnTo>
                  <a:close/>
                  <a:moveTo>
                    <a:pt x="14" y="519"/>
                  </a:moveTo>
                  <a:lnTo>
                    <a:pt x="14" y="532"/>
                  </a:lnTo>
                  <a:lnTo>
                    <a:pt x="0" y="532"/>
                  </a:lnTo>
                  <a:lnTo>
                    <a:pt x="0" y="519"/>
                  </a:lnTo>
                  <a:lnTo>
                    <a:pt x="14" y="519"/>
                  </a:lnTo>
                  <a:close/>
                  <a:moveTo>
                    <a:pt x="14" y="545"/>
                  </a:moveTo>
                  <a:lnTo>
                    <a:pt x="14" y="558"/>
                  </a:lnTo>
                  <a:lnTo>
                    <a:pt x="0" y="558"/>
                  </a:lnTo>
                  <a:lnTo>
                    <a:pt x="0" y="545"/>
                  </a:lnTo>
                  <a:lnTo>
                    <a:pt x="14" y="545"/>
                  </a:lnTo>
                  <a:close/>
                  <a:moveTo>
                    <a:pt x="14" y="571"/>
                  </a:moveTo>
                  <a:lnTo>
                    <a:pt x="14" y="583"/>
                  </a:lnTo>
                  <a:lnTo>
                    <a:pt x="0" y="583"/>
                  </a:lnTo>
                  <a:lnTo>
                    <a:pt x="0" y="571"/>
                  </a:lnTo>
                  <a:lnTo>
                    <a:pt x="14" y="571"/>
                  </a:lnTo>
                  <a:close/>
                  <a:moveTo>
                    <a:pt x="14" y="596"/>
                  </a:moveTo>
                  <a:lnTo>
                    <a:pt x="14" y="610"/>
                  </a:lnTo>
                  <a:lnTo>
                    <a:pt x="0" y="610"/>
                  </a:lnTo>
                  <a:lnTo>
                    <a:pt x="0" y="596"/>
                  </a:lnTo>
                  <a:lnTo>
                    <a:pt x="14" y="596"/>
                  </a:lnTo>
                  <a:close/>
                  <a:moveTo>
                    <a:pt x="14" y="622"/>
                  </a:moveTo>
                  <a:lnTo>
                    <a:pt x="14" y="635"/>
                  </a:lnTo>
                  <a:lnTo>
                    <a:pt x="0" y="635"/>
                  </a:lnTo>
                  <a:lnTo>
                    <a:pt x="0" y="622"/>
                  </a:lnTo>
                  <a:lnTo>
                    <a:pt x="14" y="622"/>
                  </a:lnTo>
                  <a:close/>
                  <a:moveTo>
                    <a:pt x="14" y="648"/>
                  </a:moveTo>
                  <a:lnTo>
                    <a:pt x="14" y="661"/>
                  </a:lnTo>
                  <a:lnTo>
                    <a:pt x="0" y="661"/>
                  </a:lnTo>
                  <a:lnTo>
                    <a:pt x="0" y="648"/>
                  </a:lnTo>
                  <a:lnTo>
                    <a:pt x="14" y="648"/>
                  </a:lnTo>
                  <a:close/>
                  <a:moveTo>
                    <a:pt x="14" y="674"/>
                  </a:moveTo>
                  <a:lnTo>
                    <a:pt x="14" y="687"/>
                  </a:lnTo>
                  <a:lnTo>
                    <a:pt x="0" y="687"/>
                  </a:lnTo>
                  <a:lnTo>
                    <a:pt x="0" y="674"/>
                  </a:lnTo>
                  <a:lnTo>
                    <a:pt x="14" y="674"/>
                  </a:lnTo>
                  <a:close/>
                  <a:moveTo>
                    <a:pt x="14" y="700"/>
                  </a:moveTo>
                  <a:lnTo>
                    <a:pt x="14" y="713"/>
                  </a:lnTo>
                  <a:lnTo>
                    <a:pt x="0" y="713"/>
                  </a:lnTo>
                  <a:lnTo>
                    <a:pt x="0" y="700"/>
                  </a:lnTo>
                  <a:lnTo>
                    <a:pt x="14" y="700"/>
                  </a:lnTo>
                  <a:close/>
                  <a:moveTo>
                    <a:pt x="14" y="726"/>
                  </a:moveTo>
                  <a:lnTo>
                    <a:pt x="14" y="739"/>
                  </a:lnTo>
                  <a:lnTo>
                    <a:pt x="0" y="739"/>
                  </a:lnTo>
                  <a:lnTo>
                    <a:pt x="0" y="726"/>
                  </a:lnTo>
                  <a:lnTo>
                    <a:pt x="14" y="726"/>
                  </a:lnTo>
                  <a:close/>
                  <a:moveTo>
                    <a:pt x="14" y="752"/>
                  </a:moveTo>
                  <a:lnTo>
                    <a:pt x="14" y="765"/>
                  </a:lnTo>
                  <a:lnTo>
                    <a:pt x="0" y="765"/>
                  </a:lnTo>
                  <a:lnTo>
                    <a:pt x="0" y="752"/>
                  </a:lnTo>
                  <a:lnTo>
                    <a:pt x="14" y="752"/>
                  </a:lnTo>
                  <a:close/>
                  <a:moveTo>
                    <a:pt x="14" y="778"/>
                  </a:moveTo>
                  <a:lnTo>
                    <a:pt x="14" y="791"/>
                  </a:lnTo>
                  <a:lnTo>
                    <a:pt x="0" y="791"/>
                  </a:lnTo>
                  <a:lnTo>
                    <a:pt x="0" y="778"/>
                  </a:lnTo>
                  <a:lnTo>
                    <a:pt x="14" y="778"/>
                  </a:lnTo>
                  <a:close/>
                  <a:moveTo>
                    <a:pt x="14" y="804"/>
                  </a:moveTo>
                  <a:lnTo>
                    <a:pt x="14" y="817"/>
                  </a:lnTo>
                  <a:lnTo>
                    <a:pt x="0" y="817"/>
                  </a:lnTo>
                  <a:lnTo>
                    <a:pt x="0" y="804"/>
                  </a:lnTo>
                  <a:lnTo>
                    <a:pt x="14" y="804"/>
                  </a:lnTo>
                  <a:close/>
                  <a:moveTo>
                    <a:pt x="14" y="830"/>
                  </a:moveTo>
                  <a:lnTo>
                    <a:pt x="14" y="843"/>
                  </a:lnTo>
                  <a:lnTo>
                    <a:pt x="0" y="843"/>
                  </a:lnTo>
                  <a:lnTo>
                    <a:pt x="0" y="830"/>
                  </a:lnTo>
                  <a:lnTo>
                    <a:pt x="14" y="830"/>
                  </a:lnTo>
                  <a:close/>
                  <a:moveTo>
                    <a:pt x="14" y="856"/>
                  </a:moveTo>
                  <a:lnTo>
                    <a:pt x="14" y="869"/>
                  </a:lnTo>
                  <a:lnTo>
                    <a:pt x="0" y="869"/>
                  </a:lnTo>
                  <a:lnTo>
                    <a:pt x="0" y="856"/>
                  </a:lnTo>
                  <a:lnTo>
                    <a:pt x="14" y="856"/>
                  </a:lnTo>
                  <a:close/>
                  <a:moveTo>
                    <a:pt x="14" y="882"/>
                  </a:moveTo>
                  <a:lnTo>
                    <a:pt x="14" y="895"/>
                  </a:lnTo>
                  <a:lnTo>
                    <a:pt x="0" y="895"/>
                  </a:lnTo>
                  <a:lnTo>
                    <a:pt x="0" y="882"/>
                  </a:lnTo>
                  <a:lnTo>
                    <a:pt x="14" y="882"/>
                  </a:lnTo>
                  <a:close/>
                  <a:moveTo>
                    <a:pt x="14" y="908"/>
                  </a:moveTo>
                  <a:lnTo>
                    <a:pt x="14" y="921"/>
                  </a:lnTo>
                  <a:lnTo>
                    <a:pt x="0" y="921"/>
                  </a:lnTo>
                  <a:lnTo>
                    <a:pt x="0" y="908"/>
                  </a:lnTo>
                  <a:lnTo>
                    <a:pt x="14" y="908"/>
                  </a:lnTo>
                  <a:close/>
                  <a:moveTo>
                    <a:pt x="14" y="933"/>
                  </a:moveTo>
                  <a:lnTo>
                    <a:pt x="14" y="947"/>
                  </a:lnTo>
                  <a:lnTo>
                    <a:pt x="0" y="947"/>
                  </a:lnTo>
                  <a:lnTo>
                    <a:pt x="0" y="933"/>
                  </a:lnTo>
                  <a:lnTo>
                    <a:pt x="14" y="933"/>
                  </a:lnTo>
                  <a:close/>
                  <a:moveTo>
                    <a:pt x="14" y="960"/>
                  </a:moveTo>
                  <a:lnTo>
                    <a:pt x="14" y="972"/>
                  </a:lnTo>
                  <a:lnTo>
                    <a:pt x="0" y="972"/>
                  </a:lnTo>
                  <a:lnTo>
                    <a:pt x="0" y="960"/>
                  </a:lnTo>
                  <a:lnTo>
                    <a:pt x="14" y="960"/>
                  </a:lnTo>
                  <a:close/>
                  <a:moveTo>
                    <a:pt x="14" y="985"/>
                  </a:moveTo>
                  <a:lnTo>
                    <a:pt x="14" y="999"/>
                  </a:lnTo>
                  <a:lnTo>
                    <a:pt x="0" y="999"/>
                  </a:lnTo>
                  <a:lnTo>
                    <a:pt x="0" y="985"/>
                  </a:lnTo>
                  <a:lnTo>
                    <a:pt x="14" y="985"/>
                  </a:lnTo>
                  <a:close/>
                  <a:moveTo>
                    <a:pt x="14" y="1011"/>
                  </a:moveTo>
                  <a:lnTo>
                    <a:pt x="14" y="1024"/>
                  </a:lnTo>
                  <a:lnTo>
                    <a:pt x="0" y="1024"/>
                  </a:lnTo>
                  <a:lnTo>
                    <a:pt x="0" y="1011"/>
                  </a:lnTo>
                  <a:lnTo>
                    <a:pt x="14" y="1011"/>
                  </a:lnTo>
                  <a:close/>
                  <a:moveTo>
                    <a:pt x="14" y="1037"/>
                  </a:moveTo>
                  <a:lnTo>
                    <a:pt x="14" y="1050"/>
                  </a:lnTo>
                  <a:lnTo>
                    <a:pt x="0" y="1050"/>
                  </a:lnTo>
                  <a:lnTo>
                    <a:pt x="0" y="1037"/>
                  </a:lnTo>
                  <a:lnTo>
                    <a:pt x="14" y="1037"/>
                  </a:lnTo>
                  <a:close/>
                  <a:moveTo>
                    <a:pt x="14" y="1063"/>
                  </a:moveTo>
                  <a:lnTo>
                    <a:pt x="14" y="1076"/>
                  </a:lnTo>
                  <a:lnTo>
                    <a:pt x="0" y="1076"/>
                  </a:lnTo>
                  <a:lnTo>
                    <a:pt x="0" y="1063"/>
                  </a:lnTo>
                  <a:lnTo>
                    <a:pt x="14" y="1063"/>
                  </a:lnTo>
                  <a:close/>
                  <a:moveTo>
                    <a:pt x="14" y="1089"/>
                  </a:moveTo>
                  <a:lnTo>
                    <a:pt x="14" y="1102"/>
                  </a:lnTo>
                  <a:lnTo>
                    <a:pt x="0" y="1102"/>
                  </a:lnTo>
                  <a:lnTo>
                    <a:pt x="0" y="1089"/>
                  </a:lnTo>
                  <a:lnTo>
                    <a:pt x="14" y="1089"/>
                  </a:lnTo>
                  <a:close/>
                  <a:moveTo>
                    <a:pt x="14" y="1115"/>
                  </a:moveTo>
                  <a:lnTo>
                    <a:pt x="14" y="1128"/>
                  </a:lnTo>
                  <a:lnTo>
                    <a:pt x="0" y="1128"/>
                  </a:lnTo>
                  <a:lnTo>
                    <a:pt x="0" y="1115"/>
                  </a:lnTo>
                  <a:lnTo>
                    <a:pt x="14" y="1115"/>
                  </a:lnTo>
                  <a:close/>
                  <a:moveTo>
                    <a:pt x="14" y="1141"/>
                  </a:moveTo>
                  <a:lnTo>
                    <a:pt x="14" y="1154"/>
                  </a:lnTo>
                  <a:lnTo>
                    <a:pt x="0" y="1154"/>
                  </a:lnTo>
                  <a:lnTo>
                    <a:pt x="0" y="1141"/>
                  </a:lnTo>
                  <a:lnTo>
                    <a:pt x="14" y="1141"/>
                  </a:lnTo>
                  <a:close/>
                  <a:moveTo>
                    <a:pt x="14" y="1167"/>
                  </a:moveTo>
                  <a:lnTo>
                    <a:pt x="14" y="1180"/>
                  </a:lnTo>
                  <a:lnTo>
                    <a:pt x="0" y="1180"/>
                  </a:lnTo>
                  <a:lnTo>
                    <a:pt x="0" y="1167"/>
                  </a:lnTo>
                  <a:lnTo>
                    <a:pt x="14" y="1167"/>
                  </a:lnTo>
                  <a:close/>
                  <a:moveTo>
                    <a:pt x="14" y="1193"/>
                  </a:moveTo>
                  <a:lnTo>
                    <a:pt x="14" y="1206"/>
                  </a:lnTo>
                  <a:lnTo>
                    <a:pt x="0" y="1206"/>
                  </a:lnTo>
                  <a:lnTo>
                    <a:pt x="0" y="1193"/>
                  </a:lnTo>
                  <a:lnTo>
                    <a:pt x="14" y="1193"/>
                  </a:lnTo>
                  <a:close/>
                  <a:moveTo>
                    <a:pt x="14" y="1219"/>
                  </a:moveTo>
                  <a:lnTo>
                    <a:pt x="14" y="1232"/>
                  </a:lnTo>
                  <a:lnTo>
                    <a:pt x="0" y="1232"/>
                  </a:lnTo>
                  <a:lnTo>
                    <a:pt x="0" y="1219"/>
                  </a:lnTo>
                  <a:lnTo>
                    <a:pt x="14" y="1219"/>
                  </a:lnTo>
                  <a:close/>
                  <a:moveTo>
                    <a:pt x="14" y="1245"/>
                  </a:moveTo>
                  <a:lnTo>
                    <a:pt x="14" y="1258"/>
                  </a:lnTo>
                  <a:lnTo>
                    <a:pt x="0" y="1258"/>
                  </a:lnTo>
                  <a:lnTo>
                    <a:pt x="0" y="1245"/>
                  </a:lnTo>
                  <a:lnTo>
                    <a:pt x="14" y="1245"/>
                  </a:lnTo>
                  <a:close/>
                  <a:moveTo>
                    <a:pt x="14" y="1271"/>
                  </a:moveTo>
                  <a:lnTo>
                    <a:pt x="14" y="1284"/>
                  </a:lnTo>
                  <a:lnTo>
                    <a:pt x="0" y="1284"/>
                  </a:lnTo>
                  <a:lnTo>
                    <a:pt x="0" y="1271"/>
                  </a:lnTo>
                  <a:lnTo>
                    <a:pt x="14" y="1271"/>
                  </a:lnTo>
                  <a:close/>
                  <a:moveTo>
                    <a:pt x="14" y="1297"/>
                  </a:moveTo>
                  <a:lnTo>
                    <a:pt x="14" y="1310"/>
                  </a:lnTo>
                  <a:lnTo>
                    <a:pt x="0" y="1310"/>
                  </a:lnTo>
                  <a:lnTo>
                    <a:pt x="0" y="1297"/>
                  </a:lnTo>
                  <a:lnTo>
                    <a:pt x="14" y="1297"/>
                  </a:lnTo>
                  <a:close/>
                  <a:moveTo>
                    <a:pt x="14" y="1322"/>
                  </a:moveTo>
                  <a:lnTo>
                    <a:pt x="14" y="1335"/>
                  </a:lnTo>
                  <a:lnTo>
                    <a:pt x="0" y="1335"/>
                  </a:lnTo>
                  <a:lnTo>
                    <a:pt x="0" y="1322"/>
                  </a:lnTo>
                  <a:lnTo>
                    <a:pt x="14" y="1322"/>
                  </a:lnTo>
                  <a:close/>
                  <a:moveTo>
                    <a:pt x="14" y="1349"/>
                  </a:moveTo>
                  <a:lnTo>
                    <a:pt x="14" y="1361"/>
                  </a:lnTo>
                  <a:lnTo>
                    <a:pt x="0" y="1361"/>
                  </a:lnTo>
                  <a:lnTo>
                    <a:pt x="0" y="1349"/>
                  </a:lnTo>
                  <a:lnTo>
                    <a:pt x="14" y="1349"/>
                  </a:lnTo>
                  <a:close/>
                  <a:moveTo>
                    <a:pt x="14" y="1374"/>
                  </a:moveTo>
                  <a:lnTo>
                    <a:pt x="14" y="1387"/>
                  </a:lnTo>
                  <a:lnTo>
                    <a:pt x="0" y="1387"/>
                  </a:lnTo>
                  <a:lnTo>
                    <a:pt x="0" y="1374"/>
                  </a:lnTo>
                  <a:lnTo>
                    <a:pt x="14" y="1374"/>
                  </a:lnTo>
                  <a:close/>
                  <a:moveTo>
                    <a:pt x="14" y="1400"/>
                  </a:moveTo>
                  <a:lnTo>
                    <a:pt x="14" y="1413"/>
                  </a:lnTo>
                  <a:lnTo>
                    <a:pt x="0" y="1413"/>
                  </a:lnTo>
                  <a:lnTo>
                    <a:pt x="0" y="1400"/>
                  </a:lnTo>
                  <a:lnTo>
                    <a:pt x="14" y="1400"/>
                  </a:lnTo>
                  <a:close/>
                  <a:moveTo>
                    <a:pt x="14" y="1426"/>
                  </a:moveTo>
                  <a:lnTo>
                    <a:pt x="14" y="1439"/>
                  </a:lnTo>
                  <a:lnTo>
                    <a:pt x="0" y="1439"/>
                  </a:lnTo>
                  <a:lnTo>
                    <a:pt x="0" y="1426"/>
                  </a:lnTo>
                  <a:lnTo>
                    <a:pt x="14" y="1426"/>
                  </a:lnTo>
                  <a:close/>
                  <a:moveTo>
                    <a:pt x="14" y="1452"/>
                  </a:moveTo>
                  <a:lnTo>
                    <a:pt x="14" y="1465"/>
                  </a:lnTo>
                  <a:lnTo>
                    <a:pt x="0" y="1465"/>
                  </a:lnTo>
                  <a:lnTo>
                    <a:pt x="0" y="1452"/>
                  </a:lnTo>
                  <a:lnTo>
                    <a:pt x="14" y="1452"/>
                  </a:lnTo>
                  <a:close/>
                  <a:moveTo>
                    <a:pt x="14" y="1478"/>
                  </a:moveTo>
                  <a:lnTo>
                    <a:pt x="14" y="1491"/>
                  </a:lnTo>
                  <a:lnTo>
                    <a:pt x="0" y="1491"/>
                  </a:lnTo>
                  <a:lnTo>
                    <a:pt x="0" y="1478"/>
                  </a:lnTo>
                  <a:lnTo>
                    <a:pt x="14" y="1478"/>
                  </a:lnTo>
                  <a:close/>
                  <a:moveTo>
                    <a:pt x="14" y="1504"/>
                  </a:moveTo>
                  <a:lnTo>
                    <a:pt x="14" y="1517"/>
                  </a:lnTo>
                  <a:lnTo>
                    <a:pt x="0" y="1517"/>
                  </a:lnTo>
                  <a:lnTo>
                    <a:pt x="0" y="1504"/>
                  </a:lnTo>
                  <a:lnTo>
                    <a:pt x="14" y="1504"/>
                  </a:lnTo>
                  <a:close/>
                  <a:moveTo>
                    <a:pt x="14" y="1530"/>
                  </a:moveTo>
                  <a:lnTo>
                    <a:pt x="14" y="1543"/>
                  </a:lnTo>
                  <a:lnTo>
                    <a:pt x="0" y="1543"/>
                  </a:lnTo>
                  <a:lnTo>
                    <a:pt x="0" y="1530"/>
                  </a:lnTo>
                  <a:lnTo>
                    <a:pt x="14" y="1530"/>
                  </a:lnTo>
                  <a:close/>
                  <a:moveTo>
                    <a:pt x="14" y="1556"/>
                  </a:moveTo>
                  <a:lnTo>
                    <a:pt x="14" y="1569"/>
                  </a:lnTo>
                  <a:lnTo>
                    <a:pt x="0" y="1569"/>
                  </a:lnTo>
                  <a:lnTo>
                    <a:pt x="0" y="1556"/>
                  </a:lnTo>
                  <a:lnTo>
                    <a:pt x="14" y="1556"/>
                  </a:lnTo>
                  <a:close/>
                  <a:moveTo>
                    <a:pt x="14" y="1582"/>
                  </a:moveTo>
                  <a:lnTo>
                    <a:pt x="14" y="1595"/>
                  </a:lnTo>
                  <a:lnTo>
                    <a:pt x="0" y="1595"/>
                  </a:lnTo>
                  <a:lnTo>
                    <a:pt x="0" y="1582"/>
                  </a:lnTo>
                  <a:lnTo>
                    <a:pt x="14" y="1582"/>
                  </a:lnTo>
                  <a:close/>
                  <a:moveTo>
                    <a:pt x="14" y="1608"/>
                  </a:moveTo>
                  <a:lnTo>
                    <a:pt x="14" y="1621"/>
                  </a:lnTo>
                  <a:lnTo>
                    <a:pt x="0" y="1621"/>
                  </a:lnTo>
                  <a:lnTo>
                    <a:pt x="0" y="1608"/>
                  </a:lnTo>
                  <a:lnTo>
                    <a:pt x="14" y="1608"/>
                  </a:lnTo>
                  <a:close/>
                  <a:moveTo>
                    <a:pt x="14" y="1634"/>
                  </a:moveTo>
                  <a:lnTo>
                    <a:pt x="14" y="1647"/>
                  </a:lnTo>
                  <a:lnTo>
                    <a:pt x="0" y="1647"/>
                  </a:lnTo>
                  <a:lnTo>
                    <a:pt x="0" y="1634"/>
                  </a:lnTo>
                  <a:lnTo>
                    <a:pt x="14" y="1634"/>
                  </a:lnTo>
                  <a:close/>
                  <a:moveTo>
                    <a:pt x="14" y="1660"/>
                  </a:moveTo>
                  <a:lnTo>
                    <a:pt x="14" y="1672"/>
                  </a:lnTo>
                  <a:lnTo>
                    <a:pt x="0" y="1672"/>
                  </a:lnTo>
                  <a:lnTo>
                    <a:pt x="0" y="1660"/>
                  </a:lnTo>
                  <a:lnTo>
                    <a:pt x="14" y="1660"/>
                  </a:lnTo>
                  <a:close/>
                  <a:moveTo>
                    <a:pt x="14" y="1686"/>
                  </a:moveTo>
                  <a:lnTo>
                    <a:pt x="14" y="1699"/>
                  </a:lnTo>
                  <a:lnTo>
                    <a:pt x="0" y="1699"/>
                  </a:lnTo>
                  <a:lnTo>
                    <a:pt x="0" y="1686"/>
                  </a:lnTo>
                  <a:lnTo>
                    <a:pt x="14" y="1686"/>
                  </a:lnTo>
                  <a:close/>
                  <a:moveTo>
                    <a:pt x="14" y="1711"/>
                  </a:moveTo>
                  <a:lnTo>
                    <a:pt x="14" y="1724"/>
                  </a:lnTo>
                  <a:lnTo>
                    <a:pt x="0" y="1724"/>
                  </a:lnTo>
                  <a:lnTo>
                    <a:pt x="0" y="1711"/>
                  </a:lnTo>
                  <a:lnTo>
                    <a:pt x="14" y="1711"/>
                  </a:lnTo>
                  <a:close/>
                  <a:moveTo>
                    <a:pt x="14" y="1738"/>
                  </a:moveTo>
                  <a:lnTo>
                    <a:pt x="14" y="1750"/>
                  </a:lnTo>
                  <a:lnTo>
                    <a:pt x="0" y="1750"/>
                  </a:lnTo>
                  <a:lnTo>
                    <a:pt x="0" y="1738"/>
                  </a:lnTo>
                  <a:lnTo>
                    <a:pt x="14" y="1738"/>
                  </a:lnTo>
                  <a:close/>
                  <a:moveTo>
                    <a:pt x="14" y="1763"/>
                  </a:moveTo>
                  <a:lnTo>
                    <a:pt x="14" y="1776"/>
                  </a:lnTo>
                  <a:lnTo>
                    <a:pt x="0" y="1776"/>
                  </a:lnTo>
                  <a:lnTo>
                    <a:pt x="0" y="1763"/>
                  </a:lnTo>
                  <a:lnTo>
                    <a:pt x="14" y="1763"/>
                  </a:lnTo>
                  <a:close/>
                  <a:moveTo>
                    <a:pt x="14" y="1789"/>
                  </a:moveTo>
                  <a:lnTo>
                    <a:pt x="14" y="1802"/>
                  </a:lnTo>
                  <a:lnTo>
                    <a:pt x="0" y="1802"/>
                  </a:lnTo>
                  <a:lnTo>
                    <a:pt x="0" y="1789"/>
                  </a:lnTo>
                  <a:lnTo>
                    <a:pt x="14" y="1789"/>
                  </a:lnTo>
                  <a:close/>
                  <a:moveTo>
                    <a:pt x="14" y="1815"/>
                  </a:moveTo>
                  <a:lnTo>
                    <a:pt x="14" y="1828"/>
                  </a:lnTo>
                  <a:lnTo>
                    <a:pt x="0" y="1828"/>
                  </a:lnTo>
                  <a:lnTo>
                    <a:pt x="0" y="1815"/>
                  </a:lnTo>
                  <a:lnTo>
                    <a:pt x="14" y="1815"/>
                  </a:lnTo>
                  <a:close/>
                  <a:moveTo>
                    <a:pt x="14" y="1841"/>
                  </a:moveTo>
                  <a:lnTo>
                    <a:pt x="14" y="1854"/>
                  </a:lnTo>
                  <a:lnTo>
                    <a:pt x="0" y="1854"/>
                  </a:lnTo>
                  <a:lnTo>
                    <a:pt x="0" y="1841"/>
                  </a:lnTo>
                  <a:lnTo>
                    <a:pt x="14" y="1841"/>
                  </a:lnTo>
                  <a:close/>
                  <a:moveTo>
                    <a:pt x="14" y="1867"/>
                  </a:moveTo>
                  <a:lnTo>
                    <a:pt x="14" y="1880"/>
                  </a:lnTo>
                  <a:lnTo>
                    <a:pt x="0" y="1880"/>
                  </a:lnTo>
                  <a:lnTo>
                    <a:pt x="0" y="1867"/>
                  </a:lnTo>
                  <a:lnTo>
                    <a:pt x="14" y="1867"/>
                  </a:lnTo>
                  <a:close/>
                  <a:moveTo>
                    <a:pt x="14" y="1893"/>
                  </a:moveTo>
                  <a:lnTo>
                    <a:pt x="14" y="1906"/>
                  </a:lnTo>
                  <a:lnTo>
                    <a:pt x="0" y="1906"/>
                  </a:lnTo>
                  <a:lnTo>
                    <a:pt x="0" y="1893"/>
                  </a:lnTo>
                  <a:lnTo>
                    <a:pt x="14" y="1893"/>
                  </a:lnTo>
                  <a:close/>
                  <a:moveTo>
                    <a:pt x="14" y="1919"/>
                  </a:moveTo>
                  <a:lnTo>
                    <a:pt x="14" y="1932"/>
                  </a:lnTo>
                  <a:lnTo>
                    <a:pt x="0" y="1932"/>
                  </a:lnTo>
                  <a:lnTo>
                    <a:pt x="0" y="1919"/>
                  </a:lnTo>
                  <a:lnTo>
                    <a:pt x="14" y="1919"/>
                  </a:lnTo>
                  <a:close/>
                  <a:moveTo>
                    <a:pt x="14" y="1945"/>
                  </a:moveTo>
                  <a:lnTo>
                    <a:pt x="14" y="1958"/>
                  </a:lnTo>
                  <a:lnTo>
                    <a:pt x="0" y="1958"/>
                  </a:lnTo>
                  <a:lnTo>
                    <a:pt x="0" y="1945"/>
                  </a:lnTo>
                  <a:lnTo>
                    <a:pt x="14" y="1945"/>
                  </a:lnTo>
                  <a:close/>
                  <a:moveTo>
                    <a:pt x="14" y="1971"/>
                  </a:moveTo>
                  <a:lnTo>
                    <a:pt x="14" y="1984"/>
                  </a:lnTo>
                  <a:lnTo>
                    <a:pt x="0" y="1984"/>
                  </a:lnTo>
                  <a:lnTo>
                    <a:pt x="0" y="1971"/>
                  </a:lnTo>
                  <a:lnTo>
                    <a:pt x="14" y="1971"/>
                  </a:lnTo>
                  <a:close/>
                  <a:moveTo>
                    <a:pt x="14" y="1997"/>
                  </a:moveTo>
                  <a:lnTo>
                    <a:pt x="14" y="2010"/>
                  </a:lnTo>
                  <a:lnTo>
                    <a:pt x="0" y="2010"/>
                  </a:lnTo>
                  <a:lnTo>
                    <a:pt x="0" y="1997"/>
                  </a:lnTo>
                  <a:lnTo>
                    <a:pt x="14" y="1997"/>
                  </a:lnTo>
                  <a:close/>
                  <a:moveTo>
                    <a:pt x="14" y="2023"/>
                  </a:moveTo>
                  <a:lnTo>
                    <a:pt x="14" y="2036"/>
                  </a:lnTo>
                  <a:lnTo>
                    <a:pt x="0" y="2036"/>
                  </a:lnTo>
                  <a:lnTo>
                    <a:pt x="0" y="2023"/>
                  </a:lnTo>
                  <a:lnTo>
                    <a:pt x="14" y="2023"/>
                  </a:lnTo>
                  <a:close/>
                  <a:moveTo>
                    <a:pt x="14" y="2049"/>
                  </a:moveTo>
                  <a:lnTo>
                    <a:pt x="14" y="2061"/>
                  </a:lnTo>
                  <a:lnTo>
                    <a:pt x="0" y="2061"/>
                  </a:lnTo>
                  <a:lnTo>
                    <a:pt x="0" y="2049"/>
                  </a:lnTo>
                  <a:lnTo>
                    <a:pt x="14" y="2049"/>
                  </a:lnTo>
                  <a:close/>
                  <a:moveTo>
                    <a:pt x="14" y="2075"/>
                  </a:moveTo>
                  <a:lnTo>
                    <a:pt x="14" y="2088"/>
                  </a:lnTo>
                  <a:lnTo>
                    <a:pt x="0" y="2088"/>
                  </a:lnTo>
                  <a:lnTo>
                    <a:pt x="0" y="2075"/>
                  </a:lnTo>
                  <a:lnTo>
                    <a:pt x="14" y="2075"/>
                  </a:lnTo>
                  <a:close/>
                  <a:moveTo>
                    <a:pt x="14" y="2100"/>
                  </a:moveTo>
                  <a:lnTo>
                    <a:pt x="14" y="2113"/>
                  </a:lnTo>
                  <a:lnTo>
                    <a:pt x="0" y="2113"/>
                  </a:lnTo>
                  <a:lnTo>
                    <a:pt x="0" y="2100"/>
                  </a:lnTo>
                  <a:lnTo>
                    <a:pt x="14" y="2100"/>
                  </a:lnTo>
                  <a:close/>
                  <a:moveTo>
                    <a:pt x="14" y="2126"/>
                  </a:moveTo>
                  <a:lnTo>
                    <a:pt x="14" y="2139"/>
                  </a:lnTo>
                  <a:lnTo>
                    <a:pt x="0" y="2139"/>
                  </a:lnTo>
                  <a:lnTo>
                    <a:pt x="0" y="2126"/>
                  </a:lnTo>
                  <a:lnTo>
                    <a:pt x="14" y="2126"/>
                  </a:lnTo>
                  <a:close/>
                  <a:moveTo>
                    <a:pt x="14" y="2152"/>
                  </a:moveTo>
                  <a:lnTo>
                    <a:pt x="14" y="2165"/>
                  </a:lnTo>
                  <a:lnTo>
                    <a:pt x="0" y="2165"/>
                  </a:lnTo>
                  <a:lnTo>
                    <a:pt x="0" y="2152"/>
                  </a:lnTo>
                  <a:lnTo>
                    <a:pt x="14" y="2152"/>
                  </a:lnTo>
                  <a:close/>
                  <a:moveTo>
                    <a:pt x="14" y="2178"/>
                  </a:moveTo>
                  <a:lnTo>
                    <a:pt x="14" y="2191"/>
                  </a:lnTo>
                  <a:lnTo>
                    <a:pt x="0" y="2191"/>
                  </a:lnTo>
                  <a:lnTo>
                    <a:pt x="0" y="2178"/>
                  </a:lnTo>
                  <a:lnTo>
                    <a:pt x="14" y="2178"/>
                  </a:lnTo>
                  <a:close/>
                  <a:moveTo>
                    <a:pt x="14" y="2204"/>
                  </a:moveTo>
                  <a:lnTo>
                    <a:pt x="14" y="2217"/>
                  </a:lnTo>
                  <a:lnTo>
                    <a:pt x="0" y="2217"/>
                  </a:lnTo>
                  <a:lnTo>
                    <a:pt x="0" y="2204"/>
                  </a:lnTo>
                  <a:lnTo>
                    <a:pt x="14" y="2204"/>
                  </a:lnTo>
                  <a:close/>
                  <a:moveTo>
                    <a:pt x="14" y="2230"/>
                  </a:moveTo>
                  <a:lnTo>
                    <a:pt x="14" y="2243"/>
                  </a:lnTo>
                  <a:lnTo>
                    <a:pt x="0" y="2243"/>
                  </a:lnTo>
                  <a:lnTo>
                    <a:pt x="0" y="2230"/>
                  </a:lnTo>
                  <a:lnTo>
                    <a:pt x="14" y="2230"/>
                  </a:lnTo>
                  <a:close/>
                  <a:moveTo>
                    <a:pt x="14" y="2256"/>
                  </a:moveTo>
                  <a:lnTo>
                    <a:pt x="14" y="2269"/>
                  </a:lnTo>
                  <a:lnTo>
                    <a:pt x="0" y="2269"/>
                  </a:lnTo>
                  <a:lnTo>
                    <a:pt x="0" y="2256"/>
                  </a:lnTo>
                  <a:lnTo>
                    <a:pt x="14" y="2256"/>
                  </a:lnTo>
                  <a:close/>
                  <a:moveTo>
                    <a:pt x="14" y="2282"/>
                  </a:moveTo>
                  <a:lnTo>
                    <a:pt x="14" y="2285"/>
                  </a:lnTo>
                  <a:lnTo>
                    <a:pt x="0" y="2285"/>
                  </a:lnTo>
                  <a:lnTo>
                    <a:pt x="0" y="2282"/>
                  </a:lnTo>
                  <a:lnTo>
                    <a:pt x="14" y="2282"/>
                  </a:lnTo>
                  <a:close/>
                </a:path>
              </a:pathLst>
            </a:custGeom>
            <a:solidFill>
              <a:srgbClr val="000000"/>
            </a:solidFill>
            <a:ln w="0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1" name="Freeform 48">
              <a:extLst>
                <a:ext uri="{FF2B5EF4-FFF2-40B4-BE49-F238E27FC236}">
                  <a16:creationId xmlns:a16="http://schemas.microsoft.com/office/drawing/2014/main" id="{EB3EDDCC-F493-4B63-B129-2F856F5532E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418" y="1978"/>
              <a:ext cx="13" cy="2285"/>
            </a:xfrm>
            <a:custGeom>
              <a:avLst/>
              <a:gdLst>
                <a:gd name="T0" fmla="*/ 13 w 13"/>
                <a:gd name="T1" fmla="*/ 39 h 2285"/>
                <a:gd name="T2" fmla="*/ 0 w 13"/>
                <a:gd name="T3" fmla="*/ 52 h 2285"/>
                <a:gd name="T4" fmla="*/ 13 w 13"/>
                <a:gd name="T5" fmla="*/ 104 h 2285"/>
                <a:gd name="T6" fmla="*/ 0 w 13"/>
                <a:gd name="T7" fmla="*/ 143 h 2285"/>
                <a:gd name="T8" fmla="*/ 13 w 13"/>
                <a:gd name="T9" fmla="*/ 156 h 2285"/>
                <a:gd name="T10" fmla="*/ 13 w 13"/>
                <a:gd name="T11" fmla="*/ 221 h 2285"/>
                <a:gd name="T12" fmla="*/ 0 w 13"/>
                <a:gd name="T13" fmla="*/ 233 h 2285"/>
                <a:gd name="T14" fmla="*/ 13 w 13"/>
                <a:gd name="T15" fmla="*/ 285 h 2285"/>
                <a:gd name="T16" fmla="*/ 0 w 13"/>
                <a:gd name="T17" fmla="*/ 324 h 2285"/>
                <a:gd name="T18" fmla="*/ 13 w 13"/>
                <a:gd name="T19" fmla="*/ 337 h 2285"/>
                <a:gd name="T20" fmla="*/ 13 w 13"/>
                <a:gd name="T21" fmla="*/ 402 h 2285"/>
                <a:gd name="T22" fmla="*/ 0 w 13"/>
                <a:gd name="T23" fmla="*/ 415 h 2285"/>
                <a:gd name="T24" fmla="*/ 13 w 13"/>
                <a:gd name="T25" fmla="*/ 467 h 2285"/>
                <a:gd name="T26" fmla="*/ 0 w 13"/>
                <a:gd name="T27" fmla="*/ 506 h 2285"/>
                <a:gd name="T28" fmla="*/ 13 w 13"/>
                <a:gd name="T29" fmla="*/ 519 h 2285"/>
                <a:gd name="T30" fmla="*/ 13 w 13"/>
                <a:gd name="T31" fmla="*/ 583 h 2285"/>
                <a:gd name="T32" fmla="*/ 0 w 13"/>
                <a:gd name="T33" fmla="*/ 596 h 2285"/>
                <a:gd name="T34" fmla="*/ 13 w 13"/>
                <a:gd name="T35" fmla="*/ 648 h 2285"/>
                <a:gd name="T36" fmla="*/ 0 w 13"/>
                <a:gd name="T37" fmla="*/ 687 h 2285"/>
                <a:gd name="T38" fmla="*/ 13 w 13"/>
                <a:gd name="T39" fmla="*/ 700 h 2285"/>
                <a:gd name="T40" fmla="*/ 13 w 13"/>
                <a:gd name="T41" fmla="*/ 765 h 2285"/>
                <a:gd name="T42" fmla="*/ 0 w 13"/>
                <a:gd name="T43" fmla="*/ 778 h 2285"/>
                <a:gd name="T44" fmla="*/ 13 w 13"/>
                <a:gd name="T45" fmla="*/ 830 h 2285"/>
                <a:gd name="T46" fmla="*/ 0 w 13"/>
                <a:gd name="T47" fmla="*/ 869 h 2285"/>
                <a:gd name="T48" fmla="*/ 13 w 13"/>
                <a:gd name="T49" fmla="*/ 882 h 2285"/>
                <a:gd name="T50" fmla="*/ 13 w 13"/>
                <a:gd name="T51" fmla="*/ 947 h 2285"/>
                <a:gd name="T52" fmla="*/ 0 w 13"/>
                <a:gd name="T53" fmla="*/ 960 h 2285"/>
                <a:gd name="T54" fmla="*/ 13 w 13"/>
                <a:gd name="T55" fmla="*/ 1011 h 2285"/>
                <a:gd name="T56" fmla="*/ 0 w 13"/>
                <a:gd name="T57" fmla="*/ 1050 h 2285"/>
                <a:gd name="T58" fmla="*/ 13 w 13"/>
                <a:gd name="T59" fmla="*/ 1063 h 2285"/>
                <a:gd name="T60" fmla="*/ 13 w 13"/>
                <a:gd name="T61" fmla="*/ 1128 h 2285"/>
                <a:gd name="T62" fmla="*/ 0 w 13"/>
                <a:gd name="T63" fmla="*/ 1141 h 2285"/>
                <a:gd name="T64" fmla="*/ 13 w 13"/>
                <a:gd name="T65" fmla="*/ 1193 h 2285"/>
                <a:gd name="T66" fmla="*/ 0 w 13"/>
                <a:gd name="T67" fmla="*/ 1232 h 2285"/>
                <a:gd name="T68" fmla="*/ 13 w 13"/>
                <a:gd name="T69" fmla="*/ 1245 h 2285"/>
                <a:gd name="T70" fmla="*/ 13 w 13"/>
                <a:gd name="T71" fmla="*/ 1310 h 2285"/>
                <a:gd name="T72" fmla="*/ 0 w 13"/>
                <a:gd name="T73" fmla="*/ 1322 h 2285"/>
                <a:gd name="T74" fmla="*/ 13 w 13"/>
                <a:gd name="T75" fmla="*/ 1374 h 2285"/>
                <a:gd name="T76" fmla="*/ 0 w 13"/>
                <a:gd name="T77" fmla="*/ 1413 h 2285"/>
                <a:gd name="T78" fmla="*/ 13 w 13"/>
                <a:gd name="T79" fmla="*/ 1426 h 2285"/>
                <a:gd name="T80" fmla="*/ 13 w 13"/>
                <a:gd name="T81" fmla="*/ 1491 h 2285"/>
                <a:gd name="T82" fmla="*/ 0 w 13"/>
                <a:gd name="T83" fmla="*/ 1504 h 2285"/>
                <a:gd name="T84" fmla="*/ 13 w 13"/>
                <a:gd name="T85" fmla="*/ 1556 h 2285"/>
                <a:gd name="T86" fmla="*/ 0 w 13"/>
                <a:gd name="T87" fmla="*/ 1595 h 2285"/>
                <a:gd name="T88" fmla="*/ 13 w 13"/>
                <a:gd name="T89" fmla="*/ 1608 h 2285"/>
                <a:gd name="T90" fmla="*/ 13 w 13"/>
                <a:gd name="T91" fmla="*/ 1672 h 2285"/>
                <a:gd name="T92" fmla="*/ 0 w 13"/>
                <a:gd name="T93" fmla="*/ 1686 h 2285"/>
                <a:gd name="T94" fmla="*/ 13 w 13"/>
                <a:gd name="T95" fmla="*/ 1738 h 2285"/>
                <a:gd name="T96" fmla="*/ 0 w 13"/>
                <a:gd name="T97" fmla="*/ 1776 h 2285"/>
                <a:gd name="T98" fmla="*/ 13 w 13"/>
                <a:gd name="T99" fmla="*/ 1789 h 2285"/>
                <a:gd name="T100" fmla="*/ 13 w 13"/>
                <a:gd name="T101" fmla="*/ 1854 h 2285"/>
                <a:gd name="T102" fmla="*/ 0 w 13"/>
                <a:gd name="T103" fmla="*/ 1867 h 2285"/>
                <a:gd name="T104" fmla="*/ 13 w 13"/>
                <a:gd name="T105" fmla="*/ 1919 h 2285"/>
                <a:gd name="T106" fmla="*/ 0 w 13"/>
                <a:gd name="T107" fmla="*/ 1958 h 2285"/>
                <a:gd name="T108" fmla="*/ 13 w 13"/>
                <a:gd name="T109" fmla="*/ 1971 h 2285"/>
                <a:gd name="T110" fmla="*/ 13 w 13"/>
                <a:gd name="T111" fmla="*/ 2036 h 2285"/>
                <a:gd name="T112" fmla="*/ 0 w 13"/>
                <a:gd name="T113" fmla="*/ 2049 h 2285"/>
                <a:gd name="T114" fmla="*/ 13 w 13"/>
                <a:gd name="T115" fmla="*/ 2100 h 2285"/>
                <a:gd name="T116" fmla="*/ 0 w 13"/>
                <a:gd name="T117" fmla="*/ 2139 h 2285"/>
                <a:gd name="T118" fmla="*/ 13 w 13"/>
                <a:gd name="T119" fmla="*/ 2152 h 2285"/>
                <a:gd name="T120" fmla="*/ 13 w 13"/>
                <a:gd name="T121" fmla="*/ 2217 h 2285"/>
                <a:gd name="T122" fmla="*/ 0 w 13"/>
                <a:gd name="T123" fmla="*/ 2230 h 2285"/>
                <a:gd name="T124" fmla="*/ 13 w 13"/>
                <a:gd name="T125" fmla="*/ 2282 h 22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3" h="2285">
                  <a:moveTo>
                    <a:pt x="13" y="0"/>
                  </a:moveTo>
                  <a:lnTo>
                    <a:pt x="13" y="13"/>
                  </a:lnTo>
                  <a:lnTo>
                    <a:pt x="0" y="13"/>
                  </a:lnTo>
                  <a:lnTo>
                    <a:pt x="0" y="0"/>
                  </a:lnTo>
                  <a:lnTo>
                    <a:pt x="13" y="0"/>
                  </a:lnTo>
                  <a:close/>
                  <a:moveTo>
                    <a:pt x="13" y="26"/>
                  </a:moveTo>
                  <a:lnTo>
                    <a:pt x="13" y="39"/>
                  </a:lnTo>
                  <a:lnTo>
                    <a:pt x="0" y="39"/>
                  </a:lnTo>
                  <a:lnTo>
                    <a:pt x="0" y="26"/>
                  </a:lnTo>
                  <a:lnTo>
                    <a:pt x="13" y="26"/>
                  </a:lnTo>
                  <a:close/>
                  <a:moveTo>
                    <a:pt x="13" y="52"/>
                  </a:moveTo>
                  <a:lnTo>
                    <a:pt x="13" y="65"/>
                  </a:lnTo>
                  <a:lnTo>
                    <a:pt x="0" y="65"/>
                  </a:lnTo>
                  <a:lnTo>
                    <a:pt x="0" y="52"/>
                  </a:lnTo>
                  <a:lnTo>
                    <a:pt x="13" y="52"/>
                  </a:lnTo>
                  <a:close/>
                  <a:moveTo>
                    <a:pt x="13" y="78"/>
                  </a:moveTo>
                  <a:lnTo>
                    <a:pt x="13" y="91"/>
                  </a:lnTo>
                  <a:lnTo>
                    <a:pt x="0" y="91"/>
                  </a:lnTo>
                  <a:lnTo>
                    <a:pt x="0" y="78"/>
                  </a:lnTo>
                  <a:lnTo>
                    <a:pt x="13" y="78"/>
                  </a:lnTo>
                  <a:close/>
                  <a:moveTo>
                    <a:pt x="13" y="104"/>
                  </a:moveTo>
                  <a:lnTo>
                    <a:pt x="13" y="117"/>
                  </a:lnTo>
                  <a:lnTo>
                    <a:pt x="0" y="117"/>
                  </a:lnTo>
                  <a:lnTo>
                    <a:pt x="0" y="104"/>
                  </a:lnTo>
                  <a:lnTo>
                    <a:pt x="13" y="104"/>
                  </a:lnTo>
                  <a:close/>
                  <a:moveTo>
                    <a:pt x="13" y="130"/>
                  </a:moveTo>
                  <a:lnTo>
                    <a:pt x="13" y="143"/>
                  </a:lnTo>
                  <a:lnTo>
                    <a:pt x="0" y="143"/>
                  </a:lnTo>
                  <a:lnTo>
                    <a:pt x="0" y="130"/>
                  </a:lnTo>
                  <a:lnTo>
                    <a:pt x="13" y="130"/>
                  </a:lnTo>
                  <a:close/>
                  <a:moveTo>
                    <a:pt x="13" y="156"/>
                  </a:moveTo>
                  <a:lnTo>
                    <a:pt x="13" y="169"/>
                  </a:lnTo>
                  <a:lnTo>
                    <a:pt x="0" y="169"/>
                  </a:lnTo>
                  <a:lnTo>
                    <a:pt x="0" y="156"/>
                  </a:lnTo>
                  <a:lnTo>
                    <a:pt x="13" y="156"/>
                  </a:lnTo>
                  <a:close/>
                  <a:moveTo>
                    <a:pt x="13" y="182"/>
                  </a:moveTo>
                  <a:lnTo>
                    <a:pt x="13" y="194"/>
                  </a:lnTo>
                  <a:lnTo>
                    <a:pt x="0" y="194"/>
                  </a:lnTo>
                  <a:lnTo>
                    <a:pt x="0" y="182"/>
                  </a:lnTo>
                  <a:lnTo>
                    <a:pt x="13" y="182"/>
                  </a:lnTo>
                  <a:close/>
                  <a:moveTo>
                    <a:pt x="13" y="208"/>
                  </a:moveTo>
                  <a:lnTo>
                    <a:pt x="13" y="221"/>
                  </a:lnTo>
                  <a:lnTo>
                    <a:pt x="0" y="221"/>
                  </a:lnTo>
                  <a:lnTo>
                    <a:pt x="0" y="208"/>
                  </a:lnTo>
                  <a:lnTo>
                    <a:pt x="13" y="208"/>
                  </a:lnTo>
                  <a:close/>
                  <a:moveTo>
                    <a:pt x="13" y="233"/>
                  </a:moveTo>
                  <a:lnTo>
                    <a:pt x="13" y="246"/>
                  </a:lnTo>
                  <a:lnTo>
                    <a:pt x="0" y="246"/>
                  </a:lnTo>
                  <a:lnTo>
                    <a:pt x="0" y="233"/>
                  </a:lnTo>
                  <a:lnTo>
                    <a:pt x="13" y="233"/>
                  </a:lnTo>
                  <a:close/>
                  <a:moveTo>
                    <a:pt x="13" y="259"/>
                  </a:moveTo>
                  <a:lnTo>
                    <a:pt x="13" y="272"/>
                  </a:lnTo>
                  <a:lnTo>
                    <a:pt x="0" y="272"/>
                  </a:lnTo>
                  <a:lnTo>
                    <a:pt x="0" y="259"/>
                  </a:lnTo>
                  <a:lnTo>
                    <a:pt x="13" y="259"/>
                  </a:lnTo>
                  <a:close/>
                  <a:moveTo>
                    <a:pt x="13" y="285"/>
                  </a:moveTo>
                  <a:lnTo>
                    <a:pt x="13" y="298"/>
                  </a:lnTo>
                  <a:lnTo>
                    <a:pt x="0" y="298"/>
                  </a:lnTo>
                  <a:lnTo>
                    <a:pt x="0" y="285"/>
                  </a:lnTo>
                  <a:lnTo>
                    <a:pt x="13" y="285"/>
                  </a:lnTo>
                  <a:close/>
                  <a:moveTo>
                    <a:pt x="13" y="311"/>
                  </a:moveTo>
                  <a:lnTo>
                    <a:pt x="13" y="324"/>
                  </a:lnTo>
                  <a:lnTo>
                    <a:pt x="0" y="324"/>
                  </a:lnTo>
                  <a:lnTo>
                    <a:pt x="0" y="311"/>
                  </a:lnTo>
                  <a:lnTo>
                    <a:pt x="13" y="311"/>
                  </a:lnTo>
                  <a:close/>
                  <a:moveTo>
                    <a:pt x="13" y="337"/>
                  </a:moveTo>
                  <a:lnTo>
                    <a:pt x="13" y="350"/>
                  </a:lnTo>
                  <a:lnTo>
                    <a:pt x="0" y="350"/>
                  </a:lnTo>
                  <a:lnTo>
                    <a:pt x="0" y="337"/>
                  </a:lnTo>
                  <a:lnTo>
                    <a:pt x="13" y="337"/>
                  </a:lnTo>
                  <a:close/>
                  <a:moveTo>
                    <a:pt x="13" y="363"/>
                  </a:moveTo>
                  <a:lnTo>
                    <a:pt x="13" y="376"/>
                  </a:lnTo>
                  <a:lnTo>
                    <a:pt x="0" y="376"/>
                  </a:lnTo>
                  <a:lnTo>
                    <a:pt x="0" y="363"/>
                  </a:lnTo>
                  <a:lnTo>
                    <a:pt x="13" y="363"/>
                  </a:lnTo>
                  <a:close/>
                  <a:moveTo>
                    <a:pt x="13" y="389"/>
                  </a:moveTo>
                  <a:lnTo>
                    <a:pt x="13" y="402"/>
                  </a:lnTo>
                  <a:lnTo>
                    <a:pt x="0" y="402"/>
                  </a:lnTo>
                  <a:lnTo>
                    <a:pt x="0" y="389"/>
                  </a:lnTo>
                  <a:lnTo>
                    <a:pt x="13" y="389"/>
                  </a:lnTo>
                  <a:close/>
                  <a:moveTo>
                    <a:pt x="13" y="415"/>
                  </a:moveTo>
                  <a:lnTo>
                    <a:pt x="13" y="428"/>
                  </a:lnTo>
                  <a:lnTo>
                    <a:pt x="0" y="428"/>
                  </a:lnTo>
                  <a:lnTo>
                    <a:pt x="0" y="415"/>
                  </a:lnTo>
                  <a:lnTo>
                    <a:pt x="13" y="415"/>
                  </a:lnTo>
                  <a:close/>
                  <a:moveTo>
                    <a:pt x="13" y="441"/>
                  </a:moveTo>
                  <a:lnTo>
                    <a:pt x="13" y="454"/>
                  </a:lnTo>
                  <a:lnTo>
                    <a:pt x="0" y="454"/>
                  </a:lnTo>
                  <a:lnTo>
                    <a:pt x="0" y="441"/>
                  </a:lnTo>
                  <a:lnTo>
                    <a:pt x="13" y="441"/>
                  </a:lnTo>
                  <a:close/>
                  <a:moveTo>
                    <a:pt x="13" y="467"/>
                  </a:moveTo>
                  <a:lnTo>
                    <a:pt x="13" y="480"/>
                  </a:lnTo>
                  <a:lnTo>
                    <a:pt x="0" y="480"/>
                  </a:lnTo>
                  <a:lnTo>
                    <a:pt x="0" y="467"/>
                  </a:lnTo>
                  <a:lnTo>
                    <a:pt x="13" y="467"/>
                  </a:lnTo>
                  <a:close/>
                  <a:moveTo>
                    <a:pt x="13" y="493"/>
                  </a:moveTo>
                  <a:lnTo>
                    <a:pt x="13" y="506"/>
                  </a:lnTo>
                  <a:lnTo>
                    <a:pt x="0" y="506"/>
                  </a:lnTo>
                  <a:lnTo>
                    <a:pt x="0" y="493"/>
                  </a:lnTo>
                  <a:lnTo>
                    <a:pt x="13" y="493"/>
                  </a:lnTo>
                  <a:close/>
                  <a:moveTo>
                    <a:pt x="13" y="519"/>
                  </a:moveTo>
                  <a:lnTo>
                    <a:pt x="13" y="532"/>
                  </a:lnTo>
                  <a:lnTo>
                    <a:pt x="0" y="532"/>
                  </a:lnTo>
                  <a:lnTo>
                    <a:pt x="0" y="519"/>
                  </a:lnTo>
                  <a:lnTo>
                    <a:pt x="13" y="519"/>
                  </a:lnTo>
                  <a:close/>
                  <a:moveTo>
                    <a:pt x="13" y="545"/>
                  </a:moveTo>
                  <a:lnTo>
                    <a:pt x="13" y="558"/>
                  </a:lnTo>
                  <a:lnTo>
                    <a:pt x="0" y="558"/>
                  </a:lnTo>
                  <a:lnTo>
                    <a:pt x="0" y="545"/>
                  </a:lnTo>
                  <a:lnTo>
                    <a:pt x="13" y="545"/>
                  </a:lnTo>
                  <a:close/>
                  <a:moveTo>
                    <a:pt x="13" y="571"/>
                  </a:moveTo>
                  <a:lnTo>
                    <a:pt x="13" y="583"/>
                  </a:lnTo>
                  <a:lnTo>
                    <a:pt x="0" y="583"/>
                  </a:lnTo>
                  <a:lnTo>
                    <a:pt x="0" y="571"/>
                  </a:lnTo>
                  <a:lnTo>
                    <a:pt x="13" y="571"/>
                  </a:lnTo>
                  <a:close/>
                  <a:moveTo>
                    <a:pt x="13" y="596"/>
                  </a:moveTo>
                  <a:lnTo>
                    <a:pt x="13" y="610"/>
                  </a:lnTo>
                  <a:lnTo>
                    <a:pt x="0" y="610"/>
                  </a:lnTo>
                  <a:lnTo>
                    <a:pt x="0" y="596"/>
                  </a:lnTo>
                  <a:lnTo>
                    <a:pt x="13" y="596"/>
                  </a:lnTo>
                  <a:close/>
                  <a:moveTo>
                    <a:pt x="13" y="622"/>
                  </a:moveTo>
                  <a:lnTo>
                    <a:pt x="13" y="635"/>
                  </a:lnTo>
                  <a:lnTo>
                    <a:pt x="0" y="635"/>
                  </a:lnTo>
                  <a:lnTo>
                    <a:pt x="0" y="622"/>
                  </a:lnTo>
                  <a:lnTo>
                    <a:pt x="13" y="622"/>
                  </a:lnTo>
                  <a:close/>
                  <a:moveTo>
                    <a:pt x="13" y="648"/>
                  </a:moveTo>
                  <a:lnTo>
                    <a:pt x="13" y="661"/>
                  </a:lnTo>
                  <a:lnTo>
                    <a:pt x="0" y="661"/>
                  </a:lnTo>
                  <a:lnTo>
                    <a:pt x="0" y="648"/>
                  </a:lnTo>
                  <a:lnTo>
                    <a:pt x="13" y="648"/>
                  </a:lnTo>
                  <a:close/>
                  <a:moveTo>
                    <a:pt x="13" y="674"/>
                  </a:moveTo>
                  <a:lnTo>
                    <a:pt x="13" y="687"/>
                  </a:lnTo>
                  <a:lnTo>
                    <a:pt x="0" y="687"/>
                  </a:lnTo>
                  <a:lnTo>
                    <a:pt x="0" y="674"/>
                  </a:lnTo>
                  <a:lnTo>
                    <a:pt x="13" y="674"/>
                  </a:lnTo>
                  <a:close/>
                  <a:moveTo>
                    <a:pt x="13" y="700"/>
                  </a:moveTo>
                  <a:lnTo>
                    <a:pt x="13" y="713"/>
                  </a:lnTo>
                  <a:lnTo>
                    <a:pt x="0" y="713"/>
                  </a:lnTo>
                  <a:lnTo>
                    <a:pt x="0" y="700"/>
                  </a:lnTo>
                  <a:lnTo>
                    <a:pt x="13" y="700"/>
                  </a:lnTo>
                  <a:close/>
                  <a:moveTo>
                    <a:pt x="13" y="726"/>
                  </a:moveTo>
                  <a:lnTo>
                    <a:pt x="13" y="739"/>
                  </a:lnTo>
                  <a:lnTo>
                    <a:pt x="0" y="739"/>
                  </a:lnTo>
                  <a:lnTo>
                    <a:pt x="0" y="726"/>
                  </a:lnTo>
                  <a:lnTo>
                    <a:pt x="13" y="726"/>
                  </a:lnTo>
                  <a:close/>
                  <a:moveTo>
                    <a:pt x="13" y="752"/>
                  </a:moveTo>
                  <a:lnTo>
                    <a:pt x="13" y="765"/>
                  </a:lnTo>
                  <a:lnTo>
                    <a:pt x="0" y="765"/>
                  </a:lnTo>
                  <a:lnTo>
                    <a:pt x="0" y="752"/>
                  </a:lnTo>
                  <a:lnTo>
                    <a:pt x="13" y="752"/>
                  </a:lnTo>
                  <a:close/>
                  <a:moveTo>
                    <a:pt x="13" y="778"/>
                  </a:moveTo>
                  <a:lnTo>
                    <a:pt x="13" y="791"/>
                  </a:lnTo>
                  <a:lnTo>
                    <a:pt x="0" y="791"/>
                  </a:lnTo>
                  <a:lnTo>
                    <a:pt x="0" y="778"/>
                  </a:lnTo>
                  <a:lnTo>
                    <a:pt x="13" y="778"/>
                  </a:lnTo>
                  <a:close/>
                  <a:moveTo>
                    <a:pt x="13" y="804"/>
                  </a:moveTo>
                  <a:lnTo>
                    <a:pt x="13" y="817"/>
                  </a:lnTo>
                  <a:lnTo>
                    <a:pt x="0" y="817"/>
                  </a:lnTo>
                  <a:lnTo>
                    <a:pt x="0" y="804"/>
                  </a:lnTo>
                  <a:lnTo>
                    <a:pt x="13" y="804"/>
                  </a:lnTo>
                  <a:close/>
                  <a:moveTo>
                    <a:pt x="13" y="830"/>
                  </a:moveTo>
                  <a:lnTo>
                    <a:pt x="13" y="843"/>
                  </a:lnTo>
                  <a:lnTo>
                    <a:pt x="0" y="843"/>
                  </a:lnTo>
                  <a:lnTo>
                    <a:pt x="0" y="830"/>
                  </a:lnTo>
                  <a:lnTo>
                    <a:pt x="13" y="830"/>
                  </a:lnTo>
                  <a:close/>
                  <a:moveTo>
                    <a:pt x="13" y="856"/>
                  </a:moveTo>
                  <a:lnTo>
                    <a:pt x="13" y="869"/>
                  </a:lnTo>
                  <a:lnTo>
                    <a:pt x="0" y="869"/>
                  </a:lnTo>
                  <a:lnTo>
                    <a:pt x="0" y="856"/>
                  </a:lnTo>
                  <a:lnTo>
                    <a:pt x="13" y="856"/>
                  </a:lnTo>
                  <a:close/>
                  <a:moveTo>
                    <a:pt x="13" y="882"/>
                  </a:moveTo>
                  <a:lnTo>
                    <a:pt x="13" y="895"/>
                  </a:lnTo>
                  <a:lnTo>
                    <a:pt x="0" y="895"/>
                  </a:lnTo>
                  <a:lnTo>
                    <a:pt x="0" y="882"/>
                  </a:lnTo>
                  <a:lnTo>
                    <a:pt x="13" y="882"/>
                  </a:lnTo>
                  <a:close/>
                  <a:moveTo>
                    <a:pt x="13" y="908"/>
                  </a:moveTo>
                  <a:lnTo>
                    <a:pt x="13" y="921"/>
                  </a:lnTo>
                  <a:lnTo>
                    <a:pt x="0" y="921"/>
                  </a:lnTo>
                  <a:lnTo>
                    <a:pt x="0" y="908"/>
                  </a:lnTo>
                  <a:lnTo>
                    <a:pt x="13" y="908"/>
                  </a:lnTo>
                  <a:close/>
                  <a:moveTo>
                    <a:pt x="13" y="933"/>
                  </a:moveTo>
                  <a:lnTo>
                    <a:pt x="13" y="947"/>
                  </a:lnTo>
                  <a:lnTo>
                    <a:pt x="0" y="947"/>
                  </a:lnTo>
                  <a:lnTo>
                    <a:pt x="0" y="933"/>
                  </a:lnTo>
                  <a:lnTo>
                    <a:pt x="13" y="933"/>
                  </a:lnTo>
                  <a:close/>
                  <a:moveTo>
                    <a:pt x="13" y="960"/>
                  </a:moveTo>
                  <a:lnTo>
                    <a:pt x="13" y="972"/>
                  </a:lnTo>
                  <a:lnTo>
                    <a:pt x="0" y="972"/>
                  </a:lnTo>
                  <a:lnTo>
                    <a:pt x="0" y="960"/>
                  </a:lnTo>
                  <a:lnTo>
                    <a:pt x="13" y="960"/>
                  </a:lnTo>
                  <a:close/>
                  <a:moveTo>
                    <a:pt x="13" y="985"/>
                  </a:moveTo>
                  <a:lnTo>
                    <a:pt x="13" y="999"/>
                  </a:lnTo>
                  <a:lnTo>
                    <a:pt x="0" y="999"/>
                  </a:lnTo>
                  <a:lnTo>
                    <a:pt x="0" y="985"/>
                  </a:lnTo>
                  <a:lnTo>
                    <a:pt x="13" y="985"/>
                  </a:lnTo>
                  <a:close/>
                  <a:moveTo>
                    <a:pt x="13" y="1011"/>
                  </a:moveTo>
                  <a:lnTo>
                    <a:pt x="13" y="1024"/>
                  </a:lnTo>
                  <a:lnTo>
                    <a:pt x="0" y="1024"/>
                  </a:lnTo>
                  <a:lnTo>
                    <a:pt x="0" y="1011"/>
                  </a:lnTo>
                  <a:lnTo>
                    <a:pt x="13" y="1011"/>
                  </a:lnTo>
                  <a:close/>
                  <a:moveTo>
                    <a:pt x="13" y="1037"/>
                  </a:moveTo>
                  <a:lnTo>
                    <a:pt x="13" y="1050"/>
                  </a:lnTo>
                  <a:lnTo>
                    <a:pt x="0" y="1050"/>
                  </a:lnTo>
                  <a:lnTo>
                    <a:pt x="0" y="1037"/>
                  </a:lnTo>
                  <a:lnTo>
                    <a:pt x="13" y="1037"/>
                  </a:lnTo>
                  <a:close/>
                  <a:moveTo>
                    <a:pt x="13" y="1063"/>
                  </a:moveTo>
                  <a:lnTo>
                    <a:pt x="13" y="1076"/>
                  </a:lnTo>
                  <a:lnTo>
                    <a:pt x="0" y="1076"/>
                  </a:lnTo>
                  <a:lnTo>
                    <a:pt x="0" y="1063"/>
                  </a:lnTo>
                  <a:lnTo>
                    <a:pt x="13" y="1063"/>
                  </a:lnTo>
                  <a:close/>
                  <a:moveTo>
                    <a:pt x="13" y="1089"/>
                  </a:moveTo>
                  <a:lnTo>
                    <a:pt x="13" y="1102"/>
                  </a:lnTo>
                  <a:lnTo>
                    <a:pt x="0" y="1102"/>
                  </a:lnTo>
                  <a:lnTo>
                    <a:pt x="0" y="1089"/>
                  </a:lnTo>
                  <a:lnTo>
                    <a:pt x="13" y="1089"/>
                  </a:lnTo>
                  <a:close/>
                  <a:moveTo>
                    <a:pt x="13" y="1115"/>
                  </a:moveTo>
                  <a:lnTo>
                    <a:pt x="13" y="1128"/>
                  </a:lnTo>
                  <a:lnTo>
                    <a:pt x="0" y="1128"/>
                  </a:lnTo>
                  <a:lnTo>
                    <a:pt x="0" y="1115"/>
                  </a:lnTo>
                  <a:lnTo>
                    <a:pt x="13" y="1115"/>
                  </a:lnTo>
                  <a:close/>
                  <a:moveTo>
                    <a:pt x="13" y="1141"/>
                  </a:moveTo>
                  <a:lnTo>
                    <a:pt x="13" y="1154"/>
                  </a:lnTo>
                  <a:lnTo>
                    <a:pt x="0" y="1154"/>
                  </a:lnTo>
                  <a:lnTo>
                    <a:pt x="0" y="1141"/>
                  </a:lnTo>
                  <a:lnTo>
                    <a:pt x="13" y="1141"/>
                  </a:lnTo>
                  <a:close/>
                  <a:moveTo>
                    <a:pt x="13" y="1167"/>
                  </a:moveTo>
                  <a:lnTo>
                    <a:pt x="13" y="1180"/>
                  </a:lnTo>
                  <a:lnTo>
                    <a:pt x="0" y="1180"/>
                  </a:lnTo>
                  <a:lnTo>
                    <a:pt x="0" y="1167"/>
                  </a:lnTo>
                  <a:lnTo>
                    <a:pt x="13" y="1167"/>
                  </a:lnTo>
                  <a:close/>
                  <a:moveTo>
                    <a:pt x="13" y="1193"/>
                  </a:moveTo>
                  <a:lnTo>
                    <a:pt x="13" y="1206"/>
                  </a:lnTo>
                  <a:lnTo>
                    <a:pt x="0" y="1206"/>
                  </a:lnTo>
                  <a:lnTo>
                    <a:pt x="0" y="1193"/>
                  </a:lnTo>
                  <a:lnTo>
                    <a:pt x="13" y="1193"/>
                  </a:lnTo>
                  <a:close/>
                  <a:moveTo>
                    <a:pt x="13" y="1219"/>
                  </a:moveTo>
                  <a:lnTo>
                    <a:pt x="13" y="1232"/>
                  </a:lnTo>
                  <a:lnTo>
                    <a:pt x="0" y="1232"/>
                  </a:lnTo>
                  <a:lnTo>
                    <a:pt x="0" y="1219"/>
                  </a:lnTo>
                  <a:lnTo>
                    <a:pt x="13" y="1219"/>
                  </a:lnTo>
                  <a:close/>
                  <a:moveTo>
                    <a:pt x="13" y="1245"/>
                  </a:moveTo>
                  <a:lnTo>
                    <a:pt x="13" y="1258"/>
                  </a:lnTo>
                  <a:lnTo>
                    <a:pt x="0" y="1258"/>
                  </a:lnTo>
                  <a:lnTo>
                    <a:pt x="0" y="1245"/>
                  </a:lnTo>
                  <a:lnTo>
                    <a:pt x="13" y="1245"/>
                  </a:lnTo>
                  <a:close/>
                  <a:moveTo>
                    <a:pt x="13" y="1271"/>
                  </a:moveTo>
                  <a:lnTo>
                    <a:pt x="13" y="1284"/>
                  </a:lnTo>
                  <a:lnTo>
                    <a:pt x="0" y="1284"/>
                  </a:lnTo>
                  <a:lnTo>
                    <a:pt x="0" y="1271"/>
                  </a:lnTo>
                  <a:lnTo>
                    <a:pt x="13" y="1271"/>
                  </a:lnTo>
                  <a:close/>
                  <a:moveTo>
                    <a:pt x="13" y="1297"/>
                  </a:moveTo>
                  <a:lnTo>
                    <a:pt x="13" y="1310"/>
                  </a:lnTo>
                  <a:lnTo>
                    <a:pt x="0" y="1310"/>
                  </a:lnTo>
                  <a:lnTo>
                    <a:pt x="0" y="1297"/>
                  </a:lnTo>
                  <a:lnTo>
                    <a:pt x="13" y="1297"/>
                  </a:lnTo>
                  <a:close/>
                  <a:moveTo>
                    <a:pt x="13" y="1322"/>
                  </a:moveTo>
                  <a:lnTo>
                    <a:pt x="13" y="1335"/>
                  </a:lnTo>
                  <a:lnTo>
                    <a:pt x="0" y="1335"/>
                  </a:lnTo>
                  <a:lnTo>
                    <a:pt x="0" y="1322"/>
                  </a:lnTo>
                  <a:lnTo>
                    <a:pt x="13" y="1322"/>
                  </a:lnTo>
                  <a:close/>
                  <a:moveTo>
                    <a:pt x="13" y="1349"/>
                  </a:moveTo>
                  <a:lnTo>
                    <a:pt x="13" y="1361"/>
                  </a:lnTo>
                  <a:lnTo>
                    <a:pt x="0" y="1361"/>
                  </a:lnTo>
                  <a:lnTo>
                    <a:pt x="0" y="1349"/>
                  </a:lnTo>
                  <a:lnTo>
                    <a:pt x="13" y="1349"/>
                  </a:lnTo>
                  <a:close/>
                  <a:moveTo>
                    <a:pt x="13" y="1374"/>
                  </a:moveTo>
                  <a:lnTo>
                    <a:pt x="13" y="1387"/>
                  </a:lnTo>
                  <a:lnTo>
                    <a:pt x="0" y="1387"/>
                  </a:lnTo>
                  <a:lnTo>
                    <a:pt x="0" y="1374"/>
                  </a:lnTo>
                  <a:lnTo>
                    <a:pt x="13" y="1374"/>
                  </a:lnTo>
                  <a:close/>
                  <a:moveTo>
                    <a:pt x="13" y="1400"/>
                  </a:moveTo>
                  <a:lnTo>
                    <a:pt x="13" y="1413"/>
                  </a:lnTo>
                  <a:lnTo>
                    <a:pt x="0" y="1413"/>
                  </a:lnTo>
                  <a:lnTo>
                    <a:pt x="0" y="1400"/>
                  </a:lnTo>
                  <a:lnTo>
                    <a:pt x="13" y="1400"/>
                  </a:lnTo>
                  <a:close/>
                  <a:moveTo>
                    <a:pt x="13" y="1426"/>
                  </a:moveTo>
                  <a:lnTo>
                    <a:pt x="13" y="1439"/>
                  </a:lnTo>
                  <a:lnTo>
                    <a:pt x="0" y="1439"/>
                  </a:lnTo>
                  <a:lnTo>
                    <a:pt x="0" y="1426"/>
                  </a:lnTo>
                  <a:lnTo>
                    <a:pt x="13" y="1426"/>
                  </a:lnTo>
                  <a:close/>
                  <a:moveTo>
                    <a:pt x="13" y="1452"/>
                  </a:moveTo>
                  <a:lnTo>
                    <a:pt x="13" y="1465"/>
                  </a:lnTo>
                  <a:lnTo>
                    <a:pt x="0" y="1465"/>
                  </a:lnTo>
                  <a:lnTo>
                    <a:pt x="0" y="1452"/>
                  </a:lnTo>
                  <a:lnTo>
                    <a:pt x="13" y="1452"/>
                  </a:lnTo>
                  <a:close/>
                  <a:moveTo>
                    <a:pt x="13" y="1478"/>
                  </a:moveTo>
                  <a:lnTo>
                    <a:pt x="13" y="1491"/>
                  </a:lnTo>
                  <a:lnTo>
                    <a:pt x="0" y="1491"/>
                  </a:lnTo>
                  <a:lnTo>
                    <a:pt x="0" y="1478"/>
                  </a:lnTo>
                  <a:lnTo>
                    <a:pt x="13" y="1478"/>
                  </a:lnTo>
                  <a:close/>
                  <a:moveTo>
                    <a:pt x="13" y="1504"/>
                  </a:moveTo>
                  <a:lnTo>
                    <a:pt x="13" y="1517"/>
                  </a:lnTo>
                  <a:lnTo>
                    <a:pt x="0" y="1517"/>
                  </a:lnTo>
                  <a:lnTo>
                    <a:pt x="0" y="1504"/>
                  </a:lnTo>
                  <a:lnTo>
                    <a:pt x="13" y="1504"/>
                  </a:lnTo>
                  <a:close/>
                  <a:moveTo>
                    <a:pt x="13" y="1530"/>
                  </a:moveTo>
                  <a:lnTo>
                    <a:pt x="13" y="1543"/>
                  </a:lnTo>
                  <a:lnTo>
                    <a:pt x="0" y="1543"/>
                  </a:lnTo>
                  <a:lnTo>
                    <a:pt x="0" y="1530"/>
                  </a:lnTo>
                  <a:lnTo>
                    <a:pt x="13" y="1530"/>
                  </a:lnTo>
                  <a:close/>
                  <a:moveTo>
                    <a:pt x="13" y="1556"/>
                  </a:moveTo>
                  <a:lnTo>
                    <a:pt x="13" y="1569"/>
                  </a:lnTo>
                  <a:lnTo>
                    <a:pt x="0" y="1569"/>
                  </a:lnTo>
                  <a:lnTo>
                    <a:pt x="0" y="1556"/>
                  </a:lnTo>
                  <a:lnTo>
                    <a:pt x="13" y="1556"/>
                  </a:lnTo>
                  <a:close/>
                  <a:moveTo>
                    <a:pt x="13" y="1582"/>
                  </a:moveTo>
                  <a:lnTo>
                    <a:pt x="13" y="1595"/>
                  </a:lnTo>
                  <a:lnTo>
                    <a:pt x="0" y="1595"/>
                  </a:lnTo>
                  <a:lnTo>
                    <a:pt x="0" y="1582"/>
                  </a:lnTo>
                  <a:lnTo>
                    <a:pt x="13" y="1582"/>
                  </a:lnTo>
                  <a:close/>
                  <a:moveTo>
                    <a:pt x="13" y="1608"/>
                  </a:moveTo>
                  <a:lnTo>
                    <a:pt x="13" y="1621"/>
                  </a:lnTo>
                  <a:lnTo>
                    <a:pt x="0" y="1621"/>
                  </a:lnTo>
                  <a:lnTo>
                    <a:pt x="0" y="1608"/>
                  </a:lnTo>
                  <a:lnTo>
                    <a:pt x="13" y="1608"/>
                  </a:lnTo>
                  <a:close/>
                  <a:moveTo>
                    <a:pt x="13" y="1634"/>
                  </a:moveTo>
                  <a:lnTo>
                    <a:pt x="13" y="1647"/>
                  </a:lnTo>
                  <a:lnTo>
                    <a:pt x="0" y="1647"/>
                  </a:lnTo>
                  <a:lnTo>
                    <a:pt x="0" y="1634"/>
                  </a:lnTo>
                  <a:lnTo>
                    <a:pt x="13" y="1634"/>
                  </a:lnTo>
                  <a:close/>
                  <a:moveTo>
                    <a:pt x="13" y="1660"/>
                  </a:moveTo>
                  <a:lnTo>
                    <a:pt x="13" y="1672"/>
                  </a:lnTo>
                  <a:lnTo>
                    <a:pt x="0" y="1672"/>
                  </a:lnTo>
                  <a:lnTo>
                    <a:pt x="0" y="1660"/>
                  </a:lnTo>
                  <a:lnTo>
                    <a:pt x="13" y="1660"/>
                  </a:lnTo>
                  <a:close/>
                  <a:moveTo>
                    <a:pt x="13" y="1686"/>
                  </a:moveTo>
                  <a:lnTo>
                    <a:pt x="13" y="1699"/>
                  </a:lnTo>
                  <a:lnTo>
                    <a:pt x="0" y="1699"/>
                  </a:lnTo>
                  <a:lnTo>
                    <a:pt x="0" y="1686"/>
                  </a:lnTo>
                  <a:lnTo>
                    <a:pt x="13" y="1686"/>
                  </a:lnTo>
                  <a:close/>
                  <a:moveTo>
                    <a:pt x="13" y="1711"/>
                  </a:moveTo>
                  <a:lnTo>
                    <a:pt x="13" y="1724"/>
                  </a:lnTo>
                  <a:lnTo>
                    <a:pt x="0" y="1724"/>
                  </a:lnTo>
                  <a:lnTo>
                    <a:pt x="0" y="1711"/>
                  </a:lnTo>
                  <a:lnTo>
                    <a:pt x="13" y="1711"/>
                  </a:lnTo>
                  <a:close/>
                  <a:moveTo>
                    <a:pt x="13" y="1738"/>
                  </a:moveTo>
                  <a:lnTo>
                    <a:pt x="13" y="1750"/>
                  </a:lnTo>
                  <a:lnTo>
                    <a:pt x="0" y="1750"/>
                  </a:lnTo>
                  <a:lnTo>
                    <a:pt x="0" y="1738"/>
                  </a:lnTo>
                  <a:lnTo>
                    <a:pt x="13" y="1738"/>
                  </a:lnTo>
                  <a:close/>
                  <a:moveTo>
                    <a:pt x="13" y="1763"/>
                  </a:moveTo>
                  <a:lnTo>
                    <a:pt x="13" y="1776"/>
                  </a:lnTo>
                  <a:lnTo>
                    <a:pt x="0" y="1776"/>
                  </a:lnTo>
                  <a:lnTo>
                    <a:pt x="0" y="1763"/>
                  </a:lnTo>
                  <a:lnTo>
                    <a:pt x="13" y="1763"/>
                  </a:lnTo>
                  <a:close/>
                  <a:moveTo>
                    <a:pt x="13" y="1789"/>
                  </a:moveTo>
                  <a:lnTo>
                    <a:pt x="13" y="1802"/>
                  </a:lnTo>
                  <a:lnTo>
                    <a:pt x="0" y="1802"/>
                  </a:lnTo>
                  <a:lnTo>
                    <a:pt x="0" y="1789"/>
                  </a:lnTo>
                  <a:lnTo>
                    <a:pt x="13" y="1789"/>
                  </a:lnTo>
                  <a:close/>
                  <a:moveTo>
                    <a:pt x="13" y="1815"/>
                  </a:moveTo>
                  <a:lnTo>
                    <a:pt x="13" y="1828"/>
                  </a:lnTo>
                  <a:lnTo>
                    <a:pt x="0" y="1828"/>
                  </a:lnTo>
                  <a:lnTo>
                    <a:pt x="0" y="1815"/>
                  </a:lnTo>
                  <a:lnTo>
                    <a:pt x="13" y="1815"/>
                  </a:lnTo>
                  <a:close/>
                  <a:moveTo>
                    <a:pt x="13" y="1841"/>
                  </a:moveTo>
                  <a:lnTo>
                    <a:pt x="13" y="1854"/>
                  </a:lnTo>
                  <a:lnTo>
                    <a:pt x="0" y="1854"/>
                  </a:lnTo>
                  <a:lnTo>
                    <a:pt x="0" y="1841"/>
                  </a:lnTo>
                  <a:lnTo>
                    <a:pt x="13" y="1841"/>
                  </a:lnTo>
                  <a:close/>
                  <a:moveTo>
                    <a:pt x="13" y="1867"/>
                  </a:moveTo>
                  <a:lnTo>
                    <a:pt x="13" y="1880"/>
                  </a:lnTo>
                  <a:lnTo>
                    <a:pt x="0" y="1880"/>
                  </a:lnTo>
                  <a:lnTo>
                    <a:pt x="0" y="1867"/>
                  </a:lnTo>
                  <a:lnTo>
                    <a:pt x="13" y="1867"/>
                  </a:lnTo>
                  <a:close/>
                  <a:moveTo>
                    <a:pt x="13" y="1893"/>
                  </a:moveTo>
                  <a:lnTo>
                    <a:pt x="13" y="1906"/>
                  </a:lnTo>
                  <a:lnTo>
                    <a:pt x="0" y="1906"/>
                  </a:lnTo>
                  <a:lnTo>
                    <a:pt x="0" y="1893"/>
                  </a:lnTo>
                  <a:lnTo>
                    <a:pt x="13" y="1893"/>
                  </a:lnTo>
                  <a:close/>
                  <a:moveTo>
                    <a:pt x="13" y="1919"/>
                  </a:moveTo>
                  <a:lnTo>
                    <a:pt x="13" y="1932"/>
                  </a:lnTo>
                  <a:lnTo>
                    <a:pt x="0" y="1932"/>
                  </a:lnTo>
                  <a:lnTo>
                    <a:pt x="0" y="1919"/>
                  </a:lnTo>
                  <a:lnTo>
                    <a:pt x="13" y="1919"/>
                  </a:lnTo>
                  <a:close/>
                  <a:moveTo>
                    <a:pt x="13" y="1945"/>
                  </a:moveTo>
                  <a:lnTo>
                    <a:pt x="13" y="1958"/>
                  </a:lnTo>
                  <a:lnTo>
                    <a:pt x="0" y="1958"/>
                  </a:lnTo>
                  <a:lnTo>
                    <a:pt x="0" y="1945"/>
                  </a:lnTo>
                  <a:lnTo>
                    <a:pt x="13" y="1945"/>
                  </a:lnTo>
                  <a:close/>
                  <a:moveTo>
                    <a:pt x="13" y="1971"/>
                  </a:moveTo>
                  <a:lnTo>
                    <a:pt x="13" y="1984"/>
                  </a:lnTo>
                  <a:lnTo>
                    <a:pt x="0" y="1984"/>
                  </a:lnTo>
                  <a:lnTo>
                    <a:pt x="0" y="1971"/>
                  </a:lnTo>
                  <a:lnTo>
                    <a:pt x="13" y="1971"/>
                  </a:lnTo>
                  <a:close/>
                  <a:moveTo>
                    <a:pt x="13" y="1997"/>
                  </a:moveTo>
                  <a:lnTo>
                    <a:pt x="13" y="2010"/>
                  </a:lnTo>
                  <a:lnTo>
                    <a:pt x="0" y="2010"/>
                  </a:lnTo>
                  <a:lnTo>
                    <a:pt x="0" y="1997"/>
                  </a:lnTo>
                  <a:lnTo>
                    <a:pt x="13" y="1997"/>
                  </a:lnTo>
                  <a:close/>
                  <a:moveTo>
                    <a:pt x="13" y="2023"/>
                  </a:moveTo>
                  <a:lnTo>
                    <a:pt x="13" y="2036"/>
                  </a:lnTo>
                  <a:lnTo>
                    <a:pt x="0" y="2036"/>
                  </a:lnTo>
                  <a:lnTo>
                    <a:pt x="0" y="2023"/>
                  </a:lnTo>
                  <a:lnTo>
                    <a:pt x="13" y="2023"/>
                  </a:lnTo>
                  <a:close/>
                  <a:moveTo>
                    <a:pt x="13" y="2049"/>
                  </a:moveTo>
                  <a:lnTo>
                    <a:pt x="13" y="2061"/>
                  </a:lnTo>
                  <a:lnTo>
                    <a:pt x="0" y="2061"/>
                  </a:lnTo>
                  <a:lnTo>
                    <a:pt x="0" y="2049"/>
                  </a:lnTo>
                  <a:lnTo>
                    <a:pt x="13" y="2049"/>
                  </a:lnTo>
                  <a:close/>
                  <a:moveTo>
                    <a:pt x="13" y="2075"/>
                  </a:moveTo>
                  <a:lnTo>
                    <a:pt x="13" y="2088"/>
                  </a:lnTo>
                  <a:lnTo>
                    <a:pt x="0" y="2088"/>
                  </a:lnTo>
                  <a:lnTo>
                    <a:pt x="0" y="2075"/>
                  </a:lnTo>
                  <a:lnTo>
                    <a:pt x="13" y="2075"/>
                  </a:lnTo>
                  <a:close/>
                  <a:moveTo>
                    <a:pt x="13" y="2100"/>
                  </a:moveTo>
                  <a:lnTo>
                    <a:pt x="13" y="2113"/>
                  </a:lnTo>
                  <a:lnTo>
                    <a:pt x="0" y="2113"/>
                  </a:lnTo>
                  <a:lnTo>
                    <a:pt x="0" y="2100"/>
                  </a:lnTo>
                  <a:lnTo>
                    <a:pt x="13" y="2100"/>
                  </a:lnTo>
                  <a:close/>
                  <a:moveTo>
                    <a:pt x="13" y="2126"/>
                  </a:moveTo>
                  <a:lnTo>
                    <a:pt x="13" y="2139"/>
                  </a:lnTo>
                  <a:lnTo>
                    <a:pt x="0" y="2139"/>
                  </a:lnTo>
                  <a:lnTo>
                    <a:pt x="0" y="2126"/>
                  </a:lnTo>
                  <a:lnTo>
                    <a:pt x="13" y="2126"/>
                  </a:lnTo>
                  <a:close/>
                  <a:moveTo>
                    <a:pt x="13" y="2152"/>
                  </a:moveTo>
                  <a:lnTo>
                    <a:pt x="13" y="2165"/>
                  </a:lnTo>
                  <a:lnTo>
                    <a:pt x="0" y="2165"/>
                  </a:lnTo>
                  <a:lnTo>
                    <a:pt x="0" y="2152"/>
                  </a:lnTo>
                  <a:lnTo>
                    <a:pt x="13" y="2152"/>
                  </a:lnTo>
                  <a:close/>
                  <a:moveTo>
                    <a:pt x="13" y="2178"/>
                  </a:moveTo>
                  <a:lnTo>
                    <a:pt x="13" y="2191"/>
                  </a:lnTo>
                  <a:lnTo>
                    <a:pt x="0" y="2191"/>
                  </a:lnTo>
                  <a:lnTo>
                    <a:pt x="0" y="2178"/>
                  </a:lnTo>
                  <a:lnTo>
                    <a:pt x="13" y="2178"/>
                  </a:lnTo>
                  <a:close/>
                  <a:moveTo>
                    <a:pt x="13" y="2204"/>
                  </a:moveTo>
                  <a:lnTo>
                    <a:pt x="13" y="2217"/>
                  </a:lnTo>
                  <a:lnTo>
                    <a:pt x="0" y="2217"/>
                  </a:lnTo>
                  <a:lnTo>
                    <a:pt x="0" y="2204"/>
                  </a:lnTo>
                  <a:lnTo>
                    <a:pt x="13" y="2204"/>
                  </a:lnTo>
                  <a:close/>
                  <a:moveTo>
                    <a:pt x="13" y="2230"/>
                  </a:moveTo>
                  <a:lnTo>
                    <a:pt x="13" y="2243"/>
                  </a:lnTo>
                  <a:lnTo>
                    <a:pt x="0" y="2243"/>
                  </a:lnTo>
                  <a:lnTo>
                    <a:pt x="0" y="2230"/>
                  </a:lnTo>
                  <a:lnTo>
                    <a:pt x="13" y="2230"/>
                  </a:lnTo>
                  <a:close/>
                  <a:moveTo>
                    <a:pt x="13" y="2256"/>
                  </a:moveTo>
                  <a:lnTo>
                    <a:pt x="13" y="2269"/>
                  </a:lnTo>
                  <a:lnTo>
                    <a:pt x="0" y="2269"/>
                  </a:lnTo>
                  <a:lnTo>
                    <a:pt x="0" y="2256"/>
                  </a:lnTo>
                  <a:lnTo>
                    <a:pt x="13" y="2256"/>
                  </a:lnTo>
                  <a:close/>
                  <a:moveTo>
                    <a:pt x="13" y="2282"/>
                  </a:moveTo>
                  <a:lnTo>
                    <a:pt x="13" y="2285"/>
                  </a:lnTo>
                  <a:lnTo>
                    <a:pt x="0" y="2285"/>
                  </a:lnTo>
                  <a:lnTo>
                    <a:pt x="0" y="2282"/>
                  </a:lnTo>
                  <a:lnTo>
                    <a:pt x="13" y="2282"/>
                  </a:lnTo>
                  <a:close/>
                </a:path>
              </a:pathLst>
            </a:custGeom>
            <a:solidFill>
              <a:srgbClr val="000000"/>
            </a:solidFill>
            <a:ln w="0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2" name="Freeform 49">
              <a:extLst>
                <a:ext uri="{FF2B5EF4-FFF2-40B4-BE49-F238E27FC236}">
                  <a16:creationId xmlns:a16="http://schemas.microsoft.com/office/drawing/2014/main" id="{830DCD22-87BA-49D3-A083-3417A54CFA2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768" y="1978"/>
              <a:ext cx="13" cy="2285"/>
            </a:xfrm>
            <a:custGeom>
              <a:avLst/>
              <a:gdLst>
                <a:gd name="T0" fmla="*/ 13 w 13"/>
                <a:gd name="T1" fmla="*/ 39 h 2285"/>
                <a:gd name="T2" fmla="*/ 0 w 13"/>
                <a:gd name="T3" fmla="*/ 52 h 2285"/>
                <a:gd name="T4" fmla="*/ 13 w 13"/>
                <a:gd name="T5" fmla="*/ 104 h 2285"/>
                <a:gd name="T6" fmla="*/ 0 w 13"/>
                <a:gd name="T7" fmla="*/ 143 h 2285"/>
                <a:gd name="T8" fmla="*/ 13 w 13"/>
                <a:gd name="T9" fmla="*/ 156 h 2285"/>
                <a:gd name="T10" fmla="*/ 13 w 13"/>
                <a:gd name="T11" fmla="*/ 221 h 2285"/>
                <a:gd name="T12" fmla="*/ 0 w 13"/>
                <a:gd name="T13" fmla="*/ 233 h 2285"/>
                <a:gd name="T14" fmla="*/ 13 w 13"/>
                <a:gd name="T15" fmla="*/ 285 h 2285"/>
                <a:gd name="T16" fmla="*/ 0 w 13"/>
                <a:gd name="T17" fmla="*/ 324 h 2285"/>
                <a:gd name="T18" fmla="*/ 13 w 13"/>
                <a:gd name="T19" fmla="*/ 337 h 2285"/>
                <a:gd name="T20" fmla="*/ 13 w 13"/>
                <a:gd name="T21" fmla="*/ 402 h 2285"/>
                <a:gd name="T22" fmla="*/ 0 w 13"/>
                <a:gd name="T23" fmla="*/ 415 h 2285"/>
                <a:gd name="T24" fmla="*/ 13 w 13"/>
                <a:gd name="T25" fmla="*/ 467 h 2285"/>
                <a:gd name="T26" fmla="*/ 0 w 13"/>
                <a:gd name="T27" fmla="*/ 506 h 2285"/>
                <a:gd name="T28" fmla="*/ 13 w 13"/>
                <a:gd name="T29" fmla="*/ 519 h 2285"/>
                <a:gd name="T30" fmla="*/ 13 w 13"/>
                <a:gd name="T31" fmla="*/ 583 h 2285"/>
                <a:gd name="T32" fmla="*/ 0 w 13"/>
                <a:gd name="T33" fmla="*/ 596 h 2285"/>
                <a:gd name="T34" fmla="*/ 13 w 13"/>
                <a:gd name="T35" fmla="*/ 648 h 2285"/>
                <a:gd name="T36" fmla="*/ 0 w 13"/>
                <a:gd name="T37" fmla="*/ 687 h 2285"/>
                <a:gd name="T38" fmla="*/ 13 w 13"/>
                <a:gd name="T39" fmla="*/ 700 h 2285"/>
                <a:gd name="T40" fmla="*/ 13 w 13"/>
                <a:gd name="T41" fmla="*/ 765 h 2285"/>
                <a:gd name="T42" fmla="*/ 0 w 13"/>
                <a:gd name="T43" fmla="*/ 778 h 2285"/>
                <a:gd name="T44" fmla="*/ 13 w 13"/>
                <a:gd name="T45" fmla="*/ 830 h 2285"/>
                <a:gd name="T46" fmla="*/ 0 w 13"/>
                <a:gd name="T47" fmla="*/ 869 h 2285"/>
                <a:gd name="T48" fmla="*/ 13 w 13"/>
                <a:gd name="T49" fmla="*/ 882 h 2285"/>
                <a:gd name="T50" fmla="*/ 13 w 13"/>
                <a:gd name="T51" fmla="*/ 947 h 2285"/>
                <a:gd name="T52" fmla="*/ 0 w 13"/>
                <a:gd name="T53" fmla="*/ 960 h 2285"/>
                <a:gd name="T54" fmla="*/ 13 w 13"/>
                <a:gd name="T55" fmla="*/ 1011 h 2285"/>
                <a:gd name="T56" fmla="*/ 0 w 13"/>
                <a:gd name="T57" fmla="*/ 1050 h 2285"/>
                <a:gd name="T58" fmla="*/ 13 w 13"/>
                <a:gd name="T59" fmla="*/ 1063 h 2285"/>
                <a:gd name="T60" fmla="*/ 13 w 13"/>
                <a:gd name="T61" fmla="*/ 1128 h 2285"/>
                <a:gd name="T62" fmla="*/ 0 w 13"/>
                <a:gd name="T63" fmla="*/ 1141 h 2285"/>
                <a:gd name="T64" fmla="*/ 13 w 13"/>
                <a:gd name="T65" fmla="*/ 1193 h 2285"/>
                <a:gd name="T66" fmla="*/ 0 w 13"/>
                <a:gd name="T67" fmla="*/ 1232 h 2285"/>
                <a:gd name="T68" fmla="*/ 13 w 13"/>
                <a:gd name="T69" fmla="*/ 1245 h 2285"/>
                <a:gd name="T70" fmla="*/ 13 w 13"/>
                <a:gd name="T71" fmla="*/ 1310 h 2285"/>
                <a:gd name="T72" fmla="*/ 0 w 13"/>
                <a:gd name="T73" fmla="*/ 1322 h 2285"/>
                <a:gd name="T74" fmla="*/ 13 w 13"/>
                <a:gd name="T75" fmla="*/ 1374 h 2285"/>
                <a:gd name="T76" fmla="*/ 0 w 13"/>
                <a:gd name="T77" fmla="*/ 1413 h 2285"/>
                <a:gd name="T78" fmla="*/ 13 w 13"/>
                <a:gd name="T79" fmla="*/ 1426 h 2285"/>
                <a:gd name="T80" fmla="*/ 13 w 13"/>
                <a:gd name="T81" fmla="*/ 1491 h 2285"/>
                <a:gd name="T82" fmla="*/ 0 w 13"/>
                <a:gd name="T83" fmla="*/ 1504 h 2285"/>
                <a:gd name="T84" fmla="*/ 13 w 13"/>
                <a:gd name="T85" fmla="*/ 1556 h 2285"/>
                <a:gd name="T86" fmla="*/ 0 w 13"/>
                <a:gd name="T87" fmla="*/ 1595 h 2285"/>
                <a:gd name="T88" fmla="*/ 13 w 13"/>
                <a:gd name="T89" fmla="*/ 1608 h 2285"/>
                <a:gd name="T90" fmla="*/ 13 w 13"/>
                <a:gd name="T91" fmla="*/ 1672 h 2285"/>
                <a:gd name="T92" fmla="*/ 0 w 13"/>
                <a:gd name="T93" fmla="*/ 1686 h 2285"/>
                <a:gd name="T94" fmla="*/ 13 w 13"/>
                <a:gd name="T95" fmla="*/ 1738 h 2285"/>
                <a:gd name="T96" fmla="*/ 0 w 13"/>
                <a:gd name="T97" fmla="*/ 1776 h 2285"/>
                <a:gd name="T98" fmla="*/ 13 w 13"/>
                <a:gd name="T99" fmla="*/ 1789 h 2285"/>
                <a:gd name="T100" fmla="*/ 13 w 13"/>
                <a:gd name="T101" fmla="*/ 1854 h 2285"/>
                <a:gd name="T102" fmla="*/ 0 w 13"/>
                <a:gd name="T103" fmla="*/ 1867 h 2285"/>
                <a:gd name="T104" fmla="*/ 13 w 13"/>
                <a:gd name="T105" fmla="*/ 1919 h 2285"/>
                <a:gd name="T106" fmla="*/ 0 w 13"/>
                <a:gd name="T107" fmla="*/ 1958 h 2285"/>
                <a:gd name="T108" fmla="*/ 13 w 13"/>
                <a:gd name="T109" fmla="*/ 1971 h 2285"/>
                <a:gd name="T110" fmla="*/ 13 w 13"/>
                <a:gd name="T111" fmla="*/ 2036 h 2285"/>
                <a:gd name="T112" fmla="*/ 0 w 13"/>
                <a:gd name="T113" fmla="*/ 2049 h 2285"/>
                <a:gd name="T114" fmla="*/ 13 w 13"/>
                <a:gd name="T115" fmla="*/ 2100 h 2285"/>
                <a:gd name="T116" fmla="*/ 0 w 13"/>
                <a:gd name="T117" fmla="*/ 2139 h 2285"/>
                <a:gd name="T118" fmla="*/ 13 w 13"/>
                <a:gd name="T119" fmla="*/ 2152 h 2285"/>
                <a:gd name="T120" fmla="*/ 13 w 13"/>
                <a:gd name="T121" fmla="*/ 2217 h 2285"/>
                <a:gd name="T122" fmla="*/ 0 w 13"/>
                <a:gd name="T123" fmla="*/ 2230 h 2285"/>
                <a:gd name="T124" fmla="*/ 13 w 13"/>
                <a:gd name="T125" fmla="*/ 2282 h 22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3" h="2285">
                  <a:moveTo>
                    <a:pt x="13" y="0"/>
                  </a:moveTo>
                  <a:lnTo>
                    <a:pt x="13" y="13"/>
                  </a:lnTo>
                  <a:lnTo>
                    <a:pt x="0" y="13"/>
                  </a:lnTo>
                  <a:lnTo>
                    <a:pt x="0" y="0"/>
                  </a:lnTo>
                  <a:lnTo>
                    <a:pt x="13" y="0"/>
                  </a:lnTo>
                  <a:close/>
                  <a:moveTo>
                    <a:pt x="13" y="26"/>
                  </a:moveTo>
                  <a:lnTo>
                    <a:pt x="13" y="39"/>
                  </a:lnTo>
                  <a:lnTo>
                    <a:pt x="0" y="39"/>
                  </a:lnTo>
                  <a:lnTo>
                    <a:pt x="0" y="26"/>
                  </a:lnTo>
                  <a:lnTo>
                    <a:pt x="13" y="26"/>
                  </a:lnTo>
                  <a:close/>
                  <a:moveTo>
                    <a:pt x="13" y="52"/>
                  </a:moveTo>
                  <a:lnTo>
                    <a:pt x="13" y="65"/>
                  </a:lnTo>
                  <a:lnTo>
                    <a:pt x="0" y="65"/>
                  </a:lnTo>
                  <a:lnTo>
                    <a:pt x="0" y="52"/>
                  </a:lnTo>
                  <a:lnTo>
                    <a:pt x="13" y="52"/>
                  </a:lnTo>
                  <a:close/>
                  <a:moveTo>
                    <a:pt x="13" y="78"/>
                  </a:moveTo>
                  <a:lnTo>
                    <a:pt x="13" y="91"/>
                  </a:lnTo>
                  <a:lnTo>
                    <a:pt x="0" y="91"/>
                  </a:lnTo>
                  <a:lnTo>
                    <a:pt x="0" y="78"/>
                  </a:lnTo>
                  <a:lnTo>
                    <a:pt x="13" y="78"/>
                  </a:lnTo>
                  <a:close/>
                  <a:moveTo>
                    <a:pt x="13" y="104"/>
                  </a:moveTo>
                  <a:lnTo>
                    <a:pt x="13" y="117"/>
                  </a:lnTo>
                  <a:lnTo>
                    <a:pt x="0" y="117"/>
                  </a:lnTo>
                  <a:lnTo>
                    <a:pt x="0" y="104"/>
                  </a:lnTo>
                  <a:lnTo>
                    <a:pt x="13" y="104"/>
                  </a:lnTo>
                  <a:close/>
                  <a:moveTo>
                    <a:pt x="13" y="130"/>
                  </a:moveTo>
                  <a:lnTo>
                    <a:pt x="13" y="143"/>
                  </a:lnTo>
                  <a:lnTo>
                    <a:pt x="0" y="143"/>
                  </a:lnTo>
                  <a:lnTo>
                    <a:pt x="0" y="130"/>
                  </a:lnTo>
                  <a:lnTo>
                    <a:pt x="13" y="130"/>
                  </a:lnTo>
                  <a:close/>
                  <a:moveTo>
                    <a:pt x="13" y="156"/>
                  </a:moveTo>
                  <a:lnTo>
                    <a:pt x="13" y="169"/>
                  </a:lnTo>
                  <a:lnTo>
                    <a:pt x="0" y="169"/>
                  </a:lnTo>
                  <a:lnTo>
                    <a:pt x="0" y="156"/>
                  </a:lnTo>
                  <a:lnTo>
                    <a:pt x="13" y="156"/>
                  </a:lnTo>
                  <a:close/>
                  <a:moveTo>
                    <a:pt x="13" y="182"/>
                  </a:moveTo>
                  <a:lnTo>
                    <a:pt x="13" y="194"/>
                  </a:lnTo>
                  <a:lnTo>
                    <a:pt x="0" y="194"/>
                  </a:lnTo>
                  <a:lnTo>
                    <a:pt x="0" y="182"/>
                  </a:lnTo>
                  <a:lnTo>
                    <a:pt x="13" y="182"/>
                  </a:lnTo>
                  <a:close/>
                  <a:moveTo>
                    <a:pt x="13" y="208"/>
                  </a:moveTo>
                  <a:lnTo>
                    <a:pt x="13" y="221"/>
                  </a:lnTo>
                  <a:lnTo>
                    <a:pt x="0" y="221"/>
                  </a:lnTo>
                  <a:lnTo>
                    <a:pt x="0" y="208"/>
                  </a:lnTo>
                  <a:lnTo>
                    <a:pt x="13" y="208"/>
                  </a:lnTo>
                  <a:close/>
                  <a:moveTo>
                    <a:pt x="13" y="233"/>
                  </a:moveTo>
                  <a:lnTo>
                    <a:pt x="13" y="246"/>
                  </a:lnTo>
                  <a:lnTo>
                    <a:pt x="0" y="246"/>
                  </a:lnTo>
                  <a:lnTo>
                    <a:pt x="0" y="233"/>
                  </a:lnTo>
                  <a:lnTo>
                    <a:pt x="13" y="233"/>
                  </a:lnTo>
                  <a:close/>
                  <a:moveTo>
                    <a:pt x="13" y="259"/>
                  </a:moveTo>
                  <a:lnTo>
                    <a:pt x="13" y="272"/>
                  </a:lnTo>
                  <a:lnTo>
                    <a:pt x="0" y="272"/>
                  </a:lnTo>
                  <a:lnTo>
                    <a:pt x="0" y="259"/>
                  </a:lnTo>
                  <a:lnTo>
                    <a:pt x="13" y="259"/>
                  </a:lnTo>
                  <a:close/>
                  <a:moveTo>
                    <a:pt x="13" y="285"/>
                  </a:moveTo>
                  <a:lnTo>
                    <a:pt x="13" y="298"/>
                  </a:lnTo>
                  <a:lnTo>
                    <a:pt x="0" y="298"/>
                  </a:lnTo>
                  <a:lnTo>
                    <a:pt x="0" y="285"/>
                  </a:lnTo>
                  <a:lnTo>
                    <a:pt x="13" y="285"/>
                  </a:lnTo>
                  <a:close/>
                  <a:moveTo>
                    <a:pt x="13" y="311"/>
                  </a:moveTo>
                  <a:lnTo>
                    <a:pt x="13" y="324"/>
                  </a:lnTo>
                  <a:lnTo>
                    <a:pt x="0" y="324"/>
                  </a:lnTo>
                  <a:lnTo>
                    <a:pt x="0" y="311"/>
                  </a:lnTo>
                  <a:lnTo>
                    <a:pt x="13" y="311"/>
                  </a:lnTo>
                  <a:close/>
                  <a:moveTo>
                    <a:pt x="13" y="337"/>
                  </a:moveTo>
                  <a:lnTo>
                    <a:pt x="13" y="350"/>
                  </a:lnTo>
                  <a:lnTo>
                    <a:pt x="0" y="350"/>
                  </a:lnTo>
                  <a:lnTo>
                    <a:pt x="0" y="337"/>
                  </a:lnTo>
                  <a:lnTo>
                    <a:pt x="13" y="337"/>
                  </a:lnTo>
                  <a:close/>
                  <a:moveTo>
                    <a:pt x="13" y="363"/>
                  </a:moveTo>
                  <a:lnTo>
                    <a:pt x="13" y="376"/>
                  </a:lnTo>
                  <a:lnTo>
                    <a:pt x="0" y="376"/>
                  </a:lnTo>
                  <a:lnTo>
                    <a:pt x="0" y="363"/>
                  </a:lnTo>
                  <a:lnTo>
                    <a:pt x="13" y="363"/>
                  </a:lnTo>
                  <a:close/>
                  <a:moveTo>
                    <a:pt x="13" y="389"/>
                  </a:moveTo>
                  <a:lnTo>
                    <a:pt x="13" y="402"/>
                  </a:lnTo>
                  <a:lnTo>
                    <a:pt x="0" y="402"/>
                  </a:lnTo>
                  <a:lnTo>
                    <a:pt x="0" y="389"/>
                  </a:lnTo>
                  <a:lnTo>
                    <a:pt x="13" y="389"/>
                  </a:lnTo>
                  <a:close/>
                  <a:moveTo>
                    <a:pt x="13" y="415"/>
                  </a:moveTo>
                  <a:lnTo>
                    <a:pt x="13" y="428"/>
                  </a:lnTo>
                  <a:lnTo>
                    <a:pt x="0" y="428"/>
                  </a:lnTo>
                  <a:lnTo>
                    <a:pt x="0" y="415"/>
                  </a:lnTo>
                  <a:lnTo>
                    <a:pt x="13" y="415"/>
                  </a:lnTo>
                  <a:close/>
                  <a:moveTo>
                    <a:pt x="13" y="441"/>
                  </a:moveTo>
                  <a:lnTo>
                    <a:pt x="13" y="454"/>
                  </a:lnTo>
                  <a:lnTo>
                    <a:pt x="0" y="454"/>
                  </a:lnTo>
                  <a:lnTo>
                    <a:pt x="0" y="441"/>
                  </a:lnTo>
                  <a:lnTo>
                    <a:pt x="13" y="441"/>
                  </a:lnTo>
                  <a:close/>
                  <a:moveTo>
                    <a:pt x="13" y="467"/>
                  </a:moveTo>
                  <a:lnTo>
                    <a:pt x="13" y="480"/>
                  </a:lnTo>
                  <a:lnTo>
                    <a:pt x="0" y="480"/>
                  </a:lnTo>
                  <a:lnTo>
                    <a:pt x="0" y="467"/>
                  </a:lnTo>
                  <a:lnTo>
                    <a:pt x="13" y="467"/>
                  </a:lnTo>
                  <a:close/>
                  <a:moveTo>
                    <a:pt x="13" y="493"/>
                  </a:moveTo>
                  <a:lnTo>
                    <a:pt x="13" y="506"/>
                  </a:lnTo>
                  <a:lnTo>
                    <a:pt x="0" y="506"/>
                  </a:lnTo>
                  <a:lnTo>
                    <a:pt x="0" y="493"/>
                  </a:lnTo>
                  <a:lnTo>
                    <a:pt x="13" y="493"/>
                  </a:lnTo>
                  <a:close/>
                  <a:moveTo>
                    <a:pt x="13" y="519"/>
                  </a:moveTo>
                  <a:lnTo>
                    <a:pt x="13" y="532"/>
                  </a:lnTo>
                  <a:lnTo>
                    <a:pt x="0" y="532"/>
                  </a:lnTo>
                  <a:lnTo>
                    <a:pt x="0" y="519"/>
                  </a:lnTo>
                  <a:lnTo>
                    <a:pt x="13" y="519"/>
                  </a:lnTo>
                  <a:close/>
                  <a:moveTo>
                    <a:pt x="13" y="545"/>
                  </a:moveTo>
                  <a:lnTo>
                    <a:pt x="13" y="558"/>
                  </a:lnTo>
                  <a:lnTo>
                    <a:pt x="0" y="558"/>
                  </a:lnTo>
                  <a:lnTo>
                    <a:pt x="0" y="545"/>
                  </a:lnTo>
                  <a:lnTo>
                    <a:pt x="13" y="545"/>
                  </a:lnTo>
                  <a:close/>
                  <a:moveTo>
                    <a:pt x="13" y="571"/>
                  </a:moveTo>
                  <a:lnTo>
                    <a:pt x="13" y="583"/>
                  </a:lnTo>
                  <a:lnTo>
                    <a:pt x="0" y="583"/>
                  </a:lnTo>
                  <a:lnTo>
                    <a:pt x="0" y="571"/>
                  </a:lnTo>
                  <a:lnTo>
                    <a:pt x="13" y="571"/>
                  </a:lnTo>
                  <a:close/>
                  <a:moveTo>
                    <a:pt x="13" y="596"/>
                  </a:moveTo>
                  <a:lnTo>
                    <a:pt x="13" y="610"/>
                  </a:lnTo>
                  <a:lnTo>
                    <a:pt x="0" y="610"/>
                  </a:lnTo>
                  <a:lnTo>
                    <a:pt x="0" y="596"/>
                  </a:lnTo>
                  <a:lnTo>
                    <a:pt x="13" y="596"/>
                  </a:lnTo>
                  <a:close/>
                  <a:moveTo>
                    <a:pt x="13" y="622"/>
                  </a:moveTo>
                  <a:lnTo>
                    <a:pt x="13" y="635"/>
                  </a:lnTo>
                  <a:lnTo>
                    <a:pt x="0" y="635"/>
                  </a:lnTo>
                  <a:lnTo>
                    <a:pt x="0" y="622"/>
                  </a:lnTo>
                  <a:lnTo>
                    <a:pt x="13" y="622"/>
                  </a:lnTo>
                  <a:close/>
                  <a:moveTo>
                    <a:pt x="13" y="648"/>
                  </a:moveTo>
                  <a:lnTo>
                    <a:pt x="13" y="661"/>
                  </a:lnTo>
                  <a:lnTo>
                    <a:pt x="0" y="661"/>
                  </a:lnTo>
                  <a:lnTo>
                    <a:pt x="0" y="648"/>
                  </a:lnTo>
                  <a:lnTo>
                    <a:pt x="13" y="648"/>
                  </a:lnTo>
                  <a:close/>
                  <a:moveTo>
                    <a:pt x="13" y="674"/>
                  </a:moveTo>
                  <a:lnTo>
                    <a:pt x="13" y="687"/>
                  </a:lnTo>
                  <a:lnTo>
                    <a:pt x="0" y="687"/>
                  </a:lnTo>
                  <a:lnTo>
                    <a:pt x="0" y="674"/>
                  </a:lnTo>
                  <a:lnTo>
                    <a:pt x="13" y="674"/>
                  </a:lnTo>
                  <a:close/>
                  <a:moveTo>
                    <a:pt x="13" y="700"/>
                  </a:moveTo>
                  <a:lnTo>
                    <a:pt x="13" y="713"/>
                  </a:lnTo>
                  <a:lnTo>
                    <a:pt x="0" y="713"/>
                  </a:lnTo>
                  <a:lnTo>
                    <a:pt x="0" y="700"/>
                  </a:lnTo>
                  <a:lnTo>
                    <a:pt x="13" y="700"/>
                  </a:lnTo>
                  <a:close/>
                  <a:moveTo>
                    <a:pt x="13" y="726"/>
                  </a:moveTo>
                  <a:lnTo>
                    <a:pt x="13" y="739"/>
                  </a:lnTo>
                  <a:lnTo>
                    <a:pt x="0" y="739"/>
                  </a:lnTo>
                  <a:lnTo>
                    <a:pt x="0" y="726"/>
                  </a:lnTo>
                  <a:lnTo>
                    <a:pt x="13" y="726"/>
                  </a:lnTo>
                  <a:close/>
                  <a:moveTo>
                    <a:pt x="13" y="752"/>
                  </a:moveTo>
                  <a:lnTo>
                    <a:pt x="13" y="765"/>
                  </a:lnTo>
                  <a:lnTo>
                    <a:pt x="0" y="765"/>
                  </a:lnTo>
                  <a:lnTo>
                    <a:pt x="0" y="752"/>
                  </a:lnTo>
                  <a:lnTo>
                    <a:pt x="13" y="752"/>
                  </a:lnTo>
                  <a:close/>
                  <a:moveTo>
                    <a:pt x="13" y="778"/>
                  </a:moveTo>
                  <a:lnTo>
                    <a:pt x="13" y="791"/>
                  </a:lnTo>
                  <a:lnTo>
                    <a:pt x="0" y="791"/>
                  </a:lnTo>
                  <a:lnTo>
                    <a:pt x="0" y="778"/>
                  </a:lnTo>
                  <a:lnTo>
                    <a:pt x="13" y="778"/>
                  </a:lnTo>
                  <a:close/>
                  <a:moveTo>
                    <a:pt x="13" y="804"/>
                  </a:moveTo>
                  <a:lnTo>
                    <a:pt x="13" y="817"/>
                  </a:lnTo>
                  <a:lnTo>
                    <a:pt x="0" y="817"/>
                  </a:lnTo>
                  <a:lnTo>
                    <a:pt x="0" y="804"/>
                  </a:lnTo>
                  <a:lnTo>
                    <a:pt x="13" y="804"/>
                  </a:lnTo>
                  <a:close/>
                  <a:moveTo>
                    <a:pt x="13" y="830"/>
                  </a:moveTo>
                  <a:lnTo>
                    <a:pt x="13" y="843"/>
                  </a:lnTo>
                  <a:lnTo>
                    <a:pt x="0" y="843"/>
                  </a:lnTo>
                  <a:lnTo>
                    <a:pt x="0" y="830"/>
                  </a:lnTo>
                  <a:lnTo>
                    <a:pt x="13" y="830"/>
                  </a:lnTo>
                  <a:close/>
                  <a:moveTo>
                    <a:pt x="13" y="856"/>
                  </a:moveTo>
                  <a:lnTo>
                    <a:pt x="13" y="869"/>
                  </a:lnTo>
                  <a:lnTo>
                    <a:pt x="0" y="869"/>
                  </a:lnTo>
                  <a:lnTo>
                    <a:pt x="0" y="856"/>
                  </a:lnTo>
                  <a:lnTo>
                    <a:pt x="13" y="856"/>
                  </a:lnTo>
                  <a:close/>
                  <a:moveTo>
                    <a:pt x="13" y="882"/>
                  </a:moveTo>
                  <a:lnTo>
                    <a:pt x="13" y="895"/>
                  </a:lnTo>
                  <a:lnTo>
                    <a:pt x="0" y="895"/>
                  </a:lnTo>
                  <a:lnTo>
                    <a:pt x="0" y="882"/>
                  </a:lnTo>
                  <a:lnTo>
                    <a:pt x="13" y="882"/>
                  </a:lnTo>
                  <a:close/>
                  <a:moveTo>
                    <a:pt x="13" y="908"/>
                  </a:moveTo>
                  <a:lnTo>
                    <a:pt x="13" y="921"/>
                  </a:lnTo>
                  <a:lnTo>
                    <a:pt x="0" y="921"/>
                  </a:lnTo>
                  <a:lnTo>
                    <a:pt x="0" y="908"/>
                  </a:lnTo>
                  <a:lnTo>
                    <a:pt x="13" y="908"/>
                  </a:lnTo>
                  <a:close/>
                  <a:moveTo>
                    <a:pt x="13" y="933"/>
                  </a:moveTo>
                  <a:lnTo>
                    <a:pt x="13" y="947"/>
                  </a:lnTo>
                  <a:lnTo>
                    <a:pt x="0" y="947"/>
                  </a:lnTo>
                  <a:lnTo>
                    <a:pt x="0" y="933"/>
                  </a:lnTo>
                  <a:lnTo>
                    <a:pt x="13" y="933"/>
                  </a:lnTo>
                  <a:close/>
                  <a:moveTo>
                    <a:pt x="13" y="960"/>
                  </a:moveTo>
                  <a:lnTo>
                    <a:pt x="13" y="972"/>
                  </a:lnTo>
                  <a:lnTo>
                    <a:pt x="0" y="972"/>
                  </a:lnTo>
                  <a:lnTo>
                    <a:pt x="0" y="960"/>
                  </a:lnTo>
                  <a:lnTo>
                    <a:pt x="13" y="960"/>
                  </a:lnTo>
                  <a:close/>
                  <a:moveTo>
                    <a:pt x="13" y="985"/>
                  </a:moveTo>
                  <a:lnTo>
                    <a:pt x="13" y="999"/>
                  </a:lnTo>
                  <a:lnTo>
                    <a:pt x="0" y="999"/>
                  </a:lnTo>
                  <a:lnTo>
                    <a:pt x="0" y="985"/>
                  </a:lnTo>
                  <a:lnTo>
                    <a:pt x="13" y="985"/>
                  </a:lnTo>
                  <a:close/>
                  <a:moveTo>
                    <a:pt x="13" y="1011"/>
                  </a:moveTo>
                  <a:lnTo>
                    <a:pt x="13" y="1024"/>
                  </a:lnTo>
                  <a:lnTo>
                    <a:pt x="0" y="1024"/>
                  </a:lnTo>
                  <a:lnTo>
                    <a:pt x="0" y="1011"/>
                  </a:lnTo>
                  <a:lnTo>
                    <a:pt x="13" y="1011"/>
                  </a:lnTo>
                  <a:close/>
                  <a:moveTo>
                    <a:pt x="13" y="1037"/>
                  </a:moveTo>
                  <a:lnTo>
                    <a:pt x="13" y="1050"/>
                  </a:lnTo>
                  <a:lnTo>
                    <a:pt x="0" y="1050"/>
                  </a:lnTo>
                  <a:lnTo>
                    <a:pt x="0" y="1037"/>
                  </a:lnTo>
                  <a:lnTo>
                    <a:pt x="13" y="1037"/>
                  </a:lnTo>
                  <a:close/>
                  <a:moveTo>
                    <a:pt x="13" y="1063"/>
                  </a:moveTo>
                  <a:lnTo>
                    <a:pt x="13" y="1076"/>
                  </a:lnTo>
                  <a:lnTo>
                    <a:pt x="0" y="1076"/>
                  </a:lnTo>
                  <a:lnTo>
                    <a:pt x="0" y="1063"/>
                  </a:lnTo>
                  <a:lnTo>
                    <a:pt x="13" y="1063"/>
                  </a:lnTo>
                  <a:close/>
                  <a:moveTo>
                    <a:pt x="13" y="1089"/>
                  </a:moveTo>
                  <a:lnTo>
                    <a:pt x="13" y="1102"/>
                  </a:lnTo>
                  <a:lnTo>
                    <a:pt x="0" y="1102"/>
                  </a:lnTo>
                  <a:lnTo>
                    <a:pt x="0" y="1089"/>
                  </a:lnTo>
                  <a:lnTo>
                    <a:pt x="13" y="1089"/>
                  </a:lnTo>
                  <a:close/>
                  <a:moveTo>
                    <a:pt x="13" y="1115"/>
                  </a:moveTo>
                  <a:lnTo>
                    <a:pt x="13" y="1128"/>
                  </a:lnTo>
                  <a:lnTo>
                    <a:pt x="0" y="1128"/>
                  </a:lnTo>
                  <a:lnTo>
                    <a:pt x="0" y="1115"/>
                  </a:lnTo>
                  <a:lnTo>
                    <a:pt x="13" y="1115"/>
                  </a:lnTo>
                  <a:close/>
                  <a:moveTo>
                    <a:pt x="13" y="1141"/>
                  </a:moveTo>
                  <a:lnTo>
                    <a:pt x="13" y="1154"/>
                  </a:lnTo>
                  <a:lnTo>
                    <a:pt x="0" y="1154"/>
                  </a:lnTo>
                  <a:lnTo>
                    <a:pt x="0" y="1141"/>
                  </a:lnTo>
                  <a:lnTo>
                    <a:pt x="13" y="1141"/>
                  </a:lnTo>
                  <a:close/>
                  <a:moveTo>
                    <a:pt x="13" y="1167"/>
                  </a:moveTo>
                  <a:lnTo>
                    <a:pt x="13" y="1180"/>
                  </a:lnTo>
                  <a:lnTo>
                    <a:pt x="0" y="1180"/>
                  </a:lnTo>
                  <a:lnTo>
                    <a:pt x="0" y="1167"/>
                  </a:lnTo>
                  <a:lnTo>
                    <a:pt x="13" y="1167"/>
                  </a:lnTo>
                  <a:close/>
                  <a:moveTo>
                    <a:pt x="13" y="1193"/>
                  </a:moveTo>
                  <a:lnTo>
                    <a:pt x="13" y="1206"/>
                  </a:lnTo>
                  <a:lnTo>
                    <a:pt x="0" y="1206"/>
                  </a:lnTo>
                  <a:lnTo>
                    <a:pt x="0" y="1193"/>
                  </a:lnTo>
                  <a:lnTo>
                    <a:pt x="13" y="1193"/>
                  </a:lnTo>
                  <a:close/>
                  <a:moveTo>
                    <a:pt x="13" y="1219"/>
                  </a:moveTo>
                  <a:lnTo>
                    <a:pt x="13" y="1232"/>
                  </a:lnTo>
                  <a:lnTo>
                    <a:pt x="0" y="1232"/>
                  </a:lnTo>
                  <a:lnTo>
                    <a:pt x="0" y="1219"/>
                  </a:lnTo>
                  <a:lnTo>
                    <a:pt x="13" y="1219"/>
                  </a:lnTo>
                  <a:close/>
                  <a:moveTo>
                    <a:pt x="13" y="1245"/>
                  </a:moveTo>
                  <a:lnTo>
                    <a:pt x="13" y="1258"/>
                  </a:lnTo>
                  <a:lnTo>
                    <a:pt x="0" y="1258"/>
                  </a:lnTo>
                  <a:lnTo>
                    <a:pt x="0" y="1245"/>
                  </a:lnTo>
                  <a:lnTo>
                    <a:pt x="13" y="1245"/>
                  </a:lnTo>
                  <a:close/>
                  <a:moveTo>
                    <a:pt x="13" y="1271"/>
                  </a:moveTo>
                  <a:lnTo>
                    <a:pt x="13" y="1284"/>
                  </a:lnTo>
                  <a:lnTo>
                    <a:pt x="0" y="1284"/>
                  </a:lnTo>
                  <a:lnTo>
                    <a:pt x="0" y="1271"/>
                  </a:lnTo>
                  <a:lnTo>
                    <a:pt x="13" y="1271"/>
                  </a:lnTo>
                  <a:close/>
                  <a:moveTo>
                    <a:pt x="13" y="1297"/>
                  </a:moveTo>
                  <a:lnTo>
                    <a:pt x="13" y="1310"/>
                  </a:lnTo>
                  <a:lnTo>
                    <a:pt x="0" y="1310"/>
                  </a:lnTo>
                  <a:lnTo>
                    <a:pt x="0" y="1297"/>
                  </a:lnTo>
                  <a:lnTo>
                    <a:pt x="13" y="1297"/>
                  </a:lnTo>
                  <a:close/>
                  <a:moveTo>
                    <a:pt x="13" y="1322"/>
                  </a:moveTo>
                  <a:lnTo>
                    <a:pt x="13" y="1335"/>
                  </a:lnTo>
                  <a:lnTo>
                    <a:pt x="0" y="1335"/>
                  </a:lnTo>
                  <a:lnTo>
                    <a:pt x="0" y="1322"/>
                  </a:lnTo>
                  <a:lnTo>
                    <a:pt x="13" y="1322"/>
                  </a:lnTo>
                  <a:close/>
                  <a:moveTo>
                    <a:pt x="13" y="1349"/>
                  </a:moveTo>
                  <a:lnTo>
                    <a:pt x="13" y="1361"/>
                  </a:lnTo>
                  <a:lnTo>
                    <a:pt x="0" y="1361"/>
                  </a:lnTo>
                  <a:lnTo>
                    <a:pt x="0" y="1349"/>
                  </a:lnTo>
                  <a:lnTo>
                    <a:pt x="13" y="1349"/>
                  </a:lnTo>
                  <a:close/>
                  <a:moveTo>
                    <a:pt x="13" y="1374"/>
                  </a:moveTo>
                  <a:lnTo>
                    <a:pt x="13" y="1387"/>
                  </a:lnTo>
                  <a:lnTo>
                    <a:pt x="0" y="1387"/>
                  </a:lnTo>
                  <a:lnTo>
                    <a:pt x="0" y="1374"/>
                  </a:lnTo>
                  <a:lnTo>
                    <a:pt x="13" y="1374"/>
                  </a:lnTo>
                  <a:close/>
                  <a:moveTo>
                    <a:pt x="13" y="1400"/>
                  </a:moveTo>
                  <a:lnTo>
                    <a:pt x="13" y="1413"/>
                  </a:lnTo>
                  <a:lnTo>
                    <a:pt x="0" y="1413"/>
                  </a:lnTo>
                  <a:lnTo>
                    <a:pt x="0" y="1400"/>
                  </a:lnTo>
                  <a:lnTo>
                    <a:pt x="13" y="1400"/>
                  </a:lnTo>
                  <a:close/>
                  <a:moveTo>
                    <a:pt x="13" y="1426"/>
                  </a:moveTo>
                  <a:lnTo>
                    <a:pt x="13" y="1439"/>
                  </a:lnTo>
                  <a:lnTo>
                    <a:pt x="0" y="1439"/>
                  </a:lnTo>
                  <a:lnTo>
                    <a:pt x="0" y="1426"/>
                  </a:lnTo>
                  <a:lnTo>
                    <a:pt x="13" y="1426"/>
                  </a:lnTo>
                  <a:close/>
                  <a:moveTo>
                    <a:pt x="13" y="1452"/>
                  </a:moveTo>
                  <a:lnTo>
                    <a:pt x="13" y="1465"/>
                  </a:lnTo>
                  <a:lnTo>
                    <a:pt x="0" y="1465"/>
                  </a:lnTo>
                  <a:lnTo>
                    <a:pt x="0" y="1452"/>
                  </a:lnTo>
                  <a:lnTo>
                    <a:pt x="13" y="1452"/>
                  </a:lnTo>
                  <a:close/>
                  <a:moveTo>
                    <a:pt x="13" y="1478"/>
                  </a:moveTo>
                  <a:lnTo>
                    <a:pt x="13" y="1491"/>
                  </a:lnTo>
                  <a:lnTo>
                    <a:pt x="0" y="1491"/>
                  </a:lnTo>
                  <a:lnTo>
                    <a:pt x="0" y="1478"/>
                  </a:lnTo>
                  <a:lnTo>
                    <a:pt x="13" y="1478"/>
                  </a:lnTo>
                  <a:close/>
                  <a:moveTo>
                    <a:pt x="13" y="1504"/>
                  </a:moveTo>
                  <a:lnTo>
                    <a:pt x="13" y="1517"/>
                  </a:lnTo>
                  <a:lnTo>
                    <a:pt x="0" y="1517"/>
                  </a:lnTo>
                  <a:lnTo>
                    <a:pt x="0" y="1504"/>
                  </a:lnTo>
                  <a:lnTo>
                    <a:pt x="13" y="1504"/>
                  </a:lnTo>
                  <a:close/>
                  <a:moveTo>
                    <a:pt x="13" y="1530"/>
                  </a:moveTo>
                  <a:lnTo>
                    <a:pt x="13" y="1543"/>
                  </a:lnTo>
                  <a:lnTo>
                    <a:pt x="0" y="1543"/>
                  </a:lnTo>
                  <a:lnTo>
                    <a:pt x="0" y="1530"/>
                  </a:lnTo>
                  <a:lnTo>
                    <a:pt x="13" y="1530"/>
                  </a:lnTo>
                  <a:close/>
                  <a:moveTo>
                    <a:pt x="13" y="1556"/>
                  </a:moveTo>
                  <a:lnTo>
                    <a:pt x="13" y="1569"/>
                  </a:lnTo>
                  <a:lnTo>
                    <a:pt x="0" y="1569"/>
                  </a:lnTo>
                  <a:lnTo>
                    <a:pt x="0" y="1556"/>
                  </a:lnTo>
                  <a:lnTo>
                    <a:pt x="13" y="1556"/>
                  </a:lnTo>
                  <a:close/>
                  <a:moveTo>
                    <a:pt x="13" y="1582"/>
                  </a:moveTo>
                  <a:lnTo>
                    <a:pt x="13" y="1595"/>
                  </a:lnTo>
                  <a:lnTo>
                    <a:pt x="0" y="1595"/>
                  </a:lnTo>
                  <a:lnTo>
                    <a:pt x="0" y="1582"/>
                  </a:lnTo>
                  <a:lnTo>
                    <a:pt x="13" y="1582"/>
                  </a:lnTo>
                  <a:close/>
                  <a:moveTo>
                    <a:pt x="13" y="1608"/>
                  </a:moveTo>
                  <a:lnTo>
                    <a:pt x="13" y="1621"/>
                  </a:lnTo>
                  <a:lnTo>
                    <a:pt x="0" y="1621"/>
                  </a:lnTo>
                  <a:lnTo>
                    <a:pt x="0" y="1608"/>
                  </a:lnTo>
                  <a:lnTo>
                    <a:pt x="13" y="1608"/>
                  </a:lnTo>
                  <a:close/>
                  <a:moveTo>
                    <a:pt x="13" y="1634"/>
                  </a:moveTo>
                  <a:lnTo>
                    <a:pt x="13" y="1647"/>
                  </a:lnTo>
                  <a:lnTo>
                    <a:pt x="0" y="1647"/>
                  </a:lnTo>
                  <a:lnTo>
                    <a:pt x="0" y="1634"/>
                  </a:lnTo>
                  <a:lnTo>
                    <a:pt x="13" y="1634"/>
                  </a:lnTo>
                  <a:close/>
                  <a:moveTo>
                    <a:pt x="13" y="1660"/>
                  </a:moveTo>
                  <a:lnTo>
                    <a:pt x="13" y="1672"/>
                  </a:lnTo>
                  <a:lnTo>
                    <a:pt x="0" y="1672"/>
                  </a:lnTo>
                  <a:lnTo>
                    <a:pt x="0" y="1660"/>
                  </a:lnTo>
                  <a:lnTo>
                    <a:pt x="13" y="1660"/>
                  </a:lnTo>
                  <a:close/>
                  <a:moveTo>
                    <a:pt x="13" y="1686"/>
                  </a:moveTo>
                  <a:lnTo>
                    <a:pt x="13" y="1699"/>
                  </a:lnTo>
                  <a:lnTo>
                    <a:pt x="0" y="1699"/>
                  </a:lnTo>
                  <a:lnTo>
                    <a:pt x="0" y="1686"/>
                  </a:lnTo>
                  <a:lnTo>
                    <a:pt x="13" y="1686"/>
                  </a:lnTo>
                  <a:close/>
                  <a:moveTo>
                    <a:pt x="13" y="1711"/>
                  </a:moveTo>
                  <a:lnTo>
                    <a:pt x="13" y="1724"/>
                  </a:lnTo>
                  <a:lnTo>
                    <a:pt x="0" y="1724"/>
                  </a:lnTo>
                  <a:lnTo>
                    <a:pt x="0" y="1711"/>
                  </a:lnTo>
                  <a:lnTo>
                    <a:pt x="13" y="1711"/>
                  </a:lnTo>
                  <a:close/>
                  <a:moveTo>
                    <a:pt x="13" y="1738"/>
                  </a:moveTo>
                  <a:lnTo>
                    <a:pt x="13" y="1750"/>
                  </a:lnTo>
                  <a:lnTo>
                    <a:pt x="0" y="1750"/>
                  </a:lnTo>
                  <a:lnTo>
                    <a:pt x="0" y="1738"/>
                  </a:lnTo>
                  <a:lnTo>
                    <a:pt x="13" y="1738"/>
                  </a:lnTo>
                  <a:close/>
                  <a:moveTo>
                    <a:pt x="13" y="1763"/>
                  </a:moveTo>
                  <a:lnTo>
                    <a:pt x="13" y="1776"/>
                  </a:lnTo>
                  <a:lnTo>
                    <a:pt x="0" y="1776"/>
                  </a:lnTo>
                  <a:lnTo>
                    <a:pt x="0" y="1763"/>
                  </a:lnTo>
                  <a:lnTo>
                    <a:pt x="13" y="1763"/>
                  </a:lnTo>
                  <a:close/>
                  <a:moveTo>
                    <a:pt x="13" y="1789"/>
                  </a:moveTo>
                  <a:lnTo>
                    <a:pt x="13" y="1802"/>
                  </a:lnTo>
                  <a:lnTo>
                    <a:pt x="0" y="1802"/>
                  </a:lnTo>
                  <a:lnTo>
                    <a:pt x="0" y="1789"/>
                  </a:lnTo>
                  <a:lnTo>
                    <a:pt x="13" y="1789"/>
                  </a:lnTo>
                  <a:close/>
                  <a:moveTo>
                    <a:pt x="13" y="1815"/>
                  </a:moveTo>
                  <a:lnTo>
                    <a:pt x="13" y="1828"/>
                  </a:lnTo>
                  <a:lnTo>
                    <a:pt x="0" y="1828"/>
                  </a:lnTo>
                  <a:lnTo>
                    <a:pt x="0" y="1815"/>
                  </a:lnTo>
                  <a:lnTo>
                    <a:pt x="13" y="1815"/>
                  </a:lnTo>
                  <a:close/>
                  <a:moveTo>
                    <a:pt x="13" y="1841"/>
                  </a:moveTo>
                  <a:lnTo>
                    <a:pt x="13" y="1854"/>
                  </a:lnTo>
                  <a:lnTo>
                    <a:pt x="0" y="1854"/>
                  </a:lnTo>
                  <a:lnTo>
                    <a:pt x="0" y="1841"/>
                  </a:lnTo>
                  <a:lnTo>
                    <a:pt x="13" y="1841"/>
                  </a:lnTo>
                  <a:close/>
                  <a:moveTo>
                    <a:pt x="13" y="1867"/>
                  </a:moveTo>
                  <a:lnTo>
                    <a:pt x="13" y="1880"/>
                  </a:lnTo>
                  <a:lnTo>
                    <a:pt x="0" y="1880"/>
                  </a:lnTo>
                  <a:lnTo>
                    <a:pt x="0" y="1867"/>
                  </a:lnTo>
                  <a:lnTo>
                    <a:pt x="13" y="1867"/>
                  </a:lnTo>
                  <a:close/>
                  <a:moveTo>
                    <a:pt x="13" y="1893"/>
                  </a:moveTo>
                  <a:lnTo>
                    <a:pt x="13" y="1906"/>
                  </a:lnTo>
                  <a:lnTo>
                    <a:pt x="0" y="1906"/>
                  </a:lnTo>
                  <a:lnTo>
                    <a:pt x="0" y="1893"/>
                  </a:lnTo>
                  <a:lnTo>
                    <a:pt x="13" y="1893"/>
                  </a:lnTo>
                  <a:close/>
                  <a:moveTo>
                    <a:pt x="13" y="1919"/>
                  </a:moveTo>
                  <a:lnTo>
                    <a:pt x="13" y="1932"/>
                  </a:lnTo>
                  <a:lnTo>
                    <a:pt x="0" y="1932"/>
                  </a:lnTo>
                  <a:lnTo>
                    <a:pt x="0" y="1919"/>
                  </a:lnTo>
                  <a:lnTo>
                    <a:pt x="13" y="1919"/>
                  </a:lnTo>
                  <a:close/>
                  <a:moveTo>
                    <a:pt x="13" y="1945"/>
                  </a:moveTo>
                  <a:lnTo>
                    <a:pt x="13" y="1958"/>
                  </a:lnTo>
                  <a:lnTo>
                    <a:pt x="0" y="1958"/>
                  </a:lnTo>
                  <a:lnTo>
                    <a:pt x="0" y="1945"/>
                  </a:lnTo>
                  <a:lnTo>
                    <a:pt x="13" y="1945"/>
                  </a:lnTo>
                  <a:close/>
                  <a:moveTo>
                    <a:pt x="13" y="1971"/>
                  </a:moveTo>
                  <a:lnTo>
                    <a:pt x="13" y="1984"/>
                  </a:lnTo>
                  <a:lnTo>
                    <a:pt x="0" y="1984"/>
                  </a:lnTo>
                  <a:lnTo>
                    <a:pt x="0" y="1971"/>
                  </a:lnTo>
                  <a:lnTo>
                    <a:pt x="13" y="1971"/>
                  </a:lnTo>
                  <a:close/>
                  <a:moveTo>
                    <a:pt x="13" y="1997"/>
                  </a:moveTo>
                  <a:lnTo>
                    <a:pt x="13" y="2010"/>
                  </a:lnTo>
                  <a:lnTo>
                    <a:pt x="0" y="2010"/>
                  </a:lnTo>
                  <a:lnTo>
                    <a:pt x="0" y="1997"/>
                  </a:lnTo>
                  <a:lnTo>
                    <a:pt x="13" y="1997"/>
                  </a:lnTo>
                  <a:close/>
                  <a:moveTo>
                    <a:pt x="13" y="2023"/>
                  </a:moveTo>
                  <a:lnTo>
                    <a:pt x="13" y="2036"/>
                  </a:lnTo>
                  <a:lnTo>
                    <a:pt x="0" y="2036"/>
                  </a:lnTo>
                  <a:lnTo>
                    <a:pt x="0" y="2023"/>
                  </a:lnTo>
                  <a:lnTo>
                    <a:pt x="13" y="2023"/>
                  </a:lnTo>
                  <a:close/>
                  <a:moveTo>
                    <a:pt x="13" y="2049"/>
                  </a:moveTo>
                  <a:lnTo>
                    <a:pt x="13" y="2061"/>
                  </a:lnTo>
                  <a:lnTo>
                    <a:pt x="0" y="2061"/>
                  </a:lnTo>
                  <a:lnTo>
                    <a:pt x="0" y="2049"/>
                  </a:lnTo>
                  <a:lnTo>
                    <a:pt x="13" y="2049"/>
                  </a:lnTo>
                  <a:close/>
                  <a:moveTo>
                    <a:pt x="13" y="2075"/>
                  </a:moveTo>
                  <a:lnTo>
                    <a:pt x="13" y="2088"/>
                  </a:lnTo>
                  <a:lnTo>
                    <a:pt x="0" y="2088"/>
                  </a:lnTo>
                  <a:lnTo>
                    <a:pt x="0" y="2075"/>
                  </a:lnTo>
                  <a:lnTo>
                    <a:pt x="13" y="2075"/>
                  </a:lnTo>
                  <a:close/>
                  <a:moveTo>
                    <a:pt x="13" y="2100"/>
                  </a:moveTo>
                  <a:lnTo>
                    <a:pt x="13" y="2113"/>
                  </a:lnTo>
                  <a:lnTo>
                    <a:pt x="0" y="2113"/>
                  </a:lnTo>
                  <a:lnTo>
                    <a:pt x="0" y="2100"/>
                  </a:lnTo>
                  <a:lnTo>
                    <a:pt x="13" y="2100"/>
                  </a:lnTo>
                  <a:close/>
                  <a:moveTo>
                    <a:pt x="13" y="2126"/>
                  </a:moveTo>
                  <a:lnTo>
                    <a:pt x="13" y="2139"/>
                  </a:lnTo>
                  <a:lnTo>
                    <a:pt x="0" y="2139"/>
                  </a:lnTo>
                  <a:lnTo>
                    <a:pt x="0" y="2126"/>
                  </a:lnTo>
                  <a:lnTo>
                    <a:pt x="13" y="2126"/>
                  </a:lnTo>
                  <a:close/>
                  <a:moveTo>
                    <a:pt x="13" y="2152"/>
                  </a:moveTo>
                  <a:lnTo>
                    <a:pt x="13" y="2165"/>
                  </a:lnTo>
                  <a:lnTo>
                    <a:pt x="0" y="2165"/>
                  </a:lnTo>
                  <a:lnTo>
                    <a:pt x="0" y="2152"/>
                  </a:lnTo>
                  <a:lnTo>
                    <a:pt x="13" y="2152"/>
                  </a:lnTo>
                  <a:close/>
                  <a:moveTo>
                    <a:pt x="13" y="2178"/>
                  </a:moveTo>
                  <a:lnTo>
                    <a:pt x="13" y="2191"/>
                  </a:lnTo>
                  <a:lnTo>
                    <a:pt x="0" y="2191"/>
                  </a:lnTo>
                  <a:lnTo>
                    <a:pt x="0" y="2178"/>
                  </a:lnTo>
                  <a:lnTo>
                    <a:pt x="13" y="2178"/>
                  </a:lnTo>
                  <a:close/>
                  <a:moveTo>
                    <a:pt x="13" y="2204"/>
                  </a:moveTo>
                  <a:lnTo>
                    <a:pt x="13" y="2217"/>
                  </a:lnTo>
                  <a:lnTo>
                    <a:pt x="0" y="2217"/>
                  </a:lnTo>
                  <a:lnTo>
                    <a:pt x="0" y="2204"/>
                  </a:lnTo>
                  <a:lnTo>
                    <a:pt x="13" y="2204"/>
                  </a:lnTo>
                  <a:close/>
                  <a:moveTo>
                    <a:pt x="13" y="2230"/>
                  </a:moveTo>
                  <a:lnTo>
                    <a:pt x="13" y="2243"/>
                  </a:lnTo>
                  <a:lnTo>
                    <a:pt x="0" y="2243"/>
                  </a:lnTo>
                  <a:lnTo>
                    <a:pt x="0" y="2230"/>
                  </a:lnTo>
                  <a:lnTo>
                    <a:pt x="13" y="2230"/>
                  </a:lnTo>
                  <a:close/>
                  <a:moveTo>
                    <a:pt x="13" y="2256"/>
                  </a:moveTo>
                  <a:lnTo>
                    <a:pt x="13" y="2269"/>
                  </a:lnTo>
                  <a:lnTo>
                    <a:pt x="0" y="2269"/>
                  </a:lnTo>
                  <a:lnTo>
                    <a:pt x="0" y="2256"/>
                  </a:lnTo>
                  <a:lnTo>
                    <a:pt x="13" y="2256"/>
                  </a:lnTo>
                  <a:close/>
                  <a:moveTo>
                    <a:pt x="13" y="2282"/>
                  </a:moveTo>
                  <a:lnTo>
                    <a:pt x="13" y="2285"/>
                  </a:lnTo>
                  <a:lnTo>
                    <a:pt x="0" y="2285"/>
                  </a:lnTo>
                  <a:lnTo>
                    <a:pt x="0" y="2282"/>
                  </a:lnTo>
                  <a:lnTo>
                    <a:pt x="13" y="2282"/>
                  </a:lnTo>
                  <a:close/>
                </a:path>
              </a:pathLst>
            </a:custGeom>
            <a:solidFill>
              <a:srgbClr val="000000"/>
            </a:solidFill>
            <a:ln w="0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3" name="Freeform 50">
              <a:extLst>
                <a:ext uri="{FF2B5EF4-FFF2-40B4-BE49-F238E27FC236}">
                  <a16:creationId xmlns:a16="http://schemas.microsoft.com/office/drawing/2014/main" id="{2AE8B3F9-290C-4801-84A2-8C7052675EB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118" y="1978"/>
              <a:ext cx="13" cy="2285"/>
            </a:xfrm>
            <a:custGeom>
              <a:avLst/>
              <a:gdLst>
                <a:gd name="T0" fmla="*/ 13 w 13"/>
                <a:gd name="T1" fmla="*/ 39 h 2285"/>
                <a:gd name="T2" fmla="*/ 0 w 13"/>
                <a:gd name="T3" fmla="*/ 52 h 2285"/>
                <a:gd name="T4" fmla="*/ 13 w 13"/>
                <a:gd name="T5" fmla="*/ 104 h 2285"/>
                <a:gd name="T6" fmla="*/ 0 w 13"/>
                <a:gd name="T7" fmla="*/ 143 h 2285"/>
                <a:gd name="T8" fmla="*/ 13 w 13"/>
                <a:gd name="T9" fmla="*/ 156 h 2285"/>
                <a:gd name="T10" fmla="*/ 13 w 13"/>
                <a:gd name="T11" fmla="*/ 221 h 2285"/>
                <a:gd name="T12" fmla="*/ 0 w 13"/>
                <a:gd name="T13" fmla="*/ 233 h 2285"/>
                <a:gd name="T14" fmla="*/ 13 w 13"/>
                <a:gd name="T15" fmla="*/ 285 h 2285"/>
                <a:gd name="T16" fmla="*/ 0 w 13"/>
                <a:gd name="T17" fmla="*/ 324 h 2285"/>
                <a:gd name="T18" fmla="*/ 13 w 13"/>
                <a:gd name="T19" fmla="*/ 337 h 2285"/>
                <a:gd name="T20" fmla="*/ 13 w 13"/>
                <a:gd name="T21" fmla="*/ 402 h 2285"/>
                <a:gd name="T22" fmla="*/ 0 w 13"/>
                <a:gd name="T23" fmla="*/ 415 h 2285"/>
                <a:gd name="T24" fmla="*/ 13 w 13"/>
                <a:gd name="T25" fmla="*/ 467 h 2285"/>
                <a:gd name="T26" fmla="*/ 0 w 13"/>
                <a:gd name="T27" fmla="*/ 506 h 2285"/>
                <a:gd name="T28" fmla="*/ 13 w 13"/>
                <a:gd name="T29" fmla="*/ 519 h 2285"/>
                <a:gd name="T30" fmla="*/ 13 w 13"/>
                <a:gd name="T31" fmla="*/ 583 h 2285"/>
                <a:gd name="T32" fmla="*/ 0 w 13"/>
                <a:gd name="T33" fmla="*/ 596 h 2285"/>
                <a:gd name="T34" fmla="*/ 13 w 13"/>
                <a:gd name="T35" fmla="*/ 648 h 2285"/>
                <a:gd name="T36" fmla="*/ 0 w 13"/>
                <a:gd name="T37" fmla="*/ 687 h 2285"/>
                <a:gd name="T38" fmla="*/ 13 w 13"/>
                <a:gd name="T39" fmla="*/ 700 h 2285"/>
                <a:gd name="T40" fmla="*/ 13 w 13"/>
                <a:gd name="T41" fmla="*/ 765 h 2285"/>
                <a:gd name="T42" fmla="*/ 0 w 13"/>
                <a:gd name="T43" fmla="*/ 778 h 2285"/>
                <a:gd name="T44" fmla="*/ 13 w 13"/>
                <a:gd name="T45" fmla="*/ 830 h 2285"/>
                <a:gd name="T46" fmla="*/ 0 w 13"/>
                <a:gd name="T47" fmla="*/ 869 h 2285"/>
                <a:gd name="T48" fmla="*/ 13 w 13"/>
                <a:gd name="T49" fmla="*/ 882 h 2285"/>
                <a:gd name="T50" fmla="*/ 13 w 13"/>
                <a:gd name="T51" fmla="*/ 947 h 2285"/>
                <a:gd name="T52" fmla="*/ 0 w 13"/>
                <a:gd name="T53" fmla="*/ 960 h 2285"/>
                <a:gd name="T54" fmla="*/ 13 w 13"/>
                <a:gd name="T55" fmla="*/ 1011 h 2285"/>
                <a:gd name="T56" fmla="*/ 0 w 13"/>
                <a:gd name="T57" fmla="*/ 1050 h 2285"/>
                <a:gd name="T58" fmla="*/ 13 w 13"/>
                <a:gd name="T59" fmla="*/ 1063 h 2285"/>
                <a:gd name="T60" fmla="*/ 13 w 13"/>
                <a:gd name="T61" fmla="*/ 1128 h 2285"/>
                <a:gd name="T62" fmla="*/ 0 w 13"/>
                <a:gd name="T63" fmla="*/ 1141 h 2285"/>
                <a:gd name="T64" fmla="*/ 13 w 13"/>
                <a:gd name="T65" fmla="*/ 1193 h 2285"/>
                <a:gd name="T66" fmla="*/ 0 w 13"/>
                <a:gd name="T67" fmla="*/ 1232 h 2285"/>
                <a:gd name="T68" fmla="*/ 13 w 13"/>
                <a:gd name="T69" fmla="*/ 1245 h 2285"/>
                <a:gd name="T70" fmla="*/ 13 w 13"/>
                <a:gd name="T71" fmla="*/ 1310 h 2285"/>
                <a:gd name="T72" fmla="*/ 0 w 13"/>
                <a:gd name="T73" fmla="*/ 1322 h 2285"/>
                <a:gd name="T74" fmla="*/ 13 w 13"/>
                <a:gd name="T75" fmla="*/ 1374 h 2285"/>
                <a:gd name="T76" fmla="*/ 0 w 13"/>
                <a:gd name="T77" fmla="*/ 1413 h 2285"/>
                <a:gd name="T78" fmla="*/ 13 w 13"/>
                <a:gd name="T79" fmla="*/ 1426 h 2285"/>
                <a:gd name="T80" fmla="*/ 13 w 13"/>
                <a:gd name="T81" fmla="*/ 1491 h 2285"/>
                <a:gd name="T82" fmla="*/ 0 w 13"/>
                <a:gd name="T83" fmla="*/ 1504 h 2285"/>
                <a:gd name="T84" fmla="*/ 13 w 13"/>
                <a:gd name="T85" fmla="*/ 1556 h 2285"/>
                <a:gd name="T86" fmla="*/ 0 w 13"/>
                <a:gd name="T87" fmla="*/ 1595 h 2285"/>
                <a:gd name="T88" fmla="*/ 13 w 13"/>
                <a:gd name="T89" fmla="*/ 1608 h 2285"/>
                <a:gd name="T90" fmla="*/ 13 w 13"/>
                <a:gd name="T91" fmla="*/ 1672 h 2285"/>
                <a:gd name="T92" fmla="*/ 0 w 13"/>
                <a:gd name="T93" fmla="*/ 1686 h 2285"/>
                <a:gd name="T94" fmla="*/ 13 w 13"/>
                <a:gd name="T95" fmla="*/ 1738 h 2285"/>
                <a:gd name="T96" fmla="*/ 0 w 13"/>
                <a:gd name="T97" fmla="*/ 1776 h 2285"/>
                <a:gd name="T98" fmla="*/ 13 w 13"/>
                <a:gd name="T99" fmla="*/ 1789 h 2285"/>
                <a:gd name="T100" fmla="*/ 13 w 13"/>
                <a:gd name="T101" fmla="*/ 1854 h 2285"/>
                <a:gd name="T102" fmla="*/ 0 w 13"/>
                <a:gd name="T103" fmla="*/ 1867 h 2285"/>
                <a:gd name="T104" fmla="*/ 13 w 13"/>
                <a:gd name="T105" fmla="*/ 1919 h 2285"/>
                <a:gd name="T106" fmla="*/ 0 w 13"/>
                <a:gd name="T107" fmla="*/ 1958 h 2285"/>
                <a:gd name="T108" fmla="*/ 13 w 13"/>
                <a:gd name="T109" fmla="*/ 1971 h 2285"/>
                <a:gd name="T110" fmla="*/ 13 w 13"/>
                <a:gd name="T111" fmla="*/ 2036 h 2285"/>
                <a:gd name="T112" fmla="*/ 0 w 13"/>
                <a:gd name="T113" fmla="*/ 2049 h 2285"/>
                <a:gd name="T114" fmla="*/ 13 w 13"/>
                <a:gd name="T115" fmla="*/ 2100 h 2285"/>
                <a:gd name="T116" fmla="*/ 0 w 13"/>
                <a:gd name="T117" fmla="*/ 2139 h 2285"/>
                <a:gd name="T118" fmla="*/ 13 w 13"/>
                <a:gd name="T119" fmla="*/ 2152 h 2285"/>
                <a:gd name="T120" fmla="*/ 13 w 13"/>
                <a:gd name="T121" fmla="*/ 2217 h 2285"/>
                <a:gd name="T122" fmla="*/ 0 w 13"/>
                <a:gd name="T123" fmla="*/ 2230 h 2285"/>
                <a:gd name="T124" fmla="*/ 13 w 13"/>
                <a:gd name="T125" fmla="*/ 2282 h 22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3" h="2285">
                  <a:moveTo>
                    <a:pt x="13" y="0"/>
                  </a:moveTo>
                  <a:lnTo>
                    <a:pt x="13" y="13"/>
                  </a:lnTo>
                  <a:lnTo>
                    <a:pt x="0" y="13"/>
                  </a:lnTo>
                  <a:lnTo>
                    <a:pt x="0" y="0"/>
                  </a:lnTo>
                  <a:lnTo>
                    <a:pt x="13" y="0"/>
                  </a:lnTo>
                  <a:close/>
                  <a:moveTo>
                    <a:pt x="13" y="26"/>
                  </a:moveTo>
                  <a:lnTo>
                    <a:pt x="13" y="39"/>
                  </a:lnTo>
                  <a:lnTo>
                    <a:pt x="0" y="39"/>
                  </a:lnTo>
                  <a:lnTo>
                    <a:pt x="0" y="26"/>
                  </a:lnTo>
                  <a:lnTo>
                    <a:pt x="13" y="26"/>
                  </a:lnTo>
                  <a:close/>
                  <a:moveTo>
                    <a:pt x="13" y="52"/>
                  </a:moveTo>
                  <a:lnTo>
                    <a:pt x="13" y="65"/>
                  </a:lnTo>
                  <a:lnTo>
                    <a:pt x="0" y="65"/>
                  </a:lnTo>
                  <a:lnTo>
                    <a:pt x="0" y="52"/>
                  </a:lnTo>
                  <a:lnTo>
                    <a:pt x="13" y="52"/>
                  </a:lnTo>
                  <a:close/>
                  <a:moveTo>
                    <a:pt x="13" y="78"/>
                  </a:moveTo>
                  <a:lnTo>
                    <a:pt x="13" y="91"/>
                  </a:lnTo>
                  <a:lnTo>
                    <a:pt x="0" y="91"/>
                  </a:lnTo>
                  <a:lnTo>
                    <a:pt x="0" y="78"/>
                  </a:lnTo>
                  <a:lnTo>
                    <a:pt x="13" y="78"/>
                  </a:lnTo>
                  <a:close/>
                  <a:moveTo>
                    <a:pt x="13" y="104"/>
                  </a:moveTo>
                  <a:lnTo>
                    <a:pt x="13" y="117"/>
                  </a:lnTo>
                  <a:lnTo>
                    <a:pt x="0" y="117"/>
                  </a:lnTo>
                  <a:lnTo>
                    <a:pt x="0" y="104"/>
                  </a:lnTo>
                  <a:lnTo>
                    <a:pt x="13" y="104"/>
                  </a:lnTo>
                  <a:close/>
                  <a:moveTo>
                    <a:pt x="13" y="130"/>
                  </a:moveTo>
                  <a:lnTo>
                    <a:pt x="13" y="143"/>
                  </a:lnTo>
                  <a:lnTo>
                    <a:pt x="0" y="143"/>
                  </a:lnTo>
                  <a:lnTo>
                    <a:pt x="0" y="130"/>
                  </a:lnTo>
                  <a:lnTo>
                    <a:pt x="13" y="130"/>
                  </a:lnTo>
                  <a:close/>
                  <a:moveTo>
                    <a:pt x="13" y="156"/>
                  </a:moveTo>
                  <a:lnTo>
                    <a:pt x="13" y="169"/>
                  </a:lnTo>
                  <a:lnTo>
                    <a:pt x="0" y="169"/>
                  </a:lnTo>
                  <a:lnTo>
                    <a:pt x="0" y="156"/>
                  </a:lnTo>
                  <a:lnTo>
                    <a:pt x="13" y="156"/>
                  </a:lnTo>
                  <a:close/>
                  <a:moveTo>
                    <a:pt x="13" y="182"/>
                  </a:moveTo>
                  <a:lnTo>
                    <a:pt x="13" y="194"/>
                  </a:lnTo>
                  <a:lnTo>
                    <a:pt x="0" y="194"/>
                  </a:lnTo>
                  <a:lnTo>
                    <a:pt x="0" y="182"/>
                  </a:lnTo>
                  <a:lnTo>
                    <a:pt x="13" y="182"/>
                  </a:lnTo>
                  <a:close/>
                  <a:moveTo>
                    <a:pt x="13" y="208"/>
                  </a:moveTo>
                  <a:lnTo>
                    <a:pt x="13" y="221"/>
                  </a:lnTo>
                  <a:lnTo>
                    <a:pt x="0" y="221"/>
                  </a:lnTo>
                  <a:lnTo>
                    <a:pt x="0" y="208"/>
                  </a:lnTo>
                  <a:lnTo>
                    <a:pt x="13" y="208"/>
                  </a:lnTo>
                  <a:close/>
                  <a:moveTo>
                    <a:pt x="13" y="233"/>
                  </a:moveTo>
                  <a:lnTo>
                    <a:pt x="13" y="246"/>
                  </a:lnTo>
                  <a:lnTo>
                    <a:pt x="0" y="246"/>
                  </a:lnTo>
                  <a:lnTo>
                    <a:pt x="0" y="233"/>
                  </a:lnTo>
                  <a:lnTo>
                    <a:pt x="13" y="233"/>
                  </a:lnTo>
                  <a:close/>
                  <a:moveTo>
                    <a:pt x="13" y="259"/>
                  </a:moveTo>
                  <a:lnTo>
                    <a:pt x="13" y="272"/>
                  </a:lnTo>
                  <a:lnTo>
                    <a:pt x="0" y="272"/>
                  </a:lnTo>
                  <a:lnTo>
                    <a:pt x="0" y="259"/>
                  </a:lnTo>
                  <a:lnTo>
                    <a:pt x="13" y="259"/>
                  </a:lnTo>
                  <a:close/>
                  <a:moveTo>
                    <a:pt x="13" y="285"/>
                  </a:moveTo>
                  <a:lnTo>
                    <a:pt x="13" y="298"/>
                  </a:lnTo>
                  <a:lnTo>
                    <a:pt x="0" y="298"/>
                  </a:lnTo>
                  <a:lnTo>
                    <a:pt x="0" y="285"/>
                  </a:lnTo>
                  <a:lnTo>
                    <a:pt x="13" y="285"/>
                  </a:lnTo>
                  <a:close/>
                  <a:moveTo>
                    <a:pt x="13" y="311"/>
                  </a:moveTo>
                  <a:lnTo>
                    <a:pt x="13" y="324"/>
                  </a:lnTo>
                  <a:lnTo>
                    <a:pt x="0" y="324"/>
                  </a:lnTo>
                  <a:lnTo>
                    <a:pt x="0" y="311"/>
                  </a:lnTo>
                  <a:lnTo>
                    <a:pt x="13" y="311"/>
                  </a:lnTo>
                  <a:close/>
                  <a:moveTo>
                    <a:pt x="13" y="337"/>
                  </a:moveTo>
                  <a:lnTo>
                    <a:pt x="13" y="350"/>
                  </a:lnTo>
                  <a:lnTo>
                    <a:pt x="0" y="350"/>
                  </a:lnTo>
                  <a:lnTo>
                    <a:pt x="0" y="337"/>
                  </a:lnTo>
                  <a:lnTo>
                    <a:pt x="13" y="337"/>
                  </a:lnTo>
                  <a:close/>
                  <a:moveTo>
                    <a:pt x="13" y="363"/>
                  </a:moveTo>
                  <a:lnTo>
                    <a:pt x="13" y="376"/>
                  </a:lnTo>
                  <a:lnTo>
                    <a:pt x="0" y="376"/>
                  </a:lnTo>
                  <a:lnTo>
                    <a:pt x="0" y="363"/>
                  </a:lnTo>
                  <a:lnTo>
                    <a:pt x="13" y="363"/>
                  </a:lnTo>
                  <a:close/>
                  <a:moveTo>
                    <a:pt x="13" y="389"/>
                  </a:moveTo>
                  <a:lnTo>
                    <a:pt x="13" y="402"/>
                  </a:lnTo>
                  <a:lnTo>
                    <a:pt x="0" y="402"/>
                  </a:lnTo>
                  <a:lnTo>
                    <a:pt x="0" y="389"/>
                  </a:lnTo>
                  <a:lnTo>
                    <a:pt x="13" y="389"/>
                  </a:lnTo>
                  <a:close/>
                  <a:moveTo>
                    <a:pt x="13" y="415"/>
                  </a:moveTo>
                  <a:lnTo>
                    <a:pt x="13" y="428"/>
                  </a:lnTo>
                  <a:lnTo>
                    <a:pt x="0" y="428"/>
                  </a:lnTo>
                  <a:lnTo>
                    <a:pt x="0" y="415"/>
                  </a:lnTo>
                  <a:lnTo>
                    <a:pt x="13" y="415"/>
                  </a:lnTo>
                  <a:close/>
                  <a:moveTo>
                    <a:pt x="13" y="441"/>
                  </a:moveTo>
                  <a:lnTo>
                    <a:pt x="13" y="454"/>
                  </a:lnTo>
                  <a:lnTo>
                    <a:pt x="0" y="454"/>
                  </a:lnTo>
                  <a:lnTo>
                    <a:pt x="0" y="441"/>
                  </a:lnTo>
                  <a:lnTo>
                    <a:pt x="13" y="441"/>
                  </a:lnTo>
                  <a:close/>
                  <a:moveTo>
                    <a:pt x="13" y="467"/>
                  </a:moveTo>
                  <a:lnTo>
                    <a:pt x="13" y="480"/>
                  </a:lnTo>
                  <a:lnTo>
                    <a:pt x="0" y="480"/>
                  </a:lnTo>
                  <a:lnTo>
                    <a:pt x="0" y="467"/>
                  </a:lnTo>
                  <a:lnTo>
                    <a:pt x="13" y="467"/>
                  </a:lnTo>
                  <a:close/>
                  <a:moveTo>
                    <a:pt x="13" y="493"/>
                  </a:moveTo>
                  <a:lnTo>
                    <a:pt x="13" y="506"/>
                  </a:lnTo>
                  <a:lnTo>
                    <a:pt x="0" y="506"/>
                  </a:lnTo>
                  <a:lnTo>
                    <a:pt x="0" y="493"/>
                  </a:lnTo>
                  <a:lnTo>
                    <a:pt x="13" y="493"/>
                  </a:lnTo>
                  <a:close/>
                  <a:moveTo>
                    <a:pt x="13" y="519"/>
                  </a:moveTo>
                  <a:lnTo>
                    <a:pt x="13" y="532"/>
                  </a:lnTo>
                  <a:lnTo>
                    <a:pt x="0" y="532"/>
                  </a:lnTo>
                  <a:lnTo>
                    <a:pt x="0" y="519"/>
                  </a:lnTo>
                  <a:lnTo>
                    <a:pt x="13" y="519"/>
                  </a:lnTo>
                  <a:close/>
                  <a:moveTo>
                    <a:pt x="13" y="545"/>
                  </a:moveTo>
                  <a:lnTo>
                    <a:pt x="13" y="558"/>
                  </a:lnTo>
                  <a:lnTo>
                    <a:pt x="0" y="558"/>
                  </a:lnTo>
                  <a:lnTo>
                    <a:pt x="0" y="545"/>
                  </a:lnTo>
                  <a:lnTo>
                    <a:pt x="13" y="545"/>
                  </a:lnTo>
                  <a:close/>
                  <a:moveTo>
                    <a:pt x="13" y="571"/>
                  </a:moveTo>
                  <a:lnTo>
                    <a:pt x="13" y="583"/>
                  </a:lnTo>
                  <a:lnTo>
                    <a:pt x="0" y="583"/>
                  </a:lnTo>
                  <a:lnTo>
                    <a:pt x="0" y="571"/>
                  </a:lnTo>
                  <a:lnTo>
                    <a:pt x="13" y="571"/>
                  </a:lnTo>
                  <a:close/>
                  <a:moveTo>
                    <a:pt x="13" y="596"/>
                  </a:moveTo>
                  <a:lnTo>
                    <a:pt x="13" y="610"/>
                  </a:lnTo>
                  <a:lnTo>
                    <a:pt x="0" y="610"/>
                  </a:lnTo>
                  <a:lnTo>
                    <a:pt x="0" y="596"/>
                  </a:lnTo>
                  <a:lnTo>
                    <a:pt x="13" y="596"/>
                  </a:lnTo>
                  <a:close/>
                  <a:moveTo>
                    <a:pt x="13" y="622"/>
                  </a:moveTo>
                  <a:lnTo>
                    <a:pt x="13" y="635"/>
                  </a:lnTo>
                  <a:lnTo>
                    <a:pt x="0" y="635"/>
                  </a:lnTo>
                  <a:lnTo>
                    <a:pt x="0" y="622"/>
                  </a:lnTo>
                  <a:lnTo>
                    <a:pt x="13" y="622"/>
                  </a:lnTo>
                  <a:close/>
                  <a:moveTo>
                    <a:pt x="13" y="648"/>
                  </a:moveTo>
                  <a:lnTo>
                    <a:pt x="13" y="661"/>
                  </a:lnTo>
                  <a:lnTo>
                    <a:pt x="0" y="661"/>
                  </a:lnTo>
                  <a:lnTo>
                    <a:pt x="0" y="648"/>
                  </a:lnTo>
                  <a:lnTo>
                    <a:pt x="13" y="648"/>
                  </a:lnTo>
                  <a:close/>
                  <a:moveTo>
                    <a:pt x="13" y="674"/>
                  </a:moveTo>
                  <a:lnTo>
                    <a:pt x="13" y="687"/>
                  </a:lnTo>
                  <a:lnTo>
                    <a:pt x="0" y="687"/>
                  </a:lnTo>
                  <a:lnTo>
                    <a:pt x="0" y="674"/>
                  </a:lnTo>
                  <a:lnTo>
                    <a:pt x="13" y="674"/>
                  </a:lnTo>
                  <a:close/>
                  <a:moveTo>
                    <a:pt x="13" y="700"/>
                  </a:moveTo>
                  <a:lnTo>
                    <a:pt x="13" y="713"/>
                  </a:lnTo>
                  <a:lnTo>
                    <a:pt x="0" y="713"/>
                  </a:lnTo>
                  <a:lnTo>
                    <a:pt x="0" y="700"/>
                  </a:lnTo>
                  <a:lnTo>
                    <a:pt x="13" y="700"/>
                  </a:lnTo>
                  <a:close/>
                  <a:moveTo>
                    <a:pt x="13" y="726"/>
                  </a:moveTo>
                  <a:lnTo>
                    <a:pt x="13" y="739"/>
                  </a:lnTo>
                  <a:lnTo>
                    <a:pt x="0" y="739"/>
                  </a:lnTo>
                  <a:lnTo>
                    <a:pt x="0" y="726"/>
                  </a:lnTo>
                  <a:lnTo>
                    <a:pt x="13" y="726"/>
                  </a:lnTo>
                  <a:close/>
                  <a:moveTo>
                    <a:pt x="13" y="752"/>
                  </a:moveTo>
                  <a:lnTo>
                    <a:pt x="13" y="765"/>
                  </a:lnTo>
                  <a:lnTo>
                    <a:pt x="0" y="765"/>
                  </a:lnTo>
                  <a:lnTo>
                    <a:pt x="0" y="752"/>
                  </a:lnTo>
                  <a:lnTo>
                    <a:pt x="13" y="752"/>
                  </a:lnTo>
                  <a:close/>
                  <a:moveTo>
                    <a:pt x="13" y="778"/>
                  </a:moveTo>
                  <a:lnTo>
                    <a:pt x="13" y="791"/>
                  </a:lnTo>
                  <a:lnTo>
                    <a:pt x="0" y="791"/>
                  </a:lnTo>
                  <a:lnTo>
                    <a:pt x="0" y="778"/>
                  </a:lnTo>
                  <a:lnTo>
                    <a:pt x="13" y="778"/>
                  </a:lnTo>
                  <a:close/>
                  <a:moveTo>
                    <a:pt x="13" y="804"/>
                  </a:moveTo>
                  <a:lnTo>
                    <a:pt x="13" y="817"/>
                  </a:lnTo>
                  <a:lnTo>
                    <a:pt x="0" y="817"/>
                  </a:lnTo>
                  <a:lnTo>
                    <a:pt x="0" y="804"/>
                  </a:lnTo>
                  <a:lnTo>
                    <a:pt x="13" y="804"/>
                  </a:lnTo>
                  <a:close/>
                  <a:moveTo>
                    <a:pt x="13" y="830"/>
                  </a:moveTo>
                  <a:lnTo>
                    <a:pt x="13" y="843"/>
                  </a:lnTo>
                  <a:lnTo>
                    <a:pt x="0" y="843"/>
                  </a:lnTo>
                  <a:lnTo>
                    <a:pt x="0" y="830"/>
                  </a:lnTo>
                  <a:lnTo>
                    <a:pt x="13" y="830"/>
                  </a:lnTo>
                  <a:close/>
                  <a:moveTo>
                    <a:pt x="13" y="856"/>
                  </a:moveTo>
                  <a:lnTo>
                    <a:pt x="13" y="869"/>
                  </a:lnTo>
                  <a:lnTo>
                    <a:pt x="0" y="869"/>
                  </a:lnTo>
                  <a:lnTo>
                    <a:pt x="0" y="856"/>
                  </a:lnTo>
                  <a:lnTo>
                    <a:pt x="13" y="856"/>
                  </a:lnTo>
                  <a:close/>
                  <a:moveTo>
                    <a:pt x="13" y="882"/>
                  </a:moveTo>
                  <a:lnTo>
                    <a:pt x="13" y="895"/>
                  </a:lnTo>
                  <a:lnTo>
                    <a:pt x="0" y="895"/>
                  </a:lnTo>
                  <a:lnTo>
                    <a:pt x="0" y="882"/>
                  </a:lnTo>
                  <a:lnTo>
                    <a:pt x="13" y="882"/>
                  </a:lnTo>
                  <a:close/>
                  <a:moveTo>
                    <a:pt x="13" y="908"/>
                  </a:moveTo>
                  <a:lnTo>
                    <a:pt x="13" y="921"/>
                  </a:lnTo>
                  <a:lnTo>
                    <a:pt x="0" y="921"/>
                  </a:lnTo>
                  <a:lnTo>
                    <a:pt x="0" y="908"/>
                  </a:lnTo>
                  <a:lnTo>
                    <a:pt x="13" y="908"/>
                  </a:lnTo>
                  <a:close/>
                  <a:moveTo>
                    <a:pt x="13" y="933"/>
                  </a:moveTo>
                  <a:lnTo>
                    <a:pt x="13" y="947"/>
                  </a:lnTo>
                  <a:lnTo>
                    <a:pt x="0" y="947"/>
                  </a:lnTo>
                  <a:lnTo>
                    <a:pt x="0" y="933"/>
                  </a:lnTo>
                  <a:lnTo>
                    <a:pt x="13" y="933"/>
                  </a:lnTo>
                  <a:close/>
                  <a:moveTo>
                    <a:pt x="13" y="960"/>
                  </a:moveTo>
                  <a:lnTo>
                    <a:pt x="13" y="972"/>
                  </a:lnTo>
                  <a:lnTo>
                    <a:pt x="0" y="972"/>
                  </a:lnTo>
                  <a:lnTo>
                    <a:pt x="0" y="960"/>
                  </a:lnTo>
                  <a:lnTo>
                    <a:pt x="13" y="960"/>
                  </a:lnTo>
                  <a:close/>
                  <a:moveTo>
                    <a:pt x="13" y="985"/>
                  </a:moveTo>
                  <a:lnTo>
                    <a:pt x="13" y="999"/>
                  </a:lnTo>
                  <a:lnTo>
                    <a:pt x="0" y="999"/>
                  </a:lnTo>
                  <a:lnTo>
                    <a:pt x="0" y="985"/>
                  </a:lnTo>
                  <a:lnTo>
                    <a:pt x="13" y="985"/>
                  </a:lnTo>
                  <a:close/>
                  <a:moveTo>
                    <a:pt x="13" y="1011"/>
                  </a:moveTo>
                  <a:lnTo>
                    <a:pt x="13" y="1024"/>
                  </a:lnTo>
                  <a:lnTo>
                    <a:pt x="0" y="1024"/>
                  </a:lnTo>
                  <a:lnTo>
                    <a:pt x="0" y="1011"/>
                  </a:lnTo>
                  <a:lnTo>
                    <a:pt x="13" y="1011"/>
                  </a:lnTo>
                  <a:close/>
                  <a:moveTo>
                    <a:pt x="13" y="1037"/>
                  </a:moveTo>
                  <a:lnTo>
                    <a:pt x="13" y="1050"/>
                  </a:lnTo>
                  <a:lnTo>
                    <a:pt x="0" y="1050"/>
                  </a:lnTo>
                  <a:lnTo>
                    <a:pt x="0" y="1037"/>
                  </a:lnTo>
                  <a:lnTo>
                    <a:pt x="13" y="1037"/>
                  </a:lnTo>
                  <a:close/>
                  <a:moveTo>
                    <a:pt x="13" y="1063"/>
                  </a:moveTo>
                  <a:lnTo>
                    <a:pt x="13" y="1076"/>
                  </a:lnTo>
                  <a:lnTo>
                    <a:pt x="0" y="1076"/>
                  </a:lnTo>
                  <a:lnTo>
                    <a:pt x="0" y="1063"/>
                  </a:lnTo>
                  <a:lnTo>
                    <a:pt x="13" y="1063"/>
                  </a:lnTo>
                  <a:close/>
                  <a:moveTo>
                    <a:pt x="13" y="1089"/>
                  </a:moveTo>
                  <a:lnTo>
                    <a:pt x="13" y="1102"/>
                  </a:lnTo>
                  <a:lnTo>
                    <a:pt x="0" y="1102"/>
                  </a:lnTo>
                  <a:lnTo>
                    <a:pt x="0" y="1089"/>
                  </a:lnTo>
                  <a:lnTo>
                    <a:pt x="13" y="1089"/>
                  </a:lnTo>
                  <a:close/>
                  <a:moveTo>
                    <a:pt x="13" y="1115"/>
                  </a:moveTo>
                  <a:lnTo>
                    <a:pt x="13" y="1128"/>
                  </a:lnTo>
                  <a:lnTo>
                    <a:pt x="0" y="1128"/>
                  </a:lnTo>
                  <a:lnTo>
                    <a:pt x="0" y="1115"/>
                  </a:lnTo>
                  <a:lnTo>
                    <a:pt x="13" y="1115"/>
                  </a:lnTo>
                  <a:close/>
                  <a:moveTo>
                    <a:pt x="13" y="1141"/>
                  </a:moveTo>
                  <a:lnTo>
                    <a:pt x="13" y="1154"/>
                  </a:lnTo>
                  <a:lnTo>
                    <a:pt x="0" y="1154"/>
                  </a:lnTo>
                  <a:lnTo>
                    <a:pt x="0" y="1141"/>
                  </a:lnTo>
                  <a:lnTo>
                    <a:pt x="13" y="1141"/>
                  </a:lnTo>
                  <a:close/>
                  <a:moveTo>
                    <a:pt x="13" y="1167"/>
                  </a:moveTo>
                  <a:lnTo>
                    <a:pt x="13" y="1180"/>
                  </a:lnTo>
                  <a:lnTo>
                    <a:pt x="0" y="1180"/>
                  </a:lnTo>
                  <a:lnTo>
                    <a:pt x="0" y="1167"/>
                  </a:lnTo>
                  <a:lnTo>
                    <a:pt x="13" y="1167"/>
                  </a:lnTo>
                  <a:close/>
                  <a:moveTo>
                    <a:pt x="13" y="1193"/>
                  </a:moveTo>
                  <a:lnTo>
                    <a:pt x="13" y="1206"/>
                  </a:lnTo>
                  <a:lnTo>
                    <a:pt x="0" y="1206"/>
                  </a:lnTo>
                  <a:lnTo>
                    <a:pt x="0" y="1193"/>
                  </a:lnTo>
                  <a:lnTo>
                    <a:pt x="13" y="1193"/>
                  </a:lnTo>
                  <a:close/>
                  <a:moveTo>
                    <a:pt x="13" y="1219"/>
                  </a:moveTo>
                  <a:lnTo>
                    <a:pt x="13" y="1232"/>
                  </a:lnTo>
                  <a:lnTo>
                    <a:pt x="0" y="1232"/>
                  </a:lnTo>
                  <a:lnTo>
                    <a:pt x="0" y="1219"/>
                  </a:lnTo>
                  <a:lnTo>
                    <a:pt x="13" y="1219"/>
                  </a:lnTo>
                  <a:close/>
                  <a:moveTo>
                    <a:pt x="13" y="1245"/>
                  </a:moveTo>
                  <a:lnTo>
                    <a:pt x="13" y="1258"/>
                  </a:lnTo>
                  <a:lnTo>
                    <a:pt x="0" y="1258"/>
                  </a:lnTo>
                  <a:lnTo>
                    <a:pt x="0" y="1245"/>
                  </a:lnTo>
                  <a:lnTo>
                    <a:pt x="13" y="1245"/>
                  </a:lnTo>
                  <a:close/>
                  <a:moveTo>
                    <a:pt x="13" y="1271"/>
                  </a:moveTo>
                  <a:lnTo>
                    <a:pt x="13" y="1284"/>
                  </a:lnTo>
                  <a:lnTo>
                    <a:pt x="0" y="1284"/>
                  </a:lnTo>
                  <a:lnTo>
                    <a:pt x="0" y="1271"/>
                  </a:lnTo>
                  <a:lnTo>
                    <a:pt x="13" y="1271"/>
                  </a:lnTo>
                  <a:close/>
                  <a:moveTo>
                    <a:pt x="13" y="1297"/>
                  </a:moveTo>
                  <a:lnTo>
                    <a:pt x="13" y="1310"/>
                  </a:lnTo>
                  <a:lnTo>
                    <a:pt x="0" y="1310"/>
                  </a:lnTo>
                  <a:lnTo>
                    <a:pt x="0" y="1297"/>
                  </a:lnTo>
                  <a:lnTo>
                    <a:pt x="13" y="1297"/>
                  </a:lnTo>
                  <a:close/>
                  <a:moveTo>
                    <a:pt x="13" y="1322"/>
                  </a:moveTo>
                  <a:lnTo>
                    <a:pt x="13" y="1335"/>
                  </a:lnTo>
                  <a:lnTo>
                    <a:pt x="0" y="1335"/>
                  </a:lnTo>
                  <a:lnTo>
                    <a:pt x="0" y="1322"/>
                  </a:lnTo>
                  <a:lnTo>
                    <a:pt x="13" y="1322"/>
                  </a:lnTo>
                  <a:close/>
                  <a:moveTo>
                    <a:pt x="13" y="1349"/>
                  </a:moveTo>
                  <a:lnTo>
                    <a:pt x="13" y="1361"/>
                  </a:lnTo>
                  <a:lnTo>
                    <a:pt x="0" y="1361"/>
                  </a:lnTo>
                  <a:lnTo>
                    <a:pt x="0" y="1349"/>
                  </a:lnTo>
                  <a:lnTo>
                    <a:pt x="13" y="1349"/>
                  </a:lnTo>
                  <a:close/>
                  <a:moveTo>
                    <a:pt x="13" y="1374"/>
                  </a:moveTo>
                  <a:lnTo>
                    <a:pt x="13" y="1387"/>
                  </a:lnTo>
                  <a:lnTo>
                    <a:pt x="0" y="1387"/>
                  </a:lnTo>
                  <a:lnTo>
                    <a:pt x="0" y="1374"/>
                  </a:lnTo>
                  <a:lnTo>
                    <a:pt x="13" y="1374"/>
                  </a:lnTo>
                  <a:close/>
                  <a:moveTo>
                    <a:pt x="13" y="1400"/>
                  </a:moveTo>
                  <a:lnTo>
                    <a:pt x="13" y="1413"/>
                  </a:lnTo>
                  <a:lnTo>
                    <a:pt x="0" y="1413"/>
                  </a:lnTo>
                  <a:lnTo>
                    <a:pt x="0" y="1400"/>
                  </a:lnTo>
                  <a:lnTo>
                    <a:pt x="13" y="1400"/>
                  </a:lnTo>
                  <a:close/>
                  <a:moveTo>
                    <a:pt x="13" y="1426"/>
                  </a:moveTo>
                  <a:lnTo>
                    <a:pt x="13" y="1439"/>
                  </a:lnTo>
                  <a:lnTo>
                    <a:pt x="0" y="1439"/>
                  </a:lnTo>
                  <a:lnTo>
                    <a:pt x="0" y="1426"/>
                  </a:lnTo>
                  <a:lnTo>
                    <a:pt x="13" y="1426"/>
                  </a:lnTo>
                  <a:close/>
                  <a:moveTo>
                    <a:pt x="13" y="1452"/>
                  </a:moveTo>
                  <a:lnTo>
                    <a:pt x="13" y="1465"/>
                  </a:lnTo>
                  <a:lnTo>
                    <a:pt x="0" y="1465"/>
                  </a:lnTo>
                  <a:lnTo>
                    <a:pt x="0" y="1452"/>
                  </a:lnTo>
                  <a:lnTo>
                    <a:pt x="13" y="1452"/>
                  </a:lnTo>
                  <a:close/>
                  <a:moveTo>
                    <a:pt x="13" y="1478"/>
                  </a:moveTo>
                  <a:lnTo>
                    <a:pt x="13" y="1491"/>
                  </a:lnTo>
                  <a:lnTo>
                    <a:pt x="0" y="1491"/>
                  </a:lnTo>
                  <a:lnTo>
                    <a:pt x="0" y="1478"/>
                  </a:lnTo>
                  <a:lnTo>
                    <a:pt x="13" y="1478"/>
                  </a:lnTo>
                  <a:close/>
                  <a:moveTo>
                    <a:pt x="13" y="1504"/>
                  </a:moveTo>
                  <a:lnTo>
                    <a:pt x="13" y="1517"/>
                  </a:lnTo>
                  <a:lnTo>
                    <a:pt x="0" y="1517"/>
                  </a:lnTo>
                  <a:lnTo>
                    <a:pt x="0" y="1504"/>
                  </a:lnTo>
                  <a:lnTo>
                    <a:pt x="13" y="1504"/>
                  </a:lnTo>
                  <a:close/>
                  <a:moveTo>
                    <a:pt x="13" y="1530"/>
                  </a:moveTo>
                  <a:lnTo>
                    <a:pt x="13" y="1543"/>
                  </a:lnTo>
                  <a:lnTo>
                    <a:pt x="0" y="1543"/>
                  </a:lnTo>
                  <a:lnTo>
                    <a:pt x="0" y="1530"/>
                  </a:lnTo>
                  <a:lnTo>
                    <a:pt x="13" y="1530"/>
                  </a:lnTo>
                  <a:close/>
                  <a:moveTo>
                    <a:pt x="13" y="1556"/>
                  </a:moveTo>
                  <a:lnTo>
                    <a:pt x="13" y="1569"/>
                  </a:lnTo>
                  <a:lnTo>
                    <a:pt x="0" y="1569"/>
                  </a:lnTo>
                  <a:lnTo>
                    <a:pt x="0" y="1556"/>
                  </a:lnTo>
                  <a:lnTo>
                    <a:pt x="13" y="1556"/>
                  </a:lnTo>
                  <a:close/>
                  <a:moveTo>
                    <a:pt x="13" y="1582"/>
                  </a:moveTo>
                  <a:lnTo>
                    <a:pt x="13" y="1595"/>
                  </a:lnTo>
                  <a:lnTo>
                    <a:pt x="0" y="1595"/>
                  </a:lnTo>
                  <a:lnTo>
                    <a:pt x="0" y="1582"/>
                  </a:lnTo>
                  <a:lnTo>
                    <a:pt x="13" y="1582"/>
                  </a:lnTo>
                  <a:close/>
                  <a:moveTo>
                    <a:pt x="13" y="1608"/>
                  </a:moveTo>
                  <a:lnTo>
                    <a:pt x="13" y="1621"/>
                  </a:lnTo>
                  <a:lnTo>
                    <a:pt x="0" y="1621"/>
                  </a:lnTo>
                  <a:lnTo>
                    <a:pt x="0" y="1608"/>
                  </a:lnTo>
                  <a:lnTo>
                    <a:pt x="13" y="1608"/>
                  </a:lnTo>
                  <a:close/>
                  <a:moveTo>
                    <a:pt x="13" y="1634"/>
                  </a:moveTo>
                  <a:lnTo>
                    <a:pt x="13" y="1647"/>
                  </a:lnTo>
                  <a:lnTo>
                    <a:pt x="0" y="1647"/>
                  </a:lnTo>
                  <a:lnTo>
                    <a:pt x="0" y="1634"/>
                  </a:lnTo>
                  <a:lnTo>
                    <a:pt x="13" y="1634"/>
                  </a:lnTo>
                  <a:close/>
                  <a:moveTo>
                    <a:pt x="13" y="1660"/>
                  </a:moveTo>
                  <a:lnTo>
                    <a:pt x="13" y="1672"/>
                  </a:lnTo>
                  <a:lnTo>
                    <a:pt x="0" y="1672"/>
                  </a:lnTo>
                  <a:lnTo>
                    <a:pt x="0" y="1660"/>
                  </a:lnTo>
                  <a:lnTo>
                    <a:pt x="13" y="1660"/>
                  </a:lnTo>
                  <a:close/>
                  <a:moveTo>
                    <a:pt x="13" y="1686"/>
                  </a:moveTo>
                  <a:lnTo>
                    <a:pt x="13" y="1699"/>
                  </a:lnTo>
                  <a:lnTo>
                    <a:pt x="0" y="1699"/>
                  </a:lnTo>
                  <a:lnTo>
                    <a:pt x="0" y="1686"/>
                  </a:lnTo>
                  <a:lnTo>
                    <a:pt x="13" y="1686"/>
                  </a:lnTo>
                  <a:close/>
                  <a:moveTo>
                    <a:pt x="13" y="1711"/>
                  </a:moveTo>
                  <a:lnTo>
                    <a:pt x="13" y="1724"/>
                  </a:lnTo>
                  <a:lnTo>
                    <a:pt x="0" y="1724"/>
                  </a:lnTo>
                  <a:lnTo>
                    <a:pt x="0" y="1711"/>
                  </a:lnTo>
                  <a:lnTo>
                    <a:pt x="13" y="1711"/>
                  </a:lnTo>
                  <a:close/>
                  <a:moveTo>
                    <a:pt x="13" y="1738"/>
                  </a:moveTo>
                  <a:lnTo>
                    <a:pt x="13" y="1750"/>
                  </a:lnTo>
                  <a:lnTo>
                    <a:pt x="0" y="1750"/>
                  </a:lnTo>
                  <a:lnTo>
                    <a:pt x="0" y="1738"/>
                  </a:lnTo>
                  <a:lnTo>
                    <a:pt x="13" y="1738"/>
                  </a:lnTo>
                  <a:close/>
                  <a:moveTo>
                    <a:pt x="13" y="1763"/>
                  </a:moveTo>
                  <a:lnTo>
                    <a:pt x="13" y="1776"/>
                  </a:lnTo>
                  <a:lnTo>
                    <a:pt x="0" y="1776"/>
                  </a:lnTo>
                  <a:lnTo>
                    <a:pt x="0" y="1763"/>
                  </a:lnTo>
                  <a:lnTo>
                    <a:pt x="13" y="1763"/>
                  </a:lnTo>
                  <a:close/>
                  <a:moveTo>
                    <a:pt x="13" y="1789"/>
                  </a:moveTo>
                  <a:lnTo>
                    <a:pt x="13" y="1802"/>
                  </a:lnTo>
                  <a:lnTo>
                    <a:pt x="0" y="1802"/>
                  </a:lnTo>
                  <a:lnTo>
                    <a:pt x="0" y="1789"/>
                  </a:lnTo>
                  <a:lnTo>
                    <a:pt x="13" y="1789"/>
                  </a:lnTo>
                  <a:close/>
                  <a:moveTo>
                    <a:pt x="13" y="1815"/>
                  </a:moveTo>
                  <a:lnTo>
                    <a:pt x="13" y="1828"/>
                  </a:lnTo>
                  <a:lnTo>
                    <a:pt x="0" y="1828"/>
                  </a:lnTo>
                  <a:lnTo>
                    <a:pt x="0" y="1815"/>
                  </a:lnTo>
                  <a:lnTo>
                    <a:pt x="13" y="1815"/>
                  </a:lnTo>
                  <a:close/>
                  <a:moveTo>
                    <a:pt x="13" y="1841"/>
                  </a:moveTo>
                  <a:lnTo>
                    <a:pt x="13" y="1854"/>
                  </a:lnTo>
                  <a:lnTo>
                    <a:pt x="0" y="1854"/>
                  </a:lnTo>
                  <a:lnTo>
                    <a:pt x="0" y="1841"/>
                  </a:lnTo>
                  <a:lnTo>
                    <a:pt x="13" y="1841"/>
                  </a:lnTo>
                  <a:close/>
                  <a:moveTo>
                    <a:pt x="13" y="1867"/>
                  </a:moveTo>
                  <a:lnTo>
                    <a:pt x="13" y="1880"/>
                  </a:lnTo>
                  <a:lnTo>
                    <a:pt x="0" y="1880"/>
                  </a:lnTo>
                  <a:lnTo>
                    <a:pt x="0" y="1867"/>
                  </a:lnTo>
                  <a:lnTo>
                    <a:pt x="13" y="1867"/>
                  </a:lnTo>
                  <a:close/>
                  <a:moveTo>
                    <a:pt x="13" y="1893"/>
                  </a:moveTo>
                  <a:lnTo>
                    <a:pt x="13" y="1906"/>
                  </a:lnTo>
                  <a:lnTo>
                    <a:pt x="0" y="1906"/>
                  </a:lnTo>
                  <a:lnTo>
                    <a:pt x="0" y="1893"/>
                  </a:lnTo>
                  <a:lnTo>
                    <a:pt x="13" y="1893"/>
                  </a:lnTo>
                  <a:close/>
                  <a:moveTo>
                    <a:pt x="13" y="1919"/>
                  </a:moveTo>
                  <a:lnTo>
                    <a:pt x="13" y="1932"/>
                  </a:lnTo>
                  <a:lnTo>
                    <a:pt x="0" y="1932"/>
                  </a:lnTo>
                  <a:lnTo>
                    <a:pt x="0" y="1919"/>
                  </a:lnTo>
                  <a:lnTo>
                    <a:pt x="13" y="1919"/>
                  </a:lnTo>
                  <a:close/>
                  <a:moveTo>
                    <a:pt x="13" y="1945"/>
                  </a:moveTo>
                  <a:lnTo>
                    <a:pt x="13" y="1958"/>
                  </a:lnTo>
                  <a:lnTo>
                    <a:pt x="0" y="1958"/>
                  </a:lnTo>
                  <a:lnTo>
                    <a:pt x="0" y="1945"/>
                  </a:lnTo>
                  <a:lnTo>
                    <a:pt x="13" y="1945"/>
                  </a:lnTo>
                  <a:close/>
                  <a:moveTo>
                    <a:pt x="13" y="1971"/>
                  </a:moveTo>
                  <a:lnTo>
                    <a:pt x="13" y="1984"/>
                  </a:lnTo>
                  <a:lnTo>
                    <a:pt x="0" y="1984"/>
                  </a:lnTo>
                  <a:lnTo>
                    <a:pt x="0" y="1971"/>
                  </a:lnTo>
                  <a:lnTo>
                    <a:pt x="13" y="1971"/>
                  </a:lnTo>
                  <a:close/>
                  <a:moveTo>
                    <a:pt x="13" y="1997"/>
                  </a:moveTo>
                  <a:lnTo>
                    <a:pt x="13" y="2010"/>
                  </a:lnTo>
                  <a:lnTo>
                    <a:pt x="0" y="2010"/>
                  </a:lnTo>
                  <a:lnTo>
                    <a:pt x="0" y="1997"/>
                  </a:lnTo>
                  <a:lnTo>
                    <a:pt x="13" y="1997"/>
                  </a:lnTo>
                  <a:close/>
                  <a:moveTo>
                    <a:pt x="13" y="2023"/>
                  </a:moveTo>
                  <a:lnTo>
                    <a:pt x="13" y="2036"/>
                  </a:lnTo>
                  <a:lnTo>
                    <a:pt x="0" y="2036"/>
                  </a:lnTo>
                  <a:lnTo>
                    <a:pt x="0" y="2023"/>
                  </a:lnTo>
                  <a:lnTo>
                    <a:pt x="13" y="2023"/>
                  </a:lnTo>
                  <a:close/>
                  <a:moveTo>
                    <a:pt x="13" y="2049"/>
                  </a:moveTo>
                  <a:lnTo>
                    <a:pt x="13" y="2061"/>
                  </a:lnTo>
                  <a:lnTo>
                    <a:pt x="0" y="2061"/>
                  </a:lnTo>
                  <a:lnTo>
                    <a:pt x="0" y="2049"/>
                  </a:lnTo>
                  <a:lnTo>
                    <a:pt x="13" y="2049"/>
                  </a:lnTo>
                  <a:close/>
                  <a:moveTo>
                    <a:pt x="13" y="2075"/>
                  </a:moveTo>
                  <a:lnTo>
                    <a:pt x="13" y="2088"/>
                  </a:lnTo>
                  <a:lnTo>
                    <a:pt x="0" y="2088"/>
                  </a:lnTo>
                  <a:lnTo>
                    <a:pt x="0" y="2075"/>
                  </a:lnTo>
                  <a:lnTo>
                    <a:pt x="13" y="2075"/>
                  </a:lnTo>
                  <a:close/>
                  <a:moveTo>
                    <a:pt x="13" y="2100"/>
                  </a:moveTo>
                  <a:lnTo>
                    <a:pt x="13" y="2113"/>
                  </a:lnTo>
                  <a:lnTo>
                    <a:pt x="0" y="2113"/>
                  </a:lnTo>
                  <a:lnTo>
                    <a:pt x="0" y="2100"/>
                  </a:lnTo>
                  <a:lnTo>
                    <a:pt x="13" y="2100"/>
                  </a:lnTo>
                  <a:close/>
                  <a:moveTo>
                    <a:pt x="13" y="2126"/>
                  </a:moveTo>
                  <a:lnTo>
                    <a:pt x="13" y="2139"/>
                  </a:lnTo>
                  <a:lnTo>
                    <a:pt x="0" y="2139"/>
                  </a:lnTo>
                  <a:lnTo>
                    <a:pt x="0" y="2126"/>
                  </a:lnTo>
                  <a:lnTo>
                    <a:pt x="13" y="2126"/>
                  </a:lnTo>
                  <a:close/>
                  <a:moveTo>
                    <a:pt x="13" y="2152"/>
                  </a:moveTo>
                  <a:lnTo>
                    <a:pt x="13" y="2165"/>
                  </a:lnTo>
                  <a:lnTo>
                    <a:pt x="0" y="2165"/>
                  </a:lnTo>
                  <a:lnTo>
                    <a:pt x="0" y="2152"/>
                  </a:lnTo>
                  <a:lnTo>
                    <a:pt x="13" y="2152"/>
                  </a:lnTo>
                  <a:close/>
                  <a:moveTo>
                    <a:pt x="13" y="2178"/>
                  </a:moveTo>
                  <a:lnTo>
                    <a:pt x="13" y="2191"/>
                  </a:lnTo>
                  <a:lnTo>
                    <a:pt x="0" y="2191"/>
                  </a:lnTo>
                  <a:lnTo>
                    <a:pt x="0" y="2178"/>
                  </a:lnTo>
                  <a:lnTo>
                    <a:pt x="13" y="2178"/>
                  </a:lnTo>
                  <a:close/>
                  <a:moveTo>
                    <a:pt x="13" y="2204"/>
                  </a:moveTo>
                  <a:lnTo>
                    <a:pt x="13" y="2217"/>
                  </a:lnTo>
                  <a:lnTo>
                    <a:pt x="0" y="2217"/>
                  </a:lnTo>
                  <a:lnTo>
                    <a:pt x="0" y="2204"/>
                  </a:lnTo>
                  <a:lnTo>
                    <a:pt x="13" y="2204"/>
                  </a:lnTo>
                  <a:close/>
                  <a:moveTo>
                    <a:pt x="13" y="2230"/>
                  </a:moveTo>
                  <a:lnTo>
                    <a:pt x="13" y="2243"/>
                  </a:lnTo>
                  <a:lnTo>
                    <a:pt x="0" y="2243"/>
                  </a:lnTo>
                  <a:lnTo>
                    <a:pt x="0" y="2230"/>
                  </a:lnTo>
                  <a:lnTo>
                    <a:pt x="13" y="2230"/>
                  </a:lnTo>
                  <a:close/>
                  <a:moveTo>
                    <a:pt x="13" y="2256"/>
                  </a:moveTo>
                  <a:lnTo>
                    <a:pt x="13" y="2269"/>
                  </a:lnTo>
                  <a:lnTo>
                    <a:pt x="0" y="2269"/>
                  </a:lnTo>
                  <a:lnTo>
                    <a:pt x="0" y="2256"/>
                  </a:lnTo>
                  <a:lnTo>
                    <a:pt x="13" y="2256"/>
                  </a:lnTo>
                  <a:close/>
                  <a:moveTo>
                    <a:pt x="13" y="2282"/>
                  </a:moveTo>
                  <a:lnTo>
                    <a:pt x="13" y="2285"/>
                  </a:lnTo>
                  <a:lnTo>
                    <a:pt x="0" y="2285"/>
                  </a:lnTo>
                  <a:lnTo>
                    <a:pt x="0" y="2282"/>
                  </a:lnTo>
                  <a:lnTo>
                    <a:pt x="13" y="2282"/>
                  </a:lnTo>
                  <a:close/>
                </a:path>
              </a:pathLst>
            </a:custGeom>
            <a:solidFill>
              <a:srgbClr val="000000"/>
            </a:solidFill>
            <a:ln w="0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4" name="Freeform 51">
              <a:extLst>
                <a:ext uri="{FF2B5EF4-FFF2-40B4-BE49-F238E27FC236}">
                  <a16:creationId xmlns:a16="http://schemas.microsoft.com/office/drawing/2014/main" id="{0C269449-80ED-43C8-874D-57B6CFD053D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468" y="1978"/>
              <a:ext cx="13" cy="2285"/>
            </a:xfrm>
            <a:custGeom>
              <a:avLst/>
              <a:gdLst>
                <a:gd name="T0" fmla="*/ 13 w 13"/>
                <a:gd name="T1" fmla="*/ 39 h 2285"/>
                <a:gd name="T2" fmla="*/ 0 w 13"/>
                <a:gd name="T3" fmla="*/ 52 h 2285"/>
                <a:gd name="T4" fmla="*/ 13 w 13"/>
                <a:gd name="T5" fmla="*/ 104 h 2285"/>
                <a:gd name="T6" fmla="*/ 0 w 13"/>
                <a:gd name="T7" fmla="*/ 143 h 2285"/>
                <a:gd name="T8" fmla="*/ 13 w 13"/>
                <a:gd name="T9" fmla="*/ 156 h 2285"/>
                <a:gd name="T10" fmla="*/ 13 w 13"/>
                <a:gd name="T11" fmla="*/ 221 h 2285"/>
                <a:gd name="T12" fmla="*/ 0 w 13"/>
                <a:gd name="T13" fmla="*/ 233 h 2285"/>
                <a:gd name="T14" fmla="*/ 13 w 13"/>
                <a:gd name="T15" fmla="*/ 285 h 2285"/>
                <a:gd name="T16" fmla="*/ 0 w 13"/>
                <a:gd name="T17" fmla="*/ 324 h 2285"/>
                <a:gd name="T18" fmla="*/ 13 w 13"/>
                <a:gd name="T19" fmla="*/ 337 h 2285"/>
                <a:gd name="T20" fmla="*/ 13 w 13"/>
                <a:gd name="T21" fmla="*/ 402 h 2285"/>
                <a:gd name="T22" fmla="*/ 0 w 13"/>
                <a:gd name="T23" fmla="*/ 415 h 2285"/>
                <a:gd name="T24" fmla="*/ 13 w 13"/>
                <a:gd name="T25" fmla="*/ 467 h 2285"/>
                <a:gd name="T26" fmla="*/ 0 w 13"/>
                <a:gd name="T27" fmla="*/ 506 h 2285"/>
                <a:gd name="T28" fmla="*/ 13 w 13"/>
                <a:gd name="T29" fmla="*/ 519 h 2285"/>
                <a:gd name="T30" fmla="*/ 13 w 13"/>
                <a:gd name="T31" fmla="*/ 583 h 2285"/>
                <a:gd name="T32" fmla="*/ 0 w 13"/>
                <a:gd name="T33" fmla="*/ 596 h 2285"/>
                <a:gd name="T34" fmla="*/ 13 w 13"/>
                <a:gd name="T35" fmla="*/ 648 h 2285"/>
                <a:gd name="T36" fmla="*/ 0 w 13"/>
                <a:gd name="T37" fmla="*/ 687 h 2285"/>
                <a:gd name="T38" fmla="*/ 13 w 13"/>
                <a:gd name="T39" fmla="*/ 700 h 2285"/>
                <a:gd name="T40" fmla="*/ 13 w 13"/>
                <a:gd name="T41" fmla="*/ 765 h 2285"/>
                <a:gd name="T42" fmla="*/ 0 w 13"/>
                <a:gd name="T43" fmla="*/ 778 h 2285"/>
                <a:gd name="T44" fmla="*/ 13 w 13"/>
                <a:gd name="T45" fmla="*/ 830 h 2285"/>
                <a:gd name="T46" fmla="*/ 0 w 13"/>
                <a:gd name="T47" fmla="*/ 869 h 2285"/>
                <a:gd name="T48" fmla="*/ 13 w 13"/>
                <a:gd name="T49" fmla="*/ 882 h 2285"/>
                <a:gd name="T50" fmla="*/ 13 w 13"/>
                <a:gd name="T51" fmla="*/ 947 h 2285"/>
                <a:gd name="T52" fmla="*/ 0 w 13"/>
                <a:gd name="T53" fmla="*/ 960 h 2285"/>
                <a:gd name="T54" fmla="*/ 13 w 13"/>
                <a:gd name="T55" fmla="*/ 1011 h 2285"/>
                <a:gd name="T56" fmla="*/ 0 w 13"/>
                <a:gd name="T57" fmla="*/ 1050 h 2285"/>
                <a:gd name="T58" fmla="*/ 13 w 13"/>
                <a:gd name="T59" fmla="*/ 1063 h 2285"/>
                <a:gd name="T60" fmla="*/ 13 w 13"/>
                <a:gd name="T61" fmla="*/ 1128 h 2285"/>
                <a:gd name="T62" fmla="*/ 0 w 13"/>
                <a:gd name="T63" fmla="*/ 1141 h 2285"/>
                <a:gd name="T64" fmla="*/ 13 w 13"/>
                <a:gd name="T65" fmla="*/ 1193 h 2285"/>
                <a:gd name="T66" fmla="*/ 0 w 13"/>
                <a:gd name="T67" fmla="*/ 1232 h 2285"/>
                <a:gd name="T68" fmla="*/ 13 w 13"/>
                <a:gd name="T69" fmla="*/ 1245 h 2285"/>
                <a:gd name="T70" fmla="*/ 13 w 13"/>
                <a:gd name="T71" fmla="*/ 1310 h 2285"/>
                <a:gd name="T72" fmla="*/ 0 w 13"/>
                <a:gd name="T73" fmla="*/ 1322 h 2285"/>
                <a:gd name="T74" fmla="*/ 13 w 13"/>
                <a:gd name="T75" fmla="*/ 1374 h 2285"/>
                <a:gd name="T76" fmla="*/ 0 w 13"/>
                <a:gd name="T77" fmla="*/ 1413 h 2285"/>
                <a:gd name="T78" fmla="*/ 13 w 13"/>
                <a:gd name="T79" fmla="*/ 1426 h 2285"/>
                <a:gd name="T80" fmla="*/ 13 w 13"/>
                <a:gd name="T81" fmla="*/ 1491 h 2285"/>
                <a:gd name="T82" fmla="*/ 0 w 13"/>
                <a:gd name="T83" fmla="*/ 1504 h 2285"/>
                <a:gd name="T84" fmla="*/ 13 w 13"/>
                <a:gd name="T85" fmla="*/ 1556 h 2285"/>
                <a:gd name="T86" fmla="*/ 0 w 13"/>
                <a:gd name="T87" fmla="*/ 1595 h 2285"/>
                <a:gd name="T88" fmla="*/ 13 w 13"/>
                <a:gd name="T89" fmla="*/ 1608 h 2285"/>
                <a:gd name="T90" fmla="*/ 13 w 13"/>
                <a:gd name="T91" fmla="*/ 1672 h 2285"/>
                <a:gd name="T92" fmla="*/ 0 w 13"/>
                <a:gd name="T93" fmla="*/ 1686 h 2285"/>
                <a:gd name="T94" fmla="*/ 13 w 13"/>
                <a:gd name="T95" fmla="*/ 1738 h 2285"/>
                <a:gd name="T96" fmla="*/ 0 w 13"/>
                <a:gd name="T97" fmla="*/ 1776 h 2285"/>
                <a:gd name="T98" fmla="*/ 13 w 13"/>
                <a:gd name="T99" fmla="*/ 1789 h 2285"/>
                <a:gd name="T100" fmla="*/ 13 w 13"/>
                <a:gd name="T101" fmla="*/ 1854 h 2285"/>
                <a:gd name="T102" fmla="*/ 0 w 13"/>
                <a:gd name="T103" fmla="*/ 1867 h 2285"/>
                <a:gd name="T104" fmla="*/ 13 w 13"/>
                <a:gd name="T105" fmla="*/ 1919 h 2285"/>
                <a:gd name="T106" fmla="*/ 0 w 13"/>
                <a:gd name="T107" fmla="*/ 1958 h 2285"/>
                <a:gd name="T108" fmla="*/ 13 w 13"/>
                <a:gd name="T109" fmla="*/ 1971 h 2285"/>
                <a:gd name="T110" fmla="*/ 13 w 13"/>
                <a:gd name="T111" fmla="*/ 2036 h 2285"/>
                <a:gd name="T112" fmla="*/ 0 w 13"/>
                <a:gd name="T113" fmla="*/ 2049 h 2285"/>
                <a:gd name="T114" fmla="*/ 13 w 13"/>
                <a:gd name="T115" fmla="*/ 2100 h 2285"/>
                <a:gd name="T116" fmla="*/ 0 w 13"/>
                <a:gd name="T117" fmla="*/ 2139 h 2285"/>
                <a:gd name="T118" fmla="*/ 13 w 13"/>
                <a:gd name="T119" fmla="*/ 2152 h 2285"/>
                <a:gd name="T120" fmla="*/ 13 w 13"/>
                <a:gd name="T121" fmla="*/ 2217 h 2285"/>
                <a:gd name="T122" fmla="*/ 0 w 13"/>
                <a:gd name="T123" fmla="*/ 2230 h 2285"/>
                <a:gd name="T124" fmla="*/ 13 w 13"/>
                <a:gd name="T125" fmla="*/ 2282 h 22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3" h="2285">
                  <a:moveTo>
                    <a:pt x="13" y="0"/>
                  </a:moveTo>
                  <a:lnTo>
                    <a:pt x="13" y="13"/>
                  </a:lnTo>
                  <a:lnTo>
                    <a:pt x="0" y="13"/>
                  </a:lnTo>
                  <a:lnTo>
                    <a:pt x="0" y="0"/>
                  </a:lnTo>
                  <a:lnTo>
                    <a:pt x="13" y="0"/>
                  </a:lnTo>
                  <a:close/>
                  <a:moveTo>
                    <a:pt x="13" y="26"/>
                  </a:moveTo>
                  <a:lnTo>
                    <a:pt x="13" y="39"/>
                  </a:lnTo>
                  <a:lnTo>
                    <a:pt x="0" y="39"/>
                  </a:lnTo>
                  <a:lnTo>
                    <a:pt x="0" y="26"/>
                  </a:lnTo>
                  <a:lnTo>
                    <a:pt x="13" y="26"/>
                  </a:lnTo>
                  <a:close/>
                  <a:moveTo>
                    <a:pt x="13" y="52"/>
                  </a:moveTo>
                  <a:lnTo>
                    <a:pt x="13" y="65"/>
                  </a:lnTo>
                  <a:lnTo>
                    <a:pt x="0" y="65"/>
                  </a:lnTo>
                  <a:lnTo>
                    <a:pt x="0" y="52"/>
                  </a:lnTo>
                  <a:lnTo>
                    <a:pt x="13" y="52"/>
                  </a:lnTo>
                  <a:close/>
                  <a:moveTo>
                    <a:pt x="13" y="78"/>
                  </a:moveTo>
                  <a:lnTo>
                    <a:pt x="13" y="91"/>
                  </a:lnTo>
                  <a:lnTo>
                    <a:pt x="0" y="91"/>
                  </a:lnTo>
                  <a:lnTo>
                    <a:pt x="0" y="78"/>
                  </a:lnTo>
                  <a:lnTo>
                    <a:pt x="13" y="78"/>
                  </a:lnTo>
                  <a:close/>
                  <a:moveTo>
                    <a:pt x="13" y="104"/>
                  </a:moveTo>
                  <a:lnTo>
                    <a:pt x="13" y="117"/>
                  </a:lnTo>
                  <a:lnTo>
                    <a:pt x="0" y="117"/>
                  </a:lnTo>
                  <a:lnTo>
                    <a:pt x="0" y="104"/>
                  </a:lnTo>
                  <a:lnTo>
                    <a:pt x="13" y="104"/>
                  </a:lnTo>
                  <a:close/>
                  <a:moveTo>
                    <a:pt x="13" y="130"/>
                  </a:moveTo>
                  <a:lnTo>
                    <a:pt x="13" y="143"/>
                  </a:lnTo>
                  <a:lnTo>
                    <a:pt x="0" y="143"/>
                  </a:lnTo>
                  <a:lnTo>
                    <a:pt x="0" y="130"/>
                  </a:lnTo>
                  <a:lnTo>
                    <a:pt x="13" y="130"/>
                  </a:lnTo>
                  <a:close/>
                  <a:moveTo>
                    <a:pt x="13" y="156"/>
                  </a:moveTo>
                  <a:lnTo>
                    <a:pt x="13" y="169"/>
                  </a:lnTo>
                  <a:lnTo>
                    <a:pt x="0" y="169"/>
                  </a:lnTo>
                  <a:lnTo>
                    <a:pt x="0" y="156"/>
                  </a:lnTo>
                  <a:lnTo>
                    <a:pt x="13" y="156"/>
                  </a:lnTo>
                  <a:close/>
                  <a:moveTo>
                    <a:pt x="13" y="182"/>
                  </a:moveTo>
                  <a:lnTo>
                    <a:pt x="13" y="194"/>
                  </a:lnTo>
                  <a:lnTo>
                    <a:pt x="0" y="194"/>
                  </a:lnTo>
                  <a:lnTo>
                    <a:pt x="0" y="182"/>
                  </a:lnTo>
                  <a:lnTo>
                    <a:pt x="13" y="182"/>
                  </a:lnTo>
                  <a:close/>
                  <a:moveTo>
                    <a:pt x="13" y="208"/>
                  </a:moveTo>
                  <a:lnTo>
                    <a:pt x="13" y="221"/>
                  </a:lnTo>
                  <a:lnTo>
                    <a:pt x="0" y="221"/>
                  </a:lnTo>
                  <a:lnTo>
                    <a:pt x="0" y="208"/>
                  </a:lnTo>
                  <a:lnTo>
                    <a:pt x="13" y="208"/>
                  </a:lnTo>
                  <a:close/>
                  <a:moveTo>
                    <a:pt x="13" y="233"/>
                  </a:moveTo>
                  <a:lnTo>
                    <a:pt x="13" y="246"/>
                  </a:lnTo>
                  <a:lnTo>
                    <a:pt x="0" y="246"/>
                  </a:lnTo>
                  <a:lnTo>
                    <a:pt x="0" y="233"/>
                  </a:lnTo>
                  <a:lnTo>
                    <a:pt x="13" y="233"/>
                  </a:lnTo>
                  <a:close/>
                  <a:moveTo>
                    <a:pt x="13" y="259"/>
                  </a:moveTo>
                  <a:lnTo>
                    <a:pt x="13" y="272"/>
                  </a:lnTo>
                  <a:lnTo>
                    <a:pt x="0" y="272"/>
                  </a:lnTo>
                  <a:lnTo>
                    <a:pt x="0" y="259"/>
                  </a:lnTo>
                  <a:lnTo>
                    <a:pt x="13" y="259"/>
                  </a:lnTo>
                  <a:close/>
                  <a:moveTo>
                    <a:pt x="13" y="285"/>
                  </a:moveTo>
                  <a:lnTo>
                    <a:pt x="13" y="298"/>
                  </a:lnTo>
                  <a:lnTo>
                    <a:pt x="0" y="298"/>
                  </a:lnTo>
                  <a:lnTo>
                    <a:pt x="0" y="285"/>
                  </a:lnTo>
                  <a:lnTo>
                    <a:pt x="13" y="285"/>
                  </a:lnTo>
                  <a:close/>
                  <a:moveTo>
                    <a:pt x="13" y="311"/>
                  </a:moveTo>
                  <a:lnTo>
                    <a:pt x="13" y="324"/>
                  </a:lnTo>
                  <a:lnTo>
                    <a:pt x="0" y="324"/>
                  </a:lnTo>
                  <a:lnTo>
                    <a:pt x="0" y="311"/>
                  </a:lnTo>
                  <a:lnTo>
                    <a:pt x="13" y="311"/>
                  </a:lnTo>
                  <a:close/>
                  <a:moveTo>
                    <a:pt x="13" y="337"/>
                  </a:moveTo>
                  <a:lnTo>
                    <a:pt x="13" y="350"/>
                  </a:lnTo>
                  <a:lnTo>
                    <a:pt x="0" y="350"/>
                  </a:lnTo>
                  <a:lnTo>
                    <a:pt x="0" y="337"/>
                  </a:lnTo>
                  <a:lnTo>
                    <a:pt x="13" y="337"/>
                  </a:lnTo>
                  <a:close/>
                  <a:moveTo>
                    <a:pt x="13" y="363"/>
                  </a:moveTo>
                  <a:lnTo>
                    <a:pt x="13" y="376"/>
                  </a:lnTo>
                  <a:lnTo>
                    <a:pt x="0" y="376"/>
                  </a:lnTo>
                  <a:lnTo>
                    <a:pt x="0" y="363"/>
                  </a:lnTo>
                  <a:lnTo>
                    <a:pt x="13" y="363"/>
                  </a:lnTo>
                  <a:close/>
                  <a:moveTo>
                    <a:pt x="13" y="389"/>
                  </a:moveTo>
                  <a:lnTo>
                    <a:pt x="13" y="402"/>
                  </a:lnTo>
                  <a:lnTo>
                    <a:pt x="0" y="402"/>
                  </a:lnTo>
                  <a:lnTo>
                    <a:pt x="0" y="389"/>
                  </a:lnTo>
                  <a:lnTo>
                    <a:pt x="13" y="389"/>
                  </a:lnTo>
                  <a:close/>
                  <a:moveTo>
                    <a:pt x="13" y="415"/>
                  </a:moveTo>
                  <a:lnTo>
                    <a:pt x="13" y="428"/>
                  </a:lnTo>
                  <a:lnTo>
                    <a:pt x="0" y="428"/>
                  </a:lnTo>
                  <a:lnTo>
                    <a:pt x="0" y="415"/>
                  </a:lnTo>
                  <a:lnTo>
                    <a:pt x="13" y="415"/>
                  </a:lnTo>
                  <a:close/>
                  <a:moveTo>
                    <a:pt x="13" y="441"/>
                  </a:moveTo>
                  <a:lnTo>
                    <a:pt x="13" y="454"/>
                  </a:lnTo>
                  <a:lnTo>
                    <a:pt x="0" y="454"/>
                  </a:lnTo>
                  <a:lnTo>
                    <a:pt x="0" y="441"/>
                  </a:lnTo>
                  <a:lnTo>
                    <a:pt x="13" y="441"/>
                  </a:lnTo>
                  <a:close/>
                  <a:moveTo>
                    <a:pt x="13" y="467"/>
                  </a:moveTo>
                  <a:lnTo>
                    <a:pt x="13" y="480"/>
                  </a:lnTo>
                  <a:lnTo>
                    <a:pt x="0" y="480"/>
                  </a:lnTo>
                  <a:lnTo>
                    <a:pt x="0" y="467"/>
                  </a:lnTo>
                  <a:lnTo>
                    <a:pt x="13" y="467"/>
                  </a:lnTo>
                  <a:close/>
                  <a:moveTo>
                    <a:pt x="13" y="493"/>
                  </a:moveTo>
                  <a:lnTo>
                    <a:pt x="13" y="506"/>
                  </a:lnTo>
                  <a:lnTo>
                    <a:pt x="0" y="506"/>
                  </a:lnTo>
                  <a:lnTo>
                    <a:pt x="0" y="493"/>
                  </a:lnTo>
                  <a:lnTo>
                    <a:pt x="13" y="493"/>
                  </a:lnTo>
                  <a:close/>
                  <a:moveTo>
                    <a:pt x="13" y="519"/>
                  </a:moveTo>
                  <a:lnTo>
                    <a:pt x="13" y="532"/>
                  </a:lnTo>
                  <a:lnTo>
                    <a:pt x="0" y="532"/>
                  </a:lnTo>
                  <a:lnTo>
                    <a:pt x="0" y="519"/>
                  </a:lnTo>
                  <a:lnTo>
                    <a:pt x="13" y="519"/>
                  </a:lnTo>
                  <a:close/>
                  <a:moveTo>
                    <a:pt x="13" y="545"/>
                  </a:moveTo>
                  <a:lnTo>
                    <a:pt x="13" y="558"/>
                  </a:lnTo>
                  <a:lnTo>
                    <a:pt x="0" y="558"/>
                  </a:lnTo>
                  <a:lnTo>
                    <a:pt x="0" y="545"/>
                  </a:lnTo>
                  <a:lnTo>
                    <a:pt x="13" y="545"/>
                  </a:lnTo>
                  <a:close/>
                  <a:moveTo>
                    <a:pt x="13" y="571"/>
                  </a:moveTo>
                  <a:lnTo>
                    <a:pt x="13" y="583"/>
                  </a:lnTo>
                  <a:lnTo>
                    <a:pt x="0" y="583"/>
                  </a:lnTo>
                  <a:lnTo>
                    <a:pt x="0" y="571"/>
                  </a:lnTo>
                  <a:lnTo>
                    <a:pt x="13" y="571"/>
                  </a:lnTo>
                  <a:close/>
                  <a:moveTo>
                    <a:pt x="13" y="596"/>
                  </a:moveTo>
                  <a:lnTo>
                    <a:pt x="13" y="610"/>
                  </a:lnTo>
                  <a:lnTo>
                    <a:pt x="0" y="610"/>
                  </a:lnTo>
                  <a:lnTo>
                    <a:pt x="0" y="596"/>
                  </a:lnTo>
                  <a:lnTo>
                    <a:pt x="13" y="596"/>
                  </a:lnTo>
                  <a:close/>
                  <a:moveTo>
                    <a:pt x="13" y="622"/>
                  </a:moveTo>
                  <a:lnTo>
                    <a:pt x="13" y="635"/>
                  </a:lnTo>
                  <a:lnTo>
                    <a:pt x="0" y="635"/>
                  </a:lnTo>
                  <a:lnTo>
                    <a:pt x="0" y="622"/>
                  </a:lnTo>
                  <a:lnTo>
                    <a:pt x="13" y="622"/>
                  </a:lnTo>
                  <a:close/>
                  <a:moveTo>
                    <a:pt x="13" y="648"/>
                  </a:moveTo>
                  <a:lnTo>
                    <a:pt x="13" y="661"/>
                  </a:lnTo>
                  <a:lnTo>
                    <a:pt x="0" y="661"/>
                  </a:lnTo>
                  <a:lnTo>
                    <a:pt x="0" y="648"/>
                  </a:lnTo>
                  <a:lnTo>
                    <a:pt x="13" y="648"/>
                  </a:lnTo>
                  <a:close/>
                  <a:moveTo>
                    <a:pt x="13" y="674"/>
                  </a:moveTo>
                  <a:lnTo>
                    <a:pt x="13" y="687"/>
                  </a:lnTo>
                  <a:lnTo>
                    <a:pt x="0" y="687"/>
                  </a:lnTo>
                  <a:lnTo>
                    <a:pt x="0" y="674"/>
                  </a:lnTo>
                  <a:lnTo>
                    <a:pt x="13" y="674"/>
                  </a:lnTo>
                  <a:close/>
                  <a:moveTo>
                    <a:pt x="13" y="700"/>
                  </a:moveTo>
                  <a:lnTo>
                    <a:pt x="13" y="713"/>
                  </a:lnTo>
                  <a:lnTo>
                    <a:pt x="0" y="713"/>
                  </a:lnTo>
                  <a:lnTo>
                    <a:pt x="0" y="700"/>
                  </a:lnTo>
                  <a:lnTo>
                    <a:pt x="13" y="700"/>
                  </a:lnTo>
                  <a:close/>
                  <a:moveTo>
                    <a:pt x="13" y="726"/>
                  </a:moveTo>
                  <a:lnTo>
                    <a:pt x="13" y="739"/>
                  </a:lnTo>
                  <a:lnTo>
                    <a:pt x="0" y="739"/>
                  </a:lnTo>
                  <a:lnTo>
                    <a:pt x="0" y="726"/>
                  </a:lnTo>
                  <a:lnTo>
                    <a:pt x="13" y="726"/>
                  </a:lnTo>
                  <a:close/>
                  <a:moveTo>
                    <a:pt x="13" y="752"/>
                  </a:moveTo>
                  <a:lnTo>
                    <a:pt x="13" y="765"/>
                  </a:lnTo>
                  <a:lnTo>
                    <a:pt x="0" y="765"/>
                  </a:lnTo>
                  <a:lnTo>
                    <a:pt x="0" y="752"/>
                  </a:lnTo>
                  <a:lnTo>
                    <a:pt x="13" y="752"/>
                  </a:lnTo>
                  <a:close/>
                  <a:moveTo>
                    <a:pt x="13" y="778"/>
                  </a:moveTo>
                  <a:lnTo>
                    <a:pt x="13" y="791"/>
                  </a:lnTo>
                  <a:lnTo>
                    <a:pt x="0" y="791"/>
                  </a:lnTo>
                  <a:lnTo>
                    <a:pt x="0" y="778"/>
                  </a:lnTo>
                  <a:lnTo>
                    <a:pt x="13" y="778"/>
                  </a:lnTo>
                  <a:close/>
                  <a:moveTo>
                    <a:pt x="13" y="804"/>
                  </a:moveTo>
                  <a:lnTo>
                    <a:pt x="13" y="817"/>
                  </a:lnTo>
                  <a:lnTo>
                    <a:pt x="0" y="817"/>
                  </a:lnTo>
                  <a:lnTo>
                    <a:pt x="0" y="804"/>
                  </a:lnTo>
                  <a:lnTo>
                    <a:pt x="13" y="804"/>
                  </a:lnTo>
                  <a:close/>
                  <a:moveTo>
                    <a:pt x="13" y="830"/>
                  </a:moveTo>
                  <a:lnTo>
                    <a:pt x="13" y="843"/>
                  </a:lnTo>
                  <a:lnTo>
                    <a:pt x="0" y="843"/>
                  </a:lnTo>
                  <a:lnTo>
                    <a:pt x="0" y="830"/>
                  </a:lnTo>
                  <a:lnTo>
                    <a:pt x="13" y="830"/>
                  </a:lnTo>
                  <a:close/>
                  <a:moveTo>
                    <a:pt x="13" y="856"/>
                  </a:moveTo>
                  <a:lnTo>
                    <a:pt x="13" y="869"/>
                  </a:lnTo>
                  <a:lnTo>
                    <a:pt x="0" y="869"/>
                  </a:lnTo>
                  <a:lnTo>
                    <a:pt x="0" y="856"/>
                  </a:lnTo>
                  <a:lnTo>
                    <a:pt x="13" y="856"/>
                  </a:lnTo>
                  <a:close/>
                  <a:moveTo>
                    <a:pt x="13" y="882"/>
                  </a:moveTo>
                  <a:lnTo>
                    <a:pt x="13" y="895"/>
                  </a:lnTo>
                  <a:lnTo>
                    <a:pt x="0" y="895"/>
                  </a:lnTo>
                  <a:lnTo>
                    <a:pt x="0" y="882"/>
                  </a:lnTo>
                  <a:lnTo>
                    <a:pt x="13" y="882"/>
                  </a:lnTo>
                  <a:close/>
                  <a:moveTo>
                    <a:pt x="13" y="908"/>
                  </a:moveTo>
                  <a:lnTo>
                    <a:pt x="13" y="921"/>
                  </a:lnTo>
                  <a:lnTo>
                    <a:pt x="0" y="921"/>
                  </a:lnTo>
                  <a:lnTo>
                    <a:pt x="0" y="908"/>
                  </a:lnTo>
                  <a:lnTo>
                    <a:pt x="13" y="908"/>
                  </a:lnTo>
                  <a:close/>
                  <a:moveTo>
                    <a:pt x="13" y="933"/>
                  </a:moveTo>
                  <a:lnTo>
                    <a:pt x="13" y="947"/>
                  </a:lnTo>
                  <a:lnTo>
                    <a:pt x="0" y="947"/>
                  </a:lnTo>
                  <a:lnTo>
                    <a:pt x="0" y="933"/>
                  </a:lnTo>
                  <a:lnTo>
                    <a:pt x="13" y="933"/>
                  </a:lnTo>
                  <a:close/>
                  <a:moveTo>
                    <a:pt x="13" y="960"/>
                  </a:moveTo>
                  <a:lnTo>
                    <a:pt x="13" y="972"/>
                  </a:lnTo>
                  <a:lnTo>
                    <a:pt x="0" y="972"/>
                  </a:lnTo>
                  <a:lnTo>
                    <a:pt x="0" y="960"/>
                  </a:lnTo>
                  <a:lnTo>
                    <a:pt x="13" y="960"/>
                  </a:lnTo>
                  <a:close/>
                  <a:moveTo>
                    <a:pt x="13" y="985"/>
                  </a:moveTo>
                  <a:lnTo>
                    <a:pt x="13" y="999"/>
                  </a:lnTo>
                  <a:lnTo>
                    <a:pt x="0" y="999"/>
                  </a:lnTo>
                  <a:lnTo>
                    <a:pt x="0" y="985"/>
                  </a:lnTo>
                  <a:lnTo>
                    <a:pt x="13" y="985"/>
                  </a:lnTo>
                  <a:close/>
                  <a:moveTo>
                    <a:pt x="13" y="1011"/>
                  </a:moveTo>
                  <a:lnTo>
                    <a:pt x="13" y="1024"/>
                  </a:lnTo>
                  <a:lnTo>
                    <a:pt x="0" y="1024"/>
                  </a:lnTo>
                  <a:lnTo>
                    <a:pt x="0" y="1011"/>
                  </a:lnTo>
                  <a:lnTo>
                    <a:pt x="13" y="1011"/>
                  </a:lnTo>
                  <a:close/>
                  <a:moveTo>
                    <a:pt x="13" y="1037"/>
                  </a:moveTo>
                  <a:lnTo>
                    <a:pt x="13" y="1050"/>
                  </a:lnTo>
                  <a:lnTo>
                    <a:pt x="0" y="1050"/>
                  </a:lnTo>
                  <a:lnTo>
                    <a:pt x="0" y="1037"/>
                  </a:lnTo>
                  <a:lnTo>
                    <a:pt x="13" y="1037"/>
                  </a:lnTo>
                  <a:close/>
                  <a:moveTo>
                    <a:pt x="13" y="1063"/>
                  </a:moveTo>
                  <a:lnTo>
                    <a:pt x="13" y="1076"/>
                  </a:lnTo>
                  <a:lnTo>
                    <a:pt x="0" y="1076"/>
                  </a:lnTo>
                  <a:lnTo>
                    <a:pt x="0" y="1063"/>
                  </a:lnTo>
                  <a:lnTo>
                    <a:pt x="13" y="1063"/>
                  </a:lnTo>
                  <a:close/>
                  <a:moveTo>
                    <a:pt x="13" y="1089"/>
                  </a:moveTo>
                  <a:lnTo>
                    <a:pt x="13" y="1102"/>
                  </a:lnTo>
                  <a:lnTo>
                    <a:pt x="0" y="1102"/>
                  </a:lnTo>
                  <a:lnTo>
                    <a:pt x="0" y="1089"/>
                  </a:lnTo>
                  <a:lnTo>
                    <a:pt x="13" y="1089"/>
                  </a:lnTo>
                  <a:close/>
                  <a:moveTo>
                    <a:pt x="13" y="1115"/>
                  </a:moveTo>
                  <a:lnTo>
                    <a:pt x="13" y="1128"/>
                  </a:lnTo>
                  <a:lnTo>
                    <a:pt x="0" y="1128"/>
                  </a:lnTo>
                  <a:lnTo>
                    <a:pt x="0" y="1115"/>
                  </a:lnTo>
                  <a:lnTo>
                    <a:pt x="13" y="1115"/>
                  </a:lnTo>
                  <a:close/>
                  <a:moveTo>
                    <a:pt x="13" y="1141"/>
                  </a:moveTo>
                  <a:lnTo>
                    <a:pt x="13" y="1154"/>
                  </a:lnTo>
                  <a:lnTo>
                    <a:pt x="0" y="1154"/>
                  </a:lnTo>
                  <a:lnTo>
                    <a:pt x="0" y="1141"/>
                  </a:lnTo>
                  <a:lnTo>
                    <a:pt x="13" y="1141"/>
                  </a:lnTo>
                  <a:close/>
                  <a:moveTo>
                    <a:pt x="13" y="1167"/>
                  </a:moveTo>
                  <a:lnTo>
                    <a:pt x="13" y="1180"/>
                  </a:lnTo>
                  <a:lnTo>
                    <a:pt x="0" y="1180"/>
                  </a:lnTo>
                  <a:lnTo>
                    <a:pt x="0" y="1167"/>
                  </a:lnTo>
                  <a:lnTo>
                    <a:pt x="13" y="1167"/>
                  </a:lnTo>
                  <a:close/>
                  <a:moveTo>
                    <a:pt x="13" y="1193"/>
                  </a:moveTo>
                  <a:lnTo>
                    <a:pt x="13" y="1206"/>
                  </a:lnTo>
                  <a:lnTo>
                    <a:pt x="0" y="1206"/>
                  </a:lnTo>
                  <a:lnTo>
                    <a:pt x="0" y="1193"/>
                  </a:lnTo>
                  <a:lnTo>
                    <a:pt x="13" y="1193"/>
                  </a:lnTo>
                  <a:close/>
                  <a:moveTo>
                    <a:pt x="13" y="1219"/>
                  </a:moveTo>
                  <a:lnTo>
                    <a:pt x="13" y="1232"/>
                  </a:lnTo>
                  <a:lnTo>
                    <a:pt x="0" y="1232"/>
                  </a:lnTo>
                  <a:lnTo>
                    <a:pt x="0" y="1219"/>
                  </a:lnTo>
                  <a:lnTo>
                    <a:pt x="13" y="1219"/>
                  </a:lnTo>
                  <a:close/>
                  <a:moveTo>
                    <a:pt x="13" y="1245"/>
                  </a:moveTo>
                  <a:lnTo>
                    <a:pt x="13" y="1258"/>
                  </a:lnTo>
                  <a:lnTo>
                    <a:pt x="0" y="1258"/>
                  </a:lnTo>
                  <a:lnTo>
                    <a:pt x="0" y="1245"/>
                  </a:lnTo>
                  <a:lnTo>
                    <a:pt x="13" y="1245"/>
                  </a:lnTo>
                  <a:close/>
                  <a:moveTo>
                    <a:pt x="13" y="1271"/>
                  </a:moveTo>
                  <a:lnTo>
                    <a:pt x="13" y="1284"/>
                  </a:lnTo>
                  <a:lnTo>
                    <a:pt x="0" y="1284"/>
                  </a:lnTo>
                  <a:lnTo>
                    <a:pt x="0" y="1271"/>
                  </a:lnTo>
                  <a:lnTo>
                    <a:pt x="13" y="1271"/>
                  </a:lnTo>
                  <a:close/>
                  <a:moveTo>
                    <a:pt x="13" y="1297"/>
                  </a:moveTo>
                  <a:lnTo>
                    <a:pt x="13" y="1310"/>
                  </a:lnTo>
                  <a:lnTo>
                    <a:pt x="0" y="1310"/>
                  </a:lnTo>
                  <a:lnTo>
                    <a:pt x="0" y="1297"/>
                  </a:lnTo>
                  <a:lnTo>
                    <a:pt x="13" y="1297"/>
                  </a:lnTo>
                  <a:close/>
                  <a:moveTo>
                    <a:pt x="13" y="1322"/>
                  </a:moveTo>
                  <a:lnTo>
                    <a:pt x="13" y="1335"/>
                  </a:lnTo>
                  <a:lnTo>
                    <a:pt x="0" y="1335"/>
                  </a:lnTo>
                  <a:lnTo>
                    <a:pt x="0" y="1322"/>
                  </a:lnTo>
                  <a:lnTo>
                    <a:pt x="13" y="1322"/>
                  </a:lnTo>
                  <a:close/>
                  <a:moveTo>
                    <a:pt x="13" y="1349"/>
                  </a:moveTo>
                  <a:lnTo>
                    <a:pt x="13" y="1361"/>
                  </a:lnTo>
                  <a:lnTo>
                    <a:pt x="0" y="1361"/>
                  </a:lnTo>
                  <a:lnTo>
                    <a:pt x="0" y="1349"/>
                  </a:lnTo>
                  <a:lnTo>
                    <a:pt x="13" y="1349"/>
                  </a:lnTo>
                  <a:close/>
                  <a:moveTo>
                    <a:pt x="13" y="1374"/>
                  </a:moveTo>
                  <a:lnTo>
                    <a:pt x="13" y="1387"/>
                  </a:lnTo>
                  <a:lnTo>
                    <a:pt x="0" y="1387"/>
                  </a:lnTo>
                  <a:lnTo>
                    <a:pt x="0" y="1374"/>
                  </a:lnTo>
                  <a:lnTo>
                    <a:pt x="13" y="1374"/>
                  </a:lnTo>
                  <a:close/>
                  <a:moveTo>
                    <a:pt x="13" y="1400"/>
                  </a:moveTo>
                  <a:lnTo>
                    <a:pt x="13" y="1413"/>
                  </a:lnTo>
                  <a:lnTo>
                    <a:pt x="0" y="1413"/>
                  </a:lnTo>
                  <a:lnTo>
                    <a:pt x="0" y="1400"/>
                  </a:lnTo>
                  <a:lnTo>
                    <a:pt x="13" y="1400"/>
                  </a:lnTo>
                  <a:close/>
                  <a:moveTo>
                    <a:pt x="13" y="1426"/>
                  </a:moveTo>
                  <a:lnTo>
                    <a:pt x="13" y="1439"/>
                  </a:lnTo>
                  <a:lnTo>
                    <a:pt x="0" y="1439"/>
                  </a:lnTo>
                  <a:lnTo>
                    <a:pt x="0" y="1426"/>
                  </a:lnTo>
                  <a:lnTo>
                    <a:pt x="13" y="1426"/>
                  </a:lnTo>
                  <a:close/>
                  <a:moveTo>
                    <a:pt x="13" y="1452"/>
                  </a:moveTo>
                  <a:lnTo>
                    <a:pt x="13" y="1465"/>
                  </a:lnTo>
                  <a:lnTo>
                    <a:pt x="0" y="1465"/>
                  </a:lnTo>
                  <a:lnTo>
                    <a:pt x="0" y="1452"/>
                  </a:lnTo>
                  <a:lnTo>
                    <a:pt x="13" y="1452"/>
                  </a:lnTo>
                  <a:close/>
                  <a:moveTo>
                    <a:pt x="13" y="1478"/>
                  </a:moveTo>
                  <a:lnTo>
                    <a:pt x="13" y="1491"/>
                  </a:lnTo>
                  <a:lnTo>
                    <a:pt x="0" y="1491"/>
                  </a:lnTo>
                  <a:lnTo>
                    <a:pt x="0" y="1478"/>
                  </a:lnTo>
                  <a:lnTo>
                    <a:pt x="13" y="1478"/>
                  </a:lnTo>
                  <a:close/>
                  <a:moveTo>
                    <a:pt x="13" y="1504"/>
                  </a:moveTo>
                  <a:lnTo>
                    <a:pt x="13" y="1517"/>
                  </a:lnTo>
                  <a:lnTo>
                    <a:pt x="0" y="1517"/>
                  </a:lnTo>
                  <a:lnTo>
                    <a:pt x="0" y="1504"/>
                  </a:lnTo>
                  <a:lnTo>
                    <a:pt x="13" y="1504"/>
                  </a:lnTo>
                  <a:close/>
                  <a:moveTo>
                    <a:pt x="13" y="1530"/>
                  </a:moveTo>
                  <a:lnTo>
                    <a:pt x="13" y="1543"/>
                  </a:lnTo>
                  <a:lnTo>
                    <a:pt x="0" y="1543"/>
                  </a:lnTo>
                  <a:lnTo>
                    <a:pt x="0" y="1530"/>
                  </a:lnTo>
                  <a:lnTo>
                    <a:pt x="13" y="1530"/>
                  </a:lnTo>
                  <a:close/>
                  <a:moveTo>
                    <a:pt x="13" y="1556"/>
                  </a:moveTo>
                  <a:lnTo>
                    <a:pt x="13" y="1569"/>
                  </a:lnTo>
                  <a:lnTo>
                    <a:pt x="0" y="1569"/>
                  </a:lnTo>
                  <a:lnTo>
                    <a:pt x="0" y="1556"/>
                  </a:lnTo>
                  <a:lnTo>
                    <a:pt x="13" y="1556"/>
                  </a:lnTo>
                  <a:close/>
                  <a:moveTo>
                    <a:pt x="13" y="1582"/>
                  </a:moveTo>
                  <a:lnTo>
                    <a:pt x="13" y="1595"/>
                  </a:lnTo>
                  <a:lnTo>
                    <a:pt x="0" y="1595"/>
                  </a:lnTo>
                  <a:lnTo>
                    <a:pt x="0" y="1582"/>
                  </a:lnTo>
                  <a:lnTo>
                    <a:pt x="13" y="1582"/>
                  </a:lnTo>
                  <a:close/>
                  <a:moveTo>
                    <a:pt x="13" y="1608"/>
                  </a:moveTo>
                  <a:lnTo>
                    <a:pt x="13" y="1621"/>
                  </a:lnTo>
                  <a:lnTo>
                    <a:pt x="0" y="1621"/>
                  </a:lnTo>
                  <a:lnTo>
                    <a:pt x="0" y="1608"/>
                  </a:lnTo>
                  <a:lnTo>
                    <a:pt x="13" y="1608"/>
                  </a:lnTo>
                  <a:close/>
                  <a:moveTo>
                    <a:pt x="13" y="1634"/>
                  </a:moveTo>
                  <a:lnTo>
                    <a:pt x="13" y="1647"/>
                  </a:lnTo>
                  <a:lnTo>
                    <a:pt x="0" y="1647"/>
                  </a:lnTo>
                  <a:lnTo>
                    <a:pt x="0" y="1634"/>
                  </a:lnTo>
                  <a:lnTo>
                    <a:pt x="13" y="1634"/>
                  </a:lnTo>
                  <a:close/>
                  <a:moveTo>
                    <a:pt x="13" y="1660"/>
                  </a:moveTo>
                  <a:lnTo>
                    <a:pt x="13" y="1672"/>
                  </a:lnTo>
                  <a:lnTo>
                    <a:pt x="0" y="1672"/>
                  </a:lnTo>
                  <a:lnTo>
                    <a:pt x="0" y="1660"/>
                  </a:lnTo>
                  <a:lnTo>
                    <a:pt x="13" y="1660"/>
                  </a:lnTo>
                  <a:close/>
                  <a:moveTo>
                    <a:pt x="13" y="1686"/>
                  </a:moveTo>
                  <a:lnTo>
                    <a:pt x="13" y="1699"/>
                  </a:lnTo>
                  <a:lnTo>
                    <a:pt x="0" y="1699"/>
                  </a:lnTo>
                  <a:lnTo>
                    <a:pt x="0" y="1686"/>
                  </a:lnTo>
                  <a:lnTo>
                    <a:pt x="13" y="1686"/>
                  </a:lnTo>
                  <a:close/>
                  <a:moveTo>
                    <a:pt x="13" y="1711"/>
                  </a:moveTo>
                  <a:lnTo>
                    <a:pt x="13" y="1724"/>
                  </a:lnTo>
                  <a:lnTo>
                    <a:pt x="0" y="1724"/>
                  </a:lnTo>
                  <a:lnTo>
                    <a:pt x="0" y="1711"/>
                  </a:lnTo>
                  <a:lnTo>
                    <a:pt x="13" y="1711"/>
                  </a:lnTo>
                  <a:close/>
                  <a:moveTo>
                    <a:pt x="13" y="1738"/>
                  </a:moveTo>
                  <a:lnTo>
                    <a:pt x="13" y="1750"/>
                  </a:lnTo>
                  <a:lnTo>
                    <a:pt x="0" y="1750"/>
                  </a:lnTo>
                  <a:lnTo>
                    <a:pt x="0" y="1738"/>
                  </a:lnTo>
                  <a:lnTo>
                    <a:pt x="13" y="1738"/>
                  </a:lnTo>
                  <a:close/>
                  <a:moveTo>
                    <a:pt x="13" y="1763"/>
                  </a:moveTo>
                  <a:lnTo>
                    <a:pt x="13" y="1776"/>
                  </a:lnTo>
                  <a:lnTo>
                    <a:pt x="0" y="1776"/>
                  </a:lnTo>
                  <a:lnTo>
                    <a:pt x="0" y="1763"/>
                  </a:lnTo>
                  <a:lnTo>
                    <a:pt x="13" y="1763"/>
                  </a:lnTo>
                  <a:close/>
                  <a:moveTo>
                    <a:pt x="13" y="1789"/>
                  </a:moveTo>
                  <a:lnTo>
                    <a:pt x="13" y="1802"/>
                  </a:lnTo>
                  <a:lnTo>
                    <a:pt x="0" y="1802"/>
                  </a:lnTo>
                  <a:lnTo>
                    <a:pt x="0" y="1789"/>
                  </a:lnTo>
                  <a:lnTo>
                    <a:pt x="13" y="1789"/>
                  </a:lnTo>
                  <a:close/>
                  <a:moveTo>
                    <a:pt x="13" y="1815"/>
                  </a:moveTo>
                  <a:lnTo>
                    <a:pt x="13" y="1828"/>
                  </a:lnTo>
                  <a:lnTo>
                    <a:pt x="0" y="1828"/>
                  </a:lnTo>
                  <a:lnTo>
                    <a:pt x="0" y="1815"/>
                  </a:lnTo>
                  <a:lnTo>
                    <a:pt x="13" y="1815"/>
                  </a:lnTo>
                  <a:close/>
                  <a:moveTo>
                    <a:pt x="13" y="1841"/>
                  </a:moveTo>
                  <a:lnTo>
                    <a:pt x="13" y="1854"/>
                  </a:lnTo>
                  <a:lnTo>
                    <a:pt x="0" y="1854"/>
                  </a:lnTo>
                  <a:lnTo>
                    <a:pt x="0" y="1841"/>
                  </a:lnTo>
                  <a:lnTo>
                    <a:pt x="13" y="1841"/>
                  </a:lnTo>
                  <a:close/>
                  <a:moveTo>
                    <a:pt x="13" y="1867"/>
                  </a:moveTo>
                  <a:lnTo>
                    <a:pt x="13" y="1880"/>
                  </a:lnTo>
                  <a:lnTo>
                    <a:pt x="0" y="1880"/>
                  </a:lnTo>
                  <a:lnTo>
                    <a:pt x="0" y="1867"/>
                  </a:lnTo>
                  <a:lnTo>
                    <a:pt x="13" y="1867"/>
                  </a:lnTo>
                  <a:close/>
                  <a:moveTo>
                    <a:pt x="13" y="1893"/>
                  </a:moveTo>
                  <a:lnTo>
                    <a:pt x="13" y="1906"/>
                  </a:lnTo>
                  <a:lnTo>
                    <a:pt x="0" y="1906"/>
                  </a:lnTo>
                  <a:lnTo>
                    <a:pt x="0" y="1893"/>
                  </a:lnTo>
                  <a:lnTo>
                    <a:pt x="13" y="1893"/>
                  </a:lnTo>
                  <a:close/>
                  <a:moveTo>
                    <a:pt x="13" y="1919"/>
                  </a:moveTo>
                  <a:lnTo>
                    <a:pt x="13" y="1932"/>
                  </a:lnTo>
                  <a:lnTo>
                    <a:pt x="0" y="1932"/>
                  </a:lnTo>
                  <a:lnTo>
                    <a:pt x="0" y="1919"/>
                  </a:lnTo>
                  <a:lnTo>
                    <a:pt x="13" y="1919"/>
                  </a:lnTo>
                  <a:close/>
                  <a:moveTo>
                    <a:pt x="13" y="1945"/>
                  </a:moveTo>
                  <a:lnTo>
                    <a:pt x="13" y="1958"/>
                  </a:lnTo>
                  <a:lnTo>
                    <a:pt x="0" y="1958"/>
                  </a:lnTo>
                  <a:lnTo>
                    <a:pt x="0" y="1945"/>
                  </a:lnTo>
                  <a:lnTo>
                    <a:pt x="13" y="1945"/>
                  </a:lnTo>
                  <a:close/>
                  <a:moveTo>
                    <a:pt x="13" y="1971"/>
                  </a:moveTo>
                  <a:lnTo>
                    <a:pt x="13" y="1984"/>
                  </a:lnTo>
                  <a:lnTo>
                    <a:pt x="0" y="1984"/>
                  </a:lnTo>
                  <a:lnTo>
                    <a:pt x="0" y="1971"/>
                  </a:lnTo>
                  <a:lnTo>
                    <a:pt x="13" y="1971"/>
                  </a:lnTo>
                  <a:close/>
                  <a:moveTo>
                    <a:pt x="13" y="1997"/>
                  </a:moveTo>
                  <a:lnTo>
                    <a:pt x="13" y="2010"/>
                  </a:lnTo>
                  <a:lnTo>
                    <a:pt x="0" y="2010"/>
                  </a:lnTo>
                  <a:lnTo>
                    <a:pt x="0" y="1997"/>
                  </a:lnTo>
                  <a:lnTo>
                    <a:pt x="13" y="1997"/>
                  </a:lnTo>
                  <a:close/>
                  <a:moveTo>
                    <a:pt x="13" y="2023"/>
                  </a:moveTo>
                  <a:lnTo>
                    <a:pt x="13" y="2036"/>
                  </a:lnTo>
                  <a:lnTo>
                    <a:pt x="0" y="2036"/>
                  </a:lnTo>
                  <a:lnTo>
                    <a:pt x="0" y="2023"/>
                  </a:lnTo>
                  <a:lnTo>
                    <a:pt x="13" y="2023"/>
                  </a:lnTo>
                  <a:close/>
                  <a:moveTo>
                    <a:pt x="13" y="2049"/>
                  </a:moveTo>
                  <a:lnTo>
                    <a:pt x="13" y="2061"/>
                  </a:lnTo>
                  <a:lnTo>
                    <a:pt x="0" y="2061"/>
                  </a:lnTo>
                  <a:lnTo>
                    <a:pt x="0" y="2049"/>
                  </a:lnTo>
                  <a:lnTo>
                    <a:pt x="13" y="2049"/>
                  </a:lnTo>
                  <a:close/>
                  <a:moveTo>
                    <a:pt x="13" y="2075"/>
                  </a:moveTo>
                  <a:lnTo>
                    <a:pt x="13" y="2088"/>
                  </a:lnTo>
                  <a:lnTo>
                    <a:pt x="0" y="2088"/>
                  </a:lnTo>
                  <a:lnTo>
                    <a:pt x="0" y="2075"/>
                  </a:lnTo>
                  <a:lnTo>
                    <a:pt x="13" y="2075"/>
                  </a:lnTo>
                  <a:close/>
                  <a:moveTo>
                    <a:pt x="13" y="2100"/>
                  </a:moveTo>
                  <a:lnTo>
                    <a:pt x="13" y="2113"/>
                  </a:lnTo>
                  <a:lnTo>
                    <a:pt x="0" y="2113"/>
                  </a:lnTo>
                  <a:lnTo>
                    <a:pt x="0" y="2100"/>
                  </a:lnTo>
                  <a:lnTo>
                    <a:pt x="13" y="2100"/>
                  </a:lnTo>
                  <a:close/>
                  <a:moveTo>
                    <a:pt x="13" y="2126"/>
                  </a:moveTo>
                  <a:lnTo>
                    <a:pt x="13" y="2139"/>
                  </a:lnTo>
                  <a:lnTo>
                    <a:pt x="0" y="2139"/>
                  </a:lnTo>
                  <a:lnTo>
                    <a:pt x="0" y="2126"/>
                  </a:lnTo>
                  <a:lnTo>
                    <a:pt x="13" y="2126"/>
                  </a:lnTo>
                  <a:close/>
                  <a:moveTo>
                    <a:pt x="13" y="2152"/>
                  </a:moveTo>
                  <a:lnTo>
                    <a:pt x="13" y="2165"/>
                  </a:lnTo>
                  <a:lnTo>
                    <a:pt x="0" y="2165"/>
                  </a:lnTo>
                  <a:lnTo>
                    <a:pt x="0" y="2152"/>
                  </a:lnTo>
                  <a:lnTo>
                    <a:pt x="13" y="2152"/>
                  </a:lnTo>
                  <a:close/>
                  <a:moveTo>
                    <a:pt x="13" y="2178"/>
                  </a:moveTo>
                  <a:lnTo>
                    <a:pt x="13" y="2191"/>
                  </a:lnTo>
                  <a:lnTo>
                    <a:pt x="0" y="2191"/>
                  </a:lnTo>
                  <a:lnTo>
                    <a:pt x="0" y="2178"/>
                  </a:lnTo>
                  <a:lnTo>
                    <a:pt x="13" y="2178"/>
                  </a:lnTo>
                  <a:close/>
                  <a:moveTo>
                    <a:pt x="13" y="2204"/>
                  </a:moveTo>
                  <a:lnTo>
                    <a:pt x="13" y="2217"/>
                  </a:lnTo>
                  <a:lnTo>
                    <a:pt x="0" y="2217"/>
                  </a:lnTo>
                  <a:lnTo>
                    <a:pt x="0" y="2204"/>
                  </a:lnTo>
                  <a:lnTo>
                    <a:pt x="13" y="2204"/>
                  </a:lnTo>
                  <a:close/>
                  <a:moveTo>
                    <a:pt x="13" y="2230"/>
                  </a:moveTo>
                  <a:lnTo>
                    <a:pt x="13" y="2243"/>
                  </a:lnTo>
                  <a:lnTo>
                    <a:pt x="0" y="2243"/>
                  </a:lnTo>
                  <a:lnTo>
                    <a:pt x="0" y="2230"/>
                  </a:lnTo>
                  <a:lnTo>
                    <a:pt x="13" y="2230"/>
                  </a:lnTo>
                  <a:close/>
                  <a:moveTo>
                    <a:pt x="13" y="2256"/>
                  </a:moveTo>
                  <a:lnTo>
                    <a:pt x="13" y="2269"/>
                  </a:lnTo>
                  <a:lnTo>
                    <a:pt x="0" y="2269"/>
                  </a:lnTo>
                  <a:lnTo>
                    <a:pt x="0" y="2256"/>
                  </a:lnTo>
                  <a:lnTo>
                    <a:pt x="13" y="2256"/>
                  </a:lnTo>
                  <a:close/>
                  <a:moveTo>
                    <a:pt x="13" y="2282"/>
                  </a:moveTo>
                  <a:lnTo>
                    <a:pt x="13" y="2285"/>
                  </a:lnTo>
                  <a:lnTo>
                    <a:pt x="0" y="2285"/>
                  </a:lnTo>
                  <a:lnTo>
                    <a:pt x="0" y="2282"/>
                  </a:lnTo>
                  <a:lnTo>
                    <a:pt x="13" y="2282"/>
                  </a:lnTo>
                  <a:close/>
                </a:path>
              </a:pathLst>
            </a:custGeom>
            <a:solidFill>
              <a:srgbClr val="000000"/>
            </a:solidFill>
            <a:ln w="0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5" name="Rectangle 52">
              <a:extLst>
                <a:ext uri="{FF2B5EF4-FFF2-40B4-BE49-F238E27FC236}">
                  <a16:creationId xmlns:a16="http://schemas.microsoft.com/office/drawing/2014/main" id="{0FFE2C47-1FFF-4905-B581-38C8F17FB8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7" y="3484"/>
              <a:ext cx="535" cy="2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1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or  r8, </a:t>
              </a:r>
              <a:endParaRPr kumimoji="0" lang="zh-CN" altLang="zh-CN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56" name="Rectangle 53">
              <a:extLst>
                <a:ext uri="{FF2B5EF4-FFF2-40B4-BE49-F238E27FC236}">
                  <a16:creationId xmlns:a16="http://schemas.microsoft.com/office/drawing/2014/main" id="{8BE5AAD0-C59E-47D1-8AC3-6573D273D4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14" y="3484"/>
              <a:ext cx="214" cy="2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1900" b="0" i="0" u="none" strike="noStrike" cap="none" normalizeH="0" baseline="0">
                  <a:ln>
                    <a:noFill/>
                  </a:ln>
                  <a:solidFill>
                    <a:srgbClr val="009900"/>
                  </a:solidFill>
                  <a:effectLst/>
                  <a:latin typeface="Arial" panose="020B0604020202020204" pitchFamily="34" charset="0"/>
                </a:rPr>
                <a:t>r1</a:t>
              </a:r>
              <a:endParaRPr kumimoji="0" lang="zh-CN" altLang="zh-CN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57" name="Rectangle 54">
              <a:extLst>
                <a:ext uri="{FF2B5EF4-FFF2-40B4-BE49-F238E27FC236}">
                  <a16:creationId xmlns:a16="http://schemas.microsoft.com/office/drawing/2014/main" id="{C81EF12B-7E01-4540-A982-6084309668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55" y="3484"/>
              <a:ext cx="302" cy="2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1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, r9</a:t>
              </a:r>
              <a:endParaRPr kumimoji="0" lang="zh-CN" altLang="zh-CN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58" name="Freeform 55">
              <a:extLst>
                <a:ext uri="{FF2B5EF4-FFF2-40B4-BE49-F238E27FC236}">
                  <a16:creationId xmlns:a16="http://schemas.microsoft.com/office/drawing/2014/main" id="{AD3812D0-A26B-45ED-A8B9-A536705E5BB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60" y="2187"/>
              <a:ext cx="44" cy="1984"/>
            </a:xfrm>
            <a:custGeom>
              <a:avLst/>
              <a:gdLst>
                <a:gd name="T0" fmla="*/ 29 w 44"/>
                <a:gd name="T1" fmla="*/ 0 h 1984"/>
                <a:gd name="T2" fmla="*/ 29 w 44"/>
                <a:gd name="T3" fmla="*/ 1947 h 1984"/>
                <a:gd name="T4" fmla="*/ 15 w 44"/>
                <a:gd name="T5" fmla="*/ 1947 h 1984"/>
                <a:gd name="T6" fmla="*/ 15 w 44"/>
                <a:gd name="T7" fmla="*/ 0 h 1984"/>
                <a:gd name="T8" fmla="*/ 29 w 44"/>
                <a:gd name="T9" fmla="*/ 0 h 1984"/>
                <a:gd name="T10" fmla="*/ 44 w 44"/>
                <a:gd name="T11" fmla="*/ 1940 h 1984"/>
                <a:gd name="T12" fmla="*/ 22 w 44"/>
                <a:gd name="T13" fmla="*/ 1984 h 1984"/>
                <a:gd name="T14" fmla="*/ 0 w 44"/>
                <a:gd name="T15" fmla="*/ 1940 h 1984"/>
                <a:gd name="T16" fmla="*/ 44 w 44"/>
                <a:gd name="T17" fmla="*/ 1940 h 19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4" h="1984">
                  <a:moveTo>
                    <a:pt x="29" y="0"/>
                  </a:moveTo>
                  <a:lnTo>
                    <a:pt x="29" y="1947"/>
                  </a:lnTo>
                  <a:lnTo>
                    <a:pt x="15" y="1947"/>
                  </a:lnTo>
                  <a:lnTo>
                    <a:pt x="15" y="0"/>
                  </a:lnTo>
                  <a:lnTo>
                    <a:pt x="29" y="0"/>
                  </a:lnTo>
                  <a:close/>
                  <a:moveTo>
                    <a:pt x="44" y="1940"/>
                  </a:moveTo>
                  <a:lnTo>
                    <a:pt x="22" y="1984"/>
                  </a:lnTo>
                  <a:lnTo>
                    <a:pt x="0" y="1940"/>
                  </a:lnTo>
                  <a:lnTo>
                    <a:pt x="44" y="1940"/>
                  </a:lnTo>
                  <a:close/>
                </a:path>
              </a:pathLst>
            </a:custGeom>
            <a:solidFill>
              <a:srgbClr val="000000"/>
            </a:solidFill>
            <a:ln w="0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9" name="Freeform 56">
              <a:extLst>
                <a:ext uri="{FF2B5EF4-FFF2-40B4-BE49-F238E27FC236}">
                  <a16:creationId xmlns:a16="http://schemas.microsoft.com/office/drawing/2014/main" id="{259DAFDB-F527-42AF-87F4-A2E32F3F4EB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0" y="2109"/>
              <a:ext cx="170" cy="389"/>
            </a:xfrm>
            <a:custGeom>
              <a:avLst/>
              <a:gdLst>
                <a:gd name="T0" fmla="*/ 0 w 170"/>
                <a:gd name="T1" fmla="*/ 259 h 389"/>
                <a:gd name="T2" fmla="*/ 57 w 170"/>
                <a:gd name="T3" fmla="*/ 194 h 389"/>
                <a:gd name="T4" fmla="*/ 0 w 170"/>
                <a:gd name="T5" fmla="*/ 130 h 389"/>
                <a:gd name="T6" fmla="*/ 0 w 170"/>
                <a:gd name="T7" fmla="*/ 0 h 389"/>
                <a:gd name="T8" fmla="*/ 170 w 170"/>
                <a:gd name="T9" fmla="*/ 130 h 389"/>
                <a:gd name="T10" fmla="*/ 170 w 170"/>
                <a:gd name="T11" fmla="*/ 259 h 389"/>
                <a:gd name="T12" fmla="*/ 0 w 170"/>
                <a:gd name="T13" fmla="*/ 389 h 389"/>
                <a:gd name="T14" fmla="*/ 0 w 170"/>
                <a:gd name="T15" fmla="*/ 259 h 3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70" h="389">
                  <a:moveTo>
                    <a:pt x="0" y="259"/>
                  </a:moveTo>
                  <a:lnTo>
                    <a:pt x="57" y="194"/>
                  </a:lnTo>
                  <a:lnTo>
                    <a:pt x="0" y="130"/>
                  </a:lnTo>
                  <a:lnTo>
                    <a:pt x="0" y="0"/>
                  </a:lnTo>
                  <a:lnTo>
                    <a:pt x="170" y="130"/>
                  </a:lnTo>
                  <a:lnTo>
                    <a:pt x="170" y="259"/>
                  </a:lnTo>
                  <a:lnTo>
                    <a:pt x="0" y="389"/>
                  </a:lnTo>
                  <a:lnTo>
                    <a:pt x="0" y="259"/>
                  </a:lnTo>
                </a:path>
              </a:pathLst>
            </a:custGeom>
            <a:noFill/>
            <a:ln w="206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0" name="Rectangle 57">
              <a:extLst>
                <a:ext uri="{FF2B5EF4-FFF2-40B4-BE49-F238E27FC236}">
                  <a16:creationId xmlns:a16="http://schemas.microsoft.com/office/drawing/2014/main" id="{036568BE-4DE7-44B6-9981-E45BF19A7B5D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2493" y="2246"/>
              <a:ext cx="199" cy="11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1200" b="1" i="0" u="none" strike="noStrike" cap="none" normalizeH="0" baseline="0" dirty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ALU</a:t>
              </a:r>
              <a:endParaRPr kumimoji="0" lang="zh-CN" altLang="zh-CN" sz="12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61" name="Rectangle 58">
              <a:extLst>
                <a:ext uri="{FF2B5EF4-FFF2-40B4-BE49-F238E27FC236}">
                  <a16:creationId xmlns:a16="http://schemas.microsoft.com/office/drawing/2014/main" id="{16AD086F-095E-463F-879E-4FAFD1B71C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90" y="2214"/>
              <a:ext cx="117" cy="12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1300" b="1" i="0" u="none" strike="noStrike" cap="none" normalizeH="0" baseline="0" dirty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I</a:t>
              </a:r>
              <a:r>
                <a:rPr kumimoji="0" lang="en-US" altLang="zh-CN" sz="1300" b="1" i="0" u="none" strike="noStrike" cap="none" normalizeH="0" baseline="0" dirty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M</a:t>
              </a:r>
              <a:endParaRPr kumimoji="0" lang="zh-CN" altLang="zh-CN" sz="1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62" name="Freeform 59">
              <a:extLst>
                <a:ext uri="{FF2B5EF4-FFF2-40B4-BE49-F238E27FC236}">
                  <a16:creationId xmlns:a16="http://schemas.microsoft.com/office/drawing/2014/main" id="{10FDD064-AE3C-46DB-BA40-3CBB56B0443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2" y="2187"/>
              <a:ext cx="135" cy="233"/>
            </a:xfrm>
            <a:custGeom>
              <a:avLst/>
              <a:gdLst>
                <a:gd name="T0" fmla="*/ 135 w 135"/>
                <a:gd name="T1" fmla="*/ 0 h 233"/>
                <a:gd name="T2" fmla="*/ 0 w 135"/>
                <a:gd name="T3" fmla="*/ 0 h 233"/>
                <a:gd name="T4" fmla="*/ 0 w 135"/>
                <a:gd name="T5" fmla="*/ 233 h 233"/>
                <a:gd name="T6" fmla="*/ 135 w 135"/>
                <a:gd name="T7" fmla="*/ 233 h 2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5" h="233">
                  <a:moveTo>
                    <a:pt x="135" y="0"/>
                  </a:moveTo>
                  <a:lnTo>
                    <a:pt x="0" y="0"/>
                  </a:lnTo>
                  <a:lnTo>
                    <a:pt x="0" y="233"/>
                  </a:lnTo>
                  <a:lnTo>
                    <a:pt x="135" y="233"/>
                  </a:lnTo>
                </a:path>
              </a:pathLst>
            </a:custGeom>
            <a:noFill/>
            <a:ln w="206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3" name="Freeform 60">
              <a:extLst>
                <a:ext uri="{FF2B5EF4-FFF2-40B4-BE49-F238E27FC236}">
                  <a16:creationId xmlns:a16="http://schemas.microsoft.com/office/drawing/2014/main" id="{C3CDDA88-9724-41FF-B647-532B1E71FD1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8" y="2187"/>
              <a:ext cx="135" cy="233"/>
            </a:xfrm>
            <a:custGeom>
              <a:avLst/>
              <a:gdLst>
                <a:gd name="T0" fmla="*/ 0 w 135"/>
                <a:gd name="T1" fmla="*/ 0 h 233"/>
                <a:gd name="T2" fmla="*/ 135 w 135"/>
                <a:gd name="T3" fmla="*/ 0 h 233"/>
                <a:gd name="T4" fmla="*/ 135 w 135"/>
                <a:gd name="T5" fmla="*/ 233 h 233"/>
                <a:gd name="T6" fmla="*/ 0 w 135"/>
                <a:gd name="T7" fmla="*/ 233 h 2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5" h="233">
                  <a:moveTo>
                    <a:pt x="0" y="0"/>
                  </a:moveTo>
                  <a:lnTo>
                    <a:pt x="135" y="0"/>
                  </a:lnTo>
                  <a:lnTo>
                    <a:pt x="135" y="233"/>
                  </a:lnTo>
                  <a:lnTo>
                    <a:pt x="0" y="233"/>
                  </a:lnTo>
                </a:path>
              </a:pathLst>
            </a:custGeom>
            <a:noFill/>
            <a:ln w="206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4" name="Rectangle 61">
              <a:extLst>
                <a:ext uri="{FF2B5EF4-FFF2-40B4-BE49-F238E27FC236}">
                  <a16:creationId xmlns:a16="http://schemas.microsoft.com/office/drawing/2014/main" id="{6B1585A6-3632-4502-B9B0-C6B0729EC8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43" y="2218"/>
              <a:ext cx="243" cy="13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1300" b="1" i="0" u="none" strike="noStrike" cap="none" normalizeH="0" baseline="0" dirty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Reg</a:t>
              </a:r>
              <a:endParaRPr kumimoji="0" lang="zh-CN" altLang="zh-CN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65" name="Freeform 62">
              <a:extLst>
                <a:ext uri="{FF2B5EF4-FFF2-40B4-BE49-F238E27FC236}">
                  <a16:creationId xmlns:a16="http://schemas.microsoft.com/office/drawing/2014/main" id="{E0E6751F-0026-4818-8212-F08FD08CCAE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1" y="2187"/>
              <a:ext cx="121" cy="233"/>
            </a:xfrm>
            <a:custGeom>
              <a:avLst/>
              <a:gdLst>
                <a:gd name="T0" fmla="*/ 121 w 121"/>
                <a:gd name="T1" fmla="*/ 0 h 233"/>
                <a:gd name="T2" fmla="*/ 0 w 121"/>
                <a:gd name="T3" fmla="*/ 0 h 233"/>
                <a:gd name="T4" fmla="*/ 0 w 121"/>
                <a:gd name="T5" fmla="*/ 233 h 233"/>
                <a:gd name="T6" fmla="*/ 121 w 121"/>
                <a:gd name="T7" fmla="*/ 233 h 2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1" h="233">
                  <a:moveTo>
                    <a:pt x="121" y="0"/>
                  </a:moveTo>
                  <a:lnTo>
                    <a:pt x="0" y="0"/>
                  </a:lnTo>
                  <a:lnTo>
                    <a:pt x="0" y="233"/>
                  </a:lnTo>
                  <a:lnTo>
                    <a:pt x="121" y="233"/>
                  </a:lnTo>
                </a:path>
              </a:pathLst>
            </a:custGeom>
            <a:noFill/>
            <a:ln w="206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6" name="Freeform 63">
              <a:extLst>
                <a:ext uri="{FF2B5EF4-FFF2-40B4-BE49-F238E27FC236}">
                  <a16:creationId xmlns:a16="http://schemas.microsoft.com/office/drawing/2014/main" id="{F3DD05D4-328A-40DE-92CF-64C8D97211F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3" y="2187"/>
              <a:ext cx="121" cy="233"/>
            </a:xfrm>
            <a:custGeom>
              <a:avLst/>
              <a:gdLst>
                <a:gd name="T0" fmla="*/ 0 w 121"/>
                <a:gd name="T1" fmla="*/ 0 h 233"/>
                <a:gd name="T2" fmla="*/ 121 w 121"/>
                <a:gd name="T3" fmla="*/ 0 h 233"/>
                <a:gd name="T4" fmla="*/ 121 w 121"/>
                <a:gd name="T5" fmla="*/ 233 h 233"/>
                <a:gd name="T6" fmla="*/ 0 w 121"/>
                <a:gd name="T7" fmla="*/ 233 h 2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1" h="233">
                  <a:moveTo>
                    <a:pt x="0" y="0"/>
                  </a:moveTo>
                  <a:lnTo>
                    <a:pt x="121" y="0"/>
                  </a:lnTo>
                  <a:lnTo>
                    <a:pt x="121" y="233"/>
                  </a:lnTo>
                  <a:lnTo>
                    <a:pt x="0" y="233"/>
                  </a:lnTo>
                </a:path>
              </a:pathLst>
            </a:custGeom>
            <a:noFill/>
            <a:ln w="206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7" name="Line 64">
              <a:extLst>
                <a:ext uri="{FF2B5EF4-FFF2-40B4-BE49-F238E27FC236}">
                  <a16:creationId xmlns:a16="http://schemas.microsoft.com/office/drawing/2014/main" id="{9A77461F-C74C-4B69-9837-959702ACD58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019" y="2304"/>
              <a:ext cx="92" cy="0"/>
            </a:xfrm>
            <a:prstGeom prst="line">
              <a:avLst/>
            </a:prstGeom>
            <a:noFill/>
            <a:ln w="20638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8" name="Freeform 65">
              <a:extLst>
                <a:ext uri="{FF2B5EF4-FFF2-40B4-BE49-F238E27FC236}">
                  <a16:creationId xmlns:a16="http://schemas.microsoft.com/office/drawing/2014/main" id="{3F21A7A4-AEAB-4C07-9BF7-87CD2245190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2" y="2226"/>
              <a:ext cx="39" cy="77"/>
            </a:xfrm>
            <a:custGeom>
              <a:avLst/>
              <a:gdLst>
                <a:gd name="T0" fmla="*/ 0 w 39"/>
                <a:gd name="T1" fmla="*/ 77 h 77"/>
                <a:gd name="T2" fmla="*/ 0 w 39"/>
                <a:gd name="T3" fmla="*/ 0 h 77"/>
                <a:gd name="T4" fmla="*/ 39 w 39"/>
                <a:gd name="T5" fmla="*/ 0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9" h="77">
                  <a:moveTo>
                    <a:pt x="0" y="77"/>
                  </a:moveTo>
                  <a:lnTo>
                    <a:pt x="0" y="0"/>
                  </a:lnTo>
                  <a:lnTo>
                    <a:pt x="39" y="0"/>
                  </a:lnTo>
                </a:path>
              </a:pathLst>
            </a:custGeom>
            <a:noFill/>
            <a:ln w="206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9" name="Line 66">
              <a:extLst>
                <a:ext uri="{FF2B5EF4-FFF2-40B4-BE49-F238E27FC236}">
                  <a16:creationId xmlns:a16="http://schemas.microsoft.com/office/drawing/2014/main" id="{4BA10A63-075E-4D6A-85AB-741384E72FA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354" y="2226"/>
              <a:ext cx="127" cy="0"/>
            </a:xfrm>
            <a:prstGeom prst="line">
              <a:avLst/>
            </a:prstGeom>
            <a:noFill/>
            <a:ln w="20638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0" name="Rectangle 67">
              <a:extLst>
                <a:ext uri="{FF2B5EF4-FFF2-40B4-BE49-F238E27FC236}">
                  <a16:creationId xmlns:a16="http://schemas.microsoft.com/office/drawing/2014/main" id="{9FF61060-F136-400B-94D7-693860F9BE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05" y="2214"/>
              <a:ext cx="209" cy="13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1300" b="1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DM</a:t>
              </a:r>
              <a:endParaRPr kumimoji="0" lang="zh-CN" altLang="zh-CN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71" name="Freeform 68">
              <a:extLst>
                <a:ext uri="{FF2B5EF4-FFF2-40B4-BE49-F238E27FC236}">
                  <a16:creationId xmlns:a16="http://schemas.microsoft.com/office/drawing/2014/main" id="{84B981FE-78C5-4BAA-8599-545EBBA8E27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2" y="2187"/>
              <a:ext cx="130" cy="233"/>
            </a:xfrm>
            <a:custGeom>
              <a:avLst/>
              <a:gdLst>
                <a:gd name="T0" fmla="*/ 130 w 130"/>
                <a:gd name="T1" fmla="*/ 0 h 233"/>
                <a:gd name="T2" fmla="*/ 0 w 130"/>
                <a:gd name="T3" fmla="*/ 0 h 233"/>
                <a:gd name="T4" fmla="*/ 0 w 130"/>
                <a:gd name="T5" fmla="*/ 233 h 233"/>
                <a:gd name="T6" fmla="*/ 130 w 130"/>
                <a:gd name="T7" fmla="*/ 233 h 2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0" h="233">
                  <a:moveTo>
                    <a:pt x="130" y="0"/>
                  </a:moveTo>
                  <a:lnTo>
                    <a:pt x="0" y="0"/>
                  </a:lnTo>
                  <a:lnTo>
                    <a:pt x="0" y="233"/>
                  </a:lnTo>
                  <a:lnTo>
                    <a:pt x="130" y="233"/>
                  </a:lnTo>
                </a:path>
              </a:pathLst>
            </a:custGeom>
            <a:noFill/>
            <a:ln w="206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2" name="Freeform 69">
              <a:extLst>
                <a:ext uri="{FF2B5EF4-FFF2-40B4-BE49-F238E27FC236}">
                  <a16:creationId xmlns:a16="http://schemas.microsoft.com/office/drawing/2014/main" id="{9607E4F8-80A8-4ECE-9DD6-7800BE3F2C6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8" y="2187"/>
              <a:ext cx="136" cy="233"/>
            </a:xfrm>
            <a:custGeom>
              <a:avLst/>
              <a:gdLst>
                <a:gd name="T0" fmla="*/ 0 w 136"/>
                <a:gd name="T1" fmla="*/ 0 h 233"/>
                <a:gd name="T2" fmla="*/ 136 w 136"/>
                <a:gd name="T3" fmla="*/ 0 h 233"/>
                <a:gd name="T4" fmla="*/ 136 w 136"/>
                <a:gd name="T5" fmla="*/ 233 h 233"/>
                <a:gd name="T6" fmla="*/ 0 w 136"/>
                <a:gd name="T7" fmla="*/ 233 h 2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6" h="233">
                  <a:moveTo>
                    <a:pt x="0" y="0"/>
                  </a:moveTo>
                  <a:lnTo>
                    <a:pt x="136" y="0"/>
                  </a:lnTo>
                  <a:lnTo>
                    <a:pt x="136" y="233"/>
                  </a:lnTo>
                  <a:lnTo>
                    <a:pt x="0" y="233"/>
                  </a:lnTo>
                </a:path>
              </a:pathLst>
            </a:custGeom>
            <a:noFill/>
            <a:ln w="206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3" name="Rectangle 70">
              <a:extLst>
                <a:ext uri="{FF2B5EF4-FFF2-40B4-BE49-F238E27FC236}">
                  <a16:creationId xmlns:a16="http://schemas.microsoft.com/office/drawing/2014/main" id="{8BAF319A-AF92-4402-80F4-E0304377E1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04" y="2214"/>
              <a:ext cx="243" cy="13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1300" b="1" i="0" u="none" strike="noStrike" cap="none" normalizeH="0" baseline="0" dirty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Reg</a:t>
              </a:r>
              <a:endParaRPr kumimoji="0" lang="zh-CN" altLang="zh-CN" sz="1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74" name="Freeform 71">
              <a:extLst>
                <a:ext uri="{FF2B5EF4-FFF2-40B4-BE49-F238E27FC236}">
                  <a16:creationId xmlns:a16="http://schemas.microsoft.com/office/drawing/2014/main" id="{043647C4-2465-4B99-90A8-43BE318F618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1" y="2187"/>
              <a:ext cx="111" cy="233"/>
            </a:xfrm>
            <a:custGeom>
              <a:avLst/>
              <a:gdLst>
                <a:gd name="T0" fmla="*/ 111 w 111"/>
                <a:gd name="T1" fmla="*/ 0 h 233"/>
                <a:gd name="T2" fmla="*/ 0 w 111"/>
                <a:gd name="T3" fmla="*/ 0 h 233"/>
                <a:gd name="T4" fmla="*/ 0 w 111"/>
                <a:gd name="T5" fmla="*/ 233 h 233"/>
                <a:gd name="T6" fmla="*/ 111 w 111"/>
                <a:gd name="T7" fmla="*/ 233 h 2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11" h="233">
                  <a:moveTo>
                    <a:pt x="111" y="0"/>
                  </a:moveTo>
                  <a:lnTo>
                    <a:pt x="0" y="0"/>
                  </a:lnTo>
                  <a:lnTo>
                    <a:pt x="0" y="233"/>
                  </a:lnTo>
                  <a:lnTo>
                    <a:pt x="111" y="233"/>
                  </a:lnTo>
                </a:path>
              </a:pathLst>
            </a:custGeom>
            <a:noFill/>
            <a:ln w="206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5" name="Freeform 72">
              <a:extLst>
                <a:ext uri="{FF2B5EF4-FFF2-40B4-BE49-F238E27FC236}">
                  <a16:creationId xmlns:a16="http://schemas.microsoft.com/office/drawing/2014/main" id="{4B203058-8423-4D2C-A59A-66241046583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3" y="2187"/>
              <a:ext cx="116" cy="233"/>
            </a:xfrm>
            <a:custGeom>
              <a:avLst/>
              <a:gdLst>
                <a:gd name="T0" fmla="*/ 0 w 116"/>
                <a:gd name="T1" fmla="*/ 0 h 233"/>
                <a:gd name="T2" fmla="*/ 116 w 116"/>
                <a:gd name="T3" fmla="*/ 0 h 233"/>
                <a:gd name="T4" fmla="*/ 116 w 116"/>
                <a:gd name="T5" fmla="*/ 233 h 233"/>
                <a:gd name="T6" fmla="*/ 0 w 116"/>
                <a:gd name="T7" fmla="*/ 233 h 2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16" h="233">
                  <a:moveTo>
                    <a:pt x="0" y="0"/>
                  </a:moveTo>
                  <a:lnTo>
                    <a:pt x="116" y="0"/>
                  </a:lnTo>
                  <a:lnTo>
                    <a:pt x="116" y="233"/>
                  </a:lnTo>
                  <a:lnTo>
                    <a:pt x="0" y="233"/>
                  </a:lnTo>
                </a:path>
              </a:pathLst>
            </a:custGeom>
            <a:noFill/>
            <a:ln w="206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6" name="Line 73">
              <a:extLst>
                <a:ext uri="{FF2B5EF4-FFF2-40B4-BE49-F238E27FC236}">
                  <a16:creationId xmlns:a16="http://schemas.microsoft.com/office/drawing/2014/main" id="{E55D5F2A-E0CE-4250-869D-447E7371DF3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59" y="2304"/>
              <a:ext cx="112" cy="0"/>
            </a:xfrm>
            <a:prstGeom prst="line">
              <a:avLst/>
            </a:prstGeom>
            <a:noFill/>
            <a:ln w="20638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7" name="Line 74">
              <a:extLst>
                <a:ext uri="{FF2B5EF4-FFF2-40B4-BE49-F238E27FC236}">
                  <a16:creationId xmlns:a16="http://schemas.microsoft.com/office/drawing/2014/main" id="{B48FDBB2-E447-4408-8DC9-194DBE9D4DF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670" y="2304"/>
              <a:ext cx="122" cy="0"/>
            </a:xfrm>
            <a:prstGeom prst="line">
              <a:avLst/>
            </a:prstGeom>
            <a:noFill/>
            <a:ln w="20638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8" name="Line 75">
              <a:extLst>
                <a:ext uri="{FF2B5EF4-FFF2-40B4-BE49-F238E27FC236}">
                  <a16:creationId xmlns:a16="http://schemas.microsoft.com/office/drawing/2014/main" id="{CE6E6973-9349-46E1-9481-C851ED02489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354" y="2382"/>
              <a:ext cx="127" cy="0"/>
            </a:xfrm>
            <a:prstGeom prst="line">
              <a:avLst/>
            </a:prstGeom>
            <a:noFill/>
            <a:ln w="20638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9" name="Line 76">
              <a:extLst>
                <a:ext uri="{FF2B5EF4-FFF2-40B4-BE49-F238E27FC236}">
                  <a16:creationId xmlns:a16="http://schemas.microsoft.com/office/drawing/2014/main" id="{53206E5E-8250-4270-A8DB-DE285C91541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422" y="2382"/>
              <a:ext cx="0" cy="155"/>
            </a:xfrm>
            <a:prstGeom prst="line">
              <a:avLst/>
            </a:prstGeom>
            <a:noFill/>
            <a:ln w="23813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0" name="Line 77">
              <a:extLst>
                <a:ext uri="{FF2B5EF4-FFF2-40B4-BE49-F238E27FC236}">
                  <a16:creationId xmlns:a16="http://schemas.microsoft.com/office/drawing/2014/main" id="{28BB064B-09F3-45D6-B9A3-43DE4CC757D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422" y="2537"/>
              <a:ext cx="273" cy="0"/>
            </a:xfrm>
            <a:prstGeom prst="line">
              <a:avLst/>
            </a:prstGeom>
            <a:noFill/>
            <a:ln w="23813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1" name="Line 78">
              <a:extLst>
                <a:ext uri="{FF2B5EF4-FFF2-40B4-BE49-F238E27FC236}">
                  <a16:creationId xmlns:a16="http://schemas.microsoft.com/office/drawing/2014/main" id="{0742660E-594F-42D5-97B4-D2864DA3E9D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695" y="2304"/>
              <a:ext cx="0" cy="233"/>
            </a:xfrm>
            <a:prstGeom prst="line">
              <a:avLst/>
            </a:prstGeom>
            <a:noFill/>
            <a:ln w="23813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2" name="Line 79">
              <a:extLst>
                <a:ext uri="{FF2B5EF4-FFF2-40B4-BE49-F238E27FC236}">
                  <a16:creationId xmlns:a16="http://schemas.microsoft.com/office/drawing/2014/main" id="{CA1B5BF5-4F59-4469-8EBA-B8BC9C35DCB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763" y="2304"/>
              <a:ext cx="0" cy="194"/>
            </a:xfrm>
            <a:prstGeom prst="line">
              <a:avLst/>
            </a:prstGeom>
            <a:noFill/>
            <a:ln w="23813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3" name="Line 80">
              <a:extLst>
                <a:ext uri="{FF2B5EF4-FFF2-40B4-BE49-F238E27FC236}">
                  <a16:creationId xmlns:a16="http://schemas.microsoft.com/office/drawing/2014/main" id="{94C91061-EDF8-4F6F-BF6A-DFF08B7AAB7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763" y="2498"/>
              <a:ext cx="350" cy="0"/>
            </a:xfrm>
            <a:prstGeom prst="line">
              <a:avLst/>
            </a:prstGeom>
            <a:noFill/>
            <a:ln w="23813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4" name="Line 81">
              <a:extLst>
                <a:ext uri="{FF2B5EF4-FFF2-40B4-BE49-F238E27FC236}">
                  <a16:creationId xmlns:a16="http://schemas.microsoft.com/office/drawing/2014/main" id="{B3087779-3FB0-4D5E-B3CB-DC2E3437BB3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13" y="2304"/>
              <a:ext cx="0" cy="194"/>
            </a:xfrm>
            <a:prstGeom prst="line">
              <a:avLst/>
            </a:prstGeom>
            <a:noFill/>
            <a:ln w="23813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5" name="Freeform 82">
              <a:extLst>
                <a:ext uri="{FF2B5EF4-FFF2-40B4-BE49-F238E27FC236}">
                  <a16:creationId xmlns:a16="http://schemas.microsoft.com/office/drawing/2014/main" id="{BCC576D3-1962-4FF7-8B81-1BA43F52082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1" y="2537"/>
              <a:ext cx="169" cy="388"/>
            </a:xfrm>
            <a:custGeom>
              <a:avLst/>
              <a:gdLst>
                <a:gd name="T0" fmla="*/ 0 w 169"/>
                <a:gd name="T1" fmla="*/ 259 h 388"/>
                <a:gd name="T2" fmla="*/ 56 w 169"/>
                <a:gd name="T3" fmla="*/ 194 h 388"/>
                <a:gd name="T4" fmla="*/ 0 w 169"/>
                <a:gd name="T5" fmla="*/ 130 h 388"/>
                <a:gd name="T6" fmla="*/ 0 w 169"/>
                <a:gd name="T7" fmla="*/ 0 h 388"/>
                <a:gd name="T8" fmla="*/ 169 w 169"/>
                <a:gd name="T9" fmla="*/ 130 h 388"/>
                <a:gd name="T10" fmla="*/ 169 w 169"/>
                <a:gd name="T11" fmla="*/ 259 h 388"/>
                <a:gd name="T12" fmla="*/ 0 w 169"/>
                <a:gd name="T13" fmla="*/ 388 h 388"/>
                <a:gd name="T14" fmla="*/ 0 w 169"/>
                <a:gd name="T15" fmla="*/ 259 h 3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69" h="388">
                  <a:moveTo>
                    <a:pt x="0" y="259"/>
                  </a:moveTo>
                  <a:lnTo>
                    <a:pt x="56" y="194"/>
                  </a:lnTo>
                  <a:lnTo>
                    <a:pt x="0" y="130"/>
                  </a:lnTo>
                  <a:lnTo>
                    <a:pt x="0" y="0"/>
                  </a:lnTo>
                  <a:lnTo>
                    <a:pt x="169" y="130"/>
                  </a:lnTo>
                  <a:lnTo>
                    <a:pt x="169" y="259"/>
                  </a:lnTo>
                  <a:lnTo>
                    <a:pt x="0" y="388"/>
                  </a:lnTo>
                  <a:lnTo>
                    <a:pt x="0" y="259"/>
                  </a:lnTo>
                </a:path>
              </a:pathLst>
            </a:custGeom>
            <a:noFill/>
            <a:ln w="206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6" name="Rectangle 83">
              <a:extLst>
                <a:ext uri="{FF2B5EF4-FFF2-40B4-BE49-F238E27FC236}">
                  <a16:creationId xmlns:a16="http://schemas.microsoft.com/office/drawing/2014/main" id="{E4031137-2F35-4526-855E-E39CB14F1FDF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2843" y="2674"/>
              <a:ext cx="199" cy="11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1200" b="1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ALU</a:t>
              </a:r>
              <a:endParaRPr kumimoji="0" lang="zh-CN" altLang="zh-CN" sz="12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87" name="Rectangle 84">
              <a:extLst>
                <a:ext uri="{FF2B5EF4-FFF2-40B4-BE49-F238E27FC236}">
                  <a16:creationId xmlns:a16="http://schemas.microsoft.com/office/drawing/2014/main" id="{619CA58F-2939-4AB5-90BE-D10F7D9D0E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40" y="2642"/>
              <a:ext cx="117" cy="12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1300" b="1" i="0" u="none" strike="noStrike" cap="none" normalizeH="0" baseline="0" dirty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I</a:t>
              </a:r>
              <a:r>
                <a:rPr kumimoji="0" lang="en-US" altLang="zh-CN" sz="1300" b="1" i="0" u="none" strike="noStrike" cap="none" normalizeH="0" baseline="0" dirty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M</a:t>
              </a:r>
              <a:endParaRPr kumimoji="0" lang="zh-CN" altLang="zh-CN" sz="1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88" name="Freeform 85">
              <a:extLst>
                <a:ext uri="{FF2B5EF4-FFF2-40B4-BE49-F238E27FC236}">
                  <a16:creationId xmlns:a16="http://schemas.microsoft.com/office/drawing/2014/main" id="{53430477-A20E-42B0-BF24-732D3CBFFC0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2" y="2615"/>
              <a:ext cx="135" cy="233"/>
            </a:xfrm>
            <a:custGeom>
              <a:avLst/>
              <a:gdLst>
                <a:gd name="T0" fmla="*/ 135 w 135"/>
                <a:gd name="T1" fmla="*/ 0 h 233"/>
                <a:gd name="T2" fmla="*/ 0 w 135"/>
                <a:gd name="T3" fmla="*/ 0 h 233"/>
                <a:gd name="T4" fmla="*/ 0 w 135"/>
                <a:gd name="T5" fmla="*/ 233 h 233"/>
                <a:gd name="T6" fmla="*/ 135 w 135"/>
                <a:gd name="T7" fmla="*/ 233 h 2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5" h="233">
                  <a:moveTo>
                    <a:pt x="135" y="0"/>
                  </a:moveTo>
                  <a:lnTo>
                    <a:pt x="0" y="0"/>
                  </a:lnTo>
                  <a:lnTo>
                    <a:pt x="0" y="233"/>
                  </a:lnTo>
                  <a:lnTo>
                    <a:pt x="135" y="233"/>
                  </a:lnTo>
                </a:path>
              </a:pathLst>
            </a:custGeom>
            <a:noFill/>
            <a:ln w="206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9" name="Freeform 86">
              <a:extLst>
                <a:ext uri="{FF2B5EF4-FFF2-40B4-BE49-F238E27FC236}">
                  <a16:creationId xmlns:a16="http://schemas.microsoft.com/office/drawing/2014/main" id="{4825C6B1-5802-4065-A227-69A8D34FFFF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8" y="2615"/>
              <a:ext cx="135" cy="233"/>
            </a:xfrm>
            <a:custGeom>
              <a:avLst/>
              <a:gdLst>
                <a:gd name="T0" fmla="*/ 0 w 135"/>
                <a:gd name="T1" fmla="*/ 0 h 233"/>
                <a:gd name="T2" fmla="*/ 135 w 135"/>
                <a:gd name="T3" fmla="*/ 0 h 233"/>
                <a:gd name="T4" fmla="*/ 135 w 135"/>
                <a:gd name="T5" fmla="*/ 233 h 233"/>
                <a:gd name="T6" fmla="*/ 0 w 135"/>
                <a:gd name="T7" fmla="*/ 233 h 2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5" h="233">
                  <a:moveTo>
                    <a:pt x="0" y="0"/>
                  </a:moveTo>
                  <a:lnTo>
                    <a:pt x="135" y="0"/>
                  </a:lnTo>
                  <a:lnTo>
                    <a:pt x="135" y="233"/>
                  </a:lnTo>
                  <a:lnTo>
                    <a:pt x="0" y="233"/>
                  </a:lnTo>
                </a:path>
              </a:pathLst>
            </a:custGeom>
            <a:noFill/>
            <a:ln w="206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0" name="Rectangle 87">
              <a:extLst>
                <a:ext uri="{FF2B5EF4-FFF2-40B4-BE49-F238E27FC236}">
                  <a16:creationId xmlns:a16="http://schemas.microsoft.com/office/drawing/2014/main" id="{111E9F1D-D9BE-4586-89C9-71457F7F10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93" y="2646"/>
              <a:ext cx="243" cy="13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1300" b="1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Reg</a:t>
              </a:r>
              <a:endParaRPr kumimoji="0" lang="zh-CN" altLang="zh-CN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91" name="Freeform 88">
              <a:extLst>
                <a:ext uri="{FF2B5EF4-FFF2-40B4-BE49-F238E27FC236}">
                  <a16:creationId xmlns:a16="http://schemas.microsoft.com/office/drawing/2014/main" id="{D43177C6-BDF2-4B95-832F-1509F421498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1" y="2615"/>
              <a:ext cx="121" cy="233"/>
            </a:xfrm>
            <a:custGeom>
              <a:avLst/>
              <a:gdLst>
                <a:gd name="T0" fmla="*/ 121 w 121"/>
                <a:gd name="T1" fmla="*/ 0 h 233"/>
                <a:gd name="T2" fmla="*/ 0 w 121"/>
                <a:gd name="T3" fmla="*/ 0 h 233"/>
                <a:gd name="T4" fmla="*/ 0 w 121"/>
                <a:gd name="T5" fmla="*/ 233 h 233"/>
                <a:gd name="T6" fmla="*/ 121 w 121"/>
                <a:gd name="T7" fmla="*/ 233 h 2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1" h="233">
                  <a:moveTo>
                    <a:pt x="121" y="0"/>
                  </a:moveTo>
                  <a:lnTo>
                    <a:pt x="0" y="0"/>
                  </a:lnTo>
                  <a:lnTo>
                    <a:pt x="0" y="233"/>
                  </a:lnTo>
                  <a:lnTo>
                    <a:pt x="121" y="233"/>
                  </a:lnTo>
                </a:path>
              </a:pathLst>
            </a:custGeom>
            <a:noFill/>
            <a:ln w="206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2" name="Freeform 89">
              <a:extLst>
                <a:ext uri="{FF2B5EF4-FFF2-40B4-BE49-F238E27FC236}">
                  <a16:creationId xmlns:a16="http://schemas.microsoft.com/office/drawing/2014/main" id="{82F10F87-1DFC-471F-ADD2-3052CF40345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3" y="2615"/>
              <a:ext cx="121" cy="233"/>
            </a:xfrm>
            <a:custGeom>
              <a:avLst/>
              <a:gdLst>
                <a:gd name="T0" fmla="*/ 0 w 121"/>
                <a:gd name="T1" fmla="*/ 0 h 233"/>
                <a:gd name="T2" fmla="*/ 121 w 121"/>
                <a:gd name="T3" fmla="*/ 0 h 233"/>
                <a:gd name="T4" fmla="*/ 121 w 121"/>
                <a:gd name="T5" fmla="*/ 233 h 233"/>
                <a:gd name="T6" fmla="*/ 0 w 121"/>
                <a:gd name="T7" fmla="*/ 233 h 2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1" h="233">
                  <a:moveTo>
                    <a:pt x="0" y="0"/>
                  </a:moveTo>
                  <a:lnTo>
                    <a:pt x="121" y="0"/>
                  </a:lnTo>
                  <a:lnTo>
                    <a:pt x="121" y="233"/>
                  </a:lnTo>
                  <a:lnTo>
                    <a:pt x="0" y="233"/>
                  </a:lnTo>
                </a:path>
              </a:pathLst>
            </a:custGeom>
            <a:noFill/>
            <a:ln w="206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3" name="Line 90">
              <a:extLst>
                <a:ext uri="{FF2B5EF4-FFF2-40B4-BE49-F238E27FC236}">
                  <a16:creationId xmlns:a16="http://schemas.microsoft.com/office/drawing/2014/main" id="{BDCBC357-1AF3-463F-96E6-DE8243B2218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369" y="2732"/>
              <a:ext cx="92" cy="0"/>
            </a:xfrm>
            <a:prstGeom prst="line">
              <a:avLst/>
            </a:prstGeom>
            <a:noFill/>
            <a:ln w="20638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4" name="Freeform 91">
              <a:extLst>
                <a:ext uri="{FF2B5EF4-FFF2-40B4-BE49-F238E27FC236}">
                  <a16:creationId xmlns:a16="http://schemas.microsoft.com/office/drawing/2014/main" id="{041A249F-190B-4256-BE10-E493A7B1EC9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2" y="2654"/>
              <a:ext cx="39" cy="77"/>
            </a:xfrm>
            <a:custGeom>
              <a:avLst/>
              <a:gdLst>
                <a:gd name="T0" fmla="*/ 0 w 39"/>
                <a:gd name="T1" fmla="*/ 77 h 77"/>
                <a:gd name="T2" fmla="*/ 0 w 39"/>
                <a:gd name="T3" fmla="*/ 0 h 77"/>
                <a:gd name="T4" fmla="*/ 39 w 39"/>
                <a:gd name="T5" fmla="*/ 0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9" h="77">
                  <a:moveTo>
                    <a:pt x="0" y="77"/>
                  </a:moveTo>
                  <a:lnTo>
                    <a:pt x="0" y="0"/>
                  </a:lnTo>
                  <a:lnTo>
                    <a:pt x="39" y="0"/>
                  </a:lnTo>
                </a:path>
              </a:pathLst>
            </a:custGeom>
            <a:noFill/>
            <a:ln w="206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5" name="Line 92">
              <a:extLst>
                <a:ext uri="{FF2B5EF4-FFF2-40B4-BE49-F238E27FC236}">
                  <a16:creationId xmlns:a16="http://schemas.microsoft.com/office/drawing/2014/main" id="{8B3ED319-CD99-4CAF-8D32-B2CCAF55ED0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704" y="2654"/>
              <a:ext cx="127" cy="0"/>
            </a:xfrm>
            <a:prstGeom prst="line">
              <a:avLst/>
            </a:prstGeom>
            <a:noFill/>
            <a:ln w="20638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6" name="Rectangle 93">
              <a:extLst>
                <a:ext uri="{FF2B5EF4-FFF2-40B4-BE49-F238E27FC236}">
                  <a16:creationId xmlns:a16="http://schemas.microsoft.com/office/drawing/2014/main" id="{BCABCBF2-14C4-413C-A325-3449822910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55" y="2642"/>
              <a:ext cx="209" cy="13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1300" b="1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DM</a:t>
              </a:r>
              <a:endParaRPr kumimoji="0" lang="zh-CN" altLang="zh-CN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97" name="Freeform 94">
              <a:extLst>
                <a:ext uri="{FF2B5EF4-FFF2-40B4-BE49-F238E27FC236}">
                  <a16:creationId xmlns:a16="http://schemas.microsoft.com/office/drawing/2014/main" id="{691DC7D2-6588-4F57-842A-26B46331679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2" y="2615"/>
              <a:ext cx="130" cy="233"/>
            </a:xfrm>
            <a:custGeom>
              <a:avLst/>
              <a:gdLst>
                <a:gd name="T0" fmla="*/ 130 w 130"/>
                <a:gd name="T1" fmla="*/ 0 h 233"/>
                <a:gd name="T2" fmla="*/ 0 w 130"/>
                <a:gd name="T3" fmla="*/ 0 h 233"/>
                <a:gd name="T4" fmla="*/ 0 w 130"/>
                <a:gd name="T5" fmla="*/ 233 h 233"/>
                <a:gd name="T6" fmla="*/ 130 w 130"/>
                <a:gd name="T7" fmla="*/ 233 h 2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0" h="233">
                  <a:moveTo>
                    <a:pt x="130" y="0"/>
                  </a:moveTo>
                  <a:lnTo>
                    <a:pt x="0" y="0"/>
                  </a:lnTo>
                  <a:lnTo>
                    <a:pt x="0" y="233"/>
                  </a:lnTo>
                  <a:lnTo>
                    <a:pt x="130" y="233"/>
                  </a:lnTo>
                </a:path>
              </a:pathLst>
            </a:custGeom>
            <a:noFill/>
            <a:ln w="206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8" name="Freeform 95">
              <a:extLst>
                <a:ext uri="{FF2B5EF4-FFF2-40B4-BE49-F238E27FC236}">
                  <a16:creationId xmlns:a16="http://schemas.microsoft.com/office/drawing/2014/main" id="{5182A52D-A3D1-4494-A553-C64DA94EEE2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8" y="2615"/>
              <a:ext cx="136" cy="233"/>
            </a:xfrm>
            <a:custGeom>
              <a:avLst/>
              <a:gdLst>
                <a:gd name="T0" fmla="*/ 0 w 136"/>
                <a:gd name="T1" fmla="*/ 0 h 233"/>
                <a:gd name="T2" fmla="*/ 136 w 136"/>
                <a:gd name="T3" fmla="*/ 0 h 233"/>
                <a:gd name="T4" fmla="*/ 136 w 136"/>
                <a:gd name="T5" fmla="*/ 233 h 233"/>
                <a:gd name="T6" fmla="*/ 0 w 136"/>
                <a:gd name="T7" fmla="*/ 233 h 2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6" h="233">
                  <a:moveTo>
                    <a:pt x="0" y="0"/>
                  </a:moveTo>
                  <a:lnTo>
                    <a:pt x="136" y="0"/>
                  </a:lnTo>
                  <a:lnTo>
                    <a:pt x="136" y="233"/>
                  </a:lnTo>
                  <a:lnTo>
                    <a:pt x="0" y="233"/>
                  </a:lnTo>
                </a:path>
              </a:pathLst>
            </a:custGeom>
            <a:noFill/>
            <a:ln w="206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9" name="Rectangle 96">
              <a:extLst>
                <a:ext uri="{FF2B5EF4-FFF2-40B4-BE49-F238E27FC236}">
                  <a16:creationId xmlns:a16="http://schemas.microsoft.com/office/drawing/2014/main" id="{C881CFA5-36CD-44F3-81E6-F508FB5228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54" y="2642"/>
              <a:ext cx="243" cy="13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1300" b="1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Reg</a:t>
              </a:r>
              <a:endParaRPr kumimoji="0" lang="zh-CN" altLang="zh-CN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100" name="Freeform 97">
              <a:extLst>
                <a:ext uri="{FF2B5EF4-FFF2-40B4-BE49-F238E27FC236}">
                  <a16:creationId xmlns:a16="http://schemas.microsoft.com/office/drawing/2014/main" id="{FEBF917B-71E5-4690-8B02-12B7C9E0901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1" y="2615"/>
              <a:ext cx="111" cy="233"/>
            </a:xfrm>
            <a:custGeom>
              <a:avLst/>
              <a:gdLst>
                <a:gd name="T0" fmla="*/ 111 w 111"/>
                <a:gd name="T1" fmla="*/ 0 h 233"/>
                <a:gd name="T2" fmla="*/ 0 w 111"/>
                <a:gd name="T3" fmla="*/ 0 h 233"/>
                <a:gd name="T4" fmla="*/ 0 w 111"/>
                <a:gd name="T5" fmla="*/ 233 h 233"/>
                <a:gd name="T6" fmla="*/ 111 w 111"/>
                <a:gd name="T7" fmla="*/ 233 h 2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11" h="233">
                  <a:moveTo>
                    <a:pt x="111" y="0"/>
                  </a:moveTo>
                  <a:lnTo>
                    <a:pt x="0" y="0"/>
                  </a:lnTo>
                  <a:lnTo>
                    <a:pt x="0" y="233"/>
                  </a:lnTo>
                  <a:lnTo>
                    <a:pt x="111" y="233"/>
                  </a:lnTo>
                </a:path>
              </a:pathLst>
            </a:custGeom>
            <a:noFill/>
            <a:ln w="206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1" name="Freeform 98">
              <a:extLst>
                <a:ext uri="{FF2B5EF4-FFF2-40B4-BE49-F238E27FC236}">
                  <a16:creationId xmlns:a16="http://schemas.microsoft.com/office/drawing/2014/main" id="{F7AD13DC-B53A-4C56-8C53-E3D2884425D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3" y="2615"/>
              <a:ext cx="116" cy="233"/>
            </a:xfrm>
            <a:custGeom>
              <a:avLst/>
              <a:gdLst>
                <a:gd name="T0" fmla="*/ 0 w 116"/>
                <a:gd name="T1" fmla="*/ 0 h 233"/>
                <a:gd name="T2" fmla="*/ 116 w 116"/>
                <a:gd name="T3" fmla="*/ 0 h 233"/>
                <a:gd name="T4" fmla="*/ 116 w 116"/>
                <a:gd name="T5" fmla="*/ 233 h 233"/>
                <a:gd name="T6" fmla="*/ 0 w 116"/>
                <a:gd name="T7" fmla="*/ 233 h 2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16" h="233">
                  <a:moveTo>
                    <a:pt x="0" y="0"/>
                  </a:moveTo>
                  <a:lnTo>
                    <a:pt x="116" y="0"/>
                  </a:lnTo>
                  <a:lnTo>
                    <a:pt x="116" y="233"/>
                  </a:lnTo>
                  <a:lnTo>
                    <a:pt x="0" y="233"/>
                  </a:lnTo>
                </a:path>
              </a:pathLst>
            </a:custGeom>
            <a:noFill/>
            <a:ln w="206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2" name="Line 99">
              <a:extLst>
                <a:ext uri="{FF2B5EF4-FFF2-40B4-BE49-F238E27FC236}">
                  <a16:creationId xmlns:a16="http://schemas.microsoft.com/office/drawing/2014/main" id="{5DC7BB20-7795-4572-A1ED-7420F0517F8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09" y="2732"/>
              <a:ext cx="112" cy="0"/>
            </a:xfrm>
            <a:prstGeom prst="line">
              <a:avLst/>
            </a:prstGeom>
            <a:noFill/>
            <a:ln w="20638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3" name="Line 100">
              <a:extLst>
                <a:ext uri="{FF2B5EF4-FFF2-40B4-BE49-F238E27FC236}">
                  <a16:creationId xmlns:a16="http://schemas.microsoft.com/office/drawing/2014/main" id="{D0842433-1E46-4122-B067-87F4ED53E0B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20" y="2732"/>
              <a:ext cx="122" cy="0"/>
            </a:xfrm>
            <a:prstGeom prst="line">
              <a:avLst/>
            </a:prstGeom>
            <a:noFill/>
            <a:ln w="20638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4" name="Line 101">
              <a:extLst>
                <a:ext uri="{FF2B5EF4-FFF2-40B4-BE49-F238E27FC236}">
                  <a16:creationId xmlns:a16="http://schemas.microsoft.com/office/drawing/2014/main" id="{569BBB25-A217-4A04-AEDF-A74B20DEBC2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704" y="2809"/>
              <a:ext cx="127" cy="0"/>
            </a:xfrm>
            <a:prstGeom prst="line">
              <a:avLst/>
            </a:prstGeom>
            <a:noFill/>
            <a:ln w="20638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5" name="Line 102">
              <a:extLst>
                <a:ext uri="{FF2B5EF4-FFF2-40B4-BE49-F238E27FC236}">
                  <a16:creationId xmlns:a16="http://schemas.microsoft.com/office/drawing/2014/main" id="{E0AC3916-B46B-4B5A-BA4D-AA96C383B3F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772" y="2809"/>
              <a:ext cx="0" cy="156"/>
            </a:xfrm>
            <a:prstGeom prst="line">
              <a:avLst/>
            </a:prstGeom>
            <a:noFill/>
            <a:ln w="23813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6" name="Line 103">
              <a:extLst>
                <a:ext uri="{FF2B5EF4-FFF2-40B4-BE49-F238E27FC236}">
                  <a16:creationId xmlns:a16="http://schemas.microsoft.com/office/drawing/2014/main" id="{EEB1EE80-8C38-4D54-B573-7296667C20A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772" y="2965"/>
              <a:ext cx="273" cy="0"/>
            </a:xfrm>
            <a:prstGeom prst="line">
              <a:avLst/>
            </a:prstGeom>
            <a:noFill/>
            <a:ln w="23813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7" name="Line 104">
              <a:extLst>
                <a:ext uri="{FF2B5EF4-FFF2-40B4-BE49-F238E27FC236}">
                  <a16:creationId xmlns:a16="http://schemas.microsoft.com/office/drawing/2014/main" id="{D57095BE-640E-4F50-AAFE-973962825BC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45" y="2732"/>
              <a:ext cx="0" cy="233"/>
            </a:xfrm>
            <a:prstGeom prst="line">
              <a:avLst/>
            </a:prstGeom>
            <a:noFill/>
            <a:ln w="23813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8" name="Line 105">
              <a:extLst>
                <a:ext uri="{FF2B5EF4-FFF2-40B4-BE49-F238E27FC236}">
                  <a16:creationId xmlns:a16="http://schemas.microsoft.com/office/drawing/2014/main" id="{6E48E5C0-50B8-49ED-94A9-6012ABB78B2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13" y="2732"/>
              <a:ext cx="0" cy="194"/>
            </a:xfrm>
            <a:prstGeom prst="line">
              <a:avLst/>
            </a:prstGeom>
            <a:noFill/>
            <a:ln w="23813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9" name="Line 106">
              <a:extLst>
                <a:ext uri="{FF2B5EF4-FFF2-40B4-BE49-F238E27FC236}">
                  <a16:creationId xmlns:a16="http://schemas.microsoft.com/office/drawing/2014/main" id="{F3AD758C-5ABC-4999-A59B-877E5C4CB26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13" y="2926"/>
              <a:ext cx="350" cy="0"/>
            </a:xfrm>
            <a:prstGeom prst="line">
              <a:avLst/>
            </a:prstGeom>
            <a:noFill/>
            <a:ln w="23813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0" name="Line 107">
              <a:extLst>
                <a:ext uri="{FF2B5EF4-FFF2-40B4-BE49-F238E27FC236}">
                  <a16:creationId xmlns:a16="http://schemas.microsoft.com/office/drawing/2014/main" id="{E468841D-9030-454B-AC7E-68419F78784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63" y="2732"/>
              <a:ext cx="0" cy="194"/>
            </a:xfrm>
            <a:prstGeom prst="line">
              <a:avLst/>
            </a:prstGeom>
            <a:noFill/>
            <a:ln w="23813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1" name="Freeform 108">
              <a:extLst>
                <a:ext uri="{FF2B5EF4-FFF2-40B4-BE49-F238E27FC236}">
                  <a16:creationId xmlns:a16="http://schemas.microsoft.com/office/drawing/2014/main" id="{6302CE42-74A1-41E6-A051-0BC90157DC3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1" y="2965"/>
              <a:ext cx="169" cy="388"/>
            </a:xfrm>
            <a:custGeom>
              <a:avLst/>
              <a:gdLst>
                <a:gd name="T0" fmla="*/ 0 w 169"/>
                <a:gd name="T1" fmla="*/ 259 h 388"/>
                <a:gd name="T2" fmla="*/ 56 w 169"/>
                <a:gd name="T3" fmla="*/ 194 h 388"/>
                <a:gd name="T4" fmla="*/ 0 w 169"/>
                <a:gd name="T5" fmla="*/ 129 h 388"/>
                <a:gd name="T6" fmla="*/ 0 w 169"/>
                <a:gd name="T7" fmla="*/ 0 h 388"/>
                <a:gd name="T8" fmla="*/ 169 w 169"/>
                <a:gd name="T9" fmla="*/ 129 h 388"/>
                <a:gd name="T10" fmla="*/ 169 w 169"/>
                <a:gd name="T11" fmla="*/ 259 h 388"/>
                <a:gd name="T12" fmla="*/ 0 w 169"/>
                <a:gd name="T13" fmla="*/ 388 h 388"/>
                <a:gd name="T14" fmla="*/ 0 w 169"/>
                <a:gd name="T15" fmla="*/ 259 h 3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69" h="388">
                  <a:moveTo>
                    <a:pt x="0" y="259"/>
                  </a:moveTo>
                  <a:lnTo>
                    <a:pt x="56" y="194"/>
                  </a:lnTo>
                  <a:lnTo>
                    <a:pt x="0" y="129"/>
                  </a:lnTo>
                  <a:lnTo>
                    <a:pt x="0" y="0"/>
                  </a:lnTo>
                  <a:lnTo>
                    <a:pt x="169" y="129"/>
                  </a:lnTo>
                  <a:lnTo>
                    <a:pt x="169" y="259"/>
                  </a:lnTo>
                  <a:lnTo>
                    <a:pt x="0" y="388"/>
                  </a:lnTo>
                  <a:lnTo>
                    <a:pt x="0" y="259"/>
                  </a:lnTo>
                </a:path>
              </a:pathLst>
            </a:custGeom>
            <a:noFill/>
            <a:ln w="206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2" name="Rectangle 109">
              <a:extLst>
                <a:ext uri="{FF2B5EF4-FFF2-40B4-BE49-F238E27FC236}">
                  <a16:creationId xmlns:a16="http://schemas.microsoft.com/office/drawing/2014/main" id="{58863A57-5F16-4BBB-B8B1-39B08D74865F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3193" y="3101"/>
              <a:ext cx="199" cy="11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1200" b="1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ALU</a:t>
              </a:r>
              <a:endParaRPr kumimoji="0" lang="zh-CN" altLang="zh-CN" sz="12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113" name="Rectangle 110">
              <a:extLst>
                <a:ext uri="{FF2B5EF4-FFF2-40B4-BE49-F238E27FC236}">
                  <a16:creationId xmlns:a16="http://schemas.microsoft.com/office/drawing/2014/main" id="{06C26AA2-9FE1-469C-8F00-EBA5B42C08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91" y="3070"/>
              <a:ext cx="117" cy="12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1300" b="1" i="0" u="none" strike="noStrike" cap="none" normalizeH="0" baseline="0" dirty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I</a:t>
              </a:r>
              <a:r>
                <a:rPr kumimoji="0" lang="en-US" altLang="zh-CN" sz="1300" b="1" i="0" u="none" strike="noStrike" cap="none" normalizeH="0" baseline="0" dirty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M</a:t>
              </a:r>
              <a:endParaRPr kumimoji="0" lang="zh-CN" altLang="zh-CN" sz="1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114" name="Freeform 111">
              <a:extLst>
                <a:ext uri="{FF2B5EF4-FFF2-40B4-BE49-F238E27FC236}">
                  <a16:creationId xmlns:a16="http://schemas.microsoft.com/office/drawing/2014/main" id="{E3640575-D52E-4A0D-BC8D-FEFB7097B2A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2" y="3043"/>
              <a:ext cx="135" cy="233"/>
            </a:xfrm>
            <a:custGeom>
              <a:avLst/>
              <a:gdLst>
                <a:gd name="T0" fmla="*/ 135 w 135"/>
                <a:gd name="T1" fmla="*/ 0 h 233"/>
                <a:gd name="T2" fmla="*/ 0 w 135"/>
                <a:gd name="T3" fmla="*/ 0 h 233"/>
                <a:gd name="T4" fmla="*/ 0 w 135"/>
                <a:gd name="T5" fmla="*/ 233 h 233"/>
                <a:gd name="T6" fmla="*/ 135 w 135"/>
                <a:gd name="T7" fmla="*/ 233 h 2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5" h="233">
                  <a:moveTo>
                    <a:pt x="135" y="0"/>
                  </a:moveTo>
                  <a:lnTo>
                    <a:pt x="0" y="0"/>
                  </a:lnTo>
                  <a:lnTo>
                    <a:pt x="0" y="233"/>
                  </a:lnTo>
                  <a:lnTo>
                    <a:pt x="135" y="233"/>
                  </a:lnTo>
                </a:path>
              </a:pathLst>
            </a:custGeom>
            <a:noFill/>
            <a:ln w="206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5" name="Freeform 112">
              <a:extLst>
                <a:ext uri="{FF2B5EF4-FFF2-40B4-BE49-F238E27FC236}">
                  <a16:creationId xmlns:a16="http://schemas.microsoft.com/office/drawing/2014/main" id="{EA13B560-EFB7-45C0-AF9D-9C4B752C46D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8" y="3043"/>
              <a:ext cx="136" cy="233"/>
            </a:xfrm>
            <a:custGeom>
              <a:avLst/>
              <a:gdLst>
                <a:gd name="T0" fmla="*/ 0 w 136"/>
                <a:gd name="T1" fmla="*/ 0 h 233"/>
                <a:gd name="T2" fmla="*/ 136 w 136"/>
                <a:gd name="T3" fmla="*/ 0 h 233"/>
                <a:gd name="T4" fmla="*/ 136 w 136"/>
                <a:gd name="T5" fmla="*/ 233 h 233"/>
                <a:gd name="T6" fmla="*/ 0 w 136"/>
                <a:gd name="T7" fmla="*/ 233 h 2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6" h="233">
                  <a:moveTo>
                    <a:pt x="0" y="0"/>
                  </a:moveTo>
                  <a:lnTo>
                    <a:pt x="136" y="0"/>
                  </a:lnTo>
                  <a:lnTo>
                    <a:pt x="136" y="233"/>
                  </a:lnTo>
                  <a:lnTo>
                    <a:pt x="0" y="233"/>
                  </a:lnTo>
                </a:path>
              </a:pathLst>
            </a:custGeom>
            <a:noFill/>
            <a:ln w="206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6" name="Rectangle 113">
              <a:extLst>
                <a:ext uri="{FF2B5EF4-FFF2-40B4-BE49-F238E27FC236}">
                  <a16:creationId xmlns:a16="http://schemas.microsoft.com/office/drawing/2014/main" id="{055E1C87-FA5B-4ACC-9C1A-E7B838F897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43" y="3074"/>
              <a:ext cx="243" cy="13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1300" b="1" i="0" u="none" strike="noStrike" cap="none" normalizeH="0" baseline="0" dirty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Reg</a:t>
              </a:r>
              <a:endParaRPr kumimoji="0" lang="zh-CN" altLang="zh-CN" sz="1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117" name="Freeform 114">
              <a:extLst>
                <a:ext uri="{FF2B5EF4-FFF2-40B4-BE49-F238E27FC236}">
                  <a16:creationId xmlns:a16="http://schemas.microsoft.com/office/drawing/2014/main" id="{EFF69D2A-4647-43BC-8356-9A939384D4A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1" y="3043"/>
              <a:ext cx="121" cy="233"/>
            </a:xfrm>
            <a:custGeom>
              <a:avLst/>
              <a:gdLst>
                <a:gd name="T0" fmla="*/ 121 w 121"/>
                <a:gd name="T1" fmla="*/ 0 h 233"/>
                <a:gd name="T2" fmla="*/ 0 w 121"/>
                <a:gd name="T3" fmla="*/ 0 h 233"/>
                <a:gd name="T4" fmla="*/ 0 w 121"/>
                <a:gd name="T5" fmla="*/ 233 h 233"/>
                <a:gd name="T6" fmla="*/ 121 w 121"/>
                <a:gd name="T7" fmla="*/ 233 h 2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1" h="233">
                  <a:moveTo>
                    <a:pt x="121" y="0"/>
                  </a:moveTo>
                  <a:lnTo>
                    <a:pt x="0" y="0"/>
                  </a:lnTo>
                  <a:lnTo>
                    <a:pt x="0" y="233"/>
                  </a:lnTo>
                  <a:lnTo>
                    <a:pt x="121" y="233"/>
                  </a:lnTo>
                </a:path>
              </a:pathLst>
            </a:custGeom>
            <a:noFill/>
            <a:ln w="206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8" name="Freeform 115">
              <a:extLst>
                <a:ext uri="{FF2B5EF4-FFF2-40B4-BE49-F238E27FC236}">
                  <a16:creationId xmlns:a16="http://schemas.microsoft.com/office/drawing/2014/main" id="{2255D30F-1380-46C4-8CB5-F7839BE7538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3" y="3043"/>
              <a:ext cx="116" cy="233"/>
            </a:xfrm>
            <a:custGeom>
              <a:avLst/>
              <a:gdLst>
                <a:gd name="T0" fmla="*/ 0 w 116"/>
                <a:gd name="T1" fmla="*/ 0 h 233"/>
                <a:gd name="T2" fmla="*/ 116 w 116"/>
                <a:gd name="T3" fmla="*/ 0 h 233"/>
                <a:gd name="T4" fmla="*/ 116 w 116"/>
                <a:gd name="T5" fmla="*/ 233 h 233"/>
                <a:gd name="T6" fmla="*/ 0 w 116"/>
                <a:gd name="T7" fmla="*/ 233 h 2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16" h="233">
                  <a:moveTo>
                    <a:pt x="0" y="0"/>
                  </a:moveTo>
                  <a:lnTo>
                    <a:pt x="116" y="0"/>
                  </a:lnTo>
                  <a:lnTo>
                    <a:pt x="116" y="233"/>
                  </a:lnTo>
                  <a:lnTo>
                    <a:pt x="0" y="233"/>
                  </a:lnTo>
                </a:path>
              </a:pathLst>
            </a:custGeom>
            <a:noFill/>
            <a:ln w="206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9" name="Line 116">
              <a:extLst>
                <a:ext uri="{FF2B5EF4-FFF2-40B4-BE49-F238E27FC236}">
                  <a16:creationId xmlns:a16="http://schemas.microsoft.com/office/drawing/2014/main" id="{B97A4DC9-9D6E-4F6E-846F-3BCAD189D29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719" y="3159"/>
              <a:ext cx="92" cy="0"/>
            </a:xfrm>
            <a:prstGeom prst="line">
              <a:avLst/>
            </a:prstGeom>
            <a:noFill/>
            <a:ln w="20638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0" name="Freeform 117">
              <a:extLst>
                <a:ext uri="{FF2B5EF4-FFF2-40B4-BE49-F238E27FC236}">
                  <a16:creationId xmlns:a16="http://schemas.microsoft.com/office/drawing/2014/main" id="{0844C9FB-DA97-4A59-92D9-D995B914CB9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2" y="3082"/>
              <a:ext cx="39" cy="77"/>
            </a:xfrm>
            <a:custGeom>
              <a:avLst/>
              <a:gdLst>
                <a:gd name="T0" fmla="*/ 0 w 39"/>
                <a:gd name="T1" fmla="*/ 77 h 77"/>
                <a:gd name="T2" fmla="*/ 0 w 39"/>
                <a:gd name="T3" fmla="*/ 0 h 77"/>
                <a:gd name="T4" fmla="*/ 39 w 39"/>
                <a:gd name="T5" fmla="*/ 0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9" h="77">
                  <a:moveTo>
                    <a:pt x="0" y="77"/>
                  </a:moveTo>
                  <a:lnTo>
                    <a:pt x="0" y="0"/>
                  </a:lnTo>
                  <a:lnTo>
                    <a:pt x="39" y="0"/>
                  </a:lnTo>
                </a:path>
              </a:pathLst>
            </a:custGeom>
            <a:noFill/>
            <a:ln w="206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1" name="Line 118">
              <a:extLst>
                <a:ext uri="{FF2B5EF4-FFF2-40B4-BE49-F238E27FC236}">
                  <a16:creationId xmlns:a16="http://schemas.microsoft.com/office/drawing/2014/main" id="{47EFF1F6-2599-4BC7-AA3A-5090BCB9A5F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54" y="3082"/>
              <a:ext cx="127" cy="0"/>
            </a:xfrm>
            <a:prstGeom prst="line">
              <a:avLst/>
            </a:prstGeom>
            <a:noFill/>
            <a:ln w="20638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2" name="Rectangle 119">
              <a:extLst>
                <a:ext uri="{FF2B5EF4-FFF2-40B4-BE49-F238E27FC236}">
                  <a16:creationId xmlns:a16="http://schemas.microsoft.com/office/drawing/2014/main" id="{86BDACA2-1D46-43BC-892B-6FF6B509CC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04" y="3070"/>
              <a:ext cx="209" cy="13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1300" b="1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DM</a:t>
              </a:r>
              <a:endParaRPr kumimoji="0" lang="zh-CN" altLang="zh-CN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123" name="Freeform 120">
              <a:extLst>
                <a:ext uri="{FF2B5EF4-FFF2-40B4-BE49-F238E27FC236}">
                  <a16:creationId xmlns:a16="http://schemas.microsoft.com/office/drawing/2014/main" id="{D13E98C5-62EE-4395-A593-61CB55B5E46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2" y="3043"/>
              <a:ext cx="130" cy="233"/>
            </a:xfrm>
            <a:custGeom>
              <a:avLst/>
              <a:gdLst>
                <a:gd name="T0" fmla="*/ 130 w 130"/>
                <a:gd name="T1" fmla="*/ 0 h 233"/>
                <a:gd name="T2" fmla="*/ 0 w 130"/>
                <a:gd name="T3" fmla="*/ 0 h 233"/>
                <a:gd name="T4" fmla="*/ 0 w 130"/>
                <a:gd name="T5" fmla="*/ 233 h 233"/>
                <a:gd name="T6" fmla="*/ 130 w 130"/>
                <a:gd name="T7" fmla="*/ 233 h 2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0" h="233">
                  <a:moveTo>
                    <a:pt x="130" y="0"/>
                  </a:moveTo>
                  <a:lnTo>
                    <a:pt x="0" y="0"/>
                  </a:lnTo>
                  <a:lnTo>
                    <a:pt x="0" y="233"/>
                  </a:lnTo>
                  <a:lnTo>
                    <a:pt x="130" y="233"/>
                  </a:lnTo>
                </a:path>
              </a:pathLst>
            </a:custGeom>
            <a:noFill/>
            <a:ln w="206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4" name="Freeform 121">
              <a:extLst>
                <a:ext uri="{FF2B5EF4-FFF2-40B4-BE49-F238E27FC236}">
                  <a16:creationId xmlns:a16="http://schemas.microsoft.com/office/drawing/2014/main" id="{B37D205F-CB5E-4352-84B2-45B97BBBBD1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8" y="3043"/>
              <a:ext cx="136" cy="233"/>
            </a:xfrm>
            <a:custGeom>
              <a:avLst/>
              <a:gdLst>
                <a:gd name="T0" fmla="*/ 0 w 136"/>
                <a:gd name="T1" fmla="*/ 0 h 233"/>
                <a:gd name="T2" fmla="*/ 136 w 136"/>
                <a:gd name="T3" fmla="*/ 0 h 233"/>
                <a:gd name="T4" fmla="*/ 136 w 136"/>
                <a:gd name="T5" fmla="*/ 233 h 233"/>
                <a:gd name="T6" fmla="*/ 0 w 136"/>
                <a:gd name="T7" fmla="*/ 233 h 2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6" h="233">
                  <a:moveTo>
                    <a:pt x="0" y="0"/>
                  </a:moveTo>
                  <a:lnTo>
                    <a:pt x="136" y="0"/>
                  </a:lnTo>
                  <a:lnTo>
                    <a:pt x="136" y="233"/>
                  </a:lnTo>
                  <a:lnTo>
                    <a:pt x="0" y="233"/>
                  </a:lnTo>
                </a:path>
              </a:pathLst>
            </a:custGeom>
            <a:noFill/>
            <a:ln w="206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5" name="Rectangle 122">
              <a:extLst>
                <a:ext uri="{FF2B5EF4-FFF2-40B4-BE49-F238E27FC236}">
                  <a16:creationId xmlns:a16="http://schemas.microsoft.com/office/drawing/2014/main" id="{0C4FD816-3FCA-4491-B628-8807B875D5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03" y="3070"/>
              <a:ext cx="243" cy="13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1300" b="1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Reg</a:t>
              </a:r>
              <a:endParaRPr kumimoji="0" lang="zh-CN" altLang="zh-CN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126" name="Freeform 123">
              <a:extLst>
                <a:ext uri="{FF2B5EF4-FFF2-40B4-BE49-F238E27FC236}">
                  <a16:creationId xmlns:a16="http://schemas.microsoft.com/office/drawing/2014/main" id="{2965F6D9-18AF-4DA1-9199-CF7B9CD7956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1" y="3043"/>
              <a:ext cx="111" cy="233"/>
            </a:xfrm>
            <a:custGeom>
              <a:avLst/>
              <a:gdLst>
                <a:gd name="T0" fmla="*/ 111 w 111"/>
                <a:gd name="T1" fmla="*/ 0 h 233"/>
                <a:gd name="T2" fmla="*/ 0 w 111"/>
                <a:gd name="T3" fmla="*/ 0 h 233"/>
                <a:gd name="T4" fmla="*/ 0 w 111"/>
                <a:gd name="T5" fmla="*/ 233 h 233"/>
                <a:gd name="T6" fmla="*/ 111 w 111"/>
                <a:gd name="T7" fmla="*/ 233 h 2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11" h="233">
                  <a:moveTo>
                    <a:pt x="111" y="0"/>
                  </a:moveTo>
                  <a:lnTo>
                    <a:pt x="0" y="0"/>
                  </a:lnTo>
                  <a:lnTo>
                    <a:pt x="0" y="233"/>
                  </a:lnTo>
                  <a:lnTo>
                    <a:pt x="111" y="233"/>
                  </a:lnTo>
                </a:path>
              </a:pathLst>
            </a:custGeom>
            <a:noFill/>
            <a:ln w="206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7" name="Freeform 124">
              <a:extLst>
                <a:ext uri="{FF2B5EF4-FFF2-40B4-BE49-F238E27FC236}">
                  <a16:creationId xmlns:a16="http://schemas.microsoft.com/office/drawing/2014/main" id="{0A7C13D6-3A56-407C-AA7A-967B6A4E36EA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3" y="3043"/>
              <a:ext cx="116" cy="233"/>
            </a:xfrm>
            <a:custGeom>
              <a:avLst/>
              <a:gdLst>
                <a:gd name="T0" fmla="*/ 0 w 116"/>
                <a:gd name="T1" fmla="*/ 0 h 233"/>
                <a:gd name="T2" fmla="*/ 116 w 116"/>
                <a:gd name="T3" fmla="*/ 0 h 233"/>
                <a:gd name="T4" fmla="*/ 116 w 116"/>
                <a:gd name="T5" fmla="*/ 233 h 233"/>
                <a:gd name="T6" fmla="*/ 0 w 116"/>
                <a:gd name="T7" fmla="*/ 233 h 2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16" h="233">
                  <a:moveTo>
                    <a:pt x="0" y="0"/>
                  </a:moveTo>
                  <a:lnTo>
                    <a:pt x="116" y="0"/>
                  </a:lnTo>
                  <a:lnTo>
                    <a:pt x="116" y="233"/>
                  </a:lnTo>
                  <a:lnTo>
                    <a:pt x="0" y="233"/>
                  </a:lnTo>
                </a:path>
              </a:pathLst>
            </a:custGeom>
            <a:noFill/>
            <a:ln w="206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8" name="Line 125">
              <a:extLst>
                <a:ext uri="{FF2B5EF4-FFF2-40B4-BE49-F238E27FC236}">
                  <a16:creationId xmlns:a16="http://schemas.microsoft.com/office/drawing/2014/main" id="{38BE3C95-67C7-401A-8E9C-2681F2B8A5D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59" y="3159"/>
              <a:ext cx="112" cy="0"/>
            </a:xfrm>
            <a:prstGeom prst="line">
              <a:avLst/>
            </a:prstGeom>
            <a:noFill/>
            <a:ln w="20638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9" name="Line 126">
              <a:extLst>
                <a:ext uri="{FF2B5EF4-FFF2-40B4-BE49-F238E27FC236}">
                  <a16:creationId xmlns:a16="http://schemas.microsoft.com/office/drawing/2014/main" id="{173B270D-734F-46C1-8380-1AC990E8B26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66" y="3159"/>
              <a:ext cx="126" cy="0"/>
            </a:xfrm>
            <a:prstGeom prst="line">
              <a:avLst/>
            </a:prstGeom>
            <a:noFill/>
            <a:ln w="20638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0" name="Line 127">
              <a:extLst>
                <a:ext uri="{FF2B5EF4-FFF2-40B4-BE49-F238E27FC236}">
                  <a16:creationId xmlns:a16="http://schemas.microsoft.com/office/drawing/2014/main" id="{C4C29771-2F82-4645-BCE6-008AFBB83D7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54" y="3237"/>
              <a:ext cx="127" cy="0"/>
            </a:xfrm>
            <a:prstGeom prst="line">
              <a:avLst/>
            </a:prstGeom>
            <a:noFill/>
            <a:ln w="20638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1" name="Line 128">
              <a:extLst>
                <a:ext uri="{FF2B5EF4-FFF2-40B4-BE49-F238E27FC236}">
                  <a16:creationId xmlns:a16="http://schemas.microsoft.com/office/drawing/2014/main" id="{02CE4F40-AE28-43EF-82C7-4AC242C0EE8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22" y="3237"/>
              <a:ext cx="0" cy="156"/>
            </a:xfrm>
            <a:prstGeom prst="line">
              <a:avLst/>
            </a:prstGeom>
            <a:noFill/>
            <a:ln w="23813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2" name="Line 129">
              <a:extLst>
                <a:ext uri="{FF2B5EF4-FFF2-40B4-BE49-F238E27FC236}">
                  <a16:creationId xmlns:a16="http://schemas.microsoft.com/office/drawing/2014/main" id="{E0454B59-A0A4-4DD7-BB06-719B2935104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22" y="3393"/>
              <a:ext cx="273" cy="0"/>
            </a:xfrm>
            <a:prstGeom prst="line">
              <a:avLst/>
            </a:prstGeom>
            <a:noFill/>
            <a:ln w="23813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3" name="Line 130">
              <a:extLst>
                <a:ext uri="{FF2B5EF4-FFF2-40B4-BE49-F238E27FC236}">
                  <a16:creationId xmlns:a16="http://schemas.microsoft.com/office/drawing/2014/main" id="{042B88EB-11E0-4D0D-86AB-4BA53A1D573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95" y="3159"/>
              <a:ext cx="0" cy="234"/>
            </a:xfrm>
            <a:prstGeom prst="line">
              <a:avLst/>
            </a:prstGeom>
            <a:noFill/>
            <a:ln w="23813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4" name="Line 131">
              <a:extLst>
                <a:ext uri="{FF2B5EF4-FFF2-40B4-BE49-F238E27FC236}">
                  <a16:creationId xmlns:a16="http://schemas.microsoft.com/office/drawing/2014/main" id="{D29F1343-97E9-4EC1-B124-319C8192F51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63" y="3159"/>
              <a:ext cx="0" cy="195"/>
            </a:xfrm>
            <a:prstGeom prst="line">
              <a:avLst/>
            </a:prstGeom>
            <a:noFill/>
            <a:ln w="23813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5" name="Line 132">
              <a:extLst>
                <a:ext uri="{FF2B5EF4-FFF2-40B4-BE49-F238E27FC236}">
                  <a16:creationId xmlns:a16="http://schemas.microsoft.com/office/drawing/2014/main" id="{28665E97-D762-4EA2-8A2A-CB672409764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63" y="3354"/>
              <a:ext cx="350" cy="0"/>
            </a:xfrm>
            <a:prstGeom prst="line">
              <a:avLst/>
            </a:prstGeom>
            <a:noFill/>
            <a:ln w="23813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6" name="Line 133">
              <a:extLst>
                <a:ext uri="{FF2B5EF4-FFF2-40B4-BE49-F238E27FC236}">
                  <a16:creationId xmlns:a16="http://schemas.microsoft.com/office/drawing/2014/main" id="{751235D7-9E62-42B4-AC29-3B3317C93C3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13" y="3159"/>
              <a:ext cx="0" cy="195"/>
            </a:xfrm>
            <a:prstGeom prst="line">
              <a:avLst/>
            </a:prstGeom>
            <a:noFill/>
            <a:ln w="23813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7" name="Freeform 134">
              <a:extLst>
                <a:ext uri="{FF2B5EF4-FFF2-40B4-BE49-F238E27FC236}">
                  <a16:creationId xmlns:a16="http://schemas.microsoft.com/office/drawing/2014/main" id="{C1D242CA-770B-4B3A-89F6-107816756F2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1" y="3393"/>
              <a:ext cx="169" cy="388"/>
            </a:xfrm>
            <a:custGeom>
              <a:avLst/>
              <a:gdLst>
                <a:gd name="T0" fmla="*/ 0 w 169"/>
                <a:gd name="T1" fmla="*/ 259 h 388"/>
                <a:gd name="T2" fmla="*/ 56 w 169"/>
                <a:gd name="T3" fmla="*/ 194 h 388"/>
                <a:gd name="T4" fmla="*/ 0 w 169"/>
                <a:gd name="T5" fmla="*/ 129 h 388"/>
                <a:gd name="T6" fmla="*/ 0 w 169"/>
                <a:gd name="T7" fmla="*/ 0 h 388"/>
                <a:gd name="T8" fmla="*/ 169 w 169"/>
                <a:gd name="T9" fmla="*/ 129 h 388"/>
                <a:gd name="T10" fmla="*/ 169 w 169"/>
                <a:gd name="T11" fmla="*/ 259 h 388"/>
                <a:gd name="T12" fmla="*/ 0 w 169"/>
                <a:gd name="T13" fmla="*/ 388 h 388"/>
                <a:gd name="T14" fmla="*/ 0 w 169"/>
                <a:gd name="T15" fmla="*/ 259 h 3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69" h="388">
                  <a:moveTo>
                    <a:pt x="0" y="259"/>
                  </a:moveTo>
                  <a:lnTo>
                    <a:pt x="56" y="194"/>
                  </a:lnTo>
                  <a:lnTo>
                    <a:pt x="0" y="129"/>
                  </a:lnTo>
                  <a:lnTo>
                    <a:pt x="0" y="0"/>
                  </a:lnTo>
                  <a:lnTo>
                    <a:pt x="169" y="129"/>
                  </a:lnTo>
                  <a:lnTo>
                    <a:pt x="169" y="259"/>
                  </a:lnTo>
                  <a:lnTo>
                    <a:pt x="0" y="388"/>
                  </a:lnTo>
                  <a:lnTo>
                    <a:pt x="0" y="259"/>
                  </a:lnTo>
                </a:path>
              </a:pathLst>
            </a:custGeom>
            <a:noFill/>
            <a:ln w="206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8" name="Rectangle 135">
              <a:extLst>
                <a:ext uri="{FF2B5EF4-FFF2-40B4-BE49-F238E27FC236}">
                  <a16:creationId xmlns:a16="http://schemas.microsoft.com/office/drawing/2014/main" id="{0A252A4C-999C-4634-99ED-16E8DDA48DCE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3543" y="3530"/>
              <a:ext cx="199" cy="11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1200" b="1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ALU</a:t>
              </a:r>
              <a:endParaRPr kumimoji="0" lang="zh-CN" altLang="zh-CN" sz="12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139" name="Rectangle 136">
              <a:extLst>
                <a:ext uri="{FF2B5EF4-FFF2-40B4-BE49-F238E27FC236}">
                  <a16:creationId xmlns:a16="http://schemas.microsoft.com/office/drawing/2014/main" id="{6504ABBE-D9B8-4E37-AC49-47A64AFA8D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41" y="3498"/>
              <a:ext cx="117" cy="12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1300" b="1" i="0" u="none" strike="noStrike" cap="none" normalizeH="0" baseline="0" dirty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I</a:t>
              </a:r>
              <a:r>
                <a:rPr kumimoji="0" lang="en-US" altLang="zh-CN" sz="1300" b="1" i="0" u="none" strike="noStrike" cap="none" normalizeH="0" baseline="0" dirty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M</a:t>
              </a:r>
              <a:endParaRPr kumimoji="0" lang="zh-CN" altLang="zh-CN" sz="1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140" name="Freeform 137">
              <a:extLst>
                <a:ext uri="{FF2B5EF4-FFF2-40B4-BE49-F238E27FC236}">
                  <a16:creationId xmlns:a16="http://schemas.microsoft.com/office/drawing/2014/main" id="{E9FD860F-6013-48D7-8CDC-CE5FAAF16C1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2" y="3471"/>
              <a:ext cx="135" cy="232"/>
            </a:xfrm>
            <a:custGeom>
              <a:avLst/>
              <a:gdLst>
                <a:gd name="T0" fmla="*/ 135 w 135"/>
                <a:gd name="T1" fmla="*/ 0 h 232"/>
                <a:gd name="T2" fmla="*/ 0 w 135"/>
                <a:gd name="T3" fmla="*/ 0 h 232"/>
                <a:gd name="T4" fmla="*/ 0 w 135"/>
                <a:gd name="T5" fmla="*/ 232 h 232"/>
                <a:gd name="T6" fmla="*/ 135 w 135"/>
                <a:gd name="T7" fmla="*/ 232 h 2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5" h="232">
                  <a:moveTo>
                    <a:pt x="135" y="0"/>
                  </a:moveTo>
                  <a:lnTo>
                    <a:pt x="0" y="0"/>
                  </a:lnTo>
                  <a:lnTo>
                    <a:pt x="0" y="232"/>
                  </a:lnTo>
                  <a:lnTo>
                    <a:pt x="135" y="232"/>
                  </a:lnTo>
                </a:path>
              </a:pathLst>
            </a:custGeom>
            <a:noFill/>
            <a:ln w="206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1" name="Freeform 138">
              <a:extLst>
                <a:ext uri="{FF2B5EF4-FFF2-40B4-BE49-F238E27FC236}">
                  <a16:creationId xmlns:a16="http://schemas.microsoft.com/office/drawing/2014/main" id="{2312508B-C375-44C6-ADFB-B7A92C78D21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8" y="3471"/>
              <a:ext cx="136" cy="232"/>
            </a:xfrm>
            <a:custGeom>
              <a:avLst/>
              <a:gdLst>
                <a:gd name="T0" fmla="*/ 0 w 136"/>
                <a:gd name="T1" fmla="*/ 0 h 232"/>
                <a:gd name="T2" fmla="*/ 136 w 136"/>
                <a:gd name="T3" fmla="*/ 0 h 232"/>
                <a:gd name="T4" fmla="*/ 136 w 136"/>
                <a:gd name="T5" fmla="*/ 232 h 232"/>
                <a:gd name="T6" fmla="*/ 0 w 136"/>
                <a:gd name="T7" fmla="*/ 232 h 2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6" h="232">
                  <a:moveTo>
                    <a:pt x="0" y="0"/>
                  </a:moveTo>
                  <a:lnTo>
                    <a:pt x="136" y="0"/>
                  </a:lnTo>
                  <a:lnTo>
                    <a:pt x="136" y="232"/>
                  </a:lnTo>
                  <a:lnTo>
                    <a:pt x="0" y="232"/>
                  </a:lnTo>
                </a:path>
              </a:pathLst>
            </a:custGeom>
            <a:noFill/>
            <a:ln w="206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2" name="Rectangle 139">
              <a:extLst>
                <a:ext uri="{FF2B5EF4-FFF2-40B4-BE49-F238E27FC236}">
                  <a16:creationId xmlns:a16="http://schemas.microsoft.com/office/drawing/2014/main" id="{1EA14CFD-95F9-4F23-A29C-C28DA2ADE3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93" y="3502"/>
              <a:ext cx="243" cy="13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1300" b="1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Reg</a:t>
              </a:r>
              <a:endParaRPr kumimoji="0" lang="zh-CN" altLang="zh-CN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143" name="Freeform 140">
              <a:extLst>
                <a:ext uri="{FF2B5EF4-FFF2-40B4-BE49-F238E27FC236}">
                  <a16:creationId xmlns:a16="http://schemas.microsoft.com/office/drawing/2014/main" id="{8C9F45C8-D23B-4A49-9AB2-570D7270C7E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1" y="3471"/>
              <a:ext cx="121" cy="232"/>
            </a:xfrm>
            <a:custGeom>
              <a:avLst/>
              <a:gdLst>
                <a:gd name="T0" fmla="*/ 121 w 121"/>
                <a:gd name="T1" fmla="*/ 0 h 232"/>
                <a:gd name="T2" fmla="*/ 0 w 121"/>
                <a:gd name="T3" fmla="*/ 0 h 232"/>
                <a:gd name="T4" fmla="*/ 0 w 121"/>
                <a:gd name="T5" fmla="*/ 232 h 232"/>
                <a:gd name="T6" fmla="*/ 121 w 121"/>
                <a:gd name="T7" fmla="*/ 232 h 2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1" h="232">
                  <a:moveTo>
                    <a:pt x="121" y="0"/>
                  </a:moveTo>
                  <a:lnTo>
                    <a:pt x="0" y="0"/>
                  </a:lnTo>
                  <a:lnTo>
                    <a:pt x="0" y="232"/>
                  </a:lnTo>
                  <a:lnTo>
                    <a:pt x="121" y="232"/>
                  </a:lnTo>
                </a:path>
              </a:pathLst>
            </a:custGeom>
            <a:noFill/>
            <a:ln w="206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4" name="Freeform 141">
              <a:extLst>
                <a:ext uri="{FF2B5EF4-FFF2-40B4-BE49-F238E27FC236}">
                  <a16:creationId xmlns:a16="http://schemas.microsoft.com/office/drawing/2014/main" id="{771D4222-D04C-4C71-BD8D-A23293733E8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3" y="3471"/>
              <a:ext cx="121" cy="232"/>
            </a:xfrm>
            <a:custGeom>
              <a:avLst/>
              <a:gdLst>
                <a:gd name="T0" fmla="*/ 0 w 121"/>
                <a:gd name="T1" fmla="*/ 0 h 232"/>
                <a:gd name="T2" fmla="*/ 121 w 121"/>
                <a:gd name="T3" fmla="*/ 0 h 232"/>
                <a:gd name="T4" fmla="*/ 121 w 121"/>
                <a:gd name="T5" fmla="*/ 232 h 232"/>
                <a:gd name="T6" fmla="*/ 0 w 121"/>
                <a:gd name="T7" fmla="*/ 232 h 2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1" h="232">
                  <a:moveTo>
                    <a:pt x="0" y="0"/>
                  </a:moveTo>
                  <a:lnTo>
                    <a:pt x="121" y="0"/>
                  </a:lnTo>
                  <a:lnTo>
                    <a:pt x="121" y="232"/>
                  </a:lnTo>
                  <a:lnTo>
                    <a:pt x="0" y="232"/>
                  </a:lnTo>
                </a:path>
              </a:pathLst>
            </a:custGeom>
            <a:noFill/>
            <a:ln w="206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5" name="Line 142">
              <a:extLst>
                <a:ext uri="{FF2B5EF4-FFF2-40B4-BE49-F238E27FC236}">
                  <a16:creationId xmlns:a16="http://schemas.microsoft.com/office/drawing/2014/main" id="{C122E4F7-FB3A-4090-80C1-EF53271B530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69" y="3587"/>
              <a:ext cx="92" cy="0"/>
            </a:xfrm>
            <a:prstGeom prst="line">
              <a:avLst/>
            </a:prstGeom>
            <a:noFill/>
            <a:ln w="20638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6" name="Freeform 143">
              <a:extLst>
                <a:ext uri="{FF2B5EF4-FFF2-40B4-BE49-F238E27FC236}">
                  <a16:creationId xmlns:a16="http://schemas.microsoft.com/office/drawing/2014/main" id="{2F1BD833-DD2E-4791-BBD0-6840F4B0EFE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2" y="3509"/>
              <a:ext cx="39" cy="78"/>
            </a:xfrm>
            <a:custGeom>
              <a:avLst/>
              <a:gdLst>
                <a:gd name="T0" fmla="*/ 0 w 39"/>
                <a:gd name="T1" fmla="*/ 78 h 78"/>
                <a:gd name="T2" fmla="*/ 0 w 39"/>
                <a:gd name="T3" fmla="*/ 0 h 78"/>
                <a:gd name="T4" fmla="*/ 39 w 39"/>
                <a:gd name="T5" fmla="*/ 0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9" h="78">
                  <a:moveTo>
                    <a:pt x="0" y="78"/>
                  </a:moveTo>
                  <a:lnTo>
                    <a:pt x="0" y="0"/>
                  </a:lnTo>
                  <a:lnTo>
                    <a:pt x="39" y="0"/>
                  </a:lnTo>
                </a:path>
              </a:pathLst>
            </a:custGeom>
            <a:noFill/>
            <a:ln w="206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7" name="Line 144">
              <a:extLst>
                <a:ext uri="{FF2B5EF4-FFF2-40B4-BE49-F238E27FC236}">
                  <a16:creationId xmlns:a16="http://schemas.microsoft.com/office/drawing/2014/main" id="{B2E74869-6258-4F3D-8F2F-8D876B77F8B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04" y="3509"/>
              <a:ext cx="127" cy="0"/>
            </a:xfrm>
            <a:prstGeom prst="line">
              <a:avLst/>
            </a:prstGeom>
            <a:noFill/>
            <a:ln w="20638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8" name="Rectangle 145">
              <a:extLst>
                <a:ext uri="{FF2B5EF4-FFF2-40B4-BE49-F238E27FC236}">
                  <a16:creationId xmlns:a16="http://schemas.microsoft.com/office/drawing/2014/main" id="{4F6C2719-660F-47D5-8BFE-5D213B8B6F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55" y="3498"/>
              <a:ext cx="209" cy="13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1300" b="1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DM</a:t>
              </a:r>
              <a:endParaRPr kumimoji="0" lang="zh-CN" altLang="zh-CN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149" name="Freeform 146">
              <a:extLst>
                <a:ext uri="{FF2B5EF4-FFF2-40B4-BE49-F238E27FC236}">
                  <a16:creationId xmlns:a16="http://schemas.microsoft.com/office/drawing/2014/main" id="{478B9B95-D749-42F8-8B09-515B3C36ADB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2" y="3471"/>
              <a:ext cx="130" cy="232"/>
            </a:xfrm>
            <a:custGeom>
              <a:avLst/>
              <a:gdLst>
                <a:gd name="T0" fmla="*/ 130 w 130"/>
                <a:gd name="T1" fmla="*/ 0 h 232"/>
                <a:gd name="T2" fmla="*/ 0 w 130"/>
                <a:gd name="T3" fmla="*/ 0 h 232"/>
                <a:gd name="T4" fmla="*/ 0 w 130"/>
                <a:gd name="T5" fmla="*/ 232 h 232"/>
                <a:gd name="T6" fmla="*/ 130 w 130"/>
                <a:gd name="T7" fmla="*/ 232 h 2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0" h="232">
                  <a:moveTo>
                    <a:pt x="130" y="0"/>
                  </a:moveTo>
                  <a:lnTo>
                    <a:pt x="0" y="0"/>
                  </a:lnTo>
                  <a:lnTo>
                    <a:pt x="0" y="232"/>
                  </a:lnTo>
                  <a:lnTo>
                    <a:pt x="130" y="232"/>
                  </a:lnTo>
                </a:path>
              </a:pathLst>
            </a:custGeom>
            <a:noFill/>
            <a:ln w="206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0" name="Freeform 147">
              <a:extLst>
                <a:ext uri="{FF2B5EF4-FFF2-40B4-BE49-F238E27FC236}">
                  <a16:creationId xmlns:a16="http://schemas.microsoft.com/office/drawing/2014/main" id="{3DA9B4AD-B95B-4858-A815-8583C1E3C5F3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8" y="3471"/>
              <a:ext cx="136" cy="232"/>
            </a:xfrm>
            <a:custGeom>
              <a:avLst/>
              <a:gdLst>
                <a:gd name="T0" fmla="*/ 0 w 136"/>
                <a:gd name="T1" fmla="*/ 0 h 232"/>
                <a:gd name="T2" fmla="*/ 136 w 136"/>
                <a:gd name="T3" fmla="*/ 0 h 232"/>
                <a:gd name="T4" fmla="*/ 136 w 136"/>
                <a:gd name="T5" fmla="*/ 232 h 232"/>
                <a:gd name="T6" fmla="*/ 0 w 136"/>
                <a:gd name="T7" fmla="*/ 232 h 2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6" h="232">
                  <a:moveTo>
                    <a:pt x="0" y="0"/>
                  </a:moveTo>
                  <a:lnTo>
                    <a:pt x="136" y="0"/>
                  </a:lnTo>
                  <a:lnTo>
                    <a:pt x="136" y="232"/>
                  </a:lnTo>
                  <a:lnTo>
                    <a:pt x="0" y="232"/>
                  </a:lnTo>
                </a:path>
              </a:pathLst>
            </a:custGeom>
            <a:noFill/>
            <a:ln w="206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1" name="Rectangle 148">
              <a:extLst>
                <a:ext uri="{FF2B5EF4-FFF2-40B4-BE49-F238E27FC236}">
                  <a16:creationId xmlns:a16="http://schemas.microsoft.com/office/drawing/2014/main" id="{90AF0869-5E15-48EF-9474-718759693F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54" y="3498"/>
              <a:ext cx="243" cy="13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1300" b="1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Reg</a:t>
              </a:r>
              <a:endParaRPr kumimoji="0" lang="zh-CN" altLang="zh-CN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152" name="Freeform 149">
              <a:extLst>
                <a:ext uri="{FF2B5EF4-FFF2-40B4-BE49-F238E27FC236}">
                  <a16:creationId xmlns:a16="http://schemas.microsoft.com/office/drawing/2014/main" id="{39613AE7-3569-4601-A057-F2E8E93AAB9A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1" y="3471"/>
              <a:ext cx="111" cy="232"/>
            </a:xfrm>
            <a:custGeom>
              <a:avLst/>
              <a:gdLst>
                <a:gd name="T0" fmla="*/ 111 w 111"/>
                <a:gd name="T1" fmla="*/ 0 h 232"/>
                <a:gd name="T2" fmla="*/ 0 w 111"/>
                <a:gd name="T3" fmla="*/ 0 h 232"/>
                <a:gd name="T4" fmla="*/ 0 w 111"/>
                <a:gd name="T5" fmla="*/ 232 h 232"/>
                <a:gd name="T6" fmla="*/ 111 w 111"/>
                <a:gd name="T7" fmla="*/ 232 h 2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11" h="232">
                  <a:moveTo>
                    <a:pt x="111" y="0"/>
                  </a:moveTo>
                  <a:lnTo>
                    <a:pt x="0" y="0"/>
                  </a:lnTo>
                  <a:lnTo>
                    <a:pt x="0" y="232"/>
                  </a:lnTo>
                  <a:lnTo>
                    <a:pt x="111" y="232"/>
                  </a:lnTo>
                </a:path>
              </a:pathLst>
            </a:custGeom>
            <a:noFill/>
            <a:ln w="206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3" name="Freeform 150">
              <a:extLst>
                <a:ext uri="{FF2B5EF4-FFF2-40B4-BE49-F238E27FC236}">
                  <a16:creationId xmlns:a16="http://schemas.microsoft.com/office/drawing/2014/main" id="{096F8FD7-67AE-4D78-A2A0-B1F86E1037AC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3" y="3471"/>
              <a:ext cx="116" cy="232"/>
            </a:xfrm>
            <a:custGeom>
              <a:avLst/>
              <a:gdLst>
                <a:gd name="T0" fmla="*/ 0 w 116"/>
                <a:gd name="T1" fmla="*/ 0 h 232"/>
                <a:gd name="T2" fmla="*/ 116 w 116"/>
                <a:gd name="T3" fmla="*/ 0 h 232"/>
                <a:gd name="T4" fmla="*/ 116 w 116"/>
                <a:gd name="T5" fmla="*/ 232 h 232"/>
                <a:gd name="T6" fmla="*/ 0 w 116"/>
                <a:gd name="T7" fmla="*/ 232 h 2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16" h="232">
                  <a:moveTo>
                    <a:pt x="0" y="0"/>
                  </a:moveTo>
                  <a:lnTo>
                    <a:pt x="116" y="0"/>
                  </a:lnTo>
                  <a:lnTo>
                    <a:pt x="116" y="232"/>
                  </a:lnTo>
                  <a:lnTo>
                    <a:pt x="0" y="232"/>
                  </a:lnTo>
                </a:path>
              </a:pathLst>
            </a:custGeom>
            <a:noFill/>
            <a:ln w="206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4" name="Line 151">
              <a:extLst>
                <a:ext uri="{FF2B5EF4-FFF2-40B4-BE49-F238E27FC236}">
                  <a16:creationId xmlns:a16="http://schemas.microsoft.com/office/drawing/2014/main" id="{8D682C56-AF54-420A-B6D5-65F3DC3B2A8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109" y="3587"/>
              <a:ext cx="112" cy="0"/>
            </a:xfrm>
            <a:prstGeom prst="line">
              <a:avLst/>
            </a:prstGeom>
            <a:noFill/>
            <a:ln w="20638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5" name="Line 152">
              <a:extLst>
                <a:ext uri="{FF2B5EF4-FFF2-40B4-BE49-F238E27FC236}">
                  <a16:creationId xmlns:a16="http://schemas.microsoft.com/office/drawing/2014/main" id="{B40A7DF5-18F8-4649-9509-5BEA9F9B1B2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20" y="3587"/>
              <a:ext cx="122" cy="0"/>
            </a:xfrm>
            <a:prstGeom prst="line">
              <a:avLst/>
            </a:prstGeom>
            <a:noFill/>
            <a:ln w="20638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6" name="Line 153">
              <a:extLst>
                <a:ext uri="{FF2B5EF4-FFF2-40B4-BE49-F238E27FC236}">
                  <a16:creationId xmlns:a16="http://schemas.microsoft.com/office/drawing/2014/main" id="{C1EF104B-17E0-4B82-B340-773E32B9C21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04" y="3665"/>
              <a:ext cx="127" cy="0"/>
            </a:xfrm>
            <a:prstGeom prst="line">
              <a:avLst/>
            </a:prstGeom>
            <a:noFill/>
            <a:ln w="20638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7" name="Line 154">
              <a:extLst>
                <a:ext uri="{FF2B5EF4-FFF2-40B4-BE49-F238E27FC236}">
                  <a16:creationId xmlns:a16="http://schemas.microsoft.com/office/drawing/2014/main" id="{D8908CDC-2211-41A4-BBDF-ACDF5C36889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72" y="3665"/>
              <a:ext cx="0" cy="156"/>
            </a:xfrm>
            <a:prstGeom prst="line">
              <a:avLst/>
            </a:prstGeom>
            <a:noFill/>
            <a:ln w="23813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8" name="Line 155">
              <a:extLst>
                <a:ext uri="{FF2B5EF4-FFF2-40B4-BE49-F238E27FC236}">
                  <a16:creationId xmlns:a16="http://schemas.microsoft.com/office/drawing/2014/main" id="{B1B1705B-64CE-4110-8F10-D4ACE782BD3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72" y="3821"/>
              <a:ext cx="273" cy="0"/>
            </a:xfrm>
            <a:prstGeom prst="line">
              <a:avLst/>
            </a:prstGeom>
            <a:noFill/>
            <a:ln w="23813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9" name="Line 156">
              <a:extLst>
                <a:ext uri="{FF2B5EF4-FFF2-40B4-BE49-F238E27FC236}">
                  <a16:creationId xmlns:a16="http://schemas.microsoft.com/office/drawing/2014/main" id="{510DCE0B-C525-4CFB-945F-9B474460A68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45" y="3587"/>
              <a:ext cx="0" cy="234"/>
            </a:xfrm>
            <a:prstGeom prst="line">
              <a:avLst/>
            </a:prstGeom>
            <a:noFill/>
            <a:ln w="23813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0" name="Line 157">
              <a:extLst>
                <a:ext uri="{FF2B5EF4-FFF2-40B4-BE49-F238E27FC236}">
                  <a16:creationId xmlns:a16="http://schemas.microsoft.com/office/drawing/2014/main" id="{15026504-CE52-4CBB-9804-5C6A49FB119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13" y="3587"/>
              <a:ext cx="0" cy="195"/>
            </a:xfrm>
            <a:prstGeom prst="line">
              <a:avLst/>
            </a:prstGeom>
            <a:noFill/>
            <a:ln w="23813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1" name="Line 158">
              <a:extLst>
                <a:ext uri="{FF2B5EF4-FFF2-40B4-BE49-F238E27FC236}">
                  <a16:creationId xmlns:a16="http://schemas.microsoft.com/office/drawing/2014/main" id="{BF378443-B3BF-47BC-8109-941FC18D4CE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13" y="3782"/>
              <a:ext cx="350" cy="0"/>
            </a:xfrm>
            <a:prstGeom prst="line">
              <a:avLst/>
            </a:prstGeom>
            <a:noFill/>
            <a:ln w="23813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2" name="Line 159">
              <a:extLst>
                <a:ext uri="{FF2B5EF4-FFF2-40B4-BE49-F238E27FC236}">
                  <a16:creationId xmlns:a16="http://schemas.microsoft.com/office/drawing/2014/main" id="{ED1500C7-D735-4462-905D-721AAE1286F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163" y="3587"/>
              <a:ext cx="0" cy="195"/>
            </a:xfrm>
            <a:prstGeom prst="line">
              <a:avLst/>
            </a:prstGeom>
            <a:noFill/>
            <a:ln w="23813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3" name="Freeform 160">
              <a:extLst>
                <a:ext uri="{FF2B5EF4-FFF2-40B4-BE49-F238E27FC236}">
                  <a16:creationId xmlns:a16="http://schemas.microsoft.com/office/drawing/2014/main" id="{3844E2AA-0BD0-42CD-B0E0-BD1508EB358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1" y="3821"/>
              <a:ext cx="169" cy="388"/>
            </a:xfrm>
            <a:custGeom>
              <a:avLst/>
              <a:gdLst>
                <a:gd name="T0" fmla="*/ 0 w 169"/>
                <a:gd name="T1" fmla="*/ 259 h 388"/>
                <a:gd name="T2" fmla="*/ 56 w 169"/>
                <a:gd name="T3" fmla="*/ 194 h 388"/>
                <a:gd name="T4" fmla="*/ 0 w 169"/>
                <a:gd name="T5" fmla="*/ 129 h 388"/>
                <a:gd name="T6" fmla="*/ 0 w 169"/>
                <a:gd name="T7" fmla="*/ 0 h 388"/>
                <a:gd name="T8" fmla="*/ 169 w 169"/>
                <a:gd name="T9" fmla="*/ 129 h 388"/>
                <a:gd name="T10" fmla="*/ 169 w 169"/>
                <a:gd name="T11" fmla="*/ 259 h 388"/>
                <a:gd name="T12" fmla="*/ 0 w 169"/>
                <a:gd name="T13" fmla="*/ 388 h 388"/>
                <a:gd name="T14" fmla="*/ 0 w 169"/>
                <a:gd name="T15" fmla="*/ 259 h 3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69" h="388">
                  <a:moveTo>
                    <a:pt x="0" y="259"/>
                  </a:moveTo>
                  <a:lnTo>
                    <a:pt x="56" y="194"/>
                  </a:lnTo>
                  <a:lnTo>
                    <a:pt x="0" y="129"/>
                  </a:lnTo>
                  <a:lnTo>
                    <a:pt x="0" y="0"/>
                  </a:lnTo>
                  <a:lnTo>
                    <a:pt x="169" y="129"/>
                  </a:lnTo>
                  <a:lnTo>
                    <a:pt x="169" y="259"/>
                  </a:lnTo>
                  <a:lnTo>
                    <a:pt x="0" y="388"/>
                  </a:lnTo>
                  <a:lnTo>
                    <a:pt x="0" y="259"/>
                  </a:lnTo>
                </a:path>
              </a:pathLst>
            </a:custGeom>
            <a:noFill/>
            <a:ln w="206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4" name="Rectangle 161">
              <a:extLst>
                <a:ext uri="{FF2B5EF4-FFF2-40B4-BE49-F238E27FC236}">
                  <a16:creationId xmlns:a16="http://schemas.microsoft.com/office/drawing/2014/main" id="{79D26BC1-26B0-43EA-995F-FA0A043E256A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3893" y="3957"/>
              <a:ext cx="199" cy="11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1200" b="1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ALU</a:t>
              </a:r>
              <a:endParaRPr kumimoji="0" lang="zh-CN" altLang="zh-CN" sz="12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165" name="Rectangle 162">
              <a:extLst>
                <a:ext uri="{FF2B5EF4-FFF2-40B4-BE49-F238E27FC236}">
                  <a16:creationId xmlns:a16="http://schemas.microsoft.com/office/drawing/2014/main" id="{6FD7E52D-6639-4235-A985-0FB61FE8AA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91" y="3924"/>
              <a:ext cx="117" cy="12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1300" b="1" i="0" u="none" strike="noStrike" cap="none" normalizeH="0" baseline="0" dirty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I</a:t>
              </a:r>
              <a:r>
                <a:rPr kumimoji="0" lang="en-US" altLang="zh-CN" sz="1300" b="1" i="0" u="none" strike="noStrike" cap="none" normalizeH="0" baseline="0" dirty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M</a:t>
              </a:r>
              <a:endParaRPr kumimoji="0" lang="zh-CN" altLang="zh-CN" sz="1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166" name="Freeform 163">
              <a:extLst>
                <a:ext uri="{FF2B5EF4-FFF2-40B4-BE49-F238E27FC236}">
                  <a16:creationId xmlns:a16="http://schemas.microsoft.com/office/drawing/2014/main" id="{E5AF1C66-3344-4D0C-80B6-B6211B92842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2" y="3898"/>
              <a:ext cx="135" cy="233"/>
            </a:xfrm>
            <a:custGeom>
              <a:avLst/>
              <a:gdLst>
                <a:gd name="T0" fmla="*/ 135 w 135"/>
                <a:gd name="T1" fmla="*/ 0 h 233"/>
                <a:gd name="T2" fmla="*/ 0 w 135"/>
                <a:gd name="T3" fmla="*/ 0 h 233"/>
                <a:gd name="T4" fmla="*/ 0 w 135"/>
                <a:gd name="T5" fmla="*/ 233 h 233"/>
                <a:gd name="T6" fmla="*/ 135 w 135"/>
                <a:gd name="T7" fmla="*/ 233 h 2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5" h="233">
                  <a:moveTo>
                    <a:pt x="135" y="0"/>
                  </a:moveTo>
                  <a:lnTo>
                    <a:pt x="0" y="0"/>
                  </a:lnTo>
                  <a:lnTo>
                    <a:pt x="0" y="233"/>
                  </a:lnTo>
                  <a:lnTo>
                    <a:pt x="135" y="233"/>
                  </a:lnTo>
                </a:path>
              </a:pathLst>
            </a:custGeom>
            <a:noFill/>
            <a:ln w="206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7" name="Freeform 164">
              <a:extLst>
                <a:ext uri="{FF2B5EF4-FFF2-40B4-BE49-F238E27FC236}">
                  <a16:creationId xmlns:a16="http://schemas.microsoft.com/office/drawing/2014/main" id="{5105AE1B-C362-48C7-9CFE-E7EA5EEC5AB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8" y="3898"/>
              <a:ext cx="136" cy="233"/>
            </a:xfrm>
            <a:custGeom>
              <a:avLst/>
              <a:gdLst>
                <a:gd name="T0" fmla="*/ 0 w 136"/>
                <a:gd name="T1" fmla="*/ 0 h 233"/>
                <a:gd name="T2" fmla="*/ 136 w 136"/>
                <a:gd name="T3" fmla="*/ 0 h 233"/>
                <a:gd name="T4" fmla="*/ 136 w 136"/>
                <a:gd name="T5" fmla="*/ 233 h 233"/>
                <a:gd name="T6" fmla="*/ 0 w 136"/>
                <a:gd name="T7" fmla="*/ 233 h 2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6" h="233">
                  <a:moveTo>
                    <a:pt x="0" y="0"/>
                  </a:moveTo>
                  <a:lnTo>
                    <a:pt x="136" y="0"/>
                  </a:lnTo>
                  <a:lnTo>
                    <a:pt x="136" y="233"/>
                  </a:lnTo>
                  <a:lnTo>
                    <a:pt x="0" y="233"/>
                  </a:lnTo>
                </a:path>
              </a:pathLst>
            </a:custGeom>
            <a:noFill/>
            <a:ln w="206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8" name="Rectangle 165">
              <a:extLst>
                <a:ext uri="{FF2B5EF4-FFF2-40B4-BE49-F238E27FC236}">
                  <a16:creationId xmlns:a16="http://schemas.microsoft.com/office/drawing/2014/main" id="{66F0F7F2-3BB0-464F-8028-79B3148325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43" y="3930"/>
              <a:ext cx="243" cy="13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1300" b="1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Reg</a:t>
              </a:r>
              <a:endParaRPr kumimoji="0" lang="zh-CN" altLang="zh-CN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169" name="Freeform 166">
              <a:extLst>
                <a:ext uri="{FF2B5EF4-FFF2-40B4-BE49-F238E27FC236}">
                  <a16:creationId xmlns:a16="http://schemas.microsoft.com/office/drawing/2014/main" id="{9DA50834-C65E-4F75-96A0-84E0E23C69D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1" y="3898"/>
              <a:ext cx="121" cy="233"/>
            </a:xfrm>
            <a:custGeom>
              <a:avLst/>
              <a:gdLst>
                <a:gd name="T0" fmla="*/ 121 w 121"/>
                <a:gd name="T1" fmla="*/ 0 h 233"/>
                <a:gd name="T2" fmla="*/ 0 w 121"/>
                <a:gd name="T3" fmla="*/ 0 h 233"/>
                <a:gd name="T4" fmla="*/ 0 w 121"/>
                <a:gd name="T5" fmla="*/ 233 h 233"/>
                <a:gd name="T6" fmla="*/ 121 w 121"/>
                <a:gd name="T7" fmla="*/ 233 h 2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1" h="233">
                  <a:moveTo>
                    <a:pt x="121" y="0"/>
                  </a:moveTo>
                  <a:lnTo>
                    <a:pt x="0" y="0"/>
                  </a:lnTo>
                  <a:lnTo>
                    <a:pt x="0" y="233"/>
                  </a:lnTo>
                  <a:lnTo>
                    <a:pt x="121" y="233"/>
                  </a:lnTo>
                </a:path>
              </a:pathLst>
            </a:custGeom>
            <a:noFill/>
            <a:ln w="206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0" name="Freeform 167">
              <a:extLst>
                <a:ext uri="{FF2B5EF4-FFF2-40B4-BE49-F238E27FC236}">
                  <a16:creationId xmlns:a16="http://schemas.microsoft.com/office/drawing/2014/main" id="{9836D43A-C1F6-4278-A1DC-37A15BB23FB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3" y="3898"/>
              <a:ext cx="121" cy="233"/>
            </a:xfrm>
            <a:custGeom>
              <a:avLst/>
              <a:gdLst>
                <a:gd name="T0" fmla="*/ 0 w 121"/>
                <a:gd name="T1" fmla="*/ 0 h 233"/>
                <a:gd name="T2" fmla="*/ 121 w 121"/>
                <a:gd name="T3" fmla="*/ 0 h 233"/>
                <a:gd name="T4" fmla="*/ 121 w 121"/>
                <a:gd name="T5" fmla="*/ 233 h 233"/>
                <a:gd name="T6" fmla="*/ 0 w 121"/>
                <a:gd name="T7" fmla="*/ 233 h 2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1" h="233">
                  <a:moveTo>
                    <a:pt x="0" y="0"/>
                  </a:moveTo>
                  <a:lnTo>
                    <a:pt x="121" y="0"/>
                  </a:lnTo>
                  <a:lnTo>
                    <a:pt x="121" y="233"/>
                  </a:lnTo>
                  <a:lnTo>
                    <a:pt x="0" y="233"/>
                  </a:lnTo>
                </a:path>
              </a:pathLst>
            </a:custGeom>
            <a:noFill/>
            <a:ln w="206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1" name="Line 168">
              <a:extLst>
                <a:ext uri="{FF2B5EF4-FFF2-40B4-BE49-F238E27FC236}">
                  <a16:creationId xmlns:a16="http://schemas.microsoft.com/office/drawing/2014/main" id="{3F87FB43-7DBB-4350-B9C1-D6A87D0DAC8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19" y="4015"/>
              <a:ext cx="92" cy="0"/>
            </a:xfrm>
            <a:prstGeom prst="line">
              <a:avLst/>
            </a:prstGeom>
            <a:noFill/>
            <a:ln w="20638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2" name="Freeform 169">
              <a:extLst>
                <a:ext uri="{FF2B5EF4-FFF2-40B4-BE49-F238E27FC236}">
                  <a16:creationId xmlns:a16="http://schemas.microsoft.com/office/drawing/2014/main" id="{269CD5CE-D0AC-4059-A072-12273C938FF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2" y="3937"/>
              <a:ext cx="39" cy="78"/>
            </a:xfrm>
            <a:custGeom>
              <a:avLst/>
              <a:gdLst>
                <a:gd name="T0" fmla="*/ 0 w 39"/>
                <a:gd name="T1" fmla="*/ 78 h 78"/>
                <a:gd name="T2" fmla="*/ 0 w 39"/>
                <a:gd name="T3" fmla="*/ 0 h 78"/>
                <a:gd name="T4" fmla="*/ 39 w 39"/>
                <a:gd name="T5" fmla="*/ 0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9" h="78">
                  <a:moveTo>
                    <a:pt x="0" y="78"/>
                  </a:moveTo>
                  <a:lnTo>
                    <a:pt x="0" y="0"/>
                  </a:lnTo>
                  <a:lnTo>
                    <a:pt x="39" y="0"/>
                  </a:lnTo>
                </a:path>
              </a:pathLst>
            </a:custGeom>
            <a:noFill/>
            <a:ln w="206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3" name="Line 170">
              <a:extLst>
                <a:ext uri="{FF2B5EF4-FFF2-40B4-BE49-F238E27FC236}">
                  <a16:creationId xmlns:a16="http://schemas.microsoft.com/office/drawing/2014/main" id="{7567067F-D3E0-4FD8-904C-B863442BC35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54" y="3937"/>
              <a:ext cx="127" cy="0"/>
            </a:xfrm>
            <a:prstGeom prst="line">
              <a:avLst/>
            </a:prstGeom>
            <a:noFill/>
            <a:ln w="20638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4" name="Rectangle 171">
              <a:extLst>
                <a:ext uri="{FF2B5EF4-FFF2-40B4-BE49-F238E27FC236}">
                  <a16:creationId xmlns:a16="http://schemas.microsoft.com/office/drawing/2014/main" id="{04036C0F-92B5-4F37-A54C-FFDD548C5E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5" y="3924"/>
              <a:ext cx="209" cy="1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1300" b="1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DM</a:t>
              </a:r>
              <a:endParaRPr kumimoji="0" lang="zh-CN" altLang="zh-CN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175" name="Freeform 172">
              <a:extLst>
                <a:ext uri="{FF2B5EF4-FFF2-40B4-BE49-F238E27FC236}">
                  <a16:creationId xmlns:a16="http://schemas.microsoft.com/office/drawing/2014/main" id="{1EB1F23E-2B98-4997-9F61-3231CFA5A22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2" y="3898"/>
              <a:ext cx="130" cy="233"/>
            </a:xfrm>
            <a:custGeom>
              <a:avLst/>
              <a:gdLst>
                <a:gd name="T0" fmla="*/ 130 w 130"/>
                <a:gd name="T1" fmla="*/ 0 h 233"/>
                <a:gd name="T2" fmla="*/ 0 w 130"/>
                <a:gd name="T3" fmla="*/ 0 h 233"/>
                <a:gd name="T4" fmla="*/ 0 w 130"/>
                <a:gd name="T5" fmla="*/ 233 h 233"/>
                <a:gd name="T6" fmla="*/ 130 w 130"/>
                <a:gd name="T7" fmla="*/ 233 h 2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0" h="233">
                  <a:moveTo>
                    <a:pt x="130" y="0"/>
                  </a:moveTo>
                  <a:lnTo>
                    <a:pt x="0" y="0"/>
                  </a:lnTo>
                  <a:lnTo>
                    <a:pt x="0" y="233"/>
                  </a:lnTo>
                  <a:lnTo>
                    <a:pt x="130" y="233"/>
                  </a:lnTo>
                </a:path>
              </a:pathLst>
            </a:custGeom>
            <a:noFill/>
            <a:ln w="206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6" name="Freeform 173">
              <a:extLst>
                <a:ext uri="{FF2B5EF4-FFF2-40B4-BE49-F238E27FC236}">
                  <a16:creationId xmlns:a16="http://schemas.microsoft.com/office/drawing/2014/main" id="{5F0B2DD1-B2AC-4262-B622-7A1BED0239B9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8" y="3898"/>
              <a:ext cx="136" cy="233"/>
            </a:xfrm>
            <a:custGeom>
              <a:avLst/>
              <a:gdLst>
                <a:gd name="T0" fmla="*/ 0 w 136"/>
                <a:gd name="T1" fmla="*/ 0 h 233"/>
                <a:gd name="T2" fmla="*/ 136 w 136"/>
                <a:gd name="T3" fmla="*/ 0 h 233"/>
                <a:gd name="T4" fmla="*/ 136 w 136"/>
                <a:gd name="T5" fmla="*/ 233 h 233"/>
                <a:gd name="T6" fmla="*/ 0 w 136"/>
                <a:gd name="T7" fmla="*/ 233 h 2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6" h="233">
                  <a:moveTo>
                    <a:pt x="0" y="0"/>
                  </a:moveTo>
                  <a:lnTo>
                    <a:pt x="136" y="0"/>
                  </a:lnTo>
                  <a:lnTo>
                    <a:pt x="136" y="233"/>
                  </a:lnTo>
                  <a:lnTo>
                    <a:pt x="0" y="233"/>
                  </a:lnTo>
                </a:path>
              </a:pathLst>
            </a:custGeom>
            <a:noFill/>
            <a:ln w="206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7" name="Rectangle 174">
              <a:extLst>
                <a:ext uri="{FF2B5EF4-FFF2-40B4-BE49-F238E27FC236}">
                  <a16:creationId xmlns:a16="http://schemas.microsoft.com/office/drawing/2014/main" id="{E7C867D5-7CFD-434C-B935-28B91850F3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04" y="3924"/>
              <a:ext cx="243" cy="1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1300" b="1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Reg</a:t>
              </a:r>
              <a:endParaRPr kumimoji="0" lang="zh-CN" altLang="zh-CN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178" name="Freeform 175">
              <a:extLst>
                <a:ext uri="{FF2B5EF4-FFF2-40B4-BE49-F238E27FC236}">
                  <a16:creationId xmlns:a16="http://schemas.microsoft.com/office/drawing/2014/main" id="{C15145AA-8446-4C17-B9C2-A82FB804B9F0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1" y="3898"/>
              <a:ext cx="111" cy="233"/>
            </a:xfrm>
            <a:custGeom>
              <a:avLst/>
              <a:gdLst>
                <a:gd name="T0" fmla="*/ 111 w 111"/>
                <a:gd name="T1" fmla="*/ 0 h 233"/>
                <a:gd name="T2" fmla="*/ 0 w 111"/>
                <a:gd name="T3" fmla="*/ 0 h 233"/>
                <a:gd name="T4" fmla="*/ 0 w 111"/>
                <a:gd name="T5" fmla="*/ 233 h 233"/>
                <a:gd name="T6" fmla="*/ 111 w 111"/>
                <a:gd name="T7" fmla="*/ 233 h 2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11" h="233">
                  <a:moveTo>
                    <a:pt x="111" y="0"/>
                  </a:moveTo>
                  <a:lnTo>
                    <a:pt x="0" y="0"/>
                  </a:lnTo>
                  <a:lnTo>
                    <a:pt x="0" y="233"/>
                  </a:lnTo>
                  <a:lnTo>
                    <a:pt x="111" y="233"/>
                  </a:lnTo>
                </a:path>
              </a:pathLst>
            </a:custGeom>
            <a:noFill/>
            <a:ln w="206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9" name="Freeform 176">
              <a:extLst>
                <a:ext uri="{FF2B5EF4-FFF2-40B4-BE49-F238E27FC236}">
                  <a16:creationId xmlns:a16="http://schemas.microsoft.com/office/drawing/2014/main" id="{80BA5C6E-90E7-4D45-9771-05C2388808C6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3" y="3898"/>
              <a:ext cx="116" cy="233"/>
            </a:xfrm>
            <a:custGeom>
              <a:avLst/>
              <a:gdLst>
                <a:gd name="T0" fmla="*/ 0 w 116"/>
                <a:gd name="T1" fmla="*/ 0 h 233"/>
                <a:gd name="T2" fmla="*/ 116 w 116"/>
                <a:gd name="T3" fmla="*/ 0 h 233"/>
                <a:gd name="T4" fmla="*/ 116 w 116"/>
                <a:gd name="T5" fmla="*/ 233 h 233"/>
                <a:gd name="T6" fmla="*/ 0 w 116"/>
                <a:gd name="T7" fmla="*/ 233 h 2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16" h="233">
                  <a:moveTo>
                    <a:pt x="0" y="0"/>
                  </a:moveTo>
                  <a:lnTo>
                    <a:pt x="116" y="0"/>
                  </a:lnTo>
                  <a:lnTo>
                    <a:pt x="116" y="233"/>
                  </a:lnTo>
                  <a:lnTo>
                    <a:pt x="0" y="233"/>
                  </a:lnTo>
                </a:path>
              </a:pathLst>
            </a:custGeom>
            <a:noFill/>
            <a:ln w="206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0" name="Line 177">
              <a:extLst>
                <a:ext uri="{FF2B5EF4-FFF2-40B4-BE49-F238E27FC236}">
                  <a16:creationId xmlns:a16="http://schemas.microsoft.com/office/drawing/2014/main" id="{4DCD6209-6DE4-4267-88F0-96A8BF41E40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459" y="4015"/>
              <a:ext cx="112" cy="0"/>
            </a:xfrm>
            <a:prstGeom prst="line">
              <a:avLst/>
            </a:prstGeom>
            <a:noFill/>
            <a:ln w="20638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1" name="Line 178">
              <a:extLst>
                <a:ext uri="{FF2B5EF4-FFF2-40B4-BE49-F238E27FC236}">
                  <a16:creationId xmlns:a16="http://schemas.microsoft.com/office/drawing/2014/main" id="{A66E6B53-8582-4F7C-933F-806947B89EB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70" y="4015"/>
              <a:ext cx="122" cy="0"/>
            </a:xfrm>
            <a:prstGeom prst="line">
              <a:avLst/>
            </a:prstGeom>
            <a:noFill/>
            <a:ln w="20638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2" name="Line 179">
              <a:extLst>
                <a:ext uri="{FF2B5EF4-FFF2-40B4-BE49-F238E27FC236}">
                  <a16:creationId xmlns:a16="http://schemas.microsoft.com/office/drawing/2014/main" id="{35907208-E41B-48CE-AE25-415CADC8C80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54" y="4093"/>
              <a:ext cx="127" cy="0"/>
            </a:xfrm>
            <a:prstGeom prst="line">
              <a:avLst/>
            </a:prstGeom>
            <a:noFill/>
            <a:ln w="20638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3" name="Line 180">
              <a:extLst>
                <a:ext uri="{FF2B5EF4-FFF2-40B4-BE49-F238E27FC236}">
                  <a16:creationId xmlns:a16="http://schemas.microsoft.com/office/drawing/2014/main" id="{D53C7E8B-B6A4-4BC9-9247-0F71540942A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23" y="4093"/>
              <a:ext cx="0" cy="156"/>
            </a:xfrm>
            <a:prstGeom prst="line">
              <a:avLst/>
            </a:prstGeom>
            <a:noFill/>
            <a:ln w="23813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4" name="Line 181">
              <a:extLst>
                <a:ext uri="{FF2B5EF4-FFF2-40B4-BE49-F238E27FC236}">
                  <a16:creationId xmlns:a16="http://schemas.microsoft.com/office/drawing/2014/main" id="{AF1D266B-3D6B-4B0C-8786-65EC7F09BE2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23" y="4249"/>
              <a:ext cx="272" cy="0"/>
            </a:xfrm>
            <a:prstGeom prst="line">
              <a:avLst/>
            </a:prstGeom>
            <a:noFill/>
            <a:ln w="23813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5" name="Line 182">
              <a:extLst>
                <a:ext uri="{FF2B5EF4-FFF2-40B4-BE49-F238E27FC236}">
                  <a16:creationId xmlns:a16="http://schemas.microsoft.com/office/drawing/2014/main" id="{E857BBF5-BF3F-4009-831E-E85C9F5314E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95" y="4015"/>
              <a:ext cx="0" cy="234"/>
            </a:xfrm>
            <a:prstGeom prst="line">
              <a:avLst/>
            </a:prstGeom>
            <a:noFill/>
            <a:ln w="23813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6" name="Line 183">
              <a:extLst>
                <a:ext uri="{FF2B5EF4-FFF2-40B4-BE49-F238E27FC236}">
                  <a16:creationId xmlns:a16="http://schemas.microsoft.com/office/drawing/2014/main" id="{A9A6B1B6-F2A0-41D3-823D-9C3D506C025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163" y="4015"/>
              <a:ext cx="0" cy="195"/>
            </a:xfrm>
            <a:prstGeom prst="line">
              <a:avLst/>
            </a:prstGeom>
            <a:noFill/>
            <a:ln w="23813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7" name="Line 184">
              <a:extLst>
                <a:ext uri="{FF2B5EF4-FFF2-40B4-BE49-F238E27FC236}">
                  <a16:creationId xmlns:a16="http://schemas.microsoft.com/office/drawing/2014/main" id="{AE35DC53-078B-46CF-AB86-B18A9F8232C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163" y="4210"/>
              <a:ext cx="350" cy="0"/>
            </a:xfrm>
            <a:prstGeom prst="line">
              <a:avLst/>
            </a:prstGeom>
            <a:noFill/>
            <a:ln w="23813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8" name="Line 185">
              <a:extLst>
                <a:ext uri="{FF2B5EF4-FFF2-40B4-BE49-F238E27FC236}">
                  <a16:creationId xmlns:a16="http://schemas.microsoft.com/office/drawing/2014/main" id="{84751C89-1C7D-484D-87E7-1EDB7487475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513" y="4015"/>
              <a:ext cx="0" cy="195"/>
            </a:xfrm>
            <a:prstGeom prst="line">
              <a:avLst/>
            </a:prstGeom>
            <a:noFill/>
            <a:ln w="23813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9" name="Rectangle 186">
              <a:extLst>
                <a:ext uri="{FF2B5EF4-FFF2-40B4-BE49-F238E27FC236}">
                  <a16:creationId xmlns:a16="http://schemas.microsoft.com/office/drawing/2014/main" id="{67977837-C8F2-4006-B97B-652CC6FE1C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0" y="2087"/>
              <a:ext cx="1011" cy="350"/>
            </a:xfrm>
            <a:prstGeom prst="rect">
              <a:avLst/>
            </a:prstGeom>
            <a:noFill/>
            <a:ln w="30163" cap="flat">
              <a:solidFill>
                <a:srgbClr val="3333C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</p:grpSp>
    </p:spTree>
    <p:extLst>
      <p:ext uri="{BB962C8B-B14F-4D97-AF65-F5344CB8AC3E}">
        <p14:creationId xmlns:p14="http://schemas.microsoft.com/office/powerpoint/2010/main" val="1496101287"/>
      </p:ext>
    </p:extLst>
  </p:cSld>
  <p:clrMapOvr>
    <a:masterClrMapping/>
  </p:clrMapOvr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>
            <a:extLst>
              <a:ext uri="{FF2B5EF4-FFF2-40B4-BE49-F238E27FC236}">
                <a16:creationId xmlns:a16="http://schemas.microsoft.com/office/drawing/2014/main" id="{9E93CF03-D2D1-46D5-A1FE-A03980CD835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dirty="0"/>
              <a:t>解决</a:t>
            </a:r>
            <a:r>
              <a:rPr lang="en-US" altLang="zh-CN" dirty="0"/>
              <a:t>Load-use</a:t>
            </a:r>
            <a:r>
              <a:rPr lang="zh-CN" altLang="en-US" dirty="0"/>
              <a:t>冒险的方法</a:t>
            </a:r>
          </a:p>
        </p:txBody>
      </p:sp>
      <p:sp>
        <p:nvSpPr>
          <p:cNvPr id="3" name="内容占位符 2">
            <a:extLst>
              <a:ext uri="{FF2B5EF4-FFF2-40B4-BE49-F238E27FC236}">
                <a16:creationId xmlns:a16="http://schemas.microsoft.com/office/drawing/2014/main" id="{EBE0C683-B664-4501-9963-36F7084E1544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457200" y="1166020"/>
            <a:ext cx="8648700" cy="4525963"/>
          </a:xfrm>
        </p:spPr>
        <p:txBody>
          <a:bodyPr/>
          <a:lstStyle/>
          <a:p>
            <a:r>
              <a:rPr lang="zh-CN" altLang="en-US" sz="2400" dirty="0"/>
              <a:t>采用</a:t>
            </a:r>
            <a:r>
              <a:rPr lang="en-US" altLang="zh-CN" sz="2400" dirty="0"/>
              <a:t>forwarding</a:t>
            </a:r>
            <a:r>
              <a:rPr lang="zh-CN" altLang="en-US" sz="2400" dirty="0"/>
              <a:t>后，紧接的第一条指令依赖性消除了吗？</a:t>
            </a:r>
            <a:endParaRPr lang="en-US" altLang="zh-CN" sz="2400" dirty="0"/>
          </a:p>
          <a:p>
            <a:pPr lvl="1"/>
            <a:r>
              <a:rPr lang="zh-CN" altLang="en-US" sz="2000" b="0" dirty="0">
                <a:sym typeface="Wingdings" panose="05000000000000000000" pitchFamily="2" charset="2"/>
              </a:rPr>
              <a:t>注意</a:t>
            </a:r>
            <a:r>
              <a:rPr lang="zh-CN" altLang="en-US" sz="2000" b="0" dirty="0"/>
              <a:t>数据产生晚于计算需求产生时刻点</a:t>
            </a:r>
          </a:p>
          <a:p>
            <a:pPr lvl="1"/>
            <a:r>
              <a:rPr lang="zh-CN" altLang="en-US" sz="2000" b="0" dirty="0"/>
              <a:t>所以，仍然需要</a:t>
            </a:r>
            <a:r>
              <a:rPr lang="en-US" altLang="zh-CN" sz="2000" b="0" dirty="0"/>
              <a:t>stall</a:t>
            </a:r>
            <a:r>
              <a:rPr lang="zh-CN" altLang="en-US" sz="2000" b="0" dirty="0"/>
              <a:t>一个周期</a:t>
            </a:r>
            <a:endParaRPr lang="en-US" altLang="zh-CN" sz="2000" b="0" dirty="0"/>
          </a:p>
          <a:p>
            <a:endParaRPr lang="zh-CN" altLang="en-US" sz="2400" dirty="0"/>
          </a:p>
        </p:txBody>
      </p:sp>
      <p:sp>
        <p:nvSpPr>
          <p:cNvPr id="4" name="灯片编号占位符 3">
            <a:extLst>
              <a:ext uri="{FF2B5EF4-FFF2-40B4-BE49-F238E27FC236}">
                <a16:creationId xmlns:a16="http://schemas.microsoft.com/office/drawing/2014/main" id="{63271D26-B263-467C-975B-BC6E3B2432B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0626FCE3-5FF9-430D-BA0B-DE80AAE71673}" type="slidenum">
              <a:rPr lang="zh-CN" altLang="en-US" smtClean="0"/>
              <a:t>30</a:t>
            </a:fld>
            <a:endParaRPr lang="zh-CN" altLang="en-US"/>
          </a:p>
        </p:txBody>
      </p:sp>
      <p:cxnSp>
        <p:nvCxnSpPr>
          <p:cNvPr id="7" name="直接箭头连接符 6">
            <a:extLst>
              <a:ext uri="{FF2B5EF4-FFF2-40B4-BE49-F238E27FC236}">
                <a16:creationId xmlns:a16="http://schemas.microsoft.com/office/drawing/2014/main" id="{E66B9E79-B434-4901-BDC9-8CBD9063BB93}"/>
              </a:ext>
            </a:extLst>
          </p:cNvPr>
          <p:cNvCxnSpPr>
            <a:cxnSpLocks/>
          </p:cNvCxnSpPr>
          <p:nvPr/>
        </p:nvCxnSpPr>
        <p:spPr>
          <a:xfrm flipV="1">
            <a:off x="4842304" y="2878409"/>
            <a:ext cx="0" cy="794582"/>
          </a:xfrm>
          <a:prstGeom prst="straightConnector1">
            <a:avLst/>
          </a:prstGeom>
          <a:ln w="28575">
            <a:solidFill>
              <a:srgbClr val="00B05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" name="文本框 7">
            <a:extLst>
              <a:ext uri="{FF2B5EF4-FFF2-40B4-BE49-F238E27FC236}">
                <a16:creationId xmlns:a16="http://schemas.microsoft.com/office/drawing/2014/main" id="{43BC8C9D-6853-4753-81D5-A9FD49C83DD3}"/>
              </a:ext>
            </a:extLst>
          </p:cNvPr>
          <p:cNvSpPr txBox="1"/>
          <p:nvPr/>
        </p:nvSpPr>
        <p:spPr>
          <a:xfrm>
            <a:off x="4509392" y="2583679"/>
            <a:ext cx="946147" cy="3693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altLang="zh-CN" dirty="0">
                <a:solidFill>
                  <a:srgbClr val="00B050"/>
                </a:solidFill>
                <a:ea typeface="SimHei" panose="02010609060101010101" pitchFamily="49" charset="-122"/>
              </a:rPr>
              <a:t>r1</a:t>
            </a:r>
            <a:r>
              <a:rPr lang="zh-CN" altLang="en-US" dirty="0">
                <a:solidFill>
                  <a:srgbClr val="00B050"/>
                </a:solidFill>
                <a:ea typeface="SimHei" panose="02010609060101010101" pitchFamily="49" charset="-122"/>
              </a:rPr>
              <a:t>产生</a:t>
            </a:r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10" name="文本框 9">
            <a:extLst>
              <a:ext uri="{FF2B5EF4-FFF2-40B4-BE49-F238E27FC236}">
                <a16:creationId xmlns:a16="http://schemas.microsoft.com/office/drawing/2014/main" id="{8A39C84E-C60D-465E-8BBC-5465A8ABB9E9}"/>
              </a:ext>
            </a:extLst>
          </p:cNvPr>
          <p:cNvSpPr txBox="1"/>
          <p:nvPr/>
        </p:nvSpPr>
        <p:spPr>
          <a:xfrm>
            <a:off x="3689961" y="2581029"/>
            <a:ext cx="946150" cy="3693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zh-CN" altLang="en-US" dirty="0">
                <a:solidFill>
                  <a:srgbClr val="0070C0"/>
                </a:solidFill>
                <a:ea typeface="SimHei" panose="02010609060101010101" pitchFamily="49" charset="-122"/>
              </a:rPr>
              <a:t>需要</a:t>
            </a:r>
            <a:r>
              <a:rPr lang="en-US" altLang="zh-CN" dirty="0">
                <a:solidFill>
                  <a:srgbClr val="0070C0"/>
                </a:solidFill>
                <a:ea typeface="SimHei" panose="02010609060101010101" pitchFamily="49" charset="-122"/>
              </a:rPr>
              <a:t>r1</a:t>
            </a:r>
            <a:endParaRPr lang="zh-CN" altLang="en-US" dirty="0">
              <a:solidFill>
                <a:srgbClr val="0070C0"/>
              </a:solidFill>
              <a:ea typeface="SimHei" panose="02010609060101010101" pitchFamily="49" charset="-122"/>
            </a:endParaRPr>
          </a:p>
        </p:txBody>
      </p:sp>
      <p:cxnSp>
        <p:nvCxnSpPr>
          <p:cNvPr id="11" name="直接箭头连接符 10">
            <a:extLst>
              <a:ext uri="{FF2B5EF4-FFF2-40B4-BE49-F238E27FC236}">
                <a16:creationId xmlns:a16="http://schemas.microsoft.com/office/drawing/2014/main" id="{1D35F211-5B4F-4DCE-AB59-DF603345FEBA}"/>
              </a:ext>
            </a:extLst>
          </p:cNvPr>
          <p:cNvCxnSpPr>
            <a:cxnSpLocks/>
          </p:cNvCxnSpPr>
          <p:nvPr/>
        </p:nvCxnSpPr>
        <p:spPr>
          <a:xfrm flipV="1">
            <a:off x="4391665" y="2878409"/>
            <a:ext cx="0" cy="1643982"/>
          </a:xfrm>
          <a:prstGeom prst="straightConnector1">
            <a:avLst/>
          </a:prstGeom>
          <a:ln w="28575">
            <a:solidFill>
              <a:srgbClr val="0070C0"/>
            </a:solidFill>
            <a:prstDash val="sysDash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" name="箭头: 右 4">
            <a:extLst>
              <a:ext uri="{FF2B5EF4-FFF2-40B4-BE49-F238E27FC236}">
                <a16:creationId xmlns:a16="http://schemas.microsoft.com/office/drawing/2014/main" id="{AC240614-617C-4EED-5B96-4C9758CD8EF1}"/>
              </a:ext>
            </a:extLst>
          </p:cNvPr>
          <p:cNvSpPr/>
          <p:nvPr/>
        </p:nvSpPr>
        <p:spPr>
          <a:xfrm>
            <a:off x="750898" y="3926522"/>
            <a:ext cx="640040" cy="203835"/>
          </a:xfrm>
          <a:prstGeom prst="rightArrow">
            <a:avLst/>
          </a:prstGeom>
          <a:solidFill>
            <a:srgbClr val="0070C0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6" name="文本框 5">
            <a:extLst>
              <a:ext uri="{FF2B5EF4-FFF2-40B4-BE49-F238E27FC236}">
                <a16:creationId xmlns:a16="http://schemas.microsoft.com/office/drawing/2014/main" id="{9B02570F-74C4-E841-15E0-C11655A69C9B}"/>
              </a:ext>
            </a:extLst>
          </p:cNvPr>
          <p:cNvSpPr txBox="1"/>
          <p:nvPr/>
        </p:nvSpPr>
        <p:spPr>
          <a:xfrm>
            <a:off x="172506" y="3843774"/>
            <a:ext cx="569387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zh-CN" dirty="0" err="1">
                <a:solidFill>
                  <a:srgbClr val="0070C0"/>
                </a:solidFill>
                <a:ea typeface="SimHei" panose="02010609060101010101" pitchFamily="49" charset="-122"/>
              </a:rPr>
              <a:t>nop</a:t>
            </a:r>
            <a:endParaRPr lang="zh-CN" altLang="en-US" dirty="0">
              <a:solidFill>
                <a:srgbClr val="0070C0"/>
              </a:solidFill>
              <a:ea typeface="SimHei" panose="02010609060101010101" pitchFamily="49" charset="-122"/>
            </a:endParaRPr>
          </a:p>
        </p:txBody>
      </p:sp>
      <p:grpSp>
        <p:nvGrpSpPr>
          <p:cNvPr id="9" name="Group 4">
            <a:extLst>
              <a:ext uri="{FF2B5EF4-FFF2-40B4-BE49-F238E27FC236}">
                <a16:creationId xmlns:a16="http://schemas.microsoft.com/office/drawing/2014/main" id="{3A587288-2B3C-4C00-9D77-1392292BAAEB}"/>
              </a:ext>
            </a:extLst>
          </p:cNvPr>
          <p:cNvGrpSpPr>
            <a:grpSpLocks noChangeAspect="1"/>
          </p:cNvGrpSpPr>
          <p:nvPr/>
        </p:nvGrpSpPr>
        <p:grpSpPr bwMode="auto">
          <a:xfrm>
            <a:off x="757238" y="2970213"/>
            <a:ext cx="6948487" cy="3798887"/>
            <a:chOff x="477" y="1871"/>
            <a:chExt cx="4377" cy="2393"/>
          </a:xfrm>
        </p:grpSpPr>
        <p:sp>
          <p:nvSpPr>
            <p:cNvPr id="12" name="AutoShape 3">
              <a:extLst>
                <a:ext uri="{FF2B5EF4-FFF2-40B4-BE49-F238E27FC236}">
                  <a16:creationId xmlns:a16="http://schemas.microsoft.com/office/drawing/2014/main" id="{F82FCAB4-4D62-4DD6-9E96-E25E4230D431}"/>
                </a:ext>
              </a:extLst>
            </p:cNvPr>
            <p:cNvSpPr>
              <a:spLocks noChangeAspect="1" noChangeArrowheads="1" noTextEdit="1"/>
            </p:cNvSpPr>
            <p:nvPr/>
          </p:nvSpPr>
          <p:spPr bwMode="auto">
            <a:xfrm>
              <a:off x="477" y="1871"/>
              <a:ext cx="4377" cy="239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" name="Rectangle 5">
              <a:extLst>
                <a:ext uri="{FF2B5EF4-FFF2-40B4-BE49-F238E27FC236}">
                  <a16:creationId xmlns:a16="http://schemas.microsoft.com/office/drawing/2014/main" id="{8C579332-6677-487F-B460-63AEE9B4C5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8" y="2251"/>
              <a:ext cx="87" cy="1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1500" b="0" i="1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I</a:t>
              </a:r>
              <a:endParaRPr kumimoji="0" lang="zh-CN" altLang="zh-CN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14" name="Rectangle 6">
              <a:extLst>
                <a:ext uri="{FF2B5EF4-FFF2-40B4-BE49-F238E27FC236}">
                  <a16:creationId xmlns:a16="http://schemas.microsoft.com/office/drawing/2014/main" id="{84C32741-F7DE-493F-8871-BB80277361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4" y="2392"/>
              <a:ext cx="121" cy="1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1500" b="0" i="1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n</a:t>
              </a:r>
              <a:endParaRPr kumimoji="0" lang="zh-CN" altLang="zh-CN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15" name="Rectangle 7">
              <a:extLst>
                <a:ext uri="{FF2B5EF4-FFF2-40B4-BE49-F238E27FC236}">
                  <a16:creationId xmlns:a16="http://schemas.microsoft.com/office/drawing/2014/main" id="{CA9D504B-E120-41B1-84F5-0CBD49D6B2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4" y="2534"/>
              <a:ext cx="116" cy="1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1500" b="0" i="1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s</a:t>
              </a:r>
              <a:endParaRPr kumimoji="0" lang="zh-CN" altLang="zh-CN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16" name="Rectangle 8">
              <a:extLst>
                <a:ext uri="{FF2B5EF4-FFF2-40B4-BE49-F238E27FC236}">
                  <a16:creationId xmlns:a16="http://schemas.microsoft.com/office/drawing/2014/main" id="{0D1DBC25-A87F-4173-9DC5-727C0B28D0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8" y="2673"/>
              <a:ext cx="87" cy="1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1500" b="0" i="1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t</a:t>
              </a:r>
              <a:endParaRPr kumimoji="0" lang="zh-CN" altLang="zh-CN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17" name="Rectangle 9">
              <a:extLst>
                <a:ext uri="{FF2B5EF4-FFF2-40B4-BE49-F238E27FC236}">
                  <a16:creationId xmlns:a16="http://schemas.microsoft.com/office/drawing/2014/main" id="{86D7B083-511C-4348-9D99-2E2CEAFEC7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9" y="2814"/>
              <a:ext cx="126" cy="1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1500" b="0" i="1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r.</a:t>
              </a:r>
              <a:endParaRPr kumimoji="0" lang="zh-CN" altLang="zh-CN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18" name="Rectangle 10">
              <a:extLst>
                <a:ext uri="{FF2B5EF4-FFF2-40B4-BE49-F238E27FC236}">
                  <a16:creationId xmlns:a16="http://schemas.microsoft.com/office/drawing/2014/main" id="{EDBBF27A-5FF2-43BC-BFD9-B248F4081D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9" y="3091"/>
              <a:ext cx="146" cy="1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1500" b="0" i="1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O</a:t>
              </a:r>
              <a:endParaRPr kumimoji="0" lang="zh-CN" altLang="zh-CN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19" name="Rectangle 11">
              <a:extLst>
                <a:ext uri="{FF2B5EF4-FFF2-40B4-BE49-F238E27FC236}">
                  <a16:creationId xmlns:a16="http://schemas.microsoft.com/office/drawing/2014/main" id="{769A0A04-7F2F-4662-AD23-80D368C838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3" y="3233"/>
              <a:ext cx="92" cy="1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1500" b="0" i="1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r</a:t>
              </a:r>
              <a:endParaRPr kumimoji="0" lang="zh-CN" altLang="zh-CN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20" name="Rectangle 12">
              <a:extLst>
                <a:ext uri="{FF2B5EF4-FFF2-40B4-BE49-F238E27FC236}">
                  <a16:creationId xmlns:a16="http://schemas.microsoft.com/office/drawing/2014/main" id="{A31317A6-03D7-4F3B-8D70-A624F37296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4" y="3372"/>
              <a:ext cx="121" cy="1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1500" b="0" i="1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d</a:t>
              </a:r>
              <a:endParaRPr kumimoji="0" lang="zh-CN" altLang="zh-CN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21" name="Rectangle 13">
              <a:extLst>
                <a:ext uri="{FF2B5EF4-FFF2-40B4-BE49-F238E27FC236}">
                  <a16:creationId xmlns:a16="http://schemas.microsoft.com/office/drawing/2014/main" id="{0DA22337-0824-4ADB-94D4-08BA49BE33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4" y="3513"/>
              <a:ext cx="121" cy="1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1500" b="0" i="1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e</a:t>
              </a:r>
              <a:endParaRPr kumimoji="0" lang="zh-CN" altLang="zh-CN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22" name="Rectangle 14">
              <a:extLst>
                <a:ext uri="{FF2B5EF4-FFF2-40B4-BE49-F238E27FC236}">
                  <a16:creationId xmlns:a16="http://schemas.microsoft.com/office/drawing/2014/main" id="{A6A413A4-72C6-4883-8343-DF3CBEE7BE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3" y="3649"/>
              <a:ext cx="92" cy="1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1500" b="0" i="1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r</a:t>
              </a:r>
              <a:endParaRPr kumimoji="0" lang="zh-CN" altLang="zh-CN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23" name="Freeform 15">
              <a:extLst>
                <a:ext uri="{FF2B5EF4-FFF2-40B4-BE49-F238E27FC236}">
                  <a16:creationId xmlns:a16="http://schemas.microsoft.com/office/drawing/2014/main" id="{A548B231-BB77-4BAC-BF95-09C331E79DC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423" y="1895"/>
              <a:ext cx="3217" cy="39"/>
            </a:xfrm>
            <a:custGeom>
              <a:avLst/>
              <a:gdLst>
                <a:gd name="T0" fmla="*/ 0 w 3217"/>
                <a:gd name="T1" fmla="*/ 13 h 39"/>
                <a:gd name="T2" fmla="*/ 3185 w 3217"/>
                <a:gd name="T3" fmla="*/ 13 h 39"/>
                <a:gd name="T4" fmla="*/ 3185 w 3217"/>
                <a:gd name="T5" fmla="*/ 26 h 39"/>
                <a:gd name="T6" fmla="*/ 0 w 3217"/>
                <a:gd name="T7" fmla="*/ 26 h 39"/>
                <a:gd name="T8" fmla="*/ 0 w 3217"/>
                <a:gd name="T9" fmla="*/ 13 h 39"/>
                <a:gd name="T10" fmla="*/ 3179 w 3217"/>
                <a:gd name="T11" fmla="*/ 0 h 39"/>
                <a:gd name="T12" fmla="*/ 3217 w 3217"/>
                <a:gd name="T13" fmla="*/ 20 h 39"/>
                <a:gd name="T14" fmla="*/ 3179 w 3217"/>
                <a:gd name="T15" fmla="*/ 39 h 39"/>
                <a:gd name="T16" fmla="*/ 3179 w 3217"/>
                <a:gd name="T17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217" h="39">
                  <a:moveTo>
                    <a:pt x="0" y="13"/>
                  </a:moveTo>
                  <a:lnTo>
                    <a:pt x="3185" y="13"/>
                  </a:lnTo>
                  <a:lnTo>
                    <a:pt x="3185" y="26"/>
                  </a:lnTo>
                  <a:lnTo>
                    <a:pt x="0" y="26"/>
                  </a:lnTo>
                  <a:lnTo>
                    <a:pt x="0" y="13"/>
                  </a:lnTo>
                  <a:close/>
                  <a:moveTo>
                    <a:pt x="3179" y="0"/>
                  </a:moveTo>
                  <a:lnTo>
                    <a:pt x="3217" y="20"/>
                  </a:lnTo>
                  <a:lnTo>
                    <a:pt x="3179" y="39"/>
                  </a:lnTo>
                  <a:lnTo>
                    <a:pt x="3179" y="0"/>
                  </a:lnTo>
                  <a:close/>
                </a:path>
              </a:pathLst>
            </a:custGeom>
            <a:solidFill>
              <a:srgbClr val="000000"/>
            </a:solidFill>
            <a:ln w="0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4" name="Rectangle 16">
              <a:extLst>
                <a:ext uri="{FF2B5EF4-FFF2-40B4-BE49-F238E27FC236}">
                  <a16:creationId xmlns:a16="http://schemas.microsoft.com/office/drawing/2014/main" id="{A3EA4142-7D97-4BED-BCFA-B20F7AA492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71" y="2172"/>
              <a:ext cx="252" cy="22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2000" b="1" i="0" u="none" strike="noStrike" cap="none" normalizeH="0" baseline="0">
                  <a:ln>
                    <a:noFill/>
                  </a:ln>
                  <a:solidFill>
                    <a:srgbClr val="3333CC"/>
                  </a:solidFill>
                  <a:effectLst/>
                  <a:latin typeface="Arial" panose="020B0604020202020204" pitchFamily="34" charset="0"/>
                </a:rPr>
                <a:t>lw</a:t>
              </a:r>
              <a:endParaRPr kumimoji="0" lang="zh-CN" altLang="zh-CN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25" name="Rectangle 17">
              <a:extLst>
                <a:ext uri="{FF2B5EF4-FFF2-40B4-BE49-F238E27FC236}">
                  <a16:creationId xmlns:a16="http://schemas.microsoft.com/office/drawing/2014/main" id="{DF1F49BD-35B5-4ADA-86E1-C3820AA04B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74" y="2177"/>
              <a:ext cx="214" cy="21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2000" b="0" i="0" u="none" strike="noStrike" cap="none" normalizeH="0" baseline="0">
                  <a:ln>
                    <a:noFill/>
                  </a:ln>
                  <a:solidFill>
                    <a:srgbClr val="DE2506"/>
                  </a:solidFill>
                  <a:effectLst/>
                  <a:latin typeface="Arial" panose="020B0604020202020204" pitchFamily="34" charset="0"/>
                </a:rPr>
                <a:t>r1</a:t>
              </a:r>
              <a:endParaRPr kumimoji="0" lang="zh-CN" altLang="zh-CN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26" name="Rectangle 18">
              <a:extLst>
                <a:ext uri="{FF2B5EF4-FFF2-40B4-BE49-F238E27FC236}">
                  <a16:creationId xmlns:a16="http://schemas.microsoft.com/office/drawing/2014/main" id="{544E3BB1-0ECE-483C-AAD6-2C6372F7E3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15" y="2177"/>
              <a:ext cx="631" cy="21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20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,100(r2)</a:t>
              </a:r>
              <a:endParaRPr kumimoji="0" lang="zh-CN" altLang="zh-CN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27" name="Rectangle 19">
              <a:extLst>
                <a:ext uri="{FF2B5EF4-FFF2-40B4-BE49-F238E27FC236}">
                  <a16:creationId xmlns:a16="http://schemas.microsoft.com/office/drawing/2014/main" id="{9BD16F86-967D-403C-B24F-023E2800CC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71" y="2606"/>
              <a:ext cx="562" cy="2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1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sub r4,</a:t>
              </a:r>
              <a:endParaRPr kumimoji="0" lang="zh-CN" altLang="zh-CN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28" name="Rectangle 20">
              <a:extLst>
                <a:ext uri="{FF2B5EF4-FFF2-40B4-BE49-F238E27FC236}">
                  <a16:creationId xmlns:a16="http://schemas.microsoft.com/office/drawing/2014/main" id="{9628056E-3A37-465D-9085-7121306E80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6" y="2606"/>
              <a:ext cx="214" cy="2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1900" b="0" i="0" u="none" strike="noStrike" cap="none" normalizeH="0" baseline="0">
                  <a:ln>
                    <a:noFill/>
                  </a:ln>
                  <a:solidFill>
                    <a:srgbClr val="DE2506"/>
                  </a:solidFill>
                  <a:effectLst/>
                  <a:latin typeface="Arial" panose="020B0604020202020204" pitchFamily="34" charset="0"/>
                </a:rPr>
                <a:t>r1</a:t>
              </a:r>
              <a:endParaRPr kumimoji="0" lang="zh-CN" altLang="zh-CN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29" name="Rectangle 21">
              <a:extLst>
                <a:ext uri="{FF2B5EF4-FFF2-40B4-BE49-F238E27FC236}">
                  <a16:creationId xmlns:a16="http://schemas.microsoft.com/office/drawing/2014/main" id="{205D44DC-8E71-4181-B61B-62350E46A9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87" y="2606"/>
              <a:ext cx="257" cy="2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1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,r5</a:t>
              </a:r>
              <a:endParaRPr kumimoji="0" lang="zh-CN" altLang="zh-CN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30" name="Rectangle 22">
              <a:extLst>
                <a:ext uri="{FF2B5EF4-FFF2-40B4-BE49-F238E27FC236}">
                  <a16:creationId xmlns:a16="http://schemas.microsoft.com/office/drawing/2014/main" id="{BD780CEF-46E6-4C9F-945D-B20A86A002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71" y="3055"/>
              <a:ext cx="567" cy="2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1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and r6,</a:t>
              </a:r>
              <a:endParaRPr kumimoji="0" lang="zh-CN" altLang="zh-CN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31" name="Rectangle 23">
              <a:extLst>
                <a:ext uri="{FF2B5EF4-FFF2-40B4-BE49-F238E27FC236}">
                  <a16:creationId xmlns:a16="http://schemas.microsoft.com/office/drawing/2014/main" id="{3A69A3BB-6E7E-467B-8C80-3221D0BC81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6" y="3055"/>
              <a:ext cx="213" cy="2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1900" b="0" i="0" u="none" strike="noStrike" cap="none" normalizeH="0" baseline="0">
                  <a:ln>
                    <a:noFill/>
                  </a:ln>
                  <a:solidFill>
                    <a:srgbClr val="009900"/>
                  </a:solidFill>
                  <a:effectLst/>
                  <a:latin typeface="Arial" panose="020B0604020202020204" pitchFamily="34" charset="0"/>
                </a:rPr>
                <a:t>r1</a:t>
              </a:r>
              <a:endParaRPr kumimoji="0" lang="zh-CN" altLang="zh-CN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160" name="Rectangle 24">
              <a:extLst>
                <a:ext uri="{FF2B5EF4-FFF2-40B4-BE49-F238E27FC236}">
                  <a16:creationId xmlns:a16="http://schemas.microsoft.com/office/drawing/2014/main" id="{746E883C-DCEA-467C-8CDC-B883CA8907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97" y="3055"/>
              <a:ext cx="257" cy="2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1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,r7</a:t>
              </a:r>
              <a:endParaRPr kumimoji="0" lang="zh-CN" altLang="zh-CN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161" name="Rectangle 25">
              <a:extLst>
                <a:ext uri="{FF2B5EF4-FFF2-40B4-BE49-F238E27FC236}">
                  <a16:creationId xmlns:a16="http://schemas.microsoft.com/office/drawing/2014/main" id="{35FA7387-9AE4-44E8-AC27-80B89EF04C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71" y="3925"/>
              <a:ext cx="524" cy="2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1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xor r4,</a:t>
              </a:r>
              <a:endParaRPr kumimoji="0" lang="zh-CN" altLang="zh-CN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162" name="Rectangle 26">
              <a:extLst>
                <a:ext uri="{FF2B5EF4-FFF2-40B4-BE49-F238E27FC236}">
                  <a16:creationId xmlns:a16="http://schemas.microsoft.com/office/drawing/2014/main" id="{F6BA81A4-DD8F-4197-8E98-A700A5BDC7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12" y="3925"/>
              <a:ext cx="214" cy="2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1900" b="0" i="0" u="none" strike="noStrike" cap="none" normalizeH="0" baseline="0">
                  <a:ln>
                    <a:noFill/>
                  </a:ln>
                  <a:solidFill>
                    <a:srgbClr val="009900"/>
                  </a:solidFill>
                  <a:effectLst/>
                  <a:latin typeface="Arial" panose="020B0604020202020204" pitchFamily="34" charset="0"/>
                </a:rPr>
                <a:t>r1</a:t>
              </a:r>
              <a:endParaRPr kumimoji="0" lang="zh-CN" altLang="zh-CN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163" name="Rectangle 27">
              <a:extLst>
                <a:ext uri="{FF2B5EF4-FFF2-40B4-BE49-F238E27FC236}">
                  <a16:creationId xmlns:a16="http://schemas.microsoft.com/office/drawing/2014/main" id="{8D137BCD-CED7-470C-B81F-E5F4EC5BDD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53" y="3925"/>
              <a:ext cx="257" cy="2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1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,r5</a:t>
              </a:r>
              <a:endParaRPr kumimoji="0" lang="zh-CN" altLang="zh-CN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164" name="Freeform 28">
              <a:extLst>
                <a:ext uri="{FF2B5EF4-FFF2-40B4-BE49-F238E27FC236}">
                  <a16:creationId xmlns:a16="http://schemas.microsoft.com/office/drawing/2014/main" id="{1BB0AC1E-47B5-42A0-835C-89CACBF9E9E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019" y="1978"/>
              <a:ext cx="13" cy="2281"/>
            </a:xfrm>
            <a:custGeom>
              <a:avLst/>
              <a:gdLst>
                <a:gd name="T0" fmla="*/ 13 w 13"/>
                <a:gd name="T1" fmla="*/ 39 h 2281"/>
                <a:gd name="T2" fmla="*/ 0 w 13"/>
                <a:gd name="T3" fmla="*/ 52 h 2281"/>
                <a:gd name="T4" fmla="*/ 13 w 13"/>
                <a:gd name="T5" fmla="*/ 104 h 2281"/>
                <a:gd name="T6" fmla="*/ 0 w 13"/>
                <a:gd name="T7" fmla="*/ 142 h 2281"/>
                <a:gd name="T8" fmla="*/ 13 w 13"/>
                <a:gd name="T9" fmla="*/ 155 h 2281"/>
                <a:gd name="T10" fmla="*/ 13 w 13"/>
                <a:gd name="T11" fmla="*/ 220 h 2281"/>
                <a:gd name="T12" fmla="*/ 0 w 13"/>
                <a:gd name="T13" fmla="*/ 233 h 2281"/>
                <a:gd name="T14" fmla="*/ 13 w 13"/>
                <a:gd name="T15" fmla="*/ 285 h 2281"/>
                <a:gd name="T16" fmla="*/ 0 w 13"/>
                <a:gd name="T17" fmla="*/ 323 h 2281"/>
                <a:gd name="T18" fmla="*/ 13 w 13"/>
                <a:gd name="T19" fmla="*/ 337 h 2281"/>
                <a:gd name="T20" fmla="*/ 13 w 13"/>
                <a:gd name="T21" fmla="*/ 401 h 2281"/>
                <a:gd name="T22" fmla="*/ 0 w 13"/>
                <a:gd name="T23" fmla="*/ 414 h 2281"/>
                <a:gd name="T24" fmla="*/ 13 w 13"/>
                <a:gd name="T25" fmla="*/ 466 h 2281"/>
                <a:gd name="T26" fmla="*/ 0 w 13"/>
                <a:gd name="T27" fmla="*/ 505 h 2281"/>
                <a:gd name="T28" fmla="*/ 13 w 13"/>
                <a:gd name="T29" fmla="*/ 518 h 2281"/>
                <a:gd name="T30" fmla="*/ 13 w 13"/>
                <a:gd name="T31" fmla="*/ 582 h 2281"/>
                <a:gd name="T32" fmla="*/ 0 w 13"/>
                <a:gd name="T33" fmla="*/ 595 h 2281"/>
                <a:gd name="T34" fmla="*/ 13 w 13"/>
                <a:gd name="T35" fmla="*/ 647 h 2281"/>
                <a:gd name="T36" fmla="*/ 0 w 13"/>
                <a:gd name="T37" fmla="*/ 686 h 2281"/>
                <a:gd name="T38" fmla="*/ 13 w 13"/>
                <a:gd name="T39" fmla="*/ 699 h 2281"/>
                <a:gd name="T40" fmla="*/ 13 w 13"/>
                <a:gd name="T41" fmla="*/ 764 h 2281"/>
                <a:gd name="T42" fmla="*/ 0 w 13"/>
                <a:gd name="T43" fmla="*/ 776 h 2281"/>
                <a:gd name="T44" fmla="*/ 13 w 13"/>
                <a:gd name="T45" fmla="*/ 828 h 2281"/>
                <a:gd name="T46" fmla="*/ 0 w 13"/>
                <a:gd name="T47" fmla="*/ 867 h 2281"/>
                <a:gd name="T48" fmla="*/ 13 w 13"/>
                <a:gd name="T49" fmla="*/ 880 h 2281"/>
                <a:gd name="T50" fmla="*/ 13 w 13"/>
                <a:gd name="T51" fmla="*/ 945 h 2281"/>
                <a:gd name="T52" fmla="*/ 0 w 13"/>
                <a:gd name="T53" fmla="*/ 958 h 2281"/>
                <a:gd name="T54" fmla="*/ 13 w 13"/>
                <a:gd name="T55" fmla="*/ 1009 h 2281"/>
                <a:gd name="T56" fmla="*/ 0 w 13"/>
                <a:gd name="T57" fmla="*/ 1048 h 2281"/>
                <a:gd name="T58" fmla="*/ 13 w 13"/>
                <a:gd name="T59" fmla="*/ 1061 h 2281"/>
                <a:gd name="T60" fmla="*/ 13 w 13"/>
                <a:gd name="T61" fmla="*/ 1126 h 2281"/>
                <a:gd name="T62" fmla="*/ 0 w 13"/>
                <a:gd name="T63" fmla="*/ 1139 h 2281"/>
                <a:gd name="T64" fmla="*/ 13 w 13"/>
                <a:gd name="T65" fmla="*/ 1191 h 2281"/>
                <a:gd name="T66" fmla="*/ 0 w 13"/>
                <a:gd name="T67" fmla="*/ 1230 h 2281"/>
                <a:gd name="T68" fmla="*/ 13 w 13"/>
                <a:gd name="T69" fmla="*/ 1242 h 2281"/>
                <a:gd name="T70" fmla="*/ 13 w 13"/>
                <a:gd name="T71" fmla="*/ 1307 h 2281"/>
                <a:gd name="T72" fmla="*/ 0 w 13"/>
                <a:gd name="T73" fmla="*/ 1320 h 2281"/>
                <a:gd name="T74" fmla="*/ 13 w 13"/>
                <a:gd name="T75" fmla="*/ 1372 h 2281"/>
                <a:gd name="T76" fmla="*/ 0 w 13"/>
                <a:gd name="T77" fmla="*/ 1411 h 2281"/>
                <a:gd name="T78" fmla="*/ 13 w 13"/>
                <a:gd name="T79" fmla="*/ 1424 h 2281"/>
                <a:gd name="T80" fmla="*/ 13 w 13"/>
                <a:gd name="T81" fmla="*/ 1488 h 2281"/>
                <a:gd name="T82" fmla="*/ 0 w 13"/>
                <a:gd name="T83" fmla="*/ 1501 h 2281"/>
                <a:gd name="T84" fmla="*/ 13 w 13"/>
                <a:gd name="T85" fmla="*/ 1553 h 2281"/>
                <a:gd name="T86" fmla="*/ 0 w 13"/>
                <a:gd name="T87" fmla="*/ 1592 h 2281"/>
                <a:gd name="T88" fmla="*/ 13 w 13"/>
                <a:gd name="T89" fmla="*/ 1605 h 2281"/>
                <a:gd name="T90" fmla="*/ 13 w 13"/>
                <a:gd name="T91" fmla="*/ 1670 h 2281"/>
                <a:gd name="T92" fmla="*/ 0 w 13"/>
                <a:gd name="T93" fmla="*/ 1683 h 2281"/>
                <a:gd name="T94" fmla="*/ 13 w 13"/>
                <a:gd name="T95" fmla="*/ 1734 h 2281"/>
                <a:gd name="T96" fmla="*/ 0 w 13"/>
                <a:gd name="T97" fmla="*/ 1773 h 2281"/>
                <a:gd name="T98" fmla="*/ 13 w 13"/>
                <a:gd name="T99" fmla="*/ 1786 h 2281"/>
                <a:gd name="T100" fmla="*/ 13 w 13"/>
                <a:gd name="T101" fmla="*/ 1851 h 2281"/>
                <a:gd name="T102" fmla="*/ 0 w 13"/>
                <a:gd name="T103" fmla="*/ 1864 h 2281"/>
                <a:gd name="T104" fmla="*/ 13 w 13"/>
                <a:gd name="T105" fmla="*/ 1916 h 2281"/>
                <a:gd name="T106" fmla="*/ 0 w 13"/>
                <a:gd name="T107" fmla="*/ 1954 h 2281"/>
                <a:gd name="T108" fmla="*/ 13 w 13"/>
                <a:gd name="T109" fmla="*/ 1967 h 2281"/>
                <a:gd name="T110" fmla="*/ 13 w 13"/>
                <a:gd name="T111" fmla="*/ 2032 h 2281"/>
                <a:gd name="T112" fmla="*/ 0 w 13"/>
                <a:gd name="T113" fmla="*/ 2045 h 2281"/>
                <a:gd name="T114" fmla="*/ 13 w 13"/>
                <a:gd name="T115" fmla="*/ 2097 h 2281"/>
                <a:gd name="T116" fmla="*/ 0 w 13"/>
                <a:gd name="T117" fmla="*/ 2136 h 2281"/>
                <a:gd name="T118" fmla="*/ 13 w 13"/>
                <a:gd name="T119" fmla="*/ 2149 h 2281"/>
                <a:gd name="T120" fmla="*/ 13 w 13"/>
                <a:gd name="T121" fmla="*/ 2213 h 2281"/>
                <a:gd name="T122" fmla="*/ 0 w 13"/>
                <a:gd name="T123" fmla="*/ 2226 h 2281"/>
                <a:gd name="T124" fmla="*/ 13 w 13"/>
                <a:gd name="T125" fmla="*/ 2278 h 22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3" h="2281">
                  <a:moveTo>
                    <a:pt x="13" y="0"/>
                  </a:moveTo>
                  <a:lnTo>
                    <a:pt x="13" y="13"/>
                  </a:lnTo>
                  <a:lnTo>
                    <a:pt x="0" y="13"/>
                  </a:lnTo>
                  <a:lnTo>
                    <a:pt x="0" y="0"/>
                  </a:lnTo>
                  <a:lnTo>
                    <a:pt x="13" y="0"/>
                  </a:lnTo>
                  <a:close/>
                  <a:moveTo>
                    <a:pt x="13" y="26"/>
                  </a:moveTo>
                  <a:lnTo>
                    <a:pt x="13" y="39"/>
                  </a:lnTo>
                  <a:lnTo>
                    <a:pt x="0" y="39"/>
                  </a:lnTo>
                  <a:lnTo>
                    <a:pt x="0" y="26"/>
                  </a:lnTo>
                  <a:lnTo>
                    <a:pt x="13" y="26"/>
                  </a:lnTo>
                  <a:close/>
                  <a:moveTo>
                    <a:pt x="13" y="52"/>
                  </a:moveTo>
                  <a:lnTo>
                    <a:pt x="13" y="65"/>
                  </a:lnTo>
                  <a:lnTo>
                    <a:pt x="0" y="65"/>
                  </a:lnTo>
                  <a:lnTo>
                    <a:pt x="0" y="52"/>
                  </a:lnTo>
                  <a:lnTo>
                    <a:pt x="13" y="52"/>
                  </a:lnTo>
                  <a:close/>
                  <a:moveTo>
                    <a:pt x="13" y="77"/>
                  </a:moveTo>
                  <a:lnTo>
                    <a:pt x="13" y="90"/>
                  </a:lnTo>
                  <a:lnTo>
                    <a:pt x="0" y="90"/>
                  </a:lnTo>
                  <a:lnTo>
                    <a:pt x="0" y="77"/>
                  </a:lnTo>
                  <a:lnTo>
                    <a:pt x="13" y="77"/>
                  </a:lnTo>
                  <a:close/>
                  <a:moveTo>
                    <a:pt x="13" y="104"/>
                  </a:moveTo>
                  <a:lnTo>
                    <a:pt x="13" y="116"/>
                  </a:lnTo>
                  <a:lnTo>
                    <a:pt x="0" y="116"/>
                  </a:lnTo>
                  <a:lnTo>
                    <a:pt x="0" y="104"/>
                  </a:lnTo>
                  <a:lnTo>
                    <a:pt x="13" y="104"/>
                  </a:lnTo>
                  <a:close/>
                  <a:moveTo>
                    <a:pt x="13" y="129"/>
                  </a:moveTo>
                  <a:lnTo>
                    <a:pt x="13" y="142"/>
                  </a:lnTo>
                  <a:lnTo>
                    <a:pt x="0" y="142"/>
                  </a:lnTo>
                  <a:lnTo>
                    <a:pt x="0" y="129"/>
                  </a:lnTo>
                  <a:lnTo>
                    <a:pt x="13" y="129"/>
                  </a:lnTo>
                  <a:close/>
                  <a:moveTo>
                    <a:pt x="13" y="155"/>
                  </a:moveTo>
                  <a:lnTo>
                    <a:pt x="13" y="168"/>
                  </a:lnTo>
                  <a:lnTo>
                    <a:pt x="0" y="168"/>
                  </a:lnTo>
                  <a:lnTo>
                    <a:pt x="0" y="155"/>
                  </a:lnTo>
                  <a:lnTo>
                    <a:pt x="13" y="155"/>
                  </a:lnTo>
                  <a:close/>
                  <a:moveTo>
                    <a:pt x="13" y="181"/>
                  </a:moveTo>
                  <a:lnTo>
                    <a:pt x="13" y="194"/>
                  </a:lnTo>
                  <a:lnTo>
                    <a:pt x="0" y="194"/>
                  </a:lnTo>
                  <a:lnTo>
                    <a:pt x="0" y="181"/>
                  </a:lnTo>
                  <a:lnTo>
                    <a:pt x="13" y="181"/>
                  </a:lnTo>
                  <a:close/>
                  <a:moveTo>
                    <a:pt x="13" y="207"/>
                  </a:moveTo>
                  <a:lnTo>
                    <a:pt x="13" y="220"/>
                  </a:lnTo>
                  <a:lnTo>
                    <a:pt x="0" y="220"/>
                  </a:lnTo>
                  <a:lnTo>
                    <a:pt x="0" y="207"/>
                  </a:lnTo>
                  <a:lnTo>
                    <a:pt x="13" y="207"/>
                  </a:lnTo>
                  <a:close/>
                  <a:moveTo>
                    <a:pt x="13" y="233"/>
                  </a:moveTo>
                  <a:lnTo>
                    <a:pt x="13" y="246"/>
                  </a:lnTo>
                  <a:lnTo>
                    <a:pt x="0" y="246"/>
                  </a:lnTo>
                  <a:lnTo>
                    <a:pt x="0" y="233"/>
                  </a:lnTo>
                  <a:lnTo>
                    <a:pt x="13" y="233"/>
                  </a:lnTo>
                  <a:close/>
                  <a:moveTo>
                    <a:pt x="13" y="259"/>
                  </a:moveTo>
                  <a:lnTo>
                    <a:pt x="13" y="272"/>
                  </a:lnTo>
                  <a:lnTo>
                    <a:pt x="0" y="272"/>
                  </a:lnTo>
                  <a:lnTo>
                    <a:pt x="0" y="259"/>
                  </a:lnTo>
                  <a:lnTo>
                    <a:pt x="13" y="259"/>
                  </a:lnTo>
                  <a:close/>
                  <a:moveTo>
                    <a:pt x="13" y="285"/>
                  </a:moveTo>
                  <a:lnTo>
                    <a:pt x="13" y="298"/>
                  </a:lnTo>
                  <a:lnTo>
                    <a:pt x="0" y="298"/>
                  </a:lnTo>
                  <a:lnTo>
                    <a:pt x="0" y="285"/>
                  </a:lnTo>
                  <a:lnTo>
                    <a:pt x="13" y="285"/>
                  </a:lnTo>
                  <a:close/>
                  <a:moveTo>
                    <a:pt x="13" y="310"/>
                  </a:moveTo>
                  <a:lnTo>
                    <a:pt x="13" y="323"/>
                  </a:lnTo>
                  <a:lnTo>
                    <a:pt x="0" y="323"/>
                  </a:lnTo>
                  <a:lnTo>
                    <a:pt x="0" y="310"/>
                  </a:lnTo>
                  <a:lnTo>
                    <a:pt x="13" y="310"/>
                  </a:lnTo>
                  <a:close/>
                  <a:moveTo>
                    <a:pt x="13" y="337"/>
                  </a:moveTo>
                  <a:lnTo>
                    <a:pt x="13" y="349"/>
                  </a:lnTo>
                  <a:lnTo>
                    <a:pt x="0" y="349"/>
                  </a:lnTo>
                  <a:lnTo>
                    <a:pt x="0" y="337"/>
                  </a:lnTo>
                  <a:lnTo>
                    <a:pt x="13" y="337"/>
                  </a:lnTo>
                  <a:close/>
                  <a:moveTo>
                    <a:pt x="13" y="362"/>
                  </a:moveTo>
                  <a:lnTo>
                    <a:pt x="13" y="375"/>
                  </a:lnTo>
                  <a:lnTo>
                    <a:pt x="0" y="375"/>
                  </a:lnTo>
                  <a:lnTo>
                    <a:pt x="0" y="362"/>
                  </a:lnTo>
                  <a:lnTo>
                    <a:pt x="13" y="362"/>
                  </a:lnTo>
                  <a:close/>
                  <a:moveTo>
                    <a:pt x="13" y="388"/>
                  </a:moveTo>
                  <a:lnTo>
                    <a:pt x="13" y="401"/>
                  </a:lnTo>
                  <a:lnTo>
                    <a:pt x="0" y="401"/>
                  </a:lnTo>
                  <a:lnTo>
                    <a:pt x="0" y="388"/>
                  </a:lnTo>
                  <a:lnTo>
                    <a:pt x="13" y="388"/>
                  </a:lnTo>
                  <a:close/>
                  <a:moveTo>
                    <a:pt x="13" y="414"/>
                  </a:moveTo>
                  <a:lnTo>
                    <a:pt x="13" y="427"/>
                  </a:lnTo>
                  <a:lnTo>
                    <a:pt x="0" y="427"/>
                  </a:lnTo>
                  <a:lnTo>
                    <a:pt x="0" y="414"/>
                  </a:lnTo>
                  <a:lnTo>
                    <a:pt x="13" y="414"/>
                  </a:lnTo>
                  <a:close/>
                  <a:moveTo>
                    <a:pt x="13" y="440"/>
                  </a:moveTo>
                  <a:lnTo>
                    <a:pt x="13" y="453"/>
                  </a:lnTo>
                  <a:lnTo>
                    <a:pt x="0" y="453"/>
                  </a:lnTo>
                  <a:lnTo>
                    <a:pt x="0" y="440"/>
                  </a:lnTo>
                  <a:lnTo>
                    <a:pt x="13" y="440"/>
                  </a:lnTo>
                  <a:close/>
                  <a:moveTo>
                    <a:pt x="13" y="466"/>
                  </a:moveTo>
                  <a:lnTo>
                    <a:pt x="13" y="479"/>
                  </a:lnTo>
                  <a:lnTo>
                    <a:pt x="0" y="479"/>
                  </a:lnTo>
                  <a:lnTo>
                    <a:pt x="0" y="466"/>
                  </a:lnTo>
                  <a:lnTo>
                    <a:pt x="13" y="466"/>
                  </a:lnTo>
                  <a:close/>
                  <a:moveTo>
                    <a:pt x="13" y="492"/>
                  </a:moveTo>
                  <a:lnTo>
                    <a:pt x="13" y="505"/>
                  </a:lnTo>
                  <a:lnTo>
                    <a:pt x="0" y="505"/>
                  </a:lnTo>
                  <a:lnTo>
                    <a:pt x="0" y="492"/>
                  </a:lnTo>
                  <a:lnTo>
                    <a:pt x="13" y="492"/>
                  </a:lnTo>
                  <a:close/>
                  <a:moveTo>
                    <a:pt x="13" y="518"/>
                  </a:moveTo>
                  <a:lnTo>
                    <a:pt x="13" y="531"/>
                  </a:lnTo>
                  <a:lnTo>
                    <a:pt x="0" y="531"/>
                  </a:lnTo>
                  <a:lnTo>
                    <a:pt x="0" y="518"/>
                  </a:lnTo>
                  <a:lnTo>
                    <a:pt x="13" y="518"/>
                  </a:lnTo>
                  <a:close/>
                  <a:moveTo>
                    <a:pt x="13" y="543"/>
                  </a:moveTo>
                  <a:lnTo>
                    <a:pt x="13" y="556"/>
                  </a:lnTo>
                  <a:lnTo>
                    <a:pt x="0" y="556"/>
                  </a:lnTo>
                  <a:lnTo>
                    <a:pt x="0" y="543"/>
                  </a:lnTo>
                  <a:lnTo>
                    <a:pt x="13" y="543"/>
                  </a:lnTo>
                  <a:close/>
                  <a:moveTo>
                    <a:pt x="13" y="570"/>
                  </a:moveTo>
                  <a:lnTo>
                    <a:pt x="13" y="582"/>
                  </a:lnTo>
                  <a:lnTo>
                    <a:pt x="0" y="582"/>
                  </a:lnTo>
                  <a:lnTo>
                    <a:pt x="0" y="570"/>
                  </a:lnTo>
                  <a:lnTo>
                    <a:pt x="13" y="570"/>
                  </a:lnTo>
                  <a:close/>
                  <a:moveTo>
                    <a:pt x="13" y="595"/>
                  </a:moveTo>
                  <a:lnTo>
                    <a:pt x="13" y="608"/>
                  </a:lnTo>
                  <a:lnTo>
                    <a:pt x="0" y="608"/>
                  </a:lnTo>
                  <a:lnTo>
                    <a:pt x="0" y="595"/>
                  </a:lnTo>
                  <a:lnTo>
                    <a:pt x="13" y="595"/>
                  </a:lnTo>
                  <a:close/>
                  <a:moveTo>
                    <a:pt x="13" y="621"/>
                  </a:moveTo>
                  <a:lnTo>
                    <a:pt x="13" y="634"/>
                  </a:lnTo>
                  <a:lnTo>
                    <a:pt x="0" y="634"/>
                  </a:lnTo>
                  <a:lnTo>
                    <a:pt x="0" y="621"/>
                  </a:lnTo>
                  <a:lnTo>
                    <a:pt x="13" y="621"/>
                  </a:lnTo>
                  <a:close/>
                  <a:moveTo>
                    <a:pt x="13" y="647"/>
                  </a:moveTo>
                  <a:lnTo>
                    <a:pt x="13" y="660"/>
                  </a:lnTo>
                  <a:lnTo>
                    <a:pt x="0" y="660"/>
                  </a:lnTo>
                  <a:lnTo>
                    <a:pt x="0" y="647"/>
                  </a:lnTo>
                  <a:lnTo>
                    <a:pt x="13" y="647"/>
                  </a:lnTo>
                  <a:close/>
                  <a:moveTo>
                    <a:pt x="13" y="673"/>
                  </a:moveTo>
                  <a:lnTo>
                    <a:pt x="13" y="686"/>
                  </a:lnTo>
                  <a:lnTo>
                    <a:pt x="0" y="686"/>
                  </a:lnTo>
                  <a:lnTo>
                    <a:pt x="0" y="673"/>
                  </a:lnTo>
                  <a:lnTo>
                    <a:pt x="13" y="673"/>
                  </a:lnTo>
                  <a:close/>
                  <a:moveTo>
                    <a:pt x="13" y="699"/>
                  </a:moveTo>
                  <a:lnTo>
                    <a:pt x="13" y="712"/>
                  </a:lnTo>
                  <a:lnTo>
                    <a:pt x="0" y="712"/>
                  </a:lnTo>
                  <a:lnTo>
                    <a:pt x="0" y="699"/>
                  </a:lnTo>
                  <a:lnTo>
                    <a:pt x="13" y="699"/>
                  </a:lnTo>
                  <a:close/>
                  <a:moveTo>
                    <a:pt x="13" y="725"/>
                  </a:moveTo>
                  <a:lnTo>
                    <a:pt x="13" y="738"/>
                  </a:lnTo>
                  <a:lnTo>
                    <a:pt x="0" y="738"/>
                  </a:lnTo>
                  <a:lnTo>
                    <a:pt x="0" y="725"/>
                  </a:lnTo>
                  <a:lnTo>
                    <a:pt x="13" y="725"/>
                  </a:lnTo>
                  <a:close/>
                  <a:moveTo>
                    <a:pt x="13" y="751"/>
                  </a:moveTo>
                  <a:lnTo>
                    <a:pt x="13" y="764"/>
                  </a:lnTo>
                  <a:lnTo>
                    <a:pt x="0" y="764"/>
                  </a:lnTo>
                  <a:lnTo>
                    <a:pt x="0" y="751"/>
                  </a:lnTo>
                  <a:lnTo>
                    <a:pt x="13" y="751"/>
                  </a:lnTo>
                  <a:close/>
                  <a:moveTo>
                    <a:pt x="13" y="776"/>
                  </a:moveTo>
                  <a:lnTo>
                    <a:pt x="13" y="789"/>
                  </a:lnTo>
                  <a:lnTo>
                    <a:pt x="0" y="789"/>
                  </a:lnTo>
                  <a:lnTo>
                    <a:pt x="0" y="776"/>
                  </a:lnTo>
                  <a:lnTo>
                    <a:pt x="13" y="776"/>
                  </a:lnTo>
                  <a:close/>
                  <a:moveTo>
                    <a:pt x="13" y="802"/>
                  </a:moveTo>
                  <a:lnTo>
                    <a:pt x="13" y="815"/>
                  </a:lnTo>
                  <a:lnTo>
                    <a:pt x="0" y="815"/>
                  </a:lnTo>
                  <a:lnTo>
                    <a:pt x="0" y="802"/>
                  </a:lnTo>
                  <a:lnTo>
                    <a:pt x="13" y="802"/>
                  </a:lnTo>
                  <a:close/>
                  <a:moveTo>
                    <a:pt x="13" y="828"/>
                  </a:moveTo>
                  <a:lnTo>
                    <a:pt x="13" y="841"/>
                  </a:lnTo>
                  <a:lnTo>
                    <a:pt x="0" y="841"/>
                  </a:lnTo>
                  <a:lnTo>
                    <a:pt x="0" y="828"/>
                  </a:lnTo>
                  <a:lnTo>
                    <a:pt x="13" y="828"/>
                  </a:lnTo>
                  <a:close/>
                  <a:moveTo>
                    <a:pt x="13" y="854"/>
                  </a:moveTo>
                  <a:lnTo>
                    <a:pt x="13" y="867"/>
                  </a:lnTo>
                  <a:lnTo>
                    <a:pt x="0" y="867"/>
                  </a:lnTo>
                  <a:lnTo>
                    <a:pt x="0" y="854"/>
                  </a:lnTo>
                  <a:lnTo>
                    <a:pt x="13" y="854"/>
                  </a:lnTo>
                  <a:close/>
                  <a:moveTo>
                    <a:pt x="13" y="880"/>
                  </a:moveTo>
                  <a:lnTo>
                    <a:pt x="13" y="893"/>
                  </a:lnTo>
                  <a:lnTo>
                    <a:pt x="0" y="893"/>
                  </a:lnTo>
                  <a:lnTo>
                    <a:pt x="0" y="880"/>
                  </a:lnTo>
                  <a:lnTo>
                    <a:pt x="13" y="880"/>
                  </a:lnTo>
                  <a:close/>
                  <a:moveTo>
                    <a:pt x="13" y="906"/>
                  </a:moveTo>
                  <a:lnTo>
                    <a:pt x="13" y="919"/>
                  </a:lnTo>
                  <a:lnTo>
                    <a:pt x="0" y="919"/>
                  </a:lnTo>
                  <a:lnTo>
                    <a:pt x="0" y="906"/>
                  </a:lnTo>
                  <a:lnTo>
                    <a:pt x="13" y="906"/>
                  </a:lnTo>
                  <a:close/>
                  <a:moveTo>
                    <a:pt x="13" y="932"/>
                  </a:moveTo>
                  <a:lnTo>
                    <a:pt x="13" y="945"/>
                  </a:lnTo>
                  <a:lnTo>
                    <a:pt x="0" y="945"/>
                  </a:lnTo>
                  <a:lnTo>
                    <a:pt x="0" y="932"/>
                  </a:lnTo>
                  <a:lnTo>
                    <a:pt x="13" y="932"/>
                  </a:lnTo>
                  <a:close/>
                  <a:moveTo>
                    <a:pt x="13" y="958"/>
                  </a:moveTo>
                  <a:lnTo>
                    <a:pt x="13" y="971"/>
                  </a:lnTo>
                  <a:lnTo>
                    <a:pt x="0" y="971"/>
                  </a:lnTo>
                  <a:lnTo>
                    <a:pt x="0" y="958"/>
                  </a:lnTo>
                  <a:lnTo>
                    <a:pt x="13" y="958"/>
                  </a:lnTo>
                  <a:close/>
                  <a:moveTo>
                    <a:pt x="13" y="984"/>
                  </a:moveTo>
                  <a:lnTo>
                    <a:pt x="13" y="997"/>
                  </a:lnTo>
                  <a:lnTo>
                    <a:pt x="0" y="997"/>
                  </a:lnTo>
                  <a:lnTo>
                    <a:pt x="0" y="984"/>
                  </a:lnTo>
                  <a:lnTo>
                    <a:pt x="13" y="984"/>
                  </a:lnTo>
                  <a:close/>
                  <a:moveTo>
                    <a:pt x="13" y="1009"/>
                  </a:moveTo>
                  <a:lnTo>
                    <a:pt x="13" y="1022"/>
                  </a:lnTo>
                  <a:lnTo>
                    <a:pt x="0" y="1022"/>
                  </a:lnTo>
                  <a:lnTo>
                    <a:pt x="0" y="1009"/>
                  </a:lnTo>
                  <a:lnTo>
                    <a:pt x="13" y="1009"/>
                  </a:lnTo>
                  <a:close/>
                  <a:moveTo>
                    <a:pt x="13" y="1035"/>
                  </a:moveTo>
                  <a:lnTo>
                    <a:pt x="13" y="1048"/>
                  </a:lnTo>
                  <a:lnTo>
                    <a:pt x="0" y="1048"/>
                  </a:lnTo>
                  <a:lnTo>
                    <a:pt x="0" y="1035"/>
                  </a:lnTo>
                  <a:lnTo>
                    <a:pt x="13" y="1035"/>
                  </a:lnTo>
                  <a:close/>
                  <a:moveTo>
                    <a:pt x="13" y="1061"/>
                  </a:moveTo>
                  <a:lnTo>
                    <a:pt x="13" y="1074"/>
                  </a:lnTo>
                  <a:lnTo>
                    <a:pt x="0" y="1074"/>
                  </a:lnTo>
                  <a:lnTo>
                    <a:pt x="0" y="1061"/>
                  </a:lnTo>
                  <a:lnTo>
                    <a:pt x="13" y="1061"/>
                  </a:lnTo>
                  <a:close/>
                  <a:moveTo>
                    <a:pt x="13" y="1087"/>
                  </a:moveTo>
                  <a:lnTo>
                    <a:pt x="13" y="1100"/>
                  </a:lnTo>
                  <a:lnTo>
                    <a:pt x="0" y="1100"/>
                  </a:lnTo>
                  <a:lnTo>
                    <a:pt x="0" y="1087"/>
                  </a:lnTo>
                  <a:lnTo>
                    <a:pt x="13" y="1087"/>
                  </a:lnTo>
                  <a:close/>
                  <a:moveTo>
                    <a:pt x="13" y="1113"/>
                  </a:moveTo>
                  <a:lnTo>
                    <a:pt x="13" y="1126"/>
                  </a:lnTo>
                  <a:lnTo>
                    <a:pt x="0" y="1126"/>
                  </a:lnTo>
                  <a:lnTo>
                    <a:pt x="0" y="1113"/>
                  </a:lnTo>
                  <a:lnTo>
                    <a:pt x="13" y="1113"/>
                  </a:lnTo>
                  <a:close/>
                  <a:moveTo>
                    <a:pt x="13" y="1139"/>
                  </a:moveTo>
                  <a:lnTo>
                    <a:pt x="13" y="1152"/>
                  </a:lnTo>
                  <a:lnTo>
                    <a:pt x="0" y="1152"/>
                  </a:lnTo>
                  <a:lnTo>
                    <a:pt x="0" y="1139"/>
                  </a:lnTo>
                  <a:lnTo>
                    <a:pt x="13" y="1139"/>
                  </a:lnTo>
                  <a:close/>
                  <a:moveTo>
                    <a:pt x="13" y="1165"/>
                  </a:moveTo>
                  <a:lnTo>
                    <a:pt x="13" y="1178"/>
                  </a:lnTo>
                  <a:lnTo>
                    <a:pt x="0" y="1178"/>
                  </a:lnTo>
                  <a:lnTo>
                    <a:pt x="0" y="1165"/>
                  </a:lnTo>
                  <a:lnTo>
                    <a:pt x="13" y="1165"/>
                  </a:lnTo>
                  <a:close/>
                  <a:moveTo>
                    <a:pt x="13" y="1191"/>
                  </a:moveTo>
                  <a:lnTo>
                    <a:pt x="13" y="1204"/>
                  </a:lnTo>
                  <a:lnTo>
                    <a:pt x="0" y="1204"/>
                  </a:lnTo>
                  <a:lnTo>
                    <a:pt x="0" y="1191"/>
                  </a:lnTo>
                  <a:lnTo>
                    <a:pt x="13" y="1191"/>
                  </a:lnTo>
                  <a:close/>
                  <a:moveTo>
                    <a:pt x="13" y="1217"/>
                  </a:moveTo>
                  <a:lnTo>
                    <a:pt x="13" y="1230"/>
                  </a:lnTo>
                  <a:lnTo>
                    <a:pt x="0" y="1230"/>
                  </a:lnTo>
                  <a:lnTo>
                    <a:pt x="0" y="1217"/>
                  </a:lnTo>
                  <a:lnTo>
                    <a:pt x="13" y="1217"/>
                  </a:lnTo>
                  <a:close/>
                  <a:moveTo>
                    <a:pt x="13" y="1242"/>
                  </a:moveTo>
                  <a:lnTo>
                    <a:pt x="13" y="1255"/>
                  </a:lnTo>
                  <a:lnTo>
                    <a:pt x="0" y="1255"/>
                  </a:lnTo>
                  <a:lnTo>
                    <a:pt x="0" y="1242"/>
                  </a:lnTo>
                  <a:lnTo>
                    <a:pt x="13" y="1242"/>
                  </a:lnTo>
                  <a:close/>
                  <a:moveTo>
                    <a:pt x="13" y="1268"/>
                  </a:moveTo>
                  <a:lnTo>
                    <a:pt x="13" y="1281"/>
                  </a:lnTo>
                  <a:lnTo>
                    <a:pt x="0" y="1281"/>
                  </a:lnTo>
                  <a:lnTo>
                    <a:pt x="0" y="1268"/>
                  </a:lnTo>
                  <a:lnTo>
                    <a:pt x="13" y="1268"/>
                  </a:lnTo>
                  <a:close/>
                  <a:moveTo>
                    <a:pt x="13" y="1294"/>
                  </a:moveTo>
                  <a:lnTo>
                    <a:pt x="13" y="1307"/>
                  </a:lnTo>
                  <a:lnTo>
                    <a:pt x="0" y="1307"/>
                  </a:lnTo>
                  <a:lnTo>
                    <a:pt x="0" y="1294"/>
                  </a:lnTo>
                  <a:lnTo>
                    <a:pt x="13" y="1294"/>
                  </a:lnTo>
                  <a:close/>
                  <a:moveTo>
                    <a:pt x="13" y="1320"/>
                  </a:moveTo>
                  <a:lnTo>
                    <a:pt x="13" y="1333"/>
                  </a:lnTo>
                  <a:lnTo>
                    <a:pt x="0" y="1333"/>
                  </a:lnTo>
                  <a:lnTo>
                    <a:pt x="0" y="1320"/>
                  </a:lnTo>
                  <a:lnTo>
                    <a:pt x="13" y="1320"/>
                  </a:lnTo>
                  <a:close/>
                  <a:moveTo>
                    <a:pt x="13" y="1346"/>
                  </a:moveTo>
                  <a:lnTo>
                    <a:pt x="13" y="1359"/>
                  </a:lnTo>
                  <a:lnTo>
                    <a:pt x="0" y="1359"/>
                  </a:lnTo>
                  <a:lnTo>
                    <a:pt x="0" y="1346"/>
                  </a:lnTo>
                  <a:lnTo>
                    <a:pt x="13" y="1346"/>
                  </a:lnTo>
                  <a:close/>
                  <a:moveTo>
                    <a:pt x="13" y="1372"/>
                  </a:moveTo>
                  <a:lnTo>
                    <a:pt x="13" y="1385"/>
                  </a:lnTo>
                  <a:lnTo>
                    <a:pt x="0" y="1385"/>
                  </a:lnTo>
                  <a:lnTo>
                    <a:pt x="0" y="1372"/>
                  </a:lnTo>
                  <a:lnTo>
                    <a:pt x="13" y="1372"/>
                  </a:lnTo>
                  <a:close/>
                  <a:moveTo>
                    <a:pt x="13" y="1398"/>
                  </a:moveTo>
                  <a:lnTo>
                    <a:pt x="13" y="1411"/>
                  </a:lnTo>
                  <a:lnTo>
                    <a:pt x="0" y="1411"/>
                  </a:lnTo>
                  <a:lnTo>
                    <a:pt x="0" y="1398"/>
                  </a:lnTo>
                  <a:lnTo>
                    <a:pt x="13" y="1398"/>
                  </a:lnTo>
                  <a:close/>
                  <a:moveTo>
                    <a:pt x="13" y="1424"/>
                  </a:moveTo>
                  <a:lnTo>
                    <a:pt x="13" y="1437"/>
                  </a:lnTo>
                  <a:lnTo>
                    <a:pt x="0" y="1437"/>
                  </a:lnTo>
                  <a:lnTo>
                    <a:pt x="0" y="1424"/>
                  </a:lnTo>
                  <a:lnTo>
                    <a:pt x="13" y="1424"/>
                  </a:lnTo>
                  <a:close/>
                  <a:moveTo>
                    <a:pt x="13" y="1450"/>
                  </a:moveTo>
                  <a:lnTo>
                    <a:pt x="13" y="1463"/>
                  </a:lnTo>
                  <a:lnTo>
                    <a:pt x="0" y="1463"/>
                  </a:lnTo>
                  <a:lnTo>
                    <a:pt x="0" y="1450"/>
                  </a:lnTo>
                  <a:lnTo>
                    <a:pt x="13" y="1450"/>
                  </a:lnTo>
                  <a:close/>
                  <a:moveTo>
                    <a:pt x="13" y="1475"/>
                  </a:moveTo>
                  <a:lnTo>
                    <a:pt x="13" y="1488"/>
                  </a:lnTo>
                  <a:lnTo>
                    <a:pt x="0" y="1488"/>
                  </a:lnTo>
                  <a:lnTo>
                    <a:pt x="0" y="1475"/>
                  </a:lnTo>
                  <a:lnTo>
                    <a:pt x="13" y="1475"/>
                  </a:lnTo>
                  <a:close/>
                  <a:moveTo>
                    <a:pt x="13" y="1501"/>
                  </a:moveTo>
                  <a:lnTo>
                    <a:pt x="13" y="1514"/>
                  </a:lnTo>
                  <a:lnTo>
                    <a:pt x="0" y="1514"/>
                  </a:lnTo>
                  <a:lnTo>
                    <a:pt x="0" y="1501"/>
                  </a:lnTo>
                  <a:lnTo>
                    <a:pt x="13" y="1501"/>
                  </a:lnTo>
                  <a:close/>
                  <a:moveTo>
                    <a:pt x="13" y="1527"/>
                  </a:moveTo>
                  <a:lnTo>
                    <a:pt x="13" y="1540"/>
                  </a:lnTo>
                  <a:lnTo>
                    <a:pt x="0" y="1540"/>
                  </a:lnTo>
                  <a:lnTo>
                    <a:pt x="0" y="1527"/>
                  </a:lnTo>
                  <a:lnTo>
                    <a:pt x="13" y="1527"/>
                  </a:lnTo>
                  <a:close/>
                  <a:moveTo>
                    <a:pt x="13" y="1553"/>
                  </a:moveTo>
                  <a:lnTo>
                    <a:pt x="13" y="1566"/>
                  </a:lnTo>
                  <a:lnTo>
                    <a:pt x="0" y="1566"/>
                  </a:lnTo>
                  <a:lnTo>
                    <a:pt x="0" y="1553"/>
                  </a:lnTo>
                  <a:lnTo>
                    <a:pt x="13" y="1553"/>
                  </a:lnTo>
                  <a:close/>
                  <a:moveTo>
                    <a:pt x="13" y="1579"/>
                  </a:moveTo>
                  <a:lnTo>
                    <a:pt x="13" y="1592"/>
                  </a:lnTo>
                  <a:lnTo>
                    <a:pt x="0" y="1592"/>
                  </a:lnTo>
                  <a:lnTo>
                    <a:pt x="0" y="1579"/>
                  </a:lnTo>
                  <a:lnTo>
                    <a:pt x="13" y="1579"/>
                  </a:lnTo>
                  <a:close/>
                  <a:moveTo>
                    <a:pt x="13" y="1605"/>
                  </a:moveTo>
                  <a:lnTo>
                    <a:pt x="13" y="1618"/>
                  </a:lnTo>
                  <a:lnTo>
                    <a:pt x="0" y="1618"/>
                  </a:lnTo>
                  <a:lnTo>
                    <a:pt x="0" y="1605"/>
                  </a:lnTo>
                  <a:lnTo>
                    <a:pt x="13" y="1605"/>
                  </a:lnTo>
                  <a:close/>
                  <a:moveTo>
                    <a:pt x="13" y="1631"/>
                  </a:moveTo>
                  <a:lnTo>
                    <a:pt x="13" y="1644"/>
                  </a:lnTo>
                  <a:lnTo>
                    <a:pt x="0" y="1644"/>
                  </a:lnTo>
                  <a:lnTo>
                    <a:pt x="0" y="1631"/>
                  </a:lnTo>
                  <a:lnTo>
                    <a:pt x="13" y="1631"/>
                  </a:lnTo>
                  <a:close/>
                  <a:moveTo>
                    <a:pt x="13" y="1657"/>
                  </a:moveTo>
                  <a:lnTo>
                    <a:pt x="13" y="1670"/>
                  </a:lnTo>
                  <a:lnTo>
                    <a:pt x="0" y="1670"/>
                  </a:lnTo>
                  <a:lnTo>
                    <a:pt x="0" y="1657"/>
                  </a:lnTo>
                  <a:lnTo>
                    <a:pt x="13" y="1657"/>
                  </a:lnTo>
                  <a:close/>
                  <a:moveTo>
                    <a:pt x="13" y="1683"/>
                  </a:moveTo>
                  <a:lnTo>
                    <a:pt x="13" y="1696"/>
                  </a:lnTo>
                  <a:lnTo>
                    <a:pt x="0" y="1696"/>
                  </a:lnTo>
                  <a:lnTo>
                    <a:pt x="0" y="1683"/>
                  </a:lnTo>
                  <a:lnTo>
                    <a:pt x="13" y="1683"/>
                  </a:lnTo>
                  <a:close/>
                  <a:moveTo>
                    <a:pt x="13" y="1708"/>
                  </a:moveTo>
                  <a:lnTo>
                    <a:pt x="13" y="1721"/>
                  </a:lnTo>
                  <a:lnTo>
                    <a:pt x="0" y="1721"/>
                  </a:lnTo>
                  <a:lnTo>
                    <a:pt x="0" y="1708"/>
                  </a:lnTo>
                  <a:lnTo>
                    <a:pt x="13" y="1708"/>
                  </a:lnTo>
                  <a:close/>
                  <a:moveTo>
                    <a:pt x="13" y="1734"/>
                  </a:moveTo>
                  <a:lnTo>
                    <a:pt x="13" y="1747"/>
                  </a:lnTo>
                  <a:lnTo>
                    <a:pt x="0" y="1747"/>
                  </a:lnTo>
                  <a:lnTo>
                    <a:pt x="0" y="1734"/>
                  </a:lnTo>
                  <a:lnTo>
                    <a:pt x="13" y="1734"/>
                  </a:lnTo>
                  <a:close/>
                  <a:moveTo>
                    <a:pt x="13" y="1760"/>
                  </a:moveTo>
                  <a:lnTo>
                    <a:pt x="13" y="1773"/>
                  </a:lnTo>
                  <a:lnTo>
                    <a:pt x="0" y="1773"/>
                  </a:lnTo>
                  <a:lnTo>
                    <a:pt x="0" y="1760"/>
                  </a:lnTo>
                  <a:lnTo>
                    <a:pt x="13" y="1760"/>
                  </a:lnTo>
                  <a:close/>
                  <a:moveTo>
                    <a:pt x="13" y="1786"/>
                  </a:moveTo>
                  <a:lnTo>
                    <a:pt x="13" y="1799"/>
                  </a:lnTo>
                  <a:lnTo>
                    <a:pt x="0" y="1799"/>
                  </a:lnTo>
                  <a:lnTo>
                    <a:pt x="0" y="1786"/>
                  </a:lnTo>
                  <a:lnTo>
                    <a:pt x="13" y="1786"/>
                  </a:lnTo>
                  <a:close/>
                  <a:moveTo>
                    <a:pt x="13" y="1812"/>
                  </a:moveTo>
                  <a:lnTo>
                    <a:pt x="13" y="1825"/>
                  </a:lnTo>
                  <a:lnTo>
                    <a:pt x="0" y="1825"/>
                  </a:lnTo>
                  <a:lnTo>
                    <a:pt x="0" y="1812"/>
                  </a:lnTo>
                  <a:lnTo>
                    <a:pt x="13" y="1812"/>
                  </a:lnTo>
                  <a:close/>
                  <a:moveTo>
                    <a:pt x="13" y="1838"/>
                  </a:moveTo>
                  <a:lnTo>
                    <a:pt x="13" y="1851"/>
                  </a:lnTo>
                  <a:lnTo>
                    <a:pt x="0" y="1851"/>
                  </a:lnTo>
                  <a:lnTo>
                    <a:pt x="0" y="1838"/>
                  </a:lnTo>
                  <a:lnTo>
                    <a:pt x="13" y="1838"/>
                  </a:lnTo>
                  <a:close/>
                  <a:moveTo>
                    <a:pt x="13" y="1864"/>
                  </a:moveTo>
                  <a:lnTo>
                    <a:pt x="13" y="1877"/>
                  </a:lnTo>
                  <a:lnTo>
                    <a:pt x="0" y="1877"/>
                  </a:lnTo>
                  <a:lnTo>
                    <a:pt x="0" y="1864"/>
                  </a:lnTo>
                  <a:lnTo>
                    <a:pt x="13" y="1864"/>
                  </a:lnTo>
                  <a:close/>
                  <a:moveTo>
                    <a:pt x="13" y="1890"/>
                  </a:moveTo>
                  <a:lnTo>
                    <a:pt x="13" y="1903"/>
                  </a:lnTo>
                  <a:lnTo>
                    <a:pt x="0" y="1903"/>
                  </a:lnTo>
                  <a:lnTo>
                    <a:pt x="0" y="1890"/>
                  </a:lnTo>
                  <a:lnTo>
                    <a:pt x="13" y="1890"/>
                  </a:lnTo>
                  <a:close/>
                  <a:moveTo>
                    <a:pt x="13" y="1916"/>
                  </a:moveTo>
                  <a:lnTo>
                    <a:pt x="13" y="1929"/>
                  </a:lnTo>
                  <a:lnTo>
                    <a:pt x="0" y="1929"/>
                  </a:lnTo>
                  <a:lnTo>
                    <a:pt x="0" y="1916"/>
                  </a:lnTo>
                  <a:lnTo>
                    <a:pt x="13" y="1916"/>
                  </a:lnTo>
                  <a:close/>
                  <a:moveTo>
                    <a:pt x="13" y="1941"/>
                  </a:moveTo>
                  <a:lnTo>
                    <a:pt x="13" y="1954"/>
                  </a:lnTo>
                  <a:lnTo>
                    <a:pt x="0" y="1954"/>
                  </a:lnTo>
                  <a:lnTo>
                    <a:pt x="0" y="1941"/>
                  </a:lnTo>
                  <a:lnTo>
                    <a:pt x="13" y="1941"/>
                  </a:lnTo>
                  <a:close/>
                  <a:moveTo>
                    <a:pt x="13" y="1967"/>
                  </a:moveTo>
                  <a:lnTo>
                    <a:pt x="13" y="1980"/>
                  </a:lnTo>
                  <a:lnTo>
                    <a:pt x="0" y="1980"/>
                  </a:lnTo>
                  <a:lnTo>
                    <a:pt x="0" y="1967"/>
                  </a:lnTo>
                  <a:lnTo>
                    <a:pt x="13" y="1967"/>
                  </a:lnTo>
                  <a:close/>
                  <a:moveTo>
                    <a:pt x="13" y="1993"/>
                  </a:moveTo>
                  <a:lnTo>
                    <a:pt x="13" y="2006"/>
                  </a:lnTo>
                  <a:lnTo>
                    <a:pt x="0" y="2006"/>
                  </a:lnTo>
                  <a:lnTo>
                    <a:pt x="0" y="1993"/>
                  </a:lnTo>
                  <a:lnTo>
                    <a:pt x="13" y="1993"/>
                  </a:lnTo>
                  <a:close/>
                  <a:moveTo>
                    <a:pt x="13" y="2019"/>
                  </a:moveTo>
                  <a:lnTo>
                    <a:pt x="13" y="2032"/>
                  </a:lnTo>
                  <a:lnTo>
                    <a:pt x="0" y="2032"/>
                  </a:lnTo>
                  <a:lnTo>
                    <a:pt x="0" y="2019"/>
                  </a:lnTo>
                  <a:lnTo>
                    <a:pt x="13" y="2019"/>
                  </a:lnTo>
                  <a:close/>
                  <a:moveTo>
                    <a:pt x="13" y="2045"/>
                  </a:moveTo>
                  <a:lnTo>
                    <a:pt x="13" y="2058"/>
                  </a:lnTo>
                  <a:lnTo>
                    <a:pt x="0" y="2058"/>
                  </a:lnTo>
                  <a:lnTo>
                    <a:pt x="0" y="2045"/>
                  </a:lnTo>
                  <a:lnTo>
                    <a:pt x="13" y="2045"/>
                  </a:lnTo>
                  <a:close/>
                  <a:moveTo>
                    <a:pt x="13" y="2071"/>
                  </a:moveTo>
                  <a:lnTo>
                    <a:pt x="13" y="2084"/>
                  </a:lnTo>
                  <a:lnTo>
                    <a:pt x="0" y="2084"/>
                  </a:lnTo>
                  <a:lnTo>
                    <a:pt x="0" y="2071"/>
                  </a:lnTo>
                  <a:lnTo>
                    <a:pt x="13" y="2071"/>
                  </a:lnTo>
                  <a:close/>
                  <a:moveTo>
                    <a:pt x="13" y="2097"/>
                  </a:moveTo>
                  <a:lnTo>
                    <a:pt x="13" y="2110"/>
                  </a:lnTo>
                  <a:lnTo>
                    <a:pt x="0" y="2110"/>
                  </a:lnTo>
                  <a:lnTo>
                    <a:pt x="0" y="2097"/>
                  </a:lnTo>
                  <a:lnTo>
                    <a:pt x="13" y="2097"/>
                  </a:lnTo>
                  <a:close/>
                  <a:moveTo>
                    <a:pt x="13" y="2123"/>
                  </a:moveTo>
                  <a:lnTo>
                    <a:pt x="13" y="2136"/>
                  </a:lnTo>
                  <a:lnTo>
                    <a:pt x="0" y="2136"/>
                  </a:lnTo>
                  <a:lnTo>
                    <a:pt x="0" y="2123"/>
                  </a:lnTo>
                  <a:lnTo>
                    <a:pt x="13" y="2123"/>
                  </a:lnTo>
                  <a:close/>
                  <a:moveTo>
                    <a:pt x="13" y="2149"/>
                  </a:moveTo>
                  <a:lnTo>
                    <a:pt x="13" y="2162"/>
                  </a:lnTo>
                  <a:lnTo>
                    <a:pt x="0" y="2162"/>
                  </a:lnTo>
                  <a:lnTo>
                    <a:pt x="0" y="2149"/>
                  </a:lnTo>
                  <a:lnTo>
                    <a:pt x="13" y="2149"/>
                  </a:lnTo>
                  <a:close/>
                  <a:moveTo>
                    <a:pt x="13" y="2174"/>
                  </a:moveTo>
                  <a:lnTo>
                    <a:pt x="13" y="2187"/>
                  </a:lnTo>
                  <a:lnTo>
                    <a:pt x="0" y="2187"/>
                  </a:lnTo>
                  <a:lnTo>
                    <a:pt x="0" y="2174"/>
                  </a:lnTo>
                  <a:lnTo>
                    <a:pt x="13" y="2174"/>
                  </a:lnTo>
                  <a:close/>
                  <a:moveTo>
                    <a:pt x="13" y="2200"/>
                  </a:moveTo>
                  <a:lnTo>
                    <a:pt x="13" y="2213"/>
                  </a:lnTo>
                  <a:lnTo>
                    <a:pt x="0" y="2213"/>
                  </a:lnTo>
                  <a:lnTo>
                    <a:pt x="0" y="2200"/>
                  </a:lnTo>
                  <a:lnTo>
                    <a:pt x="13" y="2200"/>
                  </a:lnTo>
                  <a:close/>
                  <a:moveTo>
                    <a:pt x="13" y="2226"/>
                  </a:moveTo>
                  <a:lnTo>
                    <a:pt x="13" y="2239"/>
                  </a:lnTo>
                  <a:lnTo>
                    <a:pt x="0" y="2239"/>
                  </a:lnTo>
                  <a:lnTo>
                    <a:pt x="0" y="2226"/>
                  </a:lnTo>
                  <a:lnTo>
                    <a:pt x="13" y="2226"/>
                  </a:lnTo>
                  <a:close/>
                  <a:moveTo>
                    <a:pt x="13" y="2252"/>
                  </a:moveTo>
                  <a:lnTo>
                    <a:pt x="13" y="2265"/>
                  </a:lnTo>
                  <a:lnTo>
                    <a:pt x="0" y="2265"/>
                  </a:lnTo>
                  <a:lnTo>
                    <a:pt x="0" y="2252"/>
                  </a:lnTo>
                  <a:lnTo>
                    <a:pt x="13" y="2252"/>
                  </a:lnTo>
                  <a:close/>
                  <a:moveTo>
                    <a:pt x="13" y="2278"/>
                  </a:moveTo>
                  <a:lnTo>
                    <a:pt x="13" y="2281"/>
                  </a:lnTo>
                  <a:lnTo>
                    <a:pt x="0" y="2281"/>
                  </a:lnTo>
                  <a:lnTo>
                    <a:pt x="0" y="2278"/>
                  </a:lnTo>
                  <a:lnTo>
                    <a:pt x="13" y="2278"/>
                  </a:lnTo>
                  <a:close/>
                </a:path>
              </a:pathLst>
            </a:custGeom>
            <a:solidFill>
              <a:srgbClr val="000000"/>
            </a:solidFill>
            <a:ln w="0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5" name="Freeform 29">
              <a:extLst>
                <a:ext uri="{FF2B5EF4-FFF2-40B4-BE49-F238E27FC236}">
                  <a16:creationId xmlns:a16="http://schemas.microsoft.com/office/drawing/2014/main" id="{97F9FB65-FED7-4D0D-8EE0-1BEE9C1CD13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368" y="1978"/>
              <a:ext cx="13" cy="2281"/>
            </a:xfrm>
            <a:custGeom>
              <a:avLst/>
              <a:gdLst>
                <a:gd name="T0" fmla="*/ 13 w 13"/>
                <a:gd name="T1" fmla="*/ 39 h 2281"/>
                <a:gd name="T2" fmla="*/ 0 w 13"/>
                <a:gd name="T3" fmla="*/ 52 h 2281"/>
                <a:gd name="T4" fmla="*/ 13 w 13"/>
                <a:gd name="T5" fmla="*/ 104 h 2281"/>
                <a:gd name="T6" fmla="*/ 0 w 13"/>
                <a:gd name="T7" fmla="*/ 142 h 2281"/>
                <a:gd name="T8" fmla="*/ 13 w 13"/>
                <a:gd name="T9" fmla="*/ 155 h 2281"/>
                <a:gd name="T10" fmla="*/ 13 w 13"/>
                <a:gd name="T11" fmla="*/ 220 h 2281"/>
                <a:gd name="T12" fmla="*/ 0 w 13"/>
                <a:gd name="T13" fmla="*/ 233 h 2281"/>
                <a:gd name="T14" fmla="*/ 13 w 13"/>
                <a:gd name="T15" fmla="*/ 285 h 2281"/>
                <a:gd name="T16" fmla="*/ 0 w 13"/>
                <a:gd name="T17" fmla="*/ 323 h 2281"/>
                <a:gd name="T18" fmla="*/ 13 w 13"/>
                <a:gd name="T19" fmla="*/ 337 h 2281"/>
                <a:gd name="T20" fmla="*/ 13 w 13"/>
                <a:gd name="T21" fmla="*/ 401 h 2281"/>
                <a:gd name="T22" fmla="*/ 0 w 13"/>
                <a:gd name="T23" fmla="*/ 414 h 2281"/>
                <a:gd name="T24" fmla="*/ 13 w 13"/>
                <a:gd name="T25" fmla="*/ 466 h 2281"/>
                <a:gd name="T26" fmla="*/ 0 w 13"/>
                <a:gd name="T27" fmla="*/ 505 h 2281"/>
                <a:gd name="T28" fmla="*/ 13 w 13"/>
                <a:gd name="T29" fmla="*/ 518 h 2281"/>
                <a:gd name="T30" fmla="*/ 13 w 13"/>
                <a:gd name="T31" fmla="*/ 582 h 2281"/>
                <a:gd name="T32" fmla="*/ 0 w 13"/>
                <a:gd name="T33" fmla="*/ 595 h 2281"/>
                <a:gd name="T34" fmla="*/ 13 w 13"/>
                <a:gd name="T35" fmla="*/ 647 h 2281"/>
                <a:gd name="T36" fmla="*/ 0 w 13"/>
                <a:gd name="T37" fmla="*/ 686 h 2281"/>
                <a:gd name="T38" fmla="*/ 13 w 13"/>
                <a:gd name="T39" fmla="*/ 699 h 2281"/>
                <a:gd name="T40" fmla="*/ 13 w 13"/>
                <a:gd name="T41" fmla="*/ 764 h 2281"/>
                <a:gd name="T42" fmla="*/ 0 w 13"/>
                <a:gd name="T43" fmla="*/ 776 h 2281"/>
                <a:gd name="T44" fmla="*/ 13 w 13"/>
                <a:gd name="T45" fmla="*/ 828 h 2281"/>
                <a:gd name="T46" fmla="*/ 0 w 13"/>
                <a:gd name="T47" fmla="*/ 867 h 2281"/>
                <a:gd name="T48" fmla="*/ 13 w 13"/>
                <a:gd name="T49" fmla="*/ 880 h 2281"/>
                <a:gd name="T50" fmla="*/ 13 w 13"/>
                <a:gd name="T51" fmla="*/ 945 h 2281"/>
                <a:gd name="T52" fmla="*/ 0 w 13"/>
                <a:gd name="T53" fmla="*/ 958 h 2281"/>
                <a:gd name="T54" fmla="*/ 13 w 13"/>
                <a:gd name="T55" fmla="*/ 1009 h 2281"/>
                <a:gd name="T56" fmla="*/ 0 w 13"/>
                <a:gd name="T57" fmla="*/ 1048 h 2281"/>
                <a:gd name="T58" fmla="*/ 13 w 13"/>
                <a:gd name="T59" fmla="*/ 1061 h 2281"/>
                <a:gd name="T60" fmla="*/ 13 w 13"/>
                <a:gd name="T61" fmla="*/ 1126 h 2281"/>
                <a:gd name="T62" fmla="*/ 0 w 13"/>
                <a:gd name="T63" fmla="*/ 1139 h 2281"/>
                <a:gd name="T64" fmla="*/ 13 w 13"/>
                <a:gd name="T65" fmla="*/ 1191 h 2281"/>
                <a:gd name="T66" fmla="*/ 0 w 13"/>
                <a:gd name="T67" fmla="*/ 1230 h 2281"/>
                <a:gd name="T68" fmla="*/ 13 w 13"/>
                <a:gd name="T69" fmla="*/ 1242 h 2281"/>
                <a:gd name="T70" fmla="*/ 13 w 13"/>
                <a:gd name="T71" fmla="*/ 1307 h 2281"/>
                <a:gd name="T72" fmla="*/ 0 w 13"/>
                <a:gd name="T73" fmla="*/ 1320 h 2281"/>
                <a:gd name="T74" fmla="*/ 13 w 13"/>
                <a:gd name="T75" fmla="*/ 1372 h 2281"/>
                <a:gd name="T76" fmla="*/ 0 w 13"/>
                <a:gd name="T77" fmla="*/ 1411 h 2281"/>
                <a:gd name="T78" fmla="*/ 13 w 13"/>
                <a:gd name="T79" fmla="*/ 1424 h 2281"/>
                <a:gd name="T80" fmla="*/ 13 w 13"/>
                <a:gd name="T81" fmla="*/ 1488 h 2281"/>
                <a:gd name="T82" fmla="*/ 0 w 13"/>
                <a:gd name="T83" fmla="*/ 1501 h 2281"/>
                <a:gd name="T84" fmla="*/ 13 w 13"/>
                <a:gd name="T85" fmla="*/ 1553 h 2281"/>
                <a:gd name="T86" fmla="*/ 0 w 13"/>
                <a:gd name="T87" fmla="*/ 1592 h 2281"/>
                <a:gd name="T88" fmla="*/ 13 w 13"/>
                <a:gd name="T89" fmla="*/ 1605 h 2281"/>
                <a:gd name="T90" fmla="*/ 13 w 13"/>
                <a:gd name="T91" fmla="*/ 1670 h 2281"/>
                <a:gd name="T92" fmla="*/ 0 w 13"/>
                <a:gd name="T93" fmla="*/ 1683 h 2281"/>
                <a:gd name="T94" fmla="*/ 13 w 13"/>
                <a:gd name="T95" fmla="*/ 1734 h 2281"/>
                <a:gd name="T96" fmla="*/ 0 w 13"/>
                <a:gd name="T97" fmla="*/ 1773 h 2281"/>
                <a:gd name="T98" fmla="*/ 13 w 13"/>
                <a:gd name="T99" fmla="*/ 1786 h 2281"/>
                <a:gd name="T100" fmla="*/ 13 w 13"/>
                <a:gd name="T101" fmla="*/ 1851 h 2281"/>
                <a:gd name="T102" fmla="*/ 0 w 13"/>
                <a:gd name="T103" fmla="*/ 1864 h 2281"/>
                <a:gd name="T104" fmla="*/ 13 w 13"/>
                <a:gd name="T105" fmla="*/ 1916 h 2281"/>
                <a:gd name="T106" fmla="*/ 0 w 13"/>
                <a:gd name="T107" fmla="*/ 1954 h 2281"/>
                <a:gd name="T108" fmla="*/ 13 w 13"/>
                <a:gd name="T109" fmla="*/ 1967 h 2281"/>
                <a:gd name="T110" fmla="*/ 13 w 13"/>
                <a:gd name="T111" fmla="*/ 2032 h 2281"/>
                <a:gd name="T112" fmla="*/ 0 w 13"/>
                <a:gd name="T113" fmla="*/ 2045 h 2281"/>
                <a:gd name="T114" fmla="*/ 13 w 13"/>
                <a:gd name="T115" fmla="*/ 2097 h 2281"/>
                <a:gd name="T116" fmla="*/ 0 w 13"/>
                <a:gd name="T117" fmla="*/ 2136 h 2281"/>
                <a:gd name="T118" fmla="*/ 13 w 13"/>
                <a:gd name="T119" fmla="*/ 2149 h 2281"/>
                <a:gd name="T120" fmla="*/ 13 w 13"/>
                <a:gd name="T121" fmla="*/ 2213 h 2281"/>
                <a:gd name="T122" fmla="*/ 0 w 13"/>
                <a:gd name="T123" fmla="*/ 2226 h 2281"/>
                <a:gd name="T124" fmla="*/ 13 w 13"/>
                <a:gd name="T125" fmla="*/ 2278 h 22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3" h="2281">
                  <a:moveTo>
                    <a:pt x="13" y="0"/>
                  </a:moveTo>
                  <a:lnTo>
                    <a:pt x="13" y="13"/>
                  </a:lnTo>
                  <a:lnTo>
                    <a:pt x="0" y="13"/>
                  </a:lnTo>
                  <a:lnTo>
                    <a:pt x="0" y="0"/>
                  </a:lnTo>
                  <a:lnTo>
                    <a:pt x="13" y="0"/>
                  </a:lnTo>
                  <a:close/>
                  <a:moveTo>
                    <a:pt x="13" y="26"/>
                  </a:moveTo>
                  <a:lnTo>
                    <a:pt x="13" y="39"/>
                  </a:lnTo>
                  <a:lnTo>
                    <a:pt x="0" y="39"/>
                  </a:lnTo>
                  <a:lnTo>
                    <a:pt x="0" y="26"/>
                  </a:lnTo>
                  <a:lnTo>
                    <a:pt x="13" y="26"/>
                  </a:lnTo>
                  <a:close/>
                  <a:moveTo>
                    <a:pt x="13" y="52"/>
                  </a:moveTo>
                  <a:lnTo>
                    <a:pt x="13" y="65"/>
                  </a:lnTo>
                  <a:lnTo>
                    <a:pt x="0" y="65"/>
                  </a:lnTo>
                  <a:lnTo>
                    <a:pt x="0" y="52"/>
                  </a:lnTo>
                  <a:lnTo>
                    <a:pt x="13" y="52"/>
                  </a:lnTo>
                  <a:close/>
                  <a:moveTo>
                    <a:pt x="13" y="77"/>
                  </a:moveTo>
                  <a:lnTo>
                    <a:pt x="13" y="90"/>
                  </a:lnTo>
                  <a:lnTo>
                    <a:pt x="0" y="90"/>
                  </a:lnTo>
                  <a:lnTo>
                    <a:pt x="0" y="77"/>
                  </a:lnTo>
                  <a:lnTo>
                    <a:pt x="13" y="77"/>
                  </a:lnTo>
                  <a:close/>
                  <a:moveTo>
                    <a:pt x="13" y="104"/>
                  </a:moveTo>
                  <a:lnTo>
                    <a:pt x="13" y="116"/>
                  </a:lnTo>
                  <a:lnTo>
                    <a:pt x="0" y="116"/>
                  </a:lnTo>
                  <a:lnTo>
                    <a:pt x="0" y="104"/>
                  </a:lnTo>
                  <a:lnTo>
                    <a:pt x="13" y="104"/>
                  </a:lnTo>
                  <a:close/>
                  <a:moveTo>
                    <a:pt x="13" y="129"/>
                  </a:moveTo>
                  <a:lnTo>
                    <a:pt x="13" y="142"/>
                  </a:lnTo>
                  <a:lnTo>
                    <a:pt x="0" y="142"/>
                  </a:lnTo>
                  <a:lnTo>
                    <a:pt x="0" y="129"/>
                  </a:lnTo>
                  <a:lnTo>
                    <a:pt x="13" y="129"/>
                  </a:lnTo>
                  <a:close/>
                  <a:moveTo>
                    <a:pt x="13" y="155"/>
                  </a:moveTo>
                  <a:lnTo>
                    <a:pt x="13" y="168"/>
                  </a:lnTo>
                  <a:lnTo>
                    <a:pt x="0" y="168"/>
                  </a:lnTo>
                  <a:lnTo>
                    <a:pt x="0" y="155"/>
                  </a:lnTo>
                  <a:lnTo>
                    <a:pt x="13" y="155"/>
                  </a:lnTo>
                  <a:close/>
                  <a:moveTo>
                    <a:pt x="13" y="181"/>
                  </a:moveTo>
                  <a:lnTo>
                    <a:pt x="13" y="194"/>
                  </a:lnTo>
                  <a:lnTo>
                    <a:pt x="0" y="194"/>
                  </a:lnTo>
                  <a:lnTo>
                    <a:pt x="0" y="181"/>
                  </a:lnTo>
                  <a:lnTo>
                    <a:pt x="13" y="181"/>
                  </a:lnTo>
                  <a:close/>
                  <a:moveTo>
                    <a:pt x="13" y="207"/>
                  </a:moveTo>
                  <a:lnTo>
                    <a:pt x="13" y="220"/>
                  </a:lnTo>
                  <a:lnTo>
                    <a:pt x="0" y="220"/>
                  </a:lnTo>
                  <a:lnTo>
                    <a:pt x="0" y="207"/>
                  </a:lnTo>
                  <a:lnTo>
                    <a:pt x="13" y="207"/>
                  </a:lnTo>
                  <a:close/>
                  <a:moveTo>
                    <a:pt x="13" y="233"/>
                  </a:moveTo>
                  <a:lnTo>
                    <a:pt x="13" y="246"/>
                  </a:lnTo>
                  <a:lnTo>
                    <a:pt x="0" y="246"/>
                  </a:lnTo>
                  <a:lnTo>
                    <a:pt x="0" y="233"/>
                  </a:lnTo>
                  <a:lnTo>
                    <a:pt x="13" y="233"/>
                  </a:lnTo>
                  <a:close/>
                  <a:moveTo>
                    <a:pt x="13" y="259"/>
                  </a:moveTo>
                  <a:lnTo>
                    <a:pt x="13" y="272"/>
                  </a:lnTo>
                  <a:lnTo>
                    <a:pt x="0" y="272"/>
                  </a:lnTo>
                  <a:lnTo>
                    <a:pt x="0" y="259"/>
                  </a:lnTo>
                  <a:lnTo>
                    <a:pt x="13" y="259"/>
                  </a:lnTo>
                  <a:close/>
                  <a:moveTo>
                    <a:pt x="13" y="285"/>
                  </a:moveTo>
                  <a:lnTo>
                    <a:pt x="13" y="298"/>
                  </a:lnTo>
                  <a:lnTo>
                    <a:pt x="0" y="298"/>
                  </a:lnTo>
                  <a:lnTo>
                    <a:pt x="0" y="285"/>
                  </a:lnTo>
                  <a:lnTo>
                    <a:pt x="13" y="285"/>
                  </a:lnTo>
                  <a:close/>
                  <a:moveTo>
                    <a:pt x="13" y="310"/>
                  </a:moveTo>
                  <a:lnTo>
                    <a:pt x="13" y="323"/>
                  </a:lnTo>
                  <a:lnTo>
                    <a:pt x="0" y="323"/>
                  </a:lnTo>
                  <a:lnTo>
                    <a:pt x="0" y="310"/>
                  </a:lnTo>
                  <a:lnTo>
                    <a:pt x="13" y="310"/>
                  </a:lnTo>
                  <a:close/>
                  <a:moveTo>
                    <a:pt x="13" y="337"/>
                  </a:moveTo>
                  <a:lnTo>
                    <a:pt x="13" y="349"/>
                  </a:lnTo>
                  <a:lnTo>
                    <a:pt x="0" y="349"/>
                  </a:lnTo>
                  <a:lnTo>
                    <a:pt x="0" y="337"/>
                  </a:lnTo>
                  <a:lnTo>
                    <a:pt x="13" y="337"/>
                  </a:lnTo>
                  <a:close/>
                  <a:moveTo>
                    <a:pt x="13" y="362"/>
                  </a:moveTo>
                  <a:lnTo>
                    <a:pt x="13" y="375"/>
                  </a:lnTo>
                  <a:lnTo>
                    <a:pt x="0" y="375"/>
                  </a:lnTo>
                  <a:lnTo>
                    <a:pt x="0" y="362"/>
                  </a:lnTo>
                  <a:lnTo>
                    <a:pt x="13" y="362"/>
                  </a:lnTo>
                  <a:close/>
                  <a:moveTo>
                    <a:pt x="13" y="388"/>
                  </a:moveTo>
                  <a:lnTo>
                    <a:pt x="13" y="401"/>
                  </a:lnTo>
                  <a:lnTo>
                    <a:pt x="0" y="401"/>
                  </a:lnTo>
                  <a:lnTo>
                    <a:pt x="0" y="388"/>
                  </a:lnTo>
                  <a:lnTo>
                    <a:pt x="13" y="388"/>
                  </a:lnTo>
                  <a:close/>
                  <a:moveTo>
                    <a:pt x="13" y="414"/>
                  </a:moveTo>
                  <a:lnTo>
                    <a:pt x="13" y="427"/>
                  </a:lnTo>
                  <a:lnTo>
                    <a:pt x="0" y="427"/>
                  </a:lnTo>
                  <a:lnTo>
                    <a:pt x="0" y="414"/>
                  </a:lnTo>
                  <a:lnTo>
                    <a:pt x="13" y="414"/>
                  </a:lnTo>
                  <a:close/>
                  <a:moveTo>
                    <a:pt x="13" y="440"/>
                  </a:moveTo>
                  <a:lnTo>
                    <a:pt x="13" y="453"/>
                  </a:lnTo>
                  <a:lnTo>
                    <a:pt x="0" y="453"/>
                  </a:lnTo>
                  <a:lnTo>
                    <a:pt x="0" y="440"/>
                  </a:lnTo>
                  <a:lnTo>
                    <a:pt x="13" y="440"/>
                  </a:lnTo>
                  <a:close/>
                  <a:moveTo>
                    <a:pt x="13" y="466"/>
                  </a:moveTo>
                  <a:lnTo>
                    <a:pt x="13" y="479"/>
                  </a:lnTo>
                  <a:lnTo>
                    <a:pt x="0" y="479"/>
                  </a:lnTo>
                  <a:lnTo>
                    <a:pt x="0" y="466"/>
                  </a:lnTo>
                  <a:lnTo>
                    <a:pt x="13" y="466"/>
                  </a:lnTo>
                  <a:close/>
                  <a:moveTo>
                    <a:pt x="13" y="492"/>
                  </a:moveTo>
                  <a:lnTo>
                    <a:pt x="13" y="505"/>
                  </a:lnTo>
                  <a:lnTo>
                    <a:pt x="0" y="505"/>
                  </a:lnTo>
                  <a:lnTo>
                    <a:pt x="0" y="492"/>
                  </a:lnTo>
                  <a:lnTo>
                    <a:pt x="13" y="492"/>
                  </a:lnTo>
                  <a:close/>
                  <a:moveTo>
                    <a:pt x="13" y="518"/>
                  </a:moveTo>
                  <a:lnTo>
                    <a:pt x="13" y="531"/>
                  </a:lnTo>
                  <a:lnTo>
                    <a:pt x="0" y="531"/>
                  </a:lnTo>
                  <a:lnTo>
                    <a:pt x="0" y="518"/>
                  </a:lnTo>
                  <a:lnTo>
                    <a:pt x="13" y="518"/>
                  </a:lnTo>
                  <a:close/>
                  <a:moveTo>
                    <a:pt x="13" y="543"/>
                  </a:moveTo>
                  <a:lnTo>
                    <a:pt x="13" y="556"/>
                  </a:lnTo>
                  <a:lnTo>
                    <a:pt x="0" y="556"/>
                  </a:lnTo>
                  <a:lnTo>
                    <a:pt x="0" y="543"/>
                  </a:lnTo>
                  <a:lnTo>
                    <a:pt x="13" y="543"/>
                  </a:lnTo>
                  <a:close/>
                  <a:moveTo>
                    <a:pt x="13" y="570"/>
                  </a:moveTo>
                  <a:lnTo>
                    <a:pt x="13" y="582"/>
                  </a:lnTo>
                  <a:lnTo>
                    <a:pt x="0" y="582"/>
                  </a:lnTo>
                  <a:lnTo>
                    <a:pt x="0" y="570"/>
                  </a:lnTo>
                  <a:lnTo>
                    <a:pt x="13" y="570"/>
                  </a:lnTo>
                  <a:close/>
                  <a:moveTo>
                    <a:pt x="13" y="595"/>
                  </a:moveTo>
                  <a:lnTo>
                    <a:pt x="13" y="608"/>
                  </a:lnTo>
                  <a:lnTo>
                    <a:pt x="0" y="608"/>
                  </a:lnTo>
                  <a:lnTo>
                    <a:pt x="0" y="595"/>
                  </a:lnTo>
                  <a:lnTo>
                    <a:pt x="13" y="595"/>
                  </a:lnTo>
                  <a:close/>
                  <a:moveTo>
                    <a:pt x="13" y="621"/>
                  </a:moveTo>
                  <a:lnTo>
                    <a:pt x="13" y="634"/>
                  </a:lnTo>
                  <a:lnTo>
                    <a:pt x="0" y="634"/>
                  </a:lnTo>
                  <a:lnTo>
                    <a:pt x="0" y="621"/>
                  </a:lnTo>
                  <a:lnTo>
                    <a:pt x="13" y="621"/>
                  </a:lnTo>
                  <a:close/>
                  <a:moveTo>
                    <a:pt x="13" y="647"/>
                  </a:moveTo>
                  <a:lnTo>
                    <a:pt x="13" y="660"/>
                  </a:lnTo>
                  <a:lnTo>
                    <a:pt x="0" y="660"/>
                  </a:lnTo>
                  <a:lnTo>
                    <a:pt x="0" y="647"/>
                  </a:lnTo>
                  <a:lnTo>
                    <a:pt x="13" y="647"/>
                  </a:lnTo>
                  <a:close/>
                  <a:moveTo>
                    <a:pt x="13" y="673"/>
                  </a:moveTo>
                  <a:lnTo>
                    <a:pt x="13" y="686"/>
                  </a:lnTo>
                  <a:lnTo>
                    <a:pt x="0" y="686"/>
                  </a:lnTo>
                  <a:lnTo>
                    <a:pt x="0" y="673"/>
                  </a:lnTo>
                  <a:lnTo>
                    <a:pt x="13" y="673"/>
                  </a:lnTo>
                  <a:close/>
                  <a:moveTo>
                    <a:pt x="13" y="699"/>
                  </a:moveTo>
                  <a:lnTo>
                    <a:pt x="13" y="712"/>
                  </a:lnTo>
                  <a:lnTo>
                    <a:pt x="0" y="712"/>
                  </a:lnTo>
                  <a:lnTo>
                    <a:pt x="0" y="699"/>
                  </a:lnTo>
                  <a:lnTo>
                    <a:pt x="13" y="699"/>
                  </a:lnTo>
                  <a:close/>
                  <a:moveTo>
                    <a:pt x="13" y="725"/>
                  </a:moveTo>
                  <a:lnTo>
                    <a:pt x="13" y="738"/>
                  </a:lnTo>
                  <a:lnTo>
                    <a:pt x="0" y="738"/>
                  </a:lnTo>
                  <a:lnTo>
                    <a:pt x="0" y="725"/>
                  </a:lnTo>
                  <a:lnTo>
                    <a:pt x="13" y="725"/>
                  </a:lnTo>
                  <a:close/>
                  <a:moveTo>
                    <a:pt x="13" y="751"/>
                  </a:moveTo>
                  <a:lnTo>
                    <a:pt x="13" y="764"/>
                  </a:lnTo>
                  <a:lnTo>
                    <a:pt x="0" y="764"/>
                  </a:lnTo>
                  <a:lnTo>
                    <a:pt x="0" y="751"/>
                  </a:lnTo>
                  <a:lnTo>
                    <a:pt x="13" y="751"/>
                  </a:lnTo>
                  <a:close/>
                  <a:moveTo>
                    <a:pt x="13" y="776"/>
                  </a:moveTo>
                  <a:lnTo>
                    <a:pt x="13" y="789"/>
                  </a:lnTo>
                  <a:lnTo>
                    <a:pt x="0" y="789"/>
                  </a:lnTo>
                  <a:lnTo>
                    <a:pt x="0" y="776"/>
                  </a:lnTo>
                  <a:lnTo>
                    <a:pt x="13" y="776"/>
                  </a:lnTo>
                  <a:close/>
                  <a:moveTo>
                    <a:pt x="13" y="802"/>
                  </a:moveTo>
                  <a:lnTo>
                    <a:pt x="13" y="815"/>
                  </a:lnTo>
                  <a:lnTo>
                    <a:pt x="0" y="815"/>
                  </a:lnTo>
                  <a:lnTo>
                    <a:pt x="0" y="802"/>
                  </a:lnTo>
                  <a:lnTo>
                    <a:pt x="13" y="802"/>
                  </a:lnTo>
                  <a:close/>
                  <a:moveTo>
                    <a:pt x="13" y="828"/>
                  </a:moveTo>
                  <a:lnTo>
                    <a:pt x="13" y="841"/>
                  </a:lnTo>
                  <a:lnTo>
                    <a:pt x="0" y="841"/>
                  </a:lnTo>
                  <a:lnTo>
                    <a:pt x="0" y="828"/>
                  </a:lnTo>
                  <a:lnTo>
                    <a:pt x="13" y="828"/>
                  </a:lnTo>
                  <a:close/>
                  <a:moveTo>
                    <a:pt x="13" y="854"/>
                  </a:moveTo>
                  <a:lnTo>
                    <a:pt x="13" y="867"/>
                  </a:lnTo>
                  <a:lnTo>
                    <a:pt x="0" y="867"/>
                  </a:lnTo>
                  <a:lnTo>
                    <a:pt x="0" y="854"/>
                  </a:lnTo>
                  <a:lnTo>
                    <a:pt x="13" y="854"/>
                  </a:lnTo>
                  <a:close/>
                  <a:moveTo>
                    <a:pt x="13" y="880"/>
                  </a:moveTo>
                  <a:lnTo>
                    <a:pt x="13" y="893"/>
                  </a:lnTo>
                  <a:lnTo>
                    <a:pt x="0" y="893"/>
                  </a:lnTo>
                  <a:lnTo>
                    <a:pt x="0" y="880"/>
                  </a:lnTo>
                  <a:lnTo>
                    <a:pt x="13" y="880"/>
                  </a:lnTo>
                  <a:close/>
                  <a:moveTo>
                    <a:pt x="13" y="906"/>
                  </a:moveTo>
                  <a:lnTo>
                    <a:pt x="13" y="919"/>
                  </a:lnTo>
                  <a:lnTo>
                    <a:pt x="0" y="919"/>
                  </a:lnTo>
                  <a:lnTo>
                    <a:pt x="0" y="906"/>
                  </a:lnTo>
                  <a:lnTo>
                    <a:pt x="13" y="906"/>
                  </a:lnTo>
                  <a:close/>
                  <a:moveTo>
                    <a:pt x="13" y="932"/>
                  </a:moveTo>
                  <a:lnTo>
                    <a:pt x="13" y="945"/>
                  </a:lnTo>
                  <a:lnTo>
                    <a:pt x="0" y="945"/>
                  </a:lnTo>
                  <a:lnTo>
                    <a:pt x="0" y="932"/>
                  </a:lnTo>
                  <a:lnTo>
                    <a:pt x="13" y="932"/>
                  </a:lnTo>
                  <a:close/>
                  <a:moveTo>
                    <a:pt x="13" y="958"/>
                  </a:moveTo>
                  <a:lnTo>
                    <a:pt x="13" y="971"/>
                  </a:lnTo>
                  <a:lnTo>
                    <a:pt x="0" y="971"/>
                  </a:lnTo>
                  <a:lnTo>
                    <a:pt x="0" y="958"/>
                  </a:lnTo>
                  <a:lnTo>
                    <a:pt x="13" y="958"/>
                  </a:lnTo>
                  <a:close/>
                  <a:moveTo>
                    <a:pt x="13" y="984"/>
                  </a:moveTo>
                  <a:lnTo>
                    <a:pt x="13" y="997"/>
                  </a:lnTo>
                  <a:lnTo>
                    <a:pt x="0" y="997"/>
                  </a:lnTo>
                  <a:lnTo>
                    <a:pt x="0" y="984"/>
                  </a:lnTo>
                  <a:lnTo>
                    <a:pt x="13" y="984"/>
                  </a:lnTo>
                  <a:close/>
                  <a:moveTo>
                    <a:pt x="13" y="1009"/>
                  </a:moveTo>
                  <a:lnTo>
                    <a:pt x="13" y="1022"/>
                  </a:lnTo>
                  <a:lnTo>
                    <a:pt x="0" y="1022"/>
                  </a:lnTo>
                  <a:lnTo>
                    <a:pt x="0" y="1009"/>
                  </a:lnTo>
                  <a:lnTo>
                    <a:pt x="13" y="1009"/>
                  </a:lnTo>
                  <a:close/>
                  <a:moveTo>
                    <a:pt x="13" y="1035"/>
                  </a:moveTo>
                  <a:lnTo>
                    <a:pt x="13" y="1048"/>
                  </a:lnTo>
                  <a:lnTo>
                    <a:pt x="0" y="1048"/>
                  </a:lnTo>
                  <a:lnTo>
                    <a:pt x="0" y="1035"/>
                  </a:lnTo>
                  <a:lnTo>
                    <a:pt x="13" y="1035"/>
                  </a:lnTo>
                  <a:close/>
                  <a:moveTo>
                    <a:pt x="13" y="1061"/>
                  </a:moveTo>
                  <a:lnTo>
                    <a:pt x="13" y="1074"/>
                  </a:lnTo>
                  <a:lnTo>
                    <a:pt x="0" y="1074"/>
                  </a:lnTo>
                  <a:lnTo>
                    <a:pt x="0" y="1061"/>
                  </a:lnTo>
                  <a:lnTo>
                    <a:pt x="13" y="1061"/>
                  </a:lnTo>
                  <a:close/>
                  <a:moveTo>
                    <a:pt x="13" y="1087"/>
                  </a:moveTo>
                  <a:lnTo>
                    <a:pt x="13" y="1100"/>
                  </a:lnTo>
                  <a:lnTo>
                    <a:pt x="0" y="1100"/>
                  </a:lnTo>
                  <a:lnTo>
                    <a:pt x="0" y="1087"/>
                  </a:lnTo>
                  <a:lnTo>
                    <a:pt x="13" y="1087"/>
                  </a:lnTo>
                  <a:close/>
                  <a:moveTo>
                    <a:pt x="13" y="1113"/>
                  </a:moveTo>
                  <a:lnTo>
                    <a:pt x="13" y="1126"/>
                  </a:lnTo>
                  <a:lnTo>
                    <a:pt x="0" y="1126"/>
                  </a:lnTo>
                  <a:lnTo>
                    <a:pt x="0" y="1113"/>
                  </a:lnTo>
                  <a:lnTo>
                    <a:pt x="13" y="1113"/>
                  </a:lnTo>
                  <a:close/>
                  <a:moveTo>
                    <a:pt x="13" y="1139"/>
                  </a:moveTo>
                  <a:lnTo>
                    <a:pt x="13" y="1152"/>
                  </a:lnTo>
                  <a:lnTo>
                    <a:pt x="0" y="1152"/>
                  </a:lnTo>
                  <a:lnTo>
                    <a:pt x="0" y="1139"/>
                  </a:lnTo>
                  <a:lnTo>
                    <a:pt x="13" y="1139"/>
                  </a:lnTo>
                  <a:close/>
                  <a:moveTo>
                    <a:pt x="13" y="1165"/>
                  </a:moveTo>
                  <a:lnTo>
                    <a:pt x="13" y="1178"/>
                  </a:lnTo>
                  <a:lnTo>
                    <a:pt x="0" y="1178"/>
                  </a:lnTo>
                  <a:lnTo>
                    <a:pt x="0" y="1165"/>
                  </a:lnTo>
                  <a:lnTo>
                    <a:pt x="13" y="1165"/>
                  </a:lnTo>
                  <a:close/>
                  <a:moveTo>
                    <a:pt x="13" y="1191"/>
                  </a:moveTo>
                  <a:lnTo>
                    <a:pt x="13" y="1204"/>
                  </a:lnTo>
                  <a:lnTo>
                    <a:pt x="0" y="1204"/>
                  </a:lnTo>
                  <a:lnTo>
                    <a:pt x="0" y="1191"/>
                  </a:lnTo>
                  <a:lnTo>
                    <a:pt x="13" y="1191"/>
                  </a:lnTo>
                  <a:close/>
                  <a:moveTo>
                    <a:pt x="13" y="1217"/>
                  </a:moveTo>
                  <a:lnTo>
                    <a:pt x="13" y="1230"/>
                  </a:lnTo>
                  <a:lnTo>
                    <a:pt x="0" y="1230"/>
                  </a:lnTo>
                  <a:lnTo>
                    <a:pt x="0" y="1217"/>
                  </a:lnTo>
                  <a:lnTo>
                    <a:pt x="13" y="1217"/>
                  </a:lnTo>
                  <a:close/>
                  <a:moveTo>
                    <a:pt x="13" y="1242"/>
                  </a:moveTo>
                  <a:lnTo>
                    <a:pt x="13" y="1255"/>
                  </a:lnTo>
                  <a:lnTo>
                    <a:pt x="0" y="1255"/>
                  </a:lnTo>
                  <a:lnTo>
                    <a:pt x="0" y="1242"/>
                  </a:lnTo>
                  <a:lnTo>
                    <a:pt x="13" y="1242"/>
                  </a:lnTo>
                  <a:close/>
                  <a:moveTo>
                    <a:pt x="13" y="1268"/>
                  </a:moveTo>
                  <a:lnTo>
                    <a:pt x="13" y="1281"/>
                  </a:lnTo>
                  <a:lnTo>
                    <a:pt x="0" y="1281"/>
                  </a:lnTo>
                  <a:lnTo>
                    <a:pt x="0" y="1268"/>
                  </a:lnTo>
                  <a:lnTo>
                    <a:pt x="13" y="1268"/>
                  </a:lnTo>
                  <a:close/>
                  <a:moveTo>
                    <a:pt x="13" y="1294"/>
                  </a:moveTo>
                  <a:lnTo>
                    <a:pt x="13" y="1307"/>
                  </a:lnTo>
                  <a:lnTo>
                    <a:pt x="0" y="1307"/>
                  </a:lnTo>
                  <a:lnTo>
                    <a:pt x="0" y="1294"/>
                  </a:lnTo>
                  <a:lnTo>
                    <a:pt x="13" y="1294"/>
                  </a:lnTo>
                  <a:close/>
                  <a:moveTo>
                    <a:pt x="13" y="1320"/>
                  </a:moveTo>
                  <a:lnTo>
                    <a:pt x="13" y="1333"/>
                  </a:lnTo>
                  <a:lnTo>
                    <a:pt x="0" y="1333"/>
                  </a:lnTo>
                  <a:lnTo>
                    <a:pt x="0" y="1320"/>
                  </a:lnTo>
                  <a:lnTo>
                    <a:pt x="13" y="1320"/>
                  </a:lnTo>
                  <a:close/>
                  <a:moveTo>
                    <a:pt x="13" y="1346"/>
                  </a:moveTo>
                  <a:lnTo>
                    <a:pt x="13" y="1359"/>
                  </a:lnTo>
                  <a:lnTo>
                    <a:pt x="0" y="1359"/>
                  </a:lnTo>
                  <a:lnTo>
                    <a:pt x="0" y="1346"/>
                  </a:lnTo>
                  <a:lnTo>
                    <a:pt x="13" y="1346"/>
                  </a:lnTo>
                  <a:close/>
                  <a:moveTo>
                    <a:pt x="13" y="1372"/>
                  </a:moveTo>
                  <a:lnTo>
                    <a:pt x="13" y="1385"/>
                  </a:lnTo>
                  <a:lnTo>
                    <a:pt x="0" y="1385"/>
                  </a:lnTo>
                  <a:lnTo>
                    <a:pt x="0" y="1372"/>
                  </a:lnTo>
                  <a:lnTo>
                    <a:pt x="13" y="1372"/>
                  </a:lnTo>
                  <a:close/>
                  <a:moveTo>
                    <a:pt x="13" y="1398"/>
                  </a:moveTo>
                  <a:lnTo>
                    <a:pt x="13" y="1411"/>
                  </a:lnTo>
                  <a:lnTo>
                    <a:pt x="0" y="1411"/>
                  </a:lnTo>
                  <a:lnTo>
                    <a:pt x="0" y="1398"/>
                  </a:lnTo>
                  <a:lnTo>
                    <a:pt x="13" y="1398"/>
                  </a:lnTo>
                  <a:close/>
                  <a:moveTo>
                    <a:pt x="13" y="1424"/>
                  </a:moveTo>
                  <a:lnTo>
                    <a:pt x="13" y="1437"/>
                  </a:lnTo>
                  <a:lnTo>
                    <a:pt x="0" y="1437"/>
                  </a:lnTo>
                  <a:lnTo>
                    <a:pt x="0" y="1424"/>
                  </a:lnTo>
                  <a:lnTo>
                    <a:pt x="13" y="1424"/>
                  </a:lnTo>
                  <a:close/>
                  <a:moveTo>
                    <a:pt x="13" y="1450"/>
                  </a:moveTo>
                  <a:lnTo>
                    <a:pt x="13" y="1463"/>
                  </a:lnTo>
                  <a:lnTo>
                    <a:pt x="0" y="1463"/>
                  </a:lnTo>
                  <a:lnTo>
                    <a:pt x="0" y="1450"/>
                  </a:lnTo>
                  <a:lnTo>
                    <a:pt x="13" y="1450"/>
                  </a:lnTo>
                  <a:close/>
                  <a:moveTo>
                    <a:pt x="13" y="1475"/>
                  </a:moveTo>
                  <a:lnTo>
                    <a:pt x="13" y="1488"/>
                  </a:lnTo>
                  <a:lnTo>
                    <a:pt x="0" y="1488"/>
                  </a:lnTo>
                  <a:lnTo>
                    <a:pt x="0" y="1475"/>
                  </a:lnTo>
                  <a:lnTo>
                    <a:pt x="13" y="1475"/>
                  </a:lnTo>
                  <a:close/>
                  <a:moveTo>
                    <a:pt x="13" y="1501"/>
                  </a:moveTo>
                  <a:lnTo>
                    <a:pt x="13" y="1514"/>
                  </a:lnTo>
                  <a:lnTo>
                    <a:pt x="0" y="1514"/>
                  </a:lnTo>
                  <a:lnTo>
                    <a:pt x="0" y="1501"/>
                  </a:lnTo>
                  <a:lnTo>
                    <a:pt x="13" y="1501"/>
                  </a:lnTo>
                  <a:close/>
                  <a:moveTo>
                    <a:pt x="13" y="1527"/>
                  </a:moveTo>
                  <a:lnTo>
                    <a:pt x="13" y="1540"/>
                  </a:lnTo>
                  <a:lnTo>
                    <a:pt x="0" y="1540"/>
                  </a:lnTo>
                  <a:lnTo>
                    <a:pt x="0" y="1527"/>
                  </a:lnTo>
                  <a:lnTo>
                    <a:pt x="13" y="1527"/>
                  </a:lnTo>
                  <a:close/>
                  <a:moveTo>
                    <a:pt x="13" y="1553"/>
                  </a:moveTo>
                  <a:lnTo>
                    <a:pt x="13" y="1566"/>
                  </a:lnTo>
                  <a:lnTo>
                    <a:pt x="0" y="1566"/>
                  </a:lnTo>
                  <a:lnTo>
                    <a:pt x="0" y="1553"/>
                  </a:lnTo>
                  <a:lnTo>
                    <a:pt x="13" y="1553"/>
                  </a:lnTo>
                  <a:close/>
                  <a:moveTo>
                    <a:pt x="13" y="1579"/>
                  </a:moveTo>
                  <a:lnTo>
                    <a:pt x="13" y="1592"/>
                  </a:lnTo>
                  <a:lnTo>
                    <a:pt x="0" y="1592"/>
                  </a:lnTo>
                  <a:lnTo>
                    <a:pt x="0" y="1579"/>
                  </a:lnTo>
                  <a:lnTo>
                    <a:pt x="13" y="1579"/>
                  </a:lnTo>
                  <a:close/>
                  <a:moveTo>
                    <a:pt x="13" y="1605"/>
                  </a:moveTo>
                  <a:lnTo>
                    <a:pt x="13" y="1618"/>
                  </a:lnTo>
                  <a:lnTo>
                    <a:pt x="0" y="1618"/>
                  </a:lnTo>
                  <a:lnTo>
                    <a:pt x="0" y="1605"/>
                  </a:lnTo>
                  <a:lnTo>
                    <a:pt x="13" y="1605"/>
                  </a:lnTo>
                  <a:close/>
                  <a:moveTo>
                    <a:pt x="13" y="1631"/>
                  </a:moveTo>
                  <a:lnTo>
                    <a:pt x="13" y="1644"/>
                  </a:lnTo>
                  <a:lnTo>
                    <a:pt x="0" y="1644"/>
                  </a:lnTo>
                  <a:lnTo>
                    <a:pt x="0" y="1631"/>
                  </a:lnTo>
                  <a:lnTo>
                    <a:pt x="13" y="1631"/>
                  </a:lnTo>
                  <a:close/>
                  <a:moveTo>
                    <a:pt x="13" y="1657"/>
                  </a:moveTo>
                  <a:lnTo>
                    <a:pt x="13" y="1670"/>
                  </a:lnTo>
                  <a:lnTo>
                    <a:pt x="0" y="1670"/>
                  </a:lnTo>
                  <a:lnTo>
                    <a:pt x="0" y="1657"/>
                  </a:lnTo>
                  <a:lnTo>
                    <a:pt x="13" y="1657"/>
                  </a:lnTo>
                  <a:close/>
                  <a:moveTo>
                    <a:pt x="13" y="1683"/>
                  </a:moveTo>
                  <a:lnTo>
                    <a:pt x="13" y="1696"/>
                  </a:lnTo>
                  <a:lnTo>
                    <a:pt x="0" y="1696"/>
                  </a:lnTo>
                  <a:lnTo>
                    <a:pt x="0" y="1683"/>
                  </a:lnTo>
                  <a:lnTo>
                    <a:pt x="13" y="1683"/>
                  </a:lnTo>
                  <a:close/>
                  <a:moveTo>
                    <a:pt x="13" y="1708"/>
                  </a:moveTo>
                  <a:lnTo>
                    <a:pt x="13" y="1721"/>
                  </a:lnTo>
                  <a:lnTo>
                    <a:pt x="0" y="1721"/>
                  </a:lnTo>
                  <a:lnTo>
                    <a:pt x="0" y="1708"/>
                  </a:lnTo>
                  <a:lnTo>
                    <a:pt x="13" y="1708"/>
                  </a:lnTo>
                  <a:close/>
                  <a:moveTo>
                    <a:pt x="13" y="1734"/>
                  </a:moveTo>
                  <a:lnTo>
                    <a:pt x="13" y="1747"/>
                  </a:lnTo>
                  <a:lnTo>
                    <a:pt x="0" y="1747"/>
                  </a:lnTo>
                  <a:lnTo>
                    <a:pt x="0" y="1734"/>
                  </a:lnTo>
                  <a:lnTo>
                    <a:pt x="13" y="1734"/>
                  </a:lnTo>
                  <a:close/>
                  <a:moveTo>
                    <a:pt x="13" y="1760"/>
                  </a:moveTo>
                  <a:lnTo>
                    <a:pt x="13" y="1773"/>
                  </a:lnTo>
                  <a:lnTo>
                    <a:pt x="0" y="1773"/>
                  </a:lnTo>
                  <a:lnTo>
                    <a:pt x="0" y="1760"/>
                  </a:lnTo>
                  <a:lnTo>
                    <a:pt x="13" y="1760"/>
                  </a:lnTo>
                  <a:close/>
                  <a:moveTo>
                    <a:pt x="13" y="1786"/>
                  </a:moveTo>
                  <a:lnTo>
                    <a:pt x="13" y="1799"/>
                  </a:lnTo>
                  <a:lnTo>
                    <a:pt x="0" y="1799"/>
                  </a:lnTo>
                  <a:lnTo>
                    <a:pt x="0" y="1786"/>
                  </a:lnTo>
                  <a:lnTo>
                    <a:pt x="13" y="1786"/>
                  </a:lnTo>
                  <a:close/>
                  <a:moveTo>
                    <a:pt x="13" y="1812"/>
                  </a:moveTo>
                  <a:lnTo>
                    <a:pt x="13" y="1825"/>
                  </a:lnTo>
                  <a:lnTo>
                    <a:pt x="0" y="1825"/>
                  </a:lnTo>
                  <a:lnTo>
                    <a:pt x="0" y="1812"/>
                  </a:lnTo>
                  <a:lnTo>
                    <a:pt x="13" y="1812"/>
                  </a:lnTo>
                  <a:close/>
                  <a:moveTo>
                    <a:pt x="13" y="1838"/>
                  </a:moveTo>
                  <a:lnTo>
                    <a:pt x="13" y="1851"/>
                  </a:lnTo>
                  <a:lnTo>
                    <a:pt x="0" y="1851"/>
                  </a:lnTo>
                  <a:lnTo>
                    <a:pt x="0" y="1838"/>
                  </a:lnTo>
                  <a:lnTo>
                    <a:pt x="13" y="1838"/>
                  </a:lnTo>
                  <a:close/>
                  <a:moveTo>
                    <a:pt x="13" y="1864"/>
                  </a:moveTo>
                  <a:lnTo>
                    <a:pt x="13" y="1877"/>
                  </a:lnTo>
                  <a:lnTo>
                    <a:pt x="0" y="1877"/>
                  </a:lnTo>
                  <a:lnTo>
                    <a:pt x="0" y="1864"/>
                  </a:lnTo>
                  <a:lnTo>
                    <a:pt x="13" y="1864"/>
                  </a:lnTo>
                  <a:close/>
                  <a:moveTo>
                    <a:pt x="13" y="1890"/>
                  </a:moveTo>
                  <a:lnTo>
                    <a:pt x="13" y="1903"/>
                  </a:lnTo>
                  <a:lnTo>
                    <a:pt x="0" y="1903"/>
                  </a:lnTo>
                  <a:lnTo>
                    <a:pt x="0" y="1890"/>
                  </a:lnTo>
                  <a:lnTo>
                    <a:pt x="13" y="1890"/>
                  </a:lnTo>
                  <a:close/>
                  <a:moveTo>
                    <a:pt x="13" y="1916"/>
                  </a:moveTo>
                  <a:lnTo>
                    <a:pt x="13" y="1929"/>
                  </a:lnTo>
                  <a:lnTo>
                    <a:pt x="0" y="1929"/>
                  </a:lnTo>
                  <a:lnTo>
                    <a:pt x="0" y="1916"/>
                  </a:lnTo>
                  <a:lnTo>
                    <a:pt x="13" y="1916"/>
                  </a:lnTo>
                  <a:close/>
                  <a:moveTo>
                    <a:pt x="13" y="1941"/>
                  </a:moveTo>
                  <a:lnTo>
                    <a:pt x="13" y="1954"/>
                  </a:lnTo>
                  <a:lnTo>
                    <a:pt x="0" y="1954"/>
                  </a:lnTo>
                  <a:lnTo>
                    <a:pt x="0" y="1941"/>
                  </a:lnTo>
                  <a:lnTo>
                    <a:pt x="13" y="1941"/>
                  </a:lnTo>
                  <a:close/>
                  <a:moveTo>
                    <a:pt x="13" y="1967"/>
                  </a:moveTo>
                  <a:lnTo>
                    <a:pt x="13" y="1980"/>
                  </a:lnTo>
                  <a:lnTo>
                    <a:pt x="0" y="1980"/>
                  </a:lnTo>
                  <a:lnTo>
                    <a:pt x="0" y="1967"/>
                  </a:lnTo>
                  <a:lnTo>
                    <a:pt x="13" y="1967"/>
                  </a:lnTo>
                  <a:close/>
                  <a:moveTo>
                    <a:pt x="13" y="1993"/>
                  </a:moveTo>
                  <a:lnTo>
                    <a:pt x="13" y="2006"/>
                  </a:lnTo>
                  <a:lnTo>
                    <a:pt x="0" y="2006"/>
                  </a:lnTo>
                  <a:lnTo>
                    <a:pt x="0" y="1993"/>
                  </a:lnTo>
                  <a:lnTo>
                    <a:pt x="13" y="1993"/>
                  </a:lnTo>
                  <a:close/>
                  <a:moveTo>
                    <a:pt x="13" y="2019"/>
                  </a:moveTo>
                  <a:lnTo>
                    <a:pt x="13" y="2032"/>
                  </a:lnTo>
                  <a:lnTo>
                    <a:pt x="0" y="2032"/>
                  </a:lnTo>
                  <a:lnTo>
                    <a:pt x="0" y="2019"/>
                  </a:lnTo>
                  <a:lnTo>
                    <a:pt x="13" y="2019"/>
                  </a:lnTo>
                  <a:close/>
                  <a:moveTo>
                    <a:pt x="13" y="2045"/>
                  </a:moveTo>
                  <a:lnTo>
                    <a:pt x="13" y="2058"/>
                  </a:lnTo>
                  <a:lnTo>
                    <a:pt x="0" y="2058"/>
                  </a:lnTo>
                  <a:lnTo>
                    <a:pt x="0" y="2045"/>
                  </a:lnTo>
                  <a:lnTo>
                    <a:pt x="13" y="2045"/>
                  </a:lnTo>
                  <a:close/>
                  <a:moveTo>
                    <a:pt x="13" y="2071"/>
                  </a:moveTo>
                  <a:lnTo>
                    <a:pt x="13" y="2084"/>
                  </a:lnTo>
                  <a:lnTo>
                    <a:pt x="0" y="2084"/>
                  </a:lnTo>
                  <a:lnTo>
                    <a:pt x="0" y="2071"/>
                  </a:lnTo>
                  <a:lnTo>
                    <a:pt x="13" y="2071"/>
                  </a:lnTo>
                  <a:close/>
                  <a:moveTo>
                    <a:pt x="13" y="2097"/>
                  </a:moveTo>
                  <a:lnTo>
                    <a:pt x="13" y="2110"/>
                  </a:lnTo>
                  <a:lnTo>
                    <a:pt x="0" y="2110"/>
                  </a:lnTo>
                  <a:lnTo>
                    <a:pt x="0" y="2097"/>
                  </a:lnTo>
                  <a:lnTo>
                    <a:pt x="13" y="2097"/>
                  </a:lnTo>
                  <a:close/>
                  <a:moveTo>
                    <a:pt x="13" y="2123"/>
                  </a:moveTo>
                  <a:lnTo>
                    <a:pt x="13" y="2136"/>
                  </a:lnTo>
                  <a:lnTo>
                    <a:pt x="0" y="2136"/>
                  </a:lnTo>
                  <a:lnTo>
                    <a:pt x="0" y="2123"/>
                  </a:lnTo>
                  <a:lnTo>
                    <a:pt x="13" y="2123"/>
                  </a:lnTo>
                  <a:close/>
                  <a:moveTo>
                    <a:pt x="13" y="2149"/>
                  </a:moveTo>
                  <a:lnTo>
                    <a:pt x="13" y="2162"/>
                  </a:lnTo>
                  <a:lnTo>
                    <a:pt x="0" y="2162"/>
                  </a:lnTo>
                  <a:lnTo>
                    <a:pt x="0" y="2149"/>
                  </a:lnTo>
                  <a:lnTo>
                    <a:pt x="13" y="2149"/>
                  </a:lnTo>
                  <a:close/>
                  <a:moveTo>
                    <a:pt x="13" y="2174"/>
                  </a:moveTo>
                  <a:lnTo>
                    <a:pt x="13" y="2187"/>
                  </a:lnTo>
                  <a:lnTo>
                    <a:pt x="0" y="2187"/>
                  </a:lnTo>
                  <a:lnTo>
                    <a:pt x="0" y="2174"/>
                  </a:lnTo>
                  <a:lnTo>
                    <a:pt x="13" y="2174"/>
                  </a:lnTo>
                  <a:close/>
                  <a:moveTo>
                    <a:pt x="13" y="2200"/>
                  </a:moveTo>
                  <a:lnTo>
                    <a:pt x="13" y="2213"/>
                  </a:lnTo>
                  <a:lnTo>
                    <a:pt x="0" y="2213"/>
                  </a:lnTo>
                  <a:lnTo>
                    <a:pt x="0" y="2200"/>
                  </a:lnTo>
                  <a:lnTo>
                    <a:pt x="13" y="2200"/>
                  </a:lnTo>
                  <a:close/>
                  <a:moveTo>
                    <a:pt x="13" y="2226"/>
                  </a:moveTo>
                  <a:lnTo>
                    <a:pt x="13" y="2239"/>
                  </a:lnTo>
                  <a:lnTo>
                    <a:pt x="0" y="2239"/>
                  </a:lnTo>
                  <a:lnTo>
                    <a:pt x="0" y="2226"/>
                  </a:lnTo>
                  <a:lnTo>
                    <a:pt x="13" y="2226"/>
                  </a:lnTo>
                  <a:close/>
                  <a:moveTo>
                    <a:pt x="13" y="2252"/>
                  </a:moveTo>
                  <a:lnTo>
                    <a:pt x="13" y="2265"/>
                  </a:lnTo>
                  <a:lnTo>
                    <a:pt x="0" y="2265"/>
                  </a:lnTo>
                  <a:lnTo>
                    <a:pt x="0" y="2252"/>
                  </a:lnTo>
                  <a:lnTo>
                    <a:pt x="13" y="2252"/>
                  </a:lnTo>
                  <a:close/>
                  <a:moveTo>
                    <a:pt x="13" y="2278"/>
                  </a:moveTo>
                  <a:lnTo>
                    <a:pt x="13" y="2281"/>
                  </a:lnTo>
                  <a:lnTo>
                    <a:pt x="0" y="2281"/>
                  </a:lnTo>
                  <a:lnTo>
                    <a:pt x="0" y="2278"/>
                  </a:lnTo>
                  <a:lnTo>
                    <a:pt x="13" y="2278"/>
                  </a:lnTo>
                  <a:close/>
                </a:path>
              </a:pathLst>
            </a:custGeom>
            <a:solidFill>
              <a:srgbClr val="000000"/>
            </a:solidFill>
            <a:ln w="0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6" name="Freeform 30">
              <a:extLst>
                <a:ext uri="{FF2B5EF4-FFF2-40B4-BE49-F238E27FC236}">
                  <a16:creationId xmlns:a16="http://schemas.microsoft.com/office/drawing/2014/main" id="{5F31DB6A-D396-454A-9EE6-16A3D5013FD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717" y="1978"/>
              <a:ext cx="13" cy="2281"/>
            </a:xfrm>
            <a:custGeom>
              <a:avLst/>
              <a:gdLst>
                <a:gd name="T0" fmla="*/ 13 w 13"/>
                <a:gd name="T1" fmla="*/ 39 h 2281"/>
                <a:gd name="T2" fmla="*/ 0 w 13"/>
                <a:gd name="T3" fmla="*/ 52 h 2281"/>
                <a:gd name="T4" fmla="*/ 13 w 13"/>
                <a:gd name="T5" fmla="*/ 104 h 2281"/>
                <a:gd name="T6" fmla="*/ 0 w 13"/>
                <a:gd name="T7" fmla="*/ 142 h 2281"/>
                <a:gd name="T8" fmla="*/ 13 w 13"/>
                <a:gd name="T9" fmla="*/ 155 h 2281"/>
                <a:gd name="T10" fmla="*/ 13 w 13"/>
                <a:gd name="T11" fmla="*/ 220 h 2281"/>
                <a:gd name="T12" fmla="*/ 0 w 13"/>
                <a:gd name="T13" fmla="*/ 233 h 2281"/>
                <a:gd name="T14" fmla="*/ 13 w 13"/>
                <a:gd name="T15" fmla="*/ 285 h 2281"/>
                <a:gd name="T16" fmla="*/ 0 w 13"/>
                <a:gd name="T17" fmla="*/ 323 h 2281"/>
                <a:gd name="T18" fmla="*/ 13 w 13"/>
                <a:gd name="T19" fmla="*/ 337 h 2281"/>
                <a:gd name="T20" fmla="*/ 13 w 13"/>
                <a:gd name="T21" fmla="*/ 401 h 2281"/>
                <a:gd name="T22" fmla="*/ 0 w 13"/>
                <a:gd name="T23" fmla="*/ 414 h 2281"/>
                <a:gd name="T24" fmla="*/ 13 w 13"/>
                <a:gd name="T25" fmla="*/ 466 h 2281"/>
                <a:gd name="T26" fmla="*/ 0 w 13"/>
                <a:gd name="T27" fmla="*/ 505 h 2281"/>
                <a:gd name="T28" fmla="*/ 13 w 13"/>
                <a:gd name="T29" fmla="*/ 518 h 2281"/>
                <a:gd name="T30" fmla="*/ 13 w 13"/>
                <a:gd name="T31" fmla="*/ 582 h 2281"/>
                <a:gd name="T32" fmla="*/ 0 w 13"/>
                <a:gd name="T33" fmla="*/ 595 h 2281"/>
                <a:gd name="T34" fmla="*/ 13 w 13"/>
                <a:gd name="T35" fmla="*/ 647 h 2281"/>
                <a:gd name="T36" fmla="*/ 0 w 13"/>
                <a:gd name="T37" fmla="*/ 686 h 2281"/>
                <a:gd name="T38" fmla="*/ 13 w 13"/>
                <a:gd name="T39" fmla="*/ 699 h 2281"/>
                <a:gd name="T40" fmla="*/ 13 w 13"/>
                <a:gd name="T41" fmla="*/ 764 h 2281"/>
                <a:gd name="T42" fmla="*/ 0 w 13"/>
                <a:gd name="T43" fmla="*/ 776 h 2281"/>
                <a:gd name="T44" fmla="*/ 13 w 13"/>
                <a:gd name="T45" fmla="*/ 828 h 2281"/>
                <a:gd name="T46" fmla="*/ 0 w 13"/>
                <a:gd name="T47" fmla="*/ 867 h 2281"/>
                <a:gd name="T48" fmla="*/ 13 w 13"/>
                <a:gd name="T49" fmla="*/ 880 h 2281"/>
                <a:gd name="T50" fmla="*/ 13 w 13"/>
                <a:gd name="T51" fmla="*/ 945 h 2281"/>
                <a:gd name="T52" fmla="*/ 0 w 13"/>
                <a:gd name="T53" fmla="*/ 958 h 2281"/>
                <a:gd name="T54" fmla="*/ 13 w 13"/>
                <a:gd name="T55" fmla="*/ 1009 h 2281"/>
                <a:gd name="T56" fmla="*/ 0 w 13"/>
                <a:gd name="T57" fmla="*/ 1048 h 2281"/>
                <a:gd name="T58" fmla="*/ 13 w 13"/>
                <a:gd name="T59" fmla="*/ 1061 h 2281"/>
                <a:gd name="T60" fmla="*/ 13 w 13"/>
                <a:gd name="T61" fmla="*/ 1126 h 2281"/>
                <a:gd name="T62" fmla="*/ 0 w 13"/>
                <a:gd name="T63" fmla="*/ 1139 h 2281"/>
                <a:gd name="T64" fmla="*/ 13 w 13"/>
                <a:gd name="T65" fmla="*/ 1191 h 2281"/>
                <a:gd name="T66" fmla="*/ 0 w 13"/>
                <a:gd name="T67" fmla="*/ 1230 h 2281"/>
                <a:gd name="T68" fmla="*/ 13 w 13"/>
                <a:gd name="T69" fmla="*/ 1242 h 2281"/>
                <a:gd name="T70" fmla="*/ 13 w 13"/>
                <a:gd name="T71" fmla="*/ 1307 h 2281"/>
                <a:gd name="T72" fmla="*/ 0 w 13"/>
                <a:gd name="T73" fmla="*/ 1320 h 2281"/>
                <a:gd name="T74" fmla="*/ 13 w 13"/>
                <a:gd name="T75" fmla="*/ 1372 h 2281"/>
                <a:gd name="T76" fmla="*/ 0 w 13"/>
                <a:gd name="T77" fmla="*/ 1411 h 2281"/>
                <a:gd name="T78" fmla="*/ 13 w 13"/>
                <a:gd name="T79" fmla="*/ 1424 h 2281"/>
                <a:gd name="T80" fmla="*/ 13 w 13"/>
                <a:gd name="T81" fmla="*/ 1488 h 2281"/>
                <a:gd name="T82" fmla="*/ 0 w 13"/>
                <a:gd name="T83" fmla="*/ 1501 h 2281"/>
                <a:gd name="T84" fmla="*/ 13 w 13"/>
                <a:gd name="T85" fmla="*/ 1553 h 2281"/>
                <a:gd name="T86" fmla="*/ 0 w 13"/>
                <a:gd name="T87" fmla="*/ 1592 h 2281"/>
                <a:gd name="T88" fmla="*/ 13 w 13"/>
                <a:gd name="T89" fmla="*/ 1605 h 2281"/>
                <a:gd name="T90" fmla="*/ 13 w 13"/>
                <a:gd name="T91" fmla="*/ 1670 h 2281"/>
                <a:gd name="T92" fmla="*/ 0 w 13"/>
                <a:gd name="T93" fmla="*/ 1683 h 2281"/>
                <a:gd name="T94" fmla="*/ 13 w 13"/>
                <a:gd name="T95" fmla="*/ 1734 h 2281"/>
                <a:gd name="T96" fmla="*/ 0 w 13"/>
                <a:gd name="T97" fmla="*/ 1773 h 2281"/>
                <a:gd name="T98" fmla="*/ 13 w 13"/>
                <a:gd name="T99" fmla="*/ 1786 h 2281"/>
                <a:gd name="T100" fmla="*/ 13 w 13"/>
                <a:gd name="T101" fmla="*/ 1851 h 2281"/>
                <a:gd name="T102" fmla="*/ 0 w 13"/>
                <a:gd name="T103" fmla="*/ 1864 h 2281"/>
                <a:gd name="T104" fmla="*/ 13 w 13"/>
                <a:gd name="T105" fmla="*/ 1916 h 2281"/>
                <a:gd name="T106" fmla="*/ 0 w 13"/>
                <a:gd name="T107" fmla="*/ 1954 h 2281"/>
                <a:gd name="T108" fmla="*/ 13 w 13"/>
                <a:gd name="T109" fmla="*/ 1967 h 2281"/>
                <a:gd name="T110" fmla="*/ 13 w 13"/>
                <a:gd name="T111" fmla="*/ 2032 h 2281"/>
                <a:gd name="T112" fmla="*/ 0 w 13"/>
                <a:gd name="T113" fmla="*/ 2045 h 2281"/>
                <a:gd name="T114" fmla="*/ 13 w 13"/>
                <a:gd name="T115" fmla="*/ 2097 h 2281"/>
                <a:gd name="T116" fmla="*/ 0 w 13"/>
                <a:gd name="T117" fmla="*/ 2136 h 2281"/>
                <a:gd name="T118" fmla="*/ 13 w 13"/>
                <a:gd name="T119" fmla="*/ 2149 h 2281"/>
                <a:gd name="T120" fmla="*/ 13 w 13"/>
                <a:gd name="T121" fmla="*/ 2213 h 2281"/>
                <a:gd name="T122" fmla="*/ 0 w 13"/>
                <a:gd name="T123" fmla="*/ 2226 h 2281"/>
                <a:gd name="T124" fmla="*/ 13 w 13"/>
                <a:gd name="T125" fmla="*/ 2278 h 22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3" h="2281">
                  <a:moveTo>
                    <a:pt x="13" y="0"/>
                  </a:moveTo>
                  <a:lnTo>
                    <a:pt x="13" y="13"/>
                  </a:lnTo>
                  <a:lnTo>
                    <a:pt x="0" y="13"/>
                  </a:lnTo>
                  <a:lnTo>
                    <a:pt x="0" y="0"/>
                  </a:lnTo>
                  <a:lnTo>
                    <a:pt x="13" y="0"/>
                  </a:lnTo>
                  <a:close/>
                  <a:moveTo>
                    <a:pt x="13" y="26"/>
                  </a:moveTo>
                  <a:lnTo>
                    <a:pt x="13" y="39"/>
                  </a:lnTo>
                  <a:lnTo>
                    <a:pt x="0" y="39"/>
                  </a:lnTo>
                  <a:lnTo>
                    <a:pt x="0" y="26"/>
                  </a:lnTo>
                  <a:lnTo>
                    <a:pt x="13" y="26"/>
                  </a:lnTo>
                  <a:close/>
                  <a:moveTo>
                    <a:pt x="13" y="52"/>
                  </a:moveTo>
                  <a:lnTo>
                    <a:pt x="13" y="65"/>
                  </a:lnTo>
                  <a:lnTo>
                    <a:pt x="0" y="65"/>
                  </a:lnTo>
                  <a:lnTo>
                    <a:pt x="0" y="52"/>
                  </a:lnTo>
                  <a:lnTo>
                    <a:pt x="13" y="52"/>
                  </a:lnTo>
                  <a:close/>
                  <a:moveTo>
                    <a:pt x="13" y="77"/>
                  </a:moveTo>
                  <a:lnTo>
                    <a:pt x="13" y="90"/>
                  </a:lnTo>
                  <a:lnTo>
                    <a:pt x="0" y="90"/>
                  </a:lnTo>
                  <a:lnTo>
                    <a:pt x="0" y="77"/>
                  </a:lnTo>
                  <a:lnTo>
                    <a:pt x="13" y="77"/>
                  </a:lnTo>
                  <a:close/>
                  <a:moveTo>
                    <a:pt x="13" y="104"/>
                  </a:moveTo>
                  <a:lnTo>
                    <a:pt x="13" y="116"/>
                  </a:lnTo>
                  <a:lnTo>
                    <a:pt x="0" y="116"/>
                  </a:lnTo>
                  <a:lnTo>
                    <a:pt x="0" y="104"/>
                  </a:lnTo>
                  <a:lnTo>
                    <a:pt x="13" y="104"/>
                  </a:lnTo>
                  <a:close/>
                  <a:moveTo>
                    <a:pt x="13" y="129"/>
                  </a:moveTo>
                  <a:lnTo>
                    <a:pt x="13" y="142"/>
                  </a:lnTo>
                  <a:lnTo>
                    <a:pt x="0" y="142"/>
                  </a:lnTo>
                  <a:lnTo>
                    <a:pt x="0" y="129"/>
                  </a:lnTo>
                  <a:lnTo>
                    <a:pt x="13" y="129"/>
                  </a:lnTo>
                  <a:close/>
                  <a:moveTo>
                    <a:pt x="13" y="155"/>
                  </a:moveTo>
                  <a:lnTo>
                    <a:pt x="13" y="168"/>
                  </a:lnTo>
                  <a:lnTo>
                    <a:pt x="0" y="168"/>
                  </a:lnTo>
                  <a:lnTo>
                    <a:pt x="0" y="155"/>
                  </a:lnTo>
                  <a:lnTo>
                    <a:pt x="13" y="155"/>
                  </a:lnTo>
                  <a:close/>
                  <a:moveTo>
                    <a:pt x="13" y="181"/>
                  </a:moveTo>
                  <a:lnTo>
                    <a:pt x="13" y="194"/>
                  </a:lnTo>
                  <a:lnTo>
                    <a:pt x="0" y="194"/>
                  </a:lnTo>
                  <a:lnTo>
                    <a:pt x="0" y="181"/>
                  </a:lnTo>
                  <a:lnTo>
                    <a:pt x="13" y="181"/>
                  </a:lnTo>
                  <a:close/>
                  <a:moveTo>
                    <a:pt x="13" y="207"/>
                  </a:moveTo>
                  <a:lnTo>
                    <a:pt x="13" y="220"/>
                  </a:lnTo>
                  <a:lnTo>
                    <a:pt x="0" y="220"/>
                  </a:lnTo>
                  <a:lnTo>
                    <a:pt x="0" y="207"/>
                  </a:lnTo>
                  <a:lnTo>
                    <a:pt x="13" y="207"/>
                  </a:lnTo>
                  <a:close/>
                  <a:moveTo>
                    <a:pt x="13" y="233"/>
                  </a:moveTo>
                  <a:lnTo>
                    <a:pt x="13" y="246"/>
                  </a:lnTo>
                  <a:lnTo>
                    <a:pt x="0" y="246"/>
                  </a:lnTo>
                  <a:lnTo>
                    <a:pt x="0" y="233"/>
                  </a:lnTo>
                  <a:lnTo>
                    <a:pt x="13" y="233"/>
                  </a:lnTo>
                  <a:close/>
                  <a:moveTo>
                    <a:pt x="13" y="259"/>
                  </a:moveTo>
                  <a:lnTo>
                    <a:pt x="13" y="272"/>
                  </a:lnTo>
                  <a:lnTo>
                    <a:pt x="0" y="272"/>
                  </a:lnTo>
                  <a:lnTo>
                    <a:pt x="0" y="259"/>
                  </a:lnTo>
                  <a:lnTo>
                    <a:pt x="13" y="259"/>
                  </a:lnTo>
                  <a:close/>
                  <a:moveTo>
                    <a:pt x="13" y="285"/>
                  </a:moveTo>
                  <a:lnTo>
                    <a:pt x="13" y="298"/>
                  </a:lnTo>
                  <a:lnTo>
                    <a:pt x="0" y="298"/>
                  </a:lnTo>
                  <a:lnTo>
                    <a:pt x="0" y="285"/>
                  </a:lnTo>
                  <a:lnTo>
                    <a:pt x="13" y="285"/>
                  </a:lnTo>
                  <a:close/>
                  <a:moveTo>
                    <a:pt x="13" y="310"/>
                  </a:moveTo>
                  <a:lnTo>
                    <a:pt x="13" y="323"/>
                  </a:lnTo>
                  <a:lnTo>
                    <a:pt x="0" y="323"/>
                  </a:lnTo>
                  <a:lnTo>
                    <a:pt x="0" y="310"/>
                  </a:lnTo>
                  <a:lnTo>
                    <a:pt x="13" y="310"/>
                  </a:lnTo>
                  <a:close/>
                  <a:moveTo>
                    <a:pt x="13" y="337"/>
                  </a:moveTo>
                  <a:lnTo>
                    <a:pt x="13" y="349"/>
                  </a:lnTo>
                  <a:lnTo>
                    <a:pt x="0" y="349"/>
                  </a:lnTo>
                  <a:lnTo>
                    <a:pt x="0" y="337"/>
                  </a:lnTo>
                  <a:lnTo>
                    <a:pt x="13" y="337"/>
                  </a:lnTo>
                  <a:close/>
                  <a:moveTo>
                    <a:pt x="13" y="362"/>
                  </a:moveTo>
                  <a:lnTo>
                    <a:pt x="13" y="375"/>
                  </a:lnTo>
                  <a:lnTo>
                    <a:pt x="0" y="375"/>
                  </a:lnTo>
                  <a:lnTo>
                    <a:pt x="0" y="362"/>
                  </a:lnTo>
                  <a:lnTo>
                    <a:pt x="13" y="362"/>
                  </a:lnTo>
                  <a:close/>
                  <a:moveTo>
                    <a:pt x="13" y="388"/>
                  </a:moveTo>
                  <a:lnTo>
                    <a:pt x="13" y="401"/>
                  </a:lnTo>
                  <a:lnTo>
                    <a:pt x="0" y="401"/>
                  </a:lnTo>
                  <a:lnTo>
                    <a:pt x="0" y="388"/>
                  </a:lnTo>
                  <a:lnTo>
                    <a:pt x="13" y="388"/>
                  </a:lnTo>
                  <a:close/>
                  <a:moveTo>
                    <a:pt x="13" y="414"/>
                  </a:moveTo>
                  <a:lnTo>
                    <a:pt x="13" y="427"/>
                  </a:lnTo>
                  <a:lnTo>
                    <a:pt x="0" y="427"/>
                  </a:lnTo>
                  <a:lnTo>
                    <a:pt x="0" y="414"/>
                  </a:lnTo>
                  <a:lnTo>
                    <a:pt x="13" y="414"/>
                  </a:lnTo>
                  <a:close/>
                  <a:moveTo>
                    <a:pt x="13" y="440"/>
                  </a:moveTo>
                  <a:lnTo>
                    <a:pt x="13" y="453"/>
                  </a:lnTo>
                  <a:lnTo>
                    <a:pt x="0" y="453"/>
                  </a:lnTo>
                  <a:lnTo>
                    <a:pt x="0" y="440"/>
                  </a:lnTo>
                  <a:lnTo>
                    <a:pt x="13" y="440"/>
                  </a:lnTo>
                  <a:close/>
                  <a:moveTo>
                    <a:pt x="13" y="466"/>
                  </a:moveTo>
                  <a:lnTo>
                    <a:pt x="13" y="479"/>
                  </a:lnTo>
                  <a:lnTo>
                    <a:pt x="0" y="479"/>
                  </a:lnTo>
                  <a:lnTo>
                    <a:pt x="0" y="466"/>
                  </a:lnTo>
                  <a:lnTo>
                    <a:pt x="13" y="466"/>
                  </a:lnTo>
                  <a:close/>
                  <a:moveTo>
                    <a:pt x="13" y="492"/>
                  </a:moveTo>
                  <a:lnTo>
                    <a:pt x="13" y="505"/>
                  </a:lnTo>
                  <a:lnTo>
                    <a:pt x="0" y="505"/>
                  </a:lnTo>
                  <a:lnTo>
                    <a:pt x="0" y="492"/>
                  </a:lnTo>
                  <a:lnTo>
                    <a:pt x="13" y="492"/>
                  </a:lnTo>
                  <a:close/>
                  <a:moveTo>
                    <a:pt x="13" y="518"/>
                  </a:moveTo>
                  <a:lnTo>
                    <a:pt x="13" y="531"/>
                  </a:lnTo>
                  <a:lnTo>
                    <a:pt x="0" y="531"/>
                  </a:lnTo>
                  <a:lnTo>
                    <a:pt x="0" y="518"/>
                  </a:lnTo>
                  <a:lnTo>
                    <a:pt x="13" y="518"/>
                  </a:lnTo>
                  <a:close/>
                  <a:moveTo>
                    <a:pt x="13" y="543"/>
                  </a:moveTo>
                  <a:lnTo>
                    <a:pt x="13" y="556"/>
                  </a:lnTo>
                  <a:lnTo>
                    <a:pt x="0" y="556"/>
                  </a:lnTo>
                  <a:lnTo>
                    <a:pt x="0" y="543"/>
                  </a:lnTo>
                  <a:lnTo>
                    <a:pt x="13" y="543"/>
                  </a:lnTo>
                  <a:close/>
                  <a:moveTo>
                    <a:pt x="13" y="570"/>
                  </a:moveTo>
                  <a:lnTo>
                    <a:pt x="13" y="582"/>
                  </a:lnTo>
                  <a:lnTo>
                    <a:pt x="0" y="582"/>
                  </a:lnTo>
                  <a:lnTo>
                    <a:pt x="0" y="570"/>
                  </a:lnTo>
                  <a:lnTo>
                    <a:pt x="13" y="570"/>
                  </a:lnTo>
                  <a:close/>
                  <a:moveTo>
                    <a:pt x="13" y="595"/>
                  </a:moveTo>
                  <a:lnTo>
                    <a:pt x="13" y="608"/>
                  </a:lnTo>
                  <a:lnTo>
                    <a:pt x="0" y="608"/>
                  </a:lnTo>
                  <a:lnTo>
                    <a:pt x="0" y="595"/>
                  </a:lnTo>
                  <a:lnTo>
                    <a:pt x="13" y="595"/>
                  </a:lnTo>
                  <a:close/>
                  <a:moveTo>
                    <a:pt x="13" y="621"/>
                  </a:moveTo>
                  <a:lnTo>
                    <a:pt x="13" y="634"/>
                  </a:lnTo>
                  <a:lnTo>
                    <a:pt x="0" y="634"/>
                  </a:lnTo>
                  <a:lnTo>
                    <a:pt x="0" y="621"/>
                  </a:lnTo>
                  <a:lnTo>
                    <a:pt x="13" y="621"/>
                  </a:lnTo>
                  <a:close/>
                  <a:moveTo>
                    <a:pt x="13" y="647"/>
                  </a:moveTo>
                  <a:lnTo>
                    <a:pt x="13" y="660"/>
                  </a:lnTo>
                  <a:lnTo>
                    <a:pt x="0" y="660"/>
                  </a:lnTo>
                  <a:lnTo>
                    <a:pt x="0" y="647"/>
                  </a:lnTo>
                  <a:lnTo>
                    <a:pt x="13" y="647"/>
                  </a:lnTo>
                  <a:close/>
                  <a:moveTo>
                    <a:pt x="13" y="673"/>
                  </a:moveTo>
                  <a:lnTo>
                    <a:pt x="13" y="686"/>
                  </a:lnTo>
                  <a:lnTo>
                    <a:pt x="0" y="686"/>
                  </a:lnTo>
                  <a:lnTo>
                    <a:pt x="0" y="673"/>
                  </a:lnTo>
                  <a:lnTo>
                    <a:pt x="13" y="673"/>
                  </a:lnTo>
                  <a:close/>
                  <a:moveTo>
                    <a:pt x="13" y="699"/>
                  </a:moveTo>
                  <a:lnTo>
                    <a:pt x="13" y="712"/>
                  </a:lnTo>
                  <a:lnTo>
                    <a:pt x="0" y="712"/>
                  </a:lnTo>
                  <a:lnTo>
                    <a:pt x="0" y="699"/>
                  </a:lnTo>
                  <a:lnTo>
                    <a:pt x="13" y="699"/>
                  </a:lnTo>
                  <a:close/>
                  <a:moveTo>
                    <a:pt x="13" y="725"/>
                  </a:moveTo>
                  <a:lnTo>
                    <a:pt x="13" y="738"/>
                  </a:lnTo>
                  <a:lnTo>
                    <a:pt x="0" y="738"/>
                  </a:lnTo>
                  <a:lnTo>
                    <a:pt x="0" y="725"/>
                  </a:lnTo>
                  <a:lnTo>
                    <a:pt x="13" y="725"/>
                  </a:lnTo>
                  <a:close/>
                  <a:moveTo>
                    <a:pt x="13" y="751"/>
                  </a:moveTo>
                  <a:lnTo>
                    <a:pt x="13" y="764"/>
                  </a:lnTo>
                  <a:lnTo>
                    <a:pt x="0" y="764"/>
                  </a:lnTo>
                  <a:lnTo>
                    <a:pt x="0" y="751"/>
                  </a:lnTo>
                  <a:lnTo>
                    <a:pt x="13" y="751"/>
                  </a:lnTo>
                  <a:close/>
                  <a:moveTo>
                    <a:pt x="13" y="776"/>
                  </a:moveTo>
                  <a:lnTo>
                    <a:pt x="13" y="789"/>
                  </a:lnTo>
                  <a:lnTo>
                    <a:pt x="0" y="789"/>
                  </a:lnTo>
                  <a:lnTo>
                    <a:pt x="0" y="776"/>
                  </a:lnTo>
                  <a:lnTo>
                    <a:pt x="13" y="776"/>
                  </a:lnTo>
                  <a:close/>
                  <a:moveTo>
                    <a:pt x="13" y="802"/>
                  </a:moveTo>
                  <a:lnTo>
                    <a:pt x="13" y="815"/>
                  </a:lnTo>
                  <a:lnTo>
                    <a:pt x="0" y="815"/>
                  </a:lnTo>
                  <a:lnTo>
                    <a:pt x="0" y="802"/>
                  </a:lnTo>
                  <a:lnTo>
                    <a:pt x="13" y="802"/>
                  </a:lnTo>
                  <a:close/>
                  <a:moveTo>
                    <a:pt x="13" y="828"/>
                  </a:moveTo>
                  <a:lnTo>
                    <a:pt x="13" y="841"/>
                  </a:lnTo>
                  <a:lnTo>
                    <a:pt x="0" y="841"/>
                  </a:lnTo>
                  <a:lnTo>
                    <a:pt x="0" y="828"/>
                  </a:lnTo>
                  <a:lnTo>
                    <a:pt x="13" y="828"/>
                  </a:lnTo>
                  <a:close/>
                  <a:moveTo>
                    <a:pt x="13" y="854"/>
                  </a:moveTo>
                  <a:lnTo>
                    <a:pt x="13" y="867"/>
                  </a:lnTo>
                  <a:lnTo>
                    <a:pt x="0" y="867"/>
                  </a:lnTo>
                  <a:lnTo>
                    <a:pt x="0" y="854"/>
                  </a:lnTo>
                  <a:lnTo>
                    <a:pt x="13" y="854"/>
                  </a:lnTo>
                  <a:close/>
                  <a:moveTo>
                    <a:pt x="13" y="880"/>
                  </a:moveTo>
                  <a:lnTo>
                    <a:pt x="13" y="893"/>
                  </a:lnTo>
                  <a:lnTo>
                    <a:pt x="0" y="893"/>
                  </a:lnTo>
                  <a:lnTo>
                    <a:pt x="0" y="880"/>
                  </a:lnTo>
                  <a:lnTo>
                    <a:pt x="13" y="880"/>
                  </a:lnTo>
                  <a:close/>
                  <a:moveTo>
                    <a:pt x="13" y="906"/>
                  </a:moveTo>
                  <a:lnTo>
                    <a:pt x="13" y="919"/>
                  </a:lnTo>
                  <a:lnTo>
                    <a:pt x="0" y="919"/>
                  </a:lnTo>
                  <a:lnTo>
                    <a:pt x="0" y="906"/>
                  </a:lnTo>
                  <a:lnTo>
                    <a:pt x="13" y="906"/>
                  </a:lnTo>
                  <a:close/>
                  <a:moveTo>
                    <a:pt x="13" y="932"/>
                  </a:moveTo>
                  <a:lnTo>
                    <a:pt x="13" y="945"/>
                  </a:lnTo>
                  <a:lnTo>
                    <a:pt x="0" y="945"/>
                  </a:lnTo>
                  <a:lnTo>
                    <a:pt x="0" y="932"/>
                  </a:lnTo>
                  <a:lnTo>
                    <a:pt x="13" y="932"/>
                  </a:lnTo>
                  <a:close/>
                  <a:moveTo>
                    <a:pt x="13" y="958"/>
                  </a:moveTo>
                  <a:lnTo>
                    <a:pt x="13" y="971"/>
                  </a:lnTo>
                  <a:lnTo>
                    <a:pt x="0" y="971"/>
                  </a:lnTo>
                  <a:lnTo>
                    <a:pt x="0" y="958"/>
                  </a:lnTo>
                  <a:lnTo>
                    <a:pt x="13" y="958"/>
                  </a:lnTo>
                  <a:close/>
                  <a:moveTo>
                    <a:pt x="13" y="984"/>
                  </a:moveTo>
                  <a:lnTo>
                    <a:pt x="13" y="997"/>
                  </a:lnTo>
                  <a:lnTo>
                    <a:pt x="0" y="997"/>
                  </a:lnTo>
                  <a:lnTo>
                    <a:pt x="0" y="984"/>
                  </a:lnTo>
                  <a:lnTo>
                    <a:pt x="13" y="984"/>
                  </a:lnTo>
                  <a:close/>
                  <a:moveTo>
                    <a:pt x="13" y="1009"/>
                  </a:moveTo>
                  <a:lnTo>
                    <a:pt x="13" y="1022"/>
                  </a:lnTo>
                  <a:lnTo>
                    <a:pt x="0" y="1022"/>
                  </a:lnTo>
                  <a:lnTo>
                    <a:pt x="0" y="1009"/>
                  </a:lnTo>
                  <a:lnTo>
                    <a:pt x="13" y="1009"/>
                  </a:lnTo>
                  <a:close/>
                  <a:moveTo>
                    <a:pt x="13" y="1035"/>
                  </a:moveTo>
                  <a:lnTo>
                    <a:pt x="13" y="1048"/>
                  </a:lnTo>
                  <a:lnTo>
                    <a:pt x="0" y="1048"/>
                  </a:lnTo>
                  <a:lnTo>
                    <a:pt x="0" y="1035"/>
                  </a:lnTo>
                  <a:lnTo>
                    <a:pt x="13" y="1035"/>
                  </a:lnTo>
                  <a:close/>
                  <a:moveTo>
                    <a:pt x="13" y="1061"/>
                  </a:moveTo>
                  <a:lnTo>
                    <a:pt x="13" y="1074"/>
                  </a:lnTo>
                  <a:lnTo>
                    <a:pt x="0" y="1074"/>
                  </a:lnTo>
                  <a:lnTo>
                    <a:pt x="0" y="1061"/>
                  </a:lnTo>
                  <a:lnTo>
                    <a:pt x="13" y="1061"/>
                  </a:lnTo>
                  <a:close/>
                  <a:moveTo>
                    <a:pt x="13" y="1087"/>
                  </a:moveTo>
                  <a:lnTo>
                    <a:pt x="13" y="1100"/>
                  </a:lnTo>
                  <a:lnTo>
                    <a:pt x="0" y="1100"/>
                  </a:lnTo>
                  <a:lnTo>
                    <a:pt x="0" y="1087"/>
                  </a:lnTo>
                  <a:lnTo>
                    <a:pt x="13" y="1087"/>
                  </a:lnTo>
                  <a:close/>
                  <a:moveTo>
                    <a:pt x="13" y="1113"/>
                  </a:moveTo>
                  <a:lnTo>
                    <a:pt x="13" y="1126"/>
                  </a:lnTo>
                  <a:lnTo>
                    <a:pt x="0" y="1126"/>
                  </a:lnTo>
                  <a:lnTo>
                    <a:pt x="0" y="1113"/>
                  </a:lnTo>
                  <a:lnTo>
                    <a:pt x="13" y="1113"/>
                  </a:lnTo>
                  <a:close/>
                  <a:moveTo>
                    <a:pt x="13" y="1139"/>
                  </a:moveTo>
                  <a:lnTo>
                    <a:pt x="13" y="1152"/>
                  </a:lnTo>
                  <a:lnTo>
                    <a:pt x="0" y="1152"/>
                  </a:lnTo>
                  <a:lnTo>
                    <a:pt x="0" y="1139"/>
                  </a:lnTo>
                  <a:lnTo>
                    <a:pt x="13" y="1139"/>
                  </a:lnTo>
                  <a:close/>
                  <a:moveTo>
                    <a:pt x="13" y="1165"/>
                  </a:moveTo>
                  <a:lnTo>
                    <a:pt x="13" y="1178"/>
                  </a:lnTo>
                  <a:lnTo>
                    <a:pt x="0" y="1178"/>
                  </a:lnTo>
                  <a:lnTo>
                    <a:pt x="0" y="1165"/>
                  </a:lnTo>
                  <a:lnTo>
                    <a:pt x="13" y="1165"/>
                  </a:lnTo>
                  <a:close/>
                  <a:moveTo>
                    <a:pt x="13" y="1191"/>
                  </a:moveTo>
                  <a:lnTo>
                    <a:pt x="13" y="1204"/>
                  </a:lnTo>
                  <a:lnTo>
                    <a:pt x="0" y="1204"/>
                  </a:lnTo>
                  <a:lnTo>
                    <a:pt x="0" y="1191"/>
                  </a:lnTo>
                  <a:lnTo>
                    <a:pt x="13" y="1191"/>
                  </a:lnTo>
                  <a:close/>
                  <a:moveTo>
                    <a:pt x="13" y="1217"/>
                  </a:moveTo>
                  <a:lnTo>
                    <a:pt x="13" y="1230"/>
                  </a:lnTo>
                  <a:lnTo>
                    <a:pt x="0" y="1230"/>
                  </a:lnTo>
                  <a:lnTo>
                    <a:pt x="0" y="1217"/>
                  </a:lnTo>
                  <a:lnTo>
                    <a:pt x="13" y="1217"/>
                  </a:lnTo>
                  <a:close/>
                  <a:moveTo>
                    <a:pt x="13" y="1242"/>
                  </a:moveTo>
                  <a:lnTo>
                    <a:pt x="13" y="1255"/>
                  </a:lnTo>
                  <a:lnTo>
                    <a:pt x="0" y="1255"/>
                  </a:lnTo>
                  <a:lnTo>
                    <a:pt x="0" y="1242"/>
                  </a:lnTo>
                  <a:lnTo>
                    <a:pt x="13" y="1242"/>
                  </a:lnTo>
                  <a:close/>
                  <a:moveTo>
                    <a:pt x="13" y="1268"/>
                  </a:moveTo>
                  <a:lnTo>
                    <a:pt x="13" y="1281"/>
                  </a:lnTo>
                  <a:lnTo>
                    <a:pt x="0" y="1281"/>
                  </a:lnTo>
                  <a:lnTo>
                    <a:pt x="0" y="1268"/>
                  </a:lnTo>
                  <a:lnTo>
                    <a:pt x="13" y="1268"/>
                  </a:lnTo>
                  <a:close/>
                  <a:moveTo>
                    <a:pt x="13" y="1294"/>
                  </a:moveTo>
                  <a:lnTo>
                    <a:pt x="13" y="1307"/>
                  </a:lnTo>
                  <a:lnTo>
                    <a:pt x="0" y="1307"/>
                  </a:lnTo>
                  <a:lnTo>
                    <a:pt x="0" y="1294"/>
                  </a:lnTo>
                  <a:lnTo>
                    <a:pt x="13" y="1294"/>
                  </a:lnTo>
                  <a:close/>
                  <a:moveTo>
                    <a:pt x="13" y="1320"/>
                  </a:moveTo>
                  <a:lnTo>
                    <a:pt x="13" y="1333"/>
                  </a:lnTo>
                  <a:lnTo>
                    <a:pt x="0" y="1333"/>
                  </a:lnTo>
                  <a:lnTo>
                    <a:pt x="0" y="1320"/>
                  </a:lnTo>
                  <a:lnTo>
                    <a:pt x="13" y="1320"/>
                  </a:lnTo>
                  <a:close/>
                  <a:moveTo>
                    <a:pt x="13" y="1346"/>
                  </a:moveTo>
                  <a:lnTo>
                    <a:pt x="13" y="1359"/>
                  </a:lnTo>
                  <a:lnTo>
                    <a:pt x="0" y="1359"/>
                  </a:lnTo>
                  <a:lnTo>
                    <a:pt x="0" y="1346"/>
                  </a:lnTo>
                  <a:lnTo>
                    <a:pt x="13" y="1346"/>
                  </a:lnTo>
                  <a:close/>
                  <a:moveTo>
                    <a:pt x="13" y="1372"/>
                  </a:moveTo>
                  <a:lnTo>
                    <a:pt x="13" y="1385"/>
                  </a:lnTo>
                  <a:lnTo>
                    <a:pt x="0" y="1385"/>
                  </a:lnTo>
                  <a:lnTo>
                    <a:pt x="0" y="1372"/>
                  </a:lnTo>
                  <a:lnTo>
                    <a:pt x="13" y="1372"/>
                  </a:lnTo>
                  <a:close/>
                  <a:moveTo>
                    <a:pt x="13" y="1398"/>
                  </a:moveTo>
                  <a:lnTo>
                    <a:pt x="13" y="1411"/>
                  </a:lnTo>
                  <a:lnTo>
                    <a:pt x="0" y="1411"/>
                  </a:lnTo>
                  <a:lnTo>
                    <a:pt x="0" y="1398"/>
                  </a:lnTo>
                  <a:lnTo>
                    <a:pt x="13" y="1398"/>
                  </a:lnTo>
                  <a:close/>
                  <a:moveTo>
                    <a:pt x="13" y="1424"/>
                  </a:moveTo>
                  <a:lnTo>
                    <a:pt x="13" y="1437"/>
                  </a:lnTo>
                  <a:lnTo>
                    <a:pt x="0" y="1437"/>
                  </a:lnTo>
                  <a:lnTo>
                    <a:pt x="0" y="1424"/>
                  </a:lnTo>
                  <a:lnTo>
                    <a:pt x="13" y="1424"/>
                  </a:lnTo>
                  <a:close/>
                  <a:moveTo>
                    <a:pt x="13" y="1450"/>
                  </a:moveTo>
                  <a:lnTo>
                    <a:pt x="13" y="1463"/>
                  </a:lnTo>
                  <a:lnTo>
                    <a:pt x="0" y="1463"/>
                  </a:lnTo>
                  <a:lnTo>
                    <a:pt x="0" y="1450"/>
                  </a:lnTo>
                  <a:lnTo>
                    <a:pt x="13" y="1450"/>
                  </a:lnTo>
                  <a:close/>
                  <a:moveTo>
                    <a:pt x="13" y="1475"/>
                  </a:moveTo>
                  <a:lnTo>
                    <a:pt x="13" y="1488"/>
                  </a:lnTo>
                  <a:lnTo>
                    <a:pt x="0" y="1488"/>
                  </a:lnTo>
                  <a:lnTo>
                    <a:pt x="0" y="1475"/>
                  </a:lnTo>
                  <a:lnTo>
                    <a:pt x="13" y="1475"/>
                  </a:lnTo>
                  <a:close/>
                  <a:moveTo>
                    <a:pt x="13" y="1501"/>
                  </a:moveTo>
                  <a:lnTo>
                    <a:pt x="13" y="1514"/>
                  </a:lnTo>
                  <a:lnTo>
                    <a:pt x="0" y="1514"/>
                  </a:lnTo>
                  <a:lnTo>
                    <a:pt x="0" y="1501"/>
                  </a:lnTo>
                  <a:lnTo>
                    <a:pt x="13" y="1501"/>
                  </a:lnTo>
                  <a:close/>
                  <a:moveTo>
                    <a:pt x="13" y="1527"/>
                  </a:moveTo>
                  <a:lnTo>
                    <a:pt x="13" y="1540"/>
                  </a:lnTo>
                  <a:lnTo>
                    <a:pt x="0" y="1540"/>
                  </a:lnTo>
                  <a:lnTo>
                    <a:pt x="0" y="1527"/>
                  </a:lnTo>
                  <a:lnTo>
                    <a:pt x="13" y="1527"/>
                  </a:lnTo>
                  <a:close/>
                  <a:moveTo>
                    <a:pt x="13" y="1553"/>
                  </a:moveTo>
                  <a:lnTo>
                    <a:pt x="13" y="1566"/>
                  </a:lnTo>
                  <a:lnTo>
                    <a:pt x="0" y="1566"/>
                  </a:lnTo>
                  <a:lnTo>
                    <a:pt x="0" y="1553"/>
                  </a:lnTo>
                  <a:lnTo>
                    <a:pt x="13" y="1553"/>
                  </a:lnTo>
                  <a:close/>
                  <a:moveTo>
                    <a:pt x="13" y="1579"/>
                  </a:moveTo>
                  <a:lnTo>
                    <a:pt x="13" y="1592"/>
                  </a:lnTo>
                  <a:lnTo>
                    <a:pt x="0" y="1592"/>
                  </a:lnTo>
                  <a:lnTo>
                    <a:pt x="0" y="1579"/>
                  </a:lnTo>
                  <a:lnTo>
                    <a:pt x="13" y="1579"/>
                  </a:lnTo>
                  <a:close/>
                  <a:moveTo>
                    <a:pt x="13" y="1605"/>
                  </a:moveTo>
                  <a:lnTo>
                    <a:pt x="13" y="1618"/>
                  </a:lnTo>
                  <a:lnTo>
                    <a:pt x="0" y="1618"/>
                  </a:lnTo>
                  <a:lnTo>
                    <a:pt x="0" y="1605"/>
                  </a:lnTo>
                  <a:lnTo>
                    <a:pt x="13" y="1605"/>
                  </a:lnTo>
                  <a:close/>
                  <a:moveTo>
                    <a:pt x="13" y="1631"/>
                  </a:moveTo>
                  <a:lnTo>
                    <a:pt x="13" y="1644"/>
                  </a:lnTo>
                  <a:lnTo>
                    <a:pt x="0" y="1644"/>
                  </a:lnTo>
                  <a:lnTo>
                    <a:pt x="0" y="1631"/>
                  </a:lnTo>
                  <a:lnTo>
                    <a:pt x="13" y="1631"/>
                  </a:lnTo>
                  <a:close/>
                  <a:moveTo>
                    <a:pt x="13" y="1657"/>
                  </a:moveTo>
                  <a:lnTo>
                    <a:pt x="13" y="1670"/>
                  </a:lnTo>
                  <a:lnTo>
                    <a:pt x="0" y="1670"/>
                  </a:lnTo>
                  <a:lnTo>
                    <a:pt x="0" y="1657"/>
                  </a:lnTo>
                  <a:lnTo>
                    <a:pt x="13" y="1657"/>
                  </a:lnTo>
                  <a:close/>
                  <a:moveTo>
                    <a:pt x="13" y="1683"/>
                  </a:moveTo>
                  <a:lnTo>
                    <a:pt x="13" y="1696"/>
                  </a:lnTo>
                  <a:lnTo>
                    <a:pt x="0" y="1696"/>
                  </a:lnTo>
                  <a:lnTo>
                    <a:pt x="0" y="1683"/>
                  </a:lnTo>
                  <a:lnTo>
                    <a:pt x="13" y="1683"/>
                  </a:lnTo>
                  <a:close/>
                  <a:moveTo>
                    <a:pt x="13" y="1708"/>
                  </a:moveTo>
                  <a:lnTo>
                    <a:pt x="13" y="1721"/>
                  </a:lnTo>
                  <a:lnTo>
                    <a:pt x="0" y="1721"/>
                  </a:lnTo>
                  <a:lnTo>
                    <a:pt x="0" y="1708"/>
                  </a:lnTo>
                  <a:lnTo>
                    <a:pt x="13" y="1708"/>
                  </a:lnTo>
                  <a:close/>
                  <a:moveTo>
                    <a:pt x="13" y="1734"/>
                  </a:moveTo>
                  <a:lnTo>
                    <a:pt x="13" y="1747"/>
                  </a:lnTo>
                  <a:lnTo>
                    <a:pt x="0" y="1747"/>
                  </a:lnTo>
                  <a:lnTo>
                    <a:pt x="0" y="1734"/>
                  </a:lnTo>
                  <a:lnTo>
                    <a:pt x="13" y="1734"/>
                  </a:lnTo>
                  <a:close/>
                  <a:moveTo>
                    <a:pt x="13" y="1760"/>
                  </a:moveTo>
                  <a:lnTo>
                    <a:pt x="13" y="1773"/>
                  </a:lnTo>
                  <a:lnTo>
                    <a:pt x="0" y="1773"/>
                  </a:lnTo>
                  <a:lnTo>
                    <a:pt x="0" y="1760"/>
                  </a:lnTo>
                  <a:lnTo>
                    <a:pt x="13" y="1760"/>
                  </a:lnTo>
                  <a:close/>
                  <a:moveTo>
                    <a:pt x="13" y="1786"/>
                  </a:moveTo>
                  <a:lnTo>
                    <a:pt x="13" y="1799"/>
                  </a:lnTo>
                  <a:lnTo>
                    <a:pt x="0" y="1799"/>
                  </a:lnTo>
                  <a:lnTo>
                    <a:pt x="0" y="1786"/>
                  </a:lnTo>
                  <a:lnTo>
                    <a:pt x="13" y="1786"/>
                  </a:lnTo>
                  <a:close/>
                  <a:moveTo>
                    <a:pt x="13" y="1812"/>
                  </a:moveTo>
                  <a:lnTo>
                    <a:pt x="13" y="1825"/>
                  </a:lnTo>
                  <a:lnTo>
                    <a:pt x="0" y="1825"/>
                  </a:lnTo>
                  <a:lnTo>
                    <a:pt x="0" y="1812"/>
                  </a:lnTo>
                  <a:lnTo>
                    <a:pt x="13" y="1812"/>
                  </a:lnTo>
                  <a:close/>
                  <a:moveTo>
                    <a:pt x="13" y="1838"/>
                  </a:moveTo>
                  <a:lnTo>
                    <a:pt x="13" y="1851"/>
                  </a:lnTo>
                  <a:lnTo>
                    <a:pt x="0" y="1851"/>
                  </a:lnTo>
                  <a:lnTo>
                    <a:pt x="0" y="1838"/>
                  </a:lnTo>
                  <a:lnTo>
                    <a:pt x="13" y="1838"/>
                  </a:lnTo>
                  <a:close/>
                  <a:moveTo>
                    <a:pt x="13" y="1864"/>
                  </a:moveTo>
                  <a:lnTo>
                    <a:pt x="13" y="1877"/>
                  </a:lnTo>
                  <a:lnTo>
                    <a:pt x="0" y="1877"/>
                  </a:lnTo>
                  <a:lnTo>
                    <a:pt x="0" y="1864"/>
                  </a:lnTo>
                  <a:lnTo>
                    <a:pt x="13" y="1864"/>
                  </a:lnTo>
                  <a:close/>
                  <a:moveTo>
                    <a:pt x="13" y="1890"/>
                  </a:moveTo>
                  <a:lnTo>
                    <a:pt x="13" y="1903"/>
                  </a:lnTo>
                  <a:lnTo>
                    <a:pt x="0" y="1903"/>
                  </a:lnTo>
                  <a:lnTo>
                    <a:pt x="0" y="1890"/>
                  </a:lnTo>
                  <a:lnTo>
                    <a:pt x="13" y="1890"/>
                  </a:lnTo>
                  <a:close/>
                  <a:moveTo>
                    <a:pt x="13" y="1916"/>
                  </a:moveTo>
                  <a:lnTo>
                    <a:pt x="13" y="1929"/>
                  </a:lnTo>
                  <a:lnTo>
                    <a:pt x="0" y="1929"/>
                  </a:lnTo>
                  <a:lnTo>
                    <a:pt x="0" y="1916"/>
                  </a:lnTo>
                  <a:lnTo>
                    <a:pt x="13" y="1916"/>
                  </a:lnTo>
                  <a:close/>
                  <a:moveTo>
                    <a:pt x="13" y="1941"/>
                  </a:moveTo>
                  <a:lnTo>
                    <a:pt x="13" y="1954"/>
                  </a:lnTo>
                  <a:lnTo>
                    <a:pt x="0" y="1954"/>
                  </a:lnTo>
                  <a:lnTo>
                    <a:pt x="0" y="1941"/>
                  </a:lnTo>
                  <a:lnTo>
                    <a:pt x="13" y="1941"/>
                  </a:lnTo>
                  <a:close/>
                  <a:moveTo>
                    <a:pt x="13" y="1967"/>
                  </a:moveTo>
                  <a:lnTo>
                    <a:pt x="13" y="1980"/>
                  </a:lnTo>
                  <a:lnTo>
                    <a:pt x="0" y="1980"/>
                  </a:lnTo>
                  <a:lnTo>
                    <a:pt x="0" y="1967"/>
                  </a:lnTo>
                  <a:lnTo>
                    <a:pt x="13" y="1967"/>
                  </a:lnTo>
                  <a:close/>
                  <a:moveTo>
                    <a:pt x="13" y="1993"/>
                  </a:moveTo>
                  <a:lnTo>
                    <a:pt x="13" y="2006"/>
                  </a:lnTo>
                  <a:lnTo>
                    <a:pt x="0" y="2006"/>
                  </a:lnTo>
                  <a:lnTo>
                    <a:pt x="0" y="1993"/>
                  </a:lnTo>
                  <a:lnTo>
                    <a:pt x="13" y="1993"/>
                  </a:lnTo>
                  <a:close/>
                  <a:moveTo>
                    <a:pt x="13" y="2019"/>
                  </a:moveTo>
                  <a:lnTo>
                    <a:pt x="13" y="2032"/>
                  </a:lnTo>
                  <a:lnTo>
                    <a:pt x="0" y="2032"/>
                  </a:lnTo>
                  <a:lnTo>
                    <a:pt x="0" y="2019"/>
                  </a:lnTo>
                  <a:lnTo>
                    <a:pt x="13" y="2019"/>
                  </a:lnTo>
                  <a:close/>
                  <a:moveTo>
                    <a:pt x="13" y="2045"/>
                  </a:moveTo>
                  <a:lnTo>
                    <a:pt x="13" y="2058"/>
                  </a:lnTo>
                  <a:lnTo>
                    <a:pt x="0" y="2058"/>
                  </a:lnTo>
                  <a:lnTo>
                    <a:pt x="0" y="2045"/>
                  </a:lnTo>
                  <a:lnTo>
                    <a:pt x="13" y="2045"/>
                  </a:lnTo>
                  <a:close/>
                  <a:moveTo>
                    <a:pt x="13" y="2071"/>
                  </a:moveTo>
                  <a:lnTo>
                    <a:pt x="13" y="2084"/>
                  </a:lnTo>
                  <a:lnTo>
                    <a:pt x="0" y="2084"/>
                  </a:lnTo>
                  <a:lnTo>
                    <a:pt x="0" y="2071"/>
                  </a:lnTo>
                  <a:lnTo>
                    <a:pt x="13" y="2071"/>
                  </a:lnTo>
                  <a:close/>
                  <a:moveTo>
                    <a:pt x="13" y="2097"/>
                  </a:moveTo>
                  <a:lnTo>
                    <a:pt x="13" y="2110"/>
                  </a:lnTo>
                  <a:lnTo>
                    <a:pt x="0" y="2110"/>
                  </a:lnTo>
                  <a:lnTo>
                    <a:pt x="0" y="2097"/>
                  </a:lnTo>
                  <a:lnTo>
                    <a:pt x="13" y="2097"/>
                  </a:lnTo>
                  <a:close/>
                  <a:moveTo>
                    <a:pt x="13" y="2123"/>
                  </a:moveTo>
                  <a:lnTo>
                    <a:pt x="13" y="2136"/>
                  </a:lnTo>
                  <a:lnTo>
                    <a:pt x="0" y="2136"/>
                  </a:lnTo>
                  <a:lnTo>
                    <a:pt x="0" y="2123"/>
                  </a:lnTo>
                  <a:lnTo>
                    <a:pt x="13" y="2123"/>
                  </a:lnTo>
                  <a:close/>
                  <a:moveTo>
                    <a:pt x="13" y="2149"/>
                  </a:moveTo>
                  <a:lnTo>
                    <a:pt x="13" y="2162"/>
                  </a:lnTo>
                  <a:lnTo>
                    <a:pt x="0" y="2162"/>
                  </a:lnTo>
                  <a:lnTo>
                    <a:pt x="0" y="2149"/>
                  </a:lnTo>
                  <a:lnTo>
                    <a:pt x="13" y="2149"/>
                  </a:lnTo>
                  <a:close/>
                  <a:moveTo>
                    <a:pt x="13" y="2174"/>
                  </a:moveTo>
                  <a:lnTo>
                    <a:pt x="13" y="2187"/>
                  </a:lnTo>
                  <a:lnTo>
                    <a:pt x="0" y="2187"/>
                  </a:lnTo>
                  <a:lnTo>
                    <a:pt x="0" y="2174"/>
                  </a:lnTo>
                  <a:lnTo>
                    <a:pt x="13" y="2174"/>
                  </a:lnTo>
                  <a:close/>
                  <a:moveTo>
                    <a:pt x="13" y="2200"/>
                  </a:moveTo>
                  <a:lnTo>
                    <a:pt x="13" y="2213"/>
                  </a:lnTo>
                  <a:lnTo>
                    <a:pt x="0" y="2213"/>
                  </a:lnTo>
                  <a:lnTo>
                    <a:pt x="0" y="2200"/>
                  </a:lnTo>
                  <a:lnTo>
                    <a:pt x="13" y="2200"/>
                  </a:lnTo>
                  <a:close/>
                  <a:moveTo>
                    <a:pt x="13" y="2226"/>
                  </a:moveTo>
                  <a:lnTo>
                    <a:pt x="13" y="2239"/>
                  </a:lnTo>
                  <a:lnTo>
                    <a:pt x="0" y="2239"/>
                  </a:lnTo>
                  <a:lnTo>
                    <a:pt x="0" y="2226"/>
                  </a:lnTo>
                  <a:lnTo>
                    <a:pt x="13" y="2226"/>
                  </a:lnTo>
                  <a:close/>
                  <a:moveTo>
                    <a:pt x="13" y="2252"/>
                  </a:moveTo>
                  <a:lnTo>
                    <a:pt x="13" y="2265"/>
                  </a:lnTo>
                  <a:lnTo>
                    <a:pt x="0" y="2265"/>
                  </a:lnTo>
                  <a:lnTo>
                    <a:pt x="0" y="2252"/>
                  </a:lnTo>
                  <a:lnTo>
                    <a:pt x="13" y="2252"/>
                  </a:lnTo>
                  <a:close/>
                  <a:moveTo>
                    <a:pt x="13" y="2278"/>
                  </a:moveTo>
                  <a:lnTo>
                    <a:pt x="13" y="2281"/>
                  </a:lnTo>
                  <a:lnTo>
                    <a:pt x="0" y="2281"/>
                  </a:lnTo>
                  <a:lnTo>
                    <a:pt x="0" y="2278"/>
                  </a:lnTo>
                  <a:lnTo>
                    <a:pt x="13" y="2278"/>
                  </a:lnTo>
                  <a:close/>
                </a:path>
              </a:pathLst>
            </a:custGeom>
            <a:solidFill>
              <a:srgbClr val="000000"/>
            </a:solidFill>
            <a:ln w="0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7" name="Freeform 31">
              <a:extLst>
                <a:ext uri="{FF2B5EF4-FFF2-40B4-BE49-F238E27FC236}">
                  <a16:creationId xmlns:a16="http://schemas.microsoft.com/office/drawing/2014/main" id="{331528E0-125C-48A1-A4F1-3CC161F53FC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067" y="1978"/>
              <a:ext cx="13" cy="2281"/>
            </a:xfrm>
            <a:custGeom>
              <a:avLst/>
              <a:gdLst>
                <a:gd name="T0" fmla="*/ 13 w 13"/>
                <a:gd name="T1" fmla="*/ 39 h 2281"/>
                <a:gd name="T2" fmla="*/ 0 w 13"/>
                <a:gd name="T3" fmla="*/ 52 h 2281"/>
                <a:gd name="T4" fmla="*/ 13 w 13"/>
                <a:gd name="T5" fmla="*/ 104 h 2281"/>
                <a:gd name="T6" fmla="*/ 0 w 13"/>
                <a:gd name="T7" fmla="*/ 142 h 2281"/>
                <a:gd name="T8" fmla="*/ 13 w 13"/>
                <a:gd name="T9" fmla="*/ 155 h 2281"/>
                <a:gd name="T10" fmla="*/ 13 w 13"/>
                <a:gd name="T11" fmla="*/ 220 h 2281"/>
                <a:gd name="T12" fmla="*/ 0 w 13"/>
                <a:gd name="T13" fmla="*/ 233 h 2281"/>
                <a:gd name="T14" fmla="*/ 13 w 13"/>
                <a:gd name="T15" fmla="*/ 285 h 2281"/>
                <a:gd name="T16" fmla="*/ 0 w 13"/>
                <a:gd name="T17" fmla="*/ 323 h 2281"/>
                <a:gd name="T18" fmla="*/ 13 w 13"/>
                <a:gd name="T19" fmla="*/ 337 h 2281"/>
                <a:gd name="T20" fmla="*/ 13 w 13"/>
                <a:gd name="T21" fmla="*/ 401 h 2281"/>
                <a:gd name="T22" fmla="*/ 0 w 13"/>
                <a:gd name="T23" fmla="*/ 414 h 2281"/>
                <a:gd name="T24" fmla="*/ 13 w 13"/>
                <a:gd name="T25" fmla="*/ 466 h 2281"/>
                <a:gd name="T26" fmla="*/ 0 w 13"/>
                <a:gd name="T27" fmla="*/ 505 h 2281"/>
                <a:gd name="T28" fmla="*/ 13 w 13"/>
                <a:gd name="T29" fmla="*/ 518 h 2281"/>
                <a:gd name="T30" fmla="*/ 13 w 13"/>
                <a:gd name="T31" fmla="*/ 582 h 2281"/>
                <a:gd name="T32" fmla="*/ 0 w 13"/>
                <a:gd name="T33" fmla="*/ 595 h 2281"/>
                <a:gd name="T34" fmla="*/ 13 w 13"/>
                <a:gd name="T35" fmla="*/ 647 h 2281"/>
                <a:gd name="T36" fmla="*/ 0 w 13"/>
                <a:gd name="T37" fmla="*/ 686 h 2281"/>
                <a:gd name="T38" fmla="*/ 13 w 13"/>
                <a:gd name="T39" fmla="*/ 699 h 2281"/>
                <a:gd name="T40" fmla="*/ 13 w 13"/>
                <a:gd name="T41" fmla="*/ 764 h 2281"/>
                <a:gd name="T42" fmla="*/ 0 w 13"/>
                <a:gd name="T43" fmla="*/ 776 h 2281"/>
                <a:gd name="T44" fmla="*/ 13 w 13"/>
                <a:gd name="T45" fmla="*/ 828 h 2281"/>
                <a:gd name="T46" fmla="*/ 0 w 13"/>
                <a:gd name="T47" fmla="*/ 867 h 2281"/>
                <a:gd name="T48" fmla="*/ 13 w 13"/>
                <a:gd name="T49" fmla="*/ 880 h 2281"/>
                <a:gd name="T50" fmla="*/ 13 w 13"/>
                <a:gd name="T51" fmla="*/ 945 h 2281"/>
                <a:gd name="T52" fmla="*/ 0 w 13"/>
                <a:gd name="T53" fmla="*/ 958 h 2281"/>
                <a:gd name="T54" fmla="*/ 13 w 13"/>
                <a:gd name="T55" fmla="*/ 1009 h 2281"/>
                <a:gd name="T56" fmla="*/ 0 w 13"/>
                <a:gd name="T57" fmla="*/ 1048 h 2281"/>
                <a:gd name="T58" fmla="*/ 13 w 13"/>
                <a:gd name="T59" fmla="*/ 1061 h 2281"/>
                <a:gd name="T60" fmla="*/ 13 w 13"/>
                <a:gd name="T61" fmla="*/ 1126 h 2281"/>
                <a:gd name="T62" fmla="*/ 0 w 13"/>
                <a:gd name="T63" fmla="*/ 1139 h 2281"/>
                <a:gd name="T64" fmla="*/ 13 w 13"/>
                <a:gd name="T65" fmla="*/ 1191 h 2281"/>
                <a:gd name="T66" fmla="*/ 0 w 13"/>
                <a:gd name="T67" fmla="*/ 1230 h 2281"/>
                <a:gd name="T68" fmla="*/ 13 w 13"/>
                <a:gd name="T69" fmla="*/ 1242 h 2281"/>
                <a:gd name="T70" fmla="*/ 13 w 13"/>
                <a:gd name="T71" fmla="*/ 1307 h 2281"/>
                <a:gd name="T72" fmla="*/ 0 w 13"/>
                <a:gd name="T73" fmla="*/ 1320 h 2281"/>
                <a:gd name="T74" fmla="*/ 13 w 13"/>
                <a:gd name="T75" fmla="*/ 1372 h 2281"/>
                <a:gd name="T76" fmla="*/ 0 w 13"/>
                <a:gd name="T77" fmla="*/ 1411 h 2281"/>
                <a:gd name="T78" fmla="*/ 13 w 13"/>
                <a:gd name="T79" fmla="*/ 1424 h 2281"/>
                <a:gd name="T80" fmla="*/ 13 w 13"/>
                <a:gd name="T81" fmla="*/ 1488 h 2281"/>
                <a:gd name="T82" fmla="*/ 0 w 13"/>
                <a:gd name="T83" fmla="*/ 1501 h 2281"/>
                <a:gd name="T84" fmla="*/ 13 w 13"/>
                <a:gd name="T85" fmla="*/ 1553 h 2281"/>
                <a:gd name="T86" fmla="*/ 0 w 13"/>
                <a:gd name="T87" fmla="*/ 1592 h 2281"/>
                <a:gd name="T88" fmla="*/ 13 w 13"/>
                <a:gd name="T89" fmla="*/ 1605 h 2281"/>
                <a:gd name="T90" fmla="*/ 13 w 13"/>
                <a:gd name="T91" fmla="*/ 1670 h 2281"/>
                <a:gd name="T92" fmla="*/ 0 w 13"/>
                <a:gd name="T93" fmla="*/ 1683 h 2281"/>
                <a:gd name="T94" fmla="*/ 13 w 13"/>
                <a:gd name="T95" fmla="*/ 1734 h 2281"/>
                <a:gd name="T96" fmla="*/ 0 w 13"/>
                <a:gd name="T97" fmla="*/ 1773 h 2281"/>
                <a:gd name="T98" fmla="*/ 13 w 13"/>
                <a:gd name="T99" fmla="*/ 1786 h 2281"/>
                <a:gd name="T100" fmla="*/ 13 w 13"/>
                <a:gd name="T101" fmla="*/ 1851 h 2281"/>
                <a:gd name="T102" fmla="*/ 0 w 13"/>
                <a:gd name="T103" fmla="*/ 1864 h 2281"/>
                <a:gd name="T104" fmla="*/ 13 w 13"/>
                <a:gd name="T105" fmla="*/ 1916 h 2281"/>
                <a:gd name="T106" fmla="*/ 0 w 13"/>
                <a:gd name="T107" fmla="*/ 1954 h 2281"/>
                <a:gd name="T108" fmla="*/ 13 w 13"/>
                <a:gd name="T109" fmla="*/ 1967 h 2281"/>
                <a:gd name="T110" fmla="*/ 13 w 13"/>
                <a:gd name="T111" fmla="*/ 2032 h 2281"/>
                <a:gd name="T112" fmla="*/ 0 w 13"/>
                <a:gd name="T113" fmla="*/ 2045 h 2281"/>
                <a:gd name="T114" fmla="*/ 13 w 13"/>
                <a:gd name="T115" fmla="*/ 2097 h 2281"/>
                <a:gd name="T116" fmla="*/ 0 w 13"/>
                <a:gd name="T117" fmla="*/ 2136 h 2281"/>
                <a:gd name="T118" fmla="*/ 13 w 13"/>
                <a:gd name="T119" fmla="*/ 2149 h 2281"/>
                <a:gd name="T120" fmla="*/ 13 w 13"/>
                <a:gd name="T121" fmla="*/ 2213 h 2281"/>
                <a:gd name="T122" fmla="*/ 0 w 13"/>
                <a:gd name="T123" fmla="*/ 2226 h 2281"/>
                <a:gd name="T124" fmla="*/ 13 w 13"/>
                <a:gd name="T125" fmla="*/ 2278 h 22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3" h="2281">
                  <a:moveTo>
                    <a:pt x="13" y="0"/>
                  </a:moveTo>
                  <a:lnTo>
                    <a:pt x="13" y="13"/>
                  </a:lnTo>
                  <a:lnTo>
                    <a:pt x="0" y="13"/>
                  </a:lnTo>
                  <a:lnTo>
                    <a:pt x="0" y="0"/>
                  </a:lnTo>
                  <a:lnTo>
                    <a:pt x="13" y="0"/>
                  </a:lnTo>
                  <a:close/>
                  <a:moveTo>
                    <a:pt x="13" y="26"/>
                  </a:moveTo>
                  <a:lnTo>
                    <a:pt x="13" y="39"/>
                  </a:lnTo>
                  <a:lnTo>
                    <a:pt x="0" y="39"/>
                  </a:lnTo>
                  <a:lnTo>
                    <a:pt x="0" y="26"/>
                  </a:lnTo>
                  <a:lnTo>
                    <a:pt x="13" y="26"/>
                  </a:lnTo>
                  <a:close/>
                  <a:moveTo>
                    <a:pt x="13" y="52"/>
                  </a:moveTo>
                  <a:lnTo>
                    <a:pt x="13" y="65"/>
                  </a:lnTo>
                  <a:lnTo>
                    <a:pt x="0" y="65"/>
                  </a:lnTo>
                  <a:lnTo>
                    <a:pt x="0" y="52"/>
                  </a:lnTo>
                  <a:lnTo>
                    <a:pt x="13" y="52"/>
                  </a:lnTo>
                  <a:close/>
                  <a:moveTo>
                    <a:pt x="13" y="77"/>
                  </a:moveTo>
                  <a:lnTo>
                    <a:pt x="13" y="90"/>
                  </a:lnTo>
                  <a:lnTo>
                    <a:pt x="0" y="90"/>
                  </a:lnTo>
                  <a:lnTo>
                    <a:pt x="0" y="77"/>
                  </a:lnTo>
                  <a:lnTo>
                    <a:pt x="13" y="77"/>
                  </a:lnTo>
                  <a:close/>
                  <a:moveTo>
                    <a:pt x="13" y="104"/>
                  </a:moveTo>
                  <a:lnTo>
                    <a:pt x="13" y="116"/>
                  </a:lnTo>
                  <a:lnTo>
                    <a:pt x="0" y="116"/>
                  </a:lnTo>
                  <a:lnTo>
                    <a:pt x="0" y="104"/>
                  </a:lnTo>
                  <a:lnTo>
                    <a:pt x="13" y="104"/>
                  </a:lnTo>
                  <a:close/>
                  <a:moveTo>
                    <a:pt x="13" y="129"/>
                  </a:moveTo>
                  <a:lnTo>
                    <a:pt x="13" y="142"/>
                  </a:lnTo>
                  <a:lnTo>
                    <a:pt x="0" y="142"/>
                  </a:lnTo>
                  <a:lnTo>
                    <a:pt x="0" y="129"/>
                  </a:lnTo>
                  <a:lnTo>
                    <a:pt x="13" y="129"/>
                  </a:lnTo>
                  <a:close/>
                  <a:moveTo>
                    <a:pt x="13" y="155"/>
                  </a:moveTo>
                  <a:lnTo>
                    <a:pt x="13" y="168"/>
                  </a:lnTo>
                  <a:lnTo>
                    <a:pt x="0" y="168"/>
                  </a:lnTo>
                  <a:lnTo>
                    <a:pt x="0" y="155"/>
                  </a:lnTo>
                  <a:lnTo>
                    <a:pt x="13" y="155"/>
                  </a:lnTo>
                  <a:close/>
                  <a:moveTo>
                    <a:pt x="13" y="181"/>
                  </a:moveTo>
                  <a:lnTo>
                    <a:pt x="13" y="194"/>
                  </a:lnTo>
                  <a:lnTo>
                    <a:pt x="0" y="194"/>
                  </a:lnTo>
                  <a:lnTo>
                    <a:pt x="0" y="181"/>
                  </a:lnTo>
                  <a:lnTo>
                    <a:pt x="13" y="181"/>
                  </a:lnTo>
                  <a:close/>
                  <a:moveTo>
                    <a:pt x="13" y="207"/>
                  </a:moveTo>
                  <a:lnTo>
                    <a:pt x="13" y="220"/>
                  </a:lnTo>
                  <a:lnTo>
                    <a:pt x="0" y="220"/>
                  </a:lnTo>
                  <a:lnTo>
                    <a:pt x="0" y="207"/>
                  </a:lnTo>
                  <a:lnTo>
                    <a:pt x="13" y="207"/>
                  </a:lnTo>
                  <a:close/>
                  <a:moveTo>
                    <a:pt x="13" y="233"/>
                  </a:moveTo>
                  <a:lnTo>
                    <a:pt x="13" y="246"/>
                  </a:lnTo>
                  <a:lnTo>
                    <a:pt x="0" y="246"/>
                  </a:lnTo>
                  <a:lnTo>
                    <a:pt x="0" y="233"/>
                  </a:lnTo>
                  <a:lnTo>
                    <a:pt x="13" y="233"/>
                  </a:lnTo>
                  <a:close/>
                  <a:moveTo>
                    <a:pt x="13" y="259"/>
                  </a:moveTo>
                  <a:lnTo>
                    <a:pt x="13" y="272"/>
                  </a:lnTo>
                  <a:lnTo>
                    <a:pt x="0" y="272"/>
                  </a:lnTo>
                  <a:lnTo>
                    <a:pt x="0" y="259"/>
                  </a:lnTo>
                  <a:lnTo>
                    <a:pt x="13" y="259"/>
                  </a:lnTo>
                  <a:close/>
                  <a:moveTo>
                    <a:pt x="13" y="285"/>
                  </a:moveTo>
                  <a:lnTo>
                    <a:pt x="13" y="298"/>
                  </a:lnTo>
                  <a:lnTo>
                    <a:pt x="0" y="298"/>
                  </a:lnTo>
                  <a:lnTo>
                    <a:pt x="0" y="285"/>
                  </a:lnTo>
                  <a:lnTo>
                    <a:pt x="13" y="285"/>
                  </a:lnTo>
                  <a:close/>
                  <a:moveTo>
                    <a:pt x="13" y="310"/>
                  </a:moveTo>
                  <a:lnTo>
                    <a:pt x="13" y="323"/>
                  </a:lnTo>
                  <a:lnTo>
                    <a:pt x="0" y="323"/>
                  </a:lnTo>
                  <a:lnTo>
                    <a:pt x="0" y="310"/>
                  </a:lnTo>
                  <a:lnTo>
                    <a:pt x="13" y="310"/>
                  </a:lnTo>
                  <a:close/>
                  <a:moveTo>
                    <a:pt x="13" y="337"/>
                  </a:moveTo>
                  <a:lnTo>
                    <a:pt x="13" y="349"/>
                  </a:lnTo>
                  <a:lnTo>
                    <a:pt x="0" y="349"/>
                  </a:lnTo>
                  <a:lnTo>
                    <a:pt x="0" y="337"/>
                  </a:lnTo>
                  <a:lnTo>
                    <a:pt x="13" y="337"/>
                  </a:lnTo>
                  <a:close/>
                  <a:moveTo>
                    <a:pt x="13" y="362"/>
                  </a:moveTo>
                  <a:lnTo>
                    <a:pt x="13" y="375"/>
                  </a:lnTo>
                  <a:lnTo>
                    <a:pt x="0" y="375"/>
                  </a:lnTo>
                  <a:lnTo>
                    <a:pt x="0" y="362"/>
                  </a:lnTo>
                  <a:lnTo>
                    <a:pt x="13" y="362"/>
                  </a:lnTo>
                  <a:close/>
                  <a:moveTo>
                    <a:pt x="13" y="388"/>
                  </a:moveTo>
                  <a:lnTo>
                    <a:pt x="13" y="401"/>
                  </a:lnTo>
                  <a:lnTo>
                    <a:pt x="0" y="401"/>
                  </a:lnTo>
                  <a:lnTo>
                    <a:pt x="0" y="388"/>
                  </a:lnTo>
                  <a:lnTo>
                    <a:pt x="13" y="388"/>
                  </a:lnTo>
                  <a:close/>
                  <a:moveTo>
                    <a:pt x="13" y="414"/>
                  </a:moveTo>
                  <a:lnTo>
                    <a:pt x="13" y="427"/>
                  </a:lnTo>
                  <a:lnTo>
                    <a:pt x="0" y="427"/>
                  </a:lnTo>
                  <a:lnTo>
                    <a:pt x="0" y="414"/>
                  </a:lnTo>
                  <a:lnTo>
                    <a:pt x="13" y="414"/>
                  </a:lnTo>
                  <a:close/>
                  <a:moveTo>
                    <a:pt x="13" y="440"/>
                  </a:moveTo>
                  <a:lnTo>
                    <a:pt x="13" y="453"/>
                  </a:lnTo>
                  <a:lnTo>
                    <a:pt x="0" y="453"/>
                  </a:lnTo>
                  <a:lnTo>
                    <a:pt x="0" y="440"/>
                  </a:lnTo>
                  <a:lnTo>
                    <a:pt x="13" y="440"/>
                  </a:lnTo>
                  <a:close/>
                  <a:moveTo>
                    <a:pt x="13" y="466"/>
                  </a:moveTo>
                  <a:lnTo>
                    <a:pt x="13" y="479"/>
                  </a:lnTo>
                  <a:lnTo>
                    <a:pt x="0" y="479"/>
                  </a:lnTo>
                  <a:lnTo>
                    <a:pt x="0" y="466"/>
                  </a:lnTo>
                  <a:lnTo>
                    <a:pt x="13" y="466"/>
                  </a:lnTo>
                  <a:close/>
                  <a:moveTo>
                    <a:pt x="13" y="492"/>
                  </a:moveTo>
                  <a:lnTo>
                    <a:pt x="13" y="505"/>
                  </a:lnTo>
                  <a:lnTo>
                    <a:pt x="0" y="505"/>
                  </a:lnTo>
                  <a:lnTo>
                    <a:pt x="0" y="492"/>
                  </a:lnTo>
                  <a:lnTo>
                    <a:pt x="13" y="492"/>
                  </a:lnTo>
                  <a:close/>
                  <a:moveTo>
                    <a:pt x="13" y="518"/>
                  </a:moveTo>
                  <a:lnTo>
                    <a:pt x="13" y="531"/>
                  </a:lnTo>
                  <a:lnTo>
                    <a:pt x="0" y="531"/>
                  </a:lnTo>
                  <a:lnTo>
                    <a:pt x="0" y="518"/>
                  </a:lnTo>
                  <a:lnTo>
                    <a:pt x="13" y="518"/>
                  </a:lnTo>
                  <a:close/>
                  <a:moveTo>
                    <a:pt x="13" y="543"/>
                  </a:moveTo>
                  <a:lnTo>
                    <a:pt x="13" y="556"/>
                  </a:lnTo>
                  <a:lnTo>
                    <a:pt x="0" y="556"/>
                  </a:lnTo>
                  <a:lnTo>
                    <a:pt x="0" y="543"/>
                  </a:lnTo>
                  <a:lnTo>
                    <a:pt x="13" y="543"/>
                  </a:lnTo>
                  <a:close/>
                  <a:moveTo>
                    <a:pt x="13" y="570"/>
                  </a:moveTo>
                  <a:lnTo>
                    <a:pt x="13" y="582"/>
                  </a:lnTo>
                  <a:lnTo>
                    <a:pt x="0" y="582"/>
                  </a:lnTo>
                  <a:lnTo>
                    <a:pt x="0" y="570"/>
                  </a:lnTo>
                  <a:lnTo>
                    <a:pt x="13" y="570"/>
                  </a:lnTo>
                  <a:close/>
                  <a:moveTo>
                    <a:pt x="13" y="595"/>
                  </a:moveTo>
                  <a:lnTo>
                    <a:pt x="13" y="608"/>
                  </a:lnTo>
                  <a:lnTo>
                    <a:pt x="0" y="608"/>
                  </a:lnTo>
                  <a:lnTo>
                    <a:pt x="0" y="595"/>
                  </a:lnTo>
                  <a:lnTo>
                    <a:pt x="13" y="595"/>
                  </a:lnTo>
                  <a:close/>
                  <a:moveTo>
                    <a:pt x="13" y="621"/>
                  </a:moveTo>
                  <a:lnTo>
                    <a:pt x="13" y="634"/>
                  </a:lnTo>
                  <a:lnTo>
                    <a:pt x="0" y="634"/>
                  </a:lnTo>
                  <a:lnTo>
                    <a:pt x="0" y="621"/>
                  </a:lnTo>
                  <a:lnTo>
                    <a:pt x="13" y="621"/>
                  </a:lnTo>
                  <a:close/>
                  <a:moveTo>
                    <a:pt x="13" y="647"/>
                  </a:moveTo>
                  <a:lnTo>
                    <a:pt x="13" y="660"/>
                  </a:lnTo>
                  <a:lnTo>
                    <a:pt x="0" y="660"/>
                  </a:lnTo>
                  <a:lnTo>
                    <a:pt x="0" y="647"/>
                  </a:lnTo>
                  <a:lnTo>
                    <a:pt x="13" y="647"/>
                  </a:lnTo>
                  <a:close/>
                  <a:moveTo>
                    <a:pt x="13" y="673"/>
                  </a:moveTo>
                  <a:lnTo>
                    <a:pt x="13" y="686"/>
                  </a:lnTo>
                  <a:lnTo>
                    <a:pt x="0" y="686"/>
                  </a:lnTo>
                  <a:lnTo>
                    <a:pt x="0" y="673"/>
                  </a:lnTo>
                  <a:lnTo>
                    <a:pt x="13" y="673"/>
                  </a:lnTo>
                  <a:close/>
                  <a:moveTo>
                    <a:pt x="13" y="699"/>
                  </a:moveTo>
                  <a:lnTo>
                    <a:pt x="13" y="712"/>
                  </a:lnTo>
                  <a:lnTo>
                    <a:pt x="0" y="712"/>
                  </a:lnTo>
                  <a:lnTo>
                    <a:pt x="0" y="699"/>
                  </a:lnTo>
                  <a:lnTo>
                    <a:pt x="13" y="699"/>
                  </a:lnTo>
                  <a:close/>
                  <a:moveTo>
                    <a:pt x="13" y="725"/>
                  </a:moveTo>
                  <a:lnTo>
                    <a:pt x="13" y="738"/>
                  </a:lnTo>
                  <a:lnTo>
                    <a:pt x="0" y="738"/>
                  </a:lnTo>
                  <a:lnTo>
                    <a:pt x="0" y="725"/>
                  </a:lnTo>
                  <a:lnTo>
                    <a:pt x="13" y="725"/>
                  </a:lnTo>
                  <a:close/>
                  <a:moveTo>
                    <a:pt x="13" y="751"/>
                  </a:moveTo>
                  <a:lnTo>
                    <a:pt x="13" y="764"/>
                  </a:lnTo>
                  <a:lnTo>
                    <a:pt x="0" y="764"/>
                  </a:lnTo>
                  <a:lnTo>
                    <a:pt x="0" y="751"/>
                  </a:lnTo>
                  <a:lnTo>
                    <a:pt x="13" y="751"/>
                  </a:lnTo>
                  <a:close/>
                  <a:moveTo>
                    <a:pt x="13" y="776"/>
                  </a:moveTo>
                  <a:lnTo>
                    <a:pt x="13" y="789"/>
                  </a:lnTo>
                  <a:lnTo>
                    <a:pt x="0" y="789"/>
                  </a:lnTo>
                  <a:lnTo>
                    <a:pt x="0" y="776"/>
                  </a:lnTo>
                  <a:lnTo>
                    <a:pt x="13" y="776"/>
                  </a:lnTo>
                  <a:close/>
                  <a:moveTo>
                    <a:pt x="13" y="802"/>
                  </a:moveTo>
                  <a:lnTo>
                    <a:pt x="13" y="815"/>
                  </a:lnTo>
                  <a:lnTo>
                    <a:pt x="0" y="815"/>
                  </a:lnTo>
                  <a:lnTo>
                    <a:pt x="0" y="802"/>
                  </a:lnTo>
                  <a:lnTo>
                    <a:pt x="13" y="802"/>
                  </a:lnTo>
                  <a:close/>
                  <a:moveTo>
                    <a:pt x="13" y="828"/>
                  </a:moveTo>
                  <a:lnTo>
                    <a:pt x="13" y="841"/>
                  </a:lnTo>
                  <a:lnTo>
                    <a:pt x="0" y="841"/>
                  </a:lnTo>
                  <a:lnTo>
                    <a:pt x="0" y="828"/>
                  </a:lnTo>
                  <a:lnTo>
                    <a:pt x="13" y="828"/>
                  </a:lnTo>
                  <a:close/>
                  <a:moveTo>
                    <a:pt x="13" y="854"/>
                  </a:moveTo>
                  <a:lnTo>
                    <a:pt x="13" y="867"/>
                  </a:lnTo>
                  <a:lnTo>
                    <a:pt x="0" y="867"/>
                  </a:lnTo>
                  <a:lnTo>
                    <a:pt x="0" y="854"/>
                  </a:lnTo>
                  <a:lnTo>
                    <a:pt x="13" y="854"/>
                  </a:lnTo>
                  <a:close/>
                  <a:moveTo>
                    <a:pt x="13" y="880"/>
                  </a:moveTo>
                  <a:lnTo>
                    <a:pt x="13" y="893"/>
                  </a:lnTo>
                  <a:lnTo>
                    <a:pt x="0" y="893"/>
                  </a:lnTo>
                  <a:lnTo>
                    <a:pt x="0" y="880"/>
                  </a:lnTo>
                  <a:lnTo>
                    <a:pt x="13" y="880"/>
                  </a:lnTo>
                  <a:close/>
                  <a:moveTo>
                    <a:pt x="13" y="906"/>
                  </a:moveTo>
                  <a:lnTo>
                    <a:pt x="13" y="919"/>
                  </a:lnTo>
                  <a:lnTo>
                    <a:pt x="0" y="919"/>
                  </a:lnTo>
                  <a:lnTo>
                    <a:pt x="0" y="906"/>
                  </a:lnTo>
                  <a:lnTo>
                    <a:pt x="13" y="906"/>
                  </a:lnTo>
                  <a:close/>
                  <a:moveTo>
                    <a:pt x="13" y="932"/>
                  </a:moveTo>
                  <a:lnTo>
                    <a:pt x="13" y="945"/>
                  </a:lnTo>
                  <a:lnTo>
                    <a:pt x="0" y="945"/>
                  </a:lnTo>
                  <a:lnTo>
                    <a:pt x="0" y="932"/>
                  </a:lnTo>
                  <a:lnTo>
                    <a:pt x="13" y="932"/>
                  </a:lnTo>
                  <a:close/>
                  <a:moveTo>
                    <a:pt x="13" y="958"/>
                  </a:moveTo>
                  <a:lnTo>
                    <a:pt x="13" y="971"/>
                  </a:lnTo>
                  <a:lnTo>
                    <a:pt x="0" y="971"/>
                  </a:lnTo>
                  <a:lnTo>
                    <a:pt x="0" y="958"/>
                  </a:lnTo>
                  <a:lnTo>
                    <a:pt x="13" y="958"/>
                  </a:lnTo>
                  <a:close/>
                  <a:moveTo>
                    <a:pt x="13" y="984"/>
                  </a:moveTo>
                  <a:lnTo>
                    <a:pt x="13" y="997"/>
                  </a:lnTo>
                  <a:lnTo>
                    <a:pt x="0" y="997"/>
                  </a:lnTo>
                  <a:lnTo>
                    <a:pt x="0" y="984"/>
                  </a:lnTo>
                  <a:lnTo>
                    <a:pt x="13" y="984"/>
                  </a:lnTo>
                  <a:close/>
                  <a:moveTo>
                    <a:pt x="13" y="1009"/>
                  </a:moveTo>
                  <a:lnTo>
                    <a:pt x="13" y="1022"/>
                  </a:lnTo>
                  <a:lnTo>
                    <a:pt x="0" y="1022"/>
                  </a:lnTo>
                  <a:lnTo>
                    <a:pt x="0" y="1009"/>
                  </a:lnTo>
                  <a:lnTo>
                    <a:pt x="13" y="1009"/>
                  </a:lnTo>
                  <a:close/>
                  <a:moveTo>
                    <a:pt x="13" y="1035"/>
                  </a:moveTo>
                  <a:lnTo>
                    <a:pt x="13" y="1048"/>
                  </a:lnTo>
                  <a:lnTo>
                    <a:pt x="0" y="1048"/>
                  </a:lnTo>
                  <a:lnTo>
                    <a:pt x="0" y="1035"/>
                  </a:lnTo>
                  <a:lnTo>
                    <a:pt x="13" y="1035"/>
                  </a:lnTo>
                  <a:close/>
                  <a:moveTo>
                    <a:pt x="13" y="1061"/>
                  </a:moveTo>
                  <a:lnTo>
                    <a:pt x="13" y="1074"/>
                  </a:lnTo>
                  <a:lnTo>
                    <a:pt x="0" y="1074"/>
                  </a:lnTo>
                  <a:lnTo>
                    <a:pt x="0" y="1061"/>
                  </a:lnTo>
                  <a:lnTo>
                    <a:pt x="13" y="1061"/>
                  </a:lnTo>
                  <a:close/>
                  <a:moveTo>
                    <a:pt x="13" y="1087"/>
                  </a:moveTo>
                  <a:lnTo>
                    <a:pt x="13" y="1100"/>
                  </a:lnTo>
                  <a:lnTo>
                    <a:pt x="0" y="1100"/>
                  </a:lnTo>
                  <a:lnTo>
                    <a:pt x="0" y="1087"/>
                  </a:lnTo>
                  <a:lnTo>
                    <a:pt x="13" y="1087"/>
                  </a:lnTo>
                  <a:close/>
                  <a:moveTo>
                    <a:pt x="13" y="1113"/>
                  </a:moveTo>
                  <a:lnTo>
                    <a:pt x="13" y="1126"/>
                  </a:lnTo>
                  <a:lnTo>
                    <a:pt x="0" y="1126"/>
                  </a:lnTo>
                  <a:lnTo>
                    <a:pt x="0" y="1113"/>
                  </a:lnTo>
                  <a:lnTo>
                    <a:pt x="13" y="1113"/>
                  </a:lnTo>
                  <a:close/>
                  <a:moveTo>
                    <a:pt x="13" y="1139"/>
                  </a:moveTo>
                  <a:lnTo>
                    <a:pt x="13" y="1152"/>
                  </a:lnTo>
                  <a:lnTo>
                    <a:pt x="0" y="1152"/>
                  </a:lnTo>
                  <a:lnTo>
                    <a:pt x="0" y="1139"/>
                  </a:lnTo>
                  <a:lnTo>
                    <a:pt x="13" y="1139"/>
                  </a:lnTo>
                  <a:close/>
                  <a:moveTo>
                    <a:pt x="13" y="1165"/>
                  </a:moveTo>
                  <a:lnTo>
                    <a:pt x="13" y="1178"/>
                  </a:lnTo>
                  <a:lnTo>
                    <a:pt x="0" y="1178"/>
                  </a:lnTo>
                  <a:lnTo>
                    <a:pt x="0" y="1165"/>
                  </a:lnTo>
                  <a:lnTo>
                    <a:pt x="13" y="1165"/>
                  </a:lnTo>
                  <a:close/>
                  <a:moveTo>
                    <a:pt x="13" y="1191"/>
                  </a:moveTo>
                  <a:lnTo>
                    <a:pt x="13" y="1204"/>
                  </a:lnTo>
                  <a:lnTo>
                    <a:pt x="0" y="1204"/>
                  </a:lnTo>
                  <a:lnTo>
                    <a:pt x="0" y="1191"/>
                  </a:lnTo>
                  <a:lnTo>
                    <a:pt x="13" y="1191"/>
                  </a:lnTo>
                  <a:close/>
                  <a:moveTo>
                    <a:pt x="13" y="1217"/>
                  </a:moveTo>
                  <a:lnTo>
                    <a:pt x="13" y="1230"/>
                  </a:lnTo>
                  <a:lnTo>
                    <a:pt x="0" y="1230"/>
                  </a:lnTo>
                  <a:lnTo>
                    <a:pt x="0" y="1217"/>
                  </a:lnTo>
                  <a:lnTo>
                    <a:pt x="13" y="1217"/>
                  </a:lnTo>
                  <a:close/>
                  <a:moveTo>
                    <a:pt x="13" y="1242"/>
                  </a:moveTo>
                  <a:lnTo>
                    <a:pt x="13" y="1255"/>
                  </a:lnTo>
                  <a:lnTo>
                    <a:pt x="0" y="1255"/>
                  </a:lnTo>
                  <a:lnTo>
                    <a:pt x="0" y="1242"/>
                  </a:lnTo>
                  <a:lnTo>
                    <a:pt x="13" y="1242"/>
                  </a:lnTo>
                  <a:close/>
                  <a:moveTo>
                    <a:pt x="13" y="1268"/>
                  </a:moveTo>
                  <a:lnTo>
                    <a:pt x="13" y="1281"/>
                  </a:lnTo>
                  <a:lnTo>
                    <a:pt x="0" y="1281"/>
                  </a:lnTo>
                  <a:lnTo>
                    <a:pt x="0" y="1268"/>
                  </a:lnTo>
                  <a:lnTo>
                    <a:pt x="13" y="1268"/>
                  </a:lnTo>
                  <a:close/>
                  <a:moveTo>
                    <a:pt x="13" y="1294"/>
                  </a:moveTo>
                  <a:lnTo>
                    <a:pt x="13" y="1307"/>
                  </a:lnTo>
                  <a:lnTo>
                    <a:pt x="0" y="1307"/>
                  </a:lnTo>
                  <a:lnTo>
                    <a:pt x="0" y="1294"/>
                  </a:lnTo>
                  <a:lnTo>
                    <a:pt x="13" y="1294"/>
                  </a:lnTo>
                  <a:close/>
                  <a:moveTo>
                    <a:pt x="13" y="1320"/>
                  </a:moveTo>
                  <a:lnTo>
                    <a:pt x="13" y="1333"/>
                  </a:lnTo>
                  <a:lnTo>
                    <a:pt x="0" y="1333"/>
                  </a:lnTo>
                  <a:lnTo>
                    <a:pt x="0" y="1320"/>
                  </a:lnTo>
                  <a:lnTo>
                    <a:pt x="13" y="1320"/>
                  </a:lnTo>
                  <a:close/>
                  <a:moveTo>
                    <a:pt x="13" y="1346"/>
                  </a:moveTo>
                  <a:lnTo>
                    <a:pt x="13" y="1359"/>
                  </a:lnTo>
                  <a:lnTo>
                    <a:pt x="0" y="1359"/>
                  </a:lnTo>
                  <a:lnTo>
                    <a:pt x="0" y="1346"/>
                  </a:lnTo>
                  <a:lnTo>
                    <a:pt x="13" y="1346"/>
                  </a:lnTo>
                  <a:close/>
                  <a:moveTo>
                    <a:pt x="13" y="1372"/>
                  </a:moveTo>
                  <a:lnTo>
                    <a:pt x="13" y="1385"/>
                  </a:lnTo>
                  <a:lnTo>
                    <a:pt x="0" y="1385"/>
                  </a:lnTo>
                  <a:lnTo>
                    <a:pt x="0" y="1372"/>
                  </a:lnTo>
                  <a:lnTo>
                    <a:pt x="13" y="1372"/>
                  </a:lnTo>
                  <a:close/>
                  <a:moveTo>
                    <a:pt x="13" y="1398"/>
                  </a:moveTo>
                  <a:lnTo>
                    <a:pt x="13" y="1411"/>
                  </a:lnTo>
                  <a:lnTo>
                    <a:pt x="0" y="1411"/>
                  </a:lnTo>
                  <a:lnTo>
                    <a:pt x="0" y="1398"/>
                  </a:lnTo>
                  <a:lnTo>
                    <a:pt x="13" y="1398"/>
                  </a:lnTo>
                  <a:close/>
                  <a:moveTo>
                    <a:pt x="13" y="1424"/>
                  </a:moveTo>
                  <a:lnTo>
                    <a:pt x="13" y="1437"/>
                  </a:lnTo>
                  <a:lnTo>
                    <a:pt x="0" y="1437"/>
                  </a:lnTo>
                  <a:lnTo>
                    <a:pt x="0" y="1424"/>
                  </a:lnTo>
                  <a:lnTo>
                    <a:pt x="13" y="1424"/>
                  </a:lnTo>
                  <a:close/>
                  <a:moveTo>
                    <a:pt x="13" y="1450"/>
                  </a:moveTo>
                  <a:lnTo>
                    <a:pt x="13" y="1463"/>
                  </a:lnTo>
                  <a:lnTo>
                    <a:pt x="0" y="1463"/>
                  </a:lnTo>
                  <a:lnTo>
                    <a:pt x="0" y="1450"/>
                  </a:lnTo>
                  <a:lnTo>
                    <a:pt x="13" y="1450"/>
                  </a:lnTo>
                  <a:close/>
                  <a:moveTo>
                    <a:pt x="13" y="1475"/>
                  </a:moveTo>
                  <a:lnTo>
                    <a:pt x="13" y="1488"/>
                  </a:lnTo>
                  <a:lnTo>
                    <a:pt x="0" y="1488"/>
                  </a:lnTo>
                  <a:lnTo>
                    <a:pt x="0" y="1475"/>
                  </a:lnTo>
                  <a:lnTo>
                    <a:pt x="13" y="1475"/>
                  </a:lnTo>
                  <a:close/>
                  <a:moveTo>
                    <a:pt x="13" y="1501"/>
                  </a:moveTo>
                  <a:lnTo>
                    <a:pt x="13" y="1514"/>
                  </a:lnTo>
                  <a:lnTo>
                    <a:pt x="0" y="1514"/>
                  </a:lnTo>
                  <a:lnTo>
                    <a:pt x="0" y="1501"/>
                  </a:lnTo>
                  <a:lnTo>
                    <a:pt x="13" y="1501"/>
                  </a:lnTo>
                  <a:close/>
                  <a:moveTo>
                    <a:pt x="13" y="1527"/>
                  </a:moveTo>
                  <a:lnTo>
                    <a:pt x="13" y="1540"/>
                  </a:lnTo>
                  <a:lnTo>
                    <a:pt x="0" y="1540"/>
                  </a:lnTo>
                  <a:lnTo>
                    <a:pt x="0" y="1527"/>
                  </a:lnTo>
                  <a:lnTo>
                    <a:pt x="13" y="1527"/>
                  </a:lnTo>
                  <a:close/>
                  <a:moveTo>
                    <a:pt x="13" y="1553"/>
                  </a:moveTo>
                  <a:lnTo>
                    <a:pt x="13" y="1566"/>
                  </a:lnTo>
                  <a:lnTo>
                    <a:pt x="0" y="1566"/>
                  </a:lnTo>
                  <a:lnTo>
                    <a:pt x="0" y="1553"/>
                  </a:lnTo>
                  <a:lnTo>
                    <a:pt x="13" y="1553"/>
                  </a:lnTo>
                  <a:close/>
                  <a:moveTo>
                    <a:pt x="13" y="1579"/>
                  </a:moveTo>
                  <a:lnTo>
                    <a:pt x="13" y="1592"/>
                  </a:lnTo>
                  <a:lnTo>
                    <a:pt x="0" y="1592"/>
                  </a:lnTo>
                  <a:lnTo>
                    <a:pt x="0" y="1579"/>
                  </a:lnTo>
                  <a:lnTo>
                    <a:pt x="13" y="1579"/>
                  </a:lnTo>
                  <a:close/>
                  <a:moveTo>
                    <a:pt x="13" y="1605"/>
                  </a:moveTo>
                  <a:lnTo>
                    <a:pt x="13" y="1618"/>
                  </a:lnTo>
                  <a:lnTo>
                    <a:pt x="0" y="1618"/>
                  </a:lnTo>
                  <a:lnTo>
                    <a:pt x="0" y="1605"/>
                  </a:lnTo>
                  <a:lnTo>
                    <a:pt x="13" y="1605"/>
                  </a:lnTo>
                  <a:close/>
                  <a:moveTo>
                    <a:pt x="13" y="1631"/>
                  </a:moveTo>
                  <a:lnTo>
                    <a:pt x="13" y="1644"/>
                  </a:lnTo>
                  <a:lnTo>
                    <a:pt x="0" y="1644"/>
                  </a:lnTo>
                  <a:lnTo>
                    <a:pt x="0" y="1631"/>
                  </a:lnTo>
                  <a:lnTo>
                    <a:pt x="13" y="1631"/>
                  </a:lnTo>
                  <a:close/>
                  <a:moveTo>
                    <a:pt x="13" y="1657"/>
                  </a:moveTo>
                  <a:lnTo>
                    <a:pt x="13" y="1670"/>
                  </a:lnTo>
                  <a:lnTo>
                    <a:pt x="0" y="1670"/>
                  </a:lnTo>
                  <a:lnTo>
                    <a:pt x="0" y="1657"/>
                  </a:lnTo>
                  <a:lnTo>
                    <a:pt x="13" y="1657"/>
                  </a:lnTo>
                  <a:close/>
                  <a:moveTo>
                    <a:pt x="13" y="1683"/>
                  </a:moveTo>
                  <a:lnTo>
                    <a:pt x="13" y="1696"/>
                  </a:lnTo>
                  <a:lnTo>
                    <a:pt x="0" y="1696"/>
                  </a:lnTo>
                  <a:lnTo>
                    <a:pt x="0" y="1683"/>
                  </a:lnTo>
                  <a:lnTo>
                    <a:pt x="13" y="1683"/>
                  </a:lnTo>
                  <a:close/>
                  <a:moveTo>
                    <a:pt x="13" y="1708"/>
                  </a:moveTo>
                  <a:lnTo>
                    <a:pt x="13" y="1721"/>
                  </a:lnTo>
                  <a:lnTo>
                    <a:pt x="0" y="1721"/>
                  </a:lnTo>
                  <a:lnTo>
                    <a:pt x="0" y="1708"/>
                  </a:lnTo>
                  <a:lnTo>
                    <a:pt x="13" y="1708"/>
                  </a:lnTo>
                  <a:close/>
                  <a:moveTo>
                    <a:pt x="13" y="1734"/>
                  </a:moveTo>
                  <a:lnTo>
                    <a:pt x="13" y="1747"/>
                  </a:lnTo>
                  <a:lnTo>
                    <a:pt x="0" y="1747"/>
                  </a:lnTo>
                  <a:lnTo>
                    <a:pt x="0" y="1734"/>
                  </a:lnTo>
                  <a:lnTo>
                    <a:pt x="13" y="1734"/>
                  </a:lnTo>
                  <a:close/>
                  <a:moveTo>
                    <a:pt x="13" y="1760"/>
                  </a:moveTo>
                  <a:lnTo>
                    <a:pt x="13" y="1773"/>
                  </a:lnTo>
                  <a:lnTo>
                    <a:pt x="0" y="1773"/>
                  </a:lnTo>
                  <a:lnTo>
                    <a:pt x="0" y="1760"/>
                  </a:lnTo>
                  <a:lnTo>
                    <a:pt x="13" y="1760"/>
                  </a:lnTo>
                  <a:close/>
                  <a:moveTo>
                    <a:pt x="13" y="1786"/>
                  </a:moveTo>
                  <a:lnTo>
                    <a:pt x="13" y="1799"/>
                  </a:lnTo>
                  <a:lnTo>
                    <a:pt x="0" y="1799"/>
                  </a:lnTo>
                  <a:lnTo>
                    <a:pt x="0" y="1786"/>
                  </a:lnTo>
                  <a:lnTo>
                    <a:pt x="13" y="1786"/>
                  </a:lnTo>
                  <a:close/>
                  <a:moveTo>
                    <a:pt x="13" y="1812"/>
                  </a:moveTo>
                  <a:lnTo>
                    <a:pt x="13" y="1825"/>
                  </a:lnTo>
                  <a:lnTo>
                    <a:pt x="0" y="1825"/>
                  </a:lnTo>
                  <a:lnTo>
                    <a:pt x="0" y="1812"/>
                  </a:lnTo>
                  <a:lnTo>
                    <a:pt x="13" y="1812"/>
                  </a:lnTo>
                  <a:close/>
                  <a:moveTo>
                    <a:pt x="13" y="1838"/>
                  </a:moveTo>
                  <a:lnTo>
                    <a:pt x="13" y="1851"/>
                  </a:lnTo>
                  <a:lnTo>
                    <a:pt x="0" y="1851"/>
                  </a:lnTo>
                  <a:lnTo>
                    <a:pt x="0" y="1838"/>
                  </a:lnTo>
                  <a:lnTo>
                    <a:pt x="13" y="1838"/>
                  </a:lnTo>
                  <a:close/>
                  <a:moveTo>
                    <a:pt x="13" y="1864"/>
                  </a:moveTo>
                  <a:lnTo>
                    <a:pt x="13" y="1877"/>
                  </a:lnTo>
                  <a:lnTo>
                    <a:pt x="0" y="1877"/>
                  </a:lnTo>
                  <a:lnTo>
                    <a:pt x="0" y="1864"/>
                  </a:lnTo>
                  <a:lnTo>
                    <a:pt x="13" y="1864"/>
                  </a:lnTo>
                  <a:close/>
                  <a:moveTo>
                    <a:pt x="13" y="1890"/>
                  </a:moveTo>
                  <a:lnTo>
                    <a:pt x="13" y="1903"/>
                  </a:lnTo>
                  <a:lnTo>
                    <a:pt x="0" y="1903"/>
                  </a:lnTo>
                  <a:lnTo>
                    <a:pt x="0" y="1890"/>
                  </a:lnTo>
                  <a:lnTo>
                    <a:pt x="13" y="1890"/>
                  </a:lnTo>
                  <a:close/>
                  <a:moveTo>
                    <a:pt x="13" y="1916"/>
                  </a:moveTo>
                  <a:lnTo>
                    <a:pt x="13" y="1929"/>
                  </a:lnTo>
                  <a:lnTo>
                    <a:pt x="0" y="1929"/>
                  </a:lnTo>
                  <a:lnTo>
                    <a:pt x="0" y="1916"/>
                  </a:lnTo>
                  <a:lnTo>
                    <a:pt x="13" y="1916"/>
                  </a:lnTo>
                  <a:close/>
                  <a:moveTo>
                    <a:pt x="13" y="1941"/>
                  </a:moveTo>
                  <a:lnTo>
                    <a:pt x="13" y="1954"/>
                  </a:lnTo>
                  <a:lnTo>
                    <a:pt x="0" y="1954"/>
                  </a:lnTo>
                  <a:lnTo>
                    <a:pt x="0" y="1941"/>
                  </a:lnTo>
                  <a:lnTo>
                    <a:pt x="13" y="1941"/>
                  </a:lnTo>
                  <a:close/>
                  <a:moveTo>
                    <a:pt x="13" y="1967"/>
                  </a:moveTo>
                  <a:lnTo>
                    <a:pt x="13" y="1980"/>
                  </a:lnTo>
                  <a:lnTo>
                    <a:pt x="0" y="1980"/>
                  </a:lnTo>
                  <a:lnTo>
                    <a:pt x="0" y="1967"/>
                  </a:lnTo>
                  <a:lnTo>
                    <a:pt x="13" y="1967"/>
                  </a:lnTo>
                  <a:close/>
                  <a:moveTo>
                    <a:pt x="13" y="1993"/>
                  </a:moveTo>
                  <a:lnTo>
                    <a:pt x="13" y="2006"/>
                  </a:lnTo>
                  <a:lnTo>
                    <a:pt x="0" y="2006"/>
                  </a:lnTo>
                  <a:lnTo>
                    <a:pt x="0" y="1993"/>
                  </a:lnTo>
                  <a:lnTo>
                    <a:pt x="13" y="1993"/>
                  </a:lnTo>
                  <a:close/>
                  <a:moveTo>
                    <a:pt x="13" y="2019"/>
                  </a:moveTo>
                  <a:lnTo>
                    <a:pt x="13" y="2032"/>
                  </a:lnTo>
                  <a:lnTo>
                    <a:pt x="0" y="2032"/>
                  </a:lnTo>
                  <a:lnTo>
                    <a:pt x="0" y="2019"/>
                  </a:lnTo>
                  <a:lnTo>
                    <a:pt x="13" y="2019"/>
                  </a:lnTo>
                  <a:close/>
                  <a:moveTo>
                    <a:pt x="13" y="2045"/>
                  </a:moveTo>
                  <a:lnTo>
                    <a:pt x="13" y="2058"/>
                  </a:lnTo>
                  <a:lnTo>
                    <a:pt x="0" y="2058"/>
                  </a:lnTo>
                  <a:lnTo>
                    <a:pt x="0" y="2045"/>
                  </a:lnTo>
                  <a:lnTo>
                    <a:pt x="13" y="2045"/>
                  </a:lnTo>
                  <a:close/>
                  <a:moveTo>
                    <a:pt x="13" y="2071"/>
                  </a:moveTo>
                  <a:lnTo>
                    <a:pt x="13" y="2084"/>
                  </a:lnTo>
                  <a:lnTo>
                    <a:pt x="0" y="2084"/>
                  </a:lnTo>
                  <a:lnTo>
                    <a:pt x="0" y="2071"/>
                  </a:lnTo>
                  <a:lnTo>
                    <a:pt x="13" y="2071"/>
                  </a:lnTo>
                  <a:close/>
                  <a:moveTo>
                    <a:pt x="13" y="2097"/>
                  </a:moveTo>
                  <a:lnTo>
                    <a:pt x="13" y="2110"/>
                  </a:lnTo>
                  <a:lnTo>
                    <a:pt x="0" y="2110"/>
                  </a:lnTo>
                  <a:lnTo>
                    <a:pt x="0" y="2097"/>
                  </a:lnTo>
                  <a:lnTo>
                    <a:pt x="13" y="2097"/>
                  </a:lnTo>
                  <a:close/>
                  <a:moveTo>
                    <a:pt x="13" y="2123"/>
                  </a:moveTo>
                  <a:lnTo>
                    <a:pt x="13" y="2136"/>
                  </a:lnTo>
                  <a:lnTo>
                    <a:pt x="0" y="2136"/>
                  </a:lnTo>
                  <a:lnTo>
                    <a:pt x="0" y="2123"/>
                  </a:lnTo>
                  <a:lnTo>
                    <a:pt x="13" y="2123"/>
                  </a:lnTo>
                  <a:close/>
                  <a:moveTo>
                    <a:pt x="13" y="2149"/>
                  </a:moveTo>
                  <a:lnTo>
                    <a:pt x="13" y="2162"/>
                  </a:lnTo>
                  <a:lnTo>
                    <a:pt x="0" y="2162"/>
                  </a:lnTo>
                  <a:lnTo>
                    <a:pt x="0" y="2149"/>
                  </a:lnTo>
                  <a:lnTo>
                    <a:pt x="13" y="2149"/>
                  </a:lnTo>
                  <a:close/>
                  <a:moveTo>
                    <a:pt x="13" y="2174"/>
                  </a:moveTo>
                  <a:lnTo>
                    <a:pt x="13" y="2187"/>
                  </a:lnTo>
                  <a:lnTo>
                    <a:pt x="0" y="2187"/>
                  </a:lnTo>
                  <a:lnTo>
                    <a:pt x="0" y="2174"/>
                  </a:lnTo>
                  <a:lnTo>
                    <a:pt x="13" y="2174"/>
                  </a:lnTo>
                  <a:close/>
                  <a:moveTo>
                    <a:pt x="13" y="2200"/>
                  </a:moveTo>
                  <a:lnTo>
                    <a:pt x="13" y="2213"/>
                  </a:lnTo>
                  <a:lnTo>
                    <a:pt x="0" y="2213"/>
                  </a:lnTo>
                  <a:lnTo>
                    <a:pt x="0" y="2200"/>
                  </a:lnTo>
                  <a:lnTo>
                    <a:pt x="13" y="2200"/>
                  </a:lnTo>
                  <a:close/>
                  <a:moveTo>
                    <a:pt x="13" y="2226"/>
                  </a:moveTo>
                  <a:lnTo>
                    <a:pt x="13" y="2239"/>
                  </a:lnTo>
                  <a:lnTo>
                    <a:pt x="0" y="2239"/>
                  </a:lnTo>
                  <a:lnTo>
                    <a:pt x="0" y="2226"/>
                  </a:lnTo>
                  <a:lnTo>
                    <a:pt x="13" y="2226"/>
                  </a:lnTo>
                  <a:close/>
                  <a:moveTo>
                    <a:pt x="13" y="2252"/>
                  </a:moveTo>
                  <a:lnTo>
                    <a:pt x="13" y="2265"/>
                  </a:lnTo>
                  <a:lnTo>
                    <a:pt x="0" y="2265"/>
                  </a:lnTo>
                  <a:lnTo>
                    <a:pt x="0" y="2252"/>
                  </a:lnTo>
                  <a:lnTo>
                    <a:pt x="13" y="2252"/>
                  </a:lnTo>
                  <a:close/>
                  <a:moveTo>
                    <a:pt x="13" y="2278"/>
                  </a:moveTo>
                  <a:lnTo>
                    <a:pt x="13" y="2281"/>
                  </a:lnTo>
                  <a:lnTo>
                    <a:pt x="0" y="2281"/>
                  </a:lnTo>
                  <a:lnTo>
                    <a:pt x="0" y="2278"/>
                  </a:lnTo>
                  <a:lnTo>
                    <a:pt x="13" y="2278"/>
                  </a:lnTo>
                  <a:close/>
                </a:path>
              </a:pathLst>
            </a:custGeom>
            <a:solidFill>
              <a:srgbClr val="000000"/>
            </a:solidFill>
            <a:ln w="0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8" name="Freeform 32">
              <a:extLst>
                <a:ext uri="{FF2B5EF4-FFF2-40B4-BE49-F238E27FC236}">
                  <a16:creationId xmlns:a16="http://schemas.microsoft.com/office/drawing/2014/main" id="{22FD626C-1680-40AF-8992-ACCCFE39DBE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416" y="1978"/>
              <a:ext cx="13" cy="2281"/>
            </a:xfrm>
            <a:custGeom>
              <a:avLst/>
              <a:gdLst>
                <a:gd name="T0" fmla="*/ 13 w 13"/>
                <a:gd name="T1" fmla="*/ 39 h 2281"/>
                <a:gd name="T2" fmla="*/ 0 w 13"/>
                <a:gd name="T3" fmla="*/ 52 h 2281"/>
                <a:gd name="T4" fmla="*/ 13 w 13"/>
                <a:gd name="T5" fmla="*/ 104 h 2281"/>
                <a:gd name="T6" fmla="*/ 0 w 13"/>
                <a:gd name="T7" fmla="*/ 142 h 2281"/>
                <a:gd name="T8" fmla="*/ 13 w 13"/>
                <a:gd name="T9" fmla="*/ 155 h 2281"/>
                <a:gd name="T10" fmla="*/ 13 w 13"/>
                <a:gd name="T11" fmla="*/ 220 h 2281"/>
                <a:gd name="T12" fmla="*/ 0 w 13"/>
                <a:gd name="T13" fmla="*/ 233 h 2281"/>
                <a:gd name="T14" fmla="*/ 13 w 13"/>
                <a:gd name="T15" fmla="*/ 285 h 2281"/>
                <a:gd name="T16" fmla="*/ 0 w 13"/>
                <a:gd name="T17" fmla="*/ 323 h 2281"/>
                <a:gd name="T18" fmla="*/ 13 w 13"/>
                <a:gd name="T19" fmla="*/ 337 h 2281"/>
                <a:gd name="T20" fmla="*/ 13 w 13"/>
                <a:gd name="T21" fmla="*/ 401 h 2281"/>
                <a:gd name="T22" fmla="*/ 0 w 13"/>
                <a:gd name="T23" fmla="*/ 414 h 2281"/>
                <a:gd name="T24" fmla="*/ 13 w 13"/>
                <a:gd name="T25" fmla="*/ 466 h 2281"/>
                <a:gd name="T26" fmla="*/ 0 w 13"/>
                <a:gd name="T27" fmla="*/ 505 h 2281"/>
                <a:gd name="T28" fmla="*/ 13 w 13"/>
                <a:gd name="T29" fmla="*/ 518 h 2281"/>
                <a:gd name="T30" fmla="*/ 13 w 13"/>
                <a:gd name="T31" fmla="*/ 582 h 2281"/>
                <a:gd name="T32" fmla="*/ 0 w 13"/>
                <a:gd name="T33" fmla="*/ 595 h 2281"/>
                <a:gd name="T34" fmla="*/ 13 w 13"/>
                <a:gd name="T35" fmla="*/ 647 h 2281"/>
                <a:gd name="T36" fmla="*/ 0 w 13"/>
                <a:gd name="T37" fmla="*/ 686 h 2281"/>
                <a:gd name="T38" fmla="*/ 13 w 13"/>
                <a:gd name="T39" fmla="*/ 699 h 2281"/>
                <a:gd name="T40" fmla="*/ 13 w 13"/>
                <a:gd name="T41" fmla="*/ 764 h 2281"/>
                <a:gd name="T42" fmla="*/ 0 w 13"/>
                <a:gd name="T43" fmla="*/ 776 h 2281"/>
                <a:gd name="T44" fmla="*/ 13 w 13"/>
                <a:gd name="T45" fmla="*/ 828 h 2281"/>
                <a:gd name="T46" fmla="*/ 0 w 13"/>
                <a:gd name="T47" fmla="*/ 867 h 2281"/>
                <a:gd name="T48" fmla="*/ 13 w 13"/>
                <a:gd name="T49" fmla="*/ 880 h 2281"/>
                <a:gd name="T50" fmla="*/ 13 w 13"/>
                <a:gd name="T51" fmla="*/ 945 h 2281"/>
                <a:gd name="T52" fmla="*/ 0 w 13"/>
                <a:gd name="T53" fmla="*/ 958 h 2281"/>
                <a:gd name="T54" fmla="*/ 13 w 13"/>
                <a:gd name="T55" fmla="*/ 1009 h 2281"/>
                <a:gd name="T56" fmla="*/ 0 w 13"/>
                <a:gd name="T57" fmla="*/ 1048 h 2281"/>
                <a:gd name="T58" fmla="*/ 13 w 13"/>
                <a:gd name="T59" fmla="*/ 1061 h 2281"/>
                <a:gd name="T60" fmla="*/ 13 w 13"/>
                <a:gd name="T61" fmla="*/ 1126 h 2281"/>
                <a:gd name="T62" fmla="*/ 0 w 13"/>
                <a:gd name="T63" fmla="*/ 1139 h 2281"/>
                <a:gd name="T64" fmla="*/ 13 w 13"/>
                <a:gd name="T65" fmla="*/ 1191 h 2281"/>
                <a:gd name="T66" fmla="*/ 0 w 13"/>
                <a:gd name="T67" fmla="*/ 1230 h 2281"/>
                <a:gd name="T68" fmla="*/ 13 w 13"/>
                <a:gd name="T69" fmla="*/ 1242 h 2281"/>
                <a:gd name="T70" fmla="*/ 13 w 13"/>
                <a:gd name="T71" fmla="*/ 1307 h 2281"/>
                <a:gd name="T72" fmla="*/ 0 w 13"/>
                <a:gd name="T73" fmla="*/ 1320 h 2281"/>
                <a:gd name="T74" fmla="*/ 13 w 13"/>
                <a:gd name="T75" fmla="*/ 1372 h 2281"/>
                <a:gd name="T76" fmla="*/ 0 w 13"/>
                <a:gd name="T77" fmla="*/ 1411 h 2281"/>
                <a:gd name="T78" fmla="*/ 13 w 13"/>
                <a:gd name="T79" fmla="*/ 1424 h 2281"/>
                <a:gd name="T80" fmla="*/ 13 w 13"/>
                <a:gd name="T81" fmla="*/ 1488 h 2281"/>
                <a:gd name="T82" fmla="*/ 0 w 13"/>
                <a:gd name="T83" fmla="*/ 1501 h 2281"/>
                <a:gd name="T84" fmla="*/ 13 w 13"/>
                <a:gd name="T85" fmla="*/ 1553 h 2281"/>
                <a:gd name="T86" fmla="*/ 0 w 13"/>
                <a:gd name="T87" fmla="*/ 1592 h 2281"/>
                <a:gd name="T88" fmla="*/ 13 w 13"/>
                <a:gd name="T89" fmla="*/ 1605 h 2281"/>
                <a:gd name="T90" fmla="*/ 13 w 13"/>
                <a:gd name="T91" fmla="*/ 1670 h 2281"/>
                <a:gd name="T92" fmla="*/ 0 w 13"/>
                <a:gd name="T93" fmla="*/ 1683 h 2281"/>
                <a:gd name="T94" fmla="*/ 13 w 13"/>
                <a:gd name="T95" fmla="*/ 1734 h 2281"/>
                <a:gd name="T96" fmla="*/ 0 w 13"/>
                <a:gd name="T97" fmla="*/ 1773 h 2281"/>
                <a:gd name="T98" fmla="*/ 13 w 13"/>
                <a:gd name="T99" fmla="*/ 1786 h 2281"/>
                <a:gd name="T100" fmla="*/ 13 w 13"/>
                <a:gd name="T101" fmla="*/ 1851 h 2281"/>
                <a:gd name="T102" fmla="*/ 0 w 13"/>
                <a:gd name="T103" fmla="*/ 1864 h 2281"/>
                <a:gd name="T104" fmla="*/ 13 w 13"/>
                <a:gd name="T105" fmla="*/ 1916 h 2281"/>
                <a:gd name="T106" fmla="*/ 0 w 13"/>
                <a:gd name="T107" fmla="*/ 1954 h 2281"/>
                <a:gd name="T108" fmla="*/ 13 w 13"/>
                <a:gd name="T109" fmla="*/ 1967 h 2281"/>
                <a:gd name="T110" fmla="*/ 13 w 13"/>
                <a:gd name="T111" fmla="*/ 2032 h 2281"/>
                <a:gd name="T112" fmla="*/ 0 w 13"/>
                <a:gd name="T113" fmla="*/ 2045 h 2281"/>
                <a:gd name="T114" fmla="*/ 13 w 13"/>
                <a:gd name="T115" fmla="*/ 2097 h 2281"/>
                <a:gd name="T116" fmla="*/ 0 w 13"/>
                <a:gd name="T117" fmla="*/ 2136 h 2281"/>
                <a:gd name="T118" fmla="*/ 13 w 13"/>
                <a:gd name="T119" fmla="*/ 2149 h 2281"/>
                <a:gd name="T120" fmla="*/ 13 w 13"/>
                <a:gd name="T121" fmla="*/ 2213 h 2281"/>
                <a:gd name="T122" fmla="*/ 0 w 13"/>
                <a:gd name="T123" fmla="*/ 2226 h 2281"/>
                <a:gd name="T124" fmla="*/ 13 w 13"/>
                <a:gd name="T125" fmla="*/ 2278 h 22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3" h="2281">
                  <a:moveTo>
                    <a:pt x="13" y="0"/>
                  </a:moveTo>
                  <a:lnTo>
                    <a:pt x="13" y="13"/>
                  </a:lnTo>
                  <a:lnTo>
                    <a:pt x="0" y="13"/>
                  </a:lnTo>
                  <a:lnTo>
                    <a:pt x="0" y="0"/>
                  </a:lnTo>
                  <a:lnTo>
                    <a:pt x="13" y="0"/>
                  </a:lnTo>
                  <a:close/>
                  <a:moveTo>
                    <a:pt x="13" y="26"/>
                  </a:moveTo>
                  <a:lnTo>
                    <a:pt x="13" y="39"/>
                  </a:lnTo>
                  <a:lnTo>
                    <a:pt x="0" y="39"/>
                  </a:lnTo>
                  <a:lnTo>
                    <a:pt x="0" y="26"/>
                  </a:lnTo>
                  <a:lnTo>
                    <a:pt x="13" y="26"/>
                  </a:lnTo>
                  <a:close/>
                  <a:moveTo>
                    <a:pt x="13" y="52"/>
                  </a:moveTo>
                  <a:lnTo>
                    <a:pt x="13" y="65"/>
                  </a:lnTo>
                  <a:lnTo>
                    <a:pt x="0" y="65"/>
                  </a:lnTo>
                  <a:lnTo>
                    <a:pt x="0" y="52"/>
                  </a:lnTo>
                  <a:lnTo>
                    <a:pt x="13" y="52"/>
                  </a:lnTo>
                  <a:close/>
                  <a:moveTo>
                    <a:pt x="13" y="77"/>
                  </a:moveTo>
                  <a:lnTo>
                    <a:pt x="13" y="90"/>
                  </a:lnTo>
                  <a:lnTo>
                    <a:pt x="0" y="90"/>
                  </a:lnTo>
                  <a:lnTo>
                    <a:pt x="0" y="77"/>
                  </a:lnTo>
                  <a:lnTo>
                    <a:pt x="13" y="77"/>
                  </a:lnTo>
                  <a:close/>
                  <a:moveTo>
                    <a:pt x="13" y="104"/>
                  </a:moveTo>
                  <a:lnTo>
                    <a:pt x="13" y="116"/>
                  </a:lnTo>
                  <a:lnTo>
                    <a:pt x="0" y="116"/>
                  </a:lnTo>
                  <a:lnTo>
                    <a:pt x="0" y="104"/>
                  </a:lnTo>
                  <a:lnTo>
                    <a:pt x="13" y="104"/>
                  </a:lnTo>
                  <a:close/>
                  <a:moveTo>
                    <a:pt x="13" y="129"/>
                  </a:moveTo>
                  <a:lnTo>
                    <a:pt x="13" y="142"/>
                  </a:lnTo>
                  <a:lnTo>
                    <a:pt x="0" y="142"/>
                  </a:lnTo>
                  <a:lnTo>
                    <a:pt x="0" y="129"/>
                  </a:lnTo>
                  <a:lnTo>
                    <a:pt x="13" y="129"/>
                  </a:lnTo>
                  <a:close/>
                  <a:moveTo>
                    <a:pt x="13" y="155"/>
                  </a:moveTo>
                  <a:lnTo>
                    <a:pt x="13" y="168"/>
                  </a:lnTo>
                  <a:lnTo>
                    <a:pt x="0" y="168"/>
                  </a:lnTo>
                  <a:lnTo>
                    <a:pt x="0" y="155"/>
                  </a:lnTo>
                  <a:lnTo>
                    <a:pt x="13" y="155"/>
                  </a:lnTo>
                  <a:close/>
                  <a:moveTo>
                    <a:pt x="13" y="181"/>
                  </a:moveTo>
                  <a:lnTo>
                    <a:pt x="13" y="194"/>
                  </a:lnTo>
                  <a:lnTo>
                    <a:pt x="0" y="194"/>
                  </a:lnTo>
                  <a:lnTo>
                    <a:pt x="0" y="181"/>
                  </a:lnTo>
                  <a:lnTo>
                    <a:pt x="13" y="181"/>
                  </a:lnTo>
                  <a:close/>
                  <a:moveTo>
                    <a:pt x="13" y="207"/>
                  </a:moveTo>
                  <a:lnTo>
                    <a:pt x="13" y="220"/>
                  </a:lnTo>
                  <a:lnTo>
                    <a:pt x="0" y="220"/>
                  </a:lnTo>
                  <a:lnTo>
                    <a:pt x="0" y="207"/>
                  </a:lnTo>
                  <a:lnTo>
                    <a:pt x="13" y="207"/>
                  </a:lnTo>
                  <a:close/>
                  <a:moveTo>
                    <a:pt x="13" y="233"/>
                  </a:moveTo>
                  <a:lnTo>
                    <a:pt x="13" y="246"/>
                  </a:lnTo>
                  <a:lnTo>
                    <a:pt x="0" y="246"/>
                  </a:lnTo>
                  <a:lnTo>
                    <a:pt x="0" y="233"/>
                  </a:lnTo>
                  <a:lnTo>
                    <a:pt x="13" y="233"/>
                  </a:lnTo>
                  <a:close/>
                  <a:moveTo>
                    <a:pt x="13" y="259"/>
                  </a:moveTo>
                  <a:lnTo>
                    <a:pt x="13" y="272"/>
                  </a:lnTo>
                  <a:lnTo>
                    <a:pt x="0" y="272"/>
                  </a:lnTo>
                  <a:lnTo>
                    <a:pt x="0" y="259"/>
                  </a:lnTo>
                  <a:lnTo>
                    <a:pt x="13" y="259"/>
                  </a:lnTo>
                  <a:close/>
                  <a:moveTo>
                    <a:pt x="13" y="285"/>
                  </a:moveTo>
                  <a:lnTo>
                    <a:pt x="13" y="298"/>
                  </a:lnTo>
                  <a:lnTo>
                    <a:pt x="0" y="298"/>
                  </a:lnTo>
                  <a:lnTo>
                    <a:pt x="0" y="285"/>
                  </a:lnTo>
                  <a:lnTo>
                    <a:pt x="13" y="285"/>
                  </a:lnTo>
                  <a:close/>
                  <a:moveTo>
                    <a:pt x="13" y="310"/>
                  </a:moveTo>
                  <a:lnTo>
                    <a:pt x="13" y="323"/>
                  </a:lnTo>
                  <a:lnTo>
                    <a:pt x="0" y="323"/>
                  </a:lnTo>
                  <a:lnTo>
                    <a:pt x="0" y="310"/>
                  </a:lnTo>
                  <a:lnTo>
                    <a:pt x="13" y="310"/>
                  </a:lnTo>
                  <a:close/>
                  <a:moveTo>
                    <a:pt x="13" y="337"/>
                  </a:moveTo>
                  <a:lnTo>
                    <a:pt x="13" y="349"/>
                  </a:lnTo>
                  <a:lnTo>
                    <a:pt x="0" y="349"/>
                  </a:lnTo>
                  <a:lnTo>
                    <a:pt x="0" y="337"/>
                  </a:lnTo>
                  <a:lnTo>
                    <a:pt x="13" y="337"/>
                  </a:lnTo>
                  <a:close/>
                  <a:moveTo>
                    <a:pt x="13" y="362"/>
                  </a:moveTo>
                  <a:lnTo>
                    <a:pt x="13" y="375"/>
                  </a:lnTo>
                  <a:lnTo>
                    <a:pt x="0" y="375"/>
                  </a:lnTo>
                  <a:lnTo>
                    <a:pt x="0" y="362"/>
                  </a:lnTo>
                  <a:lnTo>
                    <a:pt x="13" y="362"/>
                  </a:lnTo>
                  <a:close/>
                  <a:moveTo>
                    <a:pt x="13" y="388"/>
                  </a:moveTo>
                  <a:lnTo>
                    <a:pt x="13" y="401"/>
                  </a:lnTo>
                  <a:lnTo>
                    <a:pt x="0" y="401"/>
                  </a:lnTo>
                  <a:lnTo>
                    <a:pt x="0" y="388"/>
                  </a:lnTo>
                  <a:lnTo>
                    <a:pt x="13" y="388"/>
                  </a:lnTo>
                  <a:close/>
                  <a:moveTo>
                    <a:pt x="13" y="414"/>
                  </a:moveTo>
                  <a:lnTo>
                    <a:pt x="13" y="427"/>
                  </a:lnTo>
                  <a:lnTo>
                    <a:pt x="0" y="427"/>
                  </a:lnTo>
                  <a:lnTo>
                    <a:pt x="0" y="414"/>
                  </a:lnTo>
                  <a:lnTo>
                    <a:pt x="13" y="414"/>
                  </a:lnTo>
                  <a:close/>
                  <a:moveTo>
                    <a:pt x="13" y="440"/>
                  </a:moveTo>
                  <a:lnTo>
                    <a:pt x="13" y="453"/>
                  </a:lnTo>
                  <a:lnTo>
                    <a:pt x="0" y="453"/>
                  </a:lnTo>
                  <a:lnTo>
                    <a:pt x="0" y="440"/>
                  </a:lnTo>
                  <a:lnTo>
                    <a:pt x="13" y="440"/>
                  </a:lnTo>
                  <a:close/>
                  <a:moveTo>
                    <a:pt x="13" y="466"/>
                  </a:moveTo>
                  <a:lnTo>
                    <a:pt x="13" y="479"/>
                  </a:lnTo>
                  <a:lnTo>
                    <a:pt x="0" y="479"/>
                  </a:lnTo>
                  <a:lnTo>
                    <a:pt x="0" y="466"/>
                  </a:lnTo>
                  <a:lnTo>
                    <a:pt x="13" y="466"/>
                  </a:lnTo>
                  <a:close/>
                  <a:moveTo>
                    <a:pt x="13" y="492"/>
                  </a:moveTo>
                  <a:lnTo>
                    <a:pt x="13" y="505"/>
                  </a:lnTo>
                  <a:lnTo>
                    <a:pt x="0" y="505"/>
                  </a:lnTo>
                  <a:lnTo>
                    <a:pt x="0" y="492"/>
                  </a:lnTo>
                  <a:lnTo>
                    <a:pt x="13" y="492"/>
                  </a:lnTo>
                  <a:close/>
                  <a:moveTo>
                    <a:pt x="13" y="518"/>
                  </a:moveTo>
                  <a:lnTo>
                    <a:pt x="13" y="531"/>
                  </a:lnTo>
                  <a:lnTo>
                    <a:pt x="0" y="531"/>
                  </a:lnTo>
                  <a:lnTo>
                    <a:pt x="0" y="518"/>
                  </a:lnTo>
                  <a:lnTo>
                    <a:pt x="13" y="518"/>
                  </a:lnTo>
                  <a:close/>
                  <a:moveTo>
                    <a:pt x="13" y="543"/>
                  </a:moveTo>
                  <a:lnTo>
                    <a:pt x="13" y="556"/>
                  </a:lnTo>
                  <a:lnTo>
                    <a:pt x="0" y="556"/>
                  </a:lnTo>
                  <a:lnTo>
                    <a:pt x="0" y="543"/>
                  </a:lnTo>
                  <a:lnTo>
                    <a:pt x="13" y="543"/>
                  </a:lnTo>
                  <a:close/>
                  <a:moveTo>
                    <a:pt x="13" y="570"/>
                  </a:moveTo>
                  <a:lnTo>
                    <a:pt x="13" y="582"/>
                  </a:lnTo>
                  <a:lnTo>
                    <a:pt x="0" y="582"/>
                  </a:lnTo>
                  <a:lnTo>
                    <a:pt x="0" y="570"/>
                  </a:lnTo>
                  <a:lnTo>
                    <a:pt x="13" y="570"/>
                  </a:lnTo>
                  <a:close/>
                  <a:moveTo>
                    <a:pt x="13" y="595"/>
                  </a:moveTo>
                  <a:lnTo>
                    <a:pt x="13" y="608"/>
                  </a:lnTo>
                  <a:lnTo>
                    <a:pt x="0" y="608"/>
                  </a:lnTo>
                  <a:lnTo>
                    <a:pt x="0" y="595"/>
                  </a:lnTo>
                  <a:lnTo>
                    <a:pt x="13" y="595"/>
                  </a:lnTo>
                  <a:close/>
                  <a:moveTo>
                    <a:pt x="13" y="621"/>
                  </a:moveTo>
                  <a:lnTo>
                    <a:pt x="13" y="634"/>
                  </a:lnTo>
                  <a:lnTo>
                    <a:pt x="0" y="634"/>
                  </a:lnTo>
                  <a:lnTo>
                    <a:pt x="0" y="621"/>
                  </a:lnTo>
                  <a:lnTo>
                    <a:pt x="13" y="621"/>
                  </a:lnTo>
                  <a:close/>
                  <a:moveTo>
                    <a:pt x="13" y="647"/>
                  </a:moveTo>
                  <a:lnTo>
                    <a:pt x="13" y="660"/>
                  </a:lnTo>
                  <a:lnTo>
                    <a:pt x="0" y="660"/>
                  </a:lnTo>
                  <a:lnTo>
                    <a:pt x="0" y="647"/>
                  </a:lnTo>
                  <a:lnTo>
                    <a:pt x="13" y="647"/>
                  </a:lnTo>
                  <a:close/>
                  <a:moveTo>
                    <a:pt x="13" y="673"/>
                  </a:moveTo>
                  <a:lnTo>
                    <a:pt x="13" y="686"/>
                  </a:lnTo>
                  <a:lnTo>
                    <a:pt x="0" y="686"/>
                  </a:lnTo>
                  <a:lnTo>
                    <a:pt x="0" y="673"/>
                  </a:lnTo>
                  <a:lnTo>
                    <a:pt x="13" y="673"/>
                  </a:lnTo>
                  <a:close/>
                  <a:moveTo>
                    <a:pt x="13" y="699"/>
                  </a:moveTo>
                  <a:lnTo>
                    <a:pt x="13" y="712"/>
                  </a:lnTo>
                  <a:lnTo>
                    <a:pt x="0" y="712"/>
                  </a:lnTo>
                  <a:lnTo>
                    <a:pt x="0" y="699"/>
                  </a:lnTo>
                  <a:lnTo>
                    <a:pt x="13" y="699"/>
                  </a:lnTo>
                  <a:close/>
                  <a:moveTo>
                    <a:pt x="13" y="725"/>
                  </a:moveTo>
                  <a:lnTo>
                    <a:pt x="13" y="738"/>
                  </a:lnTo>
                  <a:lnTo>
                    <a:pt x="0" y="738"/>
                  </a:lnTo>
                  <a:lnTo>
                    <a:pt x="0" y="725"/>
                  </a:lnTo>
                  <a:lnTo>
                    <a:pt x="13" y="725"/>
                  </a:lnTo>
                  <a:close/>
                  <a:moveTo>
                    <a:pt x="13" y="751"/>
                  </a:moveTo>
                  <a:lnTo>
                    <a:pt x="13" y="764"/>
                  </a:lnTo>
                  <a:lnTo>
                    <a:pt x="0" y="764"/>
                  </a:lnTo>
                  <a:lnTo>
                    <a:pt x="0" y="751"/>
                  </a:lnTo>
                  <a:lnTo>
                    <a:pt x="13" y="751"/>
                  </a:lnTo>
                  <a:close/>
                  <a:moveTo>
                    <a:pt x="13" y="776"/>
                  </a:moveTo>
                  <a:lnTo>
                    <a:pt x="13" y="789"/>
                  </a:lnTo>
                  <a:lnTo>
                    <a:pt x="0" y="789"/>
                  </a:lnTo>
                  <a:lnTo>
                    <a:pt x="0" y="776"/>
                  </a:lnTo>
                  <a:lnTo>
                    <a:pt x="13" y="776"/>
                  </a:lnTo>
                  <a:close/>
                  <a:moveTo>
                    <a:pt x="13" y="802"/>
                  </a:moveTo>
                  <a:lnTo>
                    <a:pt x="13" y="815"/>
                  </a:lnTo>
                  <a:lnTo>
                    <a:pt x="0" y="815"/>
                  </a:lnTo>
                  <a:lnTo>
                    <a:pt x="0" y="802"/>
                  </a:lnTo>
                  <a:lnTo>
                    <a:pt x="13" y="802"/>
                  </a:lnTo>
                  <a:close/>
                  <a:moveTo>
                    <a:pt x="13" y="828"/>
                  </a:moveTo>
                  <a:lnTo>
                    <a:pt x="13" y="841"/>
                  </a:lnTo>
                  <a:lnTo>
                    <a:pt x="0" y="841"/>
                  </a:lnTo>
                  <a:lnTo>
                    <a:pt x="0" y="828"/>
                  </a:lnTo>
                  <a:lnTo>
                    <a:pt x="13" y="828"/>
                  </a:lnTo>
                  <a:close/>
                  <a:moveTo>
                    <a:pt x="13" y="854"/>
                  </a:moveTo>
                  <a:lnTo>
                    <a:pt x="13" y="867"/>
                  </a:lnTo>
                  <a:lnTo>
                    <a:pt x="0" y="867"/>
                  </a:lnTo>
                  <a:lnTo>
                    <a:pt x="0" y="854"/>
                  </a:lnTo>
                  <a:lnTo>
                    <a:pt x="13" y="854"/>
                  </a:lnTo>
                  <a:close/>
                  <a:moveTo>
                    <a:pt x="13" y="880"/>
                  </a:moveTo>
                  <a:lnTo>
                    <a:pt x="13" y="893"/>
                  </a:lnTo>
                  <a:lnTo>
                    <a:pt x="0" y="893"/>
                  </a:lnTo>
                  <a:lnTo>
                    <a:pt x="0" y="880"/>
                  </a:lnTo>
                  <a:lnTo>
                    <a:pt x="13" y="880"/>
                  </a:lnTo>
                  <a:close/>
                  <a:moveTo>
                    <a:pt x="13" y="906"/>
                  </a:moveTo>
                  <a:lnTo>
                    <a:pt x="13" y="919"/>
                  </a:lnTo>
                  <a:lnTo>
                    <a:pt x="0" y="919"/>
                  </a:lnTo>
                  <a:lnTo>
                    <a:pt x="0" y="906"/>
                  </a:lnTo>
                  <a:lnTo>
                    <a:pt x="13" y="906"/>
                  </a:lnTo>
                  <a:close/>
                  <a:moveTo>
                    <a:pt x="13" y="932"/>
                  </a:moveTo>
                  <a:lnTo>
                    <a:pt x="13" y="945"/>
                  </a:lnTo>
                  <a:lnTo>
                    <a:pt x="0" y="945"/>
                  </a:lnTo>
                  <a:lnTo>
                    <a:pt x="0" y="932"/>
                  </a:lnTo>
                  <a:lnTo>
                    <a:pt x="13" y="932"/>
                  </a:lnTo>
                  <a:close/>
                  <a:moveTo>
                    <a:pt x="13" y="958"/>
                  </a:moveTo>
                  <a:lnTo>
                    <a:pt x="13" y="971"/>
                  </a:lnTo>
                  <a:lnTo>
                    <a:pt x="0" y="971"/>
                  </a:lnTo>
                  <a:lnTo>
                    <a:pt x="0" y="958"/>
                  </a:lnTo>
                  <a:lnTo>
                    <a:pt x="13" y="958"/>
                  </a:lnTo>
                  <a:close/>
                  <a:moveTo>
                    <a:pt x="13" y="984"/>
                  </a:moveTo>
                  <a:lnTo>
                    <a:pt x="13" y="997"/>
                  </a:lnTo>
                  <a:lnTo>
                    <a:pt x="0" y="997"/>
                  </a:lnTo>
                  <a:lnTo>
                    <a:pt x="0" y="984"/>
                  </a:lnTo>
                  <a:lnTo>
                    <a:pt x="13" y="984"/>
                  </a:lnTo>
                  <a:close/>
                  <a:moveTo>
                    <a:pt x="13" y="1009"/>
                  </a:moveTo>
                  <a:lnTo>
                    <a:pt x="13" y="1022"/>
                  </a:lnTo>
                  <a:lnTo>
                    <a:pt x="0" y="1022"/>
                  </a:lnTo>
                  <a:lnTo>
                    <a:pt x="0" y="1009"/>
                  </a:lnTo>
                  <a:lnTo>
                    <a:pt x="13" y="1009"/>
                  </a:lnTo>
                  <a:close/>
                  <a:moveTo>
                    <a:pt x="13" y="1035"/>
                  </a:moveTo>
                  <a:lnTo>
                    <a:pt x="13" y="1048"/>
                  </a:lnTo>
                  <a:lnTo>
                    <a:pt x="0" y="1048"/>
                  </a:lnTo>
                  <a:lnTo>
                    <a:pt x="0" y="1035"/>
                  </a:lnTo>
                  <a:lnTo>
                    <a:pt x="13" y="1035"/>
                  </a:lnTo>
                  <a:close/>
                  <a:moveTo>
                    <a:pt x="13" y="1061"/>
                  </a:moveTo>
                  <a:lnTo>
                    <a:pt x="13" y="1074"/>
                  </a:lnTo>
                  <a:lnTo>
                    <a:pt x="0" y="1074"/>
                  </a:lnTo>
                  <a:lnTo>
                    <a:pt x="0" y="1061"/>
                  </a:lnTo>
                  <a:lnTo>
                    <a:pt x="13" y="1061"/>
                  </a:lnTo>
                  <a:close/>
                  <a:moveTo>
                    <a:pt x="13" y="1087"/>
                  </a:moveTo>
                  <a:lnTo>
                    <a:pt x="13" y="1100"/>
                  </a:lnTo>
                  <a:lnTo>
                    <a:pt x="0" y="1100"/>
                  </a:lnTo>
                  <a:lnTo>
                    <a:pt x="0" y="1087"/>
                  </a:lnTo>
                  <a:lnTo>
                    <a:pt x="13" y="1087"/>
                  </a:lnTo>
                  <a:close/>
                  <a:moveTo>
                    <a:pt x="13" y="1113"/>
                  </a:moveTo>
                  <a:lnTo>
                    <a:pt x="13" y="1126"/>
                  </a:lnTo>
                  <a:lnTo>
                    <a:pt x="0" y="1126"/>
                  </a:lnTo>
                  <a:lnTo>
                    <a:pt x="0" y="1113"/>
                  </a:lnTo>
                  <a:lnTo>
                    <a:pt x="13" y="1113"/>
                  </a:lnTo>
                  <a:close/>
                  <a:moveTo>
                    <a:pt x="13" y="1139"/>
                  </a:moveTo>
                  <a:lnTo>
                    <a:pt x="13" y="1152"/>
                  </a:lnTo>
                  <a:lnTo>
                    <a:pt x="0" y="1152"/>
                  </a:lnTo>
                  <a:lnTo>
                    <a:pt x="0" y="1139"/>
                  </a:lnTo>
                  <a:lnTo>
                    <a:pt x="13" y="1139"/>
                  </a:lnTo>
                  <a:close/>
                  <a:moveTo>
                    <a:pt x="13" y="1165"/>
                  </a:moveTo>
                  <a:lnTo>
                    <a:pt x="13" y="1178"/>
                  </a:lnTo>
                  <a:lnTo>
                    <a:pt x="0" y="1178"/>
                  </a:lnTo>
                  <a:lnTo>
                    <a:pt x="0" y="1165"/>
                  </a:lnTo>
                  <a:lnTo>
                    <a:pt x="13" y="1165"/>
                  </a:lnTo>
                  <a:close/>
                  <a:moveTo>
                    <a:pt x="13" y="1191"/>
                  </a:moveTo>
                  <a:lnTo>
                    <a:pt x="13" y="1204"/>
                  </a:lnTo>
                  <a:lnTo>
                    <a:pt x="0" y="1204"/>
                  </a:lnTo>
                  <a:lnTo>
                    <a:pt x="0" y="1191"/>
                  </a:lnTo>
                  <a:lnTo>
                    <a:pt x="13" y="1191"/>
                  </a:lnTo>
                  <a:close/>
                  <a:moveTo>
                    <a:pt x="13" y="1217"/>
                  </a:moveTo>
                  <a:lnTo>
                    <a:pt x="13" y="1230"/>
                  </a:lnTo>
                  <a:lnTo>
                    <a:pt x="0" y="1230"/>
                  </a:lnTo>
                  <a:lnTo>
                    <a:pt x="0" y="1217"/>
                  </a:lnTo>
                  <a:lnTo>
                    <a:pt x="13" y="1217"/>
                  </a:lnTo>
                  <a:close/>
                  <a:moveTo>
                    <a:pt x="13" y="1242"/>
                  </a:moveTo>
                  <a:lnTo>
                    <a:pt x="13" y="1255"/>
                  </a:lnTo>
                  <a:lnTo>
                    <a:pt x="0" y="1255"/>
                  </a:lnTo>
                  <a:lnTo>
                    <a:pt x="0" y="1242"/>
                  </a:lnTo>
                  <a:lnTo>
                    <a:pt x="13" y="1242"/>
                  </a:lnTo>
                  <a:close/>
                  <a:moveTo>
                    <a:pt x="13" y="1268"/>
                  </a:moveTo>
                  <a:lnTo>
                    <a:pt x="13" y="1281"/>
                  </a:lnTo>
                  <a:lnTo>
                    <a:pt x="0" y="1281"/>
                  </a:lnTo>
                  <a:lnTo>
                    <a:pt x="0" y="1268"/>
                  </a:lnTo>
                  <a:lnTo>
                    <a:pt x="13" y="1268"/>
                  </a:lnTo>
                  <a:close/>
                  <a:moveTo>
                    <a:pt x="13" y="1294"/>
                  </a:moveTo>
                  <a:lnTo>
                    <a:pt x="13" y="1307"/>
                  </a:lnTo>
                  <a:lnTo>
                    <a:pt x="0" y="1307"/>
                  </a:lnTo>
                  <a:lnTo>
                    <a:pt x="0" y="1294"/>
                  </a:lnTo>
                  <a:lnTo>
                    <a:pt x="13" y="1294"/>
                  </a:lnTo>
                  <a:close/>
                  <a:moveTo>
                    <a:pt x="13" y="1320"/>
                  </a:moveTo>
                  <a:lnTo>
                    <a:pt x="13" y="1333"/>
                  </a:lnTo>
                  <a:lnTo>
                    <a:pt x="0" y="1333"/>
                  </a:lnTo>
                  <a:lnTo>
                    <a:pt x="0" y="1320"/>
                  </a:lnTo>
                  <a:lnTo>
                    <a:pt x="13" y="1320"/>
                  </a:lnTo>
                  <a:close/>
                  <a:moveTo>
                    <a:pt x="13" y="1346"/>
                  </a:moveTo>
                  <a:lnTo>
                    <a:pt x="13" y="1359"/>
                  </a:lnTo>
                  <a:lnTo>
                    <a:pt x="0" y="1359"/>
                  </a:lnTo>
                  <a:lnTo>
                    <a:pt x="0" y="1346"/>
                  </a:lnTo>
                  <a:lnTo>
                    <a:pt x="13" y="1346"/>
                  </a:lnTo>
                  <a:close/>
                  <a:moveTo>
                    <a:pt x="13" y="1372"/>
                  </a:moveTo>
                  <a:lnTo>
                    <a:pt x="13" y="1385"/>
                  </a:lnTo>
                  <a:lnTo>
                    <a:pt x="0" y="1385"/>
                  </a:lnTo>
                  <a:lnTo>
                    <a:pt x="0" y="1372"/>
                  </a:lnTo>
                  <a:lnTo>
                    <a:pt x="13" y="1372"/>
                  </a:lnTo>
                  <a:close/>
                  <a:moveTo>
                    <a:pt x="13" y="1398"/>
                  </a:moveTo>
                  <a:lnTo>
                    <a:pt x="13" y="1411"/>
                  </a:lnTo>
                  <a:lnTo>
                    <a:pt x="0" y="1411"/>
                  </a:lnTo>
                  <a:lnTo>
                    <a:pt x="0" y="1398"/>
                  </a:lnTo>
                  <a:lnTo>
                    <a:pt x="13" y="1398"/>
                  </a:lnTo>
                  <a:close/>
                  <a:moveTo>
                    <a:pt x="13" y="1424"/>
                  </a:moveTo>
                  <a:lnTo>
                    <a:pt x="13" y="1437"/>
                  </a:lnTo>
                  <a:lnTo>
                    <a:pt x="0" y="1437"/>
                  </a:lnTo>
                  <a:lnTo>
                    <a:pt x="0" y="1424"/>
                  </a:lnTo>
                  <a:lnTo>
                    <a:pt x="13" y="1424"/>
                  </a:lnTo>
                  <a:close/>
                  <a:moveTo>
                    <a:pt x="13" y="1450"/>
                  </a:moveTo>
                  <a:lnTo>
                    <a:pt x="13" y="1463"/>
                  </a:lnTo>
                  <a:lnTo>
                    <a:pt x="0" y="1463"/>
                  </a:lnTo>
                  <a:lnTo>
                    <a:pt x="0" y="1450"/>
                  </a:lnTo>
                  <a:lnTo>
                    <a:pt x="13" y="1450"/>
                  </a:lnTo>
                  <a:close/>
                  <a:moveTo>
                    <a:pt x="13" y="1475"/>
                  </a:moveTo>
                  <a:lnTo>
                    <a:pt x="13" y="1488"/>
                  </a:lnTo>
                  <a:lnTo>
                    <a:pt x="0" y="1488"/>
                  </a:lnTo>
                  <a:lnTo>
                    <a:pt x="0" y="1475"/>
                  </a:lnTo>
                  <a:lnTo>
                    <a:pt x="13" y="1475"/>
                  </a:lnTo>
                  <a:close/>
                  <a:moveTo>
                    <a:pt x="13" y="1501"/>
                  </a:moveTo>
                  <a:lnTo>
                    <a:pt x="13" y="1514"/>
                  </a:lnTo>
                  <a:lnTo>
                    <a:pt x="0" y="1514"/>
                  </a:lnTo>
                  <a:lnTo>
                    <a:pt x="0" y="1501"/>
                  </a:lnTo>
                  <a:lnTo>
                    <a:pt x="13" y="1501"/>
                  </a:lnTo>
                  <a:close/>
                  <a:moveTo>
                    <a:pt x="13" y="1527"/>
                  </a:moveTo>
                  <a:lnTo>
                    <a:pt x="13" y="1540"/>
                  </a:lnTo>
                  <a:lnTo>
                    <a:pt x="0" y="1540"/>
                  </a:lnTo>
                  <a:lnTo>
                    <a:pt x="0" y="1527"/>
                  </a:lnTo>
                  <a:lnTo>
                    <a:pt x="13" y="1527"/>
                  </a:lnTo>
                  <a:close/>
                  <a:moveTo>
                    <a:pt x="13" y="1553"/>
                  </a:moveTo>
                  <a:lnTo>
                    <a:pt x="13" y="1566"/>
                  </a:lnTo>
                  <a:lnTo>
                    <a:pt x="0" y="1566"/>
                  </a:lnTo>
                  <a:lnTo>
                    <a:pt x="0" y="1553"/>
                  </a:lnTo>
                  <a:lnTo>
                    <a:pt x="13" y="1553"/>
                  </a:lnTo>
                  <a:close/>
                  <a:moveTo>
                    <a:pt x="13" y="1579"/>
                  </a:moveTo>
                  <a:lnTo>
                    <a:pt x="13" y="1592"/>
                  </a:lnTo>
                  <a:lnTo>
                    <a:pt x="0" y="1592"/>
                  </a:lnTo>
                  <a:lnTo>
                    <a:pt x="0" y="1579"/>
                  </a:lnTo>
                  <a:lnTo>
                    <a:pt x="13" y="1579"/>
                  </a:lnTo>
                  <a:close/>
                  <a:moveTo>
                    <a:pt x="13" y="1605"/>
                  </a:moveTo>
                  <a:lnTo>
                    <a:pt x="13" y="1618"/>
                  </a:lnTo>
                  <a:lnTo>
                    <a:pt x="0" y="1618"/>
                  </a:lnTo>
                  <a:lnTo>
                    <a:pt x="0" y="1605"/>
                  </a:lnTo>
                  <a:lnTo>
                    <a:pt x="13" y="1605"/>
                  </a:lnTo>
                  <a:close/>
                  <a:moveTo>
                    <a:pt x="13" y="1631"/>
                  </a:moveTo>
                  <a:lnTo>
                    <a:pt x="13" y="1644"/>
                  </a:lnTo>
                  <a:lnTo>
                    <a:pt x="0" y="1644"/>
                  </a:lnTo>
                  <a:lnTo>
                    <a:pt x="0" y="1631"/>
                  </a:lnTo>
                  <a:lnTo>
                    <a:pt x="13" y="1631"/>
                  </a:lnTo>
                  <a:close/>
                  <a:moveTo>
                    <a:pt x="13" y="1657"/>
                  </a:moveTo>
                  <a:lnTo>
                    <a:pt x="13" y="1670"/>
                  </a:lnTo>
                  <a:lnTo>
                    <a:pt x="0" y="1670"/>
                  </a:lnTo>
                  <a:lnTo>
                    <a:pt x="0" y="1657"/>
                  </a:lnTo>
                  <a:lnTo>
                    <a:pt x="13" y="1657"/>
                  </a:lnTo>
                  <a:close/>
                  <a:moveTo>
                    <a:pt x="13" y="1683"/>
                  </a:moveTo>
                  <a:lnTo>
                    <a:pt x="13" y="1696"/>
                  </a:lnTo>
                  <a:lnTo>
                    <a:pt x="0" y="1696"/>
                  </a:lnTo>
                  <a:lnTo>
                    <a:pt x="0" y="1683"/>
                  </a:lnTo>
                  <a:lnTo>
                    <a:pt x="13" y="1683"/>
                  </a:lnTo>
                  <a:close/>
                  <a:moveTo>
                    <a:pt x="13" y="1708"/>
                  </a:moveTo>
                  <a:lnTo>
                    <a:pt x="13" y="1721"/>
                  </a:lnTo>
                  <a:lnTo>
                    <a:pt x="0" y="1721"/>
                  </a:lnTo>
                  <a:lnTo>
                    <a:pt x="0" y="1708"/>
                  </a:lnTo>
                  <a:lnTo>
                    <a:pt x="13" y="1708"/>
                  </a:lnTo>
                  <a:close/>
                  <a:moveTo>
                    <a:pt x="13" y="1734"/>
                  </a:moveTo>
                  <a:lnTo>
                    <a:pt x="13" y="1747"/>
                  </a:lnTo>
                  <a:lnTo>
                    <a:pt x="0" y="1747"/>
                  </a:lnTo>
                  <a:lnTo>
                    <a:pt x="0" y="1734"/>
                  </a:lnTo>
                  <a:lnTo>
                    <a:pt x="13" y="1734"/>
                  </a:lnTo>
                  <a:close/>
                  <a:moveTo>
                    <a:pt x="13" y="1760"/>
                  </a:moveTo>
                  <a:lnTo>
                    <a:pt x="13" y="1773"/>
                  </a:lnTo>
                  <a:lnTo>
                    <a:pt x="0" y="1773"/>
                  </a:lnTo>
                  <a:lnTo>
                    <a:pt x="0" y="1760"/>
                  </a:lnTo>
                  <a:lnTo>
                    <a:pt x="13" y="1760"/>
                  </a:lnTo>
                  <a:close/>
                  <a:moveTo>
                    <a:pt x="13" y="1786"/>
                  </a:moveTo>
                  <a:lnTo>
                    <a:pt x="13" y="1799"/>
                  </a:lnTo>
                  <a:lnTo>
                    <a:pt x="0" y="1799"/>
                  </a:lnTo>
                  <a:lnTo>
                    <a:pt x="0" y="1786"/>
                  </a:lnTo>
                  <a:lnTo>
                    <a:pt x="13" y="1786"/>
                  </a:lnTo>
                  <a:close/>
                  <a:moveTo>
                    <a:pt x="13" y="1812"/>
                  </a:moveTo>
                  <a:lnTo>
                    <a:pt x="13" y="1825"/>
                  </a:lnTo>
                  <a:lnTo>
                    <a:pt x="0" y="1825"/>
                  </a:lnTo>
                  <a:lnTo>
                    <a:pt x="0" y="1812"/>
                  </a:lnTo>
                  <a:lnTo>
                    <a:pt x="13" y="1812"/>
                  </a:lnTo>
                  <a:close/>
                  <a:moveTo>
                    <a:pt x="13" y="1838"/>
                  </a:moveTo>
                  <a:lnTo>
                    <a:pt x="13" y="1851"/>
                  </a:lnTo>
                  <a:lnTo>
                    <a:pt x="0" y="1851"/>
                  </a:lnTo>
                  <a:lnTo>
                    <a:pt x="0" y="1838"/>
                  </a:lnTo>
                  <a:lnTo>
                    <a:pt x="13" y="1838"/>
                  </a:lnTo>
                  <a:close/>
                  <a:moveTo>
                    <a:pt x="13" y="1864"/>
                  </a:moveTo>
                  <a:lnTo>
                    <a:pt x="13" y="1877"/>
                  </a:lnTo>
                  <a:lnTo>
                    <a:pt x="0" y="1877"/>
                  </a:lnTo>
                  <a:lnTo>
                    <a:pt x="0" y="1864"/>
                  </a:lnTo>
                  <a:lnTo>
                    <a:pt x="13" y="1864"/>
                  </a:lnTo>
                  <a:close/>
                  <a:moveTo>
                    <a:pt x="13" y="1890"/>
                  </a:moveTo>
                  <a:lnTo>
                    <a:pt x="13" y="1903"/>
                  </a:lnTo>
                  <a:lnTo>
                    <a:pt x="0" y="1903"/>
                  </a:lnTo>
                  <a:lnTo>
                    <a:pt x="0" y="1890"/>
                  </a:lnTo>
                  <a:lnTo>
                    <a:pt x="13" y="1890"/>
                  </a:lnTo>
                  <a:close/>
                  <a:moveTo>
                    <a:pt x="13" y="1916"/>
                  </a:moveTo>
                  <a:lnTo>
                    <a:pt x="13" y="1929"/>
                  </a:lnTo>
                  <a:lnTo>
                    <a:pt x="0" y="1929"/>
                  </a:lnTo>
                  <a:lnTo>
                    <a:pt x="0" y="1916"/>
                  </a:lnTo>
                  <a:lnTo>
                    <a:pt x="13" y="1916"/>
                  </a:lnTo>
                  <a:close/>
                  <a:moveTo>
                    <a:pt x="13" y="1941"/>
                  </a:moveTo>
                  <a:lnTo>
                    <a:pt x="13" y="1954"/>
                  </a:lnTo>
                  <a:lnTo>
                    <a:pt x="0" y="1954"/>
                  </a:lnTo>
                  <a:lnTo>
                    <a:pt x="0" y="1941"/>
                  </a:lnTo>
                  <a:lnTo>
                    <a:pt x="13" y="1941"/>
                  </a:lnTo>
                  <a:close/>
                  <a:moveTo>
                    <a:pt x="13" y="1967"/>
                  </a:moveTo>
                  <a:lnTo>
                    <a:pt x="13" y="1980"/>
                  </a:lnTo>
                  <a:lnTo>
                    <a:pt x="0" y="1980"/>
                  </a:lnTo>
                  <a:lnTo>
                    <a:pt x="0" y="1967"/>
                  </a:lnTo>
                  <a:lnTo>
                    <a:pt x="13" y="1967"/>
                  </a:lnTo>
                  <a:close/>
                  <a:moveTo>
                    <a:pt x="13" y="1993"/>
                  </a:moveTo>
                  <a:lnTo>
                    <a:pt x="13" y="2006"/>
                  </a:lnTo>
                  <a:lnTo>
                    <a:pt x="0" y="2006"/>
                  </a:lnTo>
                  <a:lnTo>
                    <a:pt x="0" y="1993"/>
                  </a:lnTo>
                  <a:lnTo>
                    <a:pt x="13" y="1993"/>
                  </a:lnTo>
                  <a:close/>
                  <a:moveTo>
                    <a:pt x="13" y="2019"/>
                  </a:moveTo>
                  <a:lnTo>
                    <a:pt x="13" y="2032"/>
                  </a:lnTo>
                  <a:lnTo>
                    <a:pt x="0" y="2032"/>
                  </a:lnTo>
                  <a:lnTo>
                    <a:pt x="0" y="2019"/>
                  </a:lnTo>
                  <a:lnTo>
                    <a:pt x="13" y="2019"/>
                  </a:lnTo>
                  <a:close/>
                  <a:moveTo>
                    <a:pt x="13" y="2045"/>
                  </a:moveTo>
                  <a:lnTo>
                    <a:pt x="13" y="2058"/>
                  </a:lnTo>
                  <a:lnTo>
                    <a:pt x="0" y="2058"/>
                  </a:lnTo>
                  <a:lnTo>
                    <a:pt x="0" y="2045"/>
                  </a:lnTo>
                  <a:lnTo>
                    <a:pt x="13" y="2045"/>
                  </a:lnTo>
                  <a:close/>
                  <a:moveTo>
                    <a:pt x="13" y="2071"/>
                  </a:moveTo>
                  <a:lnTo>
                    <a:pt x="13" y="2084"/>
                  </a:lnTo>
                  <a:lnTo>
                    <a:pt x="0" y="2084"/>
                  </a:lnTo>
                  <a:lnTo>
                    <a:pt x="0" y="2071"/>
                  </a:lnTo>
                  <a:lnTo>
                    <a:pt x="13" y="2071"/>
                  </a:lnTo>
                  <a:close/>
                  <a:moveTo>
                    <a:pt x="13" y="2097"/>
                  </a:moveTo>
                  <a:lnTo>
                    <a:pt x="13" y="2110"/>
                  </a:lnTo>
                  <a:lnTo>
                    <a:pt x="0" y="2110"/>
                  </a:lnTo>
                  <a:lnTo>
                    <a:pt x="0" y="2097"/>
                  </a:lnTo>
                  <a:lnTo>
                    <a:pt x="13" y="2097"/>
                  </a:lnTo>
                  <a:close/>
                  <a:moveTo>
                    <a:pt x="13" y="2123"/>
                  </a:moveTo>
                  <a:lnTo>
                    <a:pt x="13" y="2136"/>
                  </a:lnTo>
                  <a:lnTo>
                    <a:pt x="0" y="2136"/>
                  </a:lnTo>
                  <a:lnTo>
                    <a:pt x="0" y="2123"/>
                  </a:lnTo>
                  <a:lnTo>
                    <a:pt x="13" y="2123"/>
                  </a:lnTo>
                  <a:close/>
                  <a:moveTo>
                    <a:pt x="13" y="2149"/>
                  </a:moveTo>
                  <a:lnTo>
                    <a:pt x="13" y="2162"/>
                  </a:lnTo>
                  <a:lnTo>
                    <a:pt x="0" y="2162"/>
                  </a:lnTo>
                  <a:lnTo>
                    <a:pt x="0" y="2149"/>
                  </a:lnTo>
                  <a:lnTo>
                    <a:pt x="13" y="2149"/>
                  </a:lnTo>
                  <a:close/>
                  <a:moveTo>
                    <a:pt x="13" y="2174"/>
                  </a:moveTo>
                  <a:lnTo>
                    <a:pt x="13" y="2187"/>
                  </a:lnTo>
                  <a:lnTo>
                    <a:pt x="0" y="2187"/>
                  </a:lnTo>
                  <a:lnTo>
                    <a:pt x="0" y="2174"/>
                  </a:lnTo>
                  <a:lnTo>
                    <a:pt x="13" y="2174"/>
                  </a:lnTo>
                  <a:close/>
                  <a:moveTo>
                    <a:pt x="13" y="2200"/>
                  </a:moveTo>
                  <a:lnTo>
                    <a:pt x="13" y="2213"/>
                  </a:lnTo>
                  <a:lnTo>
                    <a:pt x="0" y="2213"/>
                  </a:lnTo>
                  <a:lnTo>
                    <a:pt x="0" y="2200"/>
                  </a:lnTo>
                  <a:lnTo>
                    <a:pt x="13" y="2200"/>
                  </a:lnTo>
                  <a:close/>
                  <a:moveTo>
                    <a:pt x="13" y="2226"/>
                  </a:moveTo>
                  <a:lnTo>
                    <a:pt x="13" y="2239"/>
                  </a:lnTo>
                  <a:lnTo>
                    <a:pt x="0" y="2239"/>
                  </a:lnTo>
                  <a:lnTo>
                    <a:pt x="0" y="2226"/>
                  </a:lnTo>
                  <a:lnTo>
                    <a:pt x="13" y="2226"/>
                  </a:lnTo>
                  <a:close/>
                  <a:moveTo>
                    <a:pt x="13" y="2252"/>
                  </a:moveTo>
                  <a:lnTo>
                    <a:pt x="13" y="2265"/>
                  </a:lnTo>
                  <a:lnTo>
                    <a:pt x="0" y="2265"/>
                  </a:lnTo>
                  <a:lnTo>
                    <a:pt x="0" y="2252"/>
                  </a:lnTo>
                  <a:lnTo>
                    <a:pt x="13" y="2252"/>
                  </a:lnTo>
                  <a:close/>
                  <a:moveTo>
                    <a:pt x="13" y="2278"/>
                  </a:moveTo>
                  <a:lnTo>
                    <a:pt x="13" y="2281"/>
                  </a:lnTo>
                  <a:lnTo>
                    <a:pt x="0" y="2281"/>
                  </a:lnTo>
                  <a:lnTo>
                    <a:pt x="0" y="2278"/>
                  </a:lnTo>
                  <a:lnTo>
                    <a:pt x="13" y="2278"/>
                  </a:lnTo>
                  <a:close/>
                </a:path>
              </a:pathLst>
            </a:custGeom>
            <a:solidFill>
              <a:srgbClr val="000000"/>
            </a:solidFill>
            <a:ln w="0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9" name="Freeform 33">
              <a:extLst>
                <a:ext uri="{FF2B5EF4-FFF2-40B4-BE49-F238E27FC236}">
                  <a16:creationId xmlns:a16="http://schemas.microsoft.com/office/drawing/2014/main" id="{4FC36999-6D87-4078-8D2C-2F02C6A5BC7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766" y="1978"/>
              <a:ext cx="13" cy="2281"/>
            </a:xfrm>
            <a:custGeom>
              <a:avLst/>
              <a:gdLst>
                <a:gd name="T0" fmla="*/ 13 w 13"/>
                <a:gd name="T1" fmla="*/ 39 h 2281"/>
                <a:gd name="T2" fmla="*/ 0 w 13"/>
                <a:gd name="T3" fmla="*/ 52 h 2281"/>
                <a:gd name="T4" fmla="*/ 13 w 13"/>
                <a:gd name="T5" fmla="*/ 104 h 2281"/>
                <a:gd name="T6" fmla="*/ 0 w 13"/>
                <a:gd name="T7" fmla="*/ 142 h 2281"/>
                <a:gd name="T8" fmla="*/ 13 w 13"/>
                <a:gd name="T9" fmla="*/ 155 h 2281"/>
                <a:gd name="T10" fmla="*/ 13 w 13"/>
                <a:gd name="T11" fmla="*/ 220 h 2281"/>
                <a:gd name="T12" fmla="*/ 0 w 13"/>
                <a:gd name="T13" fmla="*/ 233 h 2281"/>
                <a:gd name="T14" fmla="*/ 13 w 13"/>
                <a:gd name="T15" fmla="*/ 285 h 2281"/>
                <a:gd name="T16" fmla="*/ 0 w 13"/>
                <a:gd name="T17" fmla="*/ 323 h 2281"/>
                <a:gd name="T18" fmla="*/ 13 w 13"/>
                <a:gd name="T19" fmla="*/ 337 h 2281"/>
                <a:gd name="T20" fmla="*/ 13 w 13"/>
                <a:gd name="T21" fmla="*/ 401 h 2281"/>
                <a:gd name="T22" fmla="*/ 0 w 13"/>
                <a:gd name="T23" fmla="*/ 414 h 2281"/>
                <a:gd name="T24" fmla="*/ 13 w 13"/>
                <a:gd name="T25" fmla="*/ 466 h 2281"/>
                <a:gd name="T26" fmla="*/ 0 w 13"/>
                <a:gd name="T27" fmla="*/ 505 h 2281"/>
                <a:gd name="T28" fmla="*/ 13 w 13"/>
                <a:gd name="T29" fmla="*/ 518 h 2281"/>
                <a:gd name="T30" fmla="*/ 13 w 13"/>
                <a:gd name="T31" fmla="*/ 582 h 2281"/>
                <a:gd name="T32" fmla="*/ 0 w 13"/>
                <a:gd name="T33" fmla="*/ 595 h 2281"/>
                <a:gd name="T34" fmla="*/ 13 w 13"/>
                <a:gd name="T35" fmla="*/ 647 h 2281"/>
                <a:gd name="T36" fmla="*/ 0 w 13"/>
                <a:gd name="T37" fmla="*/ 686 h 2281"/>
                <a:gd name="T38" fmla="*/ 13 w 13"/>
                <a:gd name="T39" fmla="*/ 699 h 2281"/>
                <a:gd name="T40" fmla="*/ 13 w 13"/>
                <a:gd name="T41" fmla="*/ 764 h 2281"/>
                <a:gd name="T42" fmla="*/ 0 w 13"/>
                <a:gd name="T43" fmla="*/ 776 h 2281"/>
                <a:gd name="T44" fmla="*/ 13 w 13"/>
                <a:gd name="T45" fmla="*/ 828 h 2281"/>
                <a:gd name="T46" fmla="*/ 0 w 13"/>
                <a:gd name="T47" fmla="*/ 867 h 2281"/>
                <a:gd name="T48" fmla="*/ 13 w 13"/>
                <a:gd name="T49" fmla="*/ 880 h 2281"/>
                <a:gd name="T50" fmla="*/ 13 w 13"/>
                <a:gd name="T51" fmla="*/ 945 h 2281"/>
                <a:gd name="T52" fmla="*/ 0 w 13"/>
                <a:gd name="T53" fmla="*/ 958 h 2281"/>
                <a:gd name="T54" fmla="*/ 13 w 13"/>
                <a:gd name="T55" fmla="*/ 1009 h 2281"/>
                <a:gd name="T56" fmla="*/ 0 w 13"/>
                <a:gd name="T57" fmla="*/ 1048 h 2281"/>
                <a:gd name="T58" fmla="*/ 13 w 13"/>
                <a:gd name="T59" fmla="*/ 1061 h 2281"/>
                <a:gd name="T60" fmla="*/ 13 w 13"/>
                <a:gd name="T61" fmla="*/ 1126 h 2281"/>
                <a:gd name="T62" fmla="*/ 0 w 13"/>
                <a:gd name="T63" fmla="*/ 1139 h 2281"/>
                <a:gd name="T64" fmla="*/ 13 w 13"/>
                <a:gd name="T65" fmla="*/ 1191 h 2281"/>
                <a:gd name="T66" fmla="*/ 0 w 13"/>
                <a:gd name="T67" fmla="*/ 1230 h 2281"/>
                <a:gd name="T68" fmla="*/ 13 w 13"/>
                <a:gd name="T69" fmla="*/ 1242 h 2281"/>
                <a:gd name="T70" fmla="*/ 13 w 13"/>
                <a:gd name="T71" fmla="*/ 1307 h 2281"/>
                <a:gd name="T72" fmla="*/ 0 w 13"/>
                <a:gd name="T73" fmla="*/ 1320 h 2281"/>
                <a:gd name="T74" fmla="*/ 13 w 13"/>
                <a:gd name="T75" fmla="*/ 1372 h 2281"/>
                <a:gd name="T76" fmla="*/ 0 w 13"/>
                <a:gd name="T77" fmla="*/ 1411 h 2281"/>
                <a:gd name="T78" fmla="*/ 13 w 13"/>
                <a:gd name="T79" fmla="*/ 1424 h 2281"/>
                <a:gd name="T80" fmla="*/ 13 w 13"/>
                <a:gd name="T81" fmla="*/ 1488 h 2281"/>
                <a:gd name="T82" fmla="*/ 0 w 13"/>
                <a:gd name="T83" fmla="*/ 1501 h 2281"/>
                <a:gd name="T84" fmla="*/ 13 w 13"/>
                <a:gd name="T85" fmla="*/ 1553 h 2281"/>
                <a:gd name="T86" fmla="*/ 0 w 13"/>
                <a:gd name="T87" fmla="*/ 1592 h 2281"/>
                <a:gd name="T88" fmla="*/ 13 w 13"/>
                <a:gd name="T89" fmla="*/ 1605 h 2281"/>
                <a:gd name="T90" fmla="*/ 13 w 13"/>
                <a:gd name="T91" fmla="*/ 1670 h 2281"/>
                <a:gd name="T92" fmla="*/ 0 w 13"/>
                <a:gd name="T93" fmla="*/ 1683 h 2281"/>
                <a:gd name="T94" fmla="*/ 13 w 13"/>
                <a:gd name="T95" fmla="*/ 1734 h 2281"/>
                <a:gd name="T96" fmla="*/ 0 w 13"/>
                <a:gd name="T97" fmla="*/ 1773 h 2281"/>
                <a:gd name="T98" fmla="*/ 13 w 13"/>
                <a:gd name="T99" fmla="*/ 1786 h 2281"/>
                <a:gd name="T100" fmla="*/ 13 w 13"/>
                <a:gd name="T101" fmla="*/ 1851 h 2281"/>
                <a:gd name="T102" fmla="*/ 0 w 13"/>
                <a:gd name="T103" fmla="*/ 1864 h 2281"/>
                <a:gd name="T104" fmla="*/ 13 w 13"/>
                <a:gd name="T105" fmla="*/ 1916 h 2281"/>
                <a:gd name="T106" fmla="*/ 0 w 13"/>
                <a:gd name="T107" fmla="*/ 1954 h 2281"/>
                <a:gd name="T108" fmla="*/ 13 w 13"/>
                <a:gd name="T109" fmla="*/ 1967 h 2281"/>
                <a:gd name="T110" fmla="*/ 13 w 13"/>
                <a:gd name="T111" fmla="*/ 2032 h 2281"/>
                <a:gd name="T112" fmla="*/ 0 w 13"/>
                <a:gd name="T113" fmla="*/ 2045 h 2281"/>
                <a:gd name="T114" fmla="*/ 13 w 13"/>
                <a:gd name="T115" fmla="*/ 2097 h 2281"/>
                <a:gd name="T116" fmla="*/ 0 w 13"/>
                <a:gd name="T117" fmla="*/ 2136 h 2281"/>
                <a:gd name="T118" fmla="*/ 13 w 13"/>
                <a:gd name="T119" fmla="*/ 2149 h 2281"/>
                <a:gd name="T120" fmla="*/ 13 w 13"/>
                <a:gd name="T121" fmla="*/ 2213 h 2281"/>
                <a:gd name="T122" fmla="*/ 0 w 13"/>
                <a:gd name="T123" fmla="*/ 2226 h 2281"/>
                <a:gd name="T124" fmla="*/ 13 w 13"/>
                <a:gd name="T125" fmla="*/ 2278 h 22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3" h="2281">
                  <a:moveTo>
                    <a:pt x="13" y="0"/>
                  </a:moveTo>
                  <a:lnTo>
                    <a:pt x="13" y="13"/>
                  </a:lnTo>
                  <a:lnTo>
                    <a:pt x="0" y="13"/>
                  </a:lnTo>
                  <a:lnTo>
                    <a:pt x="0" y="0"/>
                  </a:lnTo>
                  <a:lnTo>
                    <a:pt x="13" y="0"/>
                  </a:lnTo>
                  <a:close/>
                  <a:moveTo>
                    <a:pt x="13" y="26"/>
                  </a:moveTo>
                  <a:lnTo>
                    <a:pt x="13" y="39"/>
                  </a:lnTo>
                  <a:lnTo>
                    <a:pt x="0" y="39"/>
                  </a:lnTo>
                  <a:lnTo>
                    <a:pt x="0" y="26"/>
                  </a:lnTo>
                  <a:lnTo>
                    <a:pt x="13" y="26"/>
                  </a:lnTo>
                  <a:close/>
                  <a:moveTo>
                    <a:pt x="13" y="52"/>
                  </a:moveTo>
                  <a:lnTo>
                    <a:pt x="13" y="65"/>
                  </a:lnTo>
                  <a:lnTo>
                    <a:pt x="0" y="65"/>
                  </a:lnTo>
                  <a:lnTo>
                    <a:pt x="0" y="52"/>
                  </a:lnTo>
                  <a:lnTo>
                    <a:pt x="13" y="52"/>
                  </a:lnTo>
                  <a:close/>
                  <a:moveTo>
                    <a:pt x="13" y="77"/>
                  </a:moveTo>
                  <a:lnTo>
                    <a:pt x="13" y="90"/>
                  </a:lnTo>
                  <a:lnTo>
                    <a:pt x="0" y="90"/>
                  </a:lnTo>
                  <a:lnTo>
                    <a:pt x="0" y="77"/>
                  </a:lnTo>
                  <a:lnTo>
                    <a:pt x="13" y="77"/>
                  </a:lnTo>
                  <a:close/>
                  <a:moveTo>
                    <a:pt x="13" y="104"/>
                  </a:moveTo>
                  <a:lnTo>
                    <a:pt x="13" y="116"/>
                  </a:lnTo>
                  <a:lnTo>
                    <a:pt x="0" y="116"/>
                  </a:lnTo>
                  <a:lnTo>
                    <a:pt x="0" y="104"/>
                  </a:lnTo>
                  <a:lnTo>
                    <a:pt x="13" y="104"/>
                  </a:lnTo>
                  <a:close/>
                  <a:moveTo>
                    <a:pt x="13" y="129"/>
                  </a:moveTo>
                  <a:lnTo>
                    <a:pt x="13" y="142"/>
                  </a:lnTo>
                  <a:lnTo>
                    <a:pt x="0" y="142"/>
                  </a:lnTo>
                  <a:lnTo>
                    <a:pt x="0" y="129"/>
                  </a:lnTo>
                  <a:lnTo>
                    <a:pt x="13" y="129"/>
                  </a:lnTo>
                  <a:close/>
                  <a:moveTo>
                    <a:pt x="13" y="155"/>
                  </a:moveTo>
                  <a:lnTo>
                    <a:pt x="13" y="168"/>
                  </a:lnTo>
                  <a:lnTo>
                    <a:pt x="0" y="168"/>
                  </a:lnTo>
                  <a:lnTo>
                    <a:pt x="0" y="155"/>
                  </a:lnTo>
                  <a:lnTo>
                    <a:pt x="13" y="155"/>
                  </a:lnTo>
                  <a:close/>
                  <a:moveTo>
                    <a:pt x="13" y="181"/>
                  </a:moveTo>
                  <a:lnTo>
                    <a:pt x="13" y="194"/>
                  </a:lnTo>
                  <a:lnTo>
                    <a:pt x="0" y="194"/>
                  </a:lnTo>
                  <a:lnTo>
                    <a:pt x="0" y="181"/>
                  </a:lnTo>
                  <a:lnTo>
                    <a:pt x="13" y="181"/>
                  </a:lnTo>
                  <a:close/>
                  <a:moveTo>
                    <a:pt x="13" y="207"/>
                  </a:moveTo>
                  <a:lnTo>
                    <a:pt x="13" y="220"/>
                  </a:lnTo>
                  <a:lnTo>
                    <a:pt x="0" y="220"/>
                  </a:lnTo>
                  <a:lnTo>
                    <a:pt x="0" y="207"/>
                  </a:lnTo>
                  <a:lnTo>
                    <a:pt x="13" y="207"/>
                  </a:lnTo>
                  <a:close/>
                  <a:moveTo>
                    <a:pt x="13" y="233"/>
                  </a:moveTo>
                  <a:lnTo>
                    <a:pt x="13" y="246"/>
                  </a:lnTo>
                  <a:lnTo>
                    <a:pt x="0" y="246"/>
                  </a:lnTo>
                  <a:lnTo>
                    <a:pt x="0" y="233"/>
                  </a:lnTo>
                  <a:lnTo>
                    <a:pt x="13" y="233"/>
                  </a:lnTo>
                  <a:close/>
                  <a:moveTo>
                    <a:pt x="13" y="259"/>
                  </a:moveTo>
                  <a:lnTo>
                    <a:pt x="13" y="272"/>
                  </a:lnTo>
                  <a:lnTo>
                    <a:pt x="0" y="272"/>
                  </a:lnTo>
                  <a:lnTo>
                    <a:pt x="0" y="259"/>
                  </a:lnTo>
                  <a:lnTo>
                    <a:pt x="13" y="259"/>
                  </a:lnTo>
                  <a:close/>
                  <a:moveTo>
                    <a:pt x="13" y="285"/>
                  </a:moveTo>
                  <a:lnTo>
                    <a:pt x="13" y="298"/>
                  </a:lnTo>
                  <a:lnTo>
                    <a:pt x="0" y="298"/>
                  </a:lnTo>
                  <a:lnTo>
                    <a:pt x="0" y="285"/>
                  </a:lnTo>
                  <a:lnTo>
                    <a:pt x="13" y="285"/>
                  </a:lnTo>
                  <a:close/>
                  <a:moveTo>
                    <a:pt x="13" y="310"/>
                  </a:moveTo>
                  <a:lnTo>
                    <a:pt x="13" y="323"/>
                  </a:lnTo>
                  <a:lnTo>
                    <a:pt x="0" y="323"/>
                  </a:lnTo>
                  <a:lnTo>
                    <a:pt x="0" y="310"/>
                  </a:lnTo>
                  <a:lnTo>
                    <a:pt x="13" y="310"/>
                  </a:lnTo>
                  <a:close/>
                  <a:moveTo>
                    <a:pt x="13" y="337"/>
                  </a:moveTo>
                  <a:lnTo>
                    <a:pt x="13" y="349"/>
                  </a:lnTo>
                  <a:lnTo>
                    <a:pt x="0" y="349"/>
                  </a:lnTo>
                  <a:lnTo>
                    <a:pt x="0" y="337"/>
                  </a:lnTo>
                  <a:lnTo>
                    <a:pt x="13" y="337"/>
                  </a:lnTo>
                  <a:close/>
                  <a:moveTo>
                    <a:pt x="13" y="362"/>
                  </a:moveTo>
                  <a:lnTo>
                    <a:pt x="13" y="375"/>
                  </a:lnTo>
                  <a:lnTo>
                    <a:pt x="0" y="375"/>
                  </a:lnTo>
                  <a:lnTo>
                    <a:pt x="0" y="362"/>
                  </a:lnTo>
                  <a:lnTo>
                    <a:pt x="13" y="362"/>
                  </a:lnTo>
                  <a:close/>
                  <a:moveTo>
                    <a:pt x="13" y="388"/>
                  </a:moveTo>
                  <a:lnTo>
                    <a:pt x="13" y="401"/>
                  </a:lnTo>
                  <a:lnTo>
                    <a:pt x="0" y="401"/>
                  </a:lnTo>
                  <a:lnTo>
                    <a:pt x="0" y="388"/>
                  </a:lnTo>
                  <a:lnTo>
                    <a:pt x="13" y="388"/>
                  </a:lnTo>
                  <a:close/>
                  <a:moveTo>
                    <a:pt x="13" y="414"/>
                  </a:moveTo>
                  <a:lnTo>
                    <a:pt x="13" y="427"/>
                  </a:lnTo>
                  <a:lnTo>
                    <a:pt x="0" y="427"/>
                  </a:lnTo>
                  <a:lnTo>
                    <a:pt x="0" y="414"/>
                  </a:lnTo>
                  <a:lnTo>
                    <a:pt x="13" y="414"/>
                  </a:lnTo>
                  <a:close/>
                  <a:moveTo>
                    <a:pt x="13" y="440"/>
                  </a:moveTo>
                  <a:lnTo>
                    <a:pt x="13" y="453"/>
                  </a:lnTo>
                  <a:lnTo>
                    <a:pt x="0" y="453"/>
                  </a:lnTo>
                  <a:lnTo>
                    <a:pt x="0" y="440"/>
                  </a:lnTo>
                  <a:lnTo>
                    <a:pt x="13" y="440"/>
                  </a:lnTo>
                  <a:close/>
                  <a:moveTo>
                    <a:pt x="13" y="466"/>
                  </a:moveTo>
                  <a:lnTo>
                    <a:pt x="13" y="479"/>
                  </a:lnTo>
                  <a:lnTo>
                    <a:pt x="0" y="479"/>
                  </a:lnTo>
                  <a:lnTo>
                    <a:pt x="0" y="466"/>
                  </a:lnTo>
                  <a:lnTo>
                    <a:pt x="13" y="466"/>
                  </a:lnTo>
                  <a:close/>
                  <a:moveTo>
                    <a:pt x="13" y="492"/>
                  </a:moveTo>
                  <a:lnTo>
                    <a:pt x="13" y="505"/>
                  </a:lnTo>
                  <a:lnTo>
                    <a:pt x="0" y="505"/>
                  </a:lnTo>
                  <a:lnTo>
                    <a:pt x="0" y="492"/>
                  </a:lnTo>
                  <a:lnTo>
                    <a:pt x="13" y="492"/>
                  </a:lnTo>
                  <a:close/>
                  <a:moveTo>
                    <a:pt x="13" y="518"/>
                  </a:moveTo>
                  <a:lnTo>
                    <a:pt x="13" y="531"/>
                  </a:lnTo>
                  <a:lnTo>
                    <a:pt x="0" y="531"/>
                  </a:lnTo>
                  <a:lnTo>
                    <a:pt x="0" y="518"/>
                  </a:lnTo>
                  <a:lnTo>
                    <a:pt x="13" y="518"/>
                  </a:lnTo>
                  <a:close/>
                  <a:moveTo>
                    <a:pt x="13" y="543"/>
                  </a:moveTo>
                  <a:lnTo>
                    <a:pt x="13" y="556"/>
                  </a:lnTo>
                  <a:lnTo>
                    <a:pt x="0" y="556"/>
                  </a:lnTo>
                  <a:lnTo>
                    <a:pt x="0" y="543"/>
                  </a:lnTo>
                  <a:lnTo>
                    <a:pt x="13" y="543"/>
                  </a:lnTo>
                  <a:close/>
                  <a:moveTo>
                    <a:pt x="13" y="570"/>
                  </a:moveTo>
                  <a:lnTo>
                    <a:pt x="13" y="582"/>
                  </a:lnTo>
                  <a:lnTo>
                    <a:pt x="0" y="582"/>
                  </a:lnTo>
                  <a:lnTo>
                    <a:pt x="0" y="570"/>
                  </a:lnTo>
                  <a:lnTo>
                    <a:pt x="13" y="570"/>
                  </a:lnTo>
                  <a:close/>
                  <a:moveTo>
                    <a:pt x="13" y="595"/>
                  </a:moveTo>
                  <a:lnTo>
                    <a:pt x="13" y="608"/>
                  </a:lnTo>
                  <a:lnTo>
                    <a:pt x="0" y="608"/>
                  </a:lnTo>
                  <a:lnTo>
                    <a:pt x="0" y="595"/>
                  </a:lnTo>
                  <a:lnTo>
                    <a:pt x="13" y="595"/>
                  </a:lnTo>
                  <a:close/>
                  <a:moveTo>
                    <a:pt x="13" y="621"/>
                  </a:moveTo>
                  <a:lnTo>
                    <a:pt x="13" y="634"/>
                  </a:lnTo>
                  <a:lnTo>
                    <a:pt x="0" y="634"/>
                  </a:lnTo>
                  <a:lnTo>
                    <a:pt x="0" y="621"/>
                  </a:lnTo>
                  <a:lnTo>
                    <a:pt x="13" y="621"/>
                  </a:lnTo>
                  <a:close/>
                  <a:moveTo>
                    <a:pt x="13" y="647"/>
                  </a:moveTo>
                  <a:lnTo>
                    <a:pt x="13" y="660"/>
                  </a:lnTo>
                  <a:lnTo>
                    <a:pt x="0" y="660"/>
                  </a:lnTo>
                  <a:lnTo>
                    <a:pt x="0" y="647"/>
                  </a:lnTo>
                  <a:lnTo>
                    <a:pt x="13" y="647"/>
                  </a:lnTo>
                  <a:close/>
                  <a:moveTo>
                    <a:pt x="13" y="673"/>
                  </a:moveTo>
                  <a:lnTo>
                    <a:pt x="13" y="686"/>
                  </a:lnTo>
                  <a:lnTo>
                    <a:pt x="0" y="686"/>
                  </a:lnTo>
                  <a:lnTo>
                    <a:pt x="0" y="673"/>
                  </a:lnTo>
                  <a:lnTo>
                    <a:pt x="13" y="673"/>
                  </a:lnTo>
                  <a:close/>
                  <a:moveTo>
                    <a:pt x="13" y="699"/>
                  </a:moveTo>
                  <a:lnTo>
                    <a:pt x="13" y="712"/>
                  </a:lnTo>
                  <a:lnTo>
                    <a:pt x="0" y="712"/>
                  </a:lnTo>
                  <a:lnTo>
                    <a:pt x="0" y="699"/>
                  </a:lnTo>
                  <a:lnTo>
                    <a:pt x="13" y="699"/>
                  </a:lnTo>
                  <a:close/>
                  <a:moveTo>
                    <a:pt x="13" y="725"/>
                  </a:moveTo>
                  <a:lnTo>
                    <a:pt x="13" y="738"/>
                  </a:lnTo>
                  <a:lnTo>
                    <a:pt x="0" y="738"/>
                  </a:lnTo>
                  <a:lnTo>
                    <a:pt x="0" y="725"/>
                  </a:lnTo>
                  <a:lnTo>
                    <a:pt x="13" y="725"/>
                  </a:lnTo>
                  <a:close/>
                  <a:moveTo>
                    <a:pt x="13" y="751"/>
                  </a:moveTo>
                  <a:lnTo>
                    <a:pt x="13" y="764"/>
                  </a:lnTo>
                  <a:lnTo>
                    <a:pt x="0" y="764"/>
                  </a:lnTo>
                  <a:lnTo>
                    <a:pt x="0" y="751"/>
                  </a:lnTo>
                  <a:lnTo>
                    <a:pt x="13" y="751"/>
                  </a:lnTo>
                  <a:close/>
                  <a:moveTo>
                    <a:pt x="13" y="776"/>
                  </a:moveTo>
                  <a:lnTo>
                    <a:pt x="13" y="789"/>
                  </a:lnTo>
                  <a:lnTo>
                    <a:pt x="0" y="789"/>
                  </a:lnTo>
                  <a:lnTo>
                    <a:pt x="0" y="776"/>
                  </a:lnTo>
                  <a:lnTo>
                    <a:pt x="13" y="776"/>
                  </a:lnTo>
                  <a:close/>
                  <a:moveTo>
                    <a:pt x="13" y="802"/>
                  </a:moveTo>
                  <a:lnTo>
                    <a:pt x="13" y="815"/>
                  </a:lnTo>
                  <a:lnTo>
                    <a:pt x="0" y="815"/>
                  </a:lnTo>
                  <a:lnTo>
                    <a:pt x="0" y="802"/>
                  </a:lnTo>
                  <a:lnTo>
                    <a:pt x="13" y="802"/>
                  </a:lnTo>
                  <a:close/>
                  <a:moveTo>
                    <a:pt x="13" y="828"/>
                  </a:moveTo>
                  <a:lnTo>
                    <a:pt x="13" y="841"/>
                  </a:lnTo>
                  <a:lnTo>
                    <a:pt x="0" y="841"/>
                  </a:lnTo>
                  <a:lnTo>
                    <a:pt x="0" y="828"/>
                  </a:lnTo>
                  <a:lnTo>
                    <a:pt x="13" y="828"/>
                  </a:lnTo>
                  <a:close/>
                  <a:moveTo>
                    <a:pt x="13" y="854"/>
                  </a:moveTo>
                  <a:lnTo>
                    <a:pt x="13" y="867"/>
                  </a:lnTo>
                  <a:lnTo>
                    <a:pt x="0" y="867"/>
                  </a:lnTo>
                  <a:lnTo>
                    <a:pt x="0" y="854"/>
                  </a:lnTo>
                  <a:lnTo>
                    <a:pt x="13" y="854"/>
                  </a:lnTo>
                  <a:close/>
                  <a:moveTo>
                    <a:pt x="13" y="880"/>
                  </a:moveTo>
                  <a:lnTo>
                    <a:pt x="13" y="893"/>
                  </a:lnTo>
                  <a:lnTo>
                    <a:pt x="0" y="893"/>
                  </a:lnTo>
                  <a:lnTo>
                    <a:pt x="0" y="880"/>
                  </a:lnTo>
                  <a:lnTo>
                    <a:pt x="13" y="880"/>
                  </a:lnTo>
                  <a:close/>
                  <a:moveTo>
                    <a:pt x="13" y="906"/>
                  </a:moveTo>
                  <a:lnTo>
                    <a:pt x="13" y="919"/>
                  </a:lnTo>
                  <a:lnTo>
                    <a:pt x="0" y="919"/>
                  </a:lnTo>
                  <a:lnTo>
                    <a:pt x="0" y="906"/>
                  </a:lnTo>
                  <a:lnTo>
                    <a:pt x="13" y="906"/>
                  </a:lnTo>
                  <a:close/>
                  <a:moveTo>
                    <a:pt x="13" y="932"/>
                  </a:moveTo>
                  <a:lnTo>
                    <a:pt x="13" y="945"/>
                  </a:lnTo>
                  <a:lnTo>
                    <a:pt x="0" y="945"/>
                  </a:lnTo>
                  <a:lnTo>
                    <a:pt x="0" y="932"/>
                  </a:lnTo>
                  <a:lnTo>
                    <a:pt x="13" y="932"/>
                  </a:lnTo>
                  <a:close/>
                  <a:moveTo>
                    <a:pt x="13" y="958"/>
                  </a:moveTo>
                  <a:lnTo>
                    <a:pt x="13" y="971"/>
                  </a:lnTo>
                  <a:lnTo>
                    <a:pt x="0" y="971"/>
                  </a:lnTo>
                  <a:lnTo>
                    <a:pt x="0" y="958"/>
                  </a:lnTo>
                  <a:lnTo>
                    <a:pt x="13" y="958"/>
                  </a:lnTo>
                  <a:close/>
                  <a:moveTo>
                    <a:pt x="13" y="984"/>
                  </a:moveTo>
                  <a:lnTo>
                    <a:pt x="13" y="997"/>
                  </a:lnTo>
                  <a:lnTo>
                    <a:pt x="0" y="997"/>
                  </a:lnTo>
                  <a:lnTo>
                    <a:pt x="0" y="984"/>
                  </a:lnTo>
                  <a:lnTo>
                    <a:pt x="13" y="984"/>
                  </a:lnTo>
                  <a:close/>
                  <a:moveTo>
                    <a:pt x="13" y="1009"/>
                  </a:moveTo>
                  <a:lnTo>
                    <a:pt x="13" y="1022"/>
                  </a:lnTo>
                  <a:lnTo>
                    <a:pt x="0" y="1022"/>
                  </a:lnTo>
                  <a:lnTo>
                    <a:pt x="0" y="1009"/>
                  </a:lnTo>
                  <a:lnTo>
                    <a:pt x="13" y="1009"/>
                  </a:lnTo>
                  <a:close/>
                  <a:moveTo>
                    <a:pt x="13" y="1035"/>
                  </a:moveTo>
                  <a:lnTo>
                    <a:pt x="13" y="1048"/>
                  </a:lnTo>
                  <a:lnTo>
                    <a:pt x="0" y="1048"/>
                  </a:lnTo>
                  <a:lnTo>
                    <a:pt x="0" y="1035"/>
                  </a:lnTo>
                  <a:lnTo>
                    <a:pt x="13" y="1035"/>
                  </a:lnTo>
                  <a:close/>
                  <a:moveTo>
                    <a:pt x="13" y="1061"/>
                  </a:moveTo>
                  <a:lnTo>
                    <a:pt x="13" y="1074"/>
                  </a:lnTo>
                  <a:lnTo>
                    <a:pt x="0" y="1074"/>
                  </a:lnTo>
                  <a:lnTo>
                    <a:pt x="0" y="1061"/>
                  </a:lnTo>
                  <a:lnTo>
                    <a:pt x="13" y="1061"/>
                  </a:lnTo>
                  <a:close/>
                  <a:moveTo>
                    <a:pt x="13" y="1087"/>
                  </a:moveTo>
                  <a:lnTo>
                    <a:pt x="13" y="1100"/>
                  </a:lnTo>
                  <a:lnTo>
                    <a:pt x="0" y="1100"/>
                  </a:lnTo>
                  <a:lnTo>
                    <a:pt x="0" y="1087"/>
                  </a:lnTo>
                  <a:lnTo>
                    <a:pt x="13" y="1087"/>
                  </a:lnTo>
                  <a:close/>
                  <a:moveTo>
                    <a:pt x="13" y="1113"/>
                  </a:moveTo>
                  <a:lnTo>
                    <a:pt x="13" y="1126"/>
                  </a:lnTo>
                  <a:lnTo>
                    <a:pt x="0" y="1126"/>
                  </a:lnTo>
                  <a:lnTo>
                    <a:pt x="0" y="1113"/>
                  </a:lnTo>
                  <a:lnTo>
                    <a:pt x="13" y="1113"/>
                  </a:lnTo>
                  <a:close/>
                  <a:moveTo>
                    <a:pt x="13" y="1139"/>
                  </a:moveTo>
                  <a:lnTo>
                    <a:pt x="13" y="1152"/>
                  </a:lnTo>
                  <a:lnTo>
                    <a:pt x="0" y="1152"/>
                  </a:lnTo>
                  <a:lnTo>
                    <a:pt x="0" y="1139"/>
                  </a:lnTo>
                  <a:lnTo>
                    <a:pt x="13" y="1139"/>
                  </a:lnTo>
                  <a:close/>
                  <a:moveTo>
                    <a:pt x="13" y="1165"/>
                  </a:moveTo>
                  <a:lnTo>
                    <a:pt x="13" y="1178"/>
                  </a:lnTo>
                  <a:lnTo>
                    <a:pt x="0" y="1178"/>
                  </a:lnTo>
                  <a:lnTo>
                    <a:pt x="0" y="1165"/>
                  </a:lnTo>
                  <a:lnTo>
                    <a:pt x="13" y="1165"/>
                  </a:lnTo>
                  <a:close/>
                  <a:moveTo>
                    <a:pt x="13" y="1191"/>
                  </a:moveTo>
                  <a:lnTo>
                    <a:pt x="13" y="1204"/>
                  </a:lnTo>
                  <a:lnTo>
                    <a:pt x="0" y="1204"/>
                  </a:lnTo>
                  <a:lnTo>
                    <a:pt x="0" y="1191"/>
                  </a:lnTo>
                  <a:lnTo>
                    <a:pt x="13" y="1191"/>
                  </a:lnTo>
                  <a:close/>
                  <a:moveTo>
                    <a:pt x="13" y="1217"/>
                  </a:moveTo>
                  <a:lnTo>
                    <a:pt x="13" y="1230"/>
                  </a:lnTo>
                  <a:lnTo>
                    <a:pt x="0" y="1230"/>
                  </a:lnTo>
                  <a:lnTo>
                    <a:pt x="0" y="1217"/>
                  </a:lnTo>
                  <a:lnTo>
                    <a:pt x="13" y="1217"/>
                  </a:lnTo>
                  <a:close/>
                  <a:moveTo>
                    <a:pt x="13" y="1242"/>
                  </a:moveTo>
                  <a:lnTo>
                    <a:pt x="13" y="1255"/>
                  </a:lnTo>
                  <a:lnTo>
                    <a:pt x="0" y="1255"/>
                  </a:lnTo>
                  <a:lnTo>
                    <a:pt x="0" y="1242"/>
                  </a:lnTo>
                  <a:lnTo>
                    <a:pt x="13" y="1242"/>
                  </a:lnTo>
                  <a:close/>
                  <a:moveTo>
                    <a:pt x="13" y="1268"/>
                  </a:moveTo>
                  <a:lnTo>
                    <a:pt x="13" y="1281"/>
                  </a:lnTo>
                  <a:lnTo>
                    <a:pt x="0" y="1281"/>
                  </a:lnTo>
                  <a:lnTo>
                    <a:pt x="0" y="1268"/>
                  </a:lnTo>
                  <a:lnTo>
                    <a:pt x="13" y="1268"/>
                  </a:lnTo>
                  <a:close/>
                  <a:moveTo>
                    <a:pt x="13" y="1294"/>
                  </a:moveTo>
                  <a:lnTo>
                    <a:pt x="13" y="1307"/>
                  </a:lnTo>
                  <a:lnTo>
                    <a:pt x="0" y="1307"/>
                  </a:lnTo>
                  <a:lnTo>
                    <a:pt x="0" y="1294"/>
                  </a:lnTo>
                  <a:lnTo>
                    <a:pt x="13" y="1294"/>
                  </a:lnTo>
                  <a:close/>
                  <a:moveTo>
                    <a:pt x="13" y="1320"/>
                  </a:moveTo>
                  <a:lnTo>
                    <a:pt x="13" y="1333"/>
                  </a:lnTo>
                  <a:lnTo>
                    <a:pt x="0" y="1333"/>
                  </a:lnTo>
                  <a:lnTo>
                    <a:pt x="0" y="1320"/>
                  </a:lnTo>
                  <a:lnTo>
                    <a:pt x="13" y="1320"/>
                  </a:lnTo>
                  <a:close/>
                  <a:moveTo>
                    <a:pt x="13" y="1346"/>
                  </a:moveTo>
                  <a:lnTo>
                    <a:pt x="13" y="1359"/>
                  </a:lnTo>
                  <a:lnTo>
                    <a:pt x="0" y="1359"/>
                  </a:lnTo>
                  <a:lnTo>
                    <a:pt x="0" y="1346"/>
                  </a:lnTo>
                  <a:lnTo>
                    <a:pt x="13" y="1346"/>
                  </a:lnTo>
                  <a:close/>
                  <a:moveTo>
                    <a:pt x="13" y="1372"/>
                  </a:moveTo>
                  <a:lnTo>
                    <a:pt x="13" y="1385"/>
                  </a:lnTo>
                  <a:lnTo>
                    <a:pt x="0" y="1385"/>
                  </a:lnTo>
                  <a:lnTo>
                    <a:pt x="0" y="1372"/>
                  </a:lnTo>
                  <a:lnTo>
                    <a:pt x="13" y="1372"/>
                  </a:lnTo>
                  <a:close/>
                  <a:moveTo>
                    <a:pt x="13" y="1398"/>
                  </a:moveTo>
                  <a:lnTo>
                    <a:pt x="13" y="1411"/>
                  </a:lnTo>
                  <a:lnTo>
                    <a:pt x="0" y="1411"/>
                  </a:lnTo>
                  <a:lnTo>
                    <a:pt x="0" y="1398"/>
                  </a:lnTo>
                  <a:lnTo>
                    <a:pt x="13" y="1398"/>
                  </a:lnTo>
                  <a:close/>
                  <a:moveTo>
                    <a:pt x="13" y="1424"/>
                  </a:moveTo>
                  <a:lnTo>
                    <a:pt x="13" y="1437"/>
                  </a:lnTo>
                  <a:lnTo>
                    <a:pt x="0" y="1437"/>
                  </a:lnTo>
                  <a:lnTo>
                    <a:pt x="0" y="1424"/>
                  </a:lnTo>
                  <a:lnTo>
                    <a:pt x="13" y="1424"/>
                  </a:lnTo>
                  <a:close/>
                  <a:moveTo>
                    <a:pt x="13" y="1450"/>
                  </a:moveTo>
                  <a:lnTo>
                    <a:pt x="13" y="1463"/>
                  </a:lnTo>
                  <a:lnTo>
                    <a:pt x="0" y="1463"/>
                  </a:lnTo>
                  <a:lnTo>
                    <a:pt x="0" y="1450"/>
                  </a:lnTo>
                  <a:lnTo>
                    <a:pt x="13" y="1450"/>
                  </a:lnTo>
                  <a:close/>
                  <a:moveTo>
                    <a:pt x="13" y="1475"/>
                  </a:moveTo>
                  <a:lnTo>
                    <a:pt x="13" y="1488"/>
                  </a:lnTo>
                  <a:lnTo>
                    <a:pt x="0" y="1488"/>
                  </a:lnTo>
                  <a:lnTo>
                    <a:pt x="0" y="1475"/>
                  </a:lnTo>
                  <a:lnTo>
                    <a:pt x="13" y="1475"/>
                  </a:lnTo>
                  <a:close/>
                  <a:moveTo>
                    <a:pt x="13" y="1501"/>
                  </a:moveTo>
                  <a:lnTo>
                    <a:pt x="13" y="1514"/>
                  </a:lnTo>
                  <a:lnTo>
                    <a:pt x="0" y="1514"/>
                  </a:lnTo>
                  <a:lnTo>
                    <a:pt x="0" y="1501"/>
                  </a:lnTo>
                  <a:lnTo>
                    <a:pt x="13" y="1501"/>
                  </a:lnTo>
                  <a:close/>
                  <a:moveTo>
                    <a:pt x="13" y="1527"/>
                  </a:moveTo>
                  <a:lnTo>
                    <a:pt x="13" y="1540"/>
                  </a:lnTo>
                  <a:lnTo>
                    <a:pt x="0" y="1540"/>
                  </a:lnTo>
                  <a:lnTo>
                    <a:pt x="0" y="1527"/>
                  </a:lnTo>
                  <a:lnTo>
                    <a:pt x="13" y="1527"/>
                  </a:lnTo>
                  <a:close/>
                  <a:moveTo>
                    <a:pt x="13" y="1553"/>
                  </a:moveTo>
                  <a:lnTo>
                    <a:pt x="13" y="1566"/>
                  </a:lnTo>
                  <a:lnTo>
                    <a:pt x="0" y="1566"/>
                  </a:lnTo>
                  <a:lnTo>
                    <a:pt x="0" y="1553"/>
                  </a:lnTo>
                  <a:lnTo>
                    <a:pt x="13" y="1553"/>
                  </a:lnTo>
                  <a:close/>
                  <a:moveTo>
                    <a:pt x="13" y="1579"/>
                  </a:moveTo>
                  <a:lnTo>
                    <a:pt x="13" y="1592"/>
                  </a:lnTo>
                  <a:lnTo>
                    <a:pt x="0" y="1592"/>
                  </a:lnTo>
                  <a:lnTo>
                    <a:pt x="0" y="1579"/>
                  </a:lnTo>
                  <a:lnTo>
                    <a:pt x="13" y="1579"/>
                  </a:lnTo>
                  <a:close/>
                  <a:moveTo>
                    <a:pt x="13" y="1605"/>
                  </a:moveTo>
                  <a:lnTo>
                    <a:pt x="13" y="1618"/>
                  </a:lnTo>
                  <a:lnTo>
                    <a:pt x="0" y="1618"/>
                  </a:lnTo>
                  <a:lnTo>
                    <a:pt x="0" y="1605"/>
                  </a:lnTo>
                  <a:lnTo>
                    <a:pt x="13" y="1605"/>
                  </a:lnTo>
                  <a:close/>
                  <a:moveTo>
                    <a:pt x="13" y="1631"/>
                  </a:moveTo>
                  <a:lnTo>
                    <a:pt x="13" y="1644"/>
                  </a:lnTo>
                  <a:lnTo>
                    <a:pt x="0" y="1644"/>
                  </a:lnTo>
                  <a:lnTo>
                    <a:pt x="0" y="1631"/>
                  </a:lnTo>
                  <a:lnTo>
                    <a:pt x="13" y="1631"/>
                  </a:lnTo>
                  <a:close/>
                  <a:moveTo>
                    <a:pt x="13" y="1657"/>
                  </a:moveTo>
                  <a:lnTo>
                    <a:pt x="13" y="1670"/>
                  </a:lnTo>
                  <a:lnTo>
                    <a:pt x="0" y="1670"/>
                  </a:lnTo>
                  <a:lnTo>
                    <a:pt x="0" y="1657"/>
                  </a:lnTo>
                  <a:lnTo>
                    <a:pt x="13" y="1657"/>
                  </a:lnTo>
                  <a:close/>
                  <a:moveTo>
                    <a:pt x="13" y="1683"/>
                  </a:moveTo>
                  <a:lnTo>
                    <a:pt x="13" y="1696"/>
                  </a:lnTo>
                  <a:lnTo>
                    <a:pt x="0" y="1696"/>
                  </a:lnTo>
                  <a:lnTo>
                    <a:pt x="0" y="1683"/>
                  </a:lnTo>
                  <a:lnTo>
                    <a:pt x="13" y="1683"/>
                  </a:lnTo>
                  <a:close/>
                  <a:moveTo>
                    <a:pt x="13" y="1708"/>
                  </a:moveTo>
                  <a:lnTo>
                    <a:pt x="13" y="1721"/>
                  </a:lnTo>
                  <a:lnTo>
                    <a:pt x="0" y="1721"/>
                  </a:lnTo>
                  <a:lnTo>
                    <a:pt x="0" y="1708"/>
                  </a:lnTo>
                  <a:lnTo>
                    <a:pt x="13" y="1708"/>
                  </a:lnTo>
                  <a:close/>
                  <a:moveTo>
                    <a:pt x="13" y="1734"/>
                  </a:moveTo>
                  <a:lnTo>
                    <a:pt x="13" y="1747"/>
                  </a:lnTo>
                  <a:lnTo>
                    <a:pt x="0" y="1747"/>
                  </a:lnTo>
                  <a:lnTo>
                    <a:pt x="0" y="1734"/>
                  </a:lnTo>
                  <a:lnTo>
                    <a:pt x="13" y="1734"/>
                  </a:lnTo>
                  <a:close/>
                  <a:moveTo>
                    <a:pt x="13" y="1760"/>
                  </a:moveTo>
                  <a:lnTo>
                    <a:pt x="13" y="1773"/>
                  </a:lnTo>
                  <a:lnTo>
                    <a:pt x="0" y="1773"/>
                  </a:lnTo>
                  <a:lnTo>
                    <a:pt x="0" y="1760"/>
                  </a:lnTo>
                  <a:lnTo>
                    <a:pt x="13" y="1760"/>
                  </a:lnTo>
                  <a:close/>
                  <a:moveTo>
                    <a:pt x="13" y="1786"/>
                  </a:moveTo>
                  <a:lnTo>
                    <a:pt x="13" y="1799"/>
                  </a:lnTo>
                  <a:lnTo>
                    <a:pt x="0" y="1799"/>
                  </a:lnTo>
                  <a:lnTo>
                    <a:pt x="0" y="1786"/>
                  </a:lnTo>
                  <a:lnTo>
                    <a:pt x="13" y="1786"/>
                  </a:lnTo>
                  <a:close/>
                  <a:moveTo>
                    <a:pt x="13" y="1812"/>
                  </a:moveTo>
                  <a:lnTo>
                    <a:pt x="13" y="1825"/>
                  </a:lnTo>
                  <a:lnTo>
                    <a:pt x="0" y="1825"/>
                  </a:lnTo>
                  <a:lnTo>
                    <a:pt x="0" y="1812"/>
                  </a:lnTo>
                  <a:lnTo>
                    <a:pt x="13" y="1812"/>
                  </a:lnTo>
                  <a:close/>
                  <a:moveTo>
                    <a:pt x="13" y="1838"/>
                  </a:moveTo>
                  <a:lnTo>
                    <a:pt x="13" y="1851"/>
                  </a:lnTo>
                  <a:lnTo>
                    <a:pt x="0" y="1851"/>
                  </a:lnTo>
                  <a:lnTo>
                    <a:pt x="0" y="1838"/>
                  </a:lnTo>
                  <a:lnTo>
                    <a:pt x="13" y="1838"/>
                  </a:lnTo>
                  <a:close/>
                  <a:moveTo>
                    <a:pt x="13" y="1864"/>
                  </a:moveTo>
                  <a:lnTo>
                    <a:pt x="13" y="1877"/>
                  </a:lnTo>
                  <a:lnTo>
                    <a:pt x="0" y="1877"/>
                  </a:lnTo>
                  <a:lnTo>
                    <a:pt x="0" y="1864"/>
                  </a:lnTo>
                  <a:lnTo>
                    <a:pt x="13" y="1864"/>
                  </a:lnTo>
                  <a:close/>
                  <a:moveTo>
                    <a:pt x="13" y="1890"/>
                  </a:moveTo>
                  <a:lnTo>
                    <a:pt x="13" y="1903"/>
                  </a:lnTo>
                  <a:lnTo>
                    <a:pt x="0" y="1903"/>
                  </a:lnTo>
                  <a:lnTo>
                    <a:pt x="0" y="1890"/>
                  </a:lnTo>
                  <a:lnTo>
                    <a:pt x="13" y="1890"/>
                  </a:lnTo>
                  <a:close/>
                  <a:moveTo>
                    <a:pt x="13" y="1916"/>
                  </a:moveTo>
                  <a:lnTo>
                    <a:pt x="13" y="1929"/>
                  </a:lnTo>
                  <a:lnTo>
                    <a:pt x="0" y="1929"/>
                  </a:lnTo>
                  <a:lnTo>
                    <a:pt x="0" y="1916"/>
                  </a:lnTo>
                  <a:lnTo>
                    <a:pt x="13" y="1916"/>
                  </a:lnTo>
                  <a:close/>
                  <a:moveTo>
                    <a:pt x="13" y="1941"/>
                  </a:moveTo>
                  <a:lnTo>
                    <a:pt x="13" y="1954"/>
                  </a:lnTo>
                  <a:lnTo>
                    <a:pt x="0" y="1954"/>
                  </a:lnTo>
                  <a:lnTo>
                    <a:pt x="0" y="1941"/>
                  </a:lnTo>
                  <a:lnTo>
                    <a:pt x="13" y="1941"/>
                  </a:lnTo>
                  <a:close/>
                  <a:moveTo>
                    <a:pt x="13" y="1967"/>
                  </a:moveTo>
                  <a:lnTo>
                    <a:pt x="13" y="1980"/>
                  </a:lnTo>
                  <a:lnTo>
                    <a:pt x="0" y="1980"/>
                  </a:lnTo>
                  <a:lnTo>
                    <a:pt x="0" y="1967"/>
                  </a:lnTo>
                  <a:lnTo>
                    <a:pt x="13" y="1967"/>
                  </a:lnTo>
                  <a:close/>
                  <a:moveTo>
                    <a:pt x="13" y="1993"/>
                  </a:moveTo>
                  <a:lnTo>
                    <a:pt x="13" y="2006"/>
                  </a:lnTo>
                  <a:lnTo>
                    <a:pt x="0" y="2006"/>
                  </a:lnTo>
                  <a:lnTo>
                    <a:pt x="0" y="1993"/>
                  </a:lnTo>
                  <a:lnTo>
                    <a:pt x="13" y="1993"/>
                  </a:lnTo>
                  <a:close/>
                  <a:moveTo>
                    <a:pt x="13" y="2019"/>
                  </a:moveTo>
                  <a:lnTo>
                    <a:pt x="13" y="2032"/>
                  </a:lnTo>
                  <a:lnTo>
                    <a:pt x="0" y="2032"/>
                  </a:lnTo>
                  <a:lnTo>
                    <a:pt x="0" y="2019"/>
                  </a:lnTo>
                  <a:lnTo>
                    <a:pt x="13" y="2019"/>
                  </a:lnTo>
                  <a:close/>
                  <a:moveTo>
                    <a:pt x="13" y="2045"/>
                  </a:moveTo>
                  <a:lnTo>
                    <a:pt x="13" y="2058"/>
                  </a:lnTo>
                  <a:lnTo>
                    <a:pt x="0" y="2058"/>
                  </a:lnTo>
                  <a:lnTo>
                    <a:pt x="0" y="2045"/>
                  </a:lnTo>
                  <a:lnTo>
                    <a:pt x="13" y="2045"/>
                  </a:lnTo>
                  <a:close/>
                  <a:moveTo>
                    <a:pt x="13" y="2071"/>
                  </a:moveTo>
                  <a:lnTo>
                    <a:pt x="13" y="2084"/>
                  </a:lnTo>
                  <a:lnTo>
                    <a:pt x="0" y="2084"/>
                  </a:lnTo>
                  <a:lnTo>
                    <a:pt x="0" y="2071"/>
                  </a:lnTo>
                  <a:lnTo>
                    <a:pt x="13" y="2071"/>
                  </a:lnTo>
                  <a:close/>
                  <a:moveTo>
                    <a:pt x="13" y="2097"/>
                  </a:moveTo>
                  <a:lnTo>
                    <a:pt x="13" y="2110"/>
                  </a:lnTo>
                  <a:lnTo>
                    <a:pt x="0" y="2110"/>
                  </a:lnTo>
                  <a:lnTo>
                    <a:pt x="0" y="2097"/>
                  </a:lnTo>
                  <a:lnTo>
                    <a:pt x="13" y="2097"/>
                  </a:lnTo>
                  <a:close/>
                  <a:moveTo>
                    <a:pt x="13" y="2123"/>
                  </a:moveTo>
                  <a:lnTo>
                    <a:pt x="13" y="2136"/>
                  </a:lnTo>
                  <a:lnTo>
                    <a:pt x="0" y="2136"/>
                  </a:lnTo>
                  <a:lnTo>
                    <a:pt x="0" y="2123"/>
                  </a:lnTo>
                  <a:lnTo>
                    <a:pt x="13" y="2123"/>
                  </a:lnTo>
                  <a:close/>
                  <a:moveTo>
                    <a:pt x="13" y="2149"/>
                  </a:moveTo>
                  <a:lnTo>
                    <a:pt x="13" y="2162"/>
                  </a:lnTo>
                  <a:lnTo>
                    <a:pt x="0" y="2162"/>
                  </a:lnTo>
                  <a:lnTo>
                    <a:pt x="0" y="2149"/>
                  </a:lnTo>
                  <a:lnTo>
                    <a:pt x="13" y="2149"/>
                  </a:lnTo>
                  <a:close/>
                  <a:moveTo>
                    <a:pt x="13" y="2174"/>
                  </a:moveTo>
                  <a:lnTo>
                    <a:pt x="13" y="2187"/>
                  </a:lnTo>
                  <a:lnTo>
                    <a:pt x="0" y="2187"/>
                  </a:lnTo>
                  <a:lnTo>
                    <a:pt x="0" y="2174"/>
                  </a:lnTo>
                  <a:lnTo>
                    <a:pt x="13" y="2174"/>
                  </a:lnTo>
                  <a:close/>
                  <a:moveTo>
                    <a:pt x="13" y="2200"/>
                  </a:moveTo>
                  <a:lnTo>
                    <a:pt x="13" y="2213"/>
                  </a:lnTo>
                  <a:lnTo>
                    <a:pt x="0" y="2213"/>
                  </a:lnTo>
                  <a:lnTo>
                    <a:pt x="0" y="2200"/>
                  </a:lnTo>
                  <a:lnTo>
                    <a:pt x="13" y="2200"/>
                  </a:lnTo>
                  <a:close/>
                  <a:moveTo>
                    <a:pt x="13" y="2226"/>
                  </a:moveTo>
                  <a:lnTo>
                    <a:pt x="13" y="2239"/>
                  </a:lnTo>
                  <a:lnTo>
                    <a:pt x="0" y="2239"/>
                  </a:lnTo>
                  <a:lnTo>
                    <a:pt x="0" y="2226"/>
                  </a:lnTo>
                  <a:lnTo>
                    <a:pt x="13" y="2226"/>
                  </a:lnTo>
                  <a:close/>
                  <a:moveTo>
                    <a:pt x="13" y="2252"/>
                  </a:moveTo>
                  <a:lnTo>
                    <a:pt x="13" y="2265"/>
                  </a:lnTo>
                  <a:lnTo>
                    <a:pt x="0" y="2265"/>
                  </a:lnTo>
                  <a:lnTo>
                    <a:pt x="0" y="2252"/>
                  </a:lnTo>
                  <a:lnTo>
                    <a:pt x="13" y="2252"/>
                  </a:lnTo>
                  <a:close/>
                  <a:moveTo>
                    <a:pt x="13" y="2278"/>
                  </a:moveTo>
                  <a:lnTo>
                    <a:pt x="13" y="2281"/>
                  </a:lnTo>
                  <a:lnTo>
                    <a:pt x="0" y="2281"/>
                  </a:lnTo>
                  <a:lnTo>
                    <a:pt x="0" y="2278"/>
                  </a:lnTo>
                  <a:lnTo>
                    <a:pt x="13" y="2278"/>
                  </a:lnTo>
                  <a:close/>
                </a:path>
              </a:pathLst>
            </a:custGeom>
            <a:solidFill>
              <a:srgbClr val="000000"/>
            </a:solidFill>
            <a:ln w="0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0" name="Freeform 34">
              <a:extLst>
                <a:ext uri="{FF2B5EF4-FFF2-40B4-BE49-F238E27FC236}">
                  <a16:creationId xmlns:a16="http://schemas.microsoft.com/office/drawing/2014/main" id="{DDA73C3E-2A89-4A03-AA85-081E83E95F2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115" y="1978"/>
              <a:ext cx="13" cy="2281"/>
            </a:xfrm>
            <a:custGeom>
              <a:avLst/>
              <a:gdLst>
                <a:gd name="T0" fmla="*/ 13 w 13"/>
                <a:gd name="T1" fmla="*/ 39 h 2281"/>
                <a:gd name="T2" fmla="*/ 0 w 13"/>
                <a:gd name="T3" fmla="*/ 52 h 2281"/>
                <a:gd name="T4" fmla="*/ 13 w 13"/>
                <a:gd name="T5" fmla="*/ 104 h 2281"/>
                <a:gd name="T6" fmla="*/ 0 w 13"/>
                <a:gd name="T7" fmla="*/ 142 h 2281"/>
                <a:gd name="T8" fmla="*/ 13 w 13"/>
                <a:gd name="T9" fmla="*/ 155 h 2281"/>
                <a:gd name="T10" fmla="*/ 13 w 13"/>
                <a:gd name="T11" fmla="*/ 220 h 2281"/>
                <a:gd name="T12" fmla="*/ 0 w 13"/>
                <a:gd name="T13" fmla="*/ 233 h 2281"/>
                <a:gd name="T14" fmla="*/ 13 w 13"/>
                <a:gd name="T15" fmla="*/ 285 h 2281"/>
                <a:gd name="T16" fmla="*/ 0 w 13"/>
                <a:gd name="T17" fmla="*/ 323 h 2281"/>
                <a:gd name="T18" fmla="*/ 13 w 13"/>
                <a:gd name="T19" fmla="*/ 337 h 2281"/>
                <a:gd name="T20" fmla="*/ 13 w 13"/>
                <a:gd name="T21" fmla="*/ 401 h 2281"/>
                <a:gd name="T22" fmla="*/ 0 w 13"/>
                <a:gd name="T23" fmla="*/ 414 h 2281"/>
                <a:gd name="T24" fmla="*/ 13 w 13"/>
                <a:gd name="T25" fmla="*/ 466 h 2281"/>
                <a:gd name="T26" fmla="*/ 0 w 13"/>
                <a:gd name="T27" fmla="*/ 505 h 2281"/>
                <a:gd name="T28" fmla="*/ 13 w 13"/>
                <a:gd name="T29" fmla="*/ 518 h 2281"/>
                <a:gd name="T30" fmla="*/ 13 w 13"/>
                <a:gd name="T31" fmla="*/ 582 h 2281"/>
                <a:gd name="T32" fmla="*/ 0 w 13"/>
                <a:gd name="T33" fmla="*/ 595 h 2281"/>
                <a:gd name="T34" fmla="*/ 13 w 13"/>
                <a:gd name="T35" fmla="*/ 647 h 2281"/>
                <a:gd name="T36" fmla="*/ 0 w 13"/>
                <a:gd name="T37" fmla="*/ 686 h 2281"/>
                <a:gd name="T38" fmla="*/ 13 w 13"/>
                <a:gd name="T39" fmla="*/ 699 h 2281"/>
                <a:gd name="T40" fmla="*/ 13 w 13"/>
                <a:gd name="T41" fmla="*/ 764 h 2281"/>
                <a:gd name="T42" fmla="*/ 0 w 13"/>
                <a:gd name="T43" fmla="*/ 776 h 2281"/>
                <a:gd name="T44" fmla="*/ 13 w 13"/>
                <a:gd name="T45" fmla="*/ 828 h 2281"/>
                <a:gd name="T46" fmla="*/ 0 w 13"/>
                <a:gd name="T47" fmla="*/ 867 h 2281"/>
                <a:gd name="T48" fmla="*/ 13 w 13"/>
                <a:gd name="T49" fmla="*/ 880 h 2281"/>
                <a:gd name="T50" fmla="*/ 13 w 13"/>
                <a:gd name="T51" fmla="*/ 945 h 2281"/>
                <a:gd name="T52" fmla="*/ 0 w 13"/>
                <a:gd name="T53" fmla="*/ 958 h 2281"/>
                <a:gd name="T54" fmla="*/ 13 w 13"/>
                <a:gd name="T55" fmla="*/ 1009 h 2281"/>
                <a:gd name="T56" fmla="*/ 0 w 13"/>
                <a:gd name="T57" fmla="*/ 1048 h 2281"/>
                <a:gd name="T58" fmla="*/ 13 w 13"/>
                <a:gd name="T59" fmla="*/ 1061 h 2281"/>
                <a:gd name="T60" fmla="*/ 13 w 13"/>
                <a:gd name="T61" fmla="*/ 1126 h 2281"/>
                <a:gd name="T62" fmla="*/ 0 w 13"/>
                <a:gd name="T63" fmla="*/ 1139 h 2281"/>
                <a:gd name="T64" fmla="*/ 13 w 13"/>
                <a:gd name="T65" fmla="*/ 1191 h 2281"/>
                <a:gd name="T66" fmla="*/ 0 w 13"/>
                <a:gd name="T67" fmla="*/ 1230 h 2281"/>
                <a:gd name="T68" fmla="*/ 13 w 13"/>
                <a:gd name="T69" fmla="*/ 1242 h 2281"/>
                <a:gd name="T70" fmla="*/ 13 w 13"/>
                <a:gd name="T71" fmla="*/ 1307 h 2281"/>
                <a:gd name="T72" fmla="*/ 0 w 13"/>
                <a:gd name="T73" fmla="*/ 1320 h 2281"/>
                <a:gd name="T74" fmla="*/ 13 w 13"/>
                <a:gd name="T75" fmla="*/ 1372 h 2281"/>
                <a:gd name="T76" fmla="*/ 0 w 13"/>
                <a:gd name="T77" fmla="*/ 1411 h 2281"/>
                <a:gd name="T78" fmla="*/ 13 w 13"/>
                <a:gd name="T79" fmla="*/ 1424 h 2281"/>
                <a:gd name="T80" fmla="*/ 13 w 13"/>
                <a:gd name="T81" fmla="*/ 1488 h 2281"/>
                <a:gd name="T82" fmla="*/ 0 w 13"/>
                <a:gd name="T83" fmla="*/ 1501 h 2281"/>
                <a:gd name="T84" fmla="*/ 13 w 13"/>
                <a:gd name="T85" fmla="*/ 1553 h 2281"/>
                <a:gd name="T86" fmla="*/ 0 w 13"/>
                <a:gd name="T87" fmla="*/ 1592 h 2281"/>
                <a:gd name="T88" fmla="*/ 13 w 13"/>
                <a:gd name="T89" fmla="*/ 1605 h 2281"/>
                <a:gd name="T90" fmla="*/ 13 w 13"/>
                <a:gd name="T91" fmla="*/ 1670 h 2281"/>
                <a:gd name="T92" fmla="*/ 0 w 13"/>
                <a:gd name="T93" fmla="*/ 1683 h 2281"/>
                <a:gd name="T94" fmla="*/ 13 w 13"/>
                <a:gd name="T95" fmla="*/ 1734 h 2281"/>
                <a:gd name="T96" fmla="*/ 0 w 13"/>
                <a:gd name="T97" fmla="*/ 1773 h 2281"/>
                <a:gd name="T98" fmla="*/ 13 w 13"/>
                <a:gd name="T99" fmla="*/ 1786 h 2281"/>
                <a:gd name="T100" fmla="*/ 13 w 13"/>
                <a:gd name="T101" fmla="*/ 1851 h 2281"/>
                <a:gd name="T102" fmla="*/ 0 w 13"/>
                <a:gd name="T103" fmla="*/ 1864 h 2281"/>
                <a:gd name="T104" fmla="*/ 13 w 13"/>
                <a:gd name="T105" fmla="*/ 1916 h 2281"/>
                <a:gd name="T106" fmla="*/ 0 w 13"/>
                <a:gd name="T107" fmla="*/ 1954 h 2281"/>
                <a:gd name="T108" fmla="*/ 13 w 13"/>
                <a:gd name="T109" fmla="*/ 1967 h 2281"/>
                <a:gd name="T110" fmla="*/ 13 w 13"/>
                <a:gd name="T111" fmla="*/ 2032 h 2281"/>
                <a:gd name="T112" fmla="*/ 0 w 13"/>
                <a:gd name="T113" fmla="*/ 2045 h 2281"/>
                <a:gd name="T114" fmla="*/ 13 w 13"/>
                <a:gd name="T115" fmla="*/ 2097 h 2281"/>
                <a:gd name="T116" fmla="*/ 0 w 13"/>
                <a:gd name="T117" fmla="*/ 2136 h 2281"/>
                <a:gd name="T118" fmla="*/ 13 w 13"/>
                <a:gd name="T119" fmla="*/ 2149 h 2281"/>
                <a:gd name="T120" fmla="*/ 13 w 13"/>
                <a:gd name="T121" fmla="*/ 2213 h 2281"/>
                <a:gd name="T122" fmla="*/ 0 w 13"/>
                <a:gd name="T123" fmla="*/ 2226 h 2281"/>
                <a:gd name="T124" fmla="*/ 13 w 13"/>
                <a:gd name="T125" fmla="*/ 2278 h 22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3" h="2281">
                  <a:moveTo>
                    <a:pt x="13" y="0"/>
                  </a:moveTo>
                  <a:lnTo>
                    <a:pt x="13" y="13"/>
                  </a:lnTo>
                  <a:lnTo>
                    <a:pt x="0" y="13"/>
                  </a:lnTo>
                  <a:lnTo>
                    <a:pt x="0" y="0"/>
                  </a:lnTo>
                  <a:lnTo>
                    <a:pt x="13" y="0"/>
                  </a:lnTo>
                  <a:close/>
                  <a:moveTo>
                    <a:pt x="13" y="26"/>
                  </a:moveTo>
                  <a:lnTo>
                    <a:pt x="13" y="39"/>
                  </a:lnTo>
                  <a:lnTo>
                    <a:pt x="0" y="39"/>
                  </a:lnTo>
                  <a:lnTo>
                    <a:pt x="0" y="26"/>
                  </a:lnTo>
                  <a:lnTo>
                    <a:pt x="13" y="26"/>
                  </a:lnTo>
                  <a:close/>
                  <a:moveTo>
                    <a:pt x="13" y="52"/>
                  </a:moveTo>
                  <a:lnTo>
                    <a:pt x="13" y="65"/>
                  </a:lnTo>
                  <a:lnTo>
                    <a:pt x="0" y="65"/>
                  </a:lnTo>
                  <a:lnTo>
                    <a:pt x="0" y="52"/>
                  </a:lnTo>
                  <a:lnTo>
                    <a:pt x="13" y="52"/>
                  </a:lnTo>
                  <a:close/>
                  <a:moveTo>
                    <a:pt x="13" y="77"/>
                  </a:moveTo>
                  <a:lnTo>
                    <a:pt x="13" y="90"/>
                  </a:lnTo>
                  <a:lnTo>
                    <a:pt x="0" y="90"/>
                  </a:lnTo>
                  <a:lnTo>
                    <a:pt x="0" y="77"/>
                  </a:lnTo>
                  <a:lnTo>
                    <a:pt x="13" y="77"/>
                  </a:lnTo>
                  <a:close/>
                  <a:moveTo>
                    <a:pt x="13" y="104"/>
                  </a:moveTo>
                  <a:lnTo>
                    <a:pt x="13" y="116"/>
                  </a:lnTo>
                  <a:lnTo>
                    <a:pt x="0" y="116"/>
                  </a:lnTo>
                  <a:lnTo>
                    <a:pt x="0" y="104"/>
                  </a:lnTo>
                  <a:lnTo>
                    <a:pt x="13" y="104"/>
                  </a:lnTo>
                  <a:close/>
                  <a:moveTo>
                    <a:pt x="13" y="129"/>
                  </a:moveTo>
                  <a:lnTo>
                    <a:pt x="13" y="142"/>
                  </a:lnTo>
                  <a:lnTo>
                    <a:pt x="0" y="142"/>
                  </a:lnTo>
                  <a:lnTo>
                    <a:pt x="0" y="129"/>
                  </a:lnTo>
                  <a:lnTo>
                    <a:pt x="13" y="129"/>
                  </a:lnTo>
                  <a:close/>
                  <a:moveTo>
                    <a:pt x="13" y="155"/>
                  </a:moveTo>
                  <a:lnTo>
                    <a:pt x="13" y="168"/>
                  </a:lnTo>
                  <a:lnTo>
                    <a:pt x="0" y="168"/>
                  </a:lnTo>
                  <a:lnTo>
                    <a:pt x="0" y="155"/>
                  </a:lnTo>
                  <a:lnTo>
                    <a:pt x="13" y="155"/>
                  </a:lnTo>
                  <a:close/>
                  <a:moveTo>
                    <a:pt x="13" y="181"/>
                  </a:moveTo>
                  <a:lnTo>
                    <a:pt x="13" y="194"/>
                  </a:lnTo>
                  <a:lnTo>
                    <a:pt x="0" y="194"/>
                  </a:lnTo>
                  <a:lnTo>
                    <a:pt x="0" y="181"/>
                  </a:lnTo>
                  <a:lnTo>
                    <a:pt x="13" y="181"/>
                  </a:lnTo>
                  <a:close/>
                  <a:moveTo>
                    <a:pt x="13" y="207"/>
                  </a:moveTo>
                  <a:lnTo>
                    <a:pt x="13" y="220"/>
                  </a:lnTo>
                  <a:lnTo>
                    <a:pt x="0" y="220"/>
                  </a:lnTo>
                  <a:lnTo>
                    <a:pt x="0" y="207"/>
                  </a:lnTo>
                  <a:lnTo>
                    <a:pt x="13" y="207"/>
                  </a:lnTo>
                  <a:close/>
                  <a:moveTo>
                    <a:pt x="13" y="233"/>
                  </a:moveTo>
                  <a:lnTo>
                    <a:pt x="13" y="246"/>
                  </a:lnTo>
                  <a:lnTo>
                    <a:pt x="0" y="246"/>
                  </a:lnTo>
                  <a:lnTo>
                    <a:pt x="0" y="233"/>
                  </a:lnTo>
                  <a:lnTo>
                    <a:pt x="13" y="233"/>
                  </a:lnTo>
                  <a:close/>
                  <a:moveTo>
                    <a:pt x="13" y="259"/>
                  </a:moveTo>
                  <a:lnTo>
                    <a:pt x="13" y="272"/>
                  </a:lnTo>
                  <a:lnTo>
                    <a:pt x="0" y="272"/>
                  </a:lnTo>
                  <a:lnTo>
                    <a:pt x="0" y="259"/>
                  </a:lnTo>
                  <a:lnTo>
                    <a:pt x="13" y="259"/>
                  </a:lnTo>
                  <a:close/>
                  <a:moveTo>
                    <a:pt x="13" y="285"/>
                  </a:moveTo>
                  <a:lnTo>
                    <a:pt x="13" y="298"/>
                  </a:lnTo>
                  <a:lnTo>
                    <a:pt x="0" y="298"/>
                  </a:lnTo>
                  <a:lnTo>
                    <a:pt x="0" y="285"/>
                  </a:lnTo>
                  <a:lnTo>
                    <a:pt x="13" y="285"/>
                  </a:lnTo>
                  <a:close/>
                  <a:moveTo>
                    <a:pt x="13" y="310"/>
                  </a:moveTo>
                  <a:lnTo>
                    <a:pt x="13" y="323"/>
                  </a:lnTo>
                  <a:lnTo>
                    <a:pt x="0" y="323"/>
                  </a:lnTo>
                  <a:lnTo>
                    <a:pt x="0" y="310"/>
                  </a:lnTo>
                  <a:lnTo>
                    <a:pt x="13" y="310"/>
                  </a:lnTo>
                  <a:close/>
                  <a:moveTo>
                    <a:pt x="13" y="337"/>
                  </a:moveTo>
                  <a:lnTo>
                    <a:pt x="13" y="349"/>
                  </a:lnTo>
                  <a:lnTo>
                    <a:pt x="0" y="349"/>
                  </a:lnTo>
                  <a:lnTo>
                    <a:pt x="0" y="337"/>
                  </a:lnTo>
                  <a:lnTo>
                    <a:pt x="13" y="337"/>
                  </a:lnTo>
                  <a:close/>
                  <a:moveTo>
                    <a:pt x="13" y="362"/>
                  </a:moveTo>
                  <a:lnTo>
                    <a:pt x="13" y="375"/>
                  </a:lnTo>
                  <a:lnTo>
                    <a:pt x="0" y="375"/>
                  </a:lnTo>
                  <a:lnTo>
                    <a:pt x="0" y="362"/>
                  </a:lnTo>
                  <a:lnTo>
                    <a:pt x="13" y="362"/>
                  </a:lnTo>
                  <a:close/>
                  <a:moveTo>
                    <a:pt x="13" y="388"/>
                  </a:moveTo>
                  <a:lnTo>
                    <a:pt x="13" y="401"/>
                  </a:lnTo>
                  <a:lnTo>
                    <a:pt x="0" y="401"/>
                  </a:lnTo>
                  <a:lnTo>
                    <a:pt x="0" y="388"/>
                  </a:lnTo>
                  <a:lnTo>
                    <a:pt x="13" y="388"/>
                  </a:lnTo>
                  <a:close/>
                  <a:moveTo>
                    <a:pt x="13" y="414"/>
                  </a:moveTo>
                  <a:lnTo>
                    <a:pt x="13" y="427"/>
                  </a:lnTo>
                  <a:lnTo>
                    <a:pt x="0" y="427"/>
                  </a:lnTo>
                  <a:lnTo>
                    <a:pt x="0" y="414"/>
                  </a:lnTo>
                  <a:lnTo>
                    <a:pt x="13" y="414"/>
                  </a:lnTo>
                  <a:close/>
                  <a:moveTo>
                    <a:pt x="13" y="440"/>
                  </a:moveTo>
                  <a:lnTo>
                    <a:pt x="13" y="453"/>
                  </a:lnTo>
                  <a:lnTo>
                    <a:pt x="0" y="453"/>
                  </a:lnTo>
                  <a:lnTo>
                    <a:pt x="0" y="440"/>
                  </a:lnTo>
                  <a:lnTo>
                    <a:pt x="13" y="440"/>
                  </a:lnTo>
                  <a:close/>
                  <a:moveTo>
                    <a:pt x="13" y="466"/>
                  </a:moveTo>
                  <a:lnTo>
                    <a:pt x="13" y="479"/>
                  </a:lnTo>
                  <a:lnTo>
                    <a:pt x="0" y="479"/>
                  </a:lnTo>
                  <a:lnTo>
                    <a:pt x="0" y="466"/>
                  </a:lnTo>
                  <a:lnTo>
                    <a:pt x="13" y="466"/>
                  </a:lnTo>
                  <a:close/>
                  <a:moveTo>
                    <a:pt x="13" y="492"/>
                  </a:moveTo>
                  <a:lnTo>
                    <a:pt x="13" y="505"/>
                  </a:lnTo>
                  <a:lnTo>
                    <a:pt x="0" y="505"/>
                  </a:lnTo>
                  <a:lnTo>
                    <a:pt x="0" y="492"/>
                  </a:lnTo>
                  <a:lnTo>
                    <a:pt x="13" y="492"/>
                  </a:lnTo>
                  <a:close/>
                  <a:moveTo>
                    <a:pt x="13" y="518"/>
                  </a:moveTo>
                  <a:lnTo>
                    <a:pt x="13" y="531"/>
                  </a:lnTo>
                  <a:lnTo>
                    <a:pt x="0" y="531"/>
                  </a:lnTo>
                  <a:lnTo>
                    <a:pt x="0" y="518"/>
                  </a:lnTo>
                  <a:lnTo>
                    <a:pt x="13" y="518"/>
                  </a:lnTo>
                  <a:close/>
                  <a:moveTo>
                    <a:pt x="13" y="543"/>
                  </a:moveTo>
                  <a:lnTo>
                    <a:pt x="13" y="556"/>
                  </a:lnTo>
                  <a:lnTo>
                    <a:pt x="0" y="556"/>
                  </a:lnTo>
                  <a:lnTo>
                    <a:pt x="0" y="543"/>
                  </a:lnTo>
                  <a:lnTo>
                    <a:pt x="13" y="543"/>
                  </a:lnTo>
                  <a:close/>
                  <a:moveTo>
                    <a:pt x="13" y="570"/>
                  </a:moveTo>
                  <a:lnTo>
                    <a:pt x="13" y="582"/>
                  </a:lnTo>
                  <a:lnTo>
                    <a:pt x="0" y="582"/>
                  </a:lnTo>
                  <a:lnTo>
                    <a:pt x="0" y="570"/>
                  </a:lnTo>
                  <a:lnTo>
                    <a:pt x="13" y="570"/>
                  </a:lnTo>
                  <a:close/>
                  <a:moveTo>
                    <a:pt x="13" y="595"/>
                  </a:moveTo>
                  <a:lnTo>
                    <a:pt x="13" y="608"/>
                  </a:lnTo>
                  <a:lnTo>
                    <a:pt x="0" y="608"/>
                  </a:lnTo>
                  <a:lnTo>
                    <a:pt x="0" y="595"/>
                  </a:lnTo>
                  <a:lnTo>
                    <a:pt x="13" y="595"/>
                  </a:lnTo>
                  <a:close/>
                  <a:moveTo>
                    <a:pt x="13" y="621"/>
                  </a:moveTo>
                  <a:lnTo>
                    <a:pt x="13" y="634"/>
                  </a:lnTo>
                  <a:lnTo>
                    <a:pt x="0" y="634"/>
                  </a:lnTo>
                  <a:lnTo>
                    <a:pt x="0" y="621"/>
                  </a:lnTo>
                  <a:lnTo>
                    <a:pt x="13" y="621"/>
                  </a:lnTo>
                  <a:close/>
                  <a:moveTo>
                    <a:pt x="13" y="647"/>
                  </a:moveTo>
                  <a:lnTo>
                    <a:pt x="13" y="660"/>
                  </a:lnTo>
                  <a:lnTo>
                    <a:pt x="0" y="660"/>
                  </a:lnTo>
                  <a:lnTo>
                    <a:pt x="0" y="647"/>
                  </a:lnTo>
                  <a:lnTo>
                    <a:pt x="13" y="647"/>
                  </a:lnTo>
                  <a:close/>
                  <a:moveTo>
                    <a:pt x="13" y="673"/>
                  </a:moveTo>
                  <a:lnTo>
                    <a:pt x="13" y="686"/>
                  </a:lnTo>
                  <a:lnTo>
                    <a:pt x="0" y="686"/>
                  </a:lnTo>
                  <a:lnTo>
                    <a:pt x="0" y="673"/>
                  </a:lnTo>
                  <a:lnTo>
                    <a:pt x="13" y="673"/>
                  </a:lnTo>
                  <a:close/>
                  <a:moveTo>
                    <a:pt x="13" y="699"/>
                  </a:moveTo>
                  <a:lnTo>
                    <a:pt x="13" y="712"/>
                  </a:lnTo>
                  <a:lnTo>
                    <a:pt x="0" y="712"/>
                  </a:lnTo>
                  <a:lnTo>
                    <a:pt x="0" y="699"/>
                  </a:lnTo>
                  <a:lnTo>
                    <a:pt x="13" y="699"/>
                  </a:lnTo>
                  <a:close/>
                  <a:moveTo>
                    <a:pt x="13" y="725"/>
                  </a:moveTo>
                  <a:lnTo>
                    <a:pt x="13" y="738"/>
                  </a:lnTo>
                  <a:lnTo>
                    <a:pt x="0" y="738"/>
                  </a:lnTo>
                  <a:lnTo>
                    <a:pt x="0" y="725"/>
                  </a:lnTo>
                  <a:lnTo>
                    <a:pt x="13" y="725"/>
                  </a:lnTo>
                  <a:close/>
                  <a:moveTo>
                    <a:pt x="13" y="751"/>
                  </a:moveTo>
                  <a:lnTo>
                    <a:pt x="13" y="764"/>
                  </a:lnTo>
                  <a:lnTo>
                    <a:pt x="0" y="764"/>
                  </a:lnTo>
                  <a:lnTo>
                    <a:pt x="0" y="751"/>
                  </a:lnTo>
                  <a:lnTo>
                    <a:pt x="13" y="751"/>
                  </a:lnTo>
                  <a:close/>
                  <a:moveTo>
                    <a:pt x="13" y="776"/>
                  </a:moveTo>
                  <a:lnTo>
                    <a:pt x="13" y="789"/>
                  </a:lnTo>
                  <a:lnTo>
                    <a:pt x="0" y="789"/>
                  </a:lnTo>
                  <a:lnTo>
                    <a:pt x="0" y="776"/>
                  </a:lnTo>
                  <a:lnTo>
                    <a:pt x="13" y="776"/>
                  </a:lnTo>
                  <a:close/>
                  <a:moveTo>
                    <a:pt x="13" y="802"/>
                  </a:moveTo>
                  <a:lnTo>
                    <a:pt x="13" y="815"/>
                  </a:lnTo>
                  <a:lnTo>
                    <a:pt x="0" y="815"/>
                  </a:lnTo>
                  <a:lnTo>
                    <a:pt x="0" y="802"/>
                  </a:lnTo>
                  <a:lnTo>
                    <a:pt x="13" y="802"/>
                  </a:lnTo>
                  <a:close/>
                  <a:moveTo>
                    <a:pt x="13" y="828"/>
                  </a:moveTo>
                  <a:lnTo>
                    <a:pt x="13" y="841"/>
                  </a:lnTo>
                  <a:lnTo>
                    <a:pt x="0" y="841"/>
                  </a:lnTo>
                  <a:lnTo>
                    <a:pt x="0" y="828"/>
                  </a:lnTo>
                  <a:lnTo>
                    <a:pt x="13" y="828"/>
                  </a:lnTo>
                  <a:close/>
                  <a:moveTo>
                    <a:pt x="13" y="854"/>
                  </a:moveTo>
                  <a:lnTo>
                    <a:pt x="13" y="867"/>
                  </a:lnTo>
                  <a:lnTo>
                    <a:pt x="0" y="867"/>
                  </a:lnTo>
                  <a:lnTo>
                    <a:pt x="0" y="854"/>
                  </a:lnTo>
                  <a:lnTo>
                    <a:pt x="13" y="854"/>
                  </a:lnTo>
                  <a:close/>
                  <a:moveTo>
                    <a:pt x="13" y="880"/>
                  </a:moveTo>
                  <a:lnTo>
                    <a:pt x="13" y="893"/>
                  </a:lnTo>
                  <a:lnTo>
                    <a:pt x="0" y="893"/>
                  </a:lnTo>
                  <a:lnTo>
                    <a:pt x="0" y="880"/>
                  </a:lnTo>
                  <a:lnTo>
                    <a:pt x="13" y="880"/>
                  </a:lnTo>
                  <a:close/>
                  <a:moveTo>
                    <a:pt x="13" y="906"/>
                  </a:moveTo>
                  <a:lnTo>
                    <a:pt x="13" y="919"/>
                  </a:lnTo>
                  <a:lnTo>
                    <a:pt x="0" y="919"/>
                  </a:lnTo>
                  <a:lnTo>
                    <a:pt x="0" y="906"/>
                  </a:lnTo>
                  <a:lnTo>
                    <a:pt x="13" y="906"/>
                  </a:lnTo>
                  <a:close/>
                  <a:moveTo>
                    <a:pt x="13" y="932"/>
                  </a:moveTo>
                  <a:lnTo>
                    <a:pt x="13" y="945"/>
                  </a:lnTo>
                  <a:lnTo>
                    <a:pt x="0" y="945"/>
                  </a:lnTo>
                  <a:lnTo>
                    <a:pt x="0" y="932"/>
                  </a:lnTo>
                  <a:lnTo>
                    <a:pt x="13" y="932"/>
                  </a:lnTo>
                  <a:close/>
                  <a:moveTo>
                    <a:pt x="13" y="958"/>
                  </a:moveTo>
                  <a:lnTo>
                    <a:pt x="13" y="971"/>
                  </a:lnTo>
                  <a:lnTo>
                    <a:pt x="0" y="971"/>
                  </a:lnTo>
                  <a:lnTo>
                    <a:pt x="0" y="958"/>
                  </a:lnTo>
                  <a:lnTo>
                    <a:pt x="13" y="958"/>
                  </a:lnTo>
                  <a:close/>
                  <a:moveTo>
                    <a:pt x="13" y="984"/>
                  </a:moveTo>
                  <a:lnTo>
                    <a:pt x="13" y="997"/>
                  </a:lnTo>
                  <a:lnTo>
                    <a:pt x="0" y="997"/>
                  </a:lnTo>
                  <a:lnTo>
                    <a:pt x="0" y="984"/>
                  </a:lnTo>
                  <a:lnTo>
                    <a:pt x="13" y="984"/>
                  </a:lnTo>
                  <a:close/>
                  <a:moveTo>
                    <a:pt x="13" y="1009"/>
                  </a:moveTo>
                  <a:lnTo>
                    <a:pt x="13" y="1022"/>
                  </a:lnTo>
                  <a:lnTo>
                    <a:pt x="0" y="1022"/>
                  </a:lnTo>
                  <a:lnTo>
                    <a:pt x="0" y="1009"/>
                  </a:lnTo>
                  <a:lnTo>
                    <a:pt x="13" y="1009"/>
                  </a:lnTo>
                  <a:close/>
                  <a:moveTo>
                    <a:pt x="13" y="1035"/>
                  </a:moveTo>
                  <a:lnTo>
                    <a:pt x="13" y="1048"/>
                  </a:lnTo>
                  <a:lnTo>
                    <a:pt x="0" y="1048"/>
                  </a:lnTo>
                  <a:lnTo>
                    <a:pt x="0" y="1035"/>
                  </a:lnTo>
                  <a:lnTo>
                    <a:pt x="13" y="1035"/>
                  </a:lnTo>
                  <a:close/>
                  <a:moveTo>
                    <a:pt x="13" y="1061"/>
                  </a:moveTo>
                  <a:lnTo>
                    <a:pt x="13" y="1074"/>
                  </a:lnTo>
                  <a:lnTo>
                    <a:pt x="0" y="1074"/>
                  </a:lnTo>
                  <a:lnTo>
                    <a:pt x="0" y="1061"/>
                  </a:lnTo>
                  <a:lnTo>
                    <a:pt x="13" y="1061"/>
                  </a:lnTo>
                  <a:close/>
                  <a:moveTo>
                    <a:pt x="13" y="1087"/>
                  </a:moveTo>
                  <a:lnTo>
                    <a:pt x="13" y="1100"/>
                  </a:lnTo>
                  <a:lnTo>
                    <a:pt x="0" y="1100"/>
                  </a:lnTo>
                  <a:lnTo>
                    <a:pt x="0" y="1087"/>
                  </a:lnTo>
                  <a:lnTo>
                    <a:pt x="13" y="1087"/>
                  </a:lnTo>
                  <a:close/>
                  <a:moveTo>
                    <a:pt x="13" y="1113"/>
                  </a:moveTo>
                  <a:lnTo>
                    <a:pt x="13" y="1126"/>
                  </a:lnTo>
                  <a:lnTo>
                    <a:pt x="0" y="1126"/>
                  </a:lnTo>
                  <a:lnTo>
                    <a:pt x="0" y="1113"/>
                  </a:lnTo>
                  <a:lnTo>
                    <a:pt x="13" y="1113"/>
                  </a:lnTo>
                  <a:close/>
                  <a:moveTo>
                    <a:pt x="13" y="1139"/>
                  </a:moveTo>
                  <a:lnTo>
                    <a:pt x="13" y="1152"/>
                  </a:lnTo>
                  <a:lnTo>
                    <a:pt x="0" y="1152"/>
                  </a:lnTo>
                  <a:lnTo>
                    <a:pt x="0" y="1139"/>
                  </a:lnTo>
                  <a:lnTo>
                    <a:pt x="13" y="1139"/>
                  </a:lnTo>
                  <a:close/>
                  <a:moveTo>
                    <a:pt x="13" y="1165"/>
                  </a:moveTo>
                  <a:lnTo>
                    <a:pt x="13" y="1178"/>
                  </a:lnTo>
                  <a:lnTo>
                    <a:pt x="0" y="1178"/>
                  </a:lnTo>
                  <a:lnTo>
                    <a:pt x="0" y="1165"/>
                  </a:lnTo>
                  <a:lnTo>
                    <a:pt x="13" y="1165"/>
                  </a:lnTo>
                  <a:close/>
                  <a:moveTo>
                    <a:pt x="13" y="1191"/>
                  </a:moveTo>
                  <a:lnTo>
                    <a:pt x="13" y="1204"/>
                  </a:lnTo>
                  <a:lnTo>
                    <a:pt x="0" y="1204"/>
                  </a:lnTo>
                  <a:lnTo>
                    <a:pt x="0" y="1191"/>
                  </a:lnTo>
                  <a:lnTo>
                    <a:pt x="13" y="1191"/>
                  </a:lnTo>
                  <a:close/>
                  <a:moveTo>
                    <a:pt x="13" y="1217"/>
                  </a:moveTo>
                  <a:lnTo>
                    <a:pt x="13" y="1230"/>
                  </a:lnTo>
                  <a:lnTo>
                    <a:pt x="0" y="1230"/>
                  </a:lnTo>
                  <a:lnTo>
                    <a:pt x="0" y="1217"/>
                  </a:lnTo>
                  <a:lnTo>
                    <a:pt x="13" y="1217"/>
                  </a:lnTo>
                  <a:close/>
                  <a:moveTo>
                    <a:pt x="13" y="1242"/>
                  </a:moveTo>
                  <a:lnTo>
                    <a:pt x="13" y="1255"/>
                  </a:lnTo>
                  <a:lnTo>
                    <a:pt x="0" y="1255"/>
                  </a:lnTo>
                  <a:lnTo>
                    <a:pt x="0" y="1242"/>
                  </a:lnTo>
                  <a:lnTo>
                    <a:pt x="13" y="1242"/>
                  </a:lnTo>
                  <a:close/>
                  <a:moveTo>
                    <a:pt x="13" y="1268"/>
                  </a:moveTo>
                  <a:lnTo>
                    <a:pt x="13" y="1281"/>
                  </a:lnTo>
                  <a:lnTo>
                    <a:pt x="0" y="1281"/>
                  </a:lnTo>
                  <a:lnTo>
                    <a:pt x="0" y="1268"/>
                  </a:lnTo>
                  <a:lnTo>
                    <a:pt x="13" y="1268"/>
                  </a:lnTo>
                  <a:close/>
                  <a:moveTo>
                    <a:pt x="13" y="1294"/>
                  </a:moveTo>
                  <a:lnTo>
                    <a:pt x="13" y="1307"/>
                  </a:lnTo>
                  <a:lnTo>
                    <a:pt x="0" y="1307"/>
                  </a:lnTo>
                  <a:lnTo>
                    <a:pt x="0" y="1294"/>
                  </a:lnTo>
                  <a:lnTo>
                    <a:pt x="13" y="1294"/>
                  </a:lnTo>
                  <a:close/>
                  <a:moveTo>
                    <a:pt x="13" y="1320"/>
                  </a:moveTo>
                  <a:lnTo>
                    <a:pt x="13" y="1333"/>
                  </a:lnTo>
                  <a:lnTo>
                    <a:pt x="0" y="1333"/>
                  </a:lnTo>
                  <a:lnTo>
                    <a:pt x="0" y="1320"/>
                  </a:lnTo>
                  <a:lnTo>
                    <a:pt x="13" y="1320"/>
                  </a:lnTo>
                  <a:close/>
                  <a:moveTo>
                    <a:pt x="13" y="1346"/>
                  </a:moveTo>
                  <a:lnTo>
                    <a:pt x="13" y="1359"/>
                  </a:lnTo>
                  <a:lnTo>
                    <a:pt x="0" y="1359"/>
                  </a:lnTo>
                  <a:lnTo>
                    <a:pt x="0" y="1346"/>
                  </a:lnTo>
                  <a:lnTo>
                    <a:pt x="13" y="1346"/>
                  </a:lnTo>
                  <a:close/>
                  <a:moveTo>
                    <a:pt x="13" y="1372"/>
                  </a:moveTo>
                  <a:lnTo>
                    <a:pt x="13" y="1385"/>
                  </a:lnTo>
                  <a:lnTo>
                    <a:pt x="0" y="1385"/>
                  </a:lnTo>
                  <a:lnTo>
                    <a:pt x="0" y="1372"/>
                  </a:lnTo>
                  <a:lnTo>
                    <a:pt x="13" y="1372"/>
                  </a:lnTo>
                  <a:close/>
                  <a:moveTo>
                    <a:pt x="13" y="1398"/>
                  </a:moveTo>
                  <a:lnTo>
                    <a:pt x="13" y="1411"/>
                  </a:lnTo>
                  <a:lnTo>
                    <a:pt x="0" y="1411"/>
                  </a:lnTo>
                  <a:lnTo>
                    <a:pt x="0" y="1398"/>
                  </a:lnTo>
                  <a:lnTo>
                    <a:pt x="13" y="1398"/>
                  </a:lnTo>
                  <a:close/>
                  <a:moveTo>
                    <a:pt x="13" y="1424"/>
                  </a:moveTo>
                  <a:lnTo>
                    <a:pt x="13" y="1437"/>
                  </a:lnTo>
                  <a:lnTo>
                    <a:pt x="0" y="1437"/>
                  </a:lnTo>
                  <a:lnTo>
                    <a:pt x="0" y="1424"/>
                  </a:lnTo>
                  <a:lnTo>
                    <a:pt x="13" y="1424"/>
                  </a:lnTo>
                  <a:close/>
                  <a:moveTo>
                    <a:pt x="13" y="1450"/>
                  </a:moveTo>
                  <a:lnTo>
                    <a:pt x="13" y="1463"/>
                  </a:lnTo>
                  <a:lnTo>
                    <a:pt x="0" y="1463"/>
                  </a:lnTo>
                  <a:lnTo>
                    <a:pt x="0" y="1450"/>
                  </a:lnTo>
                  <a:lnTo>
                    <a:pt x="13" y="1450"/>
                  </a:lnTo>
                  <a:close/>
                  <a:moveTo>
                    <a:pt x="13" y="1475"/>
                  </a:moveTo>
                  <a:lnTo>
                    <a:pt x="13" y="1488"/>
                  </a:lnTo>
                  <a:lnTo>
                    <a:pt x="0" y="1488"/>
                  </a:lnTo>
                  <a:lnTo>
                    <a:pt x="0" y="1475"/>
                  </a:lnTo>
                  <a:lnTo>
                    <a:pt x="13" y="1475"/>
                  </a:lnTo>
                  <a:close/>
                  <a:moveTo>
                    <a:pt x="13" y="1501"/>
                  </a:moveTo>
                  <a:lnTo>
                    <a:pt x="13" y="1514"/>
                  </a:lnTo>
                  <a:lnTo>
                    <a:pt x="0" y="1514"/>
                  </a:lnTo>
                  <a:lnTo>
                    <a:pt x="0" y="1501"/>
                  </a:lnTo>
                  <a:lnTo>
                    <a:pt x="13" y="1501"/>
                  </a:lnTo>
                  <a:close/>
                  <a:moveTo>
                    <a:pt x="13" y="1527"/>
                  </a:moveTo>
                  <a:lnTo>
                    <a:pt x="13" y="1540"/>
                  </a:lnTo>
                  <a:lnTo>
                    <a:pt x="0" y="1540"/>
                  </a:lnTo>
                  <a:lnTo>
                    <a:pt x="0" y="1527"/>
                  </a:lnTo>
                  <a:lnTo>
                    <a:pt x="13" y="1527"/>
                  </a:lnTo>
                  <a:close/>
                  <a:moveTo>
                    <a:pt x="13" y="1553"/>
                  </a:moveTo>
                  <a:lnTo>
                    <a:pt x="13" y="1566"/>
                  </a:lnTo>
                  <a:lnTo>
                    <a:pt x="0" y="1566"/>
                  </a:lnTo>
                  <a:lnTo>
                    <a:pt x="0" y="1553"/>
                  </a:lnTo>
                  <a:lnTo>
                    <a:pt x="13" y="1553"/>
                  </a:lnTo>
                  <a:close/>
                  <a:moveTo>
                    <a:pt x="13" y="1579"/>
                  </a:moveTo>
                  <a:lnTo>
                    <a:pt x="13" y="1592"/>
                  </a:lnTo>
                  <a:lnTo>
                    <a:pt x="0" y="1592"/>
                  </a:lnTo>
                  <a:lnTo>
                    <a:pt x="0" y="1579"/>
                  </a:lnTo>
                  <a:lnTo>
                    <a:pt x="13" y="1579"/>
                  </a:lnTo>
                  <a:close/>
                  <a:moveTo>
                    <a:pt x="13" y="1605"/>
                  </a:moveTo>
                  <a:lnTo>
                    <a:pt x="13" y="1618"/>
                  </a:lnTo>
                  <a:lnTo>
                    <a:pt x="0" y="1618"/>
                  </a:lnTo>
                  <a:lnTo>
                    <a:pt x="0" y="1605"/>
                  </a:lnTo>
                  <a:lnTo>
                    <a:pt x="13" y="1605"/>
                  </a:lnTo>
                  <a:close/>
                  <a:moveTo>
                    <a:pt x="13" y="1631"/>
                  </a:moveTo>
                  <a:lnTo>
                    <a:pt x="13" y="1644"/>
                  </a:lnTo>
                  <a:lnTo>
                    <a:pt x="0" y="1644"/>
                  </a:lnTo>
                  <a:lnTo>
                    <a:pt x="0" y="1631"/>
                  </a:lnTo>
                  <a:lnTo>
                    <a:pt x="13" y="1631"/>
                  </a:lnTo>
                  <a:close/>
                  <a:moveTo>
                    <a:pt x="13" y="1657"/>
                  </a:moveTo>
                  <a:lnTo>
                    <a:pt x="13" y="1670"/>
                  </a:lnTo>
                  <a:lnTo>
                    <a:pt x="0" y="1670"/>
                  </a:lnTo>
                  <a:lnTo>
                    <a:pt x="0" y="1657"/>
                  </a:lnTo>
                  <a:lnTo>
                    <a:pt x="13" y="1657"/>
                  </a:lnTo>
                  <a:close/>
                  <a:moveTo>
                    <a:pt x="13" y="1683"/>
                  </a:moveTo>
                  <a:lnTo>
                    <a:pt x="13" y="1696"/>
                  </a:lnTo>
                  <a:lnTo>
                    <a:pt x="0" y="1696"/>
                  </a:lnTo>
                  <a:lnTo>
                    <a:pt x="0" y="1683"/>
                  </a:lnTo>
                  <a:lnTo>
                    <a:pt x="13" y="1683"/>
                  </a:lnTo>
                  <a:close/>
                  <a:moveTo>
                    <a:pt x="13" y="1708"/>
                  </a:moveTo>
                  <a:lnTo>
                    <a:pt x="13" y="1721"/>
                  </a:lnTo>
                  <a:lnTo>
                    <a:pt x="0" y="1721"/>
                  </a:lnTo>
                  <a:lnTo>
                    <a:pt x="0" y="1708"/>
                  </a:lnTo>
                  <a:lnTo>
                    <a:pt x="13" y="1708"/>
                  </a:lnTo>
                  <a:close/>
                  <a:moveTo>
                    <a:pt x="13" y="1734"/>
                  </a:moveTo>
                  <a:lnTo>
                    <a:pt x="13" y="1747"/>
                  </a:lnTo>
                  <a:lnTo>
                    <a:pt x="0" y="1747"/>
                  </a:lnTo>
                  <a:lnTo>
                    <a:pt x="0" y="1734"/>
                  </a:lnTo>
                  <a:lnTo>
                    <a:pt x="13" y="1734"/>
                  </a:lnTo>
                  <a:close/>
                  <a:moveTo>
                    <a:pt x="13" y="1760"/>
                  </a:moveTo>
                  <a:lnTo>
                    <a:pt x="13" y="1773"/>
                  </a:lnTo>
                  <a:lnTo>
                    <a:pt x="0" y="1773"/>
                  </a:lnTo>
                  <a:lnTo>
                    <a:pt x="0" y="1760"/>
                  </a:lnTo>
                  <a:lnTo>
                    <a:pt x="13" y="1760"/>
                  </a:lnTo>
                  <a:close/>
                  <a:moveTo>
                    <a:pt x="13" y="1786"/>
                  </a:moveTo>
                  <a:lnTo>
                    <a:pt x="13" y="1799"/>
                  </a:lnTo>
                  <a:lnTo>
                    <a:pt x="0" y="1799"/>
                  </a:lnTo>
                  <a:lnTo>
                    <a:pt x="0" y="1786"/>
                  </a:lnTo>
                  <a:lnTo>
                    <a:pt x="13" y="1786"/>
                  </a:lnTo>
                  <a:close/>
                  <a:moveTo>
                    <a:pt x="13" y="1812"/>
                  </a:moveTo>
                  <a:lnTo>
                    <a:pt x="13" y="1825"/>
                  </a:lnTo>
                  <a:lnTo>
                    <a:pt x="0" y="1825"/>
                  </a:lnTo>
                  <a:lnTo>
                    <a:pt x="0" y="1812"/>
                  </a:lnTo>
                  <a:lnTo>
                    <a:pt x="13" y="1812"/>
                  </a:lnTo>
                  <a:close/>
                  <a:moveTo>
                    <a:pt x="13" y="1838"/>
                  </a:moveTo>
                  <a:lnTo>
                    <a:pt x="13" y="1851"/>
                  </a:lnTo>
                  <a:lnTo>
                    <a:pt x="0" y="1851"/>
                  </a:lnTo>
                  <a:lnTo>
                    <a:pt x="0" y="1838"/>
                  </a:lnTo>
                  <a:lnTo>
                    <a:pt x="13" y="1838"/>
                  </a:lnTo>
                  <a:close/>
                  <a:moveTo>
                    <a:pt x="13" y="1864"/>
                  </a:moveTo>
                  <a:lnTo>
                    <a:pt x="13" y="1877"/>
                  </a:lnTo>
                  <a:lnTo>
                    <a:pt x="0" y="1877"/>
                  </a:lnTo>
                  <a:lnTo>
                    <a:pt x="0" y="1864"/>
                  </a:lnTo>
                  <a:lnTo>
                    <a:pt x="13" y="1864"/>
                  </a:lnTo>
                  <a:close/>
                  <a:moveTo>
                    <a:pt x="13" y="1890"/>
                  </a:moveTo>
                  <a:lnTo>
                    <a:pt x="13" y="1903"/>
                  </a:lnTo>
                  <a:lnTo>
                    <a:pt x="0" y="1903"/>
                  </a:lnTo>
                  <a:lnTo>
                    <a:pt x="0" y="1890"/>
                  </a:lnTo>
                  <a:lnTo>
                    <a:pt x="13" y="1890"/>
                  </a:lnTo>
                  <a:close/>
                  <a:moveTo>
                    <a:pt x="13" y="1916"/>
                  </a:moveTo>
                  <a:lnTo>
                    <a:pt x="13" y="1929"/>
                  </a:lnTo>
                  <a:lnTo>
                    <a:pt x="0" y="1929"/>
                  </a:lnTo>
                  <a:lnTo>
                    <a:pt x="0" y="1916"/>
                  </a:lnTo>
                  <a:lnTo>
                    <a:pt x="13" y="1916"/>
                  </a:lnTo>
                  <a:close/>
                  <a:moveTo>
                    <a:pt x="13" y="1941"/>
                  </a:moveTo>
                  <a:lnTo>
                    <a:pt x="13" y="1954"/>
                  </a:lnTo>
                  <a:lnTo>
                    <a:pt x="0" y="1954"/>
                  </a:lnTo>
                  <a:lnTo>
                    <a:pt x="0" y="1941"/>
                  </a:lnTo>
                  <a:lnTo>
                    <a:pt x="13" y="1941"/>
                  </a:lnTo>
                  <a:close/>
                  <a:moveTo>
                    <a:pt x="13" y="1967"/>
                  </a:moveTo>
                  <a:lnTo>
                    <a:pt x="13" y="1980"/>
                  </a:lnTo>
                  <a:lnTo>
                    <a:pt x="0" y="1980"/>
                  </a:lnTo>
                  <a:lnTo>
                    <a:pt x="0" y="1967"/>
                  </a:lnTo>
                  <a:lnTo>
                    <a:pt x="13" y="1967"/>
                  </a:lnTo>
                  <a:close/>
                  <a:moveTo>
                    <a:pt x="13" y="1993"/>
                  </a:moveTo>
                  <a:lnTo>
                    <a:pt x="13" y="2006"/>
                  </a:lnTo>
                  <a:lnTo>
                    <a:pt x="0" y="2006"/>
                  </a:lnTo>
                  <a:lnTo>
                    <a:pt x="0" y="1993"/>
                  </a:lnTo>
                  <a:lnTo>
                    <a:pt x="13" y="1993"/>
                  </a:lnTo>
                  <a:close/>
                  <a:moveTo>
                    <a:pt x="13" y="2019"/>
                  </a:moveTo>
                  <a:lnTo>
                    <a:pt x="13" y="2032"/>
                  </a:lnTo>
                  <a:lnTo>
                    <a:pt x="0" y="2032"/>
                  </a:lnTo>
                  <a:lnTo>
                    <a:pt x="0" y="2019"/>
                  </a:lnTo>
                  <a:lnTo>
                    <a:pt x="13" y="2019"/>
                  </a:lnTo>
                  <a:close/>
                  <a:moveTo>
                    <a:pt x="13" y="2045"/>
                  </a:moveTo>
                  <a:lnTo>
                    <a:pt x="13" y="2058"/>
                  </a:lnTo>
                  <a:lnTo>
                    <a:pt x="0" y="2058"/>
                  </a:lnTo>
                  <a:lnTo>
                    <a:pt x="0" y="2045"/>
                  </a:lnTo>
                  <a:lnTo>
                    <a:pt x="13" y="2045"/>
                  </a:lnTo>
                  <a:close/>
                  <a:moveTo>
                    <a:pt x="13" y="2071"/>
                  </a:moveTo>
                  <a:lnTo>
                    <a:pt x="13" y="2084"/>
                  </a:lnTo>
                  <a:lnTo>
                    <a:pt x="0" y="2084"/>
                  </a:lnTo>
                  <a:lnTo>
                    <a:pt x="0" y="2071"/>
                  </a:lnTo>
                  <a:lnTo>
                    <a:pt x="13" y="2071"/>
                  </a:lnTo>
                  <a:close/>
                  <a:moveTo>
                    <a:pt x="13" y="2097"/>
                  </a:moveTo>
                  <a:lnTo>
                    <a:pt x="13" y="2110"/>
                  </a:lnTo>
                  <a:lnTo>
                    <a:pt x="0" y="2110"/>
                  </a:lnTo>
                  <a:lnTo>
                    <a:pt x="0" y="2097"/>
                  </a:lnTo>
                  <a:lnTo>
                    <a:pt x="13" y="2097"/>
                  </a:lnTo>
                  <a:close/>
                  <a:moveTo>
                    <a:pt x="13" y="2123"/>
                  </a:moveTo>
                  <a:lnTo>
                    <a:pt x="13" y="2136"/>
                  </a:lnTo>
                  <a:lnTo>
                    <a:pt x="0" y="2136"/>
                  </a:lnTo>
                  <a:lnTo>
                    <a:pt x="0" y="2123"/>
                  </a:lnTo>
                  <a:lnTo>
                    <a:pt x="13" y="2123"/>
                  </a:lnTo>
                  <a:close/>
                  <a:moveTo>
                    <a:pt x="13" y="2149"/>
                  </a:moveTo>
                  <a:lnTo>
                    <a:pt x="13" y="2162"/>
                  </a:lnTo>
                  <a:lnTo>
                    <a:pt x="0" y="2162"/>
                  </a:lnTo>
                  <a:lnTo>
                    <a:pt x="0" y="2149"/>
                  </a:lnTo>
                  <a:lnTo>
                    <a:pt x="13" y="2149"/>
                  </a:lnTo>
                  <a:close/>
                  <a:moveTo>
                    <a:pt x="13" y="2174"/>
                  </a:moveTo>
                  <a:lnTo>
                    <a:pt x="13" y="2187"/>
                  </a:lnTo>
                  <a:lnTo>
                    <a:pt x="0" y="2187"/>
                  </a:lnTo>
                  <a:lnTo>
                    <a:pt x="0" y="2174"/>
                  </a:lnTo>
                  <a:lnTo>
                    <a:pt x="13" y="2174"/>
                  </a:lnTo>
                  <a:close/>
                  <a:moveTo>
                    <a:pt x="13" y="2200"/>
                  </a:moveTo>
                  <a:lnTo>
                    <a:pt x="13" y="2213"/>
                  </a:lnTo>
                  <a:lnTo>
                    <a:pt x="0" y="2213"/>
                  </a:lnTo>
                  <a:lnTo>
                    <a:pt x="0" y="2200"/>
                  </a:lnTo>
                  <a:lnTo>
                    <a:pt x="13" y="2200"/>
                  </a:lnTo>
                  <a:close/>
                  <a:moveTo>
                    <a:pt x="13" y="2226"/>
                  </a:moveTo>
                  <a:lnTo>
                    <a:pt x="13" y="2239"/>
                  </a:lnTo>
                  <a:lnTo>
                    <a:pt x="0" y="2239"/>
                  </a:lnTo>
                  <a:lnTo>
                    <a:pt x="0" y="2226"/>
                  </a:lnTo>
                  <a:lnTo>
                    <a:pt x="13" y="2226"/>
                  </a:lnTo>
                  <a:close/>
                  <a:moveTo>
                    <a:pt x="13" y="2252"/>
                  </a:moveTo>
                  <a:lnTo>
                    <a:pt x="13" y="2265"/>
                  </a:lnTo>
                  <a:lnTo>
                    <a:pt x="0" y="2265"/>
                  </a:lnTo>
                  <a:lnTo>
                    <a:pt x="0" y="2252"/>
                  </a:lnTo>
                  <a:lnTo>
                    <a:pt x="13" y="2252"/>
                  </a:lnTo>
                  <a:close/>
                  <a:moveTo>
                    <a:pt x="13" y="2278"/>
                  </a:moveTo>
                  <a:lnTo>
                    <a:pt x="13" y="2281"/>
                  </a:lnTo>
                  <a:lnTo>
                    <a:pt x="0" y="2281"/>
                  </a:lnTo>
                  <a:lnTo>
                    <a:pt x="0" y="2278"/>
                  </a:lnTo>
                  <a:lnTo>
                    <a:pt x="13" y="2278"/>
                  </a:lnTo>
                  <a:close/>
                </a:path>
              </a:pathLst>
            </a:custGeom>
            <a:solidFill>
              <a:srgbClr val="000000"/>
            </a:solidFill>
            <a:ln w="0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1" name="Freeform 35">
              <a:extLst>
                <a:ext uri="{FF2B5EF4-FFF2-40B4-BE49-F238E27FC236}">
                  <a16:creationId xmlns:a16="http://schemas.microsoft.com/office/drawing/2014/main" id="{5D01D300-3896-4CCA-8935-B86067F76EC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464" y="1978"/>
              <a:ext cx="13" cy="2281"/>
            </a:xfrm>
            <a:custGeom>
              <a:avLst/>
              <a:gdLst>
                <a:gd name="T0" fmla="*/ 13 w 13"/>
                <a:gd name="T1" fmla="*/ 39 h 2281"/>
                <a:gd name="T2" fmla="*/ 0 w 13"/>
                <a:gd name="T3" fmla="*/ 52 h 2281"/>
                <a:gd name="T4" fmla="*/ 13 w 13"/>
                <a:gd name="T5" fmla="*/ 104 h 2281"/>
                <a:gd name="T6" fmla="*/ 0 w 13"/>
                <a:gd name="T7" fmla="*/ 142 h 2281"/>
                <a:gd name="T8" fmla="*/ 13 w 13"/>
                <a:gd name="T9" fmla="*/ 155 h 2281"/>
                <a:gd name="T10" fmla="*/ 13 w 13"/>
                <a:gd name="T11" fmla="*/ 220 h 2281"/>
                <a:gd name="T12" fmla="*/ 0 w 13"/>
                <a:gd name="T13" fmla="*/ 233 h 2281"/>
                <a:gd name="T14" fmla="*/ 13 w 13"/>
                <a:gd name="T15" fmla="*/ 285 h 2281"/>
                <a:gd name="T16" fmla="*/ 0 w 13"/>
                <a:gd name="T17" fmla="*/ 323 h 2281"/>
                <a:gd name="T18" fmla="*/ 13 w 13"/>
                <a:gd name="T19" fmla="*/ 337 h 2281"/>
                <a:gd name="T20" fmla="*/ 13 w 13"/>
                <a:gd name="T21" fmla="*/ 401 h 2281"/>
                <a:gd name="T22" fmla="*/ 0 w 13"/>
                <a:gd name="T23" fmla="*/ 414 h 2281"/>
                <a:gd name="T24" fmla="*/ 13 w 13"/>
                <a:gd name="T25" fmla="*/ 466 h 2281"/>
                <a:gd name="T26" fmla="*/ 0 w 13"/>
                <a:gd name="T27" fmla="*/ 505 h 2281"/>
                <a:gd name="T28" fmla="*/ 13 w 13"/>
                <a:gd name="T29" fmla="*/ 518 h 2281"/>
                <a:gd name="T30" fmla="*/ 13 w 13"/>
                <a:gd name="T31" fmla="*/ 582 h 2281"/>
                <a:gd name="T32" fmla="*/ 0 w 13"/>
                <a:gd name="T33" fmla="*/ 595 h 2281"/>
                <a:gd name="T34" fmla="*/ 13 w 13"/>
                <a:gd name="T35" fmla="*/ 647 h 2281"/>
                <a:gd name="T36" fmla="*/ 0 w 13"/>
                <a:gd name="T37" fmla="*/ 686 h 2281"/>
                <a:gd name="T38" fmla="*/ 13 w 13"/>
                <a:gd name="T39" fmla="*/ 699 h 2281"/>
                <a:gd name="T40" fmla="*/ 13 w 13"/>
                <a:gd name="T41" fmla="*/ 764 h 2281"/>
                <a:gd name="T42" fmla="*/ 0 w 13"/>
                <a:gd name="T43" fmla="*/ 776 h 2281"/>
                <a:gd name="T44" fmla="*/ 13 w 13"/>
                <a:gd name="T45" fmla="*/ 828 h 2281"/>
                <a:gd name="T46" fmla="*/ 0 w 13"/>
                <a:gd name="T47" fmla="*/ 867 h 2281"/>
                <a:gd name="T48" fmla="*/ 13 w 13"/>
                <a:gd name="T49" fmla="*/ 880 h 2281"/>
                <a:gd name="T50" fmla="*/ 13 w 13"/>
                <a:gd name="T51" fmla="*/ 945 h 2281"/>
                <a:gd name="T52" fmla="*/ 0 w 13"/>
                <a:gd name="T53" fmla="*/ 958 h 2281"/>
                <a:gd name="T54" fmla="*/ 13 w 13"/>
                <a:gd name="T55" fmla="*/ 1009 h 2281"/>
                <a:gd name="T56" fmla="*/ 0 w 13"/>
                <a:gd name="T57" fmla="*/ 1048 h 2281"/>
                <a:gd name="T58" fmla="*/ 13 w 13"/>
                <a:gd name="T59" fmla="*/ 1061 h 2281"/>
                <a:gd name="T60" fmla="*/ 13 w 13"/>
                <a:gd name="T61" fmla="*/ 1126 h 2281"/>
                <a:gd name="T62" fmla="*/ 0 w 13"/>
                <a:gd name="T63" fmla="*/ 1139 h 2281"/>
                <a:gd name="T64" fmla="*/ 13 w 13"/>
                <a:gd name="T65" fmla="*/ 1191 h 2281"/>
                <a:gd name="T66" fmla="*/ 0 w 13"/>
                <a:gd name="T67" fmla="*/ 1230 h 2281"/>
                <a:gd name="T68" fmla="*/ 13 w 13"/>
                <a:gd name="T69" fmla="*/ 1242 h 2281"/>
                <a:gd name="T70" fmla="*/ 13 w 13"/>
                <a:gd name="T71" fmla="*/ 1307 h 2281"/>
                <a:gd name="T72" fmla="*/ 0 w 13"/>
                <a:gd name="T73" fmla="*/ 1320 h 2281"/>
                <a:gd name="T74" fmla="*/ 13 w 13"/>
                <a:gd name="T75" fmla="*/ 1372 h 2281"/>
                <a:gd name="T76" fmla="*/ 0 w 13"/>
                <a:gd name="T77" fmla="*/ 1411 h 2281"/>
                <a:gd name="T78" fmla="*/ 13 w 13"/>
                <a:gd name="T79" fmla="*/ 1424 h 2281"/>
                <a:gd name="T80" fmla="*/ 13 w 13"/>
                <a:gd name="T81" fmla="*/ 1488 h 2281"/>
                <a:gd name="T82" fmla="*/ 0 w 13"/>
                <a:gd name="T83" fmla="*/ 1501 h 2281"/>
                <a:gd name="T84" fmla="*/ 13 w 13"/>
                <a:gd name="T85" fmla="*/ 1553 h 2281"/>
                <a:gd name="T86" fmla="*/ 0 w 13"/>
                <a:gd name="T87" fmla="*/ 1592 h 2281"/>
                <a:gd name="T88" fmla="*/ 13 w 13"/>
                <a:gd name="T89" fmla="*/ 1605 h 2281"/>
                <a:gd name="T90" fmla="*/ 13 w 13"/>
                <a:gd name="T91" fmla="*/ 1670 h 2281"/>
                <a:gd name="T92" fmla="*/ 0 w 13"/>
                <a:gd name="T93" fmla="*/ 1683 h 2281"/>
                <a:gd name="T94" fmla="*/ 13 w 13"/>
                <a:gd name="T95" fmla="*/ 1734 h 2281"/>
                <a:gd name="T96" fmla="*/ 0 w 13"/>
                <a:gd name="T97" fmla="*/ 1773 h 2281"/>
                <a:gd name="T98" fmla="*/ 13 w 13"/>
                <a:gd name="T99" fmla="*/ 1786 h 2281"/>
                <a:gd name="T100" fmla="*/ 13 w 13"/>
                <a:gd name="T101" fmla="*/ 1851 h 2281"/>
                <a:gd name="T102" fmla="*/ 0 w 13"/>
                <a:gd name="T103" fmla="*/ 1864 h 2281"/>
                <a:gd name="T104" fmla="*/ 13 w 13"/>
                <a:gd name="T105" fmla="*/ 1916 h 2281"/>
                <a:gd name="T106" fmla="*/ 0 w 13"/>
                <a:gd name="T107" fmla="*/ 1954 h 2281"/>
                <a:gd name="T108" fmla="*/ 13 w 13"/>
                <a:gd name="T109" fmla="*/ 1967 h 2281"/>
                <a:gd name="T110" fmla="*/ 13 w 13"/>
                <a:gd name="T111" fmla="*/ 2032 h 2281"/>
                <a:gd name="T112" fmla="*/ 0 w 13"/>
                <a:gd name="T113" fmla="*/ 2045 h 2281"/>
                <a:gd name="T114" fmla="*/ 13 w 13"/>
                <a:gd name="T115" fmla="*/ 2097 h 2281"/>
                <a:gd name="T116" fmla="*/ 0 w 13"/>
                <a:gd name="T117" fmla="*/ 2136 h 2281"/>
                <a:gd name="T118" fmla="*/ 13 w 13"/>
                <a:gd name="T119" fmla="*/ 2149 h 2281"/>
                <a:gd name="T120" fmla="*/ 13 w 13"/>
                <a:gd name="T121" fmla="*/ 2213 h 2281"/>
                <a:gd name="T122" fmla="*/ 0 w 13"/>
                <a:gd name="T123" fmla="*/ 2226 h 2281"/>
                <a:gd name="T124" fmla="*/ 13 w 13"/>
                <a:gd name="T125" fmla="*/ 2278 h 22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3" h="2281">
                  <a:moveTo>
                    <a:pt x="13" y="0"/>
                  </a:moveTo>
                  <a:lnTo>
                    <a:pt x="13" y="13"/>
                  </a:lnTo>
                  <a:lnTo>
                    <a:pt x="0" y="13"/>
                  </a:lnTo>
                  <a:lnTo>
                    <a:pt x="0" y="0"/>
                  </a:lnTo>
                  <a:lnTo>
                    <a:pt x="13" y="0"/>
                  </a:lnTo>
                  <a:close/>
                  <a:moveTo>
                    <a:pt x="13" y="26"/>
                  </a:moveTo>
                  <a:lnTo>
                    <a:pt x="13" y="39"/>
                  </a:lnTo>
                  <a:lnTo>
                    <a:pt x="0" y="39"/>
                  </a:lnTo>
                  <a:lnTo>
                    <a:pt x="0" y="26"/>
                  </a:lnTo>
                  <a:lnTo>
                    <a:pt x="13" y="26"/>
                  </a:lnTo>
                  <a:close/>
                  <a:moveTo>
                    <a:pt x="13" y="52"/>
                  </a:moveTo>
                  <a:lnTo>
                    <a:pt x="13" y="65"/>
                  </a:lnTo>
                  <a:lnTo>
                    <a:pt x="0" y="65"/>
                  </a:lnTo>
                  <a:lnTo>
                    <a:pt x="0" y="52"/>
                  </a:lnTo>
                  <a:lnTo>
                    <a:pt x="13" y="52"/>
                  </a:lnTo>
                  <a:close/>
                  <a:moveTo>
                    <a:pt x="13" y="77"/>
                  </a:moveTo>
                  <a:lnTo>
                    <a:pt x="13" y="90"/>
                  </a:lnTo>
                  <a:lnTo>
                    <a:pt x="0" y="90"/>
                  </a:lnTo>
                  <a:lnTo>
                    <a:pt x="0" y="77"/>
                  </a:lnTo>
                  <a:lnTo>
                    <a:pt x="13" y="77"/>
                  </a:lnTo>
                  <a:close/>
                  <a:moveTo>
                    <a:pt x="13" y="104"/>
                  </a:moveTo>
                  <a:lnTo>
                    <a:pt x="13" y="116"/>
                  </a:lnTo>
                  <a:lnTo>
                    <a:pt x="0" y="116"/>
                  </a:lnTo>
                  <a:lnTo>
                    <a:pt x="0" y="104"/>
                  </a:lnTo>
                  <a:lnTo>
                    <a:pt x="13" y="104"/>
                  </a:lnTo>
                  <a:close/>
                  <a:moveTo>
                    <a:pt x="13" y="129"/>
                  </a:moveTo>
                  <a:lnTo>
                    <a:pt x="13" y="142"/>
                  </a:lnTo>
                  <a:lnTo>
                    <a:pt x="0" y="142"/>
                  </a:lnTo>
                  <a:lnTo>
                    <a:pt x="0" y="129"/>
                  </a:lnTo>
                  <a:lnTo>
                    <a:pt x="13" y="129"/>
                  </a:lnTo>
                  <a:close/>
                  <a:moveTo>
                    <a:pt x="13" y="155"/>
                  </a:moveTo>
                  <a:lnTo>
                    <a:pt x="13" y="168"/>
                  </a:lnTo>
                  <a:lnTo>
                    <a:pt x="0" y="168"/>
                  </a:lnTo>
                  <a:lnTo>
                    <a:pt x="0" y="155"/>
                  </a:lnTo>
                  <a:lnTo>
                    <a:pt x="13" y="155"/>
                  </a:lnTo>
                  <a:close/>
                  <a:moveTo>
                    <a:pt x="13" y="181"/>
                  </a:moveTo>
                  <a:lnTo>
                    <a:pt x="13" y="194"/>
                  </a:lnTo>
                  <a:lnTo>
                    <a:pt x="0" y="194"/>
                  </a:lnTo>
                  <a:lnTo>
                    <a:pt x="0" y="181"/>
                  </a:lnTo>
                  <a:lnTo>
                    <a:pt x="13" y="181"/>
                  </a:lnTo>
                  <a:close/>
                  <a:moveTo>
                    <a:pt x="13" y="207"/>
                  </a:moveTo>
                  <a:lnTo>
                    <a:pt x="13" y="220"/>
                  </a:lnTo>
                  <a:lnTo>
                    <a:pt x="0" y="220"/>
                  </a:lnTo>
                  <a:lnTo>
                    <a:pt x="0" y="207"/>
                  </a:lnTo>
                  <a:lnTo>
                    <a:pt x="13" y="207"/>
                  </a:lnTo>
                  <a:close/>
                  <a:moveTo>
                    <a:pt x="13" y="233"/>
                  </a:moveTo>
                  <a:lnTo>
                    <a:pt x="13" y="246"/>
                  </a:lnTo>
                  <a:lnTo>
                    <a:pt x="0" y="246"/>
                  </a:lnTo>
                  <a:lnTo>
                    <a:pt x="0" y="233"/>
                  </a:lnTo>
                  <a:lnTo>
                    <a:pt x="13" y="233"/>
                  </a:lnTo>
                  <a:close/>
                  <a:moveTo>
                    <a:pt x="13" y="259"/>
                  </a:moveTo>
                  <a:lnTo>
                    <a:pt x="13" y="272"/>
                  </a:lnTo>
                  <a:lnTo>
                    <a:pt x="0" y="272"/>
                  </a:lnTo>
                  <a:lnTo>
                    <a:pt x="0" y="259"/>
                  </a:lnTo>
                  <a:lnTo>
                    <a:pt x="13" y="259"/>
                  </a:lnTo>
                  <a:close/>
                  <a:moveTo>
                    <a:pt x="13" y="285"/>
                  </a:moveTo>
                  <a:lnTo>
                    <a:pt x="13" y="298"/>
                  </a:lnTo>
                  <a:lnTo>
                    <a:pt x="0" y="298"/>
                  </a:lnTo>
                  <a:lnTo>
                    <a:pt x="0" y="285"/>
                  </a:lnTo>
                  <a:lnTo>
                    <a:pt x="13" y="285"/>
                  </a:lnTo>
                  <a:close/>
                  <a:moveTo>
                    <a:pt x="13" y="310"/>
                  </a:moveTo>
                  <a:lnTo>
                    <a:pt x="13" y="323"/>
                  </a:lnTo>
                  <a:lnTo>
                    <a:pt x="0" y="323"/>
                  </a:lnTo>
                  <a:lnTo>
                    <a:pt x="0" y="310"/>
                  </a:lnTo>
                  <a:lnTo>
                    <a:pt x="13" y="310"/>
                  </a:lnTo>
                  <a:close/>
                  <a:moveTo>
                    <a:pt x="13" y="337"/>
                  </a:moveTo>
                  <a:lnTo>
                    <a:pt x="13" y="349"/>
                  </a:lnTo>
                  <a:lnTo>
                    <a:pt x="0" y="349"/>
                  </a:lnTo>
                  <a:lnTo>
                    <a:pt x="0" y="337"/>
                  </a:lnTo>
                  <a:lnTo>
                    <a:pt x="13" y="337"/>
                  </a:lnTo>
                  <a:close/>
                  <a:moveTo>
                    <a:pt x="13" y="362"/>
                  </a:moveTo>
                  <a:lnTo>
                    <a:pt x="13" y="375"/>
                  </a:lnTo>
                  <a:lnTo>
                    <a:pt x="0" y="375"/>
                  </a:lnTo>
                  <a:lnTo>
                    <a:pt x="0" y="362"/>
                  </a:lnTo>
                  <a:lnTo>
                    <a:pt x="13" y="362"/>
                  </a:lnTo>
                  <a:close/>
                  <a:moveTo>
                    <a:pt x="13" y="388"/>
                  </a:moveTo>
                  <a:lnTo>
                    <a:pt x="13" y="401"/>
                  </a:lnTo>
                  <a:lnTo>
                    <a:pt x="0" y="401"/>
                  </a:lnTo>
                  <a:lnTo>
                    <a:pt x="0" y="388"/>
                  </a:lnTo>
                  <a:lnTo>
                    <a:pt x="13" y="388"/>
                  </a:lnTo>
                  <a:close/>
                  <a:moveTo>
                    <a:pt x="13" y="414"/>
                  </a:moveTo>
                  <a:lnTo>
                    <a:pt x="13" y="427"/>
                  </a:lnTo>
                  <a:lnTo>
                    <a:pt x="0" y="427"/>
                  </a:lnTo>
                  <a:lnTo>
                    <a:pt x="0" y="414"/>
                  </a:lnTo>
                  <a:lnTo>
                    <a:pt x="13" y="414"/>
                  </a:lnTo>
                  <a:close/>
                  <a:moveTo>
                    <a:pt x="13" y="440"/>
                  </a:moveTo>
                  <a:lnTo>
                    <a:pt x="13" y="453"/>
                  </a:lnTo>
                  <a:lnTo>
                    <a:pt x="0" y="453"/>
                  </a:lnTo>
                  <a:lnTo>
                    <a:pt x="0" y="440"/>
                  </a:lnTo>
                  <a:lnTo>
                    <a:pt x="13" y="440"/>
                  </a:lnTo>
                  <a:close/>
                  <a:moveTo>
                    <a:pt x="13" y="466"/>
                  </a:moveTo>
                  <a:lnTo>
                    <a:pt x="13" y="479"/>
                  </a:lnTo>
                  <a:lnTo>
                    <a:pt x="0" y="479"/>
                  </a:lnTo>
                  <a:lnTo>
                    <a:pt x="0" y="466"/>
                  </a:lnTo>
                  <a:lnTo>
                    <a:pt x="13" y="466"/>
                  </a:lnTo>
                  <a:close/>
                  <a:moveTo>
                    <a:pt x="13" y="492"/>
                  </a:moveTo>
                  <a:lnTo>
                    <a:pt x="13" y="505"/>
                  </a:lnTo>
                  <a:lnTo>
                    <a:pt x="0" y="505"/>
                  </a:lnTo>
                  <a:lnTo>
                    <a:pt x="0" y="492"/>
                  </a:lnTo>
                  <a:lnTo>
                    <a:pt x="13" y="492"/>
                  </a:lnTo>
                  <a:close/>
                  <a:moveTo>
                    <a:pt x="13" y="518"/>
                  </a:moveTo>
                  <a:lnTo>
                    <a:pt x="13" y="531"/>
                  </a:lnTo>
                  <a:lnTo>
                    <a:pt x="0" y="531"/>
                  </a:lnTo>
                  <a:lnTo>
                    <a:pt x="0" y="518"/>
                  </a:lnTo>
                  <a:lnTo>
                    <a:pt x="13" y="518"/>
                  </a:lnTo>
                  <a:close/>
                  <a:moveTo>
                    <a:pt x="13" y="543"/>
                  </a:moveTo>
                  <a:lnTo>
                    <a:pt x="13" y="556"/>
                  </a:lnTo>
                  <a:lnTo>
                    <a:pt x="0" y="556"/>
                  </a:lnTo>
                  <a:lnTo>
                    <a:pt x="0" y="543"/>
                  </a:lnTo>
                  <a:lnTo>
                    <a:pt x="13" y="543"/>
                  </a:lnTo>
                  <a:close/>
                  <a:moveTo>
                    <a:pt x="13" y="570"/>
                  </a:moveTo>
                  <a:lnTo>
                    <a:pt x="13" y="582"/>
                  </a:lnTo>
                  <a:lnTo>
                    <a:pt x="0" y="582"/>
                  </a:lnTo>
                  <a:lnTo>
                    <a:pt x="0" y="570"/>
                  </a:lnTo>
                  <a:lnTo>
                    <a:pt x="13" y="570"/>
                  </a:lnTo>
                  <a:close/>
                  <a:moveTo>
                    <a:pt x="13" y="595"/>
                  </a:moveTo>
                  <a:lnTo>
                    <a:pt x="13" y="608"/>
                  </a:lnTo>
                  <a:lnTo>
                    <a:pt x="0" y="608"/>
                  </a:lnTo>
                  <a:lnTo>
                    <a:pt x="0" y="595"/>
                  </a:lnTo>
                  <a:lnTo>
                    <a:pt x="13" y="595"/>
                  </a:lnTo>
                  <a:close/>
                  <a:moveTo>
                    <a:pt x="13" y="621"/>
                  </a:moveTo>
                  <a:lnTo>
                    <a:pt x="13" y="634"/>
                  </a:lnTo>
                  <a:lnTo>
                    <a:pt x="0" y="634"/>
                  </a:lnTo>
                  <a:lnTo>
                    <a:pt x="0" y="621"/>
                  </a:lnTo>
                  <a:lnTo>
                    <a:pt x="13" y="621"/>
                  </a:lnTo>
                  <a:close/>
                  <a:moveTo>
                    <a:pt x="13" y="647"/>
                  </a:moveTo>
                  <a:lnTo>
                    <a:pt x="13" y="660"/>
                  </a:lnTo>
                  <a:lnTo>
                    <a:pt x="0" y="660"/>
                  </a:lnTo>
                  <a:lnTo>
                    <a:pt x="0" y="647"/>
                  </a:lnTo>
                  <a:lnTo>
                    <a:pt x="13" y="647"/>
                  </a:lnTo>
                  <a:close/>
                  <a:moveTo>
                    <a:pt x="13" y="673"/>
                  </a:moveTo>
                  <a:lnTo>
                    <a:pt x="13" y="686"/>
                  </a:lnTo>
                  <a:lnTo>
                    <a:pt x="0" y="686"/>
                  </a:lnTo>
                  <a:lnTo>
                    <a:pt x="0" y="673"/>
                  </a:lnTo>
                  <a:lnTo>
                    <a:pt x="13" y="673"/>
                  </a:lnTo>
                  <a:close/>
                  <a:moveTo>
                    <a:pt x="13" y="699"/>
                  </a:moveTo>
                  <a:lnTo>
                    <a:pt x="13" y="712"/>
                  </a:lnTo>
                  <a:lnTo>
                    <a:pt x="0" y="712"/>
                  </a:lnTo>
                  <a:lnTo>
                    <a:pt x="0" y="699"/>
                  </a:lnTo>
                  <a:lnTo>
                    <a:pt x="13" y="699"/>
                  </a:lnTo>
                  <a:close/>
                  <a:moveTo>
                    <a:pt x="13" y="725"/>
                  </a:moveTo>
                  <a:lnTo>
                    <a:pt x="13" y="738"/>
                  </a:lnTo>
                  <a:lnTo>
                    <a:pt x="0" y="738"/>
                  </a:lnTo>
                  <a:lnTo>
                    <a:pt x="0" y="725"/>
                  </a:lnTo>
                  <a:lnTo>
                    <a:pt x="13" y="725"/>
                  </a:lnTo>
                  <a:close/>
                  <a:moveTo>
                    <a:pt x="13" y="751"/>
                  </a:moveTo>
                  <a:lnTo>
                    <a:pt x="13" y="764"/>
                  </a:lnTo>
                  <a:lnTo>
                    <a:pt x="0" y="764"/>
                  </a:lnTo>
                  <a:lnTo>
                    <a:pt x="0" y="751"/>
                  </a:lnTo>
                  <a:lnTo>
                    <a:pt x="13" y="751"/>
                  </a:lnTo>
                  <a:close/>
                  <a:moveTo>
                    <a:pt x="13" y="776"/>
                  </a:moveTo>
                  <a:lnTo>
                    <a:pt x="13" y="789"/>
                  </a:lnTo>
                  <a:lnTo>
                    <a:pt x="0" y="789"/>
                  </a:lnTo>
                  <a:lnTo>
                    <a:pt x="0" y="776"/>
                  </a:lnTo>
                  <a:lnTo>
                    <a:pt x="13" y="776"/>
                  </a:lnTo>
                  <a:close/>
                  <a:moveTo>
                    <a:pt x="13" y="802"/>
                  </a:moveTo>
                  <a:lnTo>
                    <a:pt x="13" y="815"/>
                  </a:lnTo>
                  <a:lnTo>
                    <a:pt x="0" y="815"/>
                  </a:lnTo>
                  <a:lnTo>
                    <a:pt x="0" y="802"/>
                  </a:lnTo>
                  <a:lnTo>
                    <a:pt x="13" y="802"/>
                  </a:lnTo>
                  <a:close/>
                  <a:moveTo>
                    <a:pt x="13" y="828"/>
                  </a:moveTo>
                  <a:lnTo>
                    <a:pt x="13" y="841"/>
                  </a:lnTo>
                  <a:lnTo>
                    <a:pt x="0" y="841"/>
                  </a:lnTo>
                  <a:lnTo>
                    <a:pt x="0" y="828"/>
                  </a:lnTo>
                  <a:lnTo>
                    <a:pt x="13" y="828"/>
                  </a:lnTo>
                  <a:close/>
                  <a:moveTo>
                    <a:pt x="13" y="854"/>
                  </a:moveTo>
                  <a:lnTo>
                    <a:pt x="13" y="867"/>
                  </a:lnTo>
                  <a:lnTo>
                    <a:pt x="0" y="867"/>
                  </a:lnTo>
                  <a:lnTo>
                    <a:pt x="0" y="854"/>
                  </a:lnTo>
                  <a:lnTo>
                    <a:pt x="13" y="854"/>
                  </a:lnTo>
                  <a:close/>
                  <a:moveTo>
                    <a:pt x="13" y="880"/>
                  </a:moveTo>
                  <a:lnTo>
                    <a:pt x="13" y="893"/>
                  </a:lnTo>
                  <a:lnTo>
                    <a:pt x="0" y="893"/>
                  </a:lnTo>
                  <a:lnTo>
                    <a:pt x="0" y="880"/>
                  </a:lnTo>
                  <a:lnTo>
                    <a:pt x="13" y="880"/>
                  </a:lnTo>
                  <a:close/>
                  <a:moveTo>
                    <a:pt x="13" y="906"/>
                  </a:moveTo>
                  <a:lnTo>
                    <a:pt x="13" y="919"/>
                  </a:lnTo>
                  <a:lnTo>
                    <a:pt x="0" y="919"/>
                  </a:lnTo>
                  <a:lnTo>
                    <a:pt x="0" y="906"/>
                  </a:lnTo>
                  <a:lnTo>
                    <a:pt x="13" y="906"/>
                  </a:lnTo>
                  <a:close/>
                  <a:moveTo>
                    <a:pt x="13" y="932"/>
                  </a:moveTo>
                  <a:lnTo>
                    <a:pt x="13" y="945"/>
                  </a:lnTo>
                  <a:lnTo>
                    <a:pt x="0" y="945"/>
                  </a:lnTo>
                  <a:lnTo>
                    <a:pt x="0" y="932"/>
                  </a:lnTo>
                  <a:lnTo>
                    <a:pt x="13" y="932"/>
                  </a:lnTo>
                  <a:close/>
                  <a:moveTo>
                    <a:pt x="13" y="958"/>
                  </a:moveTo>
                  <a:lnTo>
                    <a:pt x="13" y="971"/>
                  </a:lnTo>
                  <a:lnTo>
                    <a:pt x="0" y="971"/>
                  </a:lnTo>
                  <a:lnTo>
                    <a:pt x="0" y="958"/>
                  </a:lnTo>
                  <a:lnTo>
                    <a:pt x="13" y="958"/>
                  </a:lnTo>
                  <a:close/>
                  <a:moveTo>
                    <a:pt x="13" y="984"/>
                  </a:moveTo>
                  <a:lnTo>
                    <a:pt x="13" y="997"/>
                  </a:lnTo>
                  <a:lnTo>
                    <a:pt x="0" y="997"/>
                  </a:lnTo>
                  <a:lnTo>
                    <a:pt x="0" y="984"/>
                  </a:lnTo>
                  <a:lnTo>
                    <a:pt x="13" y="984"/>
                  </a:lnTo>
                  <a:close/>
                  <a:moveTo>
                    <a:pt x="13" y="1009"/>
                  </a:moveTo>
                  <a:lnTo>
                    <a:pt x="13" y="1022"/>
                  </a:lnTo>
                  <a:lnTo>
                    <a:pt x="0" y="1022"/>
                  </a:lnTo>
                  <a:lnTo>
                    <a:pt x="0" y="1009"/>
                  </a:lnTo>
                  <a:lnTo>
                    <a:pt x="13" y="1009"/>
                  </a:lnTo>
                  <a:close/>
                  <a:moveTo>
                    <a:pt x="13" y="1035"/>
                  </a:moveTo>
                  <a:lnTo>
                    <a:pt x="13" y="1048"/>
                  </a:lnTo>
                  <a:lnTo>
                    <a:pt x="0" y="1048"/>
                  </a:lnTo>
                  <a:lnTo>
                    <a:pt x="0" y="1035"/>
                  </a:lnTo>
                  <a:lnTo>
                    <a:pt x="13" y="1035"/>
                  </a:lnTo>
                  <a:close/>
                  <a:moveTo>
                    <a:pt x="13" y="1061"/>
                  </a:moveTo>
                  <a:lnTo>
                    <a:pt x="13" y="1074"/>
                  </a:lnTo>
                  <a:lnTo>
                    <a:pt x="0" y="1074"/>
                  </a:lnTo>
                  <a:lnTo>
                    <a:pt x="0" y="1061"/>
                  </a:lnTo>
                  <a:lnTo>
                    <a:pt x="13" y="1061"/>
                  </a:lnTo>
                  <a:close/>
                  <a:moveTo>
                    <a:pt x="13" y="1087"/>
                  </a:moveTo>
                  <a:lnTo>
                    <a:pt x="13" y="1100"/>
                  </a:lnTo>
                  <a:lnTo>
                    <a:pt x="0" y="1100"/>
                  </a:lnTo>
                  <a:lnTo>
                    <a:pt x="0" y="1087"/>
                  </a:lnTo>
                  <a:lnTo>
                    <a:pt x="13" y="1087"/>
                  </a:lnTo>
                  <a:close/>
                  <a:moveTo>
                    <a:pt x="13" y="1113"/>
                  </a:moveTo>
                  <a:lnTo>
                    <a:pt x="13" y="1126"/>
                  </a:lnTo>
                  <a:lnTo>
                    <a:pt x="0" y="1126"/>
                  </a:lnTo>
                  <a:lnTo>
                    <a:pt x="0" y="1113"/>
                  </a:lnTo>
                  <a:lnTo>
                    <a:pt x="13" y="1113"/>
                  </a:lnTo>
                  <a:close/>
                  <a:moveTo>
                    <a:pt x="13" y="1139"/>
                  </a:moveTo>
                  <a:lnTo>
                    <a:pt x="13" y="1152"/>
                  </a:lnTo>
                  <a:lnTo>
                    <a:pt x="0" y="1152"/>
                  </a:lnTo>
                  <a:lnTo>
                    <a:pt x="0" y="1139"/>
                  </a:lnTo>
                  <a:lnTo>
                    <a:pt x="13" y="1139"/>
                  </a:lnTo>
                  <a:close/>
                  <a:moveTo>
                    <a:pt x="13" y="1165"/>
                  </a:moveTo>
                  <a:lnTo>
                    <a:pt x="13" y="1178"/>
                  </a:lnTo>
                  <a:lnTo>
                    <a:pt x="0" y="1178"/>
                  </a:lnTo>
                  <a:lnTo>
                    <a:pt x="0" y="1165"/>
                  </a:lnTo>
                  <a:lnTo>
                    <a:pt x="13" y="1165"/>
                  </a:lnTo>
                  <a:close/>
                  <a:moveTo>
                    <a:pt x="13" y="1191"/>
                  </a:moveTo>
                  <a:lnTo>
                    <a:pt x="13" y="1204"/>
                  </a:lnTo>
                  <a:lnTo>
                    <a:pt x="0" y="1204"/>
                  </a:lnTo>
                  <a:lnTo>
                    <a:pt x="0" y="1191"/>
                  </a:lnTo>
                  <a:lnTo>
                    <a:pt x="13" y="1191"/>
                  </a:lnTo>
                  <a:close/>
                  <a:moveTo>
                    <a:pt x="13" y="1217"/>
                  </a:moveTo>
                  <a:lnTo>
                    <a:pt x="13" y="1230"/>
                  </a:lnTo>
                  <a:lnTo>
                    <a:pt x="0" y="1230"/>
                  </a:lnTo>
                  <a:lnTo>
                    <a:pt x="0" y="1217"/>
                  </a:lnTo>
                  <a:lnTo>
                    <a:pt x="13" y="1217"/>
                  </a:lnTo>
                  <a:close/>
                  <a:moveTo>
                    <a:pt x="13" y="1242"/>
                  </a:moveTo>
                  <a:lnTo>
                    <a:pt x="13" y="1255"/>
                  </a:lnTo>
                  <a:lnTo>
                    <a:pt x="0" y="1255"/>
                  </a:lnTo>
                  <a:lnTo>
                    <a:pt x="0" y="1242"/>
                  </a:lnTo>
                  <a:lnTo>
                    <a:pt x="13" y="1242"/>
                  </a:lnTo>
                  <a:close/>
                  <a:moveTo>
                    <a:pt x="13" y="1268"/>
                  </a:moveTo>
                  <a:lnTo>
                    <a:pt x="13" y="1281"/>
                  </a:lnTo>
                  <a:lnTo>
                    <a:pt x="0" y="1281"/>
                  </a:lnTo>
                  <a:lnTo>
                    <a:pt x="0" y="1268"/>
                  </a:lnTo>
                  <a:lnTo>
                    <a:pt x="13" y="1268"/>
                  </a:lnTo>
                  <a:close/>
                  <a:moveTo>
                    <a:pt x="13" y="1294"/>
                  </a:moveTo>
                  <a:lnTo>
                    <a:pt x="13" y="1307"/>
                  </a:lnTo>
                  <a:lnTo>
                    <a:pt x="0" y="1307"/>
                  </a:lnTo>
                  <a:lnTo>
                    <a:pt x="0" y="1294"/>
                  </a:lnTo>
                  <a:lnTo>
                    <a:pt x="13" y="1294"/>
                  </a:lnTo>
                  <a:close/>
                  <a:moveTo>
                    <a:pt x="13" y="1320"/>
                  </a:moveTo>
                  <a:lnTo>
                    <a:pt x="13" y="1333"/>
                  </a:lnTo>
                  <a:lnTo>
                    <a:pt x="0" y="1333"/>
                  </a:lnTo>
                  <a:lnTo>
                    <a:pt x="0" y="1320"/>
                  </a:lnTo>
                  <a:lnTo>
                    <a:pt x="13" y="1320"/>
                  </a:lnTo>
                  <a:close/>
                  <a:moveTo>
                    <a:pt x="13" y="1346"/>
                  </a:moveTo>
                  <a:lnTo>
                    <a:pt x="13" y="1359"/>
                  </a:lnTo>
                  <a:lnTo>
                    <a:pt x="0" y="1359"/>
                  </a:lnTo>
                  <a:lnTo>
                    <a:pt x="0" y="1346"/>
                  </a:lnTo>
                  <a:lnTo>
                    <a:pt x="13" y="1346"/>
                  </a:lnTo>
                  <a:close/>
                  <a:moveTo>
                    <a:pt x="13" y="1372"/>
                  </a:moveTo>
                  <a:lnTo>
                    <a:pt x="13" y="1385"/>
                  </a:lnTo>
                  <a:lnTo>
                    <a:pt x="0" y="1385"/>
                  </a:lnTo>
                  <a:lnTo>
                    <a:pt x="0" y="1372"/>
                  </a:lnTo>
                  <a:lnTo>
                    <a:pt x="13" y="1372"/>
                  </a:lnTo>
                  <a:close/>
                  <a:moveTo>
                    <a:pt x="13" y="1398"/>
                  </a:moveTo>
                  <a:lnTo>
                    <a:pt x="13" y="1411"/>
                  </a:lnTo>
                  <a:lnTo>
                    <a:pt x="0" y="1411"/>
                  </a:lnTo>
                  <a:lnTo>
                    <a:pt x="0" y="1398"/>
                  </a:lnTo>
                  <a:lnTo>
                    <a:pt x="13" y="1398"/>
                  </a:lnTo>
                  <a:close/>
                  <a:moveTo>
                    <a:pt x="13" y="1424"/>
                  </a:moveTo>
                  <a:lnTo>
                    <a:pt x="13" y="1437"/>
                  </a:lnTo>
                  <a:lnTo>
                    <a:pt x="0" y="1437"/>
                  </a:lnTo>
                  <a:lnTo>
                    <a:pt x="0" y="1424"/>
                  </a:lnTo>
                  <a:lnTo>
                    <a:pt x="13" y="1424"/>
                  </a:lnTo>
                  <a:close/>
                  <a:moveTo>
                    <a:pt x="13" y="1450"/>
                  </a:moveTo>
                  <a:lnTo>
                    <a:pt x="13" y="1463"/>
                  </a:lnTo>
                  <a:lnTo>
                    <a:pt x="0" y="1463"/>
                  </a:lnTo>
                  <a:lnTo>
                    <a:pt x="0" y="1450"/>
                  </a:lnTo>
                  <a:lnTo>
                    <a:pt x="13" y="1450"/>
                  </a:lnTo>
                  <a:close/>
                  <a:moveTo>
                    <a:pt x="13" y="1475"/>
                  </a:moveTo>
                  <a:lnTo>
                    <a:pt x="13" y="1488"/>
                  </a:lnTo>
                  <a:lnTo>
                    <a:pt x="0" y="1488"/>
                  </a:lnTo>
                  <a:lnTo>
                    <a:pt x="0" y="1475"/>
                  </a:lnTo>
                  <a:lnTo>
                    <a:pt x="13" y="1475"/>
                  </a:lnTo>
                  <a:close/>
                  <a:moveTo>
                    <a:pt x="13" y="1501"/>
                  </a:moveTo>
                  <a:lnTo>
                    <a:pt x="13" y="1514"/>
                  </a:lnTo>
                  <a:lnTo>
                    <a:pt x="0" y="1514"/>
                  </a:lnTo>
                  <a:lnTo>
                    <a:pt x="0" y="1501"/>
                  </a:lnTo>
                  <a:lnTo>
                    <a:pt x="13" y="1501"/>
                  </a:lnTo>
                  <a:close/>
                  <a:moveTo>
                    <a:pt x="13" y="1527"/>
                  </a:moveTo>
                  <a:lnTo>
                    <a:pt x="13" y="1540"/>
                  </a:lnTo>
                  <a:lnTo>
                    <a:pt x="0" y="1540"/>
                  </a:lnTo>
                  <a:lnTo>
                    <a:pt x="0" y="1527"/>
                  </a:lnTo>
                  <a:lnTo>
                    <a:pt x="13" y="1527"/>
                  </a:lnTo>
                  <a:close/>
                  <a:moveTo>
                    <a:pt x="13" y="1553"/>
                  </a:moveTo>
                  <a:lnTo>
                    <a:pt x="13" y="1566"/>
                  </a:lnTo>
                  <a:lnTo>
                    <a:pt x="0" y="1566"/>
                  </a:lnTo>
                  <a:lnTo>
                    <a:pt x="0" y="1553"/>
                  </a:lnTo>
                  <a:lnTo>
                    <a:pt x="13" y="1553"/>
                  </a:lnTo>
                  <a:close/>
                  <a:moveTo>
                    <a:pt x="13" y="1579"/>
                  </a:moveTo>
                  <a:lnTo>
                    <a:pt x="13" y="1592"/>
                  </a:lnTo>
                  <a:lnTo>
                    <a:pt x="0" y="1592"/>
                  </a:lnTo>
                  <a:lnTo>
                    <a:pt x="0" y="1579"/>
                  </a:lnTo>
                  <a:lnTo>
                    <a:pt x="13" y="1579"/>
                  </a:lnTo>
                  <a:close/>
                  <a:moveTo>
                    <a:pt x="13" y="1605"/>
                  </a:moveTo>
                  <a:lnTo>
                    <a:pt x="13" y="1618"/>
                  </a:lnTo>
                  <a:lnTo>
                    <a:pt x="0" y="1618"/>
                  </a:lnTo>
                  <a:lnTo>
                    <a:pt x="0" y="1605"/>
                  </a:lnTo>
                  <a:lnTo>
                    <a:pt x="13" y="1605"/>
                  </a:lnTo>
                  <a:close/>
                  <a:moveTo>
                    <a:pt x="13" y="1631"/>
                  </a:moveTo>
                  <a:lnTo>
                    <a:pt x="13" y="1644"/>
                  </a:lnTo>
                  <a:lnTo>
                    <a:pt x="0" y="1644"/>
                  </a:lnTo>
                  <a:lnTo>
                    <a:pt x="0" y="1631"/>
                  </a:lnTo>
                  <a:lnTo>
                    <a:pt x="13" y="1631"/>
                  </a:lnTo>
                  <a:close/>
                  <a:moveTo>
                    <a:pt x="13" y="1657"/>
                  </a:moveTo>
                  <a:lnTo>
                    <a:pt x="13" y="1670"/>
                  </a:lnTo>
                  <a:lnTo>
                    <a:pt x="0" y="1670"/>
                  </a:lnTo>
                  <a:lnTo>
                    <a:pt x="0" y="1657"/>
                  </a:lnTo>
                  <a:lnTo>
                    <a:pt x="13" y="1657"/>
                  </a:lnTo>
                  <a:close/>
                  <a:moveTo>
                    <a:pt x="13" y="1683"/>
                  </a:moveTo>
                  <a:lnTo>
                    <a:pt x="13" y="1696"/>
                  </a:lnTo>
                  <a:lnTo>
                    <a:pt x="0" y="1696"/>
                  </a:lnTo>
                  <a:lnTo>
                    <a:pt x="0" y="1683"/>
                  </a:lnTo>
                  <a:lnTo>
                    <a:pt x="13" y="1683"/>
                  </a:lnTo>
                  <a:close/>
                  <a:moveTo>
                    <a:pt x="13" y="1708"/>
                  </a:moveTo>
                  <a:lnTo>
                    <a:pt x="13" y="1721"/>
                  </a:lnTo>
                  <a:lnTo>
                    <a:pt x="0" y="1721"/>
                  </a:lnTo>
                  <a:lnTo>
                    <a:pt x="0" y="1708"/>
                  </a:lnTo>
                  <a:lnTo>
                    <a:pt x="13" y="1708"/>
                  </a:lnTo>
                  <a:close/>
                  <a:moveTo>
                    <a:pt x="13" y="1734"/>
                  </a:moveTo>
                  <a:lnTo>
                    <a:pt x="13" y="1747"/>
                  </a:lnTo>
                  <a:lnTo>
                    <a:pt x="0" y="1747"/>
                  </a:lnTo>
                  <a:lnTo>
                    <a:pt x="0" y="1734"/>
                  </a:lnTo>
                  <a:lnTo>
                    <a:pt x="13" y="1734"/>
                  </a:lnTo>
                  <a:close/>
                  <a:moveTo>
                    <a:pt x="13" y="1760"/>
                  </a:moveTo>
                  <a:lnTo>
                    <a:pt x="13" y="1773"/>
                  </a:lnTo>
                  <a:lnTo>
                    <a:pt x="0" y="1773"/>
                  </a:lnTo>
                  <a:lnTo>
                    <a:pt x="0" y="1760"/>
                  </a:lnTo>
                  <a:lnTo>
                    <a:pt x="13" y="1760"/>
                  </a:lnTo>
                  <a:close/>
                  <a:moveTo>
                    <a:pt x="13" y="1786"/>
                  </a:moveTo>
                  <a:lnTo>
                    <a:pt x="13" y="1799"/>
                  </a:lnTo>
                  <a:lnTo>
                    <a:pt x="0" y="1799"/>
                  </a:lnTo>
                  <a:lnTo>
                    <a:pt x="0" y="1786"/>
                  </a:lnTo>
                  <a:lnTo>
                    <a:pt x="13" y="1786"/>
                  </a:lnTo>
                  <a:close/>
                  <a:moveTo>
                    <a:pt x="13" y="1812"/>
                  </a:moveTo>
                  <a:lnTo>
                    <a:pt x="13" y="1825"/>
                  </a:lnTo>
                  <a:lnTo>
                    <a:pt x="0" y="1825"/>
                  </a:lnTo>
                  <a:lnTo>
                    <a:pt x="0" y="1812"/>
                  </a:lnTo>
                  <a:lnTo>
                    <a:pt x="13" y="1812"/>
                  </a:lnTo>
                  <a:close/>
                  <a:moveTo>
                    <a:pt x="13" y="1838"/>
                  </a:moveTo>
                  <a:lnTo>
                    <a:pt x="13" y="1851"/>
                  </a:lnTo>
                  <a:lnTo>
                    <a:pt x="0" y="1851"/>
                  </a:lnTo>
                  <a:lnTo>
                    <a:pt x="0" y="1838"/>
                  </a:lnTo>
                  <a:lnTo>
                    <a:pt x="13" y="1838"/>
                  </a:lnTo>
                  <a:close/>
                  <a:moveTo>
                    <a:pt x="13" y="1864"/>
                  </a:moveTo>
                  <a:lnTo>
                    <a:pt x="13" y="1877"/>
                  </a:lnTo>
                  <a:lnTo>
                    <a:pt x="0" y="1877"/>
                  </a:lnTo>
                  <a:lnTo>
                    <a:pt x="0" y="1864"/>
                  </a:lnTo>
                  <a:lnTo>
                    <a:pt x="13" y="1864"/>
                  </a:lnTo>
                  <a:close/>
                  <a:moveTo>
                    <a:pt x="13" y="1890"/>
                  </a:moveTo>
                  <a:lnTo>
                    <a:pt x="13" y="1903"/>
                  </a:lnTo>
                  <a:lnTo>
                    <a:pt x="0" y="1903"/>
                  </a:lnTo>
                  <a:lnTo>
                    <a:pt x="0" y="1890"/>
                  </a:lnTo>
                  <a:lnTo>
                    <a:pt x="13" y="1890"/>
                  </a:lnTo>
                  <a:close/>
                  <a:moveTo>
                    <a:pt x="13" y="1916"/>
                  </a:moveTo>
                  <a:lnTo>
                    <a:pt x="13" y="1929"/>
                  </a:lnTo>
                  <a:lnTo>
                    <a:pt x="0" y="1929"/>
                  </a:lnTo>
                  <a:lnTo>
                    <a:pt x="0" y="1916"/>
                  </a:lnTo>
                  <a:lnTo>
                    <a:pt x="13" y="1916"/>
                  </a:lnTo>
                  <a:close/>
                  <a:moveTo>
                    <a:pt x="13" y="1941"/>
                  </a:moveTo>
                  <a:lnTo>
                    <a:pt x="13" y="1954"/>
                  </a:lnTo>
                  <a:lnTo>
                    <a:pt x="0" y="1954"/>
                  </a:lnTo>
                  <a:lnTo>
                    <a:pt x="0" y="1941"/>
                  </a:lnTo>
                  <a:lnTo>
                    <a:pt x="13" y="1941"/>
                  </a:lnTo>
                  <a:close/>
                  <a:moveTo>
                    <a:pt x="13" y="1967"/>
                  </a:moveTo>
                  <a:lnTo>
                    <a:pt x="13" y="1980"/>
                  </a:lnTo>
                  <a:lnTo>
                    <a:pt x="0" y="1980"/>
                  </a:lnTo>
                  <a:lnTo>
                    <a:pt x="0" y="1967"/>
                  </a:lnTo>
                  <a:lnTo>
                    <a:pt x="13" y="1967"/>
                  </a:lnTo>
                  <a:close/>
                  <a:moveTo>
                    <a:pt x="13" y="1993"/>
                  </a:moveTo>
                  <a:lnTo>
                    <a:pt x="13" y="2006"/>
                  </a:lnTo>
                  <a:lnTo>
                    <a:pt x="0" y="2006"/>
                  </a:lnTo>
                  <a:lnTo>
                    <a:pt x="0" y="1993"/>
                  </a:lnTo>
                  <a:lnTo>
                    <a:pt x="13" y="1993"/>
                  </a:lnTo>
                  <a:close/>
                  <a:moveTo>
                    <a:pt x="13" y="2019"/>
                  </a:moveTo>
                  <a:lnTo>
                    <a:pt x="13" y="2032"/>
                  </a:lnTo>
                  <a:lnTo>
                    <a:pt x="0" y="2032"/>
                  </a:lnTo>
                  <a:lnTo>
                    <a:pt x="0" y="2019"/>
                  </a:lnTo>
                  <a:lnTo>
                    <a:pt x="13" y="2019"/>
                  </a:lnTo>
                  <a:close/>
                  <a:moveTo>
                    <a:pt x="13" y="2045"/>
                  </a:moveTo>
                  <a:lnTo>
                    <a:pt x="13" y="2058"/>
                  </a:lnTo>
                  <a:lnTo>
                    <a:pt x="0" y="2058"/>
                  </a:lnTo>
                  <a:lnTo>
                    <a:pt x="0" y="2045"/>
                  </a:lnTo>
                  <a:lnTo>
                    <a:pt x="13" y="2045"/>
                  </a:lnTo>
                  <a:close/>
                  <a:moveTo>
                    <a:pt x="13" y="2071"/>
                  </a:moveTo>
                  <a:lnTo>
                    <a:pt x="13" y="2084"/>
                  </a:lnTo>
                  <a:lnTo>
                    <a:pt x="0" y="2084"/>
                  </a:lnTo>
                  <a:lnTo>
                    <a:pt x="0" y="2071"/>
                  </a:lnTo>
                  <a:lnTo>
                    <a:pt x="13" y="2071"/>
                  </a:lnTo>
                  <a:close/>
                  <a:moveTo>
                    <a:pt x="13" y="2097"/>
                  </a:moveTo>
                  <a:lnTo>
                    <a:pt x="13" y="2110"/>
                  </a:lnTo>
                  <a:lnTo>
                    <a:pt x="0" y="2110"/>
                  </a:lnTo>
                  <a:lnTo>
                    <a:pt x="0" y="2097"/>
                  </a:lnTo>
                  <a:lnTo>
                    <a:pt x="13" y="2097"/>
                  </a:lnTo>
                  <a:close/>
                  <a:moveTo>
                    <a:pt x="13" y="2123"/>
                  </a:moveTo>
                  <a:lnTo>
                    <a:pt x="13" y="2136"/>
                  </a:lnTo>
                  <a:lnTo>
                    <a:pt x="0" y="2136"/>
                  </a:lnTo>
                  <a:lnTo>
                    <a:pt x="0" y="2123"/>
                  </a:lnTo>
                  <a:lnTo>
                    <a:pt x="13" y="2123"/>
                  </a:lnTo>
                  <a:close/>
                  <a:moveTo>
                    <a:pt x="13" y="2149"/>
                  </a:moveTo>
                  <a:lnTo>
                    <a:pt x="13" y="2162"/>
                  </a:lnTo>
                  <a:lnTo>
                    <a:pt x="0" y="2162"/>
                  </a:lnTo>
                  <a:lnTo>
                    <a:pt x="0" y="2149"/>
                  </a:lnTo>
                  <a:lnTo>
                    <a:pt x="13" y="2149"/>
                  </a:lnTo>
                  <a:close/>
                  <a:moveTo>
                    <a:pt x="13" y="2174"/>
                  </a:moveTo>
                  <a:lnTo>
                    <a:pt x="13" y="2187"/>
                  </a:lnTo>
                  <a:lnTo>
                    <a:pt x="0" y="2187"/>
                  </a:lnTo>
                  <a:lnTo>
                    <a:pt x="0" y="2174"/>
                  </a:lnTo>
                  <a:lnTo>
                    <a:pt x="13" y="2174"/>
                  </a:lnTo>
                  <a:close/>
                  <a:moveTo>
                    <a:pt x="13" y="2200"/>
                  </a:moveTo>
                  <a:lnTo>
                    <a:pt x="13" y="2213"/>
                  </a:lnTo>
                  <a:lnTo>
                    <a:pt x="0" y="2213"/>
                  </a:lnTo>
                  <a:lnTo>
                    <a:pt x="0" y="2200"/>
                  </a:lnTo>
                  <a:lnTo>
                    <a:pt x="13" y="2200"/>
                  </a:lnTo>
                  <a:close/>
                  <a:moveTo>
                    <a:pt x="13" y="2226"/>
                  </a:moveTo>
                  <a:lnTo>
                    <a:pt x="13" y="2239"/>
                  </a:lnTo>
                  <a:lnTo>
                    <a:pt x="0" y="2239"/>
                  </a:lnTo>
                  <a:lnTo>
                    <a:pt x="0" y="2226"/>
                  </a:lnTo>
                  <a:lnTo>
                    <a:pt x="13" y="2226"/>
                  </a:lnTo>
                  <a:close/>
                  <a:moveTo>
                    <a:pt x="13" y="2252"/>
                  </a:moveTo>
                  <a:lnTo>
                    <a:pt x="13" y="2265"/>
                  </a:lnTo>
                  <a:lnTo>
                    <a:pt x="0" y="2265"/>
                  </a:lnTo>
                  <a:lnTo>
                    <a:pt x="0" y="2252"/>
                  </a:lnTo>
                  <a:lnTo>
                    <a:pt x="13" y="2252"/>
                  </a:lnTo>
                  <a:close/>
                  <a:moveTo>
                    <a:pt x="13" y="2278"/>
                  </a:moveTo>
                  <a:lnTo>
                    <a:pt x="13" y="2281"/>
                  </a:lnTo>
                  <a:lnTo>
                    <a:pt x="0" y="2281"/>
                  </a:lnTo>
                  <a:lnTo>
                    <a:pt x="0" y="2278"/>
                  </a:lnTo>
                  <a:lnTo>
                    <a:pt x="13" y="2278"/>
                  </a:lnTo>
                  <a:close/>
                </a:path>
              </a:pathLst>
            </a:custGeom>
            <a:solidFill>
              <a:srgbClr val="000000"/>
            </a:solidFill>
            <a:ln w="0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2" name="Rectangle 36">
              <a:extLst>
                <a:ext uri="{FF2B5EF4-FFF2-40B4-BE49-F238E27FC236}">
                  <a16:creationId xmlns:a16="http://schemas.microsoft.com/office/drawing/2014/main" id="{35EFD031-FE8C-41A8-8EB0-7A2987039E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71" y="3482"/>
              <a:ext cx="533" cy="2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1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or  r8, </a:t>
              </a:r>
              <a:endParaRPr kumimoji="0" lang="zh-CN" altLang="zh-CN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173" name="Rectangle 37">
              <a:extLst>
                <a:ext uri="{FF2B5EF4-FFF2-40B4-BE49-F238E27FC236}">
                  <a16:creationId xmlns:a16="http://schemas.microsoft.com/office/drawing/2014/main" id="{3397F732-21B2-4023-90A2-485AD96CBD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17" y="3482"/>
              <a:ext cx="214" cy="2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1900" b="0" i="0" u="none" strike="noStrike" cap="none" normalizeH="0" baseline="0">
                  <a:ln>
                    <a:noFill/>
                  </a:ln>
                  <a:solidFill>
                    <a:srgbClr val="009900"/>
                  </a:solidFill>
                  <a:effectLst/>
                  <a:latin typeface="Arial" panose="020B0604020202020204" pitchFamily="34" charset="0"/>
                </a:rPr>
                <a:t>r1</a:t>
              </a:r>
              <a:endParaRPr kumimoji="0" lang="zh-CN" altLang="zh-CN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174" name="Rectangle 38">
              <a:extLst>
                <a:ext uri="{FF2B5EF4-FFF2-40B4-BE49-F238E27FC236}">
                  <a16:creationId xmlns:a16="http://schemas.microsoft.com/office/drawing/2014/main" id="{C5E11B1F-C83A-4F94-8686-FF53227C4D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58" y="3482"/>
              <a:ext cx="301" cy="2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1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, r9</a:t>
              </a:r>
              <a:endParaRPr kumimoji="0" lang="zh-CN" altLang="zh-CN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175" name="Freeform 39">
              <a:extLst>
                <a:ext uri="{FF2B5EF4-FFF2-40B4-BE49-F238E27FC236}">
                  <a16:creationId xmlns:a16="http://schemas.microsoft.com/office/drawing/2014/main" id="{583E68A1-506D-4DBB-A17A-664E24559D0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64" y="2187"/>
              <a:ext cx="43" cy="1980"/>
            </a:xfrm>
            <a:custGeom>
              <a:avLst/>
              <a:gdLst>
                <a:gd name="T0" fmla="*/ 29 w 43"/>
                <a:gd name="T1" fmla="*/ 0 h 1980"/>
                <a:gd name="T2" fmla="*/ 29 w 43"/>
                <a:gd name="T3" fmla="*/ 1943 h 1980"/>
                <a:gd name="T4" fmla="*/ 14 w 43"/>
                <a:gd name="T5" fmla="*/ 1943 h 1980"/>
                <a:gd name="T6" fmla="*/ 14 w 43"/>
                <a:gd name="T7" fmla="*/ 0 h 1980"/>
                <a:gd name="T8" fmla="*/ 29 w 43"/>
                <a:gd name="T9" fmla="*/ 0 h 1980"/>
                <a:gd name="T10" fmla="*/ 43 w 43"/>
                <a:gd name="T11" fmla="*/ 1936 h 1980"/>
                <a:gd name="T12" fmla="*/ 22 w 43"/>
                <a:gd name="T13" fmla="*/ 1980 h 1980"/>
                <a:gd name="T14" fmla="*/ 0 w 43"/>
                <a:gd name="T15" fmla="*/ 1936 h 1980"/>
                <a:gd name="T16" fmla="*/ 43 w 43"/>
                <a:gd name="T17" fmla="*/ 1936 h 19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3" h="1980">
                  <a:moveTo>
                    <a:pt x="29" y="0"/>
                  </a:moveTo>
                  <a:lnTo>
                    <a:pt x="29" y="1943"/>
                  </a:lnTo>
                  <a:lnTo>
                    <a:pt x="14" y="1943"/>
                  </a:lnTo>
                  <a:lnTo>
                    <a:pt x="14" y="0"/>
                  </a:lnTo>
                  <a:lnTo>
                    <a:pt x="29" y="0"/>
                  </a:lnTo>
                  <a:close/>
                  <a:moveTo>
                    <a:pt x="43" y="1936"/>
                  </a:moveTo>
                  <a:lnTo>
                    <a:pt x="22" y="1980"/>
                  </a:lnTo>
                  <a:lnTo>
                    <a:pt x="0" y="1936"/>
                  </a:lnTo>
                  <a:lnTo>
                    <a:pt x="43" y="1936"/>
                  </a:lnTo>
                  <a:close/>
                </a:path>
              </a:pathLst>
            </a:custGeom>
            <a:solidFill>
              <a:srgbClr val="000000"/>
            </a:solidFill>
            <a:ln w="0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6" name="Freeform 40">
              <a:extLst>
                <a:ext uri="{FF2B5EF4-FFF2-40B4-BE49-F238E27FC236}">
                  <a16:creationId xmlns:a16="http://schemas.microsoft.com/office/drawing/2014/main" id="{64D49CDD-FAB2-45A0-9C94-1FCC6726EF3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1" y="2109"/>
              <a:ext cx="169" cy="388"/>
            </a:xfrm>
            <a:custGeom>
              <a:avLst/>
              <a:gdLst>
                <a:gd name="T0" fmla="*/ 0 w 169"/>
                <a:gd name="T1" fmla="*/ 258 h 388"/>
                <a:gd name="T2" fmla="*/ 57 w 169"/>
                <a:gd name="T3" fmla="*/ 194 h 388"/>
                <a:gd name="T4" fmla="*/ 0 w 169"/>
                <a:gd name="T5" fmla="*/ 129 h 388"/>
                <a:gd name="T6" fmla="*/ 0 w 169"/>
                <a:gd name="T7" fmla="*/ 0 h 388"/>
                <a:gd name="T8" fmla="*/ 169 w 169"/>
                <a:gd name="T9" fmla="*/ 129 h 388"/>
                <a:gd name="T10" fmla="*/ 169 w 169"/>
                <a:gd name="T11" fmla="*/ 258 h 388"/>
                <a:gd name="T12" fmla="*/ 0 w 169"/>
                <a:gd name="T13" fmla="*/ 388 h 388"/>
                <a:gd name="T14" fmla="*/ 0 w 169"/>
                <a:gd name="T15" fmla="*/ 258 h 3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69" h="388">
                  <a:moveTo>
                    <a:pt x="0" y="258"/>
                  </a:moveTo>
                  <a:lnTo>
                    <a:pt x="57" y="194"/>
                  </a:lnTo>
                  <a:lnTo>
                    <a:pt x="0" y="129"/>
                  </a:lnTo>
                  <a:lnTo>
                    <a:pt x="0" y="0"/>
                  </a:lnTo>
                  <a:lnTo>
                    <a:pt x="169" y="129"/>
                  </a:lnTo>
                  <a:lnTo>
                    <a:pt x="169" y="258"/>
                  </a:lnTo>
                  <a:lnTo>
                    <a:pt x="0" y="388"/>
                  </a:lnTo>
                  <a:lnTo>
                    <a:pt x="0" y="258"/>
                  </a:lnTo>
                </a:path>
              </a:pathLst>
            </a:custGeom>
            <a:noFill/>
            <a:ln w="206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7" name="Rectangle 41">
              <a:extLst>
                <a:ext uri="{FF2B5EF4-FFF2-40B4-BE49-F238E27FC236}">
                  <a16:creationId xmlns:a16="http://schemas.microsoft.com/office/drawing/2014/main" id="{AE853ED5-28DC-4A3D-A3F3-DC8DB5837A9B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2491" y="2235"/>
              <a:ext cx="199" cy="11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1200" b="1" i="0" u="none" strike="noStrike" cap="none" normalizeH="0" baseline="0" dirty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ALU</a:t>
              </a:r>
              <a:endParaRPr kumimoji="0" lang="zh-CN" altLang="zh-CN" sz="12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178" name="Rectangle 42">
              <a:extLst>
                <a:ext uri="{FF2B5EF4-FFF2-40B4-BE49-F238E27FC236}">
                  <a16:creationId xmlns:a16="http://schemas.microsoft.com/office/drawing/2014/main" id="{D2E8E886-6687-49BD-994D-C9B39F832B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92" y="2213"/>
              <a:ext cx="117" cy="12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1300" b="1" i="0" u="none" strike="noStrike" cap="none" normalizeH="0" baseline="0" dirty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I</a:t>
              </a:r>
              <a:r>
                <a:rPr kumimoji="0" lang="en-US" altLang="zh-CN" sz="1300" b="1" i="0" u="none" strike="noStrike" cap="none" normalizeH="0" baseline="0" dirty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M</a:t>
              </a:r>
              <a:endParaRPr kumimoji="0" lang="zh-CN" altLang="zh-CN" sz="1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179" name="Freeform 43">
              <a:extLst>
                <a:ext uri="{FF2B5EF4-FFF2-40B4-BE49-F238E27FC236}">
                  <a16:creationId xmlns:a16="http://schemas.microsoft.com/office/drawing/2014/main" id="{681F949E-C448-4E42-A2CA-38A980D286B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4" y="2187"/>
              <a:ext cx="135" cy="232"/>
            </a:xfrm>
            <a:custGeom>
              <a:avLst/>
              <a:gdLst>
                <a:gd name="T0" fmla="*/ 135 w 135"/>
                <a:gd name="T1" fmla="*/ 0 h 232"/>
                <a:gd name="T2" fmla="*/ 0 w 135"/>
                <a:gd name="T3" fmla="*/ 0 h 232"/>
                <a:gd name="T4" fmla="*/ 0 w 135"/>
                <a:gd name="T5" fmla="*/ 232 h 232"/>
                <a:gd name="T6" fmla="*/ 135 w 135"/>
                <a:gd name="T7" fmla="*/ 232 h 2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5" h="232">
                  <a:moveTo>
                    <a:pt x="135" y="0"/>
                  </a:moveTo>
                  <a:lnTo>
                    <a:pt x="0" y="0"/>
                  </a:lnTo>
                  <a:lnTo>
                    <a:pt x="0" y="232"/>
                  </a:lnTo>
                  <a:lnTo>
                    <a:pt x="135" y="232"/>
                  </a:lnTo>
                </a:path>
              </a:pathLst>
            </a:custGeom>
            <a:noFill/>
            <a:ln w="206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0" name="Freeform 44">
              <a:extLst>
                <a:ext uri="{FF2B5EF4-FFF2-40B4-BE49-F238E27FC236}">
                  <a16:creationId xmlns:a16="http://schemas.microsoft.com/office/drawing/2014/main" id="{0F979D52-4955-4C83-9830-C411A7D7926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9" y="2187"/>
              <a:ext cx="136" cy="232"/>
            </a:xfrm>
            <a:custGeom>
              <a:avLst/>
              <a:gdLst>
                <a:gd name="T0" fmla="*/ 0 w 136"/>
                <a:gd name="T1" fmla="*/ 0 h 232"/>
                <a:gd name="T2" fmla="*/ 136 w 136"/>
                <a:gd name="T3" fmla="*/ 0 h 232"/>
                <a:gd name="T4" fmla="*/ 136 w 136"/>
                <a:gd name="T5" fmla="*/ 232 h 232"/>
                <a:gd name="T6" fmla="*/ 0 w 136"/>
                <a:gd name="T7" fmla="*/ 232 h 2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6" h="232">
                  <a:moveTo>
                    <a:pt x="0" y="0"/>
                  </a:moveTo>
                  <a:lnTo>
                    <a:pt x="136" y="0"/>
                  </a:lnTo>
                  <a:lnTo>
                    <a:pt x="136" y="232"/>
                  </a:lnTo>
                  <a:lnTo>
                    <a:pt x="0" y="232"/>
                  </a:lnTo>
                </a:path>
              </a:pathLst>
            </a:custGeom>
            <a:noFill/>
            <a:ln w="206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1" name="Rectangle 45">
              <a:extLst>
                <a:ext uri="{FF2B5EF4-FFF2-40B4-BE49-F238E27FC236}">
                  <a16:creationId xmlns:a16="http://schemas.microsoft.com/office/drawing/2014/main" id="{2104D2DA-04A8-405F-801B-B80BB3E18D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44" y="2217"/>
              <a:ext cx="243" cy="13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1300" b="1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Reg</a:t>
              </a:r>
              <a:endParaRPr kumimoji="0" lang="zh-CN" altLang="zh-CN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182" name="Freeform 46">
              <a:extLst>
                <a:ext uri="{FF2B5EF4-FFF2-40B4-BE49-F238E27FC236}">
                  <a16:creationId xmlns:a16="http://schemas.microsoft.com/office/drawing/2014/main" id="{16DDD1F9-EE85-48B2-B23D-73567900581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2" y="2187"/>
              <a:ext cx="121" cy="232"/>
            </a:xfrm>
            <a:custGeom>
              <a:avLst/>
              <a:gdLst>
                <a:gd name="T0" fmla="*/ 121 w 121"/>
                <a:gd name="T1" fmla="*/ 0 h 232"/>
                <a:gd name="T2" fmla="*/ 0 w 121"/>
                <a:gd name="T3" fmla="*/ 0 h 232"/>
                <a:gd name="T4" fmla="*/ 0 w 121"/>
                <a:gd name="T5" fmla="*/ 232 h 232"/>
                <a:gd name="T6" fmla="*/ 121 w 121"/>
                <a:gd name="T7" fmla="*/ 232 h 2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1" h="232">
                  <a:moveTo>
                    <a:pt x="121" y="0"/>
                  </a:moveTo>
                  <a:lnTo>
                    <a:pt x="0" y="0"/>
                  </a:lnTo>
                  <a:lnTo>
                    <a:pt x="0" y="232"/>
                  </a:lnTo>
                  <a:lnTo>
                    <a:pt x="121" y="232"/>
                  </a:lnTo>
                </a:path>
              </a:pathLst>
            </a:custGeom>
            <a:noFill/>
            <a:ln w="206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3" name="Freeform 47">
              <a:extLst>
                <a:ext uri="{FF2B5EF4-FFF2-40B4-BE49-F238E27FC236}">
                  <a16:creationId xmlns:a16="http://schemas.microsoft.com/office/drawing/2014/main" id="{59A17CAE-67D2-4E86-A40D-BD8978DA3FE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4" y="2187"/>
              <a:ext cx="120" cy="232"/>
            </a:xfrm>
            <a:custGeom>
              <a:avLst/>
              <a:gdLst>
                <a:gd name="T0" fmla="*/ 0 w 120"/>
                <a:gd name="T1" fmla="*/ 0 h 232"/>
                <a:gd name="T2" fmla="*/ 120 w 120"/>
                <a:gd name="T3" fmla="*/ 0 h 232"/>
                <a:gd name="T4" fmla="*/ 120 w 120"/>
                <a:gd name="T5" fmla="*/ 232 h 232"/>
                <a:gd name="T6" fmla="*/ 0 w 120"/>
                <a:gd name="T7" fmla="*/ 232 h 2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0" h="232">
                  <a:moveTo>
                    <a:pt x="0" y="0"/>
                  </a:moveTo>
                  <a:lnTo>
                    <a:pt x="120" y="0"/>
                  </a:lnTo>
                  <a:lnTo>
                    <a:pt x="120" y="232"/>
                  </a:lnTo>
                  <a:lnTo>
                    <a:pt x="0" y="232"/>
                  </a:lnTo>
                </a:path>
              </a:pathLst>
            </a:custGeom>
            <a:noFill/>
            <a:ln w="206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4" name="Line 48">
              <a:extLst>
                <a:ext uri="{FF2B5EF4-FFF2-40B4-BE49-F238E27FC236}">
                  <a16:creationId xmlns:a16="http://schemas.microsoft.com/office/drawing/2014/main" id="{DDAC013E-0068-4857-9F6F-C6BC3E28DD0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020" y="2303"/>
              <a:ext cx="92" cy="0"/>
            </a:xfrm>
            <a:prstGeom prst="line">
              <a:avLst/>
            </a:prstGeom>
            <a:noFill/>
            <a:ln w="20638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5" name="Freeform 49">
              <a:extLst>
                <a:ext uri="{FF2B5EF4-FFF2-40B4-BE49-F238E27FC236}">
                  <a16:creationId xmlns:a16="http://schemas.microsoft.com/office/drawing/2014/main" id="{E16CF058-49D6-4B56-A836-7359ED21682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3" y="2225"/>
              <a:ext cx="39" cy="77"/>
            </a:xfrm>
            <a:custGeom>
              <a:avLst/>
              <a:gdLst>
                <a:gd name="T0" fmla="*/ 0 w 39"/>
                <a:gd name="T1" fmla="*/ 77 h 77"/>
                <a:gd name="T2" fmla="*/ 0 w 39"/>
                <a:gd name="T3" fmla="*/ 0 h 77"/>
                <a:gd name="T4" fmla="*/ 39 w 39"/>
                <a:gd name="T5" fmla="*/ 0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9" h="77">
                  <a:moveTo>
                    <a:pt x="0" y="77"/>
                  </a:moveTo>
                  <a:lnTo>
                    <a:pt x="0" y="0"/>
                  </a:lnTo>
                  <a:lnTo>
                    <a:pt x="39" y="0"/>
                  </a:lnTo>
                </a:path>
              </a:pathLst>
            </a:custGeom>
            <a:noFill/>
            <a:ln w="206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6" name="Line 50">
              <a:extLst>
                <a:ext uri="{FF2B5EF4-FFF2-40B4-BE49-F238E27FC236}">
                  <a16:creationId xmlns:a16="http://schemas.microsoft.com/office/drawing/2014/main" id="{129F5D5F-2FDE-4002-9B9F-6AC0AF7AFE4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355" y="2225"/>
              <a:ext cx="126" cy="0"/>
            </a:xfrm>
            <a:prstGeom prst="line">
              <a:avLst/>
            </a:prstGeom>
            <a:noFill/>
            <a:ln w="20638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7" name="Rectangle 51">
              <a:extLst>
                <a:ext uri="{FF2B5EF4-FFF2-40B4-BE49-F238E27FC236}">
                  <a16:creationId xmlns:a16="http://schemas.microsoft.com/office/drawing/2014/main" id="{17E516F5-1A59-4688-BE97-DB7F29049E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05" y="2213"/>
              <a:ext cx="208" cy="13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1300" b="1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DM</a:t>
              </a:r>
              <a:endParaRPr kumimoji="0" lang="zh-CN" altLang="zh-CN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189" name="Freeform 52">
              <a:extLst>
                <a:ext uri="{FF2B5EF4-FFF2-40B4-BE49-F238E27FC236}">
                  <a16:creationId xmlns:a16="http://schemas.microsoft.com/office/drawing/2014/main" id="{58A22BB4-A966-4FD5-A02C-F37F7CDA9C0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1" y="2187"/>
              <a:ext cx="131" cy="232"/>
            </a:xfrm>
            <a:custGeom>
              <a:avLst/>
              <a:gdLst>
                <a:gd name="T0" fmla="*/ 131 w 131"/>
                <a:gd name="T1" fmla="*/ 0 h 232"/>
                <a:gd name="T2" fmla="*/ 0 w 131"/>
                <a:gd name="T3" fmla="*/ 0 h 232"/>
                <a:gd name="T4" fmla="*/ 0 w 131"/>
                <a:gd name="T5" fmla="*/ 232 h 232"/>
                <a:gd name="T6" fmla="*/ 131 w 131"/>
                <a:gd name="T7" fmla="*/ 232 h 2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1" h="232">
                  <a:moveTo>
                    <a:pt x="131" y="0"/>
                  </a:moveTo>
                  <a:lnTo>
                    <a:pt x="0" y="0"/>
                  </a:lnTo>
                  <a:lnTo>
                    <a:pt x="0" y="232"/>
                  </a:lnTo>
                  <a:lnTo>
                    <a:pt x="131" y="232"/>
                  </a:lnTo>
                </a:path>
              </a:pathLst>
            </a:custGeom>
            <a:noFill/>
            <a:ln w="206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0" name="Freeform 53">
              <a:extLst>
                <a:ext uri="{FF2B5EF4-FFF2-40B4-BE49-F238E27FC236}">
                  <a16:creationId xmlns:a16="http://schemas.microsoft.com/office/drawing/2014/main" id="{A8EECF49-ADAF-443D-A971-509A59DB421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8" y="2187"/>
              <a:ext cx="135" cy="232"/>
            </a:xfrm>
            <a:custGeom>
              <a:avLst/>
              <a:gdLst>
                <a:gd name="T0" fmla="*/ 0 w 135"/>
                <a:gd name="T1" fmla="*/ 0 h 232"/>
                <a:gd name="T2" fmla="*/ 135 w 135"/>
                <a:gd name="T3" fmla="*/ 0 h 232"/>
                <a:gd name="T4" fmla="*/ 135 w 135"/>
                <a:gd name="T5" fmla="*/ 232 h 232"/>
                <a:gd name="T6" fmla="*/ 0 w 135"/>
                <a:gd name="T7" fmla="*/ 232 h 2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5" h="232">
                  <a:moveTo>
                    <a:pt x="0" y="0"/>
                  </a:moveTo>
                  <a:lnTo>
                    <a:pt x="135" y="0"/>
                  </a:lnTo>
                  <a:lnTo>
                    <a:pt x="135" y="232"/>
                  </a:lnTo>
                  <a:lnTo>
                    <a:pt x="0" y="232"/>
                  </a:lnTo>
                </a:path>
              </a:pathLst>
            </a:custGeom>
            <a:noFill/>
            <a:ln w="206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1" name="Rectangle 54">
              <a:extLst>
                <a:ext uri="{FF2B5EF4-FFF2-40B4-BE49-F238E27FC236}">
                  <a16:creationId xmlns:a16="http://schemas.microsoft.com/office/drawing/2014/main" id="{22C40F44-232E-41ED-8C14-9098A6B1F0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03" y="2213"/>
              <a:ext cx="242" cy="13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1300" b="1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Reg</a:t>
              </a:r>
              <a:endParaRPr kumimoji="0" lang="zh-CN" altLang="zh-CN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192" name="Freeform 55">
              <a:extLst>
                <a:ext uri="{FF2B5EF4-FFF2-40B4-BE49-F238E27FC236}">
                  <a16:creationId xmlns:a16="http://schemas.microsoft.com/office/drawing/2014/main" id="{93426D47-EA7B-4BD8-B8AF-F0DD811F38A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0" y="2187"/>
              <a:ext cx="111" cy="232"/>
            </a:xfrm>
            <a:custGeom>
              <a:avLst/>
              <a:gdLst>
                <a:gd name="T0" fmla="*/ 111 w 111"/>
                <a:gd name="T1" fmla="*/ 0 h 232"/>
                <a:gd name="T2" fmla="*/ 0 w 111"/>
                <a:gd name="T3" fmla="*/ 0 h 232"/>
                <a:gd name="T4" fmla="*/ 0 w 111"/>
                <a:gd name="T5" fmla="*/ 232 h 232"/>
                <a:gd name="T6" fmla="*/ 111 w 111"/>
                <a:gd name="T7" fmla="*/ 232 h 2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11" h="232">
                  <a:moveTo>
                    <a:pt x="111" y="0"/>
                  </a:moveTo>
                  <a:lnTo>
                    <a:pt x="0" y="0"/>
                  </a:lnTo>
                  <a:lnTo>
                    <a:pt x="0" y="232"/>
                  </a:lnTo>
                  <a:lnTo>
                    <a:pt x="111" y="232"/>
                  </a:lnTo>
                </a:path>
              </a:pathLst>
            </a:custGeom>
            <a:noFill/>
            <a:ln w="206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3" name="Freeform 56">
              <a:extLst>
                <a:ext uri="{FF2B5EF4-FFF2-40B4-BE49-F238E27FC236}">
                  <a16:creationId xmlns:a16="http://schemas.microsoft.com/office/drawing/2014/main" id="{7E71F5F6-3CF6-4F02-97BF-10762351716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1" y="2187"/>
              <a:ext cx="116" cy="232"/>
            </a:xfrm>
            <a:custGeom>
              <a:avLst/>
              <a:gdLst>
                <a:gd name="T0" fmla="*/ 0 w 116"/>
                <a:gd name="T1" fmla="*/ 0 h 232"/>
                <a:gd name="T2" fmla="*/ 116 w 116"/>
                <a:gd name="T3" fmla="*/ 0 h 232"/>
                <a:gd name="T4" fmla="*/ 116 w 116"/>
                <a:gd name="T5" fmla="*/ 232 h 232"/>
                <a:gd name="T6" fmla="*/ 0 w 116"/>
                <a:gd name="T7" fmla="*/ 232 h 2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16" h="232">
                  <a:moveTo>
                    <a:pt x="0" y="0"/>
                  </a:moveTo>
                  <a:lnTo>
                    <a:pt x="116" y="0"/>
                  </a:lnTo>
                  <a:lnTo>
                    <a:pt x="116" y="232"/>
                  </a:lnTo>
                  <a:lnTo>
                    <a:pt x="0" y="232"/>
                  </a:lnTo>
                </a:path>
              </a:pathLst>
            </a:custGeom>
            <a:noFill/>
            <a:ln w="206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4" name="Line 57">
              <a:extLst>
                <a:ext uri="{FF2B5EF4-FFF2-40B4-BE49-F238E27FC236}">
                  <a16:creationId xmlns:a16="http://schemas.microsoft.com/office/drawing/2014/main" id="{707C7145-1168-4CA8-B3B8-075B755F538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59" y="2303"/>
              <a:ext cx="111" cy="0"/>
            </a:xfrm>
            <a:prstGeom prst="line">
              <a:avLst/>
            </a:prstGeom>
            <a:noFill/>
            <a:ln w="20638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5" name="Line 58">
              <a:extLst>
                <a:ext uri="{FF2B5EF4-FFF2-40B4-BE49-F238E27FC236}">
                  <a16:creationId xmlns:a16="http://schemas.microsoft.com/office/drawing/2014/main" id="{E0C8B798-4270-4B5A-A66C-18653C05891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670" y="2303"/>
              <a:ext cx="122" cy="0"/>
            </a:xfrm>
            <a:prstGeom prst="line">
              <a:avLst/>
            </a:prstGeom>
            <a:noFill/>
            <a:ln w="20638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6" name="Line 59">
              <a:extLst>
                <a:ext uri="{FF2B5EF4-FFF2-40B4-BE49-F238E27FC236}">
                  <a16:creationId xmlns:a16="http://schemas.microsoft.com/office/drawing/2014/main" id="{C346BF63-898A-4292-A4F5-0AF3D7494B4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355" y="2381"/>
              <a:ext cx="126" cy="0"/>
            </a:xfrm>
            <a:prstGeom prst="line">
              <a:avLst/>
            </a:prstGeom>
            <a:noFill/>
            <a:ln w="20638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7" name="Line 60">
              <a:extLst>
                <a:ext uri="{FF2B5EF4-FFF2-40B4-BE49-F238E27FC236}">
                  <a16:creationId xmlns:a16="http://schemas.microsoft.com/office/drawing/2014/main" id="{A6BA8638-CCAD-476D-AC50-A3EF7CE8A27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423" y="2381"/>
              <a:ext cx="0" cy="155"/>
            </a:xfrm>
            <a:prstGeom prst="line">
              <a:avLst/>
            </a:prstGeom>
            <a:noFill/>
            <a:ln w="23813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8" name="Line 61">
              <a:extLst>
                <a:ext uri="{FF2B5EF4-FFF2-40B4-BE49-F238E27FC236}">
                  <a16:creationId xmlns:a16="http://schemas.microsoft.com/office/drawing/2014/main" id="{7C5206A7-620A-487D-8E42-3AC5CA616BF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423" y="2536"/>
              <a:ext cx="272" cy="0"/>
            </a:xfrm>
            <a:prstGeom prst="line">
              <a:avLst/>
            </a:prstGeom>
            <a:noFill/>
            <a:ln w="23813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9" name="Line 62">
              <a:extLst>
                <a:ext uri="{FF2B5EF4-FFF2-40B4-BE49-F238E27FC236}">
                  <a16:creationId xmlns:a16="http://schemas.microsoft.com/office/drawing/2014/main" id="{628DB844-3ED5-4B46-937D-58F51A199E3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695" y="2303"/>
              <a:ext cx="0" cy="233"/>
            </a:xfrm>
            <a:prstGeom prst="line">
              <a:avLst/>
            </a:prstGeom>
            <a:noFill/>
            <a:ln w="23813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0" name="Line 63">
              <a:extLst>
                <a:ext uri="{FF2B5EF4-FFF2-40B4-BE49-F238E27FC236}">
                  <a16:creationId xmlns:a16="http://schemas.microsoft.com/office/drawing/2014/main" id="{F96AD6CD-5CF1-483D-867C-EFB46621808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763" y="2303"/>
              <a:ext cx="0" cy="194"/>
            </a:xfrm>
            <a:prstGeom prst="line">
              <a:avLst/>
            </a:prstGeom>
            <a:noFill/>
            <a:ln w="23813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1" name="Line 64">
              <a:extLst>
                <a:ext uri="{FF2B5EF4-FFF2-40B4-BE49-F238E27FC236}">
                  <a16:creationId xmlns:a16="http://schemas.microsoft.com/office/drawing/2014/main" id="{9EC5964E-9C08-44FA-B15E-6E1829AC842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763" y="2497"/>
              <a:ext cx="349" cy="0"/>
            </a:xfrm>
            <a:prstGeom prst="line">
              <a:avLst/>
            </a:prstGeom>
            <a:noFill/>
            <a:ln w="23813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2" name="Line 65">
              <a:extLst>
                <a:ext uri="{FF2B5EF4-FFF2-40B4-BE49-F238E27FC236}">
                  <a16:creationId xmlns:a16="http://schemas.microsoft.com/office/drawing/2014/main" id="{15FEB5CA-74E9-4DEC-BF82-386BF512773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12" y="2303"/>
              <a:ext cx="0" cy="194"/>
            </a:xfrm>
            <a:prstGeom prst="line">
              <a:avLst/>
            </a:prstGeom>
            <a:noFill/>
            <a:ln w="23813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3" name="Freeform 66">
              <a:extLst>
                <a:ext uri="{FF2B5EF4-FFF2-40B4-BE49-F238E27FC236}">
                  <a16:creationId xmlns:a16="http://schemas.microsoft.com/office/drawing/2014/main" id="{F21439E5-D19F-4F7A-B40F-D67B03B3401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0" y="2536"/>
              <a:ext cx="169" cy="388"/>
            </a:xfrm>
            <a:custGeom>
              <a:avLst/>
              <a:gdLst>
                <a:gd name="T0" fmla="*/ 0 w 169"/>
                <a:gd name="T1" fmla="*/ 258 h 388"/>
                <a:gd name="T2" fmla="*/ 57 w 169"/>
                <a:gd name="T3" fmla="*/ 194 h 388"/>
                <a:gd name="T4" fmla="*/ 0 w 169"/>
                <a:gd name="T5" fmla="*/ 129 h 388"/>
                <a:gd name="T6" fmla="*/ 0 w 169"/>
                <a:gd name="T7" fmla="*/ 0 h 388"/>
                <a:gd name="T8" fmla="*/ 169 w 169"/>
                <a:gd name="T9" fmla="*/ 129 h 388"/>
                <a:gd name="T10" fmla="*/ 169 w 169"/>
                <a:gd name="T11" fmla="*/ 258 h 388"/>
                <a:gd name="T12" fmla="*/ 0 w 169"/>
                <a:gd name="T13" fmla="*/ 388 h 388"/>
                <a:gd name="T14" fmla="*/ 0 w 169"/>
                <a:gd name="T15" fmla="*/ 258 h 3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69" h="388">
                  <a:moveTo>
                    <a:pt x="0" y="258"/>
                  </a:moveTo>
                  <a:lnTo>
                    <a:pt x="57" y="194"/>
                  </a:lnTo>
                  <a:lnTo>
                    <a:pt x="0" y="129"/>
                  </a:lnTo>
                  <a:lnTo>
                    <a:pt x="0" y="0"/>
                  </a:lnTo>
                  <a:lnTo>
                    <a:pt x="169" y="129"/>
                  </a:lnTo>
                  <a:lnTo>
                    <a:pt x="169" y="258"/>
                  </a:lnTo>
                  <a:lnTo>
                    <a:pt x="0" y="388"/>
                  </a:lnTo>
                  <a:lnTo>
                    <a:pt x="0" y="258"/>
                  </a:lnTo>
                </a:path>
              </a:pathLst>
            </a:custGeom>
            <a:noFill/>
            <a:ln w="206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4" name="Rectangle 67">
              <a:extLst>
                <a:ext uri="{FF2B5EF4-FFF2-40B4-BE49-F238E27FC236}">
                  <a16:creationId xmlns:a16="http://schemas.microsoft.com/office/drawing/2014/main" id="{259613B7-CCA5-482A-8FB6-86751AA06026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2841" y="2663"/>
              <a:ext cx="199" cy="11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1200" b="1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ALU</a:t>
              </a:r>
              <a:endParaRPr kumimoji="0" lang="zh-CN" altLang="zh-CN" sz="12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205" name="Rectangle 68">
              <a:extLst>
                <a:ext uri="{FF2B5EF4-FFF2-40B4-BE49-F238E27FC236}">
                  <a16:creationId xmlns:a16="http://schemas.microsoft.com/office/drawing/2014/main" id="{C50B5567-F67D-4E62-ADBC-90B7EE1165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41" y="2639"/>
              <a:ext cx="117" cy="12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1300" b="1" i="0" u="none" strike="noStrike" cap="none" normalizeH="0" baseline="0" dirty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I</a:t>
              </a:r>
              <a:r>
                <a:rPr kumimoji="0" lang="en-US" altLang="zh-CN" sz="1300" b="1" i="0" u="none" strike="noStrike" cap="none" normalizeH="0" baseline="0" dirty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M</a:t>
              </a:r>
              <a:endParaRPr kumimoji="0" lang="zh-CN" altLang="zh-CN" sz="1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206" name="Freeform 69">
              <a:extLst>
                <a:ext uri="{FF2B5EF4-FFF2-40B4-BE49-F238E27FC236}">
                  <a16:creationId xmlns:a16="http://schemas.microsoft.com/office/drawing/2014/main" id="{D8D29376-B31A-4D7A-88EA-730F4BBFCEE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3" y="2614"/>
              <a:ext cx="135" cy="232"/>
            </a:xfrm>
            <a:custGeom>
              <a:avLst/>
              <a:gdLst>
                <a:gd name="T0" fmla="*/ 135 w 135"/>
                <a:gd name="T1" fmla="*/ 0 h 232"/>
                <a:gd name="T2" fmla="*/ 0 w 135"/>
                <a:gd name="T3" fmla="*/ 0 h 232"/>
                <a:gd name="T4" fmla="*/ 0 w 135"/>
                <a:gd name="T5" fmla="*/ 232 h 232"/>
                <a:gd name="T6" fmla="*/ 135 w 135"/>
                <a:gd name="T7" fmla="*/ 232 h 2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5" h="232">
                  <a:moveTo>
                    <a:pt x="135" y="0"/>
                  </a:moveTo>
                  <a:lnTo>
                    <a:pt x="0" y="0"/>
                  </a:lnTo>
                  <a:lnTo>
                    <a:pt x="0" y="232"/>
                  </a:lnTo>
                  <a:lnTo>
                    <a:pt x="135" y="232"/>
                  </a:lnTo>
                </a:path>
              </a:pathLst>
            </a:custGeom>
            <a:noFill/>
            <a:ln w="206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7" name="Freeform 70">
              <a:extLst>
                <a:ext uri="{FF2B5EF4-FFF2-40B4-BE49-F238E27FC236}">
                  <a16:creationId xmlns:a16="http://schemas.microsoft.com/office/drawing/2014/main" id="{B0DF7034-03F4-4E4E-BBCA-FDDB1117282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9" y="2614"/>
              <a:ext cx="135" cy="232"/>
            </a:xfrm>
            <a:custGeom>
              <a:avLst/>
              <a:gdLst>
                <a:gd name="T0" fmla="*/ 0 w 135"/>
                <a:gd name="T1" fmla="*/ 0 h 232"/>
                <a:gd name="T2" fmla="*/ 135 w 135"/>
                <a:gd name="T3" fmla="*/ 0 h 232"/>
                <a:gd name="T4" fmla="*/ 135 w 135"/>
                <a:gd name="T5" fmla="*/ 232 h 232"/>
                <a:gd name="T6" fmla="*/ 0 w 135"/>
                <a:gd name="T7" fmla="*/ 232 h 2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5" h="232">
                  <a:moveTo>
                    <a:pt x="0" y="0"/>
                  </a:moveTo>
                  <a:lnTo>
                    <a:pt x="135" y="0"/>
                  </a:lnTo>
                  <a:lnTo>
                    <a:pt x="135" y="232"/>
                  </a:lnTo>
                  <a:lnTo>
                    <a:pt x="0" y="232"/>
                  </a:lnTo>
                </a:path>
              </a:pathLst>
            </a:custGeom>
            <a:noFill/>
            <a:ln w="206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8" name="Rectangle 71">
              <a:extLst>
                <a:ext uri="{FF2B5EF4-FFF2-40B4-BE49-F238E27FC236}">
                  <a16:creationId xmlns:a16="http://schemas.microsoft.com/office/drawing/2014/main" id="{F06F626F-A7D6-40B7-A855-7FF79389B5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93" y="2643"/>
              <a:ext cx="243" cy="13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1300" b="1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Reg</a:t>
              </a:r>
              <a:endParaRPr kumimoji="0" lang="zh-CN" altLang="zh-CN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209" name="Freeform 72">
              <a:extLst>
                <a:ext uri="{FF2B5EF4-FFF2-40B4-BE49-F238E27FC236}">
                  <a16:creationId xmlns:a16="http://schemas.microsoft.com/office/drawing/2014/main" id="{10834BE9-5824-4E30-AC1A-23250961C7A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2" y="2614"/>
              <a:ext cx="120" cy="232"/>
            </a:xfrm>
            <a:custGeom>
              <a:avLst/>
              <a:gdLst>
                <a:gd name="T0" fmla="*/ 120 w 120"/>
                <a:gd name="T1" fmla="*/ 0 h 232"/>
                <a:gd name="T2" fmla="*/ 0 w 120"/>
                <a:gd name="T3" fmla="*/ 0 h 232"/>
                <a:gd name="T4" fmla="*/ 0 w 120"/>
                <a:gd name="T5" fmla="*/ 232 h 232"/>
                <a:gd name="T6" fmla="*/ 120 w 120"/>
                <a:gd name="T7" fmla="*/ 232 h 2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0" h="232">
                  <a:moveTo>
                    <a:pt x="120" y="0"/>
                  </a:moveTo>
                  <a:lnTo>
                    <a:pt x="0" y="0"/>
                  </a:lnTo>
                  <a:lnTo>
                    <a:pt x="0" y="232"/>
                  </a:lnTo>
                  <a:lnTo>
                    <a:pt x="120" y="232"/>
                  </a:lnTo>
                </a:path>
              </a:pathLst>
            </a:custGeom>
            <a:noFill/>
            <a:ln w="206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0" name="Freeform 73">
              <a:extLst>
                <a:ext uri="{FF2B5EF4-FFF2-40B4-BE49-F238E27FC236}">
                  <a16:creationId xmlns:a16="http://schemas.microsoft.com/office/drawing/2014/main" id="{67DAF76A-4B2E-4441-B4C6-65EFE1C4DD3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3" y="2614"/>
              <a:ext cx="121" cy="232"/>
            </a:xfrm>
            <a:custGeom>
              <a:avLst/>
              <a:gdLst>
                <a:gd name="T0" fmla="*/ 0 w 121"/>
                <a:gd name="T1" fmla="*/ 0 h 232"/>
                <a:gd name="T2" fmla="*/ 121 w 121"/>
                <a:gd name="T3" fmla="*/ 0 h 232"/>
                <a:gd name="T4" fmla="*/ 121 w 121"/>
                <a:gd name="T5" fmla="*/ 232 h 232"/>
                <a:gd name="T6" fmla="*/ 0 w 121"/>
                <a:gd name="T7" fmla="*/ 232 h 2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1" h="232">
                  <a:moveTo>
                    <a:pt x="0" y="0"/>
                  </a:moveTo>
                  <a:lnTo>
                    <a:pt x="121" y="0"/>
                  </a:lnTo>
                  <a:lnTo>
                    <a:pt x="121" y="232"/>
                  </a:lnTo>
                  <a:lnTo>
                    <a:pt x="0" y="232"/>
                  </a:lnTo>
                </a:path>
              </a:pathLst>
            </a:custGeom>
            <a:noFill/>
            <a:ln w="206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1" name="Line 74">
              <a:extLst>
                <a:ext uri="{FF2B5EF4-FFF2-40B4-BE49-F238E27FC236}">
                  <a16:creationId xmlns:a16="http://schemas.microsoft.com/office/drawing/2014/main" id="{85D61990-DAEB-4529-A786-6499E126DEC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369" y="2730"/>
              <a:ext cx="93" cy="0"/>
            </a:xfrm>
            <a:prstGeom prst="line">
              <a:avLst/>
            </a:prstGeom>
            <a:noFill/>
            <a:ln w="20638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2" name="Freeform 75">
              <a:extLst>
                <a:ext uri="{FF2B5EF4-FFF2-40B4-BE49-F238E27FC236}">
                  <a16:creationId xmlns:a16="http://schemas.microsoft.com/office/drawing/2014/main" id="{DE90EDFD-D671-4B61-8DFA-0B6F31F3C2B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3" y="2652"/>
              <a:ext cx="38" cy="78"/>
            </a:xfrm>
            <a:custGeom>
              <a:avLst/>
              <a:gdLst>
                <a:gd name="T0" fmla="*/ 0 w 38"/>
                <a:gd name="T1" fmla="*/ 78 h 78"/>
                <a:gd name="T2" fmla="*/ 0 w 38"/>
                <a:gd name="T3" fmla="*/ 0 h 78"/>
                <a:gd name="T4" fmla="*/ 38 w 38"/>
                <a:gd name="T5" fmla="*/ 0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8" h="78">
                  <a:moveTo>
                    <a:pt x="0" y="78"/>
                  </a:moveTo>
                  <a:lnTo>
                    <a:pt x="0" y="0"/>
                  </a:lnTo>
                  <a:lnTo>
                    <a:pt x="38" y="0"/>
                  </a:lnTo>
                </a:path>
              </a:pathLst>
            </a:custGeom>
            <a:noFill/>
            <a:ln w="206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3" name="Line 76">
              <a:extLst>
                <a:ext uri="{FF2B5EF4-FFF2-40B4-BE49-F238E27FC236}">
                  <a16:creationId xmlns:a16="http://schemas.microsoft.com/office/drawing/2014/main" id="{96DBCE32-E678-4E87-9376-78923A00452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704" y="2652"/>
              <a:ext cx="126" cy="0"/>
            </a:xfrm>
            <a:prstGeom prst="line">
              <a:avLst/>
            </a:prstGeom>
            <a:noFill/>
            <a:ln w="20638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4" name="Rectangle 77">
              <a:extLst>
                <a:ext uri="{FF2B5EF4-FFF2-40B4-BE49-F238E27FC236}">
                  <a16:creationId xmlns:a16="http://schemas.microsoft.com/office/drawing/2014/main" id="{A835F3E9-11B4-4E7F-8455-653C33979C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54" y="2639"/>
              <a:ext cx="209" cy="13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1300" b="1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DM</a:t>
              </a:r>
              <a:endParaRPr kumimoji="0" lang="zh-CN" altLang="zh-CN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215" name="Freeform 78">
              <a:extLst>
                <a:ext uri="{FF2B5EF4-FFF2-40B4-BE49-F238E27FC236}">
                  <a16:creationId xmlns:a16="http://schemas.microsoft.com/office/drawing/2014/main" id="{2516F899-41E2-475B-A014-CDD51D8A19C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1" y="2614"/>
              <a:ext cx="130" cy="232"/>
            </a:xfrm>
            <a:custGeom>
              <a:avLst/>
              <a:gdLst>
                <a:gd name="T0" fmla="*/ 130 w 130"/>
                <a:gd name="T1" fmla="*/ 0 h 232"/>
                <a:gd name="T2" fmla="*/ 0 w 130"/>
                <a:gd name="T3" fmla="*/ 0 h 232"/>
                <a:gd name="T4" fmla="*/ 0 w 130"/>
                <a:gd name="T5" fmla="*/ 232 h 232"/>
                <a:gd name="T6" fmla="*/ 130 w 130"/>
                <a:gd name="T7" fmla="*/ 232 h 2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0" h="232">
                  <a:moveTo>
                    <a:pt x="130" y="0"/>
                  </a:moveTo>
                  <a:lnTo>
                    <a:pt x="0" y="0"/>
                  </a:lnTo>
                  <a:lnTo>
                    <a:pt x="0" y="232"/>
                  </a:lnTo>
                  <a:lnTo>
                    <a:pt x="130" y="232"/>
                  </a:lnTo>
                </a:path>
              </a:pathLst>
            </a:custGeom>
            <a:noFill/>
            <a:ln w="206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6" name="Freeform 79">
              <a:extLst>
                <a:ext uri="{FF2B5EF4-FFF2-40B4-BE49-F238E27FC236}">
                  <a16:creationId xmlns:a16="http://schemas.microsoft.com/office/drawing/2014/main" id="{B44E2A43-99A3-4CC4-B466-DCD894B2450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7" y="2614"/>
              <a:ext cx="135" cy="232"/>
            </a:xfrm>
            <a:custGeom>
              <a:avLst/>
              <a:gdLst>
                <a:gd name="T0" fmla="*/ 0 w 135"/>
                <a:gd name="T1" fmla="*/ 0 h 232"/>
                <a:gd name="T2" fmla="*/ 135 w 135"/>
                <a:gd name="T3" fmla="*/ 0 h 232"/>
                <a:gd name="T4" fmla="*/ 135 w 135"/>
                <a:gd name="T5" fmla="*/ 232 h 232"/>
                <a:gd name="T6" fmla="*/ 0 w 135"/>
                <a:gd name="T7" fmla="*/ 232 h 2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5" h="232">
                  <a:moveTo>
                    <a:pt x="0" y="0"/>
                  </a:moveTo>
                  <a:lnTo>
                    <a:pt x="135" y="0"/>
                  </a:lnTo>
                  <a:lnTo>
                    <a:pt x="135" y="232"/>
                  </a:lnTo>
                  <a:lnTo>
                    <a:pt x="0" y="232"/>
                  </a:lnTo>
                </a:path>
              </a:pathLst>
            </a:custGeom>
            <a:noFill/>
            <a:ln w="206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7" name="Rectangle 80">
              <a:extLst>
                <a:ext uri="{FF2B5EF4-FFF2-40B4-BE49-F238E27FC236}">
                  <a16:creationId xmlns:a16="http://schemas.microsoft.com/office/drawing/2014/main" id="{A6314F86-031F-4C39-9243-584E66ED02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52" y="2639"/>
              <a:ext cx="243" cy="13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1300" b="1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Reg</a:t>
              </a:r>
              <a:endParaRPr kumimoji="0" lang="zh-CN" altLang="zh-CN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218" name="Freeform 81">
              <a:extLst>
                <a:ext uri="{FF2B5EF4-FFF2-40B4-BE49-F238E27FC236}">
                  <a16:creationId xmlns:a16="http://schemas.microsoft.com/office/drawing/2014/main" id="{294F0B8D-EF22-48CA-A790-0ED97826B89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9" y="2614"/>
              <a:ext cx="111" cy="232"/>
            </a:xfrm>
            <a:custGeom>
              <a:avLst/>
              <a:gdLst>
                <a:gd name="T0" fmla="*/ 111 w 111"/>
                <a:gd name="T1" fmla="*/ 0 h 232"/>
                <a:gd name="T2" fmla="*/ 0 w 111"/>
                <a:gd name="T3" fmla="*/ 0 h 232"/>
                <a:gd name="T4" fmla="*/ 0 w 111"/>
                <a:gd name="T5" fmla="*/ 232 h 232"/>
                <a:gd name="T6" fmla="*/ 111 w 111"/>
                <a:gd name="T7" fmla="*/ 232 h 2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11" h="232">
                  <a:moveTo>
                    <a:pt x="111" y="0"/>
                  </a:moveTo>
                  <a:lnTo>
                    <a:pt x="0" y="0"/>
                  </a:lnTo>
                  <a:lnTo>
                    <a:pt x="0" y="232"/>
                  </a:lnTo>
                  <a:lnTo>
                    <a:pt x="111" y="232"/>
                  </a:lnTo>
                </a:path>
              </a:pathLst>
            </a:custGeom>
            <a:noFill/>
            <a:ln w="206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9" name="Freeform 82">
              <a:extLst>
                <a:ext uri="{FF2B5EF4-FFF2-40B4-BE49-F238E27FC236}">
                  <a16:creationId xmlns:a16="http://schemas.microsoft.com/office/drawing/2014/main" id="{57E25BF5-029F-4C96-AAB3-2194623F9A3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1" y="2614"/>
              <a:ext cx="116" cy="232"/>
            </a:xfrm>
            <a:custGeom>
              <a:avLst/>
              <a:gdLst>
                <a:gd name="T0" fmla="*/ 0 w 116"/>
                <a:gd name="T1" fmla="*/ 0 h 232"/>
                <a:gd name="T2" fmla="*/ 116 w 116"/>
                <a:gd name="T3" fmla="*/ 0 h 232"/>
                <a:gd name="T4" fmla="*/ 116 w 116"/>
                <a:gd name="T5" fmla="*/ 232 h 232"/>
                <a:gd name="T6" fmla="*/ 0 w 116"/>
                <a:gd name="T7" fmla="*/ 232 h 2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16" h="232">
                  <a:moveTo>
                    <a:pt x="0" y="0"/>
                  </a:moveTo>
                  <a:lnTo>
                    <a:pt x="116" y="0"/>
                  </a:lnTo>
                  <a:lnTo>
                    <a:pt x="116" y="232"/>
                  </a:lnTo>
                  <a:lnTo>
                    <a:pt x="0" y="232"/>
                  </a:lnTo>
                </a:path>
              </a:pathLst>
            </a:custGeom>
            <a:noFill/>
            <a:ln w="206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20" name="Line 83">
              <a:extLst>
                <a:ext uri="{FF2B5EF4-FFF2-40B4-BE49-F238E27FC236}">
                  <a16:creationId xmlns:a16="http://schemas.microsoft.com/office/drawing/2014/main" id="{8FD2B210-2602-4D24-9A8B-945D4E73B47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08" y="2730"/>
              <a:ext cx="112" cy="0"/>
            </a:xfrm>
            <a:prstGeom prst="line">
              <a:avLst/>
            </a:prstGeom>
            <a:noFill/>
            <a:ln w="20638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21" name="Line 84">
              <a:extLst>
                <a:ext uri="{FF2B5EF4-FFF2-40B4-BE49-F238E27FC236}">
                  <a16:creationId xmlns:a16="http://schemas.microsoft.com/office/drawing/2014/main" id="{9B06DB85-DB6C-4329-8ADE-ECEB9A8B850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20" y="2730"/>
              <a:ext cx="121" cy="0"/>
            </a:xfrm>
            <a:prstGeom prst="line">
              <a:avLst/>
            </a:prstGeom>
            <a:noFill/>
            <a:ln w="20638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22" name="Line 85">
              <a:extLst>
                <a:ext uri="{FF2B5EF4-FFF2-40B4-BE49-F238E27FC236}">
                  <a16:creationId xmlns:a16="http://schemas.microsoft.com/office/drawing/2014/main" id="{93B552F4-9B89-4FAA-B54E-F69FB4A72E9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704" y="2808"/>
              <a:ext cx="126" cy="0"/>
            </a:xfrm>
            <a:prstGeom prst="line">
              <a:avLst/>
            </a:prstGeom>
            <a:noFill/>
            <a:ln w="20638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23" name="Line 86">
              <a:extLst>
                <a:ext uri="{FF2B5EF4-FFF2-40B4-BE49-F238E27FC236}">
                  <a16:creationId xmlns:a16="http://schemas.microsoft.com/office/drawing/2014/main" id="{D5ECADF5-B12A-419E-99DD-0CEBF29F1C1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772" y="2808"/>
              <a:ext cx="0" cy="155"/>
            </a:xfrm>
            <a:prstGeom prst="line">
              <a:avLst/>
            </a:prstGeom>
            <a:noFill/>
            <a:ln w="23813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24" name="Line 87">
              <a:extLst>
                <a:ext uri="{FF2B5EF4-FFF2-40B4-BE49-F238E27FC236}">
                  <a16:creationId xmlns:a16="http://schemas.microsoft.com/office/drawing/2014/main" id="{64F9EB30-BF76-4F02-9FF6-36C422A4261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772" y="2963"/>
              <a:ext cx="272" cy="0"/>
            </a:xfrm>
            <a:prstGeom prst="line">
              <a:avLst/>
            </a:prstGeom>
            <a:noFill/>
            <a:ln w="23813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25" name="Line 88">
              <a:extLst>
                <a:ext uri="{FF2B5EF4-FFF2-40B4-BE49-F238E27FC236}">
                  <a16:creationId xmlns:a16="http://schemas.microsoft.com/office/drawing/2014/main" id="{9F94854C-6F1A-4265-990E-D786C6331A6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44" y="2730"/>
              <a:ext cx="0" cy="233"/>
            </a:xfrm>
            <a:prstGeom prst="line">
              <a:avLst/>
            </a:prstGeom>
            <a:noFill/>
            <a:ln w="23813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26" name="Line 89">
              <a:extLst>
                <a:ext uri="{FF2B5EF4-FFF2-40B4-BE49-F238E27FC236}">
                  <a16:creationId xmlns:a16="http://schemas.microsoft.com/office/drawing/2014/main" id="{08211D3C-91B4-46BA-972D-A860327834E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12" y="2730"/>
              <a:ext cx="0" cy="194"/>
            </a:xfrm>
            <a:prstGeom prst="line">
              <a:avLst/>
            </a:prstGeom>
            <a:noFill/>
            <a:ln w="23813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27" name="Line 90">
              <a:extLst>
                <a:ext uri="{FF2B5EF4-FFF2-40B4-BE49-F238E27FC236}">
                  <a16:creationId xmlns:a16="http://schemas.microsoft.com/office/drawing/2014/main" id="{8D319246-08AC-4B14-98C6-0C74986E6C0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12" y="2924"/>
              <a:ext cx="349" cy="0"/>
            </a:xfrm>
            <a:prstGeom prst="line">
              <a:avLst/>
            </a:prstGeom>
            <a:noFill/>
            <a:ln w="23813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28" name="Line 91">
              <a:extLst>
                <a:ext uri="{FF2B5EF4-FFF2-40B4-BE49-F238E27FC236}">
                  <a16:creationId xmlns:a16="http://schemas.microsoft.com/office/drawing/2014/main" id="{87725783-EA6D-4FC2-B5CD-02854032055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61" y="2730"/>
              <a:ext cx="0" cy="194"/>
            </a:xfrm>
            <a:prstGeom prst="line">
              <a:avLst/>
            </a:prstGeom>
            <a:noFill/>
            <a:ln w="23813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29" name="Freeform 92">
              <a:extLst>
                <a:ext uri="{FF2B5EF4-FFF2-40B4-BE49-F238E27FC236}">
                  <a16:creationId xmlns:a16="http://schemas.microsoft.com/office/drawing/2014/main" id="{1461C30A-CF75-4349-96FE-29519F45D1A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0" y="2963"/>
              <a:ext cx="169" cy="388"/>
            </a:xfrm>
            <a:custGeom>
              <a:avLst/>
              <a:gdLst>
                <a:gd name="T0" fmla="*/ 0 w 169"/>
                <a:gd name="T1" fmla="*/ 259 h 388"/>
                <a:gd name="T2" fmla="*/ 56 w 169"/>
                <a:gd name="T3" fmla="*/ 194 h 388"/>
                <a:gd name="T4" fmla="*/ 0 w 169"/>
                <a:gd name="T5" fmla="*/ 129 h 388"/>
                <a:gd name="T6" fmla="*/ 0 w 169"/>
                <a:gd name="T7" fmla="*/ 0 h 388"/>
                <a:gd name="T8" fmla="*/ 169 w 169"/>
                <a:gd name="T9" fmla="*/ 129 h 388"/>
                <a:gd name="T10" fmla="*/ 169 w 169"/>
                <a:gd name="T11" fmla="*/ 259 h 388"/>
                <a:gd name="T12" fmla="*/ 0 w 169"/>
                <a:gd name="T13" fmla="*/ 388 h 388"/>
                <a:gd name="T14" fmla="*/ 0 w 169"/>
                <a:gd name="T15" fmla="*/ 259 h 3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69" h="388">
                  <a:moveTo>
                    <a:pt x="0" y="259"/>
                  </a:moveTo>
                  <a:lnTo>
                    <a:pt x="56" y="194"/>
                  </a:lnTo>
                  <a:lnTo>
                    <a:pt x="0" y="129"/>
                  </a:lnTo>
                  <a:lnTo>
                    <a:pt x="0" y="0"/>
                  </a:lnTo>
                  <a:lnTo>
                    <a:pt x="169" y="129"/>
                  </a:lnTo>
                  <a:lnTo>
                    <a:pt x="169" y="259"/>
                  </a:lnTo>
                  <a:lnTo>
                    <a:pt x="0" y="388"/>
                  </a:lnTo>
                  <a:lnTo>
                    <a:pt x="0" y="259"/>
                  </a:lnTo>
                </a:path>
              </a:pathLst>
            </a:custGeom>
            <a:noFill/>
            <a:ln w="206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30" name="Rectangle 93">
              <a:extLst>
                <a:ext uri="{FF2B5EF4-FFF2-40B4-BE49-F238E27FC236}">
                  <a16:creationId xmlns:a16="http://schemas.microsoft.com/office/drawing/2014/main" id="{00184CFD-8CEE-454A-88D0-51EF7E109A75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3190" y="3089"/>
              <a:ext cx="199" cy="11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1200" b="1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ALU</a:t>
              </a:r>
              <a:endParaRPr kumimoji="0" lang="zh-CN" altLang="zh-CN" sz="12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231" name="Rectangle 94">
              <a:extLst>
                <a:ext uri="{FF2B5EF4-FFF2-40B4-BE49-F238E27FC236}">
                  <a16:creationId xmlns:a16="http://schemas.microsoft.com/office/drawing/2014/main" id="{2EDE808A-6C7D-4AF1-8568-D172475CC1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91" y="3068"/>
              <a:ext cx="117" cy="12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1300" b="1" i="0" u="none" strike="noStrike" cap="none" normalizeH="0" baseline="0" dirty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I</a:t>
              </a:r>
              <a:r>
                <a:rPr kumimoji="0" lang="en-US" altLang="zh-CN" sz="1300" b="1" i="0" u="none" strike="noStrike" cap="none" normalizeH="0" baseline="0" dirty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M</a:t>
              </a:r>
              <a:endParaRPr kumimoji="0" lang="zh-CN" altLang="zh-CN" sz="1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232" name="Freeform 95">
              <a:extLst>
                <a:ext uri="{FF2B5EF4-FFF2-40B4-BE49-F238E27FC236}">
                  <a16:creationId xmlns:a16="http://schemas.microsoft.com/office/drawing/2014/main" id="{02D0E70A-4231-44CD-BD76-DD2F23F421A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2" y="3041"/>
              <a:ext cx="136" cy="232"/>
            </a:xfrm>
            <a:custGeom>
              <a:avLst/>
              <a:gdLst>
                <a:gd name="T0" fmla="*/ 136 w 136"/>
                <a:gd name="T1" fmla="*/ 0 h 232"/>
                <a:gd name="T2" fmla="*/ 0 w 136"/>
                <a:gd name="T3" fmla="*/ 0 h 232"/>
                <a:gd name="T4" fmla="*/ 0 w 136"/>
                <a:gd name="T5" fmla="*/ 232 h 232"/>
                <a:gd name="T6" fmla="*/ 136 w 136"/>
                <a:gd name="T7" fmla="*/ 232 h 2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6" h="232">
                  <a:moveTo>
                    <a:pt x="136" y="0"/>
                  </a:moveTo>
                  <a:lnTo>
                    <a:pt x="0" y="0"/>
                  </a:lnTo>
                  <a:lnTo>
                    <a:pt x="0" y="232"/>
                  </a:lnTo>
                  <a:lnTo>
                    <a:pt x="136" y="232"/>
                  </a:lnTo>
                </a:path>
              </a:pathLst>
            </a:custGeom>
            <a:noFill/>
            <a:ln w="206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33" name="Freeform 96">
              <a:extLst>
                <a:ext uri="{FF2B5EF4-FFF2-40B4-BE49-F238E27FC236}">
                  <a16:creationId xmlns:a16="http://schemas.microsoft.com/office/drawing/2014/main" id="{087E5D79-6D12-4E0A-9E5B-0C06E7FF948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8" y="3041"/>
              <a:ext cx="135" cy="232"/>
            </a:xfrm>
            <a:custGeom>
              <a:avLst/>
              <a:gdLst>
                <a:gd name="T0" fmla="*/ 0 w 135"/>
                <a:gd name="T1" fmla="*/ 0 h 232"/>
                <a:gd name="T2" fmla="*/ 135 w 135"/>
                <a:gd name="T3" fmla="*/ 0 h 232"/>
                <a:gd name="T4" fmla="*/ 135 w 135"/>
                <a:gd name="T5" fmla="*/ 232 h 232"/>
                <a:gd name="T6" fmla="*/ 0 w 135"/>
                <a:gd name="T7" fmla="*/ 232 h 2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5" h="232">
                  <a:moveTo>
                    <a:pt x="0" y="0"/>
                  </a:moveTo>
                  <a:lnTo>
                    <a:pt x="135" y="0"/>
                  </a:lnTo>
                  <a:lnTo>
                    <a:pt x="135" y="232"/>
                  </a:lnTo>
                  <a:lnTo>
                    <a:pt x="0" y="232"/>
                  </a:lnTo>
                </a:path>
              </a:pathLst>
            </a:custGeom>
            <a:noFill/>
            <a:ln w="206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34" name="Rectangle 97">
              <a:extLst>
                <a:ext uri="{FF2B5EF4-FFF2-40B4-BE49-F238E27FC236}">
                  <a16:creationId xmlns:a16="http://schemas.microsoft.com/office/drawing/2014/main" id="{7480FFFC-09B2-43F2-8FE1-90D373A551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42" y="3072"/>
              <a:ext cx="243" cy="13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1300" b="1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Reg</a:t>
              </a:r>
              <a:endParaRPr kumimoji="0" lang="zh-CN" altLang="zh-CN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235" name="Freeform 98">
              <a:extLst>
                <a:ext uri="{FF2B5EF4-FFF2-40B4-BE49-F238E27FC236}">
                  <a16:creationId xmlns:a16="http://schemas.microsoft.com/office/drawing/2014/main" id="{734C1624-009D-4E04-9F4E-2C8BA282654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1" y="3041"/>
              <a:ext cx="121" cy="232"/>
            </a:xfrm>
            <a:custGeom>
              <a:avLst/>
              <a:gdLst>
                <a:gd name="T0" fmla="*/ 121 w 121"/>
                <a:gd name="T1" fmla="*/ 0 h 232"/>
                <a:gd name="T2" fmla="*/ 0 w 121"/>
                <a:gd name="T3" fmla="*/ 0 h 232"/>
                <a:gd name="T4" fmla="*/ 0 w 121"/>
                <a:gd name="T5" fmla="*/ 232 h 232"/>
                <a:gd name="T6" fmla="*/ 121 w 121"/>
                <a:gd name="T7" fmla="*/ 232 h 2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1" h="232">
                  <a:moveTo>
                    <a:pt x="121" y="0"/>
                  </a:moveTo>
                  <a:lnTo>
                    <a:pt x="0" y="0"/>
                  </a:lnTo>
                  <a:lnTo>
                    <a:pt x="0" y="232"/>
                  </a:lnTo>
                  <a:lnTo>
                    <a:pt x="121" y="232"/>
                  </a:lnTo>
                </a:path>
              </a:pathLst>
            </a:custGeom>
            <a:noFill/>
            <a:ln w="206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36" name="Freeform 99">
              <a:extLst>
                <a:ext uri="{FF2B5EF4-FFF2-40B4-BE49-F238E27FC236}">
                  <a16:creationId xmlns:a16="http://schemas.microsoft.com/office/drawing/2014/main" id="{1EC0E2C0-E151-46AF-A02B-4131122F813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2" y="3041"/>
              <a:ext cx="116" cy="232"/>
            </a:xfrm>
            <a:custGeom>
              <a:avLst/>
              <a:gdLst>
                <a:gd name="T0" fmla="*/ 0 w 116"/>
                <a:gd name="T1" fmla="*/ 0 h 232"/>
                <a:gd name="T2" fmla="*/ 116 w 116"/>
                <a:gd name="T3" fmla="*/ 0 h 232"/>
                <a:gd name="T4" fmla="*/ 116 w 116"/>
                <a:gd name="T5" fmla="*/ 232 h 232"/>
                <a:gd name="T6" fmla="*/ 0 w 116"/>
                <a:gd name="T7" fmla="*/ 232 h 2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16" h="232">
                  <a:moveTo>
                    <a:pt x="0" y="0"/>
                  </a:moveTo>
                  <a:lnTo>
                    <a:pt x="116" y="0"/>
                  </a:lnTo>
                  <a:lnTo>
                    <a:pt x="116" y="232"/>
                  </a:lnTo>
                  <a:lnTo>
                    <a:pt x="0" y="232"/>
                  </a:lnTo>
                </a:path>
              </a:pathLst>
            </a:custGeom>
            <a:noFill/>
            <a:ln w="206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37" name="Line 100">
              <a:extLst>
                <a:ext uri="{FF2B5EF4-FFF2-40B4-BE49-F238E27FC236}">
                  <a16:creationId xmlns:a16="http://schemas.microsoft.com/office/drawing/2014/main" id="{EF30D20D-C7DF-41AF-870D-A4A2D5D08C4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719" y="3157"/>
              <a:ext cx="92" cy="0"/>
            </a:xfrm>
            <a:prstGeom prst="line">
              <a:avLst/>
            </a:prstGeom>
            <a:noFill/>
            <a:ln w="20638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38" name="Freeform 101">
              <a:extLst>
                <a:ext uri="{FF2B5EF4-FFF2-40B4-BE49-F238E27FC236}">
                  <a16:creationId xmlns:a16="http://schemas.microsoft.com/office/drawing/2014/main" id="{BAC555E6-59EF-45C0-BA2A-42093DE88EF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2" y="3080"/>
              <a:ext cx="38" cy="77"/>
            </a:xfrm>
            <a:custGeom>
              <a:avLst/>
              <a:gdLst>
                <a:gd name="T0" fmla="*/ 0 w 38"/>
                <a:gd name="T1" fmla="*/ 77 h 77"/>
                <a:gd name="T2" fmla="*/ 0 w 38"/>
                <a:gd name="T3" fmla="*/ 0 h 77"/>
                <a:gd name="T4" fmla="*/ 38 w 38"/>
                <a:gd name="T5" fmla="*/ 0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8" h="77">
                  <a:moveTo>
                    <a:pt x="0" y="77"/>
                  </a:moveTo>
                  <a:lnTo>
                    <a:pt x="0" y="0"/>
                  </a:lnTo>
                  <a:lnTo>
                    <a:pt x="38" y="0"/>
                  </a:lnTo>
                </a:path>
              </a:pathLst>
            </a:custGeom>
            <a:noFill/>
            <a:ln w="206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39" name="Line 102">
              <a:extLst>
                <a:ext uri="{FF2B5EF4-FFF2-40B4-BE49-F238E27FC236}">
                  <a16:creationId xmlns:a16="http://schemas.microsoft.com/office/drawing/2014/main" id="{7B85EB67-EEE2-4E62-AE70-2E4A1999DE2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54" y="3080"/>
              <a:ext cx="126" cy="0"/>
            </a:xfrm>
            <a:prstGeom prst="line">
              <a:avLst/>
            </a:prstGeom>
            <a:noFill/>
            <a:ln w="20638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40" name="Rectangle 103">
              <a:extLst>
                <a:ext uri="{FF2B5EF4-FFF2-40B4-BE49-F238E27FC236}">
                  <a16:creationId xmlns:a16="http://schemas.microsoft.com/office/drawing/2014/main" id="{4416B00D-4229-4AF3-BD43-A880E0E7E02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03" y="3068"/>
              <a:ext cx="209" cy="13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1300" b="1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DM</a:t>
              </a:r>
              <a:endParaRPr kumimoji="0" lang="zh-CN" altLang="zh-CN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241" name="Freeform 104">
              <a:extLst>
                <a:ext uri="{FF2B5EF4-FFF2-40B4-BE49-F238E27FC236}">
                  <a16:creationId xmlns:a16="http://schemas.microsoft.com/office/drawing/2014/main" id="{C32B0A89-5330-4446-97BC-0119A9EAEDD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0" y="3041"/>
              <a:ext cx="131" cy="232"/>
            </a:xfrm>
            <a:custGeom>
              <a:avLst/>
              <a:gdLst>
                <a:gd name="T0" fmla="*/ 131 w 131"/>
                <a:gd name="T1" fmla="*/ 0 h 232"/>
                <a:gd name="T2" fmla="*/ 0 w 131"/>
                <a:gd name="T3" fmla="*/ 0 h 232"/>
                <a:gd name="T4" fmla="*/ 0 w 131"/>
                <a:gd name="T5" fmla="*/ 232 h 232"/>
                <a:gd name="T6" fmla="*/ 131 w 131"/>
                <a:gd name="T7" fmla="*/ 232 h 2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1" h="232">
                  <a:moveTo>
                    <a:pt x="131" y="0"/>
                  </a:moveTo>
                  <a:lnTo>
                    <a:pt x="0" y="0"/>
                  </a:lnTo>
                  <a:lnTo>
                    <a:pt x="0" y="232"/>
                  </a:lnTo>
                  <a:lnTo>
                    <a:pt x="131" y="232"/>
                  </a:lnTo>
                </a:path>
              </a:pathLst>
            </a:custGeom>
            <a:noFill/>
            <a:ln w="206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42" name="Freeform 105">
              <a:extLst>
                <a:ext uri="{FF2B5EF4-FFF2-40B4-BE49-F238E27FC236}">
                  <a16:creationId xmlns:a16="http://schemas.microsoft.com/office/drawing/2014/main" id="{143EC049-ABF8-4561-9E95-BA81F9930DF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6" y="3041"/>
              <a:ext cx="136" cy="232"/>
            </a:xfrm>
            <a:custGeom>
              <a:avLst/>
              <a:gdLst>
                <a:gd name="T0" fmla="*/ 0 w 136"/>
                <a:gd name="T1" fmla="*/ 0 h 232"/>
                <a:gd name="T2" fmla="*/ 136 w 136"/>
                <a:gd name="T3" fmla="*/ 0 h 232"/>
                <a:gd name="T4" fmla="*/ 136 w 136"/>
                <a:gd name="T5" fmla="*/ 232 h 232"/>
                <a:gd name="T6" fmla="*/ 0 w 136"/>
                <a:gd name="T7" fmla="*/ 232 h 2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6" h="232">
                  <a:moveTo>
                    <a:pt x="0" y="0"/>
                  </a:moveTo>
                  <a:lnTo>
                    <a:pt x="136" y="0"/>
                  </a:lnTo>
                  <a:lnTo>
                    <a:pt x="136" y="232"/>
                  </a:lnTo>
                  <a:lnTo>
                    <a:pt x="0" y="232"/>
                  </a:lnTo>
                </a:path>
              </a:pathLst>
            </a:custGeom>
            <a:noFill/>
            <a:ln w="206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43" name="Rectangle 106">
              <a:extLst>
                <a:ext uri="{FF2B5EF4-FFF2-40B4-BE49-F238E27FC236}">
                  <a16:creationId xmlns:a16="http://schemas.microsoft.com/office/drawing/2014/main" id="{680B9714-6FEE-41DC-A4F4-BD01B4C46D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01" y="3068"/>
              <a:ext cx="242" cy="13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1300" b="1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Reg</a:t>
              </a:r>
              <a:endParaRPr kumimoji="0" lang="zh-CN" altLang="zh-CN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244" name="Freeform 107">
              <a:extLst>
                <a:ext uri="{FF2B5EF4-FFF2-40B4-BE49-F238E27FC236}">
                  <a16:creationId xmlns:a16="http://schemas.microsoft.com/office/drawing/2014/main" id="{3C58FA34-1AFC-4ABC-9D07-8C5B7B68AF3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9" y="3041"/>
              <a:ext cx="111" cy="232"/>
            </a:xfrm>
            <a:custGeom>
              <a:avLst/>
              <a:gdLst>
                <a:gd name="T0" fmla="*/ 111 w 111"/>
                <a:gd name="T1" fmla="*/ 0 h 232"/>
                <a:gd name="T2" fmla="*/ 0 w 111"/>
                <a:gd name="T3" fmla="*/ 0 h 232"/>
                <a:gd name="T4" fmla="*/ 0 w 111"/>
                <a:gd name="T5" fmla="*/ 232 h 232"/>
                <a:gd name="T6" fmla="*/ 111 w 111"/>
                <a:gd name="T7" fmla="*/ 232 h 2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11" h="232">
                  <a:moveTo>
                    <a:pt x="111" y="0"/>
                  </a:moveTo>
                  <a:lnTo>
                    <a:pt x="0" y="0"/>
                  </a:lnTo>
                  <a:lnTo>
                    <a:pt x="0" y="232"/>
                  </a:lnTo>
                  <a:lnTo>
                    <a:pt x="111" y="232"/>
                  </a:lnTo>
                </a:path>
              </a:pathLst>
            </a:custGeom>
            <a:noFill/>
            <a:ln w="206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45" name="Freeform 108">
              <a:extLst>
                <a:ext uri="{FF2B5EF4-FFF2-40B4-BE49-F238E27FC236}">
                  <a16:creationId xmlns:a16="http://schemas.microsoft.com/office/drawing/2014/main" id="{DD548729-0339-4C94-832D-91894EF1851F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0" y="3041"/>
              <a:ext cx="116" cy="232"/>
            </a:xfrm>
            <a:custGeom>
              <a:avLst/>
              <a:gdLst>
                <a:gd name="T0" fmla="*/ 0 w 116"/>
                <a:gd name="T1" fmla="*/ 0 h 232"/>
                <a:gd name="T2" fmla="*/ 116 w 116"/>
                <a:gd name="T3" fmla="*/ 0 h 232"/>
                <a:gd name="T4" fmla="*/ 116 w 116"/>
                <a:gd name="T5" fmla="*/ 232 h 232"/>
                <a:gd name="T6" fmla="*/ 0 w 116"/>
                <a:gd name="T7" fmla="*/ 232 h 2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16" h="232">
                  <a:moveTo>
                    <a:pt x="0" y="0"/>
                  </a:moveTo>
                  <a:lnTo>
                    <a:pt x="116" y="0"/>
                  </a:lnTo>
                  <a:lnTo>
                    <a:pt x="116" y="232"/>
                  </a:lnTo>
                  <a:lnTo>
                    <a:pt x="0" y="232"/>
                  </a:lnTo>
                </a:path>
              </a:pathLst>
            </a:custGeom>
            <a:noFill/>
            <a:ln w="206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46" name="Line 109">
              <a:extLst>
                <a:ext uri="{FF2B5EF4-FFF2-40B4-BE49-F238E27FC236}">
                  <a16:creationId xmlns:a16="http://schemas.microsoft.com/office/drawing/2014/main" id="{8E1EB0C8-BB9A-4B62-AB5A-8EEBA69C0F5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57" y="3157"/>
              <a:ext cx="112" cy="0"/>
            </a:xfrm>
            <a:prstGeom prst="line">
              <a:avLst/>
            </a:prstGeom>
            <a:noFill/>
            <a:ln w="20638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47" name="Line 110">
              <a:extLst>
                <a:ext uri="{FF2B5EF4-FFF2-40B4-BE49-F238E27FC236}">
                  <a16:creationId xmlns:a16="http://schemas.microsoft.com/office/drawing/2014/main" id="{6A00B23B-0569-4D3C-BFAF-5E1AC23D89F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64" y="3157"/>
              <a:ext cx="126" cy="0"/>
            </a:xfrm>
            <a:prstGeom prst="line">
              <a:avLst/>
            </a:prstGeom>
            <a:noFill/>
            <a:ln w="20638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48" name="Line 111">
              <a:extLst>
                <a:ext uri="{FF2B5EF4-FFF2-40B4-BE49-F238E27FC236}">
                  <a16:creationId xmlns:a16="http://schemas.microsoft.com/office/drawing/2014/main" id="{C0B9FDA6-E14C-40BD-B12E-D57C184AA7F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54" y="3235"/>
              <a:ext cx="126" cy="0"/>
            </a:xfrm>
            <a:prstGeom prst="line">
              <a:avLst/>
            </a:prstGeom>
            <a:noFill/>
            <a:ln w="20638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49" name="Line 112">
              <a:extLst>
                <a:ext uri="{FF2B5EF4-FFF2-40B4-BE49-F238E27FC236}">
                  <a16:creationId xmlns:a16="http://schemas.microsoft.com/office/drawing/2014/main" id="{418C20A8-AAFC-4A2E-B750-AF80020B912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22" y="3235"/>
              <a:ext cx="0" cy="155"/>
            </a:xfrm>
            <a:prstGeom prst="line">
              <a:avLst/>
            </a:prstGeom>
            <a:noFill/>
            <a:ln w="23813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50" name="Line 113">
              <a:extLst>
                <a:ext uri="{FF2B5EF4-FFF2-40B4-BE49-F238E27FC236}">
                  <a16:creationId xmlns:a16="http://schemas.microsoft.com/office/drawing/2014/main" id="{79C2B956-1FDE-4B5E-96D6-F4848256299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22" y="3390"/>
              <a:ext cx="271" cy="0"/>
            </a:xfrm>
            <a:prstGeom prst="line">
              <a:avLst/>
            </a:prstGeom>
            <a:noFill/>
            <a:ln w="23813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51" name="Line 114">
              <a:extLst>
                <a:ext uri="{FF2B5EF4-FFF2-40B4-BE49-F238E27FC236}">
                  <a16:creationId xmlns:a16="http://schemas.microsoft.com/office/drawing/2014/main" id="{2A21DEBF-A7E2-4967-BF5C-91B31B81813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93" y="3157"/>
              <a:ext cx="0" cy="233"/>
            </a:xfrm>
            <a:prstGeom prst="line">
              <a:avLst/>
            </a:prstGeom>
            <a:noFill/>
            <a:ln w="23813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52" name="Line 115">
              <a:extLst>
                <a:ext uri="{FF2B5EF4-FFF2-40B4-BE49-F238E27FC236}">
                  <a16:creationId xmlns:a16="http://schemas.microsoft.com/office/drawing/2014/main" id="{233F5232-B5D5-4834-AFBE-355760D0782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61" y="3157"/>
              <a:ext cx="0" cy="194"/>
            </a:xfrm>
            <a:prstGeom prst="line">
              <a:avLst/>
            </a:prstGeom>
            <a:noFill/>
            <a:ln w="23813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53" name="Line 116">
              <a:extLst>
                <a:ext uri="{FF2B5EF4-FFF2-40B4-BE49-F238E27FC236}">
                  <a16:creationId xmlns:a16="http://schemas.microsoft.com/office/drawing/2014/main" id="{DB41DE6E-22CA-4A99-BD37-543AEAA6211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61" y="3351"/>
              <a:ext cx="350" cy="0"/>
            </a:xfrm>
            <a:prstGeom prst="line">
              <a:avLst/>
            </a:prstGeom>
            <a:noFill/>
            <a:ln w="23813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54" name="Line 117">
              <a:extLst>
                <a:ext uri="{FF2B5EF4-FFF2-40B4-BE49-F238E27FC236}">
                  <a16:creationId xmlns:a16="http://schemas.microsoft.com/office/drawing/2014/main" id="{402368CA-1660-489A-A523-F05837E44B6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11" y="3157"/>
              <a:ext cx="0" cy="194"/>
            </a:xfrm>
            <a:prstGeom prst="line">
              <a:avLst/>
            </a:prstGeom>
            <a:noFill/>
            <a:ln w="23813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55" name="Freeform 118">
              <a:extLst>
                <a:ext uri="{FF2B5EF4-FFF2-40B4-BE49-F238E27FC236}">
                  <a16:creationId xmlns:a16="http://schemas.microsoft.com/office/drawing/2014/main" id="{1B1B6C0A-37E8-4A2B-B457-91B6EAAD7E4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9" y="3390"/>
              <a:ext cx="169" cy="388"/>
            </a:xfrm>
            <a:custGeom>
              <a:avLst/>
              <a:gdLst>
                <a:gd name="T0" fmla="*/ 0 w 169"/>
                <a:gd name="T1" fmla="*/ 259 h 388"/>
                <a:gd name="T2" fmla="*/ 57 w 169"/>
                <a:gd name="T3" fmla="*/ 194 h 388"/>
                <a:gd name="T4" fmla="*/ 0 w 169"/>
                <a:gd name="T5" fmla="*/ 130 h 388"/>
                <a:gd name="T6" fmla="*/ 0 w 169"/>
                <a:gd name="T7" fmla="*/ 0 h 388"/>
                <a:gd name="T8" fmla="*/ 169 w 169"/>
                <a:gd name="T9" fmla="*/ 130 h 388"/>
                <a:gd name="T10" fmla="*/ 169 w 169"/>
                <a:gd name="T11" fmla="*/ 259 h 388"/>
                <a:gd name="T12" fmla="*/ 0 w 169"/>
                <a:gd name="T13" fmla="*/ 388 h 388"/>
                <a:gd name="T14" fmla="*/ 0 w 169"/>
                <a:gd name="T15" fmla="*/ 259 h 3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69" h="388">
                  <a:moveTo>
                    <a:pt x="0" y="259"/>
                  </a:moveTo>
                  <a:lnTo>
                    <a:pt x="57" y="194"/>
                  </a:lnTo>
                  <a:lnTo>
                    <a:pt x="0" y="130"/>
                  </a:lnTo>
                  <a:lnTo>
                    <a:pt x="0" y="0"/>
                  </a:lnTo>
                  <a:lnTo>
                    <a:pt x="169" y="130"/>
                  </a:lnTo>
                  <a:lnTo>
                    <a:pt x="169" y="259"/>
                  </a:lnTo>
                  <a:lnTo>
                    <a:pt x="0" y="388"/>
                  </a:lnTo>
                  <a:lnTo>
                    <a:pt x="0" y="259"/>
                  </a:lnTo>
                </a:path>
              </a:pathLst>
            </a:custGeom>
            <a:noFill/>
            <a:ln w="206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56" name="Rectangle 119">
              <a:extLst>
                <a:ext uri="{FF2B5EF4-FFF2-40B4-BE49-F238E27FC236}">
                  <a16:creationId xmlns:a16="http://schemas.microsoft.com/office/drawing/2014/main" id="{3DBFF5CB-2A59-4340-9B88-4158E793B366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3539" y="3517"/>
              <a:ext cx="199" cy="11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1200" b="1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ALU</a:t>
              </a:r>
              <a:endParaRPr kumimoji="0" lang="zh-CN" altLang="zh-CN" sz="12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257" name="Rectangle 120">
              <a:extLst>
                <a:ext uri="{FF2B5EF4-FFF2-40B4-BE49-F238E27FC236}">
                  <a16:creationId xmlns:a16="http://schemas.microsoft.com/office/drawing/2014/main" id="{F6D36ECF-F384-49EC-8B53-874E700348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40" y="3495"/>
              <a:ext cx="117" cy="12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1300" b="1" i="0" u="none" strike="noStrike" cap="none" normalizeH="0" baseline="0" dirty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I</a:t>
              </a:r>
              <a:r>
                <a:rPr kumimoji="0" lang="en-US" altLang="zh-CN" sz="1300" b="1" i="0" u="none" strike="noStrike" cap="none" normalizeH="0" baseline="0" dirty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M</a:t>
              </a:r>
              <a:endParaRPr kumimoji="0" lang="zh-CN" altLang="zh-CN" sz="1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258" name="Freeform 121">
              <a:extLst>
                <a:ext uri="{FF2B5EF4-FFF2-40B4-BE49-F238E27FC236}">
                  <a16:creationId xmlns:a16="http://schemas.microsoft.com/office/drawing/2014/main" id="{C34B855F-9933-4A8C-90BD-4FF5D87FC30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2" y="3468"/>
              <a:ext cx="135" cy="232"/>
            </a:xfrm>
            <a:custGeom>
              <a:avLst/>
              <a:gdLst>
                <a:gd name="T0" fmla="*/ 135 w 135"/>
                <a:gd name="T1" fmla="*/ 0 h 232"/>
                <a:gd name="T2" fmla="*/ 0 w 135"/>
                <a:gd name="T3" fmla="*/ 0 h 232"/>
                <a:gd name="T4" fmla="*/ 0 w 135"/>
                <a:gd name="T5" fmla="*/ 232 h 232"/>
                <a:gd name="T6" fmla="*/ 135 w 135"/>
                <a:gd name="T7" fmla="*/ 232 h 2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5" h="232">
                  <a:moveTo>
                    <a:pt x="135" y="0"/>
                  </a:moveTo>
                  <a:lnTo>
                    <a:pt x="0" y="0"/>
                  </a:lnTo>
                  <a:lnTo>
                    <a:pt x="0" y="232"/>
                  </a:lnTo>
                  <a:lnTo>
                    <a:pt x="135" y="232"/>
                  </a:lnTo>
                </a:path>
              </a:pathLst>
            </a:custGeom>
            <a:noFill/>
            <a:ln w="206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59" name="Freeform 122">
              <a:extLst>
                <a:ext uri="{FF2B5EF4-FFF2-40B4-BE49-F238E27FC236}">
                  <a16:creationId xmlns:a16="http://schemas.microsoft.com/office/drawing/2014/main" id="{7ABD5E08-2BED-4664-89C3-1F66787878F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8" y="3468"/>
              <a:ext cx="135" cy="232"/>
            </a:xfrm>
            <a:custGeom>
              <a:avLst/>
              <a:gdLst>
                <a:gd name="T0" fmla="*/ 0 w 135"/>
                <a:gd name="T1" fmla="*/ 0 h 232"/>
                <a:gd name="T2" fmla="*/ 135 w 135"/>
                <a:gd name="T3" fmla="*/ 0 h 232"/>
                <a:gd name="T4" fmla="*/ 135 w 135"/>
                <a:gd name="T5" fmla="*/ 232 h 232"/>
                <a:gd name="T6" fmla="*/ 0 w 135"/>
                <a:gd name="T7" fmla="*/ 232 h 2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5" h="232">
                  <a:moveTo>
                    <a:pt x="0" y="0"/>
                  </a:moveTo>
                  <a:lnTo>
                    <a:pt x="135" y="0"/>
                  </a:lnTo>
                  <a:lnTo>
                    <a:pt x="135" y="232"/>
                  </a:lnTo>
                  <a:lnTo>
                    <a:pt x="0" y="232"/>
                  </a:lnTo>
                </a:path>
              </a:pathLst>
            </a:custGeom>
            <a:noFill/>
            <a:ln w="206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60" name="Rectangle 123">
              <a:extLst>
                <a:ext uri="{FF2B5EF4-FFF2-40B4-BE49-F238E27FC236}">
                  <a16:creationId xmlns:a16="http://schemas.microsoft.com/office/drawing/2014/main" id="{3B63D705-5ACE-4017-A0F5-4DF1956B4D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92" y="3499"/>
              <a:ext cx="243" cy="13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1300" b="1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Reg</a:t>
              </a:r>
              <a:endParaRPr kumimoji="0" lang="zh-CN" altLang="zh-CN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261" name="Freeform 124">
              <a:extLst>
                <a:ext uri="{FF2B5EF4-FFF2-40B4-BE49-F238E27FC236}">
                  <a16:creationId xmlns:a16="http://schemas.microsoft.com/office/drawing/2014/main" id="{2F41C2E1-4848-4035-8D89-56C868AE78F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0" y="3468"/>
              <a:ext cx="121" cy="232"/>
            </a:xfrm>
            <a:custGeom>
              <a:avLst/>
              <a:gdLst>
                <a:gd name="T0" fmla="*/ 121 w 121"/>
                <a:gd name="T1" fmla="*/ 0 h 232"/>
                <a:gd name="T2" fmla="*/ 0 w 121"/>
                <a:gd name="T3" fmla="*/ 0 h 232"/>
                <a:gd name="T4" fmla="*/ 0 w 121"/>
                <a:gd name="T5" fmla="*/ 232 h 232"/>
                <a:gd name="T6" fmla="*/ 121 w 121"/>
                <a:gd name="T7" fmla="*/ 232 h 2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1" h="232">
                  <a:moveTo>
                    <a:pt x="121" y="0"/>
                  </a:moveTo>
                  <a:lnTo>
                    <a:pt x="0" y="0"/>
                  </a:lnTo>
                  <a:lnTo>
                    <a:pt x="0" y="232"/>
                  </a:lnTo>
                  <a:lnTo>
                    <a:pt x="121" y="232"/>
                  </a:lnTo>
                </a:path>
              </a:pathLst>
            </a:custGeom>
            <a:noFill/>
            <a:ln w="206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62" name="Freeform 125">
              <a:extLst>
                <a:ext uri="{FF2B5EF4-FFF2-40B4-BE49-F238E27FC236}">
                  <a16:creationId xmlns:a16="http://schemas.microsoft.com/office/drawing/2014/main" id="{966894F4-0976-4567-A2FD-2167EE07A78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2" y="3468"/>
              <a:ext cx="120" cy="232"/>
            </a:xfrm>
            <a:custGeom>
              <a:avLst/>
              <a:gdLst>
                <a:gd name="T0" fmla="*/ 0 w 120"/>
                <a:gd name="T1" fmla="*/ 0 h 232"/>
                <a:gd name="T2" fmla="*/ 120 w 120"/>
                <a:gd name="T3" fmla="*/ 0 h 232"/>
                <a:gd name="T4" fmla="*/ 120 w 120"/>
                <a:gd name="T5" fmla="*/ 232 h 232"/>
                <a:gd name="T6" fmla="*/ 0 w 120"/>
                <a:gd name="T7" fmla="*/ 232 h 2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0" h="232">
                  <a:moveTo>
                    <a:pt x="0" y="0"/>
                  </a:moveTo>
                  <a:lnTo>
                    <a:pt x="120" y="0"/>
                  </a:lnTo>
                  <a:lnTo>
                    <a:pt x="120" y="232"/>
                  </a:lnTo>
                  <a:lnTo>
                    <a:pt x="0" y="232"/>
                  </a:lnTo>
                </a:path>
              </a:pathLst>
            </a:custGeom>
            <a:noFill/>
            <a:ln w="206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63" name="Line 126">
              <a:extLst>
                <a:ext uri="{FF2B5EF4-FFF2-40B4-BE49-F238E27FC236}">
                  <a16:creationId xmlns:a16="http://schemas.microsoft.com/office/drawing/2014/main" id="{BB791D5B-0616-4A93-9633-B5A9EB21DC9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68" y="3584"/>
              <a:ext cx="92" cy="0"/>
            </a:xfrm>
            <a:prstGeom prst="line">
              <a:avLst/>
            </a:prstGeom>
            <a:noFill/>
            <a:ln w="20638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64" name="Freeform 127">
              <a:extLst>
                <a:ext uri="{FF2B5EF4-FFF2-40B4-BE49-F238E27FC236}">
                  <a16:creationId xmlns:a16="http://schemas.microsoft.com/office/drawing/2014/main" id="{B467C49D-54B9-408F-ACF7-13F60F71F23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2" y="3507"/>
              <a:ext cx="38" cy="77"/>
            </a:xfrm>
            <a:custGeom>
              <a:avLst/>
              <a:gdLst>
                <a:gd name="T0" fmla="*/ 0 w 38"/>
                <a:gd name="T1" fmla="*/ 77 h 77"/>
                <a:gd name="T2" fmla="*/ 0 w 38"/>
                <a:gd name="T3" fmla="*/ 0 h 77"/>
                <a:gd name="T4" fmla="*/ 38 w 38"/>
                <a:gd name="T5" fmla="*/ 0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8" h="77">
                  <a:moveTo>
                    <a:pt x="0" y="77"/>
                  </a:moveTo>
                  <a:lnTo>
                    <a:pt x="0" y="0"/>
                  </a:lnTo>
                  <a:lnTo>
                    <a:pt x="38" y="0"/>
                  </a:lnTo>
                </a:path>
              </a:pathLst>
            </a:custGeom>
            <a:noFill/>
            <a:ln w="206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65" name="Line 128">
              <a:extLst>
                <a:ext uri="{FF2B5EF4-FFF2-40B4-BE49-F238E27FC236}">
                  <a16:creationId xmlns:a16="http://schemas.microsoft.com/office/drawing/2014/main" id="{CC00B314-A693-4FBF-B223-092F3C451AE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03" y="3507"/>
              <a:ext cx="126" cy="0"/>
            </a:xfrm>
            <a:prstGeom prst="line">
              <a:avLst/>
            </a:prstGeom>
            <a:noFill/>
            <a:ln w="20638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66" name="Rectangle 129">
              <a:extLst>
                <a:ext uri="{FF2B5EF4-FFF2-40B4-BE49-F238E27FC236}">
                  <a16:creationId xmlns:a16="http://schemas.microsoft.com/office/drawing/2014/main" id="{F1FA32B8-F74E-4733-8D00-ADD1BDB738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53" y="3495"/>
              <a:ext cx="208" cy="13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1300" b="1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DM</a:t>
              </a:r>
              <a:endParaRPr kumimoji="0" lang="zh-CN" altLang="zh-CN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267" name="Freeform 130">
              <a:extLst>
                <a:ext uri="{FF2B5EF4-FFF2-40B4-BE49-F238E27FC236}">
                  <a16:creationId xmlns:a16="http://schemas.microsoft.com/office/drawing/2014/main" id="{BA3CD063-5F29-44AB-A2EC-02769F3853D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0" y="3468"/>
              <a:ext cx="130" cy="232"/>
            </a:xfrm>
            <a:custGeom>
              <a:avLst/>
              <a:gdLst>
                <a:gd name="T0" fmla="*/ 130 w 130"/>
                <a:gd name="T1" fmla="*/ 0 h 232"/>
                <a:gd name="T2" fmla="*/ 0 w 130"/>
                <a:gd name="T3" fmla="*/ 0 h 232"/>
                <a:gd name="T4" fmla="*/ 0 w 130"/>
                <a:gd name="T5" fmla="*/ 232 h 232"/>
                <a:gd name="T6" fmla="*/ 130 w 130"/>
                <a:gd name="T7" fmla="*/ 232 h 2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0" h="232">
                  <a:moveTo>
                    <a:pt x="130" y="0"/>
                  </a:moveTo>
                  <a:lnTo>
                    <a:pt x="0" y="0"/>
                  </a:lnTo>
                  <a:lnTo>
                    <a:pt x="0" y="232"/>
                  </a:lnTo>
                  <a:lnTo>
                    <a:pt x="130" y="232"/>
                  </a:lnTo>
                </a:path>
              </a:pathLst>
            </a:custGeom>
            <a:noFill/>
            <a:ln w="206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68" name="Freeform 131">
              <a:extLst>
                <a:ext uri="{FF2B5EF4-FFF2-40B4-BE49-F238E27FC236}">
                  <a16:creationId xmlns:a16="http://schemas.microsoft.com/office/drawing/2014/main" id="{E0D16BF5-161D-4863-A4E9-D88AF21AB875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6" y="3468"/>
              <a:ext cx="135" cy="232"/>
            </a:xfrm>
            <a:custGeom>
              <a:avLst/>
              <a:gdLst>
                <a:gd name="T0" fmla="*/ 0 w 135"/>
                <a:gd name="T1" fmla="*/ 0 h 232"/>
                <a:gd name="T2" fmla="*/ 135 w 135"/>
                <a:gd name="T3" fmla="*/ 0 h 232"/>
                <a:gd name="T4" fmla="*/ 135 w 135"/>
                <a:gd name="T5" fmla="*/ 232 h 232"/>
                <a:gd name="T6" fmla="*/ 0 w 135"/>
                <a:gd name="T7" fmla="*/ 232 h 2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5" h="232">
                  <a:moveTo>
                    <a:pt x="0" y="0"/>
                  </a:moveTo>
                  <a:lnTo>
                    <a:pt x="135" y="0"/>
                  </a:lnTo>
                  <a:lnTo>
                    <a:pt x="135" y="232"/>
                  </a:lnTo>
                  <a:lnTo>
                    <a:pt x="0" y="232"/>
                  </a:lnTo>
                </a:path>
              </a:pathLst>
            </a:custGeom>
            <a:noFill/>
            <a:ln w="206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69" name="Rectangle 132">
              <a:extLst>
                <a:ext uri="{FF2B5EF4-FFF2-40B4-BE49-F238E27FC236}">
                  <a16:creationId xmlns:a16="http://schemas.microsoft.com/office/drawing/2014/main" id="{29C6364E-68B6-496B-B0DC-E4FE408B64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51" y="3495"/>
              <a:ext cx="242" cy="13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1300" b="1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Reg</a:t>
              </a:r>
              <a:endParaRPr kumimoji="0" lang="zh-CN" altLang="zh-CN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270" name="Freeform 133">
              <a:extLst>
                <a:ext uri="{FF2B5EF4-FFF2-40B4-BE49-F238E27FC236}">
                  <a16:creationId xmlns:a16="http://schemas.microsoft.com/office/drawing/2014/main" id="{F32C9A9D-6A53-4DC1-AB93-CDA6FB7F6301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8" y="3468"/>
              <a:ext cx="111" cy="232"/>
            </a:xfrm>
            <a:custGeom>
              <a:avLst/>
              <a:gdLst>
                <a:gd name="T0" fmla="*/ 111 w 111"/>
                <a:gd name="T1" fmla="*/ 0 h 232"/>
                <a:gd name="T2" fmla="*/ 0 w 111"/>
                <a:gd name="T3" fmla="*/ 0 h 232"/>
                <a:gd name="T4" fmla="*/ 0 w 111"/>
                <a:gd name="T5" fmla="*/ 232 h 232"/>
                <a:gd name="T6" fmla="*/ 111 w 111"/>
                <a:gd name="T7" fmla="*/ 232 h 2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11" h="232">
                  <a:moveTo>
                    <a:pt x="111" y="0"/>
                  </a:moveTo>
                  <a:lnTo>
                    <a:pt x="0" y="0"/>
                  </a:lnTo>
                  <a:lnTo>
                    <a:pt x="0" y="232"/>
                  </a:lnTo>
                  <a:lnTo>
                    <a:pt x="111" y="232"/>
                  </a:lnTo>
                </a:path>
              </a:pathLst>
            </a:custGeom>
            <a:noFill/>
            <a:ln w="206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71" name="Freeform 134">
              <a:extLst>
                <a:ext uri="{FF2B5EF4-FFF2-40B4-BE49-F238E27FC236}">
                  <a16:creationId xmlns:a16="http://schemas.microsoft.com/office/drawing/2014/main" id="{C93F88D2-BBBF-46D9-A789-5B0E829A5C0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0" y="3468"/>
              <a:ext cx="115" cy="232"/>
            </a:xfrm>
            <a:custGeom>
              <a:avLst/>
              <a:gdLst>
                <a:gd name="T0" fmla="*/ 0 w 115"/>
                <a:gd name="T1" fmla="*/ 0 h 232"/>
                <a:gd name="T2" fmla="*/ 115 w 115"/>
                <a:gd name="T3" fmla="*/ 0 h 232"/>
                <a:gd name="T4" fmla="*/ 115 w 115"/>
                <a:gd name="T5" fmla="*/ 232 h 232"/>
                <a:gd name="T6" fmla="*/ 0 w 115"/>
                <a:gd name="T7" fmla="*/ 232 h 2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15" h="232">
                  <a:moveTo>
                    <a:pt x="0" y="0"/>
                  </a:moveTo>
                  <a:lnTo>
                    <a:pt x="115" y="0"/>
                  </a:lnTo>
                  <a:lnTo>
                    <a:pt x="115" y="232"/>
                  </a:lnTo>
                  <a:lnTo>
                    <a:pt x="0" y="232"/>
                  </a:lnTo>
                </a:path>
              </a:pathLst>
            </a:custGeom>
            <a:noFill/>
            <a:ln w="206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72" name="Line 135">
              <a:extLst>
                <a:ext uri="{FF2B5EF4-FFF2-40B4-BE49-F238E27FC236}">
                  <a16:creationId xmlns:a16="http://schemas.microsoft.com/office/drawing/2014/main" id="{99EC0D20-BCCD-4966-B797-E4039E8B3A2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107" y="3584"/>
              <a:ext cx="111" cy="0"/>
            </a:xfrm>
            <a:prstGeom prst="line">
              <a:avLst/>
            </a:prstGeom>
            <a:noFill/>
            <a:ln w="20638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73" name="Line 136">
              <a:extLst>
                <a:ext uri="{FF2B5EF4-FFF2-40B4-BE49-F238E27FC236}">
                  <a16:creationId xmlns:a16="http://schemas.microsoft.com/office/drawing/2014/main" id="{58F40571-3ACE-48ED-A25B-58FD5908769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19" y="3584"/>
              <a:ext cx="121" cy="0"/>
            </a:xfrm>
            <a:prstGeom prst="line">
              <a:avLst/>
            </a:prstGeom>
            <a:noFill/>
            <a:ln w="20638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74" name="Line 137">
              <a:extLst>
                <a:ext uri="{FF2B5EF4-FFF2-40B4-BE49-F238E27FC236}">
                  <a16:creationId xmlns:a16="http://schemas.microsoft.com/office/drawing/2014/main" id="{EC89CB9A-5F9D-460C-BD68-A369C9BBFDA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03" y="3662"/>
              <a:ext cx="126" cy="0"/>
            </a:xfrm>
            <a:prstGeom prst="line">
              <a:avLst/>
            </a:prstGeom>
            <a:noFill/>
            <a:ln w="20638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75" name="Line 138">
              <a:extLst>
                <a:ext uri="{FF2B5EF4-FFF2-40B4-BE49-F238E27FC236}">
                  <a16:creationId xmlns:a16="http://schemas.microsoft.com/office/drawing/2014/main" id="{76E0E261-9ACC-4C6C-8CB4-501977E17FE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71" y="3662"/>
              <a:ext cx="0" cy="155"/>
            </a:xfrm>
            <a:prstGeom prst="line">
              <a:avLst/>
            </a:prstGeom>
            <a:noFill/>
            <a:ln w="23813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76" name="Line 139">
              <a:extLst>
                <a:ext uri="{FF2B5EF4-FFF2-40B4-BE49-F238E27FC236}">
                  <a16:creationId xmlns:a16="http://schemas.microsoft.com/office/drawing/2014/main" id="{E02DA81D-430B-4A1F-BC9A-4DA6D0181C7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71" y="3817"/>
              <a:ext cx="272" cy="0"/>
            </a:xfrm>
            <a:prstGeom prst="line">
              <a:avLst/>
            </a:prstGeom>
            <a:noFill/>
            <a:ln w="23813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77" name="Line 140">
              <a:extLst>
                <a:ext uri="{FF2B5EF4-FFF2-40B4-BE49-F238E27FC236}">
                  <a16:creationId xmlns:a16="http://schemas.microsoft.com/office/drawing/2014/main" id="{1D65E94F-4586-4942-BBBA-84B2649E5C8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43" y="3584"/>
              <a:ext cx="0" cy="233"/>
            </a:xfrm>
            <a:prstGeom prst="line">
              <a:avLst/>
            </a:prstGeom>
            <a:noFill/>
            <a:ln w="23813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78" name="Line 141">
              <a:extLst>
                <a:ext uri="{FF2B5EF4-FFF2-40B4-BE49-F238E27FC236}">
                  <a16:creationId xmlns:a16="http://schemas.microsoft.com/office/drawing/2014/main" id="{BF3CC7DC-A78F-4A74-B793-06E7C42319F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11" y="3584"/>
              <a:ext cx="0" cy="195"/>
            </a:xfrm>
            <a:prstGeom prst="line">
              <a:avLst/>
            </a:prstGeom>
            <a:noFill/>
            <a:ln w="23813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79" name="Line 142">
              <a:extLst>
                <a:ext uri="{FF2B5EF4-FFF2-40B4-BE49-F238E27FC236}">
                  <a16:creationId xmlns:a16="http://schemas.microsoft.com/office/drawing/2014/main" id="{5C6D6C50-4169-4005-A9BE-813645DEC66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11" y="3779"/>
              <a:ext cx="349" cy="0"/>
            </a:xfrm>
            <a:prstGeom prst="line">
              <a:avLst/>
            </a:prstGeom>
            <a:noFill/>
            <a:ln w="23813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80" name="Line 143">
              <a:extLst>
                <a:ext uri="{FF2B5EF4-FFF2-40B4-BE49-F238E27FC236}">
                  <a16:creationId xmlns:a16="http://schemas.microsoft.com/office/drawing/2014/main" id="{63B8B634-15CB-40E8-A5C4-82268F250ED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160" y="3584"/>
              <a:ext cx="0" cy="195"/>
            </a:xfrm>
            <a:prstGeom prst="line">
              <a:avLst/>
            </a:prstGeom>
            <a:noFill/>
            <a:ln w="23813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81" name="Freeform 144">
              <a:extLst>
                <a:ext uri="{FF2B5EF4-FFF2-40B4-BE49-F238E27FC236}">
                  <a16:creationId xmlns:a16="http://schemas.microsoft.com/office/drawing/2014/main" id="{0919FFBC-ABD9-4939-9C65-A93C8A564CE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8" y="3817"/>
              <a:ext cx="170" cy="388"/>
            </a:xfrm>
            <a:custGeom>
              <a:avLst/>
              <a:gdLst>
                <a:gd name="T0" fmla="*/ 0 w 170"/>
                <a:gd name="T1" fmla="*/ 259 h 388"/>
                <a:gd name="T2" fmla="*/ 57 w 170"/>
                <a:gd name="T3" fmla="*/ 194 h 388"/>
                <a:gd name="T4" fmla="*/ 0 w 170"/>
                <a:gd name="T5" fmla="*/ 130 h 388"/>
                <a:gd name="T6" fmla="*/ 0 w 170"/>
                <a:gd name="T7" fmla="*/ 0 h 388"/>
                <a:gd name="T8" fmla="*/ 170 w 170"/>
                <a:gd name="T9" fmla="*/ 130 h 388"/>
                <a:gd name="T10" fmla="*/ 170 w 170"/>
                <a:gd name="T11" fmla="*/ 259 h 388"/>
                <a:gd name="T12" fmla="*/ 0 w 170"/>
                <a:gd name="T13" fmla="*/ 388 h 388"/>
                <a:gd name="T14" fmla="*/ 0 w 170"/>
                <a:gd name="T15" fmla="*/ 259 h 3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70" h="388">
                  <a:moveTo>
                    <a:pt x="0" y="259"/>
                  </a:moveTo>
                  <a:lnTo>
                    <a:pt x="57" y="194"/>
                  </a:lnTo>
                  <a:lnTo>
                    <a:pt x="0" y="130"/>
                  </a:lnTo>
                  <a:lnTo>
                    <a:pt x="0" y="0"/>
                  </a:lnTo>
                  <a:lnTo>
                    <a:pt x="170" y="130"/>
                  </a:lnTo>
                  <a:lnTo>
                    <a:pt x="170" y="259"/>
                  </a:lnTo>
                  <a:lnTo>
                    <a:pt x="0" y="388"/>
                  </a:lnTo>
                  <a:lnTo>
                    <a:pt x="0" y="259"/>
                  </a:lnTo>
                </a:path>
              </a:pathLst>
            </a:custGeom>
            <a:noFill/>
            <a:ln w="206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82" name="Rectangle 145">
              <a:extLst>
                <a:ext uri="{FF2B5EF4-FFF2-40B4-BE49-F238E27FC236}">
                  <a16:creationId xmlns:a16="http://schemas.microsoft.com/office/drawing/2014/main" id="{834EA93C-95EE-4C5C-B516-A449780CB59C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3889" y="3945"/>
              <a:ext cx="199" cy="11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1200" b="1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ALU</a:t>
              </a:r>
              <a:endParaRPr kumimoji="0" lang="zh-CN" altLang="zh-CN" sz="12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283" name="Rectangle 146">
              <a:extLst>
                <a:ext uri="{FF2B5EF4-FFF2-40B4-BE49-F238E27FC236}">
                  <a16:creationId xmlns:a16="http://schemas.microsoft.com/office/drawing/2014/main" id="{2CFC274C-DFA5-48C0-80DD-C37676040B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90" y="3922"/>
              <a:ext cx="117" cy="12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1300" b="1" i="0" u="none" strike="noStrike" cap="none" normalizeH="0" baseline="0" dirty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I</a:t>
              </a:r>
              <a:r>
                <a:rPr kumimoji="0" lang="en-US" altLang="zh-CN" sz="1300" b="1" i="0" u="none" strike="noStrike" cap="none" normalizeH="0" baseline="0" dirty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M</a:t>
              </a:r>
              <a:endParaRPr kumimoji="0" lang="zh-CN" altLang="zh-CN" sz="1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284" name="Freeform 147">
              <a:extLst>
                <a:ext uri="{FF2B5EF4-FFF2-40B4-BE49-F238E27FC236}">
                  <a16:creationId xmlns:a16="http://schemas.microsoft.com/office/drawing/2014/main" id="{D4D96B2C-EFD0-4321-9B12-E420C1E1192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1" y="3895"/>
              <a:ext cx="135" cy="232"/>
            </a:xfrm>
            <a:custGeom>
              <a:avLst/>
              <a:gdLst>
                <a:gd name="T0" fmla="*/ 135 w 135"/>
                <a:gd name="T1" fmla="*/ 0 h 232"/>
                <a:gd name="T2" fmla="*/ 0 w 135"/>
                <a:gd name="T3" fmla="*/ 0 h 232"/>
                <a:gd name="T4" fmla="*/ 0 w 135"/>
                <a:gd name="T5" fmla="*/ 232 h 232"/>
                <a:gd name="T6" fmla="*/ 135 w 135"/>
                <a:gd name="T7" fmla="*/ 232 h 2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5" h="232">
                  <a:moveTo>
                    <a:pt x="135" y="0"/>
                  </a:moveTo>
                  <a:lnTo>
                    <a:pt x="0" y="0"/>
                  </a:lnTo>
                  <a:lnTo>
                    <a:pt x="0" y="232"/>
                  </a:lnTo>
                  <a:lnTo>
                    <a:pt x="135" y="232"/>
                  </a:lnTo>
                </a:path>
              </a:pathLst>
            </a:custGeom>
            <a:noFill/>
            <a:ln w="206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85" name="Freeform 148">
              <a:extLst>
                <a:ext uri="{FF2B5EF4-FFF2-40B4-BE49-F238E27FC236}">
                  <a16:creationId xmlns:a16="http://schemas.microsoft.com/office/drawing/2014/main" id="{6533A452-E82C-4B12-8DAE-C5B9BDED7C8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7" y="3895"/>
              <a:ext cx="135" cy="232"/>
            </a:xfrm>
            <a:custGeom>
              <a:avLst/>
              <a:gdLst>
                <a:gd name="T0" fmla="*/ 0 w 135"/>
                <a:gd name="T1" fmla="*/ 0 h 232"/>
                <a:gd name="T2" fmla="*/ 135 w 135"/>
                <a:gd name="T3" fmla="*/ 0 h 232"/>
                <a:gd name="T4" fmla="*/ 135 w 135"/>
                <a:gd name="T5" fmla="*/ 232 h 232"/>
                <a:gd name="T6" fmla="*/ 0 w 135"/>
                <a:gd name="T7" fmla="*/ 232 h 2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5" h="232">
                  <a:moveTo>
                    <a:pt x="0" y="0"/>
                  </a:moveTo>
                  <a:lnTo>
                    <a:pt x="135" y="0"/>
                  </a:lnTo>
                  <a:lnTo>
                    <a:pt x="135" y="232"/>
                  </a:lnTo>
                  <a:lnTo>
                    <a:pt x="0" y="232"/>
                  </a:lnTo>
                </a:path>
              </a:pathLst>
            </a:custGeom>
            <a:noFill/>
            <a:ln w="206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86" name="Rectangle 149">
              <a:extLst>
                <a:ext uri="{FF2B5EF4-FFF2-40B4-BE49-F238E27FC236}">
                  <a16:creationId xmlns:a16="http://schemas.microsoft.com/office/drawing/2014/main" id="{84501CA3-9F06-4CD9-801B-E53EC1ED88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41" y="3926"/>
              <a:ext cx="243" cy="13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1300" b="1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Reg</a:t>
              </a:r>
              <a:endParaRPr kumimoji="0" lang="zh-CN" altLang="zh-CN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287" name="Freeform 150">
              <a:extLst>
                <a:ext uri="{FF2B5EF4-FFF2-40B4-BE49-F238E27FC236}">
                  <a16:creationId xmlns:a16="http://schemas.microsoft.com/office/drawing/2014/main" id="{B13D0347-E2EA-4FD3-B6DF-91226F46D52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0" y="3895"/>
              <a:ext cx="121" cy="232"/>
            </a:xfrm>
            <a:custGeom>
              <a:avLst/>
              <a:gdLst>
                <a:gd name="T0" fmla="*/ 121 w 121"/>
                <a:gd name="T1" fmla="*/ 0 h 232"/>
                <a:gd name="T2" fmla="*/ 0 w 121"/>
                <a:gd name="T3" fmla="*/ 0 h 232"/>
                <a:gd name="T4" fmla="*/ 0 w 121"/>
                <a:gd name="T5" fmla="*/ 232 h 232"/>
                <a:gd name="T6" fmla="*/ 121 w 121"/>
                <a:gd name="T7" fmla="*/ 232 h 2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1" h="232">
                  <a:moveTo>
                    <a:pt x="121" y="0"/>
                  </a:moveTo>
                  <a:lnTo>
                    <a:pt x="0" y="0"/>
                  </a:lnTo>
                  <a:lnTo>
                    <a:pt x="0" y="232"/>
                  </a:lnTo>
                  <a:lnTo>
                    <a:pt x="121" y="232"/>
                  </a:lnTo>
                </a:path>
              </a:pathLst>
            </a:custGeom>
            <a:noFill/>
            <a:ln w="206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88" name="Freeform 151">
              <a:extLst>
                <a:ext uri="{FF2B5EF4-FFF2-40B4-BE49-F238E27FC236}">
                  <a16:creationId xmlns:a16="http://schemas.microsoft.com/office/drawing/2014/main" id="{E56C6374-4FC3-4785-909F-090C74DE5D8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1" y="3895"/>
              <a:ext cx="121" cy="232"/>
            </a:xfrm>
            <a:custGeom>
              <a:avLst/>
              <a:gdLst>
                <a:gd name="T0" fmla="*/ 0 w 121"/>
                <a:gd name="T1" fmla="*/ 0 h 232"/>
                <a:gd name="T2" fmla="*/ 121 w 121"/>
                <a:gd name="T3" fmla="*/ 0 h 232"/>
                <a:gd name="T4" fmla="*/ 121 w 121"/>
                <a:gd name="T5" fmla="*/ 232 h 232"/>
                <a:gd name="T6" fmla="*/ 0 w 121"/>
                <a:gd name="T7" fmla="*/ 232 h 2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1" h="232">
                  <a:moveTo>
                    <a:pt x="0" y="0"/>
                  </a:moveTo>
                  <a:lnTo>
                    <a:pt x="121" y="0"/>
                  </a:lnTo>
                  <a:lnTo>
                    <a:pt x="121" y="232"/>
                  </a:lnTo>
                  <a:lnTo>
                    <a:pt x="0" y="232"/>
                  </a:lnTo>
                </a:path>
              </a:pathLst>
            </a:custGeom>
            <a:noFill/>
            <a:ln w="206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89" name="Line 152">
              <a:extLst>
                <a:ext uri="{FF2B5EF4-FFF2-40B4-BE49-F238E27FC236}">
                  <a16:creationId xmlns:a16="http://schemas.microsoft.com/office/drawing/2014/main" id="{91704D73-F370-444C-BABA-85892C1C36F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18" y="4012"/>
              <a:ext cx="92" cy="0"/>
            </a:xfrm>
            <a:prstGeom prst="line">
              <a:avLst/>
            </a:prstGeom>
            <a:noFill/>
            <a:ln w="20638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90" name="Freeform 153">
              <a:extLst>
                <a:ext uri="{FF2B5EF4-FFF2-40B4-BE49-F238E27FC236}">
                  <a16:creationId xmlns:a16="http://schemas.microsoft.com/office/drawing/2014/main" id="{B4148680-1431-49E9-A8E9-C1E9A023AB9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1" y="3934"/>
              <a:ext cx="38" cy="77"/>
            </a:xfrm>
            <a:custGeom>
              <a:avLst/>
              <a:gdLst>
                <a:gd name="T0" fmla="*/ 0 w 38"/>
                <a:gd name="T1" fmla="*/ 77 h 77"/>
                <a:gd name="T2" fmla="*/ 0 w 38"/>
                <a:gd name="T3" fmla="*/ 0 h 77"/>
                <a:gd name="T4" fmla="*/ 38 w 38"/>
                <a:gd name="T5" fmla="*/ 0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8" h="77">
                  <a:moveTo>
                    <a:pt x="0" y="77"/>
                  </a:moveTo>
                  <a:lnTo>
                    <a:pt x="0" y="0"/>
                  </a:lnTo>
                  <a:lnTo>
                    <a:pt x="38" y="0"/>
                  </a:lnTo>
                </a:path>
              </a:pathLst>
            </a:custGeom>
            <a:noFill/>
            <a:ln w="206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91" name="Line 154">
              <a:extLst>
                <a:ext uri="{FF2B5EF4-FFF2-40B4-BE49-F238E27FC236}">
                  <a16:creationId xmlns:a16="http://schemas.microsoft.com/office/drawing/2014/main" id="{F23B257C-F6EC-49B9-BDE4-63207D84448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52" y="3934"/>
              <a:ext cx="127" cy="0"/>
            </a:xfrm>
            <a:prstGeom prst="line">
              <a:avLst/>
            </a:prstGeom>
            <a:noFill/>
            <a:ln w="20638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92" name="Rectangle 155">
              <a:extLst>
                <a:ext uri="{FF2B5EF4-FFF2-40B4-BE49-F238E27FC236}">
                  <a16:creationId xmlns:a16="http://schemas.microsoft.com/office/drawing/2014/main" id="{A71DBC5A-861B-47E3-8E2E-A7DD36DF5B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2" y="3922"/>
              <a:ext cx="209" cy="13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1300" b="1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DM</a:t>
              </a:r>
              <a:endParaRPr kumimoji="0" lang="zh-CN" altLang="zh-CN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293" name="Freeform 156">
              <a:extLst>
                <a:ext uri="{FF2B5EF4-FFF2-40B4-BE49-F238E27FC236}">
                  <a16:creationId xmlns:a16="http://schemas.microsoft.com/office/drawing/2014/main" id="{0B750F82-3DF0-4E59-A69E-0670815F531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9" y="3895"/>
              <a:ext cx="130" cy="232"/>
            </a:xfrm>
            <a:custGeom>
              <a:avLst/>
              <a:gdLst>
                <a:gd name="T0" fmla="*/ 130 w 130"/>
                <a:gd name="T1" fmla="*/ 0 h 232"/>
                <a:gd name="T2" fmla="*/ 0 w 130"/>
                <a:gd name="T3" fmla="*/ 0 h 232"/>
                <a:gd name="T4" fmla="*/ 0 w 130"/>
                <a:gd name="T5" fmla="*/ 232 h 232"/>
                <a:gd name="T6" fmla="*/ 130 w 130"/>
                <a:gd name="T7" fmla="*/ 232 h 2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0" h="232">
                  <a:moveTo>
                    <a:pt x="130" y="0"/>
                  </a:moveTo>
                  <a:lnTo>
                    <a:pt x="0" y="0"/>
                  </a:lnTo>
                  <a:lnTo>
                    <a:pt x="0" y="232"/>
                  </a:lnTo>
                  <a:lnTo>
                    <a:pt x="130" y="232"/>
                  </a:lnTo>
                </a:path>
              </a:pathLst>
            </a:custGeom>
            <a:noFill/>
            <a:ln w="206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94" name="Freeform 157">
              <a:extLst>
                <a:ext uri="{FF2B5EF4-FFF2-40B4-BE49-F238E27FC236}">
                  <a16:creationId xmlns:a16="http://schemas.microsoft.com/office/drawing/2014/main" id="{FF8EEE12-A38F-4F4A-831C-99459E102F4E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5" y="3895"/>
              <a:ext cx="135" cy="232"/>
            </a:xfrm>
            <a:custGeom>
              <a:avLst/>
              <a:gdLst>
                <a:gd name="T0" fmla="*/ 0 w 135"/>
                <a:gd name="T1" fmla="*/ 0 h 232"/>
                <a:gd name="T2" fmla="*/ 135 w 135"/>
                <a:gd name="T3" fmla="*/ 0 h 232"/>
                <a:gd name="T4" fmla="*/ 135 w 135"/>
                <a:gd name="T5" fmla="*/ 232 h 232"/>
                <a:gd name="T6" fmla="*/ 0 w 135"/>
                <a:gd name="T7" fmla="*/ 232 h 2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5" h="232">
                  <a:moveTo>
                    <a:pt x="0" y="0"/>
                  </a:moveTo>
                  <a:lnTo>
                    <a:pt x="135" y="0"/>
                  </a:lnTo>
                  <a:lnTo>
                    <a:pt x="135" y="232"/>
                  </a:lnTo>
                  <a:lnTo>
                    <a:pt x="0" y="232"/>
                  </a:lnTo>
                </a:path>
              </a:pathLst>
            </a:custGeom>
            <a:noFill/>
            <a:ln w="206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95" name="Rectangle 158">
              <a:extLst>
                <a:ext uri="{FF2B5EF4-FFF2-40B4-BE49-F238E27FC236}">
                  <a16:creationId xmlns:a16="http://schemas.microsoft.com/office/drawing/2014/main" id="{19668BA4-9565-46BA-8898-9BE5A5D7DD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00" y="3922"/>
              <a:ext cx="243" cy="13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1300" b="1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Reg</a:t>
              </a:r>
              <a:endParaRPr kumimoji="0" lang="zh-CN" altLang="zh-CN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296" name="Freeform 159">
              <a:extLst>
                <a:ext uri="{FF2B5EF4-FFF2-40B4-BE49-F238E27FC236}">
                  <a16:creationId xmlns:a16="http://schemas.microsoft.com/office/drawing/2014/main" id="{A02CEA39-176A-47FD-93EE-F39E48D54B5C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7" y="3895"/>
              <a:ext cx="111" cy="232"/>
            </a:xfrm>
            <a:custGeom>
              <a:avLst/>
              <a:gdLst>
                <a:gd name="T0" fmla="*/ 111 w 111"/>
                <a:gd name="T1" fmla="*/ 0 h 232"/>
                <a:gd name="T2" fmla="*/ 0 w 111"/>
                <a:gd name="T3" fmla="*/ 0 h 232"/>
                <a:gd name="T4" fmla="*/ 0 w 111"/>
                <a:gd name="T5" fmla="*/ 232 h 232"/>
                <a:gd name="T6" fmla="*/ 111 w 111"/>
                <a:gd name="T7" fmla="*/ 232 h 2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11" h="232">
                  <a:moveTo>
                    <a:pt x="111" y="0"/>
                  </a:moveTo>
                  <a:lnTo>
                    <a:pt x="0" y="0"/>
                  </a:lnTo>
                  <a:lnTo>
                    <a:pt x="0" y="232"/>
                  </a:lnTo>
                  <a:lnTo>
                    <a:pt x="111" y="232"/>
                  </a:lnTo>
                </a:path>
              </a:pathLst>
            </a:custGeom>
            <a:noFill/>
            <a:ln w="206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97" name="Freeform 160">
              <a:extLst>
                <a:ext uri="{FF2B5EF4-FFF2-40B4-BE49-F238E27FC236}">
                  <a16:creationId xmlns:a16="http://schemas.microsoft.com/office/drawing/2014/main" id="{4125AA87-2D76-432A-8856-DD6D5118C0A4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9" y="3895"/>
              <a:ext cx="116" cy="232"/>
            </a:xfrm>
            <a:custGeom>
              <a:avLst/>
              <a:gdLst>
                <a:gd name="T0" fmla="*/ 0 w 116"/>
                <a:gd name="T1" fmla="*/ 0 h 232"/>
                <a:gd name="T2" fmla="*/ 116 w 116"/>
                <a:gd name="T3" fmla="*/ 0 h 232"/>
                <a:gd name="T4" fmla="*/ 116 w 116"/>
                <a:gd name="T5" fmla="*/ 232 h 232"/>
                <a:gd name="T6" fmla="*/ 0 w 116"/>
                <a:gd name="T7" fmla="*/ 232 h 2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16" h="232">
                  <a:moveTo>
                    <a:pt x="0" y="0"/>
                  </a:moveTo>
                  <a:lnTo>
                    <a:pt x="116" y="0"/>
                  </a:lnTo>
                  <a:lnTo>
                    <a:pt x="116" y="232"/>
                  </a:lnTo>
                  <a:lnTo>
                    <a:pt x="0" y="232"/>
                  </a:lnTo>
                </a:path>
              </a:pathLst>
            </a:custGeom>
            <a:noFill/>
            <a:ln w="206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98" name="Line 161">
              <a:extLst>
                <a:ext uri="{FF2B5EF4-FFF2-40B4-BE49-F238E27FC236}">
                  <a16:creationId xmlns:a16="http://schemas.microsoft.com/office/drawing/2014/main" id="{87108AC8-A474-4DBD-96C2-205D77343CD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456" y="4012"/>
              <a:ext cx="112" cy="0"/>
            </a:xfrm>
            <a:prstGeom prst="line">
              <a:avLst/>
            </a:prstGeom>
            <a:noFill/>
            <a:ln w="20638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99" name="Line 162">
              <a:extLst>
                <a:ext uri="{FF2B5EF4-FFF2-40B4-BE49-F238E27FC236}">
                  <a16:creationId xmlns:a16="http://schemas.microsoft.com/office/drawing/2014/main" id="{3A350291-A225-4E3B-92EF-778EEF38140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68" y="4012"/>
              <a:ext cx="121" cy="0"/>
            </a:xfrm>
            <a:prstGeom prst="line">
              <a:avLst/>
            </a:prstGeom>
            <a:noFill/>
            <a:ln w="20638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00" name="Line 163">
              <a:extLst>
                <a:ext uri="{FF2B5EF4-FFF2-40B4-BE49-F238E27FC236}">
                  <a16:creationId xmlns:a16="http://schemas.microsoft.com/office/drawing/2014/main" id="{DAA0F0DB-0B04-4B6C-A6A2-6A8359988E4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52" y="4089"/>
              <a:ext cx="127" cy="0"/>
            </a:xfrm>
            <a:prstGeom prst="line">
              <a:avLst/>
            </a:prstGeom>
            <a:noFill/>
            <a:ln w="20638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01" name="Line 164">
              <a:extLst>
                <a:ext uri="{FF2B5EF4-FFF2-40B4-BE49-F238E27FC236}">
                  <a16:creationId xmlns:a16="http://schemas.microsoft.com/office/drawing/2014/main" id="{D33FEE93-13E0-4C72-8928-E38A14493AA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20" y="4089"/>
              <a:ext cx="0" cy="156"/>
            </a:xfrm>
            <a:prstGeom prst="line">
              <a:avLst/>
            </a:prstGeom>
            <a:noFill/>
            <a:ln w="23813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02" name="Line 165">
              <a:extLst>
                <a:ext uri="{FF2B5EF4-FFF2-40B4-BE49-F238E27FC236}">
                  <a16:creationId xmlns:a16="http://schemas.microsoft.com/office/drawing/2014/main" id="{68A4B4EC-AEB4-4975-91B3-A9ECA7EE8A0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20" y="4245"/>
              <a:ext cx="272" cy="0"/>
            </a:xfrm>
            <a:prstGeom prst="line">
              <a:avLst/>
            </a:prstGeom>
            <a:noFill/>
            <a:ln w="23813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03" name="Line 166">
              <a:extLst>
                <a:ext uri="{FF2B5EF4-FFF2-40B4-BE49-F238E27FC236}">
                  <a16:creationId xmlns:a16="http://schemas.microsoft.com/office/drawing/2014/main" id="{75476DD7-576B-427E-8219-FAF6EBCB26B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92" y="4012"/>
              <a:ext cx="0" cy="233"/>
            </a:xfrm>
            <a:prstGeom prst="line">
              <a:avLst/>
            </a:prstGeom>
            <a:noFill/>
            <a:ln w="23813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04" name="Line 167">
              <a:extLst>
                <a:ext uri="{FF2B5EF4-FFF2-40B4-BE49-F238E27FC236}">
                  <a16:creationId xmlns:a16="http://schemas.microsoft.com/office/drawing/2014/main" id="{33D50887-57FE-4C23-9FB3-9CE289E2DF7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160" y="4012"/>
              <a:ext cx="0" cy="194"/>
            </a:xfrm>
            <a:prstGeom prst="line">
              <a:avLst/>
            </a:prstGeom>
            <a:noFill/>
            <a:ln w="23813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05" name="Line 168">
              <a:extLst>
                <a:ext uri="{FF2B5EF4-FFF2-40B4-BE49-F238E27FC236}">
                  <a16:creationId xmlns:a16="http://schemas.microsoft.com/office/drawing/2014/main" id="{41175AAC-9768-4EE0-9954-4B8D3932EC2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160" y="4206"/>
              <a:ext cx="349" cy="0"/>
            </a:xfrm>
            <a:prstGeom prst="line">
              <a:avLst/>
            </a:prstGeom>
            <a:noFill/>
            <a:ln w="23813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06" name="Line 169">
              <a:extLst>
                <a:ext uri="{FF2B5EF4-FFF2-40B4-BE49-F238E27FC236}">
                  <a16:creationId xmlns:a16="http://schemas.microsoft.com/office/drawing/2014/main" id="{07FAA10E-D9B2-4566-83CD-6851C2C4F29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509" y="4012"/>
              <a:ext cx="0" cy="194"/>
            </a:xfrm>
            <a:prstGeom prst="line">
              <a:avLst/>
            </a:prstGeom>
            <a:noFill/>
            <a:ln w="23813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07" name="Rectangle 170">
              <a:extLst>
                <a:ext uri="{FF2B5EF4-FFF2-40B4-BE49-F238E27FC236}">
                  <a16:creationId xmlns:a16="http://schemas.microsoft.com/office/drawing/2014/main" id="{3838F657-2624-496D-A909-033553F774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3" y="2087"/>
              <a:ext cx="1010" cy="349"/>
            </a:xfrm>
            <a:prstGeom prst="rect">
              <a:avLst/>
            </a:prstGeom>
            <a:noFill/>
            <a:ln w="30163" cap="flat">
              <a:solidFill>
                <a:srgbClr val="3333C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</p:grpSp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32" name="墨迹 31">
                <a:extLst>
                  <a:ext uri="{FF2B5EF4-FFF2-40B4-BE49-F238E27FC236}">
                    <a16:creationId xmlns:a16="http://schemas.microsoft.com/office/drawing/2014/main" id="{D69F07DB-DFAA-B0A3-441C-EC852C89FDA5}"/>
                  </a:ext>
                </a:extLst>
              </p14:cNvPr>
              <p14:cNvContentPartPr/>
              <p14:nvPr/>
            </p14:nvContentPartPr>
            <p14:xfrm>
              <a:off x="4340880" y="3996360"/>
              <a:ext cx="1264320" cy="840600"/>
            </p14:xfrm>
          </p:contentPart>
        </mc:Choice>
        <mc:Fallback xmlns="">
          <p:pic>
            <p:nvPicPr>
              <p:cNvPr id="32" name="墨迹 31">
                <a:extLst>
                  <a:ext uri="{FF2B5EF4-FFF2-40B4-BE49-F238E27FC236}">
                    <a16:creationId xmlns:a16="http://schemas.microsoft.com/office/drawing/2014/main" id="{D69F07DB-DFAA-B0A3-441C-EC852C89FDA5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4331520" y="3987000"/>
                <a:ext cx="1283040" cy="85932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1225464680"/>
      </p:ext>
    </p:extLst>
  </p:cSld>
  <p:clrMapOvr>
    <a:masterClrMapping/>
  </p:clrMapOvr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>
            <a:extLst>
              <a:ext uri="{FF2B5EF4-FFF2-40B4-BE49-F238E27FC236}">
                <a16:creationId xmlns:a16="http://schemas.microsoft.com/office/drawing/2014/main" id="{80FE72CE-FBF4-4A82-9CAE-CC6B61B29DA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dirty="0"/>
              <a:t>流水线的</a:t>
            </a:r>
            <a:r>
              <a:rPr lang="en-US" altLang="zh-CN" dirty="0"/>
              <a:t>RTL</a:t>
            </a:r>
            <a:r>
              <a:rPr lang="zh-CN" altLang="en-US" dirty="0"/>
              <a:t>描述</a:t>
            </a:r>
          </a:p>
        </p:txBody>
      </p:sp>
      <p:sp>
        <p:nvSpPr>
          <p:cNvPr id="3" name="内容占位符 2">
            <a:extLst>
              <a:ext uri="{FF2B5EF4-FFF2-40B4-BE49-F238E27FC236}">
                <a16:creationId xmlns:a16="http://schemas.microsoft.com/office/drawing/2014/main" id="{0EDCC25C-91D9-4FC4-B3CA-85BFAD911994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altLang="zh-CN" dirty="0"/>
              <a:t>ALU</a:t>
            </a:r>
            <a:r>
              <a:rPr lang="zh-CN" altLang="en-US" dirty="0"/>
              <a:t>操作数可能的来源</a:t>
            </a:r>
          </a:p>
          <a:p>
            <a:pPr lvl="1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altLang="zh-CN" dirty="0"/>
              <a:t>RF</a:t>
            </a:r>
            <a:r>
              <a:rPr lang="zh-CN" altLang="en-US" dirty="0"/>
              <a:t>，</a:t>
            </a:r>
            <a:r>
              <a:rPr lang="en-US" altLang="zh-CN" dirty="0">
                <a:solidFill>
                  <a:srgbClr val="0070C0"/>
                </a:solidFill>
              </a:rPr>
              <a:t>EX/</a:t>
            </a:r>
            <a:r>
              <a:rPr lang="en-US" altLang="zh-CN" dirty="0" err="1">
                <a:solidFill>
                  <a:srgbClr val="0070C0"/>
                </a:solidFill>
              </a:rPr>
              <a:t>MEM.ALUOut</a:t>
            </a:r>
            <a:r>
              <a:rPr lang="en-US" altLang="zh-CN" dirty="0">
                <a:solidFill>
                  <a:srgbClr val="0070C0"/>
                </a:solidFill>
              </a:rPr>
              <a:t>, MEM/</a:t>
            </a:r>
            <a:r>
              <a:rPr lang="en-US" altLang="zh-CN" dirty="0" err="1">
                <a:solidFill>
                  <a:srgbClr val="0070C0"/>
                </a:solidFill>
              </a:rPr>
              <a:t>WB.ALUOut</a:t>
            </a:r>
            <a:r>
              <a:rPr lang="en-US" altLang="zh-CN" dirty="0">
                <a:solidFill>
                  <a:srgbClr val="0070C0"/>
                </a:solidFill>
              </a:rPr>
              <a:t>, MDR</a:t>
            </a:r>
            <a:r>
              <a:rPr lang="zh-CN" altLang="en-US" dirty="0"/>
              <a:t>等</a:t>
            </a:r>
          </a:p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endParaRPr lang="zh-CN" altLang="en-US" dirty="0"/>
          </a:p>
        </p:txBody>
      </p:sp>
      <p:sp>
        <p:nvSpPr>
          <p:cNvPr id="4" name="灯片编号占位符 3">
            <a:extLst>
              <a:ext uri="{FF2B5EF4-FFF2-40B4-BE49-F238E27FC236}">
                <a16:creationId xmlns:a16="http://schemas.microsoft.com/office/drawing/2014/main" id="{B381B14E-CBC7-4760-AF17-1D2CF7D5663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0626FCE3-5FF9-430D-BA0B-DE80AAE71673}" type="slidenum">
              <a:rPr lang="zh-CN" altLang="en-US" smtClean="0"/>
              <a:t>31</a:t>
            </a:fld>
            <a:endParaRPr lang="zh-CN" altLang="en-US"/>
          </a:p>
        </p:txBody>
      </p:sp>
      <p:graphicFrame>
        <p:nvGraphicFramePr>
          <p:cNvPr id="7" name="内容占位符 3">
            <a:extLst>
              <a:ext uri="{FF2B5EF4-FFF2-40B4-BE49-F238E27FC236}">
                <a16:creationId xmlns:a16="http://schemas.microsoft.com/office/drawing/2014/main" id="{AB831791-2F71-4461-9DAE-6D7C6B0EF90B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3934641591"/>
              </p:ext>
            </p:extLst>
          </p:nvPr>
        </p:nvGraphicFramePr>
        <p:xfrm>
          <a:off x="265428" y="2683116"/>
          <a:ext cx="8613141" cy="3972213"/>
        </p:xfrm>
        <a:graphic>
          <a:graphicData uri="http://schemas.openxmlformats.org/drawingml/2006/table">
            <a:tbl>
              <a:tblPr firstRow="1" bandRow="1">
                <a:tableStyleId>{E8B1032C-EA38-4F05-BA0D-38AFFFC7BED3}</a:tableStyleId>
              </a:tblPr>
              <a:tblGrid>
                <a:gridCol w="106069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8811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888112">
                  <a:extLst>
                    <a:ext uri="{9D8B030D-6E8A-4147-A177-3AD203B41FA5}">
                      <a16:colId xmlns:a16="http://schemas.microsoft.com/office/drawing/2014/main" val="1851298935"/>
                    </a:ext>
                  </a:extLst>
                </a:gridCol>
                <a:gridCol w="1888112">
                  <a:extLst>
                    <a:ext uri="{9D8B030D-6E8A-4147-A177-3AD203B41FA5}">
                      <a16:colId xmlns:a16="http://schemas.microsoft.com/office/drawing/2014/main" val="496824974"/>
                    </a:ext>
                  </a:extLst>
                </a:gridCol>
                <a:gridCol w="188811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503605">
                <a:tc>
                  <a:txBody>
                    <a:bodyPr/>
                    <a:lstStyle/>
                    <a:p>
                      <a:pPr algn="ctr"/>
                      <a:r>
                        <a:rPr lang="zh-CN" altLang="en-US" sz="2000" dirty="0"/>
                        <a:t>流水线</a:t>
                      </a:r>
                    </a:p>
                  </a:txBody>
                  <a:tcPr marL="36000" marR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4C6E7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2000" dirty="0"/>
                        <a:t>R</a:t>
                      </a:r>
                      <a:r>
                        <a:rPr lang="zh-CN" altLang="en-US" sz="2000" dirty="0"/>
                        <a:t>类型</a:t>
                      </a:r>
                    </a:p>
                  </a:txBody>
                  <a:tcPr marL="36000" marR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4C6E7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CN" altLang="en-US" sz="2000" dirty="0"/>
                        <a:t>读存储器</a:t>
                      </a:r>
                    </a:p>
                  </a:txBody>
                  <a:tcPr marL="36000" marR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4C6E7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CN" altLang="en-US" sz="2000" dirty="0"/>
                        <a:t>写存储器</a:t>
                      </a:r>
                    </a:p>
                  </a:txBody>
                  <a:tcPr marL="36000" marR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4C6E7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CN" altLang="en-US" sz="2000" dirty="0"/>
                        <a:t>分支</a:t>
                      </a:r>
                    </a:p>
                  </a:txBody>
                  <a:tcPr marL="36000" marR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4C6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26127"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600" dirty="0"/>
                        <a:t>IF</a:t>
                      </a:r>
                    </a:p>
                  </a:txBody>
                  <a:tcPr marL="36000" marR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4">
                  <a:txBody>
                    <a:bodyPr/>
                    <a:lstStyle/>
                    <a:p>
                      <a:pPr algn="ctr"/>
                      <a:r>
                        <a:rPr lang="en-US" altLang="zh-CN" sz="1600" dirty="0"/>
                        <a:t>IR </a:t>
                      </a:r>
                      <a:r>
                        <a:rPr lang="en-US" altLang="zh-CN" sz="1600" dirty="0">
                          <a:sym typeface="Symbol"/>
                        </a:rPr>
                        <a:t>&lt;= </a:t>
                      </a:r>
                      <a:r>
                        <a:rPr lang="en-US" altLang="zh-CN" sz="1600" dirty="0" err="1"/>
                        <a:t>MemInst</a:t>
                      </a:r>
                      <a:r>
                        <a:rPr lang="en-US" altLang="zh-CN" sz="1600" dirty="0"/>
                        <a:t>[PC];  PC </a:t>
                      </a:r>
                      <a:r>
                        <a:rPr lang="en-US" altLang="zh-CN" sz="1600" dirty="0">
                          <a:sym typeface="Symbol"/>
                        </a:rPr>
                        <a:t>&lt;= PC + 4</a:t>
                      </a:r>
                      <a:endParaRPr lang="en-US" altLang="zh-CN" sz="1600" dirty="0"/>
                    </a:p>
                  </a:txBody>
                  <a:tcPr marL="36000" marR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zh-CN" altLang="en-US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>
                  <a:txBody>
                    <a:bodyPr/>
                    <a:lstStyle/>
                    <a:p>
                      <a:endParaRPr lang="zh-CN" altLang="en-US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>
                  <a:txBody>
                    <a:bodyPr/>
                    <a:lstStyle/>
                    <a:p>
                      <a:endParaRPr lang="zh-CN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426127">
                <a:tc>
                  <a:txBody>
                    <a:bodyPr/>
                    <a:lstStyle/>
                    <a:p>
                      <a:pPr marL="0" marR="0" lvl="1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CN" sz="1600" dirty="0"/>
                        <a:t>ID</a:t>
                      </a:r>
                    </a:p>
                  </a:txBody>
                  <a:tcPr marL="36000" marR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4">
                  <a:txBody>
                    <a:bodyPr/>
                    <a:lstStyle/>
                    <a:p>
                      <a:pPr marL="0" marR="0" lvl="1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CN" sz="1600" dirty="0"/>
                        <a:t>op </a:t>
                      </a:r>
                      <a:r>
                        <a:rPr lang="en-US" altLang="zh-CN" sz="1600" dirty="0">
                          <a:sym typeface="Symbol"/>
                        </a:rPr>
                        <a:t>&lt;= </a:t>
                      </a:r>
                      <a:r>
                        <a:rPr lang="en-US" altLang="zh-CN" sz="1600" dirty="0"/>
                        <a:t>IR[31:26]; A </a:t>
                      </a:r>
                      <a:r>
                        <a:rPr lang="en-US" altLang="zh-CN" sz="1600" dirty="0">
                          <a:sym typeface="Symbol"/>
                        </a:rPr>
                        <a:t>&lt;= </a:t>
                      </a:r>
                      <a:r>
                        <a:rPr lang="en-US" altLang="zh-CN" sz="1600" dirty="0"/>
                        <a:t>Reg[IR[25:21]]; B </a:t>
                      </a:r>
                      <a:r>
                        <a:rPr lang="en-US" altLang="zh-CN" sz="1600" dirty="0">
                          <a:sym typeface="Symbol"/>
                        </a:rPr>
                        <a:t>&lt;= </a:t>
                      </a:r>
                      <a:r>
                        <a:rPr lang="en-US" altLang="zh-CN" sz="1600" dirty="0"/>
                        <a:t>Reg[IR[20:16]]; </a:t>
                      </a:r>
                    </a:p>
                  </a:txBody>
                  <a:tcPr marL="36000" marR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zh-CN" altLang="en-US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zh-CN" altLang="en-US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pPr marL="0" marR="0" lvl="1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zh-CN" sz="1600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045949"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600" dirty="0"/>
                        <a:t>EX</a:t>
                      </a:r>
                    </a:p>
                  </a:txBody>
                  <a:tcPr marL="36000" marR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600" dirty="0" err="1"/>
                        <a:t>ALUOut</a:t>
                      </a:r>
                      <a:r>
                        <a:rPr lang="en-US" altLang="zh-CN" sz="1600" dirty="0"/>
                        <a:t> </a:t>
                      </a:r>
                      <a:r>
                        <a:rPr lang="en-US" altLang="zh-CN" sz="1600" dirty="0">
                          <a:sym typeface="Symbol"/>
                        </a:rPr>
                        <a:t>&lt;= </a:t>
                      </a:r>
                      <a:r>
                        <a:rPr lang="en-US" altLang="zh-CN" sz="1600" dirty="0"/>
                        <a:t>A op B</a:t>
                      </a:r>
                    </a:p>
                    <a:p>
                      <a:pPr algn="ctr"/>
                      <a:r>
                        <a:rPr lang="en-US" altLang="zh-CN" sz="1600" b="1" dirty="0">
                          <a:solidFill>
                            <a:srgbClr val="0070C0"/>
                          </a:solidFill>
                        </a:rPr>
                        <a:t>EX/</a:t>
                      </a:r>
                      <a:r>
                        <a:rPr lang="en-US" altLang="zh-CN" sz="1600" b="1" dirty="0" err="1">
                          <a:solidFill>
                            <a:srgbClr val="0070C0"/>
                          </a:solidFill>
                        </a:rPr>
                        <a:t>MEM.ALUOut</a:t>
                      </a:r>
                      <a:endParaRPr lang="en-US" altLang="zh-CN" sz="1600" b="1" dirty="0">
                        <a:solidFill>
                          <a:srgbClr val="0070C0"/>
                        </a:solidFill>
                      </a:endParaRPr>
                    </a:p>
                    <a:p>
                      <a:pPr algn="ctr"/>
                      <a:r>
                        <a:rPr lang="en-US" altLang="zh-CN" sz="1600" b="1" dirty="0">
                          <a:solidFill>
                            <a:srgbClr val="0070C0"/>
                          </a:solidFill>
                        </a:rPr>
                        <a:t>MEM/</a:t>
                      </a:r>
                      <a:r>
                        <a:rPr lang="en-US" altLang="zh-CN" sz="1600" b="1" dirty="0" err="1">
                          <a:solidFill>
                            <a:srgbClr val="0070C0"/>
                          </a:solidFill>
                        </a:rPr>
                        <a:t>WB.ALUOut</a:t>
                      </a:r>
                      <a:endParaRPr lang="en-US" altLang="zh-CN" sz="1600" b="1" dirty="0">
                        <a:solidFill>
                          <a:srgbClr val="0070C0"/>
                        </a:solidFill>
                      </a:endParaRPr>
                    </a:p>
                    <a:p>
                      <a:pPr algn="ctr"/>
                      <a:r>
                        <a:rPr lang="en-US" altLang="zh-CN" sz="1600" b="1" dirty="0">
                          <a:solidFill>
                            <a:srgbClr val="0070C0"/>
                          </a:solidFill>
                        </a:rPr>
                        <a:t>MDR</a:t>
                      </a:r>
                    </a:p>
                  </a:txBody>
                  <a:tcPr marL="36000" marR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2"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CN" sz="1600" dirty="0" err="1"/>
                        <a:t>ALUOut</a:t>
                      </a:r>
                      <a:r>
                        <a:rPr lang="en-US" altLang="zh-CN" sz="1600" dirty="0"/>
                        <a:t> </a:t>
                      </a:r>
                      <a:r>
                        <a:rPr lang="en-US" altLang="zh-CN" sz="1600" dirty="0">
                          <a:sym typeface="Symbol"/>
                        </a:rPr>
                        <a:t>&lt;= </a:t>
                      </a:r>
                      <a:r>
                        <a:rPr lang="en-US" altLang="zh-CN" sz="1600" dirty="0"/>
                        <a:t>A + </a:t>
                      </a:r>
                      <a:r>
                        <a:rPr lang="en-US" altLang="zh-CN" sz="1600" dirty="0" err="1"/>
                        <a:t>signext</a:t>
                      </a:r>
                      <a:r>
                        <a:rPr lang="en-US" altLang="zh-CN" sz="1600" dirty="0"/>
                        <a:t>(IR[15:0])</a:t>
                      </a: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CN" sz="1600" b="1" dirty="0">
                          <a:solidFill>
                            <a:srgbClr val="0070C0"/>
                          </a:solidFill>
                        </a:rPr>
                        <a:t>EX/</a:t>
                      </a:r>
                      <a:r>
                        <a:rPr lang="en-US" altLang="zh-CN" sz="1600" b="1" dirty="0" err="1">
                          <a:solidFill>
                            <a:srgbClr val="0070C0"/>
                          </a:solidFill>
                        </a:rPr>
                        <a:t>MEM.ALUOut</a:t>
                      </a:r>
                      <a:endParaRPr lang="en-US" altLang="zh-CN" sz="1600" b="1" dirty="0">
                        <a:solidFill>
                          <a:srgbClr val="0070C0"/>
                        </a:solidFill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CN" sz="1600" b="1" dirty="0">
                          <a:solidFill>
                            <a:srgbClr val="0070C0"/>
                          </a:solidFill>
                        </a:rPr>
                        <a:t>MEM/</a:t>
                      </a:r>
                      <a:r>
                        <a:rPr lang="en-US" altLang="zh-CN" sz="1600" b="1" dirty="0" err="1">
                          <a:solidFill>
                            <a:srgbClr val="0070C0"/>
                          </a:solidFill>
                        </a:rPr>
                        <a:t>WB.ALUOut</a:t>
                      </a:r>
                      <a:endParaRPr lang="en-US" altLang="zh-CN" sz="1600" b="1" dirty="0">
                        <a:solidFill>
                          <a:srgbClr val="0070C0"/>
                        </a:solidFill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CN" sz="1600" b="1" dirty="0">
                          <a:solidFill>
                            <a:srgbClr val="0070C0"/>
                          </a:solidFill>
                        </a:rPr>
                        <a:t>MDR</a:t>
                      </a:r>
                      <a:endParaRPr lang="zh-CN" altLang="en-US" dirty="0">
                        <a:solidFill>
                          <a:srgbClr val="0070C0"/>
                        </a:solidFill>
                      </a:endParaRPr>
                    </a:p>
                  </a:txBody>
                  <a:tcPr marL="36000" marR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zh-CN" altLang="en-US" dirty="0">
                        <a:solidFill>
                          <a:srgbClr val="C00000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1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CN" sz="1600" dirty="0" err="1"/>
                        <a:t>ALUOut</a:t>
                      </a:r>
                      <a:r>
                        <a:rPr lang="en-US" altLang="zh-CN" sz="1600" dirty="0"/>
                        <a:t> </a:t>
                      </a:r>
                      <a:r>
                        <a:rPr lang="en-US" altLang="zh-CN" sz="1600" dirty="0">
                          <a:sym typeface="Symbol"/>
                        </a:rPr>
                        <a:t>&lt;= </a:t>
                      </a:r>
                      <a:r>
                        <a:rPr lang="en-US" altLang="zh-CN" sz="1600" dirty="0"/>
                        <a:t>A - B </a:t>
                      </a:r>
                    </a:p>
                    <a:p>
                      <a:pPr marL="0" marR="0" lvl="1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CN" sz="1600" dirty="0" err="1"/>
                        <a:t>PCAdd</a:t>
                      </a:r>
                      <a:r>
                        <a:rPr lang="en-US" altLang="zh-CN" sz="1600" dirty="0"/>
                        <a:t> </a:t>
                      </a:r>
                      <a:r>
                        <a:rPr lang="en-US" altLang="zh-CN" sz="1600" dirty="0">
                          <a:sym typeface="Symbol"/>
                        </a:rPr>
                        <a:t>&lt;= </a:t>
                      </a:r>
                      <a:r>
                        <a:rPr lang="en-US" altLang="zh-CN" sz="1600" dirty="0"/>
                        <a:t>PC +  </a:t>
                      </a:r>
                      <a:r>
                        <a:rPr lang="en-US" altLang="zh-CN" sz="1600" dirty="0" err="1"/>
                        <a:t>signext</a:t>
                      </a:r>
                      <a:r>
                        <a:rPr lang="en-US" altLang="zh-CN" sz="1600" dirty="0"/>
                        <a:t>(IR[15:0]) &lt;&lt; 2</a:t>
                      </a:r>
                    </a:p>
                  </a:txBody>
                  <a:tcPr marL="36000" marR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813516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CN" sz="1600" dirty="0"/>
                        <a:t>MEM</a:t>
                      </a:r>
                      <a:endParaRPr lang="zh-CN" altLang="en-US" sz="1600" dirty="0"/>
                    </a:p>
                  </a:txBody>
                  <a:tcPr marL="36000" marR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zh-CN" altLang="en-US" sz="1600" dirty="0"/>
                    </a:p>
                  </a:txBody>
                  <a:tcPr marL="36000" marR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600" dirty="0"/>
                        <a:t>MDR &lt;= </a:t>
                      </a:r>
                      <a:r>
                        <a:rPr lang="en-US" altLang="zh-CN" sz="1600" dirty="0" err="1">
                          <a:sym typeface="Symbol"/>
                        </a:rPr>
                        <a:t>MemData</a:t>
                      </a:r>
                      <a:r>
                        <a:rPr lang="en-US" altLang="zh-CN" sz="1600" dirty="0">
                          <a:sym typeface="Symbol"/>
                        </a:rPr>
                        <a:t>[</a:t>
                      </a:r>
                      <a:r>
                        <a:rPr lang="en-US" altLang="zh-CN" sz="1600" dirty="0" err="1">
                          <a:sym typeface="Symbol"/>
                        </a:rPr>
                        <a:t>ALUOut</a:t>
                      </a:r>
                      <a:r>
                        <a:rPr lang="en-US" altLang="zh-CN" sz="1600" dirty="0">
                          <a:sym typeface="Symbol"/>
                        </a:rPr>
                        <a:t>];</a:t>
                      </a:r>
                    </a:p>
                  </a:txBody>
                  <a:tcPr marL="36000" marR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600" dirty="0" err="1">
                          <a:sym typeface="Symbol"/>
                        </a:rPr>
                        <a:t>MemData</a:t>
                      </a:r>
                      <a:r>
                        <a:rPr lang="en-US" altLang="zh-CN" sz="1600" dirty="0">
                          <a:sym typeface="Symbol"/>
                        </a:rPr>
                        <a:t>[</a:t>
                      </a:r>
                      <a:r>
                        <a:rPr lang="en-US" altLang="zh-CN" sz="1600" dirty="0" err="1">
                          <a:sym typeface="Symbol"/>
                        </a:rPr>
                        <a:t>ALUout</a:t>
                      </a:r>
                      <a:r>
                        <a:rPr lang="en-US" altLang="zh-CN" sz="1600" dirty="0">
                          <a:sym typeface="Symbol"/>
                        </a:rPr>
                        <a:t>]  &lt;= B</a:t>
                      </a:r>
                      <a:endParaRPr lang="zh-CN" altLang="en-US" sz="1600" dirty="0"/>
                    </a:p>
                  </a:txBody>
                  <a:tcPr marL="36000" marR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CN" sz="1600" dirty="0"/>
                        <a:t>if (Zero)</a:t>
                      </a: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CN" sz="1600" dirty="0"/>
                        <a:t>PC </a:t>
                      </a:r>
                      <a:r>
                        <a:rPr lang="en-US" altLang="zh-CN" sz="1600" dirty="0">
                          <a:sym typeface="Symbol"/>
                        </a:rPr>
                        <a:t>&lt;= </a:t>
                      </a:r>
                      <a:r>
                        <a:rPr lang="en-US" altLang="zh-CN" sz="1600" dirty="0" err="1">
                          <a:sym typeface="Symbol"/>
                        </a:rPr>
                        <a:t>PCAdd</a:t>
                      </a:r>
                      <a:endParaRPr lang="zh-CN" altLang="en-US" sz="1600" dirty="0"/>
                    </a:p>
                  </a:txBody>
                  <a:tcPr marL="36000" marR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736038"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600" dirty="0"/>
                        <a:t>WB</a:t>
                      </a:r>
                      <a:endParaRPr lang="zh-CN" altLang="en-US" sz="1600" dirty="0"/>
                    </a:p>
                  </a:txBody>
                  <a:tcPr marL="36000" marR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CN" sz="1600" dirty="0"/>
                        <a:t>Reg[IR[15:11]]</a:t>
                      </a:r>
                      <a:r>
                        <a:rPr lang="en-US" altLang="zh-CN" sz="1600" dirty="0">
                          <a:sym typeface="Symbol"/>
                        </a:rPr>
                        <a:t> &lt;= </a:t>
                      </a:r>
                      <a:r>
                        <a:rPr lang="en-US" altLang="zh-CN" sz="1600" dirty="0" err="1"/>
                        <a:t>ALUOut</a:t>
                      </a:r>
                      <a:endParaRPr lang="zh-CN" altLang="en-US" sz="1600" dirty="0"/>
                    </a:p>
                  </a:txBody>
                  <a:tcPr marL="36000" marR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600" dirty="0"/>
                        <a:t>Reg[IR[20:16]]</a:t>
                      </a:r>
                      <a:r>
                        <a:rPr lang="en-US" altLang="zh-CN" sz="1600" dirty="0">
                          <a:sym typeface="Symbol"/>
                        </a:rPr>
                        <a:t> &lt;= MDR</a:t>
                      </a:r>
                      <a:endParaRPr lang="zh-CN" altLang="en-US" sz="1600" dirty="0"/>
                    </a:p>
                  </a:txBody>
                  <a:tcPr marL="36000" marR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CN" altLang="en-US" sz="1600" dirty="0"/>
                    </a:p>
                  </a:txBody>
                  <a:tcPr marL="36000" marR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CN" altLang="en-US" dirty="0"/>
                    </a:p>
                  </a:txBody>
                  <a:tcPr marL="36000" marR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</a:tbl>
          </a:graphicData>
        </a:graphic>
      </p:graphicFrame>
      <mc:AlternateContent xmlns:mc="http://schemas.openxmlformats.org/markup-compatibility/2006" xmlns:p14="http://schemas.microsoft.com/office/powerpoint/2010/main">
        <mc:Choice Requires="p14">
          <p:contentPart p14:bwMode="auto" r:id="rId3">
            <p14:nvContentPartPr>
              <p14:cNvPr id="5" name="墨迹 4">
                <a:extLst>
                  <a:ext uri="{FF2B5EF4-FFF2-40B4-BE49-F238E27FC236}">
                    <a16:creationId xmlns:a16="http://schemas.microsoft.com/office/drawing/2014/main" id="{772E82D4-63C1-104E-40D6-49C6848881B3}"/>
                  </a:ext>
                </a:extLst>
              </p14:cNvPr>
              <p14:cNvContentPartPr/>
              <p14:nvPr/>
            </p14:nvContentPartPr>
            <p14:xfrm>
              <a:off x="1623960" y="4740480"/>
              <a:ext cx="1566720" cy="883080"/>
            </p14:xfrm>
          </p:contentPart>
        </mc:Choice>
        <mc:Fallback xmlns="">
          <p:pic>
            <p:nvPicPr>
              <p:cNvPr id="5" name="墨迹 4">
                <a:extLst>
                  <a:ext uri="{FF2B5EF4-FFF2-40B4-BE49-F238E27FC236}">
                    <a16:creationId xmlns:a16="http://schemas.microsoft.com/office/drawing/2014/main" id="{772E82D4-63C1-104E-40D6-49C6848881B3}"/>
                  </a:ext>
                </a:extLst>
              </p:cNvPr>
              <p:cNvPicPr/>
              <p:nvPr/>
            </p:nvPicPr>
            <p:blipFill>
              <a:blip r:embed="rId4"/>
              <a:stretch>
                <a:fillRect/>
              </a:stretch>
            </p:blipFill>
            <p:spPr>
              <a:xfrm>
                <a:off x="1614600" y="4731120"/>
                <a:ext cx="1585440" cy="90180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2042658534"/>
      </p:ext>
    </p:extLst>
  </p:cSld>
  <p:clrMapOvr>
    <a:masterClrMapping/>
  </p:clrMapOvr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>
            <a:extLst>
              <a:ext uri="{FF2B5EF4-FFF2-40B4-BE49-F238E27FC236}">
                <a16:creationId xmlns:a16="http://schemas.microsoft.com/office/drawing/2014/main" id="{9E93CF03-D2D1-46D5-A1FE-A03980CD835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dirty="0"/>
              <a:t>解决</a:t>
            </a:r>
            <a:r>
              <a:rPr lang="en-US" altLang="zh-CN" dirty="0"/>
              <a:t>Load-use</a:t>
            </a:r>
            <a:r>
              <a:rPr lang="zh-CN" altLang="en-US" dirty="0"/>
              <a:t>冒险的方法</a:t>
            </a:r>
          </a:p>
        </p:txBody>
      </p:sp>
      <p:sp>
        <p:nvSpPr>
          <p:cNvPr id="3" name="内容占位符 2">
            <a:extLst>
              <a:ext uri="{FF2B5EF4-FFF2-40B4-BE49-F238E27FC236}">
                <a16:creationId xmlns:a16="http://schemas.microsoft.com/office/drawing/2014/main" id="{EBE0C683-B664-4501-9963-36F7084E1544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r>
              <a:rPr lang="zh-CN" altLang="en-US" sz="2400" dirty="0"/>
              <a:t>对</a:t>
            </a:r>
            <a:r>
              <a:rPr lang="en-US" altLang="zh-CN" sz="2400" dirty="0"/>
              <a:t>LOAD</a:t>
            </a:r>
            <a:r>
              <a:rPr lang="zh-CN" altLang="en-US" sz="2400" dirty="0"/>
              <a:t>采用</a:t>
            </a:r>
            <a:r>
              <a:rPr lang="en-US" altLang="zh-CN" sz="2400" dirty="0"/>
              <a:t>forward?</a:t>
            </a:r>
          </a:p>
          <a:p>
            <a:pPr lvl="1"/>
            <a:r>
              <a:rPr lang="zh-CN" altLang="en-US" sz="2000" dirty="0">
                <a:solidFill>
                  <a:srgbClr val="3333FF"/>
                </a:solidFill>
              </a:rPr>
              <a:t>硬件思路难以避免一个</a:t>
            </a:r>
            <a:r>
              <a:rPr lang="en-US" altLang="zh-CN" sz="2000" dirty="0">
                <a:solidFill>
                  <a:srgbClr val="3333FF"/>
                </a:solidFill>
              </a:rPr>
              <a:t>stall</a:t>
            </a:r>
            <a:r>
              <a:rPr lang="zh-CN" altLang="en-US" sz="2000" dirty="0">
                <a:solidFill>
                  <a:srgbClr val="3333FF"/>
                </a:solidFill>
              </a:rPr>
              <a:t>，有没有其他办法避免</a:t>
            </a:r>
            <a:r>
              <a:rPr lang="en-US" altLang="zh-CN" sz="2000" dirty="0">
                <a:solidFill>
                  <a:srgbClr val="3333FF"/>
                </a:solidFill>
              </a:rPr>
              <a:t>Stall?</a:t>
            </a:r>
          </a:p>
          <a:p>
            <a:pPr lvl="1"/>
            <a:endParaRPr lang="en-US" altLang="zh-CN" sz="2000" dirty="0"/>
          </a:p>
          <a:p>
            <a:endParaRPr lang="zh-CN" altLang="en-US" sz="2400" dirty="0"/>
          </a:p>
        </p:txBody>
      </p:sp>
      <p:sp>
        <p:nvSpPr>
          <p:cNvPr id="4" name="灯片编号占位符 3">
            <a:extLst>
              <a:ext uri="{FF2B5EF4-FFF2-40B4-BE49-F238E27FC236}">
                <a16:creationId xmlns:a16="http://schemas.microsoft.com/office/drawing/2014/main" id="{63271D26-B263-467C-975B-BC6E3B2432B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0626FCE3-5FF9-430D-BA0B-DE80AAE71673}" type="slidenum">
              <a:rPr lang="zh-CN" altLang="en-US" smtClean="0"/>
              <a:t>32</a:t>
            </a:fld>
            <a:endParaRPr lang="zh-CN" altLang="en-US" dirty="0"/>
          </a:p>
        </p:txBody>
      </p:sp>
      <p:sp>
        <p:nvSpPr>
          <p:cNvPr id="5" name="箭头: 右 4">
            <a:extLst>
              <a:ext uri="{FF2B5EF4-FFF2-40B4-BE49-F238E27FC236}">
                <a16:creationId xmlns:a16="http://schemas.microsoft.com/office/drawing/2014/main" id="{C17D3ACE-824A-0051-E236-BC3FAA4F2F8E}"/>
              </a:ext>
            </a:extLst>
          </p:cNvPr>
          <p:cNvSpPr/>
          <p:nvPr/>
        </p:nvSpPr>
        <p:spPr>
          <a:xfrm>
            <a:off x="1931303" y="3128506"/>
            <a:ext cx="640040" cy="203835"/>
          </a:xfrm>
          <a:prstGeom prst="rightArrow">
            <a:avLst/>
          </a:prstGeom>
          <a:solidFill>
            <a:srgbClr val="0070C0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7" name="文本框 6">
            <a:extLst>
              <a:ext uri="{FF2B5EF4-FFF2-40B4-BE49-F238E27FC236}">
                <a16:creationId xmlns:a16="http://schemas.microsoft.com/office/drawing/2014/main" id="{35A24BC3-B499-6D0B-3822-186E054349C0}"/>
              </a:ext>
            </a:extLst>
          </p:cNvPr>
          <p:cNvSpPr txBox="1"/>
          <p:nvPr/>
        </p:nvSpPr>
        <p:spPr>
          <a:xfrm>
            <a:off x="1352911" y="3045758"/>
            <a:ext cx="569387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zh-CN" dirty="0" err="1">
                <a:solidFill>
                  <a:srgbClr val="0070C0"/>
                </a:solidFill>
                <a:ea typeface="SimHei" panose="02010609060101010101" pitchFamily="49" charset="-122"/>
              </a:rPr>
              <a:t>nop</a:t>
            </a:r>
            <a:endParaRPr lang="zh-CN" altLang="en-US" dirty="0">
              <a:solidFill>
                <a:srgbClr val="0070C0"/>
              </a:solidFill>
              <a:ea typeface="SimHei" panose="02010609060101010101" pitchFamily="49" charset="-122"/>
            </a:endParaRPr>
          </a:p>
        </p:txBody>
      </p:sp>
      <p:grpSp>
        <p:nvGrpSpPr>
          <p:cNvPr id="8" name="Group 4">
            <a:extLst>
              <a:ext uri="{FF2B5EF4-FFF2-40B4-BE49-F238E27FC236}">
                <a16:creationId xmlns:a16="http://schemas.microsoft.com/office/drawing/2014/main" id="{783053BA-657E-4561-8CD2-66BC7CB167AF}"/>
              </a:ext>
            </a:extLst>
          </p:cNvPr>
          <p:cNvGrpSpPr>
            <a:grpSpLocks noChangeAspect="1"/>
          </p:cNvGrpSpPr>
          <p:nvPr/>
        </p:nvGrpSpPr>
        <p:grpSpPr bwMode="auto">
          <a:xfrm>
            <a:off x="944563" y="2100263"/>
            <a:ext cx="7580312" cy="4144962"/>
            <a:chOff x="595" y="1323"/>
            <a:chExt cx="4775" cy="2611"/>
          </a:xfrm>
        </p:grpSpPr>
        <p:sp>
          <p:nvSpPr>
            <p:cNvPr id="9" name="AutoShape 3">
              <a:extLst>
                <a:ext uri="{FF2B5EF4-FFF2-40B4-BE49-F238E27FC236}">
                  <a16:creationId xmlns:a16="http://schemas.microsoft.com/office/drawing/2014/main" id="{5B04863B-9AA1-4FAA-82B8-1247F3BD1E53}"/>
                </a:ext>
              </a:extLst>
            </p:cNvPr>
            <p:cNvSpPr>
              <a:spLocks noChangeAspect="1" noChangeArrowheads="1" noTextEdit="1"/>
            </p:cNvSpPr>
            <p:nvPr/>
          </p:nvSpPr>
          <p:spPr bwMode="auto">
            <a:xfrm>
              <a:off x="595" y="1323"/>
              <a:ext cx="4775" cy="26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" name="Rectangle 5">
              <a:extLst>
                <a:ext uri="{FF2B5EF4-FFF2-40B4-BE49-F238E27FC236}">
                  <a16:creationId xmlns:a16="http://schemas.microsoft.com/office/drawing/2014/main" id="{07CE75DF-80B0-4674-B1FB-D9FC0A25CC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33" y="1667"/>
              <a:ext cx="127" cy="254"/>
            </a:xfrm>
            <a:prstGeom prst="rect">
              <a:avLst/>
            </a:prstGeom>
            <a:solidFill>
              <a:srgbClr val="DE25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" name="Rectangle 6">
              <a:extLst>
                <a:ext uri="{FF2B5EF4-FFF2-40B4-BE49-F238E27FC236}">
                  <a16:creationId xmlns:a16="http://schemas.microsoft.com/office/drawing/2014/main" id="{D978D4BB-36E7-4333-8C63-4A881FDF70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33" y="1667"/>
              <a:ext cx="127" cy="254"/>
            </a:xfrm>
            <a:prstGeom prst="rect">
              <a:avLst/>
            </a:prstGeom>
            <a:noFill/>
            <a:ln w="11113" cap="flat">
              <a:solidFill>
                <a:srgbClr val="DE2506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" name="Rectangle 7">
              <a:extLst>
                <a:ext uri="{FF2B5EF4-FFF2-40B4-BE49-F238E27FC236}">
                  <a16:creationId xmlns:a16="http://schemas.microsoft.com/office/drawing/2014/main" id="{81DB6CC4-96CB-46D7-867F-A60DB8E629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41" y="3531"/>
              <a:ext cx="127" cy="255"/>
            </a:xfrm>
            <a:prstGeom prst="rect">
              <a:avLst/>
            </a:prstGeom>
            <a:solidFill>
              <a:srgbClr val="00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" name="Rectangle 8">
              <a:extLst>
                <a:ext uri="{FF2B5EF4-FFF2-40B4-BE49-F238E27FC236}">
                  <a16:creationId xmlns:a16="http://schemas.microsoft.com/office/drawing/2014/main" id="{C2D43D0D-F5EE-430D-9E85-00FAD9D5F8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41" y="3531"/>
              <a:ext cx="127" cy="255"/>
            </a:xfrm>
            <a:prstGeom prst="rect">
              <a:avLst/>
            </a:prstGeom>
            <a:noFill/>
            <a:ln w="11113" cap="flat">
              <a:solidFill>
                <a:srgbClr val="0099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" name="Rectangle 9">
              <a:extLst>
                <a:ext uri="{FF2B5EF4-FFF2-40B4-BE49-F238E27FC236}">
                  <a16:creationId xmlns:a16="http://schemas.microsoft.com/office/drawing/2014/main" id="{938A958B-D1F6-4DF9-B8BA-D95AC7F4B4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60" y="3065"/>
              <a:ext cx="127" cy="255"/>
            </a:xfrm>
            <a:prstGeom prst="rect">
              <a:avLst/>
            </a:prstGeom>
            <a:solidFill>
              <a:srgbClr val="00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" name="Rectangle 10">
              <a:extLst>
                <a:ext uri="{FF2B5EF4-FFF2-40B4-BE49-F238E27FC236}">
                  <a16:creationId xmlns:a16="http://schemas.microsoft.com/office/drawing/2014/main" id="{4DEFBD51-30DB-4405-B9C6-15D4CE1C25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60" y="3065"/>
              <a:ext cx="127" cy="255"/>
            </a:xfrm>
            <a:prstGeom prst="rect">
              <a:avLst/>
            </a:prstGeom>
            <a:noFill/>
            <a:ln w="11113" cap="flat">
              <a:solidFill>
                <a:srgbClr val="0099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" name="Freeform 11">
              <a:extLst>
                <a:ext uri="{FF2B5EF4-FFF2-40B4-BE49-F238E27FC236}">
                  <a16:creationId xmlns:a16="http://schemas.microsoft.com/office/drawing/2014/main" id="{8D6D0DF4-BC5B-464D-9FD3-527AE9E19EB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636" y="1921"/>
              <a:ext cx="48" cy="1144"/>
            </a:xfrm>
            <a:custGeom>
              <a:avLst/>
              <a:gdLst>
                <a:gd name="T0" fmla="*/ 32 w 48"/>
                <a:gd name="T1" fmla="*/ 0 h 1144"/>
                <a:gd name="T2" fmla="*/ 32 w 48"/>
                <a:gd name="T3" fmla="*/ 1105 h 1144"/>
                <a:gd name="T4" fmla="*/ 16 w 48"/>
                <a:gd name="T5" fmla="*/ 1105 h 1144"/>
                <a:gd name="T6" fmla="*/ 16 w 48"/>
                <a:gd name="T7" fmla="*/ 0 h 1144"/>
                <a:gd name="T8" fmla="*/ 32 w 48"/>
                <a:gd name="T9" fmla="*/ 0 h 1144"/>
                <a:gd name="T10" fmla="*/ 48 w 48"/>
                <a:gd name="T11" fmla="*/ 1097 h 1144"/>
                <a:gd name="T12" fmla="*/ 24 w 48"/>
                <a:gd name="T13" fmla="*/ 1144 h 1144"/>
                <a:gd name="T14" fmla="*/ 0 w 48"/>
                <a:gd name="T15" fmla="*/ 1097 h 1144"/>
                <a:gd name="T16" fmla="*/ 48 w 48"/>
                <a:gd name="T17" fmla="*/ 1097 h 11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8" h="1144">
                  <a:moveTo>
                    <a:pt x="32" y="0"/>
                  </a:moveTo>
                  <a:lnTo>
                    <a:pt x="32" y="1105"/>
                  </a:lnTo>
                  <a:lnTo>
                    <a:pt x="16" y="1105"/>
                  </a:lnTo>
                  <a:lnTo>
                    <a:pt x="16" y="0"/>
                  </a:lnTo>
                  <a:lnTo>
                    <a:pt x="32" y="0"/>
                  </a:lnTo>
                  <a:close/>
                  <a:moveTo>
                    <a:pt x="48" y="1097"/>
                  </a:moveTo>
                  <a:lnTo>
                    <a:pt x="24" y="1144"/>
                  </a:lnTo>
                  <a:lnTo>
                    <a:pt x="0" y="1097"/>
                  </a:lnTo>
                  <a:lnTo>
                    <a:pt x="48" y="1097"/>
                  </a:lnTo>
                  <a:close/>
                </a:path>
              </a:pathLst>
            </a:custGeom>
            <a:solidFill>
              <a:srgbClr val="009900"/>
            </a:solidFill>
            <a:ln w="0" cap="flat">
              <a:solidFill>
                <a:srgbClr val="0099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" name="Freeform 12">
              <a:extLst>
                <a:ext uri="{FF2B5EF4-FFF2-40B4-BE49-F238E27FC236}">
                  <a16:creationId xmlns:a16="http://schemas.microsoft.com/office/drawing/2014/main" id="{FD154B5E-5F8D-43D9-830F-D7121CFD94C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652" y="1877"/>
              <a:ext cx="402" cy="1654"/>
            </a:xfrm>
            <a:custGeom>
              <a:avLst/>
              <a:gdLst>
                <a:gd name="T0" fmla="*/ 16 w 402"/>
                <a:gd name="T1" fmla="*/ 0 h 1654"/>
                <a:gd name="T2" fmla="*/ 388 w 402"/>
                <a:gd name="T3" fmla="*/ 1614 h 1654"/>
                <a:gd name="T4" fmla="*/ 373 w 402"/>
                <a:gd name="T5" fmla="*/ 1618 h 1654"/>
                <a:gd name="T6" fmla="*/ 0 w 402"/>
                <a:gd name="T7" fmla="*/ 4 h 1654"/>
                <a:gd name="T8" fmla="*/ 16 w 402"/>
                <a:gd name="T9" fmla="*/ 0 h 1654"/>
                <a:gd name="T10" fmla="*/ 402 w 402"/>
                <a:gd name="T11" fmla="*/ 1603 h 1654"/>
                <a:gd name="T12" fmla="*/ 389 w 402"/>
                <a:gd name="T13" fmla="*/ 1654 h 1654"/>
                <a:gd name="T14" fmla="*/ 356 w 402"/>
                <a:gd name="T15" fmla="*/ 1613 h 1654"/>
                <a:gd name="T16" fmla="*/ 402 w 402"/>
                <a:gd name="T17" fmla="*/ 1603 h 16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02" h="1654">
                  <a:moveTo>
                    <a:pt x="16" y="0"/>
                  </a:moveTo>
                  <a:lnTo>
                    <a:pt x="388" y="1614"/>
                  </a:lnTo>
                  <a:lnTo>
                    <a:pt x="373" y="1618"/>
                  </a:lnTo>
                  <a:lnTo>
                    <a:pt x="0" y="4"/>
                  </a:lnTo>
                  <a:lnTo>
                    <a:pt x="16" y="0"/>
                  </a:lnTo>
                  <a:close/>
                  <a:moveTo>
                    <a:pt x="402" y="1603"/>
                  </a:moveTo>
                  <a:lnTo>
                    <a:pt x="389" y="1654"/>
                  </a:lnTo>
                  <a:lnTo>
                    <a:pt x="356" y="1613"/>
                  </a:lnTo>
                  <a:lnTo>
                    <a:pt x="402" y="1603"/>
                  </a:lnTo>
                  <a:close/>
                </a:path>
              </a:pathLst>
            </a:custGeom>
            <a:solidFill>
              <a:srgbClr val="009900"/>
            </a:solidFill>
            <a:ln w="0" cap="flat">
              <a:solidFill>
                <a:srgbClr val="0099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" name="Rectangle 13">
              <a:extLst>
                <a:ext uri="{FF2B5EF4-FFF2-40B4-BE49-F238E27FC236}">
                  <a16:creationId xmlns:a16="http://schemas.microsoft.com/office/drawing/2014/main" id="{EFADC3C9-0F98-49AF-A8B2-37AEB1F1EB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91" y="2599"/>
              <a:ext cx="84" cy="255"/>
            </a:xfrm>
            <a:prstGeom prst="rect">
              <a:avLst/>
            </a:prstGeom>
            <a:solidFill>
              <a:srgbClr val="00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" name="Rectangle 14">
              <a:extLst>
                <a:ext uri="{FF2B5EF4-FFF2-40B4-BE49-F238E27FC236}">
                  <a16:creationId xmlns:a16="http://schemas.microsoft.com/office/drawing/2014/main" id="{2E45287E-FC05-4778-B198-B9A1BDA20F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91" y="2599"/>
              <a:ext cx="84" cy="255"/>
            </a:xfrm>
            <a:prstGeom prst="rect">
              <a:avLst/>
            </a:prstGeom>
            <a:noFill/>
            <a:ln w="11113" cap="flat">
              <a:solidFill>
                <a:srgbClr val="0099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" name="Rectangle 15">
              <a:extLst>
                <a:ext uri="{FF2B5EF4-FFF2-40B4-BE49-F238E27FC236}">
                  <a16:creationId xmlns:a16="http://schemas.microsoft.com/office/drawing/2014/main" id="{A14207C7-95BC-4800-BBBC-3E06BB804D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10" y="2133"/>
              <a:ext cx="84" cy="255"/>
            </a:xfrm>
            <a:prstGeom prst="rect">
              <a:avLst/>
            </a:prstGeom>
            <a:solidFill>
              <a:srgbClr val="DE25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" name="Rectangle 16">
              <a:extLst>
                <a:ext uri="{FF2B5EF4-FFF2-40B4-BE49-F238E27FC236}">
                  <a16:creationId xmlns:a16="http://schemas.microsoft.com/office/drawing/2014/main" id="{BAEF089B-7BF0-4AE9-9DB2-2E1D08E7DD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10" y="2133"/>
              <a:ext cx="84" cy="255"/>
            </a:xfrm>
            <a:prstGeom prst="rect">
              <a:avLst/>
            </a:prstGeom>
            <a:noFill/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2" name="Rectangle 17">
              <a:extLst>
                <a:ext uri="{FF2B5EF4-FFF2-40B4-BE49-F238E27FC236}">
                  <a16:creationId xmlns:a16="http://schemas.microsoft.com/office/drawing/2014/main" id="{56C04D8A-4DBE-454B-983E-64130BD4A0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21" y="1667"/>
              <a:ext cx="85" cy="254"/>
            </a:xfrm>
            <a:prstGeom prst="rect">
              <a:avLst/>
            </a:prstGeom>
            <a:solidFill>
              <a:srgbClr val="DE25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3" name="Rectangle 18">
              <a:extLst>
                <a:ext uri="{FF2B5EF4-FFF2-40B4-BE49-F238E27FC236}">
                  <a16:creationId xmlns:a16="http://schemas.microsoft.com/office/drawing/2014/main" id="{CABE20AF-94FF-4F7F-9B3B-943B2C7502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21" y="1667"/>
              <a:ext cx="85" cy="254"/>
            </a:xfrm>
            <a:prstGeom prst="rect">
              <a:avLst/>
            </a:prstGeom>
            <a:noFill/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4" name="Freeform 19">
              <a:extLst>
                <a:ext uri="{FF2B5EF4-FFF2-40B4-BE49-F238E27FC236}">
                  <a16:creationId xmlns:a16="http://schemas.microsoft.com/office/drawing/2014/main" id="{1714C506-8076-4C51-8C94-3E88774807C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152" y="1915"/>
              <a:ext cx="259" cy="218"/>
            </a:xfrm>
            <a:custGeom>
              <a:avLst/>
              <a:gdLst>
                <a:gd name="T0" fmla="*/ 249 w 259"/>
                <a:gd name="T1" fmla="*/ 0 h 218"/>
                <a:gd name="T2" fmla="*/ 25 w 259"/>
                <a:gd name="T3" fmla="*/ 187 h 218"/>
                <a:gd name="T4" fmla="*/ 36 w 259"/>
                <a:gd name="T5" fmla="*/ 199 h 218"/>
                <a:gd name="T6" fmla="*/ 259 w 259"/>
                <a:gd name="T7" fmla="*/ 13 h 218"/>
                <a:gd name="T8" fmla="*/ 249 w 259"/>
                <a:gd name="T9" fmla="*/ 0 h 218"/>
                <a:gd name="T10" fmla="*/ 21 w 259"/>
                <a:gd name="T11" fmla="*/ 170 h 218"/>
                <a:gd name="T12" fmla="*/ 0 w 259"/>
                <a:gd name="T13" fmla="*/ 218 h 218"/>
                <a:gd name="T14" fmla="*/ 52 w 259"/>
                <a:gd name="T15" fmla="*/ 206 h 218"/>
                <a:gd name="T16" fmla="*/ 21 w 259"/>
                <a:gd name="T17" fmla="*/ 170 h 2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9" h="218">
                  <a:moveTo>
                    <a:pt x="249" y="0"/>
                  </a:moveTo>
                  <a:lnTo>
                    <a:pt x="25" y="187"/>
                  </a:lnTo>
                  <a:lnTo>
                    <a:pt x="36" y="199"/>
                  </a:lnTo>
                  <a:lnTo>
                    <a:pt x="259" y="13"/>
                  </a:lnTo>
                  <a:lnTo>
                    <a:pt x="249" y="0"/>
                  </a:lnTo>
                  <a:close/>
                  <a:moveTo>
                    <a:pt x="21" y="170"/>
                  </a:moveTo>
                  <a:lnTo>
                    <a:pt x="0" y="218"/>
                  </a:lnTo>
                  <a:lnTo>
                    <a:pt x="52" y="206"/>
                  </a:lnTo>
                  <a:lnTo>
                    <a:pt x="21" y="170"/>
                  </a:lnTo>
                  <a:close/>
                </a:path>
              </a:pathLst>
            </a:custGeom>
            <a:solidFill>
              <a:srgbClr val="DE2506"/>
            </a:solidFill>
            <a:ln w="0" cap="flat">
              <a:solidFill>
                <a:srgbClr val="DE2506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5" name="Freeform 20">
              <a:extLst>
                <a:ext uri="{FF2B5EF4-FFF2-40B4-BE49-F238E27FC236}">
                  <a16:creationId xmlns:a16="http://schemas.microsoft.com/office/drawing/2014/main" id="{8C31A199-BB2D-4867-80E4-E41F771FB64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398" y="1920"/>
              <a:ext cx="150" cy="679"/>
            </a:xfrm>
            <a:custGeom>
              <a:avLst/>
              <a:gdLst>
                <a:gd name="T0" fmla="*/ 16 w 150"/>
                <a:gd name="T1" fmla="*/ 0 h 679"/>
                <a:gd name="T2" fmla="*/ 136 w 150"/>
                <a:gd name="T3" fmla="*/ 639 h 679"/>
                <a:gd name="T4" fmla="*/ 120 w 150"/>
                <a:gd name="T5" fmla="*/ 642 h 679"/>
                <a:gd name="T6" fmla="*/ 0 w 150"/>
                <a:gd name="T7" fmla="*/ 3 h 679"/>
                <a:gd name="T8" fmla="*/ 16 w 150"/>
                <a:gd name="T9" fmla="*/ 0 h 679"/>
                <a:gd name="T10" fmla="*/ 150 w 150"/>
                <a:gd name="T11" fmla="*/ 628 h 679"/>
                <a:gd name="T12" fmla="*/ 135 w 150"/>
                <a:gd name="T13" fmla="*/ 679 h 679"/>
                <a:gd name="T14" fmla="*/ 103 w 150"/>
                <a:gd name="T15" fmla="*/ 637 h 679"/>
                <a:gd name="T16" fmla="*/ 150 w 150"/>
                <a:gd name="T17" fmla="*/ 628 h 6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0" h="679">
                  <a:moveTo>
                    <a:pt x="16" y="0"/>
                  </a:moveTo>
                  <a:lnTo>
                    <a:pt x="136" y="639"/>
                  </a:lnTo>
                  <a:lnTo>
                    <a:pt x="120" y="642"/>
                  </a:lnTo>
                  <a:lnTo>
                    <a:pt x="0" y="3"/>
                  </a:lnTo>
                  <a:lnTo>
                    <a:pt x="16" y="0"/>
                  </a:lnTo>
                  <a:close/>
                  <a:moveTo>
                    <a:pt x="150" y="628"/>
                  </a:moveTo>
                  <a:lnTo>
                    <a:pt x="135" y="679"/>
                  </a:lnTo>
                  <a:lnTo>
                    <a:pt x="103" y="637"/>
                  </a:lnTo>
                  <a:lnTo>
                    <a:pt x="150" y="628"/>
                  </a:lnTo>
                  <a:close/>
                </a:path>
              </a:pathLst>
            </a:custGeom>
            <a:solidFill>
              <a:srgbClr val="009900"/>
            </a:solidFill>
            <a:ln w="0" cap="flat">
              <a:solidFill>
                <a:srgbClr val="0099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6" name="Rectangle 21">
              <a:extLst>
                <a:ext uri="{FF2B5EF4-FFF2-40B4-BE49-F238E27FC236}">
                  <a16:creationId xmlns:a16="http://schemas.microsoft.com/office/drawing/2014/main" id="{BB9D83F4-10DE-440F-8A12-6140D1985F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5" y="1737"/>
              <a:ext cx="96" cy="17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1600" b="0" i="1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I</a:t>
              </a:r>
              <a:endParaRPr kumimoji="0" lang="zh-CN" altLang="zh-CN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27" name="Rectangle 22">
              <a:extLst>
                <a:ext uri="{FF2B5EF4-FFF2-40B4-BE49-F238E27FC236}">
                  <a16:creationId xmlns:a16="http://schemas.microsoft.com/office/drawing/2014/main" id="{E05D9788-496F-4B1F-94A0-BBB694D60A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9" y="1892"/>
              <a:ext cx="127" cy="16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1600" b="0" i="1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n</a:t>
              </a:r>
              <a:endParaRPr kumimoji="0" lang="zh-CN" altLang="zh-CN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28" name="Rectangle 23">
              <a:extLst>
                <a:ext uri="{FF2B5EF4-FFF2-40B4-BE49-F238E27FC236}">
                  <a16:creationId xmlns:a16="http://schemas.microsoft.com/office/drawing/2014/main" id="{94019D46-BB25-4468-AF4C-857C8F928E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9" y="2046"/>
              <a:ext cx="122" cy="16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1600" b="0" i="1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s</a:t>
              </a:r>
              <a:endParaRPr kumimoji="0" lang="zh-CN" altLang="zh-CN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29" name="Rectangle 24">
              <a:extLst>
                <a:ext uri="{FF2B5EF4-FFF2-40B4-BE49-F238E27FC236}">
                  <a16:creationId xmlns:a16="http://schemas.microsoft.com/office/drawing/2014/main" id="{06BA7B4F-F7A3-4FEA-B72F-3B0F97C4A3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5" y="2198"/>
              <a:ext cx="96" cy="17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1600" b="0" i="1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t</a:t>
              </a:r>
              <a:endParaRPr kumimoji="0" lang="zh-CN" altLang="zh-CN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30" name="Rectangle 25">
              <a:extLst>
                <a:ext uri="{FF2B5EF4-FFF2-40B4-BE49-F238E27FC236}">
                  <a16:creationId xmlns:a16="http://schemas.microsoft.com/office/drawing/2014/main" id="{8AC2AA15-E7B8-478A-BB09-5524CEC5A0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4" y="2353"/>
              <a:ext cx="138" cy="16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1600" b="0" i="1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r.</a:t>
              </a:r>
              <a:endParaRPr kumimoji="0" lang="zh-CN" altLang="zh-CN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31" name="Rectangle 26">
              <a:extLst>
                <a:ext uri="{FF2B5EF4-FFF2-40B4-BE49-F238E27FC236}">
                  <a16:creationId xmlns:a16="http://schemas.microsoft.com/office/drawing/2014/main" id="{CFFC800E-EB15-4578-94A9-E3AA3E5900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74" y="2655"/>
              <a:ext cx="158" cy="16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1600" b="0" i="1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O</a:t>
              </a:r>
              <a:endParaRPr kumimoji="0" lang="zh-CN" altLang="zh-CN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32" name="Rectangle 27">
              <a:extLst>
                <a:ext uri="{FF2B5EF4-FFF2-40B4-BE49-F238E27FC236}">
                  <a16:creationId xmlns:a16="http://schemas.microsoft.com/office/drawing/2014/main" id="{C48BF8C7-769B-46D0-B916-0A4D10235F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0" y="2807"/>
              <a:ext cx="101" cy="17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1600" b="0" i="1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r</a:t>
              </a:r>
              <a:endParaRPr kumimoji="0" lang="zh-CN" altLang="zh-CN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33" name="Rectangle 28">
              <a:extLst>
                <a:ext uri="{FF2B5EF4-FFF2-40B4-BE49-F238E27FC236}">
                  <a16:creationId xmlns:a16="http://schemas.microsoft.com/office/drawing/2014/main" id="{B3975E4A-DB8E-4495-B284-E2824D911E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9" y="2962"/>
              <a:ext cx="127" cy="16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1600" b="0" i="1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d</a:t>
              </a:r>
              <a:endParaRPr kumimoji="0" lang="zh-CN" altLang="zh-CN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34" name="Rectangle 29">
              <a:extLst>
                <a:ext uri="{FF2B5EF4-FFF2-40B4-BE49-F238E27FC236}">
                  <a16:creationId xmlns:a16="http://schemas.microsoft.com/office/drawing/2014/main" id="{0FB55429-06BA-4FCB-8C68-F26FA20109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9" y="3114"/>
              <a:ext cx="127" cy="17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1600" b="0" i="1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e</a:t>
              </a:r>
              <a:endParaRPr kumimoji="0" lang="zh-CN" altLang="zh-CN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35" name="Rectangle 30">
              <a:extLst>
                <a:ext uri="{FF2B5EF4-FFF2-40B4-BE49-F238E27FC236}">
                  <a16:creationId xmlns:a16="http://schemas.microsoft.com/office/drawing/2014/main" id="{0024D11A-D7B9-4D11-9D84-2B08ED0D04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0" y="3264"/>
              <a:ext cx="101" cy="16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1600" b="0" i="1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r</a:t>
              </a:r>
              <a:endParaRPr kumimoji="0" lang="zh-CN" altLang="zh-CN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36" name="Freeform 31">
              <a:extLst>
                <a:ext uri="{FF2B5EF4-FFF2-40B4-BE49-F238E27FC236}">
                  <a16:creationId xmlns:a16="http://schemas.microsoft.com/office/drawing/2014/main" id="{8573B045-A470-47A7-B6FB-9F5C0BCAB03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627" y="1349"/>
              <a:ext cx="3510" cy="43"/>
            </a:xfrm>
            <a:custGeom>
              <a:avLst/>
              <a:gdLst>
                <a:gd name="T0" fmla="*/ 0 w 3510"/>
                <a:gd name="T1" fmla="*/ 15 h 43"/>
                <a:gd name="T2" fmla="*/ 3475 w 3510"/>
                <a:gd name="T3" fmla="*/ 15 h 43"/>
                <a:gd name="T4" fmla="*/ 3475 w 3510"/>
                <a:gd name="T5" fmla="*/ 29 h 43"/>
                <a:gd name="T6" fmla="*/ 0 w 3510"/>
                <a:gd name="T7" fmla="*/ 29 h 43"/>
                <a:gd name="T8" fmla="*/ 0 w 3510"/>
                <a:gd name="T9" fmla="*/ 15 h 43"/>
                <a:gd name="T10" fmla="*/ 3468 w 3510"/>
                <a:gd name="T11" fmla="*/ 0 h 43"/>
                <a:gd name="T12" fmla="*/ 3510 w 3510"/>
                <a:gd name="T13" fmla="*/ 22 h 43"/>
                <a:gd name="T14" fmla="*/ 3468 w 3510"/>
                <a:gd name="T15" fmla="*/ 43 h 43"/>
                <a:gd name="T16" fmla="*/ 3468 w 3510"/>
                <a:gd name="T17" fmla="*/ 0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510" h="43">
                  <a:moveTo>
                    <a:pt x="0" y="15"/>
                  </a:moveTo>
                  <a:lnTo>
                    <a:pt x="3475" y="15"/>
                  </a:lnTo>
                  <a:lnTo>
                    <a:pt x="3475" y="29"/>
                  </a:lnTo>
                  <a:lnTo>
                    <a:pt x="0" y="29"/>
                  </a:lnTo>
                  <a:lnTo>
                    <a:pt x="0" y="15"/>
                  </a:lnTo>
                  <a:close/>
                  <a:moveTo>
                    <a:pt x="3468" y="0"/>
                  </a:moveTo>
                  <a:lnTo>
                    <a:pt x="3510" y="22"/>
                  </a:lnTo>
                  <a:lnTo>
                    <a:pt x="3468" y="43"/>
                  </a:lnTo>
                  <a:lnTo>
                    <a:pt x="3468" y="0"/>
                  </a:lnTo>
                  <a:close/>
                </a:path>
              </a:pathLst>
            </a:custGeom>
            <a:solidFill>
              <a:srgbClr val="000000"/>
            </a:solidFill>
            <a:ln w="0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7" name="Rectangle 32">
              <a:extLst>
                <a:ext uri="{FF2B5EF4-FFF2-40B4-BE49-F238E27FC236}">
                  <a16:creationId xmlns:a16="http://schemas.microsoft.com/office/drawing/2014/main" id="{EE27FDB2-8436-4BBE-92C6-B7B6114D96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15" y="1652"/>
              <a:ext cx="276" cy="2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2100" b="1" i="0" u="none" strike="noStrike" cap="none" normalizeH="0" baseline="0">
                  <a:ln>
                    <a:noFill/>
                  </a:ln>
                  <a:solidFill>
                    <a:srgbClr val="3333CC"/>
                  </a:solidFill>
                  <a:effectLst/>
                  <a:latin typeface="Arial" panose="020B0604020202020204" pitchFamily="34" charset="0"/>
                </a:rPr>
                <a:t>lw</a:t>
              </a:r>
              <a:endParaRPr kumimoji="0" lang="zh-CN" altLang="zh-CN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38" name="Rectangle 33">
              <a:extLst>
                <a:ext uri="{FF2B5EF4-FFF2-40B4-BE49-F238E27FC236}">
                  <a16:creationId xmlns:a16="http://schemas.microsoft.com/office/drawing/2014/main" id="{D9B15A2C-4102-44C8-B711-211AA1FB70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38" y="1657"/>
              <a:ext cx="233" cy="2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2100" b="0" i="0" u="none" strike="noStrike" cap="none" normalizeH="0" baseline="0">
                  <a:ln>
                    <a:noFill/>
                  </a:ln>
                  <a:solidFill>
                    <a:srgbClr val="DE2506"/>
                  </a:solidFill>
                  <a:effectLst/>
                  <a:latin typeface="Arial" panose="020B0604020202020204" pitchFamily="34" charset="0"/>
                </a:rPr>
                <a:t>r1</a:t>
              </a:r>
              <a:endParaRPr kumimoji="0" lang="zh-CN" altLang="zh-CN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39" name="Rectangle 34">
              <a:extLst>
                <a:ext uri="{FF2B5EF4-FFF2-40B4-BE49-F238E27FC236}">
                  <a16:creationId xmlns:a16="http://schemas.microsoft.com/office/drawing/2014/main" id="{C4F32399-95EE-4F05-881C-D99E9EE4FCA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91" y="1657"/>
              <a:ext cx="688" cy="2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21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,100(r2)</a:t>
              </a:r>
              <a:endParaRPr kumimoji="0" lang="zh-CN" altLang="zh-CN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40" name="Rectangle 35">
              <a:extLst>
                <a:ext uri="{FF2B5EF4-FFF2-40B4-BE49-F238E27FC236}">
                  <a16:creationId xmlns:a16="http://schemas.microsoft.com/office/drawing/2014/main" id="{7CFEBF93-1C73-4522-A33F-AC04367C99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15" y="2123"/>
              <a:ext cx="614" cy="2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21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sub r4,</a:t>
              </a:r>
              <a:endParaRPr kumimoji="0" lang="zh-CN" altLang="zh-CN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41" name="Rectangle 36">
              <a:extLst>
                <a:ext uri="{FF2B5EF4-FFF2-40B4-BE49-F238E27FC236}">
                  <a16:creationId xmlns:a16="http://schemas.microsoft.com/office/drawing/2014/main" id="{B369E0C2-A8FE-45FE-A7B9-7D194C2CA3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34" y="2123"/>
              <a:ext cx="233" cy="2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2100" b="0" i="0" u="none" strike="noStrike" cap="none" normalizeH="0" baseline="0">
                  <a:ln>
                    <a:noFill/>
                  </a:ln>
                  <a:solidFill>
                    <a:srgbClr val="DE2506"/>
                  </a:solidFill>
                  <a:effectLst/>
                  <a:latin typeface="Arial" panose="020B0604020202020204" pitchFamily="34" charset="0"/>
                </a:rPr>
                <a:t>r1</a:t>
              </a:r>
              <a:endParaRPr kumimoji="0" lang="zh-CN" altLang="zh-CN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42" name="Rectangle 37">
              <a:extLst>
                <a:ext uri="{FF2B5EF4-FFF2-40B4-BE49-F238E27FC236}">
                  <a16:creationId xmlns:a16="http://schemas.microsoft.com/office/drawing/2014/main" id="{F8B4A390-330D-42BA-A7DC-4FDF94254D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88" y="2123"/>
              <a:ext cx="285" cy="2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21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,r5</a:t>
              </a:r>
              <a:endParaRPr kumimoji="0" lang="zh-CN" altLang="zh-CN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43" name="Rectangle 38">
              <a:extLst>
                <a:ext uri="{FF2B5EF4-FFF2-40B4-BE49-F238E27FC236}">
                  <a16:creationId xmlns:a16="http://schemas.microsoft.com/office/drawing/2014/main" id="{5BE78F44-D395-4BE7-9E6C-BD873763AD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15" y="2613"/>
              <a:ext cx="625" cy="2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21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and r6,</a:t>
              </a:r>
              <a:endParaRPr kumimoji="0" lang="zh-CN" altLang="zh-CN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44" name="Rectangle 39">
              <a:extLst>
                <a:ext uri="{FF2B5EF4-FFF2-40B4-BE49-F238E27FC236}">
                  <a16:creationId xmlns:a16="http://schemas.microsoft.com/office/drawing/2014/main" id="{B6B91CD4-8C59-4BCA-BF2D-A06BF34C8A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45" y="2613"/>
              <a:ext cx="233" cy="2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2100" b="0" i="0" u="none" strike="noStrike" cap="none" normalizeH="0" baseline="0">
                  <a:ln>
                    <a:noFill/>
                  </a:ln>
                  <a:solidFill>
                    <a:srgbClr val="009900"/>
                  </a:solidFill>
                  <a:effectLst/>
                  <a:latin typeface="Arial" panose="020B0604020202020204" pitchFamily="34" charset="0"/>
                </a:rPr>
                <a:t>r1</a:t>
              </a:r>
              <a:endParaRPr kumimoji="0" lang="zh-CN" altLang="zh-CN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45" name="Rectangle 40">
              <a:extLst>
                <a:ext uri="{FF2B5EF4-FFF2-40B4-BE49-F238E27FC236}">
                  <a16:creationId xmlns:a16="http://schemas.microsoft.com/office/drawing/2014/main" id="{99587DE4-E07F-4288-BBCB-BAD54C3190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98" y="2613"/>
              <a:ext cx="286" cy="2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21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,r7</a:t>
              </a:r>
              <a:endParaRPr kumimoji="0" lang="zh-CN" altLang="zh-CN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46" name="Rectangle 41">
              <a:extLst>
                <a:ext uri="{FF2B5EF4-FFF2-40B4-BE49-F238E27FC236}">
                  <a16:creationId xmlns:a16="http://schemas.microsoft.com/office/drawing/2014/main" id="{934E8428-760D-46E1-A4C8-05CAEAD2B1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15" y="3565"/>
              <a:ext cx="577" cy="2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21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xor r4,</a:t>
              </a:r>
              <a:endParaRPr kumimoji="0" lang="zh-CN" altLang="zh-CN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47" name="Rectangle 42">
              <a:extLst>
                <a:ext uri="{FF2B5EF4-FFF2-40B4-BE49-F238E27FC236}">
                  <a16:creationId xmlns:a16="http://schemas.microsoft.com/office/drawing/2014/main" id="{87B2CD0F-65B2-4873-BB01-A0144C4B82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97" y="3565"/>
              <a:ext cx="233" cy="2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2100" b="0" i="0" u="none" strike="noStrike" cap="none" normalizeH="0" baseline="0">
                  <a:ln>
                    <a:noFill/>
                  </a:ln>
                  <a:solidFill>
                    <a:srgbClr val="009900"/>
                  </a:solidFill>
                  <a:effectLst/>
                  <a:latin typeface="Arial" panose="020B0604020202020204" pitchFamily="34" charset="0"/>
                </a:rPr>
                <a:t>r1</a:t>
              </a:r>
              <a:endParaRPr kumimoji="0" lang="zh-CN" altLang="zh-CN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48" name="Rectangle 43">
              <a:extLst>
                <a:ext uri="{FF2B5EF4-FFF2-40B4-BE49-F238E27FC236}">
                  <a16:creationId xmlns:a16="http://schemas.microsoft.com/office/drawing/2014/main" id="{7C198B75-786C-4CAB-8653-0BB259B352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51" y="3565"/>
              <a:ext cx="285" cy="2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21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,r5</a:t>
              </a:r>
              <a:endParaRPr kumimoji="0" lang="zh-CN" altLang="zh-CN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49" name="Freeform 44">
              <a:extLst>
                <a:ext uri="{FF2B5EF4-FFF2-40B4-BE49-F238E27FC236}">
                  <a16:creationId xmlns:a16="http://schemas.microsoft.com/office/drawing/2014/main" id="{6BBB286D-8B39-4FCD-A7F6-72B5FDCD903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277" y="1440"/>
              <a:ext cx="14" cy="2489"/>
            </a:xfrm>
            <a:custGeom>
              <a:avLst/>
              <a:gdLst>
                <a:gd name="T0" fmla="*/ 14 w 14"/>
                <a:gd name="T1" fmla="*/ 42 h 2489"/>
                <a:gd name="T2" fmla="*/ 0 w 14"/>
                <a:gd name="T3" fmla="*/ 56 h 2489"/>
                <a:gd name="T4" fmla="*/ 14 w 14"/>
                <a:gd name="T5" fmla="*/ 113 h 2489"/>
                <a:gd name="T6" fmla="*/ 0 w 14"/>
                <a:gd name="T7" fmla="*/ 155 h 2489"/>
                <a:gd name="T8" fmla="*/ 14 w 14"/>
                <a:gd name="T9" fmla="*/ 169 h 2489"/>
                <a:gd name="T10" fmla="*/ 14 w 14"/>
                <a:gd name="T11" fmla="*/ 240 h 2489"/>
                <a:gd name="T12" fmla="*/ 0 w 14"/>
                <a:gd name="T13" fmla="*/ 254 h 2489"/>
                <a:gd name="T14" fmla="*/ 14 w 14"/>
                <a:gd name="T15" fmla="*/ 310 h 2489"/>
                <a:gd name="T16" fmla="*/ 0 w 14"/>
                <a:gd name="T17" fmla="*/ 353 h 2489"/>
                <a:gd name="T18" fmla="*/ 14 w 14"/>
                <a:gd name="T19" fmla="*/ 367 h 2489"/>
                <a:gd name="T20" fmla="*/ 14 w 14"/>
                <a:gd name="T21" fmla="*/ 437 h 2489"/>
                <a:gd name="T22" fmla="*/ 0 w 14"/>
                <a:gd name="T23" fmla="*/ 452 h 2489"/>
                <a:gd name="T24" fmla="*/ 14 w 14"/>
                <a:gd name="T25" fmla="*/ 508 h 2489"/>
                <a:gd name="T26" fmla="*/ 0 w 14"/>
                <a:gd name="T27" fmla="*/ 550 h 2489"/>
                <a:gd name="T28" fmla="*/ 14 w 14"/>
                <a:gd name="T29" fmla="*/ 565 h 2489"/>
                <a:gd name="T30" fmla="*/ 14 w 14"/>
                <a:gd name="T31" fmla="*/ 635 h 2489"/>
                <a:gd name="T32" fmla="*/ 0 w 14"/>
                <a:gd name="T33" fmla="*/ 649 h 2489"/>
                <a:gd name="T34" fmla="*/ 14 w 14"/>
                <a:gd name="T35" fmla="*/ 706 h 2489"/>
                <a:gd name="T36" fmla="*/ 0 w 14"/>
                <a:gd name="T37" fmla="*/ 748 h 2489"/>
                <a:gd name="T38" fmla="*/ 14 w 14"/>
                <a:gd name="T39" fmla="*/ 762 h 2489"/>
                <a:gd name="T40" fmla="*/ 14 w 14"/>
                <a:gd name="T41" fmla="*/ 833 h 2489"/>
                <a:gd name="T42" fmla="*/ 0 w 14"/>
                <a:gd name="T43" fmla="*/ 847 h 2489"/>
                <a:gd name="T44" fmla="*/ 14 w 14"/>
                <a:gd name="T45" fmla="*/ 903 h 2489"/>
                <a:gd name="T46" fmla="*/ 0 w 14"/>
                <a:gd name="T47" fmla="*/ 946 h 2489"/>
                <a:gd name="T48" fmla="*/ 14 w 14"/>
                <a:gd name="T49" fmla="*/ 960 h 2489"/>
                <a:gd name="T50" fmla="*/ 14 w 14"/>
                <a:gd name="T51" fmla="*/ 1031 h 2489"/>
                <a:gd name="T52" fmla="*/ 0 w 14"/>
                <a:gd name="T53" fmla="*/ 1045 h 2489"/>
                <a:gd name="T54" fmla="*/ 14 w 14"/>
                <a:gd name="T55" fmla="*/ 1101 h 2489"/>
                <a:gd name="T56" fmla="*/ 0 w 14"/>
                <a:gd name="T57" fmla="*/ 1143 h 2489"/>
                <a:gd name="T58" fmla="*/ 14 w 14"/>
                <a:gd name="T59" fmla="*/ 1158 h 2489"/>
                <a:gd name="T60" fmla="*/ 14 w 14"/>
                <a:gd name="T61" fmla="*/ 1228 h 2489"/>
                <a:gd name="T62" fmla="*/ 0 w 14"/>
                <a:gd name="T63" fmla="*/ 1242 h 2489"/>
                <a:gd name="T64" fmla="*/ 14 w 14"/>
                <a:gd name="T65" fmla="*/ 1299 h 2489"/>
                <a:gd name="T66" fmla="*/ 0 w 14"/>
                <a:gd name="T67" fmla="*/ 1341 h 2489"/>
                <a:gd name="T68" fmla="*/ 14 w 14"/>
                <a:gd name="T69" fmla="*/ 1355 h 2489"/>
                <a:gd name="T70" fmla="*/ 14 w 14"/>
                <a:gd name="T71" fmla="*/ 1426 h 2489"/>
                <a:gd name="T72" fmla="*/ 0 w 14"/>
                <a:gd name="T73" fmla="*/ 1440 h 2489"/>
                <a:gd name="T74" fmla="*/ 14 w 14"/>
                <a:gd name="T75" fmla="*/ 1497 h 2489"/>
                <a:gd name="T76" fmla="*/ 0 w 14"/>
                <a:gd name="T77" fmla="*/ 1539 h 2489"/>
                <a:gd name="T78" fmla="*/ 14 w 14"/>
                <a:gd name="T79" fmla="*/ 1553 h 2489"/>
                <a:gd name="T80" fmla="*/ 14 w 14"/>
                <a:gd name="T81" fmla="*/ 1624 h 2489"/>
                <a:gd name="T82" fmla="*/ 0 w 14"/>
                <a:gd name="T83" fmla="*/ 1638 h 2489"/>
                <a:gd name="T84" fmla="*/ 14 w 14"/>
                <a:gd name="T85" fmla="*/ 1694 h 2489"/>
                <a:gd name="T86" fmla="*/ 0 w 14"/>
                <a:gd name="T87" fmla="*/ 1737 h 2489"/>
                <a:gd name="T88" fmla="*/ 14 w 14"/>
                <a:gd name="T89" fmla="*/ 1751 h 2489"/>
                <a:gd name="T90" fmla="*/ 14 w 14"/>
                <a:gd name="T91" fmla="*/ 1821 h 2489"/>
                <a:gd name="T92" fmla="*/ 0 w 14"/>
                <a:gd name="T93" fmla="*/ 1836 h 2489"/>
                <a:gd name="T94" fmla="*/ 14 w 14"/>
                <a:gd name="T95" fmla="*/ 1892 h 2489"/>
                <a:gd name="T96" fmla="*/ 0 w 14"/>
                <a:gd name="T97" fmla="*/ 1935 h 2489"/>
                <a:gd name="T98" fmla="*/ 14 w 14"/>
                <a:gd name="T99" fmla="*/ 1948 h 2489"/>
                <a:gd name="T100" fmla="*/ 14 w 14"/>
                <a:gd name="T101" fmla="*/ 2019 h 2489"/>
                <a:gd name="T102" fmla="*/ 0 w 14"/>
                <a:gd name="T103" fmla="*/ 2033 h 2489"/>
                <a:gd name="T104" fmla="*/ 14 w 14"/>
                <a:gd name="T105" fmla="*/ 2090 h 2489"/>
                <a:gd name="T106" fmla="*/ 0 w 14"/>
                <a:gd name="T107" fmla="*/ 2132 h 2489"/>
                <a:gd name="T108" fmla="*/ 14 w 14"/>
                <a:gd name="T109" fmla="*/ 2146 h 2489"/>
                <a:gd name="T110" fmla="*/ 14 w 14"/>
                <a:gd name="T111" fmla="*/ 2217 h 2489"/>
                <a:gd name="T112" fmla="*/ 0 w 14"/>
                <a:gd name="T113" fmla="*/ 2231 h 2489"/>
                <a:gd name="T114" fmla="*/ 14 w 14"/>
                <a:gd name="T115" fmla="*/ 2287 h 2489"/>
                <a:gd name="T116" fmla="*/ 0 w 14"/>
                <a:gd name="T117" fmla="*/ 2330 h 2489"/>
                <a:gd name="T118" fmla="*/ 14 w 14"/>
                <a:gd name="T119" fmla="*/ 2344 h 2489"/>
                <a:gd name="T120" fmla="*/ 14 w 14"/>
                <a:gd name="T121" fmla="*/ 2415 h 2489"/>
                <a:gd name="T122" fmla="*/ 0 w 14"/>
                <a:gd name="T123" fmla="*/ 2429 h 2489"/>
                <a:gd name="T124" fmla="*/ 14 w 14"/>
                <a:gd name="T125" fmla="*/ 2485 h 24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4" h="2489">
                  <a:moveTo>
                    <a:pt x="14" y="0"/>
                  </a:moveTo>
                  <a:lnTo>
                    <a:pt x="14" y="14"/>
                  </a:lnTo>
                  <a:lnTo>
                    <a:pt x="0" y="14"/>
                  </a:lnTo>
                  <a:lnTo>
                    <a:pt x="0" y="0"/>
                  </a:lnTo>
                  <a:lnTo>
                    <a:pt x="14" y="0"/>
                  </a:lnTo>
                  <a:close/>
                  <a:moveTo>
                    <a:pt x="14" y="28"/>
                  </a:moveTo>
                  <a:lnTo>
                    <a:pt x="14" y="42"/>
                  </a:lnTo>
                  <a:lnTo>
                    <a:pt x="0" y="42"/>
                  </a:lnTo>
                  <a:lnTo>
                    <a:pt x="0" y="28"/>
                  </a:lnTo>
                  <a:lnTo>
                    <a:pt x="14" y="28"/>
                  </a:lnTo>
                  <a:close/>
                  <a:moveTo>
                    <a:pt x="14" y="56"/>
                  </a:moveTo>
                  <a:lnTo>
                    <a:pt x="14" y="70"/>
                  </a:lnTo>
                  <a:lnTo>
                    <a:pt x="0" y="70"/>
                  </a:lnTo>
                  <a:lnTo>
                    <a:pt x="0" y="56"/>
                  </a:lnTo>
                  <a:lnTo>
                    <a:pt x="14" y="56"/>
                  </a:lnTo>
                  <a:close/>
                  <a:moveTo>
                    <a:pt x="14" y="84"/>
                  </a:moveTo>
                  <a:lnTo>
                    <a:pt x="14" y="98"/>
                  </a:lnTo>
                  <a:lnTo>
                    <a:pt x="0" y="98"/>
                  </a:lnTo>
                  <a:lnTo>
                    <a:pt x="0" y="84"/>
                  </a:lnTo>
                  <a:lnTo>
                    <a:pt x="14" y="84"/>
                  </a:lnTo>
                  <a:close/>
                  <a:moveTo>
                    <a:pt x="14" y="113"/>
                  </a:moveTo>
                  <a:lnTo>
                    <a:pt x="14" y="127"/>
                  </a:lnTo>
                  <a:lnTo>
                    <a:pt x="0" y="127"/>
                  </a:lnTo>
                  <a:lnTo>
                    <a:pt x="0" y="113"/>
                  </a:lnTo>
                  <a:lnTo>
                    <a:pt x="14" y="113"/>
                  </a:lnTo>
                  <a:close/>
                  <a:moveTo>
                    <a:pt x="14" y="141"/>
                  </a:moveTo>
                  <a:lnTo>
                    <a:pt x="14" y="155"/>
                  </a:lnTo>
                  <a:lnTo>
                    <a:pt x="0" y="155"/>
                  </a:lnTo>
                  <a:lnTo>
                    <a:pt x="0" y="141"/>
                  </a:lnTo>
                  <a:lnTo>
                    <a:pt x="14" y="141"/>
                  </a:lnTo>
                  <a:close/>
                  <a:moveTo>
                    <a:pt x="14" y="169"/>
                  </a:moveTo>
                  <a:lnTo>
                    <a:pt x="14" y="183"/>
                  </a:lnTo>
                  <a:lnTo>
                    <a:pt x="0" y="183"/>
                  </a:lnTo>
                  <a:lnTo>
                    <a:pt x="0" y="169"/>
                  </a:lnTo>
                  <a:lnTo>
                    <a:pt x="14" y="169"/>
                  </a:lnTo>
                  <a:close/>
                  <a:moveTo>
                    <a:pt x="14" y="197"/>
                  </a:moveTo>
                  <a:lnTo>
                    <a:pt x="14" y="211"/>
                  </a:lnTo>
                  <a:lnTo>
                    <a:pt x="0" y="211"/>
                  </a:lnTo>
                  <a:lnTo>
                    <a:pt x="0" y="197"/>
                  </a:lnTo>
                  <a:lnTo>
                    <a:pt x="14" y="197"/>
                  </a:lnTo>
                  <a:close/>
                  <a:moveTo>
                    <a:pt x="14" y="226"/>
                  </a:moveTo>
                  <a:lnTo>
                    <a:pt x="14" y="240"/>
                  </a:lnTo>
                  <a:lnTo>
                    <a:pt x="0" y="240"/>
                  </a:lnTo>
                  <a:lnTo>
                    <a:pt x="0" y="226"/>
                  </a:lnTo>
                  <a:lnTo>
                    <a:pt x="14" y="226"/>
                  </a:lnTo>
                  <a:close/>
                  <a:moveTo>
                    <a:pt x="14" y="254"/>
                  </a:moveTo>
                  <a:lnTo>
                    <a:pt x="14" y="268"/>
                  </a:lnTo>
                  <a:lnTo>
                    <a:pt x="0" y="268"/>
                  </a:lnTo>
                  <a:lnTo>
                    <a:pt x="0" y="254"/>
                  </a:lnTo>
                  <a:lnTo>
                    <a:pt x="14" y="254"/>
                  </a:lnTo>
                  <a:close/>
                  <a:moveTo>
                    <a:pt x="14" y="282"/>
                  </a:moveTo>
                  <a:lnTo>
                    <a:pt x="14" y="296"/>
                  </a:lnTo>
                  <a:lnTo>
                    <a:pt x="0" y="296"/>
                  </a:lnTo>
                  <a:lnTo>
                    <a:pt x="0" y="282"/>
                  </a:lnTo>
                  <a:lnTo>
                    <a:pt x="14" y="282"/>
                  </a:lnTo>
                  <a:close/>
                  <a:moveTo>
                    <a:pt x="14" y="310"/>
                  </a:moveTo>
                  <a:lnTo>
                    <a:pt x="14" y="325"/>
                  </a:lnTo>
                  <a:lnTo>
                    <a:pt x="0" y="325"/>
                  </a:lnTo>
                  <a:lnTo>
                    <a:pt x="0" y="310"/>
                  </a:lnTo>
                  <a:lnTo>
                    <a:pt x="14" y="310"/>
                  </a:lnTo>
                  <a:close/>
                  <a:moveTo>
                    <a:pt x="14" y="338"/>
                  </a:moveTo>
                  <a:lnTo>
                    <a:pt x="14" y="353"/>
                  </a:lnTo>
                  <a:lnTo>
                    <a:pt x="0" y="353"/>
                  </a:lnTo>
                  <a:lnTo>
                    <a:pt x="0" y="338"/>
                  </a:lnTo>
                  <a:lnTo>
                    <a:pt x="14" y="338"/>
                  </a:lnTo>
                  <a:close/>
                  <a:moveTo>
                    <a:pt x="14" y="367"/>
                  </a:moveTo>
                  <a:lnTo>
                    <a:pt x="14" y="381"/>
                  </a:lnTo>
                  <a:lnTo>
                    <a:pt x="0" y="381"/>
                  </a:lnTo>
                  <a:lnTo>
                    <a:pt x="0" y="367"/>
                  </a:lnTo>
                  <a:lnTo>
                    <a:pt x="14" y="367"/>
                  </a:lnTo>
                  <a:close/>
                  <a:moveTo>
                    <a:pt x="14" y="395"/>
                  </a:moveTo>
                  <a:lnTo>
                    <a:pt x="14" y="409"/>
                  </a:lnTo>
                  <a:lnTo>
                    <a:pt x="0" y="409"/>
                  </a:lnTo>
                  <a:lnTo>
                    <a:pt x="0" y="395"/>
                  </a:lnTo>
                  <a:lnTo>
                    <a:pt x="14" y="395"/>
                  </a:lnTo>
                  <a:close/>
                  <a:moveTo>
                    <a:pt x="14" y="423"/>
                  </a:moveTo>
                  <a:lnTo>
                    <a:pt x="14" y="437"/>
                  </a:lnTo>
                  <a:lnTo>
                    <a:pt x="0" y="437"/>
                  </a:lnTo>
                  <a:lnTo>
                    <a:pt x="0" y="423"/>
                  </a:lnTo>
                  <a:lnTo>
                    <a:pt x="14" y="423"/>
                  </a:lnTo>
                  <a:close/>
                  <a:moveTo>
                    <a:pt x="14" y="452"/>
                  </a:moveTo>
                  <a:lnTo>
                    <a:pt x="14" y="466"/>
                  </a:lnTo>
                  <a:lnTo>
                    <a:pt x="0" y="466"/>
                  </a:lnTo>
                  <a:lnTo>
                    <a:pt x="0" y="452"/>
                  </a:lnTo>
                  <a:lnTo>
                    <a:pt x="14" y="452"/>
                  </a:lnTo>
                  <a:close/>
                  <a:moveTo>
                    <a:pt x="14" y="480"/>
                  </a:moveTo>
                  <a:lnTo>
                    <a:pt x="14" y="494"/>
                  </a:lnTo>
                  <a:lnTo>
                    <a:pt x="0" y="494"/>
                  </a:lnTo>
                  <a:lnTo>
                    <a:pt x="0" y="480"/>
                  </a:lnTo>
                  <a:lnTo>
                    <a:pt x="14" y="480"/>
                  </a:lnTo>
                  <a:close/>
                  <a:moveTo>
                    <a:pt x="14" y="508"/>
                  </a:moveTo>
                  <a:lnTo>
                    <a:pt x="14" y="522"/>
                  </a:lnTo>
                  <a:lnTo>
                    <a:pt x="0" y="522"/>
                  </a:lnTo>
                  <a:lnTo>
                    <a:pt x="0" y="508"/>
                  </a:lnTo>
                  <a:lnTo>
                    <a:pt x="14" y="508"/>
                  </a:lnTo>
                  <a:close/>
                  <a:moveTo>
                    <a:pt x="14" y="536"/>
                  </a:moveTo>
                  <a:lnTo>
                    <a:pt x="14" y="550"/>
                  </a:lnTo>
                  <a:lnTo>
                    <a:pt x="0" y="550"/>
                  </a:lnTo>
                  <a:lnTo>
                    <a:pt x="0" y="536"/>
                  </a:lnTo>
                  <a:lnTo>
                    <a:pt x="14" y="536"/>
                  </a:lnTo>
                  <a:close/>
                  <a:moveTo>
                    <a:pt x="14" y="565"/>
                  </a:moveTo>
                  <a:lnTo>
                    <a:pt x="14" y="579"/>
                  </a:lnTo>
                  <a:lnTo>
                    <a:pt x="0" y="579"/>
                  </a:lnTo>
                  <a:lnTo>
                    <a:pt x="0" y="565"/>
                  </a:lnTo>
                  <a:lnTo>
                    <a:pt x="14" y="565"/>
                  </a:lnTo>
                  <a:close/>
                  <a:moveTo>
                    <a:pt x="14" y="593"/>
                  </a:moveTo>
                  <a:lnTo>
                    <a:pt x="14" y="607"/>
                  </a:lnTo>
                  <a:lnTo>
                    <a:pt x="0" y="607"/>
                  </a:lnTo>
                  <a:lnTo>
                    <a:pt x="0" y="593"/>
                  </a:lnTo>
                  <a:lnTo>
                    <a:pt x="14" y="593"/>
                  </a:lnTo>
                  <a:close/>
                  <a:moveTo>
                    <a:pt x="14" y="621"/>
                  </a:moveTo>
                  <a:lnTo>
                    <a:pt x="14" y="635"/>
                  </a:lnTo>
                  <a:lnTo>
                    <a:pt x="0" y="635"/>
                  </a:lnTo>
                  <a:lnTo>
                    <a:pt x="0" y="621"/>
                  </a:lnTo>
                  <a:lnTo>
                    <a:pt x="14" y="621"/>
                  </a:lnTo>
                  <a:close/>
                  <a:moveTo>
                    <a:pt x="14" y="649"/>
                  </a:moveTo>
                  <a:lnTo>
                    <a:pt x="14" y="664"/>
                  </a:lnTo>
                  <a:lnTo>
                    <a:pt x="0" y="664"/>
                  </a:lnTo>
                  <a:lnTo>
                    <a:pt x="0" y="649"/>
                  </a:lnTo>
                  <a:lnTo>
                    <a:pt x="14" y="649"/>
                  </a:lnTo>
                  <a:close/>
                  <a:moveTo>
                    <a:pt x="14" y="677"/>
                  </a:moveTo>
                  <a:lnTo>
                    <a:pt x="14" y="692"/>
                  </a:lnTo>
                  <a:lnTo>
                    <a:pt x="0" y="692"/>
                  </a:lnTo>
                  <a:lnTo>
                    <a:pt x="0" y="677"/>
                  </a:lnTo>
                  <a:lnTo>
                    <a:pt x="14" y="677"/>
                  </a:lnTo>
                  <a:close/>
                  <a:moveTo>
                    <a:pt x="14" y="706"/>
                  </a:moveTo>
                  <a:lnTo>
                    <a:pt x="14" y="720"/>
                  </a:lnTo>
                  <a:lnTo>
                    <a:pt x="0" y="720"/>
                  </a:lnTo>
                  <a:lnTo>
                    <a:pt x="0" y="706"/>
                  </a:lnTo>
                  <a:lnTo>
                    <a:pt x="14" y="706"/>
                  </a:lnTo>
                  <a:close/>
                  <a:moveTo>
                    <a:pt x="14" y="734"/>
                  </a:moveTo>
                  <a:lnTo>
                    <a:pt x="14" y="748"/>
                  </a:lnTo>
                  <a:lnTo>
                    <a:pt x="0" y="748"/>
                  </a:lnTo>
                  <a:lnTo>
                    <a:pt x="0" y="734"/>
                  </a:lnTo>
                  <a:lnTo>
                    <a:pt x="14" y="734"/>
                  </a:lnTo>
                  <a:close/>
                  <a:moveTo>
                    <a:pt x="14" y="762"/>
                  </a:moveTo>
                  <a:lnTo>
                    <a:pt x="14" y="776"/>
                  </a:lnTo>
                  <a:lnTo>
                    <a:pt x="0" y="776"/>
                  </a:lnTo>
                  <a:lnTo>
                    <a:pt x="0" y="762"/>
                  </a:lnTo>
                  <a:lnTo>
                    <a:pt x="14" y="762"/>
                  </a:lnTo>
                  <a:close/>
                  <a:moveTo>
                    <a:pt x="14" y="791"/>
                  </a:moveTo>
                  <a:lnTo>
                    <a:pt x="14" y="805"/>
                  </a:lnTo>
                  <a:lnTo>
                    <a:pt x="0" y="805"/>
                  </a:lnTo>
                  <a:lnTo>
                    <a:pt x="0" y="791"/>
                  </a:lnTo>
                  <a:lnTo>
                    <a:pt x="14" y="791"/>
                  </a:lnTo>
                  <a:close/>
                  <a:moveTo>
                    <a:pt x="14" y="819"/>
                  </a:moveTo>
                  <a:lnTo>
                    <a:pt x="14" y="833"/>
                  </a:lnTo>
                  <a:lnTo>
                    <a:pt x="0" y="833"/>
                  </a:lnTo>
                  <a:lnTo>
                    <a:pt x="0" y="819"/>
                  </a:lnTo>
                  <a:lnTo>
                    <a:pt x="14" y="819"/>
                  </a:lnTo>
                  <a:close/>
                  <a:moveTo>
                    <a:pt x="14" y="847"/>
                  </a:moveTo>
                  <a:lnTo>
                    <a:pt x="14" y="861"/>
                  </a:lnTo>
                  <a:lnTo>
                    <a:pt x="0" y="861"/>
                  </a:lnTo>
                  <a:lnTo>
                    <a:pt x="0" y="847"/>
                  </a:lnTo>
                  <a:lnTo>
                    <a:pt x="14" y="847"/>
                  </a:lnTo>
                  <a:close/>
                  <a:moveTo>
                    <a:pt x="14" y="875"/>
                  </a:moveTo>
                  <a:lnTo>
                    <a:pt x="14" y="889"/>
                  </a:lnTo>
                  <a:lnTo>
                    <a:pt x="0" y="889"/>
                  </a:lnTo>
                  <a:lnTo>
                    <a:pt x="0" y="875"/>
                  </a:lnTo>
                  <a:lnTo>
                    <a:pt x="14" y="875"/>
                  </a:lnTo>
                  <a:close/>
                  <a:moveTo>
                    <a:pt x="14" y="903"/>
                  </a:moveTo>
                  <a:lnTo>
                    <a:pt x="14" y="918"/>
                  </a:lnTo>
                  <a:lnTo>
                    <a:pt x="0" y="918"/>
                  </a:lnTo>
                  <a:lnTo>
                    <a:pt x="0" y="903"/>
                  </a:lnTo>
                  <a:lnTo>
                    <a:pt x="14" y="903"/>
                  </a:lnTo>
                  <a:close/>
                  <a:moveTo>
                    <a:pt x="14" y="932"/>
                  </a:moveTo>
                  <a:lnTo>
                    <a:pt x="14" y="946"/>
                  </a:lnTo>
                  <a:lnTo>
                    <a:pt x="0" y="946"/>
                  </a:lnTo>
                  <a:lnTo>
                    <a:pt x="0" y="932"/>
                  </a:lnTo>
                  <a:lnTo>
                    <a:pt x="14" y="932"/>
                  </a:lnTo>
                  <a:close/>
                  <a:moveTo>
                    <a:pt x="14" y="960"/>
                  </a:moveTo>
                  <a:lnTo>
                    <a:pt x="14" y="974"/>
                  </a:lnTo>
                  <a:lnTo>
                    <a:pt x="0" y="974"/>
                  </a:lnTo>
                  <a:lnTo>
                    <a:pt x="0" y="960"/>
                  </a:lnTo>
                  <a:lnTo>
                    <a:pt x="14" y="960"/>
                  </a:lnTo>
                  <a:close/>
                  <a:moveTo>
                    <a:pt x="14" y="988"/>
                  </a:moveTo>
                  <a:lnTo>
                    <a:pt x="14" y="1002"/>
                  </a:lnTo>
                  <a:lnTo>
                    <a:pt x="0" y="1002"/>
                  </a:lnTo>
                  <a:lnTo>
                    <a:pt x="0" y="988"/>
                  </a:lnTo>
                  <a:lnTo>
                    <a:pt x="14" y="988"/>
                  </a:lnTo>
                  <a:close/>
                  <a:moveTo>
                    <a:pt x="14" y="1016"/>
                  </a:moveTo>
                  <a:lnTo>
                    <a:pt x="14" y="1031"/>
                  </a:lnTo>
                  <a:lnTo>
                    <a:pt x="0" y="1031"/>
                  </a:lnTo>
                  <a:lnTo>
                    <a:pt x="0" y="1016"/>
                  </a:lnTo>
                  <a:lnTo>
                    <a:pt x="14" y="1016"/>
                  </a:lnTo>
                  <a:close/>
                  <a:moveTo>
                    <a:pt x="14" y="1045"/>
                  </a:moveTo>
                  <a:lnTo>
                    <a:pt x="14" y="1059"/>
                  </a:lnTo>
                  <a:lnTo>
                    <a:pt x="0" y="1059"/>
                  </a:lnTo>
                  <a:lnTo>
                    <a:pt x="0" y="1045"/>
                  </a:lnTo>
                  <a:lnTo>
                    <a:pt x="14" y="1045"/>
                  </a:lnTo>
                  <a:close/>
                  <a:moveTo>
                    <a:pt x="14" y="1073"/>
                  </a:moveTo>
                  <a:lnTo>
                    <a:pt x="14" y="1087"/>
                  </a:lnTo>
                  <a:lnTo>
                    <a:pt x="0" y="1087"/>
                  </a:lnTo>
                  <a:lnTo>
                    <a:pt x="0" y="1073"/>
                  </a:lnTo>
                  <a:lnTo>
                    <a:pt x="14" y="1073"/>
                  </a:lnTo>
                  <a:close/>
                  <a:moveTo>
                    <a:pt x="14" y="1101"/>
                  </a:moveTo>
                  <a:lnTo>
                    <a:pt x="14" y="1115"/>
                  </a:lnTo>
                  <a:lnTo>
                    <a:pt x="0" y="1115"/>
                  </a:lnTo>
                  <a:lnTo>
                    <a:pt x="0" y="1101"/>
                  </a:lnTo>
                  <a:lnTo>
                    <a:pt x="14" y="1101"/>
                  </a:lnTo>
                  <a:close/>
                  <a:moveTo>
                    <a:pt x="14" y="1130"/>
                  </a:moveTo>
                  <a:lnTo>
                    <a:pt x="14" y="1143"/>
                  </a:lnTo>
                  <a:lnTo>
                    <a:pt x="0" y="1143"/>
                  </a:lnTo>
                  <a:lnTo>
                    <a:pt x="0" y="1130"/>
                  </a:lnTo>
                  <a:lnTo>
                    <a:pt x="14" y="1130"/>
                  </a:lnTo>
                  <a:close/>
                  <a:moveTo>
                    <a:pt x="14" y="1158"/>
                  </a:moveTo>
                  <a:lnTo>
                    <a:pt x="14" y="1172"/>
                  </a:lnTo>
                  <a:lnTo>
                    <a:pt x="0" y="1172"/>
                  </a:lnTo>
                  <a:lnTo>
                    <a:pt x="0" y="1158"/>
                  </a:lnTo>
                  <a:lnTo>
                    <a:pt x="14" y="1158"/>
                  </a:lnTo>
                  <a:close/>
                  <a:moveTo>
                    <a:pt x="14" y="1186"/>
                  </a:moveTo>
                  <a:lnTo>
                    <a:pt x="14" y="1200"/>
                  </a:lnTo>
                  <a:lnTo>
                    <a:pt x="0" y="1200"/>
                  </a:lnTo>
                  <a:lnTo>
                    <a:pt x="0" y="1186"/>
                  </a:lnTo>
                  <a:lnTo>
                    <a:pt x="14" y="1186"/>
                  </a:lnTo>
                  <a:close/>
                  <a:moveTo>
                    <a:pt x="14" y="1214"/>
                  </a:moveTo>
                  <a:lnTo>
                    <a:pt x="14" y="1228"/>
                  </a:lnTo>
                  <a:lnTo>
                    <a:pt x="0" y="1228"/>
                  </a:lnTo>
                  <a:lnTo>
                    <a:pt x="0" y="1214"/>
                  </a:lnTo>
                  <a:lnTo>
                    <a:pt x="14" y="1214"/>
                  </a:lnTo>
                  <a:close/>
                  <a:moveTo>
                    <a:pt x="14" y="1242"/>
                  </a:moveTo>
                  <a:lnTo>
                    <a:pt x="14" y="1257"/>
                  </a:lnTo>
                  <a:lnTo>
                    <a:pt x="0" y="1257"/>
                  </a:lnTo>
                  <a:lnTo>
                    <a:pt x="0" y="1242"/>
                  </a:lnTo>
                  <a:lnTo>
                    <a:pt x="14" y="1242"/>
                  </a:lnTo>
                  <a:close/>
                  <a:moveTo>
                    <a:pt x="14" y="1271"/>
                  </a:moveTo>
                  <a:lnTo>
                    <a:pt x="14" y="1285"/>
                  </a:lnTo>
                  <a:lnTo>
                    <a:pt x="0" y="1285"/>
                  </a:lnTo>
                  <a:lnTo>
                    <a:pt x="0" y="1271"/>
                  </a:lnTo>
                  <a:lnTo>
                    <a:pt x="14" y="1271"/>
                  </a:lnTo>
                  <a:close/>
                  <a:moveTo>
                    <a:pt x="14" y="1299"/>
                  </a:moveTo>
                  <a:lnTo>
                    <a:pt x="14" y="1313"/>
                  </a:lnTo>
                  <a:lnTo>
                    <a:pt x="0" y="1313"/>
                  </a:lnTo>
                  <a:lnTo>
                    <a:pt x="0" y="1299"/>
                  </a:lnTo>
                  <a:lnTo>
                    <a:pt x="14" y="1299"/>
                  </a:lnTo>
                  <a:close/>
                  <a:moveTo>
                    <a:pt x="14" y="1327"/>
                  </a:moveTo>
                  <a:lnTo>
                    <a:pt x="14" y="1341"/>
                  </a:lnTo>
                  <a:lnTo>
                    <a:pt x="0" y="1341"/>
                  </a:lnTo>
                  <a:lnTo>
                    <a:pt x="0" y="1327"/>
                  </a:lnTo>
                  <a:lnTo>
                    <a:pt x="14" y="1327"/>
                  </a:lnTo>
                  <a:close/>
                  <a:moveTo>
                    <a:pt x="14" y="1355"/>
                  </a:moveTo>
                  <a:lnTo>
                    <a:pt x="14" y="1370"/>
                  </a:lnTo>
                  <a:lnTo>
                    <a:pt x="0" y="1370"/>
                  </a:lnTo>
                  <a:lnTo>
                    <a:pt x="0" y="1355"/>
                  </a:lnTo>
                  <a:lnTo>
                    <a:pt x="14" y="1355"/>
                  </a:lnTo>
                  <a:close/>
                  <a:moveTo>
                    <a:pt x="14" y="1384"/>
                  </a:moveTo>
                  <a:lnTo>
                    <a:pt x="14" y="1398"/>
                  </a:lnTo>
                  <a:lnTo>
                    <a:pt x="0" y="1398"/>
                  </a:lnTo>
                  <a:lnTo>
                    <a:pt x="0" y="1384"/>
                  </a:lnTo>
                  <a:lnTo>
                    <a:pt x="14" y="1384"/>
                  </a:lnTo>
                  <a:close/>
                  <a:moveTo>
                    <a:pt x="14" y="1412"/>
                  </a:moveTo>
                  <a:lnTo>
                    <a:pt x="14" y="1426"/>
                  </a:lnTo>
                  <a:lnTo>
                    <a:pt x="0" y="1426"/>
                  </a:lnTo>
                  <a:lnTo>
                    <a:pt x="0" y="1412"/>
                  </a:lnTo>
                  <a:lnTo>
                    <a:pt x="14" y="1412"/>
                  </a:lnTo>
                  <a:close/>
                  <a:moveTo>
                    <a:pt x="14" y="1440"/>
                  </a:moveTo>
                  <a:lnTo>
                    <a:pt x="14" y="1454"/>
                  </a:lnTo>
                  <a:lnTo>
                    <a:pt x="0" y="1454"/>
                  </a:lnTo>
                  <a:lnTo>
                    <a:pt x="0" y="1440"/>
                  </a:lnTo>
                  <a:lnTo>
                    <a:pt x="14" y="1440"/>
                  </a:lnTo>
                  <a:close/>
                  <a:moveTo>
                    <a:pt x="14" y="1469"/>
                  </a:moveTo>
                  <a:lnTo>
                    <a:pt x="14" y="1482"/>
                  </a:lnTo>
                  <a:lnTo>
                    <a:pt x="0" y="1482"/>
                  </a:lnTo>
                  <a:lnTo>
                    <a:pt x="0" y="1469"/>
                  </a:lnTo>
                  <a:lnTo>
                    <a:pt x="14" y="1469"/>
                  </a:lnTo>
                  <a:close/>
                  <a:moveTo>
                    <a:pt x="14" y="1497"/>
                  </a:moveTo>
                  <a:lnTo>
                    <a:pt x="14" y="1511"/>
                  </a:lnTo>
                  <a:lnTo>
                    <a:pt x="0" y="1511"/>
                  </a:lnTo>
                  <a:lnTo>
                    <a:pt x="0" y="1497"/>
                  </a:lnTo>
                  <a:lnTo>
                    <a:pt x="14" y="1497"/>
                  </a:lnTo>
                  <a:close/>
                  <a:moveTo>
                    <a:pt x="14" y="1525"/>
                  </a:moveTo>
                  <a:lnTo>
                    <a:pt x="14" y="1539"/>
                  </a:lnTo>
                  <a:lnTo>
                    <a:pt x="0" y="1539"/>
                  </a:lnTo>
                  <a:lnTo>
                    <a:pt x="0" y="1525"/>
                  </a:lnTo>
                  <a:lnTo>
                    <a:pt x="14" y="1525"/>
                  </a:lnTo>
                  <a:close/>
                  <a:moveTo>
                    <a:pt x="14" y="1553"/>
                  </a:moveTo>
                  <a:lnTo>
                    <a:pt x="14" y="1567"/>
                  </a:lnTo>
                  <a:lnTo>
                    <a:pt x="0" y="1567"/>
                  </a:lnTo>
                  <a:lnTo>
                    <a:pt x="0" y="1553"/>
                  </a:lnTo>
                  <a:lnTo>
                    <a:pt x="14" y="1553"/>
                  </a:lnTo>
                  <a:close/>
                  <a:moveTo>
                    <a:pt x="14" y="1581"/>
                  </a:moveTo>
                  <a:lnTo>
                    <a:pt x="14" y="1596"/>
                  </a:lnTo>
                  <a:lnTo>
                    <a:pt x="0" y="1596"/>
                  </a:lnTo>
                  <a:lnTo>
                    <a:pt x="0" y="1581"/>
                  </a:lnTo>
                  <a:lnTo>
                    <a:pt x="14" y="1581"/>
                  </a:lnTo>
                  <a:close/>
                  <a:moveTo>
                    <a:pt x="14" y="1610"/>
                  </a:moveTo>
                  <a:lnTo>
                    <a:pt x="14" y="1624"/>
                  </a:lnTo>
                  <a:lnTo>
                    <a:pt x="0" y="1624"/>
                  </a:lnTo>
                  <a:lnTo>
                    <a:pt x="0" y="1610"/>
                  </a:lnTo>
                  <a:lnTo>
                    <a:pt x="14" y="1610"/>
                  </a:lnTo>
                  <a:close/>
                  <a:moveTo>
                    <a:pt x="14" y="1638"/>
                  </a:moveTo>
                  <a:lnTo>
                    <a:pt x="14" y="1652"/>
                  </a:lnTo>
                  <a:lnTo>
                    <a:pt x="0" y="1652"/>
                  </a:lnTo>
                  <a:lnTo>
                    <a:pt x="0" y="1638"/>
                  </a:lnTo>
                  <a:lnTo>
                    <a:pt x="14" y="1638"/>
                  </a:lnTo>
                  <a:close/>
                  <a:moveTo>
                    <a:pt x="14" y="1666"/>
                  </a:moveTo>
                  <a:lnTo>
                    <a:pt x="14" y="1680"/>
                  </a:lnTo>
                  <a:lnTo>
                    <a:pt x="0" y="1680"/>
                  </a:lnTo>
                  <a:lnTo>
                    <a:pt x="0" y="1666"/>
                  </a:lnTo>
                  <a:lnTo>
                    <a:pt x="14" y="1666"/>
                  </a:lnTo>
                  <a:close/>
                  <a:moveTo>
                    <a:pt x="14" y="1694"/>
                  </a:moveTo>
                  <a:lnTo>
                    <a:pt x="14" y="1708"/>
                  </a:lnTo>
                  <a:lnTo>
                    <a:pt x="0" y="1708"/>
                  </a:lnTo>
                  <a:lnTo>
                    <a:pt x="0" y="1694"/>
                  </a:lnTo>
                  <a:lnTo>
                    <a:pt x="14" y="1694"/>
                  </a:lnTo>
                  <a:close/>
                  <a:moveTo>
                    <a:pt x="14" y="1723"/>
                  </a:moveTo>
                  <a:lnTo>
                    <a:pt x="14" y="1737"/>
                  </a:lnTo>
                  <a:lnTo>
                    <a:pt x="0" y="1737"/>
                  </a:lnTo>
                  <a:lnTo>
                    <a:pt x="0" y="1723"/>
                  </a:lnTo>
                  <a:lnTo>
                    <a:pt x="14" y="1723"/>
                  </a:lnTo>
                  <a:close/>
                  <a:moveTo>
                    <a:pt x="14" y="1751"/>
                  </a:moveTo>
                  <a:lnTo>
                    <a:pt x="14" y="1765"/>
                  </a:lnTo>
                  <a:lnTo>
                    <a:pt x="0" y="1765"/>
                  </a:lnTo>
                  <a:lnTo>
                    <a:pt x="0" y="1751"/>
                  </a:lnTo>
                  <a:lnTo>
                    <a:pt x="14" y="1751"/>
                  </a:lnTo>
                  <a:close/>
                  <a:moveTo>
                    <a:pt x="14" y="1779"/>
                  </a:moveTo>
                  <a:lnTo>
                    <a:pt x="14" y="1793"/>
                  </a:lnTo>
                  <a:lnTo>
                    <a:pt x="0" y="1793"/>
                  </a:lnTo>
                  <a:lnTo>
                    <a:pt x="0" y="1779"/>
                  </a:lnTo>
                  <a:lnTo>
                    <a:pt x="14" y="1779"/>
                  </a:lnTo>
                  <a:close/>
                  <a:moveTo>
                    <a:pt x="14" y="1807"/>
                  </a:moveTo>
                  <a:lnTo>
                    <a:pt x="14" y="1821"/>
                  </a:lnTo>
                  <a:lnTo>
                    <a:pt x="0" y="1821"/>
                  </a:lnTo>
                  <a:lnTo>
                    <a:pt x="0" y="1807"/>
                  </a:lnTo>
                  <a:lnTo>
                    <a:pt x="14" y="1807"/>
                  </a:lnTo>
                  <a:close/>
                  <a:moveTo>
                    <a:pt x="14" y="1836"/>
                  </a:moveTo>
                  <a:lnTo>
                    <a:pt x="14" y="1850"/>
                  </a:lnTo>
                  <a:lnTo>
                    <a:pt x="0" y="1850"/>
                  </a:lnTo>
                  <a:lnTo>
                    <a:pt x="0" y="1836"/>
                  </a:lnTo>
                  <a:lnTo>
                    <a:pt x="14" y="1836"/>
                  </a:lnTo>
                  <a:close/>
                  <a:moveTo>
                    <a:pt x="14" y="1864"/>
                  </a:moveTo>
                  <a:lnTo>
                    <a:pt x="14" y="1878"/>
                  </a:lnTo>
                  <a:lnTo>
                    <a:pt x="0" y="1878"/>
                  </a:lnTo>
                  <a:lnTo>
                    <a:pt x="0" y="1864"/>
                  </a:lnTo>
                  <a:lnTo>
                    <a:pt x="14" y="1864"/>
                  </a:lnTo>
                  <a:close/>
                  <a:moveTo>
                    <a:pt x="14" y="1892"/>
                  </a:moveTo>
                  <a:lnTo>
                    <a:pt x="14" y="1906"/>
                  </a:lnTo>
                  <a:lnTo>
                    <a:pt x="0" y="1906"/>
                  </a:lnTo>
                  <a:lnTo>
                    <a:pt x="0" y="1892"/>
                  </a:lnTo>
                  <a:lnTo>
                    <a:pt x="14" y="1892"/>
                  </a:lnTo>
                  <a:close/>
                  <a:moveTo>
                    <a:pt x="14" y="1920"/>
                  </a:moveTo>
                  <a:lnTo>
                    <a:pt x="14" y="1935"/>
                  </a:lnTo>
                  <a:lnTo>
                    <a:pt x="0" y="1935"/>
                  </a:lnTo>
                  <a:lnTo>
                    <a:pt x="0" y="1920"/>
                  </a:lnTo>
                  <a:lnTo>
                    <a:pt x="14" y="1920"/>
                  </a:lnTo>
                  <a:close/>
                  <a:moveTo>
                    <a:pt x="14" y="1948"/>
                  </a:moveTo>
                  <a:lnTo>
                    <a:pt x="14" y="1963"/>
                  </a:lnTo>
                  <a:lnTo>
                    <a:pt x="0" y="1963"/>
                  </a:lnTo>
                  <a:lnTo>
                    <a:pt x="0" y="1948"/>
                  </a:lnTo>
                  <a:lnTo>
                    <a:pt x="14" y="1948"/>
                  </a:lnTo>
                  <a:close/>
                  <a:moveTo>
                    <a:pt x="14" y="1977"/>
                  </a:moveTo>
                  <a:lnTo>
                    <a:pt x="14" y="1991"/>
                  </a:lnTo>
                  <a:lnTo>
                    <a:pt x="0" y="1991"/>
                  </a:lnTo>
                  <a:lnTo>
                    <a:pt x="0" y="1977"/>
                  </a:lnTo>
                  <a:lnTo>
                    <a:pt x="14" y="1977"/>
                  </a:lnTo>
                  <a:close/>
                  <a:moveTo>
                    <a:pt x="14" y="2005"/>
                  </a:moveTo>
                  <a:lnTo>
                    <a:pt x="14" y="2019"/>
                  </a:lnTo>
                  <a:lnTo>
                    <a:pt x="0" y="2019"/>
                  </a:lnTo>
                  <a:lnTo>
                    <a:pt x="0" y="2005"/>
                  </a:lnTo>
                  <a:lnTo>
                    <a:pt x="14" y="2005"/>
                  </a:lnTo>
                  <a:close/>
                  <a:moveTo>
                    <a:pt x="14" y="2033"/>
                  </a:moveTo>
                  <a:lnTo>
                    <a:pt x="14" y="2047"/>
                  </a:lnTo>
                  <a:lnTo>
                    <a:pt x="0" y="2047"/>
                  </a:lnTo>
                  <a:lnTo>
                    <a:pt x="0" y="2033"/>
                  </a:lnTo>
                  <a:lnTo>
                    <a:pt x="14" y="2033"/>
                  </a:lnTo>
                  <a:close/>
                  <a:moveTo>
                    <a:pt x="14" y="2062"/>
                  </a:moveTo>
                  <a:lnTo>
                    <a:pt x="14" y="2076"/>
                  </a:lnTo>
                  <a:lnTo>
                    <a:pt x="0" y="2076"/>
                  </a:lnTo>
                  <a:lnTo>
                    <a:pt x="0" y="2062"/>
                  </a:lnTo>
                  <a:lnTo>
                    <a:pt x="14" y="2062"/>
                  </a:lnTo>
                  <a:close/>
                  <a:moveTo>
                    <a:pt x="14" y="2090"/>
                  </a:moveTo>
                  <a:lnTo>
                    <a:pt x="14" y="2104"/>
                  </a:lnTo>
                  <a:lnTo>
                    <a:pt x="0" y="2104"/>
                  </a:lnTo>
                  <a:lnTo>
                    <a:pt x="0" y="2090"/>
                  </a:lnTo>
                  <a:lnTo>
                    <a:pt x="14" y="2090"/>
                  </a:lnTo>
                  <a:close/>
                  <a:moveTo>
                    <a:pt x="14" y="2118"/>
                  </a:moveTo>
                  <a:lnTo>
                    <a:pt x="14" y="2132"/>
                  </a:lnTo>
                  <a:lnTo>
                    <a:pt x="0" y="2132"/>
                  </a:lnTo>
                  <a:lnTo>
                    <a:pt x="0" y="2118"/>
                  </a:lnTo>
                  <a:lnTo>
                    <a:pt x="14" y="2118"/>
                  </a:lnTo>
                  <a:close/>
                  <a:moveTo>
                    <a:pt x="14" y="2146"/>
                  </a:moveTo>
                  <a:lnTo>
                    <a:pt x="14" y="2160"/>
                  </a:lnTo>
                  <a:lnTo>
                    <a:pt x="0" y="2160"/>
                  </a:lnTo>
                  <a:lnTo>
                    <a:pt x="0" y="2146"/>
                  </a:lnTo>
                  <a:lnTo>
                    <a:pt x="14" y="2146"/>
                  </a:lnTo>
                  <a:close/>
                  <a:moveTo>
                    <a:pt x="14" y="2175"/>
                  </a:moveTo>
                  <a:lnTo>
                    <a:pt x="14" y="2189"/>
                  </a:lnTo>
                  <a:lnTo>
                    <a:pt x="0" y="2189"/>
                  </a:lnTo>
                  <a:lnTo>
                    <a:pt x="0" y="2175"/>
                  </a:lnTo>
                  <a:lnTo>
                    <a:pt x="14" y="2175"/>
                  </a:lnTo>
                  <a:close/>
                  <a:moveTo>
                    <a:pt x="14" y="2203"/>
                  </a:moveTo>
                  <a:lnTo>
                    <a:pt x="14" y="2217"/>
                  </a:lnTo>
                  <a:lnTo>
                    <a:pt x="0" y="2217"/>
                  </a:lnTo>
                  <a:lnTo>
                    <a:pt x="0" y="2203"/>
                  </a:lnTo>
                  <a:lnTo>
                    <a:pt x="14" y="2203"/>
                  </a:lnTo>
                  <a:close/>
                  <a:moveTo>
                    <a:pt x="14" y="2231"/>
                  </a:moveTo>
                  <a:lnTo>
                    <a:pt x="14" y="2245"/>
                  </a:lnTo>
                  <a:lnTo>
                    <a:pt x="0" y="2245"/>
                  </a:lnTo>
                  <a:lnTo>
                    <a:pt x="0" y="2231"/>
                  </a:lnTo>
                  <a:lnTo>
                    <a:pt x="14" y="2231"/>
                  </a:lnTo>
                  <a:close/>
                  <a:moveTo>
                    <a:pt x="14" y="2259"/>
                  </a:moveTo>
                  <a:lnTo>
                    <a:pt x="14" y="2274"/>
                  </a:lnTo>
                  <a:lnTo>
                    <a:pt x="0" y="2274"/>
                  </a:lnTo>
                  <a:lnTo>
                    <a:pt x="0" y="2259"/>
                  </a:lnTo>
                  <a:lnTo>
                    <a:pt x="14" y="2259"/>
                  </a:lnTo>
                  <a:close/>
                  <a:moveTo>
                    <a:pt x="14" y="2287"/>
                  </a:moveTo>
                  <a:lnTo>
                    <a:pt x="14" y="2302"/>
                  </a:lnTo>
                  <a:lnTo>
                    <a:pt x="0" y="2302"/>
                  </a:lnTo>
                  <a:lnTo>
                    <a:pt x="0" y="2287"/>
                  </a:lnTo>
                  <a:lnTo>
                    <a:pt x="14" y="2287"/>
                  </a:lnTo>
                  <a:close/>
                  <a:moveTo>
                    <a:pt x="14" y="2316"/>
                  </a:moveTo>
                  <a:lnTo>
                    <a:pt x="14" y="2330"/>
                  </a:lnTo>
                  <a:lnTo>
                    <a:pt x="0" y="2330"/>
                  </a:lnTo>
                  <a:lnTo>
                    <a:pt x="0" y="2316"/>
                  </a:lnTo>
                  <a:lnTo>
                    <a:pt x="14" y="2316"/>
                  </a:lnTo>
                  <a:close/>
                  <a:moveTo>
                    <a:pt x="14" y="2344"/>
                  </a:moveTo>
                  <a:lnTo>
                    <a:pt x="14" y="2358"/>
                  </a:lnTo>
                  <a:lnTo>
                    <a:pt x="0" y="2358"/>
                  </a:lnTo>
                  <a:lnTo>
                    <a:pt x="0" y="2344"/>
                  </a:lnTo>
                  <a:lnTo>
                    <a:pt x="14" y="2344"/>
                  </a:lnTo>
                  <a:close/>
                  <a:moveTo>
                    <a:pt x="14" y="2372"/>
                  </a:moveTo>
                  <a:lnTo>
                    <a:pt x="14" y="2386"/>
                  </a:lnTo>
                  <a:lnTo>
                    <a:pt x="0" y="2386"/>
                  </a:lnTo>
                  <a:lnTo>
                    <a:pt x="0" y="2372"/>
                  </a:lnTo>
                  <a:lnTo>
                    <a:pt x="14" y="2372"/>
                  </a:lnTo>
                  <a:close/>
                  <a:moveTo>
                    <a:pt x="14" y="2401"/>
                  </a:moveTo>
                  <a:lnTo>
                    <a:pt x="14" y="2415"/>
                  </a:lnTo>
                  <a:lnTo>
                    <a:pt x="0" y="2415"/>
                  </a:lnTo>
                  <a:lnTo>
                    <a:pt x="0" y="2401"/>
                  </a:lnTo>
                  <a:lnTo>
                    <a:pt x="14" y="2401"/>
                  </a:lnTo>
                  <a:close/>
                  <a:moveTo>
                    <a:pt x="14" y="2429"/>
                  </a:moveTo>
                  <a:lnTo>
                    <a:pt x="14" y="2443"/>
                  </a:lnTo>
                  <a:lnTo>
                    <a:pt x="0" y="2443"/>
                  </a:lnTo>
                  <a:lnTo>
                    <a:pt x="0" y="2429"/>
                  </a:lnTo>
                  <a:lnTo>
                    <a:pt x="14" y="2429"/>
                  </a:lnTo>
                  <a:close/>
                  <a:moveTo>
                    <a:pt x="14" y="2457"/>
                  </a:moveTo>
                  <a:lnTo>
                    <a:pt x="14" y="2471"/>
                  </a:lnTo>
                  <a:lnTo>
                    <a:pt x="0" y="2471"/>
                  </a:lnTo>
                  <a:lnTo>
                    <a:pt x="0" y="2457"/>
                  </a:lnTo>
                  <a:lnTo>
                    <a:pt x="14" y="2457"/>
                  </a:lnTo>
                  <a:close/>
                  <a:moveTo>
                    <a:pt x="14" y="2485"/>
                  </a:moveTo>
                  <a:lnTo>
                    <a:pt x="14" y="2489"/>
                  </a:lnTo>
                  <a:lnTo>
                    <a:pt x="0" y="2489"/>
                  </a:lnTo>
                  <a:lnTo>
                    <a:pt x="0" y="2485"/>
                  </a:lnTo>
                  <a:lnTo>
                    <a:pt x="14" y="2485"/>
                  </a:lnTo>
                  <a:close/>
                </a:path>
              </a:pathLst>
            </a:custGeom>
            <a:solidFill>
              <a:srgbClr val="000000"/>
            </a:solidFill>
            <a:ln w="0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0" name="Freeform 45">
              <a:extLst>
                <a:ext uri="{FF2B5EF4-FFF2-40B4-BE49-F238E27FC236}">
                  <a16:creationId xmlns:a16="http://schemas.microsoft.com/office/drawing/2014/main" id="{D30429F2-2F7D-4A64-A7D2-90E5D510C85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658" y="1440"/>
              <a:ext cx="14" cy="2489"/>
            </a:xfrm>
            <a:custGeom>
              <a:avLst/>
              <a:gdLst>
                <a:gd name="T0" fmla="*/ 14 w 14"/>
                <a:gd name="T1" fmla="*/ 42 h 2489"/>
                <a:gd name="T2" fmla="*/ 0 w 14"/>
                <a:gd name="T3" fmla="*/ 56 h 2489"/>
                <a:gd name="T4" fmla="*/ 14 w 14"/>
                <a:gd name="T5" fmla="*/ 113 h 2489"/>
                <a:gd name="T6" fmla="*/ 0 w 14"/>
                <a:gd name="T7" fmla="*/ 155 h 2489"/>
                <a:gd name="T8" fmla="*/ 14 w 14"/>
                <a:gd name="T9" fmla="*/ 169 h 2489"/>
                <a:gd name="T10" fmla="*/ 14 w 14"/>
                <a:gd name="T11" fmla="*/ 240 h 2489"/>
                <a:gd name="T12" fmla="*/ 0 w 14"/>
                <a:gd name="T13" fmla="*/ 254 h 2489"/>
                <a:gd name="T14" fmla="*/ 14 w 14"/>
                <a:gd name="T15" fmla="*/ 310 h 2489"/>
                <a:gd name="T16" fmla="*/ 0 w 14"/>
                <a:gd name="T17" fmla="*/ 353 h 2489"/>
                <a:gd name="T18" fmla="*/ 14 w 14"/>
                <a:gd name="T19" fmla="*/ 367 h 2489"/>
                <a:gd name="T20" fmla="*/ 14 w 14"/>
                <a:gd name="T21" fmla="*/ 437 h 2489"/>
                <a:gd name="T22" fmla="*/ 0 w 14"/>
                <a:gd name="T23" fmla="*/ 452 h 2489"/>
                <a:gd name="T24" fmla="*/ 14 w 14"/>
                <a:gd name="T25" fmla="*/ 508 h 2489"/>
                <a:gd name="T26" fmla="*/ 0 w 14"/>
                <a:gd name="T27" fmla="*/ 550 h 2489"/>
                <a:gd name="T28" fmla="*/ 14 w 14"/>
                <a:gd name="T29" fmla="*/ 565 h 2489"/>
                <a:gd name="T30" fmla="*/ 14 w 14"/>
                <a:gd name="T31" fmla="*/ 635 h 2489"/>
                <a:gd name="T32" fmla="*/ 0 w 14"/>
                <a:gd name="T33" fmla="*/ 649 h 2489"/>
                <a:gd name="T34" fmla="*/ 14 w 14"/>
                <a:gd name="T35" fmla="*/ 706 h 2489"/>
                <a:gd name="T36" fmla="*/ 0 w 14"/>
                <a:gd name="T37" fmla="*/ 748 h 2489"/>
                <a:gd name="T38" fmla="*/ 14 w 14"/>
                <a:gd name="T39" fmla="*/ 762 h 2489"/>
                <a:gd name="T40" fmla="*/ 14 w 14"/>
                <a:gd name="T41" fmla="*/ 833 h 2489"/>
                <a:gd name="T42" fmla="*/ 0 w 14"/>
                <a:gd name="T43" fmla="*/ 847 h 2489"/>
                <a:gd name="T44" fmla="*/ 14 w 14"/>
                <a:gd name="T45" fmla="*/ 903 h 2489"/>
                <a:gd name="T46" fmla="*/ 0 w 14"/>
                <a:gd name="T47" fmla="*/ 946 h 2489"/>
                <a:gd name="T48" fmla="*/ 14 w 14"/>
                <a:gd name="T49" fmla="*/ 960 h 2489"/>
                <a:gd name="T50" fmla="*/ 14 w 14"/>
                <a:gd name="T51" fmla="*/ 1031 h 2489"/>
                <a:gd name="T52" fmla="*/ 0 w 14"/>
                <a:gd name="T53" fmla="*/ 1045 h 2489"/>
                <a:gd name="T54" fmla="*/ 14 w 14"/>
                <a:gd name="T55" fmla="*/ 1101 h 2489"/>
                <a:gd name="T56" fmla="*/ 0 w 14"/>
                <a:gd name="T57" fmla="*/ 1143 h 2489"/>
                <a:gd name="T58" fmla="*/ 14 w 14"/>
                <a:gd name="T59" fmla="*/ 1158 h 2489"/>
                <a:gd name="T60" fmla="*/ 14 w 14"/>
                <a:gd name="T61" fmla="*/ 1228 h 2489"/>
                <a:gd name="T62" fmla="*/ 0 w 14"/>
                <a:gd name="T63" fmla="*/ 1242 h 2489"/>
                <a:gd name="T64" fmla="*/ 14 w 14"/>
                <a:gd name="T65" fmla="*/ 1299 h 2489"/>
                <a:gd name="T66" fmla="*/ 0 w 14"/>
                <a:gd name="T67" fmla="*/ 1341 h 2489"/>
                <a:gd name="T68" fmla="*/ 14 w 14"/>
                <a:gd name="T69" fmla="*/ 1355 h 2489"/>
                <a:gd name="T70" fmla="*/ 14 w 14"/>
                <a:gd name="T71" fmla="*/ 1426 h 2489"/>
                <a:gd name="T72" fmla="*/ 0 w 14"/>
                <a:gd name="T73" fmla="*/ 1440 h 2489"/>
                <a:gd name="T74" fmla="*/ 14 w 14"/>
                <a:gd name="T75" fmla="*/ 1497 h 2489"/>
                <a:gd name="T76" fmla="*/ 0 w 14"/>
                <a:gd name="T77" fmla="*/ 1539 h 2489"/>
                <a:gd name="T78" fmla="*/ 14 w 14"/>
                <a:gd name="T79" fmla="*/ 1553 h 2489"/>
                <a:gd name="T80" fmla="*/ 14 w 14"/>
                <a:gd name="T81" fmla="*/ 1624 h 2489"/>
                <a:gd name="T82" fmla="*/ 0 w 14"/>
                <a:gd name="T83" fmla="*/ 1638 h 2489"/>
                <a:gd name="T84" fmla="*/ 14 w 14"/>
                <a:gd name="T85" fmla="*/ 1694 h 2489"/>
                <a:gd name="T86" fmla="*/ 0 w 14"/>
                <a:gd name="T87" fmla="*/ 1737 h 2489"/>
                <a:gd name="T88" fmla="*/ 14 w 14"/>
                <a:gd name="T89" fmla="*/ 1751 h 2489"/>
                <a:gd name="T90" fmla="*/ 14 w 14"/>
                <a:gd name="T91" fmla="*/ 1821 h 2489"/>
                <a:gd name="T92" fmla="*/ 0 w 14"/>
                <a:gd name="T93" fmla="*/ 1836 h 2489"/>
                <a:gd name="T94" fmla="*/ 14 w 14"/>
                <a:gd name="T95" fmla="*/ 1892 h 2489"/>
                <a:gd name="T96" fmla="*/ 0 w 14"/>
                <a:gd name="T97" fmla="*/ 1935 h 2489"/>
                <a:gd name="T98" fmla="*/ 14 w 14"/>
                <a:gd name="T99" fmla="*/ 1948 h 2489"/>
                <a:gd name="T100" fmla="*/ 14 w 14"/>
                <a:gd name="T101" fmla="*/ 2019 h 2489"/>
                <a:gd name="T102" fmla="*/ 0 w 14"/>
                <a:gd name="T103" fmla="*/ 2033 h 2489"/>
                <a:gd name="T104" fmla="*/ 14 w 14"/>
                <a:gd name="T105" fmla="*/ 2090 h 2489"/>
                <a:gd name="T106" fmla="*/ 0 w 14"/>
                <a:gd name="T107" fmla="*/ 2132 h 2489"/>
                <a:gd name="T108" fmla="*/ 14 w 14"/>
                <a:gd name="T109" fmla="*/ 2146 h 2489"/>
                <a:gd name="T110" fmla="*/ 14 w 14"/>
                <a:gd name="T111" fmla="*/ 2217 h 2489"/>
                <a:gd name="T112" fmla="*/ 0 w 14"/>
                <a:gd name="T113" fmla="*/ 2231 h 2489"/>
                <a:gd name="T114" fmla="*/ 14 w 14"/>
                <a:gd name="T115" fmla="*/ 2287 h 2489"/>
                <a:gd name="T116" fmla="*/ 0 w 14"/>
                <a:gd name="T117" fmla="*/ 2330 h 2489"/>
                <a:gd name="T118" fmla="*/ 14 w 14"/>
                <a:gd name="T119" fmla="*/ 2344 h 2489"/>
                <a:gd name="T120" fmla="*/ 14 w 14"/>
                <a:gd name="T121" fmla="*/ 2415 h 2489"/>
                <a:gd name="T122" fmla="*/ 0 w 14"/>
                <a:gd name="T123" fmla="*/ 2429 h 2489"/>
                <a:gd name="T124" fmla="*/ 14 w 14"/>
                <a:gd name="T125" fmla="*/ 2485 h 24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4" h="2489">
                  <a:moveTo>
                    <a:pt x="14" y="0"/>
                  </a:moveTo>
                  <a:lnTo>
                    <a:pt x="14" y="14"/>
                  </a:lnTo>
                  <a:lnTo>
                    <a:pt x="0" y="14"/>
                  </a:lnTo>
                  <a:lnTo>
                    <a:pt x="0" y="0"/>
                  </a:lnTo>
                  <a:lnTo>
                    <a:pt x="14" y="0"/>
                  </a:lnTo>
                  <a:close/>
                  <a:moveTo>
                    <a:pt x="14" y="28"/>
                  </a:moveTo>
                  <a:lnTo>
                    <a:pt x="14" y="42"/>
                  </a:lnTo>
                  <a:lnTo>
                    <a:pt x="0" y="42"/>
                  </a:lnTo>
                  <a:lnTo>
                    <a:pt x="0" y="28"/>
                  </a:lnTo>
                  <a:lnTo>
                    <a:pt x="14" y="28"/>
                  </a:lnTo>
                  <a:close/>
                  <a:moveTo>
                    <a:pt x="14" y="56"/>
                  </a:moveTo>
                  <a:lnTo>
                    <a:pt x="14" y="70"/>
                  </a:lnTo>
                  <a:lnTo>
                    <a:pt x="0" y="70"/>
                  </a:lnTo>
                  <a:lnTo>
                    <a:pt x="0" y="56"/>
                  </a:lnTo>
                  <a:lnTo>
                    <a:pt x="14" y="56"/>
                  </a:lnTo>
                  <a:close/>
                  <a:moveTo>
                    <a:pt x="14" y="84"/>
                  </a:moveTo>
                  <a:lnTo>
                    <a:pt x="14" y="98"/>
                  </a:lnTo>
                  <a:lnTo>
                    <a:pt x="0" y="98"/>
                  </a:lnTo>
                  <a:lnTo>
                    <a:pt x="0" y="84"/>
                  </a:lnTo>
                  <a:lnTo>
                    <a:pt x="14" y="84"/>
                  </a:lnTo>
                  <a:close/>
                  <a:moveTo>
                    <a:pt x="14" y="113"/>
                  </a:moveTo>
                  <a:lnTo>
                    <a:pt x="14" y="127"/>
                  </a:lnTo>
                  <a:lnTo>
                    <a:pt x="0" y="127"/>
                  </a:lnTo>
                  <a:lnTo>
                    <a:pt x="0" y="113"/>
                  </a:lnTo>
                  <a:lnTo>
                    <a:pt x="14" y="113"/>
                  </a:lnTo>
                  <a:close/>
                  <a:moveTo>
                    <a:pt x="14" y="141"/>
                  </a:moveTo>
                  <a:lnTo>
                    <a:pt x="14" y="155"/>
                  </a:lnTo>
                  <a:lnTo>
                    <a:pt x="0" y="155"/>
                  </a:lnTo>
                  <a:lnTo>
                    <a:pt x="0" y="141"/>
                  </a:lnTo>
                  <a:lnTo>
                    <a:pt x="14" y="141"/>
                  </a:lnTo>
                  <a:close/>
                  <a:moveTo>
                    <a:pt x="14" y="169"/>
                  </a:moveTo>
                  <a:lnTo>
                    <a:pt x="14" y="183"/>
                  </a:lnTo>
                  <a:lnTo>
                    <a:pt x="0" y="183"/>
                  </a:lnTo>
                  <a:lnTo>
                    <a:pt x="0" y="169"/>
                  </a:lnTo>
                  <a:lnTo>
                    <a:pt x="14" y="169"/>
                  </a:lnTo>
                  <a:close/>
                  <a:moveTo>
                    <a:pt x="14" y="197"/>
                  </a:moveTo>
                  <a:lnTo>
                    <a:pt x="14" y="211"/>
                  </a:lnTo>
                  <a:lnTo>
                    <a:pt x="0" y="211"/>
                  </a:lnTo>
                  <a:lnTo>
                    <a:pt x="0" y="197"/>
                  </a:lnTo>
                  <a:lnTo>
                    <a:pt x="14" y="197"/>
                  </a:lnTo>
                  <a:close/>
                  <a:moveTo>
                    <a:pt x="14" y="226"/>
                  </a:moveTo>
                  <a:lnTo>
                    <a:pt x="14" y="240"/>
                  </a:lnTo>
                  <a:lnTo>
                    <a:pt x="0" y="240"/>
                  </a:lnTo>
                  <a:lnTo>
                    <a:pt x="0" y="226"/>
                  </a:lnTo>
                  <a:lnTo>
                    <a:pt x="14" y="226"/>
                  </a:lnTo>
                  <a:close/>
                  <a:moveTo>
                    <a:pt x="14" y="254"/>
                  </a:moveTo>
                  <a:lnTo>
                    <a:pt x="14" y="268"/>
                  </a:lnTo>
                  <a:lnTo>
                    <a:pt x="0" y="268"/>
                  </a:lnTo>
                  <a:lnTo>
                    <a:pt x="0" y="254"/>
                  </a:lnTo>
                  <a:lnTo>
                    <a:pt x="14" y="254"/>
                  </a:lnTo>
                  <a:close/>
                  <a:moveTo>
                    <a:pt x="14" y="282"/>
                  </a:moveTo>
                  <a:lnTo>
                    <a:pt x="14" y="296"/>
                  </a:lnTo>
                  <a:lnTo>
                    <a:pt x="0" y="296"/>
                  </a:lnTo>
                  <a:lnTo>
                    <a:pt x="0" y="282"/>
                  </a:lnTo>
                  <a:lnTo>
                    <a:pt x="14" y="282"/>
                  </a:lnTo>
                  <a:close/>
                  <a:moveTo>
                    <a:pt x="14" y="310"/>
                  </a:moveTo>
                  <a:lnTo>
                    <a:pt x="14" y="325"/>
                  </a:lnTo>
                  <a:lnTo>
                    <a:pt x="0" y="325"/>
                  </a:lnTo>
                  <a:lnTo>
                    <a:pt x="0" y="310"/>
                  </a:lnTo>
                  <a:lnTo>
                    <a:pt x="14" y="310"/>
                  </a:lnTo>
                  <a:close/>
                  <a:moveTo>
                    <a:pt x="14" y="338"/>
                  </a:moveTo>
                  <a:lnTo>
                    <a:pt x="14" y="353"/>
                  </a:lnTo>
                  <a:lnTo>
                    <a:pt x="0" y="353"/>
                  </a:lnTo>
                  <a:lnTo>
                    <a:pt x="0" y="338"/>
                  </a:lnTo>
                  <a:lnTo>
                    <a:pt x="14" y="338"/>
                  </a:lnTo>
                  <a:close/>
                  <a:moveTo>
                    <a:pt x="14" y="367"/>
                  </a:moveTo>
                  <a:lnTo>
                    <a:pt x="14" y="381"/>
                  </a:lnTo>
                  <a:lnTo>
                    <a:pt x="0" y="381"/>
                  </a:lnTo>
                  <a:lnTo>
                    <a:pt x="0" y="367"/>
                  </a:lnTo>
                  <a:lnTo>
                    <a:pt x="14" y="367"/>
                  </a:lnTo>
                  <a:close/>
                  <a:moveTo>
                    <a:pt x="14" y="395"/>
                  </a:moveTo>
                  <a:lnTo>
                    <a:pt x="14" y="409"/>
                  </a:lnTo>
                  <a:lnTo>
                    <a:pt x="0" y="409"/>
                  </a:lnTo>
                  <a:lnTo>
                    <a:pt x="0" y="395"/>
                  </a:lnTo>
                  <a:lnTo>
                    <a:pt x="14" y="395"/>
                  </a:lnTo>
                  <a:close/>
                  <a:moveTo>
                    <a:pt x="14" y="423"/>
                  </a:moveTo>
                  <a:lnTo>
                    <a:pt x="14" y="437"/>
                  </a:lnTo>
                  <a:lnTo>
                    <a:pt x="0" y="437"/>
                  </a:lnTo>
                  <a:lnTo>
                    <a:pt x="0" y="423"/>
                  </a:lnTo>
                  <a:lnTo>
                    <a:pt x="14" y="423"/>
                  </a:lnTo>
                  <a:close/>
                  <a:moveTo>
                    <a:pt x="14" y="452"/>
                  </a:moveTo>
                  <a:lnTo>
                    <a:pt x="14" y="466"/>
                  </a:lnTo>
                  <a:lnTo>
                    <a:pt x="0" y="466"/>
                  </a:lnTo>
                  <a:lnTo>
                    <a:pt x="0" y="452"/>
                  </a:lnTo>
                  <a:lnTo>
                    <a:pt x="14" y="452"/>
                  </a:lnTo>
                  <a:close/>
                  <a:moveTo>
                    <a:pt x="14" y="480"/>
                  </a:moveTo>
                  <a:lnTo>
                    <a:pt x="14" y="494"/>
                  </a:lnTo>
                  <a:lnTo>
                    <a:pt x="0" y="494"/>
                  </a:lnTo>
                  <a:lnTo>
                    <a:pt x="0" y="480"/>
                  </a:lnTo>
                  <a:lnTo>
                    <a:pt x="14" y="480"/>
                  </a:lnTo>
                  <a:close/>
                  <a:moveTo>
                    <a:pt x="14" y="508"/>
                  </a:moveTo>
                  <a:lnTo>
                    <a:pt x="14" y="522"/>
                  </a:lnTo>
                  <a:lnTo>
                    <a:pt x="0" y="522"/>
                  </a:lnTo>
                  <a:lnTo>
                    <a:pt x="0" y="508"/>
                  </a:lnTo>
                  <a:lnTo>
                    <a:pt x="14" y="508"/>
                  </a:lnTo>
                  <a:close/>
                  <a:moveTo>
                    <a:pt x="14" y="536"/>
                  </a:moveTo>
                  <a:lnTo>
                    <a:pt x="14" y="550"/>
                  </a:lnTo>
                  <a:lnTo>
                    <a:pt x="0" y="550"/>
                  </a:lnTo>
                  <a:lnTo>
                    <a:pt x="0" y="536"/>
                  </a:lnTo>
                  <a:lnTo>
                    <a:pt x="14" y="536"/>
                  </a:lnTo>
                  <a:close/>
                  <a:moveTo>
                    <a:pt x="14" y="565"/>
                  </a:moveTo>
                  <a:lnTo>
                    <a:pt x="14" y="579"/>
                  </a:lnTo>
                  <a:lnTo>
                    <a:pt x="0" y="579"/>
                  </a:lnTo>
                  <a:lnTo>
                    <a:pt x="0" y="565"/>
                  </a:lnTo>
                  <a:lnTo>
                    <a:pt x="14" y="565"/>
                  </a:lnTo>
                  <a:close/>
                  <a:moveTo>
                    <a:pt x="14" y="593"/>
                  </a:moveTo>
                  <a:lnTo>
                    <a:pt x="14" y="607"/>
                  </a:lnTo>
                  <a:lnTo>
                    <a:pt x="0" y="607"/>
                  </a:lnTo>
                  <a:lnTo>
                    <a:pt x="0" y="593"/>
                  </a:lnTo>
                  <a:lnTo>
                    <a:pt x="14" y="593"/>
                  </a:lnTo>
                  <a:close/>
                  <a:moveTo>
                    <a:pt x="14" y="621"/>
                  </a:moveTo>
                  <a:lnTo>
                    <a:pt x="14" y="635"/>
                  </a:lnTo>
                  <a:lnTo>
                    <a:pt x="0" y="635"/>
                  </a:lnTo>
                  <a:lnTo>
                    <a:pt x="0" y="621"/>
                  </a:lnTo>
                  <a:lnTo>
                    <a:pt x="14" y="621"/>
                  </a:lnTo>
                  <a:close/>
                  <a:moveTo>
                    <a:pt x="14" y="649"/>
                  </a:moveTo>
                  <a:lnTo>
                    <a:pt x="14" y="664"/>
                  </a:lnTo>
                  <a:lnTo>
                    <a:pt x="0" y="664"/>
                  </a:lnTo>
                  <a:lnTo>
                    <a:pt x="0" y="649"/>
                  </a:lnTo>
                  <a:lnTo>
                    <a:pt x="14" y="649"/>
                  </a:lnTo>
                  <a:close/>
                  <a:moveTo>
                    <a:pt x="14" y="677"/>
                  </a:moveTo>
                  <a:lnTo>
                    <a:pt x="14" y="692"/>
                  </a:lnTo>
                  <a:lnTo>
                    <a:pt x="0" y="692"/>
                  </a:lnTo>
                  <a:lnTo>
                    <a:pt x="0" y="677"/>
                  </a:lnTo>
                  <a:lnTo>
                    <a:pt x="14" y="677"/>
                  </a:lnTo>
                  <a:close/>
                  <a:moveTo>
                    <a:pt x="14" y="706"/>
                  </a:moveTo>
                  <a:lnTo>
                    <a:pt x="14" y="720"/>
                  </a:lnTo>
                  <a:lnTo>
                    <a:pt x="0" y="720"/>
                  </a:lnTo>
                  <a:lnTo>
                    <a:pt x="0" y="706"/>
                  </a:lnTo>
                  <a:lnTo>
                    <a:pt x="14" y="706"/>
                  </a:lnTo>
                  <a:close/>
                  <a:moveTo>
                    <a:pt x="14" y="734"/>
                  </a:moveTo>
                  <a:lnTo>
                    <a:pt x="14" y="748"/>
                  </a:lnTo>
                  <a:lnTo>
                    <a:pt x="0" y="748"/>
                  </a:lnTo>
                  <a:lnTo>
                    <a:pt x="0" y="734"/>
                  </a:lnTo>
                  <a:lnTo>
                    <a:pt x="14" y="734"/>
                  </a:lnTo>
                  <a:close/>
                  <a:moveTo>
                    <a:pt x="14" y="762"/>
                  </a:moveTo>
                  <a:lnTo>
                    <a:pt x="14" y="776"/>
                  </a:lnTo>
                  <a:lnTo>
                    <a:pt x="0" y="776"/>
                  </a:lnTo>
                  <a:lnTo>
                    <a:pt x="0" y="762"/>
                  </a:lnTo>
                  <a:lnTo>
                    <a:pt x="14" y="762"/>
                  </a:lnTo>
                  <a:close/>
                  <a:moveTo>
                    <a:pt x="14" y="791"/>
                  </a:moveTo>
                  <a:lnTo>
                    <a:pt x="14" y="805"/>
                  </a:lnTo>
                  <a:lnTo>
                    <a:pt x="0" y="805"/>
                  </a:lnTo>
                  <a:lnTo>
                    <a:pt x="0" y="791"/>
                  </a:lnTo>
                  <a:lnTo>
                    <a:pt x="14" y="791"/>
                  </a:lnTo>
                  <a:close/>
                  <a:moveTo>
                    <a:pt x="14" y="819"/>
                  </a:moveTo>
                  <a:lnTo>
                    <a:pt x="14" y="833"/>
                  </a:lnTo>
                  <a:lnTo>
                    <a:pt x="0" y="833"/>
                  </a:lnTo>
                  <a:lnTo>
                    <a:pt x="0" y="819"/>
                  </a:lnTo>
                  <a:lnTo>
                    <a:pt x="14" y="819"/>
                  </a:lnTo>
                  <a:close/>
                  <a:moveTo>
                    <a:pt x="14" y="847"/>
                  </a:moveTo>
                  <a:lnTo>
                    <a:pt x="14" y="861"/>
                  </a:lnTo>
                  <a:lnTo>
                    <a:pt x="0" y="861"/>
                  </a:lnTo>
                  <a:lnTo>
                    <a:pt x="0" y="847"/>
                  </a:lnTo>
                  <a:lnTo>
                    <a:pt x="14" y="847"/>
                  </a:lnTo>
                  <a:close/>
                  <a:moveTo>
                    <a:pt x="14" y="875"/>
                  </a:moveTo>
                  <a:lnTo>
                    <a:pt x="14" y="889"/>
                  </a:lnTo>
                  <a:lnTo>
                    <a:pt x="0" y="889"/>
                  </a:lnTo>
                  <a:lnTo>
                    <a:pt x="0" y="875"/>
                  </a:lnTo>
                  <a:lnTo>
                    <a:pt x="14" y="875"/>
                  </a:lnTo>
                  <a:close/>
                  <a:moveTo>
                    <a:pt x="14" y="903"/>
                  </a:moveTo>
                  <a:lnTo>
                    <a:pt x="14" y="918"/>
                  </a:lnTo>
                  <a:lnTo>
                    <a:pt x="0" y="918"/>
                  </a:lnTo>
                  <a:lnTo>
                    <a:pt x="0" y="903"/>
                  </a:lnTo>
                  <a:lnTo>
                    <a:pt x="14" y="903"/>
                  </a:lnTo>
                  <a:close/>
                  <a:moveTo>
                    <a:pt x="14" y="932"/>
                  </a:moveTo>
                  <a:lnTo>
                    <a:pt x="14" y="946"/>
                  </a:lnTo>
                  <a:lnTo>
                    <a:pt x="0" y="946"/>
                  </a:lnTo>
                  <a:lnTo>
                    <a:pt x="0" y="932"/>
                  </a:lnTo>
                  <a:lnTo>
                    <a:pt x="14" y="932"/>
                  </a:lnTo>
                  <a:close/>
                  <a:moveTo>
                    <a:pt x="14" y="960"/>
                  </a:moveTo>
                  <a:lnTo>
                    <a:pt x="14" y="974"/>
                  </a:lnTo>
                  <a:lnTo>
                    <a:pt x="0" y="974"/>
                  </a:lnTo>
                  <a:lnTo>
                    <a:pt x="0" y="960"/>
                  </a:lnTo>
                  <a:lnTo>
                    <a:pt x="14" y="960"/>
                  </a:lnTo>
                  <a:close/>
                  <a:moveTo>
                    <a:pt x="14" y="988"/>
                  </a:moveTo>
                  <a:lnTo>
                    <a:pt x="14" y="1002"/>
                  </a:lnTo>
                  <a:lnTo>
                    <a:pt x="0" y="1002"/>
                  </a:lnTo>
                  <a:lnTo>
                    <a:pt x="0" y="988"/>
                  </a:lnTo>
                  <a:lnTo>
                    <a:pt x="14" y="988"/>
                  </a:lnTo>
                  <a:close/>
                  <a:moveTo>
                    <a:pt x="14" y="1016"/>
                  </a:moveTo>
                  <a:lnTo>
                    <a:pt x="14" y="1031"/>
                  </a:lnTo>
                  <a:lnTo>
                    <a:pt x="0" y="1031"/>
                  </a:lnTo>
                  <a:lnTo>
                    <a:pt x="0" y="1016"/>
                  </a:lnTo>
                  <a:lnTo>
                    <a:pt x="14" y="1016"/>
                  </a:lnTo>
                  <a:close/>
                  <a:moveTo>
                    <a:pt x="14" y="1045"/>
                  </a:moveTo>
                  <a:lnTo>
                    <a:pt x="14" y="1059"/>
                  </a:lnTo>
                  <a:lnTo>
                    <a:pt x="0" y="1059"/>
                  </a:lnTo>
                  <a:lnTo>
                    <a:pt x="0" y="1045"/>
                  </a:lnTo>
                  <a:lnTo>
                    <a:pt x="14" y="1045"/>
                  </a:lnTo>
                  <a:close/>
                  <a:moveTo>
                    <a:pt x="14" y="1073"/>
                  </a:moveTo>
                  <a:lnTo>
                    <a:pt x="14" y="1087"/>
                  </a:lnTo>
                  <a:lnTo>
                    <a:pt x="0" y="1087"/>
                  </a:lnTo>
                  <a:lnTo>
                    <a:pt x="0" y="1073"/>
                  </a:lnTo>
                  <a:lnTo>
                    <a:pt x="14" y="1073"/>
                  </a:lnTo>
                  <a:close/>
                  <a:moveTo>
                    <a:pt x="14" y="1101"/>
                  </a:moveTo>
                  <a:lnTo>
                    <a:pt x="14" y="1115"/>
                  </a:lnTo>
                  <a:lnTo>
                    <a:pt x="0" y="1115"/>
                  </a:lnTo>
                  <a:lnTo>
                    <a:pt x="0" y="1101"/>
                  </a:lnTo>
                  <a:lnTo>
                    <a:pt x="14" y="1101"/>
                  </a:lnTo>
                  <a:close/>
                  <a:moveTo>
                    <a:pt x="14" y="1130"/>
                  </a:moveTo>
                  <a:lnTo>
                    <a:pt x="14" y="1143"/>
                  </a:lnTo>
                  <a:lnTo>
                    <a:pt x="0" y="1143"/>
                  </a:lnTo>
                  <a:lnTo>
                    <a:pt x="0" y="1130"/>
                  </a:lnTo>
                  <a:lnTo>
                    <a:pt x="14" y="1130"/>
                  </a:lnTo>
                  <a:close/>
                  <a:moveTo>
                    <a:pt x="14" y="1158"/>
                  </a:moveTo>
                  <a:lnTo>
                    <a:pt x="14" y="1172"/>
                  </a:lnTo>
                  <a:lnTo>
                    <a:pt x="0" y="1172"/>
                  </a:lnTo>
                  <a:lnTo>
                    <a:pt x="0" y="1158"/>
                  </a:lnTo>
                  <a:lnTo>
                    <a:pt x="14" y="1158"/>
                  </a:lnTo>
                  <a:close/>
                  <a:moveTo>
                    <a:pt x="14" y="1186"/>
                  </a:moveTo>
                  <a:lnTo>
                    <a:pt x="14" y="1200"/>
                  </a:lnTo>
                  <a:lnTo>
                    <a:pt x="0" y="1200"/>
                  </a:lnTo>
                  <a:lnTo>
                    <a:pt x="0" y="1186"/>
                  </a:lnTo>
                  <a:lnTo>
                    <a:pt x="14" y="1186"/>
                  </a:lnTo>
                  <a:close/>
                  <a:moveTo>
                    <a:pt x="14" y="1214"/>
                  </a:moveTo>
                  <a:lnTo>
                    <a:pt x="14" y="1228"/>
                  </a:lnTo>
                  <a:lnTo>
                    <a:pt x="0" y="1228"/>
                  </a:lnTo>
                  <a:lnTo>
                    <a:pt x="0" y="1214"/>
                  </a:lnTo>
                  <a:lnTo>
                    <a:pt x="14" y="1214"/>
                  </a:lnTo>
                  <a:close/>
                  <a:moveTo>
                    <a:pt x="14" y="1242"/>
                  </a:moveTo>
                  <a:lnTo>
                    <a:pt x="14" y="1257"/>
                  </a:lnTo>
                  <a:lnTo>
                    <a:pt x="0" y="1257"/>
                  </a:lnTo>
                  <a:lnTo>
                    <a:pt x="0" y="1242"/>
                  </a:lnTo>
                  <a:lnTo>
                    <a:pt x="14" y="1242"/>
                  </a:lnTo>
                  <a:close/>
                  <a:moveTo>
                    <a:pt x="14" y="1271"/>
                  </a:moveTo>
                  <a:lnTo>
                    <a:pt x="14" y="1285"/>
                  </a:lnTo>
                  <a:lnTo>
                    <a:pt x="0" y="1285"/>
                  </a:lnTo>
                  <a:lnTo>
                    <a:pt x="0" y="1271"/>
                  </a:lnTo>
                  <a:lnTo>
                    <a:pt x="14" y="1271"/>
                  </a:lnTo>
                  <a:close/>
                  <a:moveTo>
                    <a:pt x="14" y="1299"/>
                  </a:moveTo>
                  <a:lnTo>
                    <a:pt x="14" y="1313"/>
                  </a:lnTo>
                  <a:lnTo>
                    <a:pt x="0" y="1313"/>
                  </a:lnTo>
                  <a:lnTo>
                    <a:pt x="0" y="1299"/>
                  </a:lnTo>
                  <a:lnTo>
                    <a:pt x="14" y="1299"/>
                  </a:lnTo>
                  <a:close/>
                  <a:moveTo>
                    <a:pt x="14" y="1327"/>
                  </a:moveTo>
                  <a:lnTo>
                    <a:pt x="14" y="1341"/>
                  </a:lnTo>
                  <a:lnTo>
                    <a:pt x="0" y="1341"/>
                  </a:lnTo>
                  <a:lnTo>
                    <a:pt x="0" y="1327"/>
                  </a:lnTo>
                  <a:lnTo>
                    <a:pt x="14" y="1327"/>
                  </a:lnTo>
                  <a:close/>
                  <a:moveTo>
                    <a:pt x="14" y="1355"/>
                  </a:moveTo>
                  <a:lnTo>
                    <a:pt x="14" y="1370"/>
                  </a:lnTo>
                  <a:lnTo>
                    <a:pt x="0" y="1370"/>
                  </a:lnTo>
                  <a:lnTo>
                    <a:pt x="0" y="1355"/>
                  </a:lnTo>
                  <a:lnTo>
                    <a:pt x="14" y="1355"/>
                  </a:lnTo>
                  <a:close/>
                  <a:moveTo>
                    <a:pt x="14" y="1384"/>
                  </a:moveTo>
                  <a:lnTo>
                    <a:pt x="14" y="1398"/>
                  </a:lnTo>
                  <a:lnTo>
                    <a:pt x="0" y="1398"/>
                  </a:lnTo>
                  <a:lnTo>
                    <a:pt x="0" y="1384"/>
                  </a:lnTo>
                  <a:lnTo>
                    <a:pt x="14" y="1384"/>
                  </a:lnTo>
                  <a:close/>
                  <a:moveTo>
                    <a:pt x="14" y="1412"/>
                  </a:moveTo>
                  <a:lnTo>
                    <a:pt x="14" y="1426"/>
                  </a:lnTo>
                  <a:lnTo>
                    <a:pt x="0" y="1426"/>
                  </a:lnTo>
                  <a:lnTo>
                    <a:pt x="0" y="1412"/>
                  </a:lnTo>
                  <a:lnTo>
                    <a:pt x="14" y="1412"/>
                  </a:lnTo>
                  <a:close/>
                  <a:moveTo>
                    <a:pt x="14" y="1440"/>
                  </a:moveTo>
                  <a:lnTo>
                    <a:pt x="14" y="1454"/>
                  </a:lnTo>
                  <a:lnTo>
                    <a:pt x="0" y="1454"/>
                  </a:lnTo>
                  <a:lnTo>
                    <a:pt x="0" y="1440"/>
                  </a:lnTo>
                  <a:lnTo>
                    <a:pt x="14" y="1440"/>
                  </a:lnTo>
                  <a:close/>
                  <a:moveTo>
                    <a:pt x="14" y="1469"/>
                  </a:moveTo>
                  <a:lnTo>
                    <a:pt x="14" y="1482"/>
                  </a:lnTo>
                  <a:lnTo>
                    <a:pt x="0" y="1482"/>
                  </a:lnTo>
                  <a:lnTo>
                    <a:pt x="0" y="1469"/>
                  </a:lnTo>
                  <a:lnTo>
                    <a:pt x="14" y="1469"/>
                  </a:lnTo>
                  <a:close/>
                  <a:moveTo>
                    <a:pt x="14" y="1497"/>
                  </a:moveTo>
                  <a:lnTo>
                    <a:pt x="14" y="1511"/>
                  </a:lnTo>
                  <a:lnTo>
                    <a:pt x="0" y="1511"/>
                  </a:lnTo>
                  <a:lnTo>
                    <a:pt x="0" y="1497"/>
                  </a:lnTo>
                  <a:lnTo>
                    <a:pt x="14" y="1497"/>
                  </a:lnTo>
                  <a:close/>
                  <a:moveTo>
                    <a:pt x="14" y="1525"/>
                  </a:moveTo>
                  <a:lnTo>
                    <a:pt x="14" y="1539"/>
                  </a:lnTo>
                  <a:lnTo>
                    <a:pt x="0" y="1539"/>
                  </a:lnTo>
                  <a:lnTo>
                    <a:pt x="0" y="1525"/>
                  </a:lnTo>
                  <a:lnTo>
                    <a:pt x="14" y="1525"/>
                  </a:lnTo>
                  <a:close/>
                  <a:moveTo>
                    <a:pt x="14" y="1553"/>
                  </a:moveTo>
                  <a:lnTo>
                    <a:pt x="14" y="1567"/>
                  </a:lnTo>
                  <a:lnTo>
                    <a:pt x="0" y="1567"/>
                  </a:lnTo>
                  <a:lnTo>
                    <a:pt x="0" y="1553"/>
                  </a:lnTo>
                  <a:lnTo>
                    <a:pt x="14" y="1553"/>
                  </a:lnTo>
                  <a:close/>
                  <a:moveTo>
                    <a:pt x="14" y="1581"/>
                  </a:moveTo>
                  <a:lnTo>
                    <a:pt x="14" y="1596"/>
                  </a:lnTo>
                  <a:lnTo>
                    <a:pt x="0" y="1596"/>
                  </a:lnTo>
                  <a:lnTo>
                    <a:pt x="0" y="1581"/>
                  </a:lnTo>
                  <a:lnTo>
                    <a:pt x="14" y="1581"/>
                  </a:lnTo>
                  <a:close/>
                  <a:moveTo>
                    <a:pt x="14" y="1610"/>
                  </a:moveTo>
                  <a:lnTo>
                    <a:pt x="14" y="1624"/>
                  </a:lnTo>
                  <a:lnTo>
                    <a:pt x="0" y="1624"/>
                  </a:lnTo>
                  <a:lnTo>
                    <a:pt x="0" y="1610"/>
                  </a:lnTo>
                  <a:lnTo>
                    <a:pt x="14" y="1610"/>
                  </a:lnTo>
                  <a:close/>
                  <a:moveTo>
                    <a:pt x="14" y="1638"/>
                  </a:moveTo>
                  <a:lnTo>
                    <a:pt x="14" y="1652"/>
                  </a:lnTo>
                  <a:lnTo>
                    <a:pt x="0" y="1652"/>
                  </a:lnTo>
                  <a:lnTo>
                    <a:pt x="0" y="1638"/>
                  </a:lnTo>
                  <a:lnTo>
                    <a:pt x="14" y="1638"/>
                  </a:lnTo>
                  <a:close/>
                  <a:moveTo>
                    <a:pt x="14" y="1666"/>
                  </a:moveTo>
                  <a:lnTo>
                    <a:pt x="14" y="1680"/>
                  </a:lnTo>
                  <a:lnTo>
                    <a:pt x="0" y="1680"/>
                  </a:lnTo>
                  <a:lnTo>
                    <a:pt x="0" y="1666"/>
                  </a:lnTo>
                  <a:lnTo>
                    <a:pt x="14" y="1666"/>
                  </a:lnTo>
                  <a:close/>
                  <a:moveTo>
                    <a:pt x="14" y="1694"/>
                  </a:moveTo>
                  <a:lnTo>
                    <a:pt x="14" y="1708"/>
                  </a:lnTo>
                  <a:lnTo>
                    <a:pt x="0" y="1708"/>
                  </a:lnTo>
                  <a:lnTo>
                    <a:pt x="0" y="1694"/>
                  </a:lnTo>
                  <a:lnTo>
                    <a:pt x="14" y="1694"/>
                  </a:lnTo>
                  <a:close/>
                  <a:moveTo>
                    <a:pt x="14" y="1723"/>
                  </a:moveTo>
                  <a:lnTo>
                    <a:pt x="14" y="1737"/>
                  </a:lnTo>
                  <a:lnTo>
                    <a:pt x="0" y="1737"/>
                  </a:lnTo>
                  <a:lnTo>
                    <a:pt x="0" y="1723"/>
                  </a:lnTo>
                  <a:lnTo>
                    <a:pt x="14" y="1723"/>
                  </a:lnTo>
                  <a:close/>
                  <a:moveTo>
                    <a:pt x="14" y="1751"/>
                  </a:moveTo>
                  <a:lnTo>
                    <a:pt x="14" y="1765"/>
                  </a:lnTo>
                  <a:lnTo>
                    <a:pt x="0" y="1765"/>
                  </a:lnTo>
                  <a:lnTo>
                    <a:pt x="0" y="1751"/>
                  </a:lnTo>
                  <a:lnTo>
                    <a:pt x="14" y="1751"/>
                  </a:lnTo>
                  <a:close/>
                  <a:moveTo>
                    <a:pt x="14" y="1779"/>
                  </a:moveTo>
                  <a:lnTo>
                    <a:pt x="14" y="1793"/>
                  </a:lnTo>
                  <a:lnTo>
                    <a:pt x="0" y="1793"/>
                  </a:lnTo>
                  <a:lnTo>
                    <a:pt x="0" y="1779"/>
                  </a:lnTo>
                  <a:lnTo>
                    <a:pt x="14" y="1779"/>
                  </a:lnTo>
                  <a:close/>
                  <a:moveTo>
                    <a:pt x="14" y="1807"/>
                  </a:moveTo>
                  <a:lnTo>
                    <a:pt x="14" y="1821"/>
                  </a:lnTo>
                  <a:lnTo>
                    <a:pt x="0" y="1821"/>
                  </a:lnTo>
                  <a:lnTo>
                    <a:pt x="0" y="1807"/>
                  </a:lnTo>
                  <a:lnTo>
                    <a:pt x="14" y="1807"/>
                  </a:lnTo>
                  <a:close/>
                  <a:moveTo>
                    <a:pt x="14" y="1836"/>
                  </a:moveTo>
                  <a:lnTo>
                    <a:pt x="14" y="1850"/>
                  </a:lnTo>
                  <a:lnTo>
                    <a:pt x="0" y="1850"/>
                  </a:lnTo>
                  <a:lnTo>
                    <a:pt x="0" y="1836"/>
                  </a:lnTo>
                  <a:lnTo>
                    <a:pt x="14" y="1836"/>
                  </a:lnTo>
                  <a:close/>
                  <a:moveTo>
                    <a:pt x="14" y="1864"/>
                  </a:moveTo>
                  <a:lnTo>
                    <a:pt x="14" y="1878"/>
                  </a:lnTo>
                  <a:lnTo>
                    <a:pt x="0" y="1878"/>
                  </a:lnTo>
                  <a:lnTo>
                    <a:pt x="0" y="1864"/>
                  </a:lnTo>
                  <a:lnTo>
                    <a:pt x="14" y="1864"/>
                  </a:lnTo>
                  <a:close/>
                  <a:moveTo>
                    <a:pt x="14" y="1892"/>
                  </a:moveTo>
                  <a:lnTo>
                    <a:pt x="14" y="1906"/>
                  </a:lnTo>
                  <a:lnTo>
                    <a:pt x="0" y="1906"/>
                  </a:lnTo>
                  <a:lnTo>
                    <a:pt x="0" y="1892"/>
                  </a:lnTo>
                  <a:lnTo>
                    <a:pt x="14" y="1892"/>
                  </a:lnTo>
                  <a:close/>
                  <a:moveTo>
                    <a:pt x="14" y="1920"/>
                  </a:moveTo>
                  <a:lnTo>
                    <a:pt x="14" y="1935"/>
                  </a:lnTo>
                  <a:lnTo>
                    <a:pt x="0" y="1935"/>
                  </a:lnTo>
                  <a:lnTo>
                    <a:pt x="0" y="1920"/>
                  </a:lnTo>
                  <a:lnTo>
                    <a:pt x="14" y="1920"/>
                  </a:lnTo>
                  <a:close/>
                  <a:moveTo>
                    <a:pt x="14" y="1948"/>
                  </a:moveTo>
                  <a:lnTo>
                    <a:pt x="14" y="1963"/>
                  </a:lnTo>
                  <a:lnTo>
                    <a:pt x="0" y="1963"/>
                  </a:lnTo>
                  <a:lnTo>
                    <a:pt x="0" y="1948"/>
                  </a:lnTo>
                  <a:lnTo>
                    <a:pt x="14" y="1948"/>
                  </a:lnTo>
                  <a:close/>
                  <a:moveTo>
                    <a:pt x="14" y="1977"/>
                  </a:moveTo>
                  <a:lnTo>
                    <a:pt x="14" y="1991"/>
                  </a:lnTo>
                  <a:lnTo>
                    <a:pt x="0" y="1991"/>
                  </a:lnTo>
                  <a:lnTo>
                    <a:pt x="0" y="1977"/>
                  </a:lnTo>
                  <a:lnTo>
                    <a:pt x="14" y="1977"/>
                  </a:lnTo>
                  <a:close/>
                  <a:moveTo>
                    <a:pt x="14" y="2005"/>
                  </a:moveTo>
                  <a:lnTo>
                    <a:pt x="14" y="2019"/>
                  </a:lnTo>
                  <a:lnTo>
                    <a:pt x="0" y="2019"/>
                  </a:lnTo>
                  <a:lnTo>
                    <a:pt x="0" y="2005"/>
                  </a:lnTo>
                  <a:lnTo>
                    <a:pt x="14" y="2005"/>
                  </a:lnTo>
                  <a:close/>
                  <a:moveTo>
                    <a:pt x="14" y="2033"/>
                  </a:moveTo>
                  <a:lnTo>
                    <a:pt x="14" y="2047"/>
                  </a:lnTo>
                  <a:lnTo>
                    <a:pt x="0" y="2047"/>
                  </a:lnTo>
                  <a:lnTo>
                    <a:pt x="0" y="2033"/>
                  </a:lnTo>
                  <a:lnTo>
                    <a:pt x="14" y="2033"/>
                  </a:lnTo>
                  <a:close/>
                  <a:moveTo>
                    <a:pt x="14" y="2062"/>
                  </a:moveTo>
                  <a:lnTo>
                    <a:pt x="14" y="2076"/>
                  </a:lnTo>
                  <a:lnTo>
                    <a:pt x="0" y="2076"/>
                  </a:lnTo>
                  <a:lnTo>
                    <a:pt x="0" y="2062"/>
                  </a:lnTo>
                  <a:lnTo>
                    <a:pt x="14" y="2062"/>
                  </a:lnTo>
                  <a:close/>
                  <a:moveTo>
                    <a:pt x="14" y="2090"/>
                  </a:moveTo>
                  <a:lnTo>
                    <a:pt x="14" y="2104"/>
                  </a:lnTo>
                  <a:lnTo>
                    <a:pt x="0" y="2104"/>
                  </a:lnTo>
                  <a:lnTo>
                    <a:pt x="0" y="2090"/>
                  </a:lnTo>
                  <a:lnTo>
                    <a:pt x="14" y="2090"/>
                  </a:lnTo>
                  <a:close/>
                  <a:moveTo>
                    <a:pt x="14" y="2118"/>
                  </a:moveTo>
                  <a:lnTo>
                    <a:pt x="14" y="2132"/>
                  </a:lnTo>
                  <a:lnTo>
                    <a:pt x="0" y="2132"/>
                  </a:lnTo>
                  <a:lnTo>
                    <a:pt x="0" y="2118"/>
                  </a:lnTo>
                  <a:lnTo>
                    <a:pt x="14" y="2118"/>
                  </a:lnTo>
                  <a:close/>
                  <a:moveTo>
                    <a:pt x="14" y="2146"/>
                  </a:moveTo>
                  <a:lnTo>
                    <a:pt x="14" y="2160"/>
                  </a:lnTo>
                  <a:lnTo>
                    <a:pt x="0" y="2160"/>
                  </a:lnTo>
                  <a:lnTo>
                    <a:pt x="0" y="2146"/>
                  </a:lnTo>
                  <a:lnTo>
                    <a:pt x="14" y="2146"/>
                  </a:lnTo>
                  <a:close/>
                  <a:moveTo>
                    <a:pt x="14" y="2175"/>
                  </a:moveTo>
                  <a:lnTo>
                    <a:pt x="14" y="2189"/>
                  </a:lnTo>
                  <a:lnTo>
                    <a:pt x="0" y="2189"/>
                  </a:lnTo>
                  <a:lnTo>
                    <a:pt x="0" y="2175"/>
                  </a:lnTo>
                  <a:lnTo>
                    <a:pt x="14" y="2175"/>
                  </a:lnTo>
                  <a:close/>
                  <a:moveTo>
                    <a:pt x="14" y="2203"/>
                  </a:moveTo>
                  <a:lnTo>
                    <a:pt x="14" y="2217"/>
                  </a:lnTo>
                  <a:lnTo>
                    <a:pt x="0" y="2217"/>
                  </a:lnTo>
                  <a:lnTo>
                    <a:pt x="0" y="2203"/>
                  </a:lnTo>
                  <a:lnTo>
                    <a:pt x="14" y="2203"/>
                  </a:lnTo>
                  <a:close/>
                  <a:moveTo>
                    <a:pt x="14" y="2231"/>
                  </a:moveTo>
                  <a:lnTo>
                    <a:pt x="14" y="2245"/>
                  </a:lnTo>
                  <a:lnTo>
                    <a:pt x="0" y="2245"/>
                  </a:lnTo>
                  <a:lnTo>
                    <a:pt x="0" y="2231"/>
                  </a:lnTo>
                  <a:lnTo>
                    <a:pt x="14" y="2231"/>
                  </a:lnTo>
                  <a:close/>
                  <a:moveTo>
                    <a:pt x="14" y="2259"/>
                  </a:moveTo>
                  <a:lnTo>
                    <a:pt x="14" y="2274"/>
                  </a:lnTo>
                  <a:lnTo>
                    <a:pt x="0" y="2274"/>
                  </a:lnTo>
                  <a:lnTo>
                    <a:pt x="0" y="2259"/>
                  </a:lnTo>
                  <a:lnTo>
                    <a:pt x="14" y="2259"/>
                  </a:lnTo>
                  <a:close/>
                  <a:moveTo>
                    <a:pt x="14" y="2287"/>
                  </a:moveTo>
                  <a:lnTo>
                    <a:pt x="14" y="2302"/>
                  </a:lnTo>
                  <a:lnTo>
                    <a:pt x="0" y="2302"/>
                  </a:lnTo>
                  <a:lnTo>
                    <a:pt x="0" y="2287"/>
                  </a:lnTo>
                  <a:lnTo>
                    <a:pt x="14" y="2287"/>
                  </a:lnTo>
                  <a:close/>
                  <a:moveTo>
                    <a:pt x="14" y="2316"/>
                  </a:moveTo>
                  <a:lnTo>
                    <a:pt x="14" y="2330"/>
                  </a:lnTo>
                  <a:lnTo>
                    <a:pt x="0" y="2330"/>
                  </a:lnTo>
                  <a:lnTo>
                    <a:pt x="0" y="2316"/>
                  </a:lnTo>
                  <a:lnTo>
                    <a:pt x="14" y="2316"/>
                  </a:lnTo>
                  <a:close/>
                  <a:moveTo>
                    <a:pt x="14" y="2344"/>
                  </a:moveTo>
                  <a:lnTo>
                    <a:pt x="14" y="2358"/>
                  </a:lnTo>
                  <a:lnTo>
                    <a:pt x="0" y="2358"/>
                  </a:lnTo>
                  <a:lnTo>
                    <a:pt x="0" y="2344"/>
                  </a:lnTo>
                  <a:lnTo>
                    <a:pt x="14" y="2344"/>
                  </a:lnTo>
                  <a:close/>
                  <a:moveTo>
                    <a:pt x="14" y="2372"/>
                  </a:moveTo>
                  <a:lnTo>
                    <a:pt x="14" y="2386"/>
                  </a:lnTo>
                  <a:lnTo>
                    <a:pt x="0" y="2386"/>
                  </a:lnTo>
                  <a:lnTo>
                    <a:pt x="0" y="2372"/>
                  </a:lnTo>
                  <a:lnTo>
                    <a:pt x="14" y="2372"/>
                  </a:lnTo>
                  <a:close/>
                  <a:moveTo>
                    <a:pt x="14" y="2401"/>
                  </a:moveTo>
                  <a:lnTo>
                    <a:pt x="14" y="2415"/>
                  </a:lnTo>
                  <a:lnTo>
                    <a:pt x="0" y="2415"/>
                  </a:lnTo>
                  <a:lnTo>
                    <a:pt x="0" y="2401"/>
                  </a:lnTo>
                  <a:lnTo>
                    <a:pt x="14" y="2401"/>
                  </a:lnTo>
                  <a:close/>
                  <a:moveTo>
                    <a:pt x="14" y="2429"/>
                  </a:moveTo>
                  <a:lnTo>
                    <a:pt x="14" y="2443"/>
                  </a:lnTo>
                  <a:lnTo>
                    <a:pt x="0" y="2443"/>
                  </a:lnTo>
                  <a:lnTo>
                    <a:pt x="0" y="2429"/>
                  </a:lnTo>
                  <a:lnTo>
                    <a:pt x="14" y="2429"/>
                  </a:lnTo>
                  <a:close/>
                  <a:moveTo>
                    <a:pt x="14" y="2457"/>
                  </a:moveTo>
                  <a:lnTo>
                    <a:pt x="14" y="2471"/>
                  </a:lnTo>
                  <a:lnTo>
                    <a:pt x="0" y="2471"/>
                  </a:lnTo>
                  <a:lnTo>
                    <a:pt x="0" y="2457"/>
                  </a:lnTo>
                  <a:lnTo>
                    <a:pt x="14" y="2457"/>
                  </a:lnTo>
                  <a:close/>
                  <a:moveTo>
                    <a:pt x="14" y="2485"/>
                  </a:moveTo>
                  <a:lnTo>
                    <a:pt x="14" y="2489"/>
                  </a:lnTo>
                  <a:lnTo>
                    <a:pt x="0" y="2489"/>
                  </a:lnTo>
                  <a:lnTo>
                    <a:pt x="0" y="2485"/>
                  </a:lnTo>
                  <a:lnTo>
                    <a:pt x="14" y="2485"/>
                  </a:lnTo>
                  <a:close/>
                </a:path>
              </a:pathLst>
            </a:custGeom>
            <a:solidFill>
              <a:srgbClr val="000000"/>
            </a:solidFill>
            <a:ln w="0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1" name="Freeform 46">
              <a:extLst>
                <a:ext uri="{FF2B5EF4-FFF2-40B4-BE49-F238E27FC236}">
                  <a16:creationId xmlns:a16="http://schemas.microsoft.com/office/drawing/2014/main" id="{DA35BF79-2813-4DCD-A648-8B459DC7485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039" y="1440"/>
              <a:ext cx="14" cy="2489"/>
            </a:xfrm>
            <a:custGeom>
              <a:avLst/>
              <a:gdLst>
                <a:gd name="T0" fmla="*/ 14 w 14"/>
                <a:gd name="T1" fmla="*/ 42 h 2489"/>
                <a:gd name="T2" fmla="*/ 0 w 14"/>
                <a:gd name="T3" fmla="*/ 56 h 2489"/>
                <a:gd name="T4" fmla="*/ 14 w 14"/>
                <a:gd name="T5" fmla="*/ 113 h 2489"/>
                <a:gd name="T6" fmla="*/ 0 w 14"/>
                <a:gd name="T7" fmla="*/ 155 h 2489"/>
                <a:gd name="T8" fmla="*/ 14 w 14"/>
                <a:gd name="T9" fmla="*/ 169 h 2489"/>
                <a:gd name="T10" fmla="*/ 14 w 14"/>
                <a:gd name="T11" fmla="*/ 240 h 2489"/>
                <a:gd name="T12" fmla="*/ 0 w 14"/>
                <a:gd name="T13" fmla="*/ 254 h 2489"/>
                <a:gd name="T14" fmla="*/ 14 w 14"/>
                <a:gd name="T15" fmla="*/ 310 h 2489"/>
                <a:gd name="T16" fmla="*/ 0 w 14"/>
                <a:gd name="T17" fmla="*/ 353 h 2489"/>
                <a:gd name="T18" fmla="*/ 14 w 14"/>
                <a:gd name="T19" fmla="*/ 367 h 2489"/>
                <a:gd name="T20" fmla="*/ 14 w 14"/>
                <a:gd name="T21" fmla="*/ 437 h 2489"/>
                <a:gd name="T22" fmla="*/ 0 w 14"/>
                <a:gd name="T23" fmla="*/ 452 h 2489"/>
                <a:gd name="T24" fmla="*/ 14 w 14"/>
                <a:gd name="T25" fmla="*/ 508 h 2489"/>
                <a:gd name="T26" fmla="*/ 0 w 14"/>
                <a:gd name="T27" fmla="*/ 550 h 2489"/>
                <a:gd name="T28" fmla="*/ 14 w 14"/>
                <a:gd name="T29" fmla="*/ 565 h 2489"/>
                <a:gd name="T30" fmla="*/ 14 w 14"/>
                <a:gd name="T31" fmla="*/ 635 h 2489"/>
                <a:gd name="T32" fmla="*/ 0 w 14"/>
                <a:gd name="T33" fmla="*/ 649 h 2489"/>
                <a:gd name="T34" fmla="*/ 14 w 14"/>
                <a:gd name="T35" fmla="*/ 706 h 2489"/>
                <a:gd name="T36" fmla="*/ 0 w 14"/>
                <a:gd name="T37" fmla="*/ 748 h 2489"/>
                <a:gd name="T38" fmla="*/ 14 w 14"/>
                <a:gd name="T39" fmla="*/ 762 h 2489"/>
                <a:gd name="T40" fmla="*/ 14 w 14"/>
                <a:gd name="T41" fmla="*/ 833 h 2489"/>
                <a:gd name="T42" fmla="*/ 0 w 14"/>
                <a:gd name="T43" fmla="*/ 847 h 2489"/>
                <a:gd name="T44" fmla="*/ 14 w 14"/>
                <a:gd name="T45" fmla="*/ 903 h 2489"/>
                <a:gd name="T46" fmla="*/ 0 w 14"/>
                <a:gd name="T47" fmla="*/ 946 h 2489"/>
                <a:gd name="T48" fmla="*/ 14 w 14"/>
                <a:gd name="T49" fmla="*/ 960 h 2489"/>
                <a:gd name="T50" fmla="*/ 14 w 14"/>
                <a:gd name="T51" fmla="*/ 1031 h 2489"/>
                <a:gd name="T52" fmla="*/ 0 w 14"/>
                <a:gd name="T53" fmla="*/ 1045 h 2489"/>
                <a:gd name="T54" fmla="*/ 14 w 14"/>
                <a:gd name="T55" fmla="*/ 1101 h 2489"/>
                <a:gd name="T56" fmla="*/ 0 w 14"/>
                <a:gd name="T57" fmla="*/ 1143 h 2489"/>
                <a:gd name="T58" fmla="*/ 14 w 14"/>
                <a:gd name="T59" fmla="*/ 1158 h 2489"/>
                <a:gd name="T60" fmla="*/ 14 w 14"/>
                <a:gd name="T61" fmla="*/ 1228 h 2489"/>
                <a:gd name="T62" fmla="*/ 0 w 14"/>
                <a:gd name="T63" fmla="*/ 1242 h 2489"/>
                <a:gd name="T64" fmla="*/ 14 w 14"/>
                <a:gd name="T65" fmla="*/ 1299 h 2489"/>
                <a:gd name="T66" fmla="*/ 0 w 14"/>
                <a:gd name="T67" fmla="*/ 1341 h 2489"/>
                <a:gd name="T68" fmla="*/ 14 w 14"/>
                <a:gd name="T69" fmla="*/ 1355 h 2489"/>
                <a:gd name="T70" fmla="*/ 14 w 14"/>
                <a:gd name="T71" fmla="*/ 1426 h 2489"/>
                <a:gd name="T72" fmla="*/ 0 w 14"/>
                <a:gd name="T73" fmla="*/ 1440 h 2489"/>
                <a:gd name="T74" fmla="*/ 14 w 14"/>
                <a:gd name="T75" fmla="*/ 1497 h 2489"/>
                <a:gd name="T76" fmla="*/ 0 w 14"/>
                <a:gd name="T77" fmla="*/ 1539 h 2489"/>
                <a:gd name="T78" fmla="*/ 14 w 14"/>
                <a:gd name="T79" fmla="*/ 1553 h 2489"/>
                <a:gd name="T80" fmla="*/ 14 w 14"/>
                <a:gd name="T81" fmla="*/ 1624 h 2489"/>
                <a:gd name="T82" fmla="*/ 0 w 14"/>
                <a:gd name="T83" fmla="*/ 1638 h 2489"/>
                <a:gd name="T84" fmla="*/ 14 w 14"/>
                <a:gd name="T85" fmla="*/ 1694 h 2489"/>
                <a:gd name="T86" fmla="*/ 0 w 14"/>
                <a:gd name="T87" fmla="*/ 1737 h 2489"/>
                <a:gd name="T88" fmla="*/ 14 w 14"/>
                <a:gd name="T89" fmla="*/ 1751 h 2489"/>
                <a:gd name="T90" fmla="*/ 14 w 14"/>
                <a:gd name="T91" fmla="*/ 1821 h 2489"/>
                <a:gd name="T92" fmla="*/ 0 w 14"/>
                <a:gd name="T93" fmla="*/ 1836 h 2489"/>
                <a:gd name="T94" fmla="*/ 14 w 14"/>
                <a:gd name="T95" fmla="*/ 1892 h 2489"/>
                <a:gd name="T96" fmla="*/ 0 w 14"/>
                <a:gd name="T97" fmla="*/ 1935 h 2489"/>
                <a:gd name="T98" fmla="*/ 14 w 14"/>
                <a:gd name="T99" fmla="*/ 1948 h 2489"/>
                <a:gd name="T100" fmla="*/ 14 w 14"/>
                <a:gd name="T101" fmla="*/ 2019 h 2489"/>
                <a:gd name="T102" fmla="*/ 0 w 14"/>
                <a:gd name="T103" fmla="*/ 2033 h 2489"/>
                <a:gd name="T104" fmla="*/ 14 w 14"/>
                <a:gd name="T105" fmla="*/ 2090 h 2489"/>
                <a:gd name="T106" fmla="*/ 0 w 14"/>
                <a:gd name="T107" fmla="*/ 2132 h 2489"/>
                <a:gd name="T108" fmla="*/ 14 w 14"/>
                <a:gd name="T109" fmla="*/ 2146 h 2489"/>
                <a:gd name="T110" fmla="*/ 14 w 14"/>
                <a:gd name="T111" fmla="*/ 2217 h 2489"/>
                <a:gd name="T112" fmla="*/ 0 w 14"/>
                <a:gd name="T113" fmla="*/ 2231 h 2489"/>
                <a:gd name="T114" fmla="*/ 14 w 14"/>
                <a:gd name="T115" fmla="*/ 2287 h 2489"/>
                <a:gd name="T116" fmla="*/ 0 w 14"/>
                <a:gd name="T117" fmla="*/ 2330 h 2489"/>
                <a:gd name="T118" fmla="*/ 14 w 14"/>
                <a:gd name="T119" fmla="*/ 2344 h 2489"/>
                <a:gd name="T120" fmla="*/ 14 w 14"/>
                <a:gd name="T121" fmla="*/ 2415 h 2489"/>
                <a:gd name="T122" fmla="*/ 0 w 14"/>
                <a:gd name="T123" fmla="*/ 2429 h 2489"/>
                <a:gd name="T124" fmla="*/ 14 w 14"/>
                <a:gd name="T125" fmla="*/ 2485 h 24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4" h="2489">
                  <a:moveTo>
                    <a:pt x="14" y="0"/>
                  </a:moveTo>
                  <a:lnTo>
                    <a:pt x="14" y="14"/>
                  </a:lnTo>
                  <a:lnTo>
                    <a:pt x="0" y="14"/>
                  </a:lnTo>
                  <a:lnTo>
                    <a:pt x="0" y="0"/>
                  </a:lnTo>
                  <a:lnTo>
                    <a:pt x="14" y="0"/>
                  </a:lnTo>
                  <a:close/>
                  <a:moveTo>
                    <a:pt x="14" y="28"/>
                  </a:moveTo>
                  <a:lnTo>
                    <a:pt x="14" y="42"/>
                  </a:lnTo>
                  <a:lnTo>
                    <a:pt x="0" y="42"/>
                  </a:lnTo>
                  <a:lnTo>
                    <a:pt x="0" y="28"/>
                  </a:lnTo>
                  <a:lnTo>
                    <a:pt x="14" y="28"/>
                  </a:lnTo>
                  <a:close/>
                  <a:moveTo>
                    <a:pt x="14" y="56"/>
                  </a:moveTo>
                  <a:lnTo>
                    <a:pt x="14" y="70"/>
                  </a:lnTo>
                  <a:lnTo>
                    <a:pt x="0" y="70"/>
                  </a:lnTo>
                  <a:lnTo>
                    <a:pt x="0" y="56"/>
                  </a:lnTo>
                  <a:lnTo>
                    <a:pt x="14" y="56"/>
                  </a:lnTo>
                  <a:close/>
                  <a:moveTo>
                    <a:pt x="14" y="84"/>
                  </a:moveTo>
                  <a:lnTo>
                    <a:pt x="14" y="98"/>
                  </a:lnTo>
                  <a:lnTo>
                    <a:pt x="0" y="98"/>
                  </a:lnTo>
                  <a:lnTo>
                    <a:pt x="0" y="84"/>
                  </a:lnTo>
                  <a:lnTo>
                    <a:pt x="14" y="84"/>
                  </a:lnTo>
                  <a:close/>
                  <a:moveTo>
                    <a:pt x="14" y="113"/>
                  </a:moveTo>
                  <a:lnTo>
                    <a:pt x="14" y="127"/>
                  </a:lnTo>
                  <a:lnTo>
                    <a:pt x="0" y="127"/>
                  </a:lnTo>
                  <a:lnTo>
                    <a:pt x="0" y="113"/>
                  </a:lnTo>
                  <a:lnTo>
                    <a:pt x="14" y="113"/>
                  </a:lnTo>
                  <a:close/>
                  <a:moveTo>
                    <a:pt x="14" y="141"/>
                  </a:moveTo>
                  <a:lnTo>
                    <a:pt x="14" y="155"/>
                  </a:lnTo>
                  <a:lnTo>
                    <a:pt x="0" y="155"/>
                  </a:lnTo>
                  <a:lnTo>
                    <a:pt x="0" y="141"/>
                  </a:lnTo>
                  <a:lnTo>
                    <a:pt x="14" y="141"/>
                  </a:lnTo>
                  <a:close/>
                  <a:moveTo>
                    <a:pt x="14" y="169"/>
                  </a:moveTo>
                  <a:lnTo>
                    <a:pt x="14" y="183"/>
                  </a:lnTo>
                  <a:lnTo>
                    <a:pt x="0" y="183"/>
                  </a:lnTo>
                  <a:lnTo>
                    <a:pt x="0" y="169"/>
                  </a:lnTo>
                  <a:lnTo>
                    <a:pt x="14" y="169"/>
                  </a:lnTo>
                  <a:close/>
                  <a:moveTo>
                    <a:pt x="14" y="197"/>
                  </a:moveTo>
                  <a:lnTo>
                    <a:pt x="14" y="211"/>
                  </a:lnTo>
                  <a:lnTo>
                    <a:pt x="0" y="211"/>
                  </a:lnTo>
                  <a:lnTo>
                    <a:pt x="0" y="197"/>
                  </a:lnTo>
                  <a:lnTo>
                    <a:pt x="14" y="197"/>
                  </a:lnTo>
                  <a:close/>
                  <a:moveTo>
                    <a:pt x="14" y="226"/>
                  </a:moveTo>
                  <a:lnTo>
                    <a:pt x="14" y="240"/>
                  </a:lnTo>
                  <a:lnTo>
                    <a:pt x="0" y="240"/>
                  </a:lnTo>
                  <a:lnTo>
                    <a:pt x="0" y="226"/>
                  </a:lnTo>
                  <a:lnTo>
                    <a:pt x="14" y="226"/>
                  </a:lnTo>
                  <a:close/>
                  <a:moveTo>
                    <a:pt x="14" y="254"/>
                  </a:moveTo>
                  <a:lnTo>
                    <a:pt x="14" y="268"/>
                  </a:lnTo>
                  <a:lnTo>
                    <a:pt x="0" y="268"/>
                  </a:lnTo>
                  <a:lnTo>
                    <a:pt x="0" y="254"/>
                  </a:lnTo>
                  <a:lnTo>
                    <a:pt x="14" y="254"/>
                  </a:lnTo>
                  <a:close/>
                  <a:moveTo>
                    <a:pt x="14" y="282"/>
                  </a:moveTo>
                  <a:lnTo>
                    <a:pt x="14" y="296"/>
                  </a:lnTo>
                  <a:lnTo>
                    <a:pt x="0" y="296"/>
                  </a:lnTo>
                  <a:lnTo>
                    <a:pt x="0" y="282"/>
                  </a:lnTo>
                  <a:lnTo>
                    <a:pt x="14" y="282"/>
                  </a:lnTo>
                  <a:close/>
                  <a:moveTo>
                    <a:pt x="14" y="310"/>
                  </a:moveTo>
                  <a:lnTo>
                    <a:pt x="14" y="325"/>
                  </a:lnTo>
                  <a:lnTo>
                    <a:pt x="0" y="325"/>
                  </a:lnTo>
                  <a:lnTo>
                    <a:pt x="0" y="310"/>
                  </a:lnTo>
                  <a:lnTo>
                    <a:pt x="14" y="310"/>
                  </a:lnTo>
                  <a:close/>
                  <a:moveTo>
                    <a:pt x="14" y="338"/>
                  </a:moveTo>
                  <a:lnTo>
                    <a:pt x="14" y="353"/>
                  </a:lnTo>
                  <a:lnTo>
                    <a:pt x="0" y="353"/>
                  </a:lnTo>
                  <a:lnTo>
                    <a:pt x="0" y="338"/>
                  </a:lnTo>
                  <a:lnTo>
                    <a:pt x="14" y="338"/>
                  </a:lnTo>
                  <a:close/>
                  <a:moveTo>
                    <a:pt x="14" y="367"/>
                  </a:moveTo>
                  <a:lnTo>
                    <a:pt x="14" y="381"/>
                  </a:lnTo>
                  <a:lnTo>
                    <a:pt x="0" y="381"/>
                  </a:lnTo>
                  <a:lnTo>
                    <a:pt x="0" y="367"/>
                  </a:lnTo>
                  <a:lnTo>
                    <a:pt x="14" y="367"/>
                  </a:lnTo>
                  <a:close/>
                  <a:moveTo>
                    <a:pt x="14" y="395"/>
                  </a:moveTo>
                  <a:lnTo>
                    <a:pt x="14" y="409"/>
                  </a:lnTo>
                  <a:lnTo>
                    <a:pt x="0" y="409"/>
                  </a:lnTo>
                  <a:lnTo>
                    <a:pt x="0" y="395"/>
                  </a:lnTo>
                  <a:lnTo>
                    <a:pt x="14" y="395"/>
                  </a:lnTo>
                  <a:close/>
                  <a:moveTo>
                    <a:pt x="14" y="423"/>
                  </a:moveTo>
                  <a:lnTo>
                    <a:pt x="14" y="437"/>
                  </a:lnTo>
                  <a:lnTo>
                    <a:pt x="0" y="437"/>
                  </a:lnTo>
                  <a:lnTo>
                    <a:pt x="0" y="423"/>
                  </a:lnTo>
                  <a:lnTo>
                    <a:pt x="14" y="423"/>
                  </a:lnTo>
                  <a:close/>
                  <a:moveTo>
                    <a:pt x="14" y="452"/>
                  </a:moveTo>
                  <a:lnTo>
                    <a:pt x="14" y="466"/>
                  </a:lnTo>
                  <a:lnTo>
                    <a:pt x="0" y="466"/>
                  </a:lnTo>
                  <a:lnTo>
                    <a:pt x="0" y="452"/>
                  </a:lnTo>
                  <a:lnTo>
                    <a:pt x="14" y="452"/>
                  </a:lnTo>
                  <a:close/>
                  <a:moveTo>
                    <a:pt x="14" y="480"/>
                  </a:moveTo>
                  <a:lnTo>
                    <a:pt x="14" y="494"/>
                  </a:lnTo>
                  <a:lnTo>
                    <a:pt x="0" y="494"/>
                  </a:lnTo>
                  <a:lnTo>
                    <a:pt x="0" y="480"/>
                  </a:lnTo>
                  <a:lnTo>
                    <a:pt x="14" y="480"/>
                  </a:lnTo>
                  <a:close/>
                  <a:moveTo>
                    <a:pt x="14" y="508"/>
                  </a:moveTo>
                  <a:lnTo>
                    <a:pt x="14" y="522"/>
                  </a:lnTo>
                  <a:lnTo>
                    <a:pt x="0" y="522"/>
                  </a:lnTo>
                  <a:lnTo>
                    <a:pt x="0" y="508"/>
                  </a:lnTo>
                  <a:lnTo>
                    <a:pt x="14" y="508"/>
                  </a:lnTo>
                  <a:close/>
                  <a:moveTo>
                    <a:pt x="14" y="536"/>
                  </a:moveTo>
                  <a:lnTo>
                    <a:pt x="14" y="550"/>
                  </a:lnTo>
                  <a:lnTo>
                    <a:pt x="0" y="550"/>
                  </a:lnTo>
                  <a:lnTo>
                    <a:pt x="0" y="536"/>
                  </a:lnTo>
                  <a:lnTo>
                    <a:pt x="14" y="536"/>
                  </a:lnTo>
                  <a:close/>
                  <a:moveTo>
                    <a:pt x="14" y="565"/>
                  </a:moveTo>
                  <a:lnTo>
                    <a:pt x="14" y="579"/>
                  </a:lnTo>
                  <a:lnTo>
                    <a:pt x="0" y="579"/>
                  </a:lnTo>
                  <a:lnTo>
                    <a:pt x="0" y="565"/>
                  </a:lnTo>
                  <a:lnTo>
                    <a:pt x="14" y="565"/>
                  </a:lnTo>
                  <a:close/>
                  <a:moveTo>
                    <a:pt x="14" y="593"/>
                  </a:moveTo>
                  <a:lnTo>
                    <a:pt x="14" y="607"/>
                  </a:lnTo>
                  <a:lnTo>
                    <a:pt x="0" y="607"/>
                  </a:lnTo>
                  <a:lnTo>
                    <a:pt x="0" y="593"/>
                  </a:lnTo>
                  <a:lnTo>
                    <a:pt x="14" y="593"/>
                  </a:lnTo>
                  <a:close/>
                  <a:moveTo>
                    <a:pt x="14" y="621"/>
                  </a:moveTo>
                  <a:lnTo>
                    <a:pt x="14" y="635"/>
                  </a:lnTo>
                  <a:lnTo>
                    <a:pt x="0" y="635"/>
                  </a:lnTo>
                  <a:lnTo>
                    <a:pt x="0" y="621"/>
                  </a:lnTo>
                  <a:lnTo>
                    <a:pt x="14" y="621"/>
                  </a:lnTo>
                  <a:close/>
                  <a:moveTo>
                    <a:pt x="14" y="649"/>
                  </a:moveTo>
                  <a:lnTo>
                    <a:pt x="14" y="664"/>
                  </a:lnTo>
                  <a:lnTo>
                    <a:pt x="0" y="664"/>
                  </a:lnTo>
                  <a:lnTo>
                    <a:pt x="0" y="649"/>
                  </a:lnTo>
                  <a:lnTo>
                    <a:pt x="14" y="649"/>
                  </a:lnTo>
                  <a:close/>
                  <a:moveTo>
                    <a:pt x="14" y="677"/>
                  </a:moveTo>
                  <a:lnTo>
                    <a:pt x="14" y="692"/>
                  </a:lnTo>
                  <a:lnTo>
                    <a:pt x="0" y="692"/>
                  </a:lnTo>
                  <a:lnTo>
                    <a:pt x="0" y="677"/>
                  </a:lnTo>
                  <a:lnTo>
                    <a:pt x="14" y="677"/>
                  </a:lnTo>
                  <a:close/>
                  <a:moveTo>
                    <a:pt x="14" y="706"/>
                  </a:moveTo>
                  <a:lnTo>
                    <a:pt x="14" y="720"/>
                  </a:lnTo>
                  <a:lnTo>
                    <a:pt x="0" y="720"/>
                  </a:lnTo>
                  <a:lnTo>
                    <a:pt x="0" y="706"/>
                  </a:lnTo>
                  <a:lnTo>
                    <a:pt x="14" y="706"/>
                  </a:lnTo>
                  <a:close/>
                  <a:moveTo>
                    <a:pt x="14" y="734"/>
                  </a:moveTo>
                  <a:lnTo>
                    <a:pt x="14" y="748"/>
                  </a:lnTo>
                  <a:lnTo>
                    <a:pt x="0" y="748"/>
                  </a:lnTo>
                  <a:lnTo>
                    <a:pt x="0" y="734"/>
                  </a:lnTo>
                  <a:lnTo>
                    <a:pt x="14" y="734"/>
                  </a:lnTo>
                  <a:close/>
                  <a:moveTo>
                    <a:pt x="14" y="762"/>
                  </a:moveTo>
                  <a:lnTo>
                    <a:pt x="14" y="776"/>
                  </a:lnTo>
                  <a:lnTo>
                    <a:pt x="0" y="776"/>
                  </a:lnTo>
                  <a:lnTo>
                    <a:pt x="0" y="762"/>
                  </a:lnTo>
                  <a:lnTo>
                    <a:pt x="14" y="762"/>
                  </a:lnTo>
                  <a:close/>
                  <a:moveTo>
                    <a:pt x="14" y="791"/>
                  </a:moveTo>
                  <a:lnTo>
                    <a:pt x="14" y="805"/>
                  </a:lnTo>
                  <a:lnTo>
                    <a:pt x="0" y="805"/>
                  </a:lnTo>
                  <a:lnTo>
                    <a:pt x="0" y="791"/>
                  </a:lnTo>
                  <a:lnTo>
                    <a:pt x="14" y="791"/>
                  </a:lnTo>
                  <a:close/>
                  <a:moveTo>
                    <a:pt x="14" y="819"/>
                  </a:moveTo>
                  <a:lnTo>
                    <a:pt x="14" y="833"/>
                  </a:lnTo>
                  <a:lnTo>
                    <a:pt x="0" y="833"/>
                  </a:lnTo>
                  <a:lnTo>
                    <a:pt x="0" y="819"/>
                  </a:lnTo>
                  <a:lnTo>
                    <a:pt x="14" y="819"/>
                  </a:lnTo>
                  <a:close/>
                  <a:moveTo>
                    <a:pt x="14" y="847"/>
                  </a:moveTo>
                  <a:lnTo>
                    <a:pt x="14" y="861"/>
                  </a:lnTo>
                  <a:lnTo>
                    <a:pt x="0" y="861"/>
                  </a:lnTo>
                  <a:lnTo>
                    <a:pt x="0" y="847"/>
                  </a:lnTo>
                  <a:lnTo>
                    <a:pt x="14" y="847"/>
                  </a:lnTo>
                  <a:close/>
                  <a:moveTo>
                    <a:pt x="14" y="875"/>
                  </a:moveTo>
                  <a:lnTo>
                    <a:pt x="14" y="889"/>
                  </a:lnTo>
                  <a:lnTo>
                    <a:pt x="0" y="889"/>
                  </a:lnTo>
                  <a:lnTo>
                    <a:pt x="0" y="875"/>
                  </a:lnTo>
                  <a:lnTo>
                    <a:pt x="14" y="875"/>
                  </a:lnTo>
                  <a:close/>
                  <a:moveTo>
                    <a:pt x="14" y="903"/>
                  </a:moveTo>
                  <a:lnTo>
                    <a:pt x="14" y="918"/>
                  </a:lnTo>
                  <a:lnTo>
                    <a:pt x="0" y="918"/>
                  </a:lnTo>
                  <a:lnTo>
                    <a:pt x="0" y="903"/>
                  </a:lnTo>
                  <a:lnTo>
                    <a:pt x="14" y="903"/>
                  </a:lnTo>
                  <a:close/>
                  <a:moveTo>
                    <a:pt x="14" y="932"/>
                  </a:moveTo>
                  <a:lnTo>
                    <a:pt x="14" y="946"/>
                  </a:lnTo>
                  <a:lnTo>
                    <a:pt x="0" y="946"/>
                  </a:lnTo>
                  <a:lnTo>
                    <a:pt x="0" y="932"/>
                  </a:lnTo>
                  <a:lnTo>
                    <a:pt x="14" y="932"/>
                  </a:lnTo>
                  <a:close/>
                  <a:moveTo>
                    <a:pt x="14" y="960"/>
                  </a:moveTo>
                  <a:lnTo>
                    <a:pt x="14" y="974"/>
                  </a:lnTo>
                  <a:lnTo>
                    <a:pt x="0" y="974"/>
                  </a:lnTo>
                  <a:lnTo>
                    <a:pt x="0" y="960"/>
                  </a:lnTo>
                  <a:lnTo>
                    <a:pt x="14" y="960"/>
                  </a:lnTo>
                  <a:close/>
                  <a:moveTo>
                    <a:pt x="14" y="988"/>
                  </a:moveTo>
                  <a:lnTo>
                    <a:pt x="14" y="1002"/>
                  </a:lnTo>
                  <a:lnTo>
                    <a:pt x="0" y="1002"/>
                  </a:lnTo>
                  <a:lnTo>
                    <a:pt x="0" y="988"/>
                  </a:lnTo>
                  <a:lnTo>
                    <a:pt x="14" y="988"/>
                  </a:lnTo>
                  <a:close/>
                  <a:moveTo>
                    <a:pt x="14" y="1016"/>
                  </a:moveTo>
                  <a:lnTo>
                    <a:pt x="14" y="1031"/>
                  </a:lnTo>
                  <a:lnTo>
                    <a:pt x="0" y="1031"/>
                  </a:lnTo>
                  <a:lnTo>
                    <a:pt x="0" y="1016"/>
                  </a:lnTo>
                  <a:lnTo>
                    <a:pt x="14" y="1016"/>
                  </a:lnTo>
                  <a:close/>
                  <a:moveTo>
                    <a:pt x="14" y="1045"/>
                  </a:moveTo>
                  <a:lnTo>
                    <a:pt x="14" y="1059"/>
                  </a:lnTo>
                  <a:lnTo>
                    <a:pt x="0" y="1059"/>
                  </a:lnTo>
                  <a:lnTo>
                    <a:pt x="0" y="1045"/>
                  </a:lnTo>
                  <a:lnTo>
                    <a:pt x="14" y="1045"/>
                  </a:lnTo>
                  <a:close/>
                  <a:moveTo>
                    <a:pt x="14" y="1073"/>
                  </a:moveTo>
                  <a:lnTo>
                    <a:pt x="14" y="1087"/>
                  </a:lnTo>
                  <a:lnTo>
                    <a:pt x="0" y="1087"/>
                  </a:lnTo>
                  <a:lnTo>
                    <a:pt x="0" y="1073"/>
                  </a:lnTo>
                  <a:lnTo>
                    <a:pt x="14" y="1073"/>
                  </a:lnTo>
                  <a:close/>
                  <a:moveTo>
                    <a:pt x="14" y="1101"/>
                  </a:moveTo>
                  <a:lnTo>
                    <a:pt x="14" y="1115"/>
                  </a:lnTo>
                  <a:lnTo>
                    <a:pt x="0" y="1115"/>
                  </a:lnTo>
                  <a:lnTo>
                    <a:pt x="0" y="1101"/>
                  </a:lnTo>
                  <a:lnTo>
                    <a:pt x="14" y="1101"/>
                  </a:lnTo>
                  <a:close/>
                  <a:moveTo>
                    <a:pt x="14" y="1130"/>
                  </a:moveTo>
                  <a:lnTo>
                    <a:pt x="14" y="1143"/>
                  </a:lnTo>
                  <a:lnTo>
                    <a:pt x="0" y="1143"/>
                  </a:lnTo>
                  <a:lnTo>
                    <a:pt x="0" y="1130"/>
                  </a:lnTo>
                  <a:lnTo>
                    <a:pt x="14" y="1130"/>
                  </a:lnTo>
                  <a:close/>
                  <a:moveTo>
                    <a:pt x="14" y="1158"/>
                  </a:moveTo>
                  <a:lnTo>
                    <a:pt x="14" y="1172"/>
                  </a:lnTo>
                  <a:lnTo>
                    <a:pt x="0" y="1172"/>
                  </a:lnTo>
                  <a:lnTo>
                    <a:pt x="0" y="1158"/>
                  </a:lnTo>
                  <a:lnTo>
                    <a:pt x="14" y="1158"/>
                  </a:lnTo>
                  <a:close/>
                  <a:moveTo>
                    <a:pt x="14" y="1186"/>
                  </a:moveTo>
                  <a:lnTo>
                    <a:pt x="14" y="1200"/>
                  </a:lnTo>
                  <a:lnTo>
                    <a:pt x="0" y="1200"/>
                  </a:lnTo>
                  <a:lnTo>
                    <a:pt x="0" y="1186"/>
                  </a:lnTo>
                  <a:lnTo>
                    <a:pt x="14" y="1186"/>
                  </a:lnTo>
                  <a:close/>
                  <a:moveTo>
                    <a:pt x="14" y="1214"/>
                  </a:moveTo>
                  <a:lnTo>
                    <a:pt x="14" y="1228"/>
                  </a:lnTo>
                  <a:lnTo>
                    <a:pt x="0" y="1228"/>
                  </a:lnTo>
                  <a:lnTo>
                    <a:pt x="0" y="1214"/>
                  </a:lnTo>
                  <a:lnTo>
                    <a:pt x="14" y="1214"/>
                  </a:lnTo>
                  <a:close/>
                  <a:moveTo>
                    <a:pt x="14" y="1242"/>
                  </a:moveTo>
                  <a:lnTo>
                    <a:pt x="14" y="1257"/>
                  </a:lnTo>
                  <a:lnTo>
                    <a:pt x="0" y="1257"/>
                  </a:lnTo>
                  <a:lnTo>
                    <a:pt x="0" y="1242"/>
                  </a:lnTo>
                  <a:lnTo>
                    <a:pt x="14" y="1242"/>
                  </a:lnTo>
                  <a:close/>
                  <a:moveTo>
                    <a:pt x="14" y="1271"/>
                  </a:moveTo>
                  <a:lnTo>
                    <a:pt x="14" y="1285"/>
                  </a:lnTo>
                  <a:lnTo>
                    <a:pt x="0" y="1285"/>
                  </a:lnTo>
                  <a:lnTo>
                    <a:pt x="0" y="1271"/>
                  </a:lnTo>
                  <a:lnTo>
                    <a:pt x="14" y="1271"/>
                  </a:lnTo>
                  <a:close/>
                  <a:moveTo>
                    <a:pt x="14" y="1299"/>
                  </a:moveTo>
                  <a:lnTo>
                    <a:pt x="14" y="1313"/>
                  </a:lnTo>
                  <a:lnTo>
                    <a:pt x="0" y="1313"/>
                  </a:lnTo>
                  <a:lnTo>
                    <a:pt x="0" y="1299"/>
                  </a:lnTo>
                  <a:lnTo>
                    <a:pt x="14" y="1299"/>
                  </a:lnTo>
                  <a:close/>
                  <a:moveTo>
                    <a:pt x="14" y="1327"/>
                  </a:moveTo>
                  <a:lnTo>
                    <a:pt x="14" y="1341"/>
                  </a:lnTo>
                  <a:lnTo>
                    <a:pt x="0" y="1341"/>
                  </a:lnTo>
                  <a:lnTo>
                    <a:pt x="0" y="1327"/>
                  </a:lnTo>
                  <a:lnTo>
                    <a:pt x="14" y="1327"/>
                  </a:lnTo>
                  <a:close/>
                  <a:moveTo>
                    <a:pt x="14" y="1355"/>
                  </a:moveTo>
                  <a:lnTo>
                    <a:pt x="14" y="1370"/>
                  </a:lnTo>
                  <a:lnTo>
                    <a:pt x="0" y="1370"/>
                  </a:lnTo>
                  <a:lnTo>
                    <a:pt x="0" y="1355"/>
                  </a:lnTo>
                  <a:lnTo>
                    <a:pt x="14" y="1355"/>
                  </a:lnTo>
                  <a:close/>
                  <a:moveTo>
                    <a:pt x="14" y="1384"/>
                  </a:moveTo>
                  <a:lnTo>
                    <a:pt x="14" y="1398"/>
                  </a:lnTo>
                  <a:lnTo>
                    <a:pt x="0" y="1398"/>
                  </a:lnTo>
                  <a:lnTo>
                    <a:pt x="0" y="1384"/>
                  </a:lnTo>
                  <a:lnTo>
                    <a:pt x="14" y="1384"/>
                  </a:lnTo>
                  <a:close/>
                  <a:moveTo>
                    <a:pt x="14" y="1412"/>
                  </a:moveTo>
                  <a:lnTo>
                    <a:pt x="14" y="1426"/>
                  </a:lnTo>
                  <a:lnTo>
                    <a:pt x="0" y="1426"/>
                  </a:lnTo>
                  <a:lnTo>
                    <a:pt x="0" y="1412"/>
                  </a:lnTo>
                  <a:lnTo>
                    <a:pt x="14" y="1412"/>
                  </a:lnTo>
                  <a:close/>
                  <a:moveTo>
                    <a:pt x="14" y="1440"/>
                  </a:moveTo>
                  <a:lnTo>
                    <a:pt x="14" y="1454"/>
                  </a:lnTo>
                  <a:lnTo>
                    <a:pt x="0" y="1454"/>
                  </a:lnTo>
                  <a:lnTo>
                    <a:pt x="0" y="1440"/>
                  </a:lnTo>
                  <a:lnTo>
                    <a:pt x="14" y="1440"/>
                  </a:lnTo>
                  <a:close/>
                  <a:moveTo>
                    <a:pt x="14" y="1469"/>
                  </a:moveTo>
                  <a:lnTo>
                    <a:pt x="14" y="1482"/>
                  </a:lnTo>
                  <a:lnTo>
                    <a:pt x="0" y="1482"/>
                  </a:lnTo>
                  <a:lnTo>
                    <a:pt x="0" y="1469"/>
                  </a:lnTo>
                  <a:lnTo>
                    <a:pt x="14" y="1469"/>
                  </a:lnTo>
                  <a:close/>
                  <a:moveTo>
                    <a:pt x="14" y="1497"/>
                  </a:moveTo>
                  <a:lnTo>
                    <a:pt x="14" y="1511"/>
                  </a:lnTo>
                  <a:lnTo>
                    <a:pt x="0" y="1511"/>
                  </a:lnTo>
                  <a:lnTo>
                    <a:pt x="0" y="1497"/>
                  </a:lnTo>
                  <a:lnTo>
                    <a:pt x="14" y="1497"/>
                  </a:lnTo>
                  <a:close/>
                  <a:moveTo>
                    <a:pt x="14" y="1525"/>
                  </a:moveTo>
                  <a:lnTo>
                    <a:pt x="14" y="1539"/>
                  </a:lnTo>
                  <a:lnTo>
                    <a:pt x="0" y="1539"/>
                  </a:lnTo>
                  <a:lnTo>
                    <a:pt x="0" y="1525"/>
                  </a:lnTo>
                  <a:lnTo>
                    <a:pt x="14" y="1525"/>
                  </a:lnTo>
                  <a:close/>
                  <a:moveTo>
                    <a:pt x="14" y="1553"/>
                  </a:moveTo>
                  <a:lnTo>
                    <a:pt x="14" y="1567"/>
                  </a:lnTo>
                  <a:lnTo>
                    <a:pt x="0" y="1567"/>
                  </a:lnTo>
                  <a:lnTo>
                    <a:pt x="0" y="1553"/>
                  </a:lnTo>
                  <a:lnTo>
                    <a:pt x="14" y="1553"/>
                  </a:lnTo>
                  <a:close/>
                  <a:moveTo>
                    <a:pt x="14" y="1581"/>
                  </a:moveTo>
                  <a:lnTo>
                    <a:pt x="14" y="1596"/>
                  </a:lnTo>
                  <a:lnTo>
                    <a:pt x="0" y="1596"/>
                  </a:lnTo>
                  <a:lnTo>
                    <a:pt x="0" y="1581"/>
                  </a:lnTo>
                  <a:lnTo>
                    <a:pt x="14" y="1581"/>
                  </a:lnTo>
                  <a:close/>
                  <a:moveTo>
                    <a:pt x="14" y="1610"/>
                  </a:moveTo>
                  <a:lnTo>
                    <a:pt x="14" y="1624"/>
                  </a:lnTo>
                  <a:lnTo>
                    <a:pt x="0" y="1624"/>
                  </a:lnTo>
                  <a:lnTo>
                    <a:pt x="0" y="1610"/>
                  </a:lnTo>
                  <a:lnTo>
                    <a:pt x="14" y="1610"/>
                  </a:lnTo>
                  <a:close/>
                  <a:moveTo>
                    <a:pt x="14" y="1638"/>
                  </a:moveTo>
                  <a:lnTo>
                    <a:pt x="14" y="1652"/>
                  </a:lnTo>
                  <a:lnTo>
                    <a:pt x="0" y="1652"/>
                  </a:lnTo>
                  <a:lnTo>
                    <a:pt x="0" y="1638"/>
                  </a:lnTo>
                  <a:lnTo>
                    <a:pt x="14" y="1638"/>
                  </a:lnTo>
                  <a:close/>
                  <a:moveTo>
                    <a:pt x="14" y="1666"/>
                  </a:moveTo>
                  <a:lnTo>
                    <a:pt x="14" y="1680"/>
                  </a:lnTo>
                  <a:lnTo>
                    <a:pt x="0" y="1680"/>
                  </a:lnTo>
                  <a:lnTo>
                    <a:pt x="0" y="1666"/>
                  </a:lnTo>
                  <a:lnTo>
                    <a:pt x="14" y="1666"/>
                  </a:lnTo>
                  <a:close/>
                  <a:moveTo>
                    <a:pt x="14" y="1694"/>
                  </a:moveTo>
                  <a:lnTo>
                    <a:pt x="14" y="1708"/>
                  </a:lnTo>
                  <a:lnTo>
                    <a:pt x="0" y="1708"/>
                  </a:lnTo>
                  <a:lnTo>
                    <a:pt x="0" y="1694"/>
                  </a:lnTo>
                  <a:lnTo>
                    <a:pt x="14" y="1694"/>
                  </a:lnTo>
                  <a:close/>
                  <a:moveTo>
                    <a:pt x="14" y="1723"/>
                  </a:moveTo>
                  <a:lnTo>
                    <a:pt x="14" y="1737"/>
                  </a:lnTo>
                  <a:lnTo>
                    <a:pt x="0" y="1737"/>
                  </a:lnTo>
                  <a:lnTo>
                    <a:pt x="0" y="1723"/>
                  </a:lnTo>
                  <a:lnTo>
                    <a:pt x="14" y="1723"/>
                  </a:lnTo>
                  <a:close/>
                  <a:moveTo>
                    <a:pt x="14" y="1751"/>
                  </a:moveTo>
                  <a:lnTo>
                    <a:pt x="14" y="1765"/>
                  </a:lnTo>
                  <a:lnTo>
                    <a:pt x="0" y="1765"/>
                  </a:lnTo>
                  <a:lnTo>
                    <a:pt x="0" y="1751"/>
                  </a:lnTo>
                  <a:lnTo>
                    <a:pt x="14" y="1751"/>
                  </a:lnTo>
                  <a:close/>
                  <a:moveTo>
                    <a:pt x="14" y="1779"/>
                  </a:moveTo>
                  <a:lnTo>
                    <a:pt x="14" y="1793"/>
                  </a:lnTo>
                  <a:lnTo>
                    <a:pt x="0" y="1793"/>
                  </a:lnTo>
                  <a:lnTo>
                    <a:pt x="0" y="1779"/>
                  </a:lnTo>
                  <a:lnTo>
                    <a:pt x="14" y="1779"/>
                  </a:lnTo>
                  <a:close/>
                  <a:moveTo>
                    <a:pt x="14" y="1807"/>
                  </a:moveTo>
                  <a:lnTo>
                    <a:pt x="14" y="1821"/>
                  </a:lnTo>
                  <a:lnTo>
                    <a:pt x="0" y="1821"/>
                  </a:lnTo>
                  <a:lnTo>
                    <a:pt x="0" y="1807"/>
                  </a:lnTo>
                  <a:lnTo>
                    <a:pt x="14" y="1807"/>
                  </a:lnTo>
                  <a:close/>
                  <a:moveTo>
                    <a:pt x="14" y="1836"/>
                  </a:moveTo>
                  <a:lnTo>
                    <a:pt x="14" y="1850"/>
                  </a:lnTo>
                  <a:lnTo>
                    <a:pt x="0" y="1850"/>
                  </a:lnTo>
                  <a:lnTo>
                    <a:pt x="0" y="1836"/>
                  </a:lnTo>
                  <a:lnTo>
                    <a:pt x="14" y="1836"/>
                  </a:lnTo>
                  <a:close/>
                  <a:moveTo>
                    <a:pt x="14" y="1864"/>
                  </a:moveTo>
                  <a:lnTo>
                    <a:pt x="14" y="1878"/>
                  </a:lnTo>
                  <a:lnTo>
                    <a:pt x="0" y="1878"/>
                  </a:lnTo>
                  <a:lnTo>
                    <a:pt x="0" y="1864"/>
                  </a:lnTo>
                  <a:lnTo>
                    <a:pt x="14" y="1864"/>
                  </a:lnTo>
                  <a:close/>
                  <a:moveTo>
                    <a:pt x="14" y="1892"/>
                  </a:moveTo>
                  <a:lnTo>
                    <a:pt x="14" y="1906"/>
                  </a:lnTo>
                  <a:lnTo>
                    <a:pt x="0" y="1906"/>
                  </a:lnTo>
                  <a:lnTo>
                    <a:pt x="0" y="1892"/>
                  </a:lnTo>
                  <a:lnTo>
                    <a:pt x="14" y="1892"/>
                  </a:lnTo>
                  <a:close/>
                  <a:moveTo>
                    <a:pt x="14" y="1920"/>
                  </a:moveTo>
                  <a:lnTo>
                    <a:pt x="14" y="1935"/>
                  </a:lnTo>
                  <a:lnTo>
                    <a:pt x="0" y="1935"/>
                  </a:lnTo>
                  <a:lnTo>
                    <a:pt x="0" y="1920"/>
                  </a:lnTo>
                  <a:lnTo>
                    <a:pt x="14" y="1920"/>
                  </a:lnTo>
                  <a:close/>
                  <a:moveTo>
                    <a:pt x="14" y="1948"/>
                  </a:moveTo>
                  <a:lnTo>
                    <a:pt x="14" y="1963"/>
                  </a:lnTo>
                  <a:lnTo>
                    <a:pt x="0" y="1963"/>
                  </a:lnTo>
                  <a:lnTo>
                    <a:pt x="0" y="1948"/>
                  </a:lnTo>
                  <a:lnTo>
                    <a:pt x="14" y="1948"/>
                  </a:lnTo>
                  <a:close/>
                  <a:moveTo>
                    <a:pt x="14" y="1977"/>
                  </a:moveTo>
                  <a:lnTo>
                    <a:pt x="14" y="1991"/>
                  </a:lnTo>
                  <a:lnTo>
                    <a:pt x="0" y="1991"/>
                  </a:lnTo>
                  <a:lnTo>
                    <a:pt x="0" y="1977"/>
                  </a:lnTo>
                  <a:lnTo>
                    <a:pt x="14" y="1977"/>
                  </a:lnTo>
                  <a:close/>
                  <a:moveTo>
                    <a:pt x="14" y="2005"/>
                  </a:moveTo>
                  <a:lnTo>
                    <a:pt x="14" y="2019"/>
                  </a:lnTo>
                  <a:lnTo>
                    <a:pt x="0" y="2019"/>
                  </a:lnTo>
                  <a:lnTo>
                    <a:pt x="0" y="2005"/>
                  </a:lnTo>
                  <a:lnTo>
                    <a:pt x="14" y="2005"/>
                  </a:lnTo>
                  <a:close/>
                  <a:moveTo>
                    <a:pt x="14" y="2033"/>
                  </a:moveTo>
                  <a:lnTo>
                    <a:pt x="14" y="2047"/>
                  </a:lnTo>
                  <a:lnTo>
                    <a:pt x="0" y="2047"/>
                  </a:lnTo>
                  <a:lnTo>
                    <a:pt x="0" y="2033"/>
                  </a:lnTo>
                  <a:lnTo>
                    <a:pt x="14" y="2033"/>
                  </a:lnTo>
                  <a:close/>
                  <a:moveTo>
                    <a:pt x="14" y="2062"/>
                  </a:moveTo>
                  <a:lnTo>
                    <a:pt x="14" y="2076"/>
                  </a:lnTo>
                  <a:lnTo>
                    <a:pt x="0" y="2076"/>
                  </a:lnTo>
                  <a:lnTo>
                    <a:pt x="0" y="2062"/>
                  </a:lnTo>
                  <a:lnTo>
                    <a:pt x="14" y="2062"/>
                  </a:lnTo>
                  <a:close/>
                  <a:moveTo>
                    <a:pt x="14" y="2090"/>
                  </a:moveTo>
                  <a:lnTo>
                    <a:pt x="14" y="2104"/>
                  </a:lnTo>
                  <a:lnTo>
                    <a:pt x="0" y="2104"/>
                  </a:lnTo>
                  <a:lnTo>
                    <a:pt x="0" y="2090"/>
                  </a:lnTo>
                  <a:lnTo>
                    <a:pt x="14" y="2090"/>
                  </a:lnTo>
                  <a:close/>
                  <a:moveTo>
                    <a:pt x="14" y="2118"/>
                  </a:moveTo>
                  <a:lnTo>
                    <a:pt x="14" y="2132"/>
                  </a:lnTo>
                  <a:lnTo>
                    <a:pt x="0" y="2132"/>
                  </a:lnTo>
                  <a:lnTo>
                    <a:pt x="0" y="2118"/>
                  </a:lnTo>
                  <a:lnTo>
                    <a:pt x="14" y="2118"/>
                  </a:lnTo>
                  <a:close/>
                  <a:moveTo>
                    <a:pt x="14" y="2146"/>
                  </a:moveTo>
                  <a:lnTo>
                    <a:pt x="14" y="2160"/>
                  </a:lnTo>
                  <a:lnTo>
                    <a:pt x="0" y="2160"/>
                  </a:lnTo>
                  <a:lnTo>
                    <a:pt x="0" y="2146"/>
                  </a:lnTo>
                  <a:lnTo>
                    <a:pt x="14" y="2146"/>
                  </a:lnTo>
                  <a:close/>
                  <a:moveTo>
                    <a:pt x="14" y="2175"/>
                  </a:moveTo>
                  <a:lnTo>
                    <a:pt x="14" y="2189"/>
                  </a:lnTo>
                  <a:lnTo>
                    <a:pt x="0" y="2189"/>
                  </a:lnTo>
                  <a:lnTo>
                    <a:pt x="0" y="2175"/>
                  </a:lnTo>
                  <a:lnTo>
                    <a:pt x="14" y="2175"/>
                  </a:lnTo>
                  <a:close/>
                  <a:moveTo>
                    <a:pt x="14" y="2203"/>
                  </a:moveTo>
                  <a:lnTo>
                    <a:pt x="14" y="2217"/>
                  </a:lnTo>
                  <a:lnTo>
                    <a:pt x="0" y="2217"/>
                  </a:lnTo>
                  <a:lnTo>
                    <a:pt x="0" y="2203"/>
                  </a:lnTo>
                  <a:lnTo>
                    <a:pt x="14" y="2203"/>
                  </a:lnTo>
                  <a:close/>
                  <a:moveTo>
                    <a:pt x="14" y="2231"/>
                  </a:moveTo>
                  <a:lnTo>
                    <a:pt x="14" y="2245"/>
                  </a:lnTo>
                  <a:lnTo>
                    <a:pt x="0" y="2245"/>
                  </a:lnTo>
                  <a:lnTo>
                    <a:pt x="0" y="2231"/>
                  </a:lnTo>
                  <a:lnTo>
                    <a:pt x="14" y="2231"/>
                  </a:lnTo>
                  <a:close/>
                  <a:moveTo>
                    <a:pt x="14" y="2259"/>
                  </a:moveTo>
                  <a:lnTo>
                    <a:pt x="14" y="2274"/>
                  </a:lnTo>
                  <a:lnTo>
                    <a:pt x="0" y="2274"/>
                  </a:lnTo>
                  <a:lnTo>
                    <a:pt x="0" y="2259"/>
                  </a:lnTo>
                  <a:lnTo>
                    <a:pt x="14" y="2259"/>
                  </a:lnTo>
                  <a:close/>
                  <a:moveTo>
                    <a:pt x="14" y="2287"/>
                  </a:moveTo>
                  <a:lnTo>
                    <a:pt x="14" y="2302"/>
                  </a:lnTo>
                  <a:lnTo>
                    <a:pt x="0" y="2302"/>
                  </a:lnTo>
                  <a:lnTo>
                    <a:pt x="0" y="2287"/>
                  </a:lnTo>
                  <a:lnTo>
                    <a:pt x="14" y="2287"/>
                  </a:lnTo>
                  <a:close/>
                  <a:moveTo>
                    <a:pt x="14" y="2316"/>
                  </a:moveTo>
                  <a:lnTo>
                    <a:pt x="14" y="2330"/>
                  </a:lnTo>
                  <a:lnTo>
                    <a:pt x="0" y="2330"/>
                  </a:lnTo>
                  <a:lnTo>
                    <a:pt x="0" y="2316"/>
                  </a:lnTo>
                  <a:lnTo>
                    <a:pt x="14" y="2316"/>
                  </a:lnTo>
                  <a:close/>
                  <a:moveTo>
                    <a:pt x="14" y="2344"/>
                  </a:moveTo>
                  <a:lnTo>
                    <a:pt x="14" y="2358"/>
                  </a:lnTo>
                  <a:lnTo>
                    <a:pt x="0" y="2358"/>
                  </a:lnTo>
                  <a:lnTo>
                    <a:pt x="0" y="2344"/>
                  </a:lnTo>
                  <a:lnTo>
                    <a:pt x="14" y="2344"/>
                  </a:lnTo>
                  <a:close/>
                  <a:moveTo>
                    <a:pt x="14" y="2372"/>
                  </a:moveTo>
                  <a:lnTo>
                    <a:pt x="14" y="2386"/>
                  </a:lnTo>
                  <a:lnTo>
                    <a:pt x="0" y="2386"/>
                  </a:lnTo>
                  <a:lnTo>
                    <a:pt x="0" y="2372"/>
                  </a:lnTo>
                  <a:lnTo>
                    <a:pt x="14" y="2372"/>
                  </a:lnTo>
                  <a:close/>
                  <a:moveTo>
                    <a:pt x="14" y="2401"/>
                  </a:moveTo>
                  <a:lnTo>
                    <a:pt x="14" y="2415"/>
                  </a:lnTo>
                  <a:lnTo>
                    <a:pt x="0" y="2415"/>
                  </a:lnTo>
                  <a:lnTo>
                    <a:pt x="0" y="2401"/>
                  </a:lnTo>
                  <a:lnTo>
                    <a:pt x="14" y="2401"/>
                  </a:lnTo>
                  <a:close/>
                  <a:moveTo>
                    <a:pt x="14" y="2429"/>
                  </a:moveTo>
                  <a:lnTo>
                    <a:pt x="14" y="2443"/>
                  </a:lnTo>
                  <a:lnTo>
                    <a:pt x="0" y="2443"/>
                  </a:lnTo>
                  <a:lnTo>
                    <a:pt x="0" y="2429"/>
                  </a:lnTo>
                  <a:lnTo>
                    <a:pt x="14" y="2429"/>
                  </a:lnTo>
                  <a:close/>
                  <a:moveTo>
                    <a:pt x="14" y="2457"/>
                  </a:moveTo>
                  <a:lnTo>
                    <a:pt x="14" y="2471"/>
                  </a:lnTo>
                  <a:lnTo>
                    <a:pt x="0" y="2471"/>
                  </a:lnTo>
                  <a:lnTo>
                    <a:pt x="0" y="2457"/>
                  </a:lnTo>
                  <a:lnTo>
                    <a:pt x="14" y="2457"/>
                  </a:lnTo>
                  <a:close/>
                  <a:moveTo>
                    <a:pt x="14" y="2485"/>
                  </a:moveTo>
                  <a:lnTo>
                    <a:pt x="14" y="2489"/>
                  </a:lnTo>
                  <a:lnTo>
                    <a:pt x="0" y="2489"/>
                  </a:lnTo>
                  <a:lnTo>
                    <a:pt x="0" y="2485"/>
                  </a:lnTo>
                  <a:lnTo>
                    <a:pt x="14" y="2485"/>
                  </a:lnTo>
                  <a:close/>
                </a:path>
              </a:pathLst>
            </a:custGeom>
            <a:solidFill>
              <a:srgbClr val="000000"/>
            </a:solidFill>
            <a:ln w="0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2" name="Freeform 47">
              <a:extLst>
                <a:ext uri="{FF2B5EF4-FFF2-40B4-BE49-F238E27FC236}">
                  <a16:creationId xmlns:a16="http://schemas.microsoft.com/office/drawing/2014/main" id="{70FDF894-CDC1-415F-8495-796368D72CA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420" y="1440"/>
              <a:ext cx="14" cy="2489"/>
            </a:xfrm>
            <a:custGeom>
              <a:avLst/>
              <a:gdLst>
                <a:gd name="T0" fmla="*/ 14 w 14"/>
                <a:gd name="T1" fmla="*/ 42 h 2489"/>
                <a:gd name="T2" fmla="*/ 0 w 14"/>
                <a:gd name="T3" fmla="*/ 56 h 2489"/>
                <a:gd name="T4" fmla="*/ 14 w 14"/>
                <a:gd name="T5" fmla="*/ 113 h 2489"/>
                <a:gd name="T6" fmla="*/ 0 w 14"/>
                <a:gd name="T7" fmla="*/ 155 h 2489"/>
                <a:gd name="T8" fmla="*/ 14 w 14"/>
                <a:gd name="T9" fmla="*/ 169 h 2489"/>
                <a:gd name="T10" fmla="*/ 14 w 14"/>
                <a:gd name="T11" fmla="*/ 240 h 2489"/>
                <a:gd name="T12" fmla="*/ 0 w 14"/>
                <a:gd name="T13" fmla="*/ 254 h 2489"/>
                <a:gd name="T14" fmla="*/ 14 w 14"/>
                <a:gd name="T15" fmla="*/ 310 h 2489"/>
                <a:gd name="T16" fmla="*/ 0 w 14"/>
                <a:gd name="T17" fmla="*/ 353 h 2489"/>
                <a:gd name="T18" fmla="*/ 14 w 14"/>
                <a:gd name="T19" fmla="*/ 367 h 2489"/>
                <a:gd name="T20" fmla="*/ 14 w 14"/>
                <a:gd name="T21" fmla="*/ 437 h 2489"/>
                <a:gd name="T22" fmla="*/ 0 w 14"/>
                <a:gd name="T23" fmla="*/ 452 h 2489"/>
                <a:gd name="T24" fmla="*/ 14 w 14"/>
                <a:gd name="T25" fmla="*/ 508 h 2489"/>
                <a:gd name="T26" fmla="*/ 0 w 14"/>
                <a:gd name="T27" fmla="*/ 550 h 2489"/>
                <a:gd name="T28" fmla="*/ 14 w 14"/>
                <a:gd name="T29" fmla="*/ 565 h 2489"/>
                <a:gd name="T30" fmla="*/ 14 w 14"/>
                <a:gd name="T31" fmla="*/ 635 h 2489"/>
                <a:gd name="T32" fmla="*/ 0 w 14"/>
                <a:gd name="T33" fmla="*/ 649 h 2489"/>
                <a:gd name="T34" fmla="*/ 14 w 14"/>
                <a:gd name="T35" fmla="*/ 706 h 2489"/>
                <a:gd name="T36" fmla="*/ 0 w 14"/>
                <a:gd name="T37" fmla="*/ 748 h 2489"/>
                <a:gd name="T38" fmla="*/ 14 w 14"/>
                <a:gd name="T39" fmla="*/ 762 h 2489"/>
                <a:gd name="T40" fmla="*/ 14 w 14"/>
                <a:gd name="T41" fmla="*/ 833 h 2489"/>
                <a:gd name="T42" fmla="*/ 0 w 14"/>
                <a:gd name="T43" fmla="*/ 847 h 2489"/>
                <a:gd name="T44" fmla="*/ 14 w 14"/>
                <a:gd name="T45" fmla="*/ 903 h 2489"/>
                <a:gd name="T46" fmla="*/ 0 w 14"/>
                <a:gd name="T47" fmla="*/ 946 h 2489"/>
                <a:gd name="T48" fmla="*/ 14 w 14"/>
                <a:gd name="T49" fmla="*/ 960 h 2489"/>
                <a:gd name="T50" fmla="*/ 14 w 14"/>
                <a:gd name="T51" fmla="*/ 1031 h 2489"/>
                <a:gd name="T52" fmla="*/ 0 w 14"/>
                <a:gd name="T53" fmla="*/ 1045 h 2489"/>
                <a:gd name="T54" fmla="*/ 14 w 14"/>
                <a:gd name="T55" fmla="*/ 1101 h 2489"/>
                <a:gd name="T56" fmla="*/ 0 w 14"/>
                <a:gd name="T57" fmla="*/ 1143 h 2489"/>
                <a:gd name="T58" fmla="*/ 14 w 14"/>
                <a:gd name="T59" fmla="*/ 1158 h 2489"/>
                <a:gd name="T60" fmla="*/ 14 w 14"/>
                <a:gd name="T61" fmla="*/ 1228 h 2489"/>
                <a:gd name="T62" fmla="*/ 0 w 14"/>
                <a:gd name="T63" fmla="*/ 1242 h 2489"/>
                <a:gd name="T64" fmla="*/ 14 w 14"/>
                <a:gd name="T65" fmla="*/ 1299 h 2489"/>
                <a:gd name="T66" fmla="*/ 0 w 14"/>
                <a:gd name="T67" fmla="*/ 1341 h 2489"/>
                <a:gd name="T68" fmla="*/ 14 w 14"/>
                <a:gd name="T69" fmla="*/ 1355 h 2489"/>
                <a:gd name="T70" fmla="*/ 14 w 14"/>
                <a:gd name="T71" fmla="*/ 1426 h 2489"/>
                <a:gd name="T72" fmla="*/ 0 w 14"/>
                <a:gd name="T73" fmla="*/ 1440 h 2489"/>
                <a:gd name="T74" fmla="*/ 14 w 14"/>
                <a:gd name="T75" fmla="*/ 1497 h 2489"/>
                <a:gd name="T76" fmla="*/ 0 w 14"/>
                <a:gd name="T77" fmla="*/ 1539 h 2489"/>
                <a:gd name="T78" fmla="*/ 14 w 14"/>
                <a:gd name="T79" fmla="*/ 1553 h 2489"/>
                <a:gd name="T80" fmla="*/ 14 w 14"/>
                <a:gd name="T81" fmla="*/ 1624 h 2489"/>
                <a:gd name="T82" fmla="*/ 0 w 14"/>
                <a:gd name="T83" fmla="*/ 1638 h 2489"/>
                <a:gd name="T84" fmla="*/ 14 w 14"/>
                <a:gd name="T85" fmla="*/ 1694 h 2489"/>
                <a:gd name="T86" fmla="*/ 0 w 14"/>
                <a:gd name="T87" fmla="*/ 1737 h 2489"/>
                <a:gd name="T88" fmla="*/ 14 w 14"/>
                <a:gd name="T89" fmla="*/ 1751 h 2489"/>
                <a:gd name="T90" fmla="*/ 14 w 14"/>
                <a:gd name="T91" fmla="*/ 1821 h 2489"/>
                <a:gd name="T92" fmla="*/ 0 w 14"/>
                <a:gd name="T93" fmla="*/ 1836 h 2489"/>
                <a:gd name="T94" fmla="*/ 14 w 14"/>
                <a:gd name="T95" fmla="*/ 1892 h 2489"/>
                <a:gd name="T96" fmla="*/ 0 w 14"/>
                <a:gd name="T97" fmla="*/ 1935 h 2489"/>
                <a:gd name="T98" fmla="*/ 14 w 14"/>
                <a:gd name="T99" fmla="*/ 1948 h 2489"/>
                <a:gd name="T100" fmla="*/ 14 w 14"/>
                <a:gd name="T101" fmla="*/ 2019 h 2489"/>
                <a:gd name="T102" fmla="*/ 0 w 14"/>
                <a:gd name="T103" fmla="*/ 2033 h 2489"/>
                <a:gd name="T104" fmla="*/ 14 w 14"/>
                <a:gd name="T105" fmla="*/ 2090 h 2489"/>
                <a:gd name="T106" fmla="*/ 0 w 14"/>
                <a:gd name="T107" fmla="*/ 2132 h 2489"/>
                <a:gd name="T108" fmla="*/ 14 w 14"/>
                <a:gd name="T109" fmla="*/ 2146 h 2489"/>
                <a:gd name="T110" fmla="*/ 14 w 14"/>
                <a:gd name="T111" fmla="*/ 2217 h 2489"/>
                <a:gd name="T112" fmla="*/ 0 w 14"/>
                <a:gd name="T113" fmla="*/ 2231 h 2489"/>
                <a:gd name="T114" fmla="*/ 14 w 14"/>
                <a:gd name="T115" fmla="*/ 2287 h 2489"/>
                <a:gd name="T116" fmla="*/ 0 w 14"/>
                <a:gd name="T117" fmla="*/ 2330 h 2489"/>
                <a:gd name="T118" fmla="*/ 14 w 14"/>
                <a:gd name="T119" fmla="*/ 2344 h 2489"/>
                <a:gd name="T120" fmla="*/ 14 w 14"/>
                <a:gd name="T121" fmla="*/ 2415 h 2489"/>
                <a:gd name="T122" fmla="*/ 0 w 14"/>
                <a:gd name="T123" fmla="*/ 2429 h 2489"/>
                <a:gd name="T124" fmla="*/ 14 w 14"/>
                <a:gd name="T125" fmla="*/ 2485 h 24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4" h="2489">
                  <a:moveTo>
                    <a:pt x="14" y="0"/>
                  </a:moveTo>
                  <a:lnTo>
                    <a:pt x="14" y="14"/>
                  </a:lnTo>
                  <a:lnTo>
                    <a:pt x="0" y="14"/>
                  </a:lnTo>
                  <a:lnTo>
                    <a:pt x="0" y="0"/>
                  </a:lnTo>
                  <a:lnTo>
                    <a:pt x="14" y="0"/>
                  </a:lnTo>
                  <a:close/>
                  <a:moveTo>
                    <a:pt x="14" y="28"/>
                  </a:moveTo>
                  <a:lnTo>
                    <a:pt x="14" y="42"/>
                  </a:lnTo>
                  <a:lnTo>
                    <a:pt x="0" y="42"/>
                  </a:lnTo>
                  <a:lnTo>
                    <a:pt x="0" y="28"/>
                  </a:lnTo>
                  <a:lnTo>
                    <a:pt x="14" y="28"/>
                  </a:lnTo>
                  <a:close/>
                  <a:moveTo>
                    <a:pt x="14" y="56"/>
                  </a:moveTo>
                  <a:lnTo>
                    <a:pt x="14" y="70"/>
                  </a:lnTo>
                  <a:lnTo>
                    <a:pt x="0" y="70"/>
                  </a:lnTo>
                  <a:lnTo>
                    <a:pt x="0" y="56"/>
                  </a:lnTo>
                  <a:lnTo>
                    <a:pt x="14" y="56"/>
                  </a:lnTo>
                  <a:close/>
                  <a:moveTo>
                    <a:pt x="14" y="84"/>
                  </a:moveTo>
                  <a:lnTo>
                    <a:pt x="14" y="98"/>
                  </a:lnTo>
                  <a:lnTo>
                    <a:pt x="0" y="98"/>
                  </a:lnTo>
                  <a:lnTo>
                    <a:pt x="0" y="84"/>
                  </a:lnTo>
                  <a:lnTo>
                    <a:pt x="14" y="84"/>
                  </a:lnTo>
                  <a:close/>
                  <a:moveTo>
                    <a:pt x="14" y="113"/>
                  </a:moveTo>
                  <a:lnTo>
                    <a:pt x="14" y="127"/>
                  </a:lnTo>
                  <a:lnTo>
                    <a:pt x="0" y="127"/>
                  </a:lnTo>
                  <a:lnTo>
                    <a:pt x="0" y="113"/>
                  </a:lnTo>
                  <a:lnTo>
                    <a:pt x="14" y="113"/>
                  </a:lnTo>
                  <a:close/>
                  <a:moveTo>
                    <a:pt x="14" y="141"/>
                  </a:moveTo>
                  <a:lnTo>
                    <a:pt x="14" y="155"/>
                  </a:lnTo>
                  <a:lnTo>
                    <a:pt x="0" y="155"/>
                  </a:lnTo>
                  <a:lnTo>
                    <a:pt x="0" y="141"/>
                  </a:lnTo>
                  <a:lnTo>
                    <a:pt x="14" y="141"/>
                  </a:lnTo>
                  <a:close/>
                  <a:moveTo>
                    <a:pt x="14" y="169"/>
                  </a:moveTo>
                  <a:lnTo>
                    <a:pt x="14" y="183"/>
                  </a:lnTo>
                  <a:lnTo>
                    <a:pt x="0" y="183"/>
                  </a:lnTo>
                  <a:lnTo>
                    <a:pt x="0" y="169"/>
                  </a:lnTo>
                  <a:lnTo>
                    <a:pt x="14" y="169"/>
                  </a:lnTo>
                  <a:close/>
                  <a:moveTo>
                    <a:pt x="14" y="197"/>
                  </a:moveTo>
                  <a:lnTo>
                    <a:pt x="14" y="211"/>
                  </a:lnTo>
                  <a:lnTo>
                    <a:pt x="0" y="211"/>
                  </a:lnTo>
                  <a:lnTo>
                    <a:pt x="0" y="197"/>
                  </a:lnTo>
                  <a:lnTo>
                    <a:pt x="14" y="197"/>
                  </a:lnTo>
                  <a:close/>
                  <a:moveTo>
                    <a:pt x="14" y="226"/>
                  </a:moveTo>
                  <a:lnTo>
                    <a:pt x="14" y="240"/>
                  </a:lnTo>
                  <a:lnTo>
                    <a:pt x="0" y="240"/>
                  </a:lnTo>
                  <a:lnTo>
                    <a:pt x="0" y="226"/>
                  </a:lnTo>
                  <a:lnTo>
                    <a:pt x="14" y="226"/>
                  </a:lnTo>
                  <a:close/>
                  <a:moveTo>
                    <a:pt x="14" y="254"/>
                  </a:moveTo>
                  <a:lnTo>
                    <a:pt x="14" y="268"/>
                  </a:lnTo>
                  <a:lnTo>
                    <a:pt x="0" y="268"/>
                  </a:lnTo>
                  <a:lnTo>
                    <a:pt x="0" y="254"/>
                  </a:lnTo>
                  <a:lnTo>
                    <a:pt x="14" y="254"/>
                  </a:lnTo>
                  <a:close/>
                  <a:moveTo>
                    <a:pt x="14" y="282"/>
                  </a:moveTo>
                  <a:lnTo>
                    <a:pt x="14" y="296"/>
                  </a:lnTo>
                  <a:lnTo>
                    <a:pt x="0" y="296"/>
                  </a:lnTo>
                  <a:lnTo>
                    <a:pt x="0" y="282"/>
                  </a:lnTo>
                  <a:lnTo>
                    <a:pt x="14" y="282"/>
                  </a:lnTo>
                  <a:close/>
                  <a:moveTo>
                    <a:pt x="14" y="310"/>
                  </a:moveTo>
                  <a:lnTo>
                    <a:pt x="14" y="325"/>
                  </a:lnTo>
                  <a:lnTo>
                    <a:pt x="0" y="325"/>
                  </a:lnTo>
                  <a:lnTo>
                    <a:pt x="0" y="310"/>
                  </a:lnTo>
                  <a:lnTo>
                    <a:pt x="14" y="310"/>
                  </a:lnTo>
                  <a:close/>
                  <a:moveTo>
                    <a:pt x="14" y="338"/>
                  </a:moveTo>
                  <a:lnTo>
                    <a:pt x="14" y="353"/>
                  </a:lnTo>
                  <a:lnTo>
                    <a:pt x="0" y="353"/>
                  </a:lnTo>
                  <a:lnTo>
                    <a:pt x="0" y="338"/>
                  </a:lnTo>
                  <a:lnTo>
                    <a:pt x="14" y="338"/>
                  </a:lnTo>
                  <a:close/>
                  <a:moveTo>
                    <a:pt x="14" y="367"/>
                  </a:moveTo>
                  <a:lnTo>
                    <a:pt x="14" y="381"/>
                  </a:lnTo>
                  <a:lnTo>
                    <a:pt x="0" y="381"/>
                  </a:lnTo>
                  <a:lnTo>
                    <a:pt x="0" y="367"/>
                  </a:lnTo>
                  <a:lnTo>
                    <a:pt x="14" y="367"/>
                  </a:lnTo>
                  <a:close/>
                  <a:moveTo>
                    <a:pt x="14" y="395"/>
                  </a:moveTo>
                  <a:lnTo>
                    <a:pt x="14" y="409"/>
                  </a:lnTo>
                  <a:lnTo>
                    <a:pt x="0" y="409"/>
                  </a:lnTo>
                  <a:lnTo>
                    <a:pt x="0" y="395"/>
                  </a:lnTo>
                  <a:lnTo>
                    <a:pt x="14" y="395"/>
                  </a:lnTo>
                  <a:close/>
                  <a:moveTo>
                    <a:pt x="14" y="423"/>
                  </a:moveTo>
                  <a:lnTo>
                    <a:pt x="14" y="437"/>
                  </a:lnTo>
                  <a:lnTo>
                    <a:pt x="0" y="437"/>
                  </a:lnTo>
                  <a:lnTo>
                    <a:pt x="0" y="423"/>
                  </a:lnTo>
                  <a:lnTo>
                    <a:pt x="14" y="423"/>
                  </a:lnTo>
                  <a:close/>
                  <a:moveTo>
                    <a:pt x="14" y="452"/>
                  </a:moveTo>
                  <a:lnTo>
                    <a:pt x="14" y="466"/>
                  </a:lnTo>
                  <a:lnTo>
                    <a:pt x="0" y="466"/>
                  </a:lnTo>
                  <a:lnTo>
                    <a:pt x="0" y="452"/>
                  </a:lnTo>
                  <a:lnTo>
                    <a:pt x="14" y="452"/>
                  </a:lnTo>
                  <a:close/>
                  <a:moveTo>
                    <a:pt x="14" y="480"/>
                  </a:moveTo>
                  <a:lnTo>
                    <a:pt x="14" y="494"/>
                  </a:lnTo>
                  <a:lnTo>
                    <a:pt x="0" y="494"/>
                  </a:lnTo>
                  <a:lnTo>
                    <a:pt x="0" y="480"/>
                  </a:lnTo>
                  <a:lnTo>
                    <a:pt x="14" y="480"/>
                  </a:lnTo>
                  <a:close/>
                  <a:moveTo>
                    <a:pt x="14" y="508"/>
                  </a:moveTo>
                  <a:lnTo>
                    <a:pt x="14" y="522"/>
                  </a:lnTo>
                  <a:lnTo>
                    <a:pt x="0" y="522"/>
                  </a:lnTo>
                  <a:lnTo>
                    <a:pt x="0" y="508"/>
                  </a:lnTo>
                  <a:lnTo>
                    <a:pt x="14" y="508"/>
                  </a:lnTo>
                  <a:close/>
                  <a:moveTo>
                    <a:pt x="14" y="536"/>
                  </a:moveTo>
                  <a:lnTo>
                    <a:pt x="14" y="550"/>
                  </a:lnTo>
                  <a:lnTo>
                    <a:pt x="0" y="550"/>
                  </a:lnTo>
                  <a:lnTo>
                    <a:pt x="0" y="536"/>
                  </a:lnTo>
                  <a:lnTo>
                    <a:pt x="14" y="536"/>
                  </a:lnTo>
                  <a:close/>
                  <a:moveTo>
                    <a:pt x="14" y="565"/>
                  </a:moveTo>
                  <a:lnTo>
                    <a:pt x="14" y="579"/>
                  </a:lnTo>
                  <a:lnTo>
                    <a:pt x="0" y="579"/>
                  </a:lnTo>
                  <a:lnTo>
                    <a:pt x="0" y="565"/>
                  </a:lnTo>
                  <a:lnTo>
                    <a:pt x="14" y="565"/>
                  </a:lnTo>
                  <a:close/>
                  <a:moveTo>
                    <a:pt x="14" y="593"/>
                  </a:moveTo>
                  <a:lnTo>
                    <a:pt x="14" y="607"/>
                  </a:lnTo>
                  <a:lnTo>
                    <a:pt x="0" y="607"/>
                  </a:lnTo>
                  <a:lnTo>
                    <a:pt x="0" y="593"/>
                  </a:lnTo>
                  <a:lnTo>
                    <a:pt x="14" y="593"/>
                  </a:lnTo>
                  <a:close/>
                  <a:moveTo>
                    <a:pt x="14" y="621"/>
                  </a:moveTo>
                  <a:lnTo>
                    <a:pt x="14" y="635"/>
                  </a:lnTo>
                  <a:lnTo>
                    <a:pt x="0" y="635"/>
                  </a:lnTo>
                  <a:lnTo>
                    <a:pt x="0" y="621"/>
                  </a:lnTo>
                  <a:lnTo>
                    <a:pt x="14" y="621"/>
                  </a:lnTo>
                  <a:close/>
                  <a:moveTo>
                    <a:pt x="14" y="649"/>
                  </a:moveTo>
                  <a:lnTo>
                    <a:pt x="14" y="664"/>
                  </a:lnTo>
                  <a:lnTo>
                    <a:pt x="0" y="664"/>
                  </a:lnTo>
                  <a:lnTo>
                    <a:pt x="0" y="649"/>
                  </a:lnTo>
                  <a:lnTo>
                    <a:pt x="14" y="649"/>
                  </a:lnTo>
                  <a:close/>
                  <a:moveTo>
                    <a:pt x="14" y="677"/>
                  </a:moveTo>
                  <a:lnTo>
                    <a:pt x="14" y="692"/>
                  </a:lnTo>
                  <a:lnTo>
                    <a:pt x="0" y="692"/>
                  </a:lnTo>
                  <a:lnTo>
                    <a:pt x="0" y="677"/>
                  </a:lnTo>
                  <a:lnTo>
                    <a:pt x="14" y="677"/>
                  </a:lnTo>
                  <a:close/>
                  <a:moveTo>
                    <a:pt x="14" y="706"/>
                  </a:moveTo>
                  <a:lnTo>
                    <a:pt x="14" y="720"/>
                  </a:lnTo>
                  <a:lnTo>
                    <a:pt x="0" y="720"/>
                  </a:lnTo>
                  <a:lnTo>
                    <a:pt x="0" y="706"/>
                  </a:lnTo>
                  <a:lnTo>
                    <a:pt x="14" y="706"/>
                  </a:lnTo>
                  <a:close/>
                  <a:moveTo>
                    <a:pt x="14" y="734"/>
                  </a:moveTo>
                  <a:lnTo>
                    <a:pt x="14" y="748"/>
                  </a:lnTo>
                  <a:lnTo>
                    <a:pt x="0" y="748"/>
                  </a:lnTo>
                  <a:lnTo>
                    <a:pt x="0" y="734"/>
                  </a:lnTo>
                  <a:lnTo>
                    <a:pt x="14" y="734"/>
                  </a:lnTo>
                  <a:close/>
                  <a:moveTo>
                    <a:pt x="14" y="762"/>
                  </a:moveTo>
                  <a:lnTo>
                    <a:pt x="14" y="776"/>
                  </a:lnTo>
                  <a:lnTo>
                    <a:pt x="0" y="776"/>
                  </a:lnTo>
                  <a:lnTo>
                    <a:pt x="0" y="762"/>
                  </a:lnTo>
                  <a:lnTo>
                    <a:pt x="14" y="762"/>
                  </a:lnTo>
                  <a:close/>
                  <a:moveTo>
                    <a:pt x="14" y="791"/>
                  </a:moveTo>
                  <a:lnTo>
                    <a:pt x="14" y="805"/>
                  </a:lnTo>
                  <a:lnTo>
                    <a:pt x="0" y="805"/>
                  </a:lnTo>
                  <a:lnTo>
                    <a:pt x="0" y="791"/>
                  </a:lnTo>
                  <a:lnTo>
                    <a:pt x="14" y="791"/>
                  </a:lnTo>
                  <a:close/>
                  <a:moveTo>
                    <a:pt x="14" y="819"/>
                  </a:moveTo>
                  <a:lnTo>
                    <a:pt x="14" y="833"/>
                  </a:lnTo>
                  <a:lnTo>
                    <a:pt x="0" y="833"/>
                  </a:lnTo>
                  <a:lnTo>
                    <a:pt x="0" y="819"/>
                  </a:lnTo>
                  <a:lnTo>
                    <a:pt x="14" y="819"/>
                  </a:lnTo>
                  <a:close/>
                  <a:moveTo>
                    <a:pt x="14" y="847"/>
                  </a:moveTo>
                  <a:lnTo>
                    <a:pt x="14" y="861"/>
                  </a:lnTo>
                  <a:lnTo>
                    <a:pt x="0" y="861"/>
                  </a:lnTo>
                  <a:lnTo>
                    <a:pt x="0" y="847"/>
                  </a:lnTo>
                  <a:lnTo>
                    <a:pt x="14" y="847"/>
                  </a:lnTo>
                  <a:close/>
                  <a:moveTo>
                    <a:pt x="14" y="875"/>
                  </a:moveTo>
                  <a:lnTo>
                    <a:pt x="14" y="889"/>
                  </a:lnTo>
                  <a:lnTo>
                    <a:pt x="0" y="889"/>
                  </a:lnTo>
                  <a:lnTo>
                    <a:pt x="0" y="875"/>
                  </a:lnTo>
                  <a:lnTo>
                    <a:pt x="14" y="875"/>
                  </a:lnTo>
                  <a:close/>
                  <a:moveTo>
                    <a:pt x="14" y="903"/>
                  </a:moveTo>
                  <a:lnTo>
                    <a:pt x="14" y="918"/>
                  </a:lnTo>
                  <a:lnTo>
                    <a:pt x="0" y="918"/>
                  </a:lnTo>
                  <a:lnTo>
                    <a:pt x="0" y="903"/>
                  </a:lnTo>
                  <a:lnTo>
                    <a:pt x="14" y="903"/>
                  </a:lnTo>
                  <a:close/>
                  <a:moveTo>
                    <a:pt x="14" y="932"/>
                  </a:moveTo>
                  <a:lnTo>
                    <a:pt x="14" y="946"/>
                  </a:lnTo>
                  <a:lnTo>
                    <a:pt x="0" y="946"/>
                  </a:lnTo>
                  <a:lnTo>
                    <a:pt x="0" y="932"/>
                  </a:lnTo>
                  <a:lnTo>
                    <a:pt x="14" y="932"/>
                  </a:lnTo>
                  <a:close/>
                  <a:moveTo>
                    <a:pt x="14" y="960"/>
                  </a:moveTo>
                  <a:lnTo>
                    <a:pt x="14" y="974"/>
                  </a:lnTo>
                  <a:lnTo>
                    <a:pt x="0" y="974"/>
                  </a:lnTo>
                  <a:lnTo>
                    <a:pt x="0" y="960"/>
                  </a:lnTo>
                  <a:lnTo>
                    <a:pt x="14" y="960"/>
                  </a:lnTo>
                  <a:close/>
                  <a:moveTo>
                    <a:pt x="14" y="988"/>
                  </a:moveTo>
                  <a:lnTo>
                    <a:pt x="14" y="1002"/>
                  </a:lnTo>
                  <a:lnTo>
                    <a:pt x="0" y="1002"/>
                  </a:lnTo>
                  <a:lnTo>
                    <a:pt x="0" y="988"/>
                  </a:lnTo>
                  <a:lnTo>
                    <a:pt x="14" y="988"/>
                  </a:lnTo>
                  <a:close/>
                  <a:moveTo>
                    <a:pt x="14" y="1016"/>
                  </a:moveTo>
                  <a:lnTo>
                    <a:pt x="14" y="1031"/>
                  </a:lnTo>
                  <a:lnTo>
                    <a:pt x="0" y="1031"/>
                  </a:lnTo>
                  <a:lnTo>
                    <a:pt x="0" y="1016"/>
                  </a:lnTo>
                  <a:lnTo>
                    <a:pt x="14" y="1016"/>
                  </a:lnTo>
                  <a:close/>
                  <a:moveTo>
                    <a:pt x="14" y="1045"/>
                  </a:moveTo>
                  <a:lnTo>
                    <a:pt x="14" y="1059"/>
                  </a:lnTo>
                  <a:lnTo>
                    <a:pt x="0" y="1059"/>
                  </a:lnTo>
                  <a:lnTo>
                    <a:pt x="0" y="1045"/>
                  </a:lnTo>
                  <a:lnTo>
                    <a:pt x="14" y="1045"/>
                  </a:lnTo>
                  <a:close/>
                  <a:moveTo>
                    <a:pt x="14" y="1073"/>
                  </a:moveTo>
                  <a:lnTo>
                    <a:pt x="14" y="1087"/>
                  </a:lnTo>
                  <a:lnTo>
                    <a:pt x="0" y="1087"/>
                  </a:lnTo>
                  <a:lnTo>
                    <a:pt x="0" y="1073"/>
                  </a:lnTo>
                  <a:lnTo>
                    <a:pt x="14" y="1073"/>
                  </a:lnTo>
                  <a:close/>
                  <a:moveTo>
                    <a:pt x="14" y="1101"/>
                  </a:moveTo>
                  <a:lnTo>
                    <a:pt x="14" y="1115"/>
                  </a:lnTo>
                  <a:lnTo>
                    <a:pt x="0" y="1115"/>
                  </a:lnTo>
                  <a:lnTo>
                    <a:pt x="0" y="1101"/>
                  </a:lnTo>
                  <a:lnTo>
                    <a:pt x="14" y="1101"/>
                  </a:lnTo>
                  <a:close/>
                  <a:moveTo>
                    <a:pt x="14" y="1130"/>
                  </a:moveTo>
                  <a:lnTo>
                    <a:pt x="14" y="1143"/>
                  </a:lnTo>
                  <a:lnTo>
                    <a:pt x="0" y="1143"/>
                  </a:lnTo>
                  <a:lnTo>
                    <a:pt x="0" y="1130"/>
                  </a:lnTo>
                  <a:lnTo>
                    <a:pt x="14" y="1130"/>
                  </a:lnTo>
                  <a:close/>
                  <a:moveTo>
                    <a:pt x="14" y="1158"/>
                  </a:moveTo>
                  <a:lnTo>
                    <a:pt x="14" y="1172"/>
                  </a:lnTo>
                  <a:lnTo>
                    <a:pt x="0" y="1172"/>
                  </a:lnTo>
                  <a:lnTo>
                    <a:pt x="0" y="1158"/>
                  </a:lnTo>
                  <a:lnTo>
                    <a:pt x="14" y="1158"/>
                  </a:lnTo>
                  <a:close/>
                  <a:moveTo>
                    <a:pt x="14" y="1186"/>
                  </a:moveTo>
                  <a:lnTo>
                    <a:pt x="14" y="1200"/>
                  </a:lnTo>
                  <a:lnTo>
                    <a:pt x="0" y="1200"/>
                  </a:lnTo>
                  <a:lnTo>
                    <a:pt x="0" y="1186"/>
                  </a:lnTo>
                  <a:lnTo>
                    <a:pt x="14" y="1186"/>
                  </a:lnTo>
                  <a:close/>
                  <a:moveTo>
                    <a:pt x="14" y="1214"/>
                  </a:moveTo>
                  <a:lnTo>
                    <a:pt x="14" y="1228"/>
                  </a:lnTo>
                  <a:lnTo>
                    <a:pt x="0" y="1228"/>
                  </a:lnTo>
                  <a:lnTo>
                    <a:pt x="0" y="1214"/>
                  </a:lnTo>
                  <a:lnTo>
                    <a:pt x="14" y="1214"/>
                  </a:lnTo>
                  <a:close/>
                  <a:moveTo>
                    <a:pt x="14" y="1242"/>
                  </a:moveTo>
                  <a:lnTo>
                    <a:pt x="14" y="1257"/>
                  </a:lnTo>
                  <a:lnTo>
                    <a:pt x="0" y="1257"/>
                  </a:lnTo>
                  <a:lnTo>
                    <a:pt x="0" y="1242"/>
                  </a:lnTo>
                  <a:lnTo>
                    <a:pt x="14" y="1242"/>
                  </a:lnTo>
                  <a:close/>
                  <a:moveTo>
                    <a:pt x="14" y="1271"/>
                  </a:moveTo>
                  <a:lnTo>
                    <a:pt x="14" y="1285"/>
                  </a:lnTo>
                  <a:lnTo>
                    <a:pt x="0" y="1285"/>
                  </a:lnTo>
                  <a:lnTo>
                    <a:pt x="0" y="1271"/>
                  </a:lnTo>
                  <a:lnTo>
                    <a:pt x="14" y="1271"/>
                  </a:lnTo>
                  <a:close/>
                  <a:moveTo>
                    <a:pt x="14" y="1299"/>
                  </a:moveTo>
                  <a:lnTo>
                    <a:pt x="14" y="1313"/>
                  </a:lnTo>
                  <a:lnTo>
                    <a:pt x="0" y="1313"/>
                  </a:lnTo>
                  <a:lnTo>
                    <a:pt x="0" y="1299"/>
                  </a:lnTo>
                  <a:lnTo>
                    <a:pt x="14" y="1299"/>
                  </a:lnTo>
                  <a:close/>
                  <a:moveTo>
                    <a:pt x="14" y="1327"/>
                  </a:moveTo>
                  <a:lnTo>
                    <a:pt x="14" y="1341"/>
                  </a:lnTo>
                  <a:lnTo>
                    <a:pt x="0" y="1341"/>
                  </a:lnTo>
                  <a:lnTo>
                    <a:pt x="0" y="1327"/>
                  </a:lnTo>
                  <a:lnTo>
                    <a:pt x="14" y="1327"/>
                  </a:lnTo>
                  <a:close/>
                  <a:moveTo>
                    <a:pt x="14" y="1355"/>
                  </a:moveTo>
                  <a:lnTo>
                    <a:pt x="14" y="1370"/>
                  </a:lnTo>
                  <a:lnTo>
                    <a:pt x="0" y="1370"/>
                  </a:lnTo>
                  <a:lnTo>
                    <a:pt x="0" y="1355"/>
                  </a:lnTo>
                  <a:lnTo>
                    <a:pt x="14" y="1355"/>
                  </a:lnTo>
                  <a:close/>
                  <a:moveTo>
                    <a:pt x="14" y="1384"/>
                  </a:moveTo>
                  <a:lnTo>
                    <a:pt x="14" y="1398"/>
                  </a:lnTo>
                  <a:lnTo>
                    <a:pt x="0" y="1398"/>
                  </a:lnTo>
                  <a:lnTo>
                    <a:pt x="0" y="1384"/>
                  </a:lnTo>
                  <a:lnTo>
                    <a:pt x="14" y="1384"/>
                  </a:lnTo>
                  <a:close/>
                  <a:moveTo>
                    <a:pt x="14" y="1412"/>
                  </a:moveTo>
                  <a:lnTo>
                    <a:pt x="14" y="1426"/>
                  </a:lnTo>
                  <a:lnTo>
                    <a:pt x="0" y="1426"/>
                  </a:lnTo>
                  <a:lnTo>
                    <a:pt x="0" y="1412"/>
                  </a:lnTo>
                  <a:lnTo>
                    <a:pt x="14" y="1412"/>
                  </a:lnTo>
                  <a:close/>
                  <a:moveTo>
                    <a:pt x="14" y="1440"/>
                  </a:moveTo>
                  <a:lnTo>
                    <a:pt x="14" y="1454"/>
                  </a:lnTo>
                  <a:lnTo>
                    <a:pt x="0" y="1454"/>
                  </a:lnTo>
                  <a:lnTo>
                    <a:pt x="0" y="1440"/>
                  </a:lnTo>
                  <a:lnTo>
                    <a:pt x="14" y="1440"/>
                  </a:lnTo>
                  <a:close/>
                  <a:moveTo>
                    <a:pt x="14" y="1469"/>
                  </a:moveTo>
                  <a:lnTo>
                    <a:pt x="14" y="1482"/>
                  </a:lnTo>
                  <a:lnTo>
                    <a:pt x="0" y="1482"/>
                  </a:lnTo>
                  <a:lnTo>
                    <a:pt x="0" y="1469"/>
                  </a:lnTo>
                  <a:lnTo>
                    <a:pt x="14" y="1469"/>
                  </a:lnTo>
                  <a:close/>
                  <a:moveTo>
                    <a:pt x="14" y="1497"/>
                  </a:moveTo>
                  <a:lnTo>
                    <a:pt x="14" y="1511"/>
                  </a:lnTo>
                  <a:lnTo>
                    <a:pt x="0" y="1511"/>
                  </a:lnTo>
                  <a:lnTo>
                    <a:pt x="0" y="1497"/>
                  </a:lnTo>
                  <a:lnTo>
                    <a:pt x="14" y="1497"/>
                  </a:lnTo>
                  <a:close/>
                  <a:moveTo>
                    <a:pt x="14" y="1525"/>
                  </a:moveTo>
                  <a:lnTo>
                    <a:pt x="14" y="1539"/>
                  </a:lnTo>
                  <a:lnTo>
                    <a:pt x="0" y="1539"/>
                  </a:lnTo>
                  <a:lnTo>
                    <a:pt x="0" y="1525"/>
                  </a:lnTo>
                  <a:lnTo>
                    <a:pt x="14" y="1525"/>
                  </a:lnTo>
                  <a:close/>
                  <a:moveTo>
                    <a:pt x="14" y="1553"/>
                  </a:moveTo>
                  <a:lnTo>
                    <a:pt x="14" y="1567"/>
                  </a:lnTo>
                  <a:lnTo>
                    <a:pt x="0" y="1567"/>
                  </a:lnTo>
                  <a:lnTo>
                    <a:pt x="0" y="1553"/>
                  </a:lnTo>
                  <a:lnTo>
                    <a:pt x="14" y="1553"/>
                  </a:lnTo>
                  <a:close/>
                  <a:moveTo>
                    <a:pt x="14" y="1581"/>
                  </a:moveTo>
                  <a:lnTo>
                    <a:pt x="14" y="1596"/>
                  </a:lnTo>
                  <a:lnTo>
                    <a:pt x="0" y="1596"/>
                  </a:lnTo>
                  <a:lnTo>
                    <a:pt x="0" y="1581"/>
                  </a:lnTo>
                  <a:lnTo>
                    <a:pt x="14" y="1581"/>
                  </a:lnTo>
                  <a:close/>
                  <a:moveTo>
                    <a:pt x="14" y="1610"/>
                  </a:moveTo>
                  <a:lnTo>
                    <a:pt x="14" y="1624"/>
                  </a:lnTo>
                  <a:lnTo>
                    <a:pt x="0" y="1624"/>
                  </a:lnTo>
                  <a:lnTo>
                    <a:pt x="0" y="1610"/>
                  </a:lnTo>
                  <a:lnTo>
                    <a:pt x="14" y="1610"/>
                  </a:lnTo>
                  <a:close/>
                  <a:moveTo>
                    <a:pt x="14" y="1638"/>
                  </a:moveTo>
                  <a:lnTo>
                    <a:pt x="14" y="1652"/>
                  </a:lnTo>
                  <a:lnTo>
                    <a:pt x="0" y="1652"/>
                  </a:lnTo>
                  <a:lnTo>
                    <a:pt x="0" y="1638"/>
                  </a:lnTo>
                  <a:lnTo>
                    <a:pt x="14" y="1638"/>
                  </a:lnTo>
                  <a:close/>
                  <a:moveTo>
                    <a:pt x="14" y="1666"/>
                  </a:moveTo>
                  <a:lnTo>
                    <a:pt x="14" y="1680"/>
                  </a:lnTo>
                  <a:lnTo>
                    <a:pt x="0" y="1680"/>
                  </a:lnTo>
                  <a:lnTo>
                    <a:pt x="0" y="1666"/>
                  </a:lnTo>
                  <a:lnTo>
                    <a:pt x="14" y="1666"/>
                  </a:lnTo>
                  <a:close/>
                  <a:moveTo>
                    <a:pt x="14" y="1694"/>
                  </a:moveTo>
                  <a:lnTo>
                    <a:pt x="14" y="1708"/>
                  </a:lnTo>
                  <a:lnTo>
                    <a:pt x="0" y="1708"/>
                  </a:lnTo>
                  <a:lnTo>
                    <a:pt x="0" y="1694"/>
                  </a:lnTo>
                  <a:lnTo>
                    <a:pt x="14" y="1694"/>
                  </a:lnTo>
                  <a:close/>
                  <a:moveTo>
                    <a:pt x="14" y="1723"/>
                  </a:moveTo>
                  <a:lnTo>
                    <a:pt x="14" y="1737"/>
                  </a:lnTo>
                  <a:lnTo>
                    <a:pt x="0" y="1737"/>
                  </a:lnTo>
                  <a:lnTo>
                    <a:pt x="0" y="1723"/>
                  </a:lnTo>
                  <a:lnTo>
                    <a:pt x="14" y="1723"/>
                  </a:lnTo>
                  <a:close/>
                  <a:moveTo>
                    <a:pt x="14" y="1751"/>
                  </a:moveTo>
                  <a:lnTo>
                    <a:pt x="14" y="1765"/>
                  </a:lnTo>
                  <a:lnTo>
                    <a:pt x="0" y="1765"/>
                  </a:lnTo>
                  <a:lnTo>
                    <a:pt x="0" y="1751"/>
                  </a:lnTo>
                  <a:lnTo>
                    <a:pt x="14" y="1751"/>
                  </a:lnTo>
                  <a:close/>
                  <a:moveTo>
                    <a:pt x="14" y="1779"/>
                  </a:moveTo>
                  <a:lnTo>
                    <a:pt x="14" y="1793"/>
                  </a:lnTo>
                  <a:lnTo>
                    <a:pt x="0" y="1793"/>
                  </a:lnTo>
                  <a:lnTo>
                    <a:pt x="0" y="1779"/>
                  </a:lnTo>
                  <a:lnTo>
                    <a:pt x="14" y="1779"/>
                  </a:lnTo>
                  <a:close/>
                  <a:moveTo>
                    <a:pt x="14" y="1807"/>
                  </a:moveTo>
                  <a:lnTo>
                    <a:pt x="14" y="1821"/>
                  </a:lnTo>
                  <a:lnTo>
                    <a:pt x="0" y="1821"/>
                  </a:lnTo>
                  <a:lnTo>
                    <a:pt x="0" y="1807"/>
                  </a:lnTo>
                  <a:lnTo>
                    <a:pt x="14" y="1807"/>
                  </a:lnTo>
                  <a:close/>
                  <a:moveTo>
                    <a:pt x="14" y="1836"/>
                  </a:moveTo>
                  <a:lnTo>
                    <a:pt x="14" y="1850"/>
                  </a:lnTo>
                  <a:lnTo>
                    <a:pt x="0" y="1850"/>
                  </a:lnTo>
                  <a:lnTo>
                    <a:pt x="0" y="1836"/>
                  </a:lnTo>
                  <a:lnTo>
                    <a:pt x="14" y="1836"/>
                  </a:lnTo>
                  <a:close/>
                  <a:moveTo>
                    <a:pt x="14" y="1864"/>
                  </a:moveTo>
                  <a:lnTo>
                    <a:pt x="14" y="1878"/>
                  </a:lnTo>
                  <a:lnTo>
                    <a:pt x="0" y="1878"/>
                  </a:lnTo>
                  <a:lnTo>
                    <a:pt x="0" y="1864"/>
                  </a:lnTo>
                  <a:lnTo>
                    <a:pt x="14" y="1864"/>
                  </a:lnTo>
                  <a:close/>
                  <a:moveTo>
                    <a:pt x="14" y="1892"/>
                  </a:moveTo>
                  <a:lnTo>
                    <a:pt x="14" y="1906"/>
                  </a:lnTo>
                  <a:lnTo>
                    <a:pt x="0" y="1906"/>
                  </a:lnTo>
                  <a:lnTo>
                    <a:pt x="0" y="1892"/>
                  </a:lnTo>
                  <a:lnTo>
                    <a:pt x="14" y="1892"/>
                  </a:lnTo>
                  <a:close/>
                  <a:moveTo>
                    <a:pt x="14" y="1920"/>
                  </a:moveTo>
                  <a:lnTo>
                    <a:pt x="14" y="1935"/>
                  </a:lnTo>
                  <a:lnTo>
                    <a:pt x="0" y="1935"/>
                  </a:lnTo>
                  <a:lnTo>
                    <a:pt x="0" y="1920"/>
                  </a:lnTo>
                  <a:lnTo>
                    <a:pt x="14" y="1920"/>
                  </a:lnTo>
                  <a:close/>
                  <a:moveTo>
                    <a:pt x="14" y="1948"/>
                  </a:moveTo>
                  <a:lnTo>
                    <a:pt x="14" y="1963"/>
                  </a:lnTo>
                  <a:lnTo>
                    <a:pt x="0" y="1963"/>
                  </a:lnTo>
                  <a:lnTo>
                    <a:pt x="0" y="1948"/>
                  </a:lnTo>
                  <a:lnTo>
                    <a:pt x="14" y="1948"/>
                  </a:lnTo>
                  <a:close/>
                  <a:moveTo>
                    <a:pt x="14" y="1977"/>
                  </a:moveTo>
                  <a:lnTo>
                    <a:pt x="14" y="1991"/>
                  </a:lnTo>
                  <a:lnTo>
                    <a:pt x="0" y="1991"/>
                  </a:lnTo>
                  <a:lnTo>
                    <a:pt x="0" y="1977"/>
                  </a:lnTo>
                  <a:lnTo>
                    <a:pt x="14" y="1977"/>
                  </a:lnTo>
                  <a:close/>
                  <a:moveTo>
                    <a:pt x="14" y="2005"/>
                  </a:moveTo>
                  <a:lnTo>
                    <a:pt x="14" y="2019"/>
                  </a:lnTo>
                  <a:lnTo>
                    <a:pt x="0" y="2019"/>
                  </a:lnTo>
                  <a:lnTo>
                    <a:pt x="0" y="2005"/>
                  </a:lnTo>
                  <a:lnTo>
                    <a:pt x="14" y="2005"/>
                  </a:lnTo>
                  <a:close/>
                  <a:moveTo>
                    <a:pt x="14" y="2033"/>
                  </a:moveTo>
                  <a:lnTo>
                    <a:pt x="14" y="2047"/>
                  </a:lnTo>
                  <a:lnTo>
                    <a:pt x="0" y="2047"/>
                  </a:lnTo>
                  <a:lnTo>
                    <a:pt x="0" y="2033"/>
                  </a:lnTo>
                  <a:lnTo>
                    <a:pt x="14" y="2033"/>
                  </a:lnTo>
                  <a:close/>
                  <a:moveTo>
                    <a:pt x="14" y="2062"/>
                  </a:moveTo>
                  <a:lnTo>
                    <a:pt x="14" y="2076"/>
                  </a:lnTo>
                  <a:lnTo>
                    <a:pt x="0" y="2076"/>
                  </a:lnTo>
                  <a:lnTo>
                    <a:pt x="0" y="2062"/>
                  </a:lnTo>
                  <a:lnTo>
                    <a:pt x="14" y="2062"/>
                  </a:lnTo>
                  <a:close/>
                  <a:moveTo>
                    <a:pt x="14" y="2090"/>
                  </a:moveTo>
                  <a:lnTo>
                    <a:pt x="14" y="2104"/>
                  </a:lnTo>
                  <a:lnTo>
                    <a:pt x="0" y="2104"/>
                  </a:lnTo>
                  <a:lnTo>
                    <a:pt x="0" y="2090"/>
                  </a:lnTo>
                  <a:lnTo>
                    <a:pt x="14" y="2090"/>
                  </a:lnTo>
                  <a:close/>
                  <a:moveTo>
                    <a:pt x="14" y="2118"/>
                  </a:moveTo>
                  <a:lnTo>
                    <a:pt x="14" y="2132"/>
                  </a:lnTo>
                  <a:lnTo>
                    <a:pt x="0" y="2132"/>
                  </a:lnTo>
                  <a:lnTo>
                    <a:pt x="0" y="2118"/>
                  </a:lnTo>
                  <a:lnTo>
                    <a:pt x="14" y="2118"/>
                  </a:lnTo>
                  <a:close/>
                  <a:moveTo>
                    <a:pt x="14" y="2146"/>
                  </a:moveTo>
                  <a:lnTo>
                    <a:pt x="14" y="2160"/>
                  </a:lnTo>
                  <a:lnTo>
                    <a:pt x="0" y="2160"/>
                  </a:lnTo>
                  <a:lnTo>
                    <a:pt x="0" y="2146"/>
                  </a:lnTo>
                  <a:lnTo>
                    <a:pt x="14" y="2146"/>
                  </a:lnTo>
                  <a:close/>
                  <a:moveTo>
                    <a:pt x="14" y="2175"/>
                  </a:moveTo>
                  <a:lnTo>
                    <a:pt x="14" y="2189"/>
                  </a:lnTo>
                  <a:lnTo>
                    <a:pt x="0" y="2189"/>
                  </a:lnTo>
                  <a:lnTo>
                    <a:pt x="0" y="2175"/>
                  </a:lnTo>
                  <a:lnTo>
                    <a:pt x="14" y="2175"/>
                  </a:lnTo>
                  <a:close/>
                  <a:moveTo>
                    <a:pt x="14" y="2203"/>
                  </a:moveTo>
                  <a:lnTo>
                    <a:pt x="14" y="2217"/>
                  </a:lnTo>
                  <a:lnTo>
                    <a:pt x="0" y="2217"/>
                  </a:lnTo>
                  <a:lnTo>
                    <a:pt x="0" y="2203"/>
                  </a:lnTo>
                  <a:lnTo>
                    <a:pt x="14" y="2203"/>
                  </a:lnTo>
                  <a:close/>
                  <a:moveTo>
                    <a:pt x="14" y="2231"/>
                  </a:moveTo>
                  <a:lnTo>
                    <a:pt x="14" y="2245"/>
                  </a:lnTo>
                  <a:lnTo>
                    <a:pt x="0" y="2245"/>
                  </a:lnTo>
                  <a:lnTo>
                    <a:pt x="0" y="2231"/>
                  </a:lnTo>
                  <a:lnTo>
                    <a:pt x="14" y="2231"/>
                  </a:lnTo>
                  <a:close/>
                  <a:moveTo>
                    <a:pt x="14" y="2259"/>
                  </a:moveTo>
                  <a:lnTo>
                    <a:pt x="14" y="2274"/>
                  </a:lnTo>
                  <a:lnTo>
                    <a:pt x="0" y="2274"/>
                  </a:lnTo>
                  <a:lnTo>
                    <a:pt x="0" y="2259"/>
                  </a:lnTo>
                  <a:lnTo>
                    <a:pt x="14" y="2259"/>
                  </a:lnTo>
                  <a:close/>
                  <a:moveTo>
                    <a:pt x="14" y="2287"/>
                  </a:moveTo>
                  <a:lnTo>
                    <a:pt x="14" y="2302"/>
                  </a:lnTo>
                  <a:lnTo>
                    <a:pt x="0" y="2302"/>
                  </a:lnTo>
                  <a:lnTo>
                    <a:pt x="0" y="2287"/>
                  </a:lnTo>
                  <a:lnTo>
                    <a:pt x="14" y="2287"/>
                  </a:lnTo>
                  <a:close/>
                  <a:moveTo>
                    <a:pt x="14" y="2316"/>
                  </a:moveTo>
                  <a:lnTo>
                    <a:pt x="14" y="2330"/>
                  </a:lnTo>
                  <a:lnTo>
                    <a:pt x="0" y="2330"/>
                  </a:lnTo>
                  <a:lnTo>
                    <a:pt x="0" y="2316"/>
                  </a:lnTo>
                  <a:lnTo>
                    <a:pt x="14" y="2316"/>
                  </a:lnTo>
                  <a:close/>
                  <a:moveTo>
                    <a:pt x="14" y="2344"/>
                  </a:moveTo>
                  <a:lnTo>
                    <a:pt x="14" y="2358"/>
                  </a:lnTo>
                  <a:lnTo>
                    <a:pt x="0" y="2358"/>
                  </a:lnTo>
                  <a:lnTo>
                    <a:pt x="0" y="2344"/>
                  </a:lnTo>
                  <a:lnTo>
                    <a:pt x="14" y="2344"/>
                  </a:lnTo>
                  <a:close/>
                  <a:moveTo>
                    <a:pt x="14" y="2372"/>
                  </a:moveTo>
                  <a:lnTo>
                    <a:pt x="14" y="2386"/>
                  </a:lnTo>
                  <a:lnTo>
                    <a:pt x="0" y="2386"/>
                  </a:lnTo>
                  <a:lnTo>
                    <a:pt x="0" y="2372"/>
                  </a:lnTo>
                  <a:lnTo>
                    <a:pt x="14" y="2372"/>
                  </a:lnTo>
                  <a:close/>
                  <a:moveTo>
                    <a:pt x="14" y="2401"/>
                  </a:moveTo>
                  <a:lnTo>
                    <a:pt x="14" y="2415"/>
                  </a:lnTo>
                  <a:lnTo>
                    <a:pt x="0" y="2415"/>
                  </a:lnTo>
                  <a:lnTo>
                    <a:pt x="0" y="2401"/>
                  </a:lnTo>
                  <a:lnTo>
                    <a:pt x="14" y="2401"/>
                  </a:lnTo>
                  <a:close/>
                  <a:moveTo>
                    <a:pt x="14" y="2429"/>
                  </a:moveTo>
                  <a:lnTo>
                    <a:pt x="14" y="2443"/>
                  </a:lnTo>
                  <a:lnTo>
                    <a:pt x="0" y="2443"/>
                  </a:lnTo>
                  <a:lnTo>
                    <a:pt x="0" y="2429"/>
                  </a:lnTo>
                  <a:lnTo>
                    <a:pt x="14" y="2429"/>
                  </a:lnTo>
                  <a:close/>
                  <a:moveTo>
                    <a:pt x="14" y="2457"/>
                  </a:moveTo>
                  <a:lnTo>
                    <a:pt x="14" y="2471"/>
                  </a:lnTo>
                  <a:lnTo>
                    <a:pt x="0" y="2471"/>
                  </a:lnTo>
                  <a:lnTo>
                    <a:pt x="0" y="2457"/>
                  </a:lnTo>
                  <a:lnTo>
                    <a:pt x="14" y="2457"/>
                  </a:lnTo>
                  <a:close/>
                  <a:moveTo>
                    <a:pt x="14" y="2485"/>
                  </a:moveTo>
                  <a:lnTo>
                    <a:pt x="14" y="2489"/>
                  </a:lnTo>
                  <a:lnTo>
                    <a:pt x="0" y="2489"/>
                  </a:lnTo>
                  <a:lnTo>
                    <a:pt x="0" y="2485"/>
                  </a:lnTo>
                  <a:lnTo>
                    <a:pt x="14" y="2485"/>
                  </a:lnTo>
                  <a:close/>
                </a:path>
              </a:pathLst>
            </a:custGeom>
            <a:solidFill>
              <a:srgbClr val="000000"/>
            </a:solidFill>
            <a:ln w="0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3" name="Freeform 48">
              <a:extLst>
                <a:ext uri="{FF2B5EF4-FFF2-40B4-BE49-F238E27FC236}">
                  <a16:creationId xmlns:a16="http://schemas.microsoft.com/office/drawing/2014/main" id="{BFA2B592-C7A3-4327-B7E9-47BD2B1F08D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801" y="1440"/>
              <a:ext cx="15" cy="2489"/>
            </a:xfrm>
            <a:custGeom>
              <a:avLst/>
              <a:gdLst>
                <a:gd name="T0" fmla="*/ 15 w 15"/>
                <a:gd name="T1" fmla="*/ 42 h 2489"/>
                <a:gd name="T2" fmla="*/ 0 w 15"/>
                <a:gd name="T3" fmla="*/ 56 h 2489"/>
                <a:gd name="T4" fmla="*/ 15 w 15"/>
                <a:gd name="T5" fmla="*/ 113 h 2489"/>
                <a:gd name="T6" fmla="*/ 0 w 15"/>
                <a:gd name="T7" fmla="*/ 155 h 2489"/>
                <a:gd name="T8" fmla="*/ 15 w 15"/>
                <a:gd name="T9" fmla="*/ 169 h 2489"/>
                <a:gd name="T10" fmla="*/ 15 w 15"/>
                <a:gd name="T11" fmla="*/ 240 h 2489"/>
                <a:gd name="T12" fmla="*/ 0 w 15"/>
                <a:gd name="T13" fmla="*/ 254 h 2489"/>
                <a:gd name="T14" fmla="*/ 15 w 15"/>
                <a:gd name="T15" fmla="*/ 310 h 2489"/>
                <a:gd name="T16" fmla="*/ 0 w 15"/>
                <a:gd name="T17" fmla="*/ 353 h 2489"/>
                <a:gd name="T18" fmla="*/ 15 w 15"/>
                <a:gd name="T19" fmla="*/ 367 h 2489"/>
                <a:gd name="T20" fmla="*/ 15 w 15"/>
                <a:gd name="T21" fmla="*/ 437 h 2489"/>
                <a:gd name="T22" fmla="*/ 0 w 15"/>
                <a:gd name="T23" fmla="*/ 452 h 2489"/>
                <a:gd name="T24" fmla="*/ 15 w 15"/>
                <a:gd name="T25" fmla="*/ 508 h 2489"/>
                <a:gd name="T26" fmla="*/ 0 w 15"/>
                <a:gd name="T27" fmla="*/ 550 h 2489"/>
                <a:gd name="T28" fmla="*/ 15 w 15"/>
                <a:gd name="T29" fmla="*/ 565 h 2489"/>
                <a:gd name="T30" fmla="*/ 15 w 15"/>
                <a:gd name="T31" fmla="*/ 635 h 2489"/>
                <a:gd name="T32" fmla="*/ 0 w 15"/>
                <a:gd name="T33" fmla="*/ 649 h 2489"/>
                <a:gd name="T34" fmla="*/ 15 w 15"/>
                <a:gd name="T35" fmla="*/ 706 h 2489"/>
                <a:gd name="T36" fmla="*/ 0 w 15"/>
                <a:gd name="T37" fmla="*/ 748 h 2489"/>
                <a:gd name="T38" fmla="*/ 15 w 15"/>
                <a:gd name="T39" fmla="*/ 762 h 2489"/>
                <a:gd name="T40" fmla="*/ 15 w 15"/>
                <a:gd name="T41" fmla="*/ 833 h 2489"/>
                <a:gd name="T42" fmla="*/ 0 w 15"/>
                <a:gd name="T43" fmla="*/ 847 h 2489"/>
                <a:gd name="T44" fmla="*/ 15 w 15"/>
                <a:gd name="T45" fmla="*/ 903 h 2489"/>
                <a:gd name="T46" fmla="*/ 0 w 15"/>
                <a:gd name="T47" fmla="*/ 946 h 2489"/>
                <a:gd name="T48" fmla="*/ 15 w 15"/>
                <a:gd name="T49" fmla="*/ 960 h 2489"/>
                <a:gd name="T50" fmla="*/ 15 w 15"/>
                <a:gd name="T51" fmla="*/ 1031 h 2489"/>
                <a:gd name="T52" fmla="*/ 0 w 15"/>
                <a:gd name="T53" fmla="*/ 1045 h 2489"/>
                <a:gd name="T54" fmla="*/ 15 w 15"/>
                <a:gd name="T55" fmla="*/ 1101 h 2489"/>
                <a:gd name="T56" fmla="*/ 0 w 15"/>
                <a:gd name="T57" fmla="*/ 1143 h 2489"/>
                <a:gd name="T58" fmla="*/ 15 w 15"/>
                <a:gd name="T59" fmla="*/ 1158 h 2489"/>
                <a:gd name="T60" fmla="*/ 15 w 15"/>
                <a:gd name="T61" fmla="*/ 1228 h 2489"/>
                <a:gd name="T62" fmla="*/ 0 w 15"/>
                <a:gd name="T63" fmla="*/ 1242 h 2489"/>
                <a:gd name="T64" fmla="*/ 15 w 15"/>
                <a:gd name="T65" fmla="*/ 1299 h 2489"/>
                <a:gd name="T66" fmla="*/ 0 w 15"/>
                <a:gd name="T67" fmla="*/ 1341 h 2489"/>
                <a:gd name="T68" fmla="*/ 15 w 15"/>
                <a:gd name="T69" fmla="*/ 1355 h 2489"/>
                <a:gd name="T70" fmla="*/ 15 w 15"/>
                <a:gd name="T71" fmla="*/ 1426 h 2489"/>
                <a:gd name="T72" fmla="*/ 0 w 15"/>
                <a:gd name="T73" fmla="*/ 1440 h 2489"/>
                <a:gd name="T74" fmla="*/ 15 w 15"/>
                <a:gd name="T75" fmla="*/ 1497 h 2489"/>
                <a:gd name="T76" fmla="*/ 0 w 15"/>
                <a:gd name="T77" fmla="*/ 1539 h 2489"/>
                <a:gd name="T78" fmla="*/ 15 w 15"/>
                <a:gd name="T79" fmla="*/ 1553 h 2489"/>
                <a:gd name="T80" fmla="*/ 15 w 15"/>
                <a:gd name="T81" fmla="*/ 1624 h 2489"/>
                <a:gd name="T82" fmla="*/ 0 w 15"/>
                <a:gd name="T83" fmla="*/ 1638 h 2489"/>
                <a:gd name="T84" fmla="*/ 15 w 15"/>
                <a:gd name="T85" fmla="*/ 1694 h 2489"/>
                <a:gd name="T86" fmla="*/ 0 w 15"/>
                <a:gd name="T87" fmla="*/ 1737 h 2489"/>
                <a:gd name="T88" fmla="*/ 15 w 15"/>
                <a:gd name="T89" fmla="*/ 1751 h 2489"/>
                <a:gd name="T90" fmla="*/ 15 w 15"/>
                <a:gd name="T91" fmla="*/ 1821 h 2489"/>
                <a:gd name="T92" fmla="*/ 0 w 15"/>
                <a:gd name="T93" fmla="*/ 1836 h 2489"/>
                <a:gd name="T94" fmla="*/ 15 w 15"/>
                <a:gd name="T95" fmla="*/ 1892 h 2489"/>
                <a:gd name="T96" fmla="*/ 0 w 15"/>
                <a:gd name="T97" fmla="*/ 1935 h 2489"/>
                <a:gd name="T98" fmla="*/ 15 w 15"/>
                <a:gd name="T99" fmla="*/ 1948 h 2489"/>
                <a:gd name="T100" fmla="*/ 15 w 15"/>
                <a:gd name="T101" fmla="*/ 2019 h 2489"/>
                <a:gd name="T102" fmla="*/ 0 w 15"/>
                <a:gd name="T103" fmla="*/ 2033 h 2489"/>
                <a:gd name="T104" fmla="*/ 15 w 15"/>
                <a:gd name="T105" fmla="*/ 2090 h 2489"/>
                <a:gd name="T106" fmla="*/ 0 w 15"/>
                <a:gd name="T107" fmla="*/ 2132 h 2489"/>
                <a:gd name="T108" fmla="*/ 15 w 15"/>
                <a:gd name="T109" fmla="*/ 2146 h 2489"/>
                <a:gd name="T110" fmla="*/ 15 w 15"/>
                <a:gd name="T111" fmla="*/ 2217 h 2489"/>
                <a:gd name="T112" fmla="*/ 0 w 15"/>
                <a:gd name="T113" fmla="*/ 2231 h 2489"/>
                <a:gd name="T114" fmla="*/ 15 w 15"/>
                <a:gd name="T115" fmla="*/ 2287 h 2489"/>
                <a:gd name="T116" fmla="*/ 0 w 15"/>
                <a:gd name="T117" fmla="*/ 2330 h 2489"/>
                <a:gd name="T118" fmla="*/ 15 w 15"/>
                <a:gd name="T119" fmla="*/ 2344 h 2489"/>
                <a:gd name="T120" fmla="*/ 15 w 15"/>
                <a:gd name="T121" fmla="*/ 2415 h 2489"/>
                <a:gd name="T122" fmla="*/ 0 w 15"/>
                <a:gd name="T123" fmla="*/ 2429 h 2489"/>
                <a:gd name="T124" fmla="*/ 15 w 15"/>
                <a:gd name="T125" fmla="*/ 2485 h 24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5" h="2489">
                  <a:moveTo>
                    <a:pt x="15" y="0"/>
                  </a:moveTo>
                  <a:lnTo>
                    <a:pt x="15" y="14"/>
                  </a:lnTo>
                  <a:lnTo>
                    <a:pt x="0" y="14"/>
                  </a:lnTo>
                  <a:lnTo>
                    <a:pt x="0" y="0"/>
                  </a:lnTo>
                  <a:lnTo>
                    <a:pt x="15" y="0"/>
                  </a:lnTo>
                  <a:close/>
                  <a:moveTo>
                    <a:pt x="15" y="28"/>
                  </a:moveTo>
                  <a:lnTo>
                    <a:pt x="15" y="42"/>
                  </a:lnTo>
                  <a:lnTo>
                    <a:pt x="0" y="42"/>
                  </a:lnTo>
                  <a:lnTo>
                    <a:pt x="0" y="28"/>
                  </a:lnTo>
                  <a:lnTo>
                    <a:pt x="15" y="28"/>
                  </a:lnTo>
                  <a:close/>
                  <a:moveTo>
                    <a:pt x="15" y="56"/>
                  </a:moveTo>
                  <a:lnTo>
                    <a:pt x="15" y="70"/>
                  </a:lnTo>
                  <a:lnTo>
                    <a:pt x="0" y="70"/>
                  </a:lnTo>
                  <a:lnTo>
                    <a:pt x="0" y="56"/>
                  </a:lnTo>
                  <a:lnTo>
                    <a:pt x="15" y="56"/>
                  </a:lnTo>
                  <a:close/>
                  <a:moveTo>
                    <a:pt x="15" y="84"/>
                  </a:moveTo>
                  <a:lnTo>
                    <a:pt x="15" y="98"/>
                  </a:lnTo>
                  <a:lnTo>
                    <a:pt x="0" y="98"/>
                  </a:lnTo>
                  <a:lnTo>
                    <a:pt x="0" y="84"/>
                  </a:lnTo>
                  <a:lnTo>
                    <a:pt x="15" y="84"/>
                  </a:lnTo>
                  <a:close/>
                  <a:moveTo>
                    <a:pt x="15" y="113"/>
                  </a:moveTo>
                  <a:lnTo>
                    <a:pt x="15" y="127"/>
                  </a:lnTo>
                  <a:lnTo>
                    <a:pt x="0" y="127"/>
                  </a:lnTo>
                  <a:lnTo>
                    <a:pt x="0" y="113"/>
                  </a:lnTo>
                  <a:lnTo>
                    <a:pt x="15" y="113"/>
                  </a:lnTo>
                  <a:close/>
                  <a:moveTo>
                    <a:pt x="15" y="141"/>
                  </a:moveTo>
                  <a:lnTo>
                    <a:pt x="15" y="155"/>
                  </a:lnTo>
                  <a:lnTo>
                    <a:pt x="0" y="155"/>
                  </a:lnTo>
                  <a:lnTo>
                    <a:pt x="0" y="141"/>
                  </a:lnTo>
                  <a:lnTo>
                    <a:pt x="15" y="141"/>
                  </a:lnTo>
                  <a:close/>
                  <a:moveTo>
                    <a:pt x="15" y="169"/>
                  </a:moveTo>
                  <a:lnTo>
                    <a:pt x="15" y="183"/>
                  </a:lnTo>
                  <a:lnTo>
                    <a:pt x="0" y="183"/>
                  </a:lnTo>
                  <a:lnTo>
                    <a:pt x="0" y="169"/>
                  </a:lnTo>
                  <a:lnTo>
                    <a:pt x="15" y="169"/>
                  </a:lnTo>
                  <a:close/>
                  <a:moveTo>
                    <a:pt x="15" y="197"/>
                  </a:moveTo>
                  <a:lnTo>
                    <a:pt x="15" y="211"/>
                  </a:lnTo>
                  <a:lnTo>
                    <a:pt x="0" y="211"/>
                  </a:lnTo>
                  <a:lnTo>
                    <a:pt x="0" y="197"/>
                  </a:lnTo>
                  <a:lnTo>
                    <a:pt x="15" y="197"/>
                  </a:lnTo>
                  <a:close/>
                  <a:moveTo>
                    <a:pt x="15" y="226"/>
                  </a:moveTo>
                  <a:lnTo>
                    <a:pt x="15" y="240"/>
                  </a:lnTo>
                  <a:lnTo>
                    <a:pt x="0" y="240"/>
                  </a:lnTo>
                  <a:lnTo>
                    <a:pt x="0" y="226"/>
                  </a:lnTo>
                  <a:lnTo>
                    <a:pt x="15" y="226"/>
                  </a:lnTo>
                  <a:close/>
                  <a:moveTo>
                    <a:pt x="15" y="254"/>
                  </a:moveTo>
                  <a:lnTo>
                    <a:pt x="15" y="268"/>
                  </a:lnTo>
                  <a:lnTo>
                    <a:pt x="0" y="268"/>
                  </a:lnTo>
                  <a:lnTo>
                    <a:pt x="0" y="254"/>
                  </a:lnTo>
                  <a:lnTo>
                    <a:pt x="15" y="254"/>
                  </a:lnTo>
                  <a:close/>
                  <a:moveTo>
                    <a:pt x="15" y="282"/>
                  </a:moveTo>
                  <a:lnTo>
                    <a:pt x="15" y="296"/>
                  </a:lnTo>
                  <a:lnTo>
                    <a:pt x="0" y="296"/>
                  </a:lnTo>
                  <a:lnTo>
                    <a:pt x="0" y="282"/>
                  </a:lnTo>
                  <a:lnTo>
                    <a:pt x="15" y="282"/>
                  </a:lnTo>
                  <a:close/>
                  <a:moveTo>
                    <a:pt x="15" y="310"/>
                  </a:moveTo>
                  <a:lnTo>
                    <a:pt x="15" y="325"/>
                  </a:lnTo>
                  <a:lnTo>
                    <a:pt x="0" y="325"/>
                  </a:lnTo>
                  <a:lnTo>
                    <a:pt x="0" y="310"/>
                  </a:lnTo>
                  <a:lnTo>
                    <a:pt x="15" y="310"/>
                  </a:lnTo>
                  <a:close/>
                  <a:moveTo>
                    <a:pt x="15" y="338"/>
                  </a:moveTo>
                  <a:lnTo>
                    <a:pt x="15" y="353"/>
                  </a:lnTo>
                  <a:lnTo>
                    <a:pt x="0" y="353"/>
                  </a:lnTo>
                  <a:lnTo>
                    <a:pt x="0" y="338"/>
                  </a:lnTo>
                  <a:lnTo>
                    <a:pt x="15" y="338"/>
                  </a:lnTo>
                  <a:close/>
                  <a:moveTo>
                    <a:pt x="15" y="367"/>
                  </a:moveTo>
                  <a:lnTo>
                    <a:pt x="15" y="381"/>
                  </a:lnTo>
                  <a:lnTo>
                    <a:pt x="0" y="381"/>
                  </a:lnTo>
                  <a:lnTo>
                    <a:pt x="0" y="367"/>
                  </a:lnTo>
                  <a:lnTo>
                    <a:pt x="15" y="367"/>
                  </a:lnTo>
                  <a:close/>
                  <a:moveTo>
                    <a:pt x="15" y="395"/>
                  </a:moveTo>
                  <a:lnTo>
                    <a:pt x="15" y="409"/>
                  </a:lnTo>
                  <a:lnTo>
                    <a:pt x="0" y="409"/>
                  </a:lnTo>
                  <a:lnTo>
                    <a:pt x="0" y="395"/>
                  </a:lnTo>
                  <a:lnTo>
                    <a:pt x="15" y="395"/>
                  </a:lnTo>
                  <a:close/>
                  <a:moveTo>
                    <a:pt x="15" y="423"/>
                  </a:moveTo>
                  <a:lnTo>
                    <a:pt x="15" y="437"/>
                  </a:lnTo>
                  <a:lnTo>
                    <a:pt x="0" y="437"/>
                  </a:lnTo>
                  <a:lnTo>
                    <a:pt x="0" y="423"/>
                  </a:lnTo>
                  <a:lnTo>
                    <a:pt x="15" y="423"/>
                  </a:lnTo>
                  <a:close/>
                  <a:moveTo>
                    <a:pt x="15" y="452"/>
                  </a:moveTo>
                  <a:lnTo>
                    <a:pt x="15" y="466"/>
                  </a:lnTo>
                  <a:lnTo>
                    <a:pt x="0" y="466"/>
                  </a:lnTo>
                  <a:lnTo>
                    <a:pt x="0" y="452"/>
                  </a:lnTo>
                  <a:lnTo>
                    <a:pt x="15" y="452"/>
                  </a:lnTo>
                  <a:close/>
                  <a:moveTo>
                    <a:pt x="15" y="480"/>
                  </a:moveTo>
                  <a:lnTo>
                    <a:pt x="15" y="494"/>
                  </a:lnTo>
                  <a:lnTo>
                    <a:pt x="0" y="494"/>
                  </a:lnTo>
                  <a:lnTo>
                    <a:pt x="0" y="480"/>
                  </a:lnTo>
                  <a:lnTo>
                    <a:pt x="15" y="480"/>
                  </a:lnTo>
                  <a:close/>
                  <a:moveTo>
                    <a:pt x="15" y="508"/>
                  </a:moveTo>
                  <a:lnTo>
                    <a:pt x="15" y="522"/>
                  </a:lnTo>
                  <a:lnTo>
                    <a:pt x="0" y="522"/>
                  </a:lnTo>
                  <a:lnTo>
                    <a:pt x="0" y="508"/>
                  </a:lnTo>
                  <a:lnTo>
                    <a:pt x="15" y="508"/>
                  </a:lnTo>
                  <a:close/>
                  <a:moveTo>
                    <a:pt x="15" y="536"/>
                  </a:moveTo>
                  <a:lnTo>
                    <a:pt x="15" y="550"/>
                  </a:lnTo>
                  <a:lnTo>
                    <a:pt x="0" y="550"/>
                  </a:lnTo>
                  <a:lnTo>
                    <a:pt x="0" y="536"/>
                  </a:lnTo>
                  <a:lnTo>
                    <a:pt x="15" y="536"/>
                  </a:lnTo>
                  <a:close/>
                  <a:moveTo>
                    <a:pt x="15" y="565"/>
                  </a:moveTo>
                  <a:lnTo>
                    <a:pt x="15" y="579"/>
                  </a:lnTo>
                  <a:lnTo>
                    <a:pt x="0" y="579"/>
                  </a:lnTo>
                  <a:lnTo>
                    <a:pt x="0" y="565"/>
                  </a:lnTo>
                  <a:lnTo>
                    <a:pt x="15" y="565"/>
                  </a:lnTo>
                  <a:close/>
                  <a:moveTo>
                    <a:pt x="15" y="593"/>
                  </a:moveTo>
                  <a:lnTo>
                    <a:pt x="15" y="607"/>
                  </a:lnTo>
                  <a:lnTo>
                    <a:pt x="0" y="607"/>
                  </a:lnTo>
                  <a:lnTo>
                    <a:pt x="0" y="593"/>
                  </a:lnTo>
                  <a:lnTo>
                    <a:pt x="15" y="593"/>
                  </a:lnTo>
                  <a:close/>
                  <a:moveTo>
                    <a:pt x="15" y="621"/>
                  </a:moveTo>
                  <a:lnTo>
                    <a:pt x="15" y="635"/>
                  </a:lnTo>
                  <a:lnTo>
                    <a:pt x="0" y="635"/>
                  </a:lnTo>
                  <a:lnTo>
                    <a:pt x="0" y="621"/>
                  </a:lnTo>
                  <a:lnTo>
                    <a:pt x="15" y="621"/>
                  </a:lnTo>
                  <a:close/>
                  <a:moveTo>
                    <a:pt x="15" y="649"/>
                  </a:moveTo>
                  <a:lnTo>
                    <a:pt x="15" y="664"/>
                  </a:lnTo>
                  <a:lnTo>
                    <a:pt x="0" y="664"/>
                  </a:lnTo>
                  <a:lnTo>
                    <a:pt x="0" y="649"/>
                  </a:lnTo>
                  <a:lnTo>
                    <a:pt x="15" y="649"/>
                  </a:lnTo>
                  <a:close/>
                  <a:moveTo>
                    <a:pt x="15" y="677"/>
                  </a:moveTo>
                  <a:lnTo>
                    <a:pt x="15" y="692"/>
                  </a:lnTo>
                  <a:lnTo>
                    <a:pt x="0" y="692"/>
                  </a:lnTo>
                  <a:lnTo>
                    <a:pt x="0" y="677"/>
                  </a:lnTo>
                  <a:lnTo>
                    <a:pt x="15" y="677"/>
                  </a:lnTo>
                  <a:close/>
                  <a:moveTo>
                    <a:pt x="15" y="706"/>
                  </a:moveTo>
                  <a:lnTo>
                    <a:pt x="15" y="720"/>
                  </a:lnTo>
                  <a:lnTo>
                    <a:pt x="0" y="720"/>
                  </a:lnTo>
                  <a:lnTo>
                    <a:pt x="0" y="706"/>
                  </a:lnTo>
                  <a:lnTo>
                    <a:pt x="15" y="706"/>
                  </a:lnTo>
                  <a:close/>
                  <a:moveTo>
                    <a:pt x="15" y="734"/>
                  </a:moveTo>
                  <a:lnTo>
                    <a:pt x="15" y="748"/>
                  </a:lnTo>
                  <a:lnTo>
                    <a:pt x="0" y="748"/>
                  </a:lnTo>
                  <a:lnTo>
                    <a:pt x="0" y="734"/>
                  </a:lnTo>
                  <a:lnTo>
                    <a:pt x="15" y="734"/>
                  </a:lnTo>
                  <a:close/>
                  <a:moveTo>
                    <a:pt x="15" y="762"/>
                  </a:moveTo>
                  <a:lnTo>
                    <a:pt x="15" y="776"/>
                  </a:lnTo>
                  <a:lnTo>
                    <a:pt x="0" y="776"/>
                  </a:lnTo>
                  <a:lnTo>
                    <a:pt x="0" y="762"/>
                  </a:lnTo>
                  <a:lnTo>
                    <a:pt x="15" y="762"/>
                  </a:lnTo>
                  <a:close/>
                  <a:moveTo>
                    <a:pt x="15" y="791"/>
                  </a:moveTo>
                  <a:lnTo>
                    <a:pt x="15" y="805"/>
                  </a:lnTo>
                  <a:lnTo>
                    <a:pt x="0" y="805"/>
                  </a:lnTo>
                  <a:lnTo>
                    <a:pt x="0" y="791"/>
                  </a:lnTo>
                  <a:lnTo>
                    <a:pt x="15" y="791"/>
                  </a:lnTo>
                  <a:close/>
                  <a:moveTo>
                    <a:pt x="15" y="819"/>
                  </a:moveTo>
                  <a:lnTo>
                    <a:pt x="15" y="833"/>
                  </a:lnTo>
                  <a:lnTo>
                    <a:pt x="0" y="833"/>
                  </a:lnTo>
                  <a:lnTo>
                    <a:pt x="0" y="819"/>
                  </a:lnTo>
                  <a:lnTo>
                    <a:pt x="15" y="819"/>
                  </a:lnTo>
                  <a:close/>
                  <a:moveTo>
                    <a:pt x="15" y="847"/>
                  </a:moveTo>
                  <a:lnTo>
                    <a:pt x="15" y="861"/>
                  </a:lnTo>
                  <a:lnTo>
                    <a:pt x="0" y="861"/>
                  </a:lnTo>
                  <a:lnTo>
                    <a:pt x="0" y="847"/>
                  </a:lnTo>
                  <a:lnTo>
                    <a:pt x="15" y="847"/>
                  </a:lnTo>
                  <a:close/>
                  <a:moveTo>
                    <a:pt x="15" y="875"/>
                  </a:moveTo>
                  <a:lnTo>
                    <a:pt x="15" y="889"/>
                  </a:lnTo>
                  <a:lnTo>
                    <a:pt x="0" y="889"/>
                  </a:lnTo>
                  <a:lnTo>
                    <a:pt x="0" y="875"/>
                  </a:lnTo>
                  <a:lnTo>
                    <a:pt x="15" y="875"/>
                  </a:lnTo>
                  <a:close/>
                  <a:moveTo>
                    <a:pt x="15" y="903"/>
                  </a:moveTo>
                  <a:lnTo>
                    <a:pt x="15" y="918"/>
                  </a:lnTo>
                  <a:lnTo>
                    <a:pt x="0" y="918"/>
                  </a:lnTo>
                  <a:lnTo>
                    <a:pt x="0" y="903"/>
                  </a:lnTo>
                  <a:lnTo>
                    <a:pt x="15" y="903"/>
                  </a:lnTo>
                  <a:close/>
                  <a:moveTo>
                    <a:pt x="15" y="932"/>
                  </a:moveTo>
                  <a:lnTo>
                    <a:pt x="15" y="946"/>
                  </a:lnTo>
                  <a:lnTo>
                    <a:pt x="0" y="946"/>
                  </a:lnTo>
                  <a:lnTo>
                    <a:pt x="0" y="932"/>
                  </a:lnTo>
                  <a:lnTo>
                    <a:pt x="15" y="932"/>
                  </a:lnTo>
                  <a:close/>
                  <a:moveTo>
                    <a:pt x="15" y="960"/>
                  </a:moveTo>
                  <a:lnTo>
                    <a:pt x="15" y="974"/>
                  </a:lnTo>
                  <a:lnTo>
                    <a:pt x="0" y="974"/>
                  </a:lnTo>
                  <a:lnTo>
                    <a:pt x="0" y="960"/>
                  </a:lnTo>
                  <a:lnTo>
                    <a:pt x="15" y="960"/>
                  </a:lnTo>
                  <a:close/>
                  <a:moveTo>
                    <a:pt x="15" y="988"/>
                  </a:moveTo>
                  <a:lnTo>
                    <a:pt x="15" y="1002"/>
                  </a:lnTo>
                  <a:lnTo>
                    <a:pt x="0" y="1002"/>
                  </a:lnTo>
                  <a:lnTo>
                    <a:pt x="0" y="988"/>
                  </a:lnTo>
                  <a:lnTo>
                    <a:pt x="15" y="988"/>
                  </a:lnTo>
                  <a:close/>
                  <a:moveTo>
                    <a:pt x="15" y="1016"/>
                  </a:moveTo>
                  <a:lnTo>
                    <a:pt x="15" y="1031"/>
                  </a:lnTo>
                  <a:lnTo>
                    <a:pt x="0" y="1031"/>
                  </a:lnTo>
                  <a:lnTo>
                    <a:pt x="0" y="1016"/>
                  </a:lnTo>
                  <a:lnTo>
                    <a:pt x="15" y="1016"/>
                  </a:lnTo>
                  <a:close/>
                  <a:moveTo>
                    <a:pt x="15" y="1045"/>
                  </a:moveTo>
                  <a:lnTo>
                    <a:pt x="15" y="1059"/>
                  </a:lnTo>
                  <a:lnTo>
                    <a:pt x="0" y="1059"/>
                  </a:lnTo>
                  <a:lnTo>
                    <a:pt x="0" y="1045"/>
                  </a:lnTo>
                  <a:lnTo>
                    <a:pt x="15" y="1045"/>
                  </a:lnTo>
                  <a:close/>
                  <a:moveTo>
                    <a:pt x="15" y="1073"/>
                  </a:moveTo>
                  <a:lnTo>
                    <a:pt x="15" y="1087"/>
                  </a:lnTo>
                  <a:lnTo>
                    <a:pt x="0" y="1087"/>
                  </a:lnTo>
                  <a:lnTo>
                    <a:pt x="0" y="1073"/>
                  </a:lnTo>
                  <a:lnTo>
                    <a:pt x="15" y="1073"/>
                  </a:lnTo>
                  <a:close/>
                  <a:moveTo>
                    <a:pt x="15" y="1101"/>
                  </a:moveTo>
                  <a:lnTo>
                    <a:pt x="15" y="1115"/>
                  </a:lnTo>
                  <a:lnTo>
                    <a:pt x="0" y="1115"/>
                  </a:lnTo>
                  <a:lnTo>
                    <a:pt x="0" y="1101"/>
                  </a:lnTo>
                  <a:lnTo>
                    <a:pt x="15" y="1101"/>
                  </a:lnTo>
                  <a:close/>
                  <a:moveTo>
                    <a:pt x="15" y="1130"/>
                  </a:moveTo>
                  <a:lnTo>
                    <a:pt x="15" y="1143"/>
                  </a:lnTo>
                  <a:lnTo>
                    <a:pt x="0" y="1143"/>
                  </a:lnTo>
                  <a:lnTo>
                    <a:pt x="0" y="1130"/>
                  </a:lnTo>
                  <a:lnTo>
                    <a:pt x="15" y="1130"/>
                  </a:lnTo>
                  <a:close/>
                  <a:moveTo>
                    <a:pt x="15" y="1158"/>
                  </a:moveTo>
                  <a:lnTo>
                    <a:pt x="15" y="1172"/>
                  </a:lnTo>
                  <a:lnTo>
                    <a:pt x="0" y="1172"/>
                  </a:lnTo>
                  <a:lnTo>
                    <a:pt x="0" y="1158"/>
                  </a:lnTo>
                  <a:lnTo>
                    <a:pt x="15" y="1158"/>
                  </a:lnTo>
                  <a:close/>
                  <a:moveTo>
                    <a:pt x="15" y="1186"/>
                  </a:moveTo>
                  <a:lnTo>
                    <a:pt x="15" y="1200"/>
                  </a:lnTo>
                  <a:lnTo>
                    <a:pt x="0" y="1200"/>
                  </a:lnTo>
                  <a:lnTo>
                    <a:pt x="0" y="1186"/>
                  </a:lnTo>
                  <a:lnTo>
                    <a:pt x="15" y="1186"/>
                  </a:lnTo>
                  <a:close/>
                  <a:moveTo>
                    <a:pt x="15" y="1214"/>
                  </a:moveTo>
                  <a:lnTo>
                    <a:pt x="15" y="1228"/>
                  </a:lnTo>
                  <a:lnTo>
                    <a:pt x="0" y="1228"/>
                  </a:lnTo>
                  <a:lnTo>
                    <a:pt x="0" y="1214"/>
                  </a:lnTo>
                  <a:lnTo>
                    <a:pt x="15" y="1214"/>
                  </a:lnTo>
                  <a:close/>
                  <a:moveTo>
                    <a:pt x="15" y="1242"/>
                  </a:moveTo>
                  <a:lnTo>
                    <a:pt x="15" y="1257"/>
                  </a:lnTo>
                  <a:lnTo>
                    <a:pt x="0" y="1257"/>
                  </a:lnTo>
                  <a:lnTo>
                    <a:pt x="0" y="1242"/>
                  </a:lnTo>
                  <a:lnTo>
                    <a:pt x="15" y="1242"/>
                  </a:lnTo>
                  <a:close/>
                  <a:moveTo>
                    <a:pt x="15" y="1271"/>
                  </a:moveTo>
                  <a:lnTo>
                    <a:pt x="15" y="1285"/>
                  </a:lnTo>
                  <a:lnTo>
                    <a:pt x="0" y="1285"/>
                  </a:lnTo>
                  <a:lnTo>
                    <a:pt x="0" y="1271"/>
                  </a:lnTo>
                  <a:lnTo>
                    <a:pt x="15" y="1271"/>
                  </a:lnTo>
                  <a:close/>
                  <a:moveTo>
                    <a:pt x="15" y="1299"/>
                  </a:moveTo>
                  <a:lnTo>
                    <a:pt x="15" y="1313"/>
                  </a:lnTo>
                  <a:lnTo>
                    <a:pt x="0" y="1313"/>
                  </a:lnTo>
                  <a:lnTo>
                    <a:pt x="0" y="1299"/>
                  </a:lnTo>
                  <a:lnTo>
                    <a:pt x="15" y="1299"/>
                  </a:lnTo>
                  <a:close/>
                  <a:moveTo>
                    <a:pt x="15" y="1327"/>
                  </a:moveTo>
                  <a:lnTo>
                    <a:pt x="15" y="1341"/>
                  </a:lnTo>
                  <a:lnTo>
                    <a:pt x="0" y="1341"/>
                  </a:lnTo>
                  <a:lnTo>
                    <a:pt x="0" y="1327"/>
                  </a:lnTo>
                  <a:lnTo>
                    <a:pt x="15" y="1327"/>
                  </a:lnTo>
                  <a:close/>
                  <a:moveTo>
                    <a:pt x="15" y="1355"/>
                  </a:moveTo>
                  <a:lnTo>
                    <a:pt x="15" y="1370"/>
                  </a:lnTo>
                  <a:lnTo>
                    <a:pt x="0" y="1370"/>
                  </a:lnTo>
                  <a:lnTo>
                    <a:pt x="0" y="1355"/>
                  </a:lnTo>
                  <a:lnTo>
                    <a:pt x="15" y="1355"/>
                  </a:lnTo>
                  <a:close/>
                  <a:moveTo>
                    <a:pt x="15" y="1384"/>
                  </a:moveTo>
                  <a:lnTo>
                    <a:pt x="15" y="1398"/>
                  </a:lnTo>
                  <a:lnTo>
                    <a:pt x="0" y="1398"/>
                  </a:lnTo>
                  <a:lnTo>
                    <a:pt x="0" y="1384"/>
                  </a:lnTo>
                  <a:lnTo>
                    <a:pt x="15" y="1384"/>
                  </a:lnTo>
                  <a:close/>
                  <a:moveTo>
                    <a:pt x="15" y="1412"/>
                  </a:moveTo>
                  <a:lnTo>
                    <a:pt x="15" y="1426"/>
                  </a:lnTo>
                  <a:lnTo>
                    <a:pt x="0" y="1426"/>
                  </a:lnTo>
                  <a:lnTo>
                    <a:pt x="0" y="1412"/>
                  </a:lnTo>
                  <a:lnTo>
                    <a:pt x="15" y="1412"/>
                  </a:lnTo>
                  <a:close/>
                  <a:moveTo>
                    <a:pt x="15" y="1440"/>
                  </a:moveTo>
                  <a:lnTo>
                    <a:pt x="15" y="1454"/>
                  </a:lnTo>
                  <a:lnTo>
                    <a:pt x="0" y="1454"/>
                  </a:lnTo>
                  <a:lnTo>
                    <a:pt x="0" y="1440"/>
                  </a:lnTo>
                  <a:lnTo>
                    <a:pt x="15" y="1440"/>
                  </a:lnTo>
                  <a:close/>
                  <a:moveTo>
                    <a:pt x="15" y="1469"/>
                  </a:moveTo>
                  <a:lnTo>
                    <a:pt x="15" y="1482"/>
                  </a:lnTo>
                  <a:lnTo>
                    <a:pt x="0" y="1482"/>
                  </a:lnTo>
                  <a:lnTo>
                    <a:pt x="0" y="1469"/>
                  </a:lnTo>
                  <a:lnTo>
                    <a:pt x="15" y="1469"/>
                  </a:lnTo>
                  <a:close/>
                  <a:moveTo>
                    <a:pt x="15" y="1497"/>
                  </a:moveTo>
                  <a:lnTo>
                    <a:pt x="15" y="1511"/>
                  </a:lnTo>
                  <a:lnTo>
                    <a:pt x="0" y="1511"/>
                  </a:lnTo>
                  <a:lnTo>
                    <a:pt x="0" y="1497"/>
                  </a:lnTo>
                  <a:lnTo>
                    <a:pt x="15" y="1497"/>
                  </a:lnTo>
                  <a:close/>
                  <a:moveTo>
                    <a:pt x="15" y="1525"/>
                  </a:moveTo>
                  <a:lnTo>
                    <a:pt x="15" y="1539"/>
                  </a:lnTo>
                  <a:lnTo>
                    <a:pt x="0" y="1539"/>
                  </a:lnTo>
                  <a:lnTo>
                    <a:pt x="0" y="1525"/>
                  </a:lnTo>
                  <a:lnTo>
                    <a:pt x="15" y="1525"/>
                  </a:lnTo>
                  <a:close/>
                  <a:moveTo>
                    <a:pt x="15" y="1553"/>
                  </a:moveTo>
                  <a:lnTo>
                    <a:pt x="15" y="1567"/>
                  </a:lnTo>
                  <a:lnTo>
                    <a:pt x="0" y="1567"/>
                  </a:lnTo>
                  <a:lnTo>
                    <a:pt x="0" y="1553"/>
                  </a:lnTo>
                  <a:lnTo>
                    <a:pt x="15" y="1553"/>
                  </a:lnTo>
                  <a:close/>
                  <a:moveTo>
                    <a:pt x="15" y="1581"/>
                  </a:moveTo>
                  <a:lnTo>
                    <a:pt x="15" y="1596"/>
                  </a:lnTo>
                  <a:lnTo>
                    <a:pt x="0" y="1596"/>
                  </a:lnTo>
                  <a:lnTo>
                    <a:pt x="0" y="1581"/>
                  </a:lnTo>
                  <a:lnTo>
                    <a:pt x="15" y="1581"/>
                  </a:lnTo>
                  <a:close/>
                  <a:moveTo>
                    <a:pt x="15" y="1610"/>
                  </a:moveTo>
                  <a:lnTo>
                    <a:pt x="15" y="1624"/>
                  </a:lnTo>
                  <a:lnTo>
                    <a:pt x="0" y="1624"/>
                  </a:lnTo>
                  <a:lnTo>
                    <a:pt x="0" y="1610"/>
                  </a:lnTo>
                  <a:lnTo>
                    <a:pt x="15" y="1610"/>
                  </a:lnTo>
                  <a:close/>
                  <a:moveTo>
                    <a:pt x="15" y="1638"/>
                  </a:moveTo>
                  <a:lnTo>
                    <a:pt x="15" y="1652"/>
                  </a:lnTo>
                  <a:lnTo>
                    <a:pt x="0" y="1652"/>
                  </a:lnTo>
                  <a:lnTo>
                    <a:pt x="0" y="1638"/>
                  </a:lnTo>
                  <a:lnTo>
                    <a:pt x="15" y="1638"/>
                  </a:lnTo>
                  <a:close/>
                  <a:moveTo>
                    <a:pt x="15" y="1666"/>
                  </a:moveTo>
                  <a:lnTo>
                    <a:pt x="15" y="1680"/>
                  </a:lnTo>
                  <a:lnTo>
                    <a:pt x="0" y="1680"/>
                  </a:lnTo>
                  <a:lnTo>
                    <a:pt x="0" y="1666"/>
                  </a:lnTo>
                  <a:lnTo>
                    <a:pt x="15" y="1666"/>
                  </a:lnTo>
                  <a:close/>
                  <a:moveTo>
                    <a:pt x="15" y="1694"/>
                  </a:moveTo>
                  <a:lnTo>
                    <a:pt x="15" y="1708"/>
                  </a:lnTo>
                  <a:lnTo>
                    <a:pt x="0" y="1708"/>
                  </a:lnTo>
                  <a:lnTo>
                    <a:pt x="0" y="1694"/>
                  </a:lnTo>
                  <a:lnTo>
                    <a:pt x="15" y="1694"/>
                  </a:lnTo>
                  <a:close/>
                  <a:moveTo>
                    <a:pt x="15" y="1723"/>
                  </a:moveTo>
                  <a:lnTo>
                    <a:pt x="15" y="1737"/>
                  </a:lnTo>
                  <a:lnTo>
                    <a:pt x="0" y="1737"/>
                  </a:lnTo>
                  <a:lnTo>
                    <a:pt x="0" y="1723"/>
                  </a:lnTo>
                  <a:lnTo>
                    <a:pt x="15" y="1723"/>
                  </a:lnTo>
                  <a:close/>
                  <a:moveTo>
                    <a:pt x="15" y="1751"/>
                  </a:moveTo>
                  <a:lnTo>
                    <a:pt x="15" y="1765"/>
                  </a:lnTo>
                  <a:lnTo>
                    <a:pt x="0" y="1765"/>
                  </a:lnTo>
                  <a:lnTo>
                    <a:pt x="0" y="1751"/>
                  </a:lnTo>
                  <a:lnTo>
                    <a:pt x="15" y="1751"/>
                  </a:lnTo>
                  <a:close/>
                  <a:moveTo>
                    <a:pt x="15" y="1779"/>
                  </a:moveTo>
                  <a:lnTo>
                    <a:pt x="15" y="1793"/>
                  </a:lnTo>
                  <a:lnTo>
                    <a:pt x="0" y="1793"/>
                  </a:lnTo>
                  <a:lnTo>
                    <a:pt x="0" y="1779"/>
                  </a:lnTo>
                  <a:lnTo>
                    <a:pt x="15" y="1779"/>
                  </a:lnTo>
                  <a:close/>
                  <a:moveTo>
                    <a:pt x="15" y="1807"/>
                  </a:moveTo>
                  <a:lnTo>
                    <a:pt x="15" y="1821"/>
                  </a:lnTo>
                  <a:lnTo>
                    <a:pt x="0" y="1821"/>
                  </a:lnTo>
                  <a:lnTo>
                    <a:pt x="0" y="1807"/>
                  </a:lnTo>
                  <a:lnTo>
                    <a:pt x="15" y="1807"/>
                  </a:lnTo>
                  <a:close/>
                  <a:moveTo>
                    <a:pt x="15" y="1836"/>
                  </a:moveTo>
                  <a:lnTo>
                    <a:pt x="15" y="1850"/>
                  </a:lnTo>
                  <a:lnTo>
                    <a:pt x="0" y="1850"/>
                  </a:lnTo>
                  <a:lnTo>
                    <a:pt x="0" y="1836"/>
                  </a:lnTo>
                  <a:lnTo>
                    <a:pt x="15" y="1836"/>
                  </a:lnTo>
                  <a:close/>
                  <a:moveTo>
                    <a:pt x="15" y="1864"/>
                  </a:moveTo>
                  <a:lnTo>
                    <a:pt x="15" y="1878"/>
                  </a:lnTo>
                  <a:lnTo>
                    <a:pt x="0" y="1878"/>
                  </a:lnTo>
                  <a:lnTo>
                    <a:pt x="0" y="1864"/>
                  </a:lnTo>
                  <a:lnTo>
                    <a:pt x="15" y="1864"/>
                  </a:lnTo>
                  <a:close/>
                  <a:moveTo>
                    <a:pt x="15" y="1892"/>
                  </a:moveTo>
                  <a:lnTo>
                    <a:pt x="15" y="1906"/>
                  </a:lnTo>
                  <a:lnTo>
                    <a:pt x="0" y="1906"/>
                  </a:lnTo>
                  <a:lnTo>
                    <a:pt x="0" y="1892"/>
                  </a:lnTo>
                  <a:lnTo>
                    <a:pt x="15" y="1892"/>
                  </a:lnTo>
                  <a:close/>
                  <a:moveTo>
                    <a:pt x="15" y="1920"/>
                  </a:moveTo>
                  <a:lnTo>
                    <a:pt x="15" y="1935"/>
                  </a:lnTo>
                  <a:lnTo>
                    <a:pt x="0" y="1935"/>
                  </a:lnTo>
                  <a:lnTo>
                    <a:pt x="0" y="1920"/>
                  </a:lnTo>
                  <a:lnTo>
                    <a:pt x="15" y="1920"/>
                  </a:lnTo>
                  <a:close/>
                  <a:moveTo>
                    <a:pt x="15" y="1948"/>
                  </a:moveTo>
                  <a:lnTo>
                    <a:pt x="15" y="1963"/>
                  </a:lnTo>
                  <a:lnTo>
                    <a:pt x="0" y="1963"/>
                  </a:lnTo>
                  <a:lnTo>
                    <a:pt x="0" y="1948"/>
                  </a:lnTo>
                  <a:lnTo>
                    <a:pt x="15" y="1948"/>
                  </a:lnTo>
                  <a:close/>
                  <a:moveTo>
                    <a:pt x="15" y="1977"/>
                  </a:moveTo>
                  <a:lnTo>
                    <a:pt x="15" y="1991"/>
                  </a:lnTo>
                  <a:lnTo>
                    <a:pt x="0" y="1991"/>
                  </a:lnTo>
                  <a:lnTo>
                    <a:pt x="0" y="1977"/>
                  </a:lnTo>
                  <a:lnTo>
                    <a:pt x="15" y="1977"/>
                  </a:lnTo>
                  <a:close/>
                  <a:moveTo>
                    <a:pt x="15" y="2005"/>
                  </a:moveTo>
                  <a:lnTo>
                    <a:pt x="15" y="2019"/>
                  </a:lnTo>
                  <a:lnTo>
                    <a:pt x="0" y="2019"/>
                  </a:lnTo>
                  <a:lnTo>
                    <a:pt x="0" y="2005"/>
                  </a:lnTo>
                  <a:lnTo>
                    <a:pt x="15" y="2005"/>
                  </a:lnTo>
                  <a:close/>
                  <a:moveTo>
                    <a:pt x="15" y="2033"/>
                  </a:moveTo>
                  <a:lnTo>
                    <a:pt x="15" y="2047"/>
                  </a:lnTo>
                  <a:lnTo>
                    <a:pt x="0" y="2047"/>
                  </a:lnTo>
                  <a:lnTo>
                    <a:pt x="0" y="2033"/>
                  </a:lnTo>
                  <a:lnTo>
                    <a:pt x="15" y="2033"/>
                  </a:lnTo>
                  <a:close/>
                  <a:moveTo>
                    <a:pt x="15" y="2062"/>
                  </a:moveTo>
                  <a:lnTo>
                    <a:pt x="15" y="2076"/>
                  </a:lnTo>
                  <a:lnTo>
                    <a:pt x="0" y="2076"/>
                  </a:lnTo>
                  <a:lnTo>
                    <a:pt x="0" y="2062"/>
                  </a:lnTo>
                  <a:lnTo>
                    <a:pt x="15" y="2062"/>
                  </a:lnTo>
                  <a:close/>
                  <a:moveTo>
                    <a:pt x="15" y="2090"/>
                  </a:moveTo>
                  <a:lnTo>
                    <a:pt x="15" y="2104"/>
                  </a:lnTo>
                  <a:lnTo>
                    <a:pt x="0" y="2104"/>
                  </a:lnTo>
                  <a:lnTo>
                    <a:pt x="0" y="2090"/>
                  </a:lnTo>
                  <a:lnTo>
                    <a:pt x="15" y="2090"/>
                  </a:lnTo>
                  <a:close/>
                  <a:moveTo>
                    <a:pt x="15" y="2118"/>
                  </a:moveTo>
                  <a:lnTo>
                    <a:pt x="15" y="2132"/>
                  </a:lnTo>
                  <a:lnTo>
                    <a:pt x="0" y="2132"/>
                  </a:lnTo>
                  <a:lnTo>
                    <a:pt x="0" y="2118"/>
                  </a:lnTo>
                  <a:lnTo>
                    <a:pt x="15" y="2118"/>
                  </a:lnTo>
                  <a:close/>
                  <a:moveTo>
                    <a:pt x="15" y="2146"/>
                  </a:moveTo>
                  <a:lnTo>
                    <a:pt x="15" y="2160"/>
                  </a:lnTo>
                  <a:lnTo>
                    <a:pt x="0" y="2160"/>
                  </a:lnTo>
                  <a:lnTo>
                    <a:pt x="0" y="2146"/>
                  </a:lnTo>
                  <a:lnTo>
                    <a:pt x="15" y="2146"/>
                  </a:lnTo>
                  <a:close/>
                  <a:moveTo>
                    <a:pt x="15" y="2175"/>
                  </a:moveTo>
                  <a:lnTo>
                    <a:pt x="15" y="2189"/>
                  </a:lnTo>
                  <a:lnTo>
                    <a:pt x="0" y="2189"/>
                  </a:lnTo>
                  <a:lnTo>
                    <a:pt x="0" y="2175"/>
                  </a:lnTo>
                  <a:lnTo>
                    <a:pt x="15" y="2175"/>
                  </a:lnTo>
                  <a:close/>
                  <a:moveTo>
                    <a:pt x="15" y="2203"/>
                  </a:moveTo>
                  <a:lnTo>
                    <a:pt x="15" y="2217"/>
                  </a:lnTo>
                  <a:lnTo>
                    <a:pt x="0" y="2217"/>
                  </a:lnTo>
                  <a:lnTo>
                    <a:pt x="0" y="2203"/>
                  </a:lnTo>
                  <a:lnTo>
                    <a:pt x="15" y="2203"/>
                  </a:lnTo>
                  <a:close/>
                  <a:moveTo>
                    <a:pt x="15" y="2231"/>
                  </a:moveTo>
                  <a:lnTo>
                    <a:pt x="15" y="2245"/>
                  </a:lnTo>
                  <a:lnTo>
                    <a:pt x="0" y="2245"/>
                  </a:lnTo>
                  <a:lnTo>
                    <a:pt x="0" y="2231"/>
                  </a:lnTo>
                  <a:lnTo>
                    <a:pt x="15" y="2231"/>
                  </a:lnTo>
                  <a:close/>
                  <a:moveTo>
                    <a:pt x="15" y="2259"/>
                  </a:moveTo>
                  <a:lnTo>
                    <a:pt x="15" y="2274"/>
                  </a:lnTo>
                  <a:lnTo>
                    <a:pt x="0" y="2274"/>
                  </a:lnTo>
                  <a:lnTo>
                    <a:pt x="0" y="2259"/>
                  </a:lnTo>
                  <a:lnTo>
                    <a:pt x="15" y="2259"/>
                  </a:lnTo>
                  <a:close/>
                  <a:moveTo>
                    <a:pt x="15" y="2287"/>
                  </a:moveTo>
                  <a:lnTo>
                    <a:pt x="15" y="2302"/>
                  </a:lnTo>
                  <a:lnTo>
                    <a:pt x="0" y="2302"/>
                  </a:lnTo>
                  <a:lnTo>
                    <a:pt x="0" y="2287"/>
                  </a:lnTo>
                  <a:lnTo>
                    <a:pt x="15" y="2287"/>
                  </a:lnTo>
                  <a:close/>
                  <a:moveTo>
                    <a:pt x="15" y="2316"/>
                  </a:moveTo>
                  <a:lnTo>
                    <a:pt x="15" y="2330"/>
                  </a:lnTo>
                  <a:lnTo>
                    <a:pt x="0" y="2330"/>
                  </a:lnTo>
                  <a:lnTo>
                    <a:pt x="0" y="2316"/>
                  </a:lnTo>
                  <a:lnTo>
                    <a:pt x="15" y="2316"/>
                  </a:lnTo>
                  <a:close/>
                  <a:moveTo>
                    <a:pt x="15" y="2344"/>
                  </a:moveTo>
                  <a:lnTo>
                    <a:pt x="15" y="2358"/>
                  </a:lnTo>
                  <a:lnTo>
                    <a:pt x="0" y="2358"/>
                  </a:lnTo>
                  <a:lnTo>
                    <a:pt x="0" y="2344"/>
                  </a:lnTo>
                  <a:lnTo>
                    <a:pt x="15" y="2344"/>
                  </a:lnTo>
                  <a:close/>
                  <a:moveTo>
                    <a:pt x="15" y="2372"/>
                  </a:moveTo>
                  <a:lnTo>
                    <a:pt x="15" y="2386"/>
                  </a:lnTo>
                  <a:lnTo>
                    <a:pt x="0" y="2386"/>
                  </a:lnTo>
                  <a:lnTo>
                    <a:pt x="0" y="2372"/>
                  </a:lnTo>
                  <a:lnTo>
                    <a:pt x="15" y="2372"/>
                  </a:lnTo>
                  <a:close/>
                  <a:moveTo>
                    <a:pt x="15" y="2401"/>
                  </a:moveTo>
                  <a:lnTo>
                    <a:pt x="15" y="2415"/>
                  </a:lnTo>
                  <a:lnTo>
                    <a:pt x="0" y="2415"/>
                  </a:lnTo>
                  <a:lnTo>
                    <a:pt x="0" y="2401"/>
                  </a:lnTo>
                  <a:lnTo>
                    <a:pt x="15" y="2401"/>
                  </a:lnTo>
                  <a:close/>
                  <a:moveTo>
                    <a:pt x="15" y="2429"/>
                  </a:moveTo>
                  <a:lnTo>
                    <a:pt x="15" y="2443"/>
                  </a:lnTo>
                  <a:lnTo>
                    <a:pt x="0" y="2443"/>
                  </a:lnTo>
                  <a:lnTo>
                    <a:pt x="0" y="2429"/>
                  </a:lnTo>
                  <a:lnTo>
                    <a:pt x="15" y="2429"/>
                  </a:lnTo>
                  <a:close/>
                  <a:moveTo>
                    <a:pt x="15" y="2457"/>
                  </a:moveTo>
                  <a:lnTo>
                    <a:pt x="15" y="2471"/>
                  </a:lnTo>
                  <a:lnTo>
                    <a:pt x="0" y="2471"/>
                  </a:lnTo>
                  <a:lnTo>
                    <a:pt x="0" y="2457"/>
                  </a:lnTo>
                  <a:lnTo>
                    <a:pt x="15" y="2457"/>
                  </a:lnTo>
                  <a:close/>
                  <a:moveTo>
                    <a:pt x="15" y="2485"/>
                  </a:moveTo>
                  <a:lnTo>
                    <a:pt x="15" y="2489"/>
                  </a:lnTo>
                  <a:lnTo>
                    <a:pt x="0" y="2489"/>
                  </a:lnTo>
                  <a:lnTo>
                    <a:pt x="0" y="2485"/>
                  </a:lnTo>
                  <a:lnTo>
                    <a:pt x="15" y="2485"/>
                  </a:lnTo>
                  <a:close/>
                </a:path>
              </a:pathLst>
            </a:custGeom>
            <a:solidFill>
              <a:srgbClr val="000000"/>
            </a:solidFill>
            <a:ln w="0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4" name="Freeform 49">
              <a:extLst>
                <a:ext uri="{FF2B5EF4-FFF2-40B4-BE49-F238E27FC236}">
                  <a16:creationId xmlns:a16="http://schemas.microsoft.com/office/drawing/2014/main" id="{A1BC059C-6B02-4E67-9A04-F933974AD16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183" y="1440"/>
              <a:ext cx="14" cy="2489"/>
            </a:xfrm>
            <a:custGeom>
              <a:avLst/>
              <a:gdLst>
                <a:gd name="T0" fmla="*/ 14 w 14"/>
                <a:gd name="T1" fmla="*/ 42 h 2489"/>
                <a:gd name="T2" fmla="*/ 0 w 14"/>
                <a:gd name="T3" fmla="*/ 56 h 2489"/>
                <a:gd name="T4" fmla="*/ 14 w 14"/>
                <a:gd name="T5" fmla="*/ 113 h 2489"/>
                <a:gd name="T6" fmla="*/ 0 w 14"/>
                <a:gd name="T7" fmla="*/ 155 h 2489"/>
                <a:gd name="T8" fmla="*/ 14 w 14"/>
                <a:gd name="T9" fmla="*/ 169 h 2489"/>
                <a:gd name="T10" fmla="*/ 14 w 14"/>
                <a:gd name="T11" fmla="*/ 240 h 2489"/>
                <a:gd name="T12" fmla="*/ 0 w 14"/>
                <a:gd name="T13" fmla="*/ 254 h 2489"/>
                <a:gd name="T14" fmla="*/ 14 w 14"/>
                <a:gd name="T15" fmla="*/ 310 h 2489"/>
                <a:gd name="T16" fmla="*/ 0 w 14"/>
                <a:gd name="T17" fmla="*/ 353 h 2489"/>
                <a:gd name="T18" fmla="*/ 14 w 14"/>
                <a:gd name="T19" fmla="*/ 367 h 2489"/>
                <a:gd name="T20" fmla="*/ 14 w 14"/>
                <a:gd name="T21" fmla="*/ 437 h 2489"/>
                <a:gd name="T22" fmla="*/ 0 w 14"/>
                <a:gd name="T23" fmla="*/ 452 h 2489"/>
                <a:gd name="T24" fmla="*/ 14 w 14"/>
                <a:gd name="T25" fmla="*/ 508 h 2489"/>
                <a:gd name="T26" fmla="*/ 0 w 14"/>
                <a:gd name="T27" fmla="*/ 550 h 2489"/>
                <a:gd name="T28" fmla="*/ 14 w 14"/>
                <a:gd name="T29" fmla="*/ 565 h 2489"/>
                <a:gd name="T30" fmla="*/ 14 w 14"/>
                <a:gd name="T31" fmla="*/ 635 h 2489"/>
                <a:gd name="T32" fmla="*/ 0 w 14"/>
                <a:gd name="T33" fmla="*/ 649 h 2489"/>
                <a:gd name="T34" fmla="*/ 14 w 14"/>
                <a:gd name="T35" fmla="*/ 706 h 2489"/>
                <a:gd name="T36" fmla="*/ 0 w 14"/>
                <a:gd name="T37" fmla="*/ 748 h 2489"/>
                <a:gd name="T38" fmla="*/ 14 w 14"/>
                <a:gd name="T39" fmla="*/ 762 h 2489"/>
                <a:gd name="T40" fmla="*/ 14 w 14"/>
                <a:gd name="T41" fmla="*/ 833 h 2489"/>
                <a:gd name="T42" fmla="*/ 0 w 14"/>
                <a:gd name="T43" fmla="*/ 847 h 2489"/>
                <a:gd name="T44" fmla="*/ 14 w 14"/>
                <a:gd name="T45" fmla="*/ 903 h 2489"/>
                <a:gd name="T46" fmla="*/ 0 w 14"/>
                <a:gd name="T47" fmla="*/ 946 h 2489"/>
                <a:gd name="T48" fmla="*/ 14 w 14"/>
                <a:gd name="T49" fmla="*/ 960 h 2489"/>
                <a:gd name="T50" fmla="*/ 14 w 14"/>
                <a:gd name="T51" fmla="*/ 1031 h 2489"/>
                <a:gd name="T52" fmla="*/ 0 w 14"/>
                <a:gd name="T53" fmla="*/ 1045 h 2489"/>
                <a:gd name="T54" fmla="*/ 14 w 14"/>
                <a:gd name="T55" fmla="*/ 1101 h 2489"/>
                <a:gd name="T56" fmla="*/ 0 w 14"/>
                <a:gd name="T57" fmla="*/ 1143 h 2489"/>
                <a:gd name="T58" fmla="*/ 14 w 14"/>
                <a:gd name="T59" fmla="*/ 1158 h 2489"/>
                <a:gd name="T60" fmla="*/ 14 w 14"/>
                <a:gd name="T61" fmla="*/ 1228 h 2489"/>
                <a:gd name="T62" fmla="*/ 0 w 14"/>
                <a:gd name="T63" fmla="*/ 1242 h 2489"/>
                <a:gd name="T64" fmla="*/ 14 w 14"/>
                <a:gd name="T65" fmla="*/ 1299 h 2489"/>
                <a:gd name="T66" fmla="*/ 0 w 14"/>
                <a:gd name="T67" fmla="*/ 1341 h 2489"/>
                <a:gd name="T68" fmla="*/ 14 w 14"/>
                <a:gd name="T69" fmla="*/ 1355 h 2489"/>
                <a:gd name="T70" fmla="*/ 14 w 14"/>
                <a:gd name="T71" fmla="*/ 1426 h 2489"/>
                <a:gd name="T72" fmla="*/ 0 w 14"/>
                <a:gd name="T73" fmla="*/ 1440 h 2489"/>
                <a:gd name="T74" fmla="*/ 14 w 14"/>
                <a:gd name="T75" fmla="*/ 1497 h 2489"/>
                <a:gd name="T76" fmla="*/ 0 w 14"/>
                <a:gd name="T77" fmla="*/ 1539 h 2489"/>
                <a:gd name="T78" fmla="*/ 14 w 14"/>
                <a:gd name="T79" fmla="*/ 1553 h 2489"/>
                <a:gd name="T80" fmla="*/ 14 w 14"/>
                <a:gd name="T81" fmla="*/ 1624 h 2489"/>
                <a:gd name="T82" fmla="*/ 0 w 14"/>
                <a:gd name="T83" fmla="*/ 1638 h 2489"/>
                <a:gd name="T84" fmla="*/ 14 w 14"/>
                <a:gd name="T85" fmla="*/ 1694 h 2489"/>
                <a:gd name="T86" fmla="*/ 0 w 14"/>
                <a:gd name="T87" fmla="*/ 1737 h 2489"/>
                <a:gd name="T88" fmla="*/ 14 w 14"/>
                <a:gd name="T89" fmla="*/ 1751 h 2489"/>
                <a:gd name="T90" fmla="*/ 14 w 14"/>
                <a:gd name="T91" fmla="*/ 1821 h 2489"/>
                <a:gd name="T92" fmla="*/ 0 w 14"/>
                <a:gd name="T93" fmla="*/ 1836 h 2489"/>
                <a:gd name="T94" fmla="*/ 14 w 14"/>
                <a:gd name="T95" fmla="*/ 1892 h 2489"/>
                <a:gd name="T96" fmla="*/ 0 w 14"/>
                <a:gd name="T97" fmla="*/ 1935 h 2489"/>
                <a:gd name="T98" fmla="*/ 14 w 14"/>
                <a:gd name="T99" fmla="*/ 1948 h 2489"/>
                <a:gd name="T100" fmla="*/ 14 w 14"/>
                <a:gd name="T101" fmla="*/ 2019 h 2489"/>
                <a:gd name="T102" fmla="*/ 0 w 14"/>
                <a:gd name="T103" fmla="*/ 2033 h 2489"/>
                <a:gd name="T104" fmla="*/ 14 w 14"/>
                <a:gd name="T105" fmla="*/ 2090 h 2489"/>
                <a:gd name="T106" fmla="*/ 0 w 14"/>
                <a:gd name="T107" fmla="*/ 2132 h 2489"/>
                <a:gd name="T108" fmla="*/ 14 w 14"/>
                <a:gd name="T109" fmla="*/ 2146 h 2489"/>
                <a:gd name="T110" fmla="*/ 14 w 14"/>
                <a:gd name="T111" fmla="*/ 2217 h 2489"/>
                <a:gd name="T112" fmla="*/ 0 w 14"/>
                <a:gd name="T113" fmla="*/ 2231 h 2489"/>
                <a:gd name="T114" fmla="*/ 14 w 14"/>
                <a:gd name="T115" fmla="*/ 2287 h 2489"/>
                <a:gd name="T116" fmla="*/ 0 w 14"/>
                <a:gd name="T117" fmla="*/ 2330 h 2489"/>
                <a:gd name="T118" fmla="*/ 14 w 14"/>
                <a:gd name="T119" fmla="*/ 2344 h 2489"/>
                <a:gd name="T120" fmla="*/ 14 w 14"/>
                <a:gd name="T121" fmla="*/ 2415 h 2489"/>
                <a:gd name="T122" fmla="*/ 0 w 14"/>
                <a:gd name="T123" fmla="*/ 2429 h 2489"/>
                <a:gd name="T124" fmla="*/ 14 w 14"/>
                <a:gd name="T125" fmla="*/ 2485 h 24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4" h="2489">
                  <a:moveTo>
                    <a:pt x="14" y="0"/>
                  </a:moveTo>
                  <a:lnTo>
                    <a:pt x="14" y="14"/>
                  </a:lnTo>
                  <a:lnTo>
                    <a:pt x="0" y="14"/>
                  </a:lnTo>
                  <a:lnTo>
                    <a:pt x="0" y="0"/>
                  </a:lnTo>
                  <a:lnTo>
                    <a:pt x="14" y="0"/>
                  </a:lnTo>
                  <a:close/>
                  <a:moveTo>
                    <a:pt x="14" y="28"/>
                  </a:moveTo>
                  <a:lnTo>
                    <a:pt x="14" y="42"/>
                  </a:lnTo>
                  <a:lnTo>
                    <a:pt x="0" y="42"/>
                  </a:lnTo>
                  <a:lnTo>
                    <a:pt x="0" y="28"/>
                  </a:lnTo>
                  <a:lnTo>
                    <a:pt x="14" y="28"/>
                  </a:lnTo>
                  <a:close/>
                  <a:moveTo>
                    <a:pt x="14" y="56"/>
                  </a:moveTo>
                  <a:lnTo>
                    <a:pt x="14" y="70"/>
                  </a:lnTo>
                  <a:lnTo>
                    <a:pt x="0" y="70"/>
                  </a:lnTo>
                  <a:lnTo>
                    <a:pt x="0" y="56"/>
                  </a:lnTo>
                  <a:lnTo>
                    <a:pt x="14" y="56"/>
                  </a:lnTo>
                  <a:close/>
                  <a:moveTo>
                    <a:pt x="14" y="84"/>
                  </a:moveTo>
                  <a:lnTo>
                    <a:pt x="14" y="98"/>
                  </a:lnTo>
                  <a:lnTo>
                    <a:pt x="0" y="98"/>
                  </a:lnTo>
                  <a:lnTo>
                    <a:pt x="0" y="84"/>
                  </a:lnTo>
                  <a:lnTo>
                    <a:pt x="14" y="84"/>
                  </a:lnTo>
                  <a:close/>
                  <a:moveTo>
                    <a:pt x="14" y="113"/>
                  </a:moveTo>
                  <a:lnTo>
                    <a:pt x="14" y="127"/>
                  </a:lnTo>
                  <a:lnTo>
                    <a:pt x="0" y="127"/>
                  </a:lnTo>
                  <a:lnTo>
                    <a:pt x="0" y="113"/>
                  </a:lnTo>
                  <a:lnTo>
                    <a:pt x="14" y="113"/>
                  </a:lnTo>
                  <a:close/>
                  <a:moveTo>
                    <a:pt x="14" y="141"/>
                  </a:moveTo>
                  <a:lnTo>
                    <a:pt x="14" y="155"/>
                  </a:lnTo>
                  <a:lnTo>
                    <a:pt x="0" y="155"/>
                  </a:lnTo>
                  <a:lnTo>
                    <a:pt x="0" y="141"/>
                  </a:lnTo>
                  <a:lnTo>
                    <a:pt x="14" y="141"/>
                  </a:lnTo>
                  <a:close/>
                  <a:moveTo>
                    <a:pt x="14" y="169"/>
                  </a:moveTo>
                  <a:lnTo>
                    <a:pt x="14" y="183"/>
                  </a:lnTo>
                  <a:lnTo>
                    <a:pt x="0" y="183"/>
                  </a:lnTo>
                  <a:lnTo>
                    <a:pt x="0" y="169"/>
                  </a:lnTo>
                  <a:lnTo>
                    <a:pt x="14" y="169"/>
                  </a:lnTo>
                  <a:close/>
                  <a:moveTo>
                    <a:pt x="14" y="197"/>
                  </a:moveTo>
                  <a:lnTo>
                    <a:pt x="14" y="211"/>
                  </a:lnTo>
                  <a:lnTo>
                    <a:pt x="0" y="211"/>
                  </a:lnTo>
                  <a:lnTo>
                    <a:pt x="0" y="197"/>
                  </a:lnTo>
                  <a:lnTo>
                    <a:pt x="14" y="197"/>
                  </a:lnTo>
                  <a:close/>
                  <a:moveTo>
                    <a:pt x="14" y="226"/>
                  </a:moveTo>
                  <a:lnTo>
                    <a:pt x="14" y="240"/>
                  </a:lnTo>
                  <a:lnTo>
                    <a:pt x="0" y="240"/>
                  </a:lnTo>
                  <a:lnTo>
                    <a:pt x="0" y="226"/>
                  </a:lnTo>
                  <a:lnTo>
                    <a:pt x="14" y="226"/>
                  </a:lnTo>
                  <a:close/>
                  <a:moveTo>
                    <a:pt x="14" y="254"/>
                  </a:moveTo>
                  <a:lnTo>
                    <a:pt x="14" y="268"/>
                  </a:lnTo>
                  <a:lnTo>
                    <a:pt x="0" y="268"/>
                  </a:lnTo>
                  <a:lnTo>
                    <a:pt x="0" y="254"/>
                  </a:lnTo>
                  <a:lnTo>
                    <a:pt x="14" y="254"/>
                  </a:lnTo>
                  <a:close/>
                  <a:moveTo>
                    <a:pt x="14" y="282"/>
                  </a:moveTo>
                  <a:lnTo>
                    <a:pt x="14" y="296"/>
                  </a:lnTo>
                  <a:lnTo>
                    <a:pt x="0" y="296"/>
                  </a:lnTo>
                  <a:lnTo>
                    <a:pt x="0" y="282"/>
                  </a:lnTo>
                  <a:lnTo>
                    <a:pt x="14" y="282"/>
                  </a:lnTo>
                  <a:close/>
                  <a:moveTo>
                    <a:pt x="14" y="310"/>
                  </a:moveTo>
                  <a:lnTo>
                    <a:pt x="14" y="325"/>
                  </a:lnTo>
                  <a:lnTo>
                    <a:pt x="0" y="325"/>
                  </a:lnTo>
                  <a:lnTo>
                    <a:pt x="0" y="310"/>
                  </a:lnTo>
                  <a:lnTo>
                    <a:pt x="14" y="310"/>
                  </a:lnTo>
                  <a:close/>
                  <a:moveTo>
                    <a:pt x="14" y="338"/>
                  </a:moveTo>
                  <a:lnTo>
                    <a:pt x="14" y="353"/>
                  </a:lnTo>
                  <a:lnTo>
                    <a:pt x="0" y="353"/>
                  </a:lnTo>
                  <a:lnTo>
                    <a:pt x="0" y="338"/>
                  </a:lnTo>
                  <a:lnTo>
                    <a:pt x="14" y="338"/>
                  </a:lnTo>
                  <a:close/>
                  <a:moveTo>
                    <a:pt x="14" y="367"/>
                  </a:moveTo>
                  <a:lnTo>
                    <a:pt x="14" y="381"/>
                  </a:lnTo>
                  <a:lnTo>
                    <a:pt x="0" y="381"/>
                  </a:lnTo>
                  <a:lnTo>
                    <a:pt x="0" y="367"/>
                  </a:lnTo>
                  <a:lnTo>
                    <a:pt x="14" y="367"/>
                  </a:lnTo>
                  <a:close/>
                  <a:moveTo>
                    <a:pt x="14" y="395"/>
                  </a:moveTo>
                  <a:lnTo>
                    <a:pt x="14" y="409"/>
                  </a:lnTo>
                  <a:lnTo>
                    <a:pt x="0" y="409"/>
                  </a:lnTo>
                  <a:lnTo>
                    <a:pt x="0" y="395"/>
                  </a:lnTo>
                  <a:lnTo>
                    <a:pt x="14" y="395"/>
                  </a:lnTo>
                  <a:close/>
                  <a:moveTo>
                    <a:pt x="14" y="423"/>
                  </a:moveTo>
                  <a:lnTo>
                    <a:pt x="14" y="437"/>
                  </a:lnTo>
                  <a:lnTo>
                    <a:pt x="0" y="437"/>
                  </a:lnTo>
                  <a:lnTo>
                    <a:pt x="0" y="423"/>
                  </a:lnTo>
                  <a:lnTo>
                    <a:pt x="14" y="423"/>
                  </a:lnTo>
                  <a:close/>
                  <a:moveTo>
                    <a:pt x="14" y="452"/>
                  </a:moveTo>
                  <a:lnTo>
                    <a:pt x="14" y="466"/>
                  </a:lnTo>
                  <a:lnTo>
                    <a:pt x="0" y="466"/>
                  </a:lnTo>
                  <a:lnTo>
                    <a:pt x="0" y="452"/>
                  </a:lnTo>
                  <a:lnTo>
                    <a:pt x="14" y="452"/>
                  </a:lnTo>
                  <a:close/>
                  <a:moveTo>
                    <a:pt x="14" y="480"/>
                  </a:moveTo>
                  <a:lnTo>
                    <a:pt x="14" y="494"/>
                  </a:lnTo>
                  <a:lnTo>
                    <a:pt x="0" y="494"/>
                  </a:lnTo>
                  <a:lnTo>
                    <a:pt x="0" y="480"/>
                  </a:lnTo>
                  <a:lnTo>
                    <a:pt x="14" y="480"/>
                  </a:lnTo>
                  <a:close/>
                  <a:moveTo>
                    <a:pt x="14" y="508"/>
                  </a:moveTo>
                  <a:lnTo>
                    <a:pt x="14" y="522"/>
                  </a:lnTo>
                  <a:lnTo>
                    <a:pt x="0" y="522"/>
                  </a:lnTo>
                  <a:lnTo>
                    <a:pt x="0" y="508"/>
                  </a:lnTo>
                  <a:lnTo>
                    <a:pt x="14" y="508"/>
                  </a:lnTo>
                  <a:close/>
                  <a:moveTo>
                    <a:pt x="14" y="536"/>
                  </a:moveTo>
                  <a:lnTo>
                    <a:pt x="14" y="550"/>
                  </a:lnTo>
                  <a:lnTo>
                    <a:pt x="0" y="550"/>
                  </a:lnTo>
                  <a:lnTo>
                    <a:pt x="0" y="536"/>
                  </a:lnTo>
                  <a:lnTo>
                    <a:pt x="14" y="536"/>
                  </a:lnTo>
                  <a:close/>
                  <a:moveTo>
                    <a:pt x="14" y="565"/>
                  </a:moveTo>
                  <a:lnTo>
                    <a:pt x="14" y="579"/>
                  </a:lnTo>
                  <a:lnTo>
                    <a:pt x="0" y="579"/>
                  </a:lnTo>
                  <a:lnTo>
                    <a:pt x="0" y="565"/>
                  </a:lnTo>
                  <a:lnTo>
                    <a:pt x="14" y="565"/>
                  </a:lnTo>
                  <a:close/>
                  <a:moveTo>
                    <a:pt x="14" y="593"/>
                  </a:moveTo>
                  <a:lnTo>
                    <a:pt x="14" y="607"/>
                  </a:lnTo>
                  <a:lnTo>
                    <a:pt x="0" y="607"/>
                  </a:lnTo>
                  <a:lnTo>
                    <a:pt x="0" y="593"/>
                  </a:lnTo>
                  <a:lnTo>
                    <a:pt x="14" y="593"/>
                  </a:lnTo>
                  <a:close/>
                  <a:moveTo>
                    <a:pt x="14" y="621"/>
                  </a:moveTo>
                  <a:lnTo>
                    <a:pt x="14" y="635"/>
                  </a:lnTo>
                  <a:lnTo>
                    <a:pt x="0" y="635"/>
                  </a:lnTo>
                  <a:lnTo>
                    <a:pt x="0" y="621"/>
                  </a:lnTo>
                  <a:lnTo>
                    <a:pt x="14" y="621"/>
                  </a:lnTo>
                  <a:close/>
                  <a:moveTo>
                    <a:pt x="14" y="649"/>
                  </a:moveTo>
                  <a:lnTo>
                    <a:pt x="14" y="664"/>
                  </a:lnTo>
                  <a:lnTo>
                    <a:pt x="0" y="664"/>
                  </a:lnTo>
                  <a:lnTo>
                    <a:pt x="0" y="649"/>
                  </a:lnTo>
                  <a:lnTo>
                    <a:pt x="14" y="649"/>
                  </a:lnTo>
                  <a:close/>
                  <a:moveTo>
                    <a:pt x="14" y="677"/>
                  </a:moveTo>
                  <a:lnTo>
                    <a:pt x="14" y="692"/>
                  </a:lnTo>
                  <a:lnTo>
                    <a:pt x="0" y="692"/>
                  </a:lnTo>
                  <a:lnTo>
                    <a:pt x="0" y="677"/>
                  </a:lnTo>
                  <a:lnTo>
                    <a:pt x="14" y="677"/>
                  </a:lnTo>
                  <a:close/>
                  <a:moveTo>
                    <a:pt x="14" y="706"/>
                  </a:moveTo>
                  <a:lnTo>
                    <a:pt x="14" y="720"/>
                  </a:lnTo>
                  <a:lnTo>
                    <a:pt x="0" y="720"/>
                  </a:lnTo>
                  <a:lnTo>
                    <a:pt x="0" y="706"/>
                  </a:lnTo>
                  <a:lnTo>
                    <a:pt x="14" y="706"/>
                  </a:lnTo>
                  <a:close/>
                  <a:moveTo>
                    <a:pt x="14" y="734"/>
                  </a:moveTo>
                  <a:lnTo>
                    <a:pt x="14" y="748"/>
                  </a:lnTo>
                  <a:lnTo>
                    <a:pt x="0" y="748"/>
                  </a:lnTo>
                  <a:lnTo>
                    <a:pt x="0" y="734"/>
                  </a:lnTo>
                  <a:lnTo>
                    <a:pt x="14" y="734"/>
                  </a:lnTo>
                  <a:close/>
                  <a:moveTo>
                    <a:pt x="14" y="762"/>
                  </a:moveTo>
                  <a:lnTo>
                    <a:pt x="14" y="776"/>
                  </a:lnTo>
                  <a:lnTo>
                    <a:pt x="0" y="776"/>
                  </a:lnTo>
                  <a:lnTo>
                    <a:pt x="0" y="762"/>
                  </a:lnTo>
                  <a:lnTo>
                    <a:pt x="14" y="762"/>
                  </a:lnTo>
                  <a:close/>
                  <a:moveTo>
                    <a:pt x="14" y="791"/>
                  </a:moveTo>
                  <a:lnTo>
                    <a:pt x="14" y="805"/>
                  </a:lnTo>
                  <a:lnTo>
                    <a:pt x="0" y="805"/>
                  </a:lnTo>
                  <a:lnTo>
                    <a:pt x="0" y="791"/>
                  </a:lnTo>
                  <a:lnTo>
                    <a:pt x="14" y="791"/>
                  </a:lnTo>
                  <a:close/>
                  <a:moveTo>
                    <a:pt x="14" y="819"/>
                  </a:moveTo>
                  <a:lnTo>
                    <a:pt x="14" y="833"/>
                  </a:lnTo>
                  <a:lnTo>
                    <a:pt x="0" y="833"/>
                  </a:lnTo>
                  <a:lnTo>
                    <a:pt x="0" y="819"/>
                  </a:lnTo>
                  <a:lnTo>
                    <a:pt x="14" y="819"/>
                  </a:lnTo>
                  <a:close/>
                  <a:moveTo>
                    <a:pt x="14" y="847"/>
                  </a:moveTo>
                  <a:lnTo>
                    <a:pt x="14" y="861"/>
                  </a:lnTo>
                  <a:lnTo>
                    <a:pt x="0" y="861"/>
                  </a:lnTo>
                  <a:lnTo>
                    <a:pt x="0" y="847"/>
                  </a:lnTo>
                  <a:lnTo>
                    <a:pt x="14" y="847"/>
                  </a:lnTo>
                  <a:close/>
                  <a:moveTo>
                    <a:pt x="14" y="875"/>
                  </a:moveTo>
                  <a:lnTo>
                    <a:pt x="14" y="889"/>
                  </a:lnTo>
                  <a:lnTo>
                    <a:pt x="0" y="889"/>
                  </a:lnTo>
                  <a:lnTo>
                    <a:pt x="0" y="875"/>
                  </a:lnTo>
                  <a:lnTo>
                    <a:pt x="14" y="875"/>
                  </a:lnTo>
                  <a:close/>
                  <a:moveTo>
                    <a:pt x="14" y="903"/>
                  </a:moveTo>
                  <a:lnTo>
                    <a:pt x="14" y="918"/>
                  </a:lnTo>
                  <a:lnTo>
                    <a:pt x="0" y="918"/>
                  </a:lnTo>
                  <a:lnTo>
                    <a:pt x="0" y="903"/>
                  </a:lnTo>
                  <a:lnTo>
                    <a:pt x="14" y="903"/>
                  </a:lnTo>
                  <a:close/>
                  <a:moveTo>
                    <a:pt x="14" y="932"/>
                  </a:moveTo>
                  <a:lnTo>
                    <a:pt x="14" y="946"/>
                  </a:lnTo>
                  <a:lnTo>
                    <a:pt x="0" y="946"/>
                  </a:lnTo>
                  <a:lnTo>
                    <a:pt x="0" y="932"/>
                  </a:lnTo>
                  <a:lnTo>
                    <a:pt x="14" y="932"/>
                  </a:lnTo>
                  <a:close/>
                  <a:moveTo>
                    <a:pt x="14" y="960"/>
                  </a:moveTo>
                  <a:lnTo>
                    <a:pt x="14" y="974"/>
                  </a:lnTo>
                  <a:lnTo>
                    <a:pt x="0" y="974"/>
                  </a:lnTo>
                  <a:lnTo>
                    <a:pt x="0" y="960"/>
                  </a:lnTo>
                  <a:lnTo>
                    <a:pt x="14" y="960"/>
                  </a:lnTo>
                  <a:close/>
                  <a:moveTo>
                    <a:pt x="14" y="988"/>
                  </a:moveTo>
                  <a:lnTo>
                    <a:pt x="14" y="1002"/>
                  </a:lnTo>
                  <a:lnTo>
                    <a:pt x="0" y="1002"/>
                  </a:lnTo>
                  <a:lnTo>
                    <a:pt x="0" y="988"/>
                  </a:lnTo>
                  <a:lnTo>
                    <a:pt x="14" y="988"/>
                  </a:lnTo>
                  <a:close/>
                  <a:moveTo>
                    <a:pt x="14" y="1016"/>
                  </a:moveTo>
                  <a:lnTo>
                    <a:pt x="14" y="1031"/>
                  </a:lnTo>
                  <a:lnTo>
                    <a:pt x="0" y="1031"/>
                  </a:lnTo>
                  <a:lnTo>
                    <a:pt x="0" y="1016"/>
                  </a:lnTo>
                  <a:lnTo>
                    <a:pt x="14" y="1016"/>
                  </a:lnTo>
                  <a:close/>
                  <a:moveTo>
                    <a:pt x="14" y="1045"/>
                  </a:moveTo>
                  <a:lnTo>
                    <a:pt x="14" y="1059"/>
                  </a:lnTo>
                  <a:lnTo>
                    <a:pt x="0" y="1059"/>
                  </a:lnTo>
                  <a:lnTo>
                    <a:pt x="0" y="1045"/>
                  </a:lnTo>
                  <a:lnTo>
                    <a:pt x="14" y="1045"/>
                  </a:lnTo>
                  <a:close/>
                  <a:moveTo>
                    <a:pt x="14" y="1073"/>
                  </a:moveTo>
                  <a:lnTo>
                    <a:pt x="14" y="1087"/>
                  </a:lnTo>
                  <a:lnTo>
                    <a:pt x="0" y="1087"/>
                  </a:lnTo>
                  <a:lnTo>
                    <a:pt x="0" y="1073"/>
                  </a:lnTo>
                  <a:lnTo>
                    <a:pt x="14" y="1073"/>
                  </a:lnTo>
                  <a:close/>
                  <a:moveTo>
                    <a:pt x="14" y="1101"/>
                  </a:moveTo>
                  <a:lnTo>
                    <a:pt x="14" y="1115"/>
                  </a:lnTo>
                  <a:lnTo>
                    <a:pt x="0" y="1115"/>
                  </a:lnTo>
                  <a:lnTo>
                    <a:pt x="0" y="1101"/>
                  </a:lnTo>
                  <a:lnTo>
                    <a:pt x="14" y="1101"/>
                  </a:lnTo>
                  <a:close/>
                  <a:moveTo>
                    <a:pt x="14" y="1130"/>
                  </a:moveTo>
                  <a:lnTo>
                    <a:pt x="14" y="1143"/>
                  </a:lnTo>
                  <a:lnTo>
                    <a:pt x="0" y="1143"/>
                  </a:lnTo>
                  <a:lnTo>
                    <a:pt x="0" y="1130"/>
                  </a:lnTo>
                  <a:lnTo>
                    <a:pt x="14" y="1130"/>
                  </a:lnTo>
                  <a:close/>
                  <a:moveTo>
                    <a:pt x="14" y="1158"/>
                  </a:moveTo>
                  <a:lnTo>
                    <a:pt x="14" y="1172"/>
                  </a:lnTo>
                  <a:lnTo>
                    <a:pt x="0" y="1172"/>
                  </a:lnTo>
                  <a:lnTo>
                    <a:pt x="0" y="1158"/>
                  </a:lnTo>
                  <a:lnTo>
                    <a:pt x="14" y="1158"/>
                  </a:lnTo>
                  <a:close/>
                  <a:moveTo>
                    <a:pt x="14" y="1186"/>
                  </a:moveTo>
                  <a:lnTo>
                    <a:pt x="14" y="1200"/>
                  </a:lnTo>
                  <a:lnTo>
                    <a:pt x="0" y="1200"/>
                  </a:lnTo>
                  <a:lnTo>
                    <a:pt x="0" y="1186"/>
                  </a:lnTo>
                  <a:lnTo>
                    <a:pt x="14" y="1186"/>
                  </a:lnTo>
                  <a:close/>
                  <a:moveTo>
                    <a:pt x="14" y="1214"/>
                  </a:moveTo>
                  <a:lnTo>
                    <a:pt x="14" y="1228"/>
                  </a:lnTo>
                  <a:lnTo>
                    <a:pt x="0" y="1228"/>
                  </a:lnTo>
                  <a:lnTo>
                    <a:pt x="0" y="1214"/>
                  </a:lnTo>
                  <a:lnTo>
                    <a:pt x="14" y="1214"/>
                  </a:lnTo>
                  <a:close/>
                  <a:moveTo>
                    <a:pt x="14" y="1242"/>
                  </a:moveTo>
                  <a:lnTo>
                    <a:pt x="14" y="1257"/>
                  </a:lnTo>
                  <a:lnTo>
                    <a:pt x="0" y="1257"/>
                  </a:lnTo>
                  <a:lnTo>
                    <a:pt x="0" y="1242"/>
                  </a:lnTo>
                  <a:lnTo>
                    <a:pt x="14" y="1242"/>
                  </a:lnTo>
                  <a:close/>
                  <a:moveTo>
                    <a:pt x="14" y="1271"/>
                  </a:moveTo>
                  <a:lnTo>
                    <a:pt x="14" y="1285"/>
                  </a:lnTo>
                  <a:lnTo>
                    <a:pt x="0" y="1285"/>
                  </a:lnTo>
                  <a:lnTo>
                    <a:pt x="0" y="1271"/>
                  </a:lnTo>
                  <a:lnTo>
                    <a:pt x="14" y="1271"/>
                  </a:lnTo>
                  <a:close/>
                  <a:moveTo>
                    <a:pt x="14" y="1299"/>
                  </a:moveTo>
                  <a:lnTo>
                    <a:pt x="14" y="1313"/>
                  </a:lnTo>
                  <a:lnTo>
                    <a:pt x="0" y="1313"/>
                  </a:lnTo>
                  <a:lnTo>
                    <a:pt x="0" y="1299"/>
                  </a:lnTo>
                  <a:lnTo>
                    <a:pt x="14" y="1299"/>
                  </a:lnTo>
                  <a:close/>
                  <a:moveTo>
                    <a:pt x="14" y="1327"/>
                  </a:moveTo>
                  <a:lnTo>
                    <a:pt x="14" y="1341"/>
                  </a:lnTo>
                  <a:lnTo>
                    <a:pt x="0" y="1341"/>
                  </a:lnTo>
                  <a:lnTo>
                    <a:pt x="0" y="1327"/>
                  </a:lnTo>
                  <a:lnTo>
                    <a:pt x="14" y="1327"/>
                  </a:lnTo>
                  <a:close/>
                  <a:moveTo>
                    <a:pt x="14" y="1355"/>
                  </a:moveTo>
                  <a:lnTo>
                    <a:pt x="14" y="1370"/>
                  </a:lnTo>
                  <a:lnTo>
                    <a:pt x="0" y="1370"/>
                  </a:lnTo>
                  <a:lnTo>
                    <a:pt x="0" y="1355"/>
                  </a:lnTo>
                  <a:lnTo>
                    <a:pt x="14" y="1355"/>
                  </a:lnTo>
                  <a:close/>
                  <a:moveTo>
                    <a:pt x="14" y="1384"/>
                  </a:moveTo>
                  <a:lnTo>
                    <a:pt x="14" y="1398"/>
                  </a:lnTo>
                  <a:lnTo>
                    <a:pt x="0" y="1398"/>
                  </a:lnTo>
                  <a:lnTo>
                    <a:pt x="0" y="1384"/>
                  </a:lnTo>
                  <a:lnTo>
                    <a:pt x="14" y="1384"/>
                  </a:lnTo>
                  <a:close/>
                  <a:moveTo>
                    <a:pt x="14" y="1412"/>
                  </a:moveTo>
                  <a:lnTo>
                    <a:pt x="14" y="1426"/>
                  </a:lnTo>
                  <a:lnTo>
                    <a:pt x="0" y="1426"/>
                  </a:lnTo>
                  <a:lnTo>
                    <a:pt x="0" y="1412"/>
                  </a:lnTo>
                  <a:lnTo>
                    <a:pt x="14" y="1412"/>
                  </a:lnTo>
                  <a:close/>
                  <a:moveTo>
                    <a:pt x="14" y="1440"/>
                  </a:moveTo>
                  <a:lnTo>
                    <a:pt x="14" y="1454"/>
                  </a:lnTo>
                  <a:lnTo>
                    <a:pt x="0" y="1454"/>
                  </a:lnTo>
                  <a:lnTo>
                    <a:pt x="0" y="1440"/>
                  </a:lnTo>
                  <a:lnTo>
                    <a:pt x="14" y="1440"/>
                  </a:lnTo>
                  <a:close/>
                  <a:moveTo>
                    <a:pt x="14" y="1469"/>
                  </a:moveTo>
                  <a:lnTo>
                    <a:pt x="14" y="1482"/>
                  </a:lnTo>
                  <a:lnTo>
                    <a:pt x="0" y="1482"/>
                  </a:lnTo>
                  <a:lnTo>
                    <a:pt x="0" y="1469"/>
                  </a:lnTo>
                  <a:lnTo>
                    <a:pt x="14" y="1469"/>
                  </a:lnTo>
                  <a:close/>
                  <a:moveTo>
                    <a:pt x="14" y="1497"/>
                  </a:moveTo>
                  <a:lnTo>
                    <a:pt x="14" y="1511"/>
                  </a:lnTo>
                  <a:lnTo>
                    <a:pt x="0" y="1511"/>
                  </a:lnTo>
                  <a:lnTo>
                    <a:pt x="0" y="1497"/>
                  </a:lnTo>
                  <a:lnTo>
                    <a:pt x="14" y="1497"/>
                  </a:lnTo>
                  <a:close/>
                  <a:moveTo>
                    <a:pt x="14" y="1525"/>
                  </a:moveTo>
                  <a:lnTo>
                    <a:pt x="14" y="1539"/>
                  </a:lnTo>
                  <a:lnTo>
                    <a:pt x="0" y="1539"/>
                  </a:lnTo>
                  <a:lnTo>
                    <a:pt x="0" y="1525"/>
                  </a:lnTo>
                  <a:lnTo>
                    <a:pt x="14" y="1525"/>
                  </a:lnTo>
                  <a:close/>
                  <a:moveTo>
                    <a:pt x="14" y="1553"/>
                  </a:moveTo>
                  <a:lnTo>
                    <a:pt x="14" y="1567"/>
                  </a:lnTo>
                  <a:lnTo>
                    <a:pt x="0" y="1567"/>
                  </a:lnTo>
                  <a:lnTo>
                    <a:pt x="0" y="1553"/>
                  </a:lnTo>
                  <a:lnTo>
                    <a:pt x="14" y="1553"/>
                  </a:lnTo>
                  <a:close/>
                  <a:moveTo>
                    <a:pt x="14" y="1581"/>
                  </a:moveTo>
                  <a:lnTo>
                    <a:pt x="14" y="1596"/>
                  </a:lnTo>
                  <a:lnTo>
                    <a:pt x="0" y="1596"/>
                  </a:lnTo>
                  <a:lnTo>
                    <a:pt x="0" y="1581"/>
                  </a:lnTo>
                  <a:lnTo>
                    <a:pt x="14" y="1581"/>
                  </a:lnTo>
                  <a:close/>
                  <a:moveTo>
                    <a:pt x="14" y="1610"/>
                  </a:moveTo>
                  <a:lnTo>
                    <a:pt x="14" y="1624"/>
                  </a:lnTo>
                  <a:lnTo>
                    <a:pt x="0" y="1624"/>
                  </a:lnTo>
                  <a:lnTo>
                    <a:pt x="0" y="1610"/>
                  </a:lnTo>
                  <a:lnTo>
                    <a:pt x="14" y="1610"/>
                  </a:lnTo>
                  <a:close/>
                  <a:moveTo>
                    <a:pt x="14" y="1638"/>
                  </a:moveTo>
                  <a:lnTo>
                    <a:pt x="14" y="1652"/>
                  </a:lnTo>
                  <a:lnTo>
                    <a:pt x="0" y="1652"/>
                  </a:lnTo>
                  <a:lnTo>
                    <a:pt x="0" y="1638"/>
                  </a:lnTo>
                  <a:lnTo>
                    <a:pt x="14" y="1638"/>
                  </a:lnTo>
                  <a:close/>
                  <a:moveTo>
                    <a:pt x="14" y="1666"/>
                  </a:moveTo>
                  <a:lnTo>
                    <a:pt x="14" y="1680"/>
                  </a:lnTo>
                  <a:lnTo>
                    <a:pt x="0" y="1680"/>
                  </a:lnTo>
                  <a:lnTo>
                    <a:pt x="0" y="1666"/>
                  </a:lnTo>
                  <a:lnTo>
                    <a:pt x="14" y="1666"/>
                  </a:lnTo>
                  <a:close/>
                  <a:moveTo>
                    <a:pt x="14" y="1694"/>
                  </a:moveTo>
                  <a:lnTo>
                    <a:pt x="14" y="1708"/>
                  </a:lnTo>
                  <a:lnTo>
                    <a:pt x="0" y="1708"/>
                  </a:lnTo>
                  <a:lnTo>
                    <a:pt x="0" y="1694"/>
                  </a:lnTo>
                  <a:lnTo>
                    <a:pt x="14" y="1694"/>
                  </a:lnTo>
                  <a:close/>
                  <a:moveTo>
                    <a:pt x="14" y="1723"/>
                  </a:moveTo>
                  <a:lnTo>
                    <a:pt x="14" y="1737"/>
                  </a:lnTo>
                  <a:lnTo>
                    <a:pt x="0" y="1737"/>
                  </a:lnTo>
                  <a:lnTo>
                    <a:pt x="0" y="1723"/>
                  </a:lnTo>
                  <a:lnTo>
                    <a:pt x="14" y="1723"/>
                  </a:lnTo>
                  <a:close/>
                  <a:moveTo>
                    <a:pt x="14" y="1751"/>
                  </a:moveTo>
                  <a:lnTo>
                    <a:pt x="14" y="1765"/>
                  </a:lnTo>
                  <a:lnTo>
                    <a:pt x="0" y="1765"/>
                  </a:lnTo>
                  <a:lnTo>
                    <a:pt x="0" y="1751"/>
                  </a:lnTo>
                  <a:lnTo>
                    <a:pt x="14" y="1751"/>
                  </a:lnTo>
                  <a:close/>
                  <a:moveTo>
                    <a:pt x="14" y="1779"/>
                  </a:moveTo>
                  <a:lnTo>
                    <a:pt x="14" y="1793"/>
                  </a:lnTo>
                  <a:lnTo>
                    <a:pt x="0" y="1793"/>
                  </a:lnTo>
                  <a:lnTo>
                    <a:pt x="0" y="1779"/>
                  </a:lnTo>
                  <a:lnTo>
                    <a:pt x="14" y="1779"/>
                  </a:lnTo>
                  <a:close/>
                  <a:moveTo>
                    <a:pt x="14" y="1807"/>
                  </a:moveTo>
                  <a:lnTo>
                    <a:pt x="14" y="1821"/>
                  </a:lnTo>
                  <a:lnTo>
                    <a:pt x="0" y="1821"/>
                  </a:lnTo>
                  <a:lnTo>
                    <a:pt x="0" y="1807"/>
                  </a:lnTo>
                  <a:lnTo>
                    <a:pt x="14" y="1807"/>
                  </a:lnTo>
                  <a:close/>
                  <a:moveTo>
                    <a:pt x="14" y="1836"/>
                  </a:moveTo>
                  <a:lnTo>
                    <a:pt x="14" y="1850"/>
                  </a:lnTo>
                  <a:lnTo>
                    <a:pt x="0" y="1850"/>
                  </a:lnTo>
                  <a:lnTo>
                    <a:pt x="0" y="1836"/>
                  </a:lnTo>
                  <a:lnTo>
                    <a:pt x="14" y="1836"/>
                  </a:lnTo>
                  <a:close/>
                  <a:moveTo>
                    <a:pt x="14" y="1864"/>
                  </a:moveTo>
                  <a:lnTo>
                    <a:pt x="14" y="1878"/>
                  </a:lnTo>
                  <a:lnTo>
                    <a:pt x="0" y="1878"/>
                  </a:lnTo>
                  <a:lnTo>
                    <a:pt x="0" y="1864"/>
                  </a:lnTo>
                  <a:lnTo>
                    <a:pt x="14" y="1864"/>
                  </a:lnTo>
                  <a:close/>
                  <a:moveTo>
                    <a:pt x="14" y="1892"/>
                  </a:moveTo>
                  <a:lnTo>
                    <a:pt x="14" y="1906"/>
                  </a:lnTo>
                  <a:lnTo>
                    <a:pt x="0" y="1906"/>
                  </a:lnTo>
                  <a:lnTo>
                    <a:pt x="0" y="1892"/>
                  </a:lnTo>
                  <a:lnTo>
                    <a:pt x="14" y="1892"/>
                  </a:lnTo>
                  <a:close/>
                  <a:moveTo>
                    <a:pt x="14" y="1920"/>
                  </a:moveTo>
                  <a:lnTo>
                    <a:pt x="14" y="1935"/>
                  </a:lnTo>
                  <a:lnTo>
                    <a:pt x="0" y="1935"/>
                  </a:lnTo>
                  <a:lnTo>
                    <a:pt x="0" y="1920"/>
                  </a:lnTo>
                  <a:lnTo>
                    <a:pt x="14" y="1920"/>
                  </a:lnTo>
                  <a:close/>
                  <a:moveTo>
                    <a:pt x="14" y="1948"/>
                  </a:moveTo>
                  <a:lnTo>
                    <a:pt x="14" y="1963"/>
                  </a:lnTo>
                  <a:lnTo>
                    <a:pt x="0" y="1963"/>
                  </a:lnTo>
                  <a:lnTo>
                    <a:pt x="0" y="1948"/>
                  </a:lnTo>
                  <a:lnTo>
                    <a:pt x="14" y="1948"/>
                  </a:lnTo>
                  <a:close/>
                  <a:moveTo>
                    <a:pt x="14" y="1977"/>
                  </a:moveTo>
                  <a:lnTo>
                    <a:pt x="14" y="1991"/>
                  </a:lnTo>
                  <a:lnTo>
                    <a:pt x="0" y="1991"/>
                  </a:lnTo>
                  <a:lnTo>
                    <a:pt x="0" y="1977"/>
                  </a:lnTo>
                  <a:lnTo>
                    <a:pt x="14" y="1977"/>
                  </a:lnTo>
                  <a:close/>
                  <a:moveTo>
                    <a:pt x="14" y="2005"/>
                  </a:moveTo>
                  <a:lnTo>
                    <a:pt x="14" y="2019"/>
                  </a:lnTo>
                  <a:lnTo>
                    <a:pt x="0" y="2019"/>
                  </a:lnTo>
                  <a:lnTo>
                    <a:pt x="0" y="2005"/>
                  </a:lnTo>
                  <a:lnTo>
                    <a:pt x="14" y="2005"/>
                  </a:lnTo>
                  <a:close/>
                  <a:moveTo>
                    <a:pt x="14" y="2033"/>
                  </a:moveTo>
                  <a:lnTo>
                    <a:pt x="14" y="2047"/>
                  </a:lnTo>
                  <a:lnTo>
                    <a:pt x="0" y="2047"/>
                  </a:lnTo>
                  <a:lnTo>
                    <a:pt x="0" y="2033"/>
                  </a:lnTo>
                  <a:lnTo>
                    <a:pt x="14" y="2033"/>
                  </a:lnTo>
                  <a:close/>
                  <a:moveTo>
                    <a:pt x="14" y="2062"/>
                  </a:moveTo>
                  <a:lnTo>
                    <a:pt x="14" y="2076"/>
                  </a:lnTo>
                  <a:lnTo>
                    <a:pt x="0" y="2076"/>
                  </a:lnTo>
                  <a:lnTo>
                    <a:pt x="0" y="2062"/>
                  </a:lnTo>
                  <a:lnTo>
                    <a:pt x="14" y="2062"/>
                  </a:lnTo>
                  <a:close/>
                  <a:moveTo>
                    <a:pt x="14" y="2090"/>
                  </a:moveTo>
                  <a:lnTo>
                    <a:pt x="14" y="2104"/>
                  </a:lnTo>
                  <a:lnTo>
                    <a:pt x="0" y="2104"/>
                  </a:lnTo>
                  <a:lnTo>
                    <a:pt x="0" y="2090"/>
                  </a:lnTo>
                  <a:lnTo>
                    <a:pt x="14" y="2090"/>
                  </a:lnTo>
                  <a:close/>
                  <a:moveTo>
                    <a:pt x="14" y="2118"/>
                  </a:moveTo>
                  <a:lnTo>
                    <a:pt x="14" y="2132"/>
                  </a:lnTo>
                  <a:lnTo>
                    <a:pt x="0" y="2132"/>
                  </a:lnTo>
                  <a:lnTo>
                    <a:pt x="0" y="2118"/>
                  </a:lnTo>
                  <a:lnTo>
                    <a:pt x="14" y="2118"/>
                  </a:lnTo>
                  <a:close/>
                  <a:moveTo>
                    <a:pt x="14" y="2146"/>
                  </a:moveTo>
                  <a:lnTo>
                    <a:pt x="14" y="2160"/>
                  </a:lnTo>
                  <a:lnTo>
                    <a:pt x="0" y="2160"/>
                  </a:lnTo>
                  <a:lnTo>
                    <a:pt x="0" y="2146"/>
                  </a:lnTo>
                  <a:lnTo>
                    <a:pt x="14" y="2146"/>
                  </a:lnTo>
                  <a:close/>
                  <a:moveTo>
                    <a:pt x="14" y="2175"/>
                  </a:moveTo>
                  <a:lnTo>
                    <a:pt x="14" y="2189"/>
                  </a:lnTo>
                  <a:lnTo>
                    <a:pt x="0" y="2189"/>
                  </a:lnTo>
                  <a:lnTo>
                    <a:pt x="0" y="2175"/>
                  </a:lnTo>
                  <a:lnTo>
                    <a:pt x="14" y="2175"/>
                  </a:lnTo>
                  <a:close/>
                  <a:moveTo>
                    <a:pt x="14" y="2203"/>
                  </a:moveTo>
                  <a:lnTo>
                    <a:pt x="14" y="2217"/>
                  </a:lnTo>
                  <a:lnTo>
                    <a:pt x="0" y="2217"/>
                  </a:lnTo>
                  <a:lnTo>
                    <a:pt x="0" y="2203"/>
                  </a:lnTo>
                  <a:lnTo>
                    <a:pt x="14" y="2203"/>
                  </a:lnTo>
                  <a:close/>
                  <a:moveTo>
                    <a:pt x="14" y="2231"/>
                  </a:moveTo>
                  <a:lnTo>
                    <a:pt x="14" y="2245"/>
                  </a:lnTo>
                  <a:lnTo>
                    <a:pt x="0" y="2245"/>
                  </a:lnTo>
                  <a:lnTo>
                    <a:pt x="0" y="2231"/>
                  </a:lnTo>
                  <a:lnTo>
                    <a:pt x="14" y="2231"/>
                  </a:lnTo>
                  <a:close/>
                  <a:moveTo>
                    <a:pt x="14" y="2259"/>
                  </a:moveTo>
                  <a:lnTo>
                    <a:pt x="14" y="2274"/>
                  </a:lnTo>
                  <a:lnTo>
                    <a:pt x="0" y="2274"/>
                  </a:lnTo>
                  <a:lnTo>
                    <a:pt x="0" y="2259"/>
                  </a:lnTo>
                  <a:lnTo>
                    <a:pt x="14" y="2259"/>
                  </a:lnTo>
                  <a:close/>
                  <a:moveTo>
                    <a:pt x="14" y="2287"/>
                  </a:moveTo>
                  <a:lnTo>
                    <a:pt x="14" y="2302"/>
                  </a:lnTo>
                  <a:lnTo>
                    <a:pt x="0" y="2302"/>
                  </a:lnTo>
                  <a:lnTo>
                    <a:pt x="0" y="2287"/>
                  </a:lnTo>
                  <a:lnTo>
                    <a:pt x="14" y="2287"/>
                  </a:lnTo>
                  <a:close/>
                  <a:moveTo>
                    <a:pt x="14" y="2316"/>
                  </a:moveTo>
                  <a:lnTo>
                    <a:pt x="14" y="2330"/>
                  </a:lnTo>
                  <a:lnTo>
                    <a:pt x="0" y="2330"/>
                  </a:lnTo>
                  <a:lnTo>
                    <a:pt x="0" y="2316"/>
                  </a:lnTo>
                  <a:lnTo>
                    <a:pt x="14" y="2316"/>
                  </a:lnTo>
                  <a:close/>
                  <a:moveTo>
                    <a:pt x="14" y="2344"/>
                  </a:moveTo>
                  <a:lnTo>
                    <a:pt x="14" y="2358"/>
                  </a:lnTo>
                  <a:lnTo>
                    <a:pt x="0" y="2358"/>
                  </a:lnTo>
                  <a:lnTo>
                    <a:pt x="0" y="2344"/>
                  </a:lnTo>
                  <a:lnTo>
                    <a:pt x="14" y="2344"/>
                  </a:lnTo>
                  <a:close/>
                  <a:moveTo>
                    <a:pt x="14" y="2372"/>
                  </a:moveTo>
                  <a:lnTo>
                    <a:pt x="14" y="2386"/>
                  </a:lnTo>
                  <a:lnTo>
                    <a:pt x="0" y="2386"/>
                  </a:lnTo>
                  <a:lnTo>
                    <a:pt x="0" y="2372"/>
                  </a:lnTo>
                  <a:lnTo>
                    <a:pt x="14" y="2372"/>
                  </a:lnTo>
                  <a:close/>
                  <a:moveTo>
                    <a:pt x="14" y="2401"/>
                  </a:moveTo>
                  <a:lnTo>
                    <a:pt x="14" y="2415"/>
                  </a:lnTo>
                  <a:lnTo>
                    <a:pt x="0" y="2415"/>
                  </a:lnTo>
                  <a:lnTo>
                    <a:pt x="0" y="2401"/>
                  </a:lnTo>
                  <a:lnTo>
                    <a:pt x="14" y="2401"/>
                  </a:lnTo>
                  <a:close/>
                  <a:moveTo>
                    <a:pt x="14" y="2429"/>
                  </a:moveTo>
                  <a:lnTo>
                    <a:pt x="14" y="2443"/>
                  </a:lnTo>
                  <a:lnTo>
                    <a:pt x="0" y="2443"/>
                  </a:lnTo>
                  <a:lnTo>
                    <a:pt x="0" y="2429"/>
                  </a:lnTo>
                  <a:lnTo>
                    <a:pt x="14" y="2429"/>
                  </a:lnTo>
                  <a:close/>
                  <a:moveTo>
                    <a:pt x="14" y="2457"/>
                  </a:moveTo>
                  <a:lnTo>
                    <a:pt x="14" y="2471"/>
                  </a:lnTo>
                  <a:lnTo>
                    <a:pt x="0" y="2471"/>
                  </a:lnTo>
                  <a:lnTo>
                    <a:pt x="0" y="2457"/>
                  </a:lnTo>
                  <a:lnTo>
                    <a:pt x="14" y="2457"/>
                  </a:lnTo>
                  <a:close/>
                  <a:moveTo>
                    <a:pt x="14" y="2485"/>
                  </a:moveTo>
                  <a:lnTo>
                    <a:pt x="14" y="2489"/>
                  </a:lnTo>
                  <a:lnTo>
                    <a:pt x="0" y="2489"/>
                  </a:lnTo>
                  <a:lnTo>
                    <a:pt x="0" y="2485"/>
                  </a:lnTo>
                  <a:lnTo>
                    <a:pt x="14" y="2485"/>
                  </a:lnTo>
                  <a:close/>
                </a:path>
              </a:pathLst>
            </a:custGeom>
            <a:solidFill>
              <a:srgbClr val="000000"/>
            </a:solidFill>
            <a:ln w="0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5" name="Freeform 50">
              <a:extLst>
                <a:ext uri="{FF2B5EF4-FFF2-40B4-BE49-F238E27FC236}">
                  <a16:creationId xmlns:a16="http://schemas.microsoft.com/office/drawing/2014/main" id="{4BF5B8FC-3788-413B-A4F0-07784EECB70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564" y="1440"/>
              <a:ext cx="14" cy="2489"/>
            </a:xfrm>
            <a:custGeom>
              <a:avLst/>
              <a:gdLst>
                <a:gd name="T0" fmla="*/ 14 w 14"/>
                <a:gd name="T1" fmla="*/ 42 h 2489"/>
                <a:gd name="T2" fmla="*/ 0 w 14"/>
                <a:gd name="T3" fmla="*/ 56 h 2489"/>
                <a:gd name="T4" fmla="*/ 14 w 14"/>
                <a:gd name="T5" fmla="*/ 113 h 2489"/>
                <a:gd name="T6" fmla="*/ 0 w 14"/>
                <a:gd name="T7" fmla="*/ 155 h 2489"/>
                <a:gd name="T8" fmla="*/ 14 w 14"/>
                <a:gd name="T9" fmla="*/ 169 h 2489"/>
                <a:gd name="T10" fmla="*/ 14 w 14"/>
                <a:gd name="T11" fmla="*/ 240 h 2489"/>
                <a:gd name="T12" fmla="*/ 0 w 14"/>
                <a:gd name="T13" fmla="*/ 254 h 2489"/>
                <a:gd name="T14" fmla="*/ 14 w 14"/>
                <a:gd name="T15" fmla="*/ 310 h 2489"/>
                <a:gd name="T16" fmla="*/ 0 w 14"/>
                <a:gd name="T17" fmla="*/ 353 h 2489"/>
                <a:gd name="T18" fmla="*/ 14 w 14"/>
                <a:gd name="T19" fmla="*/ 367 h 2489"/>
                <a:gd name="T20" fmla="*/ 14 w 14"/>
                <a:gd name="T21" fmla="*/ 437 h 2489"/>
                <a:gd name="T22" fmla="*/ 0 w 14"/>
                <a:gd name="T23" fmla="*/ 452 h 2489"/>
                <a:gd name="T24" fmla="*/ 14 w 14"/>
                <a:gd name="T25" fmla="*/ 508 h 2489"/>
                <a:gd name="T26" fmla="*/ 0 w 14"/>
                <a:gd name="T27" fmla="*/ 550 h 2489"/>
                <a:gd name="T28" fmla="*/ 14 w 14"/>
                <a:gd name="T29" fmla="*/ 565 h 2489"/>
                <a:gd name="T30" fmla="*/ 14 w 14"/>
                <a:gd name="T31" fmla="*/ 635 h 2489"/>
                <a:gd name="T32" fmla="*/ 0 w 14"/>
                <a:gd name="T33" fmla="*/ 649 h 2489"/>
                <a:gd name="T34" fmla="*/ 14 w 14"/>
                <a:gd name="T35" fmla="*/ 706 h 2489"/>
                <a:gd name="T36" fmla="*/ 0 w 14"/>
                <a:gd name="T37" fmla="*/ 748 h 2489"/>
                <a:gd name="T38" fmla="*/ 14 w 14"/>
                <a:gd name="T39" fmla="*/ 762 h 2489"/>
                <a:gd name="T40" fmla="*/ 14 w 14"/>
                <a:gd name="T41" fmla="*/ 833 h 2489"/>
                <a:gd name="T42" fmla="*/ 0 w 14"/>
                <a:gd name="T43" fmla="*/ 847 h 2489"/>
                <a:gd name="T44" fmla="*/ 14 w 14"/>
                <a:gd name="T45" fmla="*/ 903 h 2489"/>
                <a:gd name="T46" fmla="*/ 0 w 14"/>
                <a:gd name="T47" fmla="*/ 946 h 2489"/>
                <a:gd name="T48" fmla="*/ 14 w 14"/>
                <a:gd name="T49" fmla="*/ 960 h 2489"/>
                <a:gd name="T50" fmla="*/ 14 w 14"/>
                <a:gd name="T51" fmla="*/ 1031 h 2489"/>
                <a:gd name="T52" fmla="*/ 0 w 14"/>
                <a:gd name="T53" fmla="*/ 1045 h 2489"/>
                <a:gd name="T54" fmla="*/ 14 w 14"/>
                <a:gd name="T55" fmla="*/ 1101 h 2489"/>
                <a:gd name="T56" fmla="*/ 0 w 14"/>
                <a:gd name="T57" fmla="*/ 1143 h 2489"/>
                <a:gd name="T58" fmla="*/ 14 w 14"/>
                <a:gd name="T59" fmla="*/ 1158 h 2489"/>
                <a:gd name="T60" fmla="*/ 14 w 14"/>
                <a:gd name="T61" fmla="*/ 1228 h 2489"/>
                <a:gd name="T62" fmla="*/ 0 w 14"/>
                <a:gd name="T63" fmla="*/ 1242 h 2489"/>
                <a:gd name="T64" fmla="*/ 14 w 14"/>
                <a:gd name="T65" fmla="*/ 1299 h 2489"/>
                <a:gd name="T66" fmla="*/ 0 w 14"/>
                <a:gd name="T67" fmla="*/ 1341 h 2489"/>
                <a:gd name="T68" fmla="*/ 14 w 14"/>
                <a:gd name="T69" fmla="*/ 1355 h 2489"/>
                <a:gd name="T70" fmla="*/ 14 w 14"/>
                <a:gd name="T71" fmla="*/ 1426 h 2489"/>
                <a:gd name="T72" fmla="*/ 0 w 14"/>
                <a:gd name="T73" fmla="*/ 1440 h 2489"/>
                <a:gd name="T74" fmla="*/ 14 w 14"/>
                <a:gd name="T75" fmla="*/ 1497 h 2489"/>
                <a:gd name="T76" fmla="*/ 0 w 14"/>
                <a:gd name="T77" fmla="*/ 1539 h 2489"/>
                <a:gd name="T78" fmla="*/ 14 w 14"/>
                <a:gd name="T79" fmla="*/ 1553 h 2489"/>
                <a:gd name="T80" fmla="*/ 14 w 14"/>
                <a:gd name="T81" fmla="*/ 1624 h 2489"/>
                <a:gd name="T82" fmla="*/ 0 w 14"/>
                <a:gd name="T83" fmla="*/ 1638 h 2489"/>
                <a:gd name="T84" fmla="*/ 14 w 14"/>
                <a:gd name="T85" fmla="*/ 1694 h 2489"/>
                <a:gd name="T86" fmla="*/ 0 w 14"/>
                <a:gd name="T87" fmla="*/ 1737 h 2489"/>
                <a:gd name="T88" fmla="*/ 14 w 14"/>
                <a:gd name="T89" fmla="*/ 1751 h 2489"/>
                <a:gd name="T90" fmla="*/ 14 w 14"/>
                <a:gd name="T91" fmla="*/ 1821 h 2489"/>
                <a:gd name="T92" fmla="*/ 0 w 14"/>
                <a:gd name="T93" fmla="*/ 1836 h 2489"/>
                <a:gd name="T94" fmla="*/ 14 w 14"/>
                <a:gd name="T95" fmla="*/ 1892 h 2489"/>
                <a:gd name="T96" fmla="*/ 0 w 14"/>
                <a:gd name="T97" fmla="*/ 1935 h 2489"/>
                <a:gd name="T98" fmla="*/ 14 w 14"/>
                <a:gd name="T99" fmla="*/ 1948 h 2489"/>
                <a:gd name="T100" fmla="*/ 14 w 14"/>
                <a:gd name="T101" fmla="*/ 2019 h 2489"/>
                <a:gd name="T102" fmla="*/ 0 w 14"/>
                <a:gd name="T103" fmla="*/ 2033 h 2489"/>
                <a:gd name="T104" fmla="*/ 14 w 14"/>
                <a:gd name="T105" fmla="*/ 2090 h 2489"/>
                <a:gd name="T106" fmla="*/ 0 w 14"/>
                <a:gd name="T107" fmla="*/ 2132 h 2489"/>
                <a:gd name="T108" fmla="*/ 14 w 14"/>
                <a:gd name="T109" fmla="*/ 2146 h 2489"/>
                <a:gd name="T110" fmla="*/ 14 w 14"/>
                <a:gd name="T111" fmla="*/ 2217 h 2489"/>
                <a:gd name="T112" fmla="*/ 0 w 14"/>
                <a:gd name="T113" fmla="*/ 2231 h 2489"/>
                <a:gd name="T114" fmla="*/ 14 w 14"/>
                <a:gd name="T115" fmla="*/ 2287 h 2489"/>
                <a:gd name="T116" fmla="*/ 0 w 14"/>
                <a:gd name="T117" fmla="*/ 2330 h 2489"/>
                <a:gd name="T118" fmla="*/ 14 w 14"/>
                <a:gd name="T119" fmla="*/ 2344 h 2489"/>
                <a:gd name="T120" fmla="*/ 14 w 14"/>
                <a:gd name="T121" fmla="*/ 2415 h 2489"/>
                <a:gd name="T122" fmla="*/ 0 w 14"/>
                <a:gd name="T123" fmla="*/ 2429 h 2489"/>
                <a:gd name="T124" fmla="*/ 14 w 14"/>
                <a:gd name="T125" fmla="*/ 2485 h 24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4" h="2489">
                  <a:moveTo>
                    <a:pt x="14" y="0"/>
                  </a:moveTo>
                  <a:lnTo>
                    <a:pt x="14" y="14"/>
                  </a:lnTo>
                  <a:lnTo>
                    <a:pt x="0" y="14"/>
                  </a:lnTo>
                  <a:lnTo>
                    <a:pt x="0" y="0"/>
                  </a:lnTo>
                  <a:lnTo>
                    <a:pt x="14" y="0"/>
                  </a:lnTo>
                  <a:close/>
                  <a:moveTo>
                    <a:pt x="14" y="28"/>
                  </a:moveTo>
                  <a:lnTo>
                    <a:pt x="14" y="42"/>
                  </a:lnTo>
                  <a:lnTo>
                    <a:pt x="0" y="42"/>
                  </a:lnTo>
                  <a:lnTo>
                    <a:pt x="0" y="28"/>
                  </a:lnTo>
                  <a:lnTo>
                    <a:pt x="14" y="28"/>
                  </a:lnTo>
                  <a:close/>
                  <a:moveTo>
                    <a:pt x="14" y="56"/>
                  </a:moveTo>
                  <a:lnTo>
                    <a:pt x="14" y="70"/>
                  </a:lnTo>
                  <a:lnTo>
                    <a:pt x="0" y="70"/>
                  </a:lnTo>
                  <a:lnTo>
                    <a:pt x="0" y="56"/>
                  </a:lnTo>
                  <a:lnTo>
                    <a:pt x="14" y="56"/>
                  </a:lnTo>
                  <a:close/>
                  <a:moveTo>
                    <a:pt x="14" y="84"/>
                  </a:moveTo>
                  <a:lnTo>
                    <a:pt x="14" y="98"/>
                  </a:lnTo>
                  <a:lnTo>
                    <a:pt x="0" y="98"/>
                  </a:lnTo>
                  <a:lnTo>
                    <a:pt x="0" y="84"/>
                  </a:lnTo>
                  <a:lnTo>
                    <a:pt x="14" y="84"/>
                  </a:lnTo>
                  <a:close/>
                  <a:moveTo>
                    <a:pt x="14" y="113"/>
                  </a:moveTo>
                  <a:lnTo>
                    <a:pt x="14" y="127"/>
                  </a:lnTo>
                  <a:lnTo>
                    <a:pt x="0" y="127"/>
                  </a:lnTo>
                  <a:lnTo>
                    <a:pt x="0" y="113"/>
                  </a:lnTo>
                  <a:lnTo>
                    <a:pt x="14" y="113"/>
                  </a:lnTo>
                  <a:close/>
                  <a:moveTo>
                    <a:pt x="14" y="141"/>
                  </a:moveTo>
                  <a:lnTo>
                    <a:pt x="14" y="155"/>
                  </a:lnTo>
                  <a:lnTo>
                    <a:pt x="0" y="155"/>
                  </a:lnTo>
                  <a:lnTo>
                    <a:pt x="0" y="141"/>
                  </a:lnTo>
                  <a:lnTo>
                    <a:pt x="14" y="141"/>
                  </a:lnTo>
                  <a:close/>
                  <a:moveTo>
                    <a:pt x="14" y="169"/>
                  </a:moveTo>
                  <a:lnTo>
                    <a:pt x="14" y="183"/>
                  </a:lnTo>
                  <a:lnTo>
                    <a:pt x="0" y="183"/>
                  </a:lnTo>
                  <a:lnTo>
                    <a:pt x="0" y="169"/>
                  </a:lnTo>
                  <a:lnTo>
                    <a:pt x="14" y="169"/>
                  </a:lnTo>
                  <a:close/>
                  <a:moveTo>
                    <a:pt x="14" y="197"/>
                  </a:moveTo>
                  <a:lnTo>
                    <a:pt x="14" y="211"/>
                  </a:lnTo>
                  <a:lnTo>
                    <a:pt x="0" y="211"/>
                  </a:lnTo>
                  <a:lnTo>
                    <a:pt x="0" y="197"/>
                  </a:lnTo>
                  <a:lnTo>
                    <a:pt x="14" y="197"/>
                  </a:lnTo>
                  <a:close/>
                  <a:moveTo>
                    <a:pt x="14" y="226"/>
                  </a:moveTo>
                  <a:lnTo>
                    <a:pt x="14" y="240"/>
                  </a:lnTo>
                  <a:lnTo>
                    <a:pt x="0" y="240"/>
                  </a:lnTo>
                  <a:lnTo>
                    <a:pt x="0" y="226"/>
                  </a:lnTo>
                  <a:lnTo>
                    <a:pt x="14" y="226"/>
                  </a:lnTo>
                  <a:close/>
                  <a:moveTo>
                    <a:pt x="14" y="254"/>
                  </a:moveTo>
                  <a:lnTo>
                    <a:pt x="14" y="268"/>
                  </a:lnTo>
                  <a:lnTo>
                    <a:pt x="0" y="268"/>
                  </a:lnTo>
                  <a:lnTo>
                    <a:pt x="0" y="254"/>
                  </a:lnTo>
                  <a:lnTo>
                    <a:pt x="14" y="254"/>
                  </a:lnTo>
                  <a:close/>
                  <a:moveTo>
                    <a:pt x="14" y="282"/>
                  </a:moveTo>
                  <a:lnTo>
                    <a:pt x="14" y="296"/>
                  </a:lnTo>
                  <a:lnTo>
                    <a:pt x="0" y="296"/>
                  </a:lnTo>
                  <a:lnTo>
                    <a:pt x="0" y="282"/>
                  </a:lnTo>
                  <a:lnTo>
                    <a:pt x="14" y="282"/>
                  </a:lnTo>
                  <a:close/>
                  <a:moveTo>
                    <a:pt x="14" y="310"/>
                  </a:moveTo>
                  <a:lnTo>
                    <a:pt x="14" y="325"/>
                  </a:lnTo>
                  <a:lnTo>
                    <a:pt x="0" y="325"/>
                  </a:lnTo>
                  <a:lnTo>
                    <a:pt x="0" y="310"/>
                  </a:lnTo>
                  <a:lnTo>
                    <a:pt x="14" y="310"/>
                  </a:lnTo>
                  <a:close/>
                  <a:moveTo>
                    <a:pt x="14" y="338"/>
                  </a:moveTo>
                  <a:lnTo>
                    <a:pt x="14" y="353"/>
                  </a:lnTo>
                  <a:lnTo>
                    <a:pt x="0" y="353"/>
                  </a:lnTo>
                  <a:lnTo>
                    <a:pt x="0" y="338"/>
                  </a:lnTo>
                  <a:lnTo>
                    <a:pt x="14" y="338"/>
                  </a:lnTo>
                  <a:close/>
                  <a:moveTo>
                    <a:pt x="14" y="367"/>
                  </a:moveTo>
                  <a:lnTo>
                    <a:pt x="14" y="381"/>
                  </a:lnTo>
                  <a:lnTo>
                    <a:pt x="0" y="381"/>
                  </a:lnTo>
                  <a:lnTo>
                    <a:pt x="0" y="367"/>
                  </a:lnTo>
                  <a:lnTo>
                    <a:pt x="14" y="367"/>
                  </a:lnTo>
                  <a:close/>
                  <a:moveTo>
                    <a:pt x="14" y="395"/>
                  </a:moveTo>
                  <a:lnTo>
                    <a:pt x="14" y="409"/>
                  </a:lnTo>
                  <a:lnTo>
                    <a:pt x="0" y="409"/>
                  </a:lnTo>
                  <a:lnTo>
                    <a:pt x="0" y="395"/>
                  </a:lnTo>
                  <a:lnTo>
                    <a:pt x="14" y="395"/>
                  </a:lnTo>
                  <a:close/>
                  <a:moveTo>
                    <a:pt x="14" y="423"/>
                  </a:moveTo>
                  <a:lnTo>
                    <a:pt x="14" y="437"/>
                  </a:lnTo>
                  <a:lnTo>
                    <a:pt x="0" y="437"/>
                  </a:lnTo>
                  <a:lnTo>
                    <a:pt x="0" y="423"/>
                  </a:lnTo>
                  <a:lnTo>
                    <a:pt x="14" y="423"/>
                  </a:lnTo>
                  <a:close/>
                  <a:moveTo>
                    <a:pt x="14" y="452"/>
                  </a:moveTo>
                  <a:lnTo>
                    <a:pt x="14" y="466"/>
                  </a:lnTo>
                  <a:lnTo>
                    <a:pt x="0" y="466"/>
                  </a:lnTo>
                  <a:lnTo>
                    <a:pt x="0" y="452"/>
                  </a:lnTo>
                  <a:lnTo>
                    <a:pt x="14" y="452"/>
                  </a:lnTo>
                  <a:close/>
                  <a:moveTo>
                    <a:pt x="14" y="480"/>
                  </a:moveTo>
                  <a:lnTo>
                    <a:pt x="14" y="494"/>
                  </a:lnTo>
                  <a:lnTo>
                    <a:pt x="0" y="494"/>
                  </a:lnTo>
                  <a:lnTo>
                    <a:pt x="0" y="480"/>
                  </a:lnTo>
                  <a:lnTo>
                    <a:pt x="14" y="480"/>
                  </a:lnTo>
                  <a:close/>
                  <a:moveTo>
                    <a:pt x="14" y="508"/>
                  </a:moveTo>
                  <a:lnTo>
                    <a:pt x="14" y="522"/>
                  </a:lnTo>
                  <a:lnTo>
                    <a:pt x="0" y="522"/>
                  </a:lnTo>
                  <a:lnTo>
                    <a:pt x="0" y="508"/>
                  </a:lnTo>
                  <a:lnTo>
                    <a:pt x="14" y="508"/>
                  </a:lnTo>
                  <a:close/>
                  <a:moveTo>
                    <a:pt x="14" y="536"/>
                  </a:moveTo>
                  <a:lnTo>
                    <a:pt x="14" y="550"/>
                  </a:lnTo>
                  <a:lnTo>
                    <a:pt x="0" y="550"/>
                  </a:lnTo>
                  <a:lnTo>
                    <a:pt x="0" y="536"/>
                  </a:lnTo>
                  <a:lnTo>
                    <a:pt x="14" y="536"/>
                  </a:lnTo>
                  <a:close/>
                  <a:moveTo>
                    <a:pt x="14" y="565"/>
                  </a:moveTo>
                  <a:lnTo>
                    <a:pt x="14" y="579"/>
                  </a:lnTo>
                  <a:lnTo>
                    <a:pt x="0" y="579"/>
                  </a:lnTo>
                  <a:lnTo>
                    <a:pt x="0" y="565"/>
                  </a:lnTo>
                  <a:lnTo>
                    <a:pt x="14" y="565"/>
                  </a:lnTo>
                  <a:close/>
                  <a:moveTo>
                    <a:pt x="14" y="593"/>
                  </a:moveTo>
                  <a:lnTo>
                    <a:pt x="14" y="607"/>
                  </a:lnTo>
                  <a:lnTo>
                    <a:pt x="0" y="607"/>
                  </a:lnTo>
                  <a:lnTo>
                    <a:pt x="0" y="593"/>
                  </a:lnTo>
                  <a:lnTo>
                    <a:pt x="14" y="593"/>
                  </a:lnTo>
                  <a:close/>
                  <a:moveTo>
                    <a:pt x="14" y="621"/>
                  </a:moveTo>
                  <a:lnTo>
                    <a:pt x="14" y="635"/>
                  </a:lnTo>
                  <a:lnTo>
                    <a:pt x="0" y="635"/>
                  </a:lnTo>
                  <a:lnTo>
                    <a:pt x="0" y="621"/>
                  </a:lnTo>
                  <a:lnTo>
                    <a:pt x="14" y="621"/>
                  </a:lnTo>
                  <a:close/>
                  <a:moveTo>
                    <a:pt x="14" y="649"/>
                  </a:moveTo>
                  <a:lnTo>
                    <a:pt x="14" y="664"/>
                  </a:lnTo>
                  <a:lnTo>
                    <a:pt x="0" y="664"/>
                  </a:lnTo>
                  <a:lnTo>
                    <a:pt x="0" y="649"/>
                  </a:lnTo>
                  <a:lnTo>
                    <a:pt x="14" y="649"/>
                  </a:lnTo>
                  <a:close/>
                  <a:moveTo>
                    <a:pt x="14" y="677"/>
                  </a:moveTo>
                  <a:lnTo>
                    <a:pt x="14" y="692"/>
                  </a:lnTo>
                  <a:lnTo>
                    <a:pt x="0" y="692"/>
                  </a:lnTo>
                  <a:lnTo>
                    <a:pt x="0" y="677"/>
                  </a:lnTo>
                  <a:lnTo>
                    <a:pt x="14" y="677"/>
                  </a:lnTo>
                  <a:close/>
                  <a:moveTo>
                    <a:pt x="14" y="706"/>
                  </a:moveTo>
                  <a:lnTo>
                    <a:pt x="14" y="720"/>
                  </a:lnTo>
                  <a:lnTo>
                    <a:pt x="0" y="720"/>
                  </a:lnTo>
                  <a:lnTo>
                    <a:pt x="0" y="706"/>
                  </a:lnTo>
                  <a:lnTo>
                    <a:pt x="14" y="706"/>
                  </a:lnTo>
                  <a:close/>
                  <a:moveTo>
                    <a:pt x="14" y="734"/>
                  </a:moveTo>
                  <a:lnTo>
                    <a:pt x="14" y="748"/>
                  </a:lnTo>
                  <a:lnTo>
                    <a:pt x="0" y="748"/>
                  </a:lnTo>
                  <a:lnTo>
                    <a:pt x="0" y="734"/>
                  </a:lnTo>
                  <a:lnTo>
                    <a:pt x="14" y="734"/>
                  </a:lnTo>
                  <a:close/>
                  <a:moveTo>
                    <a:pt x="14" y="762"/>
                  </a:moveTo>
                  <a:lnTo>
                    <a:pt x="14" y="776"/>
                  </a:lnTo>
                  <a:lnTo>
                    <a:pt x="0" y="776"/>
                  </a:lnTo>
                  <a:lnTo>
                    <a:pt x="0" y="762"/>
                  </a:lnTo>
                  <a:lnTo>
                    <a:pt x="14" y="762"/>
                  </a:lnTo>
                  <a:close/>
                  <a:moveTo>
                    <a:pt x="14" y="791"/>
                  </a:moveTo>
                  <a:lnTo>
                    <a:pt x="14" y="805"/>
                  </a:lnTo>
                  <a:lnTo>
                    <a:pt x="0" y="805"/>
                  </a:lnTo>
                  <a:lnTo>
                    <a:pt x="0" y="791"/>
                  </a:lnTo>
                  <a:lnTo>
                    <a:pt x="14" y="791"/>
                  </a:lnTo>
                  <a:close/>
                  <a:moveTo>
                    <a:pt x="14" y="819"/>
                  </a:moveTo>
                  <a:lnTo>
                    <a:pt x="14" y="833"/>
                  </a:lnTo>
                  <a:lnTo>
                    <a:pt x="0" y="833"/>
                  </a:lnTo>
                  <a:lnTo>
                    <a:pt x="0" y="819"/>
                  </a:lnTo>
                  <a:lnTo>
                    <a:pt x="14" y="819"/>
                  </a:lnTo>
                  <a:close/>
                  <a:moveTo>
                    <a:pt x="14" y="847"/>
                  </a:moveTo>
                  <a:lnTo>
                    <a:pt x="14" y="861"/>
                  </a:lnTo>
                  <a:lnTo>
                    <a:pt x="0" y="861"/>
                  </a:lnTo>
                  <a:lnTo>
                    <a:pt x="0" y="847"/>
                  </a:lnTo>
                  <a:lnTo>
                    <a:pt x="14" y="847"/>
                  </a:lnTo>
                  <a:close/>
                  <a:moveTo>
                    <a:pt x="14" y="875"/>
                  </a:moveTo>
                  <a:lnTo>
                    <a:pt x="14" y="889"/>
                  </a:lnTo>
                  <a:lnTo>
                    <a:pt x="0" y="889"/>
                  </a:lnTo>
                  <a:lnTo>
                    <a:pt x="0" y="875"/>
                  </a:lnTo>
                  <a:lnTo>
                    <a:pt x="14" y="875"/>
                  </a:lnTo>
                  <a:close/>
                  <a:moveTo>
                    <a:pt x="14" y="903"/>
                  </a:moveTo>
                  <a:lnTo>
                    <a:pt x="14" y="918"/>
                  </a:lnTo>
                  <a:lnTo>
                    <a:pt x="0" y="918"/>
                  </a:lnTo>
                  <a:lnTo>
                    <a:pt x="0" y="903"/>
                  </a:lnTo>
                  <a:lnTo>
                    <a:pt x="14" y="903"/>
                  </a:lnTo>
                  <a:close/>
                  <a:moveTo>
                    <a:pt x="14" y="932"/>
                  </a:moveTo>
                  <a:lnTo>
                    <a:pt x="14" y="946"/>
                  </a:lnTo>
                  <a:lnTo>
                    <a:pt x="0" y="946"/>
                  </a:lnTo>
                  <a:lnTo>
                    <a:pt x="0" y="932"/>
                  </a:lnTo>
                  <a:lnTo>
                    <a:pt x="14" y="932"/>
                  </a:lnTo>
                  <a:close/>
                  <a:moveTo>
                    <a:pt x="14" y="960"/>
                  </a:moveTo>
                  <a:lnTo>
                    <a:pt x="14" y="974"/>
                  </a:lnTo>
                  <a:lnTo>
                    <a:pt x="0" y="974"/>
                  </a:lnTo>
                  <a:lnTo>
                    <a:pt x="0" y="960"/>
                  </a:lnTo>
                  <a:lnTo>
                    <a:pt x="14" y="960"/>
                  </a:lnTo>
                  <a:close/>
                  <a:moveTo>
                    <a:pt x="14" y="988"/>
                  </a:moveTo>
                  <a:lnTo>
                    <a:pt x="14" y="1002"/>
                  </a:lnTo>
                  <a:lnTo>
                    <a:pt x="0" y="1002"/>
                  </a:lnTo>
                  <a:lnTo>
                    <a:pt x="0" y="988"/>
                  </a:lnTo>
                  <a:lnTo>
                    <a:pt x="14" y="988"/>
                  </a:lnTo>
                  <a:close/>
                  <a:moveTo>
                    <a:pt x="14" y="1016"/>
                  </a:moveTo>
                  <a:lnTo>
                    <a:pt x="14" y="1031"/>
                  </a:lnTo>
                  <a:lnTo>
                    <a:pt x="0" y="1031"/>
                  </a:lnTo>
                  <a:lnTo>
                    <a:pt x="0" y="1016"/>
                  </a:lnTo>
                  <a:lnTo>
                    <a:pt x="14" y="1016"/>
                  </a:lnTo>
                  <a:close/>
                  <a:moveTo>
                    <a:pt x="14" y="1045"/>
                  </a:moveTo>
                  <a:lnTo>
                    <a:pt x="14" y="1059"/>
                  </a:lnTo>
                  <a:lnTo>
                    <a:pt x="0" y="1059"/>
                  </a:lnTo>
                  <a:lnTo>
                    <a:pt x="0" y="1045"/>
                  </a:lnTo>
                  <a:lnTo>
                    <a:pt x="14" y="1045"/>
                  </a:lnTo>
                  <a:close/>
                  <a:moveTo>
                    <a:pt x="14" y="1073"/>
                  </a:moveTo>
                  <a:lnTo>
                    <a:pt x="14" y="1087"/>
                  </a:lnTo>
                  <a:lnTo>
                    <a:pt x="0" y="1087"/>
                  </a:lnTo>
                  <a:lnTo>
                    <a:pt x="0" y="1073"/>
                  </a:lnTo>
                  <a:lnTo>
                    <a:pt x="14" y="1073"/>
                  </a:lnTo>
                  <a:close/>
                  <a:moveTo>
                    <a:pt x="14" y="1101"/>
                  </a:moveTo>
                  <a:lnTo>
                    <a:pt x="14" y="1115"/>
                  </a:lnTo>
                  <a:lnTo>
                    <a:pt x="0" y="1115"/>
                  </a:lnTo>
                  <a:lnTo>
                    <a:pt x="0" y="1101"/>
                  </a:lnTo>
                  <a:lnTo>
                    <a:pt x="14" y="1101"/>
                  </a:lnTo>
                  <a:close/>
                  <a:moveTo>
                    <a:pt x="14" y="1130"/>
                  </a:moveTo>
                  <a:lnTo>
                    <a:pt x="14" y="1143"/>
                  </a:lnTo>
                  <a:lnTo>
                    <a:pt x="0" y="1143"/>
                  </a:lnTo>
                  <a:lnTo>
                    <a:pt x="0" y="1130"/>
                  </a:lnTo>
                  <a:lnTo>
                    <a:pt x="14" y="1130"/>
                  </a:lnTo>
                  <a:close/>
                  <a:moveTo>
                    <a:pt x="14" y="1158"/>
                  </a:moveTo>
                  <a:lnTo>
                    <a:pt x="14" y="1172"/>
                  </a:lnTo>
                  <a:lnTo>
                    <a:pt x="0" y="1172"/>
                  </a:lnTo>
                  <a:lnTo>
                    <a:pt x="0" y="1158"/>
                  </a:lnTo>
                  <a:lnTo>
                    <a:pt x="14" y="1158"/>
                  </a:lnTo>
                  <a:close/>
                  <a:moveTo>
                    <a:pt x="14" y="1186"/>
                  </a:moveTo>
                  <a:lnTo>
                    <a:pt x="14" y="1200"/>
                  </a:lnTo>
                  <a:lnTo>
                    <a:pt x="0" y="1200"/>
                  </a:lnTo>
                  <a:lnTo>
                    <a:pt x="0" y="1186"/>
                  </a:lnTo>
                  <a:lnTo>
                    <a:pt x="14" y="1186"/>
                  </a:lnTo>
                  <a:close/>
                  <a:moveTo>
                    <a:pt x="14" y="1214"/>
                  </a:moveTo>
                  <a:lnTo>
                    <a:pt x="14" y="1228"/>
                  </a:lnTo>
                  <a:lnTo>
                    <a:pt x="0" y="1228"/>
                  </a:lnTo>
                  <a:lnTo>
                    <a:pt x="0" y="1214"/>
                  </a:lnTo>
                  <a:lnTo>
                    <a:pt x="14" y="1214"/>
                  </a:lnTo>
                  <a:close/>
                  <a:moveTo>
                    <a:pt x="14" y="1242"/>
                  </a:moveTo>
                  <a:lnTo>
                    <a:pt x="14" y="1257"/>
                  </a:lnTo>
                  <a:lnTo>
                    <a:pt x="0" y="1257"/>
                  </a:lnTo>
                  <a:lnTo>
                    <a:pt x="0" y="1242"/>
                  </a:lnTo>
                  <a:lnTo>
                    <a:pt x="14" y="1242"/>
                  </a:lnTo>
                  <a:close/>
                  <a:moveTo>
                    <a:pt x="14" y="1271"/>
                  </a:moveTo>
                  <a:lnTo>
                    <a:pt x="14" y="1285"/>
                  </a:lnTo>
                  <a:lnTo>
                    <a:pt x="0" y="1285"/>
                  </a:lnTo>
                  <a:lnTo>
                    <a:pt x="0" y="1271"/>
                  </a:lnTo>
                  <a:lnTo>
                    <a:pt x="14" y="1271"/>
                  </a:lnTo>
                  <a:close/>
                  <a:moveTo>
                    <a:pt x="14" y="1299"/>
                  </a:moveTo>
                  <a:lnTo>
                    <a:pt x="14" y="1313"/>
                  </a:lnTo>
                  <a:lnTo>
                    <a:pt x="0" y="1313"/>
                  </a:lnTo>
                  <a:lnTo>
                    <a:pt x="0" y="1299"/>
                  </a:lnTo>
                  <a:lnTo>
                    <a:pt x="14" y="1299"/>
                  </a:lnTo>
                  <a:close/>
                  <a:moveTo>
                    <a:pt x="14" y="1327"/>
                  </a:moveTo>
                  <a:lnTo>
                    <a:pt x="14" y="1341"/>
                  </a:lnTo>
                  <a:lnTo>
                    <a:pt x="0" y="1341"/>
                  </a:lnTo>
                  <a:lnTo>
                    <a:pt x="0" y="1327"/>
                  </a:lnTo>
                  <a:lnTo>
                    <a:pt x="14" y="1327"/>
                  </a:lnTo>
                  <a:close/>
                  <a:moveTo>
                    <a:pt x="14" y="1355"/>
                  </a:moveTo>
                  <a:lnTo>
                    <a:pt x="14" y="1370"/>
                  </a:lnTo>
                  <a:lnTo>
                    <a:pt x="0" y="1370"/>
                  </a:lnTo>
                  <a:lnTo>
                    <a:pt x="0" y="1355"/>
                  </a:lnTo>
                  <a:lnTo>
                    <a:pt x="14" y="1355"/>
                  </a:lnTo>
                  <a:close/>
                  <a:moveTo>
                    <a:pt x="14" y="1384"/>
                  </a:moveTo>
                  <a:lnTo>
                    <a:pt x="14" y="1398"/>
                  </a:lnTo>
                  <a:lnTo>
                    <a:pt x="0" y="1398"/>
                  </a:lnTo>
                  <a:lnTo>
                    <a:pt x="0" y="1384"/>
                  </a:lnTo>
                  <a:lnTo>
                    <a:pt x="14" y="1384"/>
                  </a:lnTo>
                  <a:close/>
                  <a:moveTo>
                    <a:pt x="14" y="1412"/>
                  </a:moveTo>
                  <a:lnTo>
                    <a:pt x="14" y="1426"/>
                  </a:lnTo>
                  <a:lnTo>
                    <a:pt x="0" y="1426"/>
                  </a:lnTo>
                  <a:lnTo>
                    <a:pt x="0" y="1412"/>
                  </a:lnTo>
                  <a:lnTo>
                    <a:pt x="14" y="1412"/>
                  </a:lnTo>
                  <a:close/>
                  <a:moveTo>
                    <a:pt x="14" y="1440"/>
                  </a:moveTo>
                  <a:lnTo>
                    <a:pt x="14" y="1454"/>
                  </a:lnTo>
                  <a:lnTo>
                    <a:pt x="0" y="1454"/>
                  </a:lnTo>
                  <a:lnTo>
                    <a:pt x="0" y="1440"/>
                  </a:lnTo>
                  <a:lnTo>
                    <a:pt x="14" y="1440"/>
                  </a:lnTo>
                  <a:close/>
                  <a:moveTo>
                    <a:pt x="14" y="1469"/>
                  </a:moveTo>
                  <a:lnTo>
                    <a:pt x="14" y="1482"/>
                  </a:lnTo>
                  <a:lnTo>
                    <a:pt x="0" y="1482"/>
                  </a:lnTo>
                  <a:lnTo>
                    <a:pt x="0" y="1469"/>
                  </a:lnTo>
                  <a:lnTo>
                    <a:pt x="14" y="1469"/>
                  </a:lnTo>
                  <a:close/>
                  <a:moveTo>
                    <a:pt x="14" y="1497"/>
                  </a:moveTo>
                  <a:lnTo>
                    <a:pt x="14" y="1511"/>
                  </a:lnTo>
                  <a:lnTo>
                    <a:pt x="0" y="1511"/>
                  </a:lnTo>
                  <a:lnTo>
                    <a:pt x="0" y="1497"/>
                  </a:lnTo>
                  <a:lnTo>
                    <a:pt x="14" y="1497"/>
                  </a:lnTo>
                  <a:close/>
                  <a:moveTo>
                    <a:pt x="14" y="1525"/>
                  </a:moveTo>
                  <a:lnTo>
                    <a:pt x="14" y="1539"/>
                  </a:lnTo>
                  <a:lnTo>
                    <a:pt x="0" y="1539"/>
                  </a:lnTo>
                  <a:lnTo>
                    <a:pt x="0" y="1525"/>
                  </a:lnTo>
                  <a:lnTo>
                    <a:pt x="14" y="1525"/>
                  </a:lnTo>
                  <a:close/>
                  <a:moveTo>
                    <a:pt x="14" y="1553"/>
                  </a:moveTo>
                  <a:lnTo>
                    <a:pt x="14" y="1567"/>
                  </a:lnTo>
                  <a:lnTo>
                    <a:pt x="0" y="1567"/>
                  </a:lnTo>
                  <a:lnTo>
                    <a:pt x="0" y="1553"/>
                  </a:lnTo>
                  <a:lnTo>
                    <a:pt x="14" y="1553"/>
                  </a:lnTo>
                  <a:close/>
                  <a:moveTo>
                    <a:pt x="14" y="1581"/>
                  </a:moveTo>
                  <a:lnTo>
                    <a:pt x="14" y="1596"/>
                  </a:lnTo>
                  <a:lnTo>
                    <a:pt x="0" y="1596"/>
                  </a:lnTo>
                  <a:lnTo>
                    <a:pt x="0" y="1581"/>
                  </a:lnTo>
                  <a:lnTo>
                    <a:pt x="14" y="1581"/>
                  </a:lnTo>
                  <a:close/>
                  <a:moveTo>
                    <a:pt x="14" y="1610"/>
                  </a:moveTo>
                  <a:lnTo>
                    <a:pt x="14" y="1624"/>
                  </a:lnTo>
                  <a:lnTo>
                    <a:pt x="0" y="1624"/>
                  </a:lnTo>
                  <a:lnTo>
                    <a:pt x="0" y="1610"/>
                  </a:lnTo>
                  <a:lnTo>
                    <a:pt x="14" y="1610"/>
                  </a:lnTo>
                  <a:close/>
                  <a:moveTo>
                    <a:pt x="14" y="1638"/>
                  </a:moveTo>
                  <a:lnTo>
                    <a:pt x="14" y="1652"/>
                  </a:lnTo>
                  <a:lnTo>
                    <a:pt x="0" y="1652"/>
                  </a:lnTo>
                  <a:lnTo>
                    <a:pt x="0" y="1638"/>
                  </a:lnTo>
                  <a:lnTo>
                    <a:pt x="14" y="1638"/>
                  </a:lnTo>
                  <a:close/>
                  <a:moveTo>
                    <a:pt x="14" y="1666"/>
                  </a:moveTo>
                  <a:lnTo>
                    <a:pt x="14" y="1680"/>
                  </a:lnTo>
                  <a:lnTo>
                    <a:pt x="0" y="1680"/>
                  </a:lnTo>
                  <a:lnTo>
                    <a:pt x="0" y="1666"/>
                  </a:lnTo>
                  <a:lnTo>
                    <a:pt x="14" y="1666"/>
                  </a:lnTo>
                  <a:close/>
                  <a:moveTo>
                    <a:pt x="14" y="1694"/>
                  </a:moveTo>
                  <a:lnTo>
                    <a:pt x="14" y="1708"/>
                  </a:lnTo>
                  <a:lnTo>
                    <a:pt x="0" y="1708"/>
                  </a:lnTo>
                  <a:lnTo>
                    <a:pt x="0" y="1694"/>
                  </a:lnTo>
                  <a:lnTo>
                    <a:pt x="14" y="1694"/>
                  </a:lnTo>
                  <a:close/>
                  <a:moveTo>
                    <a:pt x="14" y="1723"/>
                  </a:moveTo>
                  <a:lnTo>
                    <a:pt x="14" y="1737"/>
                  </a:lnTo>
                  <a:lnTo>
                    <a:pt x="0" y="1737"/>
                  </a:lnTo>
                  <a:lnTo>
                    <a:pt x="0" y="1723"/>
                  </a:lnTo>
                  <a:lnTo>
                    <a:pt x="14" y="1723"/>
                  </a:lnTo>
                  <a:close/>
                  <a:moveTo>
                    <a:pt x="14" y="1751"/>
                  </a:moveTo>
                  <a:lnTo>
                    <a:pt x="14" y="1765"/>
                  </a:lnTo>
                  <a:lnTo>
                    <a:pt x="0" y="1765"/>
                  </a:lnTo>
                  <a:lnTo>
                    <a:pt x="0" y="1751"/>
                  </a:lnTo>
                  <a:lnTo>
                    <a:pt x="14" y="1751"/>
                  </a:lnTo>
                  <a:close/>
                  <a:moveTo>
                    <a:pt x="14" y="1779"/>
                  </a:moveTo>
                  <a:lnTo>
                    <a:pt x="14" y="1793"/>
                  </a:lnTo>
                  <a:lnTo>
                    <a:pt x="0" y="1793"/>
                  </a:lnTo>
                  <a:lnTo>
                    <a:pt x="0" y="1779"/>
                  </a:lnTo>
                  <a:lnTo>
                    <a:pt x="14" y="1779"/>
                  </a:lnTo>
                  <a:close/>
                  <a:moveTo>
                    <a:pt x="14" y="1807"/>
                  </a:moveTo>
                  <a:lnTo>
                    <a:pt x="14" y="1821"/>
                  </a:lnTo>
                  <a:lnTo>
                    <a:pt x="0" y="1821"/>
                  </a:lnTo>
                  <a:lnTo>
                    <a:pt x="0" y="1807"/>
                  </a:lnTo>
                  <a:lnTo>
                    <a:pt x="14" y="1807"/>
                  </a:lnTo>
                  <a:close/>
                  <a:moveTo>
                    <a:pt x="14" y="1836"/>
                  </a:moveTo>
                  <a:lnTo>
                    <a:pt x="14" y="1850"/>
                  </a:lnTo>
                  <a:lnTo>
                    <a:pt x="0" y="1850"/>
                  </a:lnTo>
                  <a:lnTo>
                    <a:pt x="0" y="1836"/>
                  </a:lnTo>
                  <a:lnTo>
                    <a:pt x="14" y="1836"/>
                  </a:lnTo>
                  <a:close/>
                  <a:moveTo>
                    <a:pt x="14" y="1864"/>
                  </a:moveTo>
                  <a:lnTo>
                    <a:pt x="14" y="1878"/>
                  </a:lnTo>
                  <a:lnTo>
                    <a:pt x="0" y="1878"/>
                  </a:lnTo>
                  <a:lnTo>
                    <a:pt x="0" y="1864"/>
                  </a:lnTo>
                  <a:lnTo>
                    <a:pt x="14" y="1864"/>
                  </a:lnTo>
                  <a:close/>
                  <a:moveTo>
                    <a:pt x="14" y="1892"/>
                  </a:moveTo>
                  <a:lnTo>
                    <a:pt x="14" y="1906"/>
                  </a:lnTo>
                  <a:lnTo>
                    <a:pt x="0" y="1906"/>
                  </a:lnTo>
                  <a:lnTo>
                    <a:pt x="0" y="1892"/>
                  </a:lnTo>
                  <a:lnTo>
                    <a:pt x="14" y="1892"/>
                  </a:lnTo>
                  <a:close/>
                  <a:moveTo>
                    <a:pt x="14" y="1920"/>
                  </a:moveTo>
                  <a:lnTo>
                    <a:pt x="14" y="1935"/>
                  </a:lnTo>
                  <a:lnTo>
                    <a:pt x="0" y="1935"/>
                  </a:lnTo>
                  <a:lnTo>
                    <a:pt x="0" y="1920"/>
                  </a:lnTo>
                  <a:lnTo>
                    <a:pt x="14" y="1920"/>
                  </a:lnTo>
                  <a:close/>
                  <a:moveTo>
                    <a:pt x="14" y="1948"/>
                  </a:moveTo>
                  <a:lnTo>
                    <a:pt x="14" y="1963"/>
                  </a:lnTo>
                  <a:lnTo>
                    <a:pt x="0" y="1963"/>
                  </a:lnTo>
                  <a:lnTo>
                    <a:pt x="0" y="1948"/>
                  </a:lnTo>
                  <a:lnTo>
                    <a:pt x="14" y="1948"/>
                  </a:lnTo>
                  <a:close/>
                  <a:moveTo>
                    <a:pt x="14" y="1977"/>
                  </a:moveTo>
                  <a:lnTo>
                    <a:pt x="14" y="1991"/>
                  </a:lnTo>
                  <a:lnTo>
                    <a:pt x="0" y="1991"/>
                  </a:lnTo>
                  <a:lnTo>
                    <a:pt x="0" y="1977"/>
                  </a:lnTo>
                  <a:lnTo>
                    <a:pt x="14" y="1977"/>
                  </a:lnTo>
                  <a:close/>
                  <a:moveTo>
                    <a:pt x="14" y="2005"/>
                  </a:moveTo>
                  <a:lnTo>
                    <a:pt x="14" y="2019"/>
                  </a:lnTo>
                  <a:lnTo>
                    <a:pt x="0" y="2019"/>
                  </a:lnTo>
                  <a:lnTo>
                    <a:pt x="0" y="2005"/>
                  </a:lnTo>
                  <a:lnTo>
                    <a:pt x="14" y="2005"/>
                  </a:lnTo>
                  <a:close/>
                  <a:moveTo>
                    <a:pt x="14" y="2033"/>
                  </a:moveTo>
                  <a:lnTo>
                    <a:pt x="14" y="2047"/>
                  </a:lnTo>
                  <a:lnTo>
                    <a:pt x="0" y="2047"/>
                  </a:lnTo>
                  <a:lnTo>
                    <a:pt x="0" y="2033"/>
                  </a:lnTo>
                  <a:lnTo>
                    <a:pt x="14" y="2033"/>
                  </a:lnTo>
                  <a:close/>
                  <a:moveTo>
                    <a:pt x="14" y="2062"/>
                  </a:moveTo>
                  <a:lnTo>
                    <a:pt x="14" y="2076"/>
                  </a:lnTo>
                  <a:lnTo>
                    <a:pt x="0" y="2076"/>
                  </a:lnTo>
                  <a:lnTo>
                    <a:pt x="0" y="2062"/>
                  </a:lnTo>
                  <a:lnTo>
                    <a:pt x="14" y="2062"/>
                  </a:lnTo>
                  <a:close/>
                  <a:moveTo>
                    <a:pt x="14" y="2090"/>
                  </a:moveTo>
                  <a:lnTo>
                    <a:pt x="14" y="2104"/>
                  </a:lnTo>
                  <a:lnTo>
                    <a:pt x="0" y="2104"/>
                  </a:lnTo>
                  <a:lnTo>
                    <a:pt x="0" y="2090"/>
                  </a:lnTo>
                  <a:lnTo>
                    <a:pt x="14" y="2090"/>
                  </a:lnTo>
                  <a:close/>
                  <a:moveTo>
                    <a:pt x="14" y="2118"/>
                  </a:moveTo>
                  <a:lnTo>
                    <a:pt x="14" y="2132"/>
                  </a:lnTo>
                  <a:lnTo>
                    <a:pt x="0" y="2132"/>
                  </a:lnTo>
                  <a:lnTo>
                    <a:pt x="0" y="2118"/>
                  </a:lnTo>
                  <a:lnTo>
                    <a:pt x="14" y="2118"/>
                  </a:lnTo>
                  <a:close/>
                  <a:moveTo>
                    <a:pt x="14" y="2146"/>
                  </a:moveTo>
                  <a:lnTo>
                    <a:pt x="14" y="2160"/>
                  </a:lnTo>
                  <a:lnTo>
                    <a:pt x="0" y="2160"/>
                  </a:lnTo>
                  <a:lnTo>
                    <a:pt x="0" y="2146"/>
                  </a:lnTo>
                  <a:lnTo>
                    <a:pt x="14" y="2146"/>
                  </a:lnTo>
                  <a:close/>
                  <a:moveTo>
                    <a:pt x="14" y="2175"/>
                  </a:moveTo>
                  <a:lnTo>
                    <a:pt x="14" y="2189"/>
                  </a:lnTo>
                  <a:lnTo>
                    <a:pt x="0" y="2189"/>
                  </a:lnTo>
                  <a:lnTo>
                    <a:pt x="0" y="2175"/>
                  </a:lnTo>
                  <a:lnTo>
                    <a:pt x="14" y="2175"/>
                  </a:lnTo>
                  <a:close/>
                  <a:moveTo>
                    <a:pt x="14" y="2203"/>
                  </a:moveTo>
                  <a:lnTo>
                    <a:pt x="14" y="2217"/>
                  </a:lnTo>
                  <a:lnTo>
                    <a:pt x="0" y="2217"/>
                  </a:lnTo>
                  <a:lnTo>
                    <a:pt x="0" y="2203"/>
                  </a:lnTo>
                  <a:lnTo>
                    <a:pt x="14" y="2203"/>
                  </a:lnTo>
                  <a:close/>
                  <a:moveTo>
                    <a:pt x="14" y="2231"/>
                  </a:moveTo>
                  <a:lnTo>
                    <a:pt x="14" y="2245"/>
                  </a:lnTo>
                  <a:lnTo>
                    <a:pt x="0" y="2245"/>
                  </a:lnTo>
                  <a:lnTo>
                    <a:pt x="0" y="2231"/>
                  </a:lnTo>
                  <a:lnTo>
                    <a:pt x="14" y="2231"/>
                  </a:lnTo>
                  <a:close/>
                  <a:moveTo>
                    <a:pt x="14" y="2259"/>
                  </a:moveTo>
                  <a:lnTo>
                    <a:pt x="14" y="2274"/>
                  </a:lnTo>
                  <a:lnTo>
                    <a:pt x="0" y="2274"/>
                  </a:lnTo>
                  <a:lnTo>
                    <a:pt x="0" y="2259"/>
                  </a:lnTo>
                  <a:lnTo>
                    <a:pt x="14" y="2259"/>
                  </a:lnTo>
                  <a:close/>
                  <a:moveTo>
                    <a:pt x="14" y="2287"/>
                  </a:moveTo>
                  <a:lnTo>
                    <a:pt x="14" y="2302"/>
                  </a:lnTo>
                  <a:lnTo>
                    <a:pt x="0" y="2302"/>
                  </a:lnTo>
                  <a:lnTo>
                    <a:pt x="0" y="2287"/>
                  </a:lnTo>
                  <a:lnTo>
                    <a:pt x="14" y="2287"/>
                  </a:lnTo>
                  <a:close/>
                  <a:moveTo>
                    <a:pt x="14" y="2316"/>
                  </a:moveTo>
                  <a:lnTo>
                    <a:pt x="14" y="2330"/>
                  </a:lnTo>
                  <a:lnTo>
                    <a:pt x="0" y="2330"/>
                  </a:lnTo>
                  <a:lnTo>
                    <a:pt x="0" y="2316"/>
                  </a:lnTo>
                  <a:lnTo>
                    <a:pt x="14" y="2316"/>
                  </a:lnTo>
                  <a:close/>
                  <a:moveTo>
                    <a:pt x="14" y="2344"/>
                  </a:moveTo>
                  <a:lnTo>
                    <a:pt x="14" y="2358"/>
                  </a:lnTo>
                  <a:lnTo>
                    <a:pt x="0" y="2358"/>
                  </a:lnTo>
                  <a:lnTo>
                    <a:pt x="0" y="2344"/>
                  </a:lnTo>
                  <a:lnTo>
                    <a:pt x="14" y="2344"/>
                  </a:lnTo>
                  <a:close/>
                  <a:moveTo>
                    <a:pt x="14" y="2372"/>
                  </a:moveTo>
                  <a:lnTo>
                    <a:pt x="14" y="2386"/>
                  </a:lnTo>
                  <a:lnTo>
                    <a:pt x="0" y="2386"/>
                  </a:lnTo>
                  <a:lnTo>
                    <a:pt x="0" y="2372"/>
                  </a:lnTo>
                  <a:lnTo>
                    <a:pt x="14" y="2372"/>
                  </a:lnTo>
                  <a:close/>
                  <a:moveTo>
                    <a:pt x="14" y="2401"/>
                  </a:moveTo>
                  <a:lnTo>
                    <a:pt x="14" y="2415"/>
                  </a:lnTo>
                  <a:lnTo>
                    <a:pt x="0" y="2415"/>
                  </a:lnTo>
                  <a:lnTo>
                    <a:pt x="0" y="2401"/>
                  </a:lnTo>
                  <a:lnTo>
                    <a:pt x="14" y="2401"/>
                  </a:lnTo>
                  <a:close/>
                  <a:moveTo>
                    <a:pt x="14" y="2429"/>
                  </a:moveTo>
                  <a:lnTo>
                    <a:pt x="14" y="2443"/>
                  </a:lnTo>
                  <a:lnTo>
                    <a:pt x="0" y="2443"/>
                  </a:lnTo>
                  <a:lnTo>
                    <a:pt x="0" y="2429"/>
                  </a:lnTo>
                  <a:lnTo>
                    <a:pt x="14" y="2429"/>
                  </a:lnTo>
                  <a:close/>
                  <a:moveTo>
                    <a:pt x="14" y="2457"/>
                  </a:moveTo>
                  <a:lnTo>
                    <a:pt x="14" y="2471"/>
                  </a:lnTo>
                  <a:lnTo>
                    <a:pt x="0" y="2471"/>
                  </a:lnTo>
                  <a:lnTo>
                    <a:pt x="0" y="2457"/>
                  </a:lnTo>
                  <a:lnTo>
                    <a:pt x="14" y="2457"/>
                  </a:lnTo>
                  <a:close/>
                  <a:moveTo>
                    <a:pt x="14" y="2485"/>
                  </a:moveTo>
                  <a:lnTo>
                    <a:pt x="14" y="2489"/>
                  </a:lnTo>
                  <a:lnTo>
                    <a:pt x="0" y="2489"/>
                  </a:lnTo>
                  <a:lnTo>
                    <a:pt x="0" y="2485"/>
                  </a:lnTo>
                  <a:lnTo>
                    <a:pt x="14" y="2485"/>
                  </a:lnTo>
                  <a:close/>
                </a:path>
              </a:pathLst>
            </a:custGeom>
            <a:solidFill>
              <a:srgbClr val="000000"/>
            </a:solidFill>
            <a:ln w="0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6" name="Freeform 51">
              <a:extLst>
                <a:ext uri="{FF2B5EF4-FFF2-40B4-BE49-F238E27FC236}">
                  <a16:creationId xmlns:a16="http://schemas.microsoft.com/office/drawing/2014/main" id="{E8DD65D4-A6F3-479B-9D44-D17200B3B49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945" y="1440"/>
              <a:ext cx="14" cy="2489"/>
            </a:xfrm>
            <a:custGeom>
              <a:avLst/>
              <a:gdLst>
                <a:gd name="T0" fmla="*/ 14 w 14"/>
                <a:gd name="T1" fmla="*/ 42 h 2489"/>
                <a:gd name="T2" fmla="*/ 0 w 14"/>
                <a:gd name="T3" fmla="*/ 56 h 2489"/>
                <a:gd name="T4" fmla="*/ 14 w 14"/>
                <a:gd name="T5" fmla="*/ 113 h 2489"/>
                <a:gd name="T6" fmla="*/ 0 w 14"/>
                <a:gd name="T7" fmla="*/ 155 h 2489"/>
                <a:gd name="T8" fmla="*/ 14 w 14"/>
                <a:gd name="T9" fmla="*/ 169 h 2489"/>
                <a:gd name="T10" fmla="*/ 14 w 14"/>
                <a:gd name="T11" fmla="*/ 240 h 2489"/>
                <a:gd name="T12" fmla="*/ 0 w 14"/>
                <a:gd name="T13" fmla="*/ 254 h 2489"/>
                <a:gd name="T14" fmla="*/ 14 w 14"/>
                <a:gd name="T15" fmla="*/ 310 h 2489"/>
                <a:gd name="T16" fmla="*/ 0 w 14"/>
                <a:gd name="T17" fmla="*/ 353 h 2489"/>
                <a:gd name="T18" fmla="*/ 14 w 14"/>
                <a:gd name="T19" fmla="*/ 367 h 2489"/>
                <a:gd name="T20" fmla="*/ 14 w 14"/>
                <a:gd name="T21" fmla="*/ 437 h 2489"/>
                <a:gd name="T22" fmla="*/ 0 w 14"/>
                <a:gd name="T23" fmla="*/ 452 h 2489"/>
                <a:gd name="T24" fmla="*/ 14 w 14"/>
                <a:gd name="T25" fmla="*/ 508 h 2489"/>
                <a:gd name="T26" fmla="*/ 0 w 14"/>
                <a:gd name="T27" fmla="*/ 550 h 2489"/>
                <a:gd name="T28" fmla="*/ 14 w 14"/>
                <a:gd name="T29" fmla="*/ 565 h 2489"/>
                <a:gd name="T30" fmla="*/ 14 w 14"/>
                <a:gd name="T31" fmla="*/ 635 h 2489"/>
                <a:gd name="T32" fmla="*/ 0 w 14"/>
                <a:gd name="T33" fmla="*/ 649 h 2489"/>
                <a:gd name="T34" fmla="*/ 14 w 14"/>
                <a:gd name="T35" fmla="*/ 706 h 2489"/>
                <a:gd name="T36" fmla="*/ 0 w 14"/>
                <a:gd name="T37" fmla="*/ 748 h 2489"/>
                <a:gd name="T38" fmla="*/ 14 w 14"/>
                <a:gd name="T39" fmla="*/ 762 h 2489"/>
                <a:gd name="T40" fmla="*/ 14 w 14"/>
                <a:gd name="T41" fmla="*/ 833 h 2489"/>
                <a:gd name="T42" fmla="*/ 0 w 14"/>
                <a:gd name="T43" fmla="*/ 847 h 2489"/>
                <a:gd name="T44" fmla="*/ 14 w 14"/>
                <a:gd name="T45" fmla="*/ 903 h 2489"/>
                <a:gd name="T46" fmla="*/ 0 w 14"/>
                <a:gd name="T47" fmla="*/ 946 h 2489"/>
                <a:gd name="T48" fmla="*/ 14 w 14"/>
                <a:gd name="T49" fmla="*/ 960 h 2489"/>
                <a:gd name="T50" fmla="*/ 14 w 14"/>
                <a:gd name="T51" fmla="*/ 1031 h 2489"/>
                <a:gd name="T52" fmla="*/ 0 w 14"/>
                <a:gd name="T53" fmla="*/ 1045 h 2489"/>
                <a:gd name="T54" fmla="*/ 14 w 14"/>
                <a:gd name="T55" fmla="*/ 1101 h 2489"/>
                <a:gd name="T56" fmla="*/ 0 w 14"/>
                <a:gd name="T57" fmla="*/ 1143 h 2489"/>
                <a:gd name="T58" fmla="*/ 14 w 14"/>
                <a:gd name="T59" fmla="*/ 1158 h 2489"/>
                <a:gd name="T60" fmla="*/ 14 w 14"/>
                <a:gd name="T61" fmla="*/ 1228 h 2489"/>
                <a:gd name="T62" fmla="*/ 0 w 14"/>
                <a:gd name="T63" fmla="*/ 1242 h 2489"/>
                <a:gd name="T64" fmla="*/ 14 w 14"/>
                <a:gd name="T65" fmla="*/ 1299 h 2489"/>
                <a:gd name="T66" fmla="*/ 0 w 14"/>
                <a:gd name="T67" fmla="*/ 1341 h 2489"/>
                <a:gd name="T68" fmla="*/ 14 w 14"/>
                <a:gd name="T69" fmla="*/ 1355 h 2489"/>
                <a:gd name="T70" fmla="*/ 14 w 14"/>
                <a:gd name="T71" fmla="*/ 1426 h 2489"/>
                <a:gd name="T72" fmla="*/ 0 w 14"/>
                <a:gd name="T73" fmla="*/ 1440 h 2489"/>
                <a:gd name="T74" fmla="*/ 14 w 14"/>
                <a:gd name="T75" fmla="*/ 1497 h 2489"/>
                <a:gd name="T76" fmla="*/ 0 w 14"/>
                <a:gd name="T77" fmla="*/ 1539 h 2489"/>
                <a:gd name="T78" fmla="*/ 14 w 14"/>
                <a:gd name="T79" fmla="*/ 1553 h 2489"/>
                <a:gd name="T80" fmla="*/ 14 w 14"/>
                <a:gd name="T81" fmla="*/ 1624 h 2489"/>
                <a:gd name="T82" fmla="*/ 0 w 14"/>
                <a:gd name="T83" fmla="*/ 1638 h 2489"/>
                <a:gd name="T84" fmla="*/ 14 w 14"/>
                <a:gd name="T85" fmla="*/ 1694 h 2489"/>
                <a:gd name="T86" fmla="*/ 0 w 14"/>
                <a:gd name="T87" fmla="*/ 1737 h 2489"/>
                <a:gd name="T88" fmla="*/ 14 w 14"/>
                <a:gd name="T89" fmla="*/ 1751 h 2489"/>
                <a:gd name="T90" fmla="*/ 14 w 14"/>
                <a:gd name="T91" fmla="*/ 1821 h 2489"/>
                <a:gd name="T92" fmla="*/ 0 w 14"/>
                <a:gd name="T93" fmla="*/ 1836 h 2489"/>
                <a:gd name="T94" fmla="*/ 14 w 14"/>
                <a:gd name="T95" fmla="*/ 1892 h 2489"/>
                <a:gd name="T96" fmla="*/ 0 w 14"/>
                <a:gd name="T97" fmla="*/ 1935 h 2489"/>
                <a:gd name="T98" fmla="*/ 14 w 14"/>
                <a:gd name="T99" fmla="*/ 1948 h 2489"/>
                <a:gd name="T100" fmla="*/ 14 w 14"/>
                <a:gd name="T101" fmla="*/ 2019 h 2489"/>
                <a:gd name="T102" fmla="*/ 0 w 14"/>
                <a:gd name="T103" fmla="*/ 2033 h 2489"/>
                <a:gd name="T104" fmla="*/ 14 w 14"/>
                <a:gd name="T105" fmla="*/ 2090 h 2489"/>
                <a:gd name="T106" fmla="*/ 0 w 14"/>
                <a:gd name="T107" fmla="*/ 2132 h 2489"/>
                <a:gd name="T108" fmla="*/ 14 w 14"/>
                <a:gd name="T109" fmla="*/ 2146 h 2489"/>
                <a:gd name="T110" fmla="*/ 14 w 14"/>
                <a:gd name="T111" fmla="*/ 2217 h 2489"/>
                <a:gd name="T112" fmla="*/ 0 w 14"/>
                <a:gd name="T113" fmla="*/ 2231 h 2489"/>
                <a:gd name="T114" fmla="*/ 14 w 14"/>
                <a:gd name="T115" fmla="*/ 2287 h 2489"/>
                <a:gd name="T116" fmla="*/ 0 w 14"/>
                <a:gd name="T117" fmla="*/ 2330 h 2489"/>
                <a:gd name="T118" fmla="*/ 14 w 14"/>
                <a:gd name="T119" fmla="*/ 2344 h 2489"/>
                <a:gd name="T120" fmla="*/ 14 w 14"/>
                <a:gd name="T121" fmla="*/ 2415 h 2489"/>
                <a:gd name="T122" fmla="*/ 0 w 14"/>
                <a:gd name="T123" fmla="*/ 2429 h 2489"/>
                <a:gd name="T124" fmla="*/ 14 w 14"/>
                <a:gd name="T125" fmla="*/ 2485 h 24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4" h="2489">
                  <a:moveTo>
                    <a:pt x="14" y="0"/>
                  </a:moveTo>
                  <a:lnTo>
                    <a:pt x="14" y="14"/>
                  </a:lnTo>
                  <a:lnTo>
                    <a:pt x="0" y="14"/>
                  </a:lnTo>
                  <a:lnTo>
                    <a:pt x="0" y="0"/>
                  </a:lnTo>
                  <a:lnTo>
                    <a:pt x="14" y="0"/>
                  </a:lnTo>
                  <a:close/>
                  <a:moveTo>
                    <a:pt x="14" y="28"/>
                  </a:moveTo>
                  <a:lnTo>
                    <a:pt x="14" y="42"/>
                  </a:lnTo>
                  <a:lnTo>
                    <a:pt x="0" y="42"/>
                  </a:lnTo>
                  <a:lnTo>
                    <a:pt x="0" y="28"/>
                  </a:lnTo>
                  <a:lnTo>
                    <a:pt x="14" y="28"/>
                  </a:lnTo>
                  <a:close/>
                  <a:moveTo>
                    <a:pt x="14" y="56"/>
                  </a:moveTo>
                  <a:lnTo>
                    <a:pt x="14" y="70"/>
                  </a:lnTo>
                  <a:lnTo>
                    <a:pt x="0" y="70"/>
                  </a:lnTo>
                  <a:lnTo>
                    <a:pt x="0" y="56"/>
                  </a:lnTo>
                  <a:lnTo>
                    <a:pt x="14" y="56"/>
                  </a:lnTo>
                  <a:close/>
                  <a:moveTo>
                    <a:pt x="14" y="84"/>
                  </a:moveTo>
                  <a:lnTo>
                    <a:pt x="14" y="98"/>
                  </a:lnTo>
                  <a:lnTo>
                    <a:pt x="0" y="98"/>
                  </a:lnTo>
                  <a:lnTo>
                    <a:pt x="0" y="84"/>
                  </a:lnTo>
                  <a:lnTo>
                    <a:pt x="14" y="84"/>
                  </a:lnTo>
                  <a:close/>
                  <a:moveTo>
                    <a:pt x="14" y="113"/>
                  </a:moveTo>
                  <a:lnTo>
                    <a:pt x="14" y="127"/>
                  </a:lnTo>
                  <a:lnTo>
                    <a:pt x="0" y="127"/>
                  </a:lnTo>
                  <a:lnTo>
                    <a:pt x="0" y="113"/>
                  </a:lnTo>
                  <a:lnTo>
                    <a:pt x="14" y="113"/>
                  </a:lnTo>
                  <a:close/>
                  <a:moveTo>
                    <a:pt x="14" y="141"/>
                  </a:moveTo>
                  <a:lnTo>
                    <a:pt x="14" y="155"/>
                  </a:lnTo>
                  <a:lnTo>
                    <a:pt x="0" y="155"/>
                  </a:lnTo>
                  <a:lnTo>
                    <a:pt x="0" y="141"/>
                  </a:lnTo>
                  <a:lnTo>
                    <a:pt x="14" y="141"/>
                  </a:lnTo>
                  <a:close/>
                  <a:moveTo>
                    <a:pt x="14" y="169"/>
                  </a:moveTo>
                  <a:lnTo>
                    <a:pt x="14" y="183"/>
                  </a:lnTo>
                  <a:lnTo>
                    <a:pt x="0" y="183"/>
                  </a:lnTo>
                  <a:lnTo>
                    <a:pt x="0" y="169"/>
                  </a:lnTo>
                  <a:lnTo>
                    <a:pt x="14" y="169"/>
                  </a:lnTo>
                  <a:close/>
                  <a:moveTo>
                    <a:pt x="14" y="197"/>
                  </a:moveTo>
                  <a:lnTo>
                    <a:pt x="14" y="211"/>
                  </a:lnTo>
                  <a:lnTo>
                    <a:pt x="0" y="211"/>
                  </a:lnTo>
                  <a:lnTo>
                    <a:pt x="0" y="197"/>
                  </a:lnTo>
                  <a:lnTo>
                    <a:pt x="14" y="197"/>
                  </a:lnTo>
                  <a:close/>
                  <a:moveTo>
                    <a:pt x="14" y="226"/>
                  </a:moveTo>
                  <a:lnTo>
                    <a:pt x="14" y="240"/>
                  </a:lnTo>
                  <a:lnTo>
                    <a:pt x="0" y="240"/>
                  </a:lnTo>
                  <a:lnTo>
                    <a:pt x="0" y="226"/>
                  </a:lnTo>
                  <a:lnTo>
                    <a:pt x="14" y="226"/>
                  </a:lnTo>
                  <a:close/>
                  <a:moveTo>
                    <a:pt x="14" y="254"/>
                  </a:moveTo>
                  <a:lnTo>
                    <a:pt x="14" y="268"/>
                  </a:lnTo>
                  <a:lnTo>
                    <a:pt x="0" y="268"/>
                  </a:lnTo>
                  <a:lnTo>
                    <a:pt x="0" y="254"/>
                  </a:lnTo>
                  <a:lnTo>
                    <a:pt x="14" y="254"/>
                  </a:lnTo>
                  <a:close/>
                  <a:moveTo>
                    <a:pt x="14" y="282"/>
                  </a:moveTo>
                  <a:lnTo>
                    <a:pt x="14" y="296"/>
                  </a:lnTo>
                  <a:lnTo>
                    <a:pt x="0" y="296"/>
                  </a:lnTo>
                  <a:lnTo>
                    <a:pt x="0" y="282"/>
                  </a:lnTo>
                  <a:lnTo>
                    <a:pt x="14" y="282"/>
                  </a:lnTo>
                  <a:close/>
                  <a:moveTo>
                    <a:pt x="14" y="310"/>
                  </a:moveTo>
                  <a:lnTo>
                    <a:pt x="14" y="325"/>
                  </a:lnTo>
                  <a:lnTo>
                    <a:pt x="0" y="325"/>
                  </a:lnTo>
                  <a:lnTo>
                    <a:pt x="0" y="310"/>
                  </a:lnTo>
                  <a:lnTo>
                    <a:pt x="14" y="310"/>
                  </a:lnTo>
                  <a:close/>
                  <a:moveTo>
                    <a:pt x="14" y="338"/>
                  </a:moveTo>
                  <a:lnTo>
                    <a:pt x="14" y="353"/>
                  </a:lnTo>
                  <a:lnTo>
                    <a:pt x="0" y="353"/>
                  </a:lnTo>
                  <a:lnTo>
                    <a:pt x="0" y="338"/>
                  </a:lnTo>
                  <a:lnTo>
                    <a:pt x="14" y="338"/>
                  </a:lnTo>
                  <a:close/>
                  <a:moveTo>
                    <a:pt x="14" y="367"/>
                  </a:moveTo>
                  <a:lnTo>
                    <a:pt x="14" y="381"/>
                  </a:lnTo>
                  <a:lnTo>
                    <a:pt x="0" y="381"/>
                  </a:lnTo>
                  <a:lnTo>
                    <a:pt x="0" y="367"/>
                  </a:lnTo>
                  <a:lnTo>
                    <a:pt x="14" y="367"/>
                  </a:lnTo>
                  <a:close/>
                  <a:moveTo>
                    <a:pt x="14" y="395"/>
                  </a:moveTo>
                  <a:lnTo>
                    <a:pt x="14" y="409"/>
                  </a:lnTo>
                  <a:lnTo>
                    <a:pt x="0" y="409"/>
                  </a:lnTo>
                  <a:lnTo>
                    <a:pt x="0" y="395"/>
                  </a:lnTo>
                  <a:lnTo>
                    <a:pt x="14" y="395"/>
                  </a:lnTo>
                  <a:close/>
                  <a:moveTo>
                    <a:pt x="14" y="423"/>
                  </a:moveTo>
                  <a:lnTo>
                    <a:pt x="14" y="437"/>
                  </a:lnTo>
                  <a:lnTo>
                    <a:pt x="0" y="437"/>
                  </a:lnTo>
                  <a:lnTo>
                    <a:pt x="0" y="423"/>
                  </a:lnTo>
                  <a:lnTo>
                    <a:pt x="14" y="423"/>
                  </a:lnTo>
                  <a:close/>
                  <a:moveTo>
                    <a:pt x="14" y="452"/>
                  </a:moveTo>
                  <a:lnTo>
                    <a:pt x="14" y="466"/>
                  </a:lnTo>
                  <a:lnTo>
                    <a:pt x="0" y="466"/>
                  </a:lnTo>
                  <a:lnTo>
                    <a:pt x="0" y="452"/>
                  </a:lnTo>
                  <a:lnTo>
                    <a:pt x="14" y="452"/>
                  </a:lnTo>
                  <a:close/>
                  <a:moveTo>
                    <a:pt x="14" y="480"/>
                  </a:moveTo>
                  <a:lnTo>
                    <a:pt x="14" y="494"/>
                  </a:lnTo>
                  <a:lnTo>
                    <a:pt x="0" y="494"/>
                  </a:lnTo>
                  <a:lnTo>
                    <a:pt x="0" y="480"/>
                  </a:lnTo>
                  <a:lnTo>
                    <a:pt x="14" y="480"/>
                  </a:lnTo>
                  <a:close/>
                  <a:moveTo>
                    <a:pt x="14" y="508"/>
                  </a:moveTo>
                  <a:lnTo>
                    <a:pt x="14" y="522"/>
                  </a:lnTo>
                  <a:lnTo>
                    <a:pt x="0" y="522"/>
                  </a:lnTo>
                  <a:lnTo>
                    <a:pt x="0" y="508"/>
                  </a:lnTo>
                  <a:lnTo>
                    <a:pt x="14" y="508"/>
                  </a:lnTo>
                  <a:close/>
                  <a:moveTo>
                    <a:pt x="14" y="536"/>
                  </a:moveTo>
                  <a:lnTo>
                    <a:pt x="14" y="550"/>
                  </a:lnTo>
                  <a:lnTo>
                    <a:pt x="0" y="550"/>
                  </a:lnTo>
                  <a:lnTo>
                    <a:pt x="0" y="536"/>
                  </a:lnTo>
                  <a:lnTo>
                    <a:pt x="14" y="536"/>
                  </a:lnTo>
                  <a:close/>
                  <a:moveTo>
                    <a:pt x="14" y="565"/>
                  </a:moveTo>
                  <a:lnTo>
                    <a:pt x="14" y="579"/>
                  </a:lnTo>
                  <a:lnTo>
                    <a:pt x="0" y="579"/>
                  </a:lnTo>
                  <a:lnTo>
                    <a:pt x="0" y="565"/>
                  </a:lnTo>
                  <a:lnTo>
                    <a:pt x="14" y="565"/>
                  </a:lnTo>
                  <a:close/>
                  <a:moveTo>
                    <a:pt x="14" y="593"/>
                  </a:moveTo>
                  <a:lnTo>
                    <a:pt x="14" y="607"/>
                  </a:lnTo>
                  <a:lnTo>
                    <a:pt x="0" y="607"/>
                  </a:lnTo>
                  <a:lnTo>
                    <a:pt x="0" y="593"/>
                  </a:lnTo>
                  <a:lnTo>
                    <a:pt x="14" y="593"/>
                  </a:lnTo>
                  <a:close/>
                  <a:moveTo>
                    <a:pt x="14" y="621"/>
                  </a:moveTo>
                  <a:lnTo>
                    <a:pt x="14" y="635"/>
                  </a:lnTo>
                  <a:lnTo>
                    <a:pt x="0" y="635"/>
                  </a:lnTo>
                  <a:lnTo>
                    <a:pt x="0" y="621"/>
                  </a:lnTo>
                  <a:lnTo>
                    <a:pt x="14" y="621"/>
                  </a:lnTo>
                  <a:close/>
                  <a:moveTo>
                    <a:pt x="14" y="649"/>
                  </a:moveTo>
                  <a:lnTo>
                    <a:pt x="14" y="664"/>
                  </a:lnTo>
                  <a:lnTo>
                    <a:pt x="0" y="664"/>
                  </a:lnTo>
                  <a:lnTo>
                    <a:pt x="0" y="649"/>
                  </a:lnTo>
                  <a:lnTo>
                    <a:pt x="14" y="649"/>
                  </a:lnTo>
                  <a:close/>
                  <a:moveTo>
                    <a:pt x="14" y="677"/>
                  </a:moveTo>
                  <a:lnTo>
                    <a:pt x="14" y="692"/>
                  </a:lnTo>
                  <a:lnTo>
                    <a:pt x="0" y="692"/>
                  </a:lnTo>
                  <a:lnTo>
                    <a:pt x="0" y="677"/>
                  </a:lnTo>
                  <a:lnTo>
                    <a:pt x="14" y="677"/>
                  </a:lnTo>
                  <a:close/>
                  <a:moveTo>
                    <a:pt x="14" y="706"/>
                  </a:moveTo>
                  <a:lnTo>
                    <a:pt x="14" y="720"/>
                  </a:lnTo>
                  <a:lnTo>
                    <a:pt x="0" y="720"/>
                  </a:lnTo>
                  <a:lnTo>
                    <a:pt x="0" y="706"/>
                  </a:lnTo>
                  <a:lnTo>
                    <a:pt x="14" y="706"/>
                  </a:lnTo>
                  <a:close/>
                  <a:moveTo>
                    <a:pt x="14" y="734"/>
                  </a:moveTo>
                  <a:lnTo>
                    <a:pt x="14" y="748"/>
                  </a:lnTo>
                  <a:lnTo>
                    <a:pt x="0" y="748"/>
                  </a:lnTo>
                  <a:lnTo>
                    <a:pt x="0" y="734"/>
                  </a:lnTo>
                  <a:lnTo>
                    <a:pt x="14" y="734"/>
                  </a:lnTo>
                  <a:close/>
                  <a:moveTo>
                    <a:pt x="14" y="762"/>
                  </a:moveTo>
                  <a:lnTo>
                    <a:pt x="14" y="776"/>
                  </a:lnTo>
                  <a:lnTo>
                    <a:pt x="0" y="776"/>
                  </a:lnTo>
                  <a:lnTo>
                    <a:pt x="0" y="762"/>
                  </a:lnTo>
                  <a:lnTo>
                    <a:pt x="14" y="762"/>
                  </a:lnTo>
                  <a:close/>
                  <a:moveTo>
                    <a:pt x="14" y="791"/>
                  </a:moveTo>
                  <a:lnTo>
                    <a:pt x="14" y="805"/>
                  </a:lnTo>
                  <a:lnTo>
                    <a:pt x="0" y="805"/>
                  </a:lnTo>
                  <a:lnTo>
                    <a:pt x="0" y="791"/>
                  </a:lnTo>
                  <a:lnTo>
                    <a:pt x="14" y="791"/>
                  </a:lnTo>
                  <a:close/>
                  <a:moveTo>
                    <a:pt x="14" y="819"/>
                  </a:moveTo>
                  <a:lnTo>
                    <a:pt x="14" y="833"/>
                  </a:lnTo>
                  <a:lnTo>
                    <a:pt x="0" y="833"/>
                  </a:lnTo>
                  <a:lnTo>
                    <a:pt x="0" y="819"/>
                  </a:lnTo>
                  <a:lnTo>
                    <a:pt x="14" y="819"/>
                  </a:lnTo>
                  <a:close/>
                  <a:moveTo>
                    <a:pt x="14" y="847"/>
                  </a:moveTo>
                  <a:lnTo>
                    <a:pt x="14" y="861"/>
                  </a:lnTo>
                  <a:lnTo>
                    <a:pt x="0" y="861"/>
                  </a:lnTo>
                  <a:lnTo>
                    <a:pt x="0" y="847"/>
                  </a:lnTo>
                  <a:lnTo>
                    <a:pt x="14" y="847"/>
                  </a:lnTo>
                  <a:close/>
                  <a:moveTo>
                    <a:pt x="14" y="875"/>
                  </a:moveTo>
                  <a:lnTo>
                    <a:pt x="14" y="889"/>
                  </a:lnTo>
                  <a:lnTo>
                    <a:pt x="0" y="889"/>
                  </a:lnTo>
                  <a:lnTo>
                    <a:pt x="0" y="875"/>
                  </a:lnTo>
                  <a:lnTo>
                    <a:pt x="14" y="875"/>
                  </a:lnTo>
                  <a:close/>
                  <a:moveTo>
                    <a:pt x="14" y="903"/>
                  </a:moveTo>
                  <a:lnTo>
                    <a:pt x="14" y="918"/>
                  </a:lnTo>
                  <a:lnTo>
                    <a:pt x="0" y="918"/>
                  </a:lnTo>
                  <a:lnTo>
                    <a:pt x="0" y="903"/>
                  </a:lnTo>
                  <a:lnTo>
                    <a:pt x="14" y="903"/>
                  </a:lnTo>
                  <a:close/>
                  <a:moveTo>
                    <a:pt x="14" y="932"/>
                  </a:moveTo>
                  <a:lnTo>
                    <a:pt x="14" y="946"/>
                  </a:lnTo>
                  <a:lnTo>
                    <a:pt x="0" y="946"/>
                  </a:lnTo>
                  <a:lnTo>
                    <a:pt x="0" y="932"/>
                  </a:lnTo>
                  <a:lnTo>
                    <a:pt x="14" y="932"/>
                  </a:lnTo>
                  <a:close/>
                  <a:moveTo>
                    <a:pt x="14" y="960"/>
                  </a:moveTo>
                  <a:lnTo>
                    <a:pt x="14" y="974"/>
                  </a:lnTo>
                  <a:lnTo>
                    <a:pt x="0" y="974"/>
                  </a:lnTo>
                  <a:lnTo>
                    <a:pt x="0" y="960"/>
                  </a:lnTo>
                  <a:lnTo>
                    <a:pt x="14" y="960"/>
                  </a:lnTo>
                  <a:close/>
                  <a:moveTo>
                    <a:pt x="14" y="988"/>
                  </a:moveTo>
                  <a:lnTo>
                    <a:pt x="14" y="1002"/>
                  </a:lnTo>
                  <a:lnTo>
                    <a:pt x="0" y="1002"/>
                  </a:lnTo>
                  <a:lnTo>
                    <a:pt x="0" y="988"/>
                  </a:lnTo>
                  <a:lnTo>
                    <a:pt x="14" y="988"/>
                  </a:lnTo>
                  <a:close/>
                  <a:moveTo>
                    <a:pt x="14" y="1016"/>
                  </a:moveTo>
                  <a:lnTo>
                    <a:pt x="14" y="1031"/>
                  </a:lnTo>
                  <a:lnTo>
                    <a:pt x="0" y="1031"/>
                  </a:lnTo>
                  <a:lnTo>
                    <a:pt x="0" y="1016"/>
                  </a:lnTo>
                  <a:lnTo>
                    <a:pt x="14" y="1016"/>
                  </a:lnTo>
                  <a:close/>
                  <a:moveTo>
                    <a:pt x="14" y="1045"/>
                  </a:moveTo>
                  <a:lnTo>
                    <a:pt x="14" y="1059"/>
                  </a:lnTo>
                  <a:lnTo>
                    <a:pt x="0" y="1059"/>
                  </a:lnTo>
                  <a:lnTo>
                    <a:pt x="0" y="1045"/>
                  </a:lnTo>
                  <a:lnTo>
                    <a:pt x="14" y="1045"/>
                  </a:lnTo>
                  <a:close/>
                  <a:moveTo>
                    <a:pt x="14" y="1073"/>
                  </a:moveTo>
                  <a:lnTo>
                    <a:pt x="14" y="1087"/>
                  </a:lnTo>
                  <a:lnTo>
                    <a:pt x="0" y="1087"/>
                  </a:lnTo>
                  <a:lnTo>
                    <a:pt x="0" y="1073"/>
                  </a:lnTo>
                  <a:lnTo>
                    <a:pt x="14" y="1073"/>
                  </a:lnTo>
                  <a:close/>
                  <a:moveTo>
                    <a:pt x="14" y="1101"/>
                  </a:moveTo>
                  <a:lnTo>
                    <a:pt x="14" y="1115"/>
                  </a:lnTo>
                  <a:lnTo>
                    <a:pt x="0" y="1115"/>
                  </a:lnTo>
                  <a:lnTo>
                    <a:pt x="0" y="1101"/>
                  </a:lnTo>
                  <a:lnTo>
                    <a:pt x="14" y="1101"/>
                  </a:lnTo>
                  <a:close/>
                  <a:moveTo>
                    <a:pt x="14" y="1130"/>
                  </a:moveTo>
                  <a:lnTo>
                    <a:pt x="14" y="1143"/>
                  </a:lnTo>
                  <a:lnTo>
                    <a:pt x="0" y="1143"/>
                  </a:lnTo>
                  <a:lnTo>
                    <a:pt x="0" y="1130"/>
                  </a:lnTo>
                  <a:lnTo>
                    <a:pt x="14" y="1130"/>
                  </a:lnTo>
                  <a:close/>
                  <a:moveTo>
                    <a:pt x="14" y="1158"/>
                  </a:moveTo>
                  <a:lnTo>
                    <a:pt x="14" y="1172"/>
                  </a:lnTo>
                  <a:lnTo>
                    <a:pt x="0" y="1172"/>
                  </a:lnTo>
                  <a:lnTo>
                    <a:pt x="0" y="1158"/>
                  </a:lnTo>
                  <a:lnTo>
                    <a:pt x="14" y="1158"/>
                  </a:lnTo>
                  <a:close/>
                  <a:moveTo>
                    <a:pt x="14" y="1186"/>
                  </a:moveTo>
                  <a:lnTo>
                    <a:pt x="14" y="1200"/>
                  </a:lnTo>
                  <a:lnTo>
                    <a:pt x="0" y="1200"/>
                  </a:lnTo>
                  <a:lnTo>
                    <a:pt x="0" y="1186"/>
                  </a:lnTo>
                  <a:lnTo>
                    <a:pt x="14" y="1186"/>
                  </a:lnTo>
                  <a:close/>
                  <a:moveTo>
                    <a:pt x="14" y="1214"/>
                  </a:moveTo>
                  <a:lnTo>
                    <a:pt x="14" y="1228"/>
                  </a:lnTo>
                  <a:lnTo>
                    <a:pt x="0" y="1228"/>
                  </a:lnTo>
                  <a:lnTo>
                    <a:pt x="0" y="1214"/>
                  </a:lnTo>
                  <a:lnTo>
                    <a:pt x="14" y="1214"/>
                  </a:lnTo>
                  <a:close/>
                  <a:moveTo>
                    <a:pt x="14" y="1242"/>
                  </a:moveTo>
                  <a:lnTo>
                    <a:pt x="14" y="1257"/>
                  </a:lnTo>
                  <a:lnTo>
                    <a:pt x="0" y="1257"/>
                  </a:lnTo>
                  <a:lnTo>
                    <a:pt x="0" y="1242"/>
                  </a:lnTo>
                  <a:lnTo>
                    <a:pt x="14" y="1242"/>
                  </a:lnTo>
                  <a:close/>
                  <a:moveTo>
                    <a:pt x="14" y="1271"/>
                  </a:moveTo>
                  <a:lnTo>
                    <a:pt x="14" y="1285"/>
                  </a:lnTo>
                  <a:lnTo>
                    <a:pt x="0" y="1285"/>
                  </a:lnTo>
                  <a:lnTo>
                    <a:pt x="0" y="1271"/>
                  </a:lnTo>
                  <a:lnTo>
                    <a:pt x="14" y="1271"/>
                  </a:lnTo>
                  <a:close/>
                  <a:moveTo>
                    <a:pt x="14" y="1299"/>
                  </a:moveTo>
                  <a:lnTo>
                    <a:pt x="14" y="1313"/>
                  </a:lnTo>
                  <a:lnTo>
                    <a:pt x="0" y="1313"/>
                  </a:lnTo>
                  <a:lnTo>
                    <a:pt x="0" y="1299"/>
                  </a:lnTo>
                  <a:lnTo>
                    <a:pt x="14" y="1299"/>
                  </a:lnTo>
                  <a:close/>
                  <a:moveTo>
                    <a:pt x="14" y="1327"/>
                  </a:moveTo>
                  <a:lnTo>
                    <a:pt x="14" y="1341"/>
                  </a:lnTo>
                  <a:lnTo>
                    <a:pt x="0" y="1341"/>
                  </a:lnTo>
                  <a:lnTo>
                    <a:pt x="0" y="1327"/>
                  </a:lnTo>
                  <a:lnTo>
                    <a:pt x="14" y="1327"/>
                  </a:lnTo>
                  <a:close/>
                  <a:moveTo>
                    <a:pt x="14" y="1355"/>
                  </a:moveTo>
                  <a:lnTo>
                    <a:pt x="14" y="1370"/>
                  </a:lnTo>
                  <a:lnTo>
                    <a:pt x="0" y="1370"/>
                  </a:lnTo>
                  <a:lnTo>
                    <a:pt x="0" y="1355"/>
                  </a:lnTo>
                  <a:lnTo>
                    <a:pt x="14" y="1355"/>
                  </a:lnTo>
                  <a:close/>
                  <a:moveTo>
                    <a:pt x="14" y="1384"/>
                  </a:moveTo>
                  <a:lnTo>
                    <a:pt x="14" y="1398"/>
                  </a:lnTo>
                  <a:lnTo>
                    <a:pt x="0" y="1398"/>
                  </a:lnTo>
                  <a:lnTo>
                    <a:pt x="0" y="1384"/>
                  </a:lnTo>
                  <a:lnTo>
                    <a:pt x="14" y="1384"/>
                  </a:lnTo>
                  <a:close/>
                  <a:moveTo>
                    <a:pt x="14" y="1412"/>
                  </a:moveTo>
                  <a:lnTo>
                    <a:pt x="14" y="1426"/>
                  </a:lnTo>
                  <a:lnTo>
                    <a:pt x="0" y="1426"/>
                  </a:lnTo>
                  <a:lnTo>
                    <a:pt x="0" y="1412"/>
                  </a:lnTo>
                  <a:lnTo>
                    <a:pt x="14" y="1412"/>
                  </a:lnTo>
                  <a:close/>
                  <a:moveTo>
                    <a:pt x="14" y="1440"/>
                  </a:moveTo>
                  <a:lnTo>
                    <a:pt x="14" y="1454"/>
                  </a:lnTo>
                  <a:lnTo>
                    <a:pt x="0" y="1454"/>
                  </a:lnTo>
                  <a:lnTo>
                    <a:pt x="0" y="1440"/>
                  </a:lnTo>
                  <a:lnTo>
                    <a:pt x="14" y="1440"/>
                  </a:lnTo>
                  <a:close/>
                  <a:moveTo>
                    <a:pt x="14" y="1469"/>
                  </a:moveTo>
                  <a:lnTo>
                    <a:pt x="14" y="1482"/>
                  </a:lnTo>
                  <a:lnTo>
                    <a:pt x="0" y="1482"/>
                  </a:lnTo>
                  <a:lnTo>
                    <a:pt x="0" y="1469"/>
                  </a:lnTo>
                  <a:lnTo>
                    <a:pt x="14" y="1469"/>
                  </a:lnTo>
                  <a:close/>
                  <a:moveTo>
                    <a:pt x="14" y="1497"/>
                  </a:moveTo>
                  <a:lnTo>
                    <a:pt x="14" y="1511"/>
                  </a:lnTo>
                  <a:lnTo>
                    <a:pt x="0" y="1511"/>
                  </a:lnTo>
                  <a:lnTo>
                    <a:pt x="0" y="1497"/>
                  </a:lnTo>
                  <a:lnTo>
                    <a:pt x="14" y="1497"/>
                  </a:lnTo>
                  <a:close/>
                  <a:moveTo>
                    <a:pt x="14" y="1525"/>
                  </a:moveTo>
                  <a:lnTo>
                    <a:pt x="14" y="1539"/>
                  </a:lnTo>
                  <a:lnTo>
                    <a:pt x="0" y="1539"/>
                  </a:lnTo>
                  <a:lnTo>
                    <a:pt x="0" y="1525"/>
                  </a:lnTo>
                  <a:lnTo>
                    <a:pt x="14" y="1525"/>
                  </a:lnTo>
                  <a:close/>
                  <a:moveTo>
                    <a:pt x="14" y="1553"/>
                  </a:moveTo>
                  <a:lnTo>
                    <a:pt x="14" y="1567"/>
                  </a:lnTo>
                  <a:lnTo>
                    <a:pt x="0" y="1567"/>
                  </a:lnTo>
                  <a:lnTo>
                    <a:pt x="0" y="1553"/>
                  </a:lnTo>
                  <a:lnTo>
                    <a:pt x="14" y="1553"/>
                  </a:lnTo>
                  <a:close/>
                  <a:moveTo>
                    <a:pt x="14" y="1581"/>
                  </a:moveTo>
                  <a:lnTo>
                    <a:pt x="14" y="1596"/>
                  </a:lnTo>
                  <a:lnTo>
                    <a:pt x="0" y="1596"/>
                  </a:lnTo>
                  <a:lnTo>
                    <a:pt x="0" y="1581"/>
                  </a:lnTo>
                  <a:lnTo>
                    <a:pt x="14" y="1581"/>
                  </a:lnTo>
                  <a:close/>
                  <a:moveTo>
                    <a:pt x="14" y="1610"/>
                  </a:moveTo>
                  <a:lnTo>
                    <a:pt x="14" y="1624"/>
                  </a:lnTo>
                  <a:lnTo>
                    <a:pt x="0" y="1624"/>
                  </a:lnTo>
                  <a:lnTo>
                    <a:pt x="0" y="1610"/>
                  </a:lnTo>
                  <a:lnTo>
                    <a:pt x="14" y="1610"/>
                  </a:lnTo>
                  <a:close/>
                  <a:moveTo>
                    <a:pt x="14" y="1638"/>
                  </a:moveTo>
                  <a:lnTo>
                    <a:pt x="14" y="1652"/>
                  </a:lnTo>
                  <a:lnTo>
                    <a:pt x="0" y="1652"/>
                  </a:lnTo>
                  <a:lnTo>
                    <a:pt x="0" y="1638"/>
                  </a:lnTo>
                  <a:lnTo>
                    <a:pt x="14" y="1638"/>
                  </a:lnTo>
                  <a:close/>
                  <a:moveTo>
                    <a:pt x="14" y="1666"/>
                  </a:moveTo>
                  <a:lnTo>
                    <a:pt x="14" y="1680"/>
                  </a:lnTo>
                  <a:lnTo>
                    <a:pt x="0" y="1680"/>
                  </a:lnTo>
                  <a:lnTo>
                    <a:pt x="0" y="1666"/>
                  </a:lnTo>
                  <a:lnTo>
                    <a:pt x="14" y="1666"/>
                  </a:lnTo>
                  <a:close/>
                  <a:moveTo>
                    <a:pt x="14" y="1694"/>
                  </a:moveTo>
                  <a:lnTo>
                    <a:pt x="14" y="1708"/>
                  </a:lnTo>
                  <a:lnTo>
                    <a:pt x="0" y="1708"/>
                  </a:lnTo>
                  <a:lnTo>
                    <a:pt x="0" y="1694"/>
                  </a:lnTo>
                  <a:lnTo>
                    <a:pt x="14" y="1694"/>
                  </a:lnTo>
                  <a:close/>
                  <a:moveTo>
                    <a:pt x="14" y="1723"/>
                  </a:moveTo>
                  <a:lnTo>
                    <a:pt x="14" y="1737"/>
                  </a:lnTo>
                  <a:lnTo>
                    <a:pt x="0" y="1737"/>
                  </a:lnTo>
                  <a:lnTo>
                    <a:pt x="0" y="1723"/>
                  </a:lnTo>
                  <a:lnTo>
                    <a:pt x="14" y="1723"/>
                  </a:lnTo>
                  <a:close/>
                  <a:moveTo>
                    <a:pt x="14" y="1751"/>
                  </a:moveTo>
                  <a:lnTo>
                    <a:pt x="14" y="1765"/>
                  </a:lnTo>
                  <a:lnTo>
                    <a:pt x="0" y="1765"/>
                  </a:lnTo>
                  <a:lnTo>
                    <a:pt x="0" y="1751"/>
                  </a:lnTo>
                  <a:lnTo>
                    <a:pt x="14" y="1751"/>
                  </a:lnTo>
                  <a:close/>
                  <a:moveTo>
                    <a:pt x="14" y="1779"/>
                  </a:moveTo>
                  <a:lnTo>
                    <a:pt x="14" y="1793"/>
                  </a:lnTo>
                  <a:lnTo>
                    <a:pt x="0" y="1793"/>
                  </a:lnTo>
                  <a:lnTo>
                    <a:pt x="0" y="1779"/>
                  </a:lnTo>
                  <a:lnTo>
                    <a:pt x="14" y="1779"/>
                  </a:lnTo>
                  <a:close/>
                  <a:moveTo>
                    <a:pt x="14" y="1807"/>
                  </a:moveTo>
                  <a:lnTo>
                    <a:pt x="14" y="1821"/>
                  </a:lnTo>
                  <a:lnTo>
                    <a:pt x="0" y="1821"/>
                  </a:lnTo>
                  <a:lnTo>
                    <a:pt x="0" y="1807"/>
                  </a:lnTo>
                  <a:lnTo>
                    <a:pt x="14" y="1807"/>
                  </a:lnTo>
                  <a:close/>
                  <a:moveTo>
                    <a:pt x="14" y="1836"/>
                  </a:moveTo>
                  <a:lnTo>
                    <a:pt x="14" y="1850"/>
                  </a:lnTo>
                  <a:lnTo>
                    <a:pt x="0" y="1850"/>
                  </a:lnTo>
                  <a:lnTo>
                    <a:pt x="0" y="1836"/>
                  </a:lnTo>
                  <a:lnTo>
                    <a:pt x="14" y="1836"/>
                  </a:lnTo>
                  <a:close/>
                  <a:moveTo>
                    <a:pt x="14" y="1864"/>
                  </a:moveTo>
                  <a:lnTo>
                    <a:pt x="14" y="1878"/>
                  </a:lnTo>
                  <a:lnTo>
                    <a:pt x="0" y="1878"/>
                  </a:lnTo>
                  <a:lnTo>
                    <a:pt x="0" y="1864"/>
                  </a:lnTo>
                  <a:lnTo>
                    <a:pt x="14" y="1864"/>
                  </a:lnTo>
                  <a:close/>
                  <a:moveTo>
                    <a:pt x="14" y="1892"/>
                  </a:moveTo>
                  <a:lnTo>
                    <a:pt x="14" y="1906"/>
                  </a:lnTo>
                  <a:lnTo>
                    <a:pt x="0" y="1906"/>
                  </a:lnTo>
                  <a:lnTo>
                    <a:pt x="0" y="1892"/>
                  </a:lnTo>
                  <a:lnTo>
                    <a:pt x="14" y="1892"/>
                  </a:lnTo>
                  <a:close/>
                  <a:moveTo>
                    <a:pt x="14" y="1920"/>
                  </a:moveTo>
                  <a:lnTo>
                    <a:pt x="14" y="1935"/>
                  </a:lnTo>
                  <a:lnTo>
                    <a:pt x="0" y="1935"/>
                  </a:lnTo>
                  <a:lnTo>
                    <a:pt x="0" y="1920"/>
                  </a:lnTo>
                  <a:lnTo>
                    <a:pt x="14" y="1920"/>
                  </a:lnTo>
                  <a:close/>
                  <a:moveTo>
                    <a:pt x="14" y="1948"/>
                  </a:moveTo>
                  <a:lnTo>
                    <a:pt x="14" y="1963"/>
                  </a:lnTo>
                  <a:lnTo>
                    <a:pt x="0" y="1963"/>
                  </a:lnTo>
                  <a:lnTo>
                    <a:pt x="0" y="1948"/>
                  </a:lnTo>
                  <a:lnTo>
                    <a:pt x="14" y="1948"/>
                  </a:lnTo>
                  <a:close/>
                  <a:moveTo>
                    <a:pt x="14" y="1977"/>
                  </a:moveTo>
                  <a:lnTo>
                    <a:pt x="14" y="1991"/>
                  </a:lnTo>
                  <a:lnTo>
                    <a:pt x="0" y="1991"/>
                  </a:lnTo>
                  <a:lnTo>
                    <a:pt x="0" y="1977"/>
                  </a:lnTo>
                  <a:lnTo>
                    <a:pt x="14" y="1977"/>
                  </a:lnTo>
                  <a:close/>
                  <a:moveTo>
                    <a:pt x="14" y="2005"/>
                  </a:moveTo>
                  <a:lnTo>
                    <a:pt x="14" y="2019"/>
                  </a:lnTo>
                  <a:lnTo>
                    <a:pt x="0" y="2019"/>
                  </a:lnTo>
                  <a:lnTo>
                    <a:pt x="0" y="2005"/>
                  </a:lnTo>
                  <a:lnTo>
                    <a:pt x="14" y="2005"/>
                  </a:lnTo>
                  <a:close/>
                  <a:moveTo>
                    <a:pt x="14" y="2033"/>
                  </a:moveTo>
                  <a:lnTo>
                    <a:pt x="14" y="2047"/>
                  </a:lnTo>
                  <a:lnTo>
                    <a:pt x="0" y="2047"/>
                  </a:lnTo>
                  <a:lnTo>
                    <a:pt x="0" y="2033"/>
                  </a:lnTo>
                  <a:lnTo>
                    <a:pt x="14" y="2033"/>
                  </a:lnTo>
                  <a:close/>
                  <a:moveTo>
                    <a:pt x="14" y="2062"/>
                  </a:moveTo>
                  <a:lnTo>
                    <a:pt x="14" y="2076"/>
                  </a:lnTo>
                  <a:lnTo>
                    <a:pt x="0" y="2076"/>
                  </a:lnTo>
                  <a:lnTo>
                    <a:pt x="0" y="2062"/>
                  </a:lnTo>
                  <a:lnTo>
                    <a:pt x="14" y="2062"/>
                  </a:lnTo>
                  <a:close/>
                  <a:moveTo>
                    <a:pt x="14" y="2090"/>
                  </a:moveTo>
                  <a:lnTo>
                    <a:pt x="14" y="2104"/>
                  </a:lnTo>
                  <a:lnTo>
                    <a:pt x="0" y="2104"/>
                  </a:lnTo>
                  <a:lnTo>
                    <a:pt x="0" y="2090"/>
                  </a:lnTo>
                  <a:lnTo>
                    <a:pt x="14" y="2090"/>
                  </a:lnTo>
                  <a:close/>
                  <a:moveTo>
                    <a:pt x="14" y="2118"/>
                  </a:moveTo>
                  <a:lnTo>
                    <a:pt x="14" y="2132"/>
                  </a:lnTo>
                  <a:lnTo>
                    <a:pt x="0" y="2132"/>
                  </a:lnTo>
                  <a:lnTo>
                    <a:pt x="0" y="2118"/>
                  </a:lnTo>
                  <a:lnTo>
                    <a:pt x="14" y="2118"/>
                  </a:lnTo>
                  <a:close/>
                  <a:moveTo>
                    <a:pt x="14" y="2146"/>
                  </a:moveTo>
                  <a:lnTo>
                    <a:pt x="14" y="2160"/>
                  </a:lnTo>
                  <a:lnTo>
                    <a:pt x="0" y="2160"/>
                  </a:lnTo>
                  <a:lnTo>
                    <a:pt x="0" y="2146"/>
                  </a:lnTo>
                  <a:lnTo>
                    <a:pt x="14" y="2146"/>
                  </a:lnTo>
                  <a:close/>
                  <a:moveTo>
                    <a:pt x="14" y="2175"/>
                  </a:moveTo>
                  <a:lnTo>
                    <a:pt x="14" y="2189"/>
                  </a:lnTo>
                  <a:lnTo>
                    <a:pt x="0" y="2189"/>
                  </a:lnTo>
                  <a:lnTo>
                    <a:pt x="0" y="2175"/>
                  </a:lnTo>
                  <a:lnTo>
                    <a:pt x="14" y="2175"/>
                  </a:lnTo>
                  <a:close/>
                  <a:moveTo>
                    <a:pt x="14" y="2203"/>
                  </a:moveTo>
                  <a:lnTo>
                    <a:pt x="14" y="2217"/>
                  </a:lnTo>
                  <a:lnTo>
                    <a:pt x="0" y="2217"/>
                  </a:lnTo>
                  <a:lnTo>
                    <a:pt x="0" y="2203"/>
                  </a:lnTo>
                  <a:lnTo>
                    <a:pt x="14" y="2203"/>
                  </a:lnTo>
                  <a:close/>
                  <a:moveTo>
                    <a:pt x="14" y="2231"/>
                  </a:moveTo>
                  <a:lnTo>
                    <a:pt x="14" y="2245"/>
                  </a:lnTo>
                  <a:lnTo>
                    <a:pt x="0" y="2245"/>
                  </a:lnTo>
                  <a:lnTo>
                    <a:pt x="0" y="2231"/>
                  </a:lnTo>
                  <a:lnTo>
                    <a:pt x="14" y="2231"/>
                  </a:lnTo>
                  <a:close/>
                  <a:moveTo>
                    <a:pt x="14" y="2259"/>
                  </a:moveTo>
                  <a:lnTo>
                    <a:pt x="14" y="2274"/>
                  </a:lnTo>
                  <a:lnTo>
                    <a:pt x="0" y="2274"/>
                  </a:lnTo>
                  <a:lnTo>
                    <a:pt x="0" y="2259"/>
                  </a:lnTo>
                  <a:lnTo>
                    <a:pt x="14" y="2259"/>
                  </a:lnTo>
                  <a:close/>
                  <a:moveTo>
                    <a:pt x="14" y="2287"/>
                  </a:moveTo>
                  <a:lnTo>
                    <a:pt x="14" y="2302"/>
                  </a:lnTo>
                  <a:lnTo>
                    <a:pt x="0" y="2302"/>
                  </a:lnTo>
                  <a:lnTo>
                    <a:pt x="0" y="2287"/>
                  </a:lnTo>
                  <a:lnTo>
                    <a:pt x="14" y="2287"/>
                  </a:lnTo>
                  <a:close/>
                  <a:moveTo>
                    <a:pt x="14" y="2316"/>
                  </a:moveTo>
                  <a:lnTo>
                    <a:pt x="14" y="2330"/>
                  </a:lnTo>
                  <a:lnTo>
                    <a:pt x="0" y="2330"/>
                  </a:lnTo>
                  <a:lnTo>
                    <a:pt x="0" y="2316"/>
                  </a:lnTo>
                  <a:lnTo>
                    <a:pt x="14" y="2316"/>
                  </a:lnTo>
                  <a:close/>
                  <a:moveTo>
                    <a:pt x="14" y="2344"/>
                  </a:moveTo>
                  <a:lnTo>
                    <a:pt x="14" y="2358"/>
                  </a:lnTo>
                  <a:lnTo>
                    <a:pt x="0" y="2358"/>
                  </a:lnTo>
                  <a:lnTo>
                    <a:pt x="0" y="2344"/>
                  </a:lnTo>
                  <a:lnTo>
                    <a:pt x="14" y="2344"/>
                  </a:lnTo>
                  <a:close/>
                  <a:moveTo>
                    <a:pt x="14" y="2372"/>
                  </a:moveTo>
                  <a:lnTo>
                    <a:pt x="14" y="2386"/>
                  </a:lnTo>
                  <a:lnTo>
                    <a:pt x="0" y="2386"/>
                  </a:lnTo>
                  <a:lnTo>
                    <a:pt x="0" y="2372"/>
                  </a:lnTo>
                  <a:lnTo>
                    <a:pt x="14" y="2372"/>
                  </a:lnTo>
                  <a:close/>
                  <a:moveTo>
                    <a:pt x="14" y="2401"/>
                  </a:moveTo>
                  <a:lnTo>
                    <a:pt x="14" y="2415"/>
                  </a:lnTo>
                  <a:lnTo>
                    <a:pt x="0" y="2415"/>
                  </a:lnTo>
                  <a:lnTo>
                    <a:pt x="0" y="2401"/>
                  </a:lnTo>
                  <a:lnTo>
                    <a:pt x="14" y="2401"/>
                  </a:lnTo>
                  <a:close/>
                  <a:moveTo>
                    <a:pt x="14" y="2429"/>
                  </a:moveTo>
                  <a:lnTo>
                    <a:pt x="14" y="2443"/>
                  </a:lnTo>
                  <a:lnTo>
                    <a:pt x="0" y="2443"/>
                  </a:lnTo>
                  <a:lnTo>
                    <a:pt x="0" y="2429"/>
                  </a:lnTo>
                  <a:lnTo>
                    <a:pt x="14" y="2429"/>
                  </a:lnTo>
                  <a:close/>
                  <a:moveTo>
                    <a:pt x="14" y="2457"/>
                  </a:moveTo>
                  <a:lnTo>
                    <a:pt x="14" y="2471"/>
                  </a:lnTo>
                  <a:lnTo>
                    <a:pt x="0" y="2471"/>
                  </a:lnTo>
                  <a:lnTo>
                    <a:pt x="0" y="2457"/>
                  </a:lnTo>
                  <a:lnTo>
                    <a:pt x="14" y="2457"/>
                  </a:lnTo>
                  <a:close/>
                  <a:moveTo>
                    <a:pt x="14" y="2485"/>
                  </a:moveTo>
                  <a:lnTo>
                    <a:pt x="14" y="2489"/>
                  </a:lnTo>
                  <a:lnTo>
                    <a:pt x="0" y="2489"/>
                  </a:lnTo>
                  <a:lnTo>
                    <a:pt x="0" y="2485"/>
                  </a:lnTo>
                  <a:lnTo>
                    <a:pt x="14" y="2485"/>
                  </a:lnTo>
                  <a:close/>
                </a:path>
              </a:pathLst>
            </a:custGeom>
            <a:solidFill>
              <a:srgbClr val="000000"/>
            </a:solidFill>
            <a:ln w="0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7" name="Rectangle 52">
              <a:extLst>
                <a:ext uri="{FF2B5EF4-FFF2-40B4-BE49-F238E27FC236}">
                  <a16:creationId xmlns:a16="http://schemas.microsoft.com/office/drawing/2014/main" id="{D95A26ED-CB7F-44A1-A91A-C49B115109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15" y="3079"/>
              <a:ext cx="588" cy="2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21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or  r8, </a:t>
              </a:r>
              <a:endParaRPr kumimoji="0" lang="zh-CN" altLang="zh-CN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58" name="Rectangle 53">
              <a:extLst>
                <a:ext uri="{FF2B5EF4-FFF2-40B4-BE49-F238E27FC236}">
                  <a16:creationId xmlns:a16="http://schemas.microsoft.com/office/drawing/2014/main" id="{F2F9FA81-DC18-4BE1-AD75-191492734E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02" y="3079"/>
              <a:ext cx="233" cy="2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2100" b="0" i="0" u="none" strike="noStrike" cap="none" normalizeH="0" baseline="0">
                  <a:ln>
                    <a:noFill/>
                  </a:ln>
                  <a:solidFill>
                    <a:srgbClr val="009900"/>
                  </a:solidFill>
                  <a:effectLst/>
                  <a:latin typeface="Arial" panose="020B0604020202020204" pitchFamily="34" charset="0"/>
                </a:rPr>
                <a:t>r1</a:t>
              </a:r>
              <a:endParaRPr kumimoji="0" lang="zh-CN" altLang="zh-CN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59" name="Rectangle 54">
              <a:extLst>
                <a:ext uri="{FF2B5EF4-FFF2-40B4-BE49-F238E27FC236}">
                  <a16:creationId xmlns:a16="http://schemas.microsoft.com/office/drawing/2014/main" id="{8E716012-BE4D-4A5B-8863-A3377DB6EB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56" y="3079"/>
              <a:ext cx="333" cy="2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21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, r9</a:t>
              </a:r>
              <a:endParaRPr kumimoji="0" lang="zh-CN" altLang="zh-CN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60" name="Freeform 55">
              <a:extLst>
                <a:ext uri="{FF2B5EF4-FFF2-40B4-BE49-F238E27FC236}">
                  <a16:creationId xmlns:a16="http://schemas.microsoft.com/office/drawing/2014/main" id="{8211C9A5-54BE-46FA-B1AE-4B6C9668C13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99" y="1667"/>
              <a:ext cx="47" cy="2161"/>
            </a:xfrm>
            <a:custGeom>
              <a:avLst/>
              <a:gdLst>
                <a:gd name="T0" fmla="*/ 32 w 47"/>
                <a:gd name="T1" fmla="*/ 0 h 2161"/>
                <a:gd name="T2" fmla="*/ 32 w 47"/>
                <a:gd name="T3" fmla="*/ 2121 h 2161"/>
                <a:gd name="T4" fmla="*/ 16 w 47"/>
                <a:gd name="T5" fmla="*/ 2121 h 2161"/>
                <a:gd name="T6" fmla="*/ 16 w 47"/>
                <a:gd name="T7" fmla="*/ 0 h 2161"/>
                <a:gd name="T8" fmla="*/ 32 w 47"/>
                <a:gd name="T9" fmla="*/ 0 h 2161"/>
                <a:gd name="T10" fmla="*/ 47 w 47"/>
                <a:gd name="T11" fmla="*/ 2113 h 2161"/>
                <a:gd name="T12" fmla="*/ 24 w 47"/>
                <a:gd name="T13" fmla="*/ 2161 h 2161"/>
                <a:gd name="T14" fmla="*/ 0 w 47"/>
                <a:gd name="T15" fmla="*/ 2113 h 2161"/>
                <a:gd name="T16" fmla="*/ 47 w 47"/>
                <a:gd name="T17" fmla="*/ 2113 h 21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7" h="2161">
                  <a:moveTo>
                    <a:pt x="32" y="0"/>
                  </a:moveTo>
                  <a:lnTo>
                    <a:pt x="32" y="2121"/>
                  </a:lnTo>
                  <a:lnTo>
                    <a:pt x="16" y="2121"/>
                  </a:lnTo>
                  <a:lnTo>
                    <a:pt x="16" y="0"/>
                  </a:lnTo>
                  <a:lnTo>
                    <a:pt x="32" y="0"/>
                  </a:lnTo>
                  <a:close/>
                  <a:moveTo>
                    <a:pt x="47" y="2113"/>
                  </a:moveTo>
                  <a:lnTo>
                    <a:pt x="24" y="2161"/>
                  </a:lnTo>
                  <a:lnTo>
                    <a:pt x="0" y="2113"/>
                  </a:lnTo>
                  <a:lnTo>
                    <a:pt x="47" y="2113"/>
                  </a:lnTo>
                  <a:close/>
                </a:path>
              </a:pathLst>
            </a:custGeom>
            <a:solidFill>
              <a:srgbClr val="000000"/>
            </a:solidFill>
            <a:ln w="0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1" name="Freeform 56">
              <a:extLst>
                <a:ext uri="{FF2B5EF4-FFF2-40B4-BE49-F238E27FC236}">
                  <a16:creationId xmlns:a16="http://schemas.microsoft.com/office/drawing/2014/main" id="{48764EFB-9D0F-42DF-B19C-36E0072C81A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2" y="1583"/>
              <a:ext cx="185" cy="423"/>
            </a:xfrm>
            <a:custGeom>
              <a:avLst/>
              <a:gdLst>
                <a:gd name="T0" fmla="*/ 0 w 185"/>
                <a:gd name="T1" fmla="*/ 282 h 423"/>
                <a:gd name="T2" fmla="*/ 62 w 185"/>
                <a:gd name="T3" fmla="*/ 211 h 423"/>
                <a:gd name="T4" fmla="*/ 0 w 185"/>
                <a:gd name="T5" fmla="*/ 141 h 423"/>
                <a:gd name="T6" fmla="*/ 0 w 185"/>
                <a:gd name="T7" fmla="*/ 0 h 423"/>
                <a:gd name="T8" fmla="*/ 185 w 185"/>
                <a:gd name="T9" fmla="*/ 141 h 423"/>
                <a:gd name="T10" fmla="*/ 185 w 185"/>
                <a:gd name="T11" fmla="*/ 282 h 423"/>
                <a:gd name="T12" fmla="*/ 0 w 185"/>
                <a:gd name="T13" fmla="*/ 423 h 423"/>
                <a:gd name="T14" fmla="*/ 0 w 185"/>
                <a:gd name="T15" fmla="*/ 282 h 4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85" h="423">
                  <a:moveTo>
                    <a:pt x="0" y="282"/>
                  </a:moveTo>
                  <a:lnTo>
                    <a:pt x="62" y="211"/>
                  </a:lnTo>
                  <a:lnTo>
                    <a:pt x="0" y="141"/>
                  </a:lnTo>
                  <a:lnTo>
                    <a:pt x="0" y="0"/>
                  </a:lnTo>
                  <a:lnTo>
                    <a:pt x="185" y="141"/>
                  </a:lnTo>
                  <a:lnTo>
                    <a:pt x="185" y="282"/>
                  </a:lnTo>
                  <a:lnTo>
                    <a:pt x="0" y="423"/>
                  </a:lnTo>
                  <a:lnTo>
                    <a:pt x="0" y="282"/>
                  </a:lnTo>
                </a:path>
              </a:pathLst>
            </a:custGeom>
            <a:noFill/>
            <a:ln w="222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2" name="Rectangle 57">
              <a:extLst>
                <a:ext uri="{FF2B5EF4-FFF2-40B4-BE49-F238E27FC236}">
                  <a16:creationId xmlns:a16="http://schemas.microsoft.com/office/drawing/2014/main" id="{E6BA844E-5200-4627-9243-36701A6244D7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2797" y="1731"/>
              <a:ext cx="216" cy="12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1300" b="1" i="0" u="none" strike="noStrike" cap="none" normalizeH="0" baseline="0" dirty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ALU</a:t>
              </a:r>
              <a:endParaRPr kumimoji="0" lang="zh-CN" altLang="zh-CN" sz="13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63" name="Rectangle 58">
              <a:extLst>
                <a:ext uri="{FF2B5EF4-FFF2-40B4-BE49-F238E27FC236}">
                  <a16:creationId xmlns:a16="http://schemas.microsoft.com/office/drawing/2014/main" id="{3594F610-AD40-4502-93CE-6A3A23DD49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30" y="1701"/>
              <a:ext cx="125" cy="13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1400" b="1" i="0" u="none" strike="noStrike" cap="none" normalizeH="0" baseline="0" dirty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I</a:t>
              </a:r>
              <a:r>
                <a:rPr kumimoji="0" lang="en-US" altLang="zh-CN" sz="1400" b="1" i="0" u="none" strike="noStrike" cap="none" normalizeH="0" baseline="0" dirty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M</a:t>
              </a:r>
              <a:endParaRPr kumimoji="0" lang="zh-CN" altLang="zh-CN" sz="1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64" name="Freeform 59">
              <a:extLst>
                <a:ext uri="{FF2B5EF4-FFF2-40B4-BE49-F238E27FC236}">
                  <a16:creationId xmlns:a16="http://schemas.microsoft.com/office/drawing/2014/main" id="{CF670647-B4EB-4968-ACAD-2FBF6228768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7" y="1667"/>
              <a:ext cx="147" cy="254"/>
            </a:xfrm>
            <a:custGeom>
              <a:avLst/>
              <a:gdLst>
                <a:gd name="T0" fmla="*/ 147 w 147"/>
                <a:gd name="T1" fmla="*/ 0 h 254"/>
                <a:gd name="T2" fmla="*/ 0 w 147"/>
                <a:gd name="T3" fmla="*/ 0 h 254"/>
                <a:gd name="T4" fmla="*/ 0 w 147"/>
                <a:gd name="T5" fmla="*/ 254 h 254"/>
                <a:gd name="T6" fmla="*/ 147 w 147"/>
                <a:gd name="T7" fmla="*/ 254 h 2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47" h="254">
                  <a:moveTo>
                    <a:pt x="147" y="0"/>
                  </a:moveTo>
                  <a:lnTo>
                    <a:pt x="0" y="0"/>
                  </a:lnTo>
                  <a:lnTo>
                    <a:pt x="0" y="254"/>
                  </a:lnTo>
                  <a:lnTo>
                    <a:pt x="147" y="254"/>
                  </a:lnTo>
                </a:path>
              </a:pathLst>
            </a:custGeom>
            <a:noFill/>
            <a:ln w="222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5" name="Freeform 60">
              <a:extLst>
                <a:ext uri="{FF2B5EF4-FFF2-40B4-BE49-F238E27FC236}">
                  <a16:creationId xmlns:a16="http://schemas.microsoft.com/office/drawing/2014/main" id="{7EF07E68-4176-4F86-9442-C7FAEBD4165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5" y="1667"/>
              <a:ext cx="147" cy="254"/>
            </a:xfrm>
            <a:custGeom>
              <a:avLst/>
              <a:gdLst>
                <a:gd name="T0" fmla="*/ 0 w 147"/>
                <a:gd name="T1" fmla="*/ 0 h 254"/>
                <a:gd name="T2" fmla="*/ 147 w 147"/>
                <a:gd name="T3" fmla="*/ 0 h 254"/>
                <a:gd name="T4" fmla="*/ 147 w 147"/>
                <a:gd name="T5" fmla="*/ 254 h 254"/>
                <a:gd name="T6" fmla="*/ 0 w 147"/>
                <a:gd name="T7" fmla="*/ 254 h 2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47" h="254">
                  <a:moveTo>
                    <a:pt x="0" y="0"/>
                  </a:moveTo>
                  <a:lnTo>
                    <a:pt x="147" y="0"/>
                  </a:lnTo>
                  <a:lnTo>
                    <a:pt x="147" y="254"/>
                  </a:lnTo>
                  <a:lnTo>
                    <a:pt x="0" y="254"/>
                  </a:lnTo>
                </a:path>
              </a:pathLst>
            </a:custGeom>
            <a:noFill/>
            <a:ln w="222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6" name="Rectangle 61">
              <a:extLst>
                <a:ext uri="{FF2B5EF4-FFF2-40B4-BE49-F238E27FC236}">
                  <a16:creationId xmlns:a16="http://schemas.microsoft.com/office/drawing/2014/main" id="{B0F9EAEE-5FE1-476F-B6CC-D96E0029B6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13" y="1707"/>
              <a:ext cx="265" cy="15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1400" b="1" i="0" u="none" strike="noStrike" cap="none" normalizeH="0" baseline="0" dirty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Reg</a:t>
              </a:r>
              <a:endParaRPr kumimoji="0" lang="zh-CN" altLang="zh-CN" sz="1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67" name="Freeform 62">
              <a:extLst>
                <a:ext uri="{FF2B5EF4-FFF2-40B4-BE49-F238E27FC236}">
                  <a16:creationId xmlns:a16="http://schemas.microsoft.com/office/drawing/2014/main" id="{6227B566-4C88-45B7-83A8-FDDA7F738F0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9" y="1667"/>
              <a:ext cx="132" cy="254"/>
            </a:xfrm>
            <a:custGeom>
              <a:avLst/>
              <a:gdLst>
                <a:gd name="T0" fmla="*/ 132 w 132"/>
                <a:gd name="T1" fmla="*/ 0 h 254"/>
                <a:gd name="T2" fmla="*/ 0 w 132"/>
                <a:gd name="T3" fmla="*/ 0 h 254"/>
                <a:gd name="T4" fmla="*/ 0 w 132"/>
                <a:gd name="T5" fmla="*/ 254 h 254"/>
                <a:gd name="T6" fmla="*/ 132 w 132"/>
                <a:gd name="T7" fmla="*/ 254 h 2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2" h="254">
                  <a:moveTo>
                    <a:pt x="132" y="0"/>
                  </a:moveTo>
                  <a:lnTo>
                    <a:pt x="0" y="0"/>
                  </a:lnTo>
                  <a:lnTo>
                    <a:pt x="0" y="254"/>
                  </a:lnTo>
                  <a:lnTo>
                    <a:pt x="132" y="254"/>
                  </a:lnTo>
                </a:path>
              </a:pathLst>
            </a:custGeom>
            <a:noFill/>
            <a:ln w="222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8" name="Freeform 63">
              <a:extLst>
                <a:ext uri="{FF2B5EF4-FFF2-40B4-BE49-F238E27FC236}">
                  <a16:creationId xmlns:a16="http://schemas.microsoft.com/office/drawing/2014/main" id="{68EA6DA6-BFCC-4622-A708-9AC68178DF4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1" y="1667"/>
              <a:ext cx="132" cy="254"/>
            </a:xfrm>
            <a:custGeom>
              <a:avLst/>
              <a:gdLst>
                <a:gd name="T0" fmla="*/ 0 w 132"/>
                <a:gd name="T1" fmla="*/ 0 h 254"/>
                <a:gd name="T2" fmla="*/ 132 w 132"/>
                <a:gd name="T3" fmla="*/ 0 h 254"/>
                <a:gd name="T4" fmla="*/ 132 w 132"/>
                <a:gd name="T5" fmla="*/ 254 h 254"/>
                <a:gd name="T6" fmla="*/ 0 w 132"/>
                <a:gd name="T7" fmla="*/ 254 h 2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2" h="254">
                  <a:moveTo>
                    <a:pt x="0" y="0"/>
                  </a:moveTo>
                  <a:lnTo>
                    <a:pt x="132" y="0"/>
                  </a:lnTo>
                  <a:lnTo>
                    <a:pt x="132" y="254"/>
                  </a:lnTo>
                  <a:lnTo>
                    <a:pt x="0" y="254"/>
                  </a:lnTo>
                </a:path>
              </a:pathLst>
            </a:custGeom>
            <a:noFill/>
            <a:ln w="222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9" name="Line 64">
              <a:extLst>
                <a:ext uri="{FF2B5EF4-FFF2-40B4-BE49-F238E27FC236}">
                  <a16:creationId xmlns:a16="http://schemas.microsoft.com/office/drawing/2014/main" id="{54A750B7-651A-44BE-AFB9-5ED88BC16D6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278" y="1794"/>
              <a:ext cx="101" cy="0"/>
            </a:xfrm>
            <a:prstGeom prst="line">
              <a:avLst/>
            </a:prstGeom>
            <a:noFill/>
            <a:ln w="22225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0" name="Freeform 65">
              <a:extLst>
                <a:ext uri="{FF2B5EF4-FFF2-40B4-BE49-F238E27FC236}">
                  <a16:creationId xmlns:a16="http://schemas.microsoft.com/office/drawing/2014/main" id="{D56D9184-DD0D-4187-A881-9B21E13B741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7" y="1710"/>
              <a:ext cx="41" cy="84"/>
            </a:xfrm>
            <a:custGeom>
              <a:avLst/>
              <a:gdLst>
                <a:gd name="T0" fmla="*/ 0 w 41"/>
                <a:gd name="T1" fmla="*/ 84 h 84"/>
                <a:gd name="T2" fmla="*/ 0 w 41"/>
                <a:gd name="T3" fmla="*/ 0 h 84"/>
                <a:gd name="T4" fmla="*/ 41 w 41"/>
                <a:gd name="T5" fmla="*/ 0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1" h="84">
                  <a:moveTo>
                    <a:pt x="0" y="84"/>
                  </a:moveTo>
                  <a:lnTo>
                    <a:pt x="0" y="0"/>
                  </a:lnTo>
                  <a:lnTo>
                    <a:pt x="41" y="0"/>
                  </a:lnTo>
                </a:path>
              </a:pathLst>
            </a:custGeom>
            <a:noFill/>
            <a:ln w="222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1" name="Line 66">
              <a:extLst>
                <a:ext uri="{FF2B5EF4-FFF2-40B4-BE49-F238E27FC236}">
                  <a16:creationId xmlns:a16="http://schemas.microsoft.com/office/drawing/2014/main" id="{DF32C54A-A7E9-4EDE-95B8-5B7D5557562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644" y="1710"/>
              <a:ext cx="137" cy="0"/>
            </a:xfrm>
            <a:prstGeom prst="line">
              <a:avLst/>
            </a:prstGeom>
            <a:noFill/>
            <a:ln w="22225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2" name="Rectangle 67">
              <a:extLst>
                <a:ext uri="{FF2B5EF4-FFF2-40B4-BE49-F238E27FC236}">
                  <a16:creationId xmlns:a16="http://schemas.microsoft.com/office/drawing/2014/main" id="{49FB299E-F4D4-4B6B-AC66-E41E280C1D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34" y="1701"/>
              <a:ext cx="228" cy="1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1400" b="1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DM</a:t>
              </a:r>
              <a:endParaRPr kumimoji="0" lang="zh-CN" altLang="zh-CN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73" name="Freeform 68">
              <a:extLst>
                <a:ext uri="{FF2B5EF4-FFF2-40B4-BE49-F238E27FC236}">
                  <a16:creationId xmlns:a16="http://schemas.microsoft.com/office/drawing/2014/main" id="{EC85C70B-4FB7-4560-832A-9BEA6755824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1" y="1667"/>
              <a:ext cx="142" cy="254"/>
            </a:xfrm>
            <a:custGeom>
              <a:avLst/>
              <a:gdLst>
                <a:gd name="T0" fmla="*/ 142 w 142"/>
                <a:gd name="T1" fmla="*/ 0 h 254"/>
                <a:gd name="T2" fmla="*/ 0 w 142"/>
                <a:gd name="T3" fmla="*/ 0 h 254"/>
                <a:gd name="T4" fmla="*/ 0 w 142"/>
                <a:gd name="T5" fmla="*/ 254 h 254"/>
                <a:gd name="T6" fmla="*/ 142 w 142"/>
                <a:gd name="T7" fmla="*/ 254 h 2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42" h="254">
                  <a:moveTo>
                    <a:pt x="142" y="0"/>
                  </a:moveTo>
                  <a:lnTo>
                    <a:pt x="0" y="0"/>
                  </a:lnTo>
                  <a:lnTo>
                    <a:pt x="0" y="254"/>
                  </a:lnTo>
                  <a:lnTo>
                    <a:pt x="142" y="254"/>
                  </a:lnTo>
                </a:path>
              </a:pathLst>
            </a:custGeom>
            <a:noFill/>
            <a:ln w="222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4" name="Freeform 69">
              <a:extLst>
                <a:ext uri="{FF2B5EF4-FFF2-40B4-BE49-F238E27FC236}">
                  <a16:creationId xmlns:a16="http://schemas.microsoft.com/office/drawing/2014/main" id="{7E58CFD8-612A-4F73-B2CE-866DAA3CC66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8" y="1667"/>
              <a:ext cx="148" cy="254"/>
            </a:xfrm>
            <a:custGeom>
              <a:avLst/>
              <a:gdLst>
                <a:gd name="T0" fmla="*/ 0 w 148"/>
                <a:gd name="T1" fmla="*/ 0 h 254"/>
                <a:gd name="T2" fmla="*/ 148 w 148"/>
                <a:gd name="T3" fmla="*/ 0 h 254"/>
                <a:gd name="T4" fmla="*/ 148 w 148"/>
                <a:gd name="T5" fmla="*/ 254 h 254"/>
                <a:gd name="T6" fmla="*/ 0 w 148"/>
                <a:gd name="T7" fmla="*/ 254 h 2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48" h="254">
                  <a:moveTo>
                    <a:pt x="0" y="0"/>
                  </a:moveTo>
                  <a:lnTo>
                    <a:pt x="148" y="0"/>
                  </a:lnTo>
                  <a:lnTo>
                    <a:pt x="148" y="254"/>
                  </a:lnTo>
                  <a:lnTo>
                    <a:pt x="0" y="254"/>
                  </a:lnTo>
                </a:path>
              </a:pathLst>
            </a:custGeom>
            <a:noFill/>
            <a:ln w="222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5" name="Rectangle 70">
              <a:extLst>
                <a:ext uri="{FF2B5EF4-FFF2-40B4-BE49-F238E27FC236}">
                  <a16:creationId xmlns:a16="http://schemas.microsoft.com/office/drawing/2014/main" id="{94694165-E2C7-49A8-8014-98E2C3C8F8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68" y="1701"/>
              <a:ext cx="265" cy="1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1400" b="1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Reg</a:t>
              </a:r>
              <a:endParaRPr kumimoji="0" lang="zh-CN" altLang="zh-CN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76" name="Freeform 71">
              <a:extLst>
                <a:ext uri="{FF2B5EF4-FFF2-40B4-BE49-F238E27FC236}">
                  <a16:creationId xmlns:a16="http://schemas.microsoft.com/office/drawing/2014/main" id="{9F0B23EC-12C1-4A70-948E-B606453B9F1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4" y="1667"/>
              <a:ext cx="121" cy="254"/>
            </a:xfrm>
            <a:custGeom>
              <a:avLst/>
              <a:gdLst>
                <a:gd name="T0" fmla="*/ 121 w 121"/>
                <a:gd name="T1" fmla="*/ 0 h 254"/>
                <a:gd name="T2" fmla="*/ 0 w 121"/>
                <a:gd name="T3" fmla="*/ 0 h 254"/>
                <a:gd name="T4" fmla="*/ 0 w 121"/>
                <a:gd name="T5" fmla="*/ 254 h 254"/>
                <a:gd name="T6" fmla="*/ 121 w 121"/>
                <a:gd name="T7" fmla="*/ 254 h 2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1" h="254">
                  <a:moveTo>
                    <a:pt x="121" y="0"/>
                  </a:moveTo>
                  <a:lnTo>
                    <a:pt x="0" y="0"/>
                  </a:lnTo>
                  <a:lnTo>
                    <a:pt x="0" y="254"/>
                  </a:lnTo>
                  <a:lnTo>
                    <a:pt x="121" y="254"/>
                  </a:lnTo>
                </a:path>
              </a:pathLst>
            </a:custGeom>
            <a:noFill/>
            <a:ln w="222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7" name="Freeform 72">
              <a:extLst>
                <a:ext uri="{FF2B5EF4-FFF2-40B4-BE49-F238E27FC236}">
                  <a16:creationId xmlns:a16="http://schemas.microsoft.com/office/drawing/2014/main" id="{2C9CA3ED-BC63-4851-8A46-AF8B5384E25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5" y="1667"/>
              <a:ext cx="127" cy="254"/>
            </a:xfrm>
            <a:custGeom>
              <a:avLst/>
              <a:gdLst>
                <a:gd name="T0" fmla="*/ 0 w 127"/>
                <a:gd name="T1" fmla="*/ 0 h 254"/>
                <a:gd name="T2" fmla="*/ 127 w 127"/>
                <a:gd name="T3" fmla="*/ 0 h 254"/>
                <a:gd name="T4" fmla="*/ 127 w 127"/>
                <a:gd name="T5" fmla="*/ 254 h 254"/>
                <a:gd name="T6" fmla="*/ 0 w 127"/>
                <a:gd name="T7" fmla="*/ 254 h 2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7" h="254">
                  <a:moveTo>
                    <a:pt x="0" y="0"/>
                  </a:moveTo>
                  <a:lnTo>
                    <a:pt x="127" y="0"/>
                  </a:lnTo>
                  <a:lnTo>
                    <a:pt x="127" y="254"/>
                  </a:lnTo>
                  <a:lnTo>
                    <a:pt x="0" y="254"/>
                  </a:lnTo>
                </a:path>
              </a:pathLst>
            </a:custGeom>
            <a:noFill/>
            <a:ln w="222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8" name="Line 73">
              <a:extLst>
                <a:ext uri="{FF2B5EF4-FFF2-40B4-BE49-F238E27FC236}">
                  <a16:creationId xmlns:a16="http://schemas.microsoft.com/office/drawing/2014/main" id="{1BF7E5E1-286F-4714-AD54-B532EE813BD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11" y="1794"/>
              <a:ext cx="122" cy="0"/>
            </a:xfrm>
            <a:prstGeom prst="line">
              <a:avLst/>
            </a:prstGeom>
            <a:noFill/>
            <a:ln w="22225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9" name="Line 74">
              <a:extLst>
                <a:ext uri="{FF2B5EF4-FFF2-40B4-BE49-F238E27FC236}">
                  <a16:creationId xmlns:a16="http://schemas.microsoft.com/office/drawing/2014/main" id="{23FBA082-251C-4E6A-842F-1F30479803D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88" y="1794"/>
              <a:ext cx="132" cy="0"/>
            </a:xfrm>
            <a:prstGeom prst="line">
              <a:avLst/>
            </a:prstGeom>
            <a:noFill/>
            <a:ln w="22225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0" name="Line 75">
              <a:extLst>
                <a:ext uri="{FF2B5EF4-FFF2-40B4-BE49-F238E27FC236}">
                  <a16:creationId xmlns:a16="http://schemas.microsoft.com/office/drawing/2014/main" id="{67681FF3-07C2-4275-8B8E-14717A57ACD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644" y="1879"/>
              <a:ext cx="137" cy="0"/>
            </a:xfrm>
            <a:prstGeom prst="line">
              <a:avLst/>
            </a:prstGeom>
            <a:noFill/>
            <a:ln w="22225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1" name="Line 76">
              <a:extLst>
                <a:ext uri="{FF2B5EF4-FFF2-40B4-BE49-F238E27FC236}">
                  <a16:creationId xmlns:a16="http://schemas.microsoft.com/office/drawing/2014/main" id="{9192FE74-B3B6-4A28-8F67-A86BD08C697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718" y="1879"/>
              <a:ext cx="0" cy="170"/>
            </a:xfrm>
            <a:prstGeom prst="line">
              <a:avLst/>
            </a:prstGeom>
            <a:noFill/>
            <a:ln w="254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2" name="Line 77">
              <a:extLst>
                <a:ext uri="{FF2B5EF4-FFF2-40B4-BE49-F238E27FC236}">
                  <a16:creationId xmlns:a16="http://schemas.microsoft.com/office/drawing/2014/main" id="{FB9CE179-DCD1-4ED2-BFD9-20D64DB935D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718" y="2049"/>
              <a:ext cx="296" cy="0"/>
            </a:xfrm>
            <a:prstGeom prst="line">
              <a:avLst/>
            </a:prstGeom>
            <a:noFill/>
            <a:ln w="254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3" name="Line 78">
              <a:extLst>
                <a:ext uri="{FF2B5EF4-FFF2-40B4-BE49-F238E27FC236}">
                  <a16:creationId xmlns:a16="http://schemas.microsoft.com/office/drawing/2014/main" id="{CC7FD0B2-B47B-4AAE-AE18-7A23DBC1325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14" y="1794"/>
              <a:ext cx="0" cy="255"/>
            </a:xfrm>
            <a:prstGeom prst="line">
              <a:avLst/>
            </a:prstGeom>
            <a:noFill/>
            <a:ln w="254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4" name="Line 79">
              <a:extLst>
                <a:ext uri="{FF2B5EF4-FFF2-40B4-BE49-F238E27FC236}">
                  <a16:creationId xmlns:a16="http://schemas.microsoft.com/office/drawing/2014/main" id="{37C6D69B-CEFD-46C1-BCBF-0D06EA08994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88" y="1794"/>
              <a:ext cx="0" cy="212"/>
            </a:xfrm>
            <a:prstGeom prst="line">
              <a:avLst/>
            </a:prstGeom>
            <a:noFill/>
            <a:ln w="254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5" name="Line 80">
              <a:extLst>
                <a:ext uri="{FF2B5EF4-FFF2-40B4-BE49-F238E27FC236}">
                  <a16:creationId xmlns:a16="http://schemas.microsoft.com/office/drawing/2014/main" id="{8A5BCE01-8C3F-42B0-A441-A2D0B87EE49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88" y="2006"/>
              <a:ext cx="382" cy="0"/>
            </a:xfrm>
            <a:prstGeom prst="line">
              <a:avLst/>
            </a:prstGeom>
            <a:noFill/>
            <a:ln w="254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6" name="Line 81">
              <a:extLst>
                <a:ext uri="{FF2B5EF4-FFF2-40B4-BE49-F238E27FC236}">
                  <a16:creationId xmlns:a16="http://schemas.microsoft.com/office/drawing/2014/main" id="{48D3B7A7-7661-4E84-88B7-F0C23A3776B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70" y="1794"/>
              <a:ext cx="0" cy="212"/>
            </a:xfrm>
            <a:prstGeom prst="line">
              <a:avLst/>
            </a:prstGeom>
            <a:noFill/>
            <a:ln w="254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7" name="Freeform 82">
              <a:extLst>
                <a:ext uri="{FF2B5EF4-FFF2-40B4-BE49-F238E27FC236}">
                  <a16:creationId xmlns:a16="http://schemas.microsoft.com/office/drawing/2014/main" id="{DD458082-3FD8-43B0-83F9-6399F7306F5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3" y="2049"/>
              <a:ext cx="185" cy="423"/>
            </a:xfrm>
            <a:custGeom>
              <a:avLst/>
              <a:gdLst>
                <a:gd name="T0" fmla="*/ 0 w 185"/>
                <a:gd name="T1" fmla="*/ 282 h 423"/>
                <a:gd name="T2" fmla="*/ 62 w 185"/>
                <a:gd name="T3" fmla="*/ 211 h 423"/>
                <a:gd name="T4" fmla="*/ 0 w 185"/>
                <a:gd name="T5" fmla="*/ 141 h 423"/>
                <a:gd name="T6" fmla="*/ 0 w 185"/>
                <a:gd name="T7" fmla="*/ 0 h 423"/>
                <a:gd name="T8" fmla="*/ 185 w 185"/>
                <a:gd name="T9" fmla="*/ 141 h 423"/>
                <a:gd name="T10" fmla="*/ 185 w 185"/>
                <a:gd name="T11" fmla="*/ 282 h 423"/>
                <a:gd name="T12" fmla="*/ 0 w 185"/>
                <a:gd name="T13" fmla="*/ 423 h 423"/>
                <a:gd name="T14" fmla="*/ 0 w 185"/>
                <a:gd name="T15" fmla="*/ 282 h 4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85" h="423">
                  <a:moveTo>
                    <a:pt x="0" y="282"/>
                  </a:moveTo>
                  <a:lnTo>
                    <a:pt x="62" y="211"/>
                  </a:lnTo>
                  <a:lnTo>
                    <a:pt x="0" y="141"/>
                  </a:lnTo>
                  <a:lnTo>
                    <a:pt x="0" y="0"/>
                  </a:lnTo>
                  <a:lnTo>
                    <a:pt x="185" y="141"/>
                  </a:lnTo>
                  <a:lnTo>
                    <a:pt x="185" y="282"/>
                  </a:lnTo>
                  <a:lnTo>
                    <a:pt x="0" y="423"/>
                  </a:lnTo>
                  <a:lnTo>
                    <a:pt x="0" y="282"/>
                  </a:lnTo>
                </a:path>
              </a:pathLst>
            </a:custGeom>
            <a:noFill/>
            <a:ln w="222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8" name="Rectangle 83">
              <a:extLst>
                <a:ext uri="{FF2B5EF4-FFF2-40B4-BE49-F238E27FC236}">
                  <a16:creationId xmlns:a16="http://schemas.microsoft.com/office/drawing/2014/main" id="{9474CE42-A121-4D07-9720-26EF6DD9E60C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3178" y="2197"/>
              <a:ext cx="216" cy="12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1300" b="1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ALU</a:t>
              </a:r>
              <a:endParaRPr kumimoji="0" lang="zh-CN" altLang="zh-CN" sz="13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89" name="Rectangle 84">
              <a:extLst>
                <a:ext uri="{FF2B5EF4-FFF2-40B4-BE49-F238E27FC236}">
                  <a16:creationId xmlns:a16="http://schemas.microsoft.com/office/drawing/2014/main" id="{B9BB5E21-62B5-4DF6-B3C4-05CF127470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11" y="2167"/>
              <a:ext cx="125" cy="13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1400" b="1" i="0" u="none" strike="noStrike" cap="none" normalizeH="0" baseline="0" dirty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I</a:t>
              </a:r>
              <a:r>
                <a:rPr kumimoji="0" lang="en-US" altLang="zh-CN" sz="1400" b="1" i="0" u="none" strike="noStrike" cap="none" normalizeH="0" baseline="0" dirty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M</a:t>
              </a:r>
              <a:endParaRPr kumimoji="0" lang="zh-CN" altLang="zh-CN" sz="1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90" name="Freeform 85">
              <a:extLst>
                <a:ext uri="{FF2B5EF4-FFF2-40B4-BE49-F238E27FC236}">
                  <a16:creationId xmlns:a16="http://schemas.microsoft.com/office/drawing/2014/main" id="{F4BE6B67-943E-4A18-8398-DD1B4DDBC06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8" y="2133"/>
              <a:ext cx="147" cy="254"/>
            </a:xfrm>
            <a:custGeom>
              <a:avLst/>
              <a:gdLst>
                <a:gd name="T0" fmla="*/ 147 w 147"/>
                <a:gd name="T1" fmla="*/ 0 h 254"/>
                <a:gd name="T2" fmla="*/ 0 w 147"/>
                <a:gd name="T3" fmla="*/ 0 h 254"/>
                <a:gd name="T4" fmla="*/ 0 w 147"/>
                <a:gd name="T5" fmla="*/ 254 h 254"/>
                <a:gd name="T6" fmla="*/ 147 w 147"/>
                <a:gd name="T7" fmla="*/ 254 h 2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47" h="254">
                  <a:moveTo>
                    <a:pt x="147" y="0"/>
                  </a:moveTo>
                  <a:lnTo>
                    <a:pt x="0" y="0"/>
                  </a:lnTo>
                  <a:lnTo>
                    <a:pt x="0" y="254"/>
                  </a:lnTo>
                  <a:lnTo>
                    <a:pt x="147" y="254"/>
                  </a:lnTo>
                </a:path>
              </a:pathLst>
            </a:custGeom>
            <a:noFill/>
            <a:ln w="222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1" name="Freeform 86">
              <a:extLst>
                <a:ext uri="{FF2B5EF4-FFF2-40B4-BE49-F238E27FC236}">
                  <a16:creationId xmlns:a16="http://schemas.microsoft.com/office/drawing/2014/main" id="{2A2ED98E-466B-4DCC-94AA-85E07652176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6" y="2133"/>
              <a:ext cx="148" cy="254"/>
            </a:xfrm>
            <a:custGeom>
              <a:avLst/>
              <a:gdLst>
                <a:gd name="T0" fmla="*/ 0 w 148"/>
                <a:gd name="T1" fmla="*/ 0 h 254"/>
                <a:gd name="T2" fmla="*/ 148 w 148"/>
                <a:gd name="T3" fmla="*/ 0 h 254"/>
                <a:gd name="T4" fmla="*/ 148 w 148"/>
                <a:gd name="T5" fmla="*/ 254 h 254"/>
                <a:gd name="T6" fmla="*/ 0 w 148"/>
                <a:gd name="T7" fmla="*/ 254 h 2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48" h="254">
                  <a:moveTo>
                    <a:pt x="0" y="0"/>
                  </a:moveTo>
                  <a:lnTo>
                    <a:pt x="148" y="0"/>
                  </a:lnTo>
                  <a:lnTo>
                    <a:pt x="148" y="254"/>
                  </a:lnTo>
                  <a:lnTo>
                    <a:pt x="0" y="254"/>
                  </a:lnTo>
                </a:path>
              </a:pathLst>
            </a:custGeom>
            <a:noFill/>
            <a:ln w="222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2" name="Rectangle 87">
              <a:extLst>
                <a:ext uri="{FF2B5EF4-FFF2-40B4-BE49-F238E27FC236}">
                  <a16:creationId xmlns:a16="http://schemas.microsoft.com/office/drawing/2014/main" id="{241A3437-968F-40F5-AE96-DF8236D969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95" y="2173"/>
              <a:ext cx="264" cy="15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1400" b="1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Reg</a:t>
              </a:r>
              <a:endParaRPr kumimoji="0" lang="zh-CN" altLang="zh-CN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93" name="Freeform 88">
              <a:extLst>
                <a:ext uri="{FF2B5EF4-FFF2-40B4-BE49-F238E27FC236}">
                  <a16:creationId xmlns:a16="http://schemas.microsoft.com/office/drawing/2014/main" id="{8F97DA42-1170-46F3-B613-C5A7B687552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0" y="2133"/>
              <a:ext cx="132" cy="254"/>
            </a:xfrm>
            <a:custGeom>
              <a:avLst/>
              <a:gdLst>
                <a:gd name="T0" fmla="*/ 132 w 132"/>
                <a:gd name="T1" fmla="*/ 0 h 254"/>
                <a:gd name="T2" fmla="*/ 0 w 132"/>
                <a:gd name="T3" fmla="*/ 0 h 254"/>
                <a:gd name="T4" fmla="*/ 0 w 132"/>
                <a:gd name="T5" fmla="*/ 254 h 254"/>
                <a:gd name="T6" fmla="*/ 132 w 132"/>
                <a:gd name="T7" fmla="*/ 254 h 2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2" h="254">
                  <a:moveTo>
                    <a:pt x="132" y="0"/>
                  </a:moveTo>
                  <a:lnTo>
                    <a:pt x="0" y="0"/>
                  </a:lnTo>
                  <a:lnTo>
                    <a:pt x="0" y="254"/>
                  </a:lnTo>
                  <a:lnTo>
                    <a:pt x="132" y="254"/>
                  </a:lnTo>
                </a:path>
              </a:pathLst>
            </a:custGeom>
            <a:noFill/>
            <a:ln w="222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4" name="Freeform 89">
              <a:extLst>
                <a:ext uri="{FF2B5EF4-FFF2-40B4-BE49-F238E27FC236}">
                  <a16:creationId xmlns:a16="http://schemas.microsoft.com/office/drawing/2014/main" id="{EFF5DE4B-7A2C-4A69-9BE0-9670D2BE109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3" y="2133"/>
              <a:ext cx="131" cy="254"/>
            </a:xfrm>
            <a:custGeom>
              <a:avLst/>
              <a:gdLst>
                <a:gd name="T0" fmla="*/ 0 w 131"/>
                <a:gd name="T1" fmla="*/ 0 h 254"/>
                <a:gd name="T2" fmla="*/ 131 w 131"/>
                <a:gd name="T3" fmla="*/ 0 h 254"/>
                <a:gd name="T4" fmla="*/ 131 w 131"/>
                <a:gd name="T5" fmla="*/ 254 h 254"/>
                <a:gd name="T6" fmla="*/ 0 w 131"/>
                <a:gd name="T7" fmla="*/ 254 h 2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1" h="254">
                  <a:moveTo>
                    <a:pt x="0" y="0"/>
                  </a:moveTo>
                  <a:lnTo>
                    <a:pt x="131" y="0"/>
                  </a:lnTo>
                  <a:lnTo>
                    <a:pt x="131" y="254"/>
                  </a:lnTo>
                  <a:lnTo>
                    <a:pt x="0" y="254"/>
                  </a:lnTo>
                </a:path>
              </a:pathLst>
            </a:custGeom>
            <a:noFill/>
            <a:ln w="222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5" name="Line 90">
              <a:extLst>
                <a:ext uri="{FF2B5EF4-FFF2-40B4-BE49-F238E27FC236}">
                  <a16:creationId xmlns:a16="http://schemas.microsoft.com/office/drawing/2014/main" id="{33AE0077-52BF-41A0-B513-14051611DB3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660" y="2260"/>
              <a:ext cx="100" cy="0"/>
            </a:xfrm>
            <a:prstGeom prst="line">
              <a:avLst/>
            </a:prstGeom>
            <a:noFill/>
            <a:ln w="22225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6" name="Freeform 91">
              <a:extLst>
                <a:ext uri="{FF2B5EF4-FFF2-40B4-BE49-F238E27FC236}">
                  <a16:creationId xmlns:a16="http://schemas.microsoft.com/office/drawing/2014/main" id="{B3B4AFD1-D6E0-47F3-AF0D-F6466BCAF55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8" y="2176"/>
              <a:ext cx="42" cy="84"/>
            </a:xfrm>
            <a:custGeom>
              <a:avLst/>
              <a:gdLst>
                <a:gd name="T0" fmla="*/ 0 w 42"/>
                <a:gd name="T1" fmla="*/ 84 h 84"/>
                <a:gd name="T2" fmla="*/ 0 w 42"/>
                <a:gd name="T3" fmla="*/ 0 h 84"/>
                <a:gd name="T4" fmla="*/ 42 w 42"/>
                <a:gd name="T5" fmla="*/ 0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2" h="84">
                  <a:moveTo>
                    <a:pt x="0" y="84"/>
                  </a:moveTo>
                  <a:lnTo>
                    <a:pt x="0" y="0"/>
                  </a:lnTo>
                  <a:lnTo>
                    <a:pt x="42" y="0"/>
                  </a:lnTo>
                </a:path>
              </a:pathLst>
            </a:custGeom>
            <a:noFill/>
            <a:ln w="222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7" name="Line 92">
              <a:extLst>
                <a:ext uri="{FF2B5EF4-FFF2-40B4-BE49-F238E27FC236}">
                  <a16:creationId xmlns:a16="http://schemas.microsoft.com/office/drawing/2014/main" id="{4AFB454A-8D56-48B6-809D-8B38E4ABA93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25" y="2176"/>
              <a:ext cx="137" cy="0"/>
            </a:xfrm>
            <a:prstGeom prst="line">
              <a:avLst/>
            </a:prstGeom>
            <a:noFill/>
            <a:ln w="22225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8" name="Rectangle 93">
              <a:extLst>
                <a:ext uri="{FF2B5EF4-FFF2-40B4-BE49-F238E27FC236}">
                  <a16:creationId xmlns:a16="http://schemas.microsoft.com/office/drawing/2014/main" id="{F026063A-6AC2-4EEC-B8E7-A7965ED621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15" y="2167"/>
              <a:ext cx="228" cy="1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1400" b="1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DM</a:t>
              </a:r>
              <a:endParaRPr kumimoji="0" lang="zh-CN" altLang="zh-CN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99" name="Freeform 94">
              <a:extLst>
                <a:ext uri="{FF2B5EF4-FFF2-40B4-BE49-F238E27FC236}">
                  <a16:creationId xmlns:a16="http://schemas.microsoft.com/office/drawing/2014/main" id="{77863875-1442-4081-AC0F-E5E768FCDFF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2" y="2133"/>
              <a:ext cx="142" cy="254"/>
            </a:xfrm>
            <a:custGeom>
              <a:avLst/>
              <a:gdLst>
                <a:gd name="T0" fmla="*/ 142 w 142"/>
                <a:gd name="T1" fmla="*/ 0 h 254"/>
                <a:gd name="T2" fmla="*/ 0 w 142"/>
                <a:gd name="T3" fmla="*/ 0 h 254"/>
                <a:gd name="T4" fmla="*/ 0 w 142"/>
                <a:gd name="T5" fmla="*/ 254 h 254"/>
                <a:gd name="T6" fmla="*/ 142 w 142"/>
                <a:gd name="T7" fmla="*/ 254 h 2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42" h="254">
                  <a:moveTo>
                    <a:pt x="142" y="0"/>
                  </a:moveTo>
                  <a:lnTo>
                    <a:pt x="0" y="0"/>
                  </a:lnTo>
                  <a:lnTo>
                    <a:pt x="0" y="254"/>
                  </a:lnTo>
                  <a:lnTo>
                    <a:pt x="142" y="254"/>
                  </a:lnTo>
                </a:path>
              </a:pathLst>
            </a:custGeom>
            <a:noFill/>
            <a:ln w="222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0" name="Freeform 95">
              <a:extLst>
                <a:ext uri="{FF2B5EF4-FFF2-40B4-BE49-F238E27FC236}">
                  <a16:creationId xmlns:a16="http://schemas.microsoft.com/office/drawing/2014/main" id="{59D13EC0-30E1-4184-8555-83618691CE4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0" y="2133"/>
              <a:ext cx="147" cy="254"/>
            </a:xfrm>
            <a:custGeom>
              <a:avLst/>
              <a:gdLst>
                <a:gd name="T0" fmla="*/ 0 w 147"/>
                <a:gd name="T1" fmla="*/ 0 h 254"/>
                <a:gd name="T2" fmla="*/ 147 w 147"/>
                <a:gd name="T3" fmla="*/ 0 h 254"/>
                <a:gd name="T4" fmla="*/ 147 w 147"/>
                <a:gd name="T5" fmla="*/ 254 h 254"/>
                <a:gd name="T6" fmla="*/ 0 w 147"/>
                <a:gd name="T7" fmla="*/ 254 h 2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47" h="254">
                  <a:moveTo>
                    <a:pt x="0" y="0"/>
                  </a:moveTo>
                  <a:lnTo>
                    <a:pt x="147" y="0"/>
                  </a:lnTo>
                  <a:lnTo>
                    <a:pt x="147" y="254"/>
                  </a:lnTo>
                  <a:lnTo>
                    <a:pt x="0" y="254"/>
                  </a:lnTo>
                </a:path>
              </a:pathLst>
            </a:custGeom>
            <a:noFill/>
            <a:ln w="222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1" name="Rectangle 96">
              <a:extLst>
                <a:ext uri="{FF2B5EF4-FFF2-40B4-BE49-F238E27FC236}">
                  <a16:creationId xmlns:a16="http://schemas.microsoft.com/office/drawing/2014/main" id="{B7619840-6A69-41C3-8A06-D31E0B9EB5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50" y="2167"/>
              <a:ext cx="264" cy="1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1400" b="1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Reg</a:t>
              </a:r>
              <a:endParaRPr kumimoji="0" lang="zh-CN" altLang="zh-CN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102" name="Freeform 97">
              <a:extLst>
                <a:ext uri="{FF2B5EF4-FFF2-40B4-BE49-F238E27FC236}">
                  <a16:creationId xmlns:a16="http://schemas.microsoft.com/office/drawing/2014/main" id="{6D69E12C-C30B-403A-AE76-341B9659575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5" y="2133"/>
              <a:ext cx="121" cy="254"/>
            </a:xfrm>
            <a:custGeom>
              <a:avLst/>
              <a:gdLst>
                <a:gd name="T0" fmla="*/ 121 w 121"/>
                <a:gd name="T1" fmla="*/ 0 h 254"/>
                <a:gd name="T2" fmla="*/ 0 w 121"/>
                <a:gd name="T3" fmla="*/ 0 h 254"/>
                <a:gd name="T4" fmla="*/ 0 w 121"/>
                <a:gd name="T5" fmla="*/ 254 h 254"/>
                <a:gd name="T6" fmla="*/ 121 w 121"/>
                <a:gd name="T7" fmla="*/ 254 h 2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1" h="254">
                  <a:moveTo>
                    <a:pt x="121" y="0"/>
                  </a:moveTo>
                  <a:lnTo>
                    <a:pt x="0" y="0"/>
                  </a:lnTo>
                  <a:lnTo>
                    <a:pt x="0" y="254"/>
                  </a:lnTo>
                  <a:lnTo>
                    <a:pt x="121" y="254"/>
                  </a:lnTo>
                </a:path>
              </a:pathLst>
            </a:custGeom>
            <a:noFill/>
            <a:ln w="222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3" name="Freeform 98">
              <a:extLst>
                <a:ext uri="{FF2B5EF4-FFF2-40B4-BE49-F238E27FC236}">
                  <a16:creationId xmlns:a16="http://schemas.microsoft.com/office/drawing/2014/main" id="{32FF3A63-C5DA-4FA5-A1F9-AC652F727F5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7" y="2133"/>
              <a:ext cx="126" cy="254"/>
            </a:xfrm>
            <a:custGeom>
              <a:avLst/>
              <a:gdLst>
                <a:gd name="T0" fmla="*/ 0 w 126"/>
                <a:gd name="T1" fmla="*/ 0 h 254"/>
                <a:gd name="T2" fmla="*/ 126 w 126"/>
                <a:gd name="T3" fmla="*/ 0 h 254"/>
                <a:gd name="T4" fmla="*/ 126 w 126"/>
                <a:gd name="T5" fmla="*/ 254 h 254"/>
                <a:gd name="T6" fmla="*/ 0 w 126"/>
                <a:gd name="T7" fmla="*/ 254 h 2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6" h="254">
                  <a:moveTo>
                    <a:pt x="0" y="0"/>
                  </a:moveTo>
                  <a:lnTo>
                    <a:pt x="126" y="0"/>
                  </a:lnTo>
                  <a:lnTo>
                    <a:pt x="126" y="254"/>
                  </a:lnTo>
                  <a:lnTo>
                    <a:pt x="0" y="254"/>
                  </a:lnTo>
                </a:path>
              </a:pathLst>
            </a:custGeom>
            <a:noFill/>
            <a:ln w="222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4" name="Line 99">
              <a:extLst>
                <a:ext uri="{FF2B5EF4-FFF2-40B4-BE49-F238E27FC236}">
                  <a16:creationId xmlns:a16="http://schemas.microsoft.com/office/drawing/2014/main" id="{1E552B01-2304-42A1-A844-027E9912303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92" y="2260"/>
              <a:ext cx="122" cy="0"/>
            </a:xfrm>
            <a:prstGeom prst="line">
              <a:avLst/>
            </a:prstGeom>
            <a:noFill/>
            <a:ln w="22225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5" name="Line 100">
              <a:extLst>
                <a:ext uri="{FF2B5EF4-FFF2-40B4-BE49-F238E27FC236}">
                  <a16:creationId xmlns:a16="http://schemas.microsoft.com/office/drawing/2014/main" id="{7AD1119C-A43E-4553-99CE-F7F2F333F8D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69" y="2260"/>
              <a:ext cx="132" cy="0"/>
            </a:xfrm>
            <a:prstGeom prst="line">
              <a:avLst/>
            </a:prstGeom>
            <a:noFill/>
            <a:ln w="22225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6" name="Line 101">
              <a:extLst>
                <a:ext uri="{FF2B5EF4-FFF2-40B4-BE49-F238E27FC236}">
                  <a16:creationId xmlns:a16="http://schemas.microsoft.com/office/drawing/2014/main" id="{8B762954-B32E-4ED3-AE59-676CEAA9841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25" y="2345"/>
              <a:ext cx="137" cy="0"/>
            </a:xfrm>
            <a:prstGeom prst="line">
              <a:avLst/>
            </a:prstGeom>
            <a:noFill/>
            <a:ln w="22225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7" name="Line 102">
              <a:extLst>
                <a:ext uri="{FF2B5EF4-FFF2-40B4-BE49-F238E27FC236}">
                  <a16:creationId xmlns:a16="http://schemas.microsoft.com/office/drawing/2014/main" id="{28F37A72-9A14-4613-BC7A-E49EEC82746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99" y="2345"/>
              <a:ext cx="0" cy="170"/>
            </a:xfrm>
            <a:prstGeom prst="line">
              <a:avLst/>
            </a:prstGeom>
            <a:noFill/>
            <a:ln w="254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8" name="Line 103">
              <a:extLst>
                <a:ext uri="{FF2B5EF4-FFF2-40B4-BE49-F238E27FC236}">
                  <a16:creationId xmlns:a16="http://schemas.microsoft.com/office/drawing/2014/main" id="{36160AFE-AE93-4FBF-BD77-5518BB3D383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99" y="2515"/>
              <a:ext cx="296" cy="0"/>
            </a:xfrm>
            <a:prstGeom prst="line">
              <a:avLst/>
            </a:prstGeom>
            <a:noFill/>
            <a:ln w="254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9" name="Line 104">
              <a:extLst>
                <a:ext uri="{FF2B5EF4-FFF2-40B4-BE49-F238E27FC236}">
                  <a16:creationId xmlns:a16="http://schemas.microsoft.com/office/drawing/2014/main" id="{61C93AAF-DB3B-4444-BCE3-D095C178607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95" y="2260"/>
              <a:ext cx="0" cy="255"/>
            </a:xfrm>
            <a:prstGeom prst="line">
              <a:avLst/>
            </a:prstGeom>
            <a:noFill/>
            <a:ln w="254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0" name="Line 105">
              <a:extLst>
                <a:ext uri="{FF2B5EF4-FFF2-40B4-BE49-F238E27FC236}">
                  <a16:creationId xmlns:a16="http://schemas.microsoft.com/office/drawing/2014/main" id="{D533FDC3-65AC-4C44-B94C-753A3C523BD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70" y="2260"/>
              <a:ext cx="0" cy="212"/>
            </a:xfrm>
            <a:prstGeom prst="line">
              <a:avLst/>
            </a:prstGeom>
            <a:noFill/>
            <a:ln w="254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1" name="Line 106">
              <a:extLst>
                <a:ext uri="{FF2B5EF4-FFF2-40B4-BE49-F238E27FC236}">
                  <a16:creationId xmlns:a16="http://schemas.microsoft.com/office/drawing/2014/main" id="{4C787CAC-BEB2-46B1-AAB7-0B514ECDDF3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70" y="2472"/>
              <a:ext cx="381" cy="0"/>
            </a:xfrm>
            <a:prstGeom prst="line">
              <a:avLst/>
            </a:prstGeom>
            <a:noFill/>
            <a:ln w="254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2" name="Line 107">
              <a:extLst>
                <a:ext uri="{FF2B5EF4-FFF2-40B4-BE49-F238E27FC236}">
                  <a16:creationId xmlns:a16="http://schemas.microsoft.com/office/drawing/2014/main" id="{862473F9-D24C-49C6-B7B3-B41D9F0EF5C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51" y="2260"/>
              <a:ext cx="0" cy="212"/>
            </a:xfrm>
            <a:prstGeom prst="line">
              <a:avLst/>
            </a:prstGeom>
            <a:noFill/>
            <a:ln w="254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3" name="Freeform 108">
              <a:extLst>
                <a:ext uri="{FF2B5EF4-FFF2-40B4-BE49-F238E27FC236}">
                  <a16:creationId xmlns:a16="http://schemas.microsoft.com/office/drawing/2014/main" id="{251FF554-6F7B-4884-831B-F49D21A01F2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4" y="2515"/>
              <a:ext cx="185" cy="423"/>
            </a:xfrm>
            <a:custGeom>
              <a:avLst/>
              <a:gdLst>
                <a:gd name="T0" fmla="*/ 0 w 185"/>
                <a:gd name="T1" fmla="*/ 282 h 423"/>
                <a:gd name="T2" fmla="*/ 62 w 185"/>
                <a:gd name="T3" fmla="*/ 211 h 423"/>
                <a:gd name="T4" fmla="*/ 0 w 185"/>
                <a:gd name="T5" fmla="*/ 141 h 423"/>
                <a:gd name="T6" fmla="*/ 0 w 185"/>
                <a:gd name="T7" fmla="*/ 0 h 423"/>
                <a:gd name="T8" fmla="*/ 185 w 185"/>
                <a:gd name="T9" fmla="*/ 141 h 423"/>
                <a:gd name="T10" fmla="*/ 185 w 185"/>
                <a:gd name="T11" fmla="*/ 282 h 423"/>
                <a:gd name="T12" fmla="*/ 0 w 185"/>
                <a:gd name="T13" fmla="*/ 423 h 423"/>
                <a:gd name="T14" fmla="*/ 0 w 185"/>
                <a:gd name="T15" fmla="*/ 282 h 4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85" h="423">
                  <a:moveTo>
                    <a:pt x="0" y="282"/>
                  </a:moveTo>
                  <a:lnTo>
                    <a:pt x="62" y="211"/>
                  </a:lnTo>
                  <a:lnTo>
                    <a:pt x="0" y="141"/>
                  </a:lnTo>
                  <a:lnTo>
                    <a:pt x="0" y="0"/>
                  </a:lnTo>
                  <a:lnTo>
                    <a:pt x="185" y="141"/>
                  </a:lnTo>
                  <a:lnTo>
                    <a:pt x="185" y="282"/>
                  </a:lnTo>
                  <a:lnTo>
                    <a:pt x="0" y="423"/>
                  </a:lnTo>
                  <a:lnTo>
                    <a:pt x="0" y="282"/>
                  </a:lnTo>
                </a:path>
              </a:pathLst>
            </a:custGeom>
            <a:noFill/>
            <a:ln w="222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4" name="Rectangle 109">
              <a:extLst>
                <a:ext uri="{FF2B5EF4-FFF2-40B4-BE49-F238E27FC236}">
                  <a16:creationId xmlns:a16="http://schemas.microsoft.com/office/drawing/2014/main" id="{022F2243-A735-437E-B3B5-62DD24EEB2A1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3559" y="2663"/>
              <a:ext cx="216" cy="12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1300" b="1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ALU</a:t>
              </a:r>
              <a:endParaRPr kumimoji="0" lang="zh-CN" altLang="zh-CN" sz="13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115" name="Rectangle 110">
              <a:extLst>
                <a:ext uri="{FF2B5EF4-FFF2-40B4-BE49-F238E27FC236}">
                  <a16:creationId xmlns:a16="http://schemas.microsoft.com/office/drawing/2014/main" id="{157B088A-5C34-41B6-9B1C-B1FD857763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92" y="2633"/>
              <a:ext cx="125" cy="13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1400" b="1" i="0" u="none" strike="noStrike" cap="none" normalizeH="0" baseline="0" dirty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I</a:t>
              </a:r>
              <a:r>
                <a:rPr kumimoji="0" lang="en-US" altLang="zh-CN" sz="1400" b="1" i="0" u="none" strike="noStrike" cap="none" normalizeH="0" baseline="0" dirty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M</a:t>
              </a:r>
              <a:endParaRPr kumimoji="0" lang="zh-CN" altLang="zh-CN" sz="1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116" name="Freeform 111">
              <a:extLst>
                <a:ext uri="{FF2B5EF4-FFF2-40B4-BE49-F238E27FC236}">
                  <a16:creationId xmlns:a16="http://schemas.microsoft.com/office/drawing/2014/main" id="{5212DFF7-2778-46F6-9D35-F818D71F99C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9" y="2599"/>
              <a:ext cx="148" cy="254"/>
            </a:xfrm>
            <a:custGeom>
              <a:avLst/>
              <a:gdLst>
                <a:gd name="T0" fmla="*/ 148 w 148"/>
                <a:gd name="T1" fmla="*/ 0 h 254"/>
                <a:gd name="T2" fmla="*/ 0 w 148"/>
                <a:gd name="T3" fmla="*/ 0 h 254"/>
                <a:gd name="T4" fmla="*/ 0 w 148"/>
                <a:gd name="T5" fmla="*/ 254 h 254"/>
                <a:gd name="T6" fmla="*/ 148 w 148"/>
                <a:gd name="T7" fmla="*/ 254 h 2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48" h="254">
                  <a:moveTo>
                    <a:pt x="148" y="0"/>
                  </a:moveTo>
                  <a:lnTo>
                    <a:pt x="0" y="0"/>
                  </a:lnTo>
                  <a:lnTo>
                    <a:pt x="0" y="254"/>
                  </a:lnTo>
                  <a:lnTo>
                    <a:pt x="148" y="254"/>
                  </a:lnTo>
                </a:path>
              </a:pathLst>
            </a:custGeom>
            <a:noFill/>
            <a:ln w="222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7" name="Freeform 112">
              <a:extLst>
                <a:ext uri="{FF2B5EF4-FFF2-40B4-BE49-F238E27FC236}">
                  <a16:creationId xmlns:a16="http://schemas.microsoft.com/office/drawing/2014/main" id="{C753A1C0-8AB9-4AAA-B607-6CC8DE0C7B6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7" y="2599"/>
              <a:ext cx="148" cy="254"/>
            </a:xfrm>
            <a:custGeom>
              <a:avLst/>
              <a:gdLst>
                <a:gd name="T0" fmla="*/ 0 w 148"/>
                <a:gd name="T1" fmla="*/ 0 h 254"/>
                <a:gd name="T2" fmla="*/ 148 w 148"/>
                <a:gd name="T3" fmla="*/ 0 h 254"/>
                <a:gd name="T4" fmla="*/ 148 w 148"/>
                <a:gd name="T5" fmla="*/ 254 h 254"/>
                <a:gd name="T6" fmla="*/ 0 w 148"/>
                <a:gd name="T7" fmla="*/ 254 h 2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48" h="254">
                  <a:moveTo>
                    <a:pt x="0" y="0"/>
                  </a:moveTo>
                  <a:lnTo>
                    <a:pt x="148" y="0"/>
                  </a:lnTo>
                  <a:lnTo>
                    <a:pt x="148" y="254"/>
                  </a:lnTo>
                  <a:lnTo>
                    <a:pt x="0" y="254"/>
                  </a:lnTo>
                </a:path>
              </a:pathLst>
            </a:custGeom>
            <a:noFill/>
            <a:ln w="222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8" name="Rectangle 113">
              <a:extLst>
                <a:ext uri="{FF2B5EF4-FFF2-40B4-BE49-F238E27FC236}">
                  <a16:creationId xmlns:a16="http://schemas.microsoft.com/office/drawing/2014/main" id="{4054228B-FABD-4583-BEAB-89EC1BF29D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76" y="2639"/>
              <a:ext cx="264" cy="15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1400" b="1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Reg</a:t>
              </a:r>
              <a:endParaRPr kumimoji="0" lang="zh-CN" altLang="zh-CN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119" name="Freeform 114">
              <a:extLst>
                <a:ext uri="{FF2B5EF4-FFF2-40B4-BE49-F238E27FC236}">
                  <a16:creationId xmlns:a16="http://schemas.microsoft.com/office/drawing/2014/main" id="{BF982A27-9F15-4A24-A25A-31FAE1A6B43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1" y="2599"/>
              <a:ext cx="132" cy="254"/>
            </a:xfrm>
            <a:custGeom>
              <a:avLst/>
              <a:gdLst>
                <a:gd name="T0" fmla="*/ 132 w 132"/>
                <a:gd name="T1" fmla="*/ 0 h 254"/>
                <a:gd name="T2" fmla="*/ 0 w 132"/>
                <a:gd name="T3" fmla="*/ 0 h 254"/>
                <a:gd name="T4" fmla="*/ 0 w 132"/>
                <a:gd name="T5" fmla="*/ 254 h 254"/>
                <a:gd name="T6" fmla="*/ 132 w 132"/>
                <a:gd name="T7" fmla="*/ 254 h 2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2" h="254">
                  <a:moveTo>
                    <a:pt x="132" y="0"/>
                  </a:moveTo>
                  <a:lnTo>
                    <a:pt x="0" y="0"/>
                  </a:lnTo>
                  <a:lnTo>
                    <a:pt x="0" y="254"/>
                  </a:lnTo>
                  <a:lnTo>
                    <a:pt x="132" y="254"/>
                  </a:lnTo>
                </a:path>
              </a:pathLst>
            </a:custGeom>
            <a:noFill/>
            <a:ln w="222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0" name="Freeform 115">
              <a:extLst>
                <a:ext uri="{FF2B5EF4-FFF2-40B4-BE49-F238E27FC236}">
                  <a16:creationId xmlns:a16="http://schemas.microsoft.com/office/drawing/2014/main" id="{24C15FD6-9A3C-4F40-B149-EA488380AED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4" y="2599"/>
              <a:ext cx="126" cy="254"/>
            </a:xfrm>
            <a:custGeom>
              <a:avLst/>
              <a:gdLst>
                <a:gd name="T0" fmla="*/ 0 w 126"/>
                <a:gd name="T1" fmla="*/ 0 h 254"/>
                <a:gd name="T2" fmla="*/ 126 w 126"/>
                <a:gd name="T3" fmla="*/ 0 h 254"/>
                <a:gd name="T4" fmla="*/ 126 w 126"/>
                <a:gd name="T5" fmla="*/ 254 h 254"/>
                <a:gd name="T6" fmla="*/ 0 w 126"/>
                <a:gd name="T7" fmla="*/ 254 h 2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6" h="254">
                  <a:moveTo>
                    <a:pt x="0" y="0"/>
                  </a:moveTo>
                  <a:lnTo>
                    <a:pt x="126" y="0"/>
                  </a:lnTo>
                  <a:lnTo>
                    <a:pt x="126" y="254"/>
                  </a:lnTo>
                  <a:lnTo>
                    <a:pt x="0" y="254"/>
                  </a:lnTo>
                </a:path>
              </a:pathLst>
            </a:custGeom>
            <a:noFill/>
            <a:ln w="222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1" name="Line 116">
              <a:extLst>
                <a:ext uri="{FF2B5EF4-FFF2-40B4-BE49-F238E27FC236}">
                  <a16:creationId xmlns:a16="http://schemas.microsoft.com/office/drawing/2014/main" id="{DA8FE8A2-0736-451E-8EB7-A46EADB5FEE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41" y="2726"/>
              <a:ext cx="100" cy="0"/>
            </a:xfrm>
            <a:prstGeom prst="line">
              <a:avLst/>
            </a:prstGeom>
            <a:noFill/>
            <a:ln w="22225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2" name="Freeform 117">
              <a:extLst>
                <a:ext uri="{FF2B5EF4-FFF2-40B4-BE49-F238E27FC236}">
                  <a16:creationId xmlns:a16="http://schemas.microsoft.com/office/drawing/2014/main" id="{CD92E475-C493-4DEA-9743-DA2A7E6A5D0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9" y="2642"/>
              <a:ext cx="42" cy="84"/>
            </a:xfrm>
            <a:custGeom>
              <a:avLst/>
              <a:gdLst>
                <a:gd name="T0" fmla="*/ 0 w 42"/>
                <a:gd name="T1" fmla="*/ 84 h 84"/>
                <a:gd name="T2" fmla="*/ 0 w 42"/>
                <a:gd name="T3" fmla="*/ 0 h 84"/>
                <a:gd name="T4" fmla="*/ 42 w 42"/>
                <a:gd name="T5" fmla="*/ 0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2" h="84">
                  <a:moveTo>
                    <a:pt x="0" y="84"/>
                  </a:moveTo>
                  <a:lnTo>
                    <a:pt x="0" y="0"/>
                  </a:lnTo>
                  <a:lnTo>
                    <a:pt x="42" y="0"/>
                  </a:lnTo>
                </a:path>
              </a:pathLst>
            </a:custGeom>
            <a:noFill/>
            <a:ln w="222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3" name="Line 118">
              <a:extLst>
                <a:ext uri="{FF2B5EF4-FFF2-40B4-BE49-F238E27FC236}">
                  <a16:creationId xmlns:a16="http://schemas.microsoft.com/office/drawing/2014/main" id="{741326D0-F75E-4DE1-BCD4-549E7385D07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06" y="2642"/>
              <a:ext cx="138" cy="0"/>
            </a:xfrm>
            <a:prstGeom prst="line">
              <a:avLst/>
            </a:prstGeom>
            <a:noFill/>
            <a:ln w="22225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4" name="Rectangle 119">
              <a:extLst>
                <a:ext uri="{FF2B5EF4-FFF2-40B4-BE49-F238E27FC236}">
                  <a16:creationId xmlns:a16="http://schemas.microsoft.com/office/drawing/2014/main" id="{910FAE5D-83CD-4D34-9374-2B92EC12BA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96" y="2633"/>
              <a:ext cx="228" cy="1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1400" b="1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DM</a:t>
              </a:r>
              <a:endParaRPr kumimoji="0" lang="zh-CN" altLang="zh-CN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125" name="Freeform 120">
              <a:extLst>
                <a:ext uri="{FF2B5EF4-FFF2-40B4-BE49-F238E27FC236}">
                  <a16:creationId xmlns:a16="http://schemas.microsoft.com/office/drawing/2014/main" id="{EBD060F1-E685-41A0-89B2-88A3C7326F6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3" y="2599"/>
              <a:ext cx="142" cy="254"/>
            </a:xfrm>
            <a:custGeom>
              <a:avLst/>
              <a:gdLst>
                <a:gd name="T0" fmla="*/ 142 w 142"/>
                <a:gd name="T1" fmla="*/ 0 h 254"/>
                <a:gd name="T2" fmla="*/ 0 w 142"/>
                <a:gd name="T3" fmla="*/ 0 h 254"/>
                <a:gd name="T4" fmla="*/ 0 w 142"/>
                <a:gd name="T5" fmla="*/ 254 h 254"/>
                <a:gd name="T6" fmla="*/ 142 w 142"/>
                <a:gd name="T7" fmla="*/ 254 h 2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42" h="254">
                  <a:moveTo>
                    <a:pt x="142" y="0"/>
                  </a:moveTo>
                  <a:lnTo>
                    <a:pt x="0" y="0"/>
                  </a:lnTo>
                  <a:lnTo>
                    <a:pt x="0" y="254"/>
                  </a:lnTo>
                  <a:lnTo>
                    <a:pt x="142" y="254"/>
                  </a:lnTo>
                </a:path>
              </a:pathLst>
            </a:custGeom>
            <a:noFill/>
            <a:ln w="222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6" name="Freeform 121">
              <a:extLst>
                <a:ext uri="{FF2B5EF4-FFF2-40B4-BE49-F238E27FC236}">
                  <a16:creationId xmlns:a16="http://schemas.microsoft.com/office/drawing/2014/main" id="{6FBB4107-0AD0-467C-9F75-898B7B0B3D7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1" y="2599"/>
              <a:ext cx="147" cy="254"/>
            </a:xfrm>
            <a:custGeom>
              <a:avLst/>
              <a:gdLst>
                <a:gd name="T0" fmla="*/ 0 w 147"/>
                <a:gd name="T1" fmla="*/ 0 h 254"/>
                <a:gd name="T2" fmla="*/ 147 w 147"/>
                <a:gd name="T3" fmla="*/ 0 h 254"/>
                <a:gd name="T4" fmla="*/ 147 w 147"/>
                <a:gd name="T5" fmla="*/ 254 h 254"/>
                <a:gd name="T6" fmla="*/ 0 w 147"/>
                <a:gd name="T7" fmla="*/ 254 h 2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47" h="254">
                  <a:moveTo>
                    <a:pt x="0" y="0"/>
                  </a:moveTo>
                  <a:lnTo>
                    <a:pt x="147" y="0"/>
                  </a:lnTo>
                  <a:lnTo>
                    <a:pt x="147" y="254"/>
                  </a:lnTo>
                  <a:lnTo>
                    <a:pt x="0" y="254"/>
                  </a:lnTo>
                </a:path>
              </a:pathLst>
            </a:custGeom>
            <a:noFill/>
            <a:ln w="222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7" name="Rectangle 122">
              <a:extLst>
                <a:ext uri="{FF2B5EF4-FFF2-40B4-BE49-F238E27FC236}">
                  <a16:creationId xmlns:a16="http://schemas.microsoft.com/office/drawing/2014/main" id="{8149D1D0-D56D-4D69-BDD7-2C28A9F53A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30" y="2633"/>
              <a:ext cx="265" cy="1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1400" b="1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Reg</a:t>
              </a:r>
              <a:endParaRPr kumimoji="0" lang="zh-CN" altLang="zh-CN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128" name="Freeform 123">
              <a:extLst>
                <a:ext uri="{FF2B5EF4-FFF2-40B4-BE49-F238E27FC236}">
                  <a16:creationId xmlns:a16="http://schemas.microsoft.com/office/drawing/2014/main" id="{1F918AE6-3892-4FF8-B86E-E0F64AF33D5E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6" y="2599"/>
              <a:ext cx="121" cy="254"/>
            </a:xfrm>
            <a:custGeom>
              <a:avLst/>
              <a:gdLst>
                <a:gd name="T0" fmla="*/ 121 w 121"/>
                <a:gd name="T1" fmla="*/ 0 h 254"/>
                <a:gd name="T2" fmla="*/ 0 w 121"/>
                <a:gd name="T3" fmla="*/ 0 h 254"/>
                <a:gd name="T4" fmla="*/ 0 w 121"/>
                <a:gd name="T5" fmla="*/ 254 h 254"/>
                <a:gd name="T6" fmla="*/ 121 w 121"/>
                <a:gd name="T7" fmla="*/ 254 h 2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1" h="254">
                  <a:moveTo>
                    <a:pt x="121" y="0"/>
                  </a:moveTo>
                  <a:lnTo>
                    <a:pt x="0" y="0"/>
                  </a:lnTo>
                  <a:lnTo>
                    <a:pt x="0" y="254"/>
                  </a:lnTo>
                  <a:lnTo>
                    <a:pt x="121" y="254"/>
                  </a:lnTo>
                </a:path>
              </a:pathLst>
            </a:custGeom>
            <a:noFill/>
            <a:ln w="222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9" name="Freeform 124">
              <a:extLst>
                <a:ext uri="{FF2B5EF4-FFF2-40B4-BE49-F238E27FC236}">
                  <a16:creationId xmlns:a16="http://schemas.microsoft.com/office/drawing/2014/main" id="{1DF85EA4-4D72-4AE0-82C2-A41AA42B39C2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8" y="2599"/>
              <a:ext cx="126" cy="254"/>
            </a:xfrm>
            <a:custGeom>
              <a:avLst/>
              <a:gdLst>
                <a:gd name="T0" fmla="*/ 0 w 126"/>
                <a:gd name="T1" fmla="*/ 0 h 254"/>
                <a:gd name="T2" fmla="*/ 126 w 126"/>
                <a:gd name="T3" fmla="*/ 0 h 254"/>
                <a:gd name="T4" fmla="*/ 126 w 126"/>
                <a:gd name="T5" fmla="*/ 254 h 254"/>
                <a:gd name="T6" fmla="*/ 0 w 126"/>
                <a:gd name="T7" fmla="*/ 254 h 2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6" h="254">
                  <a:moveTo>
                    <a:pt x="0" y="0"/>
                  </a:moveTo>
                  <a:lnTo>
                    <a:pt x="126" y="0"/>
                  </a:lnTo>
                  <a:lnTo>
                    <a:pt x="126" y="254"/>
                  </a:lnTo>
                  <a:lnTo>
                    <a:pt x="0" y="254"/>
                  </a:lnTo>
                </a:path>
              </a:pathLst>
            </a:custGeom>
            <a:noFill/>
            <a:ln w="222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0" name="Line 125">
              <a:extLst>
                <a:ext uri="{FF2B5EF4-FFF2-40B4-BE49-F238E27FC236}">
                  <a16:creationId xmlns:a16="http://schemas.microsoft.com/office/drawing/2014/main" id="{743891B6-92F3-481F-905D-9C66DE450AA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174" y="2726"/>
              <a:ext cx="121" cy="0"/>
            </a:xfrm>
            <a:prstGeom prst="line">
              <a:avLst/>
            </a:prstGeom>
            <a:noFill/>
            <a:ln w="22225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1" name="Line 126">
              <a:extLst>
                <a:ext uri="{FF2B5EF4-FFF2-40B4-BE49-F238E27FC236}">
                  <a16:creationId xmlns:a16="http://schemas.microsoft.com/office/drawing/2014/main" id="{5C791E2C-8290-4A71-ACDC-2BC49BDA202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45" y="2726"/>
              <a:ext cx="137" cy="0"/>
            </a:xfrm>
            <a:prstGeom prst="line">
              <a:avLst/>
            </a:prstGeom>
            <a:noFill/>
            <a:ln w="22225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2" name="Line 127">
              <a:extLst>
                <a:ext uri="{FF2B5EF4-FFF2-40B4-BE49-F238E27FC236}">
                  <a16:creationId xmlns:a16="http://schemas.microsoft.com/office/drawing/2014/main" id="{168850BE-23CC-438F-8F66-0A5432C6978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06" y="2811"/>
              <a:ext cx="138" cy="0"/>
            </a:xfrm>
            <a:prstGeom prst="line">
              <a:avLst/>
            </a:prstGeom>
            <a:noFill/>
            <a:ln w="22225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3" name="Line 128">
              <a:extLst>
                <a:ext uri="{FF2B5EF4-FFF2-40B4-BE49-F238E27FC236}">
                  <a16:creationId xmlns:a16="http://schemas.microsoft.com/office/drawing/2014/main" id="{BEBA0D7B-4E26-471E-8774-C6BDD0239DF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80" y="2811"/>
              <a:ext cx="0" cy="170"/>
            </a:xfrm>
            <a:prstGeom prst="line">
              <a:avLst/>
            </a:prstGeom>
            <a:noFill/>
            <a:ln w="254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4" name="Line 129">
              <a:extLst>
                <a:ext uri="{FF2B5EF4-FFF2-40B4-BE49-F238E27FC236}">
                  <a16:creationId xmlns:a16="http://schemas.microsoft.com/office/drawing/2014/main" id="{34B97663-8C5F-4BC8-BD70-85373B47002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80" y="2981"/>
              <a:ext cx="297" cy="0"/>
            </a:xfrm>
            <a:prstGeom prst="line">
              <a:avLst/>
            </a:prstGeom>
            <a:noFill/>
            <a:ln w="254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5" name="Line 130">
              <a:extLst>
                <a:ext uri="{FF2B5EF4-FFF2-40B4-BE49-F238E27FC236}">
                  <a16:creationId xmlns:a16="http://schemas.microsoft.com/office/drawing/2014/main" id="{51209B7D-152A-4F1C-B923-C172FF3D61C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77" y="2726"/>
              <a:ext cx="0" cy="255"/>
            </a:xfrm>
            <a:prstGeom prst="line">
              <a:avLst/>
            </a:prstGeom>
            <a:noFill/>
            <a:ln w="254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6" name="Line 131">
              <a:extLst>
                <a:ext uri="{FF2B5EF4-FFF2-40B4-BE49-F238E27FC236}">
                  <a16:creationId xmlns:a16="http://schemas.microsoft.com/office/drawing/2014/main" id="{042C90FB-F194-4B4D-8EFC-9E386CAD4A5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51" y="2726"/>
              <a:ext cx="0" cy="212"/>
            </a:xfrm>
            <a:prstGeom prst="line">
              <a:avLst/>
            </a:prstGeom>
            <a:noFill/>
            <a:ln w="254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7" name="Line 132">
              <a:extLst>
                <a:ext uri="{FF2B5EF4-FFF2-40B4-BE49-F238E27FC236}">
                  <a16:creationId xmlns:a16="http://schemas.microsoft.com/office/drawing/2014/main" id="{69A0428C-C9D8-42C4-B6E3-0E7E212D9D6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51" y="2938"/>
              <a:ext cx="381" cy="0"/>
            </a:xfrm>
            <a:prstGeom prst="line">
              <a:avLst/>
            </a:prstGeom>
            <a:noFill/>
            <a:ln w="254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8" name="Line 133">
              <a:extLst>
                <a:ext uri="{FF2B5EF4-FFF2-40B4-BE49-F238E27FC236}">
                  <a16:creationId xmlns:a16="http://schemas.microsoft.com/office/drawing/2014/main" id="{81AA406A-A92E-4077-8926-BCEDA89900F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32" y="2726"/>
              <a:ext cx="0" cy="212"/>
            </a:xfrm>
            <a:prstGeom prst="line">
              <a:avLst/>
            </a:prstGeom>
            <a:noFill/>
            <a:ln w="254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9" name="Freeform 134">
              <a:extLst>
                <a:ext uri="{FF2B5EF4-FFF2-40B4-BE49-F238E27FC236}">
                  <a16:creationId xmlns:a16="http://schemas.microsoft.com/office/drawing/2014/main" id="{82443CA4-8921-4463-B3B8-619AEA049346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5" y="2981"/>
              <a:ext cx="185" cy="423"/>
            </a:xfrm>
            <a:custGeom>
              <a:avLst/>
              <a:gdLst>
                <a:gd name="T0" fmla="*/ 0 w 185"/>
                <a:gd name="T1" fmla="*/ 282 h 423"/>
                <a:gd name="T2" fmla="*/ 62 w 185"/>
                <a:gd name="T3" fmla="*/ 211 h 423"/>
                <a:gd name="T4" fmla="*/ 0 w 185"/>
                <a:gd name="T5" fmla="*/ 141 h 423"/>
                <a:gd name="T6" fmla="*/ 0 w 185"/>
                <a:gd name="T7" fmla="*/ 0 h 423"/>
                <a:gd name="T8" fmla="*/ 185 w 185"/>
                <a:gd name="T9" fmla="*/ 141 h 423"/>
                <a:gd name="T10" fmla="*/ 185 w 185"/>
                <a:gd name="T11" fmla="*/ 282 h 423"/>
                <a:gd name="T12" fmla="*/ 0 w 185"/>
                <a:gd name="T13" fmla="*/ 423 h 423"/>
                <a:gd name="T14" fmla="*/ 0 w 185"/>
                <a:gd name="T15" fmla="*/ 282 h 4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85" h="423">
                  <a:moveTo>
                    <a:pt x="0" y="282"/>
                  </a:moveTo>
                  <a:lnTo>
                    <a:pt x="62" y="211"/>
                  </a:lnTo>
                  <a:lnTo>
                    <a:pt x="0" y="141"/>
                  </a:lnTo>
                  <a:lnTo>
                    <a:pt x="0" y="0"/>
                  </a:lnTo>
                  <a:lnTo>
                    <a:pt x="185" y="141"/>
                  </a:lnTo>
                  <a:lnTo>
                    <a:pt x="185" y="282"/>
                  </a:lnTo>
                  <a:lnTo>
                    <a:pt x="0" y="423"/>
                  </a:lnTo>
                  <a:lnTo>
                    <a:pt x="0" y="282"/>
                  </a:lnTo>
                </a:path>
              </a:pathLst>
            </a:custGeom>
            <a:noFill/>
            <a:ln w="222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0" name="Rectangle 135">
              <a:extLst>
                <a:ext uri="{FF2B5EF4-FFF2-40B4-BE49-F238E27FC236}">
                  <a16:creationId xmlns:a16="http://schemas.microsoft.com/office/drawing/2014/main" id="{A12F0D06-CA9C-47F7-B4E2-868AB3287DC4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3940" y="3129"/>
              <a:ext cx="216" cy="12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1300" b="1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ALU</a:t>
              </a:r>
              <a:endParaRPr kumimoji="0" lang="zh-CN" altLang="zh-CN" sz="13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141" name="Rectangle 136">
              <a:extLst>
                <a:ext uri="{FF2B5EF4-FFF2-40B4-BE49-F238E27FC236}">
                  <a16:creationId xmlns:a16="http://schemas.microsoft.com/office/drawing/2014/main" id="{50B89D77-2EE3-4074-B35D-A84E24713C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73" y="3099"/>
              <a:ext cx="125" cy="13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1400" b="1" i="0" u="none" strike="noStrike" cap="none" normalizeH="0" baseline="0" dirty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I</a:t>
              </a:r>
              <a:r>
                <a:rPr kumimoji="0" lang="en-US" altLang="zh-CN" sz="1400" b="1" i="0" u="none" strike="noStrike" cap="none" normalizeH="0" baseline="0" dirty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M</a:t>
              </a:r>
              <a:endParaRPr kumimoji="0" lang="zh-CN" altLang="zh-CN" sz="1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142" name="Freeform 137">
              <a:extLst>
                <a:ext uri="{FF2B5EF4-FFF2-40B4-BE49-F238E27FC236}">
                  <a16:creationId xmlns:a16="http://schemas.microsoft.com/office/drawing/2014/main" id="{ADE2BEA5-D409-4873-8286-7E7832CFB26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0" y="3065"/>
              <a:ext cx="148" cy="254"/>
            </a:xfrm>
            <a:custGeom>
              <a:avLst/>
              <a:gdLst>
                <a:gd name="T0" fmla="*/ 148 w 148"/>
                <a:gd name="T1" fmla="*/ 0 h 254"/>
                <a:gd name="T2" fmla="*/ 0 w 148"/>
                <a:gd name="T3" fmla="*/ 0 h 254"/>
                <a:gd name="T4" fmla="*/ 0 w 148"/>
                <a:gd name="T5" fmla="*/ 254 h 254"/>
                <a:gd name="T6" fmla="*/ 148 w 148"/>
                <a:gd name="T7" fmla="*/ 254 h 2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48" h="254">
                  <a:moveTo>
                    <a:pt x="148" y="0"/>
                  </a:moveTo>
                  <a:lnTo>
                    <a:pt x="0" y="0"/>
                  </a:lnTo>
                  <a:lnTo>
                    <a:pt x="0" y="254"/>
                  </a:lnTo>
                  <a:lnTo>
                    <a:pt x="148" y="254"/>
                  </a:lnTo>
                </a:path>
              </a:pathLst>
            </a:custGeom>
            <a:noFill/>
            <a:ln w="222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3" name="Freeform 138">
              <a:extLst>
                <a:ext uri="{FF2B5EF4-FFF2-40B4-BE49-F238E27FC236}">
                  <a16:creationId xmlns:a16="http://schemas.microsoft.com/office/drawing/2014/main" id="{AA8E429C-FA36-42F6-A3C2-121938446CF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8" y="3065"/>
              <a:ext cx="148" cy="254"/>
            </a:xfrm>
            <a:custGeom>
              <a:avLst/>
              <a:gdLst>
                <a:gd name="T0" fmla="*/ 0 w 148"/>
                <a:gd name="T1" fmla="*/ 0 h 254"/>
                <a:gd name="T2" fmla="*/ 148 w 148"/>
                <a:gd name="T3" fmla="*/ 0 h 254"/>
                <a:gd name="T4" fmla="*/ 148 w 148"/>
                <a:gd name="T5" fmla="*/ 254 h 254"/>
                <a:gd name="T6" fmla="*/ 0 w 148"/>
                <a:gd name="T7" fmla="*/ 254 h 2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48" h="254">
                  <a:moveTo>
                    <a:pt x="0" y="0"/>
                  </a:moveTo>
                  <a:lnTo>
                    <a:pt x="148" y="0"/>
                  </a:lnTo>
                  <a:lnTo>
                    <a:pt x="148" y="254"/>
                  </a:lnTo>
                  <a:lnTo>
                    <a:pt x="0" y="254"/>
                  </a:lnTo>
                </a:path>
              </a:pathLst>
            </a:custGeom>
            <a:noFill/>
            <a:ln w="222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4" name="Rectangle 139">
              <a:extLst>
                <a:ext uri="{FF2B5EF4-FFF2-40B4-BE49-F238E27FC236}">
                  <a16:creationId xmlns:a16="http://schemas.microsoft.com/office/drawing/2014/main" id="{2EA3B6C7-8261-4986-810B-1AA440F33B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57" y="3104"/>
              <a:ext cx="265" cy="15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1400" b="1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Reg</a:t>
              </a:r>
              <a:endParaRPr kumimoji="0" lang="zh-CN" altLang="zh-CN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145" name="Freeform 140">
              <a:extLst>
                <a:ext uri="{FF2B5EF4-FFF2-40B4-BE49-F238E27FC236}">
                  <a16:creationId xmlns:a16="http://schemas.microsoft.com/office/drawing/2014/main" id="{0A2323D6-DA08-4DB2-B2A1-5B5D0841BCA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2" y="3065"/>
              <a:ext cx="132" cy="254"/>
            </a:xfrm>
            <a:custGeom>
              <a:avLst/>
              <a:gdLst>
                <a:gd name="T0" fmla="*/ 132 w 132"/>
                <a:gd name="T1" fmla="*/ 0 h 254"/>
                <a:gd name="T2" fmla="*/ 0 w 132"/>
                <a:gd name="T3" fmla="*/ 0 h 254"/>
                <a:gd name="T4" fmla="*/ 0 w 132"/>
                <a:gd name="T5" fmla="*/ 254 h 254"/>
                <a:gd name="T6" fmla="*/ 132 w 132"/>
                <a:gd name="T7" fmla="*/ 254 h 2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2" h="254">
                  <a:moveTo>
                    <a:pt x="132" y="0"/>
                  </a:moveTo>
                  <a:lnTo>
                    <a:pt x="0" y="0"/>
                  </a:lnTo>
                  <a:lnTo>
                    <a:pt x="0" y="254"/>
                  </a:lnTo>
                  <a:lnTo>
                    <a:pt x="132" y="254"/>
                  </a:lnTo>
                </a:path>
              </a:pathLst>
            </a:custGeom>
            <a:noFill/>
            <a:ln w="222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6" name="Freeform 141">
              <a:extLst>
                <a:ext uri="{FF2B5EF4-FFF2-40B4-BE49-F238E27FC236}">
                  <a16:creationId xmlns:a16="http://schemas.microsoft.com/office/drawing/2014/main" id="{6BA5300D-DD73-48F8-852D-B92C3129C5F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5" y="3065"/>
              <a:ext cx="131" cy="254"/>
            </a:xfrm>
            <a:custGeom>
              <a:avLst/>
              <a:gdLst>
                <a:gd name="T0" fmla="*/ 0 w 131"/>
                <a:gd name="T1" fmla="*/ 0 h 254"/>
                <a:gd name="T2" fmla="*/ 131 w 131"/>
                <a:gd name="T3" fmla="*/ 0 h 254"/>
                <a:gd name="T4" fmla="*/ 131 w 131"/>
                <a:gd name="T5" fmla="*/ 254 h 254"/>
                <a:gd name="T6" fmla="*/ 0 w 131"/>
                <a:gd name="T7" fmla="*/ 254 h 2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1" h="254">
                  <a:moveTo>
                    <a:pt x="0" y="0"/>
                  </a:moveTo>
                  <a:lnTo>
                    <a:pt x="131" y="0"/>
                  </a:lnTo>
                  <a:lnTo>
                    <a:pt x="131" y="254"/>
                  </a:lnTo>
                  <a:lnTo>
                    <a:pt x="0" y="254"/>
                  </a:lnTo>
                </a:path>
              </a:pathLst>
            </a:custGeom>
            <a:noFill/>
            <a:ln w="222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7" name="Line 142">
              <a:extLst>
                <a:ext uri="{FF2B5EF4-FFF2-40B4-BE49-F238E27FC236}">
                  <a16:creationId xmlns:a16="http://schemas.microsoft.com/office/drawing/2014/main" id="{5AFA3CFC-02A9-4FE7-A88D-48B983CA707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22" y="3193"/>
              <a:ext cx="100" cy="0"/>
            </a:xfrm>
            <a:prstGeom prst="line">
              <a:avLst/>
            </a:prstGeom>
            <a:noFill/>
            <a:ln w="22225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8" name="Freeform 143">
              <a:extLst>
                <a:ext uri="{FF2B5EF4-FFF2-40B4-BE49-F238E27FC236}">
                  <a16:creationId xmlns:a16="http://schemas.microsoft.com/office/drawing/2014/main" id="{2CDA2BF8-7D1D-4D12-BCE9-DBC344937E0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0" y="3108"/>
              <a:ext cx="42" cy="84"/>
            </a:xfrm>
            <a:custGeom>
              <a:avLst/>
              <a:gdLst>
                <a:gd name="T0" fmla="*/ 0 w 42"/>
                <a:gd name="T1" fmla="*/ 84 h 84"/>
                <a:gd name="T2" fmla="*/ 0 w 42"/>
                <a:gd name="T3" fmla="*/ 0 h 84"/>
                <a:gd name="T4" fmla="*/ 42 w 42"/>
                <a:gd name="T5" fmla="*/ 0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2" h="84">
                  <a:moveTo>
                    <a:pt x="0" y="84"/>
                  </a:moveTo>
                  <a:lnTo>
                    <a:pt x="0" y="0"/>
                  </a:lnTo>
                  <a:lnTo>
                    <a:pt x="42" y="0"/>
                  </a:lnTo>
                </a:path>
              </a:pathLst>
            </a:custGeom>
            <a:noFill/>
            <a:ln w="222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9" name="Line 144">
              <a:extLst>
                <a:ext uri="{FF2B5EF4-FFF2-40B4-BE49-F238E27FC236}">
                  <a16:creationId xmlns:a16="http://schemas.microsoft.com/office/drawing/2014/main" id="{72DC80F3-A7C0-4FB4-96A0-4B2D15C0B93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87" y="3108"/>
              <a:ext cx="138" cy="0"/>
            </a:xfrm>
            <a:prstGeom prst="line">
              <a:avLst/>
            </a:prstGeom>
            <a:noFill/>
            <a:ln w="22225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0" name="Rectangle 145">
              <a:extLst>
                <a:ext uri="{FF2B5EF4-FFF2-40B4-BE49-F238E27FC236}">
                  <a16:creationId xmlns:a16="http://schemas.microsoft.com/office/drawing/2014/main" id="{0E18C817-5E86-4366-8C2C-EDC2883C88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78" y="3099"/>
              <a:ext cx="227" cy="1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1400" b="1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DM</a:t>
              </a:r>
              <a:endParaRPr kumimoji="0" lang="zh-CN" altLang="zh-CN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151" name="Freeform 146">
              <a:extLst>
                <a:ext uri="{FF2B5EF4-FFF2-40B4-BE49-F238E27FC236}">
                  <a16:creationId xmlns:a16="http://schemas.microsoft.com/office/drawing/2014/main" id="{308CB08F-B9B4-4CDE-85CB-6F31BFC6DE6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4" y="3065"/>
              <a:ext cx="142" cy="254"/>
            </a:xfrm>
            <a:custGeom>
              <a:avLst/>
              <a:gdLst>
                <a:gd name="T0" fmla="*/ 142 w 142"/>
                <a:gd name="T1" fmla="*/ 0 h 254"/>
                <a:gd name="T2" fmla="*/ 0 w 142"/>
                <a:gd name="T3" fmla="*/ 0 h 254"/>
                <a:gd name="T4" fmla="*/ 0 w 142"/>
                <a:gd name="T5" fmla="*/ 254 h 254"/>
                <a:gd name="T6" fmla="*/ 142 w 142"/>
                <a:gd name="T7" fmla="*/ 254 h 2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42" h="254">
                  <a:moveTo>
                    <a:pt x="142" y="0"/>
                  </a:moveTo>
                  <a:lnTo>
                    <a:pt x="0" y="0"/>
                  </a:lnTo>
                  <a:lnTo>
                    <a:pt x="0" y="254"/>
                  </a:lnTo>
                  <a:lnTo>
                    <a:pt x="142" y="254"/>
                  </a:lnTo>
                </a:path>
              </a:pathLst>
            </a:custGeom>
            <a:noFill/>
            <a:ln w="222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2" name="Freeform 147">
              <a:extLst>
                <a:ext uri="{FF2B5EF4-FFF2-40B4-BE49-F238E27FC236}">
                  <a16:creationId xmlns:a16="http://schemas.microsoft.com/office/drawing/2014/main" id="{7C25CEAE-F4BF-43D4-8075-DC1BFC1B873A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2" y="3065"/>
              <a:ext cx="147" cy="254"/>
            </a:xfrm>
            <a:custGeom>
              <a:avLst/>
              <a:gdLst>
                <a:gd name="T0" fmla="*/ 0 w 147"/>
                <a:gd name="T1" fmla="*/ 0 h 254"/>
                <a:gd name="T2" fmla="*/ 147 w 147"/>
                <a:gd name="T3" fmla="*/ 0 h 254"/>
                <a:gd name="T4" fmla="*/ 147 w 147"/>
                <a:gd name="T5" fmla="*/ 254 h 254"/>
                <a:gd name="T6" fmla="*/ 0 w 147"/>
                <a:gd name="T7" fmla="*/ 254 h 2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47" h="254">
                  <a:moveTo>
                    <a:pt x="0" y="0"/>
                  </a:moveTo>
                  <a:lnTo>
                    <a:pt x="147" y="0"/>
                  </a:lnTo>
                  <a:lnTo>
                    <a:pt x="147" y="254"/>
                  </a:lnTo>
                  <a:lnTo>
                    <a:pt x="0" y="254"/>
                  </a:lnTo>
                </a:path>
              </a:pathLst>
            </a:custGeom>
            <a:noFill/>
            <a:ln w="222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3" name="Rectangle 148">
              <a:extLst>
                <a:ext uri="{FF2B5EF4-FFF2-40B4-BE49-F238E27FC236}">
                  <a16:creationId xmlns:a16="http://schemas.microsoft.com/office/drawing/2014/main" id="{B222D15C-6FE9-4612-BBD3-8090484A91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12" y="3099"/>
              <a:ext cx="265" cy="1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1400" b="1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Reg</a:t>
              </a:r>
              <a:endParaRPr kumimoji="0" lang="zh-CN" altLang="zh-CN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154" name="Freeform 149">
              <a:extLst>
                <a:ext uri="{FF2B5EF4-FFF2-40B4-BE49-F238E27FC236}">
                  <a16:creationId xmlns:a16="http://schemas.microsoft.com/office/drawing/2014/main" id="{B69AA736-557F-42F3-BFAB-92BDE2106527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7" y="3065"/>
              <a:ext cx="121" cy="254"/>
            </a:xfrm>
            <a:custGeom>
              <a:avLst/>
              <a:gdLst>
                <a:gd name="T0" fmla="*/ 121 w 121"/>
                <a:gd name="T1" fmla="*/ 0 h 254"/>
                <a:gd name="T2" fmla="*/ 0 w 121"/>
                <a:gd name="T3" fmla="*/ 0 h 254"/>
                <a:gd name="T4" fmla="*/ 0 w 121"/>
                <a:gd name="T5" fmla="*/ 254 h 254"/>
                <a:gd name="T6" fmla="*/ 121 w 121"/>
                <a:gd name="T7" fmla="*/ 254 h 2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1" h="254">
                  <a:moveTo>
                    <a:pt x="121" y="0"/>
                  </a:moveTo>
                  <a:lnTo>
                    <a:pt x="0" y="0"/>
                  </a:lnTo>
                  <a:lnTo>
                    <a:pt x="0" y="254"/>
                  </a:lnTo>
                  <a:lnTo>
                    <a:pt x="121" y="254"/>
                  </a:lnTo>
                </a:path>
              </a:pathLst>
            </a:custGeom>
            <a:noFill/>
            <a:ln w="222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5" name="Freeform 150">
              <a:extLst>
                <a:ext uri="{FF2B5EF4-FFF2-40B4-BE49-F238E27FC236}">
                  <a16:creationId xmlns:a16="http://schemas.microsoft.com/office/drawing/2014/main" id="{EA659267-F1AD-4E22-B4F8-EDC8FCF63B13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9" y="3065"/>
              <a:ext cx="126" cy="254"/>
            </a:xfrm>
            <a:custGeom>
              <a:avLst/>
              <a:gdLst>
                <a:gd name="T0" fmla="*/ 0 w 126"/>
                <a:gd name="T1" fmla="*/ 0 h 254"/>
                <a:gd name="T2" fmla="*/ 126 w 126"/>
                <a:gd name="T3" fmla="*/ 0 h 254"/>
                <a:gd name="T4" fmla="*/ 126 w 126"/>
                <a:gd name="T5" fmla="*/ 254 h 254"/>
                <a:gd name="T6" fmla="*/ 0 w 126"/>
                <a:gd name="T7" fmla="*/ 254 h 2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6" h="254">
                  <a:moveTo>
                    <a:pt x="0" y="0"/>
                  </a:moveTo>
                  <a:lnTo>
                    <a:pt x="126" y="0"/>
                  </a:lnTo>
                  <a:lnTo>
                    <a:pt x="126" y="254"/>
                  </a:lnTo>
                  <a:lnTo>
                    <a:pt x="0" y="254"/>
                  </a:lnTo>
                </a:path>
              </a:pathLst>
            </a:custGeom>
            <a:noFill/>
            <a:ln w="222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6" name="Line 151">
              <a:extLst>
                <a:ext uri="{FF2B5EF4-FFF2-40B4-BE49-F238E27FC236}">
                  <a16:creationId xmlns:a16="http://schemas.microsoft.com/office/drawing/2014/main" id="{F7269747-B8DA-4B13-A72D-C5FF8FEAE60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555" y="3193"/>
              <a:ext cx="122" cy="0"/>
            </a:xfrm>
            <a:prstGeom prst="line">
              <a:avLst/>
            </a:prstGeom>
            <a:noFill/>
            <a:ln w="22225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7" name="Line 152">
              <a:extLst>
                <a:ext uri="{FF2B5EF4-FFF2-40B4-BE49-F238E27FC236}">
                  <a16:creationId xmlns:a16="http://schemas.microsoft.com/office/drawing/2014/main" id="{D80C6675-72DA-4C8A-81D9-6EDD1F4F5C9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131" y="3193"/>
              <a:ext cx="133" cy="0"/>
            </a:xfrm>
            <a:prstGeom prst="line">
              <a:avLst/>
            </a:prstGeom>
            <a:noFill/>
            <a:ln w="22225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8" name="Line 153">
              <a:extLst>
                <a:ext uri="{FF2B5EF4-FFF2-40B4-BE49-F238E27FC236}">
                  <a16:creationId xmlns:a16="http://schemas.microsoft.com/office/drawing/2014/main" id="{A74C9655-30FD-4B09-9A74-A8790FF79EB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87" y="3277"/>
              <a:ext cx="138" cy="0"/>
            </a:xfrm>
            <a:prstGeom prst="line">
              <a:avLst/>
            </a:prstGeom>
            <a:noFill/>
            <a:ln w="22225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9" name="Line 154">
              <a:extLst>
                <a:ext uri="{FF2B5EF4-FFF2-40B4-BE49-F238E27FC236}">
                  <a16:creationId xmlns:a16="http://schemas.microsoft.com/office/drawing/2014/main" id="{E15252B4-E7A1-47F7-8BB3-03C5AD842CB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61" y="3277"/>
              <a:ext cx="0" cy="170"/>
            </a:xfrm>
            <a:prstGeom prst="line">
              <a:avLst/>
            </a:prstGeom>
            <a:noFill/>
            <a:ln w="254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0" name="Line 155">
              <a:extLst>
                <a:ext uri="{FF2B5EF4-FFF2-40B4-BE49-F238E27FC236}">
                  <a16:creationId xmlns:a16="http://schemas.microsoft.com/office/drawing/2014/main" id="{311DB613-FCB7-4017-9593-BD5EA428177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61" y="3447"/>
              <a:ext cx="297" cy="0"/>
            </a:xfrm>
            <a:prstGeom prst="line">
              <a:avLst/>
            </a:prstGeom>
            <a:noFill/>
            <a:ln w="254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1" name="Line 156">
              <a:extLst>
                <a:ext uri="{FF2B5EF4-FFF2-40B4-BE49-F238E27FC236}">
                  <a16:creationId xmlns:a16="http://schemas.microsoft.com/office/drawing/2014/main" id="{F83E4F6A-22E9-4622-90A8-5026EE242BF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158" y="3193"/>
              <a:ext cx="0" cy="254"/>
            </a:xfrm>
            <a:prstGeom prst="line">
              <a:avLst/>
            </a:prstGeom>
            <a:noFill/>
            <a:ln w="254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2" name="Line 157">
              <a:extLst>
                <a:ext uri="{FF2B5EF4-FFF2-40B4-BE49-F238E27FC236}">
                  <a16:creationId xmlns:a16="http://schemas.microsoft.com/office/drawing/2014/main" id="{63257EB7-EACE-4076-A168-9BF48EBD1C6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32" y="3193"/>
              <a:ext cx="0" cy="211"/>
            </a:xfrm>
            <a:prstGeom prst="line">
              <a:avLst/>
            </a:prstGeom>
            <a:noFill/>
            <a:ln w="254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3" name="Line 158">
              <a:extLst>
                <a:ext uri="{FF2B5EF4-FFF2-40B4-BE49-F238E27FC236}">
                  <a16:creationId xmlns:a16="http://schemas.microsoft.com/office/drawing/2014/main" id="{A1DE82FE-11B5-49E7-9E78-4D413D43111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32" y="3404"/>
              <a:ext cx="381" cy="0"/>
            </a:xfrm>
            <a:prstGeom prst="line">
              <a:avLst/>
            </a:prstGeom>
            <a:noFill/>
            <a:ln w="254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4" name="Line 159">
              <a:extLst>
                <a:ext uri="{FF2B5EF4-FFF2-40B4-BE49-F238E27FC236}">
                  <a16:creationId xmlns:a16="http://schemas.microsoft.com/office/drawing/2014/main" id="{E221BEE7-1D37-4091-913B-D4BFA8A3067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13" y="3193"/>
              <a:ext cx="0" cy="211"/>
            </a:xfrm>
            <a:prstGeom prst="line">
              <a:avLst/>
            </a:prstGeom>
            <a:noFill/>
            <a:ln w="254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5" name="Freeform 160">
              <a:extLst>
                <a:ext uri="{FF2B5EF4-FFF2-40B4-BE49-F238E27FC236}">
                  <a16:creationId xmlns:a16="http://schemas.microsoft.com/office/drawing/2014/main" id="{88B49E77-37EC-438F-BC22-6192440818BC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7" y="3447"/>
              <a:ext cx="184" cy="423"/>
            </a:xfrm>
            <a:custGeom>
              <a:avLst/>
              <a:gdLst>
                <a:gd name="T0" fmla="*/ 0 w 184"/>
                <a:gd name="T1" fmla="*/ 282 h 423"/>
                <a:gd name="T2" fmla="*/ 61 w 184"/>
                <a:gd name="T3" fmla="*/ 211 h 423"/>
                <a:gd name="T4" fmla="*/ 0 w 184"/>
                <a:gd name="T5" fmla="*/ 141 h 423"/>
                <a:gd name="T6" fmla="*/ 0 w 184"/>
                <a:gd name="T7" fmla="*/ 0 h 423"/>
                <a:gd name="T8" fmla="*/ 184 w 184"/>
                <a:gd name="T9" fmla="*/ 141 h 423"/>
                <a:gd name="T10" fmla="*/ 184 w 184"/>
                <a:gd name="T11" fmla="*/ 282 h 423"/>
                <a:gd name="T12" fmla="*/ 0 w 184"/>
                <a:gd name="T13" fmla="*/ 423 h 423"/>
                <a:gd name="T14" fmla="*/ 0 w 184"/>
                <a:gd name="T15" fmla="*/ 282 h 4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84" h="423">
                  <a:moveTo>
                    <a:pt x="0" y="282"/>
                  </a:moveTo>
                  <a:lnTo>
                    <a:pt x="61" y="211"/>
                  </a:lnTo>
                  <a:lnTo>
                    <a:pt x="0" y="141"/>
                  </a:lnTo>
                  <a:lnTo>
                    <a:pt x="0" y="0"/>
                  </a:lnTo>
                  <a:lnTo>
                    <a:pt x="184" y="141"/>
                  </a:lnTo>
                  <a:lnTo>
                    <a:pt x="184" y="282"/>
                  </a:lnTo>
                  <a:lnTo>
                    <a:pt x="0" y="423"/>
                  </a:lnTo>
                  <a:lnTo>
                    <a:pt x="0" y="282"/>
                  </a:lnTo>
                </a:path>
              </a:pathLst>
            </a:custGeom>
            <a:noFill/>
            <a:ln w="222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6" name="Rectangle 161">
              <a:extLst>
                <a:ext uri="{FF2B5EF4-FFF2-40B4-BE49-F238E27FC236}">
                  <a16:creationId xmlns:a16="http://schemas.microsoft.com/office/drawing/2014/main" id="{63E87661-9A71-4368-A1BF-E1754343FC5A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4321" y="3595"/>
              <a:ext cx="216" cy="12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1300" b="1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ALU</a:t>
              </a:r>
              <a:endParaRPr kumimoji="0" lang="zh-CN" altLang="zh-CN" sz="13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167" name="Rectangle 162">
              <a:extLst>
                <a:ext uri="{FF2B5EF4-FFF2-40B4-BE49-F238E27FC236}">
                  <a16:creationId xmlns:a16="http://schemas.microsoft.com/office/drawing/2014/main" id="{BC1DC280-4F40-42D4-9264-30A10A92F0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54" y="3567"/>
              <a:ext cx="125" cy="13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1400" b="1" i="0" u="none" strike="noStrike" cap="none" normalizeH="0" baseline="0" dirty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I</a:t>
              </a:r>
              <a:r>
                <a:rPr kumimoji="0" lang="en-US" altLang="zh-CN" sz="1400" b="1" i="0" u="none" strike="noStrike" cap="none" normalizeH="0" baseline="0" dirty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M</a:t>
              </a:r>
              <a:endParaRPr kumimoji="0" lang="zh-CN" altLang="zh-CN" sz="1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168" name="Freeform 163">
              <a:extLst>
                <a:ext uri="{FF2B5EF4-FFF2-40B4-BE49-F238E27FC236}">
                  <a16:creationId xmlns:a16="http://schemas.microsoft.com/office/drawing/2014/main" id="{DC065D8A-F537-4446-B787-A12D0DC1E4C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1" y="3531"/>
              <a:ext cx="148" cy="254"/>
            </a:xfrm>
            <a:custGeom>
              <a:avLst/>
              <a:gdLst>
                <a:gd name="T0" fmla="*/ 148 w 148"/>
                <a:gd name="T1" fmla="*/ 0 h 254"/>
                <a:gd name="T2" fmla="*/ 0 w 148"/>
                <a:gd name="T3" fmla="*/ 0 h 254"/>
                <a:gd name="T4" fmla="*/ 0 w 148"/>
                <a:gd name="T5" fmla="*/ 254 h 254"/>
                <a:gd name="T6" fmla="*/ 148 w 148"/>
                <a:gd name="T7" fmla="*/ 254 h 2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48" h="254">
                  <a:moveTo>
                    <a:pt x="148" y="0"/>
                  </a:moveTo>
                  <a:lnTo>
                    <a:pt x="0" y="0"/>
                  </a:lnTo>
                  <a:lnTo>
                    <a:pt x="0" y="254"/>
                  </a:lnTo>
                  <a:lnTo>
                    <a:pt x="148" y="254"/>
                  </a:lnTo>
                </a:path>
              </a:pathLst>
            </a:custGeom>
            <a:noFill/>
            <a:ln w="222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9" name="Freeform 164">
              <a:extLst>
                <a:ext uri="{FF2B5EF4-FFF2-40B4-BE49-F238E27FC236}">
                  <a16:creationId xmlns:a16="http://schemas.microsoft.com/office/drawing/2014/main" id="{48CF24EC-29AE-4417-B5CC-E91CA2AAC5E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0" y="3531"/>
              <a:ext cx="147" cy="254"/>
            </a:xfrm>
            <a:custGeom>
              <a:avLst/>
              <a:gdLst>
                <a:gd name="T0" fmla="*/ 0 w 147"/>
                <a:gd name="T1" fmla="*/ 0 h 254"/>
                <a:gd name="T2" fmla="*/ 147 w 147"/>
                <a:gd name="T3" fmla="*/ 0 h 254"/>
                <a:gd name="T4" fmla="*/ 147 w 147"/>
                <a:gd name="T5" fmla="*/ 254 h 254"/>
                <a:gd name="T6" fmla="*/ 0 w 147"/>
                <a:gd name="T7" fmla="*/ 254 h 2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47" h="254">
                  <a:moveTo>
                    <a:pt x="0" y="0"/>
                  </a:moveTo>
                  <a:lnTo>
                    <a:pt x="147" y="0"/>
                  </a:lnTo>
                  <a:lnTo>
                    <a:pt x="147" y="254"/>
                  </a:lnTo>
                  <a:lnTo>
                    <a:pt x="0" y="254"/>
                  </a:lnTo>
                </a:path>
              </a:pathLst>
            </a:custGeom>
            <a:noFill/>
            <a:ln w="222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0" name="Rectangle 165">
              <a:extLst>
                <a:ext uri="{FF2B5EF4-FFF2-40B4-BE49-F238E27FC236}">
                  <a16:creationId xmlns:a16="http://schemas.microsoft.com/office/drawing/2014/main" id="{C05D0102-3A73-4468-B271-D6577F6C8E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38" y="3570"/>
              <a:ext cx="265" cy="1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1400" b="1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Reg</a:t>
              </a:r>
              <a:endParaRPr kumimoji="0" lang="zh-CN" altLang="zh-CN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171" name="Freeform 166">
              <a:extLst>
                <a:ext uri="{FF2B5EF4-FFF2-40B4-BE49-F238E27FC236}">
                  <a16:creationId xmlns:a16="http://schemas.microsoft.com/office/drawing/2014/main" id="{B237CA46-A6C3-462E-9383-A16732C2368B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4" y="3531"/>
              <a:ext cx="131" cy="254"/>
            </a:xfrm>
            <a:custGeom>
              <a:avLst/>
              <a:gdLst>
                <a:gd name="T0" fmla="*/ 131 w 131"/>
                <a:gd name="T1" fmla="*/ 0 h 254"/>
                <a:gd name="T2" fmla="*/ 0 w 131"/>
                <a:gd name="T3" fmla="*/ 0 h 254"/>
                <a:gd name="T4" fmla="*/ 0 w 131"/>
                <a:gd name="T5" fmla="*/ 254 h 254"/>
                <a:gd name="T6" fmla="*/ 131 w 131"/>
                <a:gd name="T7" fmla="*/ 254 h 2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1" h="254">
                  <a:moveTo>
                    <a:pt x="131" y="0"/>
                  </a:moveTo>
                  <a:lnTo>
                    <a:pt x="0" y="0"/>
                  </a:lnTo>
                  <a:lnTo>
                    <a:pt x="0" y="254"/>
                  </a:lnTo>
                  <a:lnTo>
                    <a:pt x="131" y="254"/>
                  </a:lnTo>
                </a:path>
              </a:pathLst>
            </a:custGeom>
            <a:noFill/>
            <a:ln w="222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2" name="Freeform 167">
              <a:extLst>
                <a:ext uri="{FF2B5EF4-FFF2-40B4-BE49-F238E27FC236}">
                  <a16:creationId xmlns:a16="http://schemas.microsoft.com/office/drawing/2014/main" id="{7ECA6A98-6560-44AD-8027-D6CB50D6E8F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6" y="3531"/>
              <a:ext cx="132" cy="254"/>
            </a:xfrm>
            <a:custGeom>
              <a:avLst/>
              <a:gdLst>
                <a:gd name="T0" fmla="*/ 0 w 132"/>
                <a:gd name="T1" fmla="*/ 0 h 254"/>
                <a:gd name="T2" fmla="*/ 132 w 132"/>
                <a:gd name="T3" fmla="*/ 0 h 254"/>
                <a:gd name="T4" fmla="*/ 132 w 132"/>
                <a:gd name="T5" fmla="*/ 254 h 254"/>
                <a:gd name="T6" fmla="*/ 0 w 132"/>
                <a:gd name="T7" fmla="*/ 254 h 2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2" h="254">
                  <a:moveTo>
                    <a:pt x="0" y="0"/>
                  </a:moveTo>
                  <a:lnTo>
                    <a:pt x="132" y="0"/>
                  </a:lnTo>
                  <a:lnTo>
                    <a:pt x="132" y="254"/>
                  </a:lnTo>
                  <a:lnTo>
                    <a:pt x="0" y="254"/>
                  </a:lnTo>
                </a:path>
              </a:pathLst>
            </a:custGeom>
            <a:noFill/>
            <a:ln w="222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3" name="Line 168">
              <a:extLst>
                <a:ext uri="{FF2B5EF4-FFF2-40B4-BE49-F238E27FC236}">
                  <a16:creationId xmlns:a16="http://schemas.microsoft.com/office/drawing/2014/main" id="{5D5D6742-30E7-4415-A69C-592598A8595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03" y="3659"/>
              <a:ext cx="101" cy="0"/>
            </a:xfrm>
            <a:prstGeom prst="line">
              <a:avLst/>
            </a:prstGeom>
            <a:noFill/>
            <a:ln w="22225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4" name="Freeform 169">
              <a:extLst>
                <a:ext uri="{FF2B5EF4-FFF2-40B4-BE49-F238E27FC236}">
                  <a16:creationId xmlns:a16="http://schemas.microsoft.com/office/drawing/2014/main" id="{16911059-E694-4E21-B7E3-A45C39C4AF2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1" y="3574"/>
              <a:ext cx="42" cy="84"/>
            </a:xfrm>
            <a:custGeom>
              <a:avLst/>
              <a:gdLst>
                <a:gd name="T0" fmla="*/ 0 w 42"/>
                <a:gd name="T1" fmla="*/ 84 h 84"/>
                <a:gd name="T2" fmla="*/ 0 w 42"/>
                <a:gd name="T3" fmla="*/ 0 h 84"/>
                <a:gd name="T4" fmla="*/ 42 w 42"/>
                <a:gd name="T5" fmla="*/ 0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2" h="84">
                  <a:moveTo>
                    <a:pt x="0" y="84"/>
                  </a:moveTo>
                  <a:lnTo>
                    <a:pt x="0" y="0"/>
                  </a:lnTo>
                  <a:lnTo>
                    <a:pt x="42" y="0"/>
                  </a:lnTo>
                </a:path>
              </a:pathLst>
            </a:custGeom>
            <a:noFill/>
            <a:ln w="222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5" name="Line 170">
              <a:extLst>
                <a:ext uri="{FF2B5EF4-FFF2-40B4-BE49-F238E27FC236}">
                  <a16:creationId xmlns:a16="http://schemas.microsoft.com/office/drawing/2014/main" id="{3CBE2BBC-9462-4D94-B279-145D6B2BBD5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168" y="3574"/>
              <a:ext cx="138" cy="0"/>
            </a:xfrm>
            <a:prstGeom prst="line">
              <a:avLst/>
            </a:prstGeom>
            <a:noFill/>
            <a:ln w="22225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6" name="Rectangle 171">
              <a:extLst>
                <a:ext uri="{FF2B5EF4-FFF2-40B4-BE49-F238E27FC236}">
                  <a16:creationId xmlns:a16="http://schemas.microsoft.com/office/drawing/2014/main" id="{7F94DAF0-8928-4F1F-846B-4A2A079E35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9" y="3567"/>
              <a:ext cx="228" cy="15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1400" b="1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DM</a:t>
              </a:r>
              <a:endParaRPr kumimoji="0" lang="zh-CN" altLang="zh-CN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177" name="Freeform 172">
              <a:extLst>
                <a:ext uri="{FF2B5EF4-FFF2-40B4-BE49-F238E27FC236}">
                  <a16:creationId xmlns:a16="http://schemas.microsoft.com/office/drawing/2014/main" id="{669DEC98-C67D-478B-91CF-B169D59A71E3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5" y="3531"/>
              <a:ext cx="143" cy="254"/>
            </a:xfrm>
            <a:custGeom>
              <a:avLst/>
              <a:gdLst>
                <a:gd name="T0" fmla="*/ 143 w 143"/>
                <a:gd name="T1" fmla="*/ 0 h 254"/>
                <a:gd name="T2" fmla="*/ 0 w 143"/>
                <a:gd name="T3" fmla="*/ 0 h 254"/>
                <a:gd name="T4" fmla="*/ 0 w 143"/>
                <a:gd name="T5" fmla="*/ 254 h 254"/>
                <a:gd name="T6" fmla="*/ 143 w 143"/>
                <a:gd name="T7" fmla="*/ 254 h 2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43" h="254">
                  <a:moveTo>
                    <a:pt x="143" y="0"/>
                  </a:moveTo>
                  <a:lnTo>
                    <a:pt x="0" y="0"/>
                  </a:lnTo>
                  <a:lnTo>
                    <a:pt x="0" y="254"/>
                  </a:lnTo>
                  <a:lnTo>
                    <a:pt x="143" y="254"/>
                  </a:lnTo>
                </a:path>
              </a:pathLst>
            </a:custGeom>
            <a:noFill/>
            <a:ln w="222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8" name="Freeform 173">
              <a:extLst>
                <a:ext uri="{FF2B5EF4-FFF2-40B4-BE49-F238E27FC236}">
                  <a16:creationId xmlns:a16="http://schemas.microsoft.com/office/drawing/2014/main" id="{5673FEE9-4CD3-4AE9-9D18-47BD1B239D0E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3" y="3531"/>
              <a:ext cx="148" cy="254"/>
            </a:xfrm>
            <a:custGeom>
              <a:avLst/>
              <a:gdLst>
                <a:gd name="T0" fmla="*/ 0 w 148"/>
                <a:gd name="T1" fmla="*/ 0 h 254"/>
                <a:gd name="T2" fmla="*/ 148 w 148"/>
                <a:gd name="T3" fmla="*/ 0 h 254"/>
                <a:gd name="T4" fmla="*/ 148 w 148"/>
                <a:gd name="T5" fmla="*/ 254 h 254"/>
                <a:gd name="T6" fmla="*/ 0 w 148"/>
                <a:gd name="T7" fmla="*/ 254 h 2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48" h="254">
                  <a:moveTo>
                    <a:pt x="0" y="0"/>
                  </a:moveTo>
                  <a:lnTo>
                    <a:pt x="148" y="0"/>
                  </a:lnTo>
                  <a:lnTo>
                    <a:pt x="148" y="254"/>
                  </a:lnTo>
                  <a:lnTo>
                    <a:pt x="0" y="254"/>
                  </a:lnTo>
                </a:path>
              </a:pathLst>
            </a:custGeom>
            <a:noFill/>
            <a:ln w="222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9" name="Rectangle 174">
              <a:extLst>
                <a:ext uri="{FF2B5EF4-FFF2-40B4-BE49-F238E27FC236}">
                  <a16:creationId xmlns:a16="http://schemas.microsoft.com/office/drawing/2014/main" id="{7FC5B188-9FA5-4DEB-9DB6-7A2101163A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93" y="3567"/>
              <a:ext cx="265" cy="15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1400" b="1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Reg</a:t>
              </a:r>
              <a:endParaRPr kumimoji="0" lang="zh-CN" altLang="zh-CN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180" name="Freeform 175">
              <a:extLst>
                <a:ext uri="{FF2B5EF4-FFF2-40B4-BE49-F238E27FC236}">
                  <a16:creationId xmlns:a16="http://schemas.microsoft.com/office/drawing/2014/main" id="{5D6793D4-6B29-4065-BF8D-12BEE3AF6CAA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8" y="3531"/>
              <a:ext cx="121" cy="254"/>
            </a:xfrm>
            <a:custGeom>
              <a:avLst/>
              <a:gdLst>
                <a:gd name="T0" fmla="*/ 121 w 121"/>
                <a:gd name="T1" fmla="*/ 0 h 254"/>
                <a:gd name="T2" fmla="*/ 0 w 121"/>
                <a:gd name="T3" fmla="*/ 0 h 254"/>
                <a:gd name="T4" fmla="*/ 0 w 121"/>
                <a:gd name="T5" fmla="*/ 254 h 254"/>
                <a:gd name="T6" fmla="*/ 121 w 121"/>
                <a:gd name="T7" fmla="*/ 254 h 2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1" h="254">
                  <a:moveTo>
                    <a:pt x="121" y="0"/>
                  </a:moveTo>
                  <a:lnTo>
                    <a:pt x="0" y="0"/>
                  </a:lnTo>
                  <a:lnTo>
                    <a:pt x="0" y="254"/>
                  </a:lnTo>
                  <a:lnTo>
                    <a:pt x="121" y="254"/>
                  </a:lnTo>
                </a:path>
              </a:pathLst>
            </a:custGeom>
            <a:noFill/>
            <a:ln w="222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1" name="Freeform 176">
              <a:extLst>
                <a:ext uri="{FF2B5EF4-FFF2-40B4-BE49-F238E27FC236}">
                  <a16:creationId xmlns:a16="http://schemas.microsoft.com/office/drawing/2014/main" id="{37D3EF33-DFA9-48ED-AC6D-75FB772D1CC5}"/>
                </a:ext>
              </a:extLst>
            </p:cNvPr>
            <p:cNvSpPr>
              <a:spLocks/>
            </p:cNvSpPr>
            <p:nvPr/>
          </p:nvSpPr>
          <p:spPr bwMode="auto">
            <a:xfrm>
              <a:off x="5190" y="3531"/>
              <a:ext cx="126" cy="254"/>
            </a:xfrm>
            <a:custGeom>
              <a:avLst/>
              <a:gdLst>
                <a:gd name="T0" fmla="*/ 0 w 126"/>
                <a:gd name="T1" fmla="*/ 0 h 254"/>
                <a:gd name="T2" fmla="*/ 126 w 126"/>
                <a:gd name="T3" fmla="*/ 0 h 254"/>
                <a:gd name="T4" fmla="*/ 126 w 126"/>
                <a:gd name="T5" fmla="*/ 254 h 254"/>
                <a:gd name="T6" fmla="*/ 0 w 126"/>
                <a:gd name="T7" fmla="*/ 254 h 2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6" h="254">
                  <a:moveTo>
                    <a:pt x="0" y="0"/>
                  </a:moveTo>
                  <a:lnTo>
                    <a:pt x="126" y="0"/>
                  </a:lnTo>
                  <a:lnTo>
                    <a:pt x="126" y="254"/>
                  </a:lnTo>
                  <a:lnTo>
                    <a:pt x="0" y="254"/>
                  </a:lnTo>
                </a:path>
              </a:pathLst>
            </a:custGeom>
            <a:noFill/>
            <a:ln w="222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2" name="Line 177">
              <a:extLst>
                <a:ext uri="{FF2B5EF4-FFF2-40B4-BE49-F238E27FC236}">
                  <a16:creationId xmlns:a16="http://schemas.microsoft.com/office/drawing/2014/main" id="{14A47376-B3B8-4C01-BAD3-74638ADD49B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936" y="3659"/>
              <a:ext cx="122" cy="0"/>
            </a:xfrm>
            <a:prstGeom prst="line">
              <a:avLst/>
            </a:prstGeom>
            <a:noFill/>
            <a:ln w="22225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3" name="Line 178">
              <a:extLst>
                <a:ext uri="{FF2B5EF4-FFF2-40B4-BE49-F238E27FC236}">
                  <a16:creationId xmlns:a16="http://schemas.microsoft.com/office/drawing/2014/main" id="{D9A5F043-44A7-4B47-A28E-677404EE54C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512" y="3659"/>
              <a:ext cx="133" cy="0"/>
            </a:xfrm>
            <a:prstGeom prst="line">
              <a:avLst/>
            </a:prstGeom>
            <a:noFill/>
            <a:ln w="22225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4" name="Line 179">
              <a:extLst>
                <a:ext uri="{FF2B5EF4-FFF2-40B4-BE49-F238E27FC236}">
                  <a16:creationId xmlns:a16="http://schemas.microsoft.com/office/drawing/2014/main" id="{134B3974-70BD-4E07-B7DD-A208D623623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168" y="3743"/>
              <a:ext cx="138" cy="0"/>
            </a:xfrm>
            <a:prstGeom prst="line">
              <a:avLst/>
            </a:prstGeom>
            <a:noFill/>
            <a:ln w="22225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5" name="Line 180">
              <a:extLst>
                <a:ext uri="{FF2B5EF4-FFF2-40B4-BE49-F238E27FC236}">
                  <a16:creationId xmlns:a16="http://schemas.microsoft.com/office/drawing/2014/main" id="{0A179512-3C06-4932-9DCB-C72F0C0088C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42" y="3743"/>
              <a:ext cx="0" cy="170"/>
            </a:xfrm>
            <a:prstGeom prst="line">
              <a:avLst/>
            </a:prstGeom>
            <a:noFill/>
            <a:ln w="254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6" name="Line 181">
              <a:extLst>
                <a:ext uri="{FF2B5EF4-FFF2-40B4-BE49-F238E27FC236}">
                  <a16:creationId xmlns:a16="http://schemas.microsoft.com/office/drawing/2014/main" id="{33133B73-1336-4A2D-848E-C96E109DE71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42" y="3913"/>
              <a:ext cx="297" cy="0"/>
            </a:xfrm>
            <a:prstGeom prst="line">
              <a:avLst/>
            </a:prstGeom>
            <a:noFill/>
            <a:ln w="254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7" name="Line 182">
              <a:extLst>
                <a:ext uri="{FF2B5EF4-FFF2-40B4-BE49-F238E27FC236}">
                  <a16:creationId xmlns:a16="http://schemas.microsoft.com/office/drawing/2014/main" id="{F4E068CB-ED62-4B55-BF16-183BFAC52C5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539" y="3659"/>
              <a:ext cx="0" cy="254"/>
            </a:xfrm>
            <a:prstGeom prst="line">
              <a:avLst/>
            </a:prstGeom>
            <a:noFill/>
            <a:ln w="254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8" name="Line 183">
              <a:extLst>
                <a:ext uri="{FF2B5EF4-FFF2-40B4-BE49-F238E27FC236}">
                  <a16:creationId xmlns:a16="http://schemas.microsoft.com/office/drawing/2014/main" id="{665A3AE1-2ABD-4FAB-A637-1F4AB143777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13" y="3659"/>
              <a:ext cx="0" cy="211"/>
            </a:xfrm>
            <a:prstGeom prst="line">
              <a:avLst/>
            </a:prstGeom>
            <a:noFill/>
            <a:ln w="254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9" name="Line 184">
              <a:extLst>
                <a:ext uri="{FF2B5EF4-FFF2-40B4-BE49-F238E27FC236}">
                  <a16:creationId xmlns:a16="http://schemas.microsoft.com/office/drawing/2014/main" id="{04D40DB0-3B61-401C-A375-57EAEA0FEA8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13" y="3870"/>
              <a:ext cx="381" cy="0"/>
            </a:xfrm>
            <a:prstGeom prst="line">
              <a:avLst/>
            </a:prstGeom>
            <a:noFill/>
            <a:ln w="254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0" name="Line 185">
              <a:extLst>
                <a:ext uri="{FF2B5EF4-FFF2-40B4-BE49-F238E27FC236}">
                  <a16:creationId xmlns:a16="http://schemas.microsoft.com/office/drawing/2014/main" id="{A612ED1E-450C-4A34-B234-46443F41900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994" y="3659"/>
              <a:ext cx="0" cy="211"/>
            </a:xfrm>
            <a:prstGeom prst="line">
              <a:avLst/>
            </a:prstGeom>
            <a:noFill/>
            <a:ln w="254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1" name="Rectangle 186">
              <a:extLst>
                <a:ext uri="{FF2B5EF4-FFF2-40B4-BE49-F238E27FC236}">
                  <a16:creationId xmlns:a16="http://schemas.microsoft.com/office/drawing/2014/main" id="{42511AE0-D40D-4D58-99A6-ED6B376FED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20" y="1559"/>
              <a:ext cx="1101" cy="381"/>
            </a:xfrm>
            <a:prstGeom prst="rect">
              <a:avLst/>
            </a:prstGeom>
            <a:noFill/>
            <a:ln w="33338" cap="flat">
              <a:solidFill>
                <a:srgbClr val="3333C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</p:grpSp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6" name="墨迹 5">
                <a:extLst>
                  <a:ext uri="{FF2B5EF4-FFF2-40B4-BE49-F238E27FC236}">
                    <a16:creationId xmlns:a16="http://schemas.microsoft.com/office/drawing/2014/main" id="{402405BC-5B07-EFA0-9660-79CCA2B73BAD}"/>
                  </a:ext>
                </a:extLst>
              </p14:cNvPr>
              <p14:cNvContentPartPr/>
              <p14:nvPr/>
            </p14:nvContentPartPr>
            <p14:xfrm>
              <a:off x="7181640" y="1976400"/>
              <a:ext cx="360" cy="360"/>
            </p14:xfrm>
          </p:contentPart>
        </mc:Choice>
        <mc:Fallback xmlns="">
          <p:pic>
            <p:nvPicPr>
              <p:cNvPr id="6" name="墨迹 5">
                <a:extLst>
                  <a:ext uri="{FF2B5EF4-FFF2-40B4-BE49-F238E27FC236}">
                    <a16:creationId xmlns:a16="http://schemas.microsoft.com/office/drawing/2014/main" id="{402405BC-5B07-EFA0-9660-79CCA2B73BAD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7172280" y="1967040"/>
                <a:ext cx="19080" cy="1908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3949714517"/>
      </p:ext>
    </p:extLst>
  </p:cSld>
  <p:clrMapOvr>
    <a:masterClrMapping/>
  </p:clrMapOvr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>
            <a:extLst>
              <a:ext uri="{FF2B5EF4-FFF2-40B4-BE49-F238E27FC236}">
                <a16:creationId xmlns:a16="http://schemas.microsoft.com/office/drawing/2014/main" id="{3878218F-6B20-4A59-965F-18DE005944F8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dirty="0"/>
              <a:t>解决数据冒险的方法</a:t>
            </a:r>
          </a:p>
        </p:txBody>
      </p:sp>
      <p:sp>
        <p:nvSpPr>
          <p:cNvPr id="3" name="内容占位符 2">
            <a:extLst>
              <a:ext uri="{FF2B5EF4-FFF2-40B4-BE49-F238E27FC236}">
                <a16:creationId xmlns:a16="http://schemas.microsoft.com/office/drawing/2014/main" id="{A6DB5A02-FF86-434B-B235-6EB2F812AEE7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r>
              <a:rPr lang="zh-CN" altLang="en-US" dirty="0">
                <a:solidFill>
                  <a:srgbClr val="3333FF"/>
                </a:solidFill>
              </a:rPr>
              <a:t>能否不用</a:t>
            </a:r>
            <a:r>
              <a:rPr lang="en-US" altLang="zh-CN" dirty="0">
                <a:solidFill>
                  <a:srgbClr val="3333FF"/>
                </a:solidFill>
              </a:rPr>
              <a:t>Stall</a:t>
            </a:r>
            <a:r>
              <a:rPr lang="zh-CN" altLang="en-US" dirty="0">
                <a:solidFill>
                  <a:srgbClr val="3333FF"/>
                </a:solidFill>
              </a:rPr>
              <a:t>？</a:t>
            </a:r>
            <a:endParaRPr lang="en-US" altLang="zh-CN" dirty="0">
              <a:solidFill>
                <a:srgbClr val="3333FF"/>
              </a:solidFill>
            </a:endParaRPr>
          </a:p>
          <a:p>
            <a:pPr marL="685800" lvl="2" indent="0">
              <a:buNone/>
            </a:pPr>
            <a:endParaRPr lang="zh-CN" altLang="en-US" dirty="0"/>
          </a:p>
        </p:txBody>
      </p:sp>
      <p:sp>
        <p:nvSpPr>
          <p:cNvPr id="4" name="灯片编号占位符 3">
            <a:extLst>
              <a:ext uri="{FF2B5EF4-FFF2-40B4-BE49-F238E27FC236}">
                <a16:creationId xmlns:a16="http://schemas.microsoft.com/office/drawing/2014/main" id="{B943BFF8-BCFE-4F1B-B001-6FD0DBE777E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0626FCE3-5FF9-430D-BA0B-DE80AAE71673}" type="slidenum">
              <a:rPr lang="zh-CN" altLang="en-US" smtClean="0"/>
              <a:t>33</a:t>
            </a:fld>
            <a:endParaRPr lang="zh-CN" altLang="en-US"/>
          </a:p>
        </p:txBody>
      </p:sp>
      <p:grpSp>
        <p:nvGrpSpPr>
          <p:cNvPr id="55" name="组合 54">
            <a:extLst>
              <a:ext uri="{FF2B5EF4-FFF2-40B4-BE49-F238E27FC236}">
                <a16:creationId xmlns:a16="http://schemas.microsoft.com/office/drawing/2014/main" id="{A7216317-A294-603E-5951-44DEDD23F6BB}"/>
              </a:ext>
            </a:extLst>
          </p:cNvPr>
          <p:cNvGrpSpPr/>
          <p:nvPr/>
        </p:nvGrpSpPr>
        <p:grpSpPr>
          <a:xfrm>
            <a:off x="1222337" y="2888273"/>
            <a:ext cx="2506529" cy="2954655"/>
            <a:chOff x="975811" y="3382903"/>
            <a:chExt cx="2506529" cy="2954655"/>
          </a:xfrm>
        </p:grpSpPr>
        <p:sp>
          <p:nvSpPr>
            <p:cNvPr id="54" name="矩形 53">
              <a:extLst>
                <a:ext uri="{FF2B5EF4-FFF2-40B4-BE49-F238E27FC236}">
                  <a16:creationId xmlns:a16="http://schemas.microsoft.com/office/drawing/2014/main" id="{42FF32F5-A639-FB92-3533-5D87F7365C70}"/>
                </a:ext>
              </a:extLst>
            </p:cNvPr>
            <p:cNvSpPr/>
            <p:nvPr/>
          </p:nvSpPr>
          <p:spPr>
            <a:xfrm>
              <a:off x="975811" y="5442430"/>
              <a:ext cx="2133918" cy="559941"/>
            </a:xfrm>
            <a:prstGeom prst="rect">
              <a:avLst/>
            </a:prstGeom>
            <a:solidFill>
              <a:srgbClr val="FFD4EA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53" name="矩形 52">
              <a:extLst>
                <a:ext uri="{FF2B5EF4-FFF2-40B4-BE49-F238E27FC236}">
                  <a16:creationId xmlns:a16="http://schemas.microsoft.com/office/drawing/2014/main" id="{7606642B-DDF5-9780-FF56-A4330DB62E37}"/>
                </a:ext>
              </a:extLst>
            </p:cNvPr>
            <p:cNvSpPr/>
            <p:nvPr/>
          </p:nvSpPr>
          <p:spPr>
            <a:xfrm>
              <a:off x="975811" y="4341243"/>
              <a:ext cx="2133918" cy="559941"/>
            </a:xfrm>
            <a:prstGeom prst="rect">
              <a:avLst/>
            </a:prstGeom>
            <a:solidFill>
              <a:srgbClr val="FFD4EA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7" name="文本框 6">
              <a:extLst>
                <a:ext uri="{FF2B5EF4-FFF2-40B4-BE49-F238E27FC236}">
                  <a16:creationId xmlns:a16="http://schemas.microsoft.com/office/drawing/2014/main" id="{B92111E6-0EE6-F8DD-6C4F-C4E8F42D7B2B}"/>
                </a:ext>
              </a:extLst>
            </p:cNvPr>
            <p:cNvSpPr txBox="1"/>
            <p:nvPr/>
          </p:nvSpPr>
          <p:spPr>
            <a:xfrm>
              <a:off x="975811" y="3382903"/>
              <a:ext cx="2133918" cy="29546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altLang="zh-CN" sz="2400" dirty="0">
                  <a:ea typeface="SimHei" panose="02010609060101010101" pitchFamily="49" charset="-122"/>
                </a:rPr>
                <a:t>Slow Code:</a:t>
              </a:r>
            </a:p>
            <a:p>
              <a:endParaRPr lang="en-US" altLang="zh-CN" dirty="0">
                <a:ea typeface="SimHei" panose="02010609060101010101" pitchFamily="49" charset="-122"/>
              </a:endParaRPr>
            </a:p>
            <a:p>
              <a:r>
                <a:rPr lang="en-US" altLang="zh-CN" dirty="0" err="1">
                  <a:ea typeface="SimHei" panose="02010609060101010101" pitchFamily="49" charset="-122"/>
                </a:rPr>
                <a:t>lw</a:t>
              </a:r>
              <a:r>
                <a:rPr lang="en-US" altLang="zh-CN" dirty="0">
                  <a:ea typeface="SimHei" panose="02010609060101010101" pitchFamily="49" charset="-122"/>
                </a:rPr>
                <a:t>	$2, b</a:t>
              </a:r>
            </a:p>
            <a:p>
              <a:r>
                <a:rPr lang="en-US" altLang="zh-CN" dirty="0" err="1">
                  <a:ea typeface="SimHei" panose="02010609060101010101" pitchFamily="49" charset="-122"/>
                </a:rPr>
                <a:t>lw</a:t>
              </a:r>
              <a:r>
                <a:rPr lang="en-US" altLang="zh-CN" dirty="0">
                  <a:ea typeface="SimHei" panose="02010609060101010101" pitchFamily="49" charset="-122"/>
                </a:rPr>
                <a:t>	</a:t>
              </a:r>
              <a:r>
                <a:rPr lang="en-US" altLang="zh-CN" dirty="0">
                  <a:solidFill>
                    <a:srgbClr val="0070C0"/>
                  </a:solidFill>
                  <a:ea typeface="SimHei" panose="02010609060101010101" pitchFamily="49" charset="-122"/>
                </a:rPr>
                <a:t>$3</a:t>
              </a:r>
              <a:r>
                <a:rPr lang="en-US" altLang="zh-CN" dirty="0">
                  <a:ea typeface="SimHei" panose="02010609060101010101" pitchFamily="49" charset="-122"/>
                </a:rPr>
                <a:t>,</a:t>
              </a:r>
              <a:r>
                <a:rPr lang="zh-CN" altLang="en-US" dirty="0">
                  <a:ea typeface="SimHei" panose="02010609060101010101" pitchFamily="49" charset="-122"/>
                </a:rPr>
                <a:t> </a:t>
              </a:r>
              <a:r>
                <a:rPr lang="en-US" altLang="zh-CN" dirty="0">
                  <a:ea typeface="SimHei" panose="02010609060101010101" pitchFamily="49" charset="-122"/>
                </a:rPr>
                <a:t>c</a:t>
              </a:r>
            </a:p>
            <a:p>
              <a:r>
                <a:rPr lang="en-US" altLang="zh-CN" dirty="0">
                  <a:ea typeface="SimHei" panose="02010609060101010101" pitchFamily="49" charset="-122"/>
                </a:rPr>
                <a:t>add	$1,</a:t>
              </a:r>
              <a:r>
                <a:rPr lang="zh-CN" altLang="en-US" dirty="0">
                  <a:ea typeface="SimHei" panose="02010609060101010101" pitchFamily="49" charset="-122"/>
                </a:rPr>
                <a:t> </a:t>
              </a:r>
              <a:r>
                <a:rPr lang="en-US" altLang="zh-CN" dirty="0">
                  <a:ea typeface="SimHei" panose="02010609060101010101" pitchFamily="49" charset="-122"/>
                </a:rPr>
                <a:t>$2,</a:t>
              </a:r>
              <a:r>
                <a:rPr lang="zh-CN" altLang="en-US" dirty="0">
                  <a:ea typeface="SimHei" panose="02010609060101010101" pitchFamily="49" charset="-122"/>
                </a:rPr>
                <a:t> </a:t>
              </a:r>
              <a:r>
                <a:rPr lang="en-US" altLang="zh-CN" dirty="0">
                  <a:solidFill>
                    <a:srgbClr val="0070C0"/>
                  </a:solidFill>
                  <a:ea typeface="SimHei" panose="02010609060101010101" pitchFamily="49" charset="-122"/>
                </a:rPr>
                <a:t>$3</a:t>
              </a:r>
            </a:p>
            <a:p>
              <a:r>
                <a:rPr lang="en-US" altLang="zh-CN" dirty="0" err="1">
                  <a:solidFill>
                    <a:srgbClr val="C00000"/>
                  </a:solidFill>
                  <a:ea typeface="SimHei" panose="02010609060101010101" pitchFamily="49" charset="-122"/>
                </a:rPr>
                <a:t>sw</a:t>
              </a:r>
              <a:r>
                <a:rPr lang="en-US" altLang="zh-CN" dirty="0">
                  <a:solidFill>
                    <a:srgbClr val="C00000"/>
                  </a:solidFill>
                  <a:ea typeface="SimHei" panose="02010609060101010101" pitchFamily="49" charset="-122"/>
                </a:rPr>
                <a:t>	a, $1</a:t>
              </a:r>
            </a:p>
            <a:p>
              <a:r>
                <a:rPr lang="en-US" altLang="zh-CN" dirty="0" err="1">
                  <a:solidFill>
                    <a:srgbClr val="C00000"/>
                  </a:solidFill>
                  <a:ea typeface="SimHei" panose="02010609060101010101" pitchFamily="49" charset="-122"/>
                </a:rPr>
                <a:t>lw</a:t>
              </a:r>
              <a:r>
                <a:rPr lang="en-US" altLang="zh-CN" dirty="0">
                  <a:solidFill>
                    <a:srgbClr val="C00000"/>
                  </a:solidFill>
                  <a:ea typeface="SimHei" panose="02010609060101010101" pitchFamily="49" charset="-122"/>
                </a:rPr>
                <a:t>	$5, e</a:t>
              </a:r>
            </a:p>
            <a:p>
              <a:r>
                <a:rPr lang="en-US" altLang="zh-CN" dirty="0" err="1">
                  <a:ea typeface="SimHei" panose="02010609060101010101" pitchFamily="49" charset="-122"/>
                </a:rPr>
                <a:t>lw</a:t>
              </a:r>
              <a:r>
                <a:rPr lang="en-US" altLang="zh-CN" dirty="0">
                  <a:ea typeface="SimHei" panose="02010609060101010101" pitchFamily="49" charset="-122"/>
                </a:rPr>
                <a:t>	</a:t>
              </a:r>
              <a:r>
                <a:rPr lang="en-US" altLang="zh-CN" dirty="0">
                  <a:solidFill>
                    <a:srgbClr val="0070C0"/>
                  </a:solidFill>
                  <a:ea typeface="SimHei" panose="02010609060101010101" pitchFamily="49" charset="-122"/>
                </a:rPr>
                <a:t>$6</a:t>
              </a:r>
              <a:r>
                <a:rPr lang="en-US" altLang="zh-CN" dirty="0">
                  <a:ea typeface="SimHei" panose="02010609060101010101" pitchFamily="49" charset="-122"/>
                </a:rPr>
                <a:t>, f</a:t>
              </a:r>
            </a:p>
            <a:p>
              <a:r>
                <a:rPr lang="en-US" altLang="zh-CN" dirty="0">
                  <a:ea typeface="SimHei" panose="02010609060101010101" pitchFamily="49" charset="-122"/>
                </a:rPr>
                <a:t>sub	$4, $5, </a:t>
              </a:r>
              <a:r>
                <a:rPr lang="en-US" altLang="zh-CN" dirty="0">
                  <a:solidFill>
                    <a:srgbClr val="0070C0"/>
                  </a:solidFill>
                  <a:ea typeface="SimHei" panose="02010609060101010101" pitchFamily="49" charset="-122"/>
                </a:rPr>
                <a:t>$6</a:t>
              </a:r>
            </a:p>
            <a:p>
              <a:r>
                <a:rPr lang="en-US" altLang="zh-CN" dirty="0" err="1">
                  <a:ea typeface="SimHei" panose="02010609060101010101" pitchFamily="49" charset="-122"/>
                </a:rPr>
                <a:t>sw</a:t>
              </a:r>
              <a:r>
                <a:rPr lang="en-US" altLang="zh-CN" dirty="0">
                  <a:ea typeface="SimHei" panose="02010609060101010101" pitchFamily="49" charset="-122"/>
                </a:rPr>
                <a:t>	d, $4</a:t>
              </a:r>
            </a:p>
          </p:txBody>
        </p:sp>
        <p:sp>
          <p:nvSpPr>
            <p:cNvPr id="46" name="弧形 45">
              <a:extLst>
                <a:ext uri="{FF2B5EF4-FFF2-40B4-BE49-F238E27FC236}">
                  <a16:creationId xmlns:a16="http://schemas.microsoft.com/office/drawing/2014/main" id="{33BC5390-6152-7409-1ACE-32E719F54723}"/>
                </a:ext>
              </a:extLst>
            </p:cNvPr>
            <p:cNvSpPr/>
            <p:nvPr/>
          </p:nvSpPr>
          <p:spPr>
            <a:xfrm>
              <a:off x="1935480" y="5034280"/>
              <a:ext cx="1097280" cy="674848"/>
            </a:xfrm>
            <a:prstGeom prst="arc">
              <a:avLst>
                <a:gd name="adj1" fmla="val 16163543"/>
                <a:gd name="adj2" fmla="val 6026730"/>
              </a:avLst>
            </a:prstGeom>
            <a:ln w="28575">
              <a:solidFill>
                <a:srgbClr val="C00000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47" name="弧形 46">
              <a:extLst>
                <a:ext uri="{FF2B5EF4-FFF2-40B4-BE49-F238E27FC236}">
                  <a16:creationId xmlns:a16="http://schemas.microsoft.com/office/drawing/2014/main" id="{EBCB4CA1-A53B-DB3C-8E85-B1A73668BC83}"/>
                </a:ext>
              </a:extLst>
            </p:cNvPr>
            <p:cNvSpPr/>
            <p:nvPr/>
          </p:nvSpPr>
          <p:spPr>
            <a:xfrm flipV="1">
              <a:off x="1699260" y="4612482"/>
              <a:ext cx="1783080" cy="741837"/>
            </a:xfrm>
            <a:prstGeom prst="arc">
              <a:avLst>
                <a:gd name="adj1" fmla="val 15276670"/>
                <a:gd name="adj2" fmla="val 7605003"/>
              </a:avLst>
            </a:prstGeom>
            <a:ln w="28575">
              <a:solidFill>
                <a:srgbClr val="C00000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62" name="组合 61">
            <a:extLst>
              <a:ext uri="{FF2B5EF4-FFF2-40B4-BE49-F238E27FC236}">
                <a16:creationId xmlns:a16="http://schemas.microsoft.com/office/drawing/2014/main" id="{00AA4E25-5285-6CF3-E34C-F19B18EE21BD}"/>
              </a:ext>
            </a:extLst>
          </p:cNvPr>
          <p:cNvGrpSpPr/>
          <p:nvPr/>
        </p:nvGrpSpPr>
        <p:grpSpPr>
          <a:xfrm>
            <a:off x="5531444" y="2888273"/>
            <a:ext cx="2141697" cy="2954655"/>
            <a:chOff x="5310822" y="3424269"/>
            <a:chExt cx="2141697" cy="2954655"/>
          </a:xfrm>
        </p:grpSpPr>
        <p:sp>
          <p:nvSpPr>
            <p:cNvPr id="57" name="矩形 56">
              <a:extLst>
                <a:ext uri="{FF2B5EF4-FFF2-40B4-BE49-F238E27FC236}">
                  <a16:creationId xmlns:a16="http://schemas.microsoft.com/office/drawing/2014/main" id="{827B0D64-666C-3B24-1C0E-08D530421F9E}"/>
                </a:ext>
              </a:extLst>
            </p:cNvPr>
            <p:cNvSpPr/>
            <p:nvPr/>
          </p:nvSpPr>
          <p:spPr>
            <a:xfrm>
              <a:off x="5310822" y="5234135"/>
              <a:ext cx="2133918" cy="828039"/>
            </a:xfrm>
            <a:prstGeom prst="rect">
              <a:avLst/>
            </a:prstGeom>
            <a:solidFill>
              <a:srgbClr val="D2D2D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56" name="矩形 55">
              <a:extLst>
                <a:ext uri="{FF2B5EF4-FFF2-40B4-BE49-F238E27FC236}">
                  <a16:creationId xmlns:a16="http://schemas.microsoft.com/office/drawing/2014/main" id="{82ECBC6E-F669-3FCF-7AD1-6D3DD7D6585F}"/>
                </a:ext>
              </a:extLst>
            </p:cNvPr>
            <p:cNvSpPr/>
            <p:nvPr/>
          </p:nvSpPr>
          <p:spPr>
            <a:xfrm>
              <a:off x="5318601" y="4384040"/>
              <a:ext cx="2133918" cy="828039"/>
            </a:xfrm>
            <a:prstGeom prst="rect">
              <a:avLst/>
            </a:prstGeom>
            <a:solidFill>
              <a:srgbClr val="CFE7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50" name="文本框 49">
              <a:extLst>
                <a:ext uri="{FF2B5EF4-FFF2-40B4-BE49-F238E27FC236}">
                  <a16:creationId xmlns:a16="http://schemas.microsoft.com/office/drawing/2014/main" id="{304FBD2F-B2DC-0698-311C-8C936AB9AF66}"/>
                </a:ext>
              </a:extLst>
            </p:cNvPr>
            <p:cNvSpPr txBox="1"/>
            <p:nvPr/>
          </p:nvSpPr>
          <p:spPr>
            <a:xfrm>
              <a:off x="5318601" y="3424269"/>
              <a:ext cx="2133918" cy="29546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altLang="zh-CN" sz="2400" dirty="0">
                  <a:ea typeface="SimHei" panose="02010609060101010101" pitchFamily="49" charset="-122"/>
                </a:rPr>
                <a:t>Fast Code:</a:t>
              </a:r>
            </a:p>
            <a:p>
              <a:endParaRPr lang="en-US" altLang="zh-CN" dirty="0">
                <a:ea typeface="SimHei" panose="02010609060101010101" pitchFamily="49" charset="-122"/>
              </a:endParaRPr>
            </a:p>
            <a:p>
              <a:r>
                <a:rPr lang="en-US" altLang="zh-CN" dirty="0" err="1">
                  <a:ea typeface="SimHei" panose="02010609060101010101" pitchFamily="49" charset="-122"/>
                </a:rPr>
                <a:t>lw</a:t>
              </a:r>
              <a:r>
                <a:rPr lang="en-US" altLang="zh-CN" dirty="0">
                  <a:ea typeface="SimHei" panose="02010609060101010101" pitchFamily="49" charset="-122"/>
                </a:rPr>
                <a:t>	$2, b</a:t>
              </a:r>
            </a:p>
            <a:p>
              <a:r>
                <a:rPr lang="en-US" altLang="zh-CN" dirty="0" err="1">
                  <a:ea typeface="SimHei" panose="02010609060101010101" pitchFamily="49" charset="-122"/>
                </a:rPr>
                <a:t>lw</a:t>
              </a:r>
              <a:r>
                <a:rPr lang="en-US" altLang="zh-CN" dirty="0">
                  <a:ea typeface="SimHei" panose="02010609060101010101" pitchFamily="49" charset="-122"/>
                </a:rPr>
                <a:t>	</a:t>
              </a:r>
              <a:r>
                <a:rPr lang="en-US" altLang="zh-CN" dirty="0">
                  <a:solidFill>
                    <a:srgbClr val="0070C0"/>
                  </a:solidFill>
                  <a:ea typeface="SimHei" panose="02010609060101010101" pitchFamily="49" charset="-122"/>
                </a:rPr>
                <a:t>$3</a:t>
              </a:r>
              <a:r>
                <a:rPr lang="en-US" altLang="zh-CN" dirty="0">
                  <a:ea typeface="SimHei" panose="02010609060101010101" pitchFamily="49" charset="-122"/>
                </a:rPr>
                <a:t>,</a:t>
              </a:r>
              <a:r>
                <a:rPr lang="zh-CN" altLang="en-US" dirty="0">
                  <a:ea typeface="SimHei" panose="02010609060101010101" pitchFamily="49" charset="-122"/>
                </a:rPr>
                <a:t> </a:t>
              </a:r>
              <a:r>
                <a:rPr lang="en-US" altLang="zh-CN" dirty="0">
                  <a:ea typeface="SimHei" panose="02010609060101010101" pitchFamily="49" charset="-122"/>
                </a:rPr>
                <a:t>c</a:t>
              </a:r>
            </a:p>
            <a:p>
              <a:r>
                <a:rPr lang="en-US" altLang="zh-CN" u="sng" dirty="0" err="1">
                  <a:solidFill>
                    <a:srgbClr val="C00000"/>
                  </a:solidFill>
                  <a:ea typeface="SimHei" panose="02010609060101010101" pitchFamily="49" charset="-122"/>
                </a:rPr>
                <a:t>lw</a:t>
              </a:r>
              <a:r>
                <a:rPr lang="en-US" altLang="zh-CN" u="sng" dirty="0">
                  <a:solidFill>
                    <a:srgbClr val="C00000"/>
                  </a:solidFill>
                  <a:ea typeface="SimHei" panose="02010609060101010101" pitchFamily="49" charset="-122"/>
                </a:rPr>
                <a:t>	$5, e</a:t>
              </a:r>
            </a:p>
            <a:p>
              <a:r>
                <a:rPr lang="en-US" altLang="zh-CN" dirty="0">
                  <a:ea typeface="SimHei" panose="02010609060101010101" pitchFamily="49" charset="-122"/>
                </a:rPr>
                <a:t>add	$1,</a:t>
              </a:r>
              <a:r>
                <a:rPr lang="zh-CN" altLang="en-US" dirty="0">
                  <a:ea typeface="SimHei" panose="02010609060101010101" pitchFamily="49" charset="-122"/>
                </a:rPr>
                <a:t> </a:t>
              </a:r>
              <a:r>
                <a:rPr lang="en-US" altLang="zh-CN" dirty="0">
                  <a:ea typeface="SimHei" panose="02010609060101010101" pitchFamily="49" charset="-122"/>
                </a:rPr>
                <a:t>$2,</a:t>
              </a:r>
              <a:r>
                <a:rPr lang="zh-CN" altLang="en-US" dirty="0">
                  <a:ea typeface="SimHei" panose="02010609060101010101" pitchFamily="49" charset="-122"/>
                </a:rPr>
                <a:t> </a:t>
              </a:r>
              <a:r>
                <a:rPr lang="en-US" altLang="zh-CN" dirty="0">
                  <a:solidFill>
                    <a:srgbClr val="0070C0"/>
                  </a:solidFill>
                  <a:ea typeface="SimHei" panose="02010609060101010101" pitchFamily="49" charset="-122"/>
                </a:rPr>
                <a:t>$3</a:t>
              </a:r>
            </a:p>
            <a:p>
              <a:r>
                <a:rPr lang="en-US" altLang="zh-CN" dirty="0" err="1">
                  <a:ea typeface="SimHei" panose="02010609060101010101" pitchFamily="49" charset="-122"/>
                </a:rPr>
                <a:t>lw</a:t>
              </a:r>
              <a:r>
                <a:rPr lang="en-US" altLang="zh-CN" dirty="0">
                  <a:ea typeface="SimHei" panose="02010609060101010101" pitchFamily="49" charset="-122"/>
                </a:rPr>
                <a:t>	</a:t>
              </a:r>
              <a:r>
                <a:rPr lang="en-US" altLang="zh-CN" dirty="0">
                  <a:solidFill>
                    <a:srgbClr val="0070C0"/>
                  </a:solidFill>
                  <a:ea typeface="SimHei" panose="02010609060101010101" pitchFamily="49" charset="-122"/>
                </a:rPr>
                <a:t>$6</a:t>
              </a:r>
              <a:r>
                <a:rPr lang="en-US" altLang="zh-CN" dirty="0">
                  <a:ea typeface="SimHei" panose="02010609060101010101" pitchFamily="49" charset="-122"/>
                </a:rPr>
                <a:t>, f</a:t>
              </a:r>
            </a:p>
            <a:p>
              <a:r>
                <a:rPr lang="en-US" altLang="zh-CN" u="sng" dirty="0" err="1">
                  <a:solidFill>
                    <a:srgbClr val="C00000"/>
                  </a:solidFill>
                  <a:ea typeface="SimHei" panose="02010609060101010101" pitchFamily="49" charset="-122"/>
                </a:rPr>
                <a:t>sw</a:t>
              </a:r>
              <a:r>
                <a:rPr lang="en-US" altLang="zh-CN" u="sng" dirty="0">
                  <a:solidFill>
                    <a:srgbClr val="C00000"/>
                  </a:solidFill>
                  <a:ea typeface="SimHei" panose="02010609060101010101" pitchFamily="49" charset="-122"/>
                </a:rPr>
                <a:t>	a, $1</a:t>
              </a:r>
            </a:p>
            <a:p>
              <a:r>
                <a:rPr lang="en-US" altLang="zh-CN" dirty="0">
                  <a:ea typeface="SimHei" panose="02010609060101010101" pitchFamily="49" charset="-122"/>
                </a:rPr>
                <a:t>sub	$4, $5, </a:t>
              </a:r>
              <a:r>
                <a:rPr lang="en-US" altLang="zh-CN" dirty="0">
                  <a:solidFill>
                    <a:srgbClr val="0070C0"/>
                  </a:solidFill>
                  <a:ea typeface="SimHei" panose="02010609060101010101" pitchFamily="49" charset="-122"/>
                </a:rPr>
                <a:t>$6</a:t>
              </a:r>
            </a:p>
            <a:p>
              <a:r>
                <a:rPr lang="en-US" altLang="zh-CN" dirty="0" err="1">
                  <a:ea typeface="SimHei" panose="02010609060101010101" pitchFamily="49" charset="-122"/>
                </a:rPr>
                <a:t>sw</a:t>
              </a:r>
              <a:r>
                <a:rPr lang="en-US" altLang="zh-CN" dirty="0">
                  <a:ea typeface="SimHei" panose="02010609060101010101" pitchFamily="49" charset="-122"/>
                </a:rPr>
                <a:t>	d, $4</a:t>
              </a:r>
            </a:p>
          </p:txBody>
        </p:sp>
      </p:grpSp>
      <p:sp>
        <p:nvSpPr>
          <p:cNvPr id="61" name="文本框 60">
            <a:extLst>
              <a:ext uri="{FF2B5EF4-FFF2-40B4-BE49-F238E27FC236}">
                <a16:creationId xmlns:a16="http://schemas.microsoft.com/office/drawing/2014/main" id="{05CEC1A9-4B69-DC44-5117-FEE9F39FF33E}"/>
              </a:ext>
            </a:extLst>
          </p:cNvPr>
          <p:cNvSpPr txBox="1"/>
          <p:nvPr/>
        </p:nvSpPr>
        <p:spPr>
          <a:xfrm>
            <a:off x="922471" y="1721665"/>
            <a:ext cx="7665720" cy="1015663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zh-CN" altLang="en-US" sz="2000" dirty="0">
                <a:ea typeface="SimHei" panose="02010609060101010101" pitchFamily="49" charset="-122"/>
              </a:rPr>
              <a:t>以下源程序可生成两种不同的代码，优化的代码可避免</a:t>
            </a:r>
            <a:r>
              <a:rPr lang="en-US" altLang="zh-CN" sz="2000" dirty="0">
                <a:ea typeface="SimHei" panose="02010609060101010101" pitchFamily="49" charset="-122"/>
              </a:rPr>
              <a:t>Load</a:t>
            </a:r>
            <a:r>
              <a:rPr lang="zh-CN" altLang="en-US" sz="2000" dirty="0">
                <a:ea typeface="SimHei" panose="02010609060101010101" pitchFamily="49" charset="-122"/>
              </a:rPr>
              <a:t>阻塞</a:t>
            </a:r>
          </a:p>
          <a:p>
            <a:r>
              <a:rPr lang="en-US" altLang="zh-CN" sz="2000" dirty="0">
                <a:ea typeface="SimHei" panose="02010609060101010101" pitchFamily="49" charset="-122"/>
              </a:rPr>
              <a:t>        a = b + c</a:t>
            </a:r>
          </a:p>
          <a:p>
            <a:r>
              <a:rPr lang="en-US" altLang="zh-CN" sz="2000" dirty="0">
                <a:ea typeface="SimHei" panose="02010609060101010101" pitchFamily="49" charset="-122"/>
              </a:rPr>
              <a:t>        d = e – f</a:t>
            </a:r>
          </a:p>
        </p:txBody>
      </p:sp>
      <p:sp>
        <p:nvSpPr>
          <p:cNvPr id="63" name="箭头: 右 62">
            <a:extLst>
              <a:ext uri="{FF2B5EF4-FFF2-40B4-BE49-F238E27FC236}">
                <a16:creationId xmlns:a16="http://schemas.microsoft.com/office/drawing/2014/main" id="{85B3D214-C760-493D-A2B8-3D81BA8893F2}"/>
              </a:ext>
            </a:extLst>
          </p:cNvPr>
          <p:cNvSpPr/>
          <p:nvPr/>
        </p:nvSpPr>
        <p:spPr>
          <a:xfrm>
            <a:off x="3807789" y="4305164"/>
            <a:ext cx="1528422" cy="741837"/>
          </a:xfrm>
          <a:prstGeom prst="rightArrow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zh-CN" altLang="en-US" b="1" dirty="0">
                <a:solidFill>
                  <a:schemeClr val="tx1"/>
                </a:solidFill>
              </a:rPr>
              <a:t>调整后</a:t>
            </a:r>
          </a:p>
        </p:txBody>
      </p:sp>
      <p:sp>
        <p:nvSpPr>
          <p:cNvPr id="64" name="文本框 63">
            <a:extLst>
              <a:ext uri="{FF2B5EF4-FFF2-40B4-BE49-F238E27FC236}">
                <a16:creationId xmlns:a16="http://schemas.microsoft.com/office/drawing/2014/main" id="{138980D2-5478-ACCD-1B03-49EBCF156412}"/>
              </a:ext>
            </a:extLst>
          </p:cNvPr>
          <p:cNvSpPr txBox="1"/>
          <p:nvPr/>
        </p:nvSpPr>
        <p:spPr>
          <a:xfrm>
            <a:off x="3279286" y="5889213"/>
            <a:ext cx="3242486" cy="40011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zh-CN" altLang="en-US" sz="2000" dirty="0">
                <a:solidFill>
                  <a:srgbClr val="C00000"/>
                </a:solidFill>
                <a:ea typeface="SimHei" panose="02010609060101010101" pitchFamily="49" charset="-122"/>
              </a:rPr>
              <a:t>编译器的优化很重要！</a:t>
            </a:r>
            <a:endParaRPr lang="en-US" altLang="zh-CN" sz="2000" dirty="0">
              <a:solidFill>
                <a:srgbClr val="C00000"/>
              </a:solidFill>
              <a:ea typeface="SimHei" panose="02010609060101010101" pitchFamily="49" charset="-122"/>
            </a:endParaRPr>
          </a:p>
        </p:txBody>
      </p:sp>
    </p:spTree>
    <p:extLst>
      <p:ext uri="{BB962C8B-B14F-4D97-AF65-F5344CB8AC3E}">
        <p14:creationId xmlns:p14="http://schemas.microsoft.com/office/powerpoint/2010/main" val="1214232617"/>
      </p:ext>
    </p:extLst>
  </p:cSld>
  <p:clrMapOvr>
    <a:masterClrMapping/>
  </p:clrMapOvr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>
            <a:extLst>
              <a:ext uri="{FF2B5EF4-FFF2-40B4-BE49-F238E27FC236}">
                <a16:creationId xmlns:a16="http://schemas.microsoft.com/office/drawing/2014/main" id="{661CEDED-B0BD-48F0-BF5B-0050141E1E6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dirty="0"/>
              <a:t>解决数据冒险的方法</a:t>
            </a:r>
          </a:p>
        </p:txBody>
      </p:sp>
      <p:sp>
        <p:nvSpPr>
          <p:cNvPr id="3" name="内容占位符 2">
            <a:extLst>
              <a:ext uri="{FF2B5EF4-FFF2-40B4-BE49-F238E27FC236}">
                <a16:creationId xmlns:a16="http://schemas.microsoft.com/office/drawing/2014/main" id="{05539973-9A89-4F37-9C4F-B7ECBE9CBD63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r>
              <a:rPr lang="zh-CN" altLang="en-US" dirty="0"/>
              <a:t>编译器优化以避免</a:t>
            </a:r>
            <a:r>
              <a:rPr lang="en-US" altLang="zh-CN" dirty="0"/>
              <a:t>Stall</a:t>
            </a:r>
            <a:r>
              <a:rPr lang="zh-CN" altLang="en-US" dirty="0"/>
              <a:t>的情况</a:t>
            </a:r>
            <a:endParaRPr lang="en-US" altLang="zh-CN" dirty="0"/>
          </a:p>
          <a:p>
            <a:pPr lvl="1"/>
            <a:r>
              <a:rPr lang="zh-CN" altLang="en-US" dirty="0"/>
              <a:t>调度优化后，</a:t>
            </a:r>
            <a:r>
              <a:rPr lang="en-US" altLang="zh-CN" dirty="0"/>
              <a:t>load</a:t>
            </a:r>
            <a:r>
              <a:rPr lang="zh-CN" altLang="en-US" dirty="0"/>
              <a:t>阻塞现象大约降低了</a:t>
            </a:r>
            <a:r>
              <a:rPr lang="en-US" altLang="zh-CN" dirty="0"/>
              <a:t>1/2~1/3</a:t>
            </a:r>
            <a:endParaRPr lang="zh-CN" altLang="en-US" dirty="0"/>
          </a:p>
        </p:txBody>
      </p:sp>
      <p:sp>
        <p:nvSpPr>
          <p:cNvPr id="4" name="灯片编号占位符 3">
            <a:extLst>
              <a:ext uri="{FF2B5EF4-FFF2-40B4-BE49-F238E27FC236}">
                <a16:creationId xmlns:a16="http://schemas.microsoft.com/office/drawing/2014/main" id="{4E1EEC06-9F45-48BD-A85E-743684E907A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0626FCE3-5FF9-430D-BA0B-DE80AAE71673}" type="slidenum">
              <a:rPr lang="zh-CN" altLang="en-US" smtClean="0"/>
              <a:t>34</a:t>
            </a:fld>
            <a:endParaRPr lang="zh-CN" altLang="en-US"/>
          </a:p>
        </p:txBody>
      </p:sp>
      <p:pic>
        <p:nvPicPr>
          <p:cNvPr id="6" name="图片 5">
            <a:extLst>
              <a:ext uri="{FF2B5EF4-FFF2-40B4-BE49-F238E27FC236}">
                <a16:creationId xmlns:a16="http://schemas.microsoft.com/office/drawing/2014/main" id="{96062DBF-25A6-4A4E-BA61-C0DB3AC0C6C0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546297" y="2517305"/>
            <a:ext cx="6051406" cy="3552475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503594412"/>
      </p:ext>
    </p:extLst>
  </p:cSld>
  <p:clrMapOvr>
    <a:masterClrMapping/>
  </p:clrMapOvr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灯片编号占位符 3">
            <a:extLst>
              <a:ext uri="{FF2B5EF4-FFF2-40B4-BE49-F238E27FC236}">
                <a16:creationId xmlns:a16="http://schemas.microsoft.com/office/drawing/2014/main" id="{01B137B7-4BDF-43A7-816F-19620FE671A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0626FCE3-5FF9-430D-BA0B-DE80AAE71673}" type="slidenum">
              <a:rPr lang="zh-CN" altLang="en-US" smtClean="0"/>
              <a:t>35</a:t>
            </a:fld>
            <a:endParaRPr lang="zh-CN" altLang="en-US"/>
          </a:p>
        </p:txBody>
      </p:sp>
      <p:sp>
        <p:nvSpPr>
          <p:cNvPr id="7" name="文本框 6">
            <a:extLst>
              <a:ext uri="{FF2B5EF4-FFF2-40B4-BE49-F238E27FC236}">
                <a16:creationId xmlns:a16="http://schemas.microsoft.com/office/drawing/2014/main" id="{FB59E350-E535-493E-A789-B8E0F85C24CF}"/>
              </a:ext>
            </a:extLst>
          </p:cNvPr>
          <p:cNvSpPr txBox="1"/>
          <p:nvPr>
            <p:custDataLst>
              <p:tags r:id="rId2"/>
            </p:custDataLst>
          </p:nvPr>
        </p:nvSpPr>
        <p:spPr>
          <a:xfrm>
            <a:off x="914400" y="635000"/>
            <a:ext cx="7315200" cy="2143125"/>
          </a:xfrm>
          <a:prstGeom prst="rect">
            <a:avLst/>
          </a:prstGeom>
          <a:noFill/>
        </p:spPr>
        <p:txBody>
          <a:bodyPr vert="horz" wrap="square" rtlCol="0" anchor="ctr" anchorCtr="0">
            <a:noAutofit/>
          </a:bodyPr>
          <a:lstStyle/>
          <a:p>
            <a:r>
              <a:rPr lang="zh-CN" altLang="en-US" sz="2800" dirty="0">
                <a:ea typeface="SimHei" panose="02010609060101010101" pitchFamily="49" charset="-122"/>
              </a:rPr>
              <a:t>关于处理器数据冒险，下列说法</a:t>
            </a:r>
            <a:r>
              <a:rPr lang="zh-CN" altLang="en-US" sz="2800" dirty="0">
                <a:solidFill>
                  <a:srgbClr val="C00000"/>
                </a:solidFill>
                <a:ea typeface="SimHei" panose="02010609060101010101" pitchFamily="49" charset="-122"/>
              </a:rPr>
              <a:t>错误</a:t>
            </a:r>
            <a:r>
              <a:rPr lang="zh-CN" altLang="en-US" sz="2800" dirty="0">
                <a:ea typeface="SimHei" panose="02010609060101010101" pitchFamily="49" charset="-122"/>
              </a:rPr>
              <a:t>的是</a:t>
            </a:r>
            <a:endParaRPr lang="en-US" altLang="zh-CN" sz="2800" dirty="0">
              <a:ea typeface="SimHei" panose="02010609060101010101" pitchFamily="49" charset="-122"/>
            </a:endParaRPr>
          </a:p>
        </p:txBody>
      </p:sp>
      <p:sp>
        <p:nvSpPr>
          <p:cNvPr id="8" name="文本框 7">
            <a:extLst>
              <a:ext uri="{FF2B5EF4-FFF2-40B4-BE49-F238E27FC236}">
                <a16:creationId xmlns:a16="http://schemas.microsoft.com/office/drawing/2014/main" id="{5B16CB79-5328-41F6-A8BA-1E939315823B}"/>
              </a:ext>
            </a:extLst>
          </p:cNvPr>
          <p:cNvSpPr txBox="1"/>
          <p:nvPr>
            <p:custDataLst>
              <p:tags r:id="rId3"/>
            </p:custDataLst>
          </p:nvPr>
        </p:nvSpPr>
        <p:spPr>
          <a:xfrm>
            <a:off x="1828800" y="2209005"/>
            <a:ext cx="6400800" cy="642938"/>
          </a:xfrm>
          <a:prstGeom prst="rect">
            <a:avLst/>
          </a:prstGeom>
          <a:noFill/>
        </p:spPr>
        <p:txBody>
          <a:bodyPr vert="horz" rtlCol="0" anchor="ctr" anchorCtr="0">
            <a:noAutofit/>
          </a:bodyPr>
          <a:lstStyle/>
          <a:p>
            <a:r>
              <a:rPr lang="zh-CN" altLang="en-US" sz="2400" dirty="0">
                <a:ea typeface="SimHei" panose="02010609060101010101" pitchFamily="49" charset="-122"/>
              </a:rPr>
              <a:t>通过编译器优化，调整指令顺序，可以一定程度上减少数据冒险。</a:t>
            </a:r>
            <a:endParaRPr lang="en-US" altLang="zh-CN" sz="2400" dirty="0">
              <a:ea typeface="SimHei" panose="02010609060101010101" pitchFamily="49" charset="-122"/>
            </a:endParaRPr>
          </a:p>
        </p:txBody>
      </p:sp>
      <p:sp>
        <p:nvSpPr>
          <p:cNvPr id="9" name="文本框 8">
            <a:extLst>
              <a:ext uri="{FF2B5EF4-FFF2-40B4-BE49-F238E27FC236}">
                <a16:creationId xmlns:a16="http://schemas.microsoft.com/office/drawing/2014/main" id="{B8D19003-3DC5-4E77-AD5C-C6AC9260D23B}"/>
              </a:ext>
            </a:extLst>
          </p:cNvPr>
          <p:cNvSpPr txBox="1"/>
          <p:nvPr>
            <p:custDataLst>
              <p:tags r:id="rId4"/>
            </p:custDataLst>
          </p:nvPr>
        </p:nvSpPr>
        <p:spPr>
          <a:xfrm>
            <a:off x="1828800" y="3643313"/>
            <a:ext cx="6400800" cy="642938"/>
          </a:xfrm>
          <a:prstGeom prst="rect">
            <a:avLst/>
          </a:prstGeom>
          <a:noFill/>
        </p:spPr>
        <p:txBody>
          <a:bodyPr vert="horz" rtlCol="0" anchor="ctr" anchorCtr="0">
            <a:noAutofit/>
          </a:bodyPr>
          <a:lstStyle/>
          <a:p>
            <a:r>
              <a:rPr lang="en-US" altLang="zh-CN" sz="2400" dirty="0">
                <a:ea typeface="SimHei" panose="02010609060101010101" pitchFamily="49" charset="-122"/>
              </a:rPr>
              <a:t>ALU</a:t>
            </a:r>
            <a:r>
              <a:rPr lang="zh-CN" altLang="en-US" sz="2400" dirty="0">
                <a:ea typeface="SimHei" panose="02010609060101010101" pitchFamily="49" charset="-122"/>
              </a:rPr>
              <a:t>的操作数可以来自寄存器堆、立即数、</a:t>
            </a:r>
            <a:r>
              <a:rPr lang="en-US" altLang="zh-CN" sz="2400" dirty="0">
                <a:ea typeface="SimHei" panose="02010609060101010101" pitchFamily="49" charset="-122"/>
              </a:rPr>
              <a:t>EX/</a:t>
            </a:r>
            <a:r>
              <a:rPr lang="en-US" altLang="zh-CN" sz="2400" dirty="0" err="1">
                <a:ea typeface="SimHei" panose="02010609060101010101" pitchFamily="49" charset="-122"/>
              </a:rPr>
              <a:t>MEM.ALUOut</a:t>
            </a:r>
            <a:r>
              <a:rPr lang="zh-CN" altLang="en-US" sz="2400" dirty="0">
                <a:ea typeface="SimHei" panose="02010609060101010101" pitchFamily="49" charset="-122"/>
              </a:rPr>
              <a:t>、</a:t>
            </a:r>
            <a:r>
              <a:rPr lang="en-US" altLang="zh-CN" sz="2400" dirty="0">
                <a:ea typeface="SimHei" panose="02010609060101010101" pitchFamily="49" charset="-122"/>
              </a:rPr>
              <a:t>MEM/</a:t>
            </a:r>
            <a:r>
              <a:rPr lang="en-US" altLang="zh-CN" sz="2400" dirty="0" err="1">
                <a:ea typeface="SimHei" panose="02010609060101010101" pitchFamily="49" charset="-122"/>
              </a:rPr>
              <a:t>WB.ALUOut</a:t>
            </a:r>
            <a:r>
              <a:rPr lang="zh-CN" altLang="en-US" sz="2400" dirty="0">
                <a:ea typeface="SimHei" panose="02010609060101010101" pitchFamily="49" charset="-122"/>
              </a:rPr>
              <a:t>、主存数据寄存器（</a:t>
            </a:r>
            <a:r>
              <a:rPr lang="en-US" altLang="zh-CN" sz="2400" dirty="0">
                <a:ea typeface="SimHei" panose="02010609060101010101" pitchFamily="49" charset="-122"/>
              </a:rPr>
              <a:t>MDR</a:t>
            </a:r>
            <a:r>
              <a:rPr lang="zh-CN" altLang="en-US" sz="2400" dirty="0">
                <a:ea typeface="SimHei" panose="02010609060101010101" pitchFamily="49" charset="-122"/>
              </a:rPr>
              <a:t>）等</a:t>
            </a:r>
          </a:p>
        </p:txBody>
      </p:sp>
      <p:sp>
        <p:nvSpPr>
          <p:cNvPr id="10" name="文本框 9">
            <a:extLst>
              <a:ext uri="{FF2B5EF4-FFF2-40B4-BE49-F238E27FC236}">
                <a16:creationId xmlns:a16="http://schemas.microsoft.com/office/drawing/2014/main" id="{10606A1E-3857-4F02-AC7E-B20E45A2CACD}"/>
              </a:ext>
            </a:extLst>
          </p:cNvPr>
          <p:cNvSpPr txBox="1"/>
          <p:nvPr>
            <p:custDataLst>
              <p:tags r:id="rId5"/>
            </p:custDataLst>
          </p:nvPr>
        </p:nvSpPr>
        <p:spPr>
          <a:xfrm>
            <a:off x="1828800" y="5141914"/>
            <a:ext cx="6400800" cy="642938"/>
          </a:xfrm>
          <a:prstGeom prst="rect">
            <a:avLst/>
          </a:prstGeom>
          <a:noFill/>
        </p:spPr>
        <p:txBody>
          <a:bodyPr vert="horz" rtlCol="0" anchor="ctr" anchorCtr="0">
            <a:noAutofit/>
          </a:bodyPr>
          <a:lstStyle/>
          <a:p>
            <a:r>
              <a:rPr lang="zh-CN" altLang="en-US" sz="2400" dirty="0">
                <a:ea typeface="SimHei" panose="02010609060101010101" pitchFamily="49" charset="-122"/>
              </a:rPr>
              <a:t>在</a:t>
            </a:r>
            <a:r>
              <a:rPr lang="en-US" altLang="zh-CN" sz="2400" dirty="0">
                <a:ea typeface="SimHei" panose="02010609060101010101" pitchFamily="49" charset="-122"/>
              </a:rPr>
              <a:t>WB</a:t>
            </a:r>
            <a:r>
              <a:rPr lang="zh-CN" altLang="en-US" sz="2400" dirty="0">
                <a:ea typeface="SimHei" panose="02010609060101010101" pitchFamily="49" charset="-122"/>
              </a:rPr>
              <a:t>阶段之后，需要额外的电路把已经写回的数据转发给</a:t>
            </a:r>
            <a:r>
              <a:rPr lang="en-US" altLang="zh-CN" sz="2400" dirty="0">
                <a:ea typeface="SimHei" panose="02010609060101010101" pitchFamily="49" charset="-122"/>
              </a:rPr>
              <a:t>ALU</a:t>
            </a:r>
          </a:p>
        </p:txBody>
      </p:sp>
      <p:sp>
        <p:nvSpPr>
          <p:cNvPr id="12" name="椭圆 11">
            <a:extLst>
              <a:ext uri="{FF2B5EF4-FFF2-40B4-BE49-F238E27FC236}">
                <a16:creationId xmlns:a16="http://schemas.microsoft.com/office/drawing/2014/main" id="{4FEAF0B9-9D66-4002-B1C6-465BD981CDBF}"/>
              </a:ext>
            </a:extLst>
          </p:cNvPr>
          <p:cNvSpPr>
            <a:spLocks noChangeAspect="1"/>
          </p:cNvSpPr>
          <p:nvPr>
            <p:custDataLst>
              <p:tags r:id="rId6"/>
            </p:custDataLst>
          </p:nvPr>
        </p:nvSpPr>
        <p:spPr>
          <a:xfrm>
            <a:off x="1114425" y="2273298"/>
            <a:ext cx="514350" cy="514350"/>
          </a:xfrm>
          <a:prstGeom prst="ellipse">
            <a:avLst/>
          </a:prstGeom>
          <a:solidFill>
            <a:srgbClr val="808080"/>
          </a:solidFill>
          <a:ln w="12700" cmpd="sng">
            <a:solidFill>
              <a:srgbClr val="000000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rtlCol="0" anchor="ctr" anchorCtr="1">
            <a:noAutofit/>
          </a:bodyPr>
          <a:lstStyle/>
          <a:p>
            <a:pPr algn="ctr"/>
            <a:r>
              <a:rPr lang="en-US" altLang="zh-CN" sz="1600">
                <a:solidFill>
                  <a:srgbClr val="FFFFFF"/>
                </a:solidFill>
                <a:latin typeface="Microsoft Yahei" panose="020B0503020204020204" pitchFamily="34" charset="-122"/>
                <a:ea typeface="Microsoft Yahei" panose="020B0503020204020204" pitchFamily="34" charset="-122"/>
                <a:sym typeface="Microsoft Yahei" panose="020B0503020204020204" pitchFamily="34" charset="-122"/>
              </a:rPr>
              <a:t>A</a:t>
            </a:r>
            <a:endParaRPr lang="zh-CN" altLang="en-US" sz="1600">
              <a:solidFill>
                <a:srgbClr val="FFFFFF"/>
              </a:solidFill>
              <a:latin typeface="Microsoft Yahei" panose="020B0503020204020204" pitchFamily="34" charset="-122"/>
              <a:ea typeface="Microsoft Yahei" panose="020B0503020204020204" pitchFamily="34" charset="-122"/>
              <a:sym typeface="Microsoft Yahei" panose="020B0503020204020204" pitchFamily="34" charset="-122"/>
            </a:endParaRPr>
          </a:p>
        </p:txBody>
      </p:sp>
      <p:sp>
        <p:nvSpPr>
          <p:cNvPr id="13" name="椭圆 12">
            <a:extLst>
              <a:ext uri="{FF2B5EF4-FFF2-40B4-BE49-F238E27FC236}">
                <a16:creationId xmlns:a16="http://schemas.microsoft.com/office/drawing/2014/main" id="{CA0AE596-3BFA-4D0D-90A1-39689058DAA9}"/>
              </a:ext>
            </a:extLst>
          </p:cNvPr>
          <p:cNvSpPr>
            <a:spLocks noChangeAspect="1"/>
          </p:cNvSpPr>
          <p:nvPr>
            <p:custDataLst>
              <p:tags r:id="rId7"/>
            </p:custDataLst>
          </p:nvPr>
        </p:nvSpPr>
        <p:spPr>
          <a:xfrm>
            <a:off x="1114425" y="3707606"/>
            <a:ext cx="514350" cy="514350"/>
          </a:xfrm>
          <a:prstGeom prst="ellipse">
            <a:avLst/>
          </a:prstGeom>
          <a:solidFill>
            <a:srgbClr val="808080"/>
          </a:solidFill>
          <a:ln w="12700" cmpd="sng">
            <a:solidFill>
              <a:srgbClr val="000000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rtlCol="0" anchor="ctr" anchorCtr="1">
            <a:noAutofit/>
          </a:bodyPr>
          <a:lstStyle/>
          <a:p>
            <a:pPr algn="ctr"/>
            <a:r>
              <a:rPr lang="en-US" altLang="zh-CN" sz="1600">
                <a:solidFill>
                  <a:srgbClr val="FFFFFF"/>
                </a:solidFill>
                <a:latin typeface="Microsoft Yahei" panose="020B0503020204020204" pitchFamily="34" charset="-122"/>
                <a:ea typeface="Microsoft Yahei" panose="020B0503020204020204" pitchFamily="34" charset="-122"/>
                <a:sym typeface="Microsoft Yahei" panose="020B0503020204020204" pitchFamily="34" charset="-122"/>
              </a:rPr>
              <a:t>B</a:t>
            </a:r>
            <a:endParaRPr lang="zh-CN" altLang="en-US" sz="1600">
              <a:solidFill>
                <a:srgbClr val="FFFFFF"/>
              </a:solidFill>
              <a:latin typeface="Microsoft Yahei" panose="020B0503020204020204" pitchFamily="34" charset="-122"/>
              <a:ea typeface="Microsoft Yahei" panose="020B0503020204020204" pitchFamily="34" charset="-122"/>
              <a:sym typeface="Microsoft Yahei" panose="020B0503020204020204" pitchFamily="34" charset="-122"/>
            </a:endParaRPr>
          </a:p>
        </p:txBody>
      </p:sp>
      <p:sp>
        <p:nvSpPr>
          <p:cNvPr id="14" name="椭圆 13">
            <a:extLst>
              <a:ext uri="{FF2B5EF4-FFF2-40B4-BE49-F238E27FC236}">
                <a16:creationId xmlns:a16="http://schemas.microsoft.com/office/drawing/2014/main" id="{22DE9131-C350-4CD9-82C2-45F1B106C969}"/>
              </a:ext>
            </a:extLst>
          </p:cNvPr>
          <p:cNvSpPr>
            <a:spLocks noChangeAspect="1"/>
          </p:cNvSpPr>
          <p:nvPr>
            <p:custDataLst>
              <p:tags r:id="rId8"/>
            </p:custDataLst>
          </p:nvPr>
        </p:nvSpPr>
        <p:spPr>
          <a:xfrm>
            <a:off x="1114425" y="5206207"/>
            <a:ext cx="514350" cy="514350"/>
          </a:xfrm>
          <a:prstGeom prst="ellipse">
            <a:avLst/>
          </a:prstGeom>
          <a:solidFill>
            <a:srgbClr val="00FF00"/>
          </a:solidFill>
          <a:ln w="25400" cmpd="sng">
            <a:solidFill>
              <a:srgbClr val="000000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rtlCol="0" anchor="ctr" anchorCtr="1">
            <a:noAutofit/>
          </a:bodyPr>
          <a:lstStyle/>
          <a:p>
            <a:pPr algn="ctr"/>
            <a:r>
              <a:rPr lang="en-US" altLang="zh-CN" sz="1600">
                <a:solidFill>
                  <a:srgbClr val="FFFFFF"/>
                </a:solidFill>
                <a:latin typeface="Microsoft Yahei" panose="020B0503020204020204" pitchFamily="34" charset="-122"/>
                <a:ea typeface="Microsoft Yahei" panose="020B0503020204020204" pitchFamily="34" charset="-122"/>
                <a:sym typeface="Microsoft Yahei" panose="020B0503020204020204" pitchFamily="34" charset="-122"/>
              </a:rPr>
              <a:t>C</a:t>
            </a:r>
            <a:endParaRPr lang="zh-CN" altLang="en-US" sz="1600">
              <a:solidFill>
                <a:srgbClr val="FFFFFF"/>
              </a:solidFill>
              <a:latin typeface="Microsoft Yahei" panose="020B0503020204020204" pitchFamily="34" charset="-122"/>
              <a:ea typeface="Microsoft Yahei" panose="020B0503020204020204" pitchFamily="34" charset="-122"/>
              <a:sym typeface="Microsoft Yahei" panose="020B0503020204020204" pitchFamily="34" charset="-122"/>
            </a:endParaRPr>
          </a:p>
        </p:txBody>
      </p:sp>
      <p:sp>
        <p:nvSpPr>
          <p:cNvPr id="16" name="矩形: 圆角 15">
            <a:extLst>
              <a:ext uri="{FF2B5EF4-FFF2-40B4-BE49-F238E27FC236}">
                <a16:creationId xmlns:a16="http://schemas.microsoft.com/office/drawing/2014/main" id="{A82C35C7-D05D-4D58-ACAA-53835A01422F}"/>
              </a:ext>
            </a:extLst>
          </p:cNvPr>
          <p:cNvSpPr/>
          <p:nvPr>
            <p:custDataLst>
              <p:tags r:id="rId9"/>
            </p:custDataLst>
          </p:nvPr>
        </p:nvSpPr>
        <p:spPr>
          <a:xfrm>
            <a:off x="6172200" y="6215063"/>
            <a:ext cx="1543050" cy="411480"/>
          </a:xfrm>
          <a:prstGeom prst="roundRect">
            <a:avLst/>
          </a:prstGeom>
          <a:solidFill>
            <a:srgbClr val="808080"/>
          </a:solidFill>
          <a:ln w="38100" cmpd="sng">
            <a:solidFill>
              <a:srgbClr val="000000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rtlCol="0" anchor="ctr" anchorCtr="1">
            <a:noAutofit/>
          </a:bodyPr>
          <a:lstStyle/>
          <a:p>
            <a:pPr algn="ctr"/>
            <a:r>
              <a:rPr lang="zh-CN" altLang="en-US" sz="1600">
                <a:solidFill>
                  <a:srgbClr val="FFFFFF"/>
                </a:solidFill>
                <a:latin typeface="Microsoft Yahei" panose="020B0503020204020204" pitchFamily="34" charset="-122"/>
                <a:ea typeface="Microsoft Yahei" panose="020B0503020204020204" pitchFamily="34" charset="-122"/>
                <a:sym typeface="Microsoft Yahei" panose="020B0503020204020204" pitchFamily="34" charset="-122"/>
              </a:rPr>
              <a:t>提交</a:t>
            </a:r>
          </a:p>
        </p:txBody>
      </p:sp>
      <p:grpSp>
        <p:nvGrpSpPr>
          <p:cNvPr id="21" name="组合 20">
            <a:extLst>
              <a:ext uri="{FF2B5EF4-FFF2-40B4-BE49-F238E27FC236}">
                <a16:creationId xmlns:a16="http://schemas.microsoft.com/office/drawing/2014/main" id="{CCDF5C7D-E33F-4DD7-8C48-F6E377D47225}"/>
              </a:ext>
            </a:extLst>
          </p:cNvPr>
          <p:cNvGrpSpPr/>
          <p:nvPr>
            <p:custDataLst>
              <p:tags r:id="rId10"/>
            </p:custDataLst>
          </p:nvPr>
        </p:nvGrpSpPr>
        <p:grpSpPr>
          <a:xfrm>
            <a:off x="0" y="0"/>
            <a:ext cx="9144000" cy="635000"/>
            <a:chOff x="0" y="0"/>
            <a:chExt cx="9144000" cy="635000"/>
          </a:xfrm>
        </p:grpSpPr>
        <p:sp>
          <p:nvSpPr>
            <p:cNvPr id="17" name="TitleBackground">
              <a:extLst>
                <a:ext uri="{FF2B5EF4-FFF2-40B4-BE49-F238E27FC236}">
                  <a16:creationId xmlns:a16="http://schemas.microsoft.com/office/drawing/2014/main" id="{4BC04EE3-A49F-43D6-83CA-D1E7E63365F4}"/>
                </a:ext>
              </a:extLst>
            </p:cNvPr>
            <p:cNvSpPr/>
            <p:nvPr>
              <p:custDataLst>
                <p:tags r:id="rId12"/>
              </p:custDataLst>
            </p:nvPr>
          </p:nvSpPr>
          <p:spPr>
            <a:xfrm>
              <a:off x="0" y="0"/>
              <a:ext cx="9144000" cy="635000"/>
            </a:xfrm>
            <a:prstGeom prst="rect">
              <a:avLst/>
            </a:prstGeom>
            <a:solidFill>
              <a:srgbClr val="F6F7F8"/>
            </a:solidFill>
            <a:ln w="25400" cap="flat" cmpd="sng" algn="ctr">
              <a:noFill/>
              <a:prstDash val="solid"/>
            </a:ln>
            <a:effectLst/>
            <a:extLst>
              <a:ext uri="{91240B29-F687-4F45-9708-019B960494DF}">
                <a14:hiddenLine xmlns:a14="http://schemas.microsoft.com/office/drawing/2010/main" w="25400" cap="flat" cmpd="sng" algn="ctr">
                  <a:solidFill>
                    <a:schemeClr val="accent1">
                      <a:shade val="50000"/>
                    </a:schemeClr>
                  </a:solidFill>
                  <a:prstDash val="solid"/>
                </a14:hiddenLine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8" name="ColorBlock">
              <a:extLst>
                <a:ext uri="{FF2B5EF4-FFF2-40B4-BE49-F238E27FC236}">
                  <a16:creationId xmlns:a16="http://schemas.microsoft.com/office/drawing/2014/main" id="{61CF6223-9050-409B-B4A3-59DA5D1F90BA}"/>
                </a:ext>
              </a:extLst>
            </p:cNvPr>
            <p:cNvSpPr/>
            <p:nvPr>
              <p:custDataLst>
                <p:tags r:id="rId13"/>
              </p:custDataLst>
            </p:nvPr>
          </p:nvSpPr>
          <p:spPr>
            <a:xfrm>
              <a:off x="0" y="0"/>
              <a:ext cx="190500" cy="635000"/>
            </a:xfrm>
            <a:prstGeom prst="rect">
              <a:avLst/>
            </a:prstGeom>
            <a:solidFill>
              <a:srgbClr val="639EF4"/>
            </a:solidFill>
            <a:ln w="25400" cap="flat" cmpd="sng" algn="ctr">
              <a:noFill/>
              <a:prstDash val="solid"/>
            </a:ln>
            <a:effectLst/>
            <a:extLst>
              <a:ext uri="{91240B29-F687-4F45-9708-019B960494DF}">
                <a14:hiddenLine xmlns:a14="http://schemas.microsoft.com/office/drawing/2010/main" w="25400" cap="flat" cmpd="sng" algn="ctr">
                  <a:solidFill>
                    <a:schemeClr val="accent1">
                      <a:shade val="50000"/>
                    </a:schemeClr>
                  </a:solidFill>
                  <a:prstDash val="solid"/>
                </a14:hiddenLine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9" name="TypeText">
              <a:extLst>
                <a:ext uri="{FF2B5EF4-FFF2-40B4-BE49-F238E27FC236}">
                  <a16:creationId xmlns:a16="http://schemas.microsoft.com/office/drawing/2014/main" id="{3D93203E-6F51-4D6E-9233-1F2DCA4BF373}"/>
                </a:ext>
              </a:extLst>
            </p:cNvPr>
            <p:cNvSpPr txBox="1"/>
            <p:nvPr>
              <p:custDataLst>
                <p:tags r:id="rId14"/>
              </p:custDataLst>
            </p:nvPr>
          </p:nvSpPr>
          <p:spPr>
            <a:xfrm>
              <a:off x="254000" y="0"/>
              <a:ext cx="1905000" cy="635000"/>
            </a:xfrm>
            <a:prstGeom prst="rect">
              <a:avLst/>
            </a:prstGeom>
            <a:noFill/>
          </p:spPr>
          <p:txBody>
            <a:bodyPr vert="horz" wrap="none" rtlCol="0" anchor="ctr" anchorCtr="0">
              <a:noAutofit/>
            </a:bodyPr>
            <a:lstStyle/>
            <a:p>
              <a:r>
                <a:rPr lang="zh-CN" altLang="en-US" sz="2600" dirty="0">
                  <a:solidFill>
                    <a:srgbClr val="00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  <a:sym typeface="Microsoft Yahei" panose="020B0503020204020204" pitchFamily="34" charset="-122"/>
                </a:rPr>
                <a:t>单选题</a:t>
              </a:r>
            </a:p>
          </p:txBody>
        </p:sp>
        <p:sp>
          <p:nvSpPr>
            <p:cNvPr id="20" name="TipText">
              <a:extLst>
                <a:ext uri="{FF2B5EF4-FFF2-40B4-BE49-F238E27FC236}">
                  <a16:creationId xmlns:a16="http://schemas.microsoft.com/office/drawing/2014/main" id="{22966001-EEEC-40B5-9737-829A0F0DFEE8}"/>
                </a:ext>
              </a:extLst>
            </p:cNvPr>
            <p:cNvSpPr txBox="1"/>
            <p:nvPr>
              <p:custDataLst>
                <p:tags r:id="rId15"/>
              </p:custDataLst>
            </p:nvPr>
          </p:nvSpPr>
          <p:spPr>
            <a:xfrm>
              <a:off x="1525905" y="109220"/>
              <a:ext cx="2286000" cy="508000"/>
            </a:xfrm>
            <a:prstGeom prst="rect">
              <a:avLst/>
            </a:prstGeom>
            <a:noFill/>
          </p:spPr>
          <p:txBody>
            <a:bodyPr vert="horz" wrap="none" rtlCol="0" anchor="ctr" anchorCtr="0">
              <a:noAutofit/>
            </a:bodyPr>
            <a:lstStyle/>
            <a:p>
              <a:r>
                <a:rPr lang="en-US" altLang="zh-CN" sz="2000">
                  <a:solidFill>
                    <a:srgbClr val="80808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  <a:sym typeface="Microsoft Yahei" panose="020B0503020204020204" pitchFamily="34" charset="-122"/>
                </a:rPr>
                <a:t>1</a:t>
              </a:r>
              <a:r>
                <a:rPr lang="zh-CN" altLang="en-US" sz="2000">
                  <a:solidFill>
                    <a:srgbClr val="80808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  <a:sym typeface="Microsoft Yahei" panose="020B0503020204020204" pitchFamily="34" charset="-122"/>
                </a:rPr>
                <a:t>分</a:t>
              </a:r>
            </a:p>
          </p:txBody>
        </p:sp>
      </p:grpSp>
      <p:pic>
        <p:nvPicPr>
          <p:cNvPr id="6" name="图片 5">
            <a:extLst>
              <a:ext uri="{FF2B5EF4-FFF2-40B4-BE49-F238E27FC236}">
                <a16:creationId xmlns:a16="http://schemas.microsoft.com/office/drawing/2014/main" id="{04A500CA-6ADC-4EF5-8E58-AFB389396D84}"/>
              </a:ext>
            </a:extLst>
          </p:cNvPr>
          <p:cNvPicPr>
            <a:picLocks/>
          </p:cNvPicPr>
          <p:nvPr>
            <p:custDataLst>
              <p:tags r:id="rId11"/>
            </p:custDataLst>
          </p:nvPr>
        </p:nvPicPr>
        <p:blipFill>
          <a:blip r:embed="rId1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594600" y="63500"/>
            <a:ext cx="1422400" cy="508000"/>
          </a:xfrm>
          <a:prstGeom prst="rect">
            <a:avLst/>
          </a:prstGeom>
        </p:spPr>
      </p:pic>
    </p:spTree>
    <p:custDataLst>
      <p:tags r:id="rId1"/>
    </p:custDataLst>
    <p:extLst>
      <p:ext uri="{BB962C8B-B14F-4D97-AF65-F5344CB8AC3E}">
        <p14:creationId xmlns:p14="http://schemas.microsoft.com/office/powerpoint/2010/main" val="816871137"/>
      </p:ext>
    </p:extLst>
  </p:cSld>
  <p:clrMapOvr>
    <a:masterClrMapping/>
  </p:clrMapOvr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>
            <a:extLst>
              <a:ext uri="{FF2B5EF4-FFF2-40B4-BE49-F238E27FC236}">
                <a16:creationId xmlns:a16="http://schemas.microsoft.com/office/drawing/2014/main" id="{C6678D5A-C6B6-40F6-A349-3EA9C3B1ADFF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dirty="0"/>
              <a:t>答案解析</a:t>
            </a:r>
          </a:p>
        </p:txBody>
      </p:sp>
      <p:sp>
        <p:nvSpPr>
          <p:cNvPr id="3" name="内容占位符 2">
            <a:extLst>
              <a:ext uri="{FF2B5EF4-FFF2-40B4-BE49-F238E27FC236}">
                <a16:creationId xmlns:a16="http://schemas.microsoft.com/office/drawing/2014/main" id="{25C5254D-EA0C-4874-8D4F-AB27013122A0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marL="0" indent="0">
              <a:buNone/>
            </a:pPr>
            <a:r>
              <a:rPr lang="zh-CN" altLang="en-US" dirty="0"/>
              <a:t>关于处理器数据冒险，下列说法错误的是</a:t>
            </a:r>
            <a:endParaRPr lang="en-US" altLang="zh-CN" dirty="0"/>
          </a:p>
          <a:p>
            <a:pPr marL="514350" indent="-514350">
              <a:buAutoNum type="alphaUcPeriod"/>
            </a:pPr>
            <a:r>
              <a:rPr lang="zh-CN" altLang="en-US" sz="2400" dirty="0"/>
              <a:t>通过编译器优化，调整指令顺序，可以一定程度上减少数据冒险。</a:t>
            </a:r>
            <a:endParaRPr lang="en-US" altLang="zh-CN" sz="2400" dirty="0"/>
          </a:p>
          <a:p>
            <a:pPr marL="514350" indent="-514350">
              <a:buAutoNum type="alphaUcPeriod"/>
            </a:pPr>
            <a:r>
              <a:rPr lang="en-US" altLang="zh-CN" sz="2400" dirty="0"/>
              <a:t>ALU</a:t>
            </a:r>
            <a:r>
              <a:rPr lang="zh-CN" altLang="en-US" sz="2400" dirty="0"/>
              <a:t>的操作数可以来自寄存器堆、立即数、</a:t>
            </a:r>
            <a:r>
              <a:rPr lang="en-US" altLang="zh-CN" sz="2400" dirty="0"/>
              <a:t>EX/</a:t>
            </a:r>
            <a:r>
              <a:rPr lang="en-US" altLang="zh-CN" sz="2400" dirty="0" err="1"/>
              <a:t>MEM.ALUOut</a:t>
            </a:r>
            <a:r>
              <a:rPr lang="zh-CN" altLang="en-US" sz="2400" dirty="0"/>
              <a:t>、</a:t>
            </a:r>
            <a:r>
              <a:rPr lang="en-US" altLang="zh-CN" sz="2400" dirty="0"/>
              <a:t>MEM/</a:t>
            </a:r>
            <a:r>
              <a:rPr lang="en-US" altLang="zh-CN" sz="2400" dirty="0" err="1"/>
              <a:t>WB.ALUOut</a:t>
            </a:r>
            <a:r>
              <a:rPr lang="zh-CN" altLang="en-US" sz="2400" dirty="0"/>
              <a:t>、主存数据寄存器（</a:t>
            </a:r>
            <a:r>
              <a:rPr lang="en-US" altLang="zh-CN" sz="2400" dirty="0"/>
              <a:t>MDR</a:t>
            </a:r>
            <a:r>
              <a:rPr lang="zh-CN" altLang="en-US" sz="2400" dirty="0"/>
              <a:t>）等</a:t>
            </a:r>
          </a:p>
          <a:p>
            <a:pPr marL="514350" indent="-514350">
              <a:buAutoNum type="alphaUcPeriod"/>
            </a:pPr>
            <a:r>
              <a:rPr lang="zh-CN" altLang="en-US" sz="2400" dirty="0">
                <a:solidFill>
                  <a:srgbClr val="3333FF"/>
                </a:solidFill>
              </a:rPr>
              <a:t>在</a:t>
            </a:r>
            <a:r>
              <a:rPr lang="en-US" altLang="zh-CN" sz="2400" dirty="0">
                <a:solidFill>
                  <a:srgbClr val="3333FF"/>
                </a:solidFill>
              </a:rPr>
              <a:t>WB</a:t>
            </a:r>
            <a:r>
              <a:rPr lang="zh-CN" altLang="en-US" sz="2400" dirty="0">
                <a:solidFill>
                  <a:srgbClr val="3333FF"/>
                </a:solidFill>
              </a:rPr>
              <a:t>阶段之后，需要额外的电路把已经写回的数据转发给</a:t>
            </a:r>
            <a:r>
              <a:rPr lang="en-US" altLang="zh-CN" sz="2400" dirty="0">
                <a:solidFill>
                  <a:srgbClr val="3333FF"/>
                </a:solidFill>
              </a:rPr>
              <a:t>ALU</a:t>
            </a:r>
          </a:p>
          <a:p>
            <a:pPr marL="514350" indent="-514350">
              <a:buAutoNum type="alphaUcPeriod"/>
            </a:pPr>
            <a:endParaRPr lang="zh-CN" altLang="en-US" dirty="0"/>
          </a:p>
        </p:txBody>
      </p:sp>
      <p:sp>
        <p:nvSpPr>
          <p:cNvPr id="4" name="灯片编号占位符 3">
            <a:extLst>
              <a:ext uri="{FF2B5EF4-FFF2-40B4-BE49-F238E27FC236}">
                <a16:creationId xmlns:a16="http://schemas.microsoft.com/office/drawing/2014/main" id="{34ECDE80-568F-40FC-A69B-D92A7D7AF6D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0626FCE3-5FF9-430D-BA0B-DE80AAE71673}" type="slidenum">
              <a:rPr lang="zh-CN" altLang="en-US" smtClean="0"/>
              <a:t>36</a:t>
            </a:fld>
            <a:endParaRPr lang="zh-CN" altLang="en-US"/>
          </a:p>
        </p:txBody>
      </p:sp>
      <p:sp>
        <p:nvSpPr>
          <p:cNvPr id="5" name="矩形 4">
            <a:extLst>
              <a:ext uri="{FF2B5EF4-FFF2-40B4-BE49-F238E27FC236}">
                <a16:creationId xmlns:a16="http://schemas.microsoft.com/office/drawing/2014/main" id="{AE667307-4FA2-45B5-90E4-F88E4EDBDFCC}"/>
              </a:ext>
            </a:extLst>
          </p:cNvPr>
          <p:cNvSpPr/>
          <p:nvPr/>
        </p:nvSpPr>
        <p:spPr>
          <a:xfrm>
            <a:off x="696517" y="4984094"/>
            <a:ext cx="7763666" cy="4001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endParaRPr lang="zh-CN" altLang="en-US" sz="2000" dirty="0">
              <a:solidFill>
                <a:srgbClr val="0070C0"/>
              </a:solidFill>
              <a:latin typeface="+mj-lt"/>
              <a:ea typeface="SimHei" panose="02010609060101010101" pitchFamily="49" charset="-122"/>
              <a:sym typeface="Microsoft Yahei" panose="020B0503020204020204" pitchFamily="34" charset="-122"/>
            </a:endParaRPr>
          </a:p>
        </p:txBody>
      </p:sp>
      <p:sp>
        <p:nvSpPr>
          <p:cNvPr id="6" name="内容占位符 2">
            <a:extLst>
              <a:ext uri="{FF2B5EF4-FFF2-40B4-BE49-F238E27FC236}">
                <a16:creationId xmlns:a16="http://schemas.microsoft.com/office/drawing/2014/main" id="{8105668C-223A-E0FE-52E7-27ABF0E823E6}"/>
              </a:ext>
            </a:extLst>
          </p:cNvPr>
          <p:cNvSpPr txBox="1">
            <a:spLocks/>
          </p:cNvSpPr>
          <p:nvPr/>
        </p:nvSpPr>
        <p:spPr bwMode="auto">
          <a:xfrm>
            <a:off x="457200" y="4625497"/>
            <a:ext cx="8229600" cy="134310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257175" indent="-257175" algn="l" rtl="0" eaLnBrk="1" fontAlgn="base" hangingPunct="1">
              <a:spcBef>
                <a:spcPct val="20000"/>
              </a:spcBef>
              <a:spcAft>
                <a:spcPct val="0"/>
              </a:spcAft>
              <a:buChar char="•"/>
              <a:defRPr sz="2800" b="1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57213" indent="-214313" algn="l" rtl="0" eaLnBrk="1" fontAlgn="base" hangingPunct="1">
              <a:spcBef>
                <a:spcPct val="20000"/>
              </a:spcBef>
              <a:spcAft>
                <a:spcPct val="0"/>
              </a:spcAft>
              <a:buChar char="–"/>
              <a:defRPr sz="2400" b="1">
                <a:solidFill>
                  <a:schemeClr val="tx1"/>
                </a:solidFill>
                <a:latin typeface="+mn-lt"/>
                <a:ea typeface="+mn-ea"/>
              </a:defRPr>
            </a:lvl2pPr>
            <a:lvl3pPr marL="857250" indent="-171450" algn="l" rtl="0" eaLnBrk="1" fontAlgn="base" hangingPunct="1">
              <a:spcBef>
                <a:spcPct val="20000"/>
              </a:spcBef>
              <a:spcAft>
                <a:spcPct val="0"/>
              </a:spcAft>
              <a:buChar char="•"/>
              <a:defRPr sz="2000" b="1">
                <a:solidFill>
                  <a:schemeClr val="tx1"/>
                </a:solidFill>
                <a:latin typeface="+mn-lt"/>
                <a:ea typeface="+mn-ea"/>
              </a:defRPr>
            </a:lvl3pPr>
            <a:lvl4pPr marL="1200150" indent="-171450" algn="l" rtl="0" eaLnBrk="1" fontAlgn="base" hangingPunct="1">
              <a:spcBef>
                <a:spcPct val="20000"/>
              </a:spcBef>
              <a:spcAft>
                <a:spcPct val="0"/>
              </a:spcAft>
              <a:buChar char="–"/>
              <a:defRPr sz="1600" b="1">
                <a:solidFill>
                  <a:schemeClr val="tx1"/>
                </a:solidFill>
                <a:latin typeface="+mn-lt"/>
                <a:ea typeface="+mn-ea"/>
              </a:defRPr>
            </a:lvl4pPr>
            <a:lvl5pPr marL="1543050" indent="-171450" algn="l" rtl="0" eaLnBrk="1" fontAlgn="base" hangingPunct="1">
              <a:spcBef>
                <a:spcPct val="20000"/>
              </a:spcBef>
              <a:spcAft>
                <a:spcPct val="0"/>
              </a:spcAft>
              <a:buChar char="»"/>
              <a:defRPr sz="1600" b="1">
                <a:solidFill>
                  <a:schemeClr val="tx1"/>
                </a:solidFill>
                <a:latin typeface="+mn-lt"/>
                <a:ea typeface="+mn-ea"/>
              </a:defRPr>
            </a:lvl5pPr>
            <a:lvl6pPr marL="1885950" indent="-171450" algn="l" rtl="0" eaLnBrk="1" fontAlgn="base" hangingPunct="1">
              <a:spcBef>
                <a:spcPct val="20000"/>
              </a:spcBef>
              <a:spcAft>
                <a:spcPct val="0"/>
              </a:spcAft>
              <a:buChar char="»"/>
              <a:defRPr sz="1500" b="1">
                <a:solidFill>
                  <a:schemeClr val="tx1"/>
                </a:solidFill>
                <a:latin typeface="+mn-lt"/>
                <a:ea typeface="+mn-ea"/>
              </a:defRPr>
            </a:lvl6pPr>
            <a:lvl7pPr marL="2228850" indent="-171450" algn="l" rtl="0" eaLnBrk="1" fontAlgn="base" hangingPunct="1">
              <a:spcBef>
                <a:spcPct val="20000"/>
              </a:spcBef>
              <a:spcAft>
                <a:spcPct val="0"/>
              </a:spcAft>
              <a:buChar char="»"/>
              <a:defRPr sz="1500" b="1">
                <a:solidFill>
                  <a:schemeClr val="tx1"/>
                </a:solidFill>
                <a:latin typeface="+mn-lt"/>
                <a:ea typeface="+mn-ea"/>
              </a:defRPr>
            </a:lvl7pPr>
            <a:lvl8pPr marL="2571750" indent="-171450" algn="l" rtl="0" eaLnBrk="1" fontAlgn="base" hangingPunct="1">
              <a:spcBef>
                <a:spcPct val="20000"/>
              </a:spcBef>
              <a:spcAft>
                <a:spcPct val="0"/>
              </a:spcAft>
              <a:buChar char="»"/>
              <a:defRPr sz="1500" b="1">
                <a:solidFill>
                  <a:schemeClr val="tx1"/>
                </a:solidFill>
                <a:latin typeface="+mn-lt"/>
                <a:ea typeface="+mn-ea"/>
              </a:defRPr>
            </a:lvl8pPr>
            <a:lvl9pPr marL="2914650" indent="-171450" algn="l" rtl="0" eaLnBrk="1" fontAlgn="base" hangingPunct="1">
              <a:spcBef>
                <a:spcPct val="20000"/>
              </a:spcBef>
              <a:spcAft>
                <a:spcPct val="0"/>
              </a:spcAft>
              <a:buChar char="»"/>
              <a:defRPr sz="1500" b="1">
                <a:solidFill>
                  <a:schemeClr val="tx1"/>
                </a:solidFill>
                <a:latin typeface="+mn-lt"/>
                <a:ea typeface="+mn-ea"/>
              </a:defRPr>
            </a:lvl9pPr>
          </a:lstStyle>
          <a:p>
            <a:r>
              <a:rPr kumimoji="1" lang="zh-CN" altLang="en-US" kern="0" dirty="0">
                <a:solidFill>
                  <a:srgbClr val="3333FF"/>
                </a:solidFill>
              </a:rPr>
              <a:t>解答：</a:t>
            </a:r>
            <a:r>
              <a:rPr kumimoji="1" lang="en-US" altLang="zh-CN" kern="0" dirty="0">
                <a:solidFill>
                  <a:srgbClr val="3333FF"/>
                </a:solidFill>
              </a:rPr>
              <a:t>C</a:t>
            </a:r>
          </a:p>
          <a:p>
            <a:pPr lvl="1"/>
            <a:r>
              <a:rPr lang="en-US" altLang="zh-CN" dirty="0"/>
              <a:t>WB</a:t>
            </a:r>
            <a:r>
              <a:rPr lang="zh-CN" altLang="en-US" dirty="0"/>
              <a:t>之后，寄存器堆支持“先写后读的操作”，数据已经在寄存器堆里， </a:t>
            </a:r>
            <a:r>
              <a:rPr lang="en-US" altLang="zh-CN" dirty="0"/>
              <a:t>ALU</a:t>
            </a:r>
            <a:r>
              <a:rPr lang="zh-CN" altLang="en-US" dirty="0"/>
              <a:t>的操作数直接从寄存器堆读取就好了。</a:t>
            </a:r>
          </a:p>
          <a:p>
            <a:pPr lvl="1"/>
            <a:endParaRPr lang="en-US" altLang="zh-CN" sz="2000" dirty="0"/>
          </a:p>
          <a:p>
            <a:pPr marL="342900" lvl="1" indent="0">
              <a:buNone/>
            </a:pPr>
            <a:endParaRPr kumimoji="1" lang="zh-CN" altLang="en-US" sz="2000" kern="0" dirty="0"/>
          </a:p>
        </p:txBody>
      </p:sp>
    </p:spTree>
    <p:extLst>
      <p:ext uri="{BB962C8B-B14F-4D97-AF65-F5344CB8AC3E}">
        <p14:creationId xmlns:p14="http://schemas.microsoft.com/office/powerpoint/2010/main" val="1233095044"/>
      </p:ext>
    </p:extLst>
  </p:cSld>
  <p:clrMapOvr>
    <a:masterClrMapping/>
  </p:clrMapOvr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内容占位符 2"/>
          <p:cNvSpPr>
            <a:spLocks noGrp="1"/>
          </p:cNvSpPr>
          <p:nvPr>
            <p:ph idx="1"/>
          </p:nvPr>
        </p:nvSpPr>
        <p:spPr>
          <a:xfrm>
            <a:off x="457200" y="1600200"/>
            <a:ext cx="8229600" cy="4732506"/>
          </a:xfrm>
        </p:spPr>
        <p:txBody>
          <a:bodyPr/>
          <a:lstStyle/>
          <a:p>
            <a:r>
              <a:rPr lang="zh-CN" altLang="en-US" sz="3200" dirty="0">
                <a:solidFill>
                  <a:schemeClr val="bg1">
                    <a:lumMod val="65000"/>
                  </a:schemeClr>
                </a:solidFill>
              </a:rPr>
              <a:t>复习与回顾</a:t>
            </a:r>
            <a:endParaRPr lang="en-US" altLang="zh-CN" sz="3200" dirty="0">
              <a:solidFill>
                <a:schemeClr val="bg1">
                  <a:lumMod val="65000"/>
                </a:schemeClr>
              </a:solidFill>
            </a:endParaRPr>
          </a:p>
          <a:p>
            <a:r>
              <a:rPr lang="zh-CN" altLang="en-US" sz="3200" dirty="0">
                <a:solidFill>
                  <a:schemeClr val="bg1">
                    <a:lumMod val="65000"/>
                  </a:schemeClr>
                </a:solidFill>
                <a:cs typeface="+mn-cs"/>
              </a:rPr>
              <a:t>流水线基本概念</a:t>
            </a:r>
            <a:r>
              <a:rPr lang="en-US" altLang="zh-CN" sz="3200" dirty="0">
                <a:solidFill>
                  <a:schemeClr val="bg1">
                    <a:lumMod val="65000"/>
                  </a:schemeClr>
                </a:solidFill>
                <a:cs typeface="+mn-cs"/>
              </a:rPr>
              <a:t> P4</a:t>
            </a:r>
            <a:endParaRPr lang="en-US" altLang="zh-CN" sz="3200" dirty="0">
              <a:solidFill>
                <a:schemeClr val="bg1">
                  <a:lumMod val="65000"/>
                </a:schemeClr>
              </a:solidFill>
            </a:endParaRPr>
          </a:p>
          <a:p>
            <a:r>
              <a:rPr lang="zh-CN" altLang="en-US" sz="3200" dirty="0">
                <a:solidFill>
                  <a:schemeClr val="bg1">
                    <a:lumMod val="65000"/>
                  </a:schemeClr>
                </a:solidFill>
                <a:cs typeface="+mn-cs"/>
              </a:rPr>
              <a:t>流水线数据通路</a:t>
            </a:r>
            <a:r>
              <a:rPr lang="en-US" altLang="zh-CN" sz="3200" dirty="0">
                <a:solidFill>
                  <a:schemeClr val="bg1">
                    <a:lumMod val="65000"/>
                  </a:schemeClr>
                </a:solidFill>
                <a:cs typeface="+mn-cs"/>
              </a:rPr>
              <a:t> P6</a:t>
            </a:r>
            <a:endParaRPr lang="en-US" altLang="zh-CN" sz="3200" dirty="0">
              <a:solidFill>
                <a:schemeClr val="bg1">
                  <a:lumMod val="65000"/>
                </a:schemeClr>
              </a:solidFill>
            </a:endParaRPr>
          </a:p>
          <a:p>
            <a:r>
              <a:rPr lang="zh-CN" altLang="en-US" sz="3200" dirty="0">
                <a:cs typeface="+mn-cs"/>
              </a:rPr>
              <a:t>流水线的冒险</a:t>
            </a:r>
            <a:endParaRPr lang="en-US" altLang="zh-CN" sz="3200" dirty="0">
              <a:cs typeface="+mn-cs"/>
            </a:endParaRPr>
          </a:p>
          <a:p>
            <a:pPr lvl="1"/>
            <a:r>
              <a:rPr lang="zh-CN" altLang="en-US" sz="2800" dirty="0">
                <a:solidFill>
                  <a:schemeClr val="bg1">
                    <a:lumMod val="65000"/>
                  </a:schemeClr>
                </a:solidFill>
                <a:cs typeface="+mn-cs"/>
              </a:rPr>
              <a:t>结构冒险</a:t>
            </a:r>
            <a:r>
              <a:rPr lang="en-US" altLang="zh-CN" sz="2800" dirty="0">
                <a:solidFill>
                  <a:schemeClr val="bg1">
                    <a:lumMod val="65000"/>
                  </a:schemeClr>
                </a:solidFill>
                <a:cs typeface="+mn-cs"/>
              </a:rPr>
              <a:t> P10</a:t>
            </a:r>
            <a:endParaRPr lang="zh-CN" altLang="en-US" sz="2800" dirty="0">
              <a:solidFill>
                <a:schemeClr val="bg1">
                  <a:lumMod val="65000"/>
                </a:schemeClr>
              </a:solidFill>
              <a:cs typeface="+mn-cs"/>
            </a:endParaRPr>
          </a:p>
          <a:p>
            <a:pPr lvl="1"/>
            <a:r>
              <a:rPr lang="zh-CN" altLang="en-US" sz="2800" dirty="0">
                <a:solidFill>
                  <a:schemeClr val="bg1">
                    <a:lumMod val="65000"/>
                  </a:schemeClr>
                </a:solidFill>
                <a:cs typeface="+mn-cs"/>
              </a:rPr>
              <a:t>数据冒险</a:t>
            </a:r>
            <a:r>
              <a:rPr lang="en-US" altLang="zh-CN" sz="2800" dirty="0">
                <a:solidFill>
                  <a:schemeClr val="bg1">
                    <a:lumMod val="65000"/>
                  </a:schemeClr>
                </a:solidFill>
                <a:cs typeface="+mn-cs"/>
              </a:rPr>
              <a:t> P15</a:t>
            </a:r>
            <a:endParaRPr lang="zh-CN" altLang="en-US" sz="2800" dirty="0">
              <a:solidFill>
                <a:schemeClr val="bg1">
                  <a:lumMod val="65000"/>
                </a:schemeClr>
              </a:solidFill>
              <a:cs typeface="+mn-cs"/>
            </a:endParaRPr>
          </a:p>
          <a:p>
            <a:pPr lvl="1"/>
            <a:r>
              <a:rPr lang="zh-CN" altLang="en-US" sz="2800" dirty="0">
                <a:cs typeface="+mn-cs"/>
              </a:rPr>
              <a:t>控制冒险</a:t>
            </a:r>
            <a:r>
              <a:rPr lang="en-US" altLang="zh-CN" sz="2800" dirty="0">
                <a:cs typeface="+mn-cs"/>
              </a:rPr>
              <a:t> P38</a:t>
            </a:r>
            <a:endParaRPr lang="zh-CN" altLang="en-US" sz="2800" dirty="0">
              <a:cs typeface="+mn-cs"/>
            </a:endParaRPr>
          </a:p>
          <a:p>
            <a:r>
              <a:rPr lang="zh-CN" altLang="en-US" sz="3200" dirty="0">
                <a:solidFill>
                  <a:schemeClr val="bg1">
                    <a:lumMod val="65000"/>
                  </a:schemeClr>
                </a:solidFill>
              </a:rPr>
              <a:t>数据通路的实现（考虑冒险）</a:t>
            </a:r>
            <a:r>
              <a:rPr lang="en-US" altLang="zh-CN" sz="3200" dirty="0">
                <a:solidFill>
                  <a:schemeClr val="bg1">
                    <a:lumMod val="65000"/>
                  </a:schemeClr>
                </a:solidFill>
              </a:rPr>
              <a:t> P55</a:t>
            </a:r>
          </a:p>
          <a:p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4659731-6BD7-46E7-8D3C-2F3AC07E20B1}" type="slidenum">
              <a:rPr lang="en-US" altLang="zh-CN" smtClean="0"/>
              <a:pPr/>
              <a:t>37</a:t>
            </a:fld>
            <a:endParaRPr lang="en-US" altLang="zh-CN"/>
          </a:p>
        </p:txBody>
      </p:sp>
      <p:sp>
        <p:nvSpPr>
          <p:cNvPr id="8" name="标题 7">
            <a:extLst>
              <a:ext uri="{FF2B5EF4-FFF2-40B4-BE49-F238E27FC236}">
                <a16:creationId xmlns:a16="http://schemas.microsoft.com/office/drawing/2014/main" id="{A4AFA0D0-3ABC-9E4B-A473-CF0D454A0F5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dirty="0"/>
              <a:t>本节课目录</a:t>
            </a:r>
          </a:p>
        </p:txBody>
      </p:sp>
    </p:spTree>
    <p:extLst>
      <p:ext uri="{BB962C8B-B14F-4D97-AF65-F5344CB8AC3E}">
        <p14:creationId xmlns:p14="http://schemas.microsoft.com/office/powerpoint/2010/main" val="91078366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"/>
    </mc:Choice>
    <mc:Fallback xmlns="">
      <p:transition/>
    </mc:Fallback>
  </mc:AlternateContent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>
            <a:extLst>
              <a:ext uri="{FF2B5EF4-FFF2-40B4-BE49-F238E27FC236}">
                <a16:creationId xmlns:a16="http://schemas.microsoft.com/office/drawing/2014/main" id="{CB964971-87B9-4A39-8873-CD6A2E83B4D4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dirty="0"/>
              <a:t>流水线的冒险</a:t>
            </a:r>
          </a:p>
        </p:txBody>
      </p:sp>
      <p:sp>
        <p:nvSpPr>
          <p:cNvPr id="3" name="内容占位符 2">
            <a:extLst>
              <a:ext uri="{FF2B5EF4-FFF2-40B4-BE49-F238E27FC236}">
                <a16:creationId xmlns:a16="http://schemas.microsoft.com/office/drawing/2014/main" id="{91D7AA9F-088E-432B-A70E-DD4D98DFA9FA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457200" y="1166020"/>
            <a:ext cx="8229600" cy="5263355"/>
          </a:xfrm>
        </p:spPr>
        <p:txBody>
          <a:bodyPr/>
          <a:lstStyle/>
          <a:p>
            <a:r>
              <a:rPr lang="zh-CN" altLang="en-US" dirty="0"/>
              <a:t>结构冒险（</a:t>
            </a:r>
            <a:r>
              <a:rPr lang="en-US" altLang="zh-CN" dirty="0"/>
              <a:t>Structural Hazard or Resource Conflict</a:t>
            </a:r>
            <a:r>
              <a:rPr lang="zh-CN" altLang="en-US" dirty="0"/>
              <a:t>）：资源矛盾！</a:t>
            </a:r>
          </a:p>
          <a:p>
            <a:pPr lvl="1"/>
            <a:r>
              <a:rPr lang="zh-CN" altLang="en-US" dirty="0"/>
              <a:t>两条指令在同一周期需要使用同样的硬件</a:t>
            </a:r>
          </a:p>
          <a:p>
            <a:pPr lvl="1"/>
            <a:r>
              <a:rPr lang="zh-CN" altLang="en-US" dirty="0"/>
              <a:t>解决方法：增加硬件资源；调整指令占用资源的时间</a:t>
            </a:r>
          </a:p>
          <a:p>
            <a:r>
              <a:rPr lang="zh-CN" altLang="en-US" dirty="0"/>
              <a:t>数据关联冒险（</a:t>
            </a:r>
            <a:r>
              <a:rPr lang="en-US" altLang="zh-CN" dirty="0"/>
              <a:t>Data Hazard</a:t>
            </a:r>
            <a:r>
              <a:rPr lang="zh-CN" altLang="en-US" dirty="0"/>
              <a:t>）：操作数是否已经更新？</a:t>
            </a:r>
          </a:p>
          <a:p>
            <a:pPr lvl="1"/>
            <a:r>
              <a:rPr lang="zh-CN" altLang="en-US" dirty="0"/>
              <a:t>指令依赖于流水线中运行的其他指令结果</a:t>
            </a:r>
          </a:p>
          <a:p>
            <a:pPr lvl="1"/>
            <a:r>
              <a:rPr lang="zh-CN" altLang="en-US" dirty="0"/>
              <a:t>解决方法：</a:t>
            </a:r>
            <a:r>
              <a:rPr lang="en-US" altLang="zh-CN" dirty="0"/>
              <a:t>Stall</a:t>
            </a:r>
            <a:r>
              <a:rPr lang="zh-CN" altLang="en-US" dirty="0"/>
              <a:t>；</a:t>
            </a:r>
            <a:r>
              <a:rPr lang="en-US" altLang="zh-CN" dirty="0"/>
              <a:t>Forwarding</a:t>
            </a:r>
            <a:r>
              <a:rPr lang="zh-CN" altLang="en-US" dirty="0"/>
              <a:t>；编译器优化</a:t>
            </a:r>
          </a:p>
          <a:p>
            <a:r>
              <a:rPr lang="zh-CN" altLang="en-US" dirty="0">
                <a:solidFill>
                  <a:srgbClr val="3333FF"/>
                </a:solidFill>
              </a:rPr>
              <a:t>控制冒险（</a:t>
            </a:r>
            <a:r>
              <a:rPr lang="en-US" altLang="zh-CN" dirty="0">
                <a:solidFill>
                  <a:srgbClr val="3333FF"/>
                </a:solidFill>
              </a:rPr>
              <a:t>Control Hazard</a:t>
            </a:r>
            <a:r>
              <a:rPr lang="zh-CN" altLang="en-US" dirty="0">
                <a:solidFill>
                  <a:srgbClr val="3333FF"/>
                </a:solidFill>
              </a:rPr>
              <a:t>）：下一条指令的</a:t>
            </a:r>
            <a:r>
              <a:rPr lang="en-US" altLang="zh-CN" dirty="0">
                <a:solidFill>
                  <a:srgbClr val="3333FF"/>
                </a:solidFill>
              </a:rPr>
              <a:t>PC</a:t>
            </a:r>
            <a:r>
              <a:rPr lang="zh-CN" altLang="en-US" dirty="0">
                <a:solidFill>
                  <a:srgbClr val="3333FF"/>
                </a:solidFill>
              </a:rPr>
              <a:t>是多少？</a:t>
            </a:r>
          </a:p>
          <a:p>
            <a:pPr lvl="1"/>
            <a:r>
              <a:rPr lang="zh-CN" altLang="en-US" dirty="0"/>
              <a:t>取指令依赖于流水线中指令的结果</a:t>
            </a:r>
          </a:p>
        </p:txBody>
      </p:sp>
      <p:sp>
        <p:nvSpPr>
          <p:cNvPr id="4" name="灯片编号占位符 3">
            <a:extLst>
              <a:ext uri="{FF2B5EF4-FFF2-40B4-BE49-F238E27FC236}">
                <a16:creationId xmlns:a16="http://schemas.microsoft.com/office/drawing/2014/main" id="{BA5DA19B-33E5-4B74-AA32-DDBC3C23618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0626FCE3-5FF9-430D-BA0B-DE80AAE71673}" type="slidenum">
              <a:rPr lang="zh-CN" altLang="en-US" smtClean="0"/>
              <a:t>38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874472032"/>
      </p:ext>
    </p:extLst>
  </p:cSld>
  <p:clrMapOvr>
    <a:masterClrMapping/>
  </p:clrMapOvr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>
            <a:extLst>
              <a:ext uri="{FF2B5EF4-FFF2-40B4-BE49-F238E27FC236}">
                <a16:creationId xmlns:a16="http://schemas.microsoft.com/office/drawing/2014/main" id="{8F1FC19F-C0ED-4419-96FC-3FCB8209F67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dirty="0"/>
              <a:t>流水线：控制冒险</a:t>
            </a:r>
          </a:p>
        </p:txBody>
      </p:sp>
      <p:sp>
        <p:nvSpPr>
          <p:cNvPr id="3" name="内容占位符 2">
            <a:extLst>
              <a:ext uri="{FF2B5EF4-FFF2-40B4-BE49-F238E27FC236}">
                <a16:creationId xmlns:a16="http://schemas.microsoft.com/office/drawing/2014/main" id="{74D28B6A-4951-4232-A549-C18F3C1B580A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457199" y="1166018"/>
            <a:ext cx="8686797" cy="4525963"/>
          </a:xfrm>
        </p:spPr>
        <p:txBody>
          <a:bodyPr/>
          <a:lstStyle/>
          <a:p>
            <a:r>
              <a:rPr lang="en-US" altLang="zh-CN" sz="2400" dirty="0">
                <a:solidFill>
                  <a:srgbClr val="00B050"/>
                </a:solidFill>
              </a:rPr>
              <a:t>PC</a:t>
            </a:r>
            <a:r>
              <a:rPr lang="zh-CN" altLang="en-US" sz="2400" dirty="0">
                <a:solidFill>
                  <a:srgbClr val="00B050"/>
                </a:solidFill>
              </a:rPr>
              <a:t>存在冲突</a:t>
            </a:r>
            <a:endParaRPr lang="en-US" altLang="zh-CN" sz="2400" dirty="0">
              <a:solidFill>
                <a:srgbClr val="00B050"/>
              </a:solidFill>
            </a:endParaRPr>
          </a:p>
          <a:p>
            <a:pPr lvl="1"/>
            <a:r>
              <a:rPr lang="zh-CN" altLang="en-US" sz="2000" dirty="0"/>
              <a:t>分支指令在</a:t>
            </a:r>
            <a:r>
              <a:rPr lang="en-US" altLang="zh-CN" sz="2000" dirty="0"/>
              <a:t>MEM</a:t>
            </a:r>
            <a:r>
              <a:rPr lang="zh-CN" altLang="en-US" sz="2000" dirty="0"/>
              <a:t>阶段更新</a:t>
            </a:r>
            <a:r>
              <a:rPr lang="en-US" altLang="zh-CN" sz="2000" dirty="0"/>
              <a:t>PC</a:t>
            </a:r>
            <a:r>
              <a:rPr lang="zh-CN" altLang="en-US" sz="2000" dirty="0"/>
              <a:t>；</a:t>
            </a:r>
            <a:r>
              <a:rPr lang="en-US" altLang="zh-CN" sz="2000" dirty="0"/>
              <a:t>J</a:t>
            </a:r>
            <a:r>
              <a:rPr lang="zh-CN" altLang="en-US" sz="2000" dirty="0"/>
              <a:t>型指令呢（课后思考）？</a:t>
            </a:r>
          </a:p>
          <a:p>
            <a:pPr lvl="1"/>
            <a:r>
              <a:rPr lang="zh-CN" altLang="en-US" sz="2000" dirty="0"/>
              <a:t>本表中的其他指令在</a:t>
            </a:r>
            <a:r>
              <a:rPr lang="en-US" altLang="zh-CN" sz="2000" dirty="0"/>
              <a:t>IF</a:t>
            </a:r>
            <a:r>
              <a:rPr lang="zh-CN" altLang="en-US" sz="2000" dirty="0"/>
              <a:t>阶段更新</a:t>
            </a:r>
            <a:r>
              <a:rPr lang="en-US" altLang="zh-CN" sz="2000" dirty="0"/>
              <a:t>PC</a:t>
            </a:r>
          </a:p>
        </p:txBody>
      </p:sp>
      <p:sp>
        <p:nvSpPr>
          <p:cNvPr id="4" name="灯片编号占位符 3">
            <a:extLst>
              <a:ext uri="{FF2B5EF4-FFF2-40B4-BE49-F238E27FC236}">
                <a16:creationId xmlns:a16="http://schemas.microsoft.com/office/drawing/2014/main" id="{DA410218-2A46-4D73-872D-212389F1C3F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0626FCE3-5FF9-430D-BA0B-DE80AAE71673}" type="slidenum">
              <a:rPr lang="zh-CN" altLang="en-US" smtClean="0"/>
              <a:t>39</a:t>
            </a:fld>
            <a:endParaRPr lang="zh-CN" altLang="en-US"/>
          </a:p>
        </p:txBody>
      </p:sp>
      <p:graphicFrame>
        <p:nvGraphicFramePr>
          <p:cNvPr id="5" name="内容占位符 3">
            <a:extLst>
              <a:ext uri="{FF2B5EF4-FFF2-40B4-BE49-F238E27FC236}">
                <a16:creationId xmlns:a16="http://schemas.microsoft.com/office/drawing/2014/main" id="{5F283F97-C4F0-4624-8096-6357F4DE96DD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666561980"/>
              </p:ext>
            </p:extLst>
          </p:nvPr>
        </p:nvGraphicFramePr>
        <p:xfrm>
          <a:off x="190501" y="2458326"/>
          <a:ext cx="8712199" cy="4263148"/>
        </p:xfrm>
        <a:graphic>
          <a:graphicData uri="http://schemas.openxmlformats.org/drawingml/2006/table">
            <a:tbl>
              <a:tblPr firstRow="1" bandRow="1">
                <a:tableStyleId>{E8B1032C-EA38-4F05-BA0D-38AFFFC7BED3}</a:tableStyleId>
              </a:tblPr>
              <a:tblGrid>
                <a:gridCol w="1443286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44328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968117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968117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889393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668583">
                <a:tc>
                  <a:txBody>
                    <a:bodyPr/>
                    <a:lstStyle/>
                    <a:p>
                      <a:pPr algn="ctr"/>
                      <a:r>
                        <a:rPr lang="zh-CN" altLang="en-US" sz="2000" dirty="0"/>
                        <a:t>流水线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4C6E7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2000" dirty="0"/>
                        <a:t>R</a:t>
                      </a:r>
                      <a:r>
                        <a:rPr lang="zh-CN" altLang="en-US" sz="2000" dirty="0"/>
                        <a:t>类型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4C6E7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CN" altLang="en-US" sz="2000" dirty="0"/>
                        <a:t>读存储器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4C6E7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CN" altLang="en-US" sz="2000" dirty="0"/>
                        <a:t>写存储器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4C6E7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CN" altLang="en-US" sz="2000" dirty="0"/>
                        <a:t>分支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4C6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80580"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600" dirty="0"/>
                        <a:t>IF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4">
                  <a:txBody>
                    <a:bodyPr/>
                    <a:lstStyle/>
                    <a:p>
                      <a:pPr algn="ctr"/>
                      <a:r>
                        <a:rPr lang="en-US" altLang="zh-CN" sz="1600" dirty="0"/>
                        <a:t>IR</a:t>
                      </a:r>
                      <a:r>
                        <a:rPr lang="en-US" altLang="zh-CN" sz="1600" dirty="0">
                          <a:sym typeface="Symbol"/>
                        </a:rPr>
                        <a:t>&lt;= </a:t>
                      </a:r>
                      <a:r>
                        <a:rPr lang="en-US" altLang="zh-CN" sz="1600" dirty="0" err="1"/>
                        <a:t>MemInst</a:t>
                      </a:r>
                      <a:r>
                        <a:rPr lang="en-US" altLang="zh-CN" sz="1600" dirty="0"/>
                        <a:t>[PC];  </a:t>
                      </a:r>
                      <a:r>
                        <a:rPr lang="en-US" altLang="zh-CN" sz="1600" dirty="0">
                          <a:solidFill>
                            <a:srgbClr val="00B050"/>
                          </a:solidFill>
                        </a:rPr>
                        <a:t>PC </a:t>
                      </a:r>
                      <a:r>
                        <a:rPr lang="en-US" altLang="zh-CN" sz="1600" dirty="0">
                          <a:solidFill>
                            <a:srgbClr val="00B050"/>
                          </a:solidFill>
                          <a:sym typeface="Symbol"/>
                        </a:rPr>
                        <a:t>&lt;= PC + 4</a:t>
                      </a:r>
                      <a:endParaRPr lang="en-US" altLang="zh-CN" sz="1600" dirty="0">
                        <a:solidFill>
                          <a:srgbClr val="00B050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n-US" altLang="zh-CN" sz="1400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zh-CN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zh-CN" altLang="en-US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433512">
                <a:tc>
                  <a:txBody>
                    <a:bodyPr/>
                    <a:lstStyle/>
                    <a:p>
                      <a:pPr marL="0" marR="0" lvl="1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CN" sz="1600" dirty="0"/>
                        <a:t>ID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4">
                  <a:txBody>
                    <a:bodyPr/>
                    <a:lstStyle/>
                    <a:p>
                      <a:pPr marL="0" marR="0" lvl="1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CN" sz="1600" dirty="0"/>
                        <a:t>op </a:t>
                      </a:r>
                      <a:r>
                        <a:rPr lang="en-US" altLang="zh-CN" sz="1600" dirty="0">
                          <a:sym typeface="Symbol"/>
                        </a:rPr>
                        <a:t>&lt;= </a:t>
                      </a:r>
                      <a:r>
                        <a:rPr lang="en-US" altLang="zh-CN" sz="1600" dirty="0"/>
                        <a:t>IR[31:26]; </a:t>
                      </a:r>
                      <a:r>
                        <a:rPr lang="en-US" altLang="zh-CN" sz="1600" dirty="0">
                          <a:solidFill>
                            <a:schemeClr val="tx1"/>
                          </a:solidFill>
                        </a:rPr>
                        <a:t>A</a:t>
                      </a:r>
                      <a:r>
                        <a:rPr lang="en-US" altLang="zh-CN" sz="1600" dirty="0">
                          <a:solidFill>
                            <a:schemeClr val="tx1"/>
                          </a:solidFill>
                          <a:sym typeface="Symbol"/>
                        </a:rPr>
                        <a:t>&lt;=</a:t>
                      </a:r>
                      <a:r>
                        <a:rPr lang="en-US" altLang="zh-CN" sz="1600" dirty="0">
                          <a:solidFill>
                            <a:schemeClr val="tx1"/>
                          </a:solidFill>
                        </a:rPr>
                        <a:t>Reg[IR[25:21]];  B</a:t>
                      </a:r>
                      <a:r>
                        <a:rPr lang="en-US" altLang="zh-CN" sz="1600" dirty="0">
                          <a:solidFill>
                            <a:schemeClr val="tx1"/>
                          </a:solidFill>
                          <a:sym typeface="Symbol"/>
                        </a:rPr>
                        <a:t>&lt;=</a:t>
                      </a:r>
                      <a:r>
                        <a:rPr lang="en-US" altLang="zh-CN" sz="1600" dirty="0">
                          <a:solidFill>
                            <a:schemeClr val="tx1"/>
                          </a:solidFill>
                        </a:rPr>
                        <a:t>Reg[IR[20:16]]; 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zh-CN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zh-CN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marL="0" marR="0" lvl="1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zh-CN" sz="1600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066800"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600" dirty="0"/>
                        <a:t>EX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600" dirty="0" err="1"/>
                        <a:t>ALUOut</a:t>
                      </a:r>
                      <a:r>
                        <a:rPr lang="en-US" altLang="zh-CN" sz="1600" dirty="0"/>
                        <a:t> </a:t>
                      </a:r>
                      <a:r>
                        <a:rPr lang="en-US" altLang="zh-CN" sz="1600" dirty="0">
                          <a:sym typeface="Symbol"/>
                        </a:rPr>
                        <a:t>&lt;=</a:t>
                      </a:r>
                    </a:p>
                    <a:p>
                      <a:pPr algn="ctr"/>
                      <a:r>
                        <a:rPr lang="en-US" altLang="zh-CN" sz="1600" dirty="0"/>
                        <a:t>A op B 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2"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CN" sz="1600" dirty="0" err="1"/>
                        <a:t>ALUOut</a:t>
                      </a:r>
                      <a:r>
                        <a:rPr lang="en-US" altLang="zh-CN" sz="1600" dirty="0"/>
                        <a:t> </a:t>
                      </a:r>
                      <a:r>
                        <a:rPr lang="en-US" altLang="zh-CN" sz="1600" dirty="0">
                          <a:sym typeface="Symbol"/>
                        </a:rPr>
                        <a:t>&lt;= </a:t>
                      </a:r>
                      <a:r>
                        <a:rPr lang="en-US" altLang="zh-CN" sz="1600" dirty="0"/>
                        <a:t>A + </a:t>
                      </a:r>
                      <a:r>
                        <a:rPr lang="en-US" altLang="zh-CN" sz="1600" dirty="0" err="1"/>
                        <a:t>signext</a:t>
                      </a:r>
                      <a:r>
                        <a:rPr lang="en-US" altLang="zh-CN" sz="1600" dirty="0"/>
                        <a:t>(IR[15:0])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zh-CN" sz="1600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1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CN" sz="1600" dirty="0" err="1"/>
                        <a:t>ALUOut</a:t>
                      </a:r>
                      <a:r>
                        <a:rPr lang="en-US" altLang="zh-CN" sz="1600" dirty="0"/>
                        <a:t> </a:t>
                      </a:r>
                      <a:r>
                        <a:rPr lang="en-US" altLang="zh-CN" sz="1600" dirty="0">
                          <a:sym typeface="Symbol"/>
                        </a:rPr>
                        <a:t>&lt;= </a:t>
                      </a:r>
                      <a:r>
                        <a:rPr lang="en-US" altLang="zh-CN" sz="1600" dirty="0"/>
                        <a:t>A - B </a:t>
                      </a:r>
                    </a:p>
                    <a:p>
                      <a:pPr marL="0" marR="0" lvl="1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CN" sz="1600" dirty="0" err="1"/>
                        <a:t>PCAdd</a:t>
                      </a:r>
                      <a:r>
                        <a:rPr lang="en-US" altLang="zh-CN" sz="1600" dirty="0"/>
                        <a:t> </a:t>
                      </a:r>
                      <a:r>
                        <a:rPr lang="en-US" altLang="zh-CN" sz="1600" dirty="0">
                          <a:sym typeface="Symbol"/>
                        </a:rPr>
                        <a:t>&lt;= </a:t>
                      </a:r>
                      <a:r>
                        <a:rPr lang="en-US" altLang="zh-CN" sz="1600" dirty="0" err="1"/>
                        <a:t>PC+signext</a:t>
                      </a:r>
                      <a:r>
                        <a:rPr lang="en-US" altLang="zh-CN" sz="1600" dirty="0"/>
                        <a:t>(</a:t>
                      </a:r>
                      <a:br>
                        <a:rPr lang="en-US" altLang="zh-CN" sz="1600" dirty="0"/>
                      </a:br>
                      <a:r>
                        <a:rPr lang="en-US" altLang="zh-CN" sz="1600" dirty="0"/>
                        <a:t>IR[15:0]) &lt;&lt; 2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646873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CN" sz="1600" dirty="0"/>
                        <a:t>MEM</a:t>
                      </a:r>
                      <a:endParaRPr lang="zh-CN" altLang="en-US" sz="1600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zh-CN" altLang="en-US" sz="1600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600" dirty="0"/>
                        <a:t>MDR </a:t>
                      </a:r>
                      <a:r>
                        <a:rPr lang="en-US" altLang="zh-CN" sz="1600" dirty="0">
                          <a:sym typeface="Symbol"/>
                        </a:rPr>
                        <a:t>&lt;= </a:t>
                      </a:r>
                      <a:r>
                        <a:rPr lang="en-US" altLang="zh-CN" sz="1600" dirty="0" err="1">
                          <a:sym typeface="Symbol"/>
                        </a:rPr>
                        <a:t>MemData</a:t>
                      </a:r>
                      <a:r>
                        <a:rPr lang="en-US" altLang="zh-CN" sz="1600" dirty="0">
                          <a:sym typeface="Symbol"/>
                        </a:rPr>
                        <a:t>[</a:t>
                      </a:r>
                      <a:r>
                        <a:rPr lang="en-US" altLang="zh-CN" sz="1600" dirty="0" err="1">
                          <a:sym typeface="Symbol"/>
                        </a:rPr>
                        <a:t>ALUOut</a:t>
                      </a:r>
                      <a:r>
                        <a:rPr lang="en-US" altLang="zh-CN" sz="1600" dirty="0">
                          <a:sym typeface="Symbol"/>
                        </a:rPr>
                        <a:t>];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600" dirty="0" err="1">
                          <a:sym typeface="Symbol"/>
                        </a:rPr>
                        <a:t>MemData</a:t>
                      </a:r>
                      <a:r>
                        <a:rPr lang="en-US" altLang="zh-CN" sz="1600" dirty="0">
                          <a:sym typeface="Symbol"/>
                        </a:rPr>
                        <a:t>[</a:t>
                      </a:r>
                      <a:r>
                        <a:rPr lang="en-US" altLang="zh-CN" sz="1600" dirty="0" err="1">
                          <a:sym typeface="Symbol"/>
                        </a:rPr>
                        <a:t>ALUout</a:t>
                      </a:r>
                      <a:r>
                        <a:rPr lang="en-US" altLang="zh-CN" sz="1600" dirty="0">
                          <a:sym typeface="Symbol"/>
                        </a:rPr>
                        <a:t>] &lt;= B</a:t>
                      </a:r>
                      <a:endParaRPr lang="zh-CN" altLang="en-US" sz="1600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CN" sz="1600" dirty="0">
                          <a:solidFill>
                            <a:srgbClr val="00B050"/>
                          </a:solidFill>
                        </a:rPr>
                        <a:t>if (Zero)</a:t>
                      </a: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CN" sz="1600" dirty="0">
                          <a:solidFill>
                            <a:srgbClr val="00B050"/>
                          </a:solidFill>
                        </a:rPr>
                        <a:t>PC </a:t>
                      </a:r>
                      <a:r>
                        <a:rPr lang="en-US" altLang="zh-CN" sz="1600" dirty="0">
                          <a:solidFill>
                            <a:srgbClr val="00B050"/>
                          </a:solidFill>
                          <a:sym typeface="Symbol"/>
                        </a:rPr>
                        <a:t>&lt;= </a:t>
                      </a:r>
                      <a:r>
                        <a:rPr lang="en-US" altLang="zh-CN" sz="1600" dirty="0" err="1">
                          <a:solidFill>
                            <a:srgbClr val="00B050"/>
                          </a:solidFill>
                          <a:sym typeface="Symbol"/>
                        </a:rPr>
                        <a:t>PCAdd</a:t>
                      </a:r>
                      <a:endParaRPr lang="zh-CN" altLang="en-US" sz="1600" dirty="0">
                        <a:solidFill>
                          <a:srgbClr val="00B050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066800"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600" dirty="0"/>
                        <a:t>WB</a:t>
                      </a:r>
                      <a:endParaRPr lang="zh-CN" altLang="en-US" sz="1600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CN" sz="1600" dirty="0">
                          <a:solidFill>
                            <a:schemeClr val="tx1"/>
                          </a:solidFill>
                        </a:rPr>
                        <a:t>Reg[IR[15:11]]</a:t>
                      </a:r>
                      <a:r>
                        <a:rPr lang="en-US" altLang="zh-CN" sz="1600" dirty="0">
                          <a:solidFill>
                            <a:schemeClr val="tx1"/>
                          </a:solidFill>
                          <a:sym typeface="Symbol"/>
                        </a:rPr>
                        <a:t> &lt;= </a:t>
                      </a:r>
                      <a:r>
                        <a:rPr lang="en-US" altLang="zh-CN" sz="1600" dirty="0" err="1">
                          <a:solidFill>
                            <a:schemeClr val="tx1"/>
                          </a:solidFill>
                        </a:rPr>
                        <a:t>ALUOut</a:t>
                      </a:r>
                      <a:endParaRPr lang="zh-CN" altLang="en-US" sz="1600" dirty="0">
                        <a:solidFill>
                          <a:schemeClr val="tx1"/>
                        </a:solidFill>
                      </a:endParaRPr>
                    </a:p>
                    <a:p>
                      <a:pPr algn="ctr"/>
                      <a:endParaRPr lang="zh-CN" altLang="en-US" sz="16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600" dirty="0">
                          <a:solidFill>
                            <a:schemeClr val="tx1"/>
                          </a:solidFill>
                        </a:rPr>
                        <a:t>Reg[IR[20:16]]</a:t>
                      </a:r>
                      <a:r>
                        <a:rPr lang="en-US" altLang="zh-CN" sz="1600" dirty="0">
                          <a:solidFill>
                            <a:schemeClr val="tx1"/>
                          </a:solidFill>
                          <a:sym typeface="Symbol"/>
                        </a:rPr>
                        <a:t> &lt;= MDR</a:t>
                      </a:r>
                      <a:endParaRPr lang="zh-CN" altLang="en-US" sz="16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CN" altLang="en-US" sz="1600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CN" altLang="en-US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47342827"/>
      </p:ext>
    </p:extLst>
  </p:cSld>
  <p:clrMapOvr>
    <a:masterClrMapping/>
  </p:clrMapOvr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>
            <a:extLst>
              <a:ext uri="{FF2B5EF4-FFF2-40B4-BE49-F238E27FC236}">
                <a16:creationId xmlns:a16="http://schemas.microsoft.com/office/drawing/2014/main" id="{08894493-3E00-4F39-A17D-F3400C933BC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dirty="0"/>
              <a:t>流水线冒险：控制冒险</a:t>
            </a:r>
          </a:p>
        </p:txBody>
      </p:sp>
      <p:sp>
        <p:nvSpPr>
          <p:cNvPr id="3" name="内容占位符 2">
            <a:extLst>
              <a:ext uri="{FF2B5EF4-FFF2-40B4-BE49-F238E27FC236}">
                <a16:creationId xmlns:a16="http://schemas.microsoft.com/office/drawing/2014/main" id="{E624FA52-75EC-4E12-AFD6-8220810934C1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r>
              <a:rPr lang="zh-CN" altLang="en-US" dirty="0"/>
              <a:t>分支指令引起的控制冒险</a:t>
            </a:r>
          </a:p>
        </p:txBody>
      </p:sp>
      <p:sp>
        <p:nvSpPr>
          <p:cNvPr id="4" name="Rectangle 155">
            <a:extLst>
              <a:ext uri="{FF2B5EF4-FFF2-40B4-BE49-F238E27FC236}">
                <a16:creationId xmlns:a16="http://schemas.microsoft.com/office/drawing/2014/main" id="{92116590-582A-455E-BA66-07A0080AB98D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8200" y="5765800"/>
            <a:ext cx="2438400" cy="1066800"/>
          </a:xfrm>
          <a:prstGeom prst="rect">
            <a:avLst/>
          </a:prstGeom>
          <a:solidFill>
            <a:schemeClr val="bg1"/>
          </a:solidFill>
          <a:ln w="12700">
            <a:solidFill>
              <a:schemeClr val="bg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grpSp>
        <p:nvGrpSpPr>
          <p:cNvPr id="5" name="Group 2">
            <a:extLst>
              <a:ext uri="{FF2B5EF4-FFF2-40B4-BE49-F238E27FC236}">
                <a16:creationId xmlns:a16="http://schemas.microsoft.com/office/drawing/2014/main" id="{D3F2F013-B033-48F1-B4D3-C1C44BB304A6}"/>
              </a:ext>
            </a:extLst>
          </p:cNvPr>
          <p:cNvGrpSpPr>
            <a:grpSpLocks/>
          </p:cNvGrpSpPr>
          <p:nvPr/>
        </p:nvGrpSpPr>
        <p:grpSpPr bwMode="auto">
          <a:xfrm>
            <a:off x="3505201" y="2332038"/>
            <a:ext cx="1557338" cy="1295400"/>
            <a:chOff x="2160" y="1680"/>
            <a:chExt cx="981" cy="816"/>
          </a:xfrm>
        </p:grpSpPr>
        <p:sp>
          <p:nvSpPr>
            <p:cNvPr id="6" name="Rectangle 3">
              <a:extLst>
                <a:ext uri="{FF2B5EF4-FFF2-40B4-BE49-F238E27FC236}">
                  <a16:creationId xmlns:a16="http://schemas.microsoft.com/office/drawing/2014/main" id="{2F098B40-3B13-4EB5-81E0-8AE2424E9A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60" y="2208"/>
              <a:ext cx="336" cy="288"/>
            </a:xfrm>
            <a:prstGeom prst="rect">
              <a:avLst/>
            </a:prstGeom>
            <a:solidFill>
              <a:schemeClr val="accent1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7" name="Rectangle 4">
              <a:extLst>
                <a:ext uri="{FF2B5EF4-FFF2-40B4-BE49-F238E27FC236}">
                  <a16:creationId xmlns:a16="http://schemas.microsoft.com/office/drawing/2014/main" id="{9D6F9392-FEED-44C4-9CA5-1235611FFA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45" y="1680"/>
              <a:ext cx="96" cy="288"/>
            </a:xfrm>
            <a:prstGeom prst="rect">
              <a:avLst/>
            </a:prstGeom>
            <a:solidFill>
              <a:schemeClr val="accent1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8" name="Line 5">
              <a:extLst>
                <a:ext uri="{FF2B5EF4-FFF2-40B4-BE49-F238E27FC236}">
                  <a16:creationId xmlns:a16="http://schemas.microsoft.com/office/drawing/2014/main" id="{BDAEF38A-E930-4ECC-92B7-A4889288DE9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160" y="1968"/>
              <a:ext cx="864" cy="240"/>
            </a:xfrm>
            <a:prstGeom prst="line">
              <a:avLst/>
            </a:prstGeom>
            <a:noFill/>
            <a:ln w="28575">
              <a:solidFill>
                <a:schemeClr val="accent1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</p:grpSp>
      <p:sp>
        <p:nvSpPr>
          <p:cNvPr id="9" name="Rectangle 7">
            <a:extLst>
              <a:ext uri="{FF2B5EF4-FFF2-40B4-BE49-F238E27FC236}">
                <a16:creationId xmlns:a16="http://schemas.microsoft.com/office/drawing/2014/main" id="{A47023A2-6482-4651-A40E-DC4B53F9C97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3225" y="2409825"/>
            <a:ext cx="358775" cy="31099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73" tIns="44442" rIns="90473" bIns="44442">
            <a:spAutoFit/>
          </a:bodyPr>
          <a:lstStyle/>
          <a:p>
            <a:pPr algn="ctr" eaLnBrk="0" hangingPunct="0"/>
            <a:r>
              <a:rPr lang="en-US" altLang="zh-CN" i="1" dirty="0">
                <a:latin typeface="Arial" pitchFamily="34" charset="0"/>
                <a:ea typeface="SimHei" panose="02010609060101010101" pitchFamily="49" charset="-122"/>
              </a:rPr>
              <a:t>I</a:t>
            </a:r>
          </a:p>
          <a:p>
            <a:pPr algn="ctr" eaLnBrk="0" hangingPunct="0"/>
            <a:r>
              <a:rPr lang="en-US" altLang="zh-CN" i="1" dirty="0">
                <a:latin typeface="Arial" pitchFamily="34" charset="0"/>
                <a:ea typeface="SimHei" panose="02010609060101010101" pitchFamily="49" charset="-122"/>
              </a:rPr>
              <a:t>n</a:t>
            </a:r>
          </a:p>
          <a:p>
            <a:pPr algn="ctr" eaLnBrk="0" hangingPunct="0"/>
            <a:r>
              <a:rPr lang="en-US" altLang="zh-CN" i="1" dirty="0">
                <a:latin typeface="Arial" pitchFamily="34" charset="0"/>
                <a:ea typeface="SimHei" panose="02010609060101010101" pitchFamily="49" charset="-122"/>
              </a:rPr>
              <a:t>s</a:t>
            </a:r>
          </a:p>
          <a:p>
            <a:pPr algn="ctr" eaLnBrk="0" hangingPunct="0"/>
            <a:r>
              <a:rPr lang="en-US" altLang="zh-CN" i="1" dirty="0">
                <a:latin typeface="Arial" pitchFamily="34" charset="0"/>
                <a:ea typeface="SimHei" panose="02010609060101010101" pitchFamily="49" charset="-122"/>
              </a:rPr>
              <a:t>t</a:t>
            </a:r>
          </a:p>
          <a:p>
            <a:pPr algn="ctr" eaLnBrk="0" hangingPunct="0"/>
            <a:r>
              <a:rPr lang="en-US" altLang="zh-CN" i="1" dirty="0">
                <a:latin typeface="Arial" pitchFamily="34" charset="0"/>
                <a:ea typeface="SimHei" panose="02010609060101010101" pitchFamily="49" charset="-122"/>
              </a:rPr>
              <a:t>r.</a:t>
            </a:r>
          </a:p>
          <a:p>
            <a:pPr algn="ctr" eaLnBrk="0" hangingPunct="0"/>
            <a:endParaRPr lang="en-US" altLang="zh-CN" i="1" dirty="0">
              <a:latin typeface="Arial" pitchFamily="34" charset="0"/>
              <a:ea typeface="SimHei" panose="02010609060101010101" pitchFamily="49" charset="-122"/>
            </a:endParaRPr>
          </a:p>
          <a:p>
            <a:pPr algn="ctr" eaLnBrk="0" hangingPunct="0"/>
            <a:r>
              <a:rPr lang="en-US" altLang="zh-CN" i="1" dirty="0">
                <a:latin typeface="Arial" pitchFamily="34" charset="0"/>
                <a:ea typeface="SimHei" panose="02010609060101010101" pitchFamily="49" charset="-122"/>
              </a:rPr>
              <a:t>O</a:t>
            </a:r>
          </a:p>
          <a:p>
            <a:pPr algn="ctr" eaLnBrk="0" hangingPunct="0"/>
            <a:r>
              <a:rPr lang="en-US" altLang="zh-CN" i="1" dirty="0">
                <a:latin typeface="Arial" pitchFamily="34" charset="0"/>
                <a:ea typeface="SimHei" panose="02010609060101010101" pitchFamily="49" charset="-122"/>
              </a:rPr>
              <a:t>r</a:t>
            </a:r>
          </a:p>
          <a:p>
            <a:pPr algn="ctr" eaLnBrk="0" hangingPunct="0"/>
            <a:r>
              <a:rPr lang="en-US" altLang="zh-CN" i="1" dirty="0">
                <a:latin typeface="Arial" pitchFamily="34" charset="0"/>
                <a:ea typeface="SimHei" panose="02010609060101010101" pitchFamily="49" charset="-122"/>
              </a:rPr>
              <a:t>d</a:t>
            </a:r>
          </a:p>
          <a:p>
            <a:pPr algn="ctr" eaLnBrk="0" hangingPunct="0"/>
            <a:r>
              <a:rPr lang="en-US" altLang="zh-CN" i="1" dirty="0">
                <a:latin typeface="Arial" pitchFamily="34" charset="0"/>
                <a:ea typeface="SimHei" panose="02010609060101010101" pitchFamily="49" charset="-122"/>
              </a:rPr>
              <a:t>e</a:t>
            </a:r>
          </a:p>
          <a:p>
            <a:pPr algn="ctr" eaLnBrk="0" hangingPunct="0"/>
            <a:r>
              <a:rPr lang="en-US" altLang="zh-CN" i="1" dirty="0">
                <a:latin typeface="Arial" pitchFamily="34" charset="0"/>
                <a:ea typeface="SimHei" panose="02010609060101010101" pitchFamily="49" charset="-122"/>
              </a:rPr>
              <a:t>r</a:t>
            </a:r>
          </a:p>
        </p:txBody>
      </p:sp>
      <p:sp>
        <p:nvSpPr>
          <p:cNvPr id="10" name="Line 8">
            <a:extLst>
              <a:ext uri="{FF2B5EF4-FFF2-40B4-BE49-F238E27FC236}">
                <a16:creationId xmlns:a16="http://schemas.microsoft.com/office/drawing/2014/main" id="{0E5227E9-34AF-4CAD-93DB-711A90CF990C}"/>
              </a:ext>
            </a:extLst>
          </p:cNvPr>
          <p:cNvSpPr>
            <a:spLocks noChangeShapeType="1"/>
          </p:cNvSpPr>
          <p:nvPr/>
        </p:nvSpPr>
        <p:spPr bwMode="auto">
          <a:xfrm>
            <a:off x="1524000" y="1803400"/>
            <a:ext cx="6311900" cy="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11" name="Rectangle 9">
            <a:extLst>
              <a:ext uri="{FF2B5EF4-FFF2-40B4-BE49-F238E27FC236}">
                <a16:creationId xmlns:a16="http://schemas.microsoft.com/office/drawing/2014/main" id="{BA475E20-A379-47C2-8671-A58ECE53DA27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8200" y="3136900"/>
            <a:ext cx="474460" cy="45908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73" tIns="44442" rIns="90473" bIns="44442">
            <a:spAutoFit/>
          </a:bodyPr>
          <a:lstStyle/>
          <a:p>
            <a:pPr eaLnBrk="0" hangingPunct="0"/>
            <a:r>
              <a:rPr lang="en-US" altLang="zh-CN" sz="2400" dirty="0" err="1">
                <a:latin typeface="Arial" pitchFamily="34" charset="0"/>
                <a:ea typeface="SimHei" panose="02010609060101010101" pitchFamily="49" charset="-122"/>
              </a:rPr>
              <a:t>lw</a:t>
            </a:r>
            <a:endParaRPr lang="en-US" altLang="zh-CN" sz="2400" dirty="0">
              <a:latin typeface="Arial" pitchFamily="34" charset="0"/>
              <a:ea typeface="SimHei" panose="02010609060101010101" pitchFamily="49" charset="-122"/>
            </a:endParaRPr>
          </a:p>
        </p:txBody>
      </p:sp>
      <p:sp>
        <p:nvSpPr>
          <p:cNvPr id="12" name="Rectangle 10">
            <a:extLst>
              <a:ext uri="{FF2B5EF4-FFF2-40B4-BE49-F238E27FC236}">
                <a16:creationId xmlns:a16="http://schemas.microsoft.com/office/drawing/2014/main" id="{AC5061D1-E076-4265-BB4E-9A84F7191E50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8200" y="4846638"/>
            <a:ext cx="934522" cy="45908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73" tIns="44442" rIns="90473" bIns="44442">
            <a:spAutoFit/>
          </a:bodyPr>
          <a:lstStyle/>
          <a:p>
            <a:pPr eaLnBrk="0" hangingPunct="0"/>
            <a:r>
              <a:rPr lang="en-US" altLang="zh-CN" sz="2400" dirty="0">
                <a:latin typeface="Arial" pitchFamily="34" charset="0"/>
                <a:ea typeface="SimHei" panose="02010609060101010101" pitchFamily="49" charset="-122"/>
              </a:rPr>
              <a:t>Inst 4</a:t>
            </a:r>
          </a:p>
        </p:txBody>
      </p:sp>
      <p:sp>
        <p:nvSpPr>
          <p:cNvPr id="13" name="Line 11">
            <a:extLst>
              <a:ext uri="{FF2B5EF4-FFF2-40B4-BE49-F238E27FC236}">
                <a16:creationId xmlns:a16="http://schemas.microsoft.com/office/drawing/2014/main" id="{92C282CC-DFC4-4D37-8DA0-3D450FB1139D}"/>
              </a:ext>
            </a:extLst>
          </p:cNvPr>
          <p:cNvSpPr>
            <a:spLocks noChangeShapeType="1"/>
          </p:cNvSpPr>
          <p:nvPr/>
        </p:nvSpPr>
        <p:spPr bwMode="auto">
          <a:xfrm>
            <a:off x="2705100" y="1930400"/>
            <a:ext cx="0" cy="4470400"/>
          </a:xfrm>
          <a:prstGeom prst="line">
            <a:avLst/>
          </a:prstGeom>
          <a:noFill/>
          <a:ln w="25400">
            <a:solidFill>
              <a:schemeClr val="tx1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14" name="Line 12">
            <a:extLst>
              <a:ext uri="{FF2B5EF4-FFF2-40B4-BE49-F238E27FC236}">
                <a16:creationId xmlns:a16="http://schemas.microsoft.com/office/drawing/2014/main" id="{39D0BB7C-4A3A-4AE5-8434-5E1FE9F8AE18}"/>
              </a:ext>
            </a:extLst>
          </p:cNvPr>
          <p:cNvSpPr>
            <a:spLocks noChangeShapeType="1"/>
          </p:cNvSpPr>
          <p:nvPr/>
        </p:nvSpPr>
        <p:spPr bwMode="auto">
          <a:xfrm>
            <a:off x="3390900" y="1930400"/>
            <a:ext cx="0" cy="4470400"/>
          </a:xfrm>
          <a:prstGeom prst="line">
            <a:avLst/>
          </a:prstGeom>
          <a:noFill/>
          <a:ln w="25400">
            <a:solidFill>
              <a:schemeClr val="tx1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15" name="Line 13">
            <a:extLst>
              <a:ext uri="{FF2B5EF4-FFF2-40B4-BE49-F238E27FC236}">
                <a16:creationId xmlns:a16="http://schemas.microsoft.com/office/drawing/2014/main" id="{BFB91BBA-C0CC-4E9C-B8AF-DAFD3C20AE09}"/>
              </a:ext>
            </a:extLst>
          </p:cNvPr>
          <p:cNvSpPr>
            <a:spLocks noChangeShapeType="1"/>
          </p:cNvSpPr>
          <p:nvPr/>
        </p:nvSpPr>
        <p:spPr bwMode="auto">
          <a:xfrm>
            <a:off x="4076700" y="1930400"/>
            <a:ext cx="0" cy="4470400"/>
          </a:xfrm>
          <a:prstGeom prst="line">
            <a:avLst/>
          </a:prstGeom>
          <a:noFill/>
          <a:ln w="25400">
            <a:solidFill>
              <a:schemeClr val="tx1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16" name="Line 14">
            <a:extLst>
              <a:ext uri="{FF2B5EF4-FFF2-40B4-BE49-F238E27FC236}">
                <a16:creationId xmlns:a16="http://schemas.microsoft.com/office/drawing/2014/main" id="{AF8B6D90-2CA5-4E29-9BEB-BF50F46FAC5B}"/>
              </a:ext>
            </a:extLst>
          </p:cNvPr>
          <p:cNvSpPr>
            <a:spLocks noChangeShapeType="1"/>
          </p:cNvSpPr>
          <p:nvPr/>
        </p:nvSpPr>
        <p:spPr bwMode="auto">
          <a:xfrm>
            <a:off x="4762500" y="1930400"/>
            <a:ext cx="0" cy="4470400"/>
          </a:xfrm>
          <a:prstGeom prst="line">
            <a:avLst/>
          </a:prstGeom>
          <a:noFill/>
          <a:ln w="25400">
            <a:solidFill>
              <a:schemeClr val="tx1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17" name="Line 15">
            <a:extLst>
              <a:ext uri="{FF2B5EF4-FFF2-40B4-BE49-F238E27FC236}">
                <a16:creationId xmlns:a16="http://schemas.microsoft.com/office/drawing/2014/main" id="{B62A8F92-0401-4537-B296-8C1D5B453FF9}"/>
              </a:ext>
            </a:extLst>
          </p:cNvPr>
          <p:cNvSpPr>
            <a:spLocks noChangeShapeType="1"/>
          </p:cNvSpPr>
          <p:nvPr/>
        </p:nvSpPr>
        <p:spPr bwMode="auto">
          <a:xfrm>
            <a:off x="5448300" y="1930400"/>
            <a:ext cx="0" cy="4470400"/>
          </a:xfrm>
          <a:prstGeom prst="line">
            <a:avLst/>
          </a:prstGeom>
          <a:noFill/>
          <a:ln w="25400">
            <a:solidFill>
              <a:schemeClr val="tx1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18" name="Line 16">
            <a:extLst>
              <a:ext uri="{FF2B5EF4-FFF2-40B4-BE49-F238E27FC236}">
                <a16:creationId xmlns:a16="http://schemas.microsoft.com/office/drawing/2014/main" id="{140C1249-BC9A-4D15-B1FC-FB42C7EA4EDF}"/>
              </a:ext>
            </a:extLst>
          </p:cNvPr>
          <p:cNvSpPr>
            <a:spLocks noChangeShapeType="1"/>
          </p:cNvSpPr>
          <p:nvPr/>
        </p:nvSpPr>
        <p:spPr bwMode="auto">
          <a:xfrm>
            <a:off x="6134100" y="1930400"/>
            <a:ext cx="0" cy="4470400"/>
          </a:xfrm>
          <a:prstGeom prst="line">
            <a:avLst/>
          </a:prstGeom>
          <a:noFill/>
          <a:ln w="25400">
            <a:solidFill>
              <a:schemeClr val="tx1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19" name="Line 17">
            <a:extLst>
              <a:ext uri="{FF2B5EF4-FFF2-40B4-BE49-F238E27FC236}">
                <a16:creationId xmlns:a16="http://schemas.microsoft.com/office/drawing/2014/main" id="{52892D38-EC4F-47D9-8672-8EEAE56FCDA9}"/>
              </a:ext>
            </a:extLst>
          </p:cNvPr>
          <p:cNvSpPr>
            <a:spLocks noChangeShapeType="1"/>
          </p:cNvSpPr>
          <p:nvPr/>
        </p:nvSpPr>
        <p:spPr bwMode="auto">
          <a:xfrm>
            <a:off x="6819900" y="1930400"/>
            <a:ext cx="0" cy="4470400"/>
          </a:xfrm>
          <a:prstGeom prst="line">
            <a:avLst/>
          </a:prstGeom>
          <a:noFill/>
          <a:ln w="25400">
            <a:solidFill>
              <a:schemeClr val="tx1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20" name="Line 18">
            <a:extLst>
              <a:ext uri="{FF2B5EF4-FFF2-40B4-BE49-F238E27FC236}">
                <a16:creationId xmlns:a16="http://schemas.microsoft.com/office/drawing/2014/main" id="{C7CB80DB-F673-41A3-936D-4B1F1CBCA1E9}"/>
              </a:ext>
            </a:extLst>
          </p:cNvPr>
          <p:cNvSpPr>
            <a:spLocks noChangeShapeType="1"/>
          </p:cNvSpPr>
          <p:nvPr/>
        </p:nvSpPr>
        <p:spPr bwMode="auto">
          <a:xfrm>
            <a:off x="7505700" y="1930400"/>
            <a:ext cx="0" cy="4470400"/>
          </a:xfrm>
          <a:prstGeom prst="line">
            <a:avLst/>
          </a:prstGeom>
          <a:noFill/>
          <a:ln w="25400">
            <a:solidFill>
              <a:schemeClr val="tx1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21" name="Rectangle 19">
            <a:extLst>
              <a:ext uri="{FF2B5EF4-FFF2-40B4-BE49-F238E27FC236}">
                <a16:creationId xmlns:a16="http://schemas.microsoft.com/office/drawing/2014/main" id="{A64F8EE8-DDA5-42BA-88A7-BCADC1930C60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8200" y="3975100"/>
            <a:ext cx="934522" cy="45908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73" tIns="44442" rIns="90473" bIns="44442">
            <a:spAutoFit/>
          </a:bodyPr>
          <a:lstStyle/>
          <a:p>
            <a:pPr eaLnBrk="0" hangingPunct="0"/>
            <a:r>
              <a:rPr lang="en-US" altLang="zh-CN" sz="2400" dirty="0">
                <a:latin typeface="Arial" pitchFamily="34" charset="0"/>
                <a:ea typeface="SimHei" panose="02010609060101010101" pitchFamily="49" charset="-122"/>
              </a:rPr>
              <a:t>Inst 3</a:t>
            </a:r>
          </a:p>
        </p:txBody>
      </p:sp>
      <p:sp>
        <p:nvSpPr>
          <p:cNvPr id="22" name="Line 20">
            <a:extLst>
              <a:ext uri="{FF2B5EF4-FFF2-40B4-BE49-F238E27FC236}">
                <a16:creationId xmlns:a16="http://schemas.microsoft.com/office/drawing/2014/main" id="{78AF338B-1149-4876-99E8-7D163ADC6184}"/>
              </a:ext>
            </a:extLst>
          </p:cNvPr>
          <p:cNvSpPr>
            <a:spLocks noChangeShapeType="1"/>
          </p:cNvSpPr>
          <p:nvPr/>
        </p:nvSpPr>
        <p:spPr bwMode="auto">
          <a:xfrm>
            <a:off x="762000" y="2332038"/>
            <a:ext cx="0" cy="3886200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i="1" dirty="0">
              <a:ea typeface="SimHei" panose="02010609060101010101" pitchFamily="49" charset="-122"/>
            </a:endParaRPr>
          </a:p>
        </p:txBody>
      </p:sp>
      <p:grpSp>
        <p:nvGrpSpPr>
          <p:cNvPr id="23" name="Group 21">
            <a:extLst>
              <a:ext uri="{FF2B5EF4-FFF2-40B4-BE49-F238E27FC236}">
                <a16:creationId xmlns:a16="http://schemas.microsoft.com/office/drawing/2014/main" id="{070367B1-8A36-4728-87B3-430191FE495F}"/>
              </a:ext>
            </a:extLst>
          </p:cNvPr>
          <p:cNvGrpSpPr>
            <a:grpSpLocks/>
          </p:cNvGrpSpPr>
          <p:nvPr/>
        </p:nvGrpSpPr>
        <p:grpSpPr bwMode="auto">
          <a:xfrm>
            <a:off x="838200" y="2179638"/>
            <a:ext cx="5337175" cy="838200"/>
            <a:chOff x="480" y="1584"/>
            <a:chExt cx="3362" cy="528"/>
          </a:xfrm>
        </p:grpSpPr>
        <p:sp>
          <p:nvSpPr>
            <p:cNvPr id="24" name="Rectangle 22">
              <a:extLst>
                <a:ext uri="{FF2B5EF4-FFF2-40B4-BE49-F238E27FC236}">
                  <a16:creationId xmlns:a16="http://schemas.microsoft.com/office/drawing/2014/main" id="{9262B29C-AC4F-424B-9DB0-4D28F53051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0" y="1632"/>
              <a:ext cx="439" cy="28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73" tIns="44442" rIns="90473" bIns="44442">
              <a:spAutoFit/>
            </a:bodyPr>
            <a:lstStyle/>
            <a:p>
              <a:pPr eaLnBrk="0" hangingPunct="0"/>
              <a:r>
                <a:rPr lang="en-US" altLang="zh-CN" sz="2400" dirty="0" err="1">
                  <a:solidFill>
                    <a:schemeClr val="accent1"/>
                  </a:solidFill>
                  <a:latin typeface="Arial" pitchFamily="34" charset="0"/>
                  <a:ea typeface="SimHei" panose="02010609060101010101" pitchFamily="49" charset="-122"/>
                </a:rPr>
                <a:t>beq</a:t>
              </a:r>
              <a:endParaRPr lang="en-US" altLang="zh-CN" sz="2400" dirty="0">
                <a:solidFill>
                  <a:schemeClr val="accent1"/>
                </a:solidFill>
                <a:latin typeface="Arial" pitchFamily="34" charset="0"/>
                <a:ea typeface="SimHei" panose="02010609060101010101" pitchFamily="49" charset="-122"/>
              </a:endParaRPr>
            </a:p>
          </p:txBody>
        </p:sp>
        <p:grpSp>
          <p:nvGrpSpPr>
            <p:cNvPr id="25" name="Group 23">
              <a:extLst>
                <a:ext uri="{FF2B5EF4-FFF2-40B4-BE49-F238E27FC236}">
                  <a16:creationId xmlns:a16="http://schemas.microsoft.com/office/drawing/2014/main" id="{65773920-582E-492F-A65C-BD33B884EA5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640" y="1584"/>
              <a:ext cx="223" cy="481"/>
              <a:chOff x="2207" y="1413"/>
              <a:chExt cx="223" cy="481"/>
            </a:xfrm>
          </p:grpSpPr>
          <p:sp>
            <p:nvSpPr>
              <p:cNvPr id="55" name="Freeform 24">
                <a:extLst>
                  <a:ext uri="{FF2B5EF4-FFF2-40B4-BE49-F238E27FC236}">
                    <a16:creationId xmlns:a16="http://schemas.microsoft.com/office/drawing/2014/main" id="{91CDE681-193A-4877-AACB-885FAB50D5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7" y="1413"/>
                <a:ext cx="213" cy="481"/>
              </a:xfrm>
              <a:custGeom>
                <a:avLst/>
                <a:gdLst>
                  <a:gd name="T0" fmla="*/ 0 w 213"/>
                  <a:gd name="T1" fmla="*/ 320 h 481"/>
                  <a:gd name="T2" fmla="*/ 71 w 213"/>
                  <a:gd name="T3" fmla="*/ 240 h 481"/>
                  <a:gd name="T4" fmla="*/ 0 w 213"/>
                  <a:gd name="T5" fmla="*/ 160 h 481"/>
                  <a:gd name="T6" fmla="*/ 0 w 213"/>
                  <a:gd name="T7" fmla="*/ 0 h 481"/>
                  <a:gd name="T8" fmla="*/ 212 w 213"/>
                  <a:gd name="T9" fmla="*/ 160 h 481"/>
                  <a:gd name="T10" fmla="*/ 212 w 213"/>
                  <a:gd name="T11" fmla="*/ 320 h 481"/>
                  <a:gd name="T12" fmla="*/ 0 w 213"/>
                  <a:gd name="T13" fmla="*/ 480 h 481"/>
                  <a:gd name="T14" fmla="*/ 0 w 213"/>
                  <a:gd name="T15" fmla="*/ 320 h 48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13" h="481">
                    <a:moveTo>
                      <a:pt x="0" y="320"/>
                    </a:moveTo>
                    <a:lnTo>
                      <a:pt x="71" y="240"/>
                    </a:lnTo>
                    <a:lnTo>
                      <a:pt x="0" y="160"/>
                    </a:lnTo>
                    <a:lnTo>
                      <a:pt x="0" y="0"/>
                    </a:lnTo>
                    <a:lnTo>
                      <a:pt x="212" y="160"/>
                    </a:lnTo>
                    <a:lnTo>
                      <a:pt x="212" y="320"/>
                    </a:lnTo>
                    <a:lnTo>
                      <a:pt x="0" y="480"/>
                    </a:lnTo>
                    <a:lnTo>
                      <a:pt x="0" y="320"/>
                    </a:lnTo>
                  </a:path>
                </a:pathLst>
              </a:custGeom>
              <a:noFill/>
              <a:ln w="25400" cap="rnd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dirty="0">
                  <a:ea typeface="SimHei" panose="02010609060101010101" pitchFamily="49" charset="-122"/>
                </a:endParaRPr>
              </a:p>
            </p:txBody>
          </p:sp>
          <p:sp>
            <p:nvSpPr>
              <p:cNvPr id="56" name="Rectangle 25">
                <a:extLst>
                  <a:ext uri="{FF2B5EF4-FFF2-40B4-BE49-F238E27FC236}">
                    <a16:creationId xmlns:a16="http://schemas.microsoft.com/office/drawing/2014/main" id="{33AA41CC-270F-4D08-8304-75FE778CC9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5400000">
                <a:off x="2124" y="1533"/>
                <a:ext cx="376" cy="21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12700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lIns="90473" tIns="44442" rIns="90473" bIns="44442">
                <a:spAutoFit/>
              </a:bodyPr>
              <a:lstStyle/>
              <a:p>
                <a:pPr eaLnBrk="0" hangingPunct="0"/>
                <a:r>
                  <a:rPr lang="en-US" altLang="zh-CN" sz="1600" dirty="0">
                    <a:latin typeface="Arial" pitchFamily="34" charset="0"/>
                    <a:ea typeface="SimHei" panose="02010609060101010101" pitchFamily="49" charset="-122"/>
                  </a:rPr>
                  <a:t>ALU</a:t>
                </a:r>
              </a:p>
            </p:txBody>
          </p:sp>
        </p:grpSp>
        <p:grpSp>
          <p:nvGrpSpPr>
            <p:cNvPr id="26" name="Group 26">
              <a:extLst>
                <a:ext uri="{FF2B5EF4-FFF2-40B4-BE49-F238E27FC236}">
                  <a16:creationId xmlns:a16="http://schemas.microsoft.com/office/drawing/2014/main" id="{B96B6046-7444-4FBF-A61D-2D446C028F8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727" y="1680"/>
              <a:ext cx="350" cy="289"/>
              <a:chOff x="1281" y="1509"/>
              <a:chExt cx="350" cy="289"/>
            </a:xfrm>
          </p:grpSpPr>
          <p:sp>
            <p:nvSpPr>
              <p:cNvPr id="51" name="Rectangle 27">
                <a:extLst>
                  <a:ext uri="{FF2B5EF4-FFF2-40B4-BE49-F238E27FC236}">
                    <a16:creationId xmlns:a16="http://schemas.microsoft.com/office/drawing/2014/main" id="{06E83384-0F82-4152-B170-DBD49B16DA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81" y="1511"/>
                <a:ext cx="259" cy="21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12700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lIns="90473" tIns="44442" rIns="90473" bIns="44442">
                <a:spAutoFit/>
              </a:bodyPr>
              <a:lstStyle/>
              <a:p>
                <a:pPr algn="ctr" eaLnBrk="0" hangingPunct="0"/>
                <a:r>
                  <a:rPr lang="en-US" altLang="zh-CN" sz="1600" dirty="0">
                    <a:latin typeface="Arial" pitchFamily="34" charset="0"/>
                    <a:ea typeface="SimHei" panose="02010609060101010101" pitchFamily="49" charset="-122"/>
                  </a:rPr>
                  <a:t>IM</a:t>
                </a:r>
              </a:p>
            </p:txBody>
          </p:sp>
          <p:grpSp>
            <p:nvGrpSpPr>
              <p:cNvPr id="52" name="Group 28">
                <a:extLst>
                  <a:ext uri="{FF2B5EF4-FFF2-40B4-BE49-F238E27FC236}">
                    <a16:creationId xmlns:a16="http://schemas.microsoft.com/office/drawing/2014/main" id="{B5FB6E9A-CBC2-46CB-8BA4-8F5B7E59C76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291" y="1509"/>
                <a:ext cx="340" cy="289"/>
                <a:chOff x="1291" y="1509"/>
                <a:chExt cx="340" cy="289"/>
              </a:xfrm>
            </p:grpSpPr>
            <p:sp>
              <p:nvSpPr>
                <p:cNvPr id="53" name="Freeform 29">
                  <a:extLst>
                    <a:ext uri="{FF2B5EF4-FFF2-40B4-BE49-F238E27FC236}">
                      <a16:creationId xmlns:a16="http://schemas.microsoft.com/office/drawing/2014/main" id="{1CC8A126-120F-4F79-899D-ABF141F7EF5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291" y="1509"/>
                  <a:ext cx="170" cy="289"/>
                </a:xfrm>
                <a:custGeom>
                  <a:avLst/>
                  <a:gdLst>
                    <a:gd name="T0" fmla="*/ 169 w 170"/>
                    <a:gd name="T1" fmla="*/ 0 h 289"/>
                    <a:gd name="T2" fmla="*/ 0 w 170"/>
                    <a:gd name="T3" fmla="*/ 0 h 289"/>
                    <a:gd name="T4" fmla="*/ 0 w 170"/>
                    <a:gd name="T5" fmla="*/ 288 h 289"/>
                    <a:gd name="T6" fmla="*/ 169 w 170"/>
                    <a:gd name="T7" fmla="*/ 288 h 289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170" h="289">
                      <a:moveTo>
                        <a:pt x="169" y="0"/>
                      </a:moveTo>
                      <a:lnTo>
                        <a:pt x="0" y="0"/>
                      </a:lnTo>
                      <a:lnTo>
                        <a:pt x="0" y="288"/>
                      </a:lnTo>
                      <a:lnTo>
                        <a:pt x="169" y="288"/>
                      </a:lnTo>
                    </a:path>
                  </a:pathLst>
                </a:custGeom>
                <a:noFill/>
                <a:ln w="25400" cap="rnd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zh-CN" altLang="en-US" dirty="0">
                    <a:ea typeface="SimHei" panose="02010609060101010101" pitchFamily="49" charset="-122"/>
                  </a:endParaRPr>
                </a:p>
              </p:txBody>
            </p:sp>
            <p:sp>
              <p:nvSpPr>
                <p:cNvPr id="54" name="Freeform 30">
                  <a:extLst>
                    <a:ext uri="{FF2B5EF4-FFF2-40B4-BE49-F238E27FC236}">
                      <a16:creationId xmlns:a16="http://schemas.microsoft.com/office/drawing/2014/main" id="{C7334693-42D8-479B-BB25-6973671FC75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460" y="1509"/>
                  <a:ext cx="171" cy="289"/>
                </a:xfrm>
                <a:custGeom>
                  <a:avLst/>
                  <a:gdLst>
                    <a:gd name="T0" fmla="*/ 0 w 171"/>
                    <a:gd name="T1" fmla="*/ 0 h 289"/>
                    <a:gd name="T2" fmla="*/ 170 w 171"/>
                    <a:gd name="T3" fmla="*/ 0 h 289"/>
                    <a:gd name="T4" fmla="*/ 170 w 171"/>
                    <a:gd name="T5" fmla="*/ 288 h 289"/>
                    <a:gd name="T6" fmla="*/ 0 w 171"/>
                    <a:gd name="T7" fmla="*/ 288 h 289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171" h="289">
                      <a:moveTo>
                        <a:pt x="0" y="0"/>
                      </a:moveTo>
                      <a:lnTo>
                        <a:pt x="170" y="0"/>
                      </a:lnTo>
                      <a:lnTo>
                        <a:pt x="170" y="288"/>
                      </a:lnTo>
                      <a:lnTo>
                        <a:pt x="0" y="288"/>
                      </a:lnTo>
                    </a:path>
                  </a:pathLst>
                </a:custGeom>
                <a:noFill/>
                <a:ln w="25400" cap="rnd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zh-CN" altLang="en-US" dirty="0">
                    <a:ea typeface="SimHei" panose="02010609060101010101" pitchFamily="49" charset="-122"/>
                  </a:endParaRPr>
                </a:p>
              </p:txBody>
            </p:sp>
          </p:grpSp>
        </p:grpSp>
        <p:sp>
          <p:nvSpPr>
            <p:cNvPr id="27" name="Rectangle 31">
              <a:extLst>
                <a:ext uri="{FF2B5EF4-FFF2-40B4-BE49-F238E27FC236}">
                  <a16:creationId xmlns:a16="http://schemas.microsoft.com/office/drawing/2014/main" id="{CB3255D8-B8FF-41C7-B61A-6C09323226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78" y="1687"/>
              <a:ext cx="355" cy="21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73" tIns="44442" rIns="90473" bIns="44442">
              <a:spAutoFit/>
            </a:bodyPr>
            <a:lstStyle/>
            <a:p>
              <a:pPr eaLnBrk="0" hangingPunct="0"/>
              <a:r>
                <a:rPr lang="en-US" altLang="zh-CN" sz="1600" dirty="0">
                  <a:latin typeface="Arial" pitchFamily="34" charset="0"/>
                  <a:ea typeface="SimHei" panose="02010609060101010101" pitchFamily="49" charset="-122"/>
                </a:rPr>
                <a:t>Reg</a:t>
              </a:r>
            </a:p>
          </p:txBody>
        </p:sp>
        <p:grpSp>
          <p:nvGrpSpPr>
            <p:cNvPr id="28" name="Group 32">
              <a:extLst>
                <a:ext uri="{FF2B5EF4-FFF2-40B4-BE49-F238E27FC236}">
                  <a16:creationId xmlns:a16="http://schemas.microsoft.com/office/drawing/2014/main" id="{0F8C03E1-9ECC-4A90-BDF8-AF140CB2870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197" y="1680"/>
              <a:ext cx="296" cy="289"/>
              <a:chOff x="1751" y="1509"/>
              <a:chExt cx="296" cy="289"/>
            </a:xfrm>
          </p:grpSpPr>
          <p:sp>
            <p:nvSpPr>
              <p:cNvPr id="49" name="Freeform 33">
                <a:extLst>
                  <a:ext uri="{FF2B5EF4-FFF2-40B4-BE49-F238E27FC236}">
                    <a16:creationId xmlns:a16="http://schemas.microsoft.com/office/drawing/2014/main" id="{765E60F9-5247-4EEC-9D8D-0FDC66F216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1" y="1509"/>
                <a:ext cx="149" cy="289"/>
              </a:xfrm>
              <a:custGeom>
                <a:avLst/>
                <a:gdLst>
                  <a:gd name="T0" fmla="*/ 148 w 149"/>
                  <a:gd name="T1" fmla="*/ 0 h 289"/>
                  <a:gd name="T2" fmla="*/ 0 w 149"/>
                  <a:gd name="T3" fmla="*/ 0 h 289"/>
                  <a:gd name="T4" fmla="*/ 0 w 149"/>
                  <a:gd name="T5" fmla="*/ 288 h 289"/>
                  <a:gd name="T6" fmla="*/ 148 w 149"/>
                  <a:gd name="T7" fmla="*/ 288 h 28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9" h="289">
                    <a:moveTo>
                      <a:pt x="148" y="0"/>
                    </a:moveTo>
                    <a:lnTo>
                      <a:pt x="0" y="0"/>
                    </a:lnTo>
                    <a:lnTo>
                      <a:pt x="0" y="288"/>
                    </a:lnTo>
                    <a:lnTo>
                      <a:pt x="148" y="288"/>
                    </a:lnTo>
                  </a:path>
                </a:pathLst>
              </a:custGeom>
              <a:noFill/>
              <a:ln w="25400" cap="rnd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dirty="0">
                  <a:ea typeface="SimHei" panose="02010609060101010101" pitchFamily="49" charset="-122"/>
                </a:endParaRPr>
              </a:p>
            </p:txBody>
          </p:sp>
          <p:sp>
            <p:nvSpPr>
              <p:cNvPr id="50" name="Freeform 34">
                <a:extLst>
                  <a:ext uri="{FF2B5EF4-FFF2-40B4-BE49-F238E27FC236}">
                    <a16:creationId xmlns:a16="http://schemas.microsoft.com/office/drawing/2014/main" id="{7D2DC25C-35AD-4640-BAE8-A8A1BE13C7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9" y="1509"/>
                <a:ext cx="148" cy="289"/>
              </a:xfrm>
              <a:custGeom>
                <a:avLst/>
                <a:gdLst>
                  <a:gd name="T0" fmla="*/ 0 w 148"/>
                  <a:gd name="T1" fmla="*/ 0 h 289"/>
                  <a:gd name="T2" fmla="*/ 147 w 148"/>
                  <a:gd name="T3" fmla="*/ 0 h 289"/>
                  <a:gd name="T4" fmla="*/ 147 w 148"/>
                  <a:gd name="T5" fmla="*/ 288 h 289"/>
                  <a:gd name="T6" fmla="*/ 0 w 148"/>
                  <a:gd name="T7" fmla="*/ 288 h 28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8" h="289">
                    <a:moveTo>
                      <a:pt x="0" y="0"/>
                    </a:moveTo>
                    <a:lnTo>
                      <a:pt x="147" y="0"/>
                    </a:lnTo>
                    <a:lnTo>
                      <a:pt x="147" y="288"/>
                    </a:lnTo>
                    <a:lnTo>
                      <a:pt x="0" y="288"/>
                    </a:lnTo>
                  </a:path>
                </a:pathLst>
              </a:custGeom>
              <a:noFill/>
              <a:ln w="25400" cap="rnd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dirty="0">
                  <a:ea typeface="SimHei" panose="02010609060101010101" pitchFamily="49" charset="-122"/>
                </a:endParaRPr>
              </a:p>
            </p:txBody>
          </p:sp>
        </p:grpSp>
        <p:sp>
          <p:nvSpPr>
            <p:cNvPr id="29" name="Line 35">
              <a:extLst>
                <a:ext uri="{FF2B5EF4-FFF2-40B4-BE49-F238E27FC236}">
                  <a16:creationId xmlns:a16="http://schemas.microsoft.com/office/drawing/2014/main" id="{73F9549F-84C2-4750-A5B6-7FC2168015F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082" y="1824"/>
              <a:ext cx="116" cy="0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30" name="Freeform 36">
              <a:extLst>
                <a:ext uri="{FF2B5EF4-FFF2-40B4-BE49-F238E27FC236}">
                  <a16:creationId xmlns:a16="http://schemas.microsoft.com/office/drawing/2014/main" id="{58C2E5CD-B52F-418A-8987-25ED4FB2200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0" y="1728"/>
              <a:ext cx="48" cy="97"/>
            </a:xfrm>
            <a:custGeom>
              <a:avLst/>
              <a:gdLst>
                <a:gd name="T0" fmla="*/ 0 w 48"/>
                <a:gd name="T1" fmla="*/ 96 h 97"/>
                <a:gd name="T2" fmla="*/ 0 w 48"/>
                <a:gd name="T3" fmla="*/ 0 h 97"/>
                <a:gd name="T4" fmla="*/ 47 w 48"/>
                <a:gd name="T5" fmla="*/ 0 h 97"/>
                <a:gd name="T6" fmla="*/ 47 w 48"/>
                <a:gd name="T7" fmla="*/ 0 h 9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8" h="97">
                  <a:moveTo>
                    <a:pt x="0" y="96"/>
                  </a:moveTo>
                  <a:lnTo>
                    <a:pt x="0" y="0"/>
                  </a:lnTo>
                  <a:lnTo>
                    <a:pt x="47" y="0"/>
                  </a:lnTo>
                </a:path>
              </a:pathLst>
            </a:custGeom>
            <a:noFill/>
            <a:ln w="25400" cap="rnd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31" name="Line 37">
              <a:extLst>
                <a:ext uri="{FF2B5EF4-FFF2-40B4-BE49-F238E27FC236}">
                  <a16:creationId xmlns:a16="http://schemas.microsoft.com/office/drawing/2014/main" id="{1BAB517C-B9B8-4499-AD61-774BC08D354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498" y="1728"/>
              <a:ext cx="157" cy="0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32" name="Rectangle 38">
              <a:extLst>
                <a:ext uri="{FF2B5EF4-FFF2-40B4-BE49-F238E27FC236}">
                  <a16:creationId xmlns:a16="http://schemas.microsoft.com/office/drawing/2014/main" id="{DDCDAD88-BC57-4A9D-9F01-F5AF105E8B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95" y="1682"/>
              <a:ext cx="313" cy="21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73" tIns="44442" rIns="90473" bIns="44442">
              <a:spAutoFit/>
            </a:bodyPr>
            <a:lstStyle/>
            <a:p>
              <a:pPr eaLnBrk="0" hangingPunct="0"/>
              <a:r>
                <a:rPr lang="en-US" altLang="zh-CN" sz="1600" dirty="0">
                  <a:latin typeface="Arial" pitchFamily="34" charset="0"/>
                  <a:ea typeface="SimHei" panose="02010609060101010101" pitchFamily="49" charset="-122"/>
                </a:rPr>
                <a:t>DM</a:t>
              </a:r>
            </a:p>
          </p:txBody>
        </p:sp>
        <p:grpSp>
          <p:nvGrpSpPr>
            <p:cNvPr id="33" name="Group 39">
              <a:extLst>
                <a:ext uri="{FF2B5EF4-FFF2-40B4-BE49-F238E27FC236}">
                  <a16:creationId xmlns:a16="http://schemas.microsoft.com/office/drawing/2014/main" id="{D0B82DAE-A9F4-4BFD-9204-44A6ED31A90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046" y="1680"/>
              <a:ext cx="325" cy="289"/>
              <a:chOff x="2600" y="1509"/>
              <a:chExt cx="325" cy="289"/>
            </a:xfrm>
          </p:grpSpPr>
          <p:sp>
            <p:nvSpPr>
              <p:cNvPr id="47" name="Freeform 40">
                <a:extLst>
                  <a:ext uri="{FF2B5EF4-FFF2-40B4-BE49-F238E27FC236}">
                    <a16:creationId xmlns:a16="http://schemas.microsoft.com/office/drawing/2014/main" id="{6EC58AC7-6F4C-4801-AE66-119E0082C1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0" y="1509"/>
                <a:ext cx="231" cy="289"/>
              </a:xfrm>
              <a:custGeom>
                <a:avLst/>
                <a:gdLst>
                  <a:gd name="T0" fmla="*/ 161 w 162"/>
                  <a:gd name="T1" fmla="*/ 0 h 289"/>
                  <a:gd name="T2" fmla="*/ 0 w 162"/>
                  <a:gd name="T3" fmla="*/ 0 h 289"/>
                  <a:gd name="T4" fmla="*/ 0 w 162"/>
                  <a:gd name="T5" fmla="*/ 288 h 289"/>
                  <a:gd name="T6" fmla="*/ 161 w 162"/>
                  <a:gd name="T7" fmla="*/ 288 h 28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2" h="289">
                    <a:moveTo>
                      <a:pt x="161" y="0"/>
                    </a:moveTo>
                    <a:lnTo>
                      <a:pt x="0" y="0"/>
                    </a:lnTo>
                    <a:lnTo>
                      <a:pt x="0" y="288"/>
                    </a:lnTo>
                    <a:lnTo>
                      <a:pt x="161" y="288"/>
                    </a:lnTo>
                  </a:path>
                </a:pathLst>
              </a:custGeom>
              <a:noFill/>
              <a:ln w="25400" cap="rnd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dirty="0">
                  <a:ea typeface="SimHei" panose="02010609060101010101" pitchFamily="49" charset="-122"/>
                </a:endParaRPr>
              </a:p>
            </p:txBody>
          </p:sp>
          <p:sp>
            <p:nvSpPr>
              <p:cNvPr id="48" name="Freeform 41">
                <a:extLst>
                  <a:ext uri="{FF2B5EF4-FFF2-40B4-BE49-F238E27FC236}">
                    <a16:creationId xmlns:a16="http://schemas.microsoft.com/office/drawing/2014/main" id="{2C24DAC0-726B-43F6-9808-E7E3B45716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1" y="1509"/>
                <a:ext cx="164" cy="289"/>
              </a:xfrm>
              <a:custGeom>
                <a:avLst/>
                <a:gdLst>
                  <a:gd name="T0" fmla="*/ 0 w 164"/>
                  <a:gd name="T1" fmla="*/ 0 h 289"/>
                  <a:gd name="T2" fmla="*/ 163 w 164"/>
                  <a:gd name="T3" fmla="*/ 0 h 289"/>
                  <a:gd name="T4" fmla="*/ 163 w 164"/>
                  <a:gd name="T5" fmla="*/ 288 h 289"/>
                  <a:gd name="T6" fmla="*/ 0 w 164"/>
                  <a:gd name="T7" fmla="*/ 288 h 28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4" h="289">
                    <a:moveTo>
                      <a:pt x="0" y="0"/>
                    </a:moveTo>
                    <a:lnTo>
                      <a:pt x="163" y="0"/>
                    </a:lnTo>
                    <a:lnTo>
                      <a:pt x="163" y="288"/>
                    </a:lnTo>
                    <a:lnTo>
                      <a:pt x="0" y="288"/>
                    </a:lnTo>
                  </a:path>
                </a:pathLst>
              </a:custGeom>
              <a:noFill/>
              <a:ln w="25400" cap="rnd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dirty="0">
                  <a:ea typeface="SimHei" panose="02010609060101010101" pitchFamily="49" charset="-122"/>
                </a:endParaRPr>
              </a:p>
            </p:txBody>
          </p:sp>
        </p:grpSp>
        <p:sp>
          <p:nvSpPr>
            <p:cNvPr id="34" name="Rectangle 42">
              <a:extLst>
                <a:ext uri="{FF2B5EF4-FFF2-40B4-BE49-F238E27FC236}">
                  <a16:creationId xmlns:a16="http://schemas.microsoft.com/office/drawing/2014/main" id="{7B9D37B2-32D1-4A28-A4EB-BC4BDBC56C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87" y="1682"/>
              <a:ext cx="355" cy="21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73" tIns="44442" rIns="90473" bIns="44442">
              <a:spAutoFit/>
            </a:bodyPr>
            <a:lstStyle/>
            <a:p>
              <a:pPr eaLnBrk="0" hangingPunct="0"/>
              <a:r>
                <a:rPr lang="en-US" altLang="zh-CN" sz="1600" dirty="0">
                  <a:latin typeface="Arial" pitchFamily="34" charset="0"/>
                  <a:ea typeface="SimHei" panose="02010609060101010101" pitchFamily="49" charset="-122"/>
                </a:rPr>
                <a:t>Reg</a:t>
              </a:r>
            </a:p>
          </p:txBody>
        </p:sp>
        <p:grpSp>
          <p:nvGrpSpPr>
            <p:cNvPr id="35" name="Group 43">
              <a:extLst>
                <a:ext uri="{FF2B5EF4-FFF2-40B4-BE49-F238E27FC236}">
                  <a16:creationId xmlns:a16="http://schemas.microsoft.com/office/drawing/2014/main" id="{60383BBD-A0FB-4D3D-AC91-2A3E363A3A6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514" y="1680"/>
              <a:ext cx="284" cy="289"/>
              <a:chOff x="3068" y="1509"/>
              <a:chExt cx="284" cy="289"/>
            </a:xfrm>
          </p:grpSpPr>
          <p:sp>
            <p:nvSpPr>
              <p:cNvPr id="45" name="Freeform 44">
                <a:extLst>
                  <a:ext uri="{FF2B5EF4-FFF2-40B4-BE49-F238E27FC236}">
                    <a16:creationId xmlns:a16="http://schemas.microsoft.com/office/drawing/2014/main" id="{3EFEDE6E-C1DB-4674-955B-D7DD765844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8" y="1509"/>
                <a:ext cx="142" cy="289"/>
              </a:xfrm>
              <a:custGeom>
                <a:avLst/>
                <a:gdLst>
                  <a:gd name="T0" fmla="*/ 141 w 142"/>
                  <a:gd name="T1" fmla="*/ 0 h 289"/>
                  <a:gd name="T2" fmla="*/ 0 w 142"/>
                  <a:gd name="T3" fmla="*/ 0 h 289"/>
                  <a:gd name="T4" fmla="*/ 0 w 142"/>
                  <a:gd name="T5" fmla="*/ 288 h 289"/>
                  <a:gd name="T6" fmla="*/ 141 w 142"/>
                  <a:gd name="T7" fmla="*/ 288 h 28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2" h="289">
                    <a:moveTo>
                      <a:pt x="141" y="0"/>
                    </a:moveTo>
                    <a:lnTo>
                      <a:pt x="0" y="0"/>
                    </a:lnTo>
                    <a:lnTo>
                      <a:pt x="0" y="288"/>
                    </a:lnTo>
                    <a:lnTo>
                      <a:pt x="141" y="288"/>
                    </a:lnTo>
                  </a:path>
                </a:pathLst>
              </a:custGeom>
              <a:noFill/>
              <a:ln w="25400" cap="rnd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dirty="0">
                  <a:ea typeface="SimHei" panose="02010609060101010101" pitchFamily="49" charset="-122"/>
                </a:endParaRPr>
              </a:p>
            </p:txBody>
          </p:sp>
          <p:sp>
            <p:nvSpPr>
              <p:cNvPr id="46" name="Freeform 45">
                <a:extLst>
                  <a:ext uri="{FF2B5EF4-FFF2-40B4-BE49-F238E27FC236}">
                    <a16:creationId xmlns:a16="http://schemas.microsoft.com/office/drawing/2014/main" id="{14B46B41-3A26-4F60-8387-0F397596D3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9" y="1509"/>
                <a:ext cx="143" cy="289"/>
              </a:xfrm>
              <a:custGeom>
                <a:avLst/>
                <a:gdLst>
                  <a:gd name="T0" fmla="*/ 0 w 143"/>
                  <a:gd name="T1" fmla="*/ 0 h 289"/>
                  <a:gd name="T2" fmla="*/ 142 w 143"/>
                  <a:gd name="T3" fmla="*/ 0 h 289"/>
                  <a:gd name="T4" fmla="*/ 142 w 143"/>
                  <a:gd name="T5" fmla="*/ 288 h 289"/>
                  <a:gd name="T6" fmla="*/ 0 w 143"/>
                  <a:gd name="T7" fmla="*/ 288 h 28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3" h="289">
                    <a:moveTo>
                      <a:pt x="0" y="0"/>
                    </a:moveTo>
                    <a:lnTo>
                      <a:pt x="142" y="0"/>
                    </a:lnTo>
                    <a:lnTo>
                      <a:pt x="142" y="288"/>
                    </a:lnTo>
                    <a:lnTo>
                      <a:pt x="0" y="288"/>
                    </a:lnTo>
                  </a:path>
                </a:pathLst>
              </a:custGeom>
              <a:noFill/>
              <a:ln w="25400" cap="rnd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dirty="0">
                  <a:ea typeface="SimHei" panose="02010609060101010101" pitchFamily="49" charset="-122"/>
                </a:endParaRPr>
              </a:p>
            </p:txBody>
          </p:sp>
        </p:grpSp>
        <p:sp>
          <p:nvSpPr>
            <p:cNvPr id="36" name="Line 46">
              <a:extLst>
                <a:ext uri="{FF2B5EF4-FFF2-40B4-BE49-F238E27FC236}">
                  <a16:creationId xmlns:a16="http://schemas.microsoft.com/office/drawing/2014/main" id="{D3E85BD9-8F1A-40BA-BD00-2F97E1E4F9B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67" y="1824"/>
              <a:ext cx="139" cy="0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37" name="Line 47">
              <a:extLst>
                <a:ext uri="{FF2B5EF4-FFF2-40B4-BE49-F238E27FC236}">
                  <a16:creationId xmlns:a16="http://schemas.microsoft.com/office/drawing/2014/main" id="{F764073A-4446-4BEC-B427-C2D60383251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83" y="1824"/>
              <a:ext cx="155" cy="0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38" name="Line 48">
              <a:extLst>
                <a:ext uri="{FF2B5EF4-FFF2-40B4-BE49-F238E27FC236}">
                  <a16:creationId xmlns:a16="http://schemas.microsoft.com/office/drawing/2014/main" id="{384E34AA-C641-44AD-8F67-7D683CC6BA8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498" y="1920"/>
              <a:ext cx="157" cy="0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39" name="Line 49">
              <a:extLst>
                <a:ext uri="{FF2B5EF4-FFF2-40B4-BE49-F238E27FC236}">
                  <a16:creationId xmlns:a16="http://schemas.microsoft.com/office/drawing/2014/main" id="{300A6A82-B71F-45F7-A1B4-0DECAA03622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582" y="1920"/>
              <a:ext cx="0" cy="192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40" name="Line 50">
              <a:extLst>
                <a:ext uri="{FF2B5EF4-FFF2-40B4-BE49-F238E27FC236}">
                  <a16:creationId xmlns:a16="http://schemas.microsoft.com/office/drawing/2014/main" id="{8787ABD7-A51A-4B54-9BD1-D700DABA3AC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582" y="2112"/>
              <a:ext cx="336" cy="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41" name="Line 51">
              <a:extLst>
                <a:ext uri="{FF2B5EF4-FFF2-40B4-BE49-F238E27FC236}">
                  <a16:creationId xmlns:a16="http://schemas.microsoft.com/office/drawing/2014/main" id="{78B842FA-6CD9-4123-9018-99E5B85ABEB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18" y="1824"/>
              <a:ext cx="0" cy="288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42" name="Line 52">
              <a:extLst>
                <a:ext uri="{FF2B5EF4-FFF2-40B4-BE49-F238E27FC236}">
                  <a16:creationId xmlns:a16="http://schemas.microsoft.com/office/drawing/2014/main" id="{ED972C05-AC6B-440F-854D-BF3DF584887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998" y="1824"/>
              <a:ext cx="0" cy="24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43" name="Line 53">
              <a:extLst>
                <a:ext uri="{FF2B5EF4-FFF2-40B4-BE49-F238E27FC236}">
                  <a16:creationId xmlns:a16="http://schemas.microsoft.com/office/drawing/2014/main" id="{D4AAF563-0E29-4F3E-AF6B-38EDFB45EE8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98" y="2064"/>
              <a:ext cx="432" cy="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44" name="Line 54">
              <a:extLst>
                <a:ext uri="{FF2B5EF4-FFF2-40B4-BE49-F238E27FC236}">
                  <a16:creationId xmlns:a16="http://schemas.microsoft.com/office/drawing/2014/main" id="{1B54CCD3-4574-45DC-9D07-923B4946F01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30" y="1824"/>
              <a:ext cx="0" cy="24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</p:grpSp>
      <p:grpSp>
        <p:nvGrpSpPr>
          <p:cNvPr id="57" name="Group 55">
            <a:extLst>
              <a:ext uri="{FF2B5EF4-FFF2-40B4-BE49-F238E27FC236}">
                <a16:creationId xmlns:a16="http://schemas.microsoft.com/office/drawing/2014/main" id="{CE20ACA2-47AF-48C9-92FB-3C52A5ABC54A}"/>
              </a:ext>
            </a:extLst>
          </p:cNvPr>
          <p:cNvGrpSpPr>
            <a:grpSpLocks/>
          </p:cNvGrpSpPr>
          <p:nvPr/>
        </p:nvGrpSpPr>
        <p:grpSpPr bwMode="auto">
          <a:xfrm>
            <a:off x="3503613" y="3017838"/>
            <a:ext cx="3357562" cy="838200"/>
            <a:chOff x="1561" y="1152"/>
            <a:chExt cx="2115" cy="528"/>
          </a:xfrm>
        </p:grpSpPr>
        <p:grpSp>
          <p:nvGrpSpPr>
            <p:cNvPr id="58" name="Group 56">
              <a:extLst>
                <a:ext uri="{FF2B5EF4-FFF2-40B4-BE49-F238E27FC236}">
                  <a16:creationId xmlns:a16="http://schemas.microsoft.com/office/drawing/2014/main" id="{711F29CB-8F6A-4BB0-9B5F-80065B4E1AD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487" y="1152"/>
              <a:ext cx="223" cy="481"/>
              <a:chOff x="2207" y="1413"/>
              <a:chExt cx="223" cy="481"/>
            </a:xfrm>
          </p:grpSpPr>
          <p:sp>
            <p:nvSpPr>
              <p:cNvPr id="88" name="Freeform 57">
                <a:extLst>
                  <a:ext uri="{FF2B5EF4-FFF2-40B4-BE49-F238E27FC236}">
                    <a16:creationId xmlns:a16="http://schemas.microsoft.com/office/drawing/2014/main" id="{AB86091C-9831-4A91-B8A5-09861A9708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7" y="1413"/>
                <a:ext cx="213" cy="481"/>
              </a:xfrm>
              <a:custGeom>
                <a:avLst/>
                <a:gdLst>
                  <a:gd name="T0" fmla="*/ 0 w 213"/>
                  <a:gd name="T1" fmla="*/ 320 h 481"/>
                  <a:gd name="T2" fmla="*/ 71 w 213"/>
                  <a:gd name="T3" fmla="*/ 240 h 481"/>
                  <a:gd name="T4" fmla="*/ 0 w 213"/>
                  <a:gd name="T5" fmla="*/ 160 h 481"/>
                  <a:gd name="T6" fmla="*/ 0 w 213"/>
                  <a:gd name="T7" fmla="*/ 0 h 481"/>
                  <a:gd name="T8" fmla="*/ 212 w 213"/>
                  <a:gd name="T9" fmla="*/ 160 h 481"/>
                  <a:gd name="T10" fmla="*/ 212 w 213"/>
                  <a:gd name="T11" fmla="*/ 320 h 481"/>
                  <a:gd name="T12" fmla="*/ 0 w 213"/>
                  <a:gd name="T13" fmla="*/ 480 h 481"/>
                  <a:gd name="T14" fmla="*/ 0 w 213"/>
                  <a:gd name="T15" fmla="*/ 320 h 48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13" h="481">
                    <a:moveTo>
                      <a:pt x="0" y="320"/>
                    </a:moveTo>
                    <a:lnTo>
                      <a:pt x="71" y="240"/>
                    </a:lnTo>
                    <a:lnTo>
                      <a:pt x="0" y="160"/>
                    </a:lnTo>
                    <a:lnTo>
                      <a:pt x="0" y="0"/>
                    </a:lnTo>
                    <a:lnTo>
                      <a:pt x="212" y="160"/>
                    </a:lnTo>
                    <a:lnTo>
                      <a:pt x="212" y="320"/>
                    </a:lnTo>
                    <a:lnTo>
                      <a:pt x="0" y="480"/>
                    </a:lnTo>
                    <a:lnTo>
                      <a:pt x="0" y="320"/>
                    </a:lnTo>
                  </a:path>
                </a:pathLst>
              </a:custGeom>
              <a:noFill/>
              <a:ln w="25400" cap="rnd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dirty="0">
                  <a:ea typeface="SimHei" panose="02010609060101010101" pitchFamily="49" charset="-122"/>
                </a:endParaRPr>
              </a:p>
            </p:txBody>
          </p:sp>
          <p:sp>
            <p:nvSpPr>
              <p:cNvPr id="89" name="Rectangle 58">
                <a:extLst>
                  <a:ext uri="{FF2B5EF4-FFF2-40B4-BE49-F238E27FC236}">
                    <a16:creationId xmlns:a16="http://schemas.microsoft.com/office/drawing/2014/main" id="{27BCCEE8-03CE-442E-948B-6631D86269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5400000">
                <a:off x="2124" y="1533"/>
                <a:ext cx="376" cy="21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12700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lIns="90473" tIns="44442" rIns="90473" bIns="44442">
                <a:spAutoFit/>
              </a:bodyPr>
              <a:lstStyle/>
              <a:p>
                <a:pPr eaLnBrk="0" hangingPunct="0"/>
                <a:r>
                  <a:rPr lang="en-US" altLang="zh-CN" sz="1600" dirty="0">
                    <a:latin typeface="Arial" pitchFamily="34" charset="0"/>
                    <a:ea typeface="SimHei" panose="02010609060101010101" pitchFamily="49" charset="-122"/>
                  </a:rPr>
                  <a:t>ALU</a:t>
                </a:r>
              </a:p>
            </p:txBody>
          </p:sp>
        </p:grpSp>
        <p:grpSp>
          <p:nvGrpSpPr>
            <p:cNvPr id="59" name="Group 59">
              <a:extLst>
                <a:ext uri="{FF2B5EF4-FFF2-40B4-BE49-F238E27FC236}">
                  <a16:creationId xmlns:a16="http://schemas.microsoft.com/office/drawing/2014/main" id="{936351D2-6392-4FDB-8D98-20EBFC6F984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561" y="1248"/>
              <a:ext cx="350" cy="289"/>
              <a:chOff x="1281" y="1509"/>
              <a:chExt cx="350" cy="289"/>
            </a:xfrm>
          </p:grpSpPr>
          <p:sp>
            <p:nvSpPr>
              <p:cNvPr id="84" name="Rectangle 60">
                <a:extLst>
                  <a:ext uri="{FF2B5EF4-FFF2-40B4-BE49-F238E27FC236}">
                    <a16:creationId xmlns:a16="http://schemas.microsoft.com/office/drawing/2014/main" id="{19B62BE9-F974-4C11-B0E7-EB5004A1CE4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81" y="1511"/>
                <a:ext cx="259" cy="21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12700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lIns="90473" tIns="44442" rIns="90473" bIns="44442">
                <a:spAutoFit/>
              </a:bodyPr>
              <a:lstStyle/>
              <a:p>
                <a:pPr algn="ctr" eaLnBrk="0" hangingPunct="0"/>
                <a:r>
                  <a:rPr lang="en-US" altLang="zh-CN" sz="1600" dirty="0">
                    <a:latin typeface="Arial" pitchFamily="34" charset="0"/>
                    <a:ea typeface="SimHei" panose="02010609060101010101" pitchFamily="49" charset="-122"/>
                  </a:rPr>
                  <a:t>IM</a:t>
                </a:r>
              </a:p>
            </p:txBody>
          </p:sp>
          <p:grpSp>
            <p:nvGrpSpPr>
              <p:cNvPr id="85" name="Group 61">
                <a:extLst>
                  <a:ext uri="{FF2B5EF4-FFF2-40B4-BE49-F238E27FC236}">
                    <a16:creationId xmlns:a16="http://schemas.microsoft.com/office/drawing/2014/main" id="{2BE10144-E813-4FCA-BD92-D506A6FEDFD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291" y="1509"/>
                <a:ext cx="340" cy="289"/>
                <a:chOff x="1291" y="1509"/>
                <a:chExt cx="340" cy="289"/>
              </a:xfrm>
            </p:grpSpPr>
            <p:sp>
              <p:nvSpPr>
                <p:cNvPr id="86" name="Freeform 62">
                  <a:extLst>
                    <a:ext uri="{FF2B5EF4-FFF2-40B4-BE49-F238E27FC236}">
                      <a16:creationId xmlns:a16="http://schemas.microsoft.com/office/drawing/2014/main" id="{1B7163B2-8CBA-41AC-9661-3F80793A253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291" y="1509"/>
                  <a:ext cx="170" cy="289"/>
                </a:xfrm>
                <a:custGeom>
                  <a:avLst/>
                  <a:gdLst>
                    <a:gd name="T0" fmla="*/ 169 w 170"/>
                    <a:gd name="T1" fmla="*/ 0 h 289"/>
                    <a:gd name="T2" fmla="*/ 0 w 170"/>
                    <a:gd name="T3" fmla="*/ 0 h 289"/>
                    <a:gd name="T4" fmla="*/ 0 w 170"/>
                    <a:gd name="T5" fmla="*/ 288 h 289"/>
                    <a:gd name="T6" fmla="*/ 169 w 170"/>
                    <a:gd name="T7" fmla="*/ 288 h 289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170" h="289">
                      <a:moveTo>
                        <a:pt x="169" y="0"/>
                      </a:moveTo>
                      <a:lnTo>
                        <a:pt x="0" y="0"/>
                      </a:lnTo>
                      <a:lnTo>
                        <a:pt x="0" y="288"/>
                      </a:lnTo>
                      <a:lnTo>
                        <a:pt x="169" y="288"/>
                      </a:lnTo>
                    </a:path>
                  </a:pathLst>
                </a:custGeom>
                <a:noFill/>
                <a:ln w="25400" cap="rnd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zh-CN" altLang="en-US" dirty="0">
                    <a:ea typeface="SimHei" panose="02010609060101010101" pitchFamily="49" charset="-122"/>
                  </a:endParaRPr>
                </a:p>
              </p:txBody>
            </p:sp>
            <p:sp>
              <p:nvSpPr>
                <p:cNvPr id="87" name="Freeform 63">
                  <a:extLst>
                    <a:ext uri="{FF2B5EF4-FFF2-40B4-BE49-F238E27FC236}">
                      <a16:creationId xmlns:a16="http://schemas.microsoft.com/office/drawing/2014/main" id="{E826EC88-387D-4F2D-9991-5DB0BC92BD4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460" y="1509"/>
                  <a:ext cx="171" cy="289"/>
                </a:xfrm>
                <a:custGeom>
                  <a:avLst/>
                  <a:gdLst>
                    <a:gd name="T0" fmla="*/ 0 w 171"/>
                    <a:gd name="T1" fmla="*/ 0 h 289"/>
                    <a:gd name="T2" fmla="*/ 170 w 171"/>
                    <a:gd name="T3" fmla="*/ 0 h 289"/>
                    <a:gd name="T4" fmla="*/ 170 w 171"/>
                    <a:gd name="T5" fmla="*/ 288 h 289"/>
                    <a:gd name="T6" fmla="*/ 0 w 171"/>
                    <a:gd name="T7" fmla="*/ 288 h 289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171" h="289">
                      <a:moveTo>
                        <a:pt x="0" y="0"/>
                      </a:moveTo>
                      <a:lnTo>
                        <a:pt x="170" y="0"/>
                      </a:lnTo>
                      <a:lnTo>
                        <a:pt x="170" y="288"/>
                      </a:lnTo>
                      <a:lnTo>
                        <a:pt x="0" y="288"/>
                      </a:lnTo>
                    </a:path>
                  </a:pathLst>
                </a:custGeom>
                <a:noFill/>
                <a:ln w="25400" cap="rnd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zh-CN" altLang="en-US" dirty="0">
                    <a:ea typeface="SimHei" panose="02010609060101010101" pitchFamily="49" charset="-122"/>
                  </a:endParaRPr>
                </a:p>
              </p:txBody>
            </p:sp>
          </p:grpSp>
        </p:grpSp>
        <p:sp>
          <p:nvSpPr>
            <p:cNvPr id="60" name="Rectangle 64">
              <a:extLst>
                <a:ext uri="{FF2B5EF4-FFF2-40B4-BE49-F238E27FC236}">
                  <a16:creationId xmlns:a16="http://schemas.microsoft.com/office/drawing/2014/main" id="{B209EEDD-87D9-49B8-AA4C-F709B5549B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12" y="1255"/>
              <a:ext cx="355" cy="21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73" tIns="44442" rIns="90473" bIns="44442">
              <a:spAutoFit/>
            </a:bodyPr>
            <a:lstStyle/>
            <a:p>
              <a:pPr eaLnBrk="0" hangingPunct="0"/>
              <a:r>
                <a:rPr lang="en-US" altLang="zh-CN" sz="1600" dirty="0">
                  <a:latin typeface="Arial" pitchFamily="34" charset="0"/>
                  <a:ea typeface="SimHei" panose="02010609060101010101" pitchFamily="49" charset="-122"/>
                </a:rPr>
                <a:t>Reg</a:t>
              </a:r>
            </a:p>
          </p:txBody>
        </p:sp>
        <p:grpSp>
          <p:nvGrpSpPr>
            <p:cNvPr id="61" name="Group 65">
              <a:extLst>
                <a:ext uri="{FF2B5EF4-FFF2-40B4-BE49-F238E27FC236}">
                  <a16:creationId xmlns:a16="http://schemas.microsoft.com/office/drawing/2014/main" id="{DBA1C506-30CA-4CFA-A6F9-21E88C87D6A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031" y="1248"/>
              <a:ext cx="296" cy="289"/>
              <a:chOff x="1751" y="1509"/>
              <a:chExt cx="296" cy="289"/>
            </a:xfrm>
          </p:grpSpPr>
          <p:sp>
            <p:nvSpPr>
              <p:cNvPr id="82" name="Freeform 66">
                <a:extLst>
                  <a:ext uri="{FF2B5EF4-FFF2-40B4-BE49-F238E27FC236}">
                    <a16:creationId xmlns:a16="http://schemas.microsoft.com/office/drawing/2014/main" id="{A89B3B11-31C9-44B8-A425-8AA92A87F7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1" y="1509"/>
                <a:ext cx="149" cy="289"/>
              </a:xfrm>
              <a:custGeom>
                <a:avLst/>
                <a:gdLst>
                  <a:gd name="T0" fmla="*/ 148 w 149"/>
                  <a:gd name="T1" fmla="*/ 0 h 289"/>
                  <a:gd name="T2" fmla="*/ 0 w 149"/>
                  <a:gd name="T3" fmla="*/ 0 h 289"/>
                  <a:gd name="T4" fmla="*/ 0 w 149"/>
                  <a:gd name="T5" fmla="*/ 288 h 289"/>
                  <a:gd name="T6" fmla="*/ 148 w 149"/>
                  <a:gd name="T7" fmla="*/ 288 h 28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9" h="289">
                    <a:moveTo>
                      <a:pt x="148" y="0"/>
                    </a:moveTo>
                    <a:lnTo>
                      <a:pt x="0" y="0"/>
                    </a:lnTo>
                    <a:lnTo>
                      <a:pt x="0" y="288"/>
                    </a:lnTo>
                    <a:lnTo>
                      <a:pt x="148" y="288"/>
                    </a:lnTo>
                  </a:path>
                </a:pathLst>
              </a:custGeom>
              <a:noFill/>
              <a:ln w="25400" cap="rnd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dirty="0">
                  <a:ea typeface="SimHei" panose="02010609060101010101" pitchFamily="49" charset="-122"/>
                </a:endParaRPr>
              </a:p>
            </p:txBody>
          </p:sp>
          <p:sp>
            <p:nvSpPr>
              <p:cNvPr id="83" name="Freeform 67">
                <a:extLst>
                  <a:ext uri="{FF2B5EF4-FFF2-40B4-BE49-F238E27FC236}">
                    <a16:creationId xmlns:a16="http://schemas.microsoft.com/office/drawing/2014/main" id="{D1F541C7-3269-4891-AAEF-B54FD28C5D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9" y="1509"/>
                <a:ext cx="148" cy="289"/>
              </a:xfrm>
              <a:custGeom>
                <a:avLst/>
                <a:gdLst>
                  <a:gd name="T0" fmla="*/ 0 w 148"/>
                  <a:gd name="T1" fmla="*/ 0 h 289"/>
                  <a:gd name="T2" fmla="*/ 147 w 148"/>
                  <a:gd name="T3" fmla="*/ 0 h 289"/>
                  <a:gd name="T4" fmla="*/ 147 w 148"/>
                  <a:gd name="T5" fmla="*/ 288 h 289"/>
                  <a:gd name="T6" fmla="*/ 0 w 148"/>
                  <a:gd name="T7" fmla="*/ 288 h 28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8" h="289">
                    <a:moveTo>
                      <a:pt x="0" y="0"/>
                    </a:moveTo>
                    <a:lnTo>
                      <a:pt x="147" y="0"/>
                    </a:lnTo>
                    <a:lnTo>
                      <a:pt x="147" y="288"/>
                    </a:lnTo>
                    <a:lnTo>
                      <a:pt x="0" y="288"/>
                    </a:lnTo>
                  </a:path>
                </a:pathLst>
              </a:custGeom>
              <a:noFill/>
              <a:ln w="25400" cap="rnd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dirty="0">
                  <a:ea typeface="SimHei" panose="02010609060101010101" pitchFamily="49" charset="-122"/>
                </a:endParaRPr>
              </a:p>
            </p:txBody>
          </p:sp>
        </p:grpSp>
        <p:sp>
          <p:nvSpPr>
            <p:cNvPr id="62" name="Line 68">
              <a:extLst>
                <a:ext uri="{FF2B5EF4-FFF2-40B4-BE49-F238E27FC236}">
                  <a16:creationId xmlns:a16="http://schemas.microsoft.com/office/drawing/2014/main" id="{4D254EEF-4ABE-4FE8-91BA-CC47D3A10E3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916" y="1392"/>
              <a:ext cx="116" cy="0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63" name="Freeform 69">
              <a:extLst>
                <a:ext uri="{FF2B5EF4-FFF2-40B4-BE49-F238E27FC236}">
                  <a16:creationId xmlns:a16="http://schemas.microsoft.com/office/drawing/2014/main" id="{F4FC46E9-CB6D-4C1E-9751-F3010B42BE9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4" y="1296"/>
              <a:ext cx="48" cy="97"/>
            </a:xfrm>
            <a:custGeom>
              <a:avLst/>
              <a:gdLst>
                <a:gd name="T0" fmla="*/ 0 w 48"/>
                <a:gd name="T1" fmla="*/ 96 h 97"/>
                <a:gd name="T2" fmla="*/ 0 w 48"/>
                <a:gd name="T3" fmla="*/ 0 h 97"/>
                <a:gd name="T4" fmla="*/ 47 w 48"/>
                <a:gd name="T5" fmla="*/ 0 h 97"/>
                <a:gd name="T6" fmla="*/ 47 w 48"/>
                <a:gd name="T7" fmla="*/ 0 h 9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8" h="97">
                  <a:moveTo>
                    <a:pt x="0" y="96"/>
                  </a:moveTo>
                  <a:lnTo>
                    <a:pt x="0" y="0"/>
                  </a:lnTo>
                  <a:lnTo>
                    <a:pt x="47" y="0"/>
                  </a:lnTo>
                </a:path>
              </a:pathLst>
            </a:custGeom>
            <a:noFill/>
            <a:ln w="25400" cap="rnd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64" name="Line 70">
              <a:extLst>
                <a:ext uri="{FF2B5EF4-FFF2-40B4-BE49-F238E27FC236}">
                  <a16:creationId xmlns:a16="http://schemas.microsoft.com/office/drawing/2014/main" id="{9AE293F7-BFCE-47EE-A7D1-390BD47203C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332" y="1296"/>
              <a:ext cx="157" cy="0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65" name="Rectangle 71">
              <a:extLst>
                <a:ext uri="{FF2B5EF4-FFF2-40B4-BE49-F238E27FC236}">
                  <a16:creationId xmlns:a16="http://schemas.microsoft.com/office/drawing/2014/main" id="{37C91F6D-8C00-4ED6-99C0-48734F7218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29" y="1250"/>
              <a:ext cx="313" cy="21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73" tIns="44442" rIns="90473" bIns="44442">
              <a:spAutoFit/>
            </a:bodyPr>
            <a:lstStyle/>
            <a:p>
              <a:pPr eaLnBrk="0" hangingPunct="0"/>
              <a:r>
                <a:rPr lang="en-US" altLang="zh-CN" sz="1600" dirty="0">
                  <a:latin typeface="Arial" pitchFamily="34" charset="0"/>
                  <a:ea typeface="SimHei" panose="02010609060101010101" pitchFamily="49" charset="-122"/>
                </a:rPr>
                <a:t>DM</a:t>
              </a:r>
            </a:p>
          </p:txBody>
        </p:sp>
        <p:grpSp>
          <p:nvGrpSpPr>
            <p:cNvPr id="66" name="Group 72">
              <a:extLst>
                <a:ext uri="{FF2B5EF4-FFF2-40B4-BE49-F238E27FC236}">
                  <a16:creationId xmlns:a16="http://schemas.microsoft.com/office/drawing/2014/main" id="{404DA870-06A6-4B54-B12E-5F1D832C9FF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880" y="1248"/>
              <a:ext cx="325" cy="289"/>
              <a:chOff x="2600" y="1509"/>
              <a:chExt cx="325" cy="289"/>
            </a:xfrm>
          </p:grpSpPr>
          <p:sp>
            <p:nvSpPr>
              <p:cNvPr id="80" name="Freeform 73">
                <a:extLst>
                  <a:ext uri="{FF2B5EF4-FFF2-40B4-BE49-F238E27FC236}">
                    <a16:creationId xmlns:a16="http://schemas.microsoft.com/office/drawing/2014/main" id="{88AECB86-03A8-489E-A5EE-24E42698D9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0" y="1509"/>
                <a:ext cx="162" cy="289"/>
              </a:xfrm>
              <a:custGeom>
                <a:avLst/>
                <a:gdLst>
                  <a:gd name="T0" fmla="*/ 161 w 162"/>
                  <a:gd name="T1" fmla="*/ 0 h 289"/>
                  <a:gd name="T2" fmla="*/ 0 w 162"/>
                  <a:gd name="T3" fmla="*/ 0 h 289"/>
                  <a:gd name="T4" fmla="*/ 0 w 162"/>
                  <a:gd name="T5" fmla="*/ 288 h 289"/>
                  <a:gd name="T6" fmla="*/ 161 w 162"/>
                  <a:gd name="T7" fmla="*/ 288 h 28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2" h="289">
                    <a:moveTo>
                      <a:pt x="161" y="0"/>
                    </a:moveTo>
                    <a:lnTo>
                      <a:pt x="0" y="0"/>
                    </a:lnTo>
                    <a:lnTo>
                      <a:pt x="0" y="288"/>
                    </a:lnTo>
                    <a:lnTo>
                      <a:pt x="161" y="288"/>
                    </a:lnTo>
                  </a:path>
                </a:pathLst>
              </a:custGeom>
              <a:noFill/>
              <a:ln w="25400" cap="rnd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dirty="0">
                  <a:ea typeface="SimHei" panose="02010609060101010101" pitchFamily="49" charset="-122"/>
                </a:endParaRPr>
              </a:p>
            </p:txBody>
          </p:sp>
          <p:sp>
            <p:nvSpPr>
              <p:cNvPr id="81" name="Freeform 74">
                <a:extLst>
                  <a:ext uri="{FF2B5EF4-FFF2-40B4-BE49-F238E27FC236}">
                    <a16:creationId xmlns:a16="http://schemas.microsoft.com/office/drawing/2014/main" id="{CD3E36C6-BFB4-44BC-BBF2-489645DE5A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1" y="1509"/>
                <a:ext cx="164" cy="289"/>
              </a:xfrm>
              <a:custGeom>
                <a:avLst/>
                <a:gdLst>
                  <a:gd name="T0" fmla="*/ 0 w 164"/>
                  <a:gd name="T1" fmla="*/ 0 h 289"/>
                  <a:gd name="T2" fmla="*/ 163 w 164"/>
                  <a:gd name="T3" fmla="*/ 0 h 289"/>
                  <a:gd name="T4" fmla="*/ 163 w 164"/>
                  <a:gd name="T5" fmla="*/ 288 h 289"/>
                  <a:gd name="T6" fmla="*/ 0 w 164"/>
                  <a:gd name="T7" fmla="*/ 288 h 28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4" h="289">
                    <a:moveTo>
                      <a:pt x="0" y="0"/>
                    </a:moveTo>
                    <a:lnTo>
                      <a:pt x="163" y="0"/>
                    </a:lnTo>
                    <a:lnTo>
                      <a:pt x="163" y="288"/>
                    </a:lnTo>
                    <a:lnTo>
                      <a:pt x="0" y="288"/>
                    </a:lnTo>
                  </a:path>
                </a:pathLst>
              </a:custGeom>
              <a:noFill/>
              <a:ln w="25400" cap="rnd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dirty="0">
                  <a:ea typeface="SimHei" panose="02010609060101010101" pitchFamily="49" charset="-122"/>
                </a:endParaRPr>
              </a:p>
            </p:txBody>
          </p:sp>
        </p:grpSp>
        <p:sp>
          <p:nvSpPr>
            <p:cNvPr id="67" name="Rectangle 75">
              <a:extLst>
                <a:ext uri="{FF2B5EF4-FFF2-40B4-BE49-F238E27FC236}">
                  <a16:creationId xmlns:a16="http://schemas.microsoft.com/office/drawing/2014/main" id="{5D965C19-4909-49F5-9889-D199A185B7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21" y="1250"/>
              <a:ext cx="355" cy="21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73" tIns="44442" rIns="90473" bIns="44442">
              <a:spAutoFit/>
            </a:bodyPr>
            <a:lstStyle/>
            <a:p>
              <a:pPr eaLnBrk="0" hangingPunct="0"/>
              <a:r>
                <a:rPr lang="en-US" altLang="zh-CN" sz="1600" dirty="0">
                  <a:latin typeface="Arial" pitchFamily="34" charset="0"/>
                  <a:ea typeface="SimHei" panose="02010609060101010101" pitchFamily="49" charset="-122"/>
                </a:rPr>
                <a:t>Reg</a:t>
              </a:r>
            </a:p>
          </p:txBody>
        </p:sp>
        <p:grpSp>
          <p:nvGrpSpPr>
            <p:cNvPr id="68" name="Group 76">
              <a:extLst>
                <a:ext uri="{FF2B5EF4-FFF2-40B4-BE49-F238E27FC236}">
                  <a16:creationId xmlns:a16="http://schemas.microsoft.com/office/drawing/2014/main" id="{81BDF495-FE5D-41F8-8280-38C83532EC5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348" y="1248"/>
              <a:ext cx="284" cy="289"/>
              <a:chOff x="3068" y="1509"/>
              <a:chExt cx="284" cy="289"/>
            </a:xfrm>
          </p:grpSpPr>
          <p:sp>
            <p:nvSpPr>
              <p:cNvPr id="78" name="Freeform 77">
                <a:extLst>
                  <a:ext uri="{FF2B5EF4-FFF2-40B4-BE49-F238E27FC236}">
                    <a16:creationId xmlns:a16="http://schemas.microsoft.com/office/drawing/2014/main" id="{B1DE0F82-7A6B-4FE4-9E19-C26A214901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8" y="1509"/>
                <a:ext cx="142" cy="289"/>
              </a:xfrm>
              <a:custGeom>
                <a:avLst/>
                <a:gdLst>
                  <a:gd name="T0" fmla="*/ 141 w 142"/>
                  <a:gd name="T1" fmla="*/ 0 h 289"/>
                  <a:gd name="T2" fmla="*/ 0 w 142"/>
                  <a:gd name="T3" fmla="*/ 0 h 289"/>
                  <a:gd name="T4" fmla="*/ 0 w 142"/>
                  <a:gd name="T5" fmla="*/ 288 h 289"/>
                  <a:gd name="T6" fmla="*/ 141 w 142"/>
                  <a:gd name="T7" fmla="*/ 288 h 28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2" h="289">
                    <a:moveTo>
                      <a:pt x="141" y="0"/>
                    </a:moveTo>
                    <a:lnTo>
                      <a:pt x="0" y="0"/>
                    </a:lnTo>
                    <a:lnTo>
                      <a:pt x="0" y="288"/>
                    </a:lnTo>
                    <a:lnTo>
                      <a:pt x="141" y="288"/>
                    </a:lnTo>
                  </a:path>
                </a:pathLst>
              </a:custGeom>
              <a:noFill/>
              <a:ln w="25400" cap="rnd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dirty="0">
                  <a:ea typeface="SimHei" panose="02010609060101010101" pitchFamily="49" charset="-122"/>
                </a:endParaRPr>
              </a:p>
            </p:txBody>
          </p:sp>
          <p:sp>
            <p:nvSpPr>
              <p:cNvPr id="79" name="Freeform 78">
                <a:extLst>
                  <a:ext uri="{FF2B5EF4-FFF2-40B4-BE49-F238E27FC236}">
                    <a16:creationId xmlns:a16="http://schemas.microsoft.com/office/drawing/2014/main" id="{67B4BA3E-0372-49DA-B587-5AC9410564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9" y="1509"/>
                <a:ext cx="143" cy="289"/>
              </a:xfrm>
              <a:custGeom>
                <a:avLst/>
                <a:gdLst>
                  <a:gd name="T0" fmla="*/ 0 w 143"/>
                  <a:gd name="T1" fmla="*/ 0 h 289"/>
                  <a:gd name="T2" fmla="*/ 142 w 143"/>
                  <a:gd name="T3" fmla="*/ 0 h 289"/>
                  <a:gd name="T4" fmla="*/ 142 w 143"/>
                  <a:gd name="T5" fmla="*/ 288 h 289"/>
                  <a:gd name="T6" fmla="*/ 0 w 143"/>
                  <a:gd name="T7" fmla="*/ 288 h 28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3" h="289">
                    <a:moveTo>
                      <a:pt x="0" y="0"/>
                    </a:moveTo>
                    <a:lnTo>
                      <a:pt x="142" y="0"/>
                    </a:lnTo>
                    <a:lnTo>
                      <a:pt x="142" y="288"/>
                    </a:lnTo>
                    <a:lnTo>
                      <a:pt x="0" y="288"/>
                    </a:lnTo>
                  </a:path>
                </a:pathLst>
              </a:custGeom>
              <a:noFill/>
              <a:ln w="25400" cap="rnd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dirty="0">
                  <a:ea typeface="SimHei" panose="02010609060101010101" pitchFamily="49" charset="-122"/>
                </a:endParaRPr>
              </a:p>
            </p:txBody>
          </p:sp>
        </p:grpSp>
        <p:sp>
          <p:nvSpPr>
            <p:cNvPr id="69" name="Line 79">
              <a:extLst>
                <a:ext uri="{FF2B5EF4-FFF2-40B4-BE49-F238E27FC236}">
                  <a16:creationId xmlns:a16="http://schemas.microsoft.com/office/drawing/2014/main" id="{C5245A41-504A-4326-BE8E-FD6A3694D4F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01" y="1392"/>
              <a:ext cx="139" cy="0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70" name="Line 80">
              <a:extLst>
                <a:ext uri="{FF2B5EF4-FFF2-40B4-BE49-F238E27FC236}">
                  <a16:creationId xmlns:a16="http://schemas.microsoft.com/office/drawing/2014/main" id="{CEEFAFD2-BBC5-4A26-AFA3-775A6E65268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717" y="1392"/>
              <a:ext cx="155" cy="0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71" name="Line 81">
              <a:extLst>
                <a:ext uri="{FF2B5EF4-FFF2-40B4-BE49-F238E27FC236}">
                  <a16:creationId xmlns:a16="http://schemas.microsoft.com/office/drawing/2014/main" id="{7517E496-42DC-4F9D-86C2-563377CBEAA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332" y="1488"/>
              <a:ext cx="157" cy="0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72" name="Line 82">
              <a:extLst>
                <a:ext uri="{FF2B5EF4-FFF2-40B4-BE49-F238E27FC236}">
                  <a16:creationId xmlns:a16="http://schemas.microsoft.com/office/drawing/2014/main" id="{6DB1F7BF-CAF6-4D8A-9626-7B3BA8A22DE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416" y="1488"/>
              <a:ext cx="0" cy="192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73" name="Line 83">
              <a:extLst>
                <a:ext uri="{FF2B5EF4-FFF2-40B4-BE49-F238E27FC236}">
                  <a16:creationId xmlns:a16="http://schemas.microsoft.com/office/drawing/2014/main" id="{0C59A0D0-2A75-4E76-BA6C-291E28CAFCF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416" y="1680"/>
              <a:ext cx="336" cy="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74" name="Line 84">
              <a:extLst>
                <a:ext uri="{FF2B5EF4-FFF2-40B4-BE49-F238E27FC236}">
                  <a16:creationId xmlns:a16="http://schemas.microsoft.com/office/drawing/2014/main" id="{08D43E59-C793-4603-B151-09FC657A0EF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752" y="1392"/>
              <a:ext cx="0" cy="288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75" name="Line 85">
              <a:extLst>
                <a:ext uri="{FF2B5EF4-FFF2-40B4-BE49-F238E27FC236}">
                  <a16:creationId xmlns:a16="http://schemas.microsoft.com/office/drawing/2014/main" id="{0444C4A1-BE34-4780-B14F-1896E761DDB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832" y="1392"/>
              <a:ext cx="0" cy="24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76" name="Line 86">
              <a:extLst>
                <a:ext uri="{FF2B5EF4-FFF2-40B4-BE49-F238E27FC236}">
                  <a16:creationId xmlns:a16="http://schemas.microsoft.com/office/drawing/2014/main" id="{16DCC142-990F-4737-B150-DF0E2A61AF5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32" y="1632"/>
              <a:ext cx="432" cy="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77" name="Line 87">
              <a:extLst>
                <a:ext uri="{FF2B5EF4-FFF2-40B4-BE49-F238E27FC236}">
                  <a16:creationId xmlns:a16="http://schemas.microsoft.com/office/drawing/2014/main" id="{F8078585-0C6C-41F0-8191-4691B7BBD03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64" y="1392"/>
              <a:ext cx="0" cy="24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</p:grpSp>
      <p:grpSp>
        <p:nvGrpSpPr>
          <p:cNvPr id="90" name="Group 88">
            <a:extLst>
              <a:ext uri="{FF2B5EF4-FFF2-40B4-BE49-F238E27FC236}">
                <a16:creationId xmlns:a16="http://schemas.microsoft.com/office/drawing/2014/main" id="{9FAE926C-E28E-43B5-BE10-0C7C2BB34D7E}"/>
              </a:ext>
            </a:extLst>
          </p:cNvPr>
          <p:cNvGrpSpPr>
            <a:grpSpLocks/>
          </p:cNvGrpSpPr>
          <p:nvPr/>
        </p:nvGrpSpPr>
        <p:grpSpPr bwMode="auto">
          <a:xfrm>
            <a:off x="4189420" y="3856038"/>
            <a:ext cx="3355967" cy="838200"/>
            <a:chOff x="1561" y="1152"/>
            <a:chExt cx="2115" cy="528"/>
          </a:xfrm>
        </p:grpSpPr>
        <p:grpSp>
          <p:nvGrpSpPr>
            <p:cNvPr id="91" name="Group 89">
              <a:extLst>
                <a:ext uri="{FF2B5EF4-FFF2-40B4-BE49-F238E27FC236}">
                  <a16:creationId xmlns:a16="http://schemas.microsoft.com/office/drawing/2014/main" id="{A442C89E-9A63-48CE-A730-05663FD05A0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486" y="1152"/>
              <a:ext cx="224" cy="481"/>
              <a:chOff x="2206" y="1413"/>
              <a:chExt cx="224" cy="481"/>
            </a:xfrm>
          </p:grpSpPr>
          <p:sp>
            <p:nvSpPr>
              <p:cNvPr id="121" name="Freeform 90">
                <a:extLst>
                  <a:ext uri="{FF2B5EF4-FFF2-40B4-BE49-F238E27FC236}">
                    <a16:creationId xmlns:a16="http://schemas.microsoft.com/office/drawing/2014/main" id="{BBE62DBA-6B0E-4DC4-9B93-2615DA7A95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7" y="1413"/>
                <a:ext cx="213" cy="481"/>
              </a:xfrm>
              <a:custGeom>
                <a:avLst/>
                <a:gdLst>
                  <a:gd name="T0" fmla="*/ 0 w 213"/>
                  <a:gd name="T1" fmla="*/ 320 h 481"/>
                  <a:gd name="T2" fmla="*/ 71 w 213"/>
                  <a:gd name="T3" fmla="*/ 240 h 481"/>
                  <a:gd name="T4" fmla="*/ 0 w 213"/>
                  <a:gd name="T5" fmla="*/ 160 h 481"/>
                  <a:gd name="T6" fmla="*/ 0 w 213"/>
                  <a:gd name="T7" fmla="*/ 0 h 481"/>
                  <a:gd name="T8" fmla="*/ 212 w 213"/>
                  <a:gd name="T9" fmla="*/ 160 h 481"/>
                  <a:gd name="T10" fmla="*/ 212 w 213"/>
                  <a:gd name="T11" fmla="*/ 320 h 481"/>
                  <a:gd name="T12" fmla="*/ 0 w 213"/>
                  <a:gd name="T13" fmla="*/ 480 h 481"/>
                  <a:gd name="T14" fmla="*/ 0 w 213"/>
                  <a:gd name="T15" fmla="*/ 320 h 48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13" h="481">
                    <a:moveTo>
                      <a:pt x="0" y="320"/>
                    </a:moveTo>
                    <a:lnTo>
                      <a:pt x="71" y="240"/>
                    </a:lnTo>
                    <a:lnTo>
                      <a:pt x="0" y="160"/>
                    </a:lnTo>
                    <a:lnTo>
                      <a:pt x="0" y="0"/>
                    </a:lnTo>
                    <a:lnTo>
                      <a:pt x="212" y="160"/>
                    </a:lnTo>
                    <a:lnTo>
                      <a:pt x="212" y="320"/>
                    </a:lnTo>
                    <a:lnTo>
                      <a:pt x="0" y="480"/>
                    </a:lnTo>
                    <a:lnTo>
                      <a:pt x="0" y="320"/>
                    </a:lnTo>
                  </a:path>
                </a:pathLst>
              </a:custGeom>
              <a:noFill/>
              <a:ln w="25400" cap="rnd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dirty="0">
                  <a:ea typeface="SimHei" panose="02010609060101010101" pitchFamily="49" charset="-122"/>
                </a:endParaRPr>
              </a:p>
            </p:txBody>
          </p:sp>
          <p:sp>
            <p:nvSpPr>
              <p:cNvPr id="122" name="Rectangle 91">
                <a:extLst>
                  <a:ext uri="{FF2B5EF4-FFF2-40B4-BE49-F238E27FC236}">
                    <a16:creationId xmlns:a16="http://schemas.microsoft.com/office/drawing/2014/main" id="{D7E56F08-75BF-4CF8-ADC7-036B886E66C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5400000">
                <a:off x="2124" y="1532"/>
                <a:ext cx="376" cy="211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12700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lIns="90473" tIns="44442" rIns="90473" bIns="44442">
                <a:spAutoFit/>
              </a:bodyPr>
              <a:lstStyle/>
              <a:p>
                <a:pPr eaLnBrk="0" hangingPunct="0"/>
                <a:r>
                  <a:rPr lang="en-US" altLang="zh-CN" sz="1600" dirty="0">
                    <a:latin typeface="Arial" pitchFamily="34" charset="0"/>
                    <a:ea typeface="SimHei" panose="02010609060101010101" pitchFamily="49" charset="-122"/>
                  </a:rPr>
                  <a:t>ALU</a:t>
                </a:r>
              </a:p>
            </p:txBody>
          </p:sp>
        </p:grpSp>
        <p:grpSp>
          <p:nvGrpSpPr>
            <p:cNvPr id="92" name="Group 92">
              <a:extLst>
                <a:ext uri="{FF2B5EF4-FFF2-40B4-BE49-F238E27FC236}">
                  <a16:creationId xmlns:a16="http://schemas.microsoft.com/office/drawing/2014/main" id="{86605F70-4EC6-4E1D-9B80-ED4B6393A1F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561" y="1248"/>
              <a:ext cx="350" cy="289"/>
              <a:chOff x="1281" y="1509"/>
              <a:chExt cx="350" cy="289"/>
            </a:xfrm>
          </p:grpSpPr>
          <p:sp>
            <p:nvSpPr>
              <p:cNvPr id="117" name="Rectangle 93">
                <a:extLst>
                  <a:ext uri="{FF2B5EF4-FFF2-40B4-BE49-F238E27FC236}">
                    <a16:creationId xmlns:a16="http://schemas.microsoft.com/office/drawing/2014/main" id="{C7A89694-6539-47DB-8C78-78D07FCDEC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81" y="1511"/>
                <a:ext cx="260" cy="21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12700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lIns="90473" tIns="44442" rIns="90473" bIns="44442">
                <a:spAutoFit/>
              </a:bodyPr>
              <a:lstStyle/>
              <a:p>
                <a:pPr algn="ctr" eaLnBrk="0" hangingPunct="0"/>
                <a:r>
                  <a:rPr lang="en-US" altLang="zh-CN" sz="1600" dirty="0">
                    <a:latin typeface="Arial" pitchFamily="34" charset="0"/>
                    <a:ea typeface="SimHei" panose="02010609060101010101" pitchFamily="49" charset="-122"/>
                  </a:rPr>
                  <a:t>IM</a:t>
                </a:r>
              </a:p>
            </p:txBody>
          </p:sp>
          <p:grpSp>
            <p:nvGrpSpPr>
              <p:cNvPr id="118" name="Group 94">
                <a:extLst>
                  <a:ext uri="{FF2B5EF4-FFF2-40B4-BE49-F238E27FC236}">
                    <a16:creationId xmlns:a16="http://schemas.microsoft.com/office/drawing/2014/main" id="{FF27C90E-6007-4929-8CC3-6BB829CEF45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291" y="1509"/>
                <a:ext cx="340" cy="289"/>
                <a:chOff x="1291" y="1509"/>
                <a:chExt cx="340" cy="289"/>
              </a:xfrm>
            </p:grpSpPr>
            <p:sp>
              <p:nvSpPr>
                <p:cNvPr id="119" name="Freeform 95">
                  <a:extLst>
                    <a:ext uri="{FF2B5EF4-FFF2-40B4-BE49-F238E27FC236}">
                      <a16:creationId xmlns:a16="http://schemas.microsoft.com/office/drawing/2014/main" id="{2E7629D2-9149-4770-953F-9620D408293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291" y="1509"/>
                  <a:ext cx="170" cy="289"/>
                </a:xfrm>
                <a:custGeom>
                  <a:avLst/>
                  <a:gdLst>
                    <a:gd name="T0" fmla="*/ 169 w 170"/>
                    <a:gd name="T1" fmla="*/ 0 h 289"/>
                    <a:gd name="T2" fmla="*/ 0 w 170"/>
                    <a:gd name="T3" fmla="*/ 0 h 289"/>
                    <a:gd name="T4" fmla="*/ 0 w 170"/>
                    <a:gd name="T5" fmla="*/ 288 h 289"/>
                    <a:gd name="T6" fmla="*/ 169 w 170"/>
                    <a:gd name="T7" fmla="*/ 288 h 289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170" h="289">
                      <a:moveTo>
                        <a:pt x="169" y="0"/>
                      </a:moveTo>
                      <a:lnTo>
                        <a:pt x="0" y="0"/>
                      </a:lnTo>
                      <a:lnTo>
                        <a:pt x="0" y="288"/>
                      </a:lnTo>
                      <a:lnTo>
                        <a:pt x="169" y="288"/>
                      </a:lnTo>
                    </a:path>
                  </a:pathLst>
                </a:custGeom>
                <a:noFill/>
                <a:ln w="25400" cap="rnd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zh-CN" altLang="en-US" dirty="0">
                    <a:ea typeface="SimHei" panose="02010609060101010101" pitchFamily="49" charset="-122"/>
                  </a:endParaRPr>
                </a:p>
              </p:txBody>
            </p:sp>
            <p:sp>
              <p:nvSpPr>
                <p:cNvPr id="120" name="Freeform 96">
                  <a:extLst>
                    <a:ext uri="{FF2B5EF4-FFF2-40B4-BE49-F238E27FC236}">
                      <a16:creationId xmlns:a16="http://schemas.microsoft.com/office/drawing/2014/main" id="{336E107A-7E3C-48F1-A9B7-EFAD5C70EB8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460" y="1509"/>
                  <a:ext cx="171" cy="289"/>
                </a:xfrm>
                <a:custGeom>
                  <a:avLst/>
                  <a:gdLst>
                    <a:gd name="T0" fmla="*/ 0 w 171"/>
                    <a:gd name="T1" fmla="*/ 0 h 289"/>
                    <a:gd name="T2" fmla="*/ 170 w 171"/>
                    <a:gd name="T3" fmla="*/ 0 h 289"/>
                    <a:gd name="T4" fmla="*/ 170 w 171"/>
                    <a:gd name="T5" fmla="*/ 288 h 289"/>
                    <a:gd name="T6" fmla="*/ 0 w 171"/>
                    <a:gd name="T7" fmla="*/ 288 h 289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171" h="289">
                      <a:moveTo>
                        <a:pt x="0" y="0"/>
                      </a:moveTo>
                      <a:lnTo>
                        <a:pt x="170" y="0"/>
                      </a:lnTo>
                      <a:lnTo>
                        <a:pt x="170" y="288"/>
                      </a:lnTo>
                      <a:lnTo>
                        <a:pt x="0" y="288"/>
                      </a:lnTo>
                    </a:path>
                  </a:pathLst>
                </a:custGeom>
                <a:noFill/>
                <a:ln w="25400" cap="rnd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zh-CN" altLang="en-US" dirty="0">
                    <a:ea typeface="SimHei" panose="02010609060101010101" pitchFamily="49" charset="-122"/>
                  </a:endParaRPr>
                </a:p>
              </p:txBody>
            </p:sp>
          </p:grpSp>
        </p:grpSp>
        <p:sp>
          <p:nvSpPr>
            <p:cNvPr id="93" name="Rectangle 97">
              <a:extLst>
                <a:ext uri="{FF2B5EF4-FFF2-40B4-BE49-F238E27FC236}">
                  <a16:creationId xmlns:a16="http://schemas.microsoft.com/office/drawing/2014/main" id="{D2E631FE-BDAA-44AA-9B8F-FE7E888C08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12" y="1255"/>
              <a:ext cx="355" cy="21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73" tIns="44442" rIns="90473" bIns="44442">
              <a:spAutoFit/>
            </a:bodyPr>
            <a:lstStyle/>
            <a:p>
              <a:pPr eaLnBrk="0" hangingPunct="0"/>
              <a:r>
                <a:rPr lang="en-US" altLang="zh-CN" sz="1600" dirty="0">
                  <a:latin typeface="Arial" pitchFamily="34" charset="0"/>
                  <a:ea typeface="SimHei" panose="02010609060101010101" pitchFamily="49" charset="-122"/>
                </a:rPr>
                <a:t>Reg</a:t>
              </a:r>
            </a:p>
          </p:txBody>
        </p:sp>
        <p:grpSp>
          <p:nvGrpSpPr>
            <p:cNvPr id="94" name="Group 98">
              <a:extLst>
                <a:ext uri="{FF2B5EF4-FFF2-40B4-BE49-F238E27FC236}">
                  <a16:creationId xmlns:a16="http://schemas.microsoft.com/office/drawing/2014/main" id="{8CFF9D83-72E7-4642-969E-3028A794120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031" y="1248"/>
              <a:ext cx="296" cy="289"/>
              <a:chOff x="1751" y="1509"/>
              <a:chExt cx="296" cy="289"/>
            </a:xfrm>
          </p:grpSpPr>
          <p:sp>
            <p:nvSpPr>
              <p:cNvPr id="115" name="Freeform 99">
                <a:extLst>
                  <a:ext uri="{FF2B5EF4-FFF2-40B4-BE49-F238E27FC236}">
                    <a16:creationId xmlns:a16="http://schemas.microsoft.com/office/drawing/2014/main" id="{6D67F9DE-F48A-413D-A0A6-224040590E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1" y="1509"/>
                <a:ext cx="149" cy="289"/>
              </a:xfrm>
              <a:custGeom>
                <a:avLst/>
                <a:gdLst>
                  <a:gd name="T0" fmla="*/ 148 w 149"/>
                  <a:gd name="T1" fmla="*/ 0 h 289"/>
                  <a:gd name="T2" fmla="*/ 0 w 149"/>
                  <a:gd name="T3" fmla="*/ 0 h 289"/>
                  <a:gd name="T4" fmla="*/ 0 w 149"/>
                  <a:gd name="T5" fmla="*/ 288 h 289"/>
                  <a:gd name="T6" fmla="*/ 148 w 149"/>
                  <a:gd name="T7" fmla="*/ 288 h 28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9" h="289">
                    <a:moveTo>
                      <a:pt x="148" y="0"/>
                    </a:moveTo>
                    <a:lnTo>
                      <a:pt x="0" y="0"/>
                    </a:lnTo>
                    <a:lnTo>
                      <a:pt x="0" y="288"/>
                    </a:lnTo>
                    <a:lnTo>
                      <a:pt x="148" y="288"/>
                    </a:lnTo>
                  </a:path>
                </a:pathLst>
              </a:custGeom>
              <a:noFill/>
              <a:ln w="25400" cap="rnd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dirty="0">
                  <a:ea typeface="SimHei" panose="02010609060101010101" pitchFamily="49" charset="-122"/>
                </a:endParaRPr>
              </a:p>
            </p:txBody>
          </p:sp>
          <p:sp>
            <p:nvSpPr>
              <p:cNvPr id="116" name="Freeform 100">
                <a:extLst>
                  <a:ext uri="{FF2B5EF4-FFF2-40B4-BE49-F238E27FC236}">
                    <a16:creationId xmlns:a16="http://schemas.microsoft.com/office/drawing/2014/main" id="{FFEA94C6-9FA7-4A57-BB6F-1A43CE57B7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9" y="1509"/>
                <a:ext cx="148" cy="289"/>
              </a:xfrm>
              <a:custGeom>
                <a:avLst/>
                <a:gdLst>
                  <a:gd name="T0" fmla="*/ 0 w 148"/>
                  <a:gd name="T1" fmla="*/ 0 h 289"/>
                  <a:gd name="T2" fmla="*/ 147 w 148"/>
                  <a:gd name="T3" fmla="*/ 0 h 289"/>
                  <a:gd name="T4" fmla="*/ 147 w 148"/>
                  <a:gd name="T5" fmla="*/ 288 h 289"/>
                  <a:gd name="T6" fmla="*/ 0 w 148"/>
                  <a:gd name="T7" fmla="*/ 288 h 28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8" h="289">
                    <a:moveTo>
                      <a:pt x="0" y="0"/>
                    </a:moveTo>
                    <a:lnTo>
                      <a:pt x="147" y="0"/>
                    </a:lnTo>
                    <a:lnTo>
                      <a:pt x="147" y="288"/>
                    </a:lnTo>
                    <a:lnTo>
                      <a:pt x="0" y="288"/>
                    </a:lnTo>
                  </a:path>
                </a:pathLst>
              </a:custGeom>
              <a:noFill/>
              <a:ln w="25400" cap="rnd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dirty="0">
                  <a:ea typeface="SimHei" panose="02010609060101010101" pitchFamily="49" charset="-122"/>
                </a:endParaRPr>
              </a:p>
            </p:txBody>
          </p:sp>
        </p:grpSp>
        <p:sp>
          <p:nvSpPr>
            <p:cNvPr id="95" name="Line 101">
              <a:extLst>
                <a:ext uri="{FF2B5EF4-FFF2-40B4-BE49-F238E27FC236}">
                  <a16:creationId xmlns:a16="http://schemas.microsoft.com/office/drawing/2014/main" id="{509E1593-CBB2-4FD3-B599-A01B78E5DA0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916" y="1392"/>
              <a:ext cx="116" cy="0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96" name="Freeform 102">
              <a:extLst>
                <a:ext uri="{FF2B5EF4-FFF2-40B4-BE49-F238E27FC236}">
                  <a16:creationId xmlns:a16="http://schemas.microsoft.com/office/drawing/2014/main" id="{5837E3E6-FE7D-444A-97F9-C0663680EA2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4" y="1296"/>
              <a:ext cx="48" cy="97"/>
            </a:xfrm>
            <a:custGeom>
              <a:avLst/>
              <a:gdLst>
                <a:gd name="T0" fmla="*/ 0 w 48"/>
                <a:gd name="T1" fmla="*/ 96 h 97"/>
                <a:gd name="T2" fmla="*/ 0 w 48"/>
                <a:gd name="T3" fmla="*/ 0 h 97"/>
                <a:gd name="T4" fmla="*/ 47 w 48"/>
                <a:gd name="T5" fmla="*/ 0 h 97"/>
                <a:gd name="T6" fmla="*/ 47 w 48"/>
                <a:gd name="T7" fmla="*/ 0 h 9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8" h="97">
                  <a:moveTo>
                    <a:pt x="0" y="96"/>
                  </a:moveTo>
                  <a:lnTo>
                    <a:pt x="0" y="0"/>
                  </a:lnTo>
                  <a:lnTo>
                    <a:pt x="47" y="0"/>
                  </a:lnTo>
                </a:path>
              </a:pathLst>
            </a:custGeom>
            <a:noFill/>
            <a:ln w="25400" cap="rnd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97" name="Line 103">
              <a:extLst>
                <a:ext uri="{FF2B5EF4-FFF2-40B4-BE49-F238E27FC236}">
                  <a16:creationId xmlns:a16="http://schemas.microsoft.com/office/drawing/2014/main" id="{B6C8D0DA-543A-4E94-9F9A-89B05148671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332" y="1296"/>
              <a:ext cx="157" cy="0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98" name="Rectangle 104">
              <a:extLst>
                <a:ext uri="{FF2B5EF4-FFF2-40B4-BE49-F238E27FC236}">
                  <a16:creationId xmlns:a16="http://schemas.microsoft.com/office/drawing/2014/main" id="{95B418CA-B1DC-46FB-8BC0-0271C977C7C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29" y="1250"/>
              <a:ext cx="316" cy="2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73" tIns="44442" rIns="90473" bIns="44442">
              <a:spAutoFit/>
            </a:bodyPr>
            <a:lstStyle/>
            <a:p>
              <a:pPr eaLnBrk="0" hangingPunct="0"/>
              <a:r>
                <a:rPr lang="en-US" altLang="zh-CN" sz="1600" dirty="0">
                  <a:latin typeface="Arial" pitchFamily="34" charset="0"/>
                  <a:ea typeface="SimHei" panose="02010609060101010101" pitchFamily="49" charset="-122"/>
                </a:rPr>
                <a:t>DM</a:t>
              </a:r>
            </a:p>
          </p:txBody>
        </p:sp>
        <p:grpSp>
          <p:nvGrpSpPr>
            <p:cNvPr id="99" name="Group 105">
              <a:extLst>
                <a:ext uri="{FF2B5EF4-FFF2-40B4-BE49-F238E27FC236}">
                  <a16:creationId xmlns:a16="http://schemas.microsoft.com/office/drawing/2014/main" id="{70E73B20-B3AB-4DC7-97A8-78D61780D62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880" y="1248"/>
              <a:ext cx="325" cy="289"/>
              <a:chOff x="2600" y="1509"/>
              <a:chExt cx="325" cy="289"/>
            </a:xfrm>
          </p:grpSpPr>
          <p:sp>
            <p:nvSpPr>
              <p:cNvPr id="113" name="Freeform 106">
                <a:extLst>
                  <a:ext uri="{FF2B5EF4-FFF2-40B4-BE49-F238E27FC236}">
                    <a16:creationId xmlns:a16="http://schemas.microsoft.com/office/drawing/2014/main" id="{90F83C50-2054-4B01-BA93-FFBBADDB26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0" y="1509"/>
                <a:ext cx="162" cy="289"/>
              </a:xfrm>
              <a:custGeom>
                <a:avLst/>
                <a:gdLst>
                  <a:gd name="T0" fmla="*/ 161 w 162"/>
                  <a:gd name="T1" fmla="*/ 0 h 289"/>
                  <a:gd name="T2" fmla="*/ 0 w 162"/>
                  <a:gd name="T3" fmla="*/ 0 h 289"/>
                  <a:gd name="T4" fmla="*/ 0 w 162"/>
                  <a:gd name="T5" fmla="*/ 288 h 289"/>
                  <a:gd name="T6" fmla="*/ 161 w 162"/>
                  <a:gd name="T7" fmla="*/ 288 h 28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2" h="289">
                    <a:moveTo>
                      <a:pt x="161" y="0"/>
                    </a:moveTo>
                    <a:lnTo>
                      <a:pt x="0" y="0"/>
                    </a:lnTo>
                    <a:lnTo>
                      <a:pt x="0" y="288"/>
                    </a:lnTo>
                    <a:lnTo>
                      <a:pt x="161" y="288"/>
                    </a:lnTo>
                  </a:path>
                </a:pathLst>
              </a:custGeom>
              <a:noFill/>
              <a:ln w="25400" cap="rnd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dirty="0">
                  <a:ea typeface="SimHei" panose="02010609060101010101" pitchFamily="49" charset="-122"/>
                </a:endParaRPr>
              </a:p>
            </p:txBody>
          </p:sp>
          <p:sp>
            <p:nvSpPr>
              <p:cNvPr id="114" name="Freeform 107">
                <a:extLst>
                  <a:ext uri="{FF2B5EF4-FFF2-40B4-BE49-F238E27FC236}">
                    <a16:creationId xmlns:a16="http://schemas.microsoft.com/office/drawing/2014/main" id="{447EDB73-932D-45EA-9075-F1BCB483EC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1" y="1509"/>
                <a:ext cx="164" cy="289"/>
              </a:xfrm>
              <a:custGeom>
                <a:avLst/>
                <a:gdLst>
                  <a:gd name="T0" fmla="*/ 0 w 164"/>
                  <a:gd name="T1" fmla="*/ 0 h 289"/>
                  <a:gd name="T2" fmla="*/ 163 w 164"/>
                  <a:gd name="T3" fmla="*/ 0 h 289"/>
                  <a:gd name="T4" fmla="*/ 163 w 164"/>
                  <a:gd name="T5" fmla="*/ 288 h 289"/>
                  <a:gd name="T6" fmla="*/ 0 w 164"/>
                  <a:gd name="T7" fmla="*/ 288 h 28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4" h="289">
                    <a:moveTo>
                      <a:pt x="0" y="0"/>
                    </a:moveTo>
                    <a:lnTo>
                      <a:pt x="163" y="0"/>
                    </a:lnTo>
                    <a:lnTo>
                      <a:pt x="163" y="288"/>
                    </a:lnTo>
                    <a:lnTo>
                      <a:pt x="0" y="288"/>
                    </a:lnTo>
                  </a:path>
                </a:pathLst>
              </a:custGeom>
              <a:noFill/>
              <a:ln w="25400" cap="rnd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dirty="0">
                  <a:ea typeface="SimHei" panose="02010609060101010101" pitchFamily="49" charset="-122"/>
                </a:endParaRPr>
              </a:p>
            </p:txBody>
          </p:sp>
        </p:grpSp>
        <p:sp>
          <p:nvSpPr>
            <p:cNvPr id="100" name="Rectangle 108">
              <a:extLst>
                <a:ext uri="{FF2B5EF4-FFF2-40B4-BE49-F238E27FC236}">
                  <a16:creationId xmlns:a16="http://schemas.microsoft.com/office/drawing/2014/main" id="{2D0057CC-52C5-4311-91EA-CC00BC5AFD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21" y="1250"/>
              <a:ext cx="355" cy="21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73" tIns="44442" rIns="90473" bIns="44442">
              <a:spAutoFit/>
            </a:bodyPr>
            <a:lstStyle/>
            <a:p>
              <a:pPr eaLnBrk="0" hangingPunct="0"/>
              <a:r>
                <a:rPr lang="en-US" altLang="zh-CN" sz="1600" dirty="0">
                  <a:latin typeface="Arial" pitchFamily="34" charset="0"/>
                  <a:ea typeface="SimHei" panose="02010609060101010101" pitchFamily="49" charset="-122"/>
                </a:rPr>
                <a:t>Reg</a:t>
              </a:r>
            </a:p>
          </p:txBody>
        </p:sp>
        <p:grpSp>
          <p:nvGrpSpPr>
            <p:cNvPr id="101" name="Group 109">
              <a:extLst>
                <a:ext uri="{FF2B5EF4-FFF2-40B4-BE49-F238E27FC236}">
                  <a16:creationId xmlns:a16="http://schemas.microsoft.com/office/drawing/2014/main" id="{4C325421-2DF1-42A6-8555-CB62A7AE16C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348" y="1248"/>
              <a:ext cx="284" cy="289"/>
              <a:chOff x="3068" y="1509"/>
              <a:chExt cx="284" cy="289"/>
            </a:xfrm>
          </p:grpSpPr>
          <p:sp>
            <p:nvSpPr>
              <p:cNvPr id="111" name="Freeform 110">
                <a:extLst>
                  <a:ext uri="{FF2B5EF4-FFF2-40B4-BE49-F238E27FC236}">
                    <a16:creationId xmlns:a16="http://schemas.microsoft.com/office/drawing/2014/main" id="{83AD9B32-8536-4DF3-9146-E57FDAA81D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8" y="1509"/>
                <a:ext cx="142" cy="289"/>
              </a:xfrm>
              <a:custGeom>
                <a:avLst/>
                <a:gdLst>
                  <a:gd name="T0" fmla="*/ 141 w 142"/>
                  <a:gd name="T1" fmla="*/ 0 h 289"/>
                  <a:gd name="T2" fmla="*/ 0 w 142"/>
                  <a:gd name="T3" fmla="*/ 0 h 289"/>
                  <a:gd name="T4" fmla="*/ 0 w 142"/>
                  <a:gd name="T5" fmla="*/ 288 h 289"/>
                  <a:gd name="T6" fmla="*/ 141 w 142"/>
                  <a:gd name="T7" fmla="*/ 288 h 28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2" h="289">
                    <a:moveTo>
                      <a:pt x="141" y="0"/>
                    </a:moveTo>
                    <a:lnTo>
                      <a:pt x="0" y="0"/>
                    </a:lnTo>
                    <a:lnTo>
                      <a:pt x="0" y="288"/>
                    </a:lnTo>
                    <a:lnTo>
                      <a:pt x="141" y="288"/>
                    </a:lnTo>
                  </a:path>
                </a:pathLst>
              </a:custGeom>
              <a:noFill/>
              <a:ln w="25400" cap="rnd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dirty="0">
                  <a:ea typeface="SimHei" panose="02010609060101010101" pitchFamily="49" charset="-122"/>
                </a:endParaRPr>
              </a:p>
            </p:txBody>
          </p:sp>
          <p:sp>
            <p:nvSpPr>
              <p:cNvPr id="112" name="Freeform 111">
                <a:extLst>
                  <a:ext uri="{FF2B5EF4-FFF2-40B4-BE49-F238E27FC236}">
                    <a16:creationId xmlns:a16="http://schemas.microsoft.com/office/drawing/2014/main" id="{0E7E27FF-8B55-4090-80CF-070225CB3F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9" y="1509"/>
                <a:ext cx="143" cy="289"/>
              </a:xfrm>
              <a:custGeom>
                <a:avLst/>
                <a:gdLst>
                  <a:gd name="T0" fmla="*/ 0 w 143"/>
                  <a:gd name="T1" fmla="*/ 0 h 289"/>
                  <a:gd name="T2" fmla="*/ 142 w 143"/>
                  <a:gd name="T3" fmla="*/ 0 h 289"/>
                  <a:gd name="T4" fmla="*/ 142 w 143"/>
                  <a:gd name="T5" fmla="*/ 288 h 289"/>
                  <a:gd name="T6" fmla="*/ 0 w 143"/>
                  <a:gd name="T7" fmla="*/ 288 h 28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3" h="289">
                    <a:moveTo>
                      <a:pt x="0" y="0"/>
                    </a:moveTo>
                    <a:lnTo>
                      <a:pt x="142" y="0"/>
                    </a:lnTo>
                    <a:lnTo>
                      <a:pt x="142" y="288"/>
                    </a:lnTo>
                    <a:lnTo>
                      <a:pt x="0" y="288"/>
                    </a:lnTo>
                  </a:path>
                </a:pathLst>
              </a:custGeom>
              <a:noFill/>
              <a:ln w="25400" cap="rnd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dirty="0">
                  <a:ea typeface="SimHei" panose="02010609060101010101" pitchFamily="49" charset="-122"/>
                </a:endParaRPr>
              </a:p>
            </p:txBody>
          </p:sp>
        </p:grpSp>
        <p:sp>
          <p:nvSpPr>
            <p:cNvPr id="102" name="Line 112">
              <a:extLst>
                <a:ext uri="{FF2B5EF4-FFF2-40B4-BE49-F238E27FC236}">
                  <a16:creationId xmlns:a16="http://schemas.microsoft.com/office/drawing/2014/main" id="{26037602-3295-4CB7-A20F-8F814FD661E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01" y="1392"/>
              <a:ext cx="139" cy="0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103" name="Line 113">
              <a:extLst>
                <a:ext uri="{FF2B5EF4-FFF2-40B4-BE49-F238E27FC236}">
                  <a16:creationId xmlns:a16="http://schemas.microsoft.com/office/drawing/2014/main" id="{103F529B-BB56-4942-BBD6-B26CFDE50FD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717" y="1392"/>
              <a:ext cx="155" cy="0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104" name="Line 114">
              <a:extLst>
                <a:ext uri="{FF2B5EF4-FFF2-40B4-BE49-F238E27FC236}">
                  <a16:creationId xmlns:a16="http://schemas.microsoft.com/office/drawing/2014/main" id="{102D90F6-6606-41B1-BB67-59F6A313B15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332" y="1488"/>
              <a:ext cx="157" cy="0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105" name="Line 115">
              <a:extLst>
                <a:ext uri="{FF2B5EF4-FFF2-40B4-BE49-F238E27FC236}">
                  <a16:creationId xmlns:a16="http://schemas.microsoft.com/office/drawing/2014/main" id="{9399959C-F0D4-4011-AD76-2046FBE902E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416" y="1488"/>
              <a:ext cx="0" cy="192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106" name="Line 116">
              <a:extLst>
                <a:ext uri="{FF2B5EF4-FFF2-40B4-BE49-F238E27FC236}">
                  <a16:creationId xmlns:a16="http://schemas.microsoft.com/office/drawing/2014/main" id="{7C8E8B4C-2BCF-448F-B7AE-3899A0A9A68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416" y="1680"/>
              <a:ext cx="336" cy="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107" name="Line 117">
              <a:extLst>
                <a:ext uri="{FF2B5EF4-FFF2-40B4-BE49-F238E27FC236}">
                  <a16:creationId xmlns:a16="http://schemas.microsoft.com/office/drawing/2014/main" id="{CA7E4AD6-F356-4DAF-AD7D-864BAC8B357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752" y="1392"/>
              <a:ext cx="0" cy="288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108" name="Line 118">
              <a:extLst>
                <a:ext uri="{FF2B5EF4-FFF2-40B4-BE49-F238E27FC236}">
                  <a16:creationId xmlns:a16="http://schemas.microsoft.com/office/drawing/2014/main" id="{BE8D15DC-F854-495D-A37F-359B7A45CED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832" y="1392"/>
              <a:ext cx="0" cy="24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109" name="Line 119">
              <a:extLst>
                <a:ext uri="{FF2B5EF4-FFF2-40B4-BE49-F238E27FC236}">
                  <a16:creationId xmlns:a16="http://schemas.microsoft.com/office/drawing/2014/main" id="{6F1DB2E0-9F88-4CAD-83C3-D4FD4947534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32" y="1632"/>
              <a:ext cx="432" cy="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110" name="Line 120">
              <a:extLst>
                <a:ext uri="{FF2B5EF4-FFF2-40B4-BE49-F238E27FC236}">
                  <a16:creationId xmlns:a16="http://schemas.microsoft.com/office/drawing/2014/main" id="{80F8AF14-8D90-461F-97F5-159E4BE994B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64" y="1392"/>
              <a:ext cx="0" cy="24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</p:grpSp>
      <p:grpSp>
        <p:nvGrpSpPr>
          <p:cNvPr id="123" name="Group 121">
            <a:extLst>
              <a:ext uri="{FF2B5EF4-FFF2-40B4-BE49-F238E27FC236}">
                <a16:creationId xmlns:a16="http://schemas.microsoft.com/office/drawing/2014/main" id="{B4209EFD-F959-4AFF-9015-A068E7C15E97}"/>
              </a:ext>
            </a:extLst>
          </p:cNvPr>
          <p:cNvGrpSpPr>
            <a:grpSpLocks/>
          </p:cNvGrpSpPr>
          <p:nvPr/>
        </p:nvGrpSpPr>
        <p:grpSpPr bwMode="auto">
          <a:xfrm>
            <a:off x="4875213" y="4694238"/>
            <a:ext cx="3357562" cy="838200"/>
            <a:chOff x="1561" y="1152"/>
            <a:chExt cx="2115" cy="528"/>
          </a:xfrm>
        </p:grpSpPr>
        <p:grpSp>
          <p:nvGrpSpPr>
            <p:cNvPr id="124" name="Group 122">
              <a:extLst>
                <a:ext uri="{FF2B5EF4-FFF2-40B4-BE49-F238E27FC236}">
                  <a16:creationId xmlns:a16="http://schemas.microsoft.com/office/drawing/2014/main" id="{F9103FC1-7F9D-45D1-9C04-CC7AE394F3E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487" y="1152"/>
              <a:ext cx="223" cy="481"/>
              <a:chOff x="2207" y="1413"/>
              <a:chExt cx="223" cy="481"/>
            </a:xfrm>
          </p:grpSpPr>
          <p:sp>
            <p:nvSpPr>
              <p:cNvPr id="154" name="Freeform 123">
                <a:extLst>
                  <a:ext uri="{FF2B5EF4-FFF2-40B4-BE49-F238E27FC236}">
                    <a16:creationId xmlns:a16="http://schemas.microsoft.com/office/drawing/2014/main" id="{84D80303-8EA0-498D-B48B-83647DBC6C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7" y="1413"/>
                <a:ext cx="213" cy="481"/>
              </a:xfrm>
              <a:custGeom>
                <a:avLst/>
                <a:gdLst>
                  <a:gd name="T0" fmla="*/ 0 w 213"/>
                  <a:gd name="T1" fmla="*/ 320 h 481"/>
                  <a:gd name="T2" fmla="*/ 71 w 213"/>
                  <a:gd name="T3" fmla="*/ 240 h 481"/>
                  <a:gd name="T4" fmla="*/ 0 w 213"/>
                  <a:gd name="T5" fmla="*/ 160 h 481"/>
                  <a:gd name="T6" fmla="*/ 0 w 213"/>
                  <a:gd name="T7" fmla="*/ 0 h 481"/>
                  <a:gd name="T8" fmla="*/ 212 w 213"/>
                  <a:gd name="T9" fmla="*/ 160 h 481"/>
                  <a:gd name="T10" fmla="*/ 212 w 213"/>
                  <a:gd name="T11" fmla="*/ 320 h 481"/>
                  <a:gd name="T12" fmla="*/ 0 w 213"/>
                  <a:gd name="T13" fmla="*/ 480 h 481"/>
                  <a:gd name="T14" fmla="*/ 0 w 213"/>
                  <a:gd name="T15" fmla="*/ 320 h 48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13" h="481">
                    <a:moveTo>
                      <a:pt x="0" y="320"/>
                    </a:moveTo>
                    <a:lnTo>
                      <a:pt x="71" y="240"/>
                    </a:lnTo>
                    <a:lnTo>
                      <a:pt x="0" y="160"/>
                    </a:lnTo>
                    <a:lnTo>
                      <a:pt x="0" y="0"/>
                    </a:lnTo>
                    <a:lnTo>
                      <a:pt x="212" y="160"/>
                    </a:lnTo>
                    <a:lnTo>
                      <a:pt x="212" y="320"/>
                    </a:lnTo>
                    <a:lnTo>
                      <a:pt x="0" y="480"/>
                    </a:lnTo>
                    <a:lnTo>
                      <a:pt x="0" y="320"/>
                    </a:lnTo>
                  </a:path>
                </a:pathLst>
              </a:custGeom>
              <a:noFill/>
              <a:ln w="25400" cap="rnd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dirty="0">
                  <a:ea typeface="SimHei" panose="02010609060101010101" pitchFamily="49" charset="-122"/>
                </a:endParaRPr>
              </a:p>
            </p:txBody>
          </p:sp>
          <p:sp>
            <p:nvSpPr>
              <p:cNvPr id="155" name="Rectangle 124">
                <a:extLst>
                  <a:ext uri="{FF2B5EF4-FFF2-40B4-BE49-F238E27FC236}">
                    <a16:creationId xmlns:a16="http://schemas.microsoft.com/office/drawing/2014/main" id="{AA50E328-3652-4F1C-9293-9B1B623F00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5400000">
                <a:off x="2124" y="1533"/>
                <a:ext cx="376" cy="21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12700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lIns="90473" tIns="44442" rIns="90473" bIns="44442">
                <a:spAutoFit/>
              </a:bodyPr>
              <a:lstStyle/>
              <a:p>
                <a:pPr eaLnBrk="0" hangingPunct="0"/>
                <a:r>
                  <a:rPr lang="en-US" altLang="zh-CN" sz="1600" dirty="0">
                    <a:latin typeface="Arial" pitchFamily="34" charset="0"/>
                    <a:ea typeface="SimHei" panose="02010609060101010101" pitchFamily="49" charset="-122"/>
                  </a:rPr>
                  <a:t>ALU</a:t>
                </a:r>
              </a:p>
            </p:txBody>
          </p:sp>
        </p:grpSp>
        <p:grpSp>
          <p:nvGrpSpPr>
            <p:cNvPr id="125" name="Group 125">
              <a:extLst>
                <a:ext uri="{FF2B5EF4-FFF2-40B4-BE49-F238E27FC236}">
                  <a16:creationId xmlns:a16="http://schemas.microsoft.com/office/drawing/2014/main" id="{C4FDD032-95BD-4454-9A28-E13C3655E61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561" y="1248"/>
              <a:ext cx="350" cy="289"/>
              <a:chOff x="1281" y="1509"/>
              <a:chExt cx="350" cy="289"/>
            </a:xfrm>
          </p:grpSpPr>
          <p:sp>
            <p:nvSpPr>
              <p:cNvPr id="150" name="Rectangle 126">
                <a:extLst>
                  <a:ext uri="{FF2B5EF4-FFF2-40B4-BE49-F238E27FC236}">
                    <a16:creationId xmlns:a16="http://schemas.microsoft.com/office/drawing/2014/main" id="{EA33F0BD-2A18-4406-8903-D2C36499D9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81" y="1511"/>
                <a:ext cx="259" cy="21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12700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lIns="90473" tIns="44442" rIns="90473" bIns="44442">
                <a:spAutoFit/>
              </a:bodyPr>
              <a:lstStyle/>
              <a:p>
                <a:pPr algn="ctr" eaLnBrk="0" hangingPunct="0"/>
                <a:r>
                  <a:rPr lang="en-US" altLang="zh-CN" sz="1600" dirty="0">
                    <a:latin typeface="Arial" pitchFamily="34" charset="0"/>
                    <a:ea typeface="SimHei" panose="02010609060101010101" pitchFamily="49" charset="-122"/>
                  </a:rPr>
                  <a:t>IM</a:t>
                </a:r>
              </a:p>
            </p:txBody>
          </p:sp>
          <p:grpSp>
            <p:nvGrpSpPr>
              <p:cNvPr id="151" name="Group 127">
                <a:extLst>
                  <a:ext uri="{FF2B5EF4-FFF2-40B4-BE49-F238E27FC236}">
                    <a16:creationId xmlns:a16="http://schemas.microsoft.com/office/drawing/2014/main" id="{9AE68FB8-FD98-45B9-A72B-0941B8A876D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291" y="1509"/>
                <a:ext cx="340" cy="289"/>
                <a:chOff x="1291" y="1509"/>
                <a:chExt cx="340" cy="289"/>
              </a:xfrm>
            </p:grpSpPr>
            <p:sp>
              <p:nvSpPr>
                <p:cNvPr id="152" name="Freeform 128">
                  <a:extLst>
                    <a:ext uri="{FF2B5EF4-FFF2-40B4-BE49-F238E27FC236}">
                      <a16:creationId xmlns:a16="http://schemas.microsoft.com/office/drawing/2014/main" id="{0B34CBB7-64E2-418C-B791-E32194195C0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291" y="1509"/>
                  <a:ext cx="170" cy="289"/>
                </a:xfrm>
                <a:custGeom>
                  <a:avLst/>
                  <a:gdLst>
                    <a:gd name="T0" fmla="*/ 169 w 170"/>
                    <a:gd name="T1" fmla="*/ 0 h 289"/>
                    <a:gd name="T2" fmla="*/ 0 w 170"/>
                    <a:gd name="T3" fmla="*/ 0 h 289"/>
                    <a:gd name="T4" fmla="*/ 0 w 170"/>
                    <a:gd name="T5" fmla="*/ 288 h 289"/>
                    <a:gd name="T6" fmla="*/ 169 w 170"/>
                    <a:gd name="T7" fmla="*/ 288 h 289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170" h="289">
                      <a:moveTo>
                        <a:pt x="169" y="0"/>
                      </a:moveTo>
                      <a:lnTo>
                        <a:pt x="0" y="0"/>
                      </a:lnTo>
                      <a:lnTo>
                        <a:pt x="0" y="288"/>
                      </a:lnTo>
                      <a:lnTo>
                        <a:pt x="169" y="288"/>
                      </a:lnTo>
                    </a:path>
                  </a:pathLst>
                </a:custGeom>
                <a:noFill/>
                <a:ln w="25400" cap="rnd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zh-CN" altLang="en-US" dirty="0">
                    <a:ea typeface="SimHei" panose="02010609060101010101" pitchFamily="49" charset="-122"/>
                  </a:endParaRPr>
                </a:p>
              </p:txBody>
            </p:sp>
            <p:sp>
              <p:nvSpPr>
                <p:cNvPr id="153" name="Freeform 129">
                  <a:extLst>
                    <a:ext uri="{FF2B5EF4-FFF2-40B4-BE49-F238E27FC236}">
                      <a16:creationId xmlns:a16="http://schemas.microsoft.com/office/drawing/2014/main" id="{B5C8D7A3-801E-41FC-9700-2098795E205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460" y="1509"/>
                  <a:ext cx="171" cy="289"/>
                </a:xfrm>
                <a:custGeom>
                  <a:avLst/>
                  <a:gdLst>
                    <a:gd name="T0" fmla="*/ 0 w 171"/>
                    <a:gd name="T1" fmla="*/ 0 h 289"/>
                    <a:gd name="T2" fmla="*/ 170 w 171"/>
                    <a:gd name="T3" fmla="*/ 0 h 289"/>
                    <a:gd name="T4" fmla="*/ 170 w 171"/>
                    <a:gd name="T5" fmla="*/ 288 h 289"/>
                    <a:gd name="T6" fmla="*/ 0 w 171"/>
                    <a:gd name="T7" fmla="*/ 288 h 289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171" h="289">
                      <a:moveTo>
                        <a:pt x="0" y="0"/>
                      </a:moveTo>
                      <a:lnTo>
                        <a:pt x="170" y="0"/>
                      </a:lnTo>
                      <a:lnTo>
                        <a:pt x="170" y="288"/>
                      </a:lnTo>
                      <a:lnTo>
                        <a:pt x="0" y="288"/>
                      </a:lnTo>
                    </a:path>
                  </a:pathLst>
                </a:custGeom>
                <a:noFill/>
                <a:ln w="25400" cap="rnd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zh-CN" altLang="en-US" dirty="0">
                    <a:ea typeface="SimHei" panose="02010609060101010101" pitchFamily="49" charset="-122"/>
                  </a:endParaRPr>
                </a:p>
              </p:txBody>
            </p:sp>
          </p:grpSp>
        </p:grpSp>
        <p:sp>
          <p:nvSpPr>
            <p:cNvPr id="126" name="Rectangle 130">
              <a:extLst>
                <a:ext uri="{FF2B5EF4-FFF2-40B4-BE49-F238E27FC236}">
                  <a16:creationId xmlns:a16="http://schemas.microsoft.com/office/drawing/2014/main" id="{A3E71C7C-3491-4234-89FA-B6DCC9D36D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12" y="1255"/>
              <a:ext cx="355" cy="21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73" tIns="44442" rIns="90473" bIns="44442">
              <a:spAutoFit/>
            </a:bodyPr>
            <a:lstStyle/>
            <a:p>
              <a:pPr eaLnBrk="0" hangingPunct="0"/>
              <a:r>
                <a:rPr lang="en-US" altLang="zh-CN" sz="1600" dirty="0">
                  <a:latin typeface="Arial" pitchFamily="34" charset="0"/>
                  <a:ea typeface="SimHei" panose="02010609060101010101" pitchFamily="49" charset="-122"/>
                </a:rPr>
                <a:t>Reg</a:t>
              </a:r>
            </a:p>
          </p:txBody>
        </p:sp>
        <p:grpSp>
          <p:nvGrpSpPr>
            <p:cNvPr id="127" name="Group 131">
              <a:extLst>
                <a:ext uri="{FF2B5EF4-FFF2-40B4-BE49-F238E27FC236}">
                  <a16:creationId xmlns:a16="http://schemas.microsoft.com/office/drawing/2014/main" id="{F5AE1975-5413-428E-8E53-2CC69155D38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031" y="1248"/>
              <a:ext cx="296" cy="289"/>
              <a:chOff x="1751" y="1509"/>
              <a:chExt cx="296" cy="289"/>
            </a:xfrm>
          </p:grpSpPr>
          <p:sp>
            <p:nvSpPr>
              <p:cNvPr id="148" name="Freeform 132">
                <a:extLst>
                  <a:ext uri="{FF2B5EF4-FFF2-40B4-BE49-F238E27FC236}">
                    <a16:creationId xmlns:a16="http://schemas.microsoft.com/office/drawing/2014/main" id="{D1A31754-BCDC-4966-AA53-8C893F7761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1" y="1509"/>
                <a:ext cx="149" cy="289"/>
              </a:xfrm>
              <a:custGeom>
                <a:avLst/>
                <a:gdLst>
                  <a:gd name="T0" fmla="*/ 148 w 149"/>
                  <a:gd name="T1" fmla="*/ 0 h 289"/>
                  <a:gd name="T2" fmla="*/ 0 w 149"/>
                  <a:gd name="T3" fmla="*/ 0 h 289"/>
                  <a:gd name="T4" fmla="*/ 0 w 149"/>
                  <a:gd name="T5" fmla="*/ 288 h 289"/>
                  <a:gd name="T6" fmla="*/ 148 w 149"/>
                  <a:gd name="T7" fmla="*/ 288 h 28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9" h="289">
                    <a:moveTo>
                      <a:pt x="148" y="0"/>
                    </a:moveTo>
                    <a:lnTo>
                      <a:pt x="0" y="0"/>
                    </a:lnTo>
                    <a:lnTo>
                      <a:pt x="0" y="288"/>
                    </a:lnTo>
                    <a:lnTo>
                      <a:pt x="148" y="288"/>
                    </a:lnTo>
                  </a:path>
                </a:pathLst>
              </a:custGeom>
              <a:noFill/>
              <a:ln w="25400" cap="rnd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dirty="0">
                  <a:ea typeface="SimHei" panose="02010609060101010101" pitchFamily="49" charset="-122"/>
                </a:endParaRPr>
              </a:p>
            </p:txBody>
          </p:sp>
          <p:sp>
            <p:nvSpPr>
              <p:cNvPr id="149" name="Freeform 133">
                <a:extLst>
                  <a:ext uri="{FF2B5EF4-FFF2-40B4-BE49-F238E27FC236}">
                    <a16:creationId xmlns:a16="http://schemas.microsoft.com/office/drawing/2014/main" id="{C1DE3046-4A1D-4730-9083-AC9BCB24C1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9" y="1509"/>
                <a:ext cx="148" cy="289"/>
              </a:xfrm>
              <a:custGeom>
                <a:avLst/>
                <a:gdLst>
                  <a:gd name="T0" fmla="*/ 0 w 148"/>
                  <a:gd name="T1" fmla="*/ 0 h 289"/>
                  <a:gd name="T2" fmla="*/ 147 w 148"/>
                  <a:gd name="T3" fmla="*/ 0 h 289"/>
                  <a:gd name="T4" fmla="*/ 147 w 148"/>
                  <a:gd name="T5" fmla="*/ 288 h 289"/>
                  <a:gd name="T6" fmla="*/ 0 w 148"/>
                  <a:gd name="T7" fmla="*/ 288 h 28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8" h="289">
                    <a:moveTo>
                      <a:pt x="0" y="0"/>
                    </a:moveTo>
                    <a:lnTo>
                      <a:pt x="147" y="0"/>
                    </a:lnTo>
                    <a:lnTo>
                      <a:pt x="147" y="288"/>
                    </a:lnTo>
                    <a:lnTo>
                      <a:pt x="0" y="288"/>
                    </a:lnTo>
                  </a:path>
                </a:pathLst>
              </a:custGeom>
              <a:noFill/>
              <a:ln w="25400" cap="rnd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dirty="0">
                  <a:ea typeface="SimHei" panose="02010609060101010101" pitchFamily="49" charset="-122"/>
                </a:endParaRPr>
              </a:p>
            </p:txBody>
          </p:sp>
        </p:grpSp>
        <p:sp>
          <p:nvSpPr>
            <p:cNvPr id="128" name="Line 134">
              <a:extLst>
                <a:ext uri="{FF2B5EF4-FFF2-40B4-BE49-F238E27FC236}">
                  <a16:creationId xmlns:a16="http://schemas.microsoft.com/office/drawing/2014/main" id="{B5B25569-AB6D-456C-843D-D8F5A95F37E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916" y="1392"/>
              <a:ext cx="116" cy="0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129" name="Freeform 135">
              <a:extLst>
                <a:ext uri="{FF2B5EF4-FFF2-40B4-BE49-F238E27FC236}">
                  <a16:creationId xmlns:a16="http://schemas.microsoft.com/office/drawing/2014/main" id="{FA62AC9E-4F56-424A-813F-8375AF87F79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4" y="1296"/>
              <a:ext cx="48" cy="97"/>
            </a:xfrm>
            <a:custGeom>
              <a:avLst/>
              <a:gdLst>
                <a:gd name="T0" fmla="*/ 0 w 48"/>
                <a:gd name="T1" fmla="*/ 96 h 97"/>
                <a:gd name="T2" fmla="*/ 0 w 48"/>
                <a:gd name="T3" fmla="*/ 0 h 97"/>
                <a:gd name="T4" fmla="*/ 47 w 48"/>
                <a:gd name="T5" fmla="*/ 0 h 97"/>
                <a:gd name="T6" fmla="*/ 47 w 48"/>
                <a:gd name="T7" fmla="*/ 0 h 9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8" h="97">
                  <a:moveTo>
                    <a:pt x="0" y="96"/>
                  </a:moveTo>
                  <a:lnTo>
                    <a:pt x="0" y="0"/>
                  </a:lnTo>
                  <a:lnTo>
                    <a:pt x="47" y="0"/>
                  </a:lnTo>
                </a:path>
              </a:pathLst>
            </a:custGeom>
            <a:noFill/>
            <a:ln w="25400" cap="rnd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130" name="Line 136">
              <a:extLst>
                <a:ext uri="{FF2B5EF4-FFF2-40B4-BE49-F238E27FC236}">
                  <a16:creationId xmlns:a16="http://schemas.microsoft.com/office/drawing/2014/main" id="{C5FE1966-CB6A-49CF-AB92-A3F9994190B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332" y="1296"/>
              <a:ext cx="157" cy="0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131" name="Rectangle 137">
              <a:extLst>
                <a:ext uri="{FF2B5EF4-FFF2-40B4-BE49-F238E27FC236}">
                  <a16:creationId xmlns:a16="http://schemas.microsoft.com/office/drawing/2014/main" id="{FA820189-BDD5-4061-BA52-FA1758A322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29" y="1250"/>
              <a:ext cx="313" cy="21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73" tIns="44442" rIns="90473" bIns="44442">
              <a:spAutoFit/>
            </a:bodyPr>
            <a:lstStyle/>
            <a:p>
              <a:pPr eaLnBrk="0" hangingPunct="0"/>
              <a:r>
                <a:rPr lang="en-US" altLang="zh-CN" sz="1600" dirty="0">
                  <a:latin typeface="Arial" pitchFamily="34" charset="0"/>
                  <a:ea typeface="SimHei" panose="02010609060101010101" pitchFamily="49" charset="-122"/>
                </a:rPr>
                <a:t>DM</a:t>
              </a:r>
            </a:p>
          </p:txBody>
        </p:sp>
        <p:grpSp>
          <p:nvGrpSpPr>
            <p:cNvPr id="132" name="Group 138">
              <a:extLst>
                <a:ext uri="{FF2B5EF4-FFF2-40B4-BE49-F238E27FC236}">
                  <a16:creationId xmlns:a16="http://schemas.microsoft.com/office/drawing/2014/main" id="{A47FC3C1-641A-4742-94A5-C539BE59620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880" y="1248"/>
              <a:ext cx="325" cy="289"/>
              <a:chOff x="2600" y="1509"/>
              <a:chExt cx="325" cy="289"/>
            </a:xfrm>
          </p:grpSpPr>
          <p:sp>
            <p:nvSpPr>
              <p:cNvPr id="146" name="Freeform 139">
                <a:extLst>
                  <a:ext uri="{FF2B5EF4-FFF2-40B4-BE49-F238E27FC236}">
                    <a16:creationId xmlns:a16="http://schemas.microsoft.com/office/drawing/2014/main" id="{F1E209A3-A3B7-4740-AC2D-CCCB97209E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0" y="1509"/>
                <a:ext cx="162" cy="289"/>
              </a:xfrm>
              <a:custGeom>
                <a:avLst/>
                <a:gdLst>
                  <a:gd name="T0" fmla="*/ 161 w 162"/>
                  <a:gd name="T1" fmla="*/ 0 h 289"/>
                  <a:gd name="T2" fmla="*/ 0 w 162"/>
                  <a:gd name="T3" fmla="*/ 0 h 289"/>
                  <a:gd name="T4" fmla="*/ 0 w 162"/>
                  <a:gd name="T5" fmla="*/ 288 h 289"/>
                  <a:gd name="T6" fmla="*/ 161 w 162"/>
                  <a:gd name="T7" fmla="*/ 288 h 28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2" h="289">
                    <a:moveTo>
                      <a:pt x="161" y="0"/>
                    </a:moveTo>
                    <a:lnTo>
                      <a:pt x="0" y="0"/>
                    </a:lnTo>
                    <a:lnTo>
                      <a:pt x="0" y="288"/>
                    </a:lnTo>
                    <a:lnTo>
                      <a:pt x="161" y="288"/>
                    </a:lnTo>
                  </a:path>
                </a:pathLst>
              </a:custGeom>
              <a:noFill/>
              <a:ln w="25400" cap="rnd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dirty="0">
                  <a:ea typeface="SimHei" panose="02010609060101010101" pitchFamily="49" charset="-122"/>
                </a:endParaRPr>
              </a:p>
            </p:txBody>
          </p:sp>
          <p:sp>
            <p:nvSpPr>
              <p:cNvPr id="147" name="Freeform 140">
                <a:extLst>
                  <a:ext uri="{FF2B5EF4-FFF2-40B4-BE49-F238E27FC236}">
                    <a16:creationId xmlns:a16="http://schemas.microsoft.com/office/drawing/2014/main" id="{E461BB53-0456-469D-9C51-D9C8B4EFE7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1" y="1509"/>
                <a:ext cx="164" cy="289"/>
              </a:xfrm>
              <a:custGeom>
                <a:avLst/>
                <a:gdLst>
                  <a:gd name="T0" fmla="*/ 0 w 164"/>
                  <a:gd name="T1" fmla="*/ 0 h 289"/>
                  <a:gd name="T2" fmla="*/ 163 w 164"/>
                  <a:gd name="T3" fmla="*/ 0 h 289"/>
                  <a:gd name="T4" fmla="*/ 163 w 164"/>
                  <a:gd name="T5" fmla="*/ 288 h 289"/>
                  <a:gd name="T6" fmla="*/ 0 w 164"/>
                  <a:gd name="T7" fmla="*/ 288 h 28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4" h="289">
                    <a:moveTo>
                      <a:pt x="0" y="0"/>
                    </a:moveTo>
                    <a:lnTo>
                      <a:pt x="163" y="0"/>
                    </a:lnTo>
                    <a:lnTo>
                      <a:pt x="163" y="288"/>
                    </a:lnTo>
                    <a:lnTo>
                      <a:pt x="0" y="288"/>
                    </a:lnTo>
                  </a:path>
                </a:pathLst>
              </a:custGeom>
              <a:noFill/>
              <a:ln w="25400" cap="rnd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dirty="0">
                  <a:ea typeface="SimHei" panose="02010609060101010101" pitchFamily="49" charset="-122"/>
                </a:endParaRPr>
              </a:p>
            </p:txBody>
          </p:sp>
        </p:grpSp>
        <p:sp>
          <p:nvSpPr>
            <p:cNvPr id="133" name="Rectangle 141">
              <a:extLst>
                <a:ext uri="{FF2B5EF4-FFF2-40B4-BE49-F238E27FC236}">
                  <a16:creationId xmlns:a16="http://schemas.microsoft.com/office/drawing/2014/main" id="{6D04B7EC-AAF3-4E15-996D-742DA14FDE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21" y="1250"/>
              <a:ext cx="355" cy="21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73" tIns="44442" rIns="90473" bIns="44442">
              <a:spAutoFit/>
            </a:bodyPr>
            <a:lstStyle/>
            <a:p>
              <a:pPr eaLnBrk="0" hangingPunct="0"/>
              <a:r>
                <a:rPr lang="en-US" altLang="zh-CN" sz="1600" dirty="0">
                  <a:latin typeface="Arial" pitchFamily="34" charset="0"/>
                  <a:ea typeface="SimHei" panose="02010609060101010101" pitchFamily="49" charset="-122"/>
                </a:rPr>
                <a:t>Reg</a:t>
              </a:r>
            </a:p>
          </p:txBody>
        </p:sp>
        <p:grpSp>
          <p:nvGrpSpPr>
            <p:cNvPr id="134" name="Group 142">
              <a:extLst>
                <a:ext uri="{FF2B5EF4-FFF2-40B4-BE49-F238E27FC236}">
                  <a16:creationId xmlns:a16="http://schemas.microsoft.com/office/drawing/2014/main" id="{25BC89AD-1EAF-44DF-885E-65E6288FBA8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348" y="1248"/>
              <a:ext cx="284" cy="289"/>
              <a:chOff x="3068" y="1509"/>
              <a:chExt cx="284" cy="289"/>
            </a:xfrm>
          </p:grpSpPr>
          <p:sp>
            <p:nvSpPr>
              <p:cNvPr id="144" name="Freeform 143">
                <a:extLst>
                  <a:ext uri="{FF2B5EF4-FFF2-40B4-BE49-F238E27FC236}">
                    <a16:creationId xmlns:a16="http://schemas.microsoft.com/office/drawing/2014/main" id="{52FE2641-FF80-48A4-B459-1273090DC9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8" y="1509"/>
                <a:ext cx="142" cy="289"/>
              </a:xfrm>
              <a:custGeom>
                <a:avLst/>
                <a:gdLst>
                  <a:gd name="T0" fmla="*/ 141 w 142"/>
                  <a:gd name="T1" fmla="*/ 0 h 289"/>
                  <a:gd name="T2" fmla="*/ 0 w 142"/>
                  <a:gd name="T3" fmla="*/ 0 h 289"/>
                  <a:gd name="T4" fmla="*/ 0 w 142"/>
                  <a:gd name="T5" fmla="*/ 288 h 289"/>
                  <a:gd name="T6" fmla="*/ 141 w 142"/>
                  <a:gd name="T7" fmla="*/ 288 h 28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2" h="289">
                    <a:moveTo>
                      <a:pt x="141" y="0"/>
                    </a:moveTo>
                    <a:lnTo>
                      <a:pt x="0" y="0"/>
                    </a:lnTo>
                    <a:lnTo>
                      <a:pt x="0" y="288"/>
                    </a:lnTo>
                    <a:lnTo>
                      <a:pt x="141" y="288"/>
                    </a:lnTo>
                  </a:path>
                </a:pathLst>
              </a:custGeom>
              <a:noFill/>
              <a:ln w="25400" cap="rnd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dirty="0">
                  <a:ea typeface="SimHei" panose="02010609060101010101" pitchFamily="49" charset="-122"/>
                </a:endParaRPr>
              </a:p>
            </p:txBody>
          </p:sp>
          <p:sp>
            <p:nvSpPr>
              <p:cNvPr id="145" name="Freeform 144">
                <a:extLst>
                  <a:ext uri="{FF2B5EF4-FFF2-40B4-BE49-F238E27FC236}">
                    <a16:creationId xmlns:a16="http://schemas.microsoft.com/office/drawing/2014/main" id="{B180BA0D-A4E4-4E8B-9871-D4A70AB64E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9" y="1509"/>
                <a:ext cx="143" cy="289"/>
              </a:xfrm>
              <a:custGeom>
                <a:avLst/>
                <a:gdLst>
                  <a:gd name="T0" fmla="*/ 0 w 143"/>
                  <a:gd name="T1" fmla="*/ 0 h 289"/>
                  <a:gd name="T2" fmla="*/ 142 w 143"/>
                  <a:gd name="T3" fmla="*/ 0 h 289"/>
                  <a:gd name="T4" fmla="*/ 142 w 143"/>
                  <a:gd name="T5" fmla="*/ 288 h 289"/>
                  <a:gd name="T6" fmla="*/ 0 w 143"/>
                  <a:gd name="T7" fmla="*/ 288 h 28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3" h="289">
                    <a:moveTo>
                      <a:pt x="0" y="0"/>
                    </a:moveTo>
                    <a:lnTo>
                      <a:pt x="142" y="0"/>
                    </a:lnTo>
                    <a:lnTo>
                      <a:pt x="142" y="288"/>
                    </a:lnTo>
                    <a:lnTo>
                      <a:pt x="0" y="288"/>
                    </a:lnTo>
                  </a:path>
                </a:pathLst>
              </a:custGeom>
              <a:noFill/>
              <a:ln w="25400" cap="rnd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dirty="0">
                  <a:ea typeface="SimHei" panose="02010609060101010101" pitchFamily="49" charset="-122"/>
                </a:endParaRPr>
              </a:p>
            </p:txBody>
          </p:sp>
        </p:grpSp>
        <p:sp>
          <p:nvSpPr>
            <p:cNvPr id="135" name="Line 145">
              <a:extLst>
                <a:ext uri="{FF2B5EF4-FFF2-40B4-BE49-F238E27FC236}">
                  <a16:creationId xmlns:a16="http://schemas.microsoft.com/office/drawing/2014/main" id="{4398726C-3A76-491F-B0E5-142F1D815EF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01" y="1392"/>
              <a:ext cx="139" cy="0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136" name="Line 146">
              <a:extLst>
                <a:ext uri="{FF2B5EF4-FFF2-40B4-BE49-F238E27FC236}">
                  <a16:creationId xmlns:a16="http://schemas.microsoft.com/office/drawing/2014/main" id="{6A2FE980-2D09-4BDC-A9F7-DDB16FDE097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717" y="1392"/>
              <a:ext cx="155" cy="0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137" name="Line 147">
              <a:extLst>
                <a:ext uri="{FF2B5EF4-FFF2-40B4-BE49-F238E27FC236}">
                  <a16:creationId xmlns:a16="http://schemas.microsoft.com/office/drawing/2014/main" id="{7E313971-6C17-4CE1-84A0-48050900B72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332" y="1488"/>
              <a:ext cx="157" cy="0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138" name="Line 148">
              <a:extLst>
                <a:ext uri="{FF2B5EF4-FFF2-40B4-BE49-F238E27FC236}">
                  <a16:creationId xmlns:a16="http://schemas.microsoft.com/office/drawing/2014/main" id="{8654E586-88FA-4E7B-A1D4-B6359C19723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416" y="1488"/>
              <a:ext cx="0" cy="192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139" name="Line 149">
              <a:extLst>
                <a:ext uri="{FF2B5EF4-FFF2-40B4-BE49-F238E27FC236}">
                  <a16:creationId xmlns:a16="http://schemas.microsoft.com/office/drawing/2014/main" id="{7D8F77B7-5EA2-4597-8067-709F0B05AB4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416" y="1680"/>
              <a:ext cx="336" cy="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140" name="Line 150">
              <a:extLst>
                <a:ext uri="{FF2B5EF4-FFF2-40B4-BE49-F238E27FC236}">
                  <a16:creationId xmlns:a16="http://schemas.microsoft.com/office/drawing/2014/main" id="{BB157B15-5A48-4AAD-890E-D1CBD1FD095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752" y="1392"/>
              <a:ext cx="0" cy="288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141" name="Line 151">
              <a:extLst>
                <a:ext uri="{FF2B5EF4-FFF2-40B4-BE49-F238E27FC236}">
                  <a16:creationId xmlns:a16="http://schemas.microsoft.com/office/drawing/2014/main" id="{5071E83F-A8AB-457E-BBF3-6CAAB5C3DD4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832" y="1392"/>
              <a:ext cx="0" cy="24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142" name="Line 152">
              <a:extLst>
                <a:ext uri="{FF2B5EF4-FFF2-40B4-BE49-F238E27FC236}">
                  <a16:creationId xmlns:a16="http://schemas.microsoft.com/office/drawing/2014/main" id="{C5806417-8CA6-425A-A2A7-95A86AFC21E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32" y="1632"/>
              <a:ext cx="432" cy="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143" name="Line 153">
              <a:extLst>
                <a:ext uri="{FF2B5EF4-FFF2-40B4-BE49-F238E27FC236}">
                  <a16:creationId xmlns:a16="http://schemas.microsoft.com/office/drawing/2014/main" id="{C102D682-814A-425C-AB4C-52E9EC318EC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64" y="1392"/>
              <a:ext cx="0" cy="24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</p:grpSp>
      <p:sp>
        <p:nvSpPr>
          <p:cNvPr id="156" name="灯片编号占位符 155">
            <a:extLst>
              <a:ext uri="{FF2B5EF4-FFF2-40B4-BE49-F238E27FC236}">
                <a16:creationId xmlns:a16="http://schemas.microsoft.com/office/drawing/2014/main" id="{440A131E-EF85-493D-A52F-97D1C25EE6A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1806CE5-282B-4233-8654-09F35EA875E2}" type="slidenum">
              <a:rPr lang="zh-CN" altLang="en-US" smtClean="0"/>
              <a:t>40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77611809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>
            <a:extLst>
              <a:ext uri="{FF2B5EF4-FFF2-40B4-BE49-F238E27FC236}">
                <a16:creationId xmlns:a16="http://schemas.microsoft.com/office/drawing/2014/main" id="{5288A97A-C4D8-46BD-B0FF-AAB7B56F257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dirty="0"/>
              <a:t>控制冒险解决方法：</a:t>
            </a:r>
            <a:r>
              <a:rPr lang="en-US" altLang="zh-CN" dirty="0"/>
              <a:t>Stall</a:t>
            </a:r>
            <a:endParaRPr lang="zh-CN" altLang="en-US" dirty="0"/>
          </a:p>
        </p:txBody>
      </p:sp>
      <p:sp>
        <p:nvSpPr>
          <p:cNvPr id="3" name="内容占位符 2">
            <a:extLst>
              <a:ext uri="{FF2B5EF4-FFF2-40B4-BE49-F238E27FC236}">
                <a16:creationId xmlns:a16="http://schemas.microsoft.com/office/drawing/2014/main" id="{002AD938-7D80-4EE2-83B3-3A1C6B7AD416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r>
              <a:rPr lang="zh-CN" altLang="en-US" dirty="0"/>
              <a:t>可采用</a:t>
            </a:r>
            <a:r>
              <a:rPr lang="en-US" altLang="zh-CN" dirty="0"/>
              <a:t>Stall</a:t>
            </a:r>
            <a:r>
              <a:rPr lang="zh-CN" altLang="en-US" dirty="0"/>
              <a:t>的方式，插入等待周期</a:t>
            </a:r>
            <a:endParaRPr lang="en-US" altLang="zh-CN" dirty="0"/>
          </a:p>
          <a:p>
            <a:pPr lvl="1"/>
            <a:r>
              <a:rPr lang="zh-CN" altLang="en-US" dirty="0"/>
              <a:t>影响吞吐率</a:t>
            </a:r>
          </a:p>
        </p:txBody>
      </p:sp>
      <p:sp>
        <p:nvSpPr>
          <p:cNvPr id="5" name="灯片编号占位符 4">
            <a:extLst>
              <a:ext uri="{FF2B5EF4-FFF2-40B4-BE49-F238E27FC236}">
                <a16:creationId xmlns:a16="http://schemas.microsoft.com/office/drawing/2014/main" id="{CAF4F7F4-1D55-4419-87E2-656E68347DD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1806CE5-282B-4233-8654-09F35EA875E2}" type="slidenum">
              <a:rPr lang="zh-CN" altLang="en-US" smtClean="0"/>
              <a:t>41</a:t>
            </a:fld>
            <a:endParaRPr lang="zh-CN" altLang="en-US"/>
          </a:p>
        </p:txBody>
      </p:sp>
      <p:sp>
        <p:nvSpPr>
          <p:cNvPr id="7" name="AutoShape 3">
            <a:extLst>
              <a:ext uri="{FF2B5EF4-FFF2-40B4-BE49-F238E27FC236}">
                <a16:creationId xmlns:a16="http://schemas.microsoft.com/office/drawing/2014/main" id="{A65767E8-0A8F-4B78-9EED-1F8B19B27D8E}"/>
              </a:ext>
            </a:extLst>
          </p:cNvPr>
          <p:cNvSpPr>
            <a:spLocks noChangeAspect="1" noChangeArrowheads="1" noTextEdit="1"/>
          </p:cNvSpPr>
          <p:nvPr/>
        </p:nvSpPr>
        <p:spPr bwMode="auto">
          <a:xfrm>
            <a:off x="1409700" y="2225675"/>
            <a:ext cx="6527800" cy="4237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8" name="Rectangle 5">
            <a:extLst>
              <a:ext uri="{FF2B5EF4-FFF2-40B4-BE49-F238E27FC236}">
                <a16:creationId xmlns:a16="http://schemas.microsoft.com/office/drawing/2014/main" id="{50E2BFFC-CC25-4B18-B793-630A869DF4F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41500" y="3822700"/>
            <a:ext cx="410369" cy="2769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zh-CN" altLang="zh-CN" sz="1800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rPr>
              <a:t>stall</a:t>
            </a:r>
            <a:endParaRPr kumimoji="0" lang="zh-CN" altLang="zh-CN" sz="180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  <a:ea typeface="SimHei" panose="02010609060101010101" pitchFamily="49" charset="-122"/>
            </a:endParaRPr>
          </a:p>
        </p:txBody>
      </p:sp>
      <p:sp>
        <p:nvSpPr>
          <p:cNvPr id="9" name="Freeform 6">
            <a:extLst>
              <a:ext uri="{FF2B5EF4-FFF2-40B4-BE49-F238E27FC236}">
                <a16:creationId xmlns:a16="http://schemas.microsoft.com/office/drawing/2014/main" id="{3B69ADEF-C037-47AB-83CB-C64F1BACCE51}"/>
              </a:ext>
            </a:extLst>
          </p:cNvPr>
          <p:cNvSpPr>
            <a:spLocks/>
          </p:cNvSpPr>
          <p:nvPr/>
        </p:nvSpPr>
        <p:spPr bwMode="auto">
          <a:xfrm>
            <a:off x="4167188" y="3659188"/>
            <a:ext cx="514350" cy="457200"/>
          </a:xfrm>
          <a:custGeom>
            <a:avLst/>
            <a:gdLst>
              <a:gd name="T0" fmla="*/ 172 w 324"/>
              <a:gd name="T1" fmla="*/ 58 h 288"/>
              <a:gd name="T2" fmla="*/ 222 w 324"/>
              <a:gd name="T3" fmla="*/ 0 h 288"/>
              <a:gd name="T4" fmla="*/ 218 w 324"/>
              <a:gd name="T5" fmla="*/ 77 h 288"/>
              <a:gd name="T6" fmla="*/ 270 w 324"/>
              <a:gd name="T7" fmla="*/ 43 h 288"/>
              <a:gd name="T8" fmla="*/ 246 w 324"/>
              <a:gd name="T9" fmla="*/ 87 h 288"/>
              <a:gd name="T10" fmla="*/ 324 w 324"/>
              <a:gd name="T11" fmla="*/ 89 h 288"/>
              <a:gd name="T12" fmla="*/ 254 w 324"/>
              <a:gd name="T13" fmla="*/ 125 h 288"/>
              <a:gd name="T14" fmla="*/ 274 w 324"/>
              <a:gd name="T15" fmla="*/ 151 h 288"/>
              <a:gd name="T16" fmla="*/ 246 w 324"/>
              <a:gd name="T17" fmla="*/ 164 h 288"/>
              <a:gd name="T18" fmla="*/ 283 w 324"/>
              <a:gd name="T19" fmla="*/ 209 h 288"/>
              <a:gd name="T20" fmla="*/ 219 w 324"/>
              <a:gd name="T21" fmla="*/ 191 h 288"/>
              <a:gd name="T22" fmla="*/ 224 w 324"/>
              <a:gd name="T23" fmla="*/ 232 h 288"/>
              <a:gd name="T24" fmla="*/ 183 w 324"/>
              <a:gd name="T25" fmla="*/ 212 h 288"/>
              <a:gd name="T26" fmla="*/ 174 w 324"/>
              <a:gd name="T27" fmla="*/ 251 h 288"/>
              <a:gd name="T28" fmla="*/ 148 w 324"/>
              <a:gd name="T29" fmla="*/ 232 h 288"/>
              <a:gd name="T30" fmla="*/ 130 w 324"/>
              <a:gd name="T31" fmla="*/ 263 h 288"/>
              <a:gd name="T32" fmla="*/ 113 w 324"/>
              <a:gd name="T33" fmla="*/ 242 h 288"/>
              <a:gd name="T34" fmla="*/ 74 w 324"/>
              <a:gd name="T35" fmla="*/ 288 h 288"/>
              <a:gd name="T36" fmla="*/ 72 w 324"/>
              <a:gd name="T37" fmla="*/ 243 h 288"/>
              <a:gd name="T38" fmla="*/ 20 w 324"/>
              <a:gd name="T39" fmla="*/ 238 h 288"/>
              <a:gd name="T40" fmla="*/ 50 w 324"/>
              <a:gd name="T41" fmla="*/ 205 h 288"/>
              <a:gd name="T42" fmla="*/ 0 w 324"/>
              <a:gd name="T43" fmla="*/ 172 h 288"/>
              <a:gd name="T44" fmla="*/ 59 w 324"/>
              <a:gd name="T45" fmla="*/ 155 h 288"/>
              <a:gd name="T46" fmla="*/ 18 w 324"/>
              <a:gd name="T47" fmla="*/ 111 h 288"/>
              <a:gd name="T48" fmla="*/ 81 w 324"/>
              <a:gd name="T49" fmla="*/ 104 h 288"/>
              <a:gd name="T50" fmla="*/ 68 w 324"/>
              <a:gd name="T51" fmla="*/ 48 h 288"/>
              <a:gd name="T52" fmla="*/ 128 w 324"/>
              <a:gd name="T53" fmla="*/ 85 h 288"/>
              <a:gd name="T54" fmla="*/ 146 w 324"/>
              <a:gd name="T55" fmla="*/ 25 h 288"/>
              <a:gd name="T56" fmla="*/ 172 w 324"/>
              <a:gd name="T57" fmla="*/ 58 h 2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324" h="288">
                <a:moveTo>
                  <a:pt x="172" y="58"/>
                </a:moveTo>
                <a:lnTo>
                  <a:pt x="222" y="0"/>
                </a:lnTo>
                <a:lnTo>
                  <a:pt x="218" y="77"/>
                </a:lnTo>
                <a:lnTo>
                  <a:pt x="270" y="43"/>
                </a:lnTo>
                <a:lnTo>
                  <a:pt x="246" y="87"/>
                </a:lnTo>
                <a:lnTo>
                  <a:pt x="324" y="89"/>
                </a:lnTo>
                <a:lnTo>
                  <a:pt x="254" y="125"/>
                </a:lnTo>
                <a:lnTo>
                  <a:pt x="274" y="151"/>
                </a:lnTo>
                <a:lnTo>
                  <a:pt x="246" y="164"/>
                </a:lnTo>
                <a:lnTo>
                  <a:pt x="283" y="209"/>
                </a:lnTo>
                <a:lnTo>
                  <a:pt x="219" y="191"/>
                </a:lnTo>
                <a:lnTo>
                  <a:pt x="224" y="232"/>
                </a:lnTo>
                <a:lnTo>
                  <a:pt x="183" y="212"/>
                </a:lnTo>
                <a:lnTo>
                  <a:pt x="174" y="251"/>
                </a:lnTo>
                <a:lnTo>
                  <a:pt x="148" y="232"/>
                </a:lnTo>
                <a:lnTo>
                  <a:pt x="130" y="263"/>
                </a:lnTo>
                <a:lnTo>
                  <a:pt x="113" y="242"/>
                </a:lnTo>
                <a:lnTo>
                  <a:pt x="74" y="288"/>
                </a:lnTo>
                <a:lnTo>
                  <a:pt x="72" y="243"/>
                </a:lnTo>
                <a:lnTo>
                  <a:pt x="20" y="238"/>
                </a:lnTo>
                <a:lnTo>
                  <a:pt x="50" y="205"/>
                </a:lnTo>
                <a:lnTo>
                  <a:pt x="0" y="172"/>
                </a:lnTo>
                <a:lnTo>
                  <a:pt x="59" y="155"/>
                </a:lnTo>
                <a:lnTo>
                  <a:pt x="18" y="111"/>
                </a:lnTo>
                <a:lnTo>
                  <a:pt x="81" y="104"/>
                </a:lnTo>
                <a:lnTo>
                  <a:pt x="68" y="48"/>
                </a:lnTo>
                <a:lnTo>
                  <a:pt x="128" y="85"/>
                </a:lnTo>
                <a:lnTo>
                  <a:pt x="146" y="25"/>
                </a:lnTo>
                <a:lnTo>
                  <a:pt x="172" y="58"/>
                </a:lnTo>
                <a:close/>
              </a:path>
            </a:pathLst>
          </a:custGeom>
          <a:pattFill prst="shingle">
            <a:fgClr>
              <a:schemeClr val="accent6">
                <a:lumMod val="60000"/>
                <a:lumOff val="40000"/>
              </a:schemeClr>
            </a:fgClr>
            <a:bgClr>
              <a:schemeClr val="bg1"/>
            </a:bgClr>
          </a:patt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10" name="Freeform 7">
            <a:extLst>
              <a:ext uri="{FF2B5EF4-FFF2-40B4-BE49-F238E27FC236}">
                <a16:creationId xmlns:a16="http://schemas.microsoft.com/office/drawing/2014/main" id="{02E10ED5-ED47-4760-846C-FA3E9E9F2CA9}"/>
              </a:ext>
            </a:extLst>
          </p:cNvPr>
          <p:cNvSpPr>
            <a:spLocks/>
          </p:cNvSpPr>
          <p:nvPr/>
        </p:nvSpPr>
        <p:spPr bwMode="auto">
          <a:xfrm>
            <a:off x="4167188" y="3659188"/>
            <a:ext cx="514350" cy="457200"/>
          </a:xfrm>
          <a:custGeom>
            <a:avLst/>
            <a:gdLst>
              <a:gd name="T0" fmla="*/ 172 w 324"/>
              <a:gd name="T1" fmla="*/ 58 h 288"/>
              <a:gd name="T2" fmla="*/ 222 w 324"/>
              <a:gd name="T3" fmla="*/ 0 h 288"/>
              <a:gd name="T4" fmla="*/ 218 w 324"/>
              <a:gd name="T5" fmla="*/ 77 h 288"/>
              <a:gd name="T6" fmla="*/ 270 w 324"/>
              <a:gd name="T7" fmla="*/ 43 h 288"/>
              <a:gd name="T8" fmla="*/ 246 w 324"/>
              <a:gd name="T9" fmla="*/ 87 h 288"/>
              <a:gd name="T10" fmla="*/ 324 w 324"/>
              <a:gd name="T11" fmla="*/ 89 h 288"/>
              <a:gd name="T12" fmla="*/ 254 w 324"/>
              <a:gd name="T13" fmla="*/ 125 h 288"/>
              <a:gd name="T14" fmla="*/ 274 w 324"/>
              <a:gd name="T15" fmla="*/ 151 h 288"/>
              <a:gd name="T16" fmla="*/ 246 w 324"/>
              <a:gd name="T17" fmla="*/ 164 h 288"/>
              <a:gd name="T18" fmla="*/ 283 w 324"/>
              <a:gd name="T19" fmla="*/ 209 h 288"/>
              <a:gd name="T20" fmla="*/ 219 w 324"/>
              <a:gd name="T21" fmla="*/ 191 h 288"/>
              <a:gd name="T22" fmla="*/ 224 w 324"/>
              <a:gd name="T23" fmla="*/ 232 h 288"/>
              <a:gd name="T24" fmla="*/ 183 w 324"/>
              <a:gd name="T25" fmla="*/ 212 h 288"/>
              <a:gd name="T26" fmla="*/ 174 w 324"/>
              <a:gd name="T27" fmla="*/ 251 h 288"/>
              <a:gd name="T28" fmla="*/ 148 w 324"/>
              <a:gd name="T29" fmla="*/ 232 h 288"/>
              <a:gd name="T30" fmla="*/ 130 w 324"/>
              <a:gd name="T31" fmla="*/ 263 h 288"/>
              <a:gd name="T32" fmla="*/ 113 w 324"/>
              <a:gd name="T33" fmla="*/ 242 h 288"/>
              <a:gd name="T34" fmla="*/ 74 w 324"/>
              <a:gd name="T35" fmla="*/ 288 h 288"/>
              <a:gd name="T36" fmla="*/ 72 w 324"/>
              <a:gd name="T37" fmla="*/ 243 h 288"/>
              <a:gd name="T38" fmla="*/ 20 w 324"/>
              <a:gd name="T39" fmla="*/ 238 h 288"/>
              <a:gd name="T40" fmla="*/ 50 w 324"/>
              <a:gd name="T41" fmla="*/ 205 h 288"/>
              <a:gd name="T42" fmla="*/ 0 w 324"/>
              <a:gd name="T43" fmla="*/ 172 h 288"/>
              <a:gd name="T44" fmla="*/ 59 w 324"/>
              <a:gd name="T45" fmla="*/ 155 h 288"/>
              <a:gd name="T46" fmla="*/ 18 w 324"/>
              <a:gd name="T47" fmla="*/ 111 h 288"/>
              <a:gd name="T48" fmla="*/ 81 w 324"/>
              <a:gd name="T49" fmla="*/ 104 h 288"/>
              <a:gd name="T50" fmla="*/ 68 w 324"/>
              <a:gd name="T51" fmla="*/ 48 h 288"/>
              <a:gd name="T52" fmla="*/ 128 w 324"/>
              <a:gd name="T53" fmla="*/ 85 h 288"/>
              <a:gd name="T54" fmla="*/ 146 w 324"/>
              <a:gd name="T55" fmla="*/ 25 h 288"/>
              <a:gd name="T56" fmla="*/ 172 w 324"/>
              <a:gd name="T57" fmla="*/ 58 h 2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324" h="288">
                <a:moveTo>
                  <a:pt x="172" y="58"/>
                </a:moveTo>
                <a:lnTo>
                  <a:pt x="222" y="0"/>
                </a:lnTo>
                <a:lnTo>
                  <a:pt x="218" y="77"/>
                </a:lnTo>
                <a:lnTo>
                  <a:pt x="270" y="43"/>
                </a:lnTo>
                <a:lnTo>
                  <a:pt x="246" y="87"/>
                </a:lnTo>
                <a:lnTo>
                  <a:pt x="324" y="89"/>
                </a:lnTo>
                <a:lnTo>
                  <a:pt x="254" y="125"/>
                </a:lnTo>
                <a:lnTo>
                  <a:pt x="274" y="151"/>
                </a:lnTo>
                <a:lnTo>
                  <a:pt x="246" y="164"/>
                </a:lnTo>
                <a:lnTo>
                  <a:pt x="283" y="209"/>
                </a:lnTo>
                <a:lnTo>
                  <a:pt x="219" y="191"/>
                </a:lnTo>
                <a:lnTo>
                  <a:pt x="224" y="232"/>
                </a:lnTo>
                <a:lnTo>
                  <a:pt x="183" y="212"/>
                </a:lnTo>
                <a:lnTo>
                  <a:pt x="174" y="251"/>
                </a:lnTo>
                <a:lnTo>
                  <a:pt x="148" y="232"/>
                </a:lnTo>
                <a:lnTo>
                  <a:pt x="130" y="263"/>
                </a:lnTo>
                <a:lnTo>
                  <a:pt x="113" y="242"/>
                </a:lnTo>
                <a:lnTo>
                  <a:pt x="74" y="288"/>
                </a:lnTo>
                <a:lnTo>
                  <a:pt x="72" y="243"/>
                </a:lnTo>
                <a:lnTo>
                  <a:pt x="20" y="238"/>
                </a:lnTo>
                <a:lnTo>
                  <a:pt x="50" y="205"/>
                </a:lnTo>
                <a:lnTo>
                  <a:pt x="0" y="172"/>
                </a:lnTo>
                <a:lnTo>
                  <a:pt x="59" y="155"/>
                </a:lnTo>
                <a:lnTo>
                  <a:pt x="18" y="111"/>
                </a:lnTo>
                <a:lnTo>
                  <a:pt x="81" y="104"/>
                </a:lnTo>
                <a:lnTo>
                  <a:pt x="68" y="48"/>
                </a:lnTo>
                <a:lnTo>
                  <a:pt x="128" y="85"/>
                </a:lnTo>
                <a:lnTo>
                  <a:pt x="146" y="25"/>
                </a:lnTo>
                <a:lnTo>
                  <a:pt x="172" y="58"/>
                </a:lnTo>
                <a:close/>
              </a:path>
            </a:pathLst>
          </a:custGeom>
          <a:pattFill prst="shingle">
            <a:fgClr>
              <a:schemeClr val="accent6">
                <a:lumMod val="60000"/>
                <a:lumOff val="40000"/>
              </a:schemeClr>
            </a:fgClr>
            <a:bgClr>
              <a:schemeClr val="bg1"/>
            </a:bgClr>
          </a:pattFill>
          <a:ln w="9525" cap="flat">
            <a:solidFill>
              <a:srgbClr val="3C09F7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11" name="Freeform 8">
            <a:extLst>
              <a:ext uri="{FF2B5EF4-FFF2-40B4-BE49-F238E27FC236}">
                <a16:creationId xmlns:a16="http://schemas.microsoft.com/office/drawing/2014/main" id="{F48523DF-3E87-4366-A389-530EFB0F6E4F}"/>
              </a:ext>
            </a:extLst>
          </p:cNvPr>
          <p:cNvSpPr>
            <a:spLocks/>
          </p:cNvSpPr>
          <p:nvPr/>
        </p:nvSpPr>
        <p:spPr bwMode="auto">
          <a:xfrm>
            <a:off x="4681538" y="3659188"/>
            <a:ext cx="512763" cy="457200"/>
          </a:xfrm>
          <a:custGeom>
            <a:avLst/>
            <a:gdLst>
              <a:gd name="T0" fmla="*/ 171 w 323"/>
              <a:gd name="T1" fmla="*/ 58 h 288"/>
              <a:gd name="T2" fmla="*/ 221 w 323"/>
              <a:gd name="T3" fmla="*/ 0 h 288"/>
              <a:gd name="T4" fmla="*/ 217 w 323"/>
              <a:gd name="T5" fmla="*/ 77 h 288"/>
              <a:gd name="T6" fmla="*/ 269 w 323"/>
              <a:gd name="T7" fmla="*/ 43 h 288"/>
              <a:gd name="T8" fmla="*/ 245 w 323"/>
              <a:gd name="T9" fmla="*/ 87 h 288"/>
              <a:gd name="T10" fmla="*/ 323 w 323"/>
              <a:gd name="T11" fmla="*/ 89 h 288"/>
              <a:gd name="T12" fmla="*/ 254 w 323"/>
              <a:gd name="T13" fmla="*/ 125 h 288"/>
              <a:gd name="T14" fmla="*/ 273 w 323"/>
              <a:gd name="T15" fmla="*/ 151 h 288"/>
              <a:gd name="T16" fmla="*/ 245 w 323"/>
              <a:gd name="T17" fmla="*/ 164 h 288"/>
              <a:gd name="T18" fmla="*/ 282 w 323"/>
              <a:gd name="T19" fmla="*/ 209 h 288"/>
              <a:gd name="T20" fmla="*/ 219 w 323"/>
              <a:gd name="T21" fmla="*/ 191 h 288"/>
              <a:gd name="T22" fmla="*/ 223 w 323"/>
              <a:gd name="T23" fmla="*/ 232 h 288"/>
              <a:gd name="T24" fmla="*/ 182 w 323"/>
              <a:gd name="T25" fmla="*/ 212 h 288"/>
              <a:gd name="T26" fmla="*/ 173 w 323"/>
              <a:gd name="T27" fmla="*/ 251 h 288"/>
              <a:gd name="T28" fmla="*/ 147 w 323"/>
              <a:gd name="T29" fmla="*/ 232 h 288"/>
              <a:gd name="T30" fmla="*/ 130 w 323"/>
              <a:gd name="T31" fmla="*/ 263 h 288"/>
              <a:gd name="T32" fmla="*/ 112 w 323"/>
              <a:gd name="T33" fmla="*/ 242 h 288"/>
              <a:gd name="T34" fmla="*/ 73 w 323"/>
              <a:gd name="T35" fmla="*/ 288 h 288"/>
              <a:gd name="T36" fmla="*/ 72 w 323"/>
              <a:gd name="T37" fmla="*/ 243 h 288"/>
              <a:gd name="T38" fmla="*/ 19 w 323"/>
              <a:gd name="T39" fmla="*/ 238 h 288"/>
              <a:gd name="T40" fmla="*/ 49 w 323"/>
              <a:gd name="T41" fmla="*/ 205 h 288"/>
              <a:gd name="T42" fmla="*/ 0 w 323"/>
              <a:gd name="T43" fmla="*/ 172 h 288"/>
              <a:gd name="T44" fmla="*/ 58 w 323"/>
              <a:gd name="T45" fmla="*/ 155 h 288"/>
              <a:gd name="T46" fmla="*/ 17 w 323"/>
              <a:gd name="T47" fmla="*/ 111 h 288"/>
              <a:gd name="T48" fmla="*/ 80 w 323"/>
              <a:gd name="T49" fmla="*/ 104 h 288"/>
              <a:gd name="T50" fmla="*/ 67 w 323"/>
              <a:gd name="T51" fmla="*/ 48 h 288"/>
              <a:gd name="T52" fmla="*/ 127 w 323"/>
              <a:gd name="T53" fmla="*/ 85 h 288"/>
              <a:gd name="T54" fmla="*/ 145 w 323"/>
              <a:gd name="T55" fmla="*/ 25 h 288"/>
              <a:gd name="T56" fmla="*/ 171 w 323"/>
              <a:gd name="T57" fmla="*/ 58 h 2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323" h="288">
                <a:moveTo>
                  <a:pt x="171" y="58"/>
                </a:moveTo>
                <a:lnTo>
                  <a:pt x="221" y="0"/>
                </a:lnTo>
                <a:lnTo>
                  <a:pt x="217" y="77"/>
                </a:lnTo>
                <a:lnTo>
                  <a:pt x="269" y="43"/>
                </a:lnTo>
                <a:lnTo>
                  <a:pt x="245" y="87"/>
                </a:lnTo>
                <a:lnTo>
                  <a:pt x="323" y="89"/>
                </a:lnTo>
                <a:lnTo>
                  <a:pt x="254" y="125"/>
                </a:lnTo>
                <a:lnTo>
                  <a:pt x="273" y="151"/>
                </a:lnTo>
                <a:lnTo>
                  <a:pt x="245" y="164"/>
                </a:lnTo>
                <a:lnTo>
                  <a:pt x="282" y="209"/>
                </a:lnTo>
                <a:lnTo>
                  <a:pt x="219" y="191"/>
                </a:lnTo>
                <a:lnTo>
                  <a:pt x="223" y="232"/>
                </a:lnTo>
                <a:lnTo>
                  <a:pt x="182" y="212"/>
                </a:lnTo>
                <a:lnTo>
                  <a:pt x="173" y="251"/>
                </a:lnTo>
                <a:lnTo>
                  <a:pt x="147" y="232"/>
                </a:lnTo>
                <a:lnTo>
                  <a:pt x="130" y="263"/>
                </a:lnTo>
                <a:lnTo>
                  <a:pt x="112" y="242"/>
                </a:lnTo>
                <a:lnTo>
                  <a:pt x="73" y="288"/>
                </a:lnTo>
                <a:lnTo>
                  <a:pt x="72" y="243"/>
                </a:lnTo>
                <a:lnTo>
                  <a:pt x="19" y="238"/>
                </a:lnTo>
                <a:lnTo>
                  <a:pt x="49" y="205"/>
                </a:lnTo>
                <a:lnTo>
                  <a:pt x="0" y="172"/>
                </a:lnTo>
                <a:lnTo>
                  <a:pt x="58" y="155"/>
                </a:lnTo>
                <a:lnTo>
                  <a:pt x="17" y="111"/>
                </a:lnTo>
                <a:lnTo>
                  <a:pt x="80" y="104"/>
                </a:lnTo>
                <a:lnTo>
                  <a:pt x="67" y="48"/>
                </a:lnTo>
                <a:lnTo>
                  <a:pt x="127" y="85"/>
                </a:lnTo>
                <a:lnTo>
                  <a:pt x="145" y="25"/>
                </a:lnTo>
                <a:lnTo>
                  <a:pt x="171" y="58"/>
                </a:lnTo>
                <a:close/>
              </a:path>
            </a:pathLst>
          </a:custGeom>
          <a:pattFill prst="shingle">
            <a:fgClr>
              <a:schemeClr val="accent6">
                <a:lumMod val="60000"/>
                <a:lumOff val="40000"/>
              </a:schemeClr>
            </a:fgClr>
            <a:bgClr>
              <a:schemeClr val="bg1"/>
            </a:bgClr>
          </a:patt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12" name="Freeform 9">
            <a:extLst>
              <a:ext uri="{FF2B5EF4-FFF2-40B4-BE49-F238E27FC236}">
                <a16:creationId xmlns:a16="http://schemas.microsoft.com/office/drawing/2014/main" id="{7140475A-88C8-4A19-9C12-B6C447E9F77D}"/>
              </a:ext>
            </a:extLst>
          </p:cNvPr>
          <p:cNvSpPr>
            <a:spLocks/>
          </p:cNvSpPr>
          <p:nvPr/>
        </p:nvSpPr>
        <p:spPr bwMode="auto">
          <a:xfrm>
            <a:off x="4681538" y="3659188"/>
            <a:ext cx="512763" cy="457200"/>
          </a:xfrm>
          <a:custGeom>
            <a:avLst/>
            <a:gdLst>
              <a:gd name="T0" fmla="*/ 171 w 323"/>
              <a:gd name="T1" fmla="*/ 58 h 288"/>
              <a:gd name="T2" fmla="*/ 221 w 323"/>
              <a:gd name="T3" fmla="*/ 0 h 288"/>
              <a:gd name="T4" fmla="*/ 217 w 323"/>
              <a:gd name="T5" fmla="*/ 77 h 288"/>
              <a:gd name="T6" fmla="*/ 269 w 323"/>
              <a:gd name="T7" fmla="*/ 43 h 288"/>
              <a:gd name="T8" fmla="*/ 245 w 323"/>
              <a:gd name="T9" fmla="*/ 87 h 288"/>
              <a:gd name="T10" fmla="*/ 323 w 323"/>
              <a:gd name="T11" fmla="*/ 89 h 288"/>
              <a:gd name="T12" fmla="*/ 254 w 323"/>
              <a:gd name="T13" fmla="*/ 125 h 288"/>
              <a:gd name="T14" fmla="*/ 273 w 323"/>
              <a:gd name="T15" fmla="*/ 151 h 288"/>
              <a:gd name="T16" fmla="*/ 245 w 323"/>
              <a:gd name="T17" fmla="*/ 164 h 288"/>
              <a:gd name="T18" fmla="*/ 282 w 323"/>
              <a:gd name="T19" fmla="*/ 209 h 288"/>
              <a:gd name="T20" fmla="*/ 219 w 323"/>
              <a:gd name="T21" fmla="*/ 191 h 288"/>
              <a:gd name="T22" fmla="*/ 223 w 323"/>
              <a:gd name="T23" fmla="*/ 232 h 288"/>
              <a:gd name="T24" fmla="*/ 182 w 323"/>
              <a:gd name="T25" fmla="*/ 212 h 288"/>
              <a:gd name="T26" fmla="*/ 173 w 323"/>
              <a:gd name="T27" fmla="*/ 251 h 288"/>
              <a:gd name="T28" fmla="*/ 147 w 323"/>
              <a:gd name="T29" fmla="*/ 232 h 288"/>
              <a:gd name="T30" fmla="*/ 130 w 323"/>
              <a:gd name="T31" fmla="*/ 263 h 288"/>
              <a:gd name="T32" fmla="*/ 112 w 323"/>
              <a:gd name="T33" fmla="*/ 242 h 288"/>
              <a:gd name="T34" fmla="*/ 73 w 323"/>
              <a:gd name="T35" fmla="*/ 288 h 288"/>
              <a:gd name="T36" fmla="*/ 72 w 323"/>
              <a:gd name="T37" fmla="*/ 243 h 288"/>
              <a:gd name="T38" fmla="*/ 19 w 323"/>
              <a:gd name="T39" fmla="*/ 238 h 288"/>
              <a:gd name="T40" fmla="*/ 49 w 323"/>
              <a:gd name="T41" fmla="*/ 205 h 288"/>
              <a:gd name="T42" fmla="*/ 0 w 323"/>
              <a:gd name="T43" fmla="*/ 172 h 288"/>
              <a:gd name="T44" fmla="*/ 58 w 323"/>
              <a:gd name="T45" fmla="*/ 155 h 288"/>
              <a:gd name="T46" fmla="*/ 17 w 323"/>
              <a:gd name="T47" fmla="*/ 111 h 288"/>
              <a:gd name="T48" fmla="*/ 80 w 323"/>
              <a:gd name="T49" fmla="*/ 104 h 288"/>
              <a:gd name="T50" fmla="*/ 67 w 323"/>
              <a:gd name="T51" fmla="*/ 48 h 288"/>
              <a:gd name="T52" fmla="*/ 127 w 323"/>
              <a:gd name="T53" fmla="*/ 85 h 288"/>
              <a:gd name="T54" fmla="*/ 145 w 323"/>
              <a:gd name="T55" fmla="*/ 25 h 288"/>
              <a:gd name="T56" fmla="*/ 171 w 323"/>
              <a:gd name="T57" fmla="*/ 58 h 2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323" h="288">
                <a:moveTo>
                  <a:pt x="171" y="58"/>
                </a:moveTo>
                <a:lnTo>
                  <a:pt x="221" y="0"/>
                </a:lnTo>
                <a:lnTo>
                  <a:pt x="217" y="77"/>
                </a:lnTo>
                <a:lnTo>
                  <a:pt x="269" y="43"/>
                </a:lnTo>
                <a:lnTo>
                  <a:pt x="245" y="87"/>
                </a:lnTo>
                <a:lnTo>
                  <a:pt x="323" y="89"/>
                </a:lnTo>
                <a:lnTo>
                  <a:pt x="254" y="125"/>
                </a:lnTo>
                <a:lnTo>
                  <a:pt x="273" y="151"/>
                </a:lnTo>
                <a:lnTo>
                  <a:pt x="245" y="164"/>
                </a:lnTo>
                <a:lnTo>
                  <a:pt x="282" y="209"/>
                </a:lnTo>
                <a:lnTo>
                  <a:pt x="219" y="191"/>
                </a:lnTo>
                <a:lnTo>
                  <a:pt x="223" y="232"/>
                </a:lnTo>
                <a:lnTo>
                  <a:pt x="182" y="212"/>
                </a:lnTo>
                <a:lnTo>
                  <a:pt x="173" y="251"/>
                </a:lnTo>
                <a:lnTo>
                  <a:pt x="147" y="232"/>
                </a:lnTo>
                <a:lnTo>
                  <a:pt x="130" y="263"/>
                </a:lnTo>
                <a:lnTo>
                  <a:pt x="112" y="242"/>
                </a:lnTo>
                <a:lnTo>
                  <a:pt x="73" y="288"/>
                </a:lnTo>
                <a:lnTo>
                  <a:pt x="72" y="243"/>
                </a:lnTo>
                <a:lnTo>
                  <a:pt x="19" y="238"/>
                </a:lnTo>
                <a:lnTo>
                  <a:pt x="49" y="205"/>
                </a:lnTo>
                <a:lnTo>
                  <a:pt x="0" y="172"/>
                </a:lnTo>
                <a:lnTo>
                  <a:pt x="58" y="155"/>
                </a:lnTo>
                <a:lnTo>
                  <a:pt x="17" y="111"/>
                </a:lnTo>
                <a:lnTo>
                  <a:pt x="80" y="104"/>
                </a:lnTo>
                <a:lnTo>
                  <a:pt x="67" y="48"/>
                </a:lnTo>
                <a:lnTo>
                  <a:pt x="127" y="85"/>
                </a:lnTo>
                <a:lnTo>
                  <a:pt x="145" y="25"/>
                </a:lnTo>
                <a:lnTo>
                  <a:pt x="171" y="58"/>
                </a:lnTo>
                <a:close/>
              </a:path>
            </a:pathLst>
          </a:custGeom>
          <a:pattFill prst="shingle">
            <a:fgClr>
              <a:schemeClr val="accent6">
                <a:lumMod val="60000"/>
                <a:lumOff val="40000"/>
              </a:schemeClr>
            </a:fgClr>
            <a:bgClr>
              <a:schemeClr val="bg1"/>
            </a:bgClr>
          </a:pattFill>
          <a:ln w="9525" cap="flat">
            <a:solidFill>
              <a:srgbClr val="3C09F7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13" name="Freeform 10">
            <a:extLst>
              <a:ext uri="{FF2B5EF4-FFF2-40B4-BE49-F238E27FC236}">
                <a16:creationId xmlns:a16="http://schemas.microsoft.com/office/drawing/2014/main" id="{974B19E2-DD50-4E75-B2C0-11BF8C90E849}"/>
              </a:ext>
            </a:extLst>
          </p:cNvPr>
          <p:cNvSpPr>
            <a:spLocks/>
          </p:cNvSpPr>
          <p:nvPr/>
        </p:nvSpPr>
        <p:spPr bwMode="auto">
          <a:xfrm>
            <a:off x="5251450" y="3659188"/>
            <a:ext cx="512763" cy="457200"/>
          </a:xfrm>
          <a:custGeom>
            <a:avLst/>
            <a:gdLst>
              <a:gd name="T0" fmla="*/ 171 w 323"/>
              <a:gd name="T1" fmla="*/ 58 h 288"/>
              <a:gd name="T2" fmla="*/ 221 w 323"/>
              <a:gd name="T3" fmla="*/ 0 h 288"/>
              <a:gd name="T4" fmla="*/ 217 w 323"/>
              <a:gd name="T5" fmla="*/ 77 h 288"/>
              <a:gd name="T6" fmla="*/ 269 w 323"/>
              <a:gd name="T7" fmla="*/ 43 h 288"/>
              <a:gd name="T8" fmla="*/ 245 w 323"/>
              <a:gd name="T9" fmla="*/ 87 h 288"/>
              <a:gd name="T10" fmla="*/ 323 w 323"/>
              <a:gd name="T11" fmla="*/ 89 h 288"/>
              <a:gd name="T12" fmla="*/ 254 w 323"/>
              <a:gd name="T13" fmla="*/ 125 h 288"/>
              <a:gd name="T14" fmla="*/ 273 w 323"/>
              <a:gd name="T15" fmla="*/ 151 h 288"/>
              <a:gd name="T16" fmla="*/ 245 w 323"/>
              <a:gd name="T17" fmla="*/ 164 h 288"/>
              <a:gd name="T18" fmla="*/ 282 w 323"/>
              <a:gd name="T19" fmla="*/ 209 h 288"/>
              <a:gd name="T20" fmla="*/ 219 w 323"/>
              <a:gd name="T21" fmla="*/ 191 h 288"/>
              <a:gd name="T22" fmla="*/ 223 w 323"/>
              <a:gd name="T23" fmla="*/ 232 h 288"/>
              <a:gd name="T24" fmla="*/ 182 w 323"/>
              <a:gd name="T25" fmla="*/ 212 h 288"/>
              <a:gd name="T26" fmla="*/ 174 w 323"/>
              <a:gd name="T27" fmla="*/ 251 h 288"/>
              <a:gd name="T28" fmla="*/ 148 w 323"/>
              <a:gd name="T29" fmla="*/ 232 h 288"/>
              <a:gd name="T30" fmla="*/ 130 w 323"/>
              <a:gd name="T31" fmla="*/ 263 h 288"/>
              <a:gd name="T32" fmla="*/ 112 w 323"/>
              <a:gd name="T33" fmla="*/ 242 h 288"/>
              <a:gd name="T34" fmla="*/ 73 w 323"/>
              <a:gd name="T35" fmla="*/ 288 h 288"/>
              <a:gd name="T36" fmla="*/ 72 w 323"/>
              <a:gd name="T37" fmla="*/ 243 h 288"/>
              <a:gd name="T38" fmla="*/ 19 w 323"/>
              <a:gd name="T39" fmla="*/ 238 h 288"/>
              <a:gd name="T40" fmla="*/ 50 w 323"/>
              <a:gd name="T41" fmla="*/ 205 h 288"/>
              <a:gd name="T42" fmla="*/ 0 w 323"/>
              <a:gd name="T43" fmla="*/ 172 h 288"/>
              <a:gd name="T44" fmla="*/ 59 w 323"/>
              <a:gd name="T45" fmla="*/ 155 h 288"/>
              <a:gd name="T46" fmla="*/ 17 w 323"/>
              <a:gd name="T47" fmla="*/ 111 h 288"/>
              <a:gd name="T48" fmla="*/ 80 w 323"/>
              <a:gd name="T49" fmla="*/ 104 h 288"/>
              <a:gd name="T50" fmla="*/ 67 w 323"/>
              <a:gd name="T51" fmla="*/ 48 h 288"/>
              <a:gd name="T52" fmla="*/ 128 w 323"/>
              <a:gd name="T53" fmla="*/ 85 h 288"/>
              <a:gd name="T54" fmla="*/ 145 w 323"/>
              <a:gd name="T55" fmla="*/ 25 h 288"/>
              <a:gd name="T56" fmla="*/ 171 w 323"/>
              <a:gd name="T57" fmla="*/ 58 h 2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323" h="288">
                <a:moveTo>
                  <a:pt x="171" y="58"/>
                </a:moveTo>
                <a:lnTo>
                  <a:pt x="221" y="0"/>
                </a:lnTo>
                <a:lnTo>
                  <a:pt x="217" y="77"/>
                </a:lnTo>
                <a:lnTo>
                  <a:pt x="269" y="43"/>
                </a:lnTo>
                <a:lnTo>
                  <a:pt x="245" y="87"/>
                </a:lnTo>
                <a:lnTo>
                  <a:pt x="323" y="89"/>
                </a:lnTo>
                <a:lnTo>
                  <a:pt x="254" y="125"/>
                </a:lnTo>
                <a:lnTo>
                  <a:pt x="273" y="151"/>
                </a:lnTo>
                <a:lnTo>
                  <a:pt x="245" y="164"/>
                </a:lnTo>
                <a:lnTo>
                  <a:pt x="282" y="209"/>
                </a:lnTo>
                <a:lnTo>
                  <a:pt x="219" y="191"/>
                </a:lnTo>
                <a:lnTo>
                  <a:pt x="223" y="232"/>
                </a:lnTo>
                <a:lnTo>
                  <a:pt x="182" y="212"/>
                </a:lnTo>
                <a:lnTo>
                  <a:pt x="174" y="251"/>
                </a:lnTo>
                <a:lnTo>
                  <a:pt x="148" y="232"/>
                </a:lnTo>
                <a:lnTo>
                  <a:pt x="130" y="263"/>
                </a:lnTo>
                <a:lnTo>
                  <a:pt x="112" y="242"/>
                </a:lnTo>
                <a:lnTo>
                  <a:pt x="73" y="288"/>
                </a:lnTo>
                <a:lnTo>
                  <a:pt x="72" y="243"/>
                </a:lnTo>
                <a:lnTo>
                  <a:pt x="19" y="238"/>
                </a:lnTo>
                <a:lnTo>
                  <a:pt x="50" y="205"/>
                </a:lnTo>
                <a:lnTo>
                  <a:pt x="0" y="172"/>
                </a:lnTo>
                <a:lnTo>
                  <a:pt x="59" y="155"/>
                </a:lnTo>
                <a:lnTo>
                  <a:pt x="17" y="111"/>
                </a:lnTo>
                <a:lnTo>
                  <a:pt x="80" y="104"/>
                </a:lnTo>
                <a:lnTo>
                  <a:pt x="67" y="48"/>
                </a:lnTo>
                <a:lnTo>
                  <a:pt x="128" y="85"/>
                </a:lnTo>
                <a:lnTo>
                  <a:pt x="145" y="25"/>
                </a:lnTo>
                <a:lnTo>
                  <a:pt x="171" y="58"/>
                </a:lnTo>
                <a:close/>
              </a:path>
            </a:pathLst>
          </a:custGeom>
          <a:pattFill prst="shingle">
            <a:fgClr>
              <a:schemeClr val="accent6">
                <a:lumMod val="60000"/>
                <a:lumOff val="40000"/>
              </a:schemeClr>
            </a:fgClr>
            <a:bgClr>
              <a:schemeClr val="bg1"/>
            </a:bgClr>
          </a:patt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14" name="Freeform 11">
            <a:extLst>
              <a:ext uri="{FF2B5EF4-FFF2-40B4-BE49-F238E27FC236}">
                <a16:creationId xmlns:a16="http://schemas.microsoft.com/office/drawing/2014/main" id="{7B42ECE7-A730-4EB3-A799-3FEC50DC2F08}"/>
              </a:ext>
            </a:extLst>
          </p:cNvPr>
          <p:cNvSpPr>
            <a:spLocks/>
          </p:cNvSpPr>
          <p:nvPr/>
        </p:nvSpPr>
        <p:spPr bwMode="auto">
          <a:xfrm>
            <a:off x="5251450" y="3659188"/>
            <a:ext cx="512763" cy="457200"/>
          </a:xfrm>
          <a:custGeom>
            <a:avLst/>
            <a:gdLst>
              <a:gd name="T0" fmla="*/ 171 w 323"/>
              <a:gd name="T1" fmla="*/ 58 h 288"/>
              <a:gd name="T2" fmla="*/ 221 w 323"/>
              <a:gd name="T3" fmla="*/ 0 h 288"/>
              <a:gd name="T4" fmla="*/ 217 w 323"/>
              <a:gd name="T5" fmla="*/ 77 h 288"/>
              <a:gd name="T6" fmla="*/ 269 w 323"/>
              <a:gd name="T7" fmla="*/ 43 h 288"/>
              <a:gd name="T8" fmla="*/ 245 w 323"/>
              <a:gd name="T9" fmla="*/ 87 h 288"/>
              <a:gd name="T10" fmla="*/ 323 w 323"/>
              <a:gd name="T11" fmla="*/ 89 h 288"/>
              <a:gd name="T12" fmla="*/ 254 w 323"/>
              <a:gd name="T13" fmla="*/ 125 h 288"/>
              <a:gd name="T14" fmla="*/ 273 w 323"/>
              <a:gd name="T15" fmla="*/ 151 h 288"/>
              <a:gd name="T16" fmla="*/ 245 w 323"/>
              <a:gd name="T17" fmla="*/ 164 h 288"/>
              <a:gd name="T18" fmla="*/ 282 w 323"/>
              <a:gd name="T19" fmla="*/ 209 h 288"/>
              <a:gd name="T20" fmla="*/ 219 w 323"/>
              <a:gd name="T21" fmla="*/ 191 h 288"/>
              <a:gd name="T22" fmla="*/ 223 w 323"/>
              <a:gd name="T23" fmla="*/ 232 h 288"/>
              <a:gd name="T24" fmla="*/ 182 w 323"/>
              <a:gd name="T25" fmla="*/ 212 h 288"/>
              <a:gd name="T26" fmla="*/ 174 w 323"/>
              <a:gd name="T27" fmla="*/ 251 h 288"/>
              <a:gd name="T28" fmla="*/ 148 w 323"/>
              <a:gd name="T29" fmla="*/ 232 h 288"/>
              <a:gd name="T30" fmla="*/ 130 w 323"/>
              <a:gd name="T31" fmla="*/ 263 h 288"/>
              <a:gd name="T32" fmla="*/ 112 w 323"/>
              <a:gd name="T33" fmla="*/ 242 h 288"/>
              <a:gd name="T34" fmla="*/ 73 w 323"/>
              <a:gd name="T35" fmla="*/ 288 h 288"/>
              <a:gd name="T36" fmla="*/ 72 w 323"/>
              <a:gd name="T37" fmla="*/ 243 h 288"/>
              <a:gd name="T38" fmla="*/ 19 w 323"/>
              <a:gd name="T39" fmla="*/ 238 h 288"/>
              <a:gd name="T40" fmla="*/ 50 w 323"/>
              <a:gd name="T41" fmla="*/ 205 h 288"/>
              <a:gd name="T42" fmla="*/ 0 w 323"/>
              <a:gd name="T43" fmla="*/ 172 h 288"/>
              <a:gd name="T44" fmla="*/ 59 w 323"/>
              <a:gd name="T45" fmla="*/ 155 h 288"/>
              <a:gd name="T46" fmla="*/ 17 w 323"/>
              <a:gd name="T47" fmla="*/ 111 h 288"/>
              <a:gd name="T48" fmla="*/ 80 w 323"/>
              <a:gd name="T49" fmla="*/ 104 h 288"/>
              <a:gd name="T50" fmla="*/ 67 w 323"/>
              <a:gd name="T51" fmla="*/ 48 h 288"/>
              <a:gd name="T52" fmla="*/ 128 w 323"/>
              <a:gd name="T53" fmla="*/ 85 h 288"/>
              <a:gd name="T54" fmla="*/ 145 w 323"/>
              <a:gd name="T55" fmla="*/ 25 h 288"/>
              <a:gd name="T56" fmla="*/ 171 w 323"/>
              <a:gd name="T57" fmla="*/ 58 h 2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323" h="288">
                <a:moveTo>
                  <a:pt x="171" y="58"/>
                </a:moveTo>
                <a:lnTo>
                  <a:pt x="221" y="0"/>
                </a:lnTo>
                <a:lnTo>
                  <a:pt x="217" y="77"/>
                </a:lnTo>
                <a:lnTo>
                  <a:pt x="269" y="43"/>
                </a:lnTo>
                <a:lnTo>
                  <a:pt x="245" y="87"/>
                </a:lnTo>
                <a:lnTo>
                  <a:pt x="323" y="89"/>
                </a:lnTo>
                <a:lnTo>
                  <a:pt x="254" y="125"/>
                </a:lnTo>
                <a:lnTo>
                  <a:pt x="273" y="151"/>
                </a:lnTo>
                <a:lnTo>
                  <a:pt x="245" y="164"/>
                </a:lnTo>
                <a:lnTo>
                  <a:pt x="282" y="209"/>
                </a:lnTo>
                <a:lnTo>
                  <a:pt x="219" y="191"/>
                </a:lnTo>
                <a:lnTo>
                  <a:pt x="223" y="232"/>
                </a:lnTo>
                <a:lnTo>
                  <a:pt x="182" y="212"/>
                </a:lnTo>
                <a:lnTo>
                  <a:pt x="174" y="251"/>
                </a:lnTo>
                <a:lnTo>
                  <a:pt x="148" y="232"/>
                </a:lnTo>
                <a:lnTo>
                  <a:pt x="130" y="263"/>
                </a:lnTo>
                <a:lnTo>
                  <a:pt x="112" y="242"/>
                </a:lnTo>
                <a:lnTo>
                  <a:pt x="73" y="288"/>
                </a:lnTo>
                <a:lnTo>
                  <a:pt x="72" y="243"/>
                </a:lnTo>
                <a:lnTo>
                  <a:pt x="19" y="238"/>
                </a:lnTo>
                <a:lnTo>
                  <a:pt x="50" y="205"/>
                </a:lnTo>
                <a:lnTo>
                  <a:pt x="0" y="172"/>
                </a:lnTo>
                <a:lnTo>
                  <a:pt x="59" y="155"/>
                </a:lnTo>
                <a:lnTo>
                  <a:pt x="17" y="111"/>
                </a:lnTo>
                <a:lnTo>
                  <a:pt x="80" y="104"/>
                </a:lnTo>
                <a:lnTo>
                  <a:pt x="67" y="48"/>
                </a:lnTo>
                <a:lnTo>
                  <a:pt x="128" y="85"/>
                </a:lnTo>
                <a:lnTo>
                  <a:pt x="145" y="25"/>
                </a:lnTo>
                <a:lnTo>
                  <a:pt x="171" y="58"/>
                </a:lnTo>
                <a:close/>
              </a:path>
            </a:pathLst>
          </a:custGeom>
          <a:pattFill prst="shingle">
            <a:fgClr>
              <a:schemeClr val="accent6">
                <a:lumMod val="60000"/>
                <a:lumOff val="40000"/>
              </a:schemeClr>
            </a:fgClr>
            <a:bgClr>
              <a:schemeClr val="bg1"/>
            </a:bgClr>
          </a:pattFill>
          <a:ln w="9525" cap="flat">
            <a:solidFill>
              <a:srgbClr val="3C09F7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15" name="Freeform 12">
            <a:extLst>
              <a:ext uri="{FF2B5EF4-FFF2-40B4-BE49-F238E27FC236}">
                <a16:creationId xmlns:a16="http://schemas.microsoft.com/office/drawing/2014/main" id="{9BA82EFA-6CC0-4739-84F9-69660B3A6D9A}"/>
              </a:ext>
            </a:extLst>
          </p:cNvPr>
          <p:cNvSpPr>
            <a:spLocks/>
          </p:cNvSpPr>
          <p:nvPr/>
        </p:nvSpPr>
        <p:spPr bwMode="auto">
          <a:xfrm>
            <a:off x="5764213" y="3659188"/>
            <a:ext cx="512763" cy="457200"/>
          </a:xfrm>
          <a:custGeom>
            <a:avLst/>
            <a:gdLst>
              <a:gd name="T0" fmla="*/ 172 w 323"/>
              <a:gd name="T1" fmla="*/ 58 h 288"/>
              <a:gd name="T2" fmla="*/ 221 w 323"/>
              <a:gd name="T3" fmla="*/ 0 h 288"/>
              <a:gd name="T4" fmla="*/ 217 w 323"/>
              <a:gd name="T5" fmla="*/ 77 h 288"/>
              <a:gd name="T6" fmla="*/ 269 w 323"/>
              <a:gd name="T7" fmla="*/ 43 h 288"/>
              <a:gd name="T8" fmla="*/ 245 w 323"/>
              <a:gd name="T9" fmla="*/ 87 h 288"/>
              <a:gd name="T10" fmla="*/ 323 w 323"/>
              <a:gd name="T11" fmla="*/ 89 h 288"/>
              <a:gd name="T12" fmla="*/ 254 w 323"/>
              <a:gd name="T13" fmla="*/ 125 h 288"/>
              <a:gd name="T14" fmla="*/ 273 w 323"/>
              <a:gd name="T15" fmla="*/ 151 h 288"/>
              <a:gd name="T16" fmla="*/ 245 w 323"/>
              <a:gd name="T17" fmla="*/ 164 h 288"/>
              <a:gd name="T18" fmla="*/ 282 w 323"/>
              <a:gd name="T19" fmla="*/ 209 h 288"/>
              <a:gd name="T20" fmla="*/ 219 w 323"/>
              <a:gd name="T21" fmla="*/ 191 h 288"/>
              <a:gd name="T22" fmla="*/ 223 w 323"/>
              <a:gd name="T23" fmla="*/ 232 h 288"/>
              <a:gd name="T24" fmla="*/ 182 w 323"/>
              <a:gd name="T25" fmla="*/ 212 h 288"/>
              <a:gd name="T26" fmla="*/ 174 w 323"/>
              <a:gd name="T27" fmla="*/ 251 h 288"/>
              <a:gd name="T28" fmla="*/ 148 w 323"/>
              <a:gd name="T29" fmla="*/ 232 h 288"/>
              <a:gd name="T30" fmla="*/ 130 w 323"/>
              <a:gd name="T31" fmla="*/ 263 h 288"/>
              <a:gd name="T32" fmla="*/ 113 w 323"/>
              <a:gd name="T33" fmla="*/ 242 h 288"/>
              <a:gd name="T34" fmla="*/ 74 w 323"/>
              <a:gd name="T35" fmla="*/ 288 h 288"/>
              <a:gd name="T36" fmla="*/ 72 w 323"/>
              <a:gd name="T37" fmla="*/ 243 h 288"/>
              <a:gd name="T38" fmla="*/ 19 w 323"/>
              <a:gd name="T39" fmla="*/ 238 h 288"/>
              <a:gd name="T40" fmla="*/ 50 w 323"/>
              <a:gd name="T41" fmla="*/ 205 h 288"/>
              <a:gd name="T42" fmla="*/ 0 w 323"/>
              <a:gd name="T43" fmla="*/ 172 h 288"/>
              <a:gd name="T44" fmla="*/ 59 w 323"/>
              <a:gd name="T45" fmla="*/ 155 h 288"/>
              <a:gd name="T46" fmla="*/ 18 w 323"/>
              <a:gd name="T47" fmla="*/ 111 h 288"/>
              <a:gd name="T48" fmla="*/ 80 w 323"/>
              <a:gd name="T49" fmla="*/ 104 h 288"/>
              <a:gd name="T50" fmla="*/ 67 w 323"/>
              <a:gd name="T51" fmla="*/ 48 h 288"/>
              <a:gd name="T52" fmla="*/ 128 w 323"/>
              <a:gd name="T53" fmla="*/ 85 h 288"/>
              <a:gd name="T54" fmla="*/ 145 w 323"/>
              <a:gd name="T55" fmla="*/ 25 h 288"/>
              <a:gd name="T56" fmla="*/ 172 w 323"/>
              <a:gd name="T57" fmla="*/ 58 h 2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323" h="288">
                <a:moveTo>
                  <a:pt x="172" y="58"/>
                </a:moveTo>
                <a:lnTo>
                  <a:pt x="221" y="0"/>
                </a:lnTo>
                <a:lnTo>
                  <a:pt x="217" y="77"/>
                </a:lnTo>
                <a:lnTo>
                  <a:pt x="269" y="43"/>
                </a:lnTo>
                <a:lnTo>
                  <a:pt x="245" y="87"/>
                </a:lnTo>
                <a:lnTo>
                  <a:pt x="323" y="89"/>
                </a:lnTo>
                <a:lnTo>
                  <a:pt x="254" y="125"/>
                </a:lnTo>
                <a:lnTo>
                  <a:pt x="273" y="151"/>
                </a:lnTo>
                <a:lnTo>
                  <a:pt x="245" y="164"/>
                </a:lnTo>
                <a:lnTo>
                  <a:pt x="282" y="209"/>
                </a:lnTo>
                <a:lnTo>
                  <a:pt x="219" y="191"/>
                </a:lnTo>
                <a:lnTo>
                  <a:pt x="223" y="232"/>
                </a:lnTo>
                <a:lnTo>
                  <a:pt x="182" y="212"/>
                </a:lnTo>
                <a:lnTo>
                  <a:pt x="174" y="251"/>
                </a:lnTo>
                <a:lnTo>
                  <a:pt x="148" y="232"/>
                </a:lnTo>
                <a:lnTo>
                  <a:pt x="130" y="263"/>
                </a:lnTo>
                <a:lnTo>
                  <a:pt x="113" y="242"/>
                </a:lnTo>
                <a:lnTo>
                  <a:pt x="74" y="288"/>
                </a:lnTo>
                <a:lnTo>
                  <a:pt x="72" y="243"/>
                </a:lnTo>
                <a:lnTo>
                  <a:pt x="19" y="238"/>
                </a:lnTo>
                <a:lnTo>
                  <a:pt x="50" y="205"/>
                </a:lnTo>
                <a:lnTo>
                  <a:pt x="0" y="172"/>
                </a:lnTo>
                <a:lnTo>
                  <a:pt x="59" y="155"/>
                </a:lnTo>
                <a:lnTo>
                  <a:pt x="18" y="111"/>
                </a:lnTo>
                <a:lnTo>
                  <a:pt x="80" y="104"/>
                </a:lnTo>
                <a:lnTo>
                  <a:pt x="67" y="48"/>
                </a:lnTo>
                <a:lnTo>
                  <a:pt x="128" y="85"/>
                </a:lnTo>
                <a:lnTo>
                  <a:pt x="145" y="25"/>
                </a:lnTo>
                <a:lnTo>
                  <a:pt x="172" y="58"/>
                </a:lnTo>
                <a:close/>
              </a:path>
            </a:pathLst>
          </a:custGeom>
          <a:pattFill prst="shingle">
            <a:fgClr>
              <a:schemeClr val="accent6">
                <a:lumMod val="60000"/>
                <a:lumOff val="40000"/>
              </a:schemeClr>
            </a:fgClr>
            <a:bgClr>
              <a:schemeClr val="bg1"/>
            </a:bgClr>
          </a:patt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16" name="Freeform 13">
            <a:extLst>
              <a:ext uri="{FF2B5EF4-FFF2-40B4-BE49-F238E27FC236}">
                <a16:creationId xmlns:a16="http://schemas.microsoft.com/office/drawing/2014/main" id="{B1269DCB-339B-4A2E-A23A-D1693A14078C}"/>
              </a:ext>
            </a:extLst>
          </p:cNvPr>
          <p:cNvSpPr>
            <a:spLocks/>
          </p:cNvSpPr>
          <p:nvPr/>
        </p:nvSpPr>
        <p:spPr bwMode="auto">
          <a:xfrm>
            <a:off x="5764213" y="3659188"/>
            <a:ext cx="512763" cy="457200"/>
          </a:xfrm>
          <a:custGeom>
            <a:avLst/>
            <a:gdLst>
              <a:gd name="T0" fmla="*/ 172 w 323"/>
              <a:gd name="T1" fmla="*/ 58 h 288"/>
              <a:gd name="T2" fmla="*/ 221 w 323"/>
              <a:gd name="T3" fmla="*/ 0 h 288"/>
              <a:gd name="T4" fmla="*/ 217 w 323"/>
              <a:gd name="T5" fmla="*/ 77 h 288"/>
              <a:gd name="T6" fmla="*/ 269 w 323"/>
              <a:gd name="T7" fmla="*/ 43 h 288"/>
              <a:gd name="T8" fmla="*/ 245 w 323"/>
              <a:gd name="T9" fmla="*/ 87 h 288"/>
              <a:gd name="T10" fmla="*/ 323 w 323"/>
              <a:gd name="T11" fmla="*/ 89 h 288"/>
              <a:gd name="T12" fmla="*/ 254 w 323"/>
              <a:gd name="T13" fmla="*/ 125 h 288"/>
              <a:gd name="T14" fmla="*/ 273 w 323"/>
              <a:gd name="T15" fmla="*/ 151 h 288"/>
              <a:gd name="T16" fmla="*/ 245 w 323"/>
              <a:gd name="T17" fmla="*/ 164 h 288"/>
              <a:gd name="T18" fmla="*/ 282 w 323"/>
              <a:gd name="T19" fmla="*/ 209 h 288"/>
              <a:gd name="T20" fmla="*/ 219 w 323"/>
              <a:gd name="T21" fmla="*/ 191 h 288"/>
              <a:gd name="T22" fmla="*/ 223 w 323"/>
              <a:gd name="T23" fmla="*/ 232 h 288"/>
              <a:gd name="T24" fmla="*/ 182 w 323"/>
              <a:gd name="T25" fmla="*/ 212 h 288"/>
              <a:gd name="T26" fmla="*/ 174 w 323"/>
              <a:gd name="T27" fmla="*/ 251 h 288"/>
              <a:gd name="T28" fmla="*/ 148 w 323"/>
              <a:gd name="T29" fmla="*/ 232 h 288"/>
              <a:gd name="T30" fmla="*/ 130 w 323"/>
              <a:gd name="T31" fmla="*/ 263 h 288"/>
              <a:gd name="T32" fmla="*/ 113 w 323"/>
              <a:gd name="T33" fmla="*/ 242 h 288"/>
              <a:gd name="T34" fmla="*/ 74 w 323"/>
              <a:gd name="T35" fmla="*/ 288 h 288"/>
              <a:gd name="T36" fmla="*/ 72 w 323"/>
              <a:gd name="T37" fmla="*/ 243 h 288"/>
              <a:gd name="T38" fmla="*/ 19 w 323"/>
              <a:gd name="T39" fmla="*/ 238 h 288"/>
              <a:gd name="T40" fmla="*/ 50 w 323"/>
              <a:gd name="T41" fmla="*/ 205 h 288"/>
              <a:gd name="T42" fmla="*/ 0 w 323"/>
              <a:gd name="T43" fmla="*/ 172 h 288"/>
              <a:gd name="T44" fmla="*/ 59 w 323"/>
              <a:gd name="T45" fmla="*/ 155 h 288"/>
              <a:gd name="T46" fmla="*/ 18 w 323"/>
              <a:gd name="T47" fmla="*/ 111 h 288"/>
              <a:gd name="T48" fmla="*/ 80 w 323"/>
              <a:gd name="T49" fmla="*/ 104 h 288"/>
              <a:gd name="T50" fmla="*/ 67 w 323"/>
              <a:gd name="T51" fmla="*/ 48 h 288"/>
              <a:gd name="T52" fmla="*/ 128 w 323"/>
              <a:gd name="T53" fmla="*/ 85 h 288"/>
              <a:gd name="T54" fmla="*/ 145 w 323"/>
              <a:gd name="T55" fmla="*/ 25 h 288"/>
              <a:gd name="T56" fmla="*/ 172 w 323"/>
              <a:gd name="T57" fmla="*/ 58 h 2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323" h="288">
                <a:moveTo>
                  <a:pt x="172" y="58"/>
                </a:moveTo>
                <a:lnTo>
                  <a:pt x="221" y="0"/>
                </a:lnTo>
                <a:lnTo>
                  <a:pt x="217" y="77"/>
                </a:lnTo>
                <a:lnTo>
                  <a:pt x="269" y="43"/>
                </a:lnTo>
                <a:lnTo>
                  <a:pt x="245" y="87"/>
                </a:lnTo>
                <a:lnTo>
                  <a:pt x="323" y="89"/>
                </a:lnTo>
                <a:lnTo>
                  <a:pt x="254" y="125"/>
                </a:lnTo>
                <a:lnTo>
                  <a:pt x="273" y="151"/>
                </a:lnTo>
                <a:lnTo>
                  <a:pt x="245" y="164"/>
                </a:lnTo>
                <a:lnTo>
                  <a:pt x="282" y="209"/>
                </a:lnTo>
                <a:lnTo>
                  <a:pt x="219" y="191"/>
                </a:lnTo>
                <a:lnTo>
                  <a:pt x="223" y="232"/>
                </a:lnTo>
                <a:lnTo>
                  <a:pt x="182" y="212"/>
                </a:lnTo>
                <a:lnTo>
                  <a:pt x="174" y="251"/>
                </a:lnTo>
                <a:lnTo>
                  <a:pt x="148" y="232"/>
                </a:lnTo>
                <a:lnTo>
                  <a:pt x="130" y="263"/>
                </a:lnTo>
                <a:lnTo>
                  <a:pt x="113" y="242"/>
                </a:lnTo>
                <a:lnTo>
                  <a:pt x="74" y="288"/>
                </a:lnTo>
                <a:lnTo>
                  <a:pt x="72" y="243"/>
                </a:lnTo>
                <a:lnTo>
                  <a:pt x="19" y="238"/>
                </a:lnTo>
                <a:lnTo>
                  <a:pt x="50" y="205"/>
                </a:lnTo>
                <a:lnTo>
                  <a:pt x="0" y="172"/>
                </a:lnTo>
                <a:lnTo>
                  <a:pt x="59" y="155"/>
                </a:lnTo>
                <a:lnTo>
                  <a:pt x="18" y="111"/>
                </a:lnTo>
                <a:lnTo>
                  <a:pt x="80" y="104"/>
                </a:lnTo>
                <a:lnTo>
                  <a:pt x="67" y="48"/>
                </a:lnTo>
                <a:lnTo>
                  <a:pt x="128" y="85"/>
                </a:lnTo>
                <a:lnTo>
                  <a:pt x="145" y="25"/>
                </a:lnTo>
                <a:lnTo>
                  <a:pt x="172" y="58"/>
                </a:lnTo>
                <a:close/>
              </a:path>
            </a:pathLst>
          </a:custGeom>
          <a:pattFill prst="shingle">
            <a:fgClr>
              <a:schemeClr val="accent6">
                <a:lumMod val="60000"/>
                <a:lumOff val="40000"/>
              </a:schemeClr>
            </a:fgClr>
            <a:bgClr>
              <a:schemeClr val="bg1"/>
            </a:bgClr>
          </a:pattFill>
          <a:ln w="9525" cap="flat">
            <a:solidFill>
              <a:srgbClr val="3C09F7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17" name="Freeform 14">
            <a:extLst>
              <a:ext uri="{FF2B5EF4-FFF2-40B4-BE49-F238E27FC236}">
                <a16:creationId xmlns:a16="http://schemas.microsoft.com/office/drawing/2014/main" id="{EA9A16D7-6DB4-4D8E-9B1F-5188FCC24B7E}"/>
              </a:ext>
            </a:extLst>
          </p:cNvPr>
          <p:cNvSpPr>
            <a:spLocks/>
          </p:cNvSpPr>
          <p:nvPr/>
        </p:nvSpPr>
        <p:spPr bwMode="auto">
          <a:xfrm>
            <a:off x="6276975" y="3659188"/>
            <a:ext cx="512763" cy="457200"/>
          </a:xfrm>
          <a:custGeom>
            <a:avLst/>
            <a:gdLst>
              <a:gd name="T0" fmla="*/ 172 w 323"/>
              <a:gd name="T1" fmla="*/ 58 h 288"/>
              <a:gd name="T2" fmla="*/ 221 w 323"/>
              <a:gd name="T3" fmla="*/ 0 h 288"/>
              <a:gd name="T4" fmla="*/ 218 w 323"/>
              <a:gd name="T5" fmla="*/ 77 h 288"/>
              <a:gd name="T6" fmla="*/ 270 w 323"/>
              <a:gd name="T7" fmla="*/ 43 h 288"/>
              <a:gd name="T8" fmla="*/ 245 w 323"/>
              <a:gd name="T9" fmla="*/ 87 h 288"/>
              <a:gd name="T10" fmla="*/ 323 w 323"/>
              <a:gd name="T11" fmla="*/ 89 h 288"/>
              <a:gd name="T12" fmla="*/ 254 w 323"/>
              <a:gd name="T13" fmla="*/ 125 h 288"/>
              <a:gd name="T14" fmla="*/ 274 w 323"/>
              <a:gd name="T15" fmla="*/ 151 h 288"/>
              <a:gd name="T16" fmla="*/ 245 w 323"/>
              <a:gd name="T17" fmla="*/ 164 h 288"/>
              <a:gd name="T18" fmla="*/ 283 w 323"/>
              <a:gd name="T19" fmla="*/ 209 h 288"/>
              <a:gd name="T20" fmla="*/ 219 w 323"/>
              <a:gd name="T21" fmla="*/ 191 h 288"/>
              <a:gd name="T22" fmla="*/ 224 w 323"/>
              <a:gd name="T23" fmla="*/ 232 h 288"/>
              <a:gd name="T24" fmla="*/ 182 w 323"/>
              <a:gd name="T25" fmla="*/ 212 h 288"/>
              <a:gd name="T26" fmla="*/ 174 w 323"/>
              <a:gd name="T27" fmla="*/ 251 h 288"/>
              <a:gd name="T28" fmla="*/ 148 w 323"/>
              <a:gd name="T29" fmla="*/ 232 h 288"/>
              <a:gd name="T30" fmla="*/ 130 w 323"/>
              <a:gd name="T31" fmla="*/ 263 h 288"/>
              <a:gd name="T32" fmla="*/ 113 w 323"/>
              <a:gd name="T33" fmla="*/ 242 h 288"/>
              <a:gd name="T34" fmla="*/ 74 w 323"/>
              <a:gd name="T35" fmla="*/ 288 h 288"/>
              <a:gd name="T36" fmla="*/ 72 w 323"/>
              <a:gd name="T37" fmla="*/ 243 h 288"/>
              <a:gd name="T38" fmla="*/ 19 w 323"/>
              <a:gd name="T39" fmla="*/ 238 h 288"/>
              <a:gd name="T40" fmla="*/ 50 w 323"/>
              <a:gd name="T41" fmla="*/ 205 h 288"/>
              <a:gd name="T42" fmla="*/ 0 w 323"/>
              <a:gd name="T43" fmla="*/ 172 h 288"/>
              <a:gd name="T44" fmla="*/ 59 w 323"/>
              <a:gd name="T45" fmla="*/ 155 h 288"/>
              <a:gd name="T46" fmla="*/ 18 w 323"/>
              <a:gd name="T47" fmla="*/ 111 h 288"/>
              <a:gd name="T48" fmla="*/ 81 w 323"/>
              <a:gd name="T49" fmla="*/ 104 h 288"/>
              <a:gd name="T50" fmla="*/ 68 w 323"/>
              <a:gd name="T51" fmla="*/ 48 h 288"/>
              <a:gd name="T52" fmla="*/ 128 w 323"/>
              <a:gd name="T53" fmla="*/ 85 h 288"/>
              <a:gd name="T54" fmla="*/ 146 w 323"/>
              <a:gd name="T55" fmla="*/ 25 h 288"/>
              <a:gd name="T56" fmla="*/ 172 w 323"/>
              <a:gd name="T57" fmla="*/ 58 h 2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323" h="288">
                <a:moveTo>
                  <a:pt x="172" y="58"/>
                </a:moveTo>
                <a:lnTo>
                  <a:pt x="221" y="0"/>
                </a:lnTo>
                <a:lnTo>
                  <a:pt x="218" y="77"/>
                </a:lnTo>
                <a:lnTo>
                  <a:pt x="270" y="43"/>
                </a:lnTo>
                <a:lnTo>
                  <a:pt x="245" y="87"/>
                </a:lnTo>
                <a:lnTo>
                  <a:pt x="323" y="89"/>
                </a:lnTo>
                <a:lnTo>
                  <a:pt x="254" y="125"/>
                </a:lnTo>
                <a:lnTo>
                  <a:pt x="274" y="151"/>
                </a:lnTo>
                <a:lnTo>
                  <a:pt x="245" y="164"/>
                </a:lnTo>
                <a:lnTo>
                  <a:pt x="283" y="209"/>
                </a:lnTo>
                <a:lnTo>
                  <a:pt x="219" y="191"/>
                </a:lnTo>
                <a:lnTo>
                  <a:pt x="224" y="232"/>
                </a:lnTo>
                <a:lnTo>
                  <a:pt x="182" y="212"/>
                </a:lnTo>
                <a:lnTo>
                  <a:pt x="174" y="251"/>
                </a:lnTo>
                <a:lnTo>
                  <a:pt x="148" y="232"/>
                </a:lnTo>
                <a:lnTo>
                  <a:pt x="130" y="263"/>
                </a:lnTo>
                <a:lnTo>
                  <a:pt x="113" y="242"/>
                </a:lnTo>
                <a:lnTo>
                  <a:pt x="74" y="288"/>
                </a:lnTo>
                <a:lnTo>
                  <a:pt x="72" y="243"/>
                </a:lnTo>
                <a:lnTo>
                  <a:pt x="19" y="238"/>
                </a:lnTo>
                <a:lnTo>
                  <a:pt x="50" y="205"/>
                </a:lnTo>
                <a:lnTo>
                  <a:pt x="0" y="172"/>
                </a:lnTo>
                <a:lnTo>
                  <a:pt x="59" y="155"/>
                </a:lnTo>
                <a:lnTo>
                  <a:pt x="18" y="111"/>
                </a:lnTo>
                <a:lnTo>
                  <a:pt x="81" y="104"/>
                </a:lnTo>
                <a:lnTo>
                  <a:pt x="68" y="48"/>
                </a:lnTo>
                <a:lnTo>
                  <a:pt x="128" y="85"/>
                </a:lnTo>
                <a:lnTo>
                  <a:pt x="146" y="25"/>
                </a:lnTo>
                <a:lnTo>
                  <a:pt x="172" y="58"/>
                </a:lnTo>
                <a:close/>
              </a:path>
            </a:pathLst>
          </a:custGeom>
          <a:pattFill prst="shingle">
            <a:fgClr>
              <a:schemeClr val="accent6">
                <a:lumMod val="60000"/>
                <a:lumOff val="40000"/>
              </a:schemeClr>
            </a:fgClr>
            <a:bgClr>
              <a:schemeClr val="bg1"/>
            </a:bgClr>
          </a:patt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18" name="Freeform 15">
            <a:extLst>
              <a:ext uri="{FF2B5EF4-FFF2-40B4-BE49-F238E27FC236}">
                <a16:creationId xmlns:a16="http://schemas.microsoft.com/office/drawing/2014/main" id="{E480B12C-DC76-43DC-915A-EDA50DB2E769}"/>
              </a:ext>
            </a:extLst>
          </p:cNvPr>
          <p:cNvSpPr>
            <a:spLocks/>
          </p:cNvSpPr>
          <p:nvPr/>
        </p:nvSpPr>
        <p:spPr bwMode="auto">
          <a:xfrm>
            <a:off x="6276975" y="3659188"/>
            <a:ext cx="512763" cy="457200"/>
          </a:xfrm>
          <a:custGeom>
            <a:avLst/>
            <a:gdLst>
              <a:gd name="T0" fmla="*/ 172 w 323"/>
              <a:gd name="T1" fmla="*/ 58 h 288"/>
              <a:gd name="T2" fmla="*/ 221 w 323"/>
              <a:gd name="T3" fmla="*/ 0 h 288"/>
              <a:gd name="T4" fmla="*/ 218 w 323"/>
              <a:gd name="T5" fmla="*/ 77 h 288"/>
              <a:gd name="T6" fmla="*/ 270 w 323"/>
              <a:gd name="T7" fmla="*/ 43 h 288"/>
              <a:gd name="T8" fmla="*/ 245 w 323"/>
              <a:gd name="T9" fmla="*/ 87 h 288"/>
              <a:gd name="T10" fmla="*/ 323 w 323"/>
              <a:gd name="T11" fmla="*/ 89 h 288"/>
              <a:gd name="T12" fmla="*/ 254 w 323"/>
              <a:gd name="T13" fmla="*/ 125 h 288"/>
              <a:gd name="T14" fmla="*/ 274 w 323"/>
              <a:gd name="T15" fmla="*/ 151 h 288"/>
              <a:gd name="T16" fmla="*/ 245 w 323"/>
              <a:gd name="T17" fmla="*/ 164 h 288"/>
              <a:gd name="T18" fmla="*/ 283 w 323"/>
              <a:gd name="T19" fmla="*/ 209 h 288"/>
              <a:gd name="T20" fmla="*/ 219 w 323"/>
              <a:gd name="T21" fmla="*/ 191 h 288"/>
              <a:gd name="T22" fmla="*/ 224 w 323"/>
              <a:gd name="T23" fmla="*/ 232 h 288"/>
              <a:gd name="T24" fmla="*/ 182 w 323"/>
              <a:gd name="T25" fmla="*/ 212 h 288"/>
              <a:gd name="T26" fmla="*/ 174 w 323"/>
              <a:gd name="T27" fmla="*/ 251 h 288"/>
              <a:gd name="T28" fmla="*/ 148 w 323"/>
              <a:gd name="T29" fmla="*/ 232 h 288"/>
              <a:gd name="T30" fmla="*/ 130 w 323"/>
              <a:gd name="T31" fmla="*/ 263 h 288"/>
              <a:gd name="T32" fmla="*/ 113 w 323"/>
              <a:gd name="T33" fmla="*/ 242 h 288"/>
              <a:gd name="T34" fmla="*/ 74 w 323"/>
              <a:gd name="T35" fmla="*/ 288 h 288"/>
              <a:gd name="T36" fmla="*/ 72 w 323"/>
              <a:gd name="T37" fmla="*/ 243 h 288"/>
              <a:gd name="T38" fmla="*/ 19 w 323"/>
              <a:gd name="T39" fmla="*/ 238 h 288"/>
              <a:gd name="T40" fmla="*/ 50 w 323"/>
              <a:gd name="T41" fmla="*/ 205 h 288"/>
              <a:gd name="T42" fmla="*/ 0 w 323"/>
              <a:gd name="T43" fmla="*/ 172 h 288"/>
              <a:gd name="T44" fmla="*/ 59 w 323"/>
              <a:gd name="T45" fmla="*/ 155 h 288"/>
              <a:gd name="T46" fmla="*/ 18 w 323"/>
              <a:gd name="T47" fmla="*/ 111 h 288"/>
              <a:gd name="T48" fmla="*/ 81 w 323"/>
              <a:gd name="T49" fmla="*/ 104 h 288"/>
              <a:gd name="T50" fmla="*/ 68 w 323"/>
              <a:gd name="T51" fmla="*/ 48 h 288"/>
              <a:gd name="T52" fmla="*/ 128 w 323"/>
              <a:gd name="T53" fmla="*/ 85 h 288"/>
              <a:gd name="T54" fmla="*/ 146 w 323"/>
              <a:gd name="T55" fmla="*/ 25 h 288"/>
              <a:gd name="T56" fmla="*/ 172 w 323"/>
              <a:gd name="T57" fmla="*/ 58 h 2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323" h="288">
                <a:moveTo>
                  <a:pt x="172" y="58"/>
                </a:moveTo>
                <a:lnTo>
                  <a:pt x="221" y="0"/>
                </a:lnTo>
                <a:lnTo>
                  <a:pt x="218" y="77"/>
                </a:lnTo>
                <a:lnTo>
                  <a:pt x="270" y="43"/>
                </a:lnTo>
                <a:lnTo>
                  <a:pt x="245" y="87"/>
                </a:lnTo>
                <a:lnTo>
                  <a:pt x="323" y="89"/>
                </a:lnTo>
                <a:lnTo>
                  <a:pt x="254" y="125"/>
                </a:lnTo>
                <a:lnTo>
                  <a:pt x="274" y="151"/>
                </a:lnTo>
                <a:lnTo>
                  <a:pt x="245" y="164"/>
                </a:lnTo>
                <a:lnTo>
                  <a:pt x="283" y="209"/>
                </a:lnTo>
                <a:lnTo>
                  <a:pt x="219" y="191"/>
                </a:lnTo>
                <a:lnTo>
                  <a:pt x="224" y="232"/>
                </a:lnTo>
                <a:lnTo>
                  <a:pt x="182" y="212"/>
                </a:lnTo>
                <a:lnTo>
                  <a:pt x="174" y="251"/>
                </a:lnTo>
                <a:lnTo>
                  <a:pt x="148" y="232"/>
                </a:lnTo>
                <a:lnTo>
                  <a:pt x="130" y="263"/>
                </a:lnTo>
                <a:lnTo>
                  <a:pt x="113" y="242"/>
                </a:lnTo>
                <a:lnTo>
                  <a:pt x="74" y="288"/>
                </a:lnTo>
                <a:lnTo>
                  <a:pt x="72" y="243"/>
                </a:lnTo>
                <a:lnTo>
                  <a:pt x="19" y="238"/>
                </a:lnTo>
                <a:lnTo>
                  <a:pt x="50" y="205"/>
                </a:lnTo>
                <a:lnTo>
                  <a:pt x="0" y="172"/>
                </a:lnTo>
                <a:lnTo>
                  <a:pt x="59" y="155"/>
                </a:lnTo>
                <a:lnTo>
                  <a:pt x="18" y="111"/>
                </a:lnTo>
                <a:lnTo>
                  <a:pt x="81" y="104"/>
                </a:lnTo>
                <a:lnTo>
                  <a:pt x="68" y="48"/>
                </a:lnTo>
                <a:lnTo>
                  <a:pt x="128" y="85"/>
                </a:lnTo>
                <a:lnTo>
                  <a:pt x="146" y="25"/>
                </a:lnTo>
                <a:lnTo>
                  <a:pt x="172" y="58"/>
                </a:lnTo>
                <a:close/>
              </a:path>
            </a:pathLst>
          </a:custGeom>
          <a:pattFill prst="shingle">
            <a:fgClr>
              <a:schemeClr val="accent6">
                <a:lumMod val="60000"/>
                <a:lumOff val="40000"/>
              </a:schemeClr>
            </a:fgClr>
            <a:bgClr>
              <a:schemeClr val="bg1"/>
            </a:bgClr>
          </a:pattFill>
          <a:ln w="9525" cap="flat">
            <a:solidFill>
              <a:srgbClr val="3C09F7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19" name="Rectangle 16">
            <a:extLst>
              <a:ext uri="{FF2B5EF4-FFF2-40B4-BE49-F238E27FC236}">
                <a16:creationId xmlns:a16="http://schemas.microsoft.com/office/drawing/2014/main" id="{DD327EB8-8E39-465A-AFB2-E94060038F4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41500" y="4451350"/>
            <a:ext cx="410369" cy="2769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zh-CN" altLang="zh-CN" sz="1800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rPr>
              <a:t>stall</a:t>
            </a:r>
            <a:endParaRPr kumimoji="0" lang="zh-CN" altLang="zh-CN" sz="180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  <a:ea typeface="SimHei" panose="02010609060101010101" pitchFamily="49" charset="-122"/>
            </a:endParaRPr>
          </a:p>
        </p:txBody>
      </p:sp>
      <p:sp>
        <p:nvSpPr>
          <p:cNvPr id="20" name="Freeform 17">
            <a:extLst>
              <a:ext uri="{FF2B5EF4-FFF2-40B4-BE49-F238E27FC236}">
                <a16:creationId xmlns:a16="http://schemas.microsoft.com/office/drawing/2014/main" id="{74F099FE-894D-4618-9E68-CA5D5CB37B4C}"/>
              </a:ext>
            </a:extLst>
          </p:cNvPr>
          <p:cNvSpPr>
            <a:spLocks/>
          </p:cNvSpPr>
          <p:nvPr/>
        </p:nvSpPr>
        <p:spPr bwMode="auto">
          <a:xfrm>
            <a:off x="4681538" y="4230688"/>
            <a:ext cx="512763" cy="455613"/>
          </a:xfrm>
          <a:custGeom>
            <a:avLst/>
            <a:gdLst>
              <a:gd name="T0" fmla="*/ 171 w 323"/>
              <a:gd name="T1" fmla="*/ 57 h 287"/>
              <a:gd name="T2" fmla="*/ 221 w 323"/>
              <a:gd name="T3" fmla="*/ 0 h 287"/>
              <a:gd name="T4" fmla="*/ 217 w 323"/>
              <a:gd name="T5" fmla="*/ 77 h 287"/>
              <a:gd name="T6" fmla="*/ 269 w 323"/>
              <a:gd name="T7" fmla="*/ 42 h 287"/>
              <a:gd name="T8" fmla="*/ 245 w 323"/>
              <a:gd name="T9" fmla="*/ 87 h 287"/>
              <a:gd name="T10" fmla="*/ 323 w 323"/>
              <a:gd name="T11" fmla="*/ 88 h 287"/>
              <a:gd name="T12" fmla="*/ 254 w 323"/>
              <a:gd name="T13" fmla="*/ 125 h 287"/>
              <a:gd name="T14" fmla="*/ 273 w 323"/>
              <a:gd name="T15" fmla="*/ 150 h 287"/>
              <a:gd name="T16" fmla="*/ 245 w 323"/>
              <a:gd name="T17" fmla="*/ 164 h 287"/>
              <a:gd name="T18" fmla="*/ 282 w 323"/>
              <a:gd name="T19" fmla="*/ 208 h 287"/>
              <a:gd name="T20" fmla="*/ 219 w 323"/>
              <a:gd name="T21" fmla="*/ 191 h 287"/>
              <a:gd name="T22" fmla="*/ 223 w 323"/>
              <a:gd name="T23" fmla="*/ 231 h 287"/>
              <a:gd name="T24" fmla="*/ 182 w 323"/>
              <a:gd name="T25" fmla="*/ 212 h 287"/>
              <a:gd name="T26" fmla="*/ 173 w 323"/>
              <a:gd name="T27" fmla="*/ 251 h 287"/>
              <a:gd name="T28" fmla="*/ 147 w 323"/>
              <a:gd name="T29" fmla="*/ 231 h 287"/>
              <a:gd name="T30" fmla="*/ 130 w 323"/>
              <a:gd name="T31" fmla="*/ 262 h 287"/>
              <a:gd name="T32" fmla="*/ 112 w 323"/>
              <a:gd name="T33" fmla="*/ 241 h 287"/>
              <a:gd name="T34" fmla="*/ 73 w 323"/>
              <a:gd name="T35" fmla="*/ 287 h 287"/>
              <a:gd name="T36" fmla="*/ 72 w 323"/>
              <a:gd name="T37" fmla="*/ 243 h 287"/>
              <a:gd name="T38" fmla="*/ 19 w 323"/>
              <a:gd name="T39" fmla="*/ 237 h 287"/>
              <a:gd name="T40" fmla="*/ 49 w 323"/>
              <a:gd name="T41" fmla="*/ 204 h 287"/>
              <a:gd name="T42" fmla="*/ 0 w 323"/>
              <a:gd name="T43" fmla="*/ 171 h 287"/>
              <a:gd name="T44" fmla="*/ 58 w 323"/>
              <a:gd name="T45" fmla="*/ 154 h 287"/>
              <a:gd name="T46" fmla="*/ 17 w 323"/>
              <a:gd name="T47" fmla="*/ 110 h 287"/>
              <a:gd name="T48" fmla="*/ 80 w 323"/>
              <a:gd name="T49" fmla="*/ 104 h 287"/>
              <a:gd name="T50" fmla="*/ 67 w 323"/>
              <a:gd name="T51" fmla="*/ 48 h 287"/>
              <a:gd name="T52" fmla="*/ 127 w 323"/>
              <a:gd name="T53" fmla="*/ 85 h 287"/>
              <a:gd name="T54" fmla="*/ 145 w 323"/>
              <a:gd name="T55" fmla="*/ 25 h 287"/>
              <a:gd name="T56" fmla="*/ 171 w 323"/>
              <a:gd name="T57" fmla="*/ 57 h 28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323" h="287">
                <a:moveTo>
                  <a:pt x="171" y="57"/>
                </a:moveTo>
                <a:lnTo>
                  <a:pt x="221" y="0"/>
                </a:lnTo>
                <a:lnTo>
                  <a:pt x="217" y="77"/>
                </a:lnTo>
                <a:lnTo>
                  <a:pt x="269" y="42"/>
                </a:lnTo>
                <a:lnTo>
                  <a:pt x="245" y="87"/>
                </a:lnTo>
                <a:lnTo>
                  <a:pt x="323" y="88"/>
                </a:lnTo>
                <a:lnTo>
                  <a:pt x="254" y="125"/>
                </a:lnTo>
                <a:lnTo>
                  <a:pt x="273" y="150"/>
                </a:lnTo>
                <a:lnTo>
                  <a:pt x="245" y="164"/>
                </a:lnTo>
                <a:lnTo>
                  <a:pt x="282" y="208"/>
                </a:lnTo>
                <a:lnTo>
                  <a:pt x="219" y="191"/>
                </a:lnTo>
                <a:lnTo>
                  <a:pt x="223" y="231"/>
                </a:lnTo>
                <a:lnTo>
                  <a:pt x="182" y="212"/>
                </a:lnTo>
                <a:lnTo>
                  <a:pt x="173" y="251"/>
                </a:lnTo>
                <a:lnTo>
                  <a:pt x="147" y="231"/>
                </a:lnTo>
                <a:lnTo>
                  <a:pt x="130" y="262"/>
                </a:lnTo>
                <a:lnTo>
                  <a:pt x="112" y="241"/>
                </a:lnTo>
                <a:lnTo>
                  <a:pt x="73" y="287"/>
                </a:lnTo>
                <a:lnTo>
                  <a:pt x="72" y="243"/>
                </a:lnTo>
                <a:lnTo>
                  <a:pt x="19" y="237"/>
                </a:lnTo>
                <a:lnTo>
                  <a:pt x="49" y="204"/>
                </a:lnTo>
                <a:lnTo>
                  <a:pt x="0" y="171"/>
                </a:lnTo>
                <a:lnTo>
                  <a:pt x="58" y="154"/>
                </a:lnTo>
                <a:lnTo>
                  <a:pt x="17" y="110"/>
                </a:lnTo>
                <a:lnTo>
                  <a:pt x="80" y="104"/>
                </a:lnTo>
                <a:lnTo>
                  <a:pt x="67" y="48"/>
                </a:lnTo>
                <a:lnTo>
                  <a:pt x="127" y="85"/>
                </a:lnTo>
                <a:lnTo>
                  <a:pt x="145" y="25"/>
                </a:lnTo>
                <a:lnTo>
                  <a:pt x="171" y="57"/>
                </a:lnTo>
                <a:close/>
              </a:path>
            </a:pathLst>
          </a:custGeom>
          <a:pattFill prst="shingle">
            <a:fgClr>
              <a:schemeClr val="accent6">
                <a:lumMod val="60000"/>
                <a:lumOff val="40000"/>
              </a:schemeClr>
            </a:fgClr>
            <a:bgClr>
              <a:schemeClr val="bg1"/>
            </a:bgClr>
          </a:patt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21" name="Freeform 18">
            <a:extLst>
              <a:ext uri="{FF2B5EF4-FFF2-40B4-BE49-F238E27FC236}">
                <a16:creationId xmlns:a16="http://schemas.microsoft.com/office/drawing/2014/main" id="{C26EEA50-6CA5-4894-BC57-7CF3AFA8299D}"/>
              </a:ext>
            </a:extLst>
          </p:cNvPr>
          <p:cNvSpPr>
            <a:spLocks/>
          </p:cNvSpPr>
          <p:nvPr/>
        </p:nvSpPr>
        <p:spPr bwMode="auto">
          <a:xfrm>
            <a:off x="4681538" y="4230688"/>
            <a:ext cx="512763" cy="455613"/>
          </a:xfrm>
          <a:custGeom>
            <a:avLst/>
            <a:gdLst>
              <a:gd name="T0" fmla="*/ 171 w 323"/>
              <a:gd name="T1" fmla="*/ 57 h 287"/>
              <a:gd name="T2" fmla="*/ 221 w 323"/>
              <a:gd name="T3" fmla="*/ 0 h 287"/>
              <a:gd name="T4" fmla="*/ 217 w 323"/>
              <a:gd name="T5" fmla="*/ 77 h 287"/>
              <a:gd name="T6" fmla="*/ 269 w 323"/>
              <a:gd name="T7" fmla="*/ 42 h 287"/>
              <a:gd name="T8" fmla="*/ 245 w 323"/>
              <a:gd name="T9" fmla="*/ 87 h 287"/>
              <a:gd name="T10" fmla="*/ 323 w 323"/>
              <a:gd name="T11" fmla="*/ 88 h 287"/>
              <a:gd name="T12" fmla="*/ 254 w 323"/>
              <a:gd name="T13" fmla="*/ 125 h 287"/>
              <a:gd name="T14" fmla="*/ 273 w 323"/>
              <a:gd name="T15" fmla="*/ 150 h 287"/>
              <a:gd name="T16" fmla="*/ 245 w 323"/>
              <a:gd name="T17" fmla="*/ 164 h 287"/>
              <a:gd name="T18" fmla="*/ 282 w 323"/>
              <a:gd name="T19" fmla="*/ 208 h 287"/>
              <a:gd name="T20" fmla="*/ 219 w 323"/>
              <a:gd name="T21" fmla="*/ 191 h 287"/>
              <a:gd name="T22" fmla="*/ 223 w 323"/>
              <a:gd name="T23" fmla="*/ 231 h 287"/>
              <a:gd name="T24" fmla="*/ 182 w 323"/>
              <a:gd name="T25" fmla="*/ 212 h 287"/>
              <a:gd name="T26" fmla="*/ 173 w 323"/>
              <a:gd name="T27" fmla="*/ 251 h 287"/>
              <a:gd name="T28" fmla="*/ 147 w 323"/>
              <a:gd name="T29" fmla="*/ 231 h 287"/>
              <a:gd name="T30" fmla="*/ 130 w 323"/>
              <a:gd name="T31" fmla="*/ 262 h 287"/>
              <a:gd name="T32" fmla="*/ 112 w 323"/>
              <a:gd name="T33" fmla="*/ 241 h 287"/>
              <a:gd name="T34" fmla="*/ 73 w 323"/>
              <a:gd name="T35" fmla="*/ 287 h 287"/>
              <a:gd name="T36" fmla="*/ 72 w 323"/>
              <a:gd name="T37" fmla="*/ 243 h 287"/>
              <a:gd name="T38" fmla="*/ 19 w 323"/>
              <a:gd name="T39" fmla="*/ 237 h 287"/>
              <a:gd name="T40" fmla="*/ 49 w 323"/>
              <a:gd name="T41" fmla="*/ 204 h 287"/>
              <a:gd name="T42" fmla="*/ 0 w 323"/>
              <a:gd name="T43" fmla="*/ 171 h 287"/>
              <a:gd name="T44" fmla="*/ 58 w 323"/>
              <a:gd name="T45" fmla="*/ 154 h 287"/>
              <a:gd name="T46" fmla="*/ 17 w 323"/>
              <a:gd name="T47" fmla="*/ 110 h 287"/>
              <a:gd name="T48" fmla="*/ 80 w 323"/>
              <a:gd name="T49" fmla="*/ 104 h 287"/>
              <a:gd name="T50" fmla="*/ 67 w 323"/>
              <a:gd name="T51" fmla="*/ 48 h 287"/>
              <a:gd name="T52" fmla="*/ 127 w 323"/>
              <a:gd name="T53" fmla="*/ 85 h 287"/>
              <a:gd name="T54" fmla="*/ 145 w 323"/>
              <a:gd name="T55" fmla="*/ 25 h 287"/>
              <a:gd name="T56" fmla="*/ 171 w 323"/>
              <a:gd name="T57" fmla="*/ 57 h 28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323" h="287">
                <a:moveTo>
                  <a:pt x="171" y="57"/>
                </a:moveTo>
                <a:lnTo>
                  <a:pt x="221" y="0"/>
                </a:lnTo>
                <a:lnTo>
                  <a:pt x="217" y="77"/>
                </a:lnTo>
                <a:lnTo>
                  <a:pt x="269" y="42"/>
                </a:lnTo>
                <a:lnTo>
                  <a:pt x="245" y="87"/>
                </a:lnTo>
                <a:lnTo>
                  <a:pt x="323" y="88"/>
                </a:lnTo>
                <a:lnTo>
                  <a:pt x="254" y="125"/>
                </a:lnTo>
                <a:lnTo>
                  <a:pt x="273" y="150"/>
                </a:lnTo>
                <a:lnTo>
                  <a:pt x="245" y="164"/>
                </a:lnTo>
                <a:lnTo>
                  <a:pt x="282" y="208"/>
                </a:lnTo>
                <a:lnTo>
                  <a:pt x="219" y="191"/>
                </a:lnTo>
                <a:lnTo>
                  <a:pt x="223" y="231"/>
                </a:lnTo>
                <a:lnTo>
                  <a:pt x="182" y="212"/>
                </a:lnTo>
                <a:lnTo>
                  <a:pt x="173" y="251"/>
                </a:lnTo>
                <a:lnTo>
                  <a:pt x="147" y="231"/>
                </a:lnTo>
                <a:lnTo>
                  <a:pt x="130" y="262"/>
                </a:lnTo>
                <a:lnTo>
                  <a:pt x="112" y="241"/>
                </a:lnTo>
                <a:lnTo>
                  <a:pt x="73" y="287"/>
                </a:lnTo>
                <a:lnTo>
                  <a:pt x="72" y="243"/>
                </a:lnTo>
                <a:lnTo>
                  <a:pt x="19" y="237"/>
                </a:lnTo>
                <a:lnTo>
                  <a:pt x="49" y="204"/>
                </a:lnTo>
                <a:lnTo>
                  <a:pt x="0" y="171"/>
                </a:lnTo>
                <a:lnTo>
                  <a:pt x="58" y="154"/>
                </a:lnTo>
                <a:lnTo>
                  <a:pt x="17" y="110"/>
                </a:lnTo>
                <a:lnTo>
                  <a:pt x="80" y="104"/>
                </a:lnTo>
                <a:lnTo>
                  <a:pt x="67" y="48"/>
                </a:lnTo>
                <a:lnTo>
                  <a:pt x="127" y="85"/>
                </a:lnTo>
                <a:lnTo>
                  <a:pt x="145" y="25"/>
                </a:lnTo>
                <a:lnTo>
                  <a:pt x="171" y="57"/>
                </a:lnTo>
                <a:close/>
              </a:path>
            </a:pathLst>
          </a:custGeom>
          <a:pattFill prst="shingle">
            <a:fgClr>
              <a:schemeClr val="accent6">
                <a:lumMod val="60000"/>
                <a:lumOff val="40000"/>
              </a:schemeClr>
            </a:fgClr>
            <a:bgClr>
              <a:schemeClr val="bg1"/>
            </a:bgClr>
          </a:pattFill>
          <a:ln w="9525" cap="flat">
            <a:solidFill>
              <a:srgbClr val="3C09F7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22" name="Freeform 19">
            <a:extLst>
              <a:ext uri="{FF2B5EF4-FFF2-40B4-BE49-F238E27FC236}">
                <a16:creationId xmlns:a16="http://schemas.microsoft.com/office/drawing/2014/main" id="{7FEB5746-24CF-4B87-BEC5-0CE170C773E4}"/>
              </a:ext>
            </a:extLst>
          </p:cNvPr>
          <p:cNvSpPr>
            <a:spLocks/>
          </p:cNvSpPr>
          <p:nvPr/>
        </p:nvSpPr>
        <p:spPr bwMode="auto">
          <a:xfrm>
            <a:off x="5194300" y="4230688"/>
            <a:ext cx="512763" cy="455613"/>
          </a:xfrm>
          <a:custGeom>
            <a:avLst/>
            <a:gdLst>
              <a:gd name="T0" fmla="*/ 171 w 323"/>
              <a:gd name="T1" fmla="*/ 57 h 287"/>
              <a:gd name="T2" fmla="*/ 221 w 323"/>
              <a:gd name="T3" fmla="*/ 0 h 287"/>
              <a:gd name="T4" fmla="*/ 217 w 323"/>
              <a:gd name="T5" fmla="*/ 77 h 287"/>
              <a:gd name="T6" fmla="*/ 269 w 323"/>
              <a:gd name="T7" fmla="*/ 42 h 287"/>
              <a:gd name="T8" fmla="*/ 245 w 323"/>
              <a:gd name="T9" fmla="*/ 87 h 287"/>
              <a:gd name="T10" fmla="*/ 323 w 323"/>
              <a:gd name="T11" fmla="*/ 88 h 287"/>
              <a:gd name="T12" fmla="*/ 254 w 323"/>
              <a:gd name="T13" fmla="*/ 125 h 287"/>
              <a:gd name="T14" fmla="*/ 273 w 323"/>
              <a:gd name="T15" fmla="*/ 150 h 287"/>
              <a:gd name="T16" fmla="*/ 245 w 323"/>
              <a:gd name="T17" fmla="*/ 164 h 287"/>
              <a:gd name="T18" fmla="*/ 282 w 323"/>
              <a:gd name="T19" fmla="*/ 208 h 287"/>
              <a:gd name="T20" fmla="*/ 219 w 323"/>
              <a:gd name="T21" fmla="*/ 191 h 287"/>
              <a:gd name="T22" fmla="*/ 223 w 323"/>
              <a:gd name="T23" fmla="*/ 231 h 287"/>
              <a:gd name="T24" fmla="*/ 182 w 323"/>
              <a:gd name="T25" fmla="*/ 212 h 287"/>
              <a:gd name="T26" fmla="*/ 174 w 323"/>
              <a:gd name="T27" fmla="*/ 251 h 287"/>
              <a:gd name="T28" fmla="*/ 148 w 323"/>
              <a:gd name="T29" fmla="*/ 231 h 287"/>
              <a:gd name="T30" fmla="*/ 130 w 323"/>
              <a:gd name="T31" fmla="*/ 262 h 287"/>
              <a:gd name="T32" fmla="*/ 113 w 323"/>
              <a:gd name="T33" fmla="*/ 241 h 287"/>
              <a:gd name="T34" fmla="*/ 74 w 323"/>
              <a:gd name="T35" fmla="*/ 287 h 287"/>
              <a:gd name="T36" fmla="*/ 72 w 323"/>
              <a:gd name="T37" fmla="*/ 243 h 287"/>
              <a:gd name="T38" fmla="*/ 19 w 323"/>
              <a:gd name="T39" fmla="*/ 237 h 287"/>
              <a:gd name="T40" fmla="*/ 50 w 323"/>
              <a:gd name="T41" fmla="*/ 204 h 287"/>
              <a:gd name="T42" fmla="*/ 0 w 323"/>
              <a:gd name="T43" fmla="*/ 171 h 287"/>
              <a:gd name="T44" fmla="*/ 59 w 323"/>
              <a:gd name="T45" fmla="*/ 154 h 287"/>
              <a:gd name="T46" fmla="*/ 17 w 323"/>
              <a:gd name="T47" fmla="*/ 110 h 287"/>
              <a:gd name="T48" fmla="*/ 80 w 323"/>
              <a:gd name="T49" fmla="*/ 104 h 287"/>
              <a:gd name="T50" fmla="*/ 67 w 323"/>
              <a:gd name="T51" fmla="*/ 48 h 287"/>
              <a:gd name="T52" fmla="*/ 128 w 323"/>
              <a:gd name="T53" fmla="*/ 85 h 287"/>
              <a:gd name="T54" fmla="*/ 145 w 323"/>
              <a:gd name="T55" fmla="*/ 25 h 287"/>
              <a:gd name="T56" fmla="*/ 171 w 323"/>
              <a:gd name="T57" fmla="*/ 57 h 28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323" h="287">
                <a:moveTo>
                  <a:pt x="171" y="57"/>
                </a:moveTo>
                <a:lnTo>
                  <a:pt x="221" y="0"/>
                </a:lnTo>
                <a:lnTo>
                  <a:pt x="217" y="77"/>
                </a:lnTo>
                <a:lnTo>
                  <a:pt x="269" y="42"/>
                </a:lnTo>
                <a:lnTo>
                  <a:pt x="245" y="87"/>
                </a:lnTo>
                <a:lnTo>
                  <a:pt x="323" y="88"/>
                </a:lnTo>
                <a:lnTo>
                  <a:pt x="254" y="125"/>
                </a:lnTo>
                <a:lnTo>
                  <a:pt x="273" y="150"/>
                </a:lnTo>
                <a:lnTo>
                  <a:pt x="245" y="164"/>
                </a:lnTo>
                <a:lnTo>
                  <a:pt x="282" y="208"/>
                </a:lnTo>
                <a:lnTo>
                  <a:pt x="219" y="191"/>
                </a:lnTo>
                <a:lnTo>
                  <a:pt x="223" y="231"/>
                </a:lnTo>
                <a:lnTo>
                  <a:pt x="182" y="212"/>
                </a:lnTo>
                <a:lnTo>
                  <a:pt x="174" y="251"/>
                </a:lnTo>
                <a:lnTo>
                  <a:pt x="148" y="231"/>
                </a:lnTo>
                <a:lnTo>
                  <a:pt x="130" y="262"/>
                </a:lnTo>
                <a:lnTo>
                  <a:pt x="113" y="241"/>
                </a:lnTo>
                <a:lnTo>
                  <a:pt x="74" y="287"/>
                </a:lnTo>
                <a:lnTo>
                  <a:pt x="72" y="243"/>
                </a:lnTo>
                <a:lnTo>
                  <a:pt x="19" y="237"/>
                </a:lnTo>
                <a:lnTo>
                  <a:pt x="50" y="204"/>
                </a:lnTo>
                <a:lnTo>
                  <a:pt x="0" y="171"/>
                </a:lnTo>
                <a:lnTo>
                  <a:pt x="59" y="154"/>
                </a:lnTo>
                <a:lnTo>
                  <a:pt x="17" y="110"/>
                </a:lnTo>
                <a:lnTo>
                  <a:pt x="80" y="104"/>
                </a:lnTo>
                <a:lnTo>
                  <a:pt x="67" y="48"/>
                </a:lnTo>
                <a:lnTo>
                  <a:pt x="128" y="85"/>
                </a:lnTo>
                <a:lnTo>
                  <a:pt x="145" y="25"/>
                </a:lnTo>
                <a:lnTo>
                  <a:pt x="171" y="57"/>
                </a:lnTo>
                <a:close/>
              </a:path>
            </a:pathLst>
          </a:custGeom>
          <a:pattFill prst="shingle">
            <a:fgClr>
              <a:schemeClr val="accent6">
                <a:lumMod val="60000"/>
                <a:lumOff val="40000"/>
              </a:schemeClr>
            </a:fgClr>
            <a:bgClr>
              <a:schemeClr val="bg1"/>
            </a:bgClr>
          </a:patt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23" name="Freeform 20">
            <a:extLst>
              <a:ext uri="{FF2B5EF4-FFF2-40B4-BE49-F238E27FC236}">
                <a16:creationId xmlns:a16="http://schemas.microsoft.com/office/drawing/2014/main" id="{94DAEFE4-E244-42F4-BF45-BF98BB42BC38}"/>
              </a:ext>
            </a:extLst>
          </p:cNvPr>
          <p:cNvSpPr>
            <a:spLocks/>
          </p:cNvSpPr>
          <p:nvPr/>
        </p:nvSpPr>
        <p:spPr bwMode="auto">
          <a:xfrm>
            <a:off x="5194300" y="4230688"/>
            <a:ext cx="512763" cy="455613"/>
          </a:xfrm>
          <a:custGeom>
            <a:avLst/>
            <a:gdLst>
              <a:gd name="T0" fmla="*/ 171 w 323"/>
              <a:gd name="T1" fmla="*/ 57 h 287"/>
              <a:gd name="T2" fmla="*/ 221 w 323"/>
              <a:gd name="T3" fmla="*/ 0 h 287"/>
              <a:gd name="T4" fmla="*/ 217 w 323"/>
              <a:gd name="T5" fmla="*/ 77 h 287"/>
              <a:gd name="T6" fmla="*/ 269 w 323"/>
              <a:gd name="T7" fmla="*/ 42 h 287"/>
              <a:gd name="T8" fmla="*/ 245 w 323"/>
              <a:gd name="T9" fmla="*/ 87 h 287"/>
              <a:gd name="T10" fmla="*/ 323 w 323"/>
              <a:gd name="T11" fmla="*/ 88 h 287"/>
              <a:gd name="T12" fmla="*/ 254 w 323"/>
              <a:gd name="T13" fmla="*/ 125 h 287"/>
              <a:gd name="T14" fmla="*/ 273 w 323"/>
              <a:gd name="T15" fmla="*/ 150 h 287"/>
              <a:gd name="T16" fmla="*/ 245 w 323"/>
              <a:gd name="T17" fmla="*/ 164 h 287"/>
              <a:gd name="T18" fmla="*/ 282 w 323"/>
              <a:gd name="T19" fmla="*/ 208 h 287"/>
              <a:gd name="T20" fmla="*/ 219 w 323"/>
              <a:gd name="T21" fmla="*/ 191 h 287"/>
              <a:gd name="T22" fmla="*/ 223 w 323"/>
              <a:gd name="T23" fmla="*/ 231 h 287"/>
              <a:gd name="T24" fmla="*/ 182 w 323"/>
              <a:gd name="T25" fmla="*/ 212 h 287"/>
              <a:gd name="T26" fmla="*/ 174 w 323"/>
              <a:gd name="T27" fmla="*/ 251 h 287"/>
              <a:gd name="T28" fmla="*/ 148 w 323"/>
              <a:gd name="T29" fmla="*/ 231 h 287"/>
              <a:gd name="T30" fmla="*/ 130 w 323"/>
              <a:gd name="T31" fmla="*/ 262 h 287"/>
              <a:gd name="T32" fmla="*/ 113 w 323"/>
              <a:gd name="T33" fmla="*/ 241 h 287"/>
              <a:gd name="T34" fmla="*/ 74 w 323"/>
              <a:gd name="T35" fmla="*/ 287 h 287"/>
              <a:gd name="T36" fmla="*/ 72 w 323"/>
              <a:gd name="T37" fmla="*/ 243 h 287"/>
              <a:gd name="T38" fmla="*/ 19 w 323"/>
              <a:gd name="T39" fmla="*/ 237 h 287"/>
              <a:gd name="T40" fmla="*/ 50 w 323"/>
              <a:gd name="T41" fmla="*/ 204 h 287"/>
              <a:gd name="T42" fmla="*/ 0 w 323"/>
              <a:gd name="T43" fmla="*/ 171 h 287"/>
              <a:gd name="T44" fmla="*/ 59 w 323"/>
              <a:gd name="T45" fmla="*/ 154 h 287"/>
              <a:gd name="T46" fmla="*/ 17 w 323"/>
              <a:gd name="T47" fmla="*/ 110 h 287"/>
              <a:gd name="T48" fmla="*/ 80 w 323"/>
              <a:gd name="T49" fmla="*/ 104 h 287"/>
              <a:gd name="T50" fmla="*/ 67 w 323"/>
              <a:gd name="T51" fmla="*/ 48 h 287"/>
              <a:gd name="T52" fmla="*/ 128 w 323"/>
              <a:gd name="T53" fmla="*/ 85 h 287"/>
              <a:gd name="T54" fmla="*/ 145 w 323"/>
              <a:gd name="T55" fmla="*/ 25 h 287"/>
              <a:gd name="T56" fmla="*/ 171 w 323"/>
              <a:gd name="T57" fmla="*/ 57 h 28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323" h="287">
                <a:moveTo>
                  <a:pt x="171" y="57"/>
                </a:moveTo>
                <a:lnTo>
                  <a:pt x="221" y="0"/>
                </a:lnTo>
                <a:lnTo>
                  <a:pt x="217" y="77"/>
                </a:lnTo>
                <a:lnTo>
                  <a:pt x="269" y="42"/>
                </a:lnTo>
                <a:lnTo>
                  <a:pt x="245" y="87"/>
                </a:lnTo>
                <a:lnTo>
                  <a:pt x="323" y="88"/>
                </a:lnTo>
                <a:lnTo>
                  <a:pt x="254" y="125"/>
                </a:lnTo>
                <a:lnTo>
                  <a:pt x="273" y="150"/>
                </a:lnTo>
                <a:lnTo>
                  <a:pt x="245" y="164"/>
                </a:lnTo>
                <a:lnTo>
                  <a:pt x="282" y="208"/>
                </a:lnTo>
                <a:lnTo>
                  <a:pt x="219" y="191"/>
                </a:lnTo>
                <a:lnTo>
                  <a:pt x="223" y="231"/>
                </a:lnTo>
                <a:lnTo>
                  <a:pt x="182" y="212"/>
                </a:lnTo>
                <a:lnTo>
                  <a:pt x="174" y="251"/>
                </a:lnTo>
                <a:lnTo>
                  <a:pt x="148" y="231"/>
                </a:lnTo>
                <a:lnTo>
                  <a:pt x="130" y="262"/>
                </a:lnTo>
                <a:lnTo>
                  <a:pt x="113" y="241"/>
                </a:lnTo>
                <a:lnTo>
                  <a:pt x="74" y="287"/>
                </a:lnTo>
                <a:lnTo>
                  <a:pt x="72" y="243"/>
                </a:lnTo>
                <a:lnTo>
                  <a:pt x="19" y="237"/>
                </a:lnTo>
                <a:lnTo>
                  <a:pt x="50" y="204"/>
                </a:lnTo>
                <a:lnTo>
                  <a:pt x="0" y="171"/>
                </a:lnTo>
                <a:lnTo>
                  <a:pt x="59" y="154"/>
                </a:lnTo>
                <a:lnTo>
                  <a:pt x="17" y="110"/>
                </a:lnTo>
                <a:lnTo>
                  <a:pt x="80" y="104"/>
                </a:lnTo>
                <a:lnTo>
                  <a:pt x="67" y="48"/>
                </a:lnTo>
                <a:lnTo>
                  <a:pt x="128" y="85"/>
                </a:lnTo>
                <a:lnTo>
                  <a:pt x="145" y="25"/>
                </a:lnTo>
                <a:lnTo>
                  <a:pt x="171" y="57"/>
                </a:lnTo>
                <a:close/>
              </a:path>
            </a:pathLst>
          </a:custGeom>
          <a:pattFill prst="shingle">
            <a:fgClr>
              <a:schemeClr val="accent6">
                <a:lumMod val="60000"/>
                <a:lumOff val="40000"/>
              </a:schemeClr>
            </a:fgClr>
            <a:bgClr>
              <a:schemeClr val="bg1"/>
            </a:bgClr>
          </a:pattFill>
          <a:ln w="9525" cap="flat">
            <a:solidFill>
              <a:srgbClr val="3C09F7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24" name="Freeform 21">
            <a:extLst>
              <a:ext uri="{FF2B5EF4-FFF2-40B4-BE49-F238E27FC236}">
                <a16:creationId xmlns:a16="http://schemas.microsoft.com/office/drawing/2014/main" id="{F497D3CB-719A-4A24-972D-D5272EC15B83}"/>
              </a:ext>
            </a:extLst>
          </p:cNvPr>
          <p:cNvSpPr>
            <a:spLocks/>
          </p:cNvSpPr>
          <p:nvPr/>
        </p:nvSpPr>
        <p:spPr bwMode="auto">
          <a:xfrm>
            <a:off x="5764213" y="4230688"/>
            <a:ext cx="512763" cy="455613"/>
          </a:xfrm>
          <a:custGeom>
            <a:avLst/>
            <a:gdLst>
              <a:gd name="T0" fmla="*/ 172 w 323"/>
              <a:gd name="T1" fmla="*/ 57 h 287"/>
              <a:gd name="T2" fmla="*/ 221 w 323"/>
              <a:gd name="T3" fmla="*/ 0 h 287"/>
              <a:gd name="T4" fmla="*/ 217 w 323"/>
              <a:gd name="T5" fmla="*/ 77 h 287"/>
              <a:gd name="T6" fmla="*/ 269 w 323"/>
              <a:gd name="T7" fmla="*/ 42 h 287"/>
              <a:gd name="T8" fmla="*/ 245 w 323"/>
              <a:gd name="T9" fmla="*/ 87 h 287"/>
              <a:gd name="T10" fmla="*/ 323 w 323"/>
              <a:gd name="T11" fmla="*/ 88 h 287"/>
              <a:gd name="T12" fmla="*/ 254 w 323"/>
              <a:gd name="T13" fmla="*/ 125 h 287"/>
              <a:gd name="T14" fmla="*/ 273 w 323"/>
              <a:gd name="T15" fmla="*/ 150 h 287"/>
              <a:gd name="T16" fmla="*/ 245 w 323"/>
              <a:gd name="T17" fmla="*/ 164 h 287"/>
              <a:gd name="T18" fmla="*/ 282 w 323"/>
              <a:gd name="T19" fmla="*/ 208 h 287"/>
              <a:gd name="T20" fmla="*/ 219 w 323"/>
              <a:gd name="T21" fmla="*/ 191 h 287"/>
              <a:gd name="T22" fmla="*/ 223 w 323"/>
              <a:gd name="T23" fmla="*/ 231 h 287"/>
              <a:gd name="T24" fmla="*/ 182 w 323"/>
              <a:gd name="T25" fmla="*/ 212 h 287"/>
              <a:gd name="T26" fmla="*/ 174 w 323"/>
              <a:gd name="T27" fmla="*/ 251 h 287"/>
              <a:gd name="T28" fmla="*/ 148 w 323"/>
              <a:gd name="T29" fmla="*/ 231 h 287"/>
              <a:gd name="T30" fmla="*/ 130 w 323"/>
              <a:gd name="T31" fmla="*/ 262 h 287"/>
              <a:gd name="T32" fmla="*/ 113 w 323"/>
              <a:gd name="T33" fmla="*/ 241 h 287"/>
              <a:gd name="T34" fmla="*/ 74 w 323"/>
              <a:gd name="T35" fmla="*/ 287 h 287"/>
              <a:gd name="T36" fmla="*/ 72 w 323"/>
              <a:gd name="T37" fmla="*/ 243 h 287"/>
              <a:gd name="T38" fmla="*/ 19 w 323"/>
              <a:gd name="T39" fmla="*/ 237 h 287"/>
              <a:gd name="T40" fmla="*/ 50 w 323"/>
              <a:gd name="T41" fmla="*/ 204 h 287"/>
              <a:gd name="T42" fmla="*/ 0 w 323"/>
              <a:gd name="T43" fmla="*/ 171 h 287"/>
              <a:gd name="T44" fmla="*/ 59 w 323"/>
              <a:gd name="T45" fmla="*/ 154 h 287"/>
              <a:gd name="T46" fmla="*/ 18 w 323"/>
              <a:gd name="T47" fmla="*/ 110 h 287"/>
              <a:gd name="T48" fmla="*/ 80 w 323"/>
              <a:gd name="T49" fmla="*/ 104 h 287"/>
              <a:gd name="T50" fmla="*/ 67 w 323"/>
              <a:gd name="T51" fmla="*/ 48 h 287"/>
              <a:gd name="T52" fmla="*/ 128 w 323"/>
              <a:gd name="T53" fmla="*/ 85 h 287"/>
              <a:gd name="T54" fmla="*/ 145 w 323"/>
              <a:gd name="T55" fmla="*/ 25 h 287"/>
              <a:gd name="T56" fmla="*/ 172 w 323"/>
              <a:gd name="T57" fmla="*/ 57 h 28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323" h="287">
                <a:moveTo>
                  <a:pt x="172" y="57"/>
                </a:moveTo>
                <a:lnTo>
                  <a:pt x="221" y="0"/>
                </a:lnTo>
                <a:lnTo>
                  <a:pt x="217" y="77"/>
                </a:lnTo>
                <a:lnTo>
                  <a:pt x="269" y="42"/>
                </a:lnTo>
                <a:lnTo>
                  <a:pt x="245" y="87"/>
                </a:lnTo>
                <a:lnTo>
                  <a:pt x="323" y="88"/>
                </a:lnTo>
                <a:lnTo>
                  <a:pt x="254" y="125"/>
                </a:lnTo>
                <a:lnTo>
                  <a:pt x="273" y="150"/>
                </a:lnTo>
                <a:lnTo>
                  <a:pt x="245" y="164"/>
                </a:lnTo>
                <a:lnTo>
                  <a:pt x="282" y="208"/>
                </a:lnTo>
                <a:lnTo>
                  <a:pt x="219" y="191"/>
                </a:lnTo>
                <a:lnTo>
                  <a:pt x="223" y="231"/>
                </a:lnTo>
                <a:lnTo>
                  <a:pt x="182" y="212"/>
                </a:lnTo>
                <a:lnTo>
                  <a:pt x="174" y="251"/>
                </a:lnTo>
                <a:lnTo>
                  <a:pt x="148" y="231"/>
                </a:lnTo>
                <a:lnTo>
                  <a:pt x="130" y="262"/>
                </a:lnTo>
                <a:lnTo>
                  <a:pt x="113" y="241"/>
                </a:lnTo>
                <a:lnTo>
                  <a:pt x="74" y="287"/>
                </a:lnTo>
                <a:lnTo>
                  <a:pt x="72" y="243"/>
                </a:lnTo>
                <a:lnTo>
                  <a:pt x="19" y="237"/>
                </a:lnTo>
                <a:lnTo>
                  <a:pt x="50" y="204"/>
                </a:lnTo>
                <a:lnTo>
                  <a:pt x="0" y="171"/>
                </a:lnTo>
                <a:lnTo>
                  <a:pt x="59" y="154"/>
                </a:lnTo>
                <a:lnTo>
                  <a:pt x="18" y="110"/>
                </a:lnTo>
                <a:lnTo>
                  <a:pt x="80" y="104"/>
                </a:lnTo>
                <a:lnTo>
                  <a:pt x="67" y="48"/>
                </a:lnTo>
                <a:lnTo>
                  <a:pt x="128" y="85"/>
                </a:lnTo>
                <a:lnTo>
                  <a:pt x="145" y="25"/>
                </a:lnTo>
                <a:lnTo>
                  <a:pt x="172" y="57"/>
                </a:lnTo>
                <a:close/>
              </a:path>
            </a:pathLst>
          </a:custGeom>
          <a:pattFill prst="shingle">
            <a:fgClr>
              <a:schemeClr val="accent6">
                <a:lumMod val="60000"/>
                <a:lumOff val="40000"/>
              </a:schemeClr>
            </a:fgClr>
            <a:bgClr>
              <a:schemeClr val="bg1"/>
            </a:bgClr>
          </a:patt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25" name="Freeform 22">
            <a:extLst>
              <a:ext uri="{FF2B5EF4-FFF2-40B4-BE49-F238E27FC236}">
                <a16:creationId xmlns:a16="http://schemas.microsoft.com/office/drawing/2014/main" id="{AA1D8784-2E26-4180-95D5-BDB7D8C1294E}"/>
              </a:ext>
            </a:extLst>
          </p:cNvPr>
          <p:cNvSpPr>
            <a:spLocks/>
          </p:cNvSpPr>
          <p:nvPr/>
        </p:nvSpPr>
        <p:spPr bwMode="auto">
          <a:xfrm>
            <a:off x="5764213" y="4230688"/>
            <a:ext cx="512763" cy="455613"/>
          </a:xfrm>
          <a:custGeom>
            <a:avLst/>
            <a:gdLst>
              <a:gd name="T0" fmla="*/ 172 w 323"/>
              <a:gd name="T1" fmla="*/ 57 h 287"/>
              <a:gd name="T2" fmla="*/ 221 w 323"/>
              <a:gd name="T3" fmla="*/ 0 h 287"/>
              <a:gd name="T4" fmla="*/ 217 w 323"/>
              <a:gd name="T5" fmla="*/ 77 h 287"/>
              <a:gd name="T6" fmla="*/ 269 w 323"/>
              <a:gd name="T7" fmla="*/ 42 h 287"/>
              <a:gd name="T8" fmla="*/ 245 w 323"/>
              <a:gd name="T9" fmla="*/ 87 h 287"/>
              <a:gd name="T10" fmla="*/ 323 w 323"/>
              <a:gd name="T11" fmla="*/ 88 h 287"/>
              <a:gd name="T12" fmla="*/ 254 w 323"/>
              <a:gd name="T13" fmla="*/ 125 h 287"/>
              <a:gd name="T14" fmla="*/ 273 w 323"/>
              <a:gd name="T15" fmla="*/ 150 h 287"/>
              <a:gd name="T16" fmla="*/ 245 w 323"/>
              <a:gd name="T17" fmla="*/ 164 h 287"/>
              <a:gd name="T18" fmla="*/ 282 w 323"/>
              <a:gd name="T19" fmla="*/ 208 h 287"/>
              <a:gd name="T20" fmla="*/ 219 w 323"/>
              <a:gd name="T21" fmla="*/ 191 h 287"/>
              <a:gd name="T22" fmla="*/ 223 w 323"/>
              <a:gd name="T23" fmla="*/ 231 h 287"/>
              <a:gd name="T24" fmla="*/ 182 w 323"/>
              <a:gd name="T25" fmla="*/ 212 h 287"/>
              <a:gd name="T26" fmla="*/ 174 w 323"/>
              <a:gd name="T27" fmla="*/ 251 h 287"/>
              <a:gd name="T28" fmla="*/ 148 w 323"/>
              <a:gd name="T29" fmla="*/ 231 h 287"/>
              <a:gd name="T30" fmla="*/ 130 w 323"/>
              <a:gd name="T31" fmla="*/ 262 h 287"/>
              <a:gd name="T32" fmla="*/ 113 w 323"/>
              <a:gd name="T33" fmla="*/ 241 h 287"/>
              <a:gd name="T34" fmla="*/ 74 w 323"/>
              <a:gd name="T35" fmla="*/ 287 h 287"/>
              <a:gd name="T36" fmla="*/ 72 w 323"/>
              <a:gd name="T37" fmla="*/ 243 h 287"/>
              <a:gd name="T38" fmla="*/ 19 w 323"/>
              <a:gd name="T39" fmla="*/ 237 h 287"/>
              <a:gd name="T40" fmla="*/ 50 w 323"/>
              <a:gd name="T41" fmla="*/ 204 h 287"/>
              <a:gd name="T42" fmla="*/ 0 w 323"/>
              <a:gd name="T43" fmla="*/ 171 h 287"/>
              <a:gd name="T44" fmla="*/ 59 w 323"/>
              <a:gd name="T45" fmla="*/ 154 h 287"/>
              <a:gd name="T46" fmla="*/ 18 w 323"/>
              <a:gd name="T47" fmla="*/ 110 h 287"/>
              <a:gd name="T48" fmla="*/ 80 w 323"/>
              <a:gd name="T49" fmla="*/ 104 h 287"/>
              <a:gd name="T50" fmla="*/ 67 w 323"/>
              <a:gd name="T51" fmla="*/ 48 h 287"/>
              <a:gd name="T52" fmla="*/ 128 w 323"/>
              <a:gd name="T53" fmla="*/ 85 h 287"/>
              <a:gd name="T54" fmla="*/ 145 w 323"/>
              <a:gd name="T55" fmla="*/ 25 h 287"/>
              <a:gd name="T56" fmla="*/ 172 w 323"/>
              <a:gd name="T57" fmla="*/ 57 h 28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323" h="287">
                <a:moveTo>
                  <a:pt x="172" y="57"/>
                </a:moveTo>
                <a:lnTo>
                  <a:pt x="221" y="0"/>
                </a:lnTo>
                <a:lnTo>
                  <a:pt x="217" y="77"/>
                </a:lnTo>
                <a:lnTo>
                  <a:pt x="269" y="42"/>
                </a:lnTo>
                <a:lnTo>
                  <a:pt x="245" y="87"/>
                </a:lnTo>
                <a:lnTo>
                  <a:pt x="323" y="88"/>
                </a:lnTo>
                <a:lnTo>
                  <a:pt x="254" y="125"/>
                </a:lnTo>
                <a:lnTo>
                  <a:pt x="273" y="150"/>
                </a:lnTo>
                <a:lnTo>
                  <a:pt x="245" y="164"/>
                </a:lnTo>
                <a:lnTo>
                  <a:pt x="282" y="208"/>
                </a:lnTo>
                <a:lnTo>
                  <a:pt x="219" y="191"/>
                </a:lnTo>
                <a:lnTo>
                  <a:pt x="223" y="231"/>
                </a:lnTo>
                <a:lnTo>
                  <a:pt x="182" y="212"/>
                </a:lnTo>
                <a:lnTo>
                  <a:pt x="174" y="251"/>
                </a:lnTo>
                <a:lnTo>
                  <a:pt x="148" y="231"/>
                </a:lnTo>
                <a:lnTo>
                  <a:pt x="130" y="262"/>
                </a:lnTo>
                <a:lnTo>
                  <a:pt x="113" y="241"/>
                </a:lnTo>
                <a:lnTo>
                  <a:pt x="74" y="287"/>
                </a:lnTo>
                <a:lnTo>
                  <a:pt x="72" y="243"/>
                </a:lnTo>
                <a:lnTo>
                  <a:pt x="19" y="237"/>
                </a:lnTo>
                <a:lnTo>
                  <a:pt x="50" y="204"/>
                </a:lnTo>
                <a:lnTo>
                  <a:pt x="0" y="171"/>
                </a:lnTo>
                <a:lnTo>
                  <a:pt x="59" y="154"/>
                </a:lnTo>
                <a:lnTo>
                  <a:pt x="18" y="110"/>
                </a:lnTo>
                <a:lnTo>
                  <a:pt x="80" y="104"/>
                </a:lnTo>
                <a:lnTo>
                  <a:pt x="67" y="48"/>
                </a:lnTo>
                <a:lnTo>
                  <a:pt x="128" y="85"/>
                </a:lnTo>
                <a:lnTo>
                  <a:pt x="145" y="25"/>
                </a:lnTo>
                <a:lnTo>
                  <a:pt x="172" y="57"/>
                </a:lnTo>
                <a:close/>
              </a:path>
            </a:pathLst>
          </a:custGeom>
          <a:pattFill prst="shingle">
            <a:fgClr>
              <a:schemeClr val="accent6">
                <a:lumMod val="60000"/>
                <a:lumOff val="40000"/>
              </a:schemeClr>
            </a:fgClr>
            <a:bgClr>
              <a:schemeClr val="bg1"/>
            </a:bgClr>
          </a:pattFill>
          <a:ln w="9525" cap="flat">
            <a:solidFill>
              <a:srgbClr val="3C09F7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26" name="Freeform 23">
            <a:extLst>
              <a:ext uri="{FF2B5EF4-FFF2-40B4-BE49-F238E27FC236}">
                <a16:creationId xmlns:a16="http://schemas.microsoft.com/office/drawing/2014/main" id="{A975A839-180C-473A-8D48-C4A0B1F6FA2D}"/>
              </a:ext>
            </a:extLst>
          </p:cNvPr>
          <p:cNvSpPr>
            <a:spLocks/>
          </p:cNvSpPr>
          <p:nvPr/>
        </p:nvSpPr>
        <p:spPr bwMode="auto">
          <a:xfrm>
            <a:off x="6276975" y="4230688"/>
            <a:ext cx="512763" cy="455613"/>
          </a:xfrm>
          <a:custGeom>
            <a:avLst/>
            <a:gdLst>
              <a:gd name="T0" fmla="*/ 172 w 323"/>
              <a:gd name="T1" fmla="*/ 57 h 287"/>
              <a:gd name="T2" fmla="*/ 221 w 323"/>
              <a:gd name="T3" fmla="*/ 0 h 287"/>
              <a:gd name="T4" fmla="*/ 218 w 323"/>
              <a:gd name="T5" fmla="*/ 77 h 287"/>
              <a:gd name="T6" fmla="*/ 270 w 323"/>
              <a:gd name="T7" fmla="*/ 42 h 287"/>
              <a:gd name="T8" fmla="*/ 245 w 323"/>
              <a:gd name="T9" fmla="*/ 87 h 287"/>
              <a:gd name="T10" fmla="*/ 323 w 323"/>
              <a:gd name="T11" fmla="*/ 88 h 287"/>
              <a:gd name="T12" fmla="*/ 254 w 323"/>
              <a:gd name="T13" fmla="*/ 125 h 287"/>
              <a:gd name="T14" fmla="*/ 274 w 323"/>
              <a:gd name="T15" fmla="*/ 150 h 287"/>
              <a:gd name="T16" fmla="*/ 245 w 323"/>
              <a:gd name="T17" fmla="*/ 164 h 287"/>
              <a:gd name="T18" fmla="*/ 283 w 323"/>
              <a:gd name="T19" fmla="*/ 208 h 287"/>
              <a:gd name="T20" fmla="*/ 219 w 323"/>
              <a:gd name="T21" fmla="*/ 191 h 287"/>
              <a:gd name="T22" fmla="*/ 224 w 323"/>
              <a:gd name="T23" fmla="*/ 231 h 287"/>
              <a:gd name="T24" fmla="*/ 182 w 323"/>
              <a:gd name="T25" fmla="*/ 212 h 287"/>
              <a:gd name="T26" fmla="*/ 174 w 323"/>
              <a:gd name="T27" fmla="*/ 251 h 287"/>
              <a:gd name="T28" fmla="*/ 148 w 323"/>
              <a:gd name="T29" fmla="*/ 231 h 287"/>
              <a:gd name="T30" fmla="*/ 130 w 323"/>
              <a:gd name="T31" fmla="*/ 262 h 287"/>
              <a:gd name="T32" fmla="*/ 113 w 323"/>
              <a:gd name="T33" fmla="*/ 241 h 287"/>
              <a:gd name="T34" fmla="*/ 74 w 323"/>
              <a:gd name="T35" fmla="*/ 287 h 287"/>
              <a:gd name="T36" fmla="*/ 72 w 323"/>
              <a:gd name="T37" fmla="*/ 243 h 287"/>
              <a:gd name="T38" fmla="*/ 19 w 323"/>
              <a:gd name="T39" fmla="*/ 237 h 287"/>
              <a:gd name="T40" fmla="*/ 50 w 323"/>
              <a:gd name="T41" fmla="*/ 204 h 287"/>
              <a:gd name="T42" fmla="*/ 0 w 323"/>
              <a:gd name="T43" fmla="*/ 171 h 287"/>
              <a:gd name="T44" fmla="*/ 59 w 323"/>
              <a:gd name="T45" fmla="*/ 154 h 287"/>
              <a:gd name="T46" fmla="*/ 18 w 323"/>
              <a:gd name="T47" fmla="*/ 110 h 287"/>
              <a:gd name="T48" fmla="*/ 81 w 323"/>
              <a:gd name="T49" fmla="*/ 104 h 287"/>
              <a:gd name="T50" fmla="*/ 68 w 323"/>
              <a:gd name="T51" fmla="*/ 48 h 287"/>
              <a:gd name="T52" fmla="*/ 128 w 323"/>
              <a:gd name="T53" fmla="*/ 85 h 287"/>
              <a:gd name="T54" fmla="*/ 146 w 323"/>
              <a:gd name="T55" fmla="*/ 25 h 287"/>
              <a:gd name="T56" fmla="*/ 172 w 323"/>
              <a:gd name="T57" fmla="*/ 57 h 28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323" h="287">
                <a:moveTo>
                  <a:pt x="172" y="57"/>
                </a:moveTo>
                <a:lnTo>
                  <a:pt x="221" y="0"/>
                </a:lnTo>
                <a:lnTo>
                  <a:pt x="218" y="77"/>
                </a:lnTo>
                <a:lnTo>
                  <a:pt x="270" y="42"/>
                </a:lnTo>
                <a:lnTo>
                  <a:pt x="245" y="87"/>
                </a:lnTo>
                <a:lnTo>
                  <a:pt x="323" y="88"/>
                </a:lnTo>
                <a:lnTo>
                  <a:pt x="254" y="125"/>
                </a:lnTo>
                <a:lnTo>
                  <a:pt x="274" y="150"/>
                </a:lnTo>
                <a:lnTo>
                  <a:pt x="245" y="164"/>
                </a:lnTo>
                <a:lnTo>
                  <a:pt x="283" y="208"/>
                </a:lnTo>
                <a:lnTo>
                  <a:pt x="219" y="191"/>
                </a:lnTo>
                <a:lnTo>
                  <a:pt x="224" y="231"/>
                </a:lnTo>
                <a:lnTo>
                  <a:pt x="182" y="212"/>
                </a:lnTo>
                <a:lnTo>
                  <a:pt x="174" y="251"/>
                </a:lnTo>
                <a:lnTo>
                  <a:pt x="148" y="231"/>
                </a:lnTo>
                <a:lnTo>
                  <a:pt x="130" y="262"/>
                </a:lnTo>
                <a:lnTo>
                  <a:pt x="113" y="241"/>
                </a:lnTo>
                <a:lnTo>
                  <a:pt x="74" y="287"/>
                </a:lnTo>
                <a:lnTo>
                  <a:pt x="72" y="243"/>
                </a:lnTo>
                <a:lnTo>
                  <a:pt x="19" y="237"/>
                </a:lnTo>
                <a:lnTo>
                  <a:pt x="50" y="204"/>
                </a:lnTo>
                <a:lnTo>
                  <a:pt x="0" y="171"/>
                </a:lnTo>
                <a:lnTo>
                  <a:pt x="59" y="154"/>
                </a:lnTo>
                <a:lnTo>
                  <a:pt x="18" y="110"/>
                </a:lnTo>
                <a:lnTo>
                  <a:pt x="81" y="104"/>
                </a:lnTo>
                <a:lnTo>
                  <a:pt x="68" y="48"/>
                </a:lnTo>
                <a:lnTo>
                  <a:pt x="128" y="85"/>
                </a:lnTo>
                <a:lnTo>
                  <a:pt x="146" y="25"/>
                </a:lnTo>
                <a:lnTo>
                  <a:pt x="172" y="57"/>
                </a:lnTo>
                <a:close/>
              </a:path>
            </a:pathLst>
          </a:custGeom>
          <a:pattFill prst="shingle">
            <a:fgClr>
              <a:schemeClr val="accent6">
                <a:lumMod val="60000"/>
                <a:lumOff val="40000"/>
              </a:schemeClr>
            </a:fgClr>
            <a:bgClr>
              <a:schemeClr val="bg1"/>
            </a:bgClr>
          </a:patt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27" name="Freeform 24">
            <a:extLst>
              <a:ext uri="{FF2B5EF4-FFF2-40B4-BE49-F238E27FC236}">
                <a16:creationId xmlns:a16="http://schemas.microsoft.com/office/drawing/2014/main" id="{18B5096F-97D0-4BDE-A0E7-26A71706A152}"/>
              </a:ext>
            </a:extLst>
          </p:cNvPr>
          <p:cNvSpPr>
            <a:spLocks/>
          </p:cNvSpPr>
          <p:nvPr/>
        </p:nvSpPr>
        <p:spPr bwMode="auto">
          <a:xfrm>
            <a:off x="6276975" y="4230688"/>
            <a:ext cx="512763" cy="455613"/>
          </a:xfrm>
          <a:custGeom>
            <a:avLst/>
            <a:gdLst>
              <a:gd name="T0" fmla="*/ 172 w 323"/>
              <a:gd name="T1" fmla="*/ 57 h 287"/>
              <a:gd name="T2" fmla="*/ 221 w 323"/>
              <a:gd name="T3" fmla="*/ 0 h 287"/>
              <a:gd name="T4" fmla="*/ 218 w 323"/>
              <a:gd name="T5" fmla="*/ 77 h 287"/>
              <a:gd name="T6" fmla="*/ 270 w 323"/>
              <a:gd name="T7" fmla="*/ 42 h 287"/>
              <a:gd name="T8" fmla="*/ 245 w 323"/>
              <a:gd name="T9" fmla="*/ 87 h 287"/>
              <a:gd name="T10" fmla="*/ 323 w 323"/>
              <a:gd name="T11" fmla="*/ 88 h 287"/>
              <a:gd name="T12" fmla="*/ 254 w 323"/>
              <a:gd name="T13" fmla="*/ 125 h 287"/>
              <a:gd name="T14" fmla="*/ 274 w 323"/>
              <a:gd name="T15" fmla="*/ 150 h 287"/>
              <a:gd name="T16" fmla="*/ 245 w 323"/>
              <a:gd name="T17" fmla="*/ 164 h 287"/>
              <a:gd name="T18" fmla="*/ 283 w 323"/>
              <a:gd name="T19" fmla="*/ 208 h 287"/>
              <a:gd name="T20" fmla="*/ 219 w 323"/>
              <a:gd name="T21" fmla="*/ 191 h 287"/>
              <a:gd name="T22" fmla="*/ 224 w 323"/>
              <a:gd name="T23" fmla="*/ 231 h 287"/>
              <a:gd name="T24" fmla="*/ 182 w 323"/>
              <a:gd name="T25" fmla="*/ 212 h 287"/>
              <a:gd name="T26" fmla="*/ 174 w 323"/>
              <a:gd name="T27" fmla="*/ 251 h 287"/>
              <a:gd name="T28" fmla="*/ 148 w 323"/>
              <a:gd name="T29" fmla="*/ 231 h 287"/>
              <a:gd name="T30" fmla="*/ 130 w 323"/>
              <a:gd name="T31" fmla="*/ 262 h 287"/>
              <a:gd name="T32" fmla="*/ 113 w 323"/>
              <a:gd name="T33" fmla="*/ 241 h 287"/>
              <a:gd name="T34" fmla="*/ 74 w 323"/>
              <a:gd name="T35" fmla="*/ 287 h 287"/>
              <a:gd name="T36" fmla="*/ 72 w 323"/>
              <a:gd name="T37" fmla="*/ 243 h 287"/>
              <a:gd name="T38" fmla="*/ 19 w 323"/>
              <a:gd name="T39" fmla="*/ 237 h 287"/>
              <a:gd name="T40" fmla="*/ 50 w 323"/>
              <a:gd name="T41" fmla="*/ 204 h 287"/>
              <a:gd name="T42" fmla="*/ 0 w 323"/>
              <a:gd name="T43" fmla="*/ 171 h 287"/>
              <a:gd name="T44" fmla="*/ 59 w 323"/>
              <a:gd name="T45" fmla="*/ 154 h 287"/>
              <a:gd name="T46" fmla="*/ 18 w 323"/>
              <a:gd name="T47" fmla="*/ 110 h 287"/>
              <a:gd name="T48" fmla="*/ 81 w 323"/>
              <a:gd name="T49" fmla="*/ 104 h 287"/>
              <a:gd name="T50" fmla="*/ 68 w 323"/>
              <a:gd name="T51" fmla="*/ 48 h 287"/>
              <a:gd name="T52" fmla="*/ 128 w 323"/>
              <a:gd name="T53" fmla="*/ 85 h 287"/>
              <a:gd name="T54" fmla="*/ 146 w 323"/>
              <a:gd name="T55" fmla="*/ 25 h 287"/>
              <a:gd name="T56" fmla="*/ 172 w 323"/>
              <a:gd name="T57" fmla="*/ 57 h 28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323" h="287">
                <a:moveTo>
                  <a:pt x="172" y="57"/>
                </a:moveTo>
                <a:lnTo>
                  <a:pt x="221" y="0"/>
                </a:lnTo>
                <a:lnTo>
                  <a:pt x="218" y="77"/>
                </a:lnTo>
                <a:lnTo>
                  <a:pt x="270" y="42"/>
                </a:lnTo>
                <a:lnTo>
                  <a:pt x="245" y="87"/>
                </a:lnTo>
                <a:lnTo>
                  <a:pt x="323" y="88"/>
                </a:lnTo>
                <a:lnTo>
                  <a:pt x="254" y="125"/>
                </a:lnTo>
                <a:lnTo>
                  <a:pt x="274" y="150"/>
                </a:lnTo>
                <a:lnTo>
                  <a:pt x="245" y="164"/>
                </a:lnTo>
                <a:lnTo>
                  <a:pt x="283" y="208"/>
                </a:lnTo>
                <a:lnTo>
                  <a:pt x="219" y="191"/>
                </a:lnTo>
                <a:lnTo>
                  <a:pt x="224" y="231"/>
                </a:lnTo>
                <a:lnTo>
                  <a:pt x="182" y="212"/>
                </a:lnTo>
                <a:lnTo>
                  <a:pt x="174" y="251"/>
                </a:lnTo>
                <a:lnTo>
                  <a:pt x="148" y="231"/>
                </a:lnTo>
                <a:lnTo>
                  <a:pt x="130" y="262"/>
                </a:lnTo>
                <a:lnTo>
                  <a:pt x="113" y="241"/>
                </a:lnTo>
                <a:lnTo>
                  <a:pt x="74" y="287"/>
                </a:lnTo>
                <a:lnTo>
                  <a:pt x="72" y="243"/>
                </a:lnTo>
                <a:lnTo>
                  <a:pt x="19" y="237"/>
                </a:lnTo>
                <a:lnTo>
                  <a:pt x="50" y="204"/>
                </a:lnTo>
                <a:lnTo>
                  <a:pt x="0" y="171"/>
                </a:lnTo>
                <a:lnTo>
                  <a:pt x="59" y="154"/>
                </a:lnTo>
                <a:lnTo>
                  <a:pt x="18" y="110"/>
                </a:lnTo>
                <a:lnTo>
                  <a:pt x="81" y="104"/>
                </a:lnTo>
                <a:lnTo>
                  <a:pt x="68" y="48"/>
                </a:lnTo>
                <a:lnTo>
                  <a:pt x="128" y="85"/>
                </a:lnTo>
                <a:lnTo>
                  <a:pt x="146" y="25"/>
                </a:lnTo>
                <a:lnTo>
                  <a:pt x="172" y="57"/>
                </a:lnTo>
                <a:close/>
              </a:path>
            </a:pathLst>
          </a:custGeom>
          <a:pattFill prst="shingle">
            <a:fgClr>
              <a:schemeClr val="accent6">
                <a:lumMod val="60000"/>
                <a:lumOff val="40000"/>
              </a:schemeClr>
            </a:fgClr>
            <a:bgClr>
              <a:schemeClr val="bg1"/>
            </a:bgClr>
          </a:pattFill>
          <a:ln w="9525" cap="flat">
            <a:solidFill>
              <a:srgbClr val="3C09F7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28" name="Freeform 25">
            <a:extLst>
              <a:ext uri="{FF2B5EF4-FFF2-40B4-BE49-F238E27FC236}">
                <a16:creationId xmlns:a16="http://schemas.microsoft.com/office/drawing/2014/main" id="{AAE273E5-B750-4330-B27C-E5BF51C3D123}"/>
              </a:ext>
            </a:extLst>
          </p:cNvPr>
          <p:cNvSpPr>
            <a:spLocks/>
          </p:cNvSpPr>
          <p:nvPr/>
        </p:nvSpPr>
        <p:spPr bwMode="auto">
          <a:xfrm>
            <a:off x="6789738" y="4230688"/>
            <a:ext cx="514350" cy="455613"/>
          </a:xfrm>
          <a:custGeom>
            <a:avLst/>
            <a:gdLst>
              <a:gd name="T0" fmla="*/ 172 w 324"/>
              <a:gd name="T1" fmla="*/ 57 h 287"/>
              <a:gd name="T2" fmla="*/ 222 w 324"/>
              <a:gd name="T3" fmla="*/ 0 h 287"/>
              <a:gd name="T4" fmla="*/ 218 w 324"/>
              <a:gd name="T5" fmla="*/ 77 h 287"/>
              <a:gd name="T6" fmla="*/ 270 w 324"/>
              <a:gd name="T7" fmla="*/ 42 h 287"/>
              <a:gd name="T8" fmla="*/ 246 w 324"/>
              <a:gd name="T9" fmla="*/ 87 h 287"/>
              <a:gd name="T10" fmla="*/ 324 w 324"/>
              <a:gd name="T11" fmla="*/ 88 h 287"/>
              <a:gd name="T12" fmla="*/ 254 w 324"/>
              <a:gd name="T13" fmla="*/ 125 h 287"/>
              <a:gd name="T14" fmla="*/ 274 w 324"/>
              <a:gd name="T15" fmla="*/ 150 h 287"/>
              <a:gd name="T16" fmla="*/ 246 w 324"/>
              <a:gd name="T17" fmla="*/ 164 h 287"/>
              <a:gd name="T18" fmla="*/ 283 w 324"/>
              <a:gd name="T19" fmla="*/ 208 h 287"/>
              <a:gd name="T20" fmla="*/ 219 w 324"/>
              <a:gd name="T21" fmla="*/ 191 h 287"/>
              <a:gd name="T22" fmla="*/ 224 w 324"/>
              <a:gd name="T23" fmla="*/ 231 h 287"/>
              <a:gd name="T24" fmla="*/ 183 w 324"/>
              <a:gd name="T25" fmla="*/ 212 h 287"/>
              <a:gd name="T26" fmla="*/ 174 w 324"/>
              <a:gd name="T27" fmla="*/ 251 h 287"/>
              <a:gd name="T28" fmla="*/ 148 w 324"/>
              <a:gd name="T29" fmla="*/ 231 h 287"/>
              <a:gd name="T30" fmla="*/ 130 w 324"/>
              <a:gd name="T31" fmla="*/ 262 h 287"/>
              <a:gd name="T32" fmla="*/ 113 w 324"/>
              <a:gd name="T33" fmla="*/ 241 h 287"/>
              <a:gd name="T34" fmla="*/ 74 w 324"/>
              <a:gd name="T35" fmla="*/ 287 h 287"/>
              <a:gd name="T36" fmla="*/ 72 w 324"/>
              <a:gd name="T37" fmla="*/ 243 h 287"/>
              <a:gd name="T38" fmla="*/ 20 w 324"/>
              <a:gd name="T39" fmla="*/ 237 h 287"/>
              <a:gd name="T40" fmla="*/ 50 w 324"/>
              <a:gd name="T41" fmla="*/ 204 h 287"/>
              <a:gd name="T42" fmla="*/ 0 w 324"/>
              <a:gd name="T43" fmla="*/ 171 h 287"/>
              <a:gd name="T44" fmla="*/ 59 w 324"/>
              <a:gd name="T45" fmla="*/ 154 h 287"/>
              <a:gd name="T46" fmla="*/ 18 w 324"/>
              <a:gd name="T47" fmla="*/ 110 h 287"/>
              <a:gd name="T48" fmla="*/ 81 w 324"/>
              <a:gd name="T49" fmla="*/ 104 h 287"/>
              <a:gd name="T50" fmla="*/ 68 w 324"/>
              <a:gd name="T51" fmla="*/ 48 h 287"/>
              <a:gd name="T52" fmla="*/ 128 w 324"/>
              <a:gd name="T53" fmla="*/ 85 h 287"/>
              <a:gd name="T54" fmla="*/ 146 w 324"/>
              <a:gd name="T55" fmla="*/ 25 h 287"/>
              <a:gd name="T56" fmla="*/ 172 w 324"/>
              <a:gd name="T57" fmla="*/ 57 h 28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324" h="287">
                <a:moveTo>
                  <a:pt x="172" y="57"/>
                </a:moveTo>
                <a:lnTo>
                  <a:pt x="222" y="0"/>
                </a:lnTo>
                <a:lnTo>
                  <a:pt x="218" y="77"/>
                </a:lnTo>
                <a:lnTo>
                  <a:pt x="270" y="42"/>
                </a:lnTo>
                <a:lnTo>
                  <a:pt x="246" y="87"/>
                </a:lnTo>
                <a:lnTo>
                  <a:pt x="324" y="88"/>
                </a:lnTo>
                <a:lnTo>
                  <a:pt x="254" y="125"/>
                </a:lnTo>
                <a:lnTo>
                  <a:pt x="274" y="150"/>
                </a:lnTo>
                <a:lnTo>
                  <a:pt x="246" y="164"/>
                </a:lnTo>
                <a:lnTo>
                  <a:pt x="283" y="208"/>
                </a:lnTo>
                <a:lnTo>
                  <a:pt x="219" y="191"/>
                </a:lnTo>
                <a:lnTo>
                  <a:pt x="224" y="231"/>
                </a:lnTo>
                <a:lnTo>
                  <a:pt x="183" y="212"/>
                </a:lnTo>
                <a:lnTo>
                  <a:pt x="174" y="251"/>
                </a:lnTo>
                <a:lnTo>
                  <a:pt x="148" y="231"/>
                </a:lnTo>
                <a:lnTo>
                  <a:pt x="130" y="262"/>
                </a:lnTo>
                <a:lnTo>
                  <a:pt x="113" y="241"/>
                </a:lnTo>
                <a:lnTo>
                  <a:pt x="74" y="287"/>
                </a:lnTo>
                <a:lnTo>
                  <a:pt x="72" y="243"/>
                </a:lnTo>
                <a:lnTo>
                  <a:pt x="20" y="237"/>
                </a:lnTo>
                <a:lnTo>
                  <a:pt x="50" y="204"/>
                </a:lnTo>
                <a:lnTo>
                  <a:pt x="0" y="171"/>
                </a:lnTo>
                <a:lnTo>
                  <a:pt x="59" y="154"/>
                </a:lnTo>
                <a:lnTo>
                  <a:pt x="18" y="110"/>
                </a:lnTo>
                <a:lnTo>
                  <a:pt x="81" y="104"/>
                </a:lnTo>
                <a:lnTo>
                  <a:pt x="68" y="48"/>
                </a:lnTo>
                <a:lnTo>
                  <a:pt x="128" y="85"/>
                </a:lnTo>
                <a:lnTo>
                  <a:pt x="146" y="25"/>
                </a:lnTo>
                <a:lnTo>
                  <a:pt x="172" y="57"/>
                </a:lnTo>
                <a:close/>
              </a:path>
            </a:pathLst>
          </a:custGeom>
          <a:pattFill prst="shingle">
            <a:fgClr>
              <a:schemeClr val="accent6">
                <a:lumMod val="60000"/>
                <a:lumOff val="40000"/>
              </a:schemeClr>
            </a:fgClr>
            <a:bgClr>
              <a:schemeClr val="bg1"/>
            </a:bgClr>
          </a:patt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29" name="Freeform 26">
            <a:extLst>
              <a:ext uri="{FF2B5EF4-FFF2-40B4-BE49-F238E27FC236}">
                <a16:creationId xmlns:a16="http://schemas.microsoft.com/office/drawing/2014/main" id="{B7B3F2F1-B05E-4084-B72B-CF7693157B38}"/>
              </a:ext>
            </a:extLst>
          </p:cNvPr>
          <p:cNvSpPr>
            <a:spLocks/>
          </p:cNvSpPr>
          <p:nvPr/>
        </p:nvSpPr>
        <p:spPr bwMode="auto">
          <a:xfrm>
            <a:off x="6789738" y="4230688"/>
            <a:ext cx="514350" cy="455613"/>
          </a:xfrm>
          <a:custGeom>
            <a:avLst/>
            <a:gdLst>
              <a:gd name="T0" fmla="*/ 172 w 324"/>
              <a:gd name="T1" fmla="*/ 57 h 287"/>
              <a:gd name="T2" fmla="*/ 222 w 324"/>
              <a:gd name="T3" fmla="*/ 0 h 287"/>
              <a:gd name="T4" fmla="*/ 218 w 324"/>
              <a:gd name="T5" fmla="*/ 77 h 287"/>
              <a:gd name="T6" fmla="*/ 270 w 324"/>
              <a:gd name="T7" fmla="*/ 42 h 287"/>
              <a:gd name="T8" fmla="*/ 246 w 324"/>
              <a:gd name="T9" fmla="*/ 87 h 287"/>
              <a:gd name="T10" fmla="*/ 324 w 324"/>
              <a:gd name="T11" fmla="*/ 88 h 287"/>
              <a:gd name="T12" fmla="*/ 254 w 324"/>
              <a:gd name="T13" fmla="*/ 125 h 287"/>
              <a:gd name="T14" fmla="*/ 274 w 324"/>
              <a:gd name="T15" fmla="*/ 150 h 287"/>
              <a:gd name="T16" fmla="*/ 246 w 324"/>
              <a:gd name="T17" fmla="*/ 164 h 287"/>
              <a:gd name="T18" fmla="*/ 283 w 324"/>
              <a:gd name="T19" fmla="*/ 208 h 287"/>
              <a:gd name="T20" fmla="*/ 219 w 324"/>
              <a:gd name="T21" fmla="*/ 191 h 287"/>
              <a:gd name="T22" fmla="*/ 224 w 324"/>
              <a:gd name="T23" fmla="*/ 231 h 287"/>
              <a:gd name="T24" fmla="*/ 183 w 324"/>
              <a:gd name="T25" fmla="*/ 212 h 287"/>
              <a:gd name="T26" fmla="*/ 174 w 324"/>
              <a:gd name="T27" fmla="*/ 251 h 287"/>
              <a:gd name="T28" fmla="*/ 148 w 324"/>
              <a:gd name="T29" fmla="*/ 231 h 287"/>
              <a:gd name="T30" fmla="*/ 130 w 324"/>
              <a:gd name="T31" fmla="*/ 262 h 287"/>
              <a:gd name="T32" fmla="*/ 113 w 324"/>
              <a:gd name="T33" fmla="*/ 241 h 287"/>
              <a:gd name="T34" fmla="*/ 74 w 324"/>
              <a:gd name="T35" fmla="*/ 287 h 287"/>
              <a:gd name="T36" fmla="*/ 72 w 324"/>
              <a:gd name="T37" fmla="*/ 243 h 287"/>
              <a:gd name="T38" fmla="*/ 20 w 324"/>
              <a:gd name="T39" fmla="*/ 237 h 287"/>
              <a:gd name="T40" fmla="*/ 50 w 324"/>
              <a:gd name="T41" fmla="*/ 204 h 287"/>
              <a:gd name="T42" fmla="*/ 0 w 324"/>
              <a:gd name="T43" fmla="*/ 171 h 287"/>
              <a:gd name="T44" fmla="*/ 59 w 324"/>
              <a:gd name="T45" fmla="*/ 154 h 287"/>
              <a:gd name="T46" fmla="*/ 18 w 324"/>
              <a:gd name="T47" fmla="*/ 110 h 287"/>
              <a:gd name="T48" fmla="*/ 81 w 324"/>
              <a:gd name="T49" fmla="*/ 104 h 287"/>
              <a:gd name="T50" fmla="*/ 68 w 324"/>
              <a:gd name="T51" fmla="*/ 48 h 287"/>
              <a:gd name="T52" fmla="*/ 128 w 324"/>
              <a:gd name="T53" fmla="*/ 85 h 287"/>
              <a:gd name="T54" fmla="*/ 146 w 324"/>
              <a:gd name="T55" fmla="*/ 25 h 287"/>
              <a:gd name="T56" fmla="*/ 172 w 324"/>
              <a:gd name="T57" fmla="*/ 57 h 28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324" h="287">
                <a:moveTo>
                  <a:pt x="172" y="57"/>
                </a:moveTo>
                <a:lnTo>
                  <a:pt x="222" y="0"/>
                </a:lnTo>
                <a:lnTo>
                  <a:pt x="218" y="77"/>
                </a:lnTo>
                <a:lnTo>
                  <a:pt x="270" y="42"/>
                </a:lnTo>
                <a:lnTo>
                  <a:pt x="246" y="87"/>
                </a:lnTo>
                <a:lnTo>
                  <a:pt x="324" y="88"/>
                </a:lnTo>
                <a:lnTo>
                  <a:pt x="254" y="125"/>
                </a:lnTo>
                <a:lnTo>
                  <a:pt x="274" y="150"/>
                </a:lnTo>
                <a:lnTo>
                  <a:pt x="246" y="164"/>
                </a:lnTo>
                <a:lnTo>
                  <a:pt x="283" y="208"/>
                </a:lnTo>
                <a:lnTo>
                  <a:pt x="219" y="191"/>
                </a:lnTo>
                <a:lnTo>
                  <a:pt x="224" y="231"/>
                </a:lnTo>
                <a:lnTo>
                  <a:pt x="183" y="212"/>
                </a:lnTo>
                <a:lnTo>
                  <a:pt x="174" y="251"/>
                </a:lnTo>
                <a:lnTo>
                  <a:pt x="148" y="231"/>
                </a:lnTo>
                <a:lnTo>
                  <a:pt x="130" y="262"/>
                </a:lnTo>
                <a:lnTo>
                  <a:pt x="113" y="241"/>
                </a:lnTo>
                <a:lnTo>
                  <a:pt x="74" y="287"/>
                </a:lnTo>
                <a:lnTo>
                  <a:pt x="72" y="243"/>
                </a:lnTo>
                <a:lnTo>
                  <a:pt x="20" y="237"/>
                </a:lnTo>
                <a:lnTo>
                  <a:pt x="50" y="204"/>
                </a:lnTo>
                <a:lnTo>
                  <a:pt x="0" y="171"/>
                </a:lnTo>
                <a:lnTo>
                  <a:pt x="59" y="154"/>
                </a:lnTo>
                <a:lnTo>
                  <a:pt x="18" y="110"/>
                </a:lnTo>
                <a:lnTo>
                  <a:pt x="81" y="104"/>
                </a:lnTo>
                <a:lnTo>
                  <a:pt x="68" y="48"/>
                </a:lnTo>
                <a:lnTo>
                  <a:pt x="128" y="85"/>
                </a:lnTo>
                <a:lnTo>
                  <a:pt x="146" y="25"/>
                </a:lnTo>
                <a:lnTo>
                  <a:pt x="172" y="57"/>
                </a:lnTo>
                <a:close/>
              </a:path>
            </a:pathLst>
          </a:custGeom>
          <a:pattFill prst="shingle">
            <a:fgClr>
              <a:schemeClr val="accent6">
                <a:lumMod val="60000"/>
                <a:lumOff val="40000"/>
              </a:schemeClr>
            </a:fgClr>
            <a:bgClr>
              <a:schemeClr val="bg1"/>
            </a:bgClr>
          </a:pattFill>
          <a:ln w="9525" cap="flat">
            <a:solidFill>
              <a:srgbClr val="3C09F7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30" name="Rectangle 27">
            <a:extLst>
              <a:ext uri="{FF2B5EF4-FFF2-40B4-BE49-F238E27FC236}">
                <a16:creationId xmlns:a16="http://schemas.microsoft.com/office/drawing/2014/main" id="{01AA3546-6A36-4170-9191-C93D4B1DA9E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41500" y="3194050"/>
            <a:ext cx="410369" cy="2769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zh-CN" altLang="zh-CN" sz="1800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rPr>
              <a:t>stall</a:t>
            </a:r>
            <a:endParaRPr kumimoji="0" lang="zh-CN" altLang="zh-CN" sz="180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  <a:ea typeface="SimHei" panose="02010609060101010101" pitchFamily="49" charset="-122"/>
            </a:endParaRPr>
          </a:p>
        </p:txBody>
      </p:sp>
      <p:sp>
        <p:nvSpPr>
          <p:cNvPr id="31" name="Freeform 28">
            <a:extLst>
              <a:ext uri="{FF2B5EF4-FFF2-40B4-BE49-F238E27FC236}">
                <a16:creationId xmlns:a16="http://schemas.microsoft.com/office/drawing/2014/main" id="{BB46748E-541C-4325-86AD-70FE64266084}"/>
              </a:ext>
            </a:extLst>
          </p:cNvPr>
          <p:cNvSpPr>
            <a:spLocks/>
          </p:cNvSpPr>
          <p:nvPr/>
        </p:nvSpPr>
        <p:spPr bwMode="auto">
          <a:xfrm>
            <a:off x="3711575" y="3146425"/>
            <a:ext cx="512763" cy="455613"/>
          </a:xfrm>
          <a:custGeom>
            <a:avLst/>
            <a:gdLst>
              <a:gd name="T0" fmla="*/ 172 w 323"/>
              <a:gd name="T1" fmla="*/ 57 h 287"/>
              <a:gd name="T2" fmla="*/ 221 w 323"/>
              <a:gd name="T3" fmla="*/ 0 h 287"/>
              <a:gd name="T4" fmla="*/ 217 w 323"/>
              <a:gd name="T5" fmla="*/ 77 h 287"/>
              <a:gd name="T6" fmla="*/ 270 w 323"/>
              <a:gd name="T7" fmla="*/ 42 h 287"/>
              <a:gd name="T8" fmla="*/ 245 w 323"/>
              <a:gd name="T9" fmla="*/ 87 h 287"/>
              <a:gd name="T10" fmla="*/ 323 w 323"/>
              <a:gd name="T11" fmla="*/ 88 h 287"/>
              <a:gd name="T12" fmla="*/ 254 w 323"/>
              <a:gd name="T13" fmla="*/ 125 h 287"/>
              <a:gd name="T14" fmla="*/ 274 w 323"/>
              <a:gd name="T15" fmla="*/ 150 h 287"/>
              <a:gd name="T16" fmla="*/ 245 w 323"/>
              <a:gd name="T17" fmla="*/ 164 h 287"/>
              <a:gd name="T18" fmla="*/ 283 w 323"/>
              <a:gd name="T19" fmla="*/ 208 h 287"/>
              <a:gd name="T20" fmla="*/ 219 w 323"/>
              <a:gd name="T21" fmla="*/ 191 h 287"/>
              <a:gd name="T22" fmla="*/ 224 w 323"/>
              <a:gd name="T23" fmla="*/ 231 h 287"/>
              <a:gd name="T24" fmla="*/ 182 w 323"/>
              <a:gd name="T25" fmla="*/ 212 h 287"/>
              <a:gd name="T26" fmla="*/ 174 w 323"/>
              <a:gd name="T27" fmla="*/ 251 h 287"/>
              <a:gd name="T28" fmla="*/ 148 w 323"/>
              <a:gd name="T29" fmla="*/ 231 h 287"/>
              <a:gd name="T30" fmla="*/ 130 w 323"/>
              <a:gd name="T31" fmla="*/ 262 h 287"/>
              <a:gd name="T32" fmla="*/ 113 w 323"/>
              <a:gd name="T33" fmla="*/ 241 h 287"/>
              <a:gd name="T34" fmla="*/ 74 w 323"/>
              <a:gd name="T35" fmla="*/ 287 h 287"/>
              <a:gd name="T36" fmla="*/ 72 w 323"/>
              <a:gd name="T37" fmla="*/ 243 h 287"/>
              <a:gd name="T38" fmla="*/ 19 w 323"/>
              <a:gd name="T39" fmla="*/ 237 h 287"/>
              <a:gd name="T40" fmla="*/ 50 w 323"/>
              <a:gd name="T41" fmla="*/ 204 h 287"/>
              <a:gd name="T42" fmla="*/ 0 w 323"/>
              <a:gd name="T43" fmla="*/ 171 h 287"/>
              <a:gd name="T44" fmla="*/ 59 w 323"/>
              <a:gd name="T45" fmla="*/ 154 h 287"/>
              <a:gd name="T46" fmla="*/ 18 w 323"/>
              <a:gd name="T47" fmla="*/ 110 h 287"/>
              <a:gd name="T48" fmla="*/ 81 w 323"/>
              <a:gd name="T49" fmla="*/ 104 h 287"/>
              <a:gd name="T50" fmla="*/ 68 w 323"/>
              <a:gd name="T51" fmla="*/ 48 h 287"/>
              <a:gd name="T52" fmla="*/ 128 w 323"/>
              <a:gd name="T53" fmla="*/ 85 h 287"/>
              <a:gd name="T54" fmla="*/ 146 w 323"/>
              <a:gd name="T55" fmla="*/ 25 h 287"/>
              <a:gd name="T56" fmla="*/ 172 w 323"/>
              <a:gd name="T57" fmla="*/ 57 h 28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323" h="287">
                <a:moveTo>
                  <a:pt x="172" y="57"/>
                </a:moveTo>
                <a:lnTo>
                  <a:pt x="221" y="0"/>
                </a:lnTo>
                <a:lnTo>
                  <a:pt x="217" y="77"/>
                </a:lnTo>
                <a:lnTo>
                  <a:pt x="270" y="42"/>
                </a:lnTo>
                <a:lnTo>
                  <a:pt x="245" y="87"/>
                </a:lnTo>
                <a:lnTo>
                  <a:pt x="323" y="88"/>
                </a:lnTo>
                <a:lnTo>
                  <a:pt x="254" y="125"/>
                </a:lnTo>
                <a:lnTo>
                  <a:pt x="274" y="150"/>
                </a:lnTo>
                <a:lnTo>
                  <a:pt x="245" y="164"/>
                </a:lnTo>
                <a:lnTo>
                  <a:pt x="283" y="208"/>
                </a:lnTo>
                <a:lnTo>
                  <a:pt x="219" y="191"/>
                </a:lnTo>
                <a:lnTo>
                  <a:pt x="224" y="231"/>
                </a:lnTo>
                <a:lnTo>
                  <a:pt x="182" y="212"/>
                </a:lnTo>
                <a:lnTo>
                  <a:pt x="174" y="251"/>
                </a:lnTo>
                <a:lnTo>
                  <a:pt x="148" y="231"/>
                </a:lnTo>
                <a:lnTo>
                  <a:pt x="130" y="262"/>
                </a:lnTo>
                <a:lnTo>
                  <a:pt x="113" y="241"/>
                </a:lnTo>
                <a:lnTo>
                  <a:pt x="74" y="287"/>
                </a:lnTo>
                <a:lnTo>
                  <a:pt x="72" y="243"/>
                </a:lnTo>
                <a:lnTo>
                  <a:pt x="19" y="237"/>
                </a:lnTo>
                <a:lnTo>
                  <a:pt x="50" y="204"/>
                </a:lnTo>
                <a:lnTo>
                  <a:pt x="0" y="171"/>
                </a:lnTo>
                <a:lnTo>
                  <a:pt x="59" y="154"/>
                </a:lnTo>
                <a:lnTo>
                  <a:pt x="18" y="110"/>
                </a:lnTo>
                <a:lnTo>
                  <a:pt x="81" y="104"/>
                </a:lnTo>
                <a:lnTo>
                  <a:pt x="68" y="48"/>
                </a:lnTo>
                <a:lnTo>
                  <a:pt x="128" y="85"/>
                </a:lnTo>
                <a:lnTo>
                  <a:pt x="146" y="25"/>
                </a:lnTo>
                <a:lnTo>
                  <a:pt x="172" y="57"/>
                </a:lnTo>
                <a:close/>
              </a:path>
            </a:pathLst>
          </a:custGeom>
          <a:pattFill prst="shingle">
            <a:fgClr>
              <a:schemeClr val="accent6">
                <a:lumMod val="60000"/>
                <a:lumOff val="40000"/>
              </a:schemeClr>
            </a:fgClr>
            <a:bgClr>
              <a:schemeClr val="bg1"/>
            </a:bgClr>
          </a:patt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32" name="Freeform 29">
            <a:extLst>
              <a:ext uri="{FF2B5EF4-FFF2-40B4-BE49-F238E27FC236}">
                <a16:creationId xmlns:a16="http://schemas.microsoft.com/office/drawing/2014/main" id="{25241017-B472-4747-BB4A-76C4FA2A5656}"/>
              </a:ext>
            </a:extLst>
          </p:cNvPr>
          <p:cNvSpPr>
            <a:spLocks/>
          </p:cNvSpPr>
          <p:nvPr/>
        </p:nvSpPr>
        <p:spPr bwMode="auto">
          <a:xfrm>
            <a:off x="3711575" y="3146425"/>
            <a:ext cx="512763" cy="455613"/>
          </a:xfrm>
          <a:custGeom>
            <a:avLst/>
            <a:gdLst>
              <a:gd name="T0" fmla="*/ 172 w 323"/>
              <a:gd name="T1" fmla="*/ 57 h 287"/>
              <a:gd name="T2" fmla="*/ 221 w 323"/>
              <a:gd name="T3" fmla="*/ 0 h 287"/>
              <a:gd name="T4" fmla="*/ 217 w 323"/>
              <a:gd name="T5" fmla="*/ 77 h 287"/>
              <a:gd name="T6" fmla="*/ 270 w 323"/>
              <a:gd name="T7" fmla="*/ 42 h 287"/>
              <a:gd name="T8" fmla="*/ 245 w 323"/>
              <a:gd name="T9" fmla="*/ 87 h 287"/>
              <a:gd name="T10" fmla="*/ 323 w 323"/>
              <a:gd name="T11" fmla="*/ 88 h 287"/>
              <a:gd name="T12" fmla="*/ 254 w 323"/>
              <a:gd name="T13" fmla="*/ 125 h 287"/>
              <a:gd name="T14" fmla="*/ 274 w 323"/>
              <a:gd name="T15" fmla="*/ 150 h 287"/>
              <a:gd name="T16" fmla="*/ 245 w 323"/>
              <a:gd name="T17" fmla="*/ 164 h 287"/>
              <a:gd name="T18" fmla="*/ 283 w 323"/>
              <a:gd name="T19" fmla="*/ 208 h 287"/>
              <a:gd name="T20" fmla="*/ 219 w 323"/>
              <a:gd name="T21" fmla="*/ 191 h 287"/>
              <a:gd name="T22" fmla="*/ 224 w 323"/>
              <a:gd name="T23" fmla="*/ 231 h 287"/>
              <a:gd name="T24" fmla="*/ 182 w 323"/>
              <a:gd name="T25" fmla="*/ 212 h 287"/>
              <a:gd name="T26" fmla="*/ 174 w 323"/>
              <a:gd name="T27" fmla="*/ 251 h 287"/>
              <a:gd name="T28" fmla="*/ 148 w 323"/>
              <a:gd name="T29" fmla="*/ 231 h 287"/>
              <a:gd name="T30" fmla="*/ 130 w 323"/>
              <a:gd name="T31" fmla="*/ 262 h 287"/>
              <a:gd name="T32" fmla="*/ 113 w 323"/>
              <a:gd name="T33" fmla="*/ 241 h 287"/>
              <a:gd name="T34" fmla="*/ 74 w 323"/>
              <a:gd name="T35" fmla="*/ 287 h 287"/>
              <a:gd name="T36" fmla="*/ 72 w 323"/>
              <a:gd name="T37" fmla="*/ 243 h 287"/>
              <a:gd name="T38" fmla="*/ 19 w 323"/>
              <a:gd name="T39" fmla="*/ 237 h 287"/>
              <a:gd name="T40" fmla="*/ 50 w 323"/>
              <a:gd name="T41" fmla="*/ 204 h 287"/>
              <a:gd name="T42" fmla="*/ 0 w 323"/>
              <a:gd name="T43" fmla="*/ 171 h 287"/>
              <a:gd name="T44" fmla="*/ 59 w 323"/>
              <a:gd name="T45" fmla="*/ 154 h 287"/>
              <a:gd name="T46" fmla="*/ 18 w 323"/>
              <a:gd name="T47" fmla="*/ 110 h 287"/>
              <a:gd name="T48" fmla="*/ 81 w 323"/>
              <a:gd name="T49" fmla="*/ 104 h 287"/>
              <a:gd name="T50" fmla="*/ 68 w 323"/>
              <a:gd name="T51" fmla="*/ 48 h 287"/>
              <a:gd name="T52" fmla="*/ 128 w 323"/>
              <a:gd name="T53" fmla="*/ 85 h 287"/>
              <a:gd name="T54" fmla="*/ 146 w 323"/>
              <a:gd name="T55" fmla="*/ 25 h 287"/>
              <a:gd name="T56" fmla="*/ 172 w 323"/>
              <a:gd name="T57" fmla="*/ 57 h 28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323" h="287">
                <a:moveTo>
                  <a:pt x="172" y="57"/>
                </a:moveTo>
                <a:lnTo>
                  <a:pt x="221" y="0"/>
                </a:lnTo>
                <a:lnTo>
                  <a:pt x="217" y="77"/>
                </a:lnTo>
                <a:lnTo>
                  <a:pt x="270" y="42"/>
                </a:lnTo>
                <a:lnTo>
                  <a:pt x="245" y="87"/>
                </a:lnTo>
                <a:lnTo>
                  <a:pt x="323" y="88"/>
                </a:lnTo>
                <a:lnTo>
                  <a:pt x="254" y="125"/>
                </a:lnTo>
                <a:lnTo>
                  <a:pt x="274" y="150"/>
                </a:lnTo>
                <a:lnTo>
                  <a:pt x="245" y="164"/>
                </a:lnTo>
                <a:lnTo>
                  <a:pt x="283" y="208"/>
                </a:lnTo>
                <a:lnTo>
                  <a:pt x="219" y="191"/>
                </a:lnTo>
                <a:lnTo>
                  <a:pt x="224" y="231"/>
                </a:lnTo>
                <a:lnTo>
                  <a:pt x="182" y="212"/>
                </a:lnTo>
                <a:lnTo>
                  <a:pt x="174" y="251"/>
                </a:lnTo>
                <a:lnTo>
                  <a:pt x="148" y="231"/>
                </a:lnTo>
                <a:lnTo>
                  <a:pt x="130" y="262"/>
                </a:lnTo>
                <a:lnTo>
                  <a:pt x="113" y="241"/>
                </a:lnTo>
                <a:lnTo>
                  <a:pt x="74" y="287"/>
                </a:lnTo>
                <a:lnTo>
                  <a:pt x="72" y="243"/>
                </a:lnTo>
                <a:lnTo>
                  <a:pt x="19" y="237"/>
                </a:lnTo>
                <a:lnTo>
                  <a:pt x="50" y="204"/>
                </a:lnTo>
                <a:lnTo>
                  <a:pt x="0" y="171"/>
                </a:lnTo>
                <a:lnTo>
                  <a:pt x="59" y="154"/>
                </a:lnTo>
                <a:lnTo>
                  <a:pt x="18" y="110"/>
                </a:lnTo>
                <a:lnTo>
                  <a:pt x="81" y="104"/>
                </a:lnTo>
                <a:lnTo>
                  <a:pt x="68" y="48"/>
                </a:lnTo>
                <a:lnTo>
                  <a:pt x="128" y="85"/>
                </a:lnTo>
                <a:lnTo>
                  <a:pt x="146" y="25"/>
                </a:lnTo>
                <a:lnTo>
                  <a:pt x="172" y="57"/>
                </a:lnTo>
                <a:close/>
              </a:path>
            </a:pathLst>
          </a:custGeom>
          <a:pattFill prst="shingle">
            <a:fgClr>
              <a:schemeClr val="accent6">
                <a:lumMod val="60000"/>
                <a:lumOff val="40000"/>
              </a:schemeClr>
            </a:fgClr>
            <a:bgClr>
              <a:schemeClr val="bg1"/>
            </a:bgClr>
          </a:pattFill>
          <a:ln w="9525" cap="flat">
            <a:solidFill>
              <a:srgbClr val="3C09F7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33" name="Freeform 30">
            <a:extLst>
              <a:ext uri="{FF2B5EF4-FFF2-40B4-BE49-F238E27FC236}">
                <a16:creationId xmlns:a16="http://schemas.microsoft.com/office/drawing/2014/main" id="{9CE418D4-F7DB-4478-B51A-49334A36F9C0}"/>
              </a:ext>
            </a:extLst>
          </p:cNvPr>
          <p:cNvSpPr>
            <a:spLocks/>
          </p:cNvSpPr>
          <p:nvPr/>
        </p:nvSpPr>
        <p:spPr bwMode="auto">
          <a:xfrm>
            <a:off x="4224338" y="3146425"/>
            <a:ext cx="512763" cy="455613"/>
          </a:xfrm>
          <a:custGeom>
            <a:avLst/>
            <a:gdLst>
              <a:gd name="T0" fmla="*/ 172 w 323"/>
              <a:gd name="T1" fmla="*/ 57 h 287"/>
              <a:gd name="T2" fmla="*/ 222 w 323"/>
              <a:gd name="T3" fmla="*/ 0 h 287"/>
              <a:gd name="T4" fmla="*/ 218 w 323"/>
              <a:gd name="T5" fmla="*/ 77 h 287"/>
              <a:gd name="T6" fmla="*/ 270 w 323"/>
              <a:gd name="T7" fmla="*/ 42 h 287"/>
              <a:gd name="T8" fmla="*/ 245 w 323"/>
              <a:gd name="T9" fmla="*/ 87 h 287"/>
              <a:gd name="T10" fmla="*/ 323 w 323"/>
              <a:gd name="T11" fmla="*/ 88 h 287"/>
              <a:gd name="T12" fmla="*/ 254 w 323"/>
              <a:gd name="T13" fmla="*/ 125 h 287"/>
              <a:gd name="T14" fmla="*/ 274 w 323"/>
              <a:gd name="T15" fmla="*/ 150 h 287"/>
              <a:gd name="T16" fmla="*/ 245 w 323"/>
              <a:gd name="T17" fmla="*/ 164 h 287"/>
              <a:gd name="T18" fmla="*/ 283 w 323"/>
              <a:gd name="T19" fmla="*/ 208 h 287"/>
              <a:gd name="T20" fmla="*/ 219 w 323"/>
              <a:gd name="T21" fmla="*/ 191 h 287"/>
              <a:gd name="T22" fmla="*/ 224 w 323"/>
              <a:gd name="T23" fmla="*/ 231 h 287"/>
              <a:gd name="T24" fmla="*/ 183 w 323"/>
              <a:gd name="T25" fmla="*/ 212 h 287"/>
              <a:gd name="T26" fmla="*/ 174 w 323"/>
              <a:gd name="T27" fmla="*/ 251 h 287"/>
              <a:gd name="T28" fmla="*/ 148 w 323"/>
              <a:gd name="T29" fmla="*/ 231 h 287"/>
              <a:gd name="T30" fmla="*/ 130 w 323"/>
              <a:gd name="T31" fmla="*/ 262 h 287"/>
              <a:gd name="T32" fmla="*/ 113 w 323"/>
              <a:gd name="T33" fmla="*/ 241 h 287"/>
              <a:gd name="T34" fmla="*/ 74 w 323"/>
              <a:gd name="T35" fmla="*/ 287 h 287"/>
              <a:gd name="T36" fmla="*/ 72 w 323"/>
              <a:gd name="T37" fmla="*/ 243 h 287"/>
              <a:gd name="T38" fmla="*/ 20 w 323"/>
              <a:gd name="T39" fmla="*/ 237 h 287"/>
              <a:gd name="T40" fmla="*/ 50 w 323"/>
              <a:gd name="T41" fmla="*/ 204 h 287"/>
              <a:gd name="T42" fmla="*/ 0 w 323"/>
              <a:gd name="T43" fmla="*/ 171 h 287"/>
              <a:gd name="T44" fmla="*/ 59 w 323"/>
              <a:gd name="T45" fmla="*/ 154 h 287"/>
              <a:gd name="T46" fmla="*/ 18 w 323"/>
              <a:gd name="T47" fmla="*/ 110 h 287"/>
              <a:gd name="T48" fmla="*/ 81 w 323"/>
              <a:gd name="T49" fmla="*/ 104 h 287"/>
              <a:gd name="T50" fmla="*/ 68 w 323"/>
              <a:gd name="T51" fmla="*/ 48 h 287"/>
              <a:gd name="T52" fmla="*/ 128 w 323"/>
              <a:gd name="T53" fmla="*/ 85 h 287"/>
              <a:gd name="T54" fmla="*/ 146 w 323"/>
              <a:gd name="T55" fmla="*/ 25 h 287"/>
              <a:gd name="T56" fmla="*/ 172 w 323"/>
              <a:gd name="T57" fmla="*/ 57 h 28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323" h="287">
                <a:moveTo>
                  <a:pt x="172" y="57"/>
                </a:moveTo>
                <a:lnTo>
                  <a:pt x="222" y="0"/>
                </a:lnTo>
                <a:lnTo>
                  <a:pt x="218" y="77"/>
                </a:lnTo>
                <a:lnTo>
                  <a:pt x="270" y="42"/>
                </a:lnTo>
                <a:lnTo>
                  <a:pt x="245" y="87"/>
                </a:lnTo>
                <a:lnTo>
                  <a:pt x="323" y="88"/>
                </a:lnTo>
                <a:lnTo>
                  <a:pt x="254" y="125"/>
                </a:lnTo>
                <a:lnTo>
                  <a:pt x="274" y="150"/>
                </a:lnTo>
                <a:lnTo>
                  <a:pt x="245" y="164"/>
                </a:lnTo>
                <a:lnTo>
                  <a:pt x="283" y="208"/>
                </a:lnTo>
                <a:lnTo>
                  <a:pt x="219" y="191"/>
                </a:lnTo>
                <a:lnTo>
                  <a:pt x="224" y="231"/>
                </a:lnTo>
                <a:lnTo>
                  <a:pt x="183" y="212"/>
                </a:lnTo>
                <a:lnTo>
                  <a:pt x="174" y="251"/>
                </a:lnTo>
                <a:lnTo>
                  <a:pt x="148" y="231"/>
                </a:lnTo>
                <a:lnTo>
                  <a:pt x="130" y="262"/>
                </a:lnTo>
                <a:lnTo>
                  <a:pt x="113" y="241"/>
                </a:lnTo>
                <a:lnTo>
                  <a:pt x="74" y="287"/>
                </a:lnTo>
                <a:lnTo>
                  <a:pt x="72" y="243"/>
                </a:lnTo>
                <a:lnTo>
                  <a:pt x="20" y="237"/>
                </a:lnTo>
                <a:lnTo>
                  <a:pt x="50" y="204"/>
                </a:lnTo>
                <a:lnTo>
                  <a:pt x="0" y="171"/>
                </a:lnTo>
                <a:lnTo>
                  <a:pt x="59" y="154"/>
                </a:lnTo>
                <a:lnTo>
                  <a:pt x="18" y="110"/>
                </a:lnTo>
                <a:lnTo>
                  <a:pt x="81" y="104"/>
                </a:lnTo>
                <a:lnTo>
                  <a:pt x="68" y="48"/>
                </a:lnTo>
                <a:lnTo>
                  <a:pt x="128" y="85"/>
                </a:lnTo>
                <a:lnTo>
                  <a:pt x="146" y="25"/>
                </a:lnTo>
                <a:lnTo>
                  <a:pt x="172" y="57"/>
                </a:lnTo>
                <a:close/>
              </a:path>
            </a:pathLst>
          </a:custGeom>
          <a:pattFill prst="shingle">
            <a:fgClr>
              <a:schemeClr val="accent6">
                <a:lumMod val="60000"/>
                <a:lumOff val="40000"/>
              </a:schemeClr>
            </a:fgClr>
            <a:bgClr>
              <a:schemeClr val="bg1"/>
            </a:bgClr>
          </a:patt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34" name="Freeform 31">
            <a:extLst>
              <a:ext uri="{FF2B5EF4-FFF2-40B4-BE49-F238E27FC236}">
                <a16:creationId xmlns:a16="http://schemas.microsoft.com/office/drawing/2014/main" id="{DAAEA200-5BBE-4DC9-9B2A-F77F0681EDCE}"/>
              </a:ext>
            </a:extLst>
          </p:cNvPr>
          <p:cNvSpPr>
            <a:spLocks/>
          </p:cNvSpPr>
          <p:nvPr/>
        </p:nvSpPr>
        <p:spPr bwMode="auto">
          <a:xfrm>
            <a:off x="4224338" y="3146425"/>
            <a:ext cx="512763" cy="455613"/>
          </a:xfrm>
          <a:custGeom>
            <a:avLst/>
            <a:gdLst>
              <a:gd name="T0" fmla="*/ 172 w 323"/>
              <a:gd name="T1" fmla="*/ 57 h 287"/>
              <a:gd name="T2" fmla="*/ 222 w 323"/>
              <a:gd name="T3" fmla="*/ 0 h 287"/>
              <a:gd name="T4" fmla="*/ 218 w 323"/>
              <a:gd name="T5" fmla="*/ 77 h 287"/>
              <a:gd name="T6" fmla="*/ 270 w 323"/>
              <a:gd name="T7" fmla="*/ 42 h 287"/>
              <a:gd name="T8" fmla="*/ 245 w 323"/>
              <a:gd name="T9" fmla="*/ 87 h 287"/>
              <a:gd name="T10" fmla="*/ 323 w 323"/>
              <a:gd name="T11" fmla="*/ 88 h 287"/>
              <a:gd name="T12" fmla="*/ 254 w 323"/>
              <a:gd name="T13" fmla="*/ 125 h 287"/>
              <a:gd name="T14" fmla="*/ 274 w 323"/>
              <a:gd name="T15" fmla="*/ 150 h 287"/>
              <a:gd name="T16" fmla="*/ 245 w 323"/>
              <a:gd name="T17" fmla="*/ 164 h 287"/>
              <a:gd name="T18" fmla="*/ 283 w 323"/>
              <a:gd name="T19" fmla="*/ 208 h 287"/>
              <a:gd name="T20" fmla="*/ 219 w 323"/>
              <a:gd name="T21" fmla="*/ 191 h 287"/>
              <a:gd name="T22" fmla="*/ 224 w 323"/>
              <a:gd name="T23" fmla="*/ 231 h 287"/>
              <a:gd name="T24" fmla="*/ 183 w 323"/>
              <a:gd name="T25" fmla="*/ 212 h 287"/>
              <a:gd name="T26" fmla="*/ 174 w 323"/>
              <a:gd name="T27" fmla="*/ 251 h 287"/>
              <a:gd name="T28" fmla="*/ 148 w 323"/>
              <a:gd name="T29" fmla="*/ 231 h 287"/>
              <a:gd name="T30" fmla="*/ 130 w 323"/>
              <a:gd name="T31" fmla="*/ 262 h 287"/>
              <a:gd name="T32" fmla="*/ 113 w 323"/>
              <a:gd name="T33" fmla="*/ 241 h 287"/>
              <a:gd name="T34" fmla="*/ 74 w 323"/>
              <a:gd name="T35" fmla="*/ 287 h 287"/>
              <a:gd name="T36" fmla="*/ 72 w 323"/>
              <a:gd name="T37" fmla="*/ 243 h 287"/>
              <a:gd name="T38" fmla="*/ 20 w 323"/>
              <a:gd name="T39" fmla="*/ 237 h 287"/>
              <a:gd name="T40" fmla="*/ 50 w 323"/>
              <a:gd name="T41" fmla="*/ 204 h 287"/>
              <a:gd name="T42" fmla="*/ 0 w 323"/>
              <a:gd name="T43" fmla="*/ 171 h 287"/>
              <a:gd name="T44" fmla="*/ 59 w 323"/>
              <a:gd name="T45" fmla="*/ 154 h 287"/>
              <a:gd name="T46" fmla="*/ 18 w 323"/>
              <a:gd name="T47" fmla="*/ 110 h 287"/>
              <a:gd name="T48" fmla="*/ 81 w 323"/>
              <a:gd name="T49" fmla="*/ 104 h 287"/>
              <a:gd name="T50" fmla="*/ 68 w 323"/>
              <a:gd name="T51" fmla="*/ 48 h 287"/>
              <a:gd name="T52" fmla="*/ 128 w 323"/>
              <a:gd name="T53" fmla="*/ 85 h 287"/>
              <a:gd name="T54" fmla="*/ 146 w 323"/>
              <a:gd name="T55" fmla="*/ 25 h 287"/>
              <a:gd name="T56" fmla="*/ 172 w 323"/>
              <a:gd name="T57" fmla="*/ 57 h 28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323" h="287">
                <a:moveTo>
                  <a:pt x="172" y="57"/>
                </a:moveTo>
                <a:lnTo>
                  <a:pt x="222" y="0"/>
                </a:lnTo>
                <a:lnTo>
                  <a:pt x="218" y="77"/>
                </a:lnTo>
                <a:lnTo>
                  <a:pt x="270" y="42"/>
                </a:lnTo>
                <a:lnTo>
                  <a:pt x="245" y="87"/>
                </a:lnTo>
                <a:lnTo>
                  <a:pt x="323" y="88"/>
                </a:lnTo>
                <a:lnTo>
                  <a:pt x="254" y="125"/>
                </a:lnTo>
                <a:lnTo>
                  <a:pt x="274" y="150"/>
                </a:lnTo>
                <a:lnTo>
                  <a:pt x="245" y="164"/>
                </a:lnTo>
                <a:lnTo>
                  <a:pt x="283" y="208"/>
                </a:lnTo>
                <a:lnTo>
                  <a:pt x="219" y="191"/>
                </a:lnTo>
                <a:lnTo>
                  <a:pt x="224" y="231"/>
                </a:lnTo>
                <a:lnTo>
                  <a:pt x="183" y="212"/>
                </a:lnTo>
                <a:lnTo>
                  <a:pt x="174" y="251"/>
                </a:lnTo>
                <a:lnTo>
                  <a:pt x="148" y="231"/>
                </a:lnTo>
                <a:lnTo>
                  <a:pt x="130" y="262"/>
                </a:lnTo>
                <a:lnTo>
                  <a:pt x="113" y="241"/>
                </a:lnTo>
                <a:lnTo>
                  <a:pt x="74" y="287"/>
                </a:lnTo>
                <a:lnTo>
                  <a:pt x="72" y="243"/>
                </a:lnTo>
                <a:lnTo>
                  <a:pt x="20" y="237"/>
                </a:lnTo>
                <a:lnTo>
                  <a:pt x="50" y="204"/>
                </a:lnTo>
                <a:lnTo>
                  <a:pt x="0" y="171"/>
                </a:lnTo>
                <a:lnTo>
                  <a:pt x="59" y="154"/>
                </a:lnTo>
                <a:lnTo>
                  <a:pt x="18" y="110"/>
                </a:lnTo>
                <a:lnTo>
                  <a:pt x="81" y="104"/>
                </a:lnTo>
                <a:lnTo>
                  <a:pt x="68" y="48"/>
                </a:lnTo>
                <a:lnTo>
                  <a:pt x="128" y="85"/>
                </a:lnTo>
                <a:lnTo>
                  <a:pt x="146" y="25"/>
                </a:lnTo>
                <a:lnTo>
                  <a:pt x="172" y="57"/>
                </a:lnTo>
                <a:close/>
              </a:path>
            </a:pathLst>
          </a:custGeom>
          <a:pattFill prst="shingle">
            <a:fgClr>
              <a:schemeClr val="accent6">
                <a:lumMod val="60000"/>
                <a:lumOff val="40000"/>
              </a:schemeClr>
            </a:fgClr>
            <a:bgClr>
              <a:schemeClr val="bg1"/>
            </a:bgClr>
          </a:pattFill>
          <a:ln w="9525" cap="flat">
            <a:solidFill>
              <a:srgbClr val="3C09F7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35" name="Freeform 32">
            <a:extLst>
              <a:ext uri="{FF2B5EF4-FFF2-40B4-BE49-F238E27FC236}">
                <a16:creationId xmlns:a16="http://schemas.microsoft.com/office/drawing/2014/main" id="{1D12E981-A651-496A-8E0C-4709CCEA8537}"/>
              </a:ext>
            </a:extLst>
          </p:cNvPr>
          <p:cNvSpPr>
            <a:spLocks/>
          </p:cNvSpPr>
          <p:nvPr/>
        </p:nvSpPr>
        <p:spPr bwMode="auto">
          <a:xfrm>
            <a:off x="4737100" y="3146425"/>
            <a:ext cx="514350" cy="455613"/>
          </a:xfrm>
          <a:custGeom>
            <a:avLst/>
            <a:gdLst>
              <a:gd name="T0" fmla="*/ 172 w 324"/>
              <a:gd name="T1" fmla="*/ 57 h 287"/>
              <a:gd name="T2" fmla="*/ 222 w 324"/>
              <a:gd name="T3" fmla="*/ 0 h 287"/>
              <a:gd name="T4" fmla="*/ 218 w 324"/>
              <a:gd name="T5" fmla="*/ 77 h 287"/>
              <a:gd name="T6" fmla="*/ 270 w 324"/>
              <a:gd name="T7" fmla="*/ 42 h 287"/>
              <a:gd name="T8" fmla="*/ 246 w 324"/>
              <a:gd name="T9" fmla="*/ 87 h 287"/>
              <a:gd name="T10" fmla="*/ 324 w 324"/>
              <a:gd name="T11" fmla="*/ 88 h 287"/>
              <a:gd name="T12" fmla="*/ 255 w 324"/>
              <a:gd name="T13" fmla="*/ 125 h 287"/>
              <a:gd name="T14" fmla="*/ 274 w 324"/>
              <a:gd name="T15" fmla="*/ 150 h 287"/>
              <a:gd name="T16" fmla="*/ 246 w 324"/>
              <a:gd name="T17" fmla="*/ 164 h 287"/>
              <a:gd name="T18" fmla="*/ 283 w 324"/>
              <a:gd name="T19" fmla="*/ 208 h 287"/>
              <a:gd name="T20" fmla="*/ 220 w 324"/>
              <a:gd name="T21" fmla="*/ 191 h 287"/>
              <a:gd name="T22" fmla="*/ 224 w 324"/>
              <a:gd name="T23" fmla="*/ 231 h 287"/>
              <a:gd name="T24" fmla="*/ 183 w 324"/>
              <a:gd name="T25" fmla="*/ 212 h 287"/>
              <a:gd name="T26" fmla="*/ 174 w 324"/>
              <a:gd name="T27" fmla="*/ 251 h 287"/>
              <a:gd name="T28" fmla="*/ 148 w 324"/>
              <a:gd name="T29" fmla="*/ 231 h 287"/>
              <a:gd name="T30" fmla="*/ 131 w 324"/>
              <a:gd name="T31" fmla="*/ 262 h 287"/>
              <a:gd name="T32" fmla="*/ 113 w 324"/>
              <a:gd name="T33" fmla="*/ 241 h 287"/>
              <a:gd name="T34" fmla="*/ 74 w 324"/>
              <a:gd name="T35" fmla="*/ 287 h 287"/>
              <a:gd name="T36" fmla="*/ 73 w 324"/>
              <a:gd name="T37" fmla="*/ 243 h 287"/>
              <a:gd name="T38" fmla="*/ 20 w 324"/>
              <a:gd name="T39" fmla="*/ 237 h 287"/>
              <a:gd name="T40" fmla="*/ 50 w 324"/>
              <a:gd name="T41" fmla="*/ 204 h 287"/>
              <a:gd name="T42" fmla="*/ 0 w 324"/>
              <a:gd name="T43" fmla="*/ 171 h 287"/>
              <a:gd name="T44" fmla="*/ 59 w 324"/>
              <a:gd name="T45" fmla="*/ 154 h 287"/>
              <a:gd name="T46" fmla="*/ 18 w 324"/>
              <a:gd name="T47" fmla="*/ 110 h 287"/>
              <a:gd name="T48" fmla="*/ 81 w 324"/>
              <a:gd name="T49" fmla="*/ 104 h 287"/>
              <a:gd name="T50" fmla="*/ 68 w 324"/>
              <a:gd name="T51" fmla="*/ 48 h 287"/>
              <a:gd name="T52" fmla="*/ 128 w 324"/>
              <a:gd name="T53" fmla="*/ 85 h 287"/>
              <a:gd name="T54" fmla="*/ 146 w 324"/>
              <a:gd name="T55" fmla="*/ 25 h 287"/>
              <a:gd name="T56" fmla="*/ 172 w 324"/>
              <a:gd name="T57" fmla="*/ 57 h 28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324" h="287">
                <a:moveTo>
                  <a:pt x="172" y="57"/>
                </a:moveTo>
                <a:lnTo>
                  <a:pt x="222" y="0"/>
                </a:lnTo>
                <a:lnTo>
                  <a:pt x="218" y="77"/>
                </a:lnTo>
                <a:lnTo>
                  <a:pt x="270" y="42"/>
                </a:lnTo>
                <a:lnTo>
                  <a:pt x="246" y="87"/>
                </a:lnTo>
                <a:lnTo>
                  <a:pt x="324" y="88"/>
                </a:lnTo>
                <a:lnTo>
                  <a:pt x="255" y="125"/>
                </a:lnTo>
                <a:lnTo>
                  <a:pt x="274" y="150"/>
                </a:lnTo>
                <a:lnTo>
                  <a:pt x="246" y="164"/>
                </a:lnTo>
                <a:lnTo>
                  <a:pt x="283" y="208"/>
                </a:lnTo>
                <a:lnTo>
                  <a:pt x="220" y="191"/>
                </a:lnTo>
                <a:lnTo>
                  <a:pt x="224" y="231"/>
                </a:lnTo>
                <a:lnTo>
                  <a:pt x="183" y="212"/>
                </a:lnTo>
                <a:lnTo>
                  <a:pt x="174" y="251"/>
                </a:lnTo>
                <a:lnTo>
                  <a:pt x="148" y="231"/>
                </a:lnTo>
                <a:lnTo>
                  <a:pt x="131" y="262"/>
                </a:lnTo>
                <a:lnTo>
                  <a:pt x="113" y="241"/>
                </a:lnTo>
                <a:lnTo>
                  <a:pt x="74" y="287"/>
                </a:lnTo>
                <a:lnTo>
                  <a:pt x="73" y="243"/>
                </a:lnTo>
                <a:lnTo>
                  <a:pt x="20" y="237"/>
                </a:lnTo>
                <a:lnTo>
                  <a:pt x="50" y="204"/>
                </a:lnTo>
                <a:lnTo>
                  <a:pt x="0" y="171"/>
                </a:lnTo>
                <a:lnTo>
                  <a:pt x="59" y="154"/>
                </a:lnTo>
                <a:lnTo>
                  <a:pt x="18" y="110"/>
                </a:lnTo>
                <a:lnTo>
                  <a:pt x="81" y="104"/>
                </a:lnTo>
                <a:lnTo>
                  <a:pt x="68" y="48"/>
                </a:lnTo>
                <a:lnTo>
                  <a:pt x="128" y="85"/>
                </a:lnTo>
                <a:lnTo>
                  <a:pt x="146" y="25"/>
                </a:lnTo>
                <a:lnTo>
                  <a:pt x="172" y="57"/>
                </a:lnTo>
                <a:close/>
              </a:path>
            </a:pathLst>
          </a:custGeom>
          <a:pattFill prst="shingle">
            <a:fgClr>
              <a:schemeClr val="accent6">
                <a:lumMod val="60000"/>
                <a:lumOff val="40000"/>
              </a:schemeClr>
            </a:fgClr>
            <a:bgClr>
              <a:schemeClr val="bg1"/>
            </a:bgClr>
          </a:patt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36" name="Freeform 33">
            <a:extLst>
              <a:ext uri="{FF2B5EF4-FFF2-40B4-BE49-F238E27FC236}">
                <a16:creationId xmlns:a16="http://schemas.microsoft.com/office/drawing/2014/main" id="{5BB4B103-E9A7-4F48-9A13-A8EEB781F5B1}"/>
              </a:ext>
            </a:extLst>
          </p:cNvPr>
          <p:cNvSpPr>
            <a:spLocks/>
          </p:cNvSpPr>
          <p:nvPr/>
        </p:nvSpPr>
        <p:spPr bwMode="auto">
          <a:xfrm>
            <a:off x="4737100" y="3146425"/>
            <a:ext cx="514350" cy="455613"/>
          </a:xfrm>
          <a:custGeom>
            <a:avLst/>
            <a:gdLst>
              <a:gd name="T0" fmla="*/ 172 w 324"/>
              <a:gd name="T1" fmla="*/ 57 h 287"/>
              <a:gd name="T2" fmla="*/ 222 w 324"/>
              <a:gd name="T3" fmla="*/ 0 h 287"/>
              <a:gd name="T4" fmla="*/ 218 w 324"/>
              <a:gd name="T5" fmla="*/ 77 h 287"/>
              <a:gd name="T6" fmla="*/ 270 w 324"/>
              <a:gd name="T7" fmla="*/ 42 h 287"/>
              <a:gd name="T8" fmla="*/ 246 w 324"/>
              <a:gd name="T9" fmla="*/ 87 h 287"/>
              <a:gd name="T10" fmla="*/ 324 w 324"/>
              <a:gd name="T11" fmla="*/ 88 h 287"/>
              <a:gd name="T12" fmla="*/ 255 w 324"/>
              <a:gd name="T13" fmla="*/ 125 h 287"/>
              <a:gd name="T14" fmla="*/ 274 w 324"/>
              <a:gd name="T15" fmla="*/ 150 h 287"/>
              <a:gd name="T16" fmla="*/ 246 w 324"/>
              <a:gd name="T17" fmla="*/ 164 h 287"/>
              <a:gd name="T18" fmla="*/ 283 w 324"/>
              <a:gd name="T19" fmla="*/ 208 h 287"/>
              <a:gd name="T20" fmla="*/ 220 w 324"/>
              <a:gd name="T21" fmla="*/ 191 h 287"/>
              <a:gd name="T22" fmla="*/ 224 w 324"/>
              <a:gd name="T23" fmla="*/ 231 h 287"/>
              <a:gd name="T24" fmla="*/ 183 w 324"/>
              <a:gd name="T25" fmla="*/ 212 h 287"/>
              <a:gd name="T26" fmla="*/ 174 w 324"/>
              <a:gd name="T27" fmla="*/ 251 h 287"/>
              <a:gd name="T28" fmla="*/ 148 w 324"/>
              <a:gd name="T29" fmla="*/ 231 h 287"/>
              <a:gd name="T30" fmla="*/ 131 w 324"/>
              <a:gd name="T31" fmla="*/ 262 h 287"/>
              <a:gd name="T32" fmla="*/ 113 w 324"/>
              <a:gd name="T33" fmla="*/ 241 h 287"/>
              <a:gd name="T34" fmla="*/ 74 w 324"/>
              <a:gd name="T35" fmla="*/ 287 h 287"/>
              <a:gd name="T36" fmla="*/ 73 w 324"/>
              <a:gd name="T37" fmla="*/ 243 h 287"/>
              <a:gd name="T38" fmla="*/ 20 w 324"/>
              <a:gd name="T39" fmla="*/ 237 h 287"/>
              <a:gd name="T40" fmla="*/ 50 w 324"/>
              <a:gd name="T41" fmla="*/ 204 h 287"/>
              <a:gd name="T42" fmla="*/ 0 w 324"/>
              <a:gd name="T43" fmla="*/ 171 h 287"/>
              <a:gd name="T44" fmla="*/ 59 w 324"/>
              <a:gd name="T45" fmla="*/ 154 h 287"/>
              <a:gd name="T46" fmla="*/ 18 w 324"/>
              <a:gd name="T47" fmla="*/ 110 h 287"/>
              <a:gd name="T48" fmla="*/ 81 w 324"/>
              <a:gd name="T49" fmla="*/ 104 h 287"/>
              <a:gd name="T50" fmla="*/ 68 w 324"/>
              <a:gd name="T51" fmla="*/ 48 h 287"/>
              <a:gd name="T52" fmla="*/ 128 w 324"/>
              <a:gd name="T53" fmla="*/ 85 h 287"/>
              <a:gd name="T54" fmla="*/ 146 w 324"/>
              <a:gd name="T55" fmla="*/ 25 h 287"/>
              <a:gd name="T56" fmla="*/ 172 w 324"/>
              <a:gd name="T57" fmla="*/ 57 h 28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324" h="287">
                <a:moveTo>
                  <a:pt x="172" y="57"/>
                </a:moveTo>
                <a:lnTo>
                  <a:pt x="222" y="0"/>
                </a:lnTo>
                <a:lnTo>
                  <a:pt x="218" y="77"/>
                </a:lnTo>
                <a:lnTo>
                  <a:pt x="270" y="42"/>
                </a:lnTo>
                <a:lnTo>
                  <a:pt x="246" y="87"/>
                </a:lnTo>
                <a:lnTo>
                  <a:pt x="324" y="88"/>
                </a:lnTo>
                <a:lnTo>
                  <a:pt x="255" y="125"/>
                </a:lnTo>
                <a:lnTo>
                  <a:pt x="274" y="150"/>
                </a:lnTo>
                <a:lnTo>
                  <a:pt x="246" y="164"/>
                </a:lnTo>
                <a:lnTo>
                  <a:pt x="283" y="208"/>
                </a:lnTo>
                <a:lnTo>
                  <a:pt x="220" y="191"/>
                </a:lnTo>
                <a:lnTo>
                  <a:pt x="224" y="231"/>
                </a:lnTo>
                <a:lnTo>
                  <a:pt x="183" y="212"/>
                </a:lnTo>
                <a:lnTo>
                  <a:pt x="174" y="251"/>
                </a:lnTo>
                <a:lnTo>
                  <a:pt x="148" y="231"/>
                </a:lnTo>
                <a:lnTo>
                  <a:pt x="131" y="262"/>
                </a:lnTo>
                <a:lnTo>
                  <a:pt x="113" y="241"/>
                </a:lnTo>
                <a:lnTo>
                  <a:pt x="74" y="287"/>
                </a:lnTo>
                <a:lnTo>
                  <a:pt x="73" y="243"/>
                </a:lnTo>
                <a:lnTo>
                  <a:pt x="20" y="237"/>
                </a:lnTo>
                <a:lnTo>
                  <a:pt x="50" y="204"/>
                </a:lnTo>
                <a:lnTo>
                  <a:pt x="0" y="171"/>
                </a:lnTo>
                <a:lnTo>
                  <a:pt x="59" y="154"/>
                </a:lnTo>
                <a:lnTo>
                  <a:pt x="18" y="110"/>
                </a:lnTo>
                <a:lnTo>
                  <a:pt x="81" y="104"/>
                </a:lnTo>
                <a:lnTo>
                  <a:pt x="68" y="48"/>
                </a:lnTo>
                <a:lnTo>
                  <a:pt x="128" y="85"/>
                </a:lnTo>
                <a:lnTo>
                  <a:pt x="146" y="25"/>
                </a:lnTo>
                <a:lnTo>
                  <a:pt x="172" y="57"/>
                </a:lnTo>
                <a:close/>
              </a:path>
            </a:pathLst>
          </a:custGeom>
          <a:pattFill prst="shingle">
            <a:fgClr>
              <a:schemeClr val="accent6">
                <a:lumMod val="60000"/>
                <a:lumOff val="40000"/>
              </a:schemeClr>
            </a:fgClr>
            <a:bgClr>
              <a:schemeClr val="bg1"/>
            </a:bgClr>
          </a:pattFill>
          <a:ln w="9525" cap="flat">
            <a:solidFill>
              <a:srgbClr val="3C09F7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37" name="Freeform 34">
            <a:extLst>
              <a:ext uri="{FF2B5EF4-FFF2-40B4-BE49-F238E27FC236}">
                <a16:creationId xmlns:a16="http://schemas.microsoft.com/office/drawing/2014/main" id="{680B4C30-FAD1-4CD1-B4E5-E59FD1A31E29}"/>
              </a:ext>
            </a:extLst>
          </p:cNvPr>
          <p:cNvSpPr>
            <a:spLocks/>
          </p:cNvSpPr>
          <p:nvPr/>
        </p:nvSpPr>
        <p:spPr bwMode="auto">
          <a:xfrm>
            <a:off x="5251450" y="3146425"/>
            <a:ext cx="512763" cy="455613"/>
          </a:xfrm>
          <a:custGeom>
            <a:avLst/>
            <a:gdLst>
              <a:gd name="T0" fmla="*/ 171 w 323"/>
              <a:gd name="T1" fmla="*/ 57 h 287"/>
              <a:gd name="T2" fmla="*/ 221 w 323"/>
              <a:gd name="T3" fmla="*/ 0 h 287"/>
              <a:gd name="T4" fmla="*/ 217 w 323"/>
              <a:gd name="T5" fmla="*/ 77 h 287"/>
              <a:gd name="T6" fmla="*/ 269 w 323"/>
              <a:gd name="T7" fmla="*/ 42 h 287"/>
              <a:gd name="T8" fmla="*/ 245 w 323"/>
              <a:gd name="T9" fmla="*/ 87 h 287"/>
              <a:gd name="T10" fmla="*/ 323 w 323"/>
              <a:gd name="T11" fmla="*/ 88 h 287"/>
              <a:gd name="T12" fmla="*/ 254 w 323"/>
              <a:gd name="T13" fmla="*/ 125 h 287"/>
              <a:gd name="T14" fmla="*/ 273 w 323"/>
              <a:gd name="T15" fmla="*/ 150 h 287"/>
              <a:gd name="T16" fmla="*/ 245 w 323"/>
              <a:gd name="T17" fmla="*/ 164 h 287"/>
              <a:gd name="T18" fmla="*/ 282 w 323"/>
              <a:gd name="T19" fmla="*/ 208 h 287"/>
              <a:gd name="T20" fmla="*/ 219 w 323"/>
              <a:gd name="T21" fmla="*/ 191 h 287"/>
              <a:gd name="T22" fmla="*/ 223 w 323"/>
              <a:gd name="T23" fmla="*/ 231 h 287"/>
              <a:gd name="T24" fmla="*/ 182 w 323"/>
              <a:gd name="T25" fmla="*/ 212 h 287"/>
              <a:gd name="T26" fmla="*/ 174 w 323"/>
              <a:gd name="T27" fmla="*/ 251 h 287"/>
              <a:gd name="T28" fmla="*/ 148 w 323"/>
              <a:gd name="T29" fmla="*/ 231 h 287"/>
              <a:gd name="T30" fmla="*/ 130 w 323"/>
              <a:gd name="T31" fmla="*/ 262 h 287"/>
              <a:gd name="T32" fmla="*/ 112 w 323"/>
              <a:gd name="T33" fmla="*/ 241 h 287"/>
              <a:gd name="T34" fmla="*/ 73 w 323"/>
              <a:gd name="T35" fmla="*/ 287 h 287"/>
              <a:gd name="T36" fmla="*/ 72 w 323"/>
              <a:gd name="T37" fmla="*/ 243 h 287"/>
              <a:gd name="T38" fmla="*/ 19 w 323"/>
              <a:gd name="T39" fmla="*/ 237 h 287"/>
              <a:gd name="T40" fmla="*/ 50 w 323"/>
              <a:gd name="T41" fmla="*/ 204 h 287"/>
              <a:gd name="T42" fmla="*/ 0 w 323"/>
              <a:gd name="T43" fmla="*/ 171 h 287"/>
              <a:gd name="T44" fmla="*/ 59 w 323"/>
              <a:gd name="T45" fmla="*/ 154 h 287"/>
              <a:gd name="T46" fmla="*/ 17 w 323"/>
              <a:gd name="T47" fmla="*/ 110 h 287"/>
              <a:gd name="T48" fmla="*/ 80 w 323"/>
              <a:gd name="T49" fmla="*/ 104 h 287"/>
              <a:gd name="T50" fmla="*/ 67 w 323"/>
              <a:gd name="T51" fmla="*/ 48 h 287"/>
              <a:gd name="T52" fmla="*/ 128 w 323"/>
              <a:gd name="T53" fmla="*/ 85 h 287"/>
              <a:gd name="T54" fmla="*/ 145 w 323"/>
              <a:gd name="T55" fmla="*/ 25 h 287"/>
              <a:gd name="T56" fmla="*/ 171 w 323"/>
              <a:gd name="T57" fmla="*/ 57 h 28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323" h="287">
                <a:moveTo>
                  <a:pt x="171" y="57"/>
                </a:moveTo>
                <a:lnTo>
                  <a:pt x="221" y="0"/>
                </a:lnTo>
                <a:lnTo>
                  <a:pt x="217" y="77"/>
                </a:lnTo>
                <a:lnTo>
                  <a:pt x="269" y="42"/>
                </a:lnTo>
                <a:lnTo>
                  <a:pt x="245" y="87"/>
                </a:lnTo>
                <a:lnTo>
                  <a:pt x="323" y="88"/>
                </a:lnTo>
                <a:lnTo>
                  <a:pt x="254" y="125"/>
                </a:lnTo>
                <a:lnTo>
                  <a:pt x="273" y="150"/>
                </a:lnTo>
                <a:lnTo>
                  <a:pt x="245" y="164"/>
                </a:lnTo>
                <a:lnTo>
                  <a:pt x="282" y="208"/>
                </a:lnTo>
                <a:lnTo>
                  <a:pt x="219" y="191"/>
                </a:lnTo>
                <a:lnTo>
                  <a:pt x="223" y="231"/>
                </a:lnTo>
                <a:lnTo>
                  <a:pt x="182" y="212"/>
                </a:lnTo>
                <a:lnTo>
                  <a:pt x="174" y="251"/>
                </a:lnTo>
                <a:lnTo>
                  <a:pt x="148" y="231"/>
                </a:lnTo>
                <a:lnTo>
                  <a:pt x="130" y="262"/>
                </a:lnTo>
                <a:lnTo>
                  <a:pt x="112" y="241"/>
                </a:lnTo>
                <a:lnTo>
                  <a:pt x="73" y="287"/>
                </a:lnTo>
                <a:lnTo>
                  <a:pt x="72" y="243"/>
                </a:lnTo>
                <a:lnTo>
                  <a:pt x="19" y="237"/>
                </a:lnTo>
                <a:lnTo>
                  <a:pt x="50" y="204"/>
                </a:lnTo>
                <a:lnTo>
                  <a:pt x="0" y="171"/>
                </a:lnTo>
                <a:lnTo>
                  <a:pt x="59" y="154"/>
                </a:lnTo>
                <a:lnTo>
                  <a:pt x="17" y="110"/>
                </a:lnTo>
                <a:lnTo>
                  <a:pt x="80" y="104"/>
                </a:lnTo>
                <a:lnTo>
                  <a:pt x="67" y="48"/>
                </a:lnTo>
                <a:lnTo>
                  <a:pt x="128" y="85"/>
                </a:lnTo>
                <a:lnTo>
                  <a:pt x="145" y="25"/>
                </a:lnTo>
                <a:lnTo>
                  <a:pt x="171" y="57"/>
                </a:lnTo>
                <a:close/>
              </a:path>
            </a:pathLst>
          </a:custGeom>
          <a:pattFill prst="shingle">
            <a:fgClr>
              <a:schemeClr val="accent6">
                <a:lumMod val="60000"/>
                <a:lumOff val="40000"/>
              </a:schemeClr>
            </a:fgClr>
            <a:bgClr>
              <a:schemeClr val="bg1"/>
            </a:bgClr>
          </a:patt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38" name="Freeform 35">
            <a:extLst>
              <a:ext uri="{FF2B5EF4-FFF2-40B4-BE49-F238E27FC236}">
                <a16:creationId xmlns:a16="http://schemas.microsoft.com/office/drawing/2014/main" id="{57183796-482E-43F8-9EA8-5CC7B5DDFC7B}"/>
              </a:ext>
            </a:extLst>
          </p:cNvPr>
          <p:cNvSpPr>
            <a:spLocks/>
          </p:cNvSpPr>
          <p:nvPr/>
        </p:nvSpPr>
        <p:spPr bwMode="auto">
          <a:xfrm>
            <a:off x="5251450" y="3146425"/>
            <a:ext cx="512763" cy="455613"/>
          </a:xfrm>
          <a:custGeom>
            <a:avLst/>
            <a:gdLst>
              <a:gd name="T0" fmla="*/ 171 w 323"/>
              <a:gd name="T1" fmla="*/ 57 h 287"/>
              <a:gd name="T2" fmla="*/ 221 w 323"/>
              <a:gd name="T3" fmla="*/ 0 h 287"/>
              <a:gd name="T4" fmla="*/ 217 w 323"/>
              <a:gd name="T5" fmla="*/ 77 h 287"/>
              <a:gd name="T6" fmla="*/ 269 w 323"/>
              <a:gd name="T7" fmla="*/ 42 h 287"/>
              <a:gd name="T8" fmla="*/ 245 w 323"/>
              <a:gd name="T9" fmla="*/ 87 h 287"/>
              <a:gd name="T10" fmla="*/ 323 w 323"/>
              <a:gd name="T11" fmla="*/ 88 h 287"/>
              <a:gd name="T12" fmla="*/ 254 w 323"/>
              <a:gd name="T13" fmla="*/ 125 h 287"/>
              <a:gd name="T14" fmla="*/ 273 w 323"/>
              <a:gd name="T15" fmla="*/ 150 h 287"/>
              <a:gd name="T16" fmla="*/ 245 w 323"/>
              <a:gd name="T17" fmla="*/ 164 h 287"/>
              <a:gd name="T18" fmla="*/ 282 w 323"/>
              <a:gd name="T19" fmla="*/ 208 h 287"/>
              <a:gd name="T20" fmla="*/ 219 w 323"/>
              <a:gd name="T21" fmla="*/ 191 h 287"/>
              <a:gd name="T22" fmla="*/ 223 w 323"/>
              <a:gd name="T23" fmla="*/ 231 h 287"/>
              <a:gd name="T24" fmla="*/ 182 w 323"/>
              <a:gd name="T25" fmla="*/ 212 h 287"/>
              <a:gd name="T26" fmla="*/ 174 w 323"/>
              <a:gd name="T27" fmla="*/ 251 h 287"/>
              <a:gd name="T28" fmla="*/ 148 w 323"/>
              <a:gd name="T29" fmla="*/ 231 h 287"/>
              <a:gd name="T30" fmla="*/ 130 w 323"/>
              <a:gd name="T31" fmla="*/ 262 h 287"/>
              <a:gd name="T32" fmla="*/ 112 w 323"/>
              <a:gd name="T33" fmla="*/ 241 h 287"/>
              <a:gd name="T34" fmla="*/ 73 w 323"/>
              <a:gd name="T35" fmla="*/ 287 h 287"/>
              <a:gd name="T36" fmla="*/ 72 w 323"/>
              <a:gd name="T37" fmla="*/ 243 h 287"/>
              <a:gd name="T38" fmla="*/ 19 w 323"/>
              <a:gd name="T39" fmla="*/ 237 h 287"/>
              <a:gd name="T40" fmla="*/ 50 w 323"/>
              <a:gd name="T41" fmla="*/ 204 h 287"/>
              <a:gd name="T42" fmla="*/ 0 w 323"/>
              <a:gd name="T43" fmla="*/ 171 h 287"/>
              <a:gd name="T44" fmla="*/ 59 w 323"/>
              <a:gd name="T45" fmla="*/ 154 h 287"/>
              <a:gd name="T46" fmla="*/ 17 w 323"/>
              <a:gd name="T47" fmla="*/ 110 h 287"/>
              <a:gd name="T48" fmla="*/ 80 w 323"/>
              <a:gd name="T49" fmla="*/ 104 h 287"/>
              <a:gd name="T50" fmla="*/ 67 w 323"/>
              <a:gd name="T51" fmla="*/ 48 h 287"/>
              <a:gd name="T52" fmla="*/ 128 w 323"/>
              <a:gd name="T53" fmla="*/ 85 h 287"/>
              <a:gd name="T54" fmla="*/ 145 w 323"/>
              <a:gd name="T55" fmla="*/ 25 h 287"/>
              <a:gd name="T56" fmla="*/ 171 w 323"/>
              <a:gd name="T57" fmla="*/ 57 h 28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323" h="287">
                <a:moveTo>
                  <a:pt x="171" y="57"/>
                </a:moveTo>
                <a:lnTo>
                  <a:pt x="221" y="0"/>
                </a:lnTo>
                <a:lnTo>
                  <a:pt x="217" y="77"/>
                </a:lnTo>
                <a:lnTo>
                  <a:pt x="269" y="42"/>
                </a:lnTo>
                <a:lnTo>
                  <a:pt x="245" y="87"/>
                </a:lnTo>
                <a:lnTo>
                  <a:pt x="323" y="88"/>
                </a:lnTo>
                <a:lnTo>
                  <a:pt x="254" y="125"/>
                </a:lnTo>
                <a:lnTo>
                  <a:pt x="273" y="150"/>
                </a:lnTo>
                <a:lnTo>
                  <a:pt x="245" y="164"/>
                </a:lnTo>
                <a:lnTo>
                  <a:pt x="282" y="208"/>
                </a:lnTo>
                <a:lnTo>
                  <a:pt x="219" y="191"/>
                </a:lnTo>
                <a:lnTo>
                  <a:pt x="223" y="231"/>
                </a:lnTo>
                <a:lnTo>
                  <a:pt x="182" y="212"/>
                </a:lnTo>
                <a:lnTo>
                  <a:pt x="174" y="251"/>
                </a:lnTo>
                <a:lnTo>
                  <a:pt x="148" y="231"/>
                </a:lnTo>
                <a:lnTo>
                  <a:pt x="130" y="262"/>
                </a:lnTo>
                <a:lnTo>
                  <a:pt x="112" y="241"/>
                </a:lnTo>
                <a:lnTo>
                  <a:pt x="73" y="287"/>
                </a:lnTo>
                <a:lnTo>
                  <a:pt x="72" y="243"/>
                </a:lnTo>
                <a:lnTo>
                  <a:pt x="19" y="237"/>
                </a:lnTo>
                <a:lnTo>
                  <a:pt x="50" y="204"/>
                </a:lnTo>
                <a:lnTo>
                  <a:pt x="0" y="171"/>
                </a:lnTo>
                <a:lnTo>
                  <a:pt x="59" y="154"/>
                </a:lnTo>
                <a:lnTo>
                  <a:pt x="17" y="110"/>
                </a:lnTo>
                <a:lnTo>
                  <a:pt x="80" y="104"/>
                </a:lnTo>
                <a:lnTo>
                  <a:pt x="67" y="48"/>
                </a:lnTo>
                <a:lnTo>
                  <a:pt x="128" y="85"/>
                </a:lnTo>
                <a:lnTo>
                  <a:pt x="145" y="25"/>
                </a:lnTo>
                <a:lnTo>
                  <a:pt x="171" y="57"/>
                </a:lnTo>
                <a:close/>
              </a:path>
            </a:pathLst>
          </a:custGeom>
          <a:pattFill prst="shingle">
            <a:fgClr>
              <a:schemeClr val="accent6">
                <a:lumMod val="60000"/>
                <a:lumOff val="40000"/>
              </a:schemeClr>
            </a:fgClr>
            <a:bgClr>
              <a:schemeClr val="bg1"/>
            </a:bgClr>
          </a:pattFill>
          <a:ln w="9525" cap="flat">
            <a:solidFill>
              <a:srgbClr val="3C09F7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39" name="Freeform 36">
            <a:extLst>
              <a:ext uri="{FF2B5EF4-FFF2-40B4-BE49-F238E27FC236}">
                <a16:creationId xmlns:a16="http://schemas.microsoft.com/office/drawing/2014/main" id="{93F469D6-B4F5-42D9-8EB4-57B4BAE4EDD5}"/>
              </a:ext>
            </a:extLst>
          </p:cNvPr>
          <p:cNvSpPr>
            <a:spLocks/>
          </p:cNvSpPr>
          <p:nvPr/>
        </p:nvSpPr>
        <p:spPr bwMode="auto">
          <a:xfrm>
            <a:off x="5764213" y="3146425"/>
            <a:ext cx="512763" cy="455613"/>
          </a:xfrm>
          <a:custGeom>
            <a:avLst/>
            <a:gdLst>
              <a:gd name="T0" fmla="*/ 172 w 323"/>
              <a:gd name="T1" fmla="*/ 57 h 287"/>
              <a:gd name="T2" fmla="*/ 221 w 323"/>
              <a:gd name="T3" fmla="*/ 0 h 287"/>
              <a:gd name="T4" fmla="*/ 217 w 323"/>
              <a:gd name="T5" fmla="*/ 77 h 287"/>
              <a:gd name="T6" fmla="*/ 269 w 323"/>
              <a:gd name="T7" fmla="*/ 42 h 287"/>
              <a:gd name="T8" fmla="*/ 245 w 323"/>
              <a:gd name="T9" fmla="*/ 87 h 287"/>
              <a:gd name="T10" fmla="*/ 323 w 323"/>
              <a:gd name="T11" fmla="*/ 88 h 287"/>
              <a:gd name="T12" fmla="*/ 254 w 323"/>
              <a:gd name="T13" fmla="*/ 125 h 287"/>
              <a:gd name="T14" fmla="*/ 273 w 323"/>
              <a:gd name="T15" fmla="*/ 150 h 287"/>
              <a:gd name="T16" fmla="*/ 245 w 323"/>
              <a:gd name="T17" fmla="*/ 164 h 287"/>
              <a:gd name="T18" fmla="*/ 282 w 323"/>
              <a:gd name="T19" fmla="*/ 208 h 287"/>
              <a:gd name="T20" fmla="*/ 219 w 323"/>
              <a:gd name="T21" fmla="*/ 191 h 287"/>
              <a:gd name="T22" fmla="*/ 223 w 323"/>
              <a:gd name="T23" fmla="*/ 231 h 287"/>
              <a:gd name="T24" fmla="*/ 182 w 323"/>
              <a:gd name="T25" fmla="*/ 212 h 287"/>
              <a:gd name="T26" fmla="*/ 174 w 323"/>
              <a:gd name="T27" fmla="*/ 251 h 287"/>
              <a:gd name="T28" fmla="*/ 148 w 323"/>
              <a:gd name="T29" fmla="*/ 231 h 287"/>
              <a:gd name="T30" fmla="*/ 130 w 323"/>
              <a:gd name="T31" fmla="*/ 262 h 287"/>
              <a:gd name="T32" fmla="*/ 113 w 323"/>
              <a:gd name="T33" fmla="*/ 241 h 287"/>
              <a:gd name="T34" fmla="*/ 74 w 323"/>
              <a:gd name="T35" fmla="*/ 287 h 287"/>
              <a:gd name="T36" fmla="*/ 72 w 323"/>
              <a:gd name="T37" fmla="*/ 243 h 287"/>
              <a:gd name="T38" fmla="*/ 19 w 323"/>
              <a:gd name="T39" fmla="*/ 237 h 287"/>
              <a:gd name="T40" fmla="*/ 50 w 323"/>
              <a:gd name="T41" fmla="*/ 204 h 287"/>
              <a:gd name="T42" fmla="*/ 0 w 323"/>
              <a:gd name="T43" fmla="*/ 171 h 287"/>
              <a:gd name="T44" fmla="*/ 59 w 323"/>
              <a:gd name="T45" fmla="*/ 154 h 287"/>
              <a:gd name="T46" fmla="*/ 18 w 323"/>
              <a:gd name="T47" fmla="*/ 110 h 287"/>
              <a:gd name="T48" fmla="*/ 80 w 323"/>
              <a:gd name="T49" fmla="*/ 104 h 287"/>
              <a:gd name="T50" fmla="*/ 67 w 323"/>
              <a:gd name="T51" fmla="*/ 48 h 287"/>
              <a:gd name="T52" fmla="*/ 128 w 323"/>
              <a:gd name="T53" fmla="*/ 85 h 287"/>
              <a:gd name="T54" fmla="*/ 145 w 323"/>
              <a:gd name="T55" fmla="*/ 25 h 287"/>
              <a:gd name="T56" fmla="*/ 172 w 323"/>
              <a:gd name="T57" fmla="*/ 57 h 28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323" h="287">
                <a:moveTo>
                  <a:pt x="172" y="57"/>
                </a:moveTo>
                <a:lnTo>
                  <a:pt x="221" y="0"/>
                </a:lnTo>
                <a:lnTo>
                  <a:pt x="217" y="77"/>
                </a:lnTo>
                <a:lnTo>
                  <a:pt x="269" y="42"/>
                </a:lnTo>
                <a:lnTo>
                  <a:pt x="245" y="87"/>
                </a:lnTo>
                <a:lnTo>
                  <a:pt x="323" y="88"/>
                </a:lnTo>
                <a:lnTo>
                  <a:pt x="254" y="125"/>
                </a:lnTo>
                <a:lnTo>
                  <a:pt x="273" y="150"/>
                </a:lnTo>
                <a:lnTo>
                  <a:pt x="245" y="164"/>
                </a:lnTo>
                <a:lnTo>
                  <a:pt x="282" y="208"/>
                </a:lnTo>
                <a:lnTo>
                  <a:pt x="219" y="191"/>
                </a:lnTo>
                <a:lnTo>
                  <a:pt x="223" y="231"/>
                </a:lnTo>
                <a:lnTo>
                  <a:pt x="182" y="212"/>
                </a:lnTo>
                <a:lnTo>
                  <a:pt x="174" y="251"/>
                </a:lnTo>
                <a:lnTo>
                  <a:pt x="148" y="231"/>
                </a:lnTo>
                <a:lnTo>
                  <a:pt x="130" y="262"/>
                </a:lnTo>
                <a:lnTo>
                  <a:pt x="113" y="241"/>
                </a:lnTo>
                <a:lnTo>
                  <a:pt x="74" y="287"/>
                </a:lnTo>
                <a:lnTo>
                  <a:pt x="72" y="243"/>
                </a:lnTo>
                <a:lnTo>
                  <a:pt x="19" y="237"/>
                </a:lnTo>
                <a:lnTo>
                  <a:pt x="50" y="204"/>
                </a:lnTo>
                <a:lnTo>
                  <a:pt x="0" y="171"/>
                </a:lnTo>
                <a:lnTo>
                  <a:pt x="59" y="154"/>
                </a:lnTo>
                <a:lnTo>
                  <a:pt x="18" y="110"/>
                </a:lnTo>
                <a:lnTo>
                  <a:pt x="80" y="104"/>
                </a:lnTo>
                <a:lnTo>
                  <a:pt x="67" y="48"/>
                </a:lnTo>
                <a:lnTo>
                  <a:pt x="128" y="85"/>
                </a:lnTo>
                <a:lnTo>
                  <a:pt x="145" y="25"/>
                </a:lnTo>
                <a:lnTo>
                  <a:pt x="172" y="57"/>
                </a:lnTo>
                <a:close/>
              </a:path>
            </a:pathLst>
          </a:custGeom>
          <a:pattFill prst="shingle">
            <a:fgClr>
              <a:schemeClr val="accent6">
                <a:lumMod val="60000"/>
                <a:lumOff val="40000"/>
              </a:schemeClr>
            </a:fgClr>
            <a:bgClr>
              <a:schemeClr val="bg1"/>
            </a:bgClr>
          </a:patt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40" name="Freeform 37">
            <a:extLst>
              <a:ext uri="{FF2B5EF4-FFF2-40B4-BE49-F238E27FC236}">
                <a16:creationId xmlns:a16="http://schemas.microsoft.com/office/drawing/2014/main" id="{4D18AE76-1383-4D5F-BE98-A9D6627B275C}"/>
              </a:ext>
            </a:extLst>
          </p:cNvPr>
          <p:cNvSpPr>
            <a:spLocks/>
          </p:cNvSpPr>
          <p:nvPr/>
        </p:nvSpPr>
        <p:spPr bwMode="auto">
          <a:xfrm>
            <a:off x="5764213" y="3146425"/>
            <a:ext cx="512763" cy="455613"/>
          </a:xfrm>
          <a:custGeom>
            <a:avLst/>
            <a:gdLst>
              <a:gd name="T0" fmla="*/ 172 w 323"/>
              <a:gd name="T1" fmla="*/ 57 h 287"/>
              <a:gd name="T2" fmla="*/ 221 w 323"/>
              <a:gd name="T3" fmla="*/ 0 h 287"/>
              <a:gd name="T4" fmla="*/ 217 w 323"/>
              <a:gd name="T5" fmla="*/ 77 h 287"/>
              <a:gd name="T6" fmla="*/ 269 w 323"/>
              <a:gd name="T7" fmla="*/ 42 h 287"/>
              <a:gd name="T8" fmla="*/ 245 w 323"/>
              <a:gd name="T9" fmla="*/ 87 h 287"/>
              <a:gd name="T10" fmla="*/ 323 w 323"/>
              <a:gd name="T11" fmla="*/ 88 h 287"/>
              <a:gd name="T12" fmla="*/ 254 w 323"/>
              <a:gd name="T13" fmla="*/ 125 h 287"/>
              <a:gd name="T14" fmla="*/ 273 w 323"/>
              <a:gd name="T15" fmla="*/ 150 h 287"/>
              <a:gd name="T16" fmla="*/ 245 w 323"/>
              <a:gd name="T17" fmla="*/ 164 h 287"/>
              <a:gd name="T18" fmla="*/ 282 w 323"/>
              <a:gd name="T19" fmla="*/ 208 h 287"/>
              <a:gd name="T20" fmla="*/ 219 w 323"/>
              <a:gd name="T21" fmla="*/ 191 h 287"/>
              <a:gd name="T22" fmla="*/ 223 w 323"/>
              <a:gd name="T23" fmla="*/ 231 h 287"/>
              <a:gd name="T24" fmla="*/ 182 w 323"/>
              <a:gd name="T25" fmla="*/ 212 h 287"/>
              <a:gd name="T26" fmla="*/ 174 w 323"/>
              <a:gd name="T27" fmla="*/ 251 h 287"/>
              <a:gd name="T28" fmla="*/ 148 w 323"/>
              <a:gd name="T29" fmla="*/ 231 h 287"/>
              <a:gd name="T30" fmla="*/ 130 w 323"/>
              <a:gd name="T31" fmla="*/ 262 h 287"/>
              <a:gd name="T32" fmla="*/ 113 w 323"/>
              <a:gd name="T33" fmla="*/ 241 h 287"/>
              <a:gd name="T34" fmla="*/ 74 w 323"/>
              <a:gd name="T35" fmla="*/ 287 h 287"/>
              <a:gd name="T36" fmla="*/ 72 w 323"/>
              <a:gd name="T37" fmla="*/ 243 h 287"/>
              <a:gd name="T38" fmla="*/ 19 w 323"/>
              <a:gd name="T39" fmla="*/ 237 h 287"/>
              <a:gd name="T40" fmla="*/ 50 w 323"/>
              <a:gd name="T41" fmla="*/ 204 h 287"/>
              <a:gd name="T42" fmla="*/ 0 w 323"/>
              <a:gd name="T43" fmla="*/ 171 h 287"/>
              <a:gd name="T44" fmla="*/ 59 w 323"/>
              <a:gd name="T45" fmla="*/ 154 h 287"/>
              <a:gd name="T46" fmla="*/ 18 w 323"/>
              <a:gd name="T47" fmla="*/ 110 h 287"/>
              <a:gd name="T48" fmla="*/ 80 w 323"/>
              <a:gd name="T49" fmla="*/ 104 h 287"/>
              <a:gd name="T50" fmla="*/ 67 w 323"/>
              <a:gd name="T51" fmla="*/ 48 h 287"/>
              <a:gd name="T52" fmla="*/ 128 w 323"/>
              <a:gd name="T53" fmla="*/ 85 h 287"/>
              <a:gd name="T54" fmla="*/ 145 w 323"/>
              <a:gd name="T55" fmla="*/ 25 h 287"/>
              <a:gd name="T56" fmla="*/ 172 w 323"/>
              <a:gd name="T57" fmla="*/ 57 h 28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323" h="287">
                <a:moveTo>
                  <a:pt x="172" y="57"/>
                </a:moveTo>
                <a:lnTo>
                  <a:pt x="221" y="0"/>
                </a:lnTo>
                <a:lnTo>
                  <a:pt x="217" y="77"/>
                </a:lnTo>
                <a:lnTo>
                  <a:pt x="269" y="42"/>
                </a:lnTo>
                <a:lnTo>
                  <a:pt x="245" y="87"/>
                </a:lnTo>
                <a:lnTo>
                  <a:pt x="323" y="88"/>
                </a:lnTo>
                <a:lnTo>
                  <a:pt x="254" y="125"/>
                </a:lnTo>
                <a:lnTo>
                  <a:pt x="273" y="150"/>
                </a:lnTo>
                <a:lnTo>
                  <a:pt x="245" y="164"/>
                </a:lnTo>
                <a:lnTo>
                  <a:pt x="282" y="208"/>
                </a:lnTo>
                <a:lnTo>
                  <a:pt x="219" y="191"/>
                </a:lnTo>
                <a:lnTo>
                  <a:pt x="223" y="231"/>
                </a:lnTo>
                <a:lnTo>
                  <a:pt x="182" y="212"/>
                </a:lnTo>
                <a:lnTo>
                  <a:pt x="174" y="251"/>
                </a:lnTo>
                <a:lnTo>
                  <a:pt x="148" y="231"/>
                </a:lnTo>
                <a:lnTo>
                  <a:pt x="130" y="262"/>
                </a:lnTo>
                <a:lnTo>
                  <a:pt x="113" y="241"/>
                </a:lnTo>
                <a:lnTo>
                  <a:pt x="74" y="287"/>
                </a:lnTo>
                <a:lnTo>
                  <a:pt x="72" y="243"/>
                </a:lnTo>
                <a:lnTo>
                  <a:pt x="19" y="237"/>
                </a:lnTo>
                <a:lnTo>
                  <a:pt x="50" y="204"/>
                </a:lnTo>
                <a:lnTo>
                  <a:pt x="0" y="171"/>
                </a:lnTo>
                <a:lnTo>
                  <a:pt x="59" y="154"/>
                </a:lnTo>
                <a:lnTo>
                  <a:pt x="18" y="110"/>
                </a:lnTo>
                <a:lnTo>
                  <a:pt x="80" y="104"/>
                </a:lnTo>
                <a:lnTo>
                  <a:pt x="67" y="48"/>
                </a:lnTo>
                <a:lnTo>
                  <a:pt x="128" y="85"/>
                </a:lnTo>
                <a:lnTo>
                  <a:pt x="145" y="25"/>
                </a:lnTo>
                <a:lnTo>
                  <a:pt x="172" y="57"/>
                </a:lnTo>
                <a:close/>
              </a:path>
            </a:pathLst>
          </a:custGeom>
          <a:pattFill prst="shingle">
            <a:fgClr>
              <a:schemeClr val="accent6">
                <a:lumMod val="60000"/>
                <a:lumOff val="40000"/>
              </a:schemeClr>
            </a:fgClr>
            <a:bgClr>
              <a:schemeClr val="bg1"/>
            </a:bgClr>
          </a:pattFill>
          <a:ln w="9525" cap="flat">
            <a:solidFill>
              <a:srgbClr val="3C09F7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41" name="Rectangle 38">
            <a:extLst>
              <a:ext uri="{FF2B5EF4-FFF2-40B4-BE49-F238E27FC236}">
                <a16:creationId xmlns:a16="http://schemas.microsoft.com/office/drawing/2014/main" id="{3689B37C-ABA4-4CCC-92BE-2E2074643F04}"/>
              </a:ext>
            </a:extLst>
          </p:cNvPr>
          <p:cNvSpPr>
            <a:spLocks noChangeArrowheads="1"/>
          </p:cNvSpPr>
          <p:nvPr/>
        </p:nvSpPr>
        <p:spPr bwMode="auto">
          <a:xfrm>
            <a:off x="5308600" y="4914900"/>
            <a:ext cx="398463" cy="342900"/>
          </a:xfrm>
          <a:prstGeom prst="rect">
            <a:avLst/>
          </a:prstGeom>
          <a:solidFill>
            <a:srgbClr val="0099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42" name="Rectangle 39">
            <a:extLst>
              <a:ext uri="{FF2B5EF4-FFF2-40B4-BE49-F238E27FC236}">
                <a16:creationId xmlns:a16="http://schemas.microsoft.com/office/drawing/2014/main" id="{3C43E6B7-5102-4CA7-8A20-7136943BFAE6}"/>
              </a:ext>
            </a:extLst>
          </p:cNvPr>
          <p:cNvSpPr>
            <a:spLocks noChangeArrowheads="1"/>
          </p:cNvSpPr>
          <p:nvPr/>
        </p:nvSpPr>
        <p:spPr bwMode="auto">
          <a:xfrm>
            <a:off x="5308600" y="4914900"/>
            <a:ext cx="398463" cy="342900"/>
          </a:xfrm>
          <a:prstGeom prst="rect">
            <a:avLst/>
          </a:prstGeom>
          <a:noFill/>
          <a:ln w="9525" cap="flat">
            <a:solidFill>
              <a:srgbClr val="009900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43" name="Rectangle 40">
            <a:extLst>
              <a:ext uri="{FF2B5EF4-FFF2-40B4-BE49-F238E27FC236}">
                <a16:creationId xmlns:a16="http://schemas.microsoft.com/office/drawing/2014/main" id="{39C8152D-5661-4C31-8779-809174A29067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29971" y="2574925"/>
            <a:ext cx="134938" cy="339724"/>
          </a:xfrm>
          <a:prstGeom prst="rect">
            <a:avLst/>
          </a:prstGeom>
          <a:solidFill>
            <a:srgbClr val="DE250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45" name="Freeform 42">
            <a:extLst>
              <a:ext uri="{FF2B5EF4-FFF2-40B4-BE49-F238E27FC236}">
                <a16:creationId xmlns:a16="http://schemas.microsoft.com/office/drawing/2014/main" id="{F38D766B-0438-4376-9F30-73D50D8ECBD8}"/>
              </a:ext>
            </a:extLst>
          </p:cNvPr>
          <p:cNvSpPr>
            <a:spLocks noEditPoints="1"/>
          </p:cNvSpPr>
          <p:nvPr/>
        </p:nvSpPr>
        <p:spPr bwMode="auto">
          <a:xfrm>
            <a:off x="4899025" y="2971800"/>
            <a:ext cx="538163" cy="1943100"/>
          </a:xfrm>
          <a:custGeom>
            <a:avLst/>
            <a:gdLst>
              <a:gd name="T0" fmla="*/ 13 w 339"/>
              <a:gd name="T1" fmla="*/ 0 h 1224"/>
              <a:gd name="T2" fmla="*/ 327 w 339"/>
              <a:gd name="T3" fmla="*/ 1190 h 1224"/>
              <a:gd name="T4" fmla="*/ 315 w 339"/>
              <a:gd name="T5" fmla="*/ 1193 h 1224"/>
              <a:gd name="T6" fmla="*/ 0 w 339"/>
              <a:gd name="T7" fmla="*/ 4 h 1224"/>
              <a:gd name="T8" fmla="*/ 13 w 339"/>
              <a:gd name="T9" fmla="*/ 0 h 1224"/>
              <a:gd name="T10" fmla="*/ 339 w 339"/>
              <a:gd name="T11" fmla="*/ 1180 h 1224"/>
              <a:gd name="T12" fmla="*/ 329 w 339"/>
              <a:gd name="T13" fmla="*/ 1224 h 1224"/>
              <a:gd name="T14" fmla="*/ 300 w 339"/>
              <a:gd name="T15" fmla="*/ 1190 h 1224"/>
              <a:gd name="T16" fmla="*/ 339 w 339"/>
              <a:gd name="T17" fmla="*/ 1180 h 12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339" h="1224">
                <a:moveTo>
                  <a:pt x="13" y="0"/>
                </a:moveTo>
                <a:lnTo>
                  <a:pt x="327" y="1190"/>
                </a:lnTo>
                <a:lnTo>
                  <a:pt x="315" y="1193"/>
                </a:lnTo>
                <a:lnTo>
                  <a:pt x="0" y="4"/>
                </a:lnTo>
                <a:lnTo>
                  <a:pt x="13" y="0"/>
                </a:lnTo>
                <a:close/>
                <a:moveTo>
                  <a:pt x="339" y="1180"/>
                </a:moveTo>
                <a:lnTo>
                  <a:pt x="329" y="1224"/>
                </a:lnTo>
                <a:lnTo>
                  <a:pt x="300" y="1190"/>
                </a:lnTo>
                <a:lnTo>
                  <a:pt x="339" y="1180"/>
                </a:lnTo>
                <a:close/>
              </a:path>
            </a:pathLst>
          </a:custGeom>
          <a:solidFill>
            <a:srgbClr val="009900"/>
          </a:solidFill>
          <a:ln w="0" cap="flat">
            <a:solidFill>
              <a:srgbClr val="0099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46" name="Rectangle 43">
            <a:extLst>
              <a:ext uri="{FF2B5EF4-FFF2-40B4-BE49-F238E27FC236}">
                <a16:creationId xmlns:a16="http://schemas.microsoft.com/office/drawing/2014/main" id="{085CF5E3-494B-43FE-8F1D-FB5927BEE6F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58925" y="2616200"/>
            <a:ext cx="49694" cy="2154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zh-CN" altLang="zh-CN" sz="1400" i="1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rPr>
              <a:t>I</a:t>
            </a:r>
            <a:endParaRPr kumimoji="0" lang="zh-CN" altLang="zh-CN" sz="1800" i="1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  <a:ea typeface="SimHei" panose="02010609060101010101" pitchFamily="49" charset="-122"/>
            </a:endParaRPr>
          </a:p>
        </p:txBody>
      </p:sp>
      <p:sp>
        <p:nvSpPr>
          <p:cNvPr id="47" name="Rectangle 44">
            <a:extLst>
              <a:ext uri="{FF2B5EF4-FFF2-40B4-BE49-F238E27FC236}">
                <a16:creationId xmlns:a16="http://schemas.microsoft.com/office/drawing/2014/main" id="{3A1F61C9-9194-4712-8DDD-5C4B4F8B29D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36700" y="2825750"/>
            <a:ext cx="92974" cy="20005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zh-CN" altLang="zh-CN" sz="1300" i="1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rPr>
              <a:t>n</a:t>
            </a:r>
            <a:endParaRPr kumimoji="0" lang="zh-CN" altLang="zh-CN" sz="1800" i="1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  <a:ea typeface="SimHei" panose="02010609060101010101" pitchFamily="49" charset="-122"/>
            </a:endParaRPr>
          </a:p>
        </p:txBody>
      </p:sp>
      <p:sp>
        <p:nvSpPr>
          <p:cNvPr id="48" name="Rectangle 45">
            <a:extLst>
              <a:ext uri="{FF2B5EF4-FFF2-40B4-BE49-F238E27FC236}">
                <a16:creationId xmlns:a16="http://schemas.microsoft.com/office/drawing/2014/main" id="{0FCD4D00-51D5-4792-AE7D-25FA775BCC4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36700" y="3030538"/>
            <a:ext cx="89768" cy="2154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zh-CN" altLang="zh-CN" sz="1400" i="1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rPr>
              <a:t>s</a:t>
            </a:r>
            <a:endParaRPr kumimoji="0" lang="zh-CN" altLang="zh-CN" sz="1800" i="1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  <a:ea typeface="SimHei" panose="02010609060101010101" pitchFamily="49" charset="-122"/>
            </a:endParaRPr>
          </a:p>
        </p:txBody>
      </p:sp>
      <p:sp>
        <p:nvSpPr>
          <p:cNvPr id="49" name="Rectangle 46">
            <a:extLst>
              <a:ext uri="{FF2B5EF4-FFF2-40B4-BE49-F238E27FC236}">
                <a16:creationId xmlns:a16="http://schemas.microsoft.com/office/drawing/2014/main" id="{0FA8A95C-0D55-49A7-ABF2-E18CE481AEC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58925" y="3236913"/>
            <a:ext cx="49694" cy="2154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zh-CN" altLang="zh-CN" sz="1400" i="1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rPr>
              <a:t>t</a:t>
            </a:r>
            <a:endParaRPr kumimoji="0" lang="zh-CN" altLang="zh-CN" sz="1800" i="1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  <a:ea typeface="SimHei" panose="02010609060101010101" pitchFamily="49" charset="-122"/>
            </a:endParaRPr>
          </a:p>
        </p:txBody>
      </p:sp>
      <p:sp>
        <p:nvSpPr>
          <p:cNvPr id="50" name="Rectangle 47">
            <a:extLst>
              <a:ext uri="{FF2B5EF4-FFF2-40B4-BE49-F238E27FC236}">
                <a16:creationId xmlns:a16="http://schemas.microsoft.com/office/drawing/2014/main" id="{17BC8F9F-EE00-4D51-A0E9-020E645A0325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30350" y="3443288"/>
            <a:ext cx="102336" cy="2154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zh-CN" altLang="zh-CN" sz="1400" i="1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rPr>
              <a:t>r.</a:t>
            </a:r>
            <a:endParaRPr kumimoji="0" lang="zh-CN" altLang="zh-CN" sz="1800" i="1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  <a:ea typeface="SimHei" panose="02010609060101010101" pitchFamily="49" charset="-122"/>
            </a:endParaRPr>
          </a:p>
        </p:txBody>
      </p:sp>
      <p:sp>
        <p:nvSpPr>
          <p:cNvPr id="51" name="Rectangle 48">
            <a:extLst>
              <a:ext uri="{FF2B5EF4-FFF2-40B4-BE49-F238E27FC236}">
                <a16:creationId xmlns:a16="http://schemas.microsoft.com/office/drawing/2014/main" id="{422620B9-1414-4723-9E2C-5B93C952F9B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16063" y="3852863"/>
            <a:ext cx="129844" cy="20005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zh-CN" altLang="zh-CN" sz="1300" i="1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rPr>
              <a:t>O</a:t>
            </a:r>
            <a:endParaRPr kumimoji="0" lang="zh-CN" altLang="zh-CN" sz="1800" i="1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  <a:ea typeface="SimHei" panose="02010609060101010101" pitchFamily="49" charset="-122"/>
            </a:endParaRPr>
          </a:p>
        </p:txBody>
      </p:sp>
      <p:sp>
        <p:nvSpPr>
          <p:cNvPr id="52" name="Rectangle 49">
            <a:extLst>
              <a:ext uri="{FF2B5EF4-FFF2-40B4-BE49-F238E27FC236}">
                <a16:creationId xmlns:a16="http://schemas.microsoft.com/office/drawing/2014/main" id="{E4F8D8EA-7C68-4374-9B02-D34E214DCBD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50988" y="4057650"/>
            <a:ext cx="59312" cy="2154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zh-CN" altLang="zh-CN" sz="1400" i="1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rPr>
              <a:t>r</a:t>
            </a:r>
            <a:endParaRPr kumimoji="0" lang="zh-CN" altLang="zh-CN" sz="1800" i="1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  <a:ea typeface="SimHei" panose="02010609060101010101" pitchFamily="49" charset="-122"/>
            </a:endParaRPr>
          </a:p>
        </p:txBody>
      </p:sp>
      <p:sp>
        <p:nvSpPr>
          <p:cNvPr id="53" name="Rectangle 50">
            <a:extLst>
              <a:ext uri="{FF2B5EF4-FFF2-40B4-BE49-F238E27FC236}">
                <a16:creationId xmlns:a16="http://schemas.microsoft.com/office/drawing/2014/main" id="{B9CA5059-778D-4E26-831D-97C3F5A42BD5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36700" y="4264025"/>
            <a:ext cx="99386" cy="2154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zh-CN" altLang="zh-CN" sz="1400" i="1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rPr>
              <a:t>d</a:t>
            </a:r>
            <a:endParaRPr kumimoji="0" lang="zh-CN" altLang="zh-CN" sz="1800" i="1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  <a:ea typeface="SimHei" panose="02010609060101010101" pitchFamily="49" charset="-122"/>
            </a:endParaRPr>
          </a:p>
        </p:txBody>
      </p:sp>
      <p:sp>
        <p:nvSpPr>
          <p:cNvPr id="54" name="Rectangle 51">
            <a:extLst>
              <a:ext uri="{FF2B5EF4-FFF2-40B4-BE49-F238E27FC236}">
                <a16:creationId xmlns:a16="http://schemas.microsoft.com/office/drawing/2014/main" id="{7FFF95B0-C51E-4414-8D5C-A4F0B08886F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36700" y="4473575"/>
            <a:ext cx="92974" cy="20005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zh-CN" altLang="zh-CN" sz="1300" i="1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rPr>
              <a:t>e</a:t>
            </a:r>
            <a:endParaRPr kumimoji="0" lang="zh-CN" altLang="zh-CN" sz="1800" i="1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  <a:ea typeface="SimHei" panose="02010609060101010101" pitchFamily="49" charset="-122"/>
            </a:endParaRPr>
          </a:p>
        </p:txBody>
      </p:sp>
      <p:sp>
        <p:nvSpPr>
          <p:cNvPr id="55" name="Rectangle 52">
            <a:extLst>
              <a:ext uri="{FF2B5EF4-FFF2-40B4-BE49-F238E27FC236}">
                <a16:creationId xmlns:a16="http://schemas.microsoft.com/office/drawing/2014/main" id="{AFB2F783-9A13-489B-B871-7032082ECC9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50988" y="4670425"/>
            <a:ext cx="59312" cy="2154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zh-CN" altLang="zh-CN" sz="1400" i="1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rPr>
              <a:t>r</a:t>
            </a:r>
            <a:endParaRPr kumimoji="0" lang="zh-CN" altLang="zh-CN" sz="1800" i="1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  <a:ea typeface="SimHei" panose="02010609060101010101" pitchFamily="49" charset="-122"/>
            </a:endParaRPr>
          </a:p>
        </p:txBody>
      </p:sp>
      <p:sp>
        <p:nvSpPr>
          <p:cNvPr id="56" name="Freeform 53">
            <a:extLst>
              <a:ext uri="{FF2B5EF4-FFF2-40B4-BE49-F238E27FC236}">
                <a16:creationId xmlns:a16="http://schemas.microsoft.com/office/drawing/2014/main" id="{B01F66FF-4CA0-4292-80D0-5F5256BB6CCF}"/>
              </a:ext>
            </a:extLst>
          </p:cNvPr>
          <p:cNvSpPr>
            <a:spLocks noEditPoints="1"/>
          </p:cNvSpPr>
          <p:nvPr/>
        </p:nvSpPr>
        <p:spPr bwMode="auto">
          <a:xfrm>
            <a:off x="2286000" y="2262188"/>
            <a:ext cx="5245100" cy="57150"/>
          </a:xfrm>
          <a:custGeom>
            <a:avLst/>
            <a:gdLst>
              <a:gd name="T0" fmla="*/ 0 w 3304"/>
              <a:gd name="T1" fmla="*/ 28 h 36"/>
              <a:gd name="T2" fmla="*/ 3274 w 3304"/>
              <a:gd name="T3" fmla="*/ 24 h 36"/>
              <a:gd name="T4" fmla="*/ 3274 w 3304"/>
              <a:gd name="T5" fmla="*/ 12 h 36"/>
              <a:gd name="T6" fmla="*/ 0 w 3304"/>
              <a:gd name="T7" fmla="*/ 16 h 36"/>
              <a:gd name="T8" fmla="*/ 0 w 3304"/>
              <a:gd name="T9" fmla="*/ 28 h 36"/>
              <a:gd name="T10" fmla="*/ 3269 w 3304"/>
              <a:gd name="T11" fmla="*/ 36 h 36"/>
              <a:gd name="T12" fmla="*/ 3304 w 3304"/>
              <a:gd name="T13" fmla="*/ 17 h 36"/>
              <a:gd name="T14" fmla="*/ 3268 w 3304"/>
              <a:gd name="T15" fmla="*/ 0 h 36"/>
              <a:gd name="T16" fmla="*/ 3269 w 3304"/>
              <a:gd name="T17" fmla="*/ 36 h 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3304" h="36">
                <a:moveTo>
                  <a:pt x="0" y="28"/>
                </a:moveTo>
                <a:lnTo>
                  <a:pt x="3274" y="24"/>
                </a:lnTo>
                <a:lnTo>
                  <a:pt x="3274" y="12"/>
                </a:lnTo>
                <a:lnTo>
                  <a:pt x="0" y="16"/>
                </a:lnTo>
                <a:lnTo>
                  <a:pt x="0" y="28"/>
                </a:lnTo>
                <a:close/>
                <a:moveTo>
                  <a:pt x="3269" y="36"/>
                </a:moveTo>
                <a:lnTo>
                  <a:pt x="3304" y="17"/>
                </a:lnTo>
                <a:lnTo>
                  <a:pt x="3268" y="0"/>
                </a:lnTo>
                <a:lnTo>
                  <a:pt x="3269" y="36"/>
                </a:lnTo>
                <a:close/>
              </a:path>
            </a:pathLst>
          </a:custGeom>
          <a:solidFill>
            <a:srgbClr val="000000"/>
          </a:solidFill>
          <a:ln w="0" cap="flat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57" name="Rectangle 54">
            <a:extLst>
              <a:ext uri="{FF2B5EF4-FFF2-40B4-BE49-F238E27FC236}">
                <a16:creationId xmlns:a16="http://schemas.microsoft.com/office/drawing/2014/main" id="{82570157-2332-478C-8192-B04A5B214633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41500" y="2566988"/>
            <a:ext cx="384721" cy="2769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zh-CN" altLang="zh-CN" sz="1800" u="none" strike="noStrike" cap="none" normalizeH="0" baseline="0" dirty="0">
                <a:ln>
                  <a:noFill/>
                </a:ln>
                <a:solidFill>
                  <a:srgbClr val="DE2506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rPr>
              <a:t>beq</a:t>
            </a:r>
            <a:endParaRPr kumimoji="0" lang="zh-CN" altLang="zh-CN" sz="180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  <a:ea typeface="SimHei" panose="02010609060101010101" pitchFamily="49" charset="-122"/>
            </a:endParaRPr>
          </a:p>
        </p:txBody>
      </p:sp>
      <p:sp>
        <p:nvSpPr>
          <p:cNvPr id="58" name="Freeform 55">
            <a:extLst>
              <a:ext uri="{FF2B5EF4-FFF2-40B4-BE49-F238E27FC236}">
                <a16:creationId xmlns:a16="http://schemas.microsoft.com/office/drawing/2014/main" id="{79D1883F-CBBD-4628-A739-6C6CA6D41817}"/>
              </a:ext>
            </a:extLst>
          </p:cNvPr>
          <p:cNvSpPr>
            <a:spLocks noEditPoints="1"/>
          </p:cNvSpPr>
          <p:nvPr/>
        </p:nvSpPr>
        <p:spPr bwMode="auto">
          <a:xfrm>
            <a:off x="1684338" y="2517775"/>
            <a:ext cx="63500" cy="3824288"/>
          </a:xfrm>
          <a:custGeom>
            <a:avLst/>
            <a:gdLst>
              <a:gd name="T0" fmla="*/ 27 w 40"/>
              <a:gd name="T1" fmla="*/ 0 h 2409"/>
              <a:gd name="T2" fmla="*/ 27 w 40"/>
              <a:gd name="T3" fmla="*/ 2375 h 2409"/>
              <a:gd name="T4" fmla="*/ 13 w 40"/>
              <a:gd name="T5" fmla="*/ 2375 h 2409"/>
              <a:gd name="T6" fmla="*/ 13 w 40"/>
              <a:gd name="T7" fmla="*/ 0 h 2409"/>
              <a:gd name="T8" fmla="*/ 27 w 40"/>
              <a:gd name="T9" fmla="*/ 0 h 2409"/>
              <a:gd name="T10" fmla="*/ 40 w 40"/>
              <a:gd name="T11" fmla="*/ 2368 h 2409"/>
              <a:gd name="T12" fmla="*/ 20 w 40"/>
              <a:gd name="T13" fmla="*/ 2409 h 2409"/>
              <a:gd name="T14" fmla="*/ 0 w 40"/>
              <a:gd name="T15" fmla="*/ 2368 h 2409"/>
              <a:gd name="T16" fmla="*/ 40 w 40"/>
              <a:gd name="T17" fmla="*/ 2368 h 240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40" h="2409">
                <a:moveTo>
                  <a:pt x="27" y="0"/>
                </a:moveTo>
                <a:lnTo>
                  <a:pt x="27" y="2375"/>
                </a:lnTo>
                <a:lnTo>
                  <a:pt x="13" y="2375"/>
                </a:lnTo>
                <a:lnTo>
                  <a:pt x="13" y="0"/>
                </a:lnTo>
                <a:lnTo>
                  <a:pt x="27" y="0"/>
                </a:lnTo>
                <a:close/>
                <a:moveTo>
                  <a:pt x="40" y="2368"/>
                </a:moveTo>
                <a:lnTo>
                  <a:pt x="20" y="2409"/>
                </a:lnTo>
                <a:lnTo>
                  <a:pt x="0" y="2368"/>
                </a:lnTo>
                <a:lnTo>
                  <a:pt x="40" y="2368"/>
                </a:lnTo>
                <a:close/>
              </a:path>
            </a:pathLst>
          </a:custGeom>
          <a:solidFill>
            <a:srgbClr val="000000"/>
          </a:solidFill>
          <a:ln w="0" cap="flat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i="1" dirty="0">
              <a:ea typeface="SimHei" panose="02010609060101010101" pitchFamily="49" charset="-122"/>
            </a:endParaRPr>
          </a:p>
        </p:txBody>
      </p:sp>
      <p:sp>
        <p:nvSpPr>
          <p:cNvPr id="59" name="Freeform 56">
            <a:extLst>
              <a:ext uri="{FF2B5EF4-FFF2-40B4-BE49-F238E27FC236}">
                <a16:creationId xmlns:a16="http://schemas.microsoft.com/office/drawing/2014/main" id="{E54DCDA3-CF47-4DF4-A3A6-A0D6695E98CB}"/>
              </a:ext>
            </a:extLst>
          </p:cNvPr>
          <p:cNvSpPr>
            <a:spLocks/>
          </p:cNvSpPr>
          <p:nvPr/>
        </p:nvSpPr>
        <p:spPr bwMode="auto">
          <a:xfrm>
            <a:off x="4367213" y="2460625"/>
            <a:ext cx="249238" cy="569913"/>
          </a:xfrm>
          <a:custGeom>
            <a:avLst/>
            <a:gdLst>
              <a:gd name="T0" fmla="*/ 0 w 157"/>
              <a:gd name="T1" fmla="*/ 240 h 359"/>
              <a:gd name="T2" fmla="*/ 52 w 157"/>
              <a:gd name="T3" fmla="*/ 180 h 359"/>
              <a:gd name="T4" fmla="*/ 0 w 157"/>
              <a:gd name="T5" fmla="*/ 120 h 359"/>
              <a:gd name="T6" fmla="*/ 0 w 157"/>
              <a:gd name="T7" fmla="*/ 0 h 359"/>
              <a:gd name="T8" fmla="*/ 157 w 157"/>
              <a:gd name="T9" fmla="*/ 120 h 359"/>
              <a:gd name="T10" fmla="*/ 157 w 157"/>
              <a:gd name="T11" fmla="*/ 240 h 359"/>
              <a:gd name="T12" fmla="*/ 0 w 157"/>
              <a:gd name="T13" fmla="*/ 359 h 359"/>
              <a:gd name="T14" fmla="*/ 0 w 157"/>
              <a:gd name="T15" fmla="*/ 240 h 35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157" h="359">
                <a:moveTo>
                  <a:pt x="0" y="240"/>
                </a:moveTo>
                <a:lnTo>
                  <a:pt x="52" y="180"/>
                </a:lnTo>
                <a:lnTo>
                  <a:pt x="0" y="120"/>
                </a:lnTo>
                <a:lnTo>
                  <a:pt x="0" y="0"/>
                </a:lnTo>
                <a:lnTo>
                  <a:pt x="157" y="120"/>
                </a:lnTo>
                <a:lnTo>
                  <a:pt x="157" y="240"/>
                </a:lnTo>
                <a:lnTo>
                  <a:pt x="0" y="359"/>
                </a:lnTo>
                <a:lnTo>
                  <a:pt x="0" y="240"/>
                </a:lnTo>
              </a:path>
            </a:pathLst>
          </a:custGeom>
          <a:noFill/>
          <a:ln w="19050" cap="rnd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60" name="Rectangle 57">
            <a:extLst>
              <a:ext uri="{FF2B5EF4-FFF2-40B4-BE49-F238E27FC236}">
                <a16:creationId xmlns:a16="http://schemas.microsoft.com/office/drawing/2014/main" id="{C7579320-7D02-410D-8BED-00F5531A5879}"/>
              </a:ext>
            </a:extLst>
          </p:cNvPr>
          <p:cNvSpPr>
            <a:spLocks noChangeArrowheads="1"/>
          </p:cNvSpPr>
          <p:nvPr/>
        </p:nvSpPr>
        <p:spPr bwMode="auto">
          <a:xfrm rot="5400000">
            <a:off x="4205694" y="2654835"/>
            <a:ext cx="611187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zh-CN" altLang="zh-CN" sz="1200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rPr>
              <a:t>ALU</a:t>
            </a:r>
            <a:endParaRPr kumimoji="0" lang="zh-CN" altLang="zh-CN" sz="120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  <a:ea typeface="SimHei" panose="02010609060101010101" pitchFamily="49" charset="-122"/>
            </a:endParaRPr>
          </a:p>
        </p:txBody>
      </p:sp>
      <p:sp>
        <p:nvSpPr>
          <p:cNvPr id="61" name="Rectangle 58">
            <a:extLst>
              <a:ext uri="{FF2B5EF4-FFF2-40B4-BE49-F238E27FC236}">
                <a16:creationId xmlns:a16="http://schemas.microsoft.com/office/drawing/2014/main" id="{FF261389-8242-4248-8DE7-ED97A41AC5B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41688" y="2625725"/>
            <a:ext cx="171522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zh-CN" sz="1200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rPr>
              <a:t>IM</a:t>
            </a:r>
            <a:endParaRPr kumimoji="0" lang="zh-CN" altLang="zh-CN" sz="180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  <a:ea typeface="SimHei" panose="02010609060101010101" pitchFamily="49" charset="-122"/>
            </a:endParaRPr>
          </a:p>
        </p:txBody>
      </p:sp>
      <p:sp>
        <p:nvSpPr>
          <p:cNvPr id="62" name="Freeform 59">
            <a:extLst>
              <a:ext uri="{FF2B5EF4-FFF2-40B4-BE49-F238E27FC236}">
                <a16:creationId xmlns:a16="http://schemas.microsoft.com/office/drawing/2014/main" id="{0346B937-B441-48A2-BA9B-46637761A823}"/>
              </a:ext>
            </a:extLst>
          </p:cNvPr>
          <p:cNvSpPr>
            <a:spLocks/>
          </p:cNvSpPr>
          <p:nvPr/>
        </p:nvSpPr>
        <p:spPr bwMode="auto">
          <a:xfrm>
            <a:off x="3270250" y="2574925"/>
            <a:ext cx="198438" cy="341313"/>
          </a:xfrm>
          <a:custGeom>
            <a:avLst/>
            <a:gdLst>
              <a:gd name="T0" fmla="*/ 125 w 125"/>
              <a:gd name="T1" fmla="*/ 0 h 215"/>
              <a:gd name="T2" fmla="*/ 0 w 125"/>
              <a:gd name="T3" fmla="*/ 0 h 215"/>
              <a:gd name="T4" fmla="*/ 0 w 125"/>
              <a:gd name="T5" fmla="*/ 215 h 215"/>
              <a:gd name="T6" fmla="*/ 125 w 125"/>
              <a:gd name="T7" fmla="*/ 215 h 2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125" h="215">
                <a:moveTo>
                  <a:pt x="125" y="0"/>
                </a:moveTo>
                <a:lnTo>
                  <a:pt x="0" y="0"/>
                </a:lnTo>
                <a:lnTo>
                  <a:pt x="0" y="215"/>
                </a:lnTo>
                <a:lnTo>
                  <a:pt x="125" y="215"/>
                </a:lnTo>
              </a:path>
            </a:pathLst>
          </a:custGeom>
          <a:noFill/>
          <a:ln w="19050" cap="rnd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63" name="Freeform 60">
            <a:extLst>
              <a:ext uri="{FF2B5EF4-FFF2-40B4-BE49-F238E27FC236}">
                <a16:creationId xmlns:a16="http://schemas.microsoft.com/office/drawing/2014/main" id="{FFACA68D-7A3C-45B4-8E72-535E9D5E691C}"/>
              </a:ext>
            </a:extLst>
          </p:cNvPr>
          <p:cNvSpPr>
            <a:spLocks/>
          </p:cNvSpPr>
          <p:nvPr/>
        </p:nvSpPr>
        <p:spPr bwMode="auto">
          <a:xfrm>
            <a:off x="3468688" y="2574925"/>
            <a:ext cx="198438" cy="341313"/>
          </a:xfrm>
          <a:custGeom>
            <a:avLst/>
            <a:gdLst>
              <a:gd name="T0" fmla="*/ 0 w 125"/>
              <a:gd name="T1" fmla="*/ 0 h 215"/>
              <a:gd name="T2" fmla="*/ 125 w 125"/>
              <a:gd name="T3" fmla="*/ 0 h 215"/>
              <a:gd name="T4" fmla="*/ 125 w 125"/>
              <a:gd name="T5" fmla="*/ 215 h 215"/>
              <a:gd name="T6" fmla="*/ 0 w 125"/>
              <a:gd name="T7" fmla="*/ 215 h 2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125" h="215">
                <a:moveTo>
                  <a:pt x="0" y="0"/>
                </a:moveTo>
                <a:lnTo>
                  <a:pt x="125" y="0"/>
                </a:lnTo>
                <a:lnTo>
                  <a:pt x="125" y="215"/>
                </a:lnTo>
                <a:lnTo>
                  <a:pt x="0" y="215"/>
                </a:lnTo>
              </a:path>
            </a:pathLst>
          </a:custGeom>
          <a:noFill/>
          <a:ln w="19050" cap="rnd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64" name="Rectangle 61">
            <a:extLst>
              <a:ext uri="{FF2B5EF4-FFF2-40B4-BE49-F238E27FC236}">
                <a16:creationId xmlns:a16="http://schemas.microsoft.com/office/drawing/2014/main" id="{F86BD336-7858-4C0C-8F35-144BD1FEFE8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57625" y="2632075"/>
            <a:ext cx="28052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zh-CN" altLang="zh-CN" sz="1200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rPr>
              <a:t>Reg</a:t>
            </a:r>
            <a:endParaRPr kumimoji="0" lang="zh-CN" altLang="zh-CN" sz="180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  <a:ea typeface="SimHei" panose="02010609060101010101" pitchFamily="49" charset="-122"/>
            </a:endParaRPr>
          </a:p>
        </p:txBody>
      </p:sp>
      <p:sp>
        <p:nvSpPr>
          <p:cNvPr id="65" name="Freeform 62">
            <a:extLst>
              <a:ext uri="{FF2B5EF4-FFF2-40B4-BE49-F238E27FC236}">
                <a16:creationId xmlns:a16="http://schemas.microsoft.com/office/drawing/2014/main" id="{4A35F5F7-CB5F-43FF-ACF1-AA5E04559C4B}"/>
              </a:ext>
            </a:extLst>
          </p:cNvPr>
          <p:cNvSpPr>
            <a:spLocks/>
          </p:cNvSpPr>
          <p:nvPr/>
        </p:nvSpPr>
        <p:spPr bwMode="auto">
          <a:xfrm>
            <a:off x="3811588" y="2574925"/>
            <a:ext cx="177800" cy="341313"/>
          </a:xfrm>
          <a:custGeom>
            <a:avLst/>
            <a:gdLst>
              <a:gd name="T0" fmla="*/ 112 w 112"/>
              <a:gd name="T1" fmla="*/ 0 h 215"/>
              <a:gd name="T2" fmla="*/ 0 w 112"/>
              <a:gd name="T3" fmla="*/ 0 h 215"/>
              <a:gd name="T4" fmla="*/ 0 w 112"/>
              <a:gd name="T5" fmla="*/ 215 h 215"/>
              <a:gd name="T6" fmla="*/ 112 w 112"/>
              <a:gd name="T7" fmla="*/ 215 h 2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112" h="215">
                <a:moveTo>
                  <a:pt x="112" y="0"/>
                </a:moveTo>
                <a:lnTo>
                  <a:pt x="0" y="0"/>
                </a:lnTo>
                <a:lnTo>
                  <a:pt x="0" y="215"/>
                </a:lnTo>
                <a:lnTo>
                  <a:pt x="112" y="215"/>
                </a:lnTo>
              </a:path>
            </a:pathLst>
          </a:custGeom>
          <a:noFill/>
          <a:ln w="19050" cap="rnd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66" name="Freeform 63">
            <a:extLst>
              <a:ext uri="{FF2B5EF4-FFF2-40B4-BE49-F238E27FC236}">
                <a16:creationId xmlns:a16="http://schemas.microsoft.com/office/drawing/2014/main" id="{9624B71D-A46B-4925-86E8-5B434EFB6CA2}"/>
              </a:ext>
            </a:extLst>
          </p:cNvPr>
          <p:cNvSpPr>
            <a:spLocks/>
          </p:cNvSpPr>
          <p:nvPr/>
        </p:nvSpPr>
        <p:spPr bwMode="auto">
          <a:xfrm>
            <a:off x="3989388" y="2574925"/>
            <a:ext cx="177800" cy="341313"/>
          </a:xfrm>
          <a:custGeom>
            <a:avLst/>
            <a:gdLst>
              <a:gd name="T0" fmla="*/ 0 w 112"/>
              <a:gd name="T1" fmla="*/ 0 h 215"/>
              <a:gd name="T2" fmla="*/ 112 w 112"/>
              <a:gd name="T3" fmla="*/ 0 h 215"/>
              <a:gd name="T4" fmla="*/ 112 w 112"/>
              <a:gd name="T5" fmla="*/ 215 h 215"/>
              <a:gd name="T6" fmla="*/ 0 w 112"/>
              <a:gd name="T7" fmla="*/ 215 h 2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112" h="215">
                <a:moveTo>
                  <a:pt x="0" y="0"/>
                </a:moveTo>
                <a:lnTo>
                  <a:pt x="112" y="0"/>
                </a:lnTo>
                <a:lnTo>
                  <a:pt x="112" y="215"/>
                </a:lnTo>
                <a:lnTo>
                  <a:pt x="0" y="215"/>
                </a:lnTo>
              </a:path>
            </a:pathLst>
          </a:custGeom>
          <a:noFill/>
          <a:ln w="19050" cap="rnd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67" name="Line 64">
            <a:extLst>
              <a:ext uri="{FF2B5EF4-FFF2-40B4-BE49-F238E27FC236}">
                <a16:creationId xmlns:a16="http://schemas.microsoft.com/office/drawing/2014/main" id="{531B1C7F-332B-48FC-A791-588E730E84EE}"/>
              </a:ext>
            </a:extLst>
          </p:cNvPr>
          <p:cNvSpPr>
            <a:spLocks noChangeShapeType="1"/>
          </p:cNvSpPr>
          <p:nvPr/>
        </p:nvSpPr>
        <p:spPr bwMode="auto">
          <a:xfrm>
            <a:off x="3676650" y="2746375"/>
            <a:ext cx="134938" cy="0"/>
          </a:xfrm>
          <a:prstGeom prst="line">
            <a:avLst/>
          </a:prstGeom>
          <a:noFill/>
          <a:ln w="19050" cap="flat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68" name="Freeform 65">
            <a:extLst>
              <a:ext uri="{FF2B5EF4-FFF2-40B4-BE49-F238E27FC236}">
                <a16:creationId xmlns:a16="http://schemas.microsoft.com/office/drawing/2014/main" id="{7A42A68B-DC9B-4529-999A-B0ED360107B9}"/>
              </a:ext>
            </a:extLst>
          </p:cNvPr>
          <p:cNvSpPr>
            <a:spLocks/>
          </p:cNvSpPr>
          <p:nvPr/>
        </p:nvSpPr>
        <p:spPr bwMode="auto">
          <a:xfrm>
            <a:off x="3754438" y="2632075"/>
            <a:ext cx="55563" cy="112713"/>
          </a:xfrm>
          <a:custGeom>
            <a:avLst/>
            <a:gdLst>
              <a:gd name="T0" fmla="*/ 0 w 35"/>
              <a:gd name="T1" fmla="*/ 71 h 71"/>
              <a:gd name="T2" fmla="*/ 0 w 35"/>
              <a:gd name="T3" fmla="*/ 0 h 71"/>
              <a:gd name="T4" fmla="*/ 35 w 35"/>
              <a:gd name="T5" fmla="*/ 0 h 7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35" h="71">
                <a:moveTo>
                  <a:pt x="0" y="71"/>
                </a:moveTo>
                <a:lnTo>
                  <a:pt x="0" y="0"/>
                </a:lnTo>
                <a:lnTo>
                  <a:pt x="35" y="0"/>
                </a:lnTo>
              </a:path>
            </a:pathLst>
          </a:custGeom>
          <a:noFill/>
          <a:ln w="19050" cap="rnd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69" name="Line 66">
            <a:extLst>
              <a:ext uri="{FF2B5EF4-FFF2-40B4-BE49-F238E27FC236}">
                <a16:creationId xmlns:a16="http://schemas.microsoft.com/office/drawing/2014/main" id="{9A8BE042-41AF-480B-8C5C-BC1BEC90D212}"/>
              </a:ext>
            </a:extLst>
          </p:cNvPr>
          <p:cNvSpPr>
            <a:spLocks noChangeShapeType="1"/>
          </p:cNvSpPr>
          <p:nvPr/>
        </p:nvSpPr>
        <p:spPr bwMode="auto">
          <a:xfrm>
            <a:off x="4167188" y="2632075"/>
            <a:ext cx="185738" cy="0"/>
          </a:xfrm>
          <a:prstGeom prst="line">
            <a:avLst/>
          </a:prstGeom>
          <a:noFill/>
          <a:ln w="19050" cap="flat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70" name="Rectangle 67">
            <a:extLst>
              <a:ext uri="{FF2B5EF4-FFF2-40B4-BE49-F238E27FC236}">
                <a16:creationId xmlns:a16="http://schemas.microsoft.com/office/drawing/2014/main" id="{3A9D382E-5E1C-4323-AE87-C6400C26AC3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27588" y="2625725"/>
            <a:ext cx="238848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zh-CN" altLang="zh-CN" sz="1200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rPr>
              <a:t>DM</a:t>
            </a:r>
            <a:endParaRPr kumimoji="0" lang="zh-CN" altLang="zh-CN" sz="180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  <a:ea typeface="SimHei" panose="02010609060101010101" pitchFamily="49" charset="-122"/>
            </a:endParaRPr>
          </a:p>
        </p:txBody>
      </p:sp>
      <p:sp>
        <p:nvSpPr>
          <p:cNvPr id="71" name="Freeform 68">
            <a:extLst>
              <a:ext uri="{FF2B5EF4-FFF2-40B4-BE49-F238E27FC236}">
                <a16:creationId xmlns:a16="http://schemas.microsoft.com/office/drawing/2014/main" id="{6C36FCD3-9F52-4802-9556-AC6A3D42A3A0}"/>
              </a:ext>
            </a:extLst>
          </p:cNvPr>
          <p:cNvSpPr>
            <a:spLocks/>
          </p:cNvSpPr>
          <p:nvPr/>
        </p:nvSpPr>
        <p:spPr bwMode="auto">
          <a:xfrm>
            <a:off x="4822825" y="2574925"/>
            <a:ext cx="192088" cy="341313"/>
          </a:xfrm>
          <a:custGeom>
            <a:avLst/>
            <a:gdLst>
              <a:gd name="T0" fmla="*/ 121 w 121"/>
              <a:gd name="T1" fmla="*/ 0 h 215"/>
              <a:gd name="T2" fmla="*/ 0 w 121"/>
              <a:gd name="T3" fmla="*/ 0 h 215"/>
              <a:gd name="T4" fmla="*/ 0 w 121"/>
              <a:gd name="T5" fmla="*/ 215 h 215"/>
              <a:gd name="T6" fmla="*/ 121 w 121"/>
              <a:gd name="T7" fmla="*/ 215 h 2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121" h="215">
                <a:moveTo>
                  <a:pt x="121" y="0"/>
                </a:moveTo>
                <a:lnTo>
                  <a:pt x="0" y="0"/>
                </a:lnTo>
                <a:lnTo>
                  <a:pt x="0" y="215"/>
                </a:lnTo>
                <a:lnTo>
                  <a:pt x="121" y="215"/>
                </a:lnTo>
              </a:path>
            </a:pathLst>
          </a:custGeom>
          <a:noFill/>
          <a:ln w="19050" cap="rnd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72" name="Freeform 69">
            <a:extLst>
              <a:ext uri="{FF2B5EF4-FFF2-40B4-BE49-F238E27FC236}">
                <a16:creationId xmlns:a16="http://schemas.microsoft.com/office/drawing/2014/main" id="{D8F43A75-06CD-4E62-9F49-CD94D773C61D}"/>
              </a:ext>
            </a:extLst>
          </p:cNvPr>
          <p:cNvSpPr>
            <a:spLocks/>
          </p:cNvSpPr>
          <p:nvPr/>
        </p:nvSpPr>
        <p:spPr bwMode="auto">
          <a:xfrm>
            <a:off x="5008563" y="2574925"/>
            <a:ext cx="198438" cy="341313"/>
          </a:xfrm>
          <a:custGeom>
            <a:avLst/>
            <a:gdLst>
              <a:gd name="T0" fmla="*/ 0 w 125"/>
              <a:gd name="T1" fmla="*/ 0 h 215"/>
              <a:gd name="T2" fmla="*/ 125 w 125"/>
              <a:gd name="T3" fmla="*/ 0 h 215"/>
              <a:gd name="T4" fmla="*/ 125 w 125"/>
              <a:gd name="T5" fmla="*/ 215 h 215"/>
              <a:gd name="T6" fmla="*/ 0 w 125"/>
              <a:gd name="T7" fmla="*/ 215 h 2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125" h="215">
                <a:moveTo>
                  <a:pt x="0" y="0"/>
                </a:moveTo>
                <a:lnTo>
                  <a:pt x="125" y="0"/>
                </a:lnTo>
                <a:lnTo>
                  <a:pt x="125" y="215"/>
                </a:lnTo>
                <a:lnTo>
                  <a:pt x="0" y="215"/>
                </a:lnTo>
              </a:path>
            </a:pathLst>
          </a:custGeom>
          <a:noFill/>
          <a:ln w="19050" cap="rnd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73" name="Rectangle 70">
            <a:extLst>
              <a:ext uri="{FF2B5EF4-FFF2-40B4-BE49-F238E27FC236}">
                <a16:creationId xmlns:a16="http://schemas.microsoft.com/office/drawing/2014/main" id="{CAEC38C9-041D-4D62-844D-1A1BA31E132D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11788" y="2625725"/>
            <a:ext cx="28052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zh-CN" altLang="zh-CN" sz="1200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rPr>
              <a:t>Reg</a:t>
            </a:r>
            <a:endParaRPr kumimoji="0" lang="zh-CN" altLang="zh-CN" sz="180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  <a:ea typeface="SimHei" panose="02010609060101010101" pitchFamily="49" charset="-122"/>
            </a:endParaRPr>
          </a:p>
        </p:txBody>
      </p:sp>
      <p:sp>
        <p:nvSpPr>
          <p:cNvPr id="74" name="Freeform 71">
            <a:extLst>
              <a:ext uri="{FF2B5EF4-FFF2-40B4-BE49-F238E27FC236}">
                <a16:creationId xmlns:a16="http://schemas.microsoft.com/office/drawing/2014/main" id="{DD4171AC-C60E-4205-8E0F-CE1B6951C71D}"/>
              </a:ext>
            </a:extLst>
          </p:cNvPr>
          <p:cNvSpPr>
            <a:spLocks/>
          </p:cNvSpPr>
          <p:nvPr/>
        </p:nvSpPr>
        <p:spPr bwMode="auto">
          <a:xfrm>
            <a:off x="5378450" y="2574925"/>
            <a:ext cx="163513" cy="341313"/>
          </a:xfrm>
          <a:custGeom>
            <a:avLst/>
            <a:gdLst>
              <a:gd name="T0" fmla="*/ 103 w 103"/>
              <a:gd name="T1" fmla="*/ 0 h 215"/>
              <a:gd name="T2" fmla="*/ 0 w 103"/>
              <a:gd name="T3" fmla="*/ 0 h 215"/>
              <a:gd name="T4" fmla="*/ 0 w 103"/>
              <a:gd name="T5" fmla="*/ 215 h 215"/>
              <a:gd name="T6" fmla="*/ 103 w 103"/>
              <a:gd name="T7" fmla="*/ 215 h 2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103" h="215">
                <a:moveTo>
                  <a:pt x="103" y="0"/>
                </a:moveTo>
                <a:lnTo>
                  <a:pt x="0" y="0"/>
                </a:lnTo>
                <a:lnTo>
                  <a:pt x="0" y="215"/>
                </a:lnTo>
                <a:lnTo>
                  <a:pt x="103" y="215"/>
                </a:lnTo>
              </a:path>
            </a:pathLst>
          </a:custGeom>
          <a:noFill/>
          <a:ln w="19050" cap="rnd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75" name="Freeform 72">
            <a:extLst>
              <a:ext uri="{FF2B5EF4-FFF2-40B4-BE49-F238E27FC236}">
                <a16:creationId xmlns:a16="http://schemas.microsoft.com/office/drawing/2014/main" id="{03739E36-5906-4C71-9C9E-F50141D978B1}"/>
              </a:ext>
            </a:extLst>
          </p:cNvPr>
          <p:cNvSpPr>
            <a:spLocks/>
          </p:cNvSpPr>
          <p:nvPr/>
        </p:nvSpPr>
        <p:spPr bwMode="auto">
          <a:xfrm>
            <a:off x="5543550" y="2574925"/>
            <a:ext cx="169863" cy="341313"/>
          </a:xfrm>
          <a:custGeom>
            <a:avLst/>
            <a:gdLst>
              <a:gd name="T0" fmla="*/ 0 w 107"/>
              <a:gd name="T1" fmla="*/ 0 h 215"/>
              <a:gd name="T2" fmla="*/ 107 w 107"/>
              <a:gd name="T3" fmla="*/ 0 h 215"/>
              <a:gd name="T4" fmla="*/ 107 w 107"/>
              <a:gd name="T5" fmla="*/ 215 h 215"/>
              <a:gd name="T6" fmla="*/ 0 w 107"/>
              <a:gd name="T7" fmla="*/ 215 h 2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107" h="215">
                <a:moveTo>
                  <a:pt x="0" y="0"/>
                </a:moveTo>
                <a:lnTo>
                  <a:pt x="107" y="0"/>
                </a:lnTo>
                <a:lnTo>
                  <a:pt x="107" y="215"/>
                </a:lnTo>
                <a:lnTo>
                  <a:pt x="0" y="215"/>
                </a:lnTo>
              </a:path>
            </a:pathLst>
          </a:custGeom>
          <a:noFill/>
          <a:ln w="19050" cap="rnd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76" name="Line 73">
            <a:extLst>
              <a:ext uri="{FF2B5EF4-FFF2-40B4-BE49-F238E27FC236}">
                <a16:creationId xmlns:a16="http://schemas.microsoft.com/office/drawing/2014/main" id="{9BEB6381-219E-4D65-86BC-2AB7877C8D9F}"/>
              </a:ext>
            </a:extLst>
          </p:cNvPr>
          <p:cNvSpPr>
            <a:spLocks noChangeShapeType="1"/>
          </p:cNvSpPr>
          <p:nvPr/>
        </p:nvSpPr>
        <p:spPr bwMode="auto">
          <a:xfrm>
            <a:off x="5200650" y="2746375"/>
            <a:ext cx="163513" cy="0"/>
          </a:xfrm>
          <a:prstGeom prst="line">
            <a:avLst/>
          </a:prstGeom>
          <a:noFill/>
          <a:ln w="19050" cap="flat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77" name="Line 74">
            <a:extLst>
              <a:ext uri="{FF2B5EF4-FFF2-40B4-BE49-F238E27FC236}">
                <a16:creationId xmlns:a16="http://schemas.microsoft.com/office/drawing/2014/main" id="{DC385C12-B63D-4646-8B16-3B76A093F552}"/>
              </a:ext>
            </a:extLst>
          </p:cNvPr>
          <p:cNvSpPr>
            <a:spLocks noChangeShapeType="1"/>
          </p:cNvSpPr>
          <p:nvPr/>
        </p:nvSpPr>
        <p:spPr bwMode="auto">
          <a:xfrm>
            <a:off x="4630738" y="2746375"/>
            <a:ext cx="177800" cy="0"/>
          </a:xfrm>
          <a:prstGeom prst="line">
            <a:avLst/>
          </a:prstGeom>
          <a:noFill/>
          <a:ln w="19050" cap="flat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78" name="Line 75">
            <a:extLst>
              <a:ext uri="{FF2B5EF4-FFF2-40B4-BE49-F238E27FC236}">
                <a16:creationId xmlns:a16="http://schemas.microsoft.com/office/drawing/2014/main" id="{FAA45EF8-B19F-4AFB-B1FF-4C8C7788151E}"/>
              </a:ext>
            </a:extLst>
          </p:cNvPr>
          <p:cNvSpPr>
            <a:spLocks noChangeShapeType="1"/>
          </p:cNvSpPr>
          <p:nvPr/>
        </p:nvSpPr>
        <p:spPr bwMode="auto">
          <a:xfrm>
            <a:off x="4167188" y="2860675"/>
            <a:ext cx="185738" cy="0"/>
          </a:xfrm>
          <a:prstGeom prst="line">
            <a:avLst/>
          </a:prstGeom>
          <a:noFill/>
          <a:ln w="19050" cap="flat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79" name="Line 76">
            <a:extLst>
              <a:ext uri="{FF2B5EF4-FFF2-40B4-BE49-F238E27FC236}">
                <a16:creationId xmlns:a16="http://schemas.microsoft.com/office/drawing/2014/main" id="{91659845-B425-4678-8E88-8D85CE6A554B}"/>
              </a:ext>
            </a:extLst>
          </p:cNvPr>
          <p:cNvSpPr>
            <a:spLocks noChangeShapeType="1"/>
          </p:cNvSpPr>
          <p:nvPr/>
        </p:nvSpPr>
        <p:spPr bwMode="auto">
          <a:xfrm>
            <a:off x="4267200" y="2860675"/>
            <a:ext cx="0" cy="228600"/>
          </a:xfrm>
          <a:prstGeom prst="line">
            <a:avLst/>
          </a:prstGeom>
          <a:noFill/>
          <a:ln w="20638" cap="flat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80" name="Line 77">
            <a:extLst>
              <a:ext uri="{FF2B5EF4-FFF2-40B4-BE49-F238E27FC236}">
                <a16:creationId xmlns:a16="http://schemas.microsoft.com/office/drawing/2014/main" id="{FB0DF0C0-B1F3-47E0-8F91-487FE2439181}"/>
              </a:ext>
            </a:extLst>
          </p:cNvPr>
          <p:cNvSpPr>
            <a:spLocks noChangeShapeType="1"/>
          </p:cNvSpPr>
          <p:nvPr/>
        </p:nvSpPr>
        <p:spPr bwMode="auto">
          <a:xfrm>
            <a:off x="4267200" y="3089275"/>
            <a:ext cx="400050" cy="0"/>
          </a:xfrm>
          <a:prstGeom prst="line">
            <a:avLst/>
          </a:prstGeom>
          <a:noFill/>
          <a:ln w="20638" cap="flat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81" name="Line 78">
            <a:extLst>
              <a:ext uri="{FF2B5EF4-FFF2-40B4-BE49-F238E27FC236}">
                <a16:creationId xmlns:a16="http://schemas.microsoft.com/office/drawing/2014/main" id="{85CA9AD4-A458-45BB-83D4-D599AF56124A}"/>
              </a:ext>
            </a:extLst>
          </p:cNvPr>
          <p:cNvSpPr>
            <a:spLocks noChangeShapeType="1"/>
          </p:cNvSpPr>
          <p:nvPr/>
        </p:nvSpPr>
        <p:spPr bwMode="auto">
          <a:xfrm>
            <a:off x="4667250" y="2746375"/>
            <a:ext cx="0" cy="342900"/>
          </a:xfrm>
          <a:prstGeom prst="line">
            <a:avLst/>
          </a:prstGeom>
          <a:noFill/>
          <a:ln w="20638" cap="flat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82" name="Line 79">
            <a:extLst>
              <a:ext uri="{FF2B5EF4-FFF2-40B4-BE49-F238E27FC236}">
                <a16:creationId xmlns:a16="http://schemas.microsoft.com/office/drawing/2014/main" id="{BBE86541-5BAC-46C3-A706-8003971CCC4B}"/>
              </a:ext>
            </a:extLst>
          </p:cNvPr>
          <p:cNvSpPr>
            <a:spLocks noChangeShapeType="1"/>
          </p:cNvSpPr>
          <p:nvPr/>
        </p:nvSpPr>
        <p:spPr bwMode="auto">
          <a:xfrm>
            <a:off x="4765675" y="2746375"/>
            <a:ext cx="0" cy="285750"/>
          </a:xfrm>
          <a:prstGeom prst="line">
            <a:avLst/>
          </a:prstGeom>
          <a:noFill/>
          <a:ln w="20638" cap="flat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83" name="Line 80">
            <a:extLst>
              <a:ext uri="{FF2B5EF4-FFF2-40B4-BE49-F238E27FC236}">
                <a16:creationId xmlns:a16="http://schemas.microsoft.com/office/drawing/2014/main" id="{7FCE23F4-B3B6-4EA6-BEBD-57BBD37627E8}"/>
              </a:ext>
            </a:extLst>
          </p:cNvPr>
          <p:cNvSpPr>
            <a:spLocks noChangeShapeType="1"/>
          </p:cNvSpPr>
          <p:nvPr/>
        </p:nvSpPr>
        <p:spPr bwMode="auto">
          <a:xfrm>
            <a:off x="4765675" y="3032125"/>
            <a:ext cx="514350" cy="0"/>
          </a:xfrm>
          <a:prstGeom prst="line">
            <a:avLst/>
          </a:prstGeom>
          <a:noFill/>
          <a:ln w="20638" cap="flat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84" name="Line 81">
            <a:extLst>
              <a:ext uri="{FF2B5EF4-FFF2-40B4-BE49-F238E27FC236}">
                <a16:creationId xmlns:a16="http://schemas.microsoft.com/office/drawing/2014/main" id="{0F2F14B2-E4C6-4C07-A3F0-EAA393EAC4B9}"/>
              </a:ext>
            </a:extLst>
          </p:cNvPr>
          <p:cNvSpPr>
            <a:spLocks noChangeShapeType="1"/>
          </p:cNvSpPr>
          <p:nvPr/>
        </p:nvSpPr>
        <p:spPr bwMode="auto">
          <a:xfrm>
            <a:off x="5280025" y="2746375"/>
            <a:ext cx="0" cy="285750"/>
          </a:xfrm>
          <a:prstGeom prst="line">
            <a:avLst/>
          </a:prstGeom>
          <a:noFill/>
          <a:ln w="20638" cap="flat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85" name="Rectangle 82">
            <a:extLst>
              <a:ext uri="{FF2B5EF4-FFF2-40B4-BE49-F238E27FC236}">
                <a16:creationId xmlns:a16="http://schemas.microsoft.com/office/drawing/2014/main" id="{12936088-1483-46DB-BD7D-244C11231C93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41500" y="5022850"/>
            <a:ext cx="218008" cy="2769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zh-CN" altLang="zh-CN" sz="1800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rPr>
              <a:t>lw</a:t>
            </a:r>
            <a:endParaRPr kumimoji="0" lang="zh-CN" altLang="zh-CN" sz="180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  <a:ea typeface="SimHei" panose="02010609060101010101" pitchFamily="49" charset="-122"/>
            </a:endParaRPr>
          </a:p>
        </p:txBody>
      </p:sp>
      <p:sp>
        <p:nvSpPr>
          <p:cNvPr id="86" name="Freeform 83">
            <a:extLst>
              <a:ext uri="{FF2B5EF4-FFF2-40B4-BE49-F238E27FC236}">
                <a16:creationId xmlns:a16="http://schemas.microsoft.com/office/drawing/2014/main" id="{7FF9221F-DB1C-471A-B5AD-05367AF820ED}"/>
              </a:ext>
            </a:extLst>
          </p:cNvPr>
          <p:cNvSpPr>
            <a:spLocks/>
          </p:cNvSpPr>
          <p:nvPr/>
        </p:nvSpPr>
        <p:spPr bwMode="auto">
          <a:xfrm>
            <a:off x="6419850" y="4800600"/>
            <a:ext cx="247650" cy="569913"/>
          </a:xfrm>
          <a:custGeom>
            <a:avLst/>
            <a:gdLst>
              <a:gd name="T0" fmla="*/ 0 w 156"/>
              <a:gd name="T1" fmla="*/ 239 h 359"/>
              <a:gd name="T2" fmla="*/ 52 w 156"/>
              <a:gd name="T3" fmla="*/ 180 h 359"/>
              <a:gd name="T4" fmla="*/ 0 w 156"/>
              <a:gd name="T5" fmla="*/ 120 h 359"/>
              <a:gd name="T6" fmla="*/ 0 w 156"/>
              <a:gd name="T7" fmla="*/ 0 h 359"/>
              <a:gd name="T8" fmla="*/ 156 w 156"/>
              <a:gd name="T9" fmla="*/ 120 h 359"/>
              <a:gd name="T10" fmla="*/ 156 w 156"/>
              <a:gd name="T11" fmla="*/ 239 h 359"/>
              <a:gd name="T12" fmla="*/ 0 w 156"/>
              <a:gd name="T13" fmla="*/ 359 h 359"/>
              <a:gd name="T14" fmla="*/ 0 w 156"/>
              <a:gd name="T15" fmla="*/ 239 h 35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156" h="359">
                <a:moveTo>
                  <a:pt x="0" y="239"/>
                </a:moveTo>
                <a:lnTo>
                  <a:pt x="52" y="180"/>
                </a:lnTo>
                <a:lnTo>
                  <a:pt x="0" y="120"/>
                </a:lnTo>
                <a:lnTo>
                  <a:pt x="0" y="0"/>
                </a:lnTo>
                <a:lnTo>
                  <a:pt x="156" y="120"/>
                </a:lnTo>
                <a:lnTo>
                  <a:pt x="156" y="239"/>
                </a:lnTo>
                <a:lnTo>
                  <a:pt x="0" y="359"/>
                </a:lnTo>
                <a:lnTo>
                  <a:pt x="0" y="239"/>
                </a:lnTo>
              </a:path>
            </a:pathLst>
          </a:custGeom>
          <a:noFill/>
          <a:ln w="19050" cap="rnd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87" name="Rectangle 84">
            <a:extLst>
              <a:ext uri="{FF2B5EF4-FFF2-40B4-BE49-F238E27FC236}">
                <a16:creationId xmlns:a16="http://schemas.microsoft.com/office/drawing/2014/main" id="{CB2AA0DE-FF5C-4478-89CC-3005057AF697}"/>
              </a:ext>
            </a:extLst>
          </p:cNvPr>
          <p:cNvSpPr>
            <a:spLocks noChangeArrowheads="1"/>
          </p:cNvSpPr>
          <p:nvPr/>
        </p:nvSpPr>
        <p:spPr bwMode="auto">
          <a:xfrm rot="5400000">
            <a:off x="6255156" y="4993222"/>
            <a:ext cx="611187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zh-CN" altLang="zh-CN" sz="1200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rPr>
              <a:t>ALU</a:t>
            </a:r>
            <a:endParaRPr kumimoji="0" lang="zh-CN" altLang="zh-CN" sz="120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  <a:ea typeface="SimHei" panose="02010609060101010101" pitchFamily="49" charset="-122"/>
            </a:endParaRPr>
          </a:p>
        </p:txBody>
      </p:sp>
      <p:sp>
        <p:nvSpPr>
          <p:cNvPr id="88" name="Rectangle 85">
            <a:extLst>
              <a:ext uri="{FF2B5EF4-FFF2-40B4-BE49-F238E27FC236}">
                <a16:creationId xmlns:a16="http://schemas.microsoft.com/office/drawing/2014/main" id="{38658007-A97F-4C7D-8E7D-FD64AD7C9EFA}"/>
              </a:ext>
            </a:extLst>
          </p:cNvPr>
          <p:cNvSpPr>
            <a:spLocks noChangeArrowheads="1"/>
          </p:cNvSpPr>
          <p:nvPr/>
        </p:nvSpPr>
        <p:spPr bwMode="auto">
          <a:xfrm>
            <a:off x="5391150" y="4965700"/>
            <a:ext cx="171522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zh-CN" sz="1200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rPr>
              <a:t>IM</a:t>
            </a:r>
            <a:endParaRPr kumimoji="0" lang="zh-CN" altLang="zh-CN" sz="180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  <a:ea typeface="SimHei" panose="02010609060101010101" pitchFamily="49" charset="-122"/>
            </a:endParaRPr>
          </a:p>
        </p:txBody>
      </p:sp>
      <p:sp>
        <p:nvSpPr>
          <p:cNvPr id="89" name="Freeform 86">
            <a:extLst>
              <a:ext uri="{FF2B5EF4-FFF2-40B4-BE49-F238E27FC236}">
                <a16:creationId xmlns:a16="http://schemas.microsoft.com/office/drawing/2014/main" id="{11D869CE-8EF6-43FF-873A-91CF2387530F}"/>
              </a:ext>
            </a:extLst>
          </p:cNvPr>
          <p:cNvSpPr>
            <a:spLocks/>
          </p:cNvSpPr>
          <p:nvPr/>
        </p:nvSpPr>
        <p:spPr bwMode="auto">
          <a:xfrm>
            <a:off x="5314950" y="4914900"/>
            <a:ext cx="206375" cy="341313"/>
          </a:xfrm>
          <a:custGeom>
            <a:avLst/>
            <a:gdLst>
              <a:gd name="T0" fmla="*/ 130 w 130"/>
              <a:gd name="T1" fmla="*/ 0 h 215"/>
              <a:gd name="T2" fmla="*/ 0 w 130"/>
              <a:gd name="T3" fmla="*/ 0 h 215"/>
              <a:gd name="T4" fmla="*/ 0 w 130"/>
              <a:gd name="T5" fmla="*/ 215 h 215"/>
              <a:gd name="T6" fmla="*/ 130 w 130"/>
              <a:gd name="T7" fmla="*/ 215 h 2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130" h="215">
                <a:moveTo>
                  <a:pt x="130" y="0"/>
                </a:moveTo>
                <a:lnTo>
                  <a:pt x="0" y="0"/>
                </a:lnTo>
                <a:lnTo>
                  <a:pt x="0" y="215"/>
                </a:lnTo>
                <a:lnTo>
                  <a:pt x="130" y="215"/>
                </a:lnTo>
              </a:path>
            </a:pathLst>
          </a:custGeom>
          <a:noFill/>
          <a:ln w="19050" cap="rnd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90" name="Freeform 87">
            <a:extLst>
              <a:ext uri="{FF2B5EF4-FFF2-40B4-BE49-F238E27FC236}">
                <a16:creationId xmlns:a16="http://schemas.microsoft.com/office/drawing/2014/main" id="{BDB240AE-C060-4770-A220-A2539AB6FE82}"/>
              </a:ext>
            </a:extLst>
          </p:cNvPr>
          <p:cNvSpPr>
            <a:spLocks/>
          </p:cNvSpPr>
          <p:nvPr/>
        </p:nvSpPr>
        <p:spPr bwMode="auto">
          <a:xfrm>
            <a:off x="5514975" y="4914900"/>
            <a:ext cx="204788" cy="341313"/>
          </a:xfrm>
          <a:custGeom>
            <a:avLst/>
            <a:gdLst>
              <a:gd name="T0" fmla="*/ 0 w 129"/>
              <a:gd name="T1" fmla="*/ 0 h 215"/>
              <a:gd name="T2" fmla="*/ 129 w 129"/>
              <a:gd name="T3" fmla="*/ 0 h 215"/>
              <a:gd name="T4" fmla="*/ 129 w 129"/>
              <a:gd name="T5" fmla="*/ 215 h 215"/>
              <a:gd name="T6" fmla="*/ 0 w 129"/>
              <a:gd name="T7" fmla="*/ 215 h 2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129" h="215">
                <a:moveTo>
                  <a:pt x="0" y="0"/>
                </a:moveTo>
                <a:lnTo>
                  <a:pt x="129" y="0"/>
                </a:lnTo>
                <a:lnTo>
                  <a:pt x="129" y="215"/>
                </a:lnTo>
                <a:lnTo>
                  <a:pt x="0" y="215"/>
                </a:lnTo>
              </a:path>
            </a:pathLst>
          </a:custGeom>
          <a:noFill/>
          <a:ln w="19050" cap="rnd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91" name="Rectangle 88">
            <a:extLst>
              <a:ext uri="{FF2B5EF4-FFF2-40B4-BE49-F238E27FC236}">
                <a16:creationId xmlns:a16="http://schemas.microsoft.com/office/drawing/2014/main" id="{06266376-D35A-4E8C-9868-FA23937BD1DC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07088" y="4972050"/>
            <a:ext cx="28052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zh-CN" altLang="zh-CN" sz="1200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rPr>
              <a:t>Reg</a:t>
            </a:r>
            <a:endParaRPr kumimoji="0" lang="zh-CN" altLang="zh-CN" sz="180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  <a:ea typeface="SimHei" panose="02010609060101010101" pitchFamily="49" charset="-122"/>
            </a:endParaRPr>
          </a:p>
        </p:txBody>
      </p:sp>
      <p:sp>
        <p:nvSpPr>
          <p:cNvPr id="92" name="Freeform 89">
            <a:extLst>
              <a:ext uri="{FF2B5EF4-FFF2-40B4-BE49-F238E27FC236}">
                <a16:creationId xmlns:a16="http://schemas.microsoft.com/office/drawing/2014/main" id="{4B722DC6-7ECB-41BC-9CAB-85BB3053718A}"/>
              </a:ext>
            </a:extLst>
          </p:cNvPr>
          <p:cNvSpPr>
            <a:spLocks/>
          </p:cNvSpPr>
          <p:nvPr/>
        </p:nvSpPr>
        <p:spPr bwMode="auto">
          <a:xfrm>
            <a:off x="5864225" y="4914900"/>
            <a:ext cx="176213" cy="341313"/>
          </a:xfrm>
          <a:custGeom>
            <a:avLst/>
            <a:gdLst>
              <a:gd name="T0" fmla="*/ 111 w 111"/>
              <a:gd name="T1" fmla="*/ 0 h 215"/>
              <a:gd name="T2" fmla="*/ 0 w 111"/>
              <a:gd name="T3" fmla="*/ 0 h 215"/>
              <a:gd name="T4" fmla="*/ 0 w 111"/>
              <a:gd name="T5" fmla="*/ 215 h 215"/>
              <a:gd name="T6" fmla="*/ 111 w 111"/>
              <a:gd name="T7" fmla="*/ 215 h 2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111" h="215">
                <a:moveTo>
                  <a:pt x="111" y="0"/>
                </a:moveTo>
                <a:lnTo>
                  <a:pt x="0" y="0"/>
                </a:lnTo>
                <a:lnTo>
                  <a:pt x="0" y="215"/>
                </a:lnTo>
                <a:lnTo>
                  <a:pt x="111" y="215"/>
                </a:lnTo>
              </a:path>
            </a:pathLst>
          </a:custGeom>
          <a:noFill/>
          <a:ln w="19050" cap="rnd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93" name="Freeform 90">
            <a:extLst>
              <a:ext uri="{FF2B5EF4-FFF2-40B4-BE49-F238E27FC236}">
                <a16:creationId xmlns:a16="http://schemas.microsoft.com/office/drawing/2014/main" id="{D01EF5C2-183C-4CBB-ACFC-7A015EDEE646}"/>
              </a:ext>
            </a:extLst>
          </p:cNvPr>
          <p:cNvSpPr>
            <a:spLocks/>
          </p:cNvSpPr>
          <p:nvPr/>
        </p:nvSpPr>
        <p:spPr bwMode="auto">
          <a:xfrm>
            <a:off x="6042025" y="4914900"/>
            <a:ext cx="169863" cy="341313"/>
          </a:xfrm>
          <a:custGeom>
            <a:avLst/>
            <a:gdLst>
              <a:gd name="T0" fmla="*/ 0 w 107"/>
              <a:gd name="T1" fmla="*/ 0 h 215"/>
              <a:gd name="T2" fmla="*/ 107 w 107"/>
              <a:gd name="T3" fmla="*/ 0 h 215"/>
              <a:gd name="T4" fmla="*/ 107 w 107"/>
              <a:gd name="T5" fmla="*/ 215 h 215"/>
              <a:gd name="T6" fmla="*/ 0 w 107"/>
              <a:gd name="T7" fmla="*/ 215 h 2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107" h="215">
                <a:moveTo>
                  <a:pt x="0" y="0"/>
                </a:moveTo>
                <a:lnTo>
                  <a:pt x="107" y="0"/>
                </a:lnTo>
                <a:lnTo>
                  <a:pt x="107" y="215"/>
                </a:lnTo>
                <a:lnTo>
                  <a:pt x="0" y="215"/>
                </a:lnTo>
              </a:path>
            </a:pathLst>
          </a:custGeom>
          <a:noFill/>
          <a:ln w="19050" cap="rnd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94" name="Line 91">
            <a:extLst>
              <a:ext uri="{FF2B5EF4-FFF2-40B4-BE49-F238E27FC236}">
                <a16:creationId xmlns:a16="http://schemas.microsoft.com/office/drawing/2014/main" id="{339107DF-5F21-404B-96AE-319DE9210AF1}"/>
              </a:ext>
            </a:extLst>
          </p:cNvPr>
          <p:cNvSpPr>
            <a:spLocks noChangeShapeType="1"/>
          </p:cNvSpPr>
          <p:nvPr/>
        </p:nvSpPr>
        <p:spPr bwMode="auto">
          <a:xfrm>
            <a:off x="5727700" y="5086350"/>
            <a:ext cx="136525" cy="0"/>
          </a:xfrm>
          <a:prstGeom prst="line">
            <a:avLst/>
          </a:prstGeom>
          <a:noFill/>
          <a:ln w="19050" cap="flat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95" name="Freeform 92">
            <a:extLst>
              <a:ext uri="{FF2B5EF4-FFF2-40B4-BE49-F238E27FC236}">
                <a16:creationId xmlns:a16="http://schemas.microsoft.com/office/drawing/2014/main" id="{224F64AC-534E-4DF2-ADA6-ECC050F7E004}"/>
              </a:ext>
            </a:extLst>
          </p:cNvPr>
          <p:cNvSpPr>
            <a:spLocks/>
          </p:cNvSpPr>
          <p:nvPr/>
        </p:nvSpPr>
        <p:spPr bwMode="auto">
          <a:xfrm>
            <a:off x="5807075" y="4972050"/>
            <a:ext cx="55563" cy="112713"/>
          </a:xfrm>
          <a:custGeom>
            <a:avLst/>
            <a:gdLst>
              <a:gd name="T0" fmla="*/ 0 w 35"/>
              <a:gd name="T1" fmla="*/ 71 h 71"/>
              <a:gd name="T2" fmla="*/ 0 w 35"/>
              <a:gd name="T3" fmla="*/ 0 h 71"/>
              <a:gd name="T4" fmla="*/ 35 w 35"/>
              <a:gd name="T5" fmla="*/ 0 h 7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35" h="71">
                <a:moveTo>
                  <a:pt x="0" y="71"/>
                </a:moveTo>
                <a:lnTo>
                  <a:pt x="0" y="0"/>
                </a:lnTo>
                <a:lnTo>
                  <a:pt x="35" y="0"/>
                </a:lnTo>
              </a:path>
            </a:pathLst>
          </a:custGeom>
          <a:noFill/>
          <a:ln w="19050" cap="rnd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96" name="Line 93">
            <a:extLst>
              <a:ext uri="{FF2B5EF4-FFF2-40B4-BE49-F238E27FC236}">
                <a16:creationId xmlns:a16="http://schemas.microsoft.com/office/drawing/2014/main" id="{B5C421D5-8ECA-4B69-8E95-8BB1C7FA3655}"/>
              </a:ext>
            </a:extLst>
          </p:cNvPr>
          <p:cNvSpPr>
            <a:spLocks noChangeShapeType="1"/>
          </p:cNvSpPr>
          <p:nvPr/>
        </p:nvSpPr>
        <p:spPr bwMode="auto">
          <a:xfrm>
            <a:off x="6219825" y="4972050"/>
            <a:ext cx="185738" cy="0"/>
          </a:xfrm>
          <a:prstGeom prst="line">
            <a:avLst/>
          </a:prstGeom>
          <a:noFill/>
          <a:ln w="19050" cap="flat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97" name="Rectangle 94">
            <a:extLst>
              <a:ext uri="{FF2B5EF4-FFF2-40B4-BE49-F238E27FC236}">
                <a16:creationId xmlns:a16="http://schemas.microsoft.com/office/drawing/2014/main" id="{A6585255-C9EE-431C-BFA9-A749E16C116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78638" y="4965700"/>
            <a:ext cx="238848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zh-CN" altLang="zh-CN" sz="1200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rPr>
              <a:t>DM</a:t>
            </a:r>
            <a:endParaRPr kumimoji="0" lang="zh-CN" altLang="zh-CN" sz="180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  <a:ea typeface="SimHei" panose="02010609060101010101" pitchFamily="49" charset="-122"/>
            </a:endParaRPr>
          </a:p>
        </p:txBody>
      </p:sp>
      <p:sp>
        <p:nvSpPr>
          <p:cNvPr id="98" name="Freeform 95">
            <a:extLst>
              <a:ext uri="{FF2B5EF4-FFF2-40B4-BE49-F238E27FC236}">
                <a16:creationId xmlns:a16="http://schemas.microsoft.com/office/drawing/2014/main" id="{62E9C339-3FC1-4135-992C-94557FD6B971}"/>
              </a:ext>
            </a:extLst>
          </p:cNvPr>
          <p:cNvSpPr>
            <a:spLocks/>
          </p:cNvSpPr>
          <p:nvPr/>
        </p:nvSpPr>
        <p:spPr bwMode="auto">
          <a:xfrm>
            <a:off x="6869113" y="4914900"/>
            <a:ext cx="190500" cy="341313"/>
          </a:xfrm>
          <a:custGeom>
            <a:avLst/>
            <a:gdLst>
              <a:gd name="T0" fmla="*/ 120 w 120"/>
              <a:gd name="T1" fmla="*/ 0 h 215"/>
              <a:gd name="T2" fmla="*/ 0 w 120"/>
              <a:gd name="T3" fmla="*/ 0 h 215"/>
              <a:gd name="T4" fmla="*/ 0 w 120"/>
              <a:gd name="T5" fmla="*/ 215 h 215"/>
              <a:gd name="T6" fmla="*/ 120 w 120"/>
              <a:gd name="T7" fmla="*/ 215 h 2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120" h="215">
                <a:moveTo>
                  <a:pt x="120" y="0"/>
                </a:moveTo>
                <a:lnTo>
                  <a:pt x="0" y="0"/>
                </a:lnTo>
                <a:lnTo>
                  <a:pt x="0" y="215"/>
                </a:lnTo>
                <a:lnTo>
                  <a:pt x="120" y="215"/>
                </a:lnTo>
              </a:path>
            </a:pathLst>
          </a:custGeom>
          <a:noFill/>
          <a:ln w="19050" cap="rnd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99" name="Freeform 96">
            <a:extLst>
              <a:ext uri="{FF2B5EF4-FFF2-40B4-BE49-F238E27FC236}">
                <a16:creationId xmlns:a16="http://schemas.microsoft.com/office/drawing/2014/main" id="{2DF827D1-397A-4F9E-BCEB-C7E9949C313E}"/>
              </a:ext>
            </a:extLst>
          </p:cNvPr>
          <p:cNvSpPr>
            <a:spLocks/>
          </p:cNvSpPr>
          <p:nvPr/>
        </p:nvSpPr>
        <p:spPr bwMode="auto">
          <a:xfrm>
            <a:off x="7061200" y="4914900"/>
            <a:ext cx="198438" cy="341313"/>
          </a:xfrm>
          <a:custGeom>
            <a:avLst/>
            <a:gdLst>
              <a:gd name="T0" fmla="*/ 0 w 125"/>
              <a:gd name="T1" fmla="*/ 0 h 215"/>
              <a:gd name="T2" fmla="*/ 125 w 125"/>
              <a:gd name="T3" fmla="*/ 0 h 215"/>
              <a:gd name="T4" fmla="*/ 125 w 125"/>
              <a:gd name="T5" fmla="*/ 215 h 215"/>
              <a:gd name="T6" fmla="*/ 0 w 125"/>
              <a:gd name="T7" fmla="*/ 215 h 2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125" h="215">
                <a:moveTo>
                  <a:pt x="0" y="0"/>
                </a:moveTo>
                <a:lnTo>
                  <a:pt x="125" y="0"/>
                </a:lnTo>
                <a:lnTo>
                  <a:pt x="125" y="215"/>
                </a:lnTo>
                <a:lnTo>
                  <a:pt x="0" y="215"/>
                </a:lnTo>
              </a:path>
            </a:pathLst>
          </a:custGeom>
          <a:noFill/>
          <a:ln w="19050" cap="rnd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100" name="Rectangle 97">
            <a:extLst>
              <a:ext uri="{FF2B5EF4-FFF2-40B4-BE49-F238E27FC236}">
                <a16:creationId xmlns:a16="http://schemas.microsoft.com/office/drawing/2014/main" id="{989CD1CD-F6C7-45F1-B6C2-2ADBDDB2F0BD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62838" y="4965700"/>
            <a:ext cx="28052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zh-CN" altLang="zh-CN" sz="1200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rPr>
              <a:t>Reg</a:t>
            </a:r>
            <a:endParaRPr kumimoji="0" lang="zh-CN" altLang="zh-CN" sz="180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  <a:ea typeface="SimHei" panose="02010609060101010101" pitchFamily="49" charset="-122"/>
            </a:endParaRPr>
          </a:p>
        </p:txBody>
      </p:sp>
      <p:sp>
        <p:nvSpPr>
          <p:cNvPr id="101" name="Freeform 98">
            <a:extLst>
              <a:ext uri="{FF2B5EF4-FFF2-40B4-BE49-F238E27FC236}">
                <a16:creationId xmlns:a16="http://schemas.microsoft.com/office/drawing/2014/main" id="{747EA5B2-BE2F-44B9-882F-A737312912C0}"/>
              </a:ext>
            </a:extLst>
          </p:cNvPr>
          <p:cNvSpPr>
            <a:spLocks/>
          </p:cNvSpPr>
          <p:nvPr/>
        </p:nvSpPr>
        <p:spPr bwMode="auto">
          <a:xfrm>
            <a:off x="7424738" y="4914900"/>
            <a:ext cx="169863" cy="341313"/>
          </a:xfrm>
          <a:custGeom>
            <a:avLst/>
            <a:gdLst>
              <a:gd name="T0" fmla="*/ 107 w 107"/>
              <a:gd name="T1" fmla="*/ 0 h 215"/>
              <a:gd name="T2" fmla="*/ 0 w 107"/>
              <a:gd name="T3" fmla="*/ 0 h 215"/>
              <a:gd name="T4" fmla="*/ 0 w 107"/>
              <a:gd name="T5" fmla="*/ 215 h 215"/>
              <a:gd name="T6" fmla="*/ 107 w 107"/>
              <a:gd name="T7" fmla="*/ 215 h 2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107" h="215">
                <a:moveTo>
                  <a:pt x="107" y="0"/>
                </a:moveTo>
                <a:lnTo>
                  <a:pt x="0" y="0"/>
                </a:lnTo>
                <a:lnTo>
                  <a:pt x="0" y="215"/>
                </a:lnTo>
                <a:lnTo>
                  <a:pt x="107" y="215"/>
                </a:lnTo>
              </a:path>
            </a:pathLst>
          </a:custGeom>
          <a:noFill/>
          <a:ln w="19050" cap="rnd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102" name="Freeform 99">
            <a:extLst>
              <a:ext uri="{FF2B5EF4-FFF2-40B4-BE49-F238E27FC236}">
                <a16:creationId xmlns:a16="http://schemas.microsoft.com/office/drawing/2014/main" id="{E908A14A-9C5F-4ED5-96C5-EB47872023E0}"/>
              </a:ext>
            </a:extLst>
          </p:cNvPr>
          <p:cNvSpPr>
            <a:spLocks/>
          </p:cNvSpPr>
          <p:nvPr/>
        </p:nvSpPr>
        <p:spPr bwMode="auto">
          <a:xfrm>
            <a:off x="7596188" y="4914900"/>
            <a:ext cx="169863" cy="341313"/>
          </a:xfrm>
          <a:custGeom>
            <a:avLst/>
            <a:gdLst>
              <a:gd name="T0" fmla="*/ 0 w 107"/>
              <a:gd name="T1" fmla="*/ 0 h 215"/>
              <a:gd name="T2" fmla="*/ 107 w 107"/>
              <a:gd name="T3" fmla="*/ 0 h 215"/>
              <a:gd name="T4" fmla="*/ 107 w 107"/>
              <a:gd name="T5" fmla="*/ 215 h 215"/>
              <a:gd name="T6" fmla="*/ 0 w 107"/>
              <a:gd name="T7" fmla="*/ 215 h 2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107" h="215">
                <a:moveTo>
                  <a:pt x="0" y="0"/>
                </a:moveTo>
                <a:lnTo>
                  <a:pt x="107" y="0"/>
                </a:lnTo>
                <a:lnTo>
                  <a:pt x="107" y="215"/>
                </a:lnTo>
                <a:lnTo>
                  <a:pt x="0" y="215"/>
                </a:lnTo>
              </a:path>
            </a:pathLst>
          </a:custGeom>
          <a:noFill/>
          <a:ln w="19050" cap="rnd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103" name="Line 100">
            <a:extLst>
              <a:ext uri="{FF2B5EF4-FFF2-40B4-BE49-F238E27FC236}">
                <a16:creationId xmlns:a16="http://schemas.microsoft.com/office/drawing/2014/main" id="{CA7BB3B3-41AD-416E-AC87-9669B4694A40}"/>
              </a:ext>
            </a:extLst>
          </p:cNvPr>
          <p:cNvSpPr>
            <a:spLocks noChangeShapeType="1"/>
          </p:cNvSpPr>
          <p:nvPr/>
        </p:nvSpPr>
        <p:spPr bwMode="auto">
          <a:xfrm>
            <a:off x="7253288" y="5086350"/>
            <a:ext cx="163513" cy="0"/>
          </a:xfrm>
          <a:prstGeom prst="line">
            <a:avLst/>
          </a:prstGeom>
          <a:noFill/>
          <a:ln w="19050" cap="flat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104" name="Line 101">
            <a:extLst>
              <a:ext uri="{FF2B5EF4-FFF2-40B4-BE49-F238E27FC236}">
                <a16:creationId xmlns:a16="http://schemas.microsoft.com/office/drawing/2014/main" id="{5DB3A690-0B28-453D-897D-06F93BDCC2E3}"/>
              </a:ext>
            </a:extLst>
          </p:cNvPr>
          <p:cNvSpPr>
            <a:spLocks noChangeShapeType="1"/>
          </p:cNvSpPr>
          <p:nvPr/>
        </p:nvSpPr>
        <p:spPr bwMode="auto">
          <a:xfrm>
            <a:off x="6675438" y="5086350"/>
            <a:ext cx="185738" cy="0"/>
          </a:xfrm>
          <a:prstGeom prst="line">
            <a:avLst/>
          </a:prstGeom>
          <a:noFill/>
          <a:ln w="19050" cap="flat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105" name="Line 102">
            <a:extLst>
              <a:ext uri="{FF2B5EF4-FFF2-40B4-BE49-F238E27FC236}">
                <a16:creationId xmlns:a16="http://schemas.microsoft.com/office/drawing/2014/main" id="{BDF94ED9-8087-44D0-9C26-4926F779E093}"/>
              </a:ext>
            </a:extLst>
          </p:cNvPr>
          <p:cNvSpPr>
            <a:spLocks noChangeShapeType="1"/>
          </p:cNvSpPr>
          <p:nvPr/>
        </p:nvSpPr>
        <p:spPr bwMode="auto">
          <a:xfrm>
            <a:off x="6219825" y="5200650"/>
            <a:ext cx="185738" cy="0"/>
          </a:xfrm>
          <a:prstGeom prst="line">
            <a:avLst/>
          </a:prstGeom>
          <a:noFill/>
          <a:ln w="19050" cap="flat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106" name="Line 103">
            <a:extLst>
              <a:ext uri="{FF2B5EF4-FFF2-40B4-BE49-F238E27FC236}">
                <a16:creationId xmlns:a16="http://schemas.microsoft.com/office/drawing/2014/main" id="{9761A468-A1B6-472E-9038-99366817F614}"/>
              </a:ext>
            </a:extLst>
          </p:cNvPr>
          <p:cNvSpPr>
            <a:spLocks noChangeShapeType="1"/>
          </p:cNvSpPr>
          <p:nvPr/>
        </p:nvSpPr>
        <p:spPr bwMode="auto">
          <a:xfrm>
            <a:off x="6319838" y="5200650"/>
            <a:ext cx="0" cy="227013"/>
          </a:xfrm>
          <a:prstGeom prst="line">
            <a:avLst/>
          </a:prstGeom>
          <a:noFill/>
          <a:ln w="20638" cap="flat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107" name="Line 104">
            <a:extLst>
              <a:ext uri="{FF2B5EF4-FFF2-40B4-BE49-F238E27FC236}">
                <a16:creationId xmlns:a16="http://schemas.microsoft.com/office/drawing/2014/main" id="{DC3B56AC-A2E7-4163-8187-DB74B6976AC4}"/>
              </a:ext>
            </a:extLst>
          </p:cNvPr>
          <p:cNvSpPr>
            <a:spLocks noChangeShapeType="1"/>
          </p:cNvSpPr>
          <p:nvPr/>
        </p:nvSpPr>
        <p:spPr bwMode="auto">
          <a:xfrm>
            <a:off x="6319838" y="5427663"/>
            <a:ext cx="398463" cy="0"/>
          </a:xfrm>
          <a:prstGeom prst="line">
            <a:avLst/>
          </a:prstGeom>
          <a:noFill/>
          <a:ln w="20638" cap="flat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108" name="Line 105">
            <a:extLst>
              <a:ext uri="{FF2B5EF4-FFF2-40B4-BE49-F238E27FC236}">
                <a16:creationId xmlns:a16="http://schemas.microsoft.com/office/drawing/2014/main" id="{CF35ADBF-34AF-4B62-A16D-C45C2A309C7F}"/>
              </a:ext>
            </a:extLst>
          </p:cNvPr>
          <p:cNvSpPr>
            <a:spLocks noChangeShapeType="1"/>
          </p:cNvSpPr>
          <p:nvPr/>
        </p:nvSpPr>
        <p:spPr bwMode="auto">
          <a:xfrm>
            <a:off x="6718300" y="5086350"/>
            <a:ext cx="0" cy="341313"/>
          </a:xfrm>
          <a:prstGeom prst="line">
            <a:avLst/>
          </a:prstGeom>
          <a:noFill/>
          <a:ln w="20638" cap="flat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109" name="Line 106">
            <a:extLst>
              <a:ext uri="{FF2B5EF4-FFF2-40B4-BE49-F238E27FC236}">
                <a16:creationId xmlns:a16="http://schemas.microsoft.com/office/drawing/2014/main" id="{2BE70632-E52B-4F6E-97E7-3AF031281553}"/>
              </a:ext>
            </a:extLst>
          </p:cNvPr>
          <p:cNvSpPr>
            <a:spLocks noChangeShapeType="1"/>
          </p:cNvSpPr>
          <p:nvPr/>
        </p:nvSpPr>
        <p:spPr bwMode="auto">
          <a:xfrm>
            <a:off x="6811963" y="5086350"/>
            <a:ext cx="0" cy="285750"/>
          </a:xfrm>
          <a:prstGeom prst="line">
            <a:avLst/>
          </a:prstGeom>
          <a:noFill/>
          <a:ln w="20638" cap="flat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110" name="Line 107">
            <a:extLst>
              <a:ext uri="{FF2B5EF4-FFF2-40B4-BE49-F238E27FC236}">
                <a16:creationId xmlns:a16="http://schemas.microsoft.com/office/drawing/2014/main" id="{F5A4C27B-591D-4085-9EDB-646E7EA1F30F}"/>
              </a:ext>
            </a:extLst>
          </p:cNvPr>
          <p:cNvSpPr>
            <a:spLocks noChangeShapeType="1"/>
          </p:cNvSpPr>
          <p:nvPr/>
        </p:nvSpPr>
        <p:spPr bwMode="auto">
          <a:xfrm>
            <a:off x="6811963" y="5372100"/>
            <a:ext cx="512763" cy="0"/>
          </a:xfrm>
          <a:prstGeom prst="line">
            <a:avLst/>
          </a:prstGeom>
          <a:noFill/>
          <a:ln w="20638" cap="flat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111" name="Line 108">
            <a:extLst>
              <a:ext uri="{FF2B5EF4-FFF2-40B4-BE49-F238E27FC236}">
                <a16:creationId xmlns:a16="http://schemas.microsoft.com/office/drawing/2014/main" id="{244CBC8B-E147-424E-B271-2AE2FE3E360C}"/>
              </a:ext>
            </a:extLst>
          </p:cNvPr>
          <p:cNvSpPr>
            <a:spLocks noChangeShapeType="1"/>
          </p:cNvSpPr>
          <p:nvPr/>
        </p:nvSpPr>
        <p:spPr bwMode="auto">
          <a:xfrm>
            <a:off x="7324725" y="5086350"/>
            <a:ext cx="0" cy="285750"/>
          </a:xfrm>
          <a:prstGeom prst="line">
            <a:avLst/>
          </a:prstGeom>
          <a:noFill/>
          <a:ln w="20638" cap="flat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112" name="Freeform 109">
            <a:extLst>
              <a:ext uri="{FF2B5EF4-FFF2-40B4-BE49-F238E27FC236}">
                <a16:creationId xmlns:a16="http://schemas.microsoft.com/office/drawing/2014/main" id="{FCFDB81B-F851-4A8B-AD6B-9B3BE34C5BAA}"/>
              </a:ext>
            </a:extLst>
          </p:cNvPr>
          <p:cNvSpPr>
            <a:spLocks/>
          </p:cNvSpPr>
          <p:nvPr/>
        </p:nvSpPr>
        <p:spPr bwMode="auto">
          <a:xfrm>
            <a:off x="6932613" y="5427663"/>
            <a:ext cx="249238" cy="569913"/>
          </a:xfrm>
          <a:custGeom>
            <a:avLst/>
            <a:gdLst>
              <a:gd name="T0" fmla="*/ 0 w 157"/>
              <a:gd name="T1" fmla="*/ 240 h 359"/>
              <a:gd name="T2" fmla="*/ 53 w 157"/>
              <a:gd name="T3" fmla="*/ 180 h 359"/>
              <a:gd name="T4" fmla="*/ 0 w 157"/>
              <a:gd name="T5" fmla="*/ 120 h 359"/>
              <a:gd name="T6" fmla="*/ 0 w 157"/>
              <a:gd name="T7" fmla="*/ 0 h 359"/>
              <a:gd name="T8" fmla="*/ 157 w 157"/>
              <a:gd name="T9" fmla="*/ 120 h 359"/>
              <a:gd name="T10" fmla="*/ 157 w 157"/>
              <a:gd name="T11" fmla="*/ 240 h 359"/>
              <a:gd name="T12" fmla="*/ 0 w 157"/>
              <a:gd name="T13" fmla="*/ 359 h 359"/>
              <a:gd name="T14" fmla="*/ 0 w 157"/>
              <a:gd name="T15" fmla="*/ 240 h 35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157" h="359">
                <a:moveTo>
                  <a:pt x="0" y="240"/>
                </a:moveTo>
                <a:lnTo>
                  <a:pt x="53" y="180"/>
                </a:lnTo>
                <a:lnTo>
                  <a:pt x="0" y="120"/>
                </a:lnTo>
                <a:lnTo>
                  <a:pt x="0" y="0"/>
                </a:lnTo>
                <a:lnTo>
                  <a:pt x="157" y="120"/>
                </a:lnTo>
                <a:lnTo>
                  <a:pt x="157" y="240"/>
                </a:lnTo>
                <a:lnTo>
                  <a:pt x="0" y="359"/>
                </a:lnTo>
                <a:lnTo>
                  <a:pt x="0" y="240"/>
                </a:lnTo>
              </a:path>
            </a:pathLst>
          </a:custGeom>
          <a:noFill/>
          <a:ln w="19050" cap="rnd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113" name="Rectangle 110">
            <a:extLst>
              <a:ext uri="{FF2B5EF4-FFF2-40B4-BE49-F238E27FC236}">
                <a16:creationId xmlns:a16="http://schemas.microsoft.com/office/drawing/2014/main" id="{BE844E4A-8ABD-40DC-BB2C-BF9AB66922CA}"/>
              </a:ext>
            </a:extLst>
          </p:cNvPr>
          <p:cNvSpPr>
            <a:spLocks noChangeArrowheads="1"/>
          </p:cNvSpPr>
          <p:nvPr/>
        </p:nvSpPr>
        <p:spPr bwMode="auto">
          <a:xfrm rot="5400000">
            <a:off x="6767919" y="5621872"/>
            <a:ext cx="611187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zh-CN" altLang="zh-CN" sz="1200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rPr>
              <a:t>ALU</a:t>
            </a:r>
            <a:endParaRPr kumimoji="0" lang="zh-CN" altLang="zh-CN" sz="120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  <a:ea typeface="SimHei" panose="02010609060101010101" pitchFamily="49" charset="-122"/>
            </a:endParaRPr>
          </a:p>
        </p:txBody>
      </p:sp>
      <p:sp>
        <p:nvSpPr>
          <p:cNvPr id="114" name="Rectangle 111">
            <a:extLst>
              <a:ext uri="{FF2B5EF4-FFF2-40B4-BE49-F238E27FC236}">
                <a16:creationId xmlns:a16="http://schemas.microsoft.com/office/drawing/2014/main" id="{6D46EA71-7A1C-423D-A822-EB908020DA0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12925" y="5670550"/>
            <a:ext cx="564257" cy="2769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zh-CN" altLang="zh-CN" sz="1800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rPr>
              <a:t>Inst 3</a:t>
            </a:r>
            <a:endParaRPr kumimoji="0" lang="zh-CN" altLang="zh-CN" sz="180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  <a:ea typeface="SimHei" panose="02010609060101010101" pitchFamily="49" charset="-122"/>
            </a:endParaRPr>
          </a:p>
        </p:txBody>
      </p:sp>
      <p:sp>
        <p:nvSpPr>
          <p:cNvPr id="115" name="Rectangle 112">
            <a:extLst>
              <a:ext uri="{FF2B5EF4-FFF2-40B4-BE49-F238E27FC236}">
                <a16:creationId xmlns:a16="http://schemas.microsoft.com/office/drawing/2014/main" id="{01974B5C-455A-497D-B59E-2F8D172CCB18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03913" y="5591175"/>
            <a:ext cx="171522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zh-CN" sz="1200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rPr>
              <a:t>IM</a:t>
            </a:r>
            <a:endParaRPr kumimoji="0" lang="zh-CN" altLang="zh-CN" sz="180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  <a:ea typeface="SimHei" panose="02010609060101010101" pitchFamily="49" charset="-122"/>
            </a:endParaRPr>
          </a:p>
        </p:txBody>
      </p:sp>
      <p:sp>
        <p:nvSpPr>
          <p:cNvPr id="116" name="Freeform 113">
            <a:extLst>
              <a:ext uri="{FF2B5EF4-FFF2-40B4-BE49-F238E27FC236}">
                <a16:creationId xmlns:a16="http://schemas.microsoft.com/office/drawing/2014/main" id="{6B19DF03-B3DD-4CE7-B3D2-BD47200AF9EC}"/>
              </a:ext>
            </a:extLst>
          </p:cNvPr>
          <p:cNvSpPr>
            <a:spLocks/>
          </p:cNvSpPr>
          <p:nvPr/>
        </p:nvSpPr>
        <p:spPr bwMode="auto">
          <a:xfrm>
            <a:off x="5827713" y="5541963"/>
            <a:ext cx="206375" cy="341313"/>
          </a:xfrm>
          <a:custGeom>
            <a:avLst/>
            <a:gdLst>
              <a:gd name="T0" fmla="*/ 130 w 130"/>
              <a:gd name="T1" fmla="*/ 0 h 215"/>
              <a:gd name="T2" fmla="*/ 0 w 130"/>
              <a:gd name="T3" fmla="*/ 0 h 215"/>
              <a:gd name="T4" fmla="*/ 0 w 130"/>
              <a:gd name="T5" fmla="*/ 215 h 215"/>
              <a:gd name="T6" fmla="*/ 130 w 130"/>
              <a:gd name="T7" fmla="*/ 215 h 2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130" h="215">
                <a:moveTo>
                  <a:pt x="130" y="0"/>
                </a:moveTo>
                <a:lnTo>
                  <a:pt x="0" y="0"/>
                </a:lnTo>
                <a:lnTo>
                  <a:pt x="0" y="215"/>
                </a:lnTo>
                <a:lnTo>
                  <a:pt x="130" y="215"/>
                </a:lnTo>
              </a:path>
            </a:pathLst>
          </a:custGeom>
          <a:noFill/>
          <a:ln w="19050" cap="rnd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117" name="Freeform 114">
            <a:extLst>
              <a:ext uri="{FF2B5EF4-FFF2-40B4-BE49-F238E27FC236}">
                <a16:creationId xmlns:a16="http://schemas.microsoft.com/office/drawing/2014/main" id="{83FBED14-5C8F-4C9E-9F29-9F669EFA55E6}"/>
              </a:ext>
            </a:extLst>
          </p:cNvPr>
          <p:cNvSpPr>
            <a:spLocks/>
          </p:cNvSpPr>
          <p:nvPr/>
        </p:nvSpPr>
        <p:spPr bwMode="auto">
          <a:xfrm>
            <a:off x="6027738" y="5541963"/>
            <a:ext cx="206375" cy="341313"/>
          </a:xfrm>
          <a:custGeom>
            <a:avLst/>
            <a:gdLst>
              <a:gd name="T0" fmla="*/ 0 w 130"/>
              <a:gd name="T1" fmla="*/ 0 h 215"/>
              <a:gd name="T2" fmla="*/ 130 w 130"/>
              <a:gd name="T3" fmla="*/ 0 h 215"/>
              <a:gd name="T4" fmla="*/ 130 w 130"/>
              <a:gd name="T5" fmla="*/ 215 h 215"/>
              <a:gd name="T6" fmla="*/ 0 w 130"/>
              <a:gd name="T7" fmla="*/ 215 h 2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130" h="215">
                <a:moveTo>
                  <a:pt x="0" y="0"/>
                </a:moveTo>
                <a:lnTo>
                  <a:pt x="130" y="0"/>
                </a:lnTo>
                <a:lnTo>
                  <a:pt x="130" y="215"/>
                </a:lnTo>
                <a:lnTo>
                  <a:pt x="0" y="215"/>
                </a:lnTo>
              </a:path>
            </a:pathLst>
          </a:custGeom>
          <a:noFill/>
          <a:ln w="19050" cap="rnd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118" name="Rectangle 115">
            <a:extLst>
              <a:ext uri="{FF2B5EF4-FFF2-40B4-BE49-F238E27FC236}">
                <a16:creationId xmlns:a16="http://schemas.microsoft.com/office/drawing/2014/main" id="{27986E68-E9C0-4C08-9A0D-1F3D71F91C2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21438" y="5599113"/>
            <a:ext cx="28052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zh-CN" altLang="zh-CN" sz="1200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rPr>
              <a:t>Reg</a:t>
            </a:r>
            <a:endParaRPr kumimoji="0" lang="zh-CN" altLang="zh-CN" sz="180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  <a:ea typeface="SimHei" panose="02010609060101010101" pitchFamily="49" charset="-122"/>
            </a:endParaRPr>
          </a:p>
        </p:txBody>
      </p:sp>
      <p:sp>
        <p:nvSpPr>
          <p:cNvPr id="119" name="Freeform 116">
            <a:extLst>
              <a:ext uri="{FF2B5EF4-FFF2-40B4-BE49-F238E27FC236}">
                <a16:creationId xmlns:a16="http://schemas.microsoft.com/office/drawing/2014/main" id="{AB145AAA-AB3D-4AC8-92F2-5DC445B42E16}"/>
              </a:ext>
            </a:extLst>
          </p:cNvPr>
          <p:cNvSpPr>
            <a:spLocks/>
          </p:cNvSpPr>
          <p:nvPr/>
        </p:nvSpPr>
        <p:spPr bwMode="auto">
          <a:xfrm>
            <a:off x="6376988" y="5541963"/>
            <a:ext cx="177800" cy="341313"/>
          </a:xfrm>
          <a:custGeom>
            <a:avLst/>
            <a:gdLst>
              <a:gd name="T0" fmla="*/ 112 w 112"/>
              <a:gd name="T1" fmla="*/ 0 h 215"/>
              <a:gd name="T2" fmla="*/ 0 w 112"/>
              <a:gd name="T3" fmla="*/ 0 h 215"/>
              <a:gd name="T4" fmla="*/ 0 w 112"/>
              <a:gd name="T5" fmla="*/ 215 h 215"/>
              <a:gd name="T6" fmla="*/ 112 w 112"/>
              <a:gd name="T7" fmla="*/ 215 h 2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112" h="215">
                <a:moveTo>
                  <a:pt x="112" y="0"/>
                </a:moveTo>
                <a:lnTo>
                  <a:pt x="0" y="0"/>
                </a:lnTo>
                <a:lnTo>
                  <a:pt x="0" y="215"/>
                </a:lnTo>
                <a:lnTo>
                  <a:pt x="112" y="215"/>
                </a:lnTo>
              </a:path>
            </a:pathLst>
          </a:custGeom>
          <a:noFill/>
          <a:ln w="19050" cap="rnd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120" name="Freeform 117">
            <a:extLst>
              <a:ext uri="{FF2B5EF4-FFF2-40B4-BE49-F238E27FC236}">
                <a16:creationId xmlns:a16="http://schemas.microsoft.com/office/drawing/2014/main" id="{334A4075-2614-4546-870B-BEB8492924D9}"/>
              </a:ext>
            </a:extLst>
          </p:cNvPr>
          <p:cNvSpPr>
            <a:spLocks/>
          </p:cNvSpPr>
          <p:nvPr/>
        </p:nvSpPr>
        <p:spPr bwMode="auto">
          <a:xfrm>
            <a:off x="6554788" y="5541963"/>
            <a:ext cx="169863" cy="341313"/>
          </a:xfrm>
          <a:custGeom>
            <a:avLst/>
            <a:gdLst>
              <a:gd name="T0" fmla="*/ 0 w 107"/>
              <a:gd name="T1" fmla="*/ 0 h 215"/>
              <a:gd name="T2" fmla="*/ 107 w 107"/>
              <a:gd name="T3" fmla="*/ 0 h 215"/>
              <a:gd name="T4" fmla="*/ 107 w 107"/>
              <a:gd name="T5" fmla="*/ 215 h 215"/>
              <a:gd name="T6" fmla="*/ 0 w 107"/>
              <a:gd name="T7" fmla="*/ 215 h 2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107" h="215">
                <a:moveTo>
                  <a:pt x="0" y="0"/>
                </a:moveTo>
                <a:lnTo>
                  <a:pt x="107" y="0"/>
                </a:lnTo>
                <a:lnTo>
                  <a:pt x="107" y="215"/>
                </a:lnTo>
                <a:lnTo>
                  <a:pt x="0" y="215"/>
                </a:lnTo>
              </a:path>
            </a:pathLst>
          </a:custGeom>
          <a:noFill/>
          <a:ln w="19050" cap="rnd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121" name="Line 118">
            <a:extLst>
              <a:ext uri="{FF2B5EF4-FFF2-40B4-BE49-F238E27FC236}">
                <a16:creationId xmlns:a16="http://schemas.microsoft.com/office/drawing/2014/main" id="{9AC4737F-8F3E-41B8-B97B-9BED183D1843}"/>
              </a:ext>
            </a:extLst>
          </p:cNvPr>
          <p:cNvSpPr>
            <a:spLocks noChangeShapeType="1"/>
          </p:cNvSpPr>
          <p:nvPr/>
        </p:nvSpPr>
        <p:spPr bwMode="auto">
          <a:xfrm>
            <a:off x="6242050" y="5713413"/>
            <a:ext cx="134938" cy="0"/>
          </a:xfrm>
          <a:prstGeom prst="line">
            <a:avLst/>
          </a:prstGeom>
          <a:noFill/>
          <a:ln w="19050" cap="flat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122" name="Freeform 119">
            <a:extLst>
              <a:ext uri="{FF2B5EF4-FFF2-40B4-BE49-F238E27FC236}">
                <a16:creationId xmlns:a16="http://schemas.microsoft.com/office/drawing/2014/main" id="{F328904D-5ED5-4C23-9F86-838A18FFBB30}"/>
              </a:ext>
            </a:extLst>
          </p:cNvPr>
          <p:cNvSpPr>
            <a:spLocks/>
          </p:cNvSpPr>
          <p:nvPr/>
        </p:nvSpPr>
        <p:spPr bwMode="auto">
          <a:xfrm>
            <a:off x="6319838" y="5599113"/>
            <a:ext cx="55563" cy="114300"/>
          </a:xfrm>
          <a:custGeom>
            <a:avLst/>
            <a:gdLst>
              <a:gd name="T0" fmla="*/ 0 w 35"/>
              <a:gd name="T1" fmla="*/ 72 h 72"/>
              <a:gd name="T2" fmla="*/ 0 w 35"/>
              <a:gd name="T3" fmla="*/ 0 h 72"/>
              <a:gd name="T4" fmla="*/ 35 w 35"/>
              <a:gd name="T5" fmla="*/ 0 h 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35" h="72">
                <a:moveTo>
                  <a:pt x="0" y="72"/>
                </a:moveTo>
                <a:lnTo>
                  <a:pt x="0" y="0"/>
                </a:lnTo>
                <a:lnTo>
                  <a:pt x="35" y="0"/>
                </a:lnTo>
              </a:path>
            </a:pathLst>
          </a:custGeom>
          <a:noFill/>
          <a:ln w="19050" cap="rnd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123" name="Line 120">
            <a:extLst>
              <a:ext uri="{FF2B5EF4-FFF2-40B4-BE49-F238E27FC236}">
                <a16:creationId xmlns:a16="http://schemas.microsoft.com/office/drawing/2014/main" id="{C33620F2-E0CA-4B14-B290-023106A2D1F2}"/>
              </a:ext>
            </a:extLst>
          </p:cNvPr>
          <p:cNvSpPr>
            <a:spLocks noChangeShapeType="1"/>
          </p:cNvSpPr>
          <p:nvPr/>
        </p:nvSpPr>
        <p:spPr bwMode="auto">
          <a:xfrm>
            <a:off x="6732588" y="5599113"/>
            <a:ext cx="185738" cy="0"/>
          </a:xfrm>
          <a:prstGeom prst="line">
            <a:avLst/>
          </a:prstGeom>
          <a:noFill/>
          <a:ln w="19050" cap="flat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124" name="Rectangle 121">
            <a:extLst>
              <a:ext uri="{FF2B5EF4-FFF2-40B4-BE49-F238E27FC236}">
                <a16:creationId xmlns:a16="http://schemas.microsoft.com/office/drawing/2014/main" id="{05F5095D-5D76-40FD-9259-DA2C4BFE085D}"/>
              </a:ext>
            </a:extLst>
          </p:cNvPr>
          <p:cNvSpPr>
            <a:spLocks noChangeArrowheads="1"/>
          </p:cNvSpPr>
          <p:nvPr/>
        </p:nvSpPr>
        <p:spPr bwMode="auto">
          <a:xfrm>
            <a:off x="7391400" y="5591175"/>
            <a:ext cx="238848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zh-CN" altLang="zh-CN" sz="1200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rPr>
              <a:t>DM</a:t>
            </a:r>
            <a:endParaRPr kumimoji="0" lang="zh-CN" altLang="zh-CN" sz="180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  <a:ea typeface="SimHei" panose="02010609060101010101" pitchFamily="49" charset="-122"/>
            </a:endParaRPr>
          </a:p>
        </p:txBody>
      </p:sp>
      <p:sp>
        <p:nvSpPr>
          <p:cNvPr id="125" name="Freeform 122">
            <a:extLst>
              <a:ext uri="{FF2B5EF4-FFF2-40B4-BE49-F238E27FC236}">
                <a16:creationId xmlns:a16="http://schemas.microsoft.com/office/drawing/2014/main" id="{FC00FA20-7388-4BF4-A46D-8A9D09AD74A7}"/>
              </a:ext>
            </a:extLst>
          </p:cNvPr>
          <p:cNvSpPr>
            <a:spLocks/>
          </p:cNvSpPr>
          <p:nvPr/>
        </p:nvSpPr>
        <p:spPr bwMode="auto">
          <a:xfrm>
            <a:off x="7381875" y="5541963"/>
            <a:ext cx="192088" cy="341313"/>
          </a:xfrm>
          <a:custGeom>
            <a:avLst/>
            <a:gdLst>
              <a:gd name="T0" fmla="*/ 121 w 121"/>
              <a:gd name="T1" fmla="*/ 0 h 215"/>
              <a:gd name="T2" fmla="*/ 0 w 121"/>
              <a:gd name="T3" fmla="*/ 0 h 215"/>
              <a:gd name="T4" fmla="*/ 0 w 121"/>
              <a:gd name="T5" fmla="*/ 215 h 215"/>
              <a:gd name="T6" fmla="*/ 121 w 121"/>
              <a:gd name="T7" fmla="*/ 215 h 2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121" h="215">
                <a:moveTo>
                  <a:pt x="121" y="0"/>
                </a:moveTo>
                <a:lnTo>
                  <a:pt x="0" y="0"/>
                </a:lnTo>
                <a:lnTo>
                  <a:pt x="0" y="215"/>
                </a:lnTo>
                <a:lnTo>
                  <a:pt x="121" y="215"/>
                </a:lnTo>
              </a:path>
            </a:pathLst>
          </a:custGeom>
          <a:noFill/>
          <a:ln w="19050" cap="rnd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126" name="Freeform 123">
            <a:extLst>
              <a:ext uri="{FF2B5EF4-FFF2-40B4-BE49-F238E27FC236}">
                <a16:creationId xmlns:a16="http://schemas.microsoft.com/office/drawing/2014/main" id="{526D141E-1886-4B05-B6A7-318B501B0ED6}"/>
              </a:ext>
            </a:extLst>
          </p:cNvPr>
          <p:cNvSpPr>
            <a:spLocks/>
          </p:cNvSpPr>
          <p:nvPr/>
        </p:nvSpPr>
        <p:spPr bwMode="auto">
          <a:xfrm>
            <a:off x="7573963" y="5541963"/>
            <a:ext cx="198438" cy="341313"/>
          </a:xfrm>
          <a:custGeom>
            <a:avLst/>
            <a:gdLst>
              <a:gd name="T0" fmla="*/ 0 w 125"/>
              <a:gd name="T1" fmla="*/ 0 h 215"/>
              <a:gd name="T2" fmla="*/ 125 w 125"/>
              <a:gd name="T3" fmla="*/ 0 h 215"/>
              <a:gd name="T4" fmla="*/ 125 w 125"/>
              <a:gd name="T5" fmla="*/ 215 h 215"/>
              <a:gd name="T6" fmla="*/ 0 w 125"/>
              <a:gd name="T7" fmla="*/ 215 h 2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125" h="215">
                <a:moveTo>
                  <a:pt x="0" y="0"/>
                </a:moveTo>
                <a:lnTo>
                  <a:pt x="125" y="0"/>
                </a:lnTo>
                <a:lnTo>
                  <a:pt x="125" y="215"/>
                </a:lnTo>
                <a:lnTo>
                  <a:pt x="0" y="215"/>
                </a:lnTo>
              </a:path>
            </a:pathLst>
          </a:custGeom>
          <a:noFill/>
          <a:ln w="19050" cap="rnd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127" name="Line 124">
            <a:extLst>
              <a:ext uri="{FF2B5EF4-FFF2-40B4-BE49-F238E27FC236}">
                <a16:creationId xmlns:a16="http://schemas.microsoft.com/office/drawing/2014/main" id="{BA98851F-CAAB-4F54-85A8-61F3A0562E8D}"/>
              </a:ext>
            </a:extLst>
          </p:cNvPr>
          <p:cNvSpPr>
            <a:spLocks noChangeShapeType="1"/>
          </p:cNvSpPr>
          <p:nvPr/>
        </p:nvSpPr>
        <p:spPr bwMode="auto">
          <a:xfrm>
            <a:off x="7766050" y="5713413"/>
            <a:ext cx="165100" cy="0"/>
          </a:xfrm>
          <a:prstGeom prst="line">
            <a:avLst/>
          </a:prstGeom>
          <a:noFill/>
          <a:ln w="19050" cap="flat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128" name="Line 125">
            <a:extLst>
              <a:ext uri="{FF2B5EF4-FFF2-40B4-BE49-F238E27FC236}">
                <a16:creationId xmlns:a16="http://schemas.microsoft.com/office/drawing/2014/main" id="{0C96B7B9-245B-49B8-90CC-0CA6338739F6}"/>
              </a:ext>
            </a:extLst>
          </p:cNvPr>
          <p:cNvSpPr>
            <a:spLocks noChangeShapeType="1"/>
          </p:cNvSpPr>
          <p:nvPr/>
        </p:nvSpPr>
        <p:spPr bwMode="auto">
          <a:xfrm>
            <a:off x="7189788" y="5713413"/>
            <a:ext cx="184150" cy="0"/>
          </a:xfrm>
          <a:prstGeom prst="line">
            <a:avLst/>
          </a:prstGeom>
          <a:noFill/>
          <a:ln w="19050" cap="flat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129" name="Line 126">
            <a:extLst>
              <a:ext uri="{FF2B5EF4-FFF2-40B4-BE49-F238E27FC236}">
                <a16:creationId xmlns:a16="http://schemas.microsoft.com/office/drawing/2014/main" id="{989E111F-B6ED-4CA0-8DBC-93A9703364D9}"/>
              </a:ext>
            </a:extLst>
          </p:cNvPr>
          <p:cNvSpPr>
            <a:spLocks noChangeShapeType="1"/>
          </p:cNvSpPr>
          <p:nvPr/>
        </p:nvSpPr>
        <p:spPr bwMode="auto">
          <a:xfrm>
            <a:off x="6732588" y="5827713"/>
            <a:ext cx="185738" cy="0"/>
          </a:xfrm>
          <a:prstGeom prst="line">
            <a:avLst/>
          </a:prstGeom>
          <a:noFill/>
          <a:ln w="19050" cap="flat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130" name="Line 127">
            <a:extLst>
              <a:ext uri="{FF2B5EF4-FFF2-40B4-BE49-F238E27FC236}">
                <a16:creationId xmlns:a16="http://schemas.microsoft.com/office/drawing/2014/main" id="{E650A470-9F59-445E-B258-45D6320C410D}"/>
              </a:ext>
            </a:extLst>
          </p:cNvPr>
          <p:cNvSpPr>
            <a:spLocks noChangeShapeType="1"/>
          </p:cNvSpPr>
          <p:nvPr/>
        </p:nvSpPr>
        <p:spPr bwMode="auto">
          <a:xfrm>
            <a:off x="6832600" y="5827713"/>
            <a:ext cx="0" cy="228600"/>
          </a:xfrm>
          <a:prstGeom prst="line">
            <a:avLst/>
          </a:prstGeom>
          <a:noFill/>
          <a:ln w="20638" cap="flat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131" name="Line 128">
            <a:extLst>
              <a:ext uri="{FF2B5EF4-FFF2-40B4-BE49-F238E27FC236}">
                <a16:creationId xmlns:a16="http://schemas.microsoft.com/office/drawing/2014/main" id="{A42039B6-3468-4581-963E-2FCE6A341F9E}"/>
              </a:ext>
            </a:extLst>
          </p:cNvPr>
          <p:cNvSpPr>
            <a:spLocks noChangeShapeType="1"/>
          </p:cNvSpPr>
          <p:nvPr/>
        </p:nvSpPr>
        <p:spPr bwMode="auto">
          <a:xfrm>
            <a:off x="6832600" y="6056313"/>
            <a:ext cx="400050" cy="0"/>
          </a:xfrm>
          <a:prstGeom prst="line">
            <a:avLst/>
          </a:prstGeom>
          <a:noFill/>
          <a:ln w="20638" cap="flat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132" name="Line 129">
            <a:extLst>
              <a:ext uri="{FF2B5EF4-FFF2-40B4-BE49-F238E27FC236}">
                <a16:creationId xmlns:a16="http://schemas.microsoft.com/office/drawing/2014/main" id="{8A67CD48-74A2-4690-AD85-3D3AF42E90C1}"/>
              </a:ext>
            </a:extLst>
          </p:cNvPr>
          <p:cNvSpPr>
            <a:spLocks noChangeShapeType="1"/>
          </p:cNvSpPr>
          <p:nvPr/>
        </p:nvSpPr>
        <p:spPr bwMode="auto">
          <a:xfrm>
            <a:off x="7232650" y="5713413"/>
            <a:ext cx="0" cy="342900"/>
          </a:xfrm>
          <a:prstGeom prst="line">
            <a:avLst/>
          </a:prstGeom>
          <a:noFill/>
          <a:ln w="20638" cap="flat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133" name="Line 130">
            <a:extLst>
              <a:ext uri="{FF2B5EF4-FFF2-40B4-BE49-F238E27FC236}">
                <a16:creationId xmlns:a16="http://schemas.microsoft.com/office/drawing/2014/main" id="{F8CBB791-B8DD-4747-BB8A-DB49164FBE15}"/>
              </a:ext>
            </a:extLst>
          </p:cNvPr>
          <p:cNvSpPr>
            <a:spLocks noChangeShapeType="1"/>
          </p:cNvSpPr>
          <p:nvPr/>
        </p:nvSpPr>
        <p:spPr bwMode="auto">
          <a:xfrm>
            <a:off x="7324725" y="5713413"/>
            <a:ext cx="0" cy="285750"/>
          </a:xfrm>
          <a:prstGeom prst="line">
            <a:avLst/>
          </a:prstGeom>
          <a:noFill/>
          <a:ln w="20638" cap="flat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134" name="Line 131">
            <a:extLst>
              <a:ext uri="{FF2B5EF4-FFF2-40B4-BE49-F238E27FC236}">
                <a16:creationId xmlns:a16="http://schemas.microsoft.com/office/drawing/2014/main" id="{BC8E6F86-6EB7-48AB-965A-BD89AB78D318}"/>
              </a:ext>
            </a:extLst>
          </p:cNvPr>
          <p:cNvSpPr>
            <a:spLocks noChangeShapeType="1"/>
          </p:cNvSpPr>
          <p:nvPr/>
        </p:nvSpPr>
        <p:spPr bwMode="auto">
          <a:xfrm>
            <a:off x="7324725" y="5999163"/>
            <a:ext cx="512763" cy="0"/>
          </a:xfrm>
          <a:prstGeom prst="line">
            <a:avLst/>
          </a:prstGeom>
          <a:noFill/>
          <a:ln w="20638" cap="flat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135" name="Line 132">
            <a:extLst>
              <a:ext uri="{FF2B5EF4-FFF2-40B4-BE49-F238E27FC236}">
                <a16:creationId xmlns:a16="http://schemas.microsoft.com/office/drawing/2014/main" id="{5FF48B36-CD79-4F1B-9C42-F6F2AFB7FC50}"/>
              </a:ext>
            </a:extLst>
          </p:cNvPr>
          <p:cNvSpPr>
            <a:spLocks noChangeShapeType="1"/>
          </p:cNvSpPr>
          <p:nvPr/>
        </p:nvSpPr>
        <p:spPr bwMode="auto">
          <a:xfrm>
            <a:off x="7837488" y="5713413"/>
            <a:ext cx="0" cy="285750"/>
          </a:xfrm>
          <a:prstGeom prst="line">
            <a:avLst/>
          </a:prstGeom>
          <a:noFill/>
          <a:ln w="20638" cap="flat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136" name="Freeform 133">
            <a:extLst>
              <a:ext uri="{FF2B5EF4-FFF2-40B4-BE49-F238E27FC236}">
                <a16:creationId xmlns:a16="http://schemas.microsoft.com/office/drawing/2014/main" id="{940258B5-8944-4A5F-950F-C5AE2066F3EB}"/>
              </a:ext>
            </a:extLst>
          </p:cNvPr>
          <p:cNvSpPr>
            <a:spLocks noEditPoints="1"/>
          </p:cNvSpPr>
          <p:nvPr/>
        </p:nvSpPr>
        <p:spPr bwMode="auto">
          <a:xfrm>
            <a:off x="7294563" y="2289175"/>
            <a:ext cx="18000" cy="4032000"/>
          </a:xfrm>
          <a:custGeom>
            <a:avLst/>
            <a:gdLst>
              <a:gd name="T0" fmla="*/ 0 w 12"/>
              <a:gd name="T1" fmla="*/ 24 h 2553"/>
              <a:gd name="T2" fmla="*/ 0 w 12"/>
              <a:gd name="T3" fmla="*/ 84 h 2553"/>
              <a:gd name="T4" fmla="*/ 12 w 12"/>
              <a:gd name="T5" fmla="*/ 132 h 2553"/>
              <a:gd name="T6" fmla="*/ 12 w 12"/>
              <a:gd name="T7" fmla="*/ 168 h 2553"/>
              <a:gd name="T8" fmla="*/ 12 w 12"/>
              <a:gd name="T9" fmla="*/ 192 h 2553"/>
              <a:gd name="T10" fmla="*/ 0 w 12"/>
              <a:gd name="T11" fmla="*/ 240 h 2553"/>
              <a:gd name="T12" fmla="*/ 0 w 12"/>
              <a:gd name="T13" fmla="*/ 300 h 2553"/>
              <a:gd name="T14" fmla="*/ 12 w 12"/>
              <a:gd name="T15" fmla="*/ 348 h 2553"/>
              <a:gd name="T16" fmla="*/ 12 w 12"/>
              <a:gd name="T17" fmla="*/ 384 h 2553"/>
              <a:gd name="T18" fmla="*/ 12 w 12"/>
              <a:gd name="T19" fmla="*/ 408 h 2553"/>
              <a:gd name="T20" fmla="*/ 0 w 12"/>
              <a:gd name="T21" fmla="*/ 456 h 2553"/>
              <a:gd name="T22" fmla="*/ 0 w 12"/>
              <a:gd name="T23" fmla="*/ 516 h 2553"/>
              <a:gd name="T24" fmla="*/ 12 w 12"/>
              <a:gd name="T25" fmla="*/ 564 h 2553"/>
              <a:gd name="T26" fmla="*/ 12 w 12"/>
              <a:gd name="T27" fmla="*/ 600 h 2553"/>
              <a:gd name="T28" fmla="*/ 12 w 12"/>
              <a:gd name="T29" fmla="*/ 623 h 2553"/>
              <a:gd name="T30" fmla="*/ 0 w 12"/>
              <a:gd name="T31" fmla="*/ 672 h 2553"/>
              <a:gd name="T32" fmla="*/ 0 w 12"/>
              <a:gd name="T33" fmla="*/ 731 h 2553"/>
              <a:gd name="T34" fmla="*/ 12 w 12"/>
              <a:gd name="T35" fmla="*/ 779 h 2553"/>
              <a:gd name="T36" fmla="*/ 12 w 12"/>
              <a:gd name="T37" fmla="*/ 815 h 2553"/>
              <a:gd name="T38" fmla="*/ 12 w 12"/>
              <a:gd name="T39" fmla="*/ 839 h 2553"/>
              <a:gd name="T40" fmla="*/ 0 w 12"/>
              <a:gd name="T41" fmla="*/ 887 h 2553"/>
              <a:gd name="T42" fmla="*/ 0 w 12"/>
              <a:gd name="T43" fmla="*/ 947 h 2553"/>
              <a:gd name="T44" fmla="*/ 12 w 12"/>
              <a:gd name="T45" fmla="*/ 995 h 2553"/>
              <a:gd name="T46" fmla="*/ 12 w 12"/>
              <a:gd name="T47" fmla="*/ 1031 h 2553"/>
              <a:gd name="T48" fmla="*/ 12 w 12"/>
              <a:gd name="T49" fmla="*/ 1055 h 2553"/>
              <a:gd name="T50" fmla="*/ 0 w 12"/>
              <a:gd name="T51" fmla="*/ 1103 h 2553"/>
              <a:gd name="T52" fmla="*/ 0 w 12"/>
              <a:gd name="T53" fmla="*/ 1163 h 2553"/>
              <a:gd name="T54" fmla="*/ 12 w 12"/>
              <a:gd name="T55" fmla="*/ 1211 h 2553"/>
              <a:gd name="T56" fmla="*/ 12 w 12"/>
              <a:gd name="T57" fmla="*/ 1247 h 2553"/>
              <a:gd name="T58" fmla="*/ 12 w 12"/>
              <a:gd name="T59" fmla="*/ 1271 h 2553"/>
              <a:gd name="T60" fmla="*/ 0 w 12"/>
              <a:gd name="T61" fmla="*/ 1319 h 2553"/>
              <a:gd name="T62" fmla="*/ 0 w 12"/>
              <a:gd name="T63" fmla="*/ 1378 h 2553"/>
              <a:gd name="T64" fmla="*/ 12 w 12"/>
              <a:gd name="T65" fmla="*/ 1426 h 2553"/>
              <a:gd name="T66" fmla="*/ 12 w 12"/>
              <a:gd name="T67" fmla="*/ 1462 h 2553"/>
              <a:gd name="T68" fmla="*/ 12 w 12"/>
              <a:gd name="T69" fmla="*/ 1486 h 2553"/>
              <a:gd name="T70" fmla="*/ 0 w 12"/>
              <a:gd name="T71" fmla="*/ 1534 h 2553"/>
              <a:gd name="T72" fmla="*/ 0 w 12"/>
              <a:gd name="T73" fmla="*/ 1594 h 2553"/>
              <a:gd name="T74" fmla="*/ 12 w 12"/>
              <a:gd name="T75" fmla="*/ 1642 h 2553"/>
              <a:gd name="T76" fmla="*/ 12 w 12"/>
              <a:gd name="T77" fmla="*/ 1678 h 2553"/>
              <a:gd name="T78" fmla="*/ 12 w 12"/>
              <a:gd name="T79" fmla="*/ 1702 h 2553"/>
              <a:gd name="T80" fmla="*/ 0 w 12"/>
              <a:gd name="T81" fmla="*/ 1750 h 2553"/>
              <a:gd name="T82" fmla="*/ 0 w 12"/>
              <a:gd name="T83" fmla="*/ 1810 h 2553"/>
              <a:gd name="T84" fmla="*/ 12 w 12"/>
              <a:gd name="T85" fmla="*/ 1858 h 2553"/>
              <a:gd name="T86" fmla="*/ 12 w 12"/>
              <a:gd name="T87" fmla="*/ 1894 h 2553"/>
              <a:gd name="T88" fmla="*/ 12 w 12"/>
              <a:gd name="T89" fmla="*/ 1918 h 2553"/>
              <a:gd name="T90" fmla="*/ 0 w 12"/>
              <a:gd name="T91" fmla="*/ 1966 h 2553"/>
              <a:gd name="T92" fmla="*/ 0 w 12"/>
              <a:gd name="T93" fmla="*/ 2025 h 2553"/>
              <a:gd name="T94" fmla="*/ 12 w 12"/>
              <a:gd name="T95" fmla="*/ 2073 h 2553"/>
              <a:gd name="T96" fmla="*/ 12 w 12"/>
              <a:gd name="T97" fmla="*/ 2109 h 2553"/>
              <a:gd name="T98" fmla="*/ 12 w 12"/>
              <a:gd name="T99" fmla="*/ 2133 h 2553"/>
              <a:gd name="T100" fmla="*/ 0 w 12"/>
              <a:gd name="T101" fmla="*/ 2181 h 2553"/>
              <a:gd name="T102" fmla="*/ 0 w 12"/>
              <a:gd name="T103" fmla="*/ 2241 h 2553"/>
              <a:gd name="T104" fmla="*/ 12 w 12"/>
              <a:gd name="T105" fmla="*/ 2289 h 2553"/>
              <a:gd name="T106" fmla="*/ 12 w 12"/>
              <a:gd name="T107" fmla="*/ 2325 h 2553"/>
              <a:gd name="T108" fmla="*/ 12 w 12"/>
              <a:gd name="T109" fmla="*/ 2349 h 2553"/>
              <a:gd name="T110" fmla="*/ 0 w 12"/>
              <a:gd name="T111" fmla="*/ 2397 h 2553"/>
              <a:gd name="T112" fmla="*/ 0 w 12"/>
              <a:gd name="T113" fmla="*/ 2457 h 2553"/>
              <a:gd name="T114" fmla="*/ 12 w 12"/>
              <a:gd name="T115" fmla="*/ 2505 h 2553"/>
              <a:gd name="T116" fmla="*/ 12 w 12"/>
              <a:gd name="T117" fmla="*/ 2541 h 25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12" h="2553">
                <a:moveTo>
                  <a:pt x="12" y="0"/>
                </a:moveTo>
                <a:lnTo>
                  <a:pt x="12" y="12"/>
                </a:lnTo>
                <a:lnTo>
                  <a:pt x="0" y="12"/>
                </a:lnTo>
                <a:lnTo>
                  <a:pt x="0" y="0"/>
                </a:lnTo>
                <a:lnTo>
                  <a:pt x="12" y="0"/>
                </a:lnTo>
                <a:close/>
                <a:moveTo>
                  <a:pt x="12" y="24"/>
                </a:moveTo>
                <a:lnTo>
                  <a:pt x="12" y="36"/>
                </a:lnTo>
                <a:lnTo>
                  <a:pt x="0" y="36"/>
                </a:lnTo>
                <a:lnTo>
                  <a:pt x="0" y="24"/>
                </a:lnTo>
                <a:lnTo>
                  <a:pt x="12" y="24"/>
                </a:lnTo>
                <a:close/>
                <a:moveTo>
                  <a:pt x="12" y="48"/>
                </a:moveTo>
                <a:lnTo>
                  <a:pt x="12" y="60"/>
                </a:lnTo>
                <a:lnTo>
                  <a:pt x="0" y="60"/>
                </a:lnTo>
                <a:lnTo>
                  <a:pt x="0" y="48"/>
                </a:lnTo>
                <a:lnTo>
                  <a:pt x="12" y="48"/>
                </a:lnTo>
                <a:close/>
                <a:moveTo>
                  <a:pt x="12" y="72"/>
                </a:moveTo>
                <a:lnTo>
                  <a:pt x="12" y="84"/>
                </a:lnTo>
                <a:lnTo>
                  <a:pt x="0" y="84"/>
                </a:lnTo>
                <a:lnTo>
                  <a:pt x="0" y="72"/>
                </a:lnTo>
                <a:lnTo>
                  <a:pt x="12" y="72"/>
                </a:lnTo>
                <a:close/>
                <a:moveTo>
                  <a:pt x="12" y="96"/>
                </a:moveTo>
                <a:lnTo>
                  <a:pt x="12" y="108"/>
                </a:lnTo>
                <a:lnTo>
                  <a:pt x="0" y="108"/>
                </a:lnTo>
                <a:lnTo>
                  <a:pt x="0" y="96"/>
                </a:lnTo>
                <a:lnTo>
                  <a:pt x="12" y="96"/>
                </a:lnTo>
                <a:close/>
                <a:moveTo>
                  <a:pt x="12" y="120"/>
                </a:moveTo>
                <a:lnTo>
                  <a:pt x="12" y="132"/>
                </a:lnTo>
                <a:lnTo>
                  <a:pt x="0" y="132"/>
                </a:lnTo>
                <a:lnTo>
                  <a:pt x="0" y="120"/>
                </a:lnTo>
                <a:lnTo>
                  <a:pt x="12" y="120"/>
                </a:lnTo>
                <a:close/>
                <a:moveTo>
                  <a:pt x="12" y="144"/>
                </a:moveTo>
                <a:lnTo>
                  <a:pt x="12" y="156"/>
                </a:lnTo>
                <a:lnTo>
                  <a:pt x="0" y="156"/>
                </a:lnTo>
                <a:lnTo>
                  <a:pt x="0" y="144"/>
                </a:lnTo>
                <a:lnTo>
                  <a:pt x="12" y="144"/>
                </a:lnTo>
                <a:close/>
                <a:moveTo>
                  <a:pt x="12" y="168"/>
                </a:moveTo>
                <a:lnTo>
                  <a:pt x="12" y="180"/>
                </a:lnTo>
                <a:lnTo>
                  <a:pt x="0" y="180"/>
                </a:lnTo>
                <a:lnTo>
                  <a:pt x="0" y="168"/>
                </a:lnTo>
                <a:lnTo>
                  <a:pt x="12" y="168"/>
                </a:lnTo>
                <a:close/>
                <a:moveTo>
                  <a:pt x="12" y="192"/>
                </a:moveTo>
                <a:lnTo>
                  <a:pt x="12" y="204"/>
                </a:lnTo>
                <a:lnTo>
                  <a:pt x="0" y="204"/>
                </a:lnTo>
                <a:lnTo>
                  <a:pt x="0" y="192"/>
                </a:lnTo>
                <a:lnTo>
                  <a:pt x="12" y="192"/>
                </a:lnTo>
                <a:close/>
                <a:moveTo>
                  <a:pt x="12" y="216"/>
                </a:moveTo>
                <a:lnTo>
                  <a:pt x="12" y="228"/>
                </a:lnTo>
                <a:lnTo>
                  <a:pt x="0" y="228"/>
                </a:lnTo>
                <a:lnTo>
                  <a:pt x="0" y="216"/>
                </a:lnTo>
                <a:lnTo>
                  <a:pt x="12" y="216"/>
                </a:lnTo>
                <a:close/>
                <a:moveTo>
                  <a:pt x="12" y="240"/>
                </a:moveTo>
                <a:lnTo>
                  <a:pt x="12" y="252"/>
                </a:lnTo>
                <a:lnTo>
                  <a:pt x="0" y="252"/>
                </a:lnTo>
                <a:lnTo>
                  <a:pt x="0" y="240"/>
                </a:lnTo>
                <a:lnTo>
                  <a:pt x="12" y="240"/>
                </a:lnTo>
                <a:close/>
                <a:moveTo>
                  <a:pt x="12" y="264"/>
                </a:moveTo>
                <a:lnTo>
                  <a:pt x="12" y="276"/>
                </a:lnTo>
                <a:lnTo>
                  <a:pt x="0" y="276"/>
                </a:lnTo>
                <a:lnTo>
                  <a:pt x="0" y="264"/>
                </a:lnTo>
                <a:lnTo>
                  <a:pt x="12" y="264"/>
                </a:lnTo>
                <a:close/>
                <a:moveTo>
                  <a:pt x="12" y="288"/>
                </a:moveTo>
                <a:lnTo>
                  <a:pt x="12" y="300"/>
                </a:lnTo>
                <a:lnTo>
                  <a:pt x="0" y="300"/>
                </a:lnTo>
                <a:lnTo>
                  <a:pt x="0" y="288"/>
                </a:lnTo>
                <a:lnTo>
                  <a:pt x="12" y="288"/>
                </a:lnTo>
                <a:close/>
                <a:moveTo>
                  <a:pt x="12" y="312"/>
                </a:moveTo>
                <a:lnTo>
                  <a:pt x="12" y="324"/>
                </a:lnTo>
                <a:lnTo>
                  <a:pt x="0" y="324"/>
                </a:lnTo>
                <a:lnTo>
                  <a:pt x="0" y="312"/>
                </a:lnTo>
                <a:lnTo>
                  <a:pt x="12" y="312"/>
                </a:lnTo>
                <a:close/>
                <a:moveTo>
                  <a:pt x="12" y="336"/>
                </a:moveTo>
                <a:lnTo>
                  <a:pt x="12" y="348"/>
                </a:lnTo>
                <a:lnTo>
                  <a:pt x="0" y="348"/>
                </a:lnTo>
                <a:lnTo>
                  <a:pt x="0" y="336"/>
                </a:lnTo>
                <a:lnTo>
                  <a:pt x="12" y="336"/>
                </a:lnTo>
                <a:close/>
                <a:moveTo>
                  <a:pt x="12" y="360"/>
                </a:moveTo>
                <a:lnTo>
                  <a:pt x="12" y="372"/>
                </a:lnTo>
                <a:lnTo>
                  <a:pt x="0" y="372"/>
                </a:lnTo>
                <a:lnTo>
                  <a:pt x="0" y="360"/>
                </a:lnTo>
                <a:lnTo>
                  <a:pt x="12" y="360"/>
                </a:lnTo>
                <a:close/>
                <a:moveTo>
                  <a:pt x="12" y="384"/>
                </a:moveTo>
                <a:lnTo>
                  <a:pt x="12" y="396"/>
                </a:lnTo>
                <a:lnTo>
                  <a:pt x="0" y="396"/>
                </a:lnTo>
                <a:lnTo>
                  <a:pt x="0" y="384"/>
                </a:lnTo>
                <a:lnTo>
                  <a:pt x="12" y="384"/>
                </a:lnTo>
                <a:close/>
                <a:moveTo>
                  <a:pt x="12" y="408"/>
                </a:moveTo>
                <a:lnTo>
                  <a:pt x="12" y="420"/>
                </a:lnTo>
                <a:lnTo>
                  <a:pt x="0" y="420"/>
                </a:lnTo>
                <a:lnTo>
                  <a:pt x="0" y="408"/>
                </a:lnTo>
                <a:lnTo>
                  <a:pt x="12" y="408"/>
                </a:lnTo>
                <a:close/>
                <a:moveTo>
                  <a:pt x="12" y="432"/>
                </a:moveTo>
                <a:lnTo>
                  <a:pt x="12" y="444"/>
                </a:lnTo>
                <a:lnTo>
                  <a:pt x="0" y="444"/>
                </a:lnTo>
                <a:lnTo>
                  <a:pt x="0" y="432"/>
                </a:lnTo>
                <a:lnTo>
                  <a:pt x="12" y="432"/>
                </a:lnTo>
                <a:close/>
                <a:moveTo>
                  <a:pt x="12" y="456"/>
                </a:moveTo>
                <a:lnTo>
                  <a:pt x="12" y="468"/>
                </a:lnTo>
                <a:lnTo>
                  <a:pt x="0" y="468"/>
                </a:lnTo>
                <a:lnTo>
                  <a:pt x="0" y="456"/>
                </a:lnTo>
                <a:lnTo>
                  <a:pt x="12" y="456"/>
                </a:lnTo>
                <a:close/>
                <a:moveTo>
                  <a:pt x="12" y="480"/>
                </a:moveTo>
                <a:lnTo>
                  <a:pt x="12" y="492"/>
                </a:lnTo>
                <a:lnTo>
                  <a:pt x="0" y="492"/>
                </a:lnTo>
                <a:lnTo>
                  <a:pt x="0" y="480"/>
                </a:lnTo>
                <a:lnTo>
                  <a:pt x="12" y="480"/>
                </a:lnTo>
                <a:close/>
                <a:moveTo>
                  <a:pt x="12" y="504"/>
                </a:moveTo>
                <a:lnTo>
                  <a:pt x="12" y="516"/>
                </a:lnTo>
                <a:lnTo>
                  <a:pt x="0" y="516"/>
                </a:lnTo>
                <a:lnTo>
                  <a:pt x="0" y="504"/>
                </a:lnTo>
                <a:lnTo>
                  <a:pt x="12" y="504"/>
                </a:lnTo>
                <a:close/>
                <a:moveTo>
                  <a:pt x="12" y="528"/>
                </a:moveTo>
                <a:lnTo>
                  <a:pt x="12" y="540"/>
                </a:lnTo>
                <a:lnTo>
                  <a:pt x="0" y="540"/>
                </a:lnTo>
                <a:lnTo>
                  <a:pt x="0" y="528"/>
                </a:lnTo>
                <a:lnTo>
                  <a:pt x="12" y="528"/>
                </a:lnTo>
                <a:close/>
                <a:moveTo>
                  <a:pt x="12" y="552"/>
                </a:moveTo>
                <a:lnTo>
                  <a:pt x="12" y="564"/>
                </a:lnTo>
                <a:lnTo>
                  <a:pt x="0" y="564"/>
                </a:lnTo>
                <a:lnTo>
                  <a:pt x="0" y="552"/>
                </a:lnTo>
                <a:lnTo>
                  <a:pt x="12" y="552"/>
                </a:lnTo>
                <a:close/>
                <a:moveTo>
                  <a:pt x="12" y="575"/>
                </a:moveTo>
                <a:lnTo>
                  <a:pt x="12" y="588"/>
                </a:lnTo>
                <a:lnTo>
                  <a:pt x="0" y="588"/>
                </a:lnTo>
                <a:lnTo>
                  <a:pt x="0" y="575"/>
                </a:lnTo>
                <a:lnTo>
                  <a:pt x="12" y="575"/>
                </a:lnTo>
                <a:close/>
                <a:moveTo>
                  <a:pt x="12" y="600"/>
                </a:moveTo>
                <a:lnTo>
                  <a:pt x="12" y="611"/>
                </a:lnTo>
                <a:lnTo>
                  <a:pt x="0" y="611"/>
                </a:lnTo>
                <a:lnTo>
                  <a:pt x="0" y="600"/>
                </a:lnTo>
                <a:lnTo>
                  <a:pt x="12" y="600"/>
                </a:lnTo>
                <a:close/>
                <a:moveTo>
                  <a:pt x="12" y="623"/>
                </a:moveTo>
                <a:lnTo>
                  <a:pt x="12" y="636"/>
                </a:lnTo>
                <a:lnTo>
                  <a:pt x="0" y="636"/>
                </a:lnTo>
                <a:lnTo>
                  <a:pt x="0" y="623"/>
                </a:lnTo>
                <a:lnTo>
                  <a:pt x="12" y="623"/>
                </a:lnTo>
                <a:close/>
                <a:moveTo>
                  <a:pt x="12" y="647"/>
                </a:moveTo>
                <a:lnTo>
                  <a:pt x="12" y="659"/>
                </a:lnTo>
                <a:lnTo>
                  <a:pt x="0" y="659"/>
                </a:lnTo>
                <a:lnTo>
                  <a:pt x="0" y="647"/>
                </a:lnTo>
                <a:lnTo>
                  <a:pt x="12" y="647"/>
                </a:lnTo>
                <a:close/>
                <a:moveTo>
                  <a:pt x="12" y="672"/>
                </a:moveTo>
                <a:lnTo>
                  <a:pt x="12" y="683"/>
                </a:lnTo>
                <a:lnTo>
                  <a:pt x="0" y="683"/>
                </a:lnTo>
                <a:lnTo>
                  <a:pt x="0" y="672"/>
                </a:lnTo>
                <a:lnTo>
                  <a:pt x="12" y="672"/>
                </a:lnTo>
                <a:close/>
                <a:moveTo>
                  <a:pt x="12" y="695"/>
                </a:moveTo>
                <a:lnTo>
                  <a:pt x="12" y="707"/>
                </a:lnTo>
                <a:lnTo>
                  <a:pt x="0" y="707"/>
                </a:lnTo>
                <a:lnTo>
                  <a:pt x="0" y="695"/>
                </a:lnTo>
                <a:lnTo>
                  <a:pt x="12" y="695"/>
                </a:lnTo>
                <a:close/>
                <a:moveTo>
                  <a:pt x="12" y="719"/>
                </a:moveTo>
                <a:lnTo>
                  <a:pt x="12" y="731"/>
                </a:lnTo>
                <a:lnTo>
                  <a:pt x="0" y="731"/>
                </a:lnTo>
                <a:lnTo>
                  <a:pt x="0" y="719"/>
                </a:lnTo>
                <a:lnTo>
                  <a:pt x="12" y="719"/>
                </a:lnTo>
                <a:close/>
                <a:moveTo>
                  <a:pt x="12" y="743"/>
                </a:moveTo>
                <a:lnTo>
                  <a:pt x="12" y="755"/>
                </a:lnTo>
                <a:lnTo>
                  <a:pt x="0" y="755"/>
                </a:lnTo>
                <a:lnTo>
                  <a:pt x="0" y="743"/>
                </a:lnTo>
                <a:lnTo>
                  <a:pt x="12" y="743"/>
                </a:lnTo>
                <a:close/>
                <a:moveTo>
                  <a:pt x="12" y="767"/>
                </a:moveTo>
                <a:lnTo>
                  <a:pt x="12" y="779"/>
                </a:lnTo>
                <a:lnTo>
                  <a:pt x="0" y="779"/>
                </a:lnTo>
                <a:lnTo>
                  <a:pt x="0" y="767"/>
                </a:lnTo>
                <a:lnTo>
                  <a:pt x="12" y="767"/>
                </a:lnTo>
                <a:close/>
                <a:moveTo>
                  <a:pt x="12" y="791"/>
                </a:moveTo>
                <a:lnTo>
                  <a:pt x="12" y="803"/>
                </a:lnTo>
                <a:lnTo>
                  <a:pt x="0" y="803"/>
                </a:lnTo>
                <a:lnTo>
                  <a:pt x="0" y="791"/>
                </a:lnTo>
                <a:lnTo>
                  <a:pt x="12" y="791"/>
                </a:lnTo>
                <a:close/>
                <a:moveTo>
                  <a:pt x="12" y="815"/>
                </a:moveTo>
                <a:lnTo>
                  <a:pt x="12" y="827"/>
                </a:lnTo>
                <a:lnTo>
                  <a:pt x="0" y="827"/>
                </a:lnTo>
                <a:lnTo>
                  <a:pt x="0" y="815"/>
                </a:lnTo>
                <a:lnTo>
                  <a:pt x="12" y="815"/>
                </a:lnTo>
                <a:close/>
                <a:moveTo>
                  <a:pt x="12" y="839"/>
                </a:moveTo>
                <a:lnTo>
                  <a:pt x="12" y="851"/>
                </a:lnTo>
                <a:lnTo>
                  <a:pt x="0" y="851"/>
                </a:lnTo>
                <a:lnTo>
                  <a:pt x="0" y="839"/>
                </a:lnTo>
                <a:lnTo>
                  <a:pt x="12" y="839"/>
                </a:lnTo>
                <a:close/>
                <a:moveTo>
                  <a:pt x="12" y="863"/>
                </a:moveTo>
                <a:lnTo>
                  <a:pt x="12" y="875"/>
                </a:lnTo>
                <a:lnTo>
                  <a:pt x="0" y="875"/>
                </a:lnTo>
                <a:lnTo>
                  <a:pt x="0" y="863"/>
                </a:lnTo>
                <a:lnTo>
                  <a:pt x="12" y="863"/>
                </a:lnTo>
                <a:close/>
                <a:moveTo>
                  <a:pt x="12" y="887"/>
                </a:moveTo>
                <a:lnTo>
                  <a:pt x="12" y="899"/>
                </a:lnTo>
                <a:lnTo>
                  <a:pt x="0" y="899"/>
                </a:lnTo>
                <a:lnTo>
                  <a:pt x="0" y="887"/>
                </a:lnTo>
                <a:lnTo>
                  <a:pt x="12" y="887"/>
                </a:lnTo>
                <a:close/>
                <a:moveTo>
                  <a:pt x="12" y="911"/>
                </a:moveTo>
                <a:lnTo>
                  <a:pt x="12" y="923"/>
                </a:lnTo>
                <a:lnTo>
                  <a:pt x="0" y="923"/>
                </a:lnTo>
                <a:lnTo>
                  <a:pt x="0" y="911"/>
                </a:lnTo>
                <a:lnTo>
                  <a:pt x="12" y="911"/>
                </a:lnTo>
                <a:close/>
                <a:moveTo>
                  <a:pt x="12" y="935"/>
                </a:moveTo>
                <a:lnTo>
                  <a:pt x="12" y="947"/>
                </a:lnTo>
                <a:lnTo>
                  <a:pt x="0" y="947"/>
                </a:lnTo>
                <a:lnTo>
                  <a:pt x="0" y="935"/>
                </a:lnTo>
                <a:lnTo>
                  <a:pt x="12" y="935"/>
                </a:lnTo>
                <a:close/>
                <a:moveTo>
                  <a:pt x="12" y="959"/>
                </a:moveTo>
                <a:lnTo>
                  <a:pt x="12" y="971"/>
                </a:lnTo>
                <a:lnTo>
                  <a:pt x="0" y="971"/>
                </a:lnTo>
                <a:lnTo>
                  <a:pt x="0" y="959"/>
                </a:lnTo>
                <a:lnTo>
                  <a:pt x="12" y="959"/>
                </a:lnTo>
                <a:close/>
                <a:moveTo>
                  <a:pt x="12" y="983"/>
                </a:moveTo>
                <a:lnTo>
                  <a:pt x="12" y="995"/>
                </a:lnTo>
                <a:lnTo>
                  <a:pt x="0" y="995"/>
                </a:lnTo>
                <a:lnTo>
                  <a:pt x="0" y="983"/>
                </a:lnTo>
                <a:lnTo>
                  <a:pt x="12" y="983"/>
                </a:lnTo>
                <a:close/>
                <a:moveTo>
                  <a:pt x="12" y="1007"/>
                </a:moveTo>
                <a:lnTo>
                  <a:pt x="12" y="1019"/>
                </a:lnTo>
                <a:lnTo>
                  <a:pt x="0" y="1019"/>
                </a:lnTo>
                <a:lnTo>
                  <a:pt x="0" y="1007"/>
                </a:lnTo>
                <a:lnTo>
                  <a:pt x="12" y="1007"/>
                </a:lnTo>
                <a:close/>
                <a:moveTo>
                  <a:pt x="12" y="1031"/>
                </a:moveTo>
                <a:lnTo>
                  <a:pt x="12" y="1043"/>
                </a:lnTo>
                <a:lnTo>
                  <a:pt x="0" y="1043"/>
                </a:lnTo>
                <a:lnTo>
                  <a:pt x="0" y="1031"/>
                </a:lnTo>
                <a:lnTo>
                  <a:pt x="12" y="1031"/>
                </a:lnTo>
                <a:close/>
                <a:moveTo>
                  <a:pt x="12" y="1055"/>
                </a:moveTo>
                <a:lnTo>
                  <a:pt x="12" y="1067"/>
                </a:lnTo>
                <a:lnTo>
                  <a:pt x="0" y="1067"/>
                </a:lnTo>
                <a:lnTo>
                  <a:pt x="0" y="1055"/>
                </a:lnTo>
                <a:lnTo>
                  <a:pt x="12" y="1055"/>
                </a:lnTo>
                <a:close/>
                <a:moveTo>
                  <a:pt x="12" y="1079"/>
                </a:moveTo>
                <a:lnTo>
                  <a:pt x="12" y="1091"/>
                </a:lnTo>
                <a:lnTo>
                  <a:pt x="0" y="1091"/>
                </a:lnTo>
                <a:lnTo>
                  <a:pt x="0" y="1079"/>
                </a:lnTo>
                <a:lnTo>
                  <a:pt x="12" y="1079"/>
                </a:lnTo>
                <a:close/>
                <a:moveTo>
                  <a:pt x="12" y="1103"/>
                </a:moveTo>
                <a:lnTo>
                  <a:pt x="12" y="1115"/>
                </a:lnTo>
                <a:lnTo>
                  <a:pt x="0" y="1115"/>
                </a:lnTo>
                <a:lnTo>
                  <a:pt x="0" y="1103"/>
                </a:lnTo>
                <a:lnTo>
                  <a:pt x="12" y="1103"/>
                </a:lnTo>
                <a:close/>
                <a:moveTo>
                  <a:pt x="12" y="1127"/>
                </a:moveTo>
                <a:lnTo>
                  <a:pt x="12" y="1139"/>
                </a:lnTo>
                <a:lnTo>
                  <a:pt x="0" y="1139"/>
                </a:lnTo>
                <a:lnTo>
                  <a:pt x="0" y="1127"/>
                </a:lnTo>
                <a:lnTo>
                  <a:pt x="12" y="1127"/>
                </a:lnTo>
                <a:close/>
                <a:moveTo>
                  <a:pt x="12" y="1151"/>
                </a:moveTo>
                <a:lnTo>
                  <a:pt x="12" y="1163"/>
                </a:lnTo>
                <a:lnTo>
                  <a:pt x="0" y="1163"/>
                </a:lnTo>
                <a:lnTo>
                  <a:pt x="0" y="1151"/>
                </a:lnTo>
                <a:lnTo>
                  <a:pt x="12" y="1151"/>
                </a:lnTo>
                <a:close/>
                <a:moveTo>
                  <a:pt x="12" y="1175"/>
                </a:moveTo>
                <a:lnTo>
                  <a:pt x="12" y="1187"/>
                </a:lnTo>
                <a:lnTo>
                  <a:pt x="0" y="1187"/>
                </a:lnTo>
                <a:lnTo>
                  <a:pt x="0" y="1175"/>
                </a:lnTo>
                <a:lnTo>
                  <a:pt x="12" y="1175"/>
                </a:lnTo>
                <a:close/>
                <a:moveTo>
                  <a:pt x="12" y="1199"/>
                </a:moveTo>
                <a:lnTo>
                  <a:pt x="12" y="1211"/>
                </a:lnTo>
                <a:lnTo>
                  <a:pt x="0" y="1211"/>
                </a:lnTo>
                <a:lnTo>
                  <a:pt x="0" y="1199"/>
                </a:lnTo>
                <a:lnTo>
                  <a:pt x="12" y="1199"/>
                </a:lnTo>
                <a:close/>
                <a:moveTo>
                  <a:pt x="12" y="1223"/>
                </a:moveTo>
                <a:lnTo>
                  <a:pt x="12" y="1235"/>
                </a:lnTo>
                <a:lnTo>
                  <a:pt x="0" y="1235"/>
                </a:lnTo>
                <a:lnTo>
                  <a:pt x="0" y="1223"/>
                </a:lnTo>
                <a:lnTo>
                  <a:pt x="12" y="1223"/>
                </a:lnTo>
                <a:close/>
                <a:moveTo>
                  <a:pt x="12" y="1247"/>
                </a:moveTo>
                <a:lnTo>
                  <a:pt x="12" y="1258"/>
                </a:lnTo>
                <a:lnTo>
                  <a:pt x="0" y="1258"/>
                </a:lnTo>
                <a:lnTo>
                  <a:pt x="0" y="1247"/>
                </a:lnTo>
                <a:lnTo>
                  <a:pt x="12" y="1247"/>
                </a:lnTo>
                <a:close/>
                <a:moveTo>
                  <a:pt x="12" y="1271"/>
                </a:moveTo>
                <a:lnTo>
                  <a:pt x="12" y="1283"/>
                </a:lnTo>
                <a:lnTo>
                  <a:pt x="0" y="1283"/>
                </a:lnTo>
                <a:lnTo>
                  <a:pt x="0" y="1271"/>
                </a:lnTo>
                <a:lnTo>
                  <a:pt x="12" y="1271"/>
                </a:lnTo>
                <a:close/>
                <a:moveTo>
                  <a:pt x="12" y="1294"/>
                </a:moveTo>
                <a:lnTo>
                  <a:pt x="12" y="1306"/>
                </a:lnTo>
                <a:lnTo>
                  <a:pt x="0" y="1306"/>
                </a:lnTo>
                <a:lnTo>
                  <a:pt x="0" y="1294"/>
                </a:lnTo>
                <a:lnTo>
                  <a:pt x="12" y="1294"/>
                </a:lnTo>
                <a:close/>
                <a:moveTo>
                  <a:pt x="12" y="1319"/>
                </a:moveTo>
                <a:lnTo>
                  <a:pt x="12" y="1330"/>
                </a:lnTo>
                <a:lnTo>
                  <a:pt x="0" y="1330"/>
                </a:lnTo>
                <a:lnTo>
                  <a:pt x="0" y="1319"/>
                </a:lnTo>
                <a:lnTo>
                  <a:pt x="12" y="1319"/>
                </a:lnTo>
                <a:close/>
                <a:moveTo>
                  <a:pt x="12" y="1342"/>
                </a:moveTo>
                <a:lnTo>
                  <a:pt x="12" y="1354"/>
                </a:lnTo>
                <a:lnTo>
                  <a:pt x="0" y="1354"/>
                </a:lnTo>
                <a:lnTo>
                  <a:pt x="0" y="1342"/>
                </a:lnTo>
                <a:lnTo>
                  <a:pt x="12" y="1342"/>
                </a:lnTo>
                <a:close/>
                <a:moveTo>
                  <a:pt x="12" y="1366"/>
                </a:moveTo>
                <a:lnTo>
                  <a:pt x="12" y="1378"/>
                </a:lnTo>
                <a:lnTo>
                  <a:pt x="0" y="1378"/>
                </a:lnTo>
                <a:lnTo>
                  <a:pt x="0" y="1366"/>
                </a:lnTo>
                <a:lnTo>
                  <a:pt x="12" y="1366"/>
                </a:lnTo>
                <a:close/>
                <a:moveTo>
                  <a:pt x="12" y="1390"/>
                </a:moveTo>
                <a:lnTo>
                  <a:pt x="12" y="1402"/>
                </a:lnTo>
                <a:lnTo>
                  <a:pt x="0" y="1402"/>
                </a:lnTo>
                <a:lnTo>
                  <a:pt x="0" y="1390"/>
                </a:lnTo>
                <a:lnTo>
                  <a:pt x="12" y="1390"/>
                </a:lnTo>
                <a:close/>
                <a:moveTo>
                  <a:pt x="12" y="1414"/>
                </a:moveTo>
                <a:lnTo>
                  <a:pt x="12" y="1426"/>
                </a:lnTo>
                <a:lnTo>
                  <a:pt x="0" y="1426"/>
                </a:lnTo>
                <a:lnTo>
                  <a:pt x="0" y="1414"/>
                </a:lnTo>
                <a:lnTo>
                  <a:pt x="12" y="1414"/>
                </a:lnTo>
                <a:close/>
                <a:moveTo>
                  <a:pt x="12" y="1438"/>
                </a:moveTo>
                <a:lnTo>
                  <a:pt x="12" y="1450"/>
                </a:lnTo>
                <a:lnTo>
                  <a:pt x="0" y="1450"/>
                </a:lnTo>
                <a:lnTo>
                  <a:pt x="0" y="1438"/>
                </a:lnTo>
                <a:lnTo>
                  <a:pt x="12" y="1438"/>
                </a:lnTo>
                <a:close/>
                <a:moveTo>
                  <a:pt x="12" y="1462"/>
                </a:moveTo>
                <a:lnTo>
                  <a:pt x="12" y="1474"/>
                </a:lnTo>
                <a:lnTo>
                  <a:pt x="0" y="1474"/>
                </a:lnTo>
                <a:lnTo>
                  <a:pt x="0" y="1462"/>
                </a:lnTo>
                <a:lnTo>
                  <a:pt x="12" y="1462"/>
                </a:lnTo>
                <a:close/>
                <a:moveTo>
                  <a:pt x="12" y="1486"/>
                </a:moveTo>
                <a:lnTo>
                  <a:pt x="12" y="1498"/>
                </a:lnTo>
                <a:lnTo>
                  <a:pt x="0" y="1498"/>
                </a:lnTo>
                <a:lnTo>
                  <a:pt x="0" y="1486"/>
                </a:lnTo>
                <a:lnTo>
                  <a:pt x="12" y="1486"/>
                </a:lnTo>
                <a:close/>
                <a:moveTo>
                  <a:pt x="12" y="1510"/>
                </a:moveTo>
                <a:lnTo>
                  <a:pt x="12" y="1522"/>
                </a:lnTo>
                <a:lnTo>
                  <a:pt x="0" y="1522"/>
                </a:lnTo>
                <a:lnTo>
                  <a:pt x="0" y="1510"/>
                </a:lnTo>
                <a:lnTo>
                  <a:pt x="12" y="1510"/>
                </a:lnTo>
                <a:close/>
                <a:moveTo>
                  <a:pt x="12" y="1534"/>
                </a:moveTo>
                <a:lnTo>
                  <a:pt x="12" y="1546"/>
                </a:lnTo>
                <a:lnTo>
                  <a:pt x="0" y="1546"/>
                </a:lnTo>
                <a:lnTo>
                  <a:pt x="0" y="1534"/>
                </a:lnTo>
                <a:lnTo>
                  <a:pt x="12" y="1534"/>
                </a:lnTo>
                <a:close/>
                <a:moveTo>
                  <a:pt x="12" y="1558"/>
                </a:moveTo>
                <a:lnTo>
                  <a:pt x="12" y="1570"/>
                </a:lnTo>
                <a:lnTo>
                  <a:pt x="0" y="1570"/>
                </a:lnTo>
                <a:lnTo>
                  <a:pt x="0" y="1558"/>
                </a:lnTo>
                <a:lnTo>
                  <a:pt x="12" y="1558"/>
                </a:lnTo>
                <a:close/>
                <a:moveTo>
                  <a:pt x="12" y="1582"/>
                </a:moveTo>
                <a:lnTo>
                  <a:pt x="12" y="1594"/>
                </a:lnTo>
                <a:lnTo>
                  <a:pt x="0" y="1594"/>
                </a:lnTo>
                <a:lnTo>
                  <a:pt x="0" y="1582"/>
                </a:lnTo>
                <a:lnTo>
                  <a:pt x="12" y="1582"/>
                </a:lnTo>
                <a:close/>
                <a:moveTo>
                  <a:pt x="12" y="1606"/>
                </a:moveTo>
                <a:lnTo>
                  <a:pt x="12" y="1618"/>
                </a:lnTo>
                <a:lnTo>
                  <a:pt x="0" y="1618"/>
                </a:lnTo>
                <a:lnTo>
                  <a:pt x="0" y="1606"/>
                </a:lnTo>
                <a:lnTo>
                  <a:pt x="12" y="1606"/>
                </a:lnTo>
                <a:close/>
                <a:moveTo>
                  <a:pt x="12" y="1630"/>
                </a:moveTo>
                <a:lnTo>
                  <a:pt x="12" y="1642"/>
                </a:lnTo>
                <a:lnTo>
                  <a:pt x="0" y="1642"/>
                </a:lnTo>
                <a:lnTo>
                  <a:pt x="0" y="1630"/>
                </a:lnTo>
                <a:lnTo>
                  <a:pt x="12" y="1630"/>
                </a:lnTo>
                <a:close/>
                <a:moveTo>
                  <a:pt x="12" y="1654"/>
                </a:moveTo>
                <a:lnTo>
                  <a:pt x="12" y="1666"/>
                </a:lnTo>
                <a:lnTo>
                  <a:pt x="0" y="1666"/>
                </a:lnTo>
                <a:lnTo>
                  <a:pt x="0" y="1654"/>
                </a:lnTo>
                <a:lnTo>
                  <a:pt x="12" y="1654"/>
                </a:lnTo>
                <a:close/>
                <a:moveTo>
                  <a:pt x="12" y="1678"/>
                </a:moveTo>
                <a:lnTo>
                  <a:pt x="12" y="1690"/>
                </a:lnTo>
                <a:lnTo>
                  <a:pt x="0" y="1690"/>
                </a:lnTo>
                <a:lnTo>
                  <a:pt x="0" y="1678"/>
                </a:lnTo>
                <a:lnTo>
                  <a:pt x="12" y="1678"/>
                </a:lnTo>
                <a:close/>
                <a:moveTo>
                  <a:pt x="12" y="1702"/>
                </a:moveTo>
                <a:lnTo>
                  <a:pt x="12" y="1714"/>
                </a:lnTo>
                <a:lnTo>
                  <a:pt x="0" y="1714"/>
                </a:lnTo>
                <a:lnTo>
                  <a:pt x="0" y="1702"/>
                </a:lnTo>
                <a:lnTo>
                  <a:pt x="12" y="1702"/>
                </a:lnTo>
                <a:close/>
                <a:moveTo>
                  <a:pt x="12" y="1726"/>
                </a:moveTo>
                <a:lnTo>
                  <a:pt x="12" y="1738"/>
                </a:lnTo>
                <a:lnTo>
                  <a:pt x="0" y="1738"/>
                </a:lnTo>
                <a:lnTo>
                  <a:pt x="0" y="1726"/>
                </a:lnTo>
                <a:lnTo>
                  <a:pt x="12" y="1726"/>
                </a:lnTo>
                <a:close/>
                <a:moveTo>
                  <a:pt x="12" y="1750"/>
                </a:moveTo>
                <a:lnTo>
                  <a:pt x="12" y="1762"/>
                </a:lnTo>
                <a:lnTo>
                  <a:pt x="0" y="1762"/>
                </a:lnTo>
                <a:lnTo>
                  <a:pt x="0" y="1750"/>
                </a:lnTo>
                <a:lnTo>
                  <a:pt x="12" y="1750"/>
                </a:lnTo>
                <a:close/>
                <a:moveTo>
                  <a:pt x="12" y="1774"/>
                </a:moveTo>
                <a:lnTo>
                  <a:pt x="12" y="1786"/>
                </a:lnTo>
                <a:lnTo>
                  <a:pt x="0" y="1786"/>
                </a:lnTo>
                <a:lnTo>
                  <a:pt x="0" y="1774"/>
                </a:lnTo>
                <a:lnTo>
                  <a:pt x="12" y="1774"/>
                </a:lnTo>
                <a:close/>
                <a:moveTo>
                  <a:pt x="12" y="1798"/>
                </a:moveTo>
                <a:lnTo>
                  <a:pt x="12" y="1810"/>
                </a:lnTo>
                <a:lnTo>
                  <a:pt x="0" y="1810"/>
                </a:lnTo>
                <a:lnTo>
                  <a:pt x="0" y="1798"/>
                </a:lnTo>
                <a:lnTo>
                  <a:pt x="12" y="1798"/>
                </a:lnTo>
                <a:close/>
                <a:moveTo>
                  <a:pt x="12" y="1822"/>
                </a:moveTo>
                <a:lnTo>
                  <a:pt x="12" y="1834"/>
                </a:lnTo>
                <a:lnTo>
                  <a:pt x="0" y="1834"/>
                </a:lnTo>
                <a:lnTo>
                  <a:pt x="0" y="1822"/>
                </a:lnTo>
                <a:lnTo>
                  <a:pt x="12" y="1822"/>
                </a:lnTo>
                <a:close/>
                <a:moveTo>
                  <a:pt x="12" y="1846"/>
                </a:moveTo>
                <a:lnTo>
                  <a:pt x="12" y="1858"/>
                </a:lnTo>
                <a:lnTo>
                  <a:pt x="0" y="1858"/>
                </a:lnTo>
                <a:lnTo>
                  <a:pt x="0" y="1846"/>
                </a:lnTo>
                <a:lnTo>
                  <a:pt x="12" y="1846"/>
                </a:lnTo>
                <a:close/>
                <a:moveTo>
                  <a:pt x="12" y="1870"/>
                </a:moveTo>
                <a:lnTo>
                  <a:pt x="12" y="1882"/>
                </a:lnTo>
                <a:lnTo>
                  <a:pt x="0" y="1882"/>
                </a:lnTo>
                <a:lnTo>
                  <a:pt x="0" y="1870"/>
                </a:lnTo>
                <a:lnTo>
                  <a:pt x="12" y="1870"/>
                </a:lnTo>
                <a:close/>
                <a:moveTo>
                  <a:pt x="12" y="1894"/>
                </a:moveTo>
                <a:lnTo>
                  <a:pt x="12" y="1905"/>
                </a:lnTo>
                <a:lnTo>
                  <a:pt x="0" y="1905"/>
                </a:lnTo>
                <a:lnTo>
                  <a:pt x="0" y="1894"/>
                </a:lnTo>
                <a:lnTo>
                  <a:pt x="12" y="1894"/>
                </a:lnTo>
                <a:close/>
                <a:moveTo>
                  <a:pt x="12" y="1918"/>
                </a:moveTo>
                <a:lnTo>
                  <a:pt x="12" y="1930"/>
                </a:lnTo>
                <a:lnTo>
                  <a:pt x="0" y="1930"/>
                </a:lnTo>
                <a:lnTo>
                  <a:pt x="0" y="1918"/>
                </a:lnTo>
                <a:lnTo>
                  <a:pt x="12" y="1918"/>
                </a:lnTo>
                <a:close/>
                <a:moveTo>
                  <a:pt x="12" y="1941"/>
                </a:moveTo>
                <a:lnTo>
                  <a:pt x="12" y="1953"/>
                </a:lnTo>
                <a:lnTo>
                  <a:pt x="0" y="1953"/>
                </a:lnTo>
                <a:lnTo>
                  <a:pt x="0" y="1941"/>
                </a:lnTo>
                <a:lnTo>
                  <a:pt x="12" y="1941"/>
                </a:lnTo>
                <a:close/>
                <a:moveTo>
                  <a:pt x="12" y="1966"/>
                </a:moveTo>
                <a:lnTo>
                  <a:pt x="12" y="1977"/>
                </a:lnTo>
                <a:lnTo>
                  <a:pt x="0" y="1977"/>
                </a:lnTo>
                <a:lnTo>
                  <a:pt x="0" y="1966"/>
                </a:lnTo>
                <a:lnTo>
                  <a:pt x="12" y="1966"/>
                </a:lnTo>
                <a:close/>
                <a:moveTo>
                  <a:pt x="12" y="1989"/>
                </a:moveTo>
                <a:lnTo>
                  <a:pt x="12" y="2002"/>
                </a:lnTo>
                <a:lnTo>
                  <a:pt x="0" y="2002"/>
                </a:lnTo>
                <a:lnTo>
                  <a:pt x="0" y="1989"/>
                </a:lnTo>
                <a:lnTo>
                  <a:pt x="12" y="1989"/>
                </a:lnTo>
                <a:close/>
                <a:moveTo>
                  <a:pt x="12" y="2013"/>
                </a:moveTo>
                <a:lnTo>
                  <a:pt x="12" y="2025"/>
                </a:lnTo>
                <a:lnTo>
                  <a:pt x="0" y="2025"/>
                </a:lnTo>
                <a:lnTo>
                  <a:pt x="0" y="2013"/>
                </a:lnTo>
                <a:lnTo>
                  <a:pt x="12" y="2013"/>
                </a:lnTo>
                <a:close/>
                <a:moveTo>
                  <a:pt x="12" y="2037"/>
                </a:moveTo>
                <a:lnTo>
                  <a:pt x="12" y="2049"/>
                </a:lnTo>
                <a:lnTo>
                  <a:pt x="0" y="2049"/>
                </a:lnTo>
                <a:lnTo>
                  <a:pt x="0" y="2037"/>
                </a:lnTo>
                <a:lnTo>
                  <a:pt x="12" y="2037"/>
                </a:lnTo>
                <a:close/>
                <a:moveTo>
                  <a:pt x="12" y="2061"/>
                </a:moveTo>
                <a:lnTo>
                  <a:pt x="12" y="2073"/>
                </a:lnTo>
                <a:lnTo>
                  <a:pt x="0" y="2073"/>
                </a:lnTo>
                <a:lnTo>
                  <a:pt x="0" y="2061"/>
                </a:lnTo>
                <a:lnTo>
                  <a:pt x="12" y="2061"/>
                </a:lnTo>
                <a:close/>
                <a:moveTo>
                  <a:pt x="12" y="2085"/>
                </a:moveTo>
                <a:lnTo>
                  <a:pt x="12" y="2097"/>
                </a:lnTo>
                <a:lnTo>
                  <a:pt x="0" y="2097"/>
                </a:lnTo>
                <a:lnTo>
                  <a:pt x="0" y="2085"/>
                </a:lnTo>
                <a:lnTo>
                  <a:pt x="12" y="2085"/>
                </a:lnTo>
                <a:close/>
                <a:moveTo>
                  <a:pt x="12" y="2109"/>
                </a:moveTo>
                <a:lnTo>
                  <a:pt x="12" y="2121"/>
                </a:lnTo>
                <a:lnTo>
                  <a:pt x="0" y="2121"/>
                </a:lnTo>
                <a:lnTo>
                  <a:pt x="0" y="2109"/>
                </a:lnTo>
                <a:lnTo>
                  <a:pt x="12" y="2109"/>
                </a:lnTo>
                <a:close/>
                <a:moveTo>
                  <a:pt x="12" y="2133"/>
                </a:moveTo>
                <a:lnTo>
                  <a:pt x="12" y="2145"/>
                </a:lnTo>
                <a:lnTo>
                  <a:pt x="0" y="2145"/>
                </a:lnTo>
                <a:lnTo>
                  <a:pt x="0" y="2133"/>
                </a:lnTo>
                <a:lnTo>
                  <a:pt x="12" y="2133"/>
                </a:lnTo>
                <a:close/>
                <a:moveTo>
                  <a:pt x="12" y="2157"/>
                </a:moveTo>
                <a:lnTo>
                  <a:pt x="12" y="2169"/>
                </a:lnTo>
                <a:lnTo>
                  <a:pt x="0" y="2169"/>
                </a:lnTo>
                <a:lnTo>
                  <a:pt x="0" y="2157"/>
                </a:lnTo>
                <a:lnTo>
                  <a:pt x="12" y="2157"/>
                </a:lnTo>
                <a:close/>
                <a:moveTo>
                  <a:pt x="12" y="2181"/>
                </a:moveTo>
                <a:lnTo>
                  <a:pt x="12" y="2193"/>
                </a:lnTo>
                <a:lnTo>
                  <a:pt x="0" y="2193"/>
                </a:lnTo>
                <a:lnTo>
                  <a:pt x="0" y="2181"/>
                </a:lnTo>
                <a:lnTo>
                  <a:pt x="12" y="2181"/>
                </a:lnTo>
                <a:close/>
                <a:moveTo>
                  <a:pt x="12" y="2205"/>
                </a:moveTo>
                <a:lnTo>
                  <a:pt x="12" y="2217"/>
                </a:lnTo>
                <a:lnTo>
                  <a:pt x="0" y="2217"/>
                </a:lnTo>
                <a:lnTo>
                  <a:pt x="0" y="2205"/>
                </a:lnTo>
                <a:lnTo>
                  <a:pt x="12" y="2205"/>
                </a:lnTo>
                <a:close/>
                <a:moveTo>
                  <a:pt x="12" y="2229"/>
                </a:moveTo>
                <a:lnTo>
                  <a:pt x="12" y="2241"/>
                </a:lnTo>
                <a:lnTo>
                  <a:pt x="0" y="2241"/>
                </a:lnTo>
                <a:lnTo>
                  <a:pt x="0" y="2229"/>
                </a:lnTo>
                <a:lnTo>
                  <a:pt x="12" y="2229"/>
                </a:lnTo>
                <a:close/>
                <a:moveTo>
                  <a:pt x="12" y="2253"/>
                </a:moveTo>
                <a:lnTo>
                  <a:pt x="12" y="2265"/>
                </a:lnTo>
                <a:lnTo>
                  <a:pt x="0" y="2265"/>
                </a:lnTo>
                <a:lnTo>
                  <a:pt x="0" y="2253"/>
                </a:lnTo>
                <a:lnTo>
                  <a:pt x="12" y="2253"/>
                </a:lnTo>
                <a:close/>
                <a:moveTo>
                  <a:pt x="12" y="2277"/>
                </a:moveTo>
                <a:lnTo>
                  <a:pt x="12" y="2289"/>
                </a:lnTo>
                <a:lnTo>
                  <a:pt x="0" y="2289"/>
                </a:lnTo>
                <a:lnTo>
                  <a:pt x="0" y="2277"/>
                </a:lnTo>
                <a:lnTo>
                  <a:pt x="12" y="2277"/>
                </a:lnTo>
                <a:close/>
                <a:moveTo>
                  <a:pt x="12" y="2301"/>
                </a:moveTo>
                <a:lnTo>
                  <a:pt x="12" y="2313"/>
                </a:lnTo>
                <a:lnTo>
                  <a:pt x="0" y="2313"/>
                </a:lnTo>
                <a:lnTo>
                  <a:pt x="0" y="2301"/>
                </a:lnTo>
                <a:lnTo>
                  <a:pt x="12" y="2301"/>
                </a:lnTo>
                <a:close/>
                <a:moveTo>
                  <a:pt x="12" y="2325"/>
                </a:moveTo>
                <a:lnTo>
                  <a:pt x="12" y="2337"/>
                </a:lnTo>
                <a:lnTo>
                  <a:pt x="0" y="2337"/>
                </a:lnTo>
                <a:lnTo>
                  <a:pt x="0" y="2325"/>
                </a:lnTo>
                <a:lnTo>
                  <a:pt x="12" y="2325"/>
                </a:lnTo>
                <a:close/>
                <a:moveTo>
                  <a:pt x="12" y="2349"/>
                </a:moveTo>
                <a:lnTo>
                  <a:pt x="12" y="2361"/>
                </a:lnTo>
                <a:lnTo>
                  <a:pt x="0" y="2361"/>
                </a:lnTo>
                <a:lnTo>
                  <a:pt x="0" y="2349"/>
                </a:lnTo>
                <a:lnTo>
                  <a:pt x="12" y="2349"/>
                </a:lnTo>
                <a:close/>
                <a:moveTo>
                  <a:pt x="12" y="2373"/>
                </a:moveTo>
                <a:lnTo>
                  <a:pt x="12" y="2385"/>
                </a:lnTo>
                <a:lnTo>
                  <a:pt x="0" y="2385"/>
                </a:lnTo>
                <a:lnTo>
                  <a:pt x="0" y="2373"/>
                </a:lnTo>
                <a:lnTo>
                  <a:pt x="12" y="2373"/>
                </a:lnTo>
                <a:close/>
                <a:moveTo>
                  <a:pt x="12" y="2397"/>
                </a:moveTo>
                <a:lnTo>
                  <a:pt x="12" y="2409"/>
                </a:lnTo>
                <a:lnTo>
                  <a:pt x="0" y="2409"/>
                </a:lnTo>
                <a:lnTo>
                  <a:pt x="0" y="2397"/>
                </a:lnTo>
                <a:lnTo>
                  <a:pt x="12" y="2397"/>
                </a:lnTo>
                <a:close/>
                <a:moveTo>
                  <a:pt x="12" y="2421"/>
                </a:moveTo>
                <a:lnTo>
                  <a:pt x="12" y="2433"/>
                </a:lnTo>
                <a:lnTo>
                  <a:pt x="0" y="2433"/>
                </a:lnTo>
                <a:lnTo>
                  <a:pt x="0" y="2421"/>
                </a:lnTo>
                <a:lnTo>
                  <a:pt x="12" y="2421"/>
                </a:lnTo>
                <a:close/>
                <a:moveTo>
                  <a:pt x="12" y="2445"/>
                </a:moveTo>
                <a:lnTo>
                  <a:pt x="12" y="2457"/>
                </a:lnTo>
                <a:lnTo>
                  <a:pt x="0" y="2457"/>
                </a:lnTo>
                <a:lnTo>
                  <a:pt x="0" y="2445"/>
                </a:lnTo>
                <a:lnTo>
                  <a:pt x="12" y="2445"/>
                </a:lnTo>
                <a:close/>
                <a:moveTo>
                  <a:pt x="12" y="2469"/>
                </a:moveTo>
                <a:lnTo>
                  <a:pt x="12" y="2481"/>
                </a:lnTo>
                <a:lnTo>
                  <a:pt x="0" y="2481"/>
                </a:lnTo>
                <a:lnTo>
                  <a:pt x="0" y="2469"/>
                </a:lnTo>
                <a:lnTo>
                  <a:pt x="12" y="2469"/>
                </a:lnTo>
                <a:close/>
                <a:moveTo>
                  <a:pt x="12" y="2493"/>
                </a:moveTo>
                <a:lnTo>
                  <a:pt x="12" y="2505"/>
                </a:lnTo>
                <a:lnTo>
                  <a:pt x="0" y="2505"/>
                </a:lnTo>
                <a:lnTo>
                  <a:pt x="0" y="2493"/>
                </a:lnTo>
                <a:lnTo>
                  <a:pt x="12" y="2493"/>
                </a:lnTo>
                <a:close/>
                <a:moveTo>
                  <a:pt x="12" y="2517"/>
                </a:moveTo>
                <a:lnTo>
                  <a:pt x="12" y="2529"/>
                </a:lnTo>
                <a:lnTo>
                  <a:pt x="0" y="2529"/>
                </a:lnTo>
                <a:lnTo>
                  <a:pt x="0" y="2517"/>
                </a:lnTo>
                <a:lnTo>
                  <a:pt x="12" y="2517"/>
                </a:lnTo>
                <a:close/>
                <a:moveTo>
                  <a:pt x="12" y="2541"/>
                </a:moveTo>
                <a:lnTo>
                  <a:pt x="12" y="2553"/>
                </a:lnTo>
                <a:lnTo>
                  <a:pt x="0" y="2553"/>
                </a:lnTo>
                <a:lnTo>
                  <a:pt x="0" y="2541"/>
                </a:lnTo>
                <a:lnTo>
                  <a:pt x="12" y="2541"/>
                </a:lnTo>
                <a:close/>
              </a:path>
            </a:pathLst>
          </a:custGeom>
          <a:solidFill>
            <a:srgbClr val="000000"/>
          </a:solidFill>
          <a:ln w="0" cap="flat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137" name="Freeform 134">
            <a:extLst>
              <a:ext uri="{FF2B5EF4-FFF2-40B4-BE49-F238E27FC236}">
                <a16:creationId xmlns:a16="http://schemas.microsoft.com/office/drawing/2014/main" id="{2C4589BE-C7F5-4CCC-9217-23314C6D0798}"/>
              </a:ext>
            </a:extLst>
          </p:cNvPr>
          <p:cNvSpPr>
            <a:spLocks noEditPoints="1"/>
          </p:cNvSpPr>
          <p:nvPr/>
        </p:nvSpPr>
        <p:spPr bwMode="auto">
          <a:xfrm>
            <a:off x="7750175" y="2289175"/>
            <a:ext cx="18000" cy="4032000"/>
          </a:xfrm>
          <a:custGeom>
            <a:avLst/>
            <a:gdLst>
              <a:gd name="T0" fmla="*/ 0 w 12"/>
              <a:gd name="T1" fmla="*/ 25 h 2553"/>
              <a:gd name="T2" fmla="*/ 0 w 12"/>
              <a:gd name="T3" fmla="*/ 84 h 2553"/>
              <a:gd name="T4" fmla="*/ 12 w 12"/>
              <a:gd name="T5" fmla="*/ 132 h 2553"/>
              <a:gd name="T6" fmla="*/ 12 w 12"/>
              <a:gd name="T7" fmla="*/ 168 h 2553"/>
              <a:gd name="T8" fmla="*/ 12 w 12"/>
              <a:gd name="T9" fmla="*/ 192 h 2553"/>
              <a:gd name="T10" fmla="*/ 0 w 12"/>
              <a:gd name="T11" fmla="*/ 240 h 2553"/>
              <a:gd name="T12" fmla="*/ 0 w 12"/>
              <a:gd name="T13" fmla="*/ 300 h 2553"/>
              <a:gd name="T14" fmla="*/ 12 w 12"/>
              <a:gd name="T15" fmla="*/ 348 h 2553"/>
              <a:gd name="T16" fmla="*/ 12 w 12"/>
              <a:gd name="T17" fmla="*/ 384 h 2553"/>
              <a:gd name="T18" fmla="*/ 12 w 12"/>
              <a:gd name="T19" fmla="*/ 408 h 2553"/>
              <a:gd name="T20" fmla="*/ 0 w 12"/>
              <a:gd name="T21" fmla="*/ 456 h 2553"/>
              <a:gd name="T22" fmla="*/ 0 w 12"/>
              <a:gd name="T23" fmla="*/ 516 h 2553"/>
              <a:gd name="T24" fmla="*/ 12 w 12"/>
              <a:gd name="T25" fmla="*/ 564 h 2553"/>
              <a:gd name="T26" fmla="*/ 12 w 12"/>
              <a:gd name="T27" fmla="*/ 600 h 2553"/>
              <a:gd name="T28" fmla="*/ 12 w 12"/>
              <a:gd name="T29" fmla="*/ 624 h 2553"/>
              <a:gd name="T30" fmla="*/ 0 w 12"/>
              <a:gd name="T31" fmla="*/ 672 h 2553"/>
              <a:gd name="T32" fmla="*/ 0 w 12"/>
              <a:gd name="T33" fmla="*/ 731 h 2553"/>
              <a:gd name="T34" fmla="*/ 12 w 12"/>
              <a:gd name="T35" fmla="*/ 779 h 2553"/>
              <a:gd name="T36" fmla="*/ 12 w 12"/>
              <a:gd name="T37" fmla="*/ 815 h 2553"/>
              <a:gd name="T38" fmla="*/ 12 w 12"/>
              <a:gd name="T39" fmla="*/ 839 h 2553"/>
              <a:gd name="T40" fmla="*/ 0 w 12"/>
              <a:gd name="T41" fmla="*/ 887 h 2553"/>
              <a:gd name="T42" fmla="*/ 0 w 12"/>
              <a:gd name="T43" fmla="*/ 947 h 2553"/>
              <a:gd name="T44" fmla="*/ 12 w 12"/>
              <a:gd name="T45" fmla="*/ 995 h 2553"/>
              <a:gd name="T46" fmla="*/ 12 w 12"/>
              <a:gd name="T47" fmla="*/ 1031 h 2553"/>
              <a:gd name="T48" fmla="*/ 12 w 12"/>
              <a:gd name="T49" fmla="*/ 1055 h 2553"/>
              <a:gd name="T50" fmla="*/ 0 w 12"/>
              <a:gd name="T51" fmla="*/ 1103 h 2553"/>
              <a:gd name="T52" fmla="*/ 0 w 12"/>
              <a:gd name="T53" fmla="*/ 1163 h 2553"/>
              <a:gd name="T54" fmla="*/ 12 w 12"/>
              <a:gd name="T55" fmla="*/ 1211 h 2553"/>
              <a:gd name="T56" fmla="*/ 12 w 12"/>
              <a:gd name="T57" fmla="*/ 1247 h 2553"/>
              <a:gd name="T58" fmla="*/ 12 w 12"/>
              <a:gd name="T59" fmla="*/ 1271 h 2553"/>
              <a:gd name="T60" fmla="*/ 0 w 12"/>
              <a:gd name="T61" fmla="*/ 1319 h 2553"/>
              <a:gd name="T62" fmla="*/ 0 w 12"/>
              <a:gd name="T63" fmla="*/ 1378 h 2553"/>
              <a:gd name="T64" fmla="*/ 12 w 12"/>
              <a:gd name="T65" fmla="*/ 1426 h 2553"/>
              <a:gd name="T66" fmla="*/ 12 w 12"/>
              <a:gd name="T67" fmla="*/ 1462 h 2553"/>
              <a:gd name="T68" fmla="*/ 12 w 12"/>
              <a:gd name="T69" fmla="*/ 1486 h 2553"/>
              <a:gd name="T70" fmla="*/ 0 w 12"/>
              <a:gd name="T71" fmla="*/ 1534 h 2553"/>
              <a:gd name="T72" fmla="*/ 0 w 12"/>
              <a:gd name="T73" fmla="*/ 1594 h 2553"/>
              <a:gd name="T74" fmla="*/ 12 w 12"/>
              <a:gd name="T75" fmla="*/ 1642 h 2553"/>
              <a:gd name="T76" fmla="*/ 12 w 12"/>
              <a:gd name="T77" fmla="*/ 1678 h 2553"/>
              <a:gd name="T78" fmla="*/ 12 w 12"/>
              <a:gd name="T79" fmla="*/ 1702 h 2553"/>
              <a:gd name="T80" fmla="*/ 0 w 12"/>
              <a:gd name="T81" fmla="*/ 1750 h 2553"/>
              <a:gd name="T82" fmla="*/ 0 w 12"/>
              <a:gd name="T83" fmla="*/ 1810 h 2553"/>
              <a:gd name="T84" fmla="*/ 12 w 12"/>
              <a:gd name="T85" fmla="*/ 1858 h 2553"/>
              <a:gd name="T86" fmla="*/ 12 w 12"/>
              <a:gd name="T87" fmla="*/ 1894 h 2553"/>
              <a:gd name="T88" fmla="*/ 12 w 12"/>
              <a:gd name="T89" fmla="*/ 1918 h 2553"/>
              <a:gd name="T90" fmla="*/ 0 w 12"/>
              <a:gd name="T91" fmla="*/ 1966 h 2553"/>
              <a:gd name="T92" fmla="*/ 0 w 12"/>
              <a:gd name="T93" fmla="*/ 2025 h 2553"/>
              <a:gd name="T94" fmla="*/ 12 w 12"/>
              <a:gd name="T95" fmla="*/ 2073 h 2553"/>
              <a:gd name="T96" fmla="*/ 12 w 12"/>
              <a:gd name="T97" fmla="*/ 2109 h 2553"/>
              <a:gd name="T98" fmla="*/ 12 w 12"/>
              <a:gd name="T99" fmla="*/ 2133 h 2553"/>
              <a:gd name="T100" fmla="*/ 0 w 12"/>
              <a:gd name="T101" fmla="*/ 2181 h 2553"/>
              <a:gd name="T102" fmla="*/ 0 w 12"/>
              <a:gd name="T103" fmla="*/ 2241 h 2553"/>
              <a:gd name="T104" fmla="*/ 12 w 12"/>
              <a:gd name="T105" fmla="*/ 2289 h 2553"/>
              <a:gd name="T106" fmla="*/ 12 w 12"/>
              <a:gd name="T107" fmla="*/ 2325 h 2553"/>
              <a:gd name="T108" fmla="*/ 12 w 12"/>
              <a:gd name="T109" fmla="*/ 2349 h 2553"/>
              <a:gd name="T110" fmla="*/ 0 w 12"/>
              <a:gd name="T111" fmla="*/ 2397 h 2553"/>
              <a:gd name="T112" fmla="*/ 0 w 12"/>
              <a:gd name="T113" fmla="*/ 2457 h 2553"/>
              <a:gd name="T114" fmla="*/ 12 w 12"/>
              <a:gd name="T115" fmla="*/ 2505 h 2553"/>
              <a:gd name="T116" fmla="*/ 12 w 12"/>
              <a:gd name="T117" fmla="*/ 2541 h 25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12" h="2553">
                <a:moveTo>
                  <a:pt x="12" y="0"/>
                </a:moveTo>
                <a:lnTo>
                  <a:pt x="12" y="12"/>
                </a:lnTo>
                <a:lnTo>
                  <a:pt x="0" y="12"/>
                </a:lnTo>
                <a:lnTo>
                  <a:pt x="0" y="0"/>
                </a:lnTo>
                <a:lnTo>
                  <a:pt x="12" y="0"/>
                </a:lnTo>
                <a:close/>
                <a:moveTo>
                  <a:pt x="12" y="25"/>
                </a:moveTo>
                <a:lnTo>
                  <a:pt x="12" y="36"/>
                </a:lnTo>
                <a:lnTo>
                  <a:pt x="0" y="36"/>
                </a:lnTo>
                <a:lnTo>
                  <a:pt x="0" y="25"/>
                </a:lnTo>
                <a:lnTo>
                  <a:pt x="12" y="25"/>
                </a:lnTo>
                <a:close/>
                <a:moveTo>
                  <a:pt x="12" y="48"/>
                </a:moveTo>
                <a:lnTo>
                  <a:pt x="12" y="60"/>
                </a:lnTo>
                <a:lnTo>
                  <a:pt x="0" y="60"/>
                </a:lnTo>
                <a:lnTo>
                  <a:pt x="0" y="48"/>
                </a:lnTo>
                <a:lnTo>
                  <a:pt x="12" y="48"/>
                </a:lnTo>
                <a:close/>
                <a:moveTo>
                  <a:pt x="12" y="72"/>
                </a:moveTo>
                <a:lnTo>
                  <a:pt x="12" y="84"/>
                </a:lnTo>
                <a:lnTo>
                  <a:pt x="0" y="84"/>
                </a:lnTo>
                <a:lnTo>
                  <a:pt x="0" y="72"/>
                </a:lnTo>
                <a:lnTo>
                  <a:pt x="12" y="72"/>
                </a:lnTo>
                <a:close/>
                <a:moveTo>
                  <a:pt x="12" y="96"/>
                </a:moveTo>
                <a:lnTo>
                  <a:pt x="12" y="108"/>
                </a:lnTo>
                <a:lnTo>
                  <a:pt x="0" y="108"/>
                </a:lnTo>
                <a:lnTo>
                  <a:pt x="0" y="96"/>
                </a:lnTo>
                <a:lnTo>
                  <a:pt x="12" y="96"/>
                </a:lnTo>
                <a:close/>
                <a:moveTo>
                  <a:pt x="12" y="120"/>
                </a:moveTo>
                <a:lnTo>
                  <a:pt x="12" y="132"/>
                </a:lnTo>
                <a:lnTo>
                  <a:pt x="0" y="132"/>
                </a:lnTo>
                <a:lnTo>
                  <a:pt x="0" y="120"/>
                </a:lnTo>
                <a:lnTo>
                  <a:pt x="12" y="120"/>
                </a:lnTo>
                <a:close/>
                <a:moveTo>
                  <a:pt x="12" y="144"/>
                </a:moveTo>
                <a:lnTo>
                  <a:pt x="12" y="156"/>
                </a:lnTo>
                <a:lnTo>
                  <a:pt x="0" y="156"/>
                </a:lnTo>
                <a:lnTo>
                  <a:pt x="0" y="144"/>
                </a:lnTo>
                <a:lnTo>
                  <a:pt x="12" y="144"/>
                </a:lnTo>
                <a:close/>
                <a:moveTo>
                  <a:pt x="12" y="168"/>
                </a:moveTo>
                <a:lnTo>
                  <a:pt x="12" y="180"/>
                </a:lnTo>
                <a:lnTo>
                  <a:pt x="0" y="180"/>
                </a:lnTo>
                <a:lnTo>
                  <a:pt x="0" y="168"/>
                </a:lnTo>
                <a:lnTo>
                  <a:pt x="12" y="168"/>
                </a:lnTo>
                <a:close/>
                <a:moveTo>
                  <a:pt x="12" y="192"/>
                </a:moveTo>
                <a:lnTo>
                  <a:pt x="12" y="204"/>
                </a:lnTo>
                <a:lnTo>
                  <a:pt x="0" y="204"/>
                </a:lnTo>
                <a:lnTo>
                  <a:pt x="0" y="192"/>
                </a:lnTo>
                <a:lnTo>
                  <a:pt x="12" y="192"/>
                </a:lnTo>
                <a:close/>
                <a:moveTo>
                  <a:pt x="12" y="216"/>
                </a:moveTo>
                <a:lnTo>
                  <a:pt x="12" y="228"/>
                </a:lnTo>
                <a:lnTo>
                  <a:pt x="0" y="228"/>
                </a:lnTo>
                <a:lnTo>
                  <a:pt x="0" y="216"/>
                </a:lnTo>
                <a:lnTo>
                  <a:pt x="12" y="216"/>
                </a:lnTo>
                <a:close/>
                <a:moveTo>
                  <a:pt x="12" y="240"/>
                </a:moveTo>
                <a:lnTo>
                  <a:pt x="12" y="252"/>
                </a:lnTo>
                <a:lnTo>
                  <a:pt x="0" y="252"/>
                </a:lnTo>
                <a:lnTo>
                  <a:pt x="0" y="240"/>
                </a:lnTo>
                <a:lnTo>
                  <a:pt x="12" y="240"/>
                </a:lnTo>
                <a:close/>
                <a:moveTo>
                  <a:pt x="12" y="264"/>
                </a:moveTo>
                <a:lnTo>
                  <a:pt x="12" y="276"/>
                </a:lnTo>
                <a:lnTo>
                  <a:pt x="0" y="276"/>
                </a:lnTo>
                <a:lnTo>
                  <a:pt x="0" y="264"/>
                </a:lnTo>
                <a:lnTo>
                  <a:pt x="12" y="264"/>
                </a:lnTo>
                <a:close/>
                <a:moveTo>
                  <a:pt x="12" y="288"/>
                </a:moveTo>
                <a:lnTo>
                  <a:pt x="12" y="300"/>
                </a:lnTo>
                <a:lnTo>
                  <a:pt x="0" y="300"/>
                </a:lnTo>
                <a:lnTo>
                  <a:pt x="0" y="288"/>
                </a:lnTo>
                <a:lnTo>
                  <a:pt x="12" y="288"/>
                </a:lnTo>
                <a:close/>
                <a:moveTo>
                  <a:pt x="12" y="312"/>
                </a:moveTo>
                <a:lnTo>
                  <a:pt x="12" y="324"/>
                </a:lnTo>
                <a:lnTo>
                  <a:pt x="0" y="324"/>
                </a:lnTo>
                <a:lnTo>
                  <a:pt x="0" y="312"/>
                </a:lnTo>
                <a:lnTo>
                  <a:pt x="12" y="312"/>
                </a:lnTo>
                <a:close/>
                <a:moveTo>
                  <a:pt x="12" y="336"/>
                </a:moveTo>
                <a:lnTo>
                  <a:pt x="12" y="348"/>
                </a:lnTo>
                <a:lnTo>
                  <a:pt x="0" y="348"/>
                </a:lnTo>
                <a:lnTo>
                  <a:pt x="0" y="336"/>
                </a:lnTo>
                <a:lnTo>
                  <a:pt x="12" y="336"/>
                </a:lnTo>
                <a:close/>
                <a:moveTo>
                  <a:pt x="12" y="360"/>
                </a:moveTo>
                <a:lnTo>
                  <a:pt x="12" y="372"/>
                </a:lnTo>
                <a:lnTo>
                  <a:pt x="0" y="372"/>
                </a:lnTo>
                <a:lnTo>
                  <a:pt x="0" y="360"/>
                </a:lnTo>
                <a:lnTo>
                  <a:pt x="12" y="360"/>
                </a:lnTo>
                <a:close/>
                <a:moveTo>
                  <a:pt x="12" y="384"/>
                </a:moveTo>
                <a:lnTo>
                  <a:pt x="12" y="396"/>
                </a:lnTo>
                <a:lnTo>
                  <a:pt x="0" y="396"/>
                </a:lnTo>
                <a:lnTo>
                  <a:pt x="0" y="384"/>
                </a:lnTo>
                <a:lnTo>
                  <a:pt x="12" y="384"/>
                </a:lnTo>
                <a:close/>
                <a:moveTo>
                  <a:pt x="12" y="408"/>
                </a:moveTo>
                <a:lnTo>
                  <a:pt x="12" y="420"/>
                </a:lnTo>
                <a:lnTo>
                  <a:pt x="0" y="420"/>
                </a:lnTo>
                <a:lnTo>
                  <a:pt x="0" y="408"/>
                </a:lnTo>
                <a:lnTo>
                  <a:pt x="12" y="408"/>
                </a:lnTo>
                <a:close/>
                <a:moveTo>
                  <a:pt x="12" y="432"/>
                </a:moveTo>
                <a:lnTo>
                  <a:pt x="12" y="444"/>
                </a:lnTo>
                <a:lnTo>
                  <a:pt x="0" y="444"/>
                </a:lnTo>
                <a:lnTo>
                  <a:pt x="0" y="432"/>
                </a:lnTo>
                <a:lnTo>
                  <a:pt x="12" y="432"/>
                </a:lnTo>
                <a:close/>
                <a:moveTo>
                  <a:pt x="12" y="456"/>
                </a:moveTo>
                <a:lnTo>
                  <a:pt x="12" y="468"/>
                </a:lnTo>
                <a:lnTo>
                  <a:pt x="0" y="468"/>
                </a:lnTo>
                <a:lnTo>
                  <a:pt x="0" y="456"/>
                </a:lnTo>
                <a:lnTo>
                  <a:pt x="12" y="456"/>
                </a:lnTo>
                <a:close/>
                <a:moveTo>
                  <a:pt x="12" y="480"/>
                </a:moveTo>
                <a:lnTo>
                  <a:pt x="12" y="492"/>
                </a:lnTo>
                <a:lnTo>
                  <a:pt x="0" y="492"/>
                </a:lnTo>
                <a:lnTo>
                  <a:pt x="0" y="480"/>
                </a:lnTo>
                <a:lnTo>
                  <a:pt x="12" y="480"/>
                </a:lnTo>
                <a:close/>
                <a:moveTo>
                  <a:pt x="12" y="504"/>
                </a:moveTo>
                <a:lnTo>
                  <a:pt x="12" y="516"/>
                </a:lnTo>
                <a:lnTo>
                  <a:pt x="0" y="516"/>
                </a:lnTo>
                <a:lnTo>
                  <a:pt x="0" y="504"/>
                </a:lnTo>
                <a:lnTo>
                  <a:pt x="12" y="504"/>
                </a:lnTo>
                <a:close/>
                <a:moveTo>
                  <a:pt x="12" y="528"/>
                </a:moveTo>
                <a:lnTo>
                  <a:pt x="12" y="540"/>
                </a:lnTo>
                <a:lnTo>
                  <a:pt x="0" y="540"/>
                </a:lnTo>
                <a:lnTo>
                  <a:pt x="0" y="528"/>
                </a:lnTo>
                <a:lnTo>
                  <a:pt x="12" y="528"/>
                </a:lnTo>
                <a:close/>
                <a:moveTo>
                  <a:pt x="12" y="552"/>
                </a:moveTo>
                <a:lnTo>
                  <a:pt x="12" y="564"/>
                </a:lnTo>
                <a:lnTo>
                  <a:pt x="0" y="564"/>
                </a:lnTo>
                <a:lnTo>
                  <a:pt x="0" y="552"/>
                </a:lnTo>
                <a:lnTo>
                  <a:pt x="12" y="552"/>
                </a:lnTo>
                <a:close/>
                <a:moveTo>
                  <a:pt x="12" y="576"/>
                </a:moveTo>
                <a:lnTo>
                  <a:pt x="12" y="588"/>
                </a:lnTo>
                <a:lnTo>
                  <a:pt x="0" y="588"/>
                </a:lnTo>
                <a:lnTo>
                  <a:pt x="0" y="576"/>
                </a:lnTo>
                <a:lnTo>
                  <a:pt x="12" y="576"/>
                </a:lnTo>
                <a:close/>
                <a:moveTo>
                  <a:pt x="12" y="600"/>
                </a:moveTo>
                <a:lnTo>
                  <a:pt x="12" y="611"/>
                </a:lnTo>
                <a:lnTo>
                  <a:pt x="0" y="611"/>
                </a:lnTo>
                <a:lnTo>
                  <a:pt x="0" y="600"/>
                </a:lnTo>
                <a:lnTo>
                  <a:pt x="12" y="600"/>
                </a:lnTo>
                <a:close/>
                <a:moveTo>
                  <a:pt x="12" y="624"/>
                </a:moveTo>
                <a:lnTo>
                  <a:pt x="12" y="636"/>
                </a:lnTo>
                <a:lnTo>
                  <a:pt x="0" y="636"/>
                </a:lnTo>
                <a:lnTo>
                  <a:pt x="0" y="624"/>
                </a:lnTo>
                <a:lnTo>
                  <a:pt x="12" y="624"/>
                </a:lnTo>
                <a:close/>
                <a:moveTo>
                  <a:pt x="12" y="647"/>
                </a:moveTo>
                <a:lnTo>
                  <a:pt x="12" y="659"/>
                </a:lnTo>
                <a:lnTo>
                  <a:pt x="0" y="659"/>
                </a:lnTo>
                <a:lnTo>
                  <a:pt x="0" y="647"/>
                </a:lnTo>
                <a:lnTo>
                  <a:pt x="12" y="647"/>
                </a:lnTo>
                <a:close/>
                <a:moveTo>
                  <a:pt x="12" y="672"/>
                </a:moveTo>
                <a:lnTo>
                  <a:pt x="12" y="683"/>
                </a:lnTo>
                <a:lnTo>
                  <a:pt x="0" y="683"/>
                </a:lnTo>
                <a:lnTo>
                  <a:pt x="0" y="672"/>
                </a:lnTo>
                <a:lnTo>
                  <a:pt x="12" y="672"/>
                </a:lnTo>
                <a:close/>
                <a:moveTo>
                  <a:pt x="12" y="695"/>
                </a:moveTo>
                <a:lnTo>
                  <a:pt x="12" y="708"/>
                </a:lnTo>
                <a:lnTo>
                  <a:pt x="0" y="708"/>
                </a:lnTo>
                <a:lnTo>
                  <a:pt x="0" y="695"/>
                </a:lnTo>
                <a:lnTo>
                  <a:pt x="12" y="695"/>
                </a:lnTo>
                <a:close/>
                <a:moveTo>
                  <a:pt x="12" y="719"/>
                </a:moveTo>
                <a:lnTo>
                  <a:pt x="12" y="731"/>
                </a:lnTo>
                <a:lnTo>
                  <a:pt x="0" y="731"/>
                </a:lnTo>
                <a:lnTo>
                  <a:pt x="0" y="719"/>
                </a:lnTo>
                <a:lnTo>
                  <a:pt x="12" y="719"/>
                </a:lnTo>
                <a:close/>
                <a:moveTo>
                  <a:pt x="12" y="743"/>
                </a:moveTo>
                <a:lnTo>
                  <a:pt x="12" y="755"/>
                </a:lnTo>
                <a:lnTo>
                  <a:pt x="0" y="755"/>
                </a:lnTo>
                <a:lnTo>
                  <a:pt x="0" y="743"/>
                </a:lnTo>
                <a:lnTo>
                  <a:pt x="12" y="743"/>
                </a:lnTo>
                <a:close/>
                <a:moveTo>
                  <a:pt x="12" y="767"/>
                </a:moveTo>
                <a:lnTo>
                  <a:pt x="12" y="779"/>
                </a:lnTo>
                <a:lnTo>
                  <a:pt x="0" y="779"/>
                </a:lnTo>
                <a:lnTo>
                  <a:pt x="0" y="767"/>
                </a:lnTo>
                <a:lnTo>
                  <a:pt x="12" y="767"/>
                </a:lnTo>
                <a:close/>
                <a:moveTo>
                  <a:pt x="12" y="791"/>
                </a:moveTo>
                <a:lnTo>
                  <a:pt x="12" y="803"/>
                </a:lnTo>
                <a:lnTo>
                  <a:pt x="0" y="803"/>
                </a:lnTo>
                <a:lnTo>
                  <a:pt x="0" y="791"/>
                </a:lnTo>
                <a:lnTo>
                  <a:pt x="12" y="791"/>
                </a:lnTo>
                <a:close/>
                <a:moveTo>
                  <a:pt x="12" y="815"/>
                </a:moveTo>
                <a:lnTo>
                  <a:pt x="12" y="827"/>
                </a:lnTo>
                <a:lnTo>
                  <a:pt x="0" y="827"/>
                </a:lnTo>
                <a:lnTo>
                  <a:pt x="0" y="815"/>
                </a:lnTo>
                <a:lnTo>
                  <a:pt x="12" y="815"/>
                </a:lnTo>
                <a:close/>
                <a:moveTo>
                  <a:pt x="12" y="839"/>
                </a:moveTo>
                <a:lnTo>
                  <a:pt x="12" y="851"/>
                </a:lnTo>
                <a:lnTo>
                  <a:pt x="0" y="851"/>
                </a:lnTo>
                <a:lnTo>
                  <a:pt x="0" y="839"/>
                </a:lnTo>
                <a:lnTo>
                  <a:pt x="12" y="839"/>
                </a:lnTo>
                <a:close/>
                <a:moveTo>
                  <a:pt x="12" y="863"/>
                </a:moveTo>
                <a:lnTo>
                  <a:pt x="12" y="875"/>
                </a:lnTo>
                <a:lnTo>
                  <a:pt x="0" y="875"/>
                </a:lnTo>
                <a:lnTo>
                  <a:pt x="0" y="863"/>
                </a:lnTo>
                <a:lnTo>
                  <a:pt x="12" y="863"/>
                </a:lnTo>
                <a:close/>
                <a:moveTo>
                  <a:pt x="12" y="887"/>
                </a:moveTo>
                <a:lnTo>
                  <a:pt x="12" y="899"/>
                </a:lnTo>
                <a:lnTo>
                  <a:pt x="0" y="899"/>
                </a:lnTo>
                <a:lnTo>
                  <a:pt x="0" y="887"/>
                </a:lnTo>
                <a:lnTo>
                  <a:pt x="12" y="887"/>
                </a:lnTo>
                <a:close/>
                <a:moveTo>
                  <a:pt x="12" y="911"/>
                </a:moveTo>
                <a:lnTo>
                  <a:pt x="12" y="923"/>
                </a:lnTo>
                <a:lnTo>
                  <a:pt x="0" y="923"/>
                </a:lnTo>
                <a:lnTo>
                  <a:pt x="0" y="911"/>
                </a:lnTo>
                <a:lnTo>
                  <a:pt x="12" y="911"/>
                </a:lnTo>
                <a:close/>
                <a:moveTo>
                  <a:pt x="12" y="935"/>
                </a:moveTo>
                <a:lnTo>
                  <a:pt x="12" y="947"/>
                </a:lnTo>
                <a:lnTo>
                  <a:pt x="0" y="947"/>
                </a:lnTo>
                <a:lnTo>
                  <a:pt x="0" y="935"/>
                </a:lnTo>
                <a:lnTo>
                  <a:pt x="12" y="935"/>
                </a:lnTo>
                <a:close/>
                <a:moveTo>
                  <a:pt x="12" y="959"/>
                </a:moveTo>
                <a:lnTo>
                  <a:pt x="12" y="971"/>
                </a:lnTo>
                <a:lnTo>
                  <a:pt x="0" y="971"/>
                </a:lnTo>
                <a:lnTo>
                  <a:pt x="0" y="959"/>
                </a:lnTo>
                <a:lnTo>
                  <a:pt x="12" y="959"/>
                </a:lnTo>
                <a:close/>
                <a:moveTo>
                  <a:pt x="12" y="983"/>
                </a:moveTo>
                <a:lnTo>
                  <a:pt x="12" y="995"/>
                </a:lnTo>
                <a:lnTo>
                  <a:pt x="0" y="995"/>
                </a:lnTo>
                <a:lnTo>
                  <a:pt x="0" y="983"/>
                </a:lnTo>
                <a:lnTo>
                  <a:pt x="12" y="983"/>
                </a:lnTo>
                <a:close/>
                <a:moveTo>
                  <a:pt x="12" y="1007"/>
                </a:moveTo>
                <a:lnTo>
                  <a:pt x="12" y="1019"/>
                </a:lnTo>
                <a:lnTo>
                  <a:pt x="0" y="1019"/>
                </a:lnTo>
                <a:lnTo>
                  <a:pt x="0" y="1007"/>
                </a:lnTo>
                <a:lnTo>
                  <a:pt x="12" y="1007"/>
                </a:lnTo>
                <a:close/>
                <a:moveTo>
                  <a:pt x="12" y="1031"/>
                </a:moveTo>
                <a:lnTo>
                  <a:pt x="12" y="1043"/>
                </a:lnTo>
                <a:lnTo>
                  <a:pt x="0" y="1043"/>
                </a:lnTo>
                <a:lnTo>
                  <a:pt x="0" y="1031"/>
                </a:lnTo>
                <a:lnTo>
                  <a:pt x="12" y="1031"/>
                </a:lnTo>
                <a:close/>
                <a:moveTo>
                  <a:pt x="12" y="1055"/>
                </a:moveTo>
                <a:lnTo>
                  <a:pt x="12" y="1067"/>
                </a:lnTo>
                <a:lnTo>
                  <a:pt x="0" y="1067"/>
                </a:lnTo>
                <a:lnTo>
                  <a:pt x="0" y="1055"/>
                </a:lnTo>
                <a:lnTo>
                  <a:pt x="12" y="1055"/>
                </a:lnTo>
                <a:close/>
                <a:moveTo>
                  <a:pt x="12" y="1079"/>
                </a:moveTo>
                <a:lnTo>
                  <a:pt x="12" y="1091"/>
                </a:lnTo>
                <a:lnTo>
                  <a:pt x="0" y="1091"/>
                </a:lnTo>
                <a:lnTo>
                  <a:pt x="0" y="1079"/>
                </a:lnTo>
                <a:lnTo>
                  <a:pt x="12" y="1079"/>
                </a:lnTo>
                <a:close/>
                <a:moveTo>
                  <a:pt x="12" y="1103"/>
                </a:moveTo>
                <a:lnTo>
                  <a:pt x="12" y="1115"/>
                </a:lnTo>
                <a:lnTo>
                  <a:pt x="0" y="1115"/>
                </a:lnTo>
                <a:lnTo>
                  <a:pt x="0" y="1103"/>
                </a:lnTo>
                <a:lnTo>
                  <a:pt x="12" y="1103"/>
                </a:lnTo>
                <a:close/>
                <a:moveTo>
                  <a:pt x="12" y="1127"/>
                </a:moveTo>
                <a:lnTo>
                  <a:pt x="12" y="1139"/>
                </a:lnTo>
                <a:lnTo>
                  <a:pt x="0" y="1139"/>
                </a:lnTo>
                <a:lnTo>
                  <a:pt x="0" y="1127"/>
                </a:lnTo>
                <a:lnTo>
                  <a:pt x="12" y="1127"/>
                </a:lnTo>
                <a:close/>
                <a:moveTo>
                  <a:pt x="12" y="1151"/>
                </a:moveTo>
                <a:lnTo>
                  <a:pt x="12" y="1163"/>
                </a:lnTo>
                <a:lnTo>
                  <a:pt x="0" y="1163"/>
                </a:lnTo>
                <a:lnTo>
                  <a:pt x="0" y="1151"/>
                </a:lnTo>
                <a:lnTo>
                  <a:pt x="12" y="1151"/>
                </a:lnTo>
                <a:close/>
                <a:moveTo>
                  <a:pt x="12" y="1175"/>
                </a:moveTo>
                <a:lnTo>
                  <a:pt x="12" y="1187"/>
                </a:lnTo>
                <a:lnTo>
                  <a:pt x="0" y="1187"/>
                </a:lnTo>
                <a:lnTo>
                  <a:pt x="0" y="1175"/>
                </a:lnTo>
                <a:lnTo>
                  <a:pt x="12" y="1175"/>
                </a:lnTo>
                <a:close/>
                <a:moveTo>
                  <a:pt x="12" y="1199"/>
                </a:moveTo>
                <a:lnTo>
                  <a:pt x="12" y="1211"/>
                </a:lnTo>
                <a:lnTo>
                  <a:pt x="0" y="1211"/>
                </a:lnTo>
                <a:lnTo>
                  <a:pt x="0" y="1199"/>
                </a:lnTo>
                <a:lnTo>
                  <a:pt x="12" y="1199"/>
                </a:lnTo>
                <a:close/>
                <a:moveTo>
                  <a:pt x="12" y="1223"/>
                </a:moveTo>
                <a:lnTo>
                  <a:pt x="12" y="1235"/>
                </a:lnTo>
                <a:lnTo>
                  <a:pt x="0" y="1235"/>
                </a:lnTo>
                <a:lnTo>
                  <a:pt x="0" y="1223"/>
                </a:lnTo>
                <a:lnTo>
                  <a:pt x="12" y="1223"/>
                </a:lnTo>
                <a:close/>
                <a:moveTo>
                  <a:pt x="12" y="1247"/>
                </a:moveTo>
                <a:lnTo>
                  <a:pt x="12" y="1259"/>
                </a:lnTo>
                <a:lnTo>
                  <a:pt x="0" y="1259"/>
                </a:lnTo>
                <a:lnTo>
                  <a:pt x="0" y="1247"/>
                </a:lnTo>
                <a:lnTo>
                  <a:pt x="12" y="1247"/>
                </a:lnTo>
                <a:close/>
                <a:moveTo>
                  <a:pt x="12" y="1271"/>
                </a:moveTo>
                <a:lnTo>
                  <a:pt x="12" y="1283"/>
                </a:lnTo>
                <a:lnTo>
                  <a:pt x="0" y="1283"/>
                </a:lnTo>
                <a:lnTo>
                  <a:pt x="0" y="1271"/>
                </a:lnTo>
                <a:lnTo>
                  <a:pt x="12" y="1271"/>
                </a:lnTo>
                <a:close/>
                <a:moveTo>
                  <a:pt x="12" y="1294"/>
                </a:moveTo>
                <a:lnTo>
                  <a:pt x="12" y="1307"/>
                </a:lnTo>
                <a:lnTo>
                  <a:pt x="0" y="1307"/>
                </a:lnTo>
                <a:lnTo>
                  <a:pt x="0" y="1294"/>
                </a:lnTo>
                <a:lnTo>
                  <a:pt x="12" y="1294"/>
                </a:lnTo>
                <a:close/>
                <a:moveTo>
                  <a:pt x="12" y="1319"/>
                </a:moveTo>
                <a:lnTo>
                  <a:pt x="12" y="1330"/>
                </a:lnTo>
                <a:lnTo>
                  <a:pt x="0" y="1330"/>
                </a:lnTo>
                <a:lnTo>
                  <a:pt x="0" y="1319"/>
                </a:lnTo>
                <a:lnTo>
                  <a:pt x="12" y="1319"/>
                </a:lnTo>
                <a:close/>
                <a:moveTo>
                  <a:pt x="12" y="1342"/>
                </a:moveTo>
                <a:lnTo>
                  <a:pt x="12" y="1355"/>
                </a:lnTo>
                <a:lnTo>
                  <a:pt x="0" y="1355"/>
                </a:lnTo>
                <a:lnTo>
                  <a:pt x="0" y="1342"/>
                </a:lnTo>
                <a:lnTo>
                  <a:pt x="12" y="1342"/>
                </a:lnTo>
                <a:close/>
                <a:moveTo>
                  <a:pt x="12" y="1366"/>
                </a:moveTo>
                <a:lnTo>
                  <a:pt x="12" y="1378"/>
                </a:lnTo>
                <a:lnTo>
                  <a:pt x="0" y="1378"/>
                </a:lnTo>
                <a:lnTo>
                  <a:pt x="0" y="1366"/>
                </a:lnTo>
                <a:lnTo>
                  <a:pt x="12" y="1366"/>
                </a:lnTo>
                <a:close/>
                <a:moveTo>
                  <a:pt x="12" y="1390"/>
                </a:moveTo>
                <a:lnTo>
                  <a:pt x="12" y="1402"/>
                </a:lnTo>
                <a:lnTo>
                  <a:pt x="0" y="1402"/>
                </a:lnTo>
                <a:lnTo>
                  <a:pt x="0" y="1390"/>
                </a:lnTo>
                <a:lnTo>
                  <a:pt x="12" y="1390"/>
                </a:lnTo>
                <a:close/>
                <a:moveTo>
                  <a:pt x="12" y="1414"/>
                </a:moveTo>
                <a:lnTo>
                  <a:pt x="12" y="1426"/>
                </a:lnTo>
                <a:lnTo>
                  <a:pt x="0" y="1426"/>
                </a:lnTo>
                <a:lnTo>
                  <a:pt x="0" y="1414"/>
                </a:lnTo>
                <a:lnTo>
                  <a:pt x="12" y="1414"/>
                </a:lnTo>
                <a:close/>
                <a:moveTo>
                  <a:pt x="12" y="1438"/>
                </a:moveTo>
                <a:lnTo>
                  <a:pt x="12" y="1450"/>
                </a:lnTo>
                <a:lnTo>
                  <a:pt x="0" y="1450"/>
                </a:lnTo>
                <a:lnTo>
                  <a:pt x="0" y="1438"/>
                </a:lnTo>
                <a:lnTo>
                  <a:pt x="12" y="1438"/>
                </a:lnTo>
                <a:close/>
                <a:moveTo>
                  <a:pt x="12" y="1462"/>
                </a:moveTo>
                <a:lnTo>
                  <a:pt x="12" y="1474"/>
                </a:lnTo>
                <a:lnTo>
                  <a:pt x="0" y="1474"/>
                </a:lnTo>
                <a:lnTo>
                  <a:pt x="0" y="1462"/>
                </a:lnTo>
                <a:lnTo>
                  <a:pt x="12" y="1462"/>
                </a:lnTo>
                <a:close/>
                <a:moveTo>
                  <a:pt x="12" y="1486"/>
                </a:moveTo>
                <a:lnTo>
                  <a:pt x="12" y="1498"/>
                </a:lnTo>
                <a:lnTo>
                  <a:pt x="0" y="1498"/>
                </a:lnTo>
                <a:lnTo>
                  <a:pt x="0" y="1486"/>
                </a:lnTo>
                <a:lnTo>
                  <a:pt x="12" y="1486"/>
                </a:lnTo>
                <a:close/>
                <a:moveTo>
                  <a:pt x="12" y="1510"/>
                </a:moveTo>
                <a:lnTo>
                  <a:pt x="12" y="1522"/>
                </a:lnTo>
                <a:lnTo>
                  <a:pt x="0" y="1522"/>
                </a:lnTo>
                <a:lnTo>
                  <a:pt x="0" y="1510"/>
                </a:lnTo>
                <a:lnTo>
                  <a:pt x="12" y="1510"/>
                </a:lnTo>
                <a:close/>
                <a:moveTo>
                  <a:pt x="12" y="1534"/>
                </a:moveTo>
                <a:lnTo>
                  <a:pt x="12" y="1546"/>
                </a:lnTo>
                <a:lnTo>
                  <a:pt x="0" y="1546"/>
                </a:lnTo>
                <a:lnTo>
                  <a:pt x="0" y="1534"/>
                </a:lnTo>
                <a:lnTo>
                  <a:pt x="12" y="1534"/>
                </a:lnTo>
                <a:close/>
                <a:moveTo>
                  <a:pt x="12" y="1558"/>
                </a:moveTo>
                <a:lnTo>
                  <a:pt x="12" y="1570"/>
                </a:lnTo>
                <a:lnTo>
                  <a:pt x="0" y="1570"/>
                </a:lnTo>
                <a:lnTo>
                  <a:pt x="0" y="1558"/>
                </a:lnTo>
                <a:lnTo>
                  <a:pt x="12" y="1558"/>
                </a:lnTo>
                <a:close/>
                <a:moveTo>
                  <a:pt x="12" y="1582"/>
                </a:moveTo>
                <a:lnTo>
                  <a:pt x="12" y="1594"/>
                </a:lnTo>
                <a:lnTo>
                  <a:pt x="0" y="1594"/>
                </a:lnTo>
                <a:lnTo>
                  <a:pt x="0" y="1582"/>
                </a:lnTo>
                <a:lnTo>
                  <a:pt x="12" y="1582"/>
                </a:lnTo>
                <a:close/>
                <a:moveTo>
                  <a:pt x="12" y="1606"/>
                </a:moveTo>
                <a:lnTo>
                  <a:pt x="12" y="1618"/>
                </a:lnTo>
                <a:lnTo>
                  <a:pt x="0" y="1618"/>
                </a:lnTo>
                <a:lnTo>
                  <a:pt x="0" y="1606"/>
                </a:lnTo>
                <a:lnTo>
                  <a:pt x="12" y="1606"/>
                </a:lnTo>
                <a:close/>
                <a:moveTo>
                  <a:pt x="12" y="1630"/>
                </a:moveTo>
                <a:lnTo>
                  <a:pt x="12" y="1642"/>
                </a:lnTo>
                <a:lnTo>
                  <a:pt x="0" y="1642"/>
                </a:lnTo>
                <a:lnTo>
                  <a:pt x="0" y="1630"/>
                </a:lnTo>
                <a:lnTo>
                  <a:pt x="12" y="1630"/>
                </a:lnTo>
                <a:close/>
                <a:moveTo>
                  <a:pt x="12" y="1654"/>
                </a:moveTo>
                <a:lnTo>
                  <a:pt x="12" y="1666"/>
                </a:lnTo>
                <a:lnTo>
                  <a:pt x="0" y="1666"/>
                </a:lnTo>
                <a:lnTo>
                  <a:pt x="0" y="1654"/>
                </a:lnTo>
                <a:lnTo>
                  <a:pt x="12" y="1654"/>
                </a:lnTo>
                <a:close/>
                <a:moveTo>
                  <a:pt x="12" y="1678"/>
                </a:moveTo>
                <a:lnTo>
                  <a:pt x="12" y="1690"/>
                </a:lnTo>
                <a:lnTo>
                  <a:pt x="0" y="1690"/>
                </a:lnTo>
                <a:lnTo>
                  <a:pt x="0" y="1678"/>
                </a:lnTo>
                <a:lnTo>
                  <a:pt x="12" y="1678"/>
                </a:lnTo>
                <a:close/>
                <a:moveTo>
                  <a:pt x="12" y="1702"/>
                </a:moveTo>
                <a:lnTo>
                  <a:pt x="12" y="1714"/>
                </a:lnTo>
                <a:lnTo>
                  <a:pt x="0" y="1714"/>
                </a:lnTo>
                <a:lnTo>
                  <a:pt x="0" y="1702"/>
                </a:lnTo>
                <a:lnTo>
                  <a:pt x="12" y="1702"/>
                </a:lnTo>
                <a:close/>
                <a:moveTo>
                  <a:pt x="12" y="1726"/>
                </a:moveTo>
                <a:lnTo>
                  <a:pt x="12" y="1738"/>
                </a:lnTo>
                <a:lnTo>
                  <a:pt x="0" y="1738"/>
                </a:lnTo>
                <a:lnTo>
                  <a:pt x="0" y="1726"/>
                </a:lnTo>
                <a:lnTo>
                  <a:pt x="12" y="1726"/>
                </a:lnTo>
                <a:close/>
                <a:moveTo>
                  <a:pt x="12" y="1750"/>
                </a:moveTo>
                <a:lnTo>
                  <a:pt x="12" y="1762"/>
                </a:lnTo>
                <a:lnTo>
                  <a:pt x="0" y="1762"/>
                </a:lnTo>
                <a:lnTo>
                  <a:pt x="0" y="1750"/>
                </a:lnTo>
                <a:lnTo>
                  <a:pt x="12" y="1750"/>
                </a:lnTo>
                <a:close/>
                <a:moveTo>
                  <a:pt x="12" y="1774"/>
                </a:moveTo>
                <a:lnTo>
                  <a:pt x="12" y="1786"/>
                </a:lnTo>
                <a:lnTo>
                  <a:pt x="0" y="1786"/>
                </a:lnTo>
                <a:lnTo>
                  <a:pt x="0" y="1774"/>
                </a:lnTo>
                <a:lnTo>
                  <a:pt x="12" y="1774"/>
                </a:lnTo>
                <a:close/>
                <a:moveTo>
                  <a:pt x="12" y="1798"/>
                </a:moveTo>
                <a:lnTo>
                  <a:pt x="12" y="1810"/>
                </a:lnTo>
                <a:lnTo>
                  <a:pt x="0" y="1810"/>
                </a:lnTo>
                <a:lnTo>
                  <a:pt x="0" y="1798"/>
                </a:lnTo>
                <a:lnTo>
                  <a:pt x="12" y="1798"/>
                </a:lnTo>
                <a:close/>
                <a:moveTo>
                  <a:pt x="12" y="1822"/>
                </a:moveTo>
                <a:lnTo>
                  <a:pt x="12" y="1834"/>
                </a:lnTo>
                <a:lnTo>
                  <a:pt x="0" y="1834"/>
                </a:lnTo>
                <a:lnTo>
                  <a:pt x="0" y="1822"/>
                </a:lnTo>
                <a:lnTo>
                  <a:pt x="12" y="1822"/>
                </a:lnTo>
                <a:close/>
                <a:moveTo>
                  <a:pt x="12" y="1846"/>
                </a:moveTo>
                <a:lnTo>
                  <a:pt x="12" y="1858"/>
                </a:lnTo>
                <a:lnTo>
                  <a:pt x="0" y="1858"/>
                </a:lnTo>
                <a:lnTo>
                  <a:pt x="0" y="1846"/>
                </a:lnTo>
                <a:lnTo>
                  <a:pt x="12" y="1846"/>
                </a:lnTo>
                <a:close/>
                <a:moveTo>
                  <a:pt x="12" y="1870"/>
                </a:moveTo>
                <a:lnTo>
                  <a:pt x="12" y="1882"/>
                </a:lnTo>
                <a:lnTo>
                  <a:pt x="0" y="1882"/>
                </a:lnTo>
                <a:lnTo>
                  <a:pt x="0" y="1870"/>
                </a:lnTo>
                <a:lnTo>
                  <a:pt x="12" y="1870"/>
                </a:lnTo>
                <a:close/>
                <a:moveTo>
                  <a:pt x="12" y="1894"/>
                </a:moveTo>
                <a:lnTo>
                  <a:pt x="12" y="1906"/>
                </a:lnTo>
                <a:lnTo>
                  <a:pt x="0" y="1906"/>
                </a:lnTo>
                <a:lnTo>
                  <a:pt x="0" y="1894"/>
                </a:lnTo>
                <a:lnTo>
                  <a:pt x="12" y="1894"/>
                </a:lnTo>
                <a:close/>
                <a:moveTo>
                  <a:pt x="12" y="1918"/>
                </a:moveTo>
                <a:lnTo>
                  <a:pt x="12" y="1930"/>
                </a:lnTo>
                <a:lnTo>
                  <a:pt x="0" y="1930"/>
                </a:lnTo>
                <a:lnTo>
                  <a:pt x="0" y="1918"/>
                </a:lnTo>
                <a:lnTo>
                  <a:pt x="12" y="1918"/>
                </a:lnTo>
                <a:close/>
                <a:moveTo>
                  <a:pt x="12" y="1941"/>
                </a:moveTo>
                <a:lnTo>
                  <a:pt x="12" y="1954"/>
                </a:lnTo>
                <a:lnTo>
                  <a:pt x="0" y="1954"/>
                </a:lnTo>
                <a:lnTo>
                  <a:pt x="0" y="1941"/>
                </a:lnTo>
                <a:lnTo>
                  <a:pt x="12" y="1941"/>
                </a:lnTo>
                <a:close/>
                <a:moveTo>
                  <a:pt x="12" y="1966"/>
                </a:moveTo>
                <a:lnTo>
                  <a:pt x="12" y="1977"/>
                </a:lnTo>
                <a:lnTo>
                  <a:pt x="0" y="1977"/>
                </a:lnTo>
                <a:lnTo>
                  <a:pt x="0" y="1966"/>
                </a:lnTo>
                <a:lnTo>
                  <a:pt x="12" y="1966"/>
                </a:lnTo>
                <a:close/>
                <a:moveTo>
                  <a:pt x="12" y="1989"/>
                </a:moveTo>
                <a:lnTo>
                  <a:pt x="12" y="2002"/>
                </a:lnTo>
                <a:lnTo>
                  <a:pt x="0" y="2002"/>
                </a:lnTo>
                <a:lnTo>
                  <a:pt x="0" y="1989"/>
                </a:lnTo>
                <a:lnTo>
                  <a:pt x="12" y="1989"/>
                </a:lnTo>
                <a:close/>
                <a:moveTo>
                  <a:pt x="12" y="2013"/>
                </a:moveTo>
                <a:lnTo>
                  <a:pt x="12" y="2025"/>
                </a:lnTo>
                <a:lnTo>
                  <a:pt x="0" y="2025"/>
                </a:lnTo>
                <a:lnTo>
                  <a:pt x="0" y="2013"/>
                </a:lnTo>
                <a:lnTo>
                  <a:pt x="12" y="2013"/>
                </a:lnTo>
                <a:close/>
                <a:moveTo>
                  <a:pt x="12" y="2038"/>
                </a:moveTo>
                <a:lnTo>
                  <a:pt x="12" y="2049"/>
                </a:lnTo>
                <a:lnTo>
                  <a:pt x="0" y="2049"/>
                </a:lnTo>
                <a:lnTo>
                  <a:pt x="0" y="2038"/>
                </a:lnTo>
                <a:lnTo>
                  <a:pt x="12" y="2038"/>
                </a:lnTo>
                <a:close/>
                <a:moveTo>
                  <a:pt x="12" y="2061"/>
                </a:moveTo>
                <a:lnTo>
                  <a:pt x="12" y="2073"/>
                </a:lnTo>
                <a:lnTo>
                  <a:pt x="0" y="2073"/>
                </a:lnTo>
                <a:lnTo>
                  <a:pt x="0" y="2061"/>
                </a:lnTo>
                <a:lnTo>
                  <a:pt x="12" y="2061"/>
                </a:lnTo>
                <a:close/>
                <a:moveTo>
                  <a:pt x="12" y="2085"/>
                </a:moveTo>
                <a:lnTo>
                  <a:pt x="12" y="2097"/>
                </a:lnTo>
                <a:lnTo>
                  <a:pt x="0" y="2097"/>
                </a:lnTo>
                <a:lnTo>
                  <a:pt x="0" y="2085"/>
                </a:lnTo>
                <a:lnTo>
                  <a:pt x="12" y="2085"/>
                </a:lnTo>
                <a:close/>
                <a:moveTo>
                  <a:pt x="12" y="2109"/>
                </a:moveTo>
                <a:lnTo>
                  <a:pt x="12" y="2121"/>
                </a:lnTo>
                <a:lnTo>
                  <a:pt x="0" y="2121"/>
                </a:lnTo>
                <a:lnTo>
                  <a:pt x="0" y="2109"/>
                </a:lnTo>
                <a:lnTo>
                  <a:pt x="12" y="2109"/>
                </a:lnTo>
                <a:close/>
                <a:moveTo>
                  <a:pt x="12" y="2133"/>
                </a:moveTo>
                <a:lnTo>
                  <a:pt x="12" y="2145"/>
                </a:lnTo>
                <a:lnTo>
                  <a:pt x="0" y="2145"/>
                </a:lnTo>
                <a:lnTo>
                  <a:pt x="0" y="2133"/>
                </a:lnTo>
                <a:lnTo>
                  <a:pt x="12" y="2133"/>
                </a:lnTo>
                <a:close/>
                <a:moveTo>
                  <a:pt x="12" y="2157"/>
                </a:moveTo>
                <a:lnTo>
                  <a:pt x="12" y="2169"/>
                </a:lnTo>
                <a:lnTo>
                  <a:pt x="0" y="2169"/>
                </a:lnTo>
                <a:lnTo>
                  <a:pt x="0" y="2157"/>
                </a:lnTo>
                <a:lnTo>
                  <a:pt x="12" y="2157"/>
                </a:lnTo>
                <a:close/>
                <a:moveTo>
                  <a:pt x="12" y="2181"/>
                </a:moveTo>
                <a:lnTo>
                  <a:pt x="12" y="2193"/>
                </a:lnTo>
                <a:lnTo>
                  <a:pt x="0" y="2193"/>
                </a:lnTo>
                <a:lnTo>
                  <a:pt x="0" y="2181"/>
                </a:lnTo>
                <a:lnTo>
                  <a:pt x="12" y="2181"/>
                </a:lnTo>
                <a:close/>
                <a:moveTo>
                  <a:pt x="12" y="2205"/>
                </a:moveTo>
                <a:lnTo>
                  <a:pt x="12" y="2217"/>
                </a:lnTo>
                <a:lnTo>
                  <a:pt x="0" y="2217"/>
                </a:lnTo>
                <a:lnTo>
                  <a:pt x="0" y="2205"/>
                </a:lnTo>
                <a:lnTo>
                  <a:pt x="12" y="2205"/>
                </a:lnTo>
                <a:close/>
                <a:moveTo>
                  <a:pt x="12" y="2229"/>
                </a:moveTo>
                <a:lnTo>
                  <a:pt x="12" y="2241"/>
                </a:lnTo>
                <a:lnTo>
                  <a:pt x="0" y="2241"/>
                </a:lnTo>
                <a:lnTo>
                  <a:pt x="0" y="2229"/>
                </a:lnTo>
                <a:lnTo>
                  <a:pt x="12" y="2229"/>
                </a:lnTo>
                <a:close/>
                <a:moveTo>
                  <a:pt x="12" y="2253"/>
                </a:moveTo>
                <a:lnTo>
                  <a:pt x="12" y="2265"/>
                </a:lnTo>
                <a:lnTo>
                  <a:pt x="0" y="2265"/>
                </a:lnTo>
                <a:lnTo>
                  <a:pt x="0" y="2253"/>
                </a:lnTo>
                <a:lnTo>
                  <a:pt x="12" y="2253"/>
                </a:lnTo>
                <a:close/>
                <a:moveTo>
                  <a:pt x="12" y="2277"/>
                </a:moveTo>
                <a:lnTo>
                  <a:pt x="12" y="2289"/>
                </a:lnTo>
                <a:lnTo>
                  <a:pt x="0" y="2289"/>
                </a:lnTo>
                <a:lnTo>
                  <a:pt x="0" y="2277"/>
                </a:lnTo>
                <a:lnTo>
                  <a:pt x="12" y="2277"/>
                </a:lnTo>
                <a:close/>
                <a:moveTo>
                  <a:pt x="12" y="2301"/>
                </a:moveTo>
                <a:lnTo>
                  <a:pt x="12" y="2313"/>
                </a:lnTo>
                <a:lnTo>
                  <a:pt x="0" y="2313"/>
                </a:lnTo>
                <a:lnTo>
                  <a:pt x="0" y="2301"/>
                </a:lnTo>
                <a:lnTo>
                  <a:pt x="12" y="2301"/>
                </a:lnTo>
                <a:close/>
                <a:moveTo>
                  <a:pt x="12" y="2325"/>
                </a:moveTo>
                <a:lnTo>
                  <a:pt x="12" y="2337"/>
                </a:lnTo>
                <a:lnTo>
                  <a:pt x="0" y="2337"/>
                </a:lnTo>
                <a:lnTo>
                  <a:pt x="0" y="2325"/>
                </a:lnTo>
                <a:lnTo>
                  <a:pt x="12" y="2325"/>
                </a:lnTo>
                <a:close/>
                <a:moveTo>
                  <a:pt x="12" y="2349"/>
                </a:moveTo>
                <a:lnTo>
                  <a:pt x="12" y="2361"/>
                </a:lnTo>
                <a:lnTo>
                  <a:pt x="0" y="2361"/>
                </a:lnTo>
                <a:lnTo>
                  <a:pt x="0" y="2349"/>
                </a:lnTo>
                <a:lnTo>
                  <a:pt x="12" y="2349"/>
                </a:lnTo>
                <a:close/>
                <a:moveTo>
                  <a:pt x="12" y="2373"/>
                </a:moveTo>
                <a:lnTo>
                  <a:pt x="12" y="2385"/>
                </a:lnTo>
                <a:lnTo>
                  <a:pt x="0" y="2385"/>
                </a:lnTo>
                <a:lnTo>
                  <a:pt x="0" y="2373"/>
                </a:lnTo>
                <a:lnTo>
                  <a:pt x="12" y="2373"/>
                </a:lnTo>
                <a:close/>
                <a:moveTo>
                  <a:pt x="12" y="2397"/>
                </a:moveTo>
                <a:lnTo>
                  <a:pt x="12" y="2409"/>
                </a:lnTo>
                <a:lnTo>
                  <a:pt x="0" y="2409"/>
                </a:lnTo>
                <a:lnTo>
                  <a:pt x="0" y="2397"/>
                </a:lnTo>
                <a:lnTo>
                  <a:pt x="12" y="2397"/>
                </a:lnTo>
                <a:close/>
                <a:moveTo>
                  <a:pt x="12" y="2421"/>
                </a:moveTo>
                <a:lnTo>
                  <a:pt x="12" y="2433"/>
                </a:lnTo>
                <a:lnTo>
                  <a:pt x="0" y="2433"/>
                </a:lnTo>
                <a:lnTo>
                  <a:pt x="0" y="2421"/>
                </a:lnTo>
                <a:lnTo>
                  <a:pt x="12" y="2421"/>
                </a:lnTo>
                <a:close/>
                <a:moveTo>
                  <a:pt x="12" y="2445"/>
                </a:moveTo>
                <a:lnTo>
                  <a:pt x="12" y="2457"/>
                </a:lnTo>
                <a:lnTo>
                  <a:pt x="0" y="2457"/>
                </a:lnTo>
                <a:lnTo>
                  <a:pt x="0" y="2445"/>
                </a:lnTo>
                <a:lnTo>
                  <a:pt x="12" y="2445"/>
                </a:lnTo>
                <a:close/>
                <a:moveTo>
                  <a:pt x="12" y="2469"/>
                </a:moveTo>
                <a:lnTo>
                  <a:pt x="12" y="2481"/>
                </a:lnTo>
                <a:lnTo>
                  <a:pt x="0" y="2481"/>
                </a:lnTo>
                <a:lnTo>
                  <a:pt x="0" y="2469"/>
                </a:lnTo>
                <a:lnTo>
                  <a:pt x="12" y="2469"/>
                </a:lnTo>
                <a:close/>
                <a:moveTo>
                  <a:pt x="12" y="2493"/>
                </a:moveTo>
                <a:lnTo>
                  <a:pt x="12" y="2505"/>
                </a:lnTo>
                <a:lnTo>
                  <a:pt x="0" y="2505"/>
                </a:lnTo>
                <a:lnTo>
                  <a:pt x="0" y="2493"/>
                </a:lnTo>
                <a:lnTo>
                  <a:pt x="12" y="2493"/>
                </a:lnTo>
                <a:close/>
                <a:moveTo>
                  <a:pt x="12" y="2517"/>
                </a:moveTo>
                <a:lnTo>
                  <a:pt x="12" y="2529"/>
                </a:lnTo>
                <a:lnTo>
                  <a:pt x="0" y="2529"/>
                </a:lnTo>
                <a:lnTo>
                  <a:pt x="0" y="2517"/>
                </a:lnTo>
                <a:lnTo>
                  <a:pt x="12" y="2517"/>
                </a:lnTo>
                <a:close/>
                <a:moveTo>
                  <a:pt x="12" y="2541"/>
                </a:moveTo>
                <a:lnTo>
                  <a:pt x="12" y="2553"/>
                </a:lnTo>
                <a:lnTo>
                  <a:pt x="0" y="2553"/>
                </a:lnTo>
                <a:lnTo>
                  <a:pt x="0" y="2541"/>
                </a:lnTo>
                <a:lnTo>
                  <a:pt x="12" y="2541"/>
                </a:lnTo>
                <a:close/>
              </a:path>
            </a:pathLst>
          </a:custGeom>
          <a:solidFill>
            <a:srgbClr val="000000"/>
          </a:solidFill>
          <a:ln w="0" cap="flat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138" name="Freeform 135">
            <a:extLst>
              <a:ext uri="{FF2B5EF4-FFF2-40B4-BE49-F238E27FC236}">
                <a16:creationId xmlns:a16="http://schemas.microsoft.com/office/drawing/2014/main" id="{4889FF2B-E194-4DCB-ACAC-700FAF743E7C}"/>
              </a:ext>
            </a:extLst>
          </p:cNvPr>
          <p:cNvSpPr>
            <a:spLocks noEditPoints="1"/>
          </p:cNvSpPr>
          <p:nvPr/>
        </p:nvSpPr>
        <p:spPr bwMode="auto">
          <a:xfrm>
            <a:off x="6780213" y="2289175"/>
            <a:ext cx="18000" cy="4032000"/>
          </a:xfrm>
          <a:custGeom>
            <a:avLst/>
            <a:gdLst>
              <a:gd name="T0" fmla="*/ 0 w 12"/>
              <a:gd name="T1" fmla="*/ 24 h 2553"/>
              <a:gd name="T2" fmla="*/ 0 w 12"/>
              <a:gd name="T3" fmla="*/ 84 h 2553"/>
              <a:gd name="T4" fmla="*/ 12 w 12"/>
              <a:gd name="T5" fmla="*/ 132 h 2553"/>
              <a:gd name="T6" fmla="*/ 12 w 12"/>
              <a:gd name="T7" fmla="*/ 168 h 2553"/>
              <a:gd name="T8" fmla="*/ 12 w 12"/>
              <a:gd name="T9" fmla="*/ 192 h 2553"/>
              <a:gd name="T10" fmla="*/ 0 w 12"/>
              <a:gd name="T11" fmla="*/ 240 h 2553"/>
              <a:gd name="T12" fmla="*/ 0 w 12"/>
              <a:gd name="T13" fmla="*/ 300 h 2553"/>
              <a:gd name="T14" fmla="*/ 12 w 12"/>
              <a:gd name="T15" fmla="*/ 348 h 2553"/>
              <a:gd name="T16" fmla="*/ 12 w 12"/>
              <a:gd name="T17" fmla="*/ 384 h 2553"/>
              <a:gd name="T18" fmla="*/ 12 w 12"/>
              <a:gd name="T19" fmla="*/ 408 h 2553"/>
              <a:gd name="T20" fmla="*/ 0 w 12"/>
              <a:gd name="T21" fmla="*/ 456 h 2553"/>
              <a:gd name="T22" fmla="*/ 0 w 12"/>
              <a:gd name="T23" fmla="*/ 516 h 2553"/>
              <a:gd name="T24" fmla="*/ 12 w 12"/>
              <a:gd name="T25" fmla="*/ 564 h 2553"/>
              <a:gd name="T26" fmla="*/ 12 w 12"/>
              <a:gd name="T27" fmla="*/ 600 h 2553"/>
              <a:gd name="T28" fmla="*/ 12 w 12"/>
              <a:gd name="T29" fmla="*/ 623 h 2553"/>
              <a:gd name="T30" fmla="*/ 0 w 12"/>
              <a:gd name="T31" fmla="*/ 672 h 2553"/>
              <a:gd name="T32" fmla="*/ 0 w 12"/>
              <a:gd name="T33" fmla="*/ 731 h 2553"/>
              <a:gd name="T34" fmla="*/ 12 w 12"/>
              <a:gd name="T35" fmla="*/ 779 h 2553"/>
              <a:gd name="T36" fmla="*/ 12 w 12"/>
              <a:gd name="T37" fmla="*/ 815 h 2553"/>
              <a:gd name="T38" fmla="*/ 12 w 12"/>
              <a:gd name="T39" fmla="*/ 839 h 2553"/>
              <a:gd name="T40" fmla="*/ 0 w 12"/>
              <a:gd name="T41" fmla="*/ 887 h 2553"/>
              <a:gd name="T42" fmla="*/ 0 w 12"/>
              <a:gd name="T43" fmla="*/ 947 h 2553"/>
              <a:gd name="T44" fmla="*/ 12 w 12"/>
              <a:gd name="T45" fmla="*/ 995 h 2553"/>
              <a:gd name="T46" fmla="*/ 12 w 12"/>
              <a:gd name="T47" fmla="*/ 1031 h 2553"/>
              <a:gd name="T48" fmla="*/ 12 w 12"/>
              <a:gd name="T49" fmla="*/ 1055 h 2553"/>
              <a:gd name="T50" fmla="*/ 0 w 12"/>
              <a:gd name="T51" fmla="*/ 1103 h 2553"/>
              <a:gd name="T52" fmla="*/ 0 w 12"/>
              <a:gd name="T53" fmla="*/ 1163 h 2553"/>
              <a:gd name="T54" fmla="*/ 12 w 12"/>
              <a:gd name="T55" fmla="*/ 1211 h 2553"/>
              <a:gd name="T56" fmla="*/ 12 w 12"/>
              <a:gd name="T57" fmla="*/ 1247 h 2553"/>
              <a:gd name="T58" fmla="*/ 12 w 12"/>
              <a:gd name="T59" fmla="*/ 1271 h 2553"/>
              <a:gd name="T60" fmla="*/ 0 w 12"/>
              <a:gd name="T61" fmla="*/ 1319 h 2553"/>
              <a:gd name="T62" fmla="*/ 0 w 12"/>
              <a:gd name="T63" fmla="*/ 1378 h 2553"/>
              <a:gd name="T64" fmla="*/ 12 w 12"/>
              <a:gd name="T65" fmla="*/ 1426 h 2553"/>
              <a:gd name="T66" fmla="*/ 12 w 12"/>
              <a:gd name="T67" fmla="*/ 1462 h 2553"/>
              <a:gd name="T68" fmla="*/ 12 w 12"/>
              <a:gd name="T69" fmla="*/ 1486 h 2553"/>
              <a:gd name="T70" fmla="*/ 0 w 12"/>
              <a:gd name="T71" fmla="*/ 1534 h 2553"/>
              <a:gd name="T72" fmla="*/ 0 w 12"/>
              <a:gd name="T73" fmla="*/ 1594 h 2553"/>
              <a:gd name="T74" fmla="*/ 12 w 12"/>
              <a:gd name="T75" fmla="*/ 1642 h 2553"/>
              <a:gd name="T76" fmla="*/ 12 w 12"/>
              <a:gd name="T77" fmla="*/ 1678 h 2553"/>
              <a:gd name="T78" fmla="*/ 12 w 12"/>
              <a:gd name="T79" fmla="*/ 1702 h 2553"/>
              <a:gd name="T80" fmla="*/ 0 w 12"/>
              <a:gd name="T81" fmla="*/ 1750 h 2553"/>
              <a:gd name="T82" fmla="*/ 0 w 12"/>
              <a:gd name="T83" fmla="*/ 1810 h 2553"/>
              <a:gd name="T84" fmla="*/ 12 w 12"/>
              <a:gd name="T85" fmla="*/ 1858 h 2553"/>
              <a:gd name="T86" fmla="*/ 12 w 12"/>
              <a:gd name="T87" fmla="*/ 1894 h 2553"/>
              <a:gd name="T88" fmla="*/ 12 w 12"/>
              <a:gd name="T89" fmla="*/ 1918 h 2553"/>
              <a:gd name="T90" fmla="*/ 0 w 12"/>
              <a:gd name="T91" fmla="*/ 1966 h 2553"/>
              <a:gd name="T92" fmla="*/ 0 w 12"/>
              <a:gd name="T93" fmla="*/ 2025 h 2553"/>
              <a:gd name="T94" fmla="*/ 12 w 12"/>
              <a:gd name="T95" fmla="*/ 2073 h 2553"/>
              <a:gd name="T96" fmla="*/ 12 w 12"/>
              <a:gd name="T97" fmla="*/ 2109 h 2553"/>
              <a:gd name="T98" fmla="*/ 12 w 12"/>
              <a:gd name="T99" fmla="*/ 2133 h 2553"/>
              <a:gd name="T100" fmla="*/ 0 w 12"/>
              <a:gd name="T101" fmla="*/ 2181 h 2553"/>
              <a:gd name="T102" fmla="*/ 0 w 12"/>
              <a:gd name="T103" fmla="*/ 2241 h 2553"/>
              <a:gd name="T104" fmla="*/ 12 w 12"/>
              <a:gd name="T105" fmla="*/ 2289 h 2553"/>
              <a:gd name="T106" fmla="*/ 12 w 12"/>
              <a:gd name="T107" fmla="*/ 2325 h 2553"/>
              <a:gd name="T108" fmla="*/ 12 w 12"/>
              <a:gd name="T109" fmla="*/ 2349 h 2553"/>
              <a:gd name="T110" fmla="*/ 0 w 12"/>
              <a:gd name="T111" fmla="*/ 2397 h 2553"/>
              <a:gd name="T112" fmla="*/ 0 w 12"/>
              <a:gd name="T113" fmla="*/ 2457 h 2553"/>
              <a:gd name="T114" fmla="*/ 12 w 12"/>
              <a:gd name="T115" fmla="*/ 2505 h 2553"/>
              <a:gd name="T116" fmla="*/ 12 w 12"/>
              <a:gd name="T117" fmla="*/ 2541 h 25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12" h="2553">
                <a:moveTo>
                  <a:pt x="12" y="0"/>
                </a:moveTo>
                <a:lnTo>
                  <a:pt x="12" y="12"/>
                </a:lnTo>
                <a:lnTo>
                  <a:pt x="0" y="12"/>
                </a:lnTo>
                <a:lnTo>
                  <a:pt x="0" y="0"/>
                </a:lnTo>
                <a:lnTo>
                  <a:pt x="12" y="0"/>
                </a:lnTo>
                <a:close/>
                <a:moveTo>
                  <a:pt x="12" y="24"/>
                </a:moveTo>
                <a:lnTo>
                  <a:pt x="12" y="36"/>
                </a:lnTo>
                <a:lnTo>
                  <a:pt x="0" y="36"/>
                </a:lnTo>
                <a:lnTo>
                  <a:pt x="0" y="24"/>
                </a:lnTo>
                <a:lnTo>
                  <a:pt x="12" y="24"/>
                </a:lnTo>
                <a:close/>
                <a:moveTo>
                  <a:pt x="12" y="48"/>
                </a:moveTo>
                <a:lnTo>
                  <a:pt x="12" y="60"/>
                </a:lnTo>
                <a:lnTo>
                  <a:pt x="0" y="60"/>
                </a:lnTo>
                <a:lnTo>
                  <a:pt x="0" y="48"/>
                </a:lnTo>
                <a:lnTo>
                  <a:pt x="12" y="48"/>
                </a:lnTo>
                <a:close/>
                <a:moveTo>
                  <a:pt x="12" y="72"/>
                </a:moveTo>
                <a:lnTo>
                  <a:pt x="12" y="84"/>
                </a:lnTo>
                <a:lnTo>
                  <a:pt x="0" y="84"/>
                </a:lnTo>
                <a:lnTo>
                  <a:pt x="0" y="72"/>
                </a:lnTo>
                <a:lnTo>
                  <a:pt x="12" y="72"/>
                </a:lnTo>
                <a:close/>
                <a:moveTo>
                  <a:pt x="12" y="96"/>
                </a:moveTo>
                <a:lnTo>
                  <a:pt x="12" y="108"/>
                </a:lnTo>
                <a:lnTo>
                  <a:pt x="0" y="108"/>
                </a:lnTo>
                <a:lnTo>
                  <a:pt x="0" y="96"/>
                </a:lnTo>
                <a:lnTo>
                  <a:pt x="12" y="96"/>
                </a:lnTo>
                <a:close/>
                <a:moveTo>
                  <a:pt x="12" y="120"/>
                </a:moveTo>
                <a:lnTo>
                  <a:pt x="12" y="132"/>
                </a:lnTo>
                <a:lnTo>
                  <a:pt x="0" y="132"/>
                </a:lnTo>
                <a:lnTo>
                  <a:pt x="0" y="120"/>
                </a:lnTo>
                <a:lnTo>
                  <a:pt x="12" y="120"/>
                </a:lnTo>
                <a:close/>
                <a:moveTo>
                  <a:pt x="12" y="144"/>
                </a:moveTo>
                <a:lnTo>
                  <a:pt x="12" y="156"/>
                </a:lnTo>
                <a:lnTo>
                  <a:pt x="0" y="156"/>
                </a:lnTo>
                <a:lnTo>
                  <a:pt x="0" y="144"/>
                </a:lnTo>
                <a:lnTo>
                  <a:pt x="12" y="144"/>
                </a:lnTo>
                <a:close/>
                <a:moveTo>
                  <a:pt x="12" y="168"/>
                </a:moveTo>
                <a:lnTo>
                  <a:pt x="12" y="180"/>
                </a:lnTo>
                <a:lnTo>
                  <a:pt x="0" y="180"/>
                </a:lnTo>
                <a:lnTo>
                  <a:pt x="0" y="168"/>
                </a:lnTo>
                <a:lnTo>
                  <a:pt x="12" y="168"/>
                </a:lnTo>
                <a:close/>
                <a:moveTo>
                  <a:pt x="12" y="192"/>
                </a:moveTo>
                <a:lnTo>
                  <a:pt x="12" y="204"/>
                </a:lnTo>
                <a:lnTo>
                  <a:pt x="0" y="204"/>
                </a:lnTo>
                <a:lnTo>
                  <a:pt x="0" y="192"/>
                </a:lnTo>
                <a:lnTo>
                  <a:pt x="12" y="192"/>
                </a:lnTo>
                <a:close/>
                <a:moveTo>
                  <a:pt x="12" y="216"/>
                </a:moveTo>
                <a:lnTo>
                  <a:pt x="12" y="228"/>
                </a:lnTo>
                <a:lnTo>
                  <a:pt x="0" y="228"/>
                </a:lnTo>
                <a:lnTo>
                  <a:pt x="0" y="216"/>
                </a:lnTo>
                <a:lnTo>
                  <a:pt x="12" y="216"/>
                </a:lnTo>
                <a:close/>
                <a:moveTo>
                  <a:pt x="12" y="240"/>
                </a:moveTo>
                <a:lnTo>
                  <a:pt x="12" y="252"/>
                </a:lnTo>
                <a:lnTo>
                  <a:pt x="0" y="252"/>
                </a:lnTo>
                <a:lnTo>
                  <a:pt x="0" y="240"/>
                </a:lnTo>
                <a:lnTo>
                  <a:pt x="12" y="240"/>
                </a:lnTo>
                <a:close/>
                <a:moveTo>
                  <a:pt x="12" y="264"/>
                </a:moveTo>
                <a:lnTo>
                  <a:pt x="12" y="276"/>
                </a:lnTo>
                <a:lnTo>
                  <a:pt x="0" y="276"/>
                </a:lnTo>
                <a:lnTo>
                  <a:pt x="0" y="264"/>
                </a:lnTo>
                <a:lnTo>
                  <a:pt x="12" y="264"/>
                </a:lnTo>
                <a:close/>
                <a:moveTo>
                  <a:pt x="12" y="288"/>
                </a:moveTo>
                <a:lnTo>
                  <a:pt x="12" y="300"/>
                </a:lnTo>
                <a:lnTo>
                  <a:pt x="0" y="300"/>
                </a:lnTo>
                <a:lnTo>
                  <a:pt x="0" y="288"/>
                </a:lnTo>
                <a:lnTo>
                  <a:pt x="12" y="288"/>
                </a:lnTo>
                <a:close/>
                <a:moveTo>
                  <a:pt x="12" y="312"/>
                </a:moveTo>
                <a:lnTo>
                  <a:pt x="12" y="324"/>
                </a:lnTo>
                <a:lnTo>
                  <a:pt x="0" y="324"/>
                </a:lnTo>
                <a:lnTo>
                  <a:pt x="0" y="312"/>
                </a:lnTo>
                <a:lnTo>
                  <a:pt x="12" y="312"/>
                </a:lnTo>
                <a:close/>
                <a:moveTo>
                  <a:pt x="12" y="336"/>
                </a:moveTo>
                <a:lnTo>
                  <a:pt x="12" y="348"/>
                </a:lnTo>
                <a:lnTo>
                  <a:pt x="0" y="348"/>
                </a:lnTo>
                <a:lnTo>
                  <a:pt x="0" y="336"/>
                </a:lnTo>
                <a:lnTo>
                  <a:pt x="12" y="336"/>
                </a:lnTo>
                <a:close/>
                <a:moveTo>
                  <a:pt x="12" y="360"/>
                </a:moveTo>
                <a:lnTo>
                  <a:pt x="12" y="372"/>
                </a:lnTo>
                <a:lnTo>
                  <a:pt x="0" y="372"/>
                </a:lnTo>
                <a:lnTo>
                  <a:pt x="0" y="360"/>
                </a:lnTo>
                <a:lnTo>
                  <a:pt x="12" y="360"/>
                </a:lnTo>
                <a:close/>
                <a:moveTo>
                  <a:pt x="12" y="384"/>
                </a:moveTo>
                <a:lnTo>
                  <a:pt x="12" y="396"/>
                </a:lnTo>
                <a:lnTo>
                  <a:pt x="0" y="396"/>
                </a:lnTo>
                <a:lnTo>
                  <a:pt x="0" y="384"/>
                </a:lnTo>
                <a:lnTo>
                  <a:pt x="12" y="384"/>
                </a:lnTo>
                <a:close/>
                <a:moveTo>
                  <a:pt x="12" y="408"/>
                </a:moveTo>
                <a:lnTo>
                  <a:pt x="12" y="420"/>
                </a:lnTo>
                <a:lnTo>
                  <a:pt x="0" y="420"/>
                </a:lnTo>
                <a:lnTo>
                  <a:pt x="0" y="408"/>
                </a:lnTo>
                <a:lnTo>
                  <a:pt x="12" y="408"/>
                </a:lnTo>
                <a:close/>
                <a:moveTo>
                  <a:pt x="12" y="432"/>
                </a:moveTo>
                <a:lnTo>
                  <a:pt x="12" y="444"/>
                </a:lnTo>
                <a:lnTo>
                  <a:pt x="0" y="444"/>
                </a:lnTo>
                <a:lnTo>
                  <a:pt x="0" y="432"/>
                </a:lnTo>
                <a:lnTo>
                  <a:pt x="12" y="432"/>
                </a:lnTo>
                <a:close/>
                <a:moveTo>
                  <a:pt x="12" y="456"/>
                </a:moveTo>
                <a:lnTo>
                  <a:pt x="12" y="468"/>
                </a:lnTo>
                <a:lnTo>
                  <a:pt x="0" y="468"/>
                </a:lnTo>
                <a:lnTo>
                  <a:pt x="0" y="456"/>
                </a:lnTo>
                <a:lnTo>
                  <a:pt x="12" y="456"/>
                </a:lnTo>
                <a:close/>
                <a:moveTo>
                  <a:pt x="12" y="480"/>
                </a:moveTo>
                <a:lnTo>
                  <a:pt x="12" y="492"/>
                </a:lnTo>
                <a:lnTo>
                  <a:pt x="0" y="492"/>
                </a:lnTo>
                <a:lnTo>
                  <a:pt x="0" y="480"/>
                </a:lnTo>
                <a:lnTo>
                  <a:pt x="12" y="480"/>
                </a:lnTo>
                <a:close/>
                <a:moveTo>
                  <a:pt x="12" y="504"/>
                </a:moveTo>
                <a:lnTo>
                  <a:pt x="12" y="516"/>
                </a:lnTo>
                <a:lnTo>
                  <a:pt x="0" y="516"/>
                </a:lnTo>
                <a:lnTo>
                  <a:pt x="0" y="504"/>
                </a:lnTo>
                <a:lnTo>
                  <a:pt x="12" y="504"/>
                </a:lnTo>
                <a:close/>
                <a:moveTo>
                  <a:pt x="12" y="528"/>
                </a:moveTo>
                <a:lnTo>
                  <a:pt x="12" y="540"/>
                </a:lnTo>
                <a:lnTo>
                  <a:pt x="0" y="540"/>
                </a:lnTo>
                <a:lnTo>
                  <a:pt x="0" y="528"/>
                </a:lnTo>
                <a:lnTo>
                  <a:pt x="12" y="528"/>
                </a:lnTo>
                <a:close/>
                <a:moveTo>
                  <a:pt x="12" y="552"/>
                </a:moveTo>
                <a:lnTo>
                  <a:pt x="12" y="564"/>
                </a:lnTo>
                <a:lnTo>
                  <a:pt x="0" y="564"/>
                </a:lnTo>
                <a:lnTo>
                  <a:pt x="0" y="552"/>
                </a:lnTo>
                <a:lnTo>
                  <a:pt x="12" y="552"/>
                </a:lnTo>
                <a:close/>
                <a:moveTo>
                  <a:pt x="12" y="575"/>
                </a:moveTo>
                <a:lnTo>
                  <a:pt x="12" y="588"/>
                </a:lnTo>
                <a:lnTo>
                  <a:pt x="0" y="588"/>
                </a:lnTo>
                <a:lnTo>
                  <a:pt x="0" y="575"/>
                </a:lnTo>
                <a:lnTo>
                  <a:pt x="12" y="575"/>
                </a:lnTo>
                <a:close/>
                <a:moveTo>
                  <a:pt x="12" y="600"/>
                </a:moveTo>
                <a:lnTo>
                  <a:pt x="12" y="611"/>
                </a:lnTo>
                <a:lnTo>
                  <a:pt x="0" y="611"/>
                </a:lnTo>
                <a:lnTo>
                  <a:pt x="0" y="600"/>
                </a:lnTo>
                <a:lnTo>
                  <a:pt x="12" y="600"/>
                </a:lnTo>
                <a:close/>
                <a:moveTo>
                  <a:pt x="12" y="623"/>
                </a:moveTo>
                <a:lnTo>
                  <a:pt x="12" y="636"/>
                </a:lnTo>
                <a:lnTo>
                  <a:pt x="0" y="636"/>
                </a:lnTo>
                <a:lnTo>
                  <a:pt x="0" y="623"/>
                </a:lnTo>
                <a:lnTo>
                  <a:pt x="12" y="623"/>
                </a:lnTo>
                <a:close/>
                <a:moveTo>
                  <a:pt x="12" y="647"/>
                </a:moveTo>
                <a:lnTo>
                  <a:pt x="12" y="659"/>
                </a:lnTo>
                <a:lnTo>
                  <a:pt x="0" y="659"/>
                </a:lnTo>
                <a:lnTo>
                  <a:pt x="0" y="647"/>
                </a:lnTo>
                <a:lnTo>
                  <a:pt x="12" y="647"/>
                </a:lnTo>
                <a:close/>
                <a:moveTo>
                  <a:pt x="12" y="672"/>
                </a:moveTo>
                <a:lnTo>
                  <a:pt x="12" y="683"/>
                </a:lnTo>
                <a:lnTo>
                  <a:pt x="0" y="683"/>
                </a:lnTo>
                <a:lnTo>
                  <a:pt x="0" y="672"/>
                </a:lnTo>
                <a:lnTo>
                  <a:pt x="12" y="672"/>
                </a:lnTo>
                <a:close/>
                <a:moveTo>
                  <a:pt x="12" y="695"/>
                </a:moveTo>
                <a:lnTo>
                  <a:pt x="12" y="707"/>
                </a:lnTo>
                <a:lnTo>
                  <a:pt x="0" y="707"/>
                </a:lnTo>
                <a:lnTo>
                  <a:pt x="0" y="695"/>
                </a:lnTo>
                <a:lnTo>
                  <a:pt x="12" y="695"/>
                </a:lnTo>
                <a:close/>
                <a:moveTo>
                  <a:pt x="12" y="719"/>
                </a:moveTo>
                <a:lnTo>
                  <a:pt x="12" y="731"/>
                </a:lnTo>
                <a:lnTo>
                  <a:pt x="0" y="731"/>
                </a:lnTo>
                <a:lnTo>
                  <a:pt x="0" y="719"/>
                </a:lnTo>
                <a:lnTo>
                  <a:pt x="12" y="719"/>
                </a:lnTo>
                <a:close/>
                <a:moveTo>
                  <a:pt x="12" y="743"/>
                </a:moveTo>
                <a:lnTo>
                  <a:pt x="12" y="755"/>
                </a:lnTo>
                <a:lnTo>
                  <a:pt x="0" y="755"/>
                </a:lnTo>
                <a:lnTo>
                  <a:pt x="0" y="743"/>
                </a:lnTo>
                <a:lnTo>
                  <a:pt x="12" y="743"/>
                </a:lnTo>
                <a:close/>
                <a:moveTo>
                  <a:pt x="12" y="767"/>
                </a:moveTo>
                <a:lnTo>
                  <a:pt x="12" y="779"/>
                </a:lnTo>
                <a:lnTo>
                  <a:pt x="0" y="779"/>
                </a:lnTo>
                <a:lnTo>
                  <a:pt x="0" y="767"/>
                </a:lnTo>
                <a:lnTo>
                  <a:pt x="12" y="767"/>
                </a:lnTo>
                <a:close/>
                <a:moveTo>
                  <a:pt x="12" y="791"/>
                </a:moveTo>
                <a:lnTo>
                  <a:pt x="12" y="803"/>
                </a:lnTo>
                <a:lnTo>
                  <a:pt x="0" y="803"/>
                </a:lnTo>
                <a:lnTo>
                  <a:pt x="0" y="791"/>
                </a:lnTo>
                <a:lnTo>
                  <a:pt x="12" y="791"/>
                </a:lnTo>
                <a:close/>
                <a:moveTo>
                  <a:pt x="12" y="815"/>
                </a:moveTo>
                <a:lnTo>
                  <a:pt x="12" y="827"/>
                </a:lnTo>
                <a:lnTo>
                  <a:pt x="0" y="827"/>
                </a:lnTo>
                <a:lnTo>
                  <a:pt x="0" y="815"/>
                </a:lnTo>
                <a:lnTo>
                  <a:pt x="12" y="815"/>
                </a:lnTo>
                <a:close/>
                <a:moveTo>
                  <a:pt x="12" y="839"/>
                </a:moveTo>
                <a:lnTo>
                  <a:pt x="12" y="851"/>
                </a:lnTo>
                <a:lnTo>
                  <a:pt x="0" y="851"/>
                </a:lnTo>
                <a:lnTo>
                  <a:pt x="0" y="839"/>
                </a:lnTo>
                <a:lnTo>
                  <a:pt x="12" y="839"/>
                </a:lnTo>
                <a:close/>
                <a:moveTo>
                  <a:pt x="12" y="863"/>
                </a:moveTo>
                <a:lnTo>
                  <a:pt x="12" y="875"/>
                </a:lnTo>
                <a:lnTo>
                  <a:pt x="0" y="875"/>
                </a:lnTo>
                <a:lnTo>
                  <a:pt x="0" y="863"/>
                </a:lnTo>
                <a:lnTo>
                  <a:pt x="12" y="863"/>
                </a:lnTo>
                <a:close/>
                <a:moveTo>
                  <a:pt x="12" y="887"/>
                </a:moveTo>
                <a:lnTo>
                  <a:pt x="12" y="899"/>
                </a:lnTo>
                <a:lnTo>
                  <a:pt x="0" y="899"/>
                </a:lnTo>
                <a:lnTo>
                  <a:pt x="0" y="887"/>
                </a:lnTo>
                <a:lnTo>
                  <a:pt x="12" y="887"/>
                </a:lnTo>
                <a:close/>
                <a:moveTo>
                  <a:pt x="12" y="911"/>
                </a:moveTo>
                <a:lnTo>
                  <a:pt x="12" y="923"/>
                </a:lnTo>
                <a:lnTo>
                  <a:pt x="0" y="923"/>
                </a:lnTo>
                <a:lnTo>
                  <a:pt x="0" y="911"/>
                </a:lnTo>
                <a:lnTo>
                  <a:pt x="12" y="911"/>
                </a:lnTo>
                <a:close/>
                <a:moveTo>
                  <a:pt x="12" y="935"/>
                </a:moveTo>
                <a:lnTo>
                  <a:pt x="12" y="947"/>
                </a:lnTo>
                <a:lnTo>
                  <a:pt x="0" y="947"/>
                </a:lnTo>
                <a:lnTo>
                  <a:pt x="0" y="935"/>
                </a:lnTo>
                <a:lnTo>
                  <a:pt x="12" y="935"/>
                </a:lnTo>
                <a:close/>
                <a:moveTo>
                  <a:pt x="12" y="959"/>
                </a:moveTo>
                <a:lnTo>
                  <a:pt x="12" y="971"/>
                </a:lnTo>
                <a:lnTo>
                  <a:pt x="0" y="971"/>
                </a:lnTo>
                <a:lnTo>
                  <a:pt x="0" y="959"/>
                </a:lnTo>
                <a:lnTo>
                  <a:pt x="12" y="959"/>
                </a:lnTo>
                <a:close/>
                <a:moveTo>
                  <a:pt x="12" y="983"/>
                </a:moveTo>
                <a:lnTo>
                  <a:pt x="12" y="995"/>
                </a:lnTo>
                <a:lnTo>
                  <a:pt x="0" y="995"/>
                </a:lnTo>
                <a:lnTo>
                  <a:pt x="0" y="983"/>
                </a:lnTo>
                <a:lnTo>
                  <a:pt x="12" y="983"/>
                </a:lnTo>
                <a:close/>
                <a:moveTo>
                  <a:pt x="12" y="1007"/>
                </a:moveTo>
                <a:lnTo>
                  <a:pt x="12" y="1019"/>
                </a:lnTo>
                <a:lnTo>
                  <a:pt x="0" y="1019"/>
                </a:lnTo>
                <a:lnTo>
                  <a:pt x="0" y="1007"/>
                </a:lnTo>
                <a:lnTo>
                  <a:pt x="12" y="1007"/>
                </a:lnTo>
                <a:close/>
                <a:moveTo>
                  <a:pt x="12" y="1031"/>
                </a:moveTo>
                <a:lnTo>
                  <a:pt x="12" y="1043"/>
                </a:lnTo>
                <a:lnTo>
                  <a:pt x="0" y="1043"/>
                </a:lnTo>
                <a:lnTo>
                  <a:pt x="0" y="1031"/>
                </a:lnTo>
                <a:lnTo>
                  <a:pt x="12" y="1031"/>
                </a:lnTo>
                <a:close/>
                <a:moveTo>
                  <a:pt x="12" y="1055"/>
                </a:moveTo>
                <a:lnTo>
                  <a:pt x="12" y="1067"/>
                </a:lnTo>
                <a:lnTo>
                  <a:pt x="0" y="1067"/>
                </a:lnTo>
                <a:lnTo>
                  <a:pt x="0" y="1055"/>
                </a:lnTo>
                <a:lnTo>
                  <a:pt x="12" y="1055"/>
                </a:lnTo>
                <a:close/>
                <a:moveTo>
                  <a:pt x="12" y="1079"/>
                </a:moveTo>
                <a:lnTo>
                  <a:pt x="12" y="1091"/>
                </a:lnTo>
                <a:lnTo>
                  <a:pt x="0" y="1091"/>
                </a:lnTo>
                <a:lnTo>
                  <a:pt x="0" y="1079"/>
                </a:lnTo>
                <a:lnTo>
                  <a:pt x="12" y="1079"/>
                </a:lnTo>
                <a:close/>
                <a:moveTo>
                  <a:pt x="12" y="1103"/>
                </a:moveTo>
                <a:lnTo>
                  <a:pt x="12" y="1115"/>
                </a:lnTo>
                <a:lnTo>
                  <a:pt x="0" y="1115"/>
                </a:lnTo>
                <a:lnTo>
                  <a:pt x="0" y="1103"/>
                </a:lnTo>
                <a:lnTo>
                  <a:pt x="12" y="1103"/>
                </a:lnTo>
                <a:close/>
                <a:moveTo>
                  <a:pt x="12" y="1127"/>
                </a:moveTo>
                <a:lnTo>
                  <a:pt x="12" y="1139"/>
                </a:lnTo>
                <a:lnTo>
                  <a:pt x="0" y="1139"/>
                </a:lnTo>
                <a:lnTo>
                  <a:pt x="0" y="1127"/>
                </a:lnTo>
                <a:lnTo>
                  <a:pt x="12" y="1127"/>
                </a:lnTo>
                <a:close/>
                <a:moveTo>
                  <a:pt x="12" y="1151"/>
                </a:moveTo>
                <a:lnTo>
                  <a:pt x="12" y="1163"/>
                </a:lnTo>
                <a:lnTo>
                  <a:pt x="0" y="1163"/>
                </a:lnTo>
                <a:lnTo>
                  <a:pt x="0" y="1151"/>
                </a:lnTo>
                <a:lnTo>
                  <a:pt x="12" y="1151"/>
                </a:lnTo>
                <a:close/>
                <a:moveTo>
                  <a:pt x="12" y="1175"/>
                </a:moveTo>
                <a:lnTo>
                  <a:pt x="12" y="1187"/>
                </a:lnTo>
                <a:lnTo>
                  <a:pt x="0" y="1187"/>
                </a:lnTo>
                <a:lnTo>
                  <a:pt x="0" y="1175"/>
                </a:lnTo>
                <a:lnTo>
                  <a:pt x="12" y="1175"/>
                </a:lnTo>
                <a:close/>
                <a:moveTo>
                  <a:pt x="12" y="1199"/>
                </a:moveTo>
                <a:lnTo>
                  <a:pt x="12" y="1211"/>
                </a:lnTo>
                <a:lnTo>
                  <a:pt x="0" y="1211"/>
                </a:lnTo>
                <a:lnTo>
                  <a:pt x="0" y="1199"/>
                </a:lnTo>
                <a:lnTo>
                  <a:pt x="12" y="1199"/>
                </a:lnTo>
                <a:close/>
                <a:moveTo>
                  <a:pt x="12" y="1223"/>
                </a:moveTo>
                <a:lnTo>
                  <a:pt x="12" y="1235"/>
                </a:lnTo>
                <a:lnTo>
                  <a:pt x="0" y="1235"/>
                </a:lnTo>
                <a:lnTo>
                  <a:pt x="0" y="1223"/>
                </a:lnTo>
                <a:lnTo>
                  <a:pt x="12" y="1223"/>
                </a:lnTo>
                <a:close/>
                <a:moveTo>
                  <a:pt x="12" y="1247"/>
                </a:moveTo>
                <a:lnTo>
                  <a:pt x="12" y="1258"/>
                </a:lnTo>
                <a:lnTo>
                  <a:pt x="0" y="1258"/>
                </a:lnTo>
                <a:lnTo>
                  <a:pt x="0" y="1247"/>
                </a:lnTo>
                <a:lnTo>
                  <a:pt x="12" y="1247"/>
                </a:lnTo>
                <a:close/>
                <a:moveTo>
                  <a:pt x="12" y="1271"/>
                </a:moveTo>
                <a:lnTo>
                  <a:pt x="12" y="1283"/>
                </a:lnTo>
                <a:lnTo>
                  <a:pt x="0" y="1283"/>
                </a:lnTo>
                <a:lnTo>
                  <a:pt x="0" y="1271"/>
                </a:lnTo>
                <a:lnTo>
                  <a:pt x="12" y="1271"/>
                </a:lnTo>
                <a:close/>
                <a:moveTo>
                  <a:pt x="12" y="1294"/>
                </a:moveTo>
                <a:lnTo>
                  <a:pt x="12" y="1306"/>
                </a:lnTo>
                <a:lnTo>
                  <a:pt x="0" y="1306"/>
                </a:lnTo>
                <a:lnTo>
                  <a:pt x="0" y="1294"/>
                </a:lnTo>
                <a:lnTo>
                  <a:pt x="12" y="1294"/>
                </a:lnTo>
                <a:close/>
                <a:moveTo>
                  <a:pt x="12" y="1319"/>
                </a:moveTo>
                <a:lnTo>
                  <a:pt x="12" y="1330"/>
                </a:lnTo>
                <a:lnTo>
                  <a:pt x="0" y="1330"/>
                </a:lnTo>
                <a:lnTo>
                  <a:pt x="0" y="1319"/>
                </a:lnTo>
                <a:lnTo>
                  <a:pt x="12" y="1319"/>
                </a:lnTo>
                <a:close/>
                <a:moveTo>
                  <a:pt x="12" y="1342"/>
                </a:moveTo>
                <a:lnTo>
                  <a:pt x="12" y="1354"/>
                </a:lnTo>
                <a:lnTo>
                  <a:pt x="0" y="1354"/>
                </a:lnTo>
                <a:lnTo>
                  <a:pt x="0" y="1342"/>
                </a:lnTo>
                <a:lnTo>
                  <a:pt x="12" y="1342"/>
                </a:lnTo>
                <a:close/>
                <a:moveTo>
                  <a:pt x="12" y="1366"/>
                </a:moveTo>
                <a:lnTo>
                  <a:pt x="12" y="1378"/>
                </a:lnTo>
                <a:lnTo>
                  <a:pt x="0" y="1378"/>
                </a:lnTo>
                <a:lnTo>
                  <a:pt x="0" y="1366"/>
                </a:lnTo>
                <a:lnTo>
                  <a:pt x="12" y="1366"/>
                </a:lnTo>
                <a:close/>
                <a:moveTo>
                  <a:pt x="12" y="1390"/>
                </a:moveTo>
                <a:lnTo>
                  <a:pt x="12" y="1402"/>
                </a:lnTo>
                <a:lnTo>
                  <a:pt x="0" y="1402"/>
                </a:lnTo>
                <a:lnTo>
                  <a:pt x="0" y="1390"/>
                </a:lnTo>
                <a:lnTo>
                  <a:pt x="12" y="1390"/>
                </a:lnTo>
                <a:close/>
                <a:moveTo>
                  <a:pt x="12" y="1414"/>
                </a:moveTo>
                <a:lnTo>
                  <a:pt x="12" y="1426"/>
                </a:lnTo>
                <a:lnTo>
                  <a:pt x="0" y="1426"/>
                </a:lnTo>
                <a:lnTo>
                  <a:pt x="0" y="1414"/>
                </a:lnTo>
                <a:lnTo>
                  <a:pt x="12" y="1414"/>
                </a:lnTo>
                <a:close/>
                <a:moveTo>
                  <a:pt x="12" y="1438"/>
                </a:moveTo>
                <a:lnTo>
                  <a:pt x="12" y="1450"/>
                </a:lnTo>
                <a:lnTo>
                  <a:pt x="0" y="1450"/>
                </a:lnTo>
                <a:lnTo>
                  <a:pt x="0" y="1438"/>
                </a:lnTo>
                <a:lnTo>
                  <a:pt x="12" y="1438"/>
                </a:lnTo>
                <a:close/>
                <a:moveTo>
                  <a:pt x="12" y="1462"/>
                </a:moveTo>
                <a:lnTo>
                  <a:pt x="12" y="1474"/>
                </a:lnTo>
                <a:lnTo>
                  <a:pt x="0" y="1474"/>
                </a:lnTo>
                <a:lnTo>
                  <a:pt x="0" y="1462"/>
                </a:lnTo>
                <a:lnTo>
                  <a:pt x="12" y="1462"/>
                </a:lnTo>
                <a:close/>
                <a:moveTo>
                  <a:pt x="12" y="1486"/>
                </a:moveTo>
                <a:lnTo>
                  <a:pt x="12" y="1498"/>
                </a:lnTo>
                <a:lnTo>
                  <a:pt x="0" y="1498"/>
                </a:lnTo>
                <a:lnTo>
                  <a:pt x="0" y="1486"/>
                </a:lnTo>
                <a:lnTo>
                  <a:pt x="12" y="1486"/>
                </a:lnTo>
                <a:close/>
                <a:moveTo>
                  <a:pt x="12" y="1510"/>
                </a:moveTo>
                <a:lnTo>
                  <a:pt x="12" y="1522"/>
                </a:lnTo>
                <a:lnTo>
                  <a:pt x="0" y="1522"/>
                </a:lnTo>
                <a:lnTo>
                  <a:pt x="0" y="1510"/>
                </a:lnTo>
                <a:lnTo>
                  <a:pt x="12" y="1510"/>
                </a:lnTo>
                <a:close/>
                <a:moveTo>
                  <a:pt x="12" y="1534"/>
                </a:moveTo>
                <a:lnTo>
                  <a:pt x="12" y="1546"/>
                </a:lnTo>
                <a:lnTo>
                  <a:pt x="0" y="1546"/>
                </a:lnTo>
                <a:lnTo>
                  <a:pt x="0" y="1534"/>
                </a:lnTo>
                <a:lnTo>
                  <a:pt x="12" y="1534"/>
                </a:lnTo>
                <a:close/>
                <a:moveTo>
                  <a:pt x="12" y="1558"/>
                </a:moveTo>
                <a:lnTo>
                  <a:pt x="12" y="1570"/>
                </a:lnTo>
                <a:lnTo>
                  <a:pt x="0" y="1570"/>
                </a:lnTo>
                <a:lnTo>
                  <a:pt x="0" y="1558"/>
                </a:lnTo>
                <a:lnTo>
                  <a:pt x="12" y="1558"/>
                </a:lnTo>
                <a:close/>
                <a:moveTo>
                  <a:pt x="12" y="1582"/>
                </a:moveTo>
                <a:lnTo>
                  <a:pt x="12" y="1594"/>
                </a:lnTo>
                <a:lnTo>
                  <a:pt x="0" y="1594"/>
                </a:lnTo>
                <a:lnTo>
                  <a:pt x="0" y="1582"/>
                </a:lnTo>
                <a:lnTo>
                  <a:pt x="12" y="1582"/>
                </a:lnTo>
                <a:close/>
                <a:moveTo>
                  <a:pt x="12" y="1606"/>
                </a:moveTo>
                <a:lnTo>
                  <a:pt x="12" y="1618"/>
                </a:lnTo>
                <a:lnTo>
                  <a:pt x="0" y="1618"/>
                </a:lnTo>
                <a:lnTo>
                  <a:pt x="0" y="1606"/>
                </a:lnTo>
                <a:lnTo>
                  <a:pt x="12" y="1606"/>
                </a:lnTo>
                <a:close/>
                <a:moveTo>
                  <a:pt x="12" y="1630"/>
                </a:moveTo>
                <a:lnTo>
                  <a:pt x="12" y="1642"/>
                </a:lnTo>
                <a:lnTo>
                  <a:pt x="0" y="1642"/>
                </a:lnTo>
                <a:lnTo>
                  <a:pt x="0" y="1630"/>
                </a:lnTo>
                <a:lnTo>
                  <a:pt x="12" y="1630"/>
                </a:lnTo>
                <a:close/>
                <a:moveTo>
                  <a:pt x="12" y="1654"/>
                </a:moveTo>
                <a:lnTo>
                  <a:pt x="12" y="1666"/>
                </a:lnTo>
                <a:lnTo>
                  <a:pt x="0" y="1666"/>
                </a:lnTo>
                <a:lnTo>
                  <a:pt x="0" y="1654"/>
                </a:lnTo>
                <a:lnTo>
                  <a:pt x="12" y="1654"/>
                </a:lnTo>
                <a:close/>
                <a:moveTo>
                  <a:pt x="12" y="1678"/>
                </a:moveTo>
                <a:lnTo>
                  <a:pt x="12" y="1690"/>
                </a:lnTo>
                <a:lnTo>
                  <a:pt x="0" y="1690"/>
                </a:lnTo>
                <a:lnTo>
                  <a:pt x="0" y="1678"/>
                </a:lnTo>
                <a:lnTo>
                  <a:pt x="12" y="1678"/>
                </a:lnTo>
                <a:close/>
                <a:moveTo>
                  <a:pt x="12" y="1702"/>
                </a:moveTo>
                <a:lnTo>
                  <a:pt x="12" y="1714"/>
                </a:lnTo>
                <a:lnTo>
                  <a:pt x="0" y="1714"/>
                </a:lnTo>
                <a:lnTo>
                  <a:pt x="0" y="1702"/>
                </a:lnTo>
                <a:lnTo>
                  <a:pt x="12" y="1702"/>
                </a:lnTo>
                <a:close/>
                <a:moveTo>
                  <a:pt x="12" y="1726"/>
                </a:moveTo>
                <a:lnTo>
                  <a:pt x="12" y="1738"/>
                </a:lnTo>
                <a:lnTo>
                  <a:pt x="0" y="1738"/>
                </a:lnTo>
                <a:lnTo>
                  <a:pt x="0" y="1726"/>
                </a:lnTo>
                <a:lnTo>
                  <a:pt x="12" y="1726"/>
                </a:lnTo>
                <a:close/>
                <a:moveTo>
                  <a:pt x="12" y="1750"/>
                </a:moveTo>
                <a:lnTo>
                  <a:pt x="12" y="1762"/>
                </a:lnTo>
                <a:lnTo>
                  <a:pt x="0" y="1762"/>
                </a:lnTo>
                <a:lnTo>
                  <a:pt x="0" y="1750"/>
                </a:lnTo>
                <a:lnTo>
                  <a:pt x="12" y="1750"/>
                </a:lnTo>
                <a:close/>
                <a:moveTo>
                  <a:pt x="12" y="1774"/>
                </a:moveTo>
                <a:lnTo>
                  <a:pt x="12" y="1786"/>
                </a:lnTo>
                <a:lnTo>
                  <a:pt x="0" y="1786"/>
                </a:lnTo>
                <a:lnTo>
                  <a:pt x="0" y="1774"/>
                </a:lnTo>
                <a:lnTo>
                  <a:pt x="12" y="1774"/>
                </a:lnTo>
                <a:close/>
                <a:moveTo>
                  <a:pt x="12" y="1798"/>
                </a:moveTo>
                <a:lnTo>
                  <a:pt x="12" y="1810"/>
                </a:lnTo>
                <a:lnTo>
                  <a:pt x="0" y="1810"/>
                </a:lnTo>
                <a:lnTo>
                  <a:pt x="0" y="1798"/>
                </a:lnTo>
                <a:lnTo>
                  <a:pt x="12" y="1798"/>
                </a:lnTo>
                <a:close/>
                <a:moveTo>
                  <a:pt x="12" y="1822"/>
                </a:moveTo>
                <a:lnTo>
                  <a:pt x="12" y="1834"/>
                </a:lnTo>
                <a:lnTo>
                  <a:pt x="0" y="1834"/>
                </a:lnTo>
                <a:lnTo>
                  <a:pt x="0" y="1822"/>
                </a:lnTo>
                <a:lnTo>
                  <a:pt x="12" y="1822"/>
                </a:lnTo>
                <a:close/>
                <a:moveTo>
                  <a:pt x="12" y="1846"/>
                </a:moveTo>
                <a:lnTo>
                  <a:pt x="12" y="1858"/>
                </a:lnTo>
                <a:lnTo>
                  <a:pt x="0" y="1858"/>
                </a:lnTo>
                <a:lnTo>
                  <a:pt x="0" y="1846"/>
                </a:lnTo>
                <a:lnTo>
                  <a:pt x="12" y="1846"/>
                </a:lnTo>
                <a:close/>
                <a:moveTo>
                  <a:pt x="12" y="1870"/>
                </a:moveTo>
                <a:lnTo>
                  <a:pt x="12" y="1882"/>
                </a:lnTo>
                <a:lnTo>
                  <a:pt x="0" y="1882"/>
                </a:lnTo>
                <a:lnTo>
                  <a:pt x="0" y="1870"/>
                </a:lnTo>
                <a:lnTo>
                  <a:pt x="12" y="1870"/>
                </a:lnTo>
                <a:close/>
                <a:moveTo>
                  <a:pt x="12" y="1894"/>
                </a:moveTo>
                <a:lnTo>
                  <a:pt x="12" y="1905"/>
                </a:lnTo>
                <a:lnTo>
                  <a:pt x="0" y="1905"/>
                </a:lnTo>
                <a:lnTo>
                  <a:pt x="0" y="1894"/>
                </a:lnTo>
                <a:lnTo>
                  <a:pt x="12" y="1894"/>
                </a:lnTo>
                <a:close/>
                <a:moveTo>
                  <a:pt x="12" y="1918"/>
                </a:moveTo>
                <a:lnTo>
                  <a:pt x="12" y="1930"/>
                </a:lnTo>
                <a:lnTo>
                  <a:pt x="0" y="1930"/>
                </a:lnTo>
                <a:lnTo>
                  <a:pt x="0" y="1918"/>
                </a:lnTo>
                <a:lnTo>
                  <a:pt x="12" y="1918"/>
                </a:lnTo>
                <a:close/>
                <a:moveTo>
                  <a:pt x="12" y="1941"/>
                </a:moveTo>
                <a:lnTo>
                  <a:pt x="12" y="1953"/>
                </a:lnTo>
                <a:lnTo>
                  <a:pt x="0" y="1953"/>
                </a:lnTo>
                <a:lnTo>
                  <a:pt x="0" y="1941"/>
                </a:lnTo>
                <a:lnTo>
                  <a:pt x="12" y="1941"/>
                </a:lnTo>
                <a:close/>
                <a:moveTo>
                  <a:pt x="12" y="1966"/>
                </a:moveTo>
                <a:lnTo>
                  <a:pt x="12" y="1977"/>
                </a:lnTo>
                <a:lnTo>
                  <a:pt x="0" y="1977"/>
                </a:lnTo>
                <a:lnTo>
                  <a:pt x="0" y="1966"/>
                </a:lnTo>
                <a:lnTo>
                  <a:pt x="12" y="1966"/>
                </a:lnTo>
                <a:close/>
                <a:moveTo>
                  <a:pt x="12" y="1989"/>
                </a:moveTo>
                <a:lnTo>
                  <a:pt x="12" y="2002"/>
                </a:lnTo>
                <a:lnTo>
                  <a:pt x="0" y="2002"/>
                </a:lnTo>
                <a:lnTo>
                  <a:pt x="0" y="1989"/>
                </a:lnTo>
                <a:lnTo>
                  <a:pt x="12" y="1989"/>
                </a:lnTo>
                <a:close/>
                <a:moveTo>
                  <a:pt x="12" y="2013"/>
                </a:moveTo>
                <a:lnTo>
                  <a:pt x="12" y="2025"/>
                </a:lnTo>
                <a:lnTo>
                  <a:pt x="0" y="2025"/>
                </a:lnTo>
                <a:lnTo>
                  <a:pt x="0" y="2013"/>
                </a:lnTo>
                <a:lnTo>
                  <a:pt x="12" y="2013"/>
                </a:lnTo>
                <a:close/>
                <a:moveTo>
                  <a:pt x="12" y="2037"/>
                </a:moveTo>
                <a:lnTo>
                  <a:pt x="12" y="2049"/>
                </a:lnTo>
                <a:lnTo>
                  <a:pt x="0" y="2049"/>
                </a:lnTo>
                <a:lnTo>
                  <a:pt x="0" y="2037"/>
                </a:lnTo>
                <a:lnTo>
                  <a:pt x="12" y="2037"/>
                </a:lnTo>
                <a:close/>
                <a:moveTo>
                  <a:pt x="12" y="2061"/>
                </a:moveTo>
                <a:lnTo>
                  <a:pt x="12" y="2073"/>
                </a:lnTo>
                <a:lnTo>
                  <a:pt x="0" y="2073"/>
                </a:lnTo>
                <a:lnTo>
                  <a:pt x="0" y="2061"/>
                </a:lnTo>
                <a:lnTo>
                  <a:pt x="12" y="2061"/>
                </a:lnTo>
                <a:close/>
                <a:moveTo>
                  <a:pt x="12" y="2085"/>
                </a:moveTo>
                <a:lnTo>
                  <a:pt x="12" y="2097"/>
                </a:lnTo>
                <a:lnTo>
                  <a:pt x="0" y="2097"/>
                </a:lnTo>
                <a:lnTo>
                  <a:pt x="0" y="2085"/>
                </a:lnTo>
                <a:lnTo>
                  <a:pt x="12" y="2085"/>
                </a:lnTo>
                <a:close/>
                <a:moveTo>
                  <a:pt x="12" y="2109"/>
                </a:moveTo>
                <a:lnTo>
                  <a:pt x="12" y="2121"/>
                </a:lnTo>
                <a:lnTo>
                  <a:pt x="0" y="2121"/>
                </a:lnTo>
                <a:lnTo>
                  <a:pt x="0" y="2109"/>
                </a:lnTo>
                <a:lnTo>
                  <a:pt x="12" y="2109"/>
                </a:lnTo>
                <a:close/>
                <a:moveTo>
                  <a:pt x="12" y="2133"/>
                </a:moveTo>
                <a:lnTo>
                  <a:pt x="12" y="2145"/>
                </a:lnTo>
                <a:lnTo>
                  <a:pt x="0" y="2145"/>
                </a:lnTo>
                <a:lnTo>
                  <a:pt x="0" y="2133"/>
                </a:lnTo>
                <a:lnTo>
                  <a:pt x="12" y="2133"/>
                </a:lnTo>
                <a:close/>
                <a:moveTo>
                  <a:pt x="12" y="2157"/>
                </a:moveTo>
                <a:lnTo>
                  <a:pt x="12" y="2169"/>
                </a:lnTo>
                <a:lnTo>
                  <a:pt x="0" y="2169"/>
                </a:lnTo>
                <a:lnTo>
                  <a:pt x="0" y="2157"/>
                </a:lnTo>
                <a:lnTo>
                  <a:pt x="12" y="2157"/>
                </a:lnTo>
                <a:close/>
                <a:moveTo>
                  <a:pt x="12" y="2181"/>
                </a:moveTo>
                <a:lnTo>
                  <a:pt x="12" y="2193"/>
                </a:lnTo>
                <a:lnTo>
                  <a:pt x="0" y="2193"/>
                </a:lnTo>
                <a:lnTo>
                  <a:pt x="0" y="2181"/>
                </a:lnTo>
                <a:lnTo>
                  <a:pt x="12" y="2181"/>
                </a:lnTo>
                <a:close/>
                <a:moveTo>
                  <a:pt x="12" y="2205"/>
                </a:moveTo>
                <a:lnTo>
                  <a:pt x="12" y="2217"/>
                </a:lnTo>
                <a:lnTo>
                  <a:pt x="0" y="2217"/>
                </a:lnTo>
                <a:lnTo>
                  <a:pt x="0" y="2205"/>
                </a:lnTo>
                <a:lnTo>
                  <a:pt x="12" y="2205"/>
                </a:lnTo>
                <a:close/>
                <a:moveTo>
                  <a:pt x="12" y="2229"/>
                </a:moveTo>
                <a:lnTo>
                  <a:pt x="12" y="2241"/>
                </a:lnTo>
                <a:lnTo>
                  <a:pt x="0" y="2241"/>
                </a:lnTo>
                <a:lnTo>
                  <a:pt x="0" y="2229"/>
                </a:lnTo>
                <a:lnTo>
                  <a:pt x="12" y="2229"/>
                </a:lnTo>
                <a:close/>
                <a:moveTo>
                  <a:pt x="12" y="2253"/>
                </a:moveTo>
                <a:lnTo>
                  <a:pt x="12" y="2265"/>
                </a:lnTo>
                <a:lnTo>
                  <a:pt x="0" y="2265"/>
                </a:lnTo>
                <a:lnTo>
                  <a:pt x="0" y="2253"/>
                </a:lnTo>
                <a:lnTo>
                  <a:pt x="12" y="2253"/>
                </a:lnTo>
                <a:close/>
                <a:moveTo>
                  <a:pt x="12" y="2277"/>
                </a:moveTo>
                <a:lnTo>
                  <a:pt x="12" y="2289"/>
                </a:lnTo>
                <a:lnTo>
                  <a:pt x="0" y="2289"/>
                </a:lnTo>
                <a:lnTo>
                  <a:pt x="0" y="2277"/>
                </a:lnTo>
                <a:lnTo>
                  <a:pt x="12" y="2277"/>
                </a:lnTo>
                <a:close/>
                <a:moveTo>
                  <a:pt x="12" y="2301"/>
                </a:moveTo>
                <a:lnTo>
                  <a:pt x="12" y="2313"/>
                </a:lnTo>
                <a:lnTo>
                  <a:pt x="0" y="2313"/>
                </a:lnTo>
                <a:lnTo>
                  <a:pt x="0" y="2301"/>
                </a:lnTo>
                <a:lnTo>
                  <a:pt x="12" y="2301"/>
                </a:lnTo>
                <a:close/>
                <a:moveTo>
                  <a:pt x="12" y="2325"/>
                </a:moveTo>
                <a:lnTo>
                  <a:pt x="12" y="2337"/>
                </a:lnTo>
                <a:lnTo>
                  <a:pt x="0" y="2337"/>
                </a:lnTo>
                <a:lnTo>
                  <a:pt x="0" y="2325"/>
                </a:lnTo>
                <a:lnTo>
                  <a:pt x="12" y="2325"/>
                </a:lnTo>
                <a:close/>
                <a:moveTo>
                  <a:pt x="12" y="2349"/>
                </a:moveTo>
                <a:lnTo>
                  <a:pt x="12" y="2361"/>
                </a:lnTo>
                <a:lnTo>
                  <a:pt x="0" y="2361"/>
                </a:lnTo>
                <a:lnTo>
                  <a:pt x="0" y="2349"/>
                </a:lnTo>
                <a:lnTo>
                  <a:pt x="12" y="2349"/>
                </a:lnTo>
                <a:close/>
                <a:moveTo>
                  <a:pt x="12" y="2373"/>
                </a:moveTo>
                <a:lnTo>
                  <a:pt x="12" y="2385"/>
                </a:lnTo>
                <a:lnTo>
                  <a:pt x="0" y="2385"/>
                </a:lnTo>
                <a:lnTo>
                  <a:pt x="0" y="2373"/>
                </a:lnTo>
                <a:lnTo>
                  <a:pt x="12" y="2373"/>
                </a:lnTo>
                <a:close/>
                <a:moveTo>
                  <a:pt x="12" y="2397"/>
                </a:moveTo>
                <a:lnTo>
                  <a:pt x="12" y="2409"/>
                </a:lnTo>
                <a:lnTo>
                  <a:pt x="0" y="2409"/>
                </a:lnTo>
                <a:lnTo>
                  <a:pt x="0" y="2397"/>
                </a:lnTo>
                <a:lnTo>
                  <a:pt x="12" y="2397"/>
                </a:lnTo>
                <a:close/>
                <a:moveTo>
                  <a:pt x="12" y="2421"/>
                </a:moveTo>
                <a:lnTo>
                  <a:pt x="12" y="2433"/>
                </a:lnTo>
                <a:lnTo>
                  <a:pt x="0" y="2433"/>
                </a:lnTo>
                <a:lnTo>
                  <a:pt x="0" y="2421"/>
                </a:lnTo>
                <a:lnTo>
                  <a:pt x="12" y="2421"/>
                </a:lnTo>
                <a:close/>
                <a:moveTo>
                  <a:pt x="12" y="2445"/>
                </a:moveTo>
                <a:lnTo>
                  <a:pt x="12" y="2457"/>
                </a:lnTo>
                <a:lnTo>
                  <a:pt x="0" y="2457"/>
                </a:lnTo>
                <a:lnTo>
                  <a:pt x="0" y="2445"/>
                </a:lnTo>
                <a:lnTo>
                  <a:pt x="12" y="2445"/>
                </a:lnTo>
                <a:close/>
                <a:moveTo>
                  <a:pt x="12" y="2469"/>
                </a:moveTo>
                <a:lnTo>
                  <a:pt x="12" y="2481"/>
                </a:lnTo>
                <a:lnTo>
                  <a:pt x="0" y="2481"/>
                </a:lnTo>
                <a:lnTo>
                  <a:pt x="0" y="2469"/>
                </a:lnTo>
                <a:lnTo>
                  <a:pt x="12" y="2469"/>
                </a:lnTo>
                <a:close/>
                <a:moveTo>
                  <a:pt x="12" y="2493"/>
                </a:moveTo>
                <a:lnTo>
                  <a:pt x="12" y="2505"/>
                </a:lnTo>
                <a:lnTo>
                  <a:pt x="0" y="2505"/>
                </a:lnTo>
                <a:lnTo>
                  <a:pt x="0" y="2493"/>
                </a:lnTo>
                <a:lnTo>
                  <a:pt x="12" y="2493"/>
                </a:lnTo>
                <a:close/>
                <a:moveTo>
                  <a:pt x="12" y="2517"/>
                </a:moveTo>
                <a:lnTo>
                  <a:pt x="12" y="2529"/>
                </a:lnTo>
                <a:lnTo>
                  <a:pt x="0" y="2529"/>
                </a:lnTo>
                <a:lnTo>
                  <a:pt x="0" y="2517"/>
                </a:lnTo>
                <a:lnTo>
                  <a:pt x="12" y="2517"/>
                </a:lnTo>
                <a:close/>
                <a:moveTo>
                  <a:pt x="12" y="2541"/>
                </a:moveTo>
                <a:lnTo>
                  <a:pt x="12" y="2553"/>
                </a:lnTo>
                <a:lnTo>
                  <a:pt x="0" y="2553"/>
                </a:lnTo>
                <a:lnTo>
                  <a:pt x="0" y="2541"/>
                </a:lnTo>
                <a:lnTo>
                  <a:pt x="12" y="2541"/>
                </a:lnTo>
                <a:close/>
              </a:path>
            </a:pathLst>
          </a:custGeom>
          <a:solidFill>
            <a:srgbClr val="000000"/>
          </a:solidFill>
          <a:ln w="0" cap="flat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139" name="Freeform 136">
            <a:extLst>
              <a:ext uri="{FF2B5EF4-FFF2-40B4-BE49-F238E27FC236}">
                <a16:creationId xmlns:a16="http://schemas.microsoft.com/office/drawing/2014/main" id="{45B86F8D-E99B-4AE9-97CC-872F29E8A031}"/>
              </a:ext>
            </a:extLst>
          </p:cNvPr>
          <p:cNvSpPr>
            <a:spLocks noEditPoints="1"/>
          </p:cNvSpPr>
          <p:nvPr/>
        </p:nvSpPr>
        <p:spPr bwMode="auto">
          <a:xfrm>
            <a:off x="6267450" y="2289175"/>
            <a:ext cx="18000" cy="4032000"/>
          </a:xfrm>
          <a:custGeom>
            <a:avLst/>
            <a:gdLst>
              <a:gd name="T0" fmla="*/ 0 w 12"/>
              <a:gd name="T1" fmla="*/ 24 h 2553"/>
              <a:gd name="T2" fmla="*/ 0 w 12"/>
              <a:gd name="T3" fmla="*/ 84 h 2553"/>
              <a:gd name="T4" fmla="*/ 12 w 12"/>
              <a:gd name="T5" fmla="*/ 132 h 2553"/>
              <a:gd name="T6" fmla="*/ 12 w 12"/>
              <a:gd name="T7" fmla="*/ 168 h 2553"/>
              <a:gd name="T8" fmla="*/ 12 w 12"/>
              <a:gd name="T9" fmla="*/ 192 h 2553"/>
              <a:gd name="T10" fmla="*/ 0 w 12"/>
              <a:gd name="T11" fmla="*/ 240 h 2553"/>
              <a:gd name="T12" fmla="*/ 0 w 12"/>
              <a:gd name="T13" fmla="*/ 300 h 2553"/>
              <a:gd name="T14" fmla="*/ 12 w 12"/>
              <a:gd name="T15" fmla="*/ 348 h 2553"/>
              <a:gd name="T16" fmla="*/ 12 w 12"/>
              <a:gd name="T17" fmla="*/ 384 h 2553"/>
              <a:gd name="T18" fmla="*/ 12 w 12"/>
              <a:gd name="T19" fmla="*/ 408 h 2553"/>
              <a:gd name="T20" fmla="*/ 0 w 12"/>
              <a:gd name="T21" fmla="*/ 456 h 2553"/>
              <a:gd name="T22" fmla="*/ 0 w 12"/>
              <a:gd name="T23" fmla="*/ 516 h 2553"/>
              <a:gd name="T24" fmla="*/ 12 w 12"/>
              <a:gd name="T25" fmla="*/ 564 h 2553"/>
              <a:gd name="T26" fmla="*/ 12 w 12"/>
              <a:gd name="T27" fmla="*/ 600 h 2553"/>
              <a:gd name="T28" fmla="*/ 12 w 12"/>
              <a:gd name="T29" fmla="*/ 623 h 2553"/>
              <a:gd name="T30" fmla="*/ 0 w 12"/>
              <a:gd name="T31" fmla="*/ 672 h 2553"/>
              <a:gd name="T32" fmla="*/ 0 w 12"/>
              <a:gd name="T33" fmla="*/ 731 h 2553"/>
              <a:gd name="T34" fmla="*/ 12 w 12"/>
              <a:gd name="T35" fmla="*/ 779 h 2553"/>
              <a:gd name="T36" fmla="*/ 12 w 12"/>
              <a:gd name="T37" fmla="*/ 815 h 2553"/>
              <a:gd name="T38" fmla="*/ 12 w 12"/>
              <a:gd name="T39" fmla="*/ 839 h 2553"/>
              <a:gd name="T40" fmla="*/ 0 w 12"/>
              <a:gd name="T41" fmla="*/ 887 h 2553"/>
              <a:gd name="T42" fmla="*/ 0 w 12"/>
              <a:gd name="T43" fmla="*/ 947 h 2553"/>
              <a:gd name="T44" fmla="*/ 12 w 12"/>
              <a:gd name="T45" fmla="*/ 995 h 2553"/>
              <a:gd name="T46" fmla="*/ 12 w 12"/>
              <a:gd name="T47" fmla="*/ 1031 h 2553"/>
              <a:gd name="T48" fmla="*/ 12 w 12"/>
              <a:gd name="T49" fmla="*/ 1055 h 2553"/>
              <a:gd name="T50" fmla="*/ 0 w 12"/>
              <a:gd name="T51" fmla="*/ 1103 h 2553"/>
              <a:gd name="T52" fmla="*/ 0 w 12"/>
              <a:gd name="T53" fmla="*/ 1163 h 2553"/>
              <a:gd name="T54" fmla="*/ 12 w 12"/>
              <a:gd name="T55" fmla="*/ 1211 h 2553"/>
              <a:gd name="T56" fmla="*/ 12 w 12"/>
              <a:gd name="T57" fmla="*/ 1247 h 2553"/>
              <a:gd name="T58" fmla="*/ 12 w 12"/>
              <a:gd name="T59" fmla="*/ 1271 h 2553"/>
              <a:gd name="T60" fmla="*/ 0 w 12"/>
              <a:gd name="T61" fmla="*/ 1319 h 2553"/>
              <a:gd name="T62" fmla="*/ 0 w 12"/>
              <a:gd name="T63" fmla="*/ 1378 h 2553"/>
              <a:gd name="T64" fmla="*/ 12 w 12"/>
              <a:gd name="T65" fmla="*/ 1426 h 2553"/>
              <a:gd name="T66" fmla="*/ 12 w 12"/>
              <a:gd name="T67" fmla="*/ 1462 h 2553"/>
              <a:gd name="T68" fmla="*/ 12 w 12"/>
              <a:gd name="T69" fmla="*/ 1486 h 2553"/>
              <a:gd name="T70" fmla="*/ 0 w 12"/>
              <a:gd name="T71" fmla="*/ 1534 h 2553"/>
              <a:gd name="T72" fmla="*/ 0 w 12"/>
              <a:gd name="T73" fmla="*/ 1594 h 2553"/>
              <a:gd name="T74" fmla="*/ 12 w 12"/>
              <a:gd name="T75" fmla="*/ 1642 h 2553"/>
              <a:gd name="T76" fmla="*/ 12 w 12"/>
              <a:gd name="T77" fmla="*/ 1678 h 2553"/>
              <a:gd name="T78" fmla="*/ 12 w 12"/>
              <a:gd name="T79" fmla="*/ 1702 h 2553"/>
              <a:gd name="T80" fmla="*/ 0 w 12"/>
              <a:gd name="T81" fmla="*/ 1750 h 2553"/>
              <a:gd name="T82" fmla="*/ 0 w 12"/>
              <a:gd name="T83" fmla="*/ 1810 h 2553"/>
              <a:gd name="T84" fmla="*/ 12 w 12"/>
              <a:gd name="T85" fmla="*/ 1858 h 2553"/>
              <a:gd name="T86" fmla="*/ 12 w 12"/>
              <a:gd name="T87" fmla="*/ 1894 h 2553"/>
              <a:gd name="T88" fmla="*/ 12 w 12"/>
              <a:gd name="T89" fmla="*/ 1918 h 2553"/>
              <a:gd name="T90" fmla="*/ 0 w 12"/>
              <a:gd name="T91" fmla="*/ 1966 h 2553"/>
              <a:gd name="T92" fmla="*/ 0 w 12"/>
              <a:gd name="T93" fmla="*/ 2025 h 2553"/>
              <a:gd name="T94" fmla="*/ 12 w 12"/>
              <a:gd name="T95" fmla="*/ 2073 h 2553"/>
              <a:gd name="T96" fmla="*/ 12 w 12"/>
              <a:gd name="T97" fmla="*/ 2109 h 2553"/>
              <a:gd name="T98" fmla="*/ 12 w 12"/>
              <a:gd name="T99" fmla="*/ 2133 h 2553"/>
              <a:gd name="T100" fmla="*/ 0 w 12"/>
              <a:gd name="T101" fmla="*/ 2181 h 2553"/>
              <a:gd name="T102" fmla="*/ 0 w 12"/>
              <a:gd name="T103" fmla="*/ 2241 h 2553"/>
              <a:gd name="T104" fmla="*/ 12 w 12"/>
              <a:gd name="T105" fmla="*/ 2289 h 2553"/>
              <a:gd name="T106" fmla="*/ 12 w 12"/>
              <a:gd name="T107" fmla="*/ 2325 h 2553"/>
              <a:gd name="T108" fmla="*/ 12 w 12"/>
              <a:gd name="T109" fmla="*/ 2349 h 2553"/>
              <a:gd name="T110" fmla="*/ 0 w 12"/>
              <a:gd name="T111" fmla="*/ 2397 h 2553"/>
              <a:gd name="T112" fmla="*/ 0 w 12"/>
              <a:gd name="T113" fmla="*/ 2457 h 2553"/>
              <a:gd name="T114" fmla="*/ 12 w 12"/>
              <a:gd name="T115" fmla="*/ 2505 h 2553"/>
              <a:gd name="T116" fmla="*/ 12 w 12"/>
              <a:gd name="T117" fmla="*/ 2541 h 25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12" h="2553">
                <a:moveTo>
                  <a:pt x="12" y="0"/>
                </a:moveTo>
                <a:lnTo>
                  <a:pt x="12" y="12"/>
                </a:lnTo>
                <a:lnTo>
                  <a:pt x="0" y="12"/>
                </a:lnTo>
                <a:lnTo>
                  <a:pt x="0" y="0"/>
                </a:lnTo>
                <a:lnTo>
                  <a:pt x="12" y="0"/>
                </a:lnTo>
                <a:close/>
                <a:moveTo>
                  <a:pt x="12" y="24"/>
                </a:moveTo>
                <a:lnTo>
                  <a:pt x="12" y="36"/>
                </a:lnTo>
                <a:lnTo>
                  <a:pt x="0" y="36"/>
                </a:lnTo>
                <a:lnTo>
                  <a:pt x="0" y="24"/>
                </a:lnTo>
                <a:lnTo>
                  <a:pt x="12" y="24"/>
                </a:lnTo>
                <a:close/>
                <a:moveTo>
                  <a:pt x="12" y="48"/>
                </a:moveTo>
                <a:lnTo>
                  <a:pt x="12" y="60"/>
                </a:lnTo>
                <a:lnTo>
                  <a:pt x="0" y="60"/>
                </a:lnTo>
                <a:lnTo>
                  <a:pt x="0" y="48"/>
                </a:lnTo>
                <a:lnTo>
                  <a:pt x="12" y="48"/>
                </a:lnTo>
                <a:close/>
                <a:moveTo>
                  <a:pt x="12" y="72"/>
                </a:moveTo>
                <a:lnTo>
                  <a:pt x="12" y="84"/>
                </a:lnTo>
                <a:lnTo>
                  <a:pt x="0" y="84"/>
                </a:lnTo>
                <a:lnTo>
                  <a:pt x="0" y="72"/>
                </a:lnTo>
                <a:lnTo>
                  <a:pt x="12" y="72"/>
                </a:lnTo>
                <a:close/>
                <a:moveTo>
                  <a:pt x="12" y="96"/>
                </a:moveTo>
                <a:lnTo>
                  <a:pt x="12" y="108"/>
                </a:lnTo>
                <a:lnTo>
                  <a:pt x="0" y="108"/>
                </a:lnTo>
                <a:lnTo>
                  <a:pt x="0" y="96"/>
                </a:lnTo>
                <a:lnTo>
                  <a:pt x="12" y="96"/>
                </a:lnTo>
                <a:close/>
                <a:moveTo>
                  <a:pt x="12" y="120"/>
                </a:moveTo>
                <a:lnTo>
                  <a:pt x="12" y="132"/>
                </a:lnTo>
                <a:lnTo>
                  <a:pt x="0" y="132"/>
                </a:lnTo>
                <a:lnTo>
                  <a:pt x="0" y="120"/>
                </a:lnTo>
                <a:lnTo>
                  <a:pt x="12" y="120"/>
                </a:lnTo>
                <a:close/>
                <a:moveTo>
                  <a:pt x="12" y="144"/>
                </a:moveTo>
                <a:lnTo>
                  <a:pt x="12" y="156"/>
                </a:lnTo>
                <a:lnTo>
                  <a:pt x="0" y="156"/>
                </a:lnTo>
                <a:lnTo>
                  <a:pt x="0" y="144"/>
                </a:lnTo>
                <a:lnTo>
                  <a:pt x="12" y="144"/>
                </a:lnTo>
                <a:close/>
                <a:moveTo>
                  <a:pt x="12" y="168"/>
                </a:moveTo>
                <a:lnTo>
                  <a:pt x="12" y="180"/>
                </a:lnTo>
                <a:lnTo>
                  <a:pt x="0" y="180"/>
                </a:lnTo>
                <a:lnTo>
                  <a:pt x="0" y="168"/>
                </a:lnTo>
                <a:lnTo>
                  <a:pt x="12" y="168"/>
                </a:lnTo>
                <a:close/>
                <a:moveTo>
                  <a:pt x="12" y="192"/>
                </a:moveTo>
                <a:lnTo>
                  <a:pt x="12" y="204"/>
                </a:lnTo>
                <a:lnTo>
                  <a:pt x="0" y="204"/>
                </a:lnTo>
                <a:lnTo>
                  <a:pt x="0" y="192"/>
                </a:lnTo>
                <a:lnTo>
                  <a:pt x="12" y="192"/>
                </a:lnTo>
                <a:close/>
                <a:moveTo>
                  <a:pt x="12" y="216"/>
                </a:moveTo>
                <a:lnTo>
                  <a:pt x="12" y="228"/>
                </a:lnTo>
                <a:lnTo>
                  <a:pt x="0" y="228"/>
                </a:lnTo>
                <a:lnTo>
                  <a:pt x="0" y="216"/>
                </a:lnTo>
                <a:lnTo>
                  <a:pt x="12" y="216"/>
                </a:lnTo>
                <a:close/>
                <a:moveTo>
                  <a:pt x="12" y="240"/>
                </a:moveTo>
                <a:lnTo>
                  <a:pt x="12" y="252"/>
                </a:lnTo>
                <a:lnTo>
                  <a:pt x="0" y="252"/>
                </a:lnTo>
                <a:lnTo>
                  <a:pt x="0" y="240"/>
                </a:lnTo>
                <a:lnTo>
                  <a:pt x="12" y="240"/>
                </a:lnTo>
                <a:close/>
                <a:moveTo>
                  <a:pt x="12" y="264"/>
                </a:moveTo>
                <a:lnTo>
                  <a:pt x="12" y="276"/>
                </a:lnTo>
                <a:lnTo>
                  <a:pt x="0" y="276"/>
                </a:lnTo>
                <a:lnTo>
                  <a:pt x="0" y="264"/>
                </a:lnTo>
                <a:lnTo>
                  <a:pt x="12" y="264"/>
                </a:lnTo>
                <a:close/>
                <a:moveTo>
                  <a:pt x="12" y="288"/>
                </a:moveTo>
                <a:lnTo>
                  <a:pt x="12" y="300"/>
                </a:lnTo>
                <a:lnTo>
                  <a:pt x="0" y="300"/>
                </a:lnTo>
                <a:lnTo>
                  <a:pt x="0" y="288"/>
                </a:lnTo>
                <a:lnTo>
                  <a:pt x="12" y="288"/>
                </a:lnTo>
                <a:close/>
                <a:moveTo>
                  <a:pt x="12" y="312"/>
                </a:moveTo>
                <a:lnTo>
                  <a:pt x="12" y="324"/>
                </a:lnTo>
                <a:lnTo>
                  <a:pt x="0" y="324"/>
                </a:lnTo>
                <a:lnTo>
                  <a:pt x="0" y="312"/>
                </a:lnTo>
                <a:lnTo>
                  <a:pt x="12" y="312"/>
                </a:lnTo>
                <a:close/>
                <a:moveTo>
                  <a:pt x="12" y="336"/>
                </a:moveTo>
                <a:lnTo>
                  <a:pt x="12" y="348"/>
                </a:lnTo>
                <a:lnTo>
                  <a:pt x="0" y="348"/>
                </a:lnTo>
                <a:lnTo>
                  <a:pt x="0" y="336"/>
                </a:lnTo>
                <a:lnTo>
                  <a:pt x="12" y="336"/>
                </a:lnTo>
                <a:close/>
                <a:moveTo>
                  <a:pt x="12" y="360"/>
                </a:moveTo>
                <a:lnTo>
                  <a:pt x="12" y="372"/>
                </a:lnTo>
                <a:lnTo>
                  <a:pt x="0" y="372"/>
                </a:lnTo>
                <a:lnTo>
                  <a:pt x="0" y="360"/>
                </a:lnTo>
                <a:lnTo>
                  <a:pt x="12" y="360"/>
                </a:lnTo>
                <a:close/>
                <a:moveTo>
                  <a:pt x="12" y="384"/>
                </a:moveTo>
                <a:lnTo>
                  <a:pt x="12" y="396"/>
                </a:lnTo>
                <a:lnTo>
                  <a:pt x="0" y="396"/>
                </a:lnTo>
                <a:lnTo>
                  <a:pt x="0" y="384"/>
                </a:lnTo>
                <a:lnTo>
                  <a:pt x="12" y="384"/>
                </a:lnTo>
                <a:close/>
                <a:moveTo>
                  <a:pt x="12" y="408"/>
                </a:moveTo>
                <a:lnTo>
                  <a:pt x="12" y="420"/>
                </a:lnTo>
                <a:lnTo>
                  <a:pt x="0" y="420"/>
                </a:lnTo>
                <a:lnTo>
                  <a:pt x="0" y="408"/>
                </a:lnTo>
                <a:lnTo>
                  <a:pt x="12" y="408"/>
                </a:lnTo>
                <a:close/>
                <a:moveTo>
                  <a:pt x="12" y="432"/>
                </a:moveTo>
                <a:lnTo>
                  <a:pt x="12" y="444"/>
                </a:lnTo>
                <a:lnTo>
                  <a:pt x="0" y="444"/>
                </a:lnTo>
                <a:lnTo>
                  <a:pt x="0" y="432"/>
                </a:lnTo>
                <a:lnTo>
                  <a:pt x="12" y="432"/>
                </a:lnTo>
                <a:close/>
                <a:moveTo>
                  <a:pt x="12" y="456"/>
                </a:moveTo>
                <a:lnTo>
                  <a:pt x="12" y="468"/>
                </a:lnTo>
                <a:lnTo>
                  <a:pt x="0" y="468"/>
                </a:lnTo>
                <a:lnTo>
                  <a:pt x="0" y="456"/>
                </a:lnTo>
                <a:lnTo>
                  <a:pt x="12" y="456"/>
                </a:lnTo>
                <a:close/>
                <a:moveTo>
                  <a:pt x="12" y="480"/>
                </a:moveTo>
                <a:lnTo>
                  <a:pt x="12" y="492"/>
                </a:lnTo>
                <a:lnTo>
                  <a:pt x="0" y="492"/>
                </a:lnTo>
                <a:lnTo>
                  <a:pt x="0" y="480"/>
                </a:lnTo>
                <a:lnTo>
                  <a:pt x="12" y="480"/>
                </a:lnTo>
                <a:close/>
                <a:moveTo>
                  <a:pt x="12" y="504"/>
                </a:moveTo>
                <a:lnTo>
                  <a:pt x="12" y="516"/>
                </a:lnTo>
                <a:lnTo>
                  <a:pt x="0" y="516"/>
                </a:lnTo>
                <a:lnTo>
                  <a:pt x="0" y="504"/>
                </a:lnTo>
                <a:lnTo>
                  <a:pt x="12" y="504"/>
                </a:lnTo>
                <a:close/>
                <a:moveTo>
                  <a:pt x="12" y="528"/>
                </a:moveTo>
                <a:lnTo>
                  <a:pt x="12" y="540"/>
                </a:lnTo>
                <a:lnTo>
                  <a:pt x="0" y="540"/>
                </a:lnTo>
                <a:lnTo>
                  <a:pt x="0" y="528"/>
                </a:lnTo>
                <a:lnTo>
                  <a:pt x="12" y="528"/>
                </a:lnTo>
                <a:close/>
                <a:moveTo>
                  <a:pt x="12" y="552"/>
                </a:moveTo>
                <a:lnTo>
                  <a:pt x="12" y="564"/>
                </a:lnTo>
                <a:lnTo>
                  <a:pt x="0" y="564"/>
                </a:lnTo>
                <a:lnTo>
                  <a:pt x="0" y="552"/>
                </a:lnTo>
                <a:lnTo>
                  <a:pt x="12" y="552"/>
                </a:lnTo>
                <a:close/>
                <a:moveTo>
                  <a:pt x="12" y="575"/>
                </a:moveTo>
                <a:lnTo>
                  <a:pt x="12" y="588"/>
                </a:lnTo>
                <a:lnTo>
                  <a:pt x="0" y="588"/>
                </a:lnTo>
                <a:lnTo>
                  <a:pt x="0" y="575"/>
                </a:lnTo>
                <a:lnTo>
                  <a:pt x="12" y="575"/>
                </a:lnTo>
                <a:close/>
                <a:moveTo>
                  <a:pt x="12" y="600"/>
                </a:moveTo>
                <a:lnTo>
                  <a:pt x="12" y="611"/>
                </a:lnTo>
                <a:lnTo>
                  <a:pt x="0" y="611"/>
                </a:lnTo>
                <a:lnTo>
                  <a:pt x="0" y="600"/>
                </a:lnTo>
                <a:lnTo>
                  <a:pt x="12" y="600"/>
                </a:lnTo>
                <a:close/>
                <a:moveTo>
                  <a:pt x="12" y="623"/>
                </a:moveTo>
                <a:lnTo>
                  <a:pt x="12" y="636"/>
                </a:lnTo>
                <a:lnTo>
                  <a:pt x="0" y="636"/>
                </a:lnTo>
                <a:lnTo>
                  <a:pt x="0" y="623"/>
                </a:lnTo>
                <a:lnTo>
                  <a:pt x="12" y="623"/>
                </a:lnTo>
                <a:close/>
                <a:moveTo>
                  <a:pt x="12" y="647"/>
                </a:moveTo>
                <a:lnTo>
                  <a:pt x="12" y="659"/>
                </a:lnTo>
                <a:lnTo>
                  <a:pt x="0" y="659"/>
                </a:lnTo>
                <a:lnTo>
                  <a:pt x="0" y="647"/>
                </a:lnTo>
                <a:lnTo>
                  <a:pt x="12" y="647"/>
                </a:lnTo>
                <a:close/>
                <a:moveTo>
                  <a:pt x="12" y="672"/>
                </a:moveTo>
                <a:lnTo>
                  <a:pt x="12" y="683"/>
                </a:lnTo>
                <a:lnTo>
                  <a:pt x="0" y="683"/>
                </a:lnTo>
                <a:lnTo>
                  <a:pt x="0" y="672"/>
                </a:lnTo>
                <a:lnTo>
                  <a:pt x="12" y="672"/>
                </a:lnTo>
                <a:close/>
                <a:moveTo>
                  <a:pt x="12" y="695"/>
                </a:moveTo>
                <a:lnTo>
                  <a:pt x="12" y="707"/>
                </a:lnTo>
                <a:lnTo>
                  <a:pt x="0" y="707"/>
                </a:lnTo>
                <a:lnTo>
                  <a:pt x="0" y="695"/>
                </a:lnTo>
                <a:lnTo>
                  <a:pt x="12" y="695"/>
                </a:lnTo>
                <a:close/>
                <a:moveTo>
                  <a:pt x="12" y="719"/>
                </a:moveTo>
                <a:lnTo>
                  <a:pt x="12" y="731"/>
                </a:lnTo>
                <a:lnTo>
                  <a:pt x="0" y="731"/>
                </a:lnTo>
                <a:lnTo>
                  <a:pt x="0" y="719"/>
                </a:lnTo>
                <a:lnTo>
                  <a:pt x="12" y="719"/>
                </a:lnTo>
                <a:close/>
                <a:moveTo>
                  <a:pt x="12" y="743"/>
                </a:moveTo>
                <a:lnTo>
                  <a:pt x="12" y="755"/>
                </a:lnTo>
                <a:lnTo>
                  <a:pt x="0" y="755"/>
                </a:lnTo>
                <a:lnTo>
                  <a:pt x="0" y="743"/>
                </a:lnTo>
                <a:lnTo>
                  <a:pt x="12" y="743"/>
                </a:lnTo>
                <a:close/>
                <a:moveTo>
                  <a:pt x="12" y="767"/>
                </a:moveTo>
                <a:lnTo>
                  <a:pt x="12" y="779"/>
                </a:lnTo>
                <a:lnTo>
                  <a:pt x="0" y="779"/>
                </a:lnTo>
                <a:lnTo>
                  <a:pt x="0" y="767"/>
                </a:lnTo>
                <a:lnTo>
                  <a:pt x="12" y="767"/>
                </a:lnTo>
                <a:close/>
                <a:moveTo>
                  <a:pt x="12" y="791"/>
                </a:moveTo>
                <a:lnTo>
                  <a:pt x="12" y="803"/>
                </a:lnTo>
                <a:lnTo>
                  <a:pt x="0" y="803"/>
                </a:lnTo>
                <a:lnTo>
                  <a:pt x="0" y="791"/>
                </a:lnTo>
                <a:lnTo>
                  <a:pt x="12" y="791"/>
                </a:lnTo>
                <a:close/>
                <a:moveTo>
                  <a:pt x="12" y="815"/>
                </a:moveTo>
                <a:lnTo>
                  <a:pt x="12" y="827"/>
                </a:lnTo>
                <a:lnTo>
                  <a:pt x="0" y="827"/>
                </a:lnTo>
                <a:lnTo>
                  <a:pt x="0" y="815"/>
                </a:lnTo>
                <a:lnTo>
                  <a:pt x="12" y="815"/>
                </a:lnTo>
                <a:close/>
                <a:moveTo>
                  <a:pt x="12" y="839"/>
                </a:moveTo>
                <a:lnTo>
                  <a:pt x="12" y="851"/>
                </a:lnTo>
                <a:lnTo>
                  <a:pt x="0" y="851"/>
                </a:lnTo>
                <a:lnTo>
                  <a:pt x="0" y="839"/>
                </a:lnTo>
                <a:lnTo>
                  <a:pt x="12" y="839"/>
                </a:lnTo>
                <a:close/>
                <a:moveTo>
                  <a:pt x="12" y="863"/>
                </a:moveTo>
                <a:lnTo>
                  <a:pt x="12" y="875"/>
                </a:lnTo>
                <a:lnTo>
                  <a:pt x="0" y="875"/>
                </a:lnTo>
                <a:lnTo>
                  <a:pt x="0" y="863"/>
                </a:lnTo>
                <a:lnTo>
                  <a:pt x="12" y="863"/>
                </a:lnTo>
                <a:close/>
                <a:moveTo>
                  <a:pt x="12" y="887"/>
                </a:moveTo>
                <a:lnTo>
                  <a:pt x="12" y="899"/>
                </a:lnTo>
                <a:lnTo>
                  <a:pt x="0" y="899"/>
                </a:lnTo>
                <a:lnTo>
                  <a:pt x="0" y="887"/>
                </a:lnTo>
                <a:lnTo>
                  <a:pt x="12" y="887"/>
                </a:lnTo>
                <a:close/>
                <a:moveTo>
                  <a:pt x="12" y="911"/>
                </a:moveTo>
                <a:lnTo>
                  <a:pt x="12" y="923"/>
                </a:lnTo>
                <a:lnTo>
                  <a:pt x="0" y="923"/>
                </a:lnTo>
                <a:lnTo>
                  <a:pt x="0" y="911"/>
                </a:lnTo>
                <a:lnTo>
                  <a:pt x="12" y="911"/>
                </a:lnTo>
                <a:close/>
                <a:moveTo>
                  <a:pt x="12" y="935"/>
                </a:moveTo>
                <a:lnTo>
                  <a:pt x="12" y="947"/>
                </a:lnTo>
                <a:lnTo>
                  <a:pt x="0" y="947"/>
                </a:lnTo>
                <a:lnTo>
                  <a:pt x="0" y="935"/>
                </a:lnTo>
                <a:lnTo>
                  <a:pt x="12" y="935"/>
                </a:lnTo>
                <a:close/>
                <a:moveTo>
                  <a:pt x="12" y="959"/>
                </a:moveTo>
                <a:lnTo>
                  <a:pt x="12" y="971"/>
                </a:lnTo>
                <a:lnTo>
                  <a:pt x="0" y="971"/>
                </a:lnTo>
                <a:lnTo>
                  <a:pt x="0" y="959"/>
                </a:lnTo>
                <a:lnTo>
                  <a:pt x="12" y="959"/>
                </a:lnTo>
                <a:close/>
                <a:moveTo>
                  <a:pt x="12" y="983"/>
                </a:moveTo>
                <a:lnTo>
                  <a:pt x="12" y="995"/>
                </a:lnTo>
                <a:lnTo>
                  <a:pt x="0" y="995"/>
                </a:lnTo>
                <a:lnTo>
                  <a:pt x="0" y="983"/>
                </a:lnTo>
                <a:lnTo>
                  <a:pt x="12" y="983"/>
                </a:lnTo>
                <a:close/>
                <a:moveTo>
                  <a:pt x="12" y="1007"/>
                </a:moveTo>
                <a:lnTo>
                  <a:pt x="12" y="1019"/>
                </a:lnTo>
                <a:lnTo>
                  <a:pt x="0" y="1019"/>
                </a:lnTo>
                <a:lnTo>
                  <a:pt x="0" y="1007"/>
                </a:lnTo>
                <a:lnTo>
                  <a:pt x="12" y="1007"/>
                </a:lnTo>
                <a:close/>
                <a:moveTo>
                  <a:pt x="12" y="1031"/>
                </a:moveTo>
                <a:lnTo>
                  <a:pt x="12" y="1043"/>
                </a:lnTo>
                <a:lnTo>
                  <a:pt x="0" y="1043"/>
                </a:lnTo>
                <a:lnTo>
                  <a:pt x="0" y="1031"/>
                </a:lnTo>
                <a:lnTo>
                  <a:pt x="12" y="1031"/>
                </a:lnTo>
                <a:close/>
                <a:moveTo>
                  <a:pt x="12" y="1055"/>
                </a:moveTo>
                <a:lnTo>
                  <a:pt x="12" y="1067"/>
                </a:lnTo>
                <a:lnTo>
                  <a:pt x="0" y="1067"/>
                </a:lnTo>
                <a:lnTo>
                  <a:pt x="0" y="1055"/>
                </a:lnTo>
                <a:lnTo>
                  <a:pt x="12" y="1055"/>
                </a:lnTo>
                <a:close/>
                <a:moveTo>
                  <a:pt x="12" y="1079"/>
                </a:moveTo>
                <a:lnTo>
                  <a:pt x="12" y="1091"/>
                </a:lnTo>
                <a:lnTo>
                  <a:pt x="0" y="1091"/>
                </a:lnTo>
                <a:lnTo>
                  <a:pt x="0" y="1079"/>
                </a:lnTo>
                <a:lnTo>
                  <a:pt x="12" y="1079"/>
                </a:lnTo>
                <a:close/>
                <a:moveTo>
                  <a:pt x="12" y="1103"/>
                </a:moveTo>
                <a:lnTo>
                  <a:pt x="12" y="1115"/>
                </a:lnTo>
                <a:lnTo>
                  <a:pt x="0" y="1115"/>
                </a:lnTo>
                <a:lnTo>
                  <a:pt x="0" y="1103"/>
                </a:lnTo>
                <a:lnTo>
                  <a:pt x="12" y="1103"/>
                </a:lnTo>
                <a:close/>
                <a:moveTo>
                  <a:pt x="12" y="1127"/>
                </a:moveTo>
                <a:lnTo>
                  <a:pt x="12" y="1139"/>
                </a:lnTo>
                <a:lnTo>
                  <a:pt x="0" y="1139"/>
                </a:lnTo>
                <a:lnTo>
                  <a:pt x="0" y="1127"/>
                </a:lnTo>
                <a:lnTo>
                  <a:pt x="12" y="1127"/>
                </a:lnTo>
                <a:close/>
                <a:moveTo>
                  <a:pt x="12" y="1151"/>
                </a:moveTo>
                <a:lnTo>
                  <a:pt x="12" y="1163"/>
                </a:lnTo>
                <a:lnTo>
                  <a:pt x="0" y="1163"/>
                </a:lnTo>
                <a:lnTo>
                  <a:pt x="0" y="1151"/>
                </a:lnTo>
                <a:lnTo>
                  <a:pt x="12" y="1151"/>
                </a:lnTo>
                <a:close/>
                <a:moveTo>
                  <a:pt x="12" y="1175"/>
                </a:moveTo>
                <a:lnTo>
                  <a:pt x="12" y="1187"/>
                </a:lnTo>
                <a:lnTo>
                  <a:pt x="0" y="1187"/>
                </a:lnTo>
                <a:lnTo>
                  <a:pt x="0" y="1175"/>
                </a:lnTo>
                <a:lnTo>
                  <a:pt x="12" y="1175"/>
                </a:lnTo>
                <a:close/>
                <a:moveTo>
                  <a:pt x="12" y="1199"/>
                </a:moveTo>
                <a:lnTo>
                  <a:pt x="12" y="1211"/>
                </a:lnTo>
                <a:lnTo>
                  <a:pt x="0" y="1211"/>
                </a:lnTo>
                <a:lnTo>
                  <a:pt x="0" y="1199"/>
                </a:lnTo>
                <a:lnTo>
                  <a:pt x="12" y="1199"/>
                </a:lnTo>
                <a:close/>
                <a:moveTo>
                  <a:pt x="12" y="1223"/>
                </a:moveTo>
                <a:lnTo>
                  <a:pt x="12" y="1235"/>
                </a:lnTo>
                <a:lnTo>
                  <a:pt x="0" y="1235"/>
                </a:lnTo>
                <a:lnTo>
                  <a:pt x="0" y="1223"/>
                </a:lnTo>
                <a:lnTo>
                  <a:pt x="12" y="1223"/>
                </a:lnTo>
                <a:close/>
                <a:moveTo>
                  <a:pt x="12" y="1247"/>
                </a:moveTo>
                <a:lnTo>
                  <a:pt x="12" y="1258"/>
                </a:lnTo>
                <a:lnTo>
                  <a:pt x="0" y="1258"/>
                </a:lnTo>
                <a:lnTo>
                  <a:pt x="0" y="1247"/>
                </a:lnTo>
                <a:lnTo>
                  <a:pt x="12" y="1247"/>
                </a:lnTo>
                <a:close/>
                <a:moveTo>
                  <a:pt x="12" y="1271"/>
                </a:moveTo>
                <a:lnTo>
                  <a:pt x="12" y="1283"/>
                </a:lnTo>
                <a:lnTo>
                  <a:pt x="0" y="1283"/>
                </a:lnTo>
                <a:lnTo>
                  <a:pt x="0" y="1271"/>
                </a:lnTo>
                <a:lnTo>
                  <a:pt x="12" y="1271"/>
                </a:lnTo>
                <a:close/>
                <a:moveTo>
                  <a:pt x="12" y="1294"/>
                </a:moveTo>
                <a:lnTo>
                  <a:pt x="12" y="1306"/>
                </a:lnTo>
                <a:lnTo>
                  <a:pt x="0" y="1306"/>
                </a:lnTo>
                <a:lnTo>
                  <a:pt x="0" y="1294"/>
                </a:lnTo>
                <a:lnTo>
                  <a:pt x="12" y="1294"/>
                </a:lnTo>
                <a:close/>
                <a:moveTo>
                  <a:pt x="12" y="1319"/>
                </a:moveTo>
                <a:lnTo>
                  <a:pt x="12" y="1330"/>
                </a:lnTo>
                <a:lnTo>
                  <a:pt x="0" y="1330"/>
                </a:lnTo>
                <a:lnTo>
                  <a:pt x="0" y="1319"/>
                </a:lnTo>
                <a:lnTo>
                  <a:pt x="12" y="1319"/>
                </a:lnTo>
                <a:close/>
                <a:moveTo>
                  <a:pt x="12" y="1342"/>
                </a:moveTo>
                <a:lnTo>
                  <a:pt x="12" y="1354"/>
                </a:lnTo>
                <a:lnTo>
                  <a:pt x="0" y="1354"/>
                </a:lnTo>
                <a:lnTo>
                  <a:pt x="0" y="1342"/>
                </a:lnTo>
                <a:lnTo>
                  <a:pt x="12" y="1342"/>
                </a:lnTo>
                <a:close/>
                <a:moveTo>
                  <a:pt x="12" y="1366"/>
                </a:moveTo>
                <a:lnTo>
                  <a:pt x="12" y="1378"/>
                </a:lnTo>
                <a:lnTo>
                  <a:pt x="0" y="1378"/>
                </a:lnTo>
                <a:lnTo>
                  <a:pt x="0" y="1366"/>
                </a:lnTo>
                <a:lnTo>
                  <a:pt x="12" y="1366"/>
                </a:lnTo>
                <a:close/>
                <a:moveTo>
                  <a:pt x="12" y="1390"/>
                </a:moveTo>
                <a:lnTo>
                  <a:pt x="12" y="1402"/>
                </a:lnTo>
                <a:lnTo>
                  <a:pt x="0" y="1402"/>
                </a:lnTo>
                <a:lnTo>
                  <a:pt x="0" y="1390"/>
                </a:lnTo>
                <a:lnTo>
                  <a:pt x="12" y="1390"/>
                </a:lnTo>
                <a:close/>
                <a:moveTo>
                  <a:pt x="12" y="1414"/>
                </a:moveTo>
                <a:lnTo>
                  <a:pt x="12" y="1426"/>
                </a:lnTo>
                <a:lnTo>
                  <a:pt x="0" y="1426"/>
                </a:lnTo>
                <a:lnTo>
                  <a:pt x="0" y="1414"/>
                </a:lnTo>
                <a:lnTo>
                  <a:pt x="12" y="1414"/>
                </a:lnTo>
                <a:close/>
                <a:moveTo>
                  <a:pt x="12" y="1438"/>
                </a:moveTo>
                <a:lnTo>
                  <a:pt x="12" y="1450"/>
                </a:lnTo>
                <a:lnTo>
                  <a:pt x="0" y="1450"/>
                </a:lnTo>
                <a:lnTo>
                  <a:pt x="0" y="1438"/>
                </a:lnTo>
                <a:lnTo>
                  <a:pt x="12" y="1438"/>
                </a:lnTo>
                <a:close/>
                <a:moveTo>
                  <a:pt x="12" y="1462"/>
                </a:moveTo>
                <a:lnTo>
                  <a:pt x="12" y="1474"/>
                </a:lnTo>
                <a:lnTo>
                  <a:pt x="0" y="1474"/>
                </a:lnTo>
                <a:lnTo>
                  <a:pt x="0" y="1462"/>
                </a:lnTo>
                <a:lnTo>
                  <a:pt x="12" y="1462"/>
                </a:lnTo>
                <a:close/>
                <a:moveTo>
                  <a:pt x="12" y="1486"/>
                </a:moveTo>
                <a:lnTo>
                  <a:pt x="12" y="1498"/>
                </a:lnTo>
                <a:lnTo>
                  <a:pt x="0" y="1498"/>
                </a:lnTo>
                <a:lnTo>
                  <a:pt x="0" y="1486"/>
                </a:lnTo>
                <a:lnTo>
                  <a:pt x="12" y="1486"/>
                </a:lnTo>
                <a:close/>
                <a:moveTo>
                  <a:pt x="12" y="1510"/>
                </a:moveTo>
                <a:lnTo>
                  <a:pt x="12" y="1522"/>
                </a:lnTo>
                <a:lnTo>
                  <a:pt x="0" y="1522"/>
                </a:lnTo>
                <a:lnTo>
                  <a:pt x="0" y="1510"/>
                </a:lnTo>
                <a:lnTo>
                  <a:pt x="12" y="1510"/>
                </a:lnTo>
                <a:close/>
                <a:moveTo>
                  <a:pt x="12" y="1534"/>
                </a:moveTo>
                <a:lnTo>
                  <a:pt x="12" y="1546"/>
                </a:lnTo>
                <a:lnTo>
                  <a:pt x="0" y="1546"/>
                </a:lnTo>
                <a:lnTo>
                  <a:pt x="0" y="1534"/>
                </a:lnTo>
                <a:lnTo>
                  <a:pt x="12" y="1534"/>
                </a:lnTo>
                <a:close/>
                <a:moveTo>
                  <a:pt x="12" y="1558"/>
                </a:moveTo>
                <a:lnTo>
                  <a:pt x="12" y="1570"/>
                </a:lnTo>
                <a:lnTo>
                  <a:pt x="0" y="1570"/>
                </a:lnTo>
                <a:lnTo>
                  <a:pt x="0" y="1558"/>
                </a:lnTo>
                <a:lnTo>
                  <a:pt x="12" y="1558"/>
                </a:lnTo>
                <a:close/>
                <a:moveTo>
                  <a:pt x="12" y="1582"/>
                </a:moveTo>
                <a:lnTo>
                  <a:pt x="12" y="1594"/>
                </a:lnTo>
                <a:lnTo>
                  <a:pt x="0" y="1594"/>
                </a:lnTo>
                <a:lnTo>
                  <a:pt x="0" y="1582"/>
                </a:lnTo>
                <a:lnTo>
                  <a:pt x="12" y="1582"/>
                </a:lnTo>
                <a:close/>
                <a:moveTo>
                  <a:pt x="12" y="1606"/>
                </a:moveTo>
                <a:lnTo>
                  <a:pt x="12" y="1618"/>
                </a:lnTo>
                <a:lnTo>
                  <a:pt x="0" y="1618"/>
                </a:lnTo>
                <a:lnTo>
                  <a:pt x="0" y="1606"/>
                </a:lnTo>
                <a:lnTo>
                  <a:pt x="12" y="1606"/>
                </a:lnTo>
                <a:close/>
                <a:moveTo>
                  <a:pt x="12" y="1630"/>
                </a:moveTo>
                <a:lnTo>
                  <a:pt x="12" y="1642"/>
                </a:lnTo>
                <a:lnTo>
                  <a:pt x="0" y="1642"/>
                </a:lnTo>
                <a:lnTo>
                  <a:pt x="0" y="1630"/>
                </a:lnTo>
                <a:lnTo>
                  <a:pt x="12" y="1630"/>
                </a:lnTo>
                <a:close/>
                <a:moveTo>
                  <a:pt x="12" y="1654"/>
                </a:moveTo>
                <a:lnTo>
                  <a:pt x="12" y="1666"/>
                </a:lnTo>
                <a:lnTo>
                  <a:pt x="0" y="1666"/>
                </a:lnTo>
                <a:lnTo>
                  <a:pt x="0" y="1654"/>
                </a:lnTo>
                <a:lnTo>
                  <a:pt x="12" y="1654"/>
                </a:lnTo>
                <a:close/>
                <a:moveTo>
                  <a:pt x="12" y="1678"/>
                </a:moveTo>
                <a:lnTo>
                  <a:pt x="12" y="1690"/>
                </a:lnTo>
                <a:lnTo>
                  <a:pt x="0" y="1690"/>
                </a:lnTo>
                <a:lnTo>
                  <a:pt x="0" y="1678"/>
                </a:lnTo>
                <a:lnTo>
                  <a:pt x="12" y="1678"/>
                </a:lnTo>
                <a:close/>
                <a:moveTo>
                  <a:pt x="12" y="1702"/>
                </a:moveTo>
                <a:lnTo>
                  <a:pt x="12" y="1714"/>
                </a:lnTo>
                <a:lnTo>
                  <a:pt x="0" y="1714"/>
                </a:lnTo>
                <a:lnTo>
                  <a:pt x="0" y="1702"/>
                </a:lnTo>
                <a:lnTo>
                  <a:pt x="12" y="1702"/>
                </a:lnTo>
                <a:close/>
                <a:moveTo>
                  <a:pt x="12" y="1726"/>
                </a:moveTo>
                <a:lnTo>
                  <a:pt x="12" y="1738"/>
                </a:lnTo>
                <a:lnTo>
                  <a:pt x="0" y="1738"/>
                </a:lnTo>
                <a:lnTo>
                  <a:pt x="0" y="1726"/>
                </a:lnTo>
                <a:lnTo>
                  <a:pt x="12" y="1726"/>
                </a:lnTo>
                <a:close/>
                <a:moveTo>
                  <a:pt x="12" y="1750"/>
                </a:moveTo>
                <a:lnTo>
                  <a:pt x="12" y="1762"/>
                </a:lnTo>
                <a:lnTo>
                  <a:pt x="0" y="1762"/>
                </a:lnTo>
                <a:lnTo>
                  <a:pt x="0" y="1750"/>
                </a:lnTo>
                <a:lnTo>
                  <a:pt x="12" y="1750"/>
                </a:lnTo>
                <a:close/>
                <a:moveTo>
                  <a:pt x="12" y="1774"/>
                </a:moveTo>
                <a:lnTo>
                  <a:pt x="12" y="1786"/>
                </a:lnTo>
                <a:lnTo>
                  <a:pt x="0" y="1786"/>
                </a:lnTo>
                <a:lnTo>
                  <a:pt x="0" y="1774"/>
                </a:lnTo>
                <a:lnTo>
                  <a:pt x="12" y="1774"/>
                </a:lnTo>
                <a:close/>
                <a:moveTo>
                  <a:pt x="12" y="1798"/>
                </a:moveTo>
                <a:lnTo>
                  <a:pt x="12" y="1810"/>
                </a:lnTo>
                <a:lnTo>
                  <a:pt x="0" y="1810"/>
                </a:lnTo>
                <a:lnTo>
                  <a:pt x="0" y="1798"/>
                </a:lnTo>
                <a:lnTo>
                  <a:pt x="12" y="1798"/>
                </a:lnTo>
                <a:close/>
                <a:moveTo>
                  <a:pt x="12" y="1822"/>
                </a:moveTo>
                <a:lnTo>
                  <a:pt x="12" y="1834"/>
                </a:lnTo>
                <a:lnTo>
                  <a:pt x="0" y="1834"/>
                </a:lnTo>
                <a:lnTo>
                  <a:pt x="0" y="1822"/>
                </a:lnTo>
                <a:lnTo>
                  <a:pt x="12" y="1822"/>
                </a:lnTo>
                <a:close/>
                <a:moveTo>
                  <a:pt x="12" y="1846"/>
                </a:moveTo>
                <a:lnTo>
                  <a:pt x="12" y="1858"/>
                </a:lnTo>
                <a:lnTo>
                  <a:pt x="0" y="1858"/>
                </a:lnTo>
                <a:lnTo>
                  <a:pt x="0" y="1846"/>
                </a:lnTo>
                <a:lnTo>
                  <a:pt x="12" y="1846"/>
                </a:lnTo>
                <a:close/>
                <a:moveTo>
                  <a:pt x="12" y="1870"/>
                </a:moveTo>
                <a:lnTo>
                  <a:pt x="12" y="1882"/>
                </a:lnTo>
                <a:lnTo>
                  <a:pt x="0" y="1882"/>
                </a:lnTo>
                <a:lnTo>
                  <a:pt x="0" y="1870"/>
                </a:lnTo>
                <a:lnTo>
                  <a:pt x="12" y="1870"/>
                </a:lnTo>
                <a:close/>
                <a:moveTo>
                  <a:pt x="12" y="1894"/>
                </a:moveTo>
                <a:lnTo>
                  <a:pt x="12" y="1905"/>
                </a:lnTo>
                <a:lnTo>
                  <a:pt x="0" y="1905"/>
                </a:lnTo>
                <a:lnTo>
                  <a:pt x="0" y="1894"/>
                </a:lnTo>
                <a:lnTo>
                  <a:pt x="12" y="1894"/>
                </a:lnTo>
                <a:close/>
                <a:moveTo>
                  <a:pt x="12" y="1918"/>
                </a:moveTo>
                <a:lnTo>
                  <a:pt x="12" y="1930"/>
                </a:lnTo>
                <a:lnTo>
                  <a:pt x="0" y="1930"/>
                </a:lnTo>
                <a:lnTo>
                  <a:pt x="0" y="1918"/>
                </a:lnTo>
                <a:lnTo>
                  <a:pt x="12" y="1918"/>
                </a:lnTo>
                <a:close/>
                <a:moveTo>
                  <a:pt x="12" y="1941"/>
                </a:moveTo>
                <a:lnTo>
                  <a:pt x="12" y="1953"/>
                </a:lnTo>
                <a:lnTo>
                  <a:pt x="0" y="1953"/>
                </a:lnTo>
                <a:lnTo>
                  <a:pt x="0" y="1941"/>
                </a:lnTo>
                <a:lnTo>
                  <a:pt x="12" y="1941"/>
                </a:lnTo>
                <a:close/>
                <a:moveTo>
                  <a:pt x="12" y="1966"/>
                </a:moveTo>
                <a:lnTo>
                  <a:pt x="12" y="1977"/>
                </a:lnTo>
                <a:lnTo>
                  <a:pt x="0" y="1977"/>
                </a:lnTo>
                <a:lnTo>
                  <a:pt x="0" y="1966"/>
                </a:lnTo>
                <a:lnTo>
                  <a:pt x="12" y="1966"/>
                </a:lnTo>
                <a:close/>
                <a:moveTo>
                  <a:pt x="12" y="1989"/>
                </a:moveTo>
                <a:lnTo>
                  <a:pt x="12" y="2002"/>
                </a:lnTo>
                <a:lnTo>
                  <a:pt x="0" y="2002"/>
                </a:lnTo>
                <a:lnTo>
                  <a:pt x="0" y="1989"/>
                </a:lnTo>
                <a:lnTo>
                  <a:pt x="12" y="1989"/>
                </a:lnTo>
                <a:close/>
                <a:moveTo>
                  <a:pt x="12" y="2013"/>
                </a:moveTo>
                <a:lnTo>
                  <a:pt x="12" y="2025"/>
                </a:lnTo>
                <a:lnTo>
                  <a:pt x="0" y="2025"/>
                </a:lnTo>
                <a:lnTo>
                  <a:pt x="0" y="2013"/>
                </a:lnTo>
                <a:lnTo>
                  <a:pt x="12" y="2013"/>
                </a:lnTo>
                <a:close/>
                <a:moveTo>
                  <a:pt x="12" y="2037"/>
                </a:moveTo>
                <a:lnTo>
                  <a:pt x="12" y="2049"/>
                </a:lnTo>
                <a:lnTo>
                  <a:pt x="0" y="2049"/>
                </a:lnTo>
                <a:lnTo>
                  <a:pt x="0" y="2037"/>
                </a:lnTo>
                <a:lnTo>
                  <a:pt x="12" y="2037"/>
                </a:lnTo>
                <a:close/>
                <a:moveTo>
                  <a:pt x="12" y="2061"/>
                </a:moveTo>
                <a:lnTo>
                  <a:pt x="12" y="2073"/>
                </a:lnTo>
                <a:lnTo>
                  <a:pt x="0" y="2073"/>
                </a:lnTo>
                <a:lnTo>
                  <a:pt x="0" y="2061"/>
                </a:lnTo>
                <a:lnTo>
                  <a:pt x="12" y="2061"/>
                </a:lnTo>
                <a:close/>
                <a:moveTo>
                  <a:pt x="12" y="2085"/>
                </a:moveTo>
                <a:lnTo>
                  <a:pt x="12" y="2097"/>
                </a:lnTo>
                <a:lnTo>
                  <a:pt x="0" y="2097"/>
                </a:lnTo>
                <a:lnTo>
                  <a:pt x="0" y="2085"/>
                </a:lnTo>
                <a:lnTo>
                  <a:pt x="12" y="2085"/>
                </a:lnTo>
                <a:close/>
                <a:moveTo>
                  <a:pt x="12" y="2109"/>
                </a:moveTo>
                <a:lnTo>
                  <a:pt x="12" y="2121"/>
                </a:lnTo>
                <a:lnTo>
                  <a:pt x="0" y="2121"/>
                </a:lnTo>
                <a:lnTo>
                  <a:pt x="0" y="2109"/>
                </a:lnTo>
                <a:lnTo>
                  <a:pt x="12" y="2109"/>
                </a:lnTo>
                <a:close/>
                <a:moveTo>
                  <a:pt x="12" y="2133"/>
                </a:moveTo>
                <a:lnTo>
                  <a:pt x="12" y="2145"/>
                </a:lnTo>
                <a:lnTo>
                  <a:pt x="0" y="2145"/>
                </a:lnTo>
                <a:lnTo>
                  <a:pt x="0" y="2133"/>
                </a:lnTo>
                <a:lnTo>
                  <a:pt x="12" y="2133"/>
                </a:lnTo>
                <a:close/>
                <a:moveTo>
                  <a:pt x="12" y="2157"/>
                </a:moveTo>
                <a:lnTo>
                  <a:pt x="12" y="2169"/>
                </a:lnTo>
                <a:lnTo>
                  <a:pt x="0" y="2169"/>
                </a:lnTo>
                <a:lnTo>
                  <a:pt x="0" y="2157"/>
                </a:lnTo>
                <a:lnTo>
                  <a:pt x="12" y="2157"/>
                </a:lnTo>
                <a:close/>
                <a:moveTo>
                  <a:pt x="12" y="2181"/>
                </a:moveTo>
                <a:lnTo>
                  <a:pt x="12" y="2193"/>
                </a:lnTo>
                <a:lnTo>
                  <a:pt x="0" y="2193"/>
                </a:lnTo>
                <a:lnTo>
                  <a:pt x="0" y="2181"/>
                </a:lnTo>
                <a:lnTo>
                  <a:pt x="12" y="2181"/>
                </a:lnTo>
                <a:close/>
                <a:moveTo>
                  <a:pt x="12" y="2205"/>
                </a:moveTo>
                <a:lnTo>
                  <a:pt x="12" y="2217"/>
                </a:lnTo>
                <a:lnTo>
                  <a:pt x="0" y="2217"/>
                </a:lnTo>
                <a:lnTo>
                  <a:pt x="0" y="2205"/>
                </a:lnTo>
                <a:lnTo>
                  <a:pt x="12" y="2205"/>
                </a:lnTo>
                <a:close/>
                <a:moveTo>
                  <a:pt x="12" y="2229"/>
                </a:moveTo>
                <a:lnTo>
                  <a:pt x="12" y="2241"/>
                </a:lnTo>
                <a:lnTo>
                  <a:pt x="0" y="2241"/>
                </a:lnTo>
                <a:lnTo>
                  <a:pt x="0" y="2229"/>
                </a:lnTo>
                <a:lnTo>
                  <a:pt x="12" y="2229"/>
                </a:lnTo>
                <a:close/>
                <a:moveTo>
                  <a:pt x="12" y="2253"/>
                </a:moveTo>
                <a:lnTo>
                  <a:pt x="12" y="2265"/>
                </a:lnTo>
                <a:lnTo>
                  <a:pt x="0" y="2265"/>
                </a:lnTo>
                <a:lnTo>
                  <a:pt x="0" y="2253"/>
                </a:lnTo>
                <a:lnTo>
                  <a:pt x="12" y="2253"/>
                </a:lnTo>
                <a:close/>
                <a:moveTo>
                  <a:pt x="12" y="2277"/>
                </a:moveTo>
                <a:lnTo>
                  <a:pt x="12" y="2289"/>
                </a:lnTo>
                <a:lnTo>
                  <a:pt x="0" y="2289"/>
                </a:lnTo>
                <a:lnTo>
                  <a:pt x="0" y="2277"/>
                </a:lnTo>
                <a:lnTo>
                  <a:pt x="12" y="2277"/>
                </a:lnTo>
                <a:close/>
                <a:moveTo>
                  <a:pt x="12" y="2301"/>
                </a:moveTo>
                <a:lnTo>
                  <a:pt x="12" y="2313"/>
                </a:lnTo>
                <a:lnTo>
                  <a:pt x="0" y="2313"/>
                </a:lnTo>
                <a:lnTo>
                  <a:pt x="0" y="2301"/>
                </a:lnTo>
                <a:lnTo>
                  <a:pt x="12" y="2301"/>
                </a:lnTo>
                <a:close/>
                <a:moveTo>
                  <a:pt x="12" y="2325"/>
                </a:moveTo>
                <a:lnTo>
                  <a:pt x="12" y="2337"/>
                </a:lnTo>
                <a:lnTo>
                  <a:pt x="0" y="2337"/>
                </a:lnTo>
                <a:lnTo>
                  <a:pt x="0" y="2325"/>
                </a:lnTo>
                <a:lnTo>
                  <a:pt x="12" y="2325"/>
                </a:lnTo>
                <a:close/>
                <a:moveTo>
                  <a:pt x="12" y="2349"/>
                </a:moveTo>
                <a:lnTo>
                  <a:pt x="12" y="2361"/>
                </a:lnTo>
                <a:lnTo>
                  <a:pt x="0" y="2361"/>
                </a:lnTo>
                <a:lnTo>
                  <a:pt x="0" y="2349"/>
                </a:lnTo>
                <a:lnTo>
                  <a:pt x="12" y="2349"/>
                </a:lnTo>
                <a:close/>
                <a:moveTo>
                  <a:pt x="12" y="2373"/>
                </a:moveTo>
                <a:lnTo>
                  <a:pt x="12" y="2385"/>
                </a:lnTo>
                <a:lnTo>
                  <a:pt x="0" y="2385"/>
                </a:lnTo>
                <a:lnTo>
                  <a:pt x="0" y="2373"/>
                </a:lnTo>
                <a:lnTo>
                  <a:pt x="12" y="2373"/>
                </a:lnTo>
                <a:close/>
                <a:moveTo>
                  <a:pt x="12" y="2397"/>
                </a:moveTo>
                <a:lnTo>
                  <a:pt x="12" y="2409"/>
                </a:lnTo>
                <a:lnTo>
                  <a:pt x="0" y="2409"/>
                </a:lnTo>
                <a:lnTo>
                  <a:pt x="0" y="2397"/>
                </a:lnTo>
                <a:lnTo>
                  <a:pt x="12" y="2397"/>
                </a:lnTo>
                <a:close/>
                <a:moveTo>
                  <a:pt x="12" y="2421"/>
                </a:moveTo>
                <a:lnTo>
                  <a:pt x="12" y="2433"/>
                </a:lnTo>
                <a:lnTo>
                  <a:pt x="0" y="2433"/>
                </a:lnTo>
                <a:lnTo>
                  <a:pt x="0" y="2421"/>
                </a:lnTo>
                <a:lnTo>
                  <a:pt x="12" y="2421"/>
                </a:lnTo>
                <a:close/>
                <a:moveTo>
                  <a:pt x="12" y="2445"/>
                </a:moveTo>
                <a:lnTo>
                  <a:pt x="12" y="2457"/>
                </a:lnTo>
                <a:lnTo>
                  <a:pt x="0" y="2457"/>
                </a:lnTo>
                <a:lnTo>
                  <a:pt x="0" y="2445"/>
                </a:lnTo>
                <a:lnTo>
                  <a:pt x="12" y="2445"/>
                </a:lnTo>
                <a:close/>
                <a:moveTo>
                  <a:pt x="12" y="2469"/>
                </a:moveTo>
                <a:lnTo>
                  <a:pt x="12" y="2481"/>
                </a:lnTo>
                <a:lnTo>
                  <a:pt x="0" y="2481"/>
                </a:lnTo>
                <a:lnTo>
                  <a:pt x="0" y="2469"/>
                </a:lnTo>
                <a:lnTo>
                  <a:pt x="12" y="2469"/>
                </a:lnTo>
                <a:close/>
                <a:moveTo>
                  <a:pt x="12" y="2493"/>
                </a:moveTo>
                <a:lnTo>
                  <a:pt x="12" y="2505"/>
                </a:lnTo>
                <a:lnTo>
                  <a:pt x="0" y="2505"/>
                </a:lnTo>
                <a:lnTo>
                  <a:pt x="0" y="2493"/>
                </a:lnTo>
                <a:lnTo>
                  <a:pt x="12" y="2493"/>
                </a:lnTo>
                <a:close/>
                <a:moveTo>
                  <a:pt x="12" y="2517"/>
                </a:moveTo>
                <a:lnTo>
                  <a:pt x="12" y="2529"/>
                </a:lnTo>
                <a:lnTo>
                  <a:pt x="0" y="2529"/>
                </a:lnTo>
                <a:lnTo>
                  <a:pt x="0" y="2517"/>
                </a:lnTo>
                <a:lnTo>
                  <a:pt x="12" y="2517"/>
                </a:lnTo>
                <a:close/>
                <a:moveTo>
                  <a:pt x="12" y="2541"/>
                </a:moveTo>
                <a:lnTo>
                  <a:pt x="12" y="2553"/>
                </a:lnTo>
                <a:lnTo>
                  <a:pt x="0" y="2553"/>
                </a:lnTo>
                <a:lnTo>
                  <a:pt x="0" y="2541"/>
                </a:lnTo>
                <a:lnTo>
                  <a:pt x="12" y="2541"/>
                </a:lnTo>
                <a:close/>
              </a:path>
            </a:pathLst>
          </a:custGeom>
          <a:solidFill>
            <a:srgbClr val="000000"/>
          </a:solidFill>
          <a:ln w="0" cap="flat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140" name="Freeform 137">
            <a:extLst>
              <a:ext uri="{FF2B5EF4-FFF2-40B4-BE49-F238E27FC236}">
                <a16:creationId xmlns:a16="http://schemas.microsoft.com/office/drawing/2014/main" id="{9EF7FF5E-41AF-445D-BA61-48C6743AA7B7}"/>
              </a:ext>
            </a:extLst>
          </p:cNvPr>
          <p:cNvSpPr>
            <a:spLocks noEditPoints="1"/>
          </p:cNvSpPr>
          <p:nvPr/>
        </p:nvSpPr>
        <p:spPr bwMode="auto">
          <a:xfrm>
            <a:off x="5754688" y="2289175"/>
            <a:ext cx="18000" cy="4032000"/>
          </a:xfrm>
          <a:custGeom>
            <a:avLst/>
            <a:gdLst>
              <a:gd name="T0" fmla="*/ 0 w 12"/>
              <a:gd name="T1" fmla="*/ 24 h 2553"/>
              <a:gd name="T2" fmla="*/ 0 w 12"/>
              <a:gd name="T3" fmla="*/ 84 h 2553"/>
              <a:gd name="T4" fmla="*/ 12 w 12"/>
              <a:gd name="T5" fmla="*/ 132 h 2553"/>
              <a:gd name="T6" fmla="*/ 12 w 12"/>
              <a:gd name="T7" fmla="*/ 168 h 2553"/>
              <a:gd name="T8" fmla="*/ 12 w 12"/>
              <a:gd name="T9" fmla="*/ 192 h 2553"/>
              <a:gd name="T10" fmla="*/ 0 w 12"/>
              <a:gd name="T11" fmla="*/ 240 h 2553"/>
              <a:gd name="T12" fmla="*/ 0 w 12"/>
              <a:gd name="T13" fmla="*/ 300 h 2553"/>
              <a:gd name="T14" fmla="*/ 12 w 12"/>
              <a:gd name="T15" fmla="*/ 348 h 2553"/>
              <a:gd name="T16" fmla="*/ 12 w 12"/>
              <a:gd name="T17" fmla="*/ 384 h 2553"/>
              <a:gd name="T18" fmla="*/ 12 w 12"/>
              <a:gd name="T19" fmla="*/ 408 h 2553"/>
              <a:gd name="T20" fmla="*/ 0 w 12"/>
              <a:gd name="T21" fmla="*/ 456 h 2553"/>
              <a:gd name="T22" fmla="*/ 0 w 12"/>
              <a:gd name="T23" fmla="*/ 516 h 2553"/>
              <a:gd name="T24" fmla="*/ 12 w 12"/>
              <a:gd name="T25" fmla="*/ 564 h 2553"/>
              <a:gd name="T26" fmla="*/ 12 w 12"/>
              <a:gd name="T27" fmla="*/ 600 h 2553"/>
              <a:gd name="T28" fmla="*/ 12 w 12"/>
              <a:gd name="T29" fmla="*/ 623 h 2553"/>
              <a:gd name="T30" fmla="*/ 0 w 12"/>
              <a:gd name="T31" fmla="*/ 672 h 2553"/>
              <a:gd name="T32" fmla="*/ 0 w 12"/>
              <a:gd name="T33" fmla="*/ 731 h 2553"/>
              <a:gd name="T34" fmla="*/ 12 w 12"/>
              <a:gd name="T35" fmla="*/ 779 h 2553"/>
              <a:gd name="T36" fmla="*/ 12 w 12"/>
              <a:gd name="T37" fmla="*/ 815 h 2553"/>
              <a:gd name="T38" fmla="*/ 12 w 12"/>
              <a:gd name="T39" fmla="*/ 839 h 2553"/>
              <a:gd name="T40" fmla="*/ 0 w 12"/>
              <a:gd name="T41" fmla="*/ 887 h 2553"/>
              <a:gd name="T42" fmla="*/ 0 w 12"/>
              <a:gd name="T43" fmla="*/ 947 h 2553"/>
              <a:gd name="T44" fmla="*/ 12 w 12"/>
              <a:gd name="T45" fmla="*/ 995 h 2553"/>
              <a:gd name="T46" fmla="*/ 12 w 12"/>
              <a:gd name="T47" fmla="*/ 1031 h 2553"/>
              <a:gd name="T48" fmla="*/ 12 w 12"/>
              <a:gd name="T49" fmla="*/ 1055 h 2553"/>
              <a:gd name="T50" fmla="*/ 0 w 12"/>
              <a:gd name="T51" fmla="*/ 1103 h 2553"/>
              <a:gd name="T52" fmla="*/ 0 w 12"/>
              <a:gd name="T53" fmla="*/ 1163 h 2553"/>
              <a:gd name="T54" fmla="*/ 12 w 12"/>
              <a:gd name="T55" fmla="*/ 1211 h 2553"/>
              <a:gd name="T56" fmla="*/ 12 w 12"/>
              <a:gd name="T57" fmla="*/ 1247 h 2553"/>
              <a:gd name="T58" fmla="*/ 12 w 12"/>
              <a:gd name="T59" fmla="*/ 1271 h 2553"/>
              <a:gd name="T60" fmla="*/ 0 w 12"/>
              <a:gd name="T61" fmla="*/ 1319 h 2553"/>
              <a:gd name="T62" fmla="*/ 0 w 12"/>
              <a:gd name="T63" fmla="*/ 1378 h 2553"/>
              <a:gd name="T64" fmla="*/ 12 w 12"/>
              <a:gd name="T65" fmla="*/ 1426 h 2553"/>
              <a:gd name="T66" fmla="*/ 12 w 12"/>
              <a:gd name="T67" fmla="*/ 1462 h 2553"/>
              <a:gd name="T68" fmla="*/ 12 w 12"/>
              <a:gd name="T69" fmla="*/ 1486 h 2553"/>
              <a:gd name="T70" fmla="*/ 0 w 12"/>
              <a:gd name="T71" fmla="*/ 1534 h 2553"/>
              <a:gd name="T72" fmla="*/ 0 w 12"/>
              <a:gd name="T73" fmla="*/ 1594 h 2553"/>
              <a:gd name="T74" fmla="*/ 12 w 12"/>
              <a:gd name="T75" fmla="*/ 1642 h 2553"/>
              <a:gd name="T76" fmla="*/ 12 w 12"/>
              <a:gd name="T77" fmla="*/ 1678 h 2553"/>
              <a:gd name="T78" fmla="*/ 12 w 12"/>
              <a:gd name="T79" fmla="*/ 1702 h 2553"/>
              <a:gd name="T80" fmla="*/ 0 w 12"/>
              <a:gd name="T81" fmla="*/ 1750 h 2553"/>
              <a:gd name="T82" fmla="*/ 0 w 12"/>
              <a:gd name="T83" fmla="*/ 1810 h 2553"/>
              <a:gd name="T84" fmla="*/ 12 w 12"/>
              <a:gd name="T85" fmla="*/ 1858 h 2553"/>
              <a:gd name="T86" fmla="*/ 12 w 12"/>
              <a:gd name="T87" fmla="*/ 1894 h 2553"/>
              <a:gd name="T88" fmla="*/ 12 w 12"/>
              <a:gd name="T89" fmla="*/ 1918 h 2553"/>
              <a:gd name="T90" fmla="*/ 0 w 12"/>
              <a:gd name="T91" fmla="*/ 1966 h 2553"/>
              <a:gd name="T92" fmla="*/ 0 w 12"/>
              <a:gd name="T93" fmla="*/ 2025 h 2553"/>
              <a:gd name="T94" fmla="*/ 12 w 12"/>
              <a:gd name="T95" fmla="*/ 2073 h 2553"/>
              <a:gd name="T96" fmla="*/ 12 w 12"/>
              <a:gd name="T97" fmla="*/ 2109 h 2553"/>
              <a:gd name="T98" fmla="*/ 12 w 12"/>
              <a:gd name="T99" fmla="*/ 2133 h 2553"/>
              <a:gd name="T100" fmla="*/ 0 w 12"/>
              <a:gd name="T101" fmla="*/ 2181 h 2553"/>
              <a:gd name="T102" fmla="*/ 0 w 12"/>
              <a:gd name="T103" fmla="*/ 2241 h 2553"/>
              <a:gd name="T104" fmla="*/ 12 w 12"/>
              <a:gd name="T105" fmla="*/ 2289 h 2553"/>
              <a:gd name="T106" fmla="*/ 12 w 12"/>
              <a:gd name="T107" fmla="*/ 2325 h 2553"/>
              <a:gd name="T108" fmla="*/ 12 w 12"/>
              <a:gd name="T109" fmla="*/ 2349 h 2553"/>
              <a:gd name="T110" fmla="*/ 0 w 12"/>
              <a:gd name="T111" fmla="*/ 2397 h 2553"/>
              <a:gd name="T112" fmla="*/ 0 w 12"/>
              <a:gd name="T113" fmla="*/ 2457 h 2553"/>
              <a:gd name="T114" fmla="*/ 12 w 12"/>
              <a:gd name="T115" fmla="*/ 2505 h 2553"/>
              <a:gd name="T116" fmla="*/ 12 w 12"/>
              <a:gd name="T117" fmla="*/ 2541 h 25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12" h="2553">
                <a:moveTo>
                  <a:pt x="12" y="0"/>
                </a:moveTo>
                <a:lnTo>
                  <a:pt x="12" y="12"/>
                </a:lnTo>
                <a:lnTo>
                  <a:pt x="0" y="12"/>
                </a:lnTo>
                <a:lnTo>
                  <a:pt x="0" y="0"/>
                </a:lnTo>
                <a:lnTo>
                  <a:pt x="12" y="0"/>
                </a:lnTo>
                <a:close/>
                <a:moveTo>
                  <a:pt x="12" y="24"/>
                </a:moveTo>
                <a:lnTo>
                  <a:pt x="12" y="36"/>
                </a:lnTo>
                <a:lnTo>
                  <a:pt x="0" y="36"/>
                </a:lnTo>
                <a:lnTo>
                  <a:pt x="0" y="24"/>
                </a:lnTo>
                <a:lnTo>
                  <a:pt x="12" y="24"/>
                </a:lnTo>
                <a:close/>
                <a:moveTo>
                  <a:pt x="12" y="48"/>
                </a:moveTo>
                <a:lnTo>
                  <a:pt x="12" y="60"/>
                </a:lnTo>
                <a:lnTo>
                  <a:pt x="0" y="60"/>
                </a:lnTo>
                <a:lnTo>
                  <a:pt x="0" y="48"/>
                </a:lnTo>
                <a:lnTo>
                  <a:pt x="12" y="48"/>
                </a:lnTo>
                <a:close/>
                <a:moveTo>
                  <a:pt x="12" y="72"/>
                </a:moveTo>
                <a:lnTo>
                  <a:pt x="12" y="84"/>
                </a:lnTo>
                <a:lnTo>
                  <a:pt x="0" y="84"/>
                </a:lnTo>
                <a:lnTo>
                  <a:pt x="0" y="72"/>
                </a:lnTo>
                <a:lnTo>
                  <a:pt x="12" y="72"/>
                </a:lnTo>
                <a:close/>
                <a:moveTo>
                  <a:pt x="12" y="96"/>
                </a:moveTo>
                <a:lnTo>
                  <a:pt x="12" y="108"/>
                </a:lnTo>
                <a:lnTo>
                  <a:pt x="0" y="108"/>
                </a:lnTo>
                <a:lnTo>
                  <a:pt x="0" y="96"/>
                </a:lnTo>
                <a:lnTo>
                  <a:pt x="12" y="96"/>
                </a:lnTo>
                <a:close/>
                <a:moveTo>
                  <a:pt x="12" y="120"/>
                </a:moveTo>
                <a:lnTo>
                  <a:pt x="12" y="132"/>
                </a:lnTo>
                <a:lnTo>
                  <a:pt x="0" y="132"/>
                </a:lnTo>
                <a:lnTo>
                  <a:pt x="0" y="120"/>
                </a:lnTo>
                <a:lnTo>
                  <a:pt x="12" y="120"/>
                </a:lnTo>
                <a:close/>
                <a:moveTo>
                  <a:pt x="12" y="144"/>
                </a:moveTo>
                <a:lnTo>
                  <a:pt x="12" y="156"/>
                </a:lnTo>
                <a:lnTo>
                  <a:pt x="0" y="156"/>
                </a:lnTo>
                <a:lnTo>
                  <a:pt x="0" y="144"/>
                </a:lnTo>
                <a:lnTo>
                  <a:pt x="12" y="144"/>
                </a:lnTo>
                <a:close/>
                <a:moveTo>
                  <a:pt x="12" y="168"/>
                </a:moveTo>
                <a:lnTo>
                  <a:pt x="12" y="180"/>
                </a:lnTo>
                <a:lnTo>
                  <a:pt x="0" y="180"/>
                </a:lnTo>
                <a:lnTo>
                  <a:pt x="0" y="168"/>
                </a:lnTo>
                <a:lnTo>
                  <a:pt x="12" y="168"/>
                </a:lnTo>
                <a:close/>
                <a:moveTo>
                  <a:pt x="12" y="192"/>
                </a:moveTo>
                <a:lnTo>
                  <a:pt x="12" y="204"/>
                </a:lnTo>
                <a:lnTo>
                  <a:pt x="0" y="204"/>
                </a:lnTo>
                <a:lnTo>
                  <a:pt x="0" y="192"/>
                </a:lnTo>
                <a:lnTo>
                  <a:pt x="12" y="192"/>
                </a:lnTo>
                <a:close/>
                <a:moveTo>
                  <a:pt x="12" y="216"/>
                </a:moveTo>
                <a:lnTo>
                  <a:pt x="12" y="228"/>
                </a:lnTo>
                <a:lnTo>
                  <a:pt x="0" y="228"/>
                </a:lnTo>
                <a:lnTo>
                  <a:pt x="0" y="216"/>
                </a:lnTo>
                <a:lnTo>
                  <a:pt x="12" y="216"/>
                </a:lnTo>
                <a:close/>
                <a:moveTo>
                  <a:pt x="12" y="240"/>
                </a:moveTo>
                <a:lnTo>
                  <a:pt x="12" y="252"/>
                </a:lnTo>
                <a:lnTo>
                  <a:pt x="0" y="252"/>
                </a:lnTo>
                <a:lnTo>
                  <a:pt x="0" y="240"/>
                </a:lnTo>
                <a:lnTo>
                  <a:pt x="12" y="240"/>
                </a:lnTo>
                <a:close/>
                <a:moveTo>
                  <a:pt x="12" y="264"/>
                </a:moveTo>
                <a:lnTo>
                  <a:pt x="12" y="276"/>
                </a:lnTo>
                <a:lnTo>
                  <a:pt x="0" y="276"/>
                </a:lnTo>
                <a:lnTo>
                  <a:pt x="0" y="264"/>
                </a:lnTo>
                <a:lnTo>
                  <a:pt x="12" y="264"/>
                </a:lnTo>
                <a:close/>
                <a:moveTo>
                  <a:pt x="12" y="288"/>
                </a:moveTo>
                <a:lnTo>
                  <a:pt x="12" y="300"/>
                </a:lnTo>
                <a:lnTo>
                  <a:pt x="0" y="300"/>
                </a:lnTo>
                <a:lnTo>
                  <a:pt x="0" y="288"/>
                </a:lnTo>
                <a:lnTo>
                  <a:pt x="12" y="288"/>
                </a:lnTo>
                <a:close/>
                <a:moveTo>
                  <a:pt x="12" y="312"/>
                </a:moveTo>
                <a:lnTo>
                  <a:pt x="12" y="324"/>
                </a:lnTo>
                <a:lnTo>
                  <a:pt x="0" y="324"/>
                </a:lnTo>
                <a:lnTo>
                  <a:pt x="0" y="312"/>
                </a:lnTo>
                <a:lnTo>
                  <a:pt x="12" y="312"/>
                </a:lnTo>
                <a:close/>
                <a:moveTo>
                  <a:pt x="12" y="336"/>
                </a:moveTo>
                <a:lnTo>
                  <a:pt x="12" y="348"/>
                </a:lnTo>
                <a:lnTo>
                  <a:pt x="0" y="348"/>
                </a:lnTo>
                <a:lnTo>
                  <a:pt x="0" y="336"/>
                </a:lnTo>
                <a:lnTo>
                  <a:pt x="12" y="336"/>
                </a:lnTo>
                <a:close/>
                <a:moveTo>
                  <a:pt x="12" y="360"/>
                </a:moveTo>
                <a:lnTo>
                  <a:pt x="12" y="372"/>
                </a:lnTo>
                <a:lnTo>
                  <a:pt x="0" y="372"/>
                </a:lnTo>
                <a:lnTo>
                  <a:pt x="0" y="360"/>
                </a:lnTo>
                <a:lnTo>
                  <a:pt x="12" y="360"/>
                </a:lnTo>
                <a:close/>
                <a:moveTo>
                  <a:pt x="12" y="384"/>
                </a:moveTo>
                <a:lnTo>
                  <a:pt x="12" y="396"/>
                </a:lnTo>
                <a:lnTo>
                  <a:pt x="0" y="396"/>
                </a:lnTo>
                <a:lnTo>
                  <a:pt x="0" y="384"/>
                </a:lnTo>
                <a:lnTo>
                  <a:pt x="12" y="384"/>
                </a:lnTo>
                <a:close/>
                <a:moveTo>
                  <a:pt x="12" y="408"/>
                </a:moveTo>
                <a:lnTo>
                  <a:pt x="12" y="420"/>
                </a:lnTo>
                <a:lnTo>
                  <a:pt x="0" y="420"/>
                </a:lnTo>
                <a:lnTo>
                  <a:pt x="0" y="408"/>
                </a:lnTo>
                <a:lnTo>
                  <a:pt x="12" y="408"/>
                </a:lnTo>
                <a:close/>
                <a:moveTo>
                  <a:pt x="12" y="432"/>
                </a:moveTo>
                <a:lnTo>
                  <a:pt x="12" y="444"/>
                </a:lnTo>
                <a:lnTo>
                  <a:pt x="0" y="444"/>
                </a:lnTo>
                <a:lnTo>
                  <a:pt x="0" y="432"/>
                </a:lnTo>
                <a:lnTo>
                  <a:pt x="12" y="432"/>
                </a:lnTo>
                <a:close/>
                <a:moveTo>
                  <a:pt x="12" y="456"/>
                </a:moveTo>
                <a:lnTo>
                  <a:pt x="12" y="468"/>
                </a:lnTo>
                <a:lnTo>
                  <a:pt x="0" y="468"/>
                </a:lnTo>
                <a:lnTo>
                  <a:pt x="0" y="456"/>
                </a:lnTo>
                <a:lnTo>
                  <a:pt x="12" y="456"/>
                </a:lnTo>
                <a:close/>
                <a:moveTo>
                  <a:pt x="12" y="480"/>
                </a:moveTo>
                <a:lnTo>
                  <a:pt x="12" y="492"/>
                </a:lnTo>
                <a:lnTo>
                  <a:pt x="0" y="492"/>
                </a:lnTo>
                <a:lnTo>
                  <a:pt x="0" y="480"/>
                </a:lnTo>
                <a:lnTo>
                  <a:pt x="12" y="480"/>
                </a:lnTo>
                <a:close/>
                <a:moveTo>
                  <a:pt x="12" y="504"/>
                </a:moveTo>
                <a:lnTo>
                  <a:pt x="12" y="516"/>
                </a:lnTo>
                <a:lnTo>
                  <a:pt x="0" y="516"/>
                </a:lnTo>
                <a:lnTo>
                  <a:pt x="0" y="504"/>
                </a:lnTo>
                <a:lnTo>
                  <a:pt x="12" y="504"/>
                </a:lnTo>
                <a:close/>
                <a:moveTo>
                  <a:pt x="12" y="528"/>
                </a:moveTo>
                <a:lnTo>
                  <a:pt x="12" y="540"/>
                </a:lnTo>
                <a:lnTo>
                  <a:pt x="0" y="540"/>
                </a:lnTo>
                <a:lnTo>
                  <a:pt x="0" y="528"/>
                </a:lnTo>
                <a:lnTo>
                  <a:pt x="12" y="528"/>
                </a:lnTo>
                <a:close/>
                <a:moveTo>
                  <a:pt x="12" y="552"/>
                </a:moveTo>
                <a:lnTo>
                  <a:pt x="12" y="564"/>
                </a:lnTo>
                <a:lnTo>
                  <a:pt x="0" y="564"/>
                </a:lnTo>
                <a:lnTo>
                  <a:pt x="0" y="552"/>
                </a:lnTo>
                <a:lnTo>
                  <a:pt x="12" y="552"/>
                </a:lnTo>
                <a:close/>
                <a:moveTo>
                  <a:pt x="12" y="575"/>
                </a:moveTo>
                <a:lnTo>
                  <a:pt x="12" y="588"/>
                </a:lnTo>
                <a:lnTo>
                  <a:pt x="0" y="588"/>
                </a:lnTo>
                <a:lnTo>
                  <a:pt x="0" y="575"/>
                </a:lnTo>
                <a:lnTo>
                  <a:pt x="12" y="575"/>
                </a:lnTo>
                <a:close/>
                <a:moveTo>
                  <a:pt x="12" y="600"/>
                </a:moveTo>
                <a:lnTo>
                  <a:pt x="12" y="611"/>
                </a:lnTo>
                <a:lnTo>
                  <a:pt x="0" y="611"/>
                </a:lnTo>
                <a:lnTo>
                  <a:pt x="0" y="600"/>
                </a:lnTo>
                <a:lnTo>
                  <a:pt x="12" y="600"/>
                </a:lnTo>
                <a:close/>
                <a:moveTo>
                  <a:pt x="12" y="623"/>
                </a:moveTo>
                <a:lnTo>
                  <a:pt x="12" y="636"/>
                </a:lnTo>
                <a:lnTo>
                  <a:pt x="0" y="636"/>
                </a:lnTo>
                <a:lnTo>
                  <a:pt x="0" y="623"/>
                </a:lnTo>
                <a:lnTo>
                  <a:pt x="12" y="623"/>
                </a:lnTo>
                <a:close/>
                <a:moveTo>
                  <a:pt x="12" y="647"/>
                </a:moveTo>
                <a:lnTo>
                  <a:pt x="12" y="659"/>
                </a:lnTo>
                <a:lnTo>
                  <a:pt x="0" y="659"/>
                </a:lnTo>
                <a:lnTo>
                  <a:pt x="0" y="647"/>
                </a:lnTo>
                <a:lnTo>
                  <a:pt x="12" y="647"/>
                </a:lnTo>
                <a:close/>
                <a:moveTo>
                  <a:pt x="12" y="672"/>
                </a:moveTo>
                <a:lnTo>
                  <a:pt x="12" y="683"/>
                </a:lnTo>
                <a:lnTo>
                  <a:pt x="0" y="683"/>
                </a:lnTo>
                <a:lnTo>
                  <a:pt x="0" y="672"/>
                </a:lnTo>
                <a:lnTo>
                  <a:pt x="12" y="672"/>
                </a:lnTo>
                <a:close/>
                <a:moveTo>
                  <a:pt x="12" y="695"/>
                </a:moveTo>
                <a:lnTo>
                  <a:pt x="12" y="707"/>
                </a:lnTo>
                <a:lnTo>
                  <a:pt x="0" y="707"/>
                </a:lnTo>
                <a:lnTo>
                  <a:pt x="0" y="695"/>
                </a:lnTo>
                <a:lnTo>
                  <a:pt x="12" y="695"/>
                </a:lnTo>
                <a:close/>
                <a:moveTo>
                  <a:pt x="12" y="719"/>
                </a:moveTo>
                <a:lnTo>
                  <a:pt x="12" y="731"/>
                </a:lnTo>
                <a:lnTo>
                  <a:pt x="0" y="731"/>
                </a:lnTo>
                <a:lnTo>
                  <a:pt x="0" y="719"/>
                </a:lnTo>
                <a:lnTo>
                  <a:pt x="12" y="719"/>
                </a:lnTo>
                <a:close/>
                <a:moveTo>
                  <a:pt x="12" y="743"/>
                </a:moveTo>
                <a:lnTo>
                  <a:pt x="12" y="755"/>
                </a:lnTo>
                <a:lnTo>
                  <a:pt x="0" y="755"/>
                </a:lnTo>
                <a:lnTo>
                  <a:pt x="0" y="743"/>
                </a:lnTo>
                <a:lnTo>
                  <a:pt x="12" y="743"/>
                </a:lnTo>
                <a:close/>
                <a:moveTo>
                  <a:pt x="12" y="767"/>
                </a:moveTo>
                <a:lnTo>
                  <a:pt x="12" y="779"/>
                </a:lnTo>
                <a:lnTo>
                  <a:pt x="0" y="779"/>
                </a:lnTo>
                <a:lnTo>
                  <a:pt x="0" y="767"/>
                </a:lnTo>
                <a:lnTo>
                  <a:pt x="12" y="767"/>
                </a:lnTo>
                <a:close/>
                <a:moveTo>
                  <a:pt x="12" y="791"/>
                </a:moveTo>
                <a:lnTo>
                  <a:pt x="12" y="803"/>
                </a:lnTo>
                <a:lnTo>
                  <a:pt x="0" y="803"/>
                </a:lnTo>
                <a:lnTo>
                  <a:pt x="0" y="791"/>
                </a:lnTo>
                <a:lnTo>
                  <a:pt x="12" y="791"/>
                </a:lnTo>
                <a:close/>
                <a:moveTo>
                  <a:pt x="12" y="815"/>
                </a:moveTo>
                <a:lnTo>
                  <a:pt x="12" y="827"/>
                </a:lnTo>
                <a:lnTo>
                  <a:pt x="0" y="827"/>
                </a:lnTo>
                <a:lnTo>
                  <a:pt x="0" y="815"/>
                </a:lnTo>
                <a:lnTo>
                  <a:pt x="12" y="815"/>
                </a:lnTo>
                <a:close/>
                <a:moveTo>
                  <a:pt x="12" y="839"/>
                </a:moveTo>
                <a:lnTo>
                  <a:pt x="12" y="851"/>
                </a:lnTo>
                <a:lnTo>
                  <a:pt x="0" y="851"/>
                </a:lnTo>
                <a:lnTo>
                  <a:pt x="0" y="839"/>
                </a:lnTo>
                <a:lnTo>
                  <a:pt x="12" y="839"/>
                </a:lnTo>
                <a:close/>
                <a:moveTo>
                  <a:pt x="12" y="863"/>
                </a:moveTo>
                <a:lnTo>
                  <a:pt x="12" y="875"/>
                </a:lnTo>
                <a:lnTo>
                  <a:pt x="0" y="875"/>
                </a:lnTo>
                <a:lnTo>
                  <a:pt x="0" y="863"/>
                </a:lnTo>
                <a:lnTo>
                  <a:pt x="12" y="863"/>
                </a:lnTo>
                <a:close/>
                <a:moveTo>
                  <a:pt x="12" y="887"/>
                </a:moveTo>
                <a:lnTo>
                  <a:pt x="12" y="899"/>
                </a:lnTo>
                <a:lnTo>
                  <a:pt x="0" y="899"/>
                </a:lnTo>
                <a:lnTo>
                  <a:pt x="0" y="887"/>
                </a:lnTo>
                <a:lnTo>
                  <a:pt x="12" y="887"/>
                </a:lnTo>
                <a:close/>
                <a:moveTo>
                  <a:pt x="12" y="911"/>
                </a:moveTo>
                <a:lnTo>
                  <a:pt x="12" y="923"/>
                </a:lnTo>
                <a:lnTo>
                  <a:pt x="0" y="923"/>
                </a:lnTo>
                <a:lnTo>
                  <a:pt x="0" y="911"/>
                </a:lnTo>
                <a:lnTo>
                  <a:pt x="12" y="911"/>
                </a:lnTo>
                <a:close/>
                <a:moveTo>
                  <a:pt x="12" y="935"/>
                </a:moveTo>
                <a:lnTo>
                  <a:pt x="12" y="947"/>
                </a:lnTo>
                <a:lnTo>
                  <a:pt x="0" y="947"/>
                </a:lnTo>
                <a:lnTo>
                  <a:pt x="0" y="935"/>
                </a:lnTo>
                <a:lnTo>
                  <a:pt x="12" y="935"/>
                </a:lnTo>
                <a:close/>
                <a:moveTo>
                  <a:pt x="12" y="959"/>
                </a:moveTo>
                <a:lnTo>
                  <a:pt x="12" y="971"/>
                </a:lnTo>
                <a:lnTo>
                  <a:pt x="0" y="971"/>
                </a:lnTo>
                <a:lnTo>
                  <a:pt x="0" y="959"/>
                </a:lnTo>
                <a:lnTo>
                  <a:pt x="12" y="959"/>
                </a:lnTo>
                <a:close/>
                <a:moveTo>
                  <a:pt x="12" y="983"/>
                </a:moveTo>
                <a:lnTo>
                  <a:pt x="12" y="995"/>
                </a:lnTo>
                <a:lnTo>
                  <a:pt x="0" y="995"/>
                </a:lnTo>
                <a:lnTo>
                  <a:pt x="0" y="983"/>
                </a:lnTo>
                <a:lnTo>
                  <a:pt x="12" y="983"/>
                </a:lnTo>
                <a:close/>
                <a:moveTo>
                  <a:pt x="12" y="1007"/>
                </a:moveTo>
                <a:lnTo>
                  <a:pt x="12" y="1019"/>
                </a:lnTo>
                <a:lnTo>
                  <a:pt x="0" y="1019"/>
                </a:lnTo>
                <a:lnTo>
                  <a:pt x="0" y="1007"/>
                </a:lnTo>
                <a:lnTo>
                  <a:pt x="12" y="1007"/>
                </a:lnTo>
                <a:close/>
                <a:moveTo>
                  <a:pt x="12" y="1031"/>
                </a:moveTo>
                <a:lnTo>
                  <a:pt x="12" y="1043"/>
                </a:lnTo>
                <a:lnTo>
                  <a:pt x="0" y="1043"/>
                </a:lnTo>
                <a:lnTo>
                  <a:pt x="0" y="1031"/>
                </a:lnTo>
                <a:lnTo>
                  <a:pt x="12" y="1031"/>
                </a:lnTo>
                <a:close/>
                <a:moveTo>
                  <a:pt x="12" y="1055"/>
                </a:moveTo>
                <a:lnTo>
                  <a:pt x="12" y="1067"/>
                </a:lnTo>
                <a:lnTo>
                  <a:pt x="0" y="1067"/>
                </a:lnTo>
                <a:lnTo>
                  <a:pt x="0" y="1055"/>
                </a:lnTo>
                <a:lnTo>
                  <a:pt x="12" y="1055"/>
                </a:lnTo>
                <a:close/>
                <a:moveTo>
                  <a:pt x="12" y="1079"/>
                </a:moveTo>
                <a:lnTo>
                  <a:pt x="12" y="1091"/>
                </a:lnTo>
                <a:lnTo>
                  <a:pt x="0" y="1091"/>
                </a:lnTo>
                <a:lnTo>
                  <a:pt x="0" y="1079"/>
                </a:lnTo>
                <a:lnTo>
                  <a:pt x="12" y="1079"/>
                </a:lnTo>
                <a:close/>
                <a:moveTo>
                  <a:pt x="12" y="1103"/>
                </a:moveTo>
                <a:lnTo>
                  <a:pt x="12" y="1115"/>
                </a:lnTo>
                <a:lnTo>
                  <a:pt x="0" y="1115"/>
                </a:lnTo>
                <a:lnTo>
                  <a:pt x="0" y="1103"/>
                </a:lnTo>
                <a:lnTo>
                  <a:pt x="12" y="1103"/>
                </a:lnTo>
                <a:close/>
                <a:moveTo>
                  <a:pt x="12" y="1127"/>
                </a:moveTo>
                <a:lnTo>
                  <a:pt x="12" y="1139"/>
                </a:lnTo>
                <a:lnTo>
                  <a:pt x="0" y="1139"/>
                </a:lnTo>
                <a:lnTo>
                  <a:pt x="0" y="1127"/>
                </a:lnTo>
                <a:lnTo>
                  <a:pt x="12" y="1127"/>
                </a:lnTo>
                <a:close/>
                <a:moveTo>
                  <a:pt x="12" y="1151"/>
                </a:moveTo>
                <a:lnTo>
                  <a:pt x="12" y="1163"/>
                </a:lnTo>
                <a:lnTo>
                  <a:pt x="0" y="1163"/>
                </a:lnTo>
                <a:lnTo>
                  <a:pt x="0" y="1151"/>
                </a:lnTo>
                <a:lnTo>
                  <a:pt x="12" y="1151"/>
                </a:lnTo>
                <a:close/>
                <a:moveTo>
                  <a:pt x="12" y="1175"/>
                </a:moveTo>
                <a:lnTo>
                  <a:pt x="12" y="1187"/>
                </a:lnTo>
                <a:lnTo>
                  <a:pt x="0" y="1187"/>
                </a:lnTo>
                <a:lnTo>
                  <a:pt x="0" y="1175"/>
                </a:lnTo>
                <a:lnTo>
                  <a:pt x="12" y="1175"/>
                </a:lnTo>
                <a:close/>
                <a:moveTo>
                  <a:pt x="12" y="1199"/>
                </a:moveTo>
                <a:lnTo>
                  <a:pt x="12" y="1211"/>
                </a:lnTo>
                <a:lnTo>
                  <a:pt x="0" y="1211"/>
                </a:lnTo>
                <a:lnTo>
                  <a:pt x="0" y="1199"/>
                </a:lnTo>
                <a:lnTo>
                  <a:pt x="12" y="1199"/>
                </a:lnTo>
                <a:close/>
                <a:moveTo>
                  <a:pt x="12" y="1223"/>
                </a:moveTo>
                <a:lnTo>
                  <a:pt x="12" y="1235"/>
                </a:lnTo>
                <a:lnTo>
                  <a:pt x="0" y="1235"/>
                </a:lnTo>
                <a:lnTo>
                  <a:pt x="0" y="1223"/>
                </a:lnTo>
                <a:lnTo>
                  <a:pt x="12" y="1223"/>
                </a:lnTo>
                <a:close/>
                <a:moveTo>
                  <a:pt x="12" y="1247"/>
                </a:moveTo>
                <a:lnTo>
                  <a:pt x="12" y="1258"/>
                </a:lnTo>
                <a:lnTo>
                  <a:pt x="0" y="1258"/>
                </a:lnTo>
                <a:lnTo>
                  <a:pt x="0" y="1247"/>
                </a:lnTo>
                <a:lnTo>
                  <a:pt x="12" y="1247"/>
                </a:lnTo>
                <a:close/>
                <a:moveTo>
                  <a:pt x="12" y="1271"/>
                </a:moveTo>
                <a:lnTo>
                  <a:pt x="12" y="1283"/>
                </a:lnTo>
                <a:lnTo>
                  <a:pt x="0" y="1283"/>
                </a:lnTo>
                <a:lnTo>
                  <a:pt x="0" y="1271"/>
                </a:lnTo>
                <a:lnTo>
                  <a:pt x="12" y="1271"/>
                </a:lnTo>
                <a:close/>
                <a:moveTo>
                  <a:pt x="12" y="1294"/>
                </a:moveTo>
                <a:lnTo>
                  <a:pt x="12" y="1306"/>
                </a:lnTo>
                <a:lnTo>
                  <a:pt x="0" y="1306"/>
                </a:lnTo>
                <a:lnTo>
                  <a:pt x="0" y="1294"/>
                </a:lnTo>
                <a:lnTo>
                  <a:pt x="12" y="1294"/>
                </a:lnTo>
                <a:close/>
                <a:moveTo>
                  <a:pt x="12" y="1319"/>
                </a:moveTo>
                <a:lnTo>
                  <a:pt x="12" y="1330"/>
                </a:lnTo>
                <a:lnTo>
                  <a:pt x="0" y="1330"/>
                </a:lnTo>
                <a:lnTo>
                  <a:pt x="0" y="1319"/>
                </a:lnTo>
                <a:lnTo>
                  <a:pt x="12" y="1319"/>
                </a:lnTo>
                <a:close/>
                <a:moveTo>
                  <a:pt x="12" y="1342"/>
                </a:moveTo>
                <a:lnTo>
                  <a:pt x="12" y="1354"/>
                </a:lnTo>
                <a:lnTo>
                  <a:pt x="0" y="1354"/>
                </a:lnTo>
                <a:lnTo>
                  <a:pt x="0" y="1342"/>
                </a:lnTo>
                <a:lnTo>
                  <a:pt x="12" y="1342"/>
                </a:lnTo>
                <a:close/>
                <a:moveTo>
                  <a:pt x="12" y="1366"/>
                </a:moveTo>
                <a:lnTo>
                  <a:pt x="12" y="1378"/>
                </a:lnTo>
                <a:lnTo>
                  <a:pt x="0" y="1378"/>
                </a:lnTo>
                <a:lnTo>
                  <a:pt x="0" y="1366"/>
                </a:lnTo>
                <a:lnTo>
                  <a:pt x="12" y="1366"/>
                </a:lnTo>
                <a:close/>
                <a:moveTo>
                  <a:pt x="12" y="1390"/>
                </a:moveTo>
                <a:lnTo>
                  <a:pt x="12" y="1402"/>
                </a:lnTo>
                <a:lnTo>
                  <a:pt x="0" y="1402"/>
                </a:lnTo>
                <a:lnTo>
                  <a:pt x="0" y="1390"/>
                </a:lnTo>
                <a:lnTo>
                  <a:pt x="12" y="1390"/>
                </a:lnTo>
                <a:close/>
                <a:moveTo>
                  <a:pt x="12" y="1414"/>
                </a:moveTo>
                <a:lnTo>
                  <a:pt x="12" y="1426"/>
                </a:lnTo>
                <a:lnTo>
                  <a:pt x="0" y="1426"/>
                </a:lnTo>
                <a:lnTo>
                  <a:pt x="0" y="1414"/>
                </a:lnTo>
                <a:lnTo>
                  <a:pt x="12" y="1414"/>
                </a:lnTo>
                <a:close/>
                <a:moveTo>
                  <a:pt x="12" y="1438"/>
                </a:moveTo>
                <a:lnTo>
                  <a:pt x="12" y="1450"/>
                </a:lnTo>
                <a:lnTo>
                  <a:pt x="0" y="1450"/>
                </a:lnTo>
                <a:lnTo>
                  <a:pt x="0" y="1438"/>
                </a:lnTo>
                <a:lnTo>
                  <a:pt x="12" y="1438"/>
                </a:lnTo>
                <a:close/>
                <a:moveTo>
                  <a:pt x="12" y="1462"/>
                </a:moveTo>
                <a:lnTo>
                  <a:pt x="12" y="1474"/>
                </a:lnTo>
                <a:lnTo>
                  <a:pt x="0" y="1474"/>
                </a:lnTo>
                <a:lnTo>
                  <a:pt x="0" y="1462"/>
                </a:lnTo>
                <a:lnTo>
                  <a:pt x="12" y="1462"/>
                </a:lnTo>
                <a:close/>
                <a:moveTo>
                  <a:pt x="12" y="1486"/>
                </a:moveTo>
                <a:lnTo>
                  <a:pt x="12" y="1498"/>
                </a:lnTo>
                <a:lnTo>
                  <a:pt x="0" y="1498"/>
                </a:lnTo>
                <a:lnTo>
                  <a:pt x="0" y="1486"/>
                </a:lnTo>
                <a:lnTo>
                  <a:pt x="12" y="1486"/>
                </a:lnTo>
                <a:close/>
                <a:moveTo>
                  <a:pt x="12" y="1510"/>
                </a:moveTo>
                <a:lnTo>
                  <a:pt x="12" y="1522"/>
                </a:lnTo>
                <a:lnTo>
                  <a:pt x="0" y="1522"/>
                </a:lnTo>
                <a:lnTo>
                  <a:pt x="0" y="1510"/>
                </a:lnTo>
                <a:lnTo>
                  <a:pt x="12" y="1510"/>
                </a:lnTo>
                <a:close/>
                <a:moveTo>
                  <a:pt x="12" y="1534"/>
                </a:moveTo>
                <a:lnTo>
                  <a:pt x="12" y="1546"/>
                </a:lnTo>
                <a:lnTo>
                  <a:pt x="0" y="1546"/>
                </a:lnTo>
                <a:lnTo>
                  <a:pt x="0" y="1534"/>
                </a:lnTo>
                <a:lnTo>
                  <a:pt x="12" y="1534"/>
                </a:lnTo>
                <a:close/>
                <a:moveTo>
                  <a:pt x="12" y="1558"/>
                </a:moveTo>
                <a:lnTo>
                  <a:pt x="12" y="1570"/>
                </a:lnTo>
                <a:lnTo>
                  <a:pt x="0" y="1570"/>
                </a:lnTo>
                <a:lnTo>
                  <a:pt x="0" y="1558"/>
                </a:lnTo>
                <a:lnTo>
                  <a:pt x="12" y="1558"/>
                </a:lnTo>
                <a:close/>
                <a:moveTo>
                  <a:pt x="12" y="1582"/>
                </a:moveTo>
                <a:lnTo>
                  <a:pt x="12" y="1594"/>
                </a:lnTo>
                <a:lnTo>
                  <a:pt x="0" y="1594"/>
                </a:lnTo>
                <a:lnTo>
                  <a:pt x="0" y="1582"/>
                </a:lnTo>
                <a:lnTo>
                  <a:pt x="12" y="1582"/>
                </a:lnTo>
                <a:close/>
                <a:moveTo>
                  <a:pt x="12" y="1606"/>
                </a:moveTo>
                <a:lnTo>
                  <a:pt x="12" y="1618"/>
                </a:lnTo>
                <a:lnTo>
                  <a:pt x="0" y="1618"/>
                </a:lnTo>
                <a:lnTo>
                  <a:pt x="0" y="1606"/>
                </a:lnTo>
                <a:lnTo>
                  <a:pt x="12" y="1606"/>
                </a:lnTo>
                <a:close/>
                <a:moveTo>
                  <a:pt x="12" y="1630"/>
                </a:moveTo>
                <a:lnTo>
                  <a:pt x="12" y="1642"/>
                </a:lnTo>
                <a:lnTo>
                  <a:pt x="0" y="1642"/>
                </a:lnTo>
                <a:lnTo>
                  <a:pt x="0" y="1630"/>
                </a:lnTo>
                <a:lnTo>
                  <a:pt x="12" y="1630"/>
                </a:lnTo>
                <a:close/>
                <a:moveTo>
                  <a:pt x="12" y="1654"/>
                </a:moveTo>
                <a:lnTo>
                  <a:pt x="12" y="1666"/>
                </a:lnTo>
                <a:lnTo>
                  <a:pt x="0" y="1666"/>
                </a:lnTo>
                <a:lnTo>
                  <a:pt x="0" y="1654"/>
                </a:lnTo>
                <a:lnTo>
                  <a:pt x="12" y="1654"/>
                </a:lnTo>
                <a:close/>
                <a:moveTo>
                  <a:pt x="12" y="1678"/>
                </a:moveTo>
                <a:lnTo>
                  <a:pt x="12" y="1690"/>
                </a:lnTo>
                <a:lnTo>
                  <a:pt x="0" y="1690"/>
                </a:lnTo>
                <a:lnTo>
                  <a:pt x="0" y="1678"/>
                </a:lnTo>
                <a:lnTo>
                  <a:pt x="12" y="1678"/>
                </a:lnTo>
                <a:close/>
                <a:moveTo>
                  <a:pt x="12" y="1702"/>
                </a:moveTo>
                <a:lnTo>
                  <a:pt x="12" y="1714"/>
                </a:lnTo>
                <a:lnTo>
                  <a:pt x="0" y="1714"/>
                </a:lnTo>
                <a:lnTo>
                  <a:pt x="0" y="1702"/>
                </a:lnTo>
                <a:lnTo>
                  <a:pt x="12" y="1702"/>
                </a:lnTo>
                <a:close/>
                <a:moveTo>
                  <a:pt x="12" y="1726"/>
                </a:moveTo>
                <a:lnTo>
                  <a:pt x="12" y="1738"/>
                </a:lnTo>
                <a:lnTo>
                  <a:pt x="0" y="1738"/>
                </a:lnTo>
                <a:lnTo>
                  <a:pt x="0" y="1726"/>
                </a:lnTo>
                <a:lnTo>
                  <a:pt x="12" y="1726"/>
                </a:lnTo>
                <a:close/>
                <a:moveTo>
                  <a:pt x="12" y="1750"/>
                </a:moveTo>
                <a:lnTo>
                  <a:pt x="12" y="1762"/>
                </a:lnTo>
                <a:lnTo>
                  <a:pt x="0" y="1762"/>
                </a:lnTo>
                <a:lnTo>
                  <a:pt x="0" y="1750"/>
                </a:lnTo>
                <a:lnTo>
                  <a:pt x="12" y="1750"/>
                </a:lnTo>
                <a:close/>
                <a:moveTo>
                  <a:pt x="12" y="1774"/>
                </a:moveTo>
                <a:lnTo>
                  <a:pt x="12" y="1786"/>
                </a:lnTo>
                <a:lnTo>
                  <a:pt x="0" y="1786"/>
                </a:lnTo>
                <a:lnTo>
                  <a:pt x="0" y="1774"/>
                </a:lnTo>
                <a:lnTo>
                  <a:pt x="12" y="1774"/>
                </a:lnTo>
                <a:close/>
                <a:moveTo>
                  <a:pt x="12" y="1798"/>
                </a:moveTo>
                <a:lnTo>
                  <a:pt x="12" y="1810"/>
                </a:lnTo>
                <a:lnTo>
                  <a:pt x="0" y="1810"/>
                </a:lnTo>
                <a:lnTo>
                  <a:pt x="0" y="1798"/>
                </a:lnTo>
                <a:lnTo>
                  <a:pt x="12" y="1798"/>
                </a:lnTo>
                <a:close/>
                <a:moveTo>
                  <a:pt x="12" y="1822"/>
                </a:moveTo>
                <a:lnTo>
                  <a:pt x="12" y="1834"/>
                </a:lnTo>
                <a:lnTo>
                  <a:pt x="0" y="1834"/>
                </a:lnTo>
                <a:lnTo>
                  <a:pt x="0" y="1822"/>
                </a:lnTo>
                <a:lnTo>
                  <a:pt x="12" y="1822"/>
                </a:lnTo>
                <a:close/>
                <a:moveTo>
                  <a:pt x="12" y="1846"/>
                </a:moveTo>
                <a:lnTo>
                  <a:pt x="12" y="1858"/>
                </a:lnTo>
                <a:lnTo>
                  <a:pt x="0" y="1858"/>
                </a:lnTo>
                <a:lnTo>
                  <a:pt x="0" y="1846"/>
                </a:lnTo>
                <a:lnTo>
                  <a:pt x="12" y="1846"/>
                </a:lnTo>
                <a:close/>
                <a:moveTo>
                  <a:pt x="12" y="1870"/>
                </a:moveTo>
                <a:lnTo>
                  <a:pt x="12" y="1882"/>
                </a:lnTo>
                <a:lnTo>
                  <a:pt x="0" y="1882"/>
                </a:lnTo>
                <a:lnTo>
                  <a:pt x="0" y="1870"/>
                </a:lnTo>
                <a:lnTo>
                  <a:pt x="12" y="1870"/>
                </a:lnTo>
                <a:close/>
                <a:moveTo>
                  <a:pt x="12" y="1894"/>
                </a:moveTo>
                <a:lnTo>
                  <a:pt x="12" y="1905"/>
                </a:lnTo>
                <a:lnTo>
                  <a:pt x="0" y="1905"/>
                </a:lnTo>
                <a:lnTo>
                  <a:pt x="0" y="1894"/>
                </a:lnTo>
                <a:lnTo>
                  <a:pt x="12" y="1894"/>
                </a:lnTo>
                <a:close/>
                <a:moveTo>
                  <a:pt x="12" y="1918"/>
                </a:moveTo>
                <a:lnTo>
                  <a:pt x="12" y="1930"/>
                </a:lnTo>
                <a:lnTo>
                  <a:pt x="0" y="1930"/>
                </a:lnTo>
                <a:lnTo>
                  <a:pt x="0" y="1918"/>
                </a:lnTo>
                <a:lnTo>
                  <a:pt x="12" y="1918"/>
                </a:lnTo>
                <a:close/>
                <a:moveTo>
                  <a:pt x="12" y="1941"/>
                </a:moveTo>
                <a:lnTo>
                  <a:pt x="12" y="1953"/>
                </a:lnTo>
                <a:lnTo>
                  <a:pt x="0" y="1953"/>
                </a:lnTo>
                <a:lnTo>
                  <a:pt x="0" y="1941"/>
                </a:lnTo>
                <a:lnTo>
                  <a:pt x="12" y="1941"/>
                </a:lnTo>
                <a:close/>
                <a:moveTo>
                  <a:pt x="12" y="1966"/>
                </a:moveTo>
                <a:lnTo>
                  <a:pt x="12" y="1977"/>
                </a:lnTo>
                <a:lnTo>
                  <a:pt x="0" y="1977"/>
                </a:lnTo>
                <a:lnTo>
                  <a:pt x="0" y="1966"/>
                </a:lnTo>
                <a:lnTo>
                  <a:pt x="12" y="1966"/>
                </a:lnTo>
                <a:close/>
                <a:moveTo>
                  <a:pt x="12" y="1989"/>
                </a:moveTo>
                <a:lnTo>
                  <a:pt x="12" y="2002"/>
                </a:lnTo>
                <a:lnTo>
                  <a:pt x="0" y="2002"/>
                </a:lnTo>
                <a:lnTo>
                  <a:pt x="0" y="1989"/>
                </a:lnTo>
                <a:lnTo>
                  <a:pt x="12" y="1989"/>
                </a:lnTo>
                <a:close/>
                <a:moveTo>
                  <a:pt x="12" y="2013"/>
                </a:moveTo>
                <a:lnTo>
                  <a:pt x="12" y="2025"/>
                </a:lnTo>
                <a:lnTo>
                  <a:pt x="0" y="2025"/>
                </a:lnTo>
                <a:lnTo>
                  <a:pt x="0" y="2013"/>
                </a:lnTo>
                <a:lnTo>
                  <a:pt x="12" y="2013"/>
                </a:lnTo>
                <a:close/>
                <a:moveTo>
                  <a:pt x="12" y="2037"/>
                </a:moveTo>
                <a:lnTo>
                  <a:pt x="12" y="2049"/>
                </a:lnTo>
                <a:lnTo>
                  <a:pt x="0" y="2049"/>
                </a:lnTo>
                <a:lnTo>
                  <a:pt x="0" y="2037"/>
                </a:lnTo>
                <a:lnTo>
                  <a:pt x="12" y="2037"/>
                </a:lnTo>
                <a:close/>
                <a:moveTo>
                  <a:pt x="12" y="2061"/>
                </a:moveTo>
                <a:lnTo>
                  <a:pt x="12" y="2073"/>
                </a:lnTo>
                <a:lnTo>
                  <a:pt x="0" y="2073"/>
                </a:lnTo>
                <a:lnTo>
                  <a:pt x="0" y="2061"/>
                </a:lnTo>
                <a:lnTo>
                  <a:pt x="12" y="2061"/>
                </a:lnTo>
                <a:close/>
                <a:moveTo>
                  <a:pt x="12" y="2085"/>
                </a:moveTo>
                <a:lnTo>
                  <a:pt x="12" y="2097"/>
                </a:lnTo>
                <a:lnTo>
                  <a:pt x="0" y="2097"/>
                </a:lnTo>
                <a:lnTo>
                  <a:pt x="0" y="2085"/>
                </a:lnTo>
                <a:lnTo>
                  <a:pt x="12" y="2085"/>
                </a:lnTo>
                <a:close/>
                <a:moveTo>
                  <a:pt x="12" y="2109"/>
                </a:moveTo>
                <a:lnTo>
                  <a:pt x="12" y="2121"/>
                </a:lnTo>
                <a:lnTo>
                  <a:pt x="0" y="2121"/>
                </a:lnTo>
                <a:lnTo>
                  <a:pt x="0" y="2109"/>
                </a:lnTo>
                <a:lnTo>
                  <a:pt x="12" y="2109"/>
                </a:lnTo>
                <a:close/>
                <a:moveTo>
                  <a:pt x="12" y="2133"/>
                </a:moveTo>
                <a:lnTo>
                  <a:pt x="12" y="2145"/>
                </a:lnTo>
                <a:lnTo>
                  <a:pt x="0" y="2145"/>
                </a:lnTo>
                <a:lnTo>
                  <a:pt x="0" y="2133"/>
                </a:lnTo>
                <a:lnTo>
                  <a:pt x="12" y="2133"/>
                </a:lnTo>
                <a:close/>
                <a:moveTo>
                  <a:pt x="12" y="2157"/>
                </a:moveTo>
                <a:lnTo>
                  <a:pt x="12" y="2169"/>
                </a:lnTo>
                <a:lnTo>
                  <a:pt x="0" y="2169"/>
                </a:lnTo>
                <a:lnTo>
                  <a:pt x="0" y="2157"/>
                </a:lnTo>
                <a:lnTo>
                  <a:pt x="12" y="2157"/>
                </a:lnTo>
                <a:close/>
                <a:moveTo>
                  <a:pt x="12" y="2181"/>
                </a:moveTo>
                <a:lnTo>
                  <a:pt x="12" y="2193"/>
                </a:lnTo>
                <a:lnTo>
                  <a:pt x="0" y="2193"/>
                </a:lnTo>
                <a:lnTo>
                  <a:pt x="0" y="2181"/>
                </a:lnTo>
                <a:lnTo>
                  <a:pt x="12" y="2181"/>
                </a:lnTo>
                <a:close/>
                <a:moveTo>
                  <a:pt x="12" y="2205"/>
                </a:moveTo>
                <a:lnTo>
                  <a:pt x="12" y="2217"/>
                </a:lnTo>
                <a:lnTo>
                  <a:pt x="0" y="2217"/>
                </a:lnTo>
                <a:lnTo>
                  <a:pt x="0" y="2205"/>
                </a:lnTo>
                <a:lnTo>
                  <a:pt x="12" y="2205"/>
                </a:lnTo>
                <a:close/>
                <a:moveTo>
                  <a:pt x="12" y="2229"/>
                </a:moveTo>
                <a:lnTo>
                  <a:pt x="12" y="2241"/>
                </a:lnTo>
                <a:lnTo>
                  <a:pt x="0" y="2241"/>
                </a:lnTo>
                <a:lnTo>
                  <a:pt x="0" y="2229"/>
                </a:lnTo>
                <a:lnTo>
                  <a:pt x="12" y="2229"/>
                </a:lnTo>
                <a:close/>
                <a:moveTo>
                  <a:pt x="12" y="2253"/>
                </a:moveTo>
                <a:lnTo>
                  <a:pt x="12" y="2265"/>
                </a:lnTo>
                <a:lnTo>
                  <a:pt x="0" y="2265"/>
                </a:lnTo>
                <a:lnTo>
                  <a:pt x="0" y="2253"/>
                </a:lnTo>
                <a:lnTo>
                  <a:pt x="12" y="2253"/>
                </a:lnTo>
                <a:close/>
                <a:moveTo>
                  <a:pt x="12" y="2277"/>
                </a:moveTo>
                <a:lnTo>
                  <a:pt x="12" y="2289"/>
                </a:lnTo>
                <a:lnTo>
                  <a:pt x="0" y="2289"/>
                </a:lnTo>
                <a:lnTo>
                  <a:pt x="0" y="2277"/>
                </a:lnTo>
                <a:lnTo>
                  <a:pt x="12" y="2277"/>
                </a:lnTo>
                <a:close/>
                <a:moveTo>
                  <a:pt x="12" y="2301"/>
                </a:moveTo>
                <a:lnTo>
                  <a:pt x="12" y="2313"/>
                </a:lnTo>
                <a:lnTo>
                  <a:pt x="0" y="2313"/>
                </a:lnTo>
                <a:lnTo>
                  <a:pt x="0" y="2301"/>
                </a:lnTo>
                <a:lnTo>
                  <a:pt x="12" y="2301"/>
                </a:lnTo>
                <a:close/>
                <a:moveTo>
                  <a:pt x="12" y="2325"/>
                </a:moveTo>
                <a:lnTo>
                  <a:pt x="12" y="2337"/>
                </a:lnTo>
                <a:lnTo>
                  <a:pt x="0" y="2337"/>
                </a:lnTo>
                <a:lnTo>
                  <a:pt x="0" y="2325"/>
                </a:lnTo>
                <a:lnTo>
                  <a:pt x="12" y="2325"/>
                </a:lnTo>
                <a:close/>
                <a:moveTo>
                  <a:pt x="12" y="2349"/>
                </a:moveTo>
                <a:lnTo>
                  <a:pt x="12" y="2361"/>
                </a:lnTo>
                <a:lnTo>
                  <a:pt x="0" y="2361"/>
                </a:lnTo>
                <a:lnTo>
                  <a:pt x="0" y="2349"/>
                </a:lnTo>
                <a:lnTo>
                  <a:pt x="12" y="2349"/>
                </a:lnTo>
                <a:close/>
                <a:moveTo>
                  <a:pt x="12" y="2373"/>
                </a:moveTo>
                <a:lnTo>
                  <a:pt x="12" y="2385"/>
                </a:lnTo>
                <a:lnTo>
                  <a:pt x="0" y="2385"/>
                </a:lnTo>
                <a:lnTo>
                  <a:pt x="0" y="2373"/>
                </a:lnTo>
                <a:lnTo>
                  <a:pt x="12" y="2373"/>
                </a:lnTo>
                <a:close/>
                <a:moveTo>
                  <a:pt x="12" y="2397"/>
                </a:moveTo>
                <a:lnTo>
                  <a:pt x="12" y="2409"/>
                </a:lnTo>
                <a:lnTo>
                  <a:pt x="0" y="2409"/>
                </a:lnTo>
                <a:lnTo>
                  <a:pt x="0" y="2397"/>
                </a:lnTo>
                <a:lnTo>
                  <a:pt x="12" y="2397"/>
                </a:lnTo>
                <a:close/>
                <a:moveTo>
                  <a:pt x="12" y="2421"/>
                </a:moveTo>
                <a:lnTo>
                  <a:pt x="12" y="2433"/>
                </a:lnTo>
                <a:lnTo>
                  <a:pt x="0" y="2433"/>
                </a:lnTo>
                <a:lnTo>
                  <a:pt x="0" y="2421"/>
                </a:lnTo>
                <a:lnTo>
                  <a:pt x="12" y="2421"/>
                </a:lnTo>
                <a:close/>
                <a:moveTo>
                  <a:pt x="12" y="2445"/>
                </a:moveTo>
                <a:lnTo>
                  <a:pt x="12" y="2457"/>
                </a:lnTo>
                <a:lnTo>
                  <a:pt x="0" y="2457"/>
                </a:lnTo>
                <a:lnTo>
                  <a:pt x="0" y="2445"/>
                </a:lnTo>
                <a:lnTo>
                  <a:pt x="12" y="2445"/>
                </a:lnTo>
                <a:close/>
                <a:moveTo>
                  <a:pt x="12" y="2469"/>
                </a:moveTo>
                <a:lnTo>
                  <a:pt x="12" y="2481"/>
                </a:lnTo>
                <a:lnTo>
                  <a:pt x="0" y="2481"/>
                </a:lnTo>
                <a:lnTo>
                  <a:pt x="0" y="2469"/>
                </a:lnTo>
                <a:lnTo>
                  <a:pt x="12" y="2469"/>
                </a:lnTo>
                <a:close/>
                <a:moveTo>
                  <a:pt x="12" y="2493"/>
                </a:moveTo>
                <a:lnTo>
                  <a:pt x="12" y="2505"/>
                </a:lnTo>
                <a:lnTo>
                  <a:pt x="0" y="2505"/>
                </a:lnTo>
                <a:lnTo>
                  <a:pt x="0" y="2493"/>
                </a:lnTo>
                <a:lnTo>
                  <a:pt x="12" y="2493"/>
                </a:lnTo>
                <a:close/>
                <a:moveTo>
                  <a:pt x="12" y="2517"/>
                </a:moveTo>
                <a:lnTo>
                  <a:pt x="12" y="2529"/>
                </a:lnTo>
                <a:lnTo>
                  <a:pt x="0" y="2529"/>
                </a:lnTo>
                <a:lnTo>
                  <a:pt x="0" y="2517"/>
                </a:lnTo>
                <a:lnTo>
                  <a:pt x="12" y="2517"/>
                </a:lnTo>
                <a:close/>
                <a:moveTo>
                  <a:pt x="12" y="2541"/>
                </a:moveTo>
                <a:lnTo>
                  <a:pt x="12" y="2553"/>
                </a:lnTo>
                <a:lnTo>
                  <a:pt x="0" y="2553"/>
                </a:lnTo>
                <a:lnTo>
                  <a:pt x="0" y="2541"/>
                </a:lnTo>
                <a:lnTo>
                  <a:pt x="12" y="2541"/>
                </a:lnTo>
                <a:close/>
              </a:path>
            </a:pathLst>
          </a:custGeom>
          <a:solidFill>
            <a:srgbClr val="000000"/>
          </a:solidFill>
          <a:ln w="0" cap="flat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141" name="Freeform 138">
            <a:extLst>
              <a:ext uri="{FF2B5EF4-FFF2-40B4-BE49-F238E27FC236}">
                <a16:creationId xmlns:a16="http://schemas.microsoft.com/office/drawing/2014/main" id="{F1ABC459-D088-405B-AB95-E966E9629F53}"/>
              </a:ext>
            </a:extLst>
          </p:cNvPr>
          <p:cNvSpPr>
            <a:spLocks noEditPoints="1"/>
          </p:cNvSpPr>
          <p:nvPr/>
        </p:nvSpPr>
        <p:spPr bwMode="auto">
          <a:xfrm>
            <a:off x="5241925" y="2289175"/>
            <a:ext cx="18000" cy="4032000"/>
          </a:xfrm>
          <a:custGeom>
            <a:avLst/>
            <a:gdLst>
              <a:gd name="T0" fmla="*/ 0 w 12"/>
              <a:gd name="T1" fmla="*/ 25 h 2553"/>
              <a:gd name="T2" fmla="*/ 0 w 12"/>
              <a:gd name="T3" fmla="*/ 84 h 2553"/>
              <a:gd name="T4" fmla="*/ 12 w 12"/>
              <a:gd name="T5" fmla="*/ 132 h 2553"/>
              <a:gd name="T6" fmla="*/ 12 w 12"/>
              <a:gd name="T7" fmla="*/ 168 h 2553"/>
              <a:gd name="T8" fmla="*/ 12 w 12"/>
              <a:gd name="T9" fmla="*/ 192 h 2553"/>
              <a:gd name="T10" fmla="*/ 0 w 12"/>
              <a:gd name="T11" fmla="*/ 240 h 2553"/>
              <a:gd name="T12" fmla="*/ 0 w 12"/>
              <a:gd name="T13" fmla="*/ 300 h 2553"/>
              <a:gd name="T14" fmla="*/ 12 w 12"/>
              <a:gd name="T15" fmla="*/ 348 h 2553"/>
              <a:gd name="T16" fmla="*/ 12 w 12"/>
              <a:gd name="T17" fmla="*/ 384 h 2553"/>
              <a:gd name="T18" fmla="*/ 12 w 12"/>
              <a:gd name="T19" fmla="*/ 408 h 2553"/>
              <a:gd name="T20" fmla="*/ 0 w 12"/>
              <a:gd name="T21" fmla="*/ 456 h 2553"/>
              <a:gd name="T22" fmla="*/ 0 w 12"/>
              <a:gd name="T23" fmla="*/ 516 h 2553"/>
              <a:gd name="T24" fmla="*/ 12 w 12"/>
              <a:gd name="T25" fmla="*/ 564 h 2553"/>
              <a:gd name="T26" fmla="*/ 12 w 12"/>
              <a:gd name="T27" fmla="*/ 600 h 2553"/>
              <a:gd name="T28" fmla="*/ 12 w 12"/>
              <a:gd name="T29" fmla="*/ 624 h 2553"/>
              <a:gd name="T30" fmla="*/ 0 w 12"/>
              <a:gd name="T31" fmla="*/ 672 h 2553"/>
              <a:gd name="T32" fmla="*/ 0 w 12"/>
              <a:gd name="T33" fmla="*/ 731 h 2553"/>
              <a:gd name="T34" fmla="*/ 12 w 12"/>
              <a:gd name="T35" fmla="*/ 779 h 2553"/>
              <a:gd name="T36" fmla="*/ 12 w 12"/>
              <a:gd name="T37" fmla="*/ 815 h 2553"/>
              <a:gd name="T38" fmla="*/ 12 w 12"/>
              <a:gd name="T39" fmla="*/ 839 h 2553"/>
              <a:gd name="T40" fmla="*/ 0 w 12"/>
              <a:gd name="T41" fmla="*/ 887 h 2553"/>
              <a:gd name="T42" fmla="*/ 0 w 12"/>
              <a:gd name="T43" fmla="*/ 947 h 2553"/>
              <a:gd name="T44" fmla="*/ 12 w 12"/>
              <a:gd name="T45" fmla="*/ 995 h 2553"/>
              <a:gd name="T46" fmla="*/ 12 w 12"/>
              <a:gd name="T47" fmla="*/ 1031 h 2553"/>
              <a:gd name="T48" fmla="*/ 12 w 12"/>
              <a:gd name="T49" fmla="*/ 1055 h 2553"/>
              <a:gd name="T50" fmla="*/ 0 w 12"/>
              <a:gd name="T51" fmla="*/ 1103 h 2553"/>
              <a:gd name="T52" fmla="*/ 0 w 12"/>
              <a:gd name="T53" fmla="*/ 1163 h 2553"/>
              <a:gd name="T54" fmla="*/ 12 w 12"/>
              <a:gd name="T55" fmla="*/ 1211 h 2553"/>
              <a:gd name="T56" fmla="*/ 12 w 12"/>
              <a:gd name="T57" fmla="*/ 1247 h 2553"/>
              <a:gd name="T58" fmla="*/ 12 w 12"/>
              <a:gd name="T59" fmla="*/ 1271 h 2553"/>
              <a:gd name="T60" fmla="*/ 0 w 12"/>
              <a:gd name="T61" fmla="*/ 1319 h 2553"/>
              <a:gd name="T62" fmla="*/ 0 w 12"/>
              <a:gd name="T63" fmla="*/ 1378 h 2553"/>
              <a:gd name="T64" fmla="*/ 12 w 12"/>
              <a:gd name="T65" fmla="*/ 1426 h 2553"/>
              <a:gd name="T66" fmla="*/ 12 w 12"/>
              <a:gd name="T67" fmla="*/ 1462 h 2553"/>
              <a:gd name="T68" fmla="*/ 12 w 12"/>
              <a:gd name="T69" fmla="*/ 1486 h 2553"/>
              <a:gd name="T70" fmla="*/ 0 w 12"/>
              <a:gd name="T71" fmla="*/ 1534 h 2553"/>
              <a:gd name="T72" fmla="*/ 0 w 12"/>
              <a:gd name="T73" fmla="*/ 1594 h 2553"/>
              <a:gd name="T74" fmla="*/ 12 w 12"/>
              <a:gd name="T75" fmla="*/ 1642 h 2553"/>
              <a:gd name="T76" fmla="*/ 12 w 12"/>
              <a:gd name="T77" fmla="*/ 1678 h 2553"/>
              <a:gd name="T78" fmla="*/ 12 w 12"/>
              <a:gd name="T79" fmla="*/ 1702 h 2553"/>
              <a:gd name="T80" fmla="*/ 0 w 12"/>
              <a:gd name="T81" fmla="*/ 1750 h 2553"/>
              <a:gd name="T82" fmla="*/ 0 w 12"/>
              <a:gd name="T83" fmla="*/ 1810 h 2553"/>
              <a:gd name="T84" fmla="*/ 12 w 12"/>
              <a:gd name="T85" fmla="*/ 1858 h 2553"/>
              <a:gd name="T86" fmla="*/ 12 w 12"/>
              <a:gd name="T87" fmla="*/ 1894 h 2553"/>
              <a:gd name="T88" fmla="*/ 12 w 12"/>
              <a:gd name="T89" fmla="*/ 1918 h 2553"/>
              <a:gd name="T90" fmla="*/ 0 w 12"/>
              <a:gd name="T91" fmla="*/ 1966 h 2553"/>
              <a:gd name="T92" fmla="*/ 0 w 12"/>
              <a:gd name="T93" fmla="*/ 2025 h 2553"/>
              <a:gd name="T94" fmla="*/ 12 w 12"/>
              <a:gd name="T95" fmla="*/ 2073 h 2553"/>
              <a:gd name="T96" fmla="*/ 12 w 12"/>
              <a:gd name="T97" fmla="*/ 2109 h 2553"/>
              <a:gd name="T98" fmla="*/ 12 w 12"/>
              <a:gd name="T99" fmla="*/ 2133 h 2553"/>
              <a:gd name="T100" fmla="*/ 0 w 12"/>
              <a:gd name="T101" fmla="*/ 2181 h 2553"/>
              <a:gd name="T102" fmla="*/ 0 w 12"/>
              <a:gd name="T103" fmla="*/ 2241 h 2553"/>
              <a:gd name="T104" fmla="*/ 12 w 12"/>
              <a:gd name="T105" fmla="*/ 2289 h 2553"/>
              <a:gd name="T106" fmla="*/ 12 w 12"/>
              <a:gd name="T107" fmla="*/ 2325 h 2553"/>
              <a:gd name="T108" fmla="*/ 12 w 12"/>
              <a:gd name="T109" fmla="*/ 2349 h 2553"/>
              <a:gd name="T110" fmla="*/ 0 w 12"/>
              <a:gd name="T111" fmla="*/ 2397 h 2553"/>
              <a:gd name="T112" fmla="*/ 0 w 12"/>
              <a:gd name="T113" fmla="*/ 2457 h 2553"/>
              <a:gd name="T114" fmla="*/ 12 w 12"/>
              <a:gd name="T115" fmla="*/ 2505 h 2553"/>
              <a:gd name="T116" fmla="*/ 12 w 12"/>
              <a:gd name="T117" fmla="*/ 2541 h 25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12" h="2553">
                <a:moveTo>
                  <a:pt x="12" y="0"/>
                </a:moveTo>
                <a:lnTo>
                  <a:pt x="12" y="12"/>
                </a:lnTo>
                <a:lnTo>
                  <a:pt x="0" y="12"/>
                </a:lnTo>
                <a:lnTo>
                  <a:pt x="0" y="0"/>
                </a:lnTo>
                <a:lnTo>
                  <a:pt x="12" y="0"/>
                </a:lnTo>
                <a:close/>
                <a:moveTo>
                  <a:pt x="12" y="25"/>
                </a:moveTo>
                <a:lnTo>
                  <a:pt x="12" y="36"/>
                </a:lnTo>
                <a:lnTo>
                  <a:pt x="0" y="36"/>
                </a:lnTo>
                <a:lnTo>
                  <a:pt x="0" y="25"/>
                </a:lnTo>
                <a:lnTo>
                  <a:pt x="12" y="25"/>
                </a:lnTo>
                <a:close/>
                <a:moveTo>
                  <a:pt x="12" y="48"/>
                </a:moveTo>
                <a:lnTo>
                  <a:pt x="12" y="60"/>
                </a:lnTo>
                <a:lnTo>
                  <a:pt x="0" y="60"/>
                </a:lnTo>
                <a:lnTo>
                  <a:pt x="0" y="48"/>
                </a:lnTo>
                <a:lnTo>
                  <a:pt x="12" y="48"/>
                </a:lnTo>
                <a:close/>
                <a:moveTo>
                  <a:pt x="12" y="72"/>
                </a:moveTo>
                <a:lnTo>
                  <a:pt x="12" y="84"/>
                </a:lnTo>
                <a:lnTo>
                  <a:pt x="0" y="84"/>
                </a:lnTo>
                <a:lnTo>
                  <a:pt x="0" y="72"/>
                </a:lnTo>
                <a:lnTo>
                  <a:pt x="12" y="72"/>
                </a:lnTo>
                <a:close/>
                <a:moveTo>
                  <a:pt x="12" y="96"/>
                </a:moveTo>
                <a:lnTo>
                  <a:pt x="12" y="108"/>
                </a:lnTo>
                <a:lnTo>
                  <a:pt x="0" y="108"/>
                </a:lnTo>
                <a:lnTo>
                  <a:pt x="0" y="96"/>
                </a:lnTo>
                <a:lnTo>
                  <a:pt x="12" y="96"/>
                </a:lnTo>
                <a:close/>
                <a:moveTo>
                  <a:pt x="12" y="120"/>
                </a:moveTo>
                <a:lnTo>
                  <a:pt x="12" y="132"/>
                </a:lnTo>
                <a:lnTo>
                  <a:pt x="0" y="132"/>
                </a:lnTo>
                <a:lnTo>
                  <a:pt x="0" y="120"/>
                </a:lnTo>
                <a:lnTo>
                  <a:pt x="12" y="120"/>
                </a:lnTo>
                <a:close/>
                <a:moveTo>
                  <a:pt x="12" y="144"/>
                </a:moveTo>
                <a:lnTo>
                  <a:pt x="12" y="156"/>
                </a:lnTo>
                <a:lnTo>
                  <a:pt x="0" y="156"/>
                </a:lnTo>
                <a:lnTo>
                  <a:pt x="0" y="144"/>
                </a:lnTo>
                <a:lnTo>
                  <a:pt x="12" y="144"/>
                </a:lnTo>
                <a:close/>
                <a:moveTo>
                  <a:pt x="12" y="168"/>
                </a:moveTo>
                <a:lnTo>
                  <a:pt x="12" y="180"/>
                </a:lnTo>
                <a:lnTo>
                  <a:pt x="0" y="180"/>
                </a:lnTo>
                <a:lnTo>
                  <a:pt x="0" y="168"/>
                </a:lnTo>
                <a:lnTo>
                  <a:pt x="12" y="168"/>
                </a:lnTo>
                <a:close/>
                <a:moveTo>
                  <a:pt x="12" y="192"/>
                </a:moveTo>
                <a:lnTo>
                  <a:pt x="12" y="204"/>
                </a:lnTo>
                <a:lnTo>
                  <a:pt x="0" y="204"/>
                </a:lnTo>
                <a:lnTo>
                  <a:pt x="0" y="192"/>
                </a:lnTo>
                <a:lnTo>
                  <a:pt x="12" y="192"/>
                </a:lnTo>
                <a:close/>
                <a:moveTo>
                  <a:pt x="12" y="216"/>
                </a:moveTo>
                <a:lnTo>
                  <a:pt x="12" y="228"/>
                </a:lnTo>
                <a:lnTo>
                  <a:pt x="0" y="228"/>
                </a:lnTo>
                <a:lnTo>
                  <a:pt x="0" y="216"/>
                </a:lnTo>
                <a:lnTo>
                  <a:pt x="12" y="216"/>
                </a:lnTo>
                <a:close/>
                <a:moveTo>
                  <a:pt x="12" y="240"/>
                </a:moveTo>
                <a:lnTo>
                  <a:pt x="12" y="252"/>
                </a:lnTo>
                <a:lnTo>
                  <a:pt x="0" y="252"/>
                </a:lnTo>
                <a:lnTo>
                  <a:pt x="0" y="240"/>
                </a:lnTo>
                <a:lnTo>
                  <a:pt x="12" y="240"/>
                </a:lnTo>
                <a:close/>
                <a:moveTo>
                  <a:pt x="12" y="264"/>
                </a:moveTo>
                <a:lnTo>
                  <a:pt x="12" y="276"/>
                </a:lnTo>
                <a:lnTo>
                  <a:pt x="0" y="276"/>
                </a:lnTo>
                <a:lnTo>
                  <a:pt x="0" y="264"/>
                </a:lnTo>
                <a:lnTo>
                  <a:pt x="12" y="264"/>
                </a:lnTo>
                <a:close/>
                <a:moveTo>
                  <a:pt x="12" y="288"/>
                </a:moveTo>
                <a:lnTo>
                  <a:pt x="12" y="300"/>
                </a:lnTo>
                <a:lnTo>
                  <a:pt x="0" y="300"/>
                </a:lnTo>
                <a:lnTo>
                  <a:pt x="0" y="288"/>
                </a:lnTo>
                <a:lnTo>
                  <a:pt x="12" y="288"/>
                </a:lnTo>
                <a:close/>
                <a:moveTo>
                  <a:pt x="12" y="312"/>
                </a:moveTo>
                <a:lnTo>
                  <a:pt x="12" y="324"/>
                </a:lnTo>
                <a:lnTo>
                  <a:pt x="0" y="324"/>
                </a:lnTo>
                <a:lnTo>
                  <a:pt x="0" y="312"/>
                </a:lnTo>
                <a:lnTo>
                  <a:pt x="12" y="312"/>
                </a:lnTo>
                <a:close/>
                <a:moveTo>
                  <a:pt x="12" y="336"/>
                </a:moveTo>
                <a:lnTo>
                  <a:pt x="12" y="348"/>
                </a:lnTo>
                <a:lnTo>
                  <a:pt x="0" y="348"/>
                </a:lnTo>
                <a:lnTo>
                  <a:pt x="0" y="336"/>
                </a:lnTo>
                <a:lnTo>
                  <a:pt x="12" y="336"/>
                </a:lnTo>
                <a:close/>
                <a:moveTo>
                  <a:pt x="12" y="360"/>
                </a:moveTo>
                <a:lnTo>
                  <a:pt x="12" y="372"/>
                </a:lnTo>
                <a:lnTo>
                  <a:pt x="0" y="372"/>
                </a:lnTo>
                <a:lnTo>
                  <a:pt x="0" y="360"/>
                </a:lnTo>
                <a:lnTo>
                  <a:pt x="12" y="360"/>
                </a:lnTo>
                <a:close/>
                <a:moveTo>
                  <a:pt x="12" y="384"/>
                </a:moveTo>
                <a:lnTo>
                  <a:pt x="12" y="396"/>
                </a:lnTo>
                <a:lnTo>
                  <a:pt x="0" y="396"/>
                </a:lnTo>
                <a:lnTo>
                  <a:pt x="0" y="384"/>
                </a:lnTo>
                <a:lnTo>
                  <a:pt x="12" y="384"/>
                </a:lnTo>
                <a:close/>
                <a:moveTo>
                  <a:pt x="12" y="408"/>
                </a:moveTo>
                <a:lnTo>
                  <a:pt x="12" y="420"/>
                </a:lnTo>
                <a:lnTo>
                  <a:pt x="0" y="420"/>
                </a:lnTo>
                <a:lnTo>
                  <a:pt x="0" y="408"/>
                </a:lnTo>
                <a:lnTo>
                  <a:pt x="12" y="408"/>
                </a:lnTo>
                <a:close/>
                <a:moveTo>
                  <a:pt x="12" y="432"/>
                </a:moveTo>
                <a:lnTo>
                  <a:pt x="12" y="444"/>
                </a:lnTo>
                <a:lnTo>
                  <a:pt x="0" y="444"/>
                </a:lnTo>
                <a:lnTo>
                  <a:pt x="0" y="432"/>
                </a:lnTo>
                <a:lnTo>
                  <a:pt x="12" y="432"/>
                </a:lnTo>
                <a:close/>
                <a:moveTo>
                  <a:pt x="12" y="456"/>
                </a:moveTo>
                <a:lnTo>
                  <a:pt x="12" y="468"/>
                </a:lnTo>
                <a:lnTo>
                  <a:pt x="0" y="468"/>
                </a:lnTo>
                <a:lnTo>
                  <a:pt x="0" y="456"/>
                </a:lnTo>
                <a:lnTo>
                  <a:pt x="12" y="456"/>
                </a:lnTo>
                <a:close/>
                <a:moveTo>
                  <a:pt x="12" y="480"/>
                </a:moveTo>
                <a:lnTo>
                  <a:pt x="12" y="492"/>
                </a:lnTo>
                <a:lnTo>
                  <a:pt x="0" y="492"/>
                </a:lnTo>
                <a:lnTo>
                  <a:pt x="0" y="480"/>
                </a:lnTo>
                <a:lnTo>
                  <a:pt x="12" y="480"/>
                </a:lnTo>
                <a:close/>
                <a:moveTo>
                  <a:pt x="12" y="504"/>
                </a:moveTo>
                <a:lnTo>
                  <a:pt x="12" y="516"/>
                </a:lnTo>
                <a:lnTo>
                  <a:pt x="0" y="516"/>
                </a:lnTo>
                <a:lnTo>
                  <a:pt x="0" y="504"/>
                </a:lnTo>
                <a:lnTo>
                  <a:pt x="12" y="504"/>
                </a:lnTo>
                <a:close/>
                <a:moveTo>
                  <a:pt x="12" y="528"/>
                </a:moveTo>
                <a:lnTo>
                  <a:pt x="12" y="540"/>
                </a:lnTo>
                <a:lnTo>
                  <a:pt x="0" y="540"/>
                </a:lnTo>
                <a:lnTo>
                  <a:pt x="0" y="528"/>
                </a:lnTo>
                <a:lnTo>
                  <a:pt x="12" y="528"/>
                </a:lnTo>
                <a:close/>
                <a:moveTo>
                  <a:pt x="12" y="552"/>
                </a:moveTo>
                <a:lnTo>
                  <a:pt x="12" y="564"/>
                </a:lnTo>
                <a:lnTo>
                  <a:pt x="0" y="564"/>
                </a:lnTo>
                <a:lnTo>
                  <a:pt x="0" y="552"/>
                </a:lnTo>
                <a:lnTo>
                  <a:pt x="12" y="552"/>
                </a:lnTo>
                <a:close/>
                <a:moveTo>
                  <a:pt x="12" y="576"/>
                </a:moveTo>
                <a:lnTo>
                  <a:pt x="12" y="588"/>
                </a:lnTo>
                <a:lnTo>
                  <a:pt x="0" y="588"/>
                </a:lnTo>
                <a:lnTo>
                  <a:pt x="0" y="576"/>
                </a:lnTo>
                <a:lnTo>
                  <a:pt x="12" y="576"/>
                </a:lnTo>
                <a:close/>
                <a:moveTo>
                  <a:pt x="12" y="600"/>
                </a:moveTo>
                <a:lnTo>
                  <a:pt x="12" y="611"/>
                </a:lnTo>
                <a:lnTo>
                  <a:pt x="0" y="611"/>
                </a:lnTo>
                <a:lnTo>
                  <a:pt x="0" y="600"/>
                </a:lnTo>
                <a:lnTo>
                  <a:pt x="12" y="600"/>
                </a:lnTo>
                <a:close/>
                <a:moveTo>
                  <a:pt x="12" y="624"/>
                </a:moveTo>
                <a:lnTo>
                  <a:pt x="12" y="636"/>
                </a:lnTo>
                <a:lnTo>
                  <a:pt x="0" y="636"/>
                </a:lnTo>
                <a:lnTo>
                  <a:pt x="0" y="624"/>
                </a:lnTo>
                <a:lnTo>
                  <a:pt x="12" y="624"/>
                </a:lnTo>
                <a:close/>
                <a:moveTo>
                  <a:pt x="12" y="647"/>
                </a:moveTo>
                <a:lnTo>
                  <a:pt x="12" y="659"/>
                </a:lnTo>
                <a:lnTo>
                  <a:pt x="0" y="659"/>
                </a:lnTo>
                <a:lnTo>
                  <a:pt x="0" y="647"/>
                </a:lnTo>
                <a:lnTo>
                  <a:pt x="12" y="647"/>
                </a:lnTo>
                <a:close/>
                <a:moveTo>
                  <a:pt x="12" y="672"/>
                </a:moveTo>
                <a:lnTo>
                  <a:pt x="12" y="683"/>
                </a:lnTo>
                <a:lnTo>
                  <a:pt x="0" y="683"/>
                </a:lnTo>
                <a:lnTo>
                  <a:pt x="0" y="672"/>
                </a:lnTo>
                <a:lnTo>
                  <a:pt x="12" y="672"/>
                </a:lnTo>
                <a:close/>
                <a:moveTo>
                  <a:pt x="12" y="695"/>
                </a:moveTo>
                <a:lnTo>
                  <a:pt x="12" y="708"/>
                </a:lnTo>
                <a:lnTo>
                  <a:pt x="0" y="708"/>
                </a:lnTo>
                <a:lnTo>
                  <a:pt x="0" y="695"/>
                </a:lnTo>
                <a:lnTo>
                  <a:pt x="12" y="695"/>
                </a:lnTo>
                <a:close/>
                <a:moveTo>
                  <a:pt x="12" y="719"/>
                </a:moveTo>
                <a:lnTo>
                  <a:pt x="12" y="731"/>
                </a:lnTo>
                <a:lnTo>
                  <a:pt x="0" y="731"/>
                </a:lnTo>
                <a:lnTo>
                  <a:pt x="0" y="719"/>
                </a:lnTo>
                <a:lnTo>
                  <a:pt x="12" y="719"/>
                </a:lnTo>
                <a:close/>
                <a:moveTo>
                  <a:pt x="12" y="743"/>
                </a:moveTo>
                <a:lnTo>
                  <a:pt x="12" y="755"/>
                </a:lnTo>
                <a:lnTo>
                  <a:pt x="0" y="755"/>
                </a:lnTo>
                <a:lnTo>
                  <a:pt x="0" y="743"/>
                </a:lnTo>
                <a:lnTo>
                  <a:pt x="12" y="743"/>
                </a:lnTo>
                <a:close/>
                <a:moveTo>
                  <a:pt x="12" y="767"/>
                </a:moveTo>
                <a:lnTo>
                  <a:pt x="12" y="779"/>
                </a:lnTo>
                <a:lnTo>
                  <a:pt x="0" y="779"/>
                </a:lnTo>
                <a:lnTo>
                  <a:pt x="0" y="767"/>
                </a:lnTo>
                <a:lnTo>
                  <a:pt x="12" y="767"/>
                </a:lnTo>
                <a:close/>
                <a:moveTo>
                  <a:pt x="12" y="791"/>
                </a:moveTo>
                <a:lnTo>
                  <a:pt x="12" y="803"/>
                </a:lnTo>
                <a:lnTo>
                  <a:pt x="0" y="803"/>
                </a:lnTo>
                <a:lnTo>
                  <a:pt x="0" y="791"/>
                </a:lnTo>
                <a:lnTo>
                  <a:pt x="12" y="791"/>
                </a:lnTo>
                <a:close/>
                <a:moveTo>
                  <a:pt x="12" y="815"/>
                </a:moveTo>
                <a:lnTo>
                  <a:pt x="12" y="827"/>
                </a:lnTo>
                <a:lnTo>
                  <a:pt x="0" y="827"/>
                </a:lnTo>
                <a:lnTo>
                  <a:pt x="0" y="815"/>
                </a:lnTo>
                <a:lnTo>
                  <a:pt x="12" y="815"/>
                </a:lnTo>
                <a:close/>
                <a:moveTo>
                  <a:pt x="12" y="839"/>
                </a:moveTo>
                <a:lnTo>
                  <a:pt x="12" y="851"/>
                </a:lnTo>
                <a:lnTo>
                  <a:pt x="0" y="851"/>
                </a:lnTo>
                <a:lnTo>
                  <a:pt x="0" y="839"/>
                </a:lnTo>
                <a:lnTo>
                  <a:pt x="12" y="839"/>
                </a:lnTo>
                <a:close/>
                <a:moveTo>
                  <a:pt x="12" y="863"/>
                </a:moveTo>
                <a:lnTo>
                  <a:pt x="12" y="875"/>
                </a:lnTo>
                <a:lnTo>
                  <a:pt x="0" y="875"/>
                </a:lnTo>
                <a:lnTo>
                  <a:pt x="0" y="863"/>
                </a:lnTo>
                <a:lnTo>
                  <a:pt x="12" y="863"/>
                </a:lnTo>
                <a:close/>
                <a:moveTo>
                  <a:pt x="12" y="887"/>
                </a:moveTo>
                <a:lnTo>
                  <a:pt x="12" y="899"/>
                </a:lnTo>
                <a:lnTo>
                  <a:pt x="0" y="899"/>
                </a:lnTo>
                <a:lnTo>
                  <a:pt x="0" y="887"/>
                </a:lnTo>
                <a:lnTo>
                  <a:pt x="12" y="887"/>
                </a:lnTo>
                <a:close/>
                <a:moveTo>
                  <a:pt x="12" y="911"/>
                </a:moveTo>
                <a:lnTo>
                  <a:pt x="12" y="923"/>
                </a:lnTo>
                <a:lnTo>
                  <a:pt x="0" y="923"/>
                </a:lnTo>
                <a:lnTo>
                  <a:pt x="0" y="911"/>
                </a:lnTo>
                <a:lnTo>
                  <a:pt x="12" y="911"/>
                </a:lnTo>
                <a:close/>
                <a:moveTo>
                  <a:pt x="12" y="935"/>
                </a:moveTo>
                <a:lnTo>
                  <a:pt x="12" y="947"/>
                </a:lnTo>
                <a:lnTo>
                  <a:pt x="0" y="947"/>
                </a:lnTo>
                <a:lnTo>
                  <a:pt x="0" y="935"/>
                </a:lnTo>
                <a:lnTo>
                  <a:pt x="12" y="935"/>
                </a:lnTo>
                <a:close/>
                <a:moveTo>
                  <a:pt x="12" y="959"/>
                </a:moveTo>
                <a:lnTo>
                  <a:pt x="12" y="971"/>
                </a:lnTo>
                <a:lnTo>
                  <a:pt x="0" y="971"/>
                </a:lnTo>
                <a:lnTo>
                  <a:pt x="0" y="959"/>
                </a:lnTo>
                <a:lnTo>
                  <a:pt x="12" y="959"/>
                </a:lnTo>
                <a:close/>
                <a:moveTo>
                  <a:pt x="12" y="983"/>
                </a:moveTo>
                <a:lnTo>
                  <a:pt x="12" y="995"/>
                </a:lnTo>
                <a:lnTo>
                  <a:pt x="0" y="995"/>
                </a:lnTo>
                <a:lnTo>
                  <a:pt x="0" y="983"/>
                </a:lnTo>
                <a:lnTo>
                  <a:pt x="12" y="983"/>
                </a:lnTo>
                <a:close/>
                <a:moveTo>
                  <a:pt x="12" y="1007"/>
                </a:moveTo>
                <a:lnTo>
                  <a:pt x="12" y="1019"/>
                </a:lnTo>
                <a:lnTo>
                  <a:pt x="0" y="1019"/>
                </a:lnTo>
                <a:lnTo>
                  <a:pt x="0" y="1007"/>
                </a:lnTo>
                <a:lnTo>
                  <a:pt x="12" y="1007"/>
                </a:lnTo>
                <a:close/>
                <a:moveTo>
                  <a:pt x="12" y="1031"/>
                </a:moveTo>
                <a:lnTo>
                  <a:pt x="12" y="1043"/>
                </a:lnTo>
                <a:lnTo>
                  <a:pt x="0" y="1043"/>
                </a:lnTo>
                <a:lnTo>
                  <a:pt x="0" y="1031"/>
                </a:lnTo>
                <a:lnTo>
                  <a:pt x="12" y="1031"/>
                </a:lnTo>
                <a:close/>
                <a:moveTo>
                  <a:pt x="12" y="1055"/>
                </a:moveTo>
                <a:lnTo>
                  <a:pt x="12" y="1067"/>
                </a:lnTo>
                <a:lnTo>
                  <a:pt x="0" y="1067"/>
                </a:lnTo>
                <a:lnTo>
                  <a:pt x="0" y="1055"/>
                </a:lnTo>
                <a:lnTo>
                  <a:pt x="12" y="1055"/>
                </a:lnTo>
                <a:close/>
                <a:moveTo>
                  <a:pt x="12" y="1079"/>
                </a:moveTo>
                <a:lnTo>
                  <a:pt x="12" y="1091"/>
                </a:lnTo>
                <a:lnTo>
                  <a:pt x="0" y="1091"/>
                </a:lnTo>
                <a:lnTo>
                  <a:pt x="0" y="1079"/>
                </a:lnTo>
                <a:lnTo>
                  <a:pt x="12" y="1079"/>
                </a:lnTo>
                <a:close/>
                <a:moveTo>
                  <a:pt x="12" y="1103"/>
                </a:moveTo>
                <a:lnTo>
                  <a:pt x="12" y="1115"/>
                </a:lnTo>
                <a:lnTo>
                  <a:pt x="0" y="1115"/>
                </a:lnTo>
                <a:lnTo>
                  <a:pt x="0" y="1103"/>
                </a:lnTo>
                <a:lnTo>
                  <a:pt x="12" y="1103"/>
                </a:lnTo>
                <a:close/>
                <a:moveTo>
                  <a:pt x="12" y="1127"/>
                </a:moveTo>
                <a:lnTo>
                  <a:pt x="12" y="1139"/>
                </a:lnTo>
                <a:lnTo>
                  <a:pt x="0" y="1139"/>
                </a:lnTo>
                <a:lnTo>
                  <a:pt x="0" y="1127"/>
                </a:lnTo>
                <a:lnTo>
                  <a:pt x="12" y="1127"/>
                </a:lnTo>
                <a:close/>
                <a:moveTo>
                  <a:pt x="12" y="1151"/>
                </a:moveTo>
                <a:lnTo>
                  <a:pt x="12" y="1163"/>
                </a:lnTo>
                <a:lnTo>
                  <a:pt x="0" y="1163"/>
                </a:lnTo>
                <a:lnTo>
                  <a:pt x="0" y="1151"/>
                </a:lnTo>
                <a:lnTo>
                  <a:pt x="12" y="1151"/>
                </a:lnTo>
                <a:close/>
                <a:moveTo>
                  <a:pt x="12" y="1175"/>
                </a:moveTo>
                <a:lnTo>
                  <a:pt x="12" y="1187"/>
                </a:lnTo>
                <a:lnTo>
                  <a:pt x="0" y="1187"/>
                </a:lnTo>
                <a:lnTo>
                  <a:pt x="0" y="1175"/>
                </a:lnTo>
                <a:lnTo>
                  <a:pt x="12" y="1175"/>
                </a:lnTo>
                <a:close/>
                <a:moveTo>
                  <a:pt x="12" y="1199"/>
                </a:moveTo>
                <a:lnTo>
                  <a:pt x="12" y="1211"/>
                </a:lnTo>
                <a:lnTo>
                  <a:pt x="0" y="1211"/>
                </a:lnTo>
                <a:lnTo>
                  <a:pt x="0" y="1199"/>
                </a:lnTo>
                <a:lnTo>
                  <a:pt x="12" y="1199"/>
                </a:lnTo>
                <a:close/>
                <a:moveTo>
                  <a:pt x="12" y="1223"/>
                </a:moveTo>
                <a:lnTo>
                  <a:pt x="12" y="1235"/>
                </a:lnTo>
                <a:lnTo>
                  <a:pt x="0" y="1235"/>
                </a:lnTo>
                <a:lnTo>
                  <a:pt x="0" y="1223"/>
                </a:lnTo>
                <a:lnTo>
                  <a:pt x="12" y="1223"/>
                </a:lnTo>
                <a:close/>
                <a:moveTo>
                  <a:pt x="12" y="1247"/>
                </a:moveTo>
                <a:lnTo>
                  <a:pt x="12" y="1259"/>
                </a:lnTo>
                <a:lnTo>
                  <a:pt x="0" y="1259"/>
                </a:lnTo>
                <a:lnTo>
                  <a:pt x="0" y="1247"/>
                </a:lnTo>
                <a:lnTo>
                  <a:pt x="12" y="1247"/>
                </a:lnTo>
                <a:close/>
                <a:moveTo>
                  <a:pt x="12" y="1271"/>
                </a:moveTo>
                <a:lnTo>
                  <a:pt x="12" y="1283"/>
                </a:lnTo>
                <a:lnTo>
                  <a:pt x="0" y="1283"/>
                </a:lnTo>
                <a:lnTo>
                  <a:pt x="0" y="1271"/>
                </a:lnTo>
                <a:lnTo>
                  <a:pt x="12" y="1271"/>
                </a:lnTo>
                <a:close/>
                <a:moveTo>
                  <a:pt x="12" y="1294"/>
                </a:moveTo>
                <a:lnTo>
                  <a:pt x="12" y="1307"/>
                </a:lnTo>
                <a:lnTo>
                  <a:pt x="0" y="1307"/>
                </a:lnTo>
                <a:lnTo>
                  <a:pt x="0" y="1294"/>
                </a:lnTo>
                <a:lnTo>
                  <a:pt x="12" y="1294"/>
                </a:lnTo>
                <a:close/>
                <a:moveTo>
                  <a:pt x="12" y="1319"/>
                </a:moveTo>
                <a:lnTo>
                  <a:pt x="12" y="1330"/>
                </a:lnTo>
                <a:lnTo>
                  <a:pt x="0" y="1330"/>
                </a:lnTo>
                <a:lnTo>
                  <a:pt x="0" y="1319"/>
                </a:lnTo>
                <a:lnTo>
                  <a:pt x="12" y="1319"/>
                </a:lnTo>
                <a:close/>
                <a:moveTo>
                  <a:pt x="12" y="1342"/>
                </a:moveTo>
                <a:lnTo>
                  <a:pt x="12" y="1355"/>
                </a:lnTo>
                <a:lnTo>
                  <a:pt x="0" y="1355"/>
                </a:lnTo>
                <a:lnTo>
                  <a:pt x="0" y="1342"/>
                </a:lnTo>
                <a:lnTo>
                  <a:pt x="12" y="1342"/>
                </a:lnTo>
                <a:close/>
                <a:moveTo>
                  <a:pt x="12" y="1366"/>
                </a:moveTo>
                <a:lnTo>
                  <a:pt x="12" y="1378"/>
                </a:lnTo>
                <a:lnTo>
                  <a:pt x="0" y="1378"/>
                </a:lnTo>
                <a:lnTo>
                  <a:pt x="0" y="1366"/>
                </a:lnTo>
                <a:lnTo>
                  <a:pt x="12" y="1366"/>
                </a:lnTo>
                <a:close/>
                <a:moveTo>
                  <a:pt x="12" y="1390"/>
                </a:moveTo>
                <a:lnTo>
                  <a:pt x="12" y="1402"/>
                </a:lnTo>
                <a:lnTo>
                  <a:pt x="0" y="1402"/>
                </a:lnTo>
                <a:lnTo>
                  <a:pt x="0" y="1390"/>
                </a:lnTo>
                <a:lnTo>
                  <a:pt x="12" y="1390"/>
                </a:lnTo>
                <a:close/>
                <a:moveTo>
                  <a:pt x="12" y="1414"/>
                </a:moveTo>
                <a:lnTo>
                  <a:pt x="12" y="1426"/>
                </a:lnTo>
                <a:lnTo>
                  <a:pt x="0" y="1426"/>
                </a:lnTo>
                <a:lnTo>
                  <a:pt x="0" y="1414"/>
                </a:lnTo>
                <a:lnTo>
                  <a:pt x="12" y="1414"/>
                </a:lnTo>
                <a:close/>
                <a:moveTo>
                  <a:pt x="12" y="1438"/>
                </a:moveTo>
                <a:lnTo>
                  <a:pt x="12" y="1450"/>
                </a:lnTo>
                <a:lnTo>
                  <a:pt x="0" y="1450"/>
                </a:lnTo>
                <a:lnTo>
                  <a:pt x="0" y="1438"/>
                </a:lnTo>
                <a:lnTo>
                  <a:pt x="12" y="1438"/>
                </a:lnTo>
                <a:close/>
                <a:moveTo>
                  <a:pt x="12" y="1462"/>
                </a:moveTo>
                <a:lnTo>
                  <a:pt x="12" y="1474"/>
                </a:lnTo>
                <a:lnTo>
                  <a:pt x="0" y="1474"/>
                </a:lnTo>
                <a:lnTo>
                  <a:pt x="0" y="1462"/>
                </a:lnTo>
                <a:lnTo>
                  <a:pt x="12" y="1462"/>
                </a:lnTo>
                <a:close/>
                <a:moveTo>
                  <a:pt x="12" y="1486"/>
                </a:moveTo>
                <a:lnTo>
                  <a:pt x="12" y="1498"/>
                </a:lnTo>
                <a:lnTo>
                  <a:pt x="0" y="1498"/>
                </a:lnTo>
                <a:lnTo>
                  <a:pt x="0" y="1486"/>
                </a:lnTo>
                <a:lnTo>
                  <a:pt x="12" y="1486"/>
                </a:lnTo>
                <a:close/>
                <a:moveTo>
                  <a:pt x="12" y="1510"/>
                </a:moveTo>
                <a:lnTo>
                  <a:pt x="12" y="1522"/>
                </a:lnTo>
                <a:lnTo>
                  <a:pt x="0" y="1522"/>
                </a:lnTo>
                <a:lnTo>
                  <a:pt x="0" y="1510"/>
                </a:lnTo>
                <a:lnTo>
                  <a:pt x="12" y="1510"/>
                </a:lnTo>
                <a:close/>
                <a:moveTo>
                  <a:pt x="12" y="1534"/>
                </a:moveTo>
                <a:lnTo>
                  <a:pt x="12" y="1546"/>
                </a:lnTo>
                <a:lnTo>
                  <a:pt x="0" y="1546"/>
                </a:lnTo>
                <a:lnTo>
                  <a:pt x="0" y="1534"/>
                </a:lnTo>
                <a:lnTo>
                  <a:pt x="12" y="1534"/>
                </a:lnTo>
                <a:close/>
                <a:moveTo>
                  <a:pt x="12" y="1558"/>
                </a:moveTo>
                <a:lnTo>
                  <a:pt x="12" y="1570"/>
                </a:lnTo>
                <a:lnTo>
                  <a:pt x="0" y="1570"/>
                </a:lnTo>
                <a:lnTo>
                  <a:pt x="0" y="1558"/>
                </a:lnTo>
                <a:lnTo>
                  <a:pt x="12" y="1558"/>
                </a:lnTo>
                <a:close/>
                <a:moveTo>
                  <a:pt x="12" y="1582"/>
                </a:moveTo>
                <a:lnTo>
                  <a:pt x="12" y="1594"/>
                </a:lnTo>
                <a:lnTo>
                  <a:pt x="0" y="1594"/>
                </a:lnTo>
                <a:lnTo>
                  <a:pt x="0" y="1582"/>
                </a:lnTo>
                <a:lnTo>
                  <a:pt x="12" y="1582"/>
                </a:lnTo>
                <a:close/>
                <a:moveTo>
                  <a:pt x="12" y="1606"/>
                </a:moveTo>
                <a:lnTo>
                  <a:pt x="12" y="1618"/>
                </a:lnTo>
                <a:lnTo>
                  <a:pt x="0" y="1618"/>
                </a:lnTo>
                <a:lnTo>
                  <a:pt x="0" y="1606"/>
                </a:lnTo>
                <a:lnTo>
                  <a:pt x="12" y="1606"/>
                </a:lnTo>
                <a:close/>
                <a:moveTo>
                  <a:pt x="12" y="1630"/>
                </a:moveTo>
                <a:lnTo>
                  <a:pt x="12" y="1642"/>
                </a:lnTo>
                <a:lnTo>
                  <a:pt x="0" y="1642"/>
                </a:lnTo>
                <a:lnTo>
                  <a:pt x="0" y="1630"/>
                </a:lnTo>
                <a:lnTo>
                  <a:pt x="12" y="1630"/>
                </a:lnTo>
                <a:close/>
                <a:moveTo>
                  <a:pt x="12" y="1654"/>
                </a:moveTo>
                <a:lnTo>
                  <a:pt x="12" y="1666"/>
                </a:lnTo>
                <a:lnTo>
                  <a:pt x="0" y="1666"/>
                </a:lnTo>
                <a:lnTo>
                  <a:pt x="0" y="1654"/>
                </a:lnTo>
                <a:lnTo>
                  <a:pt x="12" y="1654"/>
                </a:lnTo>
                <a:close/>
                <a:moveTo>
                  <a:pt x="12" y="1678"/>
                </a:moveTo>
                <a:lnTo>
                  <a:pt x="12" y="1690"/>
                </a:lnTo>
                <a:lnTo>
                  <a:pt x="0" y="1690"/>
                </a:lnTo>
                <a:lnTo>
                  <a:pt x="0" y="1678"/>
                </a:lnTo>
                <a:lnTo>
                  <a:pt x="12" y="1678"/>
                </a:lnTo>
                <a:close/>
                <a:moveTo>
                  <a:pt x="12" y="1702"/>
                </a:moveTo>
                <a:lnTo>
                  <a:pt x="12" y="1714"/>
                </a:lnTo>
                <a:lnTo>
                  <a:pt x="0" y="1714"/>
                </a:lnTo>
                <a:lnTo>
                  <a:pt x="0" y="1702"/>
                </a:lnTo>
                <a:lnTo>
                  <a:pt x="12" y="1702"/>
                </a:lnTo>
                <a:close/>
                <a:moveTo>
                  <a:pt x="12" y="1726"/>
                </a:moveTo>
                <a:lnTo>
                  <a:pt x="12" y="1738"/>
                </a:lnTo>
                <a:lnTo>
                  <a:pt x="0" y="1738"/>
                </a:lnTo>
                <a:lnTo>
                  <a:pt x="0" y="1726"/>
                </a:lnTo>
                <a:lnTo>
                  <a:pt x="12" y="1726"/>
                </a:lnTo>
                <a:close/>
                <a:moveTo>
                  <a:pt x="12" y="1750"/>
                </a:moveTo>
                <a:lnTo>
                  <a:pt x="12" y="1762"/>
                </a:lnTo>
                <a:lnTo>
                  <a:pt x="0" y="1762"/>
                </a:lnTo>
                <a:lnTo>
                  <a:pt x="0" y="1750"/>
                </a:lnTo>
                <a:lnTo>
                  <a:pt x="12" y="1750"/>
                </a:lnTo>
                <a:close/>
                <a:moveTo>
                  <a:pt x="12" y="1774"/>
                </a:moveTo>
                <a:lnTo>
                  <a:pt x="12" y="1786"/>
                </a:lnTo>
                <a:lnTo>
                  <a:pt x="0" y="1786"/>
                </a:lnTo>
                <a:lnTo>
                  <a:pt x="0" y="1774"/>
                </a:lnTo>
                <a:lnTo>
                  <a:pt x="12" y="1774"/>
                </a:lnTo>
                <a:close/>
                <a:moveTo>
                  <a:pt x="12" y="1798"/>
                </a:moveTo>
                <a:lnTo>
                  <a:pt x="12" y="1810"/>
                </a:lnTo>
                <a:lnTo>
                  <a:pt x="0" y="1810"/>
                </a:lnTo>
                <a:lnTo>
                  <a:pt x="0" y="1798"/>
                </a:lnTo>
                <a:lnTo>
                  <a:pt x="12" y="1798"/>
                </a:lnTo>
                <a:close/>
                <a:moveTo>
                  <a:pt x="12" y="1822"/>
                </a:moveTo>
                <a:lnTo>
                  <a:pt x="12" y="1834"/>
                </a:lnTo>
                <a:lnTo>
                  <a:pt x="0" y="1834"/>
                </a:lnTo>
                <a:lnTo>
                  <a:pt x="0" y="1822"/>
                </a:lnTo>
                <a:lnTo>
                  <a:pt x="12" y="1822"/>
                </a:lnTo>
                <a:close/>
                <a:moveTo>
                  <a:pt x="12" y="1846"/>
                </a:moveTo>
                <a:lnTo>
                  <a:pt x="12" y="1858"/>
                </a:lnTo>
                <a:lnTo>
                  <a:pt x="0" y="1858"/>
                </a:lnTo>
                <a:lnTo>
                  <a:pt x="0" y="1846"/>
                </a:lnTo>
                <a:lnTo>
                  <a:pt x="12" y="1846"/>
                </a:lnTo>
                <a:close/>
                <a:moveTo>
                  <a:pt x="12" y="1870"/>
                </a:moveTo>
                <a:lnTo>
                  <a:pt x="12" y="1882"/>
                </a:lnTo>
                <a:lnTo>
                  <a:pt x="0" y="1882"/>
                </a:lnTo>
                <a:lnTo>
                  <a:pt x="0" y="1870"/>
                </a:lnTo>
                <a:lnTo>
                  <a:pt x="12" y="1870"/>
                </a:lnTo>
                <a:close/>
                <a:moveTo>
                  <a:pt x="12" y="1894"/>
                </a:moveTo>
                <a:lnTo>
                  <a:pt x="12" y="1906"/>
                </a:lnTo>
                <a:lnTo>
                  <a:pt x="0" y="1906"/>
                </a:lnTo>
                <a:lnTo>
                  <a:pt x="0" y="1894"/>
                </a:lnTo>
                <a:lnTo>
                  <a:pt x="12" y="1894"/>
                </a:lnTo>
                <a:close/>
                <a:moveTo>
                  <a:pt x="12" y="1918"/>
                </a:moveTo>
                <a:lnTo>
                  <a:pt x="12" y="1930"/>
                </a:lnTo>
                <a:lnTo>
                  <a:pt x="0" y="1930"/>
                </a:lnTo>
                <a:lnTo>
                  <a:pt x="0" y="1918"/>
                </a:lnTo>
                <a:lnTo>
                  <a:pt x="12" y="1918"/>
                </a:lnTo>
                <a:close/>
                <a:moveTo>
                  <a:pt x="12" y="1941"/>
                </a:moveTo>
                <a:lnTo>
                  <a:pt x="12" y="1954"/>
                </a:lnTo>
                <a:lnTo>
                  <a:pt x="0" y="1954"/>
                </a:lnTo>
                <a:lnTo>
                  <a:pt x="0" y="1941"/>
                </a:lnTo>
                <a:lnTo>
                  <a:pt x="12" y="1941"/>
                </a:lnTo>
                <a:close/>
                <a:moveTo>
                  <a:pt x="12" y="1966"/>
                </a:moveTo>
                <a:lnTo>
                  <a:pt x="12" y="1977"/>
                </a:lnTo>
                <a:lnTo>
                  <a:pt x="0" y="1977"/>
                </a:lnTo>
                <a:lnTo>
                  <a:pt x="0" y="1966"/>
                </a:lnTo>
                <a:lnTo>
                  <a:pt x="12" y="1966"/>
                </a:lnTo>
                <a:close/>
                <a:moveTo>
                  <a:pt x="12" y="1989"/>
                </a:moveTo>
                <a:lnTo>
                  <a:pt x="12" y="2002"/>
                </a:lnTo>
                <a:lnTo>
                  <a:pt x="0" y="2002"/>
                </a:lnTo>
                <a:lnTo>
                  <a:pt x="0" y="1989"/>
                </a:lnTo>
                <a:lnTo>
                  <a:pt x="12" y="1989"/>
                </a:lnTo>
                <a:close/>
                <a:moveTo>
                  <a:pt x="12" y="2013"/>
                </a:moveTo>
                <a:lnTo>
                  <a:pt x="12" y="2025"/>
                </a:lnTo>
                <a:lnTo>
                  <a:pt x="0" y="2025"/>
                </a:lnTo>
                <a:lnTo>
                  <a:pt x="0" y="2013"/>
                </a:lnTo>
                <a:lnTo>
                  <a:pt x="12" y="2013"/>
                </a:lnTo>
                <a:close/>
                <a:moveTo>
                  <a:pt x="12" y="2038"/>
                </a:moveTo>
                <a:lnTo>
                  <a:pt x="12" y="2049"/>
                </a:lnTo>
                <a:lnTo>
                  <a:pt x="0" y="2049"/>
                </a:lnTo>
                <a:lnTo>
                  <a:pt x="0" y="2038"/>
                </a:lnTo>
                <a:lnTo>
                  <a:pt x="12" y="2038"/>
                </a:lnTo>
                <a:close/>
                <a:moveTo>
                  <a:pt x="12" y="2061"/>
                </a:moveTo>
                <a:lnTo>
                  <a:pt x="12" y="2073"/>
                </a:lnTo>
                <a:lnTo>
                  <a:pt x="0" y="2073"/>
                </a:lnTo>
                <a:lnTo>
                  <a:pt x="0" y="2061"/>
                </a:lnTo>
                <a:lnTo>
                  <a:pt x="12" y="2061"/>
                </a:lnTo>
                <a:close/>
                <a:moveTo>
                  <a:pt x="12" y="2085"/>
                </a:moveTo>
                <a:lnTo>
                  <a:pt x="12" y="2097"/>
                </a:lnTo>
                <a:lnTo>
                  <a:pt x="0" y="2097"/>
                </a:lnTo>
                <a:lnTo>
                  <a:pt x="0" y="2085"/>
                </a:lnTo>
                <a:lnTo>
                  <a:pt x="12" y="2085"/>
                </a:lnTo>
                <a:close/>
                <a:moveTo>
                  <a:pt x="12" y="2109"/>
                </a:moveTo>
                <a:lnTo>
                  <a:pt x="12" y="2121"/>
                </a:lnTo>
                <a:lnTo>
                  <a:pt x="0" y="2121"/>
                </a:lnTo>
                <a:lnTo>
                  <a:pt x="0" y="2109"/>
                </a:lnTo>
                <a:lnTo>
                  <a:pt x="12" y="2109"/>
                </a:lnTo>
                <a:close/>
                <a:moveTo>
                  <a:pt x="12" y="2133"/>
                </a:moveTo>
                <a:lnTo>
                  <a:pt x="12" y="2145"/>
                </a:lnTo>
                <a:lnTo>
                  <a:pt x="0" y="2145"/>
                </a:lnTo>
                <a:lnTo>
                  <a:pt x="0" y="2133"/>
                </a:lnTo>
                <a:lnTo>
                  <a:pt x="12" y="2133"/>
                </a:lnTo>
                <a:close/>
                <a:moveTo>
                  <a:pt x="12" y="2157"/>
                </a:moveTo>
                <a:lnTo>
                  <a:pt x="12" y="2169"/>
                </a:lnTo>
                <a:lnTo>
                  <a:pt x="0" y="2169"/>
                </a:lnTo>
                <a:lnTo>
                  <a:pt x="0" y="2157"/>
                </a:lnTo>
                <a:lnTo>
                  <a:pt x="12" y="2157"/>
                </a:lnTo>
                <a:close/>
                <a:moveTo>
                  <a:pt x="12" y="2181"/>
                </a:moveTo>
                <a:lnTo>
                  <a:pt x="12" y="2193"/>
                </a:lnTo>
                <a:lnTo>
                  <a:pt x="0" y="2193"/>
                </a:lnTo>
                <a:lnTo>
                  <a:pt x="0" y="2181"/>
                </a:lnTo>
                <a:lnTo>
                  <a:pt x="12" y="2181"/>
                </a:lnTo>
                <a:close/>
                <a:moveTo>
                  <a:pt x="12" y="2205"/>
                </a:moveTo>
                <a:lnTo>
                  <a:pt x="12" y="2217"/>
                </a:lnTo>
                <a:lnTo>
                  <a:pt x="0" y="2217"/>
                </a:lnTo>
                <a:lnTo>
                  <a:pt x="0" y="2205"/>
                </a:lnTo>
                <a:lnTo>
                  <a:pt x="12" y="2205"/>
                </a:lnTo>
                <a:close/>
                <a:moveTo>
                  <a:pt x="12" y="2229"/>
                </a:moveTo>
                <a:lnTo>
                  <a:pt x="12" y="2241"/>
                </a:lnTo>
                <a:lnTo>
                  <a:pt x="0" y="2241"/>
                </a:lnTo>
                <a:lnTo>
                  <a:pt x="0" y="2229"/>
                </a:lnTo>
                <a:lnTo>
                  <a:pt x="12" y="2229"/>
                </a:lnTo>
                <a:close/>
                <a:moveTo>
                  <a:pt x="12" y="2253"/>
                </a:moveTo>
                <a:lnTo>
                  <a:pt x="12" y="2265"/>
                </a:lnTo>
                <a:lnTo>
                  <a:pt x="0" y="2265"/>
                </a:lnTo>
                <a:lnTo>
                  <a:pt x="0" y="2253"/>
                </a:lnTo>
                <a:lnTo>
                  <a:pt x="12" y="2253"/>
                </a:lnTo>
                <a:close/>
                <a:moveTo>
                  <a:pt x="12" y="2277"/>
                </a:moveTo>
                <a:lnTo>
                  <a:pt x="12" y="2289"/>
                </a:lnTo>
                <a:lnTo>
                  <a:pt x="0" y="2289"/>
                </a:lnTo>
                <a:lnTo>
                  <a:pt x="0" y="2277"/>
                </a:lnTo>
                <a:lnTo>
                  <a:pt x="12" y="2277"/>
                </a:lnTo>
                <a:close/>
                <a:moveTo>
                  <a:pt x="12" y="2301"/>
                </a:moveTo>
                <a:lnTo>
                  <a:pt x="12" y="2313"/>
                </a:lnTo>
                <a:lnTo>
                  <a:pt x="0" y="2313"/>
                </a:lnTo>
                <a:lnTo>
                  <a:pt x="0" y="2301"/>
                </a:lnTo>
                <a:lnTo>
                  <a:pt x="12" y="2301"/>
                </a:lnTo>
                <a:close/>
                <a:moveTo>
                  <a:pt x="12" y="2325"/>
                </a:moveTo>
                <a:lnTo>
                  <a:pt x="12" y="2337"/>
                </a:lnTo>
                <a:lnTo>
                  <a:pt x="0" y="2337"/>
                </a:lnTo>
                <a:lnTo>
                  <a:pt x="0" y="2325"/>
                </a:lnTo>
                <a:lnTo>
                  <a:pt x="12" y="2325"/>
                </a:lnTo>
                <a:close/>
                <a:moveTo>
                  <a:pt x="12" y="2349"/>
                </a:moveTo>
                <a:lnTo>
                  <a:pt x="12" y="2361"/>
                </a:lnTo>
                <a:lnTo>
                  <a:pt x="0" y="2361"/>
                </a:lnTo>
                <a:lnTo>
                  <a:pt x="0" y="2349"/>
                </a:lnTo>
                <a:lnTo>
                  <a:pt x="12" y="2349"/>
                </a:lnTo>
                <a:close/>
                <a:moveTo>
                  <a:pt x="12" y="2373"/>
                </a:moveTo>
                <a:lnTo>
                  <a:pt x="12" y="2385"/>
                </a:lnTo>
                <a:lnTo>
                  <a:pt x="0" y="2385"/>
                </a:lnTo>
                <a:lnTo>
                  <a:pt x="0" y="2373"/>
                </a:lnTo>
                <a:lnTo>
                  <a:pt x="12" y="2373"/>
                </a:lnTo>
                <a:close/>
                <a:moveTo>
                  <a:pt x="12" y="2397"/>
                </a:moveTo>
                <a:lnTo>
                  <a:pt x="12" y="2409"/>
                </a:lnTo>
                <a:lnTo>
                  <a:pt x="0" y="2409"/>
                </a:lnTo>
                <a:lnTo>
                  <a:pt x="0" y="2397"/>
                </a:lnTo>
                <a:lnTo>
                  <a:pt x="12" y="2397"/>
                </a:lnTo>
                <a:close/>
                <a:moveTo>
                  <a:pt x="12" y="2421"/>
                </a:moveTo>
                <a:lnTo>
                  <a:pt x="12" y="2433"/>
                </a:lnTo>
                <a:lnTo>
                  <a:pt x="0" y="2433"/>
                </a:lnTo>
                <a:lnTo>
                  <a:pt x="0" y="2421"/>
                </a:lnTo>
                <a:lnTo>
                  <a:pt x="12" y="2421"/>
                </a:lnTo>
                <a:close/>
                <a:moveTo>
                  <a:pt x="12" y="2445"/>
                </a:moveTo>
                <a:lnTo>
                  <a:pt x="12" y="2457"/>
                </a:lnTo>
                <a:lnTo>
                  <a:pt x="0" y="2457"/>
                </a:lnTo>
                <a:lnTo>
                  <a:pt x="0" y="2445"/>
                </a:lnTo>
                <a:lnTo>
                  <a:pt x="12" y="2445"/>
                </a:lnTo>
                <a:close/>
                <a:moveTo>
                  <a:pt x="12" y="2469"/>
                </a:moveTo>
                <a:lnTo>
                  <a:pt x="12" y="2481"/>
                </a:lnTo>
                <a:lnTo>
                  <a:pt x="0" y="2481"/>
                </a:lnTo>
                <a:lnTo>
                  <a:pt x="0" y="2469"/>
                </a:lnTo>
                <a:lnTo>
                  <a:pt x="12" y="2469"/>
                </a:lnTo>
                <a:close/>
                <a:moveTo>
                  <a:pt x="12" y="2493"/>
                </a:moveTo>
                <a:lnTo>
                  <a:pt x="12" y="2505"/>
                </a:lnTo>
                <a:lnTo>
                  <a:pt x="0" y="2505"/>
                </a:lnTo>
                <a:lnTo>
                  <a:pt x="0" y="2493"/>
                </a:lnTo>
                <a:lnTo>
                  <a:pt x="12" y="2493"/>
                </a:lnTo>
                <a:close/>
                <a:moveTo>
                  <a:pt x="12" y="2517"/>
                </a:moveTo>
                <a:lnTo>
                  <a:pt x="12" y="2529"/>
                </a:lnTo>
                <a:lnTo>
                  <a:pt x="0" y="2529"/>
                </a:lnTo>
                <a:lnTo>
                  <a:pt x="0" y="2517"/>
                </a:lnTo>
                <a:lnTo>
                  <a:pt x="12" y="2517"/>
                </a:lnTo>
                <a:close/>
                <a:moveTo>
                  <a:pt x="12" y="2541"/>
                </a:moveTo>
                <a:lnTo>
                  <a:pt x="12" y="2553"/>
                </a:lnTo>
                <a:lnTo>
                  <a:pt x="0" y="2553"/>
                </a:lnTo>
                <a:lnTo>
                  <a:pt x="0" y="2541"/>
                </a:lnTo>
                <a:lnTo>
                  <a:pt x="12" y="2541"/>
                </a:lnTo>
                <a:close/>
              </a:path>
            </a:pathLst>
          </a:custGeom>
          <a:solidFill>
            <a:srgbClr val="000000"/>
          </a:solidFill>
          <a:ln w="0" cap="flat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142" name="Freeform 139">
            <a:extLst>
              <a:ext uri="{FF2B5EF4-FFF2-40B4-BE49-F238E27FC236}">
                <a16:creationId xmlns:a16="http://schemas.microsoft.com/office/drawing/2014/main" id="{E6C1AD78-79C3-4B4F-A420-54078ECFD44A}"/>
              </a:ext>
            </a:extLst>
          </p:cNvPr>
          <p:cNvSpPr>
            <a:spLocks noEditPoints="1"/>
          </p:cNvSpPr>
          <p:nvPr/>
        </p:nvSpPr>
        <p:spPr bwMode="auto">
          <a:xfrm>
            <a:off x="4729163" y="2289175"/>
            <a:ext cx="18000" cy="4032000"/>
          </a:xfrm>
          <a:custGeom>
            <a:avLst/>
            <a:gdLst>
              <a:gd name="T0" fmla="*/ 0 w 12"/>
              <a:gd name="T1" fmla="*/ 25 h 2553"/>
              <a:gd name="T2" fmla="*/ 0 w 12"/>
              <a:gd name="T3" fmla="*/ 84 h 2553"/>
              <a:gd name="T4" fmla="*/ 12 w 12"/>
              <a:gd name="T5" fmla="*/ 132 h 2553"/>
              <a:gd name="T6" fmla="*/ 12 w 12"/>
              <a:gd name="T7" fmla="*/ 168 h 2553"/>
              <a:gd name="T8" fmla="*/ 12 w 12"/>
              <a:gd name="T9" fmla="*/ 192 h 2553"/>
              <a:gd name="T10" fmla="*/ 0 w 12"/>
              <a:gd name="T11" fmla="*/ 240 h 2553"/>
              <a:gd name="T12" fmla="*/ 0 w 12"/>
              <a:gd name="T13" fmla="*/ 300 h 2553"/>
              <a:gd name="T14" fmla="*/ 12 w 12"/>
              <a:gd name="T15" fmla="*/ 348 h 2553"/>
              <a:gd name="T16" fmla="*/ 12 w 12"/>
              <a:gd name="T17" fmla="*/ 384 h 2553"/>
              <a:gd name="T18" fmla="*/ 12 w 12"/>
              <a:gd name="T19" fmla="*/ 408 h 2553"/>
              <a:gd name="T20" fmla="*/ 0 w 12"/>
              <a:gd name="T21" fmla="*/ 456 h 2553"/>
              <a:gd name="T22" fmla="*/ 0 w 12"/>
              <a:gd name="T23" fmla="*/ 516 h 2553"/>
              <a:gd name="T24" fmla="*/ 12 w 12"/>
              <a:gd name="T25" fmla="*/ 564 h 2553"/>
              <a:gd name="T26" fmla="*/ 12 w 12"/>
              <a:gd name="T27" fmla="*/ 600 h 2553"/>
              <a:gd name="T28" fmla="*/ 12 w 12"/>
              <a:gd name="T29" fmla="*/ 624 h 2553"/>
              <a:gd name="T30" fmla="*/ 0 w 12"/>
              <a:gd name="T31" fmla="*/ 672 h 2553"/>
              <a:gd name="T32" fmla="*/ 0 w 12"/>
              <a:gd name="T33" fmla="*/ 731 h 2553"/>
              <a:gd name="T34" fmla="*/ 12 w 12"/>
              <a:gd name="T35" fmla="*/ 779 h 2553"/>
              <a:gd name="T36" fmla="*/ 12 w 12"/>
              <a:gd name="T37" fmla="*/ 815 h 2553"/>
              <a:gd name="T38" fmla="*/ 12 w 12"/>
              <a:gd name="T39" fmla="*/ 839 h 2553"/>
              <a:gd name="T40" fmla="*/ 0 w 12"/>
              <a:gd name="T41" fmla="*/ 887 h 2553"/>
              <a:gd name="T42" fmla="*/ 0 w 12"/>
              <a:gd name="T43" fmla="*/ 947 h 2553"/>
              <a:gd name="T44" fmla="*/ 12 w 12"/>
              <a:gd name="T45" fmla="*/ 995 h 2553"/>
              <a:gd name="T46" fmla="*/ 12 w 12"/>
              <a:gd name="T47" fmla="*/ 1031 h 2553"/>
              <a:gd name="T48" fmla="*/ 12 w 12"/>
              <a:gd name="T49" fmla="*/ 1055 h 2553"/>
              <a:gd name="T50" fmla="*/ 0 w 12"/>
              <a:gd name="T51" fmla="*/ 1103 h 2553"/>
              <a:gd name="T52" fmla="*/ 0 w 12"/>
              <a:gd name="T53" fmla="*/ 1163 h 2553"/>
              <a:gd name="T54" fmla="*/ 12 w 12"/>
              <a:gd name="T55" fmla="*/ 1211 h 2553"/>
              <a:gd name="T56" fmla="*/ 12 w 12"/>
              <a:gd name="T57" fmla="*/ 1247 h 2553"/>
              <a:gd name="T58" fmla="*/ 12 w 12"/>
              <a:gd name="T59" fmla="*/ 1271 h 2553"/>
              <a:gd name="T60" fmla="*/ 0 w 12"/>
              <a:gd name="T61" fmla="*/ 1319 h 2553"/>
              <a:gd name="T62" fmla="*/ 0 w 12"/>
              <a:gd name="T63" fmla="*/ 1378 h 2553"/>
              <a:gd name="T64" fmla="*/ 12 w 12"/>
              <a:gd name="T65" fmla="*/ 1426 h 2553"/>
              <a:gd name="T66" fmla="*/ 12 w 12"/>
              <a:gd name="T67" fmla="*/ 1462 h 2553"/>
              <a:gd name="T68" fmla="*/ 12 w 12"/>
              <a:gd name="T69" fmla="*/ 1486 h 2553"/>
              <a:gd name="T70" fmla="*/ 0 w 12"/>
              <a:gd name="T71" fmla="*/ 1534 h 2553"/>
              <a:gd name="T72" fmla="*/ 0 w 12"/>
              <a:gd name="T73" fmla="*/ 1594 h 2553"/>
              <a:gd name="T74" fmla="*/ 12 w 12"/>
              <a:gd name="T75" fmla="*/ 1642 h 2553"/>
              <a:gd name="T76" fmla="*/ 12 w 12"/>
              <a:gd name="T77" fmla="*/ 1678 h 2553"/>
              <a:gd name="T78" fmla="*/ 12 w 12"/>
              <a:gd name="T79" fmla="*/ 1702 h 2553"/>
              <a:gd name="T80" fmla="*/ 0 w 12"/>
              <a:gd name="T81" fmla="*/ 1750 h 2553"/>
              <a:gd name="T82" fmla="*/ 0 w 12"/>
              <a:gd name="T83" fmla="*/ 1810 h 2553"/>
              <a:gd name="T84" fmla="*/ 12 w 12"/>
              <a:gd name="T85" fmla="*/ 1858 h 2553"/>
              <a:gd name="T86" fmla="*/ 12 w 12"/>
              <a:gd name="T87" fmla="*/ 1894 h 2553"/>
              <a:gd name="T88" fmla="*/ 12 w 12"/>
              <a:gd name="T89" fmla="*/ 1918 h 2553"/>
              <a:gd name="T90" fmla="*/ 0 w 12"/>
              <a:gd name="T91" fmla="*/ 1966 h 2553"/>
              <a:gd name="T92" fmla="*/ 0 w 12"/>
              <a:gd name="T93" fmla="*/ 2025 h 2553"/>
              <a:gd name="T94" fmla="*/ 12 w 12"/>
              <a:gd name="T95" fmla="*/ 2073 h 2553"/>
              <a:gd name="T96" fmla="*/ 12 w 12"/>
              <a:gd name="T97" fmla="*/ 2109 h 2553"/>
              <a:gd name="T98" fmla="*/ 12 w 12"/>
              <a:gd name="T99" fmla="*/ 2133 h 2553"/>
              <a:gd name="T100" fmla="*/ 0 w 12"/>
              <a:gd name="T101" fmla="*/ 2181 h 2553"/>
              <a:gd name="T102" fmla="*/ 0 w 12"/>
              <a:gd name="T103" fmla="*/ 2241 h 2553"/>
              <a:gd name="T104" fmla="*/ 12 w 12"/>
              <a:gd name="T105" fmla="*/ 2289 h 2553"/>
              <a:gd name="T106" fmla="*/ 12 w 12"/>
              <a:gd name="T107" fmla="*/ 2325 h 2553"/>
              <a:gd name="T108" fmla="*/ 12 w 12"/>
              <a:gd name="T109" fmla="*/ 2349 h 2553"/>
              <a:gd name="T110" fmla="*/ 0 w 12"/>
              <a:gd name="T111" fmla="*/ 2397 h 2553"/>
              <a:gd name="T112" fmla="*/ 0 w 12"/>
              <a:gd name="T113" fmla="*/ 2457 h 2553"/>
              <a:gd name="T114" fmla="*/ 12 w 12"/>
              <a:gd name="T115" fmla="*/ 2505 h 2553"/>
              <a:gd name="T116" fmla="*/ 12 w 12"/>
              <a:gd name="T117" fmla="*/ 2541 h 25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12" h="2553">
                <a:moveTo>
                  <a:pt x="12" y="0"/>
                </a:moveTo>
                <a:lnTo>
                  <a:pt x="12" y="12"/>
                </a:lnTo>
                <a:lnTo>
                  <a:pt x="0" y="12"/>
                </a:lnTo>
                <a:lnTo>
                  <a:pt x="0" y="0"/>
                </a:lnTo>
                <a:lnTo>
                  <a:pt x="12" y="0"/>
                </a:lnTo>
                <a:close/>
                <a:moveTo>
                  <a:pt x="12" y="25"/>
                </a:moveTo>
                <a:lnTo>
                  <a:pt x="12" y="36"/>
                </a:lnTo>
                <a:lnTo>
                  <a:pt x="0" y="36"/>
                </a:lnTo>
                <a:lnTo>
                  <a:pt x="0" y="25"/>
                </a:lnTo>
                <a:lnTo>
                  <a:pt x="12" y="25"/>
                </a:lnTo>
                <a:close/>
                <a:moveTo>
                  <a:pt x="12" y="48"/>
                </a:moveTo>
                <a:lnTo>
                  <a:pt x="12" y="60"/>
                </a:lnTo>
                <a:lnTo>
                  <a:pt x="0" y="60"/>
                </a:lnTo>
                <a:lnTo>
                  <a:pt x="0" y="48"/>
                </a:lnTo>
                <a:lnTo>
                  <a:pt x="12" y="48"/>
                </a:lnTo>
                <a:close/>
                <a:moveTo>
                  <a:pt x="12" y="72"/>
                </a:moveTo>
                <a:lnTo>
                  <a:pt x="12" y="84"/>
                </a:lnTo>
                <a:lnTo>
                  <a:pt x="0" y="84"/>
                </a:lnTo>
                <a:lnTo>
                  <a:pt x="0" y="72"/>
                </a:lnTo>
                <a:lnTo>
                  <a:pt x="12" y="72"/>
                </a:lnTo>
                <a:close/>
                <a:moveTo>
                  <a:pt x="12" y="96"/>
                </a:moveTo>
                <a:lnTo>
                  <a:pt x="12" y="108"/>
                </a:lnTo>
                <a:lnTo>
                  <a:pt x="0" y="108"/>
                </a:lnTo>
                <a:lnTo>
                  <a:pt x="0" y="96"/>
                </a:lnTo>
                <a:lnTo>
                  <a:pt x="12" y="96"/>
                </a:lnTo>
                <a:close/>
                <a:moveTo>
                  <a:pt x="12" y="120"/>
                </a:moveTo>
                <a:lnTo>
                  <a:pt x="12" y="132"/>
                </a:lnTo>
                <a:lnTo>
                  <a:pt x="0" y="132"/>
                </a:lnTo>
                <a:lnTo>
                  <a:pt x="0" y="120"/>
                </a:lnTo>
                <a:lnTo>
                  <a:pt x="12" y="120"/>
                </a:lnTo>
                <a:close/>
                <a:moveTo>
                  <a:pt x="12" y="144"/>
                </a:moveTo>
                <a:lnTo>
                  <a:pt x="12" y="156"/>
                </a:lnTo>
                <a:lnTo>
                  <a:pt x="0" y="156"/>
                </a:lnTo>
                <a:lnTo>
                  <a:pt x="0" y="144"/>
                </a:lnTo>
                <a:lnTo>
                  <a:pt x="12" y="144"/>
                </a:lnTo>
                <a:close/>
                <a:moveTo>
                  <a:pt x="12" y="168"/>
                </a:moveTo>
                <a:lnTo>
                  <a:pt x="12" y="180"/>
                </a:lnTo>
                <a:lnTo>
                  <a:pt x="0" y="180"/>
                </a:lnTo>
                <a:lnTo>
                  <a:pt x="0" y="168"/>
                </a:lnTo>
                <a:lnTo>
                  <a:pt x="12" y="168"/>
                </a:lnTo>
                <a:close/>
                <a:moveTo>
                  <a:pt x="12" y="192"/>
                </a:moveTo>
                <a:lnTo>
                  <a:pt x="12" y="204"/>
                </a:lnTo>
                <a:lnTo>
                  <a:pt x="0" y="204"/>
                </a:lnTo>
                <a:lnTo>
                  <a:pt x="0" y="192"/>
                </a:lnTo>
                <a:lnTo>
                  <a:pt x="12" y="192"/>
                </a:lnTo>
                <a:close/>
                <a:moveTo>
                  <a:pt x="12" y="216"/>
                </a:moveTo>
                <a:lnTo>
                  <a:pt x="12" y="228"/>
                </a:lnTo>
                <a:lnTo>
                  <a:pt x="0" y="228"/>
                </a:lnTo>
                <a:lnTo>
                  <a:pt x="0" y="216"/>
                </a:lnTo>
                <a:lnTo>
                  <a:pt x="12" y="216"/>
                </a:lnTo>
                <a:close/>
                <a:moveTo>
                  <a:pt x="12" y="240"/>
                </a:moveTo>
                <a:lnTo>
                  <a:pt x="12" y="252"/>
                </a:lnTo>
                <a:lnTo>
                  <a:pt x="0" y="252"/>
                </a:lnTo>
                <a:lnTo>
                  <a:pt x="0" y="240"/>
                </a:lnTo>
                <a:lnTo>
                  <a:pt x="12" y="240"/>
                </a:lnTo>
                <a:close/>
                <a:moveTo>
                  <a:pt x="12" y="264"/>
                </a:moveTo>
                <a:lnTo>
                  <a:pt x="12" y="276"/>
                </a:lnTo>
                <a:lnTo>
                  <a:pt x="0" y="276"/>
                </a:lnTo>
                <a:lnTo>
                  <a:pt x="0" y="264"/>
                </a:lnTo>
                <a:lnTo>
                  <a:pt x="12" y="264"/>
                </a:lnTo>
                <a:close/>
                <a:moveTo>
                  <a:pt x="12" y="288"/>
                </a:moveTo>
                <a:lnTo>
                  <a:pt x="12" y="300"/>
                </a:lnTo>
                <a:lnTo>
                  <a:pt x="0" y="300"/>
                </a:lnTo>
                <a:lnTo>
                  <a:pt x="0" y="288"/>
                </a:lnTo>
                <a:lnTo>
                  <a:pt x="12" y="288"/>
                </a:lnTo>
                <a:close/>
                <a:moveTo>
                  <a:pt x="12" y="312"/>
                </a:moveTo>
                <a:lnTo>
                  <a:pt x="12" y="324"/>
                </a:lnTo>
                <a:lnTo>
                  <a:pt x="0" y="324"/>
                </a:lnTo>
                <a:lnTo>
                  <a:pt x="0" y="312"/>
                </a:lnTo>
                <a:lnTo>
                  <a:pt x="12" y="312"/>
                </a:lnTo>
                <a:close/>
                <a:moveTo>
                  <a:pt x="12" y="336"/>
                </a:moveTo>
                <a:lnTo>
                  <a:pt x="12" y="348"/>
                </a:lnTo>
                <a:lnTo>
                  <a:pt x="0" y="348"/>
                </a:lnTo>
                <a:lnTo>
                  <a:pt x="0" y="336"/>
                </a:lnTo>
                <a:lnTo>
                  <a:pt x="12" y="336"/>
                </a:lnTo>
                <a:close/>
                <a:moveTo>
                  <a:pt x="12" y="360"/>
                </a:moveTo>
                <a:lnTo>
                  <a:pt x="12" y="372"/>
                </a:lnTo>
                <a:lnTo>
                  <a:pt x="0" y="372"/>
                </a:lnTo>
                <a:lnTo>
                  <a:pt x="0" y="360"/>
                </a:lnTo>
                <a:lnTo>
                  <a:pt x="12" y="360"/>
                </a:lnTo>
                <a:close/>
                <a:moveTo>
                  <a:pt x="12" y="384"/>
                </a:moveTo>
                <a:lnTo>
                  <a:pt x="12" y="396"/>
                </a:lnTo>
                <a:lnTo>
                  <a:pt x="0" y="396"/>
                </a:lnTo>
                <a:lnTo>
                  <a:pt x="0" y="384"/>
                </a:lnTo>
                <a:lnTo>
                  <a:pt x="12" y="384"/>
                </a:lnTo>
                <a:close/>
                <a:moveTo>
                  <a:pt x="12" y="408"/>
                </a:moveTo>
                <a:lnTo>
                  <a:pt x="12" y="420"/>
                </a:lnTo>
                <a:lnTo>
                  <a:pt x="0" y="420"/>
                </a:lnTo>
                <a:lnTo>
                  <a:pt x="0" y="408"/>
                </a:lnTo>
                <a:lnTo>
                  <a:pt x="12" y="408"/>
                </a:lnTo>
                <a:close/>
                <a:moveTo>
                  <a:pt x="12" y="432"/>
                </a:moveTo>
                <a:lnTo>
                  <a:pt x="12" y="444"/>
                </a:lnTo>
                <a:lnTo>
                  <a:pt x="0" y="444"/>
                </a:lnTo>
                <a:lnTo>
                  <a:pt x="0" y="432"/>
                </a:lnTo>
                <a:lnTo>
                  <a:pt x="12" y="432"/>
                </a:lnTo>
                <a:close/>
                <a:moveTo>
                  <a:pt x="12" y="456"/>
                </a:moveTo>
                <a:lnTo>
                  <a:pt x="12" y="468"/>
                </a:lnTo>
                <a:lnTo>
                  <a:pt x="0" y="468"/>
                </a:lnTo>
                <a:lnTo>
                  <a:pt x="0" y="456"/>
                </a:lnTo>
                <a:lnTo>
                  <a:pt x="12" y="456"/>
                </a:lnTo>
                <a:close/>
                <a:moveTo>
                  <a:pt x="12" y="480"/>
                </a:moveTo>
                <a:lnTo>
                  <a:pt x="12" y="492"/>
                </a:lnTo>
                <a:lnTo>
                  <a:pt x="0" y="492"/>
                </a:lnTo>
                <a:lnTo>
                  <a:pt x="0" y="480"/>
                </a:lnTo>
                <a:lnTo>
                  <a:pt x="12" y="480"/>
                </a:lnTo>
                <a:close/>
                <a:moveTo>
                  <a:pt x="12" y="504"/>
                </a:moveTo>
                <a:lnTo>
                  <a:pt x="12" y="516"/>
                </a:lnTo>
                <a:lnTo>
                  <a:pt x="0" y="516"/>
                </a:lnTo>
                <a:lnTo>
                  <a:pt x="0" y="504"/>
                </a:lnTo>
                <a:lnTo>
                  <a:pt x="12" y="504"/>
                </a:lnTo>
                <a:close/>
                <a:moveTo>
                  <a:pt x="12" y="528"/>
                </a:moveTo>
                <a:lnTo>
                  <a:pt x="12" y="540"/>
                </a:lnTo>
                <a:lnTo>
                  <a:pt x="0" y="540"/>
                </a:lnTo>
                <a:lnTo>
                  <a:pt x="0" y="528"/>
                </a:lnTo>
                <a:lnTo>
                  <a:pt x="12" y="528"/>
                </a:lnTo>
                <a:close/>
                <a:moveTo>
                  <a:pt x="12" y="552"/>
                </a:moveTo>
                <a:lnTo>
                  <a:pt x="12" y="564"/>
                </a:lnTo>
                <a:lnTo>
                  <a:pt x="0" y="564"/>
                </a:lnTo>
                <a:lnTo>
                  <a:pt x="0" y="552"/>
                </a:lnTo>
                <a:lnTo>
                  <a:pt x="12" y="552"/>
                </a:lnTo>
                <a:close/>
                <a:moveTo>
                  <a:pt x="12" y="576"/>
                </a:moveTo>
                <a:lnTo>
                  <a:pt x="12" y="588"/>
                </a:lnTo>
                <a:lnTo>
                  <a:pt x="0" y="588"/>
                </a:lnTo>
                <a:lnTo>
                  <a:pt x="0" y="576"/>
                </a:lnTo>
                <a:lnTo>
                  <a:pt x="12" y="576"/>
                </a:lnTo>
                <a:close/>
                <a:moveTo>
                  <a:pt x="12" y="600"/>
                </a:moveTo>
                <a:lnTo>
                  <a:pt x="12" y="611"/>
                </a:lnTo>
                <a:lnTo>
                  <a:pt x="0" y="611"/>
                </a:lnTo>
                <a:lnTo>
                  <a:pt x="0" y="600"/>
                </a:lnTo>
                <a:lnTo>
                  <a:pt x="12" y="600"/>
                </a:lnTo>
                <a:close/>
                <a:moveTo>
                  <a:pt x="12" y="624"/>
                </a:moveTo>
                <a:lnTo>
                  <a:pt x="12" y="636"/>
                </a:lnTo>
                <a:lnTo>
                  <a:pt x="0" y="636"/>
                </a:lnTo>
                <a:lnTo>
                  <a:pt x="0" y="624"/>
                </a:lnTo>
                <a:lnTo>
                  <a:pt x="12" y="624"/>
                </a:lnTo>
                <a:close/>
                <a:moveTo>
                  <a:pt x="12" y="647"/>
                </a:moveTo>
                <a:lnTo>
                  <a:pt x="12" y="659"/>
                </a:lnTo>
                <a:lnTo>
                  <a:pt x="0" y="659"/>
                </a:lnTo>
                <a:lnTo>
                  <a:pt x="0" y="647"/>
                </a:lnTo>
                <a:lnTo>
                  <a:pt x="12" y="647"/>
                </a:lnTo>
                <a:close/>
                <a:moveTo>
                  <a:pt x="12" y="672"/>
                </a:moveTo>
                <a:lnTo>
                  <a:pt x="12" y="683"/>
                </a:lnTo>
                <a:lnTo>
                  <a:pt x="0" y="683"/>
                </a:lnTo>
                <a:lnTo>
                  <a:pt x="0" y="672"/>
                </a:lnTo>
                <a:lnTo>
                  <a:pt x="12" y="672"/>
                </a:lnTo>
                <a:close/>
                <a:moveTo>
                  <a:pt x="12" y="695"/>
                </a:moveTo>
                <a:lnTo>
                  <a:pt x="12" y="708"/>
                </a:lnTo>
                <a:lnTo>
                  <a:pt x="0" y="708"/>
                </a:lnTo>
                <a:lnTo>
                  <a:pt x="0" y="695"/>
                </a:lnTo>
                <a:lnTo>
                  <a:pt x="12" y="695"/>
                </a:lnTo>
                <a:close/>
                <a:moveTo>
                  <a:pt x="12" y="719"/>
                </a:moveTo>
                <a:lnTo>
                  <a:pt x="12" y="731"/>
                </a:lnTo>
                <a:lnTo>
                  <a:pt x="0" y="731"/>
                </a:lnTo>
                <a:lnTo>
                  <a:pt x="0" y="719"/>
                </a:lnTo>
                <a:lnTo>
                  <a:pt x="12" y="719"/>
                </a:lnTo>
                <a:close/>
                <a:moveTo>
                  <a:pt x="12" y="743"/>
                </a:moveTo>
                <a:lnTo>
                  <a:pt x="12" y="755"/>
                </a:lnTo>
                <a:lnTo>
                  <a:pt x="0" y="755"/>
                </a:lnTo>
                <a:lnTo>
                  <a:pt x="0" y="743"/>
                </a:lnTo>
                <a:lnTo>
                  <a:pt x="12" y="743"/>
                </a:lnTo>
                <a:close/>
                <a:moveTo>
                  <a:pt x="12" y="767"/>
                </a:moveTo>
                <a:lnTo>
                  <a:pt x="12" y="779"/>
                </a:lnTo>
                <a:lnTo>
                  <a:pt x="0" y="779"/>
                </a:lnTo>
                <a:lnTo>
                  <a:pt x="0" y="767"/>
                </a:lnTo>
                <a:lnTo>
                  <a:pt x="12" y="767"/>
                </a:lnTo>
                <a:close/>
                <a:moveTo>
                  <a:pt x="12" y="791"/>
                </a:moveTo>
                <a:lnTo>
                  <a:pt x="12" y="803"/>
                </a:lnTo>
                <a:lnTo>
                  <a:pt x="0" y="803"/>
                </a:lnTo>
                <a:lnTo>
                  <a:pt x="0" y="791"/>
                </a:lnTo>
                <a:lnTo>
                  <a:pt x="12" y="791"/>
                </a:lnTo>
                <a:close/>
                <a:moveTo>
                  <a:pt x="12" y="815"/>
                </a:moveTo>
                <a:lnTo>
                  <a:pt x="12" y="827"/>
                </a:lnTo>
                <a:lnTo>
                  <a:pt x="0" y="827"/>
                </a:lnTo>
                <a:lnTo>
                  <a:pt x="0" y="815"/>
                </a:lnTo>
                <a:lnTo>
                  <a:pt x="12" y="815"/>
                </a:lnTo>
                <a:close/>
                <a:moveTo>
                  <a:pt x="12" y="839"/>
                </a:moveTo>
                <a:lnTo>
                  <a:pt x="12" y="851"/>
                </a:lnTo>
                <a:lnTo>
                  <a:pt x="0" y="851"/>
                </a:lnTo>
                <a:lnTo>
                  <a:pt x="0" y="839"/>
                </a:lnTo>
                <a:lnTo>
                  <a:pt x="12" y="839"/>
                </a:lnTo>
                <a:close/>
                <a:moveTo>
                  <a:pt x="12" y="863"/>
                </a:moveTo>
                <a:lnTo>
                  <a:pt x="12" y="875"/>
                </a:lnTo>
                <a:lnTo>
                  <a:pt x="0" y="875"/>
                </a:lnTo>
                <a:lnTo>
                  <a:pt x="0" y="863"/>
                </a:lnTo>
                <a:lnTo>
                  <a:pt x="12" y="863"/>
                </a:lnTo>
                <a:close/>
                <a:moveTo>
                  <a:pt x="12" y="887"/>
                </a:moveTo>
                <a:lnTo>
                  <a:pt x="12" y="899"/>
                </a:lnTo>
                <a:lnTo>
                  <a:pt x="0" y="899"/>
                </a:lnTo>
                <a:lnTo>
                  <a:pt x="0" y="887"/>
                </a:lnTo>
                <a:lnTo>
                  <a:pt x="12" y="887"/>
                </a:lnTo>
                <a:close/>
                <a:moveTo>
                  <a:pt x="12" y="911"/>
                </a:moveTo>
                <a:lnTo>
                  <a:pt x="12" y="923"/>
                </a:lnTo>
                <a:lnTo>
                  <a:pt x="0" y="923"/>
                </a:lnTo>
                <a:lnTo>
                  <a:pt x="0" y="911"/>
                </a:lnTo>
                <a:lnTo>
                  <a:pt x="12" y="911"/>
                </a:lnTo>
                <a:close/>
                <a:moveTo>
                  <a:pt x="12" y="935"/>
                </a:moveTo>
                <a:lnTo>
                  <a:pt x="12" y="947"/>
                </a:lnTo>
                <a:lnTo>
                  <a:pt x="0" y="947"/>
                </a:lnTo>
                <a:lnTo>
                  <a:pt x="0" y="935"/>
                </a:lnTo>
                <a:lnTo>
                  <a:pt x="12" y="935"/>
                </a:lnTo>
                <a:close/>
                <a:moveTo>
                  <a:pt x="12" y="959"/>
                </a:moveTo>
                <a:lnTo>
                  <a:pt x="12" y="971"/>
                </a:lnTo>
                <a:lnTo>
                  <a:pt x="0" y="971"/>
                </a:lnTo>
                <a:lnTo>
                  <a:pt x="0" y="959"/>
                </a:lnTo>
                <a:lnTo>
                  <a:pt x="12" y="959"/>
                </a:lnTo>
                <a:close/>
                <a:moveTo>
                  <a:pt x="12" y="983"/>
                </a:moveTo>
                <a:lnTo>
                  <a:pt x="12" y="995"/>
                </a:lnTo>
                <a:lnTo>
                  <a:pt x="0" y="995"/>
                </a:lnTo>
                <a:lnTo>
                  <a:pt x="0" y="983"/>
                </a:lnTo>
                <a:lnTo>
                  <a:pt x="12" y="983"/>
                </a:lnTo>
                <a:close/>
                <a:moveTo>
                  <a:pt x="12" y="1007"/>
                </a:moveTo>
                <a:lnTo>
                  <a:pt x="12" y="1019"/>
                </a:lnTo>
                <a:lnTo>
                  <a:pt x="0" y="1019"/>
                </a:lnTo>
                <a:lnTo>
                  <a:pt x="0" y="1007"/>
                </a:lnTo>
                <a:lnTo>
                  <a:pt x="12" y="1007"/>
                </a:lnTo>
                <a:close/>
                <a:moveTo>
                  <a:pt x="12" y="1031"/>
                </a:moveTo>
                <a:lnTo>
                  <a:pt x="12" y="1043"/>
                </a:lnTo>
                <a:lnTo>
                  <a:pt x="0" y="1043"/>
                </a:lnTo>
                <a:lnTo>
                  <a:pt x="0" y="1031"/>
                </a:lnTo>
                <a:lnTo>
                  <a:pt x="12" y="1031"/>
                </a:lnTo>
                <a:close/>
                <a:moveTo>
                  <a:pt x="12" y="1055"/>
                </a:moveTo>
                <a:lnTo>
                  <a:pt x="12" y="1067"/>
                </a:lnTo>
                <a:lnTo>
                  <a:pt x="0" y="1067"/>
                </a:lnTo>
                <a:lnTo>
                  <a:pt x="0" y="1055"/>
                </a:lnTo>
                <a:lnTo>
                  <a:pt x="12" y="1055"/>
                </a:lnTo>
                <a:close/>
                <a:moveTo>
                  <a:pt x="12" y="1079"/>
                </a:moveTo>
                <a:lnTo>
                  <a:pt x="12" y="1091"/>
                </a:lnTo>
                <a:lnTo>
                  <a:pt x="0" y="1091"/>
                </a:lnTo>
                <a:lnTo>
                  <a:pt x="0" y="1079"/>
                </a:lnTo>
                <a:lnTo>
                  <a:pt x="12" y="1079"/>
                </a:lnTo>
                <a:close/>
                <a:moveTo>
                  <a:pt x="12" y="1103"/>
                </a:moveTo>
                <a:lnTo>
                  <a:pt x="12" y="1115"/>
                </a:lnTo>
                <a:lnTo>
                  <a:pt x="0" y="1115"/>
                </a:lnTo>
                <a:lnTo>
                  <a:pt x="0" y="1103"/>
                </a:lnTo>
                <a:lnTo>
                  <a:pt x="12" y="1103"/>
                </a:lnTo>
                <a:close/>
                <a:moveTo>
                  <a:pt x="12" y="1127"/>
                </a:moveTo>
                <a:lnTo>
                  <a:pt x="12" y="1139"/>
                </a:lnTo>
                <a:lnTo>
                  <a:pt x="0" y="1139"/>
                </a:lnTo>
                <a:lnTo>
                  <a:pt x="0" y="1127"/>
                </a:lnTo>
                <a:lnTo>
                  <a:pt x="12" y="1127"/>
                </a:lnTo>
                <a:close/>
                <a:moveTo>
                  <a:pt x="12" y="1151"/>
                </a:moveTo>
                <a:lnTo>
                  <a:pt x="12" y="1163"/>
                </a:lnTo>
                <a:lnTo>
                  <a:pt x="0" y="1163"/>
                </a:lnTo>
                <a:lnTo>
                  <a:pt x="0" y="1151"/>
                </a:lnTo>
                <a:lnTo>
                  <a:pt x="12" y="1151"/>
                </a:lnTo>
                <a:close/>
                <a:moveTo>
                  <a:pt x="12" y="1175"/>
                </a:moveTo>
                <a:lnTo>
                  <a:pt x="12" y="1187"/>
                </a:lnTo>
                <a:lnTo>
                  <a:pt x="0" y="1187"/>
                </a:lnTo>
                <a:lnTo>
                  <a:pt x="0" y="1175"/>
                </a:lnTo>
                <a:lnTo>
                  <a:pt x="12" y="1175"/>
                </a:lnTo>
                <a:close/>
                <a:moveTo>
                  <a:pt x="12" y="1199"/>
                </a:moveTo>
                <a:lnTo>
                  <a:pt x="12" y="1211"/>
                </a:lnTo>
                <a:lnTo>
                  <a:pt x="0" y="1211"/>
                </a:lnTo>
                <a:lnTo>
                  <a:pt x="0" y="1199"/>
                </a:lnTo>
                <a:lnTo>
                  <a:pt x="12" y="1199"/>
                </a:lnTo>
                <a:close/>
                <a:moveTo>
                  <a:pt x="12" y="1223"/>
                </a:moveTo>
                <a:lnTo>
                  <a:pt x="12" y="1235"/>
                </a:lnTo>
                <a:lnTo>
                  <a:pt x="0" y="1235"/>
                </a:lnTo>
                <a:lnTo>
                  <a:pt x="0" y="1223"/>
                </a:lnTo>
                <a:lnTo>
                  <a:pt x="12" y="1223"/>
                </a:lnTo>
                <a:close/>
                <a:moveTo>
                  <a:pt x="12" y="1247"/>
                </a:moveTo>
                <a:lnTo>
                  <a:pt x="12" y="1259"/>
                </a:lnTo>
                <a:lnTo>
                  <a:pt x="0" y="1259"/>
                </a:lnTo>
                <a:lnTo>
                  <a:pt x="0" y="1247"/>
                </a:lnTo>
                <a:lnTo>
                  <a:pt x="12" y="1247"/>
                </a:lnTo>
                <a:close/>
                <a:moveTo>
                  <a:pt x="12" y="1271"/>
                </a:moveTo>
                <a:lnTo>
                  <a:pt x="12" y="1283"/>
                </a:lnTo>
                <a:lnTo>
                  <a:pt x="0" y="1283"/>
                </a:lnTo>
                <a:lnTo>
                  <a:pt x="0" y="1271"/>
                </a:lnTo>
                <a:lnTo>
                  <a:pt x="12" y="1271"/>
                </a:lnTo>
                <a:close/>
                <a:moveTo>
                  <a:pt x="12" y="1294"/>
                </a:moveTo>
                <a:lnTo>
                  <a:pt x="12" y="1307"/>
                </a:lnTo>
                <a:lnTo>
                  <a:pt x="0" y="1307"/>
                </a:lnTo>
                <a:lnTo>
                  <a:pt x="0" y="1294"/>
                </a:lnTo>
                <a:lnTo>
                  <a:pt x="12" y="1294"/>
                </a:lnTo>
                <a:close/>
                <a:moveTo>
                  <a:pt x="12" y="1319"/>
                </a:moveTo>
                <a:lnTo>
                  <a:pt x="12" y="1330"/>
                </a:lnTo>
                <a:lnTo>
                  <a:pt x="0" y="1330"/>
                </a:lnTo>
                <a:lnTo>
                  <a:pt x="0" y="1319"/>
                </a:lnTo>
                <a:lnTo>
                  <a:pt x="12" y="1319"/>
                </a:lnTo>
                <a:close/>
                <a:moveTo>
                  <a:pt x="12" y="1342"/>
                </a:moveTo>
                <a:lnTo>
                  <a:pt x="12" y="1355"/>
                </a:lnTo>
                <a:lnTo>
                  <a:pt x="0" y="1355"/>
                </a:lnTo>
                <a:lnTo>
                  <a:pt x="0" y="1342"/>
                </a:lnTo>
                <a:lnTo>
                  <a:pt x="12" y="1342"/>
                </a:lnTo>
                <a:close/>
                <a:moveTo>
                  <a:pt x="12" y="1366"/>
                </a:moveTo>
                <a:lnTo>
                  <a:pt x="12" y="1378"/>
                </a:lnTo>
                <a:lnTo>
                  <a:pt x="0" y="1378"/>
                </a:lnTo>
                <a:lnTo>
                  <a:pt x="0" y="1366"/>
                </a:lnTo>
                <a:lnTo>
                  <a:pt x="12" y="1366"/>
                </a:lnTo>
                <a:close/>
                <a:moveTo>
                  <a:pt x="12" y="1390"/>
                </a:moveTo>
                <a:lnTo>
                  <a:pt x="12" y="1402"/>
                </a:lnTo>
                <a:lnTo>
                  <a:pt x="0" y="1402"/>
                </a:lnTo>
                <a:lnTo>
                  <a:pt x="0" y="1390"/>
                </a:lnTo>
                <a:lnTo>
                  <a:pt x="12" y="1390"/>
                </a:lnTo>
                <a:close/>
                <a:moveTo>
                  <a:pt x="12" y="1414"/>
                </a:moveTo>
                <a:lnTo>
                  <a:pt x="12" y="1426"/>
                </a:lnTo>
                <a:lnTo>
                  <a:pt x="0" y="1426"/>
                </a:lnTo>
                <a:lnTo>
                  <a:pt x="0" y="1414"/>
                </a:lnTo>
                <a:lnTo>
                  <a:pt x="12" y="1414"/>
                </a:lnTo>
                <a:close/>
                <a:moveTo>
                  <a:pt x="12" y="1438"/>
                </a:moveTo>
                <a:lnTo>
                  <a:pt x="12" y="1450"/>
                </a:lnTo>
                <a:lnTo>
                  <a:pt x="0" y="1450"/>
                </a:lnTo>
                <a:lnTo>
                  <a:pt x="0" y="1438"/>
                </a:lnTo>
                <a:lnTo>
                  <a:pt x="12" y="1438"/>
                </a:lnTo>
                <a:close/>
                <a:moveTo>
                  <a:pt x="12" y="1462"/>
                </a:moveTo>
                <a:lnTo>
                  <a:pt x="12" y="1474"/>
                </a:lnTo>
                <a:lnTo>
                  <a:pt x="0" y="1474"/>
                </a:lnTo>
                <a:lnTo>
                  <a:pt x="0" y="1462"/>
                </a:lnTo>
                <a:lnTo>
                  <a:pt x="12" y="1462"/>
                </a:lnTo>
                <a:close/>
                <a:moveTo>
                  <a:pt x="12" y="1486"/>
                </a:moveTo>
                <a:lnTo>
                  <a:pt x="12" y="1498"/>
                </a:lnTo>
                <a:lnTo>
                  <a:pt x="0" y="1498"/>
                </a:lnTo>
                <a:lnTo>
                  <a:pt x="0" y="1486"/>
                </a:lnTo>
                <a:lnTo>
                  <a:pt x="12" y="1486"/>
                </a:lnTo>
                <a:close/>
                <a:moveTo>
                  <a:pt x="12" y="1510"/>
                </a:moveTo>
                <a:lnTo>
                  <a:pt x="12" y="1522"/>
                </a:lnTo>
                <a:lnTo>
                  <a:pt x="0" y="1522"/>
                </a:lnTo>
                <a:lnTo>
                  <a:pt x="0" y="1510"/>
                </a:lnTo>
                <a:lnTo>
                  <a:pt x="12" y="1510"/>
                </a:lnTo>
                <a:close/>
                <a:moveTo>
                  <a:pt x="12" y="1534"/>
                </a:moveTo>
                <a:lnTo>
                  <a:pt x="12" y="1546"/>
                </a:lnTo>
                <a:lnTo>
                  <a:pt x="0" y="1546"/>
                </a:lnTo>
                <a:lnTo>
                  <a:pt x="0" y="1534"/>
                </a:lnTo>
                <a:lnTo>
                  <a:pt x="12" y="1534"/>
                </a:lnTo>
                <a:close/>
                <a:moveTo>
                  <a:pt x="12" y="1558"/>
                </a:moveTo>
                <a:lnTo>
                  <a:pt x="12" y="1570"/>
                </a:lnTo>
                <a:lnTo>
                  <a:pt x="0" y="1570"/>
                </a:lnTo>
                <a:lnTo>
                  <a:pt x="0" y="1558"/>
                </a:lnTo>
                <a:lnTo>
                  <a:pt x="12" y="1558"/>
                </a:lnTo>
                <a:close/>
                <a:moveTo>
                  <a:pt x="12" y="1582"/>
                </a:moveTo>
                <a:lnTo>
                  <a:pt x="12" y="1594"/>
                </a:lnTo>
                <a:lnTo>
                  <a:pt x="0" y="1594"/>
                </a:lnTo>
                <a:lnTo>
                  <a:pt x="0" y="1582"/>
                </a:lnTo>
                <a:lnTo>
                  <a:pt x="12" y="1582"/>
                </a:lnTo>
                <a:close/>
                <a:moveTo>
                  <a:pt x="12" y="1606"/>
                </a:moveTo>
                <a:lnTo>
                  <a:pt x="12" y="1618"/>
                </a:lnTo>
                <a:lnTo>
                  <a:pt x="0" y="1618"/>
                </a:lnTo>
                <a:lnTo>
                  <a:pt x="0" y="1606"/>
                </a:lnTo>
                <a:lnTo>
                  <a:pt x="12" y="1606"/>
                </a:lnTo>
                <a:close/>
                <a:moveTo>
                  <a:pt x="12" y="1630"/>
                </a:moveTo>
                <a:lnTo>
                  <a:pt x="12" y="1642"/>
                </a:lnTo>
                <a:lnTo>
                  <a:pt x="0" y="1642"/>
                </a:lnTo>
                <a:lnTo>
                  <a:pt x="0" y="1630"/>
                </a:lnTo>
                <a:lnTo>
                  <a:pt x="12" y="1630"/>
                </a:lnTo>
                <a:close/>
                <a:moveTo>
                  <a:pt x="12" y="1654"/>
                </a:moveTo>
                <a:lnTo>
                  <a:pt x="12" y="1666"/>
                </a:lnTo>
                <a:lnTo>
                  <a:pt x="0" y="1666"/>
                </a:lnTo>
                <a:lnTo>
                  <a:pt x="0" y="1654"/>
                </a:lnTo>
                <a:lnTo>
                  <a:pt x="12" y="1654"/>
                </a:lnTo>
                <a:close/>
                <a:moveTo>
                  <a:pt x="12" y="1678"/>
                </a:moveTo>
                <a:lnTo>
                  <a:pt x="12" y="1690"/>
                </a:lnTo>
                <a:lnTo>
                  <a:pt x="0" y="1690"/>
                </a:lnTo>
                <a:lnTo>
                  <a:pt x="0" y="1678"/>
                </a:lnTo>
                <a:lnTo>
                  <a:pt x="12" y="1678"/>
                </a:lnTo>
                <a:close/>
                <a:moveTo>
                  <a:pt x="12" y="1702"/>
                </a:moveTo>
                <a:lnTo>
                  <a:pt x="12" y="1714"/>
                </a:lnTo>
                <a:lnTo>
                  <a:pt x="0" y="1714"/>
                </a:lnTo>
                <a:lnTo>
                  <a:pt x="0" y="1702"/>
                </a:lnTo>
                <a:lnTo>
                  <a:pt x="12" y="1702"/>
                </a:lnTo>
                <a:close/>
                <a:moveTo>
                  <a:pt x="12" y="1726"/>
                </a:moveTo>
                <a:lnTo>
                  <a:pt x="12" y="1738"/>
                </a:lnTo>
                <a:lnTo>
                  <a:pt x="0" y="1738"/>
                </a:lnTo>
                <a:lnTo>
                  <a:pt x="0" y="1726"/>
                </a:lnTo>
                <a:lnTo>
                  <a:pt x="12" y="1726"/>
                </a:lnTo>
                <a:close/>
                <a:moveTo>
                  <a:pt x="12" y="1750"/>
                </a:moveTo>
                <a:lnTo>
                  <a:pt x="12" y="1762"/>
                </a:lnTo>
                <a:lnTo>
                  <a:pt x="0" y="1762"/>
                </a:lnTo>
                <a:lnTo>
                  <a:pt x="0" y="1750"/>
                </a:lnTo>
                <a:lnTo>
                  <a:pt x="12" y="1750"/>
                </a:lnTo>
                <a:close/>
                <a:moveTo>
                  <a:pt x="12" y="1774"/>
                </a:moveTo>
                <a:lnTo>
                  <a:pt x="12" y="1786"/>
                </a:lnTo>
                <a:lnTo>
                  <a:pt x="0" y="1786"/>
                </a:lnTo>
                <a:lnTo>
                  <a:pt x="0" y="1774"/>
                </a:lnTo>
                <a:lnTo>
                  <a:pt x="12" y="1774"/>
                </a:lnTo>
                <a:close/>
                <a:moveTo>
                  <a:pt x="12" y="1798"/>
                </a:moveTo>
                <a:lnTo>
                  <a:pt x="12" y="1810"/>
                </a:lnTo>
                <a:lnTo>
                  <a:pt x="0" y="1810"/>
                </a:lnTo>
                <a:lnTo>
                  <a:pt x="0" y="1798"/>
                </a:lnTo>
                <a:lnTo>
                  <a:pt x="12" y="1798"/>
                </a:lnTo>
                <a:close/>
                <a:moveTo>
                  <a:pt x="12" y="1822"/>
                </a:moveTo>
                <a:lnTo>
                  <a:pt x="12" y="1834"/>
                </a:lnTo>
                <a:lnTo>
                  <a:pt x="0" y="1834"/>
                </a:lnTo>
                <a:lnTo>
                  <a:pt x="0" y="1822"/>
                </a:lnTo>
                <a:lnTo>
                  <a:pt x="12" y="1822"/>
                </a:lnTo>
                <a:close/>
                <a:moveTo>
                  <a:pt x="12" y="1846"/>
                </a:moveTo>
                <a:lnTo>
                  <a:pt x="12" y="1858"/>
                </a:lnTo>
                <a:lnTo>
                  <a:pt x="0" y="1858"/>
                </a:lnTo>
                <a:lnTo>
                  <a:pt x="0" y="1846"/>
                </a:lnTo>
                <a:lnTo>
                  <a:pt x="12" y="1846"/>
                </a:lnTo>
                <a:close/>
                <a:moveTo>
                  <a:pt x="12" y="1870"/>
                </a:moveTo>
                <a:lnTo>
                  <a:pt x="12" y="1882"/>
                </a:lnTo>
                <a:lnTo>
                  <a:pt x="0" y="1882"/>
                </a:lnTo>
                <a:lnTo>
                  <a:pt x="0" y="1870"/>
                </a:lnTo>
                <a:lnTo>
                  <a:pt x="12" y="1870"/>
                </a:lnTo>
                <a:close/>
                <a:moveTo>
                  <a:pt x="12" y="1894"/>
                </a:moveTo>
                <a:lnTo>
                  <a:pt x="12" y="1906"/>
                </a:lnTo>
                <a:lnTo>
                  <a:pt x="0" y="1906"/>
                </a:lnTo>
                <a:lnTo>
                  <a:pt x="0" y="1894"/>
                </a:lnTo>
                <a:lnTo>
                  <a:pt x="12" y="1894"/>
                </a:lnTo>
                <a:close/>
                <a:moveTo>
                  <a:pt x="12" y="1918"/>
                </a:moveTo>
                <a:lnTo>
                  <a:pt x="12" y="1930"/>
                </a:lnTo>
                <a:lnTo>
                  <a:pt x="0" y="1930"/>
                </a:lnTo>
                <a:lnTo>
                  <a:pt x="0" y="1918"/>
                </a:lnTo>
                <a:lnTo>
                  <a:pt x="12" y="1918"/>
                </a:lnTo>
                <a:close/>
                <a:moveTo>
                  <a:pt x="12" y="1941"/>
                </a:moveTo>
                <a:lnTo>
                  <a:pt x="12" y="1954"/>
                </a:lnTo>
                <a:lnTo>
                  <a:pt x="0" y="1954"/>
                </a:lnTo>
                <a:lnTo>
                  <a:pt x="0" y="1941"/>
                </a:lnTo>
                <a:lnTo>
                  <a:pt x="12" y="1941"/>
                </a:lnTo>
                <a:close/>
                <a:moveTo>
                  <a:pt x="12" y="1966"/>
                </a:moveTo>
                <a:lnTo>
                  <a:pt x="12" y="1977"/>
                </a:lnTo>
                <a:lnTo>
                  <a:pt x="0" y="1977"/>
                </a:lnTo>
                <a:lnTo>
                  <a:pt x="0" y="1966"/>
                </a:lnTo>
                <a:lnTo>
                  <a:pt x="12" y="1966"/>
                </a:lnTo>
                <a:close/>
                <a:moveTo>
                  <a:pt x="12" y="1989"/>
                </a:moveTo>
                <a:lnTo>
                  <a:pt x="12" y="2002"/>
                </a:lnTo>
                <a:lnTo>
                  <a:pt x="0" y="2002"/>
                </a:lnTo>
                <a:lnTo>
                  <a:pt x="0" y="1989"/>
                </a:lnTo>
                <a:lnTo>
                  <a:pt x="12" y="1989"/>
                </a:lnTo>
                <a:close/>
                <a:moveTo>
                  <a:pt x="12" y="2013"/>
                </a:moveTo>
                <a:lnTo>
                  <a:pt x="12" y="2025"/>
                </a:lnTo>
                <a:lnTo>
                  <a:pt x="0" y="2025"/>
                </a:lnTo>
                <a:lnTo>
                  <a:pt x="0" y="2013"/>
                </a:lnTo>
                <a:lnTo>
                  <a:pt x="12" y="2013"/>
                </a:lnTo>
                <a:close/>
                <a:moveTo>
                  <a:pt x="12" y="2038"/>
                </a:moveTo>
                <a:lnTo>
                  <a:pt x="12" y="2049"/>
                </a:lnTo>
                <a:lnTo>
                  <a:pt x="0" y="2049"/>
                </a:lnTo>
                <a:lnTo>
                  <a:pt x="0" y="2038"/>
                </a:lnTo>
                <a:lnTo>
                  <a:pt x="12" y="2038"/>
                </a:lnTo>
                <a:close/>
                <a:moveTo>
                  <a:pt x="12" y="2061"/>
                </a:moveTo>
                <a:lnTo>
                  <a:pt x="12" y="2073"/>
                </a:lnTo>
                <a:lnTo>
                  <a:pt x="0" y="2073"/>
                </a:lnTo>
                <a:lnTo>
                  <a:pt x="0" y="2061"/>
                </a:lnTo>
                <a:lnTo>
                  <a:pt x="12" y="2061"/>
                </a:lnTo>
                <a:close/>
                <a:moveTo>
                  <a:pt x="12" y="2085"/>
                </a:moveTo>
                <a:lnTo>
                  <a:pt x="12" y="2097"/>
                </a:lnTo>
                <a:lnTo>
                  <a:pt x="0" y="2097"/>
                </a:lnTo>
                <a:lnTo>
                  <a:pt x="0" y="2085"/>
                </a:lnTo>
                <a:lnTo>
                  <a:pt x="12" y="2085"/>
                </a:lnTo>
                <a:close/>
                <a:moveTo>
                  <a:pt x="12" y="2109"/>
                </a:moveTo>
                <a:lnTo>
                  <a:pt x="12" y="2121"/>
                </a:lnTo>
                <a:lnTo>
                  <a:pt x="0" y="2121"/>
                </a:lnTo>
                <a:lnTo>
                  <a:pt x="0" y="2109"/>
                </a:lnTo>
                <a:lnTo>
                  <a:pt x="12" y="2109"/>
                </a:lnTo>
                <a:close/>
                <a:moveTo>
                  <a:pt x="12" y="2133"/>
                </a:moveTo>
                <a:lnTo>
                  <a:pt x="12" y="2145"/>
                </a:lnTo>
                <a:lnTo>
                  <a:pt x="0" y="2145"/>
                </a:lnTo>
                <a:lnTo>
                  <a:pt x="0" y="2133"/>
                </a:lnTo>
                <a:lnTo>
                  <a:pt x="12" y="2133"/>
                </a:lnTo>
                <a:close/>
                <a:moveTo>
                  <a:pt x="12" y="2157"/>
                </a:moveTo>
                <a:lnTo>
                  <a:pt x="12" y="2169"/>
                </a:lnTo>
                <a:lnTo>
                  <a:pt x="0" y="2169"/>
                </a:lnTo>
                <a:lnTo>
                  <a:pt x="0" y="2157"/>
                </a:lnTo>
                <a:lnTo>
                  <a:pt x="12" y="2157"/>
                </a:lnTo>
                <a:close/>
                <a:moveTo>
                  <a:pt x="12" y="2181"/>
                </a:moveTo>
                <a:lnTo>
                  <a:pt x="12" y="2193"/>
                </a:lnTo>
                <a:lnTo>
                  <a:pt x="0" y="2193"/>
                </a:lnTo>
                <a:lnTo>
                  <a:pt x="0" y="2181"/>
                </a:lnTo>
                <a:lnTo>
                  <a:pt x="12" y="2181"/>
                </a:lnTo>
                <a:close/>
                <a:moveTo>
                  <a:pt x="12" y="2205"/>
                </a:moveTo>
                <a:lnTo>
                  <a:pt x="12" y="2217"/>
                </a:lnTo>
                <a:lnTo>
                  <a:pt x="0" y="2217"/>
                </a:lnTo>
                <a:lnTo>
                  <a:pt x="0" y="2205"/>
                </a:lnTo>
                <a:lnTo>
                  <a:pt x="12" y="2205"/>
                </a:lnTo>
                <a:close/>
                <a:moveTo>
                  <a:pt x="12" y="2229"/>
                </a:moveTo>
                <a:lnTo>
                  <a:pt x="12" y="2241"/>
                </a:lnTo>
                <a:lnTo>
                  <a:pt x="0" y="2241"/>
                </a:lnTo>
                <a:lnTo>
                  <a:pt x="0" y="2229"/>
                </a:lnTo>
                <a:lnTo>
                  <a:pt x="12" y="2229"/>
                </a:lnTo>
                <a:close/>
                <a:moveTo>
                  <a:pt x="12" y="2253"/>
                </a:moveTo>
                <a:lnTo>
                  <a:pt x="12" y="2265"/>
                </a:lnTo>
                <a:lnTo>
                  <a:pt x="0" y="2265"/>
                </a:lnTo>
                <a:lnTo>
                  <a:pt x="0" y="2253"/>
                </a:lnTo>
                <a:lnTo>
                  <a:pt x="12" y="2253"/>
                </a:lnTo>
                <a:close/>
                <a:moveTo>
                  <a:pt x="12" y="2277"/>
                </a:moveTo>
                <a:lnTo>
                  <a:pt x="12" y="2289"/>
                </a:lnTo>
                <a:lnTo>
                  <a:pt x="0" y="2289"/>
                </a:lnTo>
                <a:lnTo>
                  <a:pt x="0" y="2277"/>
                </a:lnTo>
                <a:lnTo>
                  <a:pt x="12" y="2277"/>
                </a:lnTo>
                <a:close/>
                <a:moveTo>
                  <a:pt x="12" y="2301"/>
                </a:moveTo>
                <a:lnTo>
                  <a:pt x="12" y="2313"/>
                </a:lnTo>
                <a:lnTo>
                  <a:pt x="0" y="2313"/>
                </a:lnTo>
                <a:lnTo>
                  <a:pt x="0" y="2301"/>
                </a:lnTo>
                <a:lnTo>
                  <a:pt x="12" y="2301"/>
                </a:lnTo>
                <a:close/>
                <a:moveTo>
                  <a:pt x="12" y="2325"/>
                </a:moveTo>
                <a:lnTo>
                  <a:pt x="12" y="2337"/>
                </a:lnTo>
                <a:lnTo>
                  <a:pt x="0" y="2337"/>
                </a:lnTo>
                <a:lnTo>
                  <a:pt x="0" y="2325"/>
                </a:lnTo>
                <a:lnTo>
                  <a:pt x="12" y="2325"/>
                </a:lnTo>
                <a:close/>
                <a:moveTo>
                  <a:pt x="12" y="2349"/>
                </a:moveTo>
                <a:lnTo>
                  <a:pt x="12" y="2361"/>
                </a:lnTo>
                <a:lnTo>
                  <a:pt x="0" y="2361"/>
                </a:lnTo>
                <a:lnTo>
                  <a:pt x="0" y="2349"/>
                </a:lnTo>
                <a:lnTo>
                  <a:pt x="12" y="2349"/>
                </a:lnTo>
                <a:close/>
                <a:moveTo>
                  <a:pt x="12" y="2373"/>
                </a:moveTo>
                <a:lnTo>
                  <a:pt x="12" y="2385"/>
                </a:lnTo>
                <a:lnTo>
                  <a:pt x="0" y="2385"/>
                </a:lnTo>
                <a:lnTo>
                  <a:pt x="0" y="2373"/>
                </a:lnTo>
                <a:lnTo>
                  <a:pt x="12" y="2373"/>
                </a:lnTo>
                <a:close/>
                <a:moveTo>
                  <a:pt x="12" y="2397"/>
                </a:moveTo>
                <a:lnTo>
                  <a:pt x="12" y="2409"/>
                </a:lnTo>
                <a:lnTo>
                  <a:pt x="0" y="2409"/>
                </a:lnTo>
                <a:lnTo>
                  <a:pt x="0" y="2397"/>
                </a:lnTo>
                <a:lnTo>
                  <a:pt x="12" y="2397"/>
                </a:lnTo>
                <a:close/>
                <a:moveTo>
                  <a:pt x="12" y="2421"/>
                </a:moveTo>
                <a:lnTo>
                  <a:pt x="12" y="2433"/>
                </a:lnTo>
                <a:lnTo>
                  <a:pt x="0" y="2433"/>
                </a:lnTo>
                <a:lnTo>
                  <a:pt x="0" y="2421"/>
                </a:lnTo>
                <a:lnTo>
                  <a:pt x="12" y="2421"/>
                </a:lnTo>
                <a:close/>
                <a:moveTo>
                  <a:pt x="12" y="2445"/>
                </a:moveTo>
                <a:lnTo>
                  <a:pt x="12" y="2457"/>
                </a:lnTo>
                <a:lnTo>
                  <a:pt x="0" y="2457"/>
                </a:lnTo>
                <a:lnTo>
                  <a:pt x="0" y="2445"/>
                </a:lnTo>
                <a:lnTo>
                  <a:pt x="12" y="2445"/>
                </a:lnTo>
                <a:close/>
                <a:moveTo>
                  <a:pt x="12" y="2469"/>
                </a:moveTo>
                <a:lnTo>
                  <a:pt x="12" y="2481"/>
                </a:lnTo>
                <a:lnTo>
                  <a:pt x="0" y="2481"/>
                </a:lnTo>
                <a:lnTo>
                  <a:pt x="0" y="2469"/>
                </a:lnTo>
                <a:lnTo>
                  <a:pt x="12" y="2469"/>
                </a:lnTo>
                <a:close/>
                <a:moveTo>
                  <a:pt x="12" y="2493"/>
                </a:moveTo>
                <a:lnTo>
                  <a:pt x="12" y="2505"/>
                </a:lnTo>
                <a:lnTo>
                  <a:pt x="0" y="2505"/>
                </a:lnTo>
                <a:lnTo>
                  <a:pt x="0" y="2493"/>
                </a:lnTo>
                <a:lnTo>
                  <a:pt x="12" y="2493"/>
                </a:lnTo>
                <a:close/>
                <a:moveTo>
                  <a:pt x="12" y="2517"/>
                </a:moveTo>
                <a:lnTo>
                  <a:pt x="12" y="2529"/>
                </a:lnTo>
                <a:lnTo>
                  <a:pt x="0" y="2529"/>
                </a:lnTo>
                <a:lnTo>
                  <a:pt x="0" y="2517"/>
                </a:lnTo>
                <a:lnTo>
                  <a:pt x="12" y="2517"/>
                </a:lnTo>
                <a:close/>
                <a:moveTo>
                  <a:pt x="12" y="2541"/>
                </a:moveTo>
                <a:lnTo>
                  <a:pt x="12" y="2553"/>
                </a:lnTo>
                <a:lnTo>
                  <a:pt x="0" y="2553"/>
                </a:lnTo>
                <a:lnTo>
                  <a:pt x="0" y="2541"/>
                </a:lnTo>
                <a:lnTo>
                  <a:pt x="12" y="2541"/>
                </a:lnTo>
                <a:close/>
              </a:path>
            </a:pathLst>
          </a:custGeom>
          <a:solidFill>
            <a:srgbClr val="000000"/>
          </a:solidFill>
          <a:ln w="0" cap="flat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143" name="Freeform 140">
            <a:extLst>
              <a:ext uri="{FF2B5EF4-FFF2-40B4-BE49-F238E27FC236}">
                <a16:creationId xmlns:a16="http://schemas.microsoft.com/office/drawing/2014/main" id="{6989B061-E25C-443E-A128-5658708E5EF3}"/>
              </a:ext>
            </a:extLst>
          </p:cNvPr>
          <p:cNvSpPr>
            <a:spLocks noEditPoints="1"/>
          </p:cNvSpPr>
          <p:nvPr/>
        </p:nvSpPr>
        <p:spPr bwMode="auto">
          <a:xfrm>
            <a:off x="4214813" y="2289175"/>
            <a:ext cx="18000" cy="4032000"/>
          </a:xfrm>
          <a:custGeom>
            <a:avLst/>
            <a:gdLst>
              <a:gd name="T0" fmla="*/ 0 w 12"/>
              <a:gd name="T1" fmla="*/ 25 h 2553"/>
              <a:gd name="T2" fmla="*/ 0 w 12"/>
              <a:gd name="T3" fmla="*/ 84 h 2553"/>
              <a:gd name="T4" fmla="*/ 12 w 12"/>
              <a:gd name="T5" fmla="*/ 132 h 2553"/>
              <a:gd name="T6" fmla="*/ 12 w 12"/>
              <a:gd name="T7" fmla="*/ 168 h 2553"/>
              <a:gd name="T8" fmla="*/ 12 w 12"/>
              <a:gd name="T9" fmla="*/ 192 h 2553"/>
              <a:gd name="T10" fmla="*/ 0 w 12"/>
              <a:gd name="T11" fmla="*/ 240 h 2553"/>
              <a:gd name="T12" fmla="*/ 0 w 12"/>
              <a:gd name="T13" fmla="*/ 300 h 2553"/>
              <a:gd name="T14" fmla="*/ 12 w 12"/>
              <a:gd name="T15" fmla="*/ 348 h 2553"/>
              <a:gd name="T16" fmla="*/ 12 w 12"/>
              <a:gd name="T17" fmla="*/ 384 h 2553"/>
              <a:gd name="T18" fmla="*/ 12 w 12"/>
              <a:gd name="T19" fmla="*/ 408 h 2553"/>
              <a:gd name="T20" fmla="*/ 0 w 12"/>
              <a:gd name="T21" fmla="*/ 456 h 2553"/>
              <a:gd name="T22" fmla="*/ 0 w 12"/>
              <a:gd name="T23" fmla="*/ 516 h 2553"/>
              <a:gd name="T24" fmla="*/ 12 w 12"/>
              <a:gd name="T25" fmla="*/ 564 h 2553"/>
              <a:gd name="T26" fmla="*/ 12 w 12"/>
              <a:gd name="T27" fmla="*/ 600 h 2553"/>
              <a:gd name="T28" fmla="*/ 12 w 12"/>
              <a:gd name="T29" fmla="*/ 624 h 2553"/>
              <a:gd name="T30" fmla="*/ 0 w 12"/>
              <a:gd name="T31" fmla="*/ 672 h 2553"/>
              <a:gd name="T32" fmla="*/ 0 w 12"/>
              <a:gd name="T33" fmla="*/ 731 h 2553"/>
              <a:gd name="T34" fmla="*/ 12 w 12"/>
              <a:gd name="T35" fmla="*/ 779 h 2553"/>
              <a:gd name="T36" fmla="*/ 12 w 12"/>
              <a:gd name="T37" fmla="*/ 815 h 2553"/>
              <a:gd name="T38" fmla="*/ 12 w 12"/>
              <a:gd name="T39" fmla="*/ 839 h 2553"/>
              <a:gd name="T40" fmla="*/ 0 w 12"/>
              <a:gd name="T41" fmla="*/ 887 h 2553"/>
              <a:gd name="T42" fmla="*/ 0 w 12"/>
              <a:gd name="T43" fmla="*/ 947 h 2553"/>
              <a:gd name="T44" fmla="*/ 12 w 12"/>
              <a:gd name="T45" fmla="*/ 995 h 2553"/>
              <a:gd name="T46" fmla="*/ 12 w 12"/>
              <a:gd name="T47" fmla="*/ 1031 h 2553"/>
              <a:gd name="T48" fmla="*/ 12 w 12"/>
              <a:gd name="T49" fmla="*/ 1055 h 2553"/>
              <a:gd name="T50" fmla="*/ 0 w 12"/>
              <a:gd name="T51" fmla="*/ 1103 h 2553"/>
              <a:gd name="T52" fmla="*/ 0 w 12"/>
              <a:gd name="T53" fmla="*/ 1163 h 2553"/>
              <a:gd name="T54" fmla="*/ 12 w 12"/>
              <a:gd name="T55" fmla="*/ 1211 h 2553"/>
              <a:gd name="T56" fmla="*/ 12 w 12"/>
              <a:gd name="T57" fmla="*/ 1247 h 2553"/>
              <a:gd name="T58" fmla="*/ 12 w 12"/>
              <a:gd name="T59" fmla="*/ 1271 h 2553"/>
              <a:gd name="T60" fmla="*/ 0 w 12"/>
              <a:gd name="T61" fmla="*/ 1319 h 2553"/>
              <a:gd name="T62" fmla="*/ 0 w 12"/>
              <a:gd name="T63" fmla="*/ 1378 h 2553"/>
              <a:gd name="T64" fmla="*/ 12 w 12"/>
              <a:gd name="T65" fmla="*/ 1426 h 2553"/>
              <a:gd name="T66" fmla="*/ 12 w 12"/>
              <a:gd name="T67" fmla="*/ 1462 h 2553"/>
              <a:gd name="T68" fmla="*/ 12 w 12"/>
              <a:gd name="T69" fmla="*/ 1486 h 2553"/>
              <a:gd name="T70" fmla="*/ 0 w 12"/>
              <a:gd name="T71" fmla="*/ 1534 h 2553"/>
              <a:gd name="T72" fmla="*/ 0 w 12"/>
              <a:gd name="T73" fmla="*/ 1594 h 2553"/>
              <a:gd name="T74" fmla="*/ 12 w 12"/>
              <a:gd name="T75" fmla="*/ 1642 h 2553"/>
              <a:gd name="T76" fmla="*/ 12 w 12"/>
              <a:gd name="T77" fmla="*/ 1678 h 2553"/>
              <a:gd name="T78" fmla="*/ 12 w 12"/>
              <a:gd name="T79" fmla="*/ 1702 h 2553"/>
              <a:gd name="T80" fmla="*/ 0 w 12"/>
              <a:gd name="T81" fmla="*/ 1750 h 2553"/>
              <a:gd name="T82" fmla="*/ 0 w 12"/>
              <a:gd name="T83" fmla="*/ 1810 h 2553"/>
              <a:gd name="T84" fmla="*/ 12 w 12"/>
              <a:gd name="T85" fmla="*/ 1858 h 2553"/>
              <a:gd name="T86" fmla="*/ 12 w 12"/>
              <a:gd name="T87" fmla="*/ 1894 h 2553"/>
              <a:gd name="T88" fmla="*/ 12 w 12"/>
              <a:gd name="T89" fmla="*/ 1918 h 2553"/>
              <a:gd name="T90" fmla="*/ 0 w 12"/>
              <a:gd name="T91" fmla="*/ 1966 h 2553"/>
              <a:gd name="T92" fmla="*/ 0 w 12"/>
              <a:gd name="T93" fmla="*/ 2025 h 2553"/>
              <a:gd name="T94" fmla="*/ 12 w 12"/>
              <a:gd name="T95" fmla="*/ 2073 h 2553"/>
              <a:gd name="T96" fmla="*/ 12 w 12"/>
              <a:gd name="T97" fmla="*/ 2109 h 2553"/>
              <a:gd name="T98" fmla="*/ 12 w 12"/>
              <a:gd name="T99" fmla="*/ 2133 h 2553"/>
              <a:gd name="T100" fmla="*/ 0 w 12"/>
              <a:gd name="T101" fmla="*/ 2181 h 2553"/>
              <a:gd name="T102" fmla="*/ 0 w 12"/>
              <a:gd name="T103" fmla="*/ 2241 h 2553"/>
              <a:gd name="T104" fmla="*/ 12 w 12"/>
              <a:gd name="T105" fmla="*/ 2289 h 2553"/>
              <a:gd name="T106" fmla="*/ 12 w 12"/>
              <a:gd name="T107" fmla="*/ 2325 h 2553"/>
              <a:gd name="T108" fmla="*/ 12 w 12"/>
              <a:gd name="T109" fmla="*/ 2349 h 2553"/>
              <a:gd name="T110" fmla="*/ 0 w 12"/>
              <a:gd name="T111" fmla="*/ 2397 h 2553"/>
              <a:gd name="T112" fmla="*/ 0 w 12"/>
              <a:gd name="T113" fmla="*/ 2457 h 2553"/>
              <a:gd name="T114" fmla="*/ 12 w 12"/>
              <a:gd name="T115" fmla="*/ 2505 h 2553"/>
              <a:gd name="T116" fmla="*/ 12 w 12"/>
              <a:gd name="T117" fmla="*/ 2541 h 25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12" h="2553">
                <a:moveTo>
                  <a:pt x="12" y="0"/>
                </a:moveTo>
                <a:lnTo>
                  <a:pt x="12" y="12"/>
                </a:lnTo>
                <a:lnTo>
                  <a:pt x="0" y="12"/>
                </a:lnTo>
                <a:lnTo>
                  <a:pt x="0" y="0"/>
                </a:lnTo>
                <a:lnTo>
                  <a:pt x="12" y="0"/>
                </a:lnTo>
                <a:close/>
                <a:moveTo>
                  <a:pt x="12" y="25"/>
                </a:moveTo>
                <a:lnTo>
                  <a:pt x="12" y="36"/>
                </a:lnTo>
                <a:lnTo>
                  <a:pt x="0" y="36"/>
                </a:lnTo>
                <a:lnTo>
                  <a:pt x="0" y="25"/>
                </a:lnTo>
                <a:lnTo>
                  <a:pt x="12" y="25"/>
                </a:lnTo>
                <a:close/>
                <a:moveTo>
                  <a:pt x="12" y="48"/>
                </a:moveTo>
                <a:lnTo>
                  <a:pt x="12" y="60"/>
                </a:lnTo>
                <a:lnTo>
                  <a:pt x="0" y="60"/>
                </a:lnTo>
                <a:lnTo>
                  <a:pt x="0" y="48"/>
                </a:lnTo>
                <a:lnTo>
                  <a:pt x="12" y="48"/>
                </a:lnTo>
                <a:close/>
                <a:moveTo>
                  <a:pt x="12" y="72"/>
                </a:moveTo>
                <a:lnTo>
                  <a:pt x="12" y="84"/>
                </a:lnTo>
                <a:lnTo>
                  <a:pt x="0" y="84"/>
                </a:lnTo>
                <a:lnTo>
                  <a:pt x="0" y="72"/>
                </a:lnTo>
                <a:lnTo>
                  <a:pt x="12" y="72"/>
                </a:lnTo>
                <a:close/>
                <a:moveTo>
                  <a:pt x="12" y="96"/>
                </a:moveTo>
                <a:lnTo>
                  <a:pt x="12" y="108"/>
                </a:lnTo>
                <a:lnTo>
                  <a:pt x="0" y="108"/>
                </a:lnTo>
                <a:lnTo>
                  <a:pt x="0" y="96"/>
                </a:lnTo>
                <a:lnTo>
                  <a:pt x="12" y="96"/>
                </a:lnTo>
                <a:close/>
                <a:moveTo>
                  <a:pt x="12" y="120"/>
                </a:moveTo>
                <a:lnTo>
                  <a:pt x="12" y="132"/>
                </a:lnTo>
                <a:lnTo>
                  <a:pt x="0" y="132"/>
                </a:lnTo>
                <a:lnTo>
                  <a:pt x="0" y="120"/>
                </a:lnTo>
                <a:lnTo>
                  <a:pt x="12" y="120"/>
                </a:lnTo>
                <a:close/>
                <a:moveTo>
                  <a:pt x="12" y="144"/>
                </a:moveTo>
                <a:lnTo>
                  <a:pt x="12" y="156"/>
                </a:lnTo>
                <a:lnTo>
                  <a:pt x="0" y="156"/>
                </a:lnTo>
                <a:lnTo>
                  <a:pt x="0" y="144"/>
                </a:lnTo>
                <a:lnTo>
                  <a:pt x="12" y="144"/>
                </a:lnTo>
                <a:close/>
                <a:moveTo>
                  <a:pt x="12" y="168"/>
                </a:moveTo>
                <a:lnTo>
                  <a:pt x="12" y="180"/>
                </a:lnTo>
                <a:lnTo>
                  <a:pt x="0" y="180"/>
                </a:lnTo>
                <a:lnTo>
                  <a:pt x="0" y="168"/>
                </a:lnTo>
                <a:lnTo>
                  <a:pt x="12" y="168"/>
                </a:lnTo>
                <a:close/>
                <a:moveTo>
                  <a:pt x="12" y="192"/>
                </a:moveTo>
                <a:lnTo>
                  <a:pt x="12" y="204"/>
                </a:lnTo>
                <a:lnTo>
                  <a:pt x="0" y="204"/>
                </a:lnTo>
                <a:lnTo>
                  <a:pt x="0" y="192"/>
                </a:lnTo>
                <a:lnTo>
                  <a:pt x="12" y="192"/>
                </a:lnTo>
                <a:close/>
                <a:moveTo>
                  <a:pt x="12" y="216"/>
                </a:moveTo>
                <a:lnTo>
                  <a:pt x="12" y="228"/>
                </a:lnTo>
                <a:lnTo>
                  <a:pt x="0" y="228"/>
                </a:lnTo>
                <a:lnTo>
                  <a:pt x="0" y="216"/>
                </a:lnTo>
                <a:lnTo>
                  <a:pt x="12" y="216"/>
                </a:lnTo>
                <a:close/>
                <a:moveTo>
                  <a:pt x="12" y="240"/>
                </a:moveTo>
                <a:lnTo>
                  <a:pt x="12" y="252"/>
                </a:lnTo>
                <a:lnTo>
                  <a:pt x="0" y="252"/>
                </a:lnTo>
                <a:lnTo>
                  <a:pt x="0" y="240"/>
                </a:lnTo>
                <a:lnTo>
                  <a:pt x="12" y="240"/>
                </a:lnTo>
                <a:close/>
                <a:moveTo>
                  <a:pt x="12" y="264"/>
                </a:moveTo>
                <a:lnTo>
                  <a:pt x="12" y="276"/>
                </a:lnTo>
                <a:lnTo>
                  <a:pt x="0" y="276"/>
                </a:lnTo>
                <a:lnTo>
                  <a:pt x="0" y="264"/>
                </a:lnTo>
                <a:lnTo>
                  <a:pt x="12" y="264"/>
                </a:lnTo>
                <a:close/>
                <a:moveTo>
                  <a:pt x="12" y="288"/>
                </a:moveTo>
                <a:lnTo>
                  <a:pt x="12" y="300"/>
                </a:lnTo>
                <a:lnTo>
                  <a:pt x="0" y="300"/>
                </a:lnTo>
                <a:lnTo>
                  <a:pt x="0" y="288"/>
                </a:lnTo>
                <a:lnTo>
                  <a:pt x="12" y="288"/>
                </a:lnTo>
                <a:close/>
                <a:moveTo>
                  <a:pt x="12" y="312"/>
                </a:moveTo>
                <a:lnTo>
                  <a:pt x="12" y="324"/>
                </a:lnTo>
                <a:lnTo>
                  <a:pt x="0" y="324"/>
                </a:lnTo>
                <a:lnTo>
                  <a:pt x="0" y="312"/>
                </a:lnTo>
                <a:lnTo>
                  <a:pt x="12" y="312"/>
                </a:lnTo>
                <a:close/>
                <a:moveTo>
                  <a:pt x="12" y="336"/>
                </a:moveTo>
                <a:lnTo>
                  <a:pt x="12" y="348"/>
                </a:lnTo>
                <a:lnTo>
                  <a:pt x="0" y="348"/>
                </a:lnTo>
                <a:lnTo>
                  <a:pt x="0" y="336"/>
                </a:lnTo>
                <a:lnTo>
                  <a:pt x="12" y="336"/>
                </a:lnTo>
                <a:close/>
                <a:moveTo>
                  <a:pt x="12" y="360"/>
                </a:moveTo>
                <a:lnTo>
                  <a:pt x="12" y="372"/>
                </a:lnTo>
                <a:lnTo>
                  <a:pt x="0" y="372"/>
                </a:lnTo>
                <a:lnTo>
                  <a:pt x="0" y="360"/>
                </a:lnTo>
                <a:lnTo>
                  <a:pt x="12" y="360"/>
                </a:lnTo>
                <a:close/>
                <a:moveTo>
                  <a:pt x="12" y="384"/>
                </a:moveTo>
                <a:lnTo>
                  <a:pt x="12" y="396"/>
                </a:lnTo>
                <a:lnTo>
                  <a:pt x="0" y="396"/>
                </a:lnTo>
                <a:lnTo>
                  <a:pt x="0" y="384"/>
                </a:lnTo>
                <a:lnTo>
                  <a:pt x="12" y="384"/>
                </a:lnTo>
                <a:close/>
                <a:moveTo>
                  <a:pt x="12" y="408"/>
                </a:moveTo>
                <a:lnTo>
                  <a:pt x="12" y="420"/>
                </a:lnTo>
                <a:lnTo>
                  <a:pt x="0" y="420"/>
                </a:lnTo>
                <a:lnTo>
                  <a:pt x="0" y="408"/>
                </a:lnTo>
                <a:lnTo>
                  <a:pt x="12" y="408"/>
                </a:lnTo>
                <a:close/>
                <a:moveTo>
                  <a:pt x="12" y="432"/>
                </a:moveTo>
                <a:lnTo>
                  <a:pt x="12" y="444"/>
                </a:lnTo>
                <a:lnTo>
                  <a:pt x="0" y="444"/>
                </a:lnTo>
                <a:lnTo>
                  <a:pt x="0" y="432"/>
                </a:lnTo>
                <a:lnTo>
                  <a:pt x="12" y="432"/>
                </a:lnTo>
                <a:close/>
                <a:moveTo>
                  <a:pt x="12" y="456"/>
                </a:moveTo>
                <a:lnTo>
                  <a:pt x="12" y="468"/>
                </a:lnTo>
                <a:lnTo>
                  <a:pt x="0" y="468"/>
                </a:lnTo>
                <a:lnTo>
                  <a:pt x="0" y="456"/>
                </a:lnTo>
                <a:lnTo>
                  <a:pt x="12" y="456"/>
                </a:lnTo>
                <a:close/>
                <a:moveTo>
                  <a:pt x="12" y="480"/>
                </a:moveTo>
                <a:lnTo>
                  <a:pt x="12" y="492"/>
                </a:lnTo>
                <a:lnTo>
                  <a:pt x="0" y="492"/>
                </a:lnTo>
                <a:lnTo>
                  <a:pt x="0" y="480"/>
                </a:lnTo>
                <a:lnTo>
                  <a:pt x="12" y="480"/>
                </a:lnTo>
                <a:close/>
                <a:moveTo>
                  <a:pt x="12" y="504"/>
                </a:moveTo>
                <a:lnTo>
                  <a:pt x="12" y="516"/>
                </a:lnTo>
                <a:lnTo>
                  <a:pt x="0" y="516"/>
                </a:lnTo>
                <a:lnTo>
                  <a:pt x="0" y="504"/>
                </a:lnTo>
                <a:lnTo>
                  <a:pt x="12" y="504"/>
                </a:lnTo>
                <a:close/>
                <a:moveTo>
                  <a:pt x="12" y="528"/>
                </a:moveTo>
                <a:lnTo>
                  <a:pt x="12" y="540"/>
                </a:lnTo>
                <a:lnTo>
                  <a:pt x="0" y="540"/>
                </a:lnTo>
                <a:lnTo>
                  <a:pt x="0" y="528"/>
                </a:lnTo>
                <a:lnTo>
                  <a:pt x="12" y="528"/>
                </a:lnTo>
                <a:close/>
                <a:moveTo>
                  <a:pt x="12" y="552"/>
                </a:moveTo>
                <a:lnTo>
                  <a:pt x="12" y="564"/>
                </a:lnTo>
                <a:lnTo>
                  <a:pt x="0" y="564"/>
                </a:lnTo>
                <a:lnTo>
                  <a:pt x="0" y="552"/>
                </a:lnTo>
                <a:lnTo>
                  <a:pt x="12" y="552"/>
                </a:lnTo>
                <a:close/>
                <a:moveTo>
                  <a:pt x="12" y="576"/>
                </a:moveTo>
                <a:lnTo>
                  <a:pt x="12" y="588"/>
                </a:lnTo>
                <a:lnTo>
                  <a:pt x="0" y="588"/>
                </a:lnTo>
                <a:lnTo>
                  <a:pt x="0" y="576"/>
                </a:lnTo>
                <a:lnTo>
                  <a:pt x="12" y="576"/>
                </a:lnTo>
                <a:close/>
                <a:moveTo>
                  <a:pt x="12" y="600"/>
                </a:moveTo>
                <a:lnTo>
                  <a:pt x="12" y="611"/>
                </a:lnTo>
                <a:lnTo>
                  <a:pt x="0" y="611"/>
                </a:lnTo>
                <a:lnTo>
                  <a:pt x="0" y="600"/>
                </a:lnTo>
                <a:lnTo>
                  <a:pt x="12" y="600"/>
                </a:lnTo>
                <a:close/>
                <a:moveTo>
                  <a:pt x="12" y="624"/>
                </a:moveTo>
                <a:lnTo>
                  <a:pt x="12" y="636"/>
                </a:lnTo>
                <a:lnTo>
                  <a:pt x="0" y="636"/>
                </a:lnTo>
                <a:lnTo>
                  <a:pt x="0" y="624"/>
                </a:lnTo>
                <a:lnTo>
                  <a:pt x="12" y="624"/>
                </a:lnTo>
                <a:close/>
                <a:moveTo>
                  <a:pt x="12" y="647"/>
                </a:moveTo>
                <a:lnTo>
                  <a:pt x="12" y="659"/>
                </a:lnTo>
                <a:lnTo>
                  <a:pt x="0" y="659"/>
                </a:lnTo>
                <a:lnTo>
                  <a:pt x="0" y="647"/>
                </a:lnTo>
                <a:lnTo>
                  <a:pt x="12" y="647"/>
                </a:lnTo>
                <a:close/>
                <a:moveTo>
                  <a:pt x="12" y="672"/>
                </a:moveTo>
                <a:lnTo>
                  <a:pt x="12" y="683"/>
                </a:lnTo>
                <a:lnTo>
                  <a:pt x="0" y="683"/>
                </a:lnTo>
                <a:lnTo>
                  <a:pt x="0" y="672"/>
                </a:lnTo>
                <a:lnTo>
                  <a:pt x="12" y="672"/>
                </a:lnTo>
                <a:close/>
                <a:moveTo>
                  <a:pt x="12" y="695"/>
                </a:moveTo>
                <a:lnTo>
                  <a:pt x="12" y="708"/>
                </a:lnTo>
                <a:lnTo>
                  <a:pt x="0" y="708"/>
                </a:lnTo>
                <a:lnTo>
                  <a:pt x="0" y="695"/>
                </a:lnTo>
                <a:lnTo>
                  <a:pt x="12" y="695"/>
                </a:lnTo>
                <a:close/>
                <a:moveTo>
                  <a:pt x="12" y="719"/>
                </a:moveTo>
                <a:lnTo>
                  <a:pt x="12" y="731"/>
                </a:lnTo>
                <a:lnTo>
                  <a:pt x="0" y="731"/>
                </a:lnTo>
                <a:lnTo>
                  <a:pt x="0" y="719"/>
                </a:lnTo>
                <a:lnTo>
                  <a:pt x="12" y="719"/>
                </a:lnTo>
                <a:close/>
                <a:moveTo>
                  <a:pt x="12" y="743"/>
                </a:moveTo>
                <a:lnTo>
                  <a:pt x="12" y="755"/>
                </a:lnTo>
                <a:lnTo>
                  <a:pt x="0" y="755"/>
                </a:lnTo>
                <a:lnTo>
                  <a:pt x="0" y="743"/>
                </a:lnTo>
                <a:lnTo>
                  <a:pt x="12" y="743"/>
                </a:lnTo>
                <a:close/>
                <a:moveTo>
                  <a:pt x="12" y="767"/>
                </a:moveTo>
                <a:lnTo>
                  <a:pt x="12" y="779"/>
                </a:lnTo>
                <a:lnTo>
                  <a:pt x="0" y="779"/>
                </a:lnTo>
                <a:lnTo>
                  <a:pt x="0" y="767"/>
                </a:lnTo>
                <a:lnTo>
                  <a:pt x="12" y="767"/>
                </a:lnTo>
                <a:close/>
                <a:moveTo>
                  <a:pt x="12" y="791"/>
                </a:moveTo>
                <a:lnTo>
                  <a:pt x="12" y="803"/>
                </a:lnTo>
                <a:lnTo>
                  <a:pt x="0" y="803"/>
                </a:lnTo>
                <a:lnTo>
                  <a:pt x="0" y="791"/>
                </a:lnTo>
                <a:lnTo>
                  <a:pt x="12" y="791"/>
                </a:lnTo>
                <a:close/>
                <a:moveTo>
                  <a:pt x="12" y="815"/>
                </a:moveTo>
                <a:lnTo>
                  <a:pt x="12" y="827"/>
                </a:lnTo>
                <a:lnTo>
                  <a:pt x="0" y="827"/>
                </a:lnTo>
                <a:lnTo>
                  <a:pt x="0" y="815"/>
                </a:lnTo>
                <a:lnTo>
                  <a:pt x="12" y="815"/>
                </a:lnTo>
                <a:close/>
                <a:moveTo>
                  <a:pt x="12" y="839"/>
                </a:moveTo>
                <a:lnTo>
                  <a:pt x="12" y="851"/>
                </a:lnTo>
                <a:lnTo>
                  <a:pt x="0" y="851"/>
                </a:lnTo>
                <a:lnTo>
                  <a:pt x="0" y="839"/>
                </a:lnTo>
                <a:lnTo>
                  <a:pt x="12" y="839"/>
                </a:lnTo>
                <a:close/>
                <a:moveTo>
                  <a:pt x="12" y="863"/>
                </a:moveTo>
                <a:lnTo>
                  <a:pt x="12" y="875"/>
                </a:lnTo>
                <a:lnTo>
                  <a:pt x="0" y="875"/>
                </a:lnTo>
                <a:lnTo>
                  <a:pt x="0" y="863"/>
                </a:lnTo>
                <a:lnTo>
                  <a:pt x="12" y="863"/>
                </a:lnTo>
                <a:close/>
                <a:moveTo>
                  <a:pt x="12" y="887"/>
                </a:moveTo>
                <a:lnTo>
                  <a:pt x="12" y="899"/>
                </a:lnTo>
                <a:lnTo>
                  <a:pt x="0" y="899"/>
                </a:lnTo>
                <a:lnTo>
                  <a:pt x="0" y="887"/>
                </a:lnTo>
                <a:lnTo>
                  <a:pt x="12" y="887"/>
                </a:lnTo>
                <a:close/>
                <a:moveTo>
                  <a:pt x="12" y="911"/>
                </a:moveTo>
                <a:lnTo>
                  <a:pt x="12" y="923"/>
                </a:lnTo>
                <a:lnTo>
                  <a:pt x="0" y="923"/>
                </a:lnTo>
                <a:lnTo>
                  <a:pt x="0" y="911"/>
                </a:lnTo>
                <a:lnTo>
                  <a:pt x="12" y="911"/>
                </a:lnTo>
                <a:close/>
                <a:moveTo>
                  <a:pt x="12" y="935"/>
                </a:moveTo>
                <a:lnTo>
                  <a:pt x="12" y="947"/>
                </a:lnTo>
                <a:lnTo>
                  <a:pt x="0" y="947"/>
                </a:lnTo>
                <a:lnTo>
                  <a:pt x="0" y="935"/>
                </a:lnTo>
                <a:lnTo>
                  <a:pt x="12" y="935"/>
                </a:lnTo>
                <a:close/>
                <a:moveTo>
                  <a:pt x="12" y="959"/>
                </a:moveTo>
                <a:lnTo>
                  <a:pt x="12" y="971"/>
                </a:lnTo>
                <a:lnTo>
                  <a:pt x="0" y="971"/>
                </a:lnTo>
                <a:lnTo>
                  <a:pt x="0" y="959"/>
                </a:lnTo>
                <a:lnTo>
                  <a:pt x="12" y="959"/>
                </a:lnTo>
                <a:close/>
                <a:moveTo>
                  <a:pt x="12" y="983"/>
                </a:moveTo>
                <a:lnTo>
                  <a:pt x="12" y="995"/>
                </a:lnTo>
                <a:lnTo>
                  <a:pt x="0" y="995"/>
                </a:lnTo>
                <a:lnTo>
                  <a:pt x="0" y="983"/>
                </a:lnTo>
                <a:lnTo>
                  <a:pt x="12" y="983"/>
                </a:lnTo>
                <a:close/>
                <a:moveTo>
                  <a:pt x="12" y="1007"/>
                </a:moveTo>
                <a:lnTo>
                  <a:pt x="12" y="1019"/>
                </a:lnTo>
                <a:lnTo>
                  <a:pt x="0" y="1019"/>
                </a:lnTo>
                <a:lnTo>
                  <a:pt x="0" y="1007"/>
                </a:lnTo>
                <a:lnTo>
                  <a:pt x="12" y="1007"/>
                </a:lnTo>
                <a:close/>
                <a:moveTo>
                  <a:pt x="12" y="1031"/>
                </a:moveTo>
                <a:lnTo>
                  <a:pt x="12" y="1043"/>
                </a:lnTo>
                <a:lnTo>
                  <a:pt x="0" y="1043"/>
                </a:lnTo>
                <a:lnTo>
                  <a:pt x="0" y="1031"/>
                </a:lnTo>
                <a:lnTo>
                  <a:pt x="12" y="1031"/>
                </a:lnTo>
                <a:close/>
                <a:moveTo>
                  <a:pt x="12" y="1055"/>
                </a:moveTo>
                <a:lnTo>
                  <a:pt x="12" y="1067"/>
                </a:lnTo>
                <a:lnTo>
                  <a:pt x="0" y="1067"/>
                </a:lnTo>
                <a:lnTo>
                  <a:pt x="0" y="1055"/>
                </a:lnTo>
                <a:lnTo>
                  <a:pt x="12" y="1055"/>
                </a:lnTo>
                <a:close/>
                <a:moveTo>
                  <a:pt x="12" y="1079"/>
                </a:moveTo>
                <a:lnTo>
                  <a:pt x="12" y="1091"/>
                </a:lnTo>
                <a:lnTo>
                  <a:pt x="0" y="1091"/>
                </a:lnTo>
                <a:lnTo>
                  <a:pt x="0" y="1079"/>
                </a:lnTo>
                <a:lnTo>
                  <a:pt x="12" y="1079"/>
                </a:lnTo>
                <a:close/>
                <a:moveTo>
                  <a:pt x="12" y="1103"/>
                </a:moveTo>
                <a:lnTo>
                  <a:pt x="12" y="1115"/>
                </a:lnTo>
                <a:lnTo>
                  <a:pt x="0" y="1115"/>
                </a:lnTo>
                <a:lnTo>
                  <a:pt x="0" y="1103"/>
                </a:lnTo>
                <a:lnTo>
                  <a:pt x="12" y="1103"/>
                </a:lnTo>
                <a:close/>
                <a:moveTo>
                  <a:pt x="12" y="1127"/>
                </a:moveTo>
                <a:lnTo>
                  <a:pt x="12" y="1139"/>
                </a:lnTo>
                <a:lnTo>
                  <a:pt x="0" y="1139"/>
                </a:lnTo>
                <a:lnTo>
                  <a:pt x="0" y="1127"/>
                </a:lnTo>
                <a:lnTo>
                  <a:pt x="12" y="1127"/>
                </a:lnTo>
                <a:close/>
                <a:moveTo>
                  <a:pt x="12" y="1151"/>
                </a:moveTo>
                <a:lnTo>
                  <a:pt x="12" y="1163"/>
                </a:lnTo>
                <a:lnTo>
                  <a:pt x="0" y="1163"/>
                </a:lnTo>
                <a:lnTo>
                  <a:pt x="0" y="1151"/>
                </a:lnTo>
                <a:lnTo>
                  <a:pt x="12" y="1151"/>
                </a:lnTo>
                <a:close/>
                <a:moveTo>
                  <a:pt x="12" y="1175"/>
                </a:moveTo>
                <a:lnTo>
                  <a:pt x="12" y="1187"/>
                </a:lnTo>
                <a:lnTo>
                  <a:pt x="0" y="1187"/>
                </a:lnTo>
                <a:lnTo>
                  <a:pt x="0" y="1175"/>
                </a:lnTo>
                <a:lnTo>
                  <a:pt x="12" y="1175"/>
                </a:lnTo>
                <a:close/>
                <a:moveTo>
                  <a:pt x="12" y="1199"/>
                </a:moveTo>
                <a:lnTo>
                  <a:pt x="12" y="1211"/>
                </a:lnTo>
                <a:lnTo>
                  <a:pt x="0" y="1211"/>
                </a:lnTo>
                <a:lnTo>
                  <a:pt x="0" y="1199"/>
                </a:lnTo>
                <a:lnTo>
                  <a:pt x="12" y="1199"/>
                </a:lnTo>
                <a:close/>
                <a:moveTo>
                  <a:pt x="12" y="1223"/>
                </a:moveTo>
                <a:lnTo>
                  <a:pt x="12" y="1235"/>
                </a:lnTo>
                <a:lnTo>
                  <a:pt x="0" y="1235"/>
                </a:lnTo>
                <a:lnTo>
                  <a:pt x="0" y="1223"/>
                </a:lnTo>
                <a:lnTo>
                  <a:pt x="12" y="1223"/>
                </a:lnTo>
                <a:close/>
                <a:moveTo>
                  <a:pt x="12" y="1247"/>
                </a:moveTo>
                <a:lnTo>
                  <a:pt x="12" y="1259"/>
                </a:lnTo>
                <a:lnTo>
                  <a:pt x="0" y="1259"/>
                </a:lnTo>
                <a:lnTo>
                  <a:pt x="0" y="1247"/>
                </a:lnTo>
                <a:lnTo>
                  <a:pt x="12" y="1247"/>
                </a:lnTo>
                <a:close/>
                <a:moveTo>
                  <a:pt x="12" y="1271"/>
                </a:moveTo>
                <a:lnTo>
                  <a:pt x="12" y="1283"/>
                </a:lnTo>
                <a:lnTo>
                  <a:pt x="0" y="1283"/>
                </a:lnTo>
                <a:lnTo>
                  <a:pt x="0" y="1271"/>
                </a:lnTo>
                <a:lnTo>
                  <a:pt x="12" y="1271"/>
                </a:lnTo>
                <a:close/>
                <a:moveTo>
                  <a:pt x="12" y="1294"/>
                </a:moveTo>
                <a:lnTo>
                  <a:pt x="12" y="1307"/>
                </a:lnTo>
                <a:lnTo>
                  <a:pt x="0" y="1307"/>
                </a:lnTo>
                <a:lnTo>
                  <a:pt x="0" y="1294"/>
                </a:lnTo>
                <a:lnTo>
                  <a:pt x="12" y="1294"/>
                </a:lnTo>
                <a:close/>
                <a:moveTo>
                  <a:pt x="12" y="1319"/>
                </a:moveTo>
                <a:lnTo>
                  <a:pt x="12" y="1330"/>
                </a:lnTo>
                <a:lnTo>
                  <a:pt x="0" y="1330"/>
                </a:lnTo>
                <a:lnTo>
                  <a:pt x="0" y="1319"/>
                </a:lnTo>
                <a:lnTo>
                  <a:pt x="12" y="1319"/>
                </a:lnTo>
                <a:close/>
                <a:moveTo>
                  <a:pt x="12" y="1342"/>
                </a:moveTo>
                <a:lnTo>
                  <a:pt x="12" y="1355"/>
                </a:lnTo>
                <a:lnTo>
                  <a:pt x="0" y="1355"/>
                </a:lnTo>
                <a:lnTo>
                  <a:pt x="0" y="1342"/>
                </a:lnTo>
                <a:lnTo>
                  <a:pt x="12" y="1342"/>
                </a:lnTo>
                <a:close/>
                <a:moveTo>
                  <a:pt x="12" y="1366"/>
                </a:moveTo>
                <a:lnTo>
                  <a:pt x="12" y="1378"/>
                </a:lnTo>
                <a:lnTo>
                  <a:pt x="0" y="1378"/>
                </a:lnTo>
                <a:lnTo>
                  <a:pt x="0" y="1366"/>
                </a:lnTo>
                <a:lnTo>
                  <a:pt x="12" y="1366"/>
                </a:lnTo>
                <a:close/>
                <a:moveTo>
                  <a:pt x="12" y="1390"/>
                </a:moveTo>
                <a:lnTo>
                  <a:pt x="12" y="1402"/>
                </a:lnTo>
                <a:lnTo>
                  <a:pt x="0" y="1402"/>
                </a:lnTo>
                <a:lnTo>
                  <a:pt x="0" y="1390"/>
                </a:lnTo>
                <a:lnTo>
                  <a:pt x="12" y="1390"/>
                </a:lnTo>
                <a:close/>
                <a:moveTo>
                  <a:pt x="12" y="1414"/>
                </a:moveTo>
                <a:lnTo>
                  <a:pt x="12" y="1426"/>
                </a:lnTo>
                <a:lnTo>
                  <a:pt x="0" y="1426"/>
                </a:lnTo>
                <a:lnTo>
                  <a:pt x="0" y="1414"/>
                </a:lnTo>
                <a:lnTo>
                  <a:pt x="12" y="1414"/>
                </a:lnTo>
                <a:close/>
                <a:moveTo>
                  <a:pt x="12" y="1438"/>
                </a:moveTo>
                <a:lnTo>
                  <a:pt x="12" y="1450"/>
                </a:lnTo>
                <a:lnTo>
                  <a:pt x="0" y="1450"/>
                </a:lnTo>
                <a:lnTo>
                  <a:pt x="0" y="1438"/>
                </a:lnTo>
                <a:lnTo>
                  <a:pt x="12" y="1438"/>
                </a:lnTo>
                <a:close/>
                <a:moveTo>
                  <a:pt x="12" y="1462"/>
                </a:moveTo>
                <a:lnTo>
                  <a:pt x="12" y="1474"/>
                </a:lnTo>
                <a:lnTo>
                  <a:pt x="0" y="1474"/>
                </a:lnTo>
                <a:lnTo>
                  <a:pt x="0" y="1462"/>
                </a:lnTo>
                <a:lnTo>
                  <a:pt x="12" y="1462"/>
                </a:lnTo>
                <a:close/>
                <a:moveTo>
                  <a:pt x="12" y="1486"/>
                </a:moveTo>
                <a:lnTo>
                  <a:pt x="12" y="1498"/>
                </a:lnTo>
                <a:lnTo>
                  <a:pt x="0" y="1498"/>
                </a:lnTo>
                <a:lnTo>
                  <a:pt x="0" y="1486"/>
                </a:lnTo>
                <a:lnTo>
                  <a:pt x="12" y="1486"/>
                </a:lnTo>
                <a:close/>
                <a:moveTo>
                  <a:pt x="12" y="1510"/>
                </a:moveTo>
                <a:lnTo>
                  <a:pt x="12" y="1522"/>
                </a:lnTo>
                <a:lnTo>
                  <a:pt x="0" y="1522"/>
                </a:lnTo>
                <a:lnTo>
                  <a:pt x="0" y="1510"/>
                </a:lnTo>
                <a:lnTo>
                  <a:pt x="12" y="1510"/>
                </a:lnTo>
                <a:close/>
                <a:moveTo>
                  <a:pt x="12" y="1534"/>
                </a:moveTo>
                <a:lnTo>
                  <a:pt x="12" y="1546"/>
                </a:lnTo>
                <a:lnTo>
                  <a:pt x="0" y="1546"/>
                </a:lnTo>
                <a:lnTo>
                  <a:pt x="0" y="1534"/>
                </a:lnTo>
                <a:lnTo>
                  <a:pt x="12" y="1534"/>
                </a:lnTo>
                <a:close/>
                <a:moveTo>
                  <a:pt x="12" y="1558"/>
                </a:moveTo>
                <a:lnTo>
                  <a:pt x="12" y="1570"/>
                </a:lnTo>
                <a:lnTo>
                  <a:pt x="0" y="1570"/>
                </a:lnTo>
                <a:lnTo>
                  <a:pt x="0" y="1558"/>
                </a:lnTo>
                <a:lnTo>
                  <a:pt x="12" y="1558"/>
                </a:lnTo>
                <a:close/>
                <a:moveTo>
                  <a:pt x="12" y="1582"/>
                </a:moveTo>
                <a:lnTo>
                  <a:pt x="12" y="1594"/>
                </a:lnTo>
                <a:lnTo>
                  <a:pt x="0" y="1594"/>
                </a:lnTo>
                <a:lnTo>
                  <a:pt x="0" y="1582"/>
                </a:lnTo>
                <a:lnTo>
                  <a:pt x="12" y="1582"/>
                </a:lnTo>
                <a:close/>
                <a:moveTo>
                  <a:pt x="12" y="1606"/>
                </a:moveTo>
                <a:lnTo>
                  <a:pt x="12" y="1618"/>
                </a:lnTo>
                <a:lnTo>
                  <a:pt x="0" y="1618"/>
                </a:lnTo>
                <a:lnTo>
                  <a:pt x="0" y="1606"/>
                </a:lnTo>
                <a:lnTo>
                  <a:pt x="12" y="1606"/>
                </a:lnTo>
                <a:close/>
                <a:moveTo>
                  <a:pt x="12" y="1630"/>
                </a:moveTo>
                <a:lnTo>
                  <a:pt x="12" y="1642"/>
                </a:lnTo>
                <a:lnTo>
                  <a:pt x="0" y="1642"/>
                </a:lnTo>
                <a:lnTo>
                  <a:pt x="0" y="1630"/>
                </a:lnTo>
                <a:lnTo>
                  <a:pt x="12" y="1630"/>
                </a:lnTo>
                <a:close/>
                <a:moveTo>
                  <a:pt x="12" y="1654"/>
                </a:moveTo>
                <a:lnTo>
                  <a:pt x="12" y="1666"/>
                </a:lnTo>
                <a:lnTo>
                  <a:pt x="0" y="1666"/>
                </a:lnTo>
                <a:lnTo>
                  <a:pt x="0" y="1654"/>
                </a:lnTo>
                <a:lnTo>
                  <a:pt x="12" y="1654"/>
                </a:lnTo>
                <a:close/>
                <a:moveTo>
                  <a:pt x="12" y="1678"/>
                </a:moveTo>
                <a:lnTo>
                  <a:pt x="12" y="1690"/>
                </a:lnTo>
                <a:lnTo>
                  <a:pt x="0" y="1690"/>
                </a:lnTo>
                <a:lnTo>
                  <a:pt x="0" y="1678"/>
                </a:lnTo>
                <a:lnTo>
                  <a:pt x="12" y="1678"/>
                </a:lnTo>
                <a:close/>
                <a:moveTo>
                  <a:pt x="12" y="1702"/>
                </a:moveTo>
                <a:lnTo>
                  <a:pt x="12" y="1714"/>
                </a:lnTo>
                <a:lnTo>
                  <a:pt x="0" y="1714"/>
                </a:lnTo>
                <a:lnTo>
                  <a:pt x="0" y="1702"/>
                </a:lnTo>
                <a:lnTo>
                  <a:pt x="12" y="1702"/>
                </a:lnTo>
                <a:close/>
                <a:moveTo>
                  <a:pt x="12" y="1726"/>
                </a:moveTo>
                <a:lnTo>
                  <a:pt x="12" y="1738"/>
                </a:lnTo>
                <a:lnTo>
                  <a:pt x="0" y="1738"/>
                </a:lnTo>
                <a:lnTo>
                  <a:pt x="0" y="1726"/>
                </a:lnTo>
                <a:lnTo>
                  <a:pt x="12" y="1726"/>
                </a:lnTo>
                <a:close/>
                <a:moveTo>
                  <a:pt x="12" y="1750"/>
                </a:moveTo>
                <a:lnTo>
                  <a:pt x="12" y="1762"/>
                </a:lnTo>
                <a:lnTo>
                  <a:pt x="0" y="1762"/>
                </a:lnTo>
                <a:lnTo>
                  <a:pt x="0" y="1750"/>
                </a:lnTo>
                <a:lnTo>
                  <a:pt x="12" y="1750"/>
                </a:lnTo>
                <a:close/>
                <a:moveTo>
                  <a:pt x="12" y="1774"/>
                </a:moveTo>
                <a:lnTo>
                  <a:pt x="12" y="1786"/>
                </a:lnTo>
                <a:lnTo>
                  <a:pt x="0" y="1786"/>
                </a:lnTo>
                <a:lnTo>
                  <a:pt x="0" y="1774"/>
                </a:lnTo>
                <a:lnTo>
                  <a:pt x="12" y="1774"/>
                </a:lnTo>
                <a:close/>
                <a:moveTo>
                  <a:pt x="12" y="1798"/>
                </a:moveTo>
                <a:lnTo>
                  <a:pt x="12" y="1810"/>
                </a:lnTo>
                <a:lnTo>
                  <a:pt x="0" y="1810"/>
                </a:lnTo>
                <a:lnTo>
                  <a:pt x="0" y="1798"/>
                </a:lnTo>
                <a:lnTo>
                  <a:pt x="12" y="1798"/>
                </a:lnTo>
                <a:close/>
                <a:moveTo>
                  <a:pt x="12" y="1822"/>
                </a:moveTo>
                <a:lnTo>
                  <a:pt x="12" y="1834"/>
                </a:lnTo>
                <a:lnTo>
                  <a:pt x="0" y="1834"/>
                </a:lnTo>
                <a:lnTo>
                  <a:pt x="0" y="1822"/>
                </a:lnTo>
                <a:lnTo>
                  <a:pt x="12" y="1822"/>
                </a:lnTo>
                <a:close/>
                <a:moveTo>
                  <a:pt x="12" y="1846"/>
                </a:moveTo>
                <a:lnTo>
                  <a:pt x="12" y="1858"/>
                </a:lnTo>
                <a:lnTo>
                  <a:pt x="0" y="1858"/>
                </a:lnTo>
                <a:lnTo>
                  <a:pt x="0" y="1846"/>
                </a:lnTo>
                <a:lnTo>
                  <a:pt x="12" y="1846"/>
                </a:lnTo>
                <a:close/>
                <a:moveTo>
                  <a:pt x="12" y="1870"/>
                </a:moveTo>
                <a:lnTo>
                  <a:pt x="12" y="1882"/>
                </a:lnTo>
                <a:lnTo>
                  <a:pt x="0" y="1882"/>
                </a:lnTo>
                <a:lnTo>
                  <a:pt x="0" y="1870"/>
                </a:lnTo>
                <a:lnTo>
                  <a:pt x="12" y="1870"/>
                </a:lnTo>
                <a:close/>
                <a:moveTo>
                  <a:pt x="12" y="1894"/>
                </a:moveTo>
                <a:lnTo>
                  <a:pt x="12" y="1906"/>
                </a:lnTo>
                <a:lnTo>
                  <a:pt x="0" y="1906"/>
                </a:lnTo>
                <a:lnTo>
                  <a:pt x="0" y="1894"/>
                </a:lnTo>
                <a:lnTo>
                  <a:pt x="12" y="1894"/>
                </a:lnTo>
                <a:close/>
                <a:moveTo>
                  <a:pt x="12" y="1918"/>
                </a:moveTo>
                <a:lnTo>
                  <a:pt x="12" y="1930"/>
                </a:lnTo>
                <a:lnTo>
                  <a:pt x="0" y="1930"/>
                </a:lnTo>
                <a:lnTo>
                  <a:pt x="0" y="1918"/>
                </a:lnTo>
                <a:lnTo>
                  <a:pt x="12" y="1918"/>
                </a:lnTo>
                <a:close/>
                <a:moveTo>
                  <a:pt x="12" y="1941"/>
                </a:moveTo>
                <a:lnTo>
                  <a:pt x="12" y="1954"/>
                </a:lnTo>
                <a:lnTo>
                  <a:pt x="0" y="1954"/>
                </a:lnTo>
                <a:lnTo>
                  <a:pt x="0" y="1941"/>
                </a:lnTo>
                <a:lnTo>
                  <a:pt x="12" y="1941"/>
                </a:lnTo>
                <a:close/>
                <a:moveTo>
                  <a:pt x="12" y="1966"/>
                </a:moveTo>
                <a:lnTo>
                  <a:pt x="12" y="1977"/>
                </a:lnTo>
                <a:lnTo>
                  <a:pt x="0" y="1977"/>
                </a:lnTo>
                <a:lnTo>
                  <a:pt x="0" y="1966"/>
                </a:lnTo>
                <a:lnTo>
                  <a:pt x="12" y="1966"/>
                </a:lnTo>
                <a:close/>
                <a:moveTo>
                  <a:pt x="12" y="1989"/>
                </a:moveTo>
                <a:lnTo>
                  <a:pt x="12" y="2002"/>
                </a:lnTo>
                <a:lnTo>
                  <a:pt x="0" y="2002"/>
                </a:lnTo>
                <a:lnTo>
                  <a:pt x="0" y="1989"/>
                </a:lnTo>
                <a:lnTo>
                  <a:pt x="12" y="1989"/>
                </a:lnTo>
                <a:close/>
                <a:moveTo>
                  <a:pt x="12" y="2013"/>
                </a:moveTo>
                <a:lnTo>
                  <a:pt x="12" y="2025"/>
                </a:lnTo>
                <a:lnTo>
                  <a:pt x="0" y="2025"/>
                </a:lnTo>
                <a:lnTo>
                  <a:pt x="0" y="2013"/>
                </a:lnTo>
                <a:lnTo>
                  <a:pt x="12" y="2013"/>
                </a:lnTo>
                <a:close/>
                <a:moveTo>
                  <a:pt x="12" y="2038"/>
                </a:moveTo>
                <a:lnTo>
                  <a:pt x="12" y="2049"/>
                </a:lnTo>
                <a:lnTo>
                  <a:pt x="0" y="2049"/>
                </a:lnTo>
                <a:lnTo>
                  <a:pt x="0" y="2038"/>
                </a:lnTo>
                <a:lnTo>
                  <a:pt x="12" y="2038"/>
                </a:lnTo>
                <a:close/>
                <a:moveTo>
                  <a:pt x="12" y="2061"/>
                </a:moveTo>
                <a:lnTo>
                  <a:pt x="12" y="2073"/>
                </a:lnTo>
                <a:lnTo>
                  <a:pt x="0" y="2073"/>
                </a:lnTo>
                <a:lnTo>
                  <a:pt x="0" y="2061"/>
                </a:lnTo>
                <a:lnTo>
                  <a:pt x="12" y="2061"/>
                </a:lnTo>
                <a:close/>
                <a:moveTo>
                  <a:pt x="12" y="2085"/>
                </a:moveTo>
                <a:lnTo>
                  <a:pt x="12" y="2097"/>
                </a:lnTo>
                <a:lnTo>
                  <a:pt x="0" y="2097"/>
                </a:lnTo>
                <a:lnTo>
                  <a:pt x="0" y="2085"/>
                </a:lnTo>
                <a:lnTo>
                  <a:pt x="12" y="2085"/>
                </a:lnTo>
                <a:close/>
                <a:moveTo>
                  <a:pt x="12" y="2109"/>
                </a:moveTo>
                <a:lnTo>
                  <a:pt x="12" y="2121"/>
                </a:lnTo>
                <a:lnTo>
                  <a:pt x="0" y="2121"/>
                </a:lnTo>
                <a:lnTo>
                  <a:pt x="0" y="2109"/>
                </a:lnTo>
                <a:lnTo>
                  <a:pt x="12" y="2109"/>
                </a:lnTo>
                <a:close/>
                <a:moveTo>
                  <a:pt x="12" y="2133"/>
                </a:moveTo>
                <a:lnTo>
                  <a:pt x="12" y="2145"/>
                </a:lnTo>
                <a:lnTo>
                  <a:pt x="0" y="2145"/>
                </a:lnTo>
                <a:lnTo>
                  <a:pt x="0" y="2133"/>
                </a:lnTo>
                <a:lnTo>
                  <a:pt x="12" y="2133"/>
                </a:lnTo>
                <a:close/>
                <a:moveTo>
                  <a:pt x="12" y="2157"/>
                </a:moveTo>
                <a:lnTo>
                  <a:pt x="12" y="2169"/>
                </a:lnTo>
                <a:lnTo>
                  <a:pt x="0" y="2169"/>
                </a:lnTo>
                <a:lnTo>
                  <a:pt x="0" y="2157"/>
                </a:lnTo>
                <a:lnTo>
                  <a:pt x="12" y="2157"/>
                </a:lnTo>
                <a:close/>
                <a:moveTo>
                  <a:pt x="12" y="2181"/>
                </a:moveTo>
                <a:lnTo>
                  <a:pt x="12" y="2193"/>
                </a:lnTo>
                <a:lnTo>
                  <a:pt x="0" y="2193"/>
                </a:lnTo>
                <a:lnTo>
                  <a:pt x="0" y="2181"/>
                </a:lnTo>
                <a:lnTo>
                  <a:pt x="12" y="2181"/>
                </a:lnTo>
                <a:close/>
                <a:moveTo>
                  <a:pt x="12" y="2205"/>
                </a:moveTo>
                <a:lnTo>
                  <a:pt x="12" y="2217"/>
                </a:lnTo>
                <a:lnTo>
                  <a:pt x="0" y="2217"/>
                </a:lnTo>
                <a:lnTo>
                  <a:pt x="0" y="2205"/>
                </a:lnTo>
                <a:lnTo>
                  <a:pt x="12" y="2205"/>
                </a:lnTo>
                <a:close/>
                <a:moveTo>
                  <a:pt x="12" y="2229"/>
                </a:moveTo>
                <a:lnTo>
                  <a:pt x="12" y="2241"/>
                </a:lnTo>
                <a:lnTo>
                  <a:pt x="0" y="2241"/>
                </a:lnTo>
                <a:lnTo>
                  <a:pt x="0" y="2229"/>
                </a:lnTo>
                <a:lnTo>
                  <a:pt x="12" y="2229"/>
                </a:lnTo>
                <a:close/>
                <a:moveTo>
                  <a:pt x="12" y="2253"/>
                </a:moveTo>
                <a:lnTo>
                  <a:pt x="12" y="2265"/>
                </a:lnTo>
                <a:lnTo>
                  <a:pt x="0" y="2265"/>
                </a:lnTo>
                <a:lnTo>
                  <a:pt x="0" y="2253"/>
                </a:lnTo>
                <a:lnTo>
                  <a:pt x="12" y="2253"/>
                </a:lnTo>
                <a:close/>
                <a:moveTo>
                  <a:pt x="12" y="2277"/>
                </a:moveTo>
                <a:lnTo>
                  <a:pt x="12" y="2289"/>
                </a:lnTo>
                <a:lnTo>
                  <a:pt x="0" y="2289"/>
                </a:lnTo>
                <a:lnTo>
                  <a:pt x="0" y="2277"/>
                </a:lnTo>
                <a:lnTo>
                  <a:pt x="12" y="2277"/>
                </a:lnTo>
                <a:close/>
                <a:moveTo>
                  <a:pt x="12" y="2301"/>
                </a:moveTo>
                <a:lnTo>
                  <a:pt x="12" y="2313"/>
                </a:lnTo>
                <a:lnTo>
                  <a:pt x="0" y="2313"/>
                </a:lnTo>
                <a:lnTo>
                  <a:pt x="0" y="2301"/>
                </a:lnTo>
                <a:lnTo>
                  <a:pt x="12" y="2301"/>
                </a:lnTo>
                <a:close/>
                <a:moveTo>
                  <a:pt x="12" y="2325"/>
                </a:moveTo>
                <a:lnTo>
                  <a:pt x="12" y="2337"/>
                </a:lnTo>
                <a:lnTo>
                  <a:pt x="0" y="2337"/>
                </a:lnTo>
                <a:lnTo>
                  <a:pt x="0" y="2325"/>
                </a:lnTo>
                <a:lnTo>
                  <a:pt x="12" y="2325"/>
                </a:lnTo>
                <a:close/>
                <a:moveTo>
                  <a:pt x="12" y="2349"/>
                </a:moveTo>
                <a:lnTo>
                  <a:pt x="12" y="2361"/>
                </a:lnTo>
                <a:lnTo>
                  <a:pt x="0" y="2361"/>
                </a:lnTo>
                <a:lnTo>
                  <a:pt x="0" y="2349"/>
                </a:lnTo>
                <a:lnTo>
                  <a:pt x="12" y="2349"/>
                </a:lnTo>
                <a:close/>
                <a:moveTo>
                  <a:pt x="12" y="2373"/>
                </a:moveTo>
                <a:lnTo>
                  <a:pt x="12" y="2385"/>
                </a:lnTo>
                <a:lnTo>
                  <a:pt x="0" y="2385"/>
                </a:lnTo>
                <a:lnTo>
                  <a:pt x="0" y="2373"/>
                </a:lnTo>
                <a:lnTo>
                  <a:pt x="12" y="2373"/>
                </a:lnTo>
                <a:close/>
                <a:moveTo>
                  <a:pt x="12" y="2397"/>
                </a:moveTo>
                <a:lnTo>
                  <a:pt x="12" y="2409"/>
                </a:lnTo>
                <a:lnTo>
                  <a:pt x="0" y="2409"/>
                </a:lnTo>
                <a:lnTo>
                  <a:pt x="0" y="2397"/>
                </a:lnTo>
                <a:lnTo>
                  <a:pt x="12" y="2397"/>
                </a:lnTo>
                <a:close/>
                <a:moveTo>
                  <a:pt x="12" y="2421"/>
                </a:moveTo>
                <a:lnTo>
                  <a:pt x="12" y="2433"/>
                </a:lnTo>
                <a:lnTo>
                  <a:pt x="0" y="2433"/>
                </a:lnTo>
                <a:lnTo>
                  <a:pt x="0" y="2421"/>
                </a:lnTo>
                <a:lnTo>
                  <a:pt x="12" y="2421"/>
                </a:lnTo>
                <a:close/>
                <a:moveTo>
                  <a:pt x="12" y="2445"/>
                </a:moveTo>
                <a:lnTo>
                  <a:pt x="12" y="2457"/>
                </a:lnTo>
                <a:lnTo>
                  <a:pt x="0" y="2457"/>
                </a:lnTo>
                <a:lnTo>
                  <a:pt x="0" y="2445"/>
                </a:lnTo>
                <a:lnTo>
                  <a:pt x="12" y="2445"/>
                </a:lnTo>
                <a:close/>
                <a:moveTo>
                  <a:pt x="12" y="2469"/>
                </a:moveTo>
                <a:lnTo>
                  <a:pt x="12" y="2481"/>
                </a:lnTo>
                <a:lnTo>
                  <a:pt x="0" y="2481"/>
                </a:lnTo>
                <a:lnTo>
                  <a:pt x="0" y="2469"/>
                </a:lnTo>
                <a:lnTo>
                  <a:pt x="12" y="2469"/>
                </a:lnTo>
                <a:close/>
                <a:moveTo>
                  <a:pt x="12" y="2493"/>
                </a:moveTo>
                <a:lnTo>
                  <a:pt x="12" y="2505"/>
                </a:lnTo>
                <a:lnTo>
                  <a:pt x="0" y="2505"/>
                </a:lnTo>
                <a:lnTo>
                  <a:pt x="0" y="2493"/>
                </a:lnTo>
                <a:lnTo>
                  <a:pt x="12" y="2493"/>
                </a:lnTo>
                <a:close/>
                <a:moveTo>
                  <a:pt x="12" y="2517"/>
                </a:moveTo>
                <a:lnTo>
                  <a:pt x="12" y="2529"/>
                </a:lnTo>
                <a:lnTo>
                  <a:pt x="0" y="2529"/>
                </a:lnTo>
                <a:lnTo>
                  <a:pt x="0" y="2517"/>
                </a:lnTo>
                <a:lnTo>
                  <a:pt x="12" y="2517"/>
                </a:lnTo>
                <a:close/>
                <a:moveTo>
                  <a:pt x="12" y="2541"/>
                </a:moveTo>
                <a:lnTo>
                  <a:pt x="12" y="2553"/>
                </a:lnTo>
                <a:lnTo>
                  <a:pt x="0" y="2553"/>
                </a:lnTo>
                <a:lnTo>
                  <a:pt x="0" y="2541"/>
                </a:lnTo>
                <a:lnTo>
                  <a:pt x="12" y="2541"/>
                </a:lnTo>
                <a:close/>
              </a:path>
            </a:pathLst>
          </a:custGeom>
          <a:solidFill>
            <a:srgbClr val="000000"/>
          </a:solidFill>
          <a:ln w="0" cap="flat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144" name="Freeform 141">
            <a:extLst>
              <a:ext uri="{FF2B5EF4-FFF2-40B4-BE49-F238E27FC236}">
                <a16:creationId xmlns:a16="http://schemas.microsoft.com/office/drawing/2014/main" id="{DF5EB061-FD8D-41BD-948A-122150820907}"/>
              </a:ext>
            </a:extLst>
          </p:cNvPr>
          <p:cNvSpPr>
            <a:spLocks noEditPoints="1"/>
          </p:cNvSpPr>
          <p:nvPr/>
        </p:nvSpPr>
        <p:spPr bwMode="auto">
          <a:xfrm>
            <a:off x="3702050" y="2289175"/>
            <a:ext cx="18000" cy="4032000"/>
          </a:xfrm>
          <a:custGeom>
            <a:avLst/>
            <a:gdLst>
              <a:gd name="T0" fmla="*/ 0 w 12"/>
              <a:gd name="T1" fmla="*/ 25 h 2553"/>
              <a:gd name="T2" fmla="*/ 0 w 12"/>
              <a:gd name="T3" fmla="*/ 84 h 2553"/>
              <a:gd name="T4" fmla="*/ 12 w 12"/>
              <a:gd name="T5" fmla="*/ 132 h 2553"/>
              <a:gd name="T6" fmla="*/ 12 w 12"/>
              <a:gd name="T7" fmla="*/ 168 h 2553"/>
              <a:gd name="T8" fmla="*/ 12 w 12"/>
              <a:gd name="T9" fmla="*/ 192 h 2553"/>
              <a:gd name="T10" fmla="*/ 0 w 12"/>
              <a:gd name="T11" fmla="*/ 240 h 2553"/>
              <a:gd name="T12" fmla="*/ 0 w 12"/>
              <a:gd name="T13" fmla="*/ 300 h 2553"/>
              <a:gd name="T14" fmla="*/ 12 w 12"/>
              <a:gd name="T15" fmla="*/ 348 h 2553"/>
              <a:gd name="T16" fmla="*/ 12 w 12"/>
              <a:gd name="T17" fmla="*/ 384 h 2553"/>
              <a:gd name="T18" fmla="*/ 12 w 12"/>
              <a:gd name="T19" fmla="*/ 408 h 2553"/>
              <a:gd name="T20" fmla="*/ 0 w 12"/>
              <a:gd name="T21" fmla="*/ 456 h 2553"/>
              <a:gd name="T22" fmla="*/ 0 w 12"/>
              <a:gd name="T23" fmla="*/ 516 h 2553"/>
              <a:gd name="T24" fmla="*/ 12 w 12"/>
              <a:gd name="T25" fmla="*/ 564 h 2553"/>
              <a:gd name="T26" fmla="*/ 12 w 12"/>
              <a:gd name="T27" fmla="*/ 600 h 2553"/>
              <a:gd name="T28" fmla="*/ 12 w 12"/>
              <a:gd name="T29" fmla="*/ 624 h 2553"/>
              <a:gd name="T30" fmla="*/ 0 w 12"/>
              <a:gd name="T31" fmla="*/ 672 h 2553"/>
              <a:gd name="T32" fmla="*/ 0 w 12"/>
              <a:gd name="T33" fmla="*/ 731 h 2553"/>
              <a:gd name="T34" fmla="*/ 12 w 12"/>
              <a:gd name="T35" fmla="*/ 779 h 2553"/>
              <a:gd name="T36" fmla="*/ 12 w 12"/>
              <a:gd name="T37" fmla="*/ 815 h 2553"/>
              <a:gd name="T38" fmla="*/ 12 w 12"/>
              <a:gd name="T39" fmla="*/ 839 h 2553"/>
              <a:gd name="T40" fmla="*/ 0 w 12"/>
              <a:gd name="T41" fmla="*/ 887 h 2553"/>
              <a:gd name="T42" fmla="*/ 0 w 12"/>
              <a:gd name="T43" fmla="*/ 947 h 2553"/>
              <a:gd name="T44" fmla="*/ 12 w 12"/>
              <a:gd name="T45" fmla="*/ 995 h 2553"/>
              <a:gd name="T46" fmla="*/ 12 w 12"/>
              <a:gd name="T47" fmla="*/ 1031 h 2553"/>
              <a:gd name="T48" fmla="*/ 12 w 12"/>
              <a:gd name="T49" fmla="*/ 1055 h 2553"/>
              <a:gd name="T50" fmla="*/ 0 w 12"/>
              <a:gd name="T51" fmla="*/ 1103 h 2553"/>
              <a:gd name="T52" fmla="*/ 0 w 12"/>
              <a:gd name="T53" fmla="*/ 1163 h 2553"/>
              <a:gd name="T54" fmla="*/ 12 w 12"/>
              <a:gd name="T55" fmla="*/ 1211 h 2553"/>
              <a:gd name="T56" fmla="*/ 12 w 12"/>
              <a:gd name="T57" fmla="*/ 1247 h 2553"/>
              <a:gd name="T58" fmla="*/ 12 w 12"/>
              <a:gd name="T59" fmla="*/ 1271 h 2553"/>
              <a:gd name="T60" fmla="*/ 0 w 12"/>
              <a:gd name="T61" fmla="*/ 1319 h 2553"/>
              <a:gd name="T62" fmla="*/ 0 w 12"/>
              <a:gd name="T63" fmla="*/ 1378 h 2553"/>
              <a:gd name="T64" fmla="*/ 12 w 12"/>
              <a:gd name="T65" fmla="*/ 1426 h 2553"/>
              <a:gd name="T66" fmla="*/ 12 w 12"/>
              <a:gd name="T67" fmla="*/ 1462 h 2553"/>
              <a:gd name="T68" fmla="*/ 12 w 12"/>
              <a:gd name="T69" fmla="*/ 1486 h 2553"/>
              <a:gd name="T70" fmla="*/ 0 w 12"/>
              <a:gd name="T71" fmla="*/ 1534 h 2553"/>
              <a:gd name="T72" fmla="*/ 0 w 12"/>
              <a:gd name="T73" fmla="*/ 1594 h 2553"/>
              <a:gd name="T74" fmla="*/ 12 w 12"/>
              <a:gd name="T75" fmla="*/ 1642 h 2553"/>
              <a:gd name="T76" fmla="*/ 12 w 12"/>
              <a:gd name="T77" fmla="*/ 1678 h 2553"/>
              <a:gd name="T78" fmla="*/ 12 w 12"/>
              <a:gd name="T79" fmla="*/ 1702 h 2553"/>
              <a:gd name="T80" fmla="*/ 0 w 12"/>
              <a:gd name="T81" fmla="*/ 1750 h 2553"/>
              <a:gd name="T82" fmla="*/ 0 w 12"/>
              <a:gd name="T83" fmla="*/ 1810 h 2553"/>
              <a:gd name="T84" fmla="*/ 12 w 12"/>
              <a:gd name="T85" fmla="*/ 1858 h 2553"/>
              <a:gd name="T86" fmla="*/ 12 w 12"/>
              <a:gd name="T87" fmla="*/ 1894 h 2553"/>
              <a:gd name="T88" fmla="*/ 12 w 12"/>
              <a:gd name="T89" fmla="*/ 1918 h 2553"/>
              <a:gd name="T90" fmla="*/ 0 w 12"/>
              <a:gd name="T91" fmla="*/ 1966 h 2553"/>
              <a:gd name="T92" fmla="*/ 0 w 12"/>
              <a:gd name="T93" fmla="*/ 2025 h 2553"/>
              <a:gd name="T94" fmla="*/ 12 w 12"/>
              <a:gd name="T95" fmla="*/ 2073 h 2553"/>
              <a:gd name="T96" fmla="*/ 12 w 12"/>
              <a:gd name="T97" fmla="*/ 2109 h 2553"/>
              <a:gd name="T98" fmla="*/ 12 w 12"/>
              <a:gd name="T99" fmla="*/ 2133 h 2553"/>
              <a:gd name="T100" fmla="*/ 0 w 12"/>
              <a:gd name="T101" fmla="*/ 2181 h 2553"/>
              <a:gd name="T102" fmla="*/ 0 w 12"/>
              <a:gd name="T103" fmla="*/ 2241 h 2553"/>
              <a:gd name="T104" fmla="*/ 12 w 12"/>
              <a:gd name="T105" fmla="*/ 2289 h 2553"/>
              <a:gd name="T106" fmla="*/ 12 w 12"/>
              <a:gd name="T107" fmla="*/ 2325 h 2553"/>
              <a:gd name="T108" fmla="*/ 12 w 12"/>
              <a:gd name="T109" fmla="*/ 2349 h 2553"/>
              <a:gd name="T110" fmla="*/ 0 w 12"/>
              <a:gd name="T111" fmla="*/ 2397 h 2553"/>
              <a:gd name="T112" fmla="*/ 0 w 12"/>
              <a:gd name="T113" fmla="*/ 2457 h 2553"/>
              <a:gd name="T114" fmla="*/ 12 w 12"/>
              <a:gd name="T115" fmla="*/ 2505 h 2553"/>
              <a:gd name="T116" fmla="*/ 12 w 12"/>
              <a:gd name="T117" fmla="*/ 2541 h 25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12" h="2553">
                <a:moveTo>
                  <a:pt x="12" y="0"/>
                </a:moveTo>
                <a:lnTo>
                  <a:pt x="12" y="12"/>
                </a:lnTo>
                <a:lnTo>
                  <a:pt x="0" y="12"/>
                </a:lnTo>
                <a:lnTo>
                  <a:pt x="0" y="0"/>
                </a:lnTo>
                <a:lnTo>
                  <a:pt x="12" y="0"/>
                </a:lnTo>
                <a:close/>
                <a:moveTo>
                  <a:pt x="12" y="25"/>
                </a:moveTo>
                <a:lnTo>
                  <a:pt x="12" y="36"/>
                </a:lnTo>
                <a:lnTo>
                  <a:pt x="0" y="36"/>
                </a:lnTo>
                <a:lnTo>
                  <a:pt x="0" y="25"/>
                </a:lnTo>
                <a:lnTo>
                  <a:pt x="12" y="25"/>
                </a:lnTo>
                <a:close/>
                <a:moveTo>
                  <a:pt x="12" y="48"/>
                </a:moveTo>
                <a:lnTo>
                  <a:pt x="12" y="60"/>
                </a:lnTo>
                <a:lnTo>
                  <a:pt x="0" y="60"/>
                </a:lnTo>
                <a:lnTo>
                  <a:pt x="0" y="48"/>
                </a:lnTo>
                <a:lnTo>
                  <a:pt x="12" y="48"/>
                </a:lnTo>
                <a:close/>
                <a:moveTo>
                  <a:pt x="12" y="72"/>
                </a:moveTo>
                <a:lnTo>
                  <a:pt x="12" y="84"/>
                </a:lnTo>
                <a:lnTo>
                  <a:pt x="0" y="84"/>
                </a:lnTo>
                <a:lnTo>
                  <a:pt x="0" y="72"/>
                </a:lnTo>
                <a:lnTo>
                  <a:pt x="12" y="72"/>
                </a:lnTo>
                <a:close/>
                <a:moveTo>
                  <a:pt x="12" y="96"/>
                </a:moveTo>
                <a:lnTo>
                  <a:pt x="12" y="108"/>
                </a:lnTo>
                <a:lnTo>
                  <a:pt x="0" y="108"/>
                </a:lnTo>
                <a:lnTo>
                  <a:pt x="0" y="96"/>
                </a:lnTo>
                <a:lnTo>
                  <a:pt x="12" y="96"/>
                </a:lnTo>
                <a:close/>
                <a:moveTo>
                  <a:pt x="12" y="120"/>
                </a:moveTo>
                <a:lnTo>
                  <a:pt x="12" y="132"/>
                </a:lnTo>
                <a:lnTo>
                  <a:pt x="0" y="132"/>
                </a:lnTo>
                <a:lnTo>
                  <a:pt x="0" y="120"/>
                </a:lnTo>
                <a:lnTo>
                  <a:pt x="12" y="120"/>
                </a:lnTo>
                <a:close/>
                <a:moveTo>
                  <a:pt x="12" y="144"/>
                </a:moveTo>
                <a:lnTo>
                  <a:pt x="12" y="156"/>
                </a:lnTo>
                <a:lnTo>
                  <a:pt x="0" y="156"/>
                </a:lnTo>
                <a:lnTo>
                  <a:pt x="0" y="144"/>
                </a:lnTo>
                <a:lnTo>
                  <a:pt x="12" y="144"/>
                </a:lnTo>
                <a:close/>
                <a:moveTo>
                  <a:pt x="12" y="168"/>
                </a:moveTo>
                <a:lnTo>
                  <a:pt x="12" y="180"/>
                </a:lnTo>
                <a:lnTo>
                  <a:pt x="0" y="180"/>
                </a:lnTo>
                <a:lnTo>
                  <a:pt x="0" y="168"/>
                </a:lnTo>
                <a:lnTo>
                  <a:pt x="12" y="168"/>
                </a:lnTo>
                <a:close/>
                <a:moveTo>
                  <a:pt x="12" y="192"/>
                </a:moveTo>
                <a:lnTo>
                  <a:pt x="12" y="204"/>
                </a:lnTo>
                <a:lnTo>
                  <a:pt x="0" y="204"/>
                </a:lnTo>
                <a:lnTo>
                  <a:pt x="0" y="192"/>
                </a:lnTo>
                <a:lnTo>
                  <a:pt x="12" y="192"/>
                </a:lnTo>
                <a:close/>
                <a:moveTo>
                  <a:pt x="12" y="216"/>
                </a:moveTo>
                <a:lnTo>
                  <a:pt x="12" y="228"/>
                </a:lnTo>
                <a:lnTo>
                  <a:pt x="0" y="228"/>
                </a:lnTo>
                <a:lnTo>
                  <a:pt x="0" y="216"/>
                </a:lnTo>
                <a:lnTo>
                  <a:pt x="12" y="216"/>
                </a:lnTo>
                <a:close/>
                <a:moveTo>
                  <a:pt x="12" y="240"/>
                </a:moveTo>
                <a:lnTo>
                  <a:pt x="12" y="252"/>
                </a:lnTo>
                <a:lnTo>
                  <a:pt x="0" y="252"/>
                </a:lnTo>
                <a:lnTo>
                  <a:pt x="0" y="240"/>
                </a:lnTo>
                <a:lnTo>
                  <a:pt x="12" y="240"/>
                </a:lnTo>
                <a:close/>
                <a:moveTo>
                  <a:pt x="12" y="264"/>
                </a:moveTo>
                <a:lnTo>
                  <a:pt x="12" y="276"/>
                </a:lnTo>
                <a:lnTo>
                  <a:pt x="0" y="276"/>
                </a:lnTo>
                <a:lnTo>
                  <a:pt x="0" y="264"/>
                </a:lnTo>
                <a:lnTo>
                  <a:pt x="12" y="264"/>
                </a:lnTo>
                <a:close/>
                <a:moveTo>
                  <a:pt x="12" y="288"/>
                </a:moveTo>
                <a:lnTo>
                  <a:pt x="12" y="300"/>
                </a:lnTo>
                <a:lnTo>
                  <a:pt x="0" y="300"/>
                </a:lnTo>
                <a:lnTo>
                  <a:pt x="0" y="288"/>
                </a:lnTo>
                <a:lnTo>
                  <a:pt x="12" y="288"/>
                </a:lnTo>
                <a:close/>
                <a:moveTo>
                  <a:pt x="12" y="312"/>
                </a:moveTo>
                <a:lnTo>
                  <a:pt x="12" y="324"/>
                </a:lnTo>
                <a:lnTo>
                  <a:pt x="0" y="324"/>
                </a:lnTo>
                <a:lnTo>
                  <a:pt x="0" y="312"/>
                </a:lnTo>
                <a:lnTo>
                  <a:pt x="12" y="312"/>
                </a:lnTo>
                <a:close/>
                <a:moveTo>
                  <a:pt x="12" y="336"/>
                </a:moveTo>
                <a:lnTo>
                  <a:pt x="12" y="348"/>
                </a:lnTo>
                <a:lnTo>
                  <a:pt x="0" y="348"/>
                </a:lnTo>
                <a:lnTo>
                  <a:pt x="0" y="336"/>
                </a:lnTo>
                <a:lnTo>
                  <a:pt x="12" y="336"/>
                </a:lnTo>
                <a:close/>
                <a:moveTo>
                  <a:pt x="12" y="360"/>
                </a:moveTo>
                <a:lnTo>
                  <a:pt x="12" y="372"/>
                </a:lnTo>
                <a:lnTo>
                  <a:pt x="0" y="372"/>
                </a:lnTo>
                <a:lnTo>
                  <a:pt x="0" y="360"/>
                </a:lnTo>
                <a:lnTo>
                  <a:pt x="12" y="360"/>
                </a:lnTo>
                <a:close/>
                <a:moveTo>
                  <a:pt x="12" y="384"/>
                </a:moveTo>
                <a:lnTo>
                  <a:pt x="12" y="396"/>
                </a:lnTo>
                <a:lnTo>
                  <a:pt x="0" y="396"/>
                </a:lnTo>
                <a:lnTo>
                  <a:pt x="0" y="384"/>
                </a:lnTo>
                <a:lnTo>
                  <a:pt x="12" y="384"/>
                </a:lnTo>
                <a:close/>
                <a:moveTo>
                  <a:pt x="12" y="408"/>
                </a:moveTo>
                <a:lnTo>
                  <a:pt x="12" y="420"/>
                </a:lnTo>
                <a:lnTo>
                  <a:pt x="0" y="420"/>
                </a:lnTo>
                <a:lnTo>
                  <a:pt x="0" y="408"/>
                </a:lnTo>
                <a:lnTo>
                  <a:pt x="12" y="408"/>
                </a:lnTo>
                <a:close/>
                <a:moveTo>
                  <a:pt x="12" y="432"/>
                </a:moveTo>
                <a:lnTo>
                  <a:pt x="12" y="444"/>
                </a:lnTo>
                <a:lnTo>
                  <a:pt x="0" y="444"/>
                </a:lnTo>
                <a:lnTo>
                  <a:pt x="0" y="432"/>
                </a:lnTo>
                <a:lnTo>
                  <a:pt x="12" y="432"/>
                </a:lnTo>
                <a:close/>
                <a:moveTo>
                  <a:pt x="12" y="456"/>
                </a:moveTo>
                <a:lnTo>
                  <a:pt x="12" y="468"/>
                </a:lnTo>
                <a:lnTo>
                  <a:pt x="0" y="468"/>
                </a:lnTo>
                <a:lnTo>
                  <a:pt x="0" y="456"/>
                </a:lnTo>
                <a:lnTo>
                  <a:pt x="12" y="456"/>
                </a:lnTo>
                <a:close/>
                <a:moveTo>
                  <a:pt x="12" y="480"/>
                </a:moveTo>
                <a:lnTo>
                  <a:pt x="12" y="492"/>
                </a:lnTo>
                <a:lnTo>
                  <a:pt x="0" y="492"/>
                </a:lnTo>
                <a:lnTo>
                  <a:pt x="0" y="480"/>
                </a:lnTo>
                <a:lnTo>
                  <a:pt x="12" y="480"/>
                </a:lnTo>
                <a:close/>
                <a:moveTo>
                  <a:pt x="12" y="504"/>
                </a:moveTo>
                <a:lnTo>
                  <a:pt x="12" y="516"/>
                </a:lnTo>
                <a:lnTo>
                  <a:pt x="0" y="516"/>
                </a:lnTo>
                <a:lnTo>
                  <a:pt x="0" y="504"/>
                </a:lnTo>
                <a:lnTo>
                  <a:pt x="12" y="504"/>
                </a:lnTo>
                <a:close/>
                <a:moveTo>
                  <a:pt x="12" y="528"/>
                </a:moveTo>
                <a:lnTo>
                  <a:pt x="12" y="540"/>
                </a:lnTo>
                <a:lnTo>
                  <a:pt x="0" y="540"/>
                </a:lnTo>
                <a:lnTo>
                  <a:pt x="0" y="528"/>
                </a:lnTo>
                <a:lnTo>
                  <a:pt x="12" y="528"/>
                </a:lnTo>
                <a:close/>
                <a:moveTo>
                  <a:pt x="12" y="552"/>
                </a:moveTo>
                <a:lnTo>
                  <a:pt x="12" y="564"/>
                </a:lnTo>
                <a:lnTo>
                  <a:pt x="0" y="564"/>
                </a:lnTo>
                <a:lnTo>
                  <a:pt x="0" y="552"/>
                </a:lnTo>
                <a:lnTo>
                  <a:pt x="12" y="552"/>
                </a:lnTo>
                <a:close/>
                <a:moveTo>
                  <a:pt x="12" y="576"/>
                </a:moveTo>
                <a:lnTo>
                  <a:pt x="12" y="588"/>
                </a:lnTo>
                <a:lnTo>
                  <a:pt x="0" y="588"/>
                </a:lnTo>
                <a:lnTo>
                  <a:pt x="0" y="576"/>
                </a:lnTo>
                <a:lnTo>
                  <a:pt x="12" y="576"/>
                </a:lnTo>
                <a:close/>
                <a:moveTo>
                  <a:pt x="12" y="600"/>
                </a:moveTo>
                <a:lnTo>
                  <a:pt x="12" y="611"/>
                </a:lnTo>
                <a:lnTo>
                  <a:pt x="0" y="611"/>
                </a:lnTo>
                <a:lnTo>
                  <a:pt x="0" y="600"/>
                </a:lnTo>
                <a:lnTo>
                  <a:pt x="12" y="600"/>
                </a:lnTo>
                <a:close/>
                <a:moveTo>
                  <a:pt x="12" y="624"/>
                </a:moveTo>
                <a:lnTo>
                  <a:pt x="12" y="636"/>
                </a:lnTo>
                <a:lnTo>
                  <a:pt x="0" y="636"/>
                </a:lnTo>
                <a:lnTo>
                  <a:pt x="0" y="624"/>
                </a:lnTo>
                <a:lnTo>
                  <a:pt x="12" y="624"/>
                </a:lnTo>
                <a:close/>
                <a:moveTo>
                  <a:pt x="12" y="647"/>
                </a:moveTo>
                <a:lnTo>
                  <a:pt x="12" y="659"/>
                </a:lnTo>
                <a:lnTo>
                  <a:pt x="0" y="659"/>
                </a:lnTo>
                <a:lnTo>
                  <a:pt x="0" y="647"/>
                </a:lnTo>
                <a:lnTo>
                  <a:pt x="12" y="647"/>
                </a:lnTo>
                <a:close/>
                <a:moveTo>
                  <a:pt x="12" y="672"/>
                </a:moveTo>
                <a:lnTo>
                  <a:pt x="12" y="683"/>
                </a:lnTo>
                <a:lnTo>
                  <a:pt x="0" y="683"/>
                </a:lnTo>
                <a:lnTo>
                  <a:pt x="0" y="672"/>
                </a:lnTo>
                <a:lnTo>
                  <a:pt x="12" y="672"/>
                </a:lnTo>
                <a:close/>
                <a:moveTo>
                  <a:pt x="12" y="695"/>
                </a:moveTo>
                <a:lnTo>
                  <a:pt x="12" y="708"/>
                </a:lnTo>
                <a:lnTo>
                  <a:pt x="0" y="708"/>
                </a:lnTo>
                <a:lnTo>
                  <a:pt x="0" y="695"/>
                </a:lnTo>
                <a:lnTo>
                  <a:pt x="12" y="695"/>
                </a:lnTo>
                <a:close/>
                <a:moveTo>
                  <a:pt x="12" y="719"/>
                </a:moveTo>
                <a:lnTo>
                  <a:pt x="12" y="731"/>
                </a:lnTo>
                <a:lnTo>
                  <a:pt x="0" y="731"/>
                </a:lnTo>
                <a:lnTo>
                  <a:pt x="0" y="719"/>
                </a:lnTo>
                <a:lnTo>
                  <a:pt x="12" y="719"/>
                </a:lnTo>
                <a:close/>
                <a:moveTo>
                  <a:pt x="12" y="743"/>
                </a:moveTo>
                <a:lnTo>
                  <a:pt x="12" y="755"/>
                </a:lnTo>
                <a:lnTo>
                  <a:pt x="0" y="755"/>
                </a:lnTo>
                <a:lnTo>
                  <a:pt x="0" y="743"/>
                </a:lnTo>
                <a:lnTo>
                  <a:pt x="12" y="743"/>
                </a:lnTo>
                <a:close/>
                <a:moveTo>
                  <a:pt x="12" y="767"/>
                </a:moveTo>
                <a:lnTo>
                  <a:pt x="12" y="779"/>
                </a:lnTo>
                <a:lnTo>
                  <a:pt x="0" y="779"/>
                </a:lnTo>
                <a:lnTo>
                  <a:pt x="0" y="767"/>
                </a:lnTo>
                <a:lnTo>
                  <a:pt x="12" y="767"/>
                </a:lnTo>
                <a:close/>
                <a:moveTo>
                  <a:pt x="12" y="791"/>
                </a:moveTo>
                <a:lnTo>
                  <a:pt x="12" y="803"/>
                </a:lnTo>
                <a:lnTo>
                  <a:pt x="0" y="803"/>
                </a:lnTo>
                <a:lnTo>
                  <a:pt x="0" y="791"/>
                </a:lnTo>
                <a:lnTo>
                  <a:pt x="12" y="791"/>
                </a:lnTo>
                <a:close/>
                <a:moveTo>
                  <a:pt x="12" y="815"/>
                </a:moveTo>
                <a:lnTo>
                  <a:pt x="12" y="827"/>
                </a:lnTo>
                <a:lnTo>
                  <a:pt x="0" y="827"/>
                </a:lnTo>
                <a:lnTo>
                  <a:pt x="0" y="815"/>
                </a:lnTo>
                <a:lnTo>
                  <a:pt x="12" y="815"/>
                </a:lnTo>
                <a:close/>
                <a:moveTo>
                  <a:pt x="12" y="839"/>
                </a:moveTo>
                <a:lnTo>
                  <a:pt x="12" y="851"/>
                </a:lnTo>
                <a:lnTo>
                  <a:pt x="0" y="851"/>
                </a:lnTo>
                <a:lnTo>
                  <a:pt x="0" y="839"/>
                </a:lnTo>
                <a:lnTo>
                  <a:pt x="12" y="839"/>
                </a:lnTo>
                <a:close/>
                <a:moveTo>
                  <a:pt x="12" y="863"/>
                </a:moveTo>
                <a:lnTo>
                  <a:pt x="12" y="875"/>
                </a:lnTo>
                <a:lnTo>
                  <a:pt x="0" y="875"/>
                </a:lnTo>
                <a:lnTo>
                  <a:pt x="0" y="863"/>
                </a:lnTo>
                <a:lnTo>
                  <a:pt x="12" y="863"/>
                </a:lnTo>
                <a:close/>
                <a:moveTo>
                  <a:pt x="12" y="887"/>
                </a:moveTo>
                <a:lnTo>
                  <a:pt x="12" y="899"/>
                </a:lnTo>
                <a:lnTo>
                  <a:pt x="0" y="899"/>
                </a:lnTo>
                <a:lnTo>
                  <a:pt x="0" y="887"/>
                </a:lnTo>
                <a:lnTo>
                  <a:pt x="12" y="887"/>
                </a:lnTo>
                <a:close/>
                <a:moveTo>
                  <a:pt x="12" y="911"/>
                </a:moveTo>
                <a:lnTo>
                  <a:pt x="12" y="923"/>
                </a:lnTo>
                <a:lnTo>
                  <a:pt x="0" y="923"/>
                </a:lnTo>
                <a:lnTo>
                  <a:pt x="0" y="911"/>
                </a:lnTo>
                <a:lnTo>
                  <a:pt x="12" y="911"/>
                </a:lnTo>
                <a:close/>
                <a:moveTo>
                  <a:pt x="12" y="935"/>
                </a:moveTo>
                <a:lnTo>
                  <a:pt x="12" y="947"/>
                </a:lnTo>
                <a:lnTo>
                  <a:pt x="0" y="947"/>
                </a:lnTo>
                <a:lnTo>
                  <a:pt x="0" y="935"/>
                </a:lnTo>
                <a:lnTo>
                  <a:pt x="12" y="935"/>
                </a:lnTo>
                <a:close/>
                <a:moveTo>
                  <a:pt x="12" y="959"/>
                </a:moveTo>
                <a:lnTo>
                  <a:pt x="12" y="971"/>
                </a:lnTo>
                <a:lnTo>
                  <a:pt x="0" y="971"/>
                </a:lnTo>
                <a:lnTo>
                  <a:pt x="0" y="959"/>
                </a:lnTo>
                <a:lnTo>
                  <a:pt x="12" y="959"/>
                </a:lnTo>
                <a:close/>
                <a:moveTo>
                  <a:pt x="12" y="983"/>
                </a:moveTo>
                <a:lnTo>
                  <a:pt x="12" y="995"/>
                </a:lnTo>
                <a:lnTo>
                  <a:pt x="0" y="995"/>
                </a:lnTo>
                <a:lnTo>
                  <a:pt x="0" y="983"/>
                </a:lnTo>
                <a:lnTo>
                  <a:pt x="12" y="983"/>
                </a:lnTo>
                <a:close/>
                <a:moveTo>
                  <a:pt x="12" y="1007"/>
                </a:moveTo>
                <a:lnTo>
                  <a:pt x="12" y="1019"/>
                </a:lnTo>
                <a:lnTo>
                  <a:pt x="0" y="1019"/>
                </a:lnTo>
                <a:lnTo>
                  <a:pt x="0" y="1007"/>
                </a:lnTo>
                <a:lnTo>
                  <a:pt x="12" y="1007"/>
                </a:lnTo>
                <a:close/>
                <a:moveTo>
                  <a:pt x="12" y="1031"/>
                </a:moveTo>
                <a:lnTo>
                  <a:pt x="12" y="1043"/>
                </a:lnTo>
                <a:lnTo>
                  <a:pt x="0" y="1043"/>
                </a:lnTo>
                <a:lnTo>
                  <a:pt x="0" y="1031"/>
                </a:lnTo>
                <a:lnTo>
                  <a:pt x="12" y="1031"/>
                </a:lnTo>
                <a:close/>
                <a:moveTo>
                  <a:pt x="12" y="1055"/>
                </a:moveTo>
                <a:lnTo>
                  <a:pt x="12" y="1067"/>
                </a:lnTo>
                <a:lnTo>
                  <a:pt x="0" y="1067"/>
                </a:lnTo>
                <a:lnTo>
                  <a:pt x="0" y="1055"/>
                </a:lnTo>
                <a:lnTo>
                  <a:pt x="12" y="1055"/>
                </a:lnTo>
                <a:close/>
                <a:moveTo>
                  <a:pt x="12" y="1079"/>
                </a:moveTo>
                <a:lnTo>
                  <a:pt x="12" y="1091"/>
                </a:lnTo>
                <a:lnTo>
                  <a:pt x="0" y="1091"/>
                </a:lnTo>
                <a:lnTo>
                  <a:pt x="0" y="1079"/>
                </a:lnTo>
                <a:lnTo>
                  <a:pt x="12" y="1079"/>
                </a:lnTo>
                <a:close/>
                <a:moveTo>
                  <a:pt x="12" y="1103"/>
                </a:moveTo>
                <a:lnTo>
                  <a:pt x="12" y="1115"/>
                </a:lnTo>
                <a:lnTo>
                  <a:pt x="0" y="1115"/>
                </a:lnTo>
                <a:lnTo>
                  <a:pt x="0" y="1103"/>
                </a:lnTo>
                <a:lnTo>
                  <a:pt x="12" y="1103"/>
                </a:lnTo>
                <a:close/>
                <a:moveTo>
                  <a:pt x="12" y="1127"/>
                </a:moveTo>
                <a:lnTo>
                  <a:pt x="12" y="1139"/>
                </a:lnTo>
                <a:lnTo>
                  <a:pt x="0" y="1139"/>
                </a:lnTo>
                <a:lnTo>
                  <a:pt x="0" y="1127"/>
                </a:lnTo>
                <a:lnTo>
                  <a:pt x="12" y="1127"/>
                </a:lnTo>
                <a:close/>
                <a:moveTo>
                  <a:pt x="12" y="1151"/>
                </a:moveTo>
                <a:lnTo>
                  <a:pt x="12" y="1163"/>
                </a:lnTo>
                <a:lnTo>
                  <a:pt x="0" y="1163"/>
                </a:lnTo>
                <a:lnTo>
                  <a:pt x="0" y="1151"/>
                </a:lnTo>
                <a:lnTo>
                  <a:pt x="12" y="1151"/>
                </a:lnTo>
                <a:close/>
                <a:moveTo>
                  <a:pt x="12" y="1175"/>
                </a:moveTo>
                <a:lnTo>
                  <a:pt x="12" y="1187"/>
                </a:lnTo>
                <a:lnTo>
                  <a:pt x="0" y="1187"/>
                </a:lnTo>
                <a:lnTo>
                  <a:pt x="0" y="1175"/>
                </a:lnTo>
                <a:lnTo>
                  <a:pt x="12" y="1175"/>
                </a:lnTo>
                <a:close/>
                <a:moveTo>
                  <a:pt x="12" y="1199"/>
                </a:moveTo>
                <a:lnTo>
                  <a:pt x="12" y="1211"/>
                </a:lnTo>
                <a:lnTo>
                  <a:pt x="0" y="1211"/>
                </a:lnTo>
                <a:lnTo>
                  <a:pt x="0" y="1199"/>
                </a:lnTo>
                <a:lnTo>
                  <a:pt x="12" y="1199"/>
                </a:lnTo>
                <a:close/>
                <a:moveTo>
                  <a:pt x="12" y="1223"/>
                </a:moveTo>
                <a:lnTo>
                  <a:pt x="12" y="1235"/>
                </a:lnTo>
                <a:lnTo>
                  <a:pt x="0" y="1235"/>
                </a:lnTo>
                <a:lnTo>
                  <a:pt x="0" y="1223"/>
                </a:lnTo>
                <a:lnTo>
                  <a:pt x="12" y="1223"/>
                </a:lnTo>
                <a:close/>
                <a:moveTo>
                  <a:pt x="12" y="1247"/>
                </a:moveTo>
                <a:lnTo>
                  <a:pt x="12" y="1259"/>
                </a:lnTo>
                <a:lnTo>
                  <a:pt x="0" y="1259"/>
                </a:lnTo>
                <a:lnTo>
                  <a:pt x="0" y="1247"/>
                </a:lnTo>
                <a:lnTo>
                  <a:pt x="12" y="1247"/>
                </a:lnTo>
                <a:close/>
                <a:moveTo>
                  <a:pt x="12" y="1271"/>
                </a:moveTo>
                <a:lnTo>
                  <a:pt x="12" y="1283"/>
                </a:lnTo>
                <a:lnTo>
                  <a:pt x="0" y="1283"/>
                </a:lnTo>
                <a:lnTo>
                  <a:pt x="0" y="1271"/>
                </a:lnTo>
                <a:lnTo>
                  <a:pt x="12" y="1271"/>
                </a:lnTo>
                <a:close/>
                <a:moveTo>
                  <a:pt x="12" y="1294"/>
                </a:moveTo>
                <a:lnTo>
                  <a:pt x="12" y="1307"/>
                </a:lnTo>
                <a:lnTo>
                  <a:pt x="0" y="1307"/>
                </a:lnTo>
                <a:lnTo>
                  <a:pt x="0" y="1294"/>
                </a:lnTo>
                <a:lnTo>
                  <a:pt x="12" y="1294"/>
                </a:lnTo>
                <a:close/>
                <a:moveTo>
                  <a:pt x="12" y="1319"/>
                </a:moveTo>
                <a:lnTo>
                  <a:pt x="12" y="1330"/>
                </a:lnTo>
                <a:lnTo>
                  <a:pt x="0" y="1330"/>
                </a:lnTo>
                <a:lnTo>
                  <a:pt x="0" y="1319"/>
                </a:lnTo>
                <a:lnTo>
                  <a:pt x="12" y="1319"/>
                </a:lnTo>
                <a:close/>
                <a:moveTo>
                  <a:pt x="12" y="1342"/>
                </a:moveTo>
                <a:lnTo>
                  <a:pt x="12" y="1355"/>
                </a:lnTo>
                <a:lnTo>
                  <a:pt x="0" y="1355"/>
                </a:lnTo>
                <a:lnTo>
                  <a:pt x="0" y="1342"/>
                </a:lnTo>
                <a:lnTo>
                  <a:pt x="12" y="1342"/>
                </a:lnTo>
                <a:close/>
                <a:moveTo>
                  <a:pt x="12" y="1366"/>
                </a:moveTo>
                <a:lnTo>
                  <a:pt x="12" y="1378"/>
                </a:lnTo>
                <a:lnTo>
                  <a:pt x="0" y="1378"/>
                </a:lnTo>
                <a:lnTo>
                  <a:pt x="0" y="1366"/>
                </a:lnTo>
                <a:lnTo>
                  <a:pt x="12" y="1366"/>
                </a:lnTo>
                <a:close/>
                <a:moveTo>
                  <a:pt x="12" y="1390"/>
                </a:moveTo>
                <a:lnTo>
                  <a:pt x="12" y="1402"/>
                </a:lnTo>
                <a:lnTo>
                  <a:pt x="0" y="1402"/>
                </a:lnTo>
                <a:lnTo>
                  <a:pt x="0" y="1390"/>
                </a:lnTo>
                <a:lnTo>
                  <a:pt x="12" y="1390"/>
                </a:lnTo>
                <a:close/>
                <a:moveTo>
                  <a:pt x="12" y="1414"/>
                </a:moveTo>
                <a:lnTo>
                  <a:pt x="12" y="1426"/>
                </a:lnTo>
                <a:lnTo>
                  <a:pt x="0" y="1426"/>
                </a:lnTo>
                <a:lnTo>
                  <a:pt x="0" y="1414"/>
                </a:lnTo>
                <a:lnTo>
                  <a:pt x="12" y="1414"/>
                </a:lnTo>
                <a:close/>
                <a:moveTo>
                  <a:pt x="12" y="1438"/>
                </a:moveTo>
                <a:lnTo>
                  <a:pt x="12" y="1450"/>
                </a:lnTo>
                <a:lnTo>
                  <a:pt x="0" y="1450"/>
                </a:lnTo>
                <a:lnTo>
                  <a:pt x="0" y="1438"/>
                </a:lnTo>
                <a:lnTo>
                  <a:pt x="12" y="1438"/>
                </a:lnTo>
                <a:close/>
                <a:moveTo>
                  <a:pt x="12" y="1462"/>
                </a:moveTo>
                <a:lnTo>
                  <a:pt x="12" y="1474"/>
                </a:lnTo>
                <a:lnTo>
                  <a:pt x="0" y="1474"/>
                </a:lnTo>
                <a:lnTo>
                  <a:pt x="0" y="1462"/>
                </a:lnTo>
                <a:lnTo>
                  <a:pt x="12" y="1462"/>
                </a:lnTo>
                <a:close/>
                <a:moveTo>
                  <a:pt x="12" y="1486"/>
                </a:moveTo>
                <a:lnTo>
                  <a:pt x="12" y="1498"/>
                </a:lnTo>
                <a:lnTo>
                  <a:pt x="0" y="1498"/>
                </a:lnTo>
                <a:lnTo>
                  <a:pt x="0" y="1486"/>
                </a:lnTo>
                <a:lnTo>
                  <a:pt x="12" y="1486"/>
                </a:lnTo>
                <a:close/>
                <a:moveTo>
                  <a:pt x="12" y="1510"/>
                </a:moveTo>
                <a:lnTo>
                  <a:pt x="12" y="1522"/>
                </a:lnTo>
                <a:lnTo>
                  <a:pt x="0" y="1522"/>
                </a:lnTo>
                <a:lnTo>
                  <a:pt x="0" y="1510"/>
                </a:lnTo>
                <a:lnTo>
                  <a:pt x="12" y="1510"/>
                </a:lnTo>
                <a:close/>
                <a:moveTo>
                  <a:pt x="12" y="1534"/>
                </a:moveTo>
                <a:lnTo>
                  <a:pt x="12" y="1546"/>
                </a:lnTo>
                <a:lnTo>
                  <a:pt x="0" y="1546"/>
                </a:lnTo>
                <a:lnTo>
                  <a:pt x="0" y="1534"/>
                </a:lnTo>
                <a:lnTo>
                  <a:pt x="12" y="1534"/>
                </a:lnTo>
                <a:close/>
                <a:moveTo>
                  <a:pt x="12" y="1558"/>
                </a:moveTo>
                <a:lnTo>
                  <a:pt x="12" y="1570"/>
                </a:lnTo>
                <a:lnTo>
                  <a:pt x="0" y="1570"/>
                </a:lnTo>
                <a:lnTo>
                  <a:pt x="0" y="1558"/>
                </a:lnTo>
                <a:lnTo>
                  <a:pt x="12" y="1558"/>
                </a:lnTo>
                <a:close/>
                <a:moveTo>
                  <a:pt x="12" y="1582"/>
                </a:moveTo>
                <a:lnTo>
                  <a:pt x="12" y="1594"/>
                </a:lnTo>
                <a:lnTo>
                  <a:pt x="0" y="1594"/>
                </a:lnTo>
                <a:lnTo>
                  <a:pt x="0" y="1582"/>
                </a:lnTo>
                <a:lnTo>
                  <a:pt x="12" y="1582"/>
                </a:lnTo>
                <a:close/>
                <a:moveTo>
                  <a:pt x="12" y="1606"/>
                </a:moveTo>
                <a:lnTo>
                  <a:pt x="12" y="1618"/>
                </a:lnTo>
                <a:lnTo>
                  <a:pt x="0" y="1618"/>
                </a:lnTo>
                <a:lnTo>
                  <a:pt x="0" y="1606"/>
                </a:lnTo>
                <a:lnTo>
                  <a:pt x="12" y="1606"/>
                </a:lnTo>
                <a:close/>
                <a:moveTo>
                  <a:pt x="12" y="1630"/>
                </a:moveTo>
                <a:lnTo>
                  <a:pt x="12" y="1642"/>
                </a:lnTo>
                <a:lnTo>
                  <a:pt x="0" y="1642"/>
                </a:lnTo>
                <a:lnTo>
                  <a:pt x="0" y="1630"/>
                </a:lnTo>
                <a:lnTo>
                  <a:pt x="12" y="1630"/>
                </a:lnTo>
                <a:close/>
                <a:moveTo>
                  <a:pt x="12" y="1654"/>
                </a:moveTo>
                <a:lnTo>
                  <a:pt x="12" y="1666"/>
                </a:lnTo>
                <a:lnTo>
                  <a:pt x="0" y="1666"/>
                </a:lnTo>
                <a:lnTo>
                  <a:pt x="0" y="1654"/>
                </a:lnTo>
                <a:lnTo>
                  <a:pt x="12" y="1654"/>
                </a:lnTo>
                <a:close/>
                <a:moveTo>
                  <a:pt x="12" y="1678"/>
                </a:moveTo>
                <a:lnTo>
                  <a:pt x="12" y="1690"/>
                </a:lnTo>
                <a:lnTo>
                  <a:pt x="0" y="1690"/>
                </a:lnTo>
                <a:lnTo>
                  <a:pt x="0" y="1678"/>
                </a:lnTo>
                <a:lnTo>
                  <a:pt x="12" y="1678"/>
                </a:lnTo>
                <a:close/>
                <a:moveTo>
                  <a:pt x="12" y="1702"/>
                </a:moveTo>
                <a:lnTo>
                  <a:pt x="12" y="1714"/>
                </a:lnTo>
                <a:lnTo>
                  <a:pt x="0" y="1714"/>
                </a:lnTo>
                <a:lnTo>
                  <a:pt x="0" y="1702"/>
                </a:lnTo>
                <a:lnTo>
                  <a:pt x="12" y="1702"/>
                </a:lnTo>
                <a:close/>
                <a:moveTo>
                  <a:pt x="12" y="1726"/>
                </a:moveTo>
                <a:lnTo>
                  <a:pt x="12" y="1738"/>
                </a:lnTo>
                <a:lnTo>
                  <a:pt x="0" y="1738"/>
                </a:lnTo>
                <a:lnTo>
                  <a:pt x="0" y="1726"/>
                </a:lnTo>
                <a:lnTo>
                  <a:pt x="12" y="1726"/>
                </a:lnTo>
                <a:close/>
                <a:moveTo>
                  <a:pt x="12" y="1750"/>
                </a:moveTo>
                <a:lnTo>
                  <a:pt x="12" y="1762"/>
                </a:lnTo>
                <a:lnTo>
                  <a:pt x="0" y="1762"/>
                </a:lnTo>
                <a:lnTo>
                  <a:pt x="0" y="1750"/>
                </a:lnTo>
                <a:lnTo>
                  <a:pt x="12" y="1750"/>
                </a:lnTo>
                <a:close/>
                <a:moveTo>
                  <a:pt x="12" y="1774"/>
                </a:moveTo>
                <a:lnTo>
                  <a:pt x="12" y="1786"/>
                </a:lnTo>
                <a:lnTo>
                  <a:pt x="0" y="1786"/>
                </a:lnTo>
                <a:lnTo>
                  <a:pt x="0" y="1774"/>
                </a:lnTo>
                <a:lnTo>
                  <a:pt x="12" y="1774"/>
                </a:lnTo>
                <a:close/>
                <a:moveTo>
                  <a:pt x="12" y="1798"/>
                </a:moveTo>
                <a:lnTo>
                  <a:pt x="12" y="1810"/>
                </a:lnTo>
                <a:lnTo>
                  <a:pt x="0" y="1810"/>
                </a:lnTo>
                <a:lnTo>
                  <a:pt x="0" y="1798"/>
                </a:lnTo>
                <a:lnTo>
                  <a:pt x="12" y="1798"/>
                </a:lnTo>
                <a:close/>
                <a:moveTo>
                  <a:pt x="12" y="1822"/>
                </a:moveTo>
                <a:lnTo>
                  <a:pt x="12" y="1834"/>
                </a:lnTo>
                <a:lnTo>
                  <a:pt x="0" y="1834"/>
                </a:lnTo>
                <a:lnTo>
                  <a:pt x="0" y="1822"/>
                </a:lnTo>
                <a:lnTo>
                  <a:pt x="12" y="1822"/>
                </a:lnTo>
                <a:close/>
                <a:moveTo>
                  <a:pt x="12" y="1846"/>
                </a:moveTo>
                <a:lnTo>
                  <a:pt x="12" y="1858"/>
                </a:lnTo>
                <a:lnTo>
                  <a:pt x="0" y="1858"/>
                </a:lnTo>
                <a:lnTo>
                  <a:pt x="0" y="1846"/>
                </a:lnTo>
                <a:lnTo>
                  <a:pt x="12" y="1846"/>
                </a:lnTo>
                <a:close/>
                <a:moveTo>
                  <a:pt x="12" y="1870"/>
                </a:moveTo>
                <a:lnTo>
                  <a:pt x="12" y="1882"/>
                </a:lnTo>
                <a:lnTo>
                  <a:pt x="0" y="1882"/>
                </a:lnTo>
                <a:lnTo>
                  <a:pt x="0" y="1870"/>
                </a:lnTo>
                <a:lnTo>
                  <a:pt x="12" y="1870"/>
                </a:lnTo>
                <a:close/>
                <a:moveTo>
                  <a:pt x="12" y="1894"/>
                </a:moveTo>
                <a:lnTo>
                  <a:pt x="12" y="1906"/>
                </a:lnTo>
                <a:lnTo>
                  <a:pt x="0" y="1906"/>
                </a:lnTo>
                <a:lnTo>
                  <a:pt x="0" y="1894"/>
                </a:lnTo>
                <a:lnTo>
                  <a:pt x="12" y="1894"/>
                </a:lnTo>
                <a:close/>
                <a:moveTo>
                  <a:pt x="12" y="1918"/>
                </a:moveTo>
                <a:lnTo>
                  <a:pt x="12" y="1930"/>
                </a:lnTo>
                <a:lnTo>
                  <a:pt x="0" y="1930"/>
                </a:lnTo>
                <a:lnTo>
                  <a:pt x="0" y="1918"/>
                </a:lnTo>
                <a:lnTo>
                  <a:pt x="12" y="1918"/>
                </a:lnTo>
                <a:close/>
                <a:moveTo>
                  <a:pt x="12" y="1941"/>
                </a:moveTo>
                <a:lnTo>
                  <a:pt x="12" y="1954"/>
                </a:lnTo>
                <a:lnTo>
                  <a:pt x="0" y="1954"/>
                </a:lnTo>
                <a:lnTo>
                  <a:pt x="0" y="1941"/>
                </a:lnTo>
                <a:lnTo>
                  <a:pt x="12" y="1941"/>
                </a:lnTo>
                <a:close/>
                <a:moveTo>
                  <a:pt x="12" y="1966"/>
                </a:moveTo>
                <a:lnTo>
                  <a:pt x="12" y="1977"/>
                </a:lnTo>
                <a:lnTo>
                  <a:pt x="0" y="1977"/>
                </a:lnTo>
                <a:lnTo>
                  <a:pt x="0" y="1966"/>
                </a:lnTo>
                <a:lnTo>
                  <a:pt x="12" y="1966"/>
                </a:lnTo>
                <a:close/>
                <a:moveTo>
                  <a:pt x="12" y="1989"/>
                </a:moveTo>
                <a:lnTo>
                  <a:pt x="12" y="2002"/>
                </a:lnTo>
                <a:lnTo>
                  <a:pt x="0" y="2002"/>
                </a:lnTo>
                <a:lnTo>
                  <a:pt x="0" y="1989"/>
                </a:lnTo>
                <a:lnTo>
                  <a:pt x="12" y="1989"/>
                </a:lnTo>
                <a:close/>
                <a:moveTo>
                  <a:pt x="12" y="2013"/>
                </a:moveTo>
                <a:lnTo>
                  <a:pt x="12" y="2025"/>
                </a:lnTo>
                <a:lnTo>
                  <a:pt x="0" y="2025"/>
                </a:lnTo>
                <a:lnTo>
                  <a:pt x="0" y="2013"/>
                </a:lnTo>
                <a:lnTo>
                  <a:pt x="12" y="2013"/>
                </a:lnTo>
                <a:close/>
                <a:moveTo>
                  <a:pt x="12" y="2038"/>
                </a:moveTo>
                <a:lnTo>
                  <a:pt x="12" y="2049"/>
                </a:lnTo>
                <a:lnTo>
                  <a:pt x="0" y="2049"/>
                </a:lnTo>
                <a:lnTo>
                  <a:pt x="0" y="2038"/>
                </a:lnTo>
                <a:lnTo>
                  <a:pt x="12" y="2038"/>
                </a:lnTo>
                <a:close/>
                <a:moveTo>
                  <a:pt x="12" y="2061"/>
                </a:moveTo>
                <a:lnTo>
                  <a:pt x="12" y="2073"/>
                </a:lnTo>
                <a:lnTo>
                  <a:pt x="0" y="2073"/>
                </a:lnTo>
                <a:lnTo>
                  <a:pt x="0" y="2061"/>
                </a:lnTo>
                <a:lnTo>
                  <a:pt x="12" y="2061"/>
                </a:lnTo>
                <a:close/>
                <a:moveTo>
                  <a:pt x="12" y="2085"/>
                </a:moveTo>
                <a:lnTo>
                  <a:pt x="12" y="2097"/>
                </a:lnTo>
                <a:lnTo>
                  <a:pt x="0" y="2097"/>
                </a:lnTo>
                <a:lnTo>
                  <a:pt x="0" y="2085"/>
                </a:lnTo>
                <a:lnTo>
                  <a:pt x="12" y="2085"/>
                </a:lnTo>
                <a:close/>
                <a:moveTo>
                  <a:pt x="12" y="2109"/>
                </a:moveTo>
                <a:lnTo>
                  <a:pt x="12" y="2121"/>
                </a:lnTo>
                <a:lnTo>
                  <a:pt x="0" y="2121"/>
                </a:lnTo>
                <a:lnTo>
                  <a:pt x="0" y="2109"/>
                </a:lnTo>
                <a:lnTo>
                  <a:pt x="12" y="2109"/>
                </a:lnTo>
                <a:close/>
                <a:moveTo>
                  <a:pt x="12" y="2133"/>
                </a:moveTo>
                <a:lnTo>
                  <a:pt x="12" y="2145"/>
                </a:lnTo>
                <a:lnTo>
                  <a:pt x="0" y="2145"/>
                </a:lnTo>
                <a:lnTo>
                  <a:pt x="0" y="2133"/>
                </a:lnTo>
                <a:lnTo>
                  <a:pt x="12" y="2133"/>
                </a:lnTo>
                <a:close/>
                <a:moveTo>
                  <a:pt x="12" y="2157"/>
                </a:moveTo>
                <a:lnTo>
                  <a:pt x="12" y="2169"/>
                </a:lnTo>
                <a:lnTo>
                  <a:pt x="0" y="2169"/>
                </a:lnTo>
                <a:lnTo>
                  <a:pt x="0" y="2157"/>
                </a:lnTo>
                <a:lnTo>
                  <a:pt x="12" y="2157"/>
                </a:lnTo>
                <a:close/>
                <a:moveTo>
                  <a:pt x="12" y="2181"/>
                </a:moveTo>
                <a:lnTo>
                  <a:pt x="12" y="2193"/>
                </a:lnTo>
                <a:lnTo>
                  <a:pt x="0" y="2193"/>
                </a:lnTo>
                <a:lnTo>
                  <a:pt x="0" y="2181"/>
                </a:lnTo>
                <a:lnTo>
                  <a:pt x="12" y="2181"/>
                </a:lnTo>
                <a:close/>
                <a:moveTo>
                  <a:pt x="12" y="2205"/>
                </a:moveTo>
                <a:lnTo>
                  <a:pt x="12" y="2217"/>
                </a:lnTo>
                <a:lnTo>
                  <a:pt x="0" y="2217"/>
                </a:lnTo>
                <a:lnTo>
                  <a:pt x="0" y="2205"/>
                </a:lnTo>
                <a:lnTo>
                  <a:pt x="12" y="2205"/>
                </a:lnTo>
                <a:close/>
                <a:moveTo>
                  <a:pt x="12" y="2229"/>
                </a:moveTo>
                <a:lnTo>
                  <a:pt x="12" y="2241"/>
                </a:lnTo>
                <a:lnTo>
                  <a:pt x="0" y="2241"/>
                </a:lnTo>
                <a:lnTo>
                  <a:pt x="0" y="2229"/>
                </a:lnTo>
                <a:lnTo>
                  <a:pt x="12" y="2229"/>
                </a:lnTo>
                <a:close/>
                <a:moveTo>
                  <a:pt x="12" y="2253"/>
                </a:moveTo>
                <a:lnTo>
                  <a:pt x="12" y="2265"/>
                </a:lnTo>
                <a:lnTo>
                  <a:pt x="0" y="2265"/>
                </a:lnTo>
                <a:lnTo>
                  <a:pt x="0" y="2253"/>
                </a:lnTo>
                <a:lnTo>
                  <a:pt x="12" y="2253"/>
                </a:lnTo>
                <a:close/>
                <a:moveTo>
                  <a:pt x="12" y="2277"/>
                </a:moveTo>
                <a:lnTo>
                  <a:pt x="12" y="2289"/>
                </a:lnTo>
                <a:lnTo>
                  <a:pt x="0" y="2289"/>
                </a:lnTo>
                <a:lnTo>
                  <a:pt x="0" y="2277"/>
                </a:lnTo>
                <a:lnTo>
                  <a:pt x="12" y="2277"/>
                </a:lnTo>
                <a:close/>
                <a:moveTo>
                  <a:pt x="12" y="2301"/>
                </a:moveTo>
                <a:lnTo>
                  <a:pt x="12" y="2313"/>
                </a:lnTo>
                <a:lnTo>
                  <a:pt x="0" y="2313"/>
                </a:lnTo>
                <a:lnTo>
                  <a:pt x="0" y="2301"/>
                </a:lnTo>
                <a:lnTo>
                  <a:pt x="12" y="2301"/>
                </a:lnTo>
                <a:close/>
                <a:moveTo>
                  <a:pt x="12" y="2325"/>
                </a:moveTo>
                <a:lnTo>
                  <a:pt x="12" y="2337"/>
                </a:lnTo>
                <a:lnTo>
                  <a:pt x="0" y="2337"/>
                </a:lnTo>
                <a:lnTo>
                  <a:pt x="0" y="2325"/>
                </a:lnTo>
                <a:lnTo>
                  <a:pt x="12" y="2325"/>
                </a:lnTo>
                <a:close/>
                <a:moveTo>
                  <a:pt x="12" y="2349"/>
                </a:moveTo>
                <a:lnTo>
                  <a:pt x="12" y="2361"/>
                </a:lnTo>
                <a:lnTo>
                  <a:pt x="0" y="2361"/>
                </a:lnTo>
                <a:lnTo>
                  <a:pt x="0" y="2349"/>
                </a:lnTo>
                <a:lnTo>
                  <a:pt x="12" y="2349"/>
                </a:lnTo>
                <a:close/>
                <a:moveTo>
                  <a:pt x="12" y="2373"/>
                </a:moveTo>
                <a:lnTo>
                  <a:pt x="12" y="2385"/>
                </a:lnTo>
                <a:lnTo>
                  <a:pt x="0" y="2385"/>
                </a:lnTo>
                <a:lnTo>
                  <a:pt x="0" y="2373"/>
                </a:lnTo>
                <a:lnTo>
                  <a:pt x="12" y="2373"/>
                </a:lnTo>
                <a:close/>
                <a:moveTo>
                  <a:pt x="12" y="2397"/>
                </a:moveTo>
                <a:lnTo>
                  <a:pt x="12" y="2409"/>
                </a:lnTo>
                <a:lnTo>
                  <a:pt x="0" y="2409"/>
                </a:lnTo>
                <a:lnTo>
                  <a:pt x="0" y="2397"/>
                </a:lnTo>
                <a:lnTo>
                  <a:pt x="12" y="2397"/>
                </a:lnTo>
                <a:close/>
                <a:moveTo>
                  <a:pt x="12" y="2421"/>
                </a:moveTo>
                <a:lnTo>
                  <a:pt x="12" y="2433"/>
                </a:lnTo>
                <a:lnTo>
                  <a:pt x="0" y="2433"/>
                </a:lnTo>
                <a:lnTo>
                  <a:pt x="0" y="2421"/>
                </a:lnTo>
                <a:lnTo>
                  <a:pt x="12" y="2421"/>
                </a:lnTo>
                <a:close/>
                <a:moveTo>
                  <a:pt x="12" y="2445"/>
                </a:moveTo>
                <a:lnTo>
                  <a:pt x="12" y="2457"/>
                </a:lnTo>
                <a:lnTo>
                  <a:pt x="0" y="2457"/>
                </a:lnTo>
                <a:lnTo>
                  <a:pt x="0" y="2445"/>
                </a:lnTo>
                <a:lnTo>
                  <a:pt x="12" y="2445"/>
                </a:lnTo>
                <a:close/>
                <a:moveTo>
                  <a:pt x="12" y="2469"/>
                </a:moveTo>
                <a:lnTo>
                  <a:pt x="12" y="2481"/>
                </a:lnTo>
                <a:lnTo>
                  <a:pt x="0" y="2481"/>
                </a:lnTo>
                <a:lnTo>
                  <a:pt x="0" y="2469"/>
                </a:lnTo>
                <a:lnTo>
                  <a:pt x="12" y="2469"/>
                </a:lnTo>
                <a:close/>
                <a:moveTo>
                  <a:pt x="12" y="2493"/>
                </a:moveTo>
                <a:lnTo>
                  <a:pt x="12" y="2505"/>
                </a:lnTo>
                <a:lnTo>
                  <a:pt x="0" y="2505"/>
                </a:lnTo>
                <a:lnTo>
                  <a:pt x="0" y="2493"/>
                </a:lnTo>
                <a:lnTo>
                  <a:pt x="12" y="2493"/>
                </a:lnTo>
                <a:close/>
                <a:moveTo>
                  <a:pt x="12" y="2517"/>
                </a:moveTo>
                <a:lnTo>
                  <a:pt x="12" y="2529"/>
                </a:lnTo>
                <a:lnTo>
                  <a:pt x="0" y="2529"/>
                </a:lnTo>
                <a:lnTo>
                  <a:pt x="0" y="2517"/>
                </a:lnTo>
                <a:lnTo>
                  <a:pt x="12" y="2517"/>
                </a:lnTo>
                <a:close/>
                <a:moveTo>
                  <a:pt x="12" y="2541"/>
                </a:moveTo>
                <a:lnTo>
                  <a:pt x="12" y="2553"/>
                </a:lnTo>
                <a:lnTo>
                  <a:pt x="0" y="2553"/>
                </a:lnTo>
                <a:lnTo>
                  <a:pt x="0" y="2541"/>
                </a:lnTo>
                <a:lnTo>
                  <a:pt x="12" y="2541"/>
                </a:lnTo>
                <a:close/>
              </a:path>
            </a:pathLst>
          </a:custGeom>
          <a:solidFill>
            <a:srgbClr val="000000"/>
          </a:solidFill>
          <a:ln w="0" cap="flat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145" name="Freeform 142">
            <a:extLst>
              <a:ext uri="{FF2B5EF4-FFF2-40B4-BE49-F238E27FC236}">
                <a16:creationId xmlns:a16="http://schemas.microsoft.com/office/drawing/2014/main" id="{7CF95CBA-6161-4392-B291-7496E28EA46D}"/>
              </a:ext>
            </a:extLst>
          </p:cNvPr>
          <p:cNvSpPr>
            <a:spLocks noEditPoints="1"/>
          </p:cNvSpPr>
          <p:nvPr/>
        </p:nvSpPr>
        <p:spPr bwMode="auto">
          <a:xfrm>
            <a:off x="3189288" y="2289175"/>
            <a:ext cx="18000" cy="4032000"/>
          </a:xfrm>
          <a:custGeom>
            <a:avLst/>
            <a:gdLst>
              <a:gd name="T0" fmla="*/ 0 w 12"/>
              <a:gd name="T1" fmla="*/ 25 h 2553"/>
              <a:gd name="T2" fmla="*/ 0 w 12"/>
              <a:gd name="T3" fmla="*/ 84 h 2553"/>
              <a:gd name="T4" fmla="*/ 12 w 12"/>
              <a:gd name="T5" fmla="*/ 132 h 2553"/>
              <a:gd name="T6" fmla="*/ 12 w 12"/>
              <a:gd name="T7" fmla="*/ 168 h 2553"/>
              <a:gd name="T8" fmla="*/ 12 w 12"/>
              <a:gd name="T9" fmla="*/ 192 h 2553"/>
              <a:gd name="T10" fmla="*/ 0 w 12"/>
              <a:gd name="T11" fmla="*/ 240 h 2553"/>
              <a:gd name="T12" fmla="*/ 0 w 12"/>
              <a:gd name="T13" fmla="*/ 300 h 2553"/>
              <a:gd name="T14" fmla="*/ 12 w 12"/>
              <a:gd name="T15" fmla="*/ 348 h 2553"/>
              <a:gd name="T16" fmla="*/ 12 w 12"/>
              <a:gd name="T17" fmla="*/ 384 h 2553"/>
              <a:gd name="T18" fmla="*/ 12 w 12"/>
              <a:gd name="T19" fmla="*/ 408 h 2553"/>
              <a:gd name="T20" fmla="*/ 0 w 12"/>
              <a:gd name="T21" fmla="*/ 456 h 2553"/>
              <a:gd name="T22" fmla="*/ 0 w 12"/>
              <a:gd name="T23" fmla="*/ 516 h 2553"/>
              <a:gd name="T24" fmla="*/ 12 w 12"/>
              <a:gd name="T25" fmla="*/ 564 h 2553"/>
              <a:gd name="T26" fmla="*/ 12 w 12"/>
              <a:gd name="T27" fmla="*/ 600 h 2553"/>
              <a:gd name="T28" fmla="*/ 12 w 12"/>
              <a:gd name="T29" fmla="*/ 624 h 2553"/>
              <a:gd name="T30" fmla="*/ 0 w 12"/>
              <a:gd name="T31" fmla="*/ 672 h 2553"/>
              <a:gd name="T32" fmla="*/ 0 w 12"/>
              <a:gd name="T33" fmla="*/ 731 h 2553"/>
              <a:gd name="T34" fmla="*/ 12 w 12"/>
              <a:gd name="T35" fmla="*/ 779 h 2553"/>
              <a:gd name="T36" fmla="*/ 12 w 12"/>
              <a:gd name="T37" fmla="*/ 815 h 2553"/>
              <a:gd name="T38" fmla="*/ 12 w 12"/>
              <a:gd name="T39" fmla="*/ 839 h 2553"/>
              <a:gd name="T40" fmla="*/ 0 w 12"/>
              <a:gd name="T41" fmla="*/ 887 h 2553"/>
              <a:gd name="T42" fmla="*/ 0 w 12"/>
              <a:gd name="T43" fmla="*/ 947 h 2553"/>
              <a:gd name="T44" fmla="*/ 12 w 12"/>
              <a:gd name="T45" fmla="*/ 995 h 2553"/>
              <a:gd name="T46" fmla="*/ 12 w 12"/>
              <a:gd name="T47" fmla="*/ 1031 h 2553"/>
              <a:gd name="T48" fmla="*/ 12 w 12"/>
              <a:gd name="T49" fmla="*/ 1055 h 2553"/>
              <a:gd name="T50" fmla="*/ 0 w 12"/>
              <a:gd name="T51" fmla="*/ 1103 h 2553"/>
              <a:gd name="T52" fmla="*/ 0 w 12"/>
              <a:gd name="T53" fmla="*/ 1163 h 2553"/>
              <a:gd name="T54" fmla="*/ 12 w 12"/>
              <a:gd name="T55" fmla="*/ 1211 h 2553"/>
              <a:gd name="T56" fmla="*/ 12 w 12"/>
              <a:gd name="T57" fmla="*/ 1247 h 2553"/>
              <a:gd name="T58" fmla="*/ 12 w 12"/>
              <a:gd name="T59" fmla="*/ 1271 h 2553"/>
              <a:gd name="T60" fmla="*/ 0 w 12"/>
              <a:gd name="T61" fmla="*/ 1319 h 2553"/>
              <a:gd name="T62" fmla="*/ 0 w 12"/>
              <a:gd name="T63" fmla="*/ 1378 h 2553"/>
              <a:gd name="T64" fmla="*/ 12 w 12"/>
              <a:gd name="T65" fmla="*/ 1426 h 2553"/>
              <a:gd name="T66" fmla="*/ 12 w 12"/>
              <a:gd name="T67" fmla="*/ 1462 h 2553"/>
              <a:gd name="T68" fmla="*/ 12 w 12"/>
              <a:gd name="T69" fmla="*/ 1486 h 2553"/>
              <a:gd name="T70" fmla="*/ 0 w 12"/>
              <a:gd name="T71" fmla="*/ 1534 h 2553"/>
              <a:gd name="T72" fmla="*/ 0 w 12"/>
              <a:gd name="T73" fmla="*/ 1594 h 2553"/>
              <a:gd name="T74" fmla="*/ 12 w 12"/>
              <a:gd name="T75" fmla="*/ 1642 h 2553"/>
              <a:gd name="T76" fmla="*/ 12 w 12"/>
              <a:gd name="T77" fmla="*/ 1678 h 2553"/>
              <a:gd name="T78" fmla="*/ 12 w 12"/>
              <a:gd name="T79" fmla="*/ 1702 h 2553"/>
              <a:gd name="T80" fmla="*/ 0 w 12"/>
              <a:gd name="T81" fmla="*/ 1750 h 2553"/>
              <a:gd name="T82" fmla="*/ 0 w 12"/>
              <a:gd name="T83" fmla="*/ 1810 h 2553"/>
              <a:gd name="T84" fmla="*/ 12 w 12"/>
              <a:gd name="T85" fmla="*/ 1858 h 2553"/>
              <a:gd name="T86" fmla="*/ 12 w 12"/>
              <a:gd name="T87" fmla="*/ 1894 h 2553"/>
              <a:gd name="T88" fmla="*/ 12 w 12"/>
              <a:gd name="T89" fmla="*/ 1918 h 2553"/>
              <a:gd name="T90" fmla="*/ 0 w 12"/>
              <a:gd name="T91" fmla="*/ 1966 h 2553"/>
              <a:gd name="T92" fmla="*/ 0 w 12"/>
              <a:gd name="T93" fmla="*/ 2025 h 2553"/>
              <a:gd name="T94" fmla="*/ 12 w 12"/>
              <a:gd name="T95" fmla="*/ 2074 h 2553"/>
              <a:gd name="T96" fmla="*/ 12 w 12"/>
              <a:gd name="T97" fmla="*/ 2109 h 2553"/>
              <a:gd name="T98" fmla="*/ 12 w 12"/>
              <a:gd name="T99" fmla="*/ 2133 h 2553"/>
              <a:gd name="T100" fmla="*/ 0 w 12"/>
              <a:gd name="T101" fmla="*/ 2181 h 2553"/>
              <a:gd name="T102" fmla="*/ 0 w 12"/>
              <a:gd name="T103" fmla="*/ 2241 h 2553"/>
              <a:gd name="T104" fmla="*/ 12 w 12"/>
              <a:gd name="T105" fmla="*/ 2289 h 2553"/>
              <a:gd name="T106" fmla="*/ 12 w 12"/>
              <a:gd name="T107" fmla="*/ 2325 h 2553"/>
              <a:gd name="T108" fmla="*/ 12 w 12"/>
              <a:gd name="T109" fmla="*/ 2349 h 2553"/>
              <a:gd name="T110" fmla="*/ 0 w 12"/>
              <a:gd name="T111" fmla="*/ 2397 h 2553"/>
              <a:gd name="T112" fmla="*/ 0 w 12"/>
              <a:gd name="T113" fmla="*/ 2457 h 2553"/>
              <a:gd name="T114" fmla="*/ 12 w 12"/>
              <a:gd name="T115" fmla="*/ 2505 h 2553"/>
              <a:gd name="T116" fmla="*/ 12 w 12"/>
              <a:gd name="T117" fmla="*/ 2541 h 25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12" h="2553">
                <a:moveTo>
                  <a:pt x="12" y="0"/>
                </a:moveTo>
                <a:lnTo>
                  <a:pt x="12" y="13"/>
                </a:lnTo>
                <a:lnTo>
                  <a:pt x="0" y="13"/>
                </a:lnTo>
                <a:lnTo>
                  <a:pt x="0" y="0"/>
                </a:lnTo>
                <a:lnTo>
                  <a:pt x="12" y="0"/>
                </a:lnTo>
                <a:close/>
                <a:moveTo>
                  <a:pt x="12" y="25"/>
                </a:moveTo>
                <a:lnTo>
                  <a:pt x="12" y="36"/>
                </a:lnTo>
                <a:lnTo>
                  <a:pt x="0" y="36"/>
                </a:lnTo>
                <a:lnTo>
                  <a:pt x="0" y="25"/>
                </a:lnTo>
                <a:lnTo>
                  <a:pt x="12" y="25"/>
                </a:lnTo>
                <a:close/>
                <a:moveTo>
                  <a:pt x="12" y="48"/>
                </a:moveTo>
                <a:lnTo>
                  <a:pt x="12" y="61"/>
                </a:lnTo>
                <a:lnTo>
                  <a:pt x="0" y="61"/>
                </a:lnTo>
                <a:lnTo>
                  <a:pt x="0" y="48"/>
                </a:lnTo>
                <a:lnTo>
                  <a:pt x="12" y="48"/>
                </a:lnTo>
                <a:close/>
                <a:moveTo>
                  <a:pt x="12" y="72"/>
                </a:moveTo>
                <a:lnTo>
                  <a:pt x="12" y="84"/>
                </a:lnTo>
                <a:lnTo>
                  <a:pt x="0" y="84"/>
                </a:lnTo>
                <a:lnTo>
                  <a:pt x="0" y="72"/>
                </a:lnTo>
                <a:lnTo>
                  <a:pt x="12" y="72"/>
                </a:lnTo>
                <a:close/>
                <a:moveTo>
                  <a:pt x="12" y="96"/>
                </a:moveTo>
                <a:lnTo>
                  <a:pt x="12" y="108"/>
                </a:lnTo>
                <a:lnTo>
                  <a:pt x="0" y="108"/>
                </a:lnTo>
                <a:lnTo>
                  <a:pt x="0" y="96"/>
                </a:lnTo>
                <a:lnTo>
                  <a:pt x="12" y="96"/>
                </a:lnTo>
                <a:close/>
                <a:moveTo>
                  <a:pt x="12" y="120"/>
                </a:moveTo>
                <a:lnTo>
                  <a:pt x="12" y="132"/>
                </a:lnTo>
                <a:lnTo>
                  <a:pt x="0" y="132"/>
                </a:lnTo>
                <a:lnTo>
                  <a:pt x="0" y="120"/>
                </a:lnTo>
                <a:lnTo>
                  <a:pt x="12" y="120"/>
                </a:lnTo>
                <a:close/>
                <a:moveTo>
                  <a:pt x="12" y="144"/>
                </a:moveTo>
                <a:lnTo>
                  <a:pt x="12" y="156"/>
                </a:lnTo>
                <a:lnTo>
                  <a:pt x="0" y="156"/>
                </a:lnTo>
                <a:lnTo>
                  <a:pt x="0" y="144"/>
                </a:lnTo>
                <a:lnTo>
                  <a:pt x="12" y="144"/>
                </a:lnTo>
                <a:close/>
                <a:moveTo>
                  <a:pt x="12" y="168"/>
                </a:moveTo>
                <a:lnTo>
                  <a:pt x="12" y="180"/>
                </a:lnTo>
                <a:lnTo>
                  <a:pt x="0" y="180"/>
                </a:lnTo>
                <a:lnTo>
                  <a:pt x="0" y="168"/>
                </a:lnTo>
                <a:lnTo>
                  <a:pt x="12" y="168"/>
                </a:lnTo>
                <a:close/>
                <a:moveTo>
                  <a:pt x="12" y="192"/>
                </a:moveTo>
                <a:lnTo>
                  <a:pt x="12" y="204"/>
                </a:lnTo>
                <a:lnTo>
                  <a:pt x="0" y="204"/>
                </a:lnTo>
                <a:lnTo>
                  <a:pt x="0" y="192"/>
                </a:lnTo>
                <a:lnTo>
                  <a:pt x="12" y="192"/>
                </a:lnTo>
                <a:close/>
                <a:moveTo>
                  <a:pt x="12" y="216"/>
                </a:moveTo>
                <a:lnTo>
                  <a:pt x="12" y="228"/>
                </a:lnTo>
                <a:lnTo>
                  <a:pt x="0" y="228"/>
                </a:lnTo>
                <a:lnTo>
                  <a:pt x="0" y="216"/>
                </a:lnTo>
                <a:lnTo>
                  <a:pt x="12" y="216"/>
                </a:lnTo>
                <a:close/>
                <a:moveTo>
                  <a:pt x="12" y="240"/>
                </a:moveTo>
                <a:lnTo>
                  <a:pt x="12" y="252"/>
                </a:lnTo>
                <a:lnTo>
                  <a:pt x="0" y="252"/>
                </a:lnTo>
                <a:lnTo>
                  <a:pt x="0" y="240"/>
                </a:lnTo>
                <a:lnTo>
                  <a:pt x="12" y="240"/>
                </a:lnTo>
                <a:close/>
                <a:moveTo>
                  <a:pt x="12" y="264"/>
                </a:moveTo>
                <a:lnTo>
                  <a:pt x="12" y="276"/>
                </a:lnTo>
                <a:lnTo>
                  <a:pt x="0" y="276"/>
                </a:lnTo>
                <a:lnTo>
                  <a:pt x="0" y="264"/>
                </a:lnTo>
                <a:lnTo>
                  <a:pt x="12" y="264"/>
                </a:lnTo>
                <a:close/>
                <a:moveTo>
                  <a:pt x="12" y="288"/>
                </a:moveTo>
                <a:lnTo>
                  <a:pt x="12" y="300"/>
                </a:lnTo>
                <a:lnTo>
                  <a:pt x="0" y="300"/>
                </a:lnTo>
                <a:lnTo>
                  <a:pt x="0" y="288"/>
                </a:lnTo>
                <a:lnTo>
                  <a:pt x="12" y="288"/>
                </a:lnTo>
                <a:close/>
                <a:moveTo>
                  <a:pt x="12" y="312"/>
                </a:moveTo>
                <a:lnTo>
                  <a:pt x="12" y="324"/>
                </a:lnTo>
                <a:lnTo>
                  <a:pt x="0" y="324"/>
                </a:lnTo>
                <a:lnTo>
                  <a:pt x="0" y="312"/>
                </a:lnTo>
                <a:lnTo>
                  <a:pt x="12" y="312"/>
                </a:lnTo>
                <a:close/>
                <a:moveTo>
                  <a:pt x="12" y="336"/>
                </a:moveTo>
                <a:lnTo>
                  <a:pt x="12" y="348"/>
                </a:lnTo>
                <a:lnTo>
                  <a:pt x="0" y="348"/>
                </a:lnTo>
                <a:lnTo>
                  <a:pt x="0" y="336"/>
                </a:lnTo>
                <a:lnTo>
                  <a:pt x="12" y="336"/>
                </a:lnTo>
                <a:close/>
                <a:moveTo>
                  <a:pt x="12" y="360"/>
                </a:moveTo>
                <a:lnTo>
                  <a:pt x="12" y="372"/>
                </a:lnTo>
                <a:lnTo>
                  <a:pt x="0" y="372"/>
                </a:lnTo>
                <a:lnTo>
                  <a:pt x="0" y="360"/>
                </a:lnTo>
                <a:lnTo>
                  <a:pt x="12" y="360"/>
                </a:lnTo>
                <a:close/>
                <a:moveTo>
                  <a:pt x="12" y="384"/>
                </a:moveTo>
                <a:lnTo>
                  <a:pt x="12" y="396"/>
                </a:lnTo>
                <a:lnTo>
                  <a:pt x="0" y="396"/>
                </a:lnTo>
                <a:lnTo>
                  <a:pt x="0" y="384"/>
                </a:lnTo>
                <a:lnTo>
                  <a:pt x="12" y="384"/>
                </a:lnTo>
                <a:close/>
                <a:moveTo>
                  <a:pt x="12" y="408"/>
                </a:moveTo>
                <a:lnTo>
                  <a:pt x="12" y="420"/>
                </a:lnTo>
                <a:lnTo>
                  <a:pt x="0" y="420"/>
                </a:lnTo>
                <a:lnTo>
                  <a:pt x="0" y="408"/>
                </a:lnTo>
                <a:lnTo>
                  <a:pt x="12" y="408"/>
                </a:lnTo>
                <a:close/>
                <a:moveTo>
                  <a:pt x="12" y="432"/>
                </a:moveTo>
                <a:lnTo>
                  <a:pt x="12" y="444"/>
                </a:lnTo>
                <a:lnTo>
                  <a:pt x="0" y="444"/>
                </a:lnTo>
                <a:lnTo>
                  <a:pt x="0" y="432"/>
                </a:lnTo>
                <a:lnTo>
                  <a:pt x="12" y="432"/>
                </a:lnTo>
                <a:close/>
                <a:moveTo>
                  <a:pt x="12" y="456"/>
                </a:moveTo>
                <a:lnTo>
                  <a:pt x="12" y="468"/>
                </a:lnTo>
                <a:lnTo>
                  <a:pt x="0" y="468"/>
                </a:lnTo>
                <a:lnTo>
                  <a:pt x="0" y="456"/>
                </a:lnTo>
                <a:lnTo>
                  <a:pt x="12" y="456"/>
                </a:lnTo>
                <a:close/>
                <a:moveTo>
                  <a:pt x="12" y="480"/>
                </a:moveTo>
                <a:lnTo>
                  <a:pt x="12" y="492"/>
                </a:lnTo>
                <a:lnTo>
                  <a:pt x="0" y="492"/>
                </a:lnTo>
                <a:lnTo>
                  <a:pt x="0" y="480"/>
                </a:lnTo>
                <a:lnTo>
                  <a:pt x="12" y="480"/>
                </a:lnTo>
                <a:close/>
                <a:moveTo>
                  <a:pt x="12" y="504"/>
                </a:moveTo>
                <a:lnTo>
                  <a:pt x="12" y="516"/>
                </a:lnTo>
                <a:lnTo>
                  <a:pt x="0" y="516"/>
                </a:lnTo>
                <a:lnTo>
                  <a:pt x="0" y="504"/>
                </a:lnTo>
                <a:lnTo>
                  <a:pt x="12" y="504"/>
                </a:lnTo>
                <a:close/>
                <a:moveTo>
                  <a:pt x="12" y="528"/>
                </a:moveTo>
                <a:lnTo>
                  <a:pt x="12" y="540"/>
                </a:lnTo>
                <a:lnTo>
                  <a:pt x="0" y="540"/>
                </a:lnTo>
                <a:lnTo>
                  <a:pt x="0" y="528"/>
                </a:lnTo>
                <a:lnTo>
                  <a:pt x="12" y="528"/>
                </a:lnTo>
                <a:close/>
                <a:moveTo>
                  <a:pt x="12" y="552"/>
                </a:moveTo>
                <a:lnTo>
                  <a:pt x="12" y="564"/>
                </a:lnTo>
                <a:lnTo>
                  <a:pt x="0" y="564"/>
                </a:lnTo>
                <a:lnTo>
                  <a:pt x="0" y="552"/>
                </a:lnTo>
                <a:lnTo>
                  <a:pt x="12" y="552"/>
                </a:lnTo>
                <a:close/>
                <a:moveTo>
                  <a:pt x="12" y="576"/>
                </a:moveTo>
                <a:lnTo>
                  <a:pt x="12" y="588"/>
                </a:lnTo>
                <a:lnTo>
                  <a:pt x="0" y="588"/>
                </a:lnTo>
                <a:lnTo>
                  <a:pt x="0" y="576"/>
                </a:lnTo>
                <a:lnTo>
                  <a:pt x="12" y="576"/>
                </a:lnTo>
                <a:close/>
                <a:moveTo>
                  <a:pt x="12" y="600"/>
                </a:moveTo>
                <a:lnTo>
                  <a:pt x="12" y="612"/>
                </a:lnTo>
                <a:lnTo>
                  <a:pt x="0" y="612"/>
                </a:lnTo>
                <a:lnTo>
                  <a:pt x="0" y="600"/>
                </a:lnTo>
                <a:lnTo>
                  <a:pt x="12" y="600"/>
                </a:lnTo>
                <a:close/>
                <a:moveTo>
                  <a:pt x="12" y="624"/>
                </a:moveTo>
                <a:lnTo>
                  <a:pt x="12" y="636"/>
                </a:lnTo>
                <a:lnTo>
                  <a:pt x="0" y="636"/>
                </a:lnTo>
                <a:lnTo>
                  <a:pt x="0" y="624"/>
                </a:lnTo>
                <a:lnTo>
                  <a:pt x="12" y="624"/>
                </a:lnTo>
                <a:close/>
                <a:moveTo>
                  <a:pt x="12" y="647"/>
                </a:moveTo>
                <a:lnTo>
                  <a:pt x="12" y="660"/>
                </a:lnTo>
                <a:lnTo>
                  <a:pt x="0" y="660"/>
                </a:lnTo>
                <a:lnTo>
                  <a:pt x="0" y="647"/>
                </a:lnTo>
                <a:lnTo>
                  <a:pt x="12" y="647"/>
                </a:lnTo>
                <a:close/>
                <a:moveTo>
                  <a:pt x="12" y="672"/>
                </a:moveTo>
                <a:lnTo>
                  <a:pt x="12" y="683"/>
                </a:lnTo>
                <a:lnTo>
                  <a:pt x="0" y="683"/>
                </a:lnTo>
                <a:lnTo>
                  <a:pt x="0" y="672"/>
                </a:lnTo>
                <a:lnTo>
                  <a:pt x="12" y="672"/>
                </a:lnTo>
                <a:close/>
                <a:moveTo>
                  <a:pt x="12" y="695"/>
                </a:moveTo>
                <a:lnTo>
                  <a:pt x="12" y="708"/>
                </a:lnTo>
                <a:lnTo>
                  <a:pt x="0" y="708"/>
                </a:lnTo>
                <a:lnTo>
                  <a:pt x="0" y="695"/>
                </a:lnTo>
                <a:lnTo>
                  <a:pt x="12" y="695"/>
                </a:lnTo>
                <a:close/>
                <a:moveTo>
                  <a:pt x="12" y="719"/>
                </a:moveTo>
                <a:lnTo>
                  <a:pt x="12" y="731"/>
                </a:lnTo>
                <a:lnTo>
                  <a:pt x="0" y="731"/>
                </a:lnTo>
                <a:lnTo>
                  <a:pt x="0" y="719"/>
                </a:lnTo>
                <a:lnTo>
                  <a:pt x="12" y="719"/>
                </a:lnTo>
                <a:close/>
                <a:moveTo>
                  <a:pt x="12" y="744"/>
                </a:moveTo>
                <a:lnTo>
                  <a:pt x="12" y="755"/>
                </a:lnTo>
                <a:lnTo>
                  <a:pt x="0" y="755"/>
                </a:lnTo>
                <a:lnTo>
                  <a:pt x="0" y="744"/>
                </a:lnTo>
                <a:lnTo>
                  <a:pt x="12" y="744"/>
                </a:lnTo>
                <a:close/>
                <a:moveTo>
                  <a:pt x="12" y="767"/>
                </a:moveTo>
                <a:lnTo>
                  <a:pt x="12" y="779"/>
                </a:lnTo>
                <a:lnTo>
                  <a:pt x="0" y="779"/>
                </a:lnTo>
                <a:lnTo>
                  <a:pt x="0" y="767"/>
                </a:lnTo>
                <a:lnTo>
                  <a:pt x="12" y="767"/>
                </a:lnTo>
                <a:close/>
                <a:moveTo>
                  <a:pt x="12" y="791"/>
                </a:moveTo>
                <a:lnTo>
                  <a:pt x="12" y="803"/>
                </a:lnTo>
                <a:lnTo>
                  <a:pt x="0" y="803"/>
                </a:lnTo>
                <a:lnTo>
                  <a:pt x="0" y="791"/>
                </a:lnTo>
                <a:lnTo>
                  <a:pt x="12" y="791"/>
                </a:lnTo>
                <a:close/>
                <a:moveTo>
                  <a:pt x="12" y="815"/>
                </a:moveTo>
                <a:lnTo>
                  <a:pt x="12" y="827"/>
                </a:lnTo>
                <a:lnTo>
                  <a:pt x="0" y="827"/>
                </a:lnTo>
                <a:lnTo>
                  <a:pt x="0" y="815"/>
                </a:lnTo>
                <a:lnTo>
                  <a:pt x="12" y="815"/>
                </a:lnTo>
                <a:close/>
                <a:moveTo>
                  <a:pt x="12" y="839"/>
                </a:moveTo>
                <a:lnTo>
                  <a:pt x="12" y="851"/>
                </a:lnTo>
                <a:lnTo>
                  <a:pt x="0" y="851"/>
                </a:lnTo>
                <a:lnTo>
                  <a:pt x="0" y="839"/>
                </a:lnTo>
                <a:lnTo>
                  <a:pt x="12" y="839"/>
                </a:lnTo>
                <a:close/>
                <a:moveTo>
                  <a:pt x="12" y="863"/>
                </a:moveTo>
                <a:lnTo>
                  <a:pt x="12" y="875"/>
                </a:lnTo>
                <a:lnTo>
                  <a:pt x="0" y="875"/>
                </a:lnTo>
                <a:lnTo>
                  <a:pt x="0" y="863"/>
                </a:lnTo>
                <a:lnTo>
                  <a:pt x="12" y="863"/>
                </a:lnTo>
                <a:close/>
                <a:moveTo>
                  <a:pt x="12" y="887"/>
                </a:moveTo>
                <a:lnTo>
                  <a:pt x="12" y="899"/>
                </a:lnTo>
                <a:lnTo>
                  <a:pt x="0" y="899"/>
                </a:lnTo>
                <a:lnTo>
                  <a:pt x="0" y="887"/>
                </a:lnTo>
                <a:lnTo>
                  <a:pt x="12" y="887"/>
                </a:lnTo>
                <a:close/>
                <a:moveTo>
                  <a:pt x="12" y="911"/>
                </a:moveTo>
                <a:lnTo>
                  <a:pt x="12" y="923"/>
                </a:lnTo>
                <a:lnTo>
                  <a:pt x="0" y="923"/>
                </a:lnTo>
                <a:lnTo>
                  <a:pt x="0" y="911"/>
                </a:lnTo>
                <a:lnTo>
                  <a:pt x="12" y="911"/>
                </a:lnTo>
                <a:close/>
                <a:moveTo>
                  <a:pt x="12" y="935"/>
                </a:moveTo>
                <a:lnTo>
                  <a:pt x="12" y="947"/>
                </a:lnTo>
                <a:lnTo>
                  <a:pt x="0" y="947"/>
                </a:lnTo>
                <a:lnTo>
                  <a:pt x="0" y="935"/>
                </a:lnTo>
                <a:lnTo>
                  <a:pt x="12" y="935"/>
                </a:lnTo>
                <a:close/>
                <a:moveTo>
                  <a:pt x="12" y="959"/>
                </a:moveTo>
                <a:lnTo>
                  <a:pt x="12" y="971"/>
                </a:lnTo>
                <a:lnTo>
                  <a:pt x="0" y="971"/>
                </a:lnTo>
                <a:lnTo>
                  <a:pt x="0" y="959"/>
                </a:lnTo>
                <a:lnTo>
                  <a:pt x="12" y="959"/>
                </a:lnTo>
                <a:close/>
                <a:moveTo>
                  <a:pt x="12" y="983"/>
                </a:moveTo>
                <a:lnTo>
                  <a:pt x="12" y="995"/>
                </a:lnTo>
                <a:lnTo>
                  <a:pt x="0" y="995"/>
                </a:lnTo>
                <a:lnTo>
                  <a:pt x="0" y="983"/>
                </a:lnTo>
                <a:lnTo>
                  <a:pt x="12" y="983"/>
                </a:lnTo>
                <a:close/>
                <a:moveTo>
                  <a:pt x="12" y="1007"/>
                </a:moveTo>
                <a:lnTo>
                  <a:pt x="12" y="1019"/>
                </a:lnTo>
                <a:lnTo>
                  <a:pt x="0" y="1019"/>
                </a:lnTo>
                <a:lnTo>
                  <a:pt x="0" y="1007"/>
                </a:lnTo>
                <a:lnTo>
                  <a:pt x="12" y="1007"/>
                </a:lnTo>
                <a:close/>
                <a:moveTo>
                  <a:pt x="12" y="1031"/>
                </a:moveTo>
                <a:lnTo>
                  <a:pt x="12" y="1043"/>
                </a:lnTo>
                <a:lnTo>
                  <a:pt x="0" y="1043"/>
                </a:lnTo>
                <a:lnTo>
                  <a:pt x="0" y="1031"/>
                </a:lnTo>
                <a:lnTo>
                  <a:pt x="12" y="1031"/>
                </a:lnTo>
                <a:close/>
                <a:moveTo>
                  <a:pt x="12" y="1055"/>
                </a:moveTo>
                <a:lnTo>
                  <a:pt x="12" y="1067"/>
                </a:lnTo>
                <a:lnTo>
                  <a:pt x="0" y="1067"/>
                </a:lnTo>
                <a:lnTo>
                  <a:pt x="0" y="1055"/>
                </a:lnTo>
                <a:lnTo>
                  <a:pt x="12" y="1055"/>
                </a:lnTo>
                <a:close/>
                <a:moveTo>
                  <a:pt x="12" y="1079"/>
                </a:moveTo>
                <a:lnTo>
                  <a:pt x="12" y="1091"/>
                </a:lnTo>
                <a:lnTo>
                  <a:pt x="0" y="1091"/>
                </a:lnTo>
                <a:lnTo>
                  <a:pt x="0" y="1079"/>
                </a:lnTo>
                <a:lnTo>
                  <a:pt x="12" y="1079"/>
                </a:lnTo>
                <a:close/>
                <a:moveTo>
                  <a:pt x="12" y="1103"/>
                </a:moveTo>
                <a:lnTo>
                  <a:pt x="12" y="1115"/>
                </a:lnTo>
                <a:lnTo>
                  <a:pt x="0" y="1115"/>
                </a:lnTo>
                <a:lnTo>
                  <a:pt x="0" y="1103"/>
                </a:lnTo>
                <a:lnTo>
                  <a:pt x="12" y="1103"/>
                </a:lnTo>
                <a:close/>
                <a:moveTo>
                  <a:pt x="12" y="1127"/>
                </a:moveTo>
                <a:lnTo>
                  <a:pt x="12" y="1139"/>
                </a:lnTo>
                <a:lnTo>
                  <a:pt x="0" y="1139"/>
                </a:lnTo>
                <a:lnTo>
                  <a:pt x="0" y="1127"/>
                </a:lnTo>
                <a:lnTo>
                  <a:pt x="12" y="1127"/>
                </a:lnTo>
                <a:close/>
                <a:moveTo>
                  <a:pt x="12" y="1151"/>
                </a:moveTo>
                <a:lnTo>
                  <a:pt x="12" y="1163"/>
                </a:lnTo>
                <a:lnTo>
                  <a:pt x="0" y="1163"/>
                </a:lnTo>
                <a:lnTo>
                  <a:pt x="0" y="1151"/>
                </a:lnTo>
                <a:lnTo>
                  <a:pt x="12" y="1151"/>
                </a:lnTo>
                <a:close/>
                <a:moveTo>
                  <a:pt x="12" y="1175"/>
                </a:moveTo>
                <a:lnTo>
                  <a:pt x="12" y="1187"/>
                </a:lnTo>
                <a:lnTo>
                  <a:pt x="0" y="1187"/>
                </a:lnTo>
                <a:lnTo>
                  <a:pt x="0" y="1175"/>
                </a:lnTo>
                <a:lnTo>
                  <a:pt x="12" y="1175"/>
                </a:lnTo>
                <a:close/>
                <a:moveTo>
                  <a:pt x="12" y="1199"/>
                </a:moveTo>
                <a:lnTo>
                  <a:pt x="12" y="1211"/>
                </a:lnTo>
                <a:lnTo>
                  <a:pt x="0" y="1211"/>
                </a:lnTo>
                <a:lnTo>
                  <a:pt x="0" y="1199"/>
                </a:lnTo>
                <a:lnTo>
                  <a:pt x="12" y="1199"/>
                </a:lnTo>
                <a:close/>
                <a:moveTo>
                  <a:pt x="12" y="1223"/>
                </a:moveTo>
                <a:lnTo>
                  <a:pt x="12" y="1235"/>
                </a:lnTo>
                <a:lnTo>
                  <a:pt x="0" y="1235"/>
                </a:lnTo>
                <a:lnTo>
                  <a:pt x="0" y="1223"/>
                </a:lnTo>
                <a:lnTo>
                  <a:pt x="12" y="1223"/>
                </a:lnTo>
                <a:close/>
                <a:moveTo>
                  <a:pt x="12" y="1247"/>
                </a:moveTo>
                <a:lnTo>
                  <a:pt x="12" y="1259"/>
                </a:lnTo>
                <a:lnTo>
                  <a:pt x="0" y="1259"/>
                </a:lnTo>
                <a:lnTo>
                  <a:pt x="0" y="1247"/>
                </a:lnTo>
                <a:lnTo>
                  <a:pt x="12" y="1247"/>
                </a:lnTo>
                <a:close/>
                <a:moveTo>
                  <a:pt x="12" y="1271"/>
                </a:moveTo>
                <a:lnTo>
                  <a:pt x="12" y="1283"/>
                </a:lnTo>
                <a:lnTo>
                  <a:pt x="0" y="1283"/>
                </a:lnTo>
                <a:lnTo>
                  <a:pt x="0" y="1271"/>
                </a:lnTo>
                <a:lnTo>
                  <a:pt x="12" y="1271"/>
                </a:lnTo>
                <a:close/>
                <a:moveTo>
                  <a:pt x="12" y="1295"/>
                </a:moveTo>
                <a:lnTo>
                  <a:pt x="12" y="1307"/>
                </a:lnTo>
                <a:lnTo>
                  <a:pt x="0" y="1307"/>
                </a:lnTo>
                <a:lnTo>
                  <a:pt x="0" y="1295"/>
                </a:lnTo>
                <a:lnTo>
                  <a:pt x="12" y="1295"/>
                </a:lnTo>
                <a:close/>
                <a:moveTo>
                  <a:pt x="12" y="1319"/>
                </a:moveTo>
                <a:lnTo>
                  <a:pt x="12" y="1330"/>
                </a:lnTo>
                <a:lnTo>
                  <a:pt x="0" y="1330"/>
                </a:lnTo>
                <a:lnTo>
                  <a:pt x="0" y="1319"/>
                </a:lnTo>
                <a:lnTo>
                  <a:pt x="12" y="1319"/>
                </a:lnTo>
                <a:close/>
                <a:moveTo>
                  <a:pt x="12" y="1343"/>
                </a:moveTo>
                <a:lnTo>
                  <a:pt x="12" y="1355"/>
                </a:lnTo>
                <a:lnTo>
                  <a:pt x="0" y="1355"/>
                </a:lnTo>
                <a:lnTo>
                  <a:pt x="0" y="1343"/>
                </a:lnTo>
                <a:lnTo>
                  <a:pt x="12" y="1343"/>
                </a:lnTo>
                <a:close/>
                <a:moveTo>
                  <a:pt x="12" y="1366"/>
                </a:moveTo>
                <a:lnTo>
                  <a:pt x="12" y="1378"/>
                </a:lnTo>
                <a:lnTo>
                  <a:pt x="0" y="1378"/>
                </a:lnTo>
                <a:lnTo>
                  <a:pt x="0" y="1366"/>
                </a:lnTo>
                <a:lnTo>
                  <a:pt x="12" y="1366"/>
                </a:lnTo>
                <a:close/>
                <a:moveTo>
                  <a:pt x="12" y="1391"/>
                </a:moveTo>
                <a:lnTo>
                  <a:pt x="12" y="1402"/>
                </a:lnTo>
                <a:lnTo>
                  <a:pt x="0" y="1402"/>
                </a:lnTo>
                <a:lnTo>
                  <a:pt x="0" y="1391"/>
                </a:lnTo>
                <a:lnTo>
                  <a:pt x="12" y="1391"/>
                </a:lnTo>
                <a:close/>
                <a:moveTo>
                  <a:pt x="12" y="1414"/>
                </a:moveTo>
                <a:lnTo>
                  <a:pt x="12" y="1426"/>
                </a:lnTo>
                <a:lnTo>
                  <a:pt x="0" y="1426"/>
                </a:lnTo>
                <a:lnTo>
                  <a:pt x="0" y="1414"/>
                </a:lnTo>
                <a:lnTo>
                  <a:pt x="12" y="1414"/>
                </a:lnTo>
                <a:close/>
                <a:moveTo>
                  <a:pt x="12" y="1438"/>
                </a:moveTo>
                <a:lnTo>
                  <a:pt x="12" y="1450"/>
                </a:lnTo>
                <a:lnTo>
                  <a:pt x="0" y="1450"/>
                </a:lnTo>
                <a:lnTo>
                  <a:pt x="0" y="1438"/>
                </a:lnTo>
                <a:lnTo>
                  <a:pt x="12" y="1438"/>
                </a:lnTo>
                <a:close/>
                <a:moveTo>
                  <a:pt x="12" y="1462"/>
                </a:moveTo>
                <a:lnTo>
                  <a:pt x="12" y="1474"/>
                </a:lnTo>
                <a:lnTo>
                  <a:pt x="0" y="1474"/>
                </a:lnTo>
                <a:lnTo>
                  <a:pt x="0" y="1462"/>
                </a:lnTo>
                <a:lnTo>
                  <a:pt x="12" y="1462"/>
                </a:lnTo>
                <a:close/>
                <a:moveTo>
                  <a:pt x="12" y="1486"/>
                </a:moveTo>
                <a:lnTo>
                  <a:pt x="12" y="1498"/>
                </a:lnTo>
                <a:lnTo>
                  <a:pt x="0" y="1498"/>
                </a:lnTo>
                <a:lnTo>
                  <a:pt x="0" y="1486"/>
                </a:lnTo>
                <a:lnTo>
                  <a:pt x="12" y="1486"/>
                </a:lnTo>
                <a:close/>
                <a:moveTo>
                  <a:pt x="12" y="1510"/>
                </a:moveTo>
                <a:lnTo>
                  <a:pt x="12" y="1522"/>
                </a:lnTo>
                <a:lnTo>
                  <a:pt x="0" y="1522"/>
                </a:lnTo>
                <a:lnTo>
                  <a:pt x="0" y="1510"/>
                </a:lnTo>
                <a:lnTo>
                  <a:pt x="12" y="1510"/>
                </a:lnTo>
                <a:close/>
                <a:moveTo>
                  <a:pt x="12" y="1534"/>
                </a:moveTo>
                <a:lnTo>
                  <a:pt x="12" y="1546"/>
                </a:lnTo>
                <a:lnTo>
                  <a:pt x="0" y="1546"/>
                </a:lnTo>
                <a:lnTo>
                  <a:pt x="0" y="1534"/>
                </a:lnTo>
                <a:lnTo>
                  <a:pt x="12" y="1534"/>
                </a:lnTo>
                <a:close/>
                <a:moveTo>
                  <a:pt x="12" y="1558"/>
                </a:moveTo>
                <a:lnTo>
                  <a:pt x="12" y="1570"/>
                </a:lnTo>
                <a:lnTo>
                  <a:pt x="0" y="1570"/>
                </a:lnTo>
                <a:lnTo>
                  <a:pt x="0" y="1558"/>
                </a:lnTo>
                <a:lnTo>
                  <a:pt x="12" y="1558"/>
                </a:lnTo>
                <a:close/>
                <a:moveTo>
                  <a:pt x="12" y="1582"/>
                </a:moveTo>
                <a:lnTo>
                  <a:pt x="12" y="1594"/>
                </a:lnTo>
                <a:lnTo>
                  <a:pt x="0" y="1594"/>
                </a:lnTo>
                <a:lnTo>
                  <a:pt x="0" y="1582"/>
                </a:lnTo>
                <a:lnTo>
                  <a:pt x="12" y="1582"/>
                </a:lnTo>
                <a:close/>
                <a:moveTo>
                  <a:pt x="12" y="1606"/>
                </a:moveTo>
                <a:lnTo>
                  <a:pt x="12" y="1618"/>
                </a:lnTo>
                <a:lnTo>
                  <a:pt x="0" y="1618"/>
                </a:lnTo>
                <a:lnTo>
                  <a:pt x="0" y="1606"/>
                </a:lnTo>
                <a:lnTo>
                  <a:pt x="12" y="1606"/>
                </a:lnTo>
                <a:close/>
                <a:moveTo>
                  <a:pt x="12" y="1630"/>
                </a:moveTo>
                <a:lnTo>
                  <a:pt x="12" y="1642"/>
                </a:lnTo>
                <a:lnTo>
                  <a:pt x="0" y="1642"/>
                </a:lnTo>
                <a:lnTo>
                  <a:pt x="0" y="1630"/>
                </a:lnTo>
                <a:lnTo>
                  <a:pt x="12" y="1630"/>
                </a:lnTo>
                <a:close/>
                <a:moveTo>
                  <a:pt x="12" y="1654"/>
                </a:moveTo>
                <a:lnTo>
                  <a:pt x="12" y="1666"/>
                </a:lnTo>
                <a:lnTo>
                  <a:pt x="0" y="1666"/>
                </a:lnTo>
                <a:lnTo>
                  <a:pt x="0" y="1654"/>
                </a:lnTo>
                <a:lnTo>
                  <a:pt x="12" y="1654"/>
                </a:lnTo>
                <a:close/>
                <a:moveTo>
                  <a:pt x="12" y="1678"/>
                </a:moveTo>
                <a:lnTo>
                  <a:pt x="12" y="1690"/>
                </a:lnTo>
                <a:lnTo>
                  <a:pt x="0" y="1690"/>
                </a:lnTo>
                <a:lnTo>
                  <a:pt x="0" y="1678"/>
                </a:lnTo>
                <a:lnTo>
                  <a:pt x="12" y="1678"/>
                </a:lnTo>
                <a:close/>
                <a:moveTo>
                  <a:pt x="12" y="1702"/>
                </a:moveTo>
                <a:lnTo>
                  <a:pt x="12" y="1714"/>
                </a:lnTo>
                <a:lnTo>
                  <a:pt x="0" y="1714"/>
                </a:lnTo>
                <a:lnTo>
                  <a:pt x="0" y="1702"/>
                </a:lnTo>
                <a:lnTo>
                  <a:pt x="12" y="1702"/>
                </a:lnTo>
                <a:close/>
                <a:moveTo>
                  <a:pt x="12" y="1726"/>
                </a:moveTo>
                <a:lnTo>
                  <a:pt x="12" y="1738"/>
                </a:lnTo>
                <a:lnTo>
                  <a:pt x="0" y="1738"/>
                </a:lnTo>
                <a:lnTo>
                  <a:pt x="0" y="1726"/>
                </a:lnTo>
                <a:lnTo>
                  <a:pt x="12" y="1726"/>
                </a:lnTo>
                <a:close/>
                <a:moveTo>
                  <a:pt x="12" y="1750"/>
                </a:moveTo>
                <a:lnTo>
                  <a:pt x="12" y="1762"/>
                </a:lnTo>
                <a:lnTo>
                  <a:pt x="0" y="1762"/>
                </a:lnTo>
                <a:lnTo>
                  <a:pt x="0" y="1750"/>
                </a:lnTo>
                <a:lnTo>
                  <a:pt x="12" y="1750"/>
                </a:lnTo>
                <a:close/>
                <a:moveTo>
                  <a:pt x="12" y="1774"/>
                </a:moveTo>
                <a:lnTo>
                  <a:pt x="12" y="1786"/>
                </a:lnTo>
                <a:lnTo>
                  <a:pt x="0" y="1786"/>
                </a:lnTo>
                <a:lnTo>
                  <a:pt x="0" y="1774"/>
                </a:lnTo>
                <a:lnTo>
                  <a:pt x="12" y="1774"/>
                </a:lnTo>
                <a:close/>
                <a:moveTo>
                  <a:pt x="12" y="1798"/>
                </a:moveTo>
                <a:lnTo>
                  <a:pt x="12" y="1810"/>
                </a:lnTo>
                <a:lnTo>
                  <a:pt x="0" y="1810"/>
                </a:lnTo>
                <a:lnTo>
                  <a:pt x="0" y="1798"/>
                </a:lnTo>
                <a:lnTo>
                  <a:pt x="12" y="1798"/>
                </a:lnTo>
                <a:close/>
                <a:moveTo>
                  <a:pt x="12" y="1822"/>
                </a:moveTo>
                <a:lnTo>
                  <a:pt x="12" y="1834"/>
                </a:lnTo>
                <a:lnTo>
                  <a:pt x="0" y="1834"/>
                </a:lnTo>
                <a:lnTo>
                  <a:pt x="0" y="1822"/>
                </a:lnTo>
                <a:lnTo>
                  <a:pt x="12" y="1822"/>
                </a:lnTo>
                <a:close/>
                <a:moveTo>
                  <a:pt x="12" y="1846"/>
                </a:moveTo>
                <a:lnTo>
                  <a:pt x="12" y="1858"/>
                </a:lnTo>
                <a:lnTo>
                  <a:pt x="0" y="1858"/>
                </a:lnTo>
                <a:lnTo>
                  <a:pt x="0" y="1846"/>
                </a:lnTo>
                <a:lnTo>
                  <a:pt x="12" y="1846"/>
                </a:lnTo>
                <a:close/>
                <a:moveTo>
                  <a:pt x="12" y="1870"/>
                </a:moveTo>
                <a:lnTo>
                  <a:pt x="12" y="1882"/>
                </a:lnTo>
                <a:lnTo>
                  <a:pt x="0" y="1882"/>
                </a:lnTo>
                <a:lnTo>
                  <a:pt x="0" y="1870"/>
                </a:lnTo>
                <a:lnTo>
                  <a:pt x="12" y="1870"/>
                </a:lnTo>
                <a:close/>
                <a:moveTo>
                  <a:pt x="12" y="1894"/>
                </a:moveTo>
                <a:lnTo>
                  <a:pt x="12" y="1906"/>
                </a:lnTo>
                <a:lnTo>
                  <a:pt x="0" y="1906"/>
                </a:lnTo>
                <a:lnTo>
                  <a:pt x="0" y="1894"/>
                </a:lnTo>
                <a:lnTo>
                  <a:pt x="12" y="1894"/>
                </a:lnTo>
                <a:close/>
                <a:moveTo>
                  <a:pt x="12" y="1918"/>
                </a:moveTo>
                <a:lnTo>
                  <a:pt x="12" y="1930"/>
                </a:lnTo>
                <a:lnTo>
                  <a:pt x="0" y="1930"/>
                </a:lnTo>
                <a:lnTo>
                  <a:pt x="0" y="1918"/>
                </a:lnTo>
                <a:lnTo>
                  <a:pt x="12" y="1918"/>
                </a:lnTo>
                <a:close/>
                <a:moveTo>
                  <a:pt x="12" y="1942"/>
                </a:moveTo>
                <a:lnTo>
                  <a:pt x="12" y="1954"/>
                </a:lnTo>
                <a:lnTo>
                  <a:pt x="0" y="1954"/>
                </a:lnTo>
                <a:lnTo>
                  <a:pt x="0" y="1942"/>
                </a:lnTo>
                <a:lnTo>
                  <a:pt x="12" y="1942"/>
                </a:lnTo>
                <a:close/>
                <a:moveTo>
                  <a:pt x="12" y="1966"/>
                </a:moveTo>
                <a:lnTo>
                  <a:pt x="12" y="1977"/>
                </a:lnTo>
                <a:lnTo>
                  <a:pt x="0" y="1977"/>
                </a:lnTo>
                <a:lnTo>
                  <a:pt x="0" y="1966"/>
                </a:lnTo>
                <a:lnTo>
                  <a:pt x="12" y="1966"/>
                </a:lnTo>
                <a:close/>
                <a:moveTo>
                  <a:pt x="12" y="1990"/>
                </a:moveTo>
                <a:lnTo>
                  <a:pt x="12" y="2002"/>
                </a:lnTo>
                <a:lnTo>
                  <a:pt x="0" y="2002"/>
                </a:lnTo>
                <a:lnTo>
                  <a:pt x="0" y="1990"/>
                </a:lnTo>
                <a:lnTo>
                  <a:pt x="12" y="1990"/>
                </a:lnTo>
                <a:close/>
                <a:moveTo>
                  <a:pt x="12" y="2013"/>
                </a:moveTo>
                <a:lnTo>
                  <a:pt x="12" y="2025"/>
                </a:lnTo>
                <a:lnTo>
                  <a:pt x="0" y="2025"/>
                </a:lnTo>
                <a:lnTo>
                  <a:pt x="0" y="2013"/>
                </a:lnTo>
                <a:lnTo>
                  <a:pt x="12" y="2013"/>
                </a:lnTo>
                <a:close/>
                <a:moveTo>
                  <a:pt x="12" y="2038"/>
                </a:moveTo>
                <a:lnTo>
                  <a:pt x="12" y="2049"/>
                </a:lnTo>
                <a:lnTo>
                  <a:pt x="0" y="2049"/>
                </a:lnTo>
                <a:lnTo>
                  <a:pt x="0" y="2038"/>
                </a:lnTo>
                <a:lnTo>
                  <a:pt x="12" y="2038"/>
                </a:lnTo>
                <a:close/>
                <a:moveTo>
                  <a:pt x="12" y="2061"/>
                </a:moveTo>
                <a:lnTo>
                  <a:pt x="12" y="2074"/>
                </a:lnTo>
                <a:lnTo>
                  <a:pt x="0" y="2074"/>
                </a:lnTo>
                <a:lnTo>
                  <a:pt x="0" y="2061"/>
                </a:lnTo>
                <a:lnTo>
                  <a:pt x="12" y="2061"/>
                </a:lnTo>
                <a:close/>
                <a:moveTo>
                  <a:pt x="12" y="2085"/>
                </a:moveTo>
                <a:lnTo>
                  <a:pt x="12" y="2097"/>
                </a:lnTo>
                <a:lnTo>
                  <a:pt x="0" y="2097"/>
                </a:lnTo>
                <a:lnTo>
                  <a:pt x="0" y="2085"/>
                </a:lnTo>
                <a:lnTo>
                  <a:pt x="12" y="2085"/>
                </a:lnTo>
                <a:close/>
                <a:moveTo>
                  <a:pt x="12" y="2109"/>
                </a:moveTo>
                <a:lnTo>
                  <a:pt x="12" y="2121"/>
                </a:lnTo>
                <a:lnTo>
                  <a:pt x="0" y="2121"/>
                </a:lnTo>
                <a:lnTo>
                  <a:pt x="0" y="2109"/>
                </a:lnTo>
                <a:lnTo>
                  <a:pt x="12" y="2109"/>
                </a:lnTo>
                <a:close/>
                <a:moveTo>
                  <a:pt x="12" y="2133"/>
                </a:moveTo>
                <a:lnTo>
                  <a:pt x="12" y="2145"/>
                </a:lnTo>
                <a:lnTo>
                  <a:pt x="0" y="2145"/>
                </a:lnTo>
                <a:lnTo>
                  <a:pt x="0" y="2133"/>
                </a:lnTo>
                <a:lnTo>
                  <a:pt x="12" y="2133"/>
                </a:lnTo>
                <a:close/>
                <a:moveTo>
                  <a:pt x="12" y="2157"/>
                </a:moveTo>
                <a:lnTo>
                  <a:pt x="12" y="2169"/>
                </a:lnTo>
                <a:lnTo>
                  <a:pt x="0" y="2169"/>
                </a:lnTo>
                <a:lnTo>
                  <a:pt x="0" y="2157"/>
                </a:lnTo>
                <a:lnTo>
                  <a:pt x="12" y="2157"/>
                </a:lnTo>
                <a:close/>
                <a:moveTo>
                  <a:pt x="12" y="2181"/>
                </a:moveTo>
                <a:lnTo>
                  <a:pt x="12" y="2193"/>
                </a:lnTo>
                <a:lnTo>
                  <a:pt x="0" y="2193"/>
                </a:lnTo>
                <a:lnTo>
                  <a:pt x="0" y="2181"/>
                </a:lnTo>
                <a:lnTo>
                  <a:pt x="12" y="2181"/>
                </a:lnTo>
                <a:close/>
                <a:moveTo>
                  <a:pt x="12" y="2205"/>
                </a:moveTo>
                <a:lnTo>
                  <a:pt x="12" y="2217"/>
                </a:lnTo>
                <a:lnTo>
                  <a:pt x="0" y="2217"/>
                </a:lnTo>
                <a:lnTo>
                  <a:pt x="0" y="2205"/>
                </a:lnTo>
                <a:lnTo>
                  <a:pt x="12" y="2205"/>
                </a:lnTo>
                <a:close/>
                <a:moveTo>
                  <a:pt x="12" y="2229"/>
                </a:moveTo>
                <a:lnTo>
                  <a:pt x="12" y="2241"/>
                </a:lnTo>
                <a:lnTo>
                  <a:pt x="0" y="2241"/>
                </a:lnTo>
                <a:lnTo>
                  <a:pt x="0" y="2229"/>
                </a:lnTo>
                <a:lnTo>
                  <a:pt x="12" y="2229"/>
                </a:lnTo>
                <a:close/>
                <a:moveTo>
                  <a:pt x="12" y="2253"/>
                </a:moveTo>
                <a:lnTo>
                  <a:pt x="12" y="2265"/>
                </a:lnTo>
                <a:lnTo>
                  <a:pt x="0" y="2265"/>
                </a:lnTo>
                <a:lnTo>
                  <a:pt x="0" y="2253"/>
                </a:lnTo>
                <a:lnTo>
                  <a:pt x="12" y="2253"/>
                </a:lnTo>
                <a:close/>
                <a:moveTo>
                  <a:pt x="12" y="2277"/>
                </a:moveTo>
                <a:lnTo>
                  <a:pt x="12" y="2289"/>
                </a:lnTo>
                <a:lnTo>
                  <a:pt x="0" y="2289"/>
                </a:lnTo>
                <a:lnTo>
                  <a:pt x="0" y="2277"/>
                </a:lnTo>
                <a:lnTo>
                  <a:pt x="12" y="2277"/>
                </a:lnTo>
                <a:close/>
                <a:moveTo>
                  <a:pt x="12" y="2301"/>
                </a:moveTo>
                <a:lnTo>
                  <a:pt x="12" y="2313"/>
                </a:lnTo>
                <a:lnTo>
                  <a:pt x="0" y="2313"/>
                </a:lnTo>
                <a:lnTo>
                  <a:pt x="0" y="2301"/>
                </a:lnTo>
                <a:lnTo>
                  <a:pt x="12" y="2301"/>
                </a:lnTo>
                <a:close/>
                <a:moveTo>
                  <a:pt x="12" y="2325"/>
                </a:moveTo>
                <a:lnTo>
                  <a:pt x="12" y="2337"/>
                </a:lnTo>
                <a:lnTo>
                  <a:pt x="0" y="2337"/>
                </a:lnTo>
                <a:lnTo>
                  <a:pt x="0" y="2325"/>
                </a:lnTo>
                <a:lnTo>
                  <a:pt x="12" y="2325"/>
                </a:lnTo>
                <a:close/>
                <a:moveTo>
                  <a:pt x="12" y="2349"/>
                </a:moveTo>
                <a:lnTo>
                  <a:pt x="12" y="2361"/>
                </a:lnTo>
                <a:lnTo>
                  <a:pt x="0" y="2361"/>
                </a:lnTo>
                <a:lnTo>
                  <a:pt x="0" y="2349"/>
                </a:lnTo>
                <a:lnTo>
                  <a:pt x="12" y="2349"/>
                </a:lnTo>
                <a:close/>
                <a:moveTo>
                  <a:pt x="12" y="2373"/>
                </a:moveTo>
                <a:lnTo>
                  <a:pt x="12" y="2385"/>
                </a:lnTo>
                <a:lnTo>
                  <a:pt x="0" y="2385"/>
                </a:lnTo>
                <a:lnTo>
                  <a:pt x="0" y="2373"/>
                </a:lnTo>
                <a:lnTo>
                  <a:pt x="12" y="2373"/>
                </a:lnTo>
                <a:close/>
                <a:moveTo>
                  <a:pt x="12" y="2397"/>
                </a:moveTo>
                <a:lnTo>
                  <a:pt x="12" y="2409"/>
                </a:lnTo>
                <a:lnTo>
                  <a:pt x="0" y="2409"/>
                </a:lnTo>
                <a:lnTo>
                  <a:pt x="0" y="2397"/>
                </a:lnTo>
                <a:lnTo>
                  <a:pt x="12" y="2397"/>
                </a:lnTo>
                <a:close/>
                <a:moveTo>
                  <a:pt x="12" y="2421"/>
                </a:moveTo>
                <a:lnTo>
                  <a:pt x="12" y="2433"/>
                </a:lnTo>
                <a:lnTo>
                  <a:pt x="0" y="2433"/>
                </a:lnTo>
                <a:lnTo>
                  <a:pt x="0" y="2421"/>
                </a:lnTo>
                <a:lnTo>
                  <a:pt x="12" y="2421"/>
                </a:lnTo>
                <a:close/>
                <a:moveTo>
                  <a:pt x="12" y="2445"/>
                </a:moveTo>
                <a:lnTo>
                  <a:pt x="12" y="2457"/>
                </a:lnTo>
                <a:lnTo>
                  <a:pt x="0" y="2457"/>
                </a:lnTo>
                <a:lnTo>
                  <a:pt x="0" y="2445"/>
                </a:lnTo>
                <a:lnTo>
                  <a:pt x="12" y="2445"/>
                </a:lnTo>
                <a:close/>
                <a:moveTo>
                  <a:pt x="12" y="2469"/>
                </a:moveTo>
                <a:lnTo>
                  <a:pt x="12" y="2481"/>
                </a:lnTo>
                <a:lnTo>
                  <a:pt x="0" y="2481"/>
                </a:lnTo>
                <a:lnTo>
                  <a:pt x="0" y="2469"/>
                </a:lnTo>
                <a:lnTo>
                  <a:pt x="12" y="2469"/>
                </a:lnTo>
                <a:close/>
                <a:moveTo>
                  <a:pt x="12" y="2493"/>
                </a:moveTo>
                <a:lnTo>
                  <a:pt x="12" y="2505"/>
                </a:lnTo>
                <a:lnTo>
                  <a:pt x="0" y="2505"/>
                </a:lnTo>
                <a:lnTo>
                  <a:pt x="0" y="2493"/>
                </a:lnTo>
                <a:lnTo>
                  <a:pt x="12" y="2493"/>
                </a:lnTo>
                <a:close/>
                <a:moveTo>
                  <a:pt x="12" y="2517"/>
                </a:moveTo>
                <a:lnTo>
                  <a:pt x="12" y="2529"/>
                </a:lnTo>
                <a:lnTo>
                  <a:pt x="0" y="2529"/>
                </a:lnTo>
                <a:lnTo>
                  <a:pt x="0" y="2517"/>
                </a:lnTo>
                <a:lnTo>
                  <a:pt x="12" y="2517"/>
                </a:lnTo>
                <a:close/>
                <a:moveTo>
                  <a:pt x="12" y="2541"/>
                </a:moveTo>
                <a:lnTo>
                  <a:pt x="12" y="2553"/>
                </a:lnTo>
                <a:lnTo>
                  <a:pt x="0" y="2553"/>
                </a:lnTo>
                <a:lnTo>
                  <a:pt x="0" y="2541"/>
                </a:lnTo>
                <a:lnTo>
                  <a:pt x="12" y="2541"/>
                </a:lnTo>
                <a:close/>
              </a:path>
            </a:pathLst>
          </a:custGeom>
          <a:solidFill>
            <a:srgbClr val="000000"/>
          </a:solidFill>
          <a:ln w="0" cap="flat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146" name="Rectangle 97">
            <a:extLst>
              <a:ext uri="{FF2B5EF4-FFF2-40B4-BE49-F238E27FC236}">
                <a16:creationId xmlns:a16="http://schemas.microsoft.com/office/drawing/2014/main" id="{495C9D00-A7B5-4D33-BE79-EEC0CAFA6AB2}"/>
              </a:ext>
            </a:extLst>
          </p:cNvPr>
          <p:cNvSpPr>
            <a:spLocks noChangeArrowheads="1"/>
          </p:cNvSpPr>
          <p:nvPr/>
        </p:nvSpPr>
        <p:spPr bwMode="auto">
          <a:xfrm>
            <a:off x="7969250" y="5584428"/>
            <a:ext cx="28052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zh-CN" altLang="zh-CN" sz="1200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rPr>
              <a:t>Reg</a:t>
            </a:r>
            <a:endParaRPr kumimoji="0" lang="zh-CN" altLang="zh-CN" sz="180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  <a:ea typeface="SimHei" panose="02010609060101010101" pitchFamily="49" charset="-122"/>
            </a:endParaRPr>
          </a:p>
        </p:txBody>
      </p:sp>
      <p:sp>
        <p:nvSpPr>
          <p:cNvPr id="147" name="Freeform 98">
            <a:extLst>
              <a:ext uri="{FF2B5EF4-FFF2-40B4-BE49-F238E27FC236}">
                <a16:creationId xmlns:a16="http://schemas.microsoft.com/office/drawing/2014/main" id="{B360624B-D648-491E-9EC8-5FAB26D708A3}"/>
              </a:ext>
            </a:extLst>
          </p:cNvPr>
          <p:cNvSpPr>
            <a:spLocks/>
          </p:cNvSpPr>
          <p:nvPr/>
        </p:nvSpPr>
        <p:spPr bwMode="auto">
          <a:xfrm>
            <a:off x="7931150" y="5533628"/>
            <a:ext cx="169863" cy="341313"/>
          </a:xfrm>
          <a:custGeom>
            <a:avLst/>
            <a:gdLst>
              <a:gd name="T0" fmla="*/ 107 w 107"/>
              <a:gd name="T1" fmla="*/ 0 h 215"/>
              <a:gd name="T2" fmla="*/ 0 w 107"/>
              <a:gd name="T3" fmla="*/ 0 h 215"/>
              <a:gd name="T4" fmla="*/ 0 w 107"/>
              <a:gd name="T5" fmla="*/ 215 h 215"/>
              <a:gd name="T6" fmla="*/ 107 w 107"/>
              <a:gd name="T7" fmla="*/ 215 h 2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107" h="215">
                <a:moveTo>
                  <a:pt x="107" y="0"/>
                </a:moveTo>
                <a:lnTo>
                  <a:pt x="0" y="0"/>
                </a:lnTo>
                <a:lnTo>
                  <a:pt x="0" y="215"/>
                </a:lnTo>
                <a:lnTo>
                  <a:pt x="107" y="215"/>
                </a:lnTo>
              </a:path>
            </a:pathLst>
          </a:custGeom>
          <a:noFill/>
          <a:ln w="19050" cap="rnd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148" name="Freeform 99">
            <a:extLst>
              <a:ext uri="{FF2B5EF4-FFF2-40B4-BE49-F238E27FC236}">
                <a16:creationId xmlns:a16="http://schemas.microsoft.com/office/drawing/2014/main" id="{3ECE2A92-105F-44B5-81F9-17B8113EF76D}"/>
              </a:ext>
            </a:extLst>
          </p:cNvPr>
          <p:cNvSpPr>
            <a:spLocks/>
          </p:cNvSpPr>
          <p:nvPr/>
        </p:nvSpPr>
        <p:spPr bwMode="auto">
          <a:xfrm>
            <a:off x="8102600" y="5533628"/>
            <a:ext cx="169863" cy="341313"/>
          </a:xfrm>
          <a:custGeom>
            <a:avLst/>
            <a:gdLst>
              <a:gd name="T0" fmla="*/ 0 w 107"/>
              <a:gd name="T1" fmla="*/ 0 h 215"/>
              <a:gd name="T2" fmla="*/ 107 w 107"/>
              <a:gd name="T3" fmla="*/ 0 h 215"/>
              <a:gd name="T4" fmla="*/ 107 w 107"/>
              <a:gd name="T5" fmla="*/ 215 h 215"/>
              <a:gd name="T6" fmla="*/ 0 w 107"/>
              <a:gd name="T7" fmla="*/ 215 h 2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107" h="215">
                <a:moveTo>
                  <a:pt x="0" y="0"/>
                </a:moveTo>
                <a:lnTo>
                  <a:pt x="107" y="0"/>
                </a:lnTo>
                <a:lnTo>
                  <a:pt x="107" y="215"/>
                </a:lnTo>
                <a:lnTo>
                  <a:pt x="0" y="215"/>
                </a:lnTo>
              </a:path>
            </a:pathLst>
          </a:custGeom>
          <a:noFill/>
          <a:ln w="19050" cap="rnd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4" name="文本框 3">
            <a:extLst>
              <a:ext uri="{FF2B5EF4-FFF2-40B4-BE49-F238E27FC236}">
                <a16:creationId xmlns:a16="http://schemas.microsoft.com/office/drawing/2014/main" id="{610A29B1-5242-D4FF-1459-B8A4B9175697}"/>
              </a:ext>
            </a:extLst>
          </p:cNvPr>
          <p:cNvSpPr txBox="1"/>
          <p:nvPr/>
        </p:nvSpPr>
        <p:spPr>
          <a:xfrm>
            <a:off x="7934862" y="3607356"/>
            <a:ext cx="1069524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zh-CN" dirty="0">
                <a:solidFill>
                  <a:srgbClr val="0432FF"/>
                </a:solidFill>
                <a:ea typeface="SimHei" panose="02010609060101010101" pitchFamily="49" charset="-122"/>
              </a:rPr>
              <a:t>3 Cycles</a:t>
            </a:r>
            <a:endParaRPr lang="zh-CN" altLang="en-US" dirty="0">
              <a:solidFill>
                <a:srgbClr val="0432FF"/>
              </a:solidFill>
              <a:ea typeface="SimHei" panose="02010609060101010101" pitchFamily="49" charset="-122"/>
            </a:endParaRPr>
          </a:p>
        </p:txBody>
      </p:sp>
    </p:spTree>
    <p:extLst>
      <p:ext uri="{BB962C8B-B14F-4D97-AF65-F5344CB8AC3E}">
        <p14:creationId xmlns:p14="http://schemas.microsoft.com/office/powerpoint/2010/main" val="1176532976"/>
      </p:ext>
    </p:extLst>
  </p:cSld>
  <p:clrMapOvr>
    <a:masterClrMapping/>
  </p:clrMapOvr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>
            <a:extLst>
              <a:ext uri="{FF2B5EF4-FFF2-40B4-BE49-F238E27FC236}">
                <a16:creationId xmlns:a16="http://schemas.microsoft.com/office/drawing/2014/main" id="{5288A97A-C4D8-46BD-B0FF-AAB7B56F257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dirty="0"/>
              <a:t>控制冒险解决方法：</a:t>
            </a:r>
            <a:r>
              <a:rPr lang="en-US" altLang="zh-CN" dirty="0"/>
              <a:t>Forwarding</a:t>
            </a:r>
            <a:endParaRPr lang="zh-CN" altLang="en-US" dirty="0"/>
          </a:p>
        </p:txBody>
      </p:sp>
      <p:sp>
        <p:nvSpPr>
          <p:cNvPr id="3" name="内容占位符 2">
            <a:extLst>
              <a:ext uri="{FF2B5EF4-FFF2-40B4-BE49-F238E27FC236}">
                <a16:creationId xmlns:a16="http://schemas.microsoft.com/office/drawing/2014/main" id="{002AD938-7D80-4EE2-83B3-3A1C6B7AD416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457200" y="1166020"/>
            <a:ext cx="8491728" cy="4525963"/>
          </a:xfrm>
        </p:spPr>
        <p:txBody>
          <a:bodyPr/>
          <a:lstStyle/>
          <a:p>
            <a:r>
              <a:rPr lang="zh-CN" altLang="en-US" dirty="0"/>
              <a:t>通过</a:t>
            </a:r>
            <a:r>
              <a:rPr lang="en-US" altLang="zh-CN" dirty="0"/>
              <a:t>Forwarding</a:t>
            </a:r>
            <a:r>
              <a:rPr lang="zh-CN" altLang="en-US" dirty="0"/>
              <a:t>方式提前给出分支判断（</a:t>
            </a:r>
            <a:r>
              <a:rPr lang="en-US" altLang="zh-CN" dirty="0"/>
              <a:t>EX</a:t>
            </a:r>
            <a:r>
              <a:rPr lang="en-US" altLang="zh-CN" dirty="0">
                <a:sym typeface="Wingdings" panose="05000000000000000000" pitchFamily="2" charset="2"/>
              </a:rPr>
              <a:t>IF</a:t>
            </a:r>
            <a:r>
              <a:rPr lang="zh-CN" altLang="en-US" dirty="0"/>
              <a:t>）</a:t>
            </a:r>
            <a:endParaRPr lang="en-US" altLang="zh-CN" dirty="0"/>
          </a:p>
          <a:p>
            <a:endParaRPr lang="zh-CN" altLang="en-US" dirty="0"/>
          </a:p>
        </p:txBody>
      </p:sp>
      <p:sp>
        <p:nvSpPr>
          <p:cNvPr id="5" name="灯片编号占位符 4">
            <a:extLst>
              <a:ext uri="{FF2B5EF4-FFF2-40B4-BE49-F238E27FC236}">
                <a16:creationId xmlns:a16="http://schemas.microsoft.com/office/drawing/2014/main" id="{CAF4F7F4-1D55-4419-87E2-656E68347DD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1806CE5-282B-4233-8654-09F35EA875E2}" type="slidenum">
              <a:rPr lang="zh-CN" altLang="en-US" smtClean="0"/>
              <a:t>42</a:t>
            </a:fld>
            <a:endParaRPr lang="zh-CN" altLang="en-US"/>
          </a:p>
        </p:txBody>
      </p:sp>
      <p:sp>
        <p:nvSpPr>
          <p:cNvPr id="8" name="AutoShape 3">
            <a:extLst>
              <a:ext uri="{FF2B5EF4-FFF2-40B4-BE49-F238E27FC236}">
                <a16:creationId xmlns:a16="http://schemas.microsoft.com/office/drawing/2014/main" id="{89A47003-6D75-402F-91F2-91C071A8FD6C}"/>
              </a:ext>
            </a:extLst>
          </p:cNvPr>
          <p:cNvSpPr>
            <a:spLocks noChangeAspect="1" noChangeArrowheads="1" noTextEdit="1"/>
          </p:cNvSpPr>
          <p:nvPr/>
        </p:nvSpPr>
        <p:spPr bwMode="auto">
          <a:xfrm>
            <a:off x="1361467" y="2288094"/>
            <a:ext cx="6362700" cy="42354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9" name="Rectangle 5">
            <a:extLst>
              <a:ext uri="{FF2B5EF4-FFF2-40B4-BE49-F238E27FC236}">
                <a16:creationId xmlns:a16="http://schemas.microsoft.com/office/drawing/2014/main" id="{6A1C7D36-5CA8-4069-8330-F9F0F0E1F76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93267" y="3883532"/>
            <a:ext cx="410369" cy="2769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zh-CN" altLang="zh-CN" sz="1800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rPr>
              <a:t>stall</a:t>
            </a:r>
            <a:endParaRPr kumimoji="0" lang="zh-CN" altLang="zh-CN" sz="180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  <a:ea typeface="SimHei" panose="02010609060101010101" pitchFamily="49" charset="-122"/>
            </a:endParaRPr>
          </a:p>
        </p:txBody>
      </p:sp>
      <p:sp>
        <p:nvSpPr>
          <p:cNvPr id="10" name="Freeform 6">
            <a:extLst>
              <a:ext uri="{FF2B5EF4-FFF2-40B4-BE49-F238E27FC236}">
                <a16:creationId xmlns:a16="http://schemas.microsoft.com/office/drawing/2014/main" id="{ABF89BA9-3E83-496B-ADEB-7C74735B1D1F}"/>
              </a:ext>
            </a:extLst>
          </p:cNvPr>
          <p:cNvSpPr>
            <a:spLocks/>
          </p:cNvSpPr>
          <p:nvPr/>
        </p:nvSpPr>
        <p:spPr bwMode="auto">
          <a:xfrm>
            <a:off x="4122130" y="3721607"/>
            <a:ext cx="512763" cy="455613"/>
          </a:xfrm>
          <a:custGeom>
            <a:avLst/>
            <a:gdLst>
              <a:gd name="T0" fmla="*/ 172 w 323"/>
              <a:gd name="T1" fmla="*/ 58 h 287"/>
              <a:gd name="T2" fmla="*/ 221 w 323"/>
              <a:gd name="T3" fmla="*/ 0 h 287"/>
              <a:gd name="T4" fmla="*/ 218 w 323"/>
              <a:gd name="T5" fmla="*/ 77 h 287"/>
              <a:gd name="T6" fmla="*/ 270 w 323"/>
              <a:gd name="T7" fmla="*/ 42 h 287"/>
              <a:gd name="T8" fmla="*/ 245 w 323"/>
              <a:gd name="T9" fmla="*/ 87 h 287"/>
              <a:gd name="T10" fmla="*/ 323 w 323"/>
              <a:gd name="T11" fmla="*/ 88 h 287"/>
              <a:gd name="T12" fmla="*/ 254 w 323"/>
              <a:gd name="T13" fmla="*/ 125 h 287"/>
              <a:gd name="T14" fmla="*/ 274 w 323"/>
              <a:gd name="T15" fmla="*/ 150 h 287"/>
              <a:gd name="T16" fmla="*/ 245 w 323"/>
              <a:gd name="T17" fmla="*/ 164 h 287"/>
              <a:gd name="T18" fmla="*/ 283 w 323"/>
              <a:gd name="T19" fmla="*/ 208 h 287"/>
              <a:gd name="T20" fmla="*/ 219 w 323"/>
              <a:gd name="T21" fmla="*/ 191 h 287"/>
              <a:gd name="T22" fmla="*/ 224 w 323"/>
              <a:gd name="T23" fmla="*/ 231 h 287"/>
              <a:gd name="T24" fmla="*/ 182 w 323"/>
              <a:gd name="T25" fmla="*/ 212 h 287"/>
              <a:gd name="T26" fmla="*/ 174 w 323"/>
              <a:gd name="T27" fmla="*/ 251 h 287"/>
              <a:gd name="T28" fmla="*/ 148 w 323"/>
              <a:gd name="T29" fmla="*/ 231 h 287"/>
              <a:gd name="T30" fmla="*/ 130 w 323"/>
              <a:gd name="T31" fmla="*/ 262 h 287"/>
              <a:gd name="T32" fmla="*/ 113 w 323"/>
              <a:gd name="T33" fmla="*/ 241 h 287"/>
              <a:gd name="T34" fmla="*/ 74 w 323"/>
              <a:gd name="T35" fmla="*/ 287 h 287"/>
              <a:gd name="T36" fmla="*/ 72 w 323"/>
              <a:gd name="T37" fmla="*/ 243 h 287"/>
              <a:gd name="T38" fmla="*/ 19 w 323"/>
              <a:gd name="T39" fmla="*/ 237 h 287"/>
              <a:gd name="T40" fmla="*/ 50 w 323"/>
              <a:gd name="T41" fmla="*/ 204 h 287"/>
              <a:gd name="T42" fmla="*/ 0 w 323"/>
              <a:gd name="T43" fmla="*/ 171 h 287"/>
              <a:gd name="T44" fmla="*/ 59 w 323"/>
              <a:gd name="T45" fmla="*/ 154 h 287"/>
              <a:gd name="T46" fmla="*/ 18 w 323"/>
              <a:gd name="T47" fmla="*/ 110 h 287"/>
              <a:gd name="T48" fmla="*/ 80 w 323"/>
              <a:gd name="T49" fmla="*/ 104 h 287"/>
              <a:gd name="T50" fmla="*/ 68 w 323"/>
              <a:gd name="T51" fmla="*/ 48 h 287"/>
              <a:gd name="T52" fmla="*/ 128 w 323"/>
              <a:gd name="T53" fmla="*/ 85 h 287"/>
              <a:gd name="T54" fmla="*/ 146 w 323"/>
              <a:gd name="T55" fmla="*/ 25 h 287"/>
              <a:gd name="T56" fmla="*/ 172 w 323"/>
              <a:gd name="T57" fmla="*/ 58 h 28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323" h="287">
                <a:moveTo>
                  <a:pt x="172" y="58"/>
                </a:moveTo>
                <a:lnTo>
                  <a:pt x="221" y="0"/>
                </a:lnTo>
                <a:lnTo>
                  <a:pt x="218" y="77"/>
                </a:lnTo>
                <a:lnTo>
                  <a:pt x="270" y="42"/>
                </a:lnTo>
                <a:lnTo>
                  <a:pt x="245" y="87"/>
                </a:lnTo>
                <a:lnTo>
                  <a:pt x="323" y="88"/>
                </a:lnTo>
                <a:lnTo>
                  <a:pt x="254" y="125"/>
                </a:lnTo>
                <a:lnTo>
                  <a:pt x="274" y="150"/>
                </a:lnTo>
                <a:lnTo>
                  <a:pt x="245" y="164"/>
                </a:lnTo>
                <a:lnTo>
                  <a:pt x="283" y="208"/>
                </a:lnTo>
                <a:lnTo>
                  <a:pt x="219" y="191"/>
                </a:lnTo>
                <a:lnTo>
                  <a:pt x="224" y="231"/>
                </a:lnTo>
                <a:lnTo>
                  <a:pt x="182" y="212"/>
                </a:lnTo>
                <a:lnTo>
                  <a:pt x="174" y="251"/>
                </a:lnTo>
                <a:lnTo>
                  <a:pt x="148" y="231"/>
                </a:lnTo>
                <a:lnTo>
                  <a:pt x="130" y="262"/>
                </a:lnTo>
                <a:lnTo>
                  <a:pt x="113" y="241"/>
                </a:lnTo>
                <a:lnTo>
                  <a:pt x="74" y="287"/>
                </a:lnTo>
                <a:lnTo>
                  <a:pt x="72" y="243"/>
                </a:lnTo>
                <a:lnTo>
                  <a:pt x="19" y="237"/>
                </a:lnTo>
                <a:lnTo>
                  <a:pt x="50" y="204"/>
                </a:lnTo>
                <a:lnTo>
                  <a:pt x="0" y="171"/>
                </a:lnTo>
                <a:lnTo>
                  <a:pt x="59" y="154"/>
                </a:lnTo>
                <a:lnTo>
                  <a:pt x="18" y="110"/>
                </a:lnTo>
                <a:lnTo>
                  <a:pt x="80" y="104"/>
                </a:lnTo>
                <a:lnTo>
                  <a:pt x="68" y="48"/>
                </a:lnTo>
                <a:lnTo>
                  <a:pt x="128" y="85"/>
                </a:lnTo>
                <a:lnTo>
                  <a:pt x="146" y="25"/>
                </a:lnTo>
                <a:lnTo>
                  <a:pt x="172" y="58"/>
                </a:lnTo>
                <a:close/>
              </a:path>
            </a:pathLst>
          </a:custGeom>
          <a:pattFill prst="shingle">
            <a:fgClr>
              <a:schemeClr val="accent2"/>
            </a:fgClr>
            <a:bgClr>
              <a:schemeClr val="bg1"/>
            </a:bgClr>
          </a:patt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11" name="Freeform 7">
            <a:extLst>
              <a:ext uri="{FF2B5EF4-FFF2-40B4-BE49-F238E27FC236}">
                <a16:creationId xmlns:a16="http://schemas.microsoft.com/office/drawing/2014/main" id="{B64F8D78-319F-47B0-8BEE-170ED3060E61}"/>
              </a:ext>
            </a:extLst>
          </p:cNvPr>
          <p:cNvSpPr>
            <a:spLocks/>
          </p:cNvSpPr>
          <p:nvPr/>
        </p:nvSpPr>
        <p:spPr bwMode="auto">
          <a:xfrm>
            <a:off x="4122130" y="3721607"/>
            <a:ext cx="512763" cy="455613"/>
          </a:xfrm>
          <a:custGeom>
            <a:avLst/>
            <a:gdLst>
              <a:gd name="T0" fmla="*/ 172 w 323"/>
              <a:gd name="T1" fmla="*/ 58 h 287"/>
              <a:gd name="T2" fmla="*/ 221 w 323"/>
              <a:gd name="T3" fmla="*/ 0 h 287"/>
              <a:gd name="T4" fmla="*/ 218 w 323"/>
              <a:gd name="T5" fmla="*/ 77 h 287"/>
              <a:gd name="T6" fmla="*/ 270 w 323"/>
              <a:gd name="T7" fmla="*/ 42 h 287"/>
              <a:gd name="T8" fmla="*/ 245 w 323"/>
              <a:gd name="T9" fmla="*/ 87 h 287"/>
              <a:gd name="T10" fmla="*/ 323 w 323"/>
              <a:gd name="T11" fmla="*/ 88 h 287"/>
              <a:gd name="T12" fmla="*/ 254 w 323"/>
              <a:gd name="T13" fmla="*/ 125 h 287"/>
              <a:gd name="T14" fmla="*/ 274 w 323"/>
              <a:gd name="T15" fmla="*/ 150 h 287"/>
              <a:gd name="T16" fmla="*/ 245 w 323"/>
              <a:gd name="T17" fmla="*/ 164 h 287"/>
              <a:gd name="T18" fmla="*/ 283 w 323"/>
              <a:gd name="T19" fmla="*/ 208 h 287"/>
              <a:gd name="T20" fmla="*/ 219 w 323"/>
              <a:gd name="T21" fmla="*/ 191 h 287"/>
              <a:gd name="T22" fmla="*/ 224 w 323"/>
              <a:gd name="T23" fmla="*/ 231 h 287"/>
              <a:gd name="T24" fmla="*/ 182 w 323"/>
              <a:gd name="T25" fmla="*/ 212 h 287"/>
              <a:gd name="T26" fmla="*/ 174 w 323"/>
              <a:gd name="T27" fmla="*/ 251 h 287"/>
              <a:gd name="T28" fmla="*/ 148 w 323"/>
              <a:gd name="T29" fmla="*/ 231 h 287"/>
              <a:gd name="T30" fmla="*/ 130 w 323"/>
              <a:gd name="T31" fmla="*/ 262 h 287"/>
              <a:gd name="T32" fmla="*/ 113 w 323"/>
              <a:gd name="T33" fmla="*/ 241 h 287"/>
              <a:gd name="T34" fmla="*/ 74 w 323"/>
              <a:gd name="T35" fmla="*/ 287 h 287"/>
              <a:gd name="T36" fmla="*/ 72 w 323"/>
              <a:gd name="T37" fmla="*/ 243 h 287"/>
              <a:gd name="T38" fmla="*/ 19 w 323"/>
              <a:gd name="T39" fmla="*/ 237 h 287"/>
              <a:gd name="T40" fmla="*/ 50 w 323"/>
              <a:gd name="T41" fmla="*/ 204 h 287"/>
              <a:gd name="T42" fmla="*/ 0 w 323"/>
              <a:gd name="T43" fmla="*/ 171 h 287"/>
              <a:gd name="T44" fmla="*/ 59 w 323"/>
              <a:gd name="T45" fmla="*/ 154 h 287"/>
              <a:gd name="T46" fmla="*/ 18 w 323"/>
              <a:gd name="T47" fmla="*/ 110 h 287"/>
              <a:gd name="T48" fmla="*/ 80 w 323"/>
              <a:gd name="T49" fmla="*/ 104 h 287"/>
              <a:gd name="T50" fmla="*/ 68 w 323"/>
              <a:gd name="T51" fmla="*/ 48 h 287"/>
              <a:gd name="T52" fmla="*/ 128 w 323"/>
              <a:gd name="T53" fmla="*/ 85 h 287"/>
              <a:gd name="T54" fmla="*/ 146 w 323"/>
              <a:gd name="T55" fmla="*/ 25 h 287"/>
              <a:gd name="T56" fmla="*/ 172 w 323"/>
              <a:gd name="T57" fmla="*/ 58 h 28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323" h="287">
                <a:moveTo>
                  <a:pt x="172" y="58"/>
                </a:moveTo>
                <a:lnTo>
                  <a:pt x="221" y="0"/>
                </a:lnTo>
                <a:lnTo>
                  <a:pt x="218" y="77"/>
                </a:lnTo>
                <a:lnTo>
                  <a:pt x="270" y="42"/>
                </a:lnTo>
                <a:lnTo>
                  <a:pt x="245" y="87"/>
                </a:lnTo>
                <a:lnTo>
                  <a:pt x="323" y="88"/>
                </a:lnTo>
                <a:lnTo>
                  <a:pt x="254" y="125"/>
                </a:lnTo>
                <a:lnTo>
                  <a:pt x="274" y="150"/>
                </a:lnTo>
                <a:lnTo>
                  <a:pt x="245" y="164"/>
                </a:lnTo>
                <a:lnTo>
                  <a:pt x="283" y="208"/>
                </a:lnTo>
                <a:lnTo>
                  <a:pt x="219" y="191"/>
                </a:lnTo>
                <a:lnTo>
                  <a:pt x="224" y="231"/>
                </a:lnTo>
                <a:lnTo>
                  <a:pt x="182" y="212"/>
                </a:lnTo>
                <a:lnTo>
                  <a:pt x="174" y="251"/>
                </a:lnTo>
                <a:lnTo>
                  <a:pt x="148" y="231"/>
                </a:lnTo>
                <a:lnTo>
                  <a:pt x="130" y="262"/>
                </a:lnTo>
                <a:lnTo>
                  <a:pt x="113" y="241"/>
                </a:lnTo>
                <a:lnTo>
                  <a:pt x="74" y="287"/>
                </a:lnTo>
                <a:lnTo>
                  <a:pt x="72" y="243"/>
                </a:lnTo>
                <a:lnTo>
                  <a:pt x="19" y="237"/>
                </a:lnTo>
                <a:lnTo>
                  <a:pt x="50" y="204"/>
                </a:lnTo>
                <a:lnTo>
                  <a:pt x="0" y="171"/>
                </a:lnTo>
                <a:lnTo>
                  <a:pt x="59" y="154"/>
                </a:lnTo>
                <a:lnTo>
                  <a:pt x="18" y="110"/>
                </a:lnTo>
                <a:lnTo>
                  <a:pt x="80" y="104"/>
                </a:lnTo>
                <a:lnTo>
                  <a:pt x="68" y="48"/>
                </a:lnTo>
                <a:lnTo>
                  <a:pt x="128" y="85"/>
                </a:lnTo>
                <a:lnTo>
                  <a:pt x="146" y="25"/>
                </a:lnTo>
                <a:lnTo>
                  <a:pt x="172" y="58"/>
                </a:lnTo>
                <a:close/>
              </a:path>
            </a:pathLst>
          </a:custGeom>
          <a:pattFill prst="shingle">
            <a:fgClr>
              <a:schemeClr val="accent2"/>
            </a:fgClr>
            <a:bgClr>
              <a:schemeClr val="bg1"/>
            </a:bgClr>
          </a:pattFill>
          <a:ln w="9525" cap="flat">
            <a:solidFill>
              <a:srgbClr val="3C09F7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12" name="Freeform 8">
            <a:extLst>
              <a:ext uri="{FF2B5EF4-FFF2-40B4-BE49-F238E27FC236}">
                <a16:creationId xmlns:a16="http://schemas.microsoft.com/office/drawing/2014/main" id="{D7941C34-C941-43FB-9B9B-27CE415BED68}"/>
              </a:ext>
            </a:extLst>
          </p:cNvPr>
          <p:cNvSpPr>
            <a:spLocks/>
          </p:cNvSpPr>
          <p:nvPr/>
        </p:nvSpPr>
        <p:spPr bwMode="auto">
          <a:xfrm>
            <a:off x="4634892" y="3721607"/>
            <a:ext cx="514350" cy="455613"/>
          </a:xfrm>
          <a:custGeom>
            <a:avLst/>
            <a:gdLst>
              <a:gd name="T0" fmla="*/ 172 w 324"/>
              <a:gd name="T1" fmla="*/ 58 h 287"/>
              <a:gd name="T2" fmla="*/ 222 w 324"/>
              <a:gd name="T3" fmla="*/ 0 h 287"/>
              <a:gd name="T4" fmla="*/ 218 w 324"/>
              <a:gd name="T5" fmla="*/ 77 h 287"/>
              <a:gd name="T6" fmla="*/ 270 w 324"/>
              <a:gd name="T7" fmla="*/ 42 h 287"/>
              <a:gd name="T8" fmla="*/ 246 w 324"/>
              <a:gd name="T9" fmla="*/ 87 h 287"/>
              <a:gd name="T10" fmla="*/ 324 w 324"/>
              <a:gd name="T11" fmla="*/ 88 h 287"/>
              <a:gd name="T12" fmla="*/ 255 w 324"/>
              <a:gd name="T13" fmla="*/ 125 h 287"/>
              <a:gd name="T14" fmla="*/ 274 w 324"/>
              <a:gd name="T15" fmla="*/ 150 h 287"/>
              <a:gd name="T16" fmla="*/ 246 w 324"/>
              <a:gd name="T17" fmla="*/ 164 h 287"/>
              <a:gd name="T18" fmla="*/ 283 w 324"/>
              <a:gd name="T19" fmla="*/ 208 h 287"/>
              <a:gd name="T20" fmla="*/ 220 w 324"/>
              <a:gd name="T21" fmla="*/ 191 h 287"/>
              <a:gd name="T22" fmla="*/ 224 w 324"/>
              <a:gd name="T23" fmla="*/ 231 h 287"/>
              <a:gd name="T24" fmla="*/ 183 w 324"/>
              <a:gd name="T25" fmla="*/ 212 h 287"/>
              <a:gd name="T26" fmla="*/ 174 w 324"/>
              <a:gd name="T27" fmla="*/ 251 h 287"/>
              <a:gd name="T28" fmla="*/ 148 w 324"/>
              <a:gd name="T29" fmla="*/ 231 h 287"/>
              <a:gd name="T30" fmla="*/ 131 w 324"/>
              <a:gd name="T31" fmla="*/ 262 h 287"/>
              <a:gd name="T32" fmla="*/ 113 w 324"/>
              <a:gd name="T33" fmla="*/ 241 h 287"/>
              <a:gd name="T34" fmla="*/ 74 w 324"/>
              <a:gd name="T35" fmla="*/ 287 h 287"/>
              <a:gd name="T36" fmla="*/ 73 w 324"/>
              <a:gd name="T37" fmla="*/ 243 h 287"/>
              <a:gd name="T38" fmla="*/ 20 w 324"/>
              <a:gd name="T39" fmla="*/ 237 h 287"/>
              <a:gd name="T40" fmla="*/ 50 w 324"/>
              <a:gd name="T41" fmla="*/ 204 h 287"/>
              <a:gd name="T42" fmla="*/ 0 w 324"/>
              <a:gd name="T43" fmla="*/ 171 h 287"/>
              <a:gd name="T44" fmla="*/ 59 w 324"/>
              <a:gd name="T45" fmla="*/ 154 h 287"/>
              <a:gd name="T46" fmla="*/ 18 w 324"/>
              <a:gd name="T47" fmla="*/ 110 h 287"/>
              <a:gd name="T48" fmla="*/ 81 w 324"/>
              <a:gd name="T49" fmla="*/ 104 h 287"/>
              <a:gd name="T50" fmla="*/ 68 w 324"/>
              <a:gd name="T51" fmla="*/ 48 h 287"/>
              <a:gd name="T52" fmla="*/ 128 w 324"/>
              <a:gd name="T53" fmla="*/ 85 h 287"/>
              <a:gd name="T54" fmla="*/ 146 w 324"/>
              <a:gd name="T55" fmla="*/ 25 h 287"/>
              <a:gd name="T56" fmla="*/ 172 w 324"/>
              <a:gd name="T57" fmla="*/ 58 h 28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324" h="287">
                <a:moveTo>
                  <a:pt x="172" y="58"/>
                </a:moveTo>
                <a:lnTo>
                  <a:pt x="222" y="0"/>
                </a:lnTo>
                <a:lnTo>
                  <a:pt x="218" y="77"/>
                </a:lnTo>
                <a:lnTo>
                  <a:pt x="270" y="42"/>
                </a:lnTo>
                <a:lnTo>
                  <a:pt x="246" y="87"/>
                </a:lnTo>
                <a:lnTo>
                  <a:pt x="324" y="88"/>
                </a:lnTo>
                <a:lnTo>
                  <a:pt x="255" y="125"/>
                </a:lnTo>
                <a:lnTo>
                  <a:pt x="274" y="150"/>
                </a:lnTo>
                <a:lnTo>
                  <a:pt x="246" y="164"/>
                </a:lnTo>
                <a:lnTo>
                  <a:pt x="283" y="208"/>
                </a:lnTo>
                <a:lnTo>
                  <a:pt x="220" y="191"/>
                </a:lnTo>
                <a:lnTo>
                  <a:pt x="224" y="231"/>
                </a:lnTo>
                <a:lnTo>
                  <a:pt x="183" y="212"/>
                </a:lnTo>
                <a:lnTo>
                  <a:pt x="174" y="251"/>
                </a:lnTo>
                <a:lnTo>
                  <a:pt x="148" y="231"/>
                </a:lnTo>
                <a:lnTo>
                  <a:pt x="131" y="262"/>
                </a:lnTo>
                <a:lnTo>
                  <a:pt x="113" y="241"/>
                </a:lnTo>
                <a:lnTo>
                  <a:pt x="74" y="287"/>
                </a:lnTo>
                <a:lnTo>
                  <a:pt x="73" y="243"/>
                </a:lnTo>
                <a:lnTo>
                  <a:pt x="20" y="237"/>
                </a:lnTo>
                <a:lnTo>
                  <a:pt x="50" y="204"/>
                </a:lnTo>
                <a:lnTo>
                  <a:pt x="0" y="171"/>
                </a:lnTo>
                <a:lnTo>
                  <a:pt x="59" y="154"/>
                </a:lnTo>
                <a:lnTo>
                  <a:pt x="18" y="110"/>
                </a:lnTo>
                <a:lnTo>
                  <a:pt x="81" y="104"/>
                </a:lnTo>
                <a:lnTo>
                  <a:pt x="68" y="48"/>
                </a:lnTo>
                <a:lnTo>
                  <a:pt x="128" y="85"/>
                </a:lnTo>
                <a:lnTo>
                  <a:pt x="146" y="25"/>
                </a:lnTo>
                <a:lnTo>
                  <a:pt x="172" y="58"/>
                </a:lnTo>
                <a:close/>
              </a:path>
            </a:pathLst>
          </a:custGeom>
          <a:pattFill prst="shingle">
            <a:fgClr>
              <a:schemeClr val="accent2"/>
            </a:fgClr>
            <a:bgClr>
              <a:schemeClr val="bg1"/>
            </a:bgClr>
          </a:patt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13" name="Freeform 9">
            <a:extLst>
              <a:ext uri="{FF2B5EF4-FFF2-40B4-BE49-F238E27FC236}">
                <a16:creationId xmlns:a16="http://schemas.microsoft.com/office/drawing/2014/main" id="{8C462530-C5F3-44A8-A523-B7F3299E1D18}"/>
              </a:ext>
            </a:extLst>
          </p:cNvPr>
          <p:cNvSpPr>
            <a:spLocks/>
          </p:cNvSpPr>
          <p:nvPr/>
        </p:nvSpPr>
        <p:spPr bwMode="auto">
          <a:xfrm>
            <a:off x="4634892" y="3721607"/>
            <a:ext cx="514350" cy="455613"/>
          </a:xfrm>
          <a:custGeom>
            <a:avLst/>
            <a:gdLst>
              <a:gd name="T0" fmla="*/ 172 w 324"/>
              <a:gd name="T1" fmla="*/ 58 h 287"/>
              <a:gd name="T2" fmla="*/ 222 w 324"/>
              <a:gd name="T3" fmla="*/ 0 h 287"/>
              <a:gd name="T4" fmla="*/ 218 w 324"/>
              <a:gd name="T5" fmla="*/ 77 h 287"/>
              <a:gd name="T6" fmla="*/ 270 w 324"/>
              <a:gd name="T7" fmla="*/ 42 h 287"/>
              <a:gd name="T8" fmla="*/ 246 w 324"/>
              <a:gd name="T9" fmla="*/ 87 h 287"/>
              <a:gd name="T10" fmla="*/ 324 w 324"/>
              <a:gd name="T11" fmla="*/ 88 h 287"/>
              <a:gd name="T12" fmla="*/ 255 w 324"/>
              <a:gd name="T13" fmla="*/ 125 h 287"/>
              <a:gd name="T14" fmla="*/ 274 w 324"/>
              <a:gd name="T15" fmla="*/ 150 h 287"/>
              <a:gd name="T16" fmla="*/ 246 w 324"/>
              <a:gd name="T17" fmla="*/ 164 h 287"/>
              <a:gd name="T18" fmla="*/ 283 w 324"/>
              <a:gd name="T19" fmla="*/ 208 h 287"/>
              <a:gd name="T20" fmla="*/ 220 w 324"/>
              <a:gd name="T21" fmla="*/ 191 h 287"/>
              <a:gd name="T22" fmla="*/ 224 w 324"/>
              <a:gd name="T23" fmla="*/ 231 h 287"/>
              <a:gd name="T24" fmla="*/ 183 w 324"/>
              <a:gd name="T25" fmla="*/ 212 h 287"/>
              <a:gd name="T26" fmla="*/ 174 w 324"/>
              <a:gd name="T27" fmla="*/ 251 h 287"/>
              <a:gd name="T28" fmla="*/ 148 w 324"/>
              <a:gd name="T29" fmla="*/ 231 h 287"/>
              <a:gd name="T30" fmla="*/ 131 w 324"/>
              <a:gd name="T31" fmla="*/ 262 h 287"/>
              <a:gd name="T32" fmla="*/ 113 w 324"/>
              <a:gd name="T33" fmla="*/ 241 h 287"/>
              <a:gd name="T34" fmla="*/ 74 w 324"/>
              <a:gd name="T35" fmla="*/ 287 h 287"/>
              <a:gd name="T36" fmla="*/ 73 w 324"/>
              <a:gd name="T37" fmla="*/ 243 h 287"/>
              <a:gd name="T38" fmla="*/ 20 w 324"/>
              <a:gd name="T39" fmla="*/ 237 h 287"/>
              <a:gd name="T40" fmla="*/ 50 w 324"/>
              <a:gd name="T41" fmla="*/ 204 h 287"/>
              <a:gd name="T42" fmla="*/ 0 w 324"/>
              <a:gd name="T43" fmla="*/ 171 h 287"/>
              <a:gd name="T44" fmla="*/ 59 w 324"/>
              <a:gd name="T45" fmla="*/ 154 h 287"/>
              <a:gd name="T46" fmla="*/ 18 w 324"/>
              <a:gd name="T47" fmla="*/ 110 h 287"/>
              <a:gd name="T48" fmla="*/ 81 w 324"/>
              <a:gd name="T49" fmla="*/ 104 h 287"/>
              <a:gd name="T50" fmla="*/ 68 w 324"/>
              <a:gd name="T51" fmla="*/ 48 h 287"/>
              <a:gd name="T52" fmla="*/ 128 w 324"/>
              <a:gd name="T53" fmla="*/ 85 h 287"/>
              <a:gd name="T54" fmla="*/ 146 w 324"/>
              <a:gd name="T55" fmla="*/ 25 h 287"/>
              <a:gd name="T56" fmla="*/ 172 w 324"/>
              <a:gd name="T57" fmla="*/ 58 h 28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324" h="287">
                <a:moveTo>
                  <a:pt x="172" y="58"/>
                </a:moveTo>
                <a:lnTo>
                  <a:pt x="222" y="0"/>
                </a:lnTo>
                <a:lnTo>
                  <a:pt x="218" y="77"/>
                </a:lnTo>
                <a:lnTo>
                  <a:pt x="270" y="42"/>
                </a:lnTo>
                <a:lnTo>
                  <a:pt x="246" y="87"/>
                </a:lnTo>
                <a:lnTo>
                  <a:pt x="324" y="88"/>
                </a:lnTo>
                <a:lnTo>
                  <a:pt x="255" y="125"/>
                </a:lnTo>
                <a:lnTo>
                  <a:pt x="274" y="150"/>
                </a:lnTo>
                <a:lnTo>
                  <a:pt x="246" y="164"/>
                </a:lnTo>
                <a:lnTo>
                  <a:pt x="283" y="208"/>
                </a:lnTo>
                <a:lnTo>
                  <a:pt x="220" y="191"/>
                </a:lnTo>
                <a:lnTo>
                  <a:pt x="224" y="231"/>
                </a:lnTo>
                <a:lnTo>
                  <a:pt x="183" y="212"/>
                </a:lnTo>
                <a:lnTo>
                  <a:pt x="174" y="251"/>
                </a:lnTo>
                <a:lnTo>
                  <a:pt x="148" y="231"/>
                </a:lnTo>
                <a:lnTo>
                  <a:pt x="131" y="262"/>
                </a:lnTo>
                <a:lnTo>
                  <a:pt x="113" y="241"/>
                </a:lnTo>
                <a:lnTo>
                  <a:pt x="74" y="287"/>
                </a:lnTo>
                <a:lnTo>
                  <a:pt x="73" y="243"/>
                </a:lnTo>
                <a:lnTo>
                  <a:pt x="20" y="237"/>
                </a:lnTo>
                <a:lnTo>
                  <a:pt x="50" y="204"/>
                </a:lnTo>
                <a:lnTo>
                  <a:pt x="0" y="171"/>
                </a:lnTo>
                <a:lnTo>
                  <a:pt x="59" y="154"/>
                </a:lnTo>
                <a:lnTo>
                  <a:pt x="18" y="110"/>
                </a:lnTo>
                <a:lnTo>
                  <a:pt x="81" y="104"/>
                </a:lnTo>
                <a:lnTo>
                  <a:pt x="68" y="48"/>
                </a:lnTo>
                <a:lnTo>
                  <a:pt x="128" y="85"/>
                </a:lnTo>
                <a:lnTo>
                  <a:pt x="146" y="25"/>
                </a:lnTo>
                <a:lnTo>
                  <a:pt x="172" y="58"/>
                </a:lnTo>
                <a:close/>
              </a:path>
            </a:pathLst>
          </a:custGeom>
          <a:pattFill prst="shingle">
            <a:fgClr>
              <a:schemeClr val="accent2"/>
            </a:fgClr>
            <a:bgClr>
              <a:schemeClr val="bg1"/>
            </a:bgClr>
          </a:pattFill>
          <a:ln w="9525" cap="flat">
            <a:solidFill>
              <a:srgbClr val="3C09F7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14" name="Freeform 10">
            <a:extLst>
              <a:ext uri="{FF2B5EF4-FFF2-40B4-BE49-F238E27FC236}">
                <a16:creationId xmlns:a16="http://schemas.microsoft.com/office/drawing/2014/main" id="{82AF09DC-37BB-4330-BE59-C7F78F38D6FF}"/>
              </a:ext>
            </a:extLst>
          </p:cNvPr>
          <p:cNvSpPr>
            <a:spLocks/>
          </p:cNvSpPr>
          <p:nvPr/>
        </p:nvSpPr>
        <p:spPr bwMode="auto">
          <a:xfrm>
            <a:off x="5206392" y="3721607"/>
            <a:ext cx="512763" cy="455613"/>
          </a:xfrm>
          <a:custGeom>
            <a:avLst/>
            <a:gdLst>
              <a:gd name="T0" fmla="*/ 172 w 323"/>
              <a:gd name="T1" fmla="*/ 58 h 287"/>
              <a:gd name="T2" fmla="*/ 221 w 323"/>
              <a:gd name="T3" fmla="*/ 0 h 287"/>
              <a:gd name="T4" fmla="*/ 217 w 323"/>
              <a:gd name="T5" fmla="*/ 77 h 287"/>
              <a:gd name="T6" fmla="*/ 270 w 323"/>
              <a:gd name="T7" fmla="*/ 42 h 287"/>
              <a:gd name="T8" fmla="*/ 245 w 323"/>
              <a:gd name="T9" fmla="*/ 87 h 287"/>
              <a:gd name="T10" fmla="*/ 323 w 323"/>
              <a:gd name="T11" fmla="*/ 88 h 287"/>
              <a:gd name="T12" fmla="*/ 254 w 323"/>
              <a:gd name="T13" fmla="*/ 125 h 287"/>
              <a:gd name="T14" fmla="*/ 274 w 323"/>
              <a:gd name="T15" fmla="*/ 150 h 287"/>
              <a:gd name="T16" fmla="*/ 245 w 323"/>
              <a:gd name="T17" fmla="*/ 164 h 287"/>
              <a:gd name="T18" fmla="*/ 283 w 323"/>
              <a:gd name="T19" fmla="*/ 208 h 287"/>
              <a:gd name="T20" fmla="*/ 219 w 323"/>
              <a:gd name="T21" fmla="*/ 191 h 287"/>
              <a:gd name="T22" fmla="*/ 224 w 323"/>
              <a:gd name="T23" fmla="*/ 231 h 287"/>
              <a:gd name="T24" fmla="*/ 182 w 323"/>
              <a:gd name="T25" fmla="*/ 212 h 287"/>
              <a:gd name="T26" fmla="*/ 174 w 323"/>
              <a:gd name="T27" fmla="*/ 251 h 287"/>
              <a:gd name="T28" fmla="*/ 148 w 323"/>
              <a:gd name="T29" fmla="*/ 231 h 287"/>
              <a:gd name="T30" fmla="*/ 130 w 323"/>
              <a:gd name="T31" fmla="*/ 262 h 287"/>
              <a:gd name="T32" fmla="*/ 113 w 323"/>
              <a:gd name="T33" fmla="*/ 241 h 287"/>
              <a:gd name="T34" fmla="*/ 74 w 323"/>
              <a:gd name="T35" fmla="*/ 287 h 287"/>
              <a:gd name="T36" fmla="*/ 72 w 323"/>
              <a:gd name="T37" fmla="*/ 243 h 287"/>
              <a:gd name="T38" fmla="*/ 19 w 323"/>
              <a:gd name="T39" fmla="*/ 237 h 287"/>
              <a:gd name="T40" fmla="*/ 50 w 323"/>
              <a:gd name="T41" fmla="*/ 204 h 287"/>
              <a:gd name="T42" fmla="*/ 0 w 323"/>
              <a:gd name="T43" fmla="*/ 171 h 287"/>
              <a:gd name="T44" fmla="*/ 59 w 323"/>
              <a:gd name="T45" fmla="*/ 154 h 287"/>
              <a:gd name="T46" fmla="*/ 18 w 323"/>
              <a:gd name="T47" fmla="*/ 110 h 287"/>
              <a:gd name="T48" fmla="*/ 80 w 323"/>
              <a:gd name="T49" fmla="*/ 104 h 287"/>
              <a:gd name="T50" fmla="*/ 68 w 323"/>
              <a:gd name="T51" fmla="*/ 48 h 287"/>
              <a:gd name="T52" fmla="*/ 128 w 323"/>
              <a:gd name="T53" fmla="*/ 85 h 287"/>
              <a:gd name="T54" fmla="*/ 146 w 323"/>
              <a:gd name="T55" fmla="*/ 25 h 287"/>
              <a:gd name="T56" fmla="*/ 172 w 323"/>
              <a:gd name="T57" fmla="*/ 58 h 28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323" h="287">
                <a:moveTo>
                  <a:pt x="172" y="58"/>
                </a:moveTo>
                <a:lnTo>
                  <a:pt x="221" y="0"/>
                </a:lnTo>
                <a:lnTo>
                  <a:pt x="217" y="77"/>
                </a:lnTo>
                <a:lnTo>
                  <a:pt x="270" y="42"/>
                </a:lnTo>
                <a:lnTo>
                  <a:pt x="245" y="87"/>
                </a:lnTo>
                <a:lnTo>
                  <a:pt x="323" y="88"/>
                </a:lnTo>
                <a:lnTo>
                  <a:pt x="254" y="125"/>
                </a:lnTo>
                <a:lnTo>
                  <a:pt x="274" y="150"/>
                </a:lnTo>
                <a:lnTo>
                  <a:pt x="245" y="164"/>
                </a:lnTo>
                <a:lnTo>
                  <a:pt x="283" y="208"/>
                </a:lnTo>
                <a:lnTo>
                  <a:pt x="219" y="191"/>
                </a:lnTo>
                <a:lnTo>
                  <a:pt x="224" y="231"/>
                </a:lnTo>
                <a:lnTo>
                  <a:pt x="182" y="212"/>
                </a:lnTo>
                <a:lnTo>
                  <a:pt x="174" y="251"/>
                </a:lnTo>
                <a:lnTo>
                  <a:pt x="148" y="231"/>
                </a:lnTo>
                <a:lnTo>
                  <a:pt x="130" y="262"/>
                </a:lnTo>
                <a:lnTo>
                  <a:pt x="113" y="241"/>
                </a:lnTo>
                <a:lnTo>
                  <a:pt x="74" y="287"/>
                </a:lnTo>
                <a:lnTo>
                  <a:pt x="72" y="243"/>
                </a:lnTo>
                <a:lnTo>
                  <a:pt x="19" y="237"/>
                </a:lnTo>
                <a:lnTo>
                  <a:pt x="50" y="204"/>
                </a:lnTo>
                <a:lnTo>
                  <a:pt x="0" y="171"/>
                </a:lnTo>
                <a:lnTo>
                  <a:pt x="59" y="154"/>
                </a:lnTo>
                <a:lnTo>
                  <a:pt x="18" y="110"/>
                </a:lnTo>
                <a:lnTo>
                  <a:pt x="80" y="104"/>
                </a:lnTo>
                <a:lnTo>
                  <a:pt x="68" y="48"/>
                </a:lnTo>
                <a:lnTo>
                  <a:pt x="128" y="85"/>
                </a:lnTo>
                <a:lnTo>
                  <a:pt x="146" y="25"/>
                </a:lnTo>
                <a:lnTo>
                  <a:pt x="172" y="58"/>
                </a:lnTo>
                <a:close/>
              </a:path>
            </a:pathLst>
          </a:custGeom>
          <a:pattFill prst="shingle">
            <a:fgClr>
              <a:schemeClr val="accent2"/>
            </a:fgClr>
            <a:bgClr>
              <a:schemeClr val="bg1"/>
            </a:bgClr>
          </a:patt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15" name="Freeform 11">
            <a:extLst>
              <a:ext uri="{FF2B5EF4-FFF2-40B4-BE49-F238E27FC236}">
                <a16:creationId xmlns:a16="http://schemas.microsoft.com/office/drawing/2014/main" id="{D14FF742-5673-4B53-8806-1B5108EEA257}"/>
              </a:ext>
            </a:extLst>
          </p:cNvPr>
          <p:cNvSpPr>
            <a:spLocks/>
          </p:cNvSpPr>
          <p:nvPr/>
        </p:nvSpPr>
        <p:spPr bwMode="auto">
          <a:xfrm>
            <a:off x="5206392" y="3721607"/>
            <a:ext cx="512763" cy="455613"/>
          </a:xfrm>
          <a:custGeom>
            <a:avLst/>
            <a:gdLst>
              <a:gd name="T0" fmla="*/ 172 w 323"/>
              <a:gd name="T1" fmla="*/ 58 h 287"/>
              <a:gd name="T2" fmla="*/ 221 w 323"/>
              <a:gd name="T3" fmla="*/ 0 h 287"/>
              <a:gd name="T4" fmla="*/ 217 w 323"/>
              <a:gd name="T5" fmla="*/ 77 h 287"/>
              <a:gd name="T6" fmla="*/ 270 w 323"/>
              <a:gd name="T7" fmla="*/ 42 h 287"/>
              <a:gd name="T8" fmla="*/ 245 w 323"/>
              <a:gd name="T9" fmla="*/ 87 h 287"/>
              <a:gd name="T10" fmla="*/ 323 w 323"/>
              <a:gd name="T11" fmla="*/ 88 h 287"/>
              <a:gd name="T12" fmla="*/ 254 w 323"/>
              <a:gd name="T13" fmla="*/ 125 h 287"/>
              <a:gd name="T14" fmla="*/ 274 w 323"/>
              <a:gd name="T15" fmla="*/ 150 h 287"/>
              <a:gd name="T16" fmla="*/ 245 w 323"/>
              <a:gd name="T17" fmla="*/ 164 h 287"/>
              <a:gd name="T18" fmla="*/ 283 w 323"/>
              <a:gd name="T19" fmla="*/ 208 h 287"/>
              <a:gd name="T20" fmla="*/ 219 w 323"/>
              <a:gd name="T21" fmla="*/ 191 h 287"/>
              <a:gd name="T22" fmla="*/ 224 w 323"/>
              <a:gd name="T23" fmla="*/ 231 h 287"/>
              <a:gd name="T24" fmla="*/ 182 w 323"/>
              <a:gd name="T25" fmla="*/ 212 h 287"/>
              <a:gd name="T26" fmla="*/ 174 w 323"/>
              <a:gd name="T27" fmla="*/ 251 h 287"/>
              <a:gd name="T28" fmla="*/ 148 w 323"/>
              <a:gd name="T29" fmla="*/ 231 h 287"/>
              <a:gd name="T30" fmla="*/ 130 w 323"/>
              <a:gd name="T31" fmla="*/ 262 h 287"/>
              <a:gd name="T32" fmla="*/ 113 w 323"/>
              <a:gd name="T33" fmla="*/ 241 h 287"/>
              <a:gd name="T34" fmla="*/ 74 w 323"/>
              <a:gd name="T35" fmla="*/ 287 h 287"/>
              <a:gd name="T36" fmla="*/ 72 w 323"/>
              <a:gd name="T37" fmla="*/ 243 h 287"/>
              <a:gd name="T38" fmla="*/ 19 w 323"/>
              <a:gd name="T39" fmla="*/ 237 h 287"/>
              <a:gd name="T40" fmla="*/ 50 w 323"/>
              <a:gd name="T41" fmla="*/ 204 h 287"/>
              <a:gd name="T42" fmla="*/ 0 w 323"/>
              <a:gd name="T43" fmla="*/ 171 h 287"/>
              <a:gd name="T44" fmla="*/ 59 w 323"/>
              <a:gd name="T45" fmla="*/ 154 h 287"/>
              <a:gd name="T46" fmla="*/ 18 w 323"/>
              <a:gd name="T47" fmla="*/ 110 h 287"/>
              <a:gd name="T48" fmla="*/ 80 w 323"/>
              <a:gd name="T49" fmla="*/ 104 h 287"/>
              <a:gd name="T50" fmla="*/ 68 w 323"/>
              <a:gd name="T51" fmla="*/ 48 h 287"/>
              <a:gd name="T52" fmla="*/ 128 w 323"/>
              <a:gd name="T53" fmla="*/ 85 h 287"/>
              <a:gd name="T54" fmla="*/ 146 w 323"/>
              <a:gd name="T55" fmla="*/ 25 h 287"/>
              <a:gd name="T56" fmla="*/ 172 w 323"/>
              <a:gd name="T57" fmla="*/ 58 h 28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323" h="287">
                <a:moveTo>
                  <a:pt x="172" y="58"/>
                </a:moveTo>
                <a:lnTo>
                  <a:pt x="221" y="0"/>
                </a:lnTo>
                <a:lnTo>
                  <a:pt x="217" y="77"/>
                </a:lnTo>
                <a:lnTo>
                  <a:pt x="270" y="42"/>
                </a:lnTo>
                <a:lnTo>
                  <a:pt x="245" y="87"/>
                </a:lnTo>
                <a:lnTo>
                  <a:pt x="323" y="88"/>
                </a:lnTo>
                <a:lnTo>
                  <a:pt x="254" y="125"/>
                </a:lnTo>
                <a:lnTo>
                  <a:pt x="274" y="150"/>
                </a:lnTo>
                <a:lnTo>
                  <a:pt x="245" y="164"/>
                </a:lnTo>
                <a:lnTo>
                  <a:pt x="283" y="208"/>
                </a:lnTo>
                <a:lnTo>
                  <a:pt x="219" y="191"/>
                </a:lnTo>
                <a:lnTo>
                  <a:pt x="224" y="231"/>
                </a:lnTo>
                <a:lnTo>
                  <a:pt x="182" y="212"/>
                </a:lnTo>
                <a:lnTo>
                  <a:pt x="174" y="251"/>
                </a:lnTo>
                <a:lnTo>
                  <a:pt x="148" y="231"/>
                </a:lnTo>
                <a:lnTo>
                  <a:pt x="130" y="262"/>
                </a:lnTo>
                <a:lnTo>
                  <a:pt x="113" y="241"/>
                </a:lnTo>
                <a:lnTo>
                  <a:pt x="74" y="287"/>
                </a:lnTo>
                <a:lnTo>
                  <a:pt x="72" y="243"/>
                </a:lnTo>
                <a:lnTo>
                  <a:pt x="19" y="237"/>
                </a:lnTo>
                <a:lnTo>
                  <a:pt x="50" y="204"/>
                </a:lnTo>
                <a:lnTo>
                  <a:pt x="0" y="171"/>
                </a:lnTo>
                <a:lnTo>
                  <a:pt x="59" y="154"/>
                </a:lnTo>
                <a:lnTo>
                  <a:pt x="18" y="110"/>
                </a:lnTo>
                <a:lnTo>
                  <a:pt x="80" y="104"/>
                </a:lnTo>
                <a:lnTo>
                  <a:pt x="68" y="48"/>
                </a:lnTo>
                <a:lnTo>
                  <a:pt x="128" y="85"/>
                </a:lnTo>
                <a:lnTo>
                  <a:pt x="146" y="25"/>
                </a:lnTo>
                <a:lnTo>
                  <a:pt x="172" y="58"/>
                </a:lnTo>
                <a:close/>
              </a:path>
            </a:pathLst>
          </a:custGeom>
          <a:pattFill prst="shingle">
            <a:fgClr>
              <a:schemeClr val="accent2"/>
            </a:fgClr>
            <a:bgClr>
              <a:schemeClr val="bg1"/>
            </a:bgClr>
          </a:pattFill>
          <a:ln w="9525" cap="flat">
            <a:solidFill>
              <a:srgbClr val="3C09F7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16" name="Freeform 12">
            <a:extLst>
              <a:ext uri="{FF2B5EF4-FFF2-40B4-BE49-F238E27FC236}">
                <a16:creationId xmlns:a16="http://schemas.microsoft.com/office/drawing/2014/main" id="{0D07FFC9-3729-4777-9C84-29D7D6EEE320}"/>
              </a:ext>
            </a:extLst>
          </p:cNvPr>
          <p:cNvSpPr>
            <a:spLocks/>
          </p:cNvSpPr>
          <p:nvPr/>
        </p:nvSpPr>
        <p:spPr bwMode="auto">
          <a:xfrm>
            <a:off x="5719155" y="3721607"/>
            <a:ext cx="514350" cy="455613"/>
          </a:xfrm>
          <a:custGeom>
            <a:avLst/>
            <a:gdLst>
              <a:gd name="T0" fmla="*/ 172 w 324"/>
              <a:gd name="T1" fmla="*/ 58 h 287"/>
              <a:gd name="T2" fmla="*/ 222 w 324"/>
              <a:gd name="T3" fmla="*/ 0 h 287"/>
              <a:gd name="T4" fmla="*/ 218 w 324"/>
              <a:gd name="T5" fmla="*/ 77 h 287"/>
              <a:gd name="T6" fmla="*/ 270 w 324"/>
              <a:gd name="T7" fmla="*/ 42 h 287"/>
              <a:gd name="T8" fmla="*/ 246 w 324"/>
              <a:gd name="T9" fmla="*/ 87 h 287"/>
              <a:gd name="T10" fmla="*/ 324 w 324"/>
              <a:gd name="T11" fmla="*/ 88 h 287"/>
              <a:gd name="T12" fmla="*/ 255 w 324"/>
              <a:gd name="T13" fmla="*/ 125 h 287"/>
              <a:gd name="T14" fmla="*/ 274 w 324"/>
              <a:gd name="T15" fmla="*/ 150 h 287"/>
              <a:gd name="T16" fmla="*/ 246 w 324"/>
              <a:gd name="T17" fmla="*/ 164 h 287"/>
              <a:gd name="T18" fmla="*/ 283 w 324"/>
              <a:gd name="T19" fmla="*/ 208 h 287"/>
              <a:gd name="T20" fmla="*/ 220 w 324"/>
              <a:gd name="T21" fmla="*/ 191 h 287"/>
              <a:gd name="T22" fmla="*/ 224 w 324"/>
              <a:gd name="T23" fmla="*/ 231 h 287"/>
              <a:gd name="T24" fmla="*/ 183 w 324"/>
              <a:gd name="T25" fmla="*/ 212 h 287"/>
              <a:gd name="T26" fmla="*/ 174 w 324"/>
              <a:gd name="T27" fmla="*/ 251 h 287"/>
              <a:gd name="T28" fmla="*/ 148 w 324"/>
              <a:gd name="T29" fmla="*/ 231 h 287"/>
              <a:gd name="T30" fmla="*/ 131 w 324"/>
              <a:gd name="T31" fmla="*/ 262 h 287"/>
              <a:gd name="T32" fmla="*/ 113 w 324"/>
              <a:gd name="T33" fmla="*/ 241 h 287"/>
              <a:gd name="T34" fmla="*/ 74 w 324"/>
              <a:gd name="T35" fmla="*/ 287 h 287"/>
              <a:gd name="T36" fmla="*/ 73 w 324"/>
              <a:gd name="T37" fmla="*/ 243 h 287"/>
              <a:gd name="T38" fmla="*/ 20 w 324"/>
              <a:gd name="T39" fmla="*/ 237 h 287"/>
              <a:gd name="T40" fmla="*/ 50 w 324"/>
              <a:gd name="T41" fmla="*/ 204 h 287"/>
              <a:gd name="T42" fmla="*/ 0 w 324"/>
              <a:gd name="T43" fmla="*/ 171 h 287"/>
              <a:gd name="T44" fmla="*/ 59 w 324"/>
              <a:gd name="T45" fmla="*/ 154 h 287"/>
              <a:gd name="T46" fmla="*/ 18 w 324"/>
              <a:gd name="T47" fmla="*/ 110 h 287"/>
              <a:gd name="T48" fmla="*/ 81 w 324"/>
              <a:gd name="T49" fmla="*/ 104 h 287"/>
              <a:gd name="T50" fmla="*/ 68 w 324"/>
              <a:gd name="T51" fmla="*/ 48 h 287"/>
              <a:gd name="T52" fmla="*/ 128 w 324"/>
              <a:gd name="T53" fmla="*/ 85 h 287"/>
              <a:gd name="T54" fmla="*/ 146 w 324"/>
              <a:gd name="T55" fmla="*/ 25 h 287"/>
              <a:gd name="T56" fmla="*/ 172 w 324"/>
              <a:gd name="T57" fmla="*/ 58 h 28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324" h="287">
                <a:moveTo>
                  <a:pt x="172" y="58"/>
                </a:moveTo>
                <a:lnTo>
                  <a:pt x="222" y="0"/>
                </a:lnTo>
                <a:lnTo>
                  <a:pt x="218" y="77"/>
                </a:lnTo>
                <a:lnTo>
                  <a:pt x="270" y="42"/>
                </a:lnTo>
                <a:lnTo>
                  <a:pt x="246" y="87"/>
                </a:lnTo>
                <a:lnTo>
                  <a:pt x="324" y="88"/>
                </a:lnTo>
                <a:lnTo>
                  <a:pt x="255" y="125"/>
                </a:lnTo>
                <a:lnTo>
                  <a:pt x="274" y="150"/>
                </a:lnTo>
                <a:lnTo>
                  <a:pt x="246" y="164"/>
                </a:lnTo>
                <a:lnTo>
                  <a:pt x="283" y="208"/>
                </a:lnTo>
                <a:lnTo>
                  <a:pt x="220" y="191"/>
                </a:lnTo>
                <a:lnTo>
                  <a:pt x="224" y="231"/>
                </a:lnTo>
                <a:lnTo>
                  <a:pt x="183" y="212"/>
                </a:lnTo>
                <a:lnTo>
                  <a:pt x="174" y="251"/>
                </a:lnTo>
                <a:lnTo>
                  <a:pt x="148" y="231"/>
                </a:lnTo>
                <a:lnTo>
                  <a:pt x="131" y="262"/>
                </a:lnTo>
                <a:lnTo>
                  <a:pt x="113" y="241"/>
                </a:lnTo>
                <a:lnTo>
                  <a:pt x="74" y="287"/>
                </a:lnTo>
                <a:lnTo>
                  <a:pt x="73" y="243"/>
                </a:lnTo>
                <a:lnTo>
                  <a:pt x="20" y="237"/>
                </a:lnTo>
                <a:lnTo>
                  <a:pt x="50" y="204"/>
                </a:lnTo>
                <a:lnTo>
                  <a:pt x="0" y="171"/>
                </a:lnTo>
                <a:lnTo>
                  <a:pt x="59" y="154"/>
                </a:lnTo>
                <a:lnTo>
                  <a:pt x="18" y="110"/>
                </a:lnTo>
                <a:lnTo>
                  <a:pt x="81" y="104"/>
                </a:lnTo>
                <a:lnTo>
                  <a:pt x="68" y="48"/>
                </a:lnTo>
                <a:lnTo>
                  <a:pt x="128" y="85"/>
                </a:lnTo>
                <a:lnTo>
                  <a:pt x="146" y="25"/>
                </a:lnTo>
                <a:lnTo>
                  <a:pt x="172" y="58"/>
                </a:lnTo>
                <a:close/>
              </a:path>
            </a:pathLst>
          </a:custGeom>
          <a:pattFill prst="shingle">
            <a:fgClr>
              <a:schemeClr val="accent2"/>
            </a:fgClr>
            <a:bgClr>
              <a:schemeClr val="bg1"/>
            </a:bgClr>
          </a:patt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17" name="Freeform 13">
            <a:extLst>
              <a:ext uri="{FF2B5EF4-FFF2-40B4-BE49-F238E27FC236}">
                <a16:creationId xmlns:a16="http://schemas.microsoft.com/office/drawing/2014/main" id="{4DB19575-6202-4975-A3D9-25BA9AFE6BEC}"/>
              </a:ext>
            </a:extLst>
          </p:cNvPr>
          <p:cNvSpPr>
            <a:spLocks/>
          </p:cNvSpPr>
          <p:nvPr/>
        </p:nvSpPr>
        <p:spPr bwMode="auto">
          <a:xfrm>
            <a:off x="5719155" y="3721607"/>
            <a:ext cx="514350" cy="455613"/>
          </a:xfrm>
          <a:custGeom>
            <a:avLst/>
            <a:gdLst>
              <a:gd name="T0" fmla="*/ 172 w 324"/>
              <a:gd name="T1" fmla="*/ 58 h 287"/>
              <a:gd name="T2" fmla="*/ 222 w 324"/>
              <a:gd name="T3" fmla="*/ 0 h 287"/>
              <a:gd name="T4" fmla="*/ 218 w 324"/>
              <a:gd name="T5" fmla="*/ 77 h 287"/>
              <a:gd name="T6" fmla="*/ 270 w 324"/>
              <a:gd name="T7" fmla="*/ 42 h 287"/>
              <a:gd name="T8" fmla="*/ 246 w 324"/>
              <a:gd name="T9" fmla="*/ 87 h 287"/>
              <a:gd name="T10" fmla="*/ 324 w 324"/>
              <a:gd name="T11" fmla="*/ 88 h 287"/>
              <a:gd name="T12" fmla="*/ 255 w 324"/>
              <a:gd name="T13" fmla="*/ 125 h 287"/>
              <a:gd name="T14" fmla="*/ 274 w 324"/>
              <a:gd name="T15" fmla="*/ 150 h 287"/>
              <a:gd name="T16" fmla="*/ 246 w 324"/>
              <a:gd name="T17" fmla="*/ 164 h 287"/>
              <a:gd name="T18" fmla="*/ 283 w 324"/>
              <a:gd name="T19" fmla="*/ 208 h 287"/>
              <a:gd name="T20" fmla="*/ 220 w 324"/>
              <a:gd name="T21" fmla="*/ 191 h 287"/>
              <a:gd name="T22" fmla="*/ 224 w 324"/>
              <a:gd name="T23" fmla="*/ 231 h 287"/>
              <a:gd name="T24" fmla="*/ 183 w 324"/>
              <a:gd name="T25" fmla="*/ 212 h 287"/>
              <a:gd name="T26" fmla="*/ 174 w 324"/>
              <a:gd name="T27" fmla="*/ 251 h 287"/>
              <a:gd name="T28" fmla="*/ 148 w 324"/>
              <a:gd name="T29" fmla="*/ 231 h 287"/>
              <a:gd name="T30" fmla="*/ 131 w 324"/>
              <a:gd name="T31" fmla="*/ 262 h 287"/>
              <a:gd name="T32" fmla="*/ 113 w 324"/>
              <a:gd name="T33" fmla="*/ 241 h 287"/>
              <a:gd name="T34" fmla="*/ 74 w 324"/>
              <a:gd name="T35" fmla="*/ 287 h 287"/>
              <a:gd name="T36" fmla="*/ 73 w 324"/>
              <a:gd name="T37" fmla="*/ 243 h 287"/>
              <a:gd name="T38" fmla="*/ 20 w 324"/>
              <a:gd name="T39" fmla="*/ 237 h 287"/>
              <a:gd name="T40" fmla="*/ 50 w 324"/>
              <a:gd name="T41" fmla="*/ 204 h 287"/>
              <a:gd name="T42" fmla="*/ 0 w 324"/>
              <a:gd name="T43" fmla="*/ 171 h 287"/>
              <a:gd name="T44" fmla="*/ 59 w 324"/>
              <a:gd name="T45" fmla="*/ 154 h 287"/>
              <a:gd name="T46" fmla="*/ 18 w 324"/>
              <a:gd name="T47" fmla="*/ 110 h 287"/>
              <a:gd name="T48" fmla="*/ 81 w 324"/>
              <a:gd name="T49" fmla="*/ 104 h 287"/>
              <a:gd name="T50" fmla="*/ 68 w 324"/>
              <a:gd name="T51" fmla="*/ 48 h 287"/>
              <a:gd name="T52" fmla="*/ 128 w 324"/>
              <a:gd name="T53" fmla="*/ 85 h 287"/>
              <a:gd name="T54" fmla="*/ 146 w 324"/>
              <a:gd name="T55" fmla="*/ 25 h 287"/>
              <a:gd name="T56" fmla="*/ 172 w 324"/>
              <a:gd name="T57" fmla="*/ 58 h 28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324" h="287">
                <a:moveTo>
                  <a:pt x="172" y="58"/>
                </a:moveTo>
                <a:lnTo>
                  <a:pt x="222" y="0"/>
                </a:lnTo>
                <a:lnTo>
                  <a:pt x="218" y="77"/>
                </a:lnTo>
                <a:lnTo>
                  <a:pt x="270" y="42"/>
                </a:lnTo>
                <a:lnTo>
                  <a:pt x="246" y="87"/>
                </a:lnTo>
                <a:lnTo>
                  <a:pt x="324" y="88"/>
                </a:lnTo>
                <a:lnTo>
                  <a:pt x="255" y="125"/>
                </a:lnTo>
                <a:lnTo>
                  <a:pt x="274" y="150"/>
                </a:lnTo>
                <a:lnTo>
                  <a:pt x="246" y="164"/>
                </a:lnTo>
                <a:lnTo>
                  <a:pt x="283" y="208"/>
                </a:lnTo>
                <a:lnTo>
                  <a:pt x="220" y="191"/>
                </a:lnTo>
                <a:lnTo>
                  <a:pt x="224" y="231"/>
                </a:lnTo>
                <a:lnTo>
                  <a:pt x="183" y="212"/>
                </a:lnTo>
                <a:lnTo>
                  <a:pt x="174" y="251"/>
                </a:lnTo>
                <a:lnTo>
                  <a:pt x="148" y="231"/>
                </a:lnTo>
                <a:lnTo>
                  <a:pt x="131" y="262"/>
                </a:lnTo>
                <a:lnTo>
                  <a:pt x="113" y="241"/>
                </a:lnTo>
                <a:lnTo>
                  <a:pt x="74" y="287"/>
                </a:lnTo>
                <a:lnTo>
                  <a:pt x="73" y="243"/>
                </a:lnTo>
                <a:lnTo>
                  <a:pt x="20" y="237"/>
                </a:lnTo>
                <a:lnTo>
                  <a:pt x="50" y="204"/>
                </a:lnTo>
                <a:lnTo>
                  <a:pt x="0" y="171"/>
                </a:lnTo>
                <a:lnTo>
                  <a:pt x="59" y="154"/>
                </a:lnTo>
                <a:lnTo>
                  <a:pt x="18" y="110"/>
                </a:lnTo>
                <a:lnTo>
                  <a:pt x="81" y="104"/>
                </a:lnTo>
                <a:lnTo>
                  <a:pt x="68" y="48"/>
                </a:lnTo>
                <a:lnTo>
                  <a:pt x="128" y="85"/>
                </a:lnTo>
                <a:lnTo>
                  <a:pt x="146" y="25"/>
                </a:lnTo>
                <a:lnTo>
                  <a:pt x="172" y="58"/>
                </a:lnTo>
                <a:close/>
              </a:path>
            </a:pathLst>
          </a:custGeom>
          <a:pattFill prst="shingle">
            <a:fgClr>
              <a:schemeClr val="accent2"/>
            </a:fgClr>
            <a:bgClr>
              <a:schemeClr val="bg1"/>
            </a:bgClr>
          </a:pattFill>
          <a:ln w="9525" cap="flat">
            <a:solidFill>
              <a:srgbClr val="3C09F7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18" name="Freeform 14">
            <a:extLst>
              <a:ext uri="{FF2B5EF4-FFF2-40B4-BE49-F238E27FC236}">
                <a16:creationId xmlns:a16="http://schemas.microsoft.com/office/drawing/2014/main" id="{8AFD2F0A-850D-47BA-BC94-6F6B6091E1F3}"/>
              </a:ext>
            </a:extLst>
          </p:cNvPr>
          <p:cNvSpPr>
            <a:spLocks/>
          </p:cNvSpPr>
          <p:nvPr/>
        </p:nvSpPr>
        <p:spPr bwMode="auto">
          <a:xfrm>
            <a:off x="6233505" y="3721607"/>
            <a:ext cx="512763" cy="455613"/>
          </a:xfrm>
          <a:custGeom>
            <a:avLst/>
            <a:gdLst>
              <a:gd name="T0" fmla="*/ 172 w 323"/>
              <a:gd name="T1" fmla="*/ 58 h 287"/>
              <a:gd name="T2" fmla="*/ 221 w 323"/>
              <a:gd name="T3" fmla="*/ 0 h 287"/>
              <a:gd name="T4" fmla="*/ 217 w 323"/>
              <a:gd name="T5" fmla="*/ 77 h 287"/>
              <a:gd name="T6" fmla="*/ 270 w 323"/>
              <a:gd name="T7" fmla="*/ 42 h 287"/>
              <a:gd name="T8" fmla="*/ 245 w 323"/>
              <a:gd name="T9" fmla="*/ 87 h 287"/>
              <a:gd name="T10" fmla="*/ 323 w 323"/>
              <a:gd name="T11" fmla="*/ 88 h 287"/>
              <a:gd name="T12" fmla="*/ 254 w 323"/>
              <a:gd name="T13" fmla="*/ 125 h 287"/>
              <a:gd name="T14" fmla="*/ 274 w 323"/>
              <a:gd name="T15" fmla="*/ 150 h 287"/>
              <a:gd name="T16" fmla="*/ 245 w 323"/>
              <a:gd name="T17" fmla="*/ 164 h 287"/>
              <a:gd name="T18" fmla="*/ 283 w 323"/>
              <a:gd name="T19" fmla="*/ 208 h 287"/>
              <a:gd name="T20" fmla="*/ 219 w 323"/>
              <a:gd name="T21" fmla="*/ 191 h 287"/>
              <a:gd name="T22" fmla="*/ 224 w 323"/>
              <a:gd name="T23" fmla="*/ 231 h 287"/>
              <a:gd name="T24" fmla="*/ 182 w 323"/>
              <a:gd name="T25" fmla="*/ 212 h 287"/>
              <a:gd name="T26" fmla="*/ 174 w 323"/>
              <a:gd name="T27" fmla="*/ 251 h 287"/>
              <a:gd name="T28" fmla="*/ 148 w 323"/>
              <a:gd name="T29" fmla="*/ 231 h 287"/>
              <a:gd name="T30" fmla="*/ 130 w 323"/>
              <a:gd name="T31" fmla="*/ 262 h 287"/>
              <a:gd name="T32" fmla="*/ 113 w 323"/>
              <a:gd name="T33" fmla="*/ 241 h 287"/>
              <a:gd name="T34" fmla="*/ 74 w 323"/>
              <a:gd name="T35" fmla="*/ 287 h 287"/>
              <a:gd name="T36" fmla="*/ 72 w 323"/>
              <a:gd name="T37" fmla="*/ 243 h 287"/>
              <a:gd name="T38" fmla="*/ 19 w 323"/>
              <a:gd name="T39" fmla="*/ 237 h 287"/>
              <a:gd name="T40" fmla="*/ 50 w 323"/>
              <a:gd name="T41" fmla="*/ 204 h 287"/>
              <a:gd name="T42" fmla="*/ 0 w 323"/>
              <a:gd name="T43" fmla="*/ 171 h 287"/>
              <a:gd name="T44" fmla="*/ 59 w 323"/>
              <a:gd name="T45" fmla="*/ 154 h 287"/>
              <a:gd name="T46" fmla="*/ 18 w 323"/>
              <a:gd name="T47" fmla="*/ 110 h 287"/>
              <a:gd name="T48" fmla="*/ 80 w 323"/>
              <a:gd name="T49" fmla="*/ 104 h 287"/>
              <a:gd name="T50" fmla="*/ 68 w 323"/>
              <a:gd name="T51" fmla="*/ 48 h 287"/>
              <a:gd name="T52" fmla="*/ 128 w 323"/>
              <a:gd name="T53" fmla="*/ 85 h 287"/>
              <a:gd name="T54" fmla="*/ 146 w 323"/>
              <a:gd name="T55" fmla="*/ 25 h 287"/>
              <a:gd name="T56" fmla="*/ 172 w 323"/>
              <a:gd name="T57" fmla="*/ 58 h 28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323" h="287">
                <a:moveTo>
                  <a:pt x="172" y="58"/>
                </a:moveTo>
                <a:lnTo>
                  <a:pt x="221" y="0"/>
                </a:lnTo>
                <a:lnTo>
                  <a:pt x="217" y="77"/>
                </a:lnTo>
                <a:lnTo>
                  <a:pt x="270" y="42"/>
                </a:lnTo>
                <a:lnTo>
                  <a:pt x="245" y="87"/>
                </a:lnTo>
                <a:lnTo>
                  <a:pt x="323" y="88"/>
                </a:lnTo>
                <a:lnTo>
                  <a:pt x="254" y="125"/>
                </a:lnTo>
                <a:lnTo>
                  <a:pt x="274" y="150"/>
                </a:lnTo>
                <a:lnTo>
                  <a:pt x="245" y="164"/>
                </a:lnTo>
                <a:lnTo>
                  <a:pt x="283" y="208"/>
                </a:lnTo>
                <a:lnTo>
                  <a:pt x="219" y="191"/>
                </a:lnTo>
                <a:lnTo>
                  <a:pt x="224" y="231"/>
                </a:lnTo>
                <a:lnTo>
                  <a:pt x="182" y="212"/>
                </a:lnTo>
                <a:lnTo>
                  <a:pt x="174" y="251"/>
                </a:lnTo>
                <a:lnTo>
                  <a:pt x="148" y="231"/>
                </a:lnTo>
                <a:lnTo>
                  <a:pt x="130" y="262"/>
                </a:lnTo>
                <a:lnTo>
                  <a:pt x="113" y="241"/>
                </a:lnTo>
                <a:lnTo>
                  <a:pt x="74" y="287"/>
                </a:lnTo>
                <a:lnTo>
                  <a:pt x="72" y="243"/>
                </a:lnTo>
                <a:lnTo>
                  <a:pt x="19" y="237"/>
                </a:lnTo>
                <a:lnTo>
                  <a:pt x="50" y="204"/>
                </a:lnTo>
                <a:lnTo>
                  <a:pt x="0" y="171"/>
                </a:lnTo>
                <a:lnTo>
                  <a:pt x="59" y="154"/>
                </a:lnTo>
                <a:lnTo>
                  <a:pt x="18" y="110"/>
                </a:lnTo>
                <a:lnTo>
                  <a:pt x="80" y="104"/>
                </a:lnTo>
                <a:lnTo>
                  <a:pt x="68" y="48"/>
                </a:lnTo>
                <a:lnTo>
                  <a:pt x="128" y="85"/>
                </a:lnTo>
                <a:lnTo>
                  <a:pt x="146" y="25"/>
                </a:lnTo>
                <a:lnTo>
                  <a:pt x="172" y="58"/>
                </a:lnTo>
                <a:close/>
              </a:path>
            </a:pathLst>
          </a:custGeom>
          <a:pattFill prst="shingle">
            <a:fgClr>
              <a:schemeClr val="accent2"/>
            </a:fgClr>
            <a:bgClr>
              <a:schemeClr val="bg1"/>
            </a:bgClr>
          </a:patt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19" name="Freeform 15">
            <a:extLst>
              <a:ext uri="{FF2B5EF4-FFF2-40B4-BE49-F238E27FC236}">
                <a16:creationId xmlns:a16="http://schemas.microsoft.com/office/drawing/2014/main" id="{4430AD9D-7B63-4A5F-B620-39E58372264F}"/>
              </a:ext>
            </a:extLst>
          </p:cNvPr>
          <p:cNvSpPr>
            <a:spLocks/>
          </p:cNvSpPr>
          <p:nvPr/>
        </p:nvSpPr>
        <p:spPr bwMode="auto">
          <a:xfrm>
            <a:off x="6233505" y="3721607"/>
            <a:ext cx="512763" cy="455613"/>
          </a:xfrm>
          <a:custGeom>
            <a:avLst/>
            <a:gdLst>
              <a:gd name="T0" fmla="*/ 172 w 323"/>
              <a:gd name="T1" fmla="*/ 58 h 287"/>
              <a:gd name="T2" fmla="*/ 221 w 323"/>
              <a:gd name="T3" fmla="*/ 0 h 287"/>
              <a:gd name="T4" fmla="*/ 217 w 323"/>
              <a:gd name="T5" fmla="*/ 77 h 287"/>
              <a:gd name="T6" fmla="*/ 270 w 323"/>
              <a:gd name="T7" fmla="*/ 42 h 287"/>
              <a:gd name="T8" fmla="*/ 245 w 323"/>
              <a:gd name="T9" fmla="*/ 87 h 287"/>
              <a:gd name="T10" fmla="*/ 323 w 323"/>
              <a:gd name="T11" fmla="*/ 88 h 287"/>
              <a:gd name="T12" fmla="*/ 254 w 323"/>
              <a:gd name="T13" fmla="*/ 125 h 287"/>
              <a:gd name="T14" fmla="*/ 274 w 323"/>
              <a:gd name="T15" fmla="*/ 150 h 287"/>
              <a:gd name="T16" fmla="*/ 245 w 323"/>
              <a:gd name="T17" fmla="*/ 164 h 287"/>
              <a:gd name="T18" fmla="*/ 283 w 323"/>
              <a:gd name="T19" fmla="*/ 208 h 287"/>
              <a:gd name="T20" fmla="*/ 219 w 323"/>
              <a:gd name="T21" fmla="*/ 191 h 287"/>
              <a:gd name="T22" fmla="*/ 224 w 323"/>
              <a:gd name="T23" fmla="*/ 231 h 287"/>
              <a:gd name="T24" fmla="*/ 182 w 323"/>
              <a:gd name="T25" fmla="*/ 212 h 287"/>
              <a:gd name="T26" fmla="*/ 174 w 323"/>
              <a:gd name="T27" fmla="*/ 251 h 287"/>
              <a:gd name="T28" fmla="*/ 148 w 323"/>
              <a:gd name="T29" fmla="*/ 231 h 287"/>
              <a:gd name="T30" fmla="*/ 130 w 323"/>
              <a:gd name="T31" fmla="*/ 262 h 287"/>
              <a:gd name="T32" fmla="*/ 113 w 323"/>
              <a:gd name="T33" fmla="*/ 241 h 287"/>
              <a:gd name="T34" fmla="*/ 74 w 323"/>
              <a:gd name="T35" fmla="*/ 287 h 287"/>
              <a:gd name="T36" fmla="*/ 72 w 323"/>
              <a:gd name="T37" fmla="*/ 243 h 287"/>
              <a:gd name="T38" fmla="*/ 19 w 323"/>
              <a:gd name="T39" fmla="*/ 237 h 287"/>
              <a:gd name="T40" fmla="*/ 50 w 323"/>
              <a:gd name="T41" fmla="*/ 204 h 287"/>
              <a:gd name="T42" fmla="*/ 0 w 323"/>
              <a:gd name="T43" fmla="*/ 171 h 287"/>
              <a:gd name="T44" fmla="*/ 59 w 323"/>
              <a:gd name="T45" fmla="*/ 154 h 287"/>
              <a:gd name="T46" fmla="*/ 18 w 323"/>
              <a:gd name="T47" fmla="*/ 110 h 287"/>
              <a:gd name="T48" fmla="*/ 80 w 323"/>
              <a:gd name="T49" fmla="*/ 104 h 287"/>
              <a:gd name="T50" fmla="*/ 68 w 323"/>
              <a:gd name="T51" fmla="*/ 48 h 287"/>
              <a:gd name="T52" fmla="*/ 128 w 323"/>
              <a:gd name="T53" fmla="*/ 85 h 287"/>
              <a:gd name="T54" fmla="*/ 146 w 323"/>
              <a:gd name="T55" fmla="*/ 25 h 287"/>
              <a:gd name="T56" fmla="*/ 172 w 323"/>
              <a:gd name="T57" fmla="*/ 58 h 28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323" h="287">
                <a:moveTo>
                  <a:pt x="172" y="58"/>
                </a:moveTo>
                <a:lnTo>
                  <a:pt x="221" y="0"/>
                </a:lnTo>
                <a:lnTo>
                  <a:pt x="217" y="77"/>
                </a:lnTo>
                <a:lnTo>
                  <a:pt x="270" y="42"/>
                </a:lnTo>
                <a:lnTo>
                  <a:pt x="245" y="87"/>
                </a:lnTo>
                <a:lnTo>
                  <a:pt x="323" y="88"/>
                </a:lnTo>
                <a:lnTo>
                  <a:pt x="254" y="125"/>
                </a:lnTo>
                <a:lnTo>
                  <a:pt x="274" y="150"/>
                </a:lnTo>
                <a:lnTo>
                  <a:pt x="245" y="164"/>
                </a:lnTo>
                <a:lnTo>
                  <a:pt x="283" y="208"/>
                </a:lnTo>
                <a:lnTo>
                  <a:pt x="219" y="191"/>
                </a:lnTo>
                <a:lnTo>
                  <a:pt x="224" y="231"/>
                </a:lnTo>
                <a:lnTo>
                  <a:pt x="182" y="212"/>
                </a:lnTo>
                <a:lnTo>
                  <a:pt x="174" y="251"/>
                </a:lnTo>
                <a:lnTo>
                  <a:pt x="148" y="231"/>
                </a:lnTo>
                <a:lnTo>
                  <a:pt x="130" y="262"/>
                </a:lnTo>
                <a:lnTo>
                  <a:pt x="113" y="241"/>
                </a:lnTo>
                <a:lnTo>
                  <a:pt x="74" y="287"/>
                </a:lnTo>
                <a:lnTo>
                  <a:pt x="72" y="243"/>
                </a:lnTo>
                <a:lnTo>
                  <a:pt x="19" y="237"/>
                </a:lnTo>
                <a:lnTo>
                  <a:pt x="50" y="204"/>
                </a:lnTo>
                <a:lnTo>
                  <a:pt x="0" y="171"/>
                </a:lnTo>
                <a:lnTo>
                  <a:pt x="59" y="154"/>
                </a:lnTo>
                <a:lnTo>
                  <a:pt x="18" y="110"/>
                </a:lnTo>
                <a:lnTo>
                  <a:pt x="80" y="104"/>
                </a:lnTo>
                <a:lnTo>
                  <a:pt x="68" y="48"/>
                </a:lnTo>
                <a:lnTo>
                  <a:pt x="128" y="85"/>
                </a:lnTo>
                <a:lnTo>
                  <a:pt x="146" y="25"/>
                </a:lnTo>
                <a:lnTo>
                  <a:pt x="172" y="58"/>
                </a:lnTo>
                <a:close/>
              </a:path>
            </a:pathLst>
          </a:custGeom>
          <a:pattFill prst="shingle">
            <a:fgClr>
              <a:schemeClr val="accent2"/>
            </a:fgClr>
            <a:bgClr>
              <a:schemeClr val="bg1"/>
            </a:bgClr>
          </a:pattFill>
          <a:ln w="9525" cap="flat">
            <a:solidFill>
              <a:srgbClr val="3C09F7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20" name="Rectangle 16">
            <a:extLst>
              <a:ext uri="{FF2B5EF4-FFF2-40B4-BE49-F238E27FC236}">
                <a16:creationId xmlns:a16="http://schemas.microsoft.com/office/drawing/2014/main" id="{17AE300A-512B-4F34-9D9C-2568BF9FC53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93267" y="3256469"/>
            <a:ext cx="410369" cy="2769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zh-CN" altLang="zh-CN" sz="1800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rPr>
              <a:t>stall</a:t>
            </a:r>
            <a:endParaRPr kumimoji="0" lang="zh-CN" altLang="zh-CN" sz="180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  <a:ea typeface="SimHei" panose="02010609060101010101" pitchFamily="49" charset="-122"/>
            </a:endParaRPr>
          </a:p>
        </p:txBody>
      </p:sp>
      <p:sp>
        <p:nvSpPr>
          <p:cNvPr id="21" name="Freeform 17">
            <a:extLst>
              <a:ext uri="{FF2B5EF4-FFF2-40B4-BE49-F238E27FC236}">
                <a16:creationId xmlns:a16="http://schemas.microsoft.com/office/drawing/2014/main" id="{15CF3D72-F6D7-4042-967F-887E0EA0C7D8}"/>
              </a:ext>
            </a:extLst>
          </p:cNvPr>
          <p:cNvSpPr>
            <a:spLocks/>
          </p:cNvSpPr>
          <p:nvPr/>
        </p:nvSpPr>
        <p:spPr bwMode="auto">
          <a:xfrm>
            <a:off x="3664930" y="3207257"/>
            <a:ext cx="514350" cy="457200"/>
          </a:xfrm>
          <a:custGeom>
            <a:avLst/>
            <a:gdLst>
              <a:gd name="T0" fmla="*/ 172 w 324"/>
              <a:gd name="T1" fmla="*/ 58 h 288"/>
              <a:gd name="T2" fmla="*/ 222 w 324"/>
              <a:gd name="T3" fmla="*/ 0 h 288"/>
              <a:gd name="T4" fmla="*/ 218 w 324"/>
              <a:gd name="T5" fmla="*/ 77 h 288"/>
              <a:gd name="T6" fmla="*/ 270 w 324"/>
              <a:gd name="T7" fmla="*/ 43 h 288"/>
              <a:gd name="T8" fmla="*/ 246 w 324"/>
              <a:gd name="T9" fmla="*/ 87 h 288"/>
              <a:gd name="T10" fmla="*/ 324 w 324"/>
              <a:gd name="T11" fmla="*/ 89 h 288"/>
              <a:gd name="T12" fmla="*/ 255 w 324"/>
              <a:gd name="T13" fmla="*/ 126 h 288"/>
              <a:gd name="T14" fmla="*/ 274 w 324"/>
              <a:gd name="T15" fmla="*/ 151 h 288"/>
              <a:gd name="T16" fmla="*/ 246 w 324"/>
              <a:gd name="T17" fmla="*/ 164 h 288"/>
              <a:gd name="T18" fmla="*/ 283 w 324"/>
              <a:gd name="T19" fmla="*/ 209 h 288"/>
              <a:gd name="T20" fmla="*/ 220 w 324"/>
              <a:gd name="T21" fmla="*/ 192 h 288"/>
              <a:gd name="T22" fmla="*/ 224 w 324"/>
              <a:gd name="T23" fmla="*/ 232 h 288"/>
              <a:gd name="T24" fmla="*/ 183 w 324"/>
              <a:gd name="T25" fmla="*/ 213 h 288"/>
              <a:gd name="T26" fmla="*/ 174 w 324"/>
              <a:gd name="T27" fmla="*/ 251 h 288"/>
              <a:gd name="T28" fmla="*/ 148 w 324"/>
              <a:gd name="T29" fmla="*/ 232 h 288"/>
              <a:gd name="T30" fmla="*/ 131 w 324"/>
              <a:gd name="T31" fmla="*/ 263 h 288"/>
              <a:gd name="T32" fmla="*/ 113 w 324"/>
              <a:gd name="T33" fmla="*/ 242 h 288"/>
              <a:gd name="T34" fmla="*/ 74 w 324"/>
              <a:gd name="T35" fmla="*/ 288 h 288"/>
              <a:gd name="T36" fmla="*/ 72 w 324"/>
              <a:gd name="T37" fmla="*/ 243 h 288"/>
              <a:gd name="T38" fmla="*/ 20 w 324"/>
              <a:gd name="T39" fmla="*/ 238 h 288"/>
              <a:gd name="T40" fmla="*/ 50 w 324"/>
              <a:gd name="T41" fmla="*/ 205 h 288"/>
              <a:gd name="T42" fmla="*/ 0 w 324"/>
              <a:gd name="T43" fmla="*/ 172 h 288"/>
              <a:gd name="T44" fmla="*/ 59 w 324"/>
              <a:gd name="T45" fmla="*/ 155 h 288"/>
              <a:gd name="T46" fmla="*/ 18 w 324"/>
              <a:gd name="T47" fmla="*/ 111 h 288"/>
              <a:gd name="T48" fmla="*/ 81 w 324"/>
              <a:gd name="T49" fmla="*/ 105 h 288"/>
              <a:gd name="T50" fmla="*/ 68 w 324"/>
              <a:gd name="T51" fmla="*/ 49 h 288"/>
              <a:gd name="T52" fmla="*/ 128 w 324"/>
              <a:gd name="T53" fmla="*/ 85 h 288"/>
              <a:gd name="T54" fmla="*/ 146 w 324"/>
              <a:gd name="T55" fmla="*/ 26 h 288"/>
              <a:gd name="T56" fmla="*/ 172 w 324"/>
              <a:gd name="T57" fmla="*/ 58 h 2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324" h="288">
                <a:moveTo>
                  <a:pt x="172" y="58"/>
                </a:moveTo>
                <a:lnTo>
                  <a:pt x="222" y="0"/>
                </a:lnTo>
                <a:lnTo>
                  <a:pt x="218" y="77"/>
                </a:lnTo>
                <a:lnTo>
                  <a:pt x="270" y="43"/>
                </a:lnTo>
                <a:lnTo>
                  <a:pt x="246" y="87"/>
                </a:lnTo>
                <a:lnTo>
                  <a:pt x="324" y="89"/>
                </a:lnTo>
                <a:lnTo>
                  <a:pt x="255" y="126"/>
                </a:lnTo>
                <a:lnTo>
                  <a:pt x="274" y="151"/>
                </a:lnTo>
                <a:lnTo>
                  <a:pt x="246" y="164"/>
                </a:lnTo>
                <a:lnTo>
                  <a:pt x="283" y="209"/>
                </a:lnTo>
                <a:lnTo>
                  <a:pt x="220" y="192"/>
                </a:lnTo>
                <a:lnTo>
                  <a:pt x="224" y="232"/>
                </a:lnTo>
                <a:lnTo>
                  <a:pt x="183" y="213"/>
                </a:lnTo>
                <a:lnTo>
                  <a:pt x="174" y="251"/>
                </a:lnTo>
                <a:lnTo>
                  <a:pt x="148" y="232"/>
                </a:lnTo>
                <a:lnTo>
                  <a:pt x="131" y="263"/>
                </a:lnTo>
                <a:lnTo>
                  <a:pt x="113" y="242"/>
                </a:lnTo>
                <a:lnTo>
                  <a:pt x="74" y="288"/>
                </a:lnTo>
                <a:lnTo>
                  <a:pt x="72" y="243"/>
                </a:lnTo>
                <a:lnTo>
                  <a:pt x="20" y="238"/>
                </a:lnTo>
                <a:lnTo>
                  <a:pt x="50" y="205"/>
                </a:lnTo>
                <a:lnTo>
                  <a:pt x="0" y="172"/>
                </a:lnTo>
                <a:lnTo>
                  <a:pt x="59" y="155"/>
                </a:lnTo>
                <a:lnTo>
                  <a:pt x="18" y="111"/>
                </a:lnTo>
                <a:lnTo>
                  <a:pt x="81" y="105"/>
                </a:lnTo>
                <a:lnTo>
                  <a:pt x="68" y="49"/>
                </a:lnTo>
                <a:lnTo>
                  <a:pt x="128" y="85"/>
                </a:lnTo>
                <a:lnTo>
                  <a:pt x="146" y="26"/>
                </a:lnTo>
                <a:lnTo>
                  <a:pt x="172" y="58"/>
                </a:lnTo>
                <a:close/>
              </a:path>
            </a:pathLst>
          </a:custGeom>
          <a:pattFill prst="shingle">
            <a:fgClr>
              <a:schemeClr val="accent2"/>
            </a:fgClr>
            <a:bgClr>
              <a:schemeClr val="bg1"/>
            </a:bgClr>
          </a:patt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22" name="Freeform 18">
            <a:extLst>
              <a:ext uri="{FF2B5EF4-FFF2-40B4-BE49-F238E27FC236}">
                <a16:creationId xmlns:a16="http://schemas.microsoft.com/office/drawing/2014/main" id="{FE797E4C-6520-4C39-B7F8-E05F759592E9}"/>
              </a:ext>
            </a:extLst>
          </p:cNvPr>
          <p:cNvSpPr>
            <a:spLocks/>
          </p:cNvSpPr>
          <p:nvPr/>
        </p:nvSpPr>
        <p:spPr bwMode="auto">
          <a:xfrm>
            <a:off x="3664930" y="3207257"/>
            <a:ext cx="514350" cy="457200"/>
          </a:xfrm>
          <a:custGeom>
            <a:avLst/>
            <a:gdLst>
              <a:gd name="T0" fmla="*/ 172 w 324"/>
              <a:gd name="T1" fmla="*/ 58 h 288"/>
              <a:gd name="T2" fmla="*/ 222 w 324"/>
              <a:gd name="T3" fmla="*/ 0 h 288"/>
              <a:gd name="T4" fmla="*/ 218 w 324"/>
              <a:gd name="T5" fmla="*/ 77 h 288"/>
              <a:gd name="T6" fmla="*/ 270 w 324"/>
              <a:gd name="T7" fmla="*/ 43 h 288"/>
              <a:gd name="T8" fmla="*/ 246 w 324"/>
              <a:gd name="T9" fmla="*/ 87 h 288"/>
              <a:gd name="T10" fmla="*/ 324 w 324"/>
              <a:gd name="T11" fmla="*/ 89 h 288"/>
              <a:gd name="T12" fmla="*/ 255 w 324"/>
              <a:gd name="T13" fmla="*/ 126 h 288"/>
              <a:gd name="T14" fmla="*/ 274 w 324"/>
              <a:gd name="T15" fmla="*/ 151 h 288"/>
              <a:gd name="T16" fmla="*/ 246 w 324"/>
              <a:gd name="T17" fmla="*/ 164 h 288"/>
              <a:gd name="T18" fmla="*/ 283 w 324"/>
              <a:gd name="T19" fmla="*/ 209 h 288"/>
              <a:gd name="T20" fmla="*/ 220 w 324"/>
              <a:gd name="T21" fmla="*/ 192 h 288"/>
              <a:gd name="T22" fmla="*/ 224 w 324"/>
              <a:gd name="T23" fmla="*/ 232 h 288"/>
              <a:gd name="T24" fmla="*/ 183 w 324"/>
              <a:gd name="T25" fmla="*/ 213 h 288"/>
              <a:gd name="T26" fmla="*/ 174 w 324"/>
              <a:gd name="T27" fmla="*/ 251 h 288"/>
              <a:gd name="T28" fmla="*/ 148 w 324"/>
              <a:gd name="T29" fmla="*/ 232 h 288"/>
              <a:gd name="T30" fmla="*/ 131 w 324"/>
              <a:gd name="T31" fmla="*/ 263 h 288"/>
              <a:gd name="T32" fmla="*/ 113 w 324"/>
              <a:gd name="T33" fmla="*/ 242 h 288"/>
              <a:gd name="T34" fmla="*/ 74 w 324"/>
              <a:gd name="T35" fmla="*/ 288 h 288"/>
              <a:gd name="T36" fmla="*/ 72 w 324"/>
              <a:gd name="T37" fmla="*/ 243 h 288"/>
              <a:gd name="T38" fmla="*/ 20 w 324"/>
              <a:gd name="T39" fmla="*/ 238 h 288"/>
              <a:gd name="T40" fmla="*/ 50 w 324"/>
              <a:gd name="T41" fmla="*/ 205 h 288"/>
              <a:gd name="T42" fmla="*/ 0 w 324"/>
              <a:gd name="T43" fmla="*/ 172 h 288"/>
              <a:gd name="T44" fmla="*/ 59 w 324"/>
              <a:gd name="T45" fmla="*/ 155 h 288"/>
              <a:gd name="T46" fmla="*/ 18 w 324"/>
              <a:gd name="T47" fmla="*/ 111 h 288"/>
              <a:gd name="T48" fmla="*/ 81 w 324"/>
              <a:gd name="T49" fmla="*/ 105 h 288"/>
              <a:gd name="T50" fmla="*/ 68 w 324"/>
              <a:gd name="T51" fmla="*/ 49 h 288"/>
              <a:gd name="T52" fmla="*/ 128 w 324"/>
              <a:gd name="T53" fmla="*/ 85 h 288"/>
              <a:gd name="T54" fmla="*/ 146 w 324"/>
              <a:gd name="T55" fmla="*/ 26 h 288"/>
              <a:gd name="T56" fmla="*/ 172 w 324"/>
              <a:gd name="T57" fmla="*/ 58 h 2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324" h="288">
                <a:moveTo>
                  <a:pt x="172" y="58"/>
                </a:moveTo>
                <a:lnTo>
                  <a:pt x="222" y="0"/>
                </a:lnTo>
                <a:lnTo>
                  <a:pt x="218" y="77"/>
                </a:lnTo>
                <a:lnTo>
                  <a:pt x="270" y="43"/>
                </a:lnTo>
                <a:lnTo>
                  <a:pt x="246" y="87"/>
                </a:lnTo>
                <a:lnTo>
                  <a:pt x="324" y="89"/>
                </a:lnTo>
                <a:lnTo>
                  <a:pt x="255" y="126"/>
                </a:lnTo>
                <a:lnTo>
                  <a:pt x="274" y="151"/>
                </a:lnTo>
                <a:lnTo>
                  <a:pt x="246" y="164"/>
                </a:lnTo>
                <a:lnTo>
                  <a:pt x="283" y="209"/>
                </a:lnTo>
                <a:lnTo>
                  <a:pt x="220" y="192"/>
                </a:lnTo>
                <a:lnTo>
                  <a:pt x="224" y="232"/>
                </a:lnTo>
                <a:lnTo>
                  <a:pt x="183" y="213"/>
                </a:lnTo>
                <a:lnTo>
                  <a:pt x="174" y="251"/>
                </a:lnTo>
                <a:lnTo>
                  <a:pt x="148" y="232"/>
                </a:lnTo>
                <a:lnTo>
                  <a:pt x="131" y="263"/>
                </a:lnTo>
                <a:lnTo>
                  <a:pt x="113" y="242"/>
                </a:lnTo>
                <a:lnTo>
                  <a:pt x="74" y="288"/>
                </a:lnTo>
                <a:lnTo>
                  <a:pt x="72" y="243"/>
                </a:lnTo>
                <a:lnTo>
                  <a:pt x="20" y="238"/>
                </a:lnTo>
                <a:lnTo>
                  <a:pt x="50" y="205"/>
                </a:lnTo>
                <a:lnTo>
                  <a:pt x="0" y="172"/>
                </a:lnTo>
                <a:lnTo>
                  <a:pt x="59" y="155"/>
                </a:lnTo>
                <a:lnTo>
                  <a:pt x="18" y="111"/>
                </a:lnTo>
                <a:lnTo>
                  <a:pt x="81" y="105"/>
                </a:lnTo>
                <a:lnTo>
                  <a:pt x="68" y="49"/>
                </a:lnTo>
                <a:lnTo>
                  <a:pt x="128" y="85"/>
                </a:lnTo>
                <a:lnTo>
                  <a:pt x="146" y="26"/>
                </a:lnTo>
                <a:lnTo>
                  <a:pt x="172" y="58"/>
                </a:lnTo>
                <a:close/>
              </a:path>
            </a:pathLst>
          </a:custGeom>
          <a:pattFill prst="shingle">
            <a:fgClr>
              <a:schemeClr val="accent2"/>
            </a:fgClr>
            <a:bgClr>
              <a:schemeClr val="bg1"/>
            </a:bgClr>
          </a:pattFill>
          <a:ln w="9525" cap="flat">
            <a:solidFill>
              <a:srgbClr val="3C09F7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23" name="Freeform 19">
            <a:extLst>
              <a:ext uri="{FF2B5EF4-FFF2-40B4-BE49-F238E27FC236}">
                <a16:creationId xmlns:a16="http://schemas.microsoft.com/office/drawing/2014/main" id="{30BA7044-8A44-4098-A693-03FCF7F0DACB}"/>
              </a:ext>
            </a:extLst>
          </p:cNvPr>
          <p:cNvSpPr>
            <a:spLocks/>
          </p:cNvSpPr>
          <p:nvPr/>
        </p:nvSpPr>
        <p:spPr bwMode="auto">
          <a:xfrm>
            <a:off x="4179280" y="3207257"/>
            <a:ext cx="512763" cy="457200"/>
          </a:xfrm>
          <a:custGeom>
            <a:avLst/>
            <a:gdLst>
              <a:gd name="T0" fmla="*/ 172 w 323"/>
              <a:gd name="T1" fmla="*/ 58 h 288"/>
              <a:gd name="T2" fmla="*/ 221 w 323"/>
              <a:gd name="T3" fmla="*/ 0 h 288"/>
              <a:gd name="T4" fmla="*/ 217 w 323"/>
              <a:gd name="T5" fmla="*/ 77 h 288"/>
              <a:gd name="T6" fmla="*/ 270 w 323"/>
              <a:gd name="T7" fmla="*/ 43 h 288"/>
              <a:gd name="T8" fmla="*/ 245 w 323"/>
              <a:gd name="T9" fmla="*/ 87 h 288"/>
              <a:gd name="T10" fmla="*/ 323 w 323"/>
              <a:gd name="T11" fmla="*/ 89 h 288"/>
              <a:gd name="T12" fmla="*/ 254 w 323"/>
              <a:gd name="T13" fmla="*/ 126 h 288"/>
              <a:gd name="T14" fmla="*/ 274 w 323"/>
              <a:gd name="T15" fmla="*/ 151 h 288"/>
              <a:gd name="T16" fmla="*/ 245 w 323"/>
              <a:gd name="T17" fmla="*/ 164 h 288"/>
              <a:gd name="T18" fmla="*/ 283 w 323"/>
              <a:gd name="T19" fmla="*/ 209 h 288"/>
              <a:gd name="T20" fmla="*/ 219 w 323"/>
              <a:gd name="T21" fmla="*/ 192 h 288"/>
              <a:gd name="T22" fmla="*/ 224 w 323"/>
              <a:gd name="T23" fmla="*/ 232 h 288"/>
              <a:gd name="T24" fmla="*/ 182 w 323"/>
              <a:gd name="T25" fmla="*/ 213 h 288"/>
              <a:gd name="T26" fmla="*/ 174 w 323"/>
              <a:gd name="T27" fmla="*/ 251 h 288"/>
              <a:gd name="T28" fmla="*/ 148 w 323"/>
              <a:gd name="T29" fmla="*/ 232 h 288"/>
              <a:gd name="T30" fmla="*/ 130 w 323"/>
              <a:gd name="T31" fmla="*/ 263 h 288"/>
              <a:gd name="T32" fmla="*/ 113 w 323"/>
              <a:gd name="T33" fmla="*/ 242 h 288"/>
              <a:gd name="T34" fmla="*/ 74 w 323"/>
              <a:gd name="T35" fmla="*/ 288 h 288"/>
              <a:gd name="T36" fmla="*/ 72 w 323"/>
              <a:gd name="T37" fmla="*/ 243 h 288"/>
              <a:gd name="T38" fmla="*/ 19 w 323"/>
              <a:gd name="T39" fmla="*/ 238 h 288"/>
              <a:gd name="T40" fmla="*/ 50 w 323"/>
              <a:gd name="T41" fmla="*/ 205 h 288"/>
              <a:gd name="T42" fmla="*/ 0 w 323"/>
              <a:gd name="T43" fmla="*/ 172 h 288"/>
              <a:gd name="T44" fmla="*/ 59 w 323"/>
              <a:gd name="T45" fmla="*/ 155 h 288"/>
              <a:gd name="T46" fmla="*/ 18 w 323"/>
              <a:gd name="T47" fmla="*/ 111 h 288"/>
              <a:gd name="T48" fmla="*/ 80 w 323"/>
              <a:gd name="T49" fmla="*/ 105 h 288"/>
              <a:gd name="T50" fmla="*/ 67 w 323"/>
              <a:gd name="T51" fmla="*/ 49 h 288"/>
              <a:gd name="T52" fmla="*/ 128 w 323"/>
              <a:gd name="T53" fmla="*/ 85 h 288"/>
              <a:gd name="T54" fmla="*/ 146 w 323"/>
              <a:gd name="T55" fmla="*/ 26 h 288"/>
              <a:gd name="T56" fmla="*/ 172 w 323"/>
              <a:gd name="T57" fmla="*/ 58 h 2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323" h="288">
                <a:moveTo>
                  <a:pt x="172" y="58"/>
                </a:moveTo>
                <a:lnTo>
                  <a:pt x="221" y="0"/>
                </a:lnTo>
                <a:lnTo>
                  <a:pt x="217" y="77"/>
                </a:lnTo>
                <a:lnTo>
                  <a:pt x="270" y="43"/>
                </a:lnTo>
                <a:lnTo>
                  <a:pt x="245" y="87"/>
                </a:lnTo>
                <a:lnTo>
                  <a:pt x="323" y="89"/>
                </a:lnTo>
                <a:lnTo>
                  <a:pt x="254" y="126"/>
                </a:lnTo>
                <a:lnTo>
                  <a:pt x="274" y="151"/>
                </a:lnTo>
                <a:lnTo>
                  <a:pt x="245" y="164"/>
                </a:lnTo>
                <a:lnTo>
                  <a:pt x="283" y="209"/>
                </a:lnTo>
                <a:lnTo>
                  <a:pt x="219" y="192"/>
                </a:lnTo>
                <a:lnTo>
                  <a:pt x="224" y="232"/>
                </a:lnTo>
                <a:lnTo>
                  <a:pt x="182" y="213"/>
                </a:lnTo>
                <a:lnTo>
                  <a:pt x="174" y="251"/>
                </a:lnTo>
                <a:lnTo>
                  <a:pt x="148" y="232"/>
                </a:lnTo>
                <a:lnTo>
                  <a:pt x="130" y="263"/>
                </a:lnTo>
                <a:lnTo>
                  <a:pt x="113" y="242"/>
                </a:lnTo>
                <a:lnTo>
                  <a:pt x="74" y="288"/>
                </a:lnTo>
                <a:lnTo>
                  <a:pt x="72" y="243"/>
                </a:lnTo>
                <a:lnTo>
                  <a:pt x="19" y="238"/>
                </a:lnTo>
                <a:lnTo>
                  <a:pt x="50" y="205"/>
                </a:lnTo>
                <a:lnTo>
                  <a:pt x="0" y="172"/>
                </a:lnTo>
                <a:lnTo>
                  <a:pt x="59" y="155"/>
                </a:lnTo>
                <a:lnTo>
                  <a:pt x="18" y="111"/>
                </a:lnTo>
                <a:lnTo>
                  <a:pt x="80" y="105"/>
                </a:lnTo>
                <a:lnTo>
                  <a:pt x="67" y="49"/>
                </a:lnTo>
                <a:lnTo>
                  <a:pt x="128" y="85"/>
                </a:lnTo>
                <a:lnTo>
                  <a:pt x="146" y="26"/>
                </a:lnTo>
                <a:lnTo>
                  <a:pt x="172" y="58"/>
                </a:lnTo>
                <a:close/>
              </a:path>
            </a:pathLst>
          </a:custGeom>
          <a:pattFill prst="shingle">
            <a:fgClr>
              <a:schemeClr val="accent2"/>
            </a:fgClr>
            <a:bgClr>
              <a:schemeClr val="bg1"/>
            </a:bgClr>
          </a:patt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24" name="Freeform 20">
            <a:extLst>
              <a:ext uri="{FF2B5EF4-FFF2-40B4-BE49-F238E27FC236}">
                <a16:creationId xmlns:a16="http://schemas.microsoft.com/office/drawing/2014/main" id="{BE64F8A3-986B-4EEA-BA88-F2621F98E753}"/>
              </a:ext>
            </a:extLst>
          </p:cNvPr>
          <p:cNvSpPr>
            <a:spLocks/>
          </p:cNvSpPr>
          <p:nvPr/>
        </p:nvSpPr>
        <p:spPr bwMode="auto">
          <a:xfrm>
            <a:off x="4179280" y="3207257"/>
            <a:ext cx="512763" cy="457200"/>
          </a:xfrm>
          <a:custGeom>
            <a:avLst/>
            <a:gdLst>
              <a:gd name="T0" fmla="*/ 172 w 323"/>
              <a:gd name="T1" fmla="*/ 58 h 288"/>
              <a:gd name="T2" fmla="*/ 221 w 323"/>
              <a:gd name="T3" fmla="*/ 0 h 288"/>
              <a:gd name="T4" fmla="*/ 217 w 323"/>
              <a:gd name="T5" fmla="*/ 77 h 288"/>
              <a:gd name="T6" fmla="*/ 270 w 323"/>
              <a:gd name="T7" fmla="*/ 43 h 288"/>
              <a:gd name="T8" fmla="*/ 245 w 323"/>
              <a:gd name="T9" fmla="*/ 87 h 288"/>
              <a:gd name="T10" fmla="*/ 323 w 323"/>
              <a:gd name="T11" fmla="*/ 89 h 288"/>
              <a:gd name="T12" fmla="*/ 254 w 323"/>
              <a:gd name="T13" fmla="*/ 126 h 288"/>
              <a:gd name="T14" fmla="*/ 274 w 323"/>
              <a:gd name="T15" fmla="*/ 151 h 288"/>
              <a:gd name="T16" fmla="*/ 245 w 323"/>
              <a:gd name="T17" fmla="*/ 164 h 288"/>
              <a:gd name="T18" fmla="*/ 283 w 323"/>
              <a:gd name="T19" fmla="*/ 209 h 288"/>
              <a:gd name="T20" fmla="*/ 219 w 323"/>
              <a:gd name="T21" fmla="*/ 192 h 288"/>
              <a:gd name="T22" fmla="*/ 224 w 323"/>
              <a:gd name="T23" fmla="*/ 232 h 288"/>
              <a:gd name="T24" fmla="*/ 182 w 323"/>
              <a:gd name="T25" fmla="*/ 213 h 288"/>
              <a:gd name="T26" fmla="*/ 174 w 323"/>
              <a:gd name="T27" fmla="*/ 251 h 288"/>
              <a:gd name="T28" fmla="*/ 148 w 323"/>
              <a:gd name="T29" fmla="*/ 232 h 288"/>
              <a:gd name="T30" fmla="*/ 130 w 323"/>
              <a:gd name="T31" fmla="*/ 263 h 288"/>
              <a:gd name="T32" fmla="*/ 113 w 323"/>
              <a:gd name="T33" fmla="*/ 242 h 288"/>
              <a:gd name="T34" fmla="*/ 74 w 323"/>
              <a:gd name="T35" fmla="*/ 288 h 288"/>
              <a:gd name="T36" fmla="*/ 72 w 323"/>
              <a:gd name="T37" fmla="*/ 243 h 288"/>
              <a:gd name="T38" fmla="*/ 19 w 323"/>
              <a:gd name="T39" fmla="*/ 238 h 288"/>
              <a:gd name="T40" fmla="*/ 50 w 323"/>
              <a:gd name="T41" fmla="*/ 205 h 288"/>
              <a:gd name="T42" fmla="*/ 0 w 323"/>
              <a:gd name="T43" fmla="*/ 172 h 288"/>
              <a:gd name="T44" fmla="*/ 59 w 323"/>
              <a:gd name="T45" fmla="*/ 155 h 288"/>
              <a:gd name="T46" fmla="*/ 18 w 323"/>
              <a:gd name="T47" fmla="*/ 111 h 288"/>
              <a:gd name="T48" fmla="*/ 80 w 323"/>
              <a:gd name="T49" fmla="*/ 105 h 288"/>
              <a:gd name="T50" fmla="*/ 67 w 323"/>
              <a:gd name="T51" fmla="*/ 49 h 288"/>
              <a:gd name="T52" fmla="*/ 128 w 323"/>
              <a:gd name="T53" fmla="*/ 85 h 288"/>
              <a:gd name="T54" fmla="*/ 146 w 323"/>
              <a:gd name="T55" fmla="*/ 26 h 288"/>
              <a:gd name="T56" fmla="*/ 172 w 323"/>
              <a:gd name="T57" fmla="*/ 58 h 2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323" h="288">
                <a:moveTo>
                  <a:pt x="172" y="58"/>
                </a:moveTo>
                <a:lnTo>
                  <a:pt x="221" y="0"/>
                </a:lnTo>
                <a:lnTo>
                  <a:pt x="217" y="77"/>
                </a:lnTo>
                <a:lnTo>
                  <a:pt x="270" y="43"/>
                </a:lnTo>
                <a:lnTo>
                  <a:pt x="245" y="87"/>
                </a:lnTo>
                <a:lnTo>
                  <a:pt x="323" y="89"/>
                </a:lnTo>
                <a:lnTo>
                  <a:pt x="254" y="126"/>
                </a:lnTo>
                <a:lnTo>
                  <a:pt x="274" y="151"/>
                </a:lnTo>
                <a:lnTo>
                  <a:pt x="245" y="164"/>
                </a:lnTo>
                <a:lnTo>
                  <a:pt x="283" y="209"/>
                </a:lnTo>
                <a:lnTo>
                  <a:pt x="219" y="192"/>
                </a:lnTo>
                <a:lnTo>
                  <a:pt x="224" y="232"/>
                </a:lnTo>
                <a:lnTo>
                  <a:pt x="182" y="213"/>
                </a:lnTo>
                <a:lnTo>
                  <a:pt x="174" y="251"/>
                </a:lnTo>
                <a:lnTo>
                  <a:pt x="148" y="232"/>
                </a:lnTo>
                <a:lnTo>
                  <a:pt x="130" y="263"/>
                </a:lnTo>
                <a:lnTo>
                  <a:pt x="113" y="242"/>
                </a:lnTo>
                <a:lnTo>
                  <a:pt x="74" y="288"/>
                </a:lnTo>
                <a:lnTo>
                  <a:pt x="72" y="243"/>
                </a:lnTo>
                <a:lnTo>
                  <a:pt x="19" y="238"/>
                </a:lnTo>
                <a:lnTo>
                  <a:pt x="50" y="205"/>
                </a:lnTo>
                <a:lnTo>
                  <a:pt x="0" y="172"/>
                </a:lnTo>
                <a:lnTo>
                  <a:pt x="59" y="155"/>
                </a:lnTo>
                <a:lnTo>
                  <a:pt x="18" y="111"/>
                </a:lnTo>
                <a:lnTo>
                  <a:pt x="80" y="105"/>
                </a:lnTo>
                <a:lnTo>
                  <a:pt x="67" y="49"/>
                </a:lnTo>
                <a:lnTo>
                  <a:pt x="128" y="85"/>
                </a:lnTo>
                <a:lnTo>
                  <a:pt x="146" y="26"/>
                </a:lnTo>
                <a:lnTo>
                  <a:pt x="172" y="58"/>
                </a:lnTo>
                <a:close/>
              </a:path>
            </a:pathLst>
          </a:custGeom>
          <a:pattFill prst="shingle">
            <a:fgClr>
              <a:schemeClr val="accent2"/>
            </a:fgClr>
            <a:bgClr>
              <a:schemeClr val="bg1"/>
            </a:bgClr>
          </a:pattFill>
          <a:ln w="9525" cap="flat">
            <a:solidFill>
              <a:srgbClr val="3C09F7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25" name="Freeform 21">
            <a:extLst>
              <a:ext uri="{FF2B5EF4-FFF2-40B4-BE49-F238E27FC236}">
                <a16:creationId xmlns:a16="http://schemas.microsoft.com/office/drawing/2014/main" id="{6464867A-456E-42B2-97BC-B1AED8499DC6}"/>
              </a:ext>
            </a:extLst>
          </p:cNvPr>
          <p:cNvSpPr>
            <a:spLocks/>
          </p:cNvSpPr>
          <p:nvPr/>
        </p:nvSpPr>
        <p:spPr bwMode="auto">
          <a:xfrm>
            <a:off x="4692042" y="3207257"/>
            <a:ext cx="514350" cy="457200"/>
          </a:xfrm>
          <a:custGeom>
            <a:avLst/>
            <a:gdLst>
              <a:gd name="T0" fmla="*/ 172 w 324"/>
              <a:gd name="T1" fmla="*/ 58 h 288"/>
              <a:gd name="T2" fmla="*/ 222 w 324"/>
              <a:gd name="T3" fmla="*/ 0 h 288"/>
              <a:gd name="T4" fmla="*/ 218 w 324"/>
              <a:gd name="T5" fmla="*/ 77 h 288"/>
              <a:gd name="T6" fmla="*/ 270 w 324"/>
              <a:gd name="T7" fmla="*/ 43 h 288"/>
              <a:gd name="T8" fmla="*/ 246 w 324"/>
              <a:gd name="T9" fmla="*/ 87 h 288"/>
              <a:gd name="T10" fmla="*/ 324 w 324"/>
              <a:gd name="T11" fmla="*/ 89 h 288"/>
              <a:gd name="T12" fmla="*/ 255 w 324"/>
              <a:gd name="T13" fmla="*/ 126 h 288"/>
              <a:gd name="T14" fmla="*/ 274 w 324"/>
              <a:gd name="T15" fmla="*/ 151 h 288"/>
              <a:gd name="T16" fmla="*/ 246 w 324"/>
              <a:gd name="T17" fmla="*/ 164 h 288"/>
              <a:gd name="T18" fmla="*/ 283 w 324"/>
              <a:gd name="T19" fmla="*/ 209 h 288"/>
              <a:gd name="T20" fmla="*/ 220 w 324"/>
              <a:gd name="T21" fmla="*/ 192 h 288"/>
              <a:gd name="T22" fmla="*/ 224 w 324"/>
              <a:gd name="T23" fmla="*/ 232 h 288"/>
              <a:gd name="T24" fmla="*/ 183 w 324"/>
              <a:gd name="T25" fmla="*/ 213 h 288"/>
              <a:gd name="T26" fmla="*/ 174 w 324"/>
              <a:gd name="T27" fmla="*/ 251 h 288"/>
              <a:gd name="T28" fmla="*/ 148 w 324"/>
              <a:gd name="T29" fmla="*/ 232 h 288"/>
              <a:gd name="T30" fmla="*/ 131 w 324"/>
              <a:gd name="T31" fmla="*/ 263 h 288"/>
              <a:gd name="T32" fmla="*/ 113 w 324"/>
              <a:gd name="T33" fmla="*/ 242 h 288"/>
              <a:gd name="T34" fmla="*/ 74 w 324"/>
              <a:gd name="T35" fmla="*/ 288 h 288"/>
              <a:gd name="T36" fmla="*/ 72 w 324"/>
              <a:gd name="T37" fmla="*/ 243 h 288"/>
              <a:gd name="T38" fmla="*/ 20 w 324"/>
              <a:gd name="T39" fmla="*/ 238 h 288"/>
              <a:gd name="T40" fmla="*/ 50 w 324"/>
              <a:gd name="T41" fmla="*/ 205 h 288"/>
              <a:gd name="T42" fmla="*/ 0 w 324"/>
              <a:gd name="T43" fmla="*/ 172 h 288"/>
              <a:gd name="T44" fmla="*/ 59 w 324"/>
              <a:gd name="T45" fmla="*/ 155 h 288"/>
              <a:gd name="T46" fmla="*/ 18 w 324"/>
              <a:gd name="T47" fmla="*/ 111 h 288"/>
              <a:gd name="T48" fmla="*/ 81 w 324"/>
              <a:gd name="T49" fmla="*/ 105 h 288"/>
              <a:gd name="T50" fmla="*/ 68 w 324"/>
              <a:gd name="T51" fmla="*/ 49 h 288"/>
              <a:gd name="T52" fmla="*/ 128 w 324"/>
              <a:gd name="T53" fmla="*/ 85 h 288"/>
              <a:gd name="T54" fmla="*/ 146 w 324"/>
              <a:gd name="T55" fmla="*/ 26 h 288"/>
              <a:gd name="T56" fmla="*/ 172 w 324"/>
              <a:gd name="T57" fmla="*/ 58 h 2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324" h="288">
                <a:moveTo>
                  <a:pt x="172" y="58"/>
                </a:moveTo>
                <a:lnTo>
                  <a:pt x="222" y="0"/>
                </a:lnTo>
                <a:lnTo>
                  <a:pt x="218" y="77"/>
                </a:lnTo>
                <a:lnTo>
                  <a:pt x="270" y="43"/>
                </a:lnTo>
                <a:lnTo>
                  <a:pt x="246" y="87"/>
                </a:lnTo>
                <a:lnTo>
                  <a:pt x="324" y="89"/>
                </a:lnTo>
                <a:lnTo>
                  <a:pt x="255" y="126"/>
                </a:lnTo>
                <a:lnTo>
                  <a:pt x="274" y="151"/>
                </a:lnTo>
                <a:lnTo>
                  <a:pt x="246" y="164"/>
                </a:lnTo>
                <a:lnTo>
                  <a:pt x="283" y="209"/>
                </a:lnTo>
                <a:lnTo>
                  <a:pt x="220" y="192"/>
                </a:lnTo>
                <a:lnTo>
                  <a:pt x="224" y="232"/>
                </a:lnTo>
                <a:lnTo>
                  <a:pt x="183" y="213"/>
                </a:lnTo>
                <a:lnTo>
                  <a:pt x="174" y="251"/>
                </a:lnTo>
                <a:lnTo>
                  <a:pt x="148" y="232"/>
                </a:lnTo>
                <a:lnTo>
                  <a:pt x="131" y="263"/>
                </a:lnTo>
                <a:lnTo>
                  <a:pt x="113" y="242"/>
                </a:lnTo>
                <a:lnTo>
                  <a:pt x="74" y="288"/>
                </a:lnTo>
                <a:lnTo>
                  <a:pt x="72" y="243"/>
                </a:lnTo>
                <a:lnTo>
                  <a:pt x="20" y="238"/>
                </a:lnTo>
                <a:lnTo>
                  <a:pt x="50" y="205"/>
                </a:lnTo>
                <a:lnTo>
                  <a:pt x="0" y="172"/>
                </a:lnTo>
                <a:lnTo>
                  <a:pt x="59" y="155"/>
                </a:lnTo>
                <a:lnTo>
                  <a:pt x="18" y="111"/>
                </a:lnTo>
                <a:lnTo>
                  <a:pt x="81" y="105"/>
                </a:lnTo>
                <a:lnTo>
                  <a:pt x="68" y="49"/>
                </a:lnTo>
                <a:lnTo>
                  <a:pt x="128" y="85"/>
                </a:lnTo>
                <a:lnTo>
                  <a:pt x="146" y="26"/>
                </a:lnTo>
                <a:lnTo>
                  <a:pt x="172" y="58"/>
                </a:lnTo>
                <a:close/>
              </a:path>
            </a:pathLst>
          </a:custGeom>
          <a:pattFill prst="shingle">
            <a:fgClr>
              <a:schemeClr val="accent2"/>
            </a:fgClr>
            <a:bgClr>
              <a:schemeClr val="bg1"/>
            </a:bgClr>
          </a:patt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26" name="Freeform 22">
            <a:extLst>
              <a:ext uri="{FF2B5EF4-FFF2-40B4-BE49-F238E27FC236}">
                <a16:creationId xmlns:a16="http://schemas.microsoft.com/office/drawing/2014/main" id="{29005E27-DC83-4B3F-B36E-607972CEFAC3}"/>
              </a:ext>
            </a:extLst>
          </p:cNvPr>
          <p:cNvSpPr>
            <a:spLocks/>
          </p:cNvSpPr>
          <p:nvPr/>
        </p:nvSpPr>
        <p:spPr bwMode="auto">
          <a:xfrm>
            <a:off x="4692042" y="3207257"/>
            <a:ext cx="514350" cy="457200"/>
          </a:xfrm>
          <a:custGeom>
            <a:avLst/>
            <a:gdLst>
              <a:gd name="T0" fmla="*/ 172 w 324"/>
              <a:gd name="T1" fmla="*/ 58 h 288"/>
              <a:gd name="T2" fmla="*/ 222 w 324"/>
              <a:gd name="T3" fmla="*/ 0 h 288"/>
              <a:gd name="T4" fmla="*/ 218 w 324"/>
              <a:gd name="T5" fmla="*/ 77 h 288"/>
              <a:gd name="T6" fmla="*/ 270 w 324"/>
              <a:gd name="T7" fmla="*/ 43 h 288"/>
              <a:gd name="T8" fmla="*/ 246 w 324"/>
              <a:gd name="T9" fmla="*/ 87 h 288"/>
              <a:gd name="T10" fmla="*/ 324 w 324"/>
              <a:gd name="T11" fmla="*/ 89 h 288"/>
              <a:gd name="T12" fmla="*/ 255 w 324"/>
              <a:gd name="T13" fmla="*/ 126 h 288"/>
              <a:gd name="T14" fmla="*/ 274 w 324"/>
              <a:gd name="T15" fmla="*/ 151 h 288"/>
              <a:gd name="T16" fmla="*/ 246 w 324"/>
              <a:gd name="T17" fmla="*/ 164 h 288"/>
              <a:gd name="T18" fmla="*/ 283 w 324"/>
              <a:gd name="T19" fmla="*/ 209 h 288"/>
              <a:gd name="T20" fmla="*/ 220 w 324"/>
              <a:gd name="T21" fmla="*/ 192 h 288"/>
              <a:gd name="T22" fmla="*/ 224 w 324"/>
              <a:gd name="T23" fmla="*/ 232 h 288"/>
              <a:gd name="T24" fmla="*/ 183 w 324"/>
              <a:gd name="T25" fmla="*/ 213 h 288"/>
              <a:gd name="T26" fmla="*/ 174 w 324"/>
              <a:gd name="T27" fmla="*/ 251 h 288"/>
              <a:gd name="T28" fmla="*/ 148 w 324"/>
              <a:gd name="T29" fmla="*/ 232 h 288"/>
              <a:gd name="T30" fmla="*/ 131 w 324"/>
              <a:gd name="T31" fmla="*/ 263 h 288"/>
              <a:gd name="T32" fmla="*/ 113 w 324"/>
              <a:gd name="T33" fmla="*/ 242 h 288"/>
              <a:gd name="T34" fmla="*/ 74 w 324"/>
              <a:gd name="T35" fmla="*/ 288 h 288"/>
              <a:gd name="T36" fmla="*/ 72 w 324"/>
              <a:gd name="T37" fmla="*/ 243 h 288"/>
              <a:gd name="T38" fmla="*/ 20 w 324"/>
              <a:gd name="T39" fmla="*/ 238 h 288"/>
              <a:gd name="T40" fmla="*/ 50 w 324"/>
              <a:gd name="T41" fmla="*/ 205 h 288"/>
              <a:gd name="T42" fmla="*/ 0 w 324"/>
              <a:gd name="T43" fmla="*/ 172 h 288"/>
              <a:gd name="T44" fmla="*/ 59 w 324"/>
              <a:gd name="T45" fmla="*/ 155 h 288"/>
              <a:gd name="T46" fmla="*/ 18 w 324"/>
              <a:gd name="T47" fmla="*/ 111 h 288"/>
              <a:gd name="T48" fmla="*/ 81 w 324"/>
              <a:gd name="T49" fmla="*/ 105 h 288"/>
              <a:gd name="T50" fmla="*/ 68 w 324"/>
              <a:gd name="T51" fmla="*/ 49 h 288"/>
              <a:gd name="T52" fmla="*/ 128 w 324"/>
              <a:gd name="T53" fmla="*/ 85 h 288"/>
              <a:gd name="T54" fmla="*/ 146 w 324"/>
              <a:gd name="T55" fmla="*/ 26 h 288"/>
              <a:gd name="T56" fmla="*/ 172 w 324"/>
              <a:gd name="T57" fmla="*/ 58 h 2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324" h="288">
                <a:moveTo>
                  <a:pt x="172" y="58"/>
                </a:moveTo>
                <a:lnTo>
                  <a:pt x="222" y="0"/>
                </a:lnTo>
                <a:lnTo>
                  <a:pt x="218" y="77"/>
                </a:lnTo>
                <a:lnTo>
                  <a:pt x="270" y="43"/>
                </a:lnTo>
                <a:lnTo>
                  <a:pt x="246" y="87"/>
                </a:lnTo>
                <a:lnTo>
                  <a:pt x="324" y="89"/>
                </a:lnTo>
                <a:lnTo>
                  <a:pt x="255" y="126"/>
                </a:lnTo>
                <a:lnTo>
                  <a:pt x="274" y="151"/>
                </a:lnTo>
                <a:lnTo>
                  <a:pt x="246" y="164"/>
                </a:lnTo>
                <a:lnTo>
                  <a:pt x="283" y="209"/>
                </a:lnTo>
                <a:lnTo>
                  <a:pt x="220" y="192"/>
                </a:lnTo>
                <a:lnTo>
                  <a:pt x="224" y="232"/>
                </a:lnTo>
                <a:lnTo>
                  <a:pt x="183" y="213"/>
                </a:lnTo>
                <a:lnTo>
                  <a:pt x="174" y="251"/>
                </a:lnTo>
                <a:lnTo>
                  <a:pt x="148" y="232"/>
                </a:lnTo>
                <a:lnTo>
                  <a:pt x="131" y="263"/>
                </a:lnTo>
                <a:lnTo>
                  <a:pt x="113" y="242"/>
                </a:lnTo>
                <a:lnTo>
                  <a:pt x="74" y="288"/>
                </a:lnTo>
                <a:lnTo>
                  <a:pt x="72" y="243"/>
                </a:lnTo>
                <a:lnTo>
                  <a:pt x="20" y="238"/>
                </a:lnTo>
                <a:lnTo>
                  <a:pt x="50" y="205"/>
                </a:lnTo>
                <a:lnTo>
                  <a:pt x="0" y="172"/>
                </a:lnTo>
                <a:lnTo>
                  <a:pt x="59" y="155"/>
                </a:lnTo>
                <a:lnTo>
                  <a:pt x="18" y="111"/>
                </a:lnTo>
                <a:lnTo>
                  <a:pt x="81" y="105"/>
                </a:lnTo>
                <a:lnTo>
                  <a:pt x="68" y="49"/>
                </a:lnTo>
                <a:lnTo>
                  <a:pt x="128" y="85"/>
                </a:lnTo>
                <a:lnTo>
                  <a:pt x="146" y="26"/>
                </a:lnTo>
                <a:lnTo>
                  <a:pt x="172" y="58"/>
                </a:lnTo>
                <a:close/>
              </a:path>
            </a:pathLst>
          </a:custGeom>
          <a:pattFill prst="shingle">
            <a:fgClr>
              <a:schemeClr val="accent2"/>
            </a:fgClr>
            <a:bgClr>
              <a:schemeClr val="bg1"/>
            </a:bgClr>
          </a:pattFill>
          <a:ln w="9525" cap="flat">
            <a:solidFill>
              <a:srgbClr val="3C09F7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27" name="Freeform 23">
            <a:extLst>
              <a:ext uri="{FF2B5EF4-FFF2-40B4-BE49-F238E27FC236}">
                <a16:creationId xmlns:a16="http://schemas.microsoft.com/office/drawing/2014/main" id="{D8728AB1-9E23-4774-BB1A-E5DA90C92755}"/>
              </a:ext>
            </a:extLst>
          </p:cNvPr>
          <p:cNvSpPr>
            <a:spLocks/>
          </p:cNvSpPr>
          <p:nvPr/>
        </p:nvSpPr>
        <p:spPr bwMode="auto">
          <a:xfrm>
            <a:off x="5206392" y="3207257"/>
            <a:ext cx="512763" cy="457200"/>
          </a:xfrm>
          <a:custGeom>
            <a:avLst/>
            <a:gdLst>
              <a:gd name="T0" fmla="*/ 172 w 323"/>
              <a:gd name="T1" fmla="*/ 58 h 288"/>
              <a:gd name="T2" fmla="*/ 221 w 323"/>
              <a:gd name="T3" fmla="*/ 0 h 288"/>
              <a:gd name="T4" fmla="*/ 217 w 323"/>
              <a:gd name="T5" fmla="*/ 77 h 288"/>
              <a:gd name="T6" fmla="*/ 270 w 323"/>
              <a:gd name="T7" fmla="*/ 43 h 288"/>
              <a:gd name="T8" fmla="*/ 245 w 323"/>
              <a:gd name="T9" fmla="*/ 87 h 288"/>
              <a:gd name="T10" fmla="*/ 323 w 323"/>
              <a:gd name="T11" fmla="*/ 89 h 288"/>
              <a:gd name="T12" fmla="*/ 254 w 323"/>
              <a:gd name="T13" fmla="*/ 126 h 288"/>
              <a:gd name="T14" fmla="*/ 274 w 323"/>
              <a:gd name="T15" fmla="*/ 151 h 288"/>
              <a:gd name="T16" fmla="*/ 245 w 323"/>
              <a:gd name="T17" fmla="*/ 164 h 288"/>
              <a:gd name="T18" fmla="*/ 283 w 323"/>
              <a:gd name="T19" fmla="*/ 209 h 288"/>
              <a:gd name="T20" fmla="*/ 219 w 323"/>
              <a:gd name="T21" fmla="*/ 192 h 288"/>
              <a:gd name="T22" fmla="*/ 224 w 323"/>
              <a:gd name="T23" fmla="*/ 232 h 288"/>
              <a:gd name="T24" fmla="*/ 182 w 323"/>
              <a:gd name="T25" fmla="*/ 213 h 288"/>
              <a:gd name="T26" fmla="*/ 174 w 323"/>
              <a:gd name="T27" fmla="*/ 251 h 288"/>
              <a:gd name="T28" fmla="*/ 148 w 323"/>
              <a:gd name="T29" fmla="*/ 232 h 288"/>
              <a:gd name="T30" fmla="*/ 130 w 323"/>
              <a:gd name="T31" fmla="*/ 263 h 288"/>
              <a:gd name="T32" fmla="*/ 113 w 323"/>
              <a:gd name="T33" fmla="*/ 242 h 288"/>
              <a:gd name="T34" fmla="*/ 74 w 323"/>
              <a:gd name="T35" fmla="*/ 288 h 288"/>
              <a:gd name="T36" fmla="*/ 72 w 323"/>
              <a:gd name="T37" fmla="*/ 243 h 288"/>
              <a:gd name="T38" fmla="*/ 19 w 323"/>
              <a:gd name="T39" fmla="*/ 238 h 288"/>
              <a:gd name="T40" fmla="*/ 50 w 323"/>
              <a:gd name="T41" fmla="*/ 205 h 288"/>
              <a:gd name="T42" fmla="*/ 0 w 323"/>
              <a:gd name="T43" fmla="*/ 172 h 288"/>
              <a:gd name="T44" fmla="*/ 59 w 323"/>
              <a:gd name="T45" fmla="*/ 155 h 288"/>
              <a:gd name="T46" fmla="*/ 18 w 323"/>
              <a:gd name="T47" fmla="*/ 111 h 288"/>
              <a:gd name="T48" fmla="*/ 80 w 323"/>
              <a:gd name="T49" fmla="*/ 105 h 288"/>
              <a:gd name="T50" fmla="*/ 68 w 323"/>
              <a:gd name="T51" fmla="*/ 49 h 288"/>
              <a:gd name="T52" fmla="*/ 128 w 323"/>
              <a:gd name="T53" fmla="*/ 85 h 288"/>
              <a:gd name="T54" fmla="*/ 146 w 323"/>
              <a:gd name="T55" fmla="*/ 26 h 288"/>
              <a:gd name="T56" fmla="*/ 172 w 323"/>
              <a:gd name="T57" fmla="*/ 58 h 2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323" h="288">
                <a:moveTo>
                  <a:pt x="172" y="58"/>
                </a:moveTo>
                <a:lnTo>
                  <a:pt x="221" y="0"/>
                </a:lnTo>
                <a:lnTo>
                  <a:pt x="217" y="77"/>
                </a:lnTo>
                <a:lnTo>
                  <a:pt x="270" y="43"/>
                </a:lnTo>
                <a:lnTo>
                  <a:pt x="245" y="87"/>
                </a:lnTo>
                <a:lnTo>
                  <a:pt x="323" y="89"/>
                </a:lnTo>
                <a:lnTo>
                  <a:pt x="254" y="126"/>
                </a:lnTo>
                <a:lnTo>
                  <a:pt x="274" y="151"/>
                </a:lnTo>
                <a:lnTo>
                  <a:pt x="245" y="164"/>
                </a:lnTo>
                <a:lnTo>
                  <a:pt x="283" y="209"/>
                </a:lnTo>
                <a:lnTo>
                  <a:pt x="219" y="192"/>
                </a:lnTo>
                <a:lnTo>
                  <a:pt x="224" y="232"/>
                </a:lnTo>
                <a:lnTo>
                  <a:pt x="182" y="213"/>
                </a:lnTo>
                <a:lnTo>
                  <a:pt x="174" y="251"/>
                </a:lnTo>
                <a:lnTo>
                  <a:pt x="148" y="232"/>
                </a:lnTo>
                <a:lnTo>
                  <a:pt x="130" y="263"/>
                </a:lnTo>
                <a:lnTo>
                  <a:pt x="113" y="242"/>
                </a:lnTo>
                <a:lnTo>
                  <a:pt x="74" y="288"/>
                </a:lnTo>
                <a:lnTo>
                  <a:pt x="72" y="243"/>
                </a:lnTo>
                <a:lnTo>
                  <a:pt x="19" y="238"/>
                </a:lnTo>
                <a:lnTo>
                  <a:pt x="50" y="205"/>
                </a:lnTo>
                <a:lnTo>
                  <a:pt x="0" y="172"/>
                </a:lnTo>
                <a:lnTo>
                  <a:pt x="59" y="155"/>
                </a:lnTo>
                <a:lnTo>
                  <a:pt x="18" y="111"/>
                </a:lnTo>
                <a:lnTo>
                  <a:pt x="80" y="105"/>
                </a:lnTo>
                <a:lnTo>
                  <a:pt x="68" y="49"/>
                </a:lnTo>
                <a:lnTo>
                  <a:pt x="128" y="85"/>
                </a:lnTo>
                <a:lnTo>
                  <a:pt x="146" y="26"/>
                </a:lnTo>
                <a:lnTo>
                  <a:pt x="172" y="58"/>
                </a:lnTo>
                <a:close/>
              </a:path>
            </a:pathLst>
          </a:custGeom>
          <a:pattFill prst="shingle">
            <a:fgClr>
              <a:schemeClr val="accent2"/>
            </a:fgClr>
            <a:bgClr>
              <a:schemeClr val="bg1"/>
            </a:bgClr>
          </a:patt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28" name="Freeform 24">
            <a:extLst>
              <a:ext uri="{FF2B5EF4-FFF2-40B4-BE49-F238E27FC236}">
                <a16:creationId xmlns:a16="http://schemas.microsoft.com/office/drawing/2014/main" id="{8ECB267E-CA64-48B7-AE15-11EC2E3F43DB}"/>
              </a:ext>
            </a:extLst>
          </p:cNvPr>
          <p:cNvSpPr>
            <a:spLocks/>
          </p:cNvSpPr>
          <p:nvPr/>
        </p:nvSpPr>
        <p:spPr bwMode="auto">
          <a:xfrm>
            <a:off x="5206392" y="3207257"/>
            <a:ext cx="512763" cy="457200"/>
          </a:xfrm>
          <a:custGeom>
            <a:avLst/>
            <a:gdLst>
              <a:gd name="T0" fmla="*/ 172 w 323"/>
              <a:gd name="T1" fmla="*/ 58 h 288"/>
              <a:gd name="T2" fmla="*/ 221 w 323"/>
              <a:gd name="T3" fmla="*/ 0 h 288"/>
              <a:gd name="T4" fmla="*/ 217 w 323"/>
              <a:gd name="T5" fmla="*/ 77 h 288"/>
              <a:gd name="T6" fmla="*/ 270 w 323"/>
              <a:gd name="T7" fmla="*/ 43 h 288"/>
              <a:gd name="T8" fmla="*/ 245 w 323"/>
              <a:gd name="T9" fmla="*/ 87 h 288"/>
              <a:gd name="T10" fmla="*/ 323 w 323"/>
              <a:gd name="T11" fmla="*/ 89 h 288"/>
              <a:gd name="T12" fmla="*/ 254 w 323"/>
              <a:gd name="T13" fmla="*/ 126 h 288"/>
              <a:gd name="T14" fmla="*/ 274 w 323"/>
              <a:gd name="T15" fmla="*/ 151 h 288"/>
              <a:gd name="T16" fmla="*/ 245 w 323"/>
              <a:gd name="T17" fmla="*/ 164 h 288"/>
              <a:gd name="T18" fmla="*/ 283 w 323"/>
              <a:gd name="T19" fmla="*/ 209 h 288"/>
              <a:gd name="T20" fmla="*/ 219 w 323"/>
              <a:gd name="T21" fmla="*/ 192 h 288"/>
              <a:gd name="T22" fmla="*/ 224 w 323"/>
              <a:gd name="T23" fmla="*/ 232 h 288"/>
              <a:gd name="T24" fmla="*/ 182 w 323"/>
              <a:gd name="T25" fmla="*/ 213 h 288"/>
              <a:gd name="T26" fmla="*/ 174 w 323"/>
              <a:gd name="T27" fmla="*/ 251 h 288"/>
              <a:gd name="T28" fmla="*/ 148 w 323"/>
              <a:gd name="T29" fmla="*/ 232 h 288"/>
              <a:gd name="T30" fmla="*/ 130 w 323"/>
              <a:gd name="T31" fmla="*/ 263 h 288"/>
              <a:gd name="T32" fmla="*/ 113 w 323"/>
              <a:gd name="T33" fmla="*/ 242 h 288"/>
              <a:gd name="T34" fmla="*/ 74 w 323"/>
              <a:gd name="T35" fmla="*/ 288 h 288"/>
              <a:gd name="T36" fmla="*/ 72 w 323"/>
              <a:gd name="T37" fmla="*/ 243 h 288"/>
              <a:gd name="T38" fmla="*/ 19 w 323"/>
              <a:gd name="T39" fmla="*/ 238 h 288"/>
              <a:gd name="T40" fmla="*/ 50 w 323"/>
              <a:gd name="T41" fmla="*/ 205 h 288"/>
              <a:gd name="T42" fmla="*/ 0 w 323"/>
              <a:gd name="T43" fmla="*/ 172 h 288"/>
              <a:gd name="T44" fmla="*/ 59 w 323"/>
              <a:gd name="T45" fmla="*/ 155 h 288"/>
              <a:gd name="T46" fmla="*/ 18 w 323"/>
              <a:gd name="T47" fmla="*/ 111 h 288"/>
              <a:gd name="T48" fmla="*/ 80 w 323"/>
              <a:gd name="T49" fmla="*/ 105 h 288"/>
              <a:gd name="T50" fmla="*/ 68 w 323"/>
              <a:gd name="T51" fmla="*/ 49 h 288"/>
              <a:gd name="T52" fmla="*/ 128 w 323"/>
              <a:gd name="T53" fmla="*/ 85 h 288"/>
              <a:gd name="T54" fmla="*/ 146 w 323"/>
              <a:gd name="T55" fmla="*/ 26 h 288"/>
              <a:gd name="T56" fmla="*/ 172 w 323"/>
              <a:gd name="T57" fmla="*/ 58 h 2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323" h="288">
                <a:moveTo>
                  <a:pt x="172" y="58"/>
                </a:moveTo>
                <a:lnTo>
                  <a:pt x="221" y="0"/>
                </a:lnTo>
                <a:lnTo>
                  <a:pt x="217" y="77"/>
                </a:lnTo>
                <a:lnTo>
                  <a:pt x="270" y="43"/>
                </a:lnTo>
                <a:lnTo>
                  <a:pt x="245" y="87"/>
                </a:lnTo>
                <a:lnTo>
                  <a:pt x="323" y="89"/>
                </a:lnTo>
                <a:lnTo>
                  <a:pt x="254" y="126"/>
                </a:lnTo>
                <a:lnTo>
                  <a:pt x="274" y="151"/>
                </a:lnTo>
                <a:lnTo>
                  <a:pt x="245" y="164"/>
                </a:lnTo>
                <a:lnTo>
                  <a:pt x="283" y="209"/>
                </a:lnTo>
                <a:lnTo>
                  <a:pt x="219" y="192"/>
                </a:lnTo>
                <a:lnTo>
                  <a:pt x="224" y="232"/>
                </a:lnTo>
                <a:lnTo>
                  <a:pt x="182" y="213"/>
                </a:lnTo>
                <a:lnTo>
                  <a:pt x="174" y="251"/>
                </a:lnTo>
                <a:lnTo>
                  <a:pt x="148" y="232"/>
                </a:lnTo>
                <a:lnTo>
                  <a:pt x="130" y="263"/>
                </a:lnTo>
                <a:lnTo>
                  <a:pt x="113" y="242"/>
                </a:lnTo>
                <a:lnTo>
                  <a:pt x="74" y="288"/>
                </a:lnTo>
                <a:lnTo>
                  <a:pt x="72" y="243"/>
                </a:lnTo>
                <a:lnTo>
                  <a:pt x="19" y="238"/>
                </a:lnTo>
                <a:lnTo>
                  <a:pt x="50" y="205"/>
                </a:lnTo>
                <a:lnTo>
                  <a:pt x="0" y="172"/>
                </a:lnTo>
                <a:lnTo>
                  <a:pt x="59" y="155"/>
                </a:lnTo>
                <a:lnTo>
                  <a:pt x="18" y="111"/>
                </a:lnTo>
                <a:lnTo>
                  <a:pt x="80" y="105"/>
                </a:lnTo>
                <a:lnTo>
                  <a:pt x="68" y="49"/>
                </a:lnTo>
                <a:lnTo>
                  <a:pt x="128" y="85"/>
                </a:lnTo>
                <a:lnTo>
                  <a:pt x="146" y="26"/>
                </a:lnTo>
                <a:lnTo>
                  <a:pt x="172" y="58"/>
                </a:lnTo>
                <a:close/>
              </a:path>
            </a:pathLst>
          </a:custGeom>
          <a:pattFill prst="shingle">
            <a:fgClr>
              <a:schemeClr val="accent2"/>
            </a:fgClr>
            <a:bgClr>
              <a:schemeClr val="bg1"/>
            </a:bgClr>
          </a:pattFill>
          <a:ln w="9525" cap="flat">
            <a:solidFill>
              <a:srgbClr val="3C09F7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29" name="Freeform 25">
            <a:extLst>
              <a:ext uri="{FF2B5EF4-FFF2-40B4-BE49-F238E27FC236}">
                <a16:creationId xmlns:a16="http://schemas.microsoft.com/office/drawing/2014/main" id="{3EF80098-EC76-414C-BDE0-C000AF6A51C6}"/>
              </a:ext>
            </a:extLst>
          </p:cNvPr>
          <p:cNvSpPr>
            <a:spLocks/>
          </p:cNvSpPr>
          <p:nvPr/>
        </p:nvSpPr>
        <p:spPr bwMode="auto">
          <a:xfrm>
            <a:off x="5719155" y="3207257"/>
            <a:ext cx="514350" cy="457200"/>
          </a:xfrm>
          <a:custGeom>
            <a:avLst/>
            <a:gdLst>
              <a:gd name="T0" fmla="*/ 172 w 324"/>
              <a:gd name="T1" fmla="*/ 58 h 288"/>
              <a:gd name="T2" fmla="*/ 222 w 324"/>
              <a:gd name="T3" fmla="*/ 0 h 288"/>
              <a:gd name="T4" fmla="*/ 218 w 324"/>
              <a:gd name="T5" fmla="*/ 77 h 288"/>
              <a:gd name="T6" fmla="*/ 270 w 324"/>
              <a:gd name="T7" fmla="*/ 43 h 288"/>
              <a:gd name="T8" fmla="*/ 246 w 324"/>
              <a:gd name="T9" fmla="*/ 87 h 288"/>
              <a:gd name="T10" fmla="*/ 324 w 324"/>
              <a:gd name="T11" fmla="*/ 89 h 288"/>
              <a:gd name="T12" fmla="*/ 255 w 324"/>
              <a:gd name="T13" fmla="*/ 126 h 288"/>
              <a:gd name="T14" fmla="*/ 274 w 324"/>
              <a:gd name="T15" fmla="*/ 151 h 288"/>
              <a:gd name="T16" fmla="*/ 246 w 324"/>
              <a:gd name="T17" fmla="*/ 164 h 288"/>
              <a:gd name="T18" fmla="*/ 283 w 324"/>
              <a:gd name="T19" fmla="*/ 209 h 288"/>
              <a:gd name="T20" fmla="*/ 220 w 324"/>
              <a:gd name="T21" fmla="*/ 192 h 288"/>
              <a:gd name="T22" fmla="*/ 224 w 324"/>
              <a:gd name="T23" fmla="*/ 232 h 288"/>
              <a:gd name="T24" fmla="*/ 183 w 324"/>
              <a:gd name="T25" fmla="*/ 213 h 288"/>
              <a:gd name="T26" fmla="*/ 174 w 324"/>
              <a:gd name="T27" fmla="*/ 251 h 288"/>
              <a:gd name="T28" fmla="*/ 148 w 324"/>
              <a:gd name="T29" fmla="*/ 232 h 288"/>
              <a:gd name="T30" fmla="*/ 131 w 324"/>
              <a:gd name="T31" fmla="*/ 263 h 288"/>
              <a:gd name="T32" fmla="*/ 113 w 324"/>
              <a:gd name="T33" fmla="*/ 242 h 288"/>
              <a:gd name="T34" fmla="*/ 74 w 324"/>
              <a:gd name="T35" fmla="*/ 288 h 288"/>
              <a:gd name="T36" fmla="*/ 73 w 324"/>
              <a:gd name="T37" fmla="*/ 243 h 288"/>
              <a:gd name="T38" fmla="*/ 20 w 324"/>
              <a:gd name="T39" fmla="*/ 238 h 288"/>
              <a:gd name="T40" fmla="*/ 50 w 324"/>
              <a:gd name="T41" fmla="*/ 205 h 288"/>
              <a:gd name="T42" fmla="*/ 0 w 324"/>
              <a:gd name="T43" fmla="*/ 172 h 288"/>
              <a:gd name="T44" fmla="*/ 59 w 324"/>
              <a:gd name="T45" fmla="*/ 155 h 288"/>
              <a:gd name="T46" fmla="*/ 18 w 324"/>
              <a:gd name="T47" fmla="*/ 111 h 288"/>
              <a:gd name="T48" fmla="*/ 81 w 324"/>
              <a:gd name="T49" fmla="*/ 105 h 288"/>
              <a:gd name="T50" fmla="*/ 68 w 324"/>
              <a:gd name="T51" fmla="*/ 49 h 288"/>
              <a:gd name="T52" fmla="*/ 128 w 324"/>
              <a:gd name="T53" fmla="*/ 85 h 288"/>
              <a:gd name="T54" fmla="*/ 146 w 324"/>
              <a:gd name="T55" fmla="*/ 26 h 288"/>
              <a:gd name="T56" fmla="*/ 172 w 324"/>
              <a:gd name="T57" fmla="*/ 58 h 2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324" h="288">
                <a:moveTo>
                  <a:pt x="172" y="58"/>
                </a:moveTo>
                <a:lnTo>
                  <a:pt x="222" y="0"/>
                </a:lnTo>
                <a:lnTo>
                  <a:pt x="218" y="77"/>
                </a:lnTo>
                <a:lnTo>
                  <a:pt x="270" y="43"/>
                </a:lnTo>
                <a:lnTo>
                  <a:pt x="246" y="87"/>
                </a:lnTo>
                <a:lnTo>
                  <a:pt x="324" y="89"/>
                </a:lnTo>
                <a:lnTo>
                  <a:pt x="255" y="126"/>
                </a:lnTo>
                <a:lnTo>
                  <a:pt x="274" y="151"/>
                </a:lnTo>
                <a:lnTo>
                  <a:pt x="246" y="164"/>
                </a:lnTo>
                <a:lnTo>
                  <a:pt x="283" y="209"/>
                </a:lnTo>
                <a:lnTo>
                  <a:pt x="220" y="192"/>
                </a:lnTo>
                <a:lnTo>
                  <a:pt x="224" y="232"/>
                </a:lnTo>
                <a:lnTo>
                  <a:pt x="183" y="213"/>
                </a:lnTo>
                <a:lnTo>
                  <a:pt x="174" y="251"/>
                </a:lnTo>
                <a:lnTo>
                  <a:pt x="148" y="232"/>
                </a:lnTo>
                <a:lnTo>
                  <a:pt x="131" y="263"/>
                </a:lnTo>
                <a:lnTo>
                  <a:pt x="113" y="242"/>
                </a:lnTo>
                <a:lnTo>
                  <a:pt x="74" y="288"/>
                </a:lnTo>
                <a:lnTo>
                  <a:pt x="73" y="243"/>
                </a:lnTo>
                <a:lnTo>
                  <a:pt x="20" y="238"/>
                </a:lnTo>
                <a:lnTo>
                  <a:pt x="50" y="205"/>
                </a:lnTo>
                <a:lnTo>
                  <a:pt x="0" y="172"/>
                </a:lnTo>
                <a:lnTo>
                  <a:pt x="59" y="155"/>
                </a:lnTo>
                <a:lnTo>
                  <a:pt x="18" y="111"/>
                </a:lnTo>
                <a:lnTo>
                  <a:pt x="81" y="105"/>
                </a:lnTo>
                <a:lnTo>
                  <a:pt x="68" y="49"/>
                </a:lnTo>
                <a:lnTo>
                  <a:pt x="128" y="85"/>
                </a:lnTo>
                <a:lnTo>
                  <a:pt x="146" y="26"/>
                </a:lnTo>
                <a:lnTo>
                  <a:pt x="172" y="58"/>
                </a:lnTo>
                <a:close/>
              </a:path>
            </a:pathLst>
          </a:custGeom>
          <a:pattFill prst="shingle">
            <a:fgClr>
              <a:schemeClr val="accent2"/>
            </a:fgClr>
            <a:bgClr>
              <a:schemeClr val="bg1"/>
            </a:bgClr>
          </a:patt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30" name="Freeform 26">
            <a:extLst>
              <a:ext uri="{FF2B5EF4-FFF2-40B4-BE49-F238E27FC236}">
                <a16:creationId xmlns:a16="http://schemas.microsoft.com/office/drawing/2014/main" id="{271E7950-AF0D-41D9-A44C-338090BC6848}"/>
              </a:ext>
            </a:extLst>
          </p:cNvPr>
          <p:cNvSpPr>
            <a:spLocks/>
          </p:cNvSpPr>
          <p:nvPr/>
        </p:nvSpPr>
        <p:spPr bwMode="auto">
          <a:xfrm>
            <a:off x="5719155" y="3207257"/>
            <a:ext cx="514350" cy="457200"/>
          </a:xfrm>
          <a:custGeom>
            <a:avLst/>
            <a:gdLst>
              <a:gd name="T0" fmla="*/ 172 w 324"/>
              <a:gd name="T1" fmla="*/ 58 h 288"/>
              <a:gd name="T2" fmla="*/ 222 w 324"/>
              <a:gd name="T3" fmla="*/ 0 h 288"/>
              <a:gd name="T4" fmla="*/ 218 w 324"/>
              <a:gd name="T5" fmla="*/ 77 h 288"/>
              <a:gd name="T6" fmla="*/ 270 w 324"/>
              <a:gd name="T7" fmla="*/ 43 h 288"/>
              <a:gd name="T8" fmla="*/ 246 w 324"/>
              <a:gd name="T9" fmla="*/ 87 h 288"/>
              <a:gd name="T10" fmla="*/ 324 w 324"/>
              <a:gd name="T11" fmla="*/ 89 h 288"/>
              <a:gd name="T12" fmla="*/ 255 w 324"/>
              <a:gd name="T13" fmla="*/ 126 h 288"/>
              <a:gd name="T14" fmla="*/ 274 w 324"/>
              <a:gd name="T15" fmla="*/ 151 h 288"/>
              <a:gd name="T16" fmla="*/ 246 w 324"/>
              <a:gd name="T17" fmla="*/ 164 h 288"/>
              <a:gd name="T18" fmla="*/ 283 w 324"/>
              <a:gd name="T19" fmla="*/ 209 h 288"/>
              <a:gd name="T20" fmla="*/ 220 w 324"/>
              <a:gd name="T21" fmla="*/ 192 h 288"/>
              <a:gd name="T22" fmla="*/ 224 w 324"/>
              <a:gd name="T23" fmla="*/ 232 h 288"/>
              <a:gd name="T24" fmla="*/ 183 w 324"/>
              <a:gd name="T25" fmla="*/ 213 h 288"/>
              <a:gd name="T26" fmla="*/ 174 w 324"/>
              <a:gd name="T27" fmla="*/ 251 h 288"/>
              <a:gd name="T28" fmla="*/ 148 w 324"/>
              <a:gd name="T29" fmla="*/ 232 h 288"/>
              <a:gd name="T30" fmla="*/ 131 w 324"/>
              <a:gd name="T31" fmla="*/ 263 h 288"/>
              <a:gd name="T32" fmla="*/ 113 w 324"/>
              <a:gd name="T33" fmla="*/ 242 h 288"/>
              <a:gd name="T34" fmla="*/ 74 w 324"/>
              <a:gd name="T35" fmla="*/ 288 h 288"/>
              <a:gd name="T36" fmla="*/ 73 w 324"/>
              <a:gd name="T37" fmla="*/ 243 h 288"/>
              <a:gd name="T38" fmla="*/ 20 w 324"/>
              <a:gd name="T39" fmla="*/ 238 h 288"/>
              <a:gd name="T40" fmla="*/ 50 w 324"/>
              <a:gd name="T41" fmla="*/ 205 h 288"/>
              <a:gd name="T42" fmla="*/ 0 w 324"/>
              <a:gd name="T43" fmla="*/ 172 h 288"/>
              <a:gd name="T44" fmla="*/ 59 w 324"/>
              <a:gd name="T45" fmla="*/ 155 h 288"/>
              <a:gd name="T46" fmla="*/ 18 w 324"/>
              <a:gd name="T47" fmla="*/ 111 h 288"/>
              <a:gd name="T48" fmla="*/ 81 w 324"/>
              <a:gd name="T49" fmla="*/ 105 h 288"/>
              <a:gd name="T50" fmla="*/ 68 w 324"/>
              <a:gd name="T51" fmla="*/ 49 h 288"/>
              <a:gd name="T52" fmla="*/ 128 w 324"/>
              <a:gd name="T53" fmla="*/ 85 h 288"/>
              <a:gd name="T54" fmla="*/ 146 w 324"/>
              <a:gd name="T55" fmla="*/ 26 h 288"/>
              <a:gd name="T56" fmla="*/ 172 w 324"/>
              <a:gd name="T57" fmla="*/ 58 h 2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324" h="288">
                <a:moveTo>
                  <a:pt x="172" y="58"/>
                </a:moveTo>
                <a:lnTo>
                  <a:pt x="222" y="0"/>
                </a:lnTo>
                <a:lnTo>
                  <a:pt x="218" y="77"/>
                </a:lnTo>
                <a:lnTo>
                  <a:pt x="270" y="43"/>
                </a:lnTo>
                <a:lnTo>
                  <a:pt x="246" y="87"/>
                </a:lnTo>
                <a:lnTo>
                  <a:pt x="324" y="89"/>
                </a:lnTo>
                <a:lnTo>
                  <a:pt x="255" y="126"/>
                </a:lnTo>
                <a:lnTo>
                  <a:pt x="274" y="151"/>
                </a:lnTo>
                <a:lnTo>
                  <a:pt x="246" y="164"/>
                </a:lnTo>
                <a:lnTo>
                  <a:pt x="283" y="209"/>
                </a:lnTo>
                <a:lnTo>
                  <a:pt x="220" y="192"/>
                </a:lnTo>
                <a:lnTo>
                  <a:pt x="224" y="232"/>
                </a:lnTo>
                <a:lnTo>
                  <a:pt x="183" y="213"/>
                </a:lnTo>
                <a:lnTo>
                  <a:pt x="174" y="251"/>
                </a:lnTo>
                <a:lnTo>
                  <a:pt x="148" y="232"/>
                </a:lnTo>
                <a:lnTo>
                  <a:pt x="131" y="263"/>
                </a:lnTo>
                <a:lnTo>
                  <a:pt x="113" y="242"/>
                </a:lnTo>
                <a:lnTo>
                  <a:pt x="74" y="288"/>
                </a:lnTo>
                <a:lnTo>
                  <a:pt x="73" y="243"/>
                </a:lnTo>
                <a:lnTo>
                  <a:pt x="20" y="238"/>
                </a:lnTo>
                <a:lnTo>
                  <a:pt x="50" y="205"/>
                </a:lnTo>
                <a:lnTo>
                  <a:pt x="0" y="172"/>
                </a:lnTo>
                <a:lnTo>
                  <a:pt x="59" y="155"/>
                </a:lnTo>
                <a:lnTo>
                  <a:pt x="18" y="111"/>
                </a:lnTo>
                <a:lnTo>
                  <a:pt x="81" y="105"/>
                </a:lnTo>
                <a:lnTo>
                  <a:pt x="68" y="49"/>
                </a:lnTo>
                <a:lnTo>
                  <a:pt x="128" y="85"/>
                </a:lnTo>
                <a:lnTo>
                  <a:pt x="146" y="26"/>
                </a:lnTo>
                <a:lnTo>
                  <a:pt x="172" y="58"/>
                </a:lnTo>
                <a:close/>
              </a:path>
            </a:pathLst>
          </a:custGeom>
          <a:pattFill prst="shingle">
            <a:fgClr>
              <a:schemeClr val="accent2"/>
            </a:fgClr>
            <a:bgClr>
              <a:schemeClr val="bg1"/>
            </a:bgClr>
          </a:pattFill>
          <a:ln w="9525" cap="flat">
            <a:solidFill>
              <a:srgbClr val="3C09F7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31" name="Rectangle 27">
            <a:extLst>
              <a:ext uri="{FF2B5EF4-FFF2-40B4-BE49-F238E27FC236}">
                <a16:creationId xmlns:a16="http://schemas.microsoft.com/office/drawing/2014/main" id="{7A3BA455-8B94-42CA-977D-934AE018902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77767" y="4462969"/>
            <a:ext cx="400050" cy="342900"/>
          </a:xfrm>
          <a:prstGeom prst="rect">
            <a:avLst/>
          </a:prstGeom>
          <a:solidFill>
            <a:srgbClr val="0099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32" name="Rectangle 28">
            <a:extLst>
              <a:ext uri="{FF2B5EF4-FFF2-40B4-BE49-F238E27FC236}">
                <a16:creationId xmlns:a16="http://schemas.microsoft.com/office/drawing/2014/main" id="{7F18FF13-2356-4FE1-99E4-1691A49BAE4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77767" y="4462969"/>
            <a:ext cx="400050" cy="342900"/>
          </a:xfrm>
          <a:prstGeom prst="rect">
            <a:avLst/>
          </a:prstGeom>
          <a:noFill/>
          <a:ln w="9525" cap="flat">
            <a:solidFill>
              <a:srgbClr val="009900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33" name="Rectangle 29">
            <a:extLst>
              <a:ext uri="{FF2B5EF4-FFF2-40B4-BE49-F238E27FC236}">
                <a16:creationId xmlns:a16="http://schemas.microsoft.com/office/drawing/2014/main" id="{CFC784F0-2D44-454D-809A-AC2A1D64483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80124" y="2619882"/>
            <a:ext cx="79375" cy="334963"/>
          </a:xfrm>
          <a:prstGeom prst="rect">
            <a:avLst/>
          </a:prstGeom>
          <a:solidFill>
            <a:srgbClr val="DE250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35" name="Freeform 31">
            <a:extLst>
              <a:ext uri="{FF2B5EF4-FFF2-40B4-BE49-F238E27FC236}">
                <a16:creationId xmlns:a16="http://schemas.microsoft.com/office/drawing/2014/main" id="{52DA09F3-8E5E-4180-9200-205EBDFE001E}"/>
              </a:ext>
            </a:extLst>
          </p:cNvPr>
          <p:cNvSpPr>
            <a:spLocks noEditPoints="1"/>
          </p:cNvSpPr>
          <p:nvPr/>
        </p:nvSpPr>
        <p:spPr bwMode="auto">
          <a:xfrm>
            <a:off x="4617430" y="2913569"/>
            <a:ext cx="385763" cy="1606550"/>
          </a:xfrm>
          <a:custGeom>
            <a:avLst/>
            <a:gdLst>
              <a:gd name="T0" fmla="*/ 14 w 243"/>
              <a:gd name="T1" fmla="*/ 0 h 1012"/>
              <a:gd name="T2" fmla="*/ 231 w 243"/>
              <a:gd name="T3" fmla="*/ 978 h 1012"/>
              <a:gd name="T4" fmla="*/ 218 w 243"/>
              <a:gd name="T5" fmla="*/ 981 h 1012"/>
              <a:gd name="T6" fmla="*/ 0 w 243"/>
              <a:gd name="T7" fmla="*/ 3 h 1012"/>
              <a:gd name="T8" fmla="*/ 14 w 243"/>
              <a:gd name="T9" fmla="*/ 0 h 1012"/>
              <a:gd name="T10" fmla="*/ 243 w 243"/>
              <a:gd name="T11" fmla="*/ 968 h 1012"/>
              <a:gd name="T12" fmla="*/ 232 w 243"/>
              <a:gd name="T13" fmla="*/ 1012 h 1012"/>
              <a:gd name="T14" fmla="*/ 203 w 243"/>
              <a:gd name="T15" fmla="*/ 977 h 1012"/>
              <a:gd name="T16" fmla="*/ 243 w 243"/>
              <a:gd name="T17" fmla="*/ 968 h 10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243" h="1012">
                <a:moveTo>
                  <a:pt x="14" y="0"/>
                </a:moveTo>
                <a:lnTo>
                  <a:pt x="231" y="978"/>
                </a:lnTo>
                <a:lnTo>
                  <a:pt x="218" y="981"/>
                </a:lnTo>
                <a:lnTo>
                  <a:pt x="0" y="3"/>
                </a:lnTo>
                <a:lnTo>
                  <a:pt x="14" y="0"/>
                </a:lnTo>
                <a:close/>
                <a:moveTo>
                  <a:pt x="243" y="968"/>
                </a:moveTo>
                <a:lnTo>
                  <a:pt x="232" y="1012"/>
                </a:lnTo>
                <a:lnTo>
                  <a:pt x="203" y="977"/>
                </a:lnTo>
                <a:lnTo>
                  <a:pt x="243" y="968"/>
                </a:lnTo>
                <a:close/>
              </a:path>
            </a:pathLst>
          </a:custGeom>
          <a:solidFill>
            <a:srgbClr val="009900"/>
          </a:solidFill>
          <a:ln w="0" cap="flat">
            <a:solidFill>
              <a:srgbClr val="0099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36" name="Rectangle 32">
            <a:extLst>
              <a:ext uri="{FF2B5EF4-FFF2-40B4-BE49-F238E27FC236}">
                <a16:creationId xmlns:a16="http://schemas.microsoft.com/office/drawing/2014/main" id="{5D3E63CC-A2E0-4A52-9C61-8AABF8F23D8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10692" y="2678619"/>
            <a:ext cx="49694" cy="2154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zh-CN" altLang="zh-CN" sz="1400" i="1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rPr>
              <a:t>I</a:t>
            </a:r>
            <a:endParaRPr kumimoji="0" lang="zh-CN" altLang="zh-CN" sz="1800" i="1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  <a:ea typeface="SimHei" panose="02010609060101010101" pitchFamily="49" charset="-122"/>
            </a:endParaRPr>
          </a:p>
        </p:txBody>
      </p:sp>
      <p:sp>
        <p:nvSpPr>
          <p:cNvPr id="37" name="Rectangle 33">
            <a:extLst>
              <a:ext uri="{FF2B5EF4-FFF2-40B4-BE49-F238E27FC236}">
                <a16:creationId xmlns:a16="http://schemas.microsoft.com/office/drawing/2014/main" id="{0B1624F2-2CED-4838-A0FA-B113988A5A03}"/>
              </a:ext>
            </a:extLst>
          </p:cNvPr>
          <p:cNvSpPr>
            <a:spLocks noChangeArrowheads="1"/>
          </p:cNvSpPr>
          <p:nvPr/>
        </p:nvSpPr>
        <p:spPr bwMode="auto">
          <a:xfrm>
            <a:off x="1488467" y="2884994"/>
            <a:ext cx="99386" cy="2154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zh-CN" altLang="zh-CN" sz="1400" i="1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rPr>
              <a:t>n</a:t>
            </a:r>
            <a:endParaRPr kumimoji="0" lang="zh-CN" altLang="zh-CN" sz="1800" i="1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  <a:ea typeface="SimHei" panose="02010609060101010101" pitchFamily="49" charset="-122"/>
            </a:endParaRPr>
          </a:p>
        </p:txBody>
      </p:sp>
      <p:sp>
        <p:nvSpPr>
          <p:cNvPr id="38" name="Rectangle 34">
            <a:extLst>
              <a:ext uri="{FF2B5EF4-FFF2-40B4-BE49-F238E27FC236}">
                <a16:creationId xmlns:a16="http://schemas.microsoft.com/office/drawing/2014/main" id="{08F02BB5-BEDB-4E6D-BB25-A35A101DF49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488467" y="3094544"/>
            <a:ext cx="83356" cy="20005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zh-CN" altLang="zh-CN" sz="1300" i="1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rPr>
              <a:t>s</a:t>
            </a:r>
            <a:endParaRPr kumimoji="0" lang="zh-CN" altLang="zh-CN" sz="1800" i="1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  <a:ea typeface="SimHei" panose="02010609060101010101" pitchFamily="49" charset="-122"/>
            </a:endParaRPr>
          </a:p>
        </p:txBody>
      </p:sp>
      <p:sp>
        <p:nvSpPr>
          <p:cNvPr id="39" name="Rectangle 35">
            <a:extLst>
              <a:ext uri="{FF2B5EF4-FFF2-40B4-BE49-F238E27FC236}">
                <a16:creationId xmlns:a16="http://schemas.microsoft.com/office/drawing/2014/main" id="{385A3E45-12EE-4BDB-9CF8-8537DD1EEAE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10692" y="3299332"/>
            <a:ext cx="49694" cy="2154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zh-CN" altLang="zh-CN" sz="1400" i="1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rPr>
              <a:t>t</a:t>
            </a:r>
            <a:endParaRPr kumimoji="0" lang="zh-CN" altLang="zh-CN" sz="1800" i="1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  <a:ea typeface="SimHei" panose="02010609060101010101" pitchFamily="49" charset="-122"/>
            </a:endParaRPr>
          </a:p>
        </p:txBody>
      </p:sp>
      <p:sp>
        <p:nvSpPr>
          <p:cNvPr id="40" name="Rectangle 36">
            <a:extLst>
              <a:ext uri="{FF2B5EF4-FFF2-40B4-BE49-F238E27FC236}">
                <a16:creationId xmlns:a16="http://schemas.microsoft.com/office/drawing/2014/main" id="{DC4E2BE5-1B34-44ED-9C02-4D5B7838663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482117" y="3505707"/>
            <a:ext cx="102336" cy="2154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zh-CN" altLang="zh-CN" sz="1400" i="1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rPr>
              <a:t>r.</a:t>
            </a:r>
            <a:endParaRPr kumimoji="0" lang="zh-CN" altLang="zh-CN" sz="1800" i="1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  <a:ea typeface="SimHei" panose="02010609060101010101" pitchFamily="49" charset="-122"/>
            </a:endParaRPr>
          </a:p>
        </p:txBody>
      </p:sp>
      <p:sp>
        <p:nvSpPr>
          <p:cNvPr id="41" name="Rectangle 37">
            <a:extLst>
              <a:ext uri="{FF2B5EF4-FFF2-40B4-BE49-F238E27FC236}">
                <a16:creationId xmlns:a16="http://schemas.microsoft.com/office/drawing/2014/main" id="{29031140-E965-4641-80C4-2D9553075FF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467830" y="3912107"/>
            <a:ext cx="139462" cy="2154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zh-CN" altLang="zh-CN" sz="1400" i="1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rPr>
              <a:t>O</a:t>
            </a:r>
            <a:endParaRPr kumimoji="0" lang="zh-CN" altLang="zh-CN" sz="1800" i="1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  <a:ea typeface="SimHei" panose="02010609060101010101" pitchFamily="49" charset="-122"/>
            </a:endParaRPr>
          </a:p>
        </p:txBody>
      </p:sp>
      <p:sp>
        <p:nvSpPr>
          <p:cNvPr id="42" name="Rectangle 38">
            <a:extLst>
              <a:ext uri="{FF2B5EF4-FFF2-40B4-BE49-F238E27FC236}">
                <a16:creationId xmlns:a16="http://schemas.microsoft.com/office/drawing/2014/main" id="{A894E65F-0D68-4406-BD0E-FA8EF87A736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02755" y="4118482"/>
            <a:ext cx="59312" cy="2154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zh-CN" altLang="zh-CN" sz="1400" i="1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rPr>
              <a:t>r</a:t>
            </a:r>
            <a:endParaRPr kumimoji="0" lang="zh-CN" altLang="zh-CN" sz="1800" i="1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  <a:ea typeface="SimHei" panose="02010609060101010101" pitchFamily="49" charset="-122"/>
            </a:endParaRPr>
          </a:p>
        </p:txBody>
      </p:sp>
      <p:sp>
        <p:nvSpPr>
          <p:cNvPr id="43" name="Rectangle 39">
            <a:extLst>
              <a:ext uri="{FF2B5EF4-FFF2-40B4-BE49-F238E27FC236}">
                <a16:creationId xmlns:a16="http://schemas.microsoft.com/office/drawing/2014/main" id="{7968DB77-76B5-498E-9600-CFAD003306B4}"/>
              </a:ext>
            </a:extLst>
          </p:cNvPr>
          <p:cNvSpPr>
            <a:spLocks noChangeArrowheads="1"/>
          </p:cNvSpPr>
          <p:nvPr/>
        </p:nvSpPr>
        <p:spPr bwMode="auto">
          <a:xfrm>
            <a:off x="1488467" y="4328032"/>
            <a:ext cx="92974" cy="20005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zh-CN" altLang="zh-CN" sz="1300" i="1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rPr>
              <a:t>d</a:t>
            </a:r>
            <a:endParaRPr kumimoji="0" lang="zh-CN" altLang="zh-CN" sz="1800" i="1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  <a:ea typeface="SimHei" panose="02010609060101010101" pitchFamily="49" charset="-122"/>
            </a:endParaRPr>
          </a:p>
        </p:txBody>
      </p:sp>
      <p:sp>
        <p:nvSpPr>
          <p:cNvPr id="44" name="Rectangle 40">
            <a:extLst>
              <a:ext uri="{FF2B5EF4-FFF2-40B4-BE49-F238E27FC236}">
                <a16:creationId xmlns:a16="http://schemas.microsoft.com/office/drawing/2014/main" id="{D009D77F-A5EA-4B87-B5F3-95E4124EABC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488467" y="4532819"/>
            <a:ext cx="99386" cy="2154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zh-CN" altLang="zh-CN" sz="1400" i="1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rPr>
              <a:t>e</a:t>
            </a:r>
            <a:endParaRPr kumimoji="0" lang="zh-CN" altLang="zh-CN" sz="1800" i="1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  <a:ea typeface="SimHei" panose="02010609060101010101" pitchFamily="49" charset="-122"/>
            </a:endParaRPr>
          </a:p>
        </p:txBody>
      </p:sp>
      <p:sp>
        <p:nvSpPr>
          <p:cNvPr id="45" name="Rectangle 41">
            <a:extLst>
              <a:ext uri="{FF2B5EF4-FFF2-40B4-BE49-F238E27FC236}">
                <a16:creationId xmlns:a16="http://schemas.microsoft.com/office/drawing/2014/main" id="{4F3AEC8F-A4E4-40A1-8F0E-F34E27FCEC3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02755" y="4732844"/>
            <a:ext cx="56106" cy="20005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zh-CN" altLang="zh-CN" sz="1300" i="1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rPr>
              <a:t>r</a:t>
            </a:r>
            <a:endParaRPr kumimoji="0" lang="zh-CN" altLang="zh-CN" sz="1800" i="1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  <a:ea typeface="SimHei" panose="02010609060101010101" pitchFamily="49" charset="-122"/>
            </a:endParaRPr>
          </a:p>
        </p:txBody>
      </p:sp>
      <p:sp>
        <p:nvSpPr>
          <p:cNvPr id="46" name="Freeform 42">
            <a:extLst>
              <a:ext uri="{FF2B5EF4-FFF2-40B4-BE49-F238E27FC236}">
                <a16:creationId xmlns:a16="http://schemas.microsoft.com/office/drawing/2014/main" id="{DCAC5B94-4481-495C-977A-19873F8B0331}"/>
              </a:ext>
            </a:extLst>
          </p:cNvPr>
          <p:cNvSpPr>
            <a:spLocks noEditPoints="1"/>
          </p:cNvSpPr>
          <p:nvPr/>
        </p:nvSpPr>
        <p:spPr bwMode="auto">
          <a:xfrm>
            <a:off x="2239355" y="2324607"/>
            <a:ext cx="5249863" cy="57150"/>
          </a:xfrm>
          <a:custGeom>
            <a:avLst/>
            <a:gdLst>
              <a:gd name="T0" fmla="*/ 0 w 3307"/>
              <a:gd name="T1" fmla="*/ 28 h 36"/>
              <a:gd name="T2" fmla="*/ 3277 w 3307"/>
              <a:gd name="T3" fmla="*/ 24 h 36"/>
              <a:gd name="T4" fmla="*/ 3277 w 3307"/>
              <a:gd name="T5" fmla="*/ 12 h 36"/>
              <a:gd name="T6" fmla="*/ 0 w 3307"/>
              <a:gd name="T7" fmla="*/ 16 h 36"/>
              <a:gd name="T8" fmla="*/ 0 w 3307"/>
              <a:gd name="T9" fmla="*/ 28 h 36"/>
              <a:gd name="T10" fmla="*/ 3271 w 3307"/>
              <a:gd name="T11" fmla="*/ 36 h 36"/>
              <a:gd name="T12" fmla="*/ 3307 w 3307"/>
              <a:gd name="T13" fmla="*/ 17 h 36"/>
              <a:gd name="T14" fmla="*/ 3271 w 3307"/>
              <a:gd name="T15" fmla="*/ 0 h 36"/>
              <a:gd name="T16" fmla="*/ 3271 w 3307"/>
              <a:gd name="T17" fmla="*/ 36 h 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3307" h="36">
                <a:moveTo>
                  <a:pt x="0" y="28"/>
                </a:moveTo>
                <a:lnTo>
                  <a:pt x="3277" y="24"/>
                </a:lnTo>
                <a:lnTo>
                  <a:pt x="3277" y="12"/>
                </a:lnTo>
                <a:lnTo>
                  <a:pt x="0" y="16"/>
                </a:lnTo>
                <a:lnTo>
                  <a:pt x="0" y="28"/>
                </a:lnTo>
                <a:close/>
                <a:moveTo>
                  <a:pt x="3271" y="36"/>
                </a:moveTo>
                <a:lnTo>
                  <a:pt x="3307" y="17"/>
                </a:lnTo>
                <a:lnTo>
                  <a:pt x="3271" y="0"/>
                </a:lnTo>
                <a:lnTo>
                  <a:pt x="3271" y="36"/>
                </a:lnTo>
                <a:close/>
              </a:path>
            </a:pathLst>
          </a:custGeom>
          <a:solidFill>
            <a:srgbClr val="000000"/>
          </a:solidFill>
          <a:ln w="0" cap="flat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47" name="Rectangle 43">
            <a:extLst>
              <a:ext uri="{FF2B5EF4-FFF2-40B4-BE49-F238E27FC236}">
                <a16:creationId xmlns:a16="http://schemas.microsoft.com/office/drawing/2014/main" id="{1105219A-5FC8-4170-8F9D-2C9750E791F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93267" y="2626232"/>
            <a:ext cx="384721" cy="2769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zh-CN" altLang="zh-CN" sz="1800" u="none" strike="noStrike" cap="none" normalizeH="0" baseline="0" dirty="0">
                <a:ln>
                  <a:noFill/>
                </a:ln>
                <a:solidFill>
                  <a:srgbClr val="DE2506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rPr>
              <a:t>beq</a:t>
            </a:r>
            <a:endParaRPr kumimoji="0" lang="zh-CN" altLang="zh-CN" sz="180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  <a:ea typeface="SimHei" panose="02010609060101010101" pitchFamily="49" charset="-122"/>
            </a:endParaRPr>
          </a:p>
        </p:txBody>
      </p:sp>
      <p:sp>
        <p:nvSpPr>
          <p:cNvPr id="48" name="Freeform 44">
            <a:extLst>
              <a:ext uri="{FF2B5EF4-FFF2-40B4-BE49-F238E27FC236}">
                <a16:creationId xmlns:a16="http://schemas.microsoft.com/office/drawing/2014/main" id="{3AA50709-B684-4C3D-A182-3F7656A3A27A}"/>
              </a:ext>
            </a:extLst>
          </p:cNvPr>
          <p:cNvSpPr>
            <a:spLocks noEditPoints="1"/>
          </p:cNvSpPr>
          <p:nvPr/>
        </p:nvSpPr>
        <p:spPr bwMode="auto">
          <a:xfrm>
            <a:off x="1636105" y="2580194"/>
            <a:ext cx="63500" cy="3822700"/>
          </a:xfrm>
          <a:custGeom>
            <a:avLst/>
            <a:gdLst>
              <a:gd name="T0" fmla="*/ 27 w 40"/>
              <a:gd name="T1" fmla="*/ 0 h 2408"/>
              <a:gd name="T2" fmla="*/ 27 w 40"/>
              <a:gd name="T3" fmla="*/ 2374 h 2408"/>
              <a:gd name="T4" fmla="*/ 13 w 40"/>
              <a:gd name="T5" fmla="*/ 2374 h 2408"/>
              <a:gd name="T6" fmla="*/ 13 w 40"/>
              <a:gd name="T7" fmla="*/ 0 h 2408"/>
              <a:gd name="T8" fmla="*/ 27 w 40"/>
              <a:gd name="T9" fmla="*/ 0 h 2408"/>
              <a:gd name="T10" fmla="*/ 40 w 40"/>
              <a:gd name="T11" fmla="*/ 2367 h 2408"/>
              <a:gd name="T12" fmla="*/ 20 w 40"/>
              <a:gd name="T13" fmla="*/ 2408 h 2408"/>
              <a:gd name="T14" fmla="*/ 0 w 40"/>
              <a:gd name="T15" fmla="*/ 2367 h 2408"/>
              <a:gd name="T16" fmla="*/ 40 w 40"/>
              <a:gd name="T17" fmla="*/ 2367 h 24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40" h="2408">
                <a:moveTo>
                  <a:pt x="27" y="0"/>
                </a:moveTo>
                <a:lnTo>
                  <a:pt x="27" y="2374"/>
                </a:lnTo>
                <a:lnTo>
                  <a:pt x="13" y="2374"/>
                </a:lnTo>
                <a:lnTo>
                  <a:pt x="13" y="0"/>
                </a:lnTo>
                <a:lnTo>
                  <a:pt x="27" y="0"/>
                </a:lnTo>
                <a:close/>
                <a:moveTo>
                  <a:pt x="40" y="2367"/>
                </a:moveTo>
                <a:lnTo>
                  <a:pt x="20" y="2408"/>
                </a:lnTo>
                <a:lnTo>
                  <a:pt x="0" y="2367"/>
                </a:lnTo>
                <a:lnTo>
                  <a:pt x="40" y="2367"/>
                </a:lnTo>
                <a:close/>
              </a:path>
            </a:pathLst>
          </a:custGeom>
          <a:solidFill>
            <a:srgbClr val="000000"/>
          </a:solidFill>
          <a:ln w="0" cap="flat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i="1" dirty="0">
              <a:ea typeface="SimHei" panose="02010609060101010101" pitchFamily="49" charset="-122"/>
            </a:endParaRPr>
          </a:p>
        </p:txBody>
      </p:sp>
      <p:sp>
        <p:nvSpPr>
          <p:cNvPr id="49" name="Freeform 45">
            <a:extLst>
              <a:ext uri="{FF2B5EF4-FFF2-40B4-BE49-F238E27FC236}">
                <a16:creationId xmlns:a16="http://schemas.microsoft.com/office/drawing/2014/main" id="{351AD1D2-67DA-4763-9548-9BB09B28B4A9}"/>
              </a:ext>
            </a:extLst>
          </p:cNvPr>
          <p:cNvSpPr>
            <a:spLocks/>
          </p:cNvSpPr>
          <p:nvPr/>
        </p:nvSpPr>
        <p:spPr bwMode="auto">
          <a:xfrm>
            <a:off x="4322155" y="2523044"/>
            <a:ext cx="247650" cy="569913"/>
          </a:xfrm>
          <a:custGeom>
            <a:avLst/>
            <a:gdLst>
              <a:gd name="T0" fmla="*/ 0 w 156"/>
              <a:gd name="T1" fmla="*/ 239 h 359"/>
              <a:gd name="T2" fmla="*/ 52 w 156"/>
              <a:gd name="T3" fmla="*/ 180 h 359"/>
              <a:gd name="T4" fmla="*/ 0 w 156"/>
              <a:gd name="T5" fmla="*/ 120 h 359"/>
              <a:gd name="T6" fmla="*/ 0 w 156"/>
              <a:gd name="T7" fmla="*/ 0 h 359"/>
              <a:gd name="T8" fmla="*/ 156 w 156"/>
              <a:gd name="T9" fmla="*/ 120 h 359"/>
              <a:gd name="T10" fmla="*/ 156 w 156"/>
              <a:gd name="T11" fmla="*/ 239 h 359"/>
              <a:gd name="T12" fmla="*/ 0 w 156"/>
              <a:gd name="T13" fmla="*/ 359 h 359"/>
              <a:gd name="T14" fmla="*/ 0 w 156"/>
              <a:gd name="T15" fmla="*/ 239 h 35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156" h="359">
                <a:moveTo>
                  <a:pt x="0" y="239"/>
                </a:moveTo>
                <a:lnTo>
                  <a:pt x="52" y="180"/>
                </a:lnTo>
                <a:lnTo>
                  <a:pt x="0" y="120"/>
                </a:lnTo>
                <a:lnTo>
                  <a:pt x="0" y="0"/>
                </a:lnTo>
                <a:lnTo>
                  <a:pt x="156" y="120"/>
                </a:lnTo>
                <a:lnTo>
                  <a:pt x="156" y="239"/>
                </a:lnTo>
                <a:lnTo>
                  <a:pt x="0" y="359"/>
                </a:lnTo>
                <a:lnTo>
                  <a:pt x="0" y="239"/>
                </a:lnTo>
              </a:path>
            </a:pathLst>
          </a:custGeom>
          <a:noFill/>
          <a:ln w="19050" cap="rnd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50" name="Rectangle 46">
            <a:extLst>
              <a:ext uri="{FF2B5EF4-FFF2-40B4-BE49-F238E27FC236}">
                <a16:creationId xmlns:a16="http://schemas.microsoft.com/office/drawing/2014/main" id="{94CF47D2-A257-42E0-8584-9F4643570C1A}"/>
              </a:ext>
            </a:extLst>
          </p:cNvPr>
          <p:cNvSpPr>
            <a:spLocks noChangeArrowheads="1"/>
          </p:cNvSpPr>
          <p:nvPr/>
        </p:nvSpPr>
        <p:spPr bwMode="auto">
          <a:xfrm rot="5400000">
            <a:off x="4200164" y="2714874"/>
            <a:ext cx="508000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zh-CN" altLang="zh-CN" sz="1200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rPr>
              <a:t>ALU</a:t>
            </a:r>
            <a:endParaRPr kumimoji="0" lang="zh-CN" altLang="zh-CN" sz="120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  <a:ea typeface="SimHei" panose="02010609060101010101" pitchFamily="49" charset="-122"/>
            </a:endParaRPr>
          </a:p>
        </p:txBody>
      </p:sp>
      <p:sp>
        <p:nvSpPr>
          <p:cNvPr id="51" name="Rectangle 47">
            <a:extLst>
              <a:ext uri="{FF2B5EF4-FFF2-40B4-BE49-F238E27FC236}">
                <a16:creationId xmlns:a16="http://schemas.microsoft.com/office/drawing/2014/main" id="{77A29F2D-2A5B-43DC-94A7-5126E63DAD4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95042" y="2688144"/>
            <a:ext cx="171522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zh-CN" sz="1200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rPr>
              <a:t>IM</a:t>
            </a:r>
            <a:endParaRPr kumimoji="0" lang="zh-CN" altLang="zh-CN" sz="180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  <a:ea typeface="SimHei" panose="02010609060101010101" pitchFamily="49" charset="-122"/>
            </a:endParaRPr>
          </a:p>
        </p:txBody>
      </p:sp>
      <p:sp>
        <p:nvSpPr>
          <p:cNvPr id="52" name="Freeform 48">
            <a:extLst>
              <a:ext uri="{FF2B5EF4-FFF2-40B4-BE49-F238E27FC236}">
                <a16:creationId xmlns:a16="http://schemas.microsoft.com/office/drawing/2014/main" id="{6C800EEE-4DAB-4E81-96DC-30ABFAB54843}"/>
              </a:ext>
            </a:extLst>
          </p:cNvPr>
          <p:cNvSpPr>
            <a:spLocks/>
          </p:cNvSpPr>
          <p:nvPr/>
        </p:nvSpPr>
        <p:spPr bwMode="auto">
          <a:xfrm>
            <a:off x="3223605" y="2637344"/>
            <a:ext cx="198438" cy="341313"/>
          </a:xfrm>
          <a:custGeom>
            <a:avLst/>
            <a:gdLst>
              <a:gd name="T0" fmla="*/ 125 w 125"/>
              <a:gd name="T1" fmla="*/ 0 h 215"/>
              <a:gd name="T2" fmla="*/ 0 w 125"/>
              <a:gd name="T3" fmla="*/ 0 h 215"/>
              <a:gd name="T4" fmla="*/ 0 w 125"/>
              <a:gd name="T5" fmla="*/ 215 h 215"/>
              <a:gd name="T6" fmla="*/ 125 w 125"/>
              <a:gd name="T7" fmla="*/ 215 h 2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125" h="215">
                <a:moveTo>
                  <a:pt x="125" y="0"/>
                </a:moveTo>
                <a:lnTo>
                  <a:pt x="0" y="0"/>
                </a:lnTo>
                <a:lnTo>
                  <a:pt x="0" y="215"/>
                </a:lnTo>
                <a:lnTo>
                  <a:pt x="125" y="215"/>
                </a:lnTo>
              </a:path>
            </a:pathLst>
          </a:custGeom>
          <a:noFill/>
          <a:ln w="19050" cap="rnd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53" name="Freeform 49">
            <a:extLst>
              <a:ext uri="{FF2B5EF4-FFF2-40B4-BE49-F238E27FC236}">
                <a16:creationId xmlns:a16="http://schemas.microsoft.com/office/drawing/2014/main" id="{C24E8EF0-6DDE-456D-814C-B19B3ED91FDE}"/>
              </a:ext>
            </a:extLst>
          </p:cNvPr>
          <p:cNvSpPr>
            <a:spLocks/>
          </p:cNvSpPr>
          <p:nvPr/>
        </p:nvSpPr>
        <p:spPr bwMode="auto">
          <a:xfrm>
            <a:off x="3423630" y="2637344"/>
            <a:ext cx="198438" cy="341313"/>
          </a:xfrm>
          <a:custGeom>
            <a:avLst/>
            <a:gdLst>
              <a:gd name="T0" fmla="*/ 0 w 125"/>
              <a:gd name="T1" fmla="*/ 0 h 215"/>
              <a:gd name="T2" fmla="*/ 125 w 125"/>
              <a:gd name="T3" fmla="*/ 0 h 215"/>
              <a:gd name="T4" fmla="*/ 125 w 125"/>
              <a:gd name="T5" fmla="*/ 215 h 215"/>
              <a:gd name="T6" fmla="*/ 0 w 125"/>
              <a:gd name="T7" fmla="*/ 215 h 2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125" h="215">
                <a:moveTo>
                  <a:pt x="0" y="0"/>
                </a:moveTo>
                <a:lnTo>
                  <a:pt x="125" y="0"/>
                </a:lnTo>
                <a:lnTo>
                  <a:pt x="125" y="215"/>
                </a:lnTo>
                <a:lnTo>
                  <a:pt x="0" y="215"/>
                </a:lnTo>
              </a:path>
            </a:pathLst>
          </a:custGeom>
          <a:noFill/>
          <a:ln w="19050" cap="rnd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54" name="Rectangle 50">
            <a:extLst>
              <a:ext uri="{FF2B5EF4-FFF2-40B4-BE49-F238E27FC236}">
                <a16:creationId xmlns:a16="http://schemas.microsoft.com/office/drawing/2014/main" id="{B10AE9FB-1629-4FDF-92B4-AC60952589E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10980" y="2694494"/>
            <a:ext cx="28052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zh-CN" altLang="zh-CN" sz="1200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rPr>
              <a:t>Reg</a:t>
            </a:r>
            <a:endParaRPr kumimoji="0" lang="zh-CN" altLang="zh-CN" sz="180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  <a:ea typeface="SimHei" panose="02010609060101010101" pitchFamily="49" charset="-122"/>
            </a:endParaRPr>
          </a:p>
        </p:txBody>
      </p:sp>
      <p:sp>
        <p:nvSpPr>
          <p:cNvPr id="55" name="Freeform 51">
            <a:extLst>
              <a:ext uri="{FF2B5EF4-FFF2-40B4-BE49-F238E27FC236}">
                <a16:creationId xmlns:a16="http://schemas.microsoft.com/office/drawing/2014/main" id="{F1C65AE8-5B06-4A44-80B1-17634B7FB5CE}"/>
              </a:ext>
            </a:extLst>
          </p:cNvPr>
          <p:cNvSpPr>
            <a:spLocks/>
          </p:cNvSpPr>
          <p:nvPr/>
        </p:nvSpPr>
        <p:spPr bwMode="auto">
          <a:xfrm>
            <a:off x="3764942" y="2637344"/>
            <a:ext cx="177800" cy="341313"/>
          </a:xfrm>
          <a:custGeom>
            <a:avLst/>
            <a:gdLst>
              <a:gd name="T0" fmla="*/ 112 w 112"/>
              <a:gd name="T1" fmla="*/ 0 h 215"/>
              <a:gd name="T2" fmla="*/ 0 w 112"/>
              <a:gd name="T3" fmla="*/ 0 h 215"/>
              <a:gd name="T4" fmla="*/ 0 w 112"/>
              <a:gd name="T5" fmla="*/ 215 h 215"/>
              <a:gd name="T6" fmla="*/ 112 w 112"/>
              <a:gd name="T7" fmla="*/ 215 h 2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112" h="215">
                <a:moveTo>
                  <a:pt x="112" y="0"/>
                </a:moveTo>
                <a:lnTo>
                  <a:pt x="0" y="0"/>
                </a:lnTo>
                <a:lnTo>
                  <a:pt x="0" y="215"/>
                </a:lnTo>
                <a:lnTo>
                  <a:pt x="112" y="215"/>
                </a:lnTo>
              </a:path>
            </a:pathLst>
          </a:custGeom>
          <a:noFill/>
          <a:ln w="19050" cap="rnd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56" name="Freeform 52">
            <a:extLst>
              <a:ext uri="{FF2B5EF4-FFF2-40B4-BE49-F238E27FC236}">
                <a16:creationId xmlns:a16="http://schemas.microsoft.com/office/drawing/2014/main" id="{623BD974-1740-4AE7-A077-7E93C1A6015D}"/>
              </a:ext>
            </a:extLst>
          </p:cNvPr>
          <p:cNvSpPr>
            <a:spLocks/>
          </p:cNvSpPr>
          <p:nvPr/>
        </p:nvSpPr>
        <p:spPr bwMode="auto">
          <a:xfrm>
            <a:off x="3944330" y="2637344"/>
            <a:ext cx="176213" cy="341313"/>
          </a:xfrm>
          <a:custGeom>
            <a:avLst/>
            <a:gdLst>
              <a:gd name="T0" fmla="*/ 0 w 111"/>
              <a:gd name="T1" fmla="*/ 0 h 215"/>
              <a:gd name="T2" fmla="*/ 111 w 111"/>
              <a:gd name="T3" fmla="*/ 0 h 215"/>
              <a:gd name="T4" fmla="*/ 111 w 111"/>
              <a:gd name="T5" fmla="*/ 215 h 215"/>
              <a:gd name="T6" fmla="*/ 0 w 111"/>
              <a:gd name="T7" fmla="*/ 215 h 2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111" h="215">
                <a:moveTo>
                  <a:pt x="0" y="0"/>
                </a:moveTo>
                <a:lnTo>
                  <a:pt x="111" y="0"/>
                </a:lnTo>
                <a:lnTo>
                  <a:pt x="111" y="215"/>
                </a:lnTo>
                <a:lnTo>
                  <a:pt x="0" y="215"/>
                </a:lnTo>
              </a:path>
            </a:pathLst>
          </a:custGeom>
          <a:noFill/>
          <a:ln w="19050" cap="rnd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57" name="Line 53">
            <a:extLst>
              <a:ext uri="{FF2B5EF4-FFF2-40B4-BE49-F238E27FC236}">
                <a16:creationId xmlns:a16="http://schemas.microsoft.com/office/drawing/2014/main" id="{CE9E42D2-6283-41E4-8D40-E20DA628FD2D}"/>
              </a:ext>
            </a:extLst>
          </p:cNvPr>
          <p:cNvSpPr>
            <a:spLocks noChangeShapeType="1"/>
          </p:cNvSpPr>
          <p:nvPr/>
        </p:nvSpPr>
        <p:spPr bwMode="auto">
          <a:xfrm>
            <a:off x="3630005" y="2808794"/>
            <a:ext cx="134938" cy="0"/>
          </a:xfrm>
          <a:prstGeom prst="line">
            <a:avLst/>
          </a:prstGeom>
          <a:noFill/>
          <a:ln w="19050" cap="flat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58" name="Freeform 54">
            <a:extLst>
              <a:ext uri="{FF2B5EF4-FFF2-40B4-BE49-F238E27FC236}">
                <a16:creationId xmlns:a16="http://schemas.microsoft.com/office/drawing/2014/main" id="{C9862A68-BD99-464D-9620-1979D64C0CBF}"/>
              </a:ext>
            </a:extLst>
          </p:cNvPr>
          <p:cNvSpPr>
            <a:spLocks/>
          </p:cNvSpPr>
          <p:nvPr/>
        </p:nvSpPr>
        <p:spPr bwMode="auto">
          <a:xfrm>
            <a:off x="3707792" y="2694494"/>
            <a:ext cx="57150" cy="112713"/>
          </a:xfrm>
          <a:custGeom>
            <a:avLst/>
            <a:gdLst>
              <a:gd name="T0" fmla="*/ 0 w 36"/>
              <a:gd name="T1" fmla="*/ 71 h 71"/>
              <a:gd name="T2" fmla="*/ 0 w 36"/>
              <a:gd name="T3" fmla="*/ 0 h 71"/>
              <a:gd name="T4" fmla="*/ 36 w 36"/>
              <a:gd name="T5" fmla="*/ 0 h 7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36" h="71">
                <a:moveTo>
                  <a:pt x="0" y="71"/>
                </a:moveTo>
                <a:lnTo>
                  <a:pt x="0" y="0"/>
                </a:lnTo>
                <a:lnTo>
                  <a:pt x="36" y="0"/>
                </a:lnTo>
              </a:path>
            </a:pathLst>
          </a:custGeom>
          <a:noFill/>
          <a:ln w="19050" cap="rnd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59" name="Line 55">
            <a:extLst>
              <a:ext uri="{FF2B5EF4-FFF2-40B4-BE49-F238E27FC236}">
                <a16:creationId xmlns:a16="http://schemas.microsoft.com/office/drawing/2014/main" id="{5491E795-D19D-4BC5-BFDD-79D0D7DB2FF4}"/>
              </a:ext>
            </a:extLst>
          </p:cNvPr>
          <p:cNvSpPr>
            <a:spLocks noChangeShapeType="1"/>
          </p:cNvSpPr>
          <p:nvPr/>
        </p:nvSpPr>
        <p:spPr bwMode="auto">
          <a:xfrm>
            <a:off x="4122130" y="2694494"/>
            <a:ext cx="185738" cy="0"/>
          </a:xfrm>
          <a:prstGeom prst="line">
            <a:avLst/>
          </a:prstGeom>
          <a:noFill/>
          <a:ln w="19050" cap="flat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60" name="Rectangle 56">
            <a:extLst>
              <a:ext uri="{FF2B5EF4-FFF2-40B4-BE49-F238E27FC236}">
                <a16:creationId xmlns:a16="http://schemas.microsoft.com/office/drawing/2014/main" id="{2DCC0521-5C56-4144-AC77-FE99620BD4C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82530" y="2688144"/>
            <a:ext cx="238848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zh-CN" altLang="zh-CN" sz="1200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rPr>
              <a:t>DM</a:t>
            </a:r>
            <a:endParaRPr kumimoji="0" lang="zh-CN" altLang="zh-CN" sz="180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  <a:ea typeface="SimHei" panose="02010609060101010101" pitchFamily="49" charset="-122"/>
            </a:endParaRPr>
          </a:p>
        </p:txBody>
      </p:sp>
      <p:sp>
        <p:nvSpPr>
          <p:cNvPr id="61" name="Freeform 57">
            <a:extLst>
              <a:ext uri="{FF2B5EF4-FFF2-40B4-BE49-F238E27FC236}">
                <a16:creationId xmlns:a16="http://schemas.microsoft.com/office/drawing/2014/main" id="{A2DC5E2E-A7DD-4A83-B917-1C5E7197CE0D}"/>
              </a:ext>
            </a:extLst>
          </p:cNvPr>
          <p:cNvSpPr>
            <a:spLocks/>
          </p:cNvSpPr>
          <p:nvPr/>
        </p:nvSpPr>
        <p:spPr bwMode="auto">
          <a:xfrm>
            <a:off x="4777767" y="2637344"/>
            <a:ext cx="192088" cy="341313"/>
          </a:xfrm>
          <a:custGeom>
            <a:avLst/>
            <a:gdLst>
              <a:gd name="T0" fmla="*/ 121 w 121"/>
              <a:gd name="T1" fmla="*/ 0 h 215"/>
              <a:gd name="T2" fmla="*/ 0 w 121"/>
              <a:gd name="T3" fmla="*/ 0 h 215"/>
              <a:gd name="T4" fmla="*/ 0 w 121"/>
              <a:gd name="T5" fmla="*/ 215 h 215"/>
              <a:gd name="T6" fmla="*/ 121 w 121"/>
              <a:gd name="T7" fmla="*/ 215 h 2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121" h="215">
                <a:moveTo>
                  <a:pt x="121" y="0"/>
                </a:moveTo>
                <a:lnTo>
                  <a:pt x="0" y="0"/>
                </a:lnTo>
                <a:lnTo>
                  <a:pt x="0" y="215"/>
                </a:lnTo>
                <a:lnTo>
                  <a:pt x="121" y="215"/>
                </a:lnTo>
              </a:path>
            </a:pathLst>
          </a:custGeom>
          <a:noFill/>
          <a:ln w="19050" cap="rnd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62" name="Freeform 58">
            <a:extLst>
              <a:ext uri="{FF2B5EF4-FFF2-40B4-BE49-F238E27FC236}">
                <a16:creationId xmlns:a16="http://schemas.microsoft.com/office/drawing/2014/main" id="{615E7E02-4490-41C5-833A-01839F64FFB1}"/>
              </a:ext>
            </a:extLst>
          </p:cNvPr>
          <p:cNvSpPr>
            <a:spLocks/>
          </p:cNvSpPr>
          <p:nvPr/>
        </p:nvSpPr>
        <p:spPr bwMode="auto">
          <a:xfrm>
            <a:off x="4963505" y="2637344"/>
            <a:ext cx="198438" cy="341313"/>
          </a:xfrm>
          <a:custGeom>
            <a:avLst/>
            <a:gdLst>
              <a:gd name="T0" fmla="*/ 0 w 125"/>
              <a:gd name="T1" fmla="*/ 0 h 215"/>
              <a:gd name="T2" fmla="*/ 125 w 125"/>
              <a:gd name="T3" fmla="*/ 0 h 215"/>
              <a:gd name="T4" fmla="*/ 125 w 125"/>
              <a:gd name="T5" fmla="*/ 215 h 215"/>
              <a:gd name="T6" fmla="*/ 0 w 125"/>
              <a:gd name="T7" fmla="*/ 215 h 2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125" h="215">
                <a:moveTo>
                  <a:pt x="0" y="0"/>
                </a:moveTo>
                <a:lnTo>
                  <a:pt x="125" y="0"/>
                </a:lnTo>
                <a:lnTo>
                  <a:pt x="125" y="215"/>
                </a:lnTo>
                <a:lnTo>
                  <a:pt x="0" y="215"/>
                </a:lnTo>
              </a:path>
            </a:pathLst>
          </a:custGeom>
          <a:noFill/>
          <a:ln w="19050" cap="rnd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63" name="Rectangle 59">
            <a:extLst>
              <a:ext uri="{FF2B5EF4-FFF2-40B4-BE49-F238E27FC236}">
                <a16:creationId xmlns:a16="http://schemas.microsoft.com/office/drawing/2014/main" id="{71D495F1-7849-4F6A-948A-E882A191C15C}"/>
              </a:ext>
            </a:extLst>
          </p:cNvPr>
          <p:cNvSpPr>
            <a:spLocks noChangeArrowheads="1"/>
          </p:cNvSpPr>
          <p:nvPr/>
        </p:nvSpPr>
        <p:spPr bwMode="auto">
          <a:xfrm>
            <a:off x="5368317" y="2688144"/>
            <a:ext cx="28052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zh-CN" altLang="zh-CN" sz="1200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rPr>
              <a:t>Reg</a:t>
            </a:r>
            <a:endParaRPr kumimoji="0" lang="zh-CN" altLang="zh-CN" sz="180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  <a:ea typeface="SimHei" panose="02010609060101010101" pitchFamily="49" charset="-122"/>
            </a:endParaRPr>
          </a:p>
        </p:txBody>
      </p:sp>
      <p:sp>
        <p:nvSpPr>
          <p:cNvPr id="64" name="Freeform 60">
            <a:extLst>
              <a:ext uri="{FF2B5EF4-FFF2-40B4-BE49-F238E27FC236}">
                <a16:creationId xmlns:a16="http://schemas.microsoft.com/office/drawing/2014/main" id="{C5BFE632-FD5A-44A7-AE1F-B0FD8F1BA673}"/>
              </a:ext>
            </a:extLst>
          </p:cNvPr>
          <p:cNvSpPr>
            <a:spLocks/>
          </p:cNvSpPr>
          <p:nvPr/>
        </p:nvSpPr>
        <p:spPr bwMode="auto">
          <a:xfrm>
            <a:off x="5334980" y="2637344"/>
            <a:ext cx="161925" cy="341313"/>
          </a:xfrm>
          <a:custGeom>
            <a:avLst/>
            <a:gdLst>
              <a:gd name="T0" fmla="*/ 102 w 102"/>
              <a:gd name="T1" fmla="*/ 0 h 215"/>
              <a:gd name="T2" fmla="*/ 0 w 102"/>
              <a:gd name="T3" fmla="*/ 0 h 215"/>
              <a:gd name="T4" fmla="*/ 0 w 102"/>
              <a:gd name="T5" fmla="*/ 215 h 215"/>
              <a:gd name="T6" fmla="*/ 102 w 102"/>
              <a:gd name="T7" fmla="*/ 215 h 2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102" h="215">
                <a:moveTo>
                  <a:pt x="102" y="0"/>
                </a:moveTo>
                <a:lnTo>
                  <a:pt x="0" y="0"/>
                </a:lnTo>
                <a:lnTo>
                  <a:pt x="0" y="215"/>
                </a:lnTo>
                <a:lnTo>
                  <a:pt x="102" y="215"/>
                </a:lnTo>
              </a:path>
            </a:pathLst>
          </a:custGeom>
          <a:noFill/>
          <a:ln w="19050" cap="rnd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65" name="Freeform 61">
            <a:extLst>
              <a:ext uri="{FF2B5EF4-FFF2-40B4-BE49-F238E27FC236}">
                <a16:creationId xmlns:a16="http://schemas.microsoft.com/office/drawing/2014/main" id="{783CA518-09B3-4D91-8404-1AC4D38AAEF0}"/>
              </a:ext>
            </a:extLst>
          </p:cNvPr>
          <p:cNvSpPr>
            <a:spLocks/>
          </p:cNvSpPr>
          <p:nvPr/>
        </p:nvSpPr>
        <p:spPr bwMode="auto">
          <a:xfrm>
            <a:off x="5498492" y="2637344"/>
            <a:ext cx="169863" cy="341313"/>
          </a:xfrm>
          <a:custGeom>
            <a:avLst/>
            <a:gdLst>
              <a:gd name="T0" fmla="*/ 0 w 107"/>
              <a:gd name="T1" fmla="*/ 0 h 215"/>
              <a:gd name="T2" fmla="*/ 107 w 107"/>
              <a:gd name="T3" fmla="*/ 0 h 215"/>
              <a:gd name="T4" fmla="*/ 107 w 107"/>
              <a:gd name="T5" fmla="*/ 215 h 215"/>
              <a:gd name="T6" fmla="*/ 0 w 107"/>
              <a:gd name="T7" fmla="*/ 215 h 2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107" h="215">
                <a:moveTo>
                  <a:pt x="0" y="0"/>
                </a:moveTo>
                <a:lnTo>
                  <a:pt x="107" y="0"/>
                </a:lnTo>
                <a:lnTo>
                  <a:pt x="107" y="215"/>
                </a:lnTo>
                <a:lnTo>
                  <a:pt x="0" y="215"/>
                </a:lnTo>
              </a:path>
            </a:pathLst>
          </a:custGeom>
          <a:noFill/>
          <a:ln w="19050" cap="rnd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66" name="Line 62">
            <a:extLst>
              <a:ext uri="{FF2B5EF4-FFF2-40B4-BE49-F238E27FC236}">
                <a16:creationId xmlns:a16="http://schemas.microsoft.com/office/drawing/2014/main" id="{383BB62B-1740-4600-8D28-AB68D12E758C}"/>
              </a:ext>
            </a:extLst>
          </p:cNvPr>
          <p:cNvSpPr>
            <a:spLocks noChangeShapeType="1"/>
          </p:cNvSpPr>
          <p:nvPr/>
        </p:nvSpPr>
        <p:spPr bwMode="auto">
          <a:xfrm>
            <a:off x="5155592" y="2808794"/>
            <a:ext cx="165100" cy="0"/>
          </a:xfrm>
          <a:prstGeom prst="line">
            <a:avLst/>
          </a:prstGeom>
          <a:noFill/>
          <a:ln w="19050" cap="flat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67" name="Line 63">
            <a:extLst>
              <a:ext uri="{FF2B5EF4-FFF2-40B4-BE49-F238E27FC236}">
                <a16:creationId xmlns:a16="http://schemas.microsoft.com/office/drawing/2014/main" id="{22954CCC-B52A-45DD-BC51-52A0DD2FF4AA}"/>
              </a:ext>
            </a:extLst>
          </p:cNvPr>
          <p:cNvSpPr>
            <a:spLocks noChangeShapeType="1"/>
          </p:cNvSpPr>
          <p:nvPr/>
        </p:nvSpPr>
        <p:spPr bwMode="auto">
          <a:xfrm>
            <a:off x="4585680" y="2808794"/>
            <a:ext cx="177800" cy="0"/>
          </a:xfrm>
          <a:prstGeom prst="line">
            <a:avLst/>
          </a:prstGeom>
          <a:noFill/>
          <a:ln w="19050" cap="flat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68" name="Line 64">
            <a:extLst>
              <a:ext uri="{FF2B5EF4-FFF2-40B4-BE49-F238E27FC236}">
                <a16:creationId xmlns:a16="http://schemas.microsoft.com/office/drawing/2014/main" id="{23717957-CBCB-46DB-B332-423E61130863}"/>
              </a:ext>
            </a:extLst>
          </p:cNvPr>
          <p:cNvSpPr>
            <a:spLocks noChangeShapeType="1"/>
          </p:cNvSpPr>
          <p:nvPr/>
        </p:nvSpPr>
        <p:spPr bwMode="auto">
          <a:xfrm>
            <a:off x="4122130" y="2923094"/>
            <a:ext cx="185738" cy="0"/>
          </a:xfrm>
          <a:prstGeom prst="line">
            <a:avLst/>
          </a:prstGeom>
          <a:noFill/>
          <a:ln w="19050" cap="flat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69" name="Line 65">
            <a:extLst>
              <a:ext uri="{FF2B5EF4-FFF2-40B4-BE49-F238E27FC236}">
                <a16:creationId xmlns:a16="http://schemas.microsoft.com/office/drawing/2014/main" id="{959F6BDF-C5A1-4EBA-AA35-E022E2DEFDD4}"/>
              </a:ext>
            </a:extLst>
          </p:cNvPr>
          <p:cNvSpPr>
            <a:spLocks noChangeShapeType="1"/>
          </p:cNvSpPr>
          <p:nvPr/>
        </p:nvSpPr>
        <p:spPr bwMode="auto">
          <a:xfrm>
            <a:off x="4222142" y="2923094"/>
            <a:ext cx="0" cy="227013"/>
          </a:xfrm>
          <a:prstGeom prst="line">
            <a:avLst/>
          </a:prstGeom>
          <a:noFill/>
          <a:ln w="20638" cap="flat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70" name="Line 66">
            <a:extLst>
              <a:ext uri="{FF2B5EF4-FFF2-40B4-BE49-F238E27FC236}">
                <a16:creationId xmlns:a16="http://schemas.microsoft.com/office/drawing/2014/main" id="{2DBA7EFB-07D6-4D4F-A942-FE58513F7394}"/>
              </a:ext>
            </a:extLst>
          </p:cNvPr>
          <p:cNvSpPr>
            <a:spLocks noChangeShapeType="1"/>
          </p:cNvSpPr>
          <p:nvPr/>
        </p:nvSpPr>
        <p:spPr bwMode="auto">
          <a:xfrm>
            <a:off x="4222142" y="3150107"/>
            <a:ext cx="398463" cy="0"/>
          </a:xfrm>
          <a:prstGeom prst="line">
            <a:avLst/>
          </a:prstGeom>
          <a:noFill/>
          <a:ln w="20638" cap="flat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71" name="Line 67">
            <a:extLst>
              <a:ext uri="{FF2B5EF4-FFF2-40B4-BE49-F238E27FC236}">
                <a16:creationId xmlns:a16="http://schemas.microsoft.com/office/drawing/2014/main" id="{29D3444C-D327-424A-AE16-0F6A0EB497B7}"/>
              </a:ext>
            </a:extLst>
          </p:cNvPr>
          <p:cNvSpPr>
            <a:spLocks noChangeShapeType="1"/>
          </p:cNvSpPr>
          <p:nvPr/>
        </p:nvSpPr>
        <p:spPr bwMode="auto">
          <a:xfrm>
            <a:off x="4620605" y="2808794"/>
            <a:ext cx="0" cy="341313"/>
          </a:xfrm>
          <a:prstGeom prst="line">
            <a:avLst/>
          </a:prstGeom>
          <a:noFill/>
          <a:ln w="20638" cap="flat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72" name="Line 68">
            <a:extLst>
              <a:ext uri="{FF2B5EF4-FFF2-40B4-BE49-F238E27FC236}">
                <a16:creationId xmlns:a16="http://schemas.microsoft.com/office/drawing/2014/main" id="{673D8042-7979-445F-A4D3-42592B8C1698}"/>
              </a:ext>
            </a:extLst>
          </p:cNvPr>
          <p:cNvSpPr>
            <a:spLocks noChangeShapeType="1"/>
          </p:cNvSpPr>
          <p:nvPr/>
        </p:nvSpPr>
        <p:spPr bwMode="auto">
          <a:xfrm>
            <a:off x="4720617" y="2808794"/>
            <a:ext cx="0" cy="285750"/>
          </a:xfrm>
          <a:prstGeom prst="line">
            <a:avLst/>
          </a:prstGeom>
          <a:noFill/>
          <a:ln w="20638" cap="flat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73" name="Line 69">
            <a:extLst>
              <a:ext uri="{FF2B5EF4-FFF2-40B4-BE49-F238E27FC236}">
                <a16:creationId xmlns:a16="http://schemas.microsoft.com/office/drawing/2014/main" id="{0F3C93D4-4F37-49BA-A07B-9B0CFD82F734}"/>
              </a:ext>
            </a:extLst>
          </p:cNvPr>
          <p:cNvSpPr>
            <a:spLocks noChangeShapeType="1"/>
          </p:cNvSpPr>
          <p:nvPr/>
        </p:nvSpPr>
        <p:spPr bwMode="auto">
          <a:xfrm>
            <a:off x="4720617" y="3094544"/>
            <a:ext cx="514350" cy="0"/>
          </a:xfrm>
          <a:prstGeom prst="line">
            <a:avLst/>
          </a:prstGeom>
          <a:noFill/>
          <a:ln w="20638" cap="flat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74" name="Line 70">
            <a:extLst>
              <a:ext uri="{FF2B5EF4-FFF2-40B4-BE49-F238E27FC236}">
                <a16:creationId xmlns:a16="http://schemas.microsoft.com/office/drawing/2014/main" id="{EC97B2C7-CC20-4117-B147-811DC7BFC2F2}"/>
              </a:ext>
            </a:extLst>
          </p:cNvPr>
          <p:cNvSpPr>
            <a:spLocks noChangeShapeType="1"/>
          </p:cNvSpPr>
          <p:nvPr/>
        </p:nvSpPr>
        <p:spPr bwMode="auto">
          <a:xfrm>
            <a:off x="5234967" y="2808794"/>
            <a:ext cx="0" cy="285750"/>
          </a:xfrm>
          <a:prstGeom prst="line">
            <a:avLst/>
          </a:prstGeom>
          <a:noFill/>
          <a:ln w="20638" cap="flat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75" name="Rectangle 71">
            <a:extLst>
              <a:ext uri="{FF2B5EF4-FFF2-40B4-BE49-F238E27FC236}">
                <a16:creationId xmlns:a16="http://schemas.microsoft.com/office/drawing/2014/main" id="{490E9F2C-13E0-4F81-9566-F03E857981E4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78992" y="4567744"/>
            <a:ext cx="218008" cy="2769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zh-CN" altLang="zh-CN" sz="1800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rPr>
              <a:t>lw</a:t>
            </a:r>
            <a:endParaRPr kumimoji="0" lang="zh-CN" altLang="zh-CN" sz="180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  <a:ea typeface="SimHei" panose="02010609060101010101" pitchFamily="49" charset="-122"/>
            </a:endParaRPr>
          </a:p>
        </p:txBody>
      </p:sp>
      <p:sp>
        <p:nvSpPr>
          <p:cNvPr id="76" name="Freeform 72">
            <a:extLst>
              <a:ext uri="{FF2B5EF4-FFF2-40B4-BE49-F238E27FC236}">
                <a16:creationId xmlns:a16="http://schemas.microsoft.com/office/drawing/2014/main" id="{94702E43-CBAB-4CEA-920D-019F8A41E622}"/>
              </a:ext>
            </a:extLst>
          </p:cNvPr>
          <p:cNvSpPr>
            <a:spLocks/>
          </p:cNvSpPr>
          <p:nvPr/>
        </p:nvSpPr>
        <p:spPr bwMode="auto">
          <a:xfrm>
            <a:off x="5876317" y="4348669"/>
            <a:ext cx="255588" cy="569913"/>
          </a:xfrm>
          <a:custGeom>
            <a:avLst/>
            <a:gdLst>
              <a:gd name="T0" fmla="*/ 0 w 161"/>
              <a:gd name="T1" fmla="*/ 239 h 359"/>
              <a:gd name="T2" fmla="*/ 54 w 161"/>
              <a:gd name="T3" fmla="*/ 179 h 359"/>
              <a:gd name="T4" fmla="*/ 0 w 161"/>
              <a:gd name="T5" fmla="*/ 120 h 359"/>
              <a:gd name="T6" fmla="*/ 0 w 161"/>
              <a:gd name="T7" fmla="*/ 0 h 359"/>
              <a:gd name="T8" fmla="*/ 161 w 161"/>
              <a:gd name="T9" fmla="*/ 120 h 359"/>
              <a:gd name="T10" fmla="*/ 161 w 161"/>
              <a:gd name="T11" fmla="*/ 239 h 359"/>
              <a:gd name="T12" fmla="*/ 0 w 161"/>
              <a:gd name="T13" fmla="*/ 359 h 359"/>
              <a:gd name="T14" fmla="*/ 0 w 161"/>
              <a:gd name="T15" fmla="*/ 239 h 35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161" h="359">
                <a:moveTo>
                  <a:pt x="0" y="239"/>
                </a:moveTo>
                <a:lnTo>
                  <a:pt x="54" y="179"/>
                </a:lnTo>
                <a:lnTo>
                  <a:pt x="0" y="120"/>
                </a:lnTo>
                <a:lnTo>
                  <a:pt x="0" y="0"/>
                </a:lnTo>
                <a:lnTo>
                  <a:pt x="161" y="120"/>
                </a:lnTo>
                <a:lnTo>
                  <a:pt x="161" y="239"/>
                </a:lnTo>
                <a:lnTo>
                  <a:pt x="0" y="359"/>
                </a:lnTo>
                <a:lnTo>
                  <a:pt x="0" y="239"/>
                </a:lnTo>
              </a:path>
            </a:pathLst>
          </a:custGeom>
          <a:noFill/>
          <a:ln w="19050" cap="rnd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77" name="Rectangle 73">
            <a:extLst>
              <a:ext uri="{FF2B5EF4-FFF2-40B4-BE49-F238E27FC236}">
                <a16:creationId xmlns:a16="http://schemas.microsoft.com/office/drawing/2014/main" id="{AEB052EA-CE5E-48DA-BBD9-048D9CE4A7E0}"/>
              </a:ext>
            </a:extLst>
          </p:cNvPr>
          <p:cNvSpPr>
            <a:spLocks noChangeArrowheads="1"/>
          </p:cNvSpPr>
          <p:nvPr/>
        </p:nvSpPr>
        <p:spPr bwMode="auto">
          <a:xfrm rot="5400000">
            <a:off x="5759089" y="4538912"/>
            <a:ext cx="508000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zh-CN" altLang="zh-CN" sz="1200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rPr>
              <a:t>ALU</a:t>
            </a:r>
            <a:endParaRPr kumimoji="0" lang="zh-CN" altLang="zh-CN" sz="120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  <a:ea typeface="SimHei" panose="02010609060101010101" pitchFamily="49" charset="-122"/>
            </a:endParaRPr>
          </a:p>
        </p:txBody>
      </p:sp>
      <p:sp>
        <p:nvSpPr>
          <p:cNvPr id="78" name="Rectangle 74">
            <a:extLst>
              <a:ext uri="{FF2B5EF4-FFF2-40B4-BE49-F238E27FC236}">
                <a16:creationId xmlns:a16="http://schemas.microsoft.com/office/drawing/2014/main" id="{CAB2575A-1736-466F-93A1-849DAE1B274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52380" y="4513769"/>
            <a:ext cx="171522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zh-CN" sz="1200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rPr>
              <a:t>IM</a:t>
            </a:r>
            <a:endParaRPr kumimoji="0" lang="zh-CN" altLang="zh-CN" sz="180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  <a:ea typeface="SimHei" panose="02010609060101010101" pitchFamily="49" charset="-122"/>
            </a:endParaRPr>
          </a:p>
        </p:txBody>
      </p:sp>
      <p:sp>
        <p:nvSpPr>
          <p:cNvPr id="79" name="Freeform 75">
            <a:extLst>
              <a:ext uri="{FF2B5EF4-FFF2-40B4-BE49-F238E27FC236}">
                <a16:creationId xmlns:a16="http://schemas.microsoft.com/office/drawing/2014/main" id="{9CB1A3EF-7BA0-469E-A06A-64A82F809249}"/>
              </a:ext>
            </a:extLst>
          </p:cNvPr>
          <p:cNvSpPr>
            <a:spLocks/>
          </p:cNvSpPr>
          <p:nvPr/>
        </p:nvSpPr>
        <p:spPr bwMode="auto">
          <a:xfrm>
            <a:off x="4777767" y="4462969"/>
            <a:ext cx="198438" cy="341313"/>
          </a:xfrm>
          <a:custGeom>
            <a:avLst/>
            <a:gdLst>
              <a:gd name="T0" fmla="*/ 125 w 125"/>
              <a:gd name="T1" fmla="*/ 0 h 215"/>
              <a:gd name="T2" fmla="*/ 0 w 125"/>
              <a:gd name="T3" fmla="*/ 0 h 215"/>
              <a:gd name="T4" fmla="*/ 0 w 125"/>
              <a:gd name="T5" fmla="*/ 215 h 215"/>
              <a:gd name="T6" fmla="*/ 125 w 125"/>
              <a:gd name="T7" fmla="*/ 215 h 2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125" h="215">
                <a:moveTo>
                  <a:pt x="125" y="0"/>
                </a:moveTo>
                <a:lnTo>
                  <a:pt x="0" y="0"/>
                </a:lnTo>
                <a:lnTo>
                  <a:pt x="0" y="215"/>
                </a:lnTo>
                <a:lnTo>
                  <a:pt x="125" y="215"/>
                </a:lnTo>
              </a:path>
            </a:pathLst>
          </a:custGeom>
          <a:noFill/>
          <a:ln w="19050" cap="rnd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80" name="Freeform 76">
            <a:extLst>
              <a:ext uri="{FF2B5EF4-FFF2-40B4-BE49-F238E27FC236}">
                <a16:creationId xmlns:a16="http://schemas.microsoft.com/office/drawing/2014/main" id="{C541833D-0A57-4DE8-9E3E-0867E1BBE67D}"/>
              </a:ext>
            </a:extLst>
          </p:cNvPr>
          <p:cNvSpPr>
            <a:spLocks/>
          </p:cNvSpPr>
          <p:nvPr/>
        </p:nvSpPr>
        <p:spPr bwMode="auto">
          <a:xfrm>
            <a:off x="4977792" y="4462969"/>
            <a:ext cx="206375" cy="341313"/>
          </a:xfrm>
          <a:custGeom>
            <a:avLst/>
            <a:gdLst>
              <a:gd name="T0" fmla="*/ 0 w 130"/>
              <a:gd name="T1" fmla="*/ 0 h 215"/>
              <a:gd name="T2" fmla="*/ 130 w 130"/>
              <a:gd name="T3" fmla="*/ 0 h 215"/>
              <a:gd name="T4" fmla="*/ 130 w 130"/>
              <a:gd name="T5" fmla="*/ 215 h 215"/>
              <a:gd name="T6" fmla="*/ 0 w 130"/>
              <a:gd name="T7" fmla="*/ 215 h 2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130" h="215">
                <a:moveTo>
                  <a:pt x="0" y="0"/>
                </a:moveTo>
                <a:lnTo>
                  <a:pt x="130" y="0"/>
                </a:lnTo>
                <a:lnTo>
                  <a:pt x="130" y="215"/>
                </a:lnTo>
                <a:lnTo>
                  <a:pt x="0" y="215"/>
                </a:lnTo>
              </a:path>
            </a:pathLst>
          </a:custGeom>
          <a:noFill/>
          <a:ln w="19050" cap="rnd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81" name="Rectangle 77">
            <a:extLst>
              <a:ext uri="{FF2B5EF4-FFF2-40B4-BE49-F238E27FC236}">
                <a16:creationId xmlns:a16="http://schemas.microsoft.com/office/drawing/2014/main" id="{C9B8E590-A626-4ACA-A62B-CA8F81C26683}"/>
              </a:ext>
            </a:extLst>
          </p:cNvPr>
          <p:cNvSpPr>
            <a:spLocks noChangeArrowheads="1"/>
          </p:cNvSpPr>
          <p:nvPr/>
        </p:nvSpPr>
        <p:spPr bwMode="auto">
          <a:xfrm>
            <a:off x="5369905" y="4516944"/>
            <a:ext cx="28052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zh-CN" altLang="zh-CN" sz="1200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rPr>
              <a:t>Reg</a:t>
            </a:r>
            <a:endParaRPr kumimoji="0" lang="zh-CN" altLang="zh-CN" sz="180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  <a:ea typeface="SimHei" panose="02010609060101010101" pitchFamily="49" charset="-122"/>
            </a:endParaRPr>
          </a:p>
        </p:txBody>
      </p:sp>
      <p:sp>
        <p:nvSpPr>
          <p:cNvPr id="82" name="Freeform 78">
            <a:extLst>
              <a:ext uri="{FF2B5EF4-FFF2-40B4-BE49-F238E27FC236}">
                <a16:creationId xmlns:a16="http://schemas.microsoft.com/office/drawing/2014/main" id="{5D43FD74-2790-4C63-8F13-530BC80F8C40}"/>
              </a:ext>
            </a:extLst>
          </p:cNvPr>
          <p:cNvSpPr>
            <a:spLocks/>
          </p:cNvSpPr>
          <p:nvPr/>
        </p:nvSpPr>
        <p:spPr bwMode="auto">
          <a:xfrm>
            <a:off x="5327042" y="4462969"/>
            <a:ext cx="177800" cy="341313"/>
          </a:xfrm>
          <a:custGeom>
            <a:avLst/>
            <a:gdLst>
              <a:gd name="T0" fmla="*/ 112 w 112"/>
              <a:gd name="T1" fmla="*/ 0 h 215"/>
              <a:gd name="T2" fmla="*/ 0 w 112"/>
              <a:gd name="T3" fmla="*/ 0 h 215"/>
              <a:gd name="T4" fmla="*/ 0 w 112"/>
              <a:gd name="T5" fmla="*/ 215 h 215"/>
              <a:gd name="T6" fmla="*/ 112 w 112"/>
              <a:gd name="T7" fmla="*/ 215 h 2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112" h="215">
                <a:moveTo>
                  <a:pt x="112" y="0"/>
                </a:moveTo>
                <a:lnTo>
                  <a:pt x="0" y="0"/>
                </a:lnTo>
                <a:lnTo>
                  <a:pt x="0" y="215"/>
                </a:lnTo>
                <a:lnTo>
                  <a:pt x="112" y="215"/>
                </a:lnTo>
              </a:path>
            </a:pathLst>
          </a:custGeom>
          <a:noFill/>
          <a:ln w="19050" cap="rnd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83" name="Freeform 79">
            <a:extLst>
              <a:ext uri="{FF2B5EF4-FFF2-40B4-BE49-F238E27FC236}">
                <a16:creationId xmlns:a16="http://schemas.microsoft.com/office/drawing/2014/main" id="{CD378813-2E36-4B06-8F78-6C2CA70E2BE9}"/>
              </a:ext>
            </a:extLst>
          </p:cNvPr>
          <p:cNvSpPr>
            <a:spLocks/>
          </p:cNvSpPr>
          <p:nvPr/>
        </p:nvSpPr>
        <p:spPr bwMode="auto">
          <a:xfrm>
            <a:off x="5498492" y="4462969"/>
            <a:ext cx="177800" cy="341313"/>
          </a:xfrm>
          <a:custGeom>
            <a:avLst/>
            <a:gdLst>
              <a:gd name="T0" fmla="*/ 0 w 112"/>
              <a:gd name="T1" fmla="*/ 0 h 215"/>
              <a:gd name="T2" fmla="*/ 112 w 112"/>
              <a:gd name="T3" fmla="*/ 0 h 215"/>
              <a:gd name="T4" fmla="*/ 112 w 112"/>
              <a:gd name="T5" fmla="*/ 215 h 215"/>
              <a:gd name="T6" fmla="*/ 0 w 112"/>
              <a:gd name="T7" fmla="*/ 215 h 2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112" h="215">
                <a:moveTo>
                  <a:pt x="0" y="0"/>
                </a:moveTo>
                <a:lnTo>
                  <a:pt x="112" y="0"/>
                </a:lnTo>
                <a:lnTo>
                  <a:pt x="112" y="215"/>
                </a:lnTo>
                <a:lnTo>
                  <a:pt x="0" y="215"/>
                </a:lnTo>
              </a:path>
            </a:pathLst>
          </a:custGeom>
          <a:noFill/>
          <a:ln w="19050" cap="rnd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84" name="Line 80">
            <a:extLst>
              <a:ext uri="{FF2B5EF4-FFF2-40B4-BE49-F238E27FC236}">
                <a16:creationId xmlns:a16="http://schemas.microsoft.com/office/drawing/2014/main" id="{4A9DF740-C1AC-4E12-8567-73DB214DE103}"/>
              </a:ext>
            </a:extLst>
          </p:cNvPr>
          <p:cNvSpPr>
            <a:spLocks noChangeShapeType="1"/>
          </p:cNvSpPr>
          <p:nvPr/>
        </p:nvSpPr>
        <p:spPr bwMode="auto">
          <a:xfrm>
            <a:off x="5192105" y="4634419"/>
            <a:ext cx="134938" cy="0"/>
          </a:xfrm>
          <a:prstGeom prst="line">
            <a:avLst/>
          </a:prstGeom>
          <a:noFill/>
          <a:ln w="19050" cap="flat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85" name="Freeform 81">
            <a:extLst>
              <a:ext uri="{FF2B5EF4-FFF2-40B4-BE49-F238E27FC236}">
                <a16:creationId xmlns:a16="http://schemas.microsoft.com/office/drawing/2014/main" id="{3E066FF3-7588-44BD-8649-8B2460E481E5}"/>
              </a:ext>
            </a:extLst>
          </p:cNvPr>
          <p:cNvSpPr>
            <a:spLocks/>
          </p:cNvSpPr>
          <p:nvPr/>
        </p:nvSpPr>
        <p:spPr bwMode="auto">
          <a:xfrm>
            <a:off x="5269892" y="4520119"/>
            <a:ext cx="57150" cy="112713"/>
          </a:xfrm>
          <a:custGeom>
            <a:avLst/>
            <a:gdLst>
              <a:gd name="T0" fmla="*/ 0 w 36"/>
              <a:gd name="T1" fmla="*/ 71 h 71"/>
              <a:gd name="T2" fmla="*/ 0 w 36"/>
              <a:gd name="T3" fmla="*/ 0 h 71"/>
              <a:gd name="T4" fmla="*/ 36 w 36"/>
              <a:gd name="T5" fmla="*/ 0 h 7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36" h="71">
                <a:moveTo>
                  <a:pt x="0" y="71"/>
                </a:moveTo>
                <a:lnTo>
                  <a:pt x="0" y="0"/>
                </a:lnTo>
                <a:lnTo>
                  <a:pt x="36" y="0"/>
                </a:lnTo>
              </a:path>
            </a:pathLst>
          </a:custGeom>
          <a:noFill/>
          <a:ln w="19050" cap="rnd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86" name="Line 82">
            <a:extLst>
              <a:ext uri="{FF2B5EF4-FFF2-40B4-BE49-F238E27FC236}">
                <a16:creationId xmlns:a16="http://schemas.microsoft.com/office/drawing/2014/main" id="{0D79073C-7150-4A7D-BAF1-353357C6DDFD}"/>
              </a:ext>
            </a:extLst>
          </p:cNvPr>
          <p:cNvSpPr>
            <a:spLocks noChangeShapeType="1"/>
          </p:cNvSpPr>
          <p:nvPr/>
        </p:nvSpPr>
        <p:spPr bwMode="auto">
          <a:xfrm>
            <a:off x="5684230" y="4520119"/>
            <a:ext cx="185738" cy="0"/>
          </a:xfrm>
          <a:prstGeom prst="line">
            <a:avLst/>
          </a:prstGeom>
          <a:noFill/>
          <a:ln w="19050" cap="flat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87" name="Rectangle 83">
            <a:extLst>
              <a:ext uri="{FF2B5EF4-FFF2-40B4-BE49-F238E27FC236}">
                <a16:creationId xmlns:a16="http://schemas.microsoft.com/office/drawing/2014/main" id="{BC1B190D-48BA-42EC-B5BB-F7C58E00B2A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41455" y="4513769"/>
            <a:ext cx="238848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zh-CN" altLang="zh-CN" sz="1200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rPr>
              <a:t>DM</a:t>
            </a:r>
            <a:endParaRPr kumimoji="0" lang="zh-CN" altLang="zh-CN" sz="180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  <a:ea typeface="SimHei" panose="02010609060101010101" pitchFamily="49" charset="-122"/>
            </a:endParaRPr>
          </a:p>
        </p:txBody>
      </p:sp>
      <p:sp>
        <p:nvSpPr>
          <p:cNvPr id="88" name="Freeform 84">
            <a:extLst>
              <a:ext uri="{FF2B5EF4-FFF2-40B4-BE49-F238E27FC236}">
                <a16:creationId xmlns:a16="http://schemas.microsoft.com/office/drawing/2014/main" id="{DEAFF1BB-7552-42E1-A647-BB7A52462A8F}"/>
              </a:ext>
            </a:extLst>
          </p:cNvPr>
          <p:cNvSpPr>
            <a:spLocks/>
          </p:cNvSpPr>
          <p:nvPr/>
        </p:nvSpPr>
        <p:spPr bwMode="auto">
          <a:xfrm>
            <a:off x="6333517" y="4462969"/>
            <a:ext cx="192088" cy="341313"/>
          </a:xfrm>
          <a:custGeom>
            <a:avLst/>
            <a:gdLst>
              <a:gd name="T0" fmla="*/ 121 w 121"/>
              <a:gd name="T1" fmla="*/ 0 h 215"/>
              <a:gd name="T2" fmla="*/ 0 w 121"/>
              <a:gd name="T3" fmla="*/ 0 h 215"/>
              <a:gd name="T4" fmla="*/ 0 w 121"/>
              <a:gd name="T5" fmla="*/ 215 h 215"/>
              <a:gd name="T6" fmla="*/ 121 w 121"/>
              <a:gd name="T7" fmla="*/ 215 h 2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121" h="215">
                <a:moveTo>
                  <a:pt x="121" y="0"/>
                </a:moveTo>
                <a:lnTo>
                  <a:pt x="0" y="0"/>
                </a:lnTo>
                <a:lnTo>
                  <a:pt x="0" y="215"/>
                </a:lnTo>
                <a:lnTo>
                  <a:pt x="121" y="215"/>
                </a:lnTo>
              </a:path>
            </a:pathLst>
          </a:custGeom>
          <a:noFill/>
          <a:ln w="19050" cap="rnd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89" name="Freeform 85">
            <a:extLst>
              <a:ext uri="{FF2B5EF4-FFF2-40B4-BE49-F238E27FC236}">
                <a16:creationId xmlns:a16="http://schemas.microsoft.com/office/drawing/2014/main" id="{CFC6D514-8FC9-4012-8F44-F0B6415F2C70}"/>
              </a:ext>
            </a:extLst>
          </p:cNvPr>
          <p:cNvSpPr>
            <a:spLocks/>
          </p:cNvSpPr>
          <p:nvPr/>
        </p:nvSpPr>
        <p:spPr bwMode="auto">
          <a:xfrm>
            <a:off x="6525605" y="4462969"/>
            <a:ext cx="192088" cy="341313"/>
          </a:xfrm>
          <a:custGeom>
            <a:avLst/>
            <a:gdLst>
              <a:gd name="T0" fmla="*/ 0 w 121"/>
              <a:gd name="T1" fmla="*/ 0 h 215"/>
              <a:gd name="T2" fmla="*/ 121 w 121"/>
              <a:gd name="T3" fmla="*/ 0 h 215"/>
              <a:gd name="T4" fmla="*/ 121 w 121"/>
              <a:gd name="T5" fmla="*/ 215 h 215"/>
              <a:gd name="T6" fmla="*/ 0 w 121"/>
              <a:gd name="T7" fmla="*/ 215 h 2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121" h="215">
                <a:moveTo>
                  <a:pt x="0" y="0"/>
                </a:moveTo>
                <a:lnTo>
                  <a:pt x="121" y="0"/>
                </a:lnTo>
                <a:lnTo>
                  <a:pt x="121" y="215"/>
                </a:lnTo>
                <a:lnTo>
                  <a:pt x="0" y="215"/>
                </a:lnTo>
              </a:path>
            </a:pathLst>
          </a:custGeom>
          <a:noFill/>
          <a:ln w="19050" cap="rnd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90" name="Rectangle 86">
            <a:extLst>
              <a:ext uri="{FF2B5EF4-FFF2-40B4-BE49-F238E27FC236}">
                <a16:creationId xmlns:a16="http://schemas.microsoft.com/office/drawing/2014/main" id="{43DB8313-797F-4402-B0A4-2D71F836418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925655" y="4513769"/>
            <a:ext cx="28052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zh-CN" altLang="zh-CN" sz="1200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rPr>
              <a:t>Reg</a:t>
            </a:r>
            <a:endParaRPr kumimoji="0" lang="zh-CN" altLang="zh-CN" sz="180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  <a:ea typeface="SimHei" panose="02010609060101010101" pitchFamily="49" charset="-122"/>
            </a:endParaRPr>
          </a:p>
        </p:txBody>
      </p:sp>
      <p:sp>
        <p:nvSpPr>
          <p:cNvPr id="91" name="Freeform 87">
            <a:extLst>
              <a:ext uri="{FF2B5EF4-FFF2-40B4-BE49-F238E27FC236}">
                <a16:creationId xmlns:a16="http://schemas.microsoft.com/office/drawing/2014/main" id="{6F1DA890-FAE5-4727-9DB3-64E402647DDE}"/>
              </a:ext>
            </a:extLst>
          </p:cNvPr>
          <p:cNvSpPr>
            <a:spLocks/>
          </p:cNvSpPr>
          <p:nvPr/>
        </p:nvSpPr>
        <p:spPr bwMode="auto">
          <a:xfrm>
            <a:off x="6889142" y="4462969"/>
            <a:ext cx="169863" cy="341313"/>
          </a:xfrm>
          <a:custGeom>
            <a:avLst/>
            <a:gdLst>
              <a:gd name="T0" fmla="*/ 107 w 107"/>
              <a:gd name="T1" fmla="*/ 0 h 215"/>
              <a:gd name="T2" fmla="*/ 0 w 107"/>
              <a:gd name="T3" fmla="*/ 0 h 215"/>
              <a:gd name="T4" fmla="*/ 0 w 107"/>
              <a:gd name="T5" fmla="*/ 215 h 215"/>
              <a:gd name="T6" fmla="*/ 107 w 107"/>
              <a:gd name="T7" fmla="*/ 215 h 2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107" h="215">
                <a:moveTo>
                  <a:pt x="107" y="0"/>
                </a:moveTo>
                <a:lnTo>
                  <a:pt x="0" y="0"/>
                </a:lnTo>
                <a:lnTo>
                  <a:pt x="0" y="215"/>
                </a:lnTo>
                <a:lnTo>
                  <a:pt x="107" y="215"/>
                </a:lnTo>
              </a:path>
            </a:pathLst>
          </a:custGeom>
          <a:noFill/>
          <a:ln w="19050" cap="rnd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92" name="Freeform 88">
            <a:extLst>
              <a:ext uri="{FF2B5EF4-FFF2-40B4-BE49-F238E27FC236}">
                <a16:creationId xmlns:a16="http://schemas.microsoft.com/office/drawing/2014/main" id="{55167256-DB6F-41CB-A884-679025D2C12C}"/>
              </a:ext>
            </a:extLst>
          </p:cNvPr>
          <p:cNvSpPr>
            <a:spLocks/>
          </p:cNvSpPr>
          <p:nvPr/>
        </p:nvSpPr>
        <p:spPr bwMode="auto">
          <a:xfrm>
            <a:off x="7060592" y="4462969"/>
            <a:ext cx="169863" cy="341313"/>
          </a:xfrm>
          <a:custGeom>
            <a:avLst/>
            <a:gdLst>
              <a:gd name="T0" fmla="*/ 0 w 107"/>
              <a:gd name="T1" fmla="*/ 0 h 215"/>
              <a:gd name="T2" fmla="*/ 107 w 107"/>
              <a:gd name="T3" fmla="*/ 0 h 215"/>
              <a:gd name="T4" fmla="*/ 107 w 107"/>
              <a:gd name="T5" fmla="*/ 215 h 215"/>
              <a:gd name="T6" fmla="*/ 0 w 107"/>
              <a:gd name="T7" fmla="*/ 215 h 2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107" h="215">
                <a:moveTo>
                  <a:pt x="0" y="0"/>
                </a:moveTo>
                <a:lnTo>
                  <a:pt x="107" y="0"/>
                </a:lnTo>
                <a:lnTo>
                  <a:pt x="107" y="215"/>
                </a:lnTo>
                <a:lnTo>
                  <a:pt x="0" y="215"/>
                </a:lnTo>
              </a:path>
            </a:pathLst>
          </a:custGeom>
          <a:noFill/>
          <a:ln w="19050" cap="rnd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93" name="Line 89">
            <a:extLst>
              <a:ext uri="{FF2B5EF4-FFF2-40B4-BE49-F238E27FC236}">
                <a16:creationId xmlns:a16="http://schemas.microsoft.com/office/drawing/2014/main" id="{F85BFF80-0658-4E50-88BB-A1C49F9822C8}"/>
              </a:ext>
            </a:extLst>
          </p:cNvPr>
          <p:cNvSpPr>
            <a:spLocks noChangeShapeType="1"/>
          </p:cNvSpPr>
          <p:nvPr/>
        </p:nvSpPr>
        <p:spPr bwMode="auto">
          <a:xfrm>
            <a:off x="6717692" y="4634419"/>
            <a:ext cx="165100" cy="0"/>
          </a:xfrm>
          <a:prstGeom prst="line">
            <a:avLst/>
          </a:prstGeom>
          <a:noFill/>
          <a:ln w="19050" cap="flat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94" name="Line 90">
            <a:extLst>
              <a:ext uri="{FF2B5EF4-FFF2-40B4-BE49-F238E27FC236}">
                <a16:creationId xmlns:a16="http://schemas.microsoft.com/office/drawing/2014/main" id="{D5AD88CA-05DF-44F0-9C21-0D5C7D5BC2FD}"/>
              </a:ext>
            </a:extLst>
          </p:cNvPr>
          <p:cNvSpPr>
            <a:spLocks noChangeShapeType="1"/>
          </p:cNvSpPr>
          <p:nvPr/>
        </p:nvSpPr>
        <p:spPr bwMode="auto">
          <a:xfrm>
            <a:off x="6139842" y="4634419"/>
            <a:ext cx="185738" cy="0"/>
          </a:xfrm>
          <a:prstGeom prst="line">
            <a:avLst/>
          </a:prstGeom>
          <a:noFill/>
          <a:ln w="19050" cap="flat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95" name="Line 91">
            <a:extLst>
              <a:ext uri="{FF2B5EF4-FFF2-40B4-BE49-F238E27FC236}">
                <a16:creationId xmlns:a16="http://schemas.microsoft.com/office/drawing/2014/main" id="{44A287C9-133D-4E7C-A407-466902E86E1F}"/>
              </a:ext>
            </a:extLst>
          </p:cNvPr>
          <p:cNvSpPr>
            <a:spLocks noChangeShapeType="1"/>
          </p:cNvSpPr>
          <p:nvPr/>
        </p:nvSpPr>
        <p:spPr bwMode="auto">
          <a:xfrm>
            <a:off x="5684230" y="4748719"/>
            <a:ext cx="185738" cy="0"/>
          </a:xfrm>
          <a:prstGeom prst="line">
            <a:avLst/>
          </a:prstGeom>
          <a:noFill/>
          <a:ln w="19050" cap="flat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96" name="Line 92">
            <a:extLst>
              <a:ext uri="{FF2B5EF4-FFF2-40B4-BE49-F238E27FC236}">
                <a16:creationId xmlns:a16="http://schemas.microsoft.com/office/drawing/2014/main" id="{8F7AE73D-7226-40A6-877B-5F73E494C589}"/>
              </a:ext>
            </a:extLst>
          </p:cNvPr>
          <p:cNvSpPr>
            <a:spLocks noChangeShapeType="1"/>
          </p:cNvSpPr>
          <p:nvPr/>
        </p:nvSpPr>
        <p:spPr bwMode="auto">
          <a:xfrm>
            <a:off x="5784242" y="4748719"/>
            <a:ext cx="0" cy="227013"/>
          </a:xfrm>
          <a:prstGeom prst="line">
            <a:avLst/>
          </a:prstGeom>
          <a:noFill/>
          <a:ln w="20638" cap="flat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97" name="Line 93">
            <a:extLst>
              <a:ext uri="{FF2B5EF4-FFF2-40B4-BE49-F238E27FC236}">
                <a16:creationId xmlns:a16="http://schemas.microsoft.com/office/drawing/2014/main" id="{271D0AFC-F738-4D41-AC9D-CDCCA87765A0}"/>
              </a:ext>
            </a:extLst>
          </p:cNvPr>
          <p:cNvSpPr>
            <a:spLocks noChangeShapeType="1"/>
          </p:cNvSpPr>
          <p:nvPr/>
        </p:nvSpPr>
        <p:spPr bwMode="auto">
          <a:xfrm>
            <a:off x="5784242" y="4975732"/>
            <a:ext cx="398463" cy="0"/>
          </a:xfrm>
          <a:prstGeom prst="line">
            <a:avLst/>
          </a:prstGeom>
          <a:noFill/>
          <a:ln w="20638" cap="flat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98" name="Line 94">
            <a:extLst>
              <a:ext uri="{FF2B5EF4-FFF2-40B4-BE49-F238E27FC236}">
                <a16:creationId xmlns:a16="http://schemas.microsoft.com/office/drawing/2014/main" id="{E77552C6-9820-4042-9F40-903221E63126}"/>
              </a:ext>
            </a:extLst>
          </p:cNvPr>
          <p:cNvSpPr>
            <a:spLocks noChangeShapeType="1"/>
          </p:cNvSpPr>
          <p:nvPr/>
        </p:nvSpPr>
        <p:spPr bwMode="auto">
          <a:xfrm>
            <a:off x="6182705" y="4634419"/>
            <a:ext cx="0" cy="341313"/>
          </a:xfrm>
          <a:prstGeom prst="line">
            <a:avLst/>
          </a:prstGeom>
          <a:noFill/>
          <a:ln w="20638" cap="flat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99" name="Line 95">
            <a:extLst>
              <a:ext uri="{FF2B5EF4-FFF2-40B4-BE49-F238E27FC236}">
                <a16:creationId xmlns:a16="http://schemas.microsoft.com/office/drawing/2014/main" id="{2D792B31-CCE3-4175-BF9C-A781B523052E}"/>
              </a:ext>
            </a:extLst>
          </p:cNvPr>
          <p:cNvSpPr>
            <a:spLocks noChangeShapeType="1"/>
          </p:cNvSpPr>
          <p:nvPr/>
        </p:nvSpPr>
        <p:spPr bwMode="auto">
          <a:xfrm>
            <a:off x="6276367" y="4634419"/>
            <a:ext cx="0" cy="284163"/>
          </a:xfrm>
          <a:prstGeom prst="line">
            <a:avLst/>
          </a:prstGeom>
          <a:noFill/>
          <a:ln w="20638" cap="flat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100" name="Line 96">
            <a:extLst>
              <a:ext uri="{FF2B5EF4-FFF2-40B4-BE49-F238E27FC236}">
                <a16:creationId xmlns:a16="http://schemas.microsoft.com/office/drawing/2014/main" id="{6EF40924-092D-4ECF-AC6C-E52993545AFF}"/>
              </a:ext>
            </a:extLst>
          </p:cNvPr>
          <p:cNvSpPr>
            <a:spLocks noChangeShapeType="1"/>
          </p:cNvSpPr>
          <p:nvPr/>
        </p:nvSpPr>
        <p:spPr bwMode="auto">
          <a:xfrm>
            <a:off x="6276367" y="4918582"/>
            <a:ext cx="512763" cy="0"/>
          </a:xfrm>
          <a:prstGeom prst="line">
            <a:avLst/>
          </a:prstGeom>
          <a:noFill/>
          <a:ln w="20638" cap="flat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101" name="Line 97">
            <a:extLst>
              <a:ext uri="{FF2B5EF4-FFF2-40B4-BE49-F238E27FC236}">
                <a16:creationId xmlns:a16="http://schemas.microsoft.com/office/drawing/2014/main" id="{29057C70-A03B-40C1-8CB3-849C84BC4F0E}"/>
              </a:ext>
            </a:extLst>
          </p:cNvPr>
          <p:cNvSpPr>
            <a:spLocks noChangeShapeType="1"/>
          </p:cNvSpPr>
          <p:nvPr/>
        </p:nvSpPr>
        <p:spPr bwMode="auto">
          <a:xfrm>
            <a:off x="6789130" y="4634419"/>
            <a:ext cx="0" cy="284163"/>
          </a:xfrm>
          <a:prstGeom prst="line">
            <a:avLst/>
          </a:prstGeom>
          <a:noFill/>
          <a:ln w="20638" cap="flat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102" name="Freeform 98">
            <a:extLst>
              <a:ext uri="{FF2B5EF4-FFF2-40B4-BE49-F238E27FC236}">
                <a16:creationId xmlns:a16="http://schemas.microsoft.com/office/drawing/2014/main" id="{51CDF4F2-DFD9-4770-A075-B77DE8EA0577}"/>
              </a:ext>
            </a:extLst>
          </p:cNvPr>
          <p:cNvSpPr>
            <a:spLocks/>
          </p:cNvSpPr>
          <p:nvPr/>
        </p:nvSpPr>
        <p:spPr bwMode="auto">
          <a:xfrm>
            <a:off x="6390667" y="5147182"/>
            <a:ext cx="255588" cy="569913"/>
          </a:xfrm>
          <a:custGeom>
            <a:avLst/>
            <a:gdLst>
              <a:gd name="T0" fmla="*/ 0 w 161"/>
              <a:gd name="T1" fmla="*/ 239 h 359"/>
              <a:gd name="T2" fmla="*/ 54 w 161"/>
              <a:gd name="T3" fmla="*/ 180 h 359"/>
              <a:gd name="T4" fmla="*/ 0 w 161"/>
              <a:gd name="T5" fmla="*/ 120 h 359"/>
              <a:gd name="T6" fmla="*/ 0 w 161"/>
              <a:gd name="T7" fmla="*/ 0 h 359"/>
              <a:gd name="T8" fmla="*/ 161 w 161"/>
              <a:gd name="T9" fmla="*/ 120 h 359"/>
              <a:gd name="T10" fmla="*/ 161 w 161"/>
              <a:gd name="T11" fmla="*/ 239 h 359"/>
              <a:gd name="T12" fmla="*/ 0 w 161"/>
              <a:gd name="T13" fmla="*/ 359 h 359"/>
              <a:gd name="T14" fmla="*/ 0 w 161"/>
              <a:gd name="T15" fmla="*/ 239 h 35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161" h="359">
                <a:moveTo>
                  <a:pt x="0" y="239"/>
                </a:moveTo>
                <a:lnTo>
                  <a:pt x="54" y="180"/>
                </a:lnTo>
                <a:lnTo>
                  <a:pt x="0" y="120"/>
                </a:lnTo>
                <a:lnTo>
                  <a:pt x="0" y="0"/>
                </a:lnTo>
                <a:lnTo>
                  <a:pt x="161" y="120"/>
                </a:lnTo>
                <a:lnTo>
                  <a:pt x="161" y="239"/>
                </a:lnTo>
                <a:lnTo>
                  <a:pt x="0" y="359"/>
                </a:lnTo>
                <a:lnTo>
                  <a:pt x="0" y="239"/>
                </a:lnTo>
              </a:path>
            </a:pathLst>
          </a:custGeom>
          <a:noFill/>
          <a:ln w="19050" cap="rnd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103" name="Rectangle 99">
            <a:extLst>
              <a:ext uri="{FF2B5EF4-FFF2-40B4-BE49-F238E27FC236}">
                <a16:creationId xmlns:a16="http://schemas.microsoft.com/office/drawing/2014/main" id="{39DA8C81-387B-4500-AFD8-AAF741D6225C}"/>
              </a:ext>
            </a:extLst>
          </p:cNvPr>
          <p:cNvSpPr>
            <a:spLocks noChangeArrowheads="1"/>
          </p:cNvSpPr>
          <p:nvPr/>
        </p:nvSpPr>
        <p:spPr bwMode="auto">
          <a:xfrm rot="5400000">
            <a:off x="6273439" y="5339011"/>
            <a:ext cx="508000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zh-CN" altLang="zh-CN" sz="1200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rPr>
              <a:t>ALU</a:t>
            </a:r>
            <a:endParaRPr kumimoji="0" lang="zh-CN" altLang="zh-CN" sz="120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  <a:ea typeface="SimHei" panose="02010609060101010101" pitchFamily="49" charset="-122"/>
            </a:endParaRPr>
          </a:p>
        </p:txBody>
      </p:sp>
      <p:sp>
        <p:nvSpPr>
          <p:cNvPr id="104" name="Rectangle 100">
            <a:extLst>
              <a:ext uri="{FF2B5EF4-FFF2-40B4-BE49-F238E27FC236}">
                <a16:creationId xmlns:a16="http://schemas.microsoft.com/office/drawing/2014/main" id="{B1E4F530-EEA2-4EC9-9371-3402E2D88984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21842" y="5366257"/>
            <a:ext cx="564257" cy="2769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zh-CN" altLang="zh-CN" sz="1800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rPr>
              <a:t>Inst 3</a:t>
            </a:r>
            <a:endParaRPr kumimoji="0" lang="zh-CN" altLang="zh-CN" sz="180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  <a:ea typeface="SimHei" panose="02010609060101010101" pitchFamily="49" charset="-122"/>
            </a:endParaRPr>
          </a:p>
        </p:txBody>
      </p:sp>
      <p:sp>
        <p:nvSpPr>
          <p:cNvPr id="105" name="Rectangle 101">
            <a:extLst>
              <a:ext uri="{FF2B5EF4-FFF2-40B4-BE49-F238E27FC236}">
                <a16:creationId xmlns:a16="http://schemas.microsoft.com/office/drawing/2014/main" id="{E5A65E45-41E9-4D89-AB0E-EDB3E9792CEC}"/>
              </a:ext>
            </a:extLst>
          </p:cNvPr>
          <p:cNvSpPr>
            <a:spLocks noChangeArrowheads="1"/>
          </p:cNvSpPr>
          <p:nvPr/>
        </p:nvSpPr>
        <p:spPr bwMode="auto">
          <a:xfrm>
            <a:off x="5366730" y="5312282"/>
            <a:ext cx="171522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zh-CN" sz="1200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rPr>
              <a:t>IM</a:t>
            </a:r>
            <a:endParaRPr kumimoji="0" lang="zh-CN" altLang="zh-CN" sz="180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  <a:ea typeface="SimHei" panose="02010609060101010101" pitchFamily="49" charset="-122"/>
            </a:endParaRPr>
          </a:p>
        </p:txBody>
      </p:sp>
      <p:sp>
        <p:nvSpPr>
          <p:cNvPr id="106" name="Freeform 102">
            <a:extLst>
              <a:ext uri="{FF2B5EF4-FFF2-40B4-BE49-F238E27FC236}">
                <a16:creationId xmlns:a16="http://schemas.microsoft.com/office/drawing/2014/main" id="{3ADB4C15-8CCB-40E5-98CF-C225B5066226}"/>
              </a:ext>
            </a:extLst>
          </p:cNvPr>
          <p:cNvSpPr>
            <a:spLocks/>
          </p:cNvSpPr>
          <p:nvPr/>
        </p:nvSpPr>
        <p:spPr bwMode="auto">
          <a:xfrm>
            <a:off x="5292117" y="5261482"/>
            <a:ext cx="198438" cy="341313"/>
          </a:xfrm>
          <a:custGeom>
            <a:avLst/>
            <a:gdLst>
              <a:gd name="T0" fmla="*/ 125 w 125"/>
              <a:gd name="T1" fmla="*/ 0 h 215"/>
              <a:gd name="T2" fmla="*/ 0 w 125"/>
              <a:gd name="T3" fmla="*/ 0 h 215"/>
              <a:gd name="T4" fmla="*/ 0 w 125"/>
              <a:gd name="T5" fmla="*/ 215 h 215"/>
              <a:gd name="T6" fmla="*/ 125 w 125"/>
              <a:gd name="T7" fmla="*/ 215 h 2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125" h="215">
                <a:moveTo>
                  <a:pt x="125" y="0"/>
                </a:moveTo>
                <a:lnTo>
                  <a:pt x="0" y="0"/>
                </a:lnTo>
                <a:lnTo>
                  <a:pt x="0" y="215"/>
                </a:lnTo>
                <a:lnTo>
                  <a:pt x="125" y="215"/>
                </a:lnTo>
              </a:path>
            </a:pathLst>
          </a:custGeom>
          <a:noFill/>
          <a:ln w="19050" cap="rnd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107" name="Freeform 103">
            <a:extLst>
              <a:ext uri="{FF2B5EF4-FFF2-40B4-BE49-F238E27FC236}">
                <a16:creationId xmlns:a16="http://schemas.microsoft.com/office/drawing/2014/main" id="{ED664F26-B1FE-4513-AB82-181E4BE3F962}"/>
              </a:ext>
            </a:extLst>
          </p:cNvPr>
          <p:cNvSpPr>
            <a:spLocks/>
          </p:cNvSpPr>
          <p:nvPr/>
        </p:nvSpPr>
        <p:spPr bwMode="auto">
          <a:xfrm>
            <a:off x="5492142" y="5261482"/>
            <a:ext cx="204788" cy="341313"/>
          </a:xfrm>
          <a:custGeom>
            <a:avLst/>
            <a:gdLst>
              <a:gd name="T0" fmla="*/ 0 w 129"/>
              <a:gd name="T1" fmla="*/ 0 h 215"/>
              <a:gd name="T2" fmla="*/ 129 w 129"/>
              <a:gd name="T3" fmla="*/ 0 h 215"/>
              <a:gd name="T4" fmla="*/ 129 w 129"/>
              <a:gd name="T5" fmla="*/ 215 h 215"/>
              <a:gd name="T6" fmla="*/ 0 w 129"/>
              <a:gd name="T7" fmla="*/ 215 h 2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129" h="215">
                <a:moveTo>
                  <a:pt x="0" y="0"/>
                </a:moveTo>
                <a:lnTo>
                  <a:pt x="129" y="0"/>
                </a:lnTo>
                <a:lnTo>
                  <a:pt x="129" y="215"/>
                </a:lnTo>
                <a:lnTo>
                  <a:pt x="0" y="215"/>
                </a:lnTo>
              </a:path>
            </a:pathLst>
          </a:custGeom>
          <a:noFill/>
          <a:ln w="19050" cap="rnd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108" name="Rectangle 104">
            <a:extLst>
              <a:ext uri="{FF2B5EF4-FFF2-40B4-BE49-F238E27FC236}">
                <a16:creationId xmlns:a16="http://schemas.microsoft.com/office/drawing/2014/main" id="{1A9F66BA-2F04-4DBC-AFFF-5FF251DB18A0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84255" y="5318632"/>
            <a:ext cx="28052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zh-CN" altLang="zh-CN" sz="1200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rPr>
              <a:t>Reg</a:t>
            </a:r>
            <a:endParaRPr kumimoji="0" lang="zh-CN" altLang="zh-CN" sz="180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  <a:ea typeface="SimHei" panose="02010609060101010101" pitchFamily="49" charset="-122"/>
            </a:endParaRPr>
          </a:p>
        </p:txBody>
      </p:sp>
      <p:sp>
        <p:nvSpPr>
          <p:cNvPr id="109" name="Freeform 105">
            <a:extLst>
              <a:ext uri="{FF2B5EF4-FFF2-40B4-BE49-F238E27FC236}">
                <a16:creationId xmlns:a16="http://schemas.microsoft.com/office/drawing/2014/main" id="{BD0034D2-C9EA-4B67-B1C2-F6662882FC3A}"/>
              </a:ext>
            </a:extLst>
          </p:cNvPr>
          <p:cNvSpPr>
            <a:spLocks/>
          </p:cNvSpPr>
          <p:nvPr/>
        </p:nvSpPr>
        <p:spPr bwMode="auto">
          <a:xfrm>
            <a:off x="5841392" y="5261482"/>
            <a:ext cx="176213" cy="341313"/>
          </a:xfrm>
          <a:custGeom>
            <a:avLst/>
            <a:gdLst>
              <a:gd name="T0" fmla="*/ 111 w 111"/>
              <a:gd name="T1" fmla="*/ 0 h 215"/>
              <a:gd name="T2" fmla="*/ 0 w 111"/>
              <a:gd name="T3" fmla="*/ 0 h 215"/>
              <a:gd name="T4" fmla="*/ 0 w 111"/>
              <a:gd name="T5" fmla="*/ 215 h 215"/>
              <a:gd name="T6" fmla="*/ 111 w 111"/>
              <a:gd name="T7" fmla="*/ 215 h 2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111" h="215">
                <a:moveTo>
                  <a:pt x="111" y="0"/>
                </a:moveTo>
                <a:lnTo>
                  <a:pt x="0" y="0"/>
                </a:lnTo>
                <a:lnTo>
                  <a:pt x="0" y="215"/>
                </a:lnTo>
                <a:lnTo>
                  <a:pt x="111" y="215"/>
                </a:lnTo>
              </a:path>
            </a:pathLst>
          </a:custGeom>
          <a:noFill/>
          <a:ln w="19050" cap="rnd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110" name="Freeform 106">
            <a:extLst>
              <a:ext uri="{FF2B5EF4-FFF2-40B4-BE49-F238E27FC236}">
                <a16:creationId xmlns:a16="http://schemas.microsoft.com/office/drawing/2014/main" id="{F9DA93AC-C9DA-458E-AC36-A274AFBF32C8}"/>
              </a:ext>
            </a:extLst>
          </p:cNvPr>
          <p:cNvSpPr>
            <a:spLocks/>
          </p:cNvSpPr>
          <p:nvPr/>
        </p:nvSpPr>
        <p:spPr bwMode="auto">
          <a:xfrm>
            <a:off x="6012842" y="5261482"/>
            <a:ext cx="176213" cy="341313"/>
          </a:xfrm>
          <a:custGeom>
            <a:avLst/>
            <a:gdLst>
              <a:gd name="T0" fmla="*/ 0 w 111"/>
              <a:gd name="T1" fmla="*/ 0 h 215"/>
              <a:gd name="T2" fmla="*/ 111 w 111"/>
              <a:gd name="T3" fmla="*/ 0 h 215"/>
              <a:gd name="T4" fmla="*/ 111 w 111"/>
              <a:gd name="T5" fmla="*/ 215 h 215"/>
              <a:gd name="T6" fmla="*/ 0 w 111"/>
              <a:gd name="T7" fmla="*/ 215 h 2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111" h="215">
                <a:moveTo>
                  <a:pt x="0" y="0"/>
                </a:moveTo>
                <a:lnTo>
                  <a:pt x="111" y="0"/>
                </a:lnTo>
                <a:lnTo>
                  <a:pt x="111" y="215"/>
                </a:lnTo>
                <a:lnTo>
                  <a:pt x="0" y="215"/>
                </a:lnTo>
              </a:path>
            </a:pathLst>
          </a:custGeom>
          <a:noFill/>
          <a:ln w="19050" cap="rnd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111" name="Line 107">
            <a:extLst>
              <a:ext uri="{FF2B5EF4-FFF2-40B4-BE49-F238E27FC236}">
                <a16:creationId xmlns:a16="http://schemas.microsoft.com/office/drawing/2014/main" id="{A00AF189-AE68-4058-B67F-D0A288ED8BD2}"/>
              </a:ext>
            </a:extLst>
          </p:cNvPr>
          <p:cNvSpPr>
            <a:spLocks noChangeShapeType="1"/>
          </p:cNvSpPr>
          <p:nvPr/>
        </p:nvSpPr>
        <p:spPr bwMode="auto">
          <a:xfrm>
            <a:off x="5704867" y="5432932"/>
            <a:ext cx="136525" cy="0"/>
          </a:xfrm>
          <a:prstGeom prst="line">
            <a:avLst/>
          </a:prstGeom>
          <a:noFill/>
          <a:ln w="19050" cap="flat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112" name="Freeform 108">
            <a:extLst>
              <a:ext uri="{FF2B5EF4-FFF2-40B4-BE49-F238E27FC236}">
                <a16:creationId xmlns:a16="http://schemas.microsoft.com/office/drawing/2014/main" id="{80B2FFFA-DE9D-421E-96A3-E73040F46945}"/>
              </a:ext>
            </a:extLst>
          </p:cNvPr>
          <p:cNvSpPr>
            <a:spLocks/>
          </p:cNvSpPr>
          <p:nvPr/>
        </p:nvSpPr>
        <p:spPr bwMode="auto">
          <a:xfrm>
            <a:off x="5784242" y="5318632"/>
            <a:ext cx="55563" cy="112713"/>
          </a:xfrm>
          <a:custGeom>
            <a:avLst/>
            <a:gdLst>
              <a:gd name="T0" fmla="*/ 0 w 35"/>
              <a:gd name="T1" fmla="*/ 71 h 71"/>
              <a:gd name="T2" fmla="*/ 0 w 35"/>
              <a:gd name="T3" fmla="*/ 0 h 71"/>
              <a:gd name="T4" fmla="*/ 35 w 35"/>
              <a:gd name="T5" fmla="*/ 0 h 7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35" h="71">
                <a:moveTo>
                  <a:pt x="0" y="71"/>
                </a:moveTo>
                <a:lnTo>
                  <a:pt x="0" y="0"/>
                </a:lnTo>
                <a:lnTo>
                  <a:pt x="35" y="0"/>
                </a:lnTo>
              </a:path>
            </a:pathLst>
          </a:custGeom>
          <a:noFill/>
          <a:ln w="19050" cap="rnd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113" name="Line 109">
            <a:extLst>
              <a:ext uri="{FF2B5EF4-FFF2-40B4-BE49-F238E27FC236}">
                <a16:creationId xmlns:a16="http://schemas.microsoft.com/office/drawing/2014/main" id="{D009DDD8-07B1-4CB1-81D7-105FA51AECCC}"/>
              </a:ext>
            </a:extLst>
          </p:cNvPr>
          <p:cNvSpPr>
            <a:spLocks noChangeShapeType="1"/>
          </p:cNvSpPr>
          <p:nvPr/>
        </p:nvSpPr>
        <p:spPr bwMode="auto">
          <a:xfrm>
            <a:off x="6196992" y="5318632"/>
            <a:ext cx="185738" cy="0"/>
          </a:xfrm>
          <a:prstGeom prst="line">
            <a:avLst/>
          </a:prstGeom>
          <a:noFill/>
          <a:ln w="19050" cap="flat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114" name="Rectangle 110">
            <a:extLst>
              <a:ext uri="{FF2B5EF4-FFF2-40B4-BE49-F238E27FC236}">
                <a16:creationId xmlns:a16="http://schemas.microsoft.com/office/drawing/2014/main" id="{829A8788-B5D9-43B3-A8C6-0C76E899E27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55805" y="5312282"/>
            <a:ext cx="238848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zh-CN" altLang="zh-CN" sz="1200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rPr>
              <a:t>DM</a:t>
            </a:r>
            <a:endParaRPr kumimoji="0" lang="zh-CN" altLang="zh-CN" sz="180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  <a:ea typeface="SimHei" panose="02010609060101010101" pitchFamily="49" charset="-122"/>
            </a:endParaRPr>
          </a:p>
        </p:txBody>
      </p:sp>
      <p:sp>
        <p:nvSpPr>
          <p:cNvPr id="115" name="Freeform 111">
            <a:extLst>
              <a:ext uri="{FF2B5EF4-FFF2-40B4-BE49-F238E27FC236}">
                <a16:creationId xmlns:a16="http://schemas.microsoft.com/office/drawing/2014/main" id="{B66E15B9-DA9B-476C-9C08-51C1EBB90E34}"/>
              </a:ext>
            </a:extLst>
          </p:cNvPr>
          <p:cNvSpPr>
            <a:spLocks/>
          </p:cNvSpPr>
          <p:nvPr/>
        </p:nvSpPr>
        <p:spPr bwMode="auto">
          <a:xfrm>
            <a:off x="6846280" y="5261482"/>
            <a:ext cx="192088" cy="341313"/>
          </a:xfrm>
          <a:custGeom>
            <a:avLst/>
            <a:gdLst>
              <a:gd name="T0" fmla="*/ 121 w 121"/>
              <a:gd name="T1" fmla="*/ 0 h 215"/>
              <a:gd name="T2" fmla="*/ 0 w 121"/>
              <a:gd name="T3" fmla="*/ 0 h 215"/>
              <a:gd name="T4" fmla="*/ 0 w 121"/>
              <a:gd name="T5" fmla="*/ 215 h 215"/>
              <a:gd name="T6" fmla="*/ 121 w 121"/>
              <a:gd name="T7" fmla="*/ 215 h 2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121" h="215">
                <a:moveTo>
                  <a:pt x="121" y="0"/>
                </a:moveTo>
                <a:lnTo>
                  <a:pt x="0" y="0"/>
                </a:lnTo>
                <a:lnTo>
                  <a:pt x="0" y="215"/>
                </a:lnTo>
                <a:lnTo>
                  <a:pt x="121" y="215"/>
                </a:lnTo>
              </a:path>
            </a:pathLst>
          </a:custGeom>
          <a:noFill/>
          <a:ln w="19050" cap="rnd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116" name="Freeform 112">
            <a:extLst>
              <a:ext uri="{FF2B5EF4-FFF2-40B4-BE49-F238E27FC236}">
                <a16:creationId xmlns:a16="http://schemas.microsoft.com/office/drawing/2014/main" id="{5295A9B2-F888-449F-B540-68FF8B7975BF}"/>
              </a:ext>
            </a:extLst>
          </p:cNvPr>
          <p:cNvSpPr>
            <a:spLocks/>
          </p:cNvSpPr>
          <p:nvPr/>
        </p:nvSpPr>
        <p:spPr bwMode="auto">
          <a:xfrm>
            <a:off x="7039955" y="5261482"/>
            <a:ext cx="190500" cy="341313"/>
          </a:xfrm>
          <a:custGeom>
            <a:avLst/>
            <a:gdLst>
              <a:gd name="T0" fmla="*/ 0 w 120"/>
              <a:gd name="T1" fmla="*/ 0 h 215"/>
              <a:gd name="T2" fmla="*/ 120 w 120"/>
              <a:gd name="T3" fmla="*/ 0 h 215"/>
              <a:gd name="T4" fmla="*/ 120 w 120"/>
              <a:gd name="T5" fmla="*/ 215 h 215"/>
              <a:gd name="T6" fmla="*/ 0 w 120"/>
              <a:gd name="T7" fmla="*/ 215 h 2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120" h="215">
                <a:moveTo>
                  <a:pt x="0" y="0"/>
                </a:moveTo>
                <a:lnTo>
                  <a:pt x="120" y="0"/>
                </a:lnTo>
                <a:lnTo>
                  <a:pt x="120" y="215"/>
                </a:lnTo>
                <a:lnTo>
                  <a:pt x="0" y="215"/>
                </a:lnTo>
              </a:path>
            </a:pathLst>
          </a:custGeom>
          <a:noFill/>
          <a:ln w="19050" cap="rnd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117" name="Line 113">
            <a:extLst>
              <a:ext uri="{FF2B5EF4-FFF2-40B4-BE49-F238E27FC236}">
                <a16:creationId xmlns:a16="http://schemas.microsoft.com/office/drawing/2014/main" id="{51DC7890-9109-4D20-9554-EC43817EE744}"/>
              </a:ext>
            </a:extLst>
          </p:cNvPr>
          <p:cNvSpPr>
            <a:spLocks noChangeShapeType="1"/>
          </p:cNvSpPr>
          <p:nvPr/>
        </p:nvSpPr>
        <p:spPr bwMode="auto">
          <a:xfrm>
            <a:off x="7232042" y="5432932"/>
            <a:ext cx="163513" cy="0"/>
          </a:xfrm>
          <a:prstGeom prst="line">
            <a:avLst/>
          </a:prstGeom>
          <a:noFill/>
          <a:ln w="19050" cap="flat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118" name="Line 114">
            <a:extLst>
              <a:ext uri="{FF2B5EF4-FFF2-40B4-BE49-F238E27FC236}">
                <a16:creationId xmlns:a16="http://schemas.microsoft.com/office/drawing/2014/main" id="{3D85D81B-69E8-47E3-B1E8-BCCB54A967D1}"/>
              </a:ext>
            </a:extLst>
          </p:cNvPr>
          <p:cNvSpPr>
            <a:spLocks noChangeShapeType="1"/>
          </p:cNvSpPr>
          <p:nvPr/>
        </p:nvSpPr>
        <p:spPr bwMode="auto">
          <a:xfrm>
            <a:off x="6654192" y="5432932"/>
            <a:ext cx="185738" cy="0"/>
          </a:xfrm>
          <a:prstGeom prst="line">
            <a:avLst/>
          </a:prstGeom>
          <a:noFill/>
          <a:ln w="19050" cap="flat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119" name="Line 115">
            <a:extLst>
              <a:ext uri="{FF2B5EF4-FFF2-40B4-BE49-F238E27FC236}">
                <a16:creationId xmlns:a16="http://schemas.microsoft.com/office/drawing/2014/main" id="{DAD9EA9F-20F9-4092-917B-9ADE8C54B5A2}"/>
              </a:ext>
            </a:extLst>
          </p:cNvPr>
          <p:cNvSpPr>
            <a:spLocks noChangeShapeType="1"/>
          </p:cNvSpPr>
          <p:nvPr/>
        </p:nvSpPr>
        <p:spPr bwMode="auto">
          <a:xfrm>
            <a:off x="6196992" y="5547232"/>
            <a:ext cx="185738" cy="0"/>
          </a:xfrm>
          <a:prstGeom prst="line">
            <a:avLst/>
          </a:prstGeom>
          <a:noFill/>
          <a:ln w="19050" cap="flat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120" name="Line 116">
            <a:extLst>
              <a:ext uri="{FF2B5EF4-FFF2-40B4-BE49-F238E27FC236}">
                <a16:creationId xmlns:a16="http://schemas.microsoft.com/office/drawing/2014/main" id="{E42E6F27-DDA0-43E5-8AB8-CD20EC4E7F9F}"/>
              </a:ext>
            </a:extLst>
          </p:cNvPr>
          <p:cNvSpPr>
            <a:spLocks noChangeShapeType="1"/>
          </p:cNvSpPr>
          <p:nvPr/>
        </p:nvSpPr>
        <p:spPr bwMode="auto">
          <a:xfrm>
            <a:off x="6297005" y="5547232"/>
            <a:ext cx="0" cy="227013"/>
          </a:xfrm>
          <a:prstGeom prst="line">
            <a:avLst/>
          </a:prstGeom>
          <a:noFill/>
          <a:ln w="20638" cap="flat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121" name="Line 117">
            <a:extLst>
              <a:ext uri="{FF2B5EF4-FFF2-40B4-BE49-F238E27FC236}">
                <a16:creationId xmlns:a16="http://schemas.microsoft.com/office/drawing/2014/main" id="{DB65F63F-299B-4609-A7B1-C524130059BF}"/>
              </a:ext>
            </a:extLst>
          </p:cNvPr>
          <p:cNvSpPr>
            <a:spLocks noChangeShapeType="1"/>
          </p:cNvSpPr>
          <p:nvPr/>
        </p:nvSpPr>
        <p:spPr bwMode="auto">
          <a:xfrm>
            <a:off x="6297005" y="5774244"/>
            <a:ext cx="400050" cy="0"/>
          </a:xfrm>
          <a:prstGeom prst="line">
            <a:avLst/>
          </a:prstGeom>
          <a:noFill/>
          <a:ln w="20638" cap="flat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122" name="Line 118">
            <a:extLst>
              <a:ext uri="{FF2B5EF4-FFF2-40B4-BE49-F238E27FC236}">
                <a16:creationId xmlns:a16="http://schemas.microsoft.com/office/drawing/2014/main" id="{48F53BA3-95F7-4E31-883C-84D288C3818E}"/>
              </a:ext>
            </a:extLst>
          </p:cNvPr>
          <p:cNvSpPr>
            <a:spLocks noChangeShapeType="1"/>
          </p:cNvSpPr>
          <p:nvPr/>
        </p:nvSpPr>
        <p:spPr bwMode="auto">
          <a:xfrm>
            <a:off x="6697055" y="5432932"/>
            <a:ext cx="0" cy="341313"/>
          </a:xfrm>
          <a:prstGeom prst="line">
            <a:avLst/>
          </a:prstGeom>
          <a:noFill/>
          <a:ln w="20638" cap="flat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123" name="Line 119">
            <a:extLst>
              <a:ext uri="{FF2B5EF4-FFF2-40B4-BE49-F238E27FC236}">
                <a16:creationId xmlns:a16="http://schemas.microsoft.com/office/drawing/2014/main" id="{7D77A242-098B-4F62-B448-ACC92E929D44}"/>
              </a:ext>
            </a:extLst>
          </p:cNvPr>
          <p:cNvSpPr>
            <a:spLocks noChangeShapeType="1"/>
          </p:cNvSpPr>
          <p:nvPr/>
        </p:nvSpPr>
        <p:spPr bwMode="auto">
          <a:xfrm>
            <a:off x="6789130" y="5432932"/>
            <a:ext cx="0" cy="284163"/>
          </a:xfrm>
          <a:prstGeom prst="line">
            <a:avLst/>
          </a:prstGeom>
          <a:noFill/>
          <a:ln w="20638" cap="flat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124" name="Line 120">
            <a:extLst>
              <a:ext uri="{FF2B5EF4-FFF2-40B4-BE49-F238E27FC236}">
                <a16:creationId xmlns:a16="http://schemas.microsoft.com/office/drawing/2014/main" id="{C926C6CC-1F09-431B-9255-884FA7E5A51F}"/>
              </a:ext>
            </a:extLst>
          </p:cNvPr>
          <p:cNvSpPr>
            <a:spLocks noChangeShapeType="1"/>
          </p:cNvSpPr>
          <p:nvPr/>
        </p:nvSpPr>
        <p:spPr bwMode="auto">
          <a:xfrm>
            <a:off x="6789130" y="5717094"/>
            <a:ext cx="514350" cy="0"/>
          </a:xfrm>
          <a:prstGeom prst="line">
            <a:avLst/>
          </a:prstGeom>
          <a:noFill/>
          <a:ln w="20638" cap="flat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125" name="Line 121">
            <a:extLst>
              <a:ext uri="{FF2B5EF4-FFF2-40B4-BE49-F238E27FC236}">
                <a16:creationId xmlns:a16="http://schemas.microsoft.com/office/drawing/2014/main" id="{ECA02577-C75B-4B64-B989-F53F05F34D9C}"/>
              </a:ext>
            </a:extLst>
          </p:cNvPr>
          <p:cNvSpPr>
            <a:spLocks noChangeShapeType="1"/>
          </p:cNvSpPr>
          <p:nvPr/>
        </p:nvSpPr>
        <p:spPr bwMode="auto">
          <a:xfrm>
            <a:off x="7303480" y="5432932"/>
            <a:ext cx="0" cy="284163"/>
          </a:xfrm>
          <a:prstGeom prst="line">
            <a:avLst/>
          </a:prstGeom>
          <a:noFill/>
          <a:ln w="20638" cap="flat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126" name="Freeform 122">
            <a:extLst>
              <a:ext uri="{FF2B5EF4-FFF2-40B4-BE49-F238E27FC236}">
                <a16:creationId xmlns:a16="http://schemas.microsoft.com/office/drawing/2014/main" id="{B39856DF-5F1B-4DE4-AA50-120BC051559D}"/>
              </a:ext>
            </a:extLst>
          </p:cNvPr>
          <p:cNvSpPr>
            <a:spLocks noEditPoints="1"/>
          </p:cNvSpPr>
          <p:nvPr/>
        </p:nvSpPr>
        <p:spPr bwMode="auto">
          <a:xfrm>
            <a:off x="7251092" y="2351594"/>
            <a:ext cx="18000" cy="4032000"/>
          </a:xfrm>
          <a:custGeom>
            <a:avLst/>
            <a:gdLst>
              <a:gd name="T0" fmla="*/ 0 w 12"/>
              <a:gd name="T1" fmla="*/ 24 h 2552"/>
              <a:gd name="T2" fmla="*/ 0 w 12"/>
              <a:gd name="T3" fmla="*/ 84 h 2552"/>
              <a:gd name="T4" fmla="*/ 12 w 12"/>
              <a:gd name="T5" fmla="*/ 132 h 2552"/>
              <a:gd name="T6" fmla="*/ 12 w 12"/>
              <a:gd name="T7" fmla="*/ 168 h 2552"/>
              <a:gd name="T8" fmla="*/ 12 w 12"/>
              <a:gd name="T9" fmla="*/ 192 h 2552"/>
              <a:gd name="T10" fmla="*/ 0 w 12"/>
              <a:gd name="T11" fmla="*/ 240 h 2552"/>
              <a:gd name="T12" fmla="*/ 0 w 12"/>
              <a:gd name="T13" fmla="*/ 300 h 2552"/>
              <a:gd name="T14" fmla="*/ 12 w 12"/>
              <a:gd name="T15" fmla="*/ 348 h 2552"/>
              <a:gd name="T16" fmla="*/ 12 w 12"/>
              <a:gd name="T17" fmla="*/ 384 h 2552"/>
              <a:gd name="T18" fmla="*/ 12 w 12"/>
              <a:gd name="T19" fmla="*/ 408 h 2552"/>
              <a:gd name="T20" fmla="*/ 0 w 12"/>
              <a:gd name="T21" fmla="*/ 456 h 2552"/>
              <a:gd name="T22" fmla="*/ 0 w 12"/>
              <a:gd name="T23" fmla="*/ 515 h 2552"/>
              <a:gd name="T24" fmla="*/ 12 w 12"/>
              <a:gd name="T25" fmla="*/ 563 h 2552"/>
              <a:gd name="T26" fmla="*/ 12 w 12"/>
              <a:gd name="T27" fmla="*/ 599 h 2552"/>
              <a:gd name="T28" fmla="*/ 12 w 12"/>
              <a:gd name="T29" fmla="*/ 623 h 2552"/>
              <a:gd name="T30" fmla="*/ 0 w 12"/>
              <a:gd name="T31" fmla="*/ 671 h 2552"/>
              <a:gd name="T32" fmla="*/ 0 w 12"/>
              <a:gd name="T33" fmla="*/ 731 h 2552"/>
              <a:gd name="T34" fmla="*/ 12 w 12"/>
              <a:gd name="T35" fmla="*/ 779 h 2552"/>
              <a:gd name="T36" fmla="*/ 12 w 12"/>
              <a:gd name="T37" fmla="*/ 815 h 2552"/>
              <a:gd name="T38" fmla="*/ 12 w 12"/>
              <a:gd name="T39" fmla="*/ 839 h 2552"/>
              <a:gd name="T40" fmla="*/ 0 w 12"/>
              <a:gd name="T41" fmla="*/ 887 h 2552"/>
              <a:gd name="T42" fmla="*/ 0 w 12"/>
              <a:gd name="T43" fmla="*/ 947 h 2552"/>
              <a:gd name="T44" fmla="*/ 12 w 12"/>
              <a:gd name="T45" fmla="*/ 995 h 2552"/>
              <a:gd name="T46" fmla="*/ 12 w 12"/>
              <a:gd name="T47" fmla="*/ 1031 h 2552"/>
              <a:gd name="T48" fmla="*/ 12 w 12"/>
              <a:gd name="T49" fmla="*/ 1054 h 2552"/>
              <a:gd name="T50" fmla="*/ 0 w 12"/>
              <a:gd name="T51" fmla="*/ 1102 h 2552"/>
              <a:gd name="T52" fmla="*/ 0 w 12"/>
              <a:gd name="T53" fmla="*/ 1162 h 2552"/>
              <a:gd name="T54" fmla="*/ 12 w 12"/>
              <a:gd name="T55" fmla="*/ 1210 h 2552"/>
              <a:gd name="T56" fmla="*/ 12 w 12"/>
              <a:gd name="T57" fmla="*/ 1246 h 2552"/>
              <a:gd name="T58" fmla="*/ 12 w 12"/>
              <a:gd name="T59" fmla="*/ 1270 h 2552"/>
              <a:gd name="T60" fmla="*/ 0 w 12"/>
              <a:gd name="T61" fmla="*/ 1318 h 2552"/>
              <a:gd name="T62" fmla="*/ 0 w 12"/>
              <a:gd name="T63" fmla="*/ 1378 h 2552"/>
              <a:gd name="T64" fmla="*/ 12 w 12"/>
              <a:gd name="T65" fmla="*/ 1426 h 2552"/>
              <a:gd name="T66" fmla="*/ 12 w 12"/>
              <a:gd name="T67" fmla="*/ 1462 h 2552"/>
              <a:gd name="T68" fmla="*/ 12 w 12"/>
              <a:gd name="T69" fmla="*/ 1486 h 2552"/>
              <a:gd name="T70" fmla="*/ 0 w 12"/>
              <a:gd name="T71" fmla="*/ 1534 h 2552"/>
              <a:gd name="T72" fmla="*/ 0 w 12"/>
              <a:gd name="T73" fmla="*/ 1593 h 2552"/>
              <a:gd name="T74" fmla="*/ 12 w 12"/>
              <a:gd name="T75" fmla="*/ 1641 h 2552"/>
              <a:gd name="T76" fmla="*/ 12 w 12"/>
              <a:gd name="T77" fmla="*/ 1677 h 2552"/>
              <a:gd name="T78" fmla="*/ 12 w 12"/>
              <a:gd name="T79" fmla="*/ 1701 h 2552"/>
              <a:gd name="T80" fmla="*/ 0 w 12"/>
              <a:gd name="T81" fmla="*/ 1749 h 2552"/>
              <a:gd name="T82" fmla="*/ 0 w 12"/>
              <a:gd name="T83" fmla="*/ 1809 h 2552"/>
              <a:gd name="T84" fmla="*/ 12 w 12"/>
              <a:gd name="T85" fmla="*/ 1857 h 2552"/>
              <a:gd name="T86" fmla="*/ 12 w 12"/>
              <a:gd name="T87" fmla="*/ 1893 h 2552"/>
              <a:gd name="T88" fmla="*/ 12 w 12"/>
              <a:gd name="T89" fmla="*/ 1917 h 2552"/>
              <a:gd name="T90" fmla="*/ 0 w 12"/>
              <a:gd name="T91" fmla="*/ 1965 h 2552"/>
              <a:gd name="T92" fmla="*/ 0 w 12"/>
              <a:gd name="T93" fmla="*/ 2025 h 2552"/>
              <a:gd name="T94" fmla="*/ 12 w 12"/>
              <a:gd name="T95" fmla="*/ 2073 h 2552"/>
              <a:gd name="T96" fmla="*/ 12 w 12"/>
              <a:gd name="T97" fmla="*/ 2109 h 2552"/>
              <a:gd name="T98" fmla="*/ 12 w 12"/>
              <a:gd name="T99" fmla="*/ 2132 h 2552"/>
              <a:gd name="T100" fmla="*/ 0 w 12"/>
              <a:gd name="T101" fmla="*/ 2180 h 2552"/>
              <a:gd name="T102" fmla="*/ 0 w 12"/>
              <a:gd name="T103" fmla="*/ 2240 h 2552"/>
              <a:gd name="T104" fmla="*/ 12 w 12"/>
              <a:gd name="T105" fmla="*/ 2288 h 2552"/>
              <a:gd name="T106" fmla="*/ 12 w 12"/>
              <a:gd name="T107" fmla="*/ 2324 h 2552"/>
              <a:gd name="T108" fmla="*/ 12 w 12"/>
              <a:gd name="T109" fmla="*/ 2348 h 2552"/>
              <a:gd name="T110" fmla="*/ 0 w 12"/>
              <a:gd name="T111" fmla="*/ 2396 h 2552"/>
              <a:gd name="T112" fmla="*/ 0 w 12"/>
              <a:gd name="T113" fmla="*/ 2456 h 2552"/>
              <a:gd name="T114" fmla="*/ 12 w 12"/>
              <a:gd name="T115" fmla="*/ 2504 h 2552"/>
              <a:gd name="T116" fmla="*/ 12 w 12"/>
              <a:gd name="T117" fmla="*/ 2540 h 25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12" h="2552">
                <a:moveTo>
                  <a:pt x="12" y="0"/>
                </a:moveTo>
                <a:lnTo>
                  <a:pt x="12" y="12"/>
                </a:lnTo>
                <a:lnTo>
                  <a:pt x="0" y="12"/>
                </a:lnTo>
                <a:lnTo>
                  <a:pt x="0" y="0"/>
                </a:lnTo>
                <a:lnTo>
                  <a:pt x="12" y="0"/>
                </a:lnTo>
                <a:close/>
                <a:moveTo>
                  <a:pt x="12" y="24"/>
                </a:moveTo>
                <a:lnTo>
                  <a:pt x="12" y="36"/>
                </a:lnTo>
                <a:lnTo>
                  <a:pt x="0" y="36"/>
                </a:lnTo>
                <a:lnTo>
                  <a:pt x="0" y="24"/>
                </a:lnTo>
                <a:lnTo>
                  <a:pt x="12" y="24"/>
                </a:lnTo>
                <a:close/>
                <a:moveTo>
                  <a:pt x="12" y="48"/>
                </a:moveTo>
                <a:lnTo>
                  <a:pt x="12" y="60"/>
                </a:lnTo>
                <a:lnTo>
                  <a:pt x="0" y="60"/>
                </a:lnTo>
                <a:lnTo>
                  <a:pt x="0" y="48"/>
                </a:lnTo>
                <a:lnTo>
                  <a:pt x="12" y="48"/>
                </a:lnTo>
                <a:close/>
                <a:moveTo>
                  <a:pt x="12" y="72"/>
                </a:moveTo>
                <a:lnTo>
                  <a:pt x="12" y="84"/>
                </a:lnTo>
                <a:lnTo>
                  <a:pt x="0" y="84"/>
                </a:lnTo>
                <a:lnTo>
                  <a:pt x="0" y="72"/>
                </a:lnTo>
                <a:lnTo>
                  <a:pt x="12" y="72"/>
                </a:lnTo>
                <a:close/>
                <a:moveTo>
                  <a:pt x="12" y="96"/>
                </a:moveTo>
                <a:lnTo>
                  <a:pt x="12" y="108"/>
                </a:lnTo>
                <a:lnTo>
                  <a:pt x="0" y="108"/>
                </a:lnTo>
                <a:lnTo>
                  <a:pt x="0" y="96"/>
                </a:lnTo>
                <a:lnTo>
                  <a:pt x="12" y="96"/>
                </a:lnTo>
                <a:close/>
                <a:moveTo>
                  <a:pt x="12" y="120"/>
                </a:moveTo>
                <a:lnTo>
                  <a:pt x="12" y="132"/>
                </a:lnTo>
                <a:lnTo>
                  <a:pt x="0" y="132"/>
                </a:lnTo>
                <a:lnTo>
                  <a:pt x="0" y="120"/>
                </a:lnTo>
                <a:lnTo>
                  <a:pt x="12" y="120"/>
                </a:lnTo>
                <a:close/>
                <a:moveTo>
                  <a:pt x="12" y="144"/>
                </a:moveTo>
                <a:lnTo>
                  <a:pt x="12" y="156"/>
                </a:lnTo>
                <a:lnTo>
                  <a:pt x="0" y="156"/>
                </a:lnTo>
                <a:lnTo>
                  <a:pt x="0" y="144"/>
                </a:lnTo>
                <a:lnTo>
                  <a:pt x="12" y="144"/>
                </a:lnTo>
                <a:close/>
                <a:moveTo>
                  <a:pt x="12" y="168"/>
                </a:moveTo>
                <a:lnTo>
                  <a:pt x="12" y="180"/>
                </a:lnTo>
                <a:lnTo>
                  <a:pt x="0" y="180"/>
                </a:lnTo>
                <a:lnTo>
                  <a:pt x="0" y="168"/>
                </a:lnTo>
                <a:lnTo>
                  <a:pt x="12" y="168"/>
                </a:lnTo>
                <a:close/>
                <a:moveTo>
                  <a:pt x="12" y="192"/>
                </a:moveTo>
                <a:lnTo>
                  <a:pt x="12" y="204"/>
                </a:lnTo>
                <a:lnTo>
                  <a:pt x="0" y="204"/>
                </a:lnTo>
                <a:lnTo>
                  <a:pt x="0" y="192"/>
                </a:lnTo>
                <a:lnTo>
                  <a:pt x="12" y="192"/>
                </a:lnTo>
                <a:close/>
                <a:moveTo>
                  <a:pt x="12" y="216"/>
                </a:moveTo>
                <a:lnTo>
                  <a:pt x="12" y="228"/>
                </a:lnTo>
                <a:lnTo>
                  <a:pt x="0" y="228"/>
                </a:lnTo>
                <a:lnTo>
                  <a:pt x="0" y="216"/>
                </a:lnTo>
                <a:lnTo>
                  <a:pt x="12" y="216"/>
                </a:lnTo>
                <a:close/>
                <a:moveTo>
                  <a:pt x="12" y="240"/>
                </a:moveTo>
                <a:lnTo>
                  <a:pt x="12" y="252"/>
                </a:lnTo>
                <a:lnTo>
                  <a:pt x="0" y="252"/>
                </a:lnTo>
                <a:lnTo>
                  <a:pt x="0" y="240"/>
                </a:lnTo>
                <a:lnTo>
                  <a:pt x="12" y="240"/>
                </a:lnTo>
                <a:close/>
                <a:moveTo>
                  <a:pt x="12" y="264"/>
                </a:moveTo>
                <a:lnTo>
                  <a:pt x="12" y="276"/>
                </a:lnTo>
                <a:lnTo>
                  <a:pt x="0" y="276"/>
                </a:lnTo>
                <a:lnTo>
                  <a:pt x="0" y="264"/>
                </a:lnTo>
                <a:lnTo>
                  <a:pt x="12" y="264"/>
                </a:lnTo>
                <a:close/>
                <a:moveTo>
                  <a:pt x="12" y="288"/>
                </a:moveTo>
                <a:lnTo>
                  <a:pt x="12" y="300"/>
                </a:lnTo>
                <a:lnTo>
                  <a:pt x="0" y="300"/>
                </a:lnTo>
                <a:lnTo>
                  <a:pt x="0" y="288"/>
                </a:lnTo>
                <a:lnTo>
                  <a:pt x="12" y="288"/>
                </a:lnTo>
                <a:close/>
                <a:moveTo>
                  <a:pt x="12" y="312"/>
                </a:moveTo>
                <a:lnTo>
                  <a:pt x="12" y="324"/>
                </a:lnTo>
                <a:lnTo>
                  <a:pt x="0" y="324"/>
                </a:lnTo>
                <a:lnTo>
                  <a:pt x="0" y="312"/>
                </a:lnTo>
                <a:lnTo>
                  <a:pt x="12" y="312"/>
                </a:lnTo>
                <a:close/>
                <a:moveTo>
                  <a:pt x="12" y="336"/>
                </a:moveTo>
                <a:lnTo>
                  <a:pt x="12" y="348"/>
                </a:lnTo>
                <a:lnTo>
                  <a:pt x="0" y="348"/>
                </a:lnTo>
                <a:lnTo>
                  <a:pt x="0" y="336"/>
                </a:lnTo>
                <a:lnTo>
                  <a:pt x="12" y="336"/>
                </a:lnTo>
                <a:close/>
                <a:moveTo>
                  <a:pt x="12" y="360"/>
                </a:moveTo>
                <a:lnTo>
                  <a:pt x="12" y="372"/>
                </a:lnTo>
                <a:lnTo>
                  <a:pt x="0" y="372"/>
                </a:lnTo>
                <a:lnTo>
                  <a:pt x="0" y="360"/>
                </a:lnTo>
                <a:lnTo>
                  <a:pt x="12" y="360"/>
                </a:lnTo>
                <a:close/>
                <a:moveTo>
                  <a:pt x="12" y="384"/>
                </a:moveTo>
                <a:lnTo>
                  <a:pt x="12" y="396"/>
                </a:lnTo>
                <a:lnTo>
                  <a:pt x="0" y="396"/>
                </a:lnTo>
                <a:lnTo>
                  <a:pt x="0" y="384"/>
                </a:lnTo>
                <a:lnTo>
                  <a:pt x="12" y="384"/>
                </a:lnTo>
                <a:close/>
                <a:moveTo>
                  <a:pt x="12" y="408"/>
                </a:moveTo>
                <a:lnTo>
                  <a:pt x="12" y="420"/>
                </a:lnTo>
                <a:lnTo>
                  <a:pt x="0" y="420"/>
                </a:lnTo>
                <a:lnTo>
                  <a:pt x="0" y="408"/>
                </a:lnTo>
                <a:lnTo>
                  <a:pt x="12" y="408"/>
                </a:lnTo>
                <a:close/>
                <a:moveTo>
                  <a:pt x="12" y="431"/>
                </a:moveTo>
                <a:lnTo>
                  <a:pt x="12" y="444"/>
                </a:lnTo>
                <a:lnTo>
                  <a:pt x="0" y="444"/>
                </a:lnTo>
                <a:lnTo>
                  <a:pt x="0" y="431"/>
                </a:lnTo>
                <a:lnTo>
                  <a:pt x="12" y="431"/>
                </a:lnTo>
                <a:close/>
                <a:moveTo>
                  <a:pt x="12" y="456"/>
                </a:moveTo>
                <a:lnTo>
                  <a:pt x="12" y="467"/>
                </a:lnTo>
                <a:lnTo>
                  <a:pt x="0" y="467"/>
                </a:lnTo>
                <a:lnTo>
                  <a:pt x="0" y="456"/>
                </a:lnTo>
                <a:lnTo>
                  <a:pt x="12" y="456"/>
                </a:lnTo>
                <a:close/>
                <a:moveTo>
                  <a:pt x="12" y="479"/>
                </a:moveTo>
                <a:lnTo>
                  <a:pt x="12" y="492"/>
                </a:lnTo>
                <a:lnTo>
                  <a:pt x="0" y="492"/>
                </a:lnTo>
                <a:lnTo>
                  <a:pt x="0" y="479"/>
                </a:lnTo>
                <a:lnTo>
                  <a:pt x="12" y="479"/>
                </a:lnTo>
                <a:close/>
                <a:moveTo>
                  <a:pt x="12" y="503"/>
                </a:moveTo>
                <a:lnTo>
                  <a:pt x="12" y="515"/>
                </a:lnTo>
                <a:lnTo>
                  <a:pt x="0" y="515"/>
                </a:lnTo>
                <a:lnTo>
                  <a:pt x="0" y="503"/>
                </a:lnTo>
                <a:lnTo>
                  <a:pt x="12" y="503"/>
                </a:lnTo>
                <a:close/>
                <a:moveTo>
                  <a:pt x="12" y="527"/>
                </a:moveTo>
                <a:lnTo>
                  <a:pt x="12" y="539"/>
                </a:lnTo>
                <a:lnTo>
                  <a:pt x="0" y="539"/>
                </a:lnTo>
                <a:lnTo>
                  <a:pt x="0" y="527"/>
                </a:lnTo>
                <a:lnTo>
                  <a:pt x="12" y="527"/>
                </a:lnTo>
                <a:close/>
                <a:moveTo>
                  <a:pt x="12" y="551"/>
                </a:moveTo>
                <a:lnTo>
                  <a:pt x="12" y="563"/>
                </a:lnTo>
                <a:lnTo>
                  <a:pt x="0" y="563"/>
                </a:lnTo>
                <a:lnTo>
                  <a:pt x="0" y="551"/>
                </a:lnTo>
                <a:lnTo>
                  <a:pt x="12" y="551"/>
                </a:lnTo>
                <a:close/>
                <a:moveTo>
                  <a:pt x="12" y="575"/>
                </a:moveTo>
                <a:lnTo>
                  <a:pt x="12" y="587"/>
                </a:lnTo>
                <a:lnTo>
                  <a:pt x="0" y="587"/>
                </a:lnTo>
                <a:lnTo>
                  <a:pt x="0" y="575"/>
                </a:lnTo>
                <a:lnTo>
                  <a:pt x="12" y="575"/>
                </a:lnTo>
                <a:close/>
                <a:moveTo>
                  <a:pt x="12" y="599"/>
                </a:moveTo>
                <a:lnTo>
                  <a:pt x="12" y="611"/>
                </a:lnTo>
                <a:lnTo>
                  <a:pt x="0" y="611"/>
                </a:lnTo>
                <a:lnTo>
                  <a:pt x="0" y="599"/>
                </a:lnTo>
                <a:lnTo>
                  <a:pt x="12" y="599"/>
                </a:lnTo>
                <a:close/>
                <a:moveTo>
                  <a:pt x="12" y="623"/>
                </a:moveTo>
                <a:lnTo>
                  <a:pt x="12" y="635"/>
                </a:lnTo>
                <a:lnTo>
                  <a:pt x="0" y="635"/>
                </a:lnTo>
                <a:lnTo>
                  <a:pt x="0" y="623"/>
                </a:lnTo>
                <a:lnTo>
                  <a:pt x="12" y="623"/>
                </a:lnTo>
                <a:close/>
                <a:moveTo>
                  <a:pt x="12" y="647"/>
                </a:moveTo>
                <a:lnTo>
                  <a:pt x="12" y="659"/>
                </a:lnTo>
                <a:lnTo>
                  <a:pt x="0" y="659"/>
                </a:lnTo>
                <a:lnTo>
                  <a:pt x="0" y="647"/>
                </a:lnTo>
                <a:lnTo>
                  <a:pt x="12" y="647"/>
                </a:lnTo>
                <a:close/>
                <a:moveTo>
                  <a:pt x="12" y="671"/>
                </a:moveTo>
                <a:lnTo>
                  <a:pt x="12" y="683"/>
                </a:lnTo>
                <a:lnTo>
                  <a:pt x="0" y="683"/>
                </a:lnTo>
                <a:lnTo>
                  <a:pt x="0" y="671"/>
                </a:lnTo>
                <a:lnTo>
                  <a:pt x="12" y="671"/>
                </a:lnTo>
                <a:close/>
                <a:moveTo>
                  <a:pt x="12" y="695"/>
                </a:moveTo>
                <a:lnTo>
                  <a:pt x="12" y="707"/>
                </a:lnTo>
                <a:lnTo>
                  <a:pt x="0" y="707"/>
                </a:lnTo>
                <a:lnTo>
                  <a:pt x="0" y="695"/>
                </a:lnTo>
                <a:lnTo>
                  <a:pt x="12" y="695"/>
                </a:lnTo>
                <a:close/>
                <a:moveTo>
                  <a:pt x="12" y="719"/>
                </a:moveTo>
                <a:lnTo>
                  <a:pt x="12" y="731"/>
                </a:lnTo>
                <a:lnTo>
                  <a:pt x="0" y="731"/>
                </a:lnTo>
                <a:lnTo>
                  <a:pt x="0" y="719"/>
                </a:lnTo>
                <a:lnTo>
                  <a:pt x="12" y="719"/>
                </a:lnTo>
                <a:close/>
                <a:moveTo>
                  <a:pt x="12" y="743"/>
                </a:moveTo>
                <a:lnTo>
                  <a:pt x="12" y="755"/>
                </a:lnTo>
                <a:lnTo>
                  <a:pt x="0" y="755"/>
                </a:lnTo>
                <a:lnTo>
                  <a:pt x="0" y="743"/>
                </a:lnTo>
                <a:lnTo>
                  <a:pt x="12" y="743"/>
                </a:lnTo>
                <a:close/>
                <a:moveTo>
                  <a:pt x="12" y="767"/>
                </a:moveTo>
                <a:lnTo>
                  <a:pt x="12" y="779"/>
                </a:lnTo>
                <a:lnTo>
                  <a:pt x="0" y="779"/>
                </a:lnTo>
                <a:lnTo>
                  <a:pt x="0" y="767"/>
                </a:lnTo>
                <a:lnTo>
                  <a:pt x="12" y="767"/>
                </a:lnTo>
                <a:close/>
                <a:moveTo>
                  <a:pt x="12" y="791"/>
                </a:moveTo>
                <a:lnTo>
                  <a:pt x="12" y="803"/>
                </a:lnTo>
                <a:lnTo>
                  <a:pt x="0" y="803"/>
                </a:lnTo>
                <a:lnTo>
                  <a:pt x="0" y="791"/>
                </a:lnTo>
                <a:lnTo>
                  <a:pt x="12" y="791"/>
                </a:lnTo>
                <a:close/>
                <a:moveTo>
                  <a:pt x="12" y="815"/>
                </a:moveTo>
                <a:lnTo>
                  <a:pt x="12" y="827"/>
                </a:lnTo>
                <a:lnTo>
                  <a:pt x="0" y="827"/>
                </a:lnTo>
                <a:lnTo>
                  <a:pt x="0" y="815"/>
                </a:lnTo>
                <a:lnTo>
                  <a:pt x="12" y="815"/>
                </a:lnTo>
                <a:close/>
                <a:moveTo>
                  <a:pt x="12" y="839"/>
                </a:moveTo>
                <a:lnTo>
                  <a:pt x="12" y="851"/>
                </a:lnTo>
                <a:lnTo>
                  <a:pt x="0" y="851"/>
                </a:lnTo>
                <a:lnTo>
                  <a:pt x="0" y="839"/>
                </a:lnTo>
                <a:lnTo>
                  <a:pt x="12" y="839"/>
                </a:lnTo>
                <a:close/>
                <a:moveTo>
                  <a:pt x="12" y="863"/>
                </a:moveTo>
                <a:lnTo>
                  <a:pt x="12" y="875"/>
                </a:lnTo>
                <a:lnTo>
                  <a:pt x="0" y="875"/>
                </a:lnTo>
                <a:lnTo>
                  <a:pt x="0" y="863"/>
                </a:lnTo>
                <a:lnTo>
                  <a:pt x="12" y="863"/>
                </a:lnTo>
                <a:close/>
                <a:moveTo>
                  <a:pt x="12" y="887"/>
                </a:moveTo>
                <a:lnTo>
                  <a:pt x="12" y="899"/>
                </a:lnTo>
                <a:lnTo>
                  <a:pt x="0" y="899"/>
                </a:lnTo>
                <a:lnTo>
                  <a:pt x="0" y="887"/>
                </a:lnTo>
                <a:lnTo>
                  <a:pt x="12" y="887"/>
                </a:lnTo>
                <a:close/>
                <a:moveTo>
                  <a:pt x="12" y="911"/>
                </a:moveTo>
                <a:lnTo>
                  <a:pt x="12" y="923"/>
                </a:lnTo>
                <a:lnTo>
                  <a:pt x="0" y="923"/>
                </a:lnTo>
                <a:lnTo>
                  <a:pt x="0" y="911"/>
                </a:lnTo>
                <a:lnTo>
                  <a:pt x="12" y="911"/>
                </a:lnTo>
                <a:close/>
                <a:moveTo>
                  <a:pt x="12" y="935"/>
                </a:moveTo>
                <a:lnTo>
                  <a:pt x="12" y="947"/>
                </a:lnTo>
                <a:lnTo>
                  <a:pt x="0" y="947"/>
                </a:lnTo>
                <a:lnTo>
                  <a:pt x="0" y="935"/>
                </a:lnTo>
                <a:lnTo>
                  <a:pt x="12" y="935"/>
                </a:lnTo>
                <a:close/>
                <a:moveTo>
                  <a:pt x="12" y="959"/>
                </a:moveTo>
                <a:lnTo>
                  <a:pt x="12" y="970"/>
                </a:lnTo>
                <a:lnTo>
                  <a:pt x="0" y="970"/>
                </a:lnTo>
                <a:lnTo>
                  <a:pt x="0" y="959"/>
                </a:lnTo>
                <a:lnTo>
                  <a:pt x="12" y="959"/>
                </a:lnTo>
                <a:close/>
                <a:moveTo>
                  <a:pt x="12" y="983"/>
                </a:moveTo>
                <a:lnTo>
                  <a:pt x="12" y="995"/>
                </a:lnTo>
                <a:lnTo>
                  <a:pt x="0" y="995"/>
                </a:lnTo>
                <a:lnTo>
                  <a:pt x="0" y="983"/>
                </a:lnTo>
                <a:lnTo>
                  <a:pt x="12" y="983"/>
                </a:lnTo>
                <a:close/>
                <a:moveTo>
                  <a:pt x="12" y="1006"/>
                </a:moveTo>
                <a:lnTo>
                  <a:pt x="12" y="1018"/>
                </a:lnTo>
                <a:lnTo>
                  <a:pt x="0" y="1018"/>
                </a:lnTo>
                <a:lnTo>
                  <a:pt x="0" y="1006"/>
                </a:lnTo>
                <a:lnTo>
                  <a:pt x="12" y="1006"/>
                </a:lnTo>
                <a:close/>
                <a:moveTo>
                  <a:pt x="12" y="1031"/>
                </a:moveTo>
                <a:lnTo>
                  <a:pt x="12" y="1042"/>
                </a:lnTo>
                <a:lnTo>
                  <a:pt x="0" y="1042"/>
                </a:lnTo>
                <a:lnTo>
                  <a:pt x="0" y="1031"/>
                </a:lnTo>
                <a:lnTo>
                  <a:pt x="12" y="1031"/>
                </a:lnTo>
                <a:close/>
                <a:moveTo>
                  <a:pt x="12" y="1054"/>
                </a:moveTo>
                <a:lnTo>
                  <a:pt x="12" y="1066"/>
                </a:lnTo>
                <a:lnTo>
                  <a:pt x="0" y="1066"/>
                </a:lnTo>
                <a:lnTo>
                  <a:pt x="0" y="1054"/>
                </a:lnTo>
                <a:lnTo>
                  <a:pt x="12" y="1054"/>
                </a:lnTo>
                <a:close/>
                <a:moveTo>
                  <a:pt x="12" y="1078"/>
                </a:moveTo>
                <a:lnTo>
                  <a:pt x="12" y="1090"/>
                </a:lnTo>
                <a:lnTo>
                  <a:pt x="0" y="1090"/>
                </a:lnTo>
                <a:lnTo>
                  <a:pt x="0" y="1078"/>
                </a:lnTo>
                <a:lnTo>
                  <a:pt x="12" y="1078"/>
                </a:lnTo>
                <a:close/>
                <a:moveTo>
                  <a:pt x="12" y="1102"/>
                </a:moveTo>
                <a:lnTo>
                  <a:pt x="12" y="1114"/>
                </a:lnTo>
                <a:lnTo>
                  <a:pt x="0" y="1114"/>
                </a:lnTo>
                <a:lnTo>
                  <a:pt x="0" y="1102"/>
                </a:lnTo>
                <a:lnTo>
                  <a:pt x="12" y="1102"/>
                </a:lnTo>
                <a:close/>
                <a:moveTo>
                  <a:pt x="12" y="1126"/>
                </a:moveTo>
                <a:lnTo>
                  <a:pt x="12" y="1138"/>
                </a:lnTo>
                <a:lnTo>
                  <a:pt x="0" y="1138"/>
                </a:lnTo>
                <a:lnTo>
                  <a:pt x="0" y="1126"/>
                </a:lnTo>
                <a:lnTo>
                  <a:pt x="12" y="1126"/>
                </a:lnTo>
                <a:close/>
                <a:moveTo>
                  <a:pt x="12" y="1150"/>
                </a:moveTo>
                <a:lnTo>
                  <a:pt x="12" y="1162"/>
                </a:lnTo>
                <a:lnTo>
                  <a:pt x="0" y="1162"/>
                </a:lnTo>
                <a:lnTo>
                  <a:pt x="0" y="1150"/>
                </a:lnTo>
                <a:lnTo>
                  <a:pt x="12" y="1150"/>
                </a:lnTo>
                <a:close/>
                <a:moveTo>
                  <a:pt x="12" y="1174"/>
                </a:moveTo>
                <a:lnTo>
                  <a:pt x="12" y="1186"/>
                </a:lnTo>
                <a:lnTo>
                  <a:pt x="0" y="1186"/>
                </a:lnTo>
                <a:lnTo>
                  <a:pt x="0" y="1174"/>
                </a:lnTo>
                <a:lnTo>
                  <a:pt x="12" y="1174"/>
                </a:lnTo>
                <a:close/>
                <a:moveTo>
                  <a:pt x="12" y="1198"/>
                </a:moveTo>
                <a:lnTo>
                  <a:pt x="12" y="1210"/>
                </a:lnTo>
                <a:lnTo>
                  <a:pt x="0" y="1210"/>
                </a:lnTo>
                <a:lnTo>
                  <a:pt x="0" y="1198"/>
                </a:lnTo>
                <a:lnTo>
                  <a:pt x="12" y="1198"/>
                </a:lnTo>
                <a:close/>
                <a:moveTo>
                  <a:pt x="12" y="1222"/>
                </a:moveTo>
                <a:lnTo>
                  <a:pt x="12" y="1234"/>
                </a:lnTo>
                <a:lnTo>
                  <a:pt x="0" y="1234"/>
                </a:lnTo>
                <a:lnTo>
                  <a:pt x="0" y="1222"/>
                </a:lnTo>
                <a:lnTo>
                  <a:pt x="12" y="1222"/>
                </a:lnTo>
                <a:close/>
                <a:moveTo>
                  <a:pt x="12" y="1246"/>
                </a:moveTo>
                <a:lnTo>
                  <a:pt x="12" y="1258"/>
                </a:lnTo>
                <a:lnTo>
                  <a:pt x="0" y="1258"/>
                </a:lnTo>
                <a:lnTo>
                  <a:pt x="0" y="1246"/>
                </a:lnTo>
                <a:lnTo>
                  <a:pt x="12" y="1246"/>
                </a:lnTo>
                <a:close/>
                <a:moveTo>
                  <a:pt x="12" y="1270"/>
                </a:moveTo>
                <a:lnTo>
                  <a:pt x="12" y="1282"/>
                </a:lnTo>
                <a:lnTo>
                  <a:pt x="0" y="1282"/>
                </a:lnTo>
                <a:lnTo>
                  <a:pt x="0" y="1270"/>
                </a:lnTo>
                <a:lnTo>
                  <a:pt x="12" y="1270"/>
                </a:lnTo>
                <a:close/>
                <a:moveTo>
                  <a:pt x="12" y="1294"/>
                </a:moveTo>
                <a:lnTo>
                  <a:pt x="12" y="1306"/>
                </a:lnTo>
                <a:lnTo>
                  <a:pt x="0" y="1306"/>
                </a:lnTo>
                <a:lnTo>
                  <a:pt x="0" y="1294"/>
                </a:lnTo>
                <a:lnTo>
                  <a:pt x="12" y="1294"/>
                </a:lnTo>
                <a:close/>
                <a:moveTo>
                  <a:pt x="12" y="1318"/>
                </a:moveTo>
                <a:lnTo>
                  <a:pt x="12" y="1330"/>
                </a:lnTo>
                <a:lnTo>
                  <a:pt x="0" y="1330"/>
                </a:lnTo>
                <a:lnTo>
                  <a:pt x="0" y="1318"/>
                </a:lnTo>
                <a:lnTo>
                  <a:pt x="12" y="1318"/>
                </a:lnTo>
                <a:close/>
                <a:moveTo>
                  <a:pt x="12" y="1342"/>
                </a:moveTo>
                <a:lnTo>
                  <a:pt x="12" y="1354"/>
                </a:lnTo>
                <a:lnTo>
                  <a:pt x="0" y="1354"/>
                </a:lnTo>
                <a:lnTo>
                  <a:pt x="0" y="1342"/>
                </a:lnTo>
                <a:lnTo>
                  <a:pt x="12" y="1342"/>
                </a:lnTo>
                <a:close/>
                <a:moveTo>
                  <a:pt x="12" y="1366"/>
                </a:moveTo>
                <a:lnTo>
                  <a:pt x="12" y="1378"/>
                </a:lnTo>
                <a:lnTo>
                  <a:pt x="0" y="1378"/>
                </a:lnTo>
                <a:lnTo>
                  <a:pt x="0" y="1366"/>
                </a:lnTo>
                <a:lnTo>
                  <a:pt x="12" y="1366"/>
                </a:lnTo>
                <a:close/>
                <a:moveTo>
                  <a:pt x="12" y="1390"/>
                </a:moveTo>
                <a:lnTo>
                  <a:pt x="12" y="1402"/>
                </a:lnTo>
                <a:lnTo>
                  <a:pt x="0" y="1402"/>
                </a:lnTo>
                <a:lnTo>
                  <a:pt x="0" y="1390"/>
                </a:lnTo>
                <a:lnTo>
                  <a:pt x="12" y="1390"/>
                </a:lnTo>
                <a:close/>
                <a:moveTo>
                  <a:pt x="12" y="1414"/>
                </a:moveTo>
                <a:lnTo>
                  <a:pt x="12" y="1426"/>
                </a:lnTo>
                <a:lnTo>
                  <a:pt x="0" y="1426"/>
                </a:lnTo>
                <a:lnTo>
                  <a:pt x="0" y="1414"/>
                </a:lnTo>
                <a:lnTo>
                  <a:pt x="12" y="1414"/>
                </a:lnTo>
                <a:close/>
                <a:moveTo>
                  <a:pt x="12" y="1438"/>
                </a:moveTo>
                <a:lnTo>
                  <a:pt x="12" y="1450"/>
                </a:lnTo>
                <a:lnTo>
                  <a:pt x="0" y="1450"/>
                </a:lnTo>
                <a:lnTo>
                  <a:pt x="0" y="1438"/>
                </a:lnTo>
                <a:lnTo>
                  <a:pt x="12" y="1438"/>
                </a:lnTo>
                <a:close/>
                <a:moveTo>
                  <a:pt x="12" y="1462"/>
                </a:moveTo>
                <a:lnTo>
                  <a:pt x="12" y="1474"/>
                </a:lnTo>
                <a:lnTo>
                  <a:pt x="0" y="1474"/>
                </a:lnTo>
                <a:lnTo>
                  <a:pt x="0" y="1462"/>
                </a:lnTo>
                <a:lnTo>
                  <a:pt x="12" y="1462"/>
                </a:lnTo>
                <a:close/>
                <a:moveTo>
                  <a:pt x="12" y="1486"/>
                </a:moveTo>
                <a:lnTo>
                  <a:pt x="12" y="1498"/>
                </a:lnTo>
                <a:lnTo>
                  <a:pt x="0" y="1498"/>
                </a:lnTo>
                <a:lnTo>
                  <a:pt x="0" y="1486"/>
                </a:lnTo>
                <a:lnTo>
                  <a:pt x="12" y="1486"/>
                </a:lnTo>
                <a:close/>
                <a:moveTo>
                  <a:pt x="12" y="1509"/>
                </a:moveTo>
                <a:lnTo>
                  <a:pt x="12" y="1522"/>
                </a:lnTo>
                <a:lnTo>
                  <a:pt x="0" y="1522"/>
                </a:lnTo>
                <a:lnTo>
                  <a:pt x="0" y="1509"/>
                </a:lnTo>
                <a:lnTo>
                  <a:pt x="12" y="1509"/>
                </a:lnTo>
                <a:close/>
                <a:moveTo>
                  <a:pt x="12" y="1534"/>
                </a:moveTo>
                <a:lnTo>
                  <a:pt x="12" y="1545"/>
                </a:lnTo>
                <a:lnTo>
                  <a:pt x="0" y="1545"/>
                </a:lnTo>
                <a:lnTo>
                  <a:pt x="0" y="1534"/>
                </a:lnTo>
                <a:lnTo>
                  <a:pt x="12" y="1534"/>
                </a:lnTo>
                <a:close/>
                <a:moveTo>
                  <a:pt x="12" y="1557"/>
                </a:moveTo>
                <a:lnTo>
                  <a:pt x="12" y="1570"/>
                </a:lnTo>
                <a:lnTo>
                  <a:pt x="0" y="1570"/>
                </a:lnTo>
                <a:lnTo>
                  <a:pt x="0" y="1557"/>
                </a:lnTo>
                <a:lnTo>
                  <a:pt x="12" y="1557"/>
                </a:lnTo>
                <a:close/>
                <a:moveTo>
                  <a:pt x="12" y="1581"/>
                </a:moveTo>
                <a:lnTo>
                  <a:pt x="12" y="1593"/>
                </a:lnTo>
                <a:lnTo>
                  <a:pt x="0" y="1593"/>
                </a:lnTo>
                <a:lnTo>
                  <a:pt x="0" y="1581"/>
                </a:lnTo>
                <a:lnTo>
                  <a:pt x="12" y="1581"/>
                </a:lnTo>
                <a:close/>
                <a:moveTo>
                  <a:pt x="12" y="1605"/>
                </a:moveTo>
                <a:lnTo>
                  <a:pt x="12" y="1617"/>
                </a:lnTo>
                <a:lnTo>
                  <a:pt x="0" y="1617"/>
                </a:lnTo>
                <a:lnTo>
                  <a:pt x="0" y="1605"/>
                </a:lnTo>
                <a:lnTo>
                  <a:pt x="12" y="1605"/>
                </a:lnTo>
                <a:close/>
                <a:moveTo>
                  <a:pt x="12" y="1629"/>
                </a:moveTo>
                <a:lnTo>
                  <a:pt x="12" y="1641"/>
                </a:lnTo>
                <a:lnTo>
                  <a:pt x="0" y="1641"/>
                </a:lnTo>
                <a:lnTo>
                  <a:pt x="0" y="1629"/>
                </a:lnTo>
                <a:lnTo>
                  <a:pt x="12" y="1629"/>
                </a:lnTo>
                <a:close/>
                <a:moveTo>
                  <a:pt x="12" y="1653"/>
                </a:moveTo>
                <a:lnTo>
                  <a:pt x="12" y="1665"/>
                </a:lnTo>
                <a:lnTo>
                  <a:pt x="0" y="1665"/>
                </a:lnTo>
                <a:lnTo>
                  <a:pt x="0" y="1653"/>
                </a:lnTo>
                <a:lnTo>
                  <a:pt x="12" y="1653"/>
                </a:lnTo>
                <a:close/>
                <a:moveTo>
                  <a:pt x="12" y="1677"/>
                </a:moveTo>
                <a:lnTo>
                  <a:pt x="12" y="1689"/>
                </a:lnTo>
                <a:lnTo>
                  <a:pt x="0" y="1689"/>
                </a:lnTo>
                <a:lnTo>
                  <a:pt x="0" y="1677"/>
                </a:lnTo>
                <a:lnTo>
                  <a:pt x="12" y="1677"/>
                </a:lnTo>
                <a:close/>
                <a:moveTo>
                  <a:pt x="12" y="1701"/>
                </a:moveTo>
                <a:lnTo>
                  <a:pt x="12" y="1713"/>
                </a:lnTo>
                <a:lnTo>
                  <a:pt x="0" y="1713"/>
                </a:lnTo>
                <a:lnTo>
                  <a:pt x="0" y="1701"/>
                </a:lnTo>
                <a:lnTo>
                  <a:pt x="12" y="1701"/>
                </a:lnTo>
                <a:close/>
                <a:moveTo>
                  <a:pt x="12" y="1725"/>
                </a:moveTo>
                <a:lnTo>
                  <a:pt x="12" y="1737"/>
                </a:lnTo>
                <a:lnTo>
                  <a:pt x="0" y="1737"/>
                </a:lnTo>
                <a:lnTo>
                  <a:pt x="0" y="1725"/>
                </a:lnTo>
                <a:lnTo>
                  <a:pt x="12" y="1725"/>
                </a:lnTo>
                <a:close/>
                <a:moveTo>
                  <a:pt x="12" y="1749"/>
                </a:moveTo>
                <a:lnTo>
                  <a:pt x="12" y="1761"/>
                </a:lnTo>
                <a:lnTo>
                  <a:pt x="0" y="1761"/>
                </a:lnTo>
                <a:lnTo>
                  <a:pt x="0" y="1749"/>
                </a:lnTo>
                <a:lnTo>
                  <a:pt x="12" y="1749"/>
                </a:lnTo>
                <a:close/>
                <a:moveTo>
                  <a:pt x="12" y="1773"/>
                </a:moveTo>
                <a:lnTo>
                  <a:pt x="12" y="1785"/>
                </a:lnTo>
                <a:lnTo>
                  <a:pt x="0" y="1785"/>
                </a:lnTo>
                <a:lnTo>
                  <a:pt x="0" y="1773"/>
                </a:lnTo>
                <a:lnTo>
                  <a:pt x="12" y="1773"/>
                </a:lnTo>
                <a:close/>
                <a:moveTo>
                  <a:pt x="12" y="1797"/>
                </a:moveTo>
                <a:lnTo>
                  <a:pt x="12" y="1809"/>
                </a:lnTo>
                <a:lnTo>
                  <a:pt x="0" y="1809"/>
                </a:lnTo>
                <a:lnTo>
                  <a:pt x="0" y="1797"/>
                </a:lnTo>
                <a:lnTo>
                  <a:pt x="12" y="1797"/>
                </a:lnTo>
                <a:close/>
                <a:moveTo>
                  <a:pt x="12" y="1821"/>
                </a:moveTo>
                <a:lnTo>
                  <a:pt x="12" y="1833"/>
                </a:lnTo>
                <a:lnTo>
                  <a:pt x="0" y="1833"/>
                </a:lnTo>
                <a:lnTo>
                  <a:pt x="0" y="1821"/>
                </a:lnTo>
                <a:lnTo>
                  <a:pt x="12" y="1821"/>
                </a:lnTo>
                <a:close/>
                <a:moveTo>
                  <a:pt x="12" y="1845"/>
                </a:moveTo>
                <a:lnTo>
                  <a:pt x="12" y="1857"/>
                </a:lnTo>
                <a:lnTo>
                  <a:pt x="0" y="1857"/>
                </a:lnTo>
                <a:lnTo>
                  <a:pt x="0" y="1845"/>
                </a:lnTo>
                <a:lnTo>
                  <a:pt x="12" y="1845"/>
                </a:lnTo>
                <a:close/>
                <a:moveTo>
                  <a:pt x="12" y="1869"/>
                </a:moveTo>
                <a:lnTo>
                  <a:pt x="12" y="1881"/>
                </a:lnTo>
                <a:lnTo>
                  <a:pt x="0" y="1881"/>
                </a:lnTo>
                <a:lnTo>
                  <a:pt x="0" y="1869"/>
                </a:lnTo>
                <a:lnTo>
                  <a:pt x="12" y="1869"/>
                </a:lnTo>
                <a:close/>
                <a:moveTo>
                  <a:pt x="12" y="1893"/>
                </a:moveTo>
                <a:lnTo>
                  <a:pt x="12" y="1905"/>
                </a:lnTo>
                <a:lnTo>
                  <a:pt x="0" y="1905"/>
                </a:lnTo>
                <a:lnTo>
                  <a:pt x="0" y="1893"/>
                </a:lnTo>
                <a:lnTo>
                  <a:pt x="12" y="1893"/>
                </a:lnTo>
                <a:close/>
                <a:moveTo>
                  <a:pt x="12" y="1917"/>
                </a:moveTo>
                <a:lnTo>
                  <a:pt x="12" y="1929"/>
                </a:lnTo>
                <a:lnTo>
                  <a:pt x="0" y="1929"/>
                </a:lnTo>
                <a:lnTo>
                  <a:pt x="0" y="1917"/>
                </a:lnTo>
                <a:lnTo>
                  <a:pt x="12" y="1917"/>
                </a:lnTo>
                <a:close/>
                <a:moveTo>
                  <a:pt x="12" y="1941"/>
                </a:moveTo>
                <a:lnTo>
                  <a:pt x="12" y="1953"/>
                </a:lnTo>
                <a:lnTo>
                  <a:pt x="0" y="1953"/>
                </a:lnTo>
                <a:lnTo>
                  <a:pt x="0" y="1941"/>
                </a:lnTo>
                <a:lnTo>
                  <a:pt x="12" y="1941"/>
                </a:lnTo>
                <a:close/>
                <a:moveTo>
                  <a:pt x="12" y="1965"/>
                </a:moveTo>
                <a:lnTo>
                  <a:pt x="12" y="1977"/>
                </a:lnTo>
                <a:lnTo>
                  <a:pt x="0" y="1977"/>
                </a:lnTo>
                <a:lnTo>
                  <a:pt x="0" y="1965"/>
                </a:lnTo>
                <a:lnTo>
                  <a:pt x="12" y="1965"/>
                </a:lnTo>
                <a:close/>
                <a:moveTo>
                  <a:pt x="12" y="1989"/>
                </a:moveTo>
                <a:lnTo>
                  <a:pt x="12" y="2001"/>
                </a:lnTo>
                <a:lnTo>
                  <a:pt x="0" y="2001"/>
                </a:lnTo>
                <a:lnTo>
                  <a:pt x="0" y="1989"/>
                </a:lnTo>
                <a:lnTo>
                  <a:pt x="12" y="1989"/>
                </a:lnTo>
                <a:close/>
                <a:moveTo>
                  <a:pt x="12" y="2013"/>
                </a:moveTo>
                <a:lnTo>
                  <a:pt x="12" y="2025"/>
                </a:lnTo>
                <a:lnTo>
                  <a:pt x="0" y="2025"/>
                </a:lnTo>
                <a:lnTo>
                  <a:pt x="0" y="2013"/>
                </a:lnTo>
                <a:lnTo>
                  <a:pt x="12" y="2013"/>
                </a:lnTo>
                <a:close/>
                <a:moveTo>
                  <a:pt x="12" y="2037"/>
                </a:moveTo>
                <a:lnTo>
                  <a:pt x="12" y="2048"/>
                </a:lnTo>
                <a:lnTo>
                  <a:pt x="0" y="2048"/>
                </a:lnTo>
                <a:lnTo>
                  <a:pt x="0" y="2037"/>
                </a:lnTo>
                <a:lnTo>
                  <a:pt x="12" y="2037"/>
                </a:lnTo>
                <a:close/>
                <a:moveTo>
                  <a:pt x="12" y="2061"/>
                </a:moveTo>
                <a:lnTo>
                  <a:pt x="12" y="2073"/>
                </a:lnTo>
                <a:lnTo>
                  <a:pt x="0" y="2073"/>
                </a:lnTo>
                <a:lnTo>
                  <a:pt x="0" y="2061"/>
                </a:lnTo>
                <a:lnTo>
                  <a:pt x="12" y="2061"/>
                </a:lnTo>
                <a:close/>
                <a:moveTo>
                  <a:pt x="12" y="2084"/>
                </a:moveTo>
                <a:lnTo>
                  <a:pt x="12" y="2096"/>
                </a:lnTo>
                <a:lnTo>
                  <a:pt x="0" y="2096"/>
                </a:lnTo>
                <a:lnTo>
                  <a:pt x="0" y="2084"/>
                </a:lnTo>
                <a:lnTo>
                  <a:pt x="12" y="2084"/>
                </a:lnTo>
                <a:close/>
                <a:moveTo>
                  <a:pt x="12" y="2109"/>
                </a:moveTo>
                <a:lnTo>
                  <a:pt x="12" y="2120"/>
                </a:lnTo>
                <a:lnTo>
                  <a:pt x="0" y="2120"/>
                </a:lnTo>
                <a:lnTo>
                  <a:pt x="0" y="2109"/>
                </a:lnTo>
                <a:lnTo>
                  <a:pt x="12" y="2109"/>
                </a:lnTo>
                <a:close/>
                <a:moveTo>
                  <a:pt x="12" y="2132"/>
                </a:moveTo>
                <a:lnTo>
                  <a:pt x="12" y="2144"/>
                </a:lnTo>
                <a:lnTo>
                  <a:pt x="0" y="2144"/>
                </a:lnTo>
                <a:lnTo>
                  <a:pt x="0" y="2132"/>
                </a:lnTo>
                <a:lnTo>
                  <a:pt x="12" y="2132"/>
                </a:lnTo>
                <a:close/>
                <a:moveTo>
                  <a:pt x="12" y="2156"/>
                </a:moveTo>
                <a:lnTo>
                  <a:pt x="12" y="2168"/>
                </a:lnTo>
                <a:lnTo>
                  <a:pt x="0" y="2168"/>
                </a:lnTo>
                <a:lnTo>
                  <a:pt x="0" y="2156"/>
                </a:lnTo>
                <a:lnTo>
                  <a:pt x="12" y="2156"/>
                </a:lnTo>
                <a:close/>
                <a:moveTo>
                  <a:pt x="12" y="2180"/>
                </a:moveTo>
                <a:lnTo>
                  <a:pt x="12" y="2192"/>
                </a:lnTo>
                <a:lnTo>
                  <a:pt x="0" y="2192"/>
                </a:lnTo>
                <a:lnTo>
                  <a:pt x="0" y="2180"/>
                </a:lnTo>
                <a:lnTo>
                  <a:pt x="12" y="2180"/>
                </a:lnTo>
                <a:close/>
                <a:moveTo>
                  <a:pt x="12" y="2204"/>
                </a:moveTo>
                <a:lnTo>
                  <a:pt x="12" y="2216"/>
                </a:lnTo>
                <a:lnTo>
                  <a:pt x="0" y="2216"/>
                </a:lnTo>
                <a:lnTo>
                  <a:pt x="0" y="2204"/>
                </a:lnTo>
                <a:lnTo>
                  <a:pt x="12" y="2204"/>
                </a:lnTo>
                <a:close/>
                <a:moveTo>
                  <a:pt x="12" y="2228"/>
                </a:moveTo>
                <a:lnTo>
                  <a:pt x="12" y="2240"/>
                </a:lnTo>
                <a:lnTo>
                  <a:pt x="0" y="2240"/>
                </a:lnTo>
                <a:lnTo>
                  <a:pt x="0" y="2228"/>
                </a:lnTo>
                <a:lnTo>
                  <a:pt x="12" y="2228"/>
                </a:lnTo>
                <a:close/>
                <a:moveTo>
                  <a:pt x="12" y="2252"/>
                </a:moveTo>
                <a:lnTo>
                  <a:pt x="12" y="2264"/>
                </a:lnTo>
                <a:lnTo>
                  <a:pt x="0" y="2264"/>
                </a:lnTo>
                <a:lnTo>
                  <a:pt x="0" y="2252"/>
                </a:lnTo>
                <a:lnTo>
                  <a:pt x="12" y="2252"/>
                </a:lnTo>
                <a:close/>
                <a:moveTo>
                  <a:pt x="12" y="2276"/>
                </a:moveTo>
                <a:lnTo>
                  <a:pt x="12" y="2288"/>
                </a:lnTo>
                <a:lnTo>
                  <a:pt x="0" y="2288"/>
                </a:lnTo>
                <a:lnTo>
                  <a:pt x="0" y="2276"/>
                </a:lnTo>
                <a:lnTo>
                  <a:pt x="12" y="2276"/>
                </a:lnTo>
                <a:close/>
                <a:moveTo>
                  <a:pt x="12" y="2300"/>
                </a:moveTo>
                <a:lnTo>
                  <a:pt x="12" y="2312"/>
                </a:lnTo>
                <a:lnTo>
                  <a:pt x="0" y="2312"/>
                </a:lnTo>
                <a:lnTo>
                  <a:pt x="0" y="2300"/>
                </a:lnTo>
                <a:lnTo>
                  <a:pt x="12" y="2300"/>
                </a:lnTo>
                <a:close/>
                <a:moveTo>
                  <a:pt x="12" y="2324"/>
                </a:moveTo>
                <a:lnTo>
                  <a:pt x="12" y="2336"/>
                </a:lnTo>
                <a:lnTo>
                  <a:pt x="0" y="2336"/>
                </a:lnTo>
                <a:lnTo>
                  <a:pt x="0" y="2324"/>
                </a:lnTo>
                <a:lnTo>
                  <a:pt x="12" y="2324"/>
                </a:lnTo>
                <a:close/>
                <a:moveTo>
                  <a:pt x="12" y="2348"/>
                </a:moveTo>
                <a:lnTo>
                  <a:pt x="12" y="2360"/>
                </a:lnTo>
                <a:lnTo>
                  <a:pt x="0" y="2360"/>
                </a:lnTo>
                <a:lnTo>
                  <a:pt x="0" y="2348"/>
                </a:lnTo>
                <a:lnTo>
                  <a:pt x="12" y="2348"/>
                </a:lnTo>
                <a:close/>
                <a:moveTo>
                  <a:pt x="12" y="2372"/>
                </a:moveTo>
                <a:lnTo>
                  <a:pt x="12" y="2384"/>
                </a:lnTo>
                <a:lnTo>
                  <a:pt x="0" y="2384"/>
                </a:lnTo>
                <a:lnTo>
                  <a:pt x="0" y="2372"/>
                </a:lnTo>
                <a:lnTo>
                  <a:pt x="12" y="2372"/>
                </a:lnTo>
                <a:close/>
                <a:moveTo>
                  <a:pt x="12" y="2396"/>
                </a:moveTo>
                <a:lnTo>
                  <a:pt x="12" y="2408"/>
                </a:lnTo>
                <a:lnTo>
                  <a:pt x="0" y="2408"/>
                </a:lnTo>
                <a:lnTo>
                  <a:pt x="0" y="2396"/>
                </a:lnTo>
                <a:lnTo>
                  <a:pt x="12" y="2396"/>
                </a:lnTo>
                <a:close/>
                <a:moveTo>
                  <a:pt x="12" y="2420"/>
                </a:moveTo>
                <a:lnTo>
                  <a:pt x="12" y="2432"/>
                </a:lnTo>
                <a:lnTo>
                  <a:pt x="0" y="2432"/>
                </a:lnTo>
                <a:lnTo>
                  <a:pt x="0" y="2420"/>
                </a:lnTo>
                <a:lnTo>
                  <a:pt x="12" y="2420"/>
                </a:lnTo>
                <a:close/>
                <a:moveTo>
                  <a:pt x="12" y="2444"/>
                </a:moveTo>
                <a:lnTo>
                  <a:pt x="12" y="2456"/>
                </a:lnTo>
                <a:lnTo>
                  <a:pt x="0" y="2456"/>
                </a:lnTo>
                <a:lnTo>
                  <a:pt x="0" y="2444"/>
                </a:lnTo>
                <a:lnTo>
                  <a:pt x="12" y="2444"/>
                </a:lnTo>
                <a:close/>
                <a:moveTo>
                  <a:pt x="12" y="2468"/>
                </a:moveTo>
                <a:lnTo>
                  <a:pt x="12" y="2480"/>
                </a:lnTo>
                <a:lnTo>
                  <a:pt x="0" y="2480"/>
                </a:lnTo>
                <a:lnTo>
                  <a:pt x="0" y="2468"/>
                </a:lnTo>
                <a:lnTo>
                  <a:pt x="12" y="2468"/>
                </a:lnTo>
                <a:close/>
                <a:moveTo>
                  <a:pt x="12" y="2492"/>
                </a:moveTo>
                <a:lnTo>
                  <a:pt x="12" y="2504"/>
                </a:lnTo>
                <a:lnTo>
                  <a:pt x="0" y="2504"/>
                </a:lnTo>
                <a:lnTo>
                  <a:pt x="0" y="2492"/>
                </a:lnTo>
                <a:lnTo>
                  <a:pt x="12" y="2492"/>
                </a:lnTo>
                <a:close/>
                <a:moveTo>
                  <a:pt x="12" y="2516"/>
                </a:moveTo>
                <a:lnTo>
                  <a:pt x="12" y="2528"/>
                </a:lnTo>
                <a:lnTo>
                  <a:pt x="0" y="2528"/>
                </a:lnTo>
                <a:lnTo>
                  <a:pt x="0" y="2516"/>
                </a:lnTo>
                <a:lnTo>
                  <a:pt x="12" y="2516"/>
                </a:lnTo>
                <a:close/>
                <a:moveTo>
                  <a:pt x="12" y="2540"/>
                </a:moveTo>
                <a:lnTo>
                  <a:pt x="12" y="2552"/>
                </a:lnTo>
                <a:lnTo>
                  <a:pt x="0" y="2552"/>
                </a:lnTo>
                <a:lnTo>
                  <a:pt x="0" y="2540"/>
                </a:lnTo>
                <a:lnTo>
                  <a:pt x="12" y="2540"/>
                </a:lnTo>
                <a:close/>
              </a:path>
            </a:pathLst>
          </a:custGeom>
          <a:solidFill>
            <a:srgbClr val="000000"/>
          </a:solidFill>
          <a:ln w="0" cap="flat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127" name="Freeform 123">
            <a:extLst>
              <a:ext uri="{FF2B5EF4-FFF2-40B4-BE49-F238E27FC236}">
                <a16:creationId xmlns:a16="http://schemas.microsoft.com/office/drawing/2014/main" id="{214E16A7-6045-41F0-B022-6415A0A896CF}"/>
              </a:ext>
            </a:extLst>
          </p:cNvPr>
          <p:cNvSpPr>
            <a:spLocks noEditPoints="1"/>
          </p:cNvSpPr>
          <p:nvPr/>
        </p:nvSpPr>
        <p:spPr bwMode="auto">
          <a:xfrm>
            <a:off x="7708292" y="2351594"/>
            <a:ext cx="18000" cy="4032000"/>
          </a:xfrm>
          <a:custGeom>
            <a:avLst/>
            <a:gdLst>
              <a:gd name="T0" fmla="*/ 0 w 12"/>
              <a:gd name="T1" fmla="*/ 24 h 2552"/>
              <a:gd name="T2" fmla="*/ 0 w 12"/>
              <a:gd name="T3" fmla="*/ 84 h 2552"/>
              <a:gd name="T4" fmla="*/ 12 w 12"/>
              <a:gd name="T5" fmla="*/ 132 h 2552"/>
              <a:gd name="T6" fmla="*/ 12 w 12"/>
              <a:gd name="T7" fmla="*/ 168 h 2552"/>
              <a:gd name="T8" fmla="*/ 12 w 12"/>
              <a:gd name="T9" fmla="*/ 192 h 2552"/>
              <a:gd name="T10" fmla="*/ 0 w 12"/>
              <a:gd name="T11" fmla="*/ 240 h 2552"/>
              <a:gd name="T12" fmla="*/ 0 w 12"/>
              <a:gd name="T13" fmla="*/ 300 h 2552"/>
              <a:gd name="T14" fmla="*/ 12 w 12"/>
              <a:gd name="T15" fmla="*/ 348 h 2552"/>
              <a:gd name="T16" fmla="*/ 12 w 12"/>
              <a:gd name="T17" fmla="*/ 384 h 2552"/>
              <a:gd name="T18" fmla="*/ 12 w 12"/>
              <a:gd name="T19" fmla="*/ 408 h 2552"/>
              <a:gd name="T20" fmla="*/ 0 w 12"/>
              <a:gd name="T21" fmla="*/ 456 h 2552"/>
              <a:gd name="T22" fmla="*/ 0 w 12"/>
              <a:gd name="T23" fmla="*/ 515 h 2552"/>
              <a:gd name="T24" fmla="*/ 12 w 12"/>
              <a:gd name="T25" fmla="*/ 563 h 2552"/>
              <a:gd name="T26" fmla="*/ 12 w 12"/>
              <a:gd name="T27" fmla="*/ 599 h 2552"/>
              <a:gd name="T28" fmla="*/ 12 w 12"/>
              <a:gd name="T29" fmla="*/ 623 h 2552"/>
              <a:gd name="T30" fmla="*/ 0 w 12"/>
              <a:gd name="T31" fmla="*/ 671 h 2552"/>
              <a:gd name="T32" fmla="*/ 0 w 12"/>
              <a:gd name="T33" fmla="*/ 731 h 2552"/>
              <a:gd name="T34" fmla="*/ 12 w 12"/>
              <a:gd name="T35" fmla="*/ 779 h 2552"/>
              <a:gd name="T36" fmla="*/ 12 w 12"/>
              <a:gd name="T37" fmla="*/ 815 h 2552"/>
              <a:gd name="T38" fmla="*/ 12 w 12"/>
              <a:gd name="T39" fmla="*/ 839 h 2552"/>
              <a:gd name="T40" fmla="*/ 0 w 12"/>
              <a:gd name="T41" fmla="*/ 887 h 2552"/>
              <a:gd name="T42" fmla="*/ 0 w 12"/>
              <a:gd name="T43" fmla="*/ 947 h 2552"/>
              <a:gd name="T44" fmla="*/ 12 w 12"/>
              <a:gd name="T45" fmla="*/ 995 h 2552"/>
              <a:gd name="T46" fmla="*/ 12 w 12"/>
              <a:gd name="T47" fmla="*/ 1031 h 2552"/>
              <a:gd name="T48" fmla="*/ 12 w 12"/>
              <a:gd name="T49" fmla="*/ 1054 h 2552"/>
              <a:gd name="T50" fmla="*/ 0 w 12"/>
              <a:gd name="T51" fmla="*/ 1102 h 2552"/>
              <a:gd name="T52" fmla="*/ 0 w 12"/>
              <a:gd name="T53" fmla="*/ 1162 h 2552"/>
              <a:gd name="T54" fmla="*/ 12 w 12"/>
              <a:gd name="T55" fmla="*/ 1210 h 2552"/>
              <a:gd name="T56" fmla="*/ 12 w 12"/>
              <a:gd name="T57" fmla="*/ 1246 h 2552"/>
              <a:gd name="T58" fmla="*/ 12 w 12"/>
              <a:gd name="T59" fmla="*/ 1270 h 2552"/>
              <a:gd name="T60" fmla="*/ 0 w 12"/>
              <a:gd name="T61" fmla="*/ 1318 h 2552"/>
              <a:gd name="T62" fmla="*/ 0 w 12"/>
              <a:gd name="T63" fmla="*/ 1378 h 2552"/>
              <a:gd name="T64" fmla="*/ 12 w 12"/>
              <a:gd name="T65" fmla="*/ 1426 h 2552"/>
              <a:gd name="T66" fmla="*/ 12 w 12"/>
              <a:gd name="T67" fmla="*/ 1462 h 2552"/>
              <a:gd name="T68" fmla="*/ 12 w 12"/>
              <a:gd name="T69" fmla="*/ 1486 h 2552"/>
              <a:gd name="T70" fmla="*/ 0 w 12"/>
              <a:gd name="T71" fmla="*/ 1534 h 2552"/>
              <a:gd name="T72" fmla="*/ 0 w 12"/>
              <a:gd name="T73" fmla="*/ 1593 h 2552"/>
              <a:gd name="T74" fmla="*/ 12 w 12"/>
              <a:gd name="T75" fmla="*/ 1641 h 2552"/>
              <a:gd name="T76" fmla="*/ 12 w 12"/>
              <a:gd name="T77" fmla="*/ 1677 h 2552"/>
              <a:gd name="T78" fmla="*/ 12 w 12"/>
              <a:gd name="T79" fmla="*/ 1701 h 2552"/>
              <a:gd name="T80" fmla="*/ 0 w 12"/>
              <a:gd name="T81" fmla="*/ 1749 h 2552"/>
              <a:gd name="T82" fmla="*/ 0 w 12"/>
              <a:gd name="T83" fmla="*/ 1809 h 2552"/>
              <a:gd name="T84" fmla="*/ 12 w 12"/>
              <a:gd name="T85" fmla="*/ 1857 h 2552"/>
              <a:gd name="T86" fmla="*/ 12 w 12"/>
              <a:gd name="T87" fmla="*/ 1893 h 2552"/>
              <a:gd name="T88" fmla="*/ 12 w 12"/>
              <a:gd name="T89" fmla="*/ 1917 h 2552"/>
              <a:gd name="T90" fmla="*/ 0 w 12"/>
              <a:gd name="T91" fmla="*/ 1965 h 2552"/>
              <a:gd name="T92" fmla="*/ 0 w 12"/>
              <a:gd name="T93" fmla="*/ 2025 h 2552"/>
              <a:gd name="T94" fmla="*/ 12 w 12"/>
              <a:gd name="T95" fmla="*/ 2073 h 2552"/>
              <a:gd name="T96" fmla="*/ 12 w 12"/>
              <a:gd name="T97" fmla="*/ 2109 h 2552"/>
              <a:gd name="T98" fmla="*/ 12 w 12"/>
              <a:gd name="T99" fmla="*/ 2132 h 2552"/>
              <a:gd name="T100" fmla="*/ 0 w 12"/>
              <a:gd name="T101" fmla="*/ 2180 h 2552"/>
              <a:gd name="T102" fmla="*/ 0 w 12"/>
              <a:gd name="T103" fmla="*/ 2240 h 2552"/>
              <a:gd name="T104" fmla="*/ 12 w 12"/>
              <a:gd name="T105" fmla="*/ 2288 h 2552"/>
              <a:gd name="T106" fmla="*/ 12 w 12"/>
              <a:gd name="T107" fmla="*/ 2324 h 2552"/>
              <a:gd name="T108" fmla="*/ 12 w 12"/>
              <a:gd name="T109" fmla="*/ 2348 h 2552"/>
              <a:gd name="T110" fmla="*/ 0 w 12"/>
              <a:gd name="T111" fmla="*/ 2396 h 2552"/>
              <a:gd name="T112" fmla="*/ 0 w 12"/>
              <a:gd name="T113" fmla="*/ 2456 h 2552"/>
              <a:gd name="T114" fmla="*/ 12 w 12"/>
              <a:gd name="T115" fmla="*/ 2504 h 2552"/>
              <a:gd name="T116" fmla="*/ 12 w 12"/>
              <a:gd name="T117" fmla="*/ 2540 h 25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12" h="2552">
                <a:moveTo>
                  <a:pt x="12" y="0"/>
                </a:moveTo>
                <a:lnTo>
                  <a:pt x="12" y="12"/>
                </a:lnTo>
                <a:lnTo>
                  <a:pt x="0" y="12"/>
                </a:lnTo>
                <a:lnTo>
                  <a:pt x="0" y="0"/>
                </a:lnTo>
                <a:lnTo>
                  <a:pt x="12" y="0"/>
                </a:lnTo>
                <a:close/>
                <a:moveTo>
                  <a:pt x="12" y="24"/>
                </a:moveTo>
                <a:lnTo>
                  <a:pt x="12" y="36"/>
                </a:lnTo>
                <a:lnTo>
                  <a:pt x="0" y="36"/>
                </a:lnTo>
                <a:lnTo>
                  <a:pt x="0" y="24"/>
                </a:lnTo>
                <a:lnTo>
                  <a:pt x="12" y="24"/>
                </a:lnTo>
                <a:close/>
                <a:moveTo>
                  <a:pt x="12" y="48"/>
                </a:moveTo>
                <a:lnTo>
                  <a:pt x="12" y="60"/>
                </a:lnTo>
                <a:lnTo>
                  <a:pt x="0" y="60"/>
                </a:lnTo>
                <a:lnTo>
                  <a:pt x="0" y="48"/>
                </a:lnTo>
                <a:lnTo>
                  <a:pt x="12" y="48"/>
                </a:lnTo>
                <a:close/>
                <a:moveTo>
                  <a:pt x="12" y="72"/>
                </a:moveTo>
                <a:lnTo>
                  <a:pt x="12" y="84"/>
                </a:lnTo>
                <a:lnTo>
                  <a:pt x="0" y="84"/>
                </a:lnTo>
                <a:lnTo>
                  <a:pt x="0" y="72"/>
                </a:lnTo>
                <a:lnTo>
                  <a:pt x="12" y="72"/>
                </a:lnTo>
                <a:close/>
                <a:moveTo>
                  <a:pt x="12" y="96"/>
                </a:moveTo>
                <a:lnTo>
                  <a:pt x="12" y="108"/>
                </a:lnTo>
                <a:lnTo>
                  <a:pt x="0" y="108"/>
                </a:lnTo>
                <a:lnTo>
                  <a:pt x="0" y="96"/>
                </a:lnTo>
                <a:lnTo>
                  <a:pt x="12" y="96"/>
                </a:lnTo>
                <a:close/>
                <a:moveTo>
                  <a:pt x="12" y="120"/>
                </a:moveTo>
                <a:lnTo>
                  <a:pt x="12" y="132"/>
                </a:lnTo>
                <a:lnTo>
                  <a:pt x="0" y="132"/>
                </a:lnTo>
                <a:lnTo>
                  <a:pt x="0" y="120"/>
                </a:lnTo>
                <a:lnTo>
                  <a:pt x="12" y="120"/>
                </a:lnTo>
                <a:close/>
                <a:moveTo>
                  <a:pt x="12" y="144"/>
                </a:moveTo>
                <a:lnTo>
                  <a:pt x="12" y="156"/>
                </a:lnTo>
                <a:lnTo>
                  <a:pt x="0" y="156"/>
                </a:lnTo>
                <a:lnTo>
                  <a:pt x="0" y="144"/>
                </a:lnTo>
                <a:lnTo>
                  <a:pt x="12" y="144"/>
                </a:lnTo>
                <a:close/>
                <a:moveTo>
                  <a:pt x="12" y="168"/>
                </a:moveTo>
                <a:lnTo>
                  <a:pt x="12" y="180"/>
                </a:lnTo>
                <a:lnTo>
                  <a:pt x="0" y="180"/>
                </a:lnTo>
                <a:lnTo>
                  <a:pt x="0" y="168"/>
                </a:lnTo>
                <a:lnTo>
                  <a:pt x="12" y="168"/>
                </a:lnTo>
                <a:close/>
                <a:moveTo>
                  <a:pt x="12" y="192"/>
                </a:moveTo>
                <a:lnTo>
                  <a:pt x="12" y="204"/>
                </a:lnTo>
                <a:lnTo>
                  <a:pt x="0" y="204"/>
                </a:lnTo>
                <a:lnTo>
                  <a:pt x="0" y="192"/>
                </a:lnTo>
                <a:lnTo>
                  <a:pt x="12" y="192"/>
                </a:lnTo>
                <a:close/>
                <a:moveTo>
                  <a:pt x="12" y="216"/>
                </a:moveTo>
                <a:lnTo>
                  <a:pt x="12" y="228"/>
                </a:lnTo>
                <a:lnTo>
                  <a:pt x="0" y="228"/>
                </a:lnTo>
                <a:lnTo>
                  <a:pt x="0" y="216"/>
                </a:lnTo>
                <a:lnTo>
                  <a:pt x="12" y="216"/>
                </a:lnTo>
                <a:close/>
                <a:moveTo>
                  <a:pt x="12" y="240"/>
                </a:moveTo>
                <a:lnTo>
                  <a:pt x="12" y="252"/>
                </a:lnTo>
                <a:lnTo>
                  <a:pt x="0" y="252"/>
                </a:lnTo>
                <a:lnTo>
                  <a:pt x="0" y="240"/>
                </a:lnTo>
                <a:lnTo>
                  <a:pt x="12" y="240"/>
                </a:lnTo>
                <a:close/>
                <a:moveTo>
                  <a:pt x="12" y="264"/>
                </a:moveTo>
                <a:lnTo>
                  <a:pt x="12" y="276"/>
                </a:lnTo>
                <a:lnTo>
                  <a:pt x="0" y="276"/>
                </a:lnTo>
                <a:lnTo>
                  <a:pt x="0" y="264"/>
                </a:lnTo>
                <a:lnTo>
                  <a:pt x="12" y="264"/>
                </a:lnTo>
                <a:close/>
                <a:moveTo>
                  <a:pt x="12" y="288"/>
                </a:moveTo>
                <a:lnTo>
                  <a:pt x="12" y="300"/>
                </a:lnTo>
                <a:lnTo>
                  <a:pt x="0" y="300"/>
                </a:lnTo>
                <a:lnTo>
                  <a:pt x="0" y="288"/>
                </a:lnTo>
                <a:lnTo>
                  <a:pt x="12" y="288"/>
                </a:lnTo>
                <a:close/>
                <a:moveTo>
                  <a:pt x="12" y="312"/>
                </a:moveTo>
                <a:lnTo>
                  <a:pt x="12" y="324"/>
                </a:lnTo>
                <a:lnTo>
                  <a:pt x="0" y="324"/>
                </a:lnTo>
                <a:lnTo>
                  <a:pt x="0" y="312"/>
                </a:lnTo>
                <a:lnTo>
                  <a:pt x="12" y="312"/>
                </a:lnTo>
                <a:close/>
                <a:moveTo>
                  <a:pt x="12" y="336"/>
                </a:moveTo>
                <a:lnTo>
                  <a:pt x="12" y="348"/>
                </a:lnTo>
                <a:lnTo>
                  <a:pt x="0" y="348"/>
                </a:lnTo>
                <a:lnTo>
                  <a:pt x="0" y="336"/>
                </a:lnTo>
                <a:lnTo>
                  <a:pt x="12" y="336"/>
                </a:lnTo>
                <a:close/>
                <a:moveTo>
                  <a:pt x="12" y="360"/>
                </a:moveTo>
                <a:lnTo>
                  <a:pt x="12" y="372"/>
                </a:lnTo>
                <a:lnTo>
                  <a:pt x="0" y="372"/>
                </a:lnTo>
                <a:lnTo>
                  <a:pt x="0" y="360"/>
                </a:lnTo>
                <a:lnTo>
                  <a:pt x="12" y="360"/>
                </a:lnTo>
                <a:close/>
                <a:moveTo>
                  <a:pt x="12" y="384"/>
                </a:moveTo>
                <a:lnTo>
                  <a:pt x="12" y="396"/>
                </a:lnTo>
                <a:lnTo>
                  <a:pt x="0" y="396"/>
                </a:lnTo>
                <a:lnTo>
                  <a:pt x="0" y="384"/>
                </a:lnTo>
                <a:lnTo>
                  <a:pt x="12" y="384"/>
                </a:lnTo>
                <a:close/>
                <a:moveTo>
                  <a:pt x="12" y="408"/>
                </a:moveTo>
                <a:lnTo>
                  <a:pt x="12" y="420"/>
                </a:lnTo>
                <a:lnTo>
                  <a:pt x="0" y="420"/>
                </a:lnTo>
                <a:lnTo>
                  <a:pt x="0" y="408"/>
                </a:lnTo>
                <a:lnTo>
                  <a:pt x="12" y="408"/>
                </a:lnTo>
                <a:close/>
                <a:moveTo>
                  <a:pt x="12" y="432"/>
                </a:moveTo>
                <a:lnTo>
                  <a:pt x="12" y="444"/>
                </a:lnTo>
                <a:lnTo>
                  <a:pt x="0" y="444"/>
                </a:lnTo>
                <a:lnTo>
                  <a:pt x="0" y="432"/>
                </a:lnTo>
                <a:lnTo>
                  <a:pt x="12" y="432"/>
                </a:lnTo>
                <a:close/>
                <a:moveTo>
                  <a:pt x="12" y="456"/>
                </a:moveTo>
                <a:lnTo>
                  <a:pt x="12" y="467"/>
                </a:lnTo>
                <a:lnTo>
                  <a:pt x="0" y="467"/>
                </a:lnTo>
                <a:lnTo>
                  <a:pt x="0" y="456"/>
                </a:lnTo>
                <a:lnTo>
                  <a:pt x="12" y="456"/>
                </a:lnTo>
                <a:close/>
                <a:moveTo>
                  <a:pt x="12" y="480"/>
                </a:moveTo>
                <a:lnTo>
                  <a:pt x="12" y="492"/>
                </a:lnTo>
                <a:lnTo>
                  <a:pt x="0" y="492"/>
                </a:lnTo>
                <a:lnTo>
                  <a:pt x="0" y="480"/>
                </a:lnTo>
                <a:lnTo>
                  <a:pt x="12" y="480"/>
                </a:lnTo>
                <a:close/>
                <a:moveTo>
                  <a:pt x="12" y="503"/>
                </a:moveTo>
                <a:lnTo>
                  <a:pt x="12" y="515"/>
                </a:lnTo>
                <a:lnTo>
                  <a:pt x="0" y="515"/>
                </a:lnTo>
                <a:lnTo>
                  <a:pt x="0" y="503"/>
                </a:lnTo>
                <a:lnTo>
                  <a:pt x="12" y="503"/>
                </a:lnTo>
                <a:close/>
                <a:moveTo>
                  <a:pt x="12" y="528"/>
                </a:moveTo>
                <a:lnTo>
                  <a:pt x="12" y="539"/>
                </a:lnTo>
                <a:lnTo>
                  <a:pt x="0" y="539"/>
                </a:lnTo>
                <a:lnTo>
                  <a:pt x="0" y="528"/>
                </a:lnTo>
                <a:lnTo>
                  <a:pt x="12" y="528"/>
                </a:lnTo>
                <a:close/>
                <a:moveTo>
                  <a:pt x="12" y="551"/>
                </a:moveTo>
                <a:lnTo>
                  <a:pt x="12" y="563"/>
                </a:lnTo>
                <a:lnTo>
                  <a:pt x="0" y="563"/>
                </a:lnTo>
                <a:lnTo>
                  <a:pt x="0" y="551"/>
                </a:lnTo>
                <a:lnTo>
                  <a:pt x="12" y="551"/>
                </a:lnTo>
                <a:close/>
                <a:moveTo>
                  <a:pt x="12" y="575"/>
                </a:moveTo>
                <a:lnTo>
                  <a:pt x="12" y="587"/>
                </a:lnTo>
                <a:lnTo>
                  <a:pt x="0" y="587"/>
                </a:lnTo>
                <a:lnTo>
                  <a:pt x="0" y="575"/>
                </a:lnTo>
                <a:lnTo>
                  <a:pt x="12" y="575"/>
                </a:lnTo>
                <a:close/>
                <a:moveTo>
                  <a:pt x="12" y="599"/>
                </a:moveTo>
                <a:lnTo>
                  <a:pt x="12" y="611"/>
                </a:lnTo>
                <a:lnTo>
                  <a:pt x="0" y="611"/>
                </a:lnTo>
                <a:lnTo>
                  <a:pt x="0" y="599"/>
                </a:lnTo>
                <a:lnTo>
                  <a:pt x="12" y="599"/>
                </a:lnTo>
                <a:close/>
                <a:moveTo>
                  <a:pt x="12" y="623"/>
                </a:moveTo>
                <a:lnTo>
                  <a:pt x="12" y="635"/>
                </a:lnTo>
                <a:lnTo>
                  <a:pt x="0" y="635"/>
                </a:lnTo>
                <a:lnTo>
                  <a:pt x="0" y="623"/>
                </a:lnTo>
                <a:lnTo>
                  <a:pt x="12" y="623"/>
                </a:lnTo>
                <a:close/>
                <a:moveTo>
                  <a:pt x="12" y="647"/>
                </a:moveTo>
                <a:lnTo>
                  <a:pt x="12" y="659"/>
                </a:lnTo>
                <a:lnTo>
                  <a:pt x="0" y="659"/>
                </a:lnTo>
                <a:lnTo>
                  <a:pt x="0" y="647"/>
                </a:lnTo>
                <a:lnTo>
                  <a:pt x="12" y="647"/>
                </a:lnTo>
                <a:close/>
                <a:moveTo>
                  <a:pt x="12" y="671"/>
                </a:moveTo>
                <a:lnTo>
                  <a:pt x="12" y="683"/>
                </a:lnTo>
                <a:lnTo>
                  <a:pt x="0" y="683"/>
                </a:lnTo>
                <a:lnTo>
                  <a:pt x="0" y="671"/>
                </a:lnTo>
                <a:lnTo>
                  <a:pt x="12" y="671"/>
                </a:lnTo>
                <a:close/>
                <a:moveTo>
                  <a:pt x="12" y="695"/>
                </a:moveTo>
                <a:lnTo>
                  <a:pt x="12" y="707"/>
                </a:lnTo>
                <a:lnTo>
                  <a:pt x="0" y="707"/>
                </a:lnTo>
                <a:lnTo>
                  <a:pt x="0" y="695"/>
                </a:lnTo>
                <a:lnTo>
                  <a:pt x="12" y="695"/>
                </a:lnTo>
                <a:close/>
                <a:moveTo>
                  <a:pt x="12" y="719"/>
                </a:moveTo>
                <a:lnTo>
                  <a:pt x="12" y="731"/>
                </a:lnTo>
                <a:lnTo>
                  <a:pt x="0" y="731"/>
                </a:lnTo>
                <a:lnTo>
                  <a:pt x="0" y="719"/>
                </a:lnTo>
                <a:lnTo>
                  <a:pt x="12" y="719"/>
                </a:lnTo>
                <a:close/>
                <a:moveTo>
                  <a:pt x="12" y="743"/>
                </a:moveTo>
                <a:lnTo>
                  <a:pt x="12" y="755"/>
                </a:lnTo>
                <a:lnTo>
                  <a:pt x="0" y="755"/>
                </a:lnTo>
                <a:lnTo>
                  <a:pt x="0" y="743"/>
                </a:lnTo>
                <a:lnTo>
                  <a:pt x="12" y="743"/>
                </a:lnTo>
                <a:close/>
                <a:moveTo>
                  <a:pt x="12" y="767"/>
                </a:moveTo>
                <a:lnTo>
                  <a:pt x="12" y="779"/>
                </a:lnTo>
                <a:lnTo>
                  <a:pt x="0" y="779"/>
                </a:lnTo>
                <a:lnTo>
                  <a:pt x="0" y="767"/>
                </a:lnTo>
                <a:lnTo>
                  <a:pt x="12" y="767"/>
                </a:lnTo>
                <a:close/>
                <a:moveTo>
                  <a:pt x="12" y="791"/>
                </a:moveTo>
                <a:lnTo>
                  <a:pt x="12" y="803"/>
                </a:lnTo>
                <a:lnTo>
                  <a:pt x="0" y="803"/>
                </a:lnTo>
                <a:lnTo>
                  <a:pt x="0" y="791"/>
                </a:lnTo>
                <a:lnTo>
                  <a:pt x="12" y="791"/>
                </a:lnTo>
                <a:close/>
                <a:moveTo>
                  <a:pt x="12" y="815"/>
                </a:moveTo>
                <a:lnTo>
                  <a:pt x="12" y="827"/>
                </a:lnTo>
                <a:lnTo>
                  <a:pt x="0" y="827"/>
                </a:lnTo>
                <a:lnTo>
                  <a:pt x="0" y="815"/>
                </a:lnTo>
                <a:lnTo>
                  <a:pt x="12" y="815"/>
                </a:lnTo>
                <a:close/>
                <a:moveTo>
                  <a:pt x="12" y="839"/>
                </a:moveTo>
                <a:lnTo>
                  <a:pt x="12" y="851"/>
                </a:lnTo>
                <a:lnTo>
                  <a:pt x="0" y="851"/>
                </a:lnTo>
                <a:lnTo>
                  <a:pt x="0" y="839"/>
                </a:lnTo>
                <a:lnTo>
                  <a:pt x="12" y="839"/>
                </a:lnTo>
                <a:close/>
                <a:moveTo>
                  <a:pt x="12" y="863"/>
                </a:moveTo>
                <a:lnTo>
                  <a:pt x="12" y="875"/>
                </a:lnTo>
                <a:lnTo>
                  <a:pt x="0" y="875"/>
                </a:lnTo>
                <a:lnTo>
                  <a:pt x="0" y="863"/>
                </a:lnTo>
                <a:lnTo>
                  <a:pt x="12" y="863"/>
                </a:lnTo>
                <a:close/>
                <a:moveTo>
                  <a:pt x="12" y="887"/>
                </a:moveTo>
                <a:lnTo>
                  <a:pt x="12" y="899"/>
                </a:lnTo>
                <a:lnTo>
                  <a:pt x="0" y="899"/>
                </a:lnTo>
                <a:lnTo>
                  <a:pt x="0" y="887"/>
                </a:lnTo>
                <a:lnTo>
                  <a:pt x="12" y="887"/>
                </a:lnTo>
                <a:close/>
                <a:moveTo>
                  <a:pt x="12" y="911"/>
                </a:moveTo>
                <a:lnTo>
                  <a:pt x="12" y="923"/>
                </a:lnTo>
                <a:lnTo>
                  <a:pt x="0" y="923"/>
                </a:lnTo>
                <a:lnTo>
                  <a:pt x="0" y="911"/>
                </a:lnTo>
                <a:lnTo>
                  <a:pt x="12" y="911"/>
                </a:lnTo>
                <a:close/>
                <a:moveTo>
                  <a:pt x="12" y="935"/>
                </a:moveTo>
                <a:lnTo>
                  <a:pt x="12" y="947"/>
                </a:lnTo>
                <a:lnTo>
                  <a:pt x="0" y="947"/>
                </a:lnTo>
                <a:lnTo>
                  <a:pt x="0" y="935"/>
                </a:lnTo>
                <a:lnTo>
                  <a:pt x="12" y="935"/>
                </a:lnTo>
                <a:close/>
                <a:moveTo>
                  <a:pt x="12" y="959"/>
                </a:moveTo>
                <a:lnTo>
                  <a:pt x="12" y="971"/>
                </a:lnTo>
                <a:lnTo>
                  <a:pt x="0" y="971"/>
                </a:lnTo>
                <a:lnTo>
                  <a:pt x="0" y="959"/>
                </a:lnTo>
                <a:lnTo>
                  <a:pt x="12" y="959"/>
                </a:lnTo>
                <a:close/>
                <a:moveTo>
                  <a:pt x="12" y="983"/>
                </a:moveTo>
                <a:lnTo>
                  <a:pt x="12" y="995"/>
                </a:lnTo>
                <a:lnTo>
                  <a:pt x="0" y="995"/>
                </a:lnTo>
                <a:lnTo>
                  <a:pt x="0" y="983"/>
                </a:lnTo>
                <a:lnTo>
                  <a:pt x="12" y="983"/>
                </a:lnTo>
                <a:close/>
                <a:moveTo>
                  <a:pt x="12" y="1006"/>
                </a:moveTo>
                <a:lnTo>
                  <a:pt x="12" y="1019"/>
                </a:lnTo>
                <a:lnTo>
                  <a:pt x="0" y="1019"/>
                </a:lnTo>
                <a:lnTo>
                  <a:pt x="0" y="1006"/>
                </a:lnTo>
                <a:lnTo>
                  <a:pt x="12" y="1006"/>
                </a:lnTo>
                <a:close/>
                <a:moveTo>
                  <a:pt x="12" y="1031"/>
                </a:moveTo>
                <a:lnTo>
                  <a:pt x="12" y="1042"/>
                </a:lnTo>
                <a:lnTo>
                  <a:pt x="0" y="1042"/>
                </a:lnTo>
                <a:lnTo>
                  <a:pt x="0" y="1031"/>
                </a:lnTo>
                <a:lnTo>
                  <a:pt x="12" y="1031"/>
                </a:lnTo>
                <a:close/>
                <a:moveTo>
                  <a:pt x="12" y="1054"/>
                </a:moveTo>
                <a:lnTo>
                  <a:pt x="12" y="1067"/>
                </a:lnTo>
                <a:lnTo>
                  <a:pt x="0" y="1067"/>
                </a:lnTo>
                <a:lnTo>
                  <a:pt x="0" y="1054"/>
                </a:lnTo>
                <a:lnTo>
                  <a:pt x="12" y="1054"/>
                </a:lnTo>
                <a:close/>
                <a:moveTo>
                  <a:pt x="12" y="1078"/>
                </a:moveTo>
                <a:lnTo>
                  <a:pt x="12" y="1090"/>
                </a:lnTo>
                <a:lnTo>
                  <a:pt x="0" y="1090"/>
                </a:lnTo>
                <a:lnTo>
                  <a:pt x="0" y="1078"/>
                </a:lnTo>
                <a:lnTo>
                  <a:pt x="12" y="1078"/>
                </a:lnTo>
                <a:close/>
                <a:moveTo>
                  <a:pt x="12" y="1102"/>
                </a:moveTo>
                <a:lnTo>
                  <a:pt x="12" y="1114"/>
                </a:lnTo>
                <a:lnTo>
                  <a:pt x="0" y="1114"/>
                </a:lnTo>
                <a:lnTo>
                  <a:pt x="0" y="1102"/>
                </a:lnTo>
                <a:lnTo>
                  <a:pt x="12" y="1102"/>
                </a:lnTo>
                <a:close/>
                <a:moveTo>
                  <a:pt x="12" y="1126"/>
                </a:moveTo>
                <a:lnTo>
                  <a:pt x="12" y="1138"/>
                </a:lnTo>
                <a:lnTo>
                  <a:pt x="0" y="1138"/>
                </a:lnTo>
                <a:lnTo>
                  <a:pt x="0" y="1126"/>
                </a:lnTo>
                <a:lnTo>
                  <a:pt x="12" y="1126"/>
                </a:lnTo>
                <a:close/>
                <a:moveTo>
                  <a:pt x="12" y="1150"/>
                </a:moveTo>
                <a:lnTo>
                  <a:pt x="12" y="1162"/>
                </a:lnTo>
                <a:lnTo>
                  <a:pt x="0" y="1162"/>
                </a:lnTo>
                <a:lnTo>
                  <a:pt x="0" y="1150"/>
                </a:lnTo>
                <a:lnTo>
                  <a:pt x="12" y="1150"/>
                </a:lnTo>
                <a:close/>
                <a:moveTo>
                  <a:pt x="12" y="1174"/>
                </a:moveTo>
                <a:lnTo>
                  <a:pt x="12" y="1186"/>
                </a:lnTo>
                <a:lnTo>
                  <a:pt x="0" y="1186"/>
                </a:lnTo>
                <a:lnTo>
                  <a:pt x="0" y="1174"/>
                </a:lnTo>
                <a:lnTo>
                  <a:pt x="12" y="1174"/>
                </a:lnTo>
                <a:close/>
                <a:moveTo>
                  <a:pt x="12" y="1198"/>
                </a:moveTo>
                <a:lnTo>
                  <a:pt x="12" y="1210"/>
                </a:lnTo>
                <a:lnTo>
                  <a:pt x="0" y="1210"/>
                </a:lnTo>
                <a:lnTo>
                  <a:pt x="0" y="1198"/>
                </a:lnTo>
                <a:lnTo>
                  <a:pt x="12" y="1198"/>
                </a:lnTo>
                <a:close/>
                <a:moveTo>
                  <a:pt x="12" y="1222"/>
                </a:moveTo>
                <a:lnTo>
                  <a:pt x="12" y="1234"/>
                </a:lnTo>
                <a:lnTo>
                  <a:pt x="0" y="1234"/>
                </a:lnTo>
                <a:lnTo>
                  <a:pt x="0" y="1222"/>
                </a:lnTo>
                <a:lnTo>
                  <a:pt x="12" y="1222"/>
                </a:lnTo>
                <a:close/>
                <a:moveTo>
                  <a:pt x="12" y="1246"/>
                </a:moveTo>
                <a:lnTo>
                  <a:pt x="12" y="1258"/>
                </a:lnTo>
                <a:lnTo>
                  <a:pt x="0" y="1258"/>
                </a:lnTo>
                <a:lnTo>
                  <a:pt x="0" y="1246"/>
                </a:lnTo>
                <a:lnTo>
                  <a:pt x="12" y="1246"/>
                </a:lnTo>
                <a:close/>
                <a:moveTo>
                  <a:pt x="12" y="1270"/>
                </a:moveTo>
                <a:lnTo>
                  <a:pt x="12" y="1282"/>
                </a:lnTo>
                <a:lnTo>
                  <a:pt x="0" y="1282"/>
                </a:lnTo>
                <a:lnTo>
                  <a:pt x="0" y="1270"/>
                </a:lnTo>
                <a:lnTo>
                  <a:pt x="12" y="1270"/>
                </a:lnTo>
                <a:close/>
                <a:moveTo>
                  <a:pt x="12" y="1294"/>
                </a:moveTo>
                <a:lnTo>
                  <a:pt x="12" y="1306"/>
                </a:lnTo>
                <a:lnTo>
                  <a:pt x="0" y="1306"/>
                </a:lnTo>
                <a:lnTo>
                  <a:pt x="0" y="1294"/>
                </a:lnTo>
                <a:lnTo>
                  <a:pt x="12" y="1294"/>
                </a:lnTo>
                <a:close/>
                <a:moveTo>
                  <a:pt x="12" y="1318"/>
                </a:moveTo>
                <a:lnTo>
                  <a:pt x="12" y="1330"/>
                </a:lnTo>
                <a:lnTo>
                  <a:pt x="0" y="1330"/>
                </a:lnTo>
                <a:lnTo>
                  <a:pt x="0" y="1318"/>
                </a:lnTo>
                <a:lnTo>
                  <a:pt x="12" y="1318"/>
                </a:lnTo>
                <a:close/>
                <a:moveTo>
                  <a:pt x="12" y="1342"/>
                </a:moveTo>
                <a:lnTo>
                  <a:pt x="12" y="1354"/>
                </a:lnTo>
                <a:lnTo>
                  <a:pt x="0" y="1354"/>
                </a:lnTo>
                <a:lnTo>
                  <a:pt x="0" y="1342"/>
                </a:lnTo>
                <a:lnTo>
                  <a:pt x="12" y="1342"/>
                </a:lnTo>
                <a:close/>
                <a:moveTo>
                  <a:pt x="12" y="1366"/>
                </a:moveTo>
                <a:lnTo>
                  <a:pt x="12" y="1378"/>
                </a:lnTo>
                <a:lnTo>
                  <a:pt x="0" y="1378"/>
                </a:lnTo>
                <a:lnTo>
                  <a:pt x="0" y="1366"/>
                </a:lnTo>
                <a:lnTo>
                  <a:pt x="12" y="1366"/>
                </a:lnTo>
                <a:close/>
                <a:moveTo>
                  <a:pt x="12" y="1390"/>
                </a:moveTo>
                <a:lnTo>
                  <a:pt x="12" y="1402"/>
                </a:lnTo>
                <a:lnTo>
                  <a:pt x="0" y="1402"/>
                </a:lnTo>
                <a:lnTo>
                  <a:pt x="0" y="1390"/>
                </a:lnTo>
                <a:lnTo>
                  <a:pt x="12" y="1390"/>
                </a:lnTo>
                <a:close/>
                <a:moveTo>
                  <a:pt x="12" y="1414"/>
                </a:moveTo>
                <a:lnTo>
                  <a:pt x="12" y="1426"/>
                </a:lnTo>
                <a:lnTo>
                  <a:pt x="0" y="1426"/>
                </a:lnTo>
                <a:lnTo>
                  <a:pt x="0" y="1414"/>
                </a:lnTo>
                <a:lnTo>
                  <a:pt x="12" y="1414"/>
                </a:lnTo>
                <a:close/>
                <a:moveTo>
                  <a:pt x="12" y="1438"/>
                </a:moveTo>
                <a:lnTo>
                  <a:pt x="12" y="1450"/>
                </a:lnTo>
                <a:lnTo>
                  <a:pt x="0" y="1450"/>
                </a:lnTo>
                <a:lnTo>
                  <a:pt x="0" y="1438"/>
                </a:lnTo>
                <a:lnTo>
                  <a:pt x="12" y="1438"/>
                </a:lnTo>
                <a:close/>
                <a:moveTo>
                  <a:pt x="12" y="1462"/>
                </a:moveTo>
                <a:lnTo>
                  <a:pt x="12" y="1474"/>
                </a:lnTo>
                <a:lnTo>
                  <a:pt x="0" y="1474"/>
                </a:lnTo>
                <a:lnTo>
                  <a:pt x="0" y="1462"/>
                </a:lnTo>
                <a:lnTo>
                  <a:pt x="12" y="1462"/>
                </a:lnTo>
                <a:close/>
                <a:moveTo>
                  <a:pt x="12" y="1486"/>
                </a:moveTo>
                <a:lnTo>
                  <a:pt x="12" y="1498"/>
                </a:lnTo>
                <a:lnTo>
                  <a:pt x="0" y="1498"/>
                </a:lnTo>
                <a:lnTo>
                  <a:pt x="0" y="1486"/>
                </a:lnTo>
                <a:lnTo>
                  <a:pt x="12" y="1486"/>
                </a:lnTo>
                <a:close/>
                <a:moveTo>
                  <a:pt x="12" y="1510"/>
                </a:moveTo>
                <a:lnTo>
                  <a:pt x="12" y="1522"/>
                </a:lnTo>
                <a:lnTo>
                  <a:pt x="0" y="1522"/>
                </a:lnTo>
                <a:lnTo>
                  <a:pt x="0" y="1510"/>
                </a:lnTo>
                <a:lnTo>
                  <a:pt x="12" y="1510"/>
                </a:lnTo>
                <a:close/>
                <a:moveTo>
                  <a:pt x="12" y="1534"/>
                </a:moveTo>
                <a:lnTo>
                  <a:pt x="12" y="1545"/>
                </a:lnTo>
                <a:lnTo>
                  <a:pt x="0" y="1545"/>
                </a:lnTo>
                <a:lnTo>
                  <a:pt x="0" y="1534"/>
                </a:lnTo>
                <a:lnTo>
                  <a:pt x="12" y="1534"/>
                </a:lnTo>
                <a:close/>
                <a:moveTo>
                  <a:pt x="12" y="1558"/>
                </a:moveTo>
                <a:lnTo>
                  <a:pt x="12" y="1570"/>
                </a:lnTo>
                <a:lnTo>
                  <a:pt x="0" y="1570"/>
                </a:lnTo>
                <a:lnTo>
                  <a:pt x="0" y="1558"/>
                </a:lnTo>
                <a:lnTo>
                  <a:pt x="12" y="1558"/>
                </a:lnTo>
                <a:close/>
                <a:moveTo>
                  <a:pt x="12" y="1581"/>
                </a:moveTo>
                <a:lnTo>
                  <a:pt x="12" y="1593"/>
                </a:lnTo>
                <a:lnTo>
                  <a:pt x="0" y="1593"/>
                </a:lnTo>
                <a:lnTo>
                  <a:pt x="0" y="1581"/>
                </a:lnTo>
                <a:lnTo>
                  <a:pt x="12" y="1581"/>
                </a:lnTo>
                <a:close/>
                <a:moveTo>
                  <a:pt x="12" y="1606"/>
                </a:moveTo>
                <a:lnTo>
                  <a:pt x="12" y="1617"/>
                </a:lnTo>
                <a:lnTo>
                  <a:pt x="0" y="1617"/>
                </a:lnTo>
                <a:lnTo>
                  <a:pt x="0" y="1606"/>
                </a:lnTo>
                <a:lnTo>
                  <a:pt x="12" y="1606"/>
                </a:lnTo>
                <a:close/>
                <a:moveTo>
                  <a:pt x="12" y="1629"/>
                </a:moveTo>
                <a:lnTo>
                  <a:pt x="12" y="1641"/>
                </a:lnTo>
                <a:lnTo>
                  <a:pt x="0" y="1641"/>
                </a:lnTo>
                <a:lnTo>
                  <a:pt x="0" y="1629"/>
                </a:lnTo>
                <a:lnTo>
                  <a:pt x="12" y="1629"/>
                </a:lnTo>
                <a:close/>
                <a:moveTo>
                  <a:pt x="12" y="1653"/>
                </a:moveTo>
                <a:lnTo>
                  <a:pt x="12" y="1665"/>
                </a:lnTo>
                <a:lnTo>
                  <a:pt x="0" y="1665"/>
                </a:lnTo>
                <a:lnTo>
                  <a:pt x="0" y="1653"/>
                </a:lnTo>
                <a:lnTo>
                  <a:pt x="12" y="1653"/>
                </a:lnTo>
                <a:close/>
                <a:moveTo>
                  <a:pt x="12" y="1677"/>
                </a:moveTo>
                <a:lnTo>
                  <a:pt x="12" y="1689"/>
                </a:lnTo>
                <a:lnTo>
                  <a:pt x="0" y="1689"/>
                </a:lnTo>
                <a:lnTo>
                  <a:pt x="0" y="1677"/>
                </a:lnTo>
                <a:lnTo>
                  <a:pt x="12" y="1677"/>
                </a:lnTo>
                <a:close/>
                <a:moveTo>
                  <a:pt x="12" y="1701"/>
                </a:moveTo>
                <a:lnTo>
                  <a:pt x="12" y="1713"/>
                </a:lnTo>
                <a:lnTo>
                  <a:pt x="0" y="1713"/>
                </a:lnTo>
                <a:lnTo>
                  <a:pt x="0" y="1701"/>
                </a:lnTo>
                <a:lnTo>
                  <a:pt x="12" y="1701"/>
                </a:lnTo>
                <a:close/>
                <a:moveTo>
                  <a:pt x="12" y="1725"/>
                </a:moveTo>
                <a:lnTo>
                  <a:pt x="12" y="1737"/>
                </a:lnTo>
                <a:lnTo>
                  <a:pt x="0" y="1737"/>
                </a:lnTo>
                <a:lnTo>
                  <a:pt x="0" y="1725"/>
                </a:lnTo>
                <a:lnTo>
                  <a:pt x="12" y="1725"/>
                </a:lnTo>
                <a:close/>
                <a:moveTo>
                  <a:pt x="12" y="1749"/>
                </a:moveTo>
                <a:lnTo>
                  <a:pt x="12" y="1761"/>
                </a:lnTo>
                <a:lnTo>
                  <a:pt x="0" y="1761"/>
                </a:lnTo>
                <a:lnTo>
                  <a:pt x="0" y="1749"/>
                </a:lnTo>
                <a:lnTo>
                  <a:pt x="12" y="1749"/>
                </a:lnTo>
                <a:close/>
                <a:moveTo>
                  <a:pt x="12" y="1773"/>
                </a:moveTo>
                <a:lnTo>
                  <a:pt x="12" y="1785"/>
                </a:lnTo>
                <a:lnTo>
                  <a:pt x="0" y="1785"/>
                </a:lnTo>
                <a:lnTo>
                  <a:pt x="0" y="1773"/>
                </a:lnTo>
                <a:lnTo>
                  <a:pt x="12" y="1773"/>
                </a:lnTo>
                <a:close/>
                <a:moveTo>
                  <a:pt x="12" y="1797"/>
                </a:moveTo>
                <a:lnTo>
                  <a:pt x="12" y="1809"/>
                </a:lnTo>
                <a:lnTo>
                  <a:pt x="0" y="1809"/>
                </a:lnTo>
                <a:lnTo>
                  <a:pt x="0" y="1797"/>
                </a:lnTo>
                <a:lnTo>
                  <a:pt x="12" y="1797"/>
                </a:lnTo>
                <a:close/>
                <a:moveTo>
                  <a:pt x="12" y="1821"/>
                </a:moveTo>
                <a:lnTo>
                  <a:pt x="12" y="1833"/>
                </a:lnTo>
                <a:lnTo>
                  <a:pt x="0" y="1833"/>
                </a:lnTo>
                <a:lnTo>
                  <a:pt x="0" y="1821"/>
                </a:lnTo>
                <a:lnTo>
                  <a:pt x="12" y="1821"/>
                </a:lnTo>
                <a:close/>
                <a:moveTo>
                  <a:pt x="12" y="1845"/>
                </a:moveTo>
                <a:lnTo>
                  <a:pt x="12" y="1857"/>
                </a:lnTo>
                <a:lnTo>
                  <a:pt x="0" y="1857"/>
                </a:lnTo>
                <a:lnTo>
                  <a:pt x="0" y="1845"/>
                </a:lnTo>
                <a:lnTo>
                  <a:pt x="12" y="1845"/>
                </a:lnTo>
                <a:close/>
                <a:moveTo>
                  <a:pt x="12" y="1869"/>
                </a:moveTo>
                <a:lnTo>
                  <a:pt x="12" y="1881"/>
                </a:lnTo>
                <a:lnTo>
                  <a:pt x="0" y="1881"/>
                </a:lnTo>
                <a:lnTo>
                  <a:pt x="0" y="1869"/>
                </a:lnTo>
                <a:lnTo>
                  <a:pt x="12" y="1869"/>
                </a:lnTo>
                <a:close/>
                <a:moveTo>
                  <a:pt x="12" y="1893"/>
                </a:moveTo>
                <a:lnTo>
                  <a:pt x="12" y="1905"/>
                </a:lnTo>
                <a:lnTo>
                  <a:pt x="0" y="1905"/>
                </a:lnTo>
                <a:lnTo>
                  <a:pt x="0" y="1893"/>
                </a:lnTo>
                <a:lnTo>
                  <a:pt x="12" y="1893"/>
                </a:lnTo>
                <a:close/>
                <a:moveTo>
                  <a:pt x="12" y="1917"/>
                </a:moveTo>
                <a:lnTo>
                  <a:pt x="12" y="1929"/>
                </a:lnTo>
                <a:lnTo>
                  <a:pt x="0" y="1929"/>
                </a:lnTo>
                <a:lnTo>
                  <a:pt x="0" y="1917"/>
                </a:lnTo>
                <a:lnTo>
                  <a:pt x="12" y="1917"/>
                </a:lnTo>
                <a:close/>
                <a:moveTo>
                  <a:pt x="12" y="1941"/>
                </a:moveTo>
                <a:lnTo>
                  <a:pt x="12" y="1953"/>
                </a:lnTo>
                <a:lnTo>
                  <a:pt x="0" y="1953"/>
                </a:lnTo>
                <a:lnTo>
                  <a:pt x="0" y="1941"/>
                </a:lnTo>
                <a:lnTo>
                  <a:pt x="12" y="1941"/>
                </a:lnTo>
                <a:close/>
                <a:moveTo>
                  <a:pt x="12" y="1965"/>
                </a:moveTo>
                <a:lnTo>
                  <a:pt x="12" y="1977"/>
                </a:lnTo>
                <a:lnTo>
                  <a:pt x="0" y="1977"/>
                </a:lnTo>
                <a:lnTo>
                  <a:pt x="0" y="1965"/>
                </a:lnTo>
                <a:lnTo>
                  <a:pt x="12" y="1965"/>
                </a:lnTo>
                <a:close/>
                <a:moveTo>
                  <a:pt x="12" y="1989"/>
                </a:moveTo>
                <a:lnTo>
                  <a:pt x="12" y="2001"/>
                </a:lnTo>
                <a:lnTo>
                  <a:pt x="0" y="2001"/>
                </a:lnTo>
                <a:lnTo>
                  <a:pt x="0" y="1989"/>
                </a:lnTo>
                <a:lnTo>
                  <a:pt x="12" y="1989"/>
                </a:lnTo>
                <a:close/>
                <a:moveTo>
                  <a:pt x="12" y="2013"/>
                </a:moveTo>
                <a:lnTo>
                  <a:pt x="12" y="2025"/>
                </a:lnTo>
                <a:lnTo>
                  <a:pt x="0" y="2025"/>
                </a:lnTo>
                <a:lnTo>
                  <a:pt x="0" y="2013"/>
                </a:lnTo>
                <a:lnTo>
                  <a:pt x="12" y="2013"/>
                </a:lnTo>
                <a:close/>
                <a:moveTo>
                  <a:pt x="12" y="2037"/>
                </a:moveTo>
                <a:lnTo>
                  <a:pt x="12" y="2049"/>
                </a:lnTo>
                <a:lnTo>
                  <a:pt x="0" y="2049"/>
                </a:lnTo>
                <a:lnTo>
                  <a:pt x="0" y="2037"/>
                </a:lnTo>
                <a:lnTo>
                  <a:pt x="12" y="2037"/>
                </a:lnTo>
                <a:close/>
                <a:moveTo>
                  <a:pt x="12" y="2061"/>
                </a:moveTo>
                <a:lnTo>
                  <a:pt x="12" y="2073"/>
                </a:lnTo>
                <a:lnTo>
                  <a:pt x="0" y="2073"/>
                </a:lnTo>
                <a:lnTo>
                  <a:pt x="0" y="2061"/>
                </a:lnTo>
                <a:lnTo>
                  <a:pt x="12" y="2061"/>
                </a:lnTo>
                <a:close/>
                <a:moveTo>
                  <a:pt x="12" y="2084"/>
                </a:moveTo>
                <a:lnTo>
                  <a:pt x="12" y="2097"/>
                </a:lnTo>
                <a:lnTo>
                  <a:pt x="0" y="2097"/>
                </a:lnTo>
                <a:lnTo>
                  <a:pt x="0" y="2084"/>
                </a:lnTo>
                <a:lnTo>
                  <a:pt x="12" y="2084"/>
                </a:lnTo>
                <a:close/>
                <a:moveTo>
                  <a:pt x="12" y="2109"/>
                </a:moveTo>
                <a:lnTo>
                  <a:pt x="12" y="2120"/>
                </a:lnTo>
                <a:lnTo>
                  <a:pt x="0" y="2120"/>
                </a:lnTo>
                <a:lnTo>
                  <a:pt x="0" y="2109"/>
                </a:lnTo>
                <a:lnTo>
                  <a:pt x="12" y="2109"/>
                </a:lnTo>
                <a:close/>
                <a:moveTo>
                  <a:pt x="12" y="2132"/>
                </a:moveTo>
                <a:lnTo>
                  <a:pt x="12" y="2145"/>
                </a:lnTo>
                <a:lnTo>
                  <a:pt x="0" y="2145"/>
                </a:lnTo>
                <a:lnTo>
                  <a:pt x="0" y="2132"/>
                </a:lnTo>
                <a:lnTo>
                  <a:pt x="12" y="2132"/>
                </a:lnTo>
                <a:close/>
                <a:moveTo>
                  <a:pt x="12" y="2156"/>
                </a:moveTo>
                <a:lnTo>
                  <a:pt x="12" y="2168"/>
                </a:lnTo>
                <a:lnTo>
                  <a:pt x="0" y="2168"/>
                </a:lnTo>
                <a:lnTo>
                  <a:pt x="0" y="2156"/>
                </a:lnTo>
                <a:lnTo>
                  <a:pt x="12" y="2156"/>
                </a:lnTo>
                <a:close/>
                <a:moveTo>
                  <a:pt x="12" y="2180"/>
                </a:moveTo>
                <a:lnTo>
                  <a:pt x="12" y="2192"/>
                </a:lnTo>
                <a:lnTo>
                  <a:pt x="0" y="2192"/>
                </a:lnTo>
                <a:lnTo>
                  <a:pt x="0" y="2180"/>
                </a:lnTo>
                <a:lnTo>
                  <a:pt x="12" y="2180"/>
                </a:lnTo>
                <a:close/>
                <a:moveTo>
                  <a:pt x="12" y="2204"/>
                </a:moveTo>
                <a:lnTo>
                  <a:pt x="12" y="2216"/>
                </a:lnTo>
                <a:lnTo>
                  <a:pt x="0" y="2216"/>
                </a:lnTo>
                <a:lnTo>
                  <a:pt x="0" y="2204"/>
                </a:lnTo>
                <a:lnTo>
                  <a:pt x="12" y="2204"/>
                </a:lnTo>
                <a:close/>
                <a:moveTo>
                  <a:pt x="12" y="2228"/>
                </a:moveTo>
                <a:lnTo>
                  <a:pt x="12" y="2240"/>
                </a:lnTo>
                <a:lnTo>
                  <a:pt x="0" y="2240"/>
                </a:lnTo>
                <a:lnTo>
                  <a:pt x="0" y="2228"/>
                </a:lnTo>
                <a:lnTo>
                  <a:pt x="12" y="2228"/>
                </a:lnTo>
                <a:close/>
                <a:moveTo>
                  <a:pt x="12" y="2252"/>
                </a:moveTo>
                <a:lnTo>
                  <a:pt x="12" y="2264"/>
                </a:lnTo>
                <a:lnTo>
                  <a:pt x="0" y="2264"/>
                </a:lnTo>
                <a:lnTo>
                  <a:pt x="0" y="2252"/>
                </a:lnTo>
                <a:lnTo>
                  <a:pt x="12" y="2252"/>
                </a:lnTo>
                <a:close/>
                <a:moveTo>
                  <a:pt x="12" y="2276"/>
                </a:moveTo>
                <a:lnTo>
                  <a:pt x="12" y="2288"/>
                </a:lnTo>
                <a:lnTo>
                  <a:pt x="0" y="2288"/>
                </a:lnTo>
                <a:lnTo>
                  <a:pt x="0" y="2276"/>
                </a:lnTo>
                <a:lnTo>
                  <a:pt x="12" y="2276"/>
                </a:lnTo>
                <a:close/>
                <a:moveTo>
                  <a:pt x="12" y="2300"/>
                </a:moveTo>
                <a:lnTo>
                  <a:pt x="12" y="2312"/>
                </a:lnTo>
                <a:lnTo>
                  <a:pt x="0" y="2312"/>
                </a:lnTo>
                <a:lnTo>
                  <a:pt x="0" y="2300"/>
                </a:lnTo>
                <a:lnTo>
                  <a:pt x="12" y="2300"/>
                </a:lnTo>
                <a:close/>
                <a:moveTo>
                  <a:pt x="12" y="2324"/>
                </a:moveTo>
                <a:lnTo>
                  <a:pt x="12" y="2336"/>
                </a:lnTo>
                <a:lnTo>
                  <a:pt x="0" y="2336"/>
                </a:lnTo>
                <a:lnTo>
                  <a:pt x="0" y="2324"/>
                </a:lnTo>
                <a:lnTo>
                  <a:pt x="12" y="2324"/>
                </a:lnTo>
                <a:close/>
                <a:moveTo>
                  <a:pt x="12" y="2348"/>
                </a:moveTo>
                <a:lnTo>
                  <a:pt x="12" y="2360"/>
                </a:lnTo>
                <a:lnTo>
                  <a:pt x="0" y="2360"/>
                </a:lnTo>
                <a:lnTo>
                  <a:pt x="0" y="2348"/>
                </a:lnTo>
                <a:lnTo>
                  <a:pt x="12" y="2348"/>
                </a:lnTo>
                <a:close/>
                <a:moveTo>
                  <a:pt x="12" y="2372"/>
                </a:moveTo>
                <a:lnTo>
                  <a:pt x="12" y="2384"/>
                </a:lnTo>
                <a:lnTo>
                  <a:pt x="0" y="2384"/>
                </a:lnTo>
                <a:lnTo>
                  <a:pt x="0" y="2372"/>
                </a:lnTo>
                <a:lnTo>
                  <a:pt x="12" y="2372"/>
                </a:lnTo>
                <a:close/>
                <a:moveTo>
                  <a:pt x="12" y="2396"/>
                </a:moveTo>
                <a:lnTo>
                  <a:pt x="12" y="2408"/>
                </a:lnTo>
                <a:lnTo>
                  <a:pt x="0" y="2408"/>
                </a:lnTo>
                <a:lnTo>
                  <a:pt x="0" y="2396"/>
                </a:lnTo>
                <a:lnTo>
                  <a:pt x="12" y="2396"/>
                </a:lnTo>
                <a:close/>
                <a:moveTo>
                  <a:pt x="12" y="2420"/>
                </a:moveTo>
                <a:lnTo>
                  <a:pt x="12" y="2432"/>
                </a:lnTo>
                <a:lnTo>
                  <a:pt x="0" y="2432"/>
                </a:lnTo>
                <a:lnTo>
                  <a:pt x="0" y="2420"/>
                </a:lnTo>
                <a:lnTo>
                  <a:pt x="12" y="2420"/>
                </a:lnTo>
                <a:close/>
                <a:moveTo>
                  <a:pt x="12" y="2444"/>
                </a:moveTo>
                <a:lnTo>
                  <a:pt x="12" y="2456"/>
                </a:lnTo>
                <a:lnTo>
                  <a:pt x="0" y="2456"/>
                </a:lnTo>
                <a:lnTo>
                  <a:pt x="0" y="2444"/>
                </a:lnTo>
                <a:lnTo>
                  <a:pt x="12" y="2444"/>
                </a:lnTo>
                <a:close/>
                <a:moveTo>
                  <a:pt x="12" y="2468"/>
                </a:moveTo>
                <a:lnTo>
                  <a:pt x="12" y="2480"/>
                </a:lnTo>
                <a:lnTo>
                  <a:pt x="0" y="2480"/>
                </a:lnTo>
                <a:lnTo>
                  <a:pt x="0" y="2468"/>
                </a:lnTo>
                <a:lnTo>
                  <a:pt x="12" y="2468"/>
                </a:lnTo>
                <a:close/>
                <a:moveTo>
                  <a:pt x="12" y="2492"/>
                </a:moveTo>
                <a:lnTo>
                  <a:pt x="12" y="2504"/>
                </a:lnTo>
                <a:lnTo>
                  <a:pt x="0" y="2504"/>
                </a:lnTo>
                <a:lnTo>
                  <a:pt x="0" y="2492"/>
                </a:lnTo>
                <a:lnTo>
                  <a:pt x="12" y="2492"/>
                </a:lnTo>
                <a:close/>
                <a:moveTo>
                  <a:pt x="12" y="2516"/>
                </a:moveTo>
                <a:lnTo>
                  <a:pt x="12" y="2528"/>
                </a:lnTo>
                <a:lnTo>
                  <a:pt x="0" y="2528"/>
                </a:lnTo>
                <a:lnTo>
                  <a:pt x="0" y="2516"/>
                </a:lnTo>
                <a:lnTo>
                  <a:pt x="12" y="2516"/>
                </a:lnTo>
                <a:close/>
                <a:moveTo>
                  <a:pt x="12" y="2540"/>
                </a:moveTo>
                <a:lnTo>
                  <a:pt x="12" y="2552"/>
                </a:lnTo>
                <a:lnTo>
                  <a:pt x="0" y="2552"/>
                </a:lnTo>
                <a:lnTo>
                  <a:pt x="0" y="2540"/>
                </a:lnTo>
                <a:lnTo>
                  <a:pt x="12" y="2540"/>
                </a:lnTo>
                <a:close/>
              </a:path>
            </a:pathLst>
          </a:custGeom>
          <a:solidFill>
            <a:srgbClr val="000000"/>
          </a:solidFill>
          <a:ln w="0" cap="flat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128" name="Freeform 124">
            <a:extLst>
              <a:ext uri="{FF2B5EF4-FFF2-40B4-BE49-F238E27FC236}">
                <a16:creationId xmlns:a16="http://schemas.microsoft.com/office/drawing/2014/main" id="{F70D0F8B-BEE3-41B5-A1BC-63FCA72344BF}"/>
              </a:ext>
            </a:extLst>
          </p:cNvPr>
          <p:cNvSpPr>
            <a:spLocks noEditPoints="1"/>
          </p:cNvSpPr>
          <p:nvPr/>
        </p:nvSpPr>
        <p:spPr bwMode="auto">
          <a:xfrm>
            <a:off x="6736742" y="2351594"/>
            <a:ext cx="18000" cy="4032000"/>
          </a:xfrm>
          <a:custGeom>
            <a:avLst/>
            <a:gdLst>
              <a:gd name="T0" fmla="*/ 0 w 13"/>
              <a:gd name="T1" fmla="*/ 24 h 2552"/>
              <a:gd name="T2" fmla="*/ 0 w 13"/>
              <a:gd name="T3" fmla="*/ 84 h 2552"/>
              <a:gd name="T4" fmla="*/ 13 w 13"/>
              <a:gd name="T5" fmla="*/ 132 h 2552"/>
              <a:gd name="T6" fmla="*/ 13 w 13"/>
              <a:gd name="T7" fmla="*/ 168 h 2552"/>
              <a:gd name="T8" fmla="*/ 13 w 13"/>
              <a:gd name="T9" fmla="*/ 192 h 2552"/>
              <a:gd name="T10" fmla="*/ 0 w 13"/>
              <a:gd name="T11" fmla="*/ 240 h 2552"/>
              <a:gd name="T12" fmla="*/ 0 w 13"/>
              <a:gd name="T13" fmla="*/ 300 h 2552"/>
              <a:gd name="T14" fmla="*/ 13 w 13"/>
              <a:gd name="T15" fmla="*/ 348 h 2552"/>
              <a:gd name="T16" fmla="*/ 13 w 13"/>
              <a:gd name="T17" fmla="*/ 384 h 2552"/>
              <a:gd name="T18" fmla="*/ 13 w 13"/>
              <a:gd name="T19" fmla="*/ 408 h 2552"/>
              <a:gd name="T20" fmla="*/ 0 w 13"/>
              <a:gd name="T21" fmla="*/ 456 h 2552"/>
              <a:gd name="T22" fmla="*/ 0 w 13"/>
              <a:gd name="T23" fmla="*/ 515 h 2552"/>
              <a:gd name="T24" fmla="*/ 13 w 13"/>
              <a:gd name="T25" fmla="*/ 563 h 2552"/>
              <a:gd name="T26" fmla="*/ 13 w 13"/>
              <a:gd name="T27" fmla="*/ 599 h 2552"/>
              <a:gd name="T28" fmla="*/ 13 w 13"/>
              <a:gd name="T29" fmla="*/ 623 h 2552"/>
              <a:gd name="T30" fmla="*/ 0 w 13"/>
              <a:gd name="T31" fmla="*/ 671 h 2552"/>
              <a:gd name="T32" fmla="*/ 0 w 13"/>
              <a:gd name="T33" fmla="*/ 731 h 2552"/>
              <a:gd name="T34" fmla="*/ 13 w 13"/>
              <a:gd name="T35" fmla="*/ 779 h 2552"/>
              <a:gd name="T36" fmla="*/ 13 w 13"/>
              <a:gd name="T37" fmla="*/ 815 h 2552"/>
              <a:gd name="T38" fmla="*/ 13 w 13"/>
              <a:gd name="T39" fmla="*/ 839 h 2552"/>
              <a:gd name="T40" fmla="*/ 0 w 13"/>
              <a:gd name="T41" fmla="*/ 887 h 2552"/>
              <a:gd name="T42" fmla="*/ 0 w 13"/>
              <a:gd name="T43" fmla="*/ 947 h 2552"/>
              <a:gd name="T44" fmla="*/ 13 w 13"/>
              <a:gd name="T45" fmla="*/ 995 h 2552"/>
              <a:gd name="T46" fmla="*/ 13 w 13"/>
              <a:gd name="T47" fmla="*/ 1031 h 2552"/>
              <a:gd name="T48" fmla="*/ 13 w 13"/>
              <a:gd name="T49" fmla="*/ 1054 h 2552"/>
              <a:gd name="T50" fmla="*/ 0 w 13"/>
              <a:gd name="T51" fmla="*/ 1102 h 2552"/>
              <a:gd name="T52" fmla="*/ 0 w 13"/>
              <a:gd name="T53" fmla="*/ 1162 h 2552"/>
              <a:gd name="T54" fmla="*/ 13 w 13"/>
              <a:gd name="T55" fmla="*/ 1210 h 2552"/>
              <a:gd name="T56" fmla="*/ 13 w 13"/>
              <a:gd name="T57" fmla="*/ 1246 h 2552"/>
              <a:gd name="T58" fmla="*/ 13 w 13"/>
              <a:gd name="T59" fmla="*/ 1270 h 2552"/>
              <a:gd name="T60" fmla="*/ 0 w 13"/>
              <a:gd name="T61" fmla="*/ 1318 h 2552"/>
              <a:gd name="T62" fmla="*/ 0 w 13"/>
              <a:gd name="T63" fmla="*/ 1378 h 2552"/>
              <a:gd name="T64" fmla="*/ 13 w 13"/>
              <a:gd name="T65" fmla="*/ 1426 h 2552"/>
              <a:gd name="T66" fmla="*/ 13 w 13"/>
              <a:gd name="T67" fmla="*/ 1462 h 2552"/>
              <a:gd name="T68" fmla="*/ 13 w 13"/>
              <a:gd name="T69" fmla="*/ 1486 h 2552"/>
              <a:gd name="T70" fmla="*/ 0 w 13"/>
              <a:gd name="T71" fmla="*/ 1534 h 2552"/>
              <a:gd name="T72" fmla="*/ 0 w 13"/>
              <a:gd name="T73" fmla="*/ 1593 h 2552"/>
              <a:gd name="T74" fmla="*/ 13 w 13"/>
              <a:gd name="T75" fmla="*/ 1641 h 2552"/>
              <a:gd name="T76" fmla="*/ 13 w 13"/>
              <a:gd name="T77" fmla="*/ 1677 h 2552"/>
              <a:gd name="T78" fmla="*/ 13 w 13"/>
              <a:gd name="T79" fmla="*/ 1701 h 2552"/>
              <a:gd name="T80" fmla="*/ 0 w 13"/>
              <a:gd name="T81" fmla="*/ 1749 h 2552"/>
              <a:gd name="T82" fmla="*/ 0 w 13"/>
              <a:gd name="T83" fmla="*/ 1809 h 2552"/>
              <a:gd name="T84" fmla="*/ 13 w 13"/>
              <a:gd name="T85" fmla="*/ 1857 h 2552"/>
              <a:gd name="T86" fmla="*/ 13 w 13"/>
              <a:gd name="T87" fmla="*/ 1893 h 2552"/>
              <a:gd name="T88" fmla="*/ 13 w 13"/>
              <a:gd name="T89" fmla="*/ 1917 h 2552"/>
              <a:gd name="T90" fmla="*/ 0 w 13"/>
              <a:gd name="T91" fmla="*/ 1965 h 2552"/>
              <a:gd name="T92" fmla="*/ 0 w 13"/>
              <a:gd name="T93" fmla="*/ 2025 h 2552"/>
              <a:gd name="T94" fmla="*/ 13 w 13"/>
              <a:gd name="T95" fmla="*/ 2073 h 2552"/>
              <a:gd name="T96" fmla="*/ 13 w 13"/>
              <a:gd name="T97" fmla="*/ 2109 h 2552"/>
              <a:gd name="T98" fmla="*/ 13 w 13"/>
              <a:gd name="T99" fmla="*/ 2132 h 2552"/>
              <a:gd name="T100" fmla="*/ 0 w 13"/>
              <a:gd name="T101" fmla="*/ 2180 h 2552"/>
              <a:gd name="T102" fmla="*/ 0 w 13"/>
              <a:gd name="T103" fmla="*/ 2240 h 2552"/>
              <a:gd name="T104" fmla="*/ 13 w 13"/>
              <a:gd name="T105" fmla="*/ 2288 h 2552"/>
              <a:gd name="T106" fmla="*/ 13 w 13"/>
              <a:gd name="T107" fmla="*/ 2324 h 2552"/>
              <a:gd name="T108" fmla="*/ 13 w 13"/>
              <a:gd name="T109" fmla="*/ 2348 h 2552"/>
              <a:gd name="T110" fmla="*/ 0 w 13"/>
              <a:gd name="T111" fmla="*/ 2396 h 2552"/>
              <a:gd name="T112" fmla="*/ 0 w 13"/>
              <a:gd name="T113" fmla="*/ 2456 h 2552"/>
              <a:gd name="T114" fmla="*/ 13 w 13"/>
              <a:gd name="T115" fmla="*/ 2504 h 2552"/>
              <a:gd name="T116" fmla="*/ 13 w 13"/>
              <a:gd name="T117" fmla="*/ 2540 h 25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13" h="2552">
                <a:moveTo>
                  <a:pt x="13" y="0"/>
                </a:moveTo>
                <a:lnTo>
                  <a:pt x="13" y="12"/>
                </a:lnTo>
                <a:lnTo>
                  <a:pt x="0" y="12"/>
                </a:lnTo>
                <a:lnTo>
                  <a:pt x="0" y="0"/>
                </a:lnTo>
                <a:lnTo>
                  <a:pt x="13" y="0"/>
                </a:lnTo>
                <a:close/>
                <a:moveTo>
                  <a:pt x="13" y="24"/>
                </a:moveTo>
                <a:lnTo>
                  <a:pt x="13" y="36"/>
                </a:lnTo>
                <a:lnTo>
                  <a:pt x="0" y="36"/>
                </a:lnTo>
                <a:lnTo>
                  <a:pt x="0" y="24"/>
                </a:lnTo>
                <a:lnTo>
                  <a:pt x="13" y="24"/>
                </a:lnTo>
                <a:close/>
                <a:moveTo>
                  <a:pt x="13" y="48"/>
                </a:moveTo>
                <a:lnTo>
                  <a:pt x="13" y="60"/>
                </a:lnTo>
                <a:lnTo>
                  <a:pt x="0" y="60"/>
                </a:lnTo>
                <a:lnTo>
                  <a:pt x="0" y="48"/>
                </a:lnTo>
                <a:lnTo>
                  <a:pt x="13" y="48"/>
                </a:lnTo>
                <a:close/>
                <a:moveTo>
                  <a:pt x="13" y="72"/>
                </a:moveTo>
                <a:lnTo>
                  <a:pt x="13" y="84"/>
                </a:lnTo>
                <a:lnTo>
                  <a:pt x="0" y="84"/>
                </a:lnTo>
                <a:lnTo>
                  <a:pt x="0" y="72"/>
                </a:lnTo>
                <a:lnTo>
                  <a:pt x="13" y="72"/>
                </a:lnTo>
                <a:close/>
                <a:moveTo>
                  <a:pt x="13" y="96"/>
                </a:moveTo>
                <a:lnTo>
                  <a:pt x="13" y="108"/>
                </a:lnTo>
                <a:lnTo>
                  <a:pt x="0" y="108"/>
                </a:lnTo>
                <a:lnTo>
                  <a:pt x="0" y="96"/>
                </a:lnTo>
                <a:lnTo>
                  <a:pt x="13" y="96"/>
                </a:lnTo>
                <a:close/>
                <a:moveTo>
                  <a:pt x="13" y="120"/>
                </a:moveTo>
                <a:lnTo>
                  <a:pt x="13" y="132"/>
                </a:lnTo>
                <a:lnTo>
                  <a:pt x="0" y="132"/>
                </a:lnTo>
                <a:lnTo>
                  <a:pt x="0" y="120"/>
                </a:lnTo>
                <a:lnTo>
                  <a:pt x="13" y="120"/>
                </a:lnTo>
                <a:close/>
                <a:moveTo>
                  <a:pt x="13" y="144"/>
                </a:moveTo>
                <a:lnTo>
                  <a:pt x="13" y="156"/>
                </a:lnTo>
                <a:lnTo>
                  <a:pt x="0" y="156"/>
                </a:lnTo>
                <a:lnTo>
                  <a:pt x="0" y="144"/>
                </a:lnTo>
                <a:lnTo>
                  <a:pt x="13" y="144"/>
                </a:lnTo>
                <a:close/>
                <a:moveTo>
                  <a:pt x="13" y="168"/>
                </a:moveTo>
                <a:lnTo>
                  <a:pt x="13" y="180"/>
                </a:lnTo>
                <a:lnTo>
                  <a:pt x="0" y="180"/>
                </a:lnTo>
                <a:lnTo>
                  <a:pt x="0" y="168"/>
                </a:lnTo>
                <a:lnTo>
                  <a:pt x="13" y="168"/>
                </a:lnTo>
                <a:close/>
                <a:moveTo>
                  <a:pt x="13" y="192"/>
                </a:moveTo>
                <a:lnTo>
                  <a:pt x="13" y="204"/>
                </a:lnTo>
                <a:lnTo>
                  <a:pt x="0" y="204"/>
                </a:lnTo>
                <a:lnTo>
                  <a:pt x="0" y="192"/>
                </a:lnTo>
                <a:lnTo>
                  <a:pt x="13" y="192"/>
                </a:lnTo>
                <a:close/>
                <a:moveTo>
                  <a:pt x="13" y="216"/>
                </a:moveTo>
                <a:lnTo>
                  <a:pt x="13" y="228"/>
                </a:lnTo>
                <a:lnTo>
                  <a:pt x="0" y="228"/>
                </a:lnTo>
                <a:lnTo>
                  <a:pt x="0" y="216"/>
                </a:lnTo>
                <a:lnTo>
                  <a:pt x="13" y="216"/>
                </a:lnTo>
                <a:close/>
                <a:moveTo>
                  <a:pt x="13" y="240"/>
                </a:moveTo>
                <a:lnTo>
                  <a:pt x="13" y="252"/>
                </a:lnTo>
                <a:lnTo>
                  <a:pt x="0" y="252"/>
                </a:lnTo>
                <a:lnTo>
                  <a:pt x="0" y="240"/>
                </a:lnTo>
                <a:lnTo>
                  <a:pt x="13" y="240"/>
                </a:lnTo>
                <a:close/>
                <a:moveTo>
                  <a:pt x="13" y="264"/>
                </a:moveTo>
                <a:lnTo>
                  <a:pt x="13" y="276"/>
                </a:lnTo>
                <a:lnTo>
                  <a:pt x="0" y="276"/>
                </a:lnTo>
                <a:lnTo>
                  <a:pt x="0" y="264"/>
                </a:lnTo>
                <a:lnTo>
                  <a:pt x="13" y="264"/>
                </a:lnTo>
                <a:close/>
                <a:moveTo>
                  <a:pt x="13" y="288"/>
                </a:moveTo>
                <a:lnTo>
                  <a:pt x="13" y="300"/>
                </a:lnTo>
                <a:lnTo>
                  <a:pt x="0" y="300"/>
                </a:lnTo>
                <a:lnTo>
                  <a:pt x="0" y="288"/>
                </a:lnTo>
                <a:lnTo>
                  <a:pt x="13" y="288"/>
                </a:lnTo>
                <a:close/>
                <a:moveTo>
                  <a:pt x="13" y="312"/>
                </a:moveTo>
                <a:lnTo>
                  <a:pt x="13" y="324"/>
                </a:lnTo>
                <a:lnTo>
                  <a:pt x="0" y="324"/>
                </a:lnTo>
                <a:lnTo>
                  <a:pt x="0" y="312"/>
                </a:lnTo>
                <a:lnTo>
                  <a:pt x="13" y="312"/>
                </a:lnTo>
                <a:close/>
                <a:moveTo>
                  <a:pt x="13" y="336"/>
                </a:moveTo>
                <a:lnTo>
                  <a:pt x="13" y="348"/>
                </a:lnTo>
                <a:lnTo>
                  <a:pt x="0" y="348"/>
                </a:lnTo>
                <a:lnTo>
                  <a:pt x="0" y="336"/>
                </a:lnTo>
                <a:lnTo>
                  <a:pt x="13" y="336"/>
                </a:lnTo>
                <a:close/>
                <a:moveTo>
                  <a:pt x="13" y="360"/>
                </a:moveTo>
                <a:lnTo>
                  <a:pt x="13" y="372"/>
                </a:lnTo>
                <a:lnTo>
                  <a:pt x="0" y="372"/>
                </a:lnTo>
                <a:lnTo>
                  <a:pt x="0" y="360"/>
                </a:lnTo>
                <a:lnTo>
                  <a:pt x="13" y="360"/>
                </a:lnTo>
                <a:close/>
                <a:moveTo>
                  <a:pt x="13" y="384"/>
                </a:moveTo>
                <a:lnTo>
                  <a:pt x="13" y="396"/>
                </a:lnTo>
                <a:lnTo>
                  <a:pt x="0" y="396"/>
                </a:lnTo>
                <a:lnTo>
                  <a:pt x="0" y="384"/>
                </a:lnTo>
                <a:lnTo>
                  <a:pt x="13" y="384"/>
                </a:lnTo>
                <a:close/>
                <a:moveTo>
                  <a:pt x="13" y="408"/>
                </a:moveTo>
                <a:lnTo>
                  <a:pt x="13" y="420"/>
                </a:lnTo>
                <a:lnTo>
                  <a:pt x="0" y="420"/>
                </a:lnTo>
                <a:lnTo>
                  <a:pt x="0" y="408"/>
                </a:lnTo>
                <a:lnTo>
                  <a:pt x="13" y="408"/>
                </a:lnTo>
                <a:close/>
                <a:moveTo>
                  <a:pt x="13" y="431"/>
                </a:moveTo>
                <a:lnTo>
                  <a:pt x="13" y="444"/>
                </a:lnTo>
                <a:lnTo>
                  <a:pt x="0" y="444"/>
                </a:lnTo>
                <a:lnTo>
                  <a:pt x="0" y="431"/>
                </a:lnTo>
                <a:lnTo>
                  <a:pt x="13" y="431"/>
                </a:lnTo>
                <a:close/>
                <a:moveTo>
                  <a:pt x="13" y="456"/>
                </a:moveTo>
                <a:lnTo>
                  <a:pt x="13" y="467"/>
                </a:lnTo>
                <a:lnTo>
                  <a:pt x="0" y="467"/>
                </a:lnTo>
                <a:lnTo>
                  <a:pt x="0" y="456"/>
                </a:lnTo>
                <a:lnTo>
                  <a:pt x="13" y="456"/>
                </a:lnTo>
                <a:close/>
                <a:moveTo>
                  <a:pt x="13" y="479"/>
                </a:moveTo>
                <a:lnTo>
                  <a:pt x="13" y="492"/>
                </a:lnTo>
                <a:lnTo>
                  <a:pt x="0" y="492"/>
                </a:lnTo>
                <a:lnTo>
                  <a:pt x="0" y="479"/>
                </a:lnTo>
                <a:lnTo>
                  <a:pt x="13" y="479"/>
                </a:lnTo>
                <a:close/>
                <a:moveTo>
                  <a:pt x="13" y="503"/>
                </a:moveTo>
                <a:lnTo>
                  <a:pt x="13" y="515"/>
                </a:lnTo>
                <a:lnTo>
                  <a:pt x="0" y="515"/>
                </a:lnTo>
                <a:lnTo>
                  <a:pt x="0" y="503"/>
                </a:lnTo>
                <a:lnTo>
                  <a:pt x="13" y="503"/>
                </a:lnTo>
                <a:close/>
                <a:moveTo>
                  <a:pt x="13" y="527"/>
                </a:moveTo>
                <a:lnTo>
                  <a:pt x="13" y="539"/>
                </a:lnTo>
                <a:lnTo>
                  <a:pt x="0" y="539"/>
                </a:lnTo>
                <a:lnTo>
                  <a:pt x="0" y="527"/>
                </a:lnTo>
                <a:lnTo>
                  <a:pt x="13" y="527"/>
                </a:lnTo>
                <a:close/>
                <a:moveTo>
                  <a:pt x="13" y="551"/>
                </a:moveTo>
                <a:lnTo>
                  <a:pt x="13" y="563"/>
                </a:lnTo>
                <a:lnTo>
                  <a:pt x="0" y="563"/>
                </a:lnTo>
                <a:lnTo>
                  <a:pt x="0" y="551"/>
                </a:lnTo>
                <a:lnTo>
                  <a:pt x="13" y="551"/>
                </a:lnTo>
                <a:close/>
                <a:moveTo>
                  <a:pt x="13" y="575"/>
                </a:moveTo>
                <a:lnTo>
                  <a:pt x="13" y="587"/>
                </a:lnTo>
                <a:lnTo>
                  <a:pt x="0" y="587"/>
                </a:lnTo>
                <a:lnTo>
                  <a:pt x="0" y="575"/>
                </a:lnTo>
                <a:lnTo>
                  <a:pt x="13" y="575"/>
                </a:lnTo>
                <a:close/>
                <a:moveTo>
                  <a:pt x="13" y="599"/>
                </a:moveTo>
                <a:lnTo>
                  <a:pt x="13" y="611"/>
                </a:lnTo>
                <a:lnTo>
                  <a:pt x="0" y="611"/>
                </a:lnTo>
                <a:lnTo>
                  <a:pt x="0" y="599"/>
                </a:lnTo>
                <a:lnTo>
                  <a:pt x="13" y="599"/>
                </a:lnTo>
                <a:close/>
                <a:moveTo>
                  <a:pt x="13" y="623"/>
                </a:moveTo>
                <a:lnTo>
                  <a:pt x="13" y="635"/>
                </a:lnTo>
                <a:lnTo>
                  <a:pt x="0" y="635"/>
                </a:lnTo>
                <a:lnTo>
                  <a:pt x="0" y="623"/>
                </a:lnTo>
                <a:lnTo>
                  <a:pt x="13" y="623"/>
                </a:lnTo>
                <a:close/>
                <a:moveTo>
                  <a:pt x="13" y="647"/>
                </a:moveTo>
                <a:lnTo>
                  <a:pt x="13" y="659"/>
                </a:lnTo>
                <a:lnTo>
                  <a:pt x="0" y="659"/>
                </a:lnTo>
                <a:lnTo>
                  <a:pt x="0" y="647"/>
                </a:lnTo>
                <a:lnTo>
                  <a:pt x="13" y="647"/>
                </a:lnTo>
                <a:close/>
                <a:moveTo>
                  <a:pt x="13" y="671"/>
                </a:moveTo>
                <a:lnTo>
                  <a:pt x="13" y="683"/>
                </a:lnTo>
                <a:lnTo>
                  <a:pt x="0" y="683"/>
                </a:lnTo>
                <a:lnTo>
                  <a:pt x="0" y="671"/>
                </a:lnTo>
                <a:lnTo>
                  <a:pt x="13" y="671"/>
                </a:lnTo>
                <a:close/>
                <a:moveTo>
                  <a:pt x="13" y="695"/>
                </a:moveTo>
                <a:lnTo>
                  <a:pt x="13" y="707"/>
                </a:lnTo>
                <a:lnTo>
                  <a:pt x="0" y="707"/>
                </a:lnTo>
                <a:lnTo>
                  <a:pt x="0" y="695"/>
                </a:lnTo>
                <a:lnTo>
                  <a:pt x="13" y="695"/>
                </a:lnTo>
                <a:close/>
                <a:moveTo>
                  <a:pt x="13" y="719"/>
                </a:moveTo>
                <a:lnTo>
                  <a:pt x="13" y="731"/>
                </a:lnTo>
                <a:lnTo>
                  <a:pt x="0" y="731"/>
                </a:lnTo>
                <a:lnTo>
                  <a:pt x="0" y="719"/>
                </a:lnTo>
                <a:lnTo>
                  <a:pt x="13" y="719"/>
                </a:lnTo>
                <a:close/>
                <a:moveTo>
                  <a:pt x="13" y="743"/>
                </a:moveTo>
                <a:lnTo>
                  <a:pt x="13" y="755"/>
                </a:lnTo>
                <a:lnTo>
                  <a:pt x="0" y="755"/>
                </a:lnTo>
                <a:lnTo>
                  <a:pt x="0" y="743"/>
                </a:lnTo>
                <a:lnTo>
                  <a:pt x="13" y="743"/>
                </a:lnTo>
                <a:close/>
                <a:moveTo>
                  <a:pt x="13" y="767"/>
                </a:moveTo>
                <a:lnTo>
                  <a:pt x="13" y="779"/>
                </a:lnTo>
                <a:lnTo>
                  <a:pt x="0" y="779"/>
                </a:lnTo>
                <a:lnTo>
                  <a:pt x="0" y="767"/>
                </a:lnTo>
                <a:lnTo>
                  <a:pt x="13" y="767"/>
                </a:lnTo>
                <a:close/>
                <a:moveTo>
                  <a:pt x="13" y="791"/>
                </a:moveTo>
                <a:lnTo>
                  <a:pt x="13" y="803"/>
                </a:lnTo>
                <a:lnTo>
                  <a:pt x="0" y="803"/>
                </a:lnTo>
                <a:lnTo>
                  <a:pt x="0" y="791"/>
                </a:lnTo>
                <a:lnTo>
                  <a:pt x="13" y="791"/>
                </a:lnTo>
                <a:close/>
                <a:moveTo>
                  <a:pt x="13" y="815"/>
                </a:moveTo>
                <a:lnTo>
                  <a:pt x="13" y="827"/>
                </a:lnTo>
                <a:lnTo>
                  <a:pt x="0" y="827"/>
                </a:lnTo>
                <a:lnTo>
                  <a:pt x="0" y="815"/>
                </a:lnTo>
                <a:lnTo>
                  <a:pt x="13" y="815"/>
                </a:lnTo>
                <a:close/>
                <a:moveTo>
                  <a:pt x="13" y="839"/>
                </a:moveTo>
                <a:lnTo>
                  <a:pt x="13" y="851"/>
                </a:lnTo>
                <a:lnTo>
                  <a:pt x="0" y="851"/>
                </a:lnTo>
                <a:lnTo>
                  <a:pt x="0" y="839"/>
                </a:lnTo>
                <a:lnTo>
                  <a:pt x="13" y="839"/>
                </a:lnTo>
                <a:close/>
                <a:moveTo>
                  <a:pt x="13" y="863"/>
                </a:moveTo>
                <a:lnTo>
                  <a:pt x="13" y="875"/>
                </a:lnTo>
                <a:lnTo>
                  <a:pt x="0" y="875"/>
                </a:lnTo>
                <a:lnTo>
                  <a:pt x="0" y="863"/>
                </a:lnTo>
                <a:lnTo>
                  <a:pt x="13" y="863"/>
                </a:lnTo>
                <a:close/>
                <a:moveTo>
                  <a:pt x="13" y="887"/>
                </a:moveTo>
                <a:lnTo>
                  <a:pt x="13" y="899"/>
                </a:lnTo>
                <a:lnTo>
                  <a:pt x="0" y="899"/>
                </a:lnTo>
                <a:lnTo>
                  <a:pt x="0" y="887"/>
                </a:lnTo>
                <a:lnTo>
                  <a:pt x="13" y="887"/>
                </a:lnTo>
                <a:close/>
                <a:moveTo>
                  <a:pt x="13" y="911"/>
                </a:moveTo>
                <a:lnTo>
                  <a:pt x="13" y="923"/>
                </a:lnTo>
                <a:lnTo>
                  <a:pt x="0" y="923"/>
                </a:lnTo>
                <a:lnTo>
                  <a:pt x="0" y="911"/>
                </a:lnTo>
                <a:lnTo>
                  <a:pt x="13" y="911"/>
                </a:lnTo>
                <a:close/>
                <a:moveTo>
                  <a:pt x="13" y="935"/>
                </a:moveTo>
                <a:lnTo>
                  <a:pt x="13" y="947"/>
                </a:lnTo>
                <a:lnTo>
                  <a:pt x="0" y="947"/>
                </a:lnTo>
                <a:lnTo>
                  <a:pt x="0" y="935"/>
                </a:lnTo>
                <a:lnTo>
                  <a:pt x="13" y="935"/>
                </a:lnTo>
                <a:close/>
                <a:moveTo>
                  <a:pt x="13" y="959"/>
                </a:moveTo>
                <a:lnTo>
                  <a:pt x="13" y="970"/>
                </a:lnTo>
                <a:lnTo>
                  <a:pt x="0" y="970"/>
                </a:lnTo>
                <a:lnTo>
                  <a:pt x="0" y="959"/>
                </a:lnTo>
                <a:lnTo>
                  <a:pt x="13" y="959"/>
                </a:lnTo>
                <a:close/>
                <a:moveTo>
                  <a:pt x="13" y="983"/>
                </a:moveTo>
                <a:lnTo>
                  <a:pt x="13" y="995"/>
                </a:lnTo>
                <a:lnTo>
                  <a:pt x="0" y="995"/>
                </a:lnTo>
                <a:lnTo>
                  <a:pt x="0" y="983"/>
                </a:lnTo>
                <a:lnTo>
                  <a:pt x="13" y="983"/>
                </a:lnTo>
                <a:close/>
                <a:moveTo>
                  <a:pt x="13" y="1006"/>
                </a:moveTo>
                <a:lnTo>
                  <a:pt x="13" y="1018"/>
                </a:lnTo>
                <a:lnTo>
                  <a:pt x="0" y="1018"/>
                </a:lnTo>
                <a:lnTo>
                  <a:pt x="0" y="1006"/>
                </a:lnTo>
                <a:lnTo>
                  <a:pt x="13" y="1006"/>
                </a:lnTo>
                <a:close/>
                <a:moveTo>
                  <a:pt x="13" y="1031"/>
                </a:moveTo>
                <a:lnTo>
                  <a:pt x="13" y="1042"/>
                </a:lnTo>
                <a:lnTo>
                  <a:pt x="0" y="1042"/>
                </a:lnTo>
                <a:lnTo>
                  <a:pt x="0" y="1031"/>
                </a:lnTo>
                <a:lnTo>
                  <a:pt x="13" y="1031"/>
                </a:lnTo>
                <a:close/>
                <a:moveTo>
                  <a:pt x="13" y="1054"/>
                </a:moveTo>
                <a:lnTo>
                  <a:pt x="13" y="1066"/>
                </a:lnTo>
                <a:lnTo>
                  <a:pt x="0" y="1066"/>
                </a:lnTo>
                <a:lnTo>
                  <a:pt x="0" y="1054"/>
                </a:lnTo>
                <a:lnTo>
                  <a:pt x="13" y="1054"/>
                </a:lnTo>
                <a:close/>
                <a:moveTo>
                  <a:pt x="13" y="1078"/>
                </a:moveTo>
                <a:lnTo>
                  <a:pt x="13" y="1090"/>
                </a:lnTo>
                <a:lnTo>
                  <a:pt x="0" y="1090"/>
                </a:lnTo>
                <a:lnTo>
                  <a:pt x="0" y="1078"/>
                </a:lnTo>
                <a:lnTo>
                  <a:pt x="13" y="1078"/>
                </a:lnTo>
                <a:close/>
                <a:moveTo>
                  <a:pt x="13" y="1102"/>
                </a:moveTo>
                <a:lnTo>
                  <a:pt x="13" y="1114"/>
                </a:lnTo>
                <a:lnTo>
                  <a:pt x="0" y="1114"/>
                </a:lnTo>
                <a:lnTo>
                  <a:pt x="0" y="1102"/>
                </a:lnTo>
                <a:lnTo>
                  <a:pt x="13" y="1102"/>
                </a:lnTo>
                <a:close/>
                <a:moveTo>
                  <a:pt x="13" y="1126"/>
                </a:moveTo>
                <a:lnTo>
                  <a:pt x="13" y="1138"/>
                </a:lnTo>
                <a:lnTo>
                  <a:pt x="0" y="1138"/>
                </a:lnTo>
                <a:lnTo>
                  <a:pt x="0" y="1126"/>
                </a:lnTo>
                <a:lnTo>
                  <a:pt x="13" y="1126"/>
                </a:lnTo>
                <a:close/>
                <a:moveTo>
                  <a:pt x="13" y="1150"/>
                </a:moveTo>
                <a:lnTo>
                  <a:pt x="13" y="1162"/>
                </a:lnTo>
                <a:lnTo>
                  <a:pt x="0" y="1162"/>
                </a:lnTo>
                <a:lnTo>
                  <a:pt x="0" y="1150"/>
                </a:lnTo>
                <a:lnTo>
                  <a:pt x="13" y="1150"/>
                </a:lnTo>
                <a:close/>
                <a:moveTo>
                  <a:pt x="13" y="1174"/>
                </a:moveTo>
                <a:lnTo>
                  <a:pt x="13" y="1186"/>
                </a:lnTo>
                <a:lnTo>
                  <a:pt x="0" y="1186"/>
                </a:lnTo>
                <a:lnTo>
                  <a:pt x="0" y="1174"/>
                </a:lnTo>
                <a:lnTo>
                  <a:pt x="13" y="1174"/>
                </a:lnTo>
                <a:close/>
                <a:moveTo>
                  <a:pt x="13" y="1198"/>
                </a:moveTo>
                <a:lnTo>
                  <a:pt x="13" y="1210"/>
                </a:lnTo>
                <a:lnTo>
                  <a:pt x="0" y="1210"/>
                </a:lnTo>
                <a:lnTo>
                  <a:pt x="0" y="1198"/>
                </a:lnTo>
                <a:lnTo>
                  <a:pt x="13" y="1198"/>
                </a:lnTo>
                <a:close/>
                <a:moveTo>
                  <a:pt x="13" y="1222"/>
                </a:moveTo>
                <a:lnTo>
                  <a:pt x="13" y="1234"/>
                </a:lnTo>
                <a:lnTo>
                  <a:pt x="0" y="1234"/>
                </a:lnTo>
                <a:lnTo>
                  <a:pt x="0" y="1222"/>
                </a:lnTo>
                <a:lnTo>
                  <a:pt x="13" y="1222"/>
                </a:lnTo>
                <a:close/>
                <a:moveTo>
                  <a:pt x="13" y="1246"/>
                </a:moveTo>
                <a:lnTo>
                  <a:pt x="13" y="1258"/>
                </a:lnTo>
                <a:lnTo>
                  <a:pt x="0" y="1258"/>
                </a:lnTo>
                <a:lnTo>
                  <a:pt x="0" y="1246"/>
                </a:lnTo>
                <a:lnTo>
                  <a:pt x="13" y="1246"/>
                </a:lnTo>
                <a:close/>
                <a:moveTo>
                  <a:pt x="13" y="1270"/>
                </a:moveTo>
                <a:lnTo>
                  <a:pt x="13" y="1282"/>
                </a:lnTo>
                <a:lnTo>
                  <a:pt x="0" y="1282"/>
                </a:lnTo>
                <a:lnTo>
                  <a:pt x="0" y="1270"/>
                </a:lnTo>
                <a:lnTo>
                  <a:pt x="13" y="1270"/>
                </a:lnTo>
                <a:close/>
                <a:moveTo>
                  <a:pt x="13" y="1294"/>
                </a:moveTo>
                <a:lnTo>
                  <a:pt x="13" y="1306"/>
                </a:lnTo>
                <a:lnTo>
                  <a:pt x="0" y="1306"/>
                </a:lnTo>
                <a:lnTo>
                  <a:pt x="0" y="1294"/>
                </a:lnTo>
                <a:lnTo>
                  <a:pt x="13" y="1294"/>
                </a:lnTo>
                <a:close/>
                <a:moveTo>
                  <a:pt x="13" y="1318"/>
                </a:moveTo>
                <a:lnTo>
                  <a:pt x="13" y="1330"/>
                </a:lnTo>
                <a:lnTo>
                  <a:pt x="0" y="1330"/>
                </a:lnTo>
                <a:lnTo>
                  <a:pt x="0" y="1318"/>
                </a:lnTo>
                <a:lnTo>
                  <a:pt x="13" y="1318"/>
                </a:lnTo>
                <a:close/>
                <a:moveTo>
                  <a:pt x="13" y="1342"/>
                </a:moveTo>
                <a:lnTo>
                  <a:pt x="13" y="1354"/>
                </a:lnTo>
                <a:lnTo>
                  <a:pt x="0" y="1354"/>
                </a:lnTo>
                <a:lnTo>
                  <a:pt x="0" y="1342"/>
                </a:lnTo>
                <a:lnTo>
                  <a:pt x="13" y="1342"/>
                </a:lnTo>
                <a:close/>
                <a:moveTo>
                  <a:pt x="13" y="1366"/>
                </a:moveTo>
                <a:lnTo>
                  <a:pt x="13" y="1378"/>
                </a:lnTo>
                <a:lnTo>
                  <a:pt x="0" y="1378"/>
                </a:lnTo>
                <a:lnTo>
                  <a:pt x="0" y="1366"/>
                </a:lnTo>
                <a:lnTo>
                  <a:pt x="13" y="1366"/>
                </a:lnTo>
                <a:close/>
                <a:moveTo>
                  <a:pt x="13" y="1390"/>
                </a:moveTo>
                <a:lnTo>
                  <a:pt x="13" y="1402"/>
                </a:lnTo>
                <a:lnTo>
                  <a:pt x="0" y="1402"/>
                </a:lnTo>
                <a:lnTo>
                  <a:pt x="0" y="1390"/>
                </a:lnTo>
                <a:lnTo>
                  <a:pt x="13" y="1390"/>
                </a:lnTo>
                <a:close/>
                <a:moveTo>
                  <a:pt x="13" y="1414"/>
                </a:moveTo>
                <a:lnTo>
                  <a:pt x="13" y="1426"/>
                </a:lnTo>
                <a:lnTo>
                  <a:pt x="0" y="1426"/>
                </a:lnTo>
                <a:lnTo>
                  <a:pt x="0" y="1414"/>
                </a:lnTo>
                <a:lnTo>
                  <a:pt x="13" y="1414"/>
                </a:lnTo>
                <a:close/>
                <a:moveTo>
                  <a:pt x="13" y="1438"/>
                </a:moveTo>
                <a:lnTo>
                  <a:pt x="13" y="1450"/>
                </a:lnTo>
                <a:lnTo>
                  <a:pt x="0" y="1450"/>
                </a:lnTo>
                <a:lnTo>
                  <a:pt x="0" y="1438"/>
                </a:lnTo>
                <a:lnTo>
                  <a:pt x="13" y="1438"/>
                </a:lnTo>
                <a:close/>
                <a:moveTo>
                  <a:pt x="13" y="1462"/>
                </a:moveTo>
                <a:lnTo>
                  <a:pt x="13" y="1474"/>
                </a:lnTo>
                <a:lnTo>
                  <a:pt x="0" y="1474"/>
                </a:lnTo>
                <a:lnTo>
                  <a:pt x="0" y="1462"/>
                </a:lnTo>
                <a:lnTo>
                  <a:pt x="13" y="1462"/>
                </a:lnTo>
                <a:close/>
                <a:moveTo>
                  <a:pt x="13" y="1486"/>
                </a:moveTo>
                <a:lnTo>
                  <a:pt x="13" y="1498"/>
                </a:lnTo>
                <a:lnTo>
                  <a:pt x="0" y="1498"/>
                </a:lnTo>
                <a:lnTo>
                  <a:pt x="0" y="1486"/>
                </a:lnTo>
                <a:lnTo>
                  <a:pt x="13" y="1486"/>
                </a:lnTo>
                <a:close/>
                <a:moveTo>
                  <a:pt x="13" y="1509"/>
                </a:moveTo>
                <a:lnTo>
                  <a:pt x="13" y="1522"/>
                </a:lnTo>
                <a:lnTo>
                  <a:pt x="0" y="1522"/>
                </a:lnTo>
                <a:lnTo>
                  <a:pt x="0" y="1509"/>
                </a:lnTo>
                <a:lnTo>
                  <a:pt x="13" y="1509"/>
                </a:lnTo>
                <a:close/>
                <a:moveTo>
                  <a:pt x="13" y="1534"/>
                </a:moveTo>
                <a:lnTo>
                  <a:pt x="13" y="1545"/>
                </a:lnTo>
                <a:lnTo>
                  <a:pt x="0" y="1545"/>
                </a:lnTo>
                <a:lnTo>
                  <a:pt x="0" y="1534"/>
                </a:lnTo>
                <a:lnTo>
                  <a:pt x="13" y="1534"/>
                </a:lnTo>
                <a:close/>
                <a:moveTo>
                  <a:pt x="13" y="1557"/>
                </a:moveTo>
                <a:lnTo>
                  <a:pt x="13" y="1570"/>
                </a:lnTo>
                <a:lnTo>
                  <a:pt x="0" y="1570"/>
                </a:lnTo>
                <a:lnTo>
                  <a:pt x="0" y="1557"/>
                </a:lnTo>
                <a:lnTo>
                  <a:pt x="13" y="1557"/>
                </a:lnTo>
                <a:close/>
                <a:moveTo>
                  <a:pt x="13" y="1581"/>
                </a:moveTo>
                <a:lnTo>
                  <a:pt x="13" y="1593"/>
                </a:lnTo>
                <a:lnTo>
                  <a:pt x="0" y="1593"/>
                </a:lnTo>
                <a:lnTo>
                  <a:pt x="0" y="1581"/>
                </a:lnTo>
                <a:lnTo>
                  <a:pt x="13" y="1581"/>
                </a:lnTo>
                <a:close/>
                <a:moveTo>
                  <a:pt x="13" y="1605"/>
                </a:moveTo>
                <a:lnTo>
                  <a:pt x="13" y="1617"/>
                </a:lnTo>
                <a:lnTo>
                  <a:pt x="0" y="1617"/>
                </a:lnTo>
                <a:lnTo>
                  <a:pt x="0" y="1605"/>
                </a:lnTo>
                <a:lnTo>
                  <a:pt x="13" y="1605"/>
                </a:lnTo>
                <a:close/>
                <a:moveTo>
                  <a:pt x="13" y="1629"/>
                </a:moveTo>
                <a:lnTo>
                  <a:pt x="13" y="1641"/>
                </a:lnTo>
                <a:lnTo>
                  <a:pt x="0" y="1641"/>
                </a:lnTo>
                <a:lnTo>
                  <a:pt x="0" y="1629"/>
                </a:lnTo>
                <a:lnTo>
                  <a:pt x="13" y="1629"/>
                </a:lnTo>
                <a:close/>
                <a:moveTo>
                  <a:pt x="13" y="1653"/>
                </a:moveTo>
                <a:lnTo>
                  <a:pt x="13" y="1665"/>
                </a:lnTo>
                <a:lnTo>
                  <a:pt x="0" y="1665"/>
                </a:lnTo>
                <a:lnTo>
                  <a:pt x="0" y="1653"/>
                </a:lnTo>
                <a:lnTo>
                  <a:pt x="13" y="1653"/>
                </a:lnTo>
                <a:close/>
                <a:moveTo>
                  <a:pt x="13" y="1677"/>
                </a:moveTo>
                <a:lnTo>
                  <a:pt x="13" y="1689"/>
                </a:lnTo>
                <a:lnTo>
                  <a:pt x="0" y="1689"/>
                </a:lnTo>
                <a:lnTo>
                  <a:pt x="0" y="1677"/>
                </a:lnTo>
                <a:lnTo>
                  <a:pt x="13" y="1677"/>
                </a:lnTo>
                <a:close/>
                <a:moveTo>
                  <a:pt x="13" y="1701"/>
                </a:moveTo>
                <a:lnTo>
                  <a:pt x="13" y="1713"/>
                </a:lnTo>
                <a:lnTo>
                  <a:pt x="0" y="1713"/>
                </a:lnTo>
                <a:lnTo>
                  <a:pt x="0" y="1701"/>
                </a:lnTo>
                <a:lnTo>
                  <a:pt x="13" y="1701"/>
                </a:lnTo>
                <a:close/>
                <a:moveTo>
                  <a:pt x="13" y="1725"/>
                </a:moveTo>
                <a:lnTo>
                  <a:pt x="13" y="1737"/>
                </a:lnTo>
                <a:lnTo>
                  <a:pt x="0" y="1737"/>
                </a:lnTo>
                <a:lnTo>
                  <a:pt x="0" y="1725"/>
                </a:lnTo>
                <a:lnTo>
                  <a:pt x="13" y="1725"/>
                </a:lnTo>
                <a:close/>
                <a:moveTo>
                  <a:pt x="13" y="1749"/>
                </a:moveTo>
                <a:lnTo>
                  <a:pt x="13" y="1761"/>
                </a:lnTo>
                <a:lnTo>
                  <a:pt x="0" y="1761"/>
                </a:lnTo>
                <a:lnTo>
                  <a:pt x="0" y="1749"/>
                </a:lnTo>
                <a:lnTo>
                  <a:pt x="13" y="1749"/>
                </a:lnTo>
                <a:close/>
                <a:moveTo>
                  <a:pt x="13" y="1773"/>
                </a:moveTo>
                <a:lnTo>
                  <a:pt x="13" y="1785"/>
                </a:lnTo>
                <a:lnTo>
                  <a:pt x="0" y="1785"/>
                </a:lnTo>
                <a:lnTo>
                  <a:pt x="0" y="1773"/>
                </a:lnTo>
                <a:lnTo>
                  <a:pt x="13" y="1773"/>
                </a:lnTo>
                <a:close/>
                <a:moveTo>
                  <a:pt x="13" y="1797"/>
                </a:moveTo>
                <a:lnTo>
                  <a:pt x="13" y="1809"/>
                </a:lnTo>
                <a:lnTo>
                  <a:pt x="0" y="1809"/>
                </a:lnTo>
                <a:lnTo>
                  <a:pt x="0" y="1797"/>
                </a:lnTo>
                <a:lnTo>
                  <a:pt x="13" y="1797"/>
                </a:lnTo>
                <a:close/>
                <a:moveTo>
                  <a:pt x="13" y="1821"/>
                </a:moveTo>
                <a:lnTo>
                  <a:pt x="13" y="1833"/>
                </a:lnTo>
                <a:lnTo>
                  <a:pt x="0" y="1833"/>
                </a:lnTo>
                <a:lnTo>
                  <a:pt x="0" y="1821"/>
                </a:lnTo>
                <a:lnTo>
                  <a:pt x="13" y="1821"/>
                </a:lnTo>
                <a:close/>
                <a:moveTo>
                  <a:pt x="13" y="1845"/>
                </a:moveTo>
                <a:lnTo>
                  <a:pt x="13" y="1857"/>
                </a:lnTo>
                <a:lnTo>
                  <a:pt x="0" y="1857"/>
                </a:lnTo>
                <a:lnTo>
                  <a:pt x="0" y="1845"/>
                </a:lnTo>
                <a:lnTo>
                  <a:pt x="13" y="1845"/>
                </a:lnTo>
                <a:close/>
                <a:moveTo>
                  <a:pt x="13" y="1869"/>
                </a:moveTo>
                <a:lnTo>
                  <a:pt x="13" y="1881"/>
                </a:lnTo>
                <a:lnTo>
                  <a:pt x="0" y="1881"/>
                </a:lnTo>
                <a:lnTo>
                  <a:pt x="0" y="1869"/>
                </a:lnTo>
                <a:lnTo>
                  <a:pt x="13" y="1869"/>
                </a:lnTo>
                <a:close/>
                <a:moveTo>
                  <a:pt x="13" y="1893"/>
                </a:moveTo>
                <a:lnTo>
                  <a:pt x="13" y="1905"/>
                </a:lnTo>
                <a:lnTo>
                  <a:pt x="0" y="1905"/>
                </a:lnTo>
                <a:lnTo>
                  <a:pt x="0" y="1893"/>
                </a:lnTo>
                <a:lnTo>
                  <a:pt x="13" y="1893"/>
                </a:lnTo>
                <a:close/>
                <a:moveTo>
                  <a:pt x="13" y="1917"/>
                </a:moveTo>
                <a:lnTo>
                  <a:pt x="13" y="1929"/>
                </a:lnTo>
                <a:lnTo>
                  <a:pt x="0" y="1929"/>
                </a:lnTo>
                <a:lnTo>
                  <a:pt x="0" y="1917"/>
                </a:lnTo>
                <a:lnTo>
                  <a:pt x="13" y="1917"/>
                </a:lnTo>
                <a:close/>
                <a:moveTo>
                  <a:pt x="13" y="1941"/>
                </a:moveTo>
                <a:lnTo>
                  <a:pt x="13" y="1953"/>
                </a:lnTo>
                <a:lnTo>
                  <a:pt x="0" y="1953"/>
                </a:lnTo>
                <a:lnTo>
                  <a:pt x="0" y="1941"/>
                </a:lnTo>
                <a:lnTo>
                  <a:pt x="13" y="1941"/>
                </a:lnTo>
                <a:close/>
                <a:moveTo>
                  <a:pt x="13" y="1965"/>
                </a:moveTo>
                <a:lnTo>
                  <a:pt x="13" y="1977"/>
                </a:lnTo>
                <a:lnTo>
                  <a:pt x="0" y="1977"/>
                </a:lnTo>
                <a:lnTo>
                  <a:pt x="0" y="1965"/>
                </a:lnTo>
                <a:lnTo>
                  <a:pt x="13" y="1965"/>
                </a:lnTo>
                <a:close/>
                <a:moveTo>
                  <a:pt x="13" y="1989"/>
                </a:moveTo>
                <a:lnTo>
                  <a:pt x="13" y="2001"/>
                </a:lnTo>
                <a:lnTo>
                  <a:pt x="0" y="2001"/>
                </a:lnTo>
                <a:lnTo>
                  <a:pt x="0" y="1989"/>
                </a:lnTo>
                <a:lnTo>
                  <a:pt x="13" y="1989"/>
                </a:lnTo>
                <a:close/>
                <a:moveTo>
                  <a:pt x="13" y="2013"/>
                </a:moveTo>
                <a:lnTo>
                  <a:pt x="13" y="2025"/>
                </a:lnTo>
                <a:lnTo>
                  <a:pt x="0" y="2025"/>
                </a:lnTo>
                <a:lnTo>
                  <a:pt x="0" y="2013"/>
                </a:lnTo>
                <a:lnTo>
                  <a:pt x="13" y="2013"/>
                </a:lnTo>
                <a:close/>
                <a:moveTo>
                  <a:pt x="13" y="2037"/>
                </a:moveTo>
                <a:lnTo>
                  <a:pt x="13" y="2048"/>
                </a:lnTo>
                <a:lnTo>
                  <a:pt x="0" y="2048"/>
                </a:lnTo>
                <a:lnTo>
                  <a:pt x="0" y="2037"/>
                </a:lnTo>
                <a:lnTo>
                  <a:pt x="13" y="2037"/>
                </a:lnTo>
                <a:close/>
                <a:moveTo>
                  <a:pt x="13" y="2061"/>
                </a:moveTo>
                <a:lnTo>
                  <a:pt x="13" y="2073"/>
                </a:lnTo>
                <a:lnTo>
                  <a:pt x="0" y="2073"/>
                </a:lnTo>
                <a:lnTo>
                  <a:pt x="0" y="2061"/>
                </a:lnTo>
                <a:lnTo>
                  <a:pt x="13" y="2061"/>
                </a:lnTo>
                <a:close/>
                <a:moveTo>
                  <a:pt x="13" y="2084"/>
                </a:moveTo>
                <a:lnTo>
                  <a:pt x="13" y="2096"/>
                </a:lnTo>
                <a:lnTo>
                  <a:pt x="0" y="2096"/>
                </a:lnTo>
                <a:lnTo>
                  <a:pt x="0" y="2084"/>
                </a:lnTo>
                <a:lnTo>
                  <a:pt x="13" y="2084"/>
                </a:lnTo>
                <a:close/>
                <a:moveTo>
                  <a:pt x="13" y="2109"/>
                </a:moveTo>
                <a:lnTo>
                  <a:pt x="13" y="2120"/>
                </a:lnTo>
                <a:lnTo>
                  <a:pt x="0" y="2120"/>
                </a:lnTo>
                <a:lnTo>
                  <a:pt x="0" y="2109"/>
                </a:lnTo>
                <a:lnTo>
                  <a:pt x="13" y="2109"/>
                </a:lnTo>
                <a:close/>
                <a:moveTo>
                  <a:pt x="13" y="2132"/>
                </a:moveTo>
                <a:lnTo>
                  <a:pt x="13" y="2144"/>
                </a:lnTo>
                <a:lnTo>
                  <a:pt x="0" y="2144"/>
                </a:lnTo>
                <a:lnTo>
                  <a:pt x="0" y="2132"/>
                </a:lnTo>
                <a:lnTo>
                  <a:pt x="13" y="2132"/>
                </a:lnTo>
                <a:close/>
                <a:moveTo>
                  <a:pt x="13" y="2156"/>
                </a:moveTo>
                <a:lnTo>
                  <a:pt x="13" y="2168"/>
                </a:lnTo>
                <a:lnTo>
                  <a:pt x="0" y="2168"/>
                </a:lnTo>
                <a:lnTo>
                  <a:pt x="0" y="2156"/>
                </a:lnTo>
                <a:lnTo>
                  <a:pt x="13" y="2156"/>
                </a:lnTo>
                <a:close/>
                <a:moveTo>
                  <a:pt x="13" y="2180"/>
                </a:moveTo>
                <a:lnTo>
                  <a:pt x="13" y="2192"/>
                </a:lnTo>
                <a:lnTo>
                  <a:pt x="0" y="2192"/>
                </a:lnTo>
                <a:lnTo>
                  <a:pt x="0" y="2180"/>
                </a:lnTo>
                <a:lnTo>
                  <a:pt x="13" y="2180"/>
                </a:lnTo>
                <a:close/>
                <a:moveTo>
                  <a:pt x="13" y="2204"/>
                </a:moveTo>
                <a:lnTo>
                  <a:pt x="13" y="2216"/>
                </a:lnTo>
                <a:lnTo>
                  <a:pt x="0" y="2216"/>
                </a:lnTo>
                <a:lnTo>
                  <a:pt x="0" y="2204"/>
                </a:lnTo>
                <a:lnTo>
                  <a:pt x="13" y="2204"/>
                </a:lnTo>
                <a:close/>
                <a:moveTo>
                  <a:pt x="13" y="2228"/>
                </a:moveTo>
                <a:lnTo>
                  <a:pt x="13" y="2240"/>
                </a:lnTo>
                <a:lnTo>
                  <a:pt x="0" y="2240"/>
                </a:lnTo>
                <a:lnTo>
                  <a:pt x="0" y="2228"/>
                </a:lnTo>
                <a:lnTo>
                  <a:pt x="13" y="2228"/>
                </a:lnTo>
                <a:close/>
                <a:moveTo>
                  <a:pt x="13" y="2252"/>
                </a:moveTo>
                <a:lnTo>
                  <a:pt x="13" y="2264"/>
                </a:lnTo>
                <a:lnTo>
                  <a:pt x="0" y="2264"/>
                </a:lnTo>
                <a:lnTo>
                  <a:pt x="0" y="2252"/>
                </a:lnTo>
                <a:lnTo>
                  <a:pt x="13" y="2252"/>
                </a:lnTo>
                <a:close/>
                <a:moveTo>
                  <a:pt x="13" y="2276"/>
                </a:moveTo>
                <a:lnTo>
                  <a:pt x="13" y="2288"/>
                </a:lnTo>
                <a:lnTo>
                  <a:pt x="0" y="2288"/>
                </a:lnTo>
                <a:lnTo>
                  <a:pt x="0" y="2276"/>
                </a:lnTo>
                <a:lnTo>
                  <a:pt x="13" y="2276"/>
                </a:lnTo>
                <a:close/>
                <a:moveTo>
                  <a:pt x="13" y="2300"/>
                </a:moveTo>
                <a:lnTo>
                  <a:pt x="13" y="2312"/>
                </a:lnTo>
                <a:lnTo>
                  <a:pt x="0" y="2312"/>
                </a:lnTo>
                <a:lnTo>
                  <a:pt x="0" y="2300"/>
                </a:lnTo>
                <a:lnTo>
                  <a:pt x="13" y="2300"/>
                </a:lnTo>
                <a:close/>
                <a:moveTo>
                  <a:pt x="13" y="2324"/>
                </a:moveTo>
                <a:lnTo>
                  <a:pt x="13" y="2336"/>
                </a:lnTo>
                <a:lnTo>
                  <a:pt x="0" y="2336"/>
                </a:lnTo>
                <a:lnTo>
                  <a:pt x="0" y="2324"/>
                </a:lnTo>
                <a:lnTo>
                  <a:pt x="13" y="2324"/>
                </a:lnTo>
                <a:close/>
                <a:moveTo>
                  <a:pt x="13" y="2348"/>
                </a:moveTo>
                <a:lnTo>
                  <a:pt x="13" y="2360"/>
                </a:lnTo>
                <a:lnTo>
                  <a:pt x="0" y="2360"/>
                </a:lnTo>
                <a:lnTo>
                  <a:pt x="0" y="2348"/>
                </a:lnTo>
                <a:lnTo>
                  <a:pt x="13" y="2348"/>
                </a:lnTo>
                <a:close/>
                <a:moveTo>
                  <a:pt x="13" y="2372"/>
                </a:moveTo>
                <a:lnTo>
                  <a:pt x="13" y="2384"/>
                </a:lnTo>
                <a:lnTo>
                  <a:pt x="0" y="2384"/>
                </a:lnTo>
                <a:lnTo>
                  <a:pt x="0" y="2372"/>
                </a:lnTo>
                <a:lnTo>
                  <a:pt x="13" y="2372"/>
                </a:lnTo>
                <a:close/>
                <a:moveTo>
                  <a:pt x="13" y="2396"/>
                </a:moveTo>
                <a:lnTo>
                  <a:pt x="13" y="2408"/>
                </a:lnTo>
                <a:lnTo>
                  <a:pt x="0" y="2408"/>
                </a:lnTo>
                <a:lnTo>
                  <a:pt x="0" y="2396"/>
                </a:lnTo>
                <a:lnTo>
                  <a:pt x="13" y="2396"/>
                </a:lnTo>
                <a:close/>
                <a:moveTo>
                  <a:pt x="13" y="2420"/>
                </a:moveTo>
                <a:lnTo>
                  <a:pt x="13" y="2432"/>
                </a:lnTo>
                <a:lnTo>
                  <a:pt x="0" y="2432"/>
                </a:lnTo>
                <a:lnTo>
                  <a:pt x="0" y="2420"/>
                </a:lnTo>
                <a:lnTo>
                  <a:pt x="13" y="2420"/>
                </a:lnTo>
                <a:close/>
                <a:moveTo>
                  <a:pt x="13" y="2444"/>
                </a:moveTo>
                <a:lnTo>
                  <a:pt x="13" y="2456"/>
                </a:lnTo>
                <a:lnTo>
                  <a:pt x="0" y="2456"/>
                </a:lnTo>
                <a:lnTo>
                  <a:pt x="0" y="2444"/>
                </a:lnTo>
                <a:lnTo>
                  <a:pt x="13" y="2444"/>
                </a:lnTo>
                <a:close/>
                <a:moveTo>
                  <a:pt x="13" y="2468"/>
                </a:moveTo>
                <a:lnTo>
                  <a:pt x="13" y="2480"/>
                </a:lnTo>
                <a:lnTo>
                  <a:pt x="0" y="2480"/>
                </a:lnTo>
                <a:lnTo>
                  <a:pt x="0" y="2468"/>
                </a:lnTo>
                <a:lnTo>
                  <a:pt x="13" y="2468"/>
                </a:lnTo>
                <a:close/>
                <a:moveTo>
                  <a:pt x="13" y="2492"/>
                </a:moveTo>
                <a:lnTo>
                  <a:pt x="13" y="2504"/>
                </a:lnTo>
                <a:lnTo>
                  <a:pt x="0" y="2504"/>
                </a:lnTo>
                <a:lnTo>
                  <a:pt x="0" y="2492"/>
                </a:lnTo>
                <a:lnTo>
                  <a:pt x="13" y="2492"/>
                </a:lnTo>
                <a:close/>
                <a:moveTo>
                  <a:pt x="13" y="2516"/>
                </a:moveTo>
                <a:lnTo>
                  <a:pt x="13" y="2528"/>
                </a:lnTo>
                <a:lnTo>
                  <a:pt x="0" y="2528"/>
                </a:lnTo>
                <a:lnTo>
                  <a:pt x="0" y="2516"/>
                </a:lnTo>
                <a:lnTo>
                  <a:pt x="13" y="2516"/>
                </a:lnTo>
                <a:close/>
                <a:moveTo>
                  <a:pt x="13" y="2540"/>
                </a:moveTo>
                <a:lnTo>
                  <a:pt x="13" y="2552"/>
                </a:lnTo>
                <a:lnTo>
                  <a:pt x="0" y="2552"/>
                </a:lnTo>
                <a:lnTo>
                  <a:pt x="0" y="2540"/>
                </a:lnTo>
                <a:lnTo>
                  <a:pt x="13" y="2540"/>
                </a:lnTo>
                <a:close/>
              </a:path>
            </a:pathLst>
          </a:custGeom>
          <a:solidFill>
            <a:srgbClr val="000000"/>
          </a:solidFill>
          <a:ln w="0" cap="flat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129" name="Freeform 125">
            <a:extLst>
              <a:ext uri="{FF2B5EF4-FFF2-40B4-BE49-F238E27FC236}">
                <a16:creationId xmlns:a16="http://schemas.microsoft.com/office/drawing/2014/main" id="{4525A255-F611-426F-AD95-6F739E8727DF}"/>
              </a:ext>
            </a:extLst>
          </p:cNvPr>
          <p:cNvSpPr>
            <a:spLocks noEditPoints="1"/>
          </p:cNvSpPr>
          <p:nvPr/>
        </p:nvSpPr>
        <p:spPr bwMode="auto">
          <a:xfrm>
            <a:off x="6223980" y="2351594"/>
            <a:ext cx="18000" cy="4032000"/>
          </a:xfrm>
          <a:custGeom>
            <a:avLst/>
            <a:gdLst>
              <a:gd name="T0" fmla="*/ 0 w 12"/>
              <a:gd name="T1" fmla="*/ 24 h 2552"/>
              <a:gd name="T2" fmla="*/ 0 w 12"/>
              <a:gd name="T3" fmla="*/ 84 h 2552"/>
              <a:gd name="T4" fmla="*/ 12 w 12"/>
              <a:gd name="T5" fmla="*/ 132 h 2552"/>
              <a:gd name="T6" fmla="*/ 12 w 12"/>
              <a:gd name="T7" fmla="*/ 168 h 2552"/>
              <a:gd name="T8" fmla="*/ 12 w 12"/>
              <a:gd name="T9" fmla="*/ 192 h 2552"/>
              <a:gd name="T10" fmla="*/ 0 w 12"/>
              <a:gd name="T11" fmla="*/ 240 h 2552"/>
              <a:gd name="T12" fmla="*/ 0 w 12"/>
              <a:gd name="T13" fmla="*/ 300 h 2552"/>
              <a:gd name="T14" fmla="*/ 12 w 12"/>
              <a:gd name="T15" fmla="*/ 348 h 2552"/>
              <a:gd name="T16" fmla="*/ 12 w 12"/>
              <a:gd name="T17" fmla="*/ 384 h 2552"/>
              <a:gd name="T18" fmla="*/ 12 w 12"/>
              <a:gd name="T19" fmla="*/ 408 h 2552"/>
              <a:gd name="T20" fmla="*/ 0 w 12"/>
              <a:gd name="T21" fmla="*/ 456 h 2552"/>
              <a:gd name="T22" fmla="*/ 0 w 12"/>
              <a:gd name="T23" fmla="*/ 515 h 2552"/>
              <a:gd name="T24" fmla="*/ 12 w 12"/>
              <a:gd name="T25" fmla="*/ 563 h 2552"/>
              <a:gd name="T26" fmla="*/ 12 w 12"/>
              <a:gd name="T27" fmla="*/ 599 h 2552"/>
              <a:gd name="T28" fmla="*/ 12 w 12"/>
              <a:gd name="T29" fmla="*/ 623 h 2552"/>
              <a:gd name="T30" fmla="*/ 0 w 12"/>
              <a:gd name="T31" fmla="*/ 671 h 2552"/>
              <a:gd name="T32" fmla="*/ 0 w 12"/>
              <a:gd name="T33" fmla="*/ 731 h 2552"/>
              <a:gd name="T34" fmla="*/ 12 w 12"/>
              <a:gd name="T35" fmla="*/ 779 h 2552"/>
              <a:gd name="T36" fmla="*/ 12 w 12"/>
              <a:gd name="T37" fmla="*/ 815 h 2552"/>
              <a:gd name="T38" fmla="*/ 12 w 12"/>
              <a:gd name="T39" fmla="*/ 839 h 2552"/>
              <a:gd name="T40" fmla="*/ 0 w 12"/>
              <a:gd name="T41" fmla="*/ 887 h 2552"/>
              <a:gd name="T42" fmla="*/ 0 w 12"/>
              <a:gd name="T43" fmla="*/ 947 h 2552"/>
              <a:gd name="T44" fmla="*/ 12 w 12"/>
              <a:gd name="T45" fmla="*/ 995 h 2552"/>
              <a:gd name="T46" fmla="*/ 12 w 12"/>
              <a:gd name="T47" fmla="*/ 1031 h 2552"/>
              <a:gd name="T48" fmla="*/ 12 w 12"/>
              <a:gd name="T49" fmla="*/ 1054 h 2552"/>
              <a:gd name="T50" fmla="*/ 0 w 12"/>
              <a:gd name="T51" fmla="*/ 1102 h 2552"/>
              <a:gd name="T52" fmla="*/ 0 w 12"/>
              <a:gd name="T53" fmla="*/ 1162 h 2552"/>
              <a:gd name="T54" fmla="*/ 12 w 12"/>
              <a:gd name="T55" fmla="*/ 1210 h 2552"/>
              <a:gd name="T56" fmla="*/ 12 w 12"/>
              <a:gd name="T57" fmla="*/ 1246 h 2552"/>
              <a:gd name="T58" fmla="*/ 12 w 12"/>
              <a:gd name="T59" fmla="*/ 1270 h 2552"/>
              <a:gd name="T60" fmla="*/ 0 w 12"/>
              <a:gd name="T61" fmla="*/ 1318 h 2552"/>
              <a:gd name="T62" fmla="*/ 0 w 12"/>
              <a:gd name="T63" fmla="*/ 1378 h 2552"/>
              <a:gd name="T64" fmla="*/ 12 w 12"/>
              <a:gd name="T65" fmla="*/ 1426 h 2552"/>
              <a:gd name="T66" fmla="*/ 12 w 12"/>
              <a:gd name="T67" fmla="*/ 1462 h 2552"/>
              <a:gd name="T68" fmla="*/ 12 w 12"/>
              <a:gd name="T69" fmla="*/ 1486 h 2552"/>
              <a:gd name="T70" fmla="*/ 0 w 12"/>
              <a:gd name="T71" fmla="*/ 1534 h 2552"/>
              <a:gd name="T72" fmla="*/ 0 w 12"/>
              <a:gd name="T73" fmla="*/ 1593 h 2552"/>
              <a:gd name="T74" fmla="*/ 12 w 12"/>
              <a:gd name="T75" fmla="*/ 1641 h 2552"/>
              <a:gd name="T76" fmla="*/ 12 w 12"/>
              <a:gd name="T77" fmla="*/ 1677 h 2552"/>
              <a:gd name="T78" fmla="*/ 12 w 12"/>
              <a:gd name="T79" fmla="*/ 1701 h 2552"/>
              <a:gd name="T80" fmla="*/ 0 w 12"/>
              <a:gd name="T81" fmla="*/ 1749 h 2552"/>
              <a:gd name="T82" fmla="*/ 0 w 12"/>
              <a:gd name="T83" fmla="*/ 1809 h 2552"/>
              <a:gd name="T84" fmla="*/ 12 w 12"/>
              <a:gd name="T85" fmla="*/ 1857 h 2552"/>
              <a:gd name="T86" fmla="*/ 12 w 12"/>
              <a:gd name="T87" fmla="*/ 1893 h 2552"/>
              <a:gd name="T88" fmla="*/ 12 w 12"/>
              <a:gd name="T89" fmla="*/ 1917 h 2552"/>
              <a:gd name="T90" fmla="*/ 0 w 12"/>
              <a:gd name="T91" fmla="*/ 1965 h 2552"/>
              <a:gd name="T92" fmla="*/ 0 w 12"/>
              <a:gd name="T93" fmla="*/ 2025 h 2552"/>
              <a:gd name="T94" fmla="*/ 12 w 12"/>
              <a:gd name="T95" fmla="*/ 2073 h 2552"/>
              <a:gd name="T96" fmla="*/ 12 w 12"/>
              <a:gd name="T97" fmla="*/ 2109 h 2552"/>
              <a:gd name="T98" fmla="*/ 12 w 12"/>
              <a:gd name="T99" fmla="*/ 2132 h 2552"/>
              <a:gd name="T100" fmla="*/ 0 w 12"/>
              <a:gd name="T101" fmla="*/ 2180 h 2552"/>
              <a:gd name="T102" fmla="*/ 0 w 12"/>
              <a:gd name="T103" fmla="*/ 2240 h 2552"/>
              <a:gd name="T104" fmla="*/ 12 w 12"/>
              <a:gd name="T105" fmla="*/ 2288 h 2552"/>
              <a:gd name="T106" fmla="*/ 12 w 12"/>
              <a:gd name="T107" fmla="*/ 2324 h 2552"/>
              <a:gd name="T108" fmla="*/ 12 w 12"/>
              <a:gd name="T109" fmla="*/ 2348 h 2552"/>
              <a:gd name="T110" fmla="*/ 0 w 12"/>
              <a:gd name="T111" fmla="*/ 2396 h 2552"/>
              <a:gd name="T112" fmla="*/ 0 w 12"/>
              <a:gd name="T113" fmla="*/ 2456 h 2552"/>
              <a:gd name="T114" fmla="*/ 12 w 12"/>
              <a:gd name="T115" fmla="*/ 2504 h 2552"/>
              <a:gd name="T116" fmla="*/ 12 w 12"/>
              <a:gd name="T117" fmla="*/ 2540 h 25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12" h="2552">
                <a:moveTo>
                  <a:pt x="12" y="0"/>
                </a:moveTo>
                <a:lnTo>
                  <a:pt x="12" y="12"/>
                </a:lnTo>
                <a:lnTo>
                  <a:pt x="0" y="12"/>
                </a:lnTo>
                <a:lnTo>
                  <a:pt x="0" y="0"/>
                </a:lnTo>
                <a:lnTo>
                  <a:pt x="12" y="0"/>
                </a:lnTo>
                <a:close/>
                <a:moveTo>
                  <a:pt x="12" y="24"/>
                </a:moveTo>
                <a:lnTo>
                  <a:pt x="12" y="36"/>
                </a:lnTo>
                <a:lnTo>
                  <a:pt x="0" y="36"/>
                </a:lnTo>
                <a:lnTo>
                  <a:pt x="0" y="24"/>
                </a:lnTo>
                <a:lnTo>
                  <a:pt x="12" y="24"/>
                </a:lnTo>
                <a:close/>
                <a:moveTo>
                  <a:pt x="12" y="48"/>
                </a:moveTo>
                <a:lnTo>
                  <a:pt x="12" y="60"/>
                </a:lnTo>
                <a:lnTo>
                  <a:pt x="0" y="60"/>
                </a:lnTo>
                <a:lnTo>
                  <a:pt x="0" y="48"/>
                </a:lnTo>
                <a:lnTo>
                  <a:pt x="12" y="48"/>
                </a:lnTo>
                <a:close/>
                <a:moveTo>
                  <a:pt x="12" y="72"/>
                </a:moveTo>
                <a:lnTo>
                  <a:pt x="12" y="84"/>
                </a:lnTo>
                <a:lnTo>
                  <a:pt x="0" y="84"/>
                </a:lnTo>
                <a:lnTo>
                  <a:pt x="0" y="72"/>
                </a:lnTo>
                <a:lnTo>
                  <a:pt x="12" y="72"/>
                </a:lnTo>
                <a:close/>
                <a:moveTo>
                  <a:pt x="12" y="96"/>
                </a:moveTo>
                <a:lnTo>
                  <a:pt x="12" y="108"/>
                </a:lnTo>
                <a:lnTo>
                  <a:pt x="0" y="108"/>
                </a:lnTo>
                <a:lnTo>
                  <a:pt x="0" y="96"/>
                </a:lnTo>
                <a:lnTo>
                  <a:pt x="12" y="96"/>
                </a:lnTo>
                <a:close/>
                <a:moveTo>
                  <a:pt x="12" y="120"/>
                </a:moveTo>
                <a:lnTo>
                  <a:pt x="12" y="132"/>
                </a:lnTo>
                <a:lnTo>
                  <a:pt x="0" y="132"/>
                </a:lnTo>
                <a:lnTo>
                  <a:pt x="0" y="120"/>
                </a:lnTo>
                <a:lnTo>
                  <a:pt x="12" y="120"/>
                </a:lnTo>
                <a:close/>
                <a:moveTo>
                  <a:pt x="12" y="144"/>
                </a:moveTo>
                <a:lnTo>
                  <a:pt x="12" y="156"/>
                </a:lnTo>
                <a:lnTo>
                  <a:pt x="0" y="156"/>
                </a:lnTo>
                <a:lnTo>
                  <a:pt x="0" y="144"/>
                </a:lnTo>
                <a:lnTo>
                  <a:pt x="12" y="144"/>
                </a:lnTo>
                <a:close/>
                <a:moveTo>
                  <a:pt x="12" y="168"/>
                </a:moveTo>
                <a:lnTo>
                  <a:pt x="12" y="180"/>
                </a:lnTo>
                <a:lnTo>
                  <a:pt x="0" y="180"/>
                </a:lnTo>
                <a:lnTo>
                  <a:pt x="0" y="168"/>
                </a:lnTo>
                <a:lnTo>
                  <a:pt x="12" y="168"/>
                </a:lnTo>
                <a:close/>
                <a:moveTo>
                  <a:pt x="12" y="192"/>
                </a:moveTo>
                <a:lnTo>
                  <a:pt x="12" y="204"/>
                </a:lnTo>
                <a:lnTo>
                  <a:pt x="0" y="204"/>
                </a:lnTo>
                <a:lnTo>
                  <a:pt x="0" y="192"/>
                </a:lnTo>
                <a:lnTo>
                  <a:pt x="12" y="192"/>
                </a:lnTo>
                <a:close/>
                <a:moveTo>
                  <a:pt x="12" y="216"/>
                </a:moveTo>
                <a:lnTo>
                  <a:pt x="12" y="228"/>
                </a:lnTo>
                <a:lnTo>
                  <a:pt x="0" y="228"/>
                </a:lnTo>
                <a:lnTo>
                  <a:pt x="0" y="216"/>
                </a:lnTo>
                <a:lnTo>
                  <a:pt x="12" y="216"/>
                </a:lnTo>
                <a:close/>
                <a:moveTo>
                  <a:pt x="12" y="240"/>
                </a:moveTo>
                <a:lnTo>
                  <a:pt x="12" y="252"/>
                </a:lnTo>
                <a:lnTo>
                  <a:pt x="0" y="252"/>
                </a:lnTo>
                <a:lnTo>
                  <a:pt x="0" y="240"/>
                </a:lnTo>
                <a:lnTo>
                  <a:pt x="12" y="240"/>
                </a:lnTo>
                <a:close/>
                <a:moveTo>
                  <a:pt x="12" y="264"/>
                </a:moveTo>
                <a:lnTo>
                  <a:pt x="12" y="276"/>
                </a:lnTo>
                <a:lnTo>
                  <a:pt x="0" y="276"/>
                </a:lnTo>
                <a:lnTo>
                  <a:pt x="0" y="264"/>
                </a:lnTo>
                <a:lnTo>
                  <a:pt x="12" y="264"/>
                </a:lnTo>
                <a:close/>
                <a:moveTo>
                  <a:pt x="12" y="288"/>
                </a:moveTo>
                <a:lnTo>
                  <a:pt x="12" y="300"/>
                </a:lnTo>
                <a:lnTo>
                  <a:pt x="0" y="300"/>
                </a:lnTo>
                <a:lnTo>
                  <a:pt x="0" y="288"/>
                </a:lnTo>
                <a:lnTo>
                  <a:pt x="12" y="288"/>
                </a:lnTo>
                <a:close/>
                <a:moveTo>
                  <a:pt x="12" y="312"/>
                </a:moveTo>
                <a:lnTo>
                  <a:pt x="12" y="324"/>
                </a:lnTo>
                <a:lnTo>
                  <a:pt x="0" y="324"/>
                </a:lnTo>
                <a:lnTo>
                  <a:pt x="0" y="312"/>
                </a:lnTo>
                <a:lnTo>
                  <a:pt x="12" y="312"/>
                </a:lnTo>
                <a:close/>
                <a:moveTo>
                  <a:pt x="12" y="336"/>
                </a:moveTo>
                <a:lnTo>
                  <a:pt x="12" y="348"/>
                </a:lnTo>
                <a:lnTo>
                  <a:pt x="0" y="348"/>
                </a:lnTo>
                <a:lnTo>
                  <a:pt x="0" y="336"/>
                </a:lnTo>
                <a:lnTo>
                  <a:pt x="12" y="336"/>
                </a:lnTo>
                <a:close/>
                <a:moveTo>
                  <a:pt x="12" y="360"/>
                </a:moveTo>
                <a:lnTo>
                  <a:pt x="12" y="372"/>
                </a:lnTo>
                <a:lnTo>
                  <a:pt x="0" y="372"/>
                </a:lnTo>
                <a:lnTo>
                  <a:pt x="0" y="360"/>
                </a:lnTo>
                <a:lnTo>
                  <a:pt x="12" y="360"/>
                </a:lnTo>
                <a:close/>
                <a:moveTo>
                  <a:pt x="12" y="384"/>
                </a:moveTo>
                <a:lnTo>
                  <a:pt x="12" y="396"/>
                </a:lnTo>
                <a:lnTo>
                  <a:pt x="0" y="396"/>
                </a:lnTo>
                <a:lnTo>
                  <a:pt x="0" y="384"/>
                </a:lnTo>
                <a:lnTo>
                  <a:pt x="12" y="384"/>
                </a:lnTo>
                <a:close/>
                <a:moveTo>
                  <a:pt x="12" y="408"/>
                </a:moveTo>
                <a:lnTo>
                  <a:pt x="12" y="420"/>
                </a:lnTo>
                <a:lnTo>
                  <a:pt x="0" y="420"/>
                </a:lnTo>
                <a:lnTo>
                  <a:pt x="0" y="408"/>
                </a:lnTo>
                <a:lnTo>
                  <a:pt x="12" y="408"/>
                </a:lnTo>
                <a:close/>
                <a:moveTo>
                  <a:pt x="12" y="431"/>
                </a:moveTo>
                <a:lnTo>
                  <a:pt x="12" y="444"/>
                </a:lnTo>
                <a:lnTo>
                  <a:pt x="0" y="444"/>
                </a:lnTo>
                <a:lnTo>
                  <a:pt x="0" y="431"/>
                </a:lnTo>
                <a:lnTo>
                  <a:pt x="12" y="431"/>
                </a:lnTo>
                <a:close/>
                <a:moveTo>
                  <a:pt x="12" y="456"/>
                </a:moveTo>
                <a:lnTo>
                  <a:pt x="12" y="467"/>
                </a:lnTo>
                <a:lnTo>
                  <a:pt x="0" y="467"/>
                </a:lnTo>
                <a:lnTo>
                  <a:pt x="0" y="456"/>
                </a:lnTo>
                <a:lnTo>
                  <a:pt x="12" y="456"/>
                </a:lnTo>
                <a:close/>
                <a:moveTo>
                  <a:pt x="12" y="479"/>
                </a:moveTo>
                <a:lnTo>
                  <a:pt x="12" y="492"/>
                </a:lnTo>
                <a:lnTo>
                  <a:pt x="0" y="492"/>
                </a:lnTo>
                <a:lnTo>
                  <a:pt x="0" y="479"/>
                </a:lnTo>
                <a:lnTo>
                  <a:pt x="12" y="479"/>
                </a:lnTo>
                <a:close/>
                <a:moveTo>
                  <a:pt x="12" y="503"/>
                </a:moveTo>
                <a:lnTo>
                  <a:pt x="12" y="515"/>
                </a:lnTo>
                <a:lnTo>
                  <a:pt x="0" y="515"/>
                </a:lnTo>
                <a:lnTo>
                  <a:pt x="0" y="503"/>
                </a:lnTo>
                <a:lnTo>
                  <a:pt x="12" y="503"/>
                </a:lnTo>
                <a:close/>
                <a:moveTo>
                  <a:pt x="12" y="527"/>
                </a:moveTo>
                <a:lnTo>
                  <a:pt x="12" y="539"/>
                </a:lnTo>
                <a:lnTo>
                  <a:pt x="0" y="539"/>
                </a:lnTo>
                <a:lnTo>
                  <a:pt x="0" y="527"/>
                </a:lnTo>
                <a:lnTo>
                  <a:pt x="12" y="527"/>
                </a:lnTo>
                <a:close/>
                <a:moveTo>
                  <a:pt x="12" y="551"/>
                </a:moveTo>
                <a:lnTo>
                  <a:pt x="12" y="563"/>
                </a:lnTo>
                <a:lnTo>
                  <a:pt x="0" y="563"/>
                </a:lnTo>
                <a:lnTo>
                  <a:pt x="0" y="551"/>
                </a:lnTo>
                <a:lnTo>
                  <a:pt x="12" y="551"/>
                </a:lnTo>
                <a:close/>
                <a:moveTo>
                  <a:pt x="12" y="575"/>
                </a:moveTo>
                <a:lnTo>
                  <a:pt x="12" y="587"/>
                </a:lnTo>
                <a:lnTo>
                  <a:pt x="0" y="587"/>
                </a:lnTo>
                <a:lnTo>
                  <a:pt x="0" y="575"/>
                </a:lnTo>
                <a:lnTo>
                  <a:pt x="12" y="575"/>
                </a:lnTo>
                <a:close/>
                <a:moveTo>
                  <a:pt x="12" y="599"/>
                </a:moveTo>
                <a:lnTo>
                  <a:pt x="12" y="611"/>
                </a:lnTo>
                <a:lnTo>
                  <a:pt x="0" y="611"/>
                </a:lnTo>
                <a:lnTo>
                  <a:pt x="0" y="599"/>
                </a:lnTo>
                <a:lnTo>
                  <a:pt x="12" y="599"/>
                </a:lnTo>
                <a:close/>
                <a:moveTo>
                  <a:pt x="12" y="623"/>
                </a:moveTo>
                <a:lnTo>
                  <a:pt x="12" y="635"/>
                </a:lnTo>
                <a:lnTo>
                  <a:pt x="0" y="635"/>
                </a:lnTo>
                <a:lnTo>
                  <a:pt x="0" y="623"/>
                </a:lnTo>
                <a:lnTo>
                  <a:pt x="12" y="623"/>
                </a:lnTo>
                <a:close/>
                <a:moveTo>
                  <a:pt x="12" y="647"/>
                </a:moveTo>
                <a:lnTo>
                  <a:pt x="12" y="659"/>
                </a:lnTo>
                <a:lnTo>
                  <a:pt x="0" y="659"/>
                </a:lnTo>
                <a:lnTo>
                  <a:pt x="0" y="647"/>
                </a:lnTo>
                <a:lnTo>
                  <a:pt x="12" y="647"/>
                </a:lnTo>
                <a:close/>
                <a:moveTo>
                  <a:pt x="12" y="671"/>
                </a:moveTo>
                <a:lnTo>
                  <a:pt x="12" y="683"/>
                </a:lnTo>
                <a:lnTo>
                  <a:pt x="0" y="683"/>
                </a:lnTo>
                <a:lnTo>
                  <a:pt x="0" y="671"/>
                </a:lnTo>
                <a:lnTo>
                  <a:pt x="12" y="671"/>
                </a:lnTo>
                <a:close/>
                <a:moveTo>
                  <a:pt x="12" y="695"/>
                </a:moveTo>
                <a:lnTo>
                  <a:pt x="12" y="707"/>
                </a:lnTo>
                <a:lnTo>
                  <a:pt x="0" y="707"/>
                </a:lnTo>
                <a:lnTo>
                  <a:pt x="0" y="695"/>
                </a:lnTo>
                <a:lnTo>
                  <a:pt x="12" y="695"/>
                </a:lnTo>
                <a:close/>
                <a:moveTo>
                  <a:pt x="12" y="719"/>
                </a:moveTo>
                <a:lnTo>
                  <a:pt x="12" y="731"/>
                </a:lnTo>
                <a:lnTo>
                  <a:pt x="0" y="731"/>
                </a:lnTo>
                <a:lnTo>
                  <a:pt x="0" y="719"/>
                </a:lnTo>
                <a:lnTo>
                  <a:pt x="12" y="719"/>
                </a:lnTo>
                <a:close/>
                <a:moveTo>
                  <a:pt x="12" y="743"/>
                </a:moveTo>
                <a:lnTo>
                  <a:pt x="12" y="755"/>
                </a:lnTo>
                <a:lnTo>
                  <a:pt x="0" y="755"/>
                </a:lnTo>
                <a:lnTo>
                  <a:pt x="0" y="743"/>
                </a:lnTo>
                <a:lnTo>
                  <a:pt x="12" y="743"/>
                </a:lnTo>
                <a:close/>
                <a:moveTo>
                  <a:pt x="12" y="767"/>
                </a:moveTo>
                <a:lnTo>
                  <a:pt x="12" y="779"/>
                </a:lnTo>
                <a:lnTo>
                  <a:pt x="0" y="779"/>
                </a:lnTo>
                <a:lnTo>
                  <a:pt x="0" y="767"/>
                </a:lnTo>
                <a:lnTo>
                  <a:pt x="12" y="767"/>
                </a:lnTo>
                <a:close/>
                <a:moveTo>
                  <a:pt x="12" y="791"/>
                </a:moveTo>
                <a:lnTo>
                  <a:pt x="12" y="803"/>
                </a:lnTo>
                <a:lnTo>
                  <a:pt x="0" y="803"/>
                </a:lnTo>
                <a:lnTo>
                  <a:pt x="0" y="791"/>
                </a:lnTo>
                <a:lnTo>
                  <a:pt x="12" y="791"/>
                </a:lnTo>
                <a:close/>
                <a:moveTo>
                  <a:pt x="12" y="815"/>
                </a:moveTo>
                <a:lnTo>
                  <a:pt x="12" y="827"/>
                </a:lnTo>
                <a:lnTo>
                  <a:pt x="0" y="827"/>
                </a:lnTo>
                <a:lnTo>
                  <a:pt x="0" y="815"/>
                </a:lnTo>
                <a:lnTo>
                  <a:pt x="12" y="815"/>
                </a:lnTo>
                <a:close/>
                <a:moveTo>
                  <a:pt x="12" y="839"/>
                </a:moveTo>
                <a:lnTo>
                  <a:pt x="12" y="851"/>
                </a:lnTo>
                <a:lnTo>
                  <a:pt x="0" y="851"/>
                </a:lnTo>
                <a:lnTo>
                  <a:pt x="0" y="839"/>
                </a:lnTo>
                <a:lnTo>
                  <a:pt x="12" y="839"/>
                </a:lnTo>
                <a:close/>
                <a:moveTo>
                  <a:pt x="12" y="863"/>
                </a:moveTo>
                <a:lnTo>
                  <a:pt x="12" y="875"/>
                </a:lnTo>
                <a:lnTo>
                  <a:pt x="0" y="875"/>
                </a:lnTo>
                <a:lnTo>
                  <a:pt x="0" y="863"/>
                </a:lnTo>
                <a:lnTo>
                  <a:pt x="12" y="863"/>
                </a:lnTo>
                <a:close/>
                <a:moveTo>
                  <a:pt x="12" y="887"/>
                </a:moveTo>
                <a:lnTo>
                  <a:pt x="12" y="899"/>
                </a:lnTo>
                <a:lnTo>
                  <a:pt x="0" y="899"/>
                </a:lnTo>
                <a:lnTo>
                  <a:pt x="0" y="887"/>
                </a:lnTo>
                <a:lnTo>
                  <a:pt x="12" y="887"/>
                </a:lnTo>
                <a:close/>
                <a:moveTo>
                  <a:pt x="12" y="911"/>
                </a:moveTo>
                <a:lnTo>
                  <a:pt x="12" y="923"/>
                </a:lnTo>
                <a:lnTo>
                  <a:pt x="0" y="923"/>
                </a:lnTo>
                <a:lnTo>
                  <a:pt x="0" y="911"/>
                </a:lnTo>
                <a:lnTo>
                  <a:pt x="12" y="911"/>
                </a:lnTo>
                <a:close/>
                <a:moveTo>
                  <a:pt x="12" y="935"/>
                </a:moveTo>
                <a:lnTo>
                  <a:pt x="12" y="947"/>
                </a:lnTo>
                <a:lnTo>
                  <a:pt x="0" y="947"/>
                </a:lnTo>
                <a:lnTo>
                  <a:pt x="0" y="935"/>
                </a:lnTo>
                <a:lnTo>
                  <a:pt x="12" y="935"/>
                </a:lnTo>
                <a:close/>
                <a:moveTo>
                  <a:pt x="12" y="959"/>
                </a:moveTo>
                <a:lnTo>
                  <a:pt x="12" y="970"/>
                </a:lnTo>
                <a:lnTo>
                  <a:pt x="0" y="970"/>
                </a:lnTo>
                <a:lnTo>
                  <a:pt x="0" y="959"/>
                </a:lnTo>
                <a:lnTo>
                  <a:pt x="12" y="959"/>
                </a:lnTo>
                <a:close/>
                <a:moveTo>
                  <a:pt x="12" y="983"/>
                </a:moveTo>
                <a:lnTo>
                  <a:pt x="12" y="995"/>
                </a:lnTo>
                <a:lnTo>
                  <a:pt x="0" y="995"/>
                </a:lnTo>
                <a:lnTo>
                  <a:pt x="0" y="983"/>
                </a:lnTo>
                <a:lnTo>
                  <a:pt x="12" y="983"/>
                </a:lnTo>
                <a:close/>
                <a:moveTo>
                  <a:pt x="12" y="1006"/>
                </a:moveTo>
                <a:lnTo>
                  <a:pt x="12" y="1018"/>
                </a:lnTo>
                <a:lnTo>
                  <a:pt x="0" y="1018"/>
                </a:lnTo>
                <a:lnTo>
                  <a:pt x="0" y="1006"/>
                </a:lnTo>
                <a:lnTo>
                  <a:pt x="12" y="1006"/>
                </a:lnTo>
                <a:close/>
                <a:moveTo>
                  <a:pt x="12" y="1031"/>
                </a:moveTo>
                <a:lnTo>
                  <a:pt x="12" y="1042"/>
                </a:lnTo>
                <a:lnTo>
                  <a:pt x="0" y="1042"/>
                </a:lnTo>
                <a:lnTo>
                  <a:pt x="0" y="1031"/>
                </a:lnTo>
                <a:lnTo>
                  <a:pt x="12" y="1031"/>
                </a:lnTo>
                <a:close/>
                <a:moveTo>
                  <a:pt x="12" y="1054"/>
                </a:moveTo>
                <a:lnTo>
                  <a:pt x="12" y="1066"/>
                </a:lnTo>
                <a:lnTo>
                  <a:pt x="0" y="1066"/>
                </a:lnTo>
                <a:lnTo>
                  <a:pt x="0" y="1054"/>
                </a:lnTo>
                <a:lnTo>
                  <a:pt x="12" y="1054"/>
                </a:lnTo>
                <a:close/>
                <a:moveTo>
                  <a:pt x="12" y="1078"/>
                </a:moveTo>
                <a:lnTo>
                  <a:pt x="12" y="1090"/>
                </a:lnTo>
                <a:lnTo>
                  <a:pt x="0" y="1090"/>
                </a:lnTo>
                <a:lnTo>
                  <a:pt x="0" y="1078"/>
                </a:lnTo>
                <a:lnTo>
                  <a:pt x="12" y="1078"/>
                </a:lnTo>
                <a:close/>
                <a:moveTo>
                  <a:pt x="12" y="1102"/>
                </a:moveTo>
                <a:lnTo>
                  <a:pt x="12" y="1114"/>
                </a:lnTo>
                <a:lnTo>
                  <a:pt x="0" y="1114"/>
                </a:lnTo>
                <a:lnTo>
                  <a:pt x="0" y="1102"/>
                </a:lnTo>
                <a:lnTo>
                  <a:pt x="12" y="1102"/>
                </a:lnTo>
                <a:close/>
                <a:moveTo>
                  <a:pt x="12" y="1126"/>
                </a:moveTo>
                <a:lnTo>
                  <a:pt x="12" y="1138"/>
                </a:lnTo>
                <a:lnTo>
                  <a:pt x="0" y="1138"/>
                </a:lnTo>
                <a:lnTo>
                  <a:pt x="0" y="1126"/>
                </a:lnTo>
                <a:lnTo>
                  <a:pt x="12" y="1126"/>
                </a:lnTo>
                <a:close/>
                <a:moveTo>
                  <a:pt x="12" y="1150"/>
                </a:moveTo>
                <a:lnTo>
                  <a:pt x="12" y="1162"/>
                </a:lnTo>
                <a:lnTo>
                  <a:pt x="0" y="1162"/>
                </a:lnTo>
                <a:lnTo>
                  <a:pt x="0" y="1150"/>
                </a:lnTo>
                <a:lnTo>
                  <a:pt x="12" y="1150"/>
                </a:lnTo>
                <a:close/>
                <a:moveTo>
                  <a:pt x="12" y="1174"/>
                </a:moveTo>
                <a:lnTo>
                  <a:pt x="12" y="1186"/>
                </a:lnTo>
                <a:lnTo>
                  <a:pt x="0" y="1186"/>
                </a:lnTo>
                <a:lnTo>
                  <a:pt x="0" y="1174"/>
                </a:lnTo>
                <a:lnTo>
                  <a:pt x="12" y="1174"/>
                </a:lnTo>
                <a:close/>
                <a:moveTo>
                  <a:pt x="12" y="1198"/>
                </a:moveTo>
                <a:lnTo>
                  <a:pt x="12" y="1210"/>
                </a:lnTo>
                <a:lnTo>
                  <a:pt x="0" y="1210"/>
                </a:lnTo>
                <a:lnTo>
                  <a:pt x="0" y="1198"/>
                </a:lnTo>
                <a:lnTo>
                  <a:pt x="12" y="1198"/>
                </a:lnTo>
                <a:close/>
                <a:moveTo>
                  <a:pt x="12" y="1222"/>
                </a:moveTo>
                <a:lnTo>
                  <a:pt x="12" y="1234"/>
                </a:lnTo>
                <a:lnTo>
                  <a:pt x="0" y="1234"/>
                </a:lnTo>
                <a:lnTo>
                  <a:pt x="0" y="1222"/>
                </a:lnTo>
                <a:lnTo>
                  <a:pt x="12" y="1222"/>
                </a:lnTo>
                <a:close/>
                <a:moveTo>
                  <a:pt x="12" y="1246"/>
                </a:moveTo>
                <a:lnTo>
                  <a:pt x="12" y="1258"/>
                </a:lnTo>
                <a:lnTo>
                  <a:pt x="0" y="1258"/>
                </a:lnTo>
                <a:lnTo>
                  <a:pt x="0" y="1246"/>
                </a:lnTo>
                <a:lnTo>
                  <a:pt x="12" y="1246"/>
                </a:lnTo>
                <a:close/>
                <a:moveTo>
                  <a:pt x="12" y="1270"/>
                </a:moveTo>
                <a:lnTo>
                  <a:pt x="12" y="1282"/>
                </a:lnTo>
                <a:lnTo>
                  <a:pt x="0" y="1282"/>
                </a:lnTo>
                <a:lnTo>
                  <a:pt x="0" y="1270"/>
                </a:lnTo>
                <a:lnTo>
                  <a:pt x="12" y="1270"/>
                </a:lnTo>
                <a:close/>
                <a:moveTo>
                  <a:pt x="12" y="1294"/>
                </a:moveTo>
                <a:lnTo>
                  <a:pt x="12" y="1306"/>
                </a:lnTo>
                <a:lnTo>
                  <a:pt x="0" y="1306"/>
                </a:lnTo>
                <a:lnTo>
                  <a:pt x="0" y="1294"/>
                </a:lnTo>
                <a:lnTo>
                  <a:pt x="12" y="1294"/>
                </a:lnTo>
                <a:close/>
                <a:moveTo>
                  <a:pt x="12" y="1318"/>
                </a:moveTo>
                <a:lnTo>
                  <a:pt x="12" y="1330"/>
                </a:lnTo>
                <a:lnTo>
                  <a:pt x="0" y="1330"/>
                </a:lnTo>
                <a:lnTo>
                  <a:pt x="0" y="1318"/>
                </a:lnTo>
                <a:lnTo>
                  <a:pt x="12" y="1318"/>
                </a:lnTo>
                <a:close/>
                <a:moveTo>
                  <a:pt x="12" y="1342"/>
                </a:moveTo>
                <a:lnTo>
                  <a:pt x="12" y="1354"/>
                </a:lnTo>
                <a:lnTo>
                  <a:pt x="0" y="1354"/>
                </a:lnTo>
                <a:lnTo>
                  <a:pt x="0" y="1342"/>
                </a:lnTo>
                <a:lnTo>
                  <a:pt x="12" y="1342"/>
                </a:lnTo>
                <a:close/>
                <a:moveTo>
                  <a:pt x="12" y="1366"/>
                </a:moveTo>
                <a:lnTo>
                  <a:pt x="12" y="1378"/>
                </a:lnTo>
                <a:lnTo>
                  <a:pt x="0" y="1378"/>
                </a:lnTo>
                <a:lnTo>
                  <a:pt x="0" y="1366"/>
                </a:lnTo>
                <a:lnTo>
                  <a:pt x="12" y="1366"/>
                </a:lnTo>
                <a:close/>
                <a:moveTo>
                  <a:pt x="12" y="1390"/>
                </a:moveTo>
                <a:lnTo>
                  <a:pt x="12" y="1402"/>
                </a:lnTo>
                <a:lnTo>
                  <a:pt x="0" y="1402"/>
                </a:lnTo>
                <a:lnTo>
                  <a:pt x="0" y="1390"/>
                </a:lnTo>
                <a:lnTo>
                  <a:pt x="12" y="1390"/>
                </a:lnTo>
                <a:close/>
                <a:moveTo>
                  <a:pt x="12" y="1414"/>
                </a:moveTo>
                <a:lnTo>
                  <a:pt x="12" y="1426"/>
                </a:lnTo>
                <a:lnTo>
                  <a:pt x="0" y="1426"/>
                </a:lnTo>
                <a:lnTo>
                  <a:pt x="0" y="1414"/>
                </a:lnTo>
                <a:lnTo>
                  <a:pt x="12" y="1414"/>
                </a:lnTo>
                <a:close/>
                <a:moveTo>
                  <a:pt x="12" y="1438"/>
                </a:moveTo>
                <a:lnTo>
                  <a:pt x="12" y="1450"/>
                </a:lnTo>
                <a:lnTo>
                  <a:pt x="0" y="1450"/>
                </a:lnTo>
                <a:lnTo>
                  <a:pt x="0" y="1438"/>
                </a:lnTo>
                <a:lnTo>
                  <a:pt x="12" y="1438"/>
                </a:lnTo>
                <a:close/>
                <a:moveTo>
                  <a:pt x="12" y="1462"/>
                </a:moveTo>
                <a:lnTo>
                  <a:pt x="12" y="1474"/>
                </a:lnTo>
                <a:lnTo>
                  <a:pt x="0" y="1474"/>
                </a:lnTo>
                <a:lnTo>
                  <a:pt x="0" y="1462"/>
                </a:lnTo>
                <a:lnTo>
                  <a:pt x="12" y="1462"/>
                </a:lnTo>
                <a:close/>
                <a:moveTo>
                  <a:pt x="12" y="1486"/>
                </a:moveTo>
                <a:lnTo>
                  <a:pt x="12" y="1498"/>
                </a:lnTo>
                <a:lnTo>
                  <a:pt x="0" y="1498"/>
                </a:lnTo>
                <a:lnTo>
                  <a:pt x="0" y="1486"/>
                </a:lnTo>
                <a:lnTo>
                  <a:pt x="12" y="1486"/>
                </a:lnTo>
                <a:close/>
                <a:moveTo>
                  <a:pt x="12" y="1509"/>
                </a:moveTo>
                <a:lnTo>
                  <a:pt x="12" y="1522"/>
                </a:lnTo>
                <a:lnTo>
                  <a:pt x="0" y="1522"/>
                </a:lnTo>
                <a:lnTo>
                  <a:pt x="0" y="1509"/>
                </a:lnTo>
                <a:lnTo>
                  <a:pt x="12" y="1509"/>
                </a:lnTo>
                <a:close/>
                <a:moveTo>
                  <a:pt x="12" y="1534"/>
                </a:moveTo>
                <a:lnTo>
                  <a:pt x="12" y="1545"/>
                </a:lnTo>
                <a:lnTo>
                  <a:pt x="0" y="1545"/>
                </a:lnTo>
                <a:lnTo>
                  <a:pt x="0" y="1534"/>
                </a:lnTo>
                <a:lnTo>
                  <a:pt x="12" y="1534"/>
                </a:lnTo>
                <a:close/>
                <a:moveTo>
                  <a:pt x="12" y="1557"/>
                </a:moveTo>
                <a:lnTo>
                  <a:pt x="12" y="1570"/>
                </a:lnTo>
                <a:lnTo>
                  <a:pt x="0" y="1570"/>
                </a:lnTo>
                <a:lnTo>
                  <a:pt x="0" y="1557"/>
                </a:lnTo>
                <a:lnTo>
                  <a:pt x="12" y="1557"/>
                </a:lnTo>
                <a:close/>
                <a:moveTo>
                  <a:pt x="12" y="1581"/>
                </a:moveTo>
                <a:lnTo>
                  <a:pt x="12" y="1593"/>
                </a:lnTo>
                <a:lnTo>
                  <a:pt x="0" y="1593"/>
                </a:lnTo>
                <a:lnTo>
                  <a:pt x="0" y="1581"/>
                </a:lnTo>
                <a:lnTo>
                  <a:pt x="12" y="1581"/>
                </a:lnTo>
                <a:close/>
                <a:moveTo>
                  <a:pt x="12" y="1605"/>
                </a:moveTo>
                <a:lnTo>
                  <a:pt x="12" y="1617"/>
                </a:lnTo>
                <a:lnTo>
                  <a:pt x="0" y="1617"/>
                </a:lnTo>
                <a:lnTo>
                  <a:pt x="0" y="1605"/>
                </a:lnTo>
                <a:lnTo>
                  <a:pt x="12" y="1605"/>
                </a:lnTo>
                <a:close/>
                <a:moveTo>
                  <a:pt x="12" y="1629"/>
                </a:moveTo>
                <a:lnTo>
                  <a:pt x="12" y="1641"/>
                </a:lnTo>
                <a:lnTo>
                  <a:pt x="0" y="1641"/>
                </a:lnTo>
                <a:lnTo>
                  <a:pt x="0" y="1629"/>
                </a:lnTo>
                <a:lnTo>
                  <a:pt x="12" y="1629"/>
                </a:lnTo>
                <a:close/>
                <a:moveTo>
                  <a:pt x="12" y="1653"/>
                </a:moveTo>
                <a:lnTo>
                  <a:pt x="12" y="1665"/>
                </a:lnTo>
                <a:lnTo>
                  <a:pt x="0" y="1665"/>
                </a:lnTo>
                <a:lnTo>
                  <a:pt x="0" y="1653"/>
                </a:lnTo>
                <a:lnTo>
                  <a:pt x="12" y="1653"/>
                </a:lnTo>
                <a:close/>
                <a:moveTo>
                  <a:pt x="12" y="1677"/>
                </a:moveTo>
                <a:lnTo>
                  <a:pt x="12" y="1689"/>
                </a:lnTo>
                <a:lnTo>
                  <a:pt x="0" y="1689"/>
                </a:lnTo>
                <a:lnTo>
                  <a:pt x="0" y="1677"/>
                </a:lnTo>
                <a:lnTo>
                  <a:pt x="12" y="1677"/>
                </a:lnTo>
                <a:close/>
                <a:moveTo>
                  <a:pt x="12" y="1701"/>
                </a:moveTo>
                <a:lnTo>
                  <a:pt x="12" y="1713"/>
                </a:lnTo>
                <a:lnTo>
                  <a:pt x="0" y="1713"/>
                </a:lnTo>
                <a:lnTo>
                  <a:pt x="0" y="1701"/>
                </a:lnTo>
                <a:lnTo>
                  <a:pt x="12" y="1701"/>
                </a:lnTo>
                <a:close/>
                <a:moveTo>
                  <a:pt x="12" y="1725"/>
                </a:moveTo>
                <a:lnTo>
                  <a:pt x="12" y="1737"/>
                </a:lnTo>
                <a:lnTo>
                  <a:pt x="0" y="1737"/>
                </a:lnTo>
                <a:lnTo>
                  <a:pt x="0" y="1725"/>
                </a:lnTo>
                <a:lnTo>
                  <a:pt x="12" y="1725"/>
                </a:lnTo>
                <a:close/>
                <a:moveTo>
                  <a:pt x="12" y="1749"/>
                </a:moveTo>
                <a:lnTo>
                  <a:pt x="12" y="1761"/>
                </a:lnTo>
                <a:lnTo>
                  <a:pt x="0" y="1761"/>
                </a:lnTo>
                <a:lnTo>
                  <a:pt x="0" y="1749"/>
                </a:lnTo>
                <a:lnTo>
                  <a:pt x="12" y="1749"/>
                </a:lnTo>
                <a:close/>
                <a:moveTo>
                  <a:pt x="12" y="1773"/>
                </a:moveTo>
                <a:lnTo>
                  <a:pt x="12" y="1785"/>
                </a:lnTo>
                <a:lnTo>
                  <a:pt x="0" y="1785"/>
                </a:lnTo>
                <a:lnTo>
                  <a:pt x="0" y="1773"/>
                </a:lnTo>
                <a:lnTo>
                  <a:pt x="12" y="1773"/>
                </a:lnTo>
                <a:close/>
                <a:moveTo>
                  <a:pt x="12" y="1797"/>
                </a:moveTo>
                <a:lnTo>
                  <a:pt x="12" y="1809"/>
                </a:lnTo>
                <a:lnTo>
                  <a:pt x="0" y="1809"/>
                </a:lnTo>
                <a:lnTo>
                  <a:pt x="0" y="1797"/>
                </a:lnTo>
                <a:lnTo>
                  <a:pt x="12" y="1797"/>
                </a:lnTo>
                <a:close/>
                <a:moveTo>
                  <a:pt x="12" y="1821"/>
                </a:moveTo>
                <a:lnTo>
                  <a:pt x="12" y="1833"/>
                </a:lnTo>
                <a:lnTo>
                  <a:pt x="0" y="1833"/>
                </a:lnTo>
                <a:lnTo>
                  <a:pt x="0" y="1821"/>
                </a:lnTo>
                <a:lnTo>
                  <a:pt x="12" y="1821"/>
                </a:lnTo>
                <a:close/>
                <a:moveTo>
                  <a:pt x="12" y="1845"/>
                </a:moveTo>
                <a:lnTo>
                  <a:pt x="12" y="1857"/>
                </a:lnTo>
                <a:lnTo>
                  <a:pt x="0" y="1857"/>
                </a:lnTo>
                <a:lnTo>
                  <a:pt x="0" y="1845"/>
                </a:lnTo>
                <a:lnTo>
                  <a:pt x="12" y="1845"/>
                </a:lnTo>
                <a:close/>
                <a:moveTo>
                  <a:pt x="12" y="1869"/>
                </a:moveTo>
                <a:lnTo>
                  <a:pt x="12" y="1881"/>
                </a:lnTo>
                <a:lnTo>
                  <a:pt x="0" y="1881"/>
                </a:lnTo>
                <a:lnTo>
                  <a:pt x="0" y="1869"/>
                </a:lnTo>
                <a:lnTo>
                  <a:pt x="12" y="1869"/>
                </a:lnTo>
                <a:close/>
                <a:moveTo>
                  <a:pt x="12" y="1893"/>
                </a:moveTo>
                <a:lnTo>
                  <a:pt x="12" y="1905"/>
                </a:lnTo>
                <a:lnTo>
                  <a:pt x="0" y="1905"/>
                </a:lnTo>
                <a:lnTo>
                  <a:pt x="0" y="1893"/>
                </a:lnTo>
                <a:lnTo>
                  <a:pt x="12" y="1893"/>
                </a:lnTo>
                <a:close/>
                <a:moveTo>
                  <a:pt x="12" y="1917"/>
                </a:moveTo>
                <a:lnTo>
                  <a:pt x="12" y="1929"/>
                </a:lnTo>
                <a:lnTo>
                  <a:pt x="0" y="1929"/>
                </a:lnTo>
                <a:lnTo>
                  <a:pt x="0" y="1917"/>
                </a:lnTo>
                <a:lnTo>
                  <a:pt x="12" y="1917"/>
                </a:lnTo>
                <a:close/>
                <a:moveTo>
                  <a:pt x="12" y="1941"/>
                </a:moveTo>
                <a:lnTo>
                  <a:pt x="12" y="1953"/>
                </a:lnTo>
                <a:lnTo>
                  <a:pt x="0" y="1953"/>
                </a:lnTo>
                <a:lnTo>
                  <a:pt x="0" y="1941"/>
                </a:lnTo>
                <a:lnTo>
                  <a:pt x="12" y="1941"/>
                </a:lnTo>
                <a:close/>
                <a:moveTo>
                  <a:pt x="12" y="1965"/>
                </a:moveTo>
                <a:lnTo>
                  <a:pt x="12" y="1977"/>
                </a:lnTo>
                <a:lnTo>
                  <a:pt x="0" y="1977"/>
                </a:lnTo>
                <a:lnTo>
                  <a:pt x="0" y="1965"/>
                </a:lnTo>
                <a:lnTo>
                  <a:pt x="12" y="1965"/>
                </a:lnTo>
                <a:close/>
                <a:moveTo>
                  <a:pt x="12" y="1989"/>
                </a:moveTo>
                <a:lnTo>
                  <a:pt x="12" y="2001"/>
                </a:lnTo>
                <a:lnTo>
                  <a:pt x="0" y="2001"/>
                </a:lnTo>
                <a:lnTo>
                  <a:pt x="0" y="1989"/>
                </a:lnTo>
                <a:lnTo>
                  <a:pt x="12" y="1989"/>
                </a:lnTo>
                <a:close/>
                <a:moveTo>
                  <a:pt x="12" y="2013"/>
                </a:moveTo>
                <a:lnTo>
                  <a:pt x="12" y="2025"/>
                </a:lnTo>
                <a:lnTo>
                  <a:pt x="0" y="2025"/>
                </a:lnTo>
                <a:lnTo>
                  <a:pt x="0" y="2013"/>
                </a:lnTo>
                <a:lnTo>
                  <a:pt x="12" y="2013"/>
                </a:lnTo>
                <a:close/>
                <a:moveTo>
                  <a:pt x="12" y="2037"/>
                </a:moveTo>
                <a:lnTo>
                  <a:pt x="12" y="2048"/>
                </a:lnTo>
                <a:lnTo>
                  <a:pt x="0" y="2048"/>
                </a:lnTo>
                <a:lnTo>
                  <a:pt x="0" y="2037"/>
                </a:lnTo>
                <a:lnTo>
                  <a:pt x="12" y="2037"/>
                </a:lnTo>
                <a:close/>
                <a:moveTo>
                  <a:pt x="12" y="2061"/>
                </a:moveTo>
                <a:lnTo>
                  <a:pt x="12" y="2073"/>
                </a:lnTo>
                <a:lnTo>
                  <a:pt x="0" y="2073"/>
                </a:lnTo>
                <a:lnTo>
                  <a:pt x="0" y="2061"/>
                </a:lnTo>
                <a:lnTo>
                  <a:pt x="12" y="2061"/>
                </a:lnTo>
                <a:close/>
                <a:moveTo>
                  <a:pt x="12" y="2084"/>
                </a:moveTo>
                <a:lnTo>
                  <a:pt x="12" y="2096"/>
                </a:lnTo>
                <a:lnTo>
                  <a:pt x="0" y="2096"/>
                </a:lnTo>
                <a:lnTo>
                  <a:pt x="0" y="2084"/>
                </a:lnTo>
                <a:lnTo>
                  <a:pt x="12" y="2084"/>
                </a:lnTo>
                <a:close/>
                <a:moveTo>
                  <a:pt x="12" y="2109"/>
                </a:moveTo>
                <a:lnTo>
                  <a:pt x="12" y="2120"/>
                </a:lnTo>
                <a:lnTo>
                  <a:pt x="0" y="2120"/>
                </a:lnTo>
                <a:lnTo>
                  <a:pt x="0" y="2109"/>
                </a:lnTo>
                <a:lnTo>
                  <a:pt x="12" y="2109"/>
                </a:lnTo>
                <a:close/>
                <a:moveTo>
                  <a:pt x="12" y="2132"/>
                </a:moveTo>
                <a:lnTo>
                  <a:pt x="12" y="2144"/>
                </a:lnTo>
                <a:lnTo>
                  <a:pt x="0" y="2144"/>
                </a:lnTo>
                <a:lnTo>
                  <a:pt x="0" y="2132"/>
                </a:lnTo>
                <a:lnTo>
                  <a:pt x="12" y="2132"/>
                </a:lnTo>
                <a:close/>
                <a:moveTo>
                  <a:pt x="12" y="2156"/>
                </a:moveTo>
                <a:lnTo>
                  <a:pt x="12" y="2168"/>
                </a:lnTo>
                <a:lnTo>
                  <a:pt x="0" y="2168"/>
                </a:lnTo>
                <a:lnTo>
                  <a:pt x="0" y="2156"/>
                </a:lnTo>
                <a:lnTo>
                  <a:pt x="12" y="2156"/>
                </a:lnTo>
                <a:close/>
                <a:moveTo>
                  <a:pt x="12" y="2180"/>
                </a:moveTo>
                <a:lnTo>
                  <a:pt x="12" y="2192"/>
                </a:lnTo>
                <a:lnTo>
                  <a:pt x="0" y="2192"/>
                </a:lnTo>
                <a:lnTo>
                  <a:pt x="0" y="2180"/>
                </a:lnTo>
                <a:lnTo>
                  <a:pt x="12" y="2180"/>
                </a:lnTo>
                <a:close/>
                <a:moveTo>
                  <a:pt x="12" y="2204"/>
                </a:moveTo>
                <a:lnTo>
                  <a:pt x="12" y="2216"/>
                </a:lnTo>
                <a:lnTo>
                  <a:pt x="0" y="2216"/>
                </a:lnTo>
                <a:lnTo>
                  <a:pt x="0" y="2204"/>
                </a:lnTo>
                <a:lnTo>
                  <a:pt x="12" y="2204"/>
                </a:lnTo>
                <a:close/>
                <a:moveTo>
                  <a:pt x="12" y="2228"/>
                </a:moveTo>
                <a:lnTo>
                  <a:pt x="12" y="2240"/>
                </a:lnTo>
                <a:lnTo>
                  <a:pt x="0" y="2240"/>
                </a:lnTo>
                <a:lnTo>
                  <a:pt x="0" y="2228"/>
                </a:lnTo>
                <a:lnTo>
                  <a:pt x="12" y="2228"/>
                </a:lnTo>
                <a:close/>
                <a:moveTo>
                  <a:pt x="12" y="2252"/>
                </a:moveTo>
                <a:lnTo>
                  <a:pt x="12" y="2264"/>
                </a:lnTo>
                <a:lnTo>
                  <a:pt x="0" y="2264"/>
                </a:lnTo>
                <a:lnTo>
                  <a:pt x="0" y="2252"/>
                </a:lnTo>
                <a:lnTo>
                  <a:pt x="12" y="2252"/>
                </a:lnTo>
                <a:close/>
                <a:moveTo>
                  <a:pt x="12" y="2276"/>
                </a:moveTo>
                <a:lnTo>
                  <a:pt x="12" y="2288"/>
                </a:lnTo>
                <a:lnTo>
                  <a:pt x="0" y="2288"/>
                </a:lnTo>
                <a:lnTo>
                  <a:pt x="0" y="2276"/>
                </a:lnTo>
                <a:lnTo>
                  <a:pt x="12" y="2276"/>
                </a:lnTo>
                <a:close/>
                <a:moveTo>
                  <a:pt x="12" y="2300"/>
                </a:moveTo>
                <a:lnTo>
                  <a:pt x="12" y="2312"/>
                </a:lnTo>
                <a:lnTo>
                  <a:pt x="0" y="2312"/>
                </a:lnTo>
                <a:lnTo>
                  <a:pt x="0" y="2300"/>
                </a:lnTo>
                <a:lnTo>
                  <a:pt x="12" y="2300"/>
                </a:lnTo>
                <a:close/>
                <a:moveTo>
                  <a:pt x="12" y="2324"/>
                </a:moveTo>
                <a:lnTo>
                  <a:pt x="12" y="2336"/>
                </a:lnTo>
                <a:lnTo>
                  <a:pt x="0" y="2336"/>
                </a:lnTo>
                <a:lnTo>
                  <a:pt x="0" y="2324"/>
                </a:lnTo>
                <a:lnTo>
                  <a:pt x="12" y="2324"/>
                </a:lnTo>
                <a:close/>
                <a:moveTo>
                  <a:pt x="12" y="2348"/>
                </a:moveTo>
                <a:lnTo>
                  <a:pt x="12" y="2360"/>
                </a:lnTo>
                <a:lnTo>
                  <a:pt x="0" y="2360"/>
                </a:lnTo>
                <a:lnTo>
                  <a:pt x="0" y="2348"/>
                </a:lnTo>
                <a:lnTo>
                  <a:pt x="12" y="2348"/>
                </a:lnTo>
                <a:close/>
                <a:moveTo>
                  <a:pt x="12" y="2372"/>
                </a:moveTo>
                <a:lnTo>
                  <a:pt x="12" y="2384"/>
                </a:lnTo>
                <a:lnTo>
                  <a:pt x="0" y="2384"/>
                </a:lnTo>
                <a:lnTo>
                  <a:pt x="0" y="2372"/>
                </a:lnTo>
                <a:lnTo>
                  <a:pt x="12" y="2372"/>
                </a:lnTo>
                <a:close/>
                <a:moveTo>
                  <a:pt x="12" y="2396"/>
                </a:moveTo>
                <a:lnTo>
                  <a:pt x="12" y="2408"/>
                </a:lnTo>
                <a:lnTo>
                  <a:pt x="0" y="2408"/>
                </a:lnTo>
                <a:lnTo>
                  <a:pt x="0" y="2396"/>
                </a:lnTo>
                <a:lnTo>
                  <a:pt x="12" y="2396"/>
                </a:lnTo>
                <a:close/>
                <a:moveTo>
                  <a:pt x="12" y="2420"/>
                </a:moveTo>
                <a:lnTo>
                  <a:pt x="12" y="2432"/>
                </a:lnTo>
                <a:lnTo>
                  <a:pt x="0" y="2432"/>
                </a:lnTo>
                <a:lnTo>
                  <a:pt x="0" y="2420"/>
                </a:lnTo>
                <a:lnTo>
                  <a:pt x="12" y="2420"/>
                </a:lnTo>
                <a:close/>
                <a:moveTo>
                  <a:pt x="12" y="2444"/>
                </a:moveTo>
                <a:lnTo>
                  <a:pt x="12" y="2456"/>
                </a:lnTo>
                <a:lnTo>
                  <a:pt x="0" y="2456"/>
                </a:lnTo>
                <a:lnTo>
                  <a:pt x="0" y="2444"/>
                </a:lnTo>
                <a:lnTo>
                  <a:pt x="12" y="2444"/>
                </a:lnTo>
                <a:close/>
                <a:moveTo>
                  <a:pt x="12" y="2468"/>
                </a:moveTo>
                <a:lnTo>
                  <a:pt x="12" y="2480"/>
                </a:lnTo>
                <a:lnTo>
                  <a:pt x="0" y="2480"/>
                </a:lnTo>
                <a:lnTo>
                  <a:pt x="0" y="2468"/>
                </a:lnTo>
                <a:lnTo>
                  <a:pt x="12" y="2468"/>
                </a:lnTo>
                <a:close/>
                <a:moveTo>
                  <a:pt x="12" y="2492"/>
                </a:moveTo>
                <a:lnTo>
                  <a:pt x="12" y="2504"/>
                </a:lnTo>
                <a:lnTo>
                  <a:pt x="0" y="2504"/>
                </a:lnTo>
                <a:lnTo>
                  <a:pt x="0" y="2492"/>
                </a:lnTo>
                <a:lnTo>
                  <a:pt x="12" y="2492"/>
                </a:lnTo>
                <a:close/>
                <a:moveTo>
                  <a:pt x="12" y="2516"/>
                </a:moveTo>
                <a:lnTo>
                  <a:pt x="12" y="2528"/>
                </a:lnTo>
                <a:lnTo>
                  <a:pt x="0" y="2528"/>
                </a:lnTo>
                <a:lnTo>
                  <a:pt x="0" y="2516"/>
                </a:lnTo>
                <a:lnTo>
                  <a:pt x="12" y="2516"/>
                </a:lnTo>
                <a:close/>
                <a:moveTo>
                  <a:pt x="12" y="2540"/>
                </a:moveTo>
                <a:lnTo>
                  <a:pt x="12" y="2552"/>
                </a:lnTo>
                <a:lnTo>
                  <a:pt x="0" y="2552"/>
                </a:lnTo>
                <a:lnTo>
                  <a:pt x="0" y="2540"/>
                </a:lnTo>
                <a:lnTo>
                  <a:pt x="12" y="2540"/>
                </a:lnTo>
                <a:close/>
              </a:path>
            </a:pathLst>
          </a:custGeom>
          <a:solidFill>
            <a:srgbClr val="000000"/>
          </a:solidFill>
          <a:ln w="0" cap="flat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130" name="Freeform 126">
            <a:extLst>
              <a:ext uri="{FF2B5EF4-FFF2-40B4-BE49-F238E27FC236}">
                <a16:creationId xmlns:a16="http://schemas.microsoft.com/office/drawing/2014/main" id="{67CF3959-C359-454F-B7CA-830E6CA32DF2}"/>
              </a:ext>
            </a:extLst>
          </p:cNvPr>
          <p:cNvSpPr>
            <a:spLocks noEditPoints="1"/>
          </p:cNvSpPr>
          <p:nvPr/>
        </p:nvSpPr>
        <p:spPr bwMode="auto">
          <a:xfrm>
            <a:off x="5709630" y="2351594"/>
            <a:ext cx="18000" cy="4032000"/>
          </a:xfrm>
          <a:custGeom>
            <a:avLst/>
            <a:gdLst>
              <a:gd name="T0" fmla="*/ 0 w 13"/>
              <a:gd name="T1" fmla="*/ 24 h 2552"/>
              <a:gd name="T2" fmla="*/ 0 w 13"/>
              <a:gd name="T3" fmla="*/ 84 h 2552"/>
              <a:gd name="T4" fmla="*/ 13 w 13"/>
              <a:gd name="T5" fmla="*/ 132 h 2552"/>
              <a:gd name="T6" fmla="*/ 13 w 13"/>
              <a:gd name="T7" fmla="*/ 168 h 2552"/>
              <a:gd name="T8" fmla="*/ 13 w 13"/>
              <a:gd name="T9" fmla="*/ 192 h 2552"/>
              <a:gd name="T10" fmla="*/ 0 w 13"/>
              <a:gd name="T11" fmla="*/ 240 h 2552"/>
              <a:gd name="T12" fmla="*/ 0 w 13"/>
              <a:gd name="T13" fmla="*/ 300 h 2552"/>
              <a:gd name="T14" fmla="*/ 13 w 13"/>
              <a:gd name="T15" fmla="*/ 348 h 2552"/>
              <a:gd name="T16" fmla="*/ 13 w 13"/>
              <a:gd name="T17" fmla="*/ 384 h 2552"/>
              <a:gd name="T18" fmla="*/ 13 w 13"/>
              <a:gd name="T19" fmla="*/ 408 h 2552"/>
              <a:gd name="T20" fmla="*/ 0 w 13"/>
              <a:gd name="T21" fmla="*/ 456 h 2552"/>
              <a:gd name="T22" fmla="*/ 0 w 13"/>
              <a:gd name="T23" fmla="*/ 515 h 2552"/>
              <a:gd name="T24" fmla="*/ 13 w 13"/>
              <a:gd name="T25" fmla="*/ 563 h 2552"/>
              <a:gd name="T26" fmla="*/ 13 w 13"/>
              <a:gd name="T27" fmla="*/ 599 h 2552"/>
              <a:gd name="T28" fmla="*/ 13 w 13"/>
              <a:gd name="T29" fmla="*/ 623 h 2552"/>
              <a:gd name="T30" fmla="*/ 0 w 13"/>
              <a:gd name="T31" fmla="*/ 671 h 2552"/>
              <a:gd name="T32" fmla="*/ 0 w 13"/>
              <a:gd name="T33" fmla="*/ 731 h 2552"/>
              <a:gd name="T34" fmla="*/ 13 w 13"/>
              <a:gd name="T35" fmla="*/ 779 h 2552"/>
              <a:gd name="T36" fmla="*/ 13 w 13"/>
              <a:gd name="T37" fmla="*/ 815 h 2552"/>
              <a:gd name="T38" fmla="*/ 13 w 13"/>
              <a:gd name="T39" fmla="*/ 839 h 2552"/>
              <a:gd name="T40" fmla="*/ 0 w 13"/>
              <a:gd name="T41" fmla="*/ 887 h 2552"/>
              <a:gd name="T42" fmla="*/ 0 w 13"/>
              <a:gd name="T43" fmla="*/ 947 h 2552"/>
              <a:gd name="T44" fmla="*/ 13 w 13"/>
              <a:gd name="T45" fmla="*/ 995 h 2552"/>
              <a:gd name="T46" fmla="*/ 13 w 13"/>
              <a:gd name="T47" fmla="*/ 1031 h 2552"/>
              <a:gd name="T48" fmla="*/ 13 w 13"/>
              <a:gd name="T49" fmla="*/ 1054 h 2552"/>
              <a:gd name="T50" fmla="*/ 0 w 13"/>
              <a:gd name="T51" fmla="*/ 1102 h 2552"/>
              <a:gd name="T52" fmla="*/ 0 w 13"/>
              <a:gd name="T53" fmla="*/ 1162 h 2552"/>
              <a:gd name="T54" fmla="*/ 13 w 13"/>
              <a:gd name="T55" fmla="*/ 1210 h 2552"/>
              <a:gd name="T56" fmla="*/ 13 w 13"/>
              <a:gd name="T57" fmla="*/ 1246 h 2552"/>
              <a:gd name="T58" fmla="*/ 13 w 13"/>
              <a:gd name="T59" fmla="*/ 1270 h 2552"/>
              <a:gd name="T60" fmla="*/ 0 w 13"/>
              <a:gd name="T61" fmla="*/ 1318 h 2552"/>
              <a:gd name="T62" fmla="*/ 0 w 13"/>
              <a:gd name="T63" fmla="*/ 1378 h 2552"/>
              <a:gd name="T64" fmla="*/ 13 w 13"/>
              <a:gd name="T65" fmla="*/ 1426 h 2552"/>
              <a:gd name="T66" fmla="*/ 13 w 13"/>
              <a:gd name="T67" fmla="*/ 1462 h 2552"/>
              <a:gd name="T68" fmla="*/ 13 w 13"/>
              <a:gd name="T69" fmla="*/ 1486 h 2552"/>
              <a:gd name="T70" fmla="*/ 0 w 13"/>
              <a:gd name="T71" fmla="*/ 1534 h 2552"/>
              <a:gd name="T72" fmla="*/ 0 w 13"/>
              <a:gd name="T73" fmla="*/ 1593 h 2552"/>
              <a:gd name="T74" fmla="*/ 13 w 13"/>
              <a:gd name="T75" fmla="*/ 1641 h 2552"/>
              <a:gd name="T76" fmla="*/ 13 w 13"/>
              <a:gd name="T77" fmla="*/ 1677 h 2552"/>
              <a:gd name="T78" fmla="*/ 13 w 13"/>
              <a:gd name="T79" fmla="*/ 1701 h 2552"/>
              <a:gd name="T80" fmla="*/ 0 w 13"/>
              <a:gd name="T81" fmla="*/ 1749 h 2552"/>
              <a:gd name="T82" fmla="*/ 0 w 13"/>
              <a:gd name="T83" fmla="*/ 1809 h 2552"/>
              <a:gd name="T84" fmla="*/ 13 w 13"/>
              <a:gd name="T85" fmla="*/ 1857 h 2552"/>
              <a:gd name="T86" fmla="*/ 13 w 13"/>
              <a:gd name="T87" fmla="*/ 1893 h 2552"/>
              <a:gd name="T88" fmla="*/ 13 w 13"/>
              <a:gd name="T89" fmla="*/ 1917 h 2552"/>
              <a:gd name="T90" fmla="*/ 0 w 13"/>
              <a:gd name="T91" fmla="*/ 1965 h 2552"/>
              <a:gd name="T92" fmla="*/ 0 w 13"/>
              <a:gd name="T93" fmla="*/ 2025 h 2552"/>
              <a:gd name="T94" fmla="*/ 13 w 13"/>
              <a:gd name="T95" fmla="*/ 2073 h 2552"/>
              <a:gd name="T96" fmla="*/ 13 w 13"/>
              <a:gd name="T97" fmla="*/ 2109 h 2552"/>
              <a:gd name="T98" fmla="*/ 13 w 13"/>
              <a:gd name="T99" fmla="*/ 2132 h 2552"/>
              <a:gd name="T100" fmla="*/ 0 w 13"/>
              <a:gd name="T101" fmla="*/ 2180 h 2552"/>
              <a:gd name="T102" fmla="*/ 0 w 13"/>
              <a:gd name="T103" fmla="*/ 2240 h 2552"/>
              <a:gd name="T104" fmla="*/ 13 w 13"/>
              <a:gd name="T105" fmla="*/ 2288 h 2552"/>
              <a:gd name="T106" fmla="*/ 13 w 13"/>
              <a:gd name="T107" fmla="*/ 2324 h 2552"/>
              <a:gd name="T108" fmla="*/ 13 w 13"/>
              <a:gd name="T109" fmla="*/ 2348 h 2552"/>
              <a:gd name="T110" fmla="*/ 0 w 13"/>
              <a:gd name="T111" fmla="*/ 2396 h 2552"/>
              <a:gd name="T112" fmla="*/ 0 w 13"/>
              <a:gd name="T113" fmla="*/ 2456 h 2552"/>
              <a:gd name="T114" fmla="*/ 13 w 13"/>
              <a:gd name="T115" fmla="*/ 2504 h 2552"/>
              <a:gd name="T116" fmla="*/ 13 w 13"/>
              <a:gd name="T117" fmla="*/ 2540 h 25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13" h="2552">
                <a:moveTo>
                  <a:pt x="13" y="0"/>
                </a:moveTo>
                <a:lnTo>
                  <a:pt x="13" y="12"/>
                </a:lnTo>
                <a:lnTo>
                  <a:pt x="0" y="12"/>
                </a:lnTo>
                <a:lnTo>
                  <a:pt x="0" y="0"/>
                </a:lnTo>
                <a:lnTo>
                  <a:pt x="13" y="0"/>
                </a:lnTo>
                <a:close/>
                <a:moveTo>
                  <a:pt x="13" y="24"/>
                </a:moveTo>
                <a:lnTo>
                  <a:pt x="13" y="36"/>
                </a:lnTo>
                <a:lnTo>
                  <a:pt x="0" y="36"/>
                </a:lnTo>
                <a:lnTo>
                  <a:pt x="0" y="24"/>
                </a:lnTo>
                <a:lnTo>
                  <a:pt x="13" y="24"/>
                </a:lnTo>
                <a:close/>
                <a:moveTo>
                  <a:pt x="13" y="48"/>
                </a:moveTo>
                <a:lnTo>
                  <a:pt x="13" y="60"/>
                </a:lnTo>
                <a:lnTo>
                  <a:pt x="0" y="60"/>
                </a:lnTo>
                <a:lnTo>
                  <a:pt x="0" y="48"/>
                </a:lnTo>
                <a:lnTo>
                  <a:pt x="13" y="48"/>
                </a:lnTo>
                <a:close/>
                <a:moveTo>
                  <a:pt x="13" y="72"/>
                </a:moveTo>
                <a:lnTo>
                  <a:pt x="13" y="84"/>
                </a:lnTo>
                <a:lnTo>
                  <a:pt x="0" y="84"/>
                </a:lnTo>
                <a:lnTo>
                  <a:pt x="0" y="72"/>
                </a:lnTo>
                <a:lnTo>
                  <a:pt x="13" y="72"/>
                </a:lnTo>
                <a:close/>
                <a:moveTo>
                  <a:pt x="13" y="96"/>
                </a:moveTo>
                <a:lnTo>
                  <a:pt x="13" y="108"/>
                </a:lnTo>
                <a:lnTo>
                  <a:pt x="0" y="108"/>
                </a:lnTo>
                <a:lnTo>
                  <a:pt x="0" y="96"/>
                </a:lnTo>
                <a:lnTo>
                  <a:pt x="13" y="96"/>
                </a:lnTo>
                <a:close/>
                <a:moveTo>
                  <a:pt x="13" y="120"/>
                </a:moveTo>
                <a:lnTo>
                  <a:pt x="13" y="132"/>
                </a:lnTo>
                <a:lnTo>
                  <a:pt x="0" y="132"/>
                </a:lnTo>
                <a:lnTo>
                  <a:pt x="0" y="120"/>
                </a:lnTo>
                <a:lnTo>
                  <a:pt x="13" y="120"/>
                </a:lnTo>
                <a:close/>
                <a:moveTo>
                  <a:pt x="13" y="144"/>
                </a:moveTo>
                <a:lnTo>
                  <a:pt x="13" y="156"/>
                </a:lnTo>
                <a:lnTo>
                  <a:pt x="0" y="156"/>
                </a:lnTo>
                <a:lnTo>
                  <a:pt x="0" y="144"/>
                </a:lnTo>
                <a:lnTo>
                  <a:pt x="13" y="144"/>
                </a:lnTo>
                <a:close/>
                <a:moveTo>
                  <a:pt x="13" y="168"/>
                </a:moveTo>
                <a:lnTo>
                  <a:pt x="13" y="180"/>
                </a:lnTo>
                <a:lnTo>
                  <a:pt x="0" y="180"/>
                </a:lnTo>
                <a:lnTo>
                  <a:pt x="0" y="168"/>
                </a:lnTo>
                <a:lnTo>
                  <a:pt x="13" y="168"/>
                </a:lnTo>
                <a:close/>
                <a:moveTo>
                  <a:pt x="13" y="192"/>
                </a:moveTo>
                <a:lnTo>
                  <a:pt x="13" y="204"/>
                </a:lnTo>
                <a:lnTo>
                  <a:pt x="0" y="204"/>
                </a:lnTo>
                <a:lnTo>
                  <a:pt x="0" y="192"/>
                </a:lnTo>
                <a:lnTo>
                  <a:pt x="13" y="192"/>
                </a:lnTo>
                <a:close/>
                <a:moveTo>
                  <a:pt x="13" y="216"/>
                </a:moveTo>
                <a:lnTo>
                  <a:pt x="13" y="228"/>
                </a:lnTo>
                <a:lnTo>
                  <a:pt x="0" y="228"/>
                </a:lnTo>
                <a:lnTo>
                  <a:pt x="0" y="216"/>
                </a:lnTo>
                <a:lnTo>
                  <a:pt x="13" y="216"/>
                </a:lnTo>
                <a:close/>
                <a:moveTo>
                  <a:pt x="13" y="240"/>
                </a:moveTo>
                <a:lnTo>
                  <a:pt x="13" y="252"/>
                </a:lnTo>
                <a:lnTo>
                  <a:pt x="0" y="252"/>
                </a:lnTo>
                <a:lnTo>
                  <a:pt x="0" y="240"/>
                </a:lnTo>
                <a:lnTo>
                  <a:pt x="13" y="240"/>
                </a:lnTo>
                <a:close/>
                <a:moveTo>
                  <a:pt x="13" y="264"/>
                </a:moveTo>
                <a:lnTo>
                  <a:pt x="13" y="276"/>
                </a:lnTo>
                <a:lnTo>
                  <a:pt x="0" y="276"/>
                </a:lnTo>
                <a:lnTo>
                  <a:pt x="0" y="264"/>
                </a:lnTo>
                <a:lnTo>
                  <a:pt x="13" y="264"/>
                </a:lnTo>
                <a:close/>
                <a:moveTo>
                  <a:pt x="13" y="288"/>
                </a:moveTo>
                <a:lnTo>
                  <a:pt x="13" y="300"/>
                </a:lnTo>
                <a:lnTo>
                  <a:pt x="0" y="300"/>
                </a:lnTo>
                <a:lnTo>
                  <a:pt x="0" y="288"/>
                </a:lnTo>
                <a:lnTo>
                  <a:pt x="13" y="288"/>
                </a:lnTo>
                <a:close/>
                <a:moveTo>
                  <a:pt x="13" y="312"/>
                </a:moveTo>
                <a:lnTo>
                  <a:pt x="13" y="324"/>
                </a:lnTo>
                <a:lnTo>
                  <a:pt x="0" y="324"/>
                </a:lnTo>
                <a:lnTo>
                  <a:pt x="0" y="312"/>
                </a:lnTo>
                <a:lnTo>
                  <a:pt x="13" y="312"/>
                </a:lnTo>
                <a:close/>
                <a:moveTo>
                  <a:pt x="13" y="336"/>
                </a:moveTo>
                <a:lnTo>
                  <a:pt x="13" y="348"/>
                </a:lnTo>
                <a:lnTo>
                  <a:pt x="0" y="348"/>
                </a:lnTo>
                <a:lnTo>
                  <a:pt x="0" y="336"/>
                </a:lnTo>
                <a:lnTo>
                  <a:pt x="13" y="336"/>
                </a:lnTo>
                <a:close/>
                <a:moveTo>
                  <a:pt x="13" y="360"/>
                </a:moveTo>
                <a:lnTo>
                  <a:pt x="13" y="372"/>
                </a:lnTo>
                <a:lnTo>
                  <a:pt x="0" y="372"/>
                </a:lnTo>
                <a:lnTo>
                  <a:pt x="0" y="360"/>
                </a:lnTo>
                <a:lnTo>
                  <a:pt x="13" y="360"/>
                </a:lnTo>
                <a:close/>
                <a:moveTo>
                  <a:pt x="13" y="384"/>
                </a:moveTo>
                <a:lnTo>
                  <a:pt x="13" y="396"/>
                </a:lnTo>
                <a:lnTo>
                  <a:pt x="0" y="396"/>
                </a:lnTo>
                <a:lnTo>
                  <a:pt x="0" y="384"/>
                </a:lnTo>
                <a:lnTo>
                  <a:pt x="13" y="384"/>
                </a:lnTo>
                <a:close/>
                <a:moveTo>
                  <a:pt x="13" y="408"/>
                </a:moveTo>
                <a:lnTo>
                  <a:pt x="13" y="420"/>
                </a:lnTo>
                <a:lnTo>
                  <a:pt x="0" y="420"/>
                </a:lnTo>
                <a:lnTo>
                  <a:pt x="0" y="408"/>
                </a:lnTo>
                <a:lnTo>
                  <a:pt x="13" y="408"/>
                </a:lnTo>
                <a:close/>
                <a:moveTo>
                  <a:pt x="13" y="431"/>
                </a:moveTo>
                <a:lnTo>
                  <a:pt x="13" y="444"/>
                </a:lnTo>
                <a:lnTo>
                  <a:pt x="0" y="444"/>
                </a:lnTo>
                <a:lnTo>
                  <a:pt x="0" y="431"/>
                </a:lnTo>
                <a:lnTo>
                  <a:pt x="13" y="431"/>
                </a:lnTo>
                <a:close/>
                <a:moveTo>
                  <a:pt x="13" y="456"/>
                </a:moveTo>
                <a:lnTo>
                  <a:pt x="13" y="467"/>
                </a:lnTo>
                <a:lnTo>
                  <a:pt x="0" y="467"/>
                </a:lnTo>
                <a:lnTo>
                  <a:pt x="0" y="456"/>
                </a:lnTo>
                <a:lnTo>
                  <a:pt x="13" y="456"/>
                </a:lnTo>
                <a:close/>
                <a:moveTo>
                  <a:pt x="13" y="479"/>
                </a:moveTo>
                <a:lnTo>
                  <a:pt x="13" y="492"/>
                </a:lnTo>
                <a:lnTo>
                  <a:pt x="0" y="492"/>
                </a:lnTo>
                <a:lnTo>
                  <a:pt x="0" y="479"/>
                </a:lnTo>
                <a:lnTo>
                  <a:pt x="13" y="479"/>
                </a:lnTo>
                <a:close/>
                <a:moveTo>
                  <a:pt x="13" y="503"/>
                </a:moveTo>
                <a:lnTo>
                  <a:pt x="13" y="515"/>
                </a:lnTo>
                <a:lnTo>
                  <a:pt x="0" y="515"/>
                </a:lnTo>
                <a:lnTo>
                  <a:pt x="0" y="503"/>
                </a:lnTo>
                <a:lnTo>
                  <a:pt x="13" y="503"/>
                </a:lnTo>
                <a:close/>
                <a:moveTo>
                  <a:pt x="13" y="527"/>
                </a:moveTo>
                <a:lnTo>
                  <a:pt x="13" y="539"/>
                </a:lnTo>
                <a:lnTo>
                  <a:pt x="0" y="539"/>
                </a:lnTo>
                <a:lnTo>
                  <a:pt x="0" y="527"/>
                </a:lnTo>
                <a:lnTo>
                  <a:pt x="13" y="527"/>
                </a:lnTo>
                <a:close/>
                <a:moveTo>
                  <a:pt x="13" y="551"/>
                </a:moveTo>
                <a:lnTo>
                  <a:pt x="13" y="563"/>
                </a:lnTo>
                <a:lnTo>
                  <a:pt x="0" y="563"/>
                </a:lnTo>
                <a:lnTo>
                  <a:pt x="0" y="551"/>
                </a:lnTo>
                <a:lnTo>
                  <a:pt x="13" y="551"/>
                </a:lnTo>
                <a:close/>
                <a:moveTo>
                  <a:pt x="13" y="575"/>
                </a:moveTo>
                <a:lnTo>
                  <a:pt x="13" y="587"/>
                </a:lnTo>
                <a:lnTo>
                  <a:pt x="0" y="587"/>
                </a:lnTo>
                <a:lnTo>
                  <a:pt x="0" y="575"/>
                </a:lnTo>
                <a:lnTo>
                  <a:pt x="13" y="575"/>
                </a:lnTo>
                <a:close/>
                <a:moveTo>
                  <a:pt x="13" y="599"/>
                </a:moveTo>
                <a:lnTo>
                  <a:pt x="13" y="611"/>
                </a:lnTo>
                <a:lnTo>
                  <a:pt x="0" y="611"/>
                </a:lnTo>
                <a:lnTo>
                  <a:pt x="0" y="599"/>
                </a:lnTo>
                <a:lnTo>
                  <a:pt x="13" y="599"/>
                </a:lnTo>
                <a:close/>
                <a:moveTo>
                  <a:pt x="13" y="623"/>
                </a:moveTo>
                <a:lnTo>
                  <a:pt x="13" y="635"/>
                </a:lnTo>
                <a:lnTo>
                  <a:pt x="0" y="635"/>
                </a:lnTo>
                <a:lnTo>
                  <a:pt x="0" y="623"/>
                </a:lnTo>
                <a:lnTo>
                  <a:pt x="13" y="623"/>
                </a:lnTo>
                <a:close/>
                <a:moveTo>
                  <a:pt x="13" y="647"/>
                </a:moveTo>
                <a:lnTo>
                  <a:pt x="13" y="659"/>
                </a:lnTo>
                <a:lnTo>
                  <a:pt x="0" y="659"/>
                </a:lnTo>
                <a:lnTo>
                  <a:pt x="0" y="647"/>
                </a:lnTo>
                <a:lnTo>
                  <a:pt x="13" y="647"/>
                </a:lnTo>
                <a:close/>
                <a:moveTo>
                  <a:pt x="13" y="671"/>
                </a:moveTo>
                <a:lnTo>
                  <a:pt x="13" y="683"/>
                </a:lnTo>
                <a:lnTo>
                  <a:pt x="0" y="683"/>
                </a:lnTo>
                <a:lnTo>
                  <a:pt x="0" y="671"/>
                </a:lnTo>
                <a:lnTo>
                  <a:pt x="13" y="671"/>
                </a:lnTo>
                <a:close/>
                <a:moveTo>
                  <a:pt x="13" y="695"/>
                </a:moveTo>
                <a:lnTo>
                  <a:pt x="13" y="707"/>
                </a:lnTo>
                <a:lnTo>
                  <a:pt x="0" y="707"/>
                </a:lnTo>
                <a:lnTo>
                  <a:pt x="0" y="695"/>
                </a:lnTo>
                <a:lnTo>
                  <a:pt x="13" y="695"/>
                </a:lnTo>
                <a:close/>
                <a:moveTo>
                  <a:pt x="13" y="719"/>
                </a:moveTo>
                <a:lnTo>
                  <a:pt x="13" y="731"/>
                </a:lnTo>
                <a:lnTo>
                  <a:pt x="0" y="731"/>
                </a:lnTo>
                <a:lnTo>
                  <a:pt x="0" y="719"/>
                </a:lnTo>
                <a:lnTo>
                  <a:pt x="13" y="719"/>
                </a:lnTo>
                <a:close/>
                <a:moveTo>
                  <a:pt x="13" y="743"/>
                </a:moveTo>
                <a:lnTo>
                  <a:pt x="13" y="755"/>
                </a:lnTo>
                <a:lnTo>
                  <a:pt x="0" y="755"/>
                </a:lnTo>
                <a:lnTo>
                  <a:pt x="0" y="743"/>
                </a:lnTo>
                <a:lnTo>
                  <a:pt x="13" y="743"/>
                </a:lnTo>
                <a:close/>
                <a:moveTo>
                  <a:pt x="13" y="767"/>
                </a:moveTo>
                <a:lnTo>
                  <a:pt x="13" y="779"/>
                </a:lnTo>
                <a:lnTo>
                  <a:pt x="0" y="779"/>
                </a:lnTo>
                <a:lnTo>
                  <a:pt x="0" y="767"/>
                </a:lnTo>
                <a:lnTo>
                  <a:pt x="13" y="767"/>
                </a:lnTo>
                <a:close/>
                <a:moveTo>
                  <a:pt x="13" y="791"/>
                </a:moveTo>
                <a:lnTo>
                  <a:pt x="13" y="803"/>
                </a:lnTo>
                <a:lnTo>
                  <a:pt x="0" y="803"/>
                </a:lnTo>
                <a:lnTo>
                  <a:pt x="0" y="791"/>
                </a:lnTo>
                <a:lnTo>
                  <a:pt x="13" y="791"/>
                </a:lnTo>
                <a:close/>
                <a:moveTo>
                  <a:pt x="13" y="815"/>
                </a:moveTo>
                <a:lnTo>
                  <a:pt x="13" y="827"/>
                </a:lnTo>
                <a:lnTo>
                  <a:pt x="0" y="827"/>
                </a:lnTo>
                <a:lnTo>
                  <a:pt x="0" y="815"/>
                </a:lnTo>
                <a:lnTo>
                  <a:pt x="13" y="815"/>
                </a:lnTo>
                <a:close/>
                <a:moveTo>
                  <a:pt x="13" y="839"/>
                </a:moveTo>
                <a:lnTo>
                  <a:pt x="13" y="851"/>
                </a:lnTo>
                <a:lnTo>
                  <a:pt x="0" y="851"/>
                </a:lnTo>
                <a:lnTo>
                  <a:pt x="0" y="839"/>
                </a:lnTo>
                <a:lnTo>
                  <a:pt x="13" y="839"/>
                </a:lnTo>
                <a:close/>
                <a:moveTo>
                  <a:pt x="13" y="863"/>
                </a:moveTo>
                <a:lnTo>
                  <a:pt x="13" y="875"/>
                </a:lnTo>
                <a:lnTo>
                  <a:pt x="0" y="875"/>
                </a:lnTo>
                <a:lnTo>
                  <a:pt x="0" y="863"/>
                </a:lnTo>
                <a:lnTo>
                  <a:pt x="13" y="863"/>
                </a:lnTo>
                <a:close/>
                <a:moveTo>
                  <a:pt x="13" y="887"/>
                </a:moveTo>
                <a:lnTo>
                  <a:pt x="13" y="899"/>
                </a:lnTo>
                <a:lnTo>
                  <a:pt x="0" y="899"/>
                </a:lnTo>
                <a:lnTo>
                  <a:pt x="0" y="887"/>
                </a:lnTo>
                <a:lnTo>
                  <a:pt x="13" y="887"/>
                </a:lnTo>
                <a:close/>
                <a:moveTo>
                  <a:pt x="13" y="911"/>
                </a:moveTo>
                <a:lnTo>
                  <a:pt x="13" y="923"/>
                </a:lnTo>
                <a:lnTo>
                  <a:pt x="0" y="923"/>
                </a:lnTo>
                <a:lnTo>
                  <a:pt x="0" y="911"/>
                </a:lnTo>
                <a:lnTo>
                  <a:pt x="13" y="911"/>
                </a:lnTo>
                <a:close/>
                <a:moveTo>
                  <a:pt x="13" y="935"/>
                </a:moveTo>
                <a:lnTo>
                  <a:pt x="13" y="947"/>
                </a:lnTo>
                <a:lnTo>
                  <a:pt x="0" y="947"/>
                </a:lnTo>
                <a:lnTo>
                  <a:pt x="0" y="935"/>
                </a:lnTo>
                <a:lnTo>
                  <a:pt x="13" y="935"/>
                </a:lnTo>
                <a:close/>
                <a:moveTo>
                  <a:pt x="13" y="959"/>
                </a:moveTo>
                <a:lnTo>
                  <a:pt x="13" y="970"/>
                </a:lnTo>
                <a:lnTo>
                  <a:pt x="0" y="970"/>
                </a:lnTo>
                <a:lnTo>
                  <a:pt x="0" y="959"/>
                </a:lnTo>
                <a:lnTo>
                  <a:pt x="13" y="959"/>
                </a:lnTo>
                <a:close/>
                <a:moveTo>
                  <a:pt x="13" y="983"/>
                </a:moveTo>
                <a:lnTo>
                  <a:pt x="13" y="995"/>
                </a:lnTo>
                <a:lnTo>
                  <a:pt x="0" y="995"/>
                </a:lnTo>
                <a:lnTo>
                  <a:pt x="0" y="983"/>
                </a:lnTo>
                <a:lnTo>
                  <a:pt x="13" y="983"/>
                </a:lnTo>
                <a:close/>
                <a:moveTo>
                  <a:pt x="13" y="1006"/>
                </a:moveTo>
                <a:lnTo>
                  <a:pt x="13" y="1018"/>
                </a:lnTo>
                <a:lnTo>
                  <a:pt x="0" y="1018"/>
                </a:lnTo>
                <a:lnTo>
                  <a:pt x="0" y="1006"/>
                </a:lnTo>
                <a:lnTo>
                  <a:pt x="13" y="1006"/>
                </a:lnTo>
                <a:close/>
                <a:moveTo>
                  <a:pt x="13" y="1031"/>
                </a:moveTo>
                <a:lnTo>
                  <a:pt x="13" y="1042"/>
                </a:lnTo>
                <a:lnTo>
                  <a:pt x="0" y="1042"/>
                </a:lnTo>
                <a:lnTo>
                  <a:pt x="0" y="1031"/>
                </a:lnTo>
                <a:lnTo>
                  <a:pt x="13" y="1031"/>
                </a:lnTo>
                <a:close/>
                <a:moveTo>
                  <a:pt x="13" y="1054"/>
                </a:moveTo>
                <a:lnTo>
                  <a:pt x="13" y="1066"/>
                </a:lnTo>
                <a:lnTo>
                  <a:pt x="0" y="1066"/>
                </a:lnTo>
                <a:lnTo>
                  <a:pt x="0" y="1054"/>
                </a:lnTo>
                <a:lnTo>
                  <a:pt x="13" y="1054"/>
                </a:lnTo>
                <a:close/>
                <a:moveTo>
                  <a:pt x="13" y="1078"/>
                </a:moveTo>
                <a:lnTo>
                  <a:pt x="13" y="1090"/>
                </a:lnTo>
                <a:lnTo>
                  <a:pt x="0" y="1090"/>
                </a:lnTo>
                <a:lnTo>
                  <a:pt x="0" y="1078"/>
                </a:lnTo>
                <a:lnTo>
                  <a:pt x="13" y="1078"/>
                </a:lnTo>
                <a:close/>
                <a:moveTo>
                  <a:pt x="13" y="1102"/>
                </a:moveTo>
                <a:lnTo>
                  <a:pt x="13" y="1114"/>
                </a:lnTo>
                <a:lnTo>
                  <a:pt x="0" y="1114"/>
                </a:lnTo>
                <a:lnTo>
                  <a:pt x="0" y="1102"/>
                </a:lnTo>
                <a:lnTo>
                  <a:pt x="13" y="1102"/>
                </a:lnTo>
                <a:close/>
                <a:moveTo>
                  <a:pt x="13" y="1126"/>
                </a:moveTo>
                <a:lnTo>
                  <a:pt x="13" y="1138"/>
                </a:lnTo>
                <a:lnTo>
                  <a:pt x="0" y="1138"/>
                </a:lnTo>
                <a:lnTo>
                  <a:pt x="0" y="1126"/>
                </a:lnTo>
                <a:lnTo>
                  <a:pt x="13" y="1126"/>
                </a:lnTo>
                <a:close/>
                <a:moveTo>
                  <a:pt x="13" y="1150"/>
                </a:moveTo>
                <a:lnTo>
                  <a:pt x="13" y="1162"/>
                </a:lnTo>
                <a:lnTo>
                  <a:pt x="0" y="1162"/>
                </a:lnTo>
                <a:lnTo>
                  <a:pt x="0" y="1150"/>
                </a:lnTo>
                <a:lnTo>
                  <a:pt x="13" y="1150"/>
                </a:lnTo>
                <a:close/>
                <a:moveTo>
                  <a:pt x="13" y="1174"/>
                </a:moveTo>
                <a:lnTo>
                  <a:pt x="13" y="1186"/>
                </a:lnTo>
                <a:lnTo>
                  <a:pt x="0" y="1186"/>
                </a:lnTo>
                <a:lnTo>
                  <a:pt x="0" y="1174"/>
                </a:lnTo>
                <a:lnTo>
                  <a:pt x="13" y="1174"/>
                </a:lnTo>
                <a:close/>
                <a:moveTo>
                  <a:pt x="13" y="1198"/>
                </a:moveTo>
                <a:lnTo>
                  <a:pt x="13" y="1210"/>
                </a:lnTo>
                <a:lnTo>
                  <a:pt x="0" y="1210"/>
                </a:lnTo>
                <a:lnTo>
                  <a:pt x="0" y="1198"/>
                </a:lnTo>
                <a:lnTo>
                  <a:pt x="13" y="1198"/>
                </a:lnTo>
                <a:close/>
                <a:moveTo>
                  <a:pt x="13" y="1222"/>
                </a:moveTo>
                <a:lnTo>
                  <a:pt x="13" y="1234"/>
                </a:lnTo>
                <a:lnTo>
                  <a:pt x="0" y="1234"/>
                </a:lnTo>
                <a:lnTo>
                  <a:pt x="0" y="1222"/>
                </a:lnTo>
                <a:lnTo>
                  <a:pt x="13" y="1222"/>
                </a:lnTo>
                <a:close/>
                <a:moveTo>
                  <a:pt x="13" y="1246"/>
                </a:moveTo>
                <a:lnTo>
                  <a:pt x="13" y="1258"/>
                </a:lnTo>
                <a:lnTo>
                  <a:pt x="0" y="1258"/>
                </a:lnTo>
                <a:lnTo>
                  <a:pt x="0" y="1246"/>
                </a:lnTo>
                <a:lnTo>
                  <a:pt x="13" y="1246"/>
                </a:lnTo>
                <a:close/>
                <a:moveTo>
                  <a:pt x="13" y="1270"/>
                </a:moveTo>
                <a:lnTo>
                  <a:pt x="13" y="1282"/>
                </a:lnTo>
                <a:lnTo>
                  <a:pt x="0" y="1282"/>
                </a:lnTo>
                <a:lnTo>
                  <a:pt x="0" y="1270"/>
                </a:lnTo>
                <a:lnTo>
                  <a:pt x="13" y="1270"/>
                </a:lnTo>
                <a:close/>
                <a:moveTo>
                  <a:pt x="13" y="1294"/>
                </a:moveTo>
                <a:lnTo>
                  <a:pt x="13" y="1306"/>
                </a:lnTo>
                <a:lnTo>
                  <a:pt x="0" y="1306"/>
                </a:lnTo>
                <a:lnTo>
                  <a:pt x="0" y="1294"/>
                </a:lnTo>
                <a:lnTo>
                  <a:pt x="13" y="1294"/>
                </a:lnTo>
                <a:close/>
                <a:moveTo>
                  <a:pt x="13" y="1318"/>
                </a:moveTo>
                <a:lnTo>
                  <a:pt x="13" y="1330"/>
                </a:lnTo>
                <a:lnTo>
                  <a:pt x="0" y="1330"/>
                </a:lnTo>
                <a:lnTo>
                  <a:pt x="0" y="1318"/>
                </a:lnTo>
                <a:lnTo>
                  <a:pt x="13" y="1318"/>
                </a:lnTo>
                <a:close/>
                <a:moveTo>
                  <a:pt x="13" y="1342"/>
                </a:moveTo>
                <a:lnTo>
                  <a:pt x="13" y="1354"/>
                </a:lnTo>
                <a:lnTo>
                  <a:pt x="0" y="1354"/>
                </a:lnTo>
                <a:lnTo>
                  <a:pt x="0" y="1342"/>
                </a:lnTo>
                <a:lnTo>
                  <a:pt x="13" y="1342"/>
                </a:lnTo>
                <a:close/>
                <a:moveTo>
                  <a:pt x="13" y="1366"/>
                </a:moveTo>
                <a:lnTo>
                  <a:pt x="13" y="1378"/>
                </a:lnTo>
                <a:lnTo>
                  <a:pt x="0" y="1378"/>
                </a:lnTo>
                <a:lnTo>
                  <a:pt x="0" y="1366"/>
                </a:lnTo>
                <a:lnTo>
                  <a:pt x="13" y="1366"/>
                </a:lnTo>
                <a:close/>
                <a:moveTo>
                  <a:pt x="13" y="1390"/>
                </a:moveTo>
                <a:lnTo>
                  <a:pt x="13" y="1402"/>
                </a:lnTo>
                <a:lnTo>
                  <a:pt x="0" y="1402"/>
                </a:lnTo>
                <a:lnTo>
                  <a:pt x="0" y="1390"/>
                </a:lnTo>
                <a:lnTo>
                  <a:pt x="13" y="1390"/>
                </a:lnTo>
                <a:close/>
                <a:moveTo>
                  <a:pt x="13" y="1414"/>
                </a:moveTo>
                <a:lnTo>
                  <a:pt x="13" y="1426"/>
                </a:lnTo>
                <a:lnTo>
                  <a:pt x="0" y="1426"/>
                </a:lnTo>
                <a:lnTo>
                  <a:pt x="0" y="1414"/>
                </a:lnTo>
                <a:lnTo>
                  <a:pt x="13" y="1414"/>
                </a:lnTo>
                <a:close/>
                <a:moveTo>
                  <a:pt x="13" y="1438"/>
                </a:moveTo>
                <a:lnTo>
                  <a:pt x="13" y="1450"/>
                </a:lnTo>
                <a:lnTo>
                  <a:pt x="0" y="1450"/>
                </a:lnTo>
                <a:lnTo>
                  <a:pt x="0" y="1438"/>
                </a:lnTo>
                <a:lnTo>
                  <a:pt x="13" y="1438"/>
                </a:lnTo>
                <a:close/>
                <a:moveTo>
                  <a:pt x="13" y="1462"/>
                </a:moveTo>
                <a:lnTo>
                  <a:pt x="13" y="1474"/>
                </a:lnTo>
                <a:lnTo>
                  <a:pt x="0" y="1474"/>
                </a:lnTo>
                <a:lnTo>
                  <a:pt x="0" y="1462"/>
                </a:lnTo>
                <a:lnTo>
                  <a:pt x="13" y="1462"/>
                </a:lnTo>
                <a:close/>
                <a:moveTo>
                  <a:pt x="13" y="1486"/>
                </a:moveTo>
                <a:lnTo>
                  <a:pt x="13" y="1498"/>
                </a:lnTo>
                <a:lnTo>
                  <a:pt x="0" y="1498"/>
                </a:lnTo>
                <a:lnTo>
                  <a:pt x="0" y="1486"/>
                </a:lnTo>
                <a:lnTo>
                  <a:pt x="13" y="1486"/>
                </a:lnTo>
                <a:close/>
                <a:moveTo>
                  <a:pt x="13" y="1509"/>
                </a:moveTo>
                <a:lnTo>
                  <a:pt x="13" y="1522"/>
                </a:lnTo>
                <a:lnTo>
                  <a:pt x="0" y="1522"/>
                </a:lnTo>
                <a:lnTo>
                  <a:pt x="0" y="1509"/>
                </a:lnTo>
                <a:lnTo>
                  <a:pt x="13" y="1509"/>
                </a:lnTo>
                <a:close/>
                <a:moveTo>
                  <a:pt x="13" y="1534"/>
                </a:moveTo>
                <a:lnTo>
                  <a:pt x="13" y="1545"/>
                </a:lnTo>
                <a:lnTo>
                  <a:pt x="0" y="1545"/>
                </a:lnTo>
                <a:lnTo>
                  <a:pt x="0" y="1534"/>
                </a:lnTo>
                <a:lnTo>
                  <a:pt x="13" y="1534"/>
                </a:lnTo>
                <a:close/>
                <a:moveTo>
                  <a:pt x="13" y="1557"/>
                </a:moveTo>
                <a:lnTo>
                  <a:pt x="13" y="1570"/>
                </a:lnTo>
                <a:lnTo>
                  <a:pt x="0" y="1570"/>
                </a:lnTo>
                <a:lnTo>
                  <a:pt x="0" y="1557"/>
                </a:lnTo>
                <a:lnTo>
                  <a:pt x="13" y="1557"/>
                </a:lnTo>
                <a:close/>
                <a:moveTo>
                  <a:pt x="13" y="1581"/>
                </a:moveTo>
                <a:lnTo>
                  <a:pt x="13" y="1593"/>
                </a:lnTo>
                <a:lnTo>
                  <a:pt x="0" y="1593"/>
                </a:lnTo>
                <a:lnTo>
                  <a:pt x="0" y="1581"/>
                </a:lnTo>
                <a:lnTo>
                  <a:pt x="13" y="1581"/>
                </a:lnTo>
                <a:close/>
                <a:moveTo>
                  <a:pt x="13" y="1605"/>
                </a:moveTo>
                <a:lnTo>
                  <a:pt x="13" y="1617"/>
                </a:lnTo>
                <a:lnTo>
                  <a:pt x="0" y="1617"/>
                </a:lnTo>
                <a:lnTo>
                  <a:pt x="0" y="1605"/>
                </a:lnTo>
                <a:lnTo>
                  <a:pt x="13" y="1605"/>
                </a:lnTo>
                <a:close/>
                <a:moveTo>
                  <a:pt x="13" y="1629"/>
                </a:moveTo>
                <a:lnTo>
                  <a:pt x="13" y="1641"/>
                </a:lnTo>
                <a:lnTo>
                  <a:pt x="0" y="1641"/>
                </a:lnTo>
                <a:lnTo>
                  <a:pt x="0" y="1629"/>
                </a:lnTo>
                <a:lnTo>
                  <a:pt x="13" y="1629"/>
                </a:lnTo>
                <a:close/>
                <a:moveTo>
                  <a:pt x="13" y="1653"/>
                </a:moveTo>
                <a:lnTo>
                  <a:pt x="13" y="1665"/>
                </a:lnTo>
                <a:lnTo>
                  <a:pt x="0" y="1665"/>
                </a:lnTo>
                <a:lnTo>
                  <a:pt x="0" y="1653"/>
                </a:lnTo>
                <a:lnTo>
                  <a:pt x="13" y="1653"/>
                </a:lnTo>
                <a:close/>
                <a:moveTo>
                  <a:pt x="13" y="1677"/>
                </a:moveTo>
                <a:lnTo>
                  <a:pt x="13" y="1689"/>
                </a:lnTo>
                <a:lnTo>
                  <a:pt x="0" y="1689"/>
                </a:lnTo>
                <a:lnTo>
                  <a:pt x="0" y="1677"/>
                </a:lnTo>
                <a:lnTo>
                  <a:pt x="13" y="1677"/>
                </a:lnTo>
                <a:close/>
                <a:moveTo>
                  <a:pt x="13" y="1701"/>
                </a:moveTo>
                <a:lnTo>
                  <a:pt x="13" y="1713"/>
                </a:lnTo>
                <a:lnTo>
                  <a:pt x="0" y="1713"/>
                </a:lnTo>
                <a:lnTo>
                  <a:pt x="0" y="1701"/>
                </a:lnTo>
                <a:lnTo>
                  <a:pt x="13" y="1701"/>
                </a:lnTo>
                <a:close/>
                <a:moveTo>
                  <a:pt x="13" y="1725"/>
                </a:moveTo>
                <a:lnTo>
                  <a:pt x="13" y="1737"/>
                </a:lnTo>
                <a:lnTo>
                  <a:pt x="0" y="1737"/>
                </a:lnTo>
                <a:lnTo>
                  <a:pt x="0" y="1725"/>
                </a:lnTo>
                <a:lnTo>
                  <a:pt x="13" y="1725"/>
                </a:lnTo>
                <a:close/>
                <a:moveTo>
                  <a:pt x="13" y="1749"/>
                </a:moveTo>
                <a:lnTo>
                  <a:pt x="13" y="1761"/>
                </a:lnTo>
                <a:lnTo>
                  <a:pt x="0" y="1761"/>
                </a:lnTo>
                <a:lnTo>
                  <a:pt x="0" y="1749"/>
                </a:lnTo>
                <a:lnTo>
                  <a:pt x="13" y="1749"/>
                </a:lnTo>
                <a:close/>
                <a:moveTo>
                  <a:pt x="13" y="1773"/>
                </a:moveTo>
                <a:lnTo>
                  <a:pt x="13" y="1785"/>
                </a:lnTo>
                <a:lnTo>
                  <a:pt x="0" y="1785"/>
                </a:lnTo>
                <a:lnTo>
                  <a:pt x="0" y="1773"/>
                </a:lnTo>
                <a:lnTo>
                  <a:pt x="13" y="1773"/>
                </a:lnTo>
                <a:close/>
                <a:moveTo>
                  <a:pt x="13" y="1797"/>
                </a:moveTo>
                <a:lnTo>
                  <a:pt x="13" y="1809"/>
                </a:lnTo>
                <a:lnTo>
                  <a:pt x="0" y="1809"/>
                </a:lnTo>
                <a:lnTo>
                  <a:pt x="0" y="1797"/>
                </a:lnTo>
                <a:lnTo>
                  <a:pt x="13" y="1797"/>
                </a:lnTo>
                <a:close/>
                <a:moveTo>
                  <a:pt x="13" y="1821"/>
                </a:moveTo>
                <a:lnTo>
                  <a:pt x="13" y="1833"/>
                </a:lnTo>
                <a:lnTo>
                  <a:pt x="0" y="1833"/>
                </a:lnTo>
                <a:lnTo>
                  <a:pt x="0" y="1821"/>
                </a:lnTo>
                <a:lnTo>
                  <a:pt x="13" y="1821"/>
                </a:lnTo>
                <a:close/>
                <a:moveTo>
                  <a:pt x="13" y="1845"/>
                </a:moveTo>
                <a:lnTo>
                  <a:pt x="13" y="1857"/>
                </a:lnTo>
                <a:lnTo>
                  <a:pt x="0" y="1857"/>
                </a:lnTo>
                <a:lnTo>
                  <a:pt x="0" y="1845"/>
                </a:lnTo>
                <a:lnTo>
                  <a:pt x="13" y="1845"/>
                </a:lnTo>
                <a:close/>
                <a:moveTo>
                  <a:pt x="13" y="1869"/>
                </a:moveTo>
                <a:lnTo>
                  <a:pt x="13" y="1881"/>
                </a:lnTo>
                <a:lnTo>
                  <a:pt x="0" y="1881"/>
                </a:lnTo>
                <a:lnTo>
                  <a:pt x="0" y="1869"/>
                </a:lnTo>
                <a:lnTo>
                  <a:pt x="13" y="1869"/>
                </a:lnTo>
                <a:close/>
                <a:moveTo>
                  <a:pt x="13" y="1893"/>
                </a:moveTo>
                <a:lnTo>
                  <a:pt x="13" y="1905"/>
                </a:lnTo>
                <a:lnTo>
                  <a:pt x="0" y="1905"/>
                </a:lnTo>
                <a:lnTo>
                  <a:pt x="0" y="1893"/>
                </a:lnTo>
                <a:lnTo>
                  <a:pt x="13" y="1893"/>
                </a:lnTo>
                <a:close/>
                <a:moveTo>
                  <a:pt x="13" y="1917"/>
                </a:moveTo>
                <a:lnTo>
                  <a:pt x="13" y="1929"/>
                </a:lnTo>
                <a:lnTo>
                  <a:pt x="0" y="1929"/>
                </a:lnTo>
                <a:lnTo>
                  <a:pt x="0" y="1917"/>
                </a:lnTo>
                <a:lnTo>
                  <a:pt x="13" y="1917"/>
                </a:lnTo>
                <a:close/>
                <a:moveTo>
                  <a:pt x="13" y="1941"/>
                </a:moveTo>
                <a:lnTo>
                  <a:pt x="13" y="1953"/>
                </a:lnTo>
                <a:lnTo>
                  <a:pt x="0" y="1953"/>
                </a:lnTo>
                <a:lnTo>
                  <a:pt x="0" y="1941"/>
                </a:lnTo>
                <a:lnTo>
                  <a:pt x="13" y="1941"/>
                </a:lnTo>
                <a:close/>
                <a:moveTo>
                  <a:pt x="13" y="1965"/>
                </a:moveTo>
                <a:lnTo>
                  <a:pt x="13" y="1977"/>
                </a:lnTo>
                <a:lnTo>
                  <a:pt x="0" y="1977"/>
                </a:lnTo>
                <a:lnTo>
                  <a:pt x="0" y="1965"/>
                </a:lnTo>
                <a:lnTo>
                  <a:pt x="13" y="1965"/>
                </a:lnTo>
                <a:close/>
                <a:moveTo>
                  <a:pt x="13" y="1989"/>
                </a:moveTo>
                <a:lnTo>
                  <a:pt x="13" y="2001"/>
                </a:lnTo>
                <a:lnTo>
                  <a:pt x="0" y="2001"/>
                </a:lnTo>
                <a:lnTo>
                  <a:pt x="0" y="1989"/>
                </a:lnTo>
                <a:lnTo>
                  <a:pt x="13" y="1989"/>
                </a:lnTo>
                <a:close/>
                <a:moveTo>
                  <a:pt x="13" y="2013"/>
                </a:moveTo>
                <a:lnTo>
                  <a:pt x="13" y="2025"/>
                </a:lnTo>
                <a:lnTo>
                  <a:pt x="0" y="2025"/>
                </a:lnTo>
                <a:lnTo>
                  <a:pt x="0" y="2013"/>
                </a:lnTo>
                <a:lnTo>
                  <a:pt x="13" y="2013"/>
                </a:lnTo>
                <a:close/>
                <a:moveTo>
                  <a:pt x="13" y="2037"/>
                </a:moveTo>
                <a:lnTo>
                  <a:pt x="13" y="2048"/>
                </a:lnTo>
                <a:lnTo>
                  <a:pt x="0" y="2048"/>
                </a:lnTo>
                <a:lnTo>
                  <a:pt x="0" y="2037"/>
                </a:lnTo>
                <a:lnTo>
                  <a:pt x="13" y="2037"/>
                </a:lnTo>
                <a:close/>
                <a:moveTo>
                  <a:pt x="13" y="2061"/>
                </a:moveTo>
                <a:lnTo>
                  <a:pt x="13" y="2073"/>
                </a:lnTo>
                <a:lnTo>
                  <a:pt x="0" y="2073"/>
                </a:lnTo>
                <a:lnTo>
                  <a:pt x="0" y="2061"/>
                </a:lnTo>
                <a:lnTo>
                  <a:pt x="13" y="2061"/>
                </a:lnTo>
                <a:close/>
                <a:moveTo>
                  <a:pt x="13" y="2084"/>
                </a:moveTo>
                <a:lnTo>
                  <a:pt x="13" y="2096"/>
                </a:lnTo>
                <a:lnTo>
                  <a:pt x="0" y="2096"/>
                </a:lnTo>
                <a:lnTo>
                  <a:pt x="0" y="2084"/>
                </a:lnTo>
                <a:lnTo>
                  <a:pt x="13" y="2084"/>
                </a:lnTo>
                <a:close/>
                <a:moveTo>
                  <a:pt x="13" y="2109"/>
                </a:moveTo>
                <a:lnTo>
                  <a:pt x="13" y="2120"/>
                </a:lnTo>
                <a:lnTo>
                  <a:pt x="0" y="2120"/>
                </a:lnTo>
                <a:lnTo>
                  <a:pt x="0" y="2109"/>
                </a:lnTo>
                <a:lnTo>
                  <a:pt x="13" y="2109"/>
                </a:lnTo>
                <a:close/>
                <a:moveTo>
                  <a:pt x="13" y="2132"/>
                </a:moveTo>
                <a:lnTo>
                  <a:pt x="13" y="2144"/>
                </a:lnTo>
                <a:lnTo>
                  <a:pt x="0" y="2144"/>
                </a:lnTo>
                <a:lnTo>
                  <a:pt x="0" y="2132"/>
                </a:lnTo>
                <a:lnTo>
                  <a:pt x="13" y="2132"/>
                </a:lnTo>
                <a:close/>
                <a:moveTo>
                  <a:pt x="13" y="2156"/>
                </a:moveTo>
                <a:lnTo>
                  <a:pt x="13" y="2168"/>
                </a:lnTo>
                <a:lnTo>
                  <a:pt x="0" y="2168"/>
                </a:lnTo>
                <a:lnTo>
                  <a:pt x="0" y="2156"/>
                </a:lnTo>
                <a:lnTo>
                  <a:pt x="13" y="2156"/>
                </a:lnTo>
                <a:close/>
                <a:moveTo>
                  <a:pt x="13" y="2180"/>
                </a:moveTo>
                <a:lnTo>
                  <a:pt x="13" y="2192"/>
                </a:lnTo>
                <a:lnTo>
                  <a:pt x="0" y="2192"/>
                </a:lnTo>
                <a:lnTo>
                  <a:pt x="0" y="2180"/>
                </a:lnTo>
                <a:lnTo>
                  <a:pt x="13" y="2180"/>
                </a:lnTo>
                <a:close/>
                <a:moveTo>
                  <a:pt x="13" y="2204"/>
                </a:moveTo>
                <a:lnTo>
                  <a:pt x="13" y="2216"/>
                </a:lnTo>
                <a:lnTo>
                  <a:pt x="0" y="2216"/>
                </a:lnTo>
                <a:lnTo>
                  <a:pt x="0" y="2204"/>
                </a:lnTo>
                <a:lnTo>
                  <a:pt x="13" y="2204"/>
                </a:lnTo>
                <a:close/>
                <a:moveTo>
                  <a:pt x="13" y="2228"/>
                </a:moveTo>
                <a:lnTo>
                  <a:pt x="13" y="2240"/>
                </a:lnTo>
                <a:lnTo>
                  <a:pt x="0" y="2240"/>
                </a:lnTo>
                <a:lnTo>
                  <a:pt x="0" y="2228"/>
                </a:lnTo>
                <a:lnTo>
                  <a:pt x="13" y="2228"/>
                </a:lnTo>
                <a:close/>
                <a:moveTo>
                  <a:pt x="13" y="2252"/>
                </a:moveTo>
                <a:lnTo>
                  <a:pt x="13" y="2264"/>
                </a:lnTo>
                <a:lnTo>
                  <a:pt x="0" y="2264"/>
                </a:lnTo>
                <a:lnTo>
                  <a:pt x="0" y="2252"/>
                </a:lnTo>
                <a:lnTo>
                  <a:pt x="13" y="2252"/>
                </a:lnTo>
                <a:close/>
                <a:moveTo>
                  <a:pt x="13" y="2276"/>
                </a:moveTo>
                <a:lnTo>
                  <a:pt x="13" y="2288"/>
                </a:lnTo>
                <a:lnTo>
                  <a:pt x="0" y="2288"/>
                </a:lnTo>
                <a:lnTo>
                  <a:pt x="0" y="2276"/>
                </a:lnTo>
                <a:lnTo>
                  <a:pt x="13" y="2276"/>
                </a:lnTo>
                <a:close/>
                <a:moveTo>
                  <a:pt x="13" y="2300"/>
                </a:moveTo>
                <a:lnTo>
                  <a:pt x="13" y="2312"/>
                </a:lnTo>
                <a:lnTo>
                  <a:pt x="0" y="2312"/>
                </a:lnTo>
                <a:lnTo>
                  <a:pt x="0" y="2300"/>
                </a:lnTo>
                <a:lnTo>
                  <a:pt x="13" y="2300"/>
                </a:lnTo>
                <a:close/>
                <a:moveTo>
                  <a:pt x="13" y="2324"/>
                </a:moveTo>
                <a:lnTo>
                  <a:pt x="13" y="2336"/>
                </a:lnTo>
                <a:lnTo>
                  <a:pt x="0" y="2336"/>
                </a:lnTo>
                <a:lnTo>
                  <a:pt x="0" y="2324"/>
                </a:lnTo>
                <a:lnTo>
                  <a:pt x="13" y="2324"/>
                </a:lnTo>
                <a:close/>
                <a:moveTo>
                  <a:pt x="13" y="2348"/>
                </a:moveTo>
                <a:lnTo>
                  <a:pt x="13" y="2360"/>
                </a:lnTo>
                <a:lnTo>
                  <a:pt x="0" y="2360"/>
                </a:lnTo>
                <a:lnTo>
                  <a:pt x="0" y="2348"/>
                </a:lnTo>
                <a:lnTo>
                  <a:pt x="13" y="2348"/>
                </a:lnTo>
                <a:close/>
                <a:moveTo>
                  <a:pt x="13" y="2372"/>
                </a:moveTo>
                <a:lnTo>
                  <a:pt x="13" y="2384"/>
                </a:lnTo>
                <a:lnTo>
                  <a:pt x="0" y="2384"/>
                </a:lnTo>
                <a:lnTo>
                  <a:pt x="0" y="2372"/>
                </a:lnTo>
                <a:lnTo>
                  <a:pt x="13" y="2372"/>
                </a:lnTo>
                <a:close/>
                <a:moveTo>
                  <a:pt x="13" y="2396"/>
                </a:moveTo>
                <a:lnTo>
                  <a:pt x="13" y="2408"/>
                </a:lnTo>
                <a:lnTo>
                  <a:pt x="0" y="2408"/>
                </a:lnTo>
                <a:lnTo>
                  <a:pt x="0" y="2396"/>
                </a:lnTo>
                <a:lnTo>
                  <a:pt x="13" y="2396"/>
                </a:lnTo>
                <a:close/>
                <a:moveTo>
                  <a:pt x="13" y="2420"/>
                </a:moveTo>
                <a:lnTo>
                  <a:pt x="13" y="2432"/>
                </a:lnTo>
                <a:lnTo>
                  <a:pt x="0" y="2432"/>
                </a:lnTo>
                <a:lnTo>
                  <a:pt x="0" y="2420"/>
                </a:lnTo>
                <a:lnTo>
                  <a:pt x="13" y="2420"/>
                </a:lnTo>
                <a:close/>
                <a:moveTo>
                  <a:pt x="13" y="2444"/>
                </a:moveTo>
                <a:lnTo>
                  <a:pt x="13" y="2456"/>
                </a:lnTo>
                <a:lnTo>
                  <a:pt x="0" y="2456"/>
                </a:lnTo>
                <a:lnTo>
                  <a:pt x="0" y="2444"/>
                </a:lnTo>
                <a:lnTo>
                  <a:pt x="13" y="2444"/>
                </a:lnTo>
                <a:close/>
                <a:moveTo>
                  <a:pt x="13" y="2468"/>
                </a:moveTo>
                <a:lnTo>
                  <a:pt x="13" y="2480"/>
                </a:lnTo>
                <a:lnTo>
                  <a:pt x="0" y="2480"/>
                </a:lnTo>
                <a:lnTo>
                  <a:pt x="0" y="2468"/>
                </a:lnTo>
                <a:lnTo>
                  <a:pt x="13" y="2468"/>
                </a:lnTo>
                <a:close/>
                <a:moveTo>
                  <a:pt x="13" y="2492"/>
                </a:moveTo>
                <a:lnTo>
                  <a:pt x="13" y="2504"/>
                </a:lnTo>
                <a:lnTo>
                  <a:pt x="0" y="2504"/>
                </a:lnTo>
                <a:lnTo>
                  <a:pt x="0" y="2492"/>
                </a:lnTo>
                <a:lnTo>
                  <a:pt x="13" y="2492"/>
                </a:lnTo>
                <a:close/>
                <a:moveTo>
                  <a:pt x="13" y="2516"/>
                </a:moveTo>
                <a:lnTo>
                  <a:pt x="13" y="2528"/>
                </a:lnTo>
                <a:lnTo>
                  <a:pt x="0" y="2528"/>
                </a:lnTo>
                <a:lnTo>
                  <a:pt x="0" y="2516"/>
                </a:lnTo>
                <a:lnTo>
                  <a:pt x="13" y="2516"/>
                </a:lnTo>
                <a:close/>
                <a:moveTo>
                  <a:pt x="13" y="2540"/>
                </a:moveTo>
                <a:lnTo>
                  <a:pt x="13" y="2552"/>
                </a:lnTo>
                <a:lnTo>
                  <a:pt x="0" y="2552"/>
                </a:lnTo>
                <a:lnTo>
                  <a:pt x="0" y="2540"/>
                </a:lnTo>
                <a:lnTo>
                  <a:pt x="13" y="2540"/>
                </a:lnTo>
                <a:close/>
              </a:path>
            </a:pathLst>
          </a:custGeom>
          <a:solidFill>
            <a:srgbClr val="000000"/>
          </a:solidFill>
          <a:ln w="0" cap="flat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131" name="Freeform 127">
            <a:extLst>
              <a:ext uri="{FF2B5EF4-FFF2-40B4-BE49-F238E27FC236}">
                <a16:creationId xmlns:a16="http://schemas.microsoft.com/office/drawing/2014/main" id="{9CD1AA8F-6802-4B48-AAA5-FB2D6A519B2C}"/>
              </a:ext>
            </a:extLst>
          </p:cNvPr>
          <p:cNvSpPr>
            <a:spLocks noEditPoints="1"/>
          </p:cNvSpPr>
          <p:nvPr/>
        </p:nvSpPr>
        <p:spPr bwMode="auto">
          <a:xfrm>
            <a:off x="5196867" y="2351594"/>
            <a:ext cx="18000" cy="4032000"/>
          </a:xfrm>
          <a:custGeom>
            <a:avLst/>
            <a:gdLst>
              <a:gd name="T0" fmla="*/ 0 w 12"/>
              <a:gd name="T1" fmla="*/ 24 h 2552"/>
              <a:gd name="T2" fmla="*/ 0 w 12"/>
              <a:gd name="T3" fmla="*/ 84 h 2552"/>
              <a:gd name="T4" fmla="*/ 12 w 12"/>
              <a:gd name="T5" fmla="*/ 132 h 2552"/>
              <a:gd name="T6" fmla="*/ 12 w 12"/>
              <a:gd name="T7" fmla="*/ 168 h 2552"/>
              <a:gd name="T8" fmla="*/ 12 w 12"/>
              <a:gd name="T9" fmla="*/ 192 h 2552"/>
              <a:gd name="T10" fmla="*/ 0 w 12"/>
              <a:gd name="T11" fmla="*/ 240 h 2552"/>
              <a:gd name="T12" fmla="*/ 0 w 12"/>
              <a:gd name="T13" fmla="*/ 300 h 2552"/>
              <a:gd name="T14" fmla="*/ 12 w 12"/>
              <a:gd name="T15" fmla="*/ 348 h 2552"/>
              <a:gd name="T16" fmla="*/ 12 w 12"/>
              <a:gd name="T17" fmla="*/ 384 h 2552"/>
              <a:gd name="T18" fmla="*/ 12 w 12"/>
              <a:gd name="T19" fmla="*/ 408 h 2552"/>
              <a:gd name="T20" fmla="*/ 0 w 12"/>
              <a:gd name="T21" fmla="*/ 456 h 2552"/>
              <a:gd name="T22" fmla="*/ 0 w 12"/>
              <a:gd name="T23" fmla="*/ 515 h 2552"/>
              <a:gd name="T24" fmla="*/ 12 w 12"/>
              <a:gd name="T25" fmla="*/ 563 h 2552"/>
              <a:gd name="T26" fmla="*/ 12 w 12"/>
              <a:gd name="T27" fmla="*/ 599 h 2552"/>
              <a:gd name="T28" fmla="*/ 12 w 12"/>
              <a:gd name="T29" fmla="*/ 623 h 2552"/>
              <a:gd name="T30" fmla="*/ 0 w 12"/>
              <a:gd name="T31" fmla="*/ 671 h 2552"/>
              <a:gd name="T32" fmla="*/ 0 w 12"/>
              <a:gd name="T33" fmla="*/ 731 h 2552"/>
              <a:gd name="T34" fmla="*/ 12 w 12"/>
              <a:gd name="T35" fmla="*/ 779 h 2552"/>
              <a:gd name="T36" fmla="*/ 12 w 12"/>
              <a:gd name="T37" fmla="*/ 815 h 2552"/>
              <a:gd name="T38" fmla="*/ 12 w 12"/>
              <a:gd name="T39" fmla="*/ 839 h 2552"/>
              <a:gd name="T40" fmla="*/ 0 w 12"/>
              <a:gd name="T41" fmla="*/ 887 h 2552"/>
              <a:gd name="T42" fmla="*/ 0 w 12"/>
              <a:gd name="T43" fmla="*/ 947 h 2552"/>
              <a:gd name="T44" fmla="*/ 12 w 12"/>
              <a:gd name="T45" fmla="*/ 995 h 2552"/>
              <a:gd name="T46" fmla="*/ 12 w 12"/>
              <a:gd name="T47" fmla="*/ 1031 h 2552"/>
              <a:gd name="T48" fmla="*/ 12 w 12"/>
              <a:gd name="T49" fmla="*/ 1054 h 2552"/>
              <a:gd name="T50" fmla="*/ 0 w 12"/>
              <a:gd name="T51" fmla="*/ 1102 h 2552"/>
              <a:gd name="T52" fmla="*/ 0 w 12"/>
              <a:gd name="T53" fmla="*/ 1162 h 2552"/>
              <a:gd name="T54" fmla="*/ 12 w 12"/>
              <a:gd name="T55" fmla="*/ 1210 h 2552"/>
              <a:gd name="T56" fmla="*/ 12 w 12"/>
              <a:gd name="T57" fmla="*/ 1246 h 2552"/>
              <a:gd name="T58" fmla="*/ 12 w 12"/>
              <a:gd name="T59" fmla="*/ 1270 h 2552"/>
              <a:gd name="T60" fmla="*/ 0 w 12"/>
              <a:gd name="T61" fmla="*/ 1318 h 2552"/>
              <a:gd name="T62" fmla="*/ 0 w 12"/>
              <a:gd name="T63" fmla="*/ 1378 h 2552"/>
              <a:gd name="T64" fmla="*/ 12 w 12"/>
              <a:gd name="T65" fmla="*/ 1426 h 2552"/>
              <a:gd name="T66" fmla="*/ 12 w 12"/>
              <a:gd name="T67" fmla="*/ 1462 h 2552"/>
              <a:gd name="T68" fmla="*/ 12 w 12"/>
              <a:gd name="T69" fmla="*/ 1486 h 2552"/>
              <a:gd name="T70" fmla="*/ 0 w 12"/>
              <a:gd name="T71" fmla="*/ 1534 h 2552"/>
              <a:gd name="T72" fmla="*/ 0 w 12"/>
              <a:gd name="T73" fmla="*/ 1593 h 2552"/>
              <a:gd name="T74" fmla="*/ 12 w 12"/>
              <a:gd name="T75" fmla="*/ 1641 h 2552"/>
              <a:gd name="T76" fmla="*/ 12 w 12"/>
              <a:gd name="T77" fmla="*/ 1677 h 2552"/>
              <a:gd name="T78" fmla="*/ 12 w 12"/>
              <a:gd name="T79" fmla="*/ 1701 h 2552"/>
              <a:gd name="T80" fmla="*/ 0 w 12"/>
              <a:gd name="T81" fmla="*/ 1749 h 2552"/>
              <a:gd name="T82" fmla="*/ 0 w 12"/>
              <a:gd name="T83" fmla="*/ 1809 h 2552"/>
              <a:gd name="T84" fmla="*/ 12 w 12"/>
              <a:gd name="T85" fmla="*/ 1857 h 2552"/>
              <a:gd name="T86" fmla="*/ 12 w 12"/>
              <a:gd name="T87" fmla="*/ 1893 h 2552"/>
              <a:gd name="T88" fmla="*/ 12 w 12"/>
              <a:gd name="T89" fmla="*/ 1917 h 2552"/>
              <a:gd name="T90" fmla="*/ 0 w 12"/>
              <a:gd name="T91" fmla="*/ 1965 h 2552"/>
              <a:gd name="T92" fmla="*/ 0 w 12"/>
              <a:gd name="T93" fmla="*/ 2025 h 2552"/>
              <a:gd name="T94" fmla="*/ 12 w 12"/>
              <a:gd name="T95" fmla="*/ 2073 h 2552"/>
              <a:gd name="T96" fmla="*/ 12 w 12"/>
              <a:gd name="T97" fmla="*/ 2109 h 2552"/>
              <a:gd name="T98" fmla="*/ 12 w 12"/>
              <a:gd name="T99" fmla="*/ 2132 h 2552"/>
              <a:gd name="T100" fmla="*/ 0 w 12"/>
              <a:gd name="T101" fmla="*/ 2180 h 2552"/>
              <a:gd name="T102" fmla="*/ 0 w 12"/>
              <a:gd name="T103" fmla="*/ 2240 h 2552"/>
              <a:gd name="T104" fmla="*/ 12 w 12"/>
              <a:gd name="T105" fmla="*/ 2288 h 2552"/>
              <a:gd name="T106" fmla="*/ 12 w 12"/>
              <a:gd name="T107" fmla="*/ 2324 h 2552"/>
              <a:gd name="T108" fmla="*/ 12 w 12"/>
              <a:gd name="T109" fmla="*/ 2348 h 2552"/>
              <a:gd name="T110" fmla="*/ 0 w 12"/>
              <a:gd name="T111" fmla="*/ 2396 h 2552"/>
              <a:gd name="T112" fmla="*/ 0 w 12"/>
              <a:gd name="T113" fmla="*/ 2456 h 2552"/>
              <a:gd name="T114" fmla="*/ 12 w 12"/>
              <a:gd name="T115" fmla="*/ 2504 h 2552"/>
              <a:gd name="T116" fmla="*/ 12 w 12"/>
              <a:gd name="T117" fmla="*/ 2540 h 25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12" h="2552">
                <a:moveTo>
                  <a:pt x="12" y="0"/>
                </a:moveTo>
                <a:lnTo>
                  <a:pt x="12" y="12"/>
                </a:lnTo>
                <a:lnTo>
                  <a:pt x="0" y="12"/>
                </a:lnTo>
                <a:lnTo>
                  <a:pt x="0" y="0"/>
                </a:lnTo>
                <a:lnTo>
                  <a:pt x="12" y="0"/>
                </a:lnTo>
                <a:close/>
                <a:moveTo>
                  <a:pt x="12" y="24"/>
                </a:moveTo>
                <a:lnTo>
                  <a:pt x="12" y="36"/>
                </a:lnTo>
                <a:lnTo>
                  <a:pt x="0" y="36"/>
                </a:lnTo>
                <a:lnTo>
                  <a:pt x="0" y="24"/>
                </a:lnTo>
                <a:lnTo>
                  <a:pt x="12" y="24"/>
                </a:lnTo>
                <a:close/>
                <a:moveTo>
                  <a:pt x="12" y="48"/>
                </a:moveTo>
                <a:lnTo>
                  <a:pt x="12" y="60"/>
                </a:lnTo>
                <a:lnTo>
                  <a:pt x="0" y="60"/>
                </a:lnTo>
                <a:lnTo>
                  <a:pt x="0" y="48"/>
                </a:lnTo>
                <a:lnTo>
                  <a:pt x="12" y="48"/>
                </a:lnTo>
                <a:close/>
                <a:moveTo>
                  <a:pt x="12" y="72"/>
                </a:moveTo>
                <a:lnTo>
                  <a:pt x="12" y="84"/>
                </a:lnTo>
                <a:lnTo>
                  <a:pt x="0" y="84"/>
                </a:lnTo>
                <a:lnTo>
                  <a:pt x="0" y="72"/>
                </a:lnTo>
                <a:lnTo>
                  <a:pt x="12" y="72"/>
                </a:lnTo>
                <a:close/>
                <a:moveTo>
                  <a:pt x="12" y="96"/>
                </a:moveTo>
                <a:lnTo>
                  <a:pt x="12" y="108"/>
                </a:lnTo>
                <a:lnTo>
                  <a:pt x="0" y="108"/>
                </a:lnTo>
                <a:lnTo>
                  <a:pt x="0" y="96"/>
                </a:lnTo>
                <a:lnTo>
                  <a:pt x="12" y="96"/>
                </a:lnTo>
                <a:close/>
                <a:moveTo>
                  <a:pt x="12" y="120"/>
                </a:moveTo>
                <a:lnTo>
                  <a:pt x="12" y="132"/>
                </a:lnTo>
                <a:lnTo>
                  <a:pt x="0" y="132"/>
                </a:lnTo>
                <a:lnTo>
                  <a:pt x="0" y="120"/>
                </a:lnTo>
                <a:lnTo>
                  <a:pt x="12" y="120"/>
                </a:lnTo>
                <a:close/>
                <a:moveTo>
                  <a:pt x="12" y="144"/>
                </a:moveTo>
                <a:lnTo>
                  <a:pt x="12" y="156"/>
                </a:lnTo>
                <a:lnTo>
                  <a:pt x="0" y="156"/>
                </a:lnTo>
                <a:lnTo>
                  <a:pt x="0" y="144"/>
                </a:lnTo>
                <a:lnTo>
                  <a:pt x="12" y="144"/>
                </a:lnTo>
                <a:close/>
                <a:moveTo>
                  <a:pt x="12" y="168"/>
                </a:moveTo>
                <a:lnTo>
                  <a:pt x="12" y="180"/>
                </a:lnTo>
                <a:lnTo>
                  <a:pt x="0" y="180"/>
                </a:lnTo>
                <a:lnTo>
                  <a:pt x="0" y="168"/>
                </a:lnTo>
                <a:lnTo>
                  <a:pt x="12" y="168"/>
                </a:lnTo>
                <a:close/>
                <a:moveTo>
                  <a:pt x="12" y="192"/>
                </a:moveTo>
                <a:lnTo>
                  <a:pt x="12" y="204"/>
                </a:lnTo>
                <a:lnTo>
                  <a:pt x="0" y="204"/>
                </a:lnTo>
                <a:lnTo>
                  <a:pt x="0" y="192"/>
                </a:lnTo>
                <a:lnTo>
                  <a:pt x="12" y="192"/>
                </a:lnTo>
                <a:close/>
                <a:moveTo>
                  <a:pt x="12" y="216"/>
                </a:moveTo>
                <a:lnTo>
                  <a:pt x="12" y="228"/>
                </a:lnTo>
                <a:lnTo>
                  <a:pt x="0" y="228"/>
                </a:lnTo>
                <a:lnTo>
                  <a:pt x="0" y="216"/>
                </a:lnTo>
                <a:lnTo>
                  <a:pt x="12" y="216"/>
                </a:lnTo>
                <a:close/>
                <a:moveTo>
                  <a:pt x="12" y="240"/>
                </a:moveTo>
                <a:lnTo>
                  <a:pt x="12" y="252"/>
                </a:lnTo>
                <a:lnTo>
                  <a:pt x="0" y="252"/>
                </a:lnTo>
                <a:lnTo>
                  <a:pt x="0" y="240"/>
                </a:lnTo>
                <a:lnTo>
                  <a:pt x="12" y="240"/>
                </a:lnTo>
                <a:close/>
                <a:moveTo>
                  <a:pt x="12" y="264"/>
                </a:moveTo>
                <a:lnTo>
                  <a:pt x="12" y="276"/>
                </a:lnTo>
                <a:lnTo>
                  <a:pt x="0" y="276"/>
                </a:lnTo>
                <a:lnTo>
                  <a:pt x="0" y="264"/>
                </a:lnTo>
                <a:lnTo>
                  <a:pt x="12" y="264"/>
                </a:lnTo>
                <a:close/>
                <a:moveTo>
                  <a:pt x="12" y="288"/>
                </a:moveTo>
                <a:lnTo>
                  <a:pt x="12" y="300"/>
                </a:lnTo>
                <a:lnTo>
                  <a:pt x="0" y="300"/>
                </a:lnTo>
                <a:lnTo>
                  <a:pt x="0" y="288"/>
                </a:lnTo>
                <a:lnTo>
                  <a:pt x="12" y="288"/>
                </a:lnTo>
                <a:close/>
                <a:moveTo>
                  <a:pt x="12" y="312"/>
                </a:moveTo>
                <a:lnTo>
                  <a:pt x="12" y="324"/>
                </a:lnTo>
                <a:lnTo>
                  <a:pt x="0" y="324"/>
                </a:lnTo>
                <a:lnTo>
                  <a:pt x="0" y="312"/>
                </a:lnTo>
                <a:lnTo>
                  <a:pt x="12" y="312"/>
                </a:lnTo>
                <a:close/>
                <a:moveTo>
                  <a:pt x="12" y="336"/>
                </a:moveTo>
                <a:lnTo>
                  <a:pt x="12" y="348"/>
                </a:lnTo>
                <a:lnTo>
                  <a:pt x="0" y="348"/>
                </a:lnTo>
                <a:lnTo>
                  <a:pt x="0" y="336"/>
                </a:lnTo>
                <a:lnTo>
                  <a:pt x="12" y="336"/>
                </a:lnTo>
                <a:close/>
                <a:moveTo>
                  <a:pt x="12" y="360"/>
                </a:moveTo>
                <a:lnTo>
                  <a:pt x="12" y="372"/>
                </a:lnTo>
                <a:lnTo>
                  <a:pt x="0" y="372"/>
                </a:lnTo>
                <a:lnTo>
                  <a:pt x="0" y="360"/>
                </a:lnTo>
                <a:lnTo>
                  <a:pt x="12" y="360"/>
                </a:lnTo>
                <a:close/>
                <a:moveTo>
                  <a:pt x="12" y="384"/>
                </a:moveTo>
                <a:lnTo>
                  <a:pt x="12" y="396"/>
                </a:lnTo>
                <a:lnTo>
                  <a:pt x="0" y="396"/>
                </a:lnTo>
                <a:lnTo>
                  <a:pt x="0" y="384"/>
                </a:lnTo>
                <a:lnTo>
                  <a:pt x="12" y="384"/>
                </a:lnTo>
                <a:close/>
                <a:moveTo>
                  <a:pt x="12" y="408"/>
                </a:moveTo>
                <a:lnTo>
                  <a:pt x="12" y="420"/>
                </a:lnTo>
                <a:lnTo>
                  <a:pt x="0" y="420"/>
                </a:lnTo>
                <a:lnTo>
                  <a:pt x="0" y="408"/>
                </a:lnTo>
                <a:lnTo>
                  <a:pt x="12" y="408"/>
                </a:lnTo>
                <a:close/>
                <a:moveTo>
                  <a:pt x="12" y="432"/>
                </a:moveTo>
                <a:lnTo>
                  <a:pt x="12" y="444"/>
                </a:lnTo>
                <a:lnTo>
                  <a:pt x="0" y="444"/>
                </a:lnTo>
                <a:lnTo>
                  <a:pt x="0" y="432"/>
                </a:lnTo>
                <a:lnTo>
                  <a:pt x="12" y="432"/>
                </a:lnTo>
                <a:close/>
                <a:moveTo>
                  <a:pt x="12" y="456"/>
                </a:moveTo>
                <a:lnTo>
                  <a:pt x="12" y="467"/>
                </a:lnTo>
                <a:lnTo>
                  <a:pt x="0" y="467"/>
                </a:lnTo>
                <a:lnTo>
                  <a:pt x="0" y="456"/>
                </a:lnTo>
                <a:lnTo>
                  <a:pt x="12" y="456"/>
                </a:lnTo>
                <a:close/>
                <a:moveTo>
                  <a:pt x="12" y="480"/>
                </a:moveTo>
                <a:lnTo>
                  <a:pt x="12" y="492"/>
                </a:lnTo>
                <a:lnTo>
                  <a:pt x="0" y="492"/>
                </a:lnTo>
                <a:lnTo>
                  <a:pt x="0" y="480"/>
                </a:lnTo>
                <a:lnTo>
                  <a:pt x="12" y="480"/>
                </a:lnTo>
                <a:close/>
                <a:moveTo>
                  <a:pt x="12" y="503"/>
                </a:moveTo>
                <a:lnTo>
                  <a:pt x="12" y="515"/>
                </a:lnTo>
                <a:lnTo>
                  <a:pt x="0" y="515"/>
                </a:lnTo>
                <a:lnTo>
                  <a:pt x="0" y="503"/>
                </a:lnTo>
                <a:lnTo>
                  <a:pt x="12" y="503"/>
                </a:lnTo>
                <a:close/>
                <a:moveTo>
                  <a:pt x="12" y="528"/>
                </a:moveTo>
                <a:lnTo>
                  <a:pt x="12" y="539"/>
                </a:lnTo>
                <a:lnTo>
                  <a:pt x="0" y="539"/>
                </a:lnTo>
                <a:lnTo>
                  <a:pt x="0" y="528"/>
                </a:lnTo>
                <a:lnTo>
                  <a:pt x="12" y="528"/>
                </a:lnTo>
                <a:close/>
                <a:moveTo>
                  <a:pt x="12" y="551"/>
                </a:moveTo>
                <a:lnTo>
                  <a:pt x="12" y="563"/>
                </a:lnTo>
                <a:lnTo>
                  <a:pt x="0" y="563"/>
                </a:lnTo>
                <a:lnTo>
                  <a:pt x="0" y="551"/>
                </a:lnTo>
                <a:lnTo>
                  <a:pt x="12" y="551"/>
                </a:lnTo>
                <a:close/>
                <a:moveTo>
                  <a:pt x="12" y="575"/>
                </a:moveTo>
                <a:lnTo>
                  <a:pt x="12" y="587"/>
                </a:lnTo>
                <a:lnTo>
                  <a:pt x="0" y="587"/>
                </a:lnTo>
                <a:lnTo>
                  <a:pt x="0" y="575"/>
                </a:lnTo>
                <a:lnTo>
                  <a:pt x="12" y="575"/>
                </a:lnTo>
                <a:close/>
                <a:moveTo>
                  <a:pt x="12" y="599"/>
                </a:moveTo>
                <a:lnTo>
                  <a:pt x="12" y="611"/>
                </a:lnTo>
                <a:lnTo>
                  <a:pt x="0" y="611"/>
                </a:lnTo>
                <a:lnTo>
                  <a:pt x="0" y="599"/>
                </a:lnTo>
                <a:lnTo>
                  <a:pt x="12" y="599"/>
                </a:lnTo>
                <a:close/>
                <a:moveTo>
                  <a:pt x="12" y="623"/>
                </a:moveTo>
                <a:lnTo>
                  <a:pt x="12" y="635"/>
                </a:lnTo>
                <a:lnTo>
                  <a:pt x="0" y="635"/>
                </a:lnTo>
                <a:lnTo>
                  <a:pt x="0" y="623"/>
                </a:lnTo>
                <a:lnTo>
                  <a:pt x="12" y="623"/>
                </a:lnTo>
                <a:close/>
                <a:moveTo>
                  <a:pt x="12" y="647"/>
                </a:moveTo>
                <a:lnTo>
                  <a:pt x="12" y="659"/>
                </a:lnTo>
                <a:lnTo>
                  <a:pt x="0" y="659"/>
                </a:lnTo>
                <a:lnTo>
                  <a:pt x="0" y="647"/>
                </a:lnTo>
                <a:lnTo>
                  <a:pt x="12" y="647"/>
                </a:lnTo>
                <a:close/>
                <a:moveTo>
                  <a:pt x="12" y="671"/>
                </a:moveTo>
                <a:lnTo>
                  <a:pt x="12" y="683"/>
                </a:lnTo>
                <a:lnTo>
                  <a:pt x="0" y="683"/>
                </a:lnTo>
                <a:lnTo>
                  <a:pt x="0" y="671"/>
                </a:lnTo>
                <a:lnTo>
                  <a:pt x="12" y="671"/>
                </a:lnTo>
                <a:close/>
                <a:moveTo>
                  <a:pt x="12" y="695"/>
                </a:moveTo>
                <a:lnTo>
                  <a:pt x="12" y="707"/>
                </a:lnTo>
                <a:lnTo>
                  <a:pt x="0" y="707"/>
                </a:lnTo>
                <a:lnTo>
                  <a:pt x="0" y="695"/>
                </a:lnTo>
                <a:lnTo>
                  <a:pt x="12" y="695"/>
                </a:lnTo>
                <a:close/>
                <a:moveTo>
                  <a:pt x="12" y="719"/>
                </a:moveTo>
                <a:lnTo>
                  <a:pt x="12" y="731"/>
                </a:lnTo>
                <a:lnTo>
                  <a:pt x="0" y="731"/>
                </a:lnTo>
                <a:lnTo>
                  <a:pt x="0" y="719"/>
                </a:lnTo>
                <a:lnTo>
                  <a:pt x="12" y="719"/>
                </a:lnTo>
                <a:close/>
                <a:moveTo>
                  <a:pt x="12" y="743"/>
                </a:moveTo>
                <a:lnTo>
                  <a:pt x="12" y="755"/>
                </a:lnTo>
                <a:lnTo>
                  <a:pt x="0" y="755"/>
                </a:lnTo>
                <a:lnTo>
                  <a:pt x="0" y="743"/>
                </a:lnTo>
                <a:lnTo>
                  <a:pt x="12" y="743"/>
                </a:lnTo>
                <a:close/>
                <a:moveTo>
                  <a:pt x="12" y="767"/>
                </a:moveTo>
                <a:lnTo>
                  <a:pt x="12" y="779"/>
                </a:lnTo>
                <a:lnTo>
                  <a:pt x="0" y="779"/>
                </a:lnTo>
                <a:lnTo>
                  <a:pt x="0" y="767"/>
                </a:lnTo>
                <a:lnTo>
                  <a:pt x="12" y="767"/>
                </a:lnTo>
                <a:close/>
                <a:moveTo>
                  <a:pt x="12" y="791"/>
                </a:moveTo>
                <a:lnTo>
                  <a:pt x="12" y="803"/>
                </a:lnTo>
                <a:lnTo>
                  <a:pt x="0" y="803"/>
                </a:lnTo>
                <a:lnTo>
                  <a:pt x="0" y="791"/>
                </a:lnTo>
                <a:lnTo>
                  <a:pt x="12" y="791"/>
                </a:lnTo>
                <a:close/>
                <a:moveTo>
                  <a:pt x="12" y="815"/>
                </a:moveTo>
                <a:lnTo>
                  <a:pt x="12" y="827"/>
                </a:lnTo>
                <a:lnTo>
                  <a:pt x="0" y="827"/>
                </a:lnTo>
                <a:lnTo>
                  <a:pt x="0" y="815"/>
                </a:lnTo>
                <a:lnTo>
                  <a:pt x="12" y="815"/>
                </a:lnTo>
                <a:close/>
                <a:moveTo>
                  <a:pt x="12" y="839"/>
                </a:moveTo>
                <a:lnTo>
                  <a:pt x="12" y="851"/>
                </a:lnTo>
                <a:lnTo>
                  <a:pt x="0" y="851"/>
                </a:lnTo>
                <a:lnTo>
                  <a:pt x="0" y="839"/>
                </a:lnTo>
                <a:lnTo>
                  <a:pt x="12" y="839"/>
                </a:lnTo>
                <a:close/>
                <a:moveTo>
                  <a:pt x="12" y="863"/>
                </a:moveTo>
                <a:lnTo>
                  <a:pt x="12" y="875"/>
                </a:lnTo>
                <a:lnTo>
                  <a:pt x="0" y="875"/>
                </a:lnTo>
                <a:lnTo>
                  <a:pt x="0" y="863"/>
                </a:lnTo>
                <a:lnTo>
                  <a:pt x="12" y="863"/>
                </a:lnTo>
                <a:close/>
                <a:moveTo>
                  <a:pt x="12" y="887"/>
                </a:moveTo>
                <a:lnTo>
                  <a:pt x="12" y="899"/>
                </a:lnTo>
                <a:lnTo>
                  <a:pt x="0" y="899"/>
                </a:lnTo>
                <a:lnTo>
                  <a:pt x="0" y="887"/>
                </a:lnTo>
                <a:lnTo>
                  <a:pt x="12" y="887"/>
                </a:lnTo>
                <a:close/>
                <a:moveTo>
                  <a:pt x="12" y="911"/>
                </a:moveTo>
                <a:lnTo>
                  <a:pt x="12" y="923"/>
                </a:lnTo>
                <a:lnTo>
                  <a:pt x="0" y="923"/>
                </a:lnTo>
                <a:lnTo>
                  <a:pt x="0" y="911"/>
                </a:lnTo>
                <a:lnTo>
                  <a:pt x="12" y="911"/>
                </a:lnTo>
                <a:close/>
                <a:moveTo>
                  <a:pt x="12" y="935"/>
                </a:moveTo>
                <a:lnTo>
                  <a:pt x="12" y="947"/>
                </a:lnTo>
                <a:lnTo>
                  <a:pt x="0" y="947"/>
                </a:lnTo>
                <a:lnTo>
                  <a:pt x="0" y="935"/>
                </a:lnTo>
                <a:lnTo>
                  <a:pt x="12" y="935"/>
                </a:lnTo>
                <a:close/>
                <a:moveTo>
                  <a:pt x="12" y="959"/>
                </a:moveTo>
                <a:lnTo>
                  <a:pt x="12" y="971"/>
                </a:lnTo>
                <a:lnTo>
                  <a:pt x="0" y="971"/>
                </a:lnTo>
                <a:lnTo>
                  <a:pt x="0" y="959"/>
                </a:lnTo>
                <a:lnTo>
                  <a:pt x="12" y="959"/>
                </a:lnTo>
                <a:close/>
                <a:moveTo>
                  <a:pt x="12" y="983"/>
                </a:moveTo>
                <a:lnTo>
                  <a:pt x="12" y="995"/>
                </a:lnTo>
                <a:lnTo>
                  <a:pt x="0" y="995"/>
                </a:lnTo>
                <a:lnTo>
                  <a:pt x="0" y="983"/>
                </a:lnTo>
                <a:lnTo>
                  <a:pt x="12" y="983"/>
                </a:lnTo>
                <a:close/>
                <a:moveTo>
                  <a:pt x="12" y="1006"/>
                </a:moveTo>
                <a:lnTo>
                  <a:pt x="12" y="1019"/>
                </a:lnTo>
                <a:lnTo>
                  <a:pt x="0" y="1019"/>
                </a:lnTo>
                <a:lnTo>
                  <a:pt x="0" y="1006"/>
                </a:lnTo>
                <a:lnTo>
                  <a:pt x="12" y="1006"/>
                </a:lnTo>
                <a:close/>
                <a:moveTo>
                  <a:pt x="12" y="1031"/>
                </a:moveTo>
                <a:lnTo>
                  <a:pt x="12" y="1042"/>
                </a:lnTo>
                <a:lnTo>
                  <a:pt x="0" y="1042"/>
                </a:lnTo>
                <a:lnTo>
                  <a:pt x="0" y="1031"/>
                </a:lnTo>
                <a:lnTo>
                  <a:pt x="12" y="1031"/>
                </a:lnTo>
                <a:close/>
                <a:moveTo>
                  <a:pt x="12" y="1054"/>
                </a:moveTo>
                <a:lnTo>
                  <a:pt x="12" y="1067"/>
                </a:lnTo>
                <a:lnTo>
                  <a:pt x="0" y="1067"/>
                </a:lnTo>
                <a:lnTo>
                  <a:pt x="0" y="1054"/>
                </a:lnTo>
                <a:lnTo>
                  <a:pt x="12" y="1054"/>
                </a:lnTo>
                <a:close/>
                <a:moveTo>
                  <a:pt x="12" y="1078"/>
                </a:moveTo>
                <a:lnTo>
                  <a:pt x="12" y="1090"/>
                </a:lnTo>
                <a:lnTo>
                  <a:pt x="0" y="1090"/>
                </a:lnTo>
                <a:lnTo>
                  <a:pt x="0" y="1078"/>
                </a:lnTo>
                <a:lnTo>
                  <a:pt x="12" y="1078"/>
                </a:lnTo>
                <a:close/>
                <a:moveTo>
                  <a:pt x="12" y="1102"/>
                </a:moveTo>
                <a:lnTo>
                  <a:pt x="12" y="1114"/>
                </a:lnTo>
                <a:lnTo>
                  <a:pt x="0" y="1114"/>
                </a:lnTo>
                <a:lnTo>
                  <a:pt x="0" y="1102"/>
                </a:lnTo>
                <a:lnTo>
                  <a:pt x="12" y="1102"/>
                </a:lnTo>
                <a:close/>
                <a:moveTo>
                  <a:pt x="12" y="1126"/>
                </a:moveTo>
                <a:lnTo>
                  <a:pt x="12" y="1138"/>
                </a:lnTo>
                <a:lnTo>
                  <a:pt x="0" y="1138"/>
                </a:lnTo>
                <a:lnTo>
                  <a:pt x="0" y="1126"/>
                </a:lnTo>
                <a:lnTo>
                  <a:pt x="12" y="1126"/>
                </a:lnTo>
                <a:close/>
                <a:moveTo>
                  <a:pt x="12" y="1150"/>
                </a:moveTo>
                <a:lnTo>
                  <a:pt x="12" y="1162"/>
                </a:lnTo>
                <a:lnTo>
                  <a:pt x="0" y="1162"/>
                </a:lnTo>
                <a:lnTo>
                  <a:pt x="0" y="1150"/>
                </a:lnTo>
                <a:lnTo>
                  <a:pt x="12" y="1150"/>
                </a:lnTo>
                <a:close/>
                <a:moveTo>
                  <a:pt x="12" y="1174"/>
                </a:moveTo>
                <a:lnTo>
                  <a:pt x="12" y="1186"/>
                </a:lnTo>
                <a:lnTo>
                  <a:pt x="0" y="1186"/>
                </a:lnTo>
                <a:lnTo>
                  <a:pt x="0" y="1174"/>
                </a:lnTo>
                <a:lnTo>
                  <a:pt x="12" y="1174"/>
                </a:lnTo>
                <a:close/>
                <a:moveTo>
                  <a:pt x="12" y="1198"/>
                </a:moveTo>
                <a:lnTo>
                  <a:pt x="12" y="1210"/>
                </a:lnTo>
                <a:lnTo>
                  <a:pt x="0" y="1210"/>
                </a:lnTo>
                <a:lnTo>
                  <a:pt x="0" y="1198"/>
                </a:lnTo>
                <a:lnTo>
                  <a:pt x="12" y="1198"/>
                </a:lnTo>
                <a:close/>
                <a:moveTo>
                  <a:pt x="12" y="1222"/>
                </a:moveTo>
                <a:lnTo>
                  <a:pt x="12" y="1234"/>
                </a:lnTo>
                <a:lnTo>
                  <a:pt x="0" y="1234"/>
                </a:lnTo>
                <a:lnTo>
                  <a:pt x="0" y="1222"/>
                </a:lnTo>
                <a:lnTo>
                  <a:pt x="12" y="1222"/>
                </a:lnTo>
                <a:close/>
                <a:moveTo>
                  <a:pt x="12" y="1246"/>
                </a:moveTo>
                <a:lnTo>
                  <a:pt x="12" y="1258"/>
                </a:lnTo>
                <a:lnTo>
                  <a:pt x="0" y="1258"/>
                </a:lnTo>
                <a:lnTo>
                  <a:pt x="0" y="1246"/>
                </a:lnTo>
                <a:lnTo>
                  <a:pt x="12" y="1246"/>
                </a:lnTo>
                <a:close/>
                <a:moveTo>
                  <a:pt x="12" y="1270"/>
                </a:moveTo>
                <a:lnTo>
                  <a:pt x="12" y="1282"/>
                </a:lnTo>
                <a:lnTo>
                  <a:pt x="0" y="1282"/>
                </a:lnTo>
                <a:lnTo>
                  <a:pt x="0" y="1270"/>
                </a:lnTo>
                <a:lnTo>
                  <a:pt x="12" y="1270"/>
                </a:lnTo>
                <a:close/>
                <a:moveTo>
                  <a:pt x="12" y="1294"/>
                </a:moveTo>
                <a:lnTo>
                  <a:pt x="12" y="1306"/>
                </a:lnTo>
                <a:lnTo>
                  <a:pt x="0" y="1306"/>
                </a:lnTo>
                <a:lnTo>
                  <a:pt x="0" y="1294"/>
                </a:lnTo>
                <a:lnTo>
                  <a:pt x="12" y="1294"/>
                </a:lnTo>
                <a:close/>
                <a:moveTo>
                  <a:pt x="12" y="1318"/>
                </a:moveTo>
                <a:lnTo>
                  <a:pt x="12" y="1330"/>
                </a:lnTo>
                <a:lnTo>
                  <a:pt x="0" y="1330"/>
                </a:lnTo>
                <a:lnTo>
                  <a:pt x="0" y="1318"/>
                </a:lnTo>
                <a:lnTo>
                  <a:pt x="12" y="1318"/>
                </a:lnTo>
                <a:close/>
                <a:moveTo>
                  <a:pt x="12" y="1342"/>
                </a:moveTo>
                <a:lnTo>
                  <a:pt x="12" y="1354"/>
                </a:lnTo>
                <a:lnTo>
                  <a:pt x="0" y="1354"/>
                </a:lnTo>
                <a:lnTo>
                  <a:pt x="0" y="1342"/>
                </a:lnTo>
                <a:lnTo>
                  <a:pt x="12" y="1342"/>
                </a:lnTo>
                <a:close/>
                <a:moveTo>
                  <a:pt x="12" y="1366"/>
                </a:moveTo>
                <a:lnTo>
                  <a:pt x="12" y="1378"/>
                </a:lnTo>
                <a:lnTo>
                  <a:pt x="0" y="1378"/>
                </a:lnTo>
                <a:lnTo>
                  <a:pt x="0" y="1366"/>
                </a:lnTo>
                <a:lnTo>
                  <a:pt x="12" y="1366"/>
                </a:lnTo>
                <a:close/>
                <a:moveTo>
                  <a:pt x="12" y="1390"/>
                </a:moveTo>
                <a:lnTo>
                  <a:pt x="12" y="1402"/>
                </a:lnTo>
                <a:lnTo>
                  <a:pt x="0" y="1402"/>
                </a:lnTo>
                <a:lnTo>
                  <a:pt x="0" y="1390"/>
                </a:lnTo>
                <a:lnTo>
                  <a:pt x="12" y="1390"/>
                </a:lnTo>
                <a:close/>
                <a:moveTo>
                  <a:pt x="12" y="1414"/>
                </a:moveTo>
                <a:lnTo>
                  <a:pt x="12" y="1426"/>
                </a:lnTo>
                <a:lnTo>
                  <a:pt x="0" y="1426"/>
                </a:lnTo>
                <a:lnTo>
                  <a:pt x="0" y="1414"/>
                </a:lnTo>
                <a:lnTo>
                  <a:pt x="12" y="1414"/>
                </a:lnTo>
                <a:close/>
                <a:moveTo>
                  <a:pt x="12" y="1438"/>
                </a:moveTo>
                <a:lnTo>
                  <a:pt x="12" y="1450"/>
                </a:lnTo>
                <a:lnTo>
                  <a:pt x="0" y="1450"/>
                </a:lnTo>
                <a:lnTo>
                  <a:pt x="0" y="1438"/>
                </a:lnTo>
                <a:lnTo>
                  <a:pt x="12" y="1438"/>
                </a:lnTo>
                <a:close/>
                <a:moveTo>
                  <a:pt x="12" y="1462"/>
                </a:moveTo>
                <a:lnTo>
                  <a:pt x="12" y="1474"/>
                </a:lnTo>
                <a:lnTo>
                  <a:pt x="0" y="1474"/>
                </a:lnTo>
                <a:lnTo>
                  <a:pt x="0" y="1462"/>
                </a:lnTo>
                <a:lnTo>
                  <a:pt x="12" y="1462"/>
                </a:lnTo>
                <a:close/>
                <a:moveTo>
                  <a:pt x="12" y="1486"/>
                </a:moveTo>
                <a:lnTo>
                  <a:pt x="12" y="1498"/>
                </a:lnTo>
                <a:lnTo>
                  <a:pt x="0" y="1498"/>
                </a:lnTo>
                <a:lnTo>
                  <a:pt x="0" y="1486"/>
                </a:lnTo>
                <a:lnTo>
                  <a:pt x="12" y="1486"/>
                </a:lnTo>
                <a:close/>
                <a:moveTo>
                  <a:pt x="12" y="1510"/>
                </a:moveTo>
                <a:lnTo>
                  <a:pt x="12" y="1522"/>
                </a:lnTo>
                <a:lnTo>
                  <a:pt x="0" y="1522"/>
                </a:lnTo>
                <a:lnTo>
                  <a:pt x="0" y="1510"/>
                </a:lnTo>
                <a:lnTo>
                  <a:pt x="12" y="1510"/>
                </a:lnTo>
                <a:close/>
                <a:moveTo>
                  <a:pt x="12" y="1534"/>
                </a:moveTo>
                <a:lnTo>
                  <a:pt x="12" y="1545"/>
                </a:lnTo>
                <a:lnTo>
                  <a:pt x="0" y="1545"/>
                </a:lnTo>
                <a:lnTo>
                  <a:pt x="0" y="1534"/>
                </a:lnTo>
                <a:lnTo>
                  <a:pt x="12" y="1534"/>
                </a:lnTo>
                <a:close/>
                <a:moveTo>
                  <a:pt x="12" y="1558"/>
                </a:moveTo>
                <a:lnTo>
                  <a:pt x="12" y="1570"/>
                </a:lnTo>
                <a:lnTo>
                  <a:pt x="0" y="1570"/>
                </a:lnTo>
                <a:lnTo>
                  <a:pt x="0" y="1558"/>
                </a:lnTo>
                <a:lnTo>
                  <a:pt x="12" y="1558"/>
                </a:lnTo>
                <a:close/>
                <a:moveTo>
                  <a:pt x="12" y="1581"/>
                </a:moveTo>
                <a:lnTo>
                  <a:pt x="12" y="1593"/>
                </a:lnTo>
                <a:lnTo>
                  <a:pt x="0" y="1593"/>
                </a:lnTo>
                <a:lnTo>
                  <a:pt x="0" y="1581"/>
                </a:lnTo>
                <a:lnTo>
                  <a:pt x="12" y="1581"/>
                </a:lnTo>
                <a:close/>
                <a:moveTo>
                  <a:pt x="12" y="1606"/>
                </a:moveTo>
                <a:lnTo>
                  <a:pt x="12" y="1617"/>
                </a:lnTo>
                <a:lnTo>
                  <a:pt x="0" y="1617"/>
                </a:lnTo>
                <a:lnTo>
                  <a:pt x="0" y="1606"/>
                </a:lnTo>
                <a:lnTo>
                  <a:pt x="12" y="1606"/>
                </a:lnTo>
                <a:close/>
                <a:moveTo>
                  <a:pt x="12" y="1629"/>
                </a:moveTo>
                <a:lnTo>
                  <a:pt x="12" y="1641"/>
                </a:lnTo>
                <a:lnTo>
                  <a:pt x="0" y="1641"/>
                </a:lnTo>
                <a:lnTo>
                  <a:pt x="0" y="1629"/>
                </a:lnTo>
                <a:lnTo>
                  <a:pt x="12" y="1629"/>
                </a:lnTo>
                <a:close/>
                <a:moveTo>
                  <a:pt x="12" y="1653"/>
                </a:moveTo>
                <a:lnTo>
                  <a:pt x="12" y="1665"/>
                </a:lnTo>
                <a:lnTo>
                  <a:pt x="0" y="1665"/>
                </a:lnTo>
                <a:lnTo>
                  <a:pt x="0" y="1653"/>
                </a:lnTo>
                <a:lnTo>
                  <a:pt x="12" y="1653"/>
                </a:lnTo>
                <a:close/>
                <a:moveTo>
                  <a:pt x="12" y="1677"/>
                </a:moveTo>
                <a:lnTo>
                  <a:pt x="12" y="1689"/>
                </a:lnTo>
                <a:lnTo>
                  <a:pt x="0" y="1689"/>
                </a:lnTo>
                <a:lnTo>
                  <a:pt x="0" y="1677"/>
                </a:lnTo>
                <a:lnTo>
                  <a:pt x="12" y="1677"/>
                </a:lnTo>
                <a:close/>
                <a:moveTo>
                  <a:pt x="12" y="1701"/>
                </a:moveTo>
                <a:lnTo>
                  <a:pt x="12" y="1713"/>
                </a:lnTo>
                <a:lnTo>
                  <a:pt x="0" y="1713"/>
                </a:lnTo>
                <a:lnTo>
                  <a:pt x="0" y="1701"/>
                </a:lnTo>
                <a:lnTo>
                  <a:pt x="12" y="1701"/>
                </a:lnTo>
                <a:close/>
                <a:moveTo>
                  <a:pt x="12" y="1725"/>
                </a:moveTo>
                <a:lnTo>
                  <a:pt x="12" y="1737"/>
                </a:lnTo>
                <a:lnTo>
                  <a:pt x="0" y="1737"/>
                </a:lnTo>
                <a:lnTo>
                  <a:pt x="0" y="1725"/>
                </a:lnTo>
                <a:lnTo>
                  <a:pt x="12" y="1725"/>
                </a:lnTo>
                <a:close/>
                <a:moveTo>
                  <a:pt x="12" y="1749"/>
                </a:moveTo>
                <a:lnTo>
                  <a:pt x="12" y="1761"/>
                </a:lnTo>
                <a:lnTo>
                  <a:pt x="0" y="1761"/>
                </a:lnTo>
                <a:lnTo>
                  <a:pt x="0" y="1749"/>
                </a:lnTo>
                <a:lnTo>
                  <a:pt x="12" y="1749"/>
                </a:lnTo>
                <a:close/>
                <a:moveTo>
                  <a:pt x="12" y="1773"/>
                </a:moveTo>
                <a:lnTo>
                  <a:pt x="12" y="1785"/>
                </a:lnTo>
                <a:lnTo>
                  <a:pt x="0" y="1785"/>
                </a:lnTo>
                <a:lnTo>
                  <a:pt x="0" y="1773"/>
                </a:lnTo>
                <a:lnTo>
                  <a:pt x="12" y="1773"/>
                </a:lnTo>
                <a:close/>
                <a:moveTo>
                  <a:pt x="12" y="1797"/>
                </a:moveTo>
                <a:lnTo>
                  <a:pt x="12" y="1809"/>
                </a:lnTo>
                <a:lnTo>
                  <a:pt x="0" y="1809"/>
                </a:lnTo>
                <a:lnTo>
                  <a:pt x="0" y="1797"/>
                </a:lnTo>
                <a:lnTo>
                  <a:pt x="12" y="1797"/>
                </a:lnTo>
                <a:close/>
                <a:moveTo>
                  <a:pt x="12" y="1821"/>
                </a:moveTo>
                <a:lnTo>
                  <a:pt x="12" y="1833"/>
                </a:lnTo>
                <a:lnTo>
                  <a:pt x="0" y="1833"/>
                </a:lnTo>
                <a:lnTo>
                  <a:pt x="0" y="1821"/>
                </a:lnTo>
                <a:lnTo>
                  <a:pt x="12" y="1821"/>
                </a:lnTo>
                <a:close/>
                <a:moveTo>
                  <a:pt x="12" y="1845"/>
                </a:moveTo>
                <a:lnTo>
                  <a:pt x="12" y="1857"/>
                </a:lnTo>
                <a:lnTo>
                  <a:pt x="0" y="1857"/>
                </a:lnTo>
                <a:lnTo>
                  <a:pt x="0" y="1845"/>
                </a:lnTo>
                <a:lnTo>
                  <a:pt x="12" y="1845"/>
                </a:lnTo>
                <a:close/>
                <a:moveTo>
                  <a:pt x="12" y="1869"/>
                </a:moveTo>
                <a:lnTo>
                  <a:pt x="12" y="1881"/>
                </a:lnTo>
                <a:lnTo>
                  <a:pt x="0" y="1881"/>
                </a:lnTo>
                <a:lnTo>
                  <a:pt x="0" y="1869"/>
                </a:lnTo>
                <a:lnTo>
                  <a:pt x="12" y="1869"/>
                </a:lnTo>
                <a:close/>
                <a:moveTo>
                  <a:pt x="12" y="1893"/>
                </a:moveTo>
                <a:lnTo>
                  <a:pt x="12" y="1905"/>
                </a:lnTo>
                <a:lnTo>
                  <a:pt x="0" y="1905"/>
                </a:lnTo>
                <a:lnTo>
                  <a:pt x="0" y="1893"/>
                </a:lnTo>
                <a:lnTo>
                  <a:pt x="12" y="1893"/>
                </a:lnTo>
                <a:close/>
                <a:moveTo>
                  <a:pt x="12" y="1917"/>
                </a:moveTo>
                <a:lnTo>
                  <a:pt x="12" y="1929"/>
                </a:lnTo>
                <a:lnTo>
                  <a:pt x="0" y="1929"/>
                </a:lnTo>
                <a:lnTo>
                  <a:pt x="0" y="1917"/>
                </a:lnTo>
                <a:lnTo>
                  <a:pt x="12" y="1917"/>
                </a:lnTo>
                <a:close/>
                <a:moveTo>
                  <a:pt x="12" y="1941"/>
                </a:moveTo>
                <a:lnTo>
                  <a:pt x="12" y="1953"/>
                </a:lnTo>
                <a:lnTo>
                  <a:pt x="0" y="1953"/>
                </a:lnTo>
                <a:lnTo>
                  <a:pt x="0" y="1941"/>
                </a:lnTo>
                <a:lnTo>
                  <a:pt x="12" y="1941"/>
                </a:lnTo>
                <a:close/>
                <a:moveTo>
                  <a:pt x="12" y="1965"/>
                </a:moveTo>
                <a:lnTo>
                  <a:pt x="12" y="1977"/>
                </a:lnTo>
                <a:lnTo>
                  <a:pt x="0" y="1977"/>
                </a:lnTo>
                <a:lnTo>
                  <a:pt x="0" y="1965"/>
                </a:lnTo>
                <a:lnTo>
                  <a:pt x="12" y="1965"/>
                </a:lnTo>
                <a:close/>
                <a:moveTo>
                  <a:pt x="12" y="1989"/>
                </a:moveTo>
                <a:lnTo>
                  <a:pt x="12" y="2001"/>
                </a:lnTo>
                <a:lnTo>
                  <a:pt x="0" y="2001"/>
                </a:lnTo>
                <a:lnTo>
                  <a:pt x="0" y="1989"/>
                </a:lnTo>
                <a:lnTo>
                  <a:pt x="12" y="1989"/>
                </a:lnTo>
                <a:close/>
                <a:moveTo>
                  <a:pt x="12" y="2013"/>
                </a:moveTo>
                <a:lnTo>
                  <a:pt x="12" y="2025"/>
                </a:lnTo>
                <a:lnTo>
                  <a:pt x="0" y="2025"/>
                </a:lnTo>
                <a:lnTo>
                  <a:pt x="0" y="2013"/>
                </a:lnTo>
                <a:lnTo>
                  <a:pt x="12" y="2013"/>
                </a:lnTo>
                <a:close/>
                <a:moveTo>
                  <a:pt x="12" y="2037"/>
                </a:moveTo>
                <a:lnTo>
                  <a:pt x="12" y="2049"/>
                </a:lnTo>
                <a:lnTo>
                  <a:pt x="0" y="2049"/>
                </a:lnTo>
                <a:lnTo>
                  <a:pt x="0" y="2037"/>
                </a:lnTo>
                <a:lnTo>
                  <a:pt x="12" y="2037"/>
                </a:lnTo>
                <a:close/>
                <a:moveTo>
                  <a:pt x="12" y="2061"/>
                </a:moveTo>
                <a:lnTo>
                  <a:pt x="12" y="2073"/>
                </a:lnTo>
                <a:lnTo>
                  <a:pt x="0" y="2073"/>
                </a:lnTo>
                <a:lnTo>
                  <a:pt x="0" y="2061"/>
                </a:lnTo>
                <a:lnTo>
                  <a:pt x="12" y="2061"/>
                </a:lnTo>
                <a:close/>
                <a:moveTo>
                  <a:pt x="12" y="2084"/>
                </a:moveTo>
                <a:lnTo>
                  <a:pt x="12" y="2097"/>
                </a:lnTo>
                <a:lnTo>
                  <a:pt x="0" y="2097"/>
                </a:lnTo>
                <a:lnTo>
                  <a:pt x="0" y="2084"/>
                </a:lnTo>
                <a:lnTo>
                  <a:pt x="12" y="2084"/>
                </a:lnTo>
                <a:close/>
                <a:moveTo>
                  <a:pt x="12" y="2109"/>
                </a:moveTo>
                <a:lnTo>
                  <a:pt x="12" y="2120"/>
                </a:lnTo>
                <a:lnTo>
                  <a:pt x="0" y="2120"/>
                </a:lnTo>
                <a:lnTo>
                  <a:pt x="0" y="2109"/>
                </a:lnTo>
                <a:lnTo>
                  <a:pt x="12" y="2109"/>
                </a:lnTo>
                <a:close/>
                <a:moveTo>
                  <a:pt x="12" y="2132"/>
                </a:moveTo>
                <a:lnTo>
                  <a:pt x="12" y="2145"/>
                </a:lnTo>
                <a:lnTo>
                  <a:pt x="0" y="2145"/>
                </a:lnTo>
                <a:lnTo>
                  <a:pt x="0" y="2132"/>
                </a:lnTo>
                <a:lnTo>
                  <a:pt x="12" y="2132"/>
                </a:lnTo>
                <a:close/>
                <a:moveTo>
                  <a:pt x="12" y="2156"/>
                </a:moveTo>
                <a:lnTo>
                  <a:pt x="12" y="2168"/>
                </a:lnTo>
                <a:lnTo>
                  <a:pt x="0" y="2168"/>
                </a:lnTo>
                <a:lnTo>
                  <a:pt x="0" y="2156"/>
                </a:lnTo>
                <a:lnTo>
                  <a:pt x="12" y="2156"/>
                </a:lnTo>
                <a:close/>
                <a:moveTo>
                  <a:pt x="12" y="2180"/>
                </a:moveTo>
                <a:lnTo>
                  <a:pt x="12" y="2192"/>
                </a:lnTo>
                <a:lnTo>
                  <a:pt x="0" y="2192"/>
                </a:lnTo>
                <a:lnTo>
                  <a:pt x="0" y="2180"/>
                </a:lnTo>
                <a:lnTo>
                  <a:pt x="12" y="2180"/>
                </a:lnTo>
                <a:close/>
                <a:moveTo>
                  <a:pt x="12" y="2204"/>
                </a:moveTo>
                <a:lnTo>
                  <a:pt x="12" y="2216"/>
                </a:lnTo>
                <a:lnTo>
                  <a:pt x="0" y="2216"/>
                </a:lnTo>
                <a:lnTo>
                  <a:pt x="0" y="2204"/>
                </a:lnTo>
                <a:lnTo>
                  <a:pt x="12" y="2204"/>
                </a:lnTo>
                <a:close/>
                <a:moveTo>
                  <a:pt x="12" y="2228"/>
                </a:moveTo>
                <a:lnTo>
                  <a:pt x="12" y="2240"/>
                </a:lnTo>
                <a:lnTo>
                  <a:pt x="0" y="2240"/>
                </a:lnTo>
                <a:lnTo>
                  <a:pt x="0" y="2228"/>
                </a:lnTo>
                <a:lnTo>
                  <a:pt x="12" y="2228"/>
                </a:lnTo>
                <a:close/>
                <a:moveTo>
                  <a:pt x="12" y="2252"/>
                </a:moveTo>
                <a:lnTo>
                  <a:pt x="12" y="2264"/>
                </a:lnTo>
                <a:lnTo>
                  <a:pt x="0" y="2264"/>
                </a:lnTo>
                <a:lnTo>
                  <a:pt x="0" y="2252"/>
                </a:lnTo>
                <a:lnTo>
                  <a:pt x="12" y="2252"/>
                </a:lnTo>
                <a:close/>
                <a:moveTo>
                  <a:pt x="12" y="2276"/>
                </a:moveTo>
                <a:lnTo>
                  <a:pt x="12" y="2288"/>
                </a:lnTo>
                <a:lnTo>
                  <a:pt x="0" y="2288"/>
                </a:lnTo>
                <a:lnTo>
                  <a:pt x="0" y="2276"/>
                </a:lnTo>
                <a:lnTo>
                  <a:pt x="12" y="2276"/>
                </a:lnTo>
                <a:close/>
                <a:moveTo>
                  <a:pt x="12" y="2300"/>
                </a:moveTo>
                <a:lnTo>
                  <a:pt x="12" y="2312"/>
                </a:lnTo>
                <a:lnTo>
                  <a:pt x="0" y="2312"/>
                </a:lnTo>
                <a:lnTo>
                  <a:pt x="0" y="2300"/>
                </a:lnTo>
                <a:lnTo>
                  <a:pt x="12" y="2300"/>
                </a:lnTo>
                <a:close/>
                <a:moveTo>
                  <a:pt x="12" y="2324"/>
                </a:moveTo>
                <a:lnTo>
                  <a:pt x="12" y="2336"/>
                </a:lnTo>
                <a:lnTo>
                  <a:pt x="0" y="2336"/>
                </a:lnTo>
                <a:lnTo>
                  <a:pt x="0" y="2324"/>
                </a:lnTo>
                <a:lnTo>
                  <a:pt x="12" y="2324"/>
                </a:lnTo>
                <a:close/>
                <a:moveTo>
                  <a:pt x="12" y="2348"/>
                </a:moveTo>
                <a:lnTo>
                  <a:pt x="12" y="2360"/>
                </a:lnTo>
                <a:lnTo>
                  <a:pt x="0" y="2360"/>
                </a:lnTo>
                <a:lnTo>
                  <a:pt x="0" y="2348"/>
                </a:lnTo>
                <a:lnTo>
                  <a:pt x="12" y="2348"/>
                </a:lnTo>
                <a:close/>
                <a:moveTo>
                  <a:pt x="12" y="2372"/>
                </a:moveTo>
                <a:lnTo>
                  <a:pt x="12" y="2384"/>
                </a:lnTo>
                <a:lnTo>
                  <a:pt x="0" y="2384"/>
                </a:lnTo>
                <a:lnTo>
                  <a:pt x="0" y="2372"/>
                </a:lnTo>
                <a:lnTo>
                  <a:pt x="12" y="2372"/>
                </a:lnTo>
                <a:close/>
                <a:moveTo>
                  <a:pt x="12" y="2396"/>
                </a:moveTo>
                <a:lnTo>
                  <a:pt x="12" y="2408"/>
                </a:lnTo>
                <a:lnTo>
                  <a:pt x="0" y="2408"/>
                </a:lnTo>
                <a:lnTo>
                  <a:pt x="0" y="2396"/>
                </a:lnTo>
                <a:lnTo>
                  <a:pt x="12" y="2396"/>
                </a:lnTo>
                <a:close/>
                <a:moveTo>
                  <a:pt x="12" y="2420"/>
                </a:moveTo>
                <a:lnTo>
                  <a:pt x="12" y="2432"/>
                </a:lnTo>
                <a:lnTo>
                  <a:pt x="0" y="2432"/>
                </a:lnTo>
                <a:lnTo>
                  <a:pt x="0" y="2420"/>
                </a:lnTo>
                <a:lnTo>
                  <a:pt x="12" y="2420"/>
                </a:lnTo>
                <a:close/>
                <a:moveTo>
                  <a:pt x="12" y="2444"/>
                </a:moveTo>
                <a:lnTo>
                  <a:pt x="12" y="2456"/>
                </a:lnTo>
                <a:lnTo>
                  <a:pt x="0" y="2456"/>
                </a:lnTo>
                <a:lnTo>
                  <a:pt x="0" y="2444"/>
                </a:lnTo>
                <a:lnTo>
                  <a:pt x="12" y="2444"/>
                </a:lnTo>
                <a:close/>
                <a:moveTo>
                  <a:pt x="12" y="2468"/>
                </a:moveTo>
                <a:lnTo>
                  <a:pt x="12" y="2480"/>
                </a:lnTo>
                <a:lnTo>
                  <a:pt x="0" y="2480"/>
                </a:lnTo>
                <a:lnTo>
                  <a:pt x="0" y="2468"/>
                </a:lnTo>
                <a:lnTo>
                  <a:pt x="12" y="2468"/>
                </a:lnTo>
                <a:close/>
                <a:moveTo>
                  <a:pt x="12" y="2492"/>
                </a:moveTo>
                <a:lnTo>
                  <a:pt x="12" y="2504"/>
                </a:lnTo>
                <a:lnTo>
                  <a:pt x="0" y="2504"/>
                </a:lnTo>
                <a:lnTo>
                  <a:pt x="0" y="2492"/>
                </a:lnTo>
                <a:lnTo>
                  <a:pt x="12" y="2492"/>
                </a:lnTo>
                <a:close/>
                <a:moveTo>
                  <a:pt x="12" y="2516"/>
                </a:moveTo>
                <a:lnTo>
                  <a:pt x="12" y="2528"/>
                </a:lnTo>
                <a:lnTo>
                  <a:pt x="0" y="2528"/>
                </a:lnTo>
                <a:lnTo>
                  <a:pt x="0" y="2516"/>
                </a:lnTo>
                <a:lnTo>
                  <a:pt x="12" y="2516"/>
                </a:lnTo>
                <a:close/>
                <a:moveTo>
                  <a:pt x="12" y="2540"/>
                </a:moveTo>
                <a:lnTo>
                  <a:pt x="12" y="2552"/>
                </a:lnTo>
                <a:lnTo>
                  <a:pt x="0" y="2552"/>
                </a:lnTo>
                <a:lnTo>
                  <a:pt x="0" y="2540"/>
                </a:lnTo>
                <a:lnTo>
                  <a:pt x="12" y="2540"/>
                </a:lnTo>
                <a:close/>
              </a:path>
            </a:pathLst>
          </a:custGeom>
          <a:solidFill>
            <a:srgbClr val="000000"/>
          </a:solidFill>
          <a:ln w="0" cap="flat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132" name="Freeform 128">
            <a:extLst>
              <a:ext uri="{FF2B5EF4-FFF2-40B4-BE49-F238E27FC236}">
                <a16:creationId xmlns:a16="http://schemas.microsoft.com/office/drawing/2014/main" id="{08CAD4F6-48E8-40DA-89CF-06C74F963B56}"/>
              </a:ext>
            </a:extLst>
          </p:cNvPr>
          <p:cNvSpPr>
            <a:spLocks noEditPoints="1"/>
          </p:cNvSpPr>
          <p:nvPr/>
        </p:nvSpPr>
        <p:spPr bwMode="auto">
          <a:xfrm>
            <a:off x="4682517" y="2351594"/>
            <a:ext cx="18000" cy="4032000"/>
          </a:xfrm>
          <a:custGeom>
            <a:avLst/>
            <a:gdLst>
              <a:gd name="T0" fmla="*/ 0 w 12"/>
              <a:gd name="T1" fmla="*/ 24 h 2552"/>
              <a:gd name="T2" fmla="*/ 0 w 12"/>
              <a:gd name="T3" fmla="*/ 84 h 2552"/>
              <a:gd name="T4" fmla="*/ 12 w 12"/>
              <a:gd name="T5" fmla="*/ 132 h 2552"/>
              <a:gd name="T6" fmla="*/ 12 w 12"/>
              <a:gd name="T7" fmla="*/ 168 h 2552"/>
              <a:gd name="T8" fmla="*/ 12 w 12"/>
              <a:gd name="T9" fmla="*/ 192 h 2552"/>
              <a:gd name="T10" fmla="*/ 0 w 12"/>
              <a:gd name="T11" fmla="*/ 240 h 2552"/>
              <a:gd name="T12" fmla="*/ 0 w 12"/>
              <a:gd name="T13" fmla="*/ 300 h 2552"/>
              <a:gd name="T14" fmla="*/ 12 w 12"/>
              <a:gd name="T15" fmla="*/ 348 h 2552"/>
              <a:gd name="T16" fmla="*/ 12 w 12"/>
              <a:gd name="T17" fmla="*/ 384 h 2552"/>
              <a:gd name="T18" fmla="*/ 12 w 12"/>
              <a:gd name="T19" fmla="*/ 408 h 2552"/>
              <a:gd name="T20" fmla="*/ 0 w 12"/>
              <a:gd name="T21" fmla="*/ 456 h 2552"/>
              <a:gd name="T22" fmla="*/ 0 w 12"/>
              <a:gd name="T23" fmla="*/ 515 h 2552"/>
              <a:gd name="T24" fmla="*/ 12 w 12"/>
              <a:gd name="T25" fmla="*/ 563 h 2552"/>
              <a:gd name="T26" fmla="*/ 12 w 12"/>
              <a:gd name="T27" fmla="*/ 599 h 2552"/>
              <a:gd name="T28" fmla="*/ 12 w 12"/>
              <a:gd name="T29" fmla="*/ 623 h 2552"/>
              <a:gd name="T30" fmla="*/ 0 w 12"/>
              <a:gd name="T31" fmla="*/ 671 h 2552"/>
              <a:gd name="T32" fmla="*/ 0 w 12"/>
              <a:gd name="T33" fmla="*/ 731 h 2552"/>
              <a:gd name="T34" fmla="*/ 12 w 12"/>
              <a:gd name="T35" fmla="*/ 779 h 2552"/>
              <a:gd name="T36" fmla="*/ 12 w 12"/>
              <a:gd name="T37" fmla="*/ 815 h 2552"/>
              <a:gd name="T38" fmla="*/ 12 w 12"/>
              <a:gd name="T39" fmla="*/ 839 h 2552"/>
              <a:gd name="T40" fmla="*/ 0 w 12"/>
              <a:gd name="T41" fmla="*/ 887 h 2552"/>
              <a:gd name="T42" fmla="*/ 0 w 12"/>
              <a:gd name="T43" fmla="*/ 947 h 2552"/>
              <a:gd name="T44" fmla="*/ 12 w 12"/>
              <a:gd name="T45" fmla="*/ 995 h 2552"/>
              <a:gd name="T46" fmla="*/ 12 w 12"/>
              <a:gd name="T47" fmla="*/ 1031 h 2552"/>
              <a:gd name="T48" fmla="*/ 12 w 12"/>
              <a:gd name="T49" fmla="*/ 1054 h 2552"/>
              <a:gd name="T50" fmla="*/ 0 w 12"/>
              <a:gd name="T51" fmla="*/ 1102 h 2552"/>
              <a:gd name="T52" fmla="*/ 0 w 12"/>
              <a:gd name="T53" fmla="*/ 1162 h 2552"/>
              <a:gd name="T54" fmla="*/ 12 w 12"/>
              <a:gd name="T55" fmla="*/ 1210 h 2552"/>
              <a:gd name="T56" fmla="*/ 12 w 12"/>
              <a:gd name="T57" fmla="*/ 1246 h 2552"/>
              <a:gd name="T58" fmla="*/ 12 w 12"/>
              <a:gd name="T59" fmla="*/ 1270 h 2552"/>
              <a:gd name="T60" fmla="*/ 0 w 12"/>
              <a:gd name="T61" fmla="*/ 1318 h 2552"/>
              <a:gd name="T62" fmla="*/ 0 w 12"/>
              <a:gd name="T63" fmla="*/ 1378 h 2552"/>
              <a:gd name="T64" fmla="*/ 12 w 12"/>
              <a:gd name="T65" fmla="*/ 1426 h 2552"/>
              <a:gd name="T66" fmla="*/ 12 w 12"/>
              <a:gd name="T67" fmla="*/ 1462 h 2552"/>
              <a:gd name="T68" fmla="*/ 12 w 12"/>
              <a:gd name="T69" fmla="*/ 1486 h 2552"/>
              <a:gd name="T70" fmla="*/ 0 w 12"/>
              <a:gd name="T71" fmla="*/ 1534 h 2552"/>
              <a:gd name="T72" fmla="*/ 0 w 12"/>
              <a:gd name="T73" fmla="*/ 1593 h 2552"/>
              <a:gd name="T74" fmla="*/ 12 w 12"/>
              <a:gd name="T75" fmla="*/ 1641 h 2552"/>
              <a:gd name="T76" fmla="*/ 12 w 12"/>
              <a:gd name="T77" fmla="*/ 1677 h 2552"/>
              <a:gd name="T78" fmla="*/ 12 w 12"/>
              <a:gd name="T79" fmla="*/ 1701 h 2552"/>
              <a:gd name="T80" fmla="*/ 0 w 12"/>
              <a:gd name="T81" fmla="*/ 1749 h 2552"/>
              <a:gd name="T82" fmla="*/ 0 w 12"/>
              <a:gd name="T83" fmla="*/ 1809 h 2552"/>
              <a:gd name="T84" fmla="*/ 12 w 12"/>
              <a:gd name="T85" fmla="*/ 1857 h 2552"/>
              <a:gd name="T86" fmla="*/ 12 w 12"/>
              <a:gd name="T87" fmla="*/ 1893 h 2552"/>
              <a:gd name="T88" fmla="*/ 12 w 12"/>
              <a:gd name="T89" fmla="*/ 1917 h 2552"/>
              <a:gd name="T90" fmla="*/ 0 w 12"/>
              <a:gd name="T91" fmla="*/ 1965 h 2552"/>
              <a:gd name="T92" fmla="*/ 0 w 12"/>
              <a:gd name="T93" fmla="*/ 2025 h 2552"/>
              <a:gd name="T94" fmla="*/ 12 w 12"/>
              <a:gd name="T95" fmla="*/ 2073 h 2552"/>
              <a:gd name="T96" fmla="*/ 12 w 12"/>
              <a:gd name="T97" fmla="*/ 2109 h 2552"/>
              <a:gd name="T98" fmla="*/ 12 w 12"/>
              <a:gd name="T99" fmla="*/ 2132 h 2552"/>
              <a:gd name="T100" fmla="*/ 0 w 12"/>
              <a:gd name="T101" fmla="*/ 2180 h 2552"/>
              <a:gd name="T102" fmla="*/ 0 w 12"/>
              <a:gd name="T103" fmla="*/ 2240 h 2552"/>
              <a:gd name="T104" fmla="*/ 12 w 12"/>
              <a:gd name="T105" fmla="*/ 2288 h 2552"/>
              <a:gd name="T106" fmla="*/ 12 w 12"/>
              <a:gd name="T107" fmla="*/ 2324 h 2552"/>
              <a:gd name="T108" fmla="*/ 12 w 12"/>
              <a:gd name="T109" fmla="*/ 2348 h 2552"/>
              <a:gd name="T110" fmla="*/ 0 w 12"/>
              <a:gd name="T111" fmla="*/ 2396 h 2552"/>
              <a:gd name="T112" fmla="*/ 0 w 12"/>
              <a:gd name="T113" fmla="*/ 2456 h 2552"/>
              <a:gd name="T114" fmla="*/ 12 w 12"/>
              <a:gd name="T115" fmla="*/ 2504 h 2552"/>
              <a:gd name="T116" fmla="*/ 12 w 12"/>
              <a:gd name="T117" fmla="*/ 2540 h 25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12" h="2552">
                <a:moveTo>
                  <a:pt x="12" y="0"/>
                </a:moveTo>
                <a:lnTo>
                  <a:pt x="12" y="12"/>
                </a:lnTo>
                <a:lnTo>
                  <a:pt x="0" y="12"/>
                </a:lnTo>
                <a:lnTo>
                  <a:pt x="0" y="0"/>
                </a:lnTo>
                <a:lnTo>
                  <a:pt x="12" y="0"/>
                </a:lnTo>
                <a:close/>
                <a:moveTo>
                  <a:pt x="12" y="24"/>
                </a:moveTo>
                <a:lnTo>
                  <a:pt x="12" y="36"/>
                </a:lnTo>
                <a:lnTo>
                  <a:pt x="0" y="36"/>
                </a:lnTo>
                <a:lnTo>
                  <a:pt x="0" y="24"/>
                </a:lnTo>
                <a:lnTo>
                  <a:pt x="12" y="24"/>
                </a:lnTo>
                <a:close/>
                <a:moveTo>
                  <a:pt x="12" y="48"/>
                </a:moveTo>
                <a:lnTo>
                  <a:pt x="12" y="60"/>
                </a:lnTo>
                <a:lnTo>
                  <a:pt x="0" y="60"/>
                </a:lnTo>
                <a:lnTo>
                  <a:pt x="0" y="48"/>
                </a:lnTo>
                <a:lnTo>
                  <a:pt x="12" y="48"/>
                </a:lnTo>
                <a:close/>
                <a:moveTo>
                  <a:pt x="12" y="72"/>
                </a:moveTo>
                <a:lnTo>
                  <a:pt x="12" y="84"/>
                </a:lnTo>
                <a:lnTo>
                  <a:pt x="0" y="84"/>
                </a:lnTo>
                <a:lnTo>
                  <a:pt x="0" y="72"/>
                </a:lnTo>
                <a:lnTo>
                  <a:pt x="12" y="72"/>
                </a:lnTo>
                <a:close/>
                <a:moveTo>
                  <a:pt x="12" y="96"/>
                </a:moveTo>
                <a:lnTo>
                  <a:pt x="12" y="108"/>
                </a:lnTo>
                <a:lnTo>
                  <a:pt x="0" y="108"/>
                </a:lnTo>
                <a:lnTo>
                  <a:pt x="0" y="96"/>
                </a:lnTo>
                <a:lnTo>
                  <a:pt x="12" y="96"/>
                </a:lnTo>
                <a:close/>
                <a:moveTo>
                  <a:pt x="12" y="120"/>
                </a:moveTo>
                <a:lnTo>
                  <a:pt x="12" y="132"/>
                </a:lnTo>
                <a:lnTo>
                  <a:pt x="0" y="132"/>
                </a:lnTo>
                <a:lnTo>
                  <a:pt x="0" y="120"/>
                </a:lnTo>
                <a:lnTo>
                  <a:pt x="12" y="120"/>
                </a:lnTo>
                <a:close/>
                <a:moveTo>
                  <a:pt x="12" y="144"/>
                </a:moveTo>
                <a:lnTo>
                  <a:pt x="12" y="156"/>
                </a:lnTo>
                <a:lnTo>
                  <a:pt x="0" y="156"/>
                </a:lnTo>
                <a:lnTo>
                  <a:pt x="0" y="144"/>
                </a:lnTo>
                <a:lnTo>
                  <a:pt x="12" y="144"/>
                </a:lnTo>
                <a:close/>
                <a:moveTo>
                  <a:pt x="12" y="168"/>
                </a:moveTo>
                <a:lnTo>
                  <a:pt x="12" y="180"/>
                </a:lnTo>
                <a:lnTo>
                  <a:pt x="0" y="180"/>
                </a:lnTo>
                <a:lnTo>
                  <a:pt x="0" y="168"/>
                </a:lnTo>
                <a:lnTo>
                  <a:pt x="12" y="168"/>
                </a:lnTo>
                <a:close/>
                <a:moveTo>
                  <a:pt x="12" y="192"/>
                </a:moveTo>
                <a:lnTo>
                  <a:pt x="12" y="204"/>
                </a:lnTo>
                <a:lnTo>
                  <a:pt x="0" y="204"/>
                </a:lnTo>
                <a:lnTo>
                  <a:pt x="0" y="192"/>
                </a:lnTo>
                <a:lnTo>
                  <a:pt x="12" y="192"/>
                </a:lnTo>
                <a:close/>
                <a:moveTo>
                  <a:pt x="12" y="216"/>
                </a:moveTo>
                <a:lnTo>
                  <a:pt x="12" y="228"/>
                </a:lnTo>
                <a:lnTo>
                  <a:pt x="0" y="228"/>
                </a:lnTo>
                <a:lnTo>
                  <a:pt x="0" y="216"/>
                </a:lnTo>
                <a:lnTo>
                  <a:pt x="12" y="216"/>
                </a:lnTo>
                <a:close/>
                <a:moveTo>
                  <a:pt x="12" y="240"/>
                </a:moveTo>
                <a:lnTo>
                  <a:pt x="12" y="252"/>
                </a:lnTo>
                <a:lnTo>
                  <a:pt x="0" y="252"/>
                </a:lnTo>
                <a:lnTo>
                  <a:pt x="0" y="240"/>
                </a:lnTo>
                <a:lnTo>
                  <a:pt x="12" y="240"/>
                </a:lnTo>
                <a:close/>
                <a:moveTo>
                  <a:pt x="12" y="264"/>
                </a:moveTo>
                <a:lnTo>
                  <a:pt x="12" y="276"/>
                </a:lnTo>
                <a:lnTo>
                  <a:pt x="0" y="276"/>
                </a:lnTo>
                <a:lnTo>
                  <a:pt x="0" y="264"/>
                </a:lnTo>
                <a:lnTo>
                  <a:pt x="12" y="264"/>
                </a:lnTo>
                <a:close/>
                <a:moveTo>
                  <a:pt x="12" y="288"/>
                </a:moveTo>
                <a:lnTo>
                  <a:pt x="12" y="300"/>
                </a:lnTo>
                <a:lnTo>
                  <a:pt x="0" y="300"/>
                </a:lnTo>
                <a:lnTo>
                  <a:pt x="0" y="288"/>
                </a:lnTo>
                <a:lnTo>
                  <a:pt x="12" y="288"/>
                </a:lnTo>
                <a:close/>
                <a:moveTo>
                  <a:pt x="12" y="312"/>
                </a:moveTo>
                <a:lnTo>
                  <a:pt x="12" y="324"/>
                </a:lnTo>
                <a:lnTo>
                  <a:pt x="0" y="324"/>
                </a:lnTo>
                <a:lnTo>
                  <a:pt x="0" y="312"/>
                </a:lnTo>
                <a:lnTo>
                  <a:pt x="12" y="312"/>
                </a:lnTo>
                <a:close/>
                <a:moveTo>
                  <a:pt x="12" y="336"/>
                </a:moveTo>
                <a:lnTo>
                  <a:pt x="12" y="348"/>
                </a:lnTo>
                <a:lnTo>
                  <a:pt x="0" y="348"/>
                </a:lnTo>
                <a:lnTo>
                  <a:pt x="0" y="336"/>
                </a:lnTo>
                <a:lnTo>
                  <a:pt x="12" y="336"/>
                </a:lnTo>
                <a:close/>
                <a:moveTo>
                  <a:pt x="12" y="360"/>
                </a:moveTo>
                <a:lnTo>
                  <a:pt x="12" y="372"/>
                </a:lnTo>
                <a:lnTo>
                  <a:pt x="0" y="372"/>
                </a:lnTo>
                <a:lnTo>
                  <a:pt x="0" y="360"/>
                </a:lnTo>
                <a:lnTo>
                  <a:pt x="12" y="360"/>
                </a:lnTo>
                <a:close/>
                <a:moveTo>
                  <a:pt x="12" y="384"/>
                </a:moveTo>
                <a:lnTo>
                  <a:pt x="12" y="396"/>
                </a:lnTo>
                <a:lnTo>
                  <a:pt x="0" y="396"/>
                </a:lnTo>
                <a:lnTo>
                  <a:pt x="0" y="384"/>
                </a:lnTo>
                <a:lnTo>
                  <a:pt x="12" y="384"/>
                </a:lnTo>
                <a:close/>
                <a:moveTo>
                  <a:pt x="12" y="408"/>
                </a:moveTo>
                <a:lnTo>
                  <a:pt x="12" y="420"/>
                </a:lnTo>
                <a:lnTo>
                  <a:pt x="0" y="420"/>
                </a:lnTo>
                <a:lnTo>
                  <a:pt x="0" y="408"/>
                </a:lnTo>
                <a:lnTo>
                  <a:pt x="12" y="408"/>
                </a:lnTo>
                <a:close/>
                <a:moveTo>
                  <a:pt x="12" y="432"/>
                </a:moveTo>
                <a:lnTo>
                  <a:pt x="12" y="444"/>
                </a:lnTo>
                <a:lnTo>
                  <a:pt x="0" y="444"/>
                </a:lnTo>
                <a:lnTo>
                  <a:pt x="0" y="432"/>
                </a:lnTo>
                <a:lnTo>
                  <a:pt x="12" y="432"/>
                </a:lnTo>
                <a:close/>
                <a:moveTo>
                  <a:pt x="12" y="456"/>
                </a:moveTo>
                <a:lnTo>
                  <a:pt x="12" y="467"/>
                </a:lnTo>
                <a:lnTo>
                  <a:pt x="0" y="467"/>
                </a:lnTo>
                <a:lnTo>
                  <a:pt x="0" y="456"/>
                </a:lnTo>
                <a:lnTo>
                  <a:pt x="12" y="456"/>
                </a:lnTo>
                <a:close/>
                <a:moveTo>
                  <a:pt x="12" y="480"/>
                </a:moveTo>
                <a:lnTo>
                  <a:pt x="12" y="492"/>
                </a:lnTo>
                <a:lnTo>
                  <a:pt x="0" y="492"/>
                </a:lnTo>
                <a:lnTo>
                  <a:pt x="0" y="480"/>
                </a:lnTo>
                <a:lnTo>
                  <a:pt x="12" y="480"/>
                </a:lnTo>
                <a:close/>
                <a:moveTo>
                  <a:pt x="12" y="503"/>
                </a:moveTo>
                <a:lnTo>
                  <a:pt x="12" y="515"/>
                </a:lnTo>
                <a:lnTo>
                  <a:pt x="0" y="515"/>
                </a:lnTo>
                <a:lnTo>
                  <a:pt x="0" y="503"/>
                </a:lnTo>
                <a:lnTo>
                  <a:pt x="12" y="503"/>
                </a:lnTo>
                <a:close/>
                <a:moveTo>
                  <a:pt x="12" y="528"/>
                </a:moveTo>
                <a:lnTo>
                  <a:pt x="12" y="539"/>
                </a:lnTo>
                <a:lnTo>
                  <a:pt x="0" y="539"/>
                </a:lnTo>
                <a:lnTo>
                  <a:pt x="0" y="528"/>
                </a:lnTo>
                <a:lnTo>
                  <a:pt x="12" y="528"/>
                </a:lnTo>
                <a:close/>
                <a:moveTo>
                  <a:pt x="12" y="551"/>
                </a:moveTo>
                <a:lnTo>
                  <a:pt x="12" y="563"/>
                </a:lnTo>
                <a:lnTo>
                  <a:pt x="0" y="563"/>
                </a:lnTo>
                <a:lnTo>
                  <a:pt x="0" y="551"/>
                </a:lnTo>
                <a:lnTo>
                  <a:pt x="12" y="551"/>
                </a:lnTo>
                <a:close/>
                <a:moveTo>
                  <a:pt x="12" y="575"/>
                </a:moveTo>
                <a:lnTo>
                  <a:pt x="12" y="587"/>
                </a:lnTo>
                <a:lnTo>
                  <a:pt x="0" y="587"/>
                </a:lnTo>
                <a:lnTo>
                  <a:pt x="0" y="575"/>
                </a:lnTo>
                <a:lnTo>
                  <a:pt x="12" y="575"/>
                </a:lnTo>
                <a:close/>
                <a:moveTo>
                  <a:pt x="12" y="599"/>
                </a:moveTo>
                <a:lnTo>
                  <a:pt x="12" y="611"/>
                </a:lnTo>
                <a:lnTo>
                  <a:pt x="0" y="611"/>
                </a:lnTo>
                <a:lnTo>
                  <a:pt x="0" y="599"/>
                </a:lnTo>
                <a:lnTo>
                  <a:pt x="12" y="599"/>
                </a:lnTo>
                <a:close/>
                <a:moveTo>
                  <a:pt x="12" y="623"/>
                </a:moveTo>
                <a:lnTo>
                  <a:pt x="12" y="635"/>
                </a:lnTo>
                <a:lnTo>
                  <a:pt x="0" y="635"/>
                </a:lnTo>
                <a:lnTo>
                  <a:pt x="0" y="623"/>
                </a:lnTo>
                <a:lnTo>
                  <a:pt x="12" y="623"/>
                </a:lnTo>
                <a:close/>
                <a:moveTo>
                  <a:pt x="12" y="647"/>
                </a:moveTo>
                <a:lnTo>
                  <a:pt x="12" y="659"/>
                </a:lnTo>
                <a:lnTo>
                  <a:pt x="0" y="659"/>
                </a:lnTo>
                <a:lnTo>
                  <a:pt x="0" y="647"/>
                </a:lnTo>
                <a:lnTo>
                  <a:pt x="12" y="647"/>
                </a:lnTo>
                <a:close/>
                <a:moveTo>
                  <a:pt x="12" y="671"/>
                </a:moveTo>
                <a:lnTo>
                  <a:pt x="12" y="683"/>
                </a:lnTo>
                <a:lnTo>
                  <a:pt x="0" y="683"/>
                </a:lnTo>
                <a:lnTo>
                  <a:pt x="0" y="671"/>
                </a:lnTo>
                <a:lnTo>
                  <a:pt x="12" y="671"/>
                </a:lnTo>
                <a:close/>
                <a:moveTo>
                  <a:pt x="12" y="695"/>
                </a:moveTo>
                <a:lnTo>
                  <a:pt x="12" y="707"/>
                </a:lnTo>
                <a:lnTo>
                  <a:pt x="0" y="707"/>
                </a:lnTo>
                <a:lnTo>
                  <a:pt x="0" y="695"/>
                </a:lnTo>
                <a:lnTo>
                  <a:pt x="12" y="695"/>
                </a:lnTo>
                <a:close/>
                <a:moveTo>
                  <a:pt x="12" y="719"/>
                </a:moveTo>
                <a:lnTo>
                  <a:pt x="12" y="731"/>
                </a:lnTo>
                <a:lnTo>
                  <a:pt x="0" y="731"/>
                </a:lnTo>
                <a:lnTo>
                  <a:pt x="0" y="719"/>
                </a:lnTo>
                <a:lnTo>
                  <a:pt x="12" y="719"/>
                </a:lnTo>
                <a:close/>
                <a:moveTo>
                  <a:pt x="12" y="743"/>
                </a:moveTo>
                <a:lnTo>
                  <a:pt x="12" y="755"/>
                </a:lnTo>
                <a:lnTo>
                  <a:pt x="0" y="755"/>
                </a:lnTo>
                <a:lnTo>
                  <a:pt x="0" y="743"/>
                </a:lnTo>
                <a:lnTo>
                  <a:pt x="12" y="743"/>
                </a:lnTo>
                <a:close/>
                <a:moveTo>
                  <a:pt x="12" y="767"/>
                </a:moveTo>
                <a:lnTo>
                  <a:pt x="12" y="779"/>
                </a:lnTo>
                <a:lnTo>
                  <a:pt x="0" y="779"/>
                </a:lnTo>
                <a:lnTo>
                  <a:pt x="0" y="767"/>
                </a:lnTo>
                <a:lnTo>
                  <a:pt x="12" y="767"/>
                </a:lnTo>
                <a:close/>
                <a:moveTo>
                  <a:pt x="12" y="791"/>
                </a:moveTo>
                <a:lnTo>
                  <a:pt x="12" y="803"/>
                </a:lnTo>
                <a:lnTo>
                  <a:pt x="0" y="803"/>
                </a:lnTo>
                <a:lnTo>
                  <a:pt x="0" y="791"/>
                </a:lnTo>
                <a:lnTo>
                  <a:pt x="12" y="791"/>
                </a:lnTo>
                <a:close/>
                <a:moveTo>
                  <a:pt x="12" y="815"/>
                </a:moveTo>
                <a:lnTo>
                  <a:pt x="12" y="827"/>
                </a:lnTo>
                <a:lnTo>
                  <a:pt x="0" y="827"/>
                </a:lnTo>
                <a:lnTo>
                  <a:pt x="0" y="815"/>
                </a:lnTo>
                <a:lnTo>
                  <a:pt x="12" y="815"/>
                </a:lnTo>
                <a:close/>
                <a:moveTo>
                  <a:pt x="12" y="839"/>
                </a:moveTo>
                <a:lnTo>
                  <a:pt x="12" y="851"/>
                </a:lnTo>
                <a:lnTo>
                  <a:pt x="0" y="851"/>
                </a:lnTo>
                <a:lnTo>
                  <a:pt x="0" y="839"/>
                </a:lnTo>
                <a:lnTo>
                  <a:pt x="12" y="839"/>
                </a:lnTo>
                <a:close/>
                <a:moveTo>
                  <a:pt x="12" y="863"/>
                </a:moveTo>
                <a:lnTo>
                  <a:pt x="12" y="875"/>
                </a:lnTo>
                <a:lnTo>
                  <a:pt x="0" y="875"/>
                </a:lnTo>
                <a:lnTo>
                  <a:pt x="0" y="863"/>
                </a:lnTo>
                <a:lnTo>
                  <a:pt x="12" y="863"/>
                </a:lnTo>
                <a:close/>
                <a:moveTo>
                  <a:pt x="12" y="887"/>
                </a:moveTo>
                <a:lnTo>
                  <a:pt x="12" y="899"/>
                </a:lnTo>
                <a:lnTo>
                  <a:pt x="0" y="899"/>
                </a:lnTo>
                <a:lnTo>
                  <a:pt x="0" y="887"/>
                </a:lnTo>
                <a:lnTo>
                  <a:pt x="12" y="887"/>
                </a:lnTo>
                <a:close/>
                <a:moveTo>
                  <a:pt x="12" y="911"/>
                </a:moveTo>
                <a:lnTo>
                  <a:pt x="12" y="923"/>
                </a:lnTo>
                <a:lnTo>
                  <a:pt x="0" y="923"/>
                </a:lnTo>
                <a:lnTo>
                  <a:pt x="0" y="911"/>
                </a:lnTo>
                <a:lnTo>
                  <a:pt x="12" y="911"/>
                </a:lnTo>
                <a:close/>
                <a:moveTo>
                  <a:pt x="12" y="935"/>
                </a:moveTo>
                <a:lnTo>
                  <a:pt x="12" y="947"/>
                </a:lnTo>
                <a:lnTo>
                  <a:pt x="0" y="947"/>
                </a:lnTo>
                <a:lnTo>
                  <a:pt x="0" y="935"/>
                </a:lnTo>
                <a:lnTo>
                  <a:pt x="12" y="935"/>
                </a:lnTo>
                <a:close/>
                <a:moveTo>
                  <a:pt x="12" y="959"/>
                </a:moveTo>
                <a:lnTo>
                  <a:pt x="12" y="971"/>
                </a:lnTo>
                <a:lnTo>
                  <a:pt x="0" y="971"/>
                </a:lnTo>
                <a:lnTo>
                  <a:pt x="0" y="959"/>
                </a:lnTo>
                <a:lnTo>
                  <a:pt x="12" y="959"/>
                </a:lnTo>
                <a:close/>
                <a:moveTo>
                  <a:pt x="12" y="983"/>
                </a:moveTo>
                <a:lnTo>
                  <a:pt x="12" y="995"/>
                </a:lnTo>
                <a:lnTo>
                  <a:pt x="0" y="995"/>
                </a:lnTo>
                <a:lnTo>
                  <a:pt x="0" y="983"/>
                </a:lnTo>
                <a:lnTo>
                  <a:pt x="12" y="983"/>
                </a:lnTo>
                <a:close/>
                <a:moveTo>
                  <a:pt x="12" y="1006"/>
                </a:moveTo>
                <a:lnTo>
                  <a:pt x="12" y="1019"/>
                </a:lnTo>
                <a:lnTo>
                  <a:pt x="0" y="1019"/>
                </a:lnTo>
                <a:lnTo>
                  <a:pt x="0" y="1006"/>
                </a:lnTo>
                <a:lnTo>
                  <a:pt x="12" y="1006"/>
                </a:lnTo>
                <a:close/>
                <a:moveTo>
                  <a:pt x="12" y="1031"/>
                </a:moveTo>
                <a:lnTo>
                  <a:pt x="12" y="1042"/>
                </a:lnTo>
                <a:lnTo>
                  <a:pt x="0" y="1042"/>
                </a:lnTo>
                <a:lnTo>
                  <a:pt x="0" y="1031"/>
                </a:lnTo>
                <a:lnTo>
                  <a:pt x="12" y="1031"/>
                </a:lnTo>
                <a:close/>
                <a:moveTo>
                  <a:pt x="12" y="1054"/>
                </a:moveTo>
                <a:lnTo>
                  <a:pt x="12" y="1067"/>
                </a:lnTo>
                <a:lnTo>
                  <a:pt x="0" y="1067"/>
                </a:lnTo>
                <a:lnTo>
                  <a:pt x="0" y="1054"/>
                </a:lnTo>
                <a:lnTo>
                  <a:pt x="12" y="1054"/>
                </a:lnTo>
                <a:close/>
                <a:moveTo>
                  <a:pt x="12" y="1078"/>
                </a:moveTo>
                <a:lnTo>
                  <a:pt x="12" y="1090"/>
                </a:lnTo>
                <a:lnTo>
                  <a:pt x="0" y="1090"/>
                </a:lnTo>
                <a:lnTo>
                  <a:pt x="0" y="1078"/>
                </a:lnTo>
                <a:lnTo>
                  <a:pt x="12" y="1078"/>
                </a:lnTo>
                <a:close/>
                <a:moveTo>
                  <a:pt x="12" y="1102"/>
                </a:moveTo>
                <a:lnTo>
                  <a:pt x="12" y="1114"/>
                </a:lnTo>
                <a:lnTo>
                  <a:pt x="0" y="1114"/>
                </a:lnTo>
                <a:lnTo>
                  <a:pt x="0" y="1102"/>
                </a:lnTo>
                <a:lnTo>
                  <a:pt x="12" y="1102"/>
                </a:lnTo>
                <a:close/>
                <a:moveTo>
                  <a:pt x="12" y="1126"/>
                </a:moveTo>
                <a:lnTo>
                  <a:pt x="12" y="1138"/>
                </a:lnTo>
                <a:lnTo>
                  <a:pt x="0" y="1138"/>
                </a:lnTo>
                <a:lnTo>
                  <a:pt x="0" y="1126"/>
                </a:lnTo>
                <a:lnTo>
                  <a:pt x="12" y="1126"/>
                </a:lnTo>
                <a:close/>
                <a:moveTo>
                  <a:pt x="12" y="1150"/>
                </a:moveTo>
                <a:lnTo>
                  <a:pt x="12" y="1162"/>
                </a:lnTo>
                <a:lnTo>
                  <a:pt x="0" y="1162"/>
                </a:lnTo>
                <a:lnTo>
                  <a:pt x="0" y="1150"/>
                </a:lnTo>
                <a:lnTo>
                  <a:pt x="12" y="1150"/>
                </a:lnTo>
                <a:close/>
                <a:moveTo>
                  <a:pt x="12" y="1174"/>
                </a:moveTo>
                <a:lnTo>
                  <a:pt x="12" y="1186"/>
                </a:lnTo>
                <a:lnTo>
                  <a:pt x="0" y="1186"/>
                </a:lnTo>
                <a:lnTo>
                  <a:pt x="0" y="1174"/>
                </a:lnTo>
                <a:lnTo>
                  <a:pt x="12" y="1174"/>
                </a:lnTo>
                <a:close/>
                <a:moveTo>
                  <a:pt x="12" y="1198"/>
                </a:moveTo>
                <a:lnTo>
                  <a:pt x="12" y="1210"/>
                </a:lnTo>
                <a:lnTo>
                  <a:pt x="0" y="1210"/>
                </a:lnTo>
                <a:lnTo>
                  <a:pt x="0" y="1198"/>
                </a:lnTo>
                <a:lnTo>
                  <a:pt x="12" y="1198"/>
                </a:lnTo>
                <a:close/>
                <a:moveTo>
                  <a:pt x="12" y="1222"/>
                </a:moveTo>
                <a:lnTo>
                  <a:pt x="12" y="1234"/>
                </a:lnTo>
                <a:lnTo>
                  <a:pt x="0" y="1234"/>
                </a:lnTo>
                <a:lnTo>
                  <a:pt x="0" y="1222"/>
                </a:lnTo>
                <a:lnTo>
                  <a:pt x="12" y="1222"/>
                </a:lnTo>
                <a:close/>
                <a:moveTo>
                  <a:pt x="12" y="1246"/>
                </a:moveTo>
                <a:lnTo>
                  <a:pt x="12" y="1258"/>
                </a:lnTo>
                <a:lnTo>
                  <a:pt x="0" y="1258"/>
                </a:lnTo>
                <a:lnTo>
                  <a:pt x="0" y="1246"/>
                </a:lnTo>
                <a:lnTo>
                  <a:pt x="12" y="1246"/>
                </a:lnTo>
                <a:close/>
                <a:moveTo>
                  <a:pt x="12" y="1270"/>
                </a:moveTo>
                <a:lnTo>
                  <a:pt x="12" y="1282"/>
                </a:lnTo>
                <a:lnTo>
                  <a:pt x="0" y="1282"/>
                </a:lnTo>
                <a:lnTo>
                  <a:pt x="0" y="1270"/>
                </a:lnTo>
                <a:lnTo>
                  <a:pt x="12" y="1270"/>
                </a:lnTo>
                <a:close/>
                <a:moveTo>
                  <a:pt x="12" y="1294"/>
                </a:moveTo>
                <a:lnTo>
                  <a:pt x="12" y="1306"/>
                </a:lnTo>
                <a:lnTo>
                  <a:pt x="0" y="1306"/>
                </a:lnTo>
                <a:lnTo>
                  <a:pt x="0" y="1294"/>
                </a:lnTo>
                <a:lnTo>
                  <a:pt x="12" y="1294"/>
                </a:lnTo>
                <a:close/>
                <a:moveTo>
                  <a:pt x="12" y="1318"/>
                </a:moveTo>
                <a:lnTo>
                  <a:pt x="12" y="1330"/>
                </a:lnTo>
                <a:lnTo>
                  <a:pt x="0" y="1330"/>
                </a:lnTo>
                <a:lnTo>
                  <a:pt x="0" y="1318"/>
                </a:lnTo>
                <a:lnTo>
                  <a:pt x="12" y="1318"/>
                </a:lnTo>
                <a:close/>
                <a:moveTo>
                  <a:pt x="12" y="1342"/>
                </a:moveTo>
                <a:lnTo>
                  <a:pt x="12" y="1354"/>
                </a:lnTo>
                <a:lnTo>
                  <a:pt x="0" y="1354"/>
                </a:lnTo>
                <a:lnTo>
                  <a:pt x="0" y="1342"/>
                </a:lnTo>
                <a:lnTo>
                  <a:pt x="12" y="1342"/>
                </a:lnTo>
                <a:close/>
                <a:moveTo>
                  <a:pt x="12" y="1366"/>
                </a:moveTo>
                <a:lnTo>
                  <a:pt x="12" y="1378"/>
                </a:lnTo>
                <a:lnTo>
                  <a:pt x="0" y="1378"/>
                </a:lnTo>
                <a:lnTo>
                  <a:pt x="0" y="1366"/>
                </a:lnTo>
                <a:lnTo>
                  <a:pt x="12" y="1366"/>
                </a:lnTo>
                <a:close/>
                <a:moveTo>
                  <a:pt x="12" y="1390"/>
                </a:moveTo>
                <a:lnTo>
                  <a:pt x="12" y="1402"/>
                </a:lnTo>
                <a:lnTo>
                  <a:pt x="0" y="1402"/>
                </a:lnTo>
                <a:lnTo>
                  <a:pt x="0" y="1390"/>
                </a:lnTo>
                <a:lnTo>
                  <a:pt x="12" y="1390"/>
                </a:lnTo>
                <a:close/>
                <a:moveTo>
                  <a:pt x="12" y="1414"/>
                </a:moveTo>
                <a:lnTo>
                  <a:pt x="12" y="1426"/>
                </a:lnTo>
                <a:lnTo>
                  <a:pt x="0" y="1426"/>
                </a:lnTo>
                <a:lnTo>
                  <a:pt x="0" y="1414"/>
                </a:lnTo>
                <a:lnTo>
                  <a:pt x="12" y="1414"/>
                </a:lnTo>
                <a:close/>
                <a:moveTo>
                  <a:pt x="12" y="1438"/>
                </a:moveTo>
                <a:lnTo>
                  <a:pt x="12" y="1450"/>
                </a:lnTo>
                <a:lnTo>
                  <a:pt x="0" y="1450"/>
                </a:lnTo>
                <a:lnTo>
                  <a:pt x="0" y="1438"/>
                </a:lnTo>
                <a:lnTo>
                  <a:pt x="12" y="1438"/>
                </a:lnTo>
                <a:close/>
                <a:moveTo>
                  <a:pt x="12" y="1462"/>
                </a:moveTo>
                <a:lnTo>
                  <a:pt x="12" y="1474"/>
                </a:lnTo>
                <a:lnTo>
                  <a:pt x="0" y="1474"/>
                </a:lnTo>
                <a:lnTo>
                  <a:pt x="0" y="1462"/>
                </a:lnTo>
                <a:lnTo>
                  <a:pt x="12" y="1462"/>
                </a:lnTo>
                <a:close/>
                <a:moveTo>
                  <a:pt x="12" y="1486"/>
                </a:moveTo>
                <a:lnTo>
                  <a:pt x="12" y="1498"/>
                </a:lnTo>
                <a:lnTo>
                  <a:pt x="0" y="1498"/>
                </a:lnTo>
                <a:lnTo>
                  <a:pt x="0" y="1486"/>
                </a:lnTo>
                <a:lnTo>
                  <a:pt x="12" y="1486"/>
                </a:lnTo>
                <a:close/>
                <a:moveTo>
                  <a:pt x="12" y="1510"/>
                </a:moveTo>
                <a:lnTo>
                  <a:pt x="12" y="1522"/>
                </a:lnTo>
                <a:lnTo>
                  <a:pt x="0" y="1522"/>
                </a:lnTo>
                <a:lnTo>
                  <a:pt x="0" y="1510"/>
                </a:lnTo>
                <a:lnTo>
                  <a:pt x="12" y="1510"/>
                </a:lnTo>
                <a:close/>
                <a:moveTo>
                  <a:pt x="12" y="1534"/>
                </a:moveTo>
                <a:lnTo>
                  <a:pt x="12" y="1545"/>
                </a:lnTo>
                <a:lnTo>
                  <a:pt x="0" y="1545"/>
                </a:lnTo>
                <a:lnTo>
                  <a:pt x="0" y="1534"/>
                </a:lnTo>
                <a:lnTo>
                  <a:pt x="12" y="1534"/>
                </a:lnTo>
                <a:close/>
                <a:moveTo>
                  <a:pt x="12" y="1558"/>
                </a:moveTo>
                <a:lnTo>
                  <a:pt x="12" y="1570"/>
                </a:lnTo>
                <a:lnTo>
                  <a:pt x="0" y="1570"/>
                </a:lnTo>
                <a:lnTo>
                  <a:pt x="0" y="1558"/>
                </a:lnTo>
                <a:lnTo>
                  <a:pt x="12" y="1558"/>
                </a:lnTo>
                <a:close/>
                <a:moveTo>
                  <a:pt x="12" y="1581"/>
                </a:moveTo>
                <a:lnTo>
                  <a:pt x="12" y="1593"/>
                </a:lnTo>
                <a:lnTo>
                  <a:pt x="0" y="1593"/>
                </a:lnTo>
                <a:lnTo>
                  <a:pt x="0" y="1581"/>
                </a:lnTo>
                <a:lnTo>
                  <a:pt x="12" y="1581"/>
                </a:lnTo>
                <a:close/>
                <a:moveTo>
                  <a:pt x="12" y="1606"/>
                </a:moveTo>
                <a:lnTo>
                  <a:pt x="12" y="1617"/>
                </a:lnTo>
                <a:lnTo>
                  <a:pt x="0" y="1617"/>
                </a:lnTo>
                <a:lnTo>
                  <a:pt x="0" y="1606"/>
                </a:lnTo>
                <a:lnTo>
                  <a:pt x="12" y="1606"/>
                </a:lnTo>
                <a:close/>
                <a:moveTo>
                  <a:pt x="12" y="1629"/>
                </a:moveTo>
                <a:lnTo>
                  <a:pt x="12" y="1641"/>
                </a:lnTo>
                <a:lnTo>
                  <a:pt x="0" y="1641"/>
                </a:lnTo>
                <a:lnTo>
                  <a:pt x="0" y="1629"/>
                </a:lnTo>
                <a:lnTo>
                  <a:pt x="12" y="1629"/>
                </a:lnTo>
                <a:close/>
                <a:moveTo>
                  <a:pt x="12" y="1653"/>
                </a:moveTo>
                <a:lnTo>
                  <a:pt x="12" y="1665"/>
                </a:lnTo>
                <a:lnTo>
                  <a:pt x="0" y="1665"/>
                </a:lnTo>
                <a:lnTo>
                  <a:pt x="0" y="1653"/>
                </a:lnTo>
                <a:lnTo>
                  <a:pt x="12" y="1653"/>
                </a:lnTo>
                <a:close/>
                <a:moveTo>
                  <a:pt x="12" y="1677"/>
                </a:moveTo>
                <a:lnTo>
                  <a:pt x="12" y="1689"/>
                </a:lnTo>
                <a:lnTo>
                  <a:pt x="0" y="1689"/>
                </a:lnTo>
                <a:lnTo>
                  <a:pt x="0" y="1677"/>
                </a:lnTo>
                <a:lnTo>
                  <a:pt x="12" y="1677"/>
                </a:lnTo>
                <a:close/>
                <a:moveTo>
                  <a:pt x="12" y="1701"/>
                </a:moveTo>
                <a:lnTo>
                  <a:pt x="12" y="1713"/>
                </a:lnTo>
                <a:lnTo>
                  <a:pt x="0" y="1713"/>
                </a:lnTo>
                <a:lnTo>
                  <a:pt x="0" y="1701"/>
                </a:lnTo>
                <a:lnTo>
                  <a:pt x="12" y="1701"/>
                </a:lnTo>
                <a:close/>
                <a:moveTo>
                  <a:pt x="12" y="1725"/>
                </a:moveTo>
                <a:lnTo>
                  <a:pt x="12" y="1737"/>
                </a:lnTo>
                <a:lnTo>
                  <a:pt x="0" y="1737"/>
                </a:lnTo>
                <a:lnTo>
                  <a:pt x="0" y="1725"/>
                </a:lnTo>
                <a:lnTo>
                  <a:pt x="12" y="1725"/>
                </a:lnTo>
                <a:close/>
                <a:moveTo>
                  <a:pt x="12" y="1749"/>
                </a:moveTo>
                <a:lnTo>
                  <a:pt x="12" y="1761"/>
                </a:lnTo>
                <a:lnTo>
                  <a:pt x="0" y="1761"/>
                </a:lnTo>
                <a:lnTo>
                  <a:pt x="0" y="1749"/>
                </a:lnTo>
                <a:lnTo>
                  <a:pt x="12" y="1749"/>
                </a:lnTo>
                <a:close/>
                <a:moveTo>
                  <a:pt x="12" y="1773"/>
                </a:moveTo>
                <a:lnTo>
                  <a:pt x="12" y="1785"/>
                </a:lnTo>
                <a:lnTo>
                  <a:pt x="0" y="1785"/>
                </a:lnTo>
                <a:lnTo>
                  <a:pt x="0" y="1773"/>
                </a:lnTo>
                <a:lnTo>
                  <a:pt x="12" y="1773"/>
                </a:lnTo>
                <a:close/>
                <a:moveTo>
                  <a:pt x="12" y="1797"/>
                </a:moveTo>
                <a:lnTo>
                  <a:pt x="12" y="1809"/>
                </a:lnTo>
                <a:lnTo>
                  <a:pt x="0" y="1809"/>
                </a:lnTo>
                <a:lnTo>
                  <a:pt x="0" y="1797"/>
                </a:lnTo>
                <a:lnTo>
                  <a:pt x="12" y="1797"/>
                </a:lnTo>
                <a:close/>
                <a:moveTo>
                  <a:pt x="12" y="1821"/>
                </a:moveTo>
                <a:lnTo>
                  <a:pt x="12" y="1833"/>
                </a:lnTo>
                <a:lnTo>
                  <a:pt x="0" y="1833"/>
                </a:lnTo>
                <a:lnTo>
                  <a:pt x="0" y="1821"/>
                </a:lnTo>
                <a:lnTo>
                  <a:pt x="12" y="1821"/>
                </a:lnTo>
                <a:close/>
                <a:moveTo>
                  <a:pt x="12" y="1845"/>
                </a:moveTo>
                <a:lnTo>
                  <a:pt x="12" y="1857"/>
                </a:lnTo>
                <a:lnTo>
                  <a:pt x="0" y="1857"/>
                </a:lnTo>
                <a:lnTo>
                  <a:pt x="0" y="1845"/>
                </a:lnTo>
                <a:lnTo>
                  <a:pt x="12" y="1845"/>
                </a:lnTo>
                <a:close/>
                <a:moveTo>
                  <a:pt x="12" y="1869"/>
                </a:moveTo>
                <a:lnTo>
                  <a:pt x="12" y="1881"/>
                </a:lnTo>
                <a:lnTo>
                  <a:pt x="0" y="1881"/>
                </a:lnTo>
                <a:lnTo>
                  <a:pt x="0" y="1869"/>
                </a:lnTo>
                <a:lnTo>
                  <a:pt x="12" y="1869"/>
                </a:lnTo>
                <a:close/>
                <a:moveTo>
                  <a:pt x="12" y="1893"/>
                </a:moveTo>
                <a:lnTo>
                  <a:pt x="12" y="1905"/>
                </a:lnTo>
                <a:lnTo>
                  <a:pt x="0" y="1905"/>
                </a:lnTo>
                <a:lnTo>
                  <a:pt x="0" y="1893"/>
                </a:lnTo>
                <a:lnTo>
                  <a:pt x="12" y="1893"/>
                </a:lnTo>
                <a:close/>
                <a:moveTo>
                  <a:pt x="12" y="1917"/>
                </a:moveTo>
                <a:lnTo>
                  <a:pt x="12" y="1929"/>
                </a:lnTo>
                <a:lnTo>
                  <a:pt x="0" y="1929"/>
                </a:lnTo>
                <a:lnTo>
                  <a:pt x="0" y="1917"/>
                </a:lnTo>
                <a:lnTo>
                  <a:pt x="12" y="1917"/>
                </a:lnTo>
                <a:close/>
                <a:moveTo>
                  <a:pt x="12" y="1941"/>
                </a:moveTo>
                <a:lnTo>
                  <a:pt x="12" y="1953"/>
                </a:lnTo>
                <a:lnTo>
                  <a:pt x="0" y="1953"/>
                </a:lnTo>
                <a:lnTo>
                  <a:pt x="0" y="1941"/>
                </a:lnTo>
                <a:lnTo>
                  <a:pt x="12" y="1941"/>
                </a:lnTo>
                <a:close/>
                <a:moveTo>
                  <a:pt x="12" y="1965"/>
                </a:moveTo>
                <a:lnTo>
                  <a:pt x="12" y="1977"/>
                </a:lnTo>
                <a:lnTo>
                  <a:pt x="0" y="1977"/>
                </a:lnTo>
                <a:lnTo>
                  <a:pt x="0" y="1965"/>
                </a:lnTo>
                <a:lnTo>
                  <a:pt x="12" y="1965"/>
                </a:lnTo>
                <a:close/>
                <a:moveTo>
                  <a:pt x="12" y="1989"/>
                </a:moveTo>
                <a:lnTo>
                  <a:pt x="12" y="2001"/>
                </a:lnTo>
                <a:lnTo>
                  <a:pt x="0" y="2001"/>
                </a:lnTo>
                <a:lnTo>
                  <a:pt x="0" y="1989"/>
                </a:lnTo>
                <a:lnTo>
                  <a:pt x="12" y="1989"/>
                </a:lnTo>
                <a:close/>
                <a:moveTo>
                  <a:pt x="12" y="2013"/>
                </a:moveTo>
                <a:lnTo>
                  <a:pt x="12" y="2025"/>
                </a:lnTo>
                <a:lnTo>
                  <a:pt x="0" y="2025"/>
                </a:lnTo>
                <a:lnTo>
                  <a:pt x="0" y="2013"/>
                </a:lnTo>
                <a:lnTo>
                  <a:pt x="12" y="2013"/>
                </a:lnTo>
                <a:close/>
                <a:moveTo>
                  <a:pt x="12" y="2037"/>
                </a:moveTo>
                <a:lnTo>
                  <a:pt x="12" y="2049"/>
                </a:lnTo>
                <a:lnTo>
                  <a:pt x="0" y="2049"/>
                </a:lnTo>
                <a:lnTo>
                  <a:pt x="0" y="2037"/>
                </a:lnTo>
                <a:lnTo>
                  <a:pt x="12" y="2037"/>
                </a:lnTo>
                <a:close/>
                <a:moveTo>
                  <a:pt x="12" y="2061"/>
                </a:moveTo>
                <a:lnTo>
                  <a:pt x="12" y="2073"/>
                </a:lnTo>
                <a:lnTo>
                  <a:pt x="0" y="2073"/>
                </a:lnTo>
                <a:lnTo>
                  <a:pt x="0" y="2061"/>
                </a:lnTo>
                <a:lnTo>
                  <a:pt x="12" y="2061"/>
                </a:lnTo>
                <a:close/>
                <a:moveTo>
                  <a:pt x="12" y="2084"/>
                </a:moveTo>
                <a:lnTo>
                  <a:pt x="12" y="2097"/>
                </a:lnTo>
                <a:lnTo>
                  <a:pt x="0" y="2097"/>
                </a:lnTo>
                <a:lnTo>
                  <a:pt x="0" y="2084"/>
                </a:lnTo>
                <a:lnTo>
                  <a:pt x="12" y="2084"/>
                </a:lnTo>
                <a:close/>
                <a:moveTo>
                  <a:pt x="12" y="2109"/>
                </a:moveTo>
                <a:lnTo>
                  <a:pt x="12" y="2120"/>
                </a:lnTo>
                <a:lnTo>
                  <a:pt x="0" y="2120"/>
                </a:lnTo>
                <a:lnTo>
                  <a:pt x="0" y="2109"/>
                </a:lnTo>
                <a:lnTo>
                  <a:pt x="12" y="2109"/>
                </a:lnTo>
                <a:close/>
                <a:moveTo>
                  <a:pt x="12" y="2132"/>
                </a:moveTo>
                <a:lnTo>
                  <a:pt x="12" y="2145"/>
                </a:lnTo>
                <a:lnTo>
                  <a:pt x="0" y="2145"/>
                </a:lnTo>
                <a:lnTo>
                  <a:pt x="0" y="2132"/>
                </a:lnTo>
                <a:lnTo>
                  <a:pt x="12" y="2132"/>
                </a:lnTo>
                <a:close/>
                <a:moveTo>
                  <a:pt x="12" y="2156"/>
                </a:moveTo>
                <a:lnTo>
                  <a:pt x="12" y="2168"/>
                </a:lnTo>
                <a:lnTo>
                  <a:pt x="0" y="2168"/>
                </a:lnTo>
                <a:lnTo>
                  <a:pt x="0" y="2156"/>
                </a:lnTo>
                <a:lnTo>
                  <a:pt x="12" y="2156"/>
                </a:lnTo>
                <a:close/>
                <a:moveTo>
                  <a:pt x="12" y="2180"/>
                </a:moveTo>
                <a:lnTo>
                  <a:pt x="12" y="2192"/>
                </a:lnTo>
                <a:lnTo>
                  <a:pt x="0" y="2192"/>
                </a:lnTo>
                <a:lnTo>
                  <a:pt x="0" y="2180"/>
                </a:lnTo>
                <a:lnTo>
                  <a:pt x="12" y="2180"/>
                </a:lnTo>
                <a:close/>
                <a:moveTo>
                  <a:pt x="12" y="2204"/>
                </a:moveTo>
                <a:lnTo>
                  <a:pt x="12" y="2216"/>
                </a:lnTo>
                <a:lnTo>
                  <a:pt x="0" y="2216"/>
                </a:lnTo>
                <a:lnTo>
                  <a:pt x="0" y="2204"/>
                </a:lnTo>
                <a:lnTo>
                  <a:pt x="12" y="2204"/>
                </a:lnTo>
                <a:close/>
                <a:moveTo>
                  <a:pt x="12" y="2228"/>
                </a:moveTo>
                <a:lnTo>
                  <a:pt x="12" y="2240"/>
                </a:lnTo>
                <a:lnTo>
                  <a:pt x="0" y="2240"/>
                </a:lnTo>
                <a:lnTo>
                  <a:pt x="0" y="2228"/>
                </a:lnTo>
                <a:lnTo>
                  <a:pt x="12" y="2228"/>
                </a:lnTo>
                <a:close/>
                <a:moveTo>
                  <a:pt x="12" y="2252"/>
                </a:moveTo>
                <a:lnTo>
                  <a:pt x="12" y="2264"/>
                </a:lnTo>
                <a:lnTo>
                  <a:pt x="0" y="2264"/>
                </a:lnTo>
                <a:lnTo>
                  <a:pt x="0" y="2252"/>
                </a:lnTo>
                <a:lnTo>
                  <a:pt x="12" y="2252"/>
                </a:lnTo>
                <a:close/>
                <a:moveTo>
                  <a:pt x="12" y="2276"/>
                </a:moveTo>
                <a:lnTo>
                  <a:pt x="12" y="2288"/>
                </a:lnTo>
                <a:lnTo>
                  <a:pt x="0" y="2288"/>
                </a:lnTo>
                <a:lnTo>
                  <a:pt x="0" y="2276"/>
                </a:lnTo>
                <a:lnTo>
                  <a:pt x="12" y="2276"/>
                </a:lnTo>
                <a:close/>
                <a:moveTo>
                  <a:pt x="12" y="2300"/>
                </a:moveTo>
                <a:lnTo>
                  <a:pt x="12" y="2312"/>
                </a:lnTo>
                <a:lnTo>
                  <a:pt x="0" y="2312"/>
                </a:lnTo>
                <a:lnTo>
                  <a:pt x="0" y="2300"/>
                </a:lnTo>
                <a:lnTo>
                  <a:pt x="12" y="2300"/>
                </a:lnTo>
                <a:close/>
                <a:moveTo>
                  <a:pt x="12" y="2324"/>
                </a:moveTo>
                <a:lnTo>
                  <a:pt x="12" y="2336"/>
                </a:lnTo>
                <a:lnTo>
                  <a:pt x="0" y="2336"/>
                </a:lnTo>
                <a:lnTo>
                  <a:pt x="0" y="2324"/>
                </a:lnTo>
                <a:lnTo>
                  <a:pt x="12" y="2324"/>
                </a:lnTo>
                <a:close/>
                <a:moveTo>
                  <a:pt x="12" y="2348"/>
                </a:moveTo>
                <a:lnTo>
                  <a:pt x="12" y="2360"/>
                </a:lnTo>
                <a:lnTo>
                  <a:pt x="0" y="2360"/>
                </a:lnTo>
                <a:lnTo>
                  <a:pt x="0" y="2348"/>
                </a:lnTo>
                <a:lnTo>
                  <a:pt x="12" y="2348"/>
                </a:lnTo>
                <a:close/>
                <a:moveTo>
                  <a:pt x="12" y="2372"/>
                </a:moveTo>
                <a:lnTo>
                  <a:pt x="12" y="2384"/>
                </a:lnTo>
                <a:lnTo>
                  <a:pt x="0" y="2384"/>
                </a:lnTo>
                <a:lnTo>
                  <a:pt x="0" y="2372"/>
                </a:lnTo>
                <a:lnTo>
                  <a:pt x="12" y="2372"/>
                </a:lnTo>
                <a:close/>
                <a:moveTo>
                  <a:pt x="12" y="2396"/>
                </a:moveTo>
                <a:lnTo>
                  <a:pt x="12" y="2408"/>
                </a:lnTo>
                <a:lnTo>
                  <a:pt x="0" y="2408"/>
                </a:lnTo>
                <a:lnTo>
                  <a:pt x="0" y="2396"/>
                </a:lnTo>
                <a:lnTo>
                  <a:pt x="12" y="2396"/>
                </a:lnTo>
                <a:close/>
                <a:moveTo>
                  <a:pt x="12" y="2420"/>
                </a:moveTo>
                <a:lnTo>
                  <a:pt x="12" y="2432"/>
                </a:lnTo>
                <a:lnTo>
                  <a:pt x="0" y="2432"/>
                </a:lnTo>
                <a:lnTo>
                  <a:pt x="0" y="2420"/>
                </a:lnTo>
                <a:lnTo>
                  <a:pt x="12" y="2420"/>
                </a:lnTo>
                <a:close/>
                <a:moveTo>
                  <a:pt x="12" y="2444"/>
                </a:moveTo>
                <a:lnTo>
                  <a:pt x="12" y="2456"/>
                </a:lnTo>
                <a:lnTo>
                  <a:pt x="0" y="2456"/>
                </a:lnTo>
                <a:lnTo>
                  <a:pt x="0" y="2444"/>
                </a:lnTo>
                <a:lnTo>
                  <a:pt x="12" y="2444"/>
                </a:lnTo>
                <a:close/>
                <a:moveTo>
                  <a:pt x="12" y="2468"/>
                </a:moveTo>
                <a:lnTo>
                  <a:pt x="12" y="2480"/>
                </a:lnTo>
                <a:lnTo>
                  <a:pt x="0" y="2480"/>
                </a:lnTo>
                <a:lnTo>
                  <a:pt x="0" y="2468"/>
                </a:lnTo>
                <a:lnTo>
                  <a:pt x="12" y="2468"/>
                </a:lnTo>
                <a:close/>
                <a:moveTo>
                  <a:pt x="12" y="2492"/>
                </a:moveTo>
                <a:lnTo>
                  <a:pt x="12" y="2504"/>
                </a:lnTo>
                <a:lnTo>
                  <a:pt x="0" y="2504"/>
                </a:lnTo>
                <a:lnTo>
                  <a:pt x="0" y="2492"/>
                </a:lnTo>
                <a:lnTo>
                  <a:pt x="12" y="2492"/>
                </a:lnTo>
                <a:close/>
                <a:moveTo>
                  <a:pt x="12" y="2516"/>
                </a:moveTo>
                <a:lnTo>
                  <a:pt x="12" y="2528"/>
                </a:lnTo>
                <a:lnTo>
                  <a:pt x="0" y="2528"/>
                </a:lnTo>
                <a:lnTo>
                  <a:pt x="0" y="2516"/>
                </a:lnTo>
                <a:lnTo>
                  <a:pt x="12" y="2516"/>
                </a:lnTo>
                <a:close/>
                <a:moveTo>
                  <a:pt x="12" y="2540"/>
                </a:moveTo>
                <a:lnTo>
                  <a:pt x="12" y="2552"/>
                </a:lnTo>
                <a:lnTo>
                  <a:pt x="0" y="2552"/>
                </a:lnTo>
                <a:lnTo>
                  <a:pt x="0" y="2540"/>
                </a:lnTo>
                <a:lnTo>
                  <a:pt x="12" y="2540"/>
                </a:lnTo>
                <a:close/>
              </a:path>
            </a:pathLst>
          </a:custGeom>
          <a:solidFill>
            <a:srgbClr val="000000"/>
          </a:solidFill>
          <a:ln w="0" cap="flat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133" name="Freeform 129">
            <a:extLst>
              <a:ext uri="{FF2B5EF4-FFF2-40B4-BE49-F238E27FC236}">
                <a16:creationId xmlns:a16="http://schemas.microsoft.com/office/drawing/2014/main" id="{236CCD0F-EBBE-42C2-96D5-9DCF74854086}"/>
              </a:ext>
            </a:extLst>
          </p:cNvPr>
          <p:cNvSpPr>
            <a:spLocks noEditPoints="1"/>
          </p:cNvSpPr>
          <p:nvPr/>
        </p:nvSpPr>
        <p:spPr bwMode="auto">
          <a:xfrm>
            <a:off x="4169755" y="2351594"/>
            <a:ext cx="18000" cy="4032000"/>
          </a:xfrm>
          <a:custGeom>
            <a:avLst/>
            <a:gdLst>
              <a:gd name="T0" fmla="*/ 0 w 12"/>
              <a:gd name="T1" fmla="*/ 24 h 2552"/>
              <a:gd name="T2" fmla="*/ 0 w 12"/>
              <a:gd name="T3" fmla="*/ 84 h 2552"/>
              <a:gd name="T4" fmla="*/ 12 w 12"/>
              <a:gd name="T5" fmla="*/ 132 h 2552"/>
              <a:gd name="T6" fmla="*/ 12 w 12"/>
              <a:gd name="T7" fmla="*/ 168 h 2552"/>
              <a:gd name="T8" fmla="*/ 12 w 12"/>
              <a:gd name="T9" fmla="*/ 192 h 2552"/>
              <a:gd name="T10" fmla="*/ 0 w 12"/>
              <a:gd name="T11" fmla="*/ 240 h 2552"/>
              <a:gd name="T12" fmla="*/ 0 w 12"/>
              <a:gd name="T13" fmla="*/ 300 h 2552"/>
              <a:gd name="T14" fmla="*/ 12 w 12"/>
              <a:gd name="T15" fmla="*/ 348 h 2552"/>
              <a:gd name="T16" fmla="*/ 12 w 12"/>
              <a:gd name="T17" fmla="*/ 384 h 2552"/>
              <a:gd name="T18" fmla="*/ 12 w 12"/>
              <a:gd name="T19" fmla="*/ 408 h 2552"/>
              <a:gd name="T20" fmla="*/ 0 w 12"/>
              <a:gd name="T21" fmla="*/ 456 h 2552"/>
              <a:gd name="T22" fmla="*/ 0 w 12"/>
              <a:gd name="T23" fmla="*/ 515 h 2552"/>
              <a:gd name="T24" fmla="*/ 12 w 12"/>
              <a:gd name="T25" fmla="*/ 563 h 2552"/>
              <a:gd name="T26" fmla="*/ 12 w 12"/>
              <a:gd name="T27" fmla="*/ 599 h 2552"/>
              <a:gd name="T28" fmla="*/ 12 w 12"/>
              <a:gd name="T29" fmla="*/ 623 h 2552"/>
              <a:gd name="T30" fmla="*/ 0 w 12"/>
              <a:gd name="T31" fmla="*/ 671 h 2552"/>
              <a:gd name="T32" fmla="*/ 0 w 12"/>
              <a:gd name="T33" fmla="*/ 731 h 2552"/>
              <a:gd name="T34" fmla="*/ 12 w 12"/>
              <a:gd name="T35" fmla="*/ 779 h 2552"/>
              <a:gd name="T36" fmla="*/ 12 w 12"/>
              <a:gd name="T37" fmla="*/ 815 h 2552"/>
              <a:gd name="T38" fmla="*/ 12 w 12"/>
              <a:gd name="T39" fmla="*/ 839 h 2552"/>
              <a:gd name="T40" fmla="*/ 0 w 12"/>
              <a:gd name="T41" fmla="*/ 887 h 2552"/>
              <a:gd name="T42" fmla="*/ 0 w 12"/>
              <a:gd name="T43" fmla="*/ 947 h 2552"/>
              <a:gd name="T44" fmla="*/ 12 w 12"/>
              <a:gd name="T45" fmla="*/ 995 h 2552"/>
              <a:gd name="T46" fmla="*/ 12 w 12"/>
              <a:gd name="T47" fmla="*/ 1031 h 2552"/>
              <a:gd name="T48" fmla="*/ 12 w 12"/>
              <a:gd name="T49" fmla="*/ 1054 h 2552"/>
              <a:gd name="T50" fmla="*/ 0 w 12"/>
              <a:gd name="T51" fmla="*/ 1102 h 2552"/>
              <a:gd name="T52" fmla="*/ 0 w 12"/>
              <a:gd name="T53" fmla="*/ 1162 h 2552"/>
              <a:gd name="T54" fmla="*/ 12 w 12"/>
              <a:gd name="T55" fmla="*/ 1210 h 2552"/>
              <a:gd name="T56" fmla="*/ 12 w 12"/>
              <a:gd name="T57" fmla="*/ 1246 h 2552"/>
              <a:gd name="T58" fmla="*/ 12 w 12"/>
              <a:gd name="T59" fmla="*/ 1270 h 2552"/>
              <a:gd name="T60" fmla="*/ 0 w 12"/>
              <a:gd name="T61" fmla="*/ 1318 h 2552"/>
              <a:gd name="T62" fmla="*/ 0 w 12"/>
              <a:gd name="T63" fmla="*/ 1378 h 2552"/>
              <a:gd name="T64" fmla="*/ 12 w 12"/>
              <a:gd name="T65" fmla="*/ 1426 h 2552"/>
              <a:gd name="T66" fmla="*/ 12 w 12"/>
              <a:gd name="T67" fmla="*/ 1462 h 2552"/>
              <a:gd name="T68" fmla="*/ 12 w 12"/>
              <a:gd name="T69" fmla="*/ 1486 h 2552"/>
              <a:gd name="T70" fmla="*/ 0 w 12"/>
              <a:gd name="T71" fmla="*/ 1534 h 2552"/>
              <a:gd name="T72" fmla="*/ 0 w 12"/>
              <a:gd name="T73" fmla="*/ 1593 h 2552"/>
              <a:gd name="T74" fmla="*/ 12 w 12"/>
              <a:gd name="T75" fmla="*/ 1641 h 2552"/>
              <a:gd name="T76" fmla="*/ 12 w 12"/>
              <a:gd name="T77" fmla="*/ 1677 h 2552"/>
              <a:gd name="T78" fmla="*/ 12 w 12"/>
              <a:gd name="T79" fmla="*/ 1701 h 2552"/>
              <a:gd name="T80" fmla="*/ 0 w 12"/>
              <a:gd name="T81" fmla="*/ 1749 h 2552"/>
              <a:gd name="T82" fmla="*/ 0 w 12"/>
              <a:gd name="T83" fmla="*/ 1809 h 2552"/>
              <a:gd name="T84" fmla="*/ 12 w 12"/>
              <a:gd name="T85" fmla="*/ 1857 h 2552"/>
              <a:gd name="T86" fmla="*/ 12 w 12"/>
              <a:gd name="T87" fmla="*/ 1893 h 2552"/>
              <a:gd name="T88" fmla="*/ 12 w 12"/>
              <a:gd name="T89" fmla="*/ 1917 h 2552"/>
              <a:gd name="T90" fmla="*/ 0 w 12"/>
              <a:gd name="T91" fmla="*/ 1965 h 2552"/>
              <a:gd name="T92" fmla="*/ 0 w 12"/>
              <a:gd name="T93" fmla="*/ 2025 h 2552"/>
              <a:gd name="T94" fmla="*/ 12 w 12"/>
              <a:gd name="T95" fmla="*/ 2073 h 2552"/>
              <a:gd name="T96" fmla="*/ 12 w 12"/>
              <a:gd name="T97" fmla="*/ 2109 h 2552"/>
              <a:gd name="T98" fmla="*/ 12 w 12"/>
              <a:gd name="T99" fmla="*/ 2132 h 2552"/>
              <a:gd name="T100" fmla="*/ 0 w 12"/>
              <a:gd name="T101" fmla="*/ 2180 h 2552"/>
              <a:gd name="T102" fmla="*/ 0 w 12"/>
              <a:gd name="T103" fmla="*/ 2240 h 2552"/>
              <a:gd name="T104" fmla="*/ 12 w 12"/>
              <a:gd name="T105" fmla="*/ 2288 h 2552"/>
              <a:gd name="T106" fmla="*/ 12 w 12"/>
              <a:gd name="T107" fmla="*/ 2324 h 2552"/>
              <a:gd name="T108" fmla="*/ 12 w 12"/>
              <a:gd name="T109" fmla="*/ 2348 h 2552"/>
              <a:gd name="T110" fmla="*/ 0 w 12"/>
              <a:gd name="T111" fmla="*/ 2396 h 2552"/>
              <a:gd name="T112" fmla="*/ 0 w 12"/>
              <a:gd name="T113" fmla="*/ 2456 h 2552"/>
              <a:gd name="T114" fmla="*/ 12 w 12"/>
              <a:gd name="T115" fmla="*/ 2504 h 2552"/>
              <a:gd name="T116" fmla="*/ 12 w 12"/>
              <a:gd name="T117" fmla="*/ 2540 h 25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12" h="2552">
                <a:moveTo>
                  <a:pt x="12" y="0"/>
                </a:moveTo>
                <a:lnTo>
                  <a:pt x="12" y="12"/>
                </a:lnTo>
                <a:lnTo>
                  <a:pt x="0" y="12"/>
                </a:lnTo>
                <a:lnTo>
                  <a:pt x="0" y="0"/>
                </a:lnTo>
                <a:lnTo>
                  <a:pt x="12" y="0"/>
                </a:lnTo>
                <a:close/>
                <a:moveTo>
                  <a:pt x="12" y="24"/>
                </a:moveTo>
                <a:lnTo>
                  <a:pt x="12" y="36"/>
                </a:lnTo>
                <a:lnTo>
                  <a:pt x="0" y="36"/>
                </a:lnTo>
                <a:lnTo>
                  <a:pt x="0" y="24"/>
                </a:lnTo>
                <a:lnTo>
                  <a:pt x="12" y="24"/>
                </a:lnTo>
                <a:close/>
                <a:moveTo>
                  <a:pt x="12" y="48"/>
                </a:moveTo>
                <a:lnTo>
                  <a:pt x="12" y="60"/>
                </a:lnTo>
                <a:lnTo>
                  <a:pt x="0" y="60"/>
                </a:lnTo>
                <a:lnTo>
                  <a:pt x="0" y="48"/>
                </a:lnTo>
                <a:lnTo>
                  <a:pt x="12" y="48"/>
                </a:lnTo>
                <a:close/>
                <a:moveTo>
                  <a:pt x="12" y="72"/>
                </a:moveTo>
                <a:lnTo>
                  <a:pt x="12" y="84"/>
                </a:lnTo>
                <a:lnTo>
                  <a:pt x="0" y="84"/>
                </a:lnTo>
                <a:lnTo>
                  <a:pt x="0" y="72"/>
                </a:lnTo>
                <a:lnTo>
                  <a:pt x="12" y="72"/>
                </a:lnTo>
                <a:close/>
                <a:moveTo>
                  <a:pt x="12" y="96"/>
                </a:moveTo>
                <a:lnTo>
                  <a:pt x="12" y="108"/>
                </a:lnTo>
                <a:lnTo>
                  <a:pt x="0" y="108"/>
                </a:lnTo>
                <a:lnTo>
                  <a:pt x="0" y="96"/>
                </a:lnTo>
                <a:lnTo>
                  <a:pt x="12" y="96"/>
                </a:lnTo>
                <a:close/>
                <a:moveTo>
                  <a:pt x="12" y="120"/>
                </a:moveTo>
                <a:lnTo>
                  <a:pt x="12" y="132"/>
                </a:lnTo>
                <a:lnTo>
                  <a:pt x="0" y="132"/>
                </a:lnTo>
                <a:lnTo>
                  <a:pt x="0" y="120"/>
                </a:lnTo>
                <a:lnTo>
                  <a:pt x="12" y="120"/>
                </a:lnTo>
                <a:close/>
                <a:moveTo>
                  <a:pt x="12" y="144"/>
                </a:moveTo>
                <a:lnTo>
                  <a:pt x="12" y="156"/>
                </a:lnTo>
                <a:lnTo>
                  <a:pt x="0" y="156"/>
                </a:lnTo>
                <a:lnTo>
                  <a:pt x="0" y="144"/>
                </a:lnTo>
                <a:lnTo>
                  <a:pt x="12" y="144"/>
                </a:lnTo>
                <a:close/>
                <a:moveTo>
                  <a:pt x="12" y="168"/>
                </a:moveTo>
                <a:lnTo>
                  <a:pt x="12" y="180"/>
                </a:lnTo>
                <a:lnTo>
                  <a:pt x="0" y="180"/>
                </a:lnTo>
                <a:lnTo>
                  <a:pt x="0" y="168"/>
                </a:lnTo>
                <a:lnTo>
                  <a:pt x="12" y="168"/>
                </a:lnTo>
                <a:close/>
                <a:moveTo>
                  <a:pt x="12" y="192"/>
                </a:moveTo>
                <a:lnTo>
                  <a:pt x="12" y="204"/>
                </a:lnTo>
                <a:lnTo>
                  <a:pt x="0" y="204"/>
                </a:lnTo>
                <a:lnTo>
                  <a:pt x="0" y="192"/>
                </a:lnTo>
                <a:lnTo>
                  <a:pt x="12" y="192"/>
                </a:lnTo>
                <a:close/>
                <a:moveTo>
                  <a:pt x="12" y="216"/>
                </a:moveTo>
                <a:lnTo>
                  <a:pt x="12" y="228"/>
                </a:lnTo>
                <a:lnTo>
                  <a:pt x="0" y="228"/>
                </a:lnTo>
                <a:lnTo>
                  <a:pt x="0" y="216"/>
                </a:lnTo>
                <a:lnTo>
                  <a:pt x="12" y="216"/>
                </a:lnTo>
                <a:close/>
                <a:moveTo>
                  <a:pt x="12" y="240"/>
                </a:moveTo>
                <a:lnTo>
                  <a:pt x="12" y="252"/>
                </a:lnTo>
                <a:lnTo>
                  <a:pt x="0" y="252"/>
                </a:lnTo>
                <a:lnTo>
                  <a:pt x="0" y="240"/>
                </a:lnTo>
                <a:lnTo>
                  <a:pt x="12" y="240"/>
                </a:lnTo>
                <a:close/>
                <a:moveTo>
                  <a:pt x="12" y="264"/>
                </a:moveTo>
                <a:lnTo>
                  <a:pt x="12" y="276"/>
                </a:lnTo>
                <a:lnTo>
                  <a:pt x="0" y="276"/>
                </a:lnTo>
                <a:lnTo>
                  <a:pt x="0" y="264"/>
                </a:lnTo>
                <a:lnTo>
                  <a:pt x="12" y="264"/>
                </a:lnTo>
                <a:close/>
                <a:moveTo>
                  <a:pt x="12" y="288"/>
                </a:moveTo>
                <a:lnTo>
                  <a:pt x="12" y="300"/>
                </a:lnTo>
                <a:lnTo>
                  <a:pt x="0" y="300"/>
                </a:lnTo>
                <a:lnTo>
                  <a:pt x="0" y="288"/>
                </a:lnTo>
                <a:lnTo>
                  <a:pt x="12" y="288"/>
                </a:lnTo>
                <a:close/>
                <a:moveTo>
                  <a:pt x="12" y="312"/>
                </a:moveTo>
                <a:lnTo>
                  <a:pt x="12" y="324"/>
                </a:lnTo>
                <a:lnTo>
                  <a:pt x="0" y="324"/>
                </a:lnTo>
                <a:lnTo>
                  <a:pt x="0" y="312"/>
                </a:lnTo>
                <a:lnTo>
                  <a:pt x="12" y="312"/>
                </a:lnTo>
                <a:close/>
                <a:moveTo>
                  <a:pt x="12" y="336"/>
                </a:moveTo>
                <a:lnTo>
                  <a:pt x="12" y="348"/>
                </a:lnTo>
                <a:lnTo>
                  <a:pt x="0" y="348"/>
                </a:lnTo>
                <a:lnTo>
                  <a:pt x="0" y="336"/>
                </a:lnTo>
                <a:lnTo>
                  <a:pt x="12" y="336"/>
                </a:lnTo>
                <a:close/>
                <a:moveTo>
                  <a:pt x="12" y="360"/>
                </a:moveTo>
                <a:lnTo>
                  <a:pt x="12" y="372"/>
                </a:lnTo>
                <a:lnTo>
                  <a:pt x="0" y="372"/>
                </a:lnTo>
                <a:lnTo>
                  <a:pt x="0" y="360"/>
                </a:lnTo>
                <a:lnTo>
                  <a:pt x="12" y="360"/>
                </a:lnTo>
                <a:close/>
                <a:moveTo>
                  <a:pt x="12" y="384"/>
                </a:moveTo>
                <a:lnTo>
                  <a:pt x="12" y="396"/>
                </a:lnTo>
                <a:lnTo>
                  <a:pt x="0" y="396"/>
                </a:lnTo>
                <a:lnTo>
                  <a:pt x="0" y="384"/>
                </a:lnTo>
                <a:lnTo>
                  <a:pt x="12" y="384"/>
                </a:lnTo>
                <a:close/>
                <a:moveTo>
                  <a:pt x="12" y="408"/>
                </a:moveTo>
                <a:lnTo>
                  <a:pt x="12" y="420"/>
                </a:lnTo>
                <a:lnTo>
                  <a:pt x="0" y="420"/>
                </a:lnTo>
                <a:lnTo>
                  <a:pt x="0" y="408"/>
                </a:lnTo>
                <a:lnTo>
                  <a:pt x="12" y="408"/>
                </a:lnTo>
                <a:close/>
                <a:moveTo>
                  <a:pt x="12" y="432"/>
                </a:moveTo>
                <a:lnTo>
                  <a:pt x="12" y="444"/>
                </a:lnTo>
                <a:lnTo>
                  <a:pt x="0" y="444"/>
                </a:lnTo>
                <a:lnTo>
                  <a:pt x="0" y="432"/>
                </a:lnTo>
                <a:lnTo>
                  <a:pt x="12" y="432"/>
                </a:lnTo>
                <a:close/>
                <a:moveTo>
                  <a:pt x="12" y="456"/>
                </a:moveTo>
                <a:lnTo>
                  <a:pt x="12" y="467"/>
                </a:lnTo>
                <a:lnTo>
                  <a:pt x="0" y="467"/>
                </a:lnTo>
                <a:lnTo>
                  <a:pt x="0" y="456"/>
                </a:lnTo>
                <a:lnTo>
                  <a:pt x="12" y="456"/>
                </a:lnTo>
                <a:close/>
                <a:moveTo>
                  <a:pt x="12" y="480"/>
                </a:moveTo>
                <a:lnTo>
                  <a:pt x="12" y="492"/>
                </a:lnTo>
                <a:lnTo>
                  <a:pt x="0" y="492"/>
                </a:lnTo>
                <a:lnTo>
                  <a:pt x="0" y="480"/>
                </a:lnTo>
                <a:lnTo>
                  <a:pt x="12" y="480"/>
                </a:lnTo>
                <a:close/>
                <a:moveTo>
                  <a:pt x="12" y="503"/>
                </a:moveTo>
                <a:lnTo>
                  <a:pt x="12" y="515"/>
                </a:lnTo>
                <a:lnTo>
                  <a:pt x="0" y="515"/>
                </a:lnTo>
                <a:lnTo>
                  <a:pt x="0" y="503"/>
                </a:lnTo>
                <a:lnTo>
                  <a:pt x="12" y="503"/>
                </a:lnTo>
                <a:close/>
                <a:moveTo>
                  <a:pt x="12" y="528"/>
                </a:moveTo>
                <a:lnTo>
                  <a:pt x="12" y="539"/>
                </a:lnTo>
                <a:lnTo>
                  <a:pt x="0" y="539"/>
                </a:lnTo>
                <a:lnTo>
                  <a:pt x="0" y="528"/>
                </a:lnTo>
                <a:lnTo>
                  <a:pt x="12" y="528"/>
                </a:lnTo>
                <a:close/>
                <a:moveTo>
                  <a:pt x="12" y="551"/>
                </a:moveTo>
                <a:lnTo>
                  <a:pt x="12" y="563"/>
                </a:lnTo>
                <a:lnTo>
                  <a:pt x="0" y="563"/>
                </a:lnTo>
                <a:lnTo>
                  <a:pt x="0" y="551"/>
                </a:lnTo>
                <a:lnTo>
                  <a:pt x="12" y="551"/>
                </a:lnTo>
                <a:close/>
                <a:moveTo>
                  <a:pt x="12" y="575"/>
                </a:moveTo>
                <a:lnTo>
                  <a:pt x="12" y="587"/>
                </a:lnTo>
                <a:lnTo>
                  <a:pt x="0" y="587"/>
                </a:lnTo>
                <a:lnTo>
                  <a:pt x="0" y="575"/>
                </a:lnTo>
                <a:lnTo>
                  <a:pt x="12" y="575"/>
                </a:lnTo>
                <a:close/>
                <a:moveTo>
                  <a:pt x="12" y="599"/>
                </a:moveTo>
                <a:lnTo>
                  <a:pt x="12" y="611"/>
                </a:lnTo>
                <a:lnTo>
                  <a:pt x="0" y="611"/>
                </a:lnTo>
                <a:lnTo>
                  <a:pt x="0" y="599"/>
                </a:lnTo>
                <a:lnTo>
                  <a:pt x="12" y="599"/>
                </a:lnTo>
                <a:close/>
                <a:moveTo>
                  <a:pt x="12" y="623"/>
                </a:moveTo>
                <a:lnTo>
                  <a:pt x="12" y="635"/>
                </a:lnTo>
                <a:lnTo>
                  <a:pt x="0" y="635"/>
                </a:lnTo>
                <a:lnTo>
                  <a:pt x="0" y="623"/>
                </a:lnTo>
                <a:lnTo>
                  <a:pt x="12" y="623"/>
                </a:lnTo>
                <a:close/>
                <a:moveTo>
                  <a:pt x="12" y="647"/>
                </a:moveTo>
                <a:lnTo>
                  <a:pt x="12" y="659"/>
                </a:lnTo>
                <a:lnTo>
                  <a:pt x="0" y="659"/>
                </a:lnTo>
                <a:lnTo>
                  <a:pt x="0" y="647"/>
                </a:lnTo>
                <a:lnTo>
                  <a:pt x="12" y="647"/>
                </a:lnTo>
                <a:close/>
                <a:moveTo>
                  <a:pt x="12" y="671"/>
                </a:moveTo>
                <a:lnTo>
                  <a:pt x="12" y="683"/>
                </a:lnTo>
                <a:lnTo>
                  <a:pt x="0" y="683"/>
                </a:lnTo>
                <a:lnTo>
                  <a:pt x="0" y="671"/>
                </a:lnTo>
                <a:lnTo>
                  <a:pt x="12" y="671"/>
                </a:lnTo>
                <a:close/>
                <a:moveTo>
                  <a:pt x="12" y="695"/>
                </a:moveTo>
                <a:lnTo>
                  <a:pt x="12" y="707"/>
                </a:lnTo>
                <a:lnTo>
                  <a:pt x="0" y="707"/>
                </a:lnTo>
                <a:lnTo>
                  <a:pt x="0" y="695"/>
                </a:lnTo>
                <a:lnTo>
                  <a:pt x="12" y="695"/>
                </a:lnTo>
                <a:close/>
                <a:moveTo>
                  <a:pt x="12" y="719"/>
                </a:moveTo>
                <a:lnTo>
                  <a:pt x="12" y="731"/>
                </a:lnTo>
                <a:lnTo>
                  <a:pt x="0" y="731"/>
                </a:lnTo>
                <a:lnTo>
                  <a:pt x="0" y="719"/>
                </a:lnTo>
                <a:lnTo>
                  <a:pt x="12" y="719"/>
                </a:lnTo>
                <a:close/>
                <a:moveTo>
                  <a:pt x="12" y="743"/>
                </a:moveTo>
                <a:lnTo>
                  <a:pt x="12" y="755"/>
                </a:lnTo>
                <a:lnTo>
                  <a:pt x="0" y="755"/>
                </a:lnTo>
                <a:lnTo>
                  <a:pt x="0" y="743"/>
                </a:lnTo>
                <a:lnTo>
                  <a:pt x="12" y="743"/>
                </a:lnTo>
                <a:close/>
                <a:moveTo>
                  <a:pt x="12" y="767"/>
                </a:moveTo>
                <a:lnTo>
                  <a:pt x="12" y="779"/>
                </a:lnTo>
                <a:lnTo>
                  <a:pt x="0" y="779"/>
                </a:lnTo>
                <a:lnTo>
                  <a:pt x="0" y="767"/>
                </a:lnTo>
                <a:lnTo>
                  <a:pt x="12" y="767"/>
                </a:lnTo>
                <a:close/>
                <a:moveTo>
                  <a:pt x="12" y="791"/>
                </a:moveTo>
                <a:lnTo>
                  <a:pt x="12" y="803"/>
                </a:lnTo>
                <a:lnTo>
                  <a:pt x="0" y="803"/>
                </a:lnTo>
                <a:lnTo>
                  <a:pt x="0" y="791"/>
                </a:lnTo>
                <a:lnTo>
                  <a:pt x="12" y="791"/>
                </a:lnTo>
                <a:close/>
                <a:moveTo>
                  <a:pt x="12" y="815"/>
                </a:moveTo>
                <a:lnTo>
                  <a:pt x="12" y="827"/>
                </a:lnTo>
                <a:lnTo>
                  <a:pt x="0" y="827"/>
                </a:lnTo>
                <a:lnTo>
                  <a:pt x="0" y="815"/>
                </a:lnTo>
                <a:lnTo>
                  <a:pt x="12" y="815"/>
                </a:lnTo>
                <a:close/>
                <a:moveTo>
                  <a:pt x="12" y="839"/>
                </a:moveTo>
                <a:lnTo>
                  <a:pt x="12" y="851"/>
                </a:lnTo>
                <a:lnTo>
                  <a:pt x="0" y="851"/>
                </a:lnTo>
                <a:lnTo>
                  <a:pt x="0" y="839"/>
                </a:lnTo>
                <a:lnTo>
                  <a:pt x="12" y="839"/>
                </a:lnTo>
                <a:close/>
                <a:moveTo>
                  <a:pt x="12" y="863"/>
                </a:moveTo>
                <a:lnTo>
                  <a:pt x="12" y="875"/>
                </a:lnTo>
                <a:lnTo>
                  <a:pt x="0" y="875"/>
                </a:lnTo>
                <a:lnTo>
                  <a:pt x="0" y="863"/>
                </a:lnTo>
                <a:lnTo>
                  <a:pt x="12" y="863"/>
                </a:lnTo>
                <a:close/>
                <a:moveTo>
                  <a:pt x="12" y="887"/>
                </a:moveTo>
                <a:lnTo>
                  <a:pt x="12" y="899"/>
                </a:lnTo>
                <a:lnTo>
                  <a:pt x="0" y="899"/>
                </a:lnTo>
                <a:lnTo>
                  <a:pt x="0" y="887"/>
                </a:lnTo>
                <a:lnTo>
                  <a:pt x="12" y="887"/>
                </a:lnTo>
                <a:close/>
                <a:moveTo>
                  <a:pt x="12" y="911"/>
                </a:moveTo>
                <a:lnTo>
                  <a:pt x="12" y="923"/>
                </a:lnTo>
                <a:lnTo>
                  <a:pt x="0" y="923"/>
                </a:lnTo>
                <a:lnTo>
                  <a:pt x="0" y="911"/>
                </a:lnTo>
                <a:lnTo>
                  <a:pt x="12" y="911"/>
                </a:lnTo>
                <a:close/>
                <a:moveTo>
                  <a:pt x="12" y="935"/>
                </a:moveTo>
                <a:lnTo>
                  <a:pt x="12" y="947"/>
                </a:lnTo>
                <a:lnTo>
                  <a:pt x="0" y="947"/>
                </a:lnTo>
                <a:lnTo>
                  <a:pt x="0" y="935"/>
                </a:lnTo>
                <a:lnTo>
                  <a:pt x="12" y="935"/>
                </a:lnTo>
                <a:close/>
                <a:moveTo>
                  <a:pt x="12" y="959"/>
                </a:moveTo>
                <a:lnTo>
                  <a:pt x="12" y="971"/>
                </a:lnTo>
                <a:lnTo>
                  <a:pt x="0" y="971"/>
                </a:lnTo>
                <a:lnTo>
                  <a:pt x="0" y="959"/>
                </a:lnTo>
                <a:lnTo>
                  <a:pt x="12" y="959"/>
                </a:lnTo>
                <a:close/>
                <a:moveTo>
                  <a:pt x="12" y="983"/>
                </a:moveTo>
                <a:lnTo>
                  <a:pt x="12" y="995"/>
                </a:lnTo>
                <a:lnTo>
                  <a:pt x="0" y="995"/>
                </a:lnTo>
                <a:lnTo>
                  <a:pt x="0" y="983"/>
                </a:lnTo>
                <a:lnTo>
                  <a:pt x="12" y="983"/>
                </a:lnTo>
                <a:close/>
                <a:moveTo>
                  <a:pt x="12" y="1006"/>
                </a:moveTo>
                <a:lnTo>
                  <a:pt x="12" y="1019"/>
                </a:lnTo>
                <a:lnTo>
                  <a:pt x="0" y="1019"/>
                </a:lnTo>
                <a:lnTo>
                  <a:pt x="0" y="1006"/>
                </a:lnTo>
                <a:lnTo>
                  <a:pt x="12" y="1006"/>
                </a:lnTo>
                <a:close/>
                <a:moveTo>
                  <a:pt x="12" y="1031"/>
                </a:moveTo>
                <a:lnTo>
                  <a:pt x="12" y="1042"/>
                </a:lnTo>
                <a:lnTo>
                  <a:pt x="0" y="1042"/>
                </a:lnTo>
                <a:lnTo>
                  <a:pt x="0" y="1031"/>
                </a:lnTo>
                <a:lnTo>
                  <a:pt x="12" y="1031"/>
                </a:lnTo>
                <a:close/>
                <a:moveTo>
                  <a:pt x="12" y="1054"/>
                </a:moveTo>
                <a:lnTo>
                  <a:pt x="12" y="1067"/>
                </a:lnTo>
                <a:lnTo>
                  <a:pt x="0" y="1067"/>
                </a:lnTo>
                <a:lnTo>
                  <a:pt x="0" y="1054"/>
                </a:lnTo>
                <a:lnTo>
                  <a:pt x="12" y="1054"/>
                </a:lnTo>
                <a:close/>
                <a:moveTo>
                  <a:pt x="12" y="1078"/>
                </a:moveTo>
                <a:lnTo>
                  <a:pt x="12" y="1090"/>
                </a:lnTo>
                <a:lnTo>
                  <a:pt x="0" y="1090"/>
                </a:lnTo>
                <a:lnTo>
                  <a:pt x="0" y="1078"/>
                </a:lnTo>
                <a:lnTo>
                  <a:pt x="12" y="1078"/>
                </a:lnTo>
                <a:close/>
                <a:moveTo>
                  <a:pt x="12" y="1102"/>
                </a:moveTo>
                <a:lnTo>
                  <a:pt x="12" y="1114"/>
                </a:lnTo>
                <a:lnTo>
                  <a:pt x="0" y="1114"/>
                </a:lnTo>
                <a:lnTo>
                  <a:pt x="0" y="1102"/>
                </a:lnTo>
                <a:lnTo>
                  <a:pt x="12" y="1102"/>
                </a:lnTo>
                <a:close/>
                <a:moveTo>
                  <a:pt x="12" y="1126"/>
                </a:moveTo>
                <a:lnTo>
                  <a:pt x="12" y="1138"/>
                </a:lnTo>
                <a:lnTo>
                  <a:pt x="0" y="1138"/>
                </a:lnTo>
                <a:lnTo>
                  <a:pt x="0" y="1126"/>
                </a:lnTo>
                <a:lnTo>
                  <a:pt x="12" y="1126"/>
                </a:lnTo>
                <a:close/>
                <a:moveTo>
                  <a:pt x="12" y="1150"/>
                </a:moveTo>
                <a:lnTo>
                  <a:pt x="12" y="1162"/>
                </a:lnTo>
                <a:lnTo>
                  <a:pt x="0" y="1162"/>
                </a:lnTo>
                <a:lnTo>
                  <a:pt x="0" y="1150"/>
                </a:lnTo>
                <a:lnTo>
                  <a:pt x="12" y="1150"/>
                </a:lnTo>
                <a:close/>
                <a:moveTo>
                  <a:pt x="12" y="1174"/>
                </a:moveTo>
                <a:lnTo>
                  <a:pt x="12" y="1186"/>
                </a:lnTo>
                <a:lnTo>
                  <a:pt x="0" y="1186"/>
                </a:lnTo>
                <a:lnTo>
                  <a:pt x="0" y="1174"/>
                </a:lnTo>
                <a:lnTo>
                  <a:pt x="12" y="1174"/>
                </a:lnTo>
                <a:close/>
                <a:moveTo>
                  <a:pt x="12" y="1198"/>
                </a:moveTo>
                <a:lnTo>
                  <a:pt x="12" y="1210"/>
                </a:lnTo>
                <a:lnTo>
                  <a:pt x="0" y="1210"/>
                </a:lnTo>
                <a:lnTo>
                  <a:pt x="0" y="1198"/>
                </a:lnTo>
                <a:lnTo>
                  <a:pt x="12" y="1198"/>
                </a:lnTo>
                <a:close/>
                <a:moveTo>
                  <a:pt x="12" y="1222"/>
                </a:moveTo>
                <a:lnTo>
                  <a:pt x="12" y="1234"/>
                </a:lnTo>
                <a:lnTo>
                  <a:pt x="0" y="1234"/>
                </a:lnTo>
                <a:lnTo>
                  <a:pt x="0" y="1222"/>
                </a:lnTo>
                <a:lnTo>
                  <a:pt x="12" y="1222"/>
                </a:lnTo>
                <a:close/>
                <a:moveTo>
                  <a:pt x="12" y="1246"/>
                </a:moveTo>
                <a:lnTo>
                  <a:pt x="12" y="1258"/>
                </a:lnTo>
                <a:lnTo>
                  <a:pt x="0" y="1258"/>
                </a:lnTo>
                <a:lnTo>
                  <a:pt x="0" y="1246"/>
                </a:lnTo>
                <a:lnTo>
                  <a:pt x="12" y="1246"/>
                </a:lnTo>
                <a:close/>
                <a:moveTo>
                  <a:pt x="12" y="1270"/>
                </a:moveTo>
                <a:lnTo>
                  <a:pt x="12" y="1282"/>
                </a:lnTo>
                <a:lnTo>
                  <a:pt x="0" y="1282"/>
                </a:lnTo>
                <a:lnTo>
                  <a:pt x="0" y="1270"/>
                </a:lnTo>
                <a:lnTo>
                  <a:pt x="12" y="1270"/>
                </a:lnTo>
                <a:close/>
                <a:moveTo>
                  <a:pt x="12" y="1294"/>
                </a:moveTo>
                <a:lnTo>
                  <a:pt x="12" y="1306"/>
                </a:lnTo>
                <a:lnTo>
                  <a:pt x="0" y="1306"/>
                </a:lnTo>
                <a:lnTo>
                  <a:pt x="0" y="1294"/>
                </a:lnTo>
                <a:lnTo>
                  <a:pt x="12" y="1294"/>
                </a:lnTo>
                <a:close/>
                <a:moveTo>
                  <a:pt x="12" y="1318"/>
                </a:moveTo>
                <a:lnTo>
                  <a:pt x="12" y="1330"/>
                </a:lnTo>
                <a:lnTo>
                  <a:pt x="0" y="1330"/>
                </a:lnTo>
                <a:lnTo>
                  <a:pt x="0" y="1318"/>
                </a:lnTo>
                <a:lnTo>
                  <a:pt x="12" y="1318"/>
                </a:lnTo>
                <a:close/>
                <a:moveTo>
                  <a:pt x="12" y="1342"/>
                </a:moveTo>
                <a:lnTo>
                  <a:pt x="12" y="1354"/>
                </a:lnTo>
                <a:lnTo>
                  <a:pt x="0" y="1354"/>
                </a:lnTo>
                <a:lnTo>
                  <a:pt x="0" y="1342"/>
                </a:lnTo>
                <a:lnTo>
                  <a:pt x="12" y="1342"/>
                </a:lnTo>
                <a:close/>
                <a:moveTo>
                  <a:pt x="12" y="1366"/>
                </a:moveTo>
                <a:lnTo>
                  <a:pt x="12" y="1378"/>
                </a:lnTo>
                <a:lnTo>
                  <a:pt x="0" y="1378"/>
                </a:lnTo>
                <a:lnTo>
                  <a:pt x="0" y="1366"/>
                </a:lnTo>
                <a:lnTo>
                  <a:pt x="12" y="1366"/>
                </a:lnTo>
                <a:close/>
                <a:moveTo>
                  <a:pt x="12" y="1390"/>
                </a:moveTo>
                <a:lnTo>
                  <a:pt x="12" y="1402"/>
                </a:lnTo>
                <a:lnTo>
                  <a:pt x="0" y="1402"/>
                </a:lnTo>
                <a:lnTo>
                  <a:pt x="0" y="1390"/>
                </a:lnTo>
                <a:lnTo>
                  <a:pt x="12" y="1390"/>
                </a:lnTo>
                <a:close/>
                <a:moveTo>
                  <a:pt x="12" y="1414"/>
                </a:moveTo>
                <a:lnTo>
                  <a:pt x="12" y="1426"/>
                </a:lnTo>
                <a:lnTo>
                  <a:pt x="0" y="1426"/>
                </a:lnTo>
                <a:lnTo>
                  <a:pt x="0" y="1414"/>
                </a:lnTo>
                <a:lnTo>
                  <a:pt x="12" y="1414"/>
                </a:lnTo>
                <a:close/>
                <a:moveTo>
                  <a:pt x="12" y="1438"/>
                </a:moveTo>
                <a:lnTo>
                  <a:pt x="12" y="1450"/>
                </a:lnTo>
                <a:lnTo>
                  <a:pt x="0" y="1450"/>
                </a:lnTo>
                <a:lnTo>
                  <a:pt x="0" y="1438"/>
                </a:lnTo>
                <a:lnTo>
                  <a:pt x="12" y="1438"/>
                </a:lnTo>
                <a:close/>
                <a:moveTo>
                  <a:pt x="12" y="1462"/>
                </a:moveTo>
                <a:lnTo>
                  <a:pt x="12" y="1474"/>
                </a:lnTo>
                <a:lnTo>
                  <a:pt x="0" y="1474"/>
                </a:lnTo>
                <a:lnTo>
                  <a:pt x="0" y="1462"/>
                </a:lnTo>
                <a:lnTo>
                  <a:pt x="12" y="1462"/>
                </a:lnTo>
                <a:close/>
                <a:moveTo>
                  <a:pt x="12" y="1486"/>
                </a:moveTo>
                <a:lnTo>
                  <a:pt x="12" y="1498"/>
                </a:lnTo>
                <a:lnTo>
                  <a:pt x="0" y="1498"/>
                </a:lnTo>
                <a:lnTo>
                  <a:pt x="0" y="1486"/>
                </a:lnTo>
                <a:lnTo>
                  <a:pt x="12" y="1486"/>
                </a:lnTo>
                <a:close/>
                <a:moveTo>
                  <a:pt x="12" y="1510"/>
                </a:moveTo>
                <a:lnTo>
                  <a:pt x="12" y="1522"/>
                </a:lnTo>
                <a:lnTo>
                  <a:pt x="0" y="1522"/>
                </a:lnTo>
                <a:lnTo>
                  <a:pt x="0" y="1510"/>
                </a:lnTo>
                <a:lnTo>
                  <a:pt x="12" y="1510"/>
                </a:lnTo>
                <a:close/>
                <a:moveTo>
                  <a:pt x="12" y="1534"/>
                </a:moveTo>
                <a:lnTo>
                  <a:pt x="12" y="1545"/>
                </a:lnTo>
                <a:lnTo>
                  <a:pt x="0" y="1545"/>
                </a:lnTo>
                <a:lnTo>
                  <a:pt x="0" y="1534"/>
                </a:lnTo>
                <a:lnTo>
                  <a:pt x="12" y="1534"/>
                </a:lnTo>
                <a:close/>
                <a:moveTo>
                  <a:pt x="12" y="1558"/>
                </a:moveTo>
                <a:lnTo>
                  <a:pt x="12" y="1570"/>
                </a:lnTo>
                <a:lnTo>
                  <a:pt x="0" y="1570"/>
                </a:lnTo>
                <a:lnTo>
                  <a:pt x="0" y="1558"/>
                </a:lnTo>
                <a:lnTo>
                  <a:pt x="12" y="1558"/>
                </a:lnTo>
                <a:close/>
                <a:moveTo>
                  <a:pt x="12" y="1581"/>
                </a:moveTo>
                <a:lnTo>
                  <a:pt x="12" y="1593"/>
                </a:lnTo>
                <a:lnTo>
                  <a:pt x="0" y="1593"/>
                </a:lnTo>
                <a:lnTo>
                  <a:pt x="0" y="1581"/>
                </a:lnTo>
                <a:lnTo>
                  <a:pt x="12" y="1581"/>
                </a:lnTo>
                <a:close/>
                <a:moveTo>
                  <a:pt x="12" y="1606"/>
                </a:moveTo>
                <a:lnTo>
                  <a:pt x="12" y="1617"/>
                </a:lnTo>
                <a:lnTo>
                  <a:pt x="0" y="1617"/>
                </a:lnTo>
                <a:lnTo>
                  <a:pt x="0" y="1606"/>
                </a:lnTo>
                <a:lnTo>
                  <a:pt x="12" y="1606"/>
                </a:lnTo>
                <a:close/>
                <a:moveTo>
                  <a:pt x="12" y="1629"/>
                </a:moveTo>
                <a:lnTo>
                  <a:pt x="12" y="1641"/>
                </a:lnTo>
                <a:lnTo>
                  <a:pt x="0" y="1641"/>
                </a:lnTo>
                <a:lnTo>
                  <a:pt x="0" y="1629"/>
                </a:lnTo>
                <a:lnTo>
                  <a:pt x="12" y="1629"/>
                </a:lnTo>
                <a:close/>
                <a:moveTo>
                  <a:pt x="12" y="1653"/>
                </a:moveTo>
                <a:lnTo>
                  <a:pt x="12" y="1665"/>
                </a:lnTo>
                <a:lnTo>
                  <a:pt x="0" y="1665"/>
                </a:lnTo>
                <a:lnTo>
                  <a:pt x="0" y="1653"/>
                </a:lnTo>
                <a:lnTo>
                  <a:pt x="12" y="1653"/>
                </a:lnTo>
                <a:close/>
                <a:moveTo>
                  <a:pt x="12" y="1677"/>
                </a:moveTo>
                <a:lnTo>
                  <a:pt x="12" y="1689"/>
                </a:lnTo>
                <a:lnTo>
                  <a:pt x="0" y="1689"/>
                </a:lnTo>
                <a:lnTo>
                  <a:pt x="0" y="1677"/>
                </a:lnTo>
                <a:lnTo>
                  <a:pt x="12" y="1677"/>
                </a:lnTo>
                <a:close/>
                <a:moveTo>
                  <a:pt x="12" y="1701"/>
                </a:moveTo>
                <a:lnTo>
                  <a:pt x="12" y="1713"/>
                </a:lnTo>
                <a:lnTo>
                  <a:pt x="0" y="1713"/>
                </a:lnTo>
                <a:lnTo>
                  <a:pt x="0" y="1701"/>
                </a:lnTo>
                <a:lnTo>
                  <a:pt x="12" y="1701"/>
                </a:lnTo>
                <a:close/>
                <a:moveTo>
                  <a:pt x="12" y="1725"/>
                </a:moveTo>
                <a:lnTo>
                  <a:pt x="12" y="1737"/>
                </a:lnTo>
                <a:lnTo>
                  <a:pt x="0" y="1737"/>
                </a:lnTo>
                <a:lnTo>
                  <a:pt x="0" y="1725"/>
                </a:lnTo>
                <a:lnTo>
                  <a:pt x="12" y="1725"/>
                </a:lnTo>
                <a:close/>
                <a:moveTo>
                  <a:pt x="12" y="1749"/>
                </a:moveTo>
                <a:lnTo>
                  <a:pt x="12" y="1761"/>
                </a:lnTo>
                <a:lnTo>
                  <a:pt x="0" y="1761"/>
                </a:lnTo>
                <a:lnTo>
                  <a:pt x="0" y="1749"/>
                </a:lnTo>
                <a:lnTo>
                  <a:pt x="12" y="1749"/>
                </a:lnTo>
                <a:close/>
                <a:moveTo>
                  <a:pt x="12" y="1773"/>
                </a:moveTo>
                <a:lnTo>
                  <a:pt x="12" y="1785"/>
                </a:lnTo>
                <a:lnTo>
                  <a:pt x="0" y="1785"/>
                </a:lnTo>
                <a:lnTo>
                  <a:pt x="0" y="1773"/>
                </a:lnTo>
                <a:lnTo>
                  <a:pt x="12" y="1773"/>
                </a:lnTo>
                <a:close/>
                <a:moveTo>
                  <a:pt x="12" y="1797"/>
                </a:moveTo>
                <a:lnTo>
                  <a:pt x="12" y="1809"/>
                </a:lnTo>
                <a:lnTo>
                  <a:pt x="0" y="1809"/>
                </a:lnTo>
                <a:lnTo>
                  <a:pt x="0" y="1797"/>
                </a:lnTo>
                <a:lnTo>
                  <a:pt x="12" y="1797"/>
                </a:lnTo>
                <a:close/>
                <a:moveTo>
                  <a:pt x="12" y="1821"/>
                </a:moveTo>
                <a:lnTo>
                  <a:pt x="12" y="1833"/>
                </a:lnTo>
                <a:lnTo>
                  <a:pt x="0" y="1833"/>
                </a:lnTo>
                <a:lnTo>
                  <a:pt x="0" y="1821"/>
                </a:lnTo>
                <a:lnTo>
                  <a:pt x="12" y="1821"/>
                </a:lnTo>
                <a:close/>
                <a:moveTo>
                  <a:pt x="12" y="1845"/>
                </a:moveTo>
                <a:lnTo>
                  <a:pt x="12" y="1857"/>
                </a:lnTo>
                <a:lnTo>
                  <a:pt x="0" y="1857"/>
                </a:lnTo>
                <a:lnTo>
                  <a:pt x="0" y="1845"/>
                </a:lnTo>
                <a:lnTo>
                  <a:pt x="12" y="1845"/>
                </a:lnTo>
                <a:close/>
                <a:moveTo>
                  <a:pt x="12" y="1869"/>
                </a:moveTo>
                <a:lnTo>
                  <a:pt x="12" y="1881"/>
                </a:lnTo>
                <a:lnTo>
                  <a:pt x="0" y="1881"/>
                </a:lnTo>
                <a:lnTo>
                  <a:pt x="0" y="1869"/>
                </a:lnTo>
                <a:lnTo>
                  <a:pt x="12" y="1869"/>
                </a:lnTo>
                <a:close/>
                <a:moveTo>
                  <a:pt x="12" y="1893"/>
                </a:moveTo>
                <a:lnTo>
                  <a:pt x="12" y="1905"/>
                </a:lnTo>
                <a:lnTo>
                  <a:pt x="0" y="1905"/>
                </a:lnTo>
                <a:lnTo>
                  <a:pt x="0" y="1893"/>
                </a:lnTo>
                <a:lnTo>
                  <a:pt x="12" y="1893"/>
                </a:lnTo>
                <a:close/>
                <a:moveTo>
                  <a:pt x="12" y="1917"/>
                </a:moveTo>
                <a:lnTo>
                  <a:pt x="12" y="1929"/>
                </a:lnTo>
                <a:lnTo>
                  <a:pt x="0" y="1929"/>
                </a:lnTo>
                <a:lnTo>
                  <a:pt x="0" y="1917"/>
                </a:lnTo>
                <a:lnTo>
                  <a:pt x="12" y="1917"/>
                </a:lnTo>
                <a:close/>
                <a:moveTo>
                  <a:pt x="12" y="1941"/>
                </a:moveTo>
                <a:lnTo>
                  <a:pt x="12" y="1953"/>
                </a:lnTo>
                <a:lnTo>
                  <a:pt x="0" y="1953"/>
                </a:lnTo>
                <a:lnTo>
                  <a:pt x="0" y="1941"/>
                </a:lnTo>
                <a:lnTo>
                  <a:pt x="12" y="1941"/>
                </a:lnTo>
                <a:close/>
                <a:moveTo>
                  <a:pt x="12" y="1965"/>
                </a:moveTo>
                <a:lnTo>
                  <a:pt x="12" y="1977"/>
                </a:lnTo>
                <a:lnTo>
                  <a:pt x="0" y="1977"/>
                </a:lnTo>
                <a:lnTo>
                  <a:pt x="0" y="1965"/>
                </a:lnTo>
                <a:lnTo>
                  <a:pt x="12" y="1965"/>
                </a:lnTo>
                <a:close/>
                <a:moveTo>
                  <a:pt x="12" y="1989"/>
                </a:moveTo>
                <a:lnTo>
                  <a:pt x="12" y="2001"/>
                </a:lnTo>
                <a:lnTo>
                  <a:pt x="0" y="2001"/>
                </a:lnTo>
                <a:lnTo>
                  <a:pt x="0" y="1989"/>
                </a:lnTo>
                <a:lnTo>
                  <a:pt x="12" y="1989"/>
                </a:lnTo>
                <a:close/>
                <a:moveTo>
                  <a:pt x="12" y="2013"/>
                </a:moveTo>
                <a:lnTo>
                  <a:pt x="12" y="2025"/>
                </a:lnTo>
                <a:lnTo>
                  <a:pt x="0" y="2025"/>
                </a:lnTo>
                <a:lnTo>
                  <a:pt x="0" y="2013"/>
                </a:lnTo>
                <a:lnTo>
                  <a:pt x="12" y="2013"/>
                </a:lnTo>
                <a:close/>
                <a:moveTo>
                  <a:pt x="12" y="2037"/>
                </a:moveTo>
                <a:lnTo>
                  <a:pt x="12" y="2049"/>
                </a:lnTo>
                <a:lnTo>
                  <a:pt x="0" y="2049"/>
                </a:lnTo>
                <a:lnTo>
                  <a:pt x="0" y="2037"/>
                </a:lnTo>
                <a:lnTo>
                  <a:pt x="12" y="2037"/>
                </a:lnTo>
                <a:close/>
                <a:moveTo>
                  <a:pt x="12" y="2061"/>
                </a:moveTo>
                <a:lnTo>
                  <a:pt x="12" y="2073"/>
                </a:lnTo>
                <a:lnTo>
                  <a:pt x="0" y="2073"/>
                </a:lnTo>
                <a:lnTo>
                  <a:pt x="0" y="2061"/>
                </a:lnTo>
                <a:lnTo>
                  <a:pt x="12" y="2061"/>
                </a:lnTo>
                <a:close/>
                <a:moveTo>
                  <a:pt x="12" y="2084"/>
                </a:moveTo>
                <a:lnTo>
                  <a:pt x="12" y="2097"/>
                </a:lnTo>
                <a:lnTo>
                  <a:pt x="0" y="2097"/>
                </a:lnTo>
                <a:lnTo>
                  <a:pt x="0" y="2084"/>
                </a:lnTo>
                <a:lnTo>
                  <a:pt x="12" y="2084"/>
                </a:lnTo>
                <a:close/>
                <a:moveTo>
                  <a:pt x="12" y="2109"/>
                </a:moveTo>
                <a:lnTo>
                  <a:pt x="12" y="2120"/>
                </a:lnTo>
                <a:lnTo>
                  <a:pt x="0" y="2120"/>
                </a:lnTo>
                <a:lnTo>
                  <a:pt x="0" y="2109"/>
                </a:lnTo>
                <a:lnTo>
                  <a:pt x="12" y="2109"/>
                </a:lnTo>
                <a:close/>
                <a:moveTo>
                  <a:pt x="12" y="2132"/>
                </a:moveTo>
                <a:lnTo>
                  <a:pt x="12" y="2145"/>
                </a:lnTo>
                <a:lnTo>
                  <a:pt x="0" y="2145"/>
                </a:lnTo>
                <a:lnTo>
                  <a:pt x="0" y="2132"/>
                </a:lnTo>
                <a:lnTo>
                  <a:pt x="12" y="2132"/>
                </a:lnTo>
                <a:close/>
                <a:moveTo>
                  <a:pt x="12" y="2156"/>
                </a:moveTo>
                <a:lnTo>
                  <a:pt x="12" y="2168"/>
                </a:lnTo>
                <a:lnTo>
                  <a:pt x="0" y="2168"/>
                </a:lnTo>
                <a:lnTo>
                  <a:pt x="0" y="2156"/>
                </a:lnTo>
                <a:lnTo>
                  <a:pt x="12" y="2156"/>
                </a:lnTo>
                <a:close/>
                <a:moveTo>
                  <a:pt x="12" y="2180"/>
                </a:moveTo>
                <a:lnTo>
                  <a:pt x="12" y="2192"/>
                </a:lnTo>
                <a:lnTo>
                  <a:pt x="0" y="2192"/>
                </a:lnTo>
                <a:lnTo>
                  <a:pt x="0" y="2180"/>
                </a:lnTo>
                <a:lnTo>
                  <a:pt x="12" y="2180"/>
                </a:lnTo>
                <a:close/>
                <a:moveTo>
                  <a:pt x="12" y="2204"/>
                </a:moveTo>
                <a:lnTo>
                  <a:pt x="12" y="2216"/>
                </a:lnTo>
                <a:lnTo>
                  <a:pt x="0" y="2216"/>
                </a:lnTo>
                <a:lnTo>
                  <a:pt x="0" y="2204"/>
                </a:lnTo>
                <a:lnTo>
                  <a:pt x="12" y="2204"/>
                </a:lnTo>
                <a:close/>
                <a:moveTo>
                  <a:pt x="12" y="2228"/>
                </a:moveTo>
                <a:lnTo>
                  <a:pt x="12" y="2240"/>
                </a:lnTo>
                <a:lnTo>
                  <a:pt x="0" y="2240"/>
                </a:lnTo>
                <a:lnTo>
                  <a:pt x="0" y="2228"/>
                </a:lnTo>
                <a:lnTo>
                  <a:pt x="12" y="2228"/>
                </a:lnTo>
                <a:close/>
                <a:moveTo>
                  <a:pt x="12" y="2252"/>
                </a:moveTo>
                <a:lnTo>
                  <a:pt x="12" y="2264"/>
                </a:lnTo>
                <a:lnTo>
                  <a:pt x="0" y="2264"/>
                </a:lnTo>
                <a:lnTo>
                  <a:pt x="0" y="2252"/>
                </a:lnTo>
                <a:lnTo>
                  <a:pt x="12" y="2252"/>
                </a:lnTo>
                <a:close/>
                <a:moveTo>
                  <a:pt x="12" y="2276"/>
                </a:moveTo>
                <a:lnTo>
                  <a:pt x="12" y="2288"/>
                </a:lnTo>
                <a:lnTo>
                  <a:pt x="0" y="2288"/>
                </a:lnTo>
                <a:lnTo>
                  <a:pt x="0" y="2276"/>
                </a:lnTo>
                <a:lnTo>
                  <a:pt x="12" y="2276"/>
                </a:lnTo>
                <a:close/>
                <a:moveTo>
                  <a:pt x="12" y="2300"/>
                </a:moveTo>
                <a:lnTo>
                  <a:pt x="12" y="2312"/>
                </a:lnTo>
                <a:lnTo>
                  <a:pt x="0" y="2312"/>
                </a:lnTo>
                <a:lnTo>
                  <a:pt x="0" y="2300"/>
                </a:lnTo>
                <a:lnTo>
                  <a:pt x="12" y="2300"/>
                </a:lnTo>
                <a:close/>
                <a:moveTo>
                  <a:pt x="12" y="2324"/>
                </a:moveTo>
                <a:lnTo>
                  <a:pt x="12" y="2336"/>
                </a:lnTo>
                <a:lnTo>
                  <a:pt x="0" y="2336"/>
                </a:lnTo>
                <a:lnTo>
                  <a:pt x="0" y="2324"/>
                </a:lnTo>
                <a:lnTo>
                  <a:pt x="12" y="2324"/>
                </a:lnTo>
                <a:close/>
                <a:moveTo>
                  <a:pt x="12" y="2348"/>
                </a:moveTo>
                <a:lnTo>
                  <a:pt x="12" y="2360"/>
                </a:lnTo>
                <a:lnTo>
                  <a:pt x="0" y="2360"/>
                </a:lnTo>
                <a:lnTo>
                  <a:pt x="0" y="2348"/>
                </a:lnTo>
                <a:lnTo>
                  <a:pt x="12" y="2348"/>
                </a:lnTo>
                <a:close/>
                <a:moveTo>
                  <a:pt x="12" y="2372"/>
                </a:moveTo>
                <a:lnTo>
                  <a:pt x="12" y="2384"/>
                </a:lnTo>
                <a:lnTo>
                  <a:pt x="0" y="2384"/>
                </a:lnTo>
                <a:lnTo>
                  <a:pt x="0" y="2372"/>
                </a:lnTo>
                <a:lnTo>
                  <a:pt x="12" y="2372"/>
                </a:lnTo>
                <a:close/>
                <a:moveTo>
                  <a:pt x="12" y="2396"/>
                </a:moveTo>
                <a:lnTo>
                  <a:pt x="12" y="2408"/>
                </a:lnTo>
                <a:lnTo>
                  <a:pt x="0" y="2408"/>
                </a:lnTo>
                <a:lnTo>
                  <a:pt x="0" y="2396"/>
                </a:lnTo>
                <a:lnTo>
                  <a:pt x="12" y="2396"/>
                </a:lnTo>
                <a:close/>
                <a:moveTo>
                  <a:pt x="12" y="2420"/>
                </a:moveTo>
                <a:lnTo>
                  <a:pt x="12" y="2432"/>
                </a:lnTo>
                <a:lnTo>
                  <a:pt x="0" y="2432"/>
                </a:lnTo>
                <a:lnTo>
                  <a:pt x="0" y="2420"/>
                </a:lnTo>
                <a:lnTo>
                  <a:pt x="12" y="2420"/>
                </a:lnTo>
                <a:close/>
                <a:moveTo>
                  <a:pt x="12" y="2444"/>
                </a:moveTo>
                <a:lnTo>
                  <a:pt x="12" y="2456"/>
                </a:lnTo>
                <a:lnTo>
                  <a:pt x="0" y="2456"/>
                </a:lnTo>
                <a:lnTo>
                  <a:pt x="0" y="2444"/>
                </a:lnTo>
                <a:lnTo>
                  <a:pt x="12" y="2444"/>
                </a:lnTo>
                <a:close/>
                <a:moveTo>
                  <a:pt x="12" y="2468"/>
                </a:moveTo>
                <a:lnTo>
                  <a:pt x="12" y="2480"/>
                </a:lnTo>
                <a:lnTo>
                  <a:pt x="0" y="2480"/>
                </a:lnTo>
                <a:lnTo>
                  <a:pt x="0" y="2468"/>
                </a:lnTo>
                <a:lnTo>
                  <a:pt x="12" y="2468"/>
                </a:lnTo>
                <a:close/>
                <a:moveTo>
                  <a:pt x="12" y="2492"/>
                </a:moveTo>
                <a:lnTo>
                  <a:pt x="12" y="2504"/>
                </a:lnTo>
                <a:lnTo>
                  <a:pt x="0" y="2504"/>
                </a:lnTo>
                <a:lnTo>
                  <a:pt x="0" y="2492"/>
                </a:lnTo>
                <a:lnTo>
                  <a:pt x="12" y="2492"/>
                </a:lnTo>
                <a:close/>
                <a:moveTo>
                  <a:pt x="12" y="2516"/>
                </a:moveTo>
                <a:lnTo>
                  <a:pt x="12" y="2528"/>
                </a:lnTo>
                <a:lnTo>
                  <a:pt x="0" y="2528"/>
                </a:lnTo>
                <a:lnTo>
                  <a:pt x="0" y="2516"/>
                </a:lnTo>
                <a:lnTo>
                  <a:pt x="12" y="2516"/>
                </a:lnTo>
                <a:close/>
                <a:moveTo>
                  <a:pt x="12" y="2540"/>
                </a:moveTo>
                <a:lnTo>
                  <a:pt x="12" y="2552"/>
                </a:lnTo>
                <a:lnTo>
                  <a:pt x="0" y="2552"/>
                </a:lnTo>
                <a:lnTo>
                  <a:pt x="0" y="2540"/>
                </a:lnTo>
                <a:lnTo>
                  <a:pt x="12" y="2540"/>
                </a:lnTo>
                <a:close/>
              </a:path>
            </a:pathLst>
          </a:custGeom>
          <a:solidFill>
            <a:srgbClr val="000000"/>
          </a:solidFill>
          <a:ln w="0" cap="flat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134" name="Freeform 130">
            <a:extLst>
              <a:ext uri="{FF2B5EF4-FFF2-40B4-BE49-F238E27FC236}">
                <a16:creationId xmlns:a16="http://schemas.microsoft.com/office/drawing/2014/main" id="{20258499-F400-47C4-B7C6-99631E4609B1}"/>
              </a:ext>
            </a:extLst>
          </p:cNvPr>
          <p:cNvSpPr>
            <a:spLocks noEditPoints="1"/>
          </p:cNvSpPr>
          <p:nvPr/>
        </p:nvSpPr>
        <p:spPr bwMode="auto">
          <a:xfrm>
            <a:off x="3655405" y="2351594"/>
            <a:ext cx="18000" cy="4032000"/>
          </a:xfrm>
          <a:custGeom>
            <a:avLst/>
            <a:gdLst>
              <a:gd name="T0" fmla="*/ 0 w 12"/>
              <a:gd name="T1" fmla="*/ 24 h 2552"/>
              <a:gd name="T2" fmla="*/ 0 w 12"/>
              <a:gd name="T3" fmla="*/ 84 h 2552"/>
              <a:gd name="T4" fmla="*/ 12 w 12"/>
              <a:gd name="T5" fmla="*/ 132 h 2552"/>
              <a:gd name="T6" fmla="*/ 12 w 12"/>
              <a:gd name="T7" fmla="*/ 168 h 2552"/>
              <a:gd name="T8" fmla="*/ 12 w 12"/>
              <a:gd name="T9" fmla="*/ 192 h 2552"/>
              <a:gd name="T10" fmla="*/ 0 w 12"/>
              <a:gd name="T11" fmla="*/ 240 h 2552"/>
              <a:gd name="T12" fmla="*/ 0 w 12"/>
              <a:gd name="T13" fmla="*/ 300 h 2552"/>
              <a:gd name="T14" fmla="*/ 12 w 12"/>
              <a:gd name="T15" fmla="*/ 348 h 2552"/>
              <a:gd name="T16" fmla="*/ 12 w 12"/>
              <a:gd name="T17" fmla="*/ 384 h 2552"/>
              <a:gd name="T18" fmla="*/ 12 w 12"/>
              <a:gd name="T19" fmla="*/ 408 h 2552"/>
              <a:gd name="T20" fmla="*/ 0 w 12"/>
              <a:gd name="T21" fmla="*/ 456 h 2552"/>
              <a:gd name="T22" fmla="*/ 0 w 12"/>
              <a:gd name="T23" fmla="*/ 515 h 2552"/>
              <a:gd name="T24" fmla="*/ 12 w 12"/>
              <a:gd name="T25" fmla="*/ 563 h 2552"/>
              <a:gd name="T26" fmla="*/ 12 w 12"/>
              <a:gd name="T27" fmla="*/ 599 h 2552"/>
              <a:gd name="T28" fmla="*/ 12 w 12"/>
              <a:gd name="T29" fmla="*/ 623 h 2552"/>
              <a:gd name="T30" fmla="*/ 0 w 12"/>
              <a:gd name="T31" fmla="*/ 671 h 2552"/>
              <a:gd name="T32" fmla="*/ 0 w 12"/>
              <a:gd name="T33" fmla="*/ 731 h 2552"/>
              <a:gd name="T34" fmla="*/ 12 w 12"/>
              <a:gd name="T35" fmla="*/ 779 h 2552"/>
              <a:gd name="T36" fmla="*/ 12 w 12"/>
              <a:gd name="T37" fmla="*/ 815 h 2552"/>
              <a:gd name="T38" fmla="*/ 12 w 12"/>
              <a:gd name="T39" fmla="*/ 839 h 2552"/>
              <a:gd name="T40" fmla="*/ 0 w 12"/>
              <a:gd name="T41" fmla="*/ 887 h 2552"/>
              <a:gd name="T42" fmla="*/ 0 w 12"/>
              <a:gd name="T43" fmla="*/ 947 h 2552"/>
              <a:gd name="T44" fmla="*/ 12 w 12"/>
              <a:gd name="T45" fmla="*/ 995 h 2552"/>
              <a:gd name="T46" fmla="*/ 12 w 12"/>
              <a:gd name="T47" fmla="*/ 1031 h 2552"/>
              <a:gd name="T48" fmla="*/ 12 w 12"/>
              <a:gd name="T49" fmla="*/ 1054 h 2552"/>
              <a:gd name="T50" fmla="*/ 0 w 12"/>
              <a:gd name="T51" fmla="*/ 1102 h 2552"/>
              <a:gd name="T52" fmla="*/ 0 w 12"/>
              <a:gd name="T53" fmla="*/ 1162 h 2552"/>
              <a:gd name="T54" fmla="*/ 12 w 12"/>
              <a:gd name="T55" fmla="*/ 1210 h 2552"/>
              <a:gd name="T56" fmla="*/ 12 w 12"/>
              <a:gd name="T57" fmla="*/ 1246 h 2552"/>
              <a:gd name="T58" fmla="*/ 12 w 12"/>
              <a:gd name="T59" fmla="*/ 1270 h 2552"/>
              <a:gd name="T60" fmla="*/ 0 w 12"/>
              <a:gd name="T61" fmla="*/ 1318 h 2552"/>
              <a:gd name="T62" fmla="*/ 0 w 12"/>
              <a:gd name="T63" fmla="*/ 1378 h 2552"/>
              <a:gd name="T64" fmla="*/ 12 w 12"/>
              <a:gd name="T65" fmla="*/ 1426 h 2552"/>
              <a:gd name="T66" fmla="*/ 12 w 12"/>
              <a:gd name="T67" fmla="*/ 1462 h 2552"/>
              <a:gd name="T68" fmla="*/ 12 w 12"/>
              <a:gd name="T69" fmla="*/ 1486 h 2552"/>
              <a:gd name="T70" fmla="*/ 0 w 12"/>
              <a:gd name="T71" fmla="*/ 1534 h 2552"/>
              <a:gd name="T72" fmla="*/ 0 w 12"/>
              <a:gd name="T73" fmla="*/ 1593 h 2552"/>
              <a:gd name="T74" fmla="*/ 12 w 12"/>
              <a:gd name="T75" fmla="*/ 1641 h 2552"/>
              <a:gd name="T76" fmla="*/ 12 w 12"/>
              <a:gd name="T77" fmla="*/ 1677 h 2552"/>
              <a:gd name="T78" fmla="*/ 12 w 12"/>
              <a:gd name="T79" fmla="*/ 1701 h 2552"/>
              <a:gd name="T80" fmla="*/ 0 w 12"/>
              <a:gd name="T81" fmla="*/ 1749 h 2552"/>
              <a:gd name="T82" fmla="*/ 0 w 12"/>
              <a:gd name="T83" fmla="*/ 1809 h 2552"/>
              <a:gd name="T84" fmla="*/ 12 w 12"/>
              <a:gd name="T85" fmla="*/ 1857 h 2552"/>
              <a:gd name="T86" fmla="*/ 12 w 12"/>
              <a:gd name="T87" fmla="*/ 1893 h 2552"/>
              <a:gd name="T88" fmla="*/ 12 w 12"/>
              <a:gd name="T89" fmla="*/ 1917 h 2552"/>
              <a:gd name="T90" fmla="*/ 0 w 12"/>
              <a:gd name="T91" fmla="*/ 1965 h 2552"/>
              <a:gd name="T92" fmla="*/ 0 w 12"/>
              <a:gd name="T93" fmla="*/ 2025 h 2552"/>
              <a:gd name="T94" fmla="*/ 12 w 12"/>
              <a:gd name="T95" fmla="*/ 2073 h 2552"/>
              <a:gd name="T96" fmla="*/ 12 w 12"/>
              <a:gd name="T97" fmla="*/ 2109 h 2552"/>
              <a:gd name="T98" fmla="*/ 12 w 12"/>
              <a:gd name="T99" fmla="*/ 2132 h 2552"/>
              <a:gd name="T100" fmla="*/ 0 w 12"/>
              <a:gd name="T101" fmla="*/ 2180 h 2552"/>
              <a:gd name="T102" fmla="*/ 0 w 12"/>
              <a:gd name="T103" fmla="*/ 2240 h 2552"/>
              <a:gd name="T104" fmla="*/ 12 w 12"/>
              <a:gd name="T105" fmla="*/ 2288 h 2552"/>
              <a:gd name="T106" fmla="*/ 12 w 12"/>
              <a:gd name="T107" fmla="*/ 2324 h 2552"/>
              <a:gd name="T108" fmla="*/ 12 w 12"/>
              <a:gd name="T109" fmla="*/ 2348 h 2552"/>
              <a:gd name="T110" fmla="*/ 0 w 12"/>
              <a:gd name="T111" fmla="*/ 2396 h 2552"/>
              <a:gd name="T112" fmla="*/ 0 w 12"/>
              <a:gd name="T113" fmla="*/ 2456 h 2552"/>
              <a:gd name="T114" fmla="*/ 12 w 12"/>
              <a:gd name="T115" fmla="*/ 2504 h 2552"/>
              <a:gd name="T116" fmla="*/ 12 w 12"/>
              <a:gd name="T117" fmla="*/ 2540 h 25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12" h="2552">
                <a:moveTo>
                  <a:pt x="12" y="0"/>
                </a:moveTo>
                <a:lnTo>
                  <a:pt x="12" y="12"/>
                </a:lnTo>
                <a:lnTo>
                  <a:pt x="0" y="12"/>
                </a:lnTo>
                <a:lnTo>
                  <a:pt x="0" y="0"/>
                </a:lnTo>
                <a:lnTo>
                  <a:pt x="12" y="0"/>
                </a:lnTo>
                <a:close/>
                <a:moveTo>
                  <a:pt x="12" y="24"/>
                </a:moveTo>
                <a:lnTo>
                  <a:pt x="12" y="36"/>
                </a:lnTo>
                <a:lnTo>
                  <a:pt x="0" y="36"/>
                </a:lnTo>
                <a:lnTo>
                  <a:pt x="0" y="24"/>
                </a:lnTo>
                <a:lnTo>
                  <a:pt x="12" y="24"/>
                </a:lnTo>
                <a:close/>
                <a:moveTo>
                  <a:pt x="12" y="48"/>
                </a:moveTo>
                <a:lnTo>
                  <a:pt x="12" y="60"/>
                </a:lnTo>
                <a:lnTo>
                  <a:pt x="0" y="60"/>
                </a:lnTo>
                <a:lnTo>
                  <a:pt x="0" y="48"/>
                </a:lnTo>
                <a:lnTo>
                  <a:pt x="12" y="48"/>
                </a:lnTo>
                <a:close/>
                <a:moveTo>
                  <a:pt x="12" y="72"/>
                </a:moveTo>
                <a:lnTo>
                  <a:pt x="12" y="84"/>
                </a:lnTo>
                <a:lnTo>
                  <a:pt x="0" y="84"/>
                </a:lnTo>
                <a:lnTo>
                  <a:pt x="0" y="72"/>
                </a:lnTo>
                <a:lnTo>
                  <a:pt x="12" y="72"/>
                </a:lnTo>
                <a:close/>
                <a:moveTo>
                  <a:pt x="12" y="96"/>
                </a:moveTo>
                <a:lnTo>
                  <a:pt x="12" y="108"/>
                </a:lnTo>
                <a:lnTo>
                  <a:pt x="0" y="108"/>
                </a:lnTo>
                <a:lnTo>
                  <a:pt x="0" y="96"/>
                </a:lnTo>
                <a:lnTo>
                  <a:pt x="12" y="96"/>
                </a:lnTo>
                <a:close/>
                <a:moveTo>
                  <a:pt x="12" y="120"/>
                </a:moveTo>
                <a:lnTo>
                  <a:pt x="12" y="132"/>
                </a:lnTo>
                <a:lnTo>
                  <a:pt x="0" y="132"/>
                </a:lnTo>
                <a:lnTo>
                  <a:pt x="0" y="120"/>
                </a:lnTo>
                <a:lnTo>
                  <a:pt x="12" y="120"/>
                </a:lnTo>
                <a:close/>
                <a:moveTo>
                  <a:pt x="12" y="144"/>
                </a:moveTo>
                <a:lnTo>
                  <a:pt x="12" y="156"/>
                </a:lnTo>
                <a:lnTo>
                  <a:pt x="0" y="156"/>
                </a:lnTo>
                <a:lnTo>
                  <a:pt x="0" y="144"/>
                </a:lnTo>
                <a:lnTo>
                  <a:pt x="12" y="144"/>
                </a:lnTo>
                <a:close/>
                <a:moveTo>
                  <a:pt x="12" y="168"/>
                </a:moveTo>
                <a:lnTo>
                  <a:pt x="12" y="180"/>
                </a:lnTo>
                <a:lnTo>
                  <a:pt x="0" y="180"/>
                </a:lnTo>
                <a:lnTo>
                  <a:pt x="0" y="168"/>
                </a:lnTo>
                <a:lnTo>
                  <a:pt x="12" y="168"/>
                </a:lnTo>
                <a:close/>
                <a:moveTo>
                  <a:pt x="12" y="192"/>
                </a:moveTo>
                <a:lnTo>
                  <a:pt x="12" y="204"/>
                </a:lnTo>
                <a:lnTo>
                  <a:pt x="0" y="204"/>
                </a:lnTo>
                <a:lnTo>
                  <a:pt x="0" y="192"/>
                </a:lnTo>
                <a:lnTo>
                  <a:pt x="12" y="192"/>
                </a:lnTo>
                <a:close/>
                <a:moveTo>
                  <a:pt x="12" y="216"/>
                </a:moveTo>
                <a:lnTo>
                  <a:pt x="12" y="228"/>
                </a:lnTo>
                <a:lnTo>
                  <a:pt x="0" y="228"/>
                </a:lnTo>
                <a:lnTo>
                  <a:pt x="0" y="216"/>
                </a:lnTo>
                <a:lnTo>
                  <a:pt x="12" y="216"/>
                </a:lnTo>
                <a:close/>
                <a:moveTo>
                  <a:pt x="12" y="240"/>
                </a:moveTo>
                <a:lnTo>
                  <a:pt x="12" y="252"/>
                </a:lnTo>
                <a:lnTo>
                  <a:pt x="0" y="252"/>
                </a:lnTo>
                <a:lnTo>
                  <a:pt x="0" y="240"/>
                </a:lnTo>
                <a:lnTo>
                  <a:pt x="12" y="240"/>
                </a:lnTo>
                <a:close/>
                <a:moveTo>
                  <a:pt x="12" y="264"/>
                </a:moveTo>
                <a:lnTo>
                  <a:pt x="12" y="276"/>
                </a:lnTo>
                <a:lnTo>
                  <a:pt x="0" y="276"/>
                </a:lnTo>
                <a:lnTo>
                  <a:pt x="0" y="264"/>
                </a:lnTo>
                <a:lnTo>
                  <a:pt x="12" y="264"/>
                </a:lnTo>
                <a:close/>
                <a:moveTo>
                  <a:pt x="12" y="288"/>
                </a:moveTo>
                <a:lnTo>
                  <a:pt x="12" y="300"/>
                </a:lnTo>
                <a:lnTo>
                  <a:pt x="0" y="300"/>
                </a:lnTo>
                <a:lnTo>
                  <a:pt x="0" y="288"/>
                </a:lnTo>
                <a:lnTo>
                  <a:pt x="12" y="288"/>
                </a:lnTo>
                <a:close/>
                <a:moveTo>
                  <a:pt x="12" y="312"/>
                </a:moveTo>
                <a:lnTo>
                  <a:pt x="12" y="324"/>
                </a:lnTo>
                <a:lnTo>
                  <a:pt x="0" y="324"/>
                </a:lnTo>
                <a:lnTo>
                  <a:pt x="0" y="312"/>
                </a:lnTo>
                <a:lnTo>
                  <a:pt x="12" y="312"/>
                </a:lnTo>
                <a:close/>
                <a:moveTo>
                  <a:pt x="12" y="336"/>
                </a:moveTo>
                <a:lnTo>
                  <a:pt x="12" y="348"/>
                </a:lnTo>
                <a:lnTo>
                  <a:pt x="0" y="348"/>
                </a:lnTo>
                <a:lnTo>
                  <a:pt x="0" y="336"/>
                </a:lnTo>
                <a:lnTo>
                  <a:pt x="12" y="336"/>
                </a:lnTo>
                <a:close/>
                <a:moveTo>
                  <a:pt x="12" y="360"/>
                </a:moveTo>
                <a:lnTo>
                  <a:pt x="12" y="372"/>
                </a:lnTo>
                <a:lnTo>
                  <a:pt x="0" y="372"/>
                </a:lnTo>
                <a:lnTo>
                  <a:pt x="0" y="360"/>
                </a:lnTo>
                <a:lnTo>
                  <a:pt x="12" y="360"/>
                </a:lnTo>
                <a:close/>
                <a:moveTo>
                  <a:pt x="12" y="384"/>
                </a:moveTo>
                <a:lnTo>
                  <a:pt x="12" y="396"/>
                </a:lnTo>
                <a:lnTo>
                  <a:pt x="0" y="396"/>
                </a:lnTo>
                <a:lnTo>
                  <a:pt x="0" y="384"/>
                </a:lnTo>
                <a:lnTo>
                  <a:pt x="12" y="384"/>
                </a:lnTo>
                <a:close/>
                <a:moveTo>
                  <a:pt x="12" y="408"/>
                </a:moveTo>
                <a:lnTo>
                  <a:pt x="12" y="420"/>
                </a:lnTo>
                <a:lnTo>
                  <a:pt x="0" y="420"/>
                </a:lnTo>
                <a:lnTo>
                  <a:pt x="0" y="408"/>
                </a:lnTo>
                <a:lnTo>
                  <a:pt x="12" y="408"/>
                </a:lnTo>
                <a:close/>
                <a:moveTo>
                  <a:pt x="12" y="432"/>
                </a:moveTo>
                <a:lnTo>
                  <a:pt x="12" y="444"/>
                </a:lnTo>
                <a:lnTo>
                  <a:pt x="0" y="444"/>
                </a:lnTo>
                <a:lnTo>
                  <a:pt x="0" y="432"/>
                </a:lnTo>
                <a:lnTo>
                  <a:pt x="12" y="432"/>
                </a:lnTo>
                <a:close/>
                <a:moveTo>
                  <a:pt x="12" y="456"/>
                </a:moveTo>
                <a:lnTo>
                  <a:pt x="12" y="467"/>
                </a:lnTo>
                <a:lnTo>
                  <a:pt x="0" y="467"/>
                </a:lnTo>
                <a:lnTo>
                  <a:pt x="0" y="456"/>
                </a:lnTo>
                <a:lnTo>
                  <a:pt x="12" y="456"/>
                </a:lnTo>
                <a:close/>
                <a:moveTo>
                  <a:pt x="12" y="480"/>
                </a:moveTo>
                <a:lnTo>
                  <a:pt x="12" y="492"/>
                </a:lnTo>
                <a:lnTo>
                  <a:pt x="0" y="492"/>
                </a:lnTo>
                <a:lnTo>
                  <a:pt x="0" y="480"/>
                </a:lnTo>
                <a:lnTo>
                  <a:pt x="12" y="480"/>
                </a:lnTo>
                <a:close/>
                <a:moveTo>
                  <a:pt x="12" y="503"/>
                </a:moveTo>
                <a:lnTo>
                  <a:pt x="12" y="515"/>
                </a:lnTo>
                <a:lnTo>
                  <a:pt x="0" y="515"/>
                </a:lnTo>
                <a:lnTo>
                  <a:pt x="0" y="503"/>
                </a:lnTo>
                <a:lnTo>
                  <a:pt x="12" y="503"/>
                </a:lnTo>
                <a:close/>
                <a:moveTo>
                  <a:pt x="12" y="528"/>
                </a:moveTo>
                <a:lnTo>
                  <a:pt x="12" y="539"/>
                </a:lnTo>
                <a:lnTo>
                  <a:pt x="0" y="539"/>
                </a:lnTo>
                <a:lnTo>
                  <a:pt x="0" y="528"/>
                </a:lnTo>
                <a:lnTo>
                  <a:pt x="12" y="528"/>
                </a:lnTo>
                <a:close/>
                <a:moveTo>
                  <a:pt x="12" y="551"/>
                </a:moveTo>
                <a:lnTo>
                  <a:pt x="12" y="563"/>
                </a:lnTo>
                <a:lnTo>
                  <a:pt x="0" y="563"/>
                </a:lnTo>
                <a:lnTo>
                  <a:pt x="0" y="551"/>
                </a:lnTo>
                <a:lnTo>
                  <a:pt x="12" y="551"/>
                </a:lnTo>
                <a:close/>
                <a:moveTo>
                  <a:pt x="12" y="575"/>
                </a:moveTo>
                <a:lnTo>
                  <a:pt x="12" y="587"/>
                </a:lnTo>
                <a:lnTo>
                  <a:pt x="0" y="587"/>
                </a:lnTo>
                <a:lnTo>
                  <a:pt x="0" y="575"/>
                </a:lnTo>
                <a:lnTo>
                  <a:pt x="12" y="575"/>
                </a:lnTo>
                <a:close/>
                <a:moveTo>
                  <a:pt x="12" y="599"/>
                </a:moveTo>
                <a:lnTo>
                  <a:pt x="12" y="611"/>
                </a:lnTo>
                <a:lnTo>
                  <a:pt x="0" y="611"/>
                </a:lnTo>
                <a:lnTo>
                  <a:pt x="0" y="599"/>
                </a:lnTo>
                <a:lnTo>
                  <a:pt x="12" y="599"/>
                </a:lnTo>
                <a:close/>
                <a:moveTo>
                  <a:pt x="12" y="623"/>
                </a:moveTo>
                <a:lnTo>
                  <a:pt x="12" y="635"/>
                </a:lnTo>
                <a:lnTo>
                  <a:pt x="0" y="635"/>
                </a:lnTo>
                <a:lnTo>
                  <a:pt x="0" y="623"/>
                </a:lnTo>
                <a:lnTo>
                  <a:pt x="12" y="623"/>
                </a:lnTo>
                <a:close/>
                <a:moveTo>
                  <a:pt x="12" y="647"/>
                </a:moveTo>
                <a:lnTo>
                  <a:pt x="12" y="659"/>
                </a:lnTo>
                <a:lnTo>
                  <a:pt x="0" y="659"/>
                </a:lnTo>
                <a:lnTo>
                  <a:pt x="0" y="647"/>
                </a:lnTo>
                <a:lnTo>
                  <a:pt x="12" y="647"/>
                </a:lnTo>
                <a:close/>
                <a:moveTo>
                  <a:pt x="12" y="671"/>
                </a:moveTo>
                <a:lnTo>
                  <a:pt x="12" y="683"/>
                </a:lnTo>
                <a:lnTo>
                  <a:pt x="0" y="683"/>
                </a:lnTo>
                <a:lnTo>
                  <a:pt x="0" y="671"/>
                </a:lnTo>
                <a:lnTo>
                  <a:pt x="12" y="671"/>
                </a:lnTo>
                <a:close/>
                <a:moveTo>
                  <a:pt x="12" y="695"/>
                </a:moveTo>
                <a:lnTo>
                  <a:pt x="12" y="707"/>
                </a:lnTo>
                <a:lnTo>
                  <a:pt x="0" y="707"/>
                </a:lnTo>
                <a:lnTo>
                  <a:pt x="0" y="695"/>
                </a:lnTo>
                <a:lnTo>
                  <a:pt x="12" y="695"/>
                </a:lnTo>
                <a:close/>
                <a:moveTo>
                  <a:pt x="12" y="719"/>
                </a:moveTo>
                <a:lnTo>
                  <a:pt x="12" y="731"/>
                </a:lnTo>
                <a:lnTo>
                  <a:pt x="0" y="731"/>
                </a:lnTo>
                <a:lnTo>
                  <a:pt x="0" y="719"/>
                </a:lnTo>
                <a:lnTo>
                  <a:pt x="12" y="719"/>
                </a:lnTo>
                <a:close/>
                <a:moveTo>
                  <a:pt x="12" y="743"/>
                </a:moveTo>
                <a:lnTo>
                  <a:pt x="12" y="755"/>
                </a:lnTo>
                <a:lnTo>
                  <a:pt x="0" y="755"/>
                </a:lnTo>
                <a:lnTo>
                  <a:pt x="0" y="743"/>
                </a:lnTo>
                <a:lnTo>
                  <a:pt x="12" y="743"/>
                </a:lnTo>
                <a:close/>
                <a:moveTo>
                  <a:pt x="12" y="767"/>
                </a:moveTo>
                <a:lnTo>
                  <a:pt x="12" y="779"/>
                </a:lnTo>
                <a:lnTo>
                  <a:pt x="0" y="779"/>
                </a:lnTo>
                <a:lnTo>
                  <a:pt x="0" y="767"/>
                </a:lnTo>
                <a:lnTo>
                  <a:pt x="12" y="767"/>
                </a:lnTo>
                <a:close/>
                <a:moveTo>
                  <a:pt x="12" y="791"/>
                </a:moveTo>
                <a:lnTo>
                  <a:pt x="12" y="803"/>
                </a:lnTo>
                <a:lnTo>
                  <a:pt x="0" y="803"/>
                </a:lnTo>
                <a:lnTo>
                  <a:pt x="0" y="791"/>
                </a:lnTo>
                <a:lnTo>
                  <a:pt x="12" y="791"/>
                </a:lnTo>
                <a:close/>
                <a:moveTo>
                  <a:pt x="12" y="815"/>
                </a:moveTo>
                <a:lnTo>
                  <a:pt x="12" y="827"/>
                </a:lnTo>
                <a:lnTo>
                  <a:pt x="0" y="827"/>
                </a:lnTo>
                <a:lnTo>
                  <a:pt x="0" y="815"/>
                </a:lnTo>
                <a:lnTo>
                  <a:pt x="12" y="815"/>
                </a:lnTo>
                <a:close/>
                <a:moveTo>
                  <a:pt x="12" y="839"/>
                </a:moveTo>
                <a:lnTo>
                  <a:pt x="12" y="851"/>
                </a:lnTo>
                <a:lnTo>
                  <a:pt x="0" y="851"/>
                </a:lnTo>
                <a:lnTo>
                  <a:pt x="0" y="839"/>
                </a:lnTo>
                <a:lnTo>
                  <a:pt x="12" y="839"/>
                </a:lnTo>
                <a:close/>
                <a:moveTo>
                  <a:pt x="12" y="863"/>
                </a:moveTo>
                <a:lnTo>
                  <a:pt x="12" y="875"/>
                </a:lnTo>
                <a:lnTo>
                  <a:pt x="0" y="875"/>
                </a:lnTo>
                <a:lnTo>
                  <a:pt x="0" y="863"/>
                </a:lnTo>
                <a:lnTo>
                  <a:pt x="12" y="863"/>
                </a:lnTo>
                <a:close/>
                <a:moveTo>
                  <a:pt x="12" y="887"/>
                </a:moveTo>
                <a:lnTo>
                  <a:pt x="12" y="899"/>
                </a:lnTo>
                <a:lnTo>
                  <a:pt x="0" y="899"/>
                </a:lnTo>
                <a:lnTo>
                  <a:pt x="0" y="887"/>
                </a:lnTo>
                <a:lnTo>
                  <a:pt x="12" y="887"/>
                </a:lnTo>
                <a:close/>
                <a:moveTo>
                  <a:pt x="12" y="911"/>
                </a:moveTo>
                <a:lnTo>
                  <a:pt x="12" y="923"/>
                </a:lnTo>
                <a:lnTo>
                  <a:pt x="0" y="923"/>
                </a:lnTo>
                <a:lnTo>
                  <a:pt x="0" y="911"/>
                </a:lnTo>
                <a:lnTo>
                  <a:pt x="12" y="911"/>
                </a:lnTo>
                <a:close/>
                <a:moveTo>
                  <a:pt x="12" y="935"/>
                </a:moveTo>
                <a:lnTo>
                  <a:pt x="12" y="947"/>
                </a:lnTo>
                <a:lnTo>
                  <a:pt x="0" y="947"/>
                </a:lnTo>
                <a:lnTo>
                  <a:pt x="0" y="935"/>
                </a:lnTo>
                <a:lnTo>
                  <a:pt x="12" y="935"/>
                </a:lnTo>
                <a:close/>
                <a:moveTo>
                  <a:pt x="12" y="959"/>
                </a:moveTo>
                <a:lnTo>
                  <a:pt x="12" y="971"/>
                </a:lnTo>
                <a:lnTo>
                  <a:pt x="0" y="971"/>
                </a:lnTo>
                <a:lnTo>
                  <a:pt x="0" y="959"/>
                </a:lnTo>
                <a:lnTo>
                  <a:pt x="12" y="959"/>
                </a:lnTo>
                <a:close/>
                <a:moveTo>
                  <a:pt x="12" y="983"/>
                </a:moveTo>
                <a:lnTo>
                  <a:pt x="12" y="995"/>
                </a:lnTo>
                <a:lnTo>
                  <a:pt x="0" y="995"/>
                </a:lnTo>
                <a:lnTo>
                  <a:pt x="0" y="983"/>
                </a:lnTo>
                <a:lnTo>
                  <a:pt x="12" y="983"/>
                </a:lnTo>
                <a:close/>
                <a:moveTo>
                  <a:pt x="12" y="1006"/>
                </a:moveTo>
                <a:lnTo>
                  <a:pt x="12" y="1019"/>
                </a:lnTo>
                <a:lnTo>
                  <a:pt x="0" y="1019"/>
                </a:lnTo>
                <a:lnTo>
                  <a:pt x="0" y="1006"/>
                </a:lnTo>
                <a:lnTo>
                  <a:pt x="12" y="1006"/>
                </a:lnTo>
                <a:close/>
                <a:moveTo>
                  <a:pt x="12" y="1031"/>
                </a:moveTo>
                <a:lnTo>
                  <a:pt x="12" y="1042"/>
                </a:lnTo>
                <a:lnTo>
                  <a:pt x="0" y="1042"/>
                </a:lnTo>
                <a:lnTo>
                  <a:pt x="0" y="1031"/>
                </a:lnTo>
                <a:lnTo>
                  <a:pt x="12" y="1031"/>
                </a:lnTo>
                <a:close/>
                <a:moveTo>
                  <a:pt x="12" y="1054"/>
                </a:moveTo>
                <a:lnTo>
                  <a:pt x="12" y="1067"/>
                </a:lnTo>
                <a:lnTo>
                  <a:pt x="0" y="1067"/>
                </a:lnTo>
                <a:lnTo>
                  <a:pt x="0" y="1054"/>
                </a:lnTo>
                <a:lnTo>
                  <a:pt x="12" y="1054"/>
                </a:lnTo>
                <a:close/>
                <a:moveTo>
                  <a:pt x="12" y="1078"/>
                </a:moveTo>
                <a:lnTo>
                  <a:pt x="12" y="1090"/>
                </a:lnTo>
                <a:lnTo>
                  <a:pt x="0" y="1090"/>
                </a:lnTo>
                <a:lnTo>
                  <a:pt x="0" y="1078"/>
                </a:lnTo>
                <a:lnTo>
                  <a:pt x="12" y="1078"/>
                </a:lnTo>
                <a:close/>
                <a:moveTo>
                  <a:pt x="12" y="1102"/>
                </a:moveTo>
                <a:lnTo>
                  <a:pt x="12" y="1114"/>
                </a:lnTo>
                <a:lnTo>
                  <a:pt x="0" y="1114"/>
                </a:lnTo>
                <a:lnTo>
                  <a:pt x="0" y="1102"/>
                </a:lnTo>
                <a:lnTo>
                  <a:pt x="12" y="1102"/>
                </a:lnTo>
                <a:close/>
                <a:moveTo>
                  <a:pt x="12" y="1126"/>
                </a:moveTo>
                <a:lnTo>
                  <a:pt x="12" y="1138"/>
                </a:lnTo>
                <a:lnTo>
                  <a:pt x="0" y="1138"/>
                </a:lnTo>
                <a:lnTo>
                  <a:pt x="0" y="1126"/>
                </a:lnTo>
                <a:lnTo>
                  <a:pt x="12" y="1126"/>
                </a:lnTo>
                <a:close/>
                <a:moveTo>
                  <a:pt x="12" y="1150"/>
                </a:moveTo>
                <a:lnTo>
                  <a:pt x="12" y="1162"/>
                </a:lnTo>
                <a:lnTo>
                  <a:pt x="0" y="1162"/>
                </a:lnTo>
                <a:lnTo>
                  <a:pt x="0" y="1150"/>
                </a:lnTo>
                <a:lnTo>
                  <a:pt x="12" y="1150"/>
                </a:lnTo>
                <a:close/>
                <a:moveTo>
                  <a:pt x="12" y="1174"/>
                </a:moveTo>
                <a:lnTo>
                  <a:pt x="12" y="1186"/>
                </a:lnTo>
                <a:lnTo>
                  <a:pt x="0" y="1186"/>
                </a:lnTo>
                <a:lnTo>
                  <a:pt x="0" y="1174"/>
                </a:lnTo>
                <a:lnTo>
                  <a:pt x="12" y="1174"/>
                </a:lnTo>
                <a:close/>
                <a:moveTo>
                  <a:pt x="12" y="1198"/>
                </a:moveTo>
                <a:lnTo>
                  <a:pt x="12" y="1210"/>
                </a:lnTo>
                <a:lnTo>
                  <a:pt x="0" y="1210"/>
                </a:lnTo>
                <a:lnTo>
                  <a:pt x="0" y="1198"/>
                </a:lnTo>
                <a:lnTo>
                  <a:pt x="12" y="1198"/>
                </a:lnTo>
                <a:close/>
                <a:moveTo>
                  <a:pt x="12" y="1222"/>
                </a:moveTo>
                <a:lnTo>
                  <a:pt x="12" y="1234"/>
                </a:lnTo>
                <a:lnTo>
                  <a:pt x="0" y="1234"/>
                </a:lnTo>
                <a:lnTo>
                  <a:pt x="0" y="1222"/>
                </a:lnTo>
                <a:lnTo>
                  <a:pt x="12" y="1222"/>
                </a:lnTo>
                <a:close/>
                <a:moveTo>
                  <a:pt x="12" y="1246"/>
                </a:moveTo>
                <a:lnTo>
                  <a:pt x="12" y="1258"/>
                </a:lnTo>
                <a:lnTo>
                  <a:pt x="0" y="1258"/>
                </a:lnTo>
                <a:lnTo>
                  <a:pt x="0" y="1246"/>
                </a:lnTo>
                <a:lnTo>
                  <a:pt x="12" y="1246"/>
                </a:lnTo>
                <a:close/>
                <a:moveTo>
                  <a:pt x="12" y="1270"/>
                </a:moveTo>
                <a:lnTo>
                  <a:pt x="12" y="1282"/>
                </a:lnTo>
                <a:lnTo>
                  <a:pt x="0" y="1282"/>
                </a:lnTo>
                <a:lnTo>
                  <a:pt x="0" y="1270"/>
                </a:lnTo>
                <a:lnTo>
                  <a:pt x="12" y="1270"/>
                </a:lnTo>
                <a:close/>
                <a:moveTo>
                  <a:pt x="12" y="1294"/>
                </a:moveTo>
                <a:lnTo>
                  <a:pt x="12" y="1306"/>
                </a:lnTo>
                <a:lnTo>
                  <a:pt x="0" y="1306"/>
                </a:lnTo>
                <a:lnTo>
                  <a:pt x="0" y="1294"/>
                </a:lnTo>
                <a:lnTo>
                  <a:pt x="12" y="1294"/>
                </a:lnTo>
                <a:close/>
                <a:moveTo>
                  <a:pt x="12" y="1318"/>
                </a:moveTo>
                <a:lnTo>
                  <a:pt x="12" y="1330"/>
                </a:lnTo>
                <a:lnTo>
                  <a:pt x="0" y="1330"/>
                </a:lnTo>
                <a:lnTo>
                  <a:pt x="0" y="1318"/>
                </a:lnTo>
                <a:lnTo>
                  <a:pt x="12" y="1318"/>
                </a:lnTo>
                <a:close/>
                <a:moveTo>
                  <a:pt x="12" y="1342"/>
                </a:moveTo>
                <a:lnTo>
                  <a:pt x="12" y="1354"/>
                </a:lnTo>
                <a:lnTo>
                  <a:pt x="0" y="1354"/>
                </a:lnTo>
                <a:lnTo>
                  <a:pt x="0" y="1342"/>
                </a:lnTo>
                <a:lnTo>
                  <a:pt x="12" y="1342"/>
                </a:lnTo>
                <a:close/>
                <a:moveTo>
                  <a:pt x="12" y="1366"/>
                </a:moveTo>
                <a:lnTo>
                  <a:pt x="12" y="1378"/>
                </a:lnTo>
                <a:lnTo>
                  <a:pt x="0" y="1378"/>
                </a:lnTo>
                <a:lnTo>
                  <a:pt x="0" y="1366"/>
                </a:lnTo>
                <a:lnTo>
                  <a:pt x="12" y="1366"/>
                </a:lnTo>
                <a:close/>
                <a:moveTo>
                  <a:pt x="12" y="1390"/>
                </a:moveTo>
                <a:lnTo>
                  <a:pt x="12" y="1402"/>
                </a:lnTo>
                <a:lnTo>
                  <a:pt x="0" y="1402"/>
                </a:lnTo>
                <a:lnTo>
                  <a:pt x="0" y="1390"/>
                </a:lnTo>
                <a:lnTo>
                  <a:pt x="12" y="1390"/>
                </a:lnTo>
                <a:close/>
                <a:moveTo>
                  <a:pt x="12" y="1414"/>
                </a:moveTo>
                <a:lnTo>
                  <a:pt x="12" y="1426"/>
                </a:lnTo>
                <a:lnTo>
                  <a:pt x="0" y="1426"/>
                </a:lnTo>
                <a:lnTo>
                  <a:pt x="0" y="1414"/>
                </a:lnTo>
                <a:lnTo>
                  <a:pt x="12" y="1414"/>
                </a:lnTo>
                <a:close/>
                <a:moveTo>
                  <a:pt x="12" y="1438"/>
                </a:moveTo>
                <a:lnTo>
                  <a:pt x="12" y="1450"/>
                </a:lnTo>
                <a:lnTo>
                  <a:pt x="0" y="1450"/>
                </a:lnTo>
                <a:lnTo>
                  <a:pt x="0" y="1438"/>
                </a:lnTo>
                <a:lnTo>
                  <a:pt x="12" y="1438"/>
                </a:lnTo>
                <a:close/>
                <a:moveTo>
                  <a:pt x="12" y="1462"/>
                </a:moveTo>
                <a:lnTo>
                  <a:pt x="12" y="1474"/>
                </a:lnTo>
                <a:lnTo>
                  <a:pt x="0" y="1474"/>
                </a:lnTo>
                <a:lnTo>
                  <a:pt x="0" y="1462"/>
                </a:lnTo>
                <a:lnTo>
                  <a:pt x="12" y="1462"/>
                </a:lnTo>
                <a:close/>
                <a:moveTo>
                  <a:pt x="12" y="1486"/>
                </a:moveTo>
                <a:lnTo>
                  <a:pt x="12" y="1498"/>
                </a:lnTo>
                <a:lnTo>
                  <a:pt x="0" y="1498"/>
                </a:lnTo>
                <a:lnTo>
                  <a:pt x="0" y="1486"/>
                </a:lnTo>
                <a:lnTo>
                  <a:pt x="12" y="1486"/>
                </a:lnTo>
                <a:close/>
                <a:moveTo>
                  <a:pt x="12" y="1510"/>
                </a:moveTo>
                <a:lnTo>
                  <a:pt x="12" y="1522"/>
                </a:lnTo>
                <a:lnTo>
                  <a:pt x="0" y="1522"/>
                </a:lnTo>
                <a:lnTo>
                  <a:pt x="0" y="1510"/>
                </a:lnTo>
                <a:lnTo>
                  <a:pt x="12" y="1510"/>
                </a:lnTo>
                <a:close/>
                <a:moveTo>
                  <a:pt x="12" y="1534"/>
                </a:moveTo>
                <a:lnTo>
                  <a:pt x="12" y="1545"/>
                </a:lnTo>
                <a:lnTo>
                  <a:pt x="0" y="1545"/>
                </a:lnTo>
                <a:lnTo>
                  <a:pt x="0" y="1534"/>
                </a:lnTo>
                <a:lnTo>
                  <a:pt x="12" y="1534"/>
                </a:lnTo>
                <a:close/>
                <a:moveTo>
                  <a:pt x="12" y="1558"/>
                </a:moveTo>
                <a:lnTo>
                  <a:pt x="12" y="1570"/>
                </a:lnTo>
                <a:lnTo>
                  <a:pt x="0" y="1570"/>
                </a:lnTo>
                <a:lnTo>
                  <a:pt x="0" y="1558"/>
                </a:lnTo>
                <a:lnTo>
                  <a:pt x="12" y="1558"/>
                </a:lnTo>
                <a:close/>
                <a:moveTo>
                  <a:pt x="12" y="1581"/>
                </a:moveTo>
                <a:lnTo>
                  <a:pt x="12" y="1593"/>
                </a:lnTo>
                <a:lnTo>
                  <a:pt x="0" y="1593"/>
                </a:lnTo>
                <a:lnTo>
                  <a:pt x="0" y="1581"/>
                </a:lnTo>
                <a:lnTo>
                  <a:pt x="12" y="1581"/>
                </a:lnTo>
                <a:close/>
                <a:moveTo>
                  <a:pt x="12" y="1606"/>
                </a:moveTo>
                <a:lnTo>
                  <a:pt x="12" y="1617"/>
                </a:lnTo>
                <a:lnTo>
                  <a:pt x="0" y="1617"/>
                </a:lnTo>
                <a:lnTo>
                  <a:pt x="0" y="1606"/>
                </a:lnTo>
                <a:lnTo>
                  <a:pt x="12" y="1606"/>
                </a:lnTo>
                <a:close/>
                <a:moveTo>
                  <a:pt x="12" y="1629"/>
                </a:moveTo>
                <a:lnTo>
                  <a:pt x="12" y="1641"/>
                </a:lnTo>
                <a:lnTo>
                  <a:pt x="0" y="1641"/>
                </a:lnTo>
                <a:lnTo>
                  <a:pt x="0" y="1629"/>
                </a:lnTo>
                <a:lnTo>
                  <a:pt x="12" y="1629"/>
                </a:lnTo>
                <a:close/>
                <a:moveTo>
                  <a:pt x="12" y="1653"/>
                </a:moveTo>
                <a:lnTo>
                  <a:pt x="12" y="1665"/>
                </a:lnTo>
                <a:lnTo>
                  <a:pt x="0" y="1665"/>
                </a:lnTo>
                <a:lnTo>
                  <a:pt x="0" y="1653"/>
                </a:lnTo>
                <a:lnTo>
                  <a:pt x="12" y="1653"/>
                </a:lnTo>
                <a:close/>
                <a:moveTo>
                  <a:pt x="12" y="1677"/>
                </a:moveTo>
                <a:lnTo>
                  <a:pt x="12" y="1689"/>
                </a:lnTo>
                <a:lnTo>
                  <a:pt x="0" y="1689"/>
                </a:lnTo>
                <a:lnTo>
                  <a:pt x="0" y="1677"/>
                </a:lnTo>
                <a:lnTo>
                  <a:pt x="12" y="1677"/>
                </a:lnTo>
                <a:close/>
                <a:moveTo>
                  <a:pt x="12" y="1701"/>
                </a:moveTo>
                <a:lnTo>
                  <a:pt x="12" y="1713"/>
                </a:lnTo>
                <a:lnTo>
                  <a:pt x="0" y="1713"/>
                </a:lnTo>
                <a:lnTo>
                  <a:pt x="0" y="1701"/>
                </a:lnTo>
                <a:lnTo>
                  <a:pt x="12" y="1701"/>
                </a:lnTo>
                <a:close/>
                <a:moveTo>
                  <a:pt x="12" y="1725"/>
                </a:moveTo>
                <a:lnTo>
                  <a:pt x="12" y="1737"/>
                </a:lnTo>
                <a:lnTo>
                  <a:pt x="0" y="1737"/>
                </a:lnTo>
                <a:lnTo>
                  <a:pt x="0" y="1725"/>
                </a:lnTo>
                <a:lnTo>
                  <a:pt x="12" y="1725"/>
                </a:lnTo>
                <a:close/>
                <a:moveTo>
                  <a:pt x="12" y="1749"/>
                </a:moveTo>
                <a:lnTo>
                  <a:pt x="12" y="1761"/>
                </a:lnTo>
                <a:lnTo>
                  <a:pt x="0" y="1761"/>
                </a:lnTo>
                <a:lnTo>
                  <a:pt x="0" y="1749"/>
                </a:lnTo>
                <a:lnTo>
                  <a:pt x="12" y="1749"/>
                </a:lnTo>
                <a:close/>
                <a:moveTo>
                  <a:pt x="12" y="1773"/>
                </a:moveTo>
                <a:lnTo>
                  <a:pt x="12" y="1785"/>
                </a:lnTo>
                <a:lnTo>
                  <a:pt x="0" y="1785"/>
                </a:lnTo>
                <a:lnTo>
                  <a:pt x="0" y="1773"/>
                </a:lnTo>
                <a:lnTo>
                  <a:pt x="12" y="1773"/>
                </a:lnTo>
                <a:close/>
                <a:moveTo>
                  <a:pt x="12" y="1797"/>
                </a:moveTo>
                <a:lnTo>
                  <a:pt x="12" y="1809"/>
                </a:lnTo>
                <a:lnTo>
                  <a:pt x="0" y="1809"/>
                </a:lnTo>
                <a:lnTo>
                  <a:pt x="0" y="1797"/>
                </a:lnTo>
                <a:lnTo>
                  <a:pt x="12" y="1797"/>
                </a:lnTo>
                <a:close/>
                <a:moveTo>
                  <a:pt x="12" y="1821"/>
                </a:moveTo>
                <a:lnTo>
                  <a:pt x="12" y="1833"/>
                </a:lnTo>
                <a:lnTo>
                  <a:pt x="0" y="1833"/>
                </a:lnTo>
                <a:lnTo>
                  <a:pt x="0" y="1821"/>
                </a:lnTo>
                <a:lnTo>
                  <a:pt x="12" y="1821"/>
                </a:lnTo>
                <a:close/>
                <a:moveTo>
                  <a:pt x="12" y="1845"/>
                </a:moveTo>
                <a:lnTo>
                  <a:pt x="12" y="1857"/>
                </a:lnTo>
                <a:lnTo>
                  <a:pt x="0" y="1857"/>
                </a:lnTo>
                <a:lnTo>
                  <a:pt x="0" y="1845"/>
                </a:lnTo>
                <a:lnTo>
                  <a:pt x="12" y="1845"/>
                </a:lnTo>
                <a:close/>
                <a:moveTo>
                  <a:pt x="12" y="1869"/>
                </a:moveTo>
                <a:lnTo>
                  <a:pt x="12" y="1881"/>
                </a:lnTo>
                <a:lnTo>
                  <a:pt x="0" y="1881"/>
                </a:lnTo>
                <a:lnTo>
                  <a:pt x="0" y="1869"/>
                </a:lnTo>
                <a:lnTo>
                  <a:pt x="12" y="1869"/>
                </a:lnTo>
                <a:close/>
                <a:moveTo>
                  <a:pt x="12" y="1893"/>
                </a:moveTo>
                <a:lnTo>
                  <a:pt x="12" y="1905"/>
                </a:lnTo>
                <a:lnTo>
                  <a:pt x="0" y="1905"/>
                </a:lnTo>
                <a:lnTo>
                  <a:pt x="0" y="1893"/>
                </a:lnTo>
                <a:lnTo>
                  <a:pt x="12" y="1893"/>
                </a:lnTo>
                <a:close/>
                <a:moveTo>
                  <a:pt x="12" y="1917"/>
                </a:moveTo>
                <a:lnTo>
                  <a:pt x="12" y="1929"/>
                </a:lnTo>
                <a:lnTo>
                  <a:pt x="0" y="1929"/>
                </a:lnTo>
                <a:lnTo>
                  <a:pt x="0" y="1917"/>
                </a:lnTo>
                <a:lnTo>
                  <a:pt x="12" y="1917"/>
                </a:lnTo>
                <a:close/>
                <a:moveTo>
                  <a:pt x="12" y="1941"/>
                </a:moveTo>
                <a:lnTo>
                  <a:pt x="12" y="1953"/>
                </a:lnTo>
                <a:lnTo>
                  <a:pt x="0" y="1953"/>
                </a:lnTo>
                <a:lnTo>
                  <a:pt x="0" y="1941"/>
                </a:lnTo>
                <a:lnTo>
                  <a:pt x="12" y="1941"/>
                </a:lnTo>
                <a:close/>
                <a:moveTo>
                  <a:pt x="12" y="1965"/>
                </a:moveTo>
                <a:lnTo>
                  <a:pt x="12" y="1977"/>
                </a:lnTo>
                <a:lnTo>
                  <a:pt x="0" y="1977"/>
                </a:lnTo>
                <a:lnTo>
                  <a:pt x="0" y="1965"/>
                </a:lnTo>
                <a:lnTo>
                  <a:pt x="12" y="1965"/>
                </a:lnTo>
                <a:close/>
                <a:moveTo>
                  <a:pt x="12" y="1989"/>
                </a:moveTo>
                <a:lnTo>
                  <a:pt x="12" y="2001"/>
                </a:lnTo>
                <a:lnTo>
                  <a:pt x="0" y="2001"/>
                </a:lnTo>
                <a:lnTo>
                  <a:pt x="0" y="1989"/>
                </a:lnTo>
                <a:lnTo>
                  <a:pt x="12" y="1989"/>
                </a:lnTo>
                <a:close/>
                <a:moveTo>
                  <a:pt x="12" y="2013"/>
                </a:moveTo>
                <a:lnTo>
                  <a:pt x="12" y="2025"/>
                </a:lnTo>
                <a:lnTo>
                  <a:pt x="0" y="2025"/>
                </a:lnTo>
                <a:lnTo>
                  <a:pt x="0" y="2013"/>
                </a:lnTo>
                <a:lnTo>
                  <a:pt x="12" y="2013"/>
                </a:lnTo>
                <a:close/>
                <a:moveTo>
                  <a:pt x="12" y="2037"/>
                </a:moveTo>
                <a:lnTo>
                  <a:pt x="12" y="2049"/>
                </a:lnTo>
                <a:lnTo>
                  <a:pt x="0" y="2049"/>
                </a:lnTo>
                <a:lnTo>
                  <a:pt x="0" y="2037"/>
                </a:lnTo>
                <a:lnTo>
                  <a:pt x="12" y="2037"/>
                </a:lnTo>
                <a:close/>
                <a:moveTo>
                  <a:pt x="12" y="2061"/>
                </a:moveTo>
                <a:lnTo>
                  <a:pt x="12" y="2073"/>
                </a:lnTo>
                <a:lnTo>
                  <a:pt x="0" y="2073"/>
                </a:lnTo>
                <a:lnTo>
                  <a:pt x="0" y="2061"/>
                </a:lnTo>
                <a:lnTo>
                  <a:pt x="12" y="2061"/>
                </a:lnTo>
                <a:close/>
                <a:moveTo>
                  <a:pt x="12" y="2084"/>
                </a:moveTo>
                <a:lnTo>
                  <a:pt x="12" y="2097"/>
                </a:lnTo>
                <a:lnTo>
                  <a:pt x="0" y="2097"/>
                </a:lnTo>
                <a:lnTo>
                  <a:pt x="0" y="2084"/>
                </a:lnTo>
                <a:lnTo>
                  <a:pt x="12" y="2084"/>
                </a:lnTo>
                <a:close/>
                <a:moveTo>
                  <a:pt x="12" y="2109"/>
                </a:moveTo>
                <a:lnTo>
                  <a:pt x="12" y="2120"/>
                </a:lnTo>
                <a:lnTo>
                  <a:pt x="0" y="2120"/>
                </a:lnTo>
                <a:lnTo>
                  <a:pt x="0" y="2109"/>
                </a:lnTo>
                <a:lnTo>
                  <a:pt x="12" y="2109"/>
                </a:lnTo>
                <a:close/>
                <a:moveTo>
                  <a:pt x="12" y="2132"/>
                </a:moveTo>
                <a:lnTo>
                  <a:pt x="12" y="2145"/>
                </a:lnTo>
                <a:lnTo>
                  <a:pt x="0" y="2145"/>
                </a:lnTo>
                <a:lnTo>
                  <a:pt x="0" y="2132"/>
                </a:lnTo>
                <a:lnTo>
                  <a:pt x="12" y="2132"/>
                </a:lnTo>
                <a:close/>
                <a:moveTo>
                  <a:pt x="12" y="2156"/>
                </a:moveTo>
                <a:lnTo>
                  <a:pt x="12" y="2168"/>
                </a:lnTo>
                <a:lnTo>
                  <a:pt x="0" y="2168"/>
                </a:lnTo>
                <a:lnTo>
                  <a:pt x="0" y="2156"/>
                </a:lnTo>
                <a:lnTo>
                  <a:pt x="12" y="2156"/>
                </a:lnTo>
                <a:close/>
                <a:moveTo>
                  <a:pt x="12" y="2180"/>
                </a:moveTo>
                <a:lnTo>
                  <a:pt x="12" y="2192"/>
                </a:lnTo>
                <a:lnTo>
                  <a:pt x="0" y="2192"/>
                </a:lnTo>
                <a:lnTo>
                  <a:pt x="0" y="2180"/>
                </a:lnTo>
                <a:lnTo>
                  <a:pt x="12" y="2180"/>
                </a:lnTo>
                <a:close/>
                <a:moveTo>
                  <a:pt x="12" y="2204"/>
                </a:moveTo>
                <a:lnTo>
                  <a:pt x="12" y="2216"/>
                </a:lnTo>
                <a:lnTo>
                  <a:pt x="0" y="2216"/>
                </a:lnTo>
                <a:lnTo>
                  <a:pt x="0" y="2204"/>
                </a:lnTo>
                <a:lnTo>
                  <a:pt x="12" y="2204"/>
                </a:lnTo>
                <a:close/>
                <a:moveTo>
                  <a:pt x="12" y="2228"/>
                </a:moveTo>
                <a:lnTo>
                  <a:pt x="12" y="2240"/>
                </a:lnTo>
                <a:lnTo>
                  <a:pt x="0" y="2240"/>
                </a:lnTo>
                <a:lnTo>
                  <a:pt x="0" y="2228"/>
                </a:lnTo>
                <a:lnTo>
                  <a:pt x="12" y="2228"/>
                </a:lnTo>
                <a:close/>
                <a:moveTo>
                  <a:pt x="12" y="2252"/>
                </a:moveTo>
                <a:lnTo>
                  <a:pt x="12" y="2264"/>
                </a:lnTo>
                <a:lnTo>
                  <a:pt x="0" y="2264"/>
                </a:lnTo>
                <a:lnTo>
                  <a:pt x="0" y="2252"/>
                </a:lnTo>
                <a:lnTo>
                  <a:pt x="12" y="2252"/>
                </a:lnTo>
                <a:close/>
                <a:moveTo>
                  <a:pt x="12" y="2276"/>
                </a:moveTo>
                <a:lnTo>
                  <a:pt x="12" y="2288"/>
                </a:lnTo>
                <a:lnTo>
                  <a:pt x="0" y="2288"/>
                </a:lnTo>
                <a:lnTo>
                  <a:pt x="0" y="2276"/>
                </a:lnTo>
                <a:lnTo>
                  <a:pt x="12" y="2276"/>
                </a:lnTo>
                <a:close/>
                <a:moveTo>
                  <a:pt x="12" y="2300"/>
                </a:moveTo>
                <a:lnTo>
                  <a:pt x="12" y="2312"/>
                </a:lnTo>
                <a:lnTo>
                  <a:pt x="0" y="2312"/>
                </a:lnTo>
                <a:lnTo>
                  <a:pt x="0" y="2300"/>
                </a:lnTo>
                <a:lnTo>
                  <a:pt x="12" y="2300"/>
                </a:lnTo>
                <a:close/>
                <a:moveTo>
                  <a:pt x="12" y="2324"/>
                </a:moveTo>
                <a:lnTo>
                  <a:pt x="12" y="2336"/>
                </a:lnTo>
                <a:lnTo>
                  <a:pt x="0" y="2336"/>
                </a:lnTo>
                <a:lnTo>
                  <a:pt x="0" y="2324"/>
                </a:lnTo>
                <a:lnTo>
                  <a:pt x="12" y="2324"/>
                </a:lnTo>
                <a:close/>
                <a:moveTo>
                  <a:pt x="12" y="2348"/>
                </a:moveTo>
                <a:lnTo>
                  <a:pt x="12" y="2360"/>
                </a:lnTo>
                <a:lnTo>
                  <a:pt x="0" y="2360"/>
                </a:lnTo>
                <a:lnTo>
                  <a:pt x="0" y="2348"/>
                </a:lnTo>
                <a:lnTo>
                  <a:pt x="12" y="2348"/>
                </a:lnTo>
                <a:close/>
                <a:moveTo>
                  <a:pt x="12" y="2372"/>
                </a:moveTo>
                <a:lnTo>
                  <a:pt x="12" y="2384"/>
                </a:lnTo>
                <a:lnTo>
                  <a:pt x="0" y="2384"/>
                </a:lnTo>
                <a:lnTo>
                  <a:pt x="0" y="2372"/>
                </a:lnTo>
                <a:lnTo>
                  <a:pt x="12" y="2372"/>
                </a:lnTo>
                <a:close/>
                <a:moveTo>
                  <a:pt x="12" y="2396"/>
                </a:moveTo>
                <a:lnTo>
                  <a:pt x="12" y="2408"/>
                </a:lnTo>
                <a:lnTo>
                  <a:pt x="0" y="2408"/>
                </a:lnTo>
                <a:lnTo>
                  <a:pt x="0" y="2396"/>
                </a:lnTo>
                <a:lnTo>
                  <a:pt x="12" y="2396"/>
                </a:lnTo>
                <a:close/>
                <a:moveTo>
                  <a:pt x="12" y="2420"/>
                </a:moveTo>
                <a:lnTo>
                  <a:pt x="12" y="2432"/>
                </a:lnTo>
                <a:lnTo>
                  <a:pt x="0" y="2432"/>
                </a:lnTo>
                <a:lnTo>
                  <a:pt x="0" y="2420"/>
                </a:lnTo>
                <a:lnTo>
                  <a:pt x="12" y="2420"/>
                </a:lnTo>
                <a:close/>
                <a:moveTo>
                  <a:pt x="12" y="2444"/>
                </a:moveTo>
                <a:lnTo>
                  <a:pt x="12" y="2456"/>
                </a:lnTo>
                <a:lnTo>
                  <a:pt x="0" y="2456"/>
                </a:lnTo>
                <a:lnTo>
                  <a:pt x="0" y="2444"/>
                </a:lnTo>
                <a:lnTo>
                  <a:pt x="12" y="2444"/>
                </a:lnTo>
                <a:close/>
                <a:moveTo>
                  <a:pt x="12" y="2468"/>
                </a:moveTo>
                <a:lnTo>
                  <a:pt x="12" y="2480"/>
                </a:lnTo>
                <a:lnTo>
                  <a:pt x="0" y="2480"/>
                </a:lnTo>
                <a:lnTo>
                  <a:pt x="0" y="2468"/>
                </a:lnTo>
                <a:lnTo>
                  <a:pt x="12" y="2468"/>
                </a:lnTo>
                <a:close/>
                <a:moveTo>
                  <a:pt x="12" y="2492"/>
                </a:moveTo>
                <a:lnTo>
                  <a:pt x="12" y="2504"/>
                </a:lnTo>
                <a:lnTo>
                  <a:pt x="0" y="2504"/>
                </a:lnTo>
                <a:lnTo>
                  <a:pt x="0" y="2492"/>
                </a:lnTo>
                <a:lnTo>
                  <a:pt x="12" y="2492"/>
                </a:lnTo>
                <a:close/>
                <a:moveTo>
                  <a:pt x="12" y="2516"/>
                </a:moveTo>
                <a:lnTo>
                  <a:pt x="12" y="2528"/>
                </a:lnTo>
                <a:lnTo>
                  <a:pt x="0" y="2528"/>
                </a:lnTo>
                <a:lnTo>
                  <a:pt x="0" y="2516"/>
                </a:lnTo>
                <a:lnTo>
                  <a:pt x="12" y="2516"/>
                </a:lnTo>
                <a:close/>
                <a:moveTo>
                  <a:pt x="12" y="2540"/>
                </a:moveTo>
                <a:lnTo>
                  <a:pt x="12" y="2552"/>
                </a:lnTo>
                <a:lnTo>
                  <a:pt x="0" y="2552"/>
                </a:lnTo>
                <a:lnTo>
                  <a:pt x="0" y="2540"/>
                </a:lnTo>
                <a:lnTo>
                  <a:pt x="12" y="2540"/>
                </a:lnTo>
                <a:close/>
              </a:path>
            </a:pathLst>
          </a:custGeom>
          <a:solidFill>
            <a:srgbClr val="000000"/>
          </a:solidFill>
          <a:ln w="0" cap="flat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135" name="Freeform 131">
            <a:extLst>
              <a:ext uri="{FF2B5EF4-FFF2-40B4-BE49-F238E27FC236}">
                <a16:creationId xmlns:a16="http://schemas.microsoft.com/office/drawing/2014/main" id="{E3B03F06-BF4C-405C-A593-D88D62829EF7}"/>
              </a:ext>
            </a:extLst>
          </p:cNvPr>
          <p:cNvSpPr>
            <a:spLocks noEditPoints="1"/>
          </p:cNvSpPr>
          <p:nvPr/>
        </p:nvSpPr>
        <p:spPr bwMode="auto">
          <a:xfrm>
            <a:off x="3142642" y="2351594"/>
            <a:ext cx="18000" cy="4032000"/>
          </a:xfrm>
          <a:custGeom>
            <a:avLst/>
            <a:gdLst>
              <a:gd name="T0" fmla="*/ 0 w 12"/>
              <a:gd name="T1" fmla="*/ 25 h 2552"/>
              <a:gd name="T2" fmla="*/ 0 w 12"/>
              <a:gd name="T3" fmla="*/ 84 h 2552"/>
              <a:gd name="T4" fmla="*/ 12 w 12"/>
              <a:gd name="T5" fmla="*/ 132 h 2552"/>
              <a:gd name="T6" fmla="*/ 12 w 12"/>
              <a:gd name="T7" fmla="*/ 168 h 2552"/>
              <a:gd name="T8" fmla="*/ 12 w 12"/>
              <a:gd name="T9" fmla="*/ 192 h 2552"/>
              <a:gd name="T10" fmla="*/ 0 w 12"/>
              <a:gd name="T11" fmla="*/ 240 h 2552"/>
              <a:gd name="T12" fmla="*/ 0 w 12"/>
              <a:gd name="T13" fmla="*/ 300 h 2552"/>
              <a:gd name="T14" fmla="*/ 12 w 12"/>
              <a:gd name="T15" fmla="*/ 348 h 2552"/>
              <a:gd name="T16" fmla="*/ 12 w 12"/>
              <a:gd name="T17" fmla="*/ 384 h 2552"/>
              <a:gd name="T18" fmla="*/ 12 w 12"/>
              <a:gd name="T19" fmla="*/ 408 h 2552"/>
              <a:gd name="T20" fmla="*/ 0 w 12"/>
              <a:gd name="T21" fmla="*/ 456 h 2552"/>
              <a:gd name="T22" fmla="*/ 0 w 12"/>
              <a:gd name="T23" fmla="*/ 516 h 2552"/>
              <a:gd name="T24" fmla="*/ 12 w 12"/>
              <a:gd name="T25" fmla="*/ 564 h 2552"/>
              <a:gd name="T26" fmla="*/ 12 w 12"/>
              <a:gd name="T27" fmla="*/ 599 h 2552"/>
              <a:gd name="T28" fmla="*/ 12 w 12"/>
              <a:gd name="T29" fmla="*/ 623 h 2552"/>
              <a:gd name="T30" fmla="*/ 0 w 12"/>
              <a:gd name="T31" fmla="*/ 671 h 2552"/>
              <a:gd name="T32" fmla="*/ 0 w 12"/>
              <a:gd name="T33" fmla="*/ 731 h 2552"/>
              <a:gd name="T34" fmla="*/ 12 w 12"/>
              <a:gd name="T35" fmla="*/ 779 h 2552"/>
              <a:gd name="T36" fmla="*/ 12 w 12"/>
              <a:gd name="T37" fmla="*/ 815 h 2552"/>
              <a:gd name="T38" fmla="*/ 12 w 12"/>
              <a:gd name="T39" fmla="*/ 839 h 2552"/>
              <a:gd name="T40" fmla="*/ 0 w 12"/>
              <a:gd name="T41" fmla="*/ 887 h 2552"/>
              <a:gd name="T42" fmla="*/ 0 w 12"/>
              <a:gd name="T43" fmla="*/ 947 h 2552"/>
              <a:gd name="T44" fmla="*/ 12 w 12"/>
              <a:gd name="T45" fmla="*/ 995 h 2552"/>
              <a:gd name="T46" fmla="*/ 12 w 12"/>
              <a:gd name="T47" fmla="*/ 1031 h 2552"/>
              <a:gd name="T48" fmla="*/ 12 w 12"/>
              <a:gd name="T49" fmla="*/ 1055 h 2552"/>
              <a:gd name="T50" fmla="*/ 0 w 12"/>
              <a:gd name="T51" fmla="*/ 1103 h 2552"/>
              <a:gd name="T52" fmla="*/ 0 w 12"/>
              <a:gd name="T53" fmla="*/ 1162 h 2552"/>
              <a:gd name="T54" fmla="*/ 12 w 12"/>
              <a:gd name="T55" fmla="*/ 1210 h 2552"/>
              <a:gd name="T56" fmla="*/ 12 w 12"/>
              <a:gd name="T57" fmla="*/ 1246 h 2552"/>
              <a:gd name="T58" fmla="*/ 12 w 12"/>
              <a:gd name="T59" fmla="*/ 1270 h 2552"/>
              <a:gd name="T60" fmla="*/ 0 w 12"/>
              <a:gd name="T61" fmla="*/ 1318 h 2552"/>
              <a:gd name="T62" fmla="*/ 0 w 12"/>
              <a:gd name="T63" fmla="*/ 1378 h 2552"/>
              <a:gd name="T64" fmla="*/ 12 w 12"/>
              <a:gd name="T65" fmla="*/ 1426 h 2552"/>
              <a:gd name="T66" fmla="*/ 12 w 12"/>
              <a:gd name="T67" fmla="*/ 1462 h 2552"/>
              <a:gd name="T68" fmla="*/ 12 w 12"/>
              <a:gd name="T69" fmla="*/ 1486 h 2552"/>
              <a:gd name="T70" fmla="*/ 0 w 12"/>
              <a:gd name="T71" fmla="*/ 1534 h 2552"/>
              <a:gd name="T72" fmla="*/ 0 w 12"/>
              <a:gd name="T73" fmla="*/ 1594 h 2552"/>
              <a:gd name="T74" fmla="*/ 12 w 12"/>
              <a:gd name="T75" fmla="*/ 1642 h 2552"/>
              <a:gd name="T76" fmla="*/ 12 w 12"/>
              <a:gd name="T77" fmla="*/ 1677 h 2552"/>
              <a:gd name="T78" fmla="*/ 12 w 12"/>
              <a:gd name="T79" fmla="*/ 1701 h 2552"/>
              <a:gd name="T80" fmla="*/ 0 w 12"/>
              <a:gd name="T81" fmla="*/ 1749 h 2552"/>
              <a:gd name="T82" fmla="*/ 0 w 12"/>
              <a:gd name="T83" fmla="*/ 1809 h 2552"/>
              <a:gd name="T84" fmla="*/ 12 w 12"/>
              <a:gd name="T85" fmla="*/ 1857 h 2552"/>
              <a:gd name="T86" fmla="*/ 12 w 12"/>
              <a:gd name="T87" fmla="*/ 1893 h 2552"/>
              <a:gd name="T88" fmla="*/ 12 w 12"/>
              <a:gd name="T89" fmla="*/ 1917 h 2552"/>
              <a:gd name="T90" fmla="*/ 0 w 12"/>
              <a:gd name="T91" fmla="*/ 1965 h 2552"/>
              <a:gd name="T92" fmla="*/ 0 w 12"/>
              <a:gd name="T93" fmla="*/ 2025 h 2552"/>
              <a:gd name="T94" fmla="*/ 12 w 12"/>
              <a:gd name="T95" fmla="*/ 2073 h 2552"/>
              <a:gd name="T96" fmla="*/ 12 w 12"/>
              <a:gd name="T97" fmla="*/ 2109 h 2552"/>
              <a:gd name="T98" fmla="*/ 12 w 12"/>
              <a:gd name="T99" fmla="*/ 2133 h 2552"/>
              <a:gd name="T100" fmla="*/ 0 w 12"/>
              <a:gd name="T101" fmla="*/ 2181 h 2552"/>
              <a:gd name="T102" fmla="*/ 0 w 12"/>
              <a:gd name="T103" fmla="*/ 2240 h 2552"/>
              <a:gd name="T104" fmla="*/ 12 w 12"/>
              <a:gd name="T105" fmla="*/ 2288 h 2552"/>
              <a:gd name="T106" fmla="*/ 12 w 12"/>
              <a:gd name="T107" fmla="*/ 2324 h 2552"/>
              <a:gd name="T108" fmla="*/ 12 w 12"/>
              <a:gd name="T109" fmla="*/ 2348 h 2552"/>
              <a:gd name="T110" fmla="*/ 0 w 12"/>
              <a:gd name="T111" fmla="*/ 2396 h 2552"/>
              <a:gd name="T112" fmla="*/ 0 w 12"/>
              <a:gd name="T113" fmla="*/ 2456 h 2552"/>
              <a:gd name="T114" fmla="*/ 12 w 12"/>
              <a:gd name="T115" fmla="*/ 2504 h 2552"/>
              <a:gd name="T116" fmla="*/ 12 w 12"/>
              <a:gd name="T117" fmla="*/ 2540 h 25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12" h="2552">
                <a:moveTo>
                  <a:pt x="12" y="0"/>
                </a:moveTo>
                <a:lnTo>
                  <a:pt x="12" y="12"/>
                </a:lnTo>
                <a:lnTo>
                  <a:pt x="0" y="12"/>
                </a:lnTo>
                <a:lnTo>
                  <a:pt x="0" y="0"/>
                </a:lnTo>
                <a:lnTo>
                  <a:pt x="12" y="0"/>
                </a:lnTo>
                <a:close/>
                <a:moveTo>
                  <a:pt x="12" y="25"/>
                </a:moveTo>
                <a:lnTo>
                  <a:pt x="12" y="36"/>
                </a:lnTo>
                <a:lnTo>
                  <a:pt x="0" y="36"/>
                </a:lnTo>
                <a:lnTo>
                  <a:pt x="0" y="25"/>
                </a:lnTo>
                <a:lnTo>
                  <a:pt x="12" y="25"/>
                </a:lnTo>
                <a:close/>
                <a:moveTo>
                  <a:pt x="12" y="48"/>
                </a:moveTo>
                <a:lnTo>
                  <a:pt x="12" y="60"/>
                </a:lnTo>
                <a:lnTo>
                  <a:pt x="0" y="60"/>
                </a:lnTo>
                <a:lnTo>
                  <a:pt x="0" y="48"/>
                </a:lnTo>
                <a:lnTo>
                  <a:pt x="12" y="48"/>
                </a:lnTo>
                <a:close/>
                <a:moveTo>
                  <a:pt x="12" y="72"/>
                </a:moveTo>
                <a:lnTo>
                  <a:pt x="12" y="84"/>
                </a:lnTo>
                <a:lnTo>
                  <a:pt x="0" y="84"/>
                </a:lnTo>
                <a:lnTo>
                  <a:pt x="0" y="72"/>
                </a:lnTo>
                <a:lnTo>
                  <a:pt x="12" y="72"/>
                </a:lnTo>
                <a:close/>
                <a:moveTo>
                  <a:pt x="12" y="96"/>
                </a:moveTo>
                <a:lnTo>
                  <a:pt x="12" y="108"/>
                </a:lnTo>
                <a:lnTo>
                  <a:pt x="0" y="108"/>
                </a:lnTo>
                <a:lnTo>
                  <a:pt x="0" y="96"/>
                </a:lnTo>
                <a:lnTo>
                  <a:pt x="12" y="96"/>
                </a:lnTo>
                <a:close/>
                <a:moveTo>
                  <a:pt x="12" y="120"/>
                </a:moveTo>
                <a:lnTo>
                  <a:pt x="12" y="132"/>
                </a:lnTo>
                <a:lnTo>
                  <a:pt x="0" y="132"/>
                </a:lnTo>
                <a:lnTo>
                  <a:pt x="0" y="120"/>
                </a:lnTo>
                <a:lnTo>
                  <a:pt x="12" y="120"/>
                </a:lnTo>
                <a:close/>
                <a:moveTo>
                  <a:pt x="12" y="144"/>
                </a:moveTo>
                <a:lnTo>
                  <a:pt x="12" y="156"/>
                </a:lnTo>
                <a:lnTo>
                  <a:pt x="0" y="156"/>
                </a:lnTo>
                <a:lnTo>
                  <a:pt x="0" y="144"/>
                </a:lnTo>
                <a:lnTo>
                  <a:pt x="12" y="144"/>
                </a:lnTo>
                <a:close/>
                <a:moveTo>
                  <a:pt x="12" y="168"/>
                </a:moveTo>
                <a:lnTo>
                  <a:pt x="12" y="180"/>
                </a:lnTo>
                <a:lnTo>
                  <a:pt x="0" y="180"/>
                </a:lnTo>
                <a:lnTo>
                  <a:pt x="0" y="168"/>
                </a:lnTo>
                <a:lnTo>
                  <a:pt x="12" y="168"/>
                </a:lnTo>
                <a:close/>
                <a:moveTo>
                  <a:pt x="12" y="192"/>
                </a:moveTo>
                <a:lnTo>
                  <a:pt x="12" y="204"/>
                </a:lnTo>
                <a:lnTo>
                  <a:pt x="0" y="204"/>
                </a:lnTo>
                <a:lnTo>
                  <a:pt x="0" y="192"/>
                </a:lnTo>
                <a:lnTo>
                  <a:pt x="12" y="192"/>
                </a:lnTo>
                <a:close/>
                <a:moveTo>
                  <a:pt x="12" y="216"/>
                </a:moveTo>
                <a:lnTo>
                  <a:pt x="12" y="228"/>
                </a:lnTo>
                <a:lnTo>
                  <a:pt x="0" y="228"/>
                </a:lnTo>
                <a:lnTo>
                  <a:pt x="0" y="216"/>
                </a:lnTo>
                <a:lnTo>
                  <a:pt x="12" y="216"/>
                </a:lnTo>
                <a:close/>
                <a:moveTo>
                  <a:pt x="12" y="240"/>
                </a:moveTo>
                <a:lnTo>
                  <a:pt x="12" y="252"/>
                </a:lnTo>
                <a:lnTo>
                  <a:pt x="0" y="252"/>
                </a:lnTo>
                <a:lnTo>
                  <a:pt x="0" y="240"/>
                </a:lnTo>
                <a:lnTo>
                  <a:pt x="12" y="240"/>
                </a:lnTo>
                <a:close/>
                <a:moveTo>
                  <a:pt x="12" y="264"/>
                </a:moveTo>
                <a:lnTo>
                  <a:pt x="12" y="276"/>
                </a:lnTo>
                <a:lnTo>
                  <a:pt x="0" y="276"/>
                </a:lnTo>
                <a:lnTo>
                  <a:pt x="0" y="264"/>
                </a:lnTo>
                <a:lnTo>
                  <a:pt x="12" y="264"/>
                </a:lnTo>
                <a:close/>
                <a:moveTo>
                  <a:pt x="12" y="288"/>
                </a:moveTo>
                <a:lnTo>
                  <a:pt x="12" y="300"/>
                </a:lnTo>
                <a:lnTo>
                  <a:pt x="0" y="300"/>
                </a:lnTo>
                <a:lnTo>
                  <a:pt x="0" y="288"/>
                </a:lnTo>
                <a:lnTo>
                  <a:pt x="12" y="288"/>
                </a:lnTo>
                <a:close/>
                <a:moveTo>
                  <a:pt x="12" y="312"/>
                </a:moveTo>
                <a:lnTo>
                  <a:pt x="12" y="324"/>
                </a:lnTo>
                <a:lnTo>
                  <a:pt x="0" y="324"/>
                </a:lnTo>
                <a:lnTo>
                  <a:pt x="0" y="312"/>
                </a:lnTo>
                <a:lnTo>
                  <a:pt x="12" y="312"/>
                </a:lnTo>
                <a:close/>
                <a:moveTo>
                  <a:pt x="12" y="336"/>
                </a:moveTo>
                <a:lnTo>
                  <a:pt x="12" y="348"/>
                </a:lnTo>
                <a:lnTo>
                  <a:pt x="0" y="348"/>
                </a:lnTo>
                <a:lnTo>
                  <a:pt x="0" y="336"/>
                </a:lnTo>
                <a:lnTo>
                  <a:pt x="12" y="336"/>
                </a:lnTo>
                <a:close/>
                <a:moveTo>
                  <a:pt x="12" y="360"/>
                </a:moveTo>
                <a:lnTo>
                  <a:pt x="12" y="372"/>
                </a:lnTo>
                <a:lnTo>
                  <a:pt x="0" y="372"/>
                </a:lnTo>
                <a:lnTo>
                  <a:pt x="0" y="360"/>
                </a:lnTo>
                <a:lnTo>
                  <a:pt x="12" y="360"/>
                </a:lnTo>
                <a:close/>
                <a:moveTo>
                  <a:pt x="12" y="384"/>
                </a:moveTo>
                <a:lnTo>
                  <a:pt x="12" y="396"/>
                </a:lnTo>
                <a:lnTo>
                  <a:pt x="0" y="396"/>
                </a:lnTo>
                <a:lnTo>
                  <a:pt x="0" y="384"/>
                </a:lnTo>
                <a:lnTo>
                  <a:pt x="12" y="384"/>
                </a:lnTo>
                <a:close/>
                <a:moveTo>
                  <a:pt x="12" y="408"/>
                </a:moveTo>
                <a:lnTo>
                  <a:pt x="12" y="420"/>
                </a:lnTo>
                <a:lnTo>
                  <a:pt x="0" y="420"/>
                </a:lnTo>
                <a:lnTo>
                  <a:pt x="0" y="408"/>
                </a:lnTo>
                <a:lnTo>
                  <a:pt x="12" y="408"/>
                </a:lnTo>
                <a:close/>
                <a:moveTo>
                  <a:pt x="12" y="432"/>
                </a:moveTo>
                <a:lnTo>
                  <a:pt x="12" y="444"/>
                </a:lnTo>
                <a:lnTo>
                  <a:pt x="0" y="444"/>
                </a:lnTo>
                <a:lnTo>
                  <a:pt x="0" y="432"/>
                </a:lnTo>
                <a:lnTo>
                  <a:pt x="12" y="432"/>
                </a:lnTo>
                <a:close/>
                <a:moveTo>
                  <a:pt x="12" y="456"/>
                </a:moveTo>
                <a:lnTo>
                  <a:pt x="12" y="468"/>
                </a:lnTo>
                <a:lnTo>
                  <a:pt x="0" y="468"/>
                </a:lnTo>
                <a:lnTo>
                  <a:pt x="0" y="456"/>
                </a:lnTo>
                <a:lnTo>
                  <a:pt x="12" y="456"/>
                </a:lnTo>
                <a:close/>
                <a:moveTo>
                  <a:pt x="12" y="480"/>
                </a:moveTo>
                <a:lnTo>
                  <a:pt x="12" y="492"/>
                </a:lnTo>
                <a:lnTo>
                  <a:pt x="0" y="492"/>
                </a:lnTo>
                <a:lnTo>
                  <a:pt x="0" y="480"/>
                </a:lnTo>
                <a:lnTo>
                  <a:pt x="12" y="480"/>
                </a:lnTo>
                <a:close/>
                <a:moveTo>
                  <a:pt x="12" y="503"/>
                </a:moveTo>
                <a:lnTo>
                  <a:pt x="12" y="516"/>
                </a:lnTo>
                <a:lnTo>
                  <a:pt x="0" y="516"/>
                </a:lnTo>
                <a:lnTo>
                  <a:pt x="0" y="503"/>
                </a:lnTo>
                <a:lnTo>
                  <a:pt x="12" y="503"/>
                </a:lnTo>
                <a:close/>
                <a:moveTo>
                  <a:pt x="12" y="528"/>
                </a:moveTo>
                <a:lnTo>
                  <a:pt x="12" y="539"/>
                </a:lnTo>
                <a:lnTo>
                  <a:pt x="0" y="539"/>
                </a:lnTo>
                <a:lnTo>
                  <a:pt x="0" y="528"/>
                </a:lnTo>
                <a:lnTo>
                  <a:pt x="12" y="528"/>
                </a:lnTo>
                <a:close/>
                <a:moveTo>
                  <a:pt x="12" y="551"/>
                </a:moveTo>
                <a:lnTo>
                  <a:pt x="12" y="564"/>
                </a:lnTo>
                <a:lnTo>
                  <a:pt x="0" y="564"/>
                </a:lnTo>
                <a:lnTo>
                  <a:pt x="0" y="551"/>
                </a:lnTo>
                <a:lnTo>
                  <a:pt x="12" y="551"/>
                </a:lnTo>
                <a:close/>
                <a:moveTo>
                  <a:pt x="12" y="575"/>
                </a:moveTo>
                <a:lnTo>
                  <a:pt x="12" y="587"/>
                </a:lnTo>
                <a:lnTo>
                  <a:pt x="0" y="587"/>
                </a:lnTo>
                <a:lnTo>
                  <a:pt x="0" y="575"/>
                </a:lnTo>
                <a:lnTo>
                  <a:pt x="12" y="575"/>
                </a:lnTo>
                <a:close/>
                <a:moveTo>
                  <a:pt x="12" y="599"/>
                </a:moveTo>
                <a:lnTo>
                  <a:pt x="12" y="611"/>
                </a:lnTo>
                <a:lnTo>
                  <a:pt x="0" y="611"/>
                </a:lnTo>
                <a:lnTo>
                  <a:pt x="0" y="599"/>
                </a:lnTo>
                <a:lnTo>
                  <a:pt x="12" y="599"/>
                </a:lnTo>
                <a:close/>
                <a:moveTo>
                  <a:pt x="12" y="623"/>
                </a:moveTo>
                <a:lnTo>
                  <a:pt x="12" y="635"/>
                </a:lnTo>
                <a:lnTo>
                  <a:pt x="0" y="635"/>
                </a:lnTo>
                <a:lnTo>
                  <a:pt x="0" y="623"/>
                </a:lnTo>
                <a:lnTo>
                  <a:pt x="12" y="623"/>
                </a:lnTo>
                <a:close/>
                <a:moveTo>
                  <a:pt x="12" y="647"/>
                </a:moveTo>
                <a:lnTo>
                  <a:pt x="12" y="659"/>
                </a:lnTo>
                <a:lnTo>
                  <a:pt x="0" y="659"/>
                </a:lnTo>
                <a:lnTo>
                  <a:pt x="0" y="647"/>
                </a:lnTo>
                <a:lnTo>
                  <a:pt x="12" y="647"/>
                </a:lnTo>
                <a:close/>
                <a:moveTo>
                  <a:pt x="12" y="671"/>
                </a:moveTo>
                <a:lnTo>
                  <a:pt x="12" y="683"/>
                </a:lnTo>
                <a:lnTo>
                  <a:pt x="0" y="683"/>
                </a:lnTo>
                <a:lnTo>
                  <a:pt x="0" y="671"/>
                </a:lnTo>
                <a:lnTo>
                  <a:pt x="12" y="671"/>
                </a:lnTo>
                <a:close/>
                <a:moveTo>
                  <a:pt x="12" y="695"/>
                </a:moveTo>
                <a:lnTo>
                  <a:pt x="12" y="707"/>
                </a:lnTo>
                <a:lnTo>
                  <a:pt x="0" y="707"/>
                </a:lnTo>
                <a:lnTo>
                  <a:pt x="0" y="695"/>
                </a:lnTo>
                <a:lnTo>
                  <a:pt x="12" y="695"/>
                </a:lnTo>
                <a:close/>
                <a:moveTo>
                  <a:pt x="12" y="719"/>
                </a:moveTo>
                <a:lnTo>
                  <a:pt x="12" y="731"/>
                </a:lnTo>
                <a:lnTo>
                  <a:pt x="0" y="731"/>
                </a:lnTo>
                <a:lnTo>
                  <a:pt x="0" y="719"/>
                </a:lnTo>
                <a:lnTo>
                  <a:pt x="12" y="719"/>
                </a:lnTo>
                <a:close/>
                <a:moveTo>
                  <a:pt x="12" y="743"/>
                </a:moveTo>
                <a:lnTo>
                  <a:pt x="12" y="755"/>
                </a:lnTo>
                <a:lnTo>
                  <a:pt x="0" y="755"/>
                </a:lnTo>
                <a:lnTo>
                  <a:pt x="0" y="743"/>
                </a:lnTo>
                <a:lnTo>
                  <a:pt x="12" y="743"/>
                </a:lnTo>
                <a:close/>
                <a:moveTo>
                  <a:pt x="12" y="767"/>
                </a:moveTo>
                <a:lnTo>
                  <a:pt x="12" y="779"/>
                </a:lnTo>
                <a:lnTo>
                  <a:pt x="0" y="779"/>
                </a:lnTo>
                <a:lnTo>
                  <a:pt x="0" y="767"/>
                </a:lnTo>
                <a:lnTo>
                  <a:pt x="12" y="767"/>
                </a:lnTo>
                <a:close/>
                <a:moveTo>
                  <a:pt x="12" y="791"/>
                </a:moveTo>
                <a:lnTo>
                  <a:pt x="12" y="803"/>
                </a:lnTo>
                <a:lnTo>
                  <a:pt x="0" y="803"/>
                </a:lnTo>
                <a:lnTo>
                  <a:pt x="0" y="791"/>
                </a:lnTo>
                <a:lnTo>
                  <a:pt x="12" y="791"/>
                </a:lnTo>
                <a:close/>
                <a:moveTo>
                  <a:pt x="12" y="815"/>
                </a:moveTo>
                <a:lnTo>
                  <a:pt x="12" y="827"/>
                </a:lnTo>
                <a:lnTo>
                  <a:pt x="0" y="827"/>
                </a:lnTo>
                <a:lnTo>
                  <a:pt x="0" y="815"/>
                </a:lnTo>
                <a:lnTo>
                  <a:pt x="12" y="815"/>
                </a:lnTo>
                <a:close/>
                <a:moveTo>
                  <a:pt x="12" y="839"/>
                </a:moveTo>
                <a:lnTo>
                  <a:pt x="12" y="851"/>
                </a:lnTo>
                <a:lnTo>
                  <a:pt x="0" y="851"/>
                </a:lnTo>
                <a:lnTo>
                  <a:pt x="0" y="839"/>
                </a:lnTo>
                <a:lnTo>
                  <a:pt x="12" y="839"/>
                </a:lnTo>
                <a:close/>
                <a:moveTo>
                  <a:pt x="12" y="863"/>
                </a:moveTo>
                <a:lnTo>
                  <a:pt x="12" y="875"/>
                </a:lnTo>
                <a:lnTo>
                  <a:pt x="0" y="875"/>
                </a:lnTo>
                <a:lnTo>
                  <a:pt x="0" y="863"/>
                </a:lnTo>
                <a:lnTo>
                  <a:pt x="12" y="863"/>
                </a:lnTo>
                <a:close/>
                <a:moveTo>
                  <a:pt x="12" y="887"/>
                </a:moveTo>
                <a:lnTo>
                  <a:pt x="12" y="899"/>
                </a:lnTo>
                <a:lnTo>
                  <a:pt x="0" y="899"/>
                </a:lnTo>
                <a:lnTo>
                  <a:pt x="0" y="887"/>
                </a:lnTo>
                <a:lnTo>
                  <a:pt x="12" y="887"/>
                </a:lnTo>
                <a:close/>
                <a:moveTo>
                  <a:pt x="12" y="911"/>
                </a:moveTo>
                <a:lnTo>
                  <a:pt x="12" y="923"/>
                </a:lnTo>
                <a:lnTo>
                  <a:pt x="0" y="923"/>
                </a:lnTo>
                <a:lnTo>
                  <a:pt x="0" y="911"/>
                </a:lnTo>
                <a:lnTo>
                  <a:pt x="12" y="911"/>
                </a:lnTo>
                <a:close/>
                <a:moveTo>
                  <a:pt x="12" y="935"/>
                </a:moveTo>
                <a:lnTo>
                  <a:pt x="12" y="947"/>
                </a:lnTo>
                <a:lnTo>
                  <a:pt x="0" y="947"/>
                </a:lnTo>
                <a:lnTo>
                  <a:pt x="0" y="935"/>
                </a:lnTo>
                <a:lnTo>
                  <a:pt x="12" y="935"/>
                </a:lnTo>
                <a:close/>
                <a:moveTo>
                  <a:pt x="12" y="959"/>
                </a:moveTo>
                <a:lnTo>
                  <a:pt x="12" y="971"/>
                </a:lnTo>
                <a:lnTo>
                  <a:pt x="0" y="971"/>
                </a:lnTo>
                <a:lnTo>
                  <a:pt x="0" y="959"/>
                </a:lnTo>
                <a:lnTo>
                  <a:pt x="12" y="959"/>
                </a:lnTo>
                <a:close/>
                <a:moveTo>
                  <a:pt x="12" y="983"/>
                </a:moveTo>
                <a:lnTo>
                  <a:pt x="12" y="995"/>
                </a:lnTo>
                <a:lnTo>
                  <a:pt x="0" y="995"/>
                </a:lnTo>
                <a:lnTo>
                  <a:pt x="0" y="983"/>
                </a:lnTo>
                <a:lnTo>
                  <a:pt x="12" y="983"/>
                </a:lnTo>
                <a:close/>
                <a:moveTo>
                  <a:pt x="12" y="1007"/>
                </a:moveTo>
                <a:lnTo>
                  <a:pt x="12" y="1019"/>
                </a:lnTo>
                <a:lnTo>
                  <a:pt x="0" y="1019"/>
                </a:lnTo>
                <a:lnTo>
                  <a:pt x="0" y="1007"/>
                </a:lnTo>
                <a:lnTo>
                  <a:pt x="12" y="1007"/>
                </a:lnTo>
                <a:close/>
                <a:moveTo>
                  <a:pt x="12" y="1031"/>
                </a:moveTo>
                <a:lnTo>
                  <a:pt x="12" y="1042"/>
                </a:lnTo>
                <a:lnTo>
                  <a:pt x="0" y="1042"/>
                </a:lnTo>
                <a:lnTo>
                  <a:pt x="0" y="1031"/>
                </a:lnTo>
                <a:lnTo>
                  <a:pt x="12" y="1031"/>
                </a:lnTo>
                <a:close/>
                <a:moveTo>
                  <a:pt x="12" y="1055"/>
                </a:moveTo>
                <a:lnTo>
                  <a:pt x="12" y="1067"/>
                </a:lnTo>
                <a:lnTo>
                  <a:pt x="0" y="1067"/>
                </a:lnTo>
                <a:lnTo>
                  <a:pt x="0" y="1055"/>
                </a:lnTo>
                <a:lnTo>
                  <a:pt x="12" y="1055"/>
                </a:lnTo>
                <a:close/>
                <a:moveTo>
                  <a:pt x="12" y="1078"/>
                </a:moveTo>
                <a:lnTo>
                  <a:pt x="12" y="1090"/>
                </a:lnTo>
                <a:lnTo>
                  <a:pt x="0" y="1090"/>
                </a:lnTo>
                <a:lnTo>
                  <a:pt x="0" y="1078"/>
                </a:lnTo>
                <a:lnTo>
                  <a:pt x="12" y="1078"/>
                </a:lnTo>
                <a:close/>
                <a:moveTo>
                  <a:pt x="12" y="1103"/>
                </a:moveTo>
                <a:lnTo>
                  <a:pt x="12" y="1114"/>
                </a:lnTo>
                <a:lnTo>
                  <a:pt x="0" y="1114"/>
                </a:lnTo>
                <a:lnTo>
                  <a:pt x="0" y="1103"/>
                </a:lnTo>
                <a:lnTo>
                  <a:pt x="12" y="1103"/>
                </a:lnTo>
                <a:close/>
                <a:moveTo>
                  <a:pt x="12" y="1126"/>
                </a:moveTo>
                <a:lnTo>
                  <a:pt x="12" y="1138"/>
                </a:lnTo>
                <a:lnTo>
                  <a:pt x="0" y="1138"/>
                </a:lnTo>
                <a:lnTo>
                  <a:pt x="0" y="1126"/>
                </a:lnTo>
                <a:lnTo>
                  <a:pt x="12" y="1126"/>
                </a:lnTo>
                <a:close/>
                <a:moveTo>
                  <a:pt x="12" y="1150"/>
                </a:moveTo>
                <a:lnTo>
                  <a:pt x="12" y="1162"/>
                </a:lnTo>
                <a:lnTo>
                  <a:pt x="0" y="1162"/>
                </a:lnTo>
                <a:lnTo>
                  <a:pt x="0" y="1150"/>
                </a:lnTo>
                <a:lnTo>
                  <a:pt x="12" y="1150"/>
                </a:lnTo>
                <a:close/>
                <a:moveTo>
                  <a:pt x="12" y="1174"/>
                </a:moveTo>
                <a:lnTo>
                  <a:pt x="12" y="1186"/>
                </a:lnTo>
                <a:lnTo>
                  <a:pt x="0" y="1186"/>
                </a:lnTo>
                <a:lnTo>
                  <a:pt x="0" y="1174"/>
                </a:lnTo>
                <a:lnTo>
                  <a:pt x="12" y="1174"/>
                </a:lnTo>
                <a:close/>
                <a:moveTo>
                  <a:pt x="12" y="1198"/>
                </a:moveTo>
                <a:lnTo>
                  <a:pt x="12" y="1210"/>
                </a:lnTo>
                <a:lnTo>
                  <a:pt x="0" y="1210"/>
                </a:lnTo>
                <a:lnTo>
                  <a:pt x="0" y="1198"/>
                </a:lnTo>
                <a:lnTo>
                  <a:pt x="12" y="1198"/>
                </a:lnTo>
                <a:close/>
                <a:moveTo>
                  <a:pt x="12" y="1222"/>
                </a:moveTo>
                <a:lnTo>
                  <a:pt x="12" y="1234"/>
                </a:lnTo>
                <a:lnTo>
                  <a:pt x="0" y="1234"/>
                </a:lnTo>
                <a:lnTo>
                  <a:pt x="0" y="1222"/>
                </a:lnTo>
                <a:lnTo>
                  <a:pt x="12" y="1222"/>
                </a:lnTo>
                <a:close/>
                <a:moveTo>
                  <a:pt x="12" y="1246"/>
                </a:moveTo>
                <a:lnTo>
                  <a:pt x="12" y="1258"/>
                </a:lnTo>
                <a:lnTo>
                  <a:pt x="0" y="1258"/>
                </a:lnTo>
                <a:lnTo>
                  <a:pt x="0" y="1246"/>
                </a:lnTo>
                <a:lnTo>
                  <a:pt x="12" y="1246"/>
                </a:lnTo>
                <a:close/>
                <a:moveTo>
                  <a:pt x="12" y="1270"/>
                </a:moveTo>
                <a:lnTo>
                  <a:pt x="12" y="1282"/>
                </a:lnTo>
                <a:lnTo>
                  <a:pt x="0" y="1282"/>
                </a:lnTo>
                <a:lnTo>
                  <a:pt x="0" y="1270"/>
                </a:lnTo>
                <a:lnTo>
                  <a:pt x="12" y="1270"/>
                </a:lnTo>
                <a:close/>
                <a:moveTo>
                  <a:pt x="12" y="1294"/>
                </a:moveTo>
                <a:lnTo>
                  <a:pt x="12" y="1306"/>
                </a:lnTo>
                <a:lnTo>
                  <a:pt x="0" y="1306"/>
                </a:lnTo>
                <a:lnTo>
                  <a:pt x="0" y="1294"/>
                </a:lnTo>
                <a:lnTo>
                  <a:pt x="12" y="1294"/>
                </a:lnTo>
                <a:close/>
                <a:moveTo>
                  <a:pt x="12" y="1318"/>
                </a:moveTo>
                <a:lnTo>
                  <a:pt x="12" y="1330"/>
                </a:lnTo>
                <a:lnTo>
                  <a:pt x="0" y="1330"/>
                </a:lnTo>
                <a:lnTo>
                  <a:pt x="0" y="1318"/>
                </a:lnTo>
                <a:lnTo>
                  <a:pt x="12" y="1318"/>
                </a:lnTo>
                <a:close/>
                <a:moveTo>
                  <a:pt x="12" y="1342"/>
                </a:moveTo>
                <a:lnTo>
                  <a:pt x="12" y="1354"/>
                </a:lnTo>
                <a:lnTo>
                  <a:pt x="0" y="1354"/>
                </a:lnTo>
                <a:lnTo>
                  <a:pt x="0" y="1342"/>
                </a:lnTo>
                <a:lnTo>
                  <a:pt x="12" y="1342"/>
                </a:lnTo>
                <a:close/>
                <a:moveTo>
                  <a:pt x="12" y="1366"/>
                </a:moveTo>
                <a:lnTo>
                  <a:pt x="12" y="1378"/>
                </a:lnTo>
                <a:lnTo>
                  <a:pt x="0" y="1378"/>
                </a:lnTo>
                <a:lnTo>
                  <a:pt x="0" y="1366"/>
                </a:lnTo>
                <a:lnTo>
                  <a:pt x="12" y="1366"/>
                </a:lnTo>
                <a:close/>
                <a:moveTo>
                  <a:pt x="12" y="1390"/>
                </a:moveTo>
                <a:lnTo>
                  <a:pt x="12" y="1402"/>
                </a:lnTo>
                <a:lnTo>
                  <a:pt x="0" y="1402"/>
                </a:lnTo>
                <a:lnTo>
                  <a:pt x="0" y="1390"/>
                </a:lnTo>
                <a:lnTo>
                  <a:pt x="12" y="1390"/>
                </a:lnTo>
                <a:close/>
                <a:moveTo>
                  <a:pt x="12" y="1414"/>
                </a:moveTo>
                <a:lnTo>
                  <a:pt x="12" y="1426"/>
                </a:lnTo>
                <a:lnTo>
                  <a:pt x="0" y="1426"/>
                </a:lnTo>
                <a:lnTo>
                  <a:pt x="0" y="1414"/>
                </a:lnTo>
                <a:lnTo>
                  <a:pt x="12" y="1414"/>
                </a:lnTo>
                <a:close/>
                <a:moveTo>
                  <a:pt x="12" y="1438"/>
                </a:moveTo>
                <a:lnTo>
                  <a:pt x="12" y="1450"/>
                </a:lnTo>
                <a:lnTo>
                  <a:pt x="0" y="1450"/>
                </a:lnTo>
                <a:lnTo>
                  <a:pt x="0" y="1438"/>
                </a:lnTo>
                <a:lnTo>
                  <a:pt x="12" y="1438"/>
                </a:lnTo>
                <a:close/>
                <a:moveTo>
                  <a:pt x="12" y="1462"/>
                </a:moveTo>
                <a:lnTo>
                  <a:pt x="12" y="1474"/>
                </a:lnTo>
                <a:lnTo>
                  <a:pt x="0" y="1474"/>
                </a:lnTo>
                <a:lnTo>
                  <a:pt x="0" y="1462"/>
                </a:lnTo>
                <a:lnTo>
                  <a:pt x="12" y="1462"/>
                </a:lnTo>
                <a:close/>
                <a:moveTo>
                  <a:pt x="12" y="1486"/>
                </a:moveTo>
                <a:lnTo>
                  <a:pt x="12" y="1498"/>
                </a:lnTo>
                <a:lnTo>
                  <a:pt x="0" y="1498"/>
                </a:lnTo>
                <a:lnTo>
                  <a:pt x="0" y="1486"/>
                </a:lnTo>
                <a:lnTo>
                  <a:pt x="12" y="1486"/>
                </a:lnTo>
                <a:close/>
                <a:moveTo>
                  <a:pt x="12" y="1510"/>
                </a:moveTo>
                <a:lnTo>
                  <a:pt x="12" y="1522"/>
                </a:lnTo>
                <a:lnTo>
                  <a:pt x="0" y="1522"/>
                </a:lnTo>
                <a:lnTo>
                  <a:pt x="0" y="1510"/>
                </a:lnTo>
                <a:lnTo>
                  <a:pt x="12" y="1510"/>
                </a:lnTo>
                <a:close/>
                <a:moveTo>
                  <a:pt x="12" y="1534"/>
                </a:moveTo>
                <a:lnTo>
                  <a:pt x="12" y="1546"/>
                </a:lnTo>
                <a:lnTo>
                  <a:pt x="0" y="1546"/>
                </a:lnTo>
                <a:lnTo>
                  <a:pt x="0" y="1534"/>
                </a:lnTo>
                <a:lnTo>
                  <a:pt x="12" y="1534"/>
                </a:lnTo>
                <a:close/>
                <a:moveTo>
                  <a:pt x="12" y="1558"/>
                </a:moveTo>
                <a:lnTo>
                  <a:pt x="12" y="1570"/>
                </a:lnTo>
                <a:lnTo>
                  <a:pt x="0" y="1570"/>
                </a:lnTo>
                <a:lnTo>
                  <a:pt x="0" y="1558"/>
                </a:lnTo>
                <a:lnTo>
                  <a:pt x="12" y="1558"/>
                </a:lnTo>
                <a:close/>
                <a:moveTo>
                  <a:pt x="12" y="1581"/>
                </a:moveTo>
                <a:lnTo>
                  <a:pt x="12" y="1594"/>
                </a:lnTo>
                <a:lnTo>
                  <a:pt x="0" y="1594"/>
                </a:lnTo>
                <a:lnTo>
                  <a:pt x="0" y="1581"/>
                </a:lnTo>
                <a:lnTo>
                  <a:pt x="12" y="1581"/>
                </a:lnTo>
                <a:close/>
                <a:moveTo>
                  <a:pt x="12" y="1606"/>
                </a:moveTo>
                <a:lnTo>
                  <a:pt x="12" y="1617"/>
                </a:lnTo>
                <a:lnTo>
                  <a:pt x="0" y="1617"/>
                </a:lnTo>
                <a:lnTo>
                  <a:pt x="0" y="1606"/>
                </a:lnTo>
                <a:lnTo>
                  <a:pt x="12" y="1606"/>
                </a:lnTo>
                <a:close/>
                <a:moveTo>
                  <a:pt x="12" y="1629"/>
                </a:moveTo>
                <a:lnTo>
                  <a:pt x="12" y="1642"/>
                </a:lnTo>
                <a:lnTo>
                  <a:pt x="0" y="1642"/>
                </a:lnTo>
                <a:lnTo>
                  <a:pt x="0" y="1629"/>
                </a:lnTo>
                <a:lnTo>
                  <a:pt x="12" y="1629"/>
                </a:lnTo>
                <a:close/>
                <a:moveTo>
                  <a:pt x="12" y="1653"/>
                </a:moveTo>
                <a:lnTo>
                  <a:pt x="12" y="1665"/>
                </a:lnTo>
                <a:lnTo>
                  <a:pt x="0" y="1665"/>
                </a:lnTo>
                <a:lnTo>
                  <a:pt x="0" y="1653"/>
                </a:lnTo>
                <a:lnTo>
                  <a:pt x="12" y="1653"/>
                </a:lnTo>
                <a:close/>
                <a:moveTo>
                  <a:pt x="12" y="1677"/>
                </a:moveTo>
                <a:lnTo>
                  <a:pt x="12" y="1689"/>
                </a:lnTo>
                <a:lnTo>
                  <a:pt x="0" y="1689"/>
                </a:lnTo>
                <a:lnTo>
                  <a:pt x="0" y="1677"/>
                </a:lnTo>
                <a:lnTo>
                  <a:pt x="12" y="1677"/>
                </a:lnTo>
                <a:close/>
                <a:moveTo>
                  <a:pt x="12" y="1701"/>
                </a:moveTo>
                <a:lnTo>
                  <a:pt x="12" y="1713"/>
                </a:lnTo>
                <a:lnTo>
                  <a:pt x="0" y="1713"/>
                </a:lnTo>
                <a:lnTo>
                  <a:pt x="0" y="1701"/>
                </a:lnTo>
                <a:lnTo>
                  <a:pt x="12" y="1701"/>
                </a:lnTo>
                <a:close/>
                <a:moveTo>
                  <a:pt x="12" y="1725"/>
                </a:moveTo>
                <a:lnTo>
                  <a:pt x="12" y="1737"/>
                </a:lnTo>
                <a:lnTo>
                  <a:pt x="0" y="1737"/>
                </a:lnTo>
                <a:lnTo>
                  <a:pt x="0" y="1725"/>
                </a:lnTo>
                <a:lnTo>
                  <a:pt x="12" y="1725"/>
                </a:lnTo>
                <a:close/>
                <a:moveTo>
                  <a:pt x="12" y="1749"/>
                </a:moveTo>
                <a:lnTo>
                  <a:pt x="12" y="1761"/>
                </a:lnTo>
                <a:lnTo>
                  <a:pt x="0" y="1761"/>
                </a:lnTo>
                <a:lnTo>
                  <a:pt x="0" y="1749"/>
                </a:lnTo>
                <a:lnTo>
                  <a:pt x="12" y="1749"/>
                </a:lnTo>
                <a:close/>
                <a:moveTo>
                  <a:pt x="12" y="1773"/>
                </a:moveTo>
                <a:lnTo>
                  <a:pt x="12" y="1785"/>
                </a:lnTo>
                <a:lnTo>
                  <a:pt x="0" y="1785"/>
                </a:lnTo>
                <a:lnTo>
                  <a:pt x="0" y="1773"/>
                </a:lnTo>
                <a:lnTo>
                  <a:pt x="12" y="1773"/>
                </a:lnTo>
                <a:close/>
                <a:moveTo>
                  <a:pt x="12" y="1797"/>
                </a:moveTo>
                <a:lnTo>
                  <a:pt x="12" y="1809"/>
                </a:lnTo>
                <a:lnTo>
                  <a:pt x="0" y="1809"/>
                </a:lnTo>
                <a:lnTo>
                  <a:pt x="0" y="1797"/>
                </a:lnTo>
                <a:lnTo>
                  <a:pt x="12" y="1797"/>
                </a:lnTo>
                <a:close/>
                <a:moveTo>
                  <a:pt x="12" y="1821"/>
                </a:moveTo>
                <a:lnTo>
                  <a:pt x="12" y="1833"/>
                </a:lnTo>
                <a:lnTo>
                  <a:pt x="0" y="1833"/>
                </a:lnTo>
                <a:lnTo>
                  <a:pt x="0" y="1821"/>
                </a:lnTo>
                <a:lnTo>
                  <a:pt x="12" y="1821"/>
                </a:lnTo>
                <a:close/>
                <a:moveTo>
                  <a:pt x="12" y="1845"/>
                </a:moveTo>
                <a:lnTo>
                  <a:pt x="12" y="1857"/>
                </a:lnTo>
                <a:lnTo>
                  <a:pt x="0" y="1857"/>
                </a:lnTo>
                <a:lnTo>
                  <a:pt x="0" y="1845"/>
                </a:lnTo>
                <a:lnTo>
                  <a:pt x="12" y="1845"/>
                </a:lnTo>
                <a:close/>
                <a:moveTo>
                  <a:pt x="12" y="1869"/>
                </a:moveTo>
                <a:lnTo>
                  <a:pt x="12" y="1881"/>
                </a:lnTo>
                <a:lnTo>
                  <a:pt x="0" y="1881"/>
                </a:lnTo>
                <a:lnTo>
                  <a:pt x="0" y="1869"/>
                </a:lnTo>
                <a:lnTo>
                  <a:pt x="12" y="1869"/>
                </a:lnTo>
                <a:close/>
                <a:moveTo>
                  <a:pt x="12" y="1893"/>
                </a:moveTo>
                <a:lnTo>
                  <a:pt x="12" y="1905"/>
                </a:lnTo>
                <a:lnTo>
                  <a:pt x="0" y="1905"/>
                </a:lnTo>
                <a:lnTo>
                  <a:pt x="0" y="1893"/>
                </a:lnTo>
                <a:lnTo>
                  <a:pt x="12" y="1893"/>
                </a:lnTo>
                <a:close/>
                <a:moveTo>
                  <a:pt x="12" y="1917"/>
                </a:moveTo>
                <a:lnTo>
                  <a:pt x="12" y="1929"/>
                </a:lnTo>
                <a:lnTo>
                  <a:pt x="0" y="1929"/>
                </a:lnTo>
                <a:lnTo>
                  <a:pt x="0" y="1917"/>
                </a:lnTo>
                <a:lnTo>
                  <a:pt x="12" y="1917"/>
                </a:lnTo>
                <a:close/>
                <a:moveTo>
                  <a:pt x="12" y="1941"/>
                </a:moveTo>
                <a:lnTo>
                  <a:pt x="12" y="1953"/>
                </a:lnTo>
                <a:lnTo>
                  <a:pt x="0" y="1953"/>
                </a:lnTo>
                <a:lnTo>
                  <a:pt x="0" y="1941"/>
                </a:lnTo>
                <a:lnTo>
                  <a:pt x="12" y="1941"/>
                </a:lnTo>
                <a:close/>
                <a:moveTo>
                  <a:pt x="12" y="1965"/>
                </a:moveTo>
                <a:lnTo>
                  <a:pt x="12" y="1977"/>
                </a:lnTo>
                <a:lnTo>
                  <a:pt x="0" y="1977"/>
                </a:lnTo>
                <a:lnTo>
                  <a:pt x="0" y="1965"/>
                </a:lnTo>
                <a:lnTo>
                  <a:pt x="12" y="1965"/>
                </a:lnTo>
                <a:close/>
                <a:moveTo>
                  <a:pt x="12" y="1989"/>
                </a:moveTo>
                <a:lnTo>
                  <a:pt x="12" y="2001"/>
                </a:lnTo>
                <a:lnTo>
                  <a:pt x="0" y="2001"/>
                </a:lnTo>
                <a:lnTo>
                  <a:pt x="0" y="1989"/>
                </a:lnTo>
                <a:lnTo>
                  <a:pt x="12" y="1989"/>
                </a:lnTo>
                <a:close/>
                <a:moveTo>
                  <a:pt x="12" y="2013"/>
                </a:moveTo>
                <a:lnTo>
                  <a:pt x="12" y="2025"/>
                </a:lnTo>
                <a:lnTo>
                  <a:pt x="0" y="2025"/>
                </a:lnTo>
                <a:lnTo>
                  <a:pt x="0" y="2013"/>
                </a:lnTo>
                <a:lnTo>
                  <a:pt x="12" y="2013"/>
                </a:lnTo>
                <a:close/>
                <a:moveTo>
                  <a:pt x="12" y="2037"/>
                </a:moveTo>
                <a:lnTo>
                  <a:pt x="12" y="2049"/>
                </a:lnTo>
                <a:lnTo>
                  <a:pt x="0" y="2049"/>
                </a:lnTo>
                <a:lnTo>
                  <a:pt x="0" y="2037"/>
                </a:lnTo>
                <a:lnTo>
                  <a:pt x="12" y="2037"/>
                </a:lnTo>
                <a:close/>
                <a:moveTo>
                  <a:pt x="12" y="2061"/>
                </a:moveTo>
                <a:lnTo>
                  <a:pt x="12" y="2073"/>
                </a:lnTo>
                <a:lnTo>
                  <a:pt x="0" y="2073"/>
                </a:lnTo>
                <a:lnTo>
                  <a:pt x="0" y="2061"/>
                </a:lnTo>
                <a:lnTo>
                  <a:pt x="12" y="2061"/>
                </a:lnTo>
                <a:close/>
                <a:moveTo>
                  <a:pt x="12" y="2085"/>
                </a:moveTo>
                <a:lnTo>
                  <a:pt x="12" y="2097"/>
                </a:lnTo>
                <a:lnTo>
                  <a:pt x="0" y="2097"/>
                </a:lnTo>
                <a:lnTo>
                  <a:pt x="0" y="2085"/>
                </a:lnTo>
                <a:lnTo>
                  <a:pt x="12" y="2085"/>
                </a:lnTo>
                <a:close/>
                <a:moveTo>
                  <a:pt x="12" y="2109"/>
                </a:moveTo>
                <a:lnTo>
                  <a:pt x="12" y="2120"/>
                </a:lnTo>
                <a:lnTo>
                  <a:pt x="0" y="2120"/>
                </a:lnTo>
                <a:lnTo>
                  <a:pt x="0" y="2109"/>
                </a:lnTo>
                <a:lnTo>
                  <a:pt x="12" y="2109"/>
                </a:lnTo>
                <a:close/>
                <a:moveTo>
                  <a:pt x="12" y="2133"/>
                </a:moveTo>
                <a:lnTo>
                  <a:pt x="12" y="2145"/>
                </a:lnTo>
                <a:lnTo>
                  <a:pt x="0" y="2145"/>
                </a:lnTo>
                <a:lnTo>
                  <a:pt x="0" y="2133"/>
                </a:lnTo>
                <a:lnTo>
                  <a:pt x="12" y="2133"/>
                </a:lnTo>
                <a:close/>
                <a:moveTo>
                  <a:pt x="12" y="2156"/>
                </a:moveTo>
                <a:lnTo>
                  <a:pt x="12" y="2168"/>
                </a:lnTo>
                <a:lnTo>
                  <a:pt x="0" y="2168"/>
                </a:lnTo>
                <a:lnTo>
                  <a:pt x="0" y="2156"/>
                </a:lnTo>
                <a:lnTo>
                  <a:pt x="12" y="2156"/>
                </a:lnTo>
                <a:close/>
                <a:moveTo>
                  <a:pt x="12" y="2181"/>
                </a:moveTo>
                <a:lnTo>
                  <a:pt x="12" y="2192"/>
                </a:lnTo>
                <a:lnTo>
                  <a:pt x="0" y="2192"/>
                </a:lnTo>
                <a:lnTo>
                  <a:pt x="0" y="2181"/>
                </a:lnTo>
                <a:lnTo>
                  <a:pt x="12" y="2181"/>
                </a:lnTo>
                <a:close/>
                <a:moveTo>
                  <a:pt x="12" y="2204"/>
                </a:moveTo>
                <a:lnTo>
                  <a:pt x="12" y="2216"/>
                </a:lnTo>
                <a:lnTo>
                  <a:pt x="0" y="2216"/>
                </a:lnTo>
                <a:lnTo>
                  <a:pt x="0" y="2204"/>
                </a:lnTo>
                <a:lnTo>
                  <a:pt x="12" y="2204"/>
                </a:lnTo>
                <a:close/>
                <a:moveTo>
                  <a:pt x="12" y="2228"/>
                </a:moveTo>
                <a:lnTo>
                  <a:pt x="12" y="2240"/>
                </a:lnTo>
                <a:lnTo>
                  <a:pt x="0" y="2240"/>
                </a:lnTo>
                <a:lnTo>
                  <a:pt x="0" y="2228"/>
                </a:lnTo>
                <a:lnTo>
                  <a:pt x="12" y="2228"/>
                </a:lnTo>
                <a:close/>
                <a:moveTo>
                  <a:pt x="12" y="2252"/>
                </a:moveTo>
                <a:lnTo>
                  <a:pt x="12" y="2264"/>
                </a:lnTo>
                <a:lnTo>
                  <a:pt x="0" y="2264"/>
                </a:lnTo>
                <a:lnTo>
                  <a:pt x="0" y="2252"/>
                </a:lnTo>
                <a:lnTo>
                  <a:pt x="12" y="2252"/>
                </a:lnTo>
                <a:close/>
                <a:moveTo>
                  <a:pt x="12" y="2276"/>
                </a:moveTo>
                <a:lnTo>
                  <a:pt x="12" y="2288"/>
                </a:lnTo>
                <a:lnTo>
                  <a:pt x="0" y="2288"/>
                </a:lnTo>
                <a:lnTo>
                  <a:pt x="0" y="2276"/>
                </a:lnTo>
                <a:lnTo>
                  <a:pt x="12" y="2276"/>
                </a:lnTo>
                <a:close/>
                <a:moveTo>
                  <a:pt x="12" y="2300"/>
                </a:moveTo>
                <a:lnTo>
                  <a:pt x="12" y="2312"/>
                </a:lnTo>
                <a:lnTo>
                  <a:pt x="0" y="2312"/>
                </a:lnTo>
                <a:lnTo>
                  <a:pt x="0" y="2300"/>
                </a:lnTo>
                <a:lnTo>
                  <a:pt x="12" y="2300"/>
                </a:lnTo>
                <a:close/>
                <a:moveTo>
                  <a:pt x="12" y="2324"/>
                </a:moveTo>
                <a:lnTo>
                  <a:pt x="12" y="2336"/>
                </a:lnTo>
                <a:lnTo>
                  <a:pt x="0" y="2336"/>
                </a:lnTo>
                <a:lnTo>
                  <a:pt x="0" y="2324"/>
                </a:lnTo>
                <a:lnTo>
                  <a:pt x="12" y="2324"/>
                </a:lnTo>
                <a:close/>
                <a:moveTo>
                  <a:pt x="12" y="2348"/>
                </a:moveTo>
                <a:lnTo>
                  <a:pt x="12" y="2360"/>
                </a:lnTo>
                <a:lnTo>
                  <a:pt x="0" y="2360"/>
                </a:lnTo>
                <a:lnTo>
                  <a:pt x="0" y="2348"/>
                </a:lnTo>
                <a:lnTo>
                  <a:pt x="12" y="2348"/>
                </a:lnTo>
                <a:close/>
                <a:moveTo>
                  <a:pt x="12" y="2372"/>
                </a:moveTo>
                <a:lnTo>
                  <a:pt x="12" y="2384"/>
                </a:lnTo>
                <a:lnTo>
                  <a:pt x="0" y="2384"/>
                </a:lnTo>
                <a:lnTo>
                  <a:pt x="0" y="2372"/>
                </a:lnTo>
                <a:lnTo>
                  <a:pt x="12" y="2372"/>
                </a:lnTo>
                <a:close/>
                <a:moveTo>
                  <a:pt x="12" y="2396"/>
                </a:moveTo>
                <a:lnTo>
                  <a:pt x="12" y="2408"/>
                </a:lnTo>
                <a:lnTo>
                  <a:pt x="0" y="2408"/>
                </a:lnTo>
                <a:lnTo>
                  <a:pt x="0" y="2396"/>
                </a:lnTo>
                <a:lnTo>
                  <a:pt x="12" y="2396"/>
                </a:lnTo>
                <a:close/>
                <a:moveTo>
                  <a:pt x="12" y="2420"/>
                </a:moveTo>
                <a:lnTo>
                  <a:pt x="12" y="2432"/>
                </a:lnTo>
                <a:lnTo>
                  <a:pt x="0" y="2432"/>
                </a:lnTo>
                <a:lnTo>
                  <a:pt x="0" y="2420"/>
                </a:lnTo>
                <a:lnTo>
                  <a:pt x="12" y="2420"/>
                </a:lnTo>
                <a:close/>
                <a:moveTo>
                  <a:pt x="12" y="2444"/>
                </a:moveTo>
                <a:lnTo>
                  <a:pt x="12" y="2456"/>
                </a:lnTo>
                <a:lnTo>
                  <a:pt x="0" y="2456"/>
                </a:lnTo>
                <a:lnTo>
                  <a:pt x="0" y="2444"/>
                </a:lnTo>
                <a:lnTo>
                  <a:pt x="12" y="2444"/>
                </a:lnTo>
                <a:close/>
                <a:moveTo>
                  <a:pt x="12" y="2468"/>
                </a:moveTo>
                <a:lnTo>
                  <a:pt x="12" y="2480"/>
                </a:lnTo>
                <a:lnTo>
                  <a:pt x="0" y="2480"/>
                </a:lnTo>
                <a:lnTo>
                  <a:pt x="0" y="2468"/>
                </a:lnTo>
                <a:lnTo>
                  <a:pt x="12" y="2468"/>
                </a:lnTo>
                <a:close/>
                <a:moveTo>
                  <a:pt x="12" y="2492"/>
                </a:moveTo>
                <a:lnTo>
                  <a:pt x="12" y="2504"/>
                </a:lnTo>
                <a:lnTo>
                  <a:pt x="0" y="2504"/>
                </a:lnTo>
                <a:lnTo>
                  <a:pt x="0" y="2492"/>
                </a:lnTo>
                <a:lnTo>
                  <a:pt x="12" y="2492"/>
                </a:lnTo>
                <a:close/>
                <a:moveTo>
                  <a:pt x="12" y="2516"/>
                </a:moveTo>
                <a:lnTo>
                  <a:pt x="12" y="2528"/>
                </a:lnTo>
                <a:lnTo>
                  <a:pt x="0" y="2528"/>
                </a:lnTo>
                <a:lnTo>
                  <a:pt x="0" y="2516"/>
                </a:lnTo>
                <a:lnTo>
                  <a:pt x="12" y="2516"/>
                </a:lnTo>
                <a:close/>
                <a:moveTo>
                  <a:pt x="12" y="2540"/>
                </a:moveTo>
                <a:lnTo>
                  <a:pt x="12" y="2552"/>
                </a:lnTo>
                <a:lnTo>
                  <a:pt x="0" y="2552"/>
                </a:lnTo>
                <a:lnTo>
                  <a:pt x="0" y="2540"/>
                </a:lnTo>
                <a:lnTo>
                  <a:pt x="12" y="2540"/>
                </a:lnTo>
                <a:close/>
              </a:path>
            </a:pathLst>
          </a:custGeom>
          <a:solidFill>
            <a:srgbClr val="000000"/>
          </a:solidFill>
          <a:ln w="0" cap="flat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136" name="Freeform 132">
            <a:extLst>
              <a:ext uri="{FF2B5EF4-FFF2-40B4-BE49-F238E27FC236}">
                <a16:creationId xmlns:a16="http://schemas.microsoft.com/office/drawing/2014/main" id="{F5404AE4-94F6-4100-B0C6-0B6BF64F3A61}"/>
              </a:ext>
            </a:extLst>
          </p:cNvPr>
          <p:cNvSpPr>
            <a:spLocks/>
          </p:cNvSpPr>
          <p:nvPr/>
        </p:nvSpPr>
        <p:spPr bwMode="auto">
          <a:xfrm>
            <a:off x="7346342" y="5261482"/>
            <a:ext cx="169863" cy="341313"/>
          </a:xfrm>
          <a:custGeom>
            <a:avLst/>
            <a:gdLst>
              <a:gd name="T0" fmla="*/ 107 w 107"/>
              <a:gd name="T1" fmla="*/ 0 h 215"/>
              <a:gd name="T2" fmla="*/ 0 w 107"/>
              <a:gd name="T3" fmla="*/ 0 h 215"/>
              <a:gd name="T4" fmla="*/ 0 w 107"/>
              <a:gd name="T5" fmla="*/ 215 h 215"/>
              <a:gd name="T6" fmla="*/ 107 w 107"/>
              <a:gd name="T7" fmla="*/ 215 h 2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107" h="215">
                <a:moveTo>
                  <a:pt x="107" y="0"/>
                </a:moveTo>
                <a:lnTo>
                  <a:pt x="0" y="0"/>
                </a:lnTo>
                <a:lnTo>
                  <a:pt x="0" y="215"/>
                </a:lnTo>
                <a:lnTo>
                  <a:pt x="107" y="215"/>
                </a:lnTo>
              </a:path>
            </a:pathLst>
          </a:custGeom>
          <a:noFill/>
          <a:ln w="19050" cap="rnd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137" name="Freeform 133">
            <a:extLst>
              <a:ext uri="{FF2B5EF4-FFF2-40B4-BE49-F238E27FC236}">
                <a16:creationId xmlns:a16="http://schemas.microsoft.com/office/drawing/2014/main" id="{E8F63F1B-9E18-4A6A-85F5-4B591E50D74A}"/>
              </a:ext>
            </a:extLst>
          </p:cNvPr>
          <p:cNvSpPr>
            <a:spLocks/>
          </p:cNvSpPr>
          <p:nvPr/>
        </p:nvSpPr>
        <p:spPr bwMode="auto">
          <a:xfrm>
            <a:off x="7517792" y="5261482"/>
            <a:ext cx="161925" cy="341313"/>
          </a:xfrm>
          <a:custGeom>
            <a:avLst/>
            <a:gdLst>
              <a:gd name="T0" fmla="*/ 0 w 102"/>
              <a:gd name="T1" fmla="*/ 0 h 215"/>
              <a:gd name="T2" fmla="*/ 102 w 102"/>
              <a:gd name="T3" fmla="*/ 0 h 215"/>
              <a:gd name="T4" fmla="*/ 102 w 102"/>
              <a:gd name="T5" fmla="*/ 215 h 215"/>
              <a:gd name="T6" fmla="*/ 0 w 102"/>
              <a:gd name="T7" fmla="*/ 215 h 2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102" h="215">
                <a:moveTo>
                  <a:pt x="0" y="0"/>
                </a:moveTo>
                <a:lnTo>
                  <a:pt x="102" y="0"/>
                </a:lnTo>
                <a:lnTo>
                  <a:pt x="102" y="215"/>
                </a:lnTo>
                <a:lnTo>
                  <a:pt x="0" y="215"/>
                </a:lnTo>
              </a:path>
            </a:pathLst>
          </a:custGeom>
          <a:noFill/>
          <a:ln w="19050" cap="rnd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138" name="Rectangle 134">
            <a:extLst>
              <a:ext uri="{FF2B5EF4-FFF2-40B4-BE49-F238E27FC236}">
                <a16:creationId xmlns:a16="http://schemas.microsoft.com/office/drawing/2014/main" id="{4C49819C-223D-46B7-BFB0-D166D03DA2C8}"/>
              </a:ext>
            </a:extLst>
          </p:cNvPr>
          <p:cNvSpPr>
            <a:spLocks noChangeArrowheads="1"/>
          </p:cNvSpPr>
          <p:nvPr/>
        </p:nvSpPr>
        <p:spPr bwMode="auto">
          <a:xfrm>
            <a:off x="7357455" y="5364669"/>
            <a:ext cx="28052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zh-CN" altLang="zh-CN" sz="1200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rPr>
              <a:t>Reg</a:t>
            </a:r>
            <a:endParaRPr kumimoji="0" lang="zh-CN" altLang="zh-CN" sz="180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  <a:ea typeface="SimHei" panose="02010609060101010101" pitchFamily="49" charset="-122"/>
            </a:endParaRPr>
          </a:p>
        </p:txBody>
      </p:sp>
      <p:sp>
        <p:nvSpPr>
          <p:cNvPr id="4" name="文本框 3">
            <a:extLst>
              <a:ext uri="{FF2B5EF4-FFF2-40B4-BE49-F238E27FC236}">
                <a16:creationId xmlns:a16="http://schemas.microsoft.com/office/drawing/2014/main" id="{122C67BE-F219-216D-6473-0A0BAF1EB556}"/>
              </a:ext>
            </a:extLst>
          </p:cNvPr>
          <p:cNvSpPr txBox="1"/>
          <p:nvPr/>
        </p:nvSpPr>
        <p:spPr>
          <a:xfrm>
            <a:off x="7934862" y="3607356"/>
            <a:ext cx="1069524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zh-CN" dirty="0">
                <a:solidFill>
                  <a:srgbClr val="C00000"/>
                </a:solidFill>
                <a:ea typeface="SimHei" panose="02010609060101010101" pitchFamily="49" charset="-122"/>
              </a:rPr>
              <a:t>2 Cycles</a:t>
            </a:r>
            <a:endParaRPr lang="zh-CN" altLang="en-US" dirty="0">
              <a:solidFill>
                <a:srgbClr val="C00000"/>
              </a:solidFill>
              <a:ea typeface="SimHei" panose="02010609060101010101" pitchFamily="49" charset="-122"/>
            </a:endParaRPr>
          </a:p>
        </p:txBody>
      </p:sp>
    </p:spTree>
    <p:extLst>
      <p:ext uri="{BB962C8B-B14F-4D97-AF65-F5344CB8AC3E}">
        <p14:creationId xmlns:p14="http://schemas.microsoft.com/office/powerpoint/2010/main" val="2252611094"/>
      </p:ext>
    </p:extLst>
  </p:cSld>
  <p:clrMapOvr>
    <a:masterClrMapping/>
  </p:clrMapOvr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AutoShape 3">
            <a:extLst>
              <a:ext uri="{FF2B5EF4-FFF2-40B4-BE49-F238E27FC236}">
                <a16:creationId xmlns:a16="http://schemas.microsoft.com/office/drawing/2014/main" id="{1C325BB4-E75F-4DA7-A2A4-3F8980603EC9}"/>
              </a:ext>
            </a:extLst>
          </p:cNvPr>
          <p:cNvSpPr>
            <a:spLocks noChangeAspect="1" noChangeArrowheads="1" noTextEdit="1"/>
          </p:cNvSpPr>
          <p:nvPr/>
        </p:nvSpPr>
        <p:spPr bwMode="auto">
          <a:xfrm>
            <a:off x="1362075" y="2279650"/>
            <a:ext cx="6384925" cy="42513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126" name="Rectangle 4">
            <a:extLst>
              <a:ext uri="{FF2B5EF4-FFF2-40B4-BE49-F238E27FC236}">
                <a16:creationId xmlns:a16="http://schemas.microsoft.com/office/drawing/2014/main" id="{5E33686A-8EE0-499B-8208-278CE82821B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93369" y="2570163"/>
            <a:ext cx="84931" cy="450849"/>
          </a:xfrm>
          <a:prstGeom prst="rect">
            <a:avLst/>
          </a:prstGeom>
          <a:solidFill>
            <a:schemeClr val="accent1"/>
          </a:solidFill>
          <a:ln w="12700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2" name="标题 1">
            <a:extLst>
              <a:ext uri="{FF2B5EF4-FFF2-40B4-BE49-F238E27FC236}">
                <a16:creationId xmlns:a16="http://schemas.microsoft.com/office/drawing/2014/main" id="{5288A97A-C4D8-46BD-B0FF-AAB7B56F257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dirty="0"/>
              <a:t>控制冒险解决方法：</a:t>
            </a:r>
            <a:r>
              <a:rPr lang="en-US" altLang="zh-CN" dirty="0"/>
              <a:t>Forwarding</a:t>
            </a:r>
            <a:endParaRPr lang="zh-CN" altLang="en-US" dirty="0"/>
          </a:p>
        </p:txBody>
      </p:sp>
      <p:sp>
        <p:nvSpPr>
          <p:cNvPr id="3" name="内容占位符 2">
            <a:extLst>
              <a:ext uri="{FF2B5EF4-FFF2-40B4-BE49-F238E27FC236}">
                <a16:creationId xmlns:a16="http://schemas.microsoft.com/office/drawing/2014/main" id="{002AD938-7D80-4EE2-83B3-3A1C6B7AD416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457200" y="1166020"/>
            <a:ext cx="8491728" cy="4525963"/>
          </a:xfrm>
        </p:spPr>
        <p:txBody>
          <a:bodyPr/>
          <a:lstStyle/>
          <a:p>
            <a:r>
              <a:rPr lang="zh-CN" altLang="en-US" dirty="0"/>
              <a:t>通过</a:t>
            </a:r>
            <a:r>
              <a:rPr lang="en-US" altLang="zh-CN" dirty="0"/>
              <a:t>Forwarding</a:t>
            </a:r>
            <a:r>
              <a:rPr lang="zh-CN" altLang="en-US" dirty="0"/>
              <a:t>方式提前给出分支判断（</a:t>
            </a:r>
            <a:r>
              <a:rPr lang="en-US" altLang="zh-CN" dirty="0"/>
              <a:t>ID</a:t>
            </a:r>
            <a:r>
              <a:rPr lang="en-US" altLang="zh-CN" dirty="0">
                <a:sym typeface="Wingdings" panose="05000000000000000000" pitchFamily="2" charset="2"/>
              </a:rPr>
              <a:t>IF</a:t>
            </a:r>
            <a:r>
              <a:rPr lang="zh-CN" altLang="en-US" dirty="0"/>
              <a:t>）</a:t>
            </a:r>
            <a:endParaRPr lang="en-US" altLang="zh-CN" dirty="0"/>
          </a:p>
          <a:p>
            <a:pPr lvl="1"/>
            <a:r>
              <a:rPr lang="zh-CN" altLang="en-US" dirty="0"/>
              <a:t>在</a:t>
            </a:r>
            <a:r>
              <a:rPr lang="en-US" altLang="zh-CN" dirty="0"/>
              <a:t>ID</a:t>
            </a:r>
            <a:r>
              <a:rPr lang="zh-CN" altLang="en-US" dirty="0"/>
              <a:t>阶段加入分支判断</a:t>
            </a:r>
            <a:r>
              <a:rPr lang="en-US" altLang="zh-CN" dirty="0"/>
              <a:t>?</a:t>
            </a:r>
            <a:r>
              <a:rPr lang="zh-CN" altLang="en-US" dirty="0"/>
              <a:t>只阻塞一个周期</a:t>
            </a:r>
            <a:r>
              <a:rPr lang="en-US" altLang="zh-CN" dirty="0"/>
              <a:t>!</a:t>
            </a:r>
            <a:endParaRPr lang="zh-CN" altLang="en-US" dirty="0"/>
          </a:p>
          <a:p>
            <a:pPr lvl="1"/>
            <a:endParaRPr lang="zh-CN" altLang="en-US" dirty="0"/>
          </a:p>
        </p:txBody>
      </p:sp>
      <p:sp>
        <p:nvSpPr>
          <p:cNvPr id="5" name="灯片编号占位符 4">
            <a:extLst>
              <a:ext uri="{FF2B5EF4-FFF2-40B4-BE49-F238E27FC236}">
                <a16:creationId xmlns:a16="http://schemas.microsoft.com/office/drawing/2014/main" id="{CAF4F7F4-1D55-4419-87E2-656E68347DD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1806CE5-282B-4233-8654-09F35EA875E2}" type="slidenum">
              <a:rPr lang="zh-CN" altLang="en-US" smtClean="0"/>
              <a:t>43</a:t>
            </a:fld>
            <a:endParaRPr lang="zh-CN" altLang="en-US"/>
          </a:p>
        </p:txBody>
      </p:sp>
      <p:sp>
        <p:nvSpPr>
          <p:cNvPr id="8" name="Rectangle 5">
            <a:extLst>
              <a:ext uri="{FF2B5EF4-FFF2-40B4-BE49-F238E27FC236}">
                <a16:creationId xmlns:a16="http://schemas.microsoft.com/office/drawing/2014/main" id="{33876BA3-40D7-4020-82DB-4E536F5A01B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270376" y="3773487"/>
            <a:ext cx="412750" cy="344488"/>
          </a:xfrm>
          <a:prstGeom prst="rect">
            <a:avLst/>
          </a:prstGeom>
          <a:solidFill>
            <a:srgbClr val="0099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10" name="Rectangle 7">
            <a:extLst>
              <a:ext uri="{FF2B5EF4-FFF2-40B4-BE49-F238E27FC236}">
                <a16:creationId xmlns:a16="http://schemas.microsoft.com/office/drawing/2014/main" id="{EBB71B55-9C27-45E8-869B-E41B57C818B3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95463" y="3249613"/>
            <a:ext cx="410369" cy="2769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zh-CN" altLang="zh-CN" sz="1800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rPr>
              <a:t>stall</a:t>
            </a:r>
            <a:endParaRPr kumimoji="0" lang="zh-CN" altLang="zh-CN" sz="180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  <a:ea typeface="SimHei" panose="02010609060101010101" pitchFamily="49" charset="-122"/>
            </a:endParaRPr>
          </a:p>
        </p:txBody>
      </p:sp>
      <p:sp>
        <p:nvSpPr>
          <p:cNvPr id="11" name="Freeform 8">
            <a:extLst>
              <a:ext uri="{FF2B5EF4-FFF2-40B4-BE49-F238E27FC236}">
                <a16:creationId xmlns:a16="http://schemas.microsoft.com/office/drawing/2014/main" id="{EF32A0D3-0D79-4CF4-B6CC-9B3DB7994626}"/>
              </a:ext>
            </a:extLst>
          </p:cNvPr>
          <p:cNvSpPr>
            <a:spLocks/>
          </p:cNvSpPr>
          <p:nvPr/>
        </p:nvSpPr>
        <p:spPr bwMode="auto">
          <a:xfrm>
            <a:off x="3673475" y="3203575"/>
            <a:ext cx="515938" cy="457200"/>
          </a:xfrm>
          <a:custGeom>
            <a:avLst/>
            <a:gdLst>
              <a:gd name="T0" fmla="*/ 173 w 325"/>
              <a:gd name="T1" fmla="*/ 58 h 288"/>
              <a:gd name="T2" fmla="*/ 223 w 325"/>
              <a:gd name="T3" fmla="*/ 0 h 288"/>
              <a:gd name="T4" fmla="*/ 219 w 325"/>
              <a:gd name="T5" fmla="*/ 77 h 288"/>
              <a:gd name="T6" fmla="*/ 271 w 325"/>
              <a:gd name="T7" fmla="*/ 42 h 288"/>
              <a:gd name="T8" fmla="*/ 247 w 325"/>
              <a:gd name="T9" fmla="*/ 87 h 288"/>
              <a:gd name="T10" fmla="*/ 325 w 325"/>
              <a:gd name="T11" fmla="*/ 88 h 288"/>
              <a:gd name="T12" fmla="*/ 256 w 325"/>
              <a:gd name="T13" fmla="*/ 125 h 288"/>
              <a:gd name="T14" fmla="*/ 275 w 325"/>
              <a:gd name="T15" fmla="*/ 151 h 288"/>
              <a:gd name="T16" fmla="*/ 247 w 325"/>
              <a:gd name="T17" fmla="*/ 164 h 288"/>
              <a:gd name="T18" fmla="*/ 284 w 325"/>
              <a:gd name="T19" fmla="*/ 209 h 288"/>
              <a:gd name="T20" fmla="*/ 220 w 325"/>
              <a:gd name="T21" fmla="*/ 191 h 288"/>
              <a:gd name="T22" fmla="*/ 225 w 325"/>
              <a:gd name="T23" fmla="*/ 232 h 288"/>
              <a:gd name="T24" fmla="*/ 184 w 325"/>
              <a:gd name="T25" fmla="*/ 213 h 288"/>
              <a:gd name="T26" fmla="*/ 175 w 325"/>
              <a:gd name="T27" fmla="*/ 251 h 288"/>
              <a:gd name="T28" fmla="*/ 149 w 325"/>
              <a:gd name="T29" fmla="*/ 232 h 288"/>
              <a:gd name="T30" fmla="*/ 131 w 325"/>
              <a:gd name="T31" fmla="*/ 263 h 288"/>
              <a:gd name="T32" fmla="*/ 114 w 325"/>
              <a:gd name="T33" fmla="*/ 242 h 288"/>
              <a:gd name="T34" fmla="*/ 74 w 325"/>
              <a:gd name="T35" fmla="*/ 288 h 288"/>
              <a:gd name="T36" fmla="*/ 73 w 325"/>
              <a:gd name="T37" fmla="*/ 243 h 288"/>
              <a:gd name="T38" fmla="*/ 20 w 325"/>
              <a:gd name="T39" fmla="*/ 238 h 288"/>
              <a:gd name="T40" fmla="*/ 51 w 325"/>
              <a:gd name="T41" fmla="*/ 205 h 288"/>
              <a:gd name="T42" fmla="*/ 0 w 325"/>
              <a:gd name="T43" fmla="*/ 172 h 288"/>
              <a:gd name="T44" fmla="*/ 60 w 325"/>
              <a:gd name="T45" fmla="*/ 155 h 288"/>
              <a:gd name="T46" fmla="*/ 18 w 325"/>
              <a:gd name="T47" fmla="*/ 110 h 288"/>
              <a:gd name="T48" fmla="*/ 81 w 325"/>
              <a:gd name="T49" fmla="*/ 104 h 288"/>
              <a:gd name="T50" fmla="*/ 68 w 325"/>
              <a:gd name="T51" fmla="*/ 48 h 288"/>
              <a:gd name="T52" fmla="*/ 129 w 325"/>
              <a:gd name="T53" fmla="*/ 85 h 288"/>
              <a:gd name="T54" fmla="*/ 147 w 325"/>
              <a:gd name="T55" fmla="*/ 25 h 288"/>
              <a:gd name="T56" fmla="*/ 173 w 325"/>
              <a:gd name="T57" fmla="*/ 58 h 2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325" h="288">
                <a:moveTo>
                  <a:pt x="173" y="58"/>
                </a:moveTo>
                <a:lnTo>
                  <a:pt x="223" y="0"/>
                </a:lnTo>
                <a:lnTo>
                  <a:pt x="219" y="77"/>
                </a:lnTo>
                <a:lnTo>
                  <a:pt x="271" y="42"/>
                </a:lnTo>
                <a:lnTo>
                  <a:pt x="247" y="87"/>
                </a:lnTo>
                <a:lnTo>
                  <a:pt x="325" y="88"/>
                </a:lnTo>
                <a:lnTo>
                  <a:pt x="256" y="125"/>
                </a:lnTo>
                <a:lnTo>
                  <a:pt x="275" y="151"/>
                </a:lnTo>
                <a:lnTo>
                  <a:pt x="247" y="164"/>
                </a:lnTo>
                <a:lnTo>
                  <a:pt x="284" y="209"/>
                </a:lnTo>
                <a:lnTo>
                  <a:pt x="220" y="191"/>
                </a:lnTo>
                <a:lnTo>
                  <a:pt x="225" y="232"/>
                </a:lnTo>
                <a:lnTo>
                  <a:pt x="184" y="213"/>
                </a:lnTo>
                <a:lnTo>
                  <a:pt x="175" y="251"/>
                </a:lnTo>
                <a:lnTo>
                  <a:pt x="149" y="232"/>
                </a:lnTo>
                <a:lnTo>
                  <a:pt x="131" y="263"/>
                </a:lnTo>
                <a:lnTo>
                  <a:pt x="114" y="242"/>
                </a:lnTo>
                <a:lnTo>
                  <a:pt x="74" y="288"/>
                </a:lnTo>
                <a:lnTo>
                  <a:pt x="73" y="243"/>
                </a:lnTo>
                <a:lnTo>
                  <a:pt x="20" y="238"/>
                </a:lnTo>
                <a:lnTo>
                  <a:pt x="51" y="205"/>
                </a:lnTo>
                <a:lnTo>
                  <a:pt x="0" y="172"/>
                </a:lnTo>
                <a:lnTo>
                  <a:pt x="60" y="155"/>
                </a:lnTo>
                <a:lnTo>
                  <a:pt x="18" y="110"/>
                </a:lnTo>
                <a:lnTo>
                  <a:pt x="81" y="104"/>
                </a:lnTo>
                <a:lnTo>
                  <a:pt x="68" y="48"/>
                </a:lnTo>
                <a:lnTo>
                  <a:pt x="129" y="85"/>
                </a:lnTo>
                <a:lnTo>
                  <a:pt x="147" y="25"/>
                </a:lnTo>
                <a:lnTo>
                  <a:pt x="173" y="58"/>
                </a:lnTo>
                <a:close/>
              </a:path>
            </a:pathLst>
          </a:custGeom>
          <a:pattFill prst="shingle">
            <a:fgClr>
              <a:schemeClr val="accent2"/>
            </a:fgClr>
            <a:bgClr>
              <a:schemeClr val="bg1"/>
            </a:bgClr>
          </a:patt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12" name="Freeform 9">
            <a:extLst>
              <a:ext uri="{FF2B5EF4-FFF2-40B4-BE49-F238E27FC236}">
                <a16:creationId xmlns:a16="http://schemas.microsoft.com/office/drawing/2014/main" id="{0468D6F7-D15C-43DC-B4B7-D23B0CDC5A1C}"/>
              </a:ext>
            </a:extLst>
          </p:cNvPr>
          <p:cNvSpPr>
            <a:spLocks/>
          </p:cNvSpPr>
          <p:nvPr/>
        </p:nvSpPr>
        <p:spPr bwMode="auto">
          <a:xfrm>
            <a:off x="3673475" y="3203575"/>
            <a:ext cx="515938" cy="457200"/>
          </a:xfrm>
          <a:custGeom>
            <a:avLst/>
            <a:gdLst>
              <a:gd name="T0" fmla="*/ 173 w 325"/>
              <a:gd name="T1" fmla="*/ 58 h 288"/>
              <a:gd name="T2" fmla="*/ 223 w 325"/>
              <a:gd name="T3" fmla="*/ 0 h 288"/>
              <a:gd name="T4" fmla="*/ 219 w 325"/>
              <a:gd name="T5" fmla="*/ 77 h 288"/>
              <a:gd name="T6" fmla="*/ 271 w 325"/>
              <a:gd name="T7" fmla="*/ 42 h 288"/>
              <a:gd name="T8" fmla="*/ 247 w 325"/>
              <a:gd name="T9" fmla="*/ 87 h 288"/>
              <a:gd name="T10" fmla="*/ 325 w 325"/>
              <a:gd name="T11" fmla="*/ 88 h 288"/>
              <a:gd name="T12" fmla="*/ 256 w 325"/>
              <a:gd name="T13" fmla="*/ 125 h 288"/>
              <a:gd name="T14" fmla="*/ 275 w 325"/>
              <a:gd name="T15" fmla="*/ 151 h 288"/>
              <a:gd name="T16" fmla="*/ 247 w 325"/>
              <a:gd name="T17" fmla="*/ 164 h 288"/>
              <a:gd name="T18" fmla="*/ 284 w 325"/>
              <a:gd name="T19" fmla="*/ 209 h 288"/>
              <a:gd name="T20" fmla="*/ 220 w 325"/>
              <a:gd name="T21" fmla="*/ 191 h 288"/>
              <a:gd name="T22" fmla="*/ 225 w 325"/>
              <a:gd name="T23" fmla="*/ 232 h 288"/>
              <a:gd name="T24" fmla="*/ 184 w 325"/>
              <a:gd name="T25" fmla="*/ 213 h 288"/>
              <a:gd name="T26" fmla="*/ 175 w 325"/>
              <a:gd name="T27" fmla="*/ 251 h 288"/>
              <a:gd name="T28" fmla="*/ 149 w 325"/>
              <a:gd name="T29" fmla="*/ 232 h 288"/>
              <a:gd name="T30" fmla="*/ 131 w 325"/>
              <a:gd name="T31" fmla="*/ 263 h 288"/>
              <a:gd name="T32" fmla="*/ 114 w 325"/>
              <a:gd name="T33" fmla="*/ 242 h 288"/>
              <a:gd name="T34" fmla="*/ 74 w 325"/>
              <a:gd name="T35" fmla="*/ 288 h 288"/>
              <a:gd name="T36" fmla="*/ 73 w 325"/>
              <a:gd name="T37" fmla="*/ 243 h 288"/>
              <a:gd name="T38" fmla="*/ 20 w 325"/>
              <a:gd name="T39" fmla="*/ 238 h 288"/>
              <a:gd name="T40" fmla="*/ 51 w 325"/>
              <a:gd name="T41" fmla="*/ 205 h 288"/>
              <a:gd name="T42" fmla="*/ 0 w 325"/>
              <a:gd name="T43" fmla="*/ 172 h 288"/>
              <a:gd name="T44" fmla="*/ 60 w 325"/>
              <a:gd name="T45" fmla="*/ 155 h 288"/>
              <a:gd name="T46" fmla="*/ 18 w 325"/>
              <a:gd name="T47" fmla="*/ 110 h 288"/>
              <a:gd name="T48" fmla="*/ 81 w 325"/>
              <a:gd name="T49" fmla="*/ 104 h 288"/>
              <a:gd name="T50" fmla="*/ 68 w 325"/>
              <a:gd name="T51" fmla="*/ 48 h 288"/>
              <a:gd name="T52" fmla="*/ 129 w 325"/>
              <a:gd name="T53" fmla="*/ 85 h 288"/>
              <a:gd name="T54" fmla="*/ 147 w 325"/>
              <a:gd name="T55" fmla="*/ 25 h 288"/>
              <a:gd name="T56" fmla="*/ 173 w 325"/>
              <a:gd name="T57" fmla="*/ 58 h 2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325" h="288">
                <a:moveTo>
                  <a:pt x="173" y="58"/>
                </a:moveTo>
                <a:lnTo>
                  <a:pt x="223" y="0"/>
                </a:lnTo>
                <a:lnTo>
                  <a:pt x="219" y="77"/>
                </a:lnTo>
                <a:lnTo>
                  <a:pt x="271" y="42"/>
                </a:lnTo>
                <a:lnTo>
                  <a:pt x="247" y="87"/>
                </a:lnTo>
                <a:lnTo>
                  <a:pt x="325" y="88"/>
                </a:lnTo>
                <a:lnTo>
                  <a:pt x="256" y="125"/>
                </a:lnTo>
                <a:lnTo>
                  <a:pt x="275" y="151"/>
                </a:lnTo>
                <a:lnTo>
                  <a:pt x="247" y="164"/>
                </a:lnTo>
                <a:lnTo>
                  <a:pt x="284" y="209"/>
                </a:lnTo>
                <a:lnTo>
                  <a:pt x="220" y="191"/>
                </a:lnTo>
                <a:lnTo>
                  <a:pt x="225" y="232"/>
                </a:lnTo>
                <a:lnTo>
                  <a:pt x="184" y="213"/>
                </a:lnTo>
                <a:lnTo>
                  <a:pt x="175" y="251"/>
                </a:lnTo>
                <a:lnTo>
                  <a:pt x="149" y="232"/>
                </a:lnTo>
                <a:lnTo>
                  <a:pt x="131" y="263"/>
                </a:lnTo>
                <a:lnTo>
                  <a:pt x="114" y="242"/>
                </a:lnTo>
                <a:lnTo>
                  <a:pt x="74" y="288"/>
                </a:lnTo>
                <a:lnTo>
                  <a:pt x="73" y="243"/>
                </a:lnTo>
                <a:lnTo>
                  <a:pt x="20" y="238"/>
                </a:lnTo>
                <a:lnTo>
                  <a:pt x="51" y="205"/>
                </a:lnTo>
                <a:lnTo>
                  <a:pt x="0" y="172"/>
                </a:lnTo>
                <a:lnTo>
                  <a:pt x="60" y="155"/>
                </a:lnTo>
                <a:lnTo>
                  <a:pt x="18" y="110"/>
                </a:lnTo>
                <a:lnTo>
                  <a:pt x="81" y="104"/>
                </a:lnTo>
                <a:lnTo>
                  <a:pt x="68" y="48"/>
                </a:lnTo>
                <a:lnTo>
                  <a:pt x="129" y="85"/>
                </a:lnTo>
                <a:lnTo>
                  <a:pt x="147" y="25"/>
                </a:lnTo>
                <a:lnTo>
                  <a:pt x="173" y="58"/>
                </a:lnTo>
                <a:close/>
              </a:path>
            </a:pathLst>
          </a:custGeom>
          <a:pattFill prst="shingle">
            <a:fgClr>
              <a:schemeClr val="accent2"/>
            </a:fgClr>
            <a:bgClr>
              <a:schemeClr val="bg1"/>
            </a:bgClr>
          </a:pattFill>
          <a:ln w="9525" cap="flat">
            <a:solidFill>
              <a:srgbClr val="3C09F7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13" name="Freeform 10">
            <a:extLst>
              <a:ext uri="{FF2B5EF4-FFF2-40B4-BE49-F238E27FC236}">
                <a16:creationId xmlns:a16="http://schemas.microsoft.com/office/drawing/2014/main" id="{0FD37D1C-26A2-43C8-A685-EF673C1DDD9F}"/>
              </a:ext>
            </a:extLst>
          </p:cNvPr>
          <p:cNvSpPr>
            <a:spLocks/>
          </p:cNvSpPr>
          <p:nvPr/>
        </p:nvSpPr>
        <p:spPr bwMode="auto">
          <a:xfrm>
            <a:off x="4189413" y="3203575"/>
            <a:ext cx="515938" cy="457200"/>
          </a:xfrm>
          <a:custGeom>
            <a:avLst/>
            <a:gdLst>
              <a:gd name="T0" fmla="*/ 172 w 325"/>
              <a:gd name="T1" fmla="*/ 58 h 288"/>
              <a:gd name="T2" fmla="*/ 222 w 325"/>
              <a:gd name="T3" fmla="*/ 0 h 288"/>
              <a:gd name="T4" fmla="*/ 218 w 325"/>
              <a:gd name="T5" fmla="*/ 77 h 288"/>
              <a:gd name="T6" fmla="*/ 271 w 325"/>
              <a:gd name="T7" fmla="*/ 42 h 288"/>
              <a:gd name="T8" fmla="*/ 246 w 325"/>
              <a:gd name="T9" fmla="*/ 87 h 288"/>
              <a:gd name="T10" fmla="*/ 325 w 325"/>
              <a:gd name="T11" fmla="*/ 88 h 288"/>
              <a:gd name="T12" fmla="*/ 255 w 325"/>
              <a:gd name="T13" fmla="*/ 125 h 288"/>
              <a:gd name="T14" fmla="*/ 275 w 325"/>
              <a:gd name="T15" fmla="*/ 151 h 288"/>
              <a:gd name="T16" fmla="*/ 246 w 325"/>
              <a:gd name="T17" fmla="*/ 164 h 288"/>
              <a:gd name="T18" fmla="*/ 284 w 325"/>
              <a:gd name="T19" fmla="*/ 209 h 288"/>
              <a:gd name="T20" fmla="*/ 220 w 325"/>
              <a:gd name="T21" fmla="*/ 191 h 288"/>
              <a:gd name="T22" fmla="*/ 225 w 325"/>
              <a:gd name="T23" fmla="*/ 232 h 288"/>
              <a:gd name="T24" fmla="*/ 183 w 325"/>
              <a:gd name="T25" fmla="*/ 213 h 288"/>
              <a:gd name="T26" fmla="*/ 175 w 325"/>
              <a:gd name="T27" fmla="*/ 251 h 288"/>
              <a:gd name="T28" fmla="*/ 149 w 325"/>
              <a:gd name="T29" fmla="*/ 232 h 288"/>
              <a:gd name="T30" fmla="*/ 131 w 325"/>
              <a:gd name="T31" fmla="*/ 263 h 288"/>
              <a:gd name="T32" fmla="*/ 113 w 325"/>
              <a:gd name="T33" fmla="*/ 242 h 288"/>
              <a:gd name="T34" fmla="*/ 74 w 325"/>
              <a:gd name="T35" fmla="*/ 288 h 288"/>
              <a:gd name="T36" fmla="*/ 72 w 325"/>
              <a:gd name="T37" fmla="*/ 243 h 288"/>
              <a:gd name="T38" fmla="*/ 19 w 325"/>
              <a:gd name="T39" fmla="*/ 238 h 288"/>
              <a:gd name="T40" fmla="*/ 50 w 325"/>
              <a:gd name="T41" fmla="*/ 205 h 288"/>
              <a:gd name="T42" fmla="*/ 0 w 325"/>
              <a:gd name="T43" fmla="*/ 172 h 288"/>
              <a:gd name="T44" fmla="*/ 59 w 325"/>
              <a:gd name="T45" fmla="*/ 155 h 288"/>
              <a:gd name="T46" fmla="*/ 18 w 325"/>
              <a:gd name="T47" fmla="*/ 110 h 288"/>
              <a:gd name="T48" fmla="*/ 81 w 325"/>
              <a:gd name="T49" fmla="*/ 104 h 288"/>
              <a:gd name="T50" fmla="*/ 68 w 325"/>
              <a:gd name="T51" fmla="*/ 48 h 288"/>
              <a:gd name="T52" fmla="*/ 129 w 325"/>
              <a:gd name="T53" fmla="*/ 85 h 288"/>
              <a:gd name="T54" fmla="*/ 146 w 325"/>
              <a:gd name="T55" fmla="*/ 25 h 288"/>
              <a:gd name="T56" fmla="*/ 172 w 325"/>
              <a:gd name="T57" fmla="*/ 58 h 2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325" h="288">
                <a:moveTo>
                  <a:pt x="172" y="58"/>
                </a:moveTo>
                <a:lnTo>
                  <a:pt x="222" y="0"/>
                </a:lnTo>
                <a:lnTo>
                  <a:pt x="218" y="77"/>
                </a:lnTo>
                <a:lnTo>
                  <a:pt x="271" y="42"/>
                </a:lnTo>
                <a:lnTo>
                  <a:pt x="246" y="87"/>
                </a:lnTo>
                <a:lnTo>
                  <a:pt x="325" y="88"/>
                </a:lnTo>
                <a:lnTo>
                  <a:pt x="255" y="125"/>
                </a:lnTo>
                <a:lnTo>
                  <a:pt x="275" y="151"/>
                </a:lnTo>
                <a:lnTo>
                  <a:pt x="246" y="164"/>
                </a:lnTo>
                <a:lnTo>
                  <a:pt x="284" y="209"/>
                </a:lnTo>
                <a:lnTo>
                  <a:pt x="220" y="191"/>
                </a:lnTo>
                <a:lnTo>
                  <a:pt x="225" y="232"/>
                </a:lnTo>
                <a:lnTo>
                  <a:pt x="183" y="213"/>
                </a:lnTo>
                <a:lnTo>
                  <a:pt x="175" y="251"/>
                </a:lnTo>
                <a:lnTo>
                  <a:pt x="149" y="232"/>
                </a:lnTo>
                <a:lnTo>
                  <a:pt x="131" y="263"/>
                </a:lnTo>
                <a:lnTo>
                  <a:pt x="113" y="242"/>
                </a:lnTo>
                <a:lnTo>
                  <a:pt x="74" y="288"/>
                </a:lnTo>
                <a:lnTo>
                  <a:pt x="72" y="243"/>
                </a:lnTo>
                <a:lnTo>
                  <a:pt x="19" y="238"/>
                </a:lnTo>
                <a:lnTo>
                  <a:pt x="50" y="205"/>
                </a:lnTo>
                <a:lnTo>
                  <a:pt x="0" y="172"/>
                </a:lnTo>
                <a:lnTo>
                  <a:pt x="59" y="155"/>
                </a:lnTo>
                <a:lnTo>
                  <a:pt x="18" y="110"/>
                </a:lnTo>
                <a:lnTo>
                  <a:pt x="81" y="104"/>
                </a:lnTo>
                <a:lnTo>
                  <a:pt x="68" y="48"/>
                </a:lnTo>
                <a:lnTo>
                  <a:pt x="129" y="85"/>
                </a:lnTo>
                <a:lnTo>
                  <a:pt x="146" y="25"/>
                </a:lnTo>
                <a:lnTo>
                  <a:pt x="172" y="58"/>
                </a:lnTo>
                <a:close/>
              </a:path>
            </a:pathLst>
          </a:custGeom>
          <a:pattFill prst="shingle">
            <a:fgClr>
              <a:schemeClr val="accent2"/>
            </a:fgClr>
            <a:bgClr>
              <a:schemeClr val="bg1"/>
            </a:bgClr>
          </a:patt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14" name="Freeform 11">
            <a:extLst>
              <a:ext uri="{FF2B5EF4-FFF2-40B4-BE49-F238E27FC236}">
                <a16:creationId xmlns:a16="http://schemas.microsoft.com/office/drawing/2014/main" id="{71B3FB0F-CF20-4821-9449-EF09957602D9}"/>
              </a:ext>
            </a:extLst>
          </p:cNvPr>
          <p:cNvSpPr>
            <a:spLocks/>
          </p:cNvSpPr>
          <p:nvPr/>
        </p:nvSpPr>
        <p:spPr bwMode="auto">
          <a:xfrm>
            <a:off x="4189413" y="3203575"/>
            <a:ext cx="515938" cy="457200"/>
          </a:xfrm>
          <a:custGeom>
            <a:avLst/>
            <a:gdLst>
              <a:gd name="T0" fmla="*/ 172 w 325"/>
              <a:gd name="T1" fmla="*/ 58 h 288"/>
              <a:gd name="T2" fmla="*/ 222 w 325"/>
              <a:gd name="T3" fmla="*/ 0 h 288"/>
              <a:gd name="T4" fmla="*/ 218 w 325"/>
              <a:gd name="T5" fmla="*/ 77 h 288"/>
              <a:gd name="T6" fmla="*/ 271 w 325"/>
              <a:gd name="T7" fmla="*/ 42 h 288"/>
              <a:gd name="T8" fmla="*/ 246 w 325"/>
              <a:gd name="T9" fmla="*/ 87 h 288"/>
              <a:gd name="T10" fmla="*/ 325 w 325"/>
              <a:gd name="T11" fmla="*/ 88 h 288"/>
              <a:gd name="T12" fmla="*/ 255 w 325"/>
              <a:gd name="T13" fmla="*/ 125 h 288"/>
              <a:gd name="T14" fmla="*/ 275 w 325"/>
              <a:gd name="T15" fmla="*/ 151 h 288"/>
              <a:gd name="T16" fmla="*/ 246 w 325"/>
              <a:gd name="T17" fmla="*/ 164 h 288"/>
              <a:gd name="T18" fmla="*/ 284 w 325"/>
              <a:gd name="T19" fmla="*/ 209 h 288"/>
              <a:gd name="T20" fmla="*/ 220 w 325"/>
              <a:gd name="T21" fmla="*/ 191 h 288"/>
              <a:gd name="T22" fmla="*/ 225 w 325"/>
              <a:gd name="T23" fmla="*/ 232 h 288"/>
              <a:gd name="T24" fmla="*/ 183 w 325"/>
              <a:gd name="T25" fmla="*/ 213 h 288"/>
              <a:gd name="T26" fmla="*/ 175 w 325"/>
              <a:gd name="T27" fmla="*/ 251 h 288"/>
              <a:gd name="T28" fmla="*/ 149 w 325"/>
              <a:gd name="T29" fmla="*/ 232 h 288"/>
              <a:gd name="T30" fmla="*/ 131 w 325"/>
              <a:gd name="T31" fmla="*/ 263 h 288"/>
              <a:gd name="T32" fmla="*/ 113 w 325"/>
              <a:gd name="T33" fmla="*/ 242 h 288"/>
              <a:gd name="T34" fmla="*/ 74 w 325"/>
              <a:gd name="T35" fmla="*/ 288 h 288"/>
              <a:gd name="T36" fmla="*/ 72 w 325"/>
              <a:gd name="T37" fmla="*/ 243 h 288"/>
              <a:gd name="T38" fmla="*/ 19 w 325"/>
              <a:gd name="T39" fmla="*/ 238 h 288"/>
              <a:gd name="T40" fmla="*/ 50 w 325"/>
              <a:gd name="T41" fmla="*/ 205 h 288"/>
              <a:gd name="T42" fmla="*/ 0 w 325"/>
              <a:gd name="T43" fmla="*/ 172 h 288"/>
              <a:gd name="T44" fmla="*/ 59 w 325"/>
              <a:gd name="T45" fmla="*/ 155 h 288"/>
              <a:gd name="T46" fmla="*/ 18 w 325"/>
              <a:gd name="T47" fmla="*/ 110 h 288"/>
              <a:gd name="T48" fmla="*/ 81 w 325"/>
              <a:gd name="T49" fmla="*/ 104 h 288"/>
              <a:gd name="T50" fmla="*/ 68 w 325"/>
              <a:gd name="T51" fmla="*/ 48 h 288"/>
              <a:gd name="T52" fmla="*/ 129 w 325"/>
              <a:gd name="T53" fmla="*/ 85 h 288"/>
              <a:gd name="T54" fmla="*/ 146 w 325"/>
              <a:gd name="T55" fmla="*/ 25 h 288"/>
              <a:gd name="T56" fmla="*/ 172 w 325"/>
              <a:gd name="T57" fmla="*/ 58 h 2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325" h="288">
                <a:moveTo>
                  <a:pt x="172" y="58"/>
                </a:moveTo>
                <a:lnTo>
                  <a:pt x="222" y="0"/>
                </a:lnTo>
                <a:lnTo>
                  <a:pt x="218" y="77"/>
                </a:lnTo>
                <a:lnTo>
                  <a:pt x="271" y="42"/>
                </a:lnTo>
                <a:lnTo>
                  <a:pt x="246" y="87"/>
                </a:lnTo>
                <a:lnTo>
                  <a:pt x="325" y="88"/>
                </a:lnTo>
                <a:lnTo>
                  <a:pt x="255" y="125"/>
                </a:lnTo>
                <a:lnTo>
                  <a:pt x="275" y="151"/>
                </a:lnTo>
                <a:lnTo>
                  <a:pt x="246" y="164"/>
                </a:lnTo>
                <a:lnTo>
                  <a:pt x="284" y="209"/>
                </a:lnTo>
                <a:lnTo>
                  <a:pt x="220" y="191"/>
                </a:lnTo>
                <a:lnTo>
                  <a:pt x="225" y="232"/>
                </a:lnTo>
                <a:lnTo>
                  <a:pt x="183" y="213"/>
                </a:lnTo>
                <a:lnTo>
                  <a:pt x="175" y="251"/>
                </a:lnTo>
                <a:lnTo>
                  <a:pt x="149" y="232"/>
                </a:lnTo>
                <a:lnTo>
                  <a:pt x="131" y="263"/>
                </a:lnTo>
                <a:lnTo>
                  <a:pt x="113" y="242"/>
                </a:lnTo>
                <a:lnTo>
                  <a:pt x="74" y="288"/>
                </a:lnTo>
                <a:lnTo>
                  <a:pt x="72" y="243"/>
                </a:lnTo>
                <a:lnTo>
                  <a:pt x="19" y="238"/>
                </a:lnTo>
                <a:lnTo>
                  <a:pt x="50" y="205"/>
                </a:lnTo>
                <a:lnTo>
                  <a:pt x="0" y="172"/>
                </a:lnTo>
                <a:lnTo>
                  <a:pt x="59" y="155"/>
                </a:lnTo>
                <a:lnTo>
                  <a:pt x="18" y="110"/>
                </a:lnTo>
                <a:lnTo>
                  <a:pt x="81" y="104"/>
                </a:lnTo>
                <a:lnTo>
                  <a:pt x="68" y="48"/>
                </a:lnTo>
                <a:lnTo>
                  <a:pt x="129" y="85"/>
                </a:lnTo>
                <a:lnTo>
                  <a:pt x="146" y="25"/>
                </a:lnTo>
                <a:lnTo>
                  <a:pt x="172" y="58"/>
                </a:lnTo>
                <a:close/>
              </a:path>
            </a:pathLst>
          </a:custGeom>
          <a:pattFill prst="shingle">
            <a:fgClr>
              <a:schemeClr val="accent2"/>
            </a:fgClr>
            <a:bgClr>
              <a:schemeClr val="bg1"/>
            </a:bgClr>
          </a:pattFill>
          <a:ln w="9525" cap="flat">
            <a:solidFill>
              <a:srgbClr val="3C09F7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15" name="Freeform 12">
            <a:extLst>
              <a:ext uri="{FF2B5EF4-FFF2-40B4-BE49-F238E27FC236}">
                <a16:creationId xmlns:a16="http://schemas.microsoft.com/office/drawing/2014/main" id="{37F4AAED-DC27-41B9-87D1-6BF38DD0D7B7}"/>
              </a:ext>
            </a:extLst>
          </p:cNvPr>
          <p:cNvSpPr>
            <a:spLocks/>
          </p:cNvSpPr>
          <p:nvPr/>
        </p:nvSpPr>
        <p:spPr bwMode="auto">
          <a:xfrm>
            <a:off x="4705350" y="3203575"/>
            <a:ext cx="514350" cy="457200"/>
          </a:xfrm>
          <a:custGeom>
            <a:avLst/>
            <a:gdLst>
              <a:gd name="T0" fmla="*/ 172 w 324"/>
              <a:gd name="T1" fmla="*/ 58 h 288"/>
              <a:gd name="T2" fmla="*/ 222 w 324"/>
              <a:gd name="T3" fmla="*/ 0 h 288"/>
              <a:gd name="T4" fmla="*/ 218 w 324"/>
              <a:gd name="T5" fmla="*/ 77 h 288"/>
              <a:gd name="T6" fmla="*/ 270 w 324"/>
              <a:gd name="T7" fmla="*/ 42 h 288"/>
              <a:gd name="T8" fmla="*/ 246 w 324"/>
              <a:gd name="T9" fmla="*/ 87 h 288"/>
              <a:gd name="T10" fmla="*/ 324 w 324"/>
              <a:gd name="T11" fmla="*/ 88 h 288"/>
              <a:gd name="T12" fmla="*/ 255 w 324"/>
              <a:gd name="T13" fmla="*/ 125 h 288"/>
              <a:gd name="T14" fmla="*/ 274 w 324"/>
              <a:gd name="T15" fmla="*/ 151 h 288"/>
              <a:gd name="T16" fmla="*/ 246 w 324"/>
              <a:gd name="T17" fmla="*/ 164 h 288"/>
              <a:gd name="T18" fmla="*/ 283 w 324"/>
              <a:gd name="T19" fmla="*/ 209 h 288"/>
              <a:gd name="T20" fmla="*/ 220 w 324"/>
              <a:gd name="T21" fmla="*/ 191 h 288"/>
              <a:gd name="T22" fmla="*/ 224 w 324"/>
              <a:gd name="T23" fmla="*/ 232 h 288"/>
              <a:gd name="T24" fmla="*/ 183 w 324"/>
              <a:gd name="T25" fmla="*/ 213 h 288"/>
              <a:gd name="T26" fmla="*/ 174 w 324"/>
              <a:gd name="T27" fmla="*/ 251 h 288"/>
              <a:gd name="T28" fmla="*/ 148 w 324"/>
              <a:gd name="T29" fmla="*/ 232 h 288"/>
              <a:gd name="T30" fmla="*/ 130 w 324"/>
              <a:gd name="T31" fmla="*/ 263 h 288"/>
              <a:gd name="T32" fmla="*/ 113 w 324"/>
              <a:gd name="T33" fmla="*/ 242 h 288"/>
              <a:gd name="T34" fmla="*/ 74 w 324"/>
              <a:gd name="T35" fmla="*/ 288 h 288"/>
              <a:gd name="T36" fmla="*/ 72 w 324"/>
              <a:gd name="T37" fmla="*/ 243 h 288"/>
              <a:gd name="T38" fmla="*/ 19 w 324"/>
              <a:gd name="T39" fmla="*/ 238 h 288"/>
              <a:gd name="T40" fmla="*/ 50 w 324"/>
              <a:gd name="T41" fmla="*/ 205 h 288"/>
              <a:gd name="T42" fmla="*/ 0 w 324"/>
              <a:gd name="T43" fmla="*/ 172 h 288"/>
              <a:gd name="T44" fmla="*/ 59 w 324"/>
              <a:gd name="T45" fmla="*/ 155 h 288"/>
              <a:gd name="T46" fmla="*/ 17 w 324"/>
              <a:gd name="T47" fmla="*/ 110 h 288"/>
              <a:gd name="T48" fmla="*/ 81 w 324"/>
              <a:gd name="T49" fmla="*/ 104 h 288"/>
              <a:gd name="T50" fmla="*/ 68 w 324"/>
              <a:gd name="T51" fmla="*/ 48 h 288"/>
              <a:gd name="T52" fmla="*/ 128 w 324"/>
              <a:gd name="T53" fmla="*/ 85 h 288"/>
              <a:gd name="T54" fmla="*/ 146 w 324"/>
              <a:gd name="T55" fmla="*/ 25 h 288"/>
              <a:gd name="T56" fmla="*/ 172 w 324"/>
              <a:gd name="T57" fmla="*/ 58 h 2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324" h="288">
                <a:moveTo>
                  <a:pt x="172" y="58"/>
                </a:moveTo>
                <a:lnTo>
                  <a:pt x="222" y="0"/>
                </a:lnTo>
                <a:lnTo>
                  <a:pt x="218" y="77"/>
                </a:lnTo>
                <a:lnTo>
                  <a:pt x="270" y="42"/>
                </a:lnTo>
                <a:lnTo>
                  <a:pt x="246" y="87"/>
                </a:lnTo>
                <a:lnTo>
                  <a:pt x="324" y="88"/>
                </a:lnTo>
                <a:lnTo>
                  <a:pt x="255" y="125"/>
                </a:lnTo>
                <a:lnTo>
                  <a:pt x="274" y="151"/>
                </a:lnTo>
                <a:lnTo>
                  <a:pt x="246" y="164"/>
                </a:lnTo>
                <a:lnTo>
                  <a:pt x="283" y="209"/>
                </a:lnTo>
                <a:lnTo>
                  <a:pt x="220" y="191"/>
                </a:lnTo>
                <a:lnTo>
                  <a:pt x="224" y="232"/>
                </a:lnTo>
                <a:lnTo>
                  <a:pt x="183" y="213"/>
                </a:lnTo>
                <a:lnTo>
                  <a:pt x="174" y="251"/>
                </a:lnTo>
                <a:lnTo>
                  <a:pt x="148" y="232"/>
                </a:lnTo>
                <a:lnTo>
                  <a:pt x="130" y="263"/>
                </a:lnTo>
                <a:lnTo>
                  <a:pt x="113" y="242"/>
                </a:lnTo>
                <a:lnTo>
                  <a:pt x="74" y="288"/>
                </a:lnTo>
                <a:lnTo>
                  <a:pt x="72" y="243"/>
                </a:lnTo>
                <a:lnTo>
                  <a:pt x="19" y="238"/>
                </a:lnTo>
                <a:lnTo>
                  <a:pt x="50" y="205"/>
                </a:lnTo>
                <a:lnTo>
                  <a:pt x="0" y="172"/>
                </a:lnTo>
                <a:lnTo>
                  <a:pt x="59" y="155"/>
                </a:lnTo>
                <a:lnTo>
                  <a:pt x="17" y="110"/>
                </a:lnTo>
                <a:lnTo>
                  <a:pt x="81" y="104"/>
                </a:lnTo>
                <a:lnTo>
                  <a:pt x="68" y="48"/>
                </a:lnTo>
                <a:lnTo>
                  <a:pt x="128" y="85"/>
                </a:lnTo>
                <a:lnTo>
                  <a:pt x="146" y="25"/>
                </a:lnTo>
                <a:lnTo>
                  <a:pt x="172" y="58"/>
                </a:lnTo>
                <a:close/>
              </a:path>
            </a:pathLst>
          </a:custGeom>
          <a:pattFill prst="shingle">
            <a:fgClr>
              <a:schemeClr val="accent2"/>
            </a:fgClr>
            <a:bgClr>
              <a:schemeClr val="bg1"/>
            </a:bgClr>
          </a:patt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16" name="Freeform 13">
            <a:extLst>
              <a:ext uri="{FF2B5EF4-FFF2-40B4-BE49-F238E27FC236}">
                <a16:creationId xmlns:a16="http://schemas.microsoft.com/office/drawing/2014/main" id="{54AB2567-09AE-4F68-B124-EC62A053F8A6}"/>
              </a:ext>
            </a:extLst>
          </p:cNvPr>
          <p:cNvSpPr>
            <a:spLocks/>
          </p:cNvSpPr>
          <p:nvPr/>
        </p:nvSpPr>
        <p:spPr bwMode="auto">
          <a:xfrm>
            <a:off x="4705350" y="3203575"/>
            <a:ext cx="514350" cy="457200"/>
          </a:xfrm>
          <a:custGeom>
            <a:avLst/>
            <a:gdLst>
              <a:gd name="T0" fmla="*/ 172 w 324"/>
              <a:gd name="T1" fmla="*/ 58 h 288"/>
              <a:gd name="T2" fmla="*/ 222 w 324"/>
              <a:gd name="T3" fmla="*/ 0 h 288"/>
              <a:gd name="T4" fmla="*/ 218 w 324"/>
              <a:gd name="T5" fmla="*/ 77 h 288"/>
              <a:gd name="T6" fmla="*/ 270 w 324"/>
              <a:gd name="T7" fmla="*/ 42 h 288"/>
              <a:gd name="T8" fmla="*/ 246 w 324"/>
              <a:gd name="T9" fmla="*/ 87 h 288"/>
              <a:gd name="T10" fmla="*/ 324 w 324"/>
              <a:gd name="T11" fmla="*/ 88 h 288"/>
              <a:gd name="T12" fmla="*/ 255 w 324"/>
              <a:gd name="T13" fmla="*/ 125 h 288"/>
              <a:gd name="T14" fmla="*/ 274 w 324"/>
              <a:gd name="T15" fmla="*/ 151 h 288"/>
              <a:gd name="T16" fmla="*/ 246 w 324"/>
              <a:gd name="T17" fmla="*/ 164 h 288"/>
              <a:gd name="T18" fmla="*/ 283 w 324"/>
              <a:gd name="T19" fmla="*/ 209 h 288"/>
              <a:gd name="T20" fmla="*/ 220 w 324"/>
              <a:gd name="T21" fmla="*/ 191 h 288"/>
              <a:gd name="T22" fmla="*/ 224 w 324"/>
              <a:gd name="T23" fmla="*/ 232 h 288"/>
              <a:gd name="T24" fmla="*/ 183 w 324"/>
              <a:gd name="T25" fmla="*/ 213 h 288"/>
              <a:gd name="T26" fmla="*/ 174 w 324"/>
              <a:gd name="T27" fmla="*/ 251 h 288"/>
              <a:gd name="T28" fmla="*/ 148 w 324"/>
              <a:gd name="T29" fmla="*/ 232 h 288"/>
              <a:gd name="T30" fmla="*/ 130 w 324"/>
              <a:gd name="T31" fmla="*/ 263 h 288"/>
              <a:gd name="T32" fmla="*/ 113 w 324"/>
              <a:gd name="T33" fmla="*/ 242 h 288"/>
              <a:gd name="T34" fmla="*/ 74 w 324"/>
              <a:gd name="T35" fmla="*/ 288 h 288"/>
              <a:gd name="T36" fmla="*/ 72 w 324"/>
              <a:gd name="T37" fmla="*/ 243 h 288"/>
              <a:gd name="T38" fmla="*/ 19 w 324"/>
              <a:gd name="T39" fmla="*/ 238 h 288"/>
              <a:gd name="T40" fmla="*/ 50 w 324"/>
              <a:gd name="T41" fmla="*/ 205 h 288"/>
              <a:gd name="T42" fmla="*/ 0 w 324"/>
              <a:gd name="T43" fmla="*/ 172 h 288"/>
              <a:gd name="T44" fmla="*/ 59 w 324"/>
              <a:gd name="T45" fmla="*/ 155 h 288"/>
              <a:gd name="T46" fmla="*/ 17 w 324"/>
              <a:gd name="T47" fmla="*/ 110 h 288"/>
              <a:gd name="T48" fmla="*/ 81 w 324"/>
              <a:gd name="T49" fmla="*/ 104 h 288"/>
              <a:gd name="T50" fmla="*/ 68 w 324"/>
              <a:gd name="T51" fmla="*/ 48 h 288"/>
              <a:gd name="T52" fmla="*/ 128 w 324"/>
              <a:gd name="T53" fmla="*/ 85 h 288"/>
              <a:gd name="T54" fmla="*/ 146 w 324"/>
              <a:gd name="T55" fmla="*/ 25 h 288"/>
              <a:gd name="T56" fmla="*/ 172 w 324"/>
              <a:gd name="T57" fmla="*/ 58 h 2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324" h="288">
                <a:moveTo>
                  <a:pt x="172" y="58"/>
                </a:moveTo>
                <a:lnTo>
                  <a:pt x="222" y="0"/>
                </a:lnTo>
                <a:lnTo>
                  <a:pt x="218" y="77"/>
                </a:lnTo>
                <a:lnTo>
                  <a:pt x="270" y="42"/>
                </a:lnTo>
                <a:lnTo>
                  <a:pt x="246" y="87"/>
                </a:lnTo>
                <a:lnTo>
                  <a:pt x="324" y="88"/>
                </a:lnTo>
                <a:lnTo>
                  <a:pt x="255" y="125"/>
                </a:lnTo>
                <a:lnTo>
                  <a:pt x="274" y="151"/>
                </a:lnTo>
                <a:lnTo>
                  <a:pt x="246" y="164"/>
                </a:lnTo>
                <a:lnTo>
                  <a:pt x="283" y="209"/>
                </a:lnTo>
                <a:lnTo>
                  <a:pt x="220" y="191"/>
                </a:lnTo>
                <a:lnTo>
                  <a:pt x="224" y="232"/>
                </a:lnTo>
                <a:lnTo>
                  <a:pt x="183" y="213"/>
                </a:lnTo>
                <a:lnTo>
                  <a:pt x="174" y="251"/>
                </a:lnTo>
                <a:lnTo>
                  <a:pt x="148" y="232"/>
                </a:lnTo>
                <a:lnTo>
                  <a:pt x="130" y="263"/>
                </a:lnTo>
                <a:lnTo>
                  <a:pt x="113" y="242"/>
                </a:lnTo>
                <a:lnTo>
                  <a:pt x="74" y="288"/>
                </a:lnTo>
                <a:lnTo>
                  <a:pt x="72" y="243"/>
                </a:lnTo>
                <a:lnTo>
                  <a:pt x="19" y="238"/>
                </a:lnTo>
                <a:lnTo>
                  <a:pt x="50" y="205"/>
                </a:lnTo>
                <a:lnTo>
                  <a:pt x="0" y="172"/>
                </a:lnTo>
                <a:lnTo>
                  <a:pt x="59" y="155"/>
                </a:lnTo>
                <a:lnTo>
                  <a:pt x="17" y="110"/>
                </a:lnTo>
                <a:lnTo>
                  <a:pt x="81" y="104"/>
                </a:lnTo>
                <a:lnTo>
                  <a:pt x="68" y="48"/>
                </a:lnTo>
                <a:lnTo>
                  <a:pt x="128" y="85"/>
                </a:lnTo>
                <a:lnTo>
                  <a:pt x="146" y="25"/>
                </a:lnTo>
                <a:lnTo>
                  <a:pt x="172" y="58"/>
                </a:lnTo>
                <a:close/>
              </a:path>
            </a:pathLst>
          </a:custGeom>
          <a:pattFill prst="shingle">
            <a:fgClr>
              <a:schemeClr val="accent2"/>
            </a:fgClr>
            <a:bgClr>
              <a:schemeClr val="bg1"/>
            </a:bgClr>
          </a:pattFill>
          <a:ln w="9525" cap="flat">
            <a:solidFill>
              <a:srgbClr val="3C09F7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17" name="Freeform 14">
            <a:extLst>
              <a:ext uri="{FF2B5EF4-FFF2-40B4-BE49-F238E27FC236}">
                <a16:creationId xmlns:a16="http://schemas.microsoft.com/office/drawing/2014/main" id="{490F5164-8FF0-45B7-BD41-5E4F53A81B9A}"/>
              </a:ext>
            </a:extLst>
          </p:cNvPr>
          <p:cNvSpPr>
            <a:spLocks/>
          </p:cNvSpPr>
          <p:nvPr/>
        </p:nvSpPr>
        <p:spPr bwMode="auto">
          <a:xfrm>
            <a:off x="5219700" y="3203575"/>
            <a:ext cx="515938" cy="457200"/>
          </a:xfrm>
          <a:custGeom>
            <a:avLst/>
            <a:gdLst>
              <a:gd name="T0" fmla="*/ 173 w 325"/>
              <a:gd name="T1" fmla="*/ 58 h 288"/>
              <a:gd name="T2" fmla="*/ 223 w 325"/>
              <a:gd name="T3" fmla="*/ 0 h 288"/>
              <a:gd name="T4" fmla="*/ 219 w 325"/>
              <a:gd name="T5" fmla="*/ 77 h 288"/>
              <a:gd name="T6" fmla="*/ 271 w 325"/>
              <a:gd name="T7" fmla="*/ 42 h 288"/>
              <a:gd name="T8" fmla="*/ 247 w 325"/>
              <a:gd name="T9" fmla="*/ 87 h 288"/>
              <a:gd name="T10" fmla="*/ 325 w 325"/>
              <a:gd name="T11" fmla="*/ 88 h 288"/>
              <a:gd name="T12" fmla="*/ 256 w 325"/>
              <a:gd name="T13" fmla="*/ 125 h 288"/>
              <a:gd name="T14" fmla="*/ 275 w 325"/>
              <a:gd name="T15" fmla="*/ 151 h 288"/>
              <a:gd name="T16" fmla="*/ 247 w 325"/>
              <a:gd name="T17" fmla="*/ 164 h 288"/>
              <a:gd name="T18" fmla="*/ 284 w 325"/>
              <a:gd name="T19" fmla="*/ 209 h 288"/>
              <a:gd name="T20" fmla="*/ 220 w 325"/>
              <a:gd name="T21" fmla="*/ 191 h 288"/>
              <a:gd name="T22" fmla="*/ 225 w 325"/>
              <a:gd name="T23" fmla="*/ 232 h 288"/>
              <a:gd name="T24" fmla="*/ 183 w 325"/>
              <a:gd name="T25" fmla="*/ 213 h 288"/>
              <a:gd name="T26" fmla="*/ 175 w 325"/>
              <a:gd name="T27" fmla="*/ 251 h 288"/>
              <a:gd name="T28" fmla="*/ 149 w 325"/>
              <a:gd name="T29" fmla="*/ 232 h 288"/>
              <a:gd name="T30" fmla="*/ 131 w 325"/>
              <a:gd name="T31" fmla="*/ 263 h 288"/>
              <a:gd name="T32" fmla="*/ 114 w 325"/>
              <a:gd name="T33" fmla="*/ 242 h 288"/>
              <a:gd name="T34" fmla="*/ 74 w 325"/>
              <a:gd name="T35" fmla="*/ 288 h 288"/>
              <a:gd name="T36" fmla="*/ 73 w 325"/>
              <a:gd name="T37" fmla="*/ 243 h 288"/>
              <a:gd name="T38" fmla="*/ 20 w 325"/>
              <a:gd name="T39" fmla="*/ 238 h 288"/>
              <a:gd name="T40" fmla="*/ 50 w 325"/>
              <a:gd name="T41" fmla="*/ 205 h 288"/>
              <a:gd name="T42" fmla="*/ 0 w 325"/>
              <a:gd name="T43" fmla="*/ 172 h 288"/>
              <a:gd name="T44" fmla="*/ 59 w 325"/>
              <a:gd name="T45" fmla="*/ 155 h 288"/>
              <a:gd name="T46" fmla="*/ 18 w 325"/>
              <a:gd name="T47" fmla="*/ 110 h 288"/>
              <a:gd name="T48" fmla="*/ 81 w 325"/>
              <a:gd name="T49" fmla="*/ 104 h 288"/>
              <a:gd name="T50" fmla="*/ 68 w 325"/>
              <a:gd name="T51" fmla="*/ 48 h 288"/>
              <a:gd name="T52" fmla="*/ 129 w 325"/>
              <a:gd name="T53" fmla="*/ 85 h 288"/>
              <a:gd name="T54" fmla="*/ 147 w 325"/>
              <a:gd name="T55" fmla="*/ 25 h 288"/>
              <a:gd name="T56" fmla="*/ 173 w 325"/>
              <a:gd name="T57" fmla="*/ 58 h 2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325" h="288">
                <a:moveTo>
                  <a:pt x="173" y="58"/>
                </a:moveTo>
                <a:lnTo>
                  <a:pt x="223" y="0"/>
                </a:lnTo>
                <a:lnTo>
                  <a:pt x="219" y="77"/>
                </a:lnTo>
                <a:lnTo>
                  <a:pt x="271" y="42"/>
                </a:lnTo>
                <a:lnTo>
                  <a:pt x="247" y="87"/>
                </a:lnTo>
                <a:lnTo>
                  <a:pt x="325" y="88"/>
                </a:lnTo>
                <a:lnTo>
                  <a:pt x="256" y="125"/>
                </a:lnTo>
                <a:lnTo>
                  <a:pt x="275" y="151"/>
                </a:lnTo>
                <a:lnTo>
                  <a:pt x="247" y="164"/>
                </a:lnTo>
                <a:lnTo>
                  <a:pt x="284" y="209"/>
                </a:lnTo>
                <a:lnTo>
                  <a:pt x="220" y="191"/>
                </a:lnTo>
                <a:lnTo>
                  <a:pt x="225" y="232"/>
                </a:lnTo>
                <a:lnTo>
                  <a:pt x="183" y="213"/>
                </a:lnTo>
                <a:lnTo>
                  <a:pt x="175" y="251"/>
                </a:lnTo>
                <a:lnTo>
                  <a:pt x="149" y="232"/>
                </a:lnTo>
                <a:lnTo>
                  <a:pt x="131" y="263"/>
                </a:lnTo>
                <a:lnTo>
                  <a:pt x="114" y="242"/>
                </a:lnTo>
                <a:lnTo>
                  <a:pt x="74" y="288"/>
                </a:lnTo>
                <a:lnTo>
                  <a:pt x="73" y="243"/>
                </a:lnTo>
                <a:lnTo>
                  <a:pt x="20" y="238"/>
                </a:lnTo>
                <a:lnTo>
                  <a:pt x="50" y="205"/>
                </a:lnTo>
                <a:lnTo>
                  <a:pt x="0" y="172"/>
                </a:lnTo>
                <a:lnTo>
                  <a:pt x="59" y="155"/>
                </a:lnTo>
                <a:lnTo>
                  <a:pt x="18" y="110"/>
                </a:lnTo>
                <a:lnTo>
                  <a:pt x="81" y="104"/>
                </a:lnTo>
                <a:lnTo>
                  <a:pt x="68" y="48"/>
                </a:lnTo>
                <a:lnTo>
                  <a:pt x="129" y="85"/>
                </a:lnTo>
                <a:lnTo>
                  <a:pt x="147" y="25"/>
                </a:lnTo>
                <a:lnTo>
                  <a:pt x="173" y="58"/>
                </a:lnTo>
                <a:close/>
              </a:path>
            </a:pathLst>
          </a:custGeom>
          <a:pattFill prst="shingle">
            <a:fgClr>
              <a:schemeClr val="accent2"/>
            </a:fgClr>
            <a:bgClr>
              <a:schemeClr val="bg1"/>
            </a:bgClr>
          </a:patt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18" name="Freeform 15">
            <a:extLst>
              <a:ext uri="{FF2B5EF4-FFF2-40B4-BE49-F238E27FC236}">
                <a16:creationId xmlns:a16="http://schemas.microsoft.com/office/drawing/2014/main" id="{BE5DE6F5-8196-46DA-957A-0E3D4932679B}"/>
              </a:ext>
            </a:extLst>
          </p:cNvPr>
          <p:cNvSpPr>
            <a:spLocks/>
          </p:cNvSpPr>
          <p:nvPr/>
        </p:nvSpPr>
        <p:spPr bwMode="auto">
          <a:xfrm>
            <a:off x="5219700" y="3203575"/>
            <a:ext cx="515938" cy="457200"/>
          </a:xfrm>
          <a:custGeom>
            <a:avLst/>
            <a:gdLst>
              <a:gd name="T0" fmla="*/ 173 w 325"/>
              <a:gd name="T1" fmla="*/ 58 h 288"/>
              <a:gd name="T2" fmla="*/ 223 w 325"/>
              <a:gd name="T3" fmla="*/ 0 h 288"/>
              <a:gd name="T4" fmla="*/ 219 w 325"/>
              <a:gd name="T5" fmla="*/ 77 h 288"/>
              <a:gd name="T6" fmla="*/ 271 w 325"/>
              <a:gd name="T7" fmla="*/ 42 h 288"/>
              <a:gd name="T8" fmla="*/ 247 w 325"/>
              <a:gd name="T9" fmla="*/ 87 h 288"/>
              <a:gd name="T10" fmla="*/ 325 w 325"/>
              <a:gd name="T11" fmla="*/ 88 h 288"/>
              <a:gd name="T12" fmla="*/ 256 w 325"/>
              <a:gd name="T13" fmla="*/ 125 h 288"/>
              <a:gd name="T14" fmla="*/ 275 w 325"/>
              <a:gd name="T15" fmla="*/ 151 h 288"/>
              <a:gd name="T16" fmla="*/ 247 w 325"/>
              <a:gd name="T17" fmla="*/ 164 h 288"/>
              <a:gd name="T18" fmla="*/ 284 w 325"/>
              <a:gd name="T19" fmla="*/ 209 h 288"/>
              <a:gd name="T20" fmla="*/ 220 w 325"/>
              <a:gd name="T21" fmla="*/ 191 h 288"/>
              <a:gd name="T22" fmla="*/ 225 w 325"/>
              <a:gd name="T23" fmla="*/ 232 h 288"/>
              <a:gd name="T24" fmla="*/ 183 w 325"/>
              <a:gd name="T25" fmla="*/ 213 h 288"/>
              <a:gd name="T26" fmla="*/ 175 w 325"/>
              <a:gd name="T27" fmla="*/ 251 h 288"/>
              <a:gd name="T28" fmla="*/ 149 w 325"/>
              <a:gd name="T29" fmla="*/ 232 h 288"/>
              <a:gd name="T30" fmla="*/ 131 w 325"/>
              <a:gd name="T31" fmla="*/ 263 h 288"/>
              <a:gd name="T32" fmla="*/ 114 w 325"/>
              <a:gd name="T33" fmla="*/ 242 h 288"/>
              <a:gd name="T34" fmla="*/ 74 w 325"/>
              <a:gd name="T35" fmla="*/ 288 h 288"/>
              <a:gd name="T36" fmla="*/ 73 w 325"/>
              <a:gd name="T37" fmla="*/ 243 h 288"/>
              <a:gd name="T38" fmla="*/ 20 w 325"/>
              <a:gd name="T39" fmla="*/ 238 h 288"/>
              <a:gd name="T40" fmla="*/ 50 w 325"/>
              <a:gd name="T41" fmla="*/ 205 h 288"/>
              <a:gd name="T42" fmla="*/ 0 w 325"/>
              <a:gd name="T43" fmla="*/ 172 h 288"/>
              <a:gd name="T44" fmla="*/ 59 w 325"/>
              <a:gd name="T45" fmla="*/ 155 h 288"/>
              <a:gd name="T46" fmla="*/ 18 w 325"/>
              <a:gd name="T47" fmla="*/ 110 h 288"/>
              <a:gd name="T48" fmla="*/ 81 w 325"/>
              <a:gd name="T49" fmla="*/ 104 h 288"/>
              <a:gd name="T50" fmla="*/ 68 w 325"/>
              <a:gd name="T51" fmla="*/ 48 h 288"/>
              <a:gd name="T52" fmla="*/ 129 w 325"/>
              <a:gd name="T53" fmla="*/ 85 h 288"/>
              <a:gd name="T54" fmla="*/ 147 w 325"/>
              <a:gd name="T55" fmla="*/ 25 h 288"/>
              <a:gd name="T56" fmla="*/ 173 w 325"/>
              <a:gd name="T57" fmla="*/ 58 h 2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325" h="288">
                <a:moveTo>
                  <a:pt x="173" y="58"/>
                </a:moveTo>
                <a:lnTo>
                  <a:pt x="223" y="0"/>
                </a:lnTo>
                <a:lnTo>
                  <a:pt x="219" y="77"/>
                </a:lnTo>
                <a:lnTo>
                  <a:pt x="271" y="42"/>
                </a:lnTo>
                <a:lnTo>
                  <a:pt x="247" y="87"/>
                </a:lnTo>
                <a:lnTo>
                  <a:pt x="325" y="88"/>
                </a:lnTo>
                <a:lnTo>
                  <a:pt x="256" y="125"/>
                </a:lnTo>
                <a:lnTo>
                  <a:pt x="275" y="151"/>
                </a:lnTo>
                <a:lnTo>
                  <a:pt x="247" y="164"/>
                </a:lnTo>
                <a:lnTo>
                  <a:pt x="284" y="209"/>
                </a:lnTo>
                <a:lnTo>
                  <a:pt x="220" y="191"/>
                </a:lnTo>
                <a:lnTo>
                  <a:pt x="225" y="232"/>
                </a:lnTo>
                <a:lnTo>
                  <a:pt x="183" y="213"/>
                </a:lnTo>
                <a:lnTo>
                  <a:pt x="175" y="251"/>
                </a:lnTo>
                <a:lnTo>
                  <a:pt x="149" y="232"/>
                </a:lnTo>
                <a:lnTo>
                  <a:pt x="131" y="263"/>
                </a:lnTo>
                <a:lnTo>
                  <a:pt x="114" y="242"/>
                </a:lnTo>
                <a:lnTo>
                  <a:pt x="74" y="288"/>
                </a:lnTo>
                <a:lnTo>
                  <a:pt x="73" y="243"/>
                </a:lnTo>
                <a:lnTo>
                  <a:pt x="20" y="238"/>
                </a:lnTo>
                <a:lnTo>
                  <a:pt x="50" y="205"/>
                </a:lnTo>
                <a:lnTo>
                  <a:pt x="0" y="172"/>
                </a:lnTo>
                <a:lnTo>
                  <a:pt x="59" y="155"/>
                </a:lnTo>
                <a:lnTo>
                  <a:pt x="18" y="110"/>
                </a:lnTo>
                <a:lnTo>
                  <a:pt x="81" y="104"/>
                </a:lnTo>
                <a:lnTo>
                  <a:pt x="68" y="48"/>
                </a:lnTo>
                <a:lnTo>
                  <a:pt x="129" y="85"/>
                </a:lnTo>
                <a:lnTo>
                  <a:pt x="147" y="25"/>
                </a:lnTo>
                <a:lnTo>
                  <a:pt x="173" y="58"/>
                </a:lnTo>
                <a:close/>
              </a:path>
            </a:pathLst>
          </a:custGeom>
          <a:pattFill prst="shingle">
            <a:fgClr>
              <a:schemeClr val="accent2"/>
            </a:fgClr>
            <a:bgClr>
              <a:schemeClr val="bg1"/>
            </a:bgClr>
          </a:pattFill>
          <a:ln w="9525" cap="flat">
            <a:solidFill>
              <a:srgbClr val="3C09F7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19" name="Freeform 16">
            <a:extLst>
              <a:ext uri="{FF2B5EF4-FFF2-40B4-BE49-F238E27FC236}">
                <a16:creationId xmlns:a16="http://schemas.microsoft.com/office/drawing/2014/main" id="{5460B587-A576-45C6-9038-13962E3F4F5A}"/>
              </a:ext>
            </a:extLst>
          </p:cNvPr>
          <p:cNvSpPr>
            <a:spLocks/>
          </p:cNvSpPr>
          <p:nvPr/>
        </p:nvSpPr>
        <p:spPr bwMode="auto">
          <a:xfrm>
            <a:off x="5735638" y="3203575"/>
            <a:ext cx="515938" cy="457200"/>
          </a:xfrm>
          <a:custGeom>
            <a:avLst/>
            <a:gdLst>
              <a:gd name="T0" fmla="*/ 172 w 325"/>
              <a:gd name="T1" fmla="*/ 58 h 288"/>
              <a:gd name="T2" fmla="*/ 222 w 325"/>
              <a:gd name="T3" fmla="*/ 0 h 288"/>
              <a:gd name="T4" fmla="*/ 218 w 325"/>
              <a:gd name="T5" fmla="*/ 77 h 288"/>
              <a:gd name="T6" fmla="*/ 271 w 325"/>
              <a:gd name="T7" fmla="*/ 42 h 288"/>
              <a:gd name="T8" fmla="*/ 246 w 325"/>
              <a:gd name="T9" fmla="*/ 87 h 288"/>
              <a:gd name="T10" fmla="*/ 325 w 325"/>
              <a:gd name="T11" fmla="*/ 88 h 288"/>
              <a:gd name="T12" fmla="*/ 255 w 325"/>
              <a:gd name="T13" fmla="*/ 125 h 288"/>
              <a:gd name="T14" fmla="*/ 275 w 325"/>
              <a:gd name="T15" fmla="*/ 151 h 288"/>
              <a:gd name="T16" fmla="*/ 246 w 325"/>
              <a:gd name="T17" fmla="*/ 164 h 288"/>
              <a:gd name="T18" fmla="*/ 284 w 325"/>
              <a:gd name="T19" fmla="*/ 209 h 288"/>
              <a:gd name="T20" fmla="*/ 220 w 325"/>
              <a:gd name="T21" fmla="*/ 191 h 288"/>
              <a:gd name="T22" fmla="*/ 225 w 325"/>
              <a:gd name="T23" fmla="*/ 232 h 288"/>
              <a:gd name="T24" fmla="*/ 183 w 325"/>
              <a:gd name="T25" fmla="*/ 213 h 288"/>
              <a:gd name="T26" fmla="*/ 175 w 325"/>
              <a:gd name="T27" fmla="*/ 251 h 288"/>
              <a:gd name="T28" fmla="*/ 148 w 325"/>
              <a:gd name="T29" fmla="*/ 232 h 288"/>
              <a:gd name="T30" fmla="*/ 131 w 325"/>
              <a:gd name="T31" fmla="*/ 263 h 288"/>
              <a:gd name="T32" fmla="*/ 113 w 325"/>
              <a:gd name="T33" fmla="*/ 242 h 288"/>
              <a:gd name="T34" fmla="*/ 74 w 325"/>
              <a:gd name="T35" fmla="*/ 288 h 288"/>
              <a:gd name="T36" fmla="*/ 72 w 325"/>
              <a:gd name="T37" fmla="*/ 243 h 288"/>
              <a:gd name="T38" fmla="*/ 19 w 325"/>
              <a:gd name="T39" fmla="*/ 238 h 288"/>
              <a:gd name="T40" fmla="*/ 50 w 325"/>
              <a:gd name="T41" fmla="*/ 205 h 288"/>
              <a:gd name="T42" fmla="*/ 0 w 325"/>
              <a:gd name="T43" fmla="*/ 172 h 288"/>
              <a:gd name="T44" fmla="*/ 59 w 325"/>
              <a:gd name="T45" fmla="*/ 155 h 288"/>
              <a:gd name="T46" fmla="*/ 18 w 325"/>
              <a:gd name="T47" fmla="*/ 110 h 288"/>
              <a:gd name="T48" fmla="*/ 81 w 325"/>
              <a:gd name="T49" fmla="*/ 104 h 288"/>
              <a:gd name="T50" fmla="*/ 68 w 325"/>
              <a:gd name="T51" fmla="*/ 48 h 288"/>
              <a:gd name="T52" fmla="*/ 128 w 325"/>
              <a:gd name="T53" fmla="*/ 85 h 288"/>
              <a:gd name="T54" fmla="*/ 146 w 325"/>
              <a:gd name="T55" fmla="*/ 25 h 288"/>
              <a:gd name="T56" fmla="*/ 172 w 325"/>
              <a:gd name="T57" fmla="*/ 58 h 2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325" h="288">
                <a:moveTo>
                  <a:pt x="172" y="58"/>
                </a:moveTo>
                <a:lnTo>
                  <a:pt x="222" y="0"/>
                </a:lnTo>
                <a:lnTo>
                  <a:pt x="218" y="77"/>
                </a:lnTo>
                <a:lnTo>
                  <a:pt x="271" y="42"/>
                </a:lnTo>
                <a:lnTo>
                  <a:pt x="246" y="87"/>
                </a:lnTo>
                <a:lnTo>
                  <a:pt x="325" y="88"/>
                </a:lnTo>
                <a:lnTo>
                  <a:pt x="255" y="125"/>
                </a:lnTo>
                <a:lnTo>
                  <a:pt x="275" y="151"/>
                </a:lnTo>
                <a:lnTo>
                  <a:pt x="246" y="164"/>
                </a:lnTo>
                <a:lnTo>
                  <a:pt x="284" y="209"/>
                </a:lnTo>
                <a:lnTo>
                  <a:pt x="220" y="191"/>
                </a:lnTo>
                <a:lnTo>
                  <a:pt x="225" y="232"/>
                </a:lnTo>
                <a:lnTo>
                  <a:pt x="183" y="213"/>
                </a:lnTo>
                <a:lnTo>
                  <a:pt x="175" y="251"/>
                </a:lnTo>
                <a:lnTo>
                  <a:pt x="148" y="232"/>
                </a:lnTo>
                <a:lnTo>
                  <a:pt x="131" y="263"/>
                </a:lnTo>
                <a:lnTo>
                  <a:pt x="113" y="242"/>
                </a:lnTo>
                <a:lnTo>
                  <a:pt x="74" y="288"/>
                </a:lnTo>
                <a:lnTo>
                  <a:pt x="72" y="243"/>
                </a:lnTo>
                <a:lnTo>
                  <a:pt x="19" y="238"/>
                </a:lnTo>
                <a:lnTo>
                  <a:pt x="50" y="205"/>
                </a:lnTo>
                <a:lnTo>
                  <a:pt x="0" y="172"/>
                </a:lnTo>
                <a:lnTo>
                  <a:pt x="59" y="155"/>
                </a:lnTo>
                <a:lnTo>
                  <a:pt x="18" y="110"/>
                </a:lnTo>
                <a:lnTo>
                  <a:pt x="81" y="104"/>
                </a:lnTo>
                <a:lnTo>
                  <a:pt x="68" y="48"/>
                </a:lnTo>
                <a:lnTo>
                  <a:pt x="128" y="85"/>
                </a:lnTo>
                <a:lnTo>
                  <a:pt x="146" y="25"/>
                </a:lnTo>
                <a:lnTo>
                  <a:pt x="172" y="58"/>
                </a:lnTo>
                <a:close/>
              </a:path>
            </a:pathLst>
          </a:custGeom>
          <a:pattFill prst="shingle">
            <a:fgClr>
              <a:schemeClr val="accent2"/>
            </a:fgClr>
            <a:bgClr>
              <a:schemeClr val="bg1"/>
            </a:bgClr>
          </a:patt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20" name="Freeform 17">
            <a:extLst>
              <a:ext uri="{FF2B5EF4-FFF2-40B4-BE49-F238E27FC236}">
                <a16:creationId xmlns:a16="http://schemas.microsoft.com/office/drawing/2014/main" id="{A5B63F79-B96D-4CF9-8252-FB3F457F3544}"/>
              </a:ext>
            </a:extLst>
          </p:cNvPr>
          <p:cNvSpPr>
            <a:spLocks/>
          </p:cNvSpPr>
          <p:nvPr/>
        </p:nvSpPr>
        <p:spPr bwMode="auto">
          <a:xfrm>
            <a:off x="5735638" y="3203575"/>
            <a:ext cx="515938" cy="457200"/>
          </a:xfrm>
          <a:custGeom>
            <a:avLst/>
            <a:gdLst>
              <a:gd name="T0" fmla="*/ 172 w 325"/>
              <a:gd name="T1" fmla="*/ 58 h 288"/>
              <a:gd name="T2" fmla="*/ 222 w 325"/>
              <a:gd name="T3" fmla="*/ 0 h 288"/>
              <a:gd name="T4" fmla="*/ 218 w 325"/>
              <a:gd name="T5" fmla="*/ 77 h 288"/>
              <a:gd name="T6" fmla="*/ 271 w 325"/>
              <a:gd name="T7" fmla="*/ 42 h 288"/>
              <a:gd name="T8" fmla="*/ 246 w 325"/>
              <a:gd name="T9" fmla="*/ 87 h 288"/>
              <a:gd name="T10" fmla="*/ 325 w 325"/>
              <a:gd name="T11" fmla="*/ 88 h 288"/>
              <a:gd name="T12" fmla="*/ 255 w 325"/>
              <a:gd name="T13" fmla="*/ 125 h 288"/>
              <a:gd name="T14" fmla="*/ 275 w 325"/>
              <a:gd name="T15" fmla="*/ 151 h 288"/>
              <a:gd name="T16" fmla="*/ 246 w 325"/>
              <a:gd name="T17" fmla="*/ 164 h 288"/>
              <a:gd name="T18" fmla="*/ 284 w 325"/>
              <a:gd name="T19" fmla="*/ 209 h 288"/>
              <a:gd name="T20" fmla="*/ 220 w 325"/>
              <a:gd name="T21" fmla="*/ 191 h 288"/>
              <a:gd name="T22" fmla="*/ 225 w 325"/>
              <a:gd name="T23" fmla="*/ 232 h 288"/>
              <a:gd name="T24" fmla="*/ 183 w 325"/>
              <a:gd name="T25" fmla="*/ 213 h 288"/>
              <a:gd name="T26" fmla="*/ 175 w 325"/>
              <a:gd name="T27" fmla="*/ 251 h 288"/>
              <a:gd name="T28" fmla="*/ 148 w 325"/>
              <a:gd name="T29" fmla="*/ 232 h 288"/>
              <a:gd name="T30" fmla="*/ 131 w 325"/>
              <a:gd name="T31" fmla="*/ 263 h 288"/>
              <a:gd name="T32" fmla="*/ 113 w 325"/>
              <a:gd name="T33" fmla="*/ 242 h 288"/>
              <a:gd name="T34" fmla="*/ 74 w 325"/>
              <a:gd name="T35" fmla="*/ 288 h 288"/>
              <a:gd name="T36" fmla="*/ 72 w 325"/>
              <a:gd name="T37" fmla="*/ 243 h 288"/>
              <a:gd name="T38" fmla="*/ 19 w 325"/>
              <a:gd name="T39" fmla="*/ 238 h 288"/>
              <a:gd name="T40" fmla="*/ 50 w 325"/>
              <a:gd name="T41" fmla="*/ 205 h 288"/>
              <a:gd name="T42" fmla="*/ 0 w 325"/>
              <a:gd name="T43" fmla="*/ 172 h 288"/>
              <a:gd name="T44" fmla="*/ 59 w 325"/>
              <a:gd name="T45" fmla="*/ 155 h 288"/>
              <a:gd name="T46" fmla="*/ 18 w 325"/>
              <a:gd name="T47" fmla="*/ 110 h 288"/>
              <a:gd name="T48" fmla="*/ 81 w 325"/>
              <a:gd name="T49" fmla="*/ 104 h 288"/>
              <a:gd name="T50" fmla="*/ 68 w 325"/>
              <a:gd name="T51" fmla="*/ 48 h 288"/>
              <a:gd name="T52" fmla="*/ 128 w 325"/>
              <a:gd name="T53" fmla="*/ 85 h 288"/>
              <a:gd name="T54" fmla="*/ 146 w 325"/>
              <a:gd name="T55" fmla="*/ 25 h 288"/>
              <a:gd name="T56" fmla="*/ 172 w 325"/>
              <a:gd name="T57" fmla="*/ 58 h 2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325" h="288">
                <a:moveTo>
                  <a:pt x="172" y="58"/>
                </a:moveTo>
                <a:lnTo>
                  <a:pt x="222" y="0"/>
                </a:lnTo>
                <a:lnTo>
                  <a:pt x="218" y="77"/>
                </a:lnTo>
                <a:lnTo>
                  <a:pt x="271" y="42"/>
                </a:lnTo>
                <a:lnTo>
                  <a:pt x="246" y="87"/>
                </a:lnTo>
                <a:lnTo>
                  <a:pt x="325" y="88"/>
                </a:lnTo>
                <a:lnTo>
                  <a:pt x="255" y="125"/>
                </a:lnTo>
                <a:lnTo>
                  <a:pt x="275" y="151"/>
                </a:lnTo>
                <a:lnTo>
                  <a:pt x="246" y="164"/>
                </a:lnTo>
                <a:lnTo>
                  <a:pt x="284" y="209"/>
                </a:lnTo>
                <a:lnTo>
                  <a:pt x="220" y="191"/>
                </a:lnTo>
                <a:lnTo>
                  <a:pt x="225" y="232"/>
                </a:lnTo>
                <a:lnTo>
                  <a:pt x="183" y="213"/>
                </a:lnTo>
                <a:lnTo>
                  <a:pt x="175" y="251"/>
                </a:lnTo>
                <a:lnTo>
                  <a:pt x="148" y="232"/>
                </a:lnTo>
                <a:lnTo>
                  <a:pt x="131" y="263"/>
                </a:lnTo>
                <a:lnTo>
                  <a:pt x="113" y="242"/>
                </a:lnTo>
                <a:lnTo>
                  <a:pt x="74" y="288"/>
                </a:lnTo>
                <a:lnTo>
                  <a:pt x="72" y="243"/>
                </a:lnTo>
                <a:lnTo>
                  <a:pt x="19" y="238"/>
                </a:lnTo>
                <a:lnTo>
                  <a:pt x="50" y="205"/>
                </a:lnTo>
                <a:lnTo>
                  <a:pt x="0" y="172"/>
                </a:lnTo>
                <a:lnTo>
                  <a:pt x="59" y="155"/>
                </a:lnTo>
                <a:lnTo>
                  <a:pt x="18" y="110"/>
                </a:lnTo>
                <a:lnTo>
                  <a:pt x="81" y="104"/>
                </a:lnTo>
                <a:lnTo>
                  <a:pt x="68" y="48"/>
                </a:lnTo>
                <a:lnTo>
                  <a:pt x="128" y="85"/>
                </a:lnTo>
                <a:lnTo>
                  <a:pt x="146" y="25"/>
                </a:lnTo>
                <a:lnTo>
                  <a:pt x="172" y="58"/>
                </a:lnTo>
                <a:close/>
              </a:path>
            </a:pathLst>
          </a:custGeom>
          <a:pattFill prst="shingle">
            <a:fgClr>
              <a:schemeClr val="accent2"/>
            </a:fgClr>
            <a:bgClr>
              <a:schemeClr val="bg1"/>
            </a:bgClr>
          </a:pattFill>
          <a:ln w="9525" cap="flat">
            <a:solidFill>
              <a:srgbClr val="3C09F7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21" name="Freeform 18">
            <a:extLst>
              <a:ext uri="{FF2B5EF4-FFF2-40B4-BE49-F238E27FC236}">
                <a16:creationId xmlns:a16="http://schemas.microsoft.com/office/drawing/2014/main" id="{DDB03D5E-B57D-45A7-8E86-B972D9448008}"/>
              </a:ext>
            </a:extLst>
          </p:cNvPr>
          <p:cNvSpPr>
            <a:spLocks noEditPoints="1"/>
          </p:cNvSpPr>
          <p:nvPr/>
        </p:nvSpPr>
        <p:spPr bwMode="auto">
          <a:xfrm>
            <a:off x="4094163" y="2876550"/>
            <a:ext cx="387350" cy="898525"/>
          </a:xfrm>
          <a:custGeom>
            <a:avLst/>
            <a:gdLst>
              <a:gd name="T0" fmla="*/ 12 w 244"/>
              <a:gd name="T1" fmla="*/ 0 h 566"/>
              <a:gd name="T2" fmla="*/ 234 w 244"/>
              <a:gd name="T3" fmla="*/ 532 h 566"/>
              <a:gd name="T4" fmla="*/ 221 w 244"/>
              <a:gd name="T5" fmla="*/ 538 h 566"/>
              <a:gd name="T6" fmla="*/ 0 w 244"/>
              <a:gd name="T7" fmla="*/ 6 h 566"/>
              <a:gd name="T8" fmla="*/ 12 w 244"/>
              <a:gd name="T9" fmla="*/ 0 h 566"/>
              <a:gd name="T10" fmla="*/ 244 w 244"/>
              <a:gd name="T11" fmla="*/ 521 h 566"/>
              <a:gd name="T12" fmla="*/ 240 w 244"/>
              <a:gd name="T13" fmla="*/ 566 h 566"/>
              <a:gd name="T14" fmla="*/ 206 w 244"/>
              <a:gd name="T15" fmla="*/ 537 h 566"/>
              <a:gd name="T16" fmla="*/ 244 w 244"/>
              <a:gd name="T17" fmla="*/ 521 h 56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244" h="566">
                <a:moveTo>
                  <a:pt x="12" y="0"/>
                </a:moveTo>
                <a:lnTo>
                  <a:pt x="234" y="532"/>
                </a:lnTo>
                <a:lnTo>
                  <a:pt x="221" y="538"/>
                </a:lnTo>
                <a:lnTo>
                  <a:pt x="0" y="6"/>
                </a:lnTo>
                <a:lnTo>
                  <a:pt x="12" y="0"/>
                </a:lnTo>
                <a:close/>
                <a:moveTo>
                  <a:pt x="244" y="521"/>
                </a:moveTo>
                <a:lnTo>
                  <a:pt x="240" y="566"/>
                </a:lnTo>
                <a:lnTo>
                  <a:pt x="206" y="537"/>
                </a:lnTo>
                <a:lnTo>
                  <a:pt x="244" y="521"/>
                </a:lnTo>
                <a:close/>
              </a:path>
            </a:pathLst>
          </a:custGeom>
          <a:solidFill>
            <a:srgbClr val="009900"/>
          </a:solidFill>
          <a:ln w="0" cap="flat">
            <a:solidFill>
              <a:srgbClr val="0099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22" name="Rectangle 19">
            <a:extLst>
              <a:ext uri="{FF2B5EF4-FFF2-40B4-BE49-F238E27FC236}">
                <a16:creationId xmlns:a16="http://schemas.microsoft.com/office/drawing/2014/main" id="{1ADE0587-AF2B-418A-8A48-23FDA187A58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11300" y="2670175"/>
            <a:ext cx="49694" cy="2154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zh-CN" altLang="zh-CN" sz="1400" i="1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rPr>
              <a:t>I</a:t>
            </a:r>
            <a:endParaRPr kumimoji="0" lang="zh-CN" altLang="zh-CN" sz="1800" i="1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  <a:ea typeface="SimHei" panose="02010609060101010101" pitchFamily="49" charset="-122"/>
            </a:endParaRPr>
          </a:p>
        </p:txBody>
      </p:sp>
      <p:sp>
        <p:nvSpPr>
          <p:cNvPr id="23" name="Rectangle 20">
            <a:extLst>
              <a:ext uri="{FF2B5EF4-FFF2-40B4-BE49-F238E27FC236}">
                <a16:creationId xmlns:a16="http://schemas.microsoft.com/office/drawing/2014/main" id="{11925C61-3C62-4B21-9CF8-DB0D70F790D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489075" y="2879725"/>
            <a:ext cx="99386" cy="2154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zh-CN" altLang="zh-CN" sz="1400" i="1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rPr>
              <a:t>n</a:t>
            </a:r>
            <a:endParaRPr kumimoji="0" lang="zh-CN" altLang="zh-CN" sz="1800" i="1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  <a:ea typeface="SimHei" panose="02010609060101010101" pitchFamily="49" charset="-122"/>
            </a:endParaRPr>
          </a:p>
        </p:txBody>
      </p:sp>
      <p:sp>
        <p:nvSpPr>
          <p:cNvPr id="24" name="Rectangle 21">
            <a:extLst>
              <a:ext uri="{FF2B5EF4-FFF2-40B4-BE49-F238E27FC236}">
                <a16:creationId xmlns:a16="http://schemas.microsoft.com/office/drawing/2014/main" id="{0D1B9D1E-2EA6-4A17-912E-6C16AC094A94}"/>
              </a:ext>
            </a:extLst>
          </p:cNvPr>
          <p:cNvSpPr>
            <a:spLocks noChangeArrowheads="1"/>
          </p:cNvSpPr>
          <p:nvPr/>
        </p:nvSpPr>
        <p:spPr bwMode="auto">
          <a:xfrm>
            <a:off x="1489075" y="3087688"/>
            <a:ext cx="89768" cy="2154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zh-CN" altLang="zh-CN" sz="1400" i="1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rPr>
              <a:t>s</a:t>
            </a:r>
            <a:endParaRPr kumimoji="0" lang="zh-CN" altLang="zh-CN" sz="1800" i="1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  <a:ea typeface="SimHei" panose="02010609060101010101" pitchFamily="49" charset="-122"/>
            </a:endParaRPr>
          </a:p>
        </p:txBody>
      </p:sp>
      <p:sp>
        <p:nvSpPr>
          <p:cNvPr id="25" name="Rectangle 22">
            <a:extLst>
              <a:ext uri="{FF2B5EF4-FFF2-40B4-BE49-F238E27FC236}">
                <a16:creationId xmlns:a16="http://schemas.microsoft.com/office/drawing/2014/main" id="{EA61D33A-247F-459D-B226-211DDF06786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11300" y="3295650"/>
            <a:ext cx="49694" cy="2154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zh-CN" altLang="zh-CN" sz="1400" i="1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rPr>
              <a:t>t</a:t>
            </a:r>
            <a:endParaRPr kumimoji="0" lang="zh-CN" altLang="zh-CN" sz="1800" i="1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  <a:ea typeface="SimHei" panose="02010609060101010101" pitchFamily="49" charset="-122"/>
            </a:endParaRPr>
          </a:p>
        </p:txBody>
      </p:sp>
      <p:sp>
        <p:nvSpPr>
          <p:cNvPr id="26" name="Rectangle 23">
            <a:extLst>
              <a:ext uri="{FF2B5EF4-FFF2-40B4-BE49-F238E27FC236}">
                <a16:creationId xmlns:a16="http://schemas.microsoft.com/office/drawing/2014/main" id="{E92B40A4-AA46-4F24-95C1-B14F90E499C5}"/>
              </a:ext>
            </a:extLst>
          </p:cNvPr>
          <p:cNvSpPr>
            <a:spLocks noChangeArrowheads="1"/>
          </p:cNvSpPr>
          <p:nvPr/>
        </p:nvSpPr>
        <p:spPr bwMode="auto">
          <a:xfrm>
            <a:off x="1482725" y="3500438"/>
            <a:ext cx="102336" cy="2154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zh-CN" altLang="zh-CN" sz="1400" i="1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rPr>
              <a:t>r.</a:t>
            </a:r>
            <a:endParaRPr kumimoji="0" lang="zh-CN" altLang="zh-CN" sz="1800" i="1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  <a:ea typeface="SimHei" panose="02010609060101010101" pitchFamily="49" charset="-122"/>
            </a:endParaRPr>
          </a:p>
        </p:txBody>
      </p:sp>
      <p:sp>
        <p:nvSpPr>
          <p:cNvPr id="27" name="Rectangle 24">
            <a:extLst>
              <a:ext uri="{FF2B5EF4-FFF2-40B4-BE49-F238E27FC236}">
                <a16:creationId xmlns:a16="http://schemas.microsoft.com/office/drawing/2014/main" id="{81522CFD-45BB-4AA1-9174-C095D460D85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468438" y="3908425"/>
            <a:ext cx="139462" cy="2154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zh-CN" altLang="zh-CN" sz="1400" i="1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rPr>
              <a:t>O</a:t>
            </a:r>
            <a:endParaRPr kumimoji="0" lang="zh-CN" altLang="zh-CN" sz="1800" i="1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  <a:ea typeface="SimHei" panose="02010609060101010101" pitchFamily="49" charset="-122"/>
            </a:endParaRPr>
          </a:p>
        </p:txBody>
      </p:sp>
      <p:sp>
        <p:nvSpPr>
          <p:cNvPr id="28" name="Rectangle 25">
            <a:extLst>
              <a:ext uri="{FF2B5EF4-FFF2-40B4-BE49-F238E27FC236}">
                <a16:creationId xmlns:a16="http://schemas.microsoft.com/office/drawing/2014/main" id="{0CBB3157-DCD5-43CF-8634-11705D27BF4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03363" y="4117975"/>
            <a:ext cx="59312" cy="2154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zh-CN" altLang="zh-CN" sz="1400" i="1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rPr>
              <a:t>r</a:t>
            </a:r>
            <a:endParaRPr kumimoji="0" lang="zh-CN" altLang="zh-CN" sz="1800" i="1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  <a:ea typeface="SimHei" panose="02010609060101010101" pitchFamily="49" charset="-122"/>
            </a:endParaRPr>
          </a:p>
        </p:txBody>
      </p:sp>
      <p:sp>
        <p:nvSpPr>
          <p:cNvPr id="29" name="Rectangle 26">
            <a:extLst>
              <a:ext uri="{FF2B5EF4-FFF2-40B4-BE49-F238E27FC236}">
                <a16:creationId xmlns:a16="http://schemas.microsoft.com/office/drawing/2014/main" id="{E93FD625-72B1-4050-A655-EB0FA7F2069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489075" y="4325938"/>
            <a:ext cx="99386" cy="2154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zh-CN" altLang="zh-CN" sz="1400" i="1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rPr>
              <a:t>d</a:t>
            </a:r>
            <a:endParaRPr kumimoji="0" lang="zh-CN" altLang="zh-CN" sz="1800" i="1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  <a:ea typeface="SimHei" panose="02010609060101010101" pitchFamily="49" charset="-122"/>
            </a:endParaRPr>
          </a:p>
        </p:txBody>
      </p:sp>
      <p:sp>
        <p:nvSpPr>
          <p:cNvPr id="30" name="Rectangle 27">
            <a:extLst>
              <a:ext uri="{FF2B5EF4-FFF2-40B4-BE49-F238E27FC236}">
                <a16:creationId xmlns:a16="http://schemas.microsoft.com/office/drawing/2014/main" id="{BBEEC4B9-9B8E-4393-A720-983E5A0A6D4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489075" y="4533900"/>
            <a:ext cx="99386" cy="2154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zh-CN" altLang="zh-CN" sz="1400" i="1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rPr>
              <a:t>e</a:t>
            </a:r>
            <a:endParaRPr kumimoji="0" lang="zh-CN" altLang="zh-CN" sz="1800" i="1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  <a:ea typeface="SimHei" panose="02010609060101010101" pitchFamily="49" charset="-122"/>
            </a:endParaRPr>
          </a:p>
        </p:txBody>
      </p:sp>
      <p:sp>
        <p:nvSpPr>
          <p:cNvPr id="31" name="Rectangle 28">
            <a:extLst>
              <a:ext uri="{FF2B5EF4-FFF2-40B4-BE49-F238E27FC236}">
                <a16:creationId xmlns:a16="http://schemas.microsoft.com/office/drawing/2014/main" id="{CA41F509-D60F-4FE3-95A9-8EA54AEA611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03363" y="4733925"/>
            <a:ext cx="59312" cy="2154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zh-CN" altLang="zh-CN" sz="1400" i="1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rPr>
              <a:t>r</a:t>
            </a:r>
            <a:endParaRPr kumimoji="0" lang="zh-CN" altLang="zh-CN" sz="1800" i="1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  <a:ea typeface="SimHei" panose="02010609060101010101" pitchFamily="49" charset="-122"/>
            </a:endParaRPr>
          </a:p>
        </p:txBody>
      </p:sp>
      <p:sp>
        <p:nvSpPr>
          <p:cNvPr id="32" name="Freeform 29">
            <a:extLst>
              <a:ext uri="{FF2B5EF4-FFF2-40B4-BE49-F238E27FC236}">
                <a16:creationId xmlns:a16="http://schemas.microsoft.com/office/drawing/2014/main" id="{F9F04179-A73B-4B23-8C42-B723382BBFFD}"/>
              </a:ext>
            </a:extLst>
          </p:cNvPr>
          <p:cNvSpPr>
            <a:spLocks noEditPoints="1"/>
          </p:cNvSpPr>
          <p:nvPr/>
        </p:nvSpPr>
        <p:spPr bwMode="auto">
          <a:xfrm>
            <a:off x="2243138" y="2316163"/>
            <a:ext cx="5267325" cy="57150"/>
          </a:xfrm>
          <a:custGeom>
            <a:avLst/>
            <a:gdLst>
              <a:gd name="T0" fmla="*/ 0 w 3318"/>
              <a:gd name="T1" fmla="*/ 28 h 36"/>
              <a:gd name="T2" fmla="*/ 3288 w 3318"/>
              <a:gd name="T3" fmla="*/ 24 h 36"/>
              <a:gd name="T4" fmla="*/ 3288 w 3318"/>
              <a:gd name="T5" fmla="*/ 12 h 36"/>
              <a:gd name="T6" fmla="*/ 0 w 3318"/>
              <a:gd name="T7" fmla="*/ 16 h 36"/>
              <a:gd name="T8" fmla="*/ 0 w 3318"/>
              <a:gd name="T9" fmla="*/ 28 h 36"/>
              <a:gd name="T10" fmla="*/ 3282 w 3318"/>
              <a:gd name="T11" fmla="*/ 36 h 36"/>
              <a:gd name="T12" fmla="*/ 3318 w 3318"/>
              <a:gd name="T13" fmla="*/ 18 h 36"/>
              <a:gd name="T14" fmla="*/ 3282 w 3318"/>
              <a:gd name="T15" fmla="*/ 0 h 36"/>
              <a:gd name="T16" fmla="*/ 3282 w 3318"/>
              <a:gd name="T17" fmla="*/ 36 h 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3318" h="36">
                <a:moveTo>
                  <a:pt x="0" y="28"/>
                </a:moveTo>
                <a:lnTo>
                  <a:pt x="3288" y="24"/>
                </a:lnTo>
                <a:lnTo>
                  <a:pt x="3288" y="12"/>
                </a:lnTo>
                <a:lnTo>
                  <a:pt x="0" y="16"/>
                </a:lnTo>
                <a:lnTo>
                  <a:pt x="0" y="28"/>
                </a:lnTo>
                <a:close/>
                <a:moveTo>
                  <a:pt x="3282" y="36"/>
                </a:moveTo>
                <a:lnTo>
                  <a:pt x="3318" y="18"/>
                </a:lnTo>
                <a:lnTo>
                  <a:pt x="3282" y="0"/>
                </a:lnTo>
                <a:lnTo>
                  <a:pt x="3282" y="36"/>
                </a:lnTo>
                <a:close/>
              </a:path>
            </a:pathLst>
          </a:custGeom>
          <a:solidFill>
            <a:srgbClr val="000000"/>
          </a:solidFill>
          <a:ln w="0" cap="flat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33" name="Rectangle 30">
            <a:extLst>
              <a:ext uri="{FF2B5EF4-FFF2-40B4-BE49-F238E27FC236}">
                <a16:creationId xmlns:a16="http://schemas.microsoft.com/office/drawing/2014/main" id="{F85FF9E2-8D03-4501-8D33-9400786ABA24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95463" y="2622550"/>
            <a:ext cx="384721" cy="2769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zh-CN" altLang="zh-CN" sz="1800" u="none" strike="noStrike" cap="none" normalizeH="0" baseline="0" dirty="0">
                <a:ln>
                  <a:noFill/>
                </a:ln>
                <a:solidFill>
                  <a:srgbClr val="DE2506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rPr>
              <a:t>beq</a:t>
            </a:r>
            <a:endParaRPr kumimoji="0" lang="zh-CN" altLang="zh-CN" sz="180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  <a:ea typeface="SimHei" panose="02010609060101010101" pitchFamily="49" charset="-122"/>
            </a:endParaRPr>
          </a:p>
        </p:txBody>
      </p:sp>
      <p:sp>
        <p:nvSpPr>
          <p:cNvPr id="34" name="Freeform 31">
            <a:extLst>
              <a:ext uri="{FF2B5EF4-FFF2-40B4-BE49-F238E27FC236}">
                <a16:creationId xmlns:a16="http://schemas.microsoft.com/office/drawing/2014/main" id="{B526F193-F4E5-464E-A611-1830F79E636F}"/>
              </a:ext>
            </a:extLst>
          </p:cNvPr>
          <p:cNvSpPr>
            <a:spLocks noEditPoints="1"/>
          </p:cNvSpPr>
          <p:nvPr/>
        </p:nvSpPr>
        <p:spPr bwMode="auto">
          <a:xfrm>
            <a:off x="1638300" y="2573338"/>
            <a:ext cx="63500" cy="3835400"/>
          </a:xfrm>
          <a:custGeom>
            <a:avLst/>
            <a:gdLst>
              <a:gd name="T0" fmla="*/ 27 w 40"/>
              <a:gd name="T1" fmla="*/ 0 h 2416"/>
              <a:gd name="T2" fmla="*/ 27 w 40"/>
              <a:gd name="T3" fmla="*/ 2383 h 2416"/>
              <a:gd name="T4" fmla="*/ 13 w 40"/>
              <a:gd name="T5" fmla="*/ 2383 h 2416"/>
              <a:gd name="T6" fmla="*/ 13 w 40"/>
              <a:gd name="T7" fmla="*/ 0 h 2416"/>
              <a:gd name="T8" fmla="*/ 27 w 40"/>
              <a:gd name="T9" fmla="*/ 0 h 2416"/>
              <a:gd name="T10" fmla="*/ 40 w 40"/>
              <a:gd name="T11" fmla="*/ 2376 h 2416"/>
              <a:gd name="T12" fmla="*/ 20 w 40"/>
              <a:gd name="T13" fmla="*/ 2416 h 2416"/>
              <a:gd name="T14" fmla="*/ 0 w 40"/>
              <a:gd name="T15" fmla="*/ 2376 h 2416"/>
              <a:gd name="T16" fmla="*/ 40 w 40"/>
              <a:gd name="T17" fmla="*/ 2376 h 24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40" h="2416">
                <a:moveTo>
                  <a:pt x="27" y="0"/>
                </a:moveTo>
                <a:lnTo>
                  <a:pt x="27" y="2383"/>
                </a:lnTo>
                <a:lnTo>
                  <a:pt x="13" y="2383"/>
                </a:lnTo>
                <a:lnTo>
                  <a:pt x="13" y="0"/>
                </a:lnTo>
                <a:lnTo>
                  <a:pt x="27" y="0"/>
                </a:lnTo>
                <a:close/>
                <a:moveTo>
                  <a:pt x="40" y="2376"/>
                </a:moveTo>
                <a:lnTo>
                  <a:pt x="20" y="2416"/>
                </a:lnTo>
                <a:lnTo>
                  <a:pt x="0" y="2376"/>
                </a:lnTo>
                <a:lnTo>
                  <a:pt x="40" y="2376"/>
                </a:lnTo>
                <a:close/>
              </a:path>
            </a:pathLst>
          </a:custGeom>
          <a:solidFill>
            <a:srgbClr val="000000"/>
          </a:solidFill>
          <a:ln w="0" cap="flat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i="1" dirty="0">
              <a:ea typeface="SimHei" panose="02010609060101010101" pitchFamily="49" charset="-122"/>
            </a:endParaRPr>
          </a:p>
        </p:txBody>
      </p:sp>
      <p:sp>
        <p:nvSpPr>
          <p:cNvPr id="35" name="Freeform 32">
            <a:extLst>
              <a:ext uri="{FF2B5EF4-FFF2-40B4-BE49-F238E27FC236}">
                <a16:creationId xmlns:a16="http://schemas.microsoft.com/office/drawing/2014/main" id="{5A6B3A3F-A4CD-4A11-A776-5E9D78941452}"/>
              </a:ext>
            </a:extLst>
          </p:cNvPr>
          <p:cNvSpPr>
            <a:spLocks/>
          </p:cNvSpPr>
          <p:nvPr/>
        </p:nvSpPr>
        <p:spPr bwMode="auto">
          <a:xfrm>
            <a:off x="4332288" y="2516188"/>
            <a:ext cx="249238" cy="571500"/>
          </a:xfrm>
          <a:custGeom>
            <a:avLst/>
            <a:gdLst>
              <a:gd name="T0" fmla="*/ 0 w 157"/>
              <a:gd name="T1" fmla="*/ 240 h 360"/>
              <a:gd name="T2" fmla="*/ 53 w 157"/>
              <a:gd name="T3" fmla="*/ 180 h 360"/>
              <a:gd name="T4" fmla="*/ 0 w 157"/>
              <a:gd name="T5" fmla="*/ 120 h 360"/>
              <a:gd name="T6" fmla="*/ 0 w 157"/>
              <a:gd name="T7" fmla="*/ 0 h 360"/>
              <a:gd name="T8" fmla="*/ 157 w 157"/>
              <a:gd name="T9" fmla="*/ 120 h 360"/>
              <a:gd name="T10" fmla="*/ 157 w 157"/>
              <a:gd name="T11" fmla="*/ 240 h 360"/>
              <a:gd name="T12" fmla="*/ 0 w 157"/>
              <a:gd name="T13" fmla="*/ 360 h 360"/>
              <a:gd name="T14" fmla="*/ 0 w 157"/>
              <a:gd name="T15" fmla="*/ 240 h 3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157" h="360">
                <a:moveTo>
                  <a:pt x="0" y="240"/>
                </a:moveTo>
                <a:lnTo>
                  <a:pt x="53" y="180"/>
                </a:lnTo>
                <a:lnTo>
                  <a:pt x="0" y="120"/>
                </a:lnTo>
                <a:lnTo>
                  <a:pt x="0" y="0"/>
                </a:lnTo>
                <a:lnTo>
                  <a:pt x="157" y="120"/>
                </a:lnTo>
                <a:lnTo>
                  <a:pt x="157" y="240"/>
                </a:lnTo>
                <a:lnTo>
                  <a:pt x="0" y="360"/>
                </a:lnTo>
                <a:lnTo>
                  <a:pt x="0" y="240"/>
                </a:lnTo>
              </a:path>
            </a:pathLst>
          </a:custGeom>
          <a:noFill/>
          <a:ln w="19050" cap="rnd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37" name="Rectangle 34">
            <a:extLst>
              <a:ext uri="{FF2B5EF4-FFF2-40B4-BE49-F238E27FC236}">
                <a16:creationId xmlns:a16="http://schemas.microsoft.com/office/drawing/2014/main" id="{BA85FC12-B167-47EC-AD95-86696EC9F99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02000" y="2673350"/>
            <a:ext cx="171522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zh-CN" sz="1200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rPr>
              <a:t>IM</a:t>
            </a:r>
            <a:endParaRPr kumimoji="0" lang="zh-CN" altLang="zh-CN" sz="180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  <a:ea typeface="SimHei" panose="02010609060101010101" pitchFamily="49" charset="-122"/>
            </a:endParaRPr>
          </a:p>
        </p:txBody>
      </p:sp>
      <p:sp>
        <p:nvSpPr>
          <p:cNvPr id="38" name="Freeform 35">
            <a:extLst>
              <a:ext uri="{FF2B5EF4-FFF2-40B4-BE49-F238E27FC236}">
                <a16:creationId xmlns:a16="http://schemas.microsoft.com/office/drawing/2014/main" id="{93DD755C-935F-4C4E-A061-B82BC2871A71}"/>
              </a:ext>
            </a:extLst>
          </p:cNvPr>
          <p:cNvSpPr>
            <a:spLocks/>
          </p:cNvSpPr>
          <p:nvPr/>
        </p:nvSpPr>
        <p:spPr bwMode="auto">
          <a:xfrm>
            <a:off x="3230563" y="2630488"/>
            <a:ext cx="200025" cy="342900"/>
          </a:xfrm>
          <a:custGeom>
            <a:avLst/>
            <a:gdLst>
              <a:gd name="T0" fmla="*/ 126 w 126"/>
              <a:gd name="T1" fmla="*/ 0 h 216"/>
              <a:gd name="T2" fmla="*/ 0 w 126"/>
              <a:gd name="T3" fmla="*/ 0 h 216"/>
              <a:gd name="T4" fmla="*/ 0 w 126"/>
              <a:gd name="T5" fmla="*/ 216 h 216"/>
              <a:gd name="T6" fmla="*/ 126 w 126"/>
              <a:gd name="T7" fmla="*/ 216 h 2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126" h="216">
                <a:moveTo>
                  <a:pt x="126" y="0"/>
                </a:moveTo>
                <a:lnTo>
                  <a:pt x="0" y="0"/>
                </a:lnTo>
                <a:lnTo>
                  <a:pt x="0" y="216"/>
                </a:lnTo>
                <a:lnTo>
                  <a:pt x="126" y="216"/>
                </a:lnTo>
              </a:path>
            </a:pathLst>
          </a:custGeom>
          <a:noFill/>
          <a:ln w="19050" cap="rnd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39" name="Freeform 36">
            <a:extLst>
              <a:ext uri="{FF2B5EF4-FFF2-40B4-BE49-F238E27FC236}">
                <a16:creationId xmlns:a16="http://schemas.microsoft.com/office/drawing/2014/main" id="{24735D5D-A633-49C1-A5F3-7AEE5032D419}"/>
              </a:ext>
            </a:extLst>
          </p:cNvPr>
          <p:cNvSpPr>
            <a:spLocks/>
          </p:cNvSpPr>
          <p:nvPr/>
        </p:nvSpPr>
        <p:spPr bwMode="auto">
          <a:xfrm>
            <a:off x="3430588" y="2630488"/>
            <a:ext cx="200025" cy="342900"/>
          </a:xfrm>
          <a:custGeom>
            <a:avLst/>
            <a:gdLst>
              <a:gd name="T0" fmla="*/ 0 w 126"/>
              <a:gd name="T1" fmla="*/ 0 h 216"/>
              <a:gd name="T2" fmla="*/ 126 w 126"/>
              <a:gd name="T3" fmla="*/ 0 h 216"/>
              <a:gd name="T4" fmla="*/ 126 w 126"/>
              <a:gd name="T5" fmla="*/ 216 h 216"/>
              <a:gd name="T6" fmla="*/ 0 w 126"/>
              <a:gd name="T7" fmla="*/ 216 h 2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126" h="216">
                <a:moveTo>
                  <a:pt x="0" y="0"/>
                </a:moveTo>
                <a:lnTo>
                  <a:pt x="126" y="0"/>
                </a:lnTo>
                <a:lnTo>
                  <a:pt x="126" y="216"/>
                </a:lnTo>
                <a:lnTo>
                  <a:pt x="0" y="216"/>
                </a:lnTo>
              </a:path>
            </a:pathLst>
          </a:custGeom>
          <a:noFill/>
          <a:ln w="19050" cap="rnd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40" name="Rectangle 37">
            <a:extLst>
              <a:ext uri="{FF2B5EF4-FFF2-40B4-BE49-F238E27FC236}">
                <a16:creationId xmlns:a16="http://schemas.microsoft.com/office/drawing/2014/main" id="{4E4D2DBA-A1E2-4B0E-BE6D-BF6F444E710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21113" y="2679700"/>
            <a:ext cx="28052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zh-CN" altLang="zh-CN" sz="1200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rPr>
              <a:t>Reg</a:t>
            </a:r>
            <a:endParaRPr kumimoji="0" lang="zh-CN" altLang="zh-CN" sz="180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  <a:ea typeface="SimHei" panose="02010609060101010101" pitchFamily="49" charset="-122"/>
            </a:endParaRPr>
          </a:p>
        </p:txBody>
      </p:sp>
      <p:sp>
        <p:nvSpPr>
          <p:cNvPr id="41" name="Freeform 38">
            <a:extLst>
              <a:ext uri="{FF2B5EF4-FFF2-40B4-BE49-F238E27FC236}">
                <a16:creationId xmlns:a16="http://schemas.microsoft.com/office/drawing/2014/main" id="{1149B45E-2984-4D14-9656-ACA44C821F38}"/>
              </a:ext>
            </a:extLst>
          </p:cNvPr>
          <p:cNvSpPr>
            <a:spLocks/>
          </p:cNvSpPr>
          <p:nvPr/>
        </p:nvSpPr>
        <p:spPr bwMode="auto">
          <a:xfrm>
            <a:off x="3773488" y="2630488"/>
            <a:ext cx="179388" cy="342900"/>
          </a:xfrm>
          <a:custGeom>
            <a:avLst/>
            <a:gdLst>
              <a:gd name="T0" fmla="*/ 113 w 113"/>
              <a:gd name="T1" fmla="*/ 0 h 216"/>
              <a:gd name="T2" fmla="*/ 0 w 113"/>
              <a:gd name="T3" fmla="*/ 0 h 216"/>
              <a:gd name="T4" fmla="*/ 0 w 113"/>
              <a:gd name="T5" fmla="*/ 216 h 216"/>
              <a:gd name="T6" fmla="*/ 113 w 113"/>
              <a:gd name="T7" fmla="*/ 216 h 2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113" h="216">
                <a:moveTo>
                  <a:pt x="113" y="0"/>
                </a:moveTo>
                <a:lnTo>
                  <a:pt x="0" y="0"/>
                </a:lnTo>
                <a:lnTo>
                  <a:pt x="0" y="216"/>
                </a:lnTo>
                <a:lnTo>
                  <a:pt x="113" y="216"/>
                </a:lnTo>
              </a:path>
            </a:pathLst>
          </a:custGeom>
          <a:noFill/>
          <a:ln w="19050" cap="rnd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42" name="Freeform 39">
            <a:extLst>
              <a:ext uri="{FF2B5EF4-FFF2-40B4-BE49-F238E27FC236}">
                <a16:creationId xmlns:a16="http://schemas.microsoft.com/office/drawing/2014/main" id="{7D8F5D4C-EBA0-4C57-8B8D-EB44B1DE8E3C}"/>
              </a:ext>
            </a:extLst>
          </p:cNvPr>
          <p:cNvSpPr>
            <a:spLocks/>
          </p:cNvSpPr>
          <p:nvPr/>
        </p:nvSpPr>
        <p:spPr bwMode="auto">
          <a:xfrm>
            <a:off x="3952875" y="2630488"/>
            <a:ext cx="177800" cy="342900"/>
          </a:xfrm>
          <a:custGeom>
            <a:avLst/>
            <a:gdLst>
              <a:gd name="T0" fmla="*/ 0 w 112"/>
              <a:gd name="T1" fmla="*/ 0 h 216"/>
              <a:gd name="T2" fmla="*/ 112 w 112"/>
              <a:gd name="T3" fmla="*/ 0 h 216"/>
              <a:gd name="T4" fmla="*/ 112 w 112"/>
              <a:gd name="T5" fmla="*/ 216 h 216"/>
              <a:gd name="T6" fmla="*/ 0 w 112"/>
              <a:gd name="T7" fmla="*/ 216 h 2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112" h="216">
                <a:moveTo>
                  <a:pt x="0" y="0"/>
                </a:moveTo>
                <a:lnTo>
                  <a:pt x="112" y="0"/>
                </a:lnTo>
                <a:lnTo>
                  <a:pt x="112" y="216"/>
                </a:lnTo>
                <a:lnTo>
                  <a:pt x="0" y="216"/>
                </a:lnTo>
              </a:path>
            </a:pathLst>
          </a:custGeom>
          <a:noFill/>
          <a:ln w="19050" cap="rnd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43" name="Line 40">
            <a:extLst>
              <a:ext uri="{FF2B5EF4-FFF2-40B4-BE49-F238E27FC236}">
                <a16:creationId xmlns:a16="http://schemas.microsoft.com/office/drawing/2014/main" id="{DC34CF0C-8B37-4C86-BBEF-32B33DD9DED5}"/>
              </a:ext>
            </a:extLst>
          </p:cNvPr>
          <p:cNvSpPr>
            <a:spLocks noChangeShapeType="1"/>
          </p:cNvSpPr>
          <p:nvPr/>
        </p:nvSpPr>
        <p:spPr bwMode="auto">
          <a:xfrm>
            <a:off x="3638550" y="2801938"/>
            <a:ext cx="134938" cy="0"/>
          </a:xfrm>
          <a:prstGeom prst="line">
            <a:avLst/>
          </a:prstGeom>
          <a:noFill/>
          <a:ln w="19050" cap="flat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44" name="Freeform 41">
            <a:extLst>
              <a:ext uri="{FF2B5EF4-FFF2-40B4-BE49-F238E27FC236}">
                <a16:creationId xmlns:a16="http://schemas.microsoft.com/office/drawing/2014/main" id="{4CFDDA49-AC41-48EB-B270-6D6D1A0E4A62}"/>
              </a:ext>
            </a:extLst>
          </p:cNvPr>
          <p:cNvSpPr>
            <a:spLocks/>
          </p:cNvSpPr>
          <p:nvPr/>
        </p:nvSpPr>
        <p:spPr bwMode="auto">
          <a:xfrm>
            <a:off x="3716338" y="2687638"/>
            <a:ext cx="57150" cy="114300"/>
          </a:xfrm>
          <a:custGeom>
            <a:avLst/>
            <a:gdLst>
              <a:gd name="T0" fmla="*/ 0 w 36"/>
              <a:gd name="T1" fmla="*/ 72 h 72"/>
              <a:gd name="T2" fmla="*/ 0 w 36"/>
              <a:gd name="T3" fmla="*/ 0 h 72"/>
              <a:gd name="T4" fmla="*/ 36 w 36"/>
              <a:gd name="T5" fmla="*/ 0 h 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36" h="72">
                <a:moveTo>
                  <a:pt x="0" y="72"/>
                </a:moveTo>
                <a:lnTo>
                  <a:pt x="0" y="0"/>
                </a:lnTo>
                <a:lnTo>
                  <a:pt x="36" y="0"/>
                </a:lnTo>
              </a:path>
            </a:pathLst>
          </a:custGeom>
          <a:noFill/>
          <a:ln w="19050" cap="rnd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45" name="Line 42">
            <a:extLst>
              <a:ext uri="{FF2B5EF4-FFF2-40B4-BE49-F238E27FC236}">
                <a16:creationId xmlns:a16="http://schemas.microsoft.com/office/drawing/2014/main" id="{0B00F529-0A9E-4BE5-A555-362E6CC30C66}"/>
              </a:ext>
            </a:extLst>
          </p:cNvPr>
          <p:cNvSpPr>
            <a:spLocks noChangeShapeType="1"/>
          </p:cNvSpPr>
          <p:nvPr/>
        </p:nvSpPr>
        <p:spPr bwMode="auto">
          <a:xfrm>
            <a:off x="4132263" y="2687638"/>
            <a:ext cx="185738" cy="0"/>
          </a:xfrm>
          <a:prstGeom prst="line">
            <a:avLst/>
          </a:prstGeom>
          <a:noFill/>
          <a:ln w="19050" cap="flat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46" name="Rectangle 43">
            <a:extLst>
              <a:ext uri="{FF2B5EF4-FFF2-40B4-BE49-F238E27FC236}">
                <a16:creationId xmlns:a16="http://schemas.microsoft.com/office/drawing/2014/main" id="{85355776-7651-4C5A-B3D3-AB2EFBBB9D0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95838" y="2673350"/>
            <a:ext cx="238848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zh-CN" altLang="zh-CN" sz="1200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rPr>
              <a:t>DM</a:t>
            </a:r>
            <a:endParaRPr kumimoji="0" lang="zh-CN" altLang="zh-CN" sz="180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  <a:ea typeface="SimHei" panose="02010609060101010101" pitchFamily="49" charset="-122"/>
            </a:endParaRPr>
          </a:p>
        </p:txBody>
      </p:sp>
      <p:sp>
        <p:nvSpPr>
          <p:cNvPr id="47" name="Freeform 44">
            <a:extLst>
              <a:ext uri="{FF2B5EF4-FFF2-40B4-BE49-F238E27FC236}">
                <a16:creationId xmlns:a16="http://schemas.microsoft.com/office/drawing/2014/main" id="{BC9D8551-716D-4B36-A0BA-392E720C83FD}"/>
              </a:ext>
            </a:extLst>
          </p:cNvPr>
          <p:cNvSpPr>
            <a:spLocks/>
          </p:cNvSpPr>
          <p:nvPr/>
        </p:nvSpPr>
        <p:spPr bwMode="auto">
          <a:xfrm>
            <a:off x="4791075" y="2630488"/>
            <a:ext cx="192088" cy="342900"/>
          </a:xfrm>
          <a:custGeom>
            <a:avLst/>
            <a:gdLst>
              <a:gd name="T0" fmla="*/ 121 w 121"/>
              <a:gd name="T1" fmla="*/ 0 h 216"/>
              <a:gd name="T2" fmla="*/ 0 w 121"/>
              <a:gd name="T3" fmla="*/ 0 h 216"/>
              <a:gd name="T4" fmla="*/ 0 w 121"/>
              <a:gd name="T5" fmla="*/ 216 h 216"/>
              <a:gd name="T6" fmla="*/ 121 w 121"/>
              <a:gd name="T7" fmla="*/ 216 h 2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121" h="216">
                <a:moveTo>
                  <a:pt x="121" y="0"/>
                </a:moveTo>
                <a:lnTo>
                  <a:pt x="0" y="0"/>
                </a:lnTo>
                <a:lnTo>
                  <a:pt x="0" y="216"/>
                </a:lnTo>
                <a:lnTo>
                  <a:pt x="121" y="216"/>
                </a:lnTo>
              </a:path>
            </a:pathLst>
          </a:custGeom>
          <a:noFill/>
          <a:ln w="19050" cap="rnd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48" name="Freeform 45">
            <a:extLst>
              <a:ext uri="{FF2B5EF4-FFF2-40B4-BE49-F238E27FC236}">
                <a16:creationId xmlns:a16="http://schemas.microsoft.com/office/drawing/2014/main" id="{B01CCD15-9C25-474A-80F4-7A6C435E0321}"/>
              </a:ext>
            </a:extLst>
          </p:cNvPr>
          <p:cNvSpPr>
            <a:spLocks/>
          </p:cNvSpPr>
          <p:nvPr/>
        </p:nvSpPr>
        <p:spPr bwMode="auto">
          <a:xfrm>
            <a:off x="4976813" y="2630488"/>
            <a:ext cx="200025" cy="342900"/>
          </a:xfrm>
          <a:custGeom>
            <a:avLst/>
            <a:gdLst>
              <a:gd name="T0" fmla="*/ 0 w 126"/>
              <a:gd name="T1" fmla="*/ 0 h 216"/>
              <a:gd name="T2" fmla="*/ 126 w 126"/>
              <a:gd name="T3" fmla="*/ 0 h 216"/>
              <a:gd name="T4" fmla="*/ 126 w 126"/>
              <a:gd name="T5" fmla="*/ 216 h 216"/>
              <a:gd name="T6" fmla="*/ 0 w 126"/>
              <a:gd name="T7" fmla="*/ 216 h 2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126" h="216">
                <a:moveTo>
                  <a:pt x="0" y="0"/>
                </a:moveTo>
                <a:lnTo>
                  <a:pt x="126" y="0"/>
                </a:lnTo>
                <a:lnTo>
                  <a:pt x="126" y="216"/>
                </a:lnTo>
                <a:lnTo>
                  <a:pt x="0" y="216"/>
                </a:lnTo>
              </a:path>
            </a:pathLst>
          </a:custGeom>
          <a:noFill/>
          <a:ln w="19050" cap="rnd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49" name="Rectangle 46">
            <a:extLst>
              <a:ext uri="{FF2B5EF4-FFF2-40B4-BE49-F238E27FC236}">
                <a16:creationId xmlns:a16="http://schemas.microsoft.com/office/drawing/2014/main" id="{0D227148-31B4-45DF-ACFF-98C195BAB131}"/>
              </a:ext>
            </a:extLst>
          </p:cNvPr>
          <p:cNvSpPr>
            <a:spLocks noChangeArrowheads="1"/>
          </p:cNvSpPr>
          <p:nvPr/>
        </p:nvSpPr>
        <p:spPr bwMode="auto">
          <a:xfrm>
            <a:off x="5383213" y="2673350"/>
            <a:ext cx="28052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zh-CN" altLang="zh-CN" sz="1200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rPr>
              <a:t>Reg</a:t>
            </a:r>
            <a:endParaRPr kumimoji="0" lang="zh-CN" altLang="zh-CN" sz="180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  <a:ea typeface="SimHei" panose="02010609060101010101" pitchFamily="49" charset="-122"/>
            </a:endParaRPr>
          </a:p>
        </p:txBody>
      </p:sp>
      <p:sp>
        <p:nvSpPr>
          <p:cNvPr id="50" name="Freeform 47">
            <a:extLst>
              <a:ext uri="{FF2B5EF4-FFF2-40B4-BE49-F238E27FC236}">
                <a16:creationId xmlns:a16="http://schemas.microsoft.com/office/drawing/2014/main" id="{EC937851-BF03-4F7A-B383-34850B56F39D}"/>
              </a:ext>
            </a:extLst>
          </p:cNvPr>
          <p:cNvSpPr>
            <a:spLocks/>
          </p:cNvSpPr>
          <p:nvPr/>
        </p:nvSpPr>
        <p:spPr bwMode="auto">
          <a:xfrm>
            <a:off x="5348288" y="2630488"/>
            <a:ext cx="165100" cy="342900"/>
          </a:xfrm>
          <a:custGeom>
            <a:avLst/>
            <a:gdLst>
              <a:gd name="T0" fmla="*/ 104 w 104"/>
              <a:gd name="T1" fmla="*/ 0 h 216"/>
              <a:gd name="T2" fmla="*/ 0 w 104"/>
              <a:gd name="T3" fmla="*/ 0 h 216"/>
              <a:gd name="T4" fmla="*/ 0 w 104"/>
              <a:gd name="T5" fmla="*/ 216 h 216"/>
              <a:gd name="T6" fmla="*/ 104 w 104"/>
              <a:gd name="T7" fmla="*/ 216 h 2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104" h="216">
                <a:moveTo>
                  <a:pt x="104" y="0"/>
                </a:moveTo>
                <a:lnTo>
                  <a:pt x="0" y="0"/>
                </a:lnTo>
                <a:lnTo>
                  <a:pt x="0" y="216"/>
                </a:lnTo>
                <a:lnTo>
                  <a:pt x="104" y="216"/>
                </a:lnTo>
              </a:path>
            </a:pathLst>
          </a:custGeom>
          <a:noFill/>
          <a:ln w="19050" cap="rnd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51" name="Freeform 48">
            <a:extLst>
              <a:ext uri="{FF2B5EF4-FFF2-40B4-BE49-F238E27FC236}">
                <a16:creationId xmlns:a16="http://schemas.microsoft.com/office/drawing/2014/main" id="{33B35D4C-2681-425C-8A83-A7F975746E61}"/>
              </a:ext>
            </a:extLst>
          </p:cNvPr>
          <p:cNvSpPr>
            <a:spLocks/>
          </p:cNvSpPr>
          <p:nvPr/>
        </p:nvSpPr>
        <p:spPr bwMode="auto">
          <a:xfrm>
            <a:off x="5513388" y="2630488"/>
            <a:ext cx="171450" cy="342900"/>
          </a:xfrm>
          <a:custGeom>
            <a:avLst/>
            <a:gdLst>
              <a:gd name="T0" fmla="*/ 0 w 108"/>
              <a:gd name="T1" fmla="*/ 0 h 216"/>
              <a:gd name="T2" fmla="*/ 108 w 108"/>
              <a:gd name="T3" fmla="*/ 0 h 216"/>
              <a:gd name="T4" fmla="*/ 108 w 108"/>
              <a:gd name="T5" fmla="*/ 216 h 216"/>
              <a:gd name="T6" fmla="*/ 0 w 108"/>
              <a:gd name="T7" fmla="*/ 216 h 2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108" h="216">
                <a:moveTo>
                  <a:pt x="0" y="0"/>
                </a:moveTo>
                <a:lnTo>
                  <a:pt x="108" y="0"/>
                </a:lnTo>
                <a:lnTo>
                  <a:pt x="108" y="216"/>
                </a:lnTo>
                <a:lnTo>
                  <a:pt x="0" y="216"/>
                </a:lnTo>
              </a:path>
            </a:pathLst>
          </a:custGeom>
          <a:noFill/>
          <a:ln w="19050" cap="rnd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52" name="Line 49">
            <a:extLst>
              <a:ext uri="{FF2B5EF4-FFF2-40B4-BE49-F238E27FC236}">
                <a16:creationId xmlns:a16="http://schemas.microsoft.com/office/drawing/2014/main" id="{71287399-6D3F-4FBD-B986-6CD0AC4045AB}"/>
              </a:ext>
            </a:extLst>
          </p:cNvPr>
          <p:cNvSpPr>
            <a:spLocks noChangeShapeType="1"/>
          </p:cNvSpPr>
          <p:nvPr/>
        </p:nvSpPr>
        <p:spPr bwMode="auto">
          <a:xfrm>
            <a:off x="5170488" y="2801938"/>
            <a:ext cx="163513" cy="0"/>
          </a:xfrm>
          <a:prstGeom prst="line">
            <a:avLst/>
          </a:prstGeom>
          <a:noFill/>
          <a:ln w="19050" cap="flat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53" name="Line 50">
            <a:extLst>
              <a:ext uri="{FF2B5EF4-FFF2-40B4-BE49-F238E27FC236}">
                <a16:creationId xmlns:a16="http://schemas.microsoft.com/office/drawing/2014/main" id="{0E45CA19-B7C7-45E2-9573-C8F7C11AE78D}"/>
              </a:ext>
            </a:extLst>
          </p:cNvPr>
          <p:cNvSpPr>
            <a:spLocks noChangeShapeType="1"/>
          </p:cNvSpPr>
          <p:nvPr/>
        </p:nvSpPr>
        <p:spPr bwMode="auto">
          <a:xfrm>
            <a:off x="4597400" y="2801938"/>
            <a:ext cx="179388" cy="0"/>
          </a:xfrm>
          <a:prstGeom prst="line">
            <a:avLst/>
          </a:prstGeom>
          <a:noFill/>
          <a:ln w="19050" cap="flat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54" name="Line 51">
            <a:extLst>
              <a:ext uri="{FF2B5EF4-FFF2-40B4-BE49-F238E27FC236}">
                <a16:creationId xmlns:a16="http://schemas.microsoft.com/office/drawing/2014/main" id="{649CB4D9-3FAA-44E5-B96C-BC401C356EC7}"/>
              </a:ext>
            </a:extLst>
          </p:cNvPr>
          <p:cNvSpPr>
            <a:spLocks noChangeShapeType="1"/>
          </p:cNvSpPr>
          <p:nvPr/>
        </p:nvSpPr>
        <p:spPr bwMode="auto">
          <a:xfrm>
            <a:off x="4132263" y="2916238"/>
            <a:ext cx="185738" cy="0"/>
          </a:xfrm>
          <a:prstGeom prst="line">
            <a:avLst/>
          </a:prstGeom>
          <a:noFill/>
          <a:ln w="19050" cap="flat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55" name="Line 52">
            <a:extLst>
              <a:ext uri="{FF2B5EF4-FFF2-40B4-BE49-F238E27FC236}">
                <a16:creationId xmlns:a16="http://schemas.microsoft.com/office/drawing/2014/main" id="{F9CC081A-F9DF-4BA4-A4B3-F3689EEE830E}"/>
              </a:ext>
            </a:extLst>
          </p:cNvPr>
          <p:cNvSpPr>
            <a:spLocks noChangeShapeType="1"/>
          </p:cNvSpPr>
          <p:nvPr/>
        </p:nvSpPr>
        <p:spPr bwMode="auto">
          <a:xfrm>
            <a:off x="4232275" y="2916238"/>
            <a:ext cx="0" cy="230188"/>
          </a:xfrm>
          <a:prstGeom prst="line">
            <a:avLst/>
          </a:prstGeom>
          <a:noFill/>
          <a:ln w="22225" cap="flat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56" name="Line 53">
            <a:extLst>
              <a:ext uri="{FF2B5EF4-FFF2-40B4-BE49-F238E27FC236}">
                <a16:creationId xmlns:a16="http://schemas.microsoft.com/office/drawing/2014/main" id="{658E6669-61AD-4678-821E-A4C70DF5748B}"/>
              </a:ext>
            </a:extLst>
          </p:cNvPr>
          <p:cNvSpPr>
            <a:spLocks noChangeShapeType="1"/>
          </p:cNvSpPr>
          <p:nvPr/>
        </p:nvSpPr>
        <p:spPr bwMode="auto">
          <a:xfrm>
            <a:off x="4232275" y="3146425"/>
            <a:ext cx="401638" cy="0"/>
          </a:xfrm>
          <a:prstGeom prst="line">
            <a:avLst/>
          </a:prstGeom>
          <a:noFill/>
          <a:ln w="22225" cap="flat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57" name="Line 54">
            <a:extLst>
              <a:ext uri="{FF2B5EF4-FFF2-40B4-BE49-F238E27FC236}">
                <a16:creationId xmlns:a16="http://schemas.microsoft.com/office/drawing/2014/main" id="{8B7884FE-75B1-4C0A-B727-AB06261643E5}"/>
              </a:ext>
            </a:extLst>
          </p:cNvPr>
          <p:cNvSpPr>
            <a:spLocks noChangeShapeType="1"/>
          </p:cNvSpPr>
          <p:nvPr/>
        </p:nvSpPr>
        <p:spPr bwMode="auto">
          <a:xfrm>
            <a:off x="4633913" y="2801938"/>
            <a:ext cx="0" cy="344488"/>
          </a:xfrm>
          <a:prstGeom prst="line">
            <a:avLst/>
          </a:prstGeom>
          <a:noFill/>
          <a:ln w="22225" cap="flat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58" name="Line 55">
            <a:extLst>
              <a:ext uri="{FF2B5EF4-FFF2-40B4-BE49-F238E27FC236}">
                <a16:creationId xmlns:a16="http://schemas.microsoft.com/office/drawing/2014/main" id="{B29B974F-1EB9-414E-A3A7-BBC7A4010F79}"/>
              </a:ext>
            </a:extLst>
          </p:cNvPr>
          <p:cNvSpPr>
            <a:spLocks noChangeShapeType="1"/>
          </p:cNvSpPr>
          <p:nvPr/>
        </p:nvSpPr>
        <p:spPr bwMode="auto">
          <a:xfrm>
            <a:off x="4733925" y="2801938"/>
            <a:ext cx="0" cy="285750"/>
          </a:xfrm>
          <a:prstGeom prst="line">
            <a:avLst/>
          </a:prstGeom>
          <a:noFill/>
          <a:ln w="22225" cap="flat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59" name="Line 56">
            <a:extLst>
              <a:ext uri="{FF2B5EF4-FFF2-40B4-BE49-F238E27FC236}">
                <a16:creationId xmlns:a16="http://schemas.microsoft.com/office/drawing/2014/main" id="{ECACD7FF-B8BE-48E8-8895-A37FFE3F8749}"/>
              </a:ext>
            </a:extLst>
          </p:cNvPr>
          <p:cNvSpPr>
            <a:spLocks noChangeShapeType="1"/>
          </p:cNvSpPr>
          <p:nvPr/>
        </p:nvSpPr>
        <p:spPr bwMode="auto">
          <a:xfrm>
            <a:off x="4733925" y="3087688"/>
            <a:ext cx="514350" cy="0"/>
          </a:xfrm>
          <a:prstGeom prst="line">
            <a:avLst/>
          </a:prstGeom>
          <a:noFill/>
          <a:ln w="22225" cap="flat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60" name="Line 57">
            <a:extLst>
              <a:ext uri="{FF2B5EF4-FFF2-40B4-BE49-F238E27FC236}">
                <a16:creationId xmlns:a16="http://schemas.microsoft.com/office/drawing/2014/main" id="{563F3448-5D35-4C75-A7F8-1BFF9FF99D04}"/>
              </a:ext>
            </a:extLst>
          </p:cNvPr>
          <p:cNvSpPr>
            <a:spLocks noChangeShapeType="1"/>
          </p:cNvSpPr>
          <p:nvPr/>
        </p:nvSpPr>
        <p:spPr bwMode="auto">
          <a:xfrm>
            <a:off x="5248275" y="2801938"/>
            <a:ext cx="0" cy="285750"/>
          </a:xfrm>
          <a:prstGeom prst="line">
            <a:avLst/>
          </a:prstGeom>
          <a:noFill/>
          <a:ln w="22225" cap="flat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61" name="Rectangle 58">
            <a:extLst>
              <a:ext uri="{FF2B5EF4-FFF2-40B4-BE49-F238E27FC236}">
                <a16:creationId xmlns:a16="http://schemas.microsoft.com/office/drawing/2014/main" id="{72399C05-9A68-490F-8BBB-B6398D5A689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81188" y="3879850"/>
            <a:ext cx="218008" cy="2769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zh-CN" altLang="zh-CN" sz="1800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rPr>
              <a:t>lw</a:t>
            </a:r>
            <a:endParaRPr kumimoji="0" lang="zh-CN" altLang="zh-CN" sz="180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  <a:ea typeface="SimHei" panose="02010609060101010101" pitchFamily="49" charset="-122"/>
            </a:endParaRPr>
          </a:p>
        </p:txBody>
      </p:sp>
      <p:sp>
        <p:nvSpPr>
          <p:cNvPr id="62" name="Freeform 59">
            <a:extLst>
              <a:ext uri="{FF2B5EF4-FFF2-40B4-BE49-F238E27FC236}">
                <a16:creationId xmlns:a16="http://schemas.microsoft.com/office/drawing/2014/main" id="{94B0D9BF-D340-4194-91FE-5C9EA8837949}"/>
              </a:ext>
            </a:extLst>
          </p:cNvPr>
          <p:cNvSpPr>
            <a:spLocks/>
          </p:cNvSpPr>
          <p:nvPr/>
        </p:nvSpPr>
        <p:spPr bwMode="auto">
          <a:xfrm>
            <a:off x="5376863" y="3660775"/>
            <a:ext cx="257175" cy="571500"/>
          </a:xfrm>
          <a:custGeom>
            <a:avLst/>
            <a:gdLst>
              <a:gd name="T0" fmla="*/ 0 w 162"/>
              <a:gd name="T1" fmla="*/ 240 h 360"/>
              <a:gd name="T2" fmla="*/ 55 w 162"/>
              <a:gd name="T3" fmla="*/ 180 h 360"/>
              <a:gd name="T4" fmla="*/ 0 w 162"/>
              <a:gd name="T5" fmla="*/ 120 h 360"/>
              <a:gd name="T6" fmla="*/ 0 w 162"/>
              <a:gd name="T7" fmla="*/ 0 h 360"/>
              <a:gd name="T8" fmla="*/ 162 w 162"/>
              <a:gd name="T9" fmla="*/ 120 h 360"/>
              <a:gd name="T10" fmla="*/ 162 w 162"/>
              <a:gd name="T11" fmla="*/ 240 h 360"/>
              <a:gd name="T12" fmla="*/ 0 w 162"/>
              <a:gd name="T13" fmla="*/ 360 h 360"/>
              <a:gd name="T14" fmla="*/ 0 w 162"/>
              <a:gd name="T15" fmla="*/ 240 h 3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162" h="360">
                <a:moveTo>
                  <a:pt x="0" y="240"/>
                </a:moveTo>
                <a:lnTo>
                  <a:pt x="55" y="180"/>
                </a:lnTo>
                <a:lnTo>
                  <a:pt x="0" y="120"/>
                </a:lnTo>
                <a:lnTo>
                  <a:pt x="0" y="0"/>
                </a:lnTo>
                <a:lnTo>
                  <a:pt x="162" y="120"/>
                </a:lnTo>
                <a:lnTo>
                  <a:pt x="162" y="240"/>
                </a:lnTo>
                <a:lnTo>
                  <a:pt x="0" y="360"/>
                </a:lnTo>
                <a:lnTo>
                  <a:pt x="0" y="240"/>
                </a:lnTo>
              </a:path>
            </a:pathLst>
          </a:custGeom>
          <a:noFill/>
          <a:ln w="19050" cap="rnd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64" name="Rectangle 61">
            <a:extLst>
              <a:ext uri="{FF2B5EF4-FFF2-40B4-BE49-F238E27FC236}">
                <a16:creationId xmlns:a16="http://schemas.microsoft.com/office/drawing/2014/main" id="{14D7A9DB-DDEB-4F04-B2B8-2FB46C5B0203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49750" y="3819525"/>
            <a:ext cx="171522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zh-CN" sz="1200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rPr>
              <a:t>IM</a:t>
            </a:r>
            <a:endParaRPr kumimoji="0" lang="zh-CN" altLang="zh-CN" sz="180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  <a:ea typeface="SimHei" panose="02010609060101010101" pitchFamily="49" charset="-122"/>
            </a:endParaRPr>
          </a:p>
        </p:txBody>
      </p:sp>
      <p:sp>
        <p:nvSpPr>
          <p:cNvPr id="65" name="Freeform 62">
            <a:extLst>
              <a:ext uri="{FF2B5EF4-FFF2-40B4-BE49-F238E27FC236}">
                <a16:creationId xmlns:a16="http://schemas.microsoft.com/office/drawing/2014/main" id="{531634B4-16EA-41D4-B846-78D48F0098A2}"/>
              </a:ext>
            </a:extLst>
          </p:cNvPr>
          <p:cNvSpPr>
            <a:spLocks/>
          </p:cNvSpPr>
          <p:nvPr/>
        </p:nvSpPr>
        <p:spPr bwMode="auto">
          <a:xfrm>
            <a:off x="4275138" y="3775075"/>
            <a:ext cx="200025" cy="342900"/>
          </a:xfrm>
          <a:custGeom>
            <a:avLst/>
            <a:gdLst>
              <a:gd name="T0" fmla="*/ 126 w 126"/>
              <a:gd name="T1" fmla="*/ 0 h 216"/>
              <a:gd name="T2" fmla="*/ 0 w 126"/>
              <a:gd name="T3" fmla="*/ 0 h 216"/>
              <a:gd name="T4" fmla="*/ 0 w 126"/>
              <a:gd name="T5" fmla="*/ 216 h 216"/>
              <a:gd name="T6" fmla="*/ 126 w 126"/>
              <a:gd name="T7" fmla="*/ 216 h 2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126" h="216">
                <a:moveTo>
                  <a:pt x="126" y="0"/>
                </a:moveTo>
                <a:lnTo>
                  <a:pt x="0" y="0"/>
                </a:lnTo>
                <a:lnTo>
                  <a:pt x="0" y="216"/>
                </a:lnTo>
                <a:lnTo>
                  <a:pt x="126" y="216"/>
                </a:lnTo>
              </a:path>
            </a:pathLst>
          </a:custGeom>
          <a:noFill/>
          <a:ln w="19050" cap="rnd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66" name="Freeform 63">
            <a:extLst>
              <a:ext uri="{FF2B5EF4-FFF2-40B4-BE49-F238E27FC236}">
                <a16:creationId xmlns:a16="http://schemas.microsoft.com/office/drawing/2014/main" id="{8F971306-1D65-4C24-8C98-ED8E4A4BBE86}"/>
              </a:ext>
            </a:extLst>
          </p:cNvPr>
          <p:cNvSpPr>
            <a:spLocks/>
          </p:cNvSpPr>
          <p:nvPr/>
        </p:nvSpPr>
        <p:spPr bwMode="auto">
          <a:xfrm>
            <a:off x="4475163" y="3775075"/>
            <a:ext cx="207963" cy="342900"/>
          </a:xfrm>
          <a:custGeom>
            <a:avLst/>
            <a:gdLst>
              <a:gd name="T0" fmla="*/ 0 w 131"/>
              <a:gd name="T1" fmla="*/ 0 h 216"/>
              <a:gd name="T2" fmla="*/ 131 w 131"/>
              <a:gd name="T3" fmla="*/ 0 h 216"/>
              <a:gd name="T4" fmla="*/ 131 w 131"/>
              <a:gd name="T5" fmla="*/ 216 h 216"/>
              <a:gd name="T6" fmla="*/ 0 w 131"/>
              <a:gd name="T7" fmla="*/ 216 h 2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131" h="216">
                <a:moveTo>
                  <a:pt x="0" y="0"/>
                </a:moveTo>
                <a:lnTo>
                  <a:pt x="131" y="0"/>
                </a:lnTo>
                <a:lnTo>
                  <a:pt x="131" y="216"/>
                </a:lnTo>
                <a:lnTo>
                  <a:pt x="0" y="216"/>
                </a:lnTo>
              </a:path>
            </a:pathLst>
          </a:custGeom>
          <a:noFill/>
          <a:ln w="19050" cap="rnd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67" name="Rectangle 64">
            <a:extLst>
              <a:ext uri="{FF2B5EF4-FFF2-40B4-BE49-F238E27FC236}">
                <a16:creationId xmlns:a16="http://schemas.microsoft.com/office/drawing/2014/main" id="{36BECC61-1132-4B19-856D-BB06C4BDB646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68863" y="3824288"/>
            <a:ext cx="28052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zh-CN" altLang="zh-CN" sz="1200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rPr>
              <a:t>Reg</a:t>
            </a:r>
            <a:endParaRPr kumimoji="0" lang="zh-CN" altLang="zh-CN" sz="180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  <a:ea typeface="SimHei" panose="02010609060101010101" pitchFamily="49" charset="-122"/>
            </a:endParaRPr>
          </a:p>
        </p:txBody>
      </p:sp>
      <p:sp>
        <p:nvSpPr>
          <p:cNvPr id="68" name="Freeform 65">
            <a:extLst>
              <a:ext uri="{FF2B5EF4-FFF2-40B4-BE49-F238E27FC236}">
                <a16:creationId xmlns:a16="http://schemas.microsoft.com/office/drawing/2014/main" id="{5B3C0100-1B24-4971-8CA6-E88CE2FD2062}"/>
              </a:ext>
            </a:extLst>
          </p:cNvPr>
          <p:cNvSpPr>
            <a:spLocks/>
          </p:cNvSpPr>
          <p:nvPr/>
        </p:nvSpPr>
        <p:spPr bwMode="auto">
          <a:xfrm>
            <a:off x="4826000" y="3775075"/>
            <a:ext cx="177800" cy="342900"/>
          </a:xfrm>
          <a:custGeom>
            <a:avLst/>
            <a:gdLst>
              <a:gd name="T0" fmla="*/ 112 w 112"/>
              <a:gd name="T1" fmla="*/ 0 h 216"/>
              <a:gd name="T2" fmla="*/ 0 w 112"/>
              <a:gd name="T3" fmla="*/ 0 h 216"/>
              <a:gd name="T4" fmla="*/ 0 w 112"/>
              <a:gd name="T5" fmla="*/ 216 h 216"/>
              <a:gd name="T6" fmla="*/ 112 w 112"/>
              <a:gd name="T7" fmla="*/ 216 h 2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112" h="216">
                <a:moveTo>
                  <a:pt x="112" y="0"/>
                </a:moveTo>
                <a:lnTo>
                  <a:pt x="0" y="0"/>
                </a:lnTo>
                <a:lnTo>
                  <a:pt x="0" y="216"/>
                </a:lnTo>
                <a:lnTo>
                  <a:pt x="112" y="216"/>
                </a:lnTo>
              </a:path>
            </a:pathLst>
          </a:custGeom>
          <a:noFill/>
          <a:ln w="19050" cap="rnd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69" name="Freeform 66">
            <a:extLst>
              <a:ext uri="{FF2B5EF4-FFF2-40B4-BE49-F238E27FC236}">
                <a16:creationId xmlns:a16="http://schemas.microsoft.com/office/drawing/2014/main" id="{53524EA1-A7DF-4D6B-B501-5A75D3B80716}"/>
              </a:ext>
            </a:extLst>
          </p:cNvPr>
          <p:cNvSpPr>
            <a:spLocks/>
          </p:cNvSpPr>
          <p:nvPr/>
        </p:nvSpPr>
        <p:spPr bwMode="auto">
          <a:xfrm>
            <a:off x="4999038" y="3775075"/>
            <a:ext cx="177800" cy="342900"/>
          </a:xfrm>
          <a:custGeom>
            <a:avLst/>
            <a:gdLst>
              <a:gd name="T0" fmla="*/ 0 w 112"/>
              <a:gd name="T1" fmla="*/ 0 h 216"/>
              <a:gd name="T2" fmla="*/ 112 w 112"/>
              <a:gd name="T3" fmla="*/ 0 h 216"/>
              <a:gd name="T4" fmla="*/ 112 w 112"/>
              <a:gd name="T5" fmla="*/ 216 h 216"/>
              <a:gd name="T6" fmla="*/ 0 w 112"/>
              <a:gd name="T7" fmla="*/ 216 h 2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112" h="216">
                <a:moveTo>
                  <a:pt x="0" y="0"/>
                </a:moveTo>
                <a:lnTo>
                  <a:pt x="112" y="0"/>
                </a:lnTo>
                <a:lnTo>
                  <a:pt x="112" y="216"/>
                </a:lnTo>
                <a:lnTo>
                  <a:pt x="0" y="216"/>
                </a:lnTo>
              </a:path>
            </a:pathLst>
          </a:custGeom>
          <a:noFill/>
          <a:ln w="19050" cap="rnd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70" name="Line 67">
            <a:extLst>
              <a:ext uri="{FF2B5EF4-FFF2-40B4-BE49-F238E27FC236}">
                <a16:creationId xmlns:a16="http://schemas.microsoft.com/office/drawing/2014/main" id="{319352FB-3A2B-44F0-AA57-DA8BE18BA643}"/>
              </a:ext>
            </a:extLst>
          </p:cNvPr>
          <p:cNvSpPr>
            <a:spLocks noChangeShapeType="1"/>
          </p:cNvSpPr>
          <p:nvPr/>
        </p:nvSpPr>
        <p:spPr bwMode="auto">
          <a:xfrm>
            <a:off x="4691063" y="3946525"/>
            <a:ext cx="134938" cy="0"/>
          </a:xfrm>
          <a:prstGeom prst="line">
            <a:avLst/>
          </a:prstGeom>
          <a:noFill/>
          <a:ln w="19050" cap="flat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71" name="Freeform 68">
            <a:extLst>
              <a:ext uri="{FF2B5EF4-FFF2-40B4-BE49-F238E27FC236}">
                <a16:creationId xmlns:a16="http://schemas.microsoft.com/office/drawing/2014/main" id="{A300D644-EBC7-48BB-8080-313ABEAE0BA1}"/>
              </a:ext>
            </a:extLst>
          </p:cNvPr>
          <p:cNvSpPr>
            <a:spLocks/>
          </p:cNvSpPr>
          <p:nvPr/>
        </p:nvSpPr>
        <p:spPr bwMode="auto">
          <a:xfrm>
            <a:off x="4768850" y="3832225"/>
            <a:ext cx="57150" cy="114300"/>
          </a:xfrm>
          <a:custGeom>
            <a:avLst/>
            <a:gdLst>
              <a:gd name="T0" fmla="*/ 0 w 36"/>
              <a:gd name="T1" fmla="*/ 72 h 72"/>
              <a:gd name="T2" fmla="*/ 0 w 36"/>
              <a:gd name="T3" fmla="*/ 0 h 72"/>
              <a:gd name="T4" fmla="*/ 36 w 36"/>
              <a:gd name="T5" fmla="*/ 0 h 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36" h="72">
                <a:moveTo>
                  <a:pt x="0" y="72"/>
                </a:moveTo>
                <a:lnTo>
                  <a:pt x="0" y="0"/>
                </a:lnTo>
                <a:lnTo>
                  <a:pt x="36" y="0"/>
                </a:lnTo>
              </a:path>
            </a:pathLst>
          </a:custGeom>
          <a:noFill/>
          <a:ln w="19050" cap="rnd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72" name="Line 69">
            <a:extLst>
              <a:ext uri="{FF2B5EF4-FFF2-40B4-BE49-F238E27FC236}">
                <a16:creationId xmlns:a16="http://schemas.microsoft.com/office/drawing/2014/main" id="{EC0A8AEC-9113-4E93-BF7E-E3AF18DBBE35}"/>
              </a:ext>
            </a:extLst>
          </p:cNvPr>
          <p:cNvSpPr>
            <a:spLocks noChangeShapeType="1"/>
          </p:cNvSpPr>
          <p:nvPr/>
        </p:nvSpPr>
        <p:spPr bwMode="auto">
          <a:xfrm>
            <a:off x="5184775" y="3832225"/>
            <a:ext cx="185738" cy="0"/>
          </a:xfrm>
          <a:prstGeom prst="line">
            <a:avLst/>
          </a:prstGeom>
          <a:noFill/>
          <a:ln w="19050" cap="flat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73" name="Rectangle 70">
            <a:extLst>
              <a:ext uri="{FF2B5EF4-FFF2-40B4-BE49-F238E27FC236}">
                <a16:creationId xmlns:a16="http://schemas.microsoft.com/office/drawing/2014/main" id="{D22A462B-2BF3-4AF3-82C7-BF9730385C6A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43588" y="3819525"/>
            <a:ext cx="238848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zh-CN" altLang="zh-CN" sz="1200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rPr>
              <a:t>DM</a:t>
            </a:r>
            <a:endParaRPr kumimoji="0" lang="zh-CN" altLang="zh-CN" sz="180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  <a:ea typeface="SimHei" panose="02010609060101010101" pitchFamily="49" charset="-122"/>
            </a:endParaRPr>
          </a:p>
        </p:txBody>
      </p:sp>
      <p:sp>
        <p:nvSpPr>
          <p:cNvPr id="74" name="Freeform 71">
            <a:extLst>
              <a:ext uri="{FF2B5EF4-FFF2-40B4-BE49-F238E27FC236}">
                <a16:creationId xmlns:a16="http://schemas.microsoft.com/office/drawing/2014/main" id="{B51F7BF8-A2AE-4916-934A-986142E99769}"/>
              </a:ext>
            </a:extLst>
          </p:cNvPr>
          <p:cNvSpPr>
            <a:spLocks/>
          </p:cNvSpPr>
          <p:nvPr/>
        </p:nvSpPr>
        <p:spPr bwMode="auto">
          <a:xfrm>
            <a:off x="5835650" y="3775075"/>
            <a:ext cx="192088" cy="342900"/>
          </a:xfrm>
          <a:custGeom>
            <a:avLst/>
            <a:gdLst>
              <a:gd name="T0" fmla="*/ 121 w 121"/>
              <a:gd name="T1" fmla="*/ 0 h 216"/>
              <a:gd name="T2" fmla="*/ 0 w 121"/>
              <a:gd name="T3" fmla="*/ 0 h 216"/>
              <a:gd name="T4" fmla="*/ 0 w 121"/>
              <a:gd name="T5" fmla="*/ 216 h 216"/>
              <a:gd name="T6" fmla="*/ 121 w 121"/>
              <a:gd name="T7" fmla="*/ 216 h 2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121" h="216">
                <a:moveTo>
                  <a:pt x="121" y="0"/>
                </a:moveTo>
                <a:lnTo>
                  <a:pt x="0" y="0"/>
                </a:lnTo>
                <a:lnTo>
                  <a:pt x="0" y="216"/>
                </a:lnTo>
                <a:lnTo>
                  <a:pt x="121" y="216"/>
                </a:lnTo>
              </a:path>
            </a:pathLst>
          </a:custGeom>
          <a:noFill/>
          <a:ln w="19050" cap="rnd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75" name="Freeform 72">
            <a:extLst>
              <a:ext uri="{FF2B5EF4-FFF2-40B4-BE49-F238E27FC236}">
                <a16:creationId xmlns:a16="http://schemas.microsoft.com/office/drawing/2014/main" id="{F65584C3-C9E6-4448-937F-DB6806333D44}"/>
              </a:ext>
            </a:extLst>
          </p:cNvPr>
          <p:cNvSpPr>
            <a:spLocks/>
          </p:cNvSpPr>
          <p:nvPr/>
        </p:nvSpPr>
        <p:spPr bwMode="auto">
          <a:xfrm>
            <a:off x="6029325" y="3775075"/>
            <a:ext cx="192088" cy="342900"/>
          </a:xfrm>
          <a:custGeom>
            <a:avLst/>
            <a:gdLst>
              <a:gd name="T0" fmla="*/ 0 w 121"/>
              <a:gd name="T1" fmla="*/ 0 h 216"/>
              <a:gd name="T2" fmla="*/ 121 w 121"/>
              <a:gd name="T3" fmla="*/ 0 h 216"/>
              <a:gd name="T4" fmla="*/ 121 w 121"/>
              <a:gd name="T5" fmla="*/ 216 h 216"/>
              <a:gd name="T6" fmla="*/ 0 w 121"/>
              <a:gd name="T7" fmla="*/ 216 h 2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121" h="216">
                <a:moveTo>
                  <a:pt x="0" y="0"/>
                </a:moveTo>
                <a:lnTo>
                  <a:pt x="121" y="0"/>
                </a:lnTo>
                <a:lnTo>
                  <a:pt x="121" y="216"/>
                </a:lnTo>
                <a:lnTo>
                  <a:pt x="0" y="216"/>
                </a:lnTo>
              </a:path>
            </a:pathLst>
          </a:custGeom>
          <a:noFill/>
          <a:ln w="19050" cap="rnd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76" name="Rectangle 73">
            <a:extLst>
              <a:ext uri="{FF2B5EF4-FFF2-40B4-BE49-F238E27FC236}">
                <a16:creationId xmlns:a16="http://schemas.microsoft.com/office/drawing/2014/main" id="{55264D9A-4C24-4552-92FA-B0FC62089F1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30963" y="3819525"/>
            <a:ext cx="28052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zh-CN" altLang="zh-CN" sz="1200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rPr>
              <a:t>Reg</a:t>
            </a:r>
            <a:endParaRPr kumimoji="0" lang="zh-CN" altLang="zh-CN" sz="180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  <a:ea typeface="SimHei" panose="02010609060101010101" pitchFamily="49" charset="-122"/>
            </a:endParaRPr>
          </a:p>
        </p:txBody>
      </p:sp>
      <p:sp>
        <p:nvSpPr>
          <p:cNvPr id="77" name="Freeform 74">
            <a:extLst>
              <a:ext uri="{FF2B5EF4-FFF2-40B4-BE49-F238E27FC236}">
                <a16:creationId xmlns:a16="http://schemas.microsoft.com/office/drawing/2014/main" id="{E2898D5A-9B83-41B7-A550-49D22BBEF6BD}"/>
              </a:ext>
            </a:extLst>
          </p:cNvPr>
          <p:cNvSpPr>
            <a:spLocks/>
          </p:cNvSpPr>
          <p:nvPr/>
        </p:nvSpPr>
        <p:spPr bwMode="auto">
          <a:xfrm>
            <a:off x="6394450" y="3775075"/>
            <a:ext cx="169863" cy="342900"/>
          </a:xfrm>
          <a:custGeom>
            <a:avLst/>
            <a:gdLst>
              <a:gd name="T0" fmla="*/ 107 w 107"/>
              <a:gd name="T1" fmla="*/ 0 h 216"/>
              <a:gd name="T2" fmla="*/ 0 w 107"/>
              <a:gd name="T3" fmla="*/ 0 h 216"/>
              <a:gd name="T4" fmla="*/ 0 w 107"/>
              <a:gd name="T5" fmla="*/ 216 h 216"/>
              <a:gd name="T6" fmla="*/ 107 w 107"/>
              <a:gd name="T7" fmla="*/ 216 h 2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107" h="216">
                <a:moveTo>
                  <a:pt x="107" y="0"/>
                </a:moveTo>
                <a:lnTo>
                  <a:pt x="0" y="0"/>
                </a:lnTo>
                <a:lnTo>
                  <a:pt x="0" y="216"/>
                </a:lnTo>
                <a:lnTo>
                  <a:pt x="107" y="216"/>
                </a:lnTo>
              </a:path>
            </a:pathLst>
          </a:custGeom>
          <a:noFill/>
          <a:ln w="19050" cap="rnd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78" name="Freeform 75">
            <a:extLst>
              <a:ext uri="{FF2B5EF4-FFF2-40B4-BE49-F238E27FC236}">
                <a16:creationId xmlns:a16="http://schemas.microsoft.com/office/drawing/2014/main" id="{1D6E7C49-D3C9-42AC-9CD5-1EB137ED3C8F}"/>
              </a:ext>
            </a:extLst>
          </p:cNvPr>
          <p:cNvSpPr>
            <a:spLocks/>
          </p:cNvSpPr>
          <p:nvPr/>
        </p:nvSpPr>
        <p:spPr bwMode="auto">
          <a:xfrm>
            <a:off x="6565900" y="3775075"/>
            <a:ext cx="171450" cy="342900"/>
          </a:xfrm>
          <a:custGeom>
            <a:avLst/>
            <a:gdLst>
              <a:gd name="T0" fmla="*/ 0 w 108"/>
              <a:gd name="T1" fmla="*/ 0 h 216"/>
              <a:gd name="T2" fmla="*/ 108 w 108"/>
              <a:gd name="T3" fmla="*/ 0 h 216"/>
              <a:gd name="T4" fmla="*/ 108 w 108"/>
              <a:gd name="T5" fmla="*/ 216 h 216"/>
              <a:gd name="T6" fmla="*/ 0 w 108"/>
              <a:gd name="T7" fmla="*/ 216 h 2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108" h="216">
                <a:moveTo>
                  <a:pt x="0" y="0"/>
                </a:moveTo>
                <a:lnTo>
                  <a:pt x="108" y="0"/>
                </a:lnTo>
                <a:lnTo>
                  <a:pt x="108" y="216"/>
                </a:lnTo>
                <a:lnTo>
                  <a:pt x="0" y="216"/>
                </a:lnTo>
              </a:path>
            </a:pathLst>
          </a:custGeom>
          <a:noFill/>
          <a:ln w="19050" cap="rnd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79" name="Line 76">
            <a:extLst>
              <a:ext uri="{FF2B5EF4-FFF2-40B4-BE49-F238E27FC236}">
                <a16:creationId xmlns:a16="http://schemas.microsoft.com/office/drawing/2014/main" id="{42322D01-39BF-48A2-8739-16ABDAD548CB}"/>
              </a:ext>
            </a:extLst>
          </p:cNvPr>
          <p:cNvSpPr>
            <a:spLocks noChangeShapeType="1"/>
          </p:cNvSpPr>
          <p:nvPr/>
        </p:nvSpPr>
        <p:spPr bwMode="auto">
          <a:xfrm>
            <a:off x="6223000" y="3946525"/>
            <a:ext cx="163513" cy="0"/>
          </a:xfrm>
          <a:prstGeom prst="line">
            <a:avLst/>
          </a:prstGeom>
          <a:noFill/>
          <a:ln w="19050" cap="flat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80" name="Line 77">
            <a:extLst>
              <a:ext uri="{FF2B5EF4-FFF2-40B4-BE49-F238E27FC236}">
                <a16:creationId xmlns:a16="http://schemas.microsoft.com/office/drawing/2014/main" id="{E2218946-A72D-493C-AF06-08CB1979F9AF}"/>
              </a:ext>
            </a:extLst>
          </p:cNvPr>
          <p:cNvSpPr>
            <a:spLocks noChangeShapeType="1"/>
          </p:cNvSpPr>
          <p:nvPr/>
        </p:nvSpPr>
        <p:spPr bwMode="auto">
          <a:xfrm>
            <a:off x="5641975" y="3946525"/>
            <a:ext cx="187325" cy="0"/>
          </a:xfrm>
          <a:prstGeom prst="line">
            <a:avLst/>
          </a:prstGeom>
          <a:noFill/>
          <a:ln w="19050" cap="flat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81" name="Line 78">
            <a:extLst>
              <a:ext uri="{FF2B5EF4-FFF2-40B4-BE49-F238E27FC236}">
                <a16:creationId xmlns:a16="http://schemas.microsoft.com/office/drawing/2014/main" id="{3E1F00C5-B29D-42EE-AD06-C44DE173FB94}"/>
              </a:ext>
            </a:extLst>
          </p:cNvPr>
          <p:cNvSpPr>
            <a:spLocks noChangeShapeType="1"/>
          </p:cNvSpPr>
          <p:nvPr/>
        </p:nvSpPr>
        <p:spPr bwMode="auto">
          <a:xfrm>
            <a:off x="5184775" y="4062413"/>
            <a:ext cx="185738" cy="0"/>
          </a:xfrm>
          <a:prstGeom prst="line">
            <a:avLst/>
          </a:prstGeom>
          <a:noFill/>
          <a:ln w="19050" cap="flat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82" name="Line 79">
            <a:extLst>
              <a:ext uri="{FF2B5EF4-FFF2-40B4-BE49-F238E27FC236}">
                <a16:creationId xmlns:a16="http://schemas.microsoft.com/office/drawing/2014/main" id="{D01F1046-D313-4D63-A6C2-4B7A9014EFCB}"/>
              </a:ext>
            </a:extLst>
          </p:cNvPr>
          <p:cNvSpPr>
            <a:spLocks noChangeShapeType="1"/>
          </p:cNvSpPr>
          <p:nvPr/>
        </p:nvSpPr>
        <p:spPr bwMode="auto">
          <a:xfrm>
            <a:off x="5284788" y="4062413"/>
            <a:ext cx="0" cy="228600"/>
          </a:xfrm>
          <a:prstGeom prst="line">
            <a:avLst/>
          </a:prstGeom>
          <a:noFill/>
          <a:ln w="22225" cap="flat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83" name="Line 80">
            <a:extLst>
              <a:ext uri="{FF2B5EF4-FFF2-40B4-BE49-F238E27FC236}">
                <a16:creationId xmlns:a16="http://schemas.microsoft.com/office/drawing/2014/main" id="{075A4388-3B31-4748-95A5-ADB6A9F957BD}"/>
              </a:ext>
            </a:extLst>
          </p:cNvPr>
          <p:cNvSpPr>
            <a:spLocks noChangeShapeType="1"/>
          </p:cNvSpPr>
          <p:nvPr/>
        </p:nvSpPr>
        <p:spPr bwMode="auto">
          <a:xfrm>
            <a:off x="5284788" y="4291013"/>
            <a:ext cx="400050" cy="0"/>
          </a:xfrm>
          <a:prstGeom prst="line">
            <a:avLst/>
          </a:prstGeom>
          <a:noFill/>
          <a:ln w="22225" cap="flat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84" name="Line 81">
            <a:extLst>
              <a:ext uri="{FF2B5EF4-FFF2-40B4-BE49-F238E27FC236}">
                <a16:creationId xmlns:a16="http://schemas.microsoft.com/office/drawing/2014/main" id="{C810EA70-1068-4265-8D95-1436D62479B3}"/>
              </a:ext>
            </a:extLst>
          </p:cNvPr>
          <p:cNvSpPr>
            <a:spLocks noChangeShapeType="1"/>
          </p:cNvSpPr>
          <p:nvPr/>
        </p:nvSpPr>
        <p:spPr bwMode="auto">
          <a:xfrm>
            <a:off x="5684838" y="3946525"/>
            <a:ext cx="0" cy="344488"/>
          </a:xfrm>
          <a:prstGeom prst="line">
            <a:avLst/>
          </a:prstGeom>
          <a:noFill/>
          <a:ln w="22225" cap="flat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85" name="Line 82">
            <a:extLst>
              <a:ext uri="{FF2B5EF4-FFF2-40B4-BE49-F238E27FC236}">
                <a16:creationId xmlns:a16="http://schemas.microsoft.com/office/drawing/2014/main" id="{ECE58320-DFE4-4011-A495-CBDFFE939AA7}"/>
              </a:ext>
            </a:extLst>
          </p:cNvPr>
          <p:cNvSpPr>
            <a:spLocks noChangeShapeType="1"/>
          </p:cNvSpPr>
          <p:nvPr/>
        </p:nvSpPr>
        <p:spPr bwMode="auto">
          <a:xfrm>
            <a:off x="5778500" y="3946525"/>
            <a:ext cx="0" cy="287338"/>
          </a:xfrm>
          <a:prstGeom prst="line">
            <a:avLst/>
          </a:prstGeom>
          <a:noFill/>
          <a:ln w="22225" cap="flat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86" name="Line 83">
            <a:extLst>
              <a:ext uri="{FF2B5EF4-FFF2-40B4-BE49-F238E27FC236}">
                <a16:creationId xmlns:a16="http://schemas.microsoft.com/office/drawing/2014/main" id="{00DD36AC-2B13-48C7-9C58-CC76977519C8}"/>
              </a:ext>
            </a:extLst>
          </p:cNvPr>
          <p:cNvSpPr>
            <a:spLocks noChangeShapeType="1"/>
          </p:cNvSpPr>
          <p:nvPr/>
        </p:nvSpPr>
        <p:spPr bwMode="auto">
          <a:xfrm>
            <a:off x="5778500" y="4233863"/>
            <a:ext cx="515938" cy="0"/>
          </a:xfrm>
          <a:prstGeom prst="line">
            <a:avLst/>
          </a:prstGeom>
          <a:noFill/>
          <a:ln w="22225" cap="flat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87" name="Line 84">
            <a:extLst>
              <a:ext uri="{FF2B5EF4-FFF2-40B4-BE49-F238E27FC236}">
                <a16:creationId xmlns:a16="http://schemas.microsoft.com/office/drawing/2014/main" id="{12BFA803-C819-4CF5-9FBA-9E0A477AAE9E}"/>
              </a:ext>
            </a:extLst>
          </p:cNvPr>
          <p:cNvSpPr>
            <a:spLocks noChangeShapeType="1"/>
          </p:cNvSpPr>
          <p:nvPr/>
        </p:nvSpPr>
        <p:spPr bwMode="auto">
          <a:xfrm>
            <a:off x="6294438" y="3946525"/>
            <a:ext cx="0" cy="287338"/>
          </a:xfrm>
          <a:prstGeom prst="line">
            <a:avLst/>
          </a:prstGeom>
          <a:noFill/>
          <a:ln w="22225" cap="flat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88" name="Freeform 85">
            <a:extLst>
              <a:ext uri="{FF2B5EF4-FFF2-40B4-BE49-F238E27FC236}">
                <a16:creationId xmlns:a16="http://schemas.microsoft.com/office/drawing/2014/main" id="{9FBD4BF1-9ED3-4D77-A00C-B6A581DF8935}"/>
              </a:ext>
            </a:extLst>
          </p:cNvPr>
          <p:cNvSpPr>
            <a:spLocks noEditPoints="1"/>
          </p:cNvSpPr>
          <p:nvPr/>
        </p:nvSpPr>
        <p:spPr bwMode="auto">
          <a:xfrm>
            <a:off x="7272338" y="2344738"/>
            <a:ext cx="18000" cy="4032000"/>
          </a:xfrm>
          <a:custGeom>
            <a:avLst/>
            <a:gdLst>
              <a:gd name="T0" fmla="*/ 0 w 12"/>
              <a:gd name="T1" fmla="*/ 24 h 2560"/>
              <a:gd name="T2" fmla="*/ 0 w 12"/>
              <a:gd name="T3" fmla="*/ 84 h 2560"/>
              <a:gd name="T4" fmla="*/ 12 w 12"/>
              <a:gd name="T5" fmla="*/ 132 h 2560"/>
              <a:gd name="T6" fmla="*/ 12 w 12"/>
              <a:gd name="T7" fmla="*/ 168 h 2560"/>
              <a:gd name="T8" fmla="*/ 12 w 12"/>
              <a:gd name="T9" fmla="*/ 192 h 2560"/>
              <a:gd name="T10" fmla="*/ 0 w 12"/>
              <a:gd name="T11" fmla="*/ 240 h 2560"/>
              <a:gd name="T12" fmla="*/ 0 w 12"/>
              <a:gd name="T13" fmla="*/ 300 h 2560"/>
              <a:gd name="T14" fmla="*/ 12 w 12"/>
              <a:gd name="T15" fmla="*/ 349 h 2560"/>
              <a:gd name="T16" fmla="*/ 12 w 12"/>
              <a:gd name="T17" fmla="*/ 385 h 2560"/>
              <a:gd name="T18" fmla="*/ 12 w 12"/>
              <a:gd name="T19" fmla="*/ 409 h 2560"/>
              <a:gd name="T20" fmla="*/ 0 w 12"/>
              <a:gd name="T21" fmla="*/ 457 h 2560"/>
              <a:gd name="T22" fmla="*/ 0 w 12"/>
              <a:gd name="T23" fmla="*/ 517 h 2560"/>
              <a:gd name="T24" fmla="*/ 12 w 12"/>
              <a:gd name="T25" fmla="*/ 565 h 2560"/>
              <a:gd name="T26" fmla="*/ 12 w 12"/>
              <a:gd name="T27" fmla="*/ 601 h 2560"/>
              <a:gd name="T28" fmla="*/ 12 w 12"/>
              <a:gd name="T29" fmla="*/ 625 h 2560"/>
              <a:gd name="T30" fmla="*/ 0 w 12"/>
              <a:gd name="T31" fmla="*/ 673 h 2560"/>
              <a:gd name="T32" fmla="*/ 0 w 12"/>
              <a:gd name="T33" fmla="*/ 733 h 2560"/>
              <a:gd name="T34" fmla="*/ 12 w 12"/>
              <a:gd name="T35" fmla="*/ 781 h 2560"/>
              <a:gd name="T36" fmla="*/ 12 w 12"/>
              <a:gd name="T37" fmla="*/ 817 h 2560"/>
              <a:gd name="T38" fmla="*/ 12 w 12"/>
              <a:gd name="T39" fmla="*/ 841 h 2560"/>
              <a:gd name="T40" fmla="*/ 0 w 12"/>
              <a:gd name="T41" fmla="*/ 890 h 2560"/>
              <a:gd name="T42" fmla="*/ 0 w 12"/>
              <a:gd name="T43" fmla="*/ 950 h 2560"/>
              <a:gd name="T44" fmla="*/ 12 w 12"/>
              <a:gd name="T45" fmla="*/ 998 h 2560"/>
              <a:gd name="T46" fmla="*/ 12 w 12"/>
              <a:gd name="T47" fmla="*/ 1034 h 2560"/>
              <a:gd name="T48" fmla="*/ 12 w 12"/>
              <a:gd name="T49" fmla="*/ 1058 h 2560"/>
              <a:gd name="T50" fmla="*/ 0 w 12"/>
              <a:gd name="T51" fmla="*/ 1106 h 2560"/>
              <a:gd name="T52" fmla="*/ 0 w 12"/>
              <a:gd name="T53" fmla="*/ 1166 h 2560"/>
              <a:gd name="T54" fmla="*/ 12 w 12"/>
              <a:gd name="T55" fmla="*/ 1214 h 2560"/>
              <a:gd name="T56" fmla="*/ 12 w 12"/>
              <a:gd name="T57" fmla="*/ 1250 h 2560"/>
              <a:gd name="T58" fmla="*/ 12 w 12"/>
              <a:gd name="T59" fmla="*/ 1274 h 2560"/>
              <a:gd name="T60" fmla="*/ 0 w 12"/>
              <a:gd name="T61" fmla="*/ 1322 h 2560"/>
              <a:gd name="T62" fmla="*/ 0 w 12"/>
              <a:gd name="T63" fmla="*/ 1382 h 2560"/>
              <a:gd name="T64" fmla="*/ 12 w 12"/>
              <a:gd name="T65" fmla="*/ 1431 h 2560"/>
              <a:gd name="T66" fmla="*/ 12 w 12"/>
              <a:gd name="T67" fmla="*/ 1467 h 2560"/>
              <a:gd name="T68" fmla="*/ 12 w 12"/>
              <a:gd name="T69" fmla="*/ 1491 h 2560"/>
              <a:gd name="T70" fmla="*/ 0 w 12"/>
              <a:gd name="T71" fmla="*/ 1539 h 2560"/>
              <a:gd name="T72" fmla="*/ 0 w 12"/>
              <a:gd name="T73" fmla="*/ 1599 h 2560"/>
              <a:gd name="T74" fmla="*/ 12 w 12"/>
              <a:gd name="T75" fmla="*/ 1647 h 2560"/>
              <a:gd name="T76" fmla="*/ 12 w 12"/>
              <a:gd name="T77" fmla="*/ 1683 h 2560"/>
              <a:gd name="T78" fmla="*/ 12 w 12"/>
              <a:gd name="T79" fmla="*/ 1707 h 2560"/>
              <a:gd name="T80" fmla="*/ 0 w 12"/>
              <a:gd name="T81" fmla="*/ 1755 h 2560"/>
              <a:gd name="T82" fmla="*/ 0 w 12"/>
              <a:gd name="T83" fmla="*/ 1815 h 2560"/>
              <a:gd name="T84" fmla="*/ 12 w 12"/>
              <a:gd name="T85" fmla="*/ 1863 h 2560"/>
              <a:gd name="T86" fmla="*/ 12 w 12"/>
              <a:gd name="T87" fmla="*/ 1899 h 2560"/>
              <a:gd name="T88" fmla="*/ 12 w 12"/>
              <a:gd name="T89" fmla="*/ 1923 h 2560"/>
              <a:gd name="T90" fmla="*/ 0 w 12"/>
              <a:gd name="T91" fmla="*/ 1972 h 2560"/>
              <a:gd name="T92" fmla="*/ 0 w 12"/>
              <a:gd name="T93" fmla="*/ 2032 h 2560"/>
              <a:gd name="T94" fmla="*/ 12 w 12"/>
              <a:gd name="T95" fmla="*/ 2080 h 2560"/>
              <a:gd name="T96" fmla="*/ 12 w 12"/>
              <a:gd name="T97" fmla="*/ 2116 h 2560"/>
              <a:gd name="T98" fmla="*/ 12 w 12"/>
              <a:gd name="T99" fmla="*/ 2140 h 2560"/>
              <a:gd name="T100" fmla="*/ 0 w 12"/>
              <a:gd name="T101" fmla="*/ 2188 h 2560"/>
              <a:gd name="T102" fmla="*/ 0 w 12"/>
              <a:gd name="T103" fmla="*/ 2248 h 2560"/>
              <a:gd name="T104" fmla="*/ 12 w 12"/>
              <a:gd name="T105" fmla="*/ 2296 h 2560"/>
              <a:gd name="T106" fmla="*/ 12 w 12"/>
              <a:gd name="T107" fmla="*/ 2332 h 2560"/>
              <a:gd name="T108" fmla="*/ 12 w 12"/>
              <a:gd name="T109" fmla="*/ 2356 h 2560"/>
              <a:gd name="T110" fmla="*/ 0 w 12"/>
              <a:gd name="T111" fmla="*/ 2404 h 2560"/>
              <a:gd name="T112" fmla="*/ 0 w 12"/>
              <a:gd name="T113" fmla="*/ 2464 h 2560"/>
              <a:gd name="T114" fmla="*/ 12 w 12"/>
              <a:gd name="T115" fmla="*/ 2513 h 2560"/>
              <a:gd name="T116" fmla="*/ 12 w 12"/>
              <a:gd name="T117" fmla="*/ 2549 h 25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12" h="2560">
                <a:moveTo>
                  <a:pt x="12" y="0"/>
                </a:moveTo>
                <a:lnTo>
                  <a:pt x="12" y="12"/>
                </a:lnTo>
                <a:lnTo>
                  <a:pt x="0" y="12"/>
                </a:lnTo>
                <a:lnTo>
                  <a:pt x="0" y="0"/>
                </a:lnTo>
                <a:lnTo>
                  <a:pt x="12" y="0"/>
                </a:lnTo>
                <a:close/>
                <a:moveTo>
                  <a:pt x="12" y="24"/>
                </a:moveTo>
                <a:lnTo>
                  <a:pt x="12" y="36"/>
                </a:lnTo>
                <a:lnTo>
                  <a:pt x="0" y="36"/>
                </a:lnTo>
                <a:lnTo>
                  <a:pt x="0" y="24"/>
                </a:lnTo>
                <a:lnTo>
                  <a:pt x="12" y="24"/>
                </a:lnTo>
                <a:close/>
                <a:moveTo>
                  <a:pt x="12" y="48"/>
                </a:moveTo>
                <a:lnTo>
                  <a:pt x="12" y="60"/>
                </a:lnTo>
                <a:lnTo>
                  <a:pt x="0" y="60"/>
                </a:lnTo>
                <a:lnTo>
                  <a:pt x="0" y="48"/>
                </a:lnTo>
                <a:lnTo>
                  <a:pt x="12" y="48"/>
                </a:lnTo>
                <a:close/>
                <a:moveTo>
                  <a:pt x="12" y="72"/>
                </a:moveTo>
                <a:lnTo>
                  <a:pt x="12" y="84"/>
                </a:lnTo>
                <a:lnTo>
                  <a:pt x="0" y="84"/>
                </a:lnTo>
                <a:lnTo>
                  <a:pt x="0" y="72"/>
                </a:lnTo>
                <a:lnTo>
                  <a:pt x="12" y="72"/>
                </a:lnTo>
                <a:close/>
                <a:moveTo>
                  <a:pt x="12" y="96"/>
                </a:moveTo>
                <a:lnTo>
                  <a:pt x="12" y="108"/>
                </a:lnTo>
                <a:lnTo>
                  <a:pt x="0" y="108"/>
                </a:lnTo>
                <a:lnTo>
                  <a:pt x="0" y="96"/>
                </a:lnTo>
                <a:lnTo>
                  <a:pt x="12" y="96"/>
                </a:lnTo>
                <a:close/>
                <a:moveTo>
                  <a:pt x="12" y="120"/>
                </a:moveTo>
                <a:lnTo>
                  <a:pt x="12" y="132"/>
                </a:lnTo>
                <a:lnTo>
                  <a:pt x="0" y="132"/>
                </a:lnTo>
                <a:lnTo>
                  <a:pt x="0" y="120"/>
                </a:lnTo>
                <a:lnTo>
                  <a:pt x="12" y="120"/>
                </a:lnTo>
                <a:close/>
                <a:moveTo>
                  <a:pt x="12" y="144"/>
                </a:moveTo>
                <a:lnTo>
                  <a:pt x="12" y="156"/>
                </a:lnTo>
                <a:lnTo>
                  <a:pt x="0" y="156"/>
                </a:lnTo>
                <a:lnTo>
                  <a:pt x="0" y="144"/>
                </a:lnTo>
                <a:lnTo>
                  <a:pt x="12" y="144"/>
                </a:lnTo>
                <a:close/>
                <a:moveTo>
                  <a:pt x="12" y="168"/>
                </a:moveTo>
                <a:lnTo>
                  <a:pt x="12" y="180"/>
                </a:lnTo>
                <a:lnTo>
                  <a:pt x="0" y="180"/>
                </a:lnTo>
                <a:lnTo>
                  <a:pt x="0" y="168"/>
                </a:lnTo>
                <a:lnTo>
                  <a:pt x="12" y="168"/>
                </a:lnTo>
                <a:close/>
                <a:moveTo>
                  <a:pt x="12" y="192"/>
                </a:moveTo>
                <a:lnTo>
                  <a:pt x="12" y="204"/>
                </a:lnTo>
                <a:lnTo>
                  <a:pt x="0" y="204"/>
                </a:lnTo>
                <a:lnTo>
                  <a:pt x="0" y="192"/>
                </a:lnTo>
                <a:lnTo>
                  <a:pt x="12" y="192"/>
                </a:lnTo>
                <a:close/>
                <a:moveTo>
                  <a:pt x="12" y="216"/>
                </a:moveTo>
                <a:lnTo>
                  <a:pt x="12" y="228"/>
                </a:lnTo>
                <a:lnTo>
                  <a:pt x="0" y="228"/>
                </a:lnTo>
                <a:lnTo>
                  <a:pt x="0" y="216"/>
                </a:lnTo>
                <a:lnTo>
                  <a:pt x="12" y="216"/>
                </a:lnTo>
                <a:close/>
                <a:moveTo>
                  <a:pt x="12" y="240"/>
                </a:moveTo>
                <a:lnTo>
                  <a:pt x="12" y="252"/>
                </a:lnTo>
                <a:lnTo>
                  <a:pt x="0" y="252"/>
                </a:lnTo>
                <a:lnTo>
                  <a:pt x="0" y="240"/>
                </a:lnTo>
                <a:lnTo>
                  <a:pt x="12" y="240"/>
                </a:lnTo>
                <a:close/>
                <a:moveTo>
                  <a:pt x="12" y="264"/>
                </a:moveTo>
                <a:lnTo>
                  <a:pt x="12" y="276"/>
                </a:lnTo>
                <a:lnTo>
                  <a:pt x="0" y="276"/>
                </a:lnTo>
                <a:lnTo>
                  <a:pt x="0" y="264"/>
                </a:lnTo>
                <a:lnTo>
                  <a:pt x="12" y="264"/>
                </a:lnTo>
                <a:close/>
                <a:moveTo>
                  <a:pt x="12" y="288"/>
                </a:moveTo>
                <a:lnTo>
                  <a:pt x="12" y="300"/>
                </a:lnTo>
                <a:lnTo>
                  <a:pt x="0" y="300"/>
                </a:lnTo>
                <a:lnTo>
                  <a:pt x="0" y="288"/>
                </a:lnTo>
                <a:lnTo>
                  <a:pt x="12" y="288"/>
                </a:lnTo>
                <a:close/>
                <a:moveTo>
                  <a:pt x="12" y="312"/>
                </a:moveTo>
                <a:lnTo>
                  <a:pt x="12" y="324"/>
                </a:lnTo>
                <a:lnTo>
                  <a:pt x="0" y="324"/>
                </a:lnTo>
                <a:lnTo>
                  <a:pt x="0" y="312"/>
                </a:lnTo>
                <a:lnTo>
                  <a:pt x="12" y="312"/>
                </a:lnTo>
                <a:close/>
                <a:moveTo>
                  <a:pt x="12" y="336"/>
                </a:moveTo>
                <a:lnTo>
                  <a:pt x="12" y="349"/>
                </a:lnTo>
                <a:lnTo>
                  <a:pt x="0" y="349"/>
                </a:lnTo>
                <a:lnTo>
                  <a:pt x="0" y="336"/>
                </a:lnTo>
                <a:lnTo>
                  <a:pt x="12" y="336"/>
                </a:lnTo>
                <a:close/>
                <a:moveTo>
                  <a:pt x="12" y="360"/>
                </a:moveTo>
                <a:lnTo>
                  <a:pt x="12" y="373"/>
                </a:lnTo>
                <a:lnTo>
                  <a:pt x="0" y="373"/>
                </a:lnTo>
                <a:lnTo>
                  <a:pt x="0" y="360"/>
                </a:lnTo>
                <a:lnTo>
                  <a:pt x="12" y="360"/>
                </a:lnTo>
                <a:close/>
                <a:moveTo>
                  <a:pt x="12" y="385"/>
                </a:moveTo>
                <a:lnTo>
                  <a:pt x="12" y="396"/>
                </a:lnTo>
                <a:lnTo>
                  <a:pt x="0" y="396"/>
                </a:lnTo>
                <a:lnTo>
                  <a:pt x="0" y="385"/>
                </a:lnTo>
                <a:lnTo>
                  <a:pt x="12" y="385"/>
                </a:lnTo>
                <a:close/>
                <a:moveTo>
                  <a:pt x="12" y="409"/>
                </a:moveTo>
                <a:lnTo>
                  <a:pt x="12" y="421"/>
                </a:lnTo>
                <a:lnTo>
                  <a:pt x="0" y="421"/>
                </a:lnTo>
                <a:lnTo>
                  <a:pt x="0" y="409"/>
                </a:lnTo>
                <a:lnTo>
                  <a:pt x="12" y="409"/>
                </a:lnTo>
                <a:close/>
                <a:moveTo>
                  <a:pt x="12" y="433"/>
                </a:moveTo>
                <a:lnTo>
                  <a:pt x="12" y="445"/>
                </a:lnTo>
                <a:lnTo>
                  <a:pt x="0" y="445"/>
                </a:lnTo>
                <a:lnTo>
                  <a:pt x="0" y="433"/>
                </a:lnTo>
                <a:lnTo>
                  <a:pt x="12" y="433"/>
                </a:lnTo>
                <a:close/>
                <a:moveTo>
                  <a:pt x="12" y="457"/>
                </a:moveTo>
                <a:lnTo>
                  <a:pt x="12" y="469"/>
                </a:lnTo>
                <a:lnTo>
                  <a:pt x="0" y="469"/>
                </a:lnTo>
                <a:lnTo>
                  <a:pt x="0" y="457"/>
                </a:lnTo>
                <a:lnTo>
                  <a:pt x="12" y="457"/>
                </a:lnTo>
                <a:close/>
                <a:moveTo>
                  <a:pt x="12" y="481"/>
                </a:moveTo>
                <a:lnTo>
                  <a:pt x="12" y="493"/>
                </a:lnTo>
                <a:lnTo>
                  <a:pt x="0" y="493"/>
                </a:lnTo>
                <a:lnTo>
                  <a:pt x="0" y="481"/>
                </a:lnTo>
                <a:lnTo>
                  <a:pt x="12" y="481"/>
                </a:lnTo>
                <a:close/>
                <a:moveTo>
                  <a:pt x="12" y="505"/>
                </a:moveTo>
                <a:lnTo>
                  <a:pt x="12" y="517"/>
                </a:lnTo>
                <a:lnTo>
                  <a:pt x="0" y="517"/>
                </a:lnTo>
                <a:lnTo>
                  <a:pt x="0" y="505"/>
                </a:lnTo>
                <a:lnTo>
                  <a:pt x="12" y="505"/>
                </a:lnTo>
                <a:close/>
                <a:moveTo>
                  <a:pt x="12" y="529"/>
                </a:moveTo>
                <a:lnTo>
                  <a:pt x="12" y="541"/>
                </a:lnTo>
                <a:lnTo>
                  <a:pt x="0" y="541"/>
                </a:lnTo>
                <a:lnTo>
                  <a:pt x="0" y="529"/>
                </a:lnTo>
                <a:lnTo>
                  <a:pt x="12" y="529"/>
                </a:lnTo>
                <a:close/>
                <a:moveTo>
                  <a:pt x="12" y="553"/>
                </a:moveTo>
                <a:lnTo>
                  <a:pt x="12" y="565"/>
                </a:lnTo>
                <a:lnTo>
                  <a:pt x="0" y="565"/>
                </a:lnTo>
                <a:lnTo>
                  <a:pt x="0" y="553"/>
                </a:lnTo>
                <a:lnTo>
                  <a:pt x="12" y="553"/>
                </a:lnTo>
                <a:close/>
                <a:moveTo>
                  <a:pt x="12" y="577"/>
                </a:moveTo>
                <a:lnTo>
                  <a:pt x="12" y="589"/>
                </a:lnTo>
                <a:lnTo>
                  <a:pt x="0" y="589"/>
                </a:lnTo>
                <a:lnTo>
                  <a:pt x="0" y="577"/>
                </a:lnTo>
                <a:lnTo>
                  <a:pt x="12" y="577"/>
                </a:lnTo>
                <a:close/>
                <a:moveTo>
                  <a:pt x="12" y="601"/>
                </a:moveTo>
                <a:lnTo>
                  <a:pt x="12" y="613"/>
                </a:lnTo>
                <a:lnTo>
                  <a:pt x="0" y="613"/>
                </a:lnTo>
                <a:lnTo>
                  <a:pt x="0" y="601"/>
                </a:lnTo>
                <a:lnTo>
                  <a:pt x="12" y="601"/>
                </a:lnTo>
                <a:close/>
                <a:moveTo>
                  <a:pt x="12" y="625"/>
                </a:moveTo>
                <a:lnTo>
                  <a:pt x="12" y="637"/>
                </a:lnTo>
                <a:lnTo>
                  <a:pt x="0" y="637"/>
                </a:lnTo>
                <a:lnTo>
                  <a:pt x="0" y="625"/>
                </a:lnTo>
                <a:lnTo>
                  <a:pt x="12" y="625"/>
                </a:lnTo>
                <a:close/>
                <a:moveTo>
                  <a:pt x="12" y="649"/>
                </a:moveTo>
                <a:lnTo>
                  <a:pt x="12" y="661"/>
                </a:lnTo>
                <a:lnTo>
                  <a:pt x="0" y="661"/>
                </a:lnTo>
                <a:lnTo>
                  <a:pt x="0" y="649"/>
                </a:lnTo>
                <a:lnTo>
                  <a:pt x="12" y="649"/>
                </a:lnTo>
                <a:close/>
                <a:moveTo>
                  <a:pt x="12" y="673"/>
                </a:moveTo>
                <a:lnTo>
                  <a:pt x="12" y="685"/>
                </a:lnTo>
                <a:lnTo>
                  <a:pt x="0" y="685"/>
                </a:lnTo>
                <a:lnTo>
                  <a:pt x="0" y="673"/>
                </a:lnTo>
                <a:lnTo>
                  <a:pt x="12" y="673"/>
                </a:lnTo>
                <a:close/>
                <a:moveTo>
                  <a:pt x="12" y="697"/>
                </a:moveTo>
                <a:lnTo>
                  <a:pt x="12" y="709"/>
                </a:lnTo>
                <a:lnTo>
                  <a:pt x="0" y="709"/>
                </a:lnTo>
                <a:lnTo>
                  <a:pt x="0" y="697"/>
                </a:lnTo>
                <a:lnTo>
                  <a:pt x="12" y="697"/>
                </a:lnTo>
                <a:close/>
                <a:moveTo>
                  <a:pt x="12" y="721"/>
                </a:moveTo>
                <a:lnTo>
                  <a:pt x="12" y="733"/>
                </a:lnTo>
                <a:lnTo>
                  <a:pt x="0" y="733"/>
                </a:lnTo>
                <a:lnTo>
                  <a:pt x="0" y="721"/>
                </a:lnTo>
                <a:lnTo>
                  <a:pt x="12" y="721"/>
                </a:lnTo>
                <a:close/>
                <a:moveTo>
                  <a:pt x="12" y="745"/>
                </a:moveTo>
                <a:lnTo>
                  <a:pt x="12" y="757"/>
                </a:lnTo>
                <a:lnTo>
                  <a:pt x="0" y="757"/>
                </a:lnTo>
                <a:lnTo>
                  <a:pt x="0" y="745"/>
                </a:lnTo>
                <a:lnTo>
                  <a:pt x="12" y="745"/>
                </a:lnTo>
                <a:close/>
                <a:moveTo>
                  <a:pt x="12" y="769"/>
                </a:moveTo>
                <a:lnTo>
                  <a:pt x="12" y="781"/>
                </a:lnTo>
                <a:lnTo>
                  <a:pt x="0" y="781"/>
                </a:lnTo>
                <a:lnTo>
                  <a:pt x="0" y="769"/>
                </a:lnTo>
                <a:lnTo>
                  <a:pt x="12" y="769"/>
                </a:lnTo>
                <a:close/>
                <a:moveTo>
                  <a:pt x="12" y="793"/>
                </a:moveTo>
                <a:lnTo>
                  <a:pt x="12" y="805"/>
                </a:lnTo>
                <a:lnTo>
                  <a:pt x="0" y="805"/>
                </a:lnTo>
                <a:lnTo>
                  <a:pt x="0" y="793"/>
                </a:lnTo>
                <a:lnTo>
                  <a:pt x="12" y="793"/>
                </a:lnTo>
                <a:close/>
                <a:moveTo>
                  <a:pt x="12" y="817"/>
                </a:moveTo>
                <a:lnTo>
                  <a:pt x="12" y="829"/>
                </a:lnTo>
                <a:lnTo>
                  <a:pt x="0" y="829"/>
                </a:lnTo>
                <a:lnTo>
                  <a:pt x="0" y="817"/>
                </a:lnTo>
                <a:lnTo>
                  <a:pt x="12" y="817"/>
                </a:lnTo>
                <a:close/>
                <a:moveTo>
                  <a:pt x="12" y="841"/>
                </a:moveTo>
                <a:lnTo>
                  <a:pt x="12" y="853"/>
                </a:lnTo>
                <a:lnTo>
                  <a:pt x="0" y="853"/>
                </a:lnTo>
                <a:lnTo>
                  <a:pt x="0" y="841"/>
                </a:lnTo>
                <a:lnTo>
                  <a:pt x="12" y="841"/>
                </a:lnTo>
                <a:close/>
                <a:moveTo>
                  <a:pt x="12" y="865"/>
                </a:moveTo>
                <a:lnTo>
                  <a:pt x="12" y="877"/>
                </a:lnTo>
                <a:lnTo>
                  <a:pt x="0" y="877"/>
                </a:lnTo>
                <a:lnTo>
                  <a:pt x="0" y="865"/>
                </a:lnTo>
                <a:lnTo>
                  <a:pt x="12" y="865"/>
                </a:lnTo>
                <a:close/>
                <a:moveTo>
                  <a:pt x="12" y="890"/>
                </a:moveTo>
                <a:lnTo>
                  <a:pt x="12" y="901"/>
                </a:lnTo>
                <a:lnTo>
                  <a:pt x="0" y="901"/>
                </a:lnTo>
                <a:lnTo>
                  <a:pt x="0" y="890"/>
                </a:lnTo>
                <a:lnTo>
                  <a:pt x="12" y="890"/>
                </a:lnTo>
                <a:close/>
                <a:moveTo>
                  <a:pt x="12" y="914"/>
                </a:moveTo>
                <a:lnTo>
                  <a:pt x="12" y="926"/>
                </a:lnTo>
                <a:lnTo>
                  <a:pt x="0" y="926"/>
                </a:lnTo>
                <a:lnTo>
                  <a:pt x="0" y="914"/>
                </a:lnTo>
                <a:lnTo>
                  <a:pt x="12" y="914"/>
                </a:lnTo>
                <a:close/>
                <a:moveTo>
                  <a:pt x="12" y="937"/>
                </a:moveTo>
                <a:lnTo>
                  <a:pt x="12" y="950"/>
                </a:lnTo>
                <a:lnTo>
                  <a:pt x="0" y="950"/>
                </a:lnTo>
                <a:lnTo>
                  <a:pt x="0" y="937"/>
                </a:lnTo>
                <a:lnTo>
                  <a:pt x="12" y="937"/>
                </a:lnTo>
                <a:close/>
                <a:moveTo>
                  <a:pt x="12" y="962"/>
                </a:moveTo>
                <a:lnTo>
                  <a:pt x="12" y="974"/>
                </a:lnTo>
                <a:lnTo>
                  <a:pt x="0" y="974"/>
                </a:lnTo>
                <a:lnTo>
                  <a:pt x="0" y="962"/>
                </a:lnTo>
                <a:lnTo>
                  <a:pt x="12" y="962"/>
                </a:lnTo>
                <a:close/>
                <a:moveTo>
                  <a:pt x="12" y="986"/>
                </a:moveTo>
                <a:lnTo>
                  <a:pt x="12" y="998"/>
                </a:lnTo>
                <a:lnTo>
                  <a:pt x="0" y="998"/>
                </a:lnTo>
                <a:lnTo>
                  <a:pt x="0" y="986"/>
                </a:lnTo>
                <a:lnTo>
                  <a:pt x="12" y="986"/>
                </a:lnTo>
                <a:close/>
                <a:moveTo>
                  <a:pt x="12" y="1010"/>
                </a:moveTo>
                <a:lnTo>
                  <a:pt x="12" y="1022"/>
                </a:lnTo>
                <a:lnTo>
                  <a:pt x="0" y="1022"/>
                </a:lnTo>
                <a:lnTo>
                  <a:pt x="0" y="1010"/>
                </a:lnTo>
                <a:lnTo>
                  <a:pt x="12" y="1010"/>
                </a:lnTo>
                <a:close/>
                <a:moveTo>
                  <a:pt x="12" y="1034"/>
                </a:moveTo>
                <a:lnTo>
                  <a:pt x="12" y="1046"/>
                </a:lnTo>
                <a:lnTo>
                  <a:pt x="0" y="1046"/>
                </a:lnTo>
                <a:lnTo>
                  <a:pt x="0" y="1034"/>
                </a:lnTo>
                <a:lnTo>
                  <a:pt x="12" y="1034"/>
                </a:lnTo>
                <a:close/>
                <a:moveTo>
                  <a:pt x="12" y="1058"/>
                </a:moveTo>
                <a:lnTo>
                  <a:pt x="12" y="1070"/>
                </a:lnTo>
                <a:lnTo>
                  <a:pt x="0" y="1070"/>
                </a:lnTo>
                <a:lnTo>
                  <a:pt x="0" y="1058"/>
                </a:lnTo>
                <a:lnTo>
                  <a:pt x="12" y="1058"/>
                </a:lnTo>
                <a:close/>
                <a:moveTo>
                  <a:pt x="12" y="1082"/>
                </a:moveTo>
                <a:lnTo>
                  <a:pt x="12" y="1094"/>
                </a:lnTo>
                <a:lnTo>
                  <a:pt x="0" y="1094"/>
                </a:lnTo>
                <a:lnTo>
                  <a:pt x="0" y="1082"/>
                </a:lnTo>
                <a:lnTo>
                  <a:pt x="12" y="1082"/>
                </a:lnTo>
                <a:close/>
                <a:moveTo>
                  <a:pt x="12" y="1106"/>
                </a:moveTo>
                <a:lnTo>
                  <a:pt x="12" y="1118"/>
                </a:lnTo>
                <a:lnTo>
                  <a:pt x="0" y="1118"/>
                </a:lnTo>
                <a:lnTo>
                  <a:pt x="0" y="1106"/>
                </a:lnTo>
                <a:lnTo>
                  <a:pt x="12" y="1106"/>
                </a:lnTo>
                <a:close/>
                <a:moveTo>
                  <a:pt x="12" y="1130"/>
                </a:moveTo>
                <a:lnTo>
                  <a:pt x="12" y="1142"/>
                </a:lnTo>
                <a:lnTo>
                  <a:pt x="0" y="1142"/>
                </a:lnTo>
                <a:lnTo>
                  <a:pt x="0" y="1130"/>
                </a:lnTo>
                <a:lnTo>
                  <a:pt x="12" y="1130"/>
                </a:lnTo>
                <a:close/>
                <a:moveTo>
                  <a:pt x="12" y="1154"/>
                </a:moveTo>
                <a:lnTo>
                  <a:pt x="12" y="1166"/>
                </a:lnTo>
                <a:lnTo>
                  <a:pt x="0" y="1166"/>
                </a:lnTo>
                <a:lnTo>
                  <a:pt x="0" y="1154"/>
                </a:lnTo>
                <a:lnTo>
                  <a:pt x="12" y="1154"/>
                </a:lnTo>
                <a:close/>
                <a:moveTo>
                  <a:pt x="12" y="1178"/>
                </a:moveTo>
                <a:lnTo>
                  <a:pt x="12" y="1190"/>
                </a:lnTo>
                <a:lnTo>
                  <a:pt x="0" y="1190"/>
                </a:lnTo>
                <a:lnTo>
                  <a:pt x="0" y="1178"/>
                </a:lnTo>
                <a:lnTo>
                  <a:pt x="12" y="1178"/>
                </a:lnTo>
                <a:close/>
                <a:moveTo>
                  <a:pt x="12" y="1202"/>
                </a:moveTo>
                <a:lnTo>
                  <a:pt x="12" y="1214"/>
                </a:lnTo>
                <a:lnTo>
                  <a:pt x="0" y="1214"/>
                </a:lnTo>
                <a:lnTo>
                  <a:pt x="0" y="1202"/>
                </a:lnTo>
                <a:lnTo>
                  <a:pt x="12" y="1202"/>
                </a:lnTo>
                <a:close/>
                <a:moveTo>
                  <a:pt x="12" y="1226"/>
                </a:moveTo>
                <a:lnTo>
                  <a:pt x="12" y="1238"/>
                </a:lnTo>
                <a:lnTo>
                  <a:pt x="0" y="1238"/>
                </a:lnTo>
                <a:lnTo>
                  <a:pt x="0" y="1226"/>
                </a:lnTo>
                <a:lnTo>
                  <a:pt x="12" y="1226"/>
                </a:lnTo>
                <a:close/>
                <a:moveTo>
                  <a:pt x="12" y="1250"/>
                </a:moveTo>
                <a:lnTo>
                  <a:pt x="12" y="1262"/>
                </a:lnTo>
                <a:lnTo>
                  <a:pt x="0" y="1262"/>
                </a:lnTo>
                <a:lnTo>
                  <a:pt x="0" y="1250"/>
                </a:lnTo>
                <a:lnTo>
                  <a:pt x="12" y="1250"/>
                </a:lnTo>
                <a:close/>
                <a:moveTo>
                  <a:pt x="12" y="1274"/>
                </a:moveTo>
                <a:lnTo>
                  <a:pt x="12" y="1286"/>
                </a:lnTo>
                <a:lnTo>
                  <a:pt x="0" y="1286"/>
                </a:lnTo>
                <a:lnTo>
                  <a:pt x="0" y="1274"/>
                </a:lnTo>
                <a:lnTo>
                  <a:pt x="12" y="1274"/>
                </a:lnTo>
                <a:close/>
                <a:moveTo>
                  <a:pt x="12" y="1298"/>
                </a:moveTo>
                <a:lnTo>
                  <a:pt x="12" y="1310"/>
                </a:lnTo>
                <a:lnTo>
                  <a:pt x="0" y="1310"/>
                </a:lnTo>
                <a:lnTo>
                  <a:pt x="0" y="1298"/>
                </a:lnTo>
                <a:lnTo>
                  <a:pt x="12" y="1298"/>
                </a:lnTo>
                <a:close/>
                <a:moveTo>
                  <a:pt x="12" y="1322"/>
                </a:moveTo>
                <a:lnTo>
                  <a:pt x="12" y="1334"/>
                </a:lnTo>
                <a:lnTo>
                  <a:pt x="0" y="1334"/>
                </a:lnTo>
                <a:lnTo>
                  <a:pt x="0" y="1322"/>
                </a:lnTo>
                <a:lnTo>
                  <a:pt x="12" y="1322"/>
                </a:lnTo>
                <a:close/>
                <a:moveTo>
                  <a:pt x="12" y="1346"/>
                </a:moveTo>
                <a:lnTo>
                  <a:pt x="12" y="1358"/>
                </a:lnTo>
                <a:lnTo>
                  <a:pt x="0" y="1358"/>
                </a:lnTo>
                <a:lnTo>
                  <a:pt x="0" y="1346"/>
                </a:lnTo>
                <a:lnTo>
                  <a:pt x="12" y="1346"/>
                </a:lnTo>
                <a:close/>
                <a:moveTo>
                  <a:pt x="12" y="1370"/>
                </a:moveTo>
                <a:lnTo>
                  <a:pt x="12" y="1382"/>
                </a:lnTo>
                <a:lnTo>
                  <a:pt x="0" y="1382"/>
                </a:lnTo>
                <a:lnTo>
                  <a:pt x="0" y="1370"/>
                </a:lnTo>
                <a:lnTo>
                  <a:pt x="12" y="1370"/>
                </a:lnTo>
                <a:close/>
                <a:moveTo>
                  <a:pt x="12" y="1395"/>
                </a:moveTo>
                <a:lnTo>
                  <a:pt x="12" y="1406"/>
                </a:lnTo>
                <a:lnTo>
                  <a:pt x="0" y="1406"/>
                </a:lnTo>
                <a:lnTo>
                  <a:pt x="0" y="1395"/>
                </a:lnTo>
                <a:lnTo>
                  <a:pt x="12" y="1395"/>
                </a:lnTo>
                <a:close/>
                <a:moveTo>
                  <a:pt x="12" y="1418"/>
                </a:moveTo>
                <a:lnTo>
                  <a:pt x="12" y="1431"/>
                </a:lnTo>
                <a:lnTo>
                  <a:pt x="0" y="1431"/>
                </a:lnTo>
                <a:lnTo>
                  <a:pt x="0" y="1418"/>
                </a:lnTo>
                <a:lnTo>
                  <a:pt x="12" y="1418"/>
                </a:lnTo>
                <a:close/>
                <a:moveTo>
                  <a:pt x="12" y="1442"/>
                </a:moveTo>
                <a:lnTo>
                  <a:pt x="12" y="1455"/>
                </a:lnTo>
                <a:lnTo>
                  <a:pt x="0" y="1455"/>
                </a:lnTo>
                <a:lnTo>
                  <a:pt x="0" y="1442"/>
                </a:lnTo>
                <a:lnTo>
                  <a:pt x="12" y="1442"/>
                </a:lnTo>
                <a:close/>
                <a:moveTo>
                  <a:pt x="12" y="1467"/>
                </a:moveTo>
                <a:lnTo>
                  <a:pt x="12" y="1478"/>
                </a:lnTo>
                <a:lnTo>
                  <a:pt x="0" y="1478"/>
                </a:lnTo>
                <a:lnTo>
                  <a:pt x="0" y="1467"/>
                </a:lnTo>
                <a:lnTo>
                  <a:pt x="12" y="1467"/>
                </a:lnTo>
                <a:close/>
                <a:moveTo>
                  <a:pt x="12" y="1491"/>
                </a:moveTo>
                <a:lnTo>
                  <a:pt x="12" y="1503"/>
                </a:lnTo>
                <a:lnTo>
                  <a:pt x="0" y="1503"/>
                </a:lnTo>
                <a:lnTo>
                  <a:pt x="0" y="1491"/>
                </a:lnTo>
                <a:lnTo>
                  <a:pt x="12" y="1491"/>
                </a:lnTo>
                <a:close/>
                <a:moveTo>
                  <a:pt x="12" y="1515"/>
                </a:moveTo>
                <a:lnTo>
                  <a:pt x="12" y="1527"/>
                </a:lnTo>
                <a:lnTo>
                  <a:pt x="0" y="1527"/>
                </a:lnTo>
                <a:lnTo>
                  <a:pt x="0" y="1515"/>
                </a:lnTo>
                <a:lnTo>
                  <a:pt x="12" y="1515"/>
                </a:lnTo>
                <a:close/>
                <a:moveTo>
                  <a:pt x="12" y="1539"/>
                </a:moveTo>
                <a:lnTo>
                  <a:pt x="12" y="1551"/>
                </a:lnTo>
                <a:lnTo>
                  <a:pt x="0" y="1551"/>
                </a:lnTo>
                <a:lnTo>
                  <a:pt x="0" y="1539"/>
                </a:lnTo>
                <a:lnTo>
                  <a:pt x="12" y="1539"/>
                </a:lnTo>
                <a:close/>
                <a:moveTo>
                  <a:pt x="12" y="1563"/>
                </a:moveTo>
                <a:lnTo>
                  <a:pt x="12" y="1575"/>
                </a:lnTo>
                <a:lnTo>
                  <a:pt x="0" y="1575"/>
                </a:lnTo>
                <a:lnTo>
                  <a:pt x="0" y="1563"/>
                </a:lnTo>
                <a:lnTo>
                  <a:pt x="12" y="1563"/>
                </a:lnTo>
                <a:close/>
                <a:moveTo>
                  <a:pt x="12" y="1587"/>
                </a:moveTo>
                <a:lnTo>
                  <a:pt x="12" y="1599"/>
                </a:lnTo>
                <a:lnTo>
                  <a:pt x="0" y="1599"/>
                </a:lnTo>
                <a:lnTo>
                  <a:pt x="0" y="1587"/>
                </a:lnTo>
                <a:lnTo>
                  <a:pt x="12" y="1587"/>
                </a:lnTo>
                <a:close/>
                <a:moveTo>
                  <a:pt x="12" y="1611"/>
                </a:moveTo>
                <a:lnTo>
                  <a:pt x="12" y="1623"/>
                </a:lnTo>
                <a:lnTo>
                  <a:pt x="0" y="1623"/>
                </a:lnTo>
                <a:lnTo>
                  <a:pt x="0" y="1611"/>
                </a:lnTo>
                <a:lnTo>
                  <a:pt x="12" y="1611"/>
                </a:lnTo>
                <a:close/>
                <a:moveTo>
                  <a:pt x="12" y="1635"/>
                </a:moveTo>
                <a:lnTo>
                  <a:pt x="12" y="1647"/>
                </a:lnTo>
                <a:lnTo>
                  <a:pt x="0" y="1647"/>
                </a:lnTo>
                <a:lnTo>
                  <a:pt x="0" y="1635"/>
                </a:lnTo>
                <a:lnTo>
                  <a:pt x="12" y="1635"/>
                </a:lnTo>
                <a:close/>
                <a:moveTo>
                  <a:pt x="12" y="1659"/>
                </a:moveTo>
                <a:lnTo>
                  <a:pt x="12" y="1671"/>
                </a:lnTo>
                <a:lnTo>
                  <a:pt x="0" y="1671"/>
                </a:lnTo>
                <a:lnTo>
                  <a:pt x="0" y="1659"/>
                </a:lnTo>
                <a:lnTo>
                  <a:pt x="12" y="1659"/>
                </a:lnTo>
                <a:close/>
                <a:moveTo>
                  <a:pt x="12" y="1683"/>
                </a:moveTo>
                <a:lnTo>
                  <a:pt x="12" y="1695"/>
                </a:lnTo>
                <a:lnTo>
                  <a:pt x="0" y="1695"/>
                </a:lnTo>
                <a:lnTo>
                  <a:pt x="0" y="1683"/>
                </a:lnTo>
                <a:lnTo>
                  <a:pt x="12" y="1683"/>
                </a:lnTo>
                <a:close/>
                <a:moveTo>
                  <a:pt x="12" y="1707"/>
                </a:moveTo>
                <a:lnTo>
                  <a:pt x="12" y="1719"/>
                </a:lnTo>
                <a:lnTo>
                  <a:pt x="0" y="1719"/>
                </a:lnTo>
                <a:lnTo>
                  <a:pt x="0" y="1707"/>
                </a:lnTo>
                <a:lnTo>
                  <a:pt x="12" y="1707"/>
                </a:lnTo>
                <a:close/>
                <a:moveTo>
                  <a:pt x="12" y="1731"/>
                </a:moveTo>
                <a:lnTo>
                  <a:pt x="12" y="1743"/>
                </a:lnTo>
                <a:lnTo>
                  <a:pt x="0" y="1743"/>
                </a:lnTo>
                <a:lnTo>
                  <a:pt x="0" y="1731"/>
                </a:lnTo>
                <a:lnTo>
                  <a:pt x="12" y="1731"/>
                </a:lnTo>
                <a:close/>
                <a:moveTo>
                  <a:pt x="12" y="1755"/>
                </a:moveTo>
                <a:lnTo>
                  <a:pt x="12" y="1767"/>
                </a:lnTo>
                <a:lnTo>
                  <a:pt x="0" y="1767"/>
                </a:lnTo>
                <a:lnTo>
                  <a:pt x="0" y="1755"/>
                </a:lnTo>
                <a:lnTo>
                  <a:pt x="12" y="1755"/>
                </a:lnTo>
                <a:close/>
                <a:moveTo>
                  <a:pt x="12" y="1779"/>
                </a:moveTo>
                <a:lnTo>
                  <a:pt x="12" y="1791"/>
                </a:lnTo>
                <a:lnTo>
                  <a:pt x="0" y="1791"/>
                </a:lnTo>
                <a:lnTo>
                  <a:pt x="0" y="1779"/>
                </a:lnTo>
                <a:lnTo>
                  <a:pt x="12" y="1779"/>
                </a:lnTo>
                <a:close/>
                <a:moveTo>
                  <a:pt x="12" y="1803"/>
                </a:moveTo>
                <a:lnTo>
                  <a:pt x="12" y="1815"/>
                </a:lnTo>
                <a:lnTo>
                  <a:pt x="0" y="1815"/>
                </a:lnTo>
                <a:lnTo>
                  <a:pt x="0" y="1803"/>
                </a:lnTo>
                <a:lnTo>
                  <a:pt x="12" y="1803"/>
                </a:lnTo>
                <a:close/>
                <a:moveTo>
                  <a:pt x="12" y="1827"/>
                </a:moveTo>
                <a:lnTo>
                  <a:pt x="12" y="1839"/>
                </a:lnTo>
                <a:lnTo>
                  <a:pt x="0" y="1839"/>
                </a:lnTo>
                <a:lnTo>
                  <a:pt x="0" y="1827"/>
                </a:lnTo>
                <a:lnTo>
                  <a:pt x="12" y="1827"/>
                </a:lnTo>
                <a:close/>
                <a:moveTo>
                  <a:pt x="12" y="1851"/>
                </a:moveTo>
                <a:lnTo>
                  <a:pt x="12" y="1863"/>
                </a:lnTo>
                <a:lnTo>
                  <a:pt x="0" y="1863"/>
                </a:lnTo>
                <a:lnTo>
                  <a:pt x="0" y="1851"/>
                </a:lnTo>
                <a:lnTo>
                  <a:pt x="12" y="1851"/>
                </a:lnTo>
                <a:close/>
                <a:moveTo>
                  <a:pt x="12" y="1875"/>
                </a:moveTo>
                <a:lnTo>
                  <a:pt x="12" y="1887"/>
                </a:lnTo>
                <a:lnTo>
                  <a:pt x="0" y="1887"/>
                </a:lnTo>
                <a:lnTo>
                  <a:pt x="0" y="1875"/>
                </a:lnTo>
                <a:lnTo>
                  <a:pt x="12" y="1875"/>
                </a:lnTo>
                <a:close/>
                <a:moveTo>
                  <a:pt x="12" y="1899"/>
                </a:moveTo>
                <a:lnTo>
                  <a:pt x="12" y="1911"/>
                </a:lnTo>
                <a:lnTo>
                  <a:pt x="0" y="1911"/>
                </a:lnTo>
                <a:lnTo>
                  <a:pt x="0" y="1899"/>
                </a:lnTo>
                <a:lnTo>
                  <a:pt x="12" y="1899"/>
                </a:lnTo>
                <a:close/>
                <a:moveTo>
                  <a:pt x="12" y="1923"/>
                </a:moveTo>
                <a:lnTo>
                  <a:pt x="12" y="1936"/>
                </a:lnTo>
                <a:lnTo>
                  <a:pt x="0" y="1936"/>
                </a:lnTo>
                <a:lnTo>
                  <a:pt x="0" y="1923"/>
                </a:lnTo>
                <a:lnTo>
                  <a:pt x="12" y="1923"/>
                </a:lnTo>
                <a:close/>
                <a:moveTo>
                  <a:pt x="12" y="1947"/>
                </a:moveTo>
                <a:lnTo>
                  <a:pt x="12" y="1959"/>
                </a:lnTo>
                <a:lnTo>
                  <a:pt x="0" y="1959"/>
                </a:lnTo>
                <a:lnTo>
                  <a:pt x="0" y="1947"/>
                </a:lnTo>
                <a:lnTo>
                  <a:pt x="12" y="1947"/>
                </a:lnTo>
                <a:close/>
                <a:moveTo>
                  <a:pt x="12" y="1972"/>
                </a:moveTo>
                <a:lnTo>
                  <a:pt x="12" y="1983"/>
                </a:lnTo>
                <a:lnTo>
                  <a:pt x="0" y="1983"/>
                </a:lnTo>
                <a:lnTo>
                  <a:pt x="0" y="1972"/>
                </a:lnTo>
                <a:lnTo>
                  <a:pt x="12" y="1972"/>
                </a:lnTo>
                <a:close/>
                <a:moveTo>
                  <a:pt x="12" y="1996"/>
                </a:moveTo>
                <a:lnTo>
                  <a:pt x="12" y="2008"/>
                </a:lnTo>
                <a:lnTo>
                  <a:pt x="0" y="2008"/>
                </a:lnTo>
                <a:lnTo>
                  <a:pt x="0" y="1996"/>
                </a:lnTo>
                <a:lnTo>
                  <a:pt x="12" y="1996"/>
                </a:lnTo>
                <a:close/>
                <a:moveTo>
                  <a:pt x="12" y="2019"/>
                </a:moveTo>
                <a:lnTo>
                  <a:pt x="12" y="2032"/>
                </a:lnTo>
                <a:lnTo>
                  <a:pt x="0" y="2032"/>
                </a:lnTo>
                <a:lnTo>
                  <a:pt x="0" y="2019"/>
                </a:lnTo>
                <a:lnTo>
                  <a:pt x="12" y="2019"/>
                </a:lnTo>
                <a:close/>
                <a:moveTo>
                  <a:pt x="12" y="2044"/>
                </a:moveTo>
                <a:lnTo>
                  <a:pt x="12" y="2056"/>
                </a:lnTo>
                <a:lnTo>
                  <a:pt x="0" y="2056"/>
                </a:lnTo>
                <a:lnTo>
                  <a:pt x="0" y="2044"/>
                </a:lnTo>
                <a:lnTo>
                  <a:pt x="12" y="2044"/>
                </a:lnTo>
                <a:close/>
                <a:moveTo>
                  <a:pt x="12" y="2068"/>
                </a:moveTo>
                <a:lnTo>
                  <a:pt x="12" y="2080"/>
                </a:lnTo>
                <a:lnTo>
                  <a:pt x="0" y="2080"/>
                </a:lnTo>
                <a:lnTo>
                  <a:pt x="0" y="2068"/>
                </a:lnTo>
                <a:lnTo>
                  <a:pt x="12" y="2068"/>
                </a:lnTo>
                <a:close/>
                <a:moveTo>
                  <a:pt x="12" y="2092"/>
                </a:moveTo>
                <a:lnTo>
                  <a:pt x="12" y="2104"/>
                </a:lnTo>
                <a:lnTo>
                  <a:pt x="0" y="2104"/>
                </a:lnTo>
                <a:lnTo>
                  <a:pt x="0" y="2092"/>
                </a:lnTo>
                <a:lnTo>
                  <a:pt x="12" y="2092"/>
                </a:lnTo>
                <a:close/>
                <a:moveTo>
                  <a:pt x="12" y="2116"/>
                </a:moveTo>
                <a:lnTo>
                  <a:pt x="12" y="2128"/>
                </a:lnTo>
                <a:lnTo>
                  <a:pt x="0" y="2128"/>
                </a:lnTo>
                <a:lnTo>
                  <a:pt x="0" y="2116"/>
                </a:lnTo>
                <a:lnTo>
                  <a:pt x="12" y="2116"/>
                </a:lnTo>
                <a:close/>
                <a:moveTo>
                  <a:pt x="12" y="2140"/>
                </a:moveTo>
                <a:lnTo>
                  <a:pt x="12" y="2152"/>
                </a:lnTo>
                <a:lnTo>
                  <a:pt x="0" y="2152"/>
                </a:lnTo>
                <a:lnTo>
                  <a:pt x="0" y="2140"/>
                </a:lnTo>
                <a:lnTo>
                  <a:pt x="12" y="2140"/>
                </a:lnTo>
                <a:close/>
                <a:moveTo>
                  <a:pt x="12" y="2164"/>
                </a:moveTo>
                <a:lnTo>
                  <a:pt x="12" y="2176"/>
                </a:lnTo>
                <a:lnTo>
                  <a:pt x="0" y="2176"/>
                </a:lnTo>
                <a:lnTo>
                  <a:pt x="0" y="2164"/>
                </a:lnTo>
                <a:lnTo>
                  <a:pt x="12" y="2164"/>
                </a:lnTo>
                <a:close/>
                <a:moveTo>
                  <a:pt x="12" y="2188"/>
                </a:moveTo>
                <a:lnTo>
                  <a:pt x="12" y="2200"/>
                </a:lnTo>
                <a:lnTo>
                  <a:pt x="0" y="2200"/>
                </a:lnTo>
                <a:lnTo>
                  <a:pt x="0" y="2188"/>
                </a:lnTo>
                <a:lnTo>
                  <a:pt x="12" y="2188"/>
                </a:lnTo>
                <a:close/>
                <a:moveTo>
                  <a:pt x="12" y="2212"/>
                </a:moveTo>
                <a:lnTo>
                  <a:pt x="12" y="2224"/>
                </a:lnTo>
                <a:lnTo>
                  <a:pt x="0" y="2224"/>
                </a:lnTo>
                <a:lnTo>
                  <a:pt x="0" y="2212"/>
                </a:lnTo>
                <a:lnTo>
                  <a:pt x="12" y="2212"/>
                </a:lnTo>
                <a:close/>
                <a:moveTo>
                  <a:pt x="12" y="2236"/>
                </a:moveTo>
                <a:lnTo>
                  <a:pt x="12" y="2248"/>
                </a:lnTo>
                <a:lnTo>
                  <a:pt x="0" y="2248"/>
                </a:lnTo>
                <a:lnTo>
                  <a:pt x="0" y="2236"/>
                </a:lnTo>
                <a:lnTo>
                  <a:pt x="12" y="2236"/>
                </a:lnTo>
                <a:close/>
                <a:moveTo>
                  <a:pt x="12" y="2260"/>
                </a:moveTo>
                <a:lnTo>
                  <a:pt x="12" y="2272"/>
                </a:lnTo>
                <a:lnTo>
                  <a:pt x="0" y="2272"/>
                </a:lnTo>
                <a:lnTo>
                  <a:pt x="0" y="2260"/>
                </a:lnTo>
                <a:lnTo>
                  <a:pt x="12" y="2260"/>
                </a:lnTo>
                <a:close/>
                <a:moveTo>
                  <a:pt x="12" y="2284"/>
                </a:moveTo>
                <a:lnTo>
                  <a:pt x="12" y="2296"/>
                </a:lnTo>
                <a:lnTo>
                  <a:pt x="0" y="2296"/>
                </a:lnTo>
                <a:lnTo>
                  <a:pt x="0" y="2284"/>
                </a:lnTo>
                <a:lnTo>
                  <a:pt x="12" y="2284"/>
                </a:lnTo>
                <a:close/>
                <a:moveTo>
                  <a:pt x="12" y="2308"/>
                </a:moveTo>
                <a:lnTo>
                  <a:pt x="12" y="2320"/>
                </a:lnTo>
                <a:lnTo>
                  <a:pt x="0" y="2320"/>
                </a:lnTo>
                <a:lnTo>
                  <a:pt x="0" y="2308"/>
                </a:lnTo>
                <a:lnTo>
                  <a:pt x="12" y="2308"/>
                </a:lnTo>
                <a:close/>
                <a:moveTo>
                  <a:pt x="12" y="2332"/>
                </a:moveTo>
                <a:lnTo>
                  <a:pt x="12" y="2344"/>
                </a:lnTo>
                <a:lnTo>
                  <a:pt x="0" y="2344"/>
                </a:lnTo>
                <a:lnTo>
                  <a:pt x="0" y="2332"/>
                </a:lnTo>
                <a:lnTo>
                  <a:pt x="12" y="2332"/>
                </a:lnTo>
                <a:close/>
                <a:moveTo>
                  <a:pt x="12" y="2356"/>
                </a:moveTo>
                <a:lnTo>
                  <a:pt x="12" y="2368"/>
                </a:lnTo>
                <a:lnTo>
                  <a:pt x="0" y="2368"/>
                </a:lnTo>
                <a:lnTo>
                  <a:pt x="0" y="2356"/>
                </a:lnTo>
                <a:lnTo>
                  <a:pt x="12" y="2356"/>
                </a:lnTo>
                <a:close/>
                <a:moveTo>
                  <a:pt x="12" y="2380"/>
                </a:moveTo>
                <a:lnTo>
                  <a:pt x="12" y="2392"/>
                </a:lnTo>
                <a:lnTo>
                  <a:pt x="0" y="2392"/>
                </a:lnTo>
                <a:lnTo>
                  <a:pt x="0" y="2380"/>
                </a:lnTo>
                <a:lnTo>
                  <a:pt x="12" y="2380"/>
                </a:lnTo>
                <a:close/>
                <a:moveTo>
                  <a:pt x="12" y="2404"/>
                </a:moveTo>
                <a:lnTo>
                  <a:pt x="12" y="2416"/>
                </a:lnTo>
                <a:lnTo>
                  <a:pt x="0" y="2416"/>
                </a:lnTo>
                <a:lnTo>
                  <a:pt x="0" y="2404"/>
                </a:lnTo>
                <a:lnTo>
                  <a:pt x="12" y="2404"/>
                </a:lnTo>
                <a:close/>
                <a:moveTo>
                  <a:pt x="12" y="2428"/>
                </a:moveTo>
                <a:lnTo>
                  <a:pt x="12" y="2440"/>
                </a:lnTo>
                <a:lnTo>
                  <a:pt x="0" y="2440"/>
                </a:lnTo>
                <a:lnTo>
                  <a:pt x="0" y="2428"/>
                </a:lnTo>
                <a:lnTo>
                  <a:pt x="12" y="2428"/>
                </a:lnTo>
                <a:close/>
                <a:moveTo>
                  <a:pt x="12" y="2452"/>
                </a:moveTo>
                <a:lnTo>
                  <a:pt x="12" y="2464"/>
                </a:lnTo>
                <a:lnTo>
                  <a:pt x="0" y="2464"/>
                </a:lnTo>
                <a:lnTo>
                  <a:pt x="0" y="2452"/>
                </a:lnTo>
                <a:lnTo>
                  <a:pt x="12" y="2452"/>
                </a:lnTo>
                <a:close/>
                <a:moveTo>
                  <a:pt x="12" y="2477"/>
                </a:moveTo>
                <a:lnTo>
                  <a:pt x="12" y="2488"/>
                </a:lnTo>
                <a:lnTo>
                  <a:pt x="0" y="2488"/>
                </a:lnTo>
                <a:lnTo>
                  <a:pt x="0" y="2477"/>
                </a:lnTo>
                <a:lnTo>
                  <a:pt x="12" y="2477"/>
                </a:lnTo>
                <a:close/>
                <a:moveTo>
                  <a:pt x="12" y="2500"/>
                </a:moveTo>
                <a:lnTo>
                  <a:pt x="12" y="2513"/>
                </a:lnTo>
                <a:lnTo>
                  <a:pt x="0" y="2513"/>
                </a:lnTo>
                <a:lnTo>
                  <a:pt x="0" y="2500"/>
                </a:lnTo>
                <a:lnTo>
                  <a:pt x="12" y="2500"/>
                </a:lnTo>
                <a:close/>
                <a:moveTo>
                  <a:pt x="12" y="2524"/>
                </a:moveTo>
                <a:lnTo>
                  <a:pt x="12" y="2537"/>
                </a:lnTo>
                <a:lnTo>
                  <a:pt x="0" y="2537"/>
                </a:lnTo>
                <a:lnTo>
                  <a:pt x="0" y="2524"/>
                </a:lnTo>
                <a:lnTo>
                  <a:pt x="12" y="2524"/>
                </a:lnTo>
                <a:close/>
                <a:moveTo>
                  <a:pt x="12" y="2549"/>
                </a:moveTo>
                <a:lnTo>
                  <a:pt x="12" y="2560"/>
                </a:lnTo>
                <a:lnTo>
                  <a:pt x="0" y="2560"/>
                </a:lnTo>
                <a:lnTo>
                  <a:pt x="0" y="2549"/>
                </a:lnTo>
                <a:lnTo>
                  <a:pt x="12" y="2549"/>
                </a:lnTo>
                <a:close/>
              </a:path>
            </a:pathLst>
          </a:custGeom>
          <a:solidFill>
            <a:srgbClr val="000000"/>
          </a:solidFill>
          <a:ln w="0" cap="flat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89" name="Freeform 86">
            <a:extLst>
              <a:ext uri="{FF2B5EF4-FFF2-40B4-BE49-F238E27FC236}">
                <a16:creationId xmlns:a16="http://schemas.microsoft.com/office/drawing/2014/main" id="{F19C49BB-EB68-4A7A-8709-30E3B588B8E0}"/>
              </a:ext>
            </a:extLst>
          </p:cNvPr>
          <p:cNvSpPr>
            <a:spLocks noEditPoints="1"/>
          </p:cNvSpPr>
          <p:nvPr/>
        </p:nvSpPr>
        <p:spPr bwMode="auto">
          <a:xfrm>
            <a:off x="7729538" y="2344738"/>
            <a:ext cx="18000" cy="4032000"/>
          </a:xfrm>
          <a:custGeom>
            <a:avLst/>
            <a:gdLst>
              <a:gd name="T0" fmla="*/ 0 w 13"/>
              <a:gd name="T1" fmla="*/ 24 h 2560"/>
              <a:gd name="T2" fmla="*/ 0 w 13"/>
              <a:gd name="T3" fmla="*/ 84 h 2560"/>
              <a:gd name="T4" fmla="*/ 13 w 13"/>
              <a:gd name="T5" fmla="*/ 132 h 2560"/>
              <a:gd name="T6" fmla="*/ 13 w 13"/>
              <a:gd name="T7" fmla="*/ 168 h 2560"/>
              <a:gd name="T8" fmla="*/ 13 w 13"/>
              <a:gd name="T9" fmla="*/ 192 h 2560"/>
              <a:gd name="T10" fmla="*/ 0 w 13"/>
              <a:gd name="T11" fmla="*/ 240 h 2560"/>
              <a:gd name="T12" fmla="*/ 0 w 13"/>
              <a:gd name="T13" fmla="*/ 300 h 2560"/>
              <a:gd name="T14" fmla="*/ 13 w 13"/>
              <a:gd name="T15" fmla="*/ 348 h 2560"/>
              <a:gd name="T16" fmla="*/ 13 w 13"/>
              <a:gd name="T17" fmla="*/ 385 h 2560"/>
              <a:gd name="T18" fmla="*/ 13 w 13"/>
              <a:gd name="T19" fmla="*/ 409 h 2560"/>
              <a:gd name="T20" fmla="*/ 0 w 13"/>
              <a:gd name="T21" fmla="*/ 457 h 2560"/>
              <a:gd name="T22" fmla="*/ 0 w 13"/>
              <a:gd name="T23" fmla="*/ 517 h 2560"/>
              <a:gd name="T24" fmla="*/ 13 w 13"/>
              <a:gd name="T25" fmla="*/ 565 h 2560"/>
              <a:gd name="T26" fmla="*/ 13 w 13"/>
              <a:gd name="T27" fmla="*/ 601 h 2560"/>
              <a:gd name="T28" fmla="*/ 13 w 13"/>
              <a:gd name="T29" fmla="*/ 625 h 2560"/>
              <a:gd name="T30" fmla="*/ 0 w 13"/>
              <a:gd name="T31" fmla="*/ 673 h 2560"/>
              <a:gd name="T32" fmla="*/ 0 w 13"/>
              <a:gd name="T33" fmla="*/ 733 h 2560"/>
              <a:gd name="T34" fmla="*/ 13 w 13"/>
              <a:gd name="T35" fmla="*/ 781 h 2560"/>
              <a:gd name="T36" fmla="*/ 13 w 13"/>
              <a:gd name="T37" fmla="*/ 817 h 2560"/>
              <a:gd name="T38" fmla="*/ 13 w 13"/>
              <a:gd name="T39" fmla="*/ 841 h 2560"/>
              <a:gd name="T40" fmla="*/ 0 w 13"/>
              <a:gd name="T41" fmla="*/ 889 h 2560"/>
              <a:gd name="T42" fmla="*/ 0 w 13"/>
              <a:gd name="T43" fmla="*/ 950 h 2560"/>
              <a:gd name="T44" fmla="*/ 13 w 13"/>
              <a:gd name="T45" fmla="*/ 998 h 2560"/>
              <a:gd name="T46" fmla="*/ 13 w 13"/>
              <a:gd name="T47" fmla="*/ 1034 h 2560"/>
              <a:gd name="T48" fmla="*/ 13 w 13"/>
              <a:gd name="T49" fmla="*/ 1058 h 2560"/>
              <a:gd name="T50" fmla="*/ 0 w 13"/>
              <a:gd name="T51" fmla="*/ 1106 h 2560"/>
              <a:gd name="T52" fmla="*/ 0 w 13"/>
              <a:gd name="T53" fmla="*/ 1166 h 2560"/>
              <a:gd name="T54" fmla="*/ 13 w 13"/>
              <a:gd name="T55" fmla="*/ 1214 h 2560"/>
              <a:gd name="T56" fmla="*/ 13 w 13"/>
              <a:gd name="T57" fmla="*/ 1250 h 2560"/>
              <a:gd name="T58" fmla="*/ 13 w 13"/>
              <a:gd name="T59" fmla="*/ 1274 h 2560"/>
              <a:gd name="T60" fmla="*/ 0 w 13"/>
              <a:gd name="T61" fmla="*/ 1322 h 2560"/>
              <a:gd name="T62" fmla="*/ 0 w 13"/>
              <a:gd name="T63" fmla="*/ 1382 h 2560"/>
              <a:gd name="T64" fmla="*/ 13 w 13"/>
              <a:gd name="T65" fmla="*/ 1431 h 2560"/>
              <a:gd name="T66" fmla="*/ 13 w 13"/>
              <a:gd name="T67" fmla="*/ 1467 h 2560"/>
              <a:gd name="T68" fmla="*/ 13 w 13"/>
              <a:gd name="T69" fmla="*/ 1491 h 2560"/>
              <a:gd name="T70" fmla="*/ 0 w 13"/>
              <a:gd name="T71" fmla="*/ 1539 h 2560"/>
              <a:gd name="T72" fmla="*/ 0 w 13"/>
              <a:gd name="T73" fmla="*/ 1599 h 2560"/>
              <a:gd name="T74" fmla="*/ 13 w 13"/>
              <a:gd name="T75" fmla="*/ 1647 h 2560"/>
              <a:gd name="T76" fmla="*/ 13 w 13"/>
              <a:gd name="T77" fmla="*/ 1683 h 2560"/>
              <a:gd name="T78" fmla="*/ 13 w 13"/>
              <a:gd name="T79" fmla="*/ 1707 h 2560"/>
              <a:gd name="T80" fmla="*/ 0 w 13"/>
              <a:gd name="T81" fmla="*/ 1755 h 2560"/>
              <a:gd name="T82" fmla="*/ 0 w 13"/>
              <a:gd name="T83" fmla="*/ 1815 h 2560"/>
              <a:gd name="T84" fmla="*/ 13 w 13"/>
              <a:gd name="T85" fmla="*/ 1863 h 2560"/>
              <a:gd name="T86" fmla="*/ 13 w 13"/>
              <a:gd name="T87" fmla="*/ 1899 h 2560"/>
              <a:gd name="T88" fmla="*/ 13 w 13"/>
              <a:gd name="T89" fmla="*/ 1923 h 2560"/>
              <a:gd name="T90" fmla="*/ 0 w 13"/>
              <a:gd name="T91" fmla="*/ 1972 h 2560"/>
              <a:gd name="T92" fmla="*/ 0 w 13"/>
              <a:gd name="T93" fmla="*/ 2032 h 2560"/>
              <a:gd name="T94" fmla="*/ 13 w 13"/>
              <a:gd name="T95" fmla="*/ 2080 h 2560"/>
              <a:gd name="T96" fmla="*/ 13 w 13"/>
              <a:gd name="T97" fmla="*/ 2116 h 2560"/>
              <a:gd name="T98" fmla="*/ 13 w 13"/>
              <a:gd name="T99" fmla="*/ 2140 h 2560"/>
              <a:gd name="T100" fmla="*/ 0 w 13"/>
              <a:gd name="T101" fmla="*/ 2188 h 2560"/>
              <a:gd name="T102" fmla="*/ 0 w 13"/>
              <a:gd name="T103" fmla="*/ 2248 h 2560"/>
              <a:gd name="T104" fmla="*/ 13 w 13"/>
              <a:gd name="T105" fmla="*/ 2296 h 2560"/>
              <a:gd name="T106" fmla="*/ 13 w 13"/>
              <a:gd name="T107" fmla="*/ 2332 h 2560"/>
              <a:gd name="T108" fmla="*/ 13 w 13"/>
              <a:gd name="T109" fmla="*/ 2356 h 2560"/>
              <a:gd name="T110" fmla="*/ 0 w 13"/>
              <a:gd name="T111" fmla="*/ 2404 h 2560"/>
              <a:gd name="T112" fmla="*/ 0 w 13"/>
              <a:gd name="T113" fmla="*/ 2464 h 2560"/>
              <a:gd name="T114" fmla="*/ 13 w 13"/>
              <a:gd name="T115" fmla="*/ 2513 h 2560"/>
              <a:gd name="T116" fmla="*/ 13 w 13"/>
              <a:gd name="T117" fmla="*/ 2549 h 25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13" h="2560">
                <a:moveTo>
                  <a:pt x="13" y="0"/>
                </a:moveTo>
                <a:lnTo>
                  <a:pt x="13" y="12"/>
                </a:lnTo>
                <a:lnTo>
                  <a:pt x="0" y="12"/>
                </a:lnTo>
                <a:lnTo>
                  <a:pt x="0" y="0"/>
                </a:lnTo>
                <a:lnTo>
                  <a:pt x="13" y="0"/>
                </a:lnTo>
                <a:close/>
                <a:moveTo>
                  <a:pt x="13" y="24"/>
                </a:moveTo>
                <a:lnTo>
                  <a:pt x="13" y="36"/>
                </a:lnTo>
                <a:lnTo>
                  <a:pt x="0" y="36"/>
                </a:lnTo>
                <a:lnTo>
                  <a:pt x="0" y="24"/>
                </a:lnTo>
                <a:lnTo>
                  <a:pt x="13" y="24"/>
                </a:lnTo>
                <a:close/>
                <a:moveTo>
                  <a:pt x="13" y="48"/>
                </a:moveTo>
                <a:lnTo>
                  <a:pt x="13" y="60"/>
                </a:lnTo>
                <a:lnTo>
                  <a:pt x="0" y="60"/>
                </a:lnTo>
                <a:lnTo>
                  <a:pt x="0" y="48"/>
                </a:lnTo>
                <a:lnTo>
                  <a:pt x="13" y="48"/>
                </a:lnTo>
                <a:close/>
                <a:moveTo>
                  <a:pt x="13" y="72"/>
                </a:moveTo>
                <a:lnTo>
                  <a:pt x="13" y="84"/>
                </a:lnTo>
                <a:lnTo>
                  <a:pt x="0" y="84"/>
                </a:lnTo>
                <a:lnTo>
                  <a:pt x="0" y="72"/>
                </a:lnTo>
                <a:lnTo>
                  <a:pt x="13" y="72"/>
                </a:lnTo>
                <a:close/>
                <a:moveTo>
                  <a:pt x="13" y="96"/>
                </a:moveTo>
                <a:lnTo>
                  <a:pt x="13" y="108"/>
                </a:lnTo>
                <a:lnTo>
                  <a:pt x="0" y="108"/>
                </a:lnTo>
                <a:lnTo>
                  <a:pt x="0" y="96"/>
                </a:lnTo>
                <a:lnTo>
                  <a:pt x="13" y="96"/>
                </a:lnTo>
                <a:close/>
                <a:moveTo>
                  <a:pt x="13" y="120"/>
                </a:moveTo>
                <a:lnTo>
                  <a:pt x="13" y="132"/>
                </a:lnTo>
                <a:lnTo>
                  <a:pt x="0" y="132"/>
                </a:lnTo>
                <a:lnTo>
                  <a:pt x="0" y="120"/>
                </a:lnTo>
                <a:lnTo>
                  <a:pt x="13" y="120"/>
                </a:lnTo>
                <a:close/>
                <a:moveTo>
                  <a:pt x="13" y="144"/>
                </a:moveTo>
                <a:lnTo>
                  <a:pt x="13" y="156"/>
                </a:lnTo>
                <a:lnTo>
                  <a:pt x="0" y="156"/>
                </a:lnTo>
                <a:lnTo>
                  <a:pt x="0" y="144"/>
                </a:lnTo>
                <a:lnTo>
                  <a:pt x="13" y="144"/>
                </a:lnTo>
                <a:close/>
                <a:moveTo>
                  <a:pt x="13" y="168"/>
                </a:moveTo>
                <a:lnTo>
                  <a:pt x="13" y="180"/>
                </a:lnTo>
                <a:lnTo>
                  <a:pt x="0" y="180"/>
                </a:lnTo>
                <a:lnTo>
                  <a:pt x="0" y="168"/>
                </a:lnTo>
                <a:lnTo>
                  <a:pt x="13" y="168"/>
                </a:lnTo>
                <a:close/>
                <a:moveTo>
                  <a:pt x="13" y="192"/>
                </a:moveTo>
                <a:lnTo>
                  <a:pt x="13" y="204"/>
                </a:lnTo>
                <a:lnTo>
                  <a:pt x="0" y="204"/>
                </a:lnTo>
                <a:lnTo>
                  <a:pt x="0" y="192"/>
                </a:lnTo>
                <a:lnTo>
                  <a:pt x="13" y="192"/>
                </a:lnTo>
                <a:close/>
                <a:moveTo>
                  <a:pt x="13" y="216"/>
                </a:moveTo>
                <a:lnTo>
                  <a:pt x="13" y="228"/>
                </a:lnTo>
                <a:lnTo>
                  <a:pt x="0" y="228"/>
                </a:lnTo>
                <a:lnTo>
                  <a:pt x="0" y="216"/>
                </a:lnTo>
                <a:lnTo>
                  <a:pt x="13" y="216"/>
                </a:lnTo>
                <a:close/>
                <a:moveTo>
                  <a:pt x="13" y="240"/>
                </a:moveTo>
                <a:lnTo>
                  <a:pt x="13" y="252"/>
                </a:lnTo>
                <a:lnTo>
                  <a:pt x="0" y="252"/>
                </a:lnTo>
                <a:lnTo>
                  <a:pt x="0" y="240"/>
                </a:lnTo>
                <a:lnTo>
                  <a:pt x="13" y="240"/>
                </a:lnTo>
                <a:close/>
                <a:moveTo>
                  <a:pt x="13" y="264"/>
                </a:moveTo>
                <a:lnTo>
                  <a:pt x="13" y="276"/>
                </a:lnTo>
                <a:lnTo>
                  <a:pt x="0" y="276"/>
                </a:lnTo>
                <a:lnTo>
                  <a:pt x="0" y="264"/>
                </a:lnTo>
                <a:lnTo>
                  <a:pt x="13" y="264"/>
                </a:lnTo>
                <a:close/>
                <a:moveTo>
                  <a:pt x="13" y="288"/>
                </a:moveTo>
                <a:lnTo>
                  <a:pt x="13" y="300"/>
                </a:lnTo>
                <a:lnTo>
                  <a:pt x="0" y="300"/>
                </a:lnTo>
                <a:lnTo>
                  <a:pt x="0" y="288"/>
                </a:lnTo>
                <a:lnTo>
                  <a:pt x="13" y="288"/>
                </a:lnTo>
                <a:close/>
                <a:moveTo>
                  <a:pt x="13" y="312"/>
                </a:moveTo>
                <a:lnTo>
                  <a:pt x="13" y="324"/>
                </a:lnTo>
                <a:lnTo>
                  <a:pt x="0" y="324"/>
                </a:lnTo>
                <a:lnTo>
                  <a:pt x="0" y="312"/>
                </a:lnTo>
                <a:lnTo>
                  <a:pt x="13" y="312"/>
                </a:lnTo>
                <a:close/>
                <a:moveTo>
                  <a:pt x="13" y="336"/>
                </a:moveTo>
                <a:lnTo>
                  <a:pt x="13" y="348"/>
                </a:lnTo>
                <a:lnTo>
                  <a:pt x="0" y="348"/>
                </a:lnTo>
                <a:lnTo>
                  <a:pt x="0" y="336"/>
                </a:lnTo>
                <a:lnTo>
                  <a:pt x="13" y="336"/>
                </a:lnTo>
                <a:close/>
                <a:moveTo>
                  <a:pt x="13" y="360"/>
                </a:moveTo>
                <a:lnTo>
                  <a:pt x="13" y="372"/>
                </a:lnTo>
                <a:lnTo>
                  <a:pt x="0" y="372"/>
                </a:lnTo>
                <a:lnTo>
                  <a:pt x="0" y="360"/>
                </a:lnTo>
                <a:lnTo>
                  <a:pt x="13" y="360"/>
                </a:lnTo>
                <a:close/>
                <a:moveTo>
                  <a:pt x="13" y="385"/>
                </a:moveTo>
                <a:lnTo>
                  <a:pt x="13" y="396"/>
                </a:lnTo>
                <a:lnTo>
                  <a:pt x="0" y="396"/>
                </a:lnTo>
                <a:lnTo>
                  <a:pt x="0" y="385"/>
                </a:lnTo>
                <a:lnTo>
                  <a:pt x="13" y="385"/>
                </a:lnTo>
                <a:close/>
                <a:moveTo>
                  <a:pt x="13" y="409"/>
                </a:moveTo>
                <a:lnTo>
                  <a:pt x="13" y="421"/>
                </a:lnTo>
                <a:lnTo>
                  <a:pt x="0" y="421"/>
                </a:lnTo>
                <a:lnTo>
                  <a:pt x="0" y="409"/>
                </a:lnTo>
                <a:lnTo>
                  <a:pt x="13" y="409"/>
                </a:lnTo>
                <a:close/>
                <a:moveTo>
                  <a:pt x="13" y="432"/>
                </a:moveTo>
                <a:lnTo>
                  <a:pt x="13" y="445"/>
                </a:lnTo>
                <a:lnTo>
                  <a:pt x="0" y="445"/>
                </a:lnTo>
                <a:lnTo>
                  <a:pt x="0" y="432"/>
                </a:lnTo>
                <a:lnTo>
                  <a:pt x="13" y="432"/>
                </a:lnTo>
                <a:close/>
                <a:moveTo>
                  <a:pt x="13" y="457"/>
                </a:moveTo>
                <a:lnTo>
                  <a:pt x="13" y="469"/>
                </a:lnTo>
                <a:lnTo>
                  <a:pt x="0" y="469"/>
                </a:lnTo>
                <a:lnTo>
                  <a:pt x="0" y="457"/>
                </a:lnTo>
                <a:lnTo>
                  <a:pt x="13" y="457"/>
                </a:lnTo>
                <a:close/>
                <a:moveTo>
                  <a:pt x="13" y="481"/>
                </a:moveTo>
                <a:lnTo>
                  <a:pt x="13" y="493"/>
                </a:lnTo>
                <a:lnTo>
                  <a:pt x="0" y="493"/>
                </a:lnTo>
                <a:lnTo>
                  <a:pt x="0" y="481"/>
                </a:lnTo>
                <a:lnTo>
                  <a:pt x="13" y="481"/>
                </a:lnTo>
                <a:close/>
                <a:moveTo>
                  <a:pt x="13" y="505"/>
                </a:moveTo>
                <a:lnTo>
                  <a:pt x="13" y="517"/>
                </a:lnTo>
                <a:lnTo>
                  <a:pt x="0" y="517"/>
                </a:lnTo>
                <a:lnTo>
                  <a:pt x="0" y="505"/>
                </a:lnTo>
                <a:lnTo>
                  <a:pt x="13" y="505"/>
                </a:lnTo>
                <a:close/>
                <a:moveTo>
                  <a:pt x="13" y="529"/>
                </a:moveTo>
                <a:lnTo>
                  <a:pt x="13" y="541"/>
                </a:lnTo>
                <a:lnTo>
                  <a:pt x="0" y="541"/>
                </a:lnTo>
                <a:lnTo>
                  <a:pt x="0" y="529"/>
                </a:lnTo>
                <a:lnTo>
                  <a:pt x="13" y="529"/>
                </a:lnTo>
                <a:close/>
                <a:moveTo>
                  <a:pt x="13" y="553"/>
                </a:moveTo>
                <a:lnTo>
                  <a:pt x="13" y="565"/>
                </a:lnTo>
                <a:lnTo>
                  <a:pt x="0" y="565"/>
                </a:lnTo>
                <a:lnTo>
                  <a:pt x="0" y="553"/>
                </a:lnTo>
                <a:lnTo>
                  <a:pt x="13" y="553"/>
                </a:lnTo>
                <a:close/>
                <a:moveTo>
                  <a:pt x="13" y="577"/>
                </a:moveTo>
                <a:lnTo>
                  <a:pt x="13" y="589"/>
                </a:lnTo>
                <a:lnTo>
                  <a:pt x="0" y="589"/>
                </a:lnTo>
                <a:lnTo>
                  <a:pt x="0" y="577"/>
                </a:lnTo>
                <a:lnTo>
                  <a:pt x="13" y="577"/>
                </a:lnTo>
                <a:close/>
                <a:moveTo>
                  <a:pt x="13" y="601"/>
                </a:moveTo>
                <a:lnTo>
                  <a:pt x="13" y="613"/>
                </a:lnTo>
                <a:lnTo>
                  <a:pt x="0" y="613"/>
                </a:lnTo>
                <a:lnTo>
                  <a:pt x="0" y="601"/>
                </a:lnTo>
                <a:lnTo>
                  <a:pt x="13" y="601"/>
                </a:lnTo>
                <a:close/>
                <a:moveTo>
                  <a:pt x="13" y="625"/>
                </a:moveTo>
                <a:lnTo>
                  <a:pt x="13" y="637"/>
                </a:lnTo>
                <a:lnTo>
                  <a:pt x="0" y="637"/>
                </a:lnTo>
                <a:lnTo>
                  <a:pt x="0" y="625"/>
                </a:lnTo>
                <a:lnTo>
                  <a:pt x="13" y="625"/>
                </a:lnTo>
                <a:close/>
                <a:moveTo>
                  <a:pt x="13" y="649"/>
                </a:moveTo>
                <a:lnTo>
                  <a:pt x="13" y="661"/>
                </a:lnTo>
                <a:lnTo>
                  <a:pt x="0" y="661"/>
                </a:lnTo>
                <a:lnTo>
                  <a:pt x="0" y="649"/>
                </a:lnTo>
                <a:lnTo>
                  <a:pt x="13" y="649"/>
                </a:lnTo>
                <a:close/>
                <a:moveTo>
                  <a:pt x="13" y="673"/>
                </a:moveTo>
                <a:lnTo>
                  <a:pt x="13" y="685"/>
                </a:lnTo>
                <a:lnTo>
                  <a:pt x="0" y="685"/>
                </a:lnTo>
                <a:lnTo>
                  <a:pt x="0" y="673"/>
                </a:lnTo>
                <a:lnTo>
                  <a:pt x="13" y="673"/>
                </a:lnTo>
                <a:close/>
                <a:moveTo>
                  <a:pt x="13" y="697"/>
                </a:moveTo>
                <a:lnTo>
                  <a:pt x="13" y="709"/>
                </a:lnTo>
                <a:lnTo>
                  <a:pt x="0" y="709"/>
                </a:lnTo>
                <a:lnTo>
                  <a:pt x="0" y="697"/>
                </a:lnTo>
                <a:lnTo>
                  <a:pt x="13" y="697"/>
                </a:lnTo>
                <a:close/>
                <a:moveTo>
                  <a:pt x="13" y="721"/>
                </a:moveTo>
                <a:lnTo>
                  <a:pt x="13" y="733"/>
                </a:lnTo>
                <a:lnTo>
                  <a:pt x="0" y="733"/>
                </a:lnTo>
                <a:lnTo>
                  <a:pt x="0" y="721"/>
                </a:lnTo>
                <a:lnTo>
                  <a:pt x="13" y="721"/>
                </a:lnTo>
                <a:close/>
                <a:moveTo>
                  <a:pt x="13" y="745"/>
                </a:moveTo>
                <a:lnTo>
                  <a:pt x="13" y="757"/>
                </a:lnTo>
                <a:lnTo>
                  <a:pt x="0" y="757"/>
                </a:lnTo>
                <a:lnTo>
                  <a:pt x="0" y="745"/>
                </a:lnTo>
                <a:lnTo>
                  <a:pt x="13" y="745"/>
                </a:lnTo>
                <a:close/>
                <a:moveTo>
                  <a:pt x="13" y="769"/>
                </a:moveTo>
                <a:lnTo>
                  <a:pt x="13" y="781"/>
                </a:lnTo>
                <a:lnTo>
                  <a:pt x="0" y="781"/>
                </a:lnTo>
                <a:lnTo>
                  <a:pt x="0" y="769"/>
                </a:lnTo>
                <a:lnTo>
                  <a:pt x="13" y="769"/>
                </a:lnTo>
                <a:close/>
                <a:moveTo>
                  <a:pt x="13" y="793"/>
                </a:moveTo>
                <a:lnTo>
                  <a:pt x="13" y="805"/>
                </a:lnTo>
                <a:lnTo>
                  <a:pt x="0" y="805"/>
                </a:lnTo>
                <a:lnTo>
                  <a:pt x="0" y="793"/>
                </a:lnTo>
                <a:lnTo>
                  <a:pt x="13" y="793"/>
                </a:lnTo>
                <a:close/>
                <a:moveTo>
                  <a:pt x="13" y="817"/>
                </a:moveTo>
                <a:lnTo>
                  <a:pt x="13" y="829"/>
                </a:lnTo>
                <a:lnTo>
                  <a:pt x="0" y="829"/>
                </a:lnTo>
                <a:lnTo>
                  <a:pt x="0" y="817"/>
                </a:lnTo>
                <a:lnTo>
                  <a:pt x="13" y="817"/>
                </a:lnTo>
                <a:close/>
                <a:moveTo>
                  <a:pt x="13" y="841"/>
                </a:moveTo>
                <a:lnTo>
                  <a:pt x="13" y="853"/>
                </a:lnTo>
                <a:lnTo>
                  <a:pt x="0" y="853"/>
                </a:lnTo>
                <a:lnTo>
                  <a:pt x="0" y="841"/>
                </a:lnTo>
                <a:lnTo>
                  <a:pt x="13" y="841"/>
                </a:lnTo>
                <a:close/>
                <a:moveTo>
                  <a:pt x="13" y="865"/>
                </a:moveTo>
                <a:lnTo>
                  <a:pt x="13" y="877"/>
                </a:lnTo>
                <a:lnTo>
                  <a:pt x="0" y="877"/>
                </a:lnTo>
                <a:lnTo>
                  <a:pt x="0" y="865"/>
                </a:lnTo>
                <a:lnTo>
                  <a:pt x="13" y="865"/>
                </a:lnTo>
                <a:close/>
                <a:moveTo>
                  <a:pt x="13" y="889"/>
                </a:moveTo>
                <a:lnTo>
                  <a:pt x="13" y="901"/>
                </a:lnTo>
                <a:lnTo>
                  <a:pt x="0" y="901"/>
                </a:lnTo>
                <a:lnTo>
                  <a:pt x="0" y="889"/>
                </a:lnTo>
                <a:lnTo>
                  <a:pt x="13" y="889"/>
                </a:lnTo>
                <a:close/>
                <a:moveTo>
                  <a:pt x="13" y="913"/>
                </a:moveTo>
                <a:lnTo>
                  <a:pt x="13" y="926"/>
                </a:lnTo>
                <a:lnTo>
                  <a:pt x="0" y="926"/>
                </a:lnTo>
                <a:lnTo>
                  <a:pt x="0" y="913"/>
                </a:lnTo>
                <a:lnTo>
                  <a:pt x="13" y="913"/>
                </a:lnTo>
                <a:close/>
                <a:moveTo>
                  <a:pt x="13" y="937"/>
                </a:moveTo>
                <a:lnTo>
                  <a:pt x="13" y="950"/>
                </a:lnTo>
                <a:lnTo>
                  <a:pt x="0" y="950"/>
                </a:lnTo>
                <a:lnTo>
                  <a:pt x="0" y="937"/>
                </a:lnTo>
                <a:lnTo>
                  <a:pt x="13" y="937"/>
                </a:lnTo>
                <a:close/>
                <a:moveTo>
                  <a:pt x="13" y="962"/>
                </a:moveTo>
                <a:lnTo>
                  <a:pt x="13" y="973"/>
                </a:lnTo>
                <a:lnTo>
                  <a:pt x="0" y="973"/>
                </a:lnTo>
                <a:lnTo>
                  <a:pt x="0" y="962"/>
                </a:lnTo>
                <a:lnTo>
                  <a:pt x="13" y="962"/>
                </a:lnTo>
                <a:close/>
                <a:moveTo>
                  <a:pt x="13" y="986"/>
                </a:moveTo>
                <a:lnTo>
                  <a:pt x="13" y="998"/>
                </a:lnTo>
                <a:lnTo>
                  <a:pt x="0" y="998"/>
                </a:lnTo>
                <a:lnTo>
                  <a:pt x="0" y="986"/>
                </a:lnTo>
                <a:lnTo>
                  <a:pt x="13" y="986"/>
                </a:lnTo>
                <a:close/>
                <a:moveTo>
                  <a:pt x="13" y="1010"/>
                </a:moveTo>
                <a:lnTo>
                  <a:pt x="13" y="1022"/>
                </a:lnTo>
                <a:lnTo>
                  <a:pt x="0" y="1022"/>
                </a:lnTo>
                <a:lnTo>
                  <a:pt x="0" y="1010"/>
                </a:lnTo>
                <a:lnTo>
                  <a:pt x="13" y="1010"/>
                </a:lnTo>
                <a:close/>
                <a:moveTo>
                  <a:pt x="13" y="1034"/>
                </a:moveTo>
                <a:lnTo>
                  <a:pt x="13" y="1046"/>
                </a:lnTo>
                <a:lnTo>
                  <a:pt x="0" y="1046"/>
                </a:lnTo>
                <a:lnTo>
                  <a:pt x="0" y="1034"/>
                </a:lnTo>
                <a:lnTo>
                  <a:pt x="13" y="1034"/>
                </a:lnTo>
                <a:close/>
                <a:moveTo>
                  <a:pt x="13" y="1058"/>
                </a:moveTo>
                <a:lnTo>
                  <a:pt x="13" y="1070"/>
                </a:lnTo>
                <a:lnTo>
                  <a:pt x="0" y="1070"/>
                </a:lnTo>
                <a:lnTo>
                  <a:pt x="0" y="1058"/>
                </a:lnTo>
                <a:lnTo>
                  <a:pt x="13" y="1058"/>
                </a:lnTo>
                <a:close/>
                <a:moveTo>
                  <a:pt x="13" y="1082"/>
                </a:moveTo>
                <a:lnTo>
                  <a:pt x="13" y="1094"/>
                </a:lnTo>
                <a:lnTo>
                  <a:pt x="0" y="1094"/>
                </a:lnTo>
                <a:lnTo>
                  <a:pt x="0" y="1082"/>
                </a:lnTo>
                <a:lnTo>
                  <a:pt x="13" y="1082"/>
                </a:lnTo>
                <a:close/>
                <a:moveTo>
                  <a:pt x="13" y="1106"/>
                </a:moveTo>
                <a:lnTo>
                  <a:pt x="13" y="1118"/>
                </a:lnTo>
                <a:lnTo>
                  <a:pt x="0" y="1118"/>
                </a:lnTo>
                <a:lnTo>
                  <a:pt x="0" y="1106"/>
                </a:lnTo>
                <a:lnTo>
                  <a:pt x="13" y="1106"/>
                </a:lnTo>
                <a:close/>
                <a:moveTo>
                  <a:pt x="13" y="1130"/>
                </a:moveTo>
                <a:lnTo>
                  <a:pt x="13" y="1142"/>
                </a:lnTo>
                <a:lnTo>
                  <a:pt x="0" y="1142"/>
                </a:lnTo>
                <a:lnTo>
                  <a:pt x="0" y="1130"/>
                </a:lnTo>
                <a:lnTo>
                  <a:pt x="13" y="1130"/>
                </a:lnTo>
                <a:close/>
                <a:moveTo>
                  <a:pt x="13" y="1154"/>
                </a:moveTo>
                <a:lnTo>
                  <a:pt x="13" y="1166"/>
                </a:lnTo>
                <a:lnTo>
                  <a:pt x="0" y="1166"/>
                </a:lnTo>
                <a:lnTo>
                  <a:pt x="0" y="1154"/>
                </a:lnTo>
                <a:lnTo>
                  <a:pt x="13" y="1154"/>
                </a:lnTo>
                <a:close/>
                <a:moveTo>
                  <a:pt x="13" y="1178"/>
                </a:moveTo>
                <a:lnTo>
                  <a:pt x="13" y="1190"/>
                </a:lnTo>
                <a:lnTo>
                  <a:pt x="0" y="1190"/>
                </a:lnTo>
                <a:lnTo>
                  <a:pt x="0" y="1178"/>
                </a:lnTo>
                <a:lnTo>
                  <a:pt x="13" y="1178"/>
                </a:lnTo>
                <a:close/>
                <a:moveTo>
                  <a:pt x="13" y="1202"/>
                </a:moveTo>
                <a:lnTo>
                  <a:pt x="13" y="1214"/>
                </a:lnTo>
                <a:lnTo>
                  <a:pt x="0" y="1214"/>
                </a:lnTo>
                <a:lnTo>
                  <a:pt x="0" y="1202"/>
                </a:lnTo>
                <a:lnTo>
                  <a:pt x="13" y="1202"/>
                </a:lnTo>
                <a:close/>
                <a:moveTo>
                  <a:pt x="13" y="1226"/>
                </a:moveTo>
                <a:lnTo>
                  <a:pt x="13" y="1238"/>
                </a:lnTo>
                <a:lnTo>
                  <a:pt x="0" y="1238"/>
                </a:lnTo>
                <a:lnTo>
                  <a:pt x="0" y="1226"/>
                </a:lnTo>
                <a:lnTo>
                  <a:pt x="13" y="1226"/>
                </a:lnTo>
                <a:close/>
                <a:moveTo>
                  <a:pt x="13" y="1250"/>
                </a:moveTo>
                <a:lnTo>
                  <a:pt x="13" y="1262"/>
                </a:lnTo>
                <a:lnTo>
                  <a:pt x="0" y="1262"/>
                </a:lnTo>
                <a:lnTo>
                  <a:pt x="0" y="1250"/>
                </a:lnTo>
                <a:lnTo>
                  <a:pt x="13" y="1250"/>
                </a:lnTo>
                <a:close/>
                <a:moveTo>
                  <a:pt x="13" y="1274"/>
                </a:moveTo>
                <a:lnTo>
                  <a:pt x="13" y="1286"/>
                </a:lnTo>
                <a:lnTo>
                  <a:pt x="0" y="1286"/>
                </a:lnTo>
                <a:lnTo>
                  <a:pt x="0" y="1274"/>
                </a:lnTo>
                <a:lnTo>
                  <a:pt x="13" y="1274"/>
                </a:lnTo>
                <a:close/>
                <a:moveTo>
                  <a:pt x="13" y="1298"/>
                </a:moveTo>
                <a:lnTo>
                  <a:pt x="13" y="1310"/>
                </a:lnTo>
                <a:lnTo>
                  <a:pt x="0" y="1310"/>
                </a:lnTo>
                <a:lnTo>
                  <a:pt x="0" y="1298"/>
                </a:lnTo>
                <a:lnTo>
                  <a:pt x="13" y="1298"/>
                </a:lnTo>
                <a:close/>
                <a:moveTo>
                  <a:pt x="13" y="1322"/>
                </a:moveTo>
                <a:lnTo>
                  <a:pt x="13" y="1334"/>
                </a:lnTo>
                <a:lnTo>
                  <a:pt x="0" y="1334"/>
                </a:lnTo>
                <a:lnTo>
                  <a:pt x="0" y="1322"/>
                </a:lnTo>
                <a:lnTo>
                  <a:pt x="13" y="1322"/>
                </a:lnTo>
                <a:close/>
                <a:moveTo>
                  <a:pt x="13" y="1346"/>
                </a:moveTo>
                <a:lnTo>
                  <a:pt x="13" y="1358"/>
                </a:lnTo>
                <a:lnTo>
                  <a:pt x="0" y="1358"/>
                </a:lnTo>
                <a:lnTo>
                  <a:pt x="0" y="1346"/>
                </a:lnTo>
                <a:lnTo>
                  <a:pt x="13" y="1346"/>
                </a:lnTo>
                <a:close/>
                <a:moveTo>
                  <a:pt x="13" y="1370"/>
                </a:moveTo>
                <a:lnTo>
                  <a:pt x="13" y="1382"/>
                </a:lnTo>
                <a:lnTo>
                  <a:pt x="0" y="1382"/>
                </a:lnTo>
                <a:lnTo>
                  <a:pt x="0" y="1370"/>
                </a:lnTo>
                <a:lnTo>
                  <a:pt x="13" y="1370"/>
                </a:lnTo>
                <a:close/>
                <a:moveTo>
                  <a:pt x="13" y="1394"/>
                </a:moveTo>
                <a:lnTo>
                  <a:pt x="13" y="1406"/>
                </a:lnTo>
                <a:lnTo>
                  <a:pt x="0" y="1406"/>
                </a:lnTo>
                <a:lnTo>
                  <a:pt x="0" y="1394"/>
                </a:lnTo>
                <a:lnTo>
                  <a:pt x="13" y="1394"/>
                </a:lnTo>
                <a:close/>
                <a:moveTo>
                  <a:pt x="13" y="1418"/>
                </a:moveTo>
                <a:lnTo>
                  <a:pt x="13" y="1431"/>
                </a:lnTo>
                <a:lnTo>
                  <a:pt x="0" y="1431"/>
                </a:lnTo>
                <a:lnTo>
                  <a:pt x="0" y="1418"/>
                </a:lnTo>
                <a:lnTo>
                  <a:pt x="13" y="1418"/>
                </a:lnTo>
                <a:close/>
                <a:moveTo>
                  <a:pt x="13" y="1442"/>
                </a:moveTo>
                <a:lnTo>
                  <a:pt x="13" y="1454"/>
                </a:lnTo>
                <a:lnTo>
                  <a:pt x="0" y="1454"/>
                </a:lnTo>
                <a:lnTo>
                  <a:pt x="0" y="1442"/>
                </a:lnTo>
                <a:lnTo>
                  <a:pt x="13" y="1442"/>
                </a:lnTo>
                <a:close/>
                <a:moveTo>
                  <a:pt x="13" y="1467"/>
                </a:moveTo>
                <a:lnTo>
                  <a:pt x="13" y="1478"/>
                </a:lnTo>
                <a:lnTo>
                  <a:pt x="0" y="1478"/>
                </a:lnTo>
                <a:lnTo>
                  <a:pt x="0" y="1467"/>
                </a:lnTo>
                <a:lnTo>
                  <a:pt x="13" y="1467"/>
                </a:lnTo>
                <a:close/>
                <a:moveTo>
                  <a:pt x="13" y="1491"/>
                </a:moveTo>
                <a:lnTo>
                  <a:pt x="13" y="1503"/>
                </a:lnTo>
                <a:lnTo>
                  <a:pt x="0" y="1503"/>
                </a:lnTo>
                <a:lnTo>
                  <a:pt x="0" y="1491"/>
                </a:lnTo>
                <a:lnTo>
                  <a:pt x="13" y="1491"/>
                </a:lnTo>
                <a:close/>
                <a:moveTo>
                  <a:pt x="13" y="1514"/>
                </a:moveTo>
                <a:lnTo>
                  <a:pt x="13" y="1527"/>
                </a:lnTo>
                <a:lnTo>
                  <a:pt x="0" y="1527"/>
                </a:lnTo>
                <a:lnTo>
                  <a:pt x="0" y="1514"/>
                </a:lnTo>
                <a:lnTo>
                  <a:pt x="13" y="1514"/>
                </a:lnTo>
                <a:close/>
                <a:moveTo>
                  <a:pt x="13" y="1539"/>
                </a:moveTo>
                <a:lnTo>
                  <a:pt x="13" y="1551"/>
                </a:lnTo>
                <a:lnTo>
                  <a:pt x="0" y="1551"/>
                </a:lnTo>
                <a:lnTo>
                  <a:pt x="0" y="1539"/>
                </a:lnTo>
                <a:lnTo>
                  <a:pt x="13" y="1539"/>
                </a:lnTo>
                <a:close/>
                <a:moveTo>
                  <a:pt x="13" y="1563"/>
                </a:moveTo>
                <a:lnTo>
                  <a:pt x="13" y="1575"/>
                </a:lnTo>
                <a:lnTo>
                  <a:pt x="0" y="1575"/>
                </a:lnTo>
                <a:lnTo>
                  <a:pt x="0" y="1563"/>
                </a:lnTo>
                <a:lnTo>
                  <a:pt x="13" y="1563"/>
                </a:lnTo>
                <a:close/>
                <a:moveTo>
                  <a:pt x="13" y="1587"/>
                </a:moveTo>
                <a:lnTo>
                  <a:pt x="13" y="1599"/>
                </a:lnTo>
                <a:lnTo>
                  <a:pt x="0" y="1599"/>
                </a:lnTo>
                <a:lnTo>
                  <a:pt x="0" y="1587"/>
                </a:lnTo>
                <a:lnTo>
                  <a:pt x="13" y="1587"/>
                </a:lnTo>
                <a:close/>
                <a:moveTo>
                  <a:pt x="13" y="1611"/>
                </a:moveTo>
                <a:lnTo>
                  <a:pt x="13" y="1623"/>
                </a:lnTo>
                <a:lnTo>
                  <a:pt x="0" y="1623"/>
                </a:lnTo>
                <a:lnTo>
                  <a:pt x="0" y="1611"/>
                </a:lnTo>
                <a:lnTo>
                  <a:pt x="13" y="1611"/>
                </a:lnTo>
                <a:close/>
                <a:moveTo>
                  <a:pt x="13" y="1635"/>
                </a:moveTo>
                <a:lnTo>
                  <a:pt x="13" y="1647"/>
                </a:lnTo>
                <a:lnTo>
                  <a:pt x="0" y="1647"/>
                </a:lnTo>
                <a:lnTo>
                  <a:pt x="0" y="1635"/>
                </a:lnTo>
                <a:lnTo>
                  <a:pt x="13" y="1635"/>
                </a:lnTo>
                <a:close/>
                <a:moveTo>
                  <a:pt x="13" y="1659"/>
                </a:moveTo>
                <a:lnTo>
                  <a:pt x="13" y="1671"/>
                </a:lnTo>
                <a:lnTo>
                  <a:pt x="0" y="1671"/>
                </a:lnTo>
                <a:lnTo>
                  <a:pt x="0" y="1659"/>
                </a:lnTo>
                <a:lnTo>
                  <a:pt x="13" y="1659"/>
                </a:lnTo>
                <a:close/>
                <a:moveTo>
                  <a:pt x="13" y="1683"/>
                </a:moveTo>
                <a:lnTo>
                  <a:pt x="13" y="1695"/>
                </a:lnTo>
                <a:lnTo>
                  <a:pt x="0" y="1695"/>
                </a:lnTo>
                <a:lnTo>
                  <a:pt x="0" y="1683"/>
                </a:lnTo>
                <a:lnTo>
                  <a:pt x="13" y="1683"/>
                </a:lnTo>
                <a:close/>
                <a:moveTo>
                  <a:pt x="13" y="1707"/>
                </a:moveTo>
                <a:lnTo>
                  <a:pt x="13" y="1719"/>
                </a:lnTo>
                <a:lnTo>
                  <a:pt x="0" y="1719"/>
                </a:lnTo>
                <a:lnTo>
                  <a:pt x="0" y="1707"/>
                </a:lnTo>
                <a:lnTo>
                  <a:pt x="13" y="1707"/>
                </a:lnTo>
                <a:close/>
                <a:moveTo>
                  <a:pt x="13" y="1731"/>
                </a:moveTo>
                <a:lnTo>
                  <a:pt x="13" y="1743"/>
                </a:lnTo>
                <a:lnTo>
                  <a:pt x="0" y="1743"/>
                </a:lnTo>
                <a:lnTo>
                  <a:pt x="0" y="1731"/>
                </a:lnTo>
                <a:lnTo>
                  <a:pt x="13" y="1731"/>
                </a:lnTo>
                <a:close/>
                <a:moveTo>
                  <a:pt x="13" y="1755"/>
                </a:moveTo>
                <a:lnTo>
                  <a:pt x="13" y="1767"/>
                </a:lnTo>
                <a:lnTo>
                  <a:pt x="0" y="1767"/>
                </a:lnTo>
                <a:lnTo>
                  <a:pt x="0" y="1755"/>
                </a:lnTo>
                <a:lnTo>
                  <a:pt x="13" y="1755"/>
                </a:lnTo>
                <a:close/>
                <a:moveTo>
                  <a:pt x="13" y="1779"/>
                </a:moveTo>
                <a:lnTo>
                  <a:pt x="13" y="1791"/>
                </a:lnTo>
                <a:lnTo>
                  <a:pt x="0" y="1791"/>
                </a:lnTo>
                <a:lnTo>
                  <a:pt x="0" y="1779"/>
                </a:lnTo>
                <a:lnTo>
                  <a:pt x="13" y="1779"/>
                </a:lnTo>
                <a:close/>
                <a:moveTo>
                  <a:pt x="13" y="1803"/>
                </a:moveTo>
                <a:lnTo>
                  <a:pt x="13" y="1815"/>
                </a:lnTo>
                <a:lnTo>
                  <a:pt x="0" y="1815"/>
                </a:lnTo>
                <a:lnTo>
                  <a:pt x="0" y="1803"/>
                </a:lnTo>
                <a:lnTo>
                  <a:pt x="13" y="1803"/>
                </a:lnTo>
                <a:close/>
                <a:moveTo>
                  <a:pt x="13" y="1827"/>
                </a:moveTo>
                <a:lnTo>
                  <a:pt x="13" y="1839"/>
                </a:lnTo>
                <a:lnTo>
                  <a:pt x="0" y="1839"/>
                </a:lnTo>
                <a:lnTo>
                  <a:pt x="0" y="1827"/>
                </a:lnTo>
                <a:lnTo>
                  <a:pt x="13" y="1827"/>
                </a:lnTo>
                <a:close/>
                <a:moveTo>
                  <a:pt x="13" y="1851"/>
                </a:moveTo>
                <a:lnTo>
                  <a:pt x="13" y="1863"/>
                </a:lnTo>
                <a:lnTo>
                  <a:pt x="0" y="1863"/>
                </a:lnTo>
                <a:lnTo>
                  <a:pt x="0" y="1851"/>
                </a:lnTo>
                <a:lnTo>
                  <a:pt x="13" y="1851"/>
                </a:lnTo>
                <a:close/>
                <a:moveTo>
                  <a:pt x="13" y="1875"/>
                </a:moveTo>
                <a:lnTo>
                  <a:pt x="13" y="1887"/>
                </a:lnTo>
                <a:lnTo>
                  <a:pt x="0" y="1887"/>
                </a:lnTo>
                <a:lnTo>
                  <a:pt x="0" y="1875"/>
                </a:lnTo>
                <a:lnTo>
                  <a:pt x="13" y="1875"/>
                </a:lnTo>
                <a:close/>
                <a:moveTo>
                  <a:pt x="13" y="1899"/>
                </a:moveTo>
                <a:lnTo>
                  <a:pt x="13" y="1911"/>
                </a:lnTo>
                <a:lnTo>
                  <a:pt x="0" y="1911"/>
                </a:lnTo>
                <a:lnTo>
                  <a:pt x="0" y="1899"/>
                </a:lnTo>
                <a:lnTo>
                  <a:pt x="13" y="1899"/>
                </a:lnTo>
                <a:close/>
                <a:moveTo>
                  <a:pt x="13" y="1923"/>
                </a:moveTo>
                <a:lnTo>
                  <a:pt x="13" y="1935"/>
                </a:lnTo>
                <a:lnTo>
                  <a:pt x="0" y="1935"/>
                </a:lnTo>
                <a:lnTo>
                  <a:pt x="0" y="1923"/>
                </a:lnTo>
                <a:lnTo>
                  <a:pt x="13" y="1923"/>
                </a:lnTo>
                <a:close/>
                <a:moveTo>
                  <a:pt x="13" y="1947"/>
                </a:moveTo>
                <a:lnTo>
                  <a:pt x="13" y="1959"/>
                </a:lnTo>
                <a:lnTo>
                  <a:pt x="0" y="1959"/>
                </a:lnTo>
                <a:lnTo>
                  <a:pt x="0" y="1947"/>
                </a:lnTo>
                <a:lnTo>
                  <a:pt x="13" y="1947"/>
                </a:lnTo>
                <a:close/>
                <a:moveTo>
                  <a:pt x="13" y="1972"/>
                </a:moveTo>
                <a:lnTo>
                  <a:pt x="13" y="1983"/>
                </a:lnTo>
                <a:lnTo>
                  <a:pt x="0" y="1983"/>
                </a:lnTo>
                <a:lnTo>
                  <a:pt x="0" y="1972"/>
                </a:lnTo>
                <a:lnTo>
                  <a:pt x="13" y="1972"/>
                </a:lnTo>
                <a:close/>
                <a:moveTo>
                  <a:pt x="13" y="1995"/>
                </a:moveTo>
                <a:lnTo>
                  <a:pt x="13" y="2008"/>
                </a:lnTo>
                <a:lnTo>
                  <a:pt x="0" y="2008"/>
                </a:lnTo>
                <a:lnTo>
                  <a:pt x="0" y="1995"/>
                </a:lnTo>
                <a:lnTo>
                  <a:pt x="13" y="1995"/>
                </a:lnTo>
                <a:close/>
                <a:moveTo>
                  <a:pt x="13" y="2019"/>
                </a:moveTo>
                <a:lnTo>
                  <a:pt x="13" y="2032"/>
                </a:lnTo>
                <a:lnTo>
                  <a:pt x="0" y="2032"/>
                </a:lnTo>
                <a:lnTo>
                  <a:pt x="0" y="2019"/>
                </a:lnTo>
                <a:lnTo>
                  <a:pt x="13" y="2019"/>
                </a:lnTo>
                <a:close/>
                <a:moveTo>
                  <a:pt x="13" y="2044"/>
                </a:moveTo>
                <a:lnTo>
                  <a:pt x="13" y="2055"/>
                </a:lnTo>
                <a:lnTo>
                  <a:pt x="0" y="2055"/>
                </a:lnTo>
                <a:lnTo>
                  <a:pt x="0" y="2044"/>
                </a:lnTo>
                <a:lnTo>
                  <a:pt x="13" y="2044"/>
                </a:lnTo>
                <a:close/>
                <a:moveTo>
                  <a:pt x="13" y="2068"/>
                </a:moveTo>
                <a:lnTo>
                  <a:pt x="13" y="2080"/>
                </a:lnTo>
                <a:lnTo>
                  <a:pt x="0" y="2080"/>
                </a:lnTo>
                <a:lnTo>
                  <a:pt x="0" y="2068"/>
                </a:lnTo>
                <a:lnTo>
                  <a:pt x="13" y="2068"/>
                </a:lnTo>
                <a:close/>
                <a:moveTo>
                  <a:pt x="13" y="2092"/>
                </a:moveTo>
                <a:lnTo>
                  <a:pt x="13" y="2104"/>
                </a:lnTo>
                <a:lnTo>
                  <a:pt x="0" y="2104"/>
                </a:lnTo>
                <a:lnTo>
                  <a:pt x="0" y="2092"/>
                </a:lnTo>
                <a:lnTo>
                  <a:pt x="13" y="2092"/>
                </a:lnTo>
                <a:close/>
                <a:moveTo>
                  <a:pt x="13" y="2116"/>
                </a:moveTo>
                <a:lnTo>
                  <a:pt x="13" y="2128"/>
                </a:lnTo>
                <a:lnTo>
                  <a:pt x="0" y="2128"/>
                </a:lnTo>
                <a:lnTo>
                  <a:pt x="0" y="2116"/>
                </a:lnTo>
                <a:lnTo>
                  <a:pt x="13" y="2116"/>
                </a:lnTo>
                <a:close/>
                <a:moveTo>
                  <a:pt x="13" y="2140"/>
                </a:moveTo>
                <a:lnTo>
                  <a:pt x="13" y="2152"/>
                </a:lnTo>
                <a:lnTo>
                  <a:pt x="0" y="2152"/>
                </a:lnTo>
                <a:lnTo>
                  <a:pt x="0" y="2140"/>
                </a:lnTo>
                <a:lnTo>
                  <a:pt x="13" y="2140"/>
                </a:lnTo>
                <a:close/>
                <a:moveTo>
                  <a:pt x="13" y="2164"/>
                </a:moveTo>
                <a:lnTo>
                  <a:pt x="13" y="2176"/>
                </a:lnTo>
                <a:lnTo>
                  <a:pt x="0" y="2176"/>
                </a:lnTo>
                <a:lnTo>
                  <a:pt x="0" y="2164"/>
                </a:lnTo>
                <a:lnTo>
                  <a:pt x="13" y="2164"/>
                </a:lnTo>
                <a:close/>
                <a:moveTo>
                  <a:pt x="13" y="2188"/>
                </a:moveTo>
                <a:lnTo>
                  <a:pt x="13" y="2200"/>
                </a:lnTo>
                <a:lnTo>
                  <a:pt x="0" y="2200"/>
                </a:lnTo>
                <a:lnTo>
                  <a:pt x="0" y="2188"/>
                </a:lnTo>
                <a:lnTo>
                  <a:pt x="13" y="2188"/>
                </a:lnTo>
                <a:close/>
                <a:moveTo>
                  <a:pt x="13" y="2212"/>
                </a:moveTo>
                <a:lnTo>
                  <a:pt x="13" y="2224"/>
                </a:lnTo>
                <a:lnTo>
                  <a:pt x="0" y="2224"/>
                </a:lnTo>
                <a:lnTo>
                  <a:pt x="0" y="2212"/>
                </a:lnTo>
                <a:lnTo>
                  <a:pt x="13" y="2212"/>
                </a:lnTo>
                <a:close/>
                <a:moveTo>
                  <a:pt x="13" y="2236"/>
                </a:moveTo>
                <a:lnTo>
                  <a:pt x="13" y="2248"/>
                </a:lnTo>
                <a:lnTo>
                  <a:pt x="0" y="2248"/>
                </a:lnTo>
                <a:lnTo>
                  <a:pt x="0" y="2236"/>
                </a:lnTo>
                <a:lnTo>
                  <a:pt x="13" y="2236"/>
                </a:lnTo>
                <a:close/>
                <a:moveTo>
                  <a:pt x="13" y="2260"/>
                </a:moveTo>
                <a:lnTo>
                  <a:pt x="13" y="2272"/>
                </a:lnTo>
                <a:lnTo>
                  <a:pt x="0" y="2272"/>
                </a:lnTo>
                <a:lnTo>
                  <a:pt x="0" y="2260"/>
                </a:lnTo>
                <a:lnTo>
                  <a:pt x="13" y="2260"/>
                </a:lnTo>
                <a:close/>
                <a:moveTo>
                  <a:pt x="13" y="2284"/>
                </a:moveTo>
                <a:lnTo>
                  <a:pt x="13" y="2296"/>
                </a:lnTo>
                <a:lnTo>
                  <a:pt x="0" y="2296"/>
                </a:lnTo>
                <a:lnTo>
                  <a:pt x="0" y="2284"/>
                </a:lnTo>
                <a:lnTo>
                  <a:pt x="13" y="2284"/>
                </a:lnTo>
                <a:close/>
                <a:moveTo>
                  <a:pt x="13" y="2308"/>
                </a:moveTo>
                <a:lnTo>
                  <a:pt x="13" y="2320"/>
                </a:lnTo>
                <a:lnTo>
                  <a:pt x="0" y="2320"/>
                </a:lnTo>
                <a:lnTo>
                  <a:pt x="0" y="2308"/>
                </a:lnTo>
                <a:lnTo>
                  <a:pt x="13" y="2308"/>
                </a:lnTo>
                <a:close/>
                <a:moveTo>
                  <a:pt x="13" y="2332"/>
                </a:moveTo>
                <a:lnTo>
                  <a:pt x="13" y="2344"/>
                </a:lnTo>
                <a:lnTo>
                  <a:pt x="0" y="2344"/>
                </a:lnTo>
                <a:lnTo>
                  <a:pt x="0" y="2332"/>
                </a:lnTo>
                <a:lnTo>
                  <a:pt x="13" y="2332"/>
                </a:lnTo>
                <a:close/>
                <a:moveTo>
                  <a:pt x="13" y="2356"/>
                </a:moveTo>
                <a:lnTo>
                  <a:pt x="13" y="2368"/>
                </a:lnTo>
                <a:lnTo>
                  <a:pt x="0" y="2368"/>
                </a:lnTo>
                <a:lnTo>
                  <a:pt x="0" y="2356"/>
                </a:lnTo>
                <a:lnTo>
                  <a:pt x="13" y="2356"/>
                </a:lnTo>
                <a:close/>
                <a:moveTo>
                  <a:pt x="13" y="2380"/>
                </a:moveTo>
                <a:lnTo>
                  <a:pt x="13" y="2392"/>
                </a:lnTo>
                <a:lnTo>
                  <a:pt x="0" y="2392"/>
                </a:lnTo>
                <a:lnTo>
                  <a:pt x="0" y="2380"/>
                </a:lnTo>
                <a:lnTo>
                  <a:pt x="13" y="2380"/>
                </a:lnTo>
                <a:close/>
                <a:moveTo>
                  <a:pt x="13" y="2404"/>
                </a:moveTo>
                <a:lnTo>
                  <a:pt x="13" y="2416"/>
                </a:lnTo>
                <a:lnTo>
                  <a:pt x="0" y="2416"/>
                </a:lnTo>
                <a:lnTo>
                  <a:pt x="0" y="2404"/>
                </a:lnTo>
                <a:lnTo>
                  <a:pt x="13" y="2404"/>
                </a:lnTo>
                <a:close/>
                <a:moveTo>
                  <a:pt x="13" y="2428"/>
                </a:moveTo>
                <a:lnTo>
                  <a:pt x="13" y="2440"/>
                </a:lnTo>
                <a:lnTo>
                  <a:pt x="0" y="2440"/>
                </a:lnTo>
                <a:lnTo>
                  <a:pt x="0" y="2428"/>
                </a:lnTo>
                <a:lnTo>
                  <a:pt x="13" y="2428"/>
                </a:lnTo>
                <a:close/>
                <a:moveTo>
                  <a:pt x="13" y="2452"/>
                </a:moveTo>
                <a:lnTo>
                  <a:pt x="13" y="2464"/>
                </a:lnTo>
                <a:lnTo>
                  <a:pt x="0" y="2464"/>
                </a:lnTo>
                <a:lnTo>
                  <a:pt x="0" y="2452"/>
                </a:lnTo>
                <a:lnTo>
                  <a:pt x="13" y="2452"/>
                </a:lnTo>
                <a:close/>
                <a:moveTo>
                  <a:pt x="13" y="2476"/>
                </a:moveTo>
                <a:lnTo>
                  <a:pt x="13" y="2488"/>
                </a:lnTo>
                <a:lnTo>
                  <a:pt x="0" y="2488"/>
                </a:lnTo>
                <a:lnTo>
                  <a:pt x="0" y="2476"/>
                </a:lnTo>
                <a:lnTo>
                  <a:pt x="13" y="2476"/>
                </a:lnTo>
                <a:close/>
                <a:moveTo>
                  <a:pt x="13" y="2500"/>
                </a:moveTo>
                <a:lnTo>
                  <a:pt x="13" y="2513"/>
                </a:lnTo>
                <a:lnTo>
                  <a:pt x="0" y="2513"/>
                </a:lnTo>
                <a:lnTo>
                  <a:pt x="0" y="2500"/>
                </a:lnTo>
                <a:lnTo>
                  <a:pt x="13" y="2500"/>
                </a:lnTo>
                <a:close/>
                <a:moveTo>
                  <a:pt x="13" y="2524"/>
                </a:moveTo>
                <a:lnTo>
                  <a:pt x="13" y="2536"/>
                </a:lnTo>
                <a:lnTo>
                  <a:pt x="0" y="2536"/>
                </a:lnTo>
                <a:lnTo>
                  <a:pt x="0" y="2524"/>
                </a:lnTo>
                <a:lnTo>
                  <a:pt x="13" y="2524"/>
                </a:lnTo>
                <a:close/>
                <a:moveTo>
                  <a:pt x="13" y="2549"/>
                </a:moveTo>
                <a:lnTo>
                  <a:pt x="13" y="2560"/>
                </a:lnTo>
                <a:lnTo>
                  <a:pt x="0" y="2560"/>
                </a:lnTo>
                <a:lnTo>
                  <a:pt x="0" y="2549"/>
                </a:lnTo>
                <a:lnTo>
                  <a:pt x="13" y="2549"/>
                </a:lnTo>
                <a:close/>
              </a:path>
            </a:pathLst>
          </a:custGeom>
          <a:solidFill>
            <a:srgbClr val="000000"/>
          </a:solidFill>
          <a:ln w="0" cap="flat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90" name="Freeform 87">
            <a:extLst>
              <a:ext uri="{FF2B5EF4-FFF2-40B4-BE49-F238E27FC236}">
                <a16:creationId xmlns:a16="http://schemas.microsoft.com/office/drawing/2014/main" id="{4F496561-F4F0-42F5-91FF-4D60121F3F11}"/>
              </a:ext>
            </a:extLst>
          </p:cNvPr>
          <p:cNvSpPr>
            <a:spLocks noEditPoints="1"/>
          </p:cNvSpPr>
          <p:nvPr/>
        </p:nvSpPr>
        <p:spPr bwMode="auto">
          <a:xfrm>
            <a:off x="6756400" y="2344738"/>
            <a:ext cx="18000" cy="4032000"/>
          </a:xfrm>
          <a:custGeom>
            <a:avLst/>
            <a:gdLst>
              <a:gd name="T0" fmla="*/ 0 w 12"/>
              <a:gd name="T1" fmla="*/ 24 h 2560"/>
              <a:gd name="T2" fmla="*/ 0 w 12"/>
              <a:gd name="T3" fmla="*/ 84 h 2560"/>
              <a:gd name="T4" fmla="*/ 12 w 12"/>
              <a:gd name="T5" fmla="*/ 132 h 2560"/>
              <a:gd name="T6" fmla="*/ 12 w 12"/>
              <a:gd name="T7" fmla="*/ 168 h 2560"/>
              <a:gd name="T8" fmla="*/ 12 w 12"/>
              <a:gd name="T9" fmla="*/ 192 h 2560"/>
              <a:gd name="T10" fmla="*/ 0 w 12"/>
              <a:gd name="T11" fmla="*/ 240 h 2560"/>
              <a:gd name="T12" fmla="*/ 0 w 12"/>
              <a:gd name="T13" fmla="*/ 300 h 2560"/>
              <a:gd name="T14" fmla="*/ 12 w 12"/>
              <a:gd name="T15" fmla="*/ 349 h 2560"/>
              <a:gd name="T16" fmla="*/ 12 w 12"/>
              <a:gd name="T17" fmla="*/ 385 h 2560"/>
              <a:gd name="T18" fmla="*/ 12 w 12"/>
              <a:gd name="T19" fmla="*/ 409 h 2560"/>
              <a:gd name="T20" fmla="*/ 0 w 12"/>
              <a:gd name="T21" fmla="*/ 457 h 2560"/>
              <a:gd name="T22" fmla="*/ 0 w 12"/>
              <a:gd name="T23" fmla="*/ 517 h 2560"/>
              <a:gd name="T24" fmla="*/ 12 w 12"/>
              <a:gd name="T25" fmla="*/ 565 h 2560"/>
              <a:gd name="T26" fmla="*/ 12 w 12"/>
              <a:gd name="T27" fmla="*/ 601 h 2560"/>
              <a:gd name="T28" fmla="*/ 12 w 12"/>
              <a:gd name="T29" fmla="*/ 625 h 2560"/>
              <a:gd name="T30" fmla="*/ 0 w 12"/>
              <a:gd name="T31" fmla="*/ 673 h 2560"/>
              <a:gd name="T32" fmla="*/ 0 w 12"/>
              <a:gd name="T33" fmla="*/ 733 h 2560"/>
              <a:gd name="T34" fmla="*/ 12 w 12"/>
              <a:gd name="T35" fmla="*/ 781 h 2560"/>
              <a:gd name="T36" fmla="*/ 12 w 12"/>
              <a:gd name="T37" fmla="*/ 817 h 2560"/>
              <a:gd name="T38" fmla="*/ 12 w 12"/>
              <a:gd name="T39" fmla="*/ 841 h 2560"/>
              <a:gd name="T40" fmla="*/ 0 w 12"/>
              <a:gd name="T41" fmla="*/ 890 h 2560"/>
              <a:gd name="T42" fmla="*/ 0 w 12"/>
              <a:gd name="T43" fmla="*/ 950 h 2560"/>
              <a:gd name="T44" fmla="*/ 12 w 12"/>
              <a:gd name="T45" fmla="*/ 998 h 2560"/>
              <a:gd name="T46" fmla="*/ 12 w 12"/>
              <a:gd name="T47" fmla="*/ 1034 h 2560"/>
              <a:gd name="T48" fmla="*/ 12 w 12"/>
              <a:gd name="T49" fmla="*/ 1058 h 2560"/>
              <a:gd name="T50" fmla="*/ 0 w 12"/>
              <a:gd name="T51" fmla="*/ 1106 h 2560"/>
              <a:gd name="T52" fmla="*/ 0 w 12"/>
              <a:gd name="T53" fmla="*/ 1166 h 2560"/>
              <a:gd name="T54" fmla="*/ 12 w 12"/>
              <a:gd name="T55" fmla="*/ 1214 h 2560"/>
              <a:gd name="T56" fmla="*/ 12 w 12"/>
              <a:gd name="T57" fmla="*/ 1250 h 2560"/>
              <a:gd name="T58" fmla="*/ 12 w 12"/>
              <a:gd name="T59" fmla="*/ 1274 h 2560"/>
              <a:gd name="T60" fmla="*/ 0 w 12"/>
              <a:gd name="T61" fmla="*/ 1322 h 2560"/>
              <a:gd name="T62" fmla="*/ 0 w 12"/>
              <a:gd name="T63" fmla="*/ 1382 h 2560"/>
              <a:gd name="T64" fmla="*/ 12 w 12"/>
              <a:gd name="T65" fmla="*/ 1431 h 2560"/>
              <a:gd name="T66" fmla="*/ 12 w 12"/>
              <a:gd name="T67" fmla="*/ 1467 h 2560"/>
              <a:gd name="T68" fmla="*/ 12 w 12"/>
              <a:gd name="T69" fmla="*/ 1491 h 2560"/>
              <a:gd name="T70" fmla="*/ 0 w 12"/>
              <a:gd name="T71" fmla="*/ 1539 h 2560"/>
              <a:gd name="T72" fmla="*/ 0 w 12"/>
              <a:gd name="T73" fmla="*/ 1599 h 2560"/>
              <a:gd name="T74" fmla="*/ 12 w 12"/>
              <a:gd name="T75" fmla="*/ 1647 h 2560"/>
              <a:gd name="T76" fmla="*/ 12 w 12"/>
              <a:gd name="T77" fmla="*/ 1683 h 2560"/>
              <a:gd name="T78" fmla="*/ 12 w 12"/>
              <a:gd name="T79" fmla="*/ 1707 h 2560"/>
              <a:gd name="T80" fmla="*/ 0 w 12"/>
              <a:gd name="T81" fmla="*/ 1755 h 2560"/>
              <a:gd name="T82" fmla="*/ 0 w 12"/>
              <a:gd name="T83" fmla="*/ 1815 h 2560"/>
              <a:gd name="T84" fmla="*/ 12 w 12"/>
              <a:gd name="T85" fmla="*/ 1863 h 2560"/>
              <a:gd name="T86" fmla="*/ 12 w 12"/>
              <a:gd name="T87" fmla="*/ 1899 h 2560"/>
              <a:gd name="T88" fmla="*/ 12 w 12"/>
              <a:gd name="T89" fmla="*/ 1923 h 2560"/>
              <a:gd name="T90" fmla="*/ 0 w 12"/>
              <a:gd name="T91" fmla="*/ 1972 h 2560"/>
              <a:gd name="T92" fmla="*/ 0 w 12"/>
              <a:gd name="T93" fmla="*/ 2032 h 2560"/>
              <a:gd name="T94" fmla="*/ 12 w 12"/>
              <a:gd name="T95" fmla="*/ 2080 h 2560"/>
              <a:gd name="T96" fmla="*/ 12 w 12"/>
              <a:gd name="T97" fmla="*/ 2116 h 2560"/>
              <a:gd name="T98" fmla="*/ 12 w 12"/>
              <a:gd name="T99" fmla="*/ 2140 h 2560"/>
              <a:gd name="T100" fmla="*/ 0 w 12"/>
              <a:gd name="T101" fmla="*/ 2188 h 2560"/>
              <a:gd name="T102" fmla="*/ 0 w 12"/>
              <a:gd name="T103" fmla="*/ 2248 h 2560"/>
              <a:gd name="T104" fmla="*/ 12 w 12"/>
              <a:gd name="T105" fmla="*/ 2296 h 2560"/>
              <a:gd name="T106" fmla="*/ 12 w 12"/>
              <a:gd name="T107" fmla="*/ 2332 h 2560"/>
              <a:gd name="T108" fmla="*/ 12 w 12"/>
              <a:gd name="T109" fmla="*/ 2356 h 2560"/>
              <a:gd name="T110" fmla="*/ 0 w 12"/>
              <a:gd name="T111" fmla="*/ 2404 h 2560"/>
              <a:gd name="T112" fmla="*/ 0 w 12"/>
              <a:gd name="T113" fmla="*/ 2464 h 2560"/>
              <a:gd name="T114" fmla="*/ 12 w 12"/>
              <a:gd name="T115" fmla="*/ 2513 h 2560"/>
              <a:gd name="T116" fmla="*/ 12 w 12"/>
              <a:gd name="T117" fmla="*/ 2549 h 25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12" h="2560">
                <a:moveTo>
                  <a:pt x="12" y="0"/>
                </a:moveTo>
                <a:lnTo>
                  <a:pt x="12" y="12"/>
                </a:lnTo>
                <a:lnTo>
                  <a:pt x="0" y="12"/>
                </a:lnTo>
                <a:lnTo>
                  <a:pt x="0" y="0"/>
                </a:lnTo>
                <a:lnTo>
                  <a:pt x="12" y="0"/>
                </a:lnTo>
                <a:close/>
                <a:moveTo>
                  <a:pt x="12" y="24"/>
                </a:moveTo>
                <a:lnTo>
                  <a:pt x="12" y="36"/>
                </a:lnTo>
                <a:lnTo>
                  <a:pt x="0" y="36"/>
                </a:lnTo>
                <a:lnTo>
                  <a:pt x="0" y="24"/>
                </a:lnTo>
                <a:lnTo>
                  <a:pt x="12" y="24"/>
                </a:lnTo>
                <a:close/>
                <a:moveTo>
                  <a:pt x="12" y="48"/>
                </a:moveTo>
                <a:lnTo>
                  <a:pt x="12" y="60"/>
                </a:lnTo>
                <a:lnTo>
                  <a:pt x="0" y="60"/>
                </a:lnTo>
                <a:lnTo>
                  <a:pt x="0" y="48"/>
                </a:lnTo>
                <a:lnTo>
                  <a:pt x="12" y="48"/>
                </a:lnTo>
                <a:close/>
                <a:moveTo>
                  <a:pt x="12" y="72"/>
                </a:moveTo>
                <a:lnTo>
                  <a:pt x="12" y="84"/>
                </a:lnTo>
                <a:lnTo>
                  <a:pt x="0" y="84"/>
                </a:lnTo>
                <a:lnTo>
                  <a:pt x="0" y="72"/>
                </a:lnTo>
                <a:lnTo>
                  <a:pt x="12" y="72"/>
                </a:lnTo>
                <a:close/>
                <a:moveTo>
                  <a:pt x="12" y="96"/>
                </a:moveTo>
                <a:lnTo>
                  <a:pt x="12" y="108"/>
                </a:lnTo>
                <a:lnTo>
                  <a:pt x="0" y="108"/>
                </a:lnTo>
                <a:lnTo>
                  <a:pt x="0" y="96"/>
                </a:lnTo>
                <a:lnTo>
                  <a:pt x="12" y="96"/>
                </a:lnTo>
                <a:close/>
                <a:moveTo>
                  <a:pt x="12" y="120"/>
                </a:moveTo>
                <a:lnTo>
                  <a:pt x="12" y="132"/>
                </a:lnTo>
                <a:lnTo>
                  <a:pt x="0" y="132"/>
                </a:lnTo>
                <a:lnTo>
                  <a:pt x="0" y="120"/>
                </a:lnTo>
                <a:lnTo>
                  <a:pt x="12" y="120"/>
                </a:lnTo>
                <a:close/>
                <a:moveTo>
                  <a:pt x="12" y="144"/>
                </a:moveTo>
                <a:lnTo>
                  <a:pt x="12" y="156"/>
                </a:lnTo>
                <a:lnTo>
                  <a:pt x="0" y="156"/>
                </a:lnTo>
                <a:lnTo>
                  <a:pt x="0" y="144"/>
                </a:lnTo>
                <a:lnTo>
                  <a:pt x="12" y="144"/>
                </a:lnTo>
                <a:close/>
                <a:moveTo>
                  <a:pt x="12" y="168"/>
                </a:moveTo>
                <a:lnTo>
                  <a:pt x="12" y="180"/>
                </a:lnTo>
                <a:lnTo>
                  <a:pt x="0" y="180"/>
                </a:lnTo>
                <a:lnTo>
                  <a:pt x="0" y="168"/>
                </a:lnTo>
                <a:lnTo>
                  <a:pt x="12" y="168"/>
                </a:lnTo>
                <a:close/>
                <a:moveTo>
                  <a:pt x="12" y="192"/>
                </a:moveTo>
                <a:lnTo>
                  <a:pt x="12" y="204"/>
                </a:lnTo>
                <a:lnTo>
                  <a:pt x="0" y="204"/>
                </a:lnTo>
                <a:lnTo>
                  <a:pt x="0" y="192"/>
                </a:lnTo>
                <a:lnTo>
                  <a:pt x="12" y="192"/>
                </a:lnTo>
                <a:close/>
                <a:moveTo>
                  <a:pt x="12" y="216"/>
                </a:moveTo>
                <a:lnTo>
                  <a:pt x="12" y="228"/>
                </a:lnTo>
                <a:lnTo>
                  <a:pt x="0" y="228"/>
                </a:lnTo>
                <a:lnTo>
                  <a:pt x="0" y="216"/>
                </a:lnTo>
                <a:lnTo>
                  <a:pt x="12" y="216"/>
                </a:lnTo>
                <a:close/>
                <a:moveTo>
                  <a:pt x="12" y="240"/>
                </a:moveTo>
                <a:lnTo>
                  <a:pt x="12" y="252"/>
                </a:lnTo>
                <a:lnTo>
                  <a:pt x="0" y="252"/>
                </a:lnTo>
                <a:lnTo>
                  <a:pt x="0" y="240"/>
                </a:lnTo>
                <a:lnTo>
                  <a:pt x="12" y="240"/>
                </a:lnTo>
                <a:close/>
                <a:moveTo>
                  <a:pt x="12" y="264"/>
                </a:moveTo>
                <a:lnTo>
                  <a:pt x="12" y="276"/>
                </a:lnTo>
                <a:lnTo>
                  <a:pt x="0" y="276"/>
                </a:lnTo>
                <a:lnTo>
                  <a:pt x="0" y="264"/>
                </a:lnTo>
                <a:lnTo>
                  <a:pt x="12" y="264"/>
                </a:lnTo>
                <a:close/>
                <a:moveTo>
                  <a:pt x="12" y="288"/>
                </a:moveTo>
                <a:lnTo>
                  <a:pt x="12" y="300"/>
                </a:lnTo>
                <a:lnTo>
                  <a:pt x="0" y="300"/>
                </a:lnTo>
                <a:lnTo>
                  <a:pt x="0" y="288"/>
                </a:lnTo>
                <a:lnTo>
                  <a:pt x="12" y="288"/>
                </a:lnTo>
                <a:close/>
                <a:moveTo>
                  <a:pt x="12" y="312"/>
                </a:moveTo>
                <a:lnTo>
                  <a:pt x="12" y="324"/>
                </a:lnTo>
                <a:lnTo>
                  <a:pt x="0" y="324"/>
                </a:lnTo>
                <a:lnTo>
                  <a:pt x="0" y="312"/>
                </a:lnTo>
                <a:lnTo>
                  <a:pt x="12" y="312"/>
                </a:lnTo>
                <a:close/>
                <a:moveTo>
                  <a:pt x="12" y="336"/>
                </a:moveTo>
                <a:lnTo>
                  <a:pt x="12" y="349"/>
                </a:lnTo>
                <a:lnTo>
                  <a:pt x="0" y="349"/>
                </a:lnTo>
                <a:lnTo>
                  <a:pt x="0" y="336"/>
                </a:lnTo>
                <a:lnTo>
                  <a:pt x="12" y="336"/>
                </a:lnTo>
                <a:close/>
                <a:moveTo>
                  <a:pt x="12" y="360"/>
                </a:moveTo>
                <a:lnTo>
                  <a:pt x="12" y="373"/>
                </a:lnTo>
                <a:lnTo>
                  <a:pt x="0" y="373"/>
                </a:lnTo>
                <a:lnTo>
                  <a:pt x="0" y="360"/>
                </a:lnTo>
                <a:lnTo>
                  <a:pt x="12" y="360"/>
                </a:lnTo>
                <a:close/>
                <a:moveTo>
                  <a:pt x="12" y="385"/>
                </a:moveTo>
                <a:lnTo>
                  <a:pt x="12" y="396"/>
                </a:lnTo>
                <a:lnTo>
                  <a:pt x="0" y="396"/>
                </a:lnTo>
                <a:lnTo>
                  <a:pt x="0" y="385"/>
                </a:lnTo>
                <a:lnTo>
                  <a:pt x="12" y="385"/>
                </a:lnTo>
                <a:close/>
                <a:moveTo>
                  <a:pt x="12" y="409"/>
                </a:moveTo>
                <a:lnTo>
                  <a:pt x="12" y="421"/>
                </a:lnTo>
                <a:lnTo>
                  <a:pt x="0" y="421"/>
                </a:lnTo>
                <a:lnTo>
                  <a:pt x="0" y="409"/>
                </a:lnTo>
                <a:lnTo>
                  <a:pt x="12" y="409"/>
                </a:lnTo>
                <a:close/>
                <a:moveTo>
                  <a:pt x="12" y="433"/>
                </a:moveTo>
                <a:lnTo>
                  <a:pt x="12" y="445"/>
                </a:lnTo>
                <a:lnTo>
                  <a:pt x="0" y="445"/>
                </a:lnTo>
                <a:lnTo>
                  <a:pt x="0" y="433"/>
                </a:lnTo>
                <a:lnTo>
                  <a:pt x="12" y="433"/>
                </a:lnTo>
                <a:close/>
                <a:moveTo>
                  <a:pt x="12" y="457"/>
                </a:moveTo>
                <a:lnTo>
                  <a:pt x="12" y="469"/>
                </a:lnTo>
                <a:lnTo>
                  <a:pt x="0" y="469"/>
                </a:lnTo>
                <a:lnTo>
                  <a:pt x="0" y="457"/>
                </a:lnTo>
                <a:lnTo>
                  <a:pt x="12" y="457"/>
                </a:lnTo>
                <a:close/>
                <a:moveTo>
                  <a:pt x="12" y="481"/>
                </a:moveTo>
                <a:lnTo>
                  <a:pt x="12" y="493"/>
                </a:lnTo>
                <a:lnTo>
                  <a:pt x="0" y="493"/>
                </a:lnTo>
                <a:lnTo>
                  <a:pt x="0" y="481"/>
                </a:lnTo>
                <a:lnTo>
                  <a:pt x="12" y="481"/>
                </a:lnTo>
                <a:close/>
                <a:moveTo>
                  <a:pt x="12" y="505"/>
                </a:moveTo>
                <a:lnTo>
                  <a:pt x="12" y="517"/>
                </a:lnTo>
                <a:lnTo>
                  <a:pt x="0" y="517"/>
                </a:lnTo>
                <a:lnTo>
                  <a:pt x="0" y="505"/>
                </a:lnTo>
                <a:lnTo>
                  <a:pt x="12" y="505"/>
                </a:lnTo>
                <a:close/>
                <a:moveTo>
                  <a:pt x="12" y="529"/>
                </a:moveTo>
                <a:lnTo>
                  <a:pt x="12" y="541"/>
                </a:lnTo>
                <a:lnTo>
                  <a:pt x="0" y="541"/>
                </a:lnTo>
                <a:lnTo>
                  <a:pt x="0" y="529"/>
                </a:lnTo>
                <a:lnTo>
                  <a:pt x="12" y="529"/>
                </a:lnTo>
                <a:close/>
                <a:moveTo>
                  <a:pt x="12" y="553"/>
                </a:moveTo>
                <a:lnTo>
                  <a:pt x="12" y="565"/>
                </a:lnTo>
                <a:lnTo>
                  <a:pt x="0" y="565"/>
                </a:lnTo>
                <a:lnTo>
                  <a:pt x="0" y="553"/>
                </a:lnTo>
                <a:lnTo>
                  <a:pt x="12" y="553"/>
                </a:lnTo>
                <a:close/>
                <a:moveTo>
                  <a:pt x="12" y="577"/>
                </a:moveTo>
                <a:lnTo>
                  <a:pt x="12" y="589"/>
                </a:lnTo>
                <a:lnTo>
                  <a:pt x="0" y="589"/>
                </a:lnTo>
                <a:lnTo>
                  <a:pt x="0" y="577"/>
                </a:lnTo>
                <a:lnTo>
                  <a:pt x="12" y="577"/>
                </a:lnTo>
                <a:close/>
                <a:moveTo>
                  <a:pt x="12" y="601"/>
                </a:moveTo>
                <a:lnTo>
                  <a:pt x="12" y="613"/>
                </a:lnTo>
                <a:lnTo>
                  <a:pt x="0" y="613"/>
                </a:lnTo>
                <a:lnTo>
                  <a:pt x="0" y="601"/>
                </a:lnTo>
                <a:lnTo>
                  <a:pt x="12" y="601"/>
                </a:lnTo>
                <a:close/>
                <a:moveTo>
                  <a:pt x="12" y="625"/>
                </a:moveTo>
                <a:lnTo>
                  <a:pt x="12" y="637"/>
                </a:lnTo>
                <a:lnTo>
                  <a:pt x="0" y="637"/>
                </a:lnTo>
                <a:lnTo>
                  <a:pt x="0" y="625"/>
                </a:lnTo>
                <a:lnTo>
                  <a:pt x="12" y="625"/>
                </a:lnTo>
                <a:close/>
                <a:moveTo>
                  <a:pt x="12" y="649"/>
                </a:moveTo>
                <a:lnTo>
                  <a:pt x="12" y="661"/>
                </a:lnTo>
                <a:lnTo>
                  <a:pt x="0" y="661"/>
                </a:lnTo>
                <a:lnTo>
                  <a:pt x="0" y="649"/>
                </a:lnTo>
                <a:lnTo>
                  <a:pt x="12" y="649"/>
                </a:lnTo>
                <a:close/>
                <a:moveTo>
                  <a:pt x="12" y="673"/>
                </a:moveTo>
                <a:lnTo>
                  <a:pt x="12" y="685"/>
                </a:lnTo>
                <a:lnTo>
                  <a:pt x="0" y="685"/>
                </a:lnTo>
                <a:lnTo>
                  <a:pt x="0" y="673"/>
                </a:lnTo>
                <a:lnTo>
                  <a:pt x="12" y="673"/>
                </a:lnTo>
                <a:close/>
                <a:moveTo>
                  <a:pt x="12" y="697"/>
                </a:moveTo>
                <a:lnTo>
                  <a:pt x="12" y="709"/>
                </a:lnTo>
                <a:lnTo>
                  <a:pt x="0" y="709"/>
                </a:lnTo>
                <a:lnTo>
                  <a:pt x="0" y="697"/>
                </a:lnTo>
                <a:lnTo>
                  <a:pt x="12" y="697"/>
                </a:lnTo>
                <a:close/>
                <a:moveTo>
                  <a:pt x="12" y="721"/>
                </a:moveTo>
                <a:lnTo>
                  <a:pt x="12" y="733"/>
                </a:lnTo>
                <a:lnTo>
                  <a:pt x="0" y="733"/>
                </a:lnTo>
                <a:lnTo>
                  <a:pt x="0" y="721"/>
                </a:lnTo>
                <a:lnTo>
                  <a:pt x="12" y="721"/>
                </a:lnTo>
                <a:close/>
                <a:moveTo>
                  <a:pt x="12" y="745"/>
                </a:moveTo>
                <a:lnTo>
                  <a:pt x="12" y="757"/>
                </a:lnTo>
                <a:lnTo>
                  <a:pt x="0" y="757"/>
                </a:lnTo>
                <a:lnTo>
                  <a:pt x="0" y="745"/>
                </a:lnTo>
                <a:lnTo>
                  <a:pt x="12" y="745"/>
                </a:lnTo>
                <a:close/>
                <a:moveTo>
                  <a:pt x="12" y="769"/>
                </a:moveTo>
                <a:lnTo>
                  <a:pt x="12" y="781"/>
                </a:lnTo>
                <a:lnTo>
                  <a:pt x="0" y="781"/>
                </a:lnTo>
                <a:lnTo>
                  <a:pt x="0" y="769"/>
                </a:lnTo>
                <a:lnTo>
                  <a:pt x="12" y="769"/>
                </a:lnTo>
                <a:close/>
                <a:moveTo>
                  <a:pt x="12" y="793"/>
                </a:moveTo>
                <a:lnTo>
                  <a:pt x="12" y="805"/>
                </a:lnTo>
                <a:lnTo>
                  <a:pt x="0" y="805"/>
                </a:lnTo>
                <a:lnTo>
                  <a:pt x="0" y="793"/>
                </a:lnTo>
                <a:lnTo>
                  <a:pt x="12" y="793"/>
                </a:lnTo>
                <a:close/>
                <a:moveTo>
                  <a:pt x="12" y="817"/>
                </a:moveTo>
                <a:lnTo>
                  <a:pt x="12" y="829"/>
                </a:lnTo>
                <a:lnTo>
                  <a:pt x="0" y="829"/>
                </a:lnTo>
                <a:lnTo>
                  <a:pt x="0" y="817"/>
                </a:lnTo>
                <a:lnTo>
                  <a:pt x="12" y="817"/>
                </a:lnTo>
                <a:close/>
                <a:moveTo>
                  <a:pt x="12" y="841"/>
                </a:moveTo>
                <a:lnTo>
                  <a:pt x="12" y="853"/>
                </a:lnTo>
                <a:lnTo>
                  <a:pt x="0" y="853"/>
                </a:lnTo>
                <a:lnTo>
                  <a:pt x="0" y="841"/>
                </a:lnTo>
                <a:lnTo>
                  <a:pt x="12" y="841"/>
                </a:lnTo>
                <a:close/>
                <a:moveTo>
                  <a:pt x="12" y="865"/>
                </a:moveTo>
                <a:lnTo>
                  <a:pt x="12" y="877"/>
                </a:lnTo>
                <a:lnTo>
                  <a:pt x="0" y="877"/>
                </a:lnTo>
                <a:lnTo>
                  <a:pt x="0" y="865"/>
                </a:lnTo>
                <a:lnTo>
                  <a:pt x="12" y="865"/>
                </a:lnTo>
                <a:close/>
                <a:moveTo>
                  <a:pt x="12" y="890"/>
                </a:moveTo>
                <a:lnTo>
                  <a:pt x="12" y="901"/>
                </a:lnTo>
                <a:lnTo>
                  <a:pt x="0" y="901"/>
                </a:lnTo>
                <a:lnTo>
                  <a:pt x="0" y="890"/>
                </a:lnTo>
                <a:lnTo>
                  <a:pt x="12" y="890"/>
                </a:lnTo>
                <a:close/>
                <a:moveTo>
                  <a:pt x="12" y="914"/>
                </a:moveTo>
                <a:lnTo>
                  <a:pt x="12" y="926"/>
                </a:lnTo>
                <a:lnTo>
                  <a:pt x="0" y="926"/>
                </a:lnTo>
                <a:lnTo>
                  <a:pt x="0" y="914"/>
                </a:lnTo>
                <a:lnTo>
                  <a:pt x="12" y="914"/>
                </a:lnTo>
                <a:close/>
                <a:moveTo>
                  <a:pt x="12" y="937"/>
                </a:moveTo>
                <a:lnTo>
                  <a:pt x="12" y="950"/>
                </a:lnTo>
                <a:lnTo>
                  <a:pt x="0" y="950"/>
                </a:lnTo>
                <a:lnTo>
                  <a:pt x="0" y="937"/>
                </a:lnTo>
                <a:lnTo>
                  <a:pt x="12" y="937"/>
                </a:lnTo>
                <a:close/>
                <a:moveTo>
                  <a:pt x="12" y="962"/>
                </a:moveTo>
                <a:lnTo>
                  <a:pt x="12" y="974"/>
                </a:lnTo>
                <a:lnTo>
                  <a:pt x="0" y="974"/>
                </a:lnTo>
                <a:lnTo>
                  <a:pt x="0" y="962"/>
                </a:lnTo>
                <a:lnTo>
                  <a:pt x="12" y="962"/>
                </a:lnTo>
                <a:close/>
                <a:moveTo>
                  <a:pt x="12" y="986"/>
                </a:moveTo>
                <a:lnTo>
                  <a:pt x="12" y="998"/>
                </a:lnTo>
                <a:lnTo>
                  <a:pt x="0" y="998"/>
                </a:lnTo>
                <a:lnTo>
                  <a:pt x="0" y="986"/>
                </a:lnTo>
                <a:lnTo>
                  <a:pt x="12" y="986"/>
                </a:lnTo>
                <a:close/>
                <a:moveTo>
                  <a:pt x="12" y="1010"/>
                </a:moveTo>
                <a:lnTo>
                  <a:pt x="12" y="1022"/>
                </a:lnTo>
                <a:lnTo>
                  <a:pt x="0" y="1022"/>
                </a:lnTo>
                <a:lnTo>
                  <a:pt x="0" y="1010"/>
                </a:lnTo>
                <a:lnTo>
                  <a:pt x="12" y="1010"/>
                </a:lnTo>
                <a:close/>
                <a:moveTo>
                  <a:pt x="12" y="1034"/>
                </a:moveTo>
                <a:lnTo>
                  <a:pt x="12" y="1046"/>
                </a:lnTo>
                <a:lnTo>
                  <a:pt x="0" y="1046"/>
                </a:lnTo>
                <a:lnTo>
                  <a:pt x="0" y="1034"/>
                </a:lnTo>
                <a:lnTo>
                  <a:pt x="12" y="1034"/>
                </a:lnTo>
                <a:close/>
                <a:moveTo>
                  <a:pt x="12" y="1058"/>
                </a:moveTo>
                <a:lnTo>
                  <a:pt x="12" y="1070"/>
                </a:lnTo>
                <a:lnTo>
                  <a:pt x="0" y="1070"/>
                </a:lnTo>
                <a:lnTo>
                  <a:pt x="0" y="1058"/>
                </a:lnTo>
                <a:lnTo>
                  <a:pt x="12" y="1058"/>
                </a:lnTo>
                <a:close/>
                <a:moveTo>
                  <a:pt x="12" y="1082"/>
                </a:moveTo>
                <a:lnTo>
                  <a:pt x="12" y="1094"/>
                </a:lnTo>
                <a:lnTo>
                  <a:pt x="0" y="1094"/>
                </a:lnTo>
                <a:lnTo>
                  <a:pt x="0" y="1082"/>
                </a:lnTo>
                <a:lnTo>
                  <a:pt x="12" y="1082"/>
                </a:lnTo>
                <a:close/>
                <a:moveTo>
                  <a:pt x="12" y="1106"/>
                </a:moveTo>
                <a:lnTo>
                  <a:pt x="12" y="1118"/>
                </a:lnTo>
                <a:lnTo>
                  <a:pt x="0" y="1118"/>
                </a:lnTo>
                <a:lnTo>
                  <a:pt x="0" y="1106"/>
                </a:lnTo>
                <a:lnTo>
                  <a:pt x="12" y="1106"/>
                </a:lnTo>
                <a:close/>
                <a:moveTo>
                  <a:pt x="12" y="1130"/>
                </a:moveTo>
                <a:lnTo>
                  <a:pt x="12" y="1142"/>
                </a:lnTo>
                <a:lnTo>
                  <a:pt x="0" y="1142"/>
                </a:lnTo>
                <a:lnTo>
                  <a:pt x="0" y="1130"/>
                </a:lnTo>
                <a:lnTo>
                  <a:pt x="12" y="1130"/>
                </a:lnTo>
                <a:close/>
                <a:moveTo>
                  <a:pt x="12" y="1154"/>
                </a:moveTo>
                <a:lnTo>
                  <a:pt x="12" y="1166"/>
                </a:lnTo>
                <a:lnTo>
                  <a:pt x="0" y="1166"/>
                </a:lnTo>
                <a:lnTo>
                  <a:pt x="0" y="1154"/>
                </a:lnTo>
                <a:lnTo>
                  <a:pt x="12" y="1154"/>
                </a:lnTo>
                <a:close/>
                <a:moveTo>
                  <a:pt x="12" y="1178"/>
                </a:moveTo>
                <a:lnTo>
                  <a:pt x="12" y="1190"/>
                </a:lnTo>
                <a:lnTo>
                  <a:pt x="0" y="1190"/>
                </a:lnTo>
                <a:lnTo>
                  <a:pt x="0" y="1178"/>
                </a:lnTo>
                <a:lnTo>
                  <a:pt x="12" y="1178"/>
                </a:lnTo>
                <a:close/>
                <a:moveTo>
                  <a:pt x="12" y="1202"/>
                </a:moveTo>
                <a:lnTo>
                  <a:pt x="12" y="1214"/>
                </a:lnTo>
                <a:lnTo>
                  <a:pt x="0" y="1214"/>
                </a:lnTo>
                <a:lnTo>
                  <a:pt x="0" y="1202"/>
                </a:lnTo>
                <a:lnTo>
                  <a:pt x="12" y="1202"/>
                </a:lnTo>
                <a:close/>
                <a:moveTo>
                  <a:pt x="12" y="1226"/>
                </a:moveTo>
                <a:lnTo>
                  <a:pt x="12" y="1238"/>
                </a:lnTo>
                <a:lnTo>
                  <a:pt x="0" y="1238"/>
                </a:lnTo>
                <a:lnTo>
                  <a:pt x="0" y="1226"/>
                </a:lnTo>
                <a:lnTo>
                  <a:pt x="12" y="1226"/>
                </a:lnTo>
                <a:close/>
                <a:moveTo>
                  <a:pt x="12" y="1250"/>
                </a:moveTo>
                <a:lnTo>
                  <a:pt x="12" y="1262"/>
                </a:lnTo>
                <a:lnTo>
                  <a:pt x="0" y="1262"/>
                </a:lnTo>
                <a:lnTo>
                  <a:pt x="0" y="1250"/>
                </a:lnTo>
                <a:lnTo>
                  <a:pt x="12" y="1250"/>
                </a:lnTo>
                <a:close/>
                <a:moveTo>
                  <a:pt x="12" y="1274"/>
                </a:moveTo>
                <a:lnTo>
                  <a:pt x="12" y="1286"/>
                </a:lnTo>
                <a:lnTo>
                  <a:pt x="0" y="1286"/>
                </a:lnTo>
                <a:lnTo>
                  <a:pt x="0" y="1274"/>
                </a:lnTo>
                <a:lnTo>
                  <a:pt x="12" y="1274"/>
                </a:lnTo>
                <a:close/>
                <a:moveTo>
                  <a:pt x="12" y="1298"/>
                </a:moveTo>
                <a:lnTo>
                  <a:pt x="12" y="1310"/>
                </a:lnTo>
                <a:lnTo>
                  <a:pt x="0" y="1310"/>
                </a:lnTo>
                <a:lnTo>
                  <a:pt x="0" y="1298"/>
                </a:lnTo>
                <a:lnTo>
                  <a:pt x="12" y="1298"/>
                </a:lnTo>
                <a:close/>
                <a:moveTo>
                  <a:pt x="12" y="1322"/>
                </a:moveTo>
                <a:lnTo>
                  <a:pt x="12" y="1334"/>
                </a:lnTo>
                <a:lnTo>
                  <a:pt x="0" y="1334"/>
                </a:lnTo>
                <a:lnTo>
                  <a:pt x="0" y="1322"/>
                </a:lnTo>
                <a:lnTo>
                  <a:pt x="12" y="1322"/>
                </a:lnTo>
                <a:close/>
                <a:moveTo>
                  <a:pt x="12" y="1346"/>
                </a:moveTo>
                <a:lnTo>
                  <a:pt x="12" y="1358"/>
                </a:lnTo>
                <a:lnTo>
                  <a:pt x="0" y="1358"/>
                </a:lnTo>
                <a:lnTo>
                  <a:pt x="0" y="1346"/>
                </a:lnTo>
                <a:lnTo>
                  <a:pt x="12" y="1346"/>
                </a:lnTo>
                <a:close/>
                <a:moveTo>
                  <a:pt x="12" y="1370"/>
                </a:moveTo>
                <a:lnTo>
                  <a:pt x="12" y="1382"/>
                </a:lnTo>
                <a:lnTo>
                  <a:pt x="0" y="1382"/>
                </a:lnTo>
                <a:lnTo>
                  <a:pt x="0" y="1370"/>
                </a:lnTo>
                <a:lnTo>
                  <a:pt x="12" y="1370"/>
                </a:lnTo>
                <a:close/>
                <a:moveTo>
                  <a:pt x="12" y="1395"/>
                </a:moveTo>
                <a:lnTo>
                  <a:pt x="12" y="1406"/>
                </a:lnTo>
                <a:lnTo>
                  <a:pt x="0" y="1406"/>
                </a:lnTo>
                <a:lnTo>
                  <a:pt x="0" y="1395"/>
                </a:lnTo>
                <a:lnTo>
                  <a:pt x="12" y="1395"/>
                </a:lnTo>
                <a:close/>
                <a:moveTo>
                  <a:pt x="12" y="1418"/>
                </a:moveTo>
                <a:lnTo>
                  <a:pt x="12" y="1431"/>
                </a:lnTo>
                <a:lnTo>
                  <a:pt x="0" y="1431"/>
                </a:lnTo>
                <a:lnTo>
                  <a:pt x="0" y="1418"/>
                </a:lnTo>
                <a:lnTo>
                  <a:pt x="12" y="1418"/>
                </a:lnTo>
                <a:close/>
                <a:moveTo>
                  <a:pt x="12" y="1442"/>
                </a:moveTo>
                <a:lnTo>
                  <a:pt x="12" y="1455"/>
                </a:lnTo>
                <a:lnTo>
                  <a:pt x="0" y="1455"/>
                </a:lnTo>
                <a:lnTo>
                  <a:pt x="0" y="1442"/>
                </a:lnTo>
                <a:lnTo>
                  <a:pt x="12" y="1442"/>
                </a:lnTo>
                <a:close/>
                <a:moveTo>
                  <a:pt x="12" y="1467"/>
                </a:moveTo>
                <a:lnTo>
                  <a:pt x="12" y="1478"/>
                </a:lnTo>
                <a:lnTo>
                  <a:pt x="0" y="1478"/>
                </a:lnTo>
                <a:lnTo>
                  <a:pt x="0" y="1467"/>
                </a:lnTo>
                <a:lnTo>
                  <a:pt x="12" y="1467"/>
                </a:lnTo>
                <a:close/>
                <a:moveTo>
                  <a:pt x="12" y="1491"/>
                </a:moveTo>
                <a:lnTo>
                  <a:pt x="12" y="1503"/>
                </a:lnTo>
                <a:lnTo>
                  <a:pt x="0" y="1503"/>
                </a:lnTo>
                <a:lnTo>
                  <a:pt x="0" y="1491"/>
                </a:lnTo>
                <a:lnTo>
                  <a:pt x="12" y="1491"/>
                </a:lnTo>
                <a:close/>
                <a:moveTo>
                  <a:pt x="12" y="1515"/>
                </a:moveTo>
                <a:lnTo>
                  <a:pt x="12" y="1527"/>
                </a:lnTo>
                <a:lnTo>
                  <a:pt x="0" y="1527"/>
                </a:lnTo>
                <a:lnTo>
                  <a:pt x="0" y="1515"/>
                </a:lnTo>
                <a:lnTo>
                  <a:pt x="12" y="1515"/>
                </a:lnTo>
                <a:close/>
                <a:moveTo>
                  <a:pt x="12" y="1539"/>
                </a:moveTo>
                <a:lnTo>
                  <a:pt x="12" y="1551"/>
                </a:lnTo>
                <a:lnTo>
                  <a:pt x="0" y="1551"/>
                </a:lnTo>
                <a:lnTo>
                  <a:pt x="0" y="1539"/>
                </a:lnTo>
                <a:lnTo>
                  <a:pt x="12" y="1539"/>
                </a:lnTo>
                <a:close/>
                <a:moveTo>
                  <a:pt x="12" y="1563"/>
                </a:moveTo>
                <a:lnTo>
                  <a:pt x="12" y="1575"/>
                </a:lnTo>
                <a:lnTo>
                  <a:pt x="0" y="1575"/>
                </a:lnTo>
                <a:lnTo>
                  <a:pt x="0" y="1563"/>
                </a:lnTo>
                <a:lnTo>
                  <a:pt x="12" y="1563"/>
                </a:lnTo>
                <a:close/>
                <a:moveTo>
                  <a:pt x="12" y="1587"/>
                </a:moveTo>
                <a:lnTo>
                  <a:pt x="12" y="1599"/>
                </a:lnTo>
                <a:lnTo>
                  <a:pt x="0" y="1599"/>
                </a:lnTo>
                <a:lnTo>
                  <a:pt x="0" y="1587"/>
                </a:lnTo>
                <a:lnTo>
                  <a:pt x="12" y="1587"/>
                </a:lnTo>
                <a:close/>
                <a:moveTo>
                  <a:pt x="12" y="1611"/>
                </a:moveTo>
                <a:lnTo>
                  <a:pt x="12" y="1623"/>
                </a:lnTo>
                <a:lnTo>
                  <a:pt x="0" y="1623"/>
                </a:lnTo>
                <a:lnTo>
                  <a:pt x="0" y="1611"/>
                </a:lnTo>
                <a:lnTo>
                  <a:pt x="12" y="1611"/>
                </a:lnTo>
                <a:close/>
                <a:moveTo>
                  <a:pt x="12" y="1635"/>
                </a:moveTo>
                <a:lnTo>
                  <a:pt x="12" y="1647"/>
                </a:lnTo>
                <a:lnTo>
                  <a:pt x="0" y="1647"/>
                </a:lnTo>
                <a:lnTo>
                  <a:pt x="0" y="1635"/>
                </a:lnTo>
                <a:lnTo>
                  <a:pt x="12" y="1635"/>
                </a:lnTo>
                <a:close/>
                <a:moveTo>
                  <a:pt x="12" y="1659"/>
                </a:moveTo>
                <a:lnTo>
                  <a:pt x="12" y="1671"/>
                </a:lnTo>
                <a:lnTo>
                  <a:pt x="0" y="1671"/>
                </a:lnTo>
                <a:lnTo>
                  <a:pt x="0" y="1659"/>
                </a:lnTo>
                <a:lnTo>
                  <a:pt x="12" y="1659"/>
                </a:lnTo>
                <a:close/>
                <a:moveTo>
                  <a:pt x="12" y="1683"/>
                </a:moveTo>
                <a:lnTo>
                  <a:pt x="12" y="1695"/>
                </a:lnTo>
                <a:lnTo>
                  <a:pt x="0" y="1695"/>
                </a:lnTo>
                <a:lnTo>
                  <a:pt x="0" y="1683"/>
                </a:lnTo>
                <a:lnTo>
                  <a:pt x="12" y="1683"/>
                </a:lnTo>
                <a:close/>
                <a:moveTo>
                  <a:pt x="12" y="1707"/>
                </a:moveTo>
                <a:lnTo>
                  <a:pt x="12" y="1719"/>
                </a:lnTo>
                <a:lnTo>
                  <a:pt x="0" y="1719"/>
                </a:lnTo>
                <a:lnTo>
                  <a:pt x="0" y="1707"/>
                </a:lnTo>
                <a:lnTo>
                  <a:pt x="12" y="1707"/>
                </a:lnTo>
                <a:close/>
                <a:moveTo>
                  <a:pt x="12" y="1731"/>
                </a:moveTo>
                <a:lnTo>
                  <a:pt x="12" y="1743"/>
                </a:lnTo>
                <a:lnTo>
                  <a:pt x="0" y="1743"/>
                </a:lnTo>
                <a:lnTo>
                  <a:pt x="0" y="1731"/>
                </a:lnTo>
                <a:lnTo>
                  <a:pt x="12" y="1731"/>
                </a:lnTo>
                <a:close/>
                <a:moveTo>
                  <a:pt x="12" y="1755"/>
                </a:moveTo>
                <a:lnTo>
                  <a:pt x="12" y="1767"/>
                </a:lnTo>
                <a:lnTo>
                  <a:pt x="0" y="1767"/>
                </a:lnTo>
                <a:lnTo>
                  <a:pt x="0" y="1755"/>
                </a:lnTo>
                <a:lnTo>
                  <a:pt x="12" y="1755"/>
                </a:lnTo>
                <a:close/>
                <a:moveTo>
                  <a:pt x="12" y="1779"/>
                </a:moveTo>
                <a:lnTo>
                  <a:pt x="12" y="1791"/>
                </a:lnTo>
                <a:lnTo>
                  <a:pt x="0" y="1791"/>
                </a:lnTo>
                <a:lnTo>
                  <a:pt x="0" y="1779"/>
                </a:lnTo>
                <a:lnTo>
                  <a:pt x="12" y="1779"/>
                </a:lnTo>
                <a:close/>
                <a:moveTo>
                  <a:pt x="12" y="1803"/>
                </a:moveTo>
                <a:lnTo>
                  <a:pt x="12" y="1815"/>
                </a:lnTo>
                <a:lnTo>
                  <a:pt x="0" y="1815"/>
                </a:lnTo>
                <a:lnTo>
                  <a:pt x="0" y="1803"/>
                </a:lnTo>
                <a:lnTo>
                  <a:pt x="12" y="1803"/>
                </a:lnTo>
                <a:close/>
                <a:moveTo>
                  <a:pt x="12" y="1827"/>
                </a:moveTo>
                <a:lnTo>
                  <a:pt x="12" y="1839"/>
                </a:lnTo>
                <a:lnTo>
                  <a:pt x="0" y="1839"/>
                </a:lnTo>
                <a:lnTo>
                  <a:pt x="0" y="1827"/>
                </a:lnTo>
                <a:lnTo>
                  <a:pt x="12" y="1827"/>
                </a:lnTo>
                <a:close/>
                <a:moveTo>
                  <a:pt x="12" y="1851"/>
                </a:moveTo>
                <a:lnTo>
                  <a:pt x="12" y="1863"/>
                </a:lnTo>
                <a:lnTo>
                  <a:pt x="0" y="1863"/>
                </a:lnTo>
                <a:lnTo>
                  <a:pt x="0" y="1851"/>
                </a:lnTo>
                <a:lnTo>
                  <a:pt x="12" y="1851"/>
                </a:lnTo>
                <a:close/>
                <a:moveTo>
                  <a:pt x="12" y="1875"/>
                </a:moveTo>
                <a:lnTo>
                  <a:pt x="12" y="1887"/>
                </a:lnTo>
                <a:lnTo>
                  <a:pt x="0" y="1887"/>
                </a:lnTo>
                <a:lnTo>
                  <a:pt x="0" y="1875"/>
                </a:lnTo>
                <a:lnTo>
                  <a:pt x="12" y="1875"/>
                </a:lnTo>
                <a:close/>
                <a:moveTo>
                  <a:pt x="12" y="1899"/>
                </a:moveTo>
                <a:lnTo>
                  <a:pt x="12" y="1911"/>
                </a:lnTo>
                <a:lnTo>
                  <a:pt x="0" y="1911"/>
                </a:lnTo>
                <a:lnTo>
                  <a:pt x="0" y="1899"/>
                </a:lnTo>
                <a:lnTo>
                  <a:pt x="12" y="1899"/>
                </a:lnTo>
                <a:close/>
                <a:moveTo>
                  <a:pt x="12" y="1923"/>
                </a:moveTo>
                <a:lnTo>
                  <a:pt x="12" y="1936"/>
                </a:lnTo>
                <a:lnTo>
                  <a:pt x="0" y="1936"/>
                </a:lnTo>
                <a:lnTo>
                  <a:pt x="0" y="1923"/>
                </a:lnTo>
                <a:lnTo>
                  <a:pt x="12" y="1923"/>
                </a:lnTo>
                <a:close/>
                <a:moveTo>
                  <a:pt x="12" y="1947"/>
                </a:moveTo>
                <a:lnTo>
                  <a:pt x="12" y="1959"/>
                </a:lnTo>
                <a:lnTo>
                  <a:pt x="0" y="1959"/>
                </a:lnTo>
                <a:lnTo>
                  <a:pt x="0" y="1947"/>
                </a:lnTo>
                <a:lnTo>
                  <a:pt x="12" y="1947"/>
                </a:lnTo>
                <a:close/>
                <a:moveTo>
                  <a:pt x="12" y="1972"/>
                </a:moveTo>
                <a:lnTo>
                  <a:pt x="12" y="1983"/>
                </a:lnTo>
                <a:lnTo>
                  <a:pt x="0" y="1983"/>
                </a:lnTo>
                <a:lnTo>
                  <a:pt x="0" y="1972"/>
                </a:lnTo>
                <a:lnTo>
                  <a:pt x="12" y="1972"/>
                </a:lnTo>
                <a:close/>
                <a:moveTo>
                  <a:pt x="12" y="1996"/>
                </a:moveTo>
                <a:lnTo>
                  <a:pt x="12" y="2008"/>
                </a:lnTo>
                <a:lnTo>
                  <a:pt x="0" y="2008"/>
                </a:lnTo>
                <a:lnTo>
                  <a:pt x="0" y="1996"/>
                </a:lnTo>
                <a:lnTo>
                  <a:pt x="12" y="1996"/>
                </a:lnTo>
                <a:close/>
                <a:moveTo>
                  <a:pt x="12" y="2019"/>
                </a:moveTo>
                <a:lnTo>
                  <a:pt x="12" y="2032"/>
                </a:lnTo>
                <a:lnTo>
                  <a:pt x="0" y="2032"/>
                </a:lnTo>
                <a:lnTo>
                  <a:pt x="0" y="2019"/>
                </a:lnTo>
                <a:lnTo>
                  <a:pt x="12" y="2019"/>
                </a:lnTo>
                <a:close/>
                <a:moveTo>
                  <a:pt x="12" y="2044"/>
                </a:moveTo>
                <a:lnTo>
                  <a:pt x="12" y="2056"/>
                </a:lnTo>
                <a:lnTo>
                  <a:pt x="0" y="2056"/>
                </a:lnTo>
                <a:lnTo>
                  <a:pt x="0" y="2044"/>
                </a:lnTo>
                <a:lnTo>
                  <a:pt x="12" y="2044"/>
                </a:lnTo>
                <a:close/>
                <a:moveTo>
                  <a:pt x="12" y="2068"/>
                </a:moveTo>
                <a:lnTo>
                  <a:pt x="12" y="2080"/>
                </a:lnTo>
                <a:lnTo>
                  <a:pt x="0" y="2080"/>
                </a:lnTo>
                <a:lnTo>
                  <a:pt x="0" y="2068"/>
                </a:lnTo>
                <a:lnTo>
                  <a:pt x="12" y="2068"/>
                </a:lnTo>
                <a:close/>
                <a:moveTo>
                  <a:pt x="12" y="2092"/>
                </a:moveTo>
                <a:lnTo>
                  <a:pt x="12" y="2104"/>
                </a:lnTo>
                <a:lnTo>
                  <a:pt x="0" y="2104"/>
                </a:lnTo>
                <a:lnTo>
                  <a:pt x="0" y="2092"/>
                </a:lnTo>
                <a:lnTo>
                  <a:pt x="12" y="2092"/>
                </a:lnTo>
                <a:close/>
                <a:moveTo>
                  <a:pt x="12" y="2116"/>
                </a:moveTo>
                <a:lnTo>
                  <a:pt x="12" y="2128"/>
                </a:lnTo>
                <a:lnTo>
                  <a:pt x="0" y="2128"/>
                </a:lnTo>
                <a:lnTo>
                  <a:pt x="0" y="2116"/>
                </a:lnTo>
                <a:lnTo>
                  <a:pt x="12" y="2116"/>
                </a:lnTo>
                <a:close/>
                <a:moveTo>
                  <a:pt x="12" y="2140"/>
                </a:moveTo>
                <a:lnTo>
                  <a:pt x="12" y="2152"/>
                </a:lnTo>
                <a:lnTo>
                  <a:pt x="0" y="2152"/>
                </a:lnTo>
                <a:lnTo>
                  <a:pt x="0" y="2140"/>
                </a:lnTo>
                <a:lnTo>
                  <a:pt x="12" y="2140"/>
                </a:lnTo>
                <a:close/>
                <a:moveTo>
                  <a:pt x="12" y="2164"/>
                </a:moveTo>
                <a:lnTo>
                  <a:pt x="12" y="2176"/>
                </a:lnTo>
                <a:lnTo>
                  <a:pt x="0" y="2176"/>
                </a:lnTo>
                <a:lnTo>
                  <a:pt x="0" y="2164"/>
                </a:lnTo>
                <a:lnTo>
                  <a:pt x="12" y="2164"/>
                </a:lnTo>
                <a:close/>
                <a:moveTo>
                  <a:pt x="12" y="2188"/>
                </a:moveTo>
                <a:lnTo>
                  <a:pt x="12" y="2200"/>
                </a:lnTo>
                <a:lnTo>
                  <a:pt x="0" y="2200"/>
                </a:lnTo>
                <a:lnTo>
                  <a:pt x="0" y="2188"/>
                </a:lnTo>
                <a:lnTo>
                  <a:pt x="12" y="2188"/>
                </a:lnTo>
                <a:close/>
                <a:moveTo>
                  <a:pt x="12" y="2212"/>
                </a:moveTo>
                <a:lnTo>
                  <a:pt x="12" y="2224"/>
                </a:lnTo>
                <a:lnTo>
                  <a:pt x="0" y="2224"/>
                </a:lnTo>
                <a:lnTo>
                  <a:pt x="0" y="2212"/>
                </a:lnTo>
                <a:lnTo>
                  <a:pt x="12" y="2212"/>
                </a:lnTo>
                <a:close/>
                <a:moveTo>
                  <a:pt x="12" y="2236"/>
                </a:moveTo>
                <a:lnTo>
                  <a:pt x="12" y="2248"/>
                </a:lnTo>
                <a:lnTo>
                  <a:pt x="0" y="2248"/>
                </a:lnTo>
                <a:lnTo>
                  <a:pt x="0" y="2236"/>
                </a:lnTo>
                <a:lnTo>
                  <a:pt x="12" y="2236"/>
                </a:lnTo>
                <a:close/>
                <a:moveTo>
                  <a:pt x="12" y="2260"/>
                </a:moveTo>
                <a:lnTo>
                  <a:pt x="12" y="2272"/>
                </a:lnTo>
                <a:lnTo>
                  <a:pt x="0" y="2272"/>
                </a:lnTo>
                <a:lnTo>
                  <a:pt x="0" y="2260"/>
                </a:lnTo>
                <a:lnTo>
                  <a:pt x="12" y="2260"/>
                </a:lnTo>
                <a:close/>
                <a:moveTo>
                  <a:pt x="12" y="2284"/>
                </a:moveTo>
                <a:lnTo>
                  <a:pt x="12" y="2296"/>
                </a:lnTo>
                <a:lnTo>
                  <a:pt x="0" y="2296"/>
                </a:lnTo>
                <a:lnTo>
                  <a:pt x="0" y="2284"/>
                </a:lnTo>
                <a:lnTo>
                  <a:pt x="12" y="2284"/>
                </a:lnTo>
                <a:close/>
                <a:moveTo>
                  <a:pt x="12" y="2308"/>
                </a:moveTo>
                <a:lnTo>
                  <a:pt x="12" y="2320"/>
                </a:lnTo>
                <a:lnTo>
                  <a:pt x="0" y="2320"/>
                </a:lnTo>
                <a:lnTo>
                  <a:pt x="0" y="2308"/>
                </a:lnTo>
                <a:lnTo>
                  <a:pt x="12" y="2308"/>
                </a:lnTo>
                <a:close/>
                <a:moveTo>
                  <a:pt x="12" y="2332"/>
                </a:moveTo>
                <a:lnTo>
                  <a:pt x="12" y="2344"/>
                </a:lnTo>
                <a:lnTo>
                  <a:pt x="0" y="2344"/>
                </a:lnTo>
                <a:lnTo>
                  <a:pt x="0" y="2332"/>
                </a:lnTo>
                <a:lnTo>
                  <a:pt x="12" y="2332"/>
                </a:lnTo>
                <a:close/>
                <a:moveTo>
                  <a:pt x="12" y="2356"/>
                </a:moveTo>
                <a:lnTo>
                  <a:pt x="12" y="2368"/>
                </a:lnTo>
                <a:lnTo>
                  <a:pt x="0" y="2368"/>
                </a:lnTo>
                <a:lnTo>
                  <a:pt x="0" y="2356"/>
                </a:lnTo>
                <a:lnTo>
                  <a:pt x="12" y="2356"/>
                </a:lnTo>
                <a:close/>
                <a:moveTo>
                  <a:pt x="12" y="2380"/>
                </a:moveTo>
                <a:lnTo>
                  <a:pt x="12" y="2392"/>
                </a:lnTo>
                <a:lnTo>
                  <a:pt x="0" y="2392"/>
                </a:lnTo>
                <a:lnTo>
                  <a:pt x="0" y="2380"/>
                </a:lnTo>
                <a:lnTo>
                  <a:pt x="12" y="2380"/>
                </a:lnTo>
                <a:close/>
                <a:moveTo>
                  <a:pt x="12" y="2404"/>
                </a:moveTo>
                <a:lnTo>
                  <a:pt x="12" y="2416"/>
                </a:lnTo>
                <a:lnTo>
                  <a:pt x="0" y="2416"/>
                </a:lnTo>
                <a:lnTo>
                  <a:pt x="0" y="2404"/>
                </a:lnTo>
                <a:lnTo>
                  <a:pt x="12" y="2404"/>
                </a:lnTo>
                <a:close/>
                <a:moveTo>
                  <a:pt x="12" y="2428"/>
                </a:moveTo>
                <a:lnTo>
                  <a:pt x="12" y="2440"/>
                </a:lnTo>
                <a:lnTo>
                  <a:pt x="0" y="2440"/>
                </a:lnTo>
                <a:lnTo>
                  <a:pt x="0" y="2428"/>
                </a:lnTo>
                <a:lnTo>
                  <a:pt x="12" y="2428"/>
                </a:lnTo>
                <a:close/>
                <a:moveTo>
                  <a:pt x="12" y="2452"/>
                </a:moveTo>
                <a:lnTo>
                  <a:pt x="12" y="2464"/>
                </a:lnTo>
                <a:lnTo>
                  <a:pt x="0" y="2464"/>
                </a:lnTo>
                <a:lnTo>
                  <a:pt x="0" y="2452"/>
                </a:lnTo>
                <a:lnTo>
                  <a:pt x="12" y="2452"/>
                </a:lnTo>
                <a:close/>
                <a:moveTo>
                  <a:pt x="12" y="2477"/>
                </a:moveTo>
                <a:lnTo>
                  <a:pt x="12" y="2488"/>
                </a:lnTo>
                <a:lnTo>
                  <a:pt x="0" y="2488"/>
                </a:lnTo>
                <a:lnTo>
                  <a:pt x="0" y="2477"/>
                </a:lnTo>
                <a:lnTo>
                  <a:pt x="12" y="2477"/>
                </a:lnTo>
                <a:close/>
                <a:moveTo>
                  <a:pt x="12" y="2500"/>
                </a:moveTo>
                <a:lnTo>
                  <a:pt x="12" y="2513"/>
                </a:lnTo>
                <a:lnTo>
                  <a:pt x="0" y="2513"/>
                </a:lnTo>
                <a:lnTo>
                  <a:pt x="0" y="2500"/>
                </a:lnTo>
                <a:lnTo>
                  <a:pt x="12" y="2500"/>
                </a:lnTo>
                <a:close/>
                <a:moveTo>
                  <a:pt x="12" y="2524"/>
                </a:moveTo>
                <a:lnTo>
                  <a:pt x="12" y="2537"/>
                </a:lnTo>
                <a:lnTo>
                  <a:pt x="0" y="2537"/>
                </a:lnTo>
                <a:lnTo>
                  <a:pt x="0" y="2524"/>
                </a:lnTo>
                <a:lnTo>
                  <a:pt x="12" y="2524"/>
                </a:lnTo>
                <a:close/>
                <a:moveTo>
                  <a:pt x="12" y="2549"/>
                </a:moveTo>
                <a:lnTo>
                  <a:pt x="12" y="2560"/>
                </a:lnTo>
                <a:lnTo>
                  <a:pt x="0" y="2560"/>
                </a:lnTo>
                <a:lnTo>
                  <a:pt x="0" y="2549"/>
                </a:lnTo>
                <a:lnTo>
                  <a:pt x="12" y="2549"/>
                </a:lnTo>
                <a:close/>
              </a:path>
            </a:pathLst>
          </a:custGeom>
          <a:solidFill>
            <a:srgbClr val="000000"/>
          </a:solidFill>
          <a:ln w="0" cap="flat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91" name="Freeform 88">
            <a:extLst>
              <a:ext uri="{FF2B5EF4-FFF2-40B4-BE49-F238E27FC236}">
                <a16:creationId xmlns:a16="http://schemas.microsoft.com/office/drawing/2014/main" id="{6718C85D-4F47-4971-A052-3532A18867A9}"/>
              </a:ext>
            </a:extLst>
          </p:cNvPr>
          <p:cNvSpPr>
            <a:spLocks noEditPoints="1"/>
          </p:cNvSpPr>
          <p:nvPr/>
        </p:nvSpPr>
        <p:spPr bwMode="auto">
          <a:xfrm>
            <a:off x="6242050" y="2344738"/>
            <a:ext cx="18000" cy="4032000"/>
          </a:xfrm>
          <a:custGeom>
            <a:avLst/>
            <a:gdLst>
              <a:gd name="T0" fmla="*/ 0 w 12"/>
              <a:gd name="T1" fmla="*/ 24 h 2560"/>
              <a:gd name="T2" fmla="*/ 0 w 12"/>
              <a:gd name="T3" fmla="*/ 84 h 2560"/>
              <a:gd name="T4" fmla="*/ 12 w 12"/>
              <a:gd name="T5" fmla="*/ 132 h 2560"/>
              <a:gd name="T6" fmla="*/ 12 w 12"/>
              <a:gd name="T7" fmla="*/ 168 h 2560"/>
              <a:gd name="T8" fmla="*/ 12 w 12"/>
              <a:gd name="T9" fmla="*/ 192 h 2560"/>
              <a:gd name="T10" fmla="*/ 0 w 12"/>
              <a:gd name="T11" fmla="*/ 240 h 2560"/>
              <a:gd name="T12" fmla="*/ 0 w 12"/>
              <a:gd name="T13" fmla="*/ 300 h 2560"/>
              <a:gd name="T14" fmla="*/ 12 w 12"/>
              <a:gd name="T15" fmla="*/ 349 h 2560"/>
              <a:gd name="T16" fmla="*/ 12 w 12"/>
              <a:gd name="T17" fmla="*/ 385 h 2560"/>
              <a:gd name="T18" fmla="*/ 12 w 12"/>
              <a:gd name="T19" fmla="*/ 409 h 2560"/>
              <a:gd name="T20" fmla="*/ 0 w 12"/>
              <a:gd name="T21" fmla="*/ 457 h 2560"/>
              <a:gd name="T22" fmla="*/ 0 w 12"/>
              <a:gd name="T23" fmla="*/ 517 h 2560"/>
              <a:gd name="T24" fmla="*/ 12 w 12"/>
              <a:gd name="T25" fmla="*/ 565 h 2560"/>
              <a:gd name="T26" fmla="*/ 12 w 12"/>
              <a:gd name="T27" fmla="*/ 601 h 2560"/>
              <a:gd name="T28" fmla="*/ 12 w 12"/>
              <a:gd name="T29" fmla="*/ 625 h 2560"/>
              <a:gd name="T30" fmla="*/ 0 w 12"/>
              <a:gd name="T31" fmla="*/ 673 h 2560"/>
              <a:gd name="T32" fmla="*/ 0 w 12"/>
              <a:gd name="T33" fmla="*/ 733 h 2560"/>
              <a:gd name="T34" fmla="*/ 12 w 12"/>
              <a:gd name="T35" fmla="*/ 781 h 2560"/>
              <a:gd name="T36" fmla="*/ 12 w 12"/>
              <a:gd name="T37" fmla="*/ 817 h 2560"/>
              <a:gd name="T38" fmla="*/ 12 w 12"/>
              <a:gd name="T39" fmla="*/ 841 h 2560"/>
              <a:gd name="T40" fmla="*/ 0 w 12"/>
              <a:gd name="T41" fmla="*/ 890 h 2560"/>
              <a:gd name="T42" fmla="*/ 0 w 12"/>
              <a:gd name="T43" fmla="*/ 950 h 2560"/>
              <a:gd name="T44" fmla="*/ 12 w 12"/>
              <a:gd name="T45" fmla="*/ 998 h 2560"/>
              <a:gd name="T46" fmla="*/ 12 w 12"/>
              <a:gd name="T47" fmla="*/ 1034 h 2560"/>
              <a:gd name="T48" fmla="*/ 12 w 12"/>
              <a:gd name="T49" fmla="*/ 1058 h 2560"/>
              <a:gd name="T50" fmla="*/ 0 w 12"/>
              <a:gd name="T51" fmla="*/ 1106 h 2560"/>
              <a:gd name="T52" fmla="*/ 0 w 12"/>
              <a:gd name="T53" fmla="*/ 1166 h 2560"/>
              <a:gd name="T54" fmla="*/ 12 w 12"/>
              <a:gd name="T55" fmla="*/ 1214 h 2560"/>
              <a:gd name="T56" fmla="*/ 12 w 12"/>
              <a:gd name="T57" fmla="*/ 1250 h 2560"/>
              <a:gd name="T58" fmla="*/ 12 w 12"/>
              <a:gd name="T59" fmla="*/ 1274 h 2560"/>
              <a:gd name="T60" fmla="*/ 0 w 12"/>
              <a:gd name="T61" fmla="*/ 1322 h 2560"/>
              <a:gd name="T62" fmla="*/ 0 w 12"/>
              <a:gd name="T63" fmla="*/ 1382 h 2560"/>
              <a:gd name="T64" fmla="*/ 12 w 12"/>
              <a:gd name="T65" fmla="*/ 1431 h 2560"/>
              <a:gd name="T66" fmla="*/ 12 w 12"/>
              <a:gd name="T67" fmla="*/ 1467 h 2560"/>
              <a:gd name="T68" fmla="*/ 12 w 12"/>
              <a:gd name="T69" fmla="*/ 1491 h 2560"/>
              <a:gd name="T70" fmla="*/ 0 w 12"/>
              <a:gd name="T71" fmla="*/ 1539 h 2560"/>
              <a:gd name="T72" fmla="*/ 0 w 12"/>
              <a:gd name="T73" fmla="*/ 1599 h 2560"/>
              <a:gd name="T74" fmla="*/ 12 w 12"/>
              <a:gd name="T75" fmla="*/ 1647 h 2560"/>
              <a:gd name="T76" fmla="*/ 12 w 12"/>
              <a:gd name="T77" fmla="*/ 1683 h 2560"/>
              <a:gd name="T78" fmla="*/ 12 w 12"/>
              <a:gd name="T79" fmla="*/ 1707 h 2560"/>
              <a:gd name="T80" fmla="*/ 0 w 12"/>
              <a:gd name="T81" fmla="*/ 1755 h 2560"/>
              <a:gd name="T82" fmla="*/ 0 w 12"/>
              <a:gd name="T83" fmla="*/ 1815 h 2560"/>
              <a:gd name="T84" fmla="*/ 12 w 12"/>
              <a:gd name="T85" fmla="*/ 1863 h 2560"/>
              <a:gd name="T86" fmla="*/ 12 w 12"/>
              <a:gd name="T87" fmla="*/ 1899 h 2560"/>
              <a:gd name="T88" fmla="*/ 12 w 12"/>
              <a:gd name="T89" fmla="*/ 1923 h 2560"/>
              <a:gd name="T90" fmla="*/ 0 w 12"/>
              <a:gd name="T91" fmla="*/ 1972 h 2560"/>
              <a:gd name="T92" fmla="*/ 0 w 12"/>
              <a:gd name="T93" fmla="*/ 2032 h 2560"/>
              <a:gd name="T94" fmla="*/ 12 w 12"/>
              <a:gd name="T95" fmla="*/ 2080 h 2560"/>
              <a:gd name="T96" fmla="*/ 12 w 12"/>
              <a:gd name="T97" fmla="*/ 2116 h 2560"/>
              <a:gd name="T98" fmla="*/ 12 w 12"/>
              <a:gd name="T99" fmla="*/ 2140 h 2560"/>
              <a:gd name="T100" fmla="*/ 0 w 12"/>
              <a:gd name="T101" fmla="*/ 2188 h 2560"/>
              <a:gd name="T102" fmla="*/ 0 w 12"/>
              <a:gd name="T103" fmla="*/ 2248 h 2560"/>
              <a:gd name="T104" fmla="*/ 12 w 12"/>
              <a:gd name="T105" fmla="*/ 2296 h 2560"/>
              <a:gd name="T106" fmla="*/ 12 w 12"/>
              <a:gd name="T107" fmla="*/ 2332 h 2560"/>
              <a:gd name="T108" fmla="*/ 12 w 12"/>
              <a:gd name="T109" fmla="*/ 2356 h 2560"/>
              <a:gd name="T110" fmla="*/ 0 w 12"/>
              <a:gd name="T111" fmla="*/ 2404 h 2560"/>
              <a:gd name="T112" fmla="*/ 0 w 12"/>
              <a:gd name="T113" fmla="*/ 2464 h 2560"/>
              <a:gd name="T114" fmla="*/ 12 w 12"/>
              <a:gd name="T115" fmla="*/ 2513 h 2560"/>
              <a:gd name="T116" fmla="*/ 12 w 12"/>
              <a:gd name="T117" fmla="*/ 2549 h 25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12" h="2560">
                <a:moveTo>
                  <a:pt x="12" y="0"/>
                </a:moveTo>
                <a:lnTo>
                  <a:pt x="12" y="12"/>
                </a:lnTo>
                <a:lnTo>
                  <a:pt x="0" y="12"/>
                </a:lnTo>
                <a:lnTo>
                  <a:pt x="0" y="0"/>
                </a:lnTo>
                <a:lnTo>
                  <a:pt x="12" y="0"/>
                </a:lnTo>
                <a:close/>
                <a:moveTo>
                  <a:pt x="12" y="24"/>
                </a:moveTo>
                <a:lnTo>
                  <a:pt x="12" y="36"/>
                </a:lnTo>
                <a:lnTo>
                  <a:pt x="0" y="36"/>
                </a:lnTo>
                <a:lnTo>
                  <a:pt x="0" y="24"/>
                </a:lnTo>
                <a:lnTo>
                  <a:pt x="12" y="24"/>
                </a:lnTo>
                <a:close/>
                <a:moveTo>
                  <a:pt x="12" y="48"/>
                </a:moveTo>
                <a:lnTo>
                  <a:pt x="12" y="60"/>
                </a:lnTo>
                <a:lnTo>
                  <a:pt x="0" y="60"/>
                </a:lnTo>
                <a:lnTo>
                  <a:pt x="0" y="48"/>
                </a:lnTo>
                <a:lnTo>
                  <a:pt x="12" y="48"/>
                </a:lnTo>
                <a:close/>
                <a:moveTo>
                  <a:pt x="12" y="72"/>
                </a:moveTo>
                <a:lnTo>
                  <a:pt x="12" y="84"/>
                </a:lnTo>
                <a:lnTo>
                  <a:pt x="0" y="84"/>
                </a:lnTo>
                <a:lnTo>
                  <a:pt x="0" y="72"/>
                </a:lnTo>
                <a:lnTo>
                  <a:pt x="12" y="72"/>
                </a:lnTo>
                <a:close/>
                <a:moveTo>
                  <a:pt x="12" y="96"/>
                </a:moveTo>
                <a:lnTo>
                  <a:pt x="12" y="108"/>
                </a:lnTo>
                <a:lnTo>
                  <a:pt x="0" y="108"/>
                </a:lnTo>
                <a:lnTo>
                  <a:pt x="0" y="96"/>
                </a:lnTo>
                <a:lnTo>
                  <a:pt x="12" y="96"/>
                </a:lnTo>
                <a:close/>
                <a:moveTo>
                  <a:pt x="12" y="120"/>
                </a:moveTo>
                <a:lnTo>
                  <a:pt x="12" y="132"/>
                </a:lnTo>
                <a:lnTo>
                  <a:pt x="0" y="132"/>
                </a:lnTo>
                <a:lnTo>
                  <a:pt x="0" y="120"/>
                </a:lnTo>
                <a:lnTo>
                  <a:pt x="12" y="120"/>
                </a:lnTo>
                <a:close/>
                <a:moveTo>
                  <a:pt x="12" y="144"/>
                </a:moveTo>
                <a:lnTo>
                  <a:pt x="12" y="156"/>
                </a:lnTo>
                <a:lnTo>
                  <a:pt x="0" y="156"/>
                </a:lnTo>
                <a:lnTo>
                  <a:pt x="0" y="144"/>
                </a:lnTo>
                <a:lnTo>
                  <a:pt x="12" y="144"/>
                </a:lnTo>
                <a:close/>
                <a:moveTo>
                  <a:pt x="12" y="168"/>
                </a:moveTo>
                <a:lnTo>
                  <a:pt x="12" y="180"/>
                </a:lnTo>
                <a:lnTo>
                  <a:pt x="0" y="180"/>
                </a:lnTo>
                <a:lnTo>
                  <a:pt x="0" y="168"/>
                </a:lnTo>
                <a:lnTo>
                  <a:pt x="12" y="168"/>
                </a:lnTo>
                <a:close/>
                <a:moveTo>
                  <a:pt x="12" y="192"/>
                </a:moveTo>
                <a:lnTo>
                  <a:pt x="12" y="204"/>
                </a:lnTo>
                <a:lnTo>
                  <a:pt x="0" y="204"/>
                </a:lnTo>
                <a:lnTo>
                  <a:pt x="0" y="192"/>
                </a:lnTo>
                <a:lnTo>
                  <a:pt x="12" y="192"/>
                </a:lnTo>
                <a:close/>
                <a:moveTo>
                  <a:pt x="12" y="216"/>
                </a:moveTo>
                <a:lnTo>
                  <a:pt x="12" y="228"/>
                </a:lnTo>
                <a:lnTo>
                  <a:pt x="0" y="228"/>
                </a:lnTo>
                <a:lnTo>
                  <a:pt x="0" y="216"/>
                </a:lnTo>
                <a:lnTo>
                  <a:pt x="12" y="216"/>
                </a:lnTo>
                <a:close/>
                <a:moveTo>
                  <a:pt x="12" y="240"/>
                </a:moveTo>
                <a:lnTo>
                  <a:pt x="12" y="252"/>
                </a:lnTo>
                <a:lnTo>
                  <a:pt x="0" y="252"/>
                </a:lnTo>
                <a:lnTo>
                  <a:pt x="0" y="240"/>
                </a:lnTo>
                <a:lnTo>
                  <a:pt x="12" y="240"/>
                </a:lnTo>
                <a:close/>
                <a:moveTo>
                  <a:pt x="12" y="264"/>
                </a:moveTo>
                <a:lnTo>
                  <a:pt x="12" y="276"/>
                </a:lnTo>
                <a:lnTo>
                  <a:pt x="0" y="276"/>
                </a:lnTo>
                <a:lnTo>
                  <a:pt x="0" y="264"/>
                </a:lnTo>
                <a:lnTo>
                  <a:pt x="12" y="264"/>
                </a:lnTo>
                <a:close/>
                <a:moveTo>
                  <a:pt x="12" y="288"/>
                </a:moveTo>
                <a:lnTo>
                  <a:pt x="12" y="300"/>
                </a:lnTo>
                <a:lnTo>
                  <a:pt x="0" y="300"/>
                </a:lnTo>
                <a:lnTo>
                  <a:pt x="0" y="288"/>
                </a:lnTo>
                <a:lnTo>
                  <a:pt x="12" y="288"/>
                </a:lnTo>
                <a:close/>
                <a:moveTo>
                  <a:pt x="12" y="312"/>
                </a:moveTo>
                <a:lnTo>
                  <a:pt x="12" y="324"/>
                </a:lnTo>
                <a:lnTo>
                  <a:pt x="0" y="324"/>
                </a:lnTo>
                <a:lnTo>
                  <a:pt x="0" y="312"/>
                </a:lnTo>
                <a:lnTo>
                  <a:pt x="12" y="312"/>
                </a:lnTo>
                <a:close/>
                <a:moveTo>
                  <a:pt x="12" y="336"/>
                </a:moveTo>
                <a:lnTo>
                  <a:pt x="12" y="349"/>
                </a:lnTo>
                <a:lnTo>
                  <a:pt x="0" y="349"/>
                </a:lnTo>
                <a:lnTo>
                  <a:pt x="0" y="336"/>
                </a:lnTo>
                <a:lnTo>
                  <a:pt x="12" y="336"/>
                </a:lnTo>
                <a:close/>
                <a:moveTo>
                  <a:pt x="12" y="360"/>
                </a:moveTo>
                <a:lnTo>
                  <a:pt x="12" y="373"/>
                </a:lnTo>
                <a:lnTo>
                  <a:pt x="0" y="373"/>
                </a:lnTo>
                <a:lnTo>
                  <a:pt x="0" y="360"/>
                </a:lnTo>
                <a:lnTo>
                  <a:pt x="12" y="360"/>
                </a:lnTo>
                <a:close/>
                <a:moveTo>
                  <a:pt x="12" y="385"/>
                </a:moveTo>
                <a:lnTo>
                  <a:pt x="12" y="396"/>
                </a:lnTo>
                <a:lnTo>
                  <a:pt x="0" y="396"/>
                </a:lnTo>
                <a:lnTo>
                  <a:pt x="0" y="385"/>
                </a:lnTo>
                <a:lnTo>
                  <a:pt x="12" y="385"/>
                </a:lnTo>
                <a:close/>
                <a:moveTo>
                  <a:pt x="12" y="409"/>
                </a:moveTo>
                <a:lnTo>
                  <a:pt x="12" y="421"/>
                </a:lnTo>
                <a:lnTo>
                  <a:pt x="0" y="421"/>
                </a:lnTo>
                <a:lnTo>
                  <a:pt x="0" y="409"/>
                </a:lnTo>
                <a:lnTo>
                  <a:pt x="12" y="409"/>
                </a:lnTo>
                <a:close/>
                <a:moveTo>
                  <a:pt x="12" y="433"/>
                </a:moveTo>
                <a:lnTo>
                  <a:pt x="12" y="445"/>
                </a:lnTo>
                <a:lnTo>
                  <a:pt x="0" y="445"/>
                </a:lnTo>
                <a:lnTo>
                  <a:pt x="0" y="433"/>
                </a:lnTo>
                <a:lnTo>
                  <a:pt x="12" y="433"/>
                </a:lnTo>
                <a:close/>
                <a:moveTo>
                  <a:pt x="12" y="457"/>
                </a:moveTo>
                <a:lnTo>
                  <a:pt x="12" y="469"/>
                </a:lnTo>
                <a:lnTo>
                  <a:pt x="0" y="469"/>
                </a:lnTo>
                <a:lnTo>
                  <a:pt x="0" y="457"/>
                </a:lnTo>
                <a:lnTo>
                  <a:pt x="12" y="457"/>
                </a:lnTo>
                <a:close/>
                <a:moveTo>
                  <a:pt x="12" y="481"/>
                </a:moveTo>
                <a:lnTo>
                  <a:pt x="12" y="493"/>
                </a:lnTo>
                <a:lnTo>
                  <a:pt x="0" y="493"/>
                </a:lnTo>
                <a:lnTo>
                  <a:pt x="0" y="481"/>
                </a:lnTo>
                <a:lnTo>
                  <a:pt x="12" y="481"/>
                </a:lnTo>
                <a:close/>
                <a:moveTo>
                  <a:pt x="12" y="505"/>
                </a:moveTo>
                <a:lnTo>
                  <a:pt x="12" y="517"/>
                </a:lnTo>
                <a:lnTo>
                  <a:pt x="0" y="517"/>
                </a:lnTo>
                <a:lnTo>
                  <a:pt x="0" y="505"/>
                </a:lnTo>
                <a:lnTo>
                  <a:pt x="12" y="505"/>
                </a:lnTo>
                <a:close/>
                <a:moveTo>
                  <a:pt x="12" y="529"/>
                </a:moveTo>
                <a:lnTo>
                  <a:pt x="12" y="541"/>
                </a:lnTo>
                <a:lnTo>
                  <a:pt x="0" y="541"/>
                </a:lnTo>
                <a:lnTo>
                  <a:pt x="0" y="529"/>
                </a:lnTo>
                <a:lnTo>
                  <a:pt x="12" y="529"/>
                </a:lnTo>
                <a:close/>
                <a:moveTo>
                  <a:pt x="12" y="553"/>
                </a:moveTo>
                <a:lnTo>
                  <a:pt x="12" y="565"/>
                </a:lnTo>
                <a:lnTo>
                  <a:pt x="0" y="565"/>
                </a:lnTo>
                <a:lnTo>
                  <a:pt x="0" y="553"/>
                </a:lnTo>
                <a:lnTo>
                  <a:pt x="12" y="553"/>
                </a:lnTo>
                <a:close/>
                <a:moveTo>
                  <a:pt x="12" y="577"/>
                </a:moveTo>
                <a:lnTo>
                  <a:pt x="12" y="589"/>
                </a:lnTo>
                <a:lnTo>
                  <a:pt x="0" y="589"/>
                </a:lnTo>
                <a:lnTo>
                  <a:pt x="0" y="577"/>
                </a:lnTo>
                <a:lnTo>
                  <a:pt x="12" y="577"/>
                </a:lnTo>
                <a:close/>
                <a:moveTo>
                  <a:pt x="12" y="601"/>
                </a:moveTo>
                <a:lnTo>
                  <a:pt x="12" y="613"/>
                </a:lnTo>
                <a:lnTo>
                  <a:pt x="0" y="613"/>
                </a:lnTo>
                <a:lnTo>
                  <a:pt x="0" y="601"/>
                </a:lnTo>
                <a:lnTo>
                  <a:pt x="12" y="601"/>
                </a:lnTo>
                <a:close/>
                <a:moveTo>
                  <a:pt x="12" y="625"/>
                </a:moveTo>
                <a:lnTo>
                  <a:pt x="12" y="637"/>
                </a:lnTo>
                <a:lnTo>
                  <a:pt x="0" y="637"/>
                </a:lnTo>
                <a:lnTo>
                  <a:pt x="0" y="625"/>
                </a:lnTo>
                <a:lnTo>
                  <a:pt x="12" y="625"/>
                </a:lnTo>
                <a:close/>
                <a:moveTo>
                  <a:pt x="12" y="649"/>
                </a:moveTo>
                <a:lnTo>
                  <a:pt x="12" y="661"/>
                </a:lnTo>
                <a:lnTo>
                  <a:pt x="0" y="661"/>
                </a:lnTo>
                <a:lnTo>
                  <a:pt x="0" y="649"/>
                </a:lnTo>
                <a:lnTo>
                  <a:pt x="12" y="649"/>
                </a:lnTo>
                <a:close/>
                <a:moveTo>
                  <a:pt x="12" y="673"/>
                </a:moveTo>
                <a:lnTo>
                  <a:pt x="12" y="685"/>
                </a:lnTo>
                <a:lnTo>
                  <a:pt x="0" y="685"/>
                </a:lnTo>
                <a:lnTo>
                  <a:pt x="0" y="673"/>
                </a:lnTo>
                <a:lnTo>
                  <a:pt x="12" y="673"/>
                </a:lnTo>
                <a:close/>
                <a:moveTo>
                  <a:pt x="12" y="697"/>
                </a:moveTo>
                <a:lnTo>
                  <a:pt x="12" y="709"/>
                </a:lnTo>
                <a:lnTo>
                  <a:pt x="0" y="709"/>
                </a:lnTo>
                <a:lnTo>
                  <a:pt x="0" y="697"/>
                </a:lnTo>
                <a:lnTo>
                  <a:pt x="12" y="697"/>
                </a:lnTo>
                <a:close/>
                <a:moveTo>
                  <a:pt x="12" y="721"/>
                </a:moveTo>
                <a:lnTo>
                  <a:pt x="12" y="733"/>
                </a:lnTo>
                <a:lnTo>
                  <a:pt x="0" y="733"/>
                </a:lnTo>
                <a:lnTo>
                  <a:pt x="0" y="721"/>
                </a:lnTo>
                <a:lnTo>
                  <a:pt x="12" y="721"/>
                </a:lnTo>
                <a:close/>
                <a:moveTo>
                  <a:pt x="12" y="745"/>
                </a:moveTo>
                <a:lnTo>
                  <a:pt x="12" y="757"/>
                </a:lnTo>
                <a:lnTo>
                  <a:pt x="0" y="757"/>
                </a:lnTo>
                <a:lnTo>
                  <a:pt x="0" y="745"/>
                </a:lnTo>
                <a:lnTo>
                  <a:pt x="12" y="745"/>
                </a:lnTo>
                <a:close/>
                <a:moveTo>
                  <a:pt x="12" y="769"/>
                </a:moveTo>
                <a:lnTo>
                  <a:pt x="12" y="781"/>
                </a:lnTo>
                <a:lnTo>
                  <a:pt x="0" y="781"/>
                </a:lnTo>
                <a:lnTo>
                  <a:pt x="0" y="769"/>
                </a:lnTo>
                <a:lnTo>
                  <a:pt x="12" y="769"/>
                </a:lnTo>
                <a:close/>
                <a:moveTo>
                  <a:pt x="12" y="793"/>
                </a:moveTo>
                <a:lnTo>
                  <a:pt x="12" y="805"/>
                </a:lnTo>
                <a:lnTo>
                  <a:pt x="0" y="805"/>
                </a:lnTo>
                <a:lnTo>
                  <a:pt x="0" y="793"/>
                </a:lnTo>
                <a:lnTo>
                  <a:pt x="12" y="793"/>
                </a:lnTo>
                <a:close/>
                <a:moveTo>
                  <a:pt x="12" y="817"/>
                </a:moveTo>
                <a:lnTo>
                  <a:pt x="12" y="829"/>
                </a:lnTo>
                <a:lnTo>
                  <a:pt x="0" y="829"/>
                </a:lnTo>
                <a:lnTo>
                  <a:pt x="0" y="817"/>
                </a:lnTo>
                <a:lnTo>
                  <a:pt x="12" y="817"/>
                </a:lnTo>
                <a:close/>
                <a:moveTo>
                  <a:pt x="12" y="841"/>
                </a:moveTo>
                <a:lnTo>
                  <a:pt x="12" y="853"/>
                </a:lnTo>
                <a:lnTo>
                  <a:pt x="0" y="853"/>
                </a:lnTo>
                <a:lnTo>
                  <a:pt x="0" y="841"/>
                </a:lnTo>
                <a:lnTo>
                  <a:pt x="12" y="841"/>
                </a:lnTo>
                <a:close/>
                <a:moveTo>
                  <a:pt x="12" y="865"/>
                </a:moveTo>
                <a:lnTo>
                  <a:pt x="12" y="877"/>
                </a:lnTo>
                <a:lnTo>
                  <a:pt x="0" y="877"/>
                </a:lnTo>
                <a:lnTo>
                  <a:pt x="0" y="865"/>
                </a:lnTo>
                <a:lnTo>
                  <a:pt x="12" y="865"/>
                </a:lnTo>
                <a:close/>
                <a:moveTo>
                  <a:pt x="12" y="890"/>
                </a:moveTo>
                <a:lnTo>
                  <a:pt x="12" y="901"/>
                </a:lnTo>
                <a:lnTo>
                  <a:pt x="0" y="901"/>
                </a:lnTo>
                <a:lnTo>
                  <a:pt x="0" y="890"/>
                </a:lnTo>
                <a:lnTo>
                  <a:pt x="12" y="890"/>
                </a:lnTo>
                <a:close/>
                <a:moveTo>
                  <a:pt x="12" y="914"/>
                </a:moveTo>
                <a:lnTo>
                  <a:pt x="12" y="926"/>
                </a:lnTo>
                <a:lnTo>
                  <a:pt x="0" y="926"/>
                </a:lnTo>
                <a:lnTo>
                  <a:pt x="0" y="914"/>
                </a:lnTo>
                <a:lnTo>
                  <a:pt x="12" y="914"/>
                </a:lnTo>
                <a:close/>
                <a:moveTo>
                  <a:pt x="12" y="937"/>
                </a:moveTo>
                <a:lnTo>
                  <a:pt x="12" y="950"/>
                </a:lnTo>
                <a:lnTo>
                  <a:pt x="0" y="950"/>
                </a:lnTo>
                <a:lnTo>
                  <a:pt x="0" y="937"/>
                </a:lnTo>
                <a:lnTo>
                  <a:pt x="12" y="937"/>
                </a:lnTo>
                <a:close/>
                <a:moveTo>
                  <a:pt x="12" y="962"/>
                </a:moveTo>
                <a:lnTo>
                  <a:pt x="12" y="974"/>
                </a:lnTo>
                <a:lnTo>
                  <a:pt x="0" y="974"/>
                </a:lnTo>
                <a:lnTo>
                  <a:pt x="0" y="962"/>
                </a:lnTo>
                <a:lnTo>
                  <a:pt x="12" y="962"/>
                </a:lnTo>
                <a:close/>
                <a:moveTo>
                  <a:pt x="12" y="986"/>
                </a:moveTo>
                <a:lnTo>
                  <a:pt x="12" y="998"/>
                </a:lnTo>
                <a:lnTo>
                  <a:pt x="0" y="998"/>
                </a:lnTo>
                <a:lnTo>
                  <a:pt x="0" y="986"/>
                </a:lnTo>
                <a:lnTo>
                  <a:pt x="12" y="986"/>
                </a:lnTo>
                <a:close/>
                <a:moveTo>
                  <a:pt x="12" y="1010"/>
                </a:moveTo>
                <a:lnTo>
                  <a:pt x="12" y="1022"/>
                </a:lnTo>
                <a:lnTo>
                  <a:pt x="0" y="1022"/>
                </a:lnTo>
                <a:lnTo>
                  <a:pt x="0" y="1010"/>
                </a:lnTo>
                <a:lnTo>
                  <a:pt x="12" y="1010"/>
                </a:lnTo>
                <a:close/>
                <a:moveTo>
                  <a:pt x="12" y="1034"/>
                </a:moveTo>
                <a:lnTo>
                  <a:pt x="12" y="1046"/>
                </a:lnTo>
                <a:lnTo>
                  <a:pt x="0" y="1046"/>
                </a:lnTo>
                <a:lnTo>
                  <a:pt x="0" y="1034"/>
                </a:lnTo>
                <a:lnTo>
                  <a:pt x="12" y="1034"/>
                </a:lnTo>
                <a:close/>
                <a:moveTo>
                  <a:pt x="12" y="1058"/>
                </a:moveTo>
                <a:lnTo>
                  <a:pt x="12" y="1070"/>
                </a:lnTo>
                <a:lnTo>
                  <a:pt x="0" y="1070"/>
                </a:lnTo>
                <a:lnTo>
                  <a:pt x="0" y="1058"/>
                </a:lnTo>
                <a:lnTo>
                  <a:pt x="12" y="1058"/>
                </a:lnTo>
                <a:close/>
                <a:moveTo>
                  <a:pt x="12" y="1082"/>
                </a:moveTo>
                <a:lnTo>
                  <a:pt x="12" y="1094"/>
                </a:lnTo>
                <a:lnTo>
                  <a:pt x="0" y="1094"/>
                </a:lnTo>
                <a:lnTo>
                  <a:pt x="0" y="1082"/>
                </a:lnTo>
                <a:lnTo>
                  <a:pt x="12" y="1082"/>
                </a:lnTo>
                <a:close/>
                <a:moveTo>
                  <a:pt x="12" y="1106"/>
                </a:moveTo>
                <a:lnTo>
                  <a:pt x="12" y="1118"/>
                </a:lnTo>
                <a:lnTo>
                  <a:pt x="0" y="1118"/>
                </a:lnTo>
                <a:lnTo>
                  <a:pt x="0" y="1106"/>
                </a:lnTo>
                <a:lnTo>
                  <a:pt x="12" y="1106"/>
                </a:lnTo>
                <a:close/>
                <a:moveTo>
                  <a:pt x="12" y="1130"/>
                </a:moveTo>
                <a:lnTo>
                  <a:pt x="12" y="1142"/>
                </a:lnTo>
                <a:lnTo>
                  <a:pt x="0" y="1142"/>
                </a:lnTo>
                <a:lnTo>
                  <a:pt x="0" y="1130"/>
                </a:lnTo>
                <a:lnTo>
                  <a:pt x="12" y="1130"/>
                </a:lnTo>
                <a:close/>
                <a:moveTo>
                  <a:pt x="12" y="1154"/>
                </a:moveTo>
                <a:lnTo>
                  <a:pt x="12" y="1166"/>
                </a:lnTo>
                <a:lnTo>
                  <a:pt x="0" y="1166"/>
                </a:lnTo>
                <a:lnTo>
                  <a:pt x="0" y="1154"/>
                </a:lnTo>
                <a:lnTo>
                  <a:pt x="12" y="1154"/>
                </a:lnTo>
                <a:close/>
                <a:moveTo>
                  <a:pt x="12" y="1178"/>
                </a:moveTo>
                <a:lnTo>
                  <a:pt x="12" y="1190"/>
                </a:lnTo>
                <a:lnTo>
                  <a:pt x="0" y="1190"/>
                </a:lnTo>
                <a:lnTo>
                  <a:pt x="0" y="1178"/>
                </a:lnTo>
                <a:lnTo>
                  <a:pt x="12" y="1178"/>
                </a:lnTo>
                <a:close/>
                <a:moveTo>
                  <a:pt x="12" y="1202"/>
                </a:moveTo>
                <a:lnTo>
                  <a:pt x="12" y="1214"/>
                </a:lnTo>
                <a:lnTo>
                  <a:pt x="0" y="1214"/>
                </a:lnTo>
                <a:lnTo>
                  <a:pt x="0" y="1202"/>
                </a:lnTo>
                <a:lnTo>
                  <a:pt x="12" y="1202"/>
                </a:lnTo>
                <a:close/>
                <a:moveTo>
                  <a:pt x="12" y="1226"/>
                </a:moveTo>
                <a:lnTo>
                  <a:pt x="12" y="1238"/>
                </a:lnTo>
                <a:lnTo>
                  <a:pt x="0" y="1238"/>
                </a:lnTo>
                <a:lnTo>
                  <a:pt x="0" y="1226"/>
                </a:lnTo>
                <a:lnTo>
                  <a:pt x="12" y="1226"/>
                </a:lnTo>
                <a:close/>
                <a:moveTo>
                  <a:pt x="12" y="1250"/>
                </a:moveTo>
                <a:lnTo>
                  <a:pt x="12" y="1262"/>
                </a:lnTo>
                <a:lnTo>
                  <a:pt x="0" y="1262"/>
                </a:lnTo>
                <a:lnTo>
                  <a:pt x="0" y="1250"/>
                </a:lnTo>
                <a:lnTo>
                  <a:pt x="12" y="1250"/>
                </a:lnTo>
                <a:close/>
                <a:moveTo>
                  <a:pt x="12" y="1274"/>
                </a:moveTo>
                <a:lnTo>
                  <a:pt x="12" y="1286"/>
                </a:lnTo>
                <a:lnTo>
                  <a:pt x="0" y="1286"/>
                </a:lnTo>
                <a:lnTo>
                  <a:pt x="0" y="1274"/>
                </a:lnTo>
                <a:lnTo>
                  <a:pt x="12" y="1274"/>
                </a:lnTo>
                <a:close/>
                <a:moveTo>
                  <a:pt x="12" y="1298"/>
                </a:moveTo>
                <a:lnTo>
                  <a:pt x="12" y="1310"/>
                </a:lnTo>
                <a:lnTo>
                  <a:pt x="0" y="1310"/>
                </a:lnTo>
                <a:lnTo>
                  <a:pt x="0" y="1298"/>
                </a:lnTo>
                <a:lnTo>
                  <a:pt x="12" y="1298"/>
                </a:lnTo>
                <a:close/>
                <a:moveTo>
                  <a:pt x="12" y="1322"/>
                </a:moveTo>
                <a:lnTo>
                  <a:pt x="12" y="1334"/>
                </a:lnTo>
                <a:lnTo>
                  <a:pt x="0" y="1334"/>
                </a:lnTo>
                <a:lnTo>
                  <a:pt x="0" y="1322"/>
                </a:lnTo>
                <a:lnTo>
                  <a:pt x="12" y="1322"/>
                </a:lnTo>
                <a:close/>
                <a:moveTo>
                  <a:pt x="12" y="1346"/>
                </a:moveTo>
                <a:lnTo>
                  <a:pt x="12" y="1358"/>
                </a:lnTo>
                <a:lnTo>
                  <a:pt x="0" y="1358"/>
                </a:lnTo>
                <a:lnTo>
                  <a:pt x="0" y="1346"/>
                </a:lnTo>
                <a:lnTo>
                  <a:pt x="12" y="1346"/>
                </a:lnTo>
                <a:close/>
                <a:moveTo>
                  <a:pt x="12" y="1370"/>
                </a:moveTo>
                <a:lnTo>
                  <a:pt x="12" y="1382"/>
                </a:lnTo>
                <a:lnTo>
                  <a:pt x="0" y="1382"/>
                </a:lnTo>
                <a:lnTo>
                  <a:pt x="0" y="1370"/>
                </a:lnTo>
                <a:lnTo>
                  <a:pt x="12" y="1370"/>
                </a:lnTo>
                <a:close/>
                <a:moveTo>
                  <a:pt x="12" y="1395"/>
                </a:moveTo>
                <a:lnTo>
                  <a:pt x="12" y="1406"/>
                </a:lnTo>
                <a:lnTo>
                  <a:pt x="0" y="1406"/>
                </a:lnTo>
                <a:lnTo>
                  <a:pt x="0" y="1395"/>
                </a:lnTo>
                <a:lnTo>
                  <a:pt x="12" y="1395"/>
                </a:lnTo>
                <a:close/>
                <a:moveTo>
                  <a:pt x="12" y="1418"/>
                </a:moveTo>
                <a:lnTo>
                  <a:pt x="12" y="1431"/>
                </a:lnTo>
                <a:lnTo>
                  <a:pt x="0" y="1431"/>
                </a:lnTo>
                <a:lnTo>
                  <a:pt x="0" y="1418"/>
                </a:lnTo>
                <a:lnTo>
                  <a:pt x="12" y="1418"/>
                </a:lnTo>
                <a:close/>
                <a:moveTo>
                  <a:pt x="12" y="1442"/>
                </a:moveTo>
                <a:lnTo>
                  <a:pt x="12" y="1455"/>
                </a:lnTo>
                <a:lnTo>
                  <a:pt x="0" y="1455"/>
                </a:lnTo>
                <a:lnTo>
                  <a:pt x="0" y="1442"/>
                </a:lnTo>
                <a:lnTo>
                  <a:pt x="12" y="1442"/>
                </a:lnTo>
                <a:close/>
                <a:moveTo>
                  <a:pt x="12" y="1467"/>
                </a:moveTo>
                <a:lnTo>
                  <a:pt x="12" y="1478"/>
                </a:lnTo>
                <a:lnTo>
                  <a:pt x="0" y="1478"/>
                </a:lnTo>
                <a:lnTo>
                  <a:pt x="0" y="1467"/>
                </a:lnTo>
                <a:lnTo>
                  <a:pt x="12" y="1467"/>
                </a:lnTo>
                <a:close/>
                <a:moveTo>
                  <a:pt x="12" y="1491"/>
                </a:moveTo>
                <a:lnTo>
                  <a:pt x="12" y="1503"/>
                </a:lnTo>
                <a:lnTo>
                  <a:pt x="0" y="1503"/>
                </a:lnTo>
                <a:lnTo>
                  <a:pt x="0" y="1491"/>
                </a:lnTo>
                <a:lnTo>
                  <a:pt x="12" y="1491"/>
                </a:lnTo>
                <a:close/>
                <a:moveTo>
                  <a:pt x="12" y="1515"/>
                </a:moveTo>
                <a:lnTo>
                  <a:pt x="12" y="1527"/>
                </a:lnTo>
                <a:lnTo>
                  <a:pt x="0" y="1527"/>
                </a:lnTo>
                <a:lnTo>
                  <a:pt x="0" y="1515"/>
                </a:lnTo>
                <a:lnTo>
                  <a:pt x="12" y="1515"/>
                </a:lnTo>
                <a:close/>
                <a:moveTo>
                  <a:pt x="12" y="1539"/>
                </a:moveTo>
                <a:lnTo>
                  <a:pt x="12" y="1551"/>
                </a:lnTo>
                <a:lnTo>
                  <a:pt x="0" y="1551"/>
                </a:lnTo>
                <a:lnTo>
                  <a:pt x="0" y="1539"/>
                </a:lnTo>
                <a:lnTo>
                  <a:pt x="12" y="1539"/>
                </a:lnTo>
                <a:close/>
                <a:moveTo>
                  <a:pt x="12" y="1563"/>
                </a:moveTo>
                <a:lnTo>
                  <a:pt x="12" y="1575"/>
                </a:lnTo>
                <a:lnTo>
                  <a:pt x="0" y="1575"/>
                </a:lnTo>
                <a:lnTo>
                  <a:pt x="0" y="1563"/>
                </a:lnTo>
                <a:lnTo>
                  <a:pt x="12" y="1563"/>
                </a:lnTo>
                <a:close/>
                <a:moveTo>
                  <a:pt x="12" y="1587"/>
                </a:moveTo>
                <a:lnTo>
                  <a:pt x="12" y="1599"/>
                </a:lnTo>
                <a:lnTo>
                  <a:pt x="0" y="1599"/>
                </a:lnTo>
                <a:lnTo>
                  <a:pt x="0" y="1587"/>
                </a:lnTo>
                <a:lnTo>
                  <a:pt x="12" y="1587"/>
                </a:lnTo>
                <a:close/>
                <a:moveTo>
                  <a:pt x="12" y="1611"/>
                </a:moveTo>
                <a:lnTo>
                  <a:pt x="12" y="1623"/>
                </a:lnTo>
                <a:lnTo>
                  <a:pt x="0" y="1623"/>
                </a:lnTo>
                <a:lnTo>
                  <a:pt x="0" y="1611"/>
                </a:lnTo>
                <a:lnTo>
                  <a:pt x="12" y="1611"/>
                </a:lnTo>
                <a:close/>
                <a:moveTo>
                  <a:pt x="12" y="1635"/>
                </a:moveTo>
                <a:lnTo>
                  <a:pt x="12" y="1647"/>
                </a:lnTo>
                <a:lnTo>
                  <a:pt x="0" y="1647"/>
                </a:lnTo>
                <a:lnTo>
                  <a:pt x="0" y="1635"/>
                </a:lnTo>
                <a:lnTo>
                  <a:pt x="12" y="1635"/>
                </a:lnTo>
                <a:close/>
                <a:moveTo>
                  <a:pt x="12" y="1659"/>
                </a:moveTo>
                <a:lnTo>
                  <a:pt x="12" y="1671"/>
                </a:lnTo>
                <a:lnTo>
                  <a:pt x="0" y="1671"/>
                </a:lnTo>
                <a:lnTo>
                  <a:pt x="0" y="1659"/>
                </a:lnTo>
                <a:lnTo>
                  <a:pt x="12" y="1659"/>
                </a:lnTo>
                <a:close/>
                <a:moveTo>
                  <a:pt x="12" y="1683"/>
                </a:moveTo>
                <a:lnTo>
                  <a:pt x="12" y="1695"/>
                </a:lnTo>
                <a:lnTo>
                  <a:pt x="0" y="1695"/>
                </a:lnTo>
                <a:lnTo>
                  <a:pt x="0" y="1683"/>
                </a:lnTo>
                <a:lnTo>
                  <a:pt x="12" y="1683"/>
                </a:lnTo>
                <a:close/>
                <a:moveTo>
                  <a:pt x="12" y="1707"/>
                </a:moveTo>
                <a:lnTo>
                  <a:pt x="12" y="1719"/>
                </a:lnTo>
                <a:lnTo>
                  <a:pt x="0" y="1719"/>
                </a:lnTo>
                <a:lnTo>
                  <a:pt x="0" y="1707"/>
                </a:lnTo>
                <a:lnTo>
                  <a:pt x="12" y="1707"/>
                </a:lnTo>
                <a:close/>
                <a:moveTo>
                  <a:pt x="12" y="1731"/>
                </a:moveTo>
                <a:lnTo>
                  <a:pt x="12" y="1743"/>
                </a:lnTo>
                <a:lnTo>
                  <a:pt x="0" y="1743"/>
                </a:lnTo>
                <a:lnTo>
                  <a:pt x="0" y="1731"/>
                </a:lnTo>
                <a:lnTo>
                  <a:pt x="12" y="1731"/>
                </a:lnTo>
                <a:close/>
                <a:moveTo>
                  <a:pt x="12" y="1755"/>
                </a:moveTo>
                <a:lnTo>
                  <a:pt x="12" y="1767"/>
                </a:lnTo>
                <a:lnTo>
                  <a:pt x="0" y="1767"/>
                </a:lnTo>
                <a:lnTo>
                  <a:pt x="0" y="1755"/>
                </a:lnTo>
                <a:lnTo>
                  <a:pt x="12" y="1755"/>
                </a:lnTo>
                <a:close/>
                <a:moveTo>
                  <a:pt x="12" y="1779"/>
                </a:moveTo>
                <a:lnTo>
                  <a:pt x="12" y="1791"/>
                </a:lnTo>
                <a:lnTo>
                  <a:pt x="0" y="1791"/>
                </a:lnTo>
                <a:lnTo>
                  <a:pt x="0" y="1779"/>
                </a:lnTo>
                <a:lnTo>
                  <a:pt x="12" y="1779"/>
                </a:lnTo>
                <a:close/>
                <a:moveTo>
                  <a:pt x="12" y="1803"/>
                </a:moveTo>
                <a:lnTo>
                  <a:pt x="12" y="1815"/>
                </a:lnTo>
                <a:lnTo>
                  <a:pt x="0" y="1815"/>
                </a:lnTo>
                <a:lnTo>
                  <a:pt x="0" y="1803"/>
                </a:lnTo>
                <a:lnTo>
                  <a:pt x="12" y="1803"/>
                </a:lnTo>
                <a:close/>
                <a:moveTo>
                  <a:pt x="12" y="1827"/>
                </a:moveTo>
                <a:lnTo>
                  <a:pt x="12" y="1839"/>
                </a:lnTo>
                <a:lnTo>
                  <a:pt x="0" y="1839"/>
                </a:lnTo>
                <a:lnTo>
                  <a:pt x="0" y="1827"/>
                </a:lnTo>
                <a:lnTo>
                  <a:pt x="12" y="1827"/>
                </a:lnTo>
                <a:close/>
                <a:moveTo>
                  <a:pt x="12" y="1851"/>
                </a:moveTo>
                <a:lnTo>
                  <a:pt x="12" y="1863"/>
                </a:lnTo>
                <a:lnTo>
                  <a:pt x="0" y="1863"/>
                </a:lnTo>
                <a:lnTo>
                  <a:pt x="0" y="1851"/>
                </a:lnTo>
                <a:lnTo>
                  <a:pt x="12" y="1851"/>
                </a:lnTo>
                <a:close/>
                <a:moveTo>
                  <a:pt x="12" y="1875"/>
                </a:moveTo>
                <a:lnTo>
                  <a:pt x="12" y="1887"/>
                </a:lnTo>
                <a:lnTo>
                  <a:pt x="0" y="1887"/>
                </a:lnTo>
                <a:lnTo>
                  <a:pt x="0" y="1875"/>
                </a:lnTo>
                <a:lnTo>
                  <a:pt x="12" y="1875"/>
                </a:lnTo>
                <a:close/>
                <a:moveTo>
                  <a:pt x="12" y="1899"/>
                </a:moveTo>
                <a:lnTo>
                  <a:pt x="12" y="1911"/>
                </a:lnTo>
                <a:lnTo>
                  <a:pt x="0" y="1911"/>
                </a:lnTo>
                <a:lnTo>
                  <a:pt x="0" y="1899"/>
                </a:lnTo>
                <a:lnTo>
                  <a:pt x="12" y="1899"/>
                </a:lnTo>
                <a:close/>
                <a:moveTo>
                  <a:pt x="12" y="1923"/>
                </a:moveTo>
                <a:lnTo>
                  <a:pt x="12" y="1936"/>
                </a:lnTo>
                <a:lnTo>
                  <a:pt x="0" y="1936"/>
                </a:lnTo>
                <a:lnTo>
                  <a:pt x="0" y="1923"/>
                </a:lnTo>
                <a:lnTo>
                  <a:pt x="12" y="1923"/>
                </a:lnTo>
                <a:close/>
                <a:moveTo>
                  <a:pt x="12" y="1947"/>
                </a:moveTo>
                <a:lnTo>
                  <a:pt x="12" y="1959"/>
                </a:lnTo>
                <a:lnTo>
                  <a:pt x="0" y="1959"/>
                </a:lnTo>
                <a:lnTo>
                  <a:pt x="0" y="1947"/>
                </a:lnTo>
                <a:lnTo>
                  <a:pt x="12" y="1947"/>
                </a:lnTo>
                <a:close/>
                <a:moveTo>
                  <a:pt x="12" y="1972"/>
                </a:moveTo>
                <a:lnTo>
                  <a:pt x="12" y="1983"/>
                </a:lnTo>
                <a:lnTo>
                  <a:pt x="0" y="1983"/>
                </a:lnTo>
                <a:lnTo>
                  <a:pt x="0" y="1972"/>
                </a:lnTo>
                <a:lnTo>
                  <a:pt x="12" y="1972"/>
                </a:lnTo>
                <a:close/>
                <a:moveTo>
                  <a:pt x="12" y="1996"/>
                </a:moveTo>
                <a:lnTo>
                  <a:pt x="12" y="2008"/>
                </a:lnTo>
                <a:lnTo>
                  <a:pt x="0" y="2008"/>
                </a:lnTo>
                <a:lnTo>
                  <a:pt x="0" y="1996"/>
                </a:lnTo>
                <a:lnTo>
                  <a:pt x="12" y="1996"/>
                </a:lnTo>
                <a:close/>
                <a:moveTo>
                  <a:pt x="12" y="2019"/>
                </a:moveTo>
                <a:lnTo>
                  <a:pt x="12" y="2032"/>
                </a:lnTo>
                <a:lnTo>
                  <a:pt x="0" y="2032"/>
                </a:lnTo>
                <a:lnTo>
                  <a:pt x="0" y="2019"/>
                </a:lnTo>
                <a:lnTo>
                  <a:pt x="12" y="2019"/>
                </a:lnTo>
                <a:close/>
                <a:moveTo>
                  <a:pt x="12" y="2044"/>
                </a:moveTo>
                <a:lnTo>
                  <a:pt x="12" y="2056"/>
                </a:lnTo>
                <a:lnTo>
                  <a:pt x="0" y="2056"/>
                </a:lnTo>
                <a:lnTo>
                  <a:pt x="0" y="2044"/>
                </a:lnTo>
                <a:lnTo>
                  <a:pt x="12" y="2044"/>
                </a:lnTo>
                <a:close/>
                <a:moveTo>
                  <a:pt x="12" y="2068"/>
                </a:moveTo>
                <a:lnTo>
                  <a:pt x="12" y="2080"/>
                </a:lnTo>
                <a:lnTo>
                  <a:pt x="0" y="2080"/>
                </a:lnTo>
                <a:lnTo>
                  <a:pt x="0" y="2068"/>
                </a:lnTo>
                <a:lnTo>
                  <a:pt x="12" y="2068"/>
                </a:lnTo>
                <a:close/>
                <a:moveTo>
                  <a:pt x="12" y="2092"/>
                </a:moveTo>
                <a:lnTo>
                  <a:pt x="12" y="2104"/>
                </a:lnTo>
                <a:lnTo>
                  <a:pt x="0" y="2104"/>
                </a:lnTo>
                <a:lnTo>
                  <a:pt x="0" y="2092"/>
                </a:lnTo>
                <a:lnTo>
                  <a:pt x="12" y="2092"/>
                </a:lnTo>
                <a:close/>
                <a:moveTo>
                  <a:pt x="12" y="2116"/>
                </a:moveTo>
                <a:lnTo>
                  <a:pt x="12" y="2128"/>
                </a:lnTo>
                <a:lnTo>
                  <a:pt x="0" y="2128"/>
                </a:lnTo>
                <a:lnTo>
                  <a:pt x="0" y="2116"/>
                </a:lnTo>
                <a:lnTo>
                  <a:pt x="12" y="2116"/>
                </a:lnTo>
                <a:close/>
                <a:moveTo>
                  <a:pt x="12" y="2140"/>
                </a:moveTo>
                <a:lnTo>
                  <a:pt x="12" y="2152"/>
                </a:lnTo>
                <a:lnTo>
                  <a:pt x="0" y="2152"/>
                </a:lnTo>
                <a:lnTo>
                  <a:pt x="0" y="2140"/>
                </a:lnTo>
                <a:lnTo>
                  <a:pt x="12" y="2140"/>
                </a:lnTo>
                <a:close/>
                <a:moveTo>
                  <a:pt x="12" y="2164"/>
                </a:moveTo>
                <a:lnTo>
                  <a:pt x="12" y="2176"/>
                </a:lnTo>
                <a:lnTo>
                  <a:pt x="0" y="2176"/>
                </a:lnTo>
                <a:lnTo>
                  <a:pt x="0" y="2164"/>
                </a:lnTo>
                <a:lnTo>
                  <a:pt x="12" y="2164"/>
                </a:lnTo>
                <a:close/>
                <a:moveTo>
                  <a:pt x="12" y="2188"/>
                </a:moveTo>
                <a:lnTo>
                  <a:pt x="12" y="2200"/>
                </a:lnTo>
                <a:lnTo>
                  <a:pt x="0" y="2200"/>
                </a:lnTo>
                <a:lnTo>
                  <a:pt x="0" y="2188"/>
                </a:lnTo>
                <a:lnTo>
                  <a:pt x="12" y="2188"/>
                </a:lnTo>
                <a:close/>
                <a:moveTo>
                  <a:pt x="12" y="2212"/>
                </a:moveTo>
                <a:lnTo>
                  <a:pt x="12" y="2224"/>
                </a:lnTo>
                <a:lnTo>
                  <a:pt x="0" y="2224"/>
                </a:lnTo>
                <a:lnTo>
                  <a:pt x="0" y="2212"/>
                </a:lnTo>
                <a:lnTo>
                  <a:pt x="12" y="2212"/>
                </a:lnTo>
                <a:close/>
                <a:moveTo>
                  <a:pt x="12" y="2236"/>
                </a:moveTo>
                <a:lnTo>
                  <a:pt x="12" y="2248"/>
                </a:lnTo>
                <a:lnTo>
                  <a:pt x="0" y="2248"/>
                </a:lnTo>
                <a:lnTo>
                  <a:pt x="0" y="2236"/>
                </a:lnTo>
                <a:lnTo>
                  <a:pt x="12" y="2236"/>
                </a:lnTo>
                <a:close/>
                <a:moveTo>
                  <a:pt x="12" y="2260"/>
                </a:moveTo>
                <a:lnTo>
                  <a:pt x="12" y="2272"/>
                </a:lnTo>
                <a:lnTo>
                  <a:pt x="0" y="2272"/>
                </a:lnTo>
                <a:lnTo>
                  <a:pt x="0" y="2260"/>
                </a:lnTo>
                <a:lnTo>
                  <a:pt x="12" y="2260"/>
                </a:lnTo>
                <a:close/>
                <a:moveTo>
                  <a:pt x="12" y="2284"/>
                </a:moveTo>
                <a:lnTo>
                  <a:pt x="12" y="2296"/>
                </a:lnTo>
                <a:lnTo>
                  <a:pt x="0" y="2296"/>
                </a:lnTo>
                <a:lnTo>
                  <a:pt x="0" y="2284"/>
                </a:lnTo>
                <a:lnTo>
                  <a:pt x="12" y="2284"/>
                </a:lnTo>
                <a:close/>
                <a:moveTo>
                  <a:pt x="12" y="2308"/>
                </a:moveTo>
                <a:lnTo>
                  <a:pt x="12" y="2320"/>
                </a:lnTo>
                <a:lnTo>
                  <a:pt x="0" y="2320"/>
                </a:lnTo>
                <a:lnTo>
                  <a:pt x="0" y="2308"/>
                </a:lnTo>
                <a:lnTo>
                  <a:pt x="12" y="2308"/>
                </a:lnTo>
                <a:close/>
                <a:moveTo>
                  <a:pt x="12" y="2332"/>
                </a:moveTo>
                <a:lnTo>
                  <a:pt x="12" y="2344"/>
                </a:lnTo>
                <a:lnTo>
                  <a:pt x="0" y="2344"/>
                </a:lnTo>
                <a:lnTo>
                  <a:pt x="0" y="2332"/>
                </a:lnTo>
                <a:lnTo>
                  <a:pt x="12" y="2332"/>
                </a:lnTo>
                <a:close/>
                <a:moveTo>
                  <a:pt x="12" y="2356"/>
                </a:moveTo>
                <a:lnTo>
                  <a:pt x="12" y="2368"/>
                </a:lnTo>
                <a:lnTo>
                  <a:pt x="0" y="2368"/>
                </a:lnTo>
                <a:lnTo>
                  <a:pt x="0" y="2356"/>
                </a:lnTo>
                <a:lnTo>
                  <a:pt x="12" y="2356"/>
                </a:lnTo>
                <a:close/>
                <a:moveTo>
                  <a:pt x="12" y="2380"/>
                </a:moveTo>
                <a:lnTo>
                  <a:pt x="12" y="2392"/>
                </a:lnTo>
                <a:lnTo>
                  <a:pt x="0" y="2392"/>
                </a:lnTo>
                <a:lnTo>
                  <a:pt x="0" y="2380"/>
                </a:lnTo>
                <a:lnTo>
                  <a:pt x="12" y="2380"/>
                </a:lnTo>
                <a:close/>
                <a:moveTo>
                  <a:pt x="12" y="2404"/>
                </a:moveTo>
                <a:lnTo>
                  <a:pt x="12" y="2416"/>
                </a:lnTo>
                <a:lnTo>
                  <a:pt x="0" y="2416"/>
                </a:lnTo>
                <a:lnTo>
                  <a:pt x="0" y="2404"/>
                </a:lnTo>
                <a:lnTo>
                  <a:pt x="12" y="2404"/>
                </a:lnTo>
                <a:close/>
                <a:moveTo>
                  <a:pt x="12" y="2428"/>
                </a:moveTo>
                <a:lnTo>
                  <a:pt x="12" y="2440"/>
                </a:lnTo>
                <a:lnTo>
                  <a:pt x="0" y="2440"/>
                </a:lnTo>
                <a:lnTo>
                  <a:pt x="0" y="2428"/>
                </a:lnTo>
                <a:lnTo>
                  <a:pt x="12" y="2428"/>
                </a:lnTo>
                <a:close/>
                <a:moveTo>
                  <a:pt x="12" y="2452"/>
                </a:moveTo>
                <a:lnTo>
                  <a:pt x="12" y="2464"/>
                </a:lnTo>
                <a:lnTo>
                  <a:pt x="0" y="2464"/>
                </a:lnTo>
                <a:lnTo>
                  <a:pt x="0" y="2452"/>
                </a:lnTo>
                <a:lnTo>
                  <a:pt x="12" y="2452"/>
                </a:lnTo>
                <a:close/>
                <a:moveTo>
                  <a:pt x="12" y="2477"/>
                </a:moveTo>
                <a:lnTo>
                  <a:pt x="12" y="2488"/>
                </a:lnTo>
                <a:lnTo>
                  <a:pt x="0" y="2488"/>
                </a:lnTo>
                <a:lnTo>
                  <a:pt x="0" y="2477"/>
                </a:lnTo>
                <a:lnTo>
                  <a:pt x="12" y="2477"/>
                </a:lnTo>
                <a:close/>
                <a:moveTo>
                  <a:pt x="12" y="2500"/>
                </a:moveTo>
                <a:lnTo>
                  <a:pt x="12" y="2513"/>
                </a:lnTo>
                <a:lnTo>
                  <a:pt x="0" y="2513"/>
                </a:lnTo>
                <a:lnTo>
                  <a:pt x="0" y="2500"/>
                </a:lnTo>
                <a:lnTo>
                  <a:pt x="12" y="2500"/>
                </a:lnTo>
                <a:close/>
                <a:moveTo>
                  <a:pt x="12" y="2524"/>
                </a:moveTo>
                <a:lnTo>
                  <a:pt x="12" y="2537"/>
                </a:lnTo>
                <a:lnTo>
                  <a:pt x="0" y="2537"/>
                </a:lnTo>
                <a:lnTo>
                  <a:pt x="0" y="2524"/>
                </a:lnTo>
                <a:lnTo>
                  <a:pt x="12" y="2524"/>
                </a:lnTo>
                <a:close/>
                <a:moveTo>
                  <a:pt x="12" y="2549"/>
                </a:moveTo>
                <a:lnTo>
                  <a:pt x="12" y="2560"/>
                </a:lnTo>
                <a:lnTo>
                  <a:pt x="0" y="2560"/>
                </a:lnTo>
                <a:lnTo>
                  <a:pt x="0" y="2549"/>
                </a:lnTo>
                <a:lnTo>
                  <a:pt x="12" y="2549"/>
                </a:lnTo>
                <a:close/>
              </a:path>
            </a:pathLst>
          </a:custGeom>
          <a:solidFill>
            <a:srgbClr val="000000"/>
          </a:solidFill>
          <a:ln w="0" cap="flat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92" name="Freeform 89">
            <a:extLst>
              <a:ext uri="{FF2B5EF4-FFF2-40B4-BE49-F238E27FC236}">
                <a16:creationId xmlns:a16="http://schemas.microsoft.com/office/drawing/2014/main" id="{9F176379-1C38-4604-8978-FE4B3C0C3F6F}"/>
              </a:ext>
            </a:extLst>
          </p:cNvPr>
          <p:cNvSpPr>
            <a:spLocks noEditPoints="1"/>
          </p:cNvSpPr>
          <p:nvPr/>
        </p:nvSpPr>
        <p:spPr bwMode="auto">
          <a:xfrm>
            <a:off x="5726113" y="2344738"/>
            <a:ext cx="18000" cy="4032000"/>
          </a:xfrm>
          <a:custGeom>
            <a:avLst/>
            <a:gdLst>
              <a:gd name="T0" fmla="*/ 0 w 12"/>
              <a:gd name="T1" fmla="*/ 24 h 2560"/>
              <a:gd name="T2" fmla="*/ 0 w 12"/>
              <a:gd name="T3" fmla="*/ 84 h 2560"/>
              <a:gd name="T4" fmla="*/ 12 w 12"/>
              <a:gd name="T5" fmla="*/ 132 h 2560"/>
              <a:gd name="T6" fmla="*/ 12 w 12"/>
              <a:gd name="T7" fmla="*/ 168 h 2560"/>
              <a:gd name="T8" fmla="*/ 12 w 12"/>
              <a:gd name="T9" fmla="*/ 192 h 2560"/>
              <a:gd name="T10" fmla="*/ 0 w 12"/>
              <a:gd name="T11" fmla="*/ 240 h 2560"/>
              <a:gd name="T12" fmla="*/ 0 w 12"/>
              <a:gd name="T13" fmla="*/ 300 h 2560"/>
              <a:gd name="T14" fmla="*/ 12 w 12"/>
              <a:gd name="T15" fmla="*/ 349 h 2560"/>
              <a:gd name="T16" fmla="*/ 12 w 12"/>
              <a:gd name="T17" fmla="*/ 385 h 2560"/>
              <a:gd name="T18" fmla="*/ 12 w 12"/>
              <a:gd name="T19" fmla="*/ 409 h 2560"/>
              <a:gd name="T20" fmla="*/ 0 w 12"/>
              <a:gd name="T21" fmla="*/ 457 h 2560"/>
              <a:gd name="T22" fmla="*/ 0 w 12"/>
              <a:gd name="T23" fmla="*/ 517 h 2560"/>
              <a:gd name="T24" fmla="*/ 12 w 12"/>
              <a:gd name="T25" fmla="*/ 565 h 2560"/>
              <a:gd name="T26" fmla="*/ 12 w 12"/>
              <a:gd name="T27" fmla="*/ 601 h 2560"/>
              <a:gd name="T28" fmla="*/ 12 w 12"/>
              <a:gd name="T29" fmla="*/ 625 h 2560"/>
              <a:gd name="T30" fmla="*/ 0 w 12"/>
              <a:gd name="T31" fmla="*/ 673 h 2560"/>
              <a:gd name="T32" fmla="*/ 0 w 12"/>
              <a:gd name="T33" fmla="*/ 733 h 2560"/>
              <a:gd name="T34" fmla="*/ 12 w 12"/>
              <a:gd name="T35" fmla="*/ 781 h 2560"/>
              <a:gd name="T36" fmla="*/ 12 w 12"/>
              <a:gd name="T37" fmla="*/ 817 h 2560"/>
              <a:gd name="T38" fmla="*/ 12 w 12"/>
              <a:gd name="T39" fmla="*/ 841 h 2560"/>
              <a:gd name="T40" fmla="*/ 0 w 12"/>
              <a:gd name="T41" fmla="*/ 890 h 2560"/>
              <a:gd name="T42" fmla="*/ 0 w 12"/>
              <a:gd name="T43" fmla="*/ 950 h 2560"/>
              <a:gd name="T44" fmla="*/ 12 w 12"/>
              <a:gd name="T45" fmla="*/ 998 h 2560"/>
              <a:gd name="T46" fmla="*/ 12 w 12"/>
              <a:gd name="T47" fmla="*/ 1034 h 2560"/>
              <a:gd name="T48" fmla="*/ 12 w 12"/>
              <a:gd name="T49" fmla="*/ 1058 h 2560"/>
              <a:gd name="T50" fmla="*/ 0 w 12"/>
              <a:gd name="T51" fmla="*/ 1106 h 2560"/>
              <a:gd name="T52" fmla="*/ 0 w 12"/>
              <a:gd name="T53" fmla="*/ 1166 h 2560"/>
              <a:gd name="T54" fmla="*/ 12 w 12"/>
              <a:gd name="T55" fmla="*/ 1214 h 2560"/>
              <a:gd name="T56" fmla="*/ 12 w 12"/>
              <a:gd name="T57" fmla="*/ 1250 h 2560"/>
              <a:gd name="T58" fmla="*/ 12 w 12"/>
              <a:gd name="T59" fmla="*/ 1274 h 2560"/>
              <a:gd name="T60" fmla="*/ 0 w 12"/>
              <a:gd name="T61" fmla="*/ 1322 h 2560"/>
              <a:gd name="T62" fmla="*/ 0 w 12"/>
              <a:gd name="T63" fmla="*/ 1382 h 2560"/>
              <a:gd name="T64" fmla="*/ 12 w 12"/>
              <a:gd name="T65" fmla="*/ 1431 h 2560"/>
              <a:gd name="T66" fmla="*/ 12 w 12"/>
              <a:gd name="T67" fmla="*/ 1467 h 2560"/>
              <a:gd name="T68" fmla="*/ 12 w 12"/>
              <a:gd name="T69" fmla="*/ 1491 h 2560"/>
              <a:gd name="T70" fmla="*/ 0 w 12"/>
              <a:gd name="T71" fmla="*/ 1539 h 2560"/>
              <a:gd name="T72" fmla="*/ 0 w 12"/>
              <a:gd name="T73" fmla="*/ 1599 h 2560"/>
              <a:gd name="T74" fmla="*/ 12 w 12"/>
              <a:gd name="T75" fmla="*/ 1647 h 2560"/>
              <a:gd name="T76" fmla="*/ 12 w 12"/>
              <a:gd name="T77" fmla="*/ 1683 h 2560"/>
              <a:gd name="T78" fmla="*/ 12 w 12"/>
              <a:gd name="T79" fmla="*/ 1707 h 2560"/>
              <a:gd name="T80" fmla="*/ 0 w 12"/>
              <a:gd name="T81" fmla="*/ 1755 h 2560"/>
              <a:gd name="T82" fmla="*/ 0 w 12"/>
              <a:gd name="T83" fmla="*/ 1815 h 2560"/>
              <a:gd name="T84" fmla="*/ 12 w 12"/>
              <a:gd name="T85" fmla="*/ 1863 h 2560"/>
              <a:gd name="T86" fmla="*/ 12 w 12"/>
              <a:gd name="T87" fmla="*/ 1899 h 2560"/>
              <a:gd name="T88" fmla="*/ 12 w 12"/>
              <a:gd name="T89" fmla="*/ 1923 h 2560"/>
              <a:gd name="T90" fmla="*/ 0 w 12"/>
              <a:gd name="T91" fmla="*/ 1972 h 2560"/>
              <a:gd name="T92" fmla="*/ 0 w 12"/>
              <a:gd name="T93" fmla="*/ 2032 h 2560"/>
              <a:gd name="T94" fmla="*/ 12 w 12"/>
              <a:gd name="T95" fmla="*/ 2080 h 2560"/>
              <a:gd name="T96" fmla="*/ 12 w 12"/>
              <a:gd name="T97" fmla="*/ 2116 h 2560"/>
              <a:gd name="T98" fmla="*/ 12 w 12"/>
              <a:gd name="T99" fmla="*/ 2140 h 2560"/>
              <a:gd name="T100" fmla="*/ 0 w 12"/>
              <a:gd name="T101" fmla="*/ 2188 h 2560"/>
              <a:gd name="T102" fmla="*/ 0 w 12"/>
              <a:gd name="T103" fmla="*/ 2248 h 2560"/>
              <a:gd name="T104" fmla="*/ 12 w 12"/>
              <a:gd name="T105" fmla="*/ 2296 h 2560"/>
              <a:gd name="T106" fmla="*/ 12 w 12"/>
              <a:gd name="T107" fmla="*/ 2332 h 2560"/>
              <a:gd name="T108" fmla="*/ 12 w 12"/>
              <a:gd name="T109" fmla="*/ 2356 h 2560"/>
              <a:gd name="T110" fmla="*/ 0 w 12"/>
              <a:gd name="T111" fmla="*/ 2404 h 2560"/>
              <a:gd name="T112" fmla="*/ 0 w 12"/>
              <a:gd name="T113" fmla="*/ 2464 h 2560"/>
              <a:gd name="T114" fmla="*/ 12 w 12"/>
              <a:gd name="T115" fmla="*/ 2513 h 2560"/>
              <a:gd name="T116" fmla="*/ 12 w 12"/>
              <a:gd name="T117" fmla="*/ 2549 h 25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12" h="2560">
                <a:moveTo>
                  <a:pt x="12" y="0"/>
                </a:moveTo>
                <a:lnTo>
                  <a:pt x="12" y="12"/>
                </a:lnTo>
                <a:lnTo>
                  <a:pt x="0" y="12"/>
                </a:lnTo>
                <a:lnTo>
                  <a:pt x="0" y="0"/>
                </a:lnTo>
                <a:lnTo>
                  <a:pt x="12" y="0"/>
                </a:lnTo>
                <a:close/>
                <a:moveTo>
                  <a:pt x="12" y="24"/>
                </a:moveTo>
                <a:lnTo>
                  <a:pt x="12" y="36"/>
                </a:lnTo>
                <a:lnTo>
                  <a:pt x="0" y="36"/>
                </a:lnTo>
                <a:lnTo>
                  <a:pt x="0" y="24"/>
                </a:lnTo>
                <a:lnTo>
                  <a:pt x="12" y="24"/>
                </a:lnTo>
                <a:close/>
                <a:moveTo>
                  <a:pt x="12" y="48"/>
                </a:moveTo>
                <a:lnTo>
                  <a:pt x="12" y="60"/>
                </a:lnTo>
                <a:lnTo>
                  <a:pt x="0" y="60"/>
                </a:lnTo>
                <a:lnTo>
                  <a:pt x="0" y="48"/>
                </a:lnTo>
                <a:lnTo>
                  <a:pt x="12" y="48"/>
                </a:lnTo>
                <a:close/>
                <a:moveTo>
                  <a:pt x="12" y="72"/>
                </a:moveTo>
                <a:lnTo>
                  <a:pt x="12" y="84"/>
                </a:lnTo>
                <a:lnTo>
                  <a:pt x="0" y="84"/>
                </a:lnTo>
                <a:lnTo>
                  <a:pt x="0" y="72"/>
                </a:lnTo>
                <a:lnTo>
                  <a:pt x="12" y="72"/>
                </a:lnTo>
                <a:close/>
                <a:moveTo>
                  <a:pt x="12" y="96"/>
                </a:moveTo>
                <a:lnTo>
                  <a:pt x="12" y="108"/>
                </a:lnTo>
                <a:lnTo>
                  <a:pt x="0" y="108"/>
                </a:lnTo>
                <a:lnTo>
                  <a:pt x="0" y="96"/>
                </a:lnTo>
                <a:lnTo>
                  <a:pt x="12" y="96"/>
                </a:lnTo>
                <a:close/>
                <a:moveTo>
                  <a:pt x="12" y="120"/>
                </a:moveTo>
                <a:lnTo>
                  <a:pt x="12" y="132"/>
                </a:lnTo>
                <a:lnTo>
                  <a:pt x="0" y="132"/>
                </a:lnTo>
                <a:lnTo>
                  <a:pt x="0" y="120"/>
                </a:lnTo>
                <a:lnTo>
                  <a:pt x="12" y="120"/>
                </a:lnTo>
                <a:close/>
                <a:moveTo>
                  <a:pt x="12" y="144"/>
                </a:moveTo>
                <a:lnTo>
                  <a:pt x="12" y="156"/>
                </a:lnTo>
                <a:lnTo>
                  <a:pt x="0" y="156"/>
                </a:lnTo>
                <a:lnTo>
                  <a:pt x="0" y="144"/>
                </a:lnTo>
                <a:lnTo>
                  <a:pt x="12" y="144"/>
                </a:lnTo>
                <a:close/>
                <a:moveTo>
                  <a:pt x="12" y="168"/>
                </a:moveTo>
                <a:lnTo>
                  <a:pt x="12" y="180"/>
                </a:lnTo>
                <a:lnTo>
                  <a:pt x="0" y="180"/>
                </a:lnTo>
                <a:lnTo>
                  <a:pt x="0" y="168"/>
                </a:lnTo>
                <a:lnTo>
                  <a:pt x="12" y="168"/>
                </a:lnTo>
                <a:close/>
                <a:moveTo>
                  <a:pt x="12" y="192"/>
                </a:moveTo>
                <a:lnTo>
                  <a:pt x="12" y="204"/>
                </a:lnTo>
                <a:lnTo>
                  <a:pt x="0" y="204"/>
                </a:lnTo>
                <a:lnTo>
                  <a:pt x="0" y="192"/>
                </a:lnTo>
                <a:lnTo>
                  <a:pt x="12" y="192"/>
                </a:lnTo>
                <a:close/>
                <a:moveTo>
                  <a:pt x="12" y="216"/>
                </a:moveTo>
                <a:lnTo>
                  <a:pt x="12" y="228"/>
                </a:lnTo>
                <a:lnTo>
                  <a:pt x="0" y="228"/>
                </a:lnTo>
                <a:lnTo>
                  <a:pt x="0" y="216"/>
                </a:lnTo>
                <a:lnTo>
                  <a:pt x="12" y="216"/>
                </a:lnTo>
                <a:close/>
                <a:moveTo>
                  <a:pt x="12" y="240"/>
                </a:moveTo>
                <a:lnTo>
                  <a:pt x="12" y="252"/>
                </a:lnTo>
                <a:lnTo>
                  <a:pt x="0" y="252"/>
                </a:lnTo>
                <a:lnTo>
                  <a:pt x="0" y="240"/>
                </a:lnTo>
                <a:lnTo>
                  <a:pt x="12" y="240"/>
                </a:lnTo>
                <a:close/>
                <a:moveTo>
                  <a:pt x="12" y="264"/>
                </a:moveTo>
                <a:lnTo>
                  <a:pt x="12" y="276"/>
                </a:lnTo>
                <a:lnTo>
                  <a:pt x="0" y="276"/>
                </a:lnTo>
                <a:lnTo>
                  <a:pt x="0" y="264"/>
                </a:lnTo>
                <a:lnTo>
                  <a:pt x="12" y="264"/>
                </a:lnTo>
                <a:close/>
                <a:moveTo>
                  <a:pt x="12" y="288"/>
                </a:moveTo>
                <a:lnTo>
                  <a:pt x="12" y="300"/>
                </a:lnTo>
                <a:lnTo>
                  <a:pt x="0" y="300"/>
                </a:lnTo>
                <a:lnTo>
                  <a:pt x="0" y="288"/>
                </a:lnTo>
                <a:lnTo>
                  <a:pt x="12" y="288"/>
                </a:lnTo>
                <a:close/>
                <a:moveTo>
                  <a:pt x="12" y="312"/>
                </a:moveTo>
                <a:lnTo>
                  <a:pt x="12" y="324"/>
                </a:lnTo>
                <a:lnTo>
                  <a:pt x="0" y="324"/>
                </a:lnTo>
                <a:lnTo>
                  <a:pt x="0" y="312"/>
                </a:lnTo>
                <a:lnTo>
                  <a:pt x="12" y="312"/>
                </a:lnTo>
                <a:close/>
                <a:moveTo>
                  <a:pt x="12" y="336"/>
                </a:moveTo>
                <a:lnTo>
                  <a:pt x="12" y="349"/>
                </a:lnTo>
                <a:lnTo>
                  <a:pt x="0" y="349"/>
                </a:lnTo>
                <a:lnTo>
                  <a:pt x="0" y="336"/>
                </a:lnTo>
                <a:lnTo>
                  <a:pt x="12" y="336"/>
                </a:lnTo>
                <a:close/>
                <a:moveTo>
                  <a:pt x="12" y="360"/>
                </a:moveTo>
                <a:lnTo>
                  <a:pt x="12" y="373"/>
                </a:lnTo>
                <a:lnTo>
                  <a:pt x="0" y="373"/>
                </a:lnTo>
                <a:lnTo>
                  <a:pt x="0" y="360"/>
                </a:lnTo>
                <a:lnTo>
                  <a:pt x="12" y="360"/>
                </a:lnTo>
                <a:close/>
                <a:moveTo>
                  <a:pt x="12" y="385"/>
                </a:moveTo>
                <a:lnTo>
                  <a:pt x="12" y="396"/>
                </a:lnTo>
                <a:lnTo>
                  <a:pt x="0" y="396"/>
                </a:lnTo>
                <a:lnTo>
                  <a:pt x="0" y="385"/>
                </a:lnTo>
                <a:lnTo>
                  <a:pt x="12" y="385"/>
                </a:lnTo>
                <a:close/>
                <a:moveTo>
                  <a:pt x="12" y="409"/>
                </a:moveTo>
                <a:lnTo>
                  <a:pt x="12" y="421"/>
                </a:lnTo>
                <a:lnTo>
                  <a:pt x="0" y="421"/>
                </a:lnTo>
                <a:lnTo>
                  <a:pt x="0" y="409"/>
                </a:lnTo>
                <a:lnTo>
                  <a:pt x="12" y="409"/>
                </a:lnTo>
                <a:close/>
                <a:moveTo>
                  <a:pt x="12" y="433"/>
                </a:moveTo>
                <a:lnTo>
                  <a:pt x="12" y="445"/>
                </a:lnTo>
                <a:lnTo>
                  <a:pt x="0" y="445"/>
                </a:lnTo>
                <a:lnTo>
                  <a:pt x="0" y="433"/>
                </a:lnTo>
                <a:lnTo>
                  <a:pt x="12" y="433"/>
                </a:lnTo>
                <a:close/>
                <a:moveTo>
                  <a:pt x="12" y="457"/>
                </a:moveTo>
                <a:lnTo>
                  <a:pt x="12" y="469"/>
                </a:lnTo>
                <a:lnTo>
                  <a:pt x="0" y="469"/>
                </a:lnTo>
                <a:lnTo>
                  <a:pt x="0" y="457"/>
                </a:lnTo>
                <a:lnTo>
                  <a:pt x="12" y="457"/>
                </a:lnTo>
                <a:close/>
                <a:moveTo>
                  <a:pt x="12" y="481"/>
                </a:moveTo>
                <a:lnTo>
                  <a:pt x="12" y="493"/>
                </a:lnTo>
                <a:lnTo>
                  <a:pt x="0" y="493"/>
                </a:lnTo>
                <a:lnTo>
                  <a:pt x="0" y="481"/>
                </a:lnTo>
                <a:lnTo>
                  <a:pt x="12" y="481"/>
                </a:lnTo>
                <a:close/>
                <a:moveTo>
                  <a:pt x="12" y="505"/>
                </a:moveTo>
                <a:lnTo>
                  <a:pt x="12" y="517"/>
                </a:lnTo>
                <a:lnTo>
                  <a:pt x="0" y="517"/>
                </a:lnTo>
                <a:lnTo>
                  <a:pt x="0" y="505"/>
                </a:lnTo>
                <a:lnTo>
                  <a:pt x="12" y="505"/>
                </a:lnTo>
                <a:close/>
                <a:moveTo>
                  <a:pt x="12" y="529"/>
                </a:moveTo>
                <a:lnTo>
                  <a:pt x="12" y="541"/>
                </a:lnTo>
                <a:lnTo>
                  <a:pt x="0" y="541"/>
                </a:lnTo>
                <a:lnTo>
                  <a:pt x="0" y="529"/>
                </a:lnTo>
                <a:lnTo>
                  <a:pt x="12" y="529"/>
                </a:lnTo>
                <a:close/>
                <a:moveTo>
                  <a:pt x="12" y="553"/>
                </a:moveTo>
                <a:lnTo>
                  <a:pt x="12" y="565"/>
                </a:lnTo>
                <a:lnTo>
                  <a:pt x="0" y="565"/>
                </a:lnTo>
                <a:lnTo>
                  <a:pt x="0" y="553"/>
                </a:lnTo>
                <a:lnTo>
                  <a:pt x="12" y="553"/>
                </a:lnTo>
                <a:close/>
                <a:moveTo>
                  <a:pt x="12" y="577"/>
                </a:moveTo>
                <a:lnTo>
                  <a:pt x="12" y="589"/>
                </a:lnTo>
                <a:lnTo>
                  <a:pt x="0" y="589"/>
                </a:lnTo>
                <a:lnTo>
                  <a:pt x="0" y="577"/>
                </a:lnTo>
                <a:lnTo>
                  <a:pt x="12" y="577"/>
                </a:lnTo>
                <a:close/>
                <a:moveTo>
                  <a:pt x="12" y="601"/>
                </a:moveTo>
                <a:lnTo>
                  <a:pt x="12" y="613"/>
                </a:lnTo>
                <a:lnTo>
                  <a:pt x="0" y="613"/>
                </a:lnTo>
                <a:lnTo>
                  <a:pt x="0" y="601"/>
                </a:lnTo>
                <a:lnTo>
                  <a:pt x="12" y="601"/>
                </a:lnTo>
                <a:close/>
                <a:moveTo>
                  <a:pt x="12" y="625"/>
                </a:moveTo>
                <a:lnTo>
                  <a:pt x="12" y="637"/>
                </a:lnTo>
                <a:lnTo>
                  <a:pt x="0" y="637"/>
                </a:lnTo>
                <a:lnTo>
                  <a:pt x="0" y="625"/>
                </a:lnTo>
                <a:lnTo>
                  <a:pt x="12" y="625"/>
                </a:lnTo>
                <a:close/>
                <a:moveTo>
                  <a:pt x="12" y="649"/>
                </a:moveTo>
                <a:lnTo>
                  <a:pt x="12" y="661"/>
                </a:lnTo>
                <a:lnTo>
                  <a:pt x="0" y="661"/>
                </a:lnTo>
                <a:lnTo>
                  <a:pt x="0" y="649"/>
                </a:lnTo>
                <a:lnTo>
                  <a:pt x="12" y="649"/>
                </a:lnTo>
                <a:close/>
                <a:moveTo>
                  <a:pt x="12" y="673"/>
                </a:moveTo>
                <a:lnTo>
                  <a:pt x="12" y="685"/>
                </a:lnTo>
                <a:lnTo>
                  <a:pt x="0" y="685"/>
                </a:lnTo>
                <a:lnTo>
                  <a:pt x="0" y="673"/>
                </a:lnTo>
                <a:lnTo>
                  <a:pt x="12" y="673"/>
                </a:lnTo>
                <a:close/>
                <a:moveTo>
                  <a:pt x="12" y="697"/>
                </a:moveTo>
                <a:lnTo>
                  <a:pt x="12" y="709"/>
                </a:lnTo>
                <a:lnTo>
                  <a:pt x="0" y="709"/>
                </a:lnTo>
                <a:lnTo>
                  <a:pt x="0" y="697"/>
                </a:lnTo>
                <a:lnTo>
                  <a:pt x="12" y="697"/>
                </a:lnTo>
                <a:close/>
                <a:moveTo>
                  <a:pt x="12" y="721"/>
                </a:moveTo>
                <a:lnTo>
                  <a:pt x="12" y="733"/>
                </a:lnTo>
                <a:lnTo>
                  <a:pt x="0" y="733"/>
                </a:lnTo>
                <a:lnTo>
                  <a:pt x="0" y="721"/>
                </a:lnTo>
                <a:lnTo>
                  <a:pt x="12" y="721"/>
                </a:lnTo>
                <a:close/>
                <a:moveTo>
                  <a:pt x="12" y="745"/>
                </a:moveTo>
                <a:lnTo>
                  <a:pt x="12" y="757"/>
                </a:lnTo>
                <a:lnTo>
                  <a:pt x="0" y="757"/>
                </a:lnTo>
                <a:lnTo>
                  <a:pt x="0" y="745"/>
                </a:lnTo>
                <a:lnTo>
                  <a:pt x="12" y="745"/>
                </a:lnTo>
                <a:close/>
                <a:moveTo>
                  <a:pt x="12" y="769"/>
                </a:moveTo>
                <a:lnTo>
                  <a:pt x="12" y="781"/>
                </a:lnTo>
                <a:lnTo>
                  <a:pt x="0" y="781"/>
                </a:lnTo>
                <a:lnTo>
                  <a:pt x="0" y="769"/>
                </a:lnTo>
                <a:lnTo>
                  <a:pt x="12" y="769"/>
                </a:lnTo>
                <a:close/>
                <a:moveTo>
                  <a:pt x="12" y="793"/>
                </a:moveTo>
                <a:lnTo>
                  <a:pt x="12" y="805"/>
                </a:lnTo>
                <a:lnTo>
                  <a:pt x="0" y="805"/>
                </a:lnTo>
                <a:lnTo>
                  <a:pt x="0" y="793"/>
                </a:lnTo>
                <a:lnTo>
                  <a:pt x="12" y="793"/>
                </a:lnTo>
                <a:close/>
                <a:moveTo>
                  <a:pt x="12" y="817"/>
                </a:moveTo>
                <a:lnTo>
                  <a:pt x="12" y="829"/>
                </a:lnTo>
                <a:lnTo>
                  <a:pt x="0" y="829"/>
                </a:lnTo>
                <a:lnTo>
                  <a:pt x="0" y="817"/>
                </a:lnTo>
                <a:lnTo>
                  <a:pt x="12" y="817"/>
                </a:lnTo>
                <a:close/>
                <a:moveTo>
                  <a:pt x="12" y="841"/>
                </a:moveTo>
                <a:lnTo>
                  <a:pt x="12" y="853"/>
                </a:lnTo>
                <a:lnTo>
                  <a:pt x="0" y="853"/>
                </a:lnTo>
                <a:lnTo>
                  <a:pt x="0" y="841"/>
                </a:lnTo>
                <a:lnTo>
                  <a:pt x="12" y="841"/>
                </a:lnTo>
                <a:close/>
                <a:moveTo>
                  <a:pt x="12" y="865"/>
                </a:moveTo>
                <a:lnTo>
                  <a:pt x="12" y="877"/>
                </a:lnTo>
                <a:lnTo>
                  <a:pt x="0" y="877"/>
                </a:lnTo>
                <a:lnTo>
                  <a:pt x="0" y="865"/>
                </a:lnTo>
                <a:lnTo>
                  <a:pt x="12" y="865"/>
                </a:lnTo>
                <a:close/>
                <a:moveTo>
                  <a:pt x="12" y="890"/>
                </a:moveTo>
                <a:lnTo>
                  <a:pt x="12" y="901"/>
                </a:lnTo>
                <a:lnTo>
                  <a:pt x="0" y="901"/>
                </a:lnTo>
                <a:lnTo>
                  <a:pt x="0" y="890"/>
                </a:lnTo>
                <a:lnTo>
                  <a:pt x="12" y="890"/>
                </a:lnTo>
                <a:close/>
                <a:moveTo>
                  <a:pt x="12" y="914"/>
                </a:moveTo>
                <a:lnTo>
                  <a:pt x="12" y="926"/>
                </a:lnTo>
                <a:lnTo>
                  <a:pt x="0" y="926"/>
                </a:lnTo>
                <a:lnTo>
                  <a:pt x="0" y="914"/>
                </a:lnTo>
                <a:lnTo>
                  <a:pt x="12" y="914"/>
                </a:lnTo>
                <a:close/>
                <a:moveTo>
                  <a:pt x="12" y="937"/>
                </a:moveTo>
                <a:lnTo>
                  <a:pt x="12" y="950"/>
                </a:lnTo>
                <a:lnTo>
                  <a:pt x="0" y="950"/>
                </a:lnTo>
                <a:lnTo>
                  <a:pt x="0" y="937"/>
                </a:lnTo>
                <a:lnTo>
                  <a:pt x="12" y="937"/>
                </a:lnTo>
                <a:close/>
                <a:moveTo>
                  <a:pt x="12" y="962"/>
                </a:moveTo>
                <a:lnTo>
                  <a:pt x="12" y="974"/>
                </a:lnTo>
                <a:lnTo>
                  <a:pt x="0" y="974"/>
                </a:lnTo>
                <a:lnTo>
                  <a:pt x="0" y="962"/>
                </a:lnTo>
                <a:lnTo>
                  <a:pt x="12" y="962"/>
                </a:lnTo>
                <a:close/>
                <a:moveTo>
                  <a:pt x="12" y="986"/>
                </a:moveTo>
                <a:lnTo>
                  <a:pt x="12" y="998"/>
                </a:lnTo>
                <a:lnTo>
                  <a:pt x="0" y="998"/>
                </a:lnTo>
                <a:lnTo>
                  <a:pt x="0" y="986"/>
                </a:lnTo>
                <a:lnTo>
                  <a:pt x="12" y="986"/>
                </a:lnTo>
                <a:close/>
                <a:moveTo>
                  <a:pt x="12" y="1010"/>
                </a:moveTo>
                <a:lnTo>
                  <a:pt x="12" y="1022"/>
                </a:lnTo>
                <a:lnTo>
                  <a:pt x="0" y="1022"/>
                </a:lnTo>
                <a:lnTo>
                  <a:pt x="0" y="1010"/>
                </a:lnTo>
                <a:lnTo>
                  <a:pt x="12" y="1010"/>
                </a:lnTo>
                <a:close/>
                <a:moveTo>
                  <a:pt x="12" y="1034"/>
                </a:moveTo>
                <a:lnTo>
                  <a:pt x="12" y="1046"/>
                </a:lnTo>
                <a:lnTo>
                  <a:pt x="0" y="1046"/>
                </a:lnTo>
                <a:lnTo>
                  <a:pt x="0" y="1034"/>
                </a:lnTo>
                <a:lnTo>
                  <a:pt x="12" y="1034"/>
                </a:lnTo>
                <a:close/>
                <a:moveTo>
                  <a:pt x="12" y="1058"/>
                </a:moveTo>
                <a:lnTo>
                  <a:pt x="12" y="1070"/>
                </a:lnTo>
                <a:lnTo>
                  <a:pt x="0" y="1070"/>
                </a:lnTo>
                <a:lnTo>
                  <a:pt x="0" y="1058"/>
                </a:lnTo>
                <a:lnTo>
                  <a:pt x="12" y="1058"/>
                </a:lnTo>
                <a:close/>
                <a:moveTo>
                  <a:pt x="12" y="1082"/>
                </a:moveTo>
                <a:lnTo>
                  <a:pt x="12" y="1094"/>
                </a:lnTo>
                <a:lnTo>
                  <a:pt x="0" y="1094"/>
                </a:lnTo>
                <a:lnTo>
                  <a:pt x="0" y="1082"/>
                </a:lnTo>
                <a:lnTo>
                  <a:pt x="12" y="1082"/>
                </a:lnTo>
                <a:close/>
                <a:moveTo>
                  <a:pt x="12" y="1106"/>
                </a:moveTo>
                <a:lnTo>
                  <a:pt x="12" y="1118"/>
                </a:lnTo>
                <a:lnTo>
                  <a:pt x="0" y="1118"/>
                </a:lnTo>
                <a:lnTo>
                  <a:pt x="0" y="1106"/>
                </a:lnTo>
                <a:lnTo>
                  <a:pt x="12" y="1106"/>
                </a:lnTo>
                <a:close/>
                <a:moveTo>
                  <a:pt x="12" y="1130"/>
                </a:moveTo>
                <a:lnTo>
                  <a:pt x="12" y="1142"/>
                </a:lnTo>
                <a:lnTo>
                  <a:pt x="0" y="1142"/>
                </a:lnTo>
                <a:lnTo>
                  <a:pt x="0" y="1130"/>
                </a:lnTo>
                <a:lnTo>
                  <a:pt x="12" y="1130"/>
                </a:lnTo>
                <a:close/>
                <a:moveTo>
                  <a:pt x="12" y="1154"/>
                </a:moveTo>
                <a:lnTo>
                  <a:pt x="12" y="1166"/>
                </a:lnTo>
                <a:lnTo>
                  <a:pt x="0" y="1166"/>
                </a:lnTo>
                <a:lnTo>
                  <a:pt x="0" y="1154"/>
                </a:lnTo>
                <a:lnTo>
                  <a:pt x="12" y="1154"/>
                </a:lnTo>
                <a:close/>
                <a:moveTo>
                  <a:pt x="12" y="1178"/>
                </a:moveTo>
                <a:lnTo>
                  <a:pt x="12" y="1190"/>
                </a:lnTo>
                <a:lnTo>
                  <a:pt x="0" y="1190"/>
                </a:lnTo>
                <a:lnTo>
                  <a:pt x="0" y="1178"/>
                </a:lnTo>
                <a:lnTo>
                  <a:pt x="12" y="1178"/>
                </a:lnTo>
                <a:close/>
                <a:moveTo>
                  <a:pt x="12" y="1202"/>
                </a:moveTo>
                <a:lnTo>
                  <a:pt x="12" y="1214"/>
                </a:lnTo>
                <a:lnTo>
                  <a:pt x="0" y="1214"/>
                </a:lnTo>
                <a:lnTo>
                  <a:pt x="0" y="1202"/>
                </a:lnTo>
                <a:lnTo>
                  <a:pt x="12" y="1202"/>
                </a:lnTo>
                <a:close/>
                <a:moveTo>
                  <a:pt x="12" y="1226"/>
                </a:moveTo>
                <a:lnTo>
                  <a:pt x="12" y="1238"/>
                </a:lnTo>
                <a:lnTo>
                  <a:pt x="0" y="1238"/>
                </a:lnTo>
                <a:lnTo>
                  <a:pt x="0" y="1226"/>
                </a:lnTo>
                <a:lnTo>
                  <a:pt x="12" y="1226"/>
                </a:lnTo>
                <a:close/>
                <a:moveTo>
                  <a:pt x="12" y="1250"/>
                </a:moveTo>
                <a:lnTo>
                  <a:pt x="12" y="1262"/>
                </a:lnTo>
                <a:lnTo>
                  <a:pt x="0" y="1262"/>
                </a:lnTo>
                <a:lnTo>
                  <a:pt x="0" y="1250"/>
                </a:lnTo>
                <a:lnTo>
                  <a:pt x="12" y="1250"/>
                </a:lnTo>
                <a:close/>
                <a:moveTo>
                  <a:pt x="12" y="1274"/>
                </a:moveTo>
                <a:lnTo>
                  <a:pt x="12" y="1286"/>
                </a:lnTo>
                <a:lnTo>
                  <a:pt x="0" y="1286"/>
                </a:lnTo>
                <a:lnTo>
                  <a:pt x="0" y="1274"/>
                </a:lnTo>
                <a:lnTo>
                  <a:pt x="12" y="1274"/>
                </a:lnTo>
                <a:close/>
                <a:moveTo>
                  <a:pt x="12" y="1298"/>
                </a:moveTo>
                <a:lnTo>
                  <a:pt x="12" y="1310"/>
                </a:lnTo>
                <a:lnTo>
                  <a:pt x="0" y="1310"/>
                </a:lnTo>
                <a:lnTo>
                  <a:pt x="0" y="1298"/>
                </a:lnTo>
                <a:lnTo>
                  <a:pt x="12" y="1298"/>
                </a:lnTo>
                <a:close/>
                <a:moveTo>
                  <a:pt x="12" y="1322"/>
                </a:moveTo>
                <a:lnTo>
                  <a:pt x="12" y="1334"/>
                </a:lnTo>
                <a:lnTo>
                  <a:pt x="0" y="1334"/>
                </a:lnTo>
                <a:lnTo>
                  <a:pt x="0" y="1322"/>
                </a:lnTo>
                <a:lnTo>
                  <a:pt x="12" y="1322"/>
                </a:lnTo>
                <a:close/>
                <a:moveTo>
                  <a:pt x="12" y="1346"/>
                </a:moveTo>
                <a:lnTo>
                  <a:pt x="12" y="1358"/>
                </a:lnTo>
                <a:lnTo>
                  <a:pt x="0" y="1358"/>
                </a:lnTo>
                <a:lnTo>
                  <a:pt x="0" y="1346"/>
                </a:lnTo>
                <a:lnTo>
                  <a:pt x="12" y="1346"/>
                </a:lnTo>
                <a:close/>
                <a:moveTo>
                  <a:pt x="12" y="1370"/>
                </a:moveTo>
                <a:lnTo>
                  <a:pt x="12" y="1382"/>
                </a:lnTo>
                <a:lnTo>
                  <a:pt x="0" y="1382"/>
                </a:lnTo>
                <a:lnTo>
                  <a:pt x="0" y="1370"/>
                </a:lnTo>
                <a:lnTo>
                  <a:pt x="12" y="1370"/>
                </a:lnTo>
                <a:close/>
                <a:moveTo>
                  <a:pt x="12" y="1395"/>
                </a:moveTo>
                <a:lnTo>
                  <a:pt x="12" y="1406"/>
                </a:lnTo>
                <a:lnTo>
                  <a:pt x="0" y="1406"/>
                </a:lnTo>
                <a:lnTo>
                  <a:pt x="0" y="1395"/>
                </a:lnTo>
                <a:lnTo>
                  <a:pt x="12" y="1395"/>
                </a:lnTo>
                <a:close/>
                <a:moveTo>
                  <a:pt x="12" y="1418"/>
                </a:moveTo>
                <a:lnTo>
                  <a:pt x="12" y="1431"/>
                </a:lnTo>
                <a:lnTo>
                  <a:pt x="0" y="1431"/>
                </a:lnTo>
                <a:lnTo>
                  <a:pt x="0" y="1418"/>
                </a:lnTo>
                <a:lnTo>
                  <a:pt x="12" y="1418"/>
                </a:lnTo>
                <a:close/>
                <a:moveTo>
                  <a:pt x="12" y="1442"/>
                </a:moveTo>
                <a:lnTo>
                  <a:pt x="12" y="1455"/>
                </a:lnTo>
                <a:lnTo>
                  <a:pt x="0" y="1455"/>
                </a:lnTo>
                <a:lnTo>
                  <a:pt x="0" y="1442"/>
                </a:lnTo>
                <a:lnTo>
                  <a:pt x="12" y="1442"/>
                </a:lnTo>
                <a:close/>
                <a:moveTo>
                  <a:pt x="12" y="1467"/>
                </a:moveTo>
                <a:lnTo>
                  <a:pt x="12" y="1478"/>
                </a:lnTo>
                <a:lnTo>
                  <a:pt x="0" y="1478"/>
                </a:lnTo>
                <a:lnTo>
                  <a:pt x="0" y="1467"/>
                </a:lnTo>
                <a:lnTo>
                  <a:pt x="12" y="1467"/>
                </a:lnTo>
                <a:close/>
                <a:moveTo>
                  <a:pt x="12" y="1491"/>
                </a:moveTo>
                <a:lnTo>
                  <a:pt x="12" y="1503"/>
                </a:lnTo>
                <a:lnTo>
                  <a:pt x="0" y="1503"/>
                </a:lnTo>
                <a:lnTo>
                  <a:pt x="0" y="1491"/>
                </a:lnTo>
                <a:lnTo>
                  <a:pt x="12" y="1491"/>
                </a:lnTo>
                <a:close/>
                <a:moveTo>
                  <a:pt x="12" y="1515"/>
                </a:moveTo>
                <a:lnTo>
                  <a:pt x="12" y="1527"/>
                </a:lnTo>
                <a:lnTo>
                  <a:pt x="0" y="1527"/>
                </a:lnTo>
                <a:lnTo>
                  <a:pt x="0" y="1515"/>
                </a:lnTo>
                <a:lnTo>
                  <a:pt x="12" y="1515"/>
                </a:lnTo>
                <a:close/>
                <a:moveTo>
                  <a:pt x="12" y="1539"/>
                </a:moveTo>
                <a:lnTo>
                  <a:pt x="12" y="1551"/>
                </a:lnTo>
                <a:lnTo>
                  <a:pt x="0" y="1551"/>
                </a:lnTo>
                <a:lnTo>
                  <a:pt x="0" y="1539"/>
                </a:lnTo>
                <a:lnTo>
                  <a:pt x="12" y="1539"/>
                </a:lnTo>
                <a:close/>
                <a:moveTo>
                  <a:pt x="12" y="1563"/>
                </a:moveTo>
                <a:lnTo>
                  <a:pt x="12" y="1575"/>
                </a:lnTo>
                <a:lnTo>
                  <a:pt x="0" y="1575"/>
                </a:lnTo>
                <a:lnTo>
                  <a:pt x="0" y="1563"/>
                </a:lnTo>
                <a:lnTo>
                  <a:pt x="12" y="1563"/>
                </a:lnTo>
                <a:close/>
                <a:moveTo>
                  <a:pt x="12" y="1587"/>
                </a:moveTo>
                <a:lnTo>
                  <a:pt x="12" y="1599"/>
                </a:lnTo>
                <a:lnTo>
                  <a:pt x="0" y="1599"/>
                </a:lnTo>
                <a:lnTo>
                  <a:pt x="0" y="1587"/>
                </a:lnTo>
                <a:lnTo>
                  <a:pt x="12" y="1587"/>
                </a:lnTo>
                <a:close/>
                <a:moveTo>
                  <a:pt x="12" y="1611"/>
                </a:moveTo>
                <a:lnTo>
                  <a:pt x="12" y="1623"/>
                </a:lnTo>
                <a:lnTo>
                  <a:pt x="0" y="1623"/>
                </a:lnTo>
                <a:lnTo>
                  <a:pt x="0" y="1611"/>
                </a:lnTo>
                <a:lnTo>
                  <a:pt x="12" y="1611"/>
                </a:lnTo>
                <a:close/>
                <a:moveTo>
                  <a:pt x="12" y="1635"/>
                </a:moveTo>
                <a:lnTo>
                  <a:pt x="12" y="1647"/>
                </a:lnTo>
                <a:lnTo>
                  <a:pt x="0" y="1647"/>
                </a:lnTo>
                <a:lnTo>
                  <a:pt x="0" y="1635"/>
                </a:lnTo>
                <a:lnTo>
                  <a:pt x="12" y="1635"/>
                </a:lnTo>
                <a:close/>
                <a:moveTo>
                  <a:pt x="12" y="1659"/>
                </a:moveTo>
                <a:lnTo>
                  <a:pt x="12" y="1671"/>
                </a:lnTo>
                <a:lnTo>
                  <a:pt x="0" y="1671"/>
                </a:lnTo>
                <a:lnTo>
                  <a:pt x="0" y="1659"/>
                </a:lnTo>
                <a:lnTo>
                  <a:pt x="12" y="1659"/>
                </a:lnTo>
                <a:close/>
                <a:moveTo>
                  <a:pt x="12" y="1683"/>
                </a:moveTo>
                <a:lnTo>
                  <a:pt x="12" y="1695"/>
                </a:lnTo>
                <a:lnTo>
                  <a:pt x="0" y="1695"/>
                </a:lnTo>
                <a:lnTo>
                  <a:pt x="0" y="1683"/>
                </a:lnTo>
                <a:lnTo>
                  <a:pt x="12" y="1683"/>
                </a:lnTo>
                <a:close/>
                <a:moveTo>
                  <a:pt x="12" y="1707"/>
                </a:moveTo>
                <a:lnTo>
                  <a:pt x="12" y="1719"/>
                </a:lnTo>
                <a:lnTo>
                  <a:pt x="0" y="1719"/>
                </a:lnTo>
                <a:lnTo>
                  <a:pt x="0" y="1707"/>
                </a:lnTo>
                <a:lnTo>
                  <a:pt x="12" y="1707"/>
                </a:lnTo>
                <a:close/>
                <a:moveTo>
                  <a:pt x="12" y="1731"/>
                </a:moveTo>
                <a:lnTo>
                  <a:pt x="12" y="1743"/>
                </a:lnTo>
                <a:lnTo>
                  <a:pt x="0" y="1743"/>
                </a:lnTo>
                <a:lnTo>
                  <a:pt x="0" y="1731"/>
                </a:lnTo>
                <a:lnTo>
                  <a:pt x="12" y="1731"/>
                </a:lnTo>
                <a:close/>
                <a:moveTo>
                  <a:pt x="12" y="1755"/>
                </a:moveTo>
                <a:lnTo>
                  <a:pt x="12" y="1767"/>
                </a:lnTo>
                <a:lnTo>
                  <a:pt x="0" y="1767"/>
                </a:lnTo>
                <a:lnTo>
                  <a:pt x="0" y="1755"/>
                </a:lnTo>
                <a:lnTo>
                  <a:pt x="12" y="1755"/>
                </a:lnTo>
                <a:close/>
                <a:moveTo>
                  <a:pt x="12" y="1779"/>
                </a:moveTo>
                <a:lnTo>
                  <a:pt x="12" y="1791"/>
                </a:lnTo>
                <a:lnTo>
                  <a:pt x="0" y="1791"/>
                </a:lnTo>
                <a:lnTo>
                  <a:pt x="0" y="1779"/>
                </a:lnTo>
                <a:lnTo>
                  <a:pt x="12" y="1779"/>
                </a:lnTo>
                <a:close/>
                <a:moveTo>
                  <a:pt x="12" y="1803"/>
                </a:moveTo>
                <a:lnTo>
                  <a:pt x="12" y="1815"/>
                </a:lnTo>
                <a:lnTo>
                  <a:pt x="0" y="1815"/>
                </a:lnTo>
                <a:lnTo>
                  <a:pt x="0" y="1803"/>
                </a:lnTo>
                <a:lnTo>
                  <a:pt x="12" y="1803"/>
                </a:lnTo>
                <a:close/>
                <a:moveTo>
                  <a:pt x="12" y="1827"/>
                </a:moveTo>
                <a:lnTo>
                  <a:pt x="12" y="1839"/>
                </a:lnTo>
                <a:lnTo>
                  <a:pt x="0" y="1839"/>
                </a:lnTo>
                <a:lnTo>
                  <a:pt x="0" y="1827"/>
                </a:lnTo>
                <a:lnTo>
                  <a:pt x="12" y="1827"/>
                </a:lnTo>
                <a:close/>
                <a:moveTo>
                  <a:pt x="12" y="1851"/>
                </a:moveTo>
                <a:lnTo>
                  <a:pt x="12" y="1863"/>
                </a:lnTo>
                <a:lnTo>
                  <a:pt x="0" y="1863"/>
                </a:lnTo>
                <a:lnTo>
                  <a:pt x="0" y="1851"/>
                </a:lnTo>
                <a:lnTo>
                  <a:pt x="12" y="1851"/>
                </a:lnTo>
                <a:close/>
                <a:moveTo>
                  <a:pt x="12" y="1875"/>
                </a:moveTo>
                <a:lnTo>
                  <a:pt x="12" y="1887"/>
                </a:lnTo>
                <a:lnTo>
                  <a:pt x="0" y="1887"/>
                </a:lnTo>
                <a:lnTo>
                  <a:pt x="0" y="1875"/>
                </a:lnTo>
                <a:lnTo>
                  <a:pt x="12" y="1875"/>
                </a:lnTo>
                <a:close/>
                <a:moveTo>
                  <a:pt x="12" y="1899"/>
                </a:moveTo>
                <a:lnTo>
                  <a:pt x="12" y="1911"/>
                </a:lnTo>
                <a:lnTo>
                  <a:pt x="0" y="1911"/>
                </a:lnTo>
                <a:lnTo>
                  <a:pt x="0" y="1899"/>
                </a:lnTo>
                <a:lnTo>
                  <a:pt x="12" y="1899"/>
                </a:lnTo>
                <a:close/>
                <a:moveTo>
                  <a:pt x="12" y="1923"/>
                </a:moveTo>
                <a:lnTo>
                  <a:pt x="12" y="1936"/>
                </a:lnTo>
                <a:lnTo>
                  <a:pt x="0" y="1936"/>
                </a:lnTo>
                <a:lnTo>
                  <a:pt x="0" y="1923"/>
                </a:lnTo>
                <a:lnTo>
                  <a:pt x="12" y="1923"/>
                </a:lnTo>
                <a:close/>
                <a:moveTo>
                  <a:pt x="12" y="1947"/>
                </a:moveTo>
                <a:lnTo>
                  <a:pt x="12" y="1959"/>
                </a:lnTo>
                <a:lnTo>
                  <a:pt x="0" y="1959"/>
                </a:lnTo>
                <a:lnTo>
                  <a:pt x="0" y="1947"/>
                </a:lnTo>
                <a:lnTo>
                  <a:pt x="12" y="1947"/>
                </a:lnTo>
                <a:close/>
                <a:moveTo>
                  <a:pt x="12" y="1972"/>
                </a:moveTo>
                <a:lnTo>
                  <a:pt x="12" y="1983"/>
                </a:lnTo>
                <a:lnTo>
                  <a:pt x="0" y="1983"/>
                </a:lnTo>
                <a:lnTo>
                  <a:pt x="0" y="1972"/>
                </a:lnTo>
                <a:lnTo>
                  <a:pt x="12" y="1972"/>
                </a:lnTo>
                <a:close/>
                <a:moveTo>
                  <a:pt x="12" y="1996"/>
                </a:moveTo>
                <a:lnTo>
                  <a:pt x="12" y="2008"/>
                </a:lnTo>
                <a:lnTo>
                  <a:pt x="0" y="2008"/>
                </a:lnTo>
                <a:lnTo>
                  <a:pt x="0" y="1996"/>
                </a:lnTo>
                <a:lnTo>
                  <a:pt x="12" y="1996"/>
                </a:lnTo>
                <a:close/>
                <a:moveTo>
                  <a:pt x="12" y="2019"/>
                </a:moveTo>
                <a:lnTo>
                  <a:pt x="12" y="2032"/>
                </a:lnTo>
                <a:lnTo>
                  <a:pt x="0" y="2032"/>
                </a:lnTo>
                <a:lnTo>
                  <a:pt x="0" y="2019"/>
                </a:lnTo>
                <a:lnTo>
                  <a:pt x="12" y="2019"/>
                </a:lnTo>
                <a:close/>
                <a:moveTo>
                  <a:pt x="12" y="2044"/>
                </a:moveTo>
                <a:lnTo>
                  <a:pt x="12" y="2056"/>
                </a:lnTo>
                <a:lnTo>
                  <a:pt x="0" y="2056"/>
                </a:lnTo>
                <a:lnTo>
                  <a:pt x="0" y="2044"/>
                </a:lnTo>
                <a:lnTo>
                  <a:pt x="12" y="2044"/>
                </a:lnTo>
                <a:close/>
                <a:moveTo>
                  <a:pt x="12" y="2068"/>
                </a:moveTo>
                <a:lnTo>
                  <a:pt x="12" y="2080"/>
                </a:lnTo>
                <a:lnTo>
                  <a:pt x="0" y="2080"/>
                </a:lnTo>
                <a:lnTo>
                  <a:pt x="0" y="2068"/>
                </a:lnTo>
                <a:lnTo>
                  <a:pt x="12" y="2068"/>
                </a:lnTo>
                <a:close/>
                <a:moveTo>
                  <a:pt x="12" y="2092"/>
                </a:moveTo>
                <a:lnTo>
                  <a:pt x="12" y="2104"/>
                </a:lnTo>
                <a:lnTo>
                  <a:pt x="0" y="2104"/>
                </a:lnTo>
                <a:lnTo>
                  <a:pt x="0" y="2092"/>
                </a:lnTo>
                <a:lnTo>
                  <a:pt x="12" y="2092"/>
                </a:lnTo>
                <a:close/>
                <a:moveTo>
                  <a:pt x="12" y="2116"/>
                </a:moveTo>
                <a:lnTo>
                  <a:pt x="12" y="2128"/>
                </a:lnTo>
                <a:lnTo>
                  <a:pt x="0" y="2128"/>
                </a:lnTo>
                <a:lnTo>
                  <a:pt x="0" y="2116"/>
                </a:lnTo>
                <a:lnTo>
                  <a:pt x="12" y="2116"/>
                </a:lnTo>
                <a:close/>
                <a:moveTo>
                  <a:pt x="12" y="2140"/>
                </a:moveTo>
                <a:lnTo>
                  <a:pt x="12" y="2152"/>
                </a:lnTo>
                <a:lnTo>
                  <a:pt x="0" y="2152"/>
                </a:lnTo>
                <a:lnTo>
                  <a:pt x="0" y="2140"/>
                </a:lnTo>
                <a:lnTo>
                  <a:pt x="12" y="2140"/>
                </a:lnTo>
                <a:close/>
                <a:moveTo>
                  <a:pt x="12" y="2164"/>
                </a:moveTo>
                <a:lnTo>
                  <a:pt x="12" y="2176"/>
                </a:lnTo>
                <a:lnTo>
                  <a:pt x="0" y="2176"/>
                </a:lnTo>
                <a:lnTo>
                  <a:pt x="0" y="2164"/>
                </a:lnTo>
                <a:lnTo>
                  <a:pt x="12" y="2164"/>
                </a:lnTo>
                <a:close/>
                <a:moveTo>
                  <a:pt x="12" y="2188"/>
                </a:moveTo>
                <a:lnTo>
                  <a:pt x="12" y="2200"/>
                </a:lnTo>
                <a:lnTo>
                  <a:pt x="0" y="2200"/>
                </a:lnTo>
                <a:lnTo>
                  <a:pt x="0" y="2188"/>
                </a:lnTo>
                <a:lnTo>
                  <a:pt x="12" y="2188"/>
                </a:lnTo>
                <a:close/>
                <a:moveTo>
                  <a:pt x="12" y="2212"/>
                </a:moveTo>
                <a:lnTo>
                  <a:pt x="12" y="2224"/>
                </a:lnTo>
                <a:lnTo>
                  <a:pt x="0" y="2224"/>
                </a:lnTo>
                <a:lnTo>
                  <a:pt x="0" y="2212"/>
                </a:lnTo>
                <a:lnTo>
                  <a:pt x="12" y="2212"/>
                </a:lnTo>
                <a:close/>
                <a:moveTo>
                  <a:pt x="12" y="2236"/>
                </a:moveTo>
                <a:lnTo>
                  <a:pt x="12" y="2248"/>
                </a:lnTo>
                <a:lnTo>
                  <a:pt x="0" y="2248"/>
                </a:lnTo>
                <a:lnTo>
                  <a:pt x="0" y="2236"/>
                </a:lnTo>
                <a:lnTo>
                  <a:pt x="12" y="2236"/>
                </a:lnTo>
                <a:close/>
                <a:moveTo>
                  <a:pt x="12" y="2260"/>
                </a:moveTo>
                <a:lnTo>
                  <a:pt x="12" y="2272"/>
                </a:lnTo>
                <a:lnTo>
                  <a:pt x="0" y="2272"/>
                </a:lnTo>
                <a:lnTo>
                  <a:pt x="0" y="2260"/>
                </a:lnTo>
                <a:lnTo>
                  <a:pt x="12" y="2260"/>
                </a:lnTo>
                <a:close/>
                <a:moveTo>
                  <a:pt x="12" y="2284"/>
                </a:moveTo>
                <a:lnTo>
                  <a:pt x="12" y="2296"/>
                </a:lnTo>
                <a:lnTo>
                  <a:pt x="0" y="2296"/>
                </a:lnTo>
                <a:lnTo>
                  <a:pt x="0" y="2284"/>
                </a:lnTo>
                <a:lnTo>
                  <a:pt x="12" y="2284"/>
                </a:lnTo>
                <a:close/>
                <a:moveTo>
                  <a:pt x="12" y="2308"/>
                </a:moveTo>
                <a:lnTo>
                  <a:pt x="12" y="2320"/>
                </a:lnTo>
                <a:lnTo>
                  <a:pt x="0" y="2320"/>
                </a:lnTo>
                <a:lnTo>
                  <a:pt x="0" y="2308"/>
                </a:lnTo>
                <a:lnTo>
                  <a:pt x="12" y="2308"/>
                </a:lnTo>
                <a:close/>
                <a:moveTo>
                  <a:pt x="12" y="2332"/>
                </a:moveTo>
                <a:lnTo>
                  <a:pt x="12" y="2344"/>
                </a:lnTo>
                <a:lnTo>
                  <a:pt x="0" y="2344"/>
                </a:lnTo>
                <a:lnTo>
                  <a:pt x="0" y="2332"/>
                </a:lnTo>
                <a:lnTo>
                  <a:pt x="12" y="2332"/>
                </a:lnTo>
                <a:close/>
                <a:moveTo>
                  <a:pt x="12" y="2356"/>
                </a:moveTo>
                <a:lnTo>
                  <a:pt x="12" y="2368"/>
                </a:lnTo>
                <a:lnTo>
                  <a:pt x="0" y="2368"/>
                </a:lnTo>
                <a:lnTo>
                  <a:pt x="0" y="2356"/>
                </a:lnTo>
                <a:lnTo>
                  <a:pt x="12" y="2356"/>
                </a:lnTo>
                <a:close/>
                <a:moveTo>
                  <a:pt x="12" y="2380"/>
                </a:moveTo>
                <a:lnTo>
                  <a:pt x="12" y="2392"/>
                </a:lnTo>
                <a:lnTo>
                  <a:pt x="0" y="2392"/>
                </a:lnTo>
                <a:lnTo>
                  <a:pt x="0" y="2380"/>
                </a:lnTo>
                <a:lnTo>
                  <a:pt x="12" y="2380"/>
                </a:lnTo>
                <a:close/>
                <a:moveTo>
                  <a:pt x="12" y="2404"/>
                </a:moveTo>
                <a:lnTo>
                  <a:pt x="12" y="2416"/>
                </a:lnTo>
                <a:lnTo>
                  <a:pt x="0" y="2416"/>
                </a:lnTo>
                <a:lnTo>
                  <a:pt x="0" y="2404"/>
                </a:lnTo>
                <a:lnTo>
                  <a:pt x="12" y="2404"/>
                </a:lnTo>
                <a:close/>
                <a:moveTo>
                  <a:pt x="12" y="2428"/>
                </a:moveTo>
                <a:lnTo>
                  <a:pt x="12" y="2440"/>
                </a:lnTo>
                <a:lnTo>
                  <a:pt x="0" y="2440"/>
                </a:lnTo>
                <a:lnTo>
                  <a:pt x="0" y="2428"/>
                </a:lnTo>
                <a:lnTo>
                  <a:pt x="12" y="2428"/>
                </a:lnTo>
                <a:close/>
                <a:moveTo>
                  <a:pt x="12" y="2452"/>
                </a:moveTo>
                <a:lnTo>
                  <a:pt x="12" y="2464"/>
                </a:lnTo>
                <a:lnTo>
                  <a:pt x="0" y="2464"/>
                </a:lnTo>
                <a:lnTo>
                  <a:pt x="0" y="2452"/>
                </a:lnTo>
                <a:lnTo>
                  <a:pt x="12" y="2452"/>
                </a:lnTo>
                <a:close/>
                <a:moveTo>
                  <a:pt x="12" y="2477"/>
                </a:moveTo>
                <a:lnTo>
                  <a:pt x="12" y="2488"/>
                </a:lnTo>
                <a:lnTo>
                  <a:pt x="0" y="2488"/>
                </a:lnTo>
                <a:lnTo>
                  <a:pt x="0" y="2477"/>
                </a:lnTo>
                <a:lnTo>
                  <a:pt x="12" y="2477"/>
                </a:lnTo>
                <a:close/>
                <a:moveTo>
                  <a:pt x="12" y="2500"/>
                </a:moveTo>
                <a:lnTo>
                  <a:pt x="12" y="2513"/>
                </a:lnTo>
                <a:lnTo>
                  <a:pt x="0" y="2513"/>
                </a:lnTo>
                <a:lnTo>
                  <a:pt x="0" y="2500"/>
                </a:lnTo>
                <a:lnTo>
                  <a:pt x="12" y="2500"/>
                </a:lnTo>
                <a:close/>
                <a:moveTo>
                  <a:pt x="12" y="2524"/>
                </a:moveTo>
                <a:lnTo>
                  <a:pt x="12" y="2537"/>
                </a:lnTo>
                <a:lnTo>
                  <a:pt x="0" y="2537"/>
                </a:lnTo>
                <a:lnTo>
                  <a:pt x="0" y="2524"/>
                </a:lnTo>
                <a:lnTo>
                  <a:pt x="12" y="2524"/>
                </a:lnTo>
                <a:close/>
                <a:moveTo>
                  <a:pt x="12" y="2549"/>
                </a:moveTo>
                <a:lnTo>
                  <a:pt x="12" y="2560"/>
                </a:lnTo>
                <a:lnTo>
                  <a:pt x="0" y="2560"/>
                </a:lnTo>
                <a:lnTo>
                  <a:pt x="0" y="2549"/>
                </a:lnTo>
                <a:lnTo>
                  <a:pt x="12" y="2549"/>
                </a:lnTo>
                <a:close/>
              </a:path>
            </a:pathLst>
          </a:custGeom>
          <a:solidFill>
            <a:srgbClr val="000000"/>
          </a:solidFill>
          <a:ln w="0" cap="flat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93" name="Freeform 90">
            <a:extLst>
              <a:ext uri="{FF2B5EF4-FFF2-40B4-BE49-F238E27FC236}">
                <a16:creationId xmlns:a16="http://schemas.microsoft.com/office/drawing/2014/main" id="{F47812E1-BA6A-4FDA-A671-E70A303F5C83}"/>
              </a:ext>
            </a:extLst>
          </p:cNvPr>
          <p:cNvSpPr>
            <a:spLocks noEditPoints="1"/>
          </p:cNvSpPr>
          <p:nvPr/>
        </p:nvSpPr>
        <p:spPr bwMode="auto">
          <a:xfrm>
            <a:off x="5210175" y="2344738"/>
            <a:ext cx="18000" cy="4032000"/>
          </a:xfrm>
          <a:custGeom>
            <a:avLst/>
            <a:gdLst>
              <a:gd name="T0" fmla="*/ 0 w 12"/>
              <a:gd name="T1" fmla="*/ 24 h 2560"/>
              <a:gd name="T2" fmla="*/ 0 w 12"/>
              <a:gd name="T3" fmla="*/ 84 h 2560"/>
              <a:gd name="T4" fmla="*/ 12 w 12"/>
              <a:gd name="T5" fmla="*/ 132 h 2560"/>
              <a:gd name="T6" fmla="*/ 12 w 12"/>
              <a:gd name="T7" fmla="*/ 168 h 2560"/>
              <a:gd name="T8" fmla="*/ 12 w 12"/>
              <a:gd name="T9" fmla="*/ 192 h 2560"/>
              <a:gd name="T10" fmla="*/ 0 w 12"/>
              <a:gd name="T11" fmla="*/ 240 h 2560"/>
              <a:gd name="T12" fmla="*/ 0 w 12"/>
              <a:gd name="T13" fmla="*/ 300 h 2560"/>
              <a:gd name="T14" fmla="*/ 12 w 12"/>
              <a:gd name="T15" fmla="*/ 348 h 2560"/>
              <a:gd name="T16" fmla="*/ 12 w 12"/>
              <a:gd name="T17" fmla="*/ 385 h 2560"/>
              <a:gd name="T18" fmla="*/ 12 w 12"/>
              <a:gd name="T19" fmla="*/ 409 h 2560"/>
              <a:gd name="T20" fmla="*/ 0 w 12"/>
              <a:gd name="T21" fmla="*/ 457 h 2560"/>
              <a:gd name="T22" fmla="*/ 0 w 12"/>
              <a:gd name="T23" fmla="*/ 517 h 2560"/>
              <a:gd name="T24" fmla="*/ 12 w 12"/>
              <a:gd name="T25" fmla="*/ 565 h 2560"/>
              <a:gd name="T26" fmla="*/ 12 w 12"/>
              <a:gd name="T27" fmla="*/ 601 h 2560"/>
              <a:gd name="T28" fmla="*/ 12 w 12"/>
              <a:gd name="T29" fmla="*/ 625 h 2560"/>
              <a:gd name="T30" fmla="*/ 0 w 12"/>
              <a:gd name="T31" fmla="*/ 673 h 2560"/>
              <a:gd name="T32" fmla="*/ 0 w 12"/>
              <a:gd name="T33" fmla="*/ 733 h 2560"/>
              <a:gd name="T34" fmla="*/ 12 w 12"/>
              <a:gd name="T35" fmla="*/ 781 h 2560"/>
              <a:gd name="T36" fmla="*/ 12 w 12"/>
              <a:gd name="T37" fmla="*/ 817 h 2560"/>
              <a:gd name="T38" fmla="*/ 12 w 12"/>
              <a:gd name="T39" fmla="*/ 841 h 2560"/>
              <a:gd name="T40" fmla="*/ 0 w 12"/>
              <a:gd name="T41" fmla="*/ 889 h 2560"/>
              <a:gd name="T42" fmla="*/ 0 w 12"/>
              <a:gd name="T43" fmla="*/ 950 h 2560"/>
              <a:gd name="T44" fmla="*/ 12 w 12"/>
              <a:gd name="T45" fmla="*/ 998 h 2560"/>
              <a:gd name="T46" fmla="*/ 12 w 12"/>
              <a:gd name="T47" fmla="*/ 1034 h 2560"/>
              <a:gd name="T48" fmla="*/ 12 w 12"/>
              <a:gd name="T49" fmla="*/ 1058 h 2560"/>
              <a:gd name="T50" fmla="*/ 0 w 12"/>
              <a:gd name="T51" fmla="*/ 1106 h 2560"/>
              <a:gd name="T52" fmla="*/ 0 w 12"/>
              <a:gd name="T53" fmla="*/ 1166 h 2560"/>
              <a:gd name="T54" fmla="*/ 12 w 12"/>
              <a:gd name="T55" fmla="*/ 1214 h 2560"/>
              <a:gd name="T56" fmla="*/ 12 w 12"/>
              <a:gd name="T57" fmla="*/ 1250 h 2560"/>
              <a:gd name="T58" fmla="*/ 12 w 12"/>
              <a:gd name="T59" fmla="*/ 1274 h 2560"/>
              <a:gd name="T60" fmla="*/ 0 w 12"/>
              <a:gd name="T61" fmla="*/ 1322 h 2560"/>
              <a:gd name="T62" fmla="*/ 0 w 12"/>
              <a:gd name="T63" fmla="*/ 1382 h 2560"/>
              <a:gd name="T64" fmla="*/ 12 w 12"/>
              <a:gd name="T65" fmla="*/ 1431 h 2560"/>
              <a:gd name="T66" fmla="*/ 12 w 12"/>
              <a:gd name="T67" fmla="*/ 1467 h 2560"/>
              <a:gd name="T68" fmla="*/ 12 w 12"/>
              <a:gd name="T69" fmla="*/ 1491 h 2560"/>
              <a:gd name="T70" fmla="*/ 0 w 12"/>
              <a:gd name="T71" fmla="*/ 1539 h 2560"/>
              <a:gd name="T72" fmla="*/ 0 w 12"/>
              <a:gd name="T73" fmla="*/ 1599 h 2560"/>
              <a:gd name="T74" fmla="*/ 12 w 12"/>
              <a:gd name="T75" fmla="*/ 1647 h 2560"/>
              <a:gd name="T76" fmla="*/ 12 w 12"/>
              <a:gd name="T77" fmla="*/ 1683 h 2560"/>
              <a:gd name="T78" fmla="*/ 12 w 12"/>
              <a:gd name="T79" fmla="*/ 1707 h 2560"/>
              <a:gd name="T80" fmla="*/ 0 w 12"/>
              <a:gd name="T81" fmla="*/ 1755 h 2560"/>
              <a:gd name="T82" fmla="*/ 0 w 12"/>
              <a:gd name="T83" fmla="*/ 1815 h 2560"/>
              <a:gd name="T84" fmla="*/ 12 w 12"/>
              <a:gd name="T85" fmla="*/ 1863 h 2560"/>
              <a:gd name="T86" fmla="*/ 12 w 12"/>
              <a:gd name="T87" fmla="*/ 1899 h 2560"/>
              <a:gd name="T88" fmla="*/ 12 w 12"/>
              <a:gd name="T89" fmla="*/ 1923 h 2560"/>
              <a:gd name="T90" fmla="*/ 0 w 12"/>
              <a:gd name="T91" fmla="*/ 1972 h 2560"/>
              <a:gd name="T92" fmla="*/ 0 w 12"/>
              <a:gd name="T93" fmla="*/ 2032 h 2560"/>
              <a:gd name="T94" fmla="*/ 12 w 12"/>
              <a:gd name="T95" fmla="*/ 2080 h 2560"/>
              <a:gd name="T96" fmla="*/ 12 w 12"/>
              <a:gd name="T97" fmla="*/ 2116 h 2560"/>
              <a:gd name="T98" fmla="*/ 12 w 12"/>
              <a:gd name="T99" fmla="*/ 2140 h 2560"/>
              <a:gd name="T100" fmla="*/ 0 w 12"/>
              <a:gd name="T101" fmla="*/ 2188 h 2560"/>
              <a:gd name="T102" fmla="*/ 0 w 12"/>
              <a:gd name="T103" fmla="*/ 2248 h 2560"/>
              <a:gd name="T104" fmla="*/ 12 w 12"/>
              <a:gd name="T105" fmla="*/ 2296 h 2560"/>
              <a:gd name="T106" fmla="*/ 12 w 12"/>
              <a:gd name="T107" fmla="*/ 2332 h 2560"/>
              <a:gd name="T108" fmla="*/ 12 w 12"/>
              <a:gd name="T109" fmla="*/ 2356 h 2560"/>
              <a:gd name="T110" fmla="*/ 0 w 12"/>
              <a:gd name="T111" fmla="*/ 2404 h 2560"/>
              <a:gd name="T112" fmla="*/ 0 w 12"/>
              <a:gd name="T113" fmla="*/ 2464 h 2560"/>
              <a:gd name="T114" fmla="*/ 12 w 12"/>
              <a:gd name="T115" fmla="*/ 2513 h 2560"/>
              <a:gd name="T116" fmla="*/ 12 w 12"/>
              <a:gd name="T117" fmla="*/ 2549 h 25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12" h="2560">
                <a:moveTo>
                  <a:pt x="12" y="0"/>
                </a:moveTo>
                <a:lnTo>
                  <a:pt x="12" y="12"/>
                </a:lnTo>
                <a:lnTo>
                  <a:pt x="0" y="12"/>
                </a:lnTo>
                <a:lnTo>
                  <a:pt x="0" y="0"/>
                </a:lnTo>
                <a:lnTo>
                  <a:pt x="12" y="0"/>
                </a:lnTo>
                <a:close/>
                <a:moveTo>
                  <a:pt x="12" y="24"/>
                </a:moveTo>
                <a:lnTo>
                  <a:pt x="12" y="36"/>
                </a:lnTo>
                <a:lnTo>
                  <a:pt x="0" y="36"/>
                </a:lnTo>
                <a:lnTo>
                  <a:pt x="0" y="24"/>
                </a:lnTo>
                <a:lnTo>
                  <a:pt x="12" y="24"/>
                </a:lnTo>
                <a:close/>
                <a:moveTo>
                  <a:pt x="12" y="48"/>
                </a:moveTo>
                <a:lnTo>
                  <a:pt x="12" y="60"/>
                </a:lnTo>
                <a:lnTo>
                  <a:pt x="0" y="60"/>
                </a:lnTo>
                <a:lnTo>
                  <a:pt x="0" y="48"/>
                </a:lnTo>
                <a:lnTo>
                  <a:pt x="12" y="48"/>
                </a:lnTo>
                <a:close/>
                <a:moveTo>
                  <a:pt x="12" y="72"/>
                </a:moveTo>
                <a:lnTo>
                  <a:pt x="12" y="84"/>
                </a:lnTo>
                <a:lnTo>
                  <a:pt x="0" y="84"/>
                </a:lnTo>
                <a:lnTo>
                  <a:pt x="0" y="72"/>
                </a:lnTo>
                <a:lnTo>
                  <a:pt x="12" y="72"/>
                </a:lnTo>
                <a:close/>
                <a:moveTo>
                  <a:pt x="12" y="96"/>
                </a:moveTo>
                <a:lnTo>
                  <a:pt x="12" y="108"/>
                </a:lnTo>
                <a:lnTo>
                  <a:pt x="0" y="108"/>
                </a:lnTo>
                <a:lnTo>
                  <a:pt x="0" y="96"/>
                </a:lnTo>
                <a:lnTo>
                  <a:pt x="12" y="96"/>
                </a:lnTo>
                <a:close/>
                <a:moveTo>
                  <a:pt x="12" y="120"/>
                </a:moveTo>
                <a:lnTo>
                  <a:pt x="12" y="132"/>
                </a:lnTo>
                <a:lnTo>
                  <a:pt x="0" y="132"/>
                </a:lnTo>
                <a:lnTo>
                  <a:pt x="0" y="120"/>
                </a:lnTo>
                <a:lnTo>
                  <a:pt x="12" y="120"/>
                </a:lnTo>
                <a:close/>
                <a:moveTo>
                  <a:pt x="12" y="144"/>
                </a:moveTo>
                <a:lnTo>
                  <a:pt x="12" y="156"/>
                </a:lnTo>
                <a:lnTo>
                  <a:pt x="0" y="156"/>
                </a:lnTo>
                <a:lnTo>
                  <a:pt x="0" y="144"/>
                </a:lnTo>
                <a:lnTo>
                  <a:pt x="12" y="144"/>
                </a:lnTo>
                <a:close/>
                <a:moveTo>
                  <a:pt x="12" y="168"/>
                </a:moveTo>
                <a:lnTo>
                  <a:pt x="12" y="180"/>
                </a:lnTo>
                <a:lnTo>
                  <a:pt x="0" y="180"/>
                </a:lnTo>
                <a:lnTo>
                  <a:pt x="0" y="168"/>
                </a:lnTo>
                <a:lnTo>
                  <a:pt x="12" y="168"/>
                </a:lnTo>
                <a:close/>
                <a:moveTo>
                  <a:pt x="12" y="192"/>
                </a:moveTo>
                <a:lnTo>
                  <a:pt x="12" y="204"/>
                </a:lnTo>
                <a:lnTo>
                  <a:pt x="0" y="204"/>
                </a:lnTo>
                <a:lnTo>
                  <a:pt x="0" y="192"/>
                </a:lnTo>
                <a:lnTo>
                  <a:pt x="12" y="192"/>
                </a:lnTo>
                <a:close/>
                <a:moveTo>
                  <a:pt x="12" y="216"/>
                </a:moveTo>
                <a:lnTo>
                  <a:pt x="12" y="228"/>
                </a:lnTo>
                <a:lnTo>
                  <a:pt x="0" y="228"/>
                </a:lnTo>
                <a:lnTo>
                  <a:pt x="0" y="216"/>
                </a:lnTo>
                <a:lnTo>
                  <a:pt x="12" y="216"/>
                </a:lnTo>
                <a:close/>
                <a:moveTo>
                  <a:pt x="12" y="240"/>
                </a:moveTo>
                <a:lnTo>
                  <a:pt x="12" y="252"/>
                </a:lnTo>
                <a:lnTo>
                  <a:pt x="0" y="252"/>
                </a:lnTo>
                <a:lnTo>
                  <a:pt x="0" y="240"/>
                </a:lnTo>
                <a:lnTo>
                  <a:pt x="12" y="240"/>
                </a:lnTo>
                <a:close/>
                <a:moveTo>
                  <a:pt x="12" y="264"/>
                </a:moveTo>
                <a:lnTo>
                  <a:pt x="12" y="276"/>
                </a:lnTo>
                <a:lnTo>
                  <a:pt x="0" y="276"/>
                </a:lnTo>
                <a:lnTo>
                  <a:pt x="0" y="264"/>
                </a:lnTo>
                <a:lnTo>
                  <a:pt x="12" y="264"/>
                </a:lnTo>
                <a:close/>
                <a:moveTo>
                  <a:pt x="12" y="288"/>
                </a:moveTo>
                <a:lnTo>
                  <a:pt x="12" y="300"/>
                </a:lnTo>
                <a:lnTo>
                  <a:pt x="0" y="300"/>
                </a:lnTo>
                <a:lnTo>
                  <a:pt x="0" y="288"/>
                </a:lnTo>
                <a:lnTo>
                  <a:pt x="12" y="288"/>
                </a:lnTo>
                <a:close/>
                <a:moveTo>
                  <a:pt x="12" y="312"/>
                </a:moveTo>
                <a:lnTo>
                  <a:pt x="12" y="324"/>
                </a:lnTo>
                <a:lnTo>
                  <a:pt x="0" y="324"/>
                </a:lnTo>
                <a:lnTo>
                  <a:pt x="0" y="312"/>
                </a:lnTo>
                <a:lnTo>
                  <a:pt x="12" y="312"/>
                </a:lnTo>
                <a:close/>
                <a:moveTo>
                  <a:pt x="12" y="336"/>
                </a:moveTo>
                <a:lnTo>
                  <a:pt x="12" y="348"/>
                </a:lnTo>
                <a:lnTo>
                  <a:pt x="0" y="348"/>
                </a:lnTo>
                <a:lnTo>
                  <a:pt x="0" y="336"/>
                </a:lnTo>
                <a:lnTo>
                  <a:pt x="12" y="336"/>
                </a:lnTo>
                <a:close/>
                <a:moveTo>
                  <a:pt x="12" y="360"/>
                </a:moveTo>
                <a:lnTo>
                  <a:pt x="12" y="372"/>
                </a:lnTo>
                <a:lnTo>
                  <a:pt x="0" y="372"/>
                </a:lnTo>
                <a:lnTo>
                  <a:pt x="0" y="360"/>
                </a:lnTo>
                <a:lnTo>
                  <a:pt x="12" y="360"/>
                </a:lnTo>
                <a:close/>
                <a:moveTo>
                  <a:pt x="12" y="385"/>
                </a:moveTo>
                <a:lnTo>
                  <a:pt x="12" y="396"/>
                </a:lnTo>
                <a:lnTo>
                  <a:pt x="0" y="396"/>
                </a:lnTo>
                <a:lnTo>
                  <a:pt x="0" y="385"/>
                </a:lnTo>
                <a:lnTo>
                  <a:pt x="12" y="385"/>
                </a:lnTo>
                <a:close/>
                <a:moveTo>
                  <a:pt x="12" y="409"/>
                </a:moveTo>
                <a:lnTo>
                  <a:pt x="12" y="421"/>
                </a:lnTo>
                <a:lnTo>
                  <a:pt x="0" y="421"/>
                </a:lnTo>
                <a:lnTo>
                  <a:pt x="0" y="409"/>
                </a:lnTo>
                <a:lnTo>
                  <a:pt x="12" y="409"/>
                </a:lnTo>
                <a:close/>
                <a:moveTo>
                  <a:pt x="12" y="432"/>
                </a:moveTo>
                <a:lnTo>
                  <a:pt x="12" y="445"/>
                </a:lnTo>
                <a:lnTo>
                  <a:pt x="0" y="445"/>
                </a:lnTo>
                <a:lnTo>
                  <a:pt x="0" y="432"/>
                </a:lnTo>
                <a:lnTo>
                  <a:pt x="12" y="432"/>
                </a:lnTo>
                <a:close/>
                <a:moveTo>
                  <a:pt x="12" y="457"/>
                </a:moveTo>
                <a:lnTo>
                  <a:pt x="12" y="469"/>
                </a:lnTo>
                <a:lnTo>
                  <a:pt x="0" y="469"/>
                </a:lnTo>
                <a:lnTo>
                  <a:pt x="0" y="457"/>
                </a:lnTo>
                <a:lnTo>
                  <a:pt x="12" y="457"/>
                </a:lnTo>
                <a:close/>
                <a:moveTo>
                  <a:pt x="12" y="481"/>
                </a:moveTo>
                <a:lnTo>
                  <a:pt x="12" y="493"/>
                </a:lnTo>
                <a:lnTo>
                  <a:pt x="0" y="493"/>
                </a:lnTo>
                <a:lnTo>
                  <a:pt x="0" y="481"/>
                </a:lnTo>
                <a:lnTo>
                  <a:pt x="12" y="481"/>
                </a:lnTo>
                <a:close/>
                <a:moveTo>
                  <a:pt x="12" y="505"/>
                </a:moveTo>
                <a:lnTo>
                  <a:pt x="12" y="517"/>
                </a:lnTo>
                <a:lnTo>
                  <a:pt x="0" y="517"/>
                </a:lnTo>
                <a:lnTo>
                  <a:pt x="0" y="505"/>
                </a:lnTo>
                <a:lnTo>
                  <a:pt x="12" y="505"/>
                </a:lnTo>
                <a:close/>
                <a:moveTo>
                  <a:pt x="12" y="529"/>
                </a:moveTo>
                <a:lnTo>
                  <a:pt x="12" y="541"/>
                </a:lnTo>
                <a:lnTo>
                  <a:pt x="0" y="541"/>
                </a:lnTo>
                <a:lnTo>
                  <a:pt x="0" y="529"/>
                </a:lnTo>
                <a:lnTo>
                  <a:pt x="12" y="529"/>
                </a:lnTo>
                <a:close/>
                <a:moveTo>
                  <a:pt x="12" y="553"/>
                </a:moveTo>
                <a:lnTo>
                  <a:pt x="12" y="565"/>
                </a:lnTo>
                <a:lnTo>
                  <a:pt x="0" y="565"/>
                </a:lnTo>
                <a:lnTo>
                  <a:pt x="0" y="553"/>
                </a:lnTo>
                <a:lnTo>
                  <a:pt x="12" y="553"/>
                </a:lnTo>
                <a:close/>
                <a:moveTo>
                  <a:pt x="12" y="577"/>
                </a:moveTo>
                <a:lnTo>
                  <a:pt x="12" y="589"/>
                </a:lnTo>
                <a:lnTo>
                  <a:pt x="0" y="589"/>
                </a:lnTo>
                <a:lnTo>
                  <a:pt x="0" y="577"/>
                </a:lnTo>
                <a:lnTo>
                  <a:pt x="12" y="577"/>
                </a:lnTo>
                <a:close/>
                <a:moveTo>
                  <a:pt x="12" y="601"/>
                </a:moveTo>
                <a:lnTo>
                  <a:pt x="12" y="613"/>
                </a:lnTo>
                <a:lnTo>
                  <a:pt x="0" y="613"/>
                </a:lnTo>
                <a:lnTo>
                  <a:pt x="0" y="601"/>
                </a:lnTo>
                <a:lnTo>
                  <a:pt x="12" y="601"/>
                </a:lnTo>
                <a:close/>
                <a:moveTo>
                  <a:pt x="12" y="625"/>
                </a:moveTo>
                <a:lnTo>
                  <a:pt x="12" y="637"/>
                </a:lnTo>
                <a:lnTo>
                  <a:pt x="0" y="637"/>
                </a:lnTo>
                <a:lnTo>
                  <a:pt x="0" y="625"/>
                </a:lnTo>
                <a:lnTo>
                  <a:pt x="12" y="625"/>
                </a:lnTo>
                <a:close/>
                <a:moveTo>
                  <a:pt x="12" y="649"/>
                </a:moveTo>
                <a:lnTo>
                  <a:pt x="12" y="661"/>
                </a:lnTo>
                <a:lnTo>
                  <a:pt x="0" y="661"/>
                </a:lnTo>
                <a:lnTo>
                  <a:pt x="0" y="649"/>
                </a:lnTo>
                <a:lnTo>
                  <a:pt x="12" y="649"/>
                </a:lnTo>
                <a:close/>
                <a:moveTo>
                  <a:pt x="12" y="673"/>
                </a:moveTo>
                <a:lnTo>
                  <a:pt x="12" y="685"/>
                </a:lnTo>
                <a:lnTo>
                  <a:pt x="0" y="685"/>
                </a:lnTo>
                <a:lnTo>
                  <a:pt x="0" y="673"/>
                </a:lnTo>
                <a:lnTo>
                  <a:pt x="12" y="673"/>
                </a:lnTo>
                <a:close/>
                <a:moveTo>
                  <a:pt x="12" y="697"/>
                </a:moveTo>
                <a:lnTo>
                  <a:pt x="12" y="709"/>
                </a:lnTo>
                <a:lnTo>
                  <a:pt x="0" y="709"/>
                </a:lnTo>
                <a:lnTo>
                  <a:pt x="0" y="697"/>
                </a:lnTo>
                <a:lnTo>
                  <a:pt x="12" y="697"/>
                </a:lnTo>
                <a:close/>
                <a:moveTo>
                  <a:pt x="12" y="721"/>
                </a:moveTo>
                <a:lnTo>
                  <a:pt x="12" y="733"/>
                </a:lnTo>
                <a:lnTo>
                  <a:pt x="0" y="733"/>
                </a:lnTo>
                <a:lnTo>
                  <a:pt x="0" y="721"/>
                </a:lnTo>
                <a:lnTo>
                  <a:pt x="12" y="721"/>
                </a:lnTo>
                <a:close/>
                <a:moveTo>
                  <a:pt x="12" y="745"/>
                </a:moveTo>
                <a:lnTo>
                  <a:pt x="12" y="757"/>
                </a:lnTo>
                <a:lnTo>
                  <a:pt x="0" y="757"/>
                </a:lnTo>
                <a:lnTo>
                  <a:pt x="0" y="745"/>
                </a:lnTo>
                <a:lnTo>
                  <a:pt x="12" y="745"/>
                </a:lnTo>
                <a:close/>
                <a:moveTo>
                  <a:pt x="12" y="769"/>
                </a:moveTo>
                <a:lnTo>
                  <a:pt x="12" y="781"/>
                </a:lnTo>
                <a:lnTo>
                  <a:pt x="0" y="781"/>
                </a:lnTo>
                <a:lnTo>
                  <a:pt x="0" y="769"/>
                </a:lnTo>
                <a:lnTo>
                  <a:pt x="12" y="769"/>
                </a:lnTo>
                <a:close/>
                <a:moveTo>
                  <a:pt x="12" y="793"/>
                </a:moveTo>
                <a:lnTo>
                  <a:pt x="12" y="805"/>
                </a:lnTo>
                <a:lnTo>
                  <a:pt x="0" y="805"/>
                </a:lnTo>
                <a:lnTo>
                  <a:pt x="0" y="793"/>
                </a:lnTo>
                <a:lnTo>
                  <a:pt x="12" y="793"/>
                </a:lnTo>
                <a:close/>
                <a:moveTo>
                  <a:pt x="12" y="817"/>
                </a:moveTo>
                <a:lnTo>
                  <a:pt x="12" y="829"/>
                </a:lnTo>
                <a:lnTo>
                  <a:pt x="0" y="829"/>
                </a:lnTo>
                <a:lnTo>
                  <a:pt x="0" y="817"/>
                </a:lnTo>
                <a:lnTo>
                  <a:pt x="12" y="817"/>
                </a:lnTo>
                <a:close/>
                <a:moveTo>
                  <a:pt x="12" y="841"/>
                </a:moveTo>
                <a:lnTo>
                  <a:pt x="12" y="853"/>
                </a:lnTo>
                <a:lnTo>
                  <a:pt x="0" y="853"/>
                </a:lnTo>
                <a:lnTo>
                  <a:pt x="0" y="841"/>
                </a:lnTo>
                <a:lnTo>
                  <a:pt x="12" y="841"/>
                </a:lnTo>
                <a:close/>
                <a:moveTo>
                  <a:pt x="12" y="865"/>
                </a:moveTo>
                <a:lnTo>
                  <a:pt x="12" y="877"/>
                </a:lnTo>
                <a:lnTo>
                  <a:pt x="0" y="877"/>
                </a:lnTo>
                <a:lnTo>
                  <a:pt x="0" y="865"/>
                </a:lnTo>
                <a:lnTo>
                  <a:pt x="12" y="865"/>
                </a:lnTo>
                <a:close/>
                <a:moveTo>
                  <a:pt x="12" y="889"/>
                </a:moveTo>
                <a:lnTo>
                  <a:pt x="12" y="901"/>
                </a:lnTo>
                <a:lnTo>
                  <a:pt x="0" y="901"/>
                </a:lnTo>
                <a:lnTo>
                  <a:pt x="0" y="889"/>
                </a:lnTo>
                <a:lnTo>
                  <a:pt x="12" y="889"/>
                </a:lnTo>
                <a:close/>
                <a:moveTo>
                  <a:pt x="12" y="913"/>
                </a:moveTo>
                <a:lnTo>
                  <a:pt x="12" y="926"/>
                </a:lnTo>
                <a:lnTo>
                  <a:pt x="0" y="926"/>
                </a:lnTo>
                <a:lnTo>
                  <a:pt x="0" y="913"/>
                </a:lnTo>
                <a:lnTo>
                  <a:pt x="12" y="913"/>
                </a:lnTo>
                <a:close/>
                <a:moveTo>
                  <a:pt x="12" y="937"/>
                </a:moveTo>
                <a:lnTo>
                  <a:pt x="12" y="950"/>
                </a:lnTo>
                <a:lnTo>
                  <a:pt x="0" y="950"/>
                </a:lnTo>
                <a:lnTo>
                  <a:pt x="0" y="937"/>
                </a:lnTo>
                <a:lnTo>
                  <a:pt x="12" y="937"/>
                </a:lnTo>
                <a:close/>
                <a:moveTo>
                  <a:pt x="12" y="962"/>
                </a:moveTo>
                <a:lnTo>
                  <a:pt x="12" y="973"/>
                </a:lnTo>
                <a:lnTo>
                  <a:pt x="0" y="973"/>
                </a:lnTo>
                <a:lnTo>
                  <a:pt x="0" y="962"/>
                </a:lnTo>
                <a:lnTo>
                  <a:pt x="12" y="962"/>
                </a:lnTo>
                <a:close/>
                <a:moveTo>
                  <a:pt x="12" y="986"/>
                </a:moveTo>
                <a:lnTo>
                  <a:pt x="12" y="998"/>
                </a:lnTo>
                <a:lnTo>
                  <a:pt x="0" y="998"/>
                </a:lnTo>
                <a:lnTo>
                  <a:pt x="0" y="986"/>
                </a:lnTo>
                <a:lnTo>
                  <a:pt x="12" y="986"/>
                </a:lnTo>
                <a:close/>
                <a:moveTo>
                  <a:pt x="12" y="1010"/>
                </a:moveTo>
                <a:lnTo>
                  <a:pt x="12" y="1022"/>
                </a:lnTo>
                <a:lnTo>
                  <a:pt x="0" y="1022"/>
                </a:lnTo>
                <a:lnTo>
                  <a:pt x="0" y="1010"/>
                </a:lnTo>
                <a:lnTo>
                  <a:pt x="12" y="1010"/>
                </a:lnTo>
                <a:close/>
                <a:moveTo>
                  <a:pt x="12" y="1034"/>
                </a:moveTo>
                <a:lnTo>
                  <a:pt x="12" y="1046"/>
                </a:lnTo>
                <a:lnTo>
                  <a:pt x="0" y="1046"/>
                </a:lnTo>
                <a:lnTo>
                  <a:pt x="0" y="1034"/>
                </a:lnTo>
                <a:lnTo>
                  <a:pt x="12" y="1034"/>
                </a:lnTo>
                <a:close/>
                <a:moveTo>
                  <a:pt x="12" y="1058"/>
                </a:moveTo>
                <a:lnTo>
                  <a:pt x="12" y="1070"/>
                </a:lnTo>
                <a:lnTo>
                  <a:pt x="0" y="1070"/>
                </a:lnTo>
                <a:lnTo>
                  <a:pt x="0" y="1058"/>
                </a:lnTo>
                <a:lnTo>
                  <a:pt x="12" y="1058"/>
                </a:lnTo>
                <a:close/>
                <a:moveTo>
                  <a:pt x="12" y="1082"/>
                </a:moveTo>
                <a:lnTo>
                  <a:pt x="12" y="1094"/>
                </a:lnTo>
                <a:lnTo>
                  <a:pt x="0" y="1094"/>
                </a:lnTo>
                <a:lnTo>
                  <a:pt x="0" y="1082"/>
                </a:lnTo>
                <a:lnTo>
                  <a:pt x="12" y="1082"/>
                </a:lnTo>
                <a:close/>
                <a:moveTo>
                  <a:pt x="12" y="1106"/>
                </a:moveTo>
                <a:lnTo>
                  <a:pt x="12" y="1118"/>
                </a:lnTo>
                <a:lnTo>
                  <a:pt x="0" y="1118"/>
                </a:lnTo>
                <a:lnTo>
                  <a:pt x="0" y="1106"/>
                </a:lnTo>
                <a:lnTo>
                  <a:pt x="12" y="1106"/>
                </a:lnTo>
                <a:close/>
                <a:moveTo>
                  <a:pt x="12" y="1130"/>
                </a:moveTo>
                <a:lnTo>
                  <a:pt x="12" y="1142"/>
                </a:lnTo>
                <a:lnTo>
                  <a:pt x="0" y="1142"/>
                </a:lnTo>
                <a:lnTo>
                  <a:pt x="0" y="1130"/>
                </a:lnTo>
                <a:lnTo>
                  <a:pt x="12" y="1130"/>
                </a:lnTo>
                <a:close/>
                <a:moveTo>
                  <a:pt x="12" y="1154"/>
                </a:moveTo>
                <a:lnTo>
                  <a:pt x="12" y="1166"/>
                </a:lnTo>
                <a:lnTo>
                  <a:pt x="0" y="1166"/>
                </a:lnTo>
                <a:lnTo>
                  <a:pt x="0" y="1154"/>
                </a:lnTo>
                <a:lnTo>
                  <a:pt x="12" y="1154"/>
                </a:lnTo>
                <a:close/>
                <a:moveTo>
                  <a:pt x="12" y="1178"/>
                </a:moveTo>
                <a:lnTo>
                  <a:pt x="12" y="1190"/>
                </a:lnTo>
                <a:lnTo>
                  <a:pt x="0" y="1190"/>
                </a:lnTo>
                <a:lnTo>
                  <a:pt x="0" y="1178"/>
                </a:lnTo>
                <a:lnTo>
                  <a:pt x="12" y="1178"/>
                </a:lnTo>
                <a:close/>
                <a:moveTo>
                  <a:pt x="12" y="1202"/>
                </a:moveTo>
                <a:lnTo>
                  <a:pt x="12" y="1214"/>
                </a:lnTo>
                <a:lnTo>
                  <a:pt x="0" y="1214"/>
                </a:lnTo>
                <a:lnTo>
                  <a:pt x="0" y="1202"/>
                </a:lnTo>
                <a:lnTo>
                  <a:pt x="12" y="1202"/>
                </a:lnTo>
                <a:close/>
                <a:moveTo>
                  <a:pt x="12" y="1226"/>
                </a:moveTo>
                <a:lnTo>
                  <a:pt x="12" y="1238"/>
                </a:lnTo>
                <a:lnTo>
                  <a:pt x="0" y="1238"/>
                </a:lnTo>
                <a:lnTo>
                  <a:pt x="0" y="1226"/>
                </a:lnTo>
                <a:lnTo>
                  <a:pt x="12" y="1226"/>
                </a:lnTo>
                <a:close/>
                <a:moveTo>
                  <a:pt x="12" y="1250"/>
                </a:moveTo>
                <a:lnTo>
                  <a:pt x="12" y="1262"/>
                </a:lnTo>
                <a:lnTo>
                  <a:pt x="0" y="1262"/>
                </a:lnTo>
                <a:lnTo>
                  <a:pt x="0" y="1250"/>
                </a:lnTo>
                <a:lnTo>
                  <a:pt x="12" y="1250"/>
                </a:lnTo>
                <a:close/>
                <a:moveTo>
                  <a:pt x="12" y="1274"/>
                </a:moveTo>
                <a:lnTo>
                  <a:pt x="12" y="1286"/>
                </a:lnTo>
                <a:lnTo>
                  <a:pt x="0" y="1286"/>
                </a:lnTo>
                <a:lnTo>
                  <a:pt x="0" y="1274"/>
                </a:lnTo>
                <a:lnTo>
                  <a:pt x="12" y="1274"/>
                </a:lnTo>
                <a:close/>
                <a:moveTo>
                  <a:pt x="12" y="1298"/>
                </a:moveTo>
                <a:lnTo>
                  <a:pt x="12" y="1310"/>
                </a:lnTo>
                <a:lnTo>
                  <a:pt x="0" y="1310"/>
                </a:lnTo>
                <a:lnTo>
                  <a:pt x="0" y="1298"/>
                </a:lnTo>
                <a:lnTo>
                  <a:pt x="12" y="1298"/>
                </a:lnTo>
                <a:close/>
                <a:moveTo>
                  <a:pt x="12" y="1322"/>
                </a:moveTo>
                <a:lnTo>
                  <a:pt x="12" y="1334"/>
                </a:lnTo>
                <a:lnTo>
                  <a:pt x="0" y="1334"/>
                </a:lnTo>
                <a:lnTo>
                  <a:pt x="0" y="1322"/>
                </a:lnTo>
                <a:lnTo>
                  <a:pt x="12" y="1322"/>
                </a:lnTo>
                <a:close/>
                <a:moveTo>
                  <a:pt x="12" y="1346"/>
                </a:moveTo>
                <a:lnTo>
                  <a:pt x="12" y="1358"/>
                </a:lnTo>
                <a:lnTo>
                  <a:pt x="0" y="1358"/>
                </a:lnTo>
                <a:lnTo>
                  <a:pt x="0" y="1346"/>
                </a:lnTo>
                <a:lnTo>
                  <a:pt x="12" y="1346"/>
                </a:lnTo>
                <a:close/>
                <a:moveTo>
                  <a:pt x="12" y="1370"/>
                </a:moveTo>
                <a:lnTo>
                  <a:pt x="12" y="1382"/>
                </a:lnTo>
                <a:lnTo>
                  <a:pt x="0" y="1382"/>
                </a:lnTo>
                <a:lnTo>
                  <a:pt x="0" y="1370"/>
                </a:lnTo>
                <a:lnTo>
                  <a:pt x="12" y="1370"/>
                </a:lnTo>
                <a:close/>
                <a:moveTo>
                  <a:pt x="12" y="1394"/>
                </a:moveTo>
                <a:lnTo>
                  <a:pt x="12" y="1406"/>
                </a:lnTo>
                <a:lnTo>
                  <a:pt x="0" y="1406"/>
                </a:lnTo>
                <a:lnTo>
                  <a:pt x="0" y="1394"/>
                </a:lnTo>
                <a:lnTo>
                  <a:pt x="12" y="1394"/>
                </a:lnTo>
                <a:close/>
                <a:moveTo>
                  <a:pt x="12" y="1418"/>
                </a:moveTo>
                <a:lnTo>
                  <a:pt x="12" y="1431"/>
                </a:lnTo>
                <a:lnTo>
                  <a:pt x="0" y="1431"/>
                </a:lnTo>
                <a:lnTo>
                  <a:pt x="0" y="1418"/>
                </a:lnTo>
                <a:lnTo>
                  <a:pt x="12" y="1418"/>
                </a:lnTo>
                <a:close/>
                <a:moveTo>
                  <a:pt x="12" y="1442"/>
                </a:moveTo>
                <a:lnTo>
                  <a:pt x="12" y="1454"/>
                </a:lnTo>
                <a:lnTo>
                  <a:pt x="0" y="1454"/>
                </a:lnTo>
                <a:lnTo>
                  <a:pt x="0" y="1442"/>
                </a:lnTo>
                <a:lnTo>
                  <a:pt x="12" y="1442"/>
                </a:lnTo>
                <a:close/>
                <a:moveTo>
                  <a:pt x="12" y="1467"/>
                </a:moveTo>
                <a:lnTo>
                  <a:pt x="12" y="1478"/>
                </a:lnTo>
                <a:lnTo>
                  <a:pt x="0" y="1478"/>
                </a:lnTo>
                <a:lnTo>
                  <a:pt x="0" y="1467"/>
                </a:lnTo>
                <a:lnTo>
                  <a:pt x="12" y="1467"/>
                </a:lnTo>
                <a:close/>
                <a:moveTo>
                  <a:pt x="12" y="1491"/>
                </a:moveTo>
                <a:lnTo>
                  <a:pt x="12" y="1503"/>
                </a:lnTo>
                <a:lnTo>
                  <a:pt x="0" y="1503"/>
                </a:lnTo>
                <a:lnTo>
                  <a:pt x="0" y="1491"/>
                </a:lnTo>
                <a:lnTo>
                  <a:pt x="12" y="1491"/>
                </a:lnTo>
                <a:close/>
                <a:moveTo>
                  <a:pt x="12" y="1514"/>
                </a:moveTo>
                <a:lnTo>
                  <a:pt x="12" y="1527"/>
                </a:lnTo>
                <a:lnTo>
                  <a:pt x="0" y="1527"/>
                </a:lnTo>
                <a:lnTo>
                  <a:pt x="0" y="1514"/>
                </a:lnTo>
                <a:lnTo>
                  <a:pt x="12" y="1514"/>
                </a:lnTo>
                <a:close/>
                <a:moveTo>
                  <a:pt x="12" y="1539"/>
                </a:moveTo>
                <a:lnTo>
                  <a:pt x="12" y="1551"/>
                </a:lnTo>
                <a:lnTo>
                  <a:pt x="0" y="1551"/>
                </a:lnTo>
                <a:lnTo>
                  <a:pt x="0" y="1539"/>
                </a:lnTo>
                <a:lnTo>
                  <a:pt x="12" y="1539"/>
                </a:lnTo>
                <a:close/>
                <a:moveTo>
                  <a:pt x="12" y="1563"/>
                </a:moveTo>
                <a:lnTo>
                  <a:pt x="12" y="1575"/>
                </a:lnTo>
                <a:lnTo>
                  <a:pt x="0" y="1575"/>
                </a:lnTo>
                <a:lnTo>
                  <a:pt x="0" y="1563"/>
                </a:lnTo>
                <a:lnTo>
                  <a:pt x="12" y="1563"/>
                </a:lnTo>
                <a:close/>
                <a:moveTo>
                  <a:pt x="12" y="1587"/>
                </a:moveTo>
                <a:lnTo>
                  <a:pt x="12" y="1599"/>
                </a:lnTo>
                <a:lnTo>
                  <a:pt x="0" y="1599"/>
                </a:lnTo>
                <a:lnTo>
                  <a:pt x="0" y="1587"/>
                </a:lnTo>
                <a:lnTo>
                  <a:pt x="12" y="1587"/>
                </a:lnTo>
                <a:close/>
                <a:moveTo>
                  <a:pt x="12" y="1611"/>
                </a:moveTo>
                <a:lnTo>
                  <a:pt x="12" y="1623"/>
                </a:lnTo>
                <a:lnTo>
                  <a:pt x="0" y="1623"/>
                </a:lnTo>
                <a:lnTo>
                  <a:pt x="0" y="1611"/>
                </a:lnTo>
                <a:lnTo>
                  <a:pt x="12" y="1611"/>
                </a:lnTo>
                <a:close/>
                <a:moveTo>
                  <a:pt x="12" y="1635"/>
                </a:moveTo>
                <a:lnTo>
                  <a:pt x="12" y="1647"/>
                </a:lnTo>
                <a:lnTo>
                  <a:pt x="0" y="1647"/>
                </a:lnTo>
                <a:lnTo>
                  <a:pt x="0" y="1635"/>
                </a:lnTo>
                <a:lnTo>
                  <a:pt x="12" y="1635"/>
                </a:lnTo>
                <a:close/>
                <a:moveTo>
                  <a:pt x="12" y="1659"/>
                </a:moveTo>
                <a:lnTo>
                  <a:pt x="12" y="1671"/>
                </a:lnTo>
                <a:lnTo>
                  <a:pt x="0" y="1671"/>
                </a:lnTo>
                <a:lnTo>
                  <a:pt x="0" y="1659"/>
                </a:lnTo>
                <a:lnTo>
                  <a:pt x="12" y="1659"/>
                </a:lnTo>
                <a:close/>
                <a:moveTo>
                  <a:pt x="12" y="1683"/>
                </a:moveTo>
                <a:lnTo>
                  <a:pt x="12" y="1695"/>
                </a:lnTo>
                <a:lnTo>
                  <a:pt x="0" y="1695"/>
                </a:lnTo>
                <a:lnTo>
                  <a:pt x="0" y="1683"/>
                </a:lnTo>
                <a:lnTo>
                  <a:pt x="12" y="1683"/>
                </a:lnTo>
                <a:close/>
                <a:moveTo>
                  <a:pt x="12" y="1707"/>
                </a:moveTo>
                <a:lnTo>
                  <a:pt x="12" y="1719"/>
                </a:lnTo>
                <a:lnTo>
                  <a:pt x="0" y="1719"/>
                </a:lnTo>
                <a:lnTo>
                  <a:pt x="0" y="1707"/>
                </a:lnTo>
                <a:lnTo>
                  <a:pt x="12" y="1707"/>
                </a:lnTo>
                <a:close/>
                <a:moveTo>
                  <a:pt x="12" y="1731"/>
                </a:moveTo>
                <a:lnTo>
                  <a:pt x="12" y="1743"/>
                </a:lnTo>
                <a:lnTo>
                  <a:pt x="0" y="1743"/>
                </a:lnTo>
                <a:lnTo>
                  <a:pt x="0" y="1731"/>
                </a:lnTo>
                <a:lnTo>
                  <a:pt x="12" y="1731"/>
                </a:lnTo>
                <a:close/>
                <a:moveTo>
                  <a:pt x="12" y="1755"/>
                </a:moveTo>
                <a:lnTo>
                  <a:pt x="12" y="1767"/>
                </a:lnTo>
                <a:lnTo>
                  <a:pt x="0" y="1767"/>
                </a:lnTo>
                <a:lnTo>
                  <a:pt x="0" y="1755"/>
                </a:lnTo>
                <a:lnTo>
                  <a:pt x="12" y="1755"/>
                </a:lnTo>
                <a:close/>
                <a:moveTo>
                  <a:pt x="12" y="1779"/>
                </a:moveTo>
                <a:lnTo>
                  <a:pt x="12" y="1791"/>
                </a:lnTo>
                <a:lnTo>
                  <a:pt x="0" y="1791"/>
                </a:lnTo>
                <a:lnTo>
                  <a:pt x="0" y="1779"/>
                </a:lnTo>
                <a:lnTo>
                  <a:pt x="12" y="1779"/>
                </a:lnTo>
                <a:close/>
                <a:moveTo>
                  <a:pt x="12" y="1803"/>
                </a:moveTo>
                <a:lnTo>
                  <a:pt x="12" y="1815"/>
                </a:lnTo>
                <a:lnTo>
                  <a:pt x="0" y="1815"/>
                </a:lnTo>
                <a:lnTo>
                  <a:pt x="0" y="1803"/>
                </a:lnTo>
                <a:lnTo>
                  <a:pt x="12" y="1803"/>
                </a:lnTo>
                <a:close/>
                <a:moveTo>
                  <a:pt x="12" y="1827"/>
                </a:moveTo>
                <a:lnTo>
                  <a:pt x="12" y="1839"/>
                </a:lnTo>
                <a:lnTo>
                  <a:pt x="0" y="1839"/>
                </a:lnTo>
                <a:lnTo>
                  <a:pt x="0" y="1827"/>
                </a:lnTo>
                <a:lnTo>
                  <a:pt x="12" y="1827"/>
                </a:lnTo>
                <a:close/>
                <a:moveTo>
                  <a:pt x="12" y="1851"/>
                </a:moveTo>
                <a:lnTo>
                  <a:pt x="12" y="1863"/>
                </a:lnTo>
                <a:lnTo>
                  <a:pt x="0" y="1863"/>
                </a:lnTo>
                <a:lnTo>
                  <a:pt x="0" y="1851"/>
                </a:lnTo>
                <a:lnTo>
                  <a:pt x="12" y="1851"/>
                </a:lnTo>
                <a:close/>
                <a:moveTo>
                  <a:pt x="12" y="1875"/>
                </a:moveTo>
                <a:lnTo>
                  <a:pt x="12" y="1887"/>
                </a:lnTo>
                <a:lnTo>
                  <a:pt x="0" y="1887"/>
                </a:lnTo>
                <a:lnTo>
                  <a:pt x="0" y="1875"/>
                </a:lnTo>
                <a:lnTo>
                  <a:pt x="12" y="1875"/>
                </a:lnTo>
                <a:close/>
                <a:moveTo>
                  <a:pt x="12" y="1899"/>
                </a:moveTo>
                <a:lnTo>
                  <a:pt x="12" y="1911"/>
                </a:lnTo>
                <a:lnTo>
                  <a:pt x="0" y="1911"/>
                </a:lnTo>
                <a:lnTo>
                  <a:pt x="0" y="1899"/>
                </a:lnTo>
                <a:lnTo>
                  <a:pt x="12" y="1899"/>
                </a:lnTo>
                <a:close/>
                <a:moveTo>
                  <a:pt x="12" y="1923"/>
                </a:moveTo>
                <a:lnTo>
                  <a:pt x="12" y="1935"/>
                </a:lnTo>
                <a:lnTo>
                  <a:pt x="0" y="1935"/>
                </a:lnTo>
                <a:lnTo>
                  <a:pt x="0" y="1923"/>
                </a:lnTo>
                <a:lnTo>
                  <a:pt x="12" y="1923"/>
                </a:lnTo>
                <a:close/>
                <a:moveTo>
                  <a:pt x="12" y="1947"/>
                </a:moveTo>
                <a:lnTo>
                  <a:pt x="12" y="1959"/>
                </a:lnTo>
                <a:lnTo>
                  <a:pt x="0" y="1959"/>
                </a:lnTo>
                <a:lnTo>
                  <a:pt x="0" y="1947"/>
                </a:lnTo>
                <a:lnTo>
                  <a:pt x="12" y="1947"/>
                </a:lnTo>
                <a:close/>
                <a:moveTo>
                  <a:pt x="12" y="1972"/>
                </a:moveTo>
                <a:lnTo>
                  <a:pt x="12" y="1983"/>
                </a:lnTo>
                <a:lnTo>
                  <a:pt x="0" y="1983"/>
                </a:lnTo>
                <a:lnTo>
                  <a:pt x="0" y="1972"/>
                </a:lnTo>
                <a:lnTo>
                  <a:pt x="12" y="1972"/>
                </a:lnTo>
                <a:close/>
                <a:moveTo>
                  <a:pt x="12" y="1995"/>
                </a:moveTo>
                <a:lnTo>
                  <a:pt x="12" y="2008"/>
                </a:lnTo>
                <a:lnTo>
                  <a:pt x="0" y="2008"/>
                </a:lnTo>
                <a:lnTo>
                  <a:pt x="0" y="1995"/>
                </a:lnTo>
                <a:lnTo>
                  <a:pt x="12" y="1995"/>
                </a:lnTo>
                <a:close/>
                <a:moveTo>
                  <a:pt x="12" y="2019"/>
                </a:moveTo>
                <a:lnTo>
                  <a:pt x="12" y="2032"/>
                </a:lnTo>
                <a:lnTo>
                  <a:pt x="0" y="2032"/>
                </a:lnTo>
                <a:lnTo>
                  <a:pt x="0" y="2019"/>
                </a:lnTo>
                <a:lnTo>
                  <a:pt x="12" y="2019"/>
                </a:lnTo>
                <a:close/>
                <a:moveTo>
                  <a:pt x="12" y="2044"/>
                </a:moveTo>
                <a:lnTo>
                  <a:pt x="12" y="2055"/>
                </a:lnTo>
                <a:lnTo>
                  <a:pt x="0" y="2055"/>
                </a:lnTo>
                <a:lnTo>
                  <a:pt x="0" y="2044"/>
                </a:lnTo>
                <a:lnTo>
                  <a:pt x="12" y="2044"/>
                </a:lnTo>
                <a:close/>
                <a:moveTo>
                  <a:pt x="12" y="2068"/>
                </a:moveTo>
                <a:lnTo>
                  <a:pt x="12" y="2080"/>
                </a:lnTo>
                <a:lnTo>
                  <a:pt x="0" y="2080"/>
                </a:lnTo>
                <a:lnTo>
                  <a:pt x="0" y="2068"/>
                </a:lnTo>
                <a:lnTo>
                  <a:pt x="12" y="2068"/>
                </a:lnTo>
                <a:close/>
                <a:moveTo>
                  <a:pt x="12" y="2092"/>
                </a:moveTo>
                <a:lnTo>
                  <a:pt x="12" y="2104"/>
                </a:lnTo>
                <a:lnTo>
                  <a:pt x="0" y="2104"/>
                </a:lnTo>
                <a:lnTo>
                  <a:pt x="0" y="2092"/>
                </a:lnTo>
                <a:lnTo>
                  <a:pt x="12" y="2092"/>
                </a:lnTo>
                <a:close/>
                <a:moveTo>
                  <a:pt x="12" y="2116"/>
                </a:moveTo>
                <a:lnTo>
                  <a:pt x="12" y="2128"/>
                </a:lnTo>
                <a:lnTo>
                  <a:pt x="0" y="2128"/>
                </a:lnTo>
                <a:lnTo>
                  <a:pt x="0" y="2116"/>
                </a:lnTo>
                <a:lnTo>
                  <a:pt x="12" y="2116"/>
                </a:lnTo>
                <a:close/>
                <a:moveTo>
                  <a:pt x="12" y="2140"/>
                </a:moveTo>
                <a:lnTo>
                  <a:pt x="12" y="2152"/>
                </a:lnTo>
                <a:lnTo>
                  <a:pt x="0" y="2152"/>
                </a:lnTo>
                <a:lnTo>
                  <a:pt x="0" y="2140"/>
                </a:lnTo>
                <a:lnTo>
                  <a:pt x="12" y="2140"/>
                </a:lnTo>
                <a:close/>
                <a:moveTo>
                  <a:pt x="12" y="2164"/>
                </a:moveTo>
                <a:lnTo>
                  <a:pt x="12" y="2176"/>
                </a:lnTo>
                <a:lnTo>
                  <a:pt x="0" y="2176"/>
                </a:lnTo>
                <a:lnTo>
                  <a:pt x="0" y="2164"/>
                </a:lnTo>
                <a:lnTo>
                  <a:pt x="12" y="2164"/>
                </a:lnTo>
                <a:close/>
                <a:moveTo>
                  <a:pt x="12" y="2188"/>
                </a:moveTo>
                <a:lnTo>
                  <a:pt x="12" y="2200"/>
                </a:lnTo>
                <a:lnTo>
                  <a:pt x="0" y="2200"/>
                </a:lnTo>
                <a:lnTo>
                  <a:pt x="0" y="2188"/>
                </a:lnTo>
                <a:lnTo>
                  <a:pt x="12" y="2188"/>
                </a:lnTo>
                <a:close/>
                <a:moveTo>
                  <a:pt x="12" y="2212"/>
                </a:moveTo>
                <a:lnTo>
                  <a:pt x="12" y="2224"/>
                </a:lnTo>
                <a:lnTo>
                  <a:pt x="0" y="2224"/>
                </a:lnTo>
                <a:lnTo>
                  <a:pt x="0" y="2212"/>
                </a:lnTo>
                <a:lnTo>
                  <a:pt x="12" y="2212"/>
                </a:lnTo>
                <a:close/>
                <a:moveTo>
                  <a:pt x="12" y="2236"/>
                </a:moveTo>
                <a:lnTo>
                  <a:pt x="12" y="2248"/>
                </a:lnTo>
                <a:lnTo>
                  <a:pt x="0" y="2248"/>
                </a:lnTo>
                <a:lnTo>
                  <a:pt x="0" y="2236"/>
                </a:lnTo>
                <a:lnTo>
                  <a:pt x="12" y="2236"/>
                </a:lnTo>
                <a:close/>
                <a:moveTo>
                  <a:pt x="12" y="2260"/>
                </a:moveTo>
                <a:lnTo>
                  <a:pt x="12" y="2272"/>
                </a:lnTo>
                <a:lnTo>
                  <a:pt x="0" y="2272"/>
                </a:lnTo>
                <a:lnTo>
                  <a:pt x="0" y="2260"/>
                </a:lnTo>
                <a:lnTo>
                  <a:pt x="12" y="2260"/>
                </a:lnTo>
                <a:close/>
                <a:moveTo>
                  <a:pt x="12" y="2284"/>
                </a:moveTo>
                <a:lnTo>
                  <a:pt x="12" y="2296"/>
                </a:lnTo>
                <a:lnTo>
                  <a:pt x="0" y="2296"/>
                </a:lnTo>
                <a:lnTo>
                  <a:pt x="0" y="2284"/>
                </a:lnTo>
                <a:lnTo>
                  <a:pt x="12" y="2284"/>
                </a:lnTo>
                <a:close/>
                <a:moveTo>
                  <a:pt x="12" y="2308"/>
                </a:moveTo>
                <a:lnTo>
                  <a:pt x="12" y="2320"/>
                </a:lnTo>
                <a:lnTo>
                  <a:pt x="0" y="2320"/>
                </a:lnTo>
                <a:lnTo>
                  <a:pt x="0" y="2308"/>
                </a:lnTo>
                <a:lnTo>
                  <a:pt x="12" y="2308"/>
                </a:lnTo>
                <a:close/>
                <a:moveTo>
                  <a:pt x="12" y="2332"/>
                </a:moveTo>
                <a:lnTo>
                  <a:pt x="12" y="2344"/>
                </a:lnTo>
                <a:lnTo>
                  <a:pt x="0" y="2344"/>
                </a:lnTo>
                <a:lnTo>
                  <a:pt x="0" y="2332"/>
                </a:lnTo>
                <a:lnTo>
                  <a:pt x="12" y="2332"/>
                </a:lnTo>
                <a:close/>
                <a:moveTo>
                  <a:pt x="12" y="2356"/>
                </a:moveTo>
                <a:lnTo>
                  <a:pt x="12" y="2368"/>
                </a:lnTo>
                <a:lnTo>
                  <a:pt x="0" y="2368"/>
                </a:lnTo>
                <a:lnTo>
                  <a:pt x="0" y="2356"/>
                </a:lnTo>
                <a:lnTo>
                  <a:pt x="12" y="2356"/>
                </a:lnTo>
                <a:close/>
                <a:moveTo>
                  <a:pt x="12" y="2380"/>
                </a:moveTo>
                <a:lnTo>
                  <a:pt x="12" y="2392"/>
                </a:lnTo>
                <a:lnTo>
                  <a:pt x="0" y="2392"/>
                </a:lnTo>
                <a:lnTo>
                  <a:pt x="0" y="2380"/>
                </a:lnTo>
                <a:lnTo>
                  <a:pt x="12" y="2380"/>
                </a:lnTo>
                <a:close/>
                <a:moveTo>
                  <a:pt x="12" y="2404"/>
                </a:moveTo>
                <a:lnTo>
                  <a:pt x="12" y="2416"/>
                </a:lnTo>
                <a:lnTo>
                  <a:pt x="0" y="2416"/>
                </a:lnTo>
                <a:lnTo>
                  <a:pt x="0" y="2404"/>
                </a:lnTo>
                <a:lnTo>
                  <a:pt x="12" y="2404"/>
                </a:lnTo>
                <a:close/>
                <a:moveTo>
                  <a:pt x="12" y="2428"/>
                </a:moveTo>
                <a:lnTo>
                  <a:pt x="12" y="2440"/>
                </a:lnTo>
                <a:lnTo>
                  <a:pt x="0" y="2440"/>
                </a:lnTo>
                <a:lnTo>
                  <a:pt x="0" y="2428"/>
                </a:lnTo>
                <a:lnTo>
                  <a:pt x="12" y="2428"/>
                </a:lnTo>
                <a:close/>
                <a:moveTo>
                  <a:pt x="12" y="2452"/>
                </a:moveTo>
                <a:lnTo>
                  <a:pt x="12" y="2464"/>
                </a:lnTo>
                <a:lnTo>
                  <a:pt x="0" y="2464"/>
                </a:lnTo>
                <a:lnTo>
                  <a:pt x="0" y="2452"/>
                </a:lnTo>
                <a:lnTo>
                  <a:pt x="12" y="2452"/>
                </a:lnTo>
                <a:close/>
                <a:moveTo>
                  <a:pt x="12" y="2476"/>
                </a:moveTo>
                <a:lnTo>
                  <a:pt x="12" y="2488"/>
                </a:lnTo>
                <a:lnTo>
                  <a:pt x="0" y="2488"/>
                </a:lnTo>
                <a:lnTo>
                  <a:pt x="0" y="2476"/>
                </a:lnTo>
                <a:lnTo>
                  <a:pt x="12" y="2476"/>
                </a:lnTo>
                <a:close/>
                <a:moveTo>
                  <a:pt x="12" y="2500"/>
                </a:moveTo>
                <a:lnTo>
                  <a:pt x="12" y="2513"/>
                </a:lnTo>
                <a:lnTo>
                  <a:pt x="0" y="2513"/>
                </a:lnTo>
                <a:lnTo>
                  <a:pt x="0" y="2500"/>
                </a:lnTo>
                <a:lnTo>
                  <a:pt x="12" y="2500"/>
                </a:lnTo>
                <a:close/>
                <a:moveTo>
                  <a:pt x="12" y="2524"/>
                </a:moveTo>
                <a:lnTo>
                  <a:pt x="12" y="2536"/>
                </a:lnTo>
                <a:lnTo>
                  <a:pt x="0" y="2536"/>
                </a:lnTo>
                <a:lnTo>
                  <a:pt x="0" y="2524"/>
                </a:lnTo>
                <a:lnTo>
                  <a:pt x="12" y="2524"/>
                </a:lnTo>
                <a:close/>
                <a:moveTo>
                  <a:pt x="12" y="2549"/>
                </a:moveTo>
                <a:lnTo>
                  <a:pt x="12" y="2560"/>
                </a:lnTo>
                <a:lnTo>
                  <a:pt x="0" y="2560"/>
                </a:lnTo>
                <a:lnTo>
                  <a:pt x="0" y="2549"/>
                </a:lnTo>
                <a:lnTo>
                  <a:pt x="12" y="2549"/>
                </a:lnTo>
                <a:close/>
              </a:path>
            </a:pathLst>
          </a:custGeom>
          <a:solidFill>
            <a:srgbClr val="000000"/>
          </a:solidFill>
          <a:ln w="0" cap="flat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94" name="Freeform 91">
            <a:extLst>
              <a:ext uri="{FF2B5EF4-FFF2-40B4-BE49-F238E27FC236}">
                <a16:creationId xmlns:a16="http://schemas.microsoft.com/office/drawing/2014/main" id="{1E794078-88E6-42B3-8212-008B8F78FADD}"/>
              </a:ext>
            </a:extLst>
          </p:cNvPr>
          <p:cNvSpPr>
            <a:spLocks noEditPoints="1"/>
          </p:cNvSpPr>
          <p:nvPr/>
        </p:nvSpPr>
        <p:spPr bwMode="auto">
          <a:xfrm>
            <a:off x="4695825" y="2344738"/>
            <a:ext cx="18000" cy="4032000"/>
          </a:xfrm>
          <a:custGeom>
            <a:avLst/>
            <a:gdLst>
              <a:gd name="T0" fmla="*/ 0 w 12"/>
              <a:gd name="T1" fmla="*/ 24 h 2560"/>
              <a:gd name="T2" fmla="*/ 0 w 12"/>
              <a:gd name="T3" fmla="*/ 84 h 2560"/>
              <a:gd name="T4" fmla="*/ 12 w 12"/>
              <a:gd name="T5" fmla="*/ 132 h 2560"/>
              <a:gd name="T6" fmla="*/ 12 w 12"/>
              <a:gd name="T7" fmla="*/ 168 h 2560"/>
              <a:gd name="T8" fmla="*/ 12 w 12"/>
              <a:gd name="T9" fmla="*/ 192 h 2560"/>
              <a:gd name="T10" fmla="*/ 0 w 12"/>
              <a:gd name="T11" fmla="*/ 240 h 2560"/>
              <a:gd name="T12" fmla="*/ 0 w 12"/>
              <a:gd name="T13" fmla="*/ 300 h 2560"/>
              <a:gd name="T14" fmla="*/ 12 w 12"/>
              <a:gd name="T15" fmla="*/ 348 h 2560"/>
              <a:gd name="T16" fmla="*/ 12 w 12"/>
              <a:gd name="T17" fmla="*/ 385 h 2560"/>
              <a:gd name="T18" fmla="*/ 12 w 12"/>
              <a:gd name="T19" fmla="*/ 409 h 2560"/>
              <a:gd name="T20" fmla="*/ 0 w 12"/>
              <a:gd name="T21" fmla="*/ 457 h 2560"/>
              <a:gd name="T22" fmla="*/ 0 w 12"/>
              <a:gd name="T23" fmla="*/ 517 h 2560"/>
              <a:gd name="T24" fmla="*/ 12 w 12"/>
              <a:gd name="T25" fmla="*/ 565 h 2560"/>
              <a:gd name="T26" fmla="*/ 12 w 12"/>
              <a:gd name="T27" fmla="*/ 601 h 2560"/>
              <a:gd name="T28" fmla="*/ 12 w 12"/>
              <a:gd name="T29" fmla="*/ 625 h 2560"/>
              <a:gd name="T30" fmla="*/ 0 w 12"/>
              <a:gd name="T31" fmla="*/ 673 h 2560"/>
              <a:gd name="T32" fmla="*/ 0 w 12"/>
              <a:gd name="T33" fmla="*/ 733 h 2560"/>
              <a:gd name="T34" fmla="*/ 12 w 12"/>
              <a:gd name="T35" fmla="*/ 781 h 2560"/>
              <a:gd name="T36" fmla="*/ 12 w 12"/>
              <a:gd name="T37" fmla="*/ 817 h 2560"/>
              <a:gd name="T38" fmla="*/ 12 w 12"/>
              <a:gd name="T39" fmla="*/ 841 h 2560"/>
              <a:gd name="T40" fmla="*/ 0 w 12"/>
              <a:gd name="T41" fmla="*/ 889 h 2560"/>
              <a:gd name="T42" fmla="*/ 0 w 12"/>
              <a:gd name="T43" fmla="*/ 950 h 2560"/>
              <a:gd name="T44" fmla="*/ 12 w 12"/>
              <a:gd name="T45" fmla="*/ 998 h 2560"/>
              <a:gd name="T46" fmla="*/ 12 w 12"/>
              <a:gd name="T47" fmla="*/ 1034 h 2560"/>
              <a:gd name="T48" fmla="*/ 12 w 12"/>
              <a:gd name="T49" fmla="*/ 1058 h 2560"/>
              <a:gd name="T50" fmla="*/ 0 w 12"/>
              <a:gd name="T51" fmla="*/ 1106 h 2560"/>
              <a:gd name="T52" fmla="*/ 0 w 12"/>
              <a:gd name="T53" fmla="*/ 1166 h 2560"/>
              <a:gd name="T54" fmla="*/ 12 w 12"/>
              <a:gd name="T55" fmla="*/ 1214 h 2560"/>
              <a:gd name="T56" fmla="*/ 12 w 12"/>
              <a:gd name="T57" fmla="*/ 1250 h 2560"/>
              <a:gd name="T58" fmla="*/ 12 w 12"/>
              <a:gd name="T59" fmla="*/ 1274 h 2560"/>
              <a:gd name="T60" fmla="*/ 0 w 12"/>
              <a:gd name="T61" fmla="*/ 1322 h 2560"/>
              <a:gd name="T62" fmla="*/ 0 w 12"/>
              <a:gd name="T63" fmla="*/ 1382 h 2560"/>
              <a:gd name="T64" fmla="*/ 12 w 12"/>
              <a:gd name="T65" fmla="*/ 1431 h 2560"/>
              <a:gd name="T66" fmla="*/ 12 w 12"/>
              <a:gd name="T67" fmla="*/ 1467 h 2560"/>
              <a:gd name="T68" fmla="*/ 12 w 12"/>
              <a:gd name="T69" fmla="*/ 1491 h 2560"/>
              <a:gd name="T70" fmla="*/ 0 w 12"/>
              <a:gd name="T71" fmla="*/ 1539 h 2560"/>
              <a:gd name="T72" fmla="*/ 0 w 12"/>
              <a:gd name="T73" fmla="*/ 1599 h 2560"/>
              <a:gd name="T74" fmla="*/ 12 w 12"/>
              <a:gd name="T75" fmla="*/ 1647 h 2560"/>
              <a:gd name="T76" fmla="*/ 12 w 12"/>
              <a:gd name="T77" fmla="*/ 1683 h 2560"/>
              <a:gd name="T78" fmla="*/ 12 w 12"/>
              <a:gd name="T79" fmla="*/ 1707 h 2560"/>
              <a:gd name="T80" fmla="*/ 0 w 12"/>
              <a:gd name="T81" fmla="*/ 1755 h 2560"/>
              <a:gd name="T82" fmla="*/ 0 w 12"/>
              <a:gd name="T83" fmla="*/ 1815 h 2560"/>
              <a:gd name="T84" fmla="*/ 12 w 12"/>
              <a:gd name="T85" fmla="*/ 1863 h 2560"/>
              <a:gd name="T86" fmla="*/ 12 w 12"/>
              <a:gd name="T87" fmla="*/ 1899 h 2560"/>
              <a:gd name="T88" fmla="*/ 12 w 12"/>
              <a:gd name="T89" fmla="*/ 1923 h 2560"/>
              <a:gd name="T90" fmla="*/ 0 w 12"/>
              <a:gd name="T91" fmla="*/ 1972 h 2560"/>
              <a:gd name="T92" fmla="*/ 0 w 12"/>
              <a:gd name="T93" fmla="*/ 2032 h 2560"/>
              <a:gd name="T94" fmla="*/ 12 w 12"/>
              <a:gd name="T95" fmla="*/ 2080 h 2560"/>
              <a:gd name="T96" fmla="*/ 12 w 12"/>
              <a:gd name="T97" fmla="*/ 2116 h 2560"/>
              <a:gd name="T98" fmla="*/ 12 w 12"/>
              <a:gd name="T99" fmla="*/ 2140 h 2560"/>
              <a:gd name="T100" fmla="*/ 0 w 12"/>
              <a:gd name="T101" fmla="*/ 2188 h 2560"/>
              <a:gd name="T102" fmla="*/ 0 w 12"/>
              <a:gd name="T103" fmla="*/ 2248 h 2560"/>
              <a:gd name="T104" fmla="*/ 12 w 12"/>
              <a:gd name="T105" fmla="*/ 2296 h 2560"/>
              <a:gd name="T106" fmla="*/ 12 w 12"/>
              <a:gd name="T107" fmla="*/ 2332 h 2560"/>
              <a:gd name="T108" fmla="*/ 12 w 12"/>
              <a:gd name="T109" fmla="*/ 2356 h 2560"/>
              <a:gd name="T110" fmla="*/ 0 w 12"/>
              <a:gd name="T111" fmla="*/ 2404 h 2560"/>
              <a:gd name="T112" fmla="*/ 0 w 12"/>
              <a:gd name="T113" fmla="*/ 2464 h 2560"/>
              <a:gd name="T114" fmla="*/ 12 w 12"/>
              <a:gd name="T115" fmla="*/ 2513 h 2560"/>
              <a:gd name="T116" fmla="*/ 12 w 12"/>
              <a:gd name="T117" fmla="*/ 2549 h 25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12" h="2560">
                <a:moveTo>
                  <a:pt x="12" y="0"/>
                </a:moveTo>
                <a:lnTo>
                  <a:pt x="12" y="12"/>
                </a:lnTo>
                <a:lnTo>
                  <a:pt x="0" y="12"/>
                </a:lnTo>
                <a:lnTo>
                  <a:pt x="0" y="0"/>
                </a:lnTo>
                <a:lnTo>
                  <a:pt x="12" y="0"/>
                </a:lnTo>
                <a:close/>
                <a:moveTo>
                  <a:pt x="12" y="24"/>
                </a:moveTo>
                <a:lnTo>
                  <a:pt x="12" y="36"/>
                </a:lnTo>
                <a:lnTo>
                  <a:pt x="0" y="36"/>
                </a:lnTo>
                <a:lnTo>
                  <a:pt x="0" y="24"/>
                </a:lnTo>
                <a:lnTo>
                  <a:pt x="12" y="24"/>
                </a:lnTo>
                <a:close/>
                <a:moveTo>
                  <a:pt x="12" y="48"/>
                </a:moveTo>
                <a:lnTo>
                  <a:pt x="12" y="60"/>
                </a:lnTo>
                <a:lnTo>
                  <a:pt x="0" y="60"/>
                </a:lnTo>
                <a:lnTo>
                  <a:pt x="0" y="48"/>
                </a:lnTo>
                <a:lnTo>
                  <a:pt x="12" y="48"/>
                </a:lnTo>
                <a:close/>
                <a:moveTo>
                  <a:pt x="12" y="72"/>
                </a:moveTo>
                <a:lnTo>
                  <a:pt x="12" y="84"/>
                </a:lnTo>
                <a:lnTo>
                  <a:pt x="0" y="84"/>
                </a:lnTo>
                <a:lnTo>
                  <a:pt x="0" y="72"/>
                </a:lnTo>
                <a:lnTo>
                  <a:pt x="12" y="72"/>
                </a:lnTo>
                <a:close/>
                <a:moveTo>
                  <a:pt x="12" y="96"/>
                </a:moveTo>
                <a:lnTo>
                  <a:pt x="12" y="108"/>
                </a:lnTo>
                <a:lnTo>
                  <a:pt x="0" y="108"/>
                </a:lnTo>
                <a:lnTo>
                  <a:pt x="0" y="96"/>
                </a:lnTo>
                <a:lnTo>
                  <a:pt x="12" y="96"/>
                </a:lnTo>
                <a:close/>
                <a:moveTo>
                  <a:pt x="12" y="120"/>
                </a:moveTo>
                <a:lnTo>
                  <a:pt x="12" y="132"/>
                </a:lnTo>
                <a:lnTo>
                  <a:pt x="0" y="132"/>
                </a:lnTo>
                <a:lnTo>
                  <a:pt x="0" y="120"/>
                </a:lnTo>
                <a:lnTo>
                  <a:pt x="12" y="120"/>
                </a:lnTo>
                <a:close/>
                <a:moveTo>
                  <a:pt x="12" y="144"/>
                </a:moveTo>
                <a:lnTo>
                  <a:pt x="12" y="156"/>
                </a:lnTo>
                <a:lnTo>
                  <a:pt x="0" y="156"/>
                </a:lnTo>
                <a:lnTo>
                  <a:pt x="0" y="144"/>
                </a:lnTo>
                <a:lnTo>
                  <a:pt x="12" y="144"/>
                </a:lnTo>
                <a:close/>
                <a:moveTo>
                  <a:pt x="12" y="168"/>
                </a:moveTo>
                <a:lnTo>
                  <a:pt x="12" y="180"/>
                </a:lnTo>
                <a:lnTo>
                  <a:pt x="0" y="180"/>
                </a:lnTo>
                <a:lnTo>
                  <a:pt x="0" y="168"/>
                </a:lnTo>
                <a:lnTo>
                  <a:pt x="12" y="168"/>
                </a:lnTo>
                <a:close/>
                <a:moveTo>
                  <a:pt x="12" y="192"/>
                </a:moveTo>
                <a:lnTo>
                  <a:pt x="12" y="204"/>
                </a:lnTo>
                <a:lnTo>
                  <a:pt x="0" y="204"/>
                </a:lnTo>
                <a:lnTo>
                  <a:pt x="0" y="192"/>
                </a:lnTo>
                <a:lnTo>
                  <a:pt x="12" y="192"/>
                </a:lnTo>
                <a:close/>
                <a:moveTo>
                  <a:pt x="12" y="216"/>
                </a:moveTo>
                <a:lnTo>
                  <a:pt x="12" y="228"/>
                </a:lnTo>
                <a:lnTo>
                  <a:pt x="0" y="228"/>
                </a:lnTo>
                <a:lnTo>
                  <a:pt x="0" y="216"/>
                </a:lnTo>
                <a:lnTo>
                  <a:pt x="12" y="216"/>
                </a:lnTo>
                <a:close/>
                <a:moveTo>
                  <a:pt x="12" y="240"/>
                </a:moveTo>
                <a:lnTo>
                  <a:pt x="12" y="252"/>
                </a:lnTo>
                <a:lnTo>
                  <a:pt x="0" y="252"/>
                </a:lnTo>
                <a:lnTo>
                  <a:pt x="0" y="240"/>
                </a:lnTo>
                <a:lnTo>
                  <a:pt x="12" y="240"/>
                </a:lnTo>
                <a:close/>
                <a:moveTo>
                  <a:pt x="12" y="264"/>
                </a:moveTo>
                <a:lnTo>
                  <a:pt x="12" y="276"/>
                </a:lnTo>
                <a:lnTo>
                  <a:pt x="0" y="276"/>
                </a:lnTo>
                <a:lnTo>
                  <a:pt x="0" y="264"/>
                </a:lnTo>
                <a:lnTo>
                  <a:pt x="12" y="264"/>
                </a:lnTo>
                <a:close/>
                <a:moveTo>
                  <a:pt x="12" y="288"/>
                </a:moveTo>
                <a:lnTo>
                  <a:pt x="12" y="300"/>
                </a:lnTo>
                <a:lnTo>
                  <a:pt x="0" y="300"/>
                </a:lnTo>
                <a:lnTo>
                  <a:pt x="0" y="288"/>
                </a:lnTo>
                <a:lnTo>
                  <a:pt x="12" y="288"/>
                </a:lnTo>
                <a:close/>
                <a:moveTo>
                  <a:pt x="12" y="312"/>
                </a:moveTo>
                <a:lnTo>
                  <a:pt x="12" y="324"/>
                </a:lnTo>
                <a:lnTo>
                  <a:pt x="0" y="324"/>
                </a:lnTo>
                <a:lnTo>
                  <a:pt x="0" y="312"/>
                </a:lnTo>
                <a:lnTo>
                  <a:pt x="12" y="312"/>
                </a:lnTo>
                <a:close/>
                <a:moveTo>
                  <a:pt x="12" y="336"/>
                </a:moveTo>
                <a:lnTo>
                  <a:pt x="12" y="348"/>
                </a:lnTo>
                <a:lnTo>
                  <a:pt x="0" y="348"/>
                </a:lnTo>
                <a:lnTo>
                  <a:pt x="0" y="336"/>
                </a:lnTo>
                <a:lnTo>
                  <a:pt x="12" y="336"/>
                </a:lnTo>
                <a:close/>
                <a:moveTo>
                  <a:pt x="12" y="360"/>
                </a:moveTo>
                <a:lnTo>
                  <a:pt x="12" y="372"/>
                </a:lnTo>
                <a:lnTo>
                  <a:pt x="0" y="372"/>
                </a:lnTo>
                <a:lnTo>
                  <a:pt x="0" y="360"/>
                </a:lnTo>
                <a:lnTo>
                  <a:pt x="12" y="360"/>
                </a:lnTo>
                <a:close/>
                <a:moveTo>
                  <a:pt x="12" y="385"/>
                </a:moveTo>
                <a:lnTo>
                  <a:pt x="12" y="396"/>
                </a:lnTo>
                <a:lnTo>
                  <a:pt x="0" y="396"/>
                </a:lnTo>
                <a:lnTo>
                  <a:pt x="0" y="385"/>
                </a:lnTo>
                <a:lnTo>
                  <a:pt x="12" y="385"/>
                </a:lnTo>
                <a:close/>
                <a:moveTo>
                  <a:pt x="12" y="409"/>
                </a:moveTo>
                <a:lnTo>
                  <a:pt x="12" y="421"/>
                </a:lnTo>
                <a:lnTo>
                  <a:pt x="0" y="421"/>
                </a:lnTo>
                <a:lnTo>
                  <a:pt x="0" y="409"/>
                </a:lnTo>
                <a:lnTo>
                  <a:pt x="12" y="409"/>
                </a:lnTo>
                <a:close/>
                <a:moveTo>
                  <a:pt x="12" y="432"/>
                </a:moveTo>
                <a:lnTo>
                  <a:pt x="12" y="445"/>
                </a:lnTo>
                <a:lnTo>
                  <a:pt x="0" y="445"/>
                </a:lnTo>
                <a:lnTo>
                  <a:pt x="0" y="432"/>
                </a:lnTo>
                <a:lnTo>
                  <a:pt x="12" y="432"/>
                </a:lnTo>
                <a:close/>
                <a:moveTo>
                  <a:pt x="12" y="457"/>
                </a:moveTo>
                <a:lnTo>
                  <a:pt x="12" y="469"/>
                </a:lnTo>
                <a:lnTo>
                  <a:pt x="0" y="469"/>
                </a:lnTo>
                <a:lnTo>
                  <a:pt x="0" y="457"/>
                </a:lnTo>
                <a:lnTo>
                  <a:pt x="12" y="457"/>
                </a:lnTo>
                <a:close/>
                <a:moveTo>
                  <a:pt x="12" y="481"/>
                </a:moveTo>
                <a:lnTo>
                  <a:pt x="12" y="493"/>
                </a:lnTo>
                <a:lnTo>
                  <a:pt x="0" y="493"/>
                </a:lnTo>
                <a:lnTo>
                  <a:pt x="0" y="481"/>
                </a:lnTo>
                <a:lnTo>
                  <a:pt x="12" y="481"/>
                </a:lnTo>
                <a:close/>
                <a:moveTo>
                  <a:pt x="12" y="505"/>
                </a:moveTo>
                <a:lnTo>
                  <a:pt x="12" y="517"/>
                </a:lnTo>
                <a:lnTo>
                  <a:pt x="0" y="517"/>
                </a:lnTo>
                <a:lnTo>
                  <a:pt x="0" y="505"/>
                </a:lnTo>
                <a:lnTo>
                  <a:pt x="12" y="505"/>
                </a:lnTo>
                <a:close/>
                <a:moveTo>
                  <a:pt x="12" y="529"/>
                </a:moveTo>
                <a:lnTo>
                  <a:pt x="12" y="541"/>
                </a:lnTo>
                <a:lnTo>
                  <a:pt x="0" y="541"/>
                </a:lnTo>
                <a:lnTo>
                  <a:pt x="0" y="529"/>
                </a:lnTo>
                <a:lnTo>
                  <a:pt x="12" y="529"/>
                </a:lnTo>
                <a:close/>
                <a:moveTo>
                  <a:pt x="12" y="553"/>
                </a:moveTo>
                <a:lnTo>
                  <a:pt x="12" y="565"/>
                </a:lnTo>
                <a:lnTo>
                  <a:pt x="0" y="565"/>
                </a:lnTo>
                <a:lnTo>
                  <a:pt x="0" y="553"/>
                </a:lnTo>
                <a:lnTo>
                  <a:pt x="12" y="553"/>
                </a:lnTo>
                <a:close/>
                <a:moveTo>
                  <a:pt x="12" y="577"/>
                </a:moveTo>
                <a:lnTo>
                  <a:pt x="12" y="589"/>
                </a:lnTo>
                <a:lnTo>
                  <a:pt x="0" y="589"/>
                </a:lnTo>
                <a:lnTo>
                  <a:pt x="0" y="577"/>
                </a:lnTo>
                <a:lnTo>
                  <a:pt x="12" y="577"/>
                </a:lnTo>
                <a:close/>
                <a:moveTo>
                  <a:pt x="12" y="601"/>
                </a:moveTo>
                <a:lnTo>
                  <a:pt x="12" y="613"/>
                </a:lnTo>
                <a:lnTo>
                  <a:pt x="0" y="613"/>
                </a:lnTo>
                <a:lnTo>
                  <a:pt x="0" y="601"/>
                </a:lnTo>
                <a:lnTo>
                  <a:pt x="12" y="601"/>
                </a:lnTo>
                <a:close/>
                <a:moveTo>
                  <a:pt x="12" y="625"/>
                </a:moveTo>
                <a:lnTo>
                  <a:pt x="12" y="637"/>
                </a:lnTo>
                <a:lnTo>
                  <a:pt x="0" y="637"/>
                </a:lnTo>
                <a:lnTo>
                  <a:pt x="0" y="625"/>
                </a:lnTo>
                <a:lnTo>
                  <a:pt x="12" y="625"/>
                </a:lnTo>
                <a:close/>
                <a:moveTo>
                  <a:pt x="12" y="649"/>
                </a:moveTo>
                <a:lnTo>
                  <a:pt x="12" y="661"/>
                </a:lnTo>
                <a:lnTo>
                  <a:pt x="0" y="661"/>
                </a:lnTo>
                <a:lnTo>
                  <a:pt x="0" y="649"/>
                </a:lnTo>
                <a:lnTo>
                  <a:pt x="12" y="649"/>
                </a:lnTo>
                <a:close/>
                <a:moveTo>
                  <a:pt x="12" y="673"/>
                </a:moveTo>
                <a:lnTo>
                  <a:pt x="12" y="685"/>
                </a:lnTo>
                <a:lnTo>
                  <a:pt x="0" y="685"/>
                </a:lnTo>
                <a:lnTo>
                  <a:pt x="0" y="673"/>
                </a:lnTo>
                <a:lnTo>
                  <a:pt x="12" y="673"/>
                </a:lnTo>
                <a:close/>
                <a:moveTo>
                  <a:pt x="12" y="697"/>
                </a:moveTo>
                <a:lnTo>
                  <a:pt x="12" y="709"/>
                </a:lnTo>
                <a:lnTo>
                  <a:pt x="0" y="709"/>
                </a:lnTo>
                <a:lnTo>
                  <a:pt x="0" y="697"/>
                </a:lnTo>
                <a:lnTo>
                  <a:pt x="12" y="697"/>
                </a:lnTo>
                <a:close/>
                <a:moveTo>
                  <a:pt x="12" y="721"/>
                </a:moveTo>
                <a:lnTo>
                  <a:pt x="12" y="733"/>
                </a:lnTo>
                <a:lnTo>
                  <a:pt x="0" y="733"/>
                </a:lnTo>
                <a:lnTo>
                  <a:pt x="0" y="721"/>
                </a:lnTo>
                <a:lnTo>
                  <a:pt x="12" y="721"/>
                </a:lnTo>
                <a:close/>
                <a:moveTo>
                  <a:pt x="12" y="745"/>
                </a:moveTo>
                <a:lnTo>
                  <a:pt x="12" y="757"/>
                </a:lnTo>
                <a:lnTo>
                  <a:pt x="0" y="757"/>
                </a:lnTo>
                <a:lnTo>
                  <a:pt x="0" y="745"/>
                </a:lnTo>
                <a:lnTo>
                  <a:pt x="12" y="745"/>
                </a:lnTo>
                <a:close/>
                <a:moveTo>
                  <a:pt x="12" y="769"/>
                </a:moveTo>
                <a:lnTo>
                  <a:pt x="12" y="781"/>
                </a:lnTo>
                <a:lnTo>
                  <a:pt x="0" y="781"/>
                </a:lnTo>
                <a:lnTo>
                  <a:pt x="0" y="769"/>
                </a:lnTo>
                <a:lnTo>
                  <a:pt x="12" y="769"/>
                </a:lnTo>
                <a:close/>
                <a:moveTo>
                  <a:pt x="12" y="793"/>
                </a:moveTo>
                <a:lnTo>
                  <a:pt x="12" y="805"/>
                </a:lnTo>
                <a:lnTo>
                  <a:pt x="0" y="805"/>
                </a:lnTo>
                <a:lnTo>
                  <a:pt x="0" y="793"/>
                </a:lnTo>
                <a:lnTo>
                  <a:pt x="12" y="793"/>
                </a:lnTo>
                <a:close/>
                <a:moveTo>
                  <a:pt x="12" y="817"/>
                </a:moveTo>
                <a:lnTo>
                  <a:pt x="12" y="829"/>
                </a:lnTo>
                <a:lnTo>
                  <a:pt x="0" y="829"/>
                </a:lnTo>
                <a:lnTo>
                  <a:pt x="0" y="817"/>
                </a:lnTo>
                <a:lnTo>
                  <a:pt x="12" y="817"/>
                </a:lnTo>
                <a:close/>
                <a:moveTo>
                  <a:pt x="12" y="841"/>
                </a:moveTo>
                <a:lnTo>
                  <a:pt x="12" y="853"/>
                </a:lnTo>
                <a:lnTo>
                  <a:pt x="0" y="853"/>
                </a:lnTo>
                <a:lnTo>
                  <a:pt x="0" y="841"/>
                </a:lnTo>
                <a:lnTo>
                  <a:pt x="12" y="841"/>
                </a:lnTo>
                <a:close/>
                <a:moveTo>
                  <a:pt x="12" y="865"/>
                </a:moveTo>
                <a:lnTo>
                  <a:pt x="12" y="877"/>
                </a:lnTo>
                <a:lnTo>
                  <a:pt x="0" y="877"/>
                </a:lnTo>
                <a:lnTo>
                  <a:pt x="0" y="865"/>
                </a:lnTo>
                <a:lnTo>
                  <a:pt x="12" y="865"/>
                </a:lnTo>
                <a:close/>
                <a:moveTo>
                  <a:pt x="12" y="889"/>
                </a:moveTo>
                <a:lnTo>
                  <a:pt x="12" y="901"/>
                </a:lnTo>
                <a:lnTo>
                  <a:pt x="0" y="901"/>
                </a:lnTo>
                <a:lnTo>
                  <a:pt x="0" y="889"/>
                </a:lnTo>
                <a:lnTo>
                  <a:pt x="12" y="889"/>
                </a:lnTo>
                <a:close/>
                <a:moveTo>
                  <a:pt x="12" y="913"/>
                </a:moveTo>
                <a:lnTo>
                  <a:pt x="12" y="926"/>
                </a:lnTo>
                <a:lnTo>
                  <a:pt x="0" y="926"/>
                </a:lnTo>
                <a:lnTo>
                  <a:pt x="0" y="913"/>
                </a:lnTo>
                <a:lnTo>
                  <a:pt x="12" y="913"/>
                </a:lnTo>
                <a:close/>
                <a:moveTo>
                  <a:pt x="12" y="937"/>
                </a:moveTo>
                <a:lnTo>
                  <a:pt x="12" y="950"/>
                </a:lnTo>
                <a:lnTo>
                  <a:pt x="0" y="950"/>
                </a:lnTo>
                <a:lnTo>
                  <a:pt x="0" y="937"/>
                </a:lnTo>
                <a:lnTo>
                  <a:pt x="12" y="937"/>
                </a:lnTo>
                <a:close/>
                <a:moveTo>
                  <a:pt x="12" y="962"/>
                </a:moveTo>
                <a:lnTo>
                  <a:pt x="12" y="973"/>
                </a:lnTo>
                <a:lnTo>
                  <a:pt x="0" y="973"/>
                </a:lnTo>
                <a:lnTo>
                  <a:pt x="0" y="962"/>
                </a:lnTo>
                <a:lnTo>
                  <a:pt x="12" y="962"/>
                </a:lnTo>
                <a:close/>
                <a:moveTo>
                  <a:pt x="12" y="986"/>
                </a:moveTo>
                <a:lnTo>
                  <a:pt x="12" y="998"/>
                </a:lnTo>
                <a:lnTo>
                  <a:pt x="0" y="998"/>
                </a:lnTo>
                <a:lnTo>
                  <a:pt x="0" y="986"/>
                </a:lnTo>
                <a:lnTo>
                  <a:pt x="12" y="986"/>
                </a:lnTo>
                <a:close/>
                <a:moveTo>
                  <a:pt x="12" y="1010"/>
                </a:moveTo>
                <a:lnTo>
                  <a:pt x="12" y="1022"/>
                </a:lnTo>
                <a:lnTo>
                  <a:pt x="0" y="1022"/>
                </a:lnTo>
                <a:lnTo>
                  <a:pt x="0" y="1010"/>
                </a:lnTo>
                <a:lnTo>
                  <a:pt x="12" y="1010"/>
                </a:lnTo>
                <a:close/>
                <a:moveTo>
                  <a:pt x="12" y="1034"/>
                </a:moveTo>
                <a:lnTo>
                  <a:pt x="12" y="1046"/>
                </a:lnTo>
                <a:lnTo>
                  <a:pt x="0" y="1046"/>
                </a:lnTo>
                <a:lnTo>
                  <a:pt x="0" y="1034"/>
                </a:lnTo>
                <a:lnTo>
                  <a:pt x="12" y="1034"/>
                </a:lnTo>
                <a:close/>
                <a:moveTo>
                  <a:pt x="12" y="1058"/>
                </a:moveTo>
                <a:lnTo>
                  <a:pt x="12" y="1070"/>
                </a:lnTo>
                <a:lnTo>
                  <a:pt x="0" y="1070"/>
                </a:lnTo>
                <a:lnTo>
                  <a:pt x="0" y="1058"/>
                </a:lnTo>
                <a:lnTo>
                  <a:pt x="12" y="1058"/>
                </a:lnTo>
                <a:close/>
                <a:moveTo>
                  <a:pt x="12" y="1082"/>
                </a:moveTo>
                <a:lnTo>
                  <a:pt x="12" y="1094"/>
                </a:lnTo>
                <a:lnTo>
                  <a:pt x="0" y="1094"/>
                </a:lnTo>
                <a:lnTo>
                  <a:pt x="0" y="1082"/>
                </a:lnTo>
                <a:lnTo>
                  <a:pt x="12" y="1082"/>
                </a:lnTo>
                <a:close/>
                <a:moveTo>
                  <a:pt x="12" y="1106"/>
                </a:moveTo>
                <a:lnTo>
                  <a:pt x="12" y="1118"/>
                </a:lnTo>
                <a:lnTo>
                  <a:pt x="0" y="1118"/>
                </a:lnTo>
                <a:lnTo>
                  <a:pt x="0" y="1106"/>
                </a:lnTo>
                <a:lnTo>
                  <a:pt x="12" y="1106"/>
                </a:lnTo>
                <a:close/>
                <a:moveTo>
                  <a:pt x="12" y="1130"/>
                </a:moveTo>
                <a:lnTo>
                  <a:pt x="12" y="1142"/>
                </a:lnTo>
                <a:lnTo>
                  <a:pt x="0" y="1142"/>
                </a:lnTo>
                <a:lnTo>
                  <a:pt x="0" y="1130"/>
                </a:lnTo>
                <a:lnTo>
                  <a:pt x="12" y="1130"/>
                </a:lnTo>
                <a:close/>
                <a:moveTo>
                  <a:pt x="12" y="1154"/>
                </a:moveTo>
                <a:lnTo>
                  <a:pt x="12" y="1166"/>
                </a:lnTo>
                <a:lnTo>
                  <a:pt x="0" y="1166"/>
                </a:lnTo>
                <a:lnTo>
                  <a:pt x="0" y="1154"/>
                </a:lnTo>
                <a:lnTo>
                  <a:pt x="12" y="1154"/>
                </a:lnTo>
                <a:close/>
                <a:moveTo>
                  <a:pt x="12" y="1178"/>
                </a:moveTo>
                <a:lnTo>
                  <a:pt x="12" y="1190"/>
                </a:lnTo>
                <a:lnTo>
                  <a:pt x="0" y="1190"/>
                </a:lnTo>
                <a:lnTo>
                  <a:pt x="0" y="1178"/>
                </a:lnTo>
                <a:lnTo>
                  <a:pt x="12" y="1178"/>
                </a:lnTo>
                <a:close/>
                <a:moveTo>
                  <a:pt x="12" y="1202"/>
                </a:moveTo>
                <a:lnTo>
                  <a:pt x="12" y="1214"/>
                </a:lnTo>
                <a:lnTo>
                  <a:pt x="0" y="1214"/>
                </a:lnTo>
                <a:lnTo>
                  <a:pt x="0" y="1202"/>
                </a:lnTo>
                <a:lnTo>
                  <a:pt x="12" y="1202"/>
                </a:lnTo>
                <a:close/>
                <a:moveTo>
                  <a:pt x="12" y="1226"/>
                </a:moveTo>
                <a:lnTo>
                  <a:pt x="12" y="1238"/>
                </a:lnTo>
                <a:lnTo>
                  <a:pt x="0" y="1238"/>
                </a:lnTo>
                <a:lnTo>
                  <a:pt x="0" y="1226"/>
                </a:lnTo>
                <a:lnTo>
                  <a:pt x="12" y="1226"/>
                </a:lnTo>
                <a:close/>
                <a:moveTo>
                  <a:pt x="12" y="1250"/>
                </a:moveTo>
                <a:lnTo>
                  <a:pt x="12" y="1262"/>
                </a:lnTo>
                <a:lnTo>
                  <a:pt x="0" y="1262"/>
                </a:lnTo>
                <a:lnTo>
                  <a:pt x="0" y="1250"/>
                </a:lnTo>
                <a:lnTo>
                  <a:pt x="12" y="1250"/>
                </a:lnTo>
                <a:close/>
                <a:moveTo>
                  <a:pt x="12" y="1274"/>
                </a:moveTo>
                <a:lnTo>
                  <a:pt x="12" y="1286"/>
                </a:lnTo>
                <a:lnTo>
                  <a:pt x="0" y="1286"/>
                </a:lnTo>
                <a:lnTo>
                  <a:pt x="0" y="1274"/>
                </a:lnTo>
                <a:lnTo>
                  <a:pt x="12" y="1274"/>
                </a:lnTo>
                <a:close/>
                <a:moveTo>
                  <a:pt x="12" y="1298"/>
                </a:moveTo>
                <a:lnTo>
                  <a:pt x="12" y="1310"/>
                </a:lnTo>
                <a:lnTo>
                  <a:pt x="0" y="1310"/>
                </a:lnTo>
                <a:lnTo>
                  <a:pt x="0" y="1298"/>
                </a:lnTo>
                <a:lnTo>
                  <a:pt x="12" y="1298"/>
                </a:lnTo>
                <a:close/>
                <a:moveTo>
                  <a:pt x="12" y="1322"/>
                </a:moveTo>
                <a:lnTo>
                  <a:pt x="12" y="1334"/>
                </a:lnTo>
                <a:lnTo>
                  <a:pt x="0" y="1334"/>
                </a:lnTo>
                <a:lnTo>
                  <a:pt x="0" y="1322"/>
                </a:lnTo>
                <a:lnTo>
                  <a:pt x="12" y="1322"/>
                </a:lnTo>
                <a:close/>
                <a:moveTo>
                  <a:pt x="12" y="1346"/>
                </a:moveTo>
                <a:lnTo>
                  <a:pt x="12" y="1358"/>
                </a:lnTo>
                <a:lnTo>
                  <a:pt x="0" y="1358"/>
                </a:lnTo>
                <a:lnTo>
                  <a:pt x="0" y="1346"/>
                </a:lnTo>
                <a:lnTo>
                  <a:pt x="12" y="1346"/>
                </a:lnTo>
                <a:close/>
                <a:moveTo>
                  <a:pt x="12" y="1370"/>
                </a:moveTo>
                <a:lnTo>
                  <a:pt x="12" y="1382"/>
                </a:lnTo>
                <a:lnTo>
                  <a:pt x="0" y="1382"/>
                </a:lnTo>
                <a:lnTo>
                  <a:pt x="0" y="1370"/>
                </a:lnTo>
                <a:lnTo>
                  <a:pt x="12" y="1370"/>
                </a:lnTo>
                <a:close/>
                <a:moveTo>
                  <a:pt x="12" y="1394"/>
                </a:moveTo>
                <a:lnTo>
                  <a:pt x="12" y="1406"/>
                </a:lnTo>
                <a:lnTo>
                  <a:pt x="0" y="1406"/>
                </a:lnTo>
                <a:lnTo>
                  <a:pt x="0" y="1394"/>
                </a:lnTo>
                <a:lnTo>
                  <a:pt x="12" y="1394"/>
                </a:lnTo>
                <a:close/>
                <a:moveTo>
                  <a:pt x="12" y="1418"/>
                </a:moveTo>
                <a:lnTo>
                  <a:pt x="12" y="1431"/>
                </a:lnTo>
                <a:lnTo>
                  <a:pt x="0" y="1431"/>
                </a:lnTo>
                <a:lnTo>
                  <a:pt x="0" y="1418"/>
                </a:lnTo>
                <a:lnTo>
                  <a:pt x="12" y="1418"/>
                </a:lnTo>
                <a:close/>
                <a:moveTo>
                  <a:pt x="12" y="1442"/>
                </a:moveTo>
                <a:lnTo>
                  <a:pt x="12" y="1454"/>
                </a:lnTo>
                <a:lnTo>
                  <a:pt x="0" y="1454"/>
                </a:lnTo>
                <a:lnTo>
                  <a:pt x="0" y="1442"/>
                </a:lnTo>
                <a:lnTo>
                  <a:pt x="12" y="1442"/>
                </a:lnTo>
                <a:close/>
                <a:moveTo>
                  <a:pt x="12" y="1467"/>
                </a:moveTo>
                <a:lnTo>
                  <a:pt x="12" y="1478"/>
                </a:lnTo>
                <a:lnTo>
                  <a:pt x="0" y="1478"/>
                </a:lnTo>
                <a:lnTo>
                  <a:pt x="0" y="1467"/>
                </a:lnTo>
                <a:lnTo>
                  <a:pt x="12" y="1467"/>
                </a:lnTo>
                <a:close/>
                <a:moveTo>
                  <a:pt x="12" y="1491"/>
                </a:moveTo>
                <a:lnTo>
                  <a:pt x="12" y="1503"/>
                </a:lnTo>
                <a:lnTo>
                  <a:pt x="0" y="1503"/>
                </a:lnTo>
                <a:lnTo>
                  <a:pt x="0" y="1491"/>
                </a:lnTo>
                <a:lnTo>
                  <a:pt x="12" y="1491"/>
                </a:lnTo>
                <a:close/>
                <a:moveTo>
                  <a:pt x="12" y="1514"/>
                </a:moveTo>
                <a:lnTo>
                  <a:pt x="12" y="1527"/>
                </a:lnTo>
                <a:lnTo>
                  <a:pt x="0" y="1527"/>
                </a:lnTo>
                <a:lnTo>
                  <a:pt x="0" y="1514"/>
                </a:lnTo>
                <a:lnTo>
                  <a:pt x="12" y="1514"/>
                </a:lnTo>
                <a:close/>
                <a:moveTo>
                  <a:pt x="12" y="1539"/>
                </a:moveTo>
                <a:lnTo>
                  <a:pt x="12" y="1551"/>
                </a:lnTo>
                <a:lnTo>
                  <a:pt x="0" y="1551"/>
                </a:lnTo>
                <a:lnTo>
                  <a:pt x="0" y="1539"/>
                </a:lnTo>
                <a:lnTo>
                  <a:pt x="12" y="1539"/>
                </a:lnTo>
                <a:close/>
                <a:moveTo>
                  <a:pt x="12" y="1563"/>
                </a:moveTo>
                <a:lnTo>
                  <a:pt x="12" y="1575"/>
                </a:lnTo>
                <a:lnTo>
                  <a:pt x="0" y="1575"/>
                </a:lnTo>
                <a:lnTo>
                  <a:pt x="0" y="1563"/>
                </a:lnTo>
                <a:lnTo>
                  <a:pt x="12" y="1563"/>
                </a:lnTo>
                <a:close/>
                <a:moveTo>
                  <a:pt x="12" y="1587"/>
                </a:moveTo>
                <a:lnTo>
                  <a:pt x="12" y="1599"/>
                </a:lnTo>
                <a:lnTo>
                  <a:pt x="0" y="1599"/>
                </a:lnTo>
                <a:lnTo>
                  <a:pt x="0" y="1587"/>
                </a:lnTo>
                <a:lnTo>
                  <a:pt x="12" y="1587"/>
                </a:lnTo>
                <a:close/>
                <a:moveTo>
                  <a:pt x="12" y="1611"/>
                </a:moveTo>
                <a:lnTo>
                  <a:pt x="12" y="1623"/>
                </a:lnTo>
                <a:lnTo>
                  <a:pt x="0" y="1623"/>
                </a:lnTo>
                <a:lnTo>
                  <a:pt x="0" y="1611"/>
                </a:lnTo>
                <a:lnTo>
                  <a:pt x="12" y="1611"/>
                </a:lnTo>
                <a:close/>
                <a:moveTo>
                  <a:pt x="12" y="1635"/>
                </a:moveTo>
                <a:lnTo>
                  <a:pt x="12" y="1647"/>
                </a:lnTo>
                <a:lnTo>
                  <a:pt x="0" y="1647"/>
                </a:lnTo>
                <a:lnTo>
                  <a:pt x="0" y="1635"/>
                </a:lnTo>
                <a:lnTo>
                  <a:pt x="12" y="1635"/>
                </a:lnTo>
                <a:close/>
                <a:moveTo>
                  <a:pt x="12" y="1659"/>
                </a:moveTo>
                <a:lnTo>
                  <a:pt x="12" y="1671"/>
                </a:lnTo>
                <a:lnTo>
                  <a:pt x="0" y="1671"/>
                </a:lnTo>
                <a:lnTo>
                  <a:pt x="0" y="1659"/>
                </a:lnTo>
                <a:lnTo>
                  <a:pt x="12" y="1659"/>
                </a:lnTo>
                <a:close/>
                <a:moveTo>
                  <a:pt x="12" y="1683"/>
                </a:moveTo>
                <a:lnTo>
                  <a:pt x="12" y="1695"/>
                </a:lnTo>
                <a:lnTo>
                  <a:pt x="0" y="1695"/>
                </a:lnTo>
                <a:lnTo>
                  <a:pt x="0" y="1683"/>
                </a:lnTo>
                <a:lnTo>
                  <a:pt x="12" y="1683"/>
                </a:lnTo>
                <a:close/>
                <a:moveTo>
                  <a:pt x="12" y="1707"/>
                </a:moveTo>
                <a:lnTo>
                  <a:pt x="12" y="1719"/>
                </a:lnTo>
                <a:lnTo>
                  <a:pt x="0" y="1719"/>
                </a:lnTo>
                <a:lnTo>
                  <a:pt x="0" y="1707"/>
                </a:lnTo>
                <a:lnTo>
                  <a:pt x="12" y="1707"/>
                </a:lnTo>
                <a:close/>
                <a:moveTo>
                  <a:pt x="12" y="1731"/>
                </a:moveTo>
                <a:lnTo>
                  <a:pt x="12" y="1743"/>
                </a:lnTo>
                <a:lnTo>
                  <a:pt x="0" y="1743"/>
                </a:lnTo>
                <a:lnTo>
                  <a:pt x="0" y="1731"/>
                </a:lnTo>
                <a:lnTo>
                  <a:pt x="12" y="1731"/>
                </a:lnTo>
                <a:close/>
                <a:moveTo>
                  <a:pt x="12" y="1755"/>
                </a:moveTo>
                <a:lnTo>
                  <a:pt x="12" y="1767"/>
                </a:lnTo>
                <a:lnTo>
                  <a:pt x="0" y="1767"/>
                </a:lnTo>
                <a:lnTo>
                  <a:pt x="0" y="1755"/>
                </a:lnTo>
                <a:lnTo>
                  <a:pt x="12" y="1755"/>
                </a:lnTo>
                <a:close/>
                <a:moveTo>
                  <a:pt x="12" y="1779"/>
                </a:moveTo>
                <a:lnTo>
                  <a:pt x="12" y="1791"/>
                </a:lnTo>
                <a:lnTo>
                  <a:pt x="0" y="1791"/>
                </a:lnTo>
                <a:lnTo>
                  <a:pt x="0" y="1779"/>
                </a:lnTo>
                <a:lnTo>
                  <a:pt x="12" y="1779"/>
                </a:lnTo>
                <a:close/>
                <a:moveTo>
                  <a:pt x="12" y="1803"/>
                </a:moveTo>
                <a:lnTo>
                  <a:pt x="12" y="1815"/>
                </a:lnTo>
                <a:lnTo>
                  <a:pt x="0" y="1815"/>
                </a:lnTo>
                <a:lnTo>
                  <a:pt x="0" y="1803"/>
                </a:lnTo>
                <a:lnTo>
                  <a:pt x="12" y="1803"/>
                </a:lnTo>
                <a:close/>
                <a:moveTo>
                  <a:pt x="12" y="1827"/>
                </a:moveTo>
                <a:lnTo>
                  <a:pt x="12" y="1839"/>
                </a:lnTo>
                <a:lnTo>
                  <a:pt x="0" y="1839"/>
                </a:lnTo>
                <a:lnTo>
                  <a:pt x="0" y="1827"/>
                </a:lnTo>
                <a:lnTo>
                  <a:pt x="12" y="1827"/>
                </a:lnTo>
                <a:close/>
                <a:moveTo>
                  <a:pt x="12" y="1851"/>
                </a:moveTo>
                <a:lnTo>
                  <a:pt x="12" y="1863"/>
                </a:lnTo>
                <a:lnTo>
                  <a:pt x="0" y="1863"/>
                </a:lnTo>
                <a:lnTo>
                  <a:pt x="0" y="1851"/>
                </a:lnTo>
                <a:lnTo>
                  <a:pt x="12" y="1851"/>
                </a:lnTo>
                <a:close/>
                <a:moveTo>
                  <a:pt x="12" y="1875"/>
                </a:moveTo>
                <a:lnTo>
                  <a:pt x="12" y="1887"/>
                </a:lnTo>
                <a:lnTo>
                  <a:pt x="0" y="1887"/>
                </a:lnTo>
                <a:lnTo>
                  <a:pt x="0" y="1875"/>
                </a:lnTo>
                <a:lnTo>
                  <a:pt x="12" y="1875"/>
                </a:lnTo>
                <a:close/>
                <a:moveTo>
                  <a:pt x="12" y="1899"/>
                </a:moveTo>
                <a:lnTo>
                  <a:pt x="12" y="1911"/>
                </a:lnTo>
                <a:lnTo>
                  <a:pt x="0" y="1911"/>
                </a:lnTo>
                <a:lnTo>
                  <a:pt x="0" y="1899"/>
                </a:lnTo>
                <a:lnTo>
                  <a:pt x="12" y="1899"/>
                </a:lnTo>
                <a:close/>
                <a:moveTo>
                  <a:pt x="12" y="1923"/>
                </a:moveTo>
                <a:lnTo>
                  <a:pt x="12" y="1935"/>
                </a:lnTo>
                <a:lnTo>
                  <a:pt x="0" y="1935"/>
                </a:lnTo>
                <a:lnTo>
                  <a:pt x="0" y="1923"/>
                </a:lnTo>
                <a:lnTo>
                  <a:pt x="12" y="1923"/>
                </a:lnTo>
                <a:close/>
                <a:moveTo>
                  <a:pt x="12" y="1947"/>
                </a:moveTo>
                <a:lnTo>
                  <a:pt x="12" y="1959"/>
                </a:lnTo>
                <a:lnTo>
                  <a:pt x="0" y="1959"/>
                </a:lnTo>
                <a:lnTo>
                  <a:pt x="0" y="1947"/>
                </a:lnTo>
                <a:lnTo>
                  <a:pt x="12" y="1947"/>
                </a:lnTo>
                <a:close/>
                <a:moveTo>
                  <a:pt x="12" y="1972"/>
                </a:moveTo>
                <a:lnTo>
                  <a:pt x="12" y="1983"/>
                </a:lnTo>
                <a:lnTo>
                  <a:pt x="0" y="1983"/>
                </a:lnTo>
                <a:lnTo>
                  <a:pt x="0" y="1972"/>
                </a:lnTo>
                <a:lnTo>
                  <a:pt x="12" y="1972"/>
                </a:lnTo>
                <a:close/>
                <a:moveTo>
                  <a:pt x="12" y="1995"/>
                </a:moveTo>
                <a:lnTo>
                  <a:pt x="12" y="2008"/>
                </a:lnTo>
                <a:lnTo>
                  <a:pt x="0" y="2008"/>
                </a:lnTo>
                <a:lnTo>
                  <a:pt x="0" y="1995"/>
                </a:lnTo>
                <a:lnTo>
                  <a:pt x="12" y="1995"/>
                </a:lnTo>
                <a:close/>
                <a:moveTo>
                  <a:pt x="12" y="2019"/>
                </a:moveTo>
                <a:lnTo>
                  <a:pt x="12" y="2032"/>
                </a:lnTo>
                <a:lnTo>
                  <a:pt x="0" y="2032"/>
                </a:lnTo>
                <a:lnTo>
                  <a:pt x="0" y="2019"/>
                </a:lnTo>
                <a:lnTo>
                  <a:pt x="12" y="2019"/>
                </a:lnTo>
                <a:close/>
                <a:moveTo>
                  <a:pt x="12" y="2044"/>
                </a:moveTo>
                <a:lnTo>
                  <a:pt x="12" y="2055"/>
                </a:lnTo>
                <a:lnTo>
                  <a:pt x="0" y="2055"/>
                </a:lnTo>
                <a:lnTo>
                  <a:pt x="0" y="2044"/>
                </a:lnTo>
                <a:lnTo>
                  <a:pt x="12" y="2044"/>
                </a:lnTo>
                <a:close/>
                <a:moveTo>
                  <a:pt x="12" y="2068"/>
                </a:moveTo>
                <a:lnTo>
                  <a:pt x="12" y="2080"/>
                </a:lnTo>
                <a:lnTo>
                  <a:pt x="0" y="2080"/>
                </a:lnTo>
                <a:lnTo>
                  <a:pt x="0" y="2068"/>
                </a:lnTo>
                <a:lnTo>
                  <a:pt x="12" y="2068"/>
                </a:lnTo>
                <a:close/>
                <a:moveTo>
                  <a:pt x="12" y="2092"/>
                </a:moveTo>
                <a:lnTo>
                  <a:pt x="12" y="2104"/>
                </a:lnTo>
                <a:lnTo>
                  <a:pt x="0" y="2104"/>
                </a:lnTo>
                <a:lnTo>
                  <a:pt x="0" y="2092"/>
                </a:lnTo>
                <a:lnTo>
                  <a:pt x="12" y="2092"/>
                </a:lnTo>
                <a:close/>
                <a:moveTo>
                  <a:pt x="12" y="2116"/>
                </a:moveTo>
                <a:lnTo>
                  <a:pt x="12" y="2128"/>
                </a:lnTo>
                <a:lnTo>
                  <a:pt x="0" y="2128"/>
                </a:lnTo>
                <a:lnTo>
                  <a:pt x="0" y="2116"/>
                </a:lnTo>
                <a:lnTo>
                  <a:pt x="12" y="2116"/>
                </a:lnTo>
                <a:close/>
                <a:moveTo>
                  <a:pt x="12" y="2140"/>
                </a:moveTo>
                <a:lnTo>
                  <a:pt x="12" y="2152"/>
                </a:lnTo>
                <a:lnTo>
                  <a:pt x="0" y="2152"/>
                </a:lnTo>
                <a:lnTo>
                  <a:pt x="0" y="2140"/>
                </a:lnTo>
                <a:lnTo>
                  <a:pt x="12" y="2140"/>
                </a:lnTo>
                <a:close/>
                <a:moveTo>
                  <a:pt x="12" y="2164"/>
                </a:moveTo>
                <a:lnTo>
                  <a:pt x="12" y="2176"/>
                </a:lnTo>
                <a:lnTo>
                  <a:pt x="0" y="2176"/>
                </a:lnTo>
                <a:lnTo>
                  <a:pt x="0" y="2164"/>
                </a:lnTo>
                <a:lnTo>
                  <a:pt x="12" y="2164"/>
                </a:lnTo>
                <a:close/>
                <a:moveTo>
                  <a:pt x="12" y="2188"/>
                </a:moveTo>
                <a:lnTo>
                  <a:pt x="12" y="2200"/>
                </a:lnTo>
                <a:lnTo>
                  <a:pt x="0" y="2200"/>
                </a:lnTo>
                <a:lnTo>
                  <a:pt x="0" y="2188"/>
                </a:lnTo>
                <a:lnTo>
                  <a:pt x="12" y="2188"/>
                </a:lnTo>
                <a:close/>
                <a:moveTo>
                  <a:pt x="12" y="2212"/>
                </a:moveTo>
                <a:lnTo>
                  <a:pt x="12" y="2224"/>
                </a:lnTo>
                <a:lnTo>
                  <a:pt x="0" y="2224"/>
                </a:lnTo>
                <a:lnTo>
                  <a:pt x="0" y="2212"/>
                </a:lnTo>
                <a:lnTo>
                  <a:pt x="12" y="2212"/>
                </a:lnTo>
                <a:close/>
                <a:moveTo>
                  <a:pt x="12" y="2236"/>
                </a:moveTo>
                <a:lnTo>
                  <a:pt x="12" y="2248"/>
                </a:lnTo>
                <a:lnTo>
                  <a:pt x="0" y="2248"/>
                </a:lnTo>
                <a:lnTo>
                  <a:pt x="0" y="2236"/>
                </a:lnTo>
                <a:lnTo>
                  <a:pt x="12" y="2236"/>
                </a:lnTo>
                <a:close/>
                <a:moveTo>
                  <a:pt x="12" y="2260"/>
                </a:moveTo>
                <a:lnTo>
                  <a:pt x="12" y="2272"/>
                </a:lnTo>
                <a:lnTo>
                  <a:pt x="0" y="2272"/>
                </a:lnTo>
                <a:lnTo>
                  <a:pt x="0" y="2260"/>
                </a:lnTo>
                <a:lnTo>
                  <a:pt x="12" y="2260"/>
                </a:lnTo>
                <a:close/>
                <a:moveTo>
                  <a:pt x="12" y="2284"/>
                </a:moveTo>
                <a:lnTo>
                  <a:pt x="12" y="2296"/>
                </a:lnTo>
                <a:lnTo>
                  <a:pt x="0" y="2296"/>
                </a:lnTo>
                <a:lnTo>
                  <a:pt x="0" y="2284"/>
                </a:lnTo>
                <a:lnTo>
                  <a:pt x="12" y="2284"/>
                </a:lnTo>
                <a:close/>
                <a:moveTo>
                  <a:pt x="12" y="2308"/>
                </a:moveTo>
                <a:lnTo>
                  <a:pt x="12" y="2320"/>
                </a:lnTo>
                <a:lnTo>
                  <a:pt x="0" y="2320"/>
                </a:lnTo>
                <a:lnTo>
                  <a:pt x="0" y="2308"/>
                </a:lnTo>
                <a:lnTo>
                  <a:pt x="12" y="2308"/>
                </a:lnTo>
                <a:close/>
                <a:moveTo>
                  <a:pt x="12" y="2332"/>
                </a:moveTo>
                <a:lnTo>
                  <a:pt x="12" y="2344"/>
                </a:lnTo>
                <a:lnTo>
                  <a:pt x="0" y="2344"/>
                </a:lnTo>
                <a:lnTo>
                  <a:pt x="0" y="2332"/>
                </a:lnTo>
                <a:lnTo>
                  <a:pt x="12" y="2332"/>
                </a:lnTo>
                <a:close/>
                <a:moveTo>
                  <a:pt x="12" y="2356"/>
                </a:moveTo>
                <a:lnTo>
                  <a:pt x="12" y="2368"/>
                </a:lnTo>
                <a:lnTo>
                  <a:pt x="0" y="2368"/>
                </a:lnTo>
                <a:lnTo>
                  <a:pt x="0" y="2356"/>
                </a:lnTo>
                <a:lnTo>
                  <a:pt x="12" y="2356"/>
                </a:lnTo>
                <a:close/>
                <a:moveTo>
                  <a:pt x="12" y="2380"/>
                </a:moveTo>
                <a:lnTo>
                  <a:pt x="12" y="2392"/>
                </a:lnTo>
                <a:lnTo>
                  <a:pt x="0" y="2392"/>
                </a:lnTo>
                <a:lnTo>
                  <a:pt x="0" y="2380"/>
                </a:lnTo>
                <a:lnTo>
                  <a:pt x="12" y="2380"/>
                </a:lnTo>
                <a:close/>
                <a:moveTo>
                  <a:pt x="12" y="2404"/>
                </a:moveTo>
                <a:lnTo>
                  <a:pt x="12" y="2416"/>
                </a:lnTo>
                <a:lnTo>
                  <a:pt x="0" y="2416"/>
                </a:lnTo>
                <a:lnTo>
                  <a:pt x="0" y="2404"/>
                </a:lnTo>
                <a:lnTo>
                  <a:pt x="12" y="2404"/>
                </a:lnTo>
                <a:close/>
                <a:moveTo>
                  <a:pt x="12" y="2428"/>
                </a:moveTo>
                <a:lnTo>
                  <a:pt x="12" y="2440"/>
                </a:lnTo>
                <a:lnTo>
                  <a:pt x="0" y="2440"/>
                </a:lnTo>
                <a:lnTo>
                  <a:pt x="0" y="2428"/>
                </a:lnTo>
                <a:lnTo>
                  <a:pt x="12" y="2428"/>
                </a:lnTo>
                <a:close/>
                <a:moveTo>
                  <a:pt x="12" y="2452"/>
                </a:moveTo>
                <a:lnTo>
                  <a:pt x="12" y="2464"/>
                </a:lnTo>
                <a:lnTo>
                  <a:pt x="0" y="2464"/>
                </a:lnTo>
                <a:lnTo>
                  <a:pt x="0" y="2452"/>
                </a:lnTo>
                <a:lnTo>
                  <a:pt x="12" y="2452"/>
                </a:lnTo>
                <a:close/>
                <a:moveTo>
                  <a:pt x="12" y="2476"/>
                </a:moveTo>
                <a:lnTo>
                  <a:pt x="12" y="2488"/>
                </a:lnTo>
                <a:lnTo>
                  <a:pt x="0" y="2488"/>
                </a:lnTo>
                <a:lnTo>
                  <a:pt x="0" y="2476"/>
                </a:lnTo>
                <a:lnTo>
                  <a:pt x="12" y="2476"/>
                </a:lnTo>
                <a:close/>
                <a:moveTo>
                  <a:pt x="12" y="2500"/>
                </a:moveTo>
                <a:lnTo>
                  <a:pt x="12" y="2513"/>
                </a:lnTo>
                <a:lnTo>
                  <a:pt x="0" y="2513"/>
                </a:lnTo>
                <a:lnTo>
                  <a:pt x="0" y="2500"/>
                </a:lnTo>
                <a:lnTo>
                  <a:pt x="12" y="2500"/>
                </a:lnTo>
                <a:close/>
                <a:moveTo>
                  <a:pt x="12" y="2524"/>
                </a:moveTo>
                <a:lnTo>
                  <a:pt x="12" y="2536"/>
                </a:lnTo>
                <a:lnTo>
                  <a:pt x="0" y="2536"/>
                </a:lnTo>
                <a:lnTo>
                  <a:pt x="0" y="2524"/>
                </a:lnTo>
                <a:lnTo>
                  <a:pt x="12" y="2524"/>
                </a:lnTo>
                <a:close/>
                <a:moveTo>
                  <a:pt x="12" y="2549"/>
                </a:moveTo>
                <a:lnTo>
                  <a:pt x="12" y="2560"/>
                </a:lnTo>
                <a:lnTo>
                  <a:pt x="0" y="2560"/>
                </a:lnTo>
                <a:lnTo>
                  <a:pt x="0" y="2549"/>
                </a:lnTo>
                <a:lnTo>
                  <a:pt x="12" y="2549"/>
                </a:lnTo>
                <a:close/>
              </a:path>
            </a:pathLst>
          </a:custGeom>
          <a:solidFill>
            <a:srgbClr val="000000"/>
          </a:solidFill>
          <a:ln w="0" cap="flat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95" name="Freeform 92">
            <a:extLst>
              <a:ext uri="{FF2B5EF4-FFF2-40B4-BE49-F238E27FC236}">
                <a16:creationId xmlns:a16="http://schemas.microsoft.com/office/drawing/2014/main" id="{9D981E4F-D52B-40F0-926B-92FF56590F1B}"/>
              </a:ext>
            </a:extLst>
          </p:cNvPr>
          <p:cNvSpPr>
            <a:spLocks noEditPoints="1"/>
          </p:cNvSpPr>
          <p:nvPr/>
        </p:nvSpPr>
        <p:spPr bwMode="auto">
          <a:xfrm>
            <a:off x="4179888" y="2344738"/>
            <a:ext cx="18000" cy="4032000"/>
          </a:xfrm>
          <a:custGeom>
            <a:avLst/>
            <a:gdLst>
              <a:gd name="T0" fmla="*/ 0 w 12"/>
              <a:gd name="T1" fmla="*/ 24 h 2560"/>
              <a:gd name="T2" fmla="*/ 0 w 12"/>
              <a:gd name="T3" fmla="*/ 84 h 2560"/>
              <a:gd name="T4" fmla="*/ 12 w 12"/>
              <a:gd name="T5" fmla="*/ 132 h 2560"/>
              <a:gd name="T6" fmla="*/ 12 w 12"/>
              <a:gd name="T7" fmla="*/ 168 h 2560"/>
              <a:gd name="T8" fmla="*/ 12 w 12"/>
              <a:gd name="T9" fmla="*/ 192 h 2560"/>
              <a:gd name="T10" fmla="*/ 0 w 12"/>
              <a:gd name="T11" fmla="*/ 240 h 2560"/>
              <a:gd name="T12" fmla="*/ 0 w 12"/>
              <a:gd name="T13" fmla="*/ 300 h 2560"/>
              <a:gd name="T14" fmla="*/ 12 w 12"/>
              <a:gd name="T15" fmla="*/ 348 h 2560"/>
              <a:gd name="T16" fmla="*/ 12 w 12"/>
              <a:gd name="T17" fmla="*/ 385 h 2560"/>
              <a:gd name="T18" fmla="*/ 12 w 12"/>
              <a:gd name="T19" fmla="*/ 409 h 2560"/>
              <a:gd name="T20" fmla="*/ 0 w 12"/>
              <a:gd name="T21" fmla="*/ 457 h 2560"/>
              <a:gd name="T22" fmla="*/ 0 w 12"/>
              <a:gd name="T23" fmla="*/ 517 h 2560"/>
              <a:gd name="T24" fmla="*/ 12 w 12"/>
              <a:gd name="T25" fmla="*/ 565 h 2560"/>
              <a:gd name="T26" fmla="*/ 12 w 12"/>
              <a:gd name="T27" fmla="*/ 601 h 2560"/>
              <a:gd name="T28" fmla="*/ 12 w 12"/>
              <a:gd name="T29" fmla="*/ 625 h 2560"/>
              <a:gd name="T30" fmla="*/ 0 w 12"/>
              <a:gd name="T31" fmla="*/ 673 h 2560"/>
              <a:gd name="T32" fmla="*/ 0 w 12"/>
              <a:gd name="T33" fmla="*/ 733 h 2560"/>
              <a:gd name="T34" fmla="*/ 12 w 12"/>
              <a:gd name="T35" fmla="*/ 781 h 2560"/>
              <a:gd name="T36" fmla="*/ 12 w 12"/>
              <a:gd name="T37" fmla="*/ 817 h 2560"/>
              <a:gd name="T38" fmla="*/ 12 w 12"/>
              <a:gd name="T39" fmla="*/ 841 h 2560"/>
              <a:gd name="T40" fmla="*/ 0 w 12"/>
              <a:gd name="T41" fmla="*/ 889 h 2560"/>
              <a:gd name="T42" fmla="*/ 0 w 12"/>
              <a:gd name="T43" fmla="*/ 950 h 2560"/>
              <a:gd name="T44" fmla="*/ 12 w 12"/>
              <a:gd name="T45" fmla="*/ 998 h 2560"/>
              <a:gd name="T46" fmla="*/ 12 w 12"/>
              <a:gd name="T47" fmla="*/ 1034 h 2560"/>
              <a:gd name="T48" fmla="*/ 12 w 12"/>
              <a:gd name="T49" fmla="*/ 1058 h 2560"/>
              <a:gd name="T50" fmla="*/ 0 w 12"/>
              <a:gd name="T51" fmla="*/ 1106 h 2560"/>
              <a:gd name="T52" fmla="*/ 0 w 12"/>
              <a:gd name="T53" fmla="*/ 1166 h 2560"/>
              <a:gd name="T54" fmla="*/ 12 w 12"/>
              <a:gd name="T55" fmla="*/ 1214 h 2560"/>
              <a:gd name="T56" fmla="*/ 12 w 12"/>
              <a:gd name="T57" fmla="*/ 1250 h 2560"/>
              <a:gd name="T58" fmla="*/ 12 w 12"/>
              <a:gd name="T59" fmla="*/ 1274 h 2560"/>
              <a:gd name="T60" fmla="*/ 0 w 12"/>
              <a:gd name="T61" fmla="*/ 1322 h 2560"/>
              <a:gd name="T62" fmla="*/ 0 w 12"/>
              <a:gd name="T63" fmla="*/ 1382 h 2560"/>
              <a:gd name="T64" fmla="*/ 12 w 12"/>
              <a:gd name="T65" fmla="*/ 1431 h 2560"/>
              <a:gd name="T66" fmla="*/ 12 w 12"/>
              <a:gd name="T67" fmla="*/ 1467 h 2560"/>
              <a:gd name="T68" fmla="*/ 12 w 12"/>
              <a:gd name="T69" fmla="*/ 1491 h 2560"/>
              <a:gd name="T70" fmla="*/ 0 w 12"/>
              <a:gd name="T71" fmla="*/ 1539 h 2560"/>
              <a:gd name="T72" fmla="*/ 0 w 12"/>
              <a:gd name="T73" fmla="*/ 1599 h 2560"/>
              <a:gd name="T74" fmla="*/ 12 w 12"/>
              <a:gd name="T75" fmla="*/ 1647 h 2560"/>
              <a:gd name="T76" fmla="*/ 12 w 12"/>
              <a:gd name="T77" fmla="*/ 1683 h 2560"/>
              <a:gd name="T78" fmla="*/ 12 w 12"/>
              <a:gd name="T79" fmla="*/ 1707 h 2560"/>
              <a:gd name="T80" fmla="*/ 0 w 12"/>
              <a:gd name="T81" fmla="*/ 1755 h 2560"/>
              <a:gd name="T82" fmla="*/ 0 w 12"/>
              <a:gd name="T83" fmla="*/ 1815 h 2560"/>
              <a:gd name="T84" fmla="*/ 12 w 12"/>
              <a:gd name="T85" fmla="*/ 1863 h 2560"/>
              <a:gd name="T86" fmla="*/ 12 w 12"/>
              <a:gd name="T87" fmla="*/ 1899 h 2560"/>
              <a:gd name="T88" fmla="*/ 12 w 12"/>
              <a:gd name="T89" fmla="*/ 1923 h 2560"/>
              <a:gd name="T90" fmla="*/ 0 w 12"/>
              <a:gd name="T91" fmla="*/ 1972 h 2560"/>
              <a:gd name="T92" fmla="*/ 0 w 12"/>
              <a:gd name="T93" fmla="*/ 2032 h 2560"/>
              <a:gd name="T94" fmla="*/ 12 w 12"/>
              <a:gd name="T95" fmla="*/ 2080 h 2560"/>
              <a:gd name="T96" fmla="*/ 12 w 12"/>
              <a:gd name="T97" fmla="*/ 2116 h 2560"/>
              <a:gd name="T98" fmla="*/ 12 w 12"/>
              <a:gd name="T99" fmla="*/ 2140 h 2560"/>
              <a:gd name="T100" fmla="*/ 0 w 12"/>
              <a:gd name="T101" fmla="*/ 2188 h 2560"/>
              <a:gd name="T102" fmla="*/ 0 w 12"/>
              <a:gd name="T103" fmla="*/ 2248 h 2560"/>
              <a:gd name="T104" fmla="*/ 12 w 12"/>
              <a:gd name="T105" fmla="*/ 2296 h 2560"/>
              <a:gd name="T106" fmla="*/ 12 w 12"/>
              <a:gd name="T107" fmla="*/ 2332 h 2560"/>
              <a:gd name="T108" fmla="*/ 12 w 12"/>
              <a:gd name="T109" fmla="*/ 2356 h 2560"/>
              <a:gd name="T110" fmla="*/ 0 w 12"/>
              <a:gd name="T111" fmla="*/ 2404 h 2560"/>
              <a:gd name="T112" fmla="*/ 0 w 12"/>
              <a:gd name="T113" fmla="*/ 2464 h 2560"/>
              <a:gd name="T114" fmla="*/ 12 w 12"/>
              <a:gd name="T115" fmla="*/ 2513 h 2560"/>
              <a:gd name="T116" fmla="*/ 12 w 12"/>
              <a:gd name="T117" fmla="*/ 2549 h 25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12" h="2560">
                <a:moveTo>
                  <a:pt x="12" y="0"/>
                </a:moveTo>
                <a:lnTo>
                  <a:pt x="12" y="12"/>
                </a:lnTo>
                <a:lnTo>
                  <a:pt x="0" y="12"/>
                </a:lnTo>
                <a:lnTo>
                  <a:pt x="0" y="0"/>
                </a:lnTo>
                <a:lnTo>
                  <a:pt x="12" y="0"/>
                </a:lnTo>
                <a:close/>
                <a:moveTo>
                  <a:pt x="12" y="24"/>
                </a:moveTo>
                <a:lnTo>
                  <a:pt x="12" y="36"/>
                </a:lnTo>
                <a:lnTo>
                  <a:pt x="0" y="36"/>
                </a:lnTo>
                <a:lnTo>
                  <a:pt x="0" y="24"/>
                </a:lnTo>
                <a:lnTo>
                  <a:pt x="12" y="24"/>
                </a:lnTo>
                <a:close/>
                <a:moveTo>
                  <a:pt x="12" y="48"/>
                </a:moveTo>
                <a:lnTo>
                  <a:pt x="12" y="60"/>
                </a:lnTo>
                <a:lnTo>
                  <a:pt x="0" y="60"/>
                </a:lnTo>
                <a:lnTo>
                  <a:pt x="0" y="48"/>
                </a:lnTo>
                <a:lnTo>
                  <a:pt x="12" y="48"/>
                </a:lnTo>
                <a:close/>
                <a:moveTo>
                  <a:pt x="12" y="72"/>
                </a:moveTo>
                <a:lnTo>
                  <a:pt x="12" y="84"/>
                </a:lnTo>
                <a:lnTo>
                  <a:pt x="0" y="84"/>
                </a:lnTo>
                <a:lnTo>
                  <a:pt x="0" y="72"/>
                </a:lnTo>
                <a:lnTo>
                  <a:pt x="12" y="72"/>
                </a:lnTo>
                <a:close/>
                <a:moveTo>
                  <a:pt x="12" y="96"/>
                </a:moveTo>
                <a:lnTo>
                  <a:pt x="12" y="108"/>
                </a:lnTo>
                <a:lnTo>
                  <a:pt x="0" y="108"/>
                </a:lnTo>
                <a:lnTo>
                  <a:pt x="0" y="96"/>
                </a:lnTo>
                <a:lnTo>
                  <a:pt x="12" y="96"/>
                </a:lnTo>
                <a:close/>
                <a:moveTo>
                  <a:pt x="12" y="120"/>
                </a:moveTo>
                <a:lnTo>
                  <a:pt x="12" y="132"/>
                </a:lnTo>
                <a:lnTo>
                  <a:pt x="0" y="132"/>
                </a:lnTo>
                <a:lnTo>
                  <a:pt x="0" y="120"/>
                </a:lnTo>
                <a:lnTo>
                  <a:pt x="12" y="120"/>
                </a:lnTo>
                <a:close/>
                <a:moveTo>
                  <a:pt x="12" y="144"/>
                </a:moveTo>
                <a:lnTo>
                  <a:pt x="12" y="156"/>
                </a:lnTo>
                <a:lnTo>
                  <a:pt x="0" y="156"/>
                </a:lnTo>
                <a:lnTo>
                  <a:pt x="0" y="144"/>
                </a:lnTo>
                <a:lnTo>
                  <a:pt x="12" y="144"/>
                </a:lnTo>
                <a:close/>
                <a:moveTo>
                  <a:pt x="12" y="168"/>
                </a:moveTo>
                <a:lnTo>
                  <a:pt x="12" y="180"/>
                </a:lnTo>
                <a:lnTo>
                  <a:pt x="0" y="180"/>
                </a:lnTo>
                <a:lnTo>
                  <a:pt x="0" y="168"/>
                </a:lnTo>
                <a:lnTo>
                  <a:pt x="12" y="168"/>
                </a:lnTo>
                <a:close/>
                <a:moveTo>
                  <a:pt x="12" y="192"/>
                </a:moveTo>
                <a:lnTo>
                  <a:pt x="12" y="204"/>
                </a:lnTo>
                <a:lnTo>
                  <a:pt x="0" y="204"/>
                </a:lnTo>
                <a:lnTo>
                  <a:pt x="0" y="192"/>
                </a:lnTo>
                <a:lnTo>
                  <a:pt x="12" y="192"/>
                </a:lnTo>
                <a:close/>
                <a:moveTo>
                  <a:pt x="12" y="216"/>
                </a:moveTo>
                <a:lnTo>
                  <a:pt x="12" y="228"/>
                </a:lnTo>
                <a:lnTo>
                  <a:pt x="0" y="228"/>
                </a:lnTo>
                <a:lnTo>
                  <a:pt x="0" y="216"/>
                </a:lnTo>
                <a:lnTo>
                  <a:pt x="12" y="216"/>
                </a:lnTo>
                <a:close/>
                <a:moveTo>
                  <a:pt x="12" y="240"/>
                </a:moveTo>
                <a:lnTo>
                  <a:pt x="12" y="252"/>
                </a:lnTo>
                <a:lnTo>
                  <a:pt x="0" y="252"/>
                </a:lnTo>
                <a:lnTo>
                  <a:pt x="0" y="240"/>
                </a:lnTo>
                <a:lnTo>
                  <a:pt x="12" y="240"/>
                </a:lnTo>
                <a:close/>
                <a:moveTo>
                  <a:pt x="12" y="264"/>
                </a:moveTo>
                <a:lnTo>
                  <a:pt x="12" y="276"/>
                </a:lnTo>
                <a:lnTo>
                  <a:pt x="0" y="276"/>
                </a:lnTo>
                <a:lnTo>
                  <a:pt x="0" y="264"/>
                </a:lnTo>
                <a:lnTo>
                  <a:pt x="12" y="264"/>
                </a:lnTo>
                <a:close/>
                <a:moveTo>
                  <a:pt x="12" y="288"/>
                </a:moveTo>
                <a:lnTo>
                  <a:pt x="12" y="300"/>
                </a:lnTo>
                <a:lnTo>
                  <a:pt x="0" y="300"/>
                </a:lnTo>
                <a:lnTo>
                  <a:pt x="0" y="288"/>
                </a:lnTo>
                <a:lnTo>
                  <a:pt x="12" y="288"/>
                </a:lnTo>
                <a:close/>
                <a:moveTo>
                  <a:pt x="12" y="312"/>
                </a:moveTo>
                <a:lnTo>
                  <a:pt x="12" y="324"/>
                </a:lnTo>
                <a:lnTo>
                  <a:pt x="0" y="324"/>
                </a:lnTo>
                <a:lnTo>
                  <a:pt x="0" y="312"/>
                </a:lnTo>
                <a:lnTo>
                  <a:pt x="12" y="312"/>
                </a:lnTo>
                <a:close/>
                <a:moveTo>
                  <a:pt x="12" y="336"/>
                </a:moveTo>
                <a:lnTo>
                  <a:pt x="12" y="348"/>
                </a:lnTo>
                <a:lnTo>
                  <a:pt x="0" y="348"/>
                </a:lnTo>
                <a:lnTo>
                  <a:pt x="0" y="336"/>
                </a:lnTo>
                <a:lnTo>
                  <a:pt x="12" y="336"/>
                </a:lnTo>
                <a:close/>
                <a:moveTo>
                  <a:pt x="12" y="360"/>
                </a:moveTo>
                <a:lnTo>
                  <a:pt x="12" y="372"/>
                </a:lnTo>
                <a:lnTo>
                  <a:pt x="0" y="372"/>
                </a:lnTo>
                <a:lnTo>
                  <a:pt x="0" y="360"/>
                </a:lnTo>
                <a:lnTo>
                  <a:pt x="12" y="360"/>
                </a:lnTo>
                <a:close/>
                <a:moveTo>
                  <a:pt x="12" y="385"/>
                </a:moveTo>
                <a:lnTo>
                  <a:pt x="12" y="396"/>
                </a:lnTo>
                <a:lnTo>
                  <a:pt x="0" y="396"/>
                </a:lnTo>
                <a:lnTo>
                  <a:pt x="0" y="385"/>
                </a:lnTo>
                <a:lnTo>
                  <a:pt x="12" y="385"/>
                </a:lnTo>
                <a:close/>
                <a:moveTo>
                  <a:pt x="12" y="409"/>
                </a:moveTo>
                <a:lnTo>
                  <a:pt x="12" y="421"/>
                </a:lnTo>
                <a:lnTo>
                  <a:pt x="0" y="421"/>
                </a:lnTo>
                <a:lnTo>
                  <a:pt x="0" y="409"/>
                </a:lnTo>
                <a:lnTo>
                  <a:pt x="12" y="409"/>
                </a:lnTo>
                <a:close/>
                <a:moveTo>
                  <a:pt x="12" y="432"/>
                </a:moveTo>
                <a:lnTo>
                  <a:pt x="12" y="445"/>
                </a:lnTo>
                <a:lnTo>
                  <a:pt x="0" y="445"/>
                </a:lnTo>
                <a:lnTo>
                  <a:pt x="0" y="432"/>
                </a:lnTo>
                <a:lnTo>
                  <a:pt x="12" y="432"/>
                </a:lnTo>
                <a:close/>
                <a:moveTo>
                  <a:pt x="12" y="457"/>
                </a:moveTo>
                <a:lnTo>
                  <a:pt x="12" y="469"/>
                </a:lnTo>
                <a:lnTo>
                  <a:pt x="0" y="469"/>
                </a:lnTo>
                <a:lnTo>
                  <a:pt x="0" y="457"/>
                </a:lnTo>
                <a:lnTo>
                  <a:pt x="12" y="457"/>
                </a:lnTo>
                <a:close/>
                <a:moveTo>
                  <a:pt x="12" y="481"/>
                </a:moveTo>
                <a:lnTo>
                  <a:pt x="12" y="493"/>
                </a:lnTo>
                <a:lnTo>
                  <a:pt x="0" y="493"/>
                </a:lnTo>
                <a:lnTo>
                  <a:pt x="0" y="481"/>
                </a:lnTo>
                <a:lnTo>
                  <a:pt x="12" y="481"/>
                </a:lnTo>
                <a:close/>
                <a:moveTo>
                  <a:pt x="12" y="505"/>
                </a:moveTo>
                <a:lnTo>
                  <a:pt x="12" y="517"/>
                </a:lnTo>
                <a:lnTo>
                  <a:pt x="0" y="517"/>
                </a:lnTo>
                <a:lnTo>
                  <a:pt x="0" y="505"/>
                </a:lnTo>
                <a:lnTo>
                  <a:pt x="12" y="505"/>
                </a:lnTo>
                <a:close/>
                <a:moveTo>
                  <a:pt x="12" y="529"/>
                </a:moveTo>
                <a:lnTo>
                  <a:pt x="12" y="541"/>
                </a:lnTo>
                <a:lnTo>
                  <a:pt x="0" y="541"/>
                </a:lnTo>
                <a:lnTo>
                  <a:pt x="0" y="529"/>
                </a:lnTo>
                <a:lnTo>
                  <a:pt x="12" y="529"/>
                </a:lnTo>
                <a:close/>
                <a:moveTo>
                  <a:pt x="12" y="553"/>
                </a:moveTo>
                <a:lnTo>
                  <a:pt x="12" y="565"/>
                </a:lnTo>
                <a:lnTo>
                  <a:pt x="0" y="565"/>
                </a:lnTo>
                <a:lnTo>
                  <a:pt x="0" y="553"/>
                </a:lnTo>
                <a:lnTo>
                  <a:pt x="12" y="553"/>
                </a:lnTo>
                <a:close/>
                <a:moveTo>
                  <a:pt x="12" y="577"/>
                </a:moveTo>
                <a:lnTo>
                  <a:pt x="12" y="589"/>
                </a:lnTo>
                <a:lnTo>
                  <a:pt x="0" y="589"/>
                </a:lnTo>
                <a:lnTo>
                  <a:pt x="0" y="577"/>
                </a:lnTo>
                <a:lnTo>
                  <a:pt x="12" y="577"/>
                </a:lnTo>
                <a:close/>
                <a:moveTo>
                  <a:pt x="12" y="601"/>
                </a:moveTo>
                <a:lnTo>
                  <a:pt x="12" y="613"/>
                </a:lnTo>
                <a:lnTo>
                  <a:pt x="0" y="613"/>
                </a:lnTo>
                <a:lnTo>
                  <a:pt x="0" y="601"/>
                </a:lnTo>
                <a:lnTo>
                  <a:pt x="12" y="601"/>
                </a:lnTo>
                <a:close/>
                <a:moveTo>
                  <a:pt x="12" y="625"/>
                </a:moveTo>
                <a:lnTo>
                  <a:pt x="12" y="637"/>
                </a:lnTo>
                <a:lnTo>
                  <a:pt x="0" y="637"/>
                </a:lnTo>
                <a:lnTo>
                  <a:pt x="0" y="625"/>
                </a:lnTo>
                <a:lnTo>
                  <a:pt x="12" y="625"/>
                </a:lnTo>
                <a:close/>
                <a:moveTo>
                  <a:pt x="12" y="649"/>
                </a:moveTo>
                <a:lnTo>
                  <a:pt x="12" y="661"/>
                </a:lnTo>
                <a:lnTo>
                  <a:pt x="0" y="661"/>
                </a:lnTo>
                <a:lnTo>
                  <a:pt x="0" y="649"/>
                </a:lnTo>
                <a:lnTo>
                  <a:pt x="12" y="649"/>
                </a:lnTo>
                <a:close/>
                <a:moveTo>
                  <a:pt x="12" y="673"/>
                </a:moveTo>
                <a:lnTo>
                  <a:pt x="12" y="685"/>
                </a:lnTo>
                <a:lnTo>
                  <a:pt x="0" y="685"/>
                </a:lnTo>
                <a:lnTo>
                  <a:pt x="0" y="673"/>
                </a:lnTo>
                <a:lnTo>
                  <a:pt x="12" y="673"/>
                </a:lnTo>
                <a:close/>
                <a:moveTo>
                  <a:pt x="12" y="697"/>
                </a:moveTo>
                <a:lnTo>
                  <a:pt x="12" y="709"/>
                </a:lnTo>
                <a:lnTo>
                  <a:pt x="0" y="709"/>
                </a:lnTo>
                <a:lnTo>
                  <a:pt x="0" y="697"/>
                </a:lnTo>
                <a:lnTo>
                  <a:pt x="12" y="697"/>
                </a:lnTo>
                <a:close/>
                <a:moveTo>
                  <a:pt x="12" y="721"/>
                </a:moveTo>
                <a:lnTo>
                  <a:pt x="12" y="733"/>
                </a:lnTo>
                <a:lnTo>
                  <a:pt x="0" y="733"/>
                </a:lnTo>
                <a:lnTo>
                  <a:pt x="0" y="721"/>
                </a:lnTo>
                <a:lnTo>
                  <a:pt x="12" y="721"/>
                </a:lnTo>
                <a:close/>
                <a:moveTo>
                  <a:pt x="12" y="745"/>
                </a:moveTo>
                <a:lnTo>
                  <a:pt x="12" y="757"/>
                </a:lnTo>
                <a:lnTo>
                  <a:pt x="0" y="757"/>
                </a:lnTo>
                <a:lnTo>
                  <a:pt x="0" y="745"/>
                </a:lnTo>
                <a:lnTo>
                  <a:pt x="12" y="745"/>
                </a:lnTo>
                <a:close/>
                <a:moveTo>
                  <a:pt x="12" y="769"/>
                </a:moveTo>
                <a:lnTo>
                  <a:pt x="12" y="781"/>
                </a:lnTo>
                <a:lnTo>
                  <a:pt x="0" y="781"/>
                </a:lnTo>
                <a:lnTo>
                  <a:pt x="0" y="769"/>
                </a:lnTo>
                <a:lnTo>
                  <a:pt x="12" y="769"/>
                </a:lnTo>
                <a:close/>
                <a:moveTo>
                  <a:pt x="12" y="793"/>
                </a:moveTo>
                <a:lnTo>
                  <a:pt x="12" y="805"/>
                </a:lnTo>
                <a:lnTo>
                  <a:pt x="0" y="805"/>
                </a:lnTo>
                <a:lnTo>
                  <a:pt x="0" y="793"/>
                </a:lnTo>
                <a:lnTo>
                  <a:pt x="12" y="793"/>
                </a:lnTo>
                <a:close/>
                <a:moveTo>
                  <a:pt x="12" y="817"/>
                </a:moveTo>
                <a:lnTo>
                  <a:pt x="12" y="829"/>
                </a:lnTo>
                <a:lnTo>
                  <a:pt x="0" y="829"/>
                </a:lnTo>
                <a:lnTo>
                  <a:pt x="0" y="817"/>
                </a:lnTo>
                <a:lnTo>
                  <a:pt x="12" y="817"/>
                </a:lnTo>
                <a:close/>
                <a:moveTo>
                  <a:pt x="12" y="841"/>
                </a:moveTo>
                <a:lnTo>
                  <a:pt x="12" y="853"/>
                </a:lnTo>
                <a:lnTo>
                  <a:pt x="0" y="853"/>
                </a:lnTo>
                <a:lnTo>
                  <a:pt x="0" y="841"/>
                </a:lnTo>
                <a:lnTo>
                  <a:pt x="12" y="841"/>
                </a:lnTo>
                <a:close/>
                <a:moveTo>
                  <a:pt x="12" y="865"/>
                </a:moveTo>
                <a:lnTo>
                  <a:pt x="12" y="877"/>
                </a:lnTo>
                <a:lnTo>
                  <a:pt x="0" y="877"/>
                </a:lnTo>
                <a:lnTo>
                  <a:pt x="0" y="865"/>
                </a:lnTo>
                <a:lnTo>
                  <a:pt x="12" y="865"/>
                </a:lnTo>
                <a:close/>
                <a:moveTo>
                  <a:pt x="12" y="889"/>
                </a:moveTo>
                <a:lnTo>
                  <a:pt x="12" y="901"/>
                </a:lnTo>
                <a:lnTo>
                  <a:pt x="0" y="901"/>
                </a:lnTo>
                <a:lnTo>
                  <a:pt x="0" y="889"/>
                </a:lnTo>
                <a:lnTo>
                  <a:pt x="12" y="889"/>
                </a:lnTo>
                <a:close/>
                <a:moveTo>
                  <a:pt x="12" y="913"/>
                </a:moveTo>
                <a:lnTo>
                  <a:pt x="12" y="926"/>
                </a:lnTo>
                <a:lnTo>
                  <a:pt x="0" y="926"/>
                </a:lnTo>
                <a:lnTo>
                  <a:pt x="0" y="913"/>
                </a:lnTo>
                <a:lnTo>
                  <a:pt x="12" y="913"/>
                </a:lnTo>
                <a:close/>
                <a:moveTo>
                  <a:pt x="12" y="937"/>
                </a:moveTo>
                <a:lnTo>
                  <a:pt x="12" y="950"/>
                </a:lnTo>
                <a:lnTo>
                  <a:pt x="0" y="950"/>
                </a:lnTo>
                <a:lnTo>
                  <a:pt x="0" y="937"/>
                </a:lnTo>
                <a:lnTo>
                  <a:pt x="12" y="937"/>
                </a:lnTo>
                <a:close/>
                <a:moveTo>
                  <a:pt x="12" y="962"/>
                </a:moveTo>
                <a:lnTo>
                  <a:pt x="12" y="973"/>
                </a:lnTo>
                <a:lnTo>
                  <a:pt x="0" y="973"/>
                </a:lnTo>
                <a:lnTo>
                  <a:pt x="0" y="962"/>
                </a:lnTo>
                <a:lnTo>
                  <a:pt x="12" y="962"/>
                </a:lnTo>
                <a:close/>
                <a:moveTo>
                  <a:pt x="12" y="986"/>
                </a:moveTo>
                <a:lnTo>
                  <a:pt x="12" y="998"/>
                </a:lnTo>
                <a:lnTo>
                  <a:pt x="0" y="998"/>
                </a:lnTo>
                <a:lnTo>
                  <a:pt x="0" y="986"/>
                </a:lnTo>
                <a:lnTo>
                  <a:pt x="12" y="986"/>
                </a:lnTo>
                <a:close/>
                <a:moveTo>
                  <a:pt x="12" y="1010"/>
                </a:moveTo>
                <a:lnTo>
                  <a:pt x="12" y="1022"/>
                </a:lnTo>
                <a:lnTo>
                  <a:pt x="0" y="1022"/>
                </a:lnTo>
                <a:lnTo>
                  <a:pt x="0" y="1010"/>
                </a:lnTo>
                <a:lnTo>
                  <a:pt x="12" y="1010"/>
                </a:lnTo>
                <a:close/>
                <a:moveTo>
                  <a:pt x="12" y="1034"/>
                </a:moveTo>
                <a:lnTo>
                  <a:pt x="12" y="1046"/>
                </a:lnTo>
                <a:lnTo>
                  <a:pt x="0" y="1046"/>
                </a:lnTo>
                <a:lnTo>
                  <a:pt x="0" y="1034"/>
                </a:lnTo>
                <a:lnTo>
                  <a:pt x="12" y="1034"/>
                </a:lnTo>
                <a:close/>
                <a:moveTo>
                  <a:pt x="12" y="1058"/>
                </a:moveTo>
                <a:lnTo>
                  <a:pt x="12" y="1070"/>
                </a:lnTo>
                <a:lnTo>
                  <a:pt x="0" y="1070"/>
                </a:lnTo>
                <a:lnTo>
                  <a:pt x="0" y="1058"/>
                </a:lnTo>
                <a:lnTo>
                  <a:pt x="12" y="1058"/>
                </a:lnTo>
                <a:close/>
                <a:moveTo>
                  <a:pt x="12" y="1082"/>
                </a:moveTo>
                <a:lnTo>
                  <a:pt x="12" y="1094"/>
                </a:lnTo>
                <a:lnTo>
                  <a:pt x="0" y="1094"/>
                </a:lnTo>
                <a:lnTo>
                  <a:pt x="0" y="1082"/>
                </a:lnTo>
                <a:lnTo>
                  <a:pt x="12" y="1082"/>
                </a:lnTo>
                <a:close/>
                <a:moveTo>
                  <a:pt x="12" y="1106"/>
                </a:moveTo>
                <a:lnTo>
                  <a:pt x="12" y="1118"/>
                </a:lnTo>
                <a:lnTo>
                  <a:pt x="0" y="1118"/>
                </a:lnTo>
                <a:lnTo>
                  <a:pt x="0" y="1106"/>
                </a:lnTo>
                <a:lnTo>
                  <a:pt x="12" y="1106"/>
                </a:lnTo>
                <a:close/>
                <a:moveTo>
                  <a:pt x="12" y="1130"/>
                </a:moveTo>
                <a:lnTo>
                  <a:pt x="12" y="1142"/>
                </a:lnTo>
                <a:lnTo>
                  <a:pt x="0" y="1142"/>
                </a:lnTo>
                <a:lnTo>
                  <a:pt x="0" y="1130"/>
                </a:lnTo>
                <a:lnTo>
                  <a:pt x="12" y="1130"/>
                </a:lnTo>
                <a:close/>
                <a:moveTo>
                  <a:pt x="12" y="1154"/>
                </a:moveTo>
                <a:lnTo>
                  <a:pt x="12" y="1166"/>
                </a:lnTo>
                <a:lnTo>
                  <a:pt x="0" y="1166"/>
                </a:lnTo>
                <a:lnTo>
                  <a:pt x="0" y="1154"/>
                </a:lnTo>
                <a:lnTo>
                  <a:pt x="12" y="1154"/>
                </a:lnTo>
                <a:close/>
                <a:moveTo>
                  <a:pt x="12" y="1178"/>
                </a:moveTo>
                <a:lnTo>
                  <a:pt x="12" y="1190"/>
                </a:lnTo>
                <a:lnTo>
                  <a:pt x="0" y="1190"/>
                </a:lnTo>
                <a:lnTo>
                  <a:pt x="0" y="1178"/>
                </a:lnTo>
                <a:lnTo>
                  <a:pt x="12" y="1178"/>
                </a:lnTo>
                <a:close/>
                <a:moveTo>
                  <a:pt x="12" y="1202"/>
                </a:moveTo>
                <a:lnTo>
                  <a:pt x="12" y="1214"/>
                </a:lnTo>
                <a:lnTo>
                  <a:pt x="0" y="1214"/>
                </a:lnTo>
                <a:lnTo>
                  <a:pt x="0" y="1202"/>
                </a:lnTo>
                <a:lnTo>
                  <a:pt x="12" y="1202"/>
                </a:lnTo>
                <a:close/>
                <a:moveTo>
                  <a:pt x="12" y="1226"/>
                </a:moveTo>
                <a:lnTo>
                  <a:pt x="12" y="1238"/>
                </a:lnTo>
                <a:lnTo>
                  <a:pt x="0" y="1238"/>
                </a:lnTo>
                <a:lnTo>
                  <a:pt x="0" y="1226"/>
                </a:lnTo>
                <a:lnTo>
                  <a:pt x="12" y="1226"/>
                </a:lnTo>
                <a:close/>
                <a:moveTo>
                  <a:pt x="12" y="1250"/>
                </a:moveTo>
                <a:lnTo>
                  <a:pt x="12" y="1262"/>
                </a:lnTo>
                <a:lnTo>
                  <a:pt x="0" y="1262"/>
                </a:lnTo>
                <a:lnTo>
                  <a:pt x="0" y="1250"/>
                </a:lnTo>
                <a:lnTo>
                  <a:pt x="12" y="1250"/>
                </a:lnTo>
                <a:close/>
                <a:moveTo>
                  <a:pt x="12" y="1274"/>
                </a:moveTo>
                <a:lnTo>
                  <a:pt x="12" y="1286"/>
                </a:lnTo>
                <a:lnTo>
                  <a:pt x="0" y="1286"/>
                </a:lnTo>
                <a:lnTo>
                  <a:pt x="0" y="1274"/>
                </a:lnTo>
                <a:lnTo>
                  <a:pt x="12" y="1274"/>
                </a:lnTo>
                <a:close/>
                <a:moveTo>
                  <a:pt x="12" y="1298"/>
                </a:moveTo>
                <a:lnTo>
                  <a:pt x="12" y="1310"/>
                </a:lnTo>
                <a:lnTo>
                  <a:pt x="0" y="1310"/>
                </a:lnTo>
                <a:lnTo>
                  <a:pt x="0" y="1298"/>
                </a:lnTo>
                <a:lnTo>
                  <a:pt x="12" y="1298"/>
                </a:lnTo>
                <a:close/>
                <a:moveTo>
                  <a:pt x="12" y="1322"/>
                </a:moveTo>
                <a:lnTo>
                  <a:pt x="12" y="1334"/>
                </a:lnTo>
                <a:lnTo>
                  <a:pt x="0" y="1334"/>
                </a:lnTo>
                <a:lnTo>
                  <a:pt x="0" y="1322"/>
                </a:lnTo>
                <a:lnTo>
                  <a:pt x="12" y="1322"/>
                </a:lnTo>
                <a:close/>
                <a:moveTo>
                  <a:pt x="12" y="1346"/>
                </a:moveTo>
                <a:lnTo>
                  <a:pt x="12" y="1358"/>
                </a:lnTo>
                <a:lnTo>
                  <a:pt x="0" y="1358"/>
                </a:lnTo>
                <a:lnTo>
                  <a:pt x="0" y="1346"/>
                </a:lnTo>
                <a:lnTo>
                  <a:pt x="12" y="1346"/>
                </a:lnTo>
                <a:close/>
                <a:moveTo>
                  <a:pt x="12" y="1370"/>
                </a:moveTo>
                <a:lnTo>
                  <a:pt x="12" y="1382"/>
                </a:lnTo>
                <a:lnTo>
                  <a:pt x="0" y="1382"/>
                </a:lnTo>
                <a:lnTo>
                  <a:pt x="0" y="1370"/>
                </a:lnTo>
                <a:lnTo>
                  <a:pt x="12" y="1370"/>
                </a:lnTo>
                <a:close/>
                <a:moveTo>
                  <a:pt x="12" y="1394"/>
                </a:moveTo>
                <a:lnTo>
                  <a:pt x="12" y="1406"/>
                </a:lnTo>
                <a:lnTo>
                  <a:pt x="0" y="1406"/>
                </a:lnTo>
                <a:lnTo>
                  <a:pt x="0" y="1394"/>
                </a:lnTo>
                <a:lnTo>
                  <a:pt x="12" y="1394"/>
                </a:lnTo>
                <a:close/>
                <a:moveTo>
                  <a:pt x="12" y="1418"/>
                </a:moveTo>
                <a:lnTo>
                  <a:pt x="12" y="1431"/>
                </a:lnTo>
                <a:lnTo>
                  <a:pt x="0" y="1431"/>
                </a:lnTo>
                <a:lnTo>
                  <a:pt x="0" y="1418"/>
                </a:lnTo>
                <a:lnTo>
                  <a:pt x="12" y="1418"/>
                </a:lnTo>
                <a:close/>
                <a:moveTo>
                  <a:pt x="12" y="1442"/>
                </a:moveTo>
                <a:lnTo>
                  <a:pt x="12" y="1454"/>
                </a:lnTo>
                <a:lnTo>
                  <a:pt x="0" y="1454"/>
                </a:lnTo>
                <a:lnTo>
                  <a:pt x="0" y="1442"/>
                </a:lnTo>
                <a:lnTo>
                  <a:pt x="12" y="1442"/>
                </a:lnTo>
                <a:close/>
                <a:moveTo>
                  <a:pt x="12" y="1467"/>
                </a:moveTo>
                <a:lnTo>
                  <a:pt x="12" y="1478"/>
                </a:lnTo>
                <a:lnTo>
                  <a:pt x="0" y="1478"/>
                </a:lnTo>
                <a:lnTo>
                  <a:pt x="0" y="1467"/>
                </a:lnTo>
                <a:lnTo>
                  <a:pt x="12" y="1467"/>
                </a:lnTo>
                <a:close/>
                <a:moveTo>
                  <a:pt x="12" y="1491"/>
                </a:moveTo>
                <a:lnTo>
                  <a:pt x="12" y="1503"/>
                </a:lnTo>
                <a:lnTo>
                  <a:pt x="0" y="1503"/>
                </a:lnTo>
                <a:lnTo>
                  <a:pt x="0" y="1491"/>
                </a:lnTo>
                <a:lnTo>
                  <a:pt x="12" y="1491"/>
                </a:lnTo>
                <a:close/>
                <a:moveTo>
                  <a:pt x="12" y="1514"/>
                </a:moveTo>
                <a:lnTo>
                  <a:pt x="12" y="1527"/>
                </a:lnTo>
                <a:lnTo>
                  <a:pt x="0" y="1527"/>
                </a:lnTo>
                <a:lnTo>
                  <a:pt x="0" y="1514"/>
                </a:lnTo>
                <a:lnTo>
                  <a:pt x="12" y="1514"/>
                </a:lnTo>
                <a:close/>
                <a:moveTo>
                  <a:pt x="12" y="1539"/>
                </a:moveTo>
                <a:lnTo>
                  <a:pt x="12" y="1551"/>
                </a:lnTo>
                <a:lnTo>
                  <a:pt x="0" y="1551"/>
                </a:lnTo>
                <a:lnTo>
                  <a:pt x="0" y="1539"/>
                </a:lnTo>
                <a:lnTo>
                  <a:pt x="12" y="1539"/>
                </a:lnTo>
                <a:close/>
                <a:moveTo>
                  <a:pt x="12" y="1563"/>
                </a:moveTo>
                <a:lnTo>
                  <a:pt x="12" y="1575"/>
                </a:lnTo>
                <a:lnTo>
                  <a:pt x="0" y="1575"/>
                </a:lnTo>
                <a:lnTo>
                  <a:pt x="0" y="1563"/>
                </a:lnTo>
                <a:lnTo>
                  <a:pt x="12" y="1563"/>
                </a:lnTo>
                <a:close/>
                <a:moveTo>
                  <a:pt x="12" y="1587"/>
                </a:moveTo>
                <a:lnTo>
                  <a:pt x="12" y="1599"/>
                </a:lnTo>
                <a:lnTo>
                  <a:pt x="0" y="1599"/>
                </a:lnTo>
                <a:lnTo>
                  <a:pt x="0" y="1587"/>
                </a:lnTo>
                <a:lnTo>
                  <a:pt x="12" y="1587"/>
                </a:lnTo>
                <a:close/>
                <a:moveTo>
                  <a:pt x="12" y="1611"/>
                </a:moveTo>
                <a:lnTo>
                  <a:pt x="12" y="1623"/>
                </a:lnTo>
                <a:lnTo>
                  <a:pt x="0" y="1623"/>
                </a:lnTo>
                <a:lnTo>
                  <a:pt x="0" y="1611"/>
                </a:lnTo>
                <a:lnTo>
                  <a:pt x="12" y="1611"/>
                </a:lnTo>
                <a:close/>
                <a:moveTo>
                  <a:pt x="12" y="1635"/>
                </a:moveTo>
                <a:lnTo>
                  <a:pt x="12" y="1647"/>
                </a:lnTo>
                <a:lnTo>
                  <a:pt x="0" y="1647"/>
                </a:lnTo>
                <a:lnTo>
                  <a:pt x="0" y="1635"/>
                </a:lnTo>
                <a:lnTo>
                  <a:pt x="12" y="1635"/>
                </a:lnTo>
                <a:close/>
                <a:moveTo>
                  <a:pt x="12" y="1659"/>
                </a:moveTo>
                <a:lnTo>
                  <a:pt x="12" y="1671"/>
                </a:lnTo>
                <a:lnTo>
                  <a:pt x="0" y="1671"/>
                </a:lnTo>
                <a:lnTo>
                  <a:pt x="0" y="1659"/>
                </a:lnTo>
                <a:lnTo>
                  <a:pt x="12" y="1659"/>
                </a:lnTo>
                <a:close/>
                <a:moveTo>
                  <a:pt x="12" y="1683"/>
                </a:moveTo>
                <a:lnTo>
                  <a:pt x="12" y="1695"/>
                </a:lnTo>
                <a:lnTo>
                  <a:pt x="0" y="1695"/>
                </a:lnTo>
                <a:lnTo>
                  <a:pt x="0" y="1683"/>
                </a:lnTo>
                <a:lnTo>
                  <a:pt x="12" y="1683"/>
                </a:lnTo>
                <a:close/>
                <a:moveTo>
                  <a:pt x="12" y="1707"/>
                </a:moveTo>
                <a:lnTo>
                  <a:pt x="12" y="1719"/>
                </a:lnTo>
                <a:lnTo>
                  <a:pt x="0" y="1719"/>
                </a:lnTo>
                <a:lnTo>
                  <a:pt x="0" y="1707"/>
                </a:lnTo>
                <a:lnTo>
                  <a:pt x="12" y="1707"/>
                </a:lnTo>
                <a:close/>
                <a:moveTo>
                  <a:pt x="12" y="1731"/>
                </a:moveTo>
                <a:lnTo>
                  <a:pt x="12" y="1743"/>
                </a:lnTo>
                <a:lnTo>
                  <a:pt x="0" y="1743"/>
                </a:lnTo>
                <a:lnTo>
                  <a:pt x="0" y="1731"/>
                </a:lnTo>
                <a:lnTo>
                  <a:pt x="12" y="1731"/>
                </a:lnTo>
                <a:close/>
                <a:moveTo>
                  <a:pt x="12" y="1755"/>
                </a:moveTo>
                <a:lnTo>
                  <a:pt x="12" y="1767"/>
                </a:lnTo>
                <a:lnTo>
                  <a:pt x="0" y="1767"/>
                </a:lnTo>
                <a:lnTo>
                  <a:pt x="0" y="1755"/>
                </a:lnTo>
                <a:lnTo>
                  <a:pt x="12" y="1755"/>
                </a:lnTo>
                <a:close/>
                <a:moveTo>
                  <a:pt x="12" y="1779"/>
                </a:moveTo>
                <a:lnTo>
                  <a:pt x="12" y="1791"/>
                </a:lnTo>
                <a:lnTo>
                  <a:pt x="0" y="1791"/>
                </a:lnTo>
                <a:lnTo>
                  <a:pt x="0" y="1779"/>
                </a:lnTo>
                <a:lnTo>
                  <a:pt x="12" y="1779"/>
                </a:lnTo>
                <a:close/>
                <a:moveTo>
                  <a:pt x="12" y="1803"/>
                </a:moveTo>
                <a:lnTo>
                  <a:pt x="12" y="1815"/>
                </a:lnTo>
                <a:lnTo>
                  <a:pt x="0" y="1815"/>
                </a:lnTo>
                <a:lnTo>
                  <a:pt x="0" y="1803"/>
                </a:lnTo>
                <a:lnTo>
                  <a:pt x="12" y="1803"/>
                </a:lnTo>
                <a:close/>
                <a:moveTo>
                  <a:pt x="12" y="1827"/>
                </a:moveTo>
                <a:lnTo>
                  <a:pt x="12" y="1839"/>
                </a:lnTo>
                <a:lnTo>
                  <a:pt x="0" y="1839"/>
                </a:lnTo>
                <a:lnTo>
                  <a:pt x="0" y="1827"/>
                </a:lnTo>
                <a:lnTo>
                  <a:pt x="12" y="1827"/>
                </a:lnTo>
                <a:close/>
                <a:moveTo>
                  <a:pt x="12" y="1851"/>
                </a:moveTo>
                <a:lnTo>
                  <a:pt x="12" y="1863"/>
                </a:lnTo>
                <a:lnTo>
                  <a:pt x="0" y="1863"/>
                </a:lnTo>
                <a:lnTo>
                  <a:pt x="0" y="1851"/>
                </a:lnTo>
                <a:lnTo>
                  <a:pt x="12" y="1851"/>
                </a:lnTo>
                <a:close/>
                <a:moveTo>
                  <a:pt x="12" y="1875"/>
                </a:moveTo>
                <a:lnTo>
                  <a:pt x="12" y="1887"/>
                </a:lnTo>
                <a:lnTo>
                  <a:pt x="0" y="1887"/>
                </a:lnTo>
                <a:lnTo>
                  <a:pt x="0" y="1875"/>
                </a:lnTo>
                <a:lnTo>
                  <a:pt x="12" y="1875"/>
                </a:lnTo>
                <a:close/>
                <a:moveTo>
                  <a:pt x="12" y="1899"/>
                </a:moveTo>
                <a:lnTo>
                  <a:pt x="12" y="1911"/>
                </a:lnTo>
                <a:lnTo>
                  <a:pt x="0" y="1911"/>
                </a:lnTo>
                <a:lnTo>
                  <a:pt x="0" y="1899"/>
                </a:lnTo>
                <a:lnTo>
                  <a:pt x="12" y="1899"/>
                </a:lnTo>
                <a:close/>
                <a:moveTo>
                  <a:pt x="12" y="1923"/>
                </a:moveTo>
                <a:lnTo>
                  <a:pt x="12" y="1935"/>
                </a:lnTo>
                <a:lnTo>
                  <a:pt x="0" y="1935"/>
                </a:lnTo>
                <a:lnTo>
                  <a:pt x="0" y="1923"/>
                </a:lnTo>
                <a:lnTo>
                  <a:pt x="12" y="1923"/>
                </a:lnTo>
                <a:close/>
                <a:moveTo>
                  <a:pt x="12" y="1947"/>
                </a:moveTo>
                <a:lnTo>
                  <a:pt x="12" y="1959"/>
                </a:lnTo>
                <a:lnTo>
                  <a:pt x="0" y="1959"/>
                </a:lnTo>
                <a:lnTo>
                  <a:pt x="0" y="1947"/>
                </a:lnTo>
                <a:lnTo>
                  <a:pt x="12" y="1947"/>
                </a:lnTo>
                <a:close/>
                <a:moveTo>
                  <a:pt x="12" y="1972"/>
                </a:moveTo>
                <a:lnTo>
                  <a:pt x="12" y="1983"/>
                </a:lnTo>
                <a:lnTo>
                  <a:pt x="0" y="1983"/>
                </a:lnTo>
                <a:lnTo>
                  <a:pt x="0" y="1972"/>
                </a:lnTo>
                <a:lnTo>
                  <a:pt x="12" y="1972"/>
                </a:lnTo>
                <a:close/>
                <a:moveTo>
                  <a:pt x="12" y="1995"/>
                </a:moveTo>
                <a:lnTo>
                  <a:pt x="12" y="2008"/>
                </a:lnTo>
                <a:lnTo>
                  <a:pt x="0" y="2008"/>
                </a:lnTo>
                <a:lnTo>
                  <a:pt x="0" y="1995"/>
                </a:lnTo>
                <a:lnTo>
                  <a:pt x="12" y="1995"/>
                </a:lnTo>
                <a:close/>
                <a:moveTo>
                  <a:pt x="12" y="2019"/>
                </a:moveTo>
                <a:lnTo>
                  <a:pt x="12" y="2032"/>
                </a:lnTo>
                <a:lnTo>
                  <a:pt x="0" y="2032"/>
                </a:lnTo>
                <a:lnTo>
                  <a:pt x="0" y="2019"/>
                </a:lnTo>
                <a:lnTo>
                  <a:pt x="12" y="2019"/>
                </a:lnTo>
                <a:close/>
                <a:moveTo>
                  <a:pt x="12" y="2044"/>
                </a:moveTo>
                <a:lnTo>
                  <a:pt x="12" y="2055"/>
                </a:lnTo>
                <a:lnTo>
                  <a:pt x="0" y="2055"/>
                </a:lnTo>
                <a:lnTo>
                  <a:pt x="0" y="2044"/>
                </a:lnTo>
                <a:lnTo>
                  <a:pt x="12" y="2044"/>
                </a:lnTo>
                <a:close/>
                <a:moveTo>
                  <a:pt x="12" y="2068"/>
                </a:moveTo>
                <a:lnTo>
                  <a:pt x="12" y="2080"/>
                </a:lnTo>
                <a:lnTo>
                  <a:pt x="0" y="2080"/>
                </a:lnTo>
                <a:lnTo>
                  <a:pt x="0" y="2068"/>
                </a:lnTo>
                <a:lnTo>
                  <a:pt x="12" y="2068"/>
                </a:lnTo>
                <a:close/>
                <a:moveTo>
                  <a:pt x="12" y="2092"/>
                </a:moveTo>
                <a:lnTo>
                  <a:pt x="12" y="2104"/>
                </a:lnTo>
                <a:lnTo>
                  <a:pt x="0" y="2104"/>
                </a:lnTo>
                <a:lnTo>
                  <a:pt x="0" y="2092"/>
                </a:lnTo>
                <a:lnTo>
                  <a:pt x="12" y="2092"/>
                </a:lnTo>
                <a:close/>
                <a:moveTo>
                  <a:pt x="12" y="2116"/>
                </a:moveTo>
                <a:lnTo>
                  <a:pt x="12" y="2128"/>
                </a:lnTo>
                <a:lnTo>
                  <a:pt x="0" y="2128"/>
                </a:lnTo>
                <a:lnTo>
                  <a:pt x="0" y="2116"/>
                </a:lnTo>
                <a:lnTo>
                  <a:pt x="12" y="2116"/>
                </a:lnTo>
                <a:close/>
                <a:moveTo>
                  <a:pt x="12" y="2140"/>
                </a:moveTo>
                <a:lnTo>
                  <a:pt x="12" y="2152"/>
                </a:lnTo>
                <a:lnTo>
                  <a:pt x="0" y="2152"/>
                </a:lnTo>
                <a:lnTo>
                  <a:pt x="0" y="2140"/>
                </a:lnTo>
                <a:lnTo>
                  <a:pt x="12" y="2140"/>
                </a:lnTo>
                <a:close/>
                <a:moveTo>
                  <a:pt x="12" y="2164"/>
                </a:moveTo>
                <a:lnTo>
                  <a:pt x="12" y="2176"/>
                </a:lnTo>
                <a:lnTo>
                  <a:pt x="0" y="2176"/>
                </a:lnTo>
                <a:lnTo>
                  <a:pt x="0" y="2164"/>
                </a:lnTo>
                <a:lnTo>
                  <a:pt x="12" y="2164"/>
                </a:lnTo>
                <a:close/>
                <a:moveTo>
                  <a:pt x="12" y="2188"/>
                </a:moveTo>
                <a:lnTo>
                  <a:pt x="12" y="2200"/>
                </a:lnTo>
                <a:lnTo>
                  <a:pt x="0" y="2200"/>
                </a:lnTo>
                <a:lnTo>
                  <a:pt x="0" y="2188"/>
                </a:lnTo>
                <a:lnTo>
                  <a:pt x="12" y="2188"/>
                </a:lnTo>
                <a:close/>
                <a:moveTo>
                  <a:pt x="12" y="2212"/>
                </a:moveTo>
                <a:lnTo>
                  <a:pt x="12" y="2224"/>
                </a:lnTo>
                <a:lnTo>
                  <a:pt x="0" y="2224"/>
                </a:lnTo>
                <a:lnTo>
                  <a:pt x="0" y="2212"/>
                </a:lnTo>
                <a:lnTo>
                  <a:pt x="12" y="2212"/>
                </a:lnTo>
                <a:close/>
                <a:moveTo>
                  <a:pt x="12" y="2236"/>
                </a:moveTo>
                <a:lnTo>
                  <a:pt x="12" y="2248"/>
                </a:lnTo>
                <a:lnTo>
                  <a:pt x="0" y="2248"/>
                </a:lnTo>
                <a:lnTo>
                  <a:pt x="0" y="2236"/>
                </a:lnTo>
                <a:lnTo>
                  <a:pt x="12" y="2236"/>
                </a:lnTo>
                <a:close/>
                <a:moveTo>
                  <a:pt x="12" y="2260"/>
                </a:moveTo>
                <a:lnTo>
                  <a:pt x="12" y="2272"/>
                </a:lnTo>
                <a:lnTo>
                  <a:pt x="0" y="2272"/>
                </a:lnTo>
                <a:lnTo>
                  <a:pt x="0" y="2260"/>
                </a:lnTo>
                <a:lnTo>
                  <a:pt x="12" y="2260"/>
                </a:lnTo>
                <a:close/>
                <a:moveTo>
                  <a:pt x="12" y="2284"/>
                </a:moveTo>
                <a:lnTo>
                  <a:pt x="12" y="2296"/>
                </a:lnTo>
                <a:lnTo>
                  <a:pt x="0" y="2296"/>
                </a:lnTo>
                <a:lnTo>
                  <a:pt x="0" y="2284"/>
                </a:lnTo>
                <a:lnTo>
                  <a:pt x="12" y="2284"/>
                </a:lnTo>
                <a:close/>
                <a:moveTo>
                  <a:pt x="12" y="2308"/>
                </a:moveTo>
                <a:lnTo>
                  <a:pt x="12" y="2320"/>
                </a:lnTo>
                <a:lnTo>
                  <a:pt x="0" y="2320"/>
                </a:lnTo>
                <a:lnTo>
                  <a:pt x="0" y="2308"/>
                </a:lnTo>
                <a:lnTo>
                  <a:pt x="12" y="2308"/>
                </a:lnTo>
                <a:close/>
                <a:moveTo>
                  <a:pt x="12" y="2332"/>
                </a:moveTo>
                <a:lnTo>
                  <a:pt x="12" y="2344"/>
                </a:lnTo>
                <a:lnTo>
                  <a:pt x="0" y="2344"/>
                </a:lnTo>
                <a:lnTo>
                  <a:pt x="0" y="2332"/>
                </a:lnTo>
                <a:lnTo>
                  <a:pt x="12" y="2332"/>
                </a:lnTo>
                <a:close/>
                <a:moveTo>
                  <a:pt x="12" y="2356"/>
                </a:moveTo>
                <a:lnTo>
                  <a:pt x="12" y="2368"/>
                </a:lnTo>
                <a:lnTo>
                  <a:pt x="0" y="2368"/>
                </a:lnTo>
                <a:lnTo>
                  <a:pt x="0" y="2356"/>
                </a:lnTo>
                <a:lnTo>
                  <a:pt x="12" y="2356"/>
                </a:lnTo>
                <a:close/>
                <a:moveTo>
                  <a:pt x="12" y="2380"/>
                </a:moveTo>
                <a:lnTo>
                  <a:pt x="12" y="2392"/>
                </a:lnTo>
                <a:lnTo>
                  <a:pt x="0" y="2392"/>
                </a:lnTo>
                <a:lnTo>
                  <a:pt x="0" y="2380"/>
                </a:lnTo>
                <a:lnTo>
                  <a:pt x="12" y="2380"/>
                </a:lnTo>
                <a:close/>
                <a:moveTo>
                  <a:pt x="12" y="2404"/>
                </a:moveTo>
                <a:lnTo>
                  <a:pt x="12" y="2416"/>
                </a:lnTo>
                <a:lnTo>
                  <a:pt x="0" y="2416"/>
                </a:lnTo>
                <a:lnTo>
                  <a:pt x="0" y="2404"/>
                </a:lnTo>
                <a:lnTo>
                  <a:pt x="12" y="2404"/>
                </a:lnTo>
                <a:close/>
                <a:moveTo>
                  <a:pt x="12" y="2428"/>
                </a:moveTo>
                <a:lnTo>
                  <a:pt x="12" y="2440"/>
                </a:lnTo>
                <a:lnTo>
                  <a:pt x="0" y="2440"/>
                </a:lnTo>
                <a:lnTo>
                  <a:pt x="0" y="2428"/>
                </a:lnTo>
                <a:lnTo>
                  <a:pt x="12" y="2428"/>
                </a:lnTo>
                <a:close/>
                <a:moveTo>
                  <a:pt x="12" y="2452"/>
                </a:moveTo>
                <a:lnTo>
                  <a:pt x="12" y="2464"/>
                </a:lnTo>
                <a:lnTo>
                  <a:pt x="0" y="2464"/>
                </a:lnTo>
                <a:lnTo>
                  <a:pt x="0" y="2452"/>
                </a:lnTo>
                <a:lnTo>
                  <a:pt x="12" y="2452"/>
                </a:lnTo>
                <a:close/>
                <a:moveTo>
                  <a:pt x="12" y="2476"/>
                </a:moveTo>
                <a:lnTo>
                  <a:pt x="12" y="2488"/>
                </a:lnTo>
                <a:lnTo>
                  <a:pt x="0" y="2488"/>
                </a:lnTo>
                <a:lnTo>
                  <a:pt x="0" y="2476"/>
                </a:lnTo>
                <a:lnTo>
                  <a:pt x="12" y="2476"/>
                </a:lnTo>
                <a:close/>
                <a:moveTo>
                  <a:pt x="12" y="2500"/>
                </a:moveTo>
                <a:lnTo>
                  <a:pt x="12" y="2513"/>
                </a:lnTo>
                <a:lnTo>
                  <a:pt x="0" y="2513"/>
                </a:lnTo>
                <a:lnTo>
                  <a:pt x="0" y="2500"/>
                </a:lnTo>
                <a:lnTo>
                  <a:pt x="12" y="2500"/>
                </a:lnTo>
                <a:close/>
                <a:moveTo>
                  <a:pt x="12" y="2524"/>
                </a:moveTo>
                <a:lnTo>
                  <a:pt x="12" y="2536"/>
                </a:lnTo>
                <a:lnTo>
                  <a:pt x="0" y="2536"/>
                </a:lnTo>
                <a:lnTo>
                  <a:pt x="0" y="2524"/>
                </a:lnTo>
                <a:lnTo>
                  <a:pt x="12" y="2524"/>
                </a:lnTo>
                <a:close/>
                <a:moveTo>
                  <a:pt x="12" y="2549"/>
                </a:moveTo>
                <a:lnTo>
                  <a:pt x="12" y="2560"/>
                </a:lnTo>
                <a:lnTo>
                  <a:pt x="0" y="2560"/>
                </a:lnTo>
                <a:lnTo>
                  <a:pt x="0" y="2549"/>
                </a:lnTo>
                <a:lnTo>
                  <a:pt x="12" y="2549"/>
                </a:lnTo>
                <a:close/>
              </a:path>
            </a:pathLst>
          </a:custGeom>
          <a:solidFill>
            <a:srgbClr val="000000"/>
          </a:solidFill>
          <a:ln w="0" cap="flat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96" name="Freeform 93">
            <a:extLst>
              <a:ext uri="{FF2B5EF4-FFF2-40B4-BE49-F238E27FC236}">
                <a16:creationId xmlns:a16="http://schemas.microsoft.com/office/drawing/2014/main" id="{E941AF71-A8E0-4BFE-95DF-3F98A841EDDD}"/>
              </a:ext>
            </a:extLst>
          </p:cNvPr>
          <p:cNvSpPr>
            <a:spLocks noEditPoints="1"/>
          </p:cNvSpPr>
          <p:nvPr/>
        </p:nvSpPr>
        <p:spPr bwMode="auto">
          <a:xfrm>
            <a:off x="3663950" y="2344738"/>
            <a:ext cx="18000" cy="4032000"/>
          </a:xfrm>
          <a:custGeom>
            <a:avLst/>
            <a:gdLst>
              <a:gd name="T0" fmla="*/ 0 w 13"/>
              <a:gd name="T1" fmla="*/ 24 h 2560"/>
              <a:gd name="T2" fmla="*/ 0 w 13"/>
              <a:gd name="T3" fmla="*/ 84 h 2560"/>
              <a:gd name="T4" fmla="*/ 13 w 13"/>
              <a:gd name="T5" fmla="*/ 132 h 2560"/>
              <a:gd name="T6" fmla="*/ 13 w 13"/>
              <a:gd name="T7" fmla="*/ 168 h 2560"/>
              <a:gd name="T8" fmla="*/ 13 w 13"/>
              <a:gd name="T9" fmla="*/ 192 h 2560"/>
              <a:gd name="T10" fmla="*/ 0 w 13"/>
              <a:gd name="T11" fmla="*/ 240 h 2560"/>
              <a:gd name="T12" fmla="*/ 0 w 13"/>
              <a:gd name="T13" fmla="*/ 300 h 2560"/>
              <a:gd name="T14" fmla="*/ 13 w 13"/>
              <a:gd name="T15" fmla="*/ 348 h 2560"/>
              <a:gd name="T16" fmla="*/ 13 w 13"/>
              <a:gd name="T17" fmla="*/ 385 h 2560"/>
              <a:gd name="T18" fmla="*/ 13 w 13"/>
              <a:gd name="T19" fmla="*/ 409 h 2560"/>
              <a:gd name="T20" fmla="*/ 0 w 13"/>
              <a:gd name="T21" fmla="*/ 457 h 2560"/>
              <a:gd name="T22" fmla="*/ 0 w 13"/>
              <a:gd name="T23" fmla="*/ 517 h 2560"/>
              <a:gd name="T24" fmla="*/ 13 w 13"/>
              <a:gd name="T25" fmla="*/ 565 h 2560"/>
              <a:gd name="T26" fmla="*/ 13 w 13"/>
              <a:gd name="T27" fmla="*/ 601 h 2560"/>
              <a:gd name="T28" fmla="*/ 13 w 13"/>
              <a:gd name="T29" fmla="*/ 625 h 2560"/>
              <a:gd name="T30" fmla="*/ 0 w 13"/>
              <a:gd name="T31" fmla="*/ 673 h 2560"/>
              <a:gd name="T32" fmla="*/ 0 w 13"/>
              <a:gd name="T33" fmla="*/ 733 h 2560"/>
              <a:gd name="T34" fmla="*/ 13 w 13"/>
              <a:gd name="T35" fmla="*/ 781 h 2560"/>
              <a:gd name="T36" fmla="*/ 13 w 13"/>
              <a:gd name="T37" fmla="*/ 817 h 2560"/>
              <a:gd name="T38" fmla="*/ 13 w 13"/>
              <a:gd name="T39" fmla="*/ 841 h 2560"/>
              <a:gd name="T40" fmla="*/ 0 w 13"/>
              <a:gd name="T41" fmla="*/ 889 h 2560"/>
              <a:gd name="T42" fmla="*/ 0 w 13"/>
              <a:gd name="T43" fmla="*/ 950 h 2560"/>
              <a:gd name="T44" fmla="*/ 13 w 13"/>
              <a:gd name="T45" fmla="*/ 998 h 2560"/>
              <a:gd name="T46" fmla="*/ 13 w 13"/>
              <a:gd name="T47" fmla="*/ 1034 h 2560"/>
              <a:gd name="T48" fmla="*/ 13 w 13"/>
              <a:gd name="T49" fmla="*/ 1058 h 2560"/>
              <a:gd name="T50" fmla="*/ 0 w 13"/>
              <a:gd name="T51" fmla="*/ 1106 h 2560"/>
              <a:gd name="T52" fmla="*/ 0 w 13"/>
              <a:gd name="T53" fmla="*/ 1166 h 2560"/>
              <a:gd name="T54" fmla="*/ 13 w 13"/>
              <a:gd name="T55" fmla="*/ 1214 h 2560"/>
              <a:gd name="T56" fmla="*/ 13 w 13"/>
              <a:gd name="T57" fmla="*/ 1250 h 2560"/>
              <a:gd name="T58" fmla="*/ 13 w 13"/>
              <a:gd name="T59" fmla="*/ 1274 h 2560"/>
              <a:gd name="T60" fmla="*/ 0 w 13"/>
              <a:gd name="T61" fmla="*/ 1322 h 2560"/>
              <a:gd name="T62" fmla="*/ 0 w 13"/>
              <a:gd name="T63" fmla="*/ 1382 h 2560"/>
              <a:gd name="T64" fmla="*/ 13 w 13"/>
              <a:gd name="T65" fmla="*/ 1431 h 2560"/>
              <a:gd name="T66" fmla="*/ 13 w 13"/>
              <a:gd name="T67" fmla="*/ 1467 h 2560"/>
              <a:gd name="T68" fmla="*/ 13 w 13"/>
              <a:gd name="T69" fmla="*/ 1491 h 2560"/>
              <a:gd name="T70" fmla="*/ 0 w 13"/>
              <a:gd name="T71" fmla="*/ 1539 h 2560"/>
              <a:gd name="T72" fmla="*/ 0 w 13"/>
              <a:gd name="T73" fmla="*/ 1599 h 2560"/>
              <a:gd name="T74" fmla="*/ 13 w 13"/>
              <a:gd name="T75" fmla="*/ 1647 h 2560"/>
              <a:gd name="T76" fmla="*/ 13 w 13"/>
              <a:gd name="T77" fmla="*/ 1683 h 2560"/>
              <a:gd name="T78" fmla="*/ 13 w 13"/>
              <a:gd name="T79" fmla="*/ 1707 h 2560"/>
              <a:gd name="T80" fmla="*/ 0 w 13"/>
              <a:gd name="T81" fmla="*/ 1755 h 2560"/>
              <a:gd name="T82" fmla="*/ 0 w 13"/>
              <a:gd name="T83" fmla="*/ 1815 h 2560"/>
              <a:gd name="T84" fmla="*/ 13 w 13"/>
              <a:gd name="T85" fmla="*/ 1863 h 2560"/>
              <a:gd name="T86" fmla="*/ 13 w 13"/>
              <a:gd name="T87" fmla="*/ 1899 h 2560"/>
              <a:gd name="T88" fmla="*/ 13 w 13"/>
              <a:gd name="T89" fmla="*/ 1923 h 2560"/>
              <a:gd name="T90" fmla="*/ 0 w 13"/>
              <a:gd name="T91" fmla="*/ 1972 h 2560"/>
              <a:gd name="T92" fmla="*/ 0 w 13"/>
              <a:gd name="T93" fmla="*/ 2032 h 2560"/>
              <a:gd name="T94" fmla="*/ 13 w 13"/>
              <a:gd name="T95" fmla="*/ 2080 h 2560"/>
              <a:gd name="T96" fmla="*/ 13 w 13"/>
              <a:gd name="T97" fmla="*/ 2116 h 2560"/>
              <a:gd name="T98" fmla="*/ 13 w 13"/>
              <a:gd name="T99" fmla="*/ 2140 h 2560"/>
              <a:gd name="T100" fmla="*/ 0 w 13"/>
              <a:gd name="T101" fmla="*/ 2188 h 2560"/>
              <a:gd name="T102" fmla="*/ 0 w 13"/>
              <a:gd name="T103" fmla="*/ 2248 h 2560"/>
              <a:gd name="T104" fmla="*/ 13 w 13"/>
              <a:gd name="T105" fmla="*/ 2296 h 2560"/>
              <a:gd name="T106" fmla="*/ 13 w 13"/>
              <a:gd name="T107" fmla="*/ 2332 h 2560"/>
              <a:gd name="T108" fmla="*/ 13 w 13"/>
              <a:gd name="T109" fmla="*/ 2356 h 2560"/>
              <a:gd name="T110" fmla="*/ 0 w 13"/>
              <a:gd name="T111" fmla="*/ 2404 h 2560"/>
              <a:gd name="T112" fmla="*/ 0 w 13"/>
              <a:gd name="T113" fmla="*/ 2464 h 2560"/>
              <a:gd name="T114" fmla="*/ 13 w 13"/>
              <a:gd name="T115" fmla="*/ 2513 h 2560"/>
              <a:gd name="T116" fmla="*/ 13 w 13"/>
              <a:gd name="T117" fmla="*/ 2549 h 25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13" h="2560">
                <a:moveTo>
                  <a:pt x="13" y="0"/>
                </a:moveTo>
                <a:lnTo>
                  <a:pt x="13" y="12"/>
                </a:lnTo>
                <a:lnTo>
                  <a:pt x="0" y="12"/>
                </a:lnTo>
                <a:lnTo>
                  <a:pt x="0" y="0"/>
                </a:lnTo>
                <a:lnTo>
                  <a:pt x="13" y="0"/>
                </a:lnTo>
                <a:close/>
                <a:moveTo>
                  <a:pt x="13" y="24"/>
                </a:moveTo>
                <a:lnTo>
                  <a:pt x="13" y="36"/>
                </a:lnTo>
                <a:lnTo>
                  <a:pt x="0" y="36"/>
                </a:lnTo>
                <a:lnTo>
                  <a:pt x="0" y="24"/>
                </a:lnTo>
                <a:lnTo>
                  <a:pt x="13" y="24"/>
                </a:lnTo>
                <a:close/>
                <a:moveTo>
                  <a:pt x="13" y="48"/>
                </a:moveTo>
                <a:lnTo>
                  <a:pt x="13" y="60"/>
                </a:lnTo>
                <a:lnTo>
                  <a:pt x="0" y="60"/>
                </a:lnTo>
                <a:lnTo>
                  <a:pt x="0" y="48"/>
                </a:lnTo>
                <a:lnTo>
                  <a:pt x="13" y="48"/>
                </a:lnTo>
                <a:close/>
                <a:moveTo>
                  <a:pt x="13" y="72"/>
                </a:moveTo>
                <a:lnTo>
                  <a:pt x="13" y="84"/>
                </a:lnTo>
                <a:lnTo>
                  <a:pt x="0" y="84"/>
                </a:lnTo>
                <a:lnTo>
                  <a:pt x="0" y="72"/>
                </a:lnTo>
                <a:lnTo>
                  <a:pt x="13" y="72"/>
                </a:lnTo>
                <a:close/>
                <a:moveTo>
                  <a:pt x="13" y="96"/>
                </a:moveTo>
                <a:lnTo>
                  <a:pt x="13" y="108"/>
                </a:lnTo>
                <a:lnTo>
                  <a:pt x="0" y="108"/>
                </a:lnTo>
                <a:lnTo>
                  <a:pt x="0" y="96"/>
                </a:lnTo>
                <a:lnTo>
                  <a:pt x="13" y="96"/>
                </a:lnTo>
                <a:close/>
                <a:moveTo>
                  <a:pt x="13" y="120"/>
                </a:moveTo>
                <a:lnTo>
                  <a:pt x="13" y="132"/>
                </a:lnTo>
                <a:lnTo>
                  <a:pt x="0" y="132"/>
                </a:lnTo>
                <a:lnTo>
                  <a:pt x="0" y="120"/>
                </a:lnTo>
                <a:lnTo>
                  <a:pt x="13" y="120"/>
                </a:lnTo>
                <a:close/>
                <a:moveTo>
                  <a:pt x="13" y="144"/>
                </a:moveTo>
                <a:lnTo>
                  <a:pt x="13" y="156"/>
                </a:lnTo>
                <a:lnTo>
                  <a:pt x="0" y="156"/>
                </a:lnTo>
                <a:lnTo>
                  <a:pt x="0" y="144"/>
                </a:lnTo>
                <a:lnTo>
                  <a:pt x="13" y="144"/>
                </a:lnTo>
                <a:close/>
                <a:moveTo>
                  <a:pt x="13" y="168"/>
                </a:moveTo>
                <a:lnTo>
                  <a:pt x="13" y="180"/>
                </a:lnTo>
                <a:lnTo>
                  <a:pt x="0" y="180"/>
                </a:lnTo>
                <a:lnTo>
                  <a:pt x="0" y="168"/>
                </a:lnTo>
                <a:lnTo>
                  <a:pt x="13" y="168"/>
                </a:lnTo>
                <a:close/>
                <a:moveTo>
                  <a:pt x="13" y="192"/>
                </a:moveTo>
                <a:lnTo>
                  <a:pt x="13" y="204"/>
                </a:lnTo>
                <a:lnTo>
                  <a:pt x="0" y="204"/>
                </a:lnTo>
                <a:lnTo>
                  <a:pt x="0" y="192"/>
                </a:lnTo>
                <a:lnTo>
                  <a:pt x="13" y="192"/>
                </a:lnTo>
                <a:close/>
                <a:moveTo>
                  <a:pt x="13" y="216"/>
                </a:moveTo>
                <a:lnTo>
                  <a:pt x="13" y="228"/>
                </a:lnTo>
                <a:lnTo>
                  <a:pt x="0" y="228"/>
                </a:lnTo>
                <a:lnTo>
                  <a:pt x="0" y="216"/>
                </a:lnTo>
                <a:lnTo>
                  <a:pt x="13" y="216"/>
                </a:lnTo>
                <a:close/>
                <a:moveTo>
                  <a:pt x="13" y="240"/>
                </a:moveTo>
                <a:lnTo>
                  <a:pt x="13" y="252"/>
                </a:lnTo>
                <a:lnTo>
                  <a:pt x="0" y="252"/>
                </a:lnTo>
                <a:lnTo>
                  <a:pt x="0" y="240"/>
                </a:lnTo>
                <a:lnTo>
                  <a:pt x="13" y="240"/>
                </a:lnTo>
                <a:close/>
                <a:moveTo>
                  <a:pt x="13" y="264"/>
                </a:moveTo>
                <a:lnTo>
                  <a:pt x="13" y="276"/>
                </a:lnTo>
                <a:lnTo>
                  <a:pt x="0" y="276"/>
                </a:lnTo>
                <a:lnTo>
                  <a:pt x="0" y="264"/>
                </a:lnTo>
                <a:lnTo>
                  <a:pt x="13" y="264"/>
                </a:lnTo>
                <a:close/>
                <a:moveTo>
                  <a:pt x="13" y="288"/>
                </a:moveTo>
                <a:lnTo>
                  <a:pt x="13" y="300"/>
                </a:lnTo>
                <a:lnTo>
                  <a:pt x="0" y="300"/>
                </a:lnTo>
                <a:lnTo>
                  <a:pt x="0" y="288"/>
                </a:lnTo>
                <a:lnTo>
                  <a:pt x="13" y="288"/>
                </a:lnTo>
                <a:close/>
                <a:moveTo>
                  <a:pt x="13" y="312"/>
                </a:moveTo>
                <a:lnTo>
                  <a:pt x="13" y="324"/>
                </a:lnTo>
                <a:lnTo>
                  <a:pt x="0" y="324"/>
                </a:lnTo>
                <a:lnTo>
                  <a:pt x="0" y="312"/>
                </a:lnTo>
                <a:lnTo>
                  <a:pt x="13" y="312"/>
                </a:lnTo>
                <a:close/>
                <a:moveTo>
                  <a:pt x="13" y="336"/>
                </a:moveTo>
                <a:lnTo>
                  <a:pt x="13" y="348"/>
                </a:lnTo>
                <a:lnTo>
                  <a:pt x="0" y="348"/>
                </a:lnTo>
                <a:lnTo>
                  <a:pt x="0" y="336"/>
                </a:lnTo>
                <a:lnTo>
                  <a:pt x="13" y="336"/>
                </a:lnTo>
                <a:close/>
                <a:moveTo>
                  <a:pt x="13" y="360"/>
                </a:moveTo>
                <a:lnTo>
                  <a:pt x="13" y="372"/>
                </a:lnTo>
                <a:lnTo>
                  <a:pt x="0" y="372"/>
                </a:lnTo>
                <a:lnTo>
                  <a:pt x="0" y="360"/>
                </a:lnTo>
                <a:lnTo>
                  <a:pt x="13" y="360"/>
                </a:lnTo>
                <a:close/>
                <a:moveTo>
                  <a:pt x="13" y="385"/>
                </a:moveTo>
                <a:lnTo>
                  <a:pt x="13" y="396"/>
                </a:lnTo>
                <a:lnTo>
                  <a:pt x="0" y="396"/>
                </a:lnTo>
                <a:lnTo>
                  <a:pt x="0" y="385"/>
                </a:lnTo>
                <a:lnTo>
                  <a:pt x="13" y="385"/>
                </a:lnTo>
                <a:close/>
                <a:moveTo>
                  <a:pt x="13" y="409"/>
                </a:moveTo>
                <a:lnTo>
                  <a:pt x="13" y="421"/>
                </a:lnTo>
                <a:lnTo>
                  <a:pt x="0" y="421"/>
                </a:lnTo>
                <a:lnTo>
                  <a:pt x="0" y="409"/>
                </a:lnTo>
                <a:lnTo>
                  <a:pt x="13" y="409"/>
                </a:lnTo>
                <a:close/>
                <a:moveTo>
                  <a:pt x="13" y="432"/>
                </a:moveTo>
                <a:lnTo>
                  <a:pt x="13" y="445"/>
                </a:lnTo>
                <a:lnTo>
                  <a:pt x="0" y="445"/>
                </a:lnTo>
                <a:lnTo>
                  <a:pt x="0" y="432"/>
                </a:lnTo>
                <a:lnTo>
                  <a:pt x="13" y="432"/>
                </a:lnTo>
                <a:close/>
                <a:moveTo>
                  <a:pt x="13" y="457"/>
                </a:moveTo>
                <a:lnTo>
                  <a:pt x="13" y="469"/>
                </a:lnTo>
                <a:lnTo>
                  <a:pt x="0" y="469"/>
                </a:lnTo>
                <a:lnTo>
                  <a:pt x="0" y="457"/>
                </a:lnTo>
                <a:lnTo>
                  <a:pt x="13" y="457"/>
                </a:lnTo>
                <a:close/>
                <a:moveTo>
                  <a:pt x="13" y="481"/>
                </a:moveTo>
                <a:lnTo>
                  <a:pt x="13" y="493"/>
                </a:lnTo>
                <a:lnTo>
                  <a:pt x="0" y="493"/>
                </a:lnTo>
                <a:lnTo>
                  <a:pt x="0" y="481"/>
                </a:lnTo>
                <a:lnTo>
                  <a:pt x="13" y="481"/>
                </a:lnTo>
                <a:close/>
                <a:moveTo>
                  <a:pt x="13" y="505"/>
                </a:moveTo>
                <a:lnTo>
                  <a:pt x="13" y="517"/>
                </a:lnTo>
                <a:lnTo>
                  <a:pt x="0" y="517"/>
                </a:lnTo>
                <a:lnTo>
                  <a:pt x="0" y="505"/>
                </a:lnTo>
                <a:lnTo>
                  <a:pt x="13" y="505"/>
                </a:lnTo>
                <a:close/>
                <a:moveTo>
                  <a:pt x="13" y="529"/>
                </a:moveTo>
                <a:lnTo>
                  <a:pt x="13" y="541"/>
                </a:lnTo>
                <a:lnTo>
                  <a:pt x="0" y="541"/>
                </a:lnTo>
                <a:lnTo>
                  <a:pt x="0" y="529"/>
                </a:lnTo>
                <a:lnTo>
                  <a:pt x="13" y="529"/>
                </a:lnTo>
                <a:close/>
                <a:moveTo>
                  <a:pt x="13" y="553"/>
                </a:moveTo>
                <a:lnTo>
                  <a:pt x="13" y="565"/>
                </a:lnTo>
                <a:lnTo>
                  <a:pt x="0" y="565"/>
                </a:lnTo>
                <a:lnTo>
                  <a:pt x="0" y="553"/>
                </a:lnTo>
                <a:lnTo>
                  <a:pt x="13" y="553"/>
                </a:lnTo>
                <a:close/>
                <a:moveTo>
                  <a:pt x="13" y="577"/>
                </a:moveTo>
                <a:lnTo>
                  <a:pt x="13" y="589"/>
                </a:lnTo>
                <a:lnTo>
                  <a:pt x="0" y="589"/>
                </a:lnTo>
                <a:lnTo>
                  <a:pt x="0" y="577"/>
                </a:lnTo>
                <a:lnTo>
                  <a:pt x="13" y="577"/>
                </a:lnTo>
                <a:close/>
                <a:moveTo>
                  <a:pt x="13" y="601"/>
                </a:moveTo>
                <a:lnTo>
                  <a:pt x="13" y="613"/>
                </a:lnTo>
                <a:lnTo>
                  <a:pt x="0" y="613"/>
                </a:lnTo>
                <a:lnTo>
                  <a:pt x="0" y="601"/>
                </a:lnTo>
                <a:lnTo>
                  <a:pt x="13" y="601"/>
                </a:lnTo>
                <a:close/>
                <a:moveTo>
                  <a:pt x="13" y="625"/>
                </a:moveTo>
                <a:lnTo>
                  <a:pt x="13" y="637"/>
                </a:lnTo>
                <a:lnTo>
                  <a:pt x="0" y="637"/>
                </a:lnTo>
                <a:lnTo>
                  <a:pt x="0" y="625"/>
                </a:lnTo>
                <a:lnTo>
                  <a:pt x="13" y="625"/>
                </a:lnTo>
                <a:close/>
                <a:moveTo>
                  <a:pt x="13" y="649"/>
                </a:moveTo>
                <a:lnTo>
                  <a:pt x="13" y="661"/>
                </a:lnTo>
                <a:lnTo>
                  <a:pt x="0" y="661"/>
                </a:lnTo>
                <a:lnTo>
                  <a:pt x="0" y="649"/>
                </a:lnTo>
                <a:lnTo>
                  <a:pt x="13" y="649"/>
                </a:lnTo>
                <a:close/>
                <a:moveTo>
                  <a:pt x="13" y="673"/>
                </a:moveTo>
                <a:lnTo>
                  <a:pt x="13" y="685"/>
                </a:lnTo>
                <a:lnTo>
                  <a:pt x="0" y="685"/>
                </a:lnTo>
                <a:lnTo>
                  <a:pt x="0" y="673"/>
                </a:lnTo>
                <a:lnTo>
                  <a:pt x="13" y="673"/>
                </a:lnTo>
                <a:close/>
                <a:moveTo>
                  <a:pt x="13" y="697"/>
                </a:moveTo>
                <a:lnTo>
                  <a:pt x="13" y="709"/>
                </a:lnTo>
                <a:lnTo>
                  <a:pt x="0" y="709"/>
                </a:lnTo>
                <a:lnTo>
                  <a:pt x="0" y="697"/>
                </a:lnTo>
                <a:lnTo>
                  <a:pt x="13" y="697"/>
                </a:lnTo>
                <a:close/>
                <a:moveTo>
                  <a:pt x="13" y="721"/>
                </a:moveTo>
                <a:lnTo>
                  <a:pt x="13" y="733"/>
                </a:lnTo>
                <a:lnTo>
                  <a:pt x="0" y="733"/>
                </a:lnTo>
                <a:lnTo>
                  <a:pt x="0" y="721"/>
                </a:lnTo>
                <a:lnTo>
                  <a:pt x="13" y="721"/>
                </a:lnTo>
                <a:close/>
                <a:moveTo>
                  <a:pt x="13" y="745"/>
                </a:moveTo>
                <a:lnTo>
                  <a:pt x="13" y="757"/>
                </a:lnTo>
                <a:lnTo>
                  <a:pt x="0" y="757"/>
                </a:lnTo>
                <a:lnTo>
                  <a:pt x="0" y="745"/>
                </a:lnTo>
                <a:lnTo>
                  <a:pt x="13" y="745"/>
                </a:lnTo>
                <a:close/>
                <a:moveTo>
                  <a:pt x="13" y="769"/>
                </a:moveTo>
                <a:lnTo>
                  <a:pt x="13" y="781"/>
                </a:lnTo>
                <a:lnTo>
                  <a:pt x="0" y="781"/>
                </a:lnTo>
                <a:lnTo>
                  <a:pt x="0" y="769"/>
                </a:lnTo>
                <a:lnTo>
                  <a:pt x="13" y="769"/>
                </a:lnTo>
                <a:close/>
                <a:moveTo>
                  <a:pt x="13" y="793"/>
                </a:moveTo>
                <a:lnTo>
                  <a:pt x="13" y="805"/>
                </a:lnTo>
                <a:lnTo>
                  <a:pt x="0" y="805"/>
                </a:lnTo>
                <a:lnTo>
                  <a:pt x="0" y="793"/>
                </a:lnTo>
                <a:lnTo>
                  <a:pt x="13" y="793"/>
                </a:lnTo>
                <a:close/>
                <a:moveTo>
                  <a:pt x="13" y="817"/>
                </a:moveTo>
                <a:lnTo>
                  <a:pt x="13" y="829"/>
                </a:lnTo>
                <a:lnTo>
                  <a:pt x="0" y="829"/>
                </a:lnTo>
                <a:lnTo>
                  <a:pt x="0" y="817"/>
                </a:lnTo>
                <a:lnTo>
                  <a:pt x="13" y="817"/>
                </a:lnTo>
                <a:close/>
                <a:moveTo>
                  <a:pt x="13" y="841"/>
                </a:moveTo>
                <a:lnTo>
                  <a:pt x="13" y="853"/>
                </a:lnTo>
                <a:lnTo>
                  <a:pt x="0" y="853"/>
                </a:lnTo>
                <a:lnTo>
                  <a:pt x="0" y="841"/>
                </a:lnTo>
                <a:lnTo>
                  <a:pt x="13" y="841"/>
                </a:lnTo>
                <a:close/>
                <a:moveTo>
                  <a:pt x="13" y="865"/>
                </a:moveTo>
                <a:lnTo>
                  <a:pt x="13" y="877"/>
                </a:lnTo>
                <a:lnTo>
                  <a:pt x="0" y="877"/>
                </a:lnTo>
                <a:lnTo>
                  <a:pt x="0" y="865"/>
                </a:lnTo>
                <a:lnTo>
                  <a:pt x="13" y="865"/>
                </a:lnTo>
                <a:close/>
                <a:moveTo>
                  <a:pt x="13" y="889"/>
                </a:moveTo>
                <a:lnTo>
                  <a:pt x="13" y="901"/>
                </a:lnTo>
                <a:lnTo>
                  <a:pt x="0" y="901"/>
                </a:lnTo>
                <a:lnTo>
                  <a:pt x="0" y="889"/>
                </a:lnTo>
                <a:lnTo>
                  <a:pt x="13" y="889"/>
                </a:lnTo>
                <a:close/>
                <a:moveTo>
                  <a:pt x="13" y="913"/>
                </a:moveTo>
                <a:lnTo>
                  <a:pt x="13" y="926"/>
                </a:lnTo>
                <a:lnTo>
                  <a:pt x="0" y="926"/>
                </a:lnTo>
                <a:lnTo>
                  <a:pt x="0" y="913"/>
                </a:lnTo>
                <a:lnTo>
                  <a:pt x="13" y="913"/>
                </a:lnTo>
                <a:close/>
                <a:moveTo>
                  <a:pt x="13" y="937"/>
                </a:moveTo>
                <a:lnTo>
                  <a:pt x="13" y="950"/>
                </a:lnTo>
                <a:lnTo>
                  <a:pt x="0" y="950"/>
                </a:lnTo>
                <a:lnTo>
                  <a:pt x="0" y="937"/>
                </a:lnTo>
                <a:lnTo>
                  <a:pt x="13" y="937"/>
                </a:lnTo>
                <a:close/>
                <a:moveTo>
                  <a:pt x="13" y="962"/>
                </a:moveTo>
                <a:lnTo>
                  <a:pt x="13" y="973"/>
                </a:lnTo>
                <a:lnTo>
                  <a:pt x="0" y="973"/>
                </a:lnTo>
                <a:lnTo>
                  <a:pt x="0" y="962"/>
                </a:lnTo>
                <a:lnTo>
                  <a:pt x="13" y="962"/>
                </a:lnTo>
                <a:close/>
                <a:moveTo>
                  <a:pt x="13" y="986"/>
                </a:moveTo>
                <a:lnTo>
                  <a:pt x="13" y="998"/>
                </a:lnTo>
                <a:lnTo>
                  <a:pt x="0" y="998"/>
                </a:lnTo>
                <a:lnTo>
                  <a:pt x="0" y="986"/>
                </a:lnTo>
                <a:lnTo>
                  <a:pt x="13" y="986"/>
                </a:lnTo>
                <a:close/>
                <a:moveTo>
                  <a:pt x="13" y="1010"/>
                </a:moveTo>
                <a:lnTo>
                  <a:pt x="13" y="1022"/>
                </a:lnTo>
                <a:lnTo>
                  <a:pt x="0" y="1022"/>
                </a:lnTo>
                <a:lnTo>
                  <a:pt x="0" y="1010"/>
                </a:lnTo>
                <a:lnTo>
                  <a:pt x="13" y="1010"/>
                </a:lnTo>
                <a:close/>
                <a:moveTo>
                  <a:pt x="13" y="1034"/>
                </a:moveTo>
                <a:lnTo>
                  <a:pt x="13" y="1046"/>
                </a:lnTo>
                <a:lnTo>
                  <a:pt x="0" y="1046"/>
                </a:lnTo>
                <a:lnTo>
                  <a:pt x="0" y="1034"/>
                </a:lnTo>
                <a:lnTo>
                  <a:pt x="13" y="1034"/>
                </a:lnTo>
                <a:close/>
                <a:moveTo>
                  <a:pt x="13" y="1058"/>
                </a:moveTo>
                <a:lnTo>
                  <a:pt x="13" y="1070"/>
                </a:lnTo>
                <a:lnTo>
                  <a:pt x="0" y="1070"/>
                </a:lnTo>
                <a:lnTo>
                  <a:pt x="0" y="1058"/>
                </a:lnTo>
                <a:lnTo>
                  <a:pt x="13" y="1058"/>
                </a:lnTo>
                <a:close/>
                <a:moveTo>
                  <a:pt x="13" y="1082"/>
                </a:moveTo>
                <a:lnTo>
                  <a:pt x="13" y="1094"/>
                </a:lnTo>
                <a:lnTo>
                  <a:pt x="0" y="1094"/>
                </a:lnTo>
                <a:lnTo>
                  <a:pt x="0" y="1082"/>
                </a:lnTo>
                <a:lnTo>
                  <a:pt x="13" y="1082"/>
                </a:lnTo>
                <a:close/>
                <a:moveTo>
                  <a:pt x="13" y="1106"/>
                </a:moveTo>
                <a:lnTo>
                  <a:pt x="13" y="1118"/>
                </a:lnTo>
                <a:lnTo>
                  <a:pt x="0" y="1118"/>
                </a:lnTo>
                <a:lnTo>
                  <a:pt x="0" y="1106"/>
                </a:lnTo>
                <a:lnTo>
                  <a:pt x="13" y="1106"/>
                </a:lnTo>
                <a:close/>
                <a:moveTo>
                  <a:pt x="13" y="1130"/>
                </a:moveTo>
                <a:lnTo>
                  <a:pt x="13" y="1142"/>
                </a:lnTo>
                <a:lnTo>
                  <a:pt x="0" y="1142"/>
                </a:lnTo>
                <a:lnTo>
                  <a:pt x="0" y="1130"/>
                </a:lnTo>
                <a:lnTo>
                  <a:pt x="13" y="1130"/>
                </a:lnTo>
                <a:close/>
                <a:moveTo>
                  <a:pt x="13" y="1154"/>
                </a:moveTo>
                <a:lnTo>
                  <a:pt x="13" y="1166"/>
                </a:lnTo>
                <a:lnTo>
                  <a:pt x="0" y="1166"/>
                </a:lnTo>
                <a:lnTo>
                  <a:pt x="0" y="1154"/>
                </a:lnTo>
                <a:lnTo>
                  <a:pt x="13" y="1154"/>
                </a:lnTo>
                <a:close/>
                <a:moveTo>
                  <a:pt x="13" y="1178"/>
                </a:moveTo>
                <a:lnTo>
                  <a:pt x="13" y="1190"/>
                </a:lnTo>
                <a:lnTo>
                  <a:pt x="0" y="1190"/>
                </a:lnTo>
                <a:lnTo>
                  <a:pt x="0" y="1178"/>
                </a:lnTo>
                <a:lnTo>
                  <a:pt x="13" y="1178"/>
                </a:lnTo>
                <a:close/>
                <a:moveTo>
                  <a:pt x="13" y="1202"/>
                </a:moveTo>
                <a:lnTo>
                  <a:pt x="13" y="1214"/>
                </a:lnTo>
                <a:lnTo>
                  <a:pt x="0" y="1214"/>
                </a:lnTo>
                <a:lnTo>
                  <a:pt x="0" y="1202"/>
                </a:lnTo>
                <a:lnTo>
                  <a:pt x="13" y="1202"/>
                </a:lnTo>
                <a:close/>
                <a:moveTo>
                  <a:pt x="13" y="1226"/>
                </a:moveTo>
                <a:lnTo>
                  <a:pt x="13" y="1238"/>
                </a:lnTo>
                <a:lnTo>
                  <a:pt x="0" y="1238"/>
                </a:lnTo>
                <a:lnTo>
                  <a:pt x="0" y="1226"/>
                </a:lnTo>
                <a:lnTo>
                  <a:pt x="13" y="1226"/>
                </a:lnTo>
                <a:close/>
                <a:moveTo>
                  <a:pt x="13" y="1250"/>
                </a:moveTo>
                <a:lnTo>
                  <a:pt x="13" y="1262"/>
                </a:lnTo>
                <a:lnTo>
                  <a:pt x="0" y="1262"/>
                </a:lnTo>
                <a:lnTo>
                  <a:pt x="0" y="1250"/>
                </a:lnTo>
                <a:lnTo>
                  <a:pt x="13" y="1250"/>
                </a:lnTo>
                <a:close/>
                <a:moveTo>
                  <a:pt x="13" y="1274"/>
                </a:moveTo>
                <a:lnTo>
                  <a:pt x="13" y="1286"/>
                </a:lnTo>
                <a:lnTo>
                  <a:pt x="0" y="1286"/>
                </a:lnTo>
                <a:lnTo>
                  <a:pt x="0" y="1274"/>
                </a:lnTo>
                <a:lnTo>
                  <a:pt x="13" y="1274"/>
                </a:lnTo>
                <a:close/>
                <a:moveTo>
                  <a:pt x="13" y="1298"/>
                </a:moveTo>
                <a:lnTo>
                  <a:pt x="13" y="1310"/>
                </a:lnTo>
                <a:lnTo>
                  <a:pt x="0" y="1310"/>
                </a:lnTo>
                <a:lnTo>
                  <a:pt x="0" y="1298"/>
                </a:lnTo>
                <a:lnTo>
                  <a:pt x="13" y="1298"/>
                </a:lnTo>
                <a:close/>
                <a:moveTo>
                  <a:pt x="13" y="1322"/>
                </a:moveTo>
                <a:lnTo>
                  <a:pt x="13" y="1334"/>
                </a:lnTo>
                <a:lnTo>
                  <a:pt x="0" y="1334"/>
                </a:lnTo>
                <a:lnTo>
                  <a:pt x="0" y="1322"/>
                </a:lnTo>
                <a:lnTo>
                  <a:pt x="13" y="1322"/>
                </a:lnTo>
                <a:close/>
                <a:moveTo>
                  <a:pt x="13" y="1346"/>
                </a:moveTo>
                <a:lnTo>
                  <a:pt x="13" y="1358"/>
                </a:lnTo>
                <a:lnTo>
                  <a:pt x="0" y="1358"/>
                </a:lnTo>
                <a:lnTo>
                  <a:pt x="0" y="1346"/>
                </a:lnTo>
                <a:lnTo>
                  <a:pt x="13" y="1346"/>
                </a:lnTo>
                <a:close/>
                <a:moveTo>
                  <a:pt x="13" y="1370"/>
                </a:moveTo>
                <a:lnTo>
                  <a:pt x="13" y="1382"/>
                </a:lnTo>
                <a:lnTo>
                  <a:pt x="0" y="1382"/>
                </a:lnTo>
                <a:lnTo>
                  <a:pt x="0" y="1370"/>
                </a:lnTo>
                <a:lnTo>
                  <a:pt x="13" y="1370"/>
                </a:lnTo>
                <a:close/>
                <a:moveTo>
                  <a:pt x="13" y="1394"/>
                </a:moveTo>
                <a:lnTo>
                  <a:pt x="13" y="1406"/>
                </a:lnTo>
                <a:lnTo>
                  <a:pt x="0" y="1406"/>
                </a:lnTo>
                <a:lnTo>
                  <a:pt x="0" y="1394"/>
                </a:lnTo>
                <a:lnTo>
                  <a:pt x="13" y="1394"/>
                </a:lnTo>
                <a:close/>
                <a:moveTo>
                  <a:pt x="13" y="1418"/>
                </a:moveTo>
                <a:lnTo>
                  <a:pt x="13" y="1431"/>
                </a:lnTo>
                <a:lnTo>
                  <a:pt x="0" y="1431"/>
                </a:lnTo>
                <a:lnTo>
                  <a:pt x="0" y="1418"/>
                </a:lnTo>
                <a:lnTo>
                  <a:pt x="13" y="1418"/>
                </a:lnTo>
                <a:close/>
                <a:moveTo>
                  <a:pt x="13" y="1442"/>
                </a:moveTo>
                <a:lnTo>
                  <a:pt x="13" y="1454"/>
                </a:lnTo>
                <a:lnTo>
                  <a:pt x="0" y="1454"/>
                </a:lnTo>
                <a:lnTo>
                  <a:pt x="0" y="1442"/>
                </a:lnTo>
                <a:lnTo>
                  <a:pt x="13" y="1442"/>
                </a:lnTo>
                <a:close/>
                <a:moveTo>
                  <a:pt x="13" y="1467"/>
                </a:moveTo>
                <a:lnTo>
                  <a:pt x="13" y="1478"/>
                </a:lnTo>
                <a:lnTo>
                  <a:pt x="0" y="1478"/>
                </a:lnTo>
                <a:lnTo>
                  <a:pt x="0" y="1467"/>
                </a:lnTo>
                <a:lnTo>
                  <a:pt x="13" y="1467"/>
                </a:lnTo>
                <a:close/>
                <a:moveTo>
                  <a:pt x="13" y="1491"/>
                </a:moveTo>
                <a:lnTo>
                  <a:pt x="13" y="1503"/>
                </a:lnTo>
                <a:lnTo>
                  <a:pt x="0" y="1503"/>
                </a:lnTo>
                <a:lnTo>
                  <a:pt x="0" y="1491"/>
                </a:lnTo>
                <a:lnTo>
                  <a:pt x="13" y="1491"/>
                </a:lnTo>
                <a:close/>
                <a:moveTo>
                  <a:pt x="13" y="1514"/>
                </a:moveTo>
                <a:lnTo>
                  <a:pt x="13" y="1527"/>
                </a:lnTo>
                <a:lnTo>
                  <a:pt x="0" y="1527"/>
                </a:lnTo>
                <a:lnTo>
                  <a:pt x="0" y="1514"/>
                </a:lnTo>
                <a:lnTo>
                  <a:pt x="13" y="1514"/>
                </a:lnTo>
                <a:close/>
                <a:moveTo>
                  <a:pt x="13" y="1539"/>
                </a:moveTo>
                <a:lnTo>
                  <a:pt x="13" y="1551"/>
                </a:lnTo>
                <a:lnTo>
                  <a:pt x="0" y="1551"/>
                </a:lnTo>
                <a:lnTo>
                  <a:pt x="0" y="1539"/>
                </a:lnTo>
                <a:lnTo>
                  <a:pt x="13" y="1539"/>
                </a:lnTo>
                <a:close/>
                <a:moveTo>
                  <a:pt x="13" y="1563"/>
                </a:moveTo>
                <a:lnTo>
                  <a:pt x="13" y="1575"/>
                </a:lnTo>
                <a:lnTo>
                  <a:pt x="0" y="1575"/>
                </a:lnTo>
                <a:lnTo>
                  <a:pt x="0" y="1563"/>
                </a:lnTo>
                <a:lnTo>
                  <a:pt x="13" y="1563"/>
                </a:lnTo>
                <a:close/>
                <a:moveTo>
                  <a:pt x="13" y="1587"/>
                </a:moveTo>
                <a:lnTo>
                  <a:pt x="13" y="1599"/>
                </a:lnTo>
                <a:lnTo>
                  <a:pt x="0" y="1599"/>
                </a:lnTo>
                <a:lnTo>
                  <a:pt x="0" y="1587"/>
                </a:lnTo>
                <a:lnTo>
                  <a:pt x="13" y="1587"/>
                </a:lnTo>
                <a:close/>
                <a:moveTo>
                  <a:pt x="13" y="1611"/>
                </a:moveTo>
                <a:lnTo>
                  <a:pt x="13" y="1623"/>
                </a:lnTo>
                <a:lnTo>
                  <a:pt x="0" y="1623"/>
                </a:lnTo>
                <a:lnTo>
                  <a:pt x="0" y="1611"/>
                </a:lnTo>
                <a:lnTo>
                  <a:pt x="13" y="1611"/>
                </a:lnTo>
                <a:close/>
                <a:moveTo>
                  <a:pt x="13" y="1635"/>
                </a:moveTo>
                <a:lnTo>
                  <a:pt x="13" y="1647"/>
                </a:lnTo>
                <a:lnTo>
                  <a:pt x="0" y="1647"/>
                </a:lnTo>
                <a:lnTo>
                  <a:pt x="0" y="1635"/>
                </a:lnTo>
                <a:lnTo>
                  <a:pt x="13" y="1635"/>
                </a:lnTo>
                <a:close/>
                <a:moveTo>
                  <a:pt x="13" y="1659"/>
                </a:moveTo>
                <a:lnTo>
                  <a:pt x="13" y="1671"/>
                </a:lnTo>
                <a:lnTo>
                  <a:pt x="0" y="1671"/>
                </a:lnTo>
                <a:lnTo>
                  <a:pt x="0" y="1659"/>
                </a:lnTo>
                <a:lnTo>
                  <a:pt x="13" y="1659"/>
                </a:lnTo>
                <a:close/>
                <a:moveTo>
                  <a:pt x="13" y="1683"/>
                </a:moveTo>
                <a:lnTo>
                  <a:pt x="13" y="1695"/>
                </a:lnTo>
                <a:lnTo>
                  <a:pt x="0" y="1695"/>
                </a:lnTo>
                <a:lnTo>
                  <a:pt x="0" y="1683"/>
                </a:lnTo>
                <a:lnTo>
                  <a:pt x="13" y="1683"/>
                </a:lnTo>
                <a:close/>
                <a:moveTo>
                  <a:pt x="13" y="1707"/>
                </a:moveTo>
                <a:lnTo>
                  <a:pt x="13" y="1719"/>
                </a:lnTo>
                <a:lnTo>
                  <a:pt x="0" y="1719"/>
                </a:lnTo>
                <a:lnTo>
                  <a:pt x="0" y="1707"/>
                </a:lnTo>
                <a:lnTo>
                  <a:pt x="13" y="1707"/>
                </a:lnTo>
                <a:close/>
                <a:moveTo>
                  <a:pt x="13" y="1731"/>
                </a:moveTo>
                <a:lnTo>
                  <a:pt x="13" y="1743"/>
                </a:lnTo>
                <a:lnTo>
                  <a:pt x="0" y="1743"/>
                </a:lnTo>
                <a:lnTo>
                  <a:pt x="0" y="1731"/>
                </a:lnTo>
                <a:lnTo>
                  <a:pt x="13" y="1731"/>
                </a:lnTo>
                <a:close/>
                <a:moveTo>
                  <a:pt x="13" y="1755"/>
                </a:moveTo>
                <a:lnTo>
                  <a:pt x="13" y="1767"/>
                </a:lnTo>
                <a:lnTo>
                  <a:pt x="0" y="1767"/>
                </a:lnTo>
                <a:lnTo>
                  <a:pt x="0" y="1755"/>
                </a:lnTo>
                <a:lnTo>
                  <a:pt x="13" y="1755"/>
                </a:lnTo>
                <a:close/>
                <a:moveTo>
                  <a:pt x="13" y="1779"/>
                </a:moveTo>
                <a:lnTo>
                  <a:pt x="13" y="1791"/>
                </a:lnTo>
                <a:lnTo>
                  <a:pt x="0" y="1791"/>
                </a:lnTo>
                <a:lnTo>
                  <a:pt x="0" y="1779"/>
                </a:lnTo>
                <a:lnTo>
                  <a:pt x="13" y="1779"/>
                </a:lnTo>
                <a:close/>
                <a:moveTo>
                  <a:pt x="13" y="1803"/>
                </a:moveTo>
                <a:lnTo>
                  <a:pt x="13" y="1815"/>
                </a:lnTo>
                <a:lnTo>
                  <a:pt x="0" y="1815"/>
                </a:lnTo>
                <a:lnTo>
                  <a:pt x="0" y="1803"/>
                </a:lnTo>
                <a:lnTo>
                  <a:pt x="13" y="1803"/>
                </a:lnTo>
                <a:close/>
                <a:moveTo>
                  <a:pt x="13" y="1827"/>
                </a:moveTo>
                <a:lnTo>
                  <a:pt x="13" y="1839"/>
                </a:lnTo>
                <a:lnTo>
                  <a:pt x="0" y="1839"/>
                </a:lnTo>
                <a:lnTo>
                  <a:pt x="0" y="1827"/>
                </a:lnTo>
                <a:lnTo>
                  <a:pt x="13" y="1827"/>
                </a:lnTo>
                <a:close/>
                <a:moveTo>
                  <a:pt x="13" y="1851"/>
                </a:moveTo>
                <a:lnTo>
                  <a:pt x="13" y="1863"/>
                </a:lnTo>
                <a:lnTo>
                  <a:pt x="0" y="1863"/>
                </a:lnTo>
                <a:lnTo>
                  <a:pt x="0" y="1851"/>
                </a:lnTo>
                <a:lnTo>
                  <a:pt x="13" y="1851"/>
                </a:lnTo>
                <a:close/>
                <a:moveTo>
                  <a:pt x="13" y="1875"/>
                </a:moveTo>
                <a:lnTo>
                  <a:pt x="13" y="1887"/>
                </a:lnTo>
                <a:lnTo>
                  <a:pt x="0" y="1887"/>
                </a:lnTo>
                <a:lnTo>
                  <a:pt x="0" y="1875"/>
                </a:lnTo>
                <a:lnTo>
                  <a:pt x="13" y="1875"/>
                </a:lnTo>
                <a:close/>
                <a:moveTo>
                  <a:pt x="13" y="1899"/>
                </a:moveTo>
                <a:lnTo>
                  <a:pt x="13" y="1911"/>
                </a:lnTo>
                <a:lnTo>
                  <a:pt x="0" y="1911"/>
                </a:lnTo>
                <a:lnTo>
                  <a:pt x="0" y="1899"/>
                </a:lnTo>
                <a:lnTo>
                  <a:pt x="13" y="1899"/>
                </a:lnTo>
                <a:close/>
                <a:moveTo>
                  <a:pt x="13" y="1923"/>
                </a:moveTo>
                <a:lnTo>
                  <a:pt x="13" y="1935"/>
                </a:lnTo>
                <a:lnTo>
                  <a:pt x="0" y="1935"/>
                </a:lnTo>
                <a:lnTo>
                  <a:pt x="0" y="1923"/>
                </a:lnTo>
                <a:lnTo>
                  <a:pt x="13" y="1923"/>
                </a:lnTo>
                <a:close/>
                <a:moveTo>
                  <a:pt x="13" y="1947"/>
                </a:moveTo>
                <a:lnTo>
                  <a:pt x="13" y="1959"/>
                </a:lnTo>
                <a:lnTo>
                  <a:pt x="0" y="1959"/>
                </a:lnTo>
                <a:lnTo>
                  <a:pt x="0" y="1947"/>
                </a:lnTo>
                <a:lnTo>
                  <a:pt x="13" y="1947"/>
                </a:lnTo>
                <a:close/>
                <a:moveTo>
                  <a:pt x="13" y="1972"/>
                </a:moveTo>
                <a:lnTo>
                  <a:pt x="13" y="1983"/>
                </a:lnTo>
                <a:lnTo>
                  <a:pt x="0" y="1983"/>
                </a:lnTo>
                <a:lnTo>
                  <a:pt x="0" y="1972"/>
                </a:lnTo>
                <a:lnTo>
                  <a:pt x="13" y="1972"/>
                </a:lnTo>
                <a:close/>
                <a:moveTo>
                  <a:pt x="13" y="1995"/>
                </a:moveTo>
                <a:lnTo>
                  <a:pt x="13" y="2008"/>
                </a:lnTo>
                <a:lnTo>
                  <a:pt x="0" y="2008"/>
                </a:lnTo>
                <a:lnTo>
                  <a:pt x="0" y="1995"/>
                </a:lnTo>
                <a:lnTo>
                  <a:pt x="13" y="1995"/>
                </a:lnTo>
                <a:close/>
                <a:moveTo>
                  <a:pt x="13" y="2019"/>
                </a:moveTo>
                <a:lnTo>
                  <a:pt x="13" y="2032"/>
                </a:lnTo>
                <a:lnTo>
                  <a:pt x="0" y="2032"/>
                </a:lnTo>
                <a:lnTo>
                  <a:pt x="0" y="2019"/>
                </a:lnTo>
                <a:lnTo>
                  <a:pt x="13" y="2019"/>
                </a:lnTo>
                <a:close/>
                <a:moveTo>
                  <a:pt x="13" y="2044"/>
                </a:moveTo>
                <a:lnTo>
                  <a:pt x="13" y="2055"/>
                </a:lnTo>
                <a:lnTo>
                  <a:pt x="0" y="2055"/>
                </a:lnTo>
                <a:lnTo>
                  <a:pt x="0" y="2044"/>
                </a:lnTo>
                <a:lnTo>
                  <a:pt x="13" y="2044"/>
                </a:lnTo>
                <a:close/>
                <a:moveTo>
                  <a:pt x="13" y="2068"/>
                </a:moveTo>
                <a:lnTo>
                  <a:pt x="13" y="2080"/>
                </a:lnTo>
                <a:lnTo>
                  <a:pt x="0" y="2080"/>
                </a:lnTo>
                <a:lnTo>
                  <a:pt x="0" y="2068"/>
                </a:lnTo>
                <a:lnTo>
                  <a:pt x="13" y="2068"/>
                </a:lnTo>
                <a:close/>
                <a:moveTo>
                  <a:pt x="13" y="2092"/>
                </a:moveTo>
                <a:lnTo>
                  <a:pt x="13" y="2104"/>
                </a:lnTo>
                <a:lnTo>
                  <a:pt x="0" y="2104"/>
                </a:lnTo>
                <a:lnTo>
                  <a:pt x="0" y="2092"/>
                </a:lnTo>
                <a:lnTo>
                  <a:pt x="13" y="2092"/>
                </a:lnTo>
                <a:close/>
                <a:moveTo>
                  <a:pt x="13" y="2116"/>
                </a:moveTo>
                <a:lnTo>
                  <a:pt x="13" y="2128"/>
                </a:lnTo>
                <a:lnTo>
                  <a:pt x="0" y="2128"/>
                </a:lnTo>
                <a:lnTo>
                  <a:pt x="0" y="2116"/>
                </a:lnTo>
                <a:lnTo>
                  <a:pt x="13" y="2116"/>
                </a:lnTo>
                <a:close/>
                <a:moveTo>
                  <a:pt x="13" y="2140"/>
                </a:moveTo>
                <a:lnTo>
                  <a:pt x="13" y="2152"/>
                </a:lnTo>
                <a:lnTo>
                  <a:pt x="0" y="2152"/>
                </a:lnTo>
                <a:lnTo>
                  <a:pt x="0" y="2140"/>
                </a:lnTo>
                <a:lnTo>
                  <a:pt x="13" y="2140"/>
                </a:lnTo>
                <a:close/>
                <a:moveTo>
                  <a:pt x="13" y="2164"/>
                </a:moveTo>
                <a:lnTo>
                  <a:pt x="13" y="2176"/>
                </a:lnTo>
                <a:lnTo>
                  <a:pt x="0" y="2176"/>
                </a:lnTo>
                <a:lnTo>
                  <a:pt x="0" y="2164"/>
                </a:lnTo>
                <a:lnTo>
                  <a:pt x="13" y="2164"/>
                </a:lnTo>
                <a:close/>
                <a:moveTo>
                  <a:pt x="13" y="2188"/>
                </a:moveTo>
                <a:lnTo>
                  <a:pt x="13" y="2200"/>
                </a:lnTo>
                <a:lnTo>
                  <a:pt x="0" y="2200"/>
                </a:lnTo>
                <a:lnTo>
                  <a:pt x="0" y="2188"/>
                </a:lnTo>
                <a:lnTo>
                  <a:pt x="13" y="2188"/>
                </a:lnTo>
                <a:close/>
                <a:moveTo>
                  <a:pt x="13" y="2212"/>
                </a:moveTo>
                <a:lnTo>
                  <a:pt x="13" y="2224"/>
                </a:lnTo>
                <a:lnTo>
                  <a:pt x="0" y="2224"/>
                </a:lnTo>
                <a:lnTo>
                  <a:pt x="0" y="2212"/>
                </a:lnTo>
                <a:lnTo>
                  <a:pt x="13" y="2212"/>
                </a:lnTo>
                <a:close/>
                <a:moveTo>
                  <a:pt x="13" y="2236"/>
                </a:moveTo>
                <a:lnTo>
                  <a:pt x="13" y="2248"/>
                </a:lnTo>
                <a:lnTo>
                  <a:pt x="0" y="2248"/>
                </a:lnTo>
                <a:lnTo>
                  <a:pt x="0" y="2236"/>
                </a:lnTo>
                <a:lnTo>
                  <a:pt x="13" y="2236"/>
                </a:lnTo>
                <a:close/>
                <a:moveTo>
                  <a:pt x="13" y="2260"/>
                </a:moveTo>
                <a:lnTo>
                  <a:pt x="13" y="2272"/>
                </a:lnTo>
                <a:lnTo>
                  <a:pt x="0" y="2272"/>
                </a:lnTo>
                <a:lnTo>
                  <a:pt x="0" y="2260"/>
                </a:lnTo>
                <a:lnTo>
                  <a:pt x="13" y="2260"/>
                </a:lnTo>
                <a:close/>
                <a:moveTo>
                  <a:pt x="13" y="2284"/>
                </a:moveTo>
                <a:lnTo>
                  <a:pt x="13" y="2296"/>
                </a:lnTo>
                <a:lnTo>
                  <a:pt x="0" y="2296"/>
                </a:lnTo>
                <a:lnTo>
                  <a:pt x="0" y="2284"/>
                </a:lnTo>
                <a:lnTo>
                  <a:pt x="13" y="2284"/>
                </a:lnTo>
                <a:close/>
                <a:moveTo>
                  <a:pt x="13" y="2308"/>
                </a:moveTo>
                <a:lnTo>
                  <a:pt x="13" y="2320"/>
                </a:lnTo>
                <a:lnTo>
                  <a:pt x="0" y="2320"/>
                </a:lnTo>
                <a:lnTo>
                  <a:pt x="0" y="2308"/>
                </a:lnTo>
                <a:lnTo>
                  <a:pt x="13" y="2308"/>
                </a:lnTo>
                <a:close/>
                <a:moveTo>
                  <a:pt x="13" y="2332"/>
                </a:moveTo>
                <a:lnTo>
                  <a:pt x="13" y="2344"/>
                </a:lnTo>
                <a:lnTo>
                  <a:pt x="0" y="2344"/>
                </a:lnTo>
                <a:lnTo>
                  <a:pt x="0" y="2332"/>
                </a:lnTo>
                <a:lnTo>
                  <a:pt x="13" y="2332"/>
                </a:lnTo>
                <a:close/>
                <a:moveTo>
                  <a:pt x="13" y="2356"/>
                </a:moveTo>
                <a:lnTo>
                  <a:pt x="13" y="2368"/>
                </a:lnTo>
                <a:lnTo>
                  <a:pt x="0" y="2368"/>
                </a:lnTo>
                <a:lnTo>
                  <a:pt x="0" y="2356"/>
                </a:lnTo>
                <a:lnTo>
                  <a:pt x="13" y="2356"/>
                </a:lnTo>
                <a:close/>
                <a:moveTo>
                  <a:pt x="13" y="2380"/>
                </a:moveTo>
                <a:lnTo>
                  <a:pt x="13" y="2392"/>
                </a:lnTo>
                <a:lnTo>
                  <a:pt x="0" y="2392"/>
                </a:lnTo>
                <a:lnTo>
                  <a:pt x="0" y="2380"/>
                </a:lnTo>
                <a:lnTo>
                  <a:pt x="13" y="2380"/>
                </a:lnTo>
                <a:close/>
                <a:moveTo>
                  <a:pt x="13" y="2404"/>
                </a:moveTo>
                <a:lnTo>
                  <a:pt x="13" y="2416"/>
                </a:lnTo>
                <a:lnTo>
                  <a:pt x="0" y="2416"/>
                </a:lnTo>
                <a:lnTo>
                  <a:pt x="0" y="2404"/>
                </a:lnTo>
                <a:lnTo>
                  <a:pt x="13" y="2404"/>
                </a:lnTo>
                <a:close/>
                <a:moveTo>
                  <a:pt x="13" y="2428"/>
                </a:moveTo>
                <a:lnTo>
                  <a:pt x="13" y="2440"/>
                </a:lnTo>
                <a:lnTo>
                  <a:pt x="0" y="2440"/>
                </a:lnTo>
                <a:lnTo>
                  <a:pt x="0" y="2428"/>
                </a:lnTo>
                <a:lnTo>
                  <a:pt x="13" y="2428"/>
                </a:lnTo>
                <a:close/>
                <a:moveTo>
                  <a:pt x="13" y="2452"/>
                </a:moveTo>
                <a:lnTo>
                  <a:pt x="13" y="2464"/>
                </a:lnTo>
                <a:lnTo>
                  <a:pt x="0" y="2464"/>
                </a:lnTo>
                <a:lnTo>
                  <a:pt x="0" y="2452"/>
                </a:lnTo>
                <a:lnTo>
                  <a:pt x="13" y="2452"/>
                </a:lnTo>
                <a:close/>
                <a:moveTo>
                  <a:pt x="13" y="2476"/>
                </a:moveTo>
                <a:lnTo>
                  <a:pt x="13" y="2488"/>
                </a:lnTo>
                <a:lnTo>
                  <a:pt x="0" y="2488"/>
                </a:lnTo>
                <a:lnTo>
                  <a:pt x="0" y="2476"/>
                </a:lnTo>
                <a:lnTo>
                  <a:pt x="13" y="2476"/>
                </a:lnTo>
                <a:close/>
                <a:moveTo>
                  <a:pt x="13" y="2500"/>
                </a:moveTo>
                <a:lnTo>
                  <a:pt x="13" y="2513"/>
                </a:lnTo>
                <a:lnTo>
                  <a:pt x="0" y="2513"/>
                </a:lnTo>
                <a:lnTo>
                  <a:pt x="0" y="2500"/>
                </a:lnTo>
                <a:lnTo>
                  <a:pt x="13" y="2500"/>
                </a:lnTo>
                <a:close/>
                <a:moveTo>
                  <a:pt x="13" y="2524"/>
                </a:moveTo>
                <a:lnTo>
                  <a:pt x="13" y="2536"/>
                </a:lnTo>
                <a:lnTo>
                  <a:pt x="0" y="2536"/>
                </a:lnTo>
                <a:lnTo>
                  <a:pt x="0" y="2524"/>
                </a:lnTo>
                <a:lnTo>
                  <a:pt x="13" y="2524"/>
                </a:lnTo>
                <a:close/>
                <a:moveTo>
                  <a:pt x="13" y="2549"/>
                </a:moveTo>
                <a:lnTo>
                  <a:pt x="13" y="2560"/>
                </a:lnTo>
                <a:lnTo>
                  <a:pt x="0" y="2560"/>
                </a:lnTo>
                <a:lnTo>
                  <a:pt x="0" y="2549"/>
                </a:lnTo>
                <a:lnTo>
                  <a:pt x="13" y="2549"/>
                </a:lnTo>
                <a:close/>
              </a:path>
            </a:pathLst>
          </a:custGeom>
          <a:solidFill>
            <a:srgbClr val="000000"/>
          </a:solidFill>
          <a:ln w="0" cap="flat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97" name="Freeform 94">
            <a:extLst>
              <a:ext uri="{FF2B5EF4-FFF2-40B4-BE49-F238E27FC236}">
                <a16:creationId xmlns:a16="http://schemas.microsoft.com/office/drawing/2014/main" id="{59734956-8E64-4B70-B603-3BE82356F715}"/>
              </a:ext>
            </a:extLst>
          </p:cNvPr>
          <p:cNvSpPr>
            <a:spLocks noEditPoints="1"/>
          </p:cNvSpPr>
          <p:nvPr/>
        </p:nvSpPr>
        <p:spPr bwMode="auto">
          <a:xfrm>
            <a:off x="3149600" y="2344738"/>
            <a:ext cx="18000" cy="4032000"/>
          </a:xfrm>
          <a:custGeom>
            <a:avLst/>
            <a:gdLst>
              <a:gd name="T0" fmla="*/ 0 w 12"/>
              <a:gd name="T1" fmla="*/ 24 h 2560"/>
              <a:gd name="T2" fmla="*/ 0 w 12"/>
              <a:gd name="T3" fmla="*/ 84 h 2560"/>
              <a:gd name="T4" fmla="*/ 12 w 12"/>
              <a:gd name="T5" fmla="*/ 132 h 2560"/>
              <a:gd name="T6" fmla="*/ 12 w 12"/>
              <a:gd name="T7" fmla="*/ 168 h 2560"/>
              <a:gd name="T8" fmla="*/ 12 w 12"/>
              <a:gd name="T9" fmla="*/ 192 h 2560"/>
              <a:gd name="T10" fmla="*/ 0 w 12"/>
              <a:gd name="T11" fmla="*/ 240 h 2560"/>
              <a:gd name="T12" fmla="*/ 0 w 12"/>
              <a:gd name="T13" fmla="*/ 300 h 2560"/>
              <a:gd name="T14" fmla="*/ 12 w 12"/>
              <a:gd name="T15" fmla="*/ 348 h 2560"/>
              <a:gd name="T16" fmla="*/ 12 w 12"/>
              <a:gd name="T17" fmla="*/ 384 h 2560"/>
              <a:gd name="T18" fmla="*/ 12 w 12"/>
              <a:gd name="T19" fmla="*/ 408 h 2560"/>
              <a:gd name="T20" fmla="*/ 0 w 12"/>
              <a:gd name="T21" fmla="*/ 457 h 2560"/>
              <a:gd name="T22" fmla="*/ 0 w 12"/>
              <a:gd name="T23" fmla="*/ 517 h 2560"/>
              <a:gd name="T24" fmla="*/ 12 w 12"/>
              <a:gd name="T25" fmla="*/ 565 h 2560"/>
              <a:gd name="T26" fmla="*/ 12 w 12"/>
              <a:gd name="T27" fmla="*/ 601 h 2560"/>
              <a:gd name="T28" fmla="*/ 12 w 12"/>
              <a:gd name="T29" fmla="*/ 625 h 2560"/>
              <a:gd name="T30" fmla="*/ 0 w 12"/>
              <a:gd name="T31" fmla="*/ 673 h 2560"/>
              <a:gd name="T32" fmla="*/ 0 w 12"/>
              <a:gd name="T33" fmla="*/ 733 h 2560"/>
              <a:gd name="T34" fmla="*/ 12 w 12"/>
              <a:gd name="T35" fmla="*/ 781 h 2560"/>
              <a:gd name="T36" fmla="*/ 12 w 12"/>
              <a:gd name="T37" fmla="*/ 817 h 2560"/>
              <a:gd name="T38" fmla="*/ 12 w 12"/>
              <a:gd name="T39" fmla="*/ 841 h 2560"/>
              <a:gd name="T40" fmla="*/ 0 w 12"/>
              <a:gd name="T41" fmla="*/ 889 h 2560"/>
              <a:gd name="T42" fmla="*/ 0 w 12"/>
              <a:gd name="T43" fmla="*/ 949 h 2560"/>
              <a:gd name="T44" fmla="*/ 12 w 12"/>
              <a:gd name="T45" fmla="*/ 998 h 2560"/>
              <a:gd name="T46" fmla="*/ 12 w 12"/>
              <a:gd name="T47" fmla="*/ 1034 h 2560"/>
              <a:gd name="T48" fmla="*/ 12 w 12"/>
              <a:gd name="T49" fmla="*/ 1058 h 2560"/>
              <a:gd name="T50" fmla="*/ 0 w 12"/>
              <a:gd name="T51" fmla="*/ 1106 h 2560"/>
              <a:gd name="T52" fmla="*/ 0 w 12"/>
              <a:gd name="T53" fmla="*/ 1166 h 2560"/>
              <a:gd name="T54" fmla="*/ 12 w 12"/>
              <a:gd name="T55" fmla="*/ 1214 h 2560"/>
              <a:gd name="T56" fmla="*/ 12 w 12"/>
              <a:gd name="T57" fmla="*/ 1250 h 2560"/>
              <a:gd name="T58" fmla="*/ 12 w 12"/>
              <a:gd name="T59" fmla="*/ 1274 h 2560"/>
              <a:gd name="T60" fmla="*/ 0 w 12"/>
              <a:gd name="T61" fmla="*/ 1322 h 2560"/>
              <a:gd name="T62" fmla="*/ 0 w 12"/>
              <a:gd name="T63" fmla="*/ 1382 h 2560"/>
              <a:gd name="T64" fmla="*/ 12 w 12"/>
              <a:gd name="T65" fmla="*/ 1430 h 2560"/>
              <a:gd name="T66" fmla="*/ 12 w 12"/>
              <a:gd name="T67" fmla="*/ 1467 h 2560"/>
              <a:gd name="T68" fmla="*/ 12 w 12"/>
              <a:gd name="T69" fmla="*/ 1490 h 2560"/>
              <a:gd name="T70" fmla="*/ 0 w 12"/>
              <a:gd name="T71" fmla="*/ 1539 h 2560"/>
              <a:gd name="T72" fmla="*/ 0 w 12"/>
              <a:gd name="T73" fmla="*/ 1599 h 2560"/>
              <a:gd name="T74" fmla="*/ 12 w 12"/>
              <a:gd name="T75" fmla="*/ 1647 h 2560"/>
              <a:gd name="T76" fmla="*/ 12 w 12"/>
              <a:gd name="T77" fmla="*/ 1683 h 2560"/>
              <a:gd name="T78" fmla="*/ 12 w 12"/>
              <a:gd name="T79" fmla="*/ 1707 h 2560"/>
              <a:gd name="T80" fmla="*/ 0 w 12"/>
              <a:gd name="T81" fmla="*/ 1755 h 2560"/>
              <a:gd name="T82" fmla="*/ 0 w 12"/>
              <a:gd name="T83" fmla="*/ 1815 h 2560"/>
              <a:gd name="T84" fmla="*/ 12 w 12"/>
              <a:gd name="T85" fmla="*/ 1863 h 2560"/>
              <a:gd name="T86" fmla="*/ 12 w 12"/>
              <a:gd name="T87" fmla="*/ 1899 h 2560"/>
              <a:gd name="T88" fmla="*/ 12 w 12"/>
              <a:gd name="T89" fmla="*/ 1923 h 2560"/>
              <a:gd name="T90" fmla="*/ 0 w 12"/>
              <a:gd name="T91" fmla="*/ 1971 h 2560"/>
              <a:gd name="T92" fmla="*/ 0 w 12"/>
              <a:gd name="T93" fmla="*/ 2031 h 2560"/>
              <a:gd name="T94" fmla="*/ 12 w 12"/>
              <a:gd name="T95" fmla="*/ 2080 h 2560"/>
              <a:gd name="T96" fmla="*/ 12 w 12"/>
              <a:gd name="T97" fmla="*/ 2116 h 2560"/>
              <a:gd name="T98" fmla="*/ 12 w 12"/>
              <a:gd name="T99" fmla="*/ 2140 h 2560"/>
              <a:gd name="T100" fmla="*/ 0 w 12"/>
              <a:gd name="T101" fmla="*/ 2188 h 2560"/>
              <a:gd name="T102" fmla="*/ 0 w 12"/>
              <a:gd name="T103" fmla="*/ 2248 h 2560"/>
              <a:gd name="T104" fmla="*/ 12 w 12"/>
              <a:gd name="T105" fmla="*/ 2296 h 2560"/>
              <a:gd name="T106" fmla="*/ 12 w 12"/>
              <a:gd name="T107" fmla="*/ 2332 h 2560"/>
              <a:gd name="T108" fmla="*/ 12 w 12"/>
              <a:gd name="T109" fmla="*/ 2356 h 2560"/>
              <a:gd name="T110" fmla="*/ 0 w 12"/>
              <a:gd name="T111" fmla="*/ 2404 h 2560"/>
              <a:gd name="T112" fmla="*/ 0 w 12"/>
              <a:gd name="T113" fmla="*/ 2464 h 2560"/>
              <a:gd name="T114" fmla="*/ 12 w 12"/>
              <a:gd name="T115" fmla="*/ 2512 h 2560"/>
              <a:gd name="T116" fmla="*/ 12 w 12"/>
              <a:gd name="T117" fmla="*/ 2549 h 25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12" h="2560">
                <a:moveTo>
                  <a:pt x="12" y="0"/>
                </a:moveTo>
                <a:lnTo>
                  <a:pt x="12" y="12"/>
                </a:lnTo>
                <a:lnTo>
                  <a:pt x="0" y="12"/>
                </a:lnTo>
                <a:lnTo>
                  <a:pt x="0" y="0"/>
                </a:lnTo>
                <a:lnTo>
                  <a:pt x="12" y="0"/>
                </a:lnTo>
                <a:close/>
                <a:moveTo>
                  <a:pt x="12" y="24"/>
                </a:moveTo>
                <a:lnTo>
                  <a:pt x="12" y="36"/>
                </a:lnTo>
                <a:lnTo>
                  <a:pt x="0" y="36"/>
                </a:lnTo>
                <a:lnTo>
                  <a:pt x="0" y="24"/>
                </a:lnTo>
                <a:lnTo>
                  <a:pt x="12" y="24"/>
                </a:lnTo>
                <a:close/>
                <a:moveTo>
                  <a:pt x="12" y="48"/>
                </a:moveTo>
                <a:lnTo>
                  <a:pt x="12" y="60"/>
                </a:lnTo>
                <a:lnTo>
                  <a:pt x="0" y="60"/>
                </a:lnTo>
                <a:lnTo>
                  <a:pt x="0" y="48"/>
                </a:lnTo>
                <a:lnTo>
                  <a:pt x="12" y="48"/>
                </a:lnTo>
                <a:close/>
                <a:moveTo>
                  <a:pt x="12" y="72"/>
                </a:moveTo>
                <a:lnTo>
                  <a:pt x="12" y="84"/>
                </a:lnTo>
                <a:lnTo>
                  <a:pt x="0" y="84"/>
                </a:lnTo>
                <a:lnTo>
                  <a:pt x="0" y="72"/>
                </a:lnTo>
                <a:lnTo>
                  <a:pt x="12" y="72"/>
                </a:lnTo>
                <a:close/>
                <a:moveTo>
                  <a:pt x="12" y="96"/>
                </a:moveTo>
                <a:lnTo>
                  <a:pt x="12" y="108"/>
                </a:lnTo>
                <a:lnTo>
                  <a:pt x="0" y="108"/>
                </a:lnTo>
                <a:lnTo>
                  <a:pt x="0" y="96"/>
                </a:lnTo>
                <a:lnTo>
                  <a:pt x="12" y="96"/>
                </a:lnTo>
                <a:close/>
                <a:moveTo>
                  <a:pt x="12" y="120"/>
                </a:moveTo>
                <a:lnTo>
                  <a:pt x="12" y="132"/>
                </a:lnTo>
                <a:lnTo>
                  <a:pt x="0" y="132"/>
                </a:lnTo>
                <a:lnTo>
                  <a:pt x="0" y="120"/>
                </a:lnTo>
                <a:lnTo>
                  <a:pt x="12" y="120"/>
                </a:lnTo>
                <a:close/>
                <a:moveTo>
                  <a:pt x="12" y="144"/>
                </a:moveTo>
                <a:lnTo>
                  <a:pt x="12" y="156"/>
                </a:lnTo>
                <a:lnTo>
                  <a:pt x="0" y="156"/>
                </a:lnTo>
                <a:lnTo>
                  <a:pt x="0" y="144"/>
                </a:lnTo>
                <a:lnTo>
                  <a:pt x="12" y="144"/>
                </a:lnTo>
                <a:close/>
                <a:moveTo>
                  <a:pt x="12" y="168"/>
                </a:moveTo>
                <a:lnTo>
                  <a:pt x="12" y="180"/>
                </a:lnTo>
                <a:lnTo>
                  <a:pt x="0" y="180"/>
                </a:lnTo>
                <a:lnTo>
                  <a:pt x="0" y="168"/>
                </a:lnTo>
                <a:lnTo>
                  <a:pt x="12" y="168"/>
                </a:lnTo>
                <a:close/>
                <a:moveTo>
                  <a:pt x="12" y="192"/>
                </a:moveTo>
                <a:lnTo>
                  <a:pt x="12" y="204"/>
                </a:lnTo>
                <a:lnTo>
                  <a:pt x="0" y="204"/>
                </a:lnTo>
                <a:lnTo>
                  <a:pt x="0" y="192"/>
                </a:lnTo>
                <a:lnTo>
                  <a:pt x="12" y="192"/>
                </a:lnTo>
                <a:close/>
                <a:moveTo>
                  <a:pt x="12" y="216"/>
                </a:moveTo>
                <a:lnTo>
                  <a:pt x="12" y="228"/>
                </a:lnTo>
                <a:lnTo>
                  <a:pt x="0" y="228"/>
                </a:lnTo>
                <a:lnTo>
                  <a:pt x="0" y="216"/>
                </a:lnTo>
                <a:lnTo>
                  <a:pt x="12" y="216"/>
                </a:lnTo>
                <a:close/>
                <a:moveTo>
                  <a:pt x="12" y="240"/>
                </a:moveTo>
                <a:lnTo>
                  <a:pt x="12" y="252"/>
                </a:lnTo>
                <a:lnTo>
                  <a:pt x="0" y="252"/>
                </a:lnTo>
                <a:lnTo>
                  <a:pt x="0" y="240"/>
                </a:lnTo>
                <a:lnTo>
                  <a:pt x="12" y="240"/>
                </a:lnTo>
                <a:close/>
                <a:moveTo>
                  <a:pt x="12" y="264"/>
                </a:moveTo>
                <a:lnTo>
                  <a:pt x="12" y="276"/>
                </a:lnTo>
                <a:lnTo>
                  <a:pt x="0" y="276"/>
                </a:lnTo>
                <a:lnTo>
                  <a:pt x="0" y="264"/>
                </a:lnTo>
                <a:lnTo>
                  <a:pt x="12" y="264"/>
                </a:lnTo>
                <a:close/>
                <a:moveTo>
                  <a:pt x="12" y="288"/>
                </a:moveTo>
                <a:lnTo>
                  <a:pt x="12" y="300"/>
                </a:lnTo>
                <a:lnTo>
                  <a:pt x="0" y="300"/>
                </a:lnTo>
                <a:lnTo>
                  <a:pt x="0" y="288"/>
                </a:lnTo>
                <a:lnTo>
                  <a:pt x="12" y="288"/>
                </a:lnTo>
                <a:close/>
                <a:moveTo>
                  <a:pt x="12" y="312"/>
                </a:moveTo>
                <a:lnTo>
                  <a:pt x="12" y="324"/>
                </a:lnTo>
                <a:lnTo>
                  <a:pt x="0" y="324"/>
                </a:lnTo>
                <a:lnTo>
                  <a:pt x="0" y="312"/>
                </a:lnTo>
                <a:lnTo>
                  <a:pt x="12" y="312"/>
                </a:lnTo>
                <a:close/>
                <a:moveTo>
                  <a:pt x="12" y="336"/>
                </a:moveTo>
                <a:lnTo>
                  <a:pt x="12" y="348"/>
                </a:lnTo>
                <a:lnTo>
                  <a:pt x="0" y="348"/>
                </a:lnTo>
                <a:lnTo>
                  <a:pt x="0" y="336"/>
                </a:lnTo>
                <a:lnTo>
                  <a:pt x="12" y="336"/>
                </a:lnTo>
                <a:close/>
                <a:moveTo>
                  <a:pt x="12" y="360"/>
                </a:moveTo>
                <a:lnTo>
                  <a:pt x="12" y="372"/>
                </a:lnTo>
                <a:lnTo>
                  <a:pt x="0" y="372"/>
                </a:lnTo>
                <a:lnTo>
                  <a:pt x="0" y="360"/>
                </a:lnTo>
                <a:lnTo>
                  <a:pt x="12" y="360"/>
                </a:lnTo>
                <a:close/>
                <a:moveTo>
                  <a:pt x="12" y="384"/>
                </a:moveTo>
                <a:lnTo>
                  <a:pt x="12" y="396"/>
                </a:lnTo>
                <a:lnTo>
                  <a:pt x="0" y="396"/>
                </a:lnTo>
                <a:lnTo>
                  <a:pt x="0" y="384"/>
                </a:lnTo>
                <a:lnTo>
                  <a:pt x="12" y="384"/>
                </a:lnTo>
                <a:close/>
                <a:moveTo>
                  <a:pt x="12" y="408"/>
                </a:moveTo>
                <a:lnTo>
                  <a:pt x="12" y="421"/>
                </a:lnTo>
                <a:lnTo>
                  <a:pt x="0" y="421"/>
                </a:lnTo>
                <a:lnTo>
                  <a:pt x="0" y="408"/>
                </a:lnTo>
                <a:lnTo>
                  <a:pt x="12" y="408"/>
                </a:lnTo>
                <a:close/>
                <a:moveTo>
                  <a:pt x="12" y="432"/>
                </a:moveTo>
                <a:lnTo>
                  <a:pt x="12" y="445"/>
                </a:lnTo>
                <a:lnTo>
                  <a:pt x="0" y="445"/>
                </a:lnTo>
                <a:lnTo>
                  <a:pt x="0" y="432"/>
                </a:lnTo>
                <a:lnTo>
                  <a:pt x="12" y="432"/>
                </a:lnTo>
                <a:close/>
                <a:moveTo>
                  <a:pt x="12" y="457"/>
                </a:moveTo>
                <a:lnTo>
                  <a:pt x="12" y="468"/>
                </a:lnTo>
                <a:lnTo>
                  <a:pt x="0" y="468"/>
                </a:lnTo>
                <a:lnTo>
                  <a:pt x="0" y="457"/>
                </a:lnTo>
                <a:lnTo>
                  <a:pt x="12" y="457"/>
                </a:lnTo>
                <a:close/>
                <a:moveTo>
                  <a:pt x="12" y="481"/>
                </a:moveTo>
                <a:lnTo>
                  <a:pt x="12" y="493"/>
                </a:lnTo>
                <a:lnTo>
                  <a:pt x="0" y="493"/>
                </a:lnTo>
                <a:lnTo>
                  <a:pt x="0" y="481"/>
                </a:lnTo>
                <a:lnTo>
                  <a:pt x="12" y="481"/>
                </a:lnTo>
                <a:close/>
                <a:moveTo>
                  <a:pt x="12" y="505"/>
                </a:moveTo>
                <a:lnTo>
                  <a:pt x="12" y="517"/>
                </a:lnTo>
                <a:lnTo>
                  <a:pt x="0" y="517"/>
                </a:lnTo>
                <a:lnTo>
                  <a:pt x="0" y="505"/>
                </a:lnTo>
                <a:lnTo>
                  <a:pt x="12" y="505"/>
                </a:lnTo>
                <a:close/>
                <a:moveTo>
                  <a:pt x="12" y="529"/>
                </a:moveTo>
                <a:lnTo>
                  <a:pt x="12" y="541"/>
                </a:lnTo>
                <a:lnTo>
                  <a:pt x="0" y="541"/>
                </a:lnTo>
                <a:lnTo>
                  <a:pt x="0" y="529"/>
                </a:lnTo>
                <a:lnTo>
                  <a:pt x="12" y="529"/>
                </a:lnTo>
                <a:close/>
                <a:moveTo>
                  <a:pt x="12" y="553"/>
                </a:moveTo>
                <a:lnTo>
                  <a:pt x="12" y="565"/>
                </a:lnTo>
                <a:lnTo>
                  <a:pt x="0" y="565"/>
                </a:lnTo>
                <a:lnTo>
                  <a:pt x="0" y="553"/>
                </a:lnTo>
                <a:lnTo>
                  <a:pt x="12" y="553"/>
                </a:lnTo>
                <a:close/>
                <a:moveTo>
                  <a:pt x="12" y="577"/>
                </a:moveTo>
                <a:lnTo>
                  <a:pt x="12" y="589"/>
                </a:lnTo>
                <a:lnTo>
                  <a:pt x="0" y="589"/>
                </a:lnTo>
                <a:lnTo>
                  <a:pt x="0" y="577"/>
                </a:lnTo>
                <a:lnTo>
                  <a:pt x="12" y="577"/>
                </a:lnTo>
                <a:close/>
                <a:moveTo>
                  <a:pt x="12" y="601"/>
                </a:moveTo>
                <a:lnTo>
                  <a:pt x="12" y="613"/>
                </a:lnTo>
                <a:lnTo>
                  <a:pt x="0" y="613"/>
                </a:lnTo>
                <a:lnTo>
                  <a:pt x="0" y="601"/>
                </a:lnTo>
                <a:lnTo>
                  <a:pt x="12" y="601"/>
                </a:lnTo>
                <a:close/>
                <a:moveTo>
                  <a:pt x="12" y="625"/>
                </a:moveTo>
                <a:lnTo>
                  <a:pt x="12" y="637"/>
                </a:lnTo>
                <a:lnTo>
                  <a:pt x="0" y="637"/>
                </a:lnTo>
                <a:lnTo>
                  <a:pt x="0" y="625"/>
                </a:lnTo>
                <a:lnTo>
                  <a:pt x="12" y="625"/>
                </a:lnTo>
                <a:close/>
                <a:moveTo>
                  <a:pt x="12" y="649"/>
                </a:moveTo>
                <a:lnTo>
                  <a:pt x="12" y="661"/>
                </a:lnTo>
                <a:lnTo>
                  <a:pt x="0" y="661"/>
                </a:lnTo>
                <a:lnTo>
                  <a:pt x="0" y="649"/>
                </a:lnTo>
                <a:lnTo>
                  <a:pt x="12" y="649"/>
                </a:lnTo>
                <a:close/>
                <a:moveTo>
                  <a:pt x="12" y="673"/>
                </a:moveTo>
                <a:lnTo>
                  <a:pt x="12" y="685"/>
                </a:lnTo>
                <a:lnTo>
                  <a:pt x="0" y="685"/>
                </a:lnTo>
                <a:lnTo>
                  <a:pt x="0" y="673"/>
                </a:lnTo>
                <a:lnTo>
                  <a:pt x="12" y="673"/>
                </a:lnTo>
                <a:close/>
                <a:moveTo>
                  <a:pt x="12" y="697"/>
                </a:moveTo>
                <a:lnTo>
                  <a:pt x="12" y="709"/>
                </a:lnTo>
                <a:lnTo>
                  <a:pt x="0" y="709"/>
                </a:lnTo>
                <a:lnTo>
                  <a:pt x="0" y="697"/>
                </a:lnTo>
                <a:lnTo>
                  <a:pt x="12" y="697"/>
                </a:lnTo>
                <a:close/>
                <a:moveTo>
                  <a:pt x="12" y="721"/>
                </a:moveTo>
                <a:lnTo>
                  <a:pt x="12" y="733"/>
                </a:lnTo>
                <a:lnTo>
                  <a:pt x="0" y="733"/>
                </a:lnTo>
                <a:lnTo>
                  <a:pt x="0" y="721"/>
                </a:lnTo>
                <a:lnTo>
                  <a:pt x="12" y="721"/>
                </a:lnTo>
                <a:close/>
                <a:moveTo>
                  <a:pt x="12" y="745"/>
                </a:moveTo>
                <a:lnTo>
                  <a:pt x="12" y="757"/>
                </a:lnTo>
                <a:lnTo>
                  <a:pt x="0" y="757"/>
                </a:lnTo>
                <a:lnTo>
                  <a:pt x="0" y="745"/>
                </a:lnTo>
                <a:lnTo>
                  <a:pt x="12" y="745"/>
                </a:lnTo>
                <a:close/>
                <a:moveTo>
                  <a:pt x="12" y="769"/>
                </a:moveTo>
                <a:lnTo>
                  <a:pt x="12" y="781"/>
                </a:lnTo>
                <a:lnTo>
                  <a:pt x="0" y="781"/>
                </a:lnTo>
                <a:lnTo>
                  <a:pt x="0" y="769"/>
                </a:lnTo>
                <a:lnTo>
                  <a:pt x="12" y="769"/>
                </a:lnTo>
                <a:close/>
                <a:moveTo>
                  <a:pt x="12" y="793"/>
                </a:moveTo>
                <a:lnTo>
                  <a:pt x="12" y="805"/>
                </a:lnTo>
                <a:lnTo>
                  <a:pt x="0" y="805"/>
                </a:lnTo>
                <a:lnTo>
                  <a:pt x="0" y="793"/>
                </a:lnTo>
                <a:lnTo>
                  <a:pt x="12" y="793"/>
                </a:lnTo>
                <a:close/>
                <a:moveTo>
                  <a:pt x="12" y="817"/>
                </a:moveTo>
                <a:lnTo>
                  <a:pt x="12" y="829"/>
                </a:lnTo>
                <a:lnTo>
                  <a:pt x="0" y="829"/>
                </a:lnTo>
                <a:lnTo>
                  <a:pt x="0" y="817"/>
                </a:lnTo>
                <a:lnTo>
                  <a:pt x="12" y="817"/>
                </a:lnTo>
                <a:close/>
                <a:moveTo>
                  <a:pt x="12" y="841"/>
                </a:moveTo>
                <a:lnTo>
                  <a:pt x="12" y="853"/>
                </a:lnTo>
                <a:lnTo>
                  <a:pt x="0" y="853"/>
                </a:lnTo>
                <a:lnTo>
                  <a:pt x="0" y="841"/>
                </a:lnTo>
                <a:lnTo>
                  <a:pt x="12" y="841"/>
                </a:lnTo>
                <a:close/>
                <a:moveTo>
                  <a:pt x="12" y="865"/>
                </a:moveTo>
                <a:lnTo>
                  <a:pt x="12" y="877"/>
                </a:lnTo>
                <a:lnTo>
                  <a:pt x="0" y="877"/>
                </a:lnTo>
                <a:lnTo>
                  <a:pt x="0" y="865"/>
                </a:lnTo>
                <a:lnTo>
                  <a:pt x="12" y="865"/>
                </a:lnTo>
                <a:close/>
                <a:moveTo>
                  <a:pt x="12" y="889"/>
                </a:moveTo>
                <a:lnTo>
                  <a:pt x="12" y="901"/>
                </a:lnTo>
                <a:lnTo>
                  <a:pt x="0" y="901"/>
                </a:lnTo>
                <a:lnTo>
                  <a:pt x="0" y="889"/>
                </a:lnTo>
                <a:lnTo>
                  <a:pt x="12" y="889"/>
                </a:lnTo>
                <a:close/>
                <a:moveTo>
                  <a:pt x="12" y="913"/>
                </a:moveTo>
                <a:lnTo>
                  <a:pt x="12" y="925"/>
                </a:lnTo>
                <a:lnTo>
                  <a:pt x="0" y="925"/>
                </a:lnTo>
                <a:lnTo>
                  <a:pt x="0" y="913"/>
                </a:lnTo>
                <a:lnTo>
                  <a:pt x="12" y="913"/>
                </a:lnTo>
                <a:close/>
                <a:moveTo>
                  <a:pt x="12" y="937"/>
                </a:moveTo>
                <a:lnTo>
                  <a:pt x="12" y="949"/>
                </a:lnTo>
                <a:lnTo>
                  <a:pt x="0" y="949"/>
                </a:lnTo>
                <a:lnTo>
                  <a:pt x="0" y="937"/>
                </a:lnTo>
                <a:lnTo>
                  <a:pt x="12" y="937"/>
                </a:lnTo>
                <a:close/>
                <a:moveTo>
                  <a:pt x="12" y="962"/>
                </a:moveTo>
                <a:lnTo>
                  <a:pt x="12" y="973"/>
                </a:lnTo>
                <a:lnTo>
                  <a:pt x="0" y="973"/>
                </a:lnTo>
                <a:lnTo>
                  <a:pt x="0" y="962"/>
                </a:lnTo>
                <a:lnTo>
                  <a:pt x="12" y="962"/>
                </a:lnTo>
                <a:close/>
                <a:moveTo>
                  <a:pt x="12" y="986"/>
                </a:moveTo>
                <a:lnTo>
                  <a:pt x="12" y="998"/>
                </a:lnTo>
                <a:lnTo>
                  <a:pt x="0" y="998"/>
                </a:lnTo>
                <a:lnTo>
                  <a:pt x="0" y="986"/>
                </a:lnTo>
                <a:lnTo>
                  <a:pt x="12" y="986"/>
                </a:lnTo>
                <a:close/>
                <a:moveTo>
                  <a:pt x="12" y="1009"/>
                </a:moveTo>
                <a:lnTo>
                  <a:pt x="12" y="1022"/>
                </a:lnTo>
                <a:lnTo>
                  <a:pt x="0" y="1022"/>
                </a:lnTo>
                <a:lnTo>
                  <a:pt x="0" y="1009"/>
                </a:lnTo>
                <a:lnTo>
                  <a:pt x="12" y="1009"/>
                </a:lnTo>
                <a:close/>
                <a:moveTo>
                  <a:pt x="12" y="1034"/>
                </a:moveTo>
                <a:lnTo>
                  <a:pt x="12" y="1046"/>
                </a:lnTo>
                <a:lnTo>
                  <a:pt x="0" y="1046"/>
                </a:lnTo>
                <a:lnTo>
                  <a:pt x="0" y="1034"/>
                </a:lnTo>
                <a:lnTo>
                  <a:pt x="12" y="1034"/>
                </a:lnTo>
                <a:close/>
                <a:moveTo>
                  <a:pt x="12" y="1058"/>
                </a:moveTo>
                <a:lnTo>
                  <a:pt x="12" y="1070"/>
                </a:lnTo>
                <a:lnTo>
                  <a:pt x="0" y="1070"/>
                </a:lnTo>
                <a:lnTo>
                  <a:pt x="0" y="1058"/>
                </a:lnTo>
                <a:lnTo>
                  <a:pt x="12" y="1058"/>
                </a:lnTo>
                <a:close/>
                <a:moveTo>
                  <a:pt x="12" y="1082"/>
                </a:moveTo>
                <a:lnTo>
                  <a:pt x="12" y="1094"/>
                </a:lnTo>
                <a:lnTo>
                  <a:pt x="0" y="1094"/>
                </a:lnTo>
                <a:lnTo>
                  <a:pt x="0" y="1082"/>
                </a:lnTo>
                <a:lnTo>
                  <a:pt x="12" y="1082"/>
                </a:lnTo>
                <a:close/>
                <a:moveTo>
                  <a:pt x="12" y="1106"/>
                </a:moveTo>
                <a:lnTo>
                  <a:pt x="12" y="1118"/>
                </a:lnTo>
                <a:lnTo>
                  <a:pt x="0" y="1118"/>
                </a:lnTo>
                <a:lnTo>
                  <a:pt x="0" y="1106"/>
                </a:lnTo>
                <a:lnTo>
                  <a:pt x="12" y="1106"/>
                </a:lnTo>
                <a:close/>
                <a:moveTo>
                  <a:pt x="12" y="1130"/>
                </a:moveTo>
                <a:lnTo>
                  <a:pt x="12" y="1142"/>
                </a:lnTo>
                <a:lnTo>
                  <a:pt x="0" y="1142"/>
                </a:lnTo>
                <a:lnTo>
                  <a:pt x="0" y="1130"/>
                </a:lnTo>
                <a:lnTo>
                  <a:pt x="12" y="1130"/>
                </a:lnTo>
                <a:close/>
                <a:moveTo>
                  <a:pt x="12" y="1154"/>
                </a:moveTo>
                <a:lnTo>
                  <a:pt x="12" y="1166"/>
                </a:lnTo>
                <a:lnTo>
                  <a:pt x="0" y="1166"/>
                </a:lnTo>
                <a:lnTo>
                  <a:pt x="0" y="1154"/>
                </a:lnTo>
                <a:lnTo>
                  <a:pt x="12" y="1154"/>
                </a:lnTo>
                <a:close/>
                <a:moveTo>
                  <a:pt x="12" y="1178"/>
                </a:moveTo>
                <a:lnTo>
                  <a:pt x="12" y="1190"/>
                </a:lnTo>
                <a:lnTo>
                  <a:pt x="0" y="1190"/>
                </a:lnTo>
                <a:lnTo>
                  <a:pt x="0" y="1178"/>
                </a:lnTo>
                <a:lnTo>
                  <a:pt x="12" y="1178"/>
                </a:lnTo>
                <a:close/>
                <a:moveTo>
                  <a:pt x="12" y="1202"/>
                </a:moveTo>
                <a:lnTo>
                  <a:pt x="12" y="1214"/>
                </a:lnTo>
                <a:lnTo>
                  <a:pt x="0" y="1214"/>
                </a:lnTo>
                <a:lnTo>
                  <a:pt x="0" y="1202"/>
                </a:lnTo>
                <a:lnTo>
                  <a:pt x="12" y="1202"/>
                </a:lnTo>
                <a:close/>
                <a:moveTo>
                  <a:pt x="12" y="1226"/>
                </a:moveTo>
                <a:lnTo>
                  <a:pt x="12" y="1238"/>
                </a:lnTo>
                <a:lnTo>
                  <a:pt x="0" y="1238"/>
                </a:lnTo>
                <a:lnTo>
                  <a:pt x="0" y="1226"/>
                </a:lnTo>
                <a:lnTo>
                  <a:pt x="12" y="1226"/>
                </a:lnTo>
                <a:close/>
                <a:moveTo>
                  <a:pt x="12" y="1250"/>
                </a:moveTo>
                <a:lnTo>
                  <a:pt x="12" y="1262"/>
                </a:lnTo>
                <a:lnTo>
                  <a:pt x="0" y="1262"/>
                </a:lnTo>
                <a:lnTo>
                  <a:pt x="0" y="1250"/>
                </a:lnTo>
                <a:lnTo>
                  <a:pt x="12" y="1250"/>
                </a:lnTo>
                <a:close/>
                <a:moveTo>
                  <a:pt x="12" y="1274"/>
                </a:moveTo>
                <a:lnTo>
                  <a:pt x="12" y="1286"/>
                </a:lnTo>
                <a:lnTo>
                  <a:pt x="0" y="1286"/>
                </a:lnTo>
                <a:lnTo>
                  <a:pt x="0" y="1274"/>
                </a:lnTo>
                <a:lnTo>
                  <a:pt x="12" y="1274"/>
                </a:lnTo>
                <a:close/>
                <a:moveTo>
                  <a:pt x="12" y="1298"/>
                </a:moveTo>
                <a:lnTo>
                  <a:pt x="12" y="1310"/>
                </a:lnTo>
                <a:lnTo>
                  <a:pt x="0" y="1310"/>
                </a:lnTo>
                <a:lnTo>
                  <a:pt x="0" y="1298"/>
                </a:lnTo>
                <a:lnTo>
                  <a:pt x="12" y="1298"/>
                </a:lnTo>
                <a:close/>
                <a:moveTo>
                  <a:pt x="12" y="1322"/>
                </a:moveTo>
                <a:lnTo>
                  <a:pt x="12" y="1334"/>
                </a:lnTo>
                <a:lnTo>
                  <a:pt x="0" y="1334"/>
                </a:lnTo>
                <a:lnTo>
                  <a:pt x="0" y="1322"/>
                </a:lnTo>
                <a:lnTo>
                  <a:pt x="12" y="1322"/>
                </a:lnTo>
                <a:close/>
                <a:moveTo>
                  <a:pt x="12" y="1346"/>
                </a:moveTo>
                <a:lnTo>
                  <a:pt x="12" y="1358"/>
                </a:lnTo>
                <a:lnTo>
                  <a:pt x="0" y="1358"/>
                </a:lnTo>
                <a:lnTo>
                  <a:pt x="0" y="1346"/>
                </a:lnTo>
                <a:lnTo>
                  <a:pt x="12" y="1346"/>
                </a:lnTo>
                <a:close/>
                <a:moveTo>
                  <a:pt x="12" y="1370"/>
                </a:moveTo>
                <a:lnTo>
                  <a:pt x="12" y="1382"/>
                </a:lnTo>
                <a:lnTo>
                  <a:pt x="0" y="1382"/>
                </a:lnTo>
                <a:lnTo>
                  <a:pt x="0" y="1370"/>
                </a:lnTo>
                <a:lnTo>
                  <a:pt x="12" y="1370"/>
                </a:lnTo>
                <a:close/>
                <a:moveTo>
                  <a:pt x="12" y="1394"/>
                </a:moveTo>
                <a:lnTo>
                  <a:pt x="12" y="1406"/>
                </a:lnTo>
                <a:lnTo>
                  <a:pt x="0" y="1406"/>
                </a:lnTo>
                <a:lnTo>
                  <a:pt x="0" y="1394"/>
                </a:lnTo>
                <a:lnTo>
                  <a:pt x="12" y="1394"/>
                </a:lnTo>
                <a:close/>
                <a:moveTo>
                  <a:pt x="12" y="1418"/>
                </a:moveTo>
                <a:lnTo>
                  <a:pt x="12" y="1430"/>
                </a:lnTo>
                <a:lnTo>
                  <a:pt x="0" y="1430"/>
                </a:lnTo>
                <a:lnTo>
                  <a:pt x="0" y="1418"/>
                </a:lnTo>
                <a:lnTo>
                  <a:pt x="12" y="1418"/>
                </a:lnTo>
                <a:close/>
                <a:moveTo>
                  <a:pt x="12" y="1442"/>
                </a:moveTo>
                <a:lnTo>
                  <a:pt x="12" y="1454"/>
                </a:lnTo>
                <a:lnTo>
                  <a:pt x="0" y="1454"/>
                </a:lnTo>
                <a:lnTo>
                  <a:pt x="0" y="1442"/>
                </a:lnTo>
                <a:lnTo>
                  <a:pt x="12" y="1442"/>
                </a:lnTo>
                <a:close/>
                <a:moveTo>
                  <a:pt x="12" y="1467"/>
                </a:moveTo>
                <a:lnTo>
                  <a:pt x="12" y="1478"/>
                </a:lnTo>
                <a:lnTo>
                  <a:pt x="0" y="1478"/>
                </a:lnTo>
                <a:lnTo>
                  <a:pt x="0" y="1467"/>
                </a:lnTo>
                <a:lnTo>
                  <a:pt x="12" y="1467"/>
                </a:lnTo>
                <a:close/>
                <a:moveTo>
                  <a:pt x="12" y="1490"/>
                </a:moveTo>
                <a:lnTo>
                  <a:pt x="12" y="1503"/>
                </a:lnTo>
                <a:lnTo>
                  <a:pt x="0" y="1503"/>
                </a:lnTo>
                <a:lnTo>
                  <a:pt x="0" y="1490"/>
                </a:lnTo>
                <a:lnTo>
                  <a:pt x="12" y="1490"/>
                </a:lnTo>
                <a:close/>
                <a:moveTo>
                  <a:pt x="12" y="1514"/>
                </a:moveTo>
                <a:lnTo>
                  <a:pt x="12" y="1527"/>
                </a:lnTo>
                <a:lnTo>
                  <a:pt x="0" y="1527"/>
                </a:lnTo>
                <a:lnTo>
                  <a:pt x="0" y="1514"/>
                </a:lnTo>
                <a:lnTo>
                  <a:pt x="12" y="1514"/>
                </a:lnTo>
                <a:close/>
                <a:moveTo>
                  <a:pt x="12" y="1539"/>
                </a:moveTo>
                <a:lnTo>
                  <a:pt x="12" y="1550"/>
                </a:lnTo>
                <a:lnTo>
                  <a:pt x="0" y="1550"/>
                </a:lnTo>
                <a:lnTo>
                  <a:pt x="0" y="1539"/>
                </a:lnTo>
                <a:lnTo>
                  <a:pt x="12" y="1539"/>
                </a:lnTo>
                <a:close/>
                <a:moveTo>
                  <a:pt x="12" y="1563"/>
                </a:moveTo>
                <a:lnTo>
                  <a:pt x="12" y="1575"/>
                </a:lnTo>
                <a:lnTo>
                  <a:pt x="0" y="1575"/>
                </a:lnTo>
                <a:lnTo>
                  <a:pt x="0" y="1563"/>
                </a:lnTo>
                <a:lnTo>
                  <a:pt x="12" y="1563"/>
                </a:lnTo>
                <a:close/>
                <a:moveTo>
                  <a:pt x="12" y="1587"/>
                </a:moveTo>
                <a:lnTo>
                  <a:pt x="12" y="1599"/>
                </a:lnTo>
                <a:lnTo>
                  <a:pt x="0" y="1599"/>
                </a:lnTo>
                <a:lnTo>
                  <a:pt x="0" y="1587"/>
                </a:lnTo>
                <a:lnTo>
                  <a:pt x="12" y="1587"/>
                </a:lnTo>
                <a:close/>
                <a:moveTo>
                  <a:pt x="12" y="1611"/>
                </a:moveTo>
                <a:lnTo>
                  <a:pt x="12" y="1623"/>
                </a:lnTo>
                <a:lnTo>
                  <a:pt x="0" y="1623"/>
                </a:lnTo>
                <a:lnTo>
                  <a:pt x="0" y="1611"/>
                </a:lnTo>
                <a:lnTo>
                  <a:pt x="12" y="1611"/>
                </a:lnTo>
                <a:close/>
                <a:moveTo>
                  <a:pt x="12" y="1635"/>
                </a:moveTo>
                <a:lnTo>
                  <a:pt x="12" y="1647"/>
                </a:lnTo>
                <a:lnTo>
                  <a:pt x="0" y="1647"/>
                </a:lnTo>
                <a:lnTo>
                  <a:pt x="0" y="1635"/>
                </a:lnTo>
                <a:lnTo>
                  <a:pt x="12" y="1635"/>
                </a:lnTo>
                <a:close/>
                <a:moveTo>
                  <a:pt x="12" y="1659"/>
                </a:moveTo>
                <a:lnTo>
                  <a:pt x="12" y="1671"/>
                </a:lnTo>
                <a:lnTo>
                  <a:pt x="0" y="1671"/>
                </a:lnTo>
                <a:lnTo>
                  <a:pt x="0" y="1659"/>
                </a:lnTo>
                <a:lnTo>
                  <a:pt x="12" y="1659"/>
                </a:lnTo>
                <a:close/>
                <a:moveTo>
                  <a:pt x="12" y="1683"/>
                </a:moveTo>
                <a:lnTo>
                  <a:pt x="12" y="1695"/>
                </a:lnTo>
                <a:lnTo>
                  <a:pt x="0" y="1695"/>
                </a:lnTo>
                <a:lnTo>
                  <a:pt x="0" y="1683"/>
                </a:lnTo>
                <a:lnTo>
                  <a:pt x="12" y="1683"/>
                </a:lnTo>
                <a:close/>
                <a:moveTo>
                  <a:pt x="12" y="1707"/>
                </a:moveTo>
                <a:lnTo>
                  <a:pt x="12" y="1719"/>
                </a:lnTo>
                <a:lnTo>
                  <a:pt x="0" y="1719"/>
                </a:lnTo>
                <a:lnTo>
                  <a:pt x="0" y="1707"/>
                </a:lnTo>
                <a:lnTo>
                  <a:pt x="12" y="1707"/>
                </a:lnTo>
                <a:close/>
                <a:moveTo>
                  <a:pt x="12" y="1731"/>
                </a:moveTo>
                <a:lnTo>
                  <a:pt x="12" y="1743"/>
                </a:lnTo>
                <a:lnTo>
                  <a:pt x="0" y="1743"/>
                </a:lnTo>
                <a:lnTo>
                  <a:pt x="0" y="1731"/>
                </a:lnTo>
                <a:lnTo>
                  <a:pt x="12" y="1731"/>
                </a:lnTo>
                <a:close/>
                <a:moveTo>
                  <a:pt x="12" y="1755"/>
                </a:moveTo>
                <a:lnTo>
                  <a:pt x="12" y="1767"/>
                </a:lnTo>
                <a:lnTo>
                  <a:pt x="0" y="1767"/>
                </a:lnTo>
                <a:lnTo>
                  <a:pt x="0" y="1755"/>
                </a:lnTo>
                <a:lnTo>
                  <a:pt x="12" y="1755"/>
                </a:lnTo>
                <a:close/>
                <a:moveTo>
                  <a:pt x="12" y="1779"/>
                </a:moveTo>
                <a:lnTo>
                  <a:pt x="12" y="1791"/>
                </a:lnTo>
                <a:lnTo>
                  <a:pt x="0" y="1791"/>
                </a:lnTo>
                <a:lnTo>
                  <a:pt x="0" y="1779"/>
                </a:lnTo>
                <a:lnTo>
                  <a:pt x="12" y="1779"/>
                </a:lnTo>
                <a:close/>
                <a:moveTo>
                  <a:pt x="12" y="1803"/>
                </a:moveTo>
                <a:lnTo>
                  <a:pt x="12" y="1815"/>
                </a:lnTo>
                <a:lnTo>
                  <a:pt x="0" y="1815"/>
                </a:lnTo>
                <a:lnTo>
                  <a:pt x="0" y="1803"/>
                </a:lnTo>
                <a:lnTo>
                  <a:pt x="12" y="1803"/>
                </a:lnTo>
                <a:close/>
                <a:moveTo>
                  <a:pt x="12" y="1827"/>
                </a:moveTo>
                <a:lnTo>
                  <a:pt x="12" y="1839"/>
                </a:lnTo>
                <a:lnTo>
                  <a:pt x="0" y="1839"/>
                </a:lnTo>
                <a:lnTo>
                  <a:pt x="0" y="1827"/>
                </a:lnTo>
                <a:lnTo>
                  <a:pt x="12" y="1827"/>
                </a:lnTo>
                <a:close/>
                <a:moveTo>
                  <a:pt x="12" y="1851"/>
                </a:moveTo>
                <a:lnTo>
                  <a:pt x="12" y="1863"/>
                </a:lnTo>
                <a:lnTo>
                  <a:pt x="0" y="1863"/>
                </a:lnTo>
                <a:lnTo>
                  <a:pt x="0" y="1851"/>
                </a:lnTo>
                <a:lnTo>
                  <a:pt x="12" y="1851"/>
                </a:lnTo>
                <a:close/>
                <a:moveTo>
                  <a:pt x="12" y="1875"/>
                </a:moveTo>
                <a:lnTo>
                  <a:pt x="12" y="1887"/>
                </a:lnTo>
                <a:lnTo>
                  <a:pt x="0" y="1887"/>
                </a:lnTo>
                <a:lnTo>
                  <a:pt x="0" y="1875"/>
                </a:lnTo>
                <a:lnTo>
                  <a:pt x="12" y="1875"/>
                </a:lnTo>
                <a:close/>
                <a:moveTo>
                  <a:pt x="12" y="1899"/>
                </a:moveTo>
                <a:lnTo>
                  <a:pt x="12" y="1911"/>
                </a:lnTo>
                <a:lnTo>
                  <a:pt x="0" y="1911"/>
                </a:lnTo>
                <a:lnTo>
                  <a:pt x="0" y="1899"/>
                </a:lnTo>
                <a:lnTo>
                  <a:pt x="12" y="1899"/>
                </a:lnTo>
                <a:close/>
                <a:moveTo>
                  <a:pt x="12" y="1923"/>
                </a:moveTo>
                <a:lnTo>
                  <a:pt x="12" y="1935"/>
                </a:lnTo>
                <a:lnTo>
                  <a:pt x="0" y="1935"/>
                </a:lnTo>
                <a:lnTo>
                  <a:pt x="0" y="1923"/>
                </a:lnTo>
                <a:lnTo>
                  <a:pt x="12" y="1923"/>
                </a:lnTo>
                <a:close/>
                <a:moveTo>
                  <a:pt x="12" y="1947"/>
                </a:moveTo>
                <a:lnTo>
                  <a:pt x="12" y="1959"/>
                </a:lnTo>
                <a:lnTo>
                  <a:pt x="0" y="1959"/>
                </a:lnTo>
                <a:lnTo>
                  <a:pt x="0" y="1947"/>
                </a:lnTo>
                <a:lnTo>
                  <a:pt x="12" y="1947"/>
                </a:lnTo>
                <a:close/>
                <a:moveTo>
                  <a:pt x="12" y="1971"/>
                </a:moveTo>
                <a:lnTo>
                  <a:pt x="12" y="1983"/>
                </a:lnTo>
                <a:lnTo>
                  <a:pt x="0" y="1983"/>
                </a:lnTo>
                <a:lnTo>
                  <a:pt x="0" y="1971"/>
                </a:lnTo>
                <a:lnTo>
                  <a:pt x="12" y="1971"/>
                </a:lnTo>
                <a:close/>
                <a:moveTo>
                  <a:pt x="12" y="1995"/>
                </a:moveTo>
                <a:lnTo>
                  <a:pt x="12" y="2008"/>
                </a:lnTo>
                <a:lnTo>
                  <a:pt x="0" y="2008"/>
                </a:lnTo>
                <a:lnTo>
                  <a:pt x="0" y="1995"/>
                </a:lnTo>
                <a:lnTo>
                  <a:pt x="12" y="1995"/>
                </a:lnTo>
                <a:close/>
                <a:moveTo>
                  <a:pt x="12" y="2019"/>
                </a:moveTo>
                <a:lnTo>
                  <a:pt x="12" y="2031"/>
                </a:lnTo>
                <a:lnTo>
                  <a:pt x="0" y="2031"/>
                </a:lnTo>
                <a:lnTo>
                  <a:pt x="0" y="2019"/>
                </a:lnTo>
                <a:lnTo>
                  <a:pt x="12" y="2019"/>
                </a:lnTo>
                <a:close/>
                <a:moveTo>
                  <a:pt x="12" y="2044"/>
                </a:moveTo>
                <a:lnTo>
                  <a:pt x="12" y="2055"/>
                </a:lnTo>
                <a:lnTo>
                  <a:pt x="0" y="2055"/>
                </a:lnTo>
                <a:lnTo>
                  <a:pt x="0" y="2044"/>
                </a:lnTo>
                <a:lnTo>
                  <a:pt x="12" y="2044"/>
                </a:lnTo>
                <a:close/>
                <a:moveTo>
                  <a:pt x="12" y="2068"/>
                </a:moveTo>
                <a:lnTo>
                  <a:pt x="12" y="2080"/>
                </a:lnTo>
                <a:lnTo>
                  <a:pt x="0" y="2080"/>
                </a:lnTo>
                <a:lnTo>
                  <a:pt x="0" y="2068"/>
                </a:lnTo>
                <a:lnTo>
                  <a:pt x="12" y="2068"/>
                </a:lnTo>
                <a:close/>
                <a:moveTo>
                  <a:pt x="12" y="2091"/>
                </a:moveTo>
                <a:lnTo>
                  <a:pt x="12" y="2104"/>
                </a:lnTo>
                <a:lnTo>
                  <a:pt x="0" y="2104"/>
                </a:lnTo>
                <a:lnTo>
                  <a:pt x="0" y="2091"/>
                </a:lnTo>
                <a:lnTo>
                  <a:pt x="12" y="2091"/>
                </a:lnTo>
                <a:close/>
                <a:moveTo>
                  <a:pt x="12" y="2116"/>
                </a:moveTo>
                <a:lnTo>
                  <a:pt x="12" y="2128"/>
                </a:lnTo>
                <a:lnTo>
                  <a:pt x="0" y="2128"/>
                </a:lnTo>
                <a:lnTo>
                  <a:pt x="0" y="2116"/>
                </a:lnTo>
                <a:lnTo>
                  <a:pt x="12" y="2116"/>
                </a:lnTo>
                <a:close/>
                <a:moveTo>
                  <a:pt x="12" y="2140"/>
                </a:moveTo>
                <a:lnTo>
                  <a:pt x="12" y="2152"/>
                </a:lnTo>
                <a:lnTo>
                  <a:pt x="0" y="2152"/>
                </a:lnTo>
                <a:lnTo>
                  <a:pt x="0" y="2140"/>
                </a:lnTo>
                <a:lnTo>
                  <a:pt x="12" y="2140"/>
                </a:lnTo>
                <a:close/>
                <a:moveTo>
                  <a:pt x="12" y="2164"/>
                </a:moveTo>
                <a:lnTo>
                  <a:pt x="12" y="2176"/>
                </a:lnTo>
                <a:lnTo>
                  <a:pt x="0" y="2176"/>
                </a:lnTo>
                <a:lnTo>
                  <a:pt x="0" y="2164"/>
                </a:lnTo>
                <a:lnTo>
                  <a:pt x="12" y="2164"/>
                </a:lnTo>
                <a:close/>
                <a:moveTo>
                  <a:pt x="12" y="2188"/>
                </a:moveTo>
                <a:lnTo>
                  <a:pt x="12" y="2200"/>
                </a:lnTo>
                <a:lnTo>
                  <a:pt x="0" y="2200"/>
                </a:lnTo>
                <a:lnTo>
                  <a:pt x="0" y="2188"/>
                </a:lnTo>
                <a:lnTo>
                  <a:pt x="12" y="2188"/>
                </a:lnTo>
                <a:close/>
                <a:moveTo>
                  <a:pt x="12" y="2212"/>
                </a:moveTo>
                <a:lnTo>
                  <a:pt x="12" y="2224"/>
                </a:lnTo>
                <a:lnTo>
                  <a:pt x="0" y="2224"/>
                </a:lnTo>
                <a:lnTo>
                  <a:pt x="0" y="2212"/>
                </a:lnTo>
                <a:lnTo>
                  <a:pt x="12" y="2212"/>
                </a:lnTo>
                <a:close/>
                <a:moveTo>
                  <a:pt x="12" y="2236"/>
                </a:moveTo>
                <a:lnTo>
                  <a:pt x="12" y="2248"/>
                </a:lnTo>
                <a:lnTo>
                  <a:pt x="0" y="2248"/>
                </a:lnTo>
                <a:lnTo>
                  <a:pt x="0" y="2236"/>
                </a:lnTo>
                <a:lnTo>
                  <a:pt x="12" y="2236"/>
                </a:lnTo>
                <a:close/>
                <a:moveTo>
                  <a:pt x="12" y="2260"/>
                </a:moveTo>
                <a:lnTo>
                  <a:pt x="12" y="2272"/>
                </a:lnTo>
                <a:lnTo>
                  <a:pt x="0" y="2272"/>
                </a:lnTo>
                <a:lnTo>
                  <a:pt x="0" y="2260"/>
                </a:lnTo>
                <a:lnTo>
                  <a:pt x="12" y="2260"/>
                </a:lnTo>
                <a:close/>
                <a:moveTo>
                  <a:pt x="12" y="2284"/>
                </a:moveTo>
                <a:lnTo>
                  <a:pt x="12" y="2296"/>
                </a:lnTo>
                <a:lnTo>
                  <a:pt x="0" y="2296"/>
                </a:lnTo>
                <a:lnTo>
                  <a:pt x="0" y="2284"/>
                </a:lnTo>
                <a:lnTo>
                  <a:pt x="12" y="2284"/>
                </a:lnTo>
                <a:close/>
                <a:moveTo>
                  <a:pt x="12" y="2308"/>
                </a:moveTo>
                <a:lnTo>
                  <a:pt x="12" y="2320"/>
                </a:lnTo>
                <a:lnTo>
                  <a:pt x="0" y="2320"/>
                </a:lnTo>
                <a:lnTo>
                  <a:pt x="0" y="2308"/>
                </a:lnTo>
                <a:lnTo>
                  <a:pt x="12" y="2308"/>
                </a:lnTo>
                <a:close/>
                <a:moveTo>
                  <a:pt x="12" y="2332"/>
                </a:moveTo>
                <a:lnTo>
                  <a:pt x="12" y="2344"/>
                </a:lnTo>
                <a:lnTo>
                  <a:pt x="0" y="2344"/>
                </a:lnTo>
                <a:lnTo>
                  <a:pt x="0" y="2332"/>
                </a:lnTo>
                <a:lnTo>
                  <a:pt x="12" y="2332"/>
                </a:lnTo>
                <a:close/>
                <a:moveTo>
                  <a:pt x="12" y="2356"/>
                </a:moveTo>
                <a:lnTo>
                  <a:pt x="12" y="2368"/>
                </a:lnTo>
                <a:lnTo>
                  <a:pt x="0" y="2368"/>
                </a:lnTo>
                <a:lnTo>
                  <a:pt x="0" y="2356"/>
                </a:lnTo>
                <a:lnTo>
                  <a:pt x="12" y="2356"/>
                </a:lnTo>
                <a:close/>
                <a:moveTo>
                  <a:pt x="12" y="2380"/>
                </a:moveTo>
                <a:lnTo>
                  <a:pt x="12" y="2392"/>
                </a:lnTo>
                <a:lnTo>
                  <a:pt x="0" y="2392"/>
                </a:lnTo>
                <a:lnTo>
                  <a:pt x="0" y="2380"/>
                </a:lnTo>
                <a:lnTo>
                  <a:pt x="12" y="2380"/>
                </a:lnTo>
                <a:close/>
                <a:moveTo>
                  <a:pt x="12" y="2404"/>
                </a:moveTo>
                <a:lnTo>
                  <a:pt x="12" y="2416"/>
                </a:lnTo>
                <a:lnTo>
                  <a:pt x="0" y="2416"/>
                </a:lnTo>
                <a:lnTo>
                  <a:pt x="0" y="2404"/>
                </a:lnTo>
                <a:lnTo>
                  <a:pt x="12" y="2404"/>
                </a:lnTo>
                <a:close/>
                <a:moveTo>
                  <a:pt x="12" y="2428"/>
                </a:moveTo>
                <a:lnTo>
                  <a:pt x="12" y="2440"/>
                </a:lnTo>
                <a:lnTo>
                  <a:pt x="0" y="2440"/>
                </a:lnTo>
                <a:lnTo>
                  <a:pt x="0" y="2428"/>
                </a:lnTo>
                <a:lnTo>
                  <a:pt x="12" y="2428"/>
                </a:lnTo>
                <a:close/>
                <a:moveTo>
                  <a:pt x="12" y="2452"/>
                </a:moveTo>
                <a:lnTo>
                  <a:pt x="12" y="2464"/>
                </a:lnTo>
                <a:lnTo>
                  <a:pt x="0" y="2464"/>
                </a:lnTo>
                <a:lnTo>
                  <a:pt x="0" y="2452"/>
                </a:lnTo>
                <a:lnTo>
                  <a:pt x="12" y="2452"/>
                </a:lnTo>
                <a:close/>
                <a:moveTo>
                  <a:pt x="12" y="2476"/>
                </a:moveTo>
                <a:lnTo>
                  <a:pt x="12" y="2488"/>
                </a:lnTo>
                <a:lnTo>
                  <a:pt x="0" y="2488"/>
                </a:lnTo>
                <a:lnTo>
                  <a:pt x="0" y="2476"/>
                </a:lnTo>
                <a:lnTo>
                  <a:pt x="12" y="2476"/>
                </a:lnTo>
                <a:close/>
                <a:moveTo>
                  <a:pt x="12" y="2500"/>
                </a:moveTo>
                <a:lnTo>
                  <a:pt x="12" y="2512"/>
                </a:lnTo>
                <a:lnTo>
                  <a:pt x="0" y="2512"/>
                </a:lnTo>
                <a:lnTo>
                  <a:pt x="0" y="2500"/>
                </a:lnTo>
                <a:lnTo>
                  <a:pt x="12" y="2500"/>
                </a:lnTo>
                <a:close/>
                <a:moveTo>
                  <a:pt x="12" y="2524"/>
                </a:moveTo>
                <a:lnTo>
                  <a:pt x="12" y="2536"/>
                </a:lnTo>
                <a:lnTo>
                  <a:pt x="0" y="2536"/>
                </a:lnTo>
                <a:lnTo>
                  <a:pt x="0" y="2524"/>
                </a:lnTo>
                <a:lnTo>
                  <a:pt x="12" y="2524"/>
                </a:lnTo>
                <a:close/>
                <a:moveTo>
                  <a:pt x="12" y="2549"/>
                </a:moveTo>
                <a:lnTo>
                  <a:pt x="12" y="2560"/>
                </a:lnTo>
                <a:lnTo>
                  <a:pt x="0" y="2560"/>
                </a:lnTo>
                <a:lnTo>
                  <a:pt x="0" y="2549"/>
                </a:lnTo>
                <a:lnTo>
                  <a:pt x="12" y="2549"/>
                </a:lnTo>
                <a:close/>
              </a:path>
            </a:pathLst>
          </a:custGeom>
          <a:solidFill>
            <a:srgbClr val="000000"/>
          </a:solidFill>
          <a:ln w="0" cap="flat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98" name="Rectangle 95">
            <a:extLst>
              <a:ext uri="{FF2B5EF4-FFF2-40B4-BE49-F238E27FC236}">
                <a16:creationId xmlns:a16="http://schemas.microsoft.com/office/drawing/2014/main" id="{01F1694A-0653-4A0C-9EC2-90665BF06823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24038" y="4567238"/>
            <a:ext cx="564257" cy="2769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zh-CN" altLang="zh-CN" sz="1800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rPr>
              <a:t>Inst 3</a:t>
            </a:r>
            <a:endParaRPr kumimoji="0" lang="zh-CN" altLang="zh-CN" sz="180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  <a:ea typeface="SimHei" panose="02010609060101010101" pitchFamily="49" charset="-122"/>
            </a:endParaRPr>
          </a:p>
        </p:txBody>
      </p:sp>
      <p:sp>
        <p:nvSpPr>
          <p:cNvPr id="99" name="Freeform 96">
            <a:extLst>
              <a:ext uri="{FF2B5EF4-FFF2-40B4-BE49-F238E27FC236}">
                <a16:creationId xmlns:a16="http://schemas.microsoft.com/office/drawing/2014/main" id="{608FD559-EBE4-4576-B106-BAEA9AF1A21A}"/>
              </a:ext>
            </a:extLst>
          </p:cNvPr>
          <p:cNvSpPr>
            <a:spLocks/>
          </p:cNvSpPr>
          <p:nvPr/>
        </p:nvSpPr>
        <p:spPr bwMode="auto">
          <a:xfrm>
            <a:off x="5892800" y="4405313"/>
            <a:ext cx="257175" cy="571500"/>
          </a:xfrm>
          <a:custGeom>
            <a:avLst/>
            <a:gdLst>
              <a:gd name="T0" fmla="*/ 0 w 162"/>
              <a:gd name="T1" fmla="*/ 240 h 360"/>
              <a:gd name="T2" fmla="*/ 54 w 162"/>
              <a:gd name="T3" fmla="*/ 180 h 360"/>
              <a:gd name="T4" fmla="*/ 0 w 162"/>
              <a:gd name="T5" fmla="*/ 120 h 360"/>
              <a:gd name="T6" fmla="*/ 0 w 162"/>
              <a:gd name="T7" fmla="*/ 0 h 360"/>
              <a:gd name="T8" fmla="*/ 162 w 162"/>
              <a:gd name="T9" fmla="*/ 120 h 360"/>
              <a:gd name="T10" fmla="*/ 162 w 162"/>
              <a:gd name="T11" fmla="*/ 240 h 360"/>
              <a:gd name="T12" fmla="*/ 0 w 162"/>
              <a:gd name="T13" fmla="*/ 360 h 360"/>
              <a:gd name="T14" fmla="*/ 0 w 162"/>
              <a:gd name="T15" fmla="*/ 240 h 3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162" h="360">
                <a:moveTo>
                  <a:pt x="0" y="240"/>
                </a:moveTo>
                <a:lnTo>
                  <a:pt x="54" y="180"/>
                </a:lnTo>
                <a:lnTo>
                  <a:pt x="0" y="120"/>
                </a:lnTo>
                <a:lnTo>
                  <a:pt x="0" y="0"/>
                </a:lnTo>
                <a:lnTo>
                  <a:pt x="162" y="120"/>
                </a:lnTo>
                <a:lnTo>
                  <a:pt x="162" y="240"/>
                </a:lnTo>
                <a:lnTo>
                  <a:pt x="0" y="360"/>
                </a:lnTo>
                <a:lnTo>
                  <a:pt x="0" y="240"/>
                </a:lnTo>
              </a:path>
            </a:pathLst>
          </a:custGeom>
          <a:noFill/>
          <a:ln w="19050" cap="rnd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101" name="Rectangle 98">
            <a:extLst>
              <a:ext uri="{FF2B5EF4-FFF2-40B4-BE49-F238E27FC236}">
                <a16:creationId xmlns:a16="http://schemas.microsoft.com/office/drawing/2014/main" id="{45A08539-BDE2-42E2-ACBD-12074E568D47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65688" y="4560888"/>
            <a:ext cx="171522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zh-CN" sz="1200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rPr>
              <a:t>IM</a:t>
            </a:r>
            <a:endParaRPr kumimoji="0" lang="zh-CN" altLang="zh-CN" sz="180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  <a:ea typeface="SimHei" panose="02010609060101010101" pitchFamily="49" charset="-122"/>
            </a:endParaRPr>
          </a:p>
        </p:txBody>
      </p:sp>
      <p:sp>
        <p:nvSpPr>
          <p:cNvPr id="102" name="Freeform 99">
            <a:extLst>
              <a:ext uri="{FF2B5EF4-FFF2-40B4-BE49-F238E27FC236}">
                <a16:creationId xmlns:a16="http://schemas.microsoft.com/office/drawing/2014/main" id="{556DEFB0-F9D4-448D-859B-A160FAC0F862}"/>
              </a:ext>
            </a:extLst>
          </p:cNvPr>
          <p:cNvSpPr>
            <a:spLocks/>
          </p:cNvSpPr>
          <p:nvPr/>
        </p:nvSpPr>
        <p:spPr bwMode="auto">
          <a:xfrm>
            <a:off x="4791075" y="4519613"/>
            <a:ext cx="198438" cy="342900"/>
          </a:xfrm>
          <a:custGeom>
            <a:avLst/>
            <a:gdLst>
              <a:gd name="T0" fmla="*/ 125 w 125"/>
              <a:gd name="T1" fmla="*/ 0 h 216"/>
              <a:gd name="T2" fmla="*/ 0 w 125"/>
              <a:gd name="T3" fmla="*/ 0 h 216"/>
              <a:gd name="T4" fmla="*/ 0 w 125"/>
              <a:gd name="T5" fmla="*/ 216 h 216"/>
              <a:gd name="T6" fmla="*/ 125 w 125"/>
              <a:gd name="T7" fmla="*/ 216 h 2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125" h="216">
                <a:moveTo>
                  <a:pt x="125" y="0"/>
                </a:moveTo>
                <a:lnTo>
                  <a:pt x="0" y="0"/>
                </a:lnTo>
                <a:lnTo>
                  <a:pt x="0" y="216"/>
                </a:lnTo>
                <a:lnTo>
                  <a:pt x="125" y="216"/>
                </a:lnTo>
              </a:path>
            </a:pathLst>
          </a:custGeom>
          <a:noFill/>
          <a:ln w="19050" cap="rnd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103" name="Freeform 100">
            <a:extLst>
              <a:ext uri="{FF2B5EF4-FFF2-40B4-BE49-F238E27FC236}">
                <a16:creationId xmlns:a16="http://schemas.microsoft.com/office/drawing/2014/main" id="{1170D4DA-88EE-489B-B342-4FFF85D53119}"/>
              </a:ext>
            </a:extLst>
          </p:cNvPr>
          <p:cNvSpPr>
            <a:spLocks/>
          </p:cNvSpPr>
          <p:nvPr/>
        </p:nvSpPr>
        <p:spPr bwMode="auto">
          <a:xfrm>
            <a:off x="4991100" y="4519613"/>
            <a:ext cx="206375" cy="342900"/>
          </a:xfrm>
          <a:custGeom>
            <a:avLst/>
            <a:gdLst>
              <a:gd name="T0" fmla="*/ 0 w 130"/>
              <a:gd name="T1" fmla="*/ 0 h 216"/>
              <a:gd name="T2" fmla="*/ 130 w 130"/>
              <a:gd name="T3" fmla="*/ 0 h 216"/>
              <a:gd name="T4" fmla="*/ 130 w 130"/>
              <a:gd name="T5" fmla="*/ 216 h 216"/>
              <a:gd name="T6" fmla="*/ 0 w 130"/>
              <a:gd name="T7" fmla="*/ 216 h 2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130" h="216">
                <a:moveTo>
                  <a:pt x="0" y="0"/>
                </a:moveTo>
                <a:lnTo>
                  <a:pt x="130" y="0"/>
                </a:lnTo>
                <a:lnTo>
                  <a:pt x="130" y="216"/>
                </a:lnTo>
                <a:lnTo>
                  <a:pt x="0" y="216"/>
                </a:lnTo>
              </a:path>
            </a:pathLst>
          </a:custGeom>
          <a:noFill/>
          <a:ln w="19050" cap="rnd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104" name="Rectangle 101">
            <a:extLst>
              <a:ext uri="{FF2B5EF4-FFF2-40B4-BE49-F238E27FC236}">
                <a16:creationId xmlns:a16="http://schemas.microsoft.com/office/drawing/2014/main" id="{6B106252-447B-41E6-8259-E9D4100B683D}"/>
              </a:ext>
            </a:extLst>
          </p:cNvPr>
          <p:cNvSpPr>
            <a:spLocks noChangeArrowheads="1"/>
          </p:cNvSpPr>
          <p:nvPr/>
        </p:nvSpPr>
        <p:spPr bwMode="auto">
          <a:xfrm>
            <a:off x="5384800" y="4568825"/>
            <a:ext cx="28052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zh-CN" altLang="zh-CN" sz="1200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rPr>
              <a:t>Reg</a:t>
            </a:r>
            <a:endParaRPr kumimoji="0" lang="zh-CN" altLang="zh-CN" sz="180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  <a:ea typeface="SimHei" panose="02010609060101010101" pitchFamily="49" charset="-122"/>
            </a:endParaRPr>
          </a:p>
        </p:txBody>
      </p:sp>
      <p:sp>
        <p:nvSpPr>
          <p:cNvPr id="105" name="Freeform 102">
            <a:extLst>
              <a:ext uri="{FF2B5EF4-FFF2-40B4-BE49-F238E27FC236}">
                <a16:creationId xmlns:a16="http://schemas.microsoft.com/office/drawing/2014/main" id="{6798C7D3-284E-4309-B2D7-FBC58AD62669}"/>
              </a:ext>
            </a:extLst>
          </p:cNvPr>
          <p:cNvSpPr>
            <a:spLocks/>
          </p:cNvSpPr>
          <p:nvPr/>
        </p:nvSpPr>
        <p:spPr bwMode="auto">
          <a:xfrm>
            <a:off x="5341938" y="4519613"/>
            <a:ext cx="177800" cy="342900"/>
          </a:xfrm>
          <a:custGeom>
            <a:avLst/>
            <a:gdLst>
              <a:gd name="T0" fmla="*/ 112 w 112"/>
              <a:gd name="T1" fmla="*/ 0 h 216"/>
              <a:gd name="T2" fmla="*/ 0 w 112"/>
              <a:gd name="T3" fmla="*/ 0 h 216"/>
              <a:gd name="T4" fmla="*/ 0 w 112"/>
              <a:gd name="T5" fmla="*/ 216 h 216"/>
              <a:gd name="T6" fmla="*/ 112 w 112"/>
              <a:gd name="T7" fmla="*/ 216 h 2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112" h="216">
                <a:moveTo>
                  <a:pt x="112" y="0"/>
                </a:moveTo>
                <a:lnTo>
                  <a:pt x="0" y="0"/>
                </a:lnTo>
                <a:lnTo>
                  <a:pt x="0" y="216"/>
                </a:lnTo>
                <a:lnTo>
                  <a:pt x="112" y="216"/>
                </a:lnTo>
              </a:path>
            </a:pathLst>
          </a:custGeom>
          <a:noFill/>
          <a:ln w="19050" cap="rnd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106" name="Freeform 103">
            <a:extLst>
              <a:ext uri="{FF2B5EF4-FFF2-40B4-BE49-F238E27FC236}">
                <a16:creationId xmlns:a16="http://schemas.microsoft.com/office/drawing/2014/main" id="{A6601E1F-86DA-4F13-918C-2598A81CAC01}"/>
              </a:ext>
            </a:extLst>
          </p:cNvPr>
          <p:cNvSpPr>
            <a:spLocks/>
          </p:cNvSpPr>
          <p:nvPr/>
        </p:nvSpPr>
        <p:spPr bwMode="auto">
          <a:xfrm>
            <a:off x="5513388" y="4519613"/>
            <a:ext cx="177800" cy="342900"/>
          </a:xfrm>
          <a:custGeom>
            <a:avLst/>
            <a:gdLst>
              <a:gd name="T0" fmla="*/ 0 w 112"/>
              <a:gd name="T1" fmla="*/ 0 h 216"/>
              <a:gd name="T2" fmla="*/ 112 w 112"/>
              <a:gd name="T3" fmla="*/ 0 h 216"/>
              <a:gd name="T4" fmla="*/ 112 w 112"/>
              <a:gd name="T5" fmla="*/ 216 h 216"/>
              <a:gd name="T6" fmla="*/ 0 w 112"/>
              <a:gd name="T7" fmla="*/ 216 h 2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112" h="216">
                <a:moveTo>
                  <a:pt x="0" y="0"/>
                </a:moveTo>
                <a:lnTo>
                  <a:pt x="112" y="0"/>
                </a:lnTo>
                <a:lnTo>
                  <a:pt x="112" y="216"/>
                </a:lnTo>
                <a:lnTo>
                  <a:pt x="0" y="216"/>
                </a:lnTo>
              </a:path>
            </a:pathLst>
          </a:custGeom>
          <a:noFill/>
          <a:ln w="19050" cap="rnd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107" name="Line 104">
            <a:extLst>
              <a:ext uri="{FF2B5EF4-FFF2-40B4-BE49-F238E27FC236}">
                <a16:creationId xmlns:a16="http://schemas.microsoft.com/office/drawing/2014/main" id="{FE039B0D-1F8C-41F6-B752-D4853C180F43}"/>
              </a:ext>
            </a:extLst>
          </p:cNvPr>
          <p:cNvSpPr>
            <a:spLocks noChangeShapeType="1"/>
          </p:cNvSpPr>
          <p:nvPr/>
        </p:nvSpPr>
        <p:spPr bwMode="auto">
          <a:xfrm>
            <a:off x="5205413" y="4691063"/>
            <a:ext cx="136525" cy="0"/>
          </a:xfrm>
          <a:prstGeom prst="line">
            <a:avLst/>
          </a:prstGeom>
          <a:noFill/>
          <a:ln w="19050" cap="flat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108" name="Freeform 105">
            <a:extLst>
              <a:ext uri="{FF2B5EF4-FFF2-40B4-BE49-F238E27FC236}">
                <a16:creationId xmlns:a16="http://schemas.microsoft.com/office/drawing/2014/main" id="{C5D24D9D-AF19-48E5-B2F2-A79490D81315}"/>
              </a:ext>
            </a:extLst>
          </p:cNvPr>
          <p:cNvSpPr>
            <a:spLocks/>
          </p:cNvSpPr>
          <p:nvPr/>
        </p:nvSpPr>
        <p:spPr bwMode="auto">
          <a:xfrm>
            <a:off x="5284788" y="4576763"/>
            <a:ext cx="55563" cy="114300"/>
          </a:xfrm>
          <a:custGeom>
            <a:avLst/>
            <a:gdLst>
              <a:gd name="T0" fmla="*/ 0 w 35"/>
              <a:gd name="T1" fmla="*/ 72 h 72"/>
              <a:gd name="T2" fmla="*/ 0 w 35"/>
              <a:gd name="T3" fmla="*/ 0 h 72"/>
              <a:gd name="T4" fmla="*/ 35 w 35"/>
              <a:gd name="T5" fmla="*/ 0 h 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35" h="72">
                <a:moveTo>
                  <a:pt x="0" y="72"/>
                </a:moveTo>
                <a:lnTo>
                  <a:pt x="0" y="0"/>
                </a:lnTo>
                <a:lnTo>
                  <a:pt x="35" y="0"/>
                </a:lnTo>
              </a:path>
            </a:pathLst>
          </a:custGeom>
          <a:noFill/>
          <a:ln w="19050" cap="rnd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109" name="Line 106">
            <a:extLst>
              <a:ext uri="{FF2B5EF4-FFF2-40B4-BE49-F238E27FC236}">
                <a16:creationId xmlns:a16="http://schemas.microsoft.com/office/drawing/2014/main" id="{7537B94B-B555-43D7-B235-A21C000E36FD}"/>
              </a:ext>
            </a:extLst>
          </p:cNvPr>
          <p:cNvSpPr>
            <a:spLocks noChangeShapeType="1"/>
          </p:cNvSpPr>
          <p:nvPr/>
        </p:nvSpPr>
        <p:spPr bwMode="auto">
          <a:xfrm>
            <a:off x="5699125" y="4576763"/>
            <a:ext cx="187325" cy="0"/>
          </a:xfrm>
          <a:prstGeom prst="line">
            <a:avLst/>
          </a:prstGeom>
          <a:noFill/>
          <a:ln w="19050" cap="flat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110" name="Rectangle 107">
            <a:extLst>
              <a:ext uri="{FF2B5EF4-FFF2-40B4-BE49-F238E27FC236}">
                <a16:creationId xmlns:a16="http://schemas.microsoft.com/office/drawing/2014/main" id="{2E1FA42F-6B20-4FDC-B0CF-1B9308A2BC9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59525" y="4560888"/>
            <a:ext cx="238848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zh-CN" altLang="zh-CN" sz="1200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rPr>
              <a:t>DM</a:t>
            </a:r>
            <a:endParaRPr kumimoji="0" lang="zh-CN" altLang="zh-CN" sz="180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  <a:ea typeface="SimHei" panose="02010609060101010101" pitchFamily="49" charset="-122"/>
            </a:endParaRPr>
          </a:p>
        </p:txBody>
      </p:sp>
      <p:sp>
        <p:nvSpPr>
          <p:cNvPr id="111" name="Freeform 108">
            <a:extLst>
              <a:ext uri="{FF2B5EF4-FFF2-40B4-BE49-F238E27FC236}">
                <a16:creationId xmlns:a16="http://schemas.microsoft.com/office/drawing/2014/main" id="{45A47EAC-4E59-47AC-A76A-1A500D6ED701}"/>
              </a:ext>
            </a:extLst>
          </p:cNvPr>
          <p:cNvSpPr>
            <a:spLocks/>
          </p:cNvSpPr>
          <p:nvPr/>
        </p:nvSpPr>
        <p:spPr bwMode="auto">
          <a:xfrm>
            <a:off x="6351588" y="4519613"/>
            <a:ext cx="192088" cy="342900"/>
          </a:xfrm>
          <a:custGeom>
            <a:avLst/>
            <a:gdLst>
              <a:gd name="T0" fmla="*/ 121 w 121"/>
              <a:gd name="T1" fmla="*/ 0 h 216"/>
              <a:gd name="T2" fmla="*/ 0 w 121"/>
              <a:gd name="T3" fmla="*/ 0 h 216"/>
              <a:gd name="T4" fmla="*/ 0 w 121"/>
              <a:gd name="T5" fmla="*/ 216 h 216"/>
              <a:gd name="T6" fmla="*/ 121 w 121"/>
              <a:gd name="T7" fmla="*/ 216 h 2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121" h="216">
                <a:moveTo>
                  <a:pt x="121" y="0"/>
                </a:moveTo>
                <a:lnTo>
                  <a:pt x="0" y="0"/>
                </a:lnTo>
                <a:lnTo>
                  <a:pt x="0" y="216"/>
                </a:lnTo>
                <a:lnTo>
                  <a:pt x="121" y="216"/>
                </a:lnTo>
              </a:path>
            </a:pathLst>
          </a:custGeom>
          <a:noFill/>
          <a:ln w="19050" cap="rnd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112" name="Freeform 109">
            <a:extLst>
              <a:ext uri="{FF2B5EF4-FFF2-40B4-BE49-F238E27FC236}">
                <a16:creationId xmlns:a16="http://schemas.microsoft.com/office/drawing/2014/main" id="{E71B0DC2-FF0F-4644-BD6F-940E5AC13747}"/>
              </a:ext>
            </a:extLst>
          </p:cNvPr>
          <p:cNvSpPr>
            <a:spLocks/>
          </p:cNvSpPr>
          <p:nvPr/>
        </p:nvSpPr>
        <p:spPr bwMode="auto">
          <a:xfrm>
            <a:off x="6543675" y="4519613"/>
            <a:ext cx="193675" cy="342900"/>
          </a:xfrm>
          <a:custGeom>
            <a:avLst/>
            <a:gdLst>
              <a:gd name="T0" fmla="*/ 0 w 122"/>
              <a:gd name="T1" fmla="*/ 0 h 216"/>
              <a:gd name="T2" fmla="*/ 122 w 122"/>
              <a:gd name="T3" fmla="*/ 0 h 216"/>
              <a:gd name="T4" fmla="*/ 122 w 122"/>
              <a:gd name="T5" fmla="*/ 216 h 216"/>
              <a:gd name="T6" fmla="*/ 0 w 122"/>
              <a:gd name="T7" fmla="*/ 216 h 2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122" h="216">
                <a:moveTo>
                  <a:pt x="0" y="0"/>
                </a:moveTo>
                <a:lnTo>
                  <a:pt x="122" y="0"/>
                </a:lnTo>
                <a:lnTo>
                  <a:pt x="122" y="216"/>
                </a:lnTo>
                <a:lnTo>
                  <a:pt x="0" y="216"/>
                </a:lnTo>
              </a:path>
            </a:pathLst>
          </a:custGeom>
          <a:noFill/>
          <a:ln w="19050" cap="rnd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113" name="Line 110">
            <a:extLst>
              <a:ext uri="{FF2B5EF4-FFF2-40B4-BE49-F238E27FC236}">
                <a16:creationId xmlns:a16="http://schemas.microsoft.com/office/drawing/2014/main" id="{C0F32449-904A-4A11-B7E9-966B005F739D}"/>
              </a:ext>
            </a:extLst>
          </p:cNvPr>
          <p:cNvSpPr>
            <a:spLocks noChangeShapeType="1"/>
          </p:cNvSpPr>
          <p:nvPr/>
        </p:nvSpPr>
        <p:spPr bwMode="auto">
          <a:xfrm>
            <a:off x="6737350" y="4691063"/>
            <a:ext cx="165100" cy="0"/>
          </a:xfrm>
          <a:prstGeom prst="line">
            <a:avLst/>
          </a:prstGeom>
          <a:noFill/>
          <a:ln w="19050" cap="flat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114" name="Line 111">
            <a:extLst>
              <a:ext uri="{FF2B5EF4-FFF2-40B4-BE49-F238E27FC236}">
                <a16:creationId xmlns:a16="http://schemas.microsoft.com/office/drawing/2014/main" id="{91CD1254-687A-4C82-9885-3523E5585B70}"/>
              </a:ext>
            </a:extLst>
          </p:cNvPr>
          <p:cNvSpPr>
            <a:spLocks noChangeShapeType="1"/>
          </p:cNvSpPr>
          <p:nvPr/>
        </p:nvSpPr>
        <p:spPr bwMode="auto">
          <a:xfrm>
            <a:off x="6157913" y="4691063"/>
            <a:ext cx="185738" cy="0"/>
          </a:xfrm>
          <a:prstGeom prst="line">
            <a:avLst/>
          </a:prstGeom>
          <a:noFill/>
          <a:ln w="19050" cap="flat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115" name="Line 112">
            <a:extLst>
              <a:ext uri="{FF2B5EF4-FFF2-40B4-BE49-F238E27FC236}">
                <a16:creationId xmlns:a16="http://schemas.microsoft.com/office/drawing/2014/main" id="{D30B6DD4-0490-41B0-B296-51277CCC24A5}"/>
              </a:ext>
            </a:extLst>
          </p:cNvPr>
          <p:cNvSpPr>
            <a:spLocks noChangeShapeType="1"/>
          </p:cNvSpPr>
          <p:nvPr/>
        </p:nvSpPr>
        <p:spPr bwMode="auto">
          <a:xfrm>
            <a:off x="5699125" y="4805363"/>
            <a:ext cx="187325" cy="0"/>
          </a:xfrm>
          <a:prstGeom prst="line">
            <a:avLst/>
          </a:prstGeom>
          <a:noFill/>
          <a:ln w="19050" cap="flat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116" name="Line 113">
            <a:extLst>
              <a:ext uri="{FF2B5EF4-FFF2-40B4-BE49-F238E27FC236}">
                <a16:creationId xmlns:a16="http://schemas.microsoft.com/office/drawing/2014/main" id="{F16A3E9A-A9D9-48F1-A989-3492469F3AFB}"/>
              </a:ext>
            </a:extLst>
          </p:cNvPr>
          <p:cNvSpPr>
            <a:spLocks noChangeShapeType="1"/>
          </p:cNvSpPr>
          <p:nvPr/>
        </p:nvSpPr>
        <p:spPr bwMode="auto">
          <a:xfrm>
            <a:off x="5800725" y="4805363"/>
            <a:ext cx="0" cy="230188"/>
          </a:xfrm>
          <a:prstGeom prst="line">
            <a:avLst/>
          </a:prstGeom>
          <a:noFill/>
          <a:ln w="22225" cap="flat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117" name="Line 114">
            <a:extLst>
              <a:ext uri="{FF2B5EF4-FFF2-40B4-BE49-F238E27FC236}">
                <a16:creationId xmlns:a16="http://schemas.microsoft.com/office/drawing/2014/main" id="{3DDC1BD0-678F-479A-8B09-CBF1B93E3C88}"/>
              </a:ext>
            </a:extLst>
          </p:cNvPr>
          <p:cNvSpPr>
            <a:spLocks noChangeShapeType="1"/>
          </p:cNvSpPr>
          <p:nvPr/>
        </p:nvSpPr>
        <p:spPr bwMode="auto">
          <a:xfrm>
            <a:off x="5800725" y="5035550"/>
            <a:ext cx="400050" cy="0"/>
          </a:xfrm>
          <a:prstGeom prst="line">
            <a:avLst/>
          </a:prstGeom>
          <a:noFill/>
          <a:ln w="22225" cap="flat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118" name="Line 115">
            <a:extLst>
              <a:ext uri="{FF2B5EF4-FFF2-40B4-BE49-F238E27FC236}">
                <a16:creationId xmlns:a16="http://schemas.microsoft.com/office/drawing/2014/main" id="{C06F8AF2-6890-4290-8114-6FFD2268C05C}"/>
              </a:ext>
            </a:extLst>
          </p:cNvPr>
          <p:cNvSpPr>
            <a:spLocks noChangeShapeType="1"/>
          </p:cNvSpPr>
          <p:nvPr/>
        </p:nvSpPr>
        <p:spPr bwMode="auto">
          <a:xfrm>
            <a:off x="6200775" y="4691063"/>
            <a:ext cx="0" cy="344488"/>
          </a:xfrm>
          <a:prstGeom prst="line">
            <a:avLst/>
          </a:prstGeom>
          <a:noFill/>
          <a:ln w="22225" cap="flat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119" name="Line 116">
            <a:extLst>
              <a:ext uri="{FF2B5EF4-FFF2-40B4-BE49-F238E27FC236}">
                <a16:creationId xmlns:a16="http://schemas.microsoft.com/office/drawing/2014/main" id="{4F2F5E31-F28A-4C4F-8D66-4F95C5EEEC8A}"/>
              </a:ext>
            </a:extLst>
          </p:cNvPr>
          <p:cNvSpPr>
            <a:spLocks noChangeShapeType="1"/>
          </p:cNvSpPr>
          <p:nvPr/>
        </p:nvSpPr>
        <p:spPr bwMode="auto">
          <a:xfrm>
            <a:off x="6294438" y="4691063"/>
            <a:ext cx="0" cy="287338"/>
          </a:xfrm>
          <a:prstGeom prst="line">
            <a:avLst/>
          </a:prstGeom>
          <a:noFill/>
          <a:ln w="22225" cap="flat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120" name="Line 117">
            <a:extLst>
              <a:ext uri="{FF2B5EF4-FFF2-40B4-BE49-F238E27FC236}">
                <a16:creationId xmlns:a16="http://schemas.microsoft.com/office/drawing/2014/main" id="{34D43AC2-0482-46A7-9711-2BDBBAD7FC40}"/>
              </a:ext>
            </a:extLst>
          </p:cNvPr>
          <p:cNvSpPr>
            <a:spLocks noChangeShapeType="1"/>
          </p:cNvSpPr>
          <p:nvPr/>
        </p:nvSpPr>
        <p:spPr bwMode="auto">
          <a:xfrm>
            <a:off x="6294438" y="4978400"/>
            <a:ext cx="514350" cy="0"/>
          </a:xfrm>
          <a:prstGeom prst="line">
            <a:avLst/>
          </a:prstGeom>
          <a:noFill/>
          <a:ln w="22225" cap="flat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121" name="Line 118">
            <a:extLst>
              <a:ext uri="{FF2B5EF4-FFF2-40B4-BE49-F238E27FC236}">
                <a16:creationId xmlns:a16="http://schemas.microsoft.com/office/drawing/2014/main" id="{502962FA-1C22-47D8-A1CA-1F182E9864C9}"/>
              </a:ext>
            </a:extLst>
          </p:cNvPr>
          <p:cNvSpPr>
            <a:spLocks noChangeShapeType="1"/>
          </p:cNvSpPr>
          <p:nvPr/>
        </p:nvSpPr>
        <p:spPr bwMode="auto">
          <a:xfrm>
            <a:off x="6808788" y="4691063"/>
            <a:ext cx="0" cy="287338"/>
          </a:xfrm>
          <a:prstGeom prst="line">
            <a:avLst/>
          </a:prstGeom>
          <a:noFill/>
          <a:ln w="22225" cap="flat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122" name="Freeform 119">
            <a:extLst>
              <a:ext uri="{FF2B5EF4-FFF2-40B4-BE49-F238E27FC236}">
                <a16:creationId xmlns:a16="http://schemas.microsoft.com/office/drawing/2014/main" id="{CCCA39B4-8ACE-46FE-9BEB-6EA6C55871A5}"/>
              </a:ext>
            </a:extLst>
          </p:cNvPr>
          <p:cNvSpPr>
            <a:spLocks/>
          </p:cNvSpPr>
          <p:nvPr/>
        </p:nvSpPr>
        <p:spPr bwMode="auto">
          <a:xfrm>
            <a:off x="6908800" y="4519613"/>
            <a:ext cx="171450" cy="342900"/>
          </a:xfrm>
          <a:custGeom>
            <a:avLst/>
            <a:gdLst>
              <a:gd name="T0" fmla="*/ 108 w 108"/>
              <a:gd name="T1" fmla="*/ 0 h 216"/>
              <a:gd name="T2" fmla="*/ 0 w 108"/>
              <a:gd name="T3" fmla="*/ 0 h 216"/>
              <a:gd name="T4" fmla="*/ 0 w 108"/>
              <a:gd name="T5" fmla="*/ 216 h 216"/>
              <a:gd name="T6" fmla="*/ 108 w 108"/>
              <a:gd name="T7" fmla="*/ 216 h 2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108" h="216">
                <a:moveTo>
                  <a:pt x="108" y="0"/>
                </a:moveTo>
                <a:lnTo>
                  <a:pt x="0" y="0"/>
                </a:lnTo>
                <a:lnTo>
                  <a:pt x="0" y="216"/>
                </a:lnTo>
                <a:lnTo>
                  <a:pt x="108" y="216"/>
                </a:lnTo>
              </a:path>
            </a:pathLst>
          </a:custGeom>
          <a:noFill/>
          <a:ln w="19050" cap="rnd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123" name="Freeform 120">
            <a:extLst>
              <a:ext uri="{FF2B5EF4-FFF2-40B4-BE49-F238E27FC236}">
                <a16:creationId xmlns:a16="http://schemas.microsoft.com/office/drawing/2014/main" id="{3989408B-FEAC-4AE9-88EF-059FF801C623}"/>
              </a:ext>
            </a:extLst>
          </p:cNvPr>
          <p:cNvSpPr>
            <a:spLocks/>
          </p:cNvSpPr>
          <p:nvPr/>
        </p:nvSpPr>
        <p:spPr bwMode="auto">
          <a:xfrm>
            <a:off x="7081838" y="4519613"/>
            <a:ext cx="163513" cy="342900"/>
          </a:xfrm>
          <a:custGeom>
            <a:avLst/>
            <a:gdLst>
              <a:gd name="T0" fmla="*/ 0 w 103"/>
              <a:gd name="T1" fmla="*/ 0 h 216"/>
              <a:gd name="T2" fmla="*/ 103 w 103"/>
              <a:gd name="T3" fmla="*/ 0 h 216"/>
              <a:gd name="T4" fmla="*/ 103 w 103"/>
              <a:gd name="T5" fmla="*/ 216 h 216"/>
              <a:gd name="T6" fmla="*/ 0 w 103"/>
              <a:gd name="T7" fmla="*/ 216 h 2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103" h="216">
                <a:moveTo>
                  <a:pt x="0" y="0"/>
                </a:moveTo>
                <a:lnTo>
                  <a:pt x="103" y="0"/>
                </a:lnTo>
                <a:lnTo>
                  <a:pt x="103" y="216"/>
                </a:lnTo>
                <a:lnTo>
                  <a:pt x="0" y="216"/>
                </a:lnTo>
              </a:path>
            </a:pathLst>
          </a:custGeom>
          <a:noFill/>
          <a:ln w="19050" cap="rnd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124" name="Rectangle 121">
            <a:extLst>
              <a:ext uri="{FF2B5EF4-FFF2-40B4-BE49-F238E27FC236}">
                <a16:creationId xmlns:a16="http://schemas.microsoft.com/office/drawing/2014/main" id="{71DADEB8-5E45-4EEC-9F74-B4FC46EB503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919913" y="4618038"/>
            <a:ext cx="28052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zh-CN" altLang="zh-CN" sz="1200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rPr>
              <a:t>Reg</a:t>
            </a:r>
            <a:endParaRPr kumimoji="0" lang="zh-CN" altLang="zh-CN" sz="180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  <a:ea typeface="SimHei" panose="02010609060101010101" pitchFamily="49" charset="-122"/>
            </a:endParaRPr>
          </a:p>
        </p:txBody>
      </p:sp>
      <p:sp>
        <p:nvSpPr>
          <p:cNvPr id="125" name="Rectangle 46">
            <a:extLst>
              <a:ext uri="{FF2B5EF4-FFF2-40B4-BE49-F238E27FC236}">
                <a16:creationId xmlns:a16="http://schemas.microsoft.com/office/drawing/2014/main" id="{AACC29AB-2F91-B4F4-D800-B3CF7359B0B2}"/>
              </a:ext>
            </a:extLst>
          </p:cNvPr>
          <p:cNvSpPr>
            <a:spLocks noChangeArrowheads="1"/>
          </p:cNvSpPr>
          <p:nvPr/>
        </p:nvSpPr>
        <p:spPr bwMode="auto">
          <a:xfrm rot="5400000">
            <a:off x="4200164" y="2714874"/>
            <a:ext cx="508000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zh-CN" altLang="zh-CN" sz="1200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rPr>
              <a:t>ALU</a:t>
            </a:r>
            <a:endParaRPr kumimoji="0" lang="zh-CN" altLang="zh-CN" sz="120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  <a:ea typeface="SimHei" panose="02010609060101010101" pitchFamily="49" charset="-122"/>
            </a:endParaRPr>
          </a:p>
        </p:txBody>
      </p:sp>
      <p:sp>
        <p:nvSpPr>
          <p:cNvPr id="127" name="Rectangle 46">
            <a:extLst>
              <a:ext uri="{FF2B5EF4-FFF2-40B4-BE49-F238E27FC236}">
                <a16:creationId xmlns:a16="http://schemas.microsoft.com/office/drawing/2014/main" id="{C3D1E353-AFE9-AFC1-4FD9-3042745E67B0}"/>
              </a:ext>
            </a:extLst>
          </p:cNvPr>
          <p:cNvSpPr>
            <a:spLocks noChangeArrowheads="1"/>
          </p:cNvSpPr>
          <p:nvPr/>
        </p:nvSpPr>
        <p:spPr bwMode="auto">
          <a:xfrm rot="5400000">
            <a:off x="5267408" y="3853398"/>
            <a:ext cx="508000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zh-CN" altLang="zh-CN" sz="1200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rPr>
              <a:t>ALU</a:t>
            </a:r>
            <a:endParaRPr kumimoji="0" lang="zh-CN" altLang="zh-CN" sz="120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  <a:ea typeface="SimHei" panose="02010609060101010101" pitchFamily="49" charset="-122"/>
            </a:endParaRPr>
          </a:p>
        </p:txBody>
      </p:sp>
      <p:sp>
        <p:nvSpPr>
          <p:cNvPr id="128" name="Rectangle 46">
            <a:extLst>
              <a:ext uri="{FF2B5EF4-FFF2-40B4-BE49-F238E27FC236}">
                <a16:creationId xmlns:a16="http://schemas.microsoft.com/office/drawing/2014/main" id="{D03BCE79-F3CC-C8E3-8B8E-3B58FAD3A251}"/>
              </a:ext>
            </a:extLst>
          </p:cNvPr>
          <p:cNvSpPr>
            <a:spLocks noChangeArrowheads="1"/>
          </p:cNvSpPr>
          <p:nvPr/>
        </p:nvSpPr>
        <p:spPr bwMode="auto">
          <a:xfrm rot="5400000">
            <a:off x="5784181" y="4598068"/>
            <a:ext cx="508000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zh-CN" altLang="zh-CN" sz="1200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rPr>
              <a:t>ALU</a:t>
            </a:r>
            <a:endParaRPr kumimoji="0" lang="zh-CN" altLang="zh-CN" sz="120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  <a:ea typeface="SimHei" panose="02010609060101010101" pitchFamily="49" charset="-122"/>
            </a:endParaRPr>
          </a:p>
        </p:txBody>
      </p:sp>
      <p:sp>
        <p:nvSpPr>
          <p:cNvPr id="4" name="文本框 3">
            <a:extLst>
              <a:ext uri="{FF2B5EF4-FFF2-40B4-BE49-F238E27FC236}">
                <a16:creationId xmlns:a16="http://schemas.microsoft.com/office/drawing/2014/main" id="{F081E2D9-77F0-8F0B-E689-6AFF3162D553}"/>
              </a:ext>
            </a:extLst>
          </p:cNvPr>
          <p:cNvSpPr txBox="1"/>
          <p:nvPr/>
        </p:nvSpPr>
        <p:spPr>
          <a:xfrm>
            <a:off x="7934862" y="3607356"/>
            <a:ext cx="954107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zh-CN" dirty="0">
                <a:solidFill>
                  <a:srgbClr val="C00000"/>
                </a:solidFill>
                <a:ea typeface="SimHei" panose="02010609060101010101" pitchFamily="49" charset="-122"/>
              </a:rPr>
              <a:t>1 Cycle</a:t>
            </a:r>
            <a:endParaRPr lang="zh-CN" altLang="en-US" dirty="0">
              <a:solidFill>
                <a:srgbClr val="C00000"/>
              </a:solidFill>
              <a:ea typeface="SimHei" panose="02010609060101010101" pitchFamily="49" charset="-122"/>
            </a:endParaRPr>
          </a:p>
        </p:txBody>
      </p:sp>
    </p:spTree>
    <p:extLst>
      <p:ext uri="{BB962C8B-B14F-4D97-AF65-F5344CB8AC3E}">
        <p14:creationId xmlns:p14="http://schemas.microsoft.com/office/powerpoint/2010/main" val="4006033955"/>
      </p:ext>
    </p:extLst>
  </p:cSld>
  <p:clrMapOvr>
    <a:masterClrMapping/>
  </p:clrMapOvr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>
            <a:extLst>
              <a:ext uri="{FF2B5EF4-FFF2-40B4-BE49-F238E27FC236}">
                <a16:creationId xmlns:a16="http://schemas.microsoft.com/office/drawing/2014/main" id="{3C5EE9B1-1D46-4718-BACC-8541CB7AB31F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dirty="0"/>
              <a:t>控制冒险解决方法：</a:t>
            </a:r>
            <a:r>
              <a:rPr lang="en-US" altLang="zh-CN" dirty="0"/>
              <a:t>Forwarding</a:t>
            </a:r>
            <a:endParaRPr lang="zh-CN" altLang="en-US" dirty="0"/>
          </a:p>
        </p:txBody>
      </p:sp>
      <p:sp>
        <p:nvSpPr>
          <p:cNvPr id="3" name="内容占位符 2">
            <a:extLst>
              <a:ext uri="{FF2B5EF4-FFF2-40B4-BE49-F238E27FC236}">
                <a16:creationId xmlns:a16="http://schemas.microsoft.com/office/drawing/2014/main" id="{F192F615-E532-447F-ADAC-D27AD1E72FA6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r>
              <a:rPr lang="zh-CN" altLang="en-US" dirty="0"/>
              <a:t>在</a:t>
            </a:r>
            <a:r>
              <a:rPr lang="en-US" altLang="zh-CN" dirty="0"/>
              <a:t>ID</a:t>
            </a:r>
            <a:r>
              <a:rPr lang="zh-CN" altLang="en-US" dirty="0"/>
              <a:t>阶段加入分支判断：只阻塞一个周期</a:t>
            </a:r>
            <a:r>
              <a:rPr lang="en-US" altLang="zh-CN" dirty="0"/>
              <a:t>!</a:t>
            </a:r>
          </a:p>
          <a:p>
            <a:pPr lvl="1"/>
            <a:r>
              <a:rPr lang="zh-CN" altLang="en-US" dirty="0"/>
              <a:t>可有问题？</a:t>
            </a:r>
          </a:p>
        </p:txBody>
      </p:sp>
      <p:sp>
        <p:nvSpPr>
          <p:cNvPr id="4" name="灯片编号占位符 3">
            <a:extLst>
              <a:ext uri="{FF2B5EF4-FFF2-40B4-BE49-F238E27FC236}">
                <a16:creationId xmlns:a16="http://schemas.microsoft.com/office/drawing/2014/main" id="{0DE7D57E-3C25-48D4-9344-BD89BF0B4DF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1806CE5-282B-4233-8654-09F35EA875E2}" type="slidenum">
              <a:rPr lang="zh-CN" altLang="en-US" smtClean="0"/>
              <a:t>44</a:t>
            </a:fld>
            <a:endParaRPr lang="zh-CN" altLang="en-US"/>
          </a:p>
        </p:txBody>
      </p:sp>
      <p:graphicFrame>
        <p:nvGraphicFramePr>
          <p:cNvPr id="5" name="内容占位符 3">
            <a:extLst>
              <a:ext uri="{FF2B5EF4-FFF2-40B4-BE49-F238E27FC236}">
                <a16:creationId xmlns:a16="http://schemas.microsoft.com/office/drawing/2014/main" id="{1DA677FF-300C-4F4A-8388-389C7BAAA4AC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3483609984"/>
              </p:ext>
            </p:extLst>
          </p:nvPr>
        </p:nvGraphicFramePr>
        <p:xfrm>
          <a:off x="212063" y="2214129"/>
          <a:ext cx="8814709" cy="3720493"/>
        </p:xfrm>
        <a:graphic>
          <a:graphicData uri="http://schemas.openxmlformats.org/drawingml/2006/table">
            <a:tbl>
              <a:tblPr firstRow="1" bandRow="1">
                <a:tableStyleId>{E8B1032C-EA38-4F05-BA0D-38AFFFC7BED3}</a:tableStyleId>
              </a:tblPr>
              <a:tblGrid>
                <a:gridCol w="99060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00337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2714943">
                  <a:extLst>
                    <a:ext uri="{9D8B030D-6E8A-4147-A177-3AD203B41FA5}">
                      <a16:colId xmlns:a16="http://schemas.microsoft.com/office/drawing/2014/main" val="1105378252"/>
                    </a:ext>
                  </a:extLst>
                </a:gridCol>
                <a:gridCol w="234188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6390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468000">
                <a:tc>
                  <a:txBody>
                    <a:bodyPr/>
                    <a:lstStyle/>
                    <a:p>
                      <a:pPr marL="0" algn="ctr" defTabSz="685800" rtl="0" eaLnBrk="1" latinLnBrk="0" hangingPunct="1"/>
                      <a:r>
                        <a:rPr lang="zh-CN" altLang="en-US" sz="2000" b="1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流水线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4C6E7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/>
                      <a:r>
                        <a:rPr lang="en-US" altLang="zh-CN" sz="2000" b="1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R</a:t>
                      </a:r>
                      <a:r>
                        <a:rPr lang="zh-CN" altLang="en-US" sz="2000" b="1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类型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4C6E7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/>
                      <a:r>
                        <a:rPr lang="zh-CN" altLang="en-US" sz="2000" b="1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读存储器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4C6E7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/>
                      <a:r>
                        <a:rPr lang="zh-CN" altLang="en-US" sz="2000" b="1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写存储器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4C6E7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/>
                      <a:r>
                        <a:rPr lang="zh-CN" altLang="en-US" sz="2000" b="1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分支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4C6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80580"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600" dirty="0"/>
                        <a:t>IF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4">
                  <a:txBody>
                    <a:bodyPr/>
                    <a:lstStyle/>
                    <a:p>
                      <a:pPr algn="ctr"/>
                      <a:r>
                        <a:rPr lang="en-US" altLang="zh-CN" sz="1600" dirty="0"/>
                        <a:t>IR</a:t>
                      </a:r>
                      <a:r>
                        <a:rPr lang="en-US" altLang="zh-CN" sz="1600" dirty="0">
                          <a:sym typeface="Symbol"/>
                        </a:rPr>
                        <a:t>&lt;= </a:t>
                      </a:r>
                      <a:r>
                        <a:rPr lang="en-US" altLang="zh-CN" sz="1600" dirty="0" err="1"/>
                        <a:t>MemInst</a:t>
                      </a:r>
                      <a:r>
                        <a:rPr lang="en-US" altLang="zh-CN" sz="1600" dirty="0"/>
                        <a:t>[PC];  PC </a:t>
                      </a:r>
                      <a:r>
                        <a:rPr lang="en-US" altLang="zh-CN" sz="1600" dirty="0">
                          <a:sym typeface="Symbol"/>
                        </a:rPr>
                        <a:t>&lt;= PC + 4</a:t>
                      </a:r>
                      <a:endParaRPr lang="en-US" altLang="zh-CN" sz="1600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n-C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zh-CN" altLang="en-US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>
                  <a:txBody>
                    <a:bodyPr/>
                    <a:lstStyle/>
                    <a:p>
                      <a:endParaRPr lang="zh-CN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433512">
                <a:tc>
                  <a:txBody>
                    <a:bodyPr/>
                    <a:lstStyle/>
                    <a:p>
                      <a:pPr marL="0" marR="0" lvl="1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CN" sz="1600" dirty="0"/>
                        <a:t>ID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4">
                  <a:txBody>
                    <a:bodyPr/>
                    <a:lstStyle/>
                    <a:p>
                      <a:pPr marL="0" marR="0" lvl="1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CN" sz="1600" dirty="0"/>
                        <a:t>op </a:t>
                      </a:r>
                      <a:r>
                        <a:rPr lang="en-US" altLang="zh-CN" sz="1600" dirty="0">
                          <a:sym typeface="Symbol"/>
                        </a:rPr>
                        <a:t>&lt;= </a:t>
                      </a:r>
                      <a:r>
                        <a:rPr lang="en-US" altLang="zh-CN" sz="1600" dirty="0"/>
                        <a:t>IR[31:26]; A </a:t>
                      </a:r>
                      <a:r>
                        <a:rPr lang="en-US" altLang="zh-CN" sz="1600" dirty="0">
                          <a:sym typeface="Symbol"/>
                        </a:rPr>
                        <a:t>&lt;= </a:t>
                      </a:r>
                      <a:r>
                        <a:rPr lang="en-US" altLang="zh-CN" sz="1600" dirty="0"/>
                        <a:t>Reg[IR[25:21]];  B </a:t>
                      </a:r>
                      <a:r>
                        <a:rPr lang="en-US" altLang="zh-CN" sz="1600" dirty="0">
                          <a:sym typeface="Symbol"/>
                        </a:rPr>
                        <a:t>&lt;= </a:t>
                      </a:r>
                      <a:r>
                        <a:rPr lang="en-US" altLang="zh-CN" sz="1600" dirty="0"/>
                        <a:t>Reg[IR[20:16]]; </a:t>
                      </a:r>
                    </a:p>
                    <a:p>
                      <a:pPr marL="0" marR="0" lvl="1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CN" altLang="en-US" sz="1600" b="1" dirty="0">
                          <a:solidFill>
                            <a:srgbClr val="0432FF"/>
                          </a:solidFill>
                        </a:rPr>
                        <a:t>分支：</a:t>
                      </a:r>
                      <a:r>
                        <a:rPr lang="en-US" altLang="zh-CN" sz="1600" b="1" dirty="0">
                          <a:solidFill>
                            <a:srgbClr val="0432FF"/>
                          </a:solidFill>
                        </a:rPr>
                        <a:t>If(A == B) PC </a:t>
                      </a:r>
                      <a:r>
                        <a:rPr lang="en-US" altLang="zh-CN" sz="1600" b="1" dirty="0">
                          <a:solidFill>
                            <a:srgbClr val="0432FF"/>
                          </a:solidFill>
                          <a:sym typeface="Symbol"/>
                        </a:rPr>
                        <a:t>&lt;= </a:t>
                      </a:r>
                      <a:r>
                        <a:rPr lang="en-US" altLang="zh-CN" sz="1600" b="1" dirty="0">
                          <a:solidFill>
                            <a:srgbClr val="0432FF"/>
                          </a:solidFill>
                        </a:rPr>
                        <a:t>PC + </a:t>
                      </a:r>
                      <a:r>
                        <a:rPr lang="en-US" altLang="zh-CN" sz="1600" b="1" dirty="0" err="1">
                          <a:solidFill>
                            <a:srgbClr val="0432FF"/>
                          </a:solidFill>
                        </a:rPr>
                        <a:t>signext</a:t>
                      </a:r>
                      <a:r>
                        <a:rPr lang="en-US" altLang="zh-CN" sz="1600" b="1" dirty="0">
                          <a:solidFill>
                            <a:srgbClr val="0432FF"/>
                          </a:solidFill>
                        </a:rPr>
                        <a:t>(IR[15:0]) &lt;&lt; 2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n-C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zh-CN" altLang="en-US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pPr marL="0" marR="0" lvl="1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zh-CN" sz="1600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693620"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600" dirty="0"/>
                        <a:t>EX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600" dirty="0" err="1"/>
                        <a:t>ALUOut</a:t>
                      </a:r>
                      <a:r>
                        <a:rPr lang="en-US" altLang="zh-CN" sz="1600" dirty="0"/>
                        <a:t> </a:t>
                      </a:r>
                      <a:r>
                        <a:rPr lang="en-US" altLang="zh-CN" sz="1600" dirty="0">
                          <a:sym typeface="Symbol"/>
                        </a:rPr>
                        <a:t>&lt;= </a:t>
                      </a:r>
                      <a:r>
                        <a:rPr lang="en-US" altLang="zh-CN" sz="1600" dirty="0"/>
                        <a:t>A op B</a:t>
                      </a:r>
                    </a:p>
                    <a:p>
                      <a:pPr algn="ctr"/>
                      <a:r>
                        <a:rPr lang="en-US" altLang="zh-CN" sz="1600" b="1" i="0" dirty="0">
                          <a:solidFill>
                            <a:schemeClr val="tx1"/>
                          </a:solidFill>
                        </a:rPr>
                        <a:t>EX/</a:t>
                      </a:r>
                      <a:r>
                        <a:rPr lang="en-US" altLang="zh-CN" sz="1600" b="1" i="0" dirty="0" err="1">
                          <a:solidFill>
                            <a:schemeClr val="tx1"/>
                          </a:solidFill>
                        </a:rPr>
                        <a:t>MEM.ALUOut</a:t>
                      </a:r>
                      <a:r>
                        <a:rPr lang="en-US" altLang="zh-CN" sz="1600" b="1" i="0" dirty="0">
                          <a:solidFill>
                            <a:schemeClr val="tx1"/>
                          </a:solidFill>
                        </a:rPr>
                        <a:t>,</a:t>
                      </a:r>
                    </a:p>
                    <a:p>
                      <a:pPr algn="ctr"/>
                      <a:r>
                        <a:rPr lang="en-US" altLang="zh-CN" sz="1600" b="1" i="0" dirty="0">
                          <a:solidFill>
                            <a:schemeClr val="tx1"/>
                          </a:solidFill>
                        </a:rPr>
                        <a:t>MEM/</a:t>
                      </a:r>
                      <a:r>
                        <a:rPr lang="en-US" altLang="zh-CN" sz="1600" b="1" i="0" dirty="0" err="1">
                          <a:solidFill>
                            <a:schemeClr val="tx1"/>
                          </a:solidFill>
                        </a:rPr>
                        <a:t>WB.ALUOut</a:t>
                      </a:r>
                      <a:r>
                        <a:rPr lang="en-US" altLang="zh-CN" sz="1600" b="1" i="0" dirty="0">
                          <a:solidFill>
                            <a:schemeClr val="tx1"/>
                          </a:solidFill>
                        </a:rPr>
                        <a:t>,</a:t>
                      </a:r>
                    </a:p>
                    <a:p>
                      <a:pPr algn="ctr"/>
                      <a:r>
                        <a:rPr lang="en-US" altLang="zh-CN" sz="1600" b="1" i="0" dirty="0">
                          <a:solidFill>
                            <a:schemeClr val="tx1"/>
                          </a:solidFill>
                        </a:rPr>
                        <a:t>MDR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2"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CN" sz="1600" i="0" dirty="0" err="1">
                          <a:solidFill>
                            <a:schemeClr val="tx1"/>
                          </a:solidFill>
                        </a:rPr>
                        <a:t>ALUOut</a:t>
                      </a:r>
                      <a:r>
                        <a:rPr lang="en-US" altLang="zh-CN" sz="1600" i="0" dirty="0">
                          <a:solidFill>
                            <a:schemeClr val="tx1"/>
                          </a:solidFill>
                        </a:rPr>
                        <a:t> </a:t>
                      </a:r>
                      <a:r>
                        <a:rPr lang="en-US" altLang="zh-CN" sz="1600" i="0" dirty="0">
                          <a:solidFill>
                            <a:schemeClr val="tx1"/>
                          </a:solidFill>
                          <a:sym typeface="Symbol"/>
                        </a:rPr>
                        <a:t>&lt;= </a:t>
                      </a:r>
                      <a:r>
                        <a:rPr lang="en-US" altLang="zh-CN" sz="1600" i="0" dirty="0">
                          <a:solidFill>
                            <a:schemeClr val="tx1"/>
                          </a:solidFill>
                        </a:rPr>
                        <a:t>A + </a:t>
                      </a:r>
                      <a:r>
                        <a:rPr lang="en-US" altLang="zh-CN" sz="1600" i="0" dirty="0" err="1">
                          <a:solidFill>
                            <a:schemeClr val="tx1"/>
                          </a:solidFill>
                        </a:rPr>
                        <a:t>signext</a:t>
                      </a:r>
                      <a:r>
                        <a:rPr lang="en-US" altLang="zh-CN" sz="1600" i="0" dirty="0">
                          <a:solidFill>
                            <a:schemeClr val="tx1"/>
                          </a:solidFill>
                        </a:rPr>
                        <a:t>(IR[15:0])</a:t>
                      </a: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CN" sz="1600" b="1" i="0" dirty="0">
                          <a:solidFill>
                            <a:schemeClr val="tx1"/>
                          </a:solidFill>
                        </a:rPr>
                        <a:t>EX/</a:t>
                      </a:r>
                      <a:r>
                        <a:rPr lang="en-US" altLang="zh-CN" sz="1600" b="1" i="0" dirty="0" err="1">
                          <a:solidFill>
                            <a:schemeClr val="tx1"/>
                          </a:solidFill>
                        </a:rPr>
                        <a:t>MEM.ALUOut</a:t>
                      </a:r>
                      <a:r>
                        <a:rPr lang="en-US" altLang="zh-CN" sz="1600" b="1" i="0" dirty="0">
                          <a:solidFill>
                            <a:schemeClr val="tx1"/>
                          </a:solidFill>
                        </a:rPr>
                        <a:t>,</a:t>
                      </a: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CN" sz="1600" b="1" i="0" dirty="0">
                          <a:solidFill>
                            <a:schemeClr val="tx1"/>
                          </a:solidFill>
                        </a:rPr>
                        <a:t>MEM/</a:t>
                      </a:r>
                      <a:r>
                        <a:rPr lang="en-US" altLang="zh-CN" sz="1600" b="1" i="0" dirty="0" err="1">
                          <a:solidFill>
                            <a:schemeClr val="tx1"/>
                          </a:solidFill>
                        </a:rPr>
                        <a:t>WB.ALUOut</a:t>
                      </a:r>
                      <a:r>
                        <a:rPr lang="en-US" altLang="zh-CN" sz="1600" b="1" i="0" dirty="0">
                          <a:solidFill>
                            <a:schemeClr val="tx1"/>
                          </a:solidFill>
                        </a:rPr>
                        <a:t>,</a:t>
                      </a: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CN" sz="1600" b="1" i="0" dirty="0">
                          <a:solidFill>
                            <a:schemeClr val="tx1"/>
                          </a:solidFill>
                        </a:rPr>
                        <a:t>MDR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zh-CN" sz="1600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1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zh-CN" sz="1600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646873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CN" sz="1600" dirty="0"/>
                        <a:t>MEM</a:t>
                      </a:r>
                      <a:endParaRPr lang="zh-CN" altLang="en-US" sz="1600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zh-CN" altLang="en-US" sz="1600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CN" sz="1600" dirty="0"/>
                        <a:t>MDR </a:t>
                      </a:r>
                      <a:r>
                        <a:rPr lang="en-US" altLang="zh-CN" sz="1600" dirty="0">
                          <a:sym typeface="Symbol"/>
                        </a:rPr>
                        <a:t>&lt;= </a:t>
                      </a:r>
                      <a:r>
                        <a:rPr lang="en-US" altLang="zh-CN" sz="1600" dirty="0" err="1">
                          <a:sym typeface="Symbol"/>
                        </a:rPr>
                        <a:t>MemData</a:t>
                      </a:r>
                      <a:r>
                        <a:rPr lang="en-US" altLang="zh-CN" sz="1600" dirty="0">
                          <a:sym typeface="Symbol"/>
                        </a:rPr>
                        <a:t>[</a:t>
                      </a:r>
                      <a:r>
                        <a:rPr lang="en-US" altLang="zh-CN" sz="1600" dirty="0" err="1">
                          <a:sym typeface="Symbol"/>
                        </a:rPr>
                        <a:t>ALUOut</a:t>
                      </a:r>
                      <a:r>
                        <a:rPr lang="en-US" altLang="zh-CN" sz="1600" dirty="0">
                          <a:sym typeface="Symbol"/>
                        </a:rPr>
                        <a:t>];</a:t>
                      </a:r>
                      <a:endParaRPr lang="zh-CN" altLang="en-US" sz="1600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600" dirty="0" err="1">
                          <a:sym typeface="Symbol"/>
                        </a:rPr>
                        <a:t>MemData</a:t>
                      </a:r>
                      <a:r>
                        <a:rPr lang="en-US" altLang="zh-CN" sz="1600" dirty="0">
                          <a:sym typeface="Symbol"/>
                        </a:rPr>
                        <a:t>[</a:t>
                      </a:r>
                      <a:r>
                        <a:rPr lang="en-US" altLang="zh-CN" sz="1600" dirty="0" err="1">
                          <a:sym typeface="Symbol"/>
                        </a:rPr>
                        <a:t>ALUout</a:t>
                      </a:r>
                      <a:r>
                        <a:rPr lang="en-US" altLang="zh-CN" sz="1600" dirty="0">
                          <a:sym typeface="Symbol"/>
                        </a:rPr>
                        <a:t>] &lt;= B</a:t>
                      </a:r>
                      <a:endParaRPr lang="zh-CN" altLang="en-US" sz="1600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zh-CN" altLang="en-US" sz="1800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418273"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600" dirty="0"/>
                        <a:t>WB</a:t>
                      </a:r>
                      <a:endParaRPr lang="zh-CN" altLang="en-US" sz="1600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CN" sz="1600" dirty="0"/>
                        <a:t>Reg[IR[15:11]]</a:t>
                      </a:r>
                      <a:r>
                        <a:rPr lang="en-US" altLang="zh-CN" sz="1600" dirty="0">
                          <a:sym typeface="Symbol"/>
                        </a:rPr>
                        <a:t> &lt;= </a:t>
                      </a:r>
                      <a:r>
                        <a:rPr lang="en-US" altLang="zh-CN" sz="1600" dirty="0" err="1"/>
                        <a:t>ALUOut</a:t>
                      </a:r>
                      <a:endParaRPr lang="zh-CN" altLang="en-US" sz="1600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600" dirty="0"/>
                        <a:t>Reg[IR[20:16]]</a:t>
                      </a:r>
                      <a:r>
                        <a:rPr lang="en-US" altLang="zh-CN" sz="1600" dirty="0">
                          <a:sym typeface="Symbol"/>
                        </a:rPr>
                        <a:t> &lt;= MDR</a:t>
                      </a:r>
                      <a:endParaRPr lang="zh-CN" altLang="en-US" sz="1600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CN" altLang="en-US" sz="1600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CN" altLang="en-US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</a:tbl>
          </a:graphicData>
        </a:graphic>
      </p:graphicFrame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6" name="墨迹 5">
                <a:extLst>
                  <a:ext uri="{FF2B5EF4-FFF2-40B4-BE49-F238E27FC236}">
                    <a16:creationId xmlns:a16="http://schemas.microsoft.com/office/drawing/2014/main" id="{9EC0EA17-02BA-1CC1-3C5A-46A0784F86AA}"/>
                  </a:ext>
                </a:extLst>
              </p14:cNvPr>
              <p14:cNvContentPartPr/>
              <p14:nvPr/>
            </p14:nvContentPartPr>
            <p14:xfrm>
              <a:off x="3250800" y="1927440"/>
              <a:ext cx="5239440" cy="3848760"/>
            </p14:xfrm>
          </p:contentPart>
        </mc:Choice>
        <mc:Fallback xmlns="">
          <p:pic>
            <p:nvPicPr>
              <p:cNvPr id="6" name="墨迹 5">
                <a:extLst>
                  <a:ext uri="{FF2B5EF4-FFF2-40B4-BE49-F238E27FC236}">
                    <a16:creationId xmlns:a16="http://schemas.microsoft.com/office/drawing/2014/main" id="{9EC0EA17-02BA-1CC1-3C5A-46A0784F86AA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241440" y="1918080"/>
                <a:ext cx="5258160" cy="386748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3481604411"/>
      </p:ext>
    </p:extLst>
  </p:cSld>
  <p:clrMapOvr>
    <a:masterClrMapping/>
  </p:clrMapOvr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>
            <a:extLst>
              <a:ext uri="{FF2B5EF4-FFF2-40B4-BE49-F238E27FC236}">
                <a16:creationId xmlns:a16="http://schemas.microsoft.com/office/drawing/2014/main" id="{C6849276-2D59-4DF9-9377-4E1E1B35B47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dirty="0"/>
              <a:t>控制冒险解决方法：延迟槽技术</a:t>
            </a:r>
          </a:p>
        </p:txBody>
      </p:sp>
      <p:sp>
        <p:nvSpPr>
          <p:cNvPr id="3" name="内容占位符 2">
            <a:extLst>
              <a:ext uri="{FF2B5EF4-FFF2-40B4-BE49-F238E27FC236}">
                <a16:creationId xmlns:a16="http://schemas.microsoft.com/office/drawing/2014/main" id="{130044C0-5193-425E-80C1-734CFE82AEAA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457199" y="1166020"/>
            <a:ext cx="8648699" cy="4525963"/>
          </a:xfrm>
        </p:spPr>
        <p:txBody>
          <a:bodyPr/>
          <a:lstStyle/>
          <a:p>
            <a:r>
              <a:rPr lang="zh-CN" altLang="en-US" sz="2400" dirty="0">
                <a:solidFill>
                  <a:srgbClr val="3333FF"/>
                </a:solidFill>
              </a:rPr>
              <a:t>阻塞的一次</a:t>
            </a:r>
            <a:r>
              <a:rPr lang="en-US" altLang="zh-CN" sz="2400" dirty="0">
                <a:solidFill>
                  <a:srgbClr val="3333FF"/>
                </a:solidFill>
              </a:rPr>
              <a:t>Stall</a:t>
            </a:r>
            <a:r>
              <a:rPr lang="zh-CN" altLang="en-US" sz="2400" dirty="0">
                <a:solidFill>
                  <a:srgbClr val="3333FF"/>
                </a:solidFill>
              </a:rPr>
              <a:t>可以利用起来吗？</a:t>
            </a:r>
            <a:endParaRPr lang="en-US" altLang="zh-CN" sz="2400" dirty="0">
              <a:solidFill>
                <a:srgbClr val="3333FF"/>
              </a:solidFill>
            </a:endParaRPr>
          </a:p>
          <a:p>
            <a:pPr lvl="1"/>
            <a:r>
              <a:rPr lang="en-US" altLang="zh-CN" sz="2000" dirty="0" err="1"/>
              <a:t>Beq</a:t>
            </a:r>
            <a:r>
              <a:rPr lang="zh-CN" altLang="en-US" sz="2000" dirty="0"/>
              <a:t>指令优化后也造成一次</a:t>
            </a:r>
            <a:r>
              <a:rPr lang="en-US" altLang="zh-CN" sz="2000" dirty="0"/>
              <a:t>Stall</a:t>
            </a:r>
            <a:r>
              <a:rPr lang="zh-CN" altLang="en-US" sz="2000" dirty="0"/>
              <a:t>，即总等待一个周期才知道是否跳转</a:t>
            </a:r>
          </a:p>
          <a:p>
            <a:pPr lvl="1"/>
            <a:r>
              <a:rPr lang="zh-CN" altLang="en-US" sz="2000" dirty="0"/>
              <a:t>这一个等待周期只能空着吗？可否用来执行一些必定要执行的指令？</a:t>
            </a:r>
          </a:p>
          <a:p>
            <a:pPr lvl="1"/>
            <a:endParaRPr lang="en-US" altLang="zh-CN" dirty="0"/>
          </a:p>
        </p:txBody>
      </p:sp>
      <p:sp>
        <p:nvSpPr>
          <p:cNvPr id="4" name="灯片编号占位符 3">
            <a:extLst>
              <a:ext uri="{FF2B5EF4-FFF2-40B4-BE49-F238E27FC236}">
                <a16:creationId xmlns:a16="http://schemas.microsoft.com/office/drawing/2014/main" id="{5F008612-7D01-4F09-AFBF-ADC6DF9DC73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1806CE5-282B-4233-8654-09F35EA875E2}" type="slidenum">
              <a:rPr lang="zh-CN" altLang="en-US" smtClean="0"/>
              <a:t>45</a:t>
            </a:fld>
            <a:endParaRPr lang="zh-CN" altLang="en-US" dirty="0"/>
          </a:p>
        </p:txBody>
      </p:sp>
      <p:sp>
        <p:nvSpPr>
          <p:cNvPr id="8" name="矩形 1">
            <a:extLst>
              <a:ext uri="{FF2B5EF4-FFF2-40B4-BE49-F238E27FC236}">
                <a16:creationId xmlns:a16="http://schemas.microsoft.com/office/drawing/2014/main" id="{7C0C18A6-5317-024D-AE9E-1AC240A7EF79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22945" y="3528101"/>
            <a:ext cx="2963855" cy="163121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/>
          <a:p>
            <a:pPr marL="400050" lvl="2"/>
            <a:r>
              <a:rPr lang="en-US" altLang="zh-CN" sz="2500" dirty="0">
                <a:ea typeface="SimHei" panose="02010609060101010101" pitchFamily="49" charset="-122"/>
              </a:rPr>
              <a:t>add $4, $5, $6</a:t>
            </a:r>
          </a:p>
          <a:p>
            <a:pPr marL="400050" lvl="2"/>
            <a:r>
              <a:rPr lang="en-US" altLang="zh-CN" sz="2500" dirty="0" err="1">
                <a:solidFill>
                  <a:srgbClr val="00B050"/>
                </a:solidFill>
                <a:ea typeface="SimHei" panose="02010609060101010101" pitchFamily="49" charset="-122"/>
              </a:rPr>
              <a:t>beq</a:t>
            </a:r>
            <a:r>
              <a:rPr lang="en-US" altLang="zh-CN" sz="2500" dirty="0">
                <a:solidFill>
                  <a:srgbClr val="00B050"/>
                </a:solidFill>
                <a:ea typeface="SimHei" panose="02010609060101010101" pitchFamily="49" charset="-122"/>
              </a:rPr>
              <a:t> $1, $2, 40</a:t>
            </a:r>
          </a:p>
          <a:p>
            <a:pPr marL="400050" lvl="2"/>
            <a:r>
              <a:rPr lang="en-US" altLang="zh-CN" sz="2500" dirty="0" err="1">
                <a:solidFill>
                  <a:schemeClr val="tx1">
                    <a:lumMod val="50000"/>
                    <a:lumOff val="50000"/>
                  </a:schemeClr>
                </a:solidFill>
                <a:ea typeface="SimHei" panose="02010609060101010101" pitchFamily="49" charset="-122"/>
              </a:rPr>
              <a:t>lw</a:t>
            </a:r>
            <a:r>
              <a:rPr lang="en-US" altLang="zh-CN" sz="2500" dirty="0">
                <a:solidFill>
                  <a:schemeClr val="tx1">
                    <a:lumMod val="50000"/>
                    <a:lumOff val="50000"/>
                  </a:schemeClr>
                </a:solidFill>
                <a:ea typeface="SimHei" panose="02010609060101010101" pitchFamily="49" charset="-122"/>
              </a:rPr>
              <a:t> $3, 300($0)</a:t>
            </a:r>
          </a:p>
          <a:p>
            <a:pPr marL="400050" lvl="2"/>
            <a:r>
              <a:rPr lang="en-US" altLang="zh-CN" sz="2500" dirty="0">
                <a:ea typeface="SimHei" panose="02010609060101010101" pitchFamily="49" charset="-122"/>
              </a:rPr>
              <a:t>…</a:t>
            </a:r>
          </a:p>
        </p:txBody>
      </p:sp>
      <p:cxnSp>
        <p:nvCxnSpPr>
          <p:cNvPr id="6" name="直接箭头连接符 5">
            <a:extLst>
              <a:ext uri="{FF2B5EF4-FFF2-40B4-BE49-F238E27FC236}">
                <a16:creationId xmlns:a16="http://schemas.microsoft.com/office/drawing/2014/main" id="{51E631FC-2C4C-B683-93C0-2FF2503BB005}"/>
              </a:ext>
            </a:extLst>
          </p:cNvPr>
          <p:cNvCxnSpPr>
            <a:cxnSpLocks/>
          </p:cNvCxnSpPr>
          <p:nvPr/>
        </p:nvCxnSpPr>
        <p:spPr>
          <a:xfrm flipH="1" flipV="1">
            <a:off x="4294909" y="3429000"/>
            <a:ext cx="1838086" cy="718127"/>
          </a:xfrm>
          <a:prstGeom prst="straightConnector1">
            <a:avLst/>
          </a:prstGeom>
          <a:ln w="38100"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" name="直接箭头连接符 9">
            <a:extLst>
              <a:ext uri="{FF2B5EF4-FFF2-40B4-BE49-F238E27FC236}">
                <a16:creationId xmlns:a16="http://schemas.microsoft.com/office/drawing/2014/main" id="{99FB8C9D-421B-12F6-626B-04034E52D5B7}"/>
              </a:ext>
            </a:extLst>
          </p:cNvPr>
          <p:cNvCxnSpPr>
            <a:cxnSpLocks/>
          </p:cNvCxnSpPr>
          <p:nvPr/>
        </p:nvCxnSpPr>
        <p:spPr>
          <a:xfrm flipH="1">
            <a:off x="4710545" y="3788063"/>
            <a:ext cx="1422450" cy="165101"/>
          </a:xfrm>
          <a:prstGeom prst="straightConnector1">
            <a:avLst/>
          </a:prstGeom>
          <a:ln w="38100"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" name="Group 4">
            <a:extLst>
              <a:ext uri="{FF2B5EF4-FFF2-40B4-BE49-F238E27FC236}">
                <a16:creationId xmlns:a16="http://schemas.microsoft.com/office/drawing/2014/main" id="{4344D16B-2B58-43B3-9169-4B7F5FCA2B9C}"/>
              </a:ext>
            </a:extLst>
          </p:cNvPr>
          <p:cNvGrpSpPr>
            <a:grpSpLocks noChangeAspect="1"/>
          </p:cNvGrpSpPr>
          <p:nvPr/>
        </p:nvGrpSpPr>
        <p:grpSpPr bwMode="auto">
          <a:xfrm>
            <a:off x="174625" y="2928938"/>
            <a:ext cx="5899151" cy="3792537"/>
            <a:chOff x="110" y="1845"/>
            <a:chExt cx="3716" cy="2389"/>
          </a:xfrm>
        </p:grpSpPr>
        <p:sp>
          <p:nvSpPr>
            <p:cNvPr id="9" name="AutoShape 3">
              <a:extLst>
                <a:ext uri="{FF2B5EF4-FFF2-40B4-BE49-F238E27FC236}">
                  <a16:creationId xmlns:a16="http://schemas.microsoft.com/office/drawing/2014/main" id="{303EDBE5-3CD0-4B4E-A7D5-664E78AD1798}"/>
                </a:ext>
              </a:extLst>
            </p:cNvPr>
            <p:cNvSpPr>
              <a:spLocks noChangeAspect="1" noChangeArrowheads="1" noTextEdit="1"/>
            </p:cNvSpPr>
            <p:nvPr/>
          </p:nvSpPr>
          <p:spPr bwMode="auto">
            <a:xfrm>
              <a:off x="110" y="1845"/>
              <a:ext cx="3715" cy="238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" name="Rectangle 5">
              <a:extLst>
                <a:ext uri="{FF2B5EF4-FFF2-40B4-BE49-F238E27FC236}">
                  <a16:creationId xmlns:a16="http://schemas.microsoft.com/office/drawing/2014/main" id="{7BF227E9-BC8B-4AF4-B6F9-FD8A138F7B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01" y="2694"/>
              <a:ext cx="233" cy="193"/>
            </a:xfrm>
            <a:prstGeom prst="rect">
              <a:avLst/>
            </a:prstGeom>
            <a:solidFill>
              <a:srgbClr val="00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" name="Rectangle 6">
              <a:extLst>
                <a:ext uri="{FF2B5EF4-FFF2-40B4-BE49-F238E27FC236}">
                  <a16:creationId xmlns:a16="http://schemas.microsoft.com/office/drawing/2014/main" id="{37C76F84-2D27-4F58-930C-CA1F96252F2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01" y="2694"/>
              <a:ext cx="233" cy="193"/>
            </a:xfrm>
            <a:prstGeom prst="rect">
              <a:avLst/>
            </a:prstGeom>
            <a:noFill/>
            <a:ln w="7938" cap="flat">
              <a:solidFill>
                <a:srgbClr val="0099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" name="Rectangle 7">
              <a:extLst>
                <a:ext uri="{FF2B5EF4-FFF2-40B4-BE49-F238E27FC236}">
                  <a16:creationId xmlns:a16="http://schemas.microsoft.com/office/drawing/2014/main" id="{994439E7-E79F-489D-A26C-5E1454BB77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2" y="2390"/>
              <a:ext cx="316" cy="18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16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stall</a:t>
              </a:r>
              <a:endParaRPr kumimoji="0" lang="zh-CN" altLang="zh-CN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15" name="Freeform 9">
              <a:extLst>
                <a:ext uri="{FF2B5EF4-FFF2-40B4-BE49-F238E27FC236}">
                  <a16:creationId xmlns:a16="http://schemas.microsoft.com/office/drawing/2014/main" id="{B9FA3453-D4B3-4895-9AB4-2A13C0F274D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5" y="2364"/>
              <a:ext cx="300" cy="257"/>
            </a:xfrm>
            <a:custGeom>
              <a:avLst/>
              <a:gdLst>
                <a:gd name="T0" fmla="*/ 160 w 300"/>
                <a:gd name="T1" fmla="*/ 52 h 257"/>
                <a:gd name="T2" fmla="*/ 206 w 300"/>
                <a:gd name="T3" fmla="*/ 0 h 257"/>
                <a:gd name="T4" fmla="*/ 202 w 300"/>
                <a:gd name="T5" fmla="*/ 69 h 257"/>
                <a:gd name="T6" fmla="*/ 250 w 300"/>
                <a:gd name="T7" fmla="*/ 38 h 257"/>
                <a:gd name="T8" fmla="*/ 228 w 300"/>
                <a:gd name="T9" fmla="*/ 78 h 257"/>
                <a:gd name="T10" fmla="*/ 300 w 300"/>
                <a:gd name="T11" fmla="*/ 79 h 257"/>
                <a:gd name="T12" fmla="*/ 236 w 300"/>
                <a:gd name="T13" fmla="*/ 112 h 257"/>
                <a:gd name="T14" fmla="*/ 254 w 300"/>
                <a:gd name="T15" fmla="*/ 135 h 257"/>
                <a:gd name="T16" fmla="*/ 228 w 300"/>
                <a:gd name="T17" fmla="*/ 147 h 257"/>
                <a:gd name="T18" fmla="*/ 262 w 300"/>
                <a:gd name="T19" fmla="*/ 186 h 257"/>
                <a:gd name="T20" fmla="*/ 203 w 300"/>
                <a:gd name="T21" fmla="*/ 171 h 257"/>
                <a:gd name="T22" fmla="*/ 208 w 300"/>
                <a:gd name="T23" fmla="*/ 207 h 257"/>
                <a:gd name="T24" fmla="*/ 169 w 300"/>
                <a:gd name="T25" fmla="*/ 190 h 257"/>
                <a:gd name="T26" fmla="*/ 162 w 300"/>
                <a:gd name="T27" fmla="*/ 225 h 257"/>
                <a:gd name="T28" fmla="*/ 137 w 300"/>
                <a:gd name="T29" fmla="*/ 207 h 257"/>
                <a:gd name="T30" fmla="*/ 121 w 300"/>
                <a:gd name="T31" fmla="*/ 235 h 257"/>
                <a:gd name="T32" fmla="*/ 105 w 300"/>
                <a:gd name="T33" fmla="*/ 216 h 257"/>
                <a:gd name="T34" fmla="*/ 69 w 300"/>
                <a:gd name="T35" fmla="*/ 257 h 257"/>
                <a:gd name="T36" fmla="*/ 67 w 300"/>
                <a:gd name="T37" fmla="*/ 217 h 257"/>
                <a:gd name="T38" fmla="*/ 18 w 300"/>
                <a:gd name="T39" fmla="*/ 212 h 257"/>
                <a:gd name="T40" fmla="*/ 47 w 300"/>
                <a:gd name="T41" fmla="*/ 183 h 257"/>
                <a:gd name="T42" fmla="*/ 0 w 300"/>
                <a:gd name="T43" fmla="*/ 153 h 257"/>
                <a:gd name="T44" fmla="*/ 55 w 300"/>
                <a:gd name="T45" fmla="*/ 138 h 257"/>
                <a:gd name="T46" fmla="*/ 17 w 300"/>
                <a:gd name="T47" fmla="*/ 99 h 257"/>
                <a:gd name="T48" fmla="*/ 75 w 300"/>
                <a:gd name="T49" fmla="*/ 93 h 257"/>
                <a:gd name="T50" fmla="*/ 63 w 300"/>
                <a:gd name="T51" fmla="*/ 43 h 257"/>
                <a:gd name="T52" fmla="*/ 119 w 300"/>
                <a:gd name="T53" fmla="*/ 76 h 257"/>
                <a:gd name="T54" fmla="*/ 135 w 300"/>
                <a:gd name="T55" fmla="*/ 22 h 257"/>
                <a:gd name="T56" fmla="*/ 160 w 300"/>
                <a:gd name="T57" fmla="*/ 52 h 2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300" h="257">
                  <a:moveTo>
                    <a:pt x="160" y="52"/>
                  </a:moveTo>
                  <a:lnTo>
                    <a:pt x="206" y="0"/>
                  </a:lnTo>
                  <a:lnTo>
                    <a:pt x="202" y="69"/>
                  </a:lnTo>
                  <a:lnTo>
                    <a:pt x="250" y="38"/>
                  </a:lnTo>
                  <a:lnTo>
                    <a:pt x="228" y="78"/>
                  </a:lnTo>
                  <a:lnTo>
                    <a:pt x="300" y="79"/>
                  </a:lnTo>
                  <a:lnTo>
                    <a:pt x="236" y="112"/>
                  </a:lnTo>
                  <a:lnTo>
                    <a:pt x="254" y="135"/>
                  </a:lnTo>
                  <a:lnTo>
                    <a:pt x="228" y="147"/>
                  </a:lnTo>
                  <a:lnTo>
                    <a:pt x="262" y="186"/>
                  </a:lnTo>
                  <a:lnTo>
                    <a:pt x="203" y="171"/>
                  </a:lnTo>
                  <a:lnTo>
                    <a:pt x="208" y="207"/>
                  </a:lnTo>
                  <a:lnTo>
                    <a:pt x="169" y="190"/>
                  </a:lnTo>
                  <a:lnTo>
                    <a:pt x="162" y="225"/>
                  </a:lnTo>
                  <a:lnTo>
                    <a:pt x="137" y="207"/>
                  </a:lnTo>
                  <a:lnTo>
                    <a:pt x="121" y="235"/>
                  </a:lnTo>
                  <a:lnTo>
                    <a:pt x="105" y="216"/>
                  </a:lnTo>
                  <a:lnTo>
                    <a:pt x="69" y="257"/>
                  </a:lnTo>
                  <a:lnTo>
                    <a:pt x="67" y="217"/>
                  </a:lnTo>
                  <a:lnTo>
                    <a:pt x="18" y="212"/>
                  </a:lnTo>
                  <a:lnTo>
                    <a:pt x="47" y="183"/>
                  </a:lnTo>
                  <a:lnTo>
                    <a:pt x="0" y="153"/>
                  </a:lnTo>
                  <a:lnTo>
                    <a:pt x="55" y="138"/>
                  </a:lnTo>
                  <a:lnTo>
                    <a:pt x="17" y="99"/>
                  </a:lnTo>
                  <a:lnTo>
                    <a:pt x="75" y="93"/>
                  </a:lnTo>
                  <a:lnTo>
                    <a:pt x="63" y="43"/>
                  </a:lnTo>
                  <a:lnTo>
                    <a:pt x="119" y="76"/>
                  </a:lnTo>
                  <a:lnTo>
                    <a:pt x="135" y="22"/>
                  </a:lnTo>
                  <a:lnTo>
                    <a:pt x="160" y="52"/>
                  </a:lnTo>
                  <a:close/>
                </a:path>
              </a:pathLst>
            </a:custGeom>
            <a:pattFill prst="shingle">
              <a:fgClr>
                <a:srgbClr val="3C09F7"/>
              </a:fgClr>
              <a:bgClr>
                <a:schemeClr val="bg1"/>
              </a:bgClr>
            </a:pattFill>
            <a:ln w="7938" cap="flat">
              <a:solidFill>
                <a:srgbClr val="3C09F7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" name="Freeform 11">
              <a:extLst>
                <a:ext uri="{FF2B5EF4-FFF2-40B4-BE49-F238E27FC236}">
                  <a16:creationId xmlns:a16="http://schemas.microsoft.com/office/drawing/2014/main" id="{7786DACD-474E-47B2-AB2B-958D5BD1091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5" y="2364"/>
              <a:ext cx="300" cy="257"/>
            </a:xfrm>
            <a:custGeom>
              <a:avLst/>
              <a:gdLst>
                <a:gd name="T0" fmla="*/ 159 w 300"/>
                <a:gd name="T1" fmla="*/ 52 h 257"/>
                <a:gd name="T2" fmla="*/ 205 w 300"/>
                <a:gd name="T3" fmla="*/ 0 h 257"/>
                <a:gd name="T4" fmla="*/ 202 w 300"/>
                <a:gd name="T5" fmla="*/ 69 h 257"/>
                <a:gd name="T6" fmla="*/ 250 w 300"/>
                <a:gd name="T7" fmla="*/ 38 h 257"/>
                <a:gd name="T8" fmla="*/ 228 w 300"/>
                <a:gd name="T9" fmla="*/ 78 h 257"/>
                <a:gd name="T10" fmla="*/ 300 w 300"/>
                <a:gd name="T11" fmla="*/ 79 h 257"/>
                <a:gd name="T12" fmla="*/ 236 w 300"/>
                <a:gd name="T13" fmla="*/ 112 h 257"/>
                <a:gd name="T14" fmla="*/ 254 w 300"/>
                <a:gd name="T15" fmla="*/ 135 h 257"/>
                <a:gd name="T16" fmla="*/ 228 w 300"/>
                <a:gd name="T17" fmla="*/ 147 h 257"/>
                <a:gd name="T18" fmla="*/ 262 w 300"/>
                <a:gd name="T19" fmla="*/ 186 h 257"/>
                <a:gd name="T20" fmla="*/ 203 w 300"/>
                <a:gd name="T21" fmla="*/ 171 h 257"/>
                <a:gd name="T22" fmla="*/ 208 w 300"/>
                <a:gd name="T23" fmla="*/ 207 h 257"/>
                <a:gd name="T24" fmla="*/ 169 w 300"/>
                <a:gd name="T25" fmla="*/ 190 h 257"/>
                <a:gd name="T26" fmla="*/ 161 w 300"/>
                <a:gd name="T27" fmla="*/ 225 h 257"/>
                <a:gd name="T28" fmla="*/ 137 w 300"/>
                <a:gd name="T29" fmla="*/ 207 h 257"/>
                <a:gd name="T30" fmla="*/ 121 w 300"/>
                <a:gd name="T31" fmla="*/ 235 h 257"/>
                <a:gd name="T32" fmla="*/ 105 w 300"/>
                <a:gd name="T33" fmla="*/ 216 h 257"/>
                <a:gd name="T34" fmla="*/ 69 w 300"/>
                <a:gd name="T35" fmla="*/ 257 h 257"/>
                <a:gd name="T36" fmla="*/ 67 w 300"/>
                <a:gd name="T37" fmla="*/ 217 h 257"/>
                <a:gd name="T38" fmla="*/ 18 w 300"/>
                <a:gd name="T39" fmla="*/ 212 h 257"/>
                <a:gd name="T40" fmla="*/ 46 w 300"/>
                <a:gd name="T41" fmla="*/ 183 h 257"/>
                <a:gd name="T42" fmla="*/ 0 w 300"/>
                <a:gd name="T43" fmla="*/ 153 h 257"/>
                <a:gd name="T44" fmla="*/ 55 w 300"/>
                <a:gd name="T45" fmla="*/ 138 h 257"/>
                <a:gd name="T46" fmla="*/ 16 w 300"/>
                <a:gd name="T47" fmla="*/ 99 h 257"/>
                <a:gd name="T48" fmla="*/ 75 w 300"/>
                <a:gd name="T49" fmla="*/ 93 h 257"/>
                <a:gd name="T50" fmla="*/ 63 w 300"/>
                <a:gd name="T51" fmla="*/ 43 h 257"/>
                <a:gd name="T52" fmla="*/ 119 w 300"/>
                <a:gd name="T53" fmla="*/ 76 h 257"/>
                <a:gd name="T54" fmla="*/ 135 w 300"/>
                <a:gd name="T55" fmla="*/ 22 h 257"/>
                <a:gd name="T56" fmla="*/ 159 w 300"/>
                <a:gd name="T57" fmla="*/ 52 h 2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300" h="257">
                  <a:moveTo>
                    <a:pt x="159" y="52"/>
                  </a:moveTo>
                  <a:lnTo>
                    <a:pt x="205" y="0"/>
                  </a:lnTo>
                  <a:lnTo>
                    <a:pt x="202" y="69"/>
                  </a:lnTo>
                  <a:lnTo>
                    <a:pt x="250" y="38"/>
                  </a:lnTo>
                  <a:lnTo>
                    <a:pt x="228" y="78"/>
                  </a:lnTo>
                  <a:lnTo>
                    <a:pt x="300" y="79"/>
                  </a:lnTo>
                  <a:lnTo>
                    <a:pt x="236" y="112"/>
                  </a:lnTo>
                  <a:lnTo>
                    <a:pt x="254" y="135"/>
                  </a:lnTo>
                  <a:lnTo>
                    <a:pt x="228" y="147"/>
                  </a:lnTo>
                  <a:lnTo>
                    <a:pt x="262" y="186"/>
                  </a:lnTo>
                  <a:lnTo>
                    <a:pt x="203" y="171"/>
                  </a:lnTo>
                  <a:lnTo>
                    <a:pt x="208" y="207"/>
                  </a:lnTo>
                  <a:lnTo>
                    <a:pt x="169" y="190"/>
                  </a:lnTo>
                  <a:lnTo>
                    <a:pt x="161" y="225"/>
                  </a:lnTo>
                  <a:lnTo>
                    <a:pt x="137" y="207"/>
                  </a:lnTo>
                  <a:lnTo>
                    <a:pt x="121" y="235"/>
                  </a:lnTo>
                  <a:lnTo>
                    <a:pt x="105" y="216"/>
                  </a:lnTo>
                  <a:lnTo>
                    <a:pt x="69" y="257"/>
                  </a:lnTo>
                  <a:lnTo>
                    <a:pt x="67" y="217"/>
                  </a:lnTo>
                  <a:lnTo>
                    <a:pt x="18" y="212"/>
                  </a:lnTo>
                  <a:lnTo>
                    <a:pt x="46" y="183"/>
                  </a:lnTo>
                  <a:lnTo>
                    <a:pt x="0" y="153"/>
                  </a:lnTo>
                  <a:lnTo>
                    <a:pt x="55" y="138"/>
                  </a:lnTo>
                  <a:lnTo>
                    <a:pt x="16" y="99"/>
                  </a:lnTo>
                  <a:lnTo>
                    <a:pt x="75" y="93"/>
                  </a:lnTo>
                  <a:lnTo>
                    <a:pt x="63" y="43"/>
                  </a:lnTo>
                  <a:lnTo>
                    <a:pt x="119" y="76"/>
                  </a:lnTo>
                  <a:lnTo>
                    <a:pt x="135" y="22"/>
                  </a:lnTo>
                  <a:lnTo>
                    <a:pt x="159" y="52"/>
                  </a:lnTo>
                  <a:close/>
                </a:path>
              </a:pathLst>
            </a:custGeom>
            <a:pattFill prst="shingle">
              <a:fgClr>
                <a:srgbClr val="3C09F7"/>
              </a:fgClr>
              <a:bgClr>
                <a:schemeClr val="bg1"/>
              </a:bgClr>
            </a:pattFill>
            <a:ln w="7938" cap="flat">
              <a:solidFill>
                <a:srgbClr val="3C09F7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" name="Freeform 13">
              <a:extLst>
                <a:ext uri="{FF2B5EF4-FFF2-40B4-BE49-F238E27FC236}">
                  <a16:creationId xmlns:a16="http://schemas.microsoft.com/office/drawing/2014/main" id="{C402E8EE-9325-4AD0-8175-B5749CBD6D7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5" y="2364"/>
              <a:ext cx="300" cy="257"/>
            </a:xfrm>
            <a:custGeom>
              <a:avLst/>
              <a:gdLst>
                <a:gd name="T0" fmla="*/ 159 w 300"/>
                <a:gd name="T1" fmla="*/ 52 h 257"/>
                <a:gd name="T2" fmla="*/ 205 w 300"/>
                <a:gd name="T3" fmla="*/ 0 h 257"/>
                <a:gd name="T4" fmla="*/ 202 w 300"/>
                <a:gd name="T5" fmla="*/ 69 h 257"/>
                <a:gd name="T6" fmla="*/ 250 w 300"/>
                <a:gd name="T7" fmla="*/ 38 h 257"/>
                <a:gd name="T8" fmla="*/ 227 w 300"/>
                <a:gd name="T9" fmla="*/ 78 h 257"/>
                <a:gd name="T10" fmla="*/ 300 w 300"/>
                <a:gd name="T11" fmla="*/ 79 h 257"/>
                <a:gd name="T12" fmla="*/ 236 w 300"/>
                <a:gd name="T13" fmla="*/ 112 h 257"/>
                <a:gd name="T14" fmla="*/ 254 w 300"/>
                <a:gd name="T15" fmla="*/ 135 h 257"/>
                <a:gd name="T16" fmla="*/ 227 w 300"/>
                <a:gd name="T17" fmla="*/ 147 h 257"/>
                <a:gd name="T18" fmla="*/ 262 w 300"/>
                <a:gd name="T19" fmla="*/ 186 h 257"/>
                <a:gd name="T20" fmla="*/ 203 w 300"/>
                <a:gd name="T21" fmla="*/ 171 h 257"/>
                <a:gd name="T22" fmla="*/ 207 w 300"/>
                <a:gd name="T23" fmla="*/ 207 h 257"/>
                <a:gd name="T24" fmla="*/ 169 w 300"/>
                <a:gd name="T25" fmla="*/ 190 h 257"/>
                <a:gd name="T26" fmla="*/ 161 w 300"/>
                <a:gd name="T27" fmla="*/ 225 h 257"/>
                <a:gd name="T28" fmla="*/ 137 w 300"/>
                <a:gd name="T29" fmla="*/ 207 h 257"/>
                <a:gd name="T30" fmla="*/ 121 w 300"/>
                <a:gd name="T31" fmla="*/ 235 h 257"/>
                <a:gd name="T32" fmla="*/ 105 w 300"/>
                <a:gd name="T33" fmla="*/ 216 h 257"/>
                <a:gd name="T34" fmla="*/ 68 w 300"/>
                <a:gd name="T35" fmla="*/ 257 h 257"/>
                <a:gd name="T36" fmla="*/ 67 w 300"/>
                <a:gd name="T37" fmla="*/ 217 h 257"/>
                <a:gd name="T38" fmla="*/ 18 w 300"/>
                <a:gd name="T39" fmla="*/ 212 h 257"/>
                <a:gd name="T40" fmla="*/ 46 w 300"/>
                <a:gd name="T41" fmla="*/ 183 h 257"/>
                <a:gd name="T42" fmla="*/ 0 w 300"/>
                <a:gd name="T43" fmla="*/ 153 h 257"/>
                <a:gd name="T44" fmla="*/ 55 w 300"/>
                <a:gd name="T45" fmla="*/ 138 h 257"/>
                <a:gd name="T46" fmla="*/ 16 w 300"/>
                <a:gd name="T47" fmla="*/ 99 h 257"/>
                <a:gd name="T48" fmla="*/ 75 w 300"/>
                <a:gd name="T49" fmla="*/ 93 h 257"/>
                <a:gd name="T50" fmla="*/ 63 w 300"/>
                <a:gd name="T51" fmla="*/ 43 h 257"/>
                <a:gd name="T52" fmla="*/ 119 w 300"/>
                <a:gd name="T53" fmla="*/ 76 h 257"/>
                <a:gd name="T54" fmla="*/ 135 w 300"/>
                <a:gd name="T55" fmla="*/ 22 h 257"/>
                <a:gd name="T56" fmla="*/ 159 w 300"/>
                <a:gd name="T57" fmla="*/ 52 h 2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300" h="257">
                  <a:moveTo>
                    <a:pt x="159" y="52"/>
                  </a:moveTo>
                  <a:lnTo>
                    <a:pt x="205" y="0"/>
                  </a:lnTo>
                  <a:lnTo>
                    <a:pt x="202" y="69"/>
                  </a:lnTo>
                  <a:lnTo>
                    <a:pt x="250" y="38"/>
                  </a:lnTo>
                  <a:lnTo>
                    <a:pt x="227" y="78"/>
                  </a:lnTo>
                  <a:lnTo>
                    <a:pt x="300" y="79"/>
                  </a:lnTo>
                  <a:lnTo>
                    <a:pt x="236" y="112"/>
                  </a:lnTo>
                  <a:lnTo>
                    <a:pt x="254" y="135"/>
                  </a:lnTo>
                  <a:lnTo>
                    <a:pt x="227" y="147"/>
                  </a:lnTo>
                  <a:lnTo>
                    <a:pt x="262" y="186"/>
                  </a:lnTo>
                  <a:lnTo>
                    <a:pt x="203" y="171"/>
                  </a:lnTo>
                  <a:lnTo>
                    <a:pt x="207" y="207"/>
                  </a:lnTo>
                  <a:lnTo>
                    <a:pt x="169" y="190"/>
                  </a:lnTo>
                  <a:lnTo>
                    <a:pt x="161" y="225"/>
                  </a:lnTo>
                  <a:lnTo>
                    <a:pt x="137" y="207"/>
                  </a:lnTo>
                  <a:lnTo>
                    <a:pt x="121" y="235"/>
                  </a:lnTo>
                  <a:lnTo>
                    <a:pt x="105" y="216"/>
                  </a:lnTo>
                  <a:lnTo>
                    <a:pt x="68" y="257"/>
                  </a:lnTo>
                  <a:lnTo>
                    <a:pt x="67" y="217"/>
                  </a:lnTo>
                  <a:lnTo>
                    <a:pt x="18" y="212"/>
                  </a:lnTo>
                  <a:lnTo>
                    <a:pt x="46" y="183"/>
                  </a:lnTo>
                  <a:lnTo>
                    <a:pt x="0" y="153"/>
                  </a:lnTo>
                  <a:lnTo>
                    <a:pt x="55" y="138"/>
                  </a:lnTo>
                  <a:lnTo>
                    <a:pt x="16" y="99"/>
                  </a:lnTo>
                  <a:lnTo>
                    <a:pt x="75" y="93"/>
                  </a:lnTo>
                  <a:lnTo>
                    <a:pt x="63" y="43"/>
                  </a:lnTo>
                  <a:lnTo>
                    <a:pt x="119" y="76"/>
                  </a:lnTo>
                  <a:lnTo>
                    <a:pt x="135" y="22"/>
                  </a:lnTo>
                  <a:lnTo>
                    <a:pt x="159" y="52"/>
                  </a:lnTo>
                  <a:close/>
                </a:path>
              </a:pathLst>
            </a:custGeom>
            <a:pattFill prst="shingle">
              <a:fgClr>
                <a:srgbClr val="3C09F7"/>
              </a:fgClr>
              <a:bgClr>
                <a:schemeClr val="bg1"/>
              </a:bgClr>
            </a:pattFill>
            <a:ln w="7938" cap="flat">
              <a:solidFill>
                <a:srgbClr val="3C09F7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" name="Freeform 15">
              <a:extLst>
                <a:ext uri="{FF2B5EF4-FFF2-40B4-BE49-F238E27FC236}">
                  <a16:creationId xmlns:a16="http://schemas.microsoft.com/office/drawing/2014/main" id="{5CB1A0F0-DD1C-4817-BF1C-5A3ADEC2C69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5" y="2364"/>
              <a:ext cx="300" cy="257"/>
            </a:xfrm>
            <a:custGeom>
              <a:avLst/>
              <a:gdLst>
                <a:gd name="T0" fmla="*/ 159 w 300"/>
                <a:gd name="T1" fmla="*/ 52 h 257"/>
                <a:gd name="T2" fmla="*/ 205 w 300"/>
                <a:gd name="T3" fmla="*/ 0 h 257"/>
                <a:gd name="T4" fmla="*/ 202 w 300"/>
                <a:gd name="T5" fmla="*/ 69 h 257"/>
                <a:gd name="T6" fmla="*/ 250 w 300"/>
                <a:gd name="T7" fmla="*/ 38 h 257"/>
                <a:gd name="T8" fmla="*/ 227 w 300"/>
                <a:gd name="T9" fmla="*/ 78 h 257"/>
                <a:gd name="T10" fmla="*/ 300 w 300"/>
                <a:gd name="T11" fmla="*/ 79 h 257"/>
                <a:gd name="T12" fmla="*/ 236 w 300"/>
                <a:gd name="T13" fmla="*/ 112 h 257"/>
                <a:gd name="T14" fmla="*/ 254 w 300"/>
                <a:gd name="T15" fmla="*/ 135 h 257"/>
                <a:gd name="T16" fmla="*/ 227 w 300"/>
                <a:gd name="T17" fmla="*/ 147 h 257"/>
                <a:gd name="T18" fmla="*/ 262 w 300"/>
                <a:gd name="T19" fmla="*/ 186 h 257"/>
                <a:gd name="T20" fmla="*/ 203 w 300"/>
                <a:gd name="T21" fmla="*/ 171 h 257"/>
                <a:gd name="T22" fmla="*/ 207 w 300"/>
                <a:gd name="T23" fmla="*/ 207 h 257"/>
                <a:gd name="T24" fmla="*/ 169 w 300"/>
                <a:gd name="T25" fmla="*/ 190 h 257"/>
                <a:gd name="T26" fmla="*/ 161 w 300"/>
                <a:gd name="T27" fmla="*/ 225 h 257"/>
                <a:gd name="T28" fmla="*/ 137 w 300"/>
                <a:gd name="T29" fmla="*/ 207 h 257"/>
                <a:gd name="T30" fmla="*/ 121 w 300"/>
                <a:gd name="T31" fmla="*/ 235 h 257"/>
                <a:gd name="T32" fmla="*/ 104 w 300"/>
                <a:gd name="T33" fmla="*/ 216 h 257"/>
                <a:gd name="T34" fmla="*/ 68 w 300"/>
                <a:gd name="T35" fmla="*/ 257 h 257"/>
                <a:gd name="T36" fmla="*/ 67 w 300"/>
                <a:gd name="T37" fmla="*/ 217 h 257"/>
                <a:gd name="T38" fmla="*/ 18 w 300"/>
                <a:gd name="T39" fmla="*/ 212 h 257"/>
                <a:gd name="T40" fmla="*/ 46 w 300"/>
                <a:gd name="T41" fmla="*/ 183 h 257"/>
                <a:gd name="T42" fmla="*/ 0 w 300"/>
                <a:gd name="T43" fmla="*/ 153 h 257"/>
                <a:gd name="T44" fmla="*/ 54 w 300"/>
                <a:gd name="T45" fmla="*/ 138 h 257"/>
                <a:gd name="T46" fmla="*/ 16 w 300"/>
                <a:gd name="T47" fmla="*/ 99 h 257"/>
                <a:gd name="T48" fmla="*/ 74 w 300"/>
                <a:gd name="T49" fmla="*/ 93 h 257"/>
                <a:gd name="T50" fmla="*/ 63 w 300"/>
                <a:gd name="T51" fmla="*/ 43 h 257"/>
                <a:gd name="T52" fmla="*/ 118 w 300"/>
                <a:gd name="T53" fmla="*/ 76 h 257"/>
                <a:gd name="T54" fmla="*/ 135 w 300"/>
                <a:gd name="T55" fmla="*/ 22 h 257"/>
                <a:gd name="T56" fmla="*/ 159 w 300"/>
                <a:gd name="T57" fmla="*/ 52 h 2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300" h="257">
                  <a:moveTo>
                    <a:pt x="159" y="52"/>
                  </a:moveTo>
                  <a:lnTo>
                    <a:pt x="205" y="0"/>
                  </a:lnTo>
                  <a:lnTo>
                    <a:pt x="202" y="69"/>
                  </a:lnTo>
                  <a:lnTo>
                    <a:pt x="250" y="38"/>
                  </a:lnTo>
                  <a:lnTo>
                    <a:pt x="227" y="78"/>
                  </a:lnTo>
                  <a:lnTo>
                    <a:pt x="300" y="79"/>
                  </a:lnTo>
                  <a:lnTo>
                    <a:pt x="236" y="112"/>
                  </a:lnTo>
                  <a:lnTo>
                    <a:pt x="254" y="135"/>
                  </a:lnTo>
                  <a:lnTo>
                    <a:pt x="227" y="147"/>
                  </a:lnTo>
                  <a:lnTo>
                    <a:pt x="262" y="186"/>
                  </a:lnTo>
                  <a:lnTo>
                    <a:pt x="203" y="171"/>
                  </a:lnTo>
                  <a:lnTo>
                    <a:pt x="207" y="207"/>
                  </a:lnTo>
                  <a:lnTo>
                    <a:pt x="169" y="190"/>
                  </a:lnTo>
                  <a:lnTo>
                    <a:pt x="161" y="225"/>
                  </a:lnTo>
                  <a:lnTo>
                    <a:pt x="137" y="207"/>
                  </a:lnTo>
                  <a:lnTo>
                    <a:pt x="121" y="235"/>
                  </a:lnTo>
                  <a:lnTo>
                    <a:pt x="104" y="216"/>
                  </a:lnTo>
                  <a:lnTo>
                    <a:pt x="68" y="257"/>
                  </a:lnTo>
                  <a:lnTo>
                    <a:pt x="67" y="217"/>
                  </a:lnTo>
                  <a:lnTo>
                    <a:pt x="18" y="212"/>
                  </a:lnTo>
                  <a:lnTo>
                    <a:pt x="46" y="183"/>
                  </a:lnTo>
                  <a:lnTo>
                    <a:pt x="0" y="153"/>
                  </a:lnTo>
                  <a:lnTo>
                    <a:pt x="54" y="138"/>
                  </a:lnTo>
                  <a:lnTo>
                    <a:pt x="16" y="99"/>
                  </a:lnTo>
                  <a:lnTo>
                    <a:pt x="74" y="93"/>
                  </a:lnTo>
                  <a:lnTo>
                    <a:pt x="63" y="43"/>
                  </a:lnTo>
                  <a:lnTo>
                    <a:pt x="118" y="76"/>
                  </a:lnTo>
                  <a:lnTo>
                    <a:pt x="135" y="22"/>
                  </a:lnTo>
                  <a:lnTo>
                    <a:pt x="159" y="52"/>
                  </a:lnTo>
                  <a:close/>
                </a:path>
              </a:pathLst>
            </a:custGeom>
            <a:pattFill prst="shingle">
              <a:fgClr>
                <a:srgbClr val="3C09F7"/>
              </a:fgClr>
              <a:bgClr>
                <a:schemeClr val="bg1"/>
              </a:bgClr>
            </a:pattFill>
            <a:ln w="7938" cap="flat">
              <a:solidFill>
                <a:srgbClr val="3C09F7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3" name="Freeform 17">
              <a:extLst>
                <a:ext uri="{FF2B5EF4-FFF2-40B4-BE49-F238E27FC236}">
                  <a16:creationId xmlns:a16="http://schemas.microsoft.com/office/drawing/2014/main" id="{8A7FDA78-1A20-4BB3-999D-F35961B3D37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5" y="2364"/>
              <a:ext cx="300" cy="257"/>
            </a:xfrm>
            <a:custGeom>
              <a:avLst/>
              <a:gdLst>
                <a:gd name="T0" fmla="*/ 159 w 300"/>
                <a:gd name="T1" fmla="*/ 52 h 257"/>
                <a:gd name="T2" fmla="*/ 205 w 300"/>
                <a:gd name="T3" fmla="*/ 0 h 257"/>
                <a:gd name="T4" fmla="*/ 201 w 300"/>
                <a:gd name="T5" fmla="*/ 69 h 257"/>
                <a:gd name="T6" fmla="*/ 250 w 300"/>
                <a:gd name="T7" fmla="*/ 38 h 257"/>
                <a:gd name="T8" fmla="*/ 227 w 300"/>
                <a:gd name="T9" fmla="*/ 78 h 257"/>
                <a:gd name="T10" fmla="*/ 300 w 300"/>
                <a:gd name="T11" fmla="*/ 79 h 257"/>
                <a:gd name="T12" fmla="*/ 235 w 300"/>
                <a:gd name="T13" fmla="*/ 112 h 257"/>
                <a:gd name="T14" fmla="*/ 253 w 300"/>
                <a:gd name="T15" fmla="*/ 135 h 257"/>
                <a:gd name="T16" fmla="*/ 227 w 300"/>
                <a:gd name="T17" fmla="*/ 147 h 257"/>
                <a:gd name="T18" fmla="*/ 262 w 300"/>
                <a:gd name="T19" fmla="*/ 186 h 257"/>
                <a:gd name="T20" fmla="*/ 203 w 300"/>
                <a:gd name="T21" fmla="*/ 171 h 257"/>
                <a:gd name="T22" fmla="*/ 207 w 300"/>
                <a:gd name="T23" fmla="*/ 207 h 257"/>
                <a:gd name="T24" fmla="*/ 169 w 300"/>
                <a:gd name="T25" fmla="*/ 190 h 257"/>
                <a:gd name="T26" fmla="*/ 161 w 300"/>
                <a:gd name="T27" fmla="*/ 225 h 257"/>
                <a:gd name="T28" fmla="*/ 137 w 300"/>
                <a:gd name="T29" fmla="*/ 207 h 257"/>
                <a:gd name="T30" fmla="*/ 120 w 300"/>
                <a:gd name="T31" fmla="*/ 235 h 257"/>
                <a:gd name="T32" fmla="*/ 104 w 300"/>
                <a:gd name="T33" fmla="*/ 216 h 257"/>
                <a:gd name="T34" fmla="*/ 68 w 300"/>
                <a:gd name="T35" fmla="*/ 257 h 257"/>
                <a:gd name="T36" fmla="*/ 67 w 300"/>
                <a:gd name="T37" fmla="*/ 217 h 257"/>
                <a:gd name="T38" fmla="*/ 18 w 300"/>
                <a:gd name="T39" fmla="*/ 212 h 257"/>
                <a:gd name="T40" fmla="*/ 46 w 300"/>
                <a:gd name="T41" fmla="*/ 183 h 257"/>
                <a:gd name="T42" fmla="*/ 0 w 300"/>
                <a:gd name="T43" fmla="*/ 153 h 257"/>
                <a:gd name="T44" fmla="*/ 54 w 300"/>
                <a:gd name="T45" fmla="*/ 138 h 257"/>
                <a:gd name="T46" fmla="*/ 16 w 300"/>
                <a:gd name="T47" fmla="*/ 99 h 257"/>
                <a:gd name="T48" fmla="*/ 74 w 300"/>
                <a:gd name="T49" fmla="*/ 93 h 257"/>
                <a:gd name="T50" fmla="*/ 62 w 300"/>
                <a:gd name="T51" fmla="*/ 43 h 257"/>
                <a:gd name="T52" fmla="*/ 118 w 300"/>
                <a:gd name="T53" fmla="*/ 76 h 257"/>
                <a:gd name="T54" fmla="*/ 135 w 300"/>
                <a:gd name="T55" fmla="*/ 22 h 257"/>
                <a:gd name="T56" fmla="*/ 159 w 300"/>
                <a:gd name="T57" fmla="*/ 52 h 2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300" h="257">
                  <a:moveTo>
                    <a:pt x="159" y="52"/>
                  </a:moveTo>
                  <a:lnTo>
                    <a:pt x="205" y="0"/>
                  </a:lnTo>
                  <a:lnTo>
                    <a:pt x="201" y="69"/>
                  </a:lnTo>
                  <a:lnTo>
                    <a:pt x="250" y="38"/>
                  </a:lnTo>
                  <a:lnTo>
                    <a:pt x="227" y="78"/>
                  </a:lnTo>
                  <a:lnTo>
                    <a:pt x="300" y="79"/>
                  </a:lnTo>
                  <a:lnTo>
                    <a:pt x="235" y="112"/>
                  </a:lnTo>
                  <a:lnTo>
                    <a:pt x="253" y="135"/>
                  </a:lnTo>
                  <a:lnTo>
                    <a:pt x="227" y="147"/>
                  </a:lnTo>
                  <a:lnTo>
                    <a:pt x="262" y="186"/>
                  </a:lnTo>
                  <a:lnTo>
                    <a:pt x="203" y="171"/>
                  </a:lnTo>
                  <a:lnTo>
                    <a:pt x="207" y="207"/>
                  </a:lnTo>
                  <a:lnTo>
                    <a:pt x="169" y="190"/>
                  </a:lnTo>
                  <a:lnTo>
                    <a:pt x="161" y="225"/>
                  </a:lnTo>
                  <a:lnTo>
                    <a:pt x="137" y="207"/>
                  </a:lnTo>
                  <a:lnTo>
                    <a:pt x="120" y="235"/>
                  </a:lnTo>
                  <a:lnTo>
                    <a:pt x="104" y="216"/>
                  </a:lnTo>
                  <a:lnTo>
                    <a:pt x="68" y="257"/>
                  </a:lnTo>
                  <a:lnTo>
                    <a:pt x="67" y="217"/>
                  </a:lnTo>
                  <a:lnTo>
                    <a:pt x="18" y="212"/>
                  </a:lnTo>
                  <a:lnTo>
                    <a:pt x="46" y="183"/>
                  </a:lnTo>
                  <a:lnTo>
                    <a:pt x="0" y="153"/>
                  </a:lnTo>
                  <a:lnTo>
                    <a:pt x="54" y="138"/>
                  </a:lnTo>
                  <a:lnTo>
                    <a:pt x="16" y="99"/>
                  </a:lnTo>
                  <a:lnTo>
                    <a:pt x="74" y="93"/>
                  </a:lnTo>
                  <a:lnTo>
                    <a:pt x="62" y="43"/>
                  </a:lnTo>
                  <a:lnTo>
                    <a:pt x="118" y="76"/>
                  </a:lnTo>
                  <a:lnTo>
                    <a:pt x="135" y="22"/>
                  </a:lnTo>
                  <a:lnTo>
                    <a:pt x="159" y="52"/>
                  </a:lnTo>
                  <a:close/>
                </a:path>
              </a:pathLst>
            </a:custGeom>
            <a:pattFill prst="shingle">
              <a:fgClr>
                <a:srgbClr val="3C09F7"/>
              </a:fgClr>
              <a:bgClr>
                <a:schemeClr val="bg1"/>
              </a:bgClr>
            </a:pattFill>
            <a:ln w="7938" cap="flat">
              <a:solidFill>
                <a:srgbClr val="3C09F7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4" name="Freeform 18">
              <a:extLst>
                <a:ext uri="{FF2B5EF4-FFF2-40B4-BE49-F238E27FC236}">
                  <a16:creationId xmlns:a16="http://schemas.microsoft.com/office/drawing/2014/main" id="{68575A83-0DD9-4A36-9691-F245151260A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699" y="2181"/>
              <a:ext cx="226" cy="505"/>
            </a:xfrm>
            <a:custGeom>
              <a:avLst/>
              <a:gdLst>
                <a:gd name="T0" fmla="*/ 12 w 226"/>
                <a:gd name="T1" fmla="*/ 0 h 505"/>
                <a:gd name="T2" fmla="*/ 217 w 226"/>
                <a:gd name="T3" fmla="*/ 474 h 505"/>
                <a:gd name="T4" fmla="*/ 205 w 226"/>
                <a:gd name="T5" fmla="*/ 479 h 505"/>
                <a:gd name="T6" fmla="*/ 0 w 226"/>
                <a:gd name="T7" fmla="*/ 4 h 505"/>
                <a:gd name="T8" fmla="*/ 12 w 226"/>
                <a:gd name="T9" fmla="*/ 0 h 505"/>
                <a:gd name="T10" fmla="*/ 226 w 226"/>
                <a:gd name="T11" fmla="*/ 464 h 505"/>
                <a:gd name="T12" fmla="*/ 223 w 226"/>
                <a:gd name="T13" fmla="*/ 505 h 505"/>
                <a:gd name="T14" fmla="*/ 191 w 226"/>
                <a:gd name="T15" fmla="*/ 478 h 505"/>
                <a:gd name="T16" fmla="*/ 226 w 226"/>
                <a:gd name="T17" fmla="*/ 464 h 5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26" h="505">
                  <a:moveTo>
                    <a:pt x="12" y="0"/>
                  </a:moveTo>
                  <a:lnTo>
                    <a:pt x="217" y="474"/>
                  </a:lnTo>
                  <a:lnTo>
                    <a:pt x="205" y="479"/>
                  </a:lnTo>
                  <a:lnTo>
                    <a:pt x="0" y="4"/>
                  </a:lnTo>
                  <a:lnTo>
                    <a:pt x="12" y="0"/>
                  </a:lnTo>
                  <a:close/>
                  <a:moveTo>
                    <a:pt x="226" y="464"/>
                  </a:moveTo>
                  <a:lnTo>
                    <a:pt x="223" y="505"/>
                  </a:lnTo>
                  <a:lnTo>
                    <a:pt x="191" y="478"/>
                  </a:lnTo>
                  <a:lnTo>
                    <a:pt x="226" y="464"/>
                  </a:lnTo>
                  <a:close/>
                </a:path>
              </a:pathLst>
            </a:custGeom>
            <a:solidFill>
              <a:srgbClr val="009900"/>
            </a:solidFill>
            <a:ln w="0" cap="flat">
              <a:solidFill>
                <a:srgbClr val="0099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5" name="Rectangle 19">
              <a:extLst>
                <a:ext uri="{FF2B5EF4-FFF2-40B4-BE49-F238E27FC236}">
                  <a16:creationId xmlns:a16="http://schemas.microsoft.com/office/drawing/2014/main" id="{DC50B53D-414A-4D3D-96AF-9CCCAE3EC44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7" y="2066"/>
              <a:ext cx="79" cy="14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1200" b="0" i="1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I</a:t>
              </a:r>
              <a:endParaRPr kumimoji="0" lang="zh-CN" altLang="zh-CN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26" name="Rectangle 20">
              <a:extLst>
                <a:ext uri="{FF2B5EF4-FFF2-40B4-BE49-F238E27FC236}">
                  <a16:creationId xmlns:a16="http://schemas.microsoft.com/office/drawing/2014/main" id="{1C4DF565-5C04-4DDF-BDFA-F9BE641F9C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4" y="2183"/>
              <a:ext cx="100" cy="12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1200" b="0" i="1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n</a:t>
              </a:r>
              <a:endParaRPr kumimoji="0" lang="zh-CN" altLang="zh-CN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27" name="Rectangle 21">
              <a:extLst>
                <a:ext uri="{FF2B5EF4-FFF2-40B4-BE49-F238E27FC236}">
                  <a16:creationId xmlns:a16="http://schemas.microsoft.com/office/drawing/2014/main" id="{FC2C8E96-7206-4EAE-B093-1454CEB1A5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4" y="2298"/>
              <a:ext cx="104" cy="14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1200" b="0" i="1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s</a:t>
              </a:r>
              <a:endParaRPr kumimoji="0" lang="zh-CN" altLang="zh-CN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28" name="Rectangle 22">
              <a:extLst>
                <a:ext uri="{FF2B5EF4-FFF2-40B4-BE49-F238E27FC236}">
                  <a16:creationId xmlns:a16="http://schemas.microsoft.com/office/drawing/2014/main" id="{0BBFA2A1-FC9F-47E9-A932-690854ED3F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7" y="2416"/>
              <a:ext cx="75" cy="12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1200" b="0" i="1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t</a:t>
              </a:r>
              <a:endParaRPr kumimoji="0" lang="zh-CN" altLang="zh-CN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29" name="Rectangle 23">
              <a:extLst>
                <a:ext uri="{FF2B5EF4-FFF2-40B4-BE49-F238E27FC236}">
                  <a16:creationId xmlns:a16="http://schemas.microsoft.com/office/drawing/2014/main" id="{62940252-16D8-4C26-82D8-B8BE8C97A0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0" y="2533"/>
              <a:ext cx="108" cy="12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1200" b="0" i="1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r.</a:t>
              </a:r>
              <a:endParaRPr kumimoji="0" lang="zh-CN" altLang="zh-CN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30" name="Rectangle 24">
              <a:extLst>
                <a:ext uri="{FF2B5EF4-FFF2-40B4-BE49-F238E27FC236}">
                  <a16:creationId xmlns:a16="http://schemas.microsoft.com/office/drawing/2014/main" id="{340386FF-8BF3-414D-9389-AA685C0190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2" y="2762"/>
              <a:ext cx="125" cy="12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1200" b="0" i="1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O</a:t>
              </a:r>
              <a:endParaRPr kumimoji="0" lang="zh-CN" altLang="zh-CN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31" name="Rectangle 25">
              <a:extLst>
                <a:ext uri="{FF2B5EF4-FFF2-40B4-BE49-F238E27FC236}">
                  <a16:creationId xmlns:a16="http://schemas.microsoft.com/office/drawing/2014/main" id="{A9D30FB1-6B3D-4D95-ABD5-2A94552E25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3" y="2877"/>
              <a:ext cx="87" cy="14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1200" b="0" i="1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r</a:t>
              </a:r>
              <a:endParaRPr kumimoji="0" lang="zh-CN" altLang="zh-CN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32" name="Rectangle 26">
              <a:extLst>
                <a:ext uri="{FF2B5EF4-FFF2-40B4-BE49-F238E27FC236}">
                  <a16:creationId xmlns:a16="http://schemas.microsoft.com/office/drawing/2014/main" id="{FE1087C9-4E36-41F2-AD77-AD7F2996FA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4" y="2994"/>
              <a:ext cx="109" cy="14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1200" b="0" i="1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d</a:t>
              </a:r>
              <a:endParaRPr kumimoji="0" lang="zh-CN" altLang="zh-CN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33" name="Rectangle 27">
              <a:extLst>
                <a:ext uri="{FF2B5EF4-FFF2-40B4-BE49-F238E27FC236}">
                  <a16:creationId xmlns:a16="http://schemas.microsoft.com/office/drawing/2014/main" id="{839A3516-810F-4C1C-9A4F-FC23F908A8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4" y="3112"/>
              <a:ext cx="100" cy="12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1200" b="0" i="1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e</a:t>
              </a:r>
              <a:endParaRPr kumimoji="0" lang="zh-CN" altLang="zh-CN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34" name="Rectangle 28">
              <a:extLst>
                <a:ext uri="{FF2B5EF4-FFF2-40B4-BE49-F238E27FC236}">
                  <a16:creationId xmlns:a16="http://schemas.microsoft.com/office/drawing/2014/main" id="{33B2E0F4-5451-42EA-A0A9-2CB122DCE0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3" y="3223"/>
              <a:ext cx="87" cy="14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1200" b="0" i="1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r</a:t>
              </a:r>
              <a:endParaRPr kumimoji="0" lang="zh-CN" altLang="zh-CN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35" name="Freeform 29">
              <a:extLst>
                <a:ext uri="{FF2B5EF4-FFF2-40B4-BE49-F238E27FC236}">
                  <a16:creationId xmlns:a16="http://schemas.microsoft.com/office/drawing/2014/main" id="{1FAE93E6-2633-426B-9513-E90906B4304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22" y="1865"/>
              <a:ext cx="3065" cy="33"/>
            </a:xfrm>
            <a:custGeom>
              <a:avLst/>
              <a:gdLst>
                <a:gd name="T0" fmla="*/ 0 w 3065"/>
                <a:gd name="T1" fmla="*/ 26 h 33"/>
                <a:gd name="T2" fmla="*/ 3038 w 3065"/>
                <a:gd name="T3" fmla="*/ 22 h 33"/>
                <a:gd name="T4" fmla="*/ 3038 w 3065"/>
                <a:gd name="T5" fmla="*/ 11 h 33"/>
                <a:gd name="T6" fmla="*/ 0 w 3065"/>
                <a:gd name="T7" fmla="*/ 15 h 33"/>
                <a:gd name="T8" fmla="*/ 0 w 3065"/>
                <a:gd name="T9" fmla="*/ 26 h 33"/>
                <a:gd name="T10" fmla="*/ 3032 w 3065"/>
                <a:gd name="T11" fmla="*/ 33 h 33"/>
                <a:gd name="T12" fmla="*/ 3065 w 3065"/>
                <a:gd name="T13" fmla="*/ 16 h 33"/>
                <a:gd name="T14" fmla="*/ 3032 w 3065"/>
                <a:gd name="T15" fmla="*/ 0 h 33"/>
                <a:gd name="T16" fmla="*/ 3032 w 3065"/>
                <a:gd name="T17" fmla="*/ 33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065" h="33">
                  <a:moveTo>
                    <a:pt x="0" y="26"/>
                  </a:moveTo>
                  <a:lnTo>
                    <a:pt x="3038" y="22"/>
                  </a:lnTo>
                  <a:lnTo>
                    <a:pt x="3038" y="11"/>
                  </a:lnTo>
                  <a:lnTo>
                    <a:pt x="0" y="15"/>
                  </a:lnTo>
                  <a:lnTo>
                    <a:pt x="0" y="26"/>
                  </a:lnTo>
                  <a:close/>
                  <a:moveTo>
                    <a:pt x="3032" y="33"/>
                  </a:moveTo>
                  <a:lnTo>
                    <a:pt x="3065" y="16"/>
                  </a:lnTo>
                  <a:lnTo>
                    <a:pt x="3032" y="0"/>
                  </a:lnTo>
                  <a:lnTo>
                    <a:pt x="3032" y="33"/>
                  </a:lnTo>
                  <a:close/>
                </a:path>
              </a:pathLst>
            </a:custGeom>
            <a:solidFill>
              <a:srgbClr val="000000"/>
            </a:solidFill>
            <a:ln w="0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6" name="Rectangle 30">
              <a:extLst>
                <a:ext uri="{FF2B5EF4-FFF2-40B4-BE49-F238E27FC236}">
                  <a16:creationId xmlns:a16="http://schemas.microsoft.com/office/drawing/2014/main" id="{F48485BA-03E3-4C45-B635-0254C7F5F3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2" y="2036"/>
              <a:ext cx="300" cy="18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1600" b="0" i="0" u="none" strike="noStrike" cap="none" normalizeH="0" baseline="0">
                  <a:ln>
                    <a:noFill/>
                  </a:ln>
                  <a:solidFill>
                    <a:srgbClr val="DE2506"/>
                  </a:solidFill>
                  <a:effectLst/>
                  <a:latin typeface="Arial" panose="020B0604020202020204" pitchFamily="34" charset="0"/>
                </a:rPr>
                <a:t>beq</a:t>
              </a:r>
              <a:endParaRPr kumimoji="0" lang="zh-CN" altLang="zh-CN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37" name="Freeform 31">
              <a:extLst>
                <a:ext uri="{FF2B5EF4-FFF2-40B4-BE49-F238E27FC236}">
                  <a16:creationId xmlns:a16="http://schemas.microsoft.com/office/drawing/2014/main" id="{B3E52010-E0B9-4E6C-B5C2-94E5958E1EF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70" y="2010"/>
              <a:ext cx="38" cy="2156"/>
            </a:xfrm>
            <a:custGeom>
              <a:avLst/>
              <a:gdLst>
                <a:gd name="T0" fmla="*/ 25 w 38"/>
                <a:gd name="T1" fmla="*/ 0 h 2156"/>
                <a:gd name="T2" fmla="*/ 25 w 38"/>
                <a:gd name="T3" fmla="*/ 2125 h 2156"/>
                <a:gd name="T4" fmla="*/ 13 w 38"/>
                <a:gd name="T5" fmla="*/ 2125 h 2156"/>
                <a:gd name="T6" fmla="*/ 13 w 38"/>
                <a:gd name="T7" fmla="*/ 0 h 2156"/>
                <a:gd name="T8" fmla="*/ 25 w 38"/>
                <a:gd name="T9" fmla="*/ 0 h 2156"/>
                <a:gd name="T10" fmla="*/ 38 w 38"/>
                <a:gd name="T11" fmla="*/ 2119 h 2156"/>
                <a:gd name="T12" fmla="*/ 19 w 38"/>
                <a:gd name="T13" fmla="*/ 2156 h 2156"/>
                <a:gd name="T14" fmla="*/ 0 w 38"/>
                <a:gd name="T15" fmla="*/ 2119 h 2156"/>
                <a:gd name="T16" fmla="*/ 38 w 38"/>
                <a:gd name="T17" fmla="*/ 2119 h 21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8" h="2156">
                  <a:moveTo>
                    <a:pt x="25" y="0"/>
                  </a:moveTo>
                  <a:lnTo>
                    <a:pt x="25" y="2125"/>
                  </a:lnTo>
                  <a:lnTo>
                    <a:pt x="13" y="2125"/>
                  </a:lnTo>
                  <a:lnTo>
                    <a:pt x="13" y="0"/>
                  </a:lnTo>
                  <a:lnTo>
                    <a:pt x="25" y="0"/>
                  </a:lnTo>
                  <a:close/>
                  <a:moveTo>
                    <a:pt x="38" y="2119"/>
                  </a:moveTo>
                  <a:lnTo>
                    <a:pt x="19" y="2156"/>
                  </a:lnTo>
                  <a:lnTo>
                    <a:pt x="0" y="2119"/>
                  </a:lnTo>
                  <a:lnTo>
                    <a:pt x="38" y="2119"/>
                  </a:lnTo>
                  <a:close/>
                </a:path>
              </a:pathLst>
            </a:custGeom>
            <a:solidFill>
              <a:srgbClr val="000000"/>
            </a:solidFill>
            <a:ln w="0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8" name="Freeform 32">
              <a:extLst>
                <a:ext uri="{FF2B5EF4-FFF2-40B4-BE49-F238E27FC236}">
                  <a16:creationId xmlns:a16="http://schemas.microsoft.com/office/drawing/2014/main" id="{969971DE-7F3F-45E3-B6AF-1DCB95ADF68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8" y="1978"/>
              <a:ext cx="146" cy="321"/>
            </a:xfrm>
            <a:custGeom>
              <a:avLst/>
              <a:gdLst>
                <a:gd name="T0" fmla="*/ 0 w 146"/>
                <a:gd name="T1" fmla="*/ 214 h 321"/>
                <a:gd name="T2" fmla="*/ 49 w 146"/>
                <a:gd name="T3" fmla="*/ 160 h 321"/>
                <a:gd name="T4" fmla="*/ 0 w 146"/>
                <a:gd name="T5" fmla="*/ 107 h 321"/>
                <a:gd name="T6" fmla="*/ 0 w 146"/>
                <a:gd name="T7" fmla="*/ 0 h 321"/>
                <a:gd name="T8" fmla="*/ 146 w 146"/>
                <a:gd name="T9" fmla="*/ 107 h 321"/>
                <a:gd name="T10" fmla="*/ 146 w 146"/>
                <a:gd name="T11" fmla="*/ 214 h 321"/>
                <a:gd name="T12" fmla="*/ 0 w 146"/>
                <a:gd name="T13" fmla="*/ 321 h 321"/>
                <a:gd name="T14" fmla="*/ 0 w 146"/>
                <a:gd name="T15" fmla="*/ 214 h 3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46" h="321">
                  <a:moveTo>
                    <a:pt x="0" y="214"/>
                  </a:moveTo>
                  <a:lnTo>
                    <a:pt x="49" y="160"/>
                  </a:lnTo>
                  <a:lnTo>
                    <a:pt x="0" y="107"/>
                  </a:lnTo>
                  <a:lnTo>
                    <a:pt x="0" y="0"/>
                  </a:lnTo>
                  <a:lnTo>
                    <a:pt x="146" y="107"/>
                  </a:lnTo>
                  <a:lnTo>
                    <a:pt x="146" y="214"/>
                  </a:lnTo>
                  <a:lnTo>
                    <a:pt x="0" y="321"/>
                  </a:lnTo>
                  <a:lnTo>
                    <a:pt x="0" y="214"/>
                  </a:lnTo>
                </a:path>
              </a:pathLst>
            </a:custGeom>
            <a:noFill/>
            <a:ln w="174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9" name="Rectangle 33">
              <a:extLst>
                <a:ext uri="{FF2B5EF4-FFF2-40B4-BE49-F238E27FC236}">
                  <a16:creationId xmlns:a16="http://schemas.microsoft.com/office/drawing/2014/main" id="{02640E2C-7A91-4604-B84F-A873FE8C3DBA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1840" y="2087"/>
              <a:ext cx="175" cy="10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1050" b="1" i="0" u="none" strike="noStrike" cap="none" normalizeH="0" baseline="0" dirty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ALU</a:t>
              </a:r>
              <a:endParaRPr kumimoji="0" lang="zh-CN" altLang="zh-CN" sz="105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40" name="Rectangle 34">
              <a:extLst>
                <a:ext uri="{FF2B5EF4-FFF2-40B4-BE49-F238E27FC236}">
                  <a16:creationId xmlns:a16="http://schemas.microsoft.com/office/drawing/2014/main" id="{35AA7EDF-C87D-4755-838B-9468DA1829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39" y="2071"/>
              <a:ext cx="98" cy="1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1100" b="1" i="0" u="none" strike="noStrike" cap="none" normalizeH="0" baseline="0" dirty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I</a:t>
              </a:r>
              <a:r>
                <a:rPr kumimoji="0" lang="en-US" altLang="zh-CN" sz="1100" b="1" i="0" u="none" strike="noStrike" cap="none" normalizeH="0" baseline="0" dirty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M</a:t>
              </a:r>
              <a:endParaRPr kumimoji="0" lang="zh-CN" altLang="zh-CN" sz="1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41" name="Freeform 35">
              <a:extLst>
                <a:ext uri="{FF2B5EF4-FFF2-40B4-BE49-F238E27FC236}">
                  <a16:creationId xmlns:a16="http://schemas.microsoft.com/office/drawing/2014/main" id="{61E083A3-A190-4483-846A-6484443CB30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7" y="2042"/>
              <a:ext cx="116" cy="193"/>
            </a:xfrm>
            <a:custGeom>
              <a:avLst/>
              <a:gdLst>
                <a:gd name="T0" fmla="*/ 116 w 116"/>
                <a:gd name="T1" fmla="*/ 0 h 193"/>
                <a:gd name="T2" fmla="*/ 0 w 116"/>
                <a:gd name="T3" fmla="*/ 0 h 193"/>
                <a:gd name="T4" fmla="*/ 0 w 116"/>
                <a:gd name="T5" fmla="*/ 193 h 193"/>
                <a:gd name="T6" fmla="*/ 116 w 116"/>
                <a:gd name="T7" fmla="*/ 193 h 1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16" h="193">
                  <a:moveTo>
                    <a:pt x="116" y="0"/>
                  </a:moveTo>
                  <a:lnTo>
                    <a:pt x="0" y="0"/>
                  </a:lnTo>
                  <a:lnTo>
                    <a:pt x="0" y="193"/>
                  </a:lnTo>
                  <a:lnTo>
                    <a:pt x="116" y="193"/>
                  </a:lnTo>
                </a:path>
              </a:pathLst>
            </a:custGeom>
            <a:noFill/>
            <a:ln w="174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2" name="Freeform 36">
              <a:extLst>
                <a:ext uri="{FF2B5EF4-FFF2-40B4-BE49-F238E27FC236}">
                  <a16:creationId xmlns:a16="http://schemas.microsoft.com/office/drawing/2014/main" id="{B111BD23-D5D8-4940-ACA6-3B8964C15043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4" y="2042"/>
              <a:ext cx="116" cy="193"/>
            </a:xfrm>
            <a:custGeom>
              <a:avLst/>
              <a:gdLst>
                <a:gd name="T0" fmla="*/ 0 w 116"/>
                <a:gd name="T1" fmla="*/ 0 h 193"/>
                <a:gd name="T2" fmla="*/ 116 w 116"/>
                <a:gd name="T3" fmla="*/ 0 h 193"/>
                <a:gd name="T4" fmla="*/ 116 w 116"/>
                <a:gd name="T5" fmla="*/ 193 h 193"/>
                <a:gd name="T6" fmla="*/ 0 w 116"/>
                <a:gd name="T7" fmla="*/ 193 h 1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16" h="193">
                  <a:moveTo>
                    <a:pt x="0" y="0"/>
                  </a:moveTo>
                  <a:lnTo>
                    <a:pt x="116" y="0"/>
                  </a:lnTo>
                  <a:lnTo>
                    <a:pt x="116" y="193"/>
                  </a:lnTo>
                  <a:lnTo>
                    <a:pt x="0" y="193"/>
                  </a:lnTo>
                </a:path>
              </a:pathLst>
            </a:custGeom>
            <a:noFill/>
            <a:ln w="174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3" name="Rectangle 37">
              <a:extLst>
                <a:ext uri="{FF2B5EF4-FFF2-40B4-BE49-F238E27FC236}">
                  <a16:creationId xmlns:a16="http://schemas.microsoft.com/office/drawing/2014/main" id="{0DCE5E15-DC39-4CC0-8159-BAD4842A6A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41" y="2074"/>
              <a:ext cx="216" cy="1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1100" b="1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Reg</a:t>
              </a:r>
              <a:endParaRPr kumimoji="0" lang="zh-CN" altLang="zh-CN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44" name="Freeform 38">
              <a:extLst>
                <a:ext uri="{FF2B5EF4-FFF2-40B4-BE49-F238E27FC236}">
                  <a16:creationId xmlns:a16="http://schemas.microsoft.com/office/drawing/2014/main" id="{D0D25A41-16EA-4411-B32A-907360D16A0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4" y="2042"/>
              <a:ext cx="103" cy="193"/>
            </a:xfrm>
            <a:custGeom>
              <a:avLst/>
              <a:gdLst>
                <a:gd name="T0" fmla="*/ 103 w 103"/>
                <a:gd name="T1" fmla="*/ 0 h 193"/>
                <a:gd name="T2" fmla="*/ 0 w 103"/>
                <a:gd name="T3" fmla="*/ 0 h 193"/>
                <a:gd name="T4" fmla="*/ 0 w 103"/>
                <a:gd name="T5" fmla="*/ 193 h 193"/>
                <a:gd name="T6" fmla="*/ 103 w 103"/>
                <a:gd name="T7" fmla="*/ 193 h 1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3" h="193">
                  <a:moveTo>
                    <a:pt x="103" y="0"/>
                  </a:moveTo>
                  <a:lnTo>
                    <a:pt x="0" y="0"/>
                  </a:lnTo>
                  <a:lnTo>
                    <a:pt x="0" y="193"/>
                  </a:lnTo>
                  <a:lnTo>
                    <a:pt x="103" y="193"/>
                  </a:lnTo>
                </a:path>
              </a:pathLst>
            </a:custGeom>
            <a:noFill/>
            <a:ln w="174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5" name="Freeform 39">
              <a:extLst>
                <a:ext uri="{FF2B5EF4-FFF2-40B4-BE49-F238E27FC236}">
                  <a16:creationId xmlns:a16="http://schemas.microsoft.com/office/drawing/2014/main" id="{E73E4E3F-F25D-4250-B9BB-4E6F52FE4CA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8" y="2042"/>
              <a:ext cx="103" cy="193"/>
            </a:xfrm>
            <a:custGeom>
              <a:avLst/>
              <a:gdLst>
                <a:gd name="T0" fmla="*/ 0 w 103"/>
                <a:gd name="T1" fmla="*/ 0 h 193"/>
                <a:gd name="T2" fmla="*/ 103 w 103"/>
                <a:gd name="T3" fmla="*/ 0 h 193"/>
                <a:gd name="T4" fmla="*/ 103 w 103"/>
                <a:gd name="T5" fmla="*/ 193 h 193"/>
                <a:gd name="T6" fmla="*/ 0 w 103"/>
                <a:gd name="T7" fmla="*/ 193 h 1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3" h="193">
                  <a:moveTo>
                    <a:pt x="0" y="0"/>
                  </a:moveTo>
                  <a:lnTo>
                    <a:pt x="103" y="0"/>
                  </a:lnTo>
                  <a:lnTo>
                    <a:pt x="103" y="193"/>
                  </a:lnTo>
                  <a:lnTo>
                    <a:pt x="0" y="193"/>
                  </a:lnTo>
                </a:path>
              </a:pathLst>
            </a:custGeom>
            <a:noFill/>
            <a:ln w="174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6" name="Line 40">
              <a:extLst>
                <a:ext uri="{FF2B5EF4-FFF2-40B4-BE49-F238E27FC236}">
                  <a16:creationId xmlns:a16="http://schemas.microsoft.com/office/drawing/2014/main" id="{A26E1735-92A4-43E9-8B08-1A9699B40DF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434" y="2139"/>
              <a:ext cx="80" cy="0"/>
            </a:xfrm>
            <a:prstGeom prst="line">
              <a:avLst/>
            </a:prstGeom>
            <a:noFill/>
            <a:ln w="17463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7" name="Freeform 41">
              <a:extLst>
                <a:ext uri="{FF2B5EF4-FFF2-40B4-BE49-F238E27FC236}">
                  <a16:creationId xmlns:a16="http://schemas.microsoft.com/office/drawing/2014/main" id="{B84E9403-DDA3-4A6F-B467-C500C8B71B3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0" y="2074"/>
              <a:ext cx="33" cy="64"/>
            </a:xfrm>
            <a:custGeom>
              <a:avLst/>
              <a:gdLst>
                <a:gd name="T0" fmla="*/ 0 w 33"/>
                <a:gd name="T1" fmla="*/ 64 h 64"/>
                <a:gd name="T2" fmla="*/ 0 w 33"/>
                <a:gd name="T3" fmla="*/ 0 h 64"/>
                <a:gd name="T4" fmla="*/ 33 w 33"/>
                <a:gd name="T5" fmla="*/ 0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3" h="64">
                  <a:moveTo>
                    <a:pt x="0" y="64"/>
                  </a:moveTo>
                  <a:lnTo>
                    <a:pt x="0" y="0"/>
                  </a:lnTo>
                  <a:lnTo>
                    <a:pt x="33" y="0"/>
                  </a:lnTo>
                </a:path>
              </a:pathLst>
            </a:custGeom>
            <a:noFill/>
            <a:ln w="174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8" name="Line 42">
              <a:extLst>
                <a:ext uri="{FF2B5EF4-FFF2-40B4-BE49-F238E27FC236}">
                  <a16:creationId xmlns:a16="http://schemas.microsoft.com/office/drawing/2014/main" id="{930B805C-4185-4158-A843-DC1513235CD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722" y="2074"/>
              <a:ext cx="108" cy="0"/>
            </a:xfrm>
            <a:prstGeom prst="line">
              <a:avLst/>
            </a:prstGeom>
            <a:noFill/>
            <a:ln w="17463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9" name="Rectangle 43">
              <a:extLst>
                <a:ext uri="{FF2B5EF4-FFF2-40B4-BE49-F238E27FC236}">
                  <a16:creationId xmlns:a16="http://schemas.microsoft.com/office/drawing/2014/main" id="{2061C357-7F14-41C3-872E-A2E13884B1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08" y="2071"/>
              <a:ext cx="183" cy="1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1100" b="1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DM</a:t>
              </a:r>
              <a:endParaRPr kumimoji="0" lang="zh-CN" altLang="zh-CN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50" name="Freeform 44">
              <a:extLst>
                <a:ext uri="{FF2B5EF4-FFF2-40B4-BE49-F238E27FC236}">
                  <a16:creationId xmlns:a16="http://schemas.microsoft.com/office/drawing/2014/main" id="{685B481C-CE97-4202-8FBF-294E817105B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5" y="2042"/>
              <a:ext cx="112" cy="193"/>
            </a:xfrm>
            <a:custGeom>
              <a:avLst/>
              <a:gdLst>
                <a:gd name="T0" fmla="*/ 112 w 112"/>
                <a:gd name="T1" fmla="*/ 0 h 193"/>
                <a:gd name="T2" fmla="*/ 0 w 112"/>
                <a:gd name="T3" fmla="*/ 0 h 193"/>
                <a:gd name="T4" fmla="*/ 0 w 112"/>
                <a:gd name="T5" fmla="*/ 193 h 193"/>
                <a:gd name="T6" fmla="*/ 112 w 112"/>
                <a:gd name="T7" fmla="*/ 193 h 1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12" h="193">
                  <a:moveTo>
                    <a:pt x="112" y="0"/>
                  </a:moveTo>
                  <a:lnTo>
                    <a:pt x="0" y="0"/>
                  </a:lnTo>
                  <a:lnTo>
                    <a:pt x="0" y="193"/>
                  </a:lnTo>
                  <a:lnTo>
                    <a:pt x="112" y="193"/>
                  </a:lnTo>
                </a:path>
              </a:pathLst>
            </a:custGeom>
            <a:noFill/>
            <a:ln w="174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1" name="Freeform 45">
              <a:extLst>
                <a:ext uri="{FF2B5EF4-FFF2-40B4-BE49-F238E27FC236}">
                  <a16:creationId xmlns:a16="http://schemas.microsoft.com/office/drawing/2014/main" id="{DD56B35C-B0E9-4655-B202-E756CF2A489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3" y="2042"/>
              <a:ext cx="116" cy="193"/>
            </a:xfrm>
            <a:custGeom>
              <a:avLst/>
              <a:gdLst>
                <a:gd name="T0" fmla="*/ 0 w 116"/>
                <a:gd name="T1" fmla="*/ 0 h 193"/>
                <a:gd name="T2" fmla="*/ 116 w 116"/>
                <a:gd name="T3" fmla="*/ 0 h 193"/>
                <a:gd name="T4" fmla="*/ 116 w 116"/>
                <a:gd name="T5" fmla="*/ 193 h 193"/>
                <a:gd name="T6" fmla="*/ 0 w 116"/>
                <a:gd name="T7" fmla="*/ 193 h 1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16" h="193">
                  <a:moveTo>
                    <a:pt x="0" y="0"/>
                  </a:moveTo>
                  <a:lnTo>
                    <a:pt x="116" y="0"/>
                  </a:lnTo>
                  <a:lnTo>
                    <a:pt x="116" y="193"/>
                  </a:lnTo>
                  <a:lnTo>
                    <a:pt x="0" y="193"/>
                  </a:lnTo>
                </a:path>
              </a:pathLst>
            </a:custGeom>
            <a:noFill/>
            <a:ln w="174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2" name="Rectangle 46">
              <a:extLst>
                <a:ext uri="{FF2B5EF4-FFF2-40B4-BE49-F238E27FC236}">
                  <a16:creationId xmlns:a16="http://schemas.microsoft.com/office/drawing/2014/main" id="{C1FE932B-A908-40F9-8EA5-2DDE67A8E1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49" y="2071"/>
              <a:ext cx="217" cy="1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1100" b="1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Reg</a:t>
              </a:r>
              <a:endParaRPr kumimoji="0" lang="zh-CN" altLang="zh-CN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53" name="Freeform 47">
              <a:extLst>
                <a:ext uri="{FF2B5EF4-FFF2-40B4-BE49-F238E27FC236}">
                  <a16:creationId xmlns:a16="http://schemas.microsoft.com/office/drawing/2014/main" id="{127040EA-9E8B-4D26-8201-3CB7A2D0B4A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0" y="2042"/>
              <a:ext cx="95" cy="193"/>
            </a:xfrm>
            <a:custGeom>
              <a:avLst/>
              <a:gdLst>
                <a:gd name="T0" fmla="*/ 95 w 95"/>
                <a:gd name="T1" fmla="*/ 0 h 193"/>
                <a:gd name="T2" fmla="*/ 0 w 95"/>
                <a:gd name="T3" fmla="*/ 0 h 193"/>
                <a:gd name="T4" fmla="*/ 0 w 95"/>
                <a:gd name="T5" fmla="*/ 193 h 193"/>
                <a:gd name="T6" fmla="*/ 95 w 95"/>
                <a:gd name="T7" fmla="*/ 193 h 1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5" h="193">
                  <a:moveTo>
                    <a:pt x="95" y="0"/>
                  </a:moveTo>
                  <a:lnTo>
                    <a:pt x="0" y="0"/>
                  </a:lnTo>
                  <a:lnTo>
                    <a:pt x="0" y="193"/>
                  </a:lnTo>
                  <a:lnTo>
                    <a:pt x="95" y="193"/>
                  </a:lnTo>
                </a:path>
              </a:pathLst>
            </a:custGeom>
            <a:noFill/>
            <a:ln w="174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4" name="Freeform 48">
              <a:extLst>
                <a:ext uri="{FF2B5EF4-FFF2-40B4-BE49-F238E27FC236}">
                  <a16:creationId xmlns:a16="http://schemas.microsoft.com/office/drawing/2014/main" id="{B896A49F-5EA2-44AA-83B3-7FFAC44B0B9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6" y="2042"/>
              <a:ext cx="99" cy="193"/>
            </a:xfrm>
            <a:custGeom>
              <a:avLst/>
              <a:gdLst>
                <a:gd name="T0" fmla="*/ 0 w 99"/>
                <a:gd name="T1" fmla="*/ 0 h 193"/>
                <a:gd name="T2" fmla="*/ 99 w 99"/>
                <a:gd name="T3" fmla="*/ 0 h 193"/>
                <a:gd name="T4" fmla="*/ 99 w 99"/>
                <a:gd name="T5" fmla="*/ 193 h 193"/>
                <a:gd name="T6" fmla="*/ 0 w 99"/>
                <a:gd name="T7" fmla="*/ 193 h 1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9" h="193">
                  <a:moveTo>
                    <a:pt x="0" y="0"/>
                  </a:moveTo>
                  <a:lnTo>
                    <a:pt x="99" y="0"/>
                  </a:lnTo>
                  <a:lnTo>
                    <a:pt x="99" y="193"/>
                  </a:lnTo>
                  <a:lnTo>
                    <a:pt x="0" y="193"/>
                  </a:lnTo>
                </a:path>
              </a:pathLst>
            </a:custGeom>
            <a:noFill/>
            <a:ln w="174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5" name="Line 49">
              <a:extLst>
                <a:ext uri="{FF2B5EF4-FFF2-40B4-BE49-F238E27FC236}">
                  <a16:creationId xmlns:a16="http://schemas.microsoft.com/office/drawing/2014/main" id="{2AFB77B8-5E5F-459A-8213-BE677A14B1D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326" y="2139"/>
              <a:ext cx="95" cy="0"/>
            </a:xfrm>
            <a:prstGeom prst="line">
              <a:avLst/>
            </a:prstGeom>
            <a:noFill/>
            <a:ln w="17463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6" name="Line 50">
              <a:extLst>
                <a:ext uri="{FF2B5EF4-FFF2-40B4-BE49-F238E27FC236}">
                  <a16:creationId xmlns:a16="http://schemas.microsoft.com/office/drawing/2014/main" id="{D73D51BC-96A3-44E3-8B42-E9982959309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992" y="2139"/>
              <a:ext cx="105" cy="0"/>
            </a:xfrm>
            <a:prstGeom prst="line">
              <a:avLst/>
            </a:prstGeom>
            <a:noFill/>
            <a:ln w="17463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7" name="Line 51">
              <a:extLst>
                <a:ext uri="{FF2B5EF4-FFF2-40B4-BE49-F238E27FC236}">
                  <a16:creationId xmlns:a16="http://schemas.microsoft.com/office/drawing/2014/main" id="{537CEAEB-54D2-4AD1-B304-E863185816E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722" y="2203"/>
              <a:ext cx="108" cy="0"/>
            </a:xfrm>
            <a:prstGeom prst="line">
              <a:avLst/>
            </a:prstGeom>
            <a:noFill/>
            <a:ln w="17463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8" name="Line 52">
              <a:extLst>
                <a:ext uri="{FF2B5EF4-FFF2-40B4-BE49-F238E27FC236}">
                  <a16:creationId xmlns:a16="http://schemas.microsoft.com/office/drawing/2014/main" id="{ABCE385B-BA5A-4F61-B6F4-FE7409A9890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780" y="2203"/>
              <a:ext cx="0" cy="129"/>
            </a:xfrm>
            <a:prstGeom prst="line">
              <a:avLst/>
            </a:prstGeom>
            <a:noFill/>
            <a:ln w="1905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9" name="Line 53">
              <a:extLst>
                <a:ext uri="{FF2B5EF4-FFF2-40B4-BE49-F238E27FC236}">
                  <a16:creationId xmlns:a16="http://schemas.microsoft.com/office/drawing/2014/main" id="{C8FDF19C-2134-4257-B2E2-5B922AE1474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780" y="2332"/>
              <a:ext cx="233" cy="0"/>
            </a:xfrm>
            <a:prstGeom prst="line">
              <a:avLst/>
            </a:prstGeom>
            <a:noFill/>
            <a:ln w="1905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0" name="Line 54">
              <a:extLst>
                <a:ext uri="{FF2B5EF4-FFF2-40B4-BE49-F238E27FC236}">
                  <a16:creationId xmlns:a16="http://schemas.microsoft.com/office/drawing/2014/main" id="{39FD293D-DC03-4FE9-BF9E-3E872A186EB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013" y="2139"/>
              <a:ext cx="0" cy="193"/>
            </a:xfrm>
            <a:prstGeom prst="line">
              <a:avLst/>
            </a:prstGeom>
            <a:noFill/>
            <a:ln w="1905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1" name="Line 55">
              <a:extLst>
                <a:ext uri="{FF2B5EF4-FFF2-40B4-BE49-F238E27FC236}">
                  <a16:creationId xmlns:a16="http://schemas.microsoft.com/office/drawing/2014/main" id="{9F34299A-7CC6-4552-A35F-70121BA9522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072" y="2139"/>
              <a:ext cx="0" cy="160"/>
            </a:xfrm>
            <a:prstGeom prst="line">
              <a:avLst/>
            </a:prstGeom>
            <a:noFill/>
            <a:ln w="1905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2" name="Line 56">
              <a:extLst>
                <a:ext uri="{FF2B5EF4-FFF2-40B4-BE49-F238E27FC236}">
                  <a16:creationId xmlns:a16="http://schemas.microsoft.com/office/drawing/2014/main" id="{17408004-FDC1-4428-AA8A-734D944046E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072" y="2299"/>
              <a:ext cx="299" cy="0"/>
            </a:xfrm>
            <a:prstGeom prst="line">
              <a:avLst/>
            </a:prstGeom>
            <a:noFill/>
            <a:ln w="1905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3" name="Line 57">
              <a:extLst>
                <a:ext uri="{FF2B5EF4-FFF2-40B4-BE49-F238E27FC236}">
                  <a16:creationId xmlns:a16="http://schemas.microsoft.com/office/drawing/2014/main" id="{BC21412F-A630-4C50-88D3-085E03045EF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371" y="2139"/>
              <a:ext cx="0" cy="160"/>
            </a:xfrm>
            <a:prstGeom prst="line">
              <a:avLst/>
            </a:prstGeom>
            <a:noFill/>
            <a:ln w="1905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4" name="Rectangle 58">
              <a:extLst>
                <a:ext uri="{FF2B5EF4-FFF2-40B4-BE49-F238E27FC236}">
                  <a16:creationId xmlns:a16="http://schemas.microsoft.com/office/drawing/2014/main" id="{71D6A81E-03A9-4126-9272-5B0E483307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2" y="2744"/>
              <a:ext cx="196" cy="18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16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lw</a:t>
              </a:r>
              <a:endParaRPr kumimoji="0" lang="zh-CN" altLang="zh-CN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65" name="Freeform 59">
              <a:extLst>
                <a:ext uri="{FF2B5EF4-FFF2-40B4-BE49-F238E27FC236}">
                  <a16:creationId xmlns:a16="http://schemas.microsoft.com/office/drawing/2014/main" id="{6A7BF954-4254-478D-9EA3-DBE33747913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6" y="2621"/>
              <a:ext cx="150" cy="321"/>
            </a:xfrm>
            <a:custGeom>
              <a:avLst/>
              <a:gdLst>
                <a:gd name="T0" fmla="*/ 0 w 150"/>
                <a:gd name="T1" fmla="*/ 214 h 321"/>
                <a:gd name="T2" fmla="*/ 50 w 150"/>
                <a:gd name="T3" fmla="*/ 161 h 321"/>
                <a:gd name="T4" fmla="*/ 0 w 150"/>
                <a:gd name="T5" fmla="*/ 107 h 321"/>
                <a:gd name="T6" fmla="*/ 0 w 150"/>
                <a:gd name="T7" fmla="*/ 0 h 321"/>
                <a:gd name="T8" fmla="*/ 150 w 150"/>
                <a:gd name="T9" fmla="*/ 107 h 321"/>
                <a:gd name="T10" fmla="*/ 150 w 150"/>
                <a:gd name="T11" fmla="*/ 214 h 321"/>
                <a:gd name="T12" fmla="*/ 0 w 150"/>
                <a:gd name="T13" fmla="*/ 321 h 321"/>
                <a:gd name="T14" fmla="*/ 0 w 150"/>
                <a:gd name="T15" fmla="*/ 214 h 3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50" h="321">
                  <a:moveTo>
                    <a:pt x="0" y="214"/>
                  </a:moveTo>
                  <a:lnTo>
                    <a:pt x="50" y="161"/>
                  </a:lnTo>
                  <a:lnTo>
                    <a:pt x="0" y="107"/>
                  </a:lnTo>
                  <a:lnTo>
                    <a:pt x="0" y="0"/>
                  </a:lnTo>
                  <a:lnTo>
                    <a:pt x="150" y="107"/>
                  </a:lnTo>
                  <a:lnTo>
                    <a:pt x="150" y="214"/>
                  </a:lnTo>
                  <a:lnTo>
                    <a:pt x="0" y="321"/>
                  </a:lnTo>
                  <a:lnTo>
                    <a:pt x="0" y="214"/>
                  </a:lnTo>
                </a:path>
              </a:pathLst>
            </a:custGeom>
            <a:noFill/>
            <a:ln w="174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6" name="Rectangle 60">
              <a:extLst>
                <a:ext uri="{FF2B5EF4-FFF2-40B4-BE49-F238E27FC236}">
                  <a16:creationId xmlns:a16="http://schemas.microsoft.com/office/drawing/2014/main" id="{F582A620-5DBE-4701-B4BE-5FE0192BC042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2450" y="2730"/>
              <a:ext cx="175" cy="10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1050" b="1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ALU</a:t>
              </a:r>
              <a:endParaRPr kumimoji="0" lang="zh-CN" altLang="zh-CN" sz="105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67" name="Rectangle 61">
              <a:extLst>
                <a:ext uri="{FF2B5EF4-FFF2-40B4-BE49-F238E27FC236}">
                  <a16:creationId xmlns:a16="http://schemas.microsoft.com/office/drawing/2014/main" id="{7516962C-56F9-4A36-9E12-4B02E6D421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49" y="2713"/>
              <a:ext cx="98" cy="1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1100" b="1" i="0" u="none" strike="noStrike" cap="none" normalizeH="0" baseline="0" dirty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I</a:t>
              </a:r>
              <a:r>
                <a:rPr kumimoji="0" lang="en-US" altLang="zh-CN" sz="1100" b="1" i="0" u="none" strike="noStrike" cap="none" normalizeH="0" baseline="0" dirty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M</a:t>
              </a:r>
              <a:endParaRPr kumimoji="0" lang="zh-CN" altLang="zh-CN" sz="1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68" name="Freeform 62">
              <a:extLst>
                <a:ext uri="{FF2B5EF4-FFF2-40B4-BE49-F238E27FC236}">
                  <a16:creationId xmlns:a16="http://schemas.microsoft.com/office/drawing/2014/main" id="{BC2DC040-9205-482C-BD37-C8B84EE6DA5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5" y="2686"/>
              <a:ext cx="116" cy="192"/>
            </a:xfrm>
            <a:custGeom>
              <a:avLst/>
              <a:gdLst>
                <a:gd name="T0" fmla="*/ 116 w 116"/>
                <a:gd name="T1" fmla="*/ 0 h 192"/>
                <a:gd name="T2" fmla="*/ 0 w 116"/>
                <a:gd name="T3" fmla="*/ 0 h 192"/>
                <a:gd name="T4" fmla="*/ 0 w 116"/>
                <a:gd name="T5" fmla="*/ 192 h 192"/>
                <a:gd name="T6" fmla="*/ 116 w 116"/>
                <a:gd name="T7" fmla="*/ 192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16" h="192">
                  <a:moveTo>
                    <a:pt x="116" y="0"/>
                  </a:moveTo>
                  <a:lnTo>
                    <a:pt x="0" y="0"/>
                  </a:lnTo>
                  <a:lnTo>
                    <a:pt x="0" y="192"/>
                  </a:lnTo>
                  <a:lnTo>
                    <a:pt x="116" y="192"/>
                  </a:lnTo>
                </a:path>
              </a:pathLst>
            </a:custGeom>
            <a:noFill/>
            <a:ln w="174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9" name="Freeform 63">
              <a:extLst>
                <a:ext uri="{FF2B5EF4-FFF2-40B4-BE49-F238E27FC236}">
                  <a16:creationId xmlns:a16="http://schemas.microsoft.com/office/drawing/2014/main" id="{67A83F7F-DB3D-4A31-8314-15E4884A098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2" y="2686"/>
              <a:ext cx="120" cy="192"/>
            </a:xfrm>
            <a:custGeom>
              <a:avLst/>
              <a:gdLst>
                <a:gd name="T0" fmla="*/ 0 w 120"/>
                <a:gd name="T1" fmla="*/ 0 h 192"/>
                <a:gd name="T2" fmla="*/ 120 w 120"/>
                <a:gd name="T3" fmla="*/ 0 h 192"/>
                <a:gd name="T4" fmla="*/ 120 w 120"/>
                <a:gd name="T5" fmla="*/ 192 h 192"/>
                <a:gd name="T6" fmla="*/ 0 w 120"/>
                <a:gd name="T7" fmla="*/ 192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0" h="192">
                  <a:moveTo>
                    <a:pt x="0" y="0"/>
                  </a:moveTo>
                  <a:lnTo>
                    <a:pt x="120" y="0"/>
                  </a:lnTo>
                  <a:lnTo>
                    <a:pt x="120" y="192"/>
                  </a:lnTo>
                  <a:lnTo>
                    <a:pt x="0" y="192"/>
                  </a:lnTo>
                </a:path>
              </a:pathLst>
            </a:custGeom>
            <a:noFill/>
            <a:ln w="174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0" name="Rectangle 64">
              <a:extLst>
                <a:ext uri="{FF2B5EF4-FFF2-40B4-BE49-F238E27FC236}">
                  <a16:creationId xmlns:a16="http://schemas.microsoft.com/office/drawing/2014/main" id="{C4DDA210-4DB4-4426-832F-0A68D9ADFB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51" y="2718"/>
              <a:ext cx="216" cy="1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1100" b="1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Reg</a:t>
              </a:r>
              <a:endParaRPr kumimoji="0" lang="zh-CN" altLang="zh-CN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71" name="Freeform 65">
              <a:extLst>
                <a:ext uri="{FF2B5EF4-FFF2-40B4-BE49-F238E27FC236}">
                  <a16:creationId xmlns:a16="http://schemas.microsoft.com/office/drawing/2014/main" id="{FC1AEB53-2A46-4002-BC0F-AA202363654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6" y="2686"/>
              <a:ext cx="103" cy="192"/>
            </a:xfrm>
            <a:custGeom>
              <a:avLst/>
              <a:gdLst>
                <a:gd name="T0" fmla="*/ 103 w 103"/>
                <a:gd name="T1" fmla="*/ 0 h 192"/>
                <a:gd name="T2" fmla="*/ 0 w 103"/>
                <a:gd name="T3" fmla="*/ 0 h 192"/>
                <a:gd name="T4" fmla="*/ 0 w 103"/>
                <a:gd name="T5" fmla="*/ 192 h 192"/>
                <a:gd name="T6" fmla="*/ 103 w 103"/>
                <a:gd name="T7" fmla="*/ 192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3" h="192">
                  <a:moveTo>
                    <a:pt x="103" y="0"/>
                  </a:moveTo>
                  <a:lnTo>
                    <a:pt x="0" y="0"/>
                  </a:lnTo>
                  <a:lnTo>
                    <a:pt x="0" y="192"/>
                  </a:lnTo>
                  <a:lnTo>
                    <a:pt x="103" y="192"/>
                  </a:lnTo>
                </a:path>
              </a:pathLst>
            </a:custGeom>
            <a:noFill/>
            <a:ln w="174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2" name="Freeform 66">
              <a:extLst>
                <a:ext uri="{FF2B5EF4-FFF2-40B4-BE49-F238E27FC236}">
                  <a16:creationId xmlns:a16="http://schemas.microsoft.com/office/drawing/2014/main" id="{FBA5167A-AF2F-4280-9F51-E12372996A8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6" y="2686"/>
              <a:ext cx="103" cy="192"/>
            </a:xfrm>
            <a:custGeom>
              <a:avLst/>
              <a:gdLst>
                <a:gd name="T0" fmla="*/ 0 w 103"/>
                <a:gd name="T1" fmla="*/ 0 h 192"/>
                <a:gd name="T2" fmla="*/ 103 w 103"/>
                <a:gd name="T3" fmla="*/ 0 h 192"/>
                <a:gd name="T4" fmla="*/ 103 w 103"/>
                <a:gd name="T5" fmla="*/ 192 h 192"/>
                <a:gd name="T6" fmla="*/ 0 w 103"/>
                <a:gd name="T7" fmla="*/ 192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3" h="192">
                  <a:moveTo>
                    <a:pt x="0" y="0"/>
                  </a:moveTo>
                  <a:lnTo>
                    <a:pt x="103" y="0"/>
                  </a:lnTo>
                  <a:lnTo>
                    <a:pt x="103" y="192"/>
                  </a:lnTo>
                  <a:lnTo>
                    <a:pt x="0" y="192"/>
                  </a:lnTo>
                </a:path>
              </a:pathLst>
            </a:custGeom>
            <a:noFill/>
            <a:ln w="174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3" name="Line 67">
              <a:extLst>
                <a:ext uri="{FF2B5EF4-FFF2-40B4-BE49-F238E27FC236}">
                  <a16:creationId xmlns:a16="http://schemas.microsoft.com/office/drawing/2014/main" id="{B5992CB1-18E1-4C92-BACE-F9758CDD3CD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047" y="2782"/>
              <a:ext cx="79" cy="0"/>
            </a:xfrm>
            <a:prstGeom prst="line">
              <a:avLst/>
            </a:prstGeom>
            <a:noFill/>
            <a:ln w="17463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4" name="Freeform 68">
              <a:extLst>
                <a:ext uri="{FF2B5EF4-FFF2-40B4-BE49-F238E27FC236}">
                  <a16:creationId xmlns:a16="http://schemas.microsoft.com/office/drawing/2014/main" id="{5FC174CB-98B9-4B7B-871C-2FA7C2AD1CC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2" y="2718"/>
              <a:ext cx="33" cy="64"/>
            </a:xfrm>
            <a:custGeom>
              <a:avLst/>
              <a:gdLst>
                <a:gd name="T0" fmla="*/ 0 w 33"/>
                <a:gd name="T1" fmla="*/ 64 h 64"/>
                <a:gd name="T2" fmla="*/ 0 w 33"/>
                <a:gd name="T3" fmla="*/ 0 h 64"/>
                <a:gd name="T4" fmla="*/ 33 w 33"/>
                <a:gd name="T5" fmla="*/ 0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3" h="64">
                  <a:moveTo>
                    <a:pt x="0" y="64"/>
                  </a:moveTo>
                  <a:lnTo>
                    <a:pt x="0" y="0"/>
                  </a:lnTo>
                  <a:lnTo>
                    <a:pt x="33" y="0"/>
                  </a:lnTo>
                </a:path>
              </a:pathLst>
            </a:custGeom>
            <a:noFill/>
            <a:ln w="174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5" name="Line 69">
              <a:extLst>
                <a:ext uri="{FF2B5EF4-FFF2-40B4-BE49-F238E27FC236}">
                  <a16:creationId xmlns:a16="http://schemas.microsoft.com/office/drawing/2014/main" id="{938788A7-1BC9-48E7-A2BB-062053D4905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334" y="2718"/>
              <a:ext cx="108" cy="0"/>
            </a:xfrm>
            <a:prstGeom prst="line">
              <a:avLst/>
            </a:prstGeom>
            <a:noFill/>
            <a:ln w="17463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6" name="Rectangle 70">
              <a:extLst>
                <a:ext uri="{FF2B5EF4-FFF2-40B4-BE49-F238E27FC236}">
                  <a16:creationId xmlns:a16="http://schemas.microsoft.com/office/drawing/2014/main" id="{81788B5A-DC75-4A97-962F-D6A0E315CD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18" y="2713"/>
              <a:ext cx="183" cy="1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1100" b="1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DM</a:t>
              </a:r>
              <a:endParaRPr kumimoji="0" lang="zh-CN" altLang="zh-CN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77" name="Freeform 71">
              <a:extLst>
                <a:ext uri="{FF2B5EF4-FFF2-40B4-BE49-F238E27FC236}">
                  <a16:creationId xmlns:a16="http://schemas.microsoft.com/office/drawing/2014/main" id="{FDB8F5CF-B38E-4168-94F8-4A017B39371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3" y="2686"/>
              <a:ext cx="112" cy="192"/>
            </a:xfrm>
            <a:custGeom>
              <a:avLst/>
              <a:gdLst>
                <a:gd name="T0" fmla="*/ 112 w 112"/>
                <a:gd name="T1" fmla="*/ 0 h 192"/>
                <a:gd name="T2" fmla="*/ 0 w 112"/>
                <a:gd name="T3" fmla="*/ 0 h 192"/>
                <a:gd name="T4" fmla="*/ 0 w 112"/>
                <a:gd name="T5" fmla="*/ 192 h 192"/>
                <a:gd name="T6" fmla="*/ 112 w 112"/>
                <a:gd name="T7" fmla="*/ 192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12" h="192">
                  <a:moveTo>
                    <a:pt x="112" y="0"/>
                  </a:moveTo>
                  <a:lnTo>
                    <a:pt x="0" y="0"/>
                  </a:lnTo>
                  <a:lnTo>
                    <a:pt x="0" y="192"/>
                  </a:lnTo>
                  <a:lnTo>
                    <a:pt x="112" y="192"/>
                  </a:lnTo>
                </a:path>
              </a:pathLst>
            </a:custGeom>
            <a:noFill/>
            <a:ln w="174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8" name="Freeform 72">
              <a:extLst>
                <a:ext uri="{FF2B5EF4-FFF2-40B4-BE49-F238E27FC236}">
                  <a16:creationId xmlns:a16="http://schemas.microsoft.com/office/drawing/2014/main" id="{4875213D-5591-451E-BAF9-D17E24074AB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5" y="2686"/>
              <a:ext cx="112" cy="192"/>
            </a:xfrm>
            <a:custGeom>
              <a:avLst/>
              <a:gdLst>
                <a:gd name="T0" fmla="*/ 0 w 112"/>
                <a:gd name="T1" fmla="*/ 0 h 192"/>
                <a:gd name="T2" fmla="*/ 112 w 112"/>
                <a:gd name="T3" fmla="*/ 0 h 192"/>
                <a:gd name="T4" fmla="*/ 112 w 112"/>
                <a:gd name="T5" fmla="*/ 192 h 192"/>
                <a:gd name="T6" fmla="*/ 0 w 112"/>
                <a:gd name="T7" fmla="*/ 192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12" h="192">
                  <a:moveTo>
                    <a:pt x="0" y="0"/>
                  </a:moveTo>
                  <a:lnTo>
                    <a:pt x="112" y="0"/>
                  </a:lnTo>
                  <a:lnTo>
                    <a:pt x="112" y="192"/>
                  </a:lnTo>
                  <a:lnTo>
                    <a:pt x="0" y="192"/>
                  </a:lnTo>
                </a:path>
              </a:pathLst>
            </a:custGeom>
            <a:noFill/>
            <a:ln w="174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9" name="Rectangle 73">
              <a:extLst>
                <a:ext uri="{FF2B5EF4-FFF2-40B4-BE49-F238E27FC236}">
                  <a16:creationId xmlns:a16="http://schemas.microsoft.com/office/drawing/2014/main" id="{9D19250E-44DC-447A-BA84-E2A21461B7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59" y="2713"/>
              <a:ext cx="217" cy="1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1100" b="1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Reg</a:t>
              </a:r>
              <a:endParaRPr kumimoji="0" lang="zh-CN" altLang="zh-CN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80" name="Freeform 74">
              <a:extLst>
                <a:ext uri="{FF2B5EF4-FFF2-40B4-BE49-F238E27FC236}">
                  <a16:creationId xmlns:a16="http://schemas.microsoft.com/office/drawing/2014/main" id="{7232AC59-8681-4CD4-826E-9E9F0DA7033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8" y="2686"/>
              <a:ext cx="99" cy="192"/>
            </a:xfrm>
            <a:custGeom>
              <a:avLst/>
              <a:gdLst>
                <a:gd name="T0" fmla="*/ 99 w 99"/>
                <a:gd name="T1" fmla="*/ 0 h 192"/>
                <a:gd name="T2" fmla="*/ 0 w 99"/>
                <a:gd name="T3" fmla="*/ 0 h 192"/>
                <a:gd name="T4" fmla="*/ 0 w 99"/>
                <a:gd name="T5" fmla="*/ 192 h 192"/>
                <a:gd name="T6" fmla="*/ 99 w 99"/>
                <a:gd name="T7" fmla="*/ 192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9" h="192">
                  <a:moveTo>
                    <a:pt x="99" y="0"/>
                  </a:moveTo>
                  <a:lnTo>
                    <a:pt x="0" y="0"/>
                  </a:lnTo>
                  <a:lnTo>
                    <a:pt x="0" y="192"/>
                  </a:lnTo>
                  <a:lnTo>
                    <a:pt x="99" y="192"/>
                  </a:lnTo>
                </a:path>
              </a:pathLst>
            </a:custGeom>
            <a:noFill/>
            <a:ln w="174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1" name="Freeform 75">
              <a:extLst>
                <a:ext uri="{FF2B5EF4-FFF2-40B4-BE49-F238E27FC236}">
                  <a16:creationId xmlns:a16="http://schemas.microsoft.com/office/drawing/2014/main" id="{FE1536D3-B6AD-4B64-8A2E-756445E4D54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8" y="2686"/>
              <a:ext cx="99" cy="192"/>
            </a:xfrm>
            <a:custGeom>
              <a:avLst/>
              <a:gdLst>
                <a:gd name="T0" fmla="*/ 0 w 99"/>
                <a:gd name="T1" fmla="*/ 0 h 192"/>
                <a:gd name="T2" fmla="*/ 99 w 99"/>
                <a:gd name="T3" fmla="*/ 0 h 192"/>
                <a:gd name="T4" fmla="*/ 99 w 99"/>
                <a:gd name="T5" fmla="*/ 192 h 192"/>
                <a:gd name="T6" fmla="*/ 0 w 99"/>
                <a:gd name="T7" fmla="*/ 192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9" h="192">
                  <a:moveTo>
                    <a:pt x="0" y="0"/>
                  </a:moveTo>
                  <a:lnTo>
                    <a:pt x="99" y="0"/>
                  </a:lnTo>
                  <a:lnTo>
                    <a:pt x="99" y="192"/>
                  </a:lnTo>
                  <a:lnTo>
                    <a:pt x="0" y="192"/>
                  </a:lnTo>
                </a:path>
              </a:pathLst>
            </a:custGeom>
            <a:noFill/>
            <a:ln w="174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2" name="Line 76">
              <a:extLst>
                <a:ext uri="{FF2B5EF4-FFF2-40B4-BE49-F238E27FC236}">
                  <a16:creationId xmlns:a16="http://schemas.microsoft.com/office/drawing/2014/main" id="{7125E93B-84E8-491F-9757-9AE0686B94E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38" y="2782"/>
              <a:ext cx="96" cy="0"/>
            </a:xfrm>
            <a:prstGeom prst="line">
              <a:avLst/>
            </a:prstGeom>
            <a:noFill/>
            <a:ln w="17463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3" name="Line 77">
              <a:extLst>
                <a:ext uri="{FF2B5EF4-FFF2-40B4-BE49-F238E27FC236}">
                  <a16:creationId xmlns:a16="http://schemas.microsoft.com/office/drawing/2014/main" id="{5199B960-D5CE-48C0-B63B-A7AB840BC9F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601" y="2782"/>
              <a:ext cx="108" cy="0"/>
            </a:xfrm>
            <a:prstGeom prst="line">
              <a:avLst/>
            </a:prstGeom>
            <a:noFill/>
            <a:ln w="17463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4" name="Line 78">
              <a:extLst>
                <a:ext uri="{FF2B5EF4-FFF2-40B4-BE49-F238E27FC236}">
                  <a16:creationId xmlns:a16="http://schemas.microsoft.com/office/drawing/2014/main" id="{F7E03C53-6C86-4229-A116-9A421ACC573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334" y="2846"/>
              <a:ext cx="108" cy="0"/>
            </a:xfrm>
            <a:prstGeom prst="line">
              <a:avLst/>
            </a:prstGeom>
            <a:noFill/>
            <a:ln w="17463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5" name="Line 79">
              <a:extLst>
                <a:ext uri="{FF2B5EF4-FFF2-40B4-BE49-F238E27FC236}">
                  <a16:creationId xmlns:a16="http://schemas.microsoft.com/office/drawing/2014/main" id="{A2B41767-E726-4A73-9005-20894D87249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392" y="2846"/>
              <a:ext cx="0" cy="129"/>
            </a:xfrm>
            <a:prstGeom prst="line">
              <a:avLst/>
            </a:prstGeom>
            <a:noFill/>
            <a:ln w="1905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6" name="Line 80">
              <a:extLst>
                <a:ext uri="{FF2B5EF4-FFF2-40B4-BE49-F238E27FC236}">
                  <a16:creationId xmlns:a16="http://schemas.microsoft.com/office/drawing/2014/main" id="{1BE65ED4-A7FA-4710-BD2A-2FA1C6B7456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392" y="2975"/>
              <a:ext cx="233" cy="0"/>
            </a:xfrm>
            <a:prstGeom prst="line">
              <a:avLst/>
            </a:prstGeom>
            <a:noFill/>
            <a:ln w="1905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7" name="Line 81">
              <a:extLst>
                <a:ext uri="{FF2B5EF4-FFF2-40B4-BE49-F238E27FC236}">
                  <a16:creationId xmlns:a16="http://schemas.microsoft.com/office/drawing/2014/main" id="{0DCF7AEE-2444-4D78-BE7F-D0556A24392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625" y="2782"/>
              <a:ext cx="0" cy="193"/>
            </a:xfrm>
            <a:prstGeom prst="line">
              <a:avLst/>
            </a:prstGeom>
            <a:noFill/>
            <a:ln w="1905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8" name="Line 82">
              <a:extLst>
                <a:ext uri="{FF2B5EF4-FFF2-40B4-BE49-F238E27FC236}">
                  <a16:creationId xmlns:a16="http://schemas.microsoft.com/office/drawing/2014/main" id="{485EE3F0-55E6-4069-A23B-F9E7A8EAF6A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680" y="2782"/>
              <a:ext cx="0" cy="161"/>
            </a:xfrm>
            <a:prstGeom prst="line">
              <a:avLst/>
            </a:prstGeom>
            <a:noFill/>
            <a:ln w="1905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9" name="Line 83">
              <a:extLst>
                <a:ext uri="{FF2B5EF4-FFF2-40B4-BE49-F238E27FC236}">
                  <a16:creationId xmlns:a16="http://schemas.microsoft.com/office/drawing/2014/main" id="{79EAC14A-2FB8-4EAA-B5C5-183D2EBB350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680" y="2943"/>
              <a:ext cx="299" cy="0"/>
            </a:xfrm>
            <a:prstGeom prst="line">
              <a:avLst/>
            </a:prstGeom>
            <a:noFill/>
            <a:ln w="1905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0" name="Line 84">
              <a:extLst>
                <a:ext uri="{FF2B5EF4-FFF2-40B4-BE49-F238E27FC236}">
                  <a16:creationId xmlns:a16="http://schemas.microsoft.com/office/drawing/2014/main" id="{A227EF65-8096-4EA6-9E0F-72990F9E67B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79" y="2782"/>
              <a:ext cx="0" cy="161"/>
            </a:xfrm>
            <a:prstGeom prst="line">
              <a:avLst/>
            </a:prstGeom>
            <a:noFill/>
            <a:ln w="1905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1" name="Freeform 85">
              <a:extLst>
                <a:ext uri="{FF2B5EF4-FFF2-40B4-BE49-F238E27FC236}">
                  <a16:creationId xmlns:a16="http://schemas.microsoft.com/office/drawing/2014/main" id="{1D48DE10-F0FD-4552-8FB5-E65BB8A4AE3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549" y="1946"/>
              <a:ext cx="11" cy="2284"/>
            </a:xfrm>
            <a:custGeom>
              <a:avLst/>
              <a:gdLst>
                <a:gd name="T0" fmla="*/ 0 w 11"/>
                <a:gd name="T1" fmla="*/ 21 h 2284"/>
                <a:gd name="T2" fmla="*/ 0 w 11"/>
                <a:gd name="T3" fmla="*/ 75 h 2284"/>
                <a:gd name="T4" fmla="*/ 11 w 11"/>
                <a:gd name="T5" fmla="*/ 118 h 2284"/>
                <a:gd name="T6" fmla="*/ 11 w 11"/>
                <a:gd name="T7" fmla="*/ 150 h 2284"/>
                <a:gd name="T8" fmla="*/ 11 w 11"/>
                <a:gd name="T9" fmla="*/ 171 h 2284"/>
                <a:gd name="T10" fmla="*/ 0 w 11"/>
                <a:gd name="T11" fmla="*/ 214 h 2284"/>
                <a:gd name="T12" fmla="*/ 0 w 11"/>
                <a:gd name="T13" fmla="*/ 268 h 2284"/>
                <a:gd name="T14" fmla="*/ 11 w 11"/>
                <a:gd name="T15" fmla="*/ 311 h 2284"/>
                <a:gd name="T16" fmla="*/ 11 w 11"/>
                <a:gd name="T17" fmla="*/ 343 h 2284"/>
                <a:gd name="T18" fmla="*/ 11 w 11"/>
                <a:gd name="T19" fmla="*/ 364 h 2284"/>
                <a:gd name="T20" fmla="*/ 0 w 11"/>
                <a:gd name="T21" fmla="*/ 407 h 2284"/>
                <a:gd name="T22" fmla="*/ 0 w 11"/>
                <a:gd name="T23" fmla="*/ 461 h 2284"/>
                <a:gd name="T24" fmla="*/ 11 w 11"/>
                <a:gd name="T25" fmla="*/ 504 h 2284"/>
                <a:gd name="T26" fmla="*/ 11 w 11"/>
                <a:gd name="T27" fmla="*/ 536 h 2284"/>
                <a:gd name="T28" fmla="*/ 11 w 11"/>
                <a:gd name="T29" fmla="*/ 557 h 2284"/>
                <a:gd name="T30" fmla="*/ 0 w 11"/>
                <a:gd name="T31" fmla="*/ 600 h 2284"/>
                <a:gd name="T32" fmla="*/ 0 w 11"/>
                <a:gd name="T33" fmla="*/ 654 h 2284"/>
                <a:gd name="T34" fmla="*/ 11 w 11"/>
                <a:gd name="T35" fmla="*/ 697 h 2284"/>
                <a:gd name="T36" fmla="*/ 11 w 11"/>
                <a:gd name="T37" fmla="*/ 729 h 2284"/>
                <a:gd name="T38" fmla="*/ 11 w 11"/>
                <a:gd name="T39" fmla="*/ 750 h 2284"/>
                <a:gd name="T40" fmla="*/ 0 w 11"/>
                <a:gd name="T41" fmla="*/ 793 h 2284"/>
                <a:gd name="T42" fmla="*/ 0 w 11"/>
                <a:gd name="T43" fmla="*/ 847 h 2284"/>
                <a:gd name="T44" fmla="*/ 11 w 11"/>
                <a:gd name="T45" fmla="*/ 890 h 2284"/>
                <a:gd name="T46" fmla="*/ 11 w 11"/>
                <a:gd name="T47" fmla="*/ 922 h 2284"/>
                <a:gd name="T48" fmla="*/ 11 w 11"/>
                <a:gd name="T49" fmla="*/ 943 h 2284"/>
                <a:gd name="T50" fmla="*/ 0 w 11"/>
                <a:gd name="T51" fmla="*/ 986 h 2284"/>
                <a:gd name="T52" fmla="*/ 0 w 11"/>
                <a:gd name="T53" fmla="*/ 1040 h 2284"/>
                <a:gd name="T54" fmla="*/ 11 w 11"/>
                <a:gd name="T55" fmla="*/ 1083 h 2284"/>
                <a:gd name="T56" fmla="*/ 11 w 11"/>
                <a:gd name="T57" fmla="*/ 1115 h 2284"/>
                <a:gd name="T58" fmla="*/ 11 w 11"/>
                <a:gd name="T59" fmla="*/ 1136 h 2284"/>
                <a:gd name="T60" fmla="*/ 0 w 11"/>
                <a:gd name="T61" fmla="*/ 1179 h 2284"/>
                <a:gd name="T62" fmla="*/ 0 w 11"/>
                <a:gd name="T63" fmla="*/ 1233 h 2284"/>
                <a:gd name="T64" fmla="*/ 11 w 11"/>
                <a:gd name="T65" fmla="*/ 1276 h 2284"/>
                <a:gd name="T66" fmla="*/ 11 w 11"/>
                <a:gd name="T67" fmla="*/ 1308 h 2284"/>
                <a:gd name="T68" fmla="*/ 11 w 11"/>
                <a:gd name="T69" fmla="*/ 1330 h 2284"/>
                <a:gd name="T70" fmla="*/ 0 w 11"/>
                <a:gd name="T71" fmla="*/ 1373 h 2284"/>
                <a:gd name="T72" fmla="*/ 0 w 11"/>
                <a:gd name="T73" fmla="*/ 1426 h 2284"/>
                <a:gd name="T74" fmla="*/ 11 w 11"/>
                <a:gd name="T75" fmla="*/ 1469 h 2284"/>
                <a:gd name="T76" fmla="*/ 11 w 11"/>
                <a:gd name="T77" fmla="*/ 1501 h 2284"/>
                <a:gd name="T78" fmla="*/ 11 w 11"/>
                <a:gd name="T79" fmla="*/ 1523 h 2284"/>
                <a:gd name="T80" fmla="*/ 0 w 11"/>
                <a:gd name="T81" fmla="*/ 1566 h 2284"/>
                <a:gd name="T82" fmla="*/ 0 w 11"/>
                <a:gd name="T83" fmla="*/ 1619 h 2284"/>
                <a:gd name="T84" fmla="*/ 11 w 11"/>
                <a:gd name="T85" fmla="*/ 1662 h 2284"/>
                <a:gd name="T86" fmla="*/ 11 w 11"/>
                <a:gd name="T87" fmla="*/ 1694 h 2284"/>
                <a:gd name="T88" fmla="*/ 11 w 11"/>
                <a:gd name="T89" fmla="*/ 1716 h 2284"/>
                <a:gd name="T90" fmla="*/ 0 w 11"/>
                <a:gd name="T91" fmla="*/ 1759 h 2284"/>
                <a:gd name="T92" fmla="*/ 0 w 11"/>
                <a:gd name="T93" fmla="*/ 1812 h 2284"/>
                <a:gd name="T94" fmla="*/ 11 w 11"/>
                <a:gd name="T95" fmla="*/ 1855 h 2284"/>
                <a:gd name="T96" fmla="*/ 11 w 11"/>
                <a:gd name="T97" fmla="*/ 1887 h 2284"/>
                <a:gd name="T98" fmla="*/ 11 w 11"/>
                <a:gd name="T99" fmla="*/ 1909 h 2284"/>
                <a:gd name="T100" fmla="*/ 0 w 11"/>
                <a:gd name="T101" fmla="*/ 1952 h 2284"/>
                <a:gd name="T102" fmla="*/ 0 w 11"/>
                <a:gd name="T103" fmla="*/ 2005 h 2284"/>
                <a:gd name="T104" fmla="*/ 11 w 11"/>
                <a:gd name="T105" fmla="*/ 2048 h 2284"/>
                <a:gd name="T106" fmla="*/ 11 w 11"/>
                <a:gd name="T107" fmla="*/ 2080 h 2284"/>
                <a:gd name="T108" fmla="*/ 11 w 11"/>
                <a:gd name="T109" fmla="*/ 2102 h 2284"/>
                <a:gd name="T110" fmla="*/ 0 w 11"/>
                <a:gd name="T111" fmla="*/ 2145 h 2284"/>
                <a:gd name="T112" fmla="*/ 0 w 11"/>
                <a:gd name="T113" fmla="*/ 2198 h 2284"/>
                <a:gd name="T114" fmla="*/ 11 w 11"/>
                <a:gd name="T115" fmla="*/ 2241 h 2284"/>
                <a:gd name="T116" fmla="*/ 11 w 11"/>
                <a:gd name="T117" fmla="*/ 2273 h 22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1" h="2284">
                  <a:moveTo>
                    <a:pt x="11" y="0"/>
                  </a:moveTo>
                  <a:lnTo>
                    <a:pt x="11" y="10"/>
                  </a:lnTo>
                  <a:lnTo>
                    <a:pt x="0" y="10"/>
                  </a:lnTo>
                  <a:lnTo>
                    <a:pt x="0" y="0"/>
                  </a:lnTo>
                  <a:lnTo>
                    <a:pt x="11" y="0"/>
                  </a:lnTo>
                  <a:close/>
                  <a:moveTo>
                    <a:pt x="11" y="21"/>
                  </a:moveTo>
                  <a:lnTo>
                    <a:pt x="11" y="32"/>
                  </a:lnTo>
                  <a:lnTo>
                    <a:pt x="0" y="32"/>
                  </a:lnTo>
                  <a:lnTo>
                    <a:pt x="0" y="21"/>
                  </a:lnTo>
                  <a:lnTo>
                    <a:pt x="11" y="21"/>
                  </a:lnTo>
                  <a:close/>
                  <a:moveTo>
                    <a:pt x="11" y="43"/>
                  </a:moveTo>
                  <a:lnTo>
                    <a:pt x="11" y="53"/>
                  </a:lnTo>
                  <a:lnTo>
                    <a:pt x="0" y="53"/>
                  </a:lnTo>
                  <a:lnTo>
                    <a:pt x="0" y="43"/>
                  </a:lnTo>
                  <a:lnTo>
                    <a:pt x="11" y="43"/>
                  </a:lnTo>
                  <a:close/>
                  <a:moveTo>
                    <a:pt x="11" y="64"/>
                  </a:moveTo>
                  <a:lnTo>
                    <a:pt x="11" y="75"/>
                  </a:lnTo>
                  <a:lnTo>
                    <a:pt x="0" y="75"/>
                  </a:lnTo>
                  <a:lnTo>
                    <a:pt x="0" y="64"/>
                  </a:lnTo>
                  <a:lnTo>
                    <a:pt x="11" y="64"/>
                  </a:lnTo>
                  <a:close/>
                  <a:moveTo>
                    <a:pt x="11" y="86"/>
                  </a:moveTo>
                  <a:lnTo>
                    <a:pt x="11" y="96"/>
                  </a:lnTo>
                  <a:lnTo>
                    <a:pt x="0" y="96"/>
                  </a:lnTo>
                  <a:lnTo>
                    <a:pt x="0" y="86"/>
                  </a:lnTo>
                  <a:lnTo>
                    <a:pt x="11" y="86"/>
                  </a:lnTo>
                  <a:close/>
                  <a:moveTo>
                    <a:pt x="11" y="107"/>
                  </a:moveTo>
                  <a:lnTo>
                    <a:pt x="11" y="118"/>
                  </a:lnTo>
                  <a:lnTo>
                    <a:pt x="0" y="118"/>
                  </a:lnTo>
                  <a:lnTo>
                    <a:pt x="0" y="107"/>
                  </a:lnTo>
                  <a:lnTo>
                    <a:pt x="11" y="107"/>
                  </a:lnTo>
                  <a:close/>
                  <a:moveTo>
                    <a:pt x="11" y="128"/>
                  </a:moveTo>
                  <a:lnTo>
                    <a:pt x="11" y="139"/>
                  </a:lnTo>
                  <a:lnTo>
                    <a:pt x="0" y="139"/>
                  </a:lnTo>
                  <a:lnTo>
                    <a:pt x="0" y="128"/>
                  </a:lnTo>
                  <a:lnTo>
                    <a:pt x="11" y="128"/>
                  </a:lnTo>
                  <a:close/>
                  <a:moveTo>
                    <a:pt x="11" y="150"/>
                  </a:moveTo>
                  <a:lnTo>
                    <a:pt x="11" y="160"/>
                  </a:lnTo>
                  <a:lnTo>
                    <a:pt x="0" y="160"/>
                  </a:lnTo>
                  <a:lnTo>
                    <a:pt x="0" y="150"/>
                  </a:lnTo>
                  <a:lnTo>
                    <a:pt x="11" y="150"/>
                  </a:lnTo>
                  <a:close/>
                  <a:moveTo>
                    <a:pt x="11" y="171"/>
                  </a:moveTo>
                  <a:lnTo>
                    <a:pt x="11" y="182"/>
                  </a:lnTo>
                  <a:lnTo>
                    <a:pt x="0" y="182"/>
                  </a:lnTo>
                  <a:lnTo>
                    <a:pt x="0" y="171"/>
                  </a:lnTo>
                  <a:lnTo>
                    <a:pt x="11" y="171"/>
                  </a:lnTo>
                  <a:close/>
                  <a:moveTo>
                    <a:pt x="11" y="193"/>
                  </a:moveTo>
                  <a:lnTo>
                    <a:pt x="11" y="203"/>
                  </a:lnTo>
                  <a:lnTo>
                    <a:pt x="0" y="203"/>
                  </a:lnTo>
                  <a:lnTo>
                    <a:pt x="0" y="193"/>
                  </a:lnTo>
                  <a:lnTo>
                    <a:pt x="11" y="193"/>
                  </a:lnTo>
                  <a:close/>
                  <a:moveTo>
                    <a:pt x="11" y="214"/>
                  </a:moveTo>
                  <a:lnTo>
                    <a:pt x="11" y="225"/>
                  </a:lnTo>
                  <a:lnTo>
                    <a:pt x="0" y="225"/>
                  </a:lnTo>
                  <a:lnTo>
                    <a:pt x="0" y="214"/>
                  </a:lnTo>
                  <a:lnTo>
                    <a:pt x="11" y="214"/>
                  </a:lnTo>
                  <a:close/>
                  <a:moveTo>
                    <a:pt x="11" y="236"/>
                  </a:moveTo>
                  <a:lnTo>
                    <a:pt x="11" y="246"/>
                  </a:lnTo>
                  <a:lnTo>
                    <a:pt x="0" y="246"/>
                  </a:lnTo>
                  <a:lnTo>
                    <a:pt x="0" y="236"/>
                  </a:lnTo>
                  <a:lnTo>
                    <a:pt x="11" y="236"/>
                  </a:lnTo>
                  <a:close/>
                  <a:moveTo>
                    <a:pt x="11" y="257"/>
                  </a:moveTo>
                  <a:lnTo>
                    <a:pt x="11" y="268"/>
                  </a:lnTo>
                  <a:lnTo>
                    <a:pt x="0" y="268"/>
                  </a:lnTo>
                  <a:lnTo>
                    <a:pt x="0" y="257"/>
                  </a:lnTo>
                  <a:lnTo>
                    <a:pt x="11" y="257"/>
                  </a:lnTo>
                  <a:close/>
                  <a:moveTo>
                    <a:pt x="11" y="279"/>
                  </a:moveTo>
                  <a:lnTo>
                    <a:pt x="11" y="289"/>
                  </a:lnTo>
                  <a:lnTo>
                    <a:pt x="0" y="289"/>
                  </a:lnTo>
                  <a:lnTo>
                    <a:pt x="0" y="279"/>
                  </a:lnTo>
                  <a:lnTo>
                    <a:pt x="11" y="279"/>
                  </a:lnTo>
                  <a:close/>
                  <a:moveTo>
                    <a:pt x="11" y="300"/>
                  </a:moveTo>
                  <a:lnTo>
                    <a:pt x="11" y="311"/>
                  </a:lnTo>
                  <a:lnTo>
                    <a:pt x="0" y="311"/>
                  </a:lnTo>
                  <a:lnTo>
                    <a:pt x="0" y="300"/>
                  </a:lnTo>
                  <a:lnTo>
                    <a:pt x="11" y="300"/>
                  </a:lnTo>
                  <a:close/>
                  <a:moveTo>
                    <a:pt x="11" y="321"/>
                  </a:moveTo>
                  <a:lnTo>
                    <a:pt x="11" y="332"/>
                  </a:lnTo>
                  <a:lnTo>
                    <a:pt x="0" y="332"/>
                  </a:lnTo>
                  <a:lnTo>
                    <a:pt x="0" y="321"/>
                  </a:lnTo>
                  <a:lnTo>
                    <a:pt x="11" y="321"/>
                  </a:lnTo>
                  <a:close/>
                  <a:moveTo>
                    <a:pt x="11" y="343"/>
                  </a:moveTo>
                  <a:lnTo>
                    <a:pt x="11" y="353"/>
                  </a:lnTo>
                  <a:lnTo>
                    <a:pt x="0" y="353"/>
                  </a:lnTo>
                  <a:lnTo>
                    <a:pt x="0" y="343"/>
                  </a:lnTo>
                  <a:lnTo>
                    <a:pt x="11" y="343"/>
                  </a:lnTo>
                  <a:close/>
                  <a:moveTo>
                    <a:pt x="11" y="364"/>
                  </a:moveTo>
                  <a:lnTo>
                    <a:pt x="11" y="375"/>
                  </a:lnTo>
                  <a:lnTo>
                    <a:pt x="0" y="375"/>
                  </a:lnTo>
                  <a:lnTo>
                    <a:pt x="0" y="364"/>
                  </a:lnTo>
                  <a:lnTo>
                    <a:pt x="11" y="364"/>
                  </a:lnTo>
                  <a:close/>
                  <a:moveTo>
                    <a:pt x="11" y="386"/>
                  </a:moveTo>
                  <a:lnTo>
                    <a:pt x="11" y="396"/>
                  </a:lnTo>
                  <a:lnTo>
                    <a:pt x="0" y="396"/>
                  </a:lnTo>
                  <a:lnTo>
                    <a:pt x="0" y="386"/>
                  </a:lnTo>
                  <a:lnTo>
                    <a:pt x="11" y="386"/>
                  </a:lnTo>
                  <a:close/>
                  <a:moveTo>
                    <a:pt x="11" y="407"/>
                  </a:moveTo>
                  <a:lnTo>
                    <a:pt x="11" y="418"/>
                  </a:lnTo>
                  <a:lnTo>
                    <a:pt x="0" y="418"/>
                  </a:lnTo>
                  <a:lnTo>
                    <a:pt x="0" y="407"/>
                  </a:lnTo>
                  <a:lnTo>
                    <a:pt x="11" y="407"/>
                  </a:lnTo>
                  <a:close/>
                  <a:moveTo>
                    <a:pt x="11" y="429"/>
                  </a:moveTo>
                  <a:lnTo>
                    <a:pt x="11" y="439"/>
                  </a:lnTo>
                  <a:lnTo>
                    <a:pt x="0" y="439"/>
                  </a:lnTo>
                  <a:lnTo>
                    <a:pt x="0" y="429"/>
                  </a:lnTo>
                  <a:lnTo>
                    <a:pt x="11" y="429"/>
                  </a:lnTo>
                  <a:close/>
                  <a:moveTo>
                    <a:pt x="11" y="450"/>
                  </a:moveTo>
                  <a:lnTo>
                    <a:pt x="11" y="461"/>
                  </a:lnTo>
                  <a:lnTo>
                    <a:pt x="0" y="461"/>
                  </a:lnTo>
                  <a:lnTo>
                    <a:pt x="0" y="450"/>
                  </a:lnTo>
                  <a:lnTo>
                    <a:pt x="11" y="450"/>
                  </a:lnTo>
                  <a:close/>
                  <a:moveTo>
                    <a:pt x="11" y="472"/>
                  </a:moveTo>
                  <a:lnTo>
                    <a:pt x="11" y="482"/>
                  </a:lnTo>
                  <a:lnTo>
                    <a:pt x="0" y="482"/>
                  </a:lnTo>
                  <a:lnTo>
                    <a:pt x="0" y="472"/>
                  </a:lnTo>
                  <a:lnTo>
                    <a:pt x="11" y="472"/>
                  </a:lnTo>
                  <a:close/>
                  <a:moveTo>
                    <a:pt x="11" y="493"/>
                  </a:moveTo>
                  <a:lnTo>
                    <a:pt x="11" y="504"/>
                  </a:lnTo>
                  <a:lnTo>
                    <a:pt x="0" y="504"/>
                  </a:lnTo>
                  <a:lnTo>
                    <a:pt x="0" y="493"/>
                  </a:lnTo>
                  <a:lnTo>
                    <a:pt x="11" y="493"/>
                  </a:lnTo>
                  <a:close/>
                  <a:moveTo>
                    <a:pt x="11" y="514"/>
                  </a:moveTo>
                  <a:lnTo>
                    <a:pt x="11" y="525"/>
                  </a:lnTo>
                  <a:lnTo>
                    <a:pt x="0" y="525"/>
                  </a:lnTo>
                  <a:lnTo>
                    <a:pt x="0" y="514"/>
                  </a:lnTo>
                  <a:lnTo>
                    <a:pt x="11" y="514"/>
                  </a:lnTo>
                  <a:close/>
                  <a:moveTo>
                    <a:pt x="11" y="536"/>
                  </a:moveTo>
                  <a:lnTo>
                    <a:pt x="11" y="547"/>
                  </a:lnTo>
                  <a:lnTo>
                    <a:pt x="0" y="547"/>
                  </a:lnTo>
                  <a:lnTo>
                    <a:pt x="0" y="536"/>
                  </a:lnTo>
                  <a:lnTo>
                    <a:pt x="11" y="536"/>
                  </a:lnTo>
                  <a:close/>
                  <a:moveTo>
                    <a:pt x="11" y="557"/>
                  </a:moveTo>
                  <a:lnTo>
                    <a:pt x="11" y="568"/>
                  </a:lnTo>
                  <a:lnTo>
                    <a:pt x="0" y="568"/>
                  </a:lnTo>
                  <a:lnTo>
                    <a:pt x="0" y="557"/>
                  </a:lnTo>
                  <a:lnTo>
                    <a:pt x="11" y="557"/>
                  </a:lnTo>
                  <a:close/>
                  <a:moveTo>
                    <a:pt x="11" y="579"/>
                  </a:moveTo>
                  <a:lnTo>
                    <a:pt x="11" y="590"/>
                  </a:lnTo>
                  <a:lnTo>
                    <a:pt x="0" y="590"/>
                  </a:lnTo>
                  <a:lnTo>
                    <a:pt x="0" y="579"/>
                  </a:lnTo>
                  <a:lnTo>
                    <a:pt x="11" y="579"/>
                  </a:lnTo>
                  <a:close/>
                  <a:moveTo>
                    <a:pt x="11" y="600"/>
                  </a:moveTo>
                  <a:lnTo>
                    <a:pt x="11" y="611"/>
                  </a:lnTo>
                  <a:lnTo>
                    <a:pt x="0" y="611"/>
                  </a:lnTo>
                  <a:lnTo>
                    <a:pt x="0" y="600"/>
                  </a:lnTo>
                  <a:lnTo>
                    <a:pt x="11" y="600"/>
                  </a:lnTo>
                  <a:close/>
                  <a:moveTo>
                    <a:pt x="11" y="622"/>
                  </a:moveTo>
                  <a:lnTo>
                    <a:pt x="11" y="632"/>
                  </a:lnTo>
                  <a:lnTo>
                    <a:pt x="0" y="632"/>
                  </a:lnTo>
                  <a:lnTo>
                    <a:pt x="0" y="622"/>
                  </a:lnTo>
                  <a:lnTo>
                    <a:pt x="11" y="622"/>
                  </a:lnTo>
                  <a:close/>
                  <a:moveTo>
                    <a:pt x="11" y="643"/>
                  </a:moveTo>
                  <a:lnTo>
                    <a:pt x="11" y="654"/>
                  </a:lnTo>
                  <a:lnTo>
                    <a:pt x="0" y="654"/>
                  </a:lnTo>
                  <a:lnTo>
                    <a:pt x="0" y="643"/>
                  </a:lnTo>
                  <a:lnTo>
                    <a:pt x="11" y="643"/>
                  </a:lnTo>
                  <a:close/>
                  <a:moveTo>
                    <a:pt x="11" y="665"/>
                  </a:moveTo>
                  <a:lnTo>
                    <a:pt x="11" y="675"/>
                  </a:lnTo>
                  <a:lnTo>
                    <a:pt x="0" y="675"/>
                  </a:lnTo>
                  <a:lnTo>
                    <a:pt x="0" y="665"/>
                  </a:lnTo>
                  <a:lnTo>
                    <a:pt x="11" y="665"/>
                  </a:lnTo>
                  <a:close/>
                  <a:moveTo>
                    <a:pt x="11" y="686"/>
                  </a:moveTo>
                  <a:lnTo>
                    <a:pt x="11" y="697"/>
                  </a:lnTo>
                  <a:lnTo>
                    <a:pt x="0" y="697"/>
                  </a:lnTo>
                  <a:lnTo>
                    <a:pt x="0" y="686"/>
                  </a:lnTo>
                  <a:lnTo>
                    <a:pt x="11" y="686"/>
                  </a:lnTo>
                  <a:close/>
                  <a:moveTo>
                    <a:pt x="11" y="707"/>
                  </a:moveTo>
                  <a:lnTo>
                    <a:pt x="11" y="718"/>
                  </a:lnTo>
                  <a:lnTo>
                    <a:pt x="0" y="718"/>
                  </a:lnTo>
                  <a:lnTo>
                    <a:pt x="0" y="707"/>
                  </a:lnTo>
                  <a:lnTo>
                    <a:pt x="11" y="707"/>
                  </a:lnTo>
                  <a:close/>
                  <a:moveTo>
                    <a:pt x="11" y="729"/>
                  </a:moveTo>
                  <a:lnTo>
                    <a:pt x="11" y="740"/>
                  </a:lnTo>
                  <a:lnTo>
                    <a:pt x="0" y="740"/>
                  </a:lnTo>
                  <a:lnTo>
                    <a:pt x="0" y="729"/>
                  </a:lnTo>
                  <a:lnTo>
                    <a:pt x="11" y="729"/>
                  </a:lnTo>
                  <a:close/>
                  <a:moveTo>
                    <a:pt x="11" y="750"/>
                  </a:moveTo>
                  <a:lnTo>
                    <a:pt x="11" y="761"/>
                  </a:lnTo>
                  <a:lnTo>
                    <a:pt x="0" y="761"/>
                  </a:lnTo>
                  <a:lnTo>
                    <a:pt x="0" y="750"/>
                  </a:lnTo>
                  <a:lnTo>
                    <a:pt x="11" y="750"/>
                  </a:lnTo>
                  <a:close/>
                  <a:moveTo>
                    <a:pt x="11" y="772"/>
                  </a:moveTo>
                  <a:lnTo>
                    <a:pt x="11" y="783"/>
                  </a:lnTo>
                  <a:lnTo>
                    <a:pt x="0" y="783"/>
                  </a:lnTo>
                  <a:lnTo>
                    <a:pt x="0" y="772"/>
                  </a:lnTo>
                  <a:lnTo>
                    <a:pt x="11" y="772"/>
                  </a:lnTo>
                  <a:close/>
                  <a:moveTo>
                    <a:pt x="11" y="793"/>
                  </a:moveTo>
                  <a:lnTo>
                    <a:pt x="11" y="804"/>
                  </a:lnTo>
                  <a:lnTo>
                    <a:pt x="0" y="804"/>
                  </a:lnTo>
                  <a:lnTo>
                    <a:pt x="0" y="793"/>
                  </a:lnTo>
                  <a:lnTo>
                    <a:pt x="11" y="793"/>
                  </a:lnTo>
                  <a:close/>
                  <a:moveTo>
                    <a:pt x="11" y="815"/>
                  </a:moveTo>
                  <a:lnTo>
                    <a:pt x="11" y="826"/>
                  </a:lnTo>
                  <a:lnTo>
                    <a:pt x="0" y="826"/>
                  </a:lnTo>
                  <a:lnTo>
                    <a:pt x="0" y="815"/>
                  </a:lnTo>
                  <a:lnTo>
                    <a:pt x="11" y="815"/>
                  </a:lnTo>
                  <a:close/>
                  <a:moveTo>
                    <a:pt x="11" y="836"/>
                  </a:moveTo>
                  <a:lnTo>
                    <a:pt x="11" y="847"/>
                  </a:lnTo>
                  <a:lnTo>
                    <a:pt x="0" y="847"/>
                  </a:lnTo>
                  <a:lnTo>
                    <a:pt x="0" y="836"/>
                  </a:lnTo>
                  <a:lnTo>
                    <a:pt x="11" y="836"/>
                  </a:lnTo>
                  <a:close/>
                  <a:moveTo>
                    <a:pt x="11" y="858"/>
                  </a:moveTo>
                  <a:lnTo>
                    <a:pt x="11" y="868"/>
                  </a:lnTo>
                  <a:lnTo>
                    <a:pt x="0" y="868"/>
                  </a:lnTo>
                  <a:lnTo>
                    <a:pt x="0" y="858"/>
                  </a:lnTo>
                  <a:lnTo>
                    <a:pt x="11" y="858"/>
                  </a:lnTo>
                  <a:close/>
                  <a:moveTo>
                    <a:pt x="11" y="879"/>
                  </a:moveTo>
                  <a:lnTo>
                    <a:pt x="11" y="890"/>
                  </a:lnTo>
                  <a:lnTo>
                    <a:pt x="0" y="890"/>
                  </a:lnTo>
                  <a:lnTo>
                    <a:pt x="0" y="879"/>
                  </a:lnTo>
                  <a:lnTo>
                    <a:pt x="11" y="879"/>
                  </a:lnTo>
                  <a:close/>
                  <a:moveTo>
                    <a:pt x="11" y="900"/>
                  </a:moveTo>
                  <a:lnTo>
                    <a:pt x="11" y="911"/>
                  </a:lnTo>
                  <a:lnTo>
                    <a:pt x="0" y="911"/>
                  </a:lnTo>
                  <a:lnTo>
                    <a:pt x="0" y="900"/>
                  </a:lnTo>
                  <a:lnTo>
                    <a:pt x="11" y="900"/>
                  </a:lnTo>
                  <a:close/>
                  <a:moveTo>
                    <a:pt x="11" y="922"/>
                  </a:moveTo>
                  <a:lnTo>
                    <a:pt x="11" y="933"/>
                  </a:lnTo>
                  <a:lnTo>
                    <a:pt x="0" y="933"/>
                  </a:lnTo>
                  <a:lnTo>
                    <a:pt x="0" y="922"/>
                  </a:lnTo>
                  <a:lnTo>
                    <a:pt x="11" y="922"/>
                  </a:lnTo>
                  <a:close/>
                  <a:moveTo>
                    <a:pt x="11" y="943"/>
                  </a:moveTo>
                  <a:lnTo>
                    <a:pt x="11" y="954"/>
                  </a:lnTo>
                  <a:lnTo>
                    <a:pt x="0" y="954"/>
                  </a:lnTo>
                  <a:lnTo>
                    <a:pt x="0" y="943"/>
                  </a:lnTo>
                  <a:lnTo>
                    <a:pt x="11" y="943"/>
                  </a:lnTo>
                  <a:close/>
                  <a:moveTo>
                    <a:pt x="11" y="965"/>
                  </a:moveTo>
                  <a:lnTo>
                    <a:pt x="11" y="976"/>
                  </a:lnTo>
                  <a:lnTo>
                    <a:pt x="0" y="976"/>
                  </a:lnTo>
                  <a:lnTo>
                    <a:pt x="0" y="965"/>
                  </a:lnTo>
                  <a:lnTo>
                    <a:pt x="11" y="965"/>
                  </a:lnTo>
                  <a:close/>
                  <a:moveTo>
                    <a:pt x="11" y="986"/>
                  </a:moveTo>
                  <a:lnTo>
                    <a:pt x="11" y="997"/>
                  </a:lnTo>
                  <a:lnTo>
                    <a:pt x="0" y="997"/>
                  </a:lnTo>
                  <a:lnTo>
                    <a:pt x="0" y="986"/>
                  </a:lnTo>
                  <a:lnTo>
                    <a:pt x="11" y="986"/>
                  </a:lnTo>
                  <a:close/>
                  <a:moveTo>
                    <a:pt x="11" y="1008"/>
                  </a:moveTo>
                  <a:lnTo>
                    <a:pt x="11" y="1019"/>
                  </a:lnTo>
                  <a:lnTo>
                    <a:pt x="0" y="1019"/>
                  </a:lnTo>
                  <a:lnTo>
                    <a:pt x="0" y="1008"/>
                  </a:lnTo>
                  <a:lnTo>
                    <a:pt x="11" y="1008"/>
                  </a:lnTo>
                  <a:close/>
                  <a:moveTo>
                    <a:pt x="11" y="1029"/>
                  </a:moveTo>
                  <a:lnTo>
                    <a:pt x="11" y="1040"/>
                  </a:lnTo>
                  <a:lnTo>
                    <a:pt x="0" y="1040"/>
                  </a:lnTo>
                  <a:lnTo>
                    <a:pt x="0" y="1029"/>
                  </a:lnTo>
                  <a:lnTo>
                    <a:pt x="11" y="1029"/>
                  </a:lnTo>
                  <a:close/>
                  <a:moveTo>
                    <a:pt x="11" y="1051"/>
                  </a:moveTo>
                  <a:lnTo>
                    <a:pt x="11" y="1061"/>
                  </a:lnTo>
                  <a:lnTo>
                    <a:pt x="0" y="1061"/>
                  </a:lnTo>
                  <a:lnTo>
                    <a:pt x="0" y="1051"/>
                  </a:lnTo>
                  <a:lnTo>
                    <a:pt x="11" y="1051"/>
                  </a:lnTo>
                  <a:close/>
                  <a:moveTo>
                    <a:pt x="11" y="1072"/>
                  </a:moveTo>
                  <a:lnTo>
                    <a:pt x="11" y="1083"/>
                  </a:lnTo>
                  <a:lnTo>
                    <a:pt x="0" y="1083"/>
                  </a:lnTo>
                  <a:lnTo>
                    <a:pt x="0" y="1072"/>
                  </a:lnTo>
                  <a:lnTo>
                    <a:pt x="11" y="1072"/>
                  </a:lnTo>
                  <a:close/>
                  <a:moveTo>
                    <a:pt x="11" y="1094"/>
                  </a:moveTo>
                  <a:lnTo>
                    <a:pt x="11" y="1104"/>
                  </a:lnTo>
                  <a:lnTo>
                    <a:pt x="0" y="1104"/>
                  </a:lnTo>
                  <a:lnTo>
                    <a:pt x="0" y="1094"/>
                  </a:lnTo>
                  <a:lnTo>
                    <a:pt x="11" y="1094"/>
                  </a:lnTo>
                  <a:close/>
                  <a:moveTo>
                    <a:pt x="11" y="1115"/>
                  </a:moveTo>
                  <a:lnTo>
                    <a:pt x="11" y="1126"/>
                  </a:lnTo>
                  <a:lnTo>
                    <a:pt x="0" y="1126"/>
                  </a:lnTo>
                  <a:lnTo>
                    <a:pt x="0" y="1115"/>
                  </a:lnTo>
                  <a:lnTo>
                    <a:pt x="11" y="1115"/>
                  </a:lnTo>
                  <a:close/>
                  <a:moveTo>
                    <a:pt x="11" y="1136"/>
                  </a:moveTo>
                  <a:lnTo>
                    <a:pt x="11" y="1147"/>
                  </a:lnTo>
                  <a:lnTo>
                    <a:pt x="0" y="1147"/>
                  </a:lnTo>
                  <a:lnTo>
                    <a:pt x="0" y="1136"/>
                  </a:lnTo>
                  <a:lnTo>
                    <a:pt x="11" y="1136"/>
                  </a:lnTo>
                  <a:close/>
                  <a:moveTo>
                    <a:pt x="11" y="1158"/>
                  </a:moveTo>
                  <a:lnTo>
                    <a:pt x="11" y="1169"/>
                  </a:lnTo>
                  <a:lnTo>
                    <a:pt x="0" y="1169"/>
                  </a:lnTo>
                  <a:lnTo>
                    <a:pt x="0" y="1158"/>
                  </a:lnTo>
                  <a:lnTo>
                    <a:pt x="11" y="1158"/>
                  </a:lnTo>
                  <a:close/>
                  <a:moveTo>
                    <a:pt x="11" y="1179"/>
                  </a:moveTo>
                  <a:lnTo>
                    <a:pt x="11" y="1190"/>
                  </a:lnTo>
                  <a:lnTo>
                    <a:pt x="0" y="1190"/>
                  </a:lnTo>
                  <a:lnTo>
                    <a:pt x="0" y="1179"/>
                  </a:lnTo>
                  <a:lnTo>
                    <a:pt x="11" y="1179"/>
                  </a:lnTo>
                  <a:close/>
                  <a:moveTo>
                    <a:pt x="11" y="1201"/>
                  </a:moveTo>
                  <a:lnTo>
                    <a:pt x="11" y="1212"/>
                  </a:lnTo>
                  <a:lnTo>
                    <a:pt x="0" y="1212"/>
                  </a:lnTo>
                  <a:lnTo>
                    <a:pt x="0" y="1201"/>
                  </a:lnTo>
                  <a:lnTo>
                    <a:pt x="11" y="1201"/>
                  </a:lnTo>
                  <a:close/>
                  <a:moveTo>
                    <a:pt x="11" y="1222"/>
                  </a:moveTo>
                  <a:lnTo>
                    <a:pt x="11" y="1233"/>
                  </a:lnTo>
                  <a:lnTo>
                    <a:pt x="0" y="1233"/>
                  </a:lnTo>
                  <a:lnTo>
                    <a:pt x="0" y="1222"/>
                  </a:lnTo>
                  <a:lnTo>
                    <a:pt x="11" y="1222"/>
                  </a:lnTo>
                  <a:close/>
                  <a:moveTo>
                    <a:pt x="11" y="1244"/>
                  </a:moveTo>
                  <a:lnTo>
                    <a:pt x="11" y="1254"/>
                  </a:lnTo>
                  <a:lnTo>
                    <a:pt x="0" y="1254"/>
                  </a:lnTo>
                  <a:lnTo>
                    <a:pt x="0" y="1244"/>
                  </a:lnTo>
                  <a:lnTo>
                    <a:pt x="11" y="1244"/>
                  </a:lnTo>
                  <a:close/>
                  <a:moveTo>
                    <a:pt x="11" y="1265"/>
                  </a:moveTo>
                  <a:lnTo>
                    <a:pt x="11" y="1276"/>
                  </a:lnTo>
                  <a:lnTo>
                    <a:pt x="0" y="1276"/>
                  </a:lnTo>
                  <a:lnTo>
                    <a:pt x="0" y="1265"/>
                  </a:lnTo>
                  <a:lnTo>
                    <a:pt x="11" y="1265"/>
                  </a:lnTo>
                  <a:close/>
                  <a:moveTo>
                    <a:pt x="11" y="1287"/>
                  </a:moveTo>
                  <a:lnTo>
                    <a:pt x="11" y="1297"/>
                  </a:lnTo>
                  <a:lnTo>
                    <a:pt x="0" y="1297"/>
                  </a:lnTo>
                  <a:lnTo>
                    <a:pt x="0" y="1287"/>
                  </a:lnTo>
                  <a:lnTo>
                    <a:pt x="11" y="1287"/>
                  </a:lnTo>
                  <a:close/>
                  <a:moveTo>
                    <a:pt x="11" y="1308"/>
                  </a:moveTo>
                  <a:lnTo>
                    <a:pt x="11" y="1319"/>
                  </a:lnTo>
                  <a:lnTo>
                    <a:pt x="0" y="1319"/>
                  </a:lnTo>
                  <a:lnTo>
                    <a:pt x="0" y="1308"/>
                  </a:lnTo>
                  <a:lnTo>
                    <a:pt x="11" y="1308"/>
                  </a:lnTo>
                  <a:close/>
                  <a:moveTo>
                    <a:pt x="11" y="1330"/>
                  </a:moveTo>
                  <a:lnTo>
                    <a:pt x="11" y="1340"/>
                  </a:lnTo>
                  <a:lnTo>
                    <a:pt x="0" y="1340"/>
                  </a:lnTo>
                  <a:lnTo>
                    <a:pt x="0" y="1330"/>
                  </a:lnTo>
                  <a:lnTo>
                    <a:pt x="11" y="1330"/>
                  </a:lnTo>
                  <a:close/>
                  <a:moveTo>
                    <a:pt x="11" y="1351"/>
                  </a:moveTo>
                  <a:lnTo>
                    <a:pt x="11" y="1362"/>
                  </a:lnTo>
                  <a:lnTo>
                    <a:pt x="0" y="1362"/>
                  </a:lnTo>
                  <a:lnTo>
                    <a:pt x="0" y="1351"/>
                  </a:lnTo>
                  <a:lnTo>
                    <a:pt x="11" y="1351"/>
                  </a:lnTo>
                  <a:close/>
                  <a:moveTo>
                    <a:pt x="11" y="1373"/>
                  </a:moveTo>
                  <a:lnTo>
                    <a:pt x="11" y="1383"/>
                  </a:lnTo>
                  <a:lnTo>
                    <a:pt x="0" y="1383"/>
                  </a:lnTo>
                  <a:lnTo>
                    <a:pt x="0" y="1373"/>
                  </a:lnTo>
                  <a:lnTo>
                    <a:pt x="11" y="1373"/>
                  </a:lnTo>
                  <a:close/>
                  <a:moveTo>
                    <a:pt x="11" y="1394"/>
                  </a:moveTo>
                  <a:lnTo>
                    <a:pt x="11" y="1405"/>
                  </a:lnTo>
                  <a:lnTo>
                    <a:pt x="0" y="1405"/>
                  </a:lnTo>
                  <a:lnTo>
                    <a:pt x="0" y="1394"/>
                  </a:lnTo>
                  <a:lnTo>
                    <a:pt x="11" y="1394"/>
                  </a:lnTo>
                  <a:close/>
                  <a:moveTo>
                    <a:pt x="11" y="1415"/>
                  </a:moveTo>
                  <a:lnTo>
                    <a:pt x="11" y="1426"/>
                  </a:lnTo>
                  <a:lnTo>
                    <a:pt x="0" y="1426"/>
                  </a:lnTo>
                  <a:lnTo>
                    <a:pt x="0" y="1415"/>
                  </a:lnTo>
                  <a:lnTo>
                    <a:pt x="11" y="1415"/>
                  </a:lnTo>
                  <a:close/>
                  <a:moveTo>
                    <a:pt x="11" y="1437"/>
                  </a:moveTo>
                  <a:lnTo>
                    <a:pt x="11" y="1447"/>
                  </a:lnTo>
                  <a:lnTo>
                    <a:pt x="0" y="1447"/>
                  </a:lnTo>
                  <a:lnTo>
                    <a:pt x="0" y="1437"/>
                  </a:lnTo>
                  <a:lnTo>
                    <a:pt x="11" y="1437"/>
                  </a:lnTo>
                  <a:close/>
                  <a:moveTo>
                    <a:pt x="11" y="1458"/>
                  </a:moveTo>
                  <a:lnTo>
                    <a:pt x="11" y="1469"/>
                  </a:lnTo>
                  <a:lnTo>
                    <a:pt x="0" y="1469"/>
                  </a:lnTo>
                  <a:lnTo>
                    <a:pt x="0" y="1458"/>
                  </a:lnTo>
                  <a:lnTo>
                    <a:pt x="11" y="1458"/>
                  </a:lnTo>
                  <a:close/>
                  <a:moveTo>
                    <a:pt x="11" y="1480"/>
                  </a:moveTo>
                  <a:lnTo>
                    <a:pt x="11" y="1490"/>
                  </a:lnTo>
                  <a:lnTo>
                    <a:pt x="0" y="1490"/>
                  </a:lnTo>
                  <a:lnTo>
                    <a:pt x="0" y="1480"/>
                  </a:lnTo>
                  <a:lnTo>
                    <a:pt x="11" y="1480"/>
                  </a:lnTo>
                  <a:close/>
                  <a:moveTo>
                    <a:pt x="11" y="1501"/>
                  </a:moveTo>
                  <a:lnTo>
                    <a:pt x="11" y="1512"/>
                  </a:lnTo>
                  <a:lnTo>
                    <a:pt x="0" y="1512"/>
                  </a:lnTo>
                  <a:lnTo>
                    <a:pt x="0" y="1501"/>
                  </a:lnTo>
                  <a:lnTo>
                    <a:pt x="11" y="1501"/>
                  </a:lnTo>
                  <a:close/>
                  <a:moveTo>
                    <a:pt x="11" y="1523"/>
                  </a:moveTo>
                  <a:lnTo>
                    <a:pt x="11" y="1533"/>
                  </a:lnTo>
                  <a:lnTo>
                    <a:pt x="0" y="1533"/>
                  </a:lnTo>
                  <a:lnTo>
                    <a:pt x="0" y="1523"/>
                  </a:lnTo>
                  <a:lnTo>
                    <a:pt x="11" y="1523"/>
                  </a:lnTo>
                  <a:close/>
                  <a:moveTo>
                    <a:pt x="11" y="1544"/>
                  </a:moveTo>
                  <a:lnTo>
                    <a:pt x="11" y="1555"/>
                  </a:lnTo>
                  <a:lnTo>
                    <a:pt x="0" y="1555"/>
                  </a:lnTo>
                  <a:lnTo>
                    <a:pt x="0" y="1544"/>
                  </a:lnTo>
                  <a:lnTo>
                    <a:pt x="11" y="1544"/>
                  </a:lnTo>
                  <a:close/>
                  <a:moveTo>
                    <a:pt x="11" y="1566"/>
                  </a:moveTo>
                  <a:lnTo>
                    <a:pt x="11" y="1576"/>
                  </a:lnTo>
                  <a:lnTo>
                    <a:pt x="0" y="1576"/>
                  </a:lnTo>
                  <a:lnTo>
                    <a:pt x="0" y="1566"/>
                  </a:lnTo>
                  <a:lnTo>
                    <a:pt x="11" y="1566"/>
                  </a:lnTo>
                  <a:close/>
                  <a:moveTo>
                    <a:pt x="11" y="1587"/>
                  </a:moveTo>
                  <a:lnTo>
                    <a:pt x="11" y="1598"/>
                  </a:lnTo>
                  <a:lnTo>
                    <a:pt x="0" y="1598"/>
                  </a:lnTo>
                  <a:lnTo>
                    <a:pt x="0" y="1587"/>
                  </a:lnTo>
                  <a:lnTo>
                    <a:pt x="11" y="1587"/>
                  </a:lnTo>
                  <a:close/>
                  <a:moveTo>
                    <a:pt x="11" y="1608"/>
                  </a:moveTo>
                  <a:lnTo>
                    <a:pt x="11" y="1619"/>
                  </a:lnTo>
                  <a:lnTo>
                    <a:pt x="0" y="1619"/>
                  </a:lnTo>
                  <a:lnTo>
                    <a:pt x="0" y="1608"/>
                  </a:lnTo>
                  <a:lnTo>
                    <a:pt x="11" y="1608"/>
                  </a:lnTo>
                  <a:close/>
                  <a:moveTo>
                    <a:pt x="11" y="1630"/>
                  </a:moveTo>
                  <a:lnTo>
                    <a:pt x="11" y="1640"/>
                  </a:lnTo>
                  <a:lnTo>
                    <a:pt x="0" y="1640"/>
                  </a:lnTo>
                  <a:lnTo>
                    <a:pt x="0" y="1630"/>
                  </a:lnTo>
                  <a:lnTo>
                    <a:pt x="11" y="1630"/>
                  </a:lnTo>
                  <a:close/>
                  <a:moveTo>
                    <a:pt x="11" y="1651"/>
                  </a:moveTo>
                  <a:lnTo>
                    <a:pt x="11" y="1662"/>
                  </a:lnTo>
                  <a:lnTo>
                    <a:pt x="0" y="1662"/>
                  </a:lnTo>
                  <a:lnTo>
                    <a:pt x="0" y="1651"/>
                  </a:lnTo>
                  <a:lnTo>
                    <a:pt x="11" y="1651"/>
                  </a:lnTo>
                  <a:close/>
                  <a:moveTo>
                    <a:pt x="11" y="1673"/>
                  </a:moveTo>
                  <a:lnTo>
                    <a:pt x="11" y="1683"/>
                  </a:lnTo>
                  <a:lnTo>
                    <a:pt x="0" y="1683"/>
                  </a:lnTo>
                  <a:lnTo>
                    <a:pt x="0" y="1673"/>
                  </a:lnTo>
                  <a:lnTo>
                    <a:pt x="11" y="1673"/>
                  </a:lnTo>
                  <a:close/>
                  <a:moveTo>
                    <a:pt x="11" y="1694"/>
                  </a:moveTo>
                  <a:lnTo>
                    <a:pt x="11" y="1705"/>
                  </a:lnTo>
                  <a:lnTo>
                    <a:pt x="0" y="1705"/>
                  </a:lnTo>
                  <a:lnTo>
                    <a:pt x="0" y="1694"/>
                  </a:lnTo>
                  <a:lnTo>
                    <a:pt x="11" y="1694"/>
                  </a:lnTo>
                  <a:close/>
                  <a:moveTo>
                    <a:pt x="11" y="1716"/>
                  </a:moveTo>
                  <a:lnTo>
                    <a:pt x="11" y="1726"/>
                  </a:lnTo>
                  <a:lnTo>
                    <a:pt x="0" y="1726"/>
                  </a:lnTo>
                  <a:lnTo>
                    <a:pt x="0" y="1716"/>
                  </a:lnTo>
                  <a:lnTo>
                    <a:pt x="11" y="1716"/>
                  </a:lnTo>
                  <a:close/>
                  <a:moveTo>
                    <a:pt x="11" y="1737"/>
                  </a:moveTo>
                  <a:lnTo>
                    <a:pt x="11" y="1748"/>
                  </a:lnTo>
                  <a:lnTo>
                    <a:pt x="0" y="1748"/>
                  </a:lnTo>
                  <a:lnTo>
                    <a:pt x="0" y="1737"/>
                  </a:lnTo>
                  <a:lnTo>
                    <a:pt x="11" y="1737"/>
                  </a:lnTo>
                  <a:close/>
                  <a:moveTo>
                    <a:pt x="11" y="1759"/>
                  </a:moveTo>
                  <a:lnTo>
                    <a:pt x="11" y="1769"/>
                  </a:lnTo>
                  <a:lnTo>
                    <a:pt x="0" y="1769"/>
                  </a:lnTo>
                  <a:lnTo>
                    <a:pt x="0" y="1759"/>
                  </a:lnTo>
                  <a:lnTo>
                    <a:pt x="11" y="1759"/>
                  </a:lnTo>
                  <a:close/>
                  <a:moveTo>
                    <a:pt x="11" y="1780"/>
                  </a:moveTo>
                  <a:lnTo>
                    <a:pt x="11" y="1791"/>
                  </a:lnTo>
                  <a:lnTo>
                    <a:pt x="0" y="1791"/>
                  </a:lnTo>
                  <a:lnTo>
                    <a:pt x="0" y="1780"/>
                  </a:lnTo>
                  <a:lnTo>
                    <a:pt x="11" y="1780"/>
                  </a:lnTo>
                  <a:close/>
                  <a:moveTo>
                    <a:pt x="11" y="1801"/>
                  </a:moveTo>
                  <a:lnTo>
                    <a:pt x="11" y="1812"/>
                  </a:lnTo>
                  <a:lnTo>
                    <a:pt x="0" y="1812"/>
                  </a:lnTo>
                  <a:lnTo>
                    <a:pt x="0" y="1801"/>
                  </a:lnTo>
                  <a:lnTo>
                    <a:pt x="11" y="1801"/>
                  </a:lnTo>
                  <a:close/>
                  <a:moveTo>
                    <a:pt x="11" y="1823"/>
                  </a:moveTo>
                  <a:lnTo>
                    <a:pt x="11" y="1834"/>
                  </a:lnTo>
                  <a:lnTo>
                    <a:pt x="0" y="1834"/>
                  </a:lnTo>
                  <a:lnTo>
                    <a:pt x="0" y="1823"/>
                  </a:lnTo>
                  <a:lnTo>
                    <a:pt x="11" y="1823"/>
                  </a:lnTo>
                  <a:close/>
                  <a:moveTo>
                    <a:pt x="11" y="1844"/>
                  </a:moveTo>
                  <a:lnTo>
                    <a:pt x="11" y="1855"/>
                  </a:lnTo>
                  <a:lnTo>
                    <a:pt x="0" y="1855"/>
                  </a:lnTo>
                  <a:lnTo>
                    <a:pt x="0" y="1844"/>
                  </a:lnTo>
                  <a:lnTo>
                    <a:pt x="11" y="1844"/>
                  </a:lnTo>
                  <a:close/>
                  <a:moveTo>
                    <a:pt x="11" y="1866"/>
                  </a:moveTo>
                  <a:lnTo>
                    <a:pt x="11" y="1877"/>
                  </a:lnTo>
                  <a:lnTo>
                    <a:pt x="0" y="1877"/>
                  </a:lnTo>
                  <a:lnTo>
                    <a:pt x="0" y="1866"/>
                  </a:lnTo>
                  <a:lnTo>
                    <a:pt x="11" y="1866"/>
                  </a:lnTo>
                  <a:close/>
                  <a:moveTo>
                    <a:pt x="11" y="1887"/>
                  </a:moveTo>
                  <a:lnTo>
                    <a:pt x="11" y="1898"/>
                  </a:lnTo>
                  <a:lnTo>
                    <a:pt x="0" y="1898"/>
                  </a:lnTo>
                  <a:lnTo>
                    <a:pt x="0" y="1887"/>
                  </a:lnTo>
                  <a:lnTo>
                    <a:pt x="11" y="1887"/>
                  </a:lnTo>
                  <a:close/>
                  <a:moveTo>
                    <a:pt x="11" y="1909"/>
                  </a:moveTo>
                  <a:lnTo>
                    <a:pt x="11" y="1919"/>
                  </a:lnTo>
                  <a:lnTo>
                    <a:pt x="0" y="1919"/>
                  </a:lnTo>
                  <a:lnTo>
                    <a:pt x="0" y="1909"/>
                  </a:lnTo>
                  <a:lnTo>
                    <a:pt x="11" y="1909"/>
                  </a:lnTo>
                  <a:close/>
                  <a:moveTo>
                    <a:pt x="11" y="1930"/>
                  </a:moveTo>
                  <a:lnTo>
                    <a:pt x="11" y="1941"/>
                  </a:lnTo>
                  <a:lnTo>
                    <a:pt x="0" y="1941"/>
                  </a:lnTo>
                  <a:lnTo>
                    <a:pt x="0" y="1930"/>
                  </a:lnTo>
                  <a:lnTo>
                    <a:pt x="11" y="1930"/>
                  </a:lnTo>
                  <a:close/>
                  <a:moveTo>
                    <a:pt x="11" y="1952"/>
                  </a:moveTo>
                  <a:lnTo>
                    <a:pt x="11" y="1962"/>
                  </a:lnTo>
                  <a:lnTo>
                    <a:pt x="0" y="1962"/>
                  </a:lnTo>
                  <a:lnTo>
                    <a:pt x="0" y="1952"/>
                  </a:lnTo>
                  <a:lnTo>
                    <a:pt x="11" y="1952"/>
                  </a:lnTo>
                  <a:close/>
                  <a:moveTo>
                    <a:pt x="11" y="1973"/>
                  </a:moveTo>
                  <a:lnTo>
                    <a:pt x="11" y="1984"/>
                  </a:lnTo>
                  <a:lnTo>
                    <a:pt x="0" y="1984"/>
                  </a:lnTo>
                  <a:lnTo>
                    <a:pt x="0" y="1973"/>
                  </a:lnTo>
                  <a:lnTo>
                    <a:pt x="11" y="1973"/>
                  </a:lnTo>
                  <a:close/>
                  <a:moveTo>
                    <a:pt x="11" y="1994"/>
                  </a:moveTo>
                  <a:lnTo>
                    <a:pt x="11" y="2005"/>
                  </a:lnTo>
                  <a:lnTo>
                    <a:pt x="0" y="2005"/>
                  </a:lnTo>
                  <a:lnTo>
                    <a:pt x="0" y="1994"/>
                  </a:lnTo>
                  <a:lnTo>
                    <a:pt x="11" y="1994"/>
                  </a:lnTo>
                  <a:close/>
                  <a:moveTo>
                    <a:pt x="11" y="2016"/>
                  </a:moveTo>
                  <a:lnTo>
                    <a:pt x="11" y="2027"/>
                  </a:lnTo>
                  <a:lnTo>
                    <a:pt x="0" y="2027"/>
                  </a:lnTo>
                  <a:lnTo>
                    <a:pt x="0" y="2016"/>
                  </a:lnTo>
                  <a:lnTo>
                    <a:pt x="11" y="2016"/>
                  </a:lnTo>
                  <a:close/>
                  <a:moveTo>
                    <a:pt x="11" y="2037"/>
                  </a:moveTo>
                  <a:lnTo>
                    <a:pt x="11" y="2048"/>
                  </a:lnTo>
                  <a:lnTo>
                    <a:pt x="0" y="2048"/>
                  </a:lnTo>
                  <a:lnTo>
                    <a:pt x="0" y="2037"/>
                  </a:lnTo>
                  <a:lnTo>
                    <a:pt x="11" y="2037"/>
                  </a:lnTo>
                  <a:close/>
                  <a:moveTo>
                    <a:pt x="11" y="2059"/>
                  </a:moveTo>
                  <a:lnTo>
                    <a:pt x="11" y="2070"/>
                  </a:lnTo>
                  <a:lnTo>
                    <a:pt x="0" y="2070"/>
                  </a:lnTo>
                  <a:lnTo>
                    <a:pt x="0" y="2059"/>
                  </a:lnTo>
                  <a:lnTo>
                    <a:pt x="11" y="2059"/>
                  </a:lnTo>
                  <a:close/>
                  <a:moveTo>
                    <a:pt x="11" y="2080"/>
                  </a:moveTo>
                  <a:lnTo>
                    <a:pt x="11" y="2091"/>
                  </a:lnTo>
                  <a:lnTo>
                    <a:pt x="0" y="2091"/>
                  </a:lnTo>
                  <a:lnTo>
                    <a:pt x="0" y="2080"/>
                  </a:lnTo>
                  <a:lnTo>
                    <a:pt x="11" y="2080"/>
                  </a:lnTo>
                  <a:close/>
                  <a:moveTo>
                    <a:pt x="11" y="2102"/>
                  </a:moveTo>
                  <a:lnTo>
                    <a:pt x="11" y="2113"/>
                  </a:lnTo>
                  <a:lnTo>
                    <a:pt x="0" y="2113"/>
                  </a:lnTo>
                  <a:lnTo>
                    <a:pt x="0" y="2102"/>
                  </a:lnTo>
                  <a:lnTo>
                    <a:pt x="11" y="2102"/>
                  </a:lnTo>
                  <a:close/>
                  <a:moveTo>
                    <a:pt x="11" y="2123"/>
                  </a:moveTo>
                  <a:lnTo>
                    <a:pt x="11" y="2134"/>
                  </a:lnTo>
                  <a:lnTo>
                    <a:pt x="0" y="2134"/>
                  </a:lnTo>
                  <a:lnTo>
                    <a:pt x="0" y="2123"/>
                  </a:lnTo>
                  <a:lnTo>
                    <a:pt x="11" y="2123"/>
                  </a:lnTo>
                  <a:close/>
                  <a:moveTo>
                    <a:pt x="11" y="2145"/>
                  </a:moveTo>
                  <a:lnTo>
                    <a:pt x="11" y="2155"/>
                  </a:lnTo>
                  <a:lnTo>
                    <a:pt x="0" y="2155"/>
                  </a:lnTo>
                  <a:lnTo>
                    <a:pt x="0" y="2145"/>
                  </a:lnTo>
                  <a:lnTo>
                    <a:pt x="11" y="2145"/>
                  </a:lnTo>
                  <a:close/>
                  <a:moveTo>
                    <a:pt x="11" y="2166"/>
                  </a:moveTo>
                  <a:lnTo>
                    <a:pt x="11" y="2177"/>
                  </a:lnTo>
                  <a:lnTo>
                    <a:pt x="0" y="2177"/>
                  </a:lnTo>
                  <a:lnTo>
                    <a:pt x="0" y="2166"/>
                  </a:lnTo>
                  <a:lnTo>
                    <a:pt x="11" y="2166"/>
                  </a:lnTo>
                  <a:close/>
                  <a:moveTo>
                    <a:pt x="11" y="2187"/>
                  </a:moveTo>
                  <a:lnTo>
                    <a:pt x="11" y="2198"/>
                  </a:lnTo>
                  <a:lnTo>
                    <a:pt x="0" y="2198"/>
                  </a:lnTo>
                  <a:lnTo>
                    <a:pt x="0" y="2187"/>
                  </a:lnTo>
                  <a:lnTo>
                    <a:pt x="11" y="2187"/>
                  </a:lnTo>
                  <a:close/>
                  <a:moveTo>
                    <a:pt x="11" y="2209"/>
                  </a:moveTo>
                  <a:lnTo>
                    <a:pt x="11" y="2220"/>
                  </a:lnTo>
                  <a:lnTo>
                    <a:pt x="0" y="2220"/>
                  </a:lnTo>
                  <a:lnTo>
                    <a:pt x="0" y="2209"/>
                  </a:lnTo>
                  <a:lnTo>
                    <a:pt x="11" y="2209"/>
                  </a:lnTo>
                  <a:close/>
                  <a:moveTo>
                    <a:pt x="11" y="2230"/>
                  </a:moveTo>
                  <a:lnTo>
                    <a:pt x="11" y="2241"/>
                  </a:lnTo>
                  <a:lnTo>
                    <a:pt x="0" y="2241"/>
                  </a:lnTo>
                  <a:lnTo>
                    <a:pt x="0" y="2230"/>
                  </a:lnTo>
                  <a:lnTo>
                    <a:pt x="11" y="2230"/>
                  </a:lnTo>
                  <a:close/>
                  <a:moveTo>
                    <a:pt x="11" y="2252"/>
                  </a:moveTo>
                  <a:lnTo>
                    <a:pt x="11" y="2263"/>
                  </a:lnTo>
                  <a:lnTo>
                    <a:pt x="0" y="2263"/>
                  </a:lnTo>
                  <a:lnTo>
                    <a:pt x="0" y="2252"/>
                  </a:lnTo>
                  <a:lnTo>
                    <a:pt x="11" y="2252"/>
                  </a:lnTo>
                  <a:close/>
                  <a:moveTo>
                    <a:pt x="11" y="2273"/>
                  </a:moveTo>
                  <a:lnTo>
                    <a:pt x="11" y="2284"/>
                  </a:lnTo>
                  <a:lnTo>
                    <a:pt x="0" y="2284"/>
                  </a:lnTo>
                  <a:lnTo>
                    <a:pt x="0" y="2273"/>
                  </a:lnTo>
                  <a:lnTo>
                    <a:pt x="11" y="2273"/>
                  </a:lnTo>
                  <a:close/>
                </a:path>
              </a:pathLst>
            </a:custGeom>
            <a:solidFill>
              <a:srgbClr val="000000"/>
            </a:solidFill>
            <a:ln w="0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2" name="Freeform 86">
              <a:extLst>
                <a:ext uri="{FF2B5EF4-FFF2-40B4-BE49-F238E27FC236}">
                  <a16:creationId xmlns:a16="http://schemas.microsoft.com/office/drawing/2014/main" id="{AAA49CDF-6175-404C-9B94-845F38E33A4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815" y="1913"/>
              <a:ext cx="11" cy="2285"/>
            </a:xfrm>
            <a:custGeom>
              <a:avLst/>
              <a:gdLst>
                <a:gd name="T0" fmla="*/ 0 w 11"/>
                <a:gd name="T1" fmla="*/ 22 h 2285"/>
                <a:gd name="T2" fmla="*/ 0 w 11"/>
                <a:gd name="T3" fmla="*/ 76 h 2285"/>
                <a:gd name="T4" fmla="*/ 11 w 11"/>
                <a:gd name="T5" fmla="*/ 119 h 2285"/>
                <a:gd name="T6" fmla="*/ 11 w 11"/>
                <a:gd name="T7" fmla="*/ 151 h 2285"/>
                <a:gd name="T8" fmla="*/ 11 w 11"/>
                <a:gd name="T9" fmla="*/ 172 h 2285"/>
                <a:gd name="T10" fmla="*/ 0 w 11"/>
                <a:gd name="T11" fmla="*/ 215 h 2285"/>
                <a:gd name="T12" fmla="*/ 0 w 11"/>
                <a:gd name="T13" fmla="*/ 269 h 2285"/>
                <a:gd name="T14" fmla="*/ 11 w 11"/>
                <a:gd name="T15" fmla="*/ 312 h 2285"/>
                <a:gd name="T16" fmla="*/ 11 w 11"/>
                <a:gd name="T17" fmla="*/ 344 h 2285"/>
                <a:gd name="T18" fmla="*/ 11 w 11"/>
                <a:gd name="T19" fmla="*/ 365 h 2285"/>
                <a:gd name="T20" fmla="*/ 0 w 11"/>
                <a:gd name="T21" fmla="*/ 408 h 2285"/>
                <a:gd name="T22" fmla="*/ 0 w 11"/>
                <a:gd name="T23" fmla="*/ 462 h 2285"/>
                <a:gd name="T24" fmla="*/ 11 w 11"/>
                <a:gd name="T25" fmla="*/ 505 h 2285"/>
                <a:gd name="T26" fmla="*/ 11 w 11"/>
                <a:gd name="T27" fmla="*/ 537 h 2285"/>
                <a:gd name="T28" fmla="*/ 11 w 11"/>
                <a:gd name="T29" fmla="*/ 558 h 2285"/>
                <a:gd name="T30" fmla="*/ 0 w 11"/>
                <a:gd name="T31" fmla="*/ 601 h 2285"/>
                <a:gd name="T32" fmla="*/ 0 w 11"/>
                <a:gd name="T33" fmla="*/ 655 h 2285"/>
                <a:gd name="T34" fmla="*/ 11 w 11"/>
                <a:gd name="T35" fmla="*/ 698 h 2285"/>
                <a:gd name="T36" fmla="*/ 11 w 11"/>
                <a:gd name="T37" fmla="*/ 730 h 2285"/>
                <a:gd name="T38" fmla="*/ 11 w 11"/>
                <a:gd name="T39" fmla="*/ 751 h 2285"/>
                <a:gd name="T40" fmla="*/ 0 w 11"/>
                <a:gd name="T41" fmla="*/ 794 h 2285"/>
                <a:gd name="T42" fmla="*/ 0 w 11"/>
                <a:gd name="T43" fmla="*/ 848 h 2285"/>
                <a:gd name="T44" fmla="*/ 11 w 11"/>
                <a:gd name="T45" fmla="*/ 891 h 2285"/>
                <a:gd name="T46" fmla="*/ 11 w 11"/>
                <a:gd name="T47" fmla="*/ 923 h 2285"/>
                <a:gd name="T48" fmla="*/ 11 w 11"/>
                <a:gd name="T49" fmla="*/ 944 h 2285"/>
                <a:gd name="T50" fmla="*/ 0 w 11"/>
                <a:gd name="T51" fmla="*/ 987 h 2285"/>
                <a:gd name="T52" fmla="*/ 0 w 11"/>
                <a:gd name="T53" fmla="*/ 1041 h 2285"/>
                <a:gd name="T54" fmla="*/ 11 w 11"/>
                <a:gd name="T55" fmla="*/ 1084 h 2285"/>
                <a:gd name="T56" fmla="*/ 11 w 11"/>
                <a:gd name="T57" fmla="*/ 1116 h 2285"/>
                <a:gd name="T58" fmla="*/ 11 w 11"/>
                <a:gd name="T59" fmla="*/ 1137 h 2285"/>
                <a:gd name="T60" fmla="*/ 0 w 11"/>
                <a:gd name="T61" fmla="*/ 1180 h 2285"/>
                <a:gd name="T62" fmla="*/ 0 w 11"/>
                <a:gd name="T63" fmla="*/ 1234 h 2285"/>
                <a:gd name="T64" fmla="*/ 11 w 11"/>
                <a:gd name="T65" fmla="*/ 1277 h 2285"/>
                <a:gd name="T66" fmla="*/ 11 w 11"/>
                <a:gd name="T67" fmla="*/ 1309 h 2285"/>
                <a:gd name="T68" fmla="*/ 11 w 11"/>
                <a:gd name="T69" fmla="*/ 1330 h 2285"/>
                <a:gd name="T70" fmla="*/ 0 w 11"/>
                <a:gd name="T71" fmla="*/ 1373 h 2285"/>
                <a:gd name="T72" fmla="*/ 0 w 11"/>
                <a:gd name="T73" fmla="*/ 1427 h 2285"/>
                <a:gd name="T74" fmla="*/ 11 w 11"/>
                <a:gd name="T75" fmla="*/ 1470 h 2285"/>
                <a:gd name="T76" fmla="*/ 11 w 11"/>
                <a:gd name="T77" fmla="*/ 1502 h 2285"/>
                <a:gd name="T78" fmla="*/ 11 w 11"/>
                <a:gd name="T79" fmla="*/ 1523 h 2285"/>
                <a:gd name="T80" fmla="*/ 0 w 11"/>
                <a:gd name="T81" fmla="*/ 1566 h 2285"/>
                <a:gd name="T82" fmla="*/ 0 w 11"/>
                <a:gd name="T83" fmla="*/ 1620 h 2285"/>
                <a:gd name="T84" fmla="*/ 11 w 11"/>
                <a:gd name="T85" fmla="*/ 1663 h 2285"/>
                <a:gd name="T86" fmla="*/ 11 w 11"/>
                <a:gd name="T87" fmla="*/ 1695 h 2285"/>
                <a:gd name="T88" fmla="*/ 11 w 11"/>
                <a:gd name="T89" fmla="*/ 1716 h 2285"/>
                <a:gd name="T90" fmla="*/ 0 w 11"/>
                <a:gd name="T91" fmla="*/ 1759 h 2285"/>
                <a:gd name="T92" fmla="*/ 0 w 11"/>
                <a:gd name="T93" fmla="*/ 1813 h 2285"/>
                <a:gd name="T94" fmla="*/ 11 w 11"/>
                <a:gd name="T95" fmla="*/ 1856 h 2285"/>
                <a:gd name="T96" fmla="*/ 11 w 11"/>
                <a:gd name="T97" fmla="*/ 1888 h 2285"/>
                <a:gd name="T98" fmla="*/ 11 w 11"/>
                <a:gd name="T99" fmla="*/ 1910 h 2285"/>
                <a:gd name="T100" fmla="*/ 0 w 11"/>
                <a:gd name="T101" fmla="*/ 1952 h 2285"/>
                <a:gd name="T102" fmla="*/ 0 w 11"/>
                <a:gd name="T103" fmla="*/ 2006 h 2285"/>
                <a:gd name="T104" fmla="*/ 11 w 11"/>
                <a:gd name="T105" fmla="*/ 2049 h 2285"/>
                <a:gd name="T106" fmla="*/ 11 w 11"/>
                <a:gd name="T107" fmla="*/ 2081 h 2285"/>
                <a:gd name="T108" fmla="*/ 11 w 11"/>
                <a:gd name="T109" fmla="*/ 2103 h 2285"/>
                <a:gd name="T110" fmla="*/ 0 w 11"/>
                <a:gd name="T111" fmla="*/ 2146 h 2285"/>
                <a:gd name="T112" fmla="*/ 0 w 11"/>
                <a:gd name="T113" fmla="*/ 2199 h 2285"/>
                <a:gd name="T114" fmla="*/ 11 w 11"/>
                <a:gd name="T115" fmla="*/ 2242 h 2285"/>
                <a:gd name="T116" fmla="*/ 11 w 11"/>
                <a:gd name="T117" fmla="*/ 2274 h 22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1" h="2285">
                  <a:moveTo>
                    <a:pt x="11" y="0"/>
                  </a:moveTo>
                  <a:lnTo>
                    <a:pt x="11" y="11"/>
                  </a:lnTo>
                  <a:lnTo>
                    <a:pt x="0" y="11"/>
                  </a:lnTo>
                  <a:lnTo>
                    <a:pt x="0" y="0"/>
                  </a:lnTo>
                  <a:lnTo>
                    <a:pt x="11" y="0"/>
                  </a:lnTo>
                  <a:close/>
                  <a:moveTo>
                    <a:pt x="11" y="22"/>
                  </a:moveTo>
                  <a:lnTo>
                    <a:pt x="11" y="33"/>
                  </a:lnTo>
                  <a:lnTo>
                    <a:pt x="0" y="33"/>
                  </a:lnTo>
                  <a:lnTo>
                    <a:pt x="0" y="22"/>
                  </a:lnTo>
                  <a:lnTo>
                    <a:pt x="11" y="22"/>
                  </a:lnTo>
                  <a:close/>
                  <a:moveTo>
                    <a:pt x="11" y="43"/>
                  </a:moveTo>
                  <a:lnTo>
                    <a:pt x="11" y="54"/>
                  </a:lnTo>
                  <a:lnTo>
                    <a:pt x="0" y="54"/>
                  </a:lnTo>
                  <a:lnTo>
                    <a:pt x="0" y="43"/>
                  </a:lnTo>
                  <a:lnTo>
                    <a:pt x="11" y="43"/>
                  </a:lnTo>
                  <a:close/>
                  <a:moveTo>
                    <a:pt x="11" y="65"/>
                  </a:moveTo>
                  <a:lnTo>
                    <a:pt x="11" y="76"/>
                  </a:lnTo>
                  <a:lnTo>
                    <a:pt x="0" y="76"/>
                  </a:lnTo>
                  <a:lnTo>
                    <a:pt x="0" y="65"/>
                  </a:lnTo>
                  <a:lnTo>
                    <a:pt x="11" y="65"/>
                  </a:lnTo>
                  <a:close/>
                  <a:moveTo>
                    <a:pt x="11" y="86"/>
                  </a:moveTo>
                  <a:lnTo>
                    <a:pt x="11" y="97"/>
                  </a:lnTo>
                  <a:lnTo>
                    <a:pt x="0" y="97"/>
                  </a:lnTo>
                  <a:lnTo>
                    <a:pt x="0" y="86"/>
                  </a:lnTo>
                  <a:lnTo>
                    <a:pt x="11" y="86"/>
                  </a:lnTo>
                  <a:close/>
                  <a:moveTo>
                    <a:pt x="11" y="108"/>
                  </a:moveTo>
                  <a:lnTo>
                    <a:pt x="11" y="119"/>
                  </a:lnTo>
                  <a:lnTo>
                    <a:pt x="0" y="119"/>
                  </a:lnTo>
                  <a:lnTo>
                    <a:pt x="0" y="108"/>
                  </a:lnTo>
                  <a:lnTo>
                    <a:pt x="11" y="108"/>
                  </a:lnTo>
                  <a:close/>
                  <a:moveTo>
                    <a:pt x="11" y="129"/>
                  </a:moveTo>
                  <a:lnTo>
                    <a:pt x="11" y="140"/>
                  </a:lnTo>
                  <a:lnTo>
                    <a:pt x="0" y="140"/>
                  </a:lnTo>
                  <a:lnTo>
                    <a:pt x="0" y="129"/>
                  </a:lnTo>
                  <a:lnTo>
                    <a:pt x="11" y="129"/>
                  </a:lnTo>
                  <a:close/>
                  <a:moveTo>
                    <a:pt x="11" y="151"/>
                  </a:moveTo>
                  <a:lnTo>
                    <a:pt x="11" y="161"/>
                  </a:lnTo>
                  <a:lnTo>
                    <a:pt x="0" y="161"/>
                  </a:lnTo>
                  <a:lnTo>
                    <a:pt x="0" y="151"/>
                  </a:lnTo>
                  <a:lnTo>
                    <a:pt x="11" y="151"/>
                  </a:lnTo>
                  <a:close/>
                  <a:moveTo>
                    <a:pt x="11" y="172"/>
                  </a:moveTo>
                  <a:lnTo>
                    <a:pt x="11" y="183"/>
                  </a:lnTo>
                  <a:lnTo>
                    <a:pt x="0" y="183"/>
                  </a:lnTo>
                  <a:lnTo>
                    <a:pt x="0" y="172"/>
                  </a:lnTo>
                  <a:lnTo>
                    <a:pt x="11" y="172"/>
                  </a:lnTo>
                  <a:close/>
                  <a:moveTo>
                    <a:pt x="11" y="193"/>
                  </a:moveTo>
                  <a:lnTo>
                    <a:pt x="11" y="204"/>
                  </a:lnTo>
                  <a:lnTo>
                    <a:pt x="0" y="204"/>
                  </a:lnTo>
                  <a:lnTo>
                    <a:pt x="0" y="193"/>
                  </a:lnTo>
                  <a:lnTo>
                    <a:pt x="11" y="193"/>
                  </a:lnTo>
                  <a:close/>
                  <a:moveTo>
                    <a:pt x="11" y="215"/>
                  </a:moveTo>
                  <a:lnTo>
                    <a:pt x="11" y="226"/>
                  </a:lnTo>
                  <a:lnTo>
                    <a:pt x="0" y="226"/>
                  </a:lnTo>
                  <a:lnTo>
                    <a:pt x="0" y="215"/>
                  </a:lnTo>
                  <a:lnTo>
                    <a:pt x="11" y="215"/>
                  </a:lnTo>
                  <a:close/>
                  <a:moveTo>
                    <a:pt x="11" y="236"/>
                  </a:moveTo>
                  <a:lnTo>
                    <a:pt x="11" y="247"/>
                  </a:lnTo>
                  <a:lnTo>
                    <a:pt x="0" y="247"/>
                  </a:lnTo>
                  <a:lnTo>
                    <a:pt x="0" y="236"/>
                  </a:lnTo>
                  <a:lnTo>
                    <a:pt x="11" y="236"/>
                  </a:lnTo>
                  <a:close/>
                  <a:moveTo>
                    <a:pt x="11" y="258"/>
                  </a:moveTo>
                  <a:lnTo>
                    <a:pt x="11" y="269"/>
                  </a:lnTo>
                  <a:lnTo>
                    <a:pt x="0" y="269"/>
                  </a:lnTo>
                  <a:lnTo>
                    <a:pt x="0" y="258"/>
                  </a:lnTo>
                  <a:lnTo>
                    <a:pt x="11" y="258"/>
                  </a:lnTo>
                  <a:close/>
                  <a:moveTo>
                    <a:pt x="11" y="279"/>
                  </a:moveTo>
                  <a:lnTo>
                    <a:pt x="11" y="290"/>
                  </a:lnTo>
                  <a:lnTo>
                    <a:pt x="0" y="290"/>
                  </a:lnTo>
                  <a:lnTo>
                    <a:pt x="0" y="279"/>
                  </a:lnTo>
                  <a:lnTo>
                    <a:pt x="11" y="279"/>
                  </a:lnTo>
                  <a:close/>
                  <a:moveTo>
                    <a:pt x="11" y="301"/>
                  </a:moveTo>
                  <a:lnTo>
                    <a:pt x="11" y="312"/>
                  </a:lnTo>
                  <a:lnTo>
                    <a:pt x="0" y="312"/>
                  </a:lnTo>
                  <a:lnTo>
                    <a:pt x="0" y="301"/>
                  </a:lnTo>
                  <a:lnTo>
                    <a:pt x="11" y="301"/>
                  </a:lnTo>
                  <a:close/>
                  <a:moveTo>
                    <a:pt x="11" y="322"/>
                  </a:moveTo>
                  <a:lnTo>
                    <a:pt x="11" y="333"/>
                  </a:lnTo>
                  <a:lnTo>
                    <a:pt x="0" y="333"/>
                  </a:lnTo>
                  <a:lnTo>
                    <a:pt x="0" y="322"/>
                  </a:lnTo>
                  <a:lnTo>
                    <a:pt x="11" y="322"/>
                  </a:lnTo>
                  <a:close/>
                  <a:moveTo>
                    <a:pt x="11" y="344"/>
                  </a:moveTo>
                  <a:lnTo>
                    <a:pt x="11" y="354"/>
                  </a:lnTo>
                  <a:lnTo>
                    <a:pt x="0" y="354"/>
                  </a:lnTo>
                  <a:lnTo>
                    <a:pt x="0" y="344"/>
                  </a:lnTo>
                  <a:lnTo>
                    <a:pt x="11" y="344"/>
                  </a:lnTo>
                  <a:close/>
                  <a:moveTo>
                    <a:pt x="11" y="365"/>
                  </a:moveTo>
                  <a:lnTo>
                    <a:pt x="11" y="376"/>
                  </a:lnTo>
                  <a:lnTo>
                    <a:pt x="0" y="376"/>
                  </a:lnTo>
                  <a:lnTo>
                    <a:pt x="0" y="365"/>
                  </a:lnTo>
                  <a:lnTo>
                    <a:pt x="11" y="365"/>
                  </a:lnTo>
                  <a:close/>
                  <a:moveTo>
                    <a:pt x="11" y="386"/>
                  </a:moveTo>
                  <a:lnTo>
                    <a:pt x="11" y="397"/>
                  </a:lnTo>
                  <a:lnTo>
                    <a:pt x="0" y="397"/>
                  </a:lnTo>
                  <a:lnTo>
                    <a:pt x="0" y="386"/>
                  </a:lnTo>
                  <a:lnTo>
                    <a:pt x="11" y="386"/>
                  </a:lnTo>
                  <a:close/>
                  <a:moveTo>
                    <a:pt x="11" y="408"/>
                  </a:moveTo>
                  <a:lnTo>
                    <a:pt x="11" y="419"/>
                  </a:lnTo>
                  <a:lnTo>
                    <a:pt x="0" y="419"/>
                  </a:lnTo>
                  <a:lnTo>
                    <a:pt x="0" y="408"/>
                  </a:lnTo>
                  <a:lnTo>
                    <a:pt x="11" y="408"/>
                  </a:lnTo>
                  <a:close/>
                  <a:moveTo>
                    <a:pt x="11" y="429"/>
                  </a:moveTo>
                  <a:lnTo>
                    <a:pt x="11" y="440"/>
                  </a:lnTo>
                  <a:lnTo>
                    <a:pt x="0" y="440"/>
                  </a:lnTo>
                  <a:lnTo>
                    <a:pt x="0" y="429"/>
                  </a:lnTo>
                  <a:lnTo>
                    <a:pt x="11" y="429"/>
                  </a:lnTo>
                  <a:close/>
                  <a:moveTo>
                    <a:pt x="11" y="451"/>
                  </a:moveTo>
                  <a:lnTo>
                    <a:pt x="11" y="462"/>
                  </a:lnTo>
                  <a:lnTo>
                    <a:pt x="0" y="462"/>
                  </a:lnTo>
                  <a:lnTo>
                    <a:pt x="0" y="451"/>
                  </a:lnTo>
                  <a:lnTo>
                    <a:pt x="11" y="451"/>
                  </a:lnTo>
                  <a:close/>
                  <a:moveTo>
                    <a:pt x="11" y="472"/>
                  </a:moveTo>
                  <a:lnTo>
                    <a:pt x="11" y="483"/>
                  </a:lnTo>
                  <a:lnTo>
                    <a:pt x="0" y="483"/>
                  </a:lnTo>
                  <a:lnTo>
                    <a:pt x="0" y="472"/>
                  </a:lnTo>
                  <a:lnTo>
                    <a:pt x="11" y="472"/>
                  </a:lnTo>
                  <a:close/>
                  <a:moveTo>
                    <a:pt x="11" y="494"/>
                  </a:moveTo>
                  <a:lnTo>
                    <a:pt x="11" y="505"/>
                  </a:lnTo>
                  <a:lnTo>
                    <a:pt x="0" y="505"/>
                  </a:lnTo>
                  <a:lnTo>
                    <a:pt x="0" y="494"/>
                  </a:lnTo>
                  <a:lnTo>
                    <a:pt x="11" y="494"/>
                  </a:lnTo>
                  <a:close/>
                  <a:moveTo>
                    <a:pt x="11" y="515"/>
                  </a:moveTo>
                  <a:lnTo>
                    <a:pt x="11" y="526"/>
                  </a:lnTo>
                  <a:lnTo>
                    <a:pt x="0" y="526"/>
                  </a:lnTo>
                  <a:lnTo>
                    <a:pt x="0" y="515"/>
                  </a:lnTo>
                  <a:lnTo>
                    <a:pt x="11" y="515"/>
                  </a:lnTo>
                  <a:close/>
                  <a:moveTo>
                    <a:pt x="11" y="537"/>
                  </a:moveTo>
                  <a:lnTo>
                    <a:pt x="11" y="547"/>
                  </a:lnTo>
                  <a:lnTo>
                    <a:pt x="0" y="547"/>
                  </a:lnTo>
                  <a:lnTo>
                    <a:pt x="0" y="537"/>
                  </a:lnTo>
                  <a:lnTo>
                    <a:pt x="11" y="537"/>
                  </a:lnTo>
                  <a:close/>
                  <a:moveTo>
                    <a:pt x="11" y="558"/>
                  </a:moveTo>
                  <a:lnTo>
                    <a:pt x="11" y="569"/>
                  </a:lnTo>
                  <a:lnTo>
                    <a:pt x="0" y="569"/>
                  </a:lnTo>
                  <a:lnTo>
                    <a:pt x="0" y="558"/>
                  </a:lnTo>
                  <a:lnTo>
                    <a:pt x="11" y="558"/>
                  </a:lnTo>
                  <a:close/>
                  <a:moveTo>
                    <a:pt x="11" y="580"/>
                  </a:moveTo>
                  <a:lnTo>
                    <a:pt x="11" y="590"/>
                  </a:lnTo>
                  <a:lnTo>
                    <a:pt x="0" y="590"/>
                  </a:lnTo>
                  <a:lnTo>
                    <a:pt x="0" y="580"/>
                  </a:lnTo>
                  <a:lnTo>
                    <a:pt x="11" y="580"/>
                  </a:lnTo>
                  <a:close/>
                  <a:moveTo>
                    <a:pt x="11" y="601"/>
                  </a:moveTo>
                  <a:lnTo>
                    <a:pt x="11" y="612"/>
                  </a:lnTo>
                  <a:lnTo>
                    <a:pt x="0" y="612"/>
                  </a:lnTo>
                  <a:lnTo>
                    <a:pt x="0" y="601"/>
                  </a:lnTo>
                  <a:lnTo>
                    <a:pt x="11" y="601"/>
                  </a:lnTo>
                  <a:close/>
                  <a:moveTo>
                    <a:pt x="11" y="623"/>
                  </a:moveTo>
                  <a:lnTo>
                    <a:pt x="11" y="633"/>
                  </a:lnTo>
                  <a:lnTo>
                    <a:pt x="0" y="633"/>
                  </a:lnTo>
                  <a:lnTo>
                    <a:pt x="0" y="623"/>
                  </a:lnTo>
                  <a:lnTo>
                    <a:pt x="11" y="623"/>
                  </a:lnTo>
                  <a:close/>
                  <a:moveTo>
                    <a:pt x="11" y="644"/>
                  </a:moveTo>
                  <a:lnTo>
                    <a:pt x="11" y="655"/>
                  </a:lnTo>
                  <a:lnTo>
                    <a:pt x="0" y="655"/>
                  </a:lnTo>
                  <a:lnTo>
                    <a:pt x="0" y="644"/>
                  </a:lnTo>
                  <a:lnTo>
                    <a:pt x="11" y="644"/>
                  </a:lnTo>
                  <a:close/>
                  <a:moveTo>
                    <a:pt x="11" y="665"/>
                  </a:moveTo>
                  <a:lnTo>
                    <a:pt x="11" y="676"/>
                  </a:lnTo>
                  <a:lnTo>
                    <a:pt x="0" y="676"/>
                  </a:lnTo>
                  <a:lnTo>
                    <a:pt x="0" y="665"/>
                  </a:lnTo>
                  <a:lnTo>
                    <a:pt x="11" y="665"/>
                  </a:lnTo>
                  <a:close/>
                  <a:moveTo>
                    <a:pt x="11" y="687"/>
                  </a:moveTo>
                  <a:lnTo>
                    <a:pt x="11" y="698"/>
                  </a:lnTo>
                  <a:lnTo>
                    <a:pt x="0" y="698"/>
                  </a:lnTo>
                  <a:lnTo>
                    <a:pt x="0" y="687"/>
                  </a:lnTo>
                  <a:lnTo>
                    <a:pt x="11" y="687"/>
                  </a:lnTo>
                  <a:close/>
                  <a:moveTo>
                    <a:pt x="11" y="708"/>
                  </a:moveTo>
                  <a:lnTo>
                    <a:pt x="11" y="719"/>
                  </a:lnTo>
                  <a:lnTo>
                    <a:pt x="0" y="719"/>
                  </a:lnTo>
                  <a:lnTo>
                    <a:pt x="0" y="708"/>
                  </a:lnTo>
                  <a:lnTo>
                    <a:pt x="11" y="708"/>
                  </a:lnTo>
                  <a:close/>
                  <a:moveTo>
                    <a:pt x="11" y="730"/>
                  </a:moveTo>
                  <a:lnTo>
                    <a:pt x="11" y="740"/>
                  </a:lnTo>
                  <a:lnTo>
                    <a:pt x="0" y="740"/>
                  </a:lnTo>
                  <a:lnTo>
                    <a:pt x="0" y="730"/>
                  </a:lnTo>
                  <a:lnTo>
                    <a:pt x="11" y="730"/>
                  </a:lnTo>
                  <a:close/>
                  <a:moveTo>
                    <a:pt x="11" y="751"/>
                  </a:moveTo>
                  <a:lnTo>
                    <a:pt x="11" y="762"/>
                  </a:lnTo>
                  <a:lnTo>
                    <a:pt x="0" y="762"/>
                  </a:lnTo>
                  <a:lnTo>
                    <a:pt x="0" y="751"/>
                  </a:lnTo>
                  <a:lnTo>
                    <a:pt x="11" y="751"/>
                  </a:lnTo>
                  <a:close/>
                  <a:moveTo>
                    <a:pt x="11" y="773"/>
                  </a:moveTo>
                  <a:lnTo>
                    <a:pt x="11" y="783"/>
                  </a:lnTo>
                  <a:lnTo>
                    <a:pt x="0" y="783"/>
                  </a:lnTo>
                  <a:lnTo>
                    <a:pt x="0" y="773"/>
                  </a:lnTo>
                  <a:lnTo>
                    <a:pt x="11" y="773"/>
                  </a:lnTo>
                  <a:close/>
                  <a:moveTo>
                    <a:pt x="11" y="794"/>
                  </a:moveTo>
                  <a:lnTo>
                    <a:pt x="11" y="805"/>
                  </a:lnTo>
                  <a:lnTo>
                    <a:pt x="0" y="805"/>
                  </a:lnTo>
                  <a:lnTo>
                    <a:pt x="0" y="794"/>
                  </a:lnTo>
                  <a:lnTo>
                    <a:pt x="11" y="794"/>
                  </a:lnTo>
                  <a:close/>
                  <a:moveTo>
                    <a:pt x="11" y="816"/>
                  </a:moveTo>
                  <a:lnTo>
                    <a:pt x="11" y="826"/>
                  </a:lnTo>
                  <a:lnTo>
                    <a:pt x="0" y="826"/>
                  </a:lnTo>
                  <a:lnTo>
                    <a:pt x="0" y="816"/>
                  </a:lnTo>
                  <a:lnTo>
                    <a:pt x="11" y="816"/>
                  </a:lnTo>
                  <a:close/>
                  <a:moveTo>
                    <a:pt x="11" y="837"/>
                  </a:moveTo>
                  <a:lnTo>
                    <a:pt x="11" y="848"/>
                  </a:lnTo>
                  <a:lnTo>
                    <a:pt x="0" y="848"/>
                  </a:lnTo>
                  <a:lnTo>
                    <a:pt x="0" y="837"/>
                  </a:lnTo>
                  <a:lnTo>
                    <a:pt x="11" y="837"/>
                  </a:lnTo>
                  <a:close/>
                  <a:moveTo>
                    <a:pt x="11" y="859"/>
                  </a:moveTo>
                  <a:lnTo>
                    <a:pt x="11" y="869"/>
                  </a:lnTo>
                  <a:lnTo>
                    <a:pt x="0" y="869"/>
                  </a:lnTo>
                  <a:lnTo>
                    <a:pt x="0" y="859"/>
                  </a:lnTo>
                  <a:lnTo>
                    <a:pt x="11" y="859"/>
                  </a:lnTo>
                  <a:close/>
                  <a:moveTo>
                    <a:pt x="11" y="880"/>
                  </a:moveTo>
                  <a:lnTo>
                    <a:pt x="11" y="891"/>
                  </a:lnTo>
                  <a:lnTo>
                    <a:pt x="0" y="891"/>
                  </a:lnTo>
                  <a:lnTo>
                    <a:pt x="0" y="880"/>
                  </a:lnTo>
                  <a:lnTo>
                    <a:pt x="11" y="880"/>
                  </a:lnTo>
                  <a:close/>
                  <a:moveTo>
                    <a:pt x="11" y="901"/>
                  </a:moveTo>
                  <a:lnTo>
                    <a:pt x="11" y="912"/>
                  </a:lnTo>
                  <a:lnTo>
                    <a:pt x="0" y="912"/>
                  </a:lnTo>
                  <a:lnTo>
                    <a:pt x="0" y="901"/>
                  </a:lnTo>
                  <a:lnTo>
                    <a:pt x="11" y="901"/>
                  </a:lnTo>
                  <a:close/>
                  <a:moveTo>
                    <a:pt x="11" y="923"/>
                  </a:moveTo>
                  <a:lnTo>
                    <a:pt x="11" y="933"/>
                  </a:lnTo>
                  <a:lnTo>
                    <a:pt x="0" y="933"/>
                  </a:lnTo>
                  <a:lnTo>
                    <a:pt x="0" y="923"/>
                  </a:lnTo>
                  <a:lnTo>
                    <a:pt x="11" y="923"/>
                  </a:lnTo>
                  <a:close/>
                  <a:moveTo>
                    <a:pt x="11" y="944"/>
                  </a:moveTo>
                  <a:lnTo>
                    <a:pt x="11" y="955"/>
                  </a:lnTo>
                  <a:lnTo>
                    <a:pt x="0" y="955"/>
                  </a:lnTo>
                  <a:lnTo>
                    <a:pt x="0" y="944"/>
                  </a:lnTo>
                  <a:lnTo>
                    <a:pt x="11" y="944"/>
                  </a:lnTo>
                  <a:close/>
                  <a:moveTo>
                    <a:pt x="11" y="966"/>
                  </a:moveTo>
                  <a:lnTo>
                    <a:pt x="11" y="976"/>
                  </a:lnTo>
                  <a:lnTo>
                    <a:pt x="0" y="976"/>
                  </a:lnTo>
                  <a:lnTo>
                    <a:pt x="0" y="966"/>
                  </a:lnTo>
                  <a:lnTo>
                    <a:pt x="11" y="966"/>
                  </a:lnTo>
                  <a:close/>
                  <a:moveTo>
                    <a:pt x="11" y="987"/>
                  </a:moveTo>
                  <a:lnTo>
                    <a:pt x="11" y="998"/>
                  </a:lnTo>
                  <a:lnTo>
                    <a:pt x="0" y="998"/>
                  </a:lnTo>
                  <a:lnTo>
                    <a:pt x="0" y="987"/>
                  </a:lnTo>
                  <a:lnTo>
                    <a:pt x="11" y="987"/>
                  </a:lnTo>
                  <a:close/>
                  <a:moveTo>
                    <a:pt x="11" y="1009"/>
                  </a:moveTo>
                  <a:lnTo>
                    <a:pt x="11" y="1019"/>
                  </a:lnTo>
                  <a:lnTo>
                    <a:pt x="0" y="1019"/>
                  </a:lnTo>
                  <a:lnTo>
                    <a:pt x="0" y="1009"/>
                  </a:lnTo>
                  <a:lnTo>
                    <a:pt x="11" y="1009"/>
                  </a:lnTo>
                  <a:close/>
                  <a:moveTo>
                    <a:pt x="11" y="1030"/>
                  </a:moveTo>
                  <a:lnTo>
                    <a:pt x="11" y="1041"/>
                  </a:lnTo>
                  <a:lnTo>
                    <a:pt x="0" y="1041"/>
                  </a:lnTo>
                  <a:lnTo>
                    <a:pt x="0" y="1030"/>
                  </a:lnTo>
                  <a:lnTo>
                    <a:pt x="11" y="1030"/>
                  </a:lnTo>
                  <a:close/>
                  <a:moveTo>
                    <a:pt x="11" y="1052"/>
                  </a:moveTo>
                  <a:lnTo>
                    <a:pt x="11" y="1062"/>
                  </a:lnTo>
                  <a:lnTo>
                    <a:pt x="0" y="1062"/>
                  </a:lnTo>
                  <a:lnTo>
                    <a:pt x="0" y="1052"/>
                  </a:lnTo>
                  <a:lnTo>
                    <a:pt x="11" y="1052"/>
                  </a:lnTo>
                  <a:close/>
                  <a:moveTo>
                    <a:pt x="11" y="1073"/>
                  </a:moveTo>
                  <a:lnTo>
                    <a:pt x="11" y="1084"/>
                  </a:lnTo>
                  <a:lnTo>
                    <a:pt x="0" y="1084"/>
                  </a:lnTo>
                  <a:lnTo>
                    <a:pt x="0" y="1073"/>
                  </a:lnTo>
                  <a:lnTo>
                    <a:pt x="11" y="1073"/>
                  </a:lnTo>
                  <a:close/>
                  <a:moveTo>
                    <a:pt x="11" y="1094"/>
                  </a:moveTo>
                  <a:lnTo>
                    <a:pt x="11" y="1105"/>
                  </a:lnTo>
                  <a:lnTo>
                    <a:pt x="0" y="1105"/>
                  </a:lnTo>
                  <a:lnTo>
                    <a:pt x="0" y="1094"/>
                  </a:lnTo>
                  <a:lnTo>
                    <a:pt x="11" y="1094"/>
                  </a:lnTo>
                  <a:close/>
                  <a:moveTo>
                    <a:pt x="11" y="1116"/>
                  </a:moveTo>
                  <a:lnTo>
                    <a:pt x="11" y="1127"/>
                  </a:lnTo>
                  <a:lnTo>
                    <a:pt x="0" y="1127"/>
                  </a:lnTo>
                  <a:lnTo>
                    <a:pt x="0" y="1116"/>
                  </a:lnTo>
                  <a:lnTo>
                    <a:pt x="11" y="1116"/>
                  </a:lnTo>
                  <a:close/>
                  <a:moveTo>
                    <a:pt x="11" y="1137"/>
                  </a:moveTo>
                  <a:lnTo>
                    <a:pt x="11" y="1148"/>
                  </a:lnTo>
                  <a:lnTo>
                    <a:pt x="0" y="1148"/>
                  </a:lnTo>
                  <a:lnTo>
                    <a:pt x="0" y="1137"/>
                  </a:lnTo>
                  <a:lnTo>
                    <a:pt x="11" y="1137"/>
                  </a:lnTo>
                  <a:close/>
                  <a:moveTo>
                    <a:pt x="11" y="1159"/>
                  </a:moveTo>
                  <a:lnTo>
                    <a:pt x="11" y="1169"/>
                  </a:lnTo>
                  <a:lnTo>
                    <a:pt x="0" y="1169"/>
                  </a:lnTo>
                  <a:lnTo>
                    <a:pt x="0" y="1159"/>
                  </a:lnTo>
                  <a:lnTo>
                    <a:pt x="11" y="1159"/>
                  </a:lnTo>
                  <a:close/>
                  <a:moveTo>
                    <a:pt x="11" y="1180"/>
                  </a:moveTo>
                  <a:lnTo>
                    <a:pt x="11" y="1191"/>
                  </a:lnTo>
                  <a:lnTo>
                    <a:pt x="0" y="1191"/>
                  </a:lnTo>
                  <a:lnTo>
                    <a:pt x="0" y="1180"/>
                  </a:lnTo>
                  <a:lnTo>
                    <a:pt x="11" y="1180"/>
                  </a:lnTo>
                  <a:close/>
                  <a:moveTo>
                    <a:pt x="11" y="1202"/>
                  </a:moveTo>
                  <a:lnTo>
                    <a:pt x="11" y="1212"/>
                  </a:lnTo>
                  <a:lnTo>
                    <a:pt x="0" y="1212"/>
                  </a:lnTo>
                  <a:lnTo>
                    <a:pt x="0" y="1202"/>
                  </a:lnTo>
                  <a:lnTo>
                    <a:pt x="11" y="1202"/>
                  </a:lnTo>
                  <a:close/>
                  <a:moveTo>
                    <a:pt x="11" y="1223"/>
                  </a:moveTo>
                  <a:lnTo>
                    <a:pt x="11" y="1234"/>
                  </a:lnTo>
                  <a:lnTo>
                    <a:pt x="0" y="1234"/>
                  </a:lnTo>
                  <a:lnTo>
                    <a:pt x="0" y="1223"/>
                  </a:lnTo>
                  <a:lnTo>
                    <a:pt x="11" y="1223"/>
                  </a:lnTo>
                  <a:close/>
                  <a:moveTo>
                    <a:pt x="11" y="1245"/>
                  </a:moveTo>
                  <a:lnTo>
                    <a:pt x="11" y="1255"/>
                  </a:lnTo>
                  <a:lnTo>
                    <a:pt x="0" y="1255"/>
                  </a:lnTo>
                  <a:lnTo>
                    <a:pt x="0" y="1245"/>
                  </a:lnTo>
                  <a:lnTo>
                    <a:pt x="11" y="1245"/>
                  </a:lnTo>
                  <a:close/>
                  <a:moveTo>
                    <a:pt x="11" y="1266"/>
                  </a:moveTo>
                  <a:lnTo>
                    <a:pt x="11" y="1277"/>
                  </a:lnTo>
                  <a:lnTo>
                    <a:pt x="0" y="1277"/>
                  </a:lnTo>
                  <a:lnTo>
                    <a:pt x="0" y="1266"/>
                  </a:lnTo>
                  <a:lnTo>
                    <a:pt x="11" y="1266"/>
                  </a:lnTo>
                  <a:close/>
                  <a:moveTo>
                    <a:pt x="11" y="1287"/>
                  </a:moveTo>
                  <a:lnTo>
                    <a:pt x="11" y="1298"/>
                  </a:lnTo>
                  <a:lnTo>
                    <a:pt x="0" y="1298"/>
                  </a:lnTo>
                  <a:lnTo>
                    <a:pt x="0" y="1287"/>
                  </a:lnTo>
                  <a:lnTo>
                    <a:pt x="11" y="1287"/>
                  </a:lnTo>
                  <a:close/>
                  <a:moveTo>
                    <a:pt x="11" y="1309"/>
                  </a:moveTo>
                  <a:lnTo>
                    <a:pt x="11" y="1320"/>
                  </a:lnTo>
                  <a:lnTo>
                    <a:pt x="0" y="1320"/>
                  </a:lnTo>
                  <a:lnTo>
                    <a:pt x="0" y="1309"/>
                  </a:lnTo>
                  <a:lnTo>
                    <a:pt x="11" y="1309"/>
                  </a:lnTo>
                  <a:close/>
                  <a:moveTo>
                    <a:pt x="11" y="1330"/>
                  </a:moveTo>
                  <a:lnTo>
                    <a:pt x="11" y="1341"/>
                  </a:lnTo>
                  <a:lnTo>
                    <a:pt x="0" y="1341"/>
                  </a:lnTo>
                  <a:lnTo>
                    <a:pt x="0" y="1330"/>
                  </a:lnTo>
                  <a:lnTo>
                    <a:pt x="11" y="1330"/>
                  </a:lnTo>
                  <a:close/>
                  <a:moveTo>
                    <a:pt x="11" y="1352"/>
                  </a:moveTo>
                  <a:lnTo>
                    <a:pt x="11" y="1363"/>
                  </a:lnTo>
                  <a:lnTo>
                    <a:pt x="0" y="1363"/>
                  </a:lnTo>
                  <a:lnTo>
                    <a:pt x="0" y="1352"/>
                  </a:lnTo>
                  <a:lnTo>
                    <a:pt x="11" y="1352"/>
                  </a:lnTo>
                  <a:close/>
                  <a:moveTo>
                    <a:pt x="11" y="1373"/>
                  </a:moveTo>
                  <a:lnTo>
                    <a:pt x="11" y="1384"/>
                  </a:lnTo>
                  <a:lnTo>
                    <a:pt x="0" y="1384"/>
                  </a:lnTo>
                  <a:lnTo>
                    <a:pt x="0" y="1373"/>
                  </a:lnTo>
                  <a:lnTo>
                    <a:pt x="11" y="1373"/>
                  </a:lnTo>
                  <a:close/>
                  <a:moveTo>
                    <a:pt x="11" y="1395"/>
                  </a:moveTo>
                  <a:lnTo>
                    <a:pt x="11" y="1406"/>
                  </a:lnTo>
                  <a:lnTo>
                    <a:pt x="0" y="1406"/>
                  </a:lnTo>
                  <a:lnTo>
                    <a:pt x="0" y="1395"/>
                  </a:lnTo>
                  <a:lnTo>
                    <a:pt x="11" y="1395"/>
                  </a:lnTo>
                  <a:close/>
                  <a:moveTo>
                    <a:pt x="11" y="1416"/>
                  </a:moveTo>
                  <a:lnTo>
                    <a:pt x="11" y="1427"/>
                  </a:lnTo>
                  <a:lnTo>
                    <a:pt x="0" y="1427"/>
                  </a:lnTo>
                  <a:lnTo>
                    <a:pt x="0" y="1416"/>
                  </a:lnTo>
                  <a:lnTo>
                    <a:pt x="11" y="1416"/>
                  </a:lnTo>
                  <a:close/>
                  <a:moveTo>
                    <a:pt x="11" y="1438"/>
                  </a:moveTo>
                  <a:lnTo>
                    <a:pt x="11" y="1448"/>
                  </a:lnTo>
                  <a:lnTo>
                    <a:pt x="0" y="1448"/>
                  </a:lnTo>
                  <a:lnTo>
                    <a:pt x="0" y="1438"/>
                  </a:lnTo>
                  <a:lnTo>
                    <a:pt x="11" y="1438"/>
                  </a:lnTo>
                  <a:close/>
                  <a:moveTo>
                    <a:pt x="11" y="1459"/>
                  </a:moveTo>
                  <a:lnTo>
                    <a:pt x="11" y="1470"/>
                  </a:lnTo>
                  <a:lnTo>
                    <a:pt x="0" y="1470"/>
                  </a:lnTo>
                  <a:lnTo>
                    <a:pt x="0" y="1459"/>
                  </a:lnTo>
                  <a:lnTo>
                    <a:pt x="11" y="1459"/>
                  </a:lnTo>
                  <a:close/>
                  <a:moveTo>
                    <a:pt x="11" y="1480"/>
                  </a:moveTo>
                  <a:lnTo>
                    <a:pt x="11" y="1491"/>
                  </a:lnTo>
                  <a:lnTo>
                    <a:pt x="0" y="1491"/>
                  </a:lnTo>
                  <a:lnTo>
                    <a:pt x="0" y="1480"/>
                  </a:lnTo>
                  <a:lnTo>
                    <a:pt x="11" y="1480"/>
                  </a:lnTo>
                  <a:close/>
                  <a:moveTo>
                    <a:pt x="11" y="1502"/>
                  </a:moveTo>
                  <a:lnTo>
                    <a:pt x="11" y="1513"/>
                  </a:lnTo>
                  <a:lnTo>
                    <a:pt x="0" y="1513"/>
                  </a:lnTo>
                  <a:lnTo>
                    <a:pt x="0" y="1502"/>
                  </a:lnTo>
                  <a:lnTo>
                    <a:pt x="11" y="1502"/>
                  </a:lnTo>
                  <a:close/>
                  <a:moveTo>
                    <a:pt x="11" y="1523"/>
                  </a:moveTo>
                  <a:lnTo>
                    <a:pt x="11" y="1534"/>
                  </a:lnTo>
                  <a:lnTo>
                    <a:pt x="0" y="1534"/>
                  </a:lnTo>
                  <a:lnTo>
                    <a:pt x="0" y="1523"/>
                  </a:lnTo>
                  <a:lnTo>
                    <a:pt x="11" y="1523"/>
                  </a:lnTo>
                  <a:close/>
                  <a:moveTo>
                    <a:pt x="11" y="1545"/>
                  </a:moveTo>
                  <a:lnTo>
                    <a:pt x="11" y="1556"/>
                  </a:lnTo>
                  <a:lnTo>
                    <a:pt x="0" y="1556"/>
                  </a:lnTo>
                  <a:lnTo>
                    <a:pt x="0" y="1545"/>
                  </a:lnTo>
                  <a:lnTo>
                    <a:pt x="11" y="1545"/>
                  </a:lnTo>
                  <a:close/>
                  <a:moveTo>
                    <a:pt x="11" y="1566"/>
                  </a:moveTo>
                  <a:lnTo>
                    <a:pt x="11" y="1577"/>
                  </a:lnTo>
                  <a:lnTo>
                    <a:pt x="0" y="1577"/>
                  </a:lnTo>
                  <a:lnTo>
                    <a:pt x="0" y="1566"/>
                  </a:lnTo>
                  <a:lnTo>
                    <a:pt x="11" y="1566"/>
                  </a:lnTo>
                  <a:close/>
                  <a:moveTo>
                    <a:pt x="11" y="1588"/>
                  </a:moveTo>
                  <a:lnTo>
                    <a:pt x="11" y="1599"/>
                  </a:lnTo>
                  <a:lnTo>
                    <a:pt x="0" y="1599"/>
                  </a:lnTo>
                  <a:lnTo>
                    <a:pt x="0" y="1588"/>
                  </a:lnTo>
                  <a:lnTo>
                    <a:pt x="11" y="1588"/>
                  </a:lnTo>
                  <a:close/>
                  <a:moveTo>
                    <a:pt x="11" y="1609"/>
                  </a:moveTo>
                  <a:lnTo>
                    <a:pt x="11" y="1620"/>
                  </a:lnTo>
                  <a:lnTo>
                    <a:pt x="0" y="1620"/>
                  </a:lnTo>
                  <a:lnTo>
                    <a:pt x="0" y="1609"/>
                  </a:lnTo>
                  <a:lnTo>
                    <a:pt x="11" y="1609"/>
                  </a:lnTo>
                  <a:close/>
                  <a:moveTo>
                    <a:pt x="11" y="1631"/>
                  </a:moveTo>
                  <a:lnTo>
                    <a:pt x="11" y="1641"/>
                  </a:lnTo>
                  <a:lnTo>
                    <a:pt x="0" y="1641"/>
                  </a:lnTo>
                  <a:lnTo>
                    <a:pt x="0" y="1631"/>
                  </a:lnTo>
                  <a:lnTo>
                    <a:pt x="11" y="1631"/>
                  </a:lnTo>
                  <a:close/>
                  <a:moveTo>
                    <a:pt x="11" y="1652"/>
                  </a:moveTo>
                  <a:lnTo>
                    <a:pt x="11" y="1663"/>
                  </a:lnTo>
                  <a:lnTo>
                    <a:pt x="0" y="1663"/>
                  </a:lnTo>
                  <a:lnTo>
                    <a:pt x="0" y="1652"/>
                  </a:lnTo>
                  <a:lnTo>
                    <a:pt x="11" y="1652"/>
                  </a:lnTo>
                  <a:close/>
                  <a:moveTo>
                    <a:pt x="11" y="1673"/>
                  </a:moveTo>
                  <a:lnTo>
                    <a:pt x="11" y="1684"/>
                  </a:lnTo>
                  <a:lnTo>
                    <a:pt x="0" y="1684"/>
                  </a:lnTo>
                  <a:lnTo>
                    <a:pt x="0" y="1673"/>
                  </a:lnTo>
                  <a:lnTo>
                    <a:pt x="11" y="1673"/>
                  </a:lnTo>
                  <a:close/>
                  <a:moveTo>
                    <a:pt x="11" y="1695"/>
                  </a:moveTo>
                  <a:lnTo>
                    <a:pt x="11" y="1706"/>
                  </a:lnTo>
                  <a:lnTo>
                    <a:pt x="0" y="1706"/>
                  </a:lnTo>
                  <a:lnTo>
                    <a:pt x="0" y="1695"/>
                  </a:lnTo>
                  <a:lnTo>
                    <a:pt x="11" y="1695"/>
                  </a:lnTo>
                  <a:close/>
                  <a:moveTo>
                    <a:pt x="11" y="1716"/>
                  </a:moveTo>
                  <a:lnTo>
                    <a:pt x="11" y="1727"/>
                  </a:lnTo>
                  <a:lnTo>
                    <a:pt x="0" y="1727"/>
                  </a:lnTo>
                  <a:lnTo>
                    <a:pt x="0" y="1716"/>
                  </a:lnTo>
                  <a:lnTo>
                    <a:pt x="11" y="1716"/>
                  </a:lnTo>
                  <a:close/>
                  <a:moveTo>
                    <a:pt x="11" y="1738"/>
                  </a:moveTo>
                  <a:lnTo>
                    <a:pt x="11" y="1749"/>
                  </a:lnTo>
                  <a:lnTo>
                    <a:pt x="0" y="1749"/>
                  </a:lnTo>
                  <a:lnTo>
                    <a:pt x="0" y="1738"/>
                  </a:lnTo>
                  <a:lnTo>
                    <a:pt x="11" y="1738"/>
                  </a:lnTo>
                  <a:close/>
                  <a:moveTo>
                    <a:pt x="11" y="1759"/>
                  </a:moveTo>
                  <a:lnTo>
                    <a:pt x="11" y="1770"/>
                  </a:lnTo>
                  <a:lnTo>
                    <a:pt x="0" y="1770"/>
                  </a:lnTo>
                  <a:lnTo>
                    <a:pt x="0" y="1759"/>
                  </a:lnTo>
                  <a:lnTo>
                    <a:pt x="11" y="1759"/>
                  </a:lnTo>
                  <a:close/>
                  <a:moveTo>
                    <a:pt x="11" y="1781"/>
                  </a:moveTo>
                  <a:lnTo>
                    <a:pt x="11" y="1792"/>
                  </a:lnTo>
                  <a:lnTo>
                    <a:pt x="0" y="1792"/>
                  </a:lnTo>
                  <a:lnTo>
                    <a:pt x="0" y="1781"/>
                  </a:lnTo>
                  <a:lnTo>
                    <a:pt x="11" y="1781"/>
                  </a:lnTo>
                  <a:close/>
                  <a:moveTo>
                    <a:pt x="11" y="1802"/>
                  </a:moveTo>
                  <a:lnTo>
                    <a:pt x="11" y="1813"/>
                  </a:lnTo>
                  <a:lnTo>
                    <a:pt x="0" y="1813"/>
                  </a:lnTo>
                  <a:lnTo>
                    <a:pt x="0" y="1802"/>
                  </a:lnTo>
                  <a:lnTo>
                    <a:pt x="11" y="1802"/>
                  </a:lnTo>
                  <a:close/>
                  <a:moveTo>
                    <a:pt x="11" y="1824"/>
                  </a:moveTo>
                  <a:lnTo>
                    <a:pt x="11" y="1834"/>
                  </a:lnTo>
                  <a:lnTo>
                    <a:pt x="0" y="1834"/>
                  </a:lnTo>
                  <a:lnTo>
                    <a:pt x="0" y="1824"/>
                  </a:lnTo>
                  <a:lnTo>
                    <a:pt x="11" y="1824"/>
                  </a:lnTo>
                  <a:close/>
                  <a:moveTo>
                    <a:pt x="11" y="1845"/>
                  </a:moveTo>
                  <a:lnTo>
                    <a:pt x="11" y="1856"/>
                  </a:lnTo>
                  <a:lnTo>
                    <a:pt x="0" y="1856"/>
                  </a:lnTo>
                  <a:lnTo>
                    <a:pt x="0" y="1845"/>
                  </a:lnTo>
                  <a:lnTo>
                    <a:pt x="11" y="1845"/>
                  </a:lnTo>
                  <a:close/>
                  <a:moveTo>
                    <a:pt x="11" y="1867"/>
                  </a:moveTo>
                  <a:lnTo>
                    <a:pt x="11" y="1877"/>
                  </a:lnTo>
                  <a:lnTo>
                    <a:pt x="0" y="1877"/>
                  </a:lnTo>
                  <a:lnTo>
                    <a:pt x="0" y="1867"/>
                  </a:lnTo>
                  <a:lnTo>
                    <a:pt x="11" y="1867"/>
                  </a:lnTo>
                  <a:close/>
                  <a:moveTo>
                    <a:pt x="11" y="1888"/>
                  </a:moveTo>
                  <a:lnTo>
                    <a:pt x="11" y="1899"/>
                  </a:lnTo>
                  <a:lnTo>
                    <a:pt x="0" y="1899"/>
                  </a:lnTo>
                  <a:lnTo>
                    <a:pt x="0" y="1888"/>
                  </a:lnTo>
                  <a:lnTo>
                    <a:pt x="11" y="1888"/>
                  </a:lnTo>
                  <a:close/>
                  <a:moveTo>
                    <a:pt x="11" y="1910"/>
                  </a:moveTo>
                  <a:lnTo>
                    <a:pt x="11" y="1920"/>
                  </a:lnTo>
                  <a:lnTo>
                    <a:pt x="0" y="1920"/>
                  </a:lnTo>
                  <a:lnTo>
                    <a:pt x="0" y="1910"/>
                  </a:lnTo>
                  <a:lnTo>
                    <a:pt x="11" y="1910"/>
                  </a:lnTo>
                  <a:close/>
                  <a:moveTo>
                    <a:pt x="11" y="1931"/>
                  </a:moveTo>
                  <a:lnTo>
                    <a:pt x="11" y="1942"/>
                  </a:lnTo>
                  <a:lnTo>
                    <a:pt x="0" y="1942"/>
                  </a:lnTo>
                  <a:lnTo>
                    <a:pt x="0" y="1931"/>
                  </a:lnTo>
                  <a:lnTo>
                    <a:pt x="11" y="1931"/>
                  </a:lnTo>
                  <a:close/>
                  <a:moveTo>
                    <a:pt x="11" y="1952"/>
                  </a:moveTo>
                  <a:lnTo>
                    <a:pt x="11" y="1963"/>
                  </a:lnTo>
                  <a:lnTo>
                    <a:pt x="0" y="1963"/>
                  </a:lnTo>
                  <a:lnTo>
                    <a:pt x="0" y="1952"/>
                  </a:lnTo>
                  <a:lnTo>
                    <a:pt x="11" y="1952"/>
                  </a:lnTo>
                  <a:close/>
                  <a:moveTo>
                    <a:pt x="11" y="1974"/>
                  </a:moveTo>
                  <a:lnTo>
                    <a:pt x="11" y="1985"/>
                  </a:lnTo>
                  <a:lnTo>
                    <a:pt x="0" y="1985"/>
                  </a:lnTo>
                  <a:lnTo>
                    <a:pt x="0" y="1974"/>
                  </a:lnTo>
                  <a:lnTo>
                    <a:pt x="11" y="1974"/>
                  </a:lnTo>
                  <a:close/>
                  <a:moveTo>
                    <a:pt x="11" y="1995"/>
                  </a:moveTo>
                  <a:lnTo>
                    <a:pt x="11" y="2006"/>
                  </a:lnTo>
                  <a:lnTo>
                    <a:pt x="0" y="2006"/>
                  </a:lnTo>
                  <a:lnTo>
                    <a:pt x="0" y="1995"/>
                  </a:lnTo>
                  <a:lnTo>
                    <a:pt x="11" y="1995"/>
                  </a:lnTo>
                  <a:close/>
                  <a:moveTo>
                    <a:pt x="11" y="2017"/>
                  </a:moveTo>
                  <a:lnTo>
                    <a:pt x="11" y="2027"/>
                  </a:lnTo>
                  <a:lnTo>
                    <a:pt x="0" y="2027"/>
                  </a:lnTo>
                  <a:lnTo>
                    <a:pt x="0" y="2017"/>
                  </a:lnTo>
                  <a:lnTo>
                    <a:pt x="11" y="2017"/>
                  </a:lnTo>
                  <a:close/>
                  <a:moveTo>
                    <a:pt x="11" y="2038"/>
                  </a:moveTo>
                  <a:lnTo>
                    <a:pt x="11" y="2049"/>
                  </a:lnTo>
                  <a:lnTo>
                    <a:pt x="0" y="2049"/>
                  </a:lnTo>
                  <a:lnTo>
                    <a:pt x="0" y="2038"/>
                  </a:lnTo>
                  <a:lnTo>
                    <a:pt x="11" y="2038"/>
                  </a:lnTo>
                  <a:close/>
                  <a:moveTo>
                    <a:pt x="11" y="2060"/>
                  </a:moveTo>
                  <a:lnTo>
                    <a:pt x="11" y="2070"/>
                  </a:lnTo>
                  <a:lnTo>
                    <a:pt x="0" y="2070"/>
                  </a:lnTo>
                  <a:lnTo>
                    <a:pt x="0" y="2060"/>
                  </a:lnTo>
                  <a:lnTo>
                    <a:pt x="11" y="2060"/>
                  </a:lnTo>
                  <a:close/>
                  <a:moveTo>
                    <a:pt x="11" y="2081"/>
                  </a:moveTo>
                  <a:lnTo>
                    <a:pt x="11" y="2092"/>
                  </a:lnTo>
                  <a:lnTo>
                    <a:pt x="0" y="2092"/>
                  </a:lnTo>
                  <a:lnTo>
                    <a:pt x="0" y="2081"/>
                  </a:lnTo>
                  <a:lnTo>
                    <a:pt x="11" y="2081"/>
                  </a:lnTo>
                  <a:close/>
                  <a:moveTo>
                    <a:pt x="11" y="2103"/>
                  </a:moveTo>
                  <a:lnTo>
                    <a:pt x="11" y="2113"/>
                  </a:lnTo>
                  <a:lnTo>
                    <a:pt x="0" y="2113"/>
                  </a:lnTo>
                  <a:lnTo>
                    <a:pt x="0" y="2103"/>
                  </a:lnTo>
                  <a:lnTo>
                    <a:pt x="11" y="2103"/>
                  </a:lnTo>
                  <a:close/>
                  <a:moveTo>
                    <a:pt x="11" y="2124"/>
                  </a:moveTo>
                  <a:lnTo>
                    <a:pt x="11" y="2135"/>
                  </a:lnTo>
                  <a:lnTo>
                    <a:pt x="0" y="2135"/>
                  </a:lnTo>
                  <a:lnTo>
                    <a:pt x="0" y="2124"/>
                  </a:lnTo>
                  <a:lnTo>
                    <a:pt x="11" y="2124"/>
                  </a:lnTo>
                  <a:close/>
                  <a:moveTo>
                    <a:pt x="11" y="2146"/>
                  </a:moveTo>
                  <a:lnTo>
                    <a:pt x="11" y="2156"/>
                  </a:lnTo>
                  <a:lnTo>
                    <a:pt x="0" y="2156"/>
                  </a:lnTo>
                  <a:lnTo>
                    <a:pt x="0" y="2146"/>
                  </a:lnTo>
                  <a:lnTo>
                    <a:pt x="11" y="2146"/>
                  </a:lnTo>
                  <a:close/>
                  <a:moveTo>
                    <a:pt x="11" y="2167"/>
                  </a:moveTo>
                  <a:lnTo>
                    <a:pt x="11" y="2178"/>
                  </a:lnTo>
                  <a:lnTo>
                    <a:pt x="0" y="2178"/>
                  </a:lnTo>
                  <a:lnTo>
                    <a:pt x="0" y="2167"/>
                  </a:lnTo>
                  <a:lnTo>
                    <a:pt x="11" y="2167"/>
                  </a:lnTo>
                  <a:close/>
                  <a:moveTo>
                    <a:pt x="11" y="2188"/>
                  </a:moveTo>
                  <a:lnTo>
                    <a:pt x="11" y="2199"/>
                  </a:lnTo>
                  <a:lnTo>
                    <a:pt x="0" y="2199"/>
                  </a:lnTo>
                  <a:lnTo>
                    <a:pt x="0" y="2188"/>
                  </a:lnTo>
                  <a:lnTo>
                    <a:pt x="11" y="2188"/>
                  </a:lnTo>
                  <a:close/>
                  <a:moveTo>
                    <a:pt x="11" y="2210"/>
                  </a:moveTo>
                  <a:lnTo>
                    <a:pt x="11" y="2220"/>
                  </a:lnTo>
                  <a:lnTo>
                    <a:pt x="0" y="2220"/>
                  </a:lnTo>
                  <a:lnTo>
                    <a:pt x="0" y="2210"/>
                  </a:lnTo>
                  <a:lnTo>
                    <a:pt x="11" y="2210"/>
                  </a:lnTo>
                  <a:close/>
                  <a:moveTo>
                    <a:pt x="11" y="2231"/>
                  </a:moveTo>
                  <a:lnTo>
                    <a:pt x="11" y="2242"/>
                  </a:lnTo>
                  <a:lnTo>
                    <a:pt x="0" y="2242"/>
                  </a:lnTo>
                  <a:lnTo>
                    <a:pt x="0" y="2231"/>
                  </a:lnTo>
                  <a:lnTo>
                    <a:pt x="11" y="2231"/>
                  </a:lnTo>
                  <a:close/>
                  <a:moveTo>
                    <a:pt x="11" y="2253"/>
                  </a:moveTo>
                  <a:lnTo>
                    <a:pt x="11" y="2263"/>
                  </a:lnTo>
                  <a:lnTo>
                    <a:pt x="0" y="2263"/>
                  </a:lnTo>
                  <a:lnTo>
                    <a:pt x="0" y="2253"/>
                  </a:lnTo>
                  <a:lnTo>
                    <a:pt x="11" y="2253"/>
                  </a:lnTo>
                  <a:close/>
                  <a:moveTo>
                    <a:pt x="11" y="2274"/>
                  </a:moveTo>
                  <a:lnTo>
                    <a:pt x="11" y="2285"/>
                  </a:lnTo>
                  <a:lnTo>
                    <a:pt x="0" y="2285"/>
                  </a:lnTo>
                  <a:lnTo>
                    <a:pt x="0" y="2274"/>
                  </a:lnTo>
                  <a:lnTo>
                    <a:pt x="11" y="2274"/>
                  </a:lnTo>
                  <a:close/>
                </a:path>
              </a:pathLst>
            </a:custGeom>
            <a:solidFill>
              <a:srgbClr val="000000"/>
            </a:solidFill>
            <a:ln w="0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3" name="Freeform 87">
              <a:extLst>
                <a:ext uri="{FF2B5EF4-FFF2-40B4-BE49-F238E27FC236}">
                  <a16:creationId xmlns:a16="http://schemas.microsoft.com/office/drawing/2014/main" id="{D29DE8BC-6238-405C-AC91-74FB281999C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249" y="1946"/>
              <a:ext cx="11" cy="2284"/>
            </a:xfrm>
            <a:custGeom>
              <a:avLst/>
              <a:gdLst>
                <a:gd name="T0" fmla="*/ 0 w 11"/>
                <a:gd name="T1" fmla="*/ 21 h 2284"/>
                <a:gd name="T2" fmla="*/ 0 w 11"/>
                <a:gd name="T3" fmla="*/ 75 h 2284"/>
                <a:gd name="T4" fmla="*/ 11 w 11"/>
                <a:gd name="T5" fmla="*/ 118 h 2284"/>
                <a:gd name="T6" fmla="*/ 11 w 11"/>
                <a:gd name="T7" fmla="*/ 150 h 2284"/>
                <a:gd name="T8" fmla="*/ 11 w 11"/>
                <a:gd name="T9" fmla="*/ 171 h 2284"/>
                <a:gd name="T10" fmla="*/ 0 w 11"/>
                <a:gd name="T11" fmla="*/ 214 h 2284"/>
                <a:gd name="T12" fmla="*/ 0 w 11"/>
                <a:gd name="T13" fmla="*/ 268 h 2284"/>
                <a:gd name="T14" fmla="*/ 11 w 11"/>
                <a:gd name="T15" fmla="*/ 311 h 2284"/>
                <a:gd name="T16" fmla="*/ 11 w 11"/>
                <a:gd name="T17" fmla="*/ 343 h 2284"/>
                <a:gd name="T18" fmla="*/ 11 w 11"/>
                <a:gd name="T19" fmla="*/ 364 h 2284"/>
                <a:gd name="T20" fmla="*/ 0 w 11"/>
                <a:gd name="T21" fmla="*/ 407 h 2284"/>
                <a:gd name="T22" fmla="*/ 0 w 11"/>
                <a:gd name="T23" fmla="*/ 461 h 2284"/>
                <a:gd name="T24" fmla="*/ 11 w 11"/>
                <a:gd name="T25" fmla="*/ 504 h 2284"/>
                <a:gd name="T26" fmla="*/ 11 w 11"/>
                <a:gd name="T27" fmla="*/ 536 h 2284"/>
                <a:gd name="T28" fmla="*/ 11 w 11"/>
                <a:gd name="T29" fmla="*/ 557 h 2284"/>
                <a:gd name="T30" fmla="*/ 0 w 11"/>
                <a:gd name="T31" fmla="*/ 600 h 2284"/>
                <a:gd name="T32" fmla="*/ 0 w 11"/>
                <a:gd name="T33" fmla="*/ 654 h 2284"/>
                <a:gd name="T34" fmla="*/ 11 w 11"/>
                <a:gd name="T35" fmla="*/ 697 h 2284"/>
                <a:gd name="T36" fmla="*/ 11 w 11"/>
                <a:gd name="T37" fmla="*/ 729 h 2284"/>
                <a:gd name="T38" fmla="*/ 11 w 11"/>
                <a:gd name="T39" fmla="*/ 750 h 2284"/>
                <a:gd name="T40" fmla="*/ 0 w 11"/>
                <a:gd name="T41" fmla="*/ 793 h 2284"/>
                <a:gd name="T42" fmla="*/ 0 w 11"/>
                <a:gd name="T43" fmla="*/ 847 h 2284"/>
                <a:gd name="T44" fmla="*/ 11 w 11"/>
                <a:gd name="T45" fmla="*/ 890 h 2284"/>
                <a:gd name="T46" fmla="*/ 11 w 11"/>
                <a:gd name="T47" fmla="*/ 922 h 2284"/>
                <a:gd name="T48" fmla="*/ 11 w 11"/>
                <a:gd name="T49" fmla="*/ 943 h 2284"/>
                <a:gd name="T50" fmla="*/ 0 w 11"/>
                <a:gd name="T51" fmla="*/ 986 h 2284"/>
                <a:gd name="T52" fmla="*/ 0 w 11"/>
                <a:gd name="T53" fmla="*/ 1040 h 2284"/>
                <a:gd name="T54" fmla="*/ 11 w 11"/>
                <a:gd name="T55" fmla="*/ 1083 h 2284"/>
                <a:gd name="T56" fmla="*/ 11 w 11"/>
                <a:gd name="T57" fmla="*/ 1115 h 2284"/>
                <a:gd name="T58" fmla="*/ 11 w 11"/>
                <a:gd name="T59" fmla="*/ 1136 h 2284"/>
                <a:gd name="T60" fmla="*/ 0 w 11"/>
                <a:gd name="T61" fmla="*/ 1179 h 2284"/>
                <a:gd name="T62" fmla="*/ 0 w 11"/>
                <a:gd name="T63" fmla="*/ 1233 h 2284"/>
                <a:gd name="T64" fmla="*/ 11 w 11"/>
                <a:gd name="T65" fmla="*/ 1276 h 2284"/>
                <a:gd name="T66" fmla="*/ 11 w 11"/>
                <a:gd name="T67" fmla="*/ 1308 h 2284"/>
                <a:gd name="T68" fmla="*/ 11 w 11"/>
                <a:gd name="T69" fmla="*/ 1330 h 2284"/>
                <a:gd name="T70" fmla="*/ 0 w 11"/>
                <a:gd name="T71" fmla="*/ 1373 h 2284"/>
                <a:gd name="T72" fmla="*/ 0 w 11"/>
                <a:gd name="T73" fmla="*/ 1426 h 2284"/>
                <a:gd name="T74" fmla="*/ 11 w 11"/>
                <a:gd name="T75" fmla="*/ 1469 h 2284"/>
                <a:gd name="T76" fmla="*/ 11 w 11"/>
                <a:gd name="T77" fmla="*/ 1501 h 2284"/>
                <a:gd name="T78" fmla="*/ 11 w 11"/>
                <a:gd name="T79" fmla="*/ 1523 h 2284"/>
                <a:gd name="T80" fmla="*/ 0 w 11"/>
                <a:gd name="T81" fmla="*/ 1566 h 2284"/>
                <a:gd name="T82" fmla="*/ 0 w 11"/>
                <a:gd name="T83" fmla="*/ 1619 h 2284"/>
                <a:gd name="T84" fmla="*/ 11 w 11"/>
                <a:gd name="T85" fmla="*/ 1662 h 2284"/>
                <a:gd name="T86" fmla="*/ 11 w 11"/>
                <a:gd name="T87" fmla="*/ 1694 h 2284"/>
                <a:gd name="T88" fmla="*/ 11 w 11"/>
                <a:gd name="T89" fmla="*/ 1716 h 2284"/>
                <a:gd name="T90" fmla="*/ 0 w 11"/>
                <a:gd name="T91" fmla="*/ 1759 h 2284"/>
                <a:gd name="T92" fmla="*/ 0 w 11"/>
                <a:gd name="T93" fmla="*/ 1812 h 2284"/>
                <a:gd name="T94" fmla="*/ 11 w 11"/>
                <a:gd name="T95" fmla="*/ 1855 h 2284"/>
                <a:gd name="T96" fmla="*/ 11 w 11"/>
                <a:gd name="T97" fmla="*/ 1887 h 2284"/>
                <a:gd name="T98" fmla="*/ 11 w 11"/>
                <a:gd name="T99" fmla="*/ 1909 h 2284"/>
                <a:gd name="T100" fmla="*/ 0 w 11"/>
                <a:gd name="T101" fmla="*/ 1952 h 2284"/>
                <a:gd name="T102" fmla="*/ 0 w 11"/>
                <a:gd name="T103" fmla="*/ 2005 h 2284"/>
                <a:gd name="T104" fmla="*/ 11 w 11"/>
                <a:gd name="T105" fmla="*/ 2048 h 2284"/>
                <a:gd name="T106" fmla="*/ 11 w 11"/>
                <a:gd name="T107" fmla="*/ 2080 h 2284"/>
                <a:gd name="T108" fmla="*/ 11 w 11"/>
                <a:gd name="T109" fmla="*/ 2102 h 2284"/>
                <a:gd name="T110" fmla="*/ 0 w 11"/>
                <a:gd name="T111" fmla="*/ 2145 h 2284"/>
                <a:gd name="T112" fmla="*/ 0 w 11"/>
                <a:gd name="T113" fmla="*/ 2198 h 2284"/>
                <a:gd name="T114" fmla="*/ 11 w 11"/>
                <a:gd name="T115" fmla="*/ 2241 h 2284"/>
                <a:gd name="T116" fmla="*/ 11 w 11"/>
                <a:gd name="T117" fmla="*/ 2273 h 22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1" h="2284">
                  <a:moveTo>
                    <a:pt x="11" y="0"/>
                  </a:moveTo>
                  <a:lnTo>
                    <a:pt x="11" y="10"/>
                  </a:lnTo>
                  <a:lnTo>
                    <a:pt x="0" y="10"/>
                  </a:lnTo>
                  <a:lnTo>
                    <a:pt x="0" y="0"/>
                  </a:lnTo>
                  <a:lnTo>
                    <a:pt x="11" y="0"/>
                  </a:lnTo>
                  <a:close/>
                  <a:moveTo>
                    <a:pt x="11" y="21"/>
                  </a:moveTo>
                  <a:lnTo>
                    <a:pt x="11" y="32"/>
                  </a:lnTo>
                  <a:lnTo>
                    <a:pt x="0" y="32"/>
                  </a:lnTo>
                  <a:lnTo>
                    <a:pt x="0" y="21"/>
                  </a:lnTo>
                  <a:lnTo>
                    <a:pt x="11" y="21"/>
                  </a:lnTo>
                  <a:close/>
                  <a:moveTo>
                    <a:pt x="11" y="43"/>
                  </a:moveTo>
                  <a:lnTo>
                    <a:pt x="11" y="53"/>
                  </a:lnTo>
                  <a:lnTo>
                    <a:pt x="0" y="53"/>
                  </a:lnTo>
                  <a:lnTo>
                    <a:pt x="0" y="43"/>
                  </a:lnTo>
                  <a:lnTo>
                    <a:pt x="11" y="43"/>
                  </a:lnTo>
                  <a:close/>
                  <a:moveTo>
                    <a:pt x="11" y="64"/>
                  </a:moveTo>
                  <a:lnTo>
                    <a:pt x="11" y="75"/>
                  </a:lnTo>
                  <a:lnTo>
                    <a:pt x="0" y="75"/>
                  </a:lnTo>
                  <a:lnTo>
                    <a:pt x="0" y="64"/>
                  </a:lnTo>
                  <a:lnTo>
                    <a:pt x="11" y="64"/>
                  </a:lnTo>
                  <a:close/>
                  <a:moveTo>
                    <a:pt x="11" y="86"/>
                  </a:moveTo>
                  <a:lnTo>
                    <a:pt x="11" y="96"/>
                  </a:lnTo>
                  <a:lnTo>
                    <a:pt x="0" y="96"/>
                  </a:lnTo>
                  <a:lnTo>
                    <a:pt x="0" y="86"/>
                  </a:lnTo>
                  <a:lnTo>
                    <a:pt x="11" y="86"/>
                  </a:lnTo>
                  <a:close/>
                  <a:moveTo>
                    <a:pt x="11" y="107"/>
                  </a:moveTo>
                  <a:lnTo>
                    <a:pt x="11" y="118"/>
                  </a:lnTo>
                  <a:lnTo>
                    <a:pt x="0" y="118"/>
                  </a:lnTo>
                  <a:lnTo>
                    <a:pt x="0" y="107"/>
                  </a:lnTo>
                  <a:lnTo>
                    <a:pt x="11" y="107"/>
                  </a:lnTo>
                  <a:close/>
                  <a:moveTo>
                    <a:pt x="11" y="128"/>
                  </a:moveTo>
                  <a:lnTo>
                    <a:pt x="11" y="139"/>
                  </a:lnTo>
                  <a:lnTo>
                    <a:pt x="0" y="139"/>
                  </a:lnTo>
                  <a:lnTo>
                    <a:pt x="0" y="128"/>
                  </a:lnTo>
                  <a:lnTo>
                    <a:pt x="11" y="128"/>
                  </a:lnTo>
                  <a:close/>
                  <a:moveTo>
                    <a:pt x="11" y="150"/>
                  </a:moveTo>
                  <a:lnTo>
                    <a:pt x="11" y="160"/>
                  </a:lnTo>
                  <a:lnTo>
                    <a:pt x="0" y="160"/>
                  </a:lnTo>
                  <a:lnTo>
                    <a:pt x="0" y="150"/>
                  </a:lnTo>
                  <a:lnTo>
                    <a:pt x="11" y="150"/>
                  </a:lnTo>
                  <a:close/>
                  <a:moveTo>
                    <a:pt x="11" y="171"/>
                  </a:moveTo>
                  <a:lnTo>
                    <a:pt x="11" y="182"/>
                  </a:lnTo>
                  <a:lnTo>
                    <a:pt x="0" y="182"/>
                  </a:lnTo>
                  <a:lnTo>
                    <a:pt x="0" y="171"/>
                  </a:lnTo>
                  <a:lnTo>
                    <a:pt x="11" y="171"/>
                  </a:lnTo>
                  <a:close/>
                  <a:moveTo>
                    <a:pt x="11" y="193"/>
                  </a:moveTo>
                  <a:lnTo>
                    <a:pt x="11" y="203"/>
                  </a:lnTo>
                  <a:lnTo>
                    <a:pt x="0" y="203"/>
                  </a:lnTo>
                  <a:lnTo>
                    <a:pt x="0" y="193"/>
                  </a:lnTo>
                  <a:lnTo>
                    <a:pt x="11" y="193"/>
                  </a:lnTo>
                  <a:close/>
                  <a:moveTo>
                    <a:pt x="11" y="214"/>
                  </a:moveTo>
                  <a:lnTo>
                    <a:pt x="11" y="225"/>
                  </a:lnTo>
                  <a:lnTo>
                    <a:pt x="0" y="225"/>
                  </a:lnTo>
                  <a:lnTo>
                    <a:pt x="0" y="214"/>
                  </a:lnTo>
                  <a:lnTo>
                    <a:pt x="11" y="214"/>
                  </a:lnTo>
                  <a:close/>
                  <a:moveTo>
                    <a:pt x="11" y="236"/>
                  </a:moveTo>
                  <a:lnTo>
                    <a:pt x="11" y="246"/>
                  </a:lnTo>
                  <a:lnTo>
                    <a:pt x="0" y="246"/>
                  </a:lnTo>
                  <a:lnTo>
                    <a:pt x="0" y="236"/>
                  </a:lnTo>
                  <a:lnTo>
                    <a:pt x="11" y="236"/>
                  </a:lnTo>
                  <a:close/>
                  <a:moveTo>
                    <a:pt x="11" y="257"/>
                  </a:moveTo>
                  <a:lnTo>
                    <a:pt x="11" y="268"/>
                  </a:lnTo>
                  <a:lnTo>
                    <a:pt x="0" y="268"/>
                  </a:lnTo>
                  <a:lnTo>
                    <a:pt x="0" y="257"/>
                  </a:lnTo>
                  <a:lnTo>
                    <a:pt x="11" y="257"/>
                  </a:lnTo>
                  <a:close/>
                  <a:moveTo>
                    <a:pt x="11" y="279"/>
                  </a:moveTo>
                  <a:lnTo>
                    <a:pt x="11" y="289"/>
                  </a:lnTo>
                  <a:lnTo>
                    <a:pt x="0" y="289"/>
                  </a:lnTo>
                  <a:lnTo>
                    <a:pt x="0" y="279"/>
                  </a:lnTo>
                  <a:lnTo>
                    <a:pt x="11" y="279"/>
                  </a:lnTo>
                  <a:close/>
                  <a:moveTo>
                    <a:pt x="11" y="300"/>
                  </a:moveTo>
                  <a:lnTo>
                    <a:pt x="11" y="311"/>
                  </a:lnTo>
                  <a:lnTo>
                    <a:pt x="0" y="311"/>
                  </a:lnTo>
                  <a:lnTo>
                    <a:pt x="0" y="300"/>
                  </a:lnTo>
                  <a:lnTo>
                    <a:pt x="11" y="300"/>
                  </a:lnTo>
                  <a:close/>
                  <a:moveTo>
                    <a:pt x="11" y="321"/>
                  </a:moveTo>
                  <a:lnTo>
                    <a:pt x="11" y="332"/>
                  </a:lnTo>
                  <a:lnTo>
                    <a:pt x="0" y="332"/>
                  </a:lnTo>
                  <a:lnTo>
                    <a:pt x="0" y="321"/>
                  </a:lnTo>
                  <a:lnTo>
                    <a:pt x="11" y="321"/>
                  </a:lnTo>
                  <a:close/>
                  <a:moveTo>
                    <a:pt x="11" y="343"/>
                  </a:moveTo>
                  <a:lnTo>
                    <a:pt x="11" y="353"/>
                  </a:lnTo>
                  <a:lnTo>
                    <a:pt x="0" y="353"/>
                  </a:lnTo>
                  <a:lnTo>
                    <a:pt x="0" y="343"/>
                  </a:lnTo>
                  <a:lnTo>
                    <a:pt x="11" y="343"/>
                  </a:lnTo>
                  <a:close/>
                  <a:moveTo>
                    <a:pt x="11" y="364"/>
                  </a:moveTo>
                  <a:lnTo>
                    <a:pt x="11" y="375"/>
                  </a:lnTo>
                  <a:lnTo>
                    <a:pt x="0" y="375"/>
                  </a:lnTo>
                  <a:lnTo>
                    <a:pt x="0" y="364"/>
                  </a:lnTo>
                  <a:lnTo>
                    <a:pt x="11" y="364"/>
                  </a:lnTo>
                  <a:close/>
                  <a:moveTo>
                    <a:pt x="11" y="386"/>
                  </a:moveTo>
                  <a:lnTo>
                    <a:pt x="11" y="396"/>
                  </a:lnTo>
                  <a:lnTo>
                    <a:pt x="0" y="396"/>
                  </a:lnTo>
                  <a:lnTo>
                    <a:pt x="0" y="386"/>
                  </a:lnTo>
                  <a:lnTo>
                    <a:pt x="11" y="386"/>
                  </a:lnTo>
                  <a:close/>
                  <a:moveTo>
                    <a:pt x="11" y="407"/>
                  </a:moveTo>
                  <a:lnTo>
                    <a:pt x="11" y="418"/>
                  </a:lnTo>
                  <a:lnTo>
                    <a:pt x="0" y="418"/>
                  </a:lnTo>
                  <a:lnTo>
                    <a:pt x="0" y="407"/>
                  </a:lnTo>
                  <a:lnTo>
                    <a:pt x="11" y="407"/>
                  </a:lnTo>
                  <a:close/>
                  <a:moveTo>
                    <a:pt x="11" y="429"/>
                  </a:moveTo>
                  <a:lnTo>
                    <a:pt x="11" y="439"/>
                  </a:lnTo>
                  <a:lnTo>
                    <a:pt x="0" y="439"/>
                  </a:lnTo>
                  <a:lnTo>
                    <a:pt x="0" y="429"/>
                  </a:lnTo>
                  <a:lnTo>
                    <a:pt x="11" y="429"/>
                  </a:lnTo>
                  <a:close/>
                  <a:moveTo>
                    <a:pt x="11" y="450"/>
                  </a:moveTo>
                  <a:lnTo>
                    <a:pt x="11" y="461"/>
                  </a:lnTo>
                  <a:lnTo>
                    <a:pt x="0" y="461"/>
                  </a:lnTo>
                  <a:lnTo>
                    <a:pt x="0" y="450"/>
                  </a:lnTo>
                  <a:lnTo>
                    <a:pt x="11" y="450"/>
                  </a:lnTo>
                  <a:close/>
                  <a:moveTo>
                    <a:pt x="11" y="472"/>
                  </a:moveTo>
                  <a:lnTo>
                    <a:pt x="11" y="482"/>
                  </a:lnTo>
                  <a:lnTo>
                    <a:pt x="0" y="482"/>
                  </a:lnTo>
                  <a:lnTo>
                    <a:pt x="0" y="472"/>
                  </a:lnTo>
                  <a:lnTo>
                    <a:pt x="11" y="472"/>
                  </a:lnTo>
                  <a:close/>
                  <a:moveTo>
                    <a:pt x="11" y="493"/>
                  </a:moveTo>
                  <a:lnTo>
                    <a:pt x="11" y="504"/>
                  </a:lnTo>
                  <a:lnTo>
                    <a:pt x="0" y="504"/>
                  </a:lnTo>
                  <a:lnTo>
                    <a:pt x="0" y="493"/>
                  </a:lnTo>
                  <a:lnTo>
                    <a:pt x="11" y="493"/>
                  </a:lnTo>
                  <a:close/>
                  <a:moveTo>
                    <a:pt x="11" y="514"/>
                  </a:moveTo>
                  <a:lnTo>
                    <a:pt x="11" y="525"/>
                  </a:lnTo>
                  <a:lnTo>
                    <a:pt x="0" y="525"/>
                  </a:lnTo>
                  <a:lnTo>
                    <a:pt x="0" y="514"/>
                  </a:lnTo>
                  <a:lnTo>
                    <a:pt x="11" y="514"/>
                  </a:lnTo>
                  <a:close/>
                  <a:moveTo>
                    <a:pt x="11" y="536"/>
                  </a:moveTo>
                  <a:lnTo>
                    <a:pt x="11" y="547"/>
                  </a:lnTo>
                  <a:lnTo>
                    <a:pt x="0" y="547"/>
                  </a:lnTo>
                  <a:lnTo>
                    <a:pt x="0" y="536"/>
                  </a:lnTo>
                  <a:lnTo>
                    <a:pt x="11" y="536"/>
                  </a:lnTo>
                  <a:close/>
                  <a:moveTo>
                    <a:pt x="11" y="557"/>
                  </a:moveTo>
                  <a:lnTo>
                    <a:pt x="11" y="568"/>
                  </a:lnTo>
                  <a:lnTo>
                    <a:pt x="0" y="568"/>
                  </a:lnTo>
                  <a:lnTo>
                    <a:pt x="0" y="557"/>
                  </a:lnTo>
                  <a:lnTo>
                    <a:pt x="11" y="557"/>
                  </a:lnTo>
                  <a:close/>
                  <a:moveTo>
                    <a:pt x="11" y="579"/>
                  </a:moveTo>
                  <a:lnTo>
                    <a:pt x="11" y="590"/>
                  </a:lnTo>
                  <a:lnTo>
                    <a:pt x="0" y="590"/>
                  </a:lnTo>
                  <a:lnTo>
                    <a:pt x="0" y="579"/>
                  </a:lnTo>
                  <a:lnTo>
                    <a:pt x="11" y="579"/>
                  </a:lnTo>
                  <a:close/>
                  <a:moveTo>
                    <a:pt x="11" y="600"/>
                  </a:moveTo>
                  <a:lnTo>
                    <a:pt x="11" y="611"/>
                  </a:lnTo>
                  <a:lnTo>
                    <a:pt x="0" y="611"/>
                  </a:lnTo>
                  <a:lnTo>
                    <a:pt x="0" y="600"/>
                  </a:lnTo>
                  <a:lnTo>
                    <a:pt x="11" y="600"/>
                  </a:lnTo>
                  <a:close/>
                  <a:moveTo>
                    <a:pt x="11" y="622"/>
                  </a:moveTo>
                  <a:lnTo>
                    <a:pt x="11" y="632"/>
                  </a:lnTo>
                  <a:lnTo>
                    <a:pt x="0" y="632"/>
                  </a:lnTo>
                  <a:lnTo>
                    <a:pt x="0" y="622"/>
                  </a:lnTo>
                  <a:lnTo>
                    <a:pt x="11" y="622"/>
                  </a:lnTo>
                  <a:close/>
                  <a:moveTo>
                    <a:pt x="11" y="643"/>
                  </a:moveTo>
                  <a:lnTo>
                    <a:pt x="11" y="654"/>
                  </a:lnTo>
                  <a:lnTo>
                    <a:pt x="0" y="654"/>
                  </a:lnTo>
                  <a:lnTo>
                    <a:pt x="0" y="643"/>
                  </a:lnTo>
                  <a:lnTo>
                    <a:pt x="11" y="643"/>
                  </a:lnTo>
                  <a:close/>
                  <a:moveTo>
                    <a:pt x="11" y="665"/>
                  </a:moveTo>
                  <a:lnTo>
                    <a:pt x="11" y="675"/>
                  </a:lnTo>
                  <a:lnTo>
                    <a:pt x="0" y="675"/>
                  </a:lnTo>
                  <a:lnTo>
                    <a:pt x="0" y="665"/>
                  </a:lnTo>
                  <a:lnTo>
                    <a:pt x="11" y="665"/>
                  </a:lnTo>
                  <a:close/>
                  <a:moveTo>
                    <a:pt x="11" y="686"/>
                  </a:moveTo>
                  <a:lnTo>
                    <a:pt x="11" y="697"/>
                  </a:lnTo>
                  <a:lnTo>
                    <a:pt x="0" y="697"/>
                  </a:lnTo>
                  <a:lnTo>
                    <a:pt x="0" y="686"/>
                  </a:lnTo>
                  <a:lnTo>
                    <a:pt x="11" y="686"/>
                  </a:lnTo>
                  <a:close/>
                  <a:moveTo>
                    <a:pt x="11" y="707"/>
                  </a:moveTo>
                  <a:lnTo>
                    <a:pt x="11" y="718"/>
                  </a:lnTo>
                  <a:lnTo>
                    <a:pt x="0" y="718"/>
                  </a:lnTo>
                  <a:lnTo>
                    <a:pt x="0" y="707"/>
                  </a:lnTo>
                  <a:lnTo>
                    <a:pt x="11" y="707"/>
                  </a:lnTo>
                  <a:close/>
                  <a:moveTo>
                    <a:pt x="11" y="729"/>
                  </a:moveTo>
                  <a:lnTo>
                    <a:pt x="11" y="740"/>
                  </a:lnTo>
                  <a:lnTo>
                    <a:pt x="0" y="740"/>
                  </a:lnTo>
                  <a:lnTo>
                    <a:pt x="0" y="729"/>
                  </a:lnTo>
                  <a:lnTo>
                    <a:pt x="11" y="729"/>
                  </a:lnTo>
                  <a:close/>
                  <a:moveTo>
                    <a:pt x="11" y="750"/>
                  </a:moveTo>
                  <a:lnTo>
                    <a:pt x="11" y="761"/>
                  </a:lnTo>
                  <a:lnTo>
                    <a:pt x="0" y="761"/>
                  </a:lnTo>
                  <a:lnTo>
                    <a:pt x="0" y="750"/>
                  </a:lnTo>
                  <a:lnTo>
                    <a:pt x="11" y="750"/>
                  </a:lnTo>
                  <a:close/>
                  <a:moveTo>
                    <a:pt x="11" y="772"/>
                  </a:moveTo>
                  <a:lnTo>
                    <a:pt x="11" y="783"/>
                  </a:lnTo>
                  <a:lnTo>
                    <a:pt x="0" y="783"/>
                  </a:lnTo>
                  <a:lnTo>
                    <a:pt x="0" y="772"/>
                  </a:lnTo>
                  <a:lnTo>
                    <a:pt x="11" y="772"/>
                  </a:lnTo>
                  <a:close/>
                  <a:moveTo>
                    <a:pt x="11" y="793"/>
                  </a:moveTo>
                  <a:lnTo>
                    <a:pt x="11" y="804"/>
                  </a:lnTo>
                  <a:lnTo>
                    <a:pt x="0" y="804"/>
                  </a:lnTo>
                  <a:lnTo>
                    <a:pt x="0" y="793"/>
                  </a:lnTo>
                  <a:lnTo>
                    <a:pt x="11" y="793"/>
                  </a:lnTo>
                  <a:close/>
                  <a:moveTo>
                    <a:pt x="11" y="815"/>
                  </a:moveTo>
                  <a:lnTo>
                    <a:pt x="11" y="826"/>
                  </a:lnTo>
                  <a:lnTo>
                    <a:pt x="0" y="826"/>
                  </a:lnTo>
                  <a:lnTo>
                    <a:pt x="0" y="815"/>
                  </a:lnTo>
                  <a:lnTo>
                    <a:pt x="11" y="815"/>
                  </a:lnTo>
                  <a:close/>
                  <a:moveTo>
                    <a:pt x="11" y="836"/>
                  </a:moveTo>
                  <a:lnTo>
                    <a:pt x="11" y="847"/>
                  </a:lnTo>
                  <a:lnTo>
                    <a:pt x="0" y="847"/>
                  </a:lnTo>
                  <a:lnTo>
                    <a:pt x="0" y="836"/>
                  </a:lnTo>
                  <a:lnTo>
                    <a:pt x="11" y="836"/>
                  </a:lnTo>
                  <a:close/>
                  <a:moveTo>
                    <a:pt x="11" y="858"/>
                  </a:moveTo>
                  <a:lnTo>
                    <a:pt x="11" y="868"/>
                  </a:lnTo>
                  <a:lnTo>
                    <a:pt x="0" y="868"/>
                  </a:lnTo>
                  <a:lnTo>
                    <a:pt x="0" y="858"/>
                  </a:lnTo>
                  <a:lnTo>
                    <a:pt x="11" y="858"/>
                  </a:lnTo>
                  <a:close/>
                  <a:moveTo>
                    <a:pt x="11" y="879"/>
                  </a:moveTo>
                  <a:lnTo>
                    <a:pt x="11" y="890"/>
                  </a:lnTo>
                  <a:lnTo>
                    <a:pt x="0" y="890"/>
                  </a:lnTo>
                  <a:lnTo>
                    <a:pt x="0" y="879"/>
                  </a:lnTo>
                  <a:lnTo>
                    <a:pt x="11" y="879"/>
                  </a:lnTo>
                  <a:close/>
                  <a:moveTo>
                    <a:pt x="11" y="900"/>
                  </a:moveTo>
                  <a:lnTo>
                    <a:pt x="11" y="911"/>
                  </a:lnTo>
                  <a:lnTo>
                    <a:pt x="0" y="911"/>
                  </a:lnTo>
                  <a:lnTo>
                    <a:pt x="0" y="900"/>
                  </a:lnTo>
                  <a:lnTo>
                    <a:pt x="11" y="900"/>
                  </a:lnTo>
                  <a:close/>
                  <a:moveTo>
                    <a:pt x="11" y="922"/>
                  </a:moveTo>
                  <a:lnTo>
                    <a:pt x="11" y="933"/>
                  </a:lnTo>
                  <a:lnTo>
                    <a:pt x="0" y="933"/>
                  </a:lnTo>
                  <a:lnTo>
                    <a:pt x="0" y="922"/>
                  </a:lnTo>
                  <a:lnTo>
                    <a:pt x="11" y="922"/>
                  </a:lnTo>
                  <a:close/>
                  <a:moveTo>
                    <a:pt x="11" y="943"/>
                  </a:moveTo>
                  <a:lnTo>
                    <a:pt x="11" y="954"/>
                  </a:lnTo>
                  <a:lnTo>
                    <a:pt x="0" y="954"/>
                  </a:lnTo>
                  <a:lnTo>
                    <a:pt x="0" y="943"/>
                  </a:lnTo>
                  <a:lnTo>
                    <a:pt x="11" y="943"/>
                  </a:lnTo>
                  <a:close/>
                  <a:moveTo>
                    <a:pt x="11" y="965"/>
                  </a:moveTo>
                  <a:lnTo>
                    <a:pt x="11" y="976"/>
                  </a:lnTo>
                  <a:lnTo>
                    <a:pt x="0" y="976"/>
                  </a:lnTo>
                  <a:lnTo>
                    <a:pt x="0" y="965"/>
                  </a:lnTo>
                  <a:lnTo>
                    <a:pt x="11" y="965"/>
                  </a:lnTo>
                  <a:close/>
                  <a:moveTo>
                    <a:pt x="11" y="986"/>
                  </a:moveTo>
                  <a:lnTo>
                    <a:pt x="11" y="997"/>
                  </a:lnTo>
                  <a:lnTo>
                    <a:pt x="0" y="997"/>
                  </a:lnTo>
                  <a:lnTo>
                    <a:pt x="0" y="986"/>
                  </a:lnTo>
                  <a:lnTo>
                    <a:pt x="11" y="986"/>
                  </a:lnTo>
                  <a:close/>
                  <a:moveTo>
                    <a:pt x="11" y="1008"/>
                  </a:moveTo>
                  <a:lnTo>
                    <a:pt x="11" y="1019"/>
                  </a:lnTo>
                  <a:lnTo>
                    <a:pt x="0" y="1019"/>
                  </a:lnTo>
                  <a:lnTo>
                    <a:pt x="0" y="1008"/>
                  </a:lnTo>
                  <a:lnTo>
                    <a:pt x="11" y="1008"/>
                  </a:lnTo>
                  <a:close/>
                  <a:moveTo>
                    <a:pt x="11" y="1029"/>
                  </a:moveTo>
                  <a:lnTo>
                    <a:pt x="11" y="1040"/>
                  </a:lnTo>
                  <a:lnTo>
                    <a:pt x="0" y="1040"/>
                  </a:lnTo>
                  <a:lnTo>
                    <a:pt x="0" y="1029"/>
                  </a:lnTo>
                  <a:lnTo>
                    <a:pt x="11" y="1029"/>
                  </a:lnTo>
                  <a:close/>
                  <a:moveTo>
                    <a:pt x="11" y="1051"/>
                  </a:moveTo>
                  <a:lnTo>
                    <a:pt x="11" y="1061"/>
                  </a:lnTo>
                  <a:lnTo>
                    <a:pt x="0" y="1061"/>
                  </a:lnTo>
                  <a:lnTo>
                    <a:pt x="0" y="1051"/>
                  </a:lnTo>
                  <a:lnTo>
                    <a:pt x="11" y="1051"/>
                  </a:lnTo>
                  <a:close/>
                  <a:moveTo>
                    <a:pt x="11" y="1072"/>
                  </a:moveTo>
                  <a:lnTo>
                    <a:pt x="11" y="1083"/>
                  </a:lnTo>
                  <a:lnTo>
                    <a:pt x="0" y="1083"/>
                  </a:lnTo>
                  <a:lnTo>
                    <a:pt x="0" y="1072"/>
                  </a:lnTo>
                  <a:lnTo>
                    <a:pt x="11" y="1072"/>
                  </a:lnTo>
                  <a:close/>
                  <a:moveTo>
                    <a:pt x="11" y="1094"/>
                  </a:moveTo>
                  <a:lnTo>
                    <a:pt x="11" y="1104"/>
                  </a:lnTo>
                  <a:lnTo>
                    <a:pt x="0" y="1104"/>
                  </a:lnTo>
                  <a:lnTo>
                    <a:pt x="0" y="1094"/>
                  </a:lnTo>
                  <a:lnTo>
                    <a:pt x="11" y="1094"/>
                  </a:lnTo>
                  <a:close/>
                  <a:moveTo>
                    <a:pt x="11" y="1115"/>
                  </a:moveTo>
                  <a:lnTo>
                    <a:pt x="11" y="1126"/>
                  </a:lnTo>
                  <a:lnTo>
                    <a:pt x="0" y="1126"/>
                  </a:lnTo>
                  <a:lnTo>
                    <a:pt x="0" y="1115"/>
                  </a:lnTo>
                  <a:lnTo>
                    <a:pt x="11" y="1115"/>
                  </a:lnTo>
                  <a:close/>
                  <a:moveTo>
                    <a:pt x="11" y="1136"/>
                  </a:moveTo>
                  <a:lnTo>
                    <a:pt x="11" y="1147"/>
                  </a:lnTo>
                  <a:lnTo>
                    <a:pt x="0" y="1147"/>
                  </a:lnTo>
                  <a:lnTo>
                    <a:pt x="0" y="1136"/>
                  </a:lnTo>
                  <a:lnTo>
                    <a:pt x="11" y="1136"/>
                  </a:lnTo>
                  <a:close/>
                  <a:moveTo>
                    <a:pt x="11" y="1158"/>
                  </a:moveTo>
                  <a:lnTo>
                    <a:pt x="11" y="1169"/>
                  </a:lnTo>
                  <a:lnTo>
                    <a:pt x="0" y="1169"/>
                  </a:lnTo>
                  <a:lnTo>
                    <a:pt x="0" y="1158"/>
                  </a:lnTo>
                  <a:lnTo>
                    <a:pt x="11" y="1158"/>
                  </a:lnTo>
                  <a:close/>
                  <a:moveTo>
                    <a:pt x="11" y="1179"/>
                  </a:moveTo>
                  <a:lnTo>
                    <a:pt x="11" y="1190"/>
                  </a:lnTo>
                  <a:lnTo>
                    <a:pt x="0" y="1190"/>
                  </a:lnTo>
                  <a:lnTo>
                    <a:pt x="0" y="1179"/>
                  </a:lnTo>
                  <a:lnTo>
                    <a:pt x="11" y="1179"/>
                  </a:lnTo>
                  <a:close/>
                  <a:moveTo>
                    <a:pt x="11" y="1201"/>
                  </a:moveTo>
                  <a:lnTo>
                    <a:pt x="11" y="1212"/>
                  </a:lnTo>
                  <a:lnTo>
                    <a:pt x="0" y="1212"/>
                  </a:lnTo>
                  <a:lnTo>
                    <a:pt x="0" y="1201"/>
                  </a:lnTo>
                  <a:lnTo>
                    <a:pt x="11" y="1201"/>
                  </a:lnTo>
                  <a:close/>
                  <a:moveTo>
                    <a:pt x="11" y="1222"/>
                  </a:moveTo>
                  <a:lnTo>
                    <a:pt x="11" y="1233"/>
                  </a:lnTo>
                  <a:lnTo>
                    <a:pt x="0" y="1233"/>
                  </a:lnTo>
                  <a:lnTo>
                    <a:pt x="0" y="1222"/>
                  </a:lnTo>
                  <a:lnTo>
                    <a:pt x="11" y="1222"/>
                  </a:lnTo>
                  <a:close/>
                  <a:moveTo>
                    <a:pt x="11" y="1244"/>
                  </a:moveTo>
                  <a:lnTo>
                    <a:pt x="11" y="1254"/>
                  </a:lnTo>
                  <a:lnTo>
                    <a:pt x="0" y="1254"/>
                  </a:lnTo>
                  <a:lnTo>
                    <a:pt x="0" y="1244"/>
                  </a:lnTo>
                  <a:lnTo>
                    <a:pt x="11" y="1244"/>
                  </a:lnTo>
                  <a:close/>
                  <a:moveTo>
                    <a:pt x="11" y="1265"/>
                  </a:moveTo>
                  <a:lnTo>
                    <a:pt x="11" y="1276"/>
                  </a:lnTo>
                  <a:lnTo>
                    <a:pt x="0" y="1276"/>
                  </a:lnTo>
                  <a:lnTo>
                    <a:pt x="0" y="1265"/>
                  </a:lnTo>
                  <a:lnTo>
                    <a:pt x="11" y="1265"/>
                  </a:lnTo>
                  <a:close/>
                  <a:moveTo>
                    <a:pt x="11" y="1287"/>
                  </a:moveTo>
                  <a:lnTo>
                    <a:pt x="11" y="1297"/>
                  </a:lnTo>
                  <a:lnTo>
                    <a:pt x="0" y="1297"/>
                  </a:lnTo>
                  <a:lnTo>
                    <a:pt x="0" y="1287"/>
                  </a:lnTo>
                  <a:lnTo>
                    <a:pt x="11" y="1287"/>
                  </a:lnTo>
                  <a:close/>
                  <a:moveTo>
                    <a:pt x="11" y="1308"/>
                  </a:moveTo>
                  <a:lnTo>
                    <a:pt x="11" y="1319"/>
                  </a:lnTo>
                  <a:lnTo>
                    <a:pt x="0" y="1319"/>
                  </a:lnTo>
                  <a:lnTo>
                    <a:pt x="0" y="1308"/>
                  </a:lnTo>
                  <a:lnTo>
                    <a:pt x="11" y="1308"/>
                  </a:lnTo>
                  <a:close/>
                  <a:moveTo>
                    <a:pt x="11" y="1330"/>
                  </a:moveTo>
                  <a:lnTo>
                    <a:pt x="11" y="1340"/>
                  </a:lnTo>
                  <a:lnTo>
                    <a:pt x="0" y="1340"/>
                  </a:lnTo>
                  <a:lnTo>
                    <a:pt x="0" y="1330"/>
                  </a:lnTo>
                  <a:lnTo>
                    <a:pt x="11" y="1330"/>
                  </a:lnTo>
                  <a:close/>
                  <a:moveTo>
                    <a:pt x="11" y="1351"/>
                  </a:moveTo>
                  <a:lnTo>
                    <a:pt x="11" y="1362"/>
                  </a:lnTo>
                  <a:lnTo>
                    <a:pt x="0" y="1362"/>
                  </a:lnTo>
                  <a:lnTo>
                    <a:pt x="0" y="1351"/>
                  </a:lnTo>
                  <a:lnTo>
                    <a:pt x="11" y="1351"/>
                  </a:lnTo>
                  <a:close/>
                  <a:moveTo>
                    <a:pt x="11" y="1373"/>
                  </a:moveTo>
                  <a:lnTo>
                    <a:pt x="11" y="1383"/>
                  </a:lnTo>
                  <a:lnTo>
                    <a:pt x="0" y="1383"/>
                  </a:lnTo>
                  <a:lnTo>
                    <a:pt x="0" y="1373"/>
                  </a:lnTo>
                  <a:lnTo>
                    <a:pt x="11" y="1373"/>
                  </a:lnTo>
                  <a:close/>
                  <a:moveTo>
                    <a:pt x="11" y="1394"/>
                  </a:moveTo>
                  <a:lnTo>
                    <a:pt x="11" y="1405"/>
                  </a:lnTo>
                  <a:lnTo>
                    <a:pt x="0" y="1405"/>
                  </a:lnTo>
                  <a:lnTo>
                    <a:pt x="0" y="1394"/>
                  </a:lnTo>
                  <a:lnTo>
                    <a:pt x="11" y="1394"/>
                  </a:lnTo>
                  <a:close/>
                  <a:moveTo>
                    <a:pt x="11" y="1415"/>
                  </a:moveTo>
                  <a:lnTo>
                    <a:pt x="11" y="1426"/>
                  </a:lnTo>
                  <a:lnTo>
                    <a:pt x="0" y="1426"/>
                  </a:lnTo>
                  <a:lnTo>
                    <a:pt x="0" y="1415"/>
                  </a:lnTo>
                  <a:lnTo>
                    <a:pt x="11" y="1415"/>
                  </a:lnTo>
                  <a:close/>
                  <a:moveTo>
                    <a:pt x="11" y="1437"/>
                  </a:moveTo>
                  <a:lnTo>
                    <a:pt x="11" y="1447"/>
                  </a:lnTo>
                  <a:lnTo>
                    <a:pt x="0" y="1447"/>
                  </a:lnTo>
                  <a:lnTo>
                    <a:pt x="0" y="1437"/>
                  </a:lnTo>
                  <a:lnTo>
                    <a:pt x="11" y="1437"/>
                  </a:lnTo>
                  <a:close/>
                  <a:moveTo>
                    <a:pt x="11" y="1458"/>
                  </a:moveTo>
                  <a:lnTo>
                    <a:pt x="11" y="1469"/>
                  </a:lnTo>
                  <a:lnTo>
                    <a:pt x="0" y="1469"/>
                  </a:lnTo>
                  <a:lnTo>
                    <a:pt x="0" y="1458"/>
                  </a:lnTo>
                  <a:lnTo>
                    <a:pt x="11" y="1458"/>
                  </a:lnTo>
                  <a:close/>
                  <a:moveTo>
                    <a:pt x="11" y="1480"/>
                  </a:moveTo>
                  <a:lnTo>
                    <a:pt x="11" y="1490"/>
                  </a:lnTo>
                  <a:lnTo>
                    <a:pt x="0" y="1490"/>
                  </a:lnTo>
                  <a:lnTo>
                    <a:pt x="0" y="1480"/>
                  </a:lnTo>
                  <a:lnTo>
                    <a:pt x="11" y="1480"/>
                  </a:lnTo>
                  <a:close/>
                  <a:moveTo>
                    <a:pt x="11" y="1501"/>
                  </a:moveTo>
                  <a:lnTo>
                    <a:pt x="11" y="1512"/>
                  </a:lnTo>
                  <a:lnTo>
                    <a:pt x="0" y="1512"/>
                  </a:lnTo>
                  <a:lnTo>
                    <a:pt x="0" y="1501"/>
                  </a:lnTo>
                  <a:lnTo>
                    <a:pt x="11" y="1501"/>
                  </a:lnTo>
                  <a:close/>
                  <a:moveTo>
                    <a:pt x="11" y="1523"/>
                  </a:moveTo>
                  <a:lnTo>
                    <a:pt x="11" y="1533"/>
                  </a:lnTo>
                  <a:lnTo>
                    <a:pt x="0" y="1533"/>
                  </a:lnTo>
                  <a:lnTo>
                    <a:pt x="0" y="1523"/>
                  </a:lnTo>
                  <a:lnTo>
                    <a:pt x="11" y="1523"/>
                  </a:lnTo>
                  <a:close/>
                  <a:moveTo>
                    <a:pt x="11" y="1544"/>
                  </a:moveTo>
                  <a:lnTo>
                    <a:pt x="11" y="1555"/>
                  </a:lnTo>
                  <a:lnTo>
                    <a:pt x="0" y="1555"/>
                  </a:lnTo>
                  <a:lnTo>
                    <a:pt x="0" y="1544"/>
                  </a:lnTo>
                  <a:lnTo>
                    <a:pt x="11" y="1544"/>
                  </a:lnTo>
                  <a:close/>
                  <a:moveTo>
                    <a:pt x="11" y="1566"/>
                  </a:moveTo>
                  <a:lnTo>
                    <a:pt x="11" y="1576"/>
                  </a:lnTo>
                  <a:lnTo>
                    <a:pt x="0" y="1576"/>
                  </a:lnTo>
                  <a:lnTo>
                    <a:pt x="0" y="1566"/>
                  </a:lnTo>
                  <a:lnTo>
                    <a:pt x="11" y="1566"/>
                  </a:lnTo>
                  <a:close/>
                  <a:moveTo>
                    <a:pt x="11" y="1587"/>
                  </a:moveTo>
                  <a:lnTo>
                    <a:pt x="11" y="1598"/>
                  </a:lnTo>
                  <a:lnTo>
                    <a:pt x="0" y="1598"/>
                  </a:lnTo>
                  <a:lnTo>
                    <a:pt x="0" y="1587"/>
                  </a:lnTo>
                  <a:lnTo>
                    <a:pt x="11" y="1587"/>
                  </a:lnTo>
                  <a:close/>
                  <a:moveTo>
                    <a:pt x="11" y="1608"/>
                  </a:moveTo>
                  <a:lnTo>
                    <a:pt x="11" y="1619"/>
                  </a:lnTo>
                  <a:lnTo>
                    <a:pt x="0" y="1619"/>
                  </a:lnTo>
                  <a:lnTo>
                    <a:pt x="0" y="1608"/>
                  </a:lnTo>
                  <a:lnTo>
                    <a:pt x="11" y="1608"/>
                  </a:lnTo>
                  <a:close/>
                  <a:moveTo>
                    <a:pt x="11" y="1630"/>
                  </a:moveTo>
                  <a:lnTo>
                    <a:pt x="11" y="1640"/>
                  </a:lnTo>
                  <a:lnTo>
                    <a:pt x="0" y="1640"/>
                  </a:lnTo>
                  <a:lnTo>
                    <a:pt x="0" y="1630"/>
                  </a:lnTo>
                  <a:lnTo>
                    <a:pt x="11" y="1630"/>
                  </a:lnTo>
                  <a:close/>
                  <a:moveTo>
                    <a:pt x="11" y="1651"/>
                  </a:moveTo>
                  <a:lnTo>
                    <a:pt x="11" y="1662"/>
                  </a:lnTo>
                  <a:lnTo>
                    <a:pt x="0" y="1662"/>
                  </a:lnTo>
                  <a:lnTo>
                    <a:pt x="0" y="1651"/>
                  </a:lnTo>
                  <a:lnTo>
                    <a:pt x="11" y="1651"/>
                  </a:lnTo>
                  <a:close/>
                  <a:moveTo>
                    <a:pt x="11" y="1673"/>
                  </a:moveTo>
                  <a:lnTo>
                    <a:pt x="11" y="1683"/>
                  </a:lnTo>
                  <a:lnTo>
                    <a:pt x="0" y="1683"/>
                  </a:lnTo>
                  <a:lnTo>
                    <a:pt x="0" y="1673"/>
                  </a:lnTo>
                  <a:lnTo>
                    <a:pt x="11" y="1673"/>
                  </a:lnTo>
                  <a:close/>
                  <a:moveTo>
                    <a:pt x="11" y="1694"/>
                  </a:moveTo>
                  <a:lnTo>
                    <a:pt x="11" y="1705"/>
                  </a:lnTo>
                  <a:lnTo>
                    <a:pt x="0" y="1705"/>
                  </a:lnTo>
                  <a:lnTo>
                    <a:pt x="0" y="1694"/>
                  </a:lnTo>
                  <a:lnTo>
                    <a:pt x="11" y="1694"/>
                  </a:lnTo>
                  <a:close/>
                  <a:moveTo>
                    <a:pt x="11" y="1716"/>
                  </a:moveTo>
                  <a:lnTo>
                    <a:pt x="11" y="1726"/>
                  </a:lnTo>
                  <a:lnTo>
                    <a:pt x="0" y="1726"/>
                  </a:lnTo>
                  <a:lnTo>
                    <a:pt x="0" y="1716"/>
                  </a:lnTo>
                  <a:lnTo>
                    <a:pt x="11" y="1716"/>
                  </a:lnTo>
                  <a:close/>
                  <a:moveTo>
                    <a:pt x="11" y="1737"/>
                  </a:moveTo>
                  <a:lnTo>
                    <a:pt x="11" y="1748"/>
                  </a:lnTo>
                  <a:lnTo>
                    <a:pt x="0" y="1748"/>
                  </a:lnTo>
                  <a:lnTo>
                    <a:pt x="0" y="1737"/>
                  </a:lnTo>
                  <a:lnTo>
                    <a:pt x="11" y="1737"/>
                  </a:lnTo>
                  <a:close/>
                  <a:moveTo>
                    <a:pt x="11" y="1759"/>
                  </a:moveTo>
                  <a:lnTo>
                    <a:pt x="11" y="1769"/>
                  </a:lnTo>
                  <a:lnTo>
                    <a:pt x="0" y="1769"/>
                  </a:lnTo>
                  <a:lnTo>
                    <a:pt x="0" y="1759"/>
                  </a:lnTo>
                  <a:lnTo>
                    <a:pt x="11" y="1759"/>
                  </a:lnTo>
                  <a:close/>
                  <a:moveTo>
                    <a:pt x="11" y="1780"/>
                  </a:moveTo>
                  <a:lnTo>
                    <a:pt x="11" y="1791"/>
                  </a:lnTo>
                  <a:lnTo>
                    <a:pt x="0" y="1791"/>
                  </a:lnTo>
                  <a:lnTo>
                    <a:pt x="0" y="1780"/>
                  </a:lnTo>
                  <a:lnTo>
                    <a:pt x="11" y="1780"/>
                  </a:lnTo>
                  <a:close/>
                  <a:moveTo>
                    <a:pt x="11" y="1801"/>
                  </a:moveTo>
                  <a:lnTo>
                    <a:pt x="11" y="1812"/>
                  </a:lnTo>
                  <a:lnTo>
                    <a:pt x="0" y="1812"/>
                  </a:lnTo>
                  <a:lnTo>
                    <a:pt x="0" y="1801"/>
                  </a:lnTo>
                  <a:lnTo>
                    <a:pt x="11" y="1801"/>
                  </a:lnTo>
                  <a:close/>
                  <a:moveTo>
                    <a:pt x="11" y="1823"/>
                  </a:moveTo>
                  <a:lnTo>
                    <a:pt x="11" y="1834"/>
                  </a:lnTo>
                  <a:lnTo>
                    <a:pt x="0" y="1834"/>
                  </a:lnTo>
                  <a:lnTo>
                    <a:pt x="0" y="1823"/>
                  </a:lnTo>
                  <a:lnTo>
                    <a:pt x="11" y="1823"/>
                  </a:lnTo>
                  <a:close/>
                  <a:moveTo>
                    <a:pt x="11" y="1844"/>
                  </a:moveTo>
                  <a:lnTo>
                    <a:pt x="11" y="1855"/>
                  </a:lnTo>
                  <a:lnTo>
                    <a:pt x="0" y="1855"/>
                  </a:lnTo>
                  <a:lnTo>
                    <a:pt x="0" y="1844"/>
                  </a:lnTo>
                  <a:lnTo>
                    <a:pt x="11" y="1844"/>
                  </a:lnTo>
                  <a:close/>
                  <a:moveTo>
                    <a:pt x="11" y="1866"/>
                  </a:moveTo>
                  <a:lnTo>
                    <a:pt x="11" y="1877"/>
                  </a:lnTo>
                  <a:lnTo>
                    <a:pt x="0" y="1877"/>
                  </a:lnTo>
                  <a:lnTo>
                    <a:pt x="0" y="1866"/>
                  </a:lnTo>
                  <a:lnTo>
                    <a:pt x="11" y="1866"/>
                  </a:lnTo>
                  <a:close/>
                  <a:moveTo>
                    <a:pt x="11" y="1887"/>
                  </a:moveTo>
                  <a:lnTo>
                    <a:pt x="11" y="1898"/>
                  </a:lnTo>
                  <a:lnTo>
                    <a:pt x="0" y="1898"/>
                  </a:lnTo>
                  <a:lnTo>
                    <a:pt x="0" y="1887"/>
                  </a:lnTo>
                  <a:lnTo>
                    <a:pt x="11" y="1887"/>
                  </a:lnTo>
                  <a:close/>
                  <a:moveTo>
                    <a:pt x="11" y="1909"/>
                  </a:moveTo>
                  <a:lnTo>
                    <a:pt x="11" y="1919"/>
                  </a:lnTo>
                  <a:lnTo>
                    <a:pt x="0" y="1919"/>
                  </a:lnTo>
                  <a:lnTo>
                    <a:pt x="0" y="1909"/>
                  </a:lnTo>
                  <a:lnTo>
                    <a:pt x="11" y="1909"/>
                  </a:lnTo>
                  <a:close/>
                  <a:moveTo>
                    <a:pt x="11" y="1930"/>
                  </a:moveTo>
                  <a:lnTo>
                    <a:pt x="11" y="1941"/>
                  </a:lnTo>
                  <a:lnTo>
                    <a:pt x="0" y="1941"/>
                  </a:lnTo>
                  <a:lnTo>
                    <a:pt x="0" y="1930"/>
                  </a:lnTo>
                  <a:lnTo>
                    <a:pt x="11" y="1930"/>
                  </a:lnTo>
                  <a:close/>
                  <a:moveTo>
                    <a:pt x="11" y="1952"/>
                  </a:moveTo>
                  <a:lnTo>
                    <a:pt x="11" y="1962"/>
                  </a:lnTo>
                  <a:lnTo>
                    <a:pt x="0" y="1962"/>
                  </a:lnTo>
                  <a:lnTo>
                    <a:pt x="0" y="1952"/>
                  </a:lnTo>
                  <a:lnTo>
                    <a:pt x="11" y="1952"/>
                  </a:lnTo>
                  <a:close/>
                  <a:moveTo>
                    <a:pt x="11" y="1973"/>
                  </a:moveTo>
                  <a:lnTo>
                    <a:pt x="11" y="1984"/>
                  </a:lnTo>
                  <a:lnTo>
                    <a:pt x="0" y="1984"/>
                  </a:lnTo>
                  <a:lnTo>
                    <a:pt x="0" y="1973"/>
                  </a:lnTo>
                  <a:lnTo>
                    <a:pt x="11" y="1973"/>
                  </a:lnTo>
                  <a:close/>
                  <a:moveTo>
                    <a:pt x="11" y="1994"/>
                  </a:moveTo>
                  <a:lnTo>
                    <a:pt x="11" y="2005"/>
                  </a:lnTo>
                  <a:lnTo>
                    <a:pt x="0" y="2005"/>
                  </a:lnTo>
                  <a:lnTo>
                    <a:pt x="0" y="1994"/>
                  </a:lnTo>
                  <a:lnTo>
                    <a:pt x="11" y="1994"/>
                  </a:lnTo>
                  <a:close/>
                  <a:moveTo>
                    <a:pt x="11" y="2016"/>
                  </a:moveTo>
                  <a:lnTo>
                    <a:pt x="11" y="2027"/>
                  </a:lnTo>
                  <a:lnTo>
                    <a:pt x="0" y="2027"/>
                  </a:lnTo>
                  <a:lnTo>
                    <a:pt x="0" y="2016"/>
                  </a:lnTo>
                  <a:lnTo>
                    <a:pt x="11" y="2016"/>
                  </a:lnTo>
                  <a:close/>
                  <a:moveTo>
                    <a:pt x="11" y="2037"/>
                  </a:moveTo>
                  <a:lnTo>
                    <a:pt x="11" y="2048"/>
                  </a:lnTo>
                  <a:lnTo>
                    <a:pt x="0" y="2048"/>
                  </a:lnTo>
                  <a:lnTo>
                    <a:pt x="0" y="2037"/>
                  </a:lnTo>
                  <a:lnTo>
                    <a:pt x="11" y="2037"/>
                  </a:lnTo>
                  <a:close/>
                  <a:moveTo>
                    <a:pt x="11" y="2059"/>
                  </a:moveTo>
                  <a:lnTo>
                    <a:pt x="11" y="2070"/>
                  </a:lnTo>
                  <a:lnTo>
                    <a:pt x="0" y="2070"/>
                  </a:lnTo>
                  <a:lnTo>
                    <a:pt x="0" y="2059"/>
                  </a:lnTo>
                  <a:lnTo>
                    <a:pt x="11" y="2059"/>
                  </a:lnTo>
                  <a:close/>
                  <a:moveTo>
                    <a:pt x="11" y="2080"/>
                  </a:moveTo>
                  <a:lnTo>
                    <a:pt x="11" y="2091"/>
                  </a:lnTo>
                  <a:lnTo>
                    <a:pt x="0" y="2091"/>
                  </a:lnTo>
                  <a:lnTo>
                    <a:pt x="0" y="2080"/>
                  </a:lnTo>
                  <a:lnTo>
                    <a:pt x="11" y="2080"/>
                  </a:lnTo>
                  <a:close/>
                  <a:moveTo>
                    <a:pt x="11" y="2102"/>
                  </a:moveTo>
                  <a:lnTo>
                    <a:pt x="11" y="2113"/>
                  </a:lnTo>
                  <a:lnTo>
                    <a:pt x="0" y="2113"/>
                  </a:lnTo>
                  <a:lnTo>
                    <a:pt x="0" y="2102"/>
                  </a:lnTo>
                  <a:lnTo>
                    <a:pt x="11" y="2102"/>
                  </a:lnTo>
                  <a:close/>
                  <a:moveTo>
                    <a:pt x="11" y="2123"/>
                  </a:moveTo>
                  <a:lnTo>
                    <a:pt x="11" y="2134"/>
                  </a:lnTo>
                  <a:lnTo>
                    <a:pt x="0" y="2134"/>
                  </a:lnTo>
                  <a:lnTo>
                    <a:pt x="0" y="2123"/>
                  </a:lnTo>
                  <a:lnTo>
                    <a:pt x="11" y="2123"/>
                  </a:lnTo>
                  <a:close/>
                  <a:moveTo>
                    <a:pt x="11" y="2145"/>
                  </a:moveTo>
                  <a:lnTo>
                    <a:pt x="11" y="2155"/>
                  </a:lnTo>
                  <a:lnTo>
                    <a:pt x="0" y="2155"/>
                  </a:lnTo>
                  <a:lnTo>
                    <a:pt x="0" y="2145"/>
                  </a:lnTo>
                  <a:lnTo>
                    <a:pt x="11" y="2145"/>
                  </a:lnTo>
                  <a:close/>
                  <a:moveTo>
                    <a:pt x="11" y="2166"/>
                  </a:moveTo>
                  <a:lnTo>
                    <a:pt x="11" y="2177"/>
                  </a:lnTo>
                  <a:lnTo>
                    <a:pt x="0" y="2177"/>
                  </a:lnTo>
                  <a:lnTo>
                    <a:pt x="0" y="2166"/>
                  </a:lnTo>
                  <a:lnTo>
                    <a:pt x="11" y="2166"/>
                  </a:lnTo>
                  <a:close/>
                  <a:moveTo>
                    <a:pt x="11" y="2187"/>
                  </a:moveTo>
                  <a:lnTo>
                    <a:pt x="11" y="2198"/>
                  </a:lnTo>
                  <a:lnTo>
                    <a:pt x="0" y="2198"/>
                  </a:lnTo>
                  <a:lnTo>
                    <a:pt x="0" y="2187"/>
                  </a:lnTo>
                  <a:lnTo>
                    <a:pt x="11" y="2187"/>
                  </a:lnTo>
                  <a:close/>
                  <a:moveTo>
                    <a:pt x="11" y="2209"/>
                  </a:moveTo>
                  <a:lnTo>
                    <a:pt x="11" y="2220"/>
                  </a:lnTo>
                  <a:lnTo>
                    <a:pt x="0" y="2220"/>
                  </a:lnTo>
                  <a:lnTo>
                    <a:pt x="0" y="2209"/>
                  </a:lnTo>
                  <a:lnTo>
                    <a:pt x="11" y="2209"/>
                  </a:lnTo>
                  <a:close/>
                  <a:moveTo>
                    <a:pt x="11" y="2230"/>
                  </a:moveTo>
                  <a:lnTo>
                    <a:pt x="11" y="2241"/>
                  </a:lnTo>
                  <a:lnTo>
                    <a:pt x="0" y="2241"/>
                  </a:lnTo>
                  <a:lnTo>
                    <a:pt x="0" y="2230"/>
                  </a:lnTo>
                  <a:lnTo>
                    <a:pt x="11" y="2230"/>
                  </a:lnTo>
                  <a:close/>
                  <a:moveTo>
                    <a:pt x="11" y="2252"/>
                  </a:moveTo>
                  <a:lnTo>
                    <a:pt x="11" y="2263"/>
                  </a:lnTo>
                  <a:lnTo>
                    <a:pt x="0" y="2263"/>
                  </a:lnTo>
                  <a:lnTo>
                    <a:pt x="0" y="2252"/>
                  </a:lnTo>
                  <a:lnTo>
                    <a:pt x="11" y="2252"/>
                  </a:lnTo>
                  <a:close/>
                  <a:moveTo>
                    <a:pt x="11" y="2273"/>
                  </a:moveTo>
                  <a:lnTo>
                    <a:pt x="11" y="2284"/>
                  </a:lnTo>
                  <a:lnTo>
                    <a:pt x="0" y="2284"/>
                  </a:lnTo>
                  <a:lnTo>
                    <a:pt x="0" y="2273"/>
                  </a:lnTo>
                  <a:lnTo>
                    <a:pt x="11" y="2273"/>
                  </a:lnTo>
                  <a:close/>
                </a:path>
              </a:pathLst>
            </a:custGeom>
            <a:solidFill>
              <a:srgbClr val="000000"/>
            </a:solidFill>
            <a:ln w="0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4" name="Freeform 88">
              <a:extLst>
                <a:ext uri="{FF2B5EF4-FFF2-40B4-BE49-F238E27FC236}">
                  <a16:creationId xmlns:a16="http://schemas.microsoft.com/office/drawing/2014/main" id="{4028B685-DAE4-4445-B687-707861ADF67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949" y="1946"/>
              <a:ext cx="11" cy="2284"/>
            </a:xfrm>
            <a:custGeom>
              <a:avLst/>
              <a:gdLst>
                <a:gd name="T0" fmla="*/ 0 w 11"/>
                <a:gd name="T1" fmla="*/ 21 h 2284"/>
                <a:gd name="T2" fmla="*/ 0 w 11"/>
                <a:gd name="T3" fmla="*/ 75 h 2284"/>
                <a:gd name="T4" fmla="*/ 11 w 11"/>
                <a:gd name="T5" fmla="*/ 118 h 2284"/>
                <a:gd name="T6" fmla="*/ 11 w 11"/>
                <a:gd name="T7" fmla="*/ 150 h 2284"/>
                <a:gd name="T8" fmla="*/ 11 w 11"/>
                <a:gd name="T9" fmla="*/ 171 h 2284"/>
                <a:gd name="T10" fmla="*/ 0 w 11"/>
                <a:gd name="T11" fmla="*/ 214 h 2284"/>
                <a:gd name="T12" fmla="*/ 0 w 11"/>
                <a:gd name="T13" fmla="*/ 268 h 2284"/>
                <a:gd name="T14" fmla="*/ 11 w 11"/>
                <a:gd name="T15" fmla="*/ 311 h 2284"/>
                <a:gd name="T16" fmla="*/ 11 w 11"/>
                <a:gd name="T17" fmla="*/ 343 h 2284"/>
                <a:gd name="T18" fmla="*/ 11 w 11"/>
                <a:gd name="T19" fmla="*/ 364 h 2284"/>
                <a:gd name="T20" fmla="*/ 0 w 11"/>
                <a:gd name="T21" fmla="*/ 407 h 2284"/>
                <a:gd name="T22" fmla="*/ 0 w 11"/>
                <a:gd name="T23" fmla="*/ 461 h 2284"/>
                <a:gd name="T24" fmla="*/ 11 w 11"/>
                <a:gd name="T25" fmla="*/ 504 h 2284"/>
                <a:gd name="T26" fmla="*/ 11 w 11"/>
                <a:gd name="T27" fmla="*/ 536 h 2284"/>
                <a:gd name="T28" fmla="*/ 11 w 11"/>
                <a:gd name="T29" fmla="*/ 557 h 2284"/>
                <a:gd name="T30" fmla="*/ 0 w 11"/>
                <a:gd name="T31" fmla="*/ 600 h 2284"/>
                <a:gd name="T32" fmla="*/ 0 w 11"/>
                <a:gd name="T33" fmla="*/ 654 h 2284"/>
                <a:gd name="T34" fmla="*/ 11 w 11"/>
                <a:gd name="T35" fmla="*/ 697 h 2284"/>
                <a:gd name="T36" fmla="*/ 11 w 11"/>
                <a:gd name="T37" fmla="*/ 729 h 2284"/>
                <a:gd name="T38" fmla="*/ 11 w 11"/>
                <a:gd name="T39" fmla="*/ 750 h 2284"/>
                <a:gd name="T40" fmla="*/ 0 w 11"/>
                <a:gd name="T41" fmla="*/ 793 h 2284"/>
                <a:gd name="T42" fmla="*/ 0 w 11"/>
                <a:gd name="T43" fmla="*/ 847 h 2284"/>
                <a:gd name="T44" fmla="*/ 11 w 11"/>
                <a:gd name="T45" fmla="*/ 890 h 2284"/>
                <a:gd name="T46" fmla="*/ 11 w 11"/>
                <a:gd name="T47" fmla="*/ 922 h 2284"/>
                <a:gd name="T48" fmla="*/ 11 w 11"/>
                <a:gd name="T49" fmla="*/ 943 h 2284"/>
                <a:gd name="T50" fmla="*/ 0 w 11"/>
                <a:gd name="T51" fmla="*/ 986 h 2284"/>
                <a:gd name="T52" fmla="*/ 0 w 11"/>
                <a:gd name="T53" fmla="*/ 1040 h 2284"/>
                <a:gd name="T54" fmla="*/ 11 w 11"/>
                <a:gd name="T55" fmla="*/ 1083 h 2284"/>
                <a:gd name="T56" fmla="*/ 11 w 11"/>
                <a:gd name="T57" fmla="*/ 1115 h 2284"/>
                <a:gd name="T58" fmla="*/ 11 w 11"/>
                <a:gd name="T59" fmla="*/ 1136 h 2284"/>
                <a:gd name="T60" fmla="*/ 0 w 11"/>
                <a:gd name="T61" fmla="*/ 1179 h 2284"/>
                <a:gd name="T62" fmla="*/ 0 w 11"/>
                <a:gd name="T63" fmla="*/ 1233 h 2284"/>
                <a:gd name="T64" fmla="*/ 11 w 11"/>
                <a:gd name="T65" fmla="*/ 1276 h 2284"/>
                <a:gd name="T66" fmla="*/ 11 w 11"/>
                <a:gd name="T67" fmla="*/ 1308 h 2284"/>
                <a:gd name="T68" fmla="*/ 11 w 11"/>
                <a:gd name="T69" fmla="*/ 1330 h 2284"/>
                <a:gd name="T70" fmla="*/ 0 w 11"/>
                <a:gd name="T71" fmla="*/ 1373 h 2284"/>
                <a:gd name="T72" fmla="*/ 0 w 11"/>
                <a:gd name="T73" fmla="*/ 1426 h 2284"/>
                <a:gd name="T74" fmla="*/ 11 w 11"/>
                <a:gd name="T75" fmla="*/ 1469 h 2284"/>
                <a:gd name="T76" fmla="*/ 11 w 11"/>
                <a:gd name="T77" fmla="*/ 1501 h 2284"/>
                <a:gd name="T78" fmla="*/ 11 w 11"/>
                <a:gd name="T79" fmla="*/ 1523 h 2284"/>
                <a:gd name="T80" fmla="*/ 0 w 11"/>
                <a:gd name="T81" fmla="*/ 1566 h 2284"/>
                <a:gd name="T82" fmla="*/ 0 w 11"/>
                <a:gd name="T83" fmla="*/ 1619 h 2284"/>
                <a:gd name="T84" fmla="*/ 11 w 11"/>
                <a:gd name="T85" fmla="*/ 1662 h 2284"/>
                <a:gd name="T86" fmla="*/ 11 w 11"/>
                <a:gd name="T87" fmla="*/ 1694 h 2284"/>
                <a:gd name="T88" fmla="*/ 11 w 11"/>
                <a:gd name="T89" fmla="*/ 1716 h 2284"/>
                <a:gd name="T90" fmla="*/ 0 w 11"/>
                <a:gd name="T91" fmla="*/ 1759 h 2284"/>
                <a:gd name="T92" fmla="*/ 0 w 11"/>
                <a:gd name="T93" fmla="*/ 1812 h 2284"/>
                <a:gd name="T94" fmla="*/ 11 w 11"/>
                <a:gd name="T95" fmla="*/ 1855 h 2284"/>
                <a:gd name="T96" fmla="*/ 11 w 11"/>
                <a:gd name="T97" fmla="*/ 1887 h 2284"/>
                <a:gd name="T98" fmla="*/ 11 w 11"/>
                <a:gd name="T99" fmla="*/ 1909 h 2284"/>
                <a:gd name="T100" fmla="*/ 0 w 11"/>
                <a:gd name="T101" fmla="*/ 1952 h 2284"/>
                <a:gd name="T102" fmla="*/ 0 w 11"/>
                <a:gd name="T103" fmla="*/ 2005 h 2284"/>
                <a:gd name="T104" fmla="*/ 11 w 11"/>
                <a:gd name="T105" fmla="*/ 2048 h 2284"/>
                <a:gd name="T106" fmla="*/ 11 w 11"/>
                <a:gd name="T107" fmla="*/ 2080 h 2284"/>
                <a:gd name="T108" fmla="*/ 11 w 11"/>
                <a:gd name="T109" fmla="*/ 2102 h 2284"/>
                <a:gd name="T110" fmla="*/ 0 w 11"/>
                <a:gd name="T111" fmla="*/ 2145 h 2284"/>
                <a:gd name="T112" fmla="*/ 0 w 11"/>
                <a:gd name="T113" fmla="*/ 2198 h 2284"/>
                <a:gd name="T114" fmla="*/ 11 w 11"/>
                <a:gd name="T115" fmla="*/ 2241 h 2284"/>
                <a:gd name="T116" fmla="*/ 11 w 11"/>
                <a:gd name="T117" fmla="*/ 2273 h 22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1" h="2284">
                  <a:moveTo>
                    <a:pt x="11" y="0"/>
                  </a:moveTo>
                  <a:lnTo>
                    <a:pt x="11" y="10"/>
                  </a:lnTo>
                  <a:lnTo>
                    <a:pt x="0" y="10"/>
                  </a:lnTo>
                  <a:lnTo>
                    <a:pt x="0" y="0"/>
                  </a:lnTo>
                  <a:lnTo>
                    <a:pt x="11" y="0"/>
                  </a:lnTo>
                  <a:close/>
                  <a:moveTo>
                    <a:pt x="11" y="21"/>
                  </a:moveTo>
                  <a:lnTo>
                    <a:pt x="11" y="32"/>
                  </a:lnTo>
                  <a:lnTo>
                    <a:pt x="0" y="32"/>
                  </a:lnTo>
                  <a:lnTo>
                    <a:pt x="0" y="21"/>
                  </a:lnTo>
                  <a:lnTo>
                    <a:pt x="11" y="21"/>
                  </a:lnTo>
                  <a:close/>
                  <a:moveTo>
                    <a:pt x="11" y="43"/>
                  </a:moveTo>
                  <a:lnTo>
                    <a:pt x="11" y="53"/>
                  </a:lnTo>
                  <a:lnTo>
                    <a:pt x="0" y="53"/>
                  </a:lnTo>
                  <a:lnTo>
                    <a:pt x="0" y="43"/>
                  </a:lnTo>
                  <a:lnTo>
                    <a:pt x="11" y="43"/>
                  </a:lnTo>
                  <a:close/>
                  <a:moveTo>
                    <a:pt x="11" y="64"/>
                  </a:moveTo>
                  <a:lnTo>
                    <a:pt x="11" y="75"/>
                  </a:lnTo>
                  <a:lnTo>
                    <a:pt x="0" y="75"/>
                  </a:lnTo>
                  <a:lnTo>
                    <a:pt x="0" y="64"/>
                  </a:lnTo>
                  <a:lnTo>
                    <a:pt x="11" y="64"/>
                  </a:lnTo>
                  <a:close/>
                  <a:moveTo>
                    <a:pt x="11" y="86"/>
                  </a:moveTo>
                  <a:lnTo>
                    <a:pt x="11" y="96"/>
                  </a:lnTo>
                  <a:lnTo>
                    <a:pt x="0" y="96"/>
                  </a:lnTo>
                  <a:lnTo>
                    <a:pt x="0" y="86"/>
                  </a:lnTo>
                  <a:lnTo>
                    <a:pt x="11" y="86"/>
                  </a:lnTo>
                  <a:close/>
                  <a:moveTo>
                    <a:pt x="11" y="107"/>
                  </a:moveTo>
                  <a:lnTo>
                    <a:pt x="11" y="118"/>
                  </a:lnTo>
                  <a:lnTo>
                    <a:pt x="0" y="118"/>
                  </a:lnTo>
                  <a:lnTo>
                    <a:pt x="0" y="107"/>
                  </a:lnTo>
                  <a:lnTo>
                    <a:pt x="11" y="107"/>
                  </a:lnTo>
                  <a:close/>
                  <a:moveTo>
                    <a:pt x="11" y="128"/>
                  </a:moveTo>
                  <a:lnTo>
                    <a:pt x="11" y="139"/>
                  </a:lnTo>
                  <a:lnTo>
                    <a:pt x="0" y="139"/>
                  </a:lnTo>
                  <a:lnTo>
                    <a:pt x="0" y="128"/>
                  </a:lnTo>
                  <a:lnTo>
                    <a:pt x="11" y="128"/>
                  </a:lnTo>
                  <a:close/>
                  <a:moveTo>
                    <a:pt x="11" y="150"/>
                  </a:moveTo>
                  <a:lnTo>
                    <a:pt x="11" y="160"/>
                  </a:lnTo>
                  <a:lnTo>
                    <a:pt x="0" y="160"/>
                  </a:lnTo>
                  <a:lnTo>
                    <a:pt x="0" y="150"/>
                  </a:lnTo>
                  <a:lnTo>
                    <a:pt x="11" y="150"/>
                  </a:lnTo>
                  <a:close/>
                  <a:moveTo>
                    <a:pt x="11" y="171"/>
                  </a:moveTo>
                  <a:lnTo>
                    <a:pt x="11" y="182"/>
                  </a:lnTo>
                  <a:lnTo>
                    <a:pt x="0" y="182"/>
                  </a:lnTo>
                  <a:lnTo>
                    <a:pt x="0" y="171"/>
                  </a:lnTo>
                  <a:lnTo>
                    <a:pt x="11" y="171"/>
                  </a:lnTo>
                  <a:close/>
                  <a:moveTo>
                    <a:pt x="11" y="193"/>
                  </a:moveTo>
                  <a:lnTo>
                    <a:pt x="11" y="203"/>
                  </a:lnTo>
                  <a:lnTo>
                    <a:pt x="0" y="203"/>
                  </a:lnTo>
                  <a:lnTo>
                    <a:pt x="0" y="193"/>
                  </a:lnTo>
                  <a:lnTo>
                    <a:pt x="11" y="193"/>
                  </a:lnTo>
                  <a:close/>
                  <a:moveTo>
                    <a:pt x="11" y="214"/>
                  </a:moveTo>
                  <a:lnTo>
                    <a:pt x="11" y="225"/>
                  </a:lnTo>
                  <a:lnTo>
                    <a:pt x="0" y="225"/>
                  </a:lnTo>
                  <a:lnTo>
                    <a:pt x="0" y="214"/>
                  </a:lnTo>
                  <a:lnTo>
                    <a:pt x="11" y="214"/>
                  </a:lnTo>
                  <a:close/>
                  <a:moveTo>
                    <a:pt x="11" y="236"/>
                  </a:moveTo>
                  <a:lnTo>
                    <a:pt x="11" y="246"/>
                  </a:lnTo>
                  <a:lnTo>
                    <a:pt x="0" y="246"/>
                  </a:lnTo>
                  <a:lnTo>
                    <a:pt x="0" y="236"/>
                  </a:lnTo>
                  <a:lnTo>
                    <a:pt x="11" y="236"/>
                  </a:lnTo>
                  <a:close/>
                  <a:moveTo>
                    <a:pt x="11" y="257"/>
                  </a:moveTo>
                  <a:lnTo>
                    <a:pt x="11" y="268"/>
                  </a:lnTo>
                  <a:lnTo>
                    <a:pt x="0" y="268"/>
                  </a:lnTo>
                  <a:lnTo>
                    <a:pt x="0" y="257"/>
                  </a:lnTo>
                  <a:lnTo>
                    <a:pt x="11" y="257"/>
                  </a:lnTo>
                  <a:close/>
                  <a:moveTo>
                    <a:pt x="11" y="279"/>
                  </a:moveTo>
                  <a:lnTo>
                    <a:pt x="11" y="289"/>
                  </a:lnTo>
                  <a:lnTo>
                    <a:pt x="0" y="289"/>
                  </a:lnTo>
                  <a:lnTo>
                    <a:pt x="0" y="279"/>
                  </a:lnTo>
                  <a:lnTo>
                    <a:pt x="11" y="279"/>
                  </a:lnTo>
                  <a:close/>
                  <a:moveTo>
                    <a:pt x="11" y="300"/>
                  </a:moveTo>
                  <a:lnTo>
                    <a:pt x="11" y="311"/>
                  </a:lnTo>
                  <a:lnTo>
                    <a:pt x="0" y="311"/>
                  </a:lnTo>
                  <a:lnTo>
                    <a:pt x="0" y="300"/>
                  </a:lnTo>
                  <a:lnTo>
                    <a:pt x="11" y="300"/>
                  </a:lnTo>
                  <a:close/>
                  <a:moveTo>
                    <a:pt x="11" y="321"/>
                  </a:moveTo>
                  <a:lnTo>
                    <a:pt x="11" y="332"/>
                  </a:lnTo>
                  <a:lnTo>
                    <a:pt x="0" y="332"/>
                  </a:lnTo>
                  <a:lnTo>
                    <a:pt x="0" y="321"/>
                  </a:lnTo>
                  <a:lnTo>
                    <a:pt x="11" y="321"/>
                  </a:lnTo>
                  <a:close/>
                  <a:moveTo>
                    <a:pt x="11" y="343"/>
                  </a:moveTo>
                  <a:lnTo>
                    <a:pt x="11" y="353"/>
                  </a:lnTo>
                  <a:lnTo>
                    <a:pt x="0" y="353"/>
                  </a:lnTo>
                  <a:lnTo>
                    <a:pt x="0" y="343"/>
                  </a:lnTo>
                  <a:lnTo>
                    <a:pt x="11" y="343"/>
                  </a:lnTo>
                  <a:close/>
                  <a:moveTo>
                    <a:pt x="11" y="364"/>
                  </a:moveTo>
                  <a:lnTo>
                    <a:pt x="11" y="375"/>
                  </a:lnTo>
                  <a:lnTo>
                    <a:pt x="0" y="375"/>
                  </a:lnTo>
                  <a:lnTo>
                    <a:pt x="0" y="364"/>
                  </a:lnTo>
                  <a:lnTo>
                    <a:pt x="11" y="364"/>
                  </a:lnTo>
                  <a:close/>
                  <a:moveTo>
                    <a:pt x="11" y="386"/>
                  </a:moveTo>
                  <a:lnTo>
                    <a:pt x="11" y="396"/>
                  </a:lnTo>
                  <a:lnTo>
                    <a:pt x="0" y="396"/>
                  </a:lnTo>
                  <a:lnTo>
                    <a:pt x="0" y="386"/>
                  </a:lnTo>
                  <a:lnTo>
                    <a:pt x="11" y="386"/>
                  </a:lnTo>
                  <a:close/>
                  <a:moveTo>
                    <a:pt x="11" y="407"/>
                  </a:moveTo>
                  <a:lnTo>
                    <a:pt x="11" y="418"/>
                  </a:lnTo>
                  <a:lnTo>
                    <a:pt x="0" y="418"/>
                  </a:lnTo>
                  <a:lnTo>
                    <a:pt x="0" y="407"/>
                  </a:lnTo>
                  <a:lnTo>
                    <a:pt x="11" y="407"/>
                  </a:lnTo>
                  <a:close/>
                  <a:moveTo>
                    <a:pt x="11" y="429"/>
                  </a:moveTo>
                  <a:lnTo>
                    <a:pt x="11" y="439"/>
                  </a:lnTo>
                  <a:lnTo>
                    <a:pt x="0" y="439"/>
                  </a:lnTo>
                  <a:lnTo>
                    <a:pt x="0" y="429"/>
                  </a:lnTo>
                  <a:lnTo>
                    <a:pt x="11" y="429"/>
                  </a:lnTo>
                  <a:close/>
                  <a:moveTo>
                    <a:pt x="11" y="450"/>
                  </a:moveTo>
                  <a:lnTo>
                    <a:pt x="11" y="461"/>
                  </a:lnTo>
                  <a:lnTo>
                    <a:pt x="0" y="461"/>
                  </a:lnTo>
                  <a:lnTo>
                    <a:pt x="0" y="450"/>
                  </a:lnTo>
                  <a:lnTo>
                    <a:pt x="11" y="450"/>
                  </a:lnTo>
                  <a:close/>
                  <a:moveTo>
                    <a:pt x="11" y="472"/>
                  </a:moveTo>
                  <a:lnTo>
                    <a:pt x="11" y="482"/>
                  </a:lnTo>
                  <a:lnTo>
                    <a:pt x="0" y="482"/>
                  </a:lnTo>
                  <a:lnTo>
                    <a:pt x="0" y="472"/>
                  </a:lnTo>
                  <a:lnTo>
                    <a:pt x="11" y="472"/>
                  </a:lnTo>
                  <a:close/>
                  <a:moveTo>
                    <a:pt x="11" y="493"/>
                  </a:moveTo>
                  <a:lnTo>
                    <a:pt x="11" y="504"/>
                  </a:lnTo>
                  <a:lnTo>
                    <a:pt x="0" y="504"/>
                  </a:lnTo>
                  <a:lnTo>
                    <a:pt x="0" y="493"/>
                  </a:lnTo>
                  <a:lnTo>
                    <a:pt x="11" y="493"/>
                  </a:lnTo>
                  <a:close/>
                  <a:moveTo>
                    <a:pt x="11" y="514"/>
                  </a:moveTo>
                  <a:lnTo>
                    <a:pt x="11" y="525"/>
                  </a:lnTo>
                  <a:lnTo>
                    <a:pt x="0" y="525"/>
                  </a:lnTo>
                  <a:lnTo>
                    <a:pt x="0" y="514"/>
                  </a:lnTo>
                  <a:lnTo>
                    <a:pt x="11" y="514"/>
                  </a:lnTo>
                  <a:close/>
                  <a:moveTo>
                    <a:pt x="11" y="536"/>
                  </a:moveTo>
                  <a:lnTo>
                    <a:pt x="11" y="547"/>
                  </a:lnTo>
                  <a:lnTo>
                    <a:pt x="0" y="547"/>
                  </a:lnTo>
                  <a:lnTo>
                    <a:pt x="0" y="536"/>
                  </a:lnTo>
                  <a:lnTo>
                    <a:pt x="11" y="536"/>
                  </a:lnTo>
                  <a:close/>
                  <a:moveTo>
                    <a:pt x="11" y="557"/>
                  </a:moveTo>
                  <a:lnTo>
                    <a:pt x="11" y="568"/>
                  </a:lnTo>
                  <a:lnTo>
                    <a:pt x="0" y="568"/>
                  </a:lnTo>
                  <a:lnTo>
                    <a:pt x="0" y="557"/>
                  </a:lnTo>
                  <a:lnTo>
                    <a:pt x="11" y="557"/>
                  </a:lnTo>
                  <a:close/>
                  <a:moveTo>
                    <a:pt x="11" y="579"/>
                  </a:moveTo>
                  <a:lnTo>
                    <a:pt x="11" y="590"/>
                  </a:lnTo>
                  <a:lnTo>
                    <a:pt x="0" y="590"/>
                  </a:lnTo>
                  <a:lnTo>
                    <a:pt x="0" y="579"/>
                  </a:lnTo>
                  <a:lnTo>
                    <a:pt x="11" y="579"/>
                  </a:lnTo>
                  <a:close/>
                  <a:moveTo>
                    <a:pt x="11" y="600"/>
                  </a:moveTo>
                  <a:lnTo>
                    <a:pt x="11" y="611"/>
                  </a:lnTo>
                  <a:lnTo>
                    <a:pt x="0" y="611"/>
                  </a:lnTo>
                  <a:lnTo>
                    <a:pt x="0" y="600"/>
                  </a:lnTo>
                  <a:lnTo>
                    <a:pt x="11" y="600"/>
                  </a:lnTo>
                  <a:close/>
                  <a:moveTo>
                    <a:pt x="11" y="622"/>
                  </a:moveTo>
                  <a:lnTo>
                    <a:pt x="11" y="632"/>
                  </a:lnTo>
                  <a:lnTo>
                    <a:pt x="0" y="632"/>
                  </a:lnTo>
                  <a:lnTo>
                    <a:pt x="0" y="622"/>
                  </a:lnTo>
                  <a:lnTo>
                    <a:pt x="11" y="622"/>
                  </a:lnTo>
                  <a:close/>
                  <a:moveTo>
                    <a:pt x="11" y="643"/>
                  </a:moveTo>
                  <a:lnTo>
                    <a:pt x="11" y="654"/>
                  </a:lnTo>
                  <a:lnTo>
                    <a:pt x="0" y="654"/>
                  </a:lnTo>
                  <a:lnTo>
                    <a:pt x="0" y="643"/>
                  </a:lnTo>
                  <a:lnTo>
                    <a:pt x="11" y="643"/>
                  </a:lnTo>
                  <a:close/>
                  <a:moveTo>
                    <a:pt x="11" y="665"/>
                  </a:moveTo>
                  <a:lnTo>
                    <a:pt x="11" y="675"/>
                  </a:lnTo>
                  <a:lnTo>
                    <a:pt x="0" y="675"/>
                  </a:lnTo>
                  <a:lnTo>
                    <a:pt x="0" y="665"/>
                  </a:lnTo>
                  <a:lnTo>
                    <a:pt x="11" y="665"/>
                  </a:lnTo>
                  <a:close/>
                  <a:moveTo>
                    <a:pt x="11" y="686"/>
                  </a:moveTo>
                  <a:lnTo>
                    <a:pt x="11" y="697"/>
                  </a:lnTo>
                  <a:lnTo>
                    <a:pt x="0" y="697"/>
                  </a:lnTo>
                  <a:lnTo>
                    <a:pt x="0" y="686"/>
                  </a:lnTo>
                  <a:lnTo>
                    <a:pt x="11" y="686"/>
                  </a:lnTo>
                  <a:close/>
                  <a:moveTo>
                    <a:pt x="11" y="707"/>
                  </a:moveTo>
                  <a:lnTo>
                    <a:pt x="11" y="718"/>
                  </a:lnTo>
                  <a:lnTo>
                    <a:pt x="0" y="718"/>
                  </a:lnTo>
                  <a:lnTo>
                    <a:pt x="0" y="707"/>
                  </a:lnTo>
                  <a:lnTo>
                    <a:pt x="11" y="707"/>
                  </a:lnTo>
                  <a:close/>
                  <a:moveTo>
                    <a:pt x="11" y="729"/>
                  </a:moveTo>
                  <a:lnTo>
                    <a:pt x="11" y="740"/>
                  </a:lnTo>
                  <a:lnTo>
                    <a:pt x="0" y="740"/>
                  </a:lnTo>
                  <a:lnTo>
                    <a:pt x="0" y="729"/>
                  </a:lnTo>
                  <a:lnTo>
                    <a:pt x="11" y="729"/>
                  </a:lnTo>
                  <a:close/>
                  <a:moveTo>
                    <a:pt x="11" y="750"/>
                  </a:moveTo>
                  <a:lnTo>
                    <a:pt x="11" y="761"/>
                  </a:lnTo>
                  <a:lnTo>
                    <a:pt x="0" y="761"/>
                  </a:lnTo>
                  <a:lnTo>
                    <a:pt x="0" y="750"/>
                  </a:lnTo>
                  <a:lnTo>
                    <a:pt x="11" y="750"/>
                  </a:lnTo>
                  <a:close/>
                  <a:moveTo>
                    <a:pt x="11" y="772"/>
                  </a:moveTo>
                  <a:lnTo>
                    <a:pt x="11" y="783"/>
                  </a:lnTo>
                  <a:lnTo>
                    <a:pt x="0" y="783"/>
                  </a:lnTo>
                  <a:lnTo>
                    <a:pt x="0" y="772"/>
                  </a:lnTo>
                  <a:lnTo>
                    <a:pt x="11" y="772"/>
                  </a:lnTo>
                  <a:close/>
                  <a:moveTo>
                    <a:pt x="11" y="793"/>
                  </a:moveTo>
                  <a:lnTo>
                    <a:pt x="11" y="804"/>
                  </a:lnTo>
                  <a:lnTo>
                    <a:pt x="0" y="804"/>
                  </a:lnTo>
                  <a:lnTo>
                    <a:pt x="0" y="793"/>
                  </a:lnTo>
                  <a:lnTo>
                    <a:pt x="11" y="793"/>
                  </a:lnTo>
                  <a:close/>
                  <a:moveTo>
                    <a:pt x="11" y="815"/>
                  </a:moveTo>
                  <a:lnTo>
                    <a:pt x="11" y="826"/>
                  </a:lnTo>
                  <a:lnTo>
                    <a:pt x="0" y="826"/>
                  </a:lnTo>
                  <a:lnTo>
                    <a:pt x="0" y="815"/>
                  </a:lnTo>
                  <a:lnTo>
                    <a:pt x="11" y="815"/>
                  </a:lnTo>
                  <a:close/>
                  <a:moveTo>
                    <a:pt x="11" y="836"/>
                  </a:moveTo>
                  <a:lnTo>
                    <a:pt x="11" y="847"/>
                  </a:lnTo>
                  <a:lnTo>
                    <a:pt x="0" y="847"/>
                  </a:lnTo>
                  <a:lnTo>
                    <a:pt x="0" y="836"/>
                  </a:lnTo>
                  <a:lnTo>
                    <a:pt x="11" y="836"/>
                  </a:lnTo>
                  <a:close/>
                  <a:moveTo>
                    <a:pt x="11" y="858"/>
                  </a:moveTo>
                  <a:lnTo>
                    <a:pt x="11" y="868"/>
                  </a:lnTo>
                  <a:lnTo>
                    <a:pt x="0" y="868"/>
                  </a:lnTo>
                  <a:lnTo>
                    <a:pt x="0" y="858"/>
                  </a:lnTo>
                  <a:lnTo>
                    <a:pt x="11" y="858"/>
                  </a:lnTo>
                  <a:close/>
                  <a:moveTo>
                    <a:pt x="11" y="879"/>
                  </a:moveTo>
                  <a:lnTo>
                    <a:pt x="11" y="890"/>
                  </a:lnTo>
                  <a:lnTo>
                    <a:pt x="0" y="890"/>
                  </a:lnTo>
                  <a:lnTo>
                    <a:pt x="0" y="879"/>
                  </a:lnTo>
                  <a:lnTo>
                    <a:pt x="11" y="879"/>
                  </a:lnTo>
                  <a:close/>
                  <a:moveTo>
                    <a:pt x="11" y="900"/>
                  </a:moveTo>
                  <a:lnTo>
                    <a:pt x="11" y="911"/>
                  </a:lnTo>
                  <a:lnTo>
                    <a:pt x="0" y="911"/>
                  </a:lnTo>
                  <a:lnTo>
                    <a:pt x="0" y="900"/>
                  </a:lnTo>
                  <a:lnTo>
                    <a:pt x="11" y="900"/>
                  </a:lnTo>
                  <a:close/>
                  <a:moveTo>
                    <a:pt x="11" y="922"/>
                  </a:moveTo>
                  <a:lnTo>
                    <a:pt x="11" y="933"/>
                  </a:lnTo>
                  <a:lnTo>
                    <a:pt x="0" y="933"/>
                  </a:lnTo>
                  <a:lnTo>
                    <a:pt x="0" y="922"/>
                  </a:lnTo>
                  <a:lnTo>
                    <a:pt x="11" y="922"/>
                  </a:lnTo>
                  <a:close/>
                  <a:moveTo>
                    <a:pt x="11" y="943"/>
                  </a:moveTo>
                  <a:lnTo>
                    <a:pt x="11" y="954"/>
                  </a:lnTo>
                  <a:lnTo>
                    <a:pt x="0" y="954"/>
                  </a:lnTo>
                  <a:lnTo>
                    <a:pt x="0" y="943"/>
                  </a:lnTo>
                  <a:lnTo>
                    <a:pt x="11" y="943"/>
                  </a:lnTo>
                  <a:close/>
                  <a:moveTo>
                    <a:pt x="11" y="965"/>
                  </a:moveTo>
                  <a:lnTo>
                    <a:pt x="11" y="976"/>
                  </a:lnTo>
                  <a:lnTo>
                    <a:pt x="0" y="976"/>
                  </a:lnTo>
                  <a:lnTo>
                    <a:pt x="0" y="965"/>
                  </a:lnTo>
                  <a:lnTo>
                    <a:pt x="11" y="965"/>
                  </a:lnTo>
                  <a:close/>
                  <a:moveTo>
                    <a:pt x="11" y="986"/>
                  </a:moveTo>
                  <a:lnTo>
                    <a:pt x="11" y="997"/>
                  </a:lnTo>
                  <a:lnTo>
                    <a:pt x="0" y="997"/>
                  </a:lnTo>
                  <a:lnTo>
                    <a:pt x="0" y="986"/>
                  </a:lnTo>
                  <a:lnTo>
                    <a:pt x="11" y="986"/>
                  </a:lnTo>
                  <a:close/>
                  <a:moveTo>
                    <a:pt x="11" y="1008"/>
                  </a:moveTo>
                  <a:lnTo>
                    <a:pt x="11" y="1019"/>
                  </a:lnTo>
                  <a:lnTo>
                    <a:pt x="0" y="1019"/>
                  </a:lnTo>
                  <a:lnTo>
                    <a:pt x="0" y="1008"/>
                  </a:lnTo>
                  <a:lnTo>
                    <a:pt x="11" y="1008"/>
                  </a:lnTo>
                  <a:close/>
                  <a:moveTo>
                    <a:pt x="11" y="1029"/>
                  </a:moveTo>
                  <a:lnTo>
                    <a:pt x="11" y="1040"/>
                  </a:lnTo>
                  <a:lnTo>
                    <a:pt x="0" y="1040"/>
                  </a:lnTo>
                  <a:lnTo>
                    <a:pt x="0" y="1029"/>
                  </a:lnTo>
                  <a:lnTo>
                    <a:pt x="11" y="1029"/>
                  </a:lnTo>
                  <a:close/>
                  <a:moveTo>
                    <a:pt x="11" y="1051"/>
                  </a:moveTo>
                  <a:lnTo>
                    <a:pt x="11" y="1061"/>
                  </a:lnTo>
                  <a:lnTo>
                    <a:pt x="0" y="1061"/>
                  </a:lnTo>
                  <a:lnTo>
                    <a:pt x="0" y="1051"/>
                  </a:lnTo>
                  <a:lnTo>
                    <a:pt x="11" y="1051"/>
                  </a:lnTo>
                  <a:close/>
                  <a:moveTo>
                    <a:pt x="11" y="1072"/>
                  </a:moveTo>
                  <a:lnTo>
                    <a:pt x="11" y="1083"/>
                  </a:lnTo>
                  <a:lnTo>
                    <a:pt x="0" y="1083"/>
                  </a:lnTo>
                  <a:lnTo>
                    <a:pt x="0" y="1072"/>
                  </a:lnTo>
                  <a:lnTo>
                    <a:pt x="11" y="1072"/>
                  </a:lnTo>
                  <a:close/>
                  <a:moveTo>
                    <a:pt x="11" y="1094"/>
                  </a:moveTo>
                  <a:lnTo>
                    <a:pt x="11" y="1104"/>
                  </a:lnTo>
                  <a:lnTo>
                    <a:pt x="0" y="1104"/>
                  </a:lnTo>
                  <a:lnTo>
                    <a:pt x="0" y="1094"/>
                  </a:lnTo>
                  <a:lnTo>
                    <a:pt x="11" y="1094"/>
                  </a:lnTo>
                  <a:close/>
                  <a:moveTo>
                    <a:pt x="11" y="1115"/>
                  </a:moveTo>
                  <a:lnTo>
                    <a:pt x="11" y="1126"/>
                  </a:lnTo>
                  <a:lnTo>
                    <a:pt x="0" y="1126"/>
                  </a:lnTo>
                  <a:lnTo>
                    <a:pt x="0" y="1115"/>
                  </a:lnTo>
                  <a:lnTo>
                    <a:pt x="11" y="1115"/>
                  </a:lnTo>
                  <a:close/>
                  <a:moveTo>
                    <a:pt x="11" y="1136"/>
                  </a:moveTo>
                  <a:lnTo>
                    <a:pt x="11" y="1147"/>
                  </a:lnTo>
                  <a:lnTo>
                    <a:pt x="0" y="1147"/>
                  </a:lnTo>
                  <a:lnTo>
                    <a:pt x="0" y="1136"/>
                  </a:lnTo>
                  <a:lnTo>
                    <a:pt x="11" y="1136"/>
                  </a:lnTo>
                  <a:close/>
                  <a:moveTo>
                    <a:pt x="11" y="1158"/>
                  </a:moveTo>
                  <a:lnTo>
                    <a:pt x="11" y="1169"/>
                  </a:lnTo>
                  <a:lnTo>
                    <a:pt x="0" y="1169"/>
                  </a:lnTo>
                  <a:lnTo>
                    <a:pt x="0" y="1158"/>
                  </a:lnTo>
                  <a:lnTo>
                    <a:pt x="11" y="1158"/>
                  </a:lnTo>
                  <a:close/>
                  <a:moveTo>
                    <a:pt x="11" y="1179"/>
                  </a:moveTo>
                  <a:lnTo>
                    <a:pt x="11" y="1190"/>
                  </a:lnTo>
                  <a:lnTo>
                    <a:pt x="0" y="1190"/>
                  </a:lnTo>
                  <a:lnTo>
                    <a:pt x="0" y="1179"/>
                  </a:lnTo>
                  <a:lnTo>
                    <a:pt x="11" y="1179"/>
                  </a:lnTo>
                  <a:close/>
                  <a:moveTo>
                    <a:pt x="11" y="1201"/>
                  </a:moveTo>
                  <a:lnTo>
                    <a:pt x="11" y="1212"/>
                  </a:lnTo>
                  <a:lnTo>
                    <a:pt x="0" y="1212"/>
                  </a:lnTo>
                  <a:lnTo>
                    <a:pt x="0" y="1201"/>
                  </a:lnTo>
                  <a:lnTo>
                    <a:pt x="11" y="1201"/>
                  </a:lnTo>
                  <a:close/>
                  <a:moveTo>
                    <a:pt x="11" y="1222"/>
                  </a:moveTo>
                  <a:lnTo>
                    <a:pt x="11" y="1233"/>
                  </a:lnTo>
                  <a:lnTo>
                    <a:pt x="0" y="1233"/>
                  </a:lnTo>
                  <a:lnTo>
                    <a:pt x="0" y="1222"/>
                  </a:lnTo>
                  <a:lnTo>
                    <a:pt x="11" y="1222"/>
                  </a:lnTo>
                  <a:close/>
                  <a:moveTo>
                    <a:pt x="11" y="1244"/>
                  </a:moveTo>
                  <a:lnTo>
                    <a:pt x="11" y="1254"/>
                  </a:lnTo>
                  <a:lnTo>
                    <a:pt x="0" y="1254"/>
                  </a:lnTo>
                  <a:lnTo>
                    <a:pt x="0" y="1244"/>
                  </a:lnTo>
                  <a:lnTo>
                    <a:pt x="11" y="1244"/>
                  </a:lnTo>
                  <a:close/>
                  <a:moveTo>
                    <a:pt x="11" y="1265"/>
                  </a:moveTo>
                  <a:lnTo>
                    <a:pt x="11" y="1276"/>
                  </a:lnTo>
                  <a:lnTo>
                    <a:pt x="0" y="1276"/>
                  </a:lnTo>
                  <a:lnTo>
                    <a:pt x="0" y="1265"/>
                  </a:lnTo>
                  <a:lnTo>
                    <a:pt x="11" y="1265"/>
                  </a:lnTo>
                  <a:close/>
                  <a:moveTo>
                    <a:pt x="11" y="1287"/>
                  </a:moveTo>
                  <a:lnTo>
                    <a:pt x="11" y="1297"/>
                  </a:lnTo>
                  <a:lnTo>
                    <a:pt x="0" y="1297"/>
                  </a:lnTo>
                  <a:lnTo>
                    <a:pt x="0" y="1287"/>
                  </a:lnTo>
                  <a:lnTo>
                    <a:pt x="11" y="1287"/>
                  </a:lnTo>
                  <a:close/>
                  <a:moveTo>
                    <a:pt x="11" y="1308"/>
                  </a:moveTo>
                  <a:lnTo>
                    <a:pt x="11" y="1319"/>
                  </a:lnTo>
                  <a:lnTo>
                    <a:pt x="0" y="1319"/>
                  </a:lnTo>
                  <a:lnTo>
                    <a:pt x="0" y="1308"/>
                  </a:lnTo>
                  <a:lnTo>
                    <a:pt x="11" y="1308"/>
                  </a:lnTo>
                  <a:close/>
                  <a:moveTo>
                    <a:pt x="11" y="1330"/>
                  </a:moveTo>
                  <a:lnTo>
                    <a:pt x="11" y="1340"/>
                  </a:lnTo>
                  <a:lnTo>
                    <a:pt x="0" y="1340"/>
                  </a:lnTo>
                  <a:lnTo>
                    <a:pt x="0" y="1330"/>
                  </a:lnTo>
                  <a:lnTo>
                    <a:pt x="11" y="1330"/>
                  </a:lnTo>
                  <a:close/>
                  <a:moveTo>
                    <a:pt x="11" y="1351"/>
                  </a:moveTo>
                  <a:lnTo>
                    <a:pt x="11" y="1362"/>
                  </a:lnTo>
                  <a:lnTo>
                    <a:pt x="0" y="1362"/>
                  </a:lnTo>
                  <a:lnTo>
                    <a:pt x="0" y="1351"/>
                  </a:lnTo>
                  <a:lnTo>
                    <a:pt x="11" y="1351"/>
                  </a:lnTo>
                  <a:close/>
                  <a:moveTo>
                    <a:pt x="11" y="1373"/>
                  </a:moveTo>
                  <a:lnTo>
                    <a:pt x="11" y="1383"/>
                  </a:lnTo>
                  <a:lnTo>
                    <a:pt x="0" y="1383"/>
                  </a:lnTo>
                  <a:lnTo>
                    <a:pt x="0" y="1373"/>
                  </a:lnTo>
                  <a:lnTo>
                    <a:pt x="11" y="1373"/>
                  </a:lnTo>
                  <a:close/>
                  <a:moveTo>
                    <a:pt x="11" y="1394"/>
                  </a:moveTo>
                  <a:lnTo>
                    <a:pt x="11" y="1405"/>
                  </a:lnTo>
                  <a:lnTo>
                    <a:pt x="0" y="1405"/>
                  </a:lnTo>
                  <a:lnTo>
                    <a:pt x="0" y="1394"/>
                  </a:lnTo>
                  <a:lnTo>
                    <a:pt x="11" y="1394"/>
                  </a:lnTo>
                  <a:close/>
                  <a:moveTo>
                    <a:pt x="11" y="1415"/>
                  </a:moveTo>
                  <a:lnTo>
                    <a:pt x="11" y="1426"/>
                  </a:lnTo>
                  <a:lnTo>
                    <a:pt x="0" y="1426"/>
                  </a:lnTo>
                  <a:lnTo>
                    <a:pt x="0" y="1415"/>
                  </a:lnTo>
                  <a:lnTo>
                    <a:pt x="11" y="1415"/>
                  </a:lnTo>
                  <a:close/>
                  <a:moveTo>
                    <a:pt x="11" y="1437"/>
                  </a:moveTo>
                  <a:lnTo>
                    <a:pt x="11" y="1447"/>
                  </a:lnTo>
                  <a:lnTo>
                    <a:pt x="0" y="1447"/>
                  </a:lnTo>
                  <a:lnTo>
                    <a:pt x="0" y="1437"/>
                  </a:lnTo>
                  <a:lnTo>
                    <a:pt x="11" y="1437"/>
                  </a:lnTo>
                  <a:close/>
                  <a:moveTo>
                    <a:pt x="11" y="1458"/>
                  </a:moveTo>
                  <a:lnTo>
                    <a:pt x="11" y="1469"/>
                  </a:lnTo>
                  <a:lnTo>
                    <a:pt x="0" y="1469"/>
                  </a:lnTo>
                  <a:lnTo>
                    <a:pt x="0" y="1458"/>
                  </a:lnTo>
                  <a:lnTo>
                    <a:pt x="11" y="1458"/>
                  </a:lnTo>
                  <a:close/>
                  <a:moveTo>
                    <a:pt x="11" y="1480"/>
                  </a:moveTo>
                  <a:lnTo>
                    <a:pt x="11" y="1490"/>
                  </a:lnTo>
                  <a:lnTo>
                    <a:pt x="0" y="1490"/>
                  </a:lnTo>
                  <a:lnTo>
                    <a:pt x="0" y="1480"/>
                  </a:lnTo>
                  <a:lnTo>
                    <a:pt x="11" y="1480"/>
                  </a:lnTo>
                  <a:close/>
                  <a:moveTo>
                    <a:pt x="11" y="1501"/>
                  </a:moveTo>
                  <a:lnTo>
                    <a:pt x="11" y="1512"/>
                  </a:lnTo>
                  <a:lnTo>
                    <a:pt x="0" y="1512"/>
                  </a:lnTo>
                  <a:lnTo>
                    <a:pt x="0" y="1501"/>
                  </a:lnTo>
                  <a:lnTo>
                    <a:pt x="11" y="1501"/>
                  </a:lnTo>
                  <a:close/>
                  <a:moveTo>
                    <a:pt x="11" y="1523"/>
                  </a:moveTo>
                  <a:lnTo>
                    <a:pt x="11" y="1533"/>
                  </a:lnTo>
                  <a:lnTo>
                    <a:pt x="0" y="1533"/>
                  </a:lnTo>
                  <a:lnTo>
                    <a:pt x="0" y="1523"/>
                  </a:lnTo>
                  <a:lnTo>
                    <a:pt x="11" y="1523"/>
                  </a:lnTo>
                  <a:close/>
                  <a:moveTo>
                    <a:pt x="11" y="1544"/>
                  </a:moveTo>
                  <a:lnTo>
                    <a:pt x="11" y="1555"/>
                  </a:lnTo>
                  <a:lnTo>
                    <a:pt x="0" y="1555"/>
                  </a:lnTo>
                  <a:lnTo>
                    <a:pt x="0" y="1544"/>
                  </a:lnTo>
                  <a:lnTo>
                    <a:pt x="11" y="1544"/>
                  </a:lnTo>
                  <a:close/>
                  <a:moveTo>
                    <a:pt x="11" y="1566"/>
                  </a:moveTo>
                  <a:lnTo>
                    <a:pt x="11" y="1576"/>
                  </a:lnTo>
                  <a:lnTo>
                    <a:pt x="0" y="1576"/>
                  </a:lnTo>
                  <a:lnTo>
                    <a:pt x="0" y="1566"/>
                  </a:lnTo>
                  <a:lnTo>
                    <a:pt x="11" y="1566"/>
                  </a:lnTo>
                  <a:close/>
                  <a:moveTo>
                    <a:pt x="11" y="1587"/>
                  </a:moveTo>
                  <a:lnTo>
                    <a:pt x="11" y="1598"/>
                  </a:lnTo>
                  <a:lnTo>
                    <a:pt x="0" y="1598"/>
                  </a:lnTo>
                  <a:lnTo>
                    <a:pt x="0" y="1587"/>
                  </a:lnTo>
                  <a:lnTo>
                    <a:pt x="11" y="1587"/>
                  </a:lnTo>
                  <a:close/>
                  <a:moveTo>
                    <a:pt x="11" y="1608"/>
                  </a:moveTo>
                  <a:lnTo>
                    <a:pt x="11" y="1619"/>
                  </a:lnTo>
                  <a:lnTo>
                    <a:pt x="0" y="1619"/>
                  </a:lnTo>
                  <a:lnTo>
                    <a:pt x="0" y="1608"/>
                  </a:lnTo>
                  <a:lnTo>
                    <a:pt x="11" y="1608"/>
                  </a:lnTo>
                  <a:close/>
                  <a:moveTo>
                    <a:pt x="11" y="1630"/>
                  </a:moveTo>
                  <a:lnTo>
                    <a:pt x="11" y="1640"/>
                  </a:lnTo>
                  <a:lnTo>
                    <a:pt x="0" y="1640"/>
                  </a:lnTo>
                  <a:lnTo>
                    <a:pt x="0" y="1630"/>
                  </a:lnTo>
                  <a:lnTo>
                    <a:pt x="11" y="1630"/>
                  </a:lnTo>
                  <a:close/>
                  <a:moveTo>
                    <a:pt x="11" y="1651"/>
                  </a:moveTo>
                  <a:lnTo>
                    <a:pt x="11" y="1662"/>
                  </a:lnTo>
                  <a:lnTo>
                    <a:pt x="0" y="1662"/>
                  </a:lnTo>
                  <a:lnTo>
                    <a:pt x="0" y="1651"/>
                  </a:lnTo>
                  <a:lnTo>
                    <a:pt x="11" y="1651"/>
                  </a:lnTo>
                  <a:close/>
                  <a:moveTo>
                    <a:pt x="11" y="1673"/>
                  </a:moveTo>
                  <a:lnTo>
                    <a:pt x="11" y="1683"/>
                  </a:lnTo>
                  <a:lnTo>
                    <a:pt x="0" y="1683"/>
                  </a:lnTo>
                  <a:lnTo>
                    <a:pt x="0" y="1673"/>
                  </a:lnTo>
                  <a:lnTo>
                    <a:pt x="11" y="1673"/>
                  </a:lnTo>
                  <a:close/>
                  <a:moveTo>
                    <a:pt x="11" y="1694"/>
                  </a:moveTo>
                  <a:lnTo>
                    <a:pt x="11" y="1705"/>
                  </a:lnTo>
                  <a:lnTo>
                    <a:pt x="0" y="1705"/>
                  </a:lnTo>
                  <a:lnTo>
                    <a:pt x="0" y="1694"/>
                  </a:lnTo>
                  <a:lnTo>
                    <a:pt x="11" y="1694"/>
                  </a:lnTo>
                  <a:close/>
                  <a:moveTo>
                    <a:pt x="11" y="1716"/>
                  </a:moveTo>
                  <a:lnTo>
                    <a:pt x="11" y="1726"/>
                  </a:lnTo>
                  <a:lnTo>
                    <a:pt x="0" y="1726"/>
                  </a:lnTo>
                  <a:lnTo>
                    <a:pt x="0" y="1716"/>
                  </a:lnTo>
                  <a:lnTo>
                    <a:pt x="11" y="1716"/>
                  </a:lnTo>
                  <a:close/>
                  <a:moveTo>
                    <a:pt x="11" y="1737"/>
                  </a:moveTo>
                  <a:lnTo>
                    <a:pt x="11" y="1748"/>
                  </a:lnTo>
                  <a:lnTo>
                    <a:pt x="0" y="1748"/>
                  </a:lnTo>
                  <a:lnTo>
                    <a:pt x="0" y="1737"/>
                  </a:lnTo>
                  <a:lnTo>
                    <a:pt x="11" y="1737"/>
                  </a:lnTo>
                  <a:close/>
                  <a:moveTo>
                    <a:pt x="11" y="1759"/>
                  </a:moveTo>
                  <a:lnTo>
                    <a:pt x="11" y="1769"/>
                  </a:lnTo>
                  <a:lnTo>
                    <a:pt x="0" y="1769"/>
                  </a:lnTo>
                  <a:lnTo>
                    <a:pt x="0" y="1759"/>
                  </a:lnTo>
                  <a:lnTo>
                    <a:pt x="11" y="1759"/>
                  </a:lnTo>
                  <a:close/>
                  <a:moveTo>
                    <a:pt x="11" y="1780"/>
                  </a:moveTo>
                  <a:lnTo>
                    <a:pt x="11" y="1791"/>
                  </a:lnTo>
                  <a:lnTo>
                    <a:pt x="0" y="1791"/>
                  </a:lnTo>
                  <a:lnTo>
                    <a:pt x="0" y="1780"/>
                  </a:lnTo>
                  <a:lnTo>
                    <a:pt x="11" y="1780"/>
                  </a:lnTo>
                  <a:close/>
                  <a:moveTo>
                    <a:pt x="11" y="1801"/>
                  </a:moveTo>
                  <a:lnTo>
                    <a:pt x="11" y="1812"/>
                  </a:lnTo>
                  <a:lnTo>
                    <a:pt x="0" y="1812"/>
                  </a:lnTo>
                  <a:lnTo>
                    <a:pt x="0" y="1801"/>
                  </a:lnTo>
                  <a:lnTo>
                    <a:pt x="11" y="1801"/>
                  </a:lnTo>
                  <a:close/>
                  <a:moveTo>
                    <a:pt x="11" y="1823"/>
                  </a:moveTo>
                  <a:lnTo>
                    <a:pt x="11" y="1834"/>
                  </a:lnTo>
                  <a:lnTo>
                    <a:pt x="0" y="1834"/>
                  </a:lnTo>
                  <a:lnTo>
                    <a:pt x="0" y="1823"/>
                  </a:lnTo>
                  <a:lnTo>
                    <a:pt x="11" y="1823"/>
                  </a:lnTo>
                  <a:close/>
                  <a:moveTo>
                    <a:pt x="11" y="1844"/>
                  </a:moveTo>
                  <a:lnTo>
                    <a:pt x="11" y="1855"/>
                  </a:lnTo>
                  <a:lnTo>
                    <a:pt x="0" y="1855"/>
                  </a:lnTo>
                  <a:lnTo>
                    <a:pt x="0" y="1844"/>
                  </a:lnTo>
                  <a:lnTo>
                    <a:pt x="11" y="1844"/>
                  </a:lnTo>
                  <a:close/>
                  <a:moveTo>
                    <a:pt x="11" y="1866"/>
                  </a:moveTo>
                  <a:lnTo>
                    <a:pt x="11" y="1877"/>
                  </a:lnTo>
                  <a:lnTo>
                    <a:pt x="0" y="1877"/>
                  </a:lnTo>
                  <a:lnTo>
                    <a:pt x="0" y="1866"/>
                  </a:lnTo>
                  <a:lnTo>
                    <a:pt x="11" y="1866"/>
                  </a:lnTo>
                  <a:close/>
                  <a:moveTo>
                    <a:pt x="11" y="1887"/>
                  </a:moveTo>
                  <a:lnTo>
                    <a:pt x="11" y="1898"/>
                  </a:lnTo>
                  <a:lnTo>
                    <a:pt x="0" y="1898"/>
                  </a:lnTo>
                  <a:lnTo>
                    <a:pt x="0" y="1887"/>
                  </a:lnTo>
                  <a:lnTo>
                    <a:pt x="11" y="1887"/>
                  </a:lnTo>
                  <a:close/>
                  <a:moveTo>
                    <a:pt x="11" y="1909"/>
                  </a:moveTo>
                  <a:lnTo>
                    <a:pt x="11" y="1919"/>
                  </a:lnTo>
                  <a:lnTo>
                    <a:pt x="0" y="1919"/>
                  </a:lnTo>
                  <a:lnTo>
                    <a:pt x="0" y="1909"/>
                  </a:lnTo>
                  <a:lnTo>
                    <a:pt x="11" y="1909"/>
                  </a:lnTo>
                  <a:close/>
                  <a:moveTo>
                    <a:pt x="11" y="1930"/>
                  </a:moveTo>
                  <a:lnTo>
                    <a:pt x="11" y="1941"/>
                  </a:lnTo>
                  <a:lnTo>
                    <a:pt x="0" y="1941"/>
                  </a:lnTo>
                  <a:lnTo>
                    <a:pt x="0" y="1930"/>
                  </a:lnTo>
                  <a:lnTo>
                    <a:pt x="11" y="1930"/>
                  </a:lnTo>
                  <a:close/>
                  <a:moveTo>
                    <a:pt x="11" y="1952"/>
                  </a:moveTo>
                  <a:lnTo>
                    <a:pt x="11" y="1962"/>
                  </a:lnTo>
                  <a:lnTo>
                    <a:pt x="0" y="1962"/>
                  </a:lnTo>
                  <a:lnTo>
                    <a:pt x="0" y="1952"/>
                  </a:lnTo>
                  <a:lnTo>
                    <a:pt x="11" y="1952"/>
                  </a:lnTo>
                  <a:close/>
                  <a:moveTo>
                    <a:pt x="11" y="1973"/>
                  </a:moveTo>
                  <a:lnTo>
                    <a:pt x="11" y="1984"/>
                  </a:lnTo>
                  <a:lnTo>
                    <a:pt x="0" y="1984"/>
                  </a:lnTo>
                  <a:lnTo>
                    <a:pt x="0" y="1973"/>
                  </a:lnTo>
                  <a:lnTo>
                    <a:pt x="11" y="1973"/>
                  </a:lnTo>
                  <a:close/>
                  <a:moveTo>
                    <a:pt x="11" y="1994"/>
                  </a:moveTo>
                  <a:lnTo>
                    <a:pt x="11" y="2005"/>
                  </a:lnTo>
                  <a:lnTo>
                    <a:pt x="0" y="2005"/>
                  </a:lnTo>
                  <a:lnTo>
                    <a:pt x="0" y="1994"/>
                  </a:lnTo>
                  <a:lnTo>
                    <a:pt x="11" y="1994"/>
                  </a:lnTo>
                  <a:close/>
                  <a:moveTo>
                    <a:pt x="11" y="2016"/>
                  </a:moveTo>
                  <a:lnTo>
                    <a:pt x="11" y="2027"/>
                  </a:lnTo>
                  <a:lnTo>
                    <a:pt x="0" y="2027"/>
                  </a:lnTo>
                  <a:lnTo>
                    <a:pt x="0" y="2016"/>
                  </a:lnTo>
                  <a:lnTo>
                    <a:pt x="11" y="2016"/>
                  </a:lnTo>
                  <a:close/>
                  <a:moveTo>
                    <a:pt x="11" y="2037"/>
                  </a:moveTo>
                  <a:lnTo>
                    <a:pt x="11" y="2048"/>
                  </a:lnTo>
                  <a:lnTo>
                    <a:pt x="0" y="2048"/>
                  </a:lnTo>
                  <a:lnTo>
                    <a:pt x="0" y="2037"/>
                  </a:lnTo>
                  <a:lnTo>
                    <a:pt x="11" y="2037"/>
                  </a:lnTo>
                  <a:close/>
                  <a:moveTo>
                    <a:pt x="11" y="2059"/>
                  </a:moveTo>
                  <a:lnTo>
                    <a:pt x="11" y="2070"/>
                  </a:lnTo>
                  <a:lnTo>
                    <a:pt x="0" y="2070"/>
                  </a:lnTo>
                  <a:lnTo>
                    <a:pt x="0" y="2059"/>
                  </a:lnTo>
                  <a:lnTo>
                    <a:pt x="11" y="2059"/>
                  </a:lnTo>
                  <a:close/>
                  <a:moveTo>
                    <a:pt x="11" y="2080"/>
                  </a:moveTo>
                  <a:lnTo>
                    <a:pt x="11" y="2091"/>
                  </a:lnTo>
                  <a:lnTo>
                    <a:pt x="0" y="2091"/>
                  </a:lnTo>
                  <a:lnTo>
                    <a:pt x="0" y="2080"/>
                  </a:lnTo>
                  <a:lnTo>
                    <a:pt x="11" y="2080"/>
                  </a:lnTo>
                  <a:close/>
                  <a:moveTo>
                    <a:pt x="11" y="2102"/>
                  </a:moveTo>
                  <a:lnTo>
                    <a:pt x="11" y="2113"/>
                  </a:lnTo>
                  <a:lnTo>
                    <a:pt x="0" y="2113"/>
                  </a:lnTo>
                  <a:lnTo>
                    <a:pt x="0" y="2102"/>
                  </a:lnTo>
                  <a:lnTo>
                    <a:pt x="11" y="2102"/>
                  </a:lnTo>
                  <a:close/>
                  <a:moveTo>
                    <a:pt x="11" y="2123"/>
                  </a:moveTo>
                  <a:lnTo>
                    <a:pt x="11" y="2134"/>
                  </a:lnTo>
                  <a:lnTo>
                    <a:pt x="0" y="2134"/>
                  </a:lnTo>
                  <a:lnTo>
                    <a:pt x="0" y="2123"/>
                  </a:lnTo>
                  <a:lnTo>
                    <a:pt x="11" y="2123"/>
                  </a:lnTo>
                  <a:close/>
                  <a:moveTo>
                    <a:pt x="11" y="2145"/>
                  </a:moveTo>
                  <a:lnTo>
                    <a:pt x="11" y="2155"/>
                  </a:lnTo>
                  <a:lnTo>
                    <a:pt x="0" y="2155"/>
                  </a:lnTo>
                  <a:lnTo>
                    <a:pt x="0" y="2145"/>
                  </a:lnTo>
                  <a:lnTo>
                    <a:pt x="11" y="2145"/>
                  </a:lnTo>
                  <a:close/>
                  <a:moveTo>
                    <a:pt x="11" y="2166"/>
                  </a:moveTo>
                  <a:lnTo>
                    <a:pt x="11" y="2177"/>
                  </a:lnTo>
                  <a:lnTo>
                    <a:pt x="0" y="2177"/>
                  </a:lnTo>
                  <a:lnTo>
                    <a:pt x="0" y="2166"/>
                  </a:lnTo>
                  <a:lnTo>
                    <a:pt x="11" y="2166"/>
                  </a:lnTo>
                  <a:close/>
                  <a:moveTo>
                    <a:pt x="11" y="2187"/>
                  </a:moveTo>
                  <a:lnTo>
                    <a:pt x="11" y="2198"/>
                  </a:lnTo>
                  <a:lnTo>
                    <a:pt x="0" y="2198"/>
                  </a:lnTo>
                  <a:lnTo>
                    <a:pt x="0" y="2187"/>
                  </a:lnTo>
                  <a:lnTo>
                    <a:pt x="11" y="2187"/>
                  </a:lnTo>
                  <a:close/>
                  <a:moveTo>
                    <a:pt x="11" y="2209"/>
                  </a:moveTo>
                  <a:lnTo>
                    <a:pt x="11" y="2220"/>
                  </a:lnTo>
                  <a:lnTo>
                    <a:pt x="0" y="2220"/>
                  </a:lnTo>
                  <a:lnTo>
                    <a:pt x="0" y="2209"/>
                  </a:lnTo>
                  <a:lnTo>
                    <a:pt x="11" y="2209"/>
                  </a:lnTo>
                  <a:close/>
                  <a:moveTo>
                    <a:pt x="11" y="2230"/>
                  </a:moveTo>
                  <a:lnTo>
                    <a:pt x="11" y="2241"/>
                  </a:lnTo>
                  <a:lnTo>
                    <a:pt x="0" y="2241"/>
                  </a:lnTo>
                  <a:lnTo>
                    <a:pt x="0" y="2230"/>
                  </a:lnTo>
                  <a:lnTo>
                    <a:pt x="11" y="2230"/>
                  </a:lnTo>
                  <a:close/>
                  <a:moveTo>
                    <a:pt x="11" y="2252"/>
                  </a:moveTo>
                  <a:lnTo>
                    <a:pt x="11" y="2263"/>
                  </a:lnTo>
                  <a:lnTo>
                    <a:pt x="0" y="2263"/>
                  </a:lnTo>
                  <a:lnTo>
                    <a:pt x="0" y="2252"/>
                  </a:lnTo>
                  <a:lnTo>
                    <a:pt x="11" y="2252"/>
                  </a:lnTo>
                  <a:close/>
                  <a:moveTo>
                    <a:pt x="11" y="2273"/>
                  </a:moveTo>
                  <a:lnTo>
                    <a:pt x="11" y="2284"/>
                  </a:lnTo>
                  <a:lnTo>
                    <a:pt x="0" y="2284"/>
                  </a:lnTo>
                  <a:lnTo>
                    <a:pt x="0" y="2273"/>
                  </a:lnTo>
                  <a:lnTo>
                    <a:pt x="11" y="2273"/>
                  </a:lnTo>
                  <a:close/>
                </a:path>
              </a:pathLst>
            </a:custGeom>
            <a:solidFill>
              <a:srgbClr val="000000"/>
            </a:solidFill>
            <a:ln w="0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5" name="Freeform 89">
              <a:extLst>
                <a:ext uri="{FF2B5EF4-FFF2-40B4-BE49-F238E27FC236}">
                  <a16:creationId xmlns:a16="http://schemas.microsoft.com/office/drawing/2014/main" id="{6309D33D-FE9B-4A17-93EF-B0CCC3520DB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649" y="1946"/>
              <a:ext cx="11" cy="2284"/>
            </a:xfrm>
            <a:custGeom>
              <a:avLst/>
              <a:gdLst>
                <a:gd name="T0" fmla="*/ 0 w 11"/>
                <a:gd name="T1" fmla="*/ 21 h 2284"/>
                <a:gd name="T2" fmla="*/ 0 w 11"/>
                <a:gd name="T3" fmla="*/ 75 h 2284"/>
                <a:gd name="T4" fmla="*/ 11 w 11"/>
                <a:gd name="T5" fmla="*/ 118 h 2284"/>
                <a:gd name="T6" fmla="*/ 11 w 11"/>
                <a:gd name="T7" fmla="*/ 150 h 2284"/>
                <a:gd name="T8" fmla="*/ 11 w 11"/>
                <a:gd name="T9" fmla="*/ 171 h 2284"/>
                <a:gd name="T10" fmla="*/ 0 w 11"/>
                <a:gd name="T11" fmla="*/ 214 h 2284"/>
                <a:gd name="T12" fmla="*/ 0 w 11"/>
                <a:gd name="T13" fmla="*/ 268 h 2284"/>
                <a:gd name="T14" fmla="*/ 11 w 11"/>
                <a:gd name="T15" fmla="*/ 311 h 2284"/>
                <a:gd name="T16" fmla="*/ 11 w 11"/>
                <a:gd name="T17" fmla="*/ 343 h 2284"/>
                <a:gd name="T18" fmla="*/ 11 w 11"/>
                <a:gd name="T19" fmla="*/ 364 h 2284"/>
                <a:gd name="T20" fmla="*/ 0 w 11"/>
                <a:gd name="T21" fmla="*/ 407 h 2284"/>
                <a:gd name="T22" fmla="*/ 0 w 11"/>
                <a:gd name="T23" fmla="*/ 461 h 2284"/>
                <a:gd name="T24" fmla="*/ 11 w 11"/>
                <a:gd name="T25" fmla="*/ 504 h 2284"/>
                <a:gd name="T26" fmla="*/ 11 w 11"/>
                <a:gd name="T27" fmla="*/ 536 h 2284"/>
                <a:gd name="T28" fmla="*/ 11 w 11"/>
                <a:gd name="T29" fmla="*/ 557 h 2284"/>
                <a:gd name="T30" fmla="*/ 0 w 11"/>
                <a:gd name="T31" fmla="*/ 600 h 2284"/>
                <a:gd name="T32" fmla="*/ 0 w 11"/>
                <a:gd name="T33" fmla="*/ 654 h 2284"/>
                <a:gd name="T34" fmla="*/ 11 w 11"/>
                <a:gd name="T35" fmla="*/ 697 h 2284"/>
                <a:gd name="T36" fmla="*/ 11 w 11"/>
                <a:gd name="T37" fmla="*/ 729 h 2284"/>
                <a:gd name="T38" fmla="*/ 11 w 11"/>
                <a:gd name="T39" fmla="*/ 750 h 2284"/>
                <a:gd name="T40" fmla="*/ 0 w 11"/>
                <a:gd name="T41" fmla="*/ 793 h 2284"/>
                <a:gd name="T42" fmla="*/ 0 w 11"/>
                <a:gd name="T43" fmla="*/ 847 h 2284"/>
                <a:gd name="T44" fmla="*/ 11 w 11"/>
                <a:gd name="T45" fmla="*/ 890 h 2284"/>
                <a:gd name="T46" fmla="*/ 11 w 11"/>
                <a:gd name="T47" fmla="*/ 922 h 2284"/>
                <a:gd name="T48" fmla="*/ 11 w 11"/>
                <a:gd name="T49" fmla="*/ 943 h 2284"/>
                <a:gd name="T50" fmla="*/ 0 w 11"/>
                <a:gd name="T51" fmla="*/ 986 h 2284"/>
                <a:gd name="T52" fmla="*/ 0 w 11"/>
                <a:gd name="T53" fmla="*/ 1040 h 2284"/>
                <a:gd name="T54" fmla="*/ 11 w 11"/>
                <a:gd name="T55" fmla="*/ 1083 h 2284"/>
                <a:gd name="T56" fmla="*/ 11 w 11"/>
                <a:gd name="T57" fmla="*/ 1115 h 2284"/>
                <a:gd name="T58" fmla="*/ 11 w 11"/>
                <a:gd name="T59" fmla="*/ 1136 h 2284"/>
                <a:gd name="T60" fmla="*/ 0 w 11"/>
                <a:gd name="T61" fmla="*/ 1179 h 2284"/>
                <a:gd name="T62" fmla="*/ 0 w 11"/>
                <a:gd name="T63" fmla="*/ 1233 h 2284"/>
                <a:gd name="T64" fmla="*/ 11 w 11"/>
                <a:gd name="T65" fmla="*/ 1276 h 2284"/>
                <a:gd name="T66" fmla="*/ 11 w 11"/>
                <a:gd name="T67" fmla="*/ 1308 h 2284"/>
                <a:gd name="T68" fmla="*/ 11 w 11"/>
                <a:gd name="T69" fmla="*/ 1330 h 2284"/>
                <a:gd name="T70" fmla="*/ 0 w 11"/>
                <a:gd name="T71" fmla="*/ 1373 h 2284"/>
                <a:gd name="T72" fmla="*/ 0 w 11"/>
                <a:gd name="T73" fmla="*/ 1426 h 2284"/>
                <a:gd name="T74" fmla="*/ 11 w 11"/>
                <a:gd name="T75" fmla="*/ 1469 h 2284"/>
                <a:gd name="T76" fmla="*/ 11 w 11"/>
                <a:gd name="T77" fmla="*/ 1501 h 2284"/>
                <a:gd name="T78" fmla="*/ 11 w 11"/>
                <a:gd name="T79" fmla="*/ 1523 h 2284"/>
                <a:gd name="T80" fmla="*/ 0 w 11"/>
                <a:gd name="T81" fmla="*/ 1566 h 2284"/>
                <a:gd name="T82" fmla="*/ 0 w 11"/>
                <a:gd name="T83" fmla="*/ 1619 h 2284"/>
                <a:gd name="T84" fmla="*/ 11 w 11"/>
                <a:gd name="T85" fmla="*/ 1662 h 2284"/>
                <a:gd name="T86" fmla="*/ 11 w 11"/>
                <a:gd name="T87" fmla="*/ 1694 h 2284"/>
                <a:gd name="T88" fmla="*/ 11 w 11"/>
                <a:gd name="T89" fmla="*/ 1716 h 2284"/>
                <a:gd name="T90" fmla="*/ 0 w 11"/>
                <a:gd name="T91" fmla="*/ 1759 h 2284"/>
                <a:gd name="T92" fmla="*/ 0 w 11"/>
                <a:gd name="T93" fmla="*/ 1812 h 2284"/>
                <a:gd name="T94" fmla="*/ 11 w 11"/>
                <a:gd name="T95" fmla="*/ 1855 h 2284"/>
                <a:gd name="T96" fmla="*/ 11 w 11"/>
                <a:gd name="T97" fmla="*/ 1887 h 2284"/>
                <a:gd name="T98" fmla="*/ 11 w 11"/>
                <a:gd name="T99" fmla="*/ 1909 h 2284"/>
                <a:gd name="T100" fmla="*/ 0 w 11"/>
                <a:gd name="T101" fmla="*/ 1952 h 2284"/>
                <a:gd name="T102" fmla="*/ 0 w 11"/>
                <a:gd name="T103" fmla="*/ 2005 h 2284"/>
                <a:gd name="T104" fmla="*/ 11 w 11"/>
                <a:gd name="T105" fmla="*/ 2048 h 2284"/>
                <a:gd name="T106" fmla="*/ 11 w 11"/>
                <a:gd name="T107" fmla="*/ 2080 h 2284"/>
                <a:gd name="T108" fmla="*/ 11 w 11"/>
                <a:gd name="T109" fmla="*/ 2102 h 2284"/>
                <a:gd name="T110" fmla="*/ 0 w 11"/>
                <a:gd name="T111" fmla="*/ 2145 h 2284"/>
                <a:gd name="T112" fmla="*/ 0 w 11"/>
                <a:gd name="T113" fmla="*/ 2198 h 2284"/>
                <a:gd name="T114" fmla="*/ 11 w 11"/>
                <a:gd name="T115" fmla="*/ 2241 h 2284"/>
                <a:gd name="T116" fmla="*/ 11 w 11"/>
                <a:gd name="T117" fmla="*/ 2273 h 22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1" h="2284">
                  <a:moveTo>
                    <a:pt x="11" y="0"/>
                  </a:moveTo>
                  <a:lnTo>
                    <a:pt x="11" y="10"/>
                  </a:lnTo>
                  <a:lnTo>
                    <a:pt x="0" y="10"/>
                  </a:lnTo>
                  <a:lnTo>
                    <a:pt x="0" y="0"/>
                  </a:lnTo>
                  <a:lnTo>
                    <a:pt x="11" y="0"/>
                  </a:lnTo>
                  <a:close/>
                  <a:moveTo>
                    <a:pt x="11" y="21"/>
                  </a:moveTo>
                  <a:lnTo>
                    <a:pt x="11" y="32"/>
                  </a:lnTo>
                  <a:lnTo>
                    <a:pt x="0" y="32"/>
                  </a:lnTo>
                  <a:lnTo>
                    <a:pt x="0" y="21"/>
                  </a:lnTo>
                  <a:lnTo>
                    <a:pt x="11" y="21"/>
                  </a:lnTo>
                  <a:close/>
                  <a:moveTo>
                    <a:pt x="11" y="43"/>
                  </a:moveTo>
                  <a:lnTo>
                    <a:pt x="11" y="53"/>
                  </a:lnTo>
                  <a:lnTo>
                    <a:pt x="0" y="53"/>
                  </a:lnTo>
                  <a:lnTo>
                    <a:pt x="0" y="43"/>
                  </a:lnTo>
                  <a:lnTo>
                    <a:pt x="11" y="43"/>
                  </a:lnTo>
                  <a:close/>
                  <a:moveTo>
                    <a:pt x="11" y="64"/>
                  </a:moveTo>
                  <a:lnTo>
                    <a:pt x="11" y="75"/>
                  </a:lnTo>
                  <a:lnTo>
                    <a:pt x="0" y="75"/>
                  </a:lnTo>
                  <a:lnTo>
                    <a:pt x="0" y="64"/>
                  </a:lnTo>
                  <a:lnTo>
                    <a:pt x="11" y="64"/>
                  </a:lnTo>
                  <a:close/>
                  <a:moveTo>
                    <a:pt x="11" y="86"/>
                  </a:moveTo>
                  <a:lnTo>
                    <a:pt x="11" y="96"/>
                  </a:lnTo>
                  <a:lnTo>
                    <a:pt x="0" y="96"/>
                  </a:lnTo>
                  <a:lnTo>
                    <a:pt x="0" y="86"/>
                  </a:lnTo>
                  <a:lnTo>
                    <a:pt x="11" y="86"/>
                  </a:lnTo>
                  <a:close/>
                  <a:moveTo>
                    <a:pt x="11" y="107"/>
                  </a:moveTo>
                  <a:lnTo>
                    <a:pt x="11" y="118"/>
                  </a:lnTo>
                  <a:lnTo>
                    <a:pt x="0" y="118"/>
                  </a:lnTo>
                  <a:lnTo>
                    <a:pt x="0" y="107"/>
                  </a:lnTo>
                  <a:lnTo>
                    <a:pt x="11" y="107"/>
                  </a:lnTo>
                  <a:close/>
                  <a:moveTo>
                    <a:pt x="11" y="128"/>
                  </a:moveTo>
                  <a:lnTo>
                    <a:pt x="11" y="139"/>
                  </a:lnTo>
                  <a:lnTo>
                    <a:pt x="0" y="139"/>
                  </a:lnTo>
                  <a:lnTo>
                    <a:pt x="0" y="128"/>
                  </a:lnTo>
                  <a:lnTo>
                    <a:pt x="11" y="128"/>
                  </a:lnTo>
                  <a:close/>
                  <a:moveTo>
                    <a:pt x="11" y="150"/>
                  </a:moveTo>
                  <a:lnTo>
                    <a:pt x="11" y="160"/>
                  </a:lnTo>
                  <a:lnTo>
                    <a:pt x="0" y="160"/>
                  </a:lnTo>
                  <a:lnTo>
                    <a:pt x="0" y="150"/>
                  </a:lnTo>
                  <a:lnTo>
                    <a:pt x="11" y="150"/>
                  </a:lnTo>
                  <a:close/>
                  <a:moveTo>
                    <a:pt x="11" y="171"/>
                  </a:moveTo>
                  <a:lnTo>
                    <a:pt x="11" y="182"/>
                  </a:lnTo>
                  <a:lnTo>
                    <a:pt x="0" y="182"/>
                  </a:lnTo>
                  <a:lnTo>
                    <a:pt x="0" y="171"/>
                  </a:lnTo>
                  <a:lnTo>
                    <a:pt x="11" y="171"/>
                  </a:lnTo>
                  <a:close/>
                  <a:moveTo>
                    <a:pt x="11" y="193"/>
                  </a:moveTo>
                  <a:lnTo>
                    <a:pt x="11" y="203"/>
                  </a:lnTo>
                  <a:lnTo>
                    <a:pt x="0" y="203"/>
                  </a:lnTo>
                  <a:lnTo>
                    <a:pt x="0" y="193"/>
                  </a:lnTo>
                  <a:lnTo>
                    <a:pt x="11" y="193"/>
                  </a:lnTo>
                  <a:close/>
                  <a:moveTo>
                    <a:pt x="11" y="214"/>
                  </a:moveTo>
                  <a:lnTo>
                    <a:pt x="11" y="225"/>
                  </a:lnTo>
                  <a:lnTo>
                    <a:pt x="0" y="225"/>
                  </a:lnTo>
                  <a:lnTo>
                    <a:pt x="0" y="214"/>
                  </a:lnTo>
                  <a:lnTo>
                    <a:pt x="11" y="214"/>
                  </a:lnTo>
                  <a:close/>
                  <a:moveTo>
                    <a:pt x="11" y="236"/>
                  </a:moveTo>
                  <a:lnTo>
                    <a:pt x="11" y="246"/>
                  </a:lnTo>
                  <a:lnTo>
                    <a:pt x="0" y="246"/>
                  </a:lnTo>
                  <a:lnTo>
                    <a:pt x="0" y="236"/>
                  </a:lnTo>
                  <a:lnTo>
                    <a:pt x="11" y="236"/>
                  </a:lnTo>
                  <a:close/>
                  <a:moveTo>
                    <a:pt x="11" y="257"/>
                  </a:moveTo>
                  <a:lnTo>
                    <a:pt x="11" y="268"/>
                  </a:lnTo>
                  <a:lnTo>
                    <a:pt x="0" y="268"/>
                  </a:lnTo>
                  <a:lnTo>
                    <a:pt x="0" y="257"/>
                  </a:lnTo>
                  <a:lnTo>
                    <a:pt x="11" y="257"/>
                  </a:lnTo>
                  <a:close/>
                  <a:moveTo>
                    <a:pt x="11" y="279"/>
                  </a:moveTo>
                  <a:lnTo>
                    <a:pt x="11" y="289"/>
                  </a:lnTo>
                  <a:lnTo>
                    <a:pt x="0" y="289"/>
                  </a:lnTo>
                  <a:lnTo>
                    <a:pt x="0" y="279"/>
                  </a:lnTo>
                  <a:lnTo>
                    <a:pt x="11" y="279"/>
                  </a:lnTo>
                  <a:close/>
                  <a:moveTo>
                    <a:pt x="11" y="300"/>
                  </a:moveTo>
                  <a:lnTo>
                    <a:pt x="11" y="311"/>
                  </a:lnTo>
                  <a:lnTo>
                    <a:pt x="0" y="311"/>
                  </a:lnTo>
                  <a:lnTo>
                    <a:pt x="0" y="300"/>
                  </a:lnTo>
                  <a:lnTo>
                    <a:pt x="11" y="300"/>
                  </a:lnTo>
                  <a:close/>
                  <a:moveTo>
                    <a:pt x="11" y="321"/>
                  </a:moveTo>
                  <a:lnTo>
                    <a:pt x="11" y="332"/>
                  </a:lnTo>
                  <a:lnTo>
                    <a:pt x="0" y="332"/>
                  </a:lnTo>
                  <a:lnTo>
                    <a:pt x="0" y="321"/>
                  </a:lnTo>
                  <a:lnTo>
                    <a:pt x="11" y="321"/>
                  </a:lnTo>
                  <a:close/>
                  <a:moveTo>
                    <a:pt x="11" y="343"/>
                  </a:moveTo>
                  <a:lnTo>
                    <a:pt x="11" y="353"/>
                  </a:lnTo>
                  <a:lnTo>
                    <a:pt x="0" y="353"/>
                  </a:lnTo>
                  <a:lnTo>
                    <a:pt x="0" y="343"/>
                  </a:lnTo>
                  <a:lnTo>
                    <a:pt x="11" y="343"/>
                  </a:lnTo>
                  <a:close/>
                  <a:moveTo>
                    <a:pt x="11" y="364"/>
                  </a:moveTo>
                  <a:lnTo>
                    <a:pt x="11" y="375"/>
                  </a:lnTo>
                  <a:lnTo>
                    <a:pt x="0" y="375"/>
                  </a:lnTo>
                  <a:lnTo>
                    <a:pt x="0" y="364"/>
                  </a:lnTo>
                  <a:lnTo>
                    <a:pt x="11" y="364"/>
                  </a:lnTo>
                  <a:close/>
                  <a:moveTo>
                    <a:pt x="11" y="386"/>
                  </a:moveTo>
                  <a:lnTo>
                    <a:pt x="11" y="396"/>
                  </a:lnTo>
                  <a:lnTo>
                    <a:pt x="0" y="396"/>
                  </a:lnTo>
                  <a:lnTo>
                    <a:pt x="0" y="386"/>
                  </a:lnTo>
                  <a:lnTo>
                    <a:pt x="11" y="386"/>
                  </a:lnTo>
                  <a:close/>
                  <a:moveTo>
                    <a:pt x="11" y="407"/>
                  </a:moveTo>
                  <a:lnTo>
                    <a:pt x="11" y="418"/>
                  </a:lnTo>
                  <a:lnTo>
                    <a:pt x="0" y="418"/>
                  </a:lnTo>
                  <a:lnTo>
                    <a:pt x="0" y="407"/>
                  </a:lnTo>
                  <a:lnTo>
                    <a:pt x="11" y="407"/>
                  </a:lnTo>
                  <a:close/>
                  <a:moveTo>
                    <a:pt x="11" y="429"/>
                  </a:moveTo>
                  <a:lnTo>
                    <a:pt x="11" y="439"/>
                  </a:lnTo>
                  <a:lnTo>
                    <a:pt x="0" y="439"/>
                  </a:lnTo>
                  <a:lnTo>
                    <a:pt x="0" y="429"/>
                  </a:lnTo>
                  <a:lnTo>
                    <a:pt x="11" y="429"/>
                  </a:lnTo>
                  <a:close/>
                  <a:moveTo>
                    <a:pt x="11" y="450"/>
                  </a:moveTo>
                  <a:lnTo>
                    <a:pt x="11" y="461"/>
                  </a:lnTo>
                  <a:lnTo>
                    <a:pt x="0" y="461"/>
                  </a:lnTo>
                  <a:lnTo>
                    <a:pt x="0" y="450"/>
                  </a:lnTo>
                  <a:lnTo>
                    <a:pt x="11" y="450"/>
                  </a:lnTo>
                  <a:close/>
                  <a:moveTo>
                    <a:pt x="11" y="472"/>
                  </a:moveTo>
                  <a:lnTo>
                    <a:pt x="11" y="482"/>
                  </a:lnTo>
                  <a:lnTo>
                    <a:pt x="0" y="482"/>
                  </a:lnTo>
                  <a:lnTo>
                    <a:pt x="0" y="472"/>
                  </a:lnTo>
                  <a:lnTo>
                    <a:pt x="11" y="472"/>
                  </a:lnTo>
                  <a:close/>
                  <a:moveTo>
                    <a:pt x="11" y="493"/>
                  </a:moveTo>
                  <a:lnTo>
                    <a:pt x="11" y="504"/>
                  </a:lnTo>
                  <a:lnTo>
                    <a:pt x="0" y="504"/>
                  </a:lnTo>
                  <a:lnTo>
                    <a:pt x="0" y="493"/>
                  </a:lnTo>
                  <a:lnTo>
                    <a:pt x="11" y="493"/>
                  </a:lnTo>
                  <a:close/>
                  <a:moveTo>
                    <a:pt x="11" y="514"/>
                  </a:moveTo>
                  <a:lnTo>
                    <a:pt x="11" y="525"/>
                  </a:lnTo>
                  <a:lnTo>
                    <a:pt x="0" y="525"/>
                  </a:lnTo>
                  <a:lnTo>
                    <a:pt x="0" y="514"/>
                  </a:lnTo>
                  <a:lnTo>
                    <a:pt x="11" y="514"/>
                  </a:lnTo>
                  <a:close/>
                  <a:moveTo>
                    <a:pt x="11" y="536"/>
                  </a:moveTo>
                  <a:lnTo>
                    <a:pt x="11" y="547"/>
                  </a:lnTo>
                  <a:lnTo>
                    <a:pt x="0" y="547"/>
                  </a:lnTo>
                  <a:lnTo>
                    <a:pt x="0" y="536"/>
                  </a:lnTo>
                  <a:lnTo>
                    <a:pt x="11" y="536"/>
                  </a:lnTo>
                  <a:close/>
                  <a:moveTo>
                    <a:pt x="11" y="557"/>
                  </a:moveTo>
                  <a:lnTo>
                    <a:pt x="11" y="568"/>
                  </a:lnTo>
                  <a:lnTo>
                    <a:pt x="0" y="568"/>
                  </a:lnTo>
                  <a:lnTo>
                    <a:pt x="0" y="557"/>
                  </a:lnTo>
                  <a:lnTo>
                    <a:pt x="11" y="557"/>
                  </a:lnTo>
                  <a:close/>
                  <a:moveTo>
                    <a:pt x="11" y="579"/>
                  </a:moveTo>
                  <a:lnTo>
                    <a:pt x="11" y="590"/>
                  </a:lnTo>
                  <a:lnTo>
                    <a:pt x="0" y="590"/>
                  </a:lnTo>
                  <a:lnTo>
                    <a:pt x="0" y="579"/>
                  </a:lnTo>
                  <a:lnTo>
                    <a:pt x="11" y="579"/>
                  </a:lnTo>
                  <a:close/>
                  <a:moveTo>
                    <a:pt x="11" y="600"/>
                  </a:moveTo>
                  <a:lnTo>
                    <a:pt x="11" y="611"/>
                  </a:lnTo>
                  <a:lnTo>
                    <a:pt x="0" y="611"/>
                  </a:lnTo>
                  <a:lnTo>
                    <a:pt x="0" y="600"/>
                  </a:lnTo>
                  <a:lnTo>
                    <a:pt x="11" y="600"/>
                  </a:lnTo>
                  <a:close/>
                  <a:moveTo>
                    <a:pt x="11" y="622"/>
                  </a:moveTo>
                  <a:lnTo>
                    <a:pt x="11" y="632"/>
                  </a:lnTo>
                  <a:lnTo>
                    <a:pt x="0" y="632"/>
                  </a:lnTo>
                  <a:lnTo>
                    <a:pt x="0" y="622"/>
                  </a:lnTo>
                  <a:lnTo>
                    <a:pt x="11" y="622"/>
                  </a:lnTo>
                  <a:close/>
                  <a:moveTo>
                    <a:pt x="11" y="643"/>
                  </a:moveTo>
                  <a:lnTo>
                    <a:pt x="11" y="654"/>
                  </a:lnTo>
                  <a:lnTo>
                    <a:pt x="0" y="654"/>
                  </a:lnTo>
                  <a:lnTo>
                    <a:pt x="0" y="643"/>
                  </a:lnTo>
                  <a:lnTo>
                    <a:pt x="11" y="643"/>
                  </a:lnTo>
                  <a:close/>
                  <a:moveTo>
                    <a:pt x="11" y="665"/>
                  </a:moveTo>
                  <a:lnTo>
                    <a:pt x="11" y="675"/>
                  </a:lnTo>
                  <a:lnTo>
                    <a:pt x="0" y="675"/>
                  </a:lnTo>
                  <a:lnTo>
                    <a:pt x="0" y="665"/>
                  </a:lnTo>
                  <a:lnTo>
                    <a:pt x="11" y="665"/>
                  </a:lnTo>
                  <a:close/>
                  <a:moveTo>
                    <a:pt x="11" y="686"/>
                  </a:moveTo>
                  <a:lnTo>
                    <a:pt x="11" y="697"/>
                  </a:lnTo>
                  <a:lnTo>
                    <a:pt x="0" y="697"/>
                  </a:lnTo>
                  <a:lnTo>
                    <a:pt x="0" y="686"/>
                  </a:lnTo>
                  <a:lnTo>
                    <a:pt x="11" y="686"/>
                  </a:lnTo>
                  <a:close/>
                  <a:moveTo>
                    <a:pt x="11" y="707"/>
                  </a:moveTo>
                  <a:lnTo>
                    <a:pt x="11" y="718"/>
                  </a:lnTo>
                  <a:lnTo>
                    <a:pt x="0" y="718"/>
                  </a:lnTo>
                  <a:lnTo>
                    <a:pt x="0" y="707"/>
                  </a:lnTo>
                  <a:lnTo>
                    <a:pt x="11" y="707"/>
                  </a:lnTo>
                  <a:close/>
                  <a:moveTo>
                    <a:pt x="11" y="729"/>
                  </a:moveTo>
                  <a:lnTo>
                    <a:pt x="11" y="740"/>
                  </a:lnTo>
                  <a:lnTo>
                    <a:pt x="0" y="740"/>
                  </a:lnTo>
                  <a:lnTo>
                    <a:pt x="0" y="729"/>
                  </a:lnTo>
                  <a:lnTo>
                    <a:pt x="11" y="729"/>
                  </a:lnTo>
                  <a:close/>
                  <a:moveTo>
                    <a:pt x="11" y="750"/>
                  </a:moveTo>
                  <a:lnTo>
                    <a:pt x="11" y="761"/>
                  </a:lnTo>
                  <a:lnTo>
                    <a:pt x="0" y="761"/>
                  </a:lnTo>
                  <a:lnTo>
                    <a:pt x="0" y="750"/>
                  </a:lnTo>
                  <a:lnTo>
                    <a:pt x="11" y="750"/>
                  </a:lnTo>
                  <a:close/>
                  <a:moveTo>
                    <a:pt x="11" y="772"/>
                  </a:moveTo>
                  <a:lnTo>
                    <a:pt x="11" y="783"/>
                  </a:lnTo>
                  <a:lnTo>
                    <a:pt x="0" y="783"/>
                  </a:lnTo>
                  <a:lnTo>
                    <a:pt x="0" y="772"/>
                  </a:lnTo>
                  <a:lnTo>
                    <a:pt x="11" y="772"/>
                  </a:lnTo>
                  <a:close/>
                  <a:moveTo>
                    <a:pt x="11" y="793"/>
                  </a:moveTo>
                  <a:lnTo>
                    <a:pt x="11" y="804"/>
                  </a:lnTo>
                  <a:lnTo>
                    <a:pt x="0" y="804"/>
                  </a:lnTo>
                  <a:lnTo>
                    <a:pt x="0" y="793"/>
                  </a:lnTo>
                  <a:lnTo>
                    <a:pt x="11" y="793"/>
                  </a:lnTo>
                  <a:close/>
                  <a:moveTo>
                    <a:pt x="11" y="815"/>
                  </a:moveTo>
                  <a:lnTo>
                    <a:pt x="11" y="826"/>
                  </a:lnTo>
                  <a:lnTo>
                    <a:pt x="0" y="826"/>
                  </a:lnTo>
                  <a:lnTo>
                    <a:pt x="0" y="815"/>
                  </a:lnTo>
                  <a:lnTo>
                    <a:pt x="11" y="815"/>
                  </a:lnTo>
                  <a:close/>
                  <a:moveTo>
                    <a:pt x="11" y="836"/>
                  </a:moveTo>
                  <a:lnTo>
                    <a:pt x="11" y="847"/>
                  </a:lnTo>
                  <a:lnTo>
                    <a:pt x="0" y="847"/>
                  </a:lnTo>
                  <a:lnTo>
                    <a:pt x="0" y="836"/>
                  </a:lnTo>
                  <a:lnTo>
                    <a:pt x="11" y="836"/>
                  </a:lnTo>
                  <a:close/>
                  <a:moveTo>
                    <a:pt x="11" y="858"/>
                  </a:moveTo>
                  <a:lnTo>
                    <a:pt x="11" y="868"/>
                  </a:lnTo>
                  <a:lnTo>
                    <a:pt x="0" y="868"/>
                  </a:lnTo>
                  <a:lnTo>
                    <a:pt x="0" y="858"/>
                  </a:lnTo>
                  <a:lnTo>
                    <a:pt x="11" y="858"/>
                  </a:lnTo>
                  <a:close/>
                  <a:moveTo>
                    <a:pt x="11" y="879"/>
                  </a:moveTo>
                  <a:lnTo>
                    <a:pt x="11" y="890"/>
                  </a:lnTo>
                  <a:lnTo>
                    <a:pt x="0" y="890"/>
                  </a:lnTo>
                  <a:lnTo>
                    <a:pt x="0" y="879"/>
                  </a:lnTo>
                  <a:lnTo>
                    <a:pt x="11" y="879"/>
                  </a:lnTo>
                  <a:close/>
                  <a:moveTo>
                    <a:pt x="11" y="900"/>
                  </a:moveTo>
                  <a:lnTo>
                    <a:pt x="11" y="911"/>
                  </a:lnTo>
                  <a:lnTo>
                    <a:pt x="0" y="911"/>
                  </a:lnTo>
                  <a:lnTo>
                    <a:pt x="0" y="900"/>
                  </a:lnTo>
                  <a:lnTo>
                    <a:pt x="11" y="900"/>
                  </a:lnTo>
                  <a:close/>
                  <a:moveTo>
                    <a:pt x="11" y="922"/>
                  </a:moveTo>
                  <a:lnTo>
                    <a:pt x="11" y="933"/>
                  </a:lnTo>
                  <a:lnTo>
                    <a:pt x="0" y="933"/>
                  </a:lnTo>
                  <a:lnTo>
                    <a:pt x="0" y="922"/>
                  </a:lnTo>
                  <a:lnTo>
                    <a:pt x="11" y="922"/>
                  </a:lnTo>
                  <a:close/>
                  <a:moveTo>
                    <a:pt x="11" y="943"/>
                  </a:moveTo>
                  <a:lnTo>
                    <a:pt x="11" y="954"/>
                  </a:lnTo>
                  <a:lnTo>
                    <a:pt x="0" y="954"/>
                  </a:lnTo>
                  <a:lnTo>
                    <a:pt x="0" y="943"/>
                  </a:lnTo>
                  <a:lnTo>
                    <a:pt x="11" y="943"/>
                  </a:lnTo>
                  <a:close/>
                  <a:moveTo>
                    <a:pt x="11" y="965"/>
                  </a:moveTo>
                  <a:lnTo>
                    <a:pt x="11" y="976"/>
                  </a:lnTo>
                  <a:lnTo>
                    <a:pt x="0" y="976"/>
                  </a:lnTo>
                  <a:lnTo>
                    <a:pt x="0" y="965"/>
                  </a:lnTo>
                  <a:lnTo>
                    <a:pt x="11" y="965"/>
                  </a:lnTo>
                  <a:close/>
                  <a:moveTo>
                    <a:pt x="11" y="986"/>
                  </a:moveTo>
                  <a:lnTo>
                    <a:pt x="11" y="997"/>
                  </a:lnTo>
                  <a:lnTo>
                    <a:pt x="0" y="997"/>
                  </a:lnTo>
                  <a:lnTo>
                    <a:pt x="0" y="986"/>
                  </a:lnTo>
                  <a:lnTo>
                    <a:pt x="11" y="986"/>
                  </a:lnTo>
                  <a:close/>
                  <a:moveTo>
                    <a:pt x="11" y="1008"/>
                  </a:moveTo>
                  <a:lnTo>
                    <a:pt x="11" y="1019"/>
                  </a:lnTo>
                  <a:lnTo>
                    <a:pt x="0" y="1019"/>
                  </a:lnTo>
                  <a:lnTo>
                    <a:pt x="0" y="1008"/>
                  </a:lnTo>
                  <a:lnTo>
                    <a:pt x="11" y="1008"/>
                  </a:lnTo>
                  <a:close/>
                  <a:moveTo>
                    <a:pt x="11" y="1029"/>
                  </a:moveTo>
                  <a:lnTo>
                    <a:pt x="11" y="1040"/>
                  </a:lnTo>
                  <a:lnTo>
                    <a:pt x="0" y="1040"/>
                  </a:lnTo>
                  <a:lnTo>
                    <a:pt x="0" y="1029"/>
                  </a:lnTo>
                  <a:lnTo>
                    <a:pt x="11" y="1029"/>
                  </a:lnTo>
                  <a:close/>
                  <a:moveTo>
                    <a:pt x="11" y="1051"/>
                  </a:moveTo>
                  <a:lnTo>
                    <a:pt x="11" y="1061"/>
                  </a:lnTo>
                  <a:lnTo>
                    <a:pt x="0" y="1061"/>
                  </a:lnTo>
                  <a:lnTo>
                    <a:pt x="0" y="1051"/>
                  </a:lnTo>
                  <a:lnTo>
                    <a:pt x="11" y="1051"/>
                  </a:lnTo>
                  <a:close/>
                  <a:moveTo>
                    <a:pt x="11" y="1072"/>
                  </a:moveTo>
                  <a:lnTo>
                    <a:pt x="11" y="1083"/>
                  </a:lnTo>
                  <a:lnTo>
                    <a:pt x="0" y="1083"/>
                  </a:lnTo>
                  <a:lnTo>
                    <a:pt x="0" y="1072"/>
                  </a:lnTo>
                  <a:lnTo>
                    <a:pt x="11" y="1072"/>
                  </a:lnTo>
                  <a:close/>
                  <a:moveTo>
                    <a:pt x="11" y="1094"/>
                  </a:moveTo>
                  <a:lnTo>
                    <a:pt x="11" y="1104"/>
                  </a:lnTo>
                  <a:lnTo>
                    <a:pt x="0" y="1104"/>
                  </a:lnTo>
                  <a:lnTo>
                    <a:pt x="0" y="1094"/>
                  </a:lnTo>
                  <a:lnTo>
                    <a:pt x="11" y="1094"/>
                  </a:lnTo>
                  <a:close/>
                  <a:moveTo>
                    <a:pt x="11" y="1115"/>
                  </a:moveTo>
                  <a:lnTo>
                    <a:pt x="11" y="1126"/>
                  </a:lnTo>
                  <a:lnTo>
                    <a:pt x="0" y="1126"/>
                  </a:lnTo>
                  <a:lnTo>
                    <a:pt x="0" y="1115"/>
                  </a:lnTo>
                  <a:lnTo>
                    <a:pt x="11" y="1115"/>
                  </a:lnTo>
                  <a:close/>
                  <a:moveTo>
                    <a:pt x="11" y="1136"/>
                  </a:moveTo>
                  <a:lnTo>
                    <a:pt x="11" y="1147"/>
                  </a:lnTo>
                  <a:lnTo>
                    <a:pt x="0" y="1147"/>
                  </a:lnTo>
                  <a:lnTo>
                    <a:pt x="0" y="1136"/>
                  </a:lnTo>
                  <a:lnTo>
                    <a:pt x="11" y="1136"/>
                  </a:lnTo>
                  <a:close/>
                  <a:moveTo>
                    <a:pt x="11" y="1158"/>
                  </a:moveTo>
                  <a:lnTo>
                    <a:pt x="11" y="1169"/>
                  </a:lnTo>
                  <a:lnTo>
                    <a:pt x="0" y="1169"/>
                  </a:lnTo>
                  <a:lnTo>
                    <a:pt x="0" y="1158"/>
                  </a:lnTo>
                  <a:lnTo>
                    <a:pt x="11" y="1158"/>
                  </a:lnTo>
                  <a:close/>
                  <a:moveTo>
                    <a:pt x="11" y="1179"/>
                  </a:moveTo>
                  <a:lnTo>
                    <a:pt x="11" y="1190"/>
                  </a:lnTo>
                  <a:lnTo>
                    <a:pt x="0" y="1190"/>
                  </a:lnTo>
                  <a:lnTo>
                    <a:pt x="0" y="1179"/>
                  </a:lnTo>
                  <a:lnTo>
                    <a:pt x="11" y="1179"/>
                  </a:lnTo>
                  <a:close/>
                  <a:moveTo>
                    <a:pt x="11" y="1201"/>
                  </a:moveTo>
                  <a:lnTo>
                    <a:pt x="11" y="1212"/>
                  </a:lnTo>
                  <a:lnTo>
                    <a:pt x="0" y="1212"/>
                  </a:lnTo>
                  <a:lnTo>
                    <a:pt x="0" y="1201"/>
                  </a:lnTo>
                  <a:lnTo>
                    <a:pt x="11" y="1201"/>
                  </a:lnTo>
                  <a:close/>
                  <a:moveTo>
                    <a:pt x="11" y="1222"/>
                  </a:moveTo>
                  <a:lnTo>
                    <a:pt x="11" y="1233"/>
                  </a:lnTo>
                  <a:lnTo>
                    <a:pt x="0" y="1233"/>
                  </a:lnTo>
                  <a:lnTo>
                    <a:pt x="0" y="1222"/>
                  </a:lnTo>
                  <a:lnTo>
                    <a:pt x="11" y="1222"/>
                  </a:lnTo>
                  <a:close/>
                  <a:moveTo>
                    <a:pt x="11" y="1244"/>
                  </a:moveTo>
                  <a:lnTo>
                    <a:pt x="11" y="1254"/>
                  </a:lnTo>
                  <a:lnTo>
                    <a:pt x="0" y="1254"/>
                  </a:lnTo>
                  <a:lnTo>
                    <a:pt x="0" y="1244"/>
                  </a:lnTo>
                  <a:lnTo>
                    <a:pt x="11" y="1244"/>
                  </a:lnTo>
                  <a:close/>
                  <a:moveTo>
                    <a:pt x="11" y="1265"/>
                  </a:moveTo>
                  <a:lnTo>
                    <a:pt x="11" y="1276"/>
                  </a:lnTo>
                  <a:lnTo>
                    <a:pt x="0" y="1276"/>
                  </a:lnTo>
                  <a:lnTo>
                    <a:pt x="0" y="1265"/>
                  </a:lnTo>
                  <a:lnTo>
                    <a:pt x="11" y="1265"/>
                  </a:lnTo>
                  <a:close/>
                  <a:moveTo>
                    <a:pt x="11" y="1287"/>
                  </a:moveTo>
                  <a:lnTo>
                    <a:pt x="11" y="1297"/>
                  </a:lnTo>
                  <a:lnTo>
                    <a:pt x="0" y="1297"/>
                  </a:lnTo>
                  <a:lnTo>
                    <a:pt x="0" y="1287"/>
                  </a:lnTo>
                  <a:lnTo>
                    <a:pt x="11" y="1287"/>
                  </a:lnTo>
                  <a:close/>
                  <a:moveTo>
                    <a:pt x="11" y="1308"/>
                  </a:moveTo>
                  <a:lnTo>
                    <a:pt x="11" y="1319"/>
                  </a:lnTo>
                  <a:lnTo>
                    <a:pt x="0" y="1319"/>
                  </a:lnTo>
                  <a:lnTo>
                    <a:pt x="0" y="1308"/>
                  </a:lnTo>
                  <a:lnTo>
                    <a:pt x="11" y="1308"/>
                  </a:lnTo>
                  <a:close/>
                  <a:moveTo>
                    <a:pt x="11" y="1330"/>
                  </a:moveTo>
                  <a:lnTo>
                    <a:pt x="11" y="1340"/>
                  </a:lnTo>
                  <a:lnTo>
                    <a:pt x="0" y="1340"/>
                  </a:lnTo>
                  <a:lnTo>
                    <a:pt x="0" y="1330"/>
                  </a:lnTo>
                  <a:lnTo>
                    <a:pt x="11" y="1330"/>
                  </a:lnTo>
                  <a:close/>
                  <a:moveTo>
                    <a:pt x="11" y="1351"/>
                  </a:moveTo>
                  <a:lnTo>
                    <a:pt x="11" y="1362"/>
                  </a:lnTo>
                  <a:lnTo>
                    <a:pt x="0" y="1362"/>
                  </a:lnTo>
                  <a:lnTo>
                    <a:pt x="0" y="1351"/>
                  </a:lnTo>
                  <a:lnTo>
                    <a:pt x="11" y="1351"/>
                  </a:lnTo>
                  <a:close/>
                  <a:moveTo>
                    <a:pt x="11" y="1373"/>
                  </a:moveTo>
                  <a:lnTo>
                    <a:pt x="11" y="1383"/>
                  </a:lnTo>
                  <a:lnTo>
                    <a:pt x="0" y="1383"/>
                  </a:lnTo>
                  <a:lnTo>
                    <a:pt x="0" y="1373"/>
                  </a:lnTo>
                  <a:lnTo>
                    <a:pt x="11" y="1373"/>
                  </a:lnTo>
                  <a:close/>
                  <a:moveTo>
                    <a:pt x="11" y="1394"/>
                  </a:moveTo>
                  <a:lnTo>
                    <a:pt x="11" y="1405"/>
                  </a:lnTo>
                  <a:lnTo>
                    <a:pt x="0" y="1405"/>
                  </a:lnTo>
                  <a:lnTo>
                    <a:pt x="0" y="1394"/>
                  </a:lnTo>
                  <a:lnTo>
                    <a:pt x="11" y="1394"/>
                  </a:lnTo>
                  <a:close/>
                  <a:moveTo>
                    <a:pt x="11" y="1415"/>
                  </a:moveTo>
                  <a:lnTo>
                    <a:pt x="11" y="1426"/>
                  </a:lnTo>
                  <a:lnTo>
                    <a:pt x="0" y="1426"/>
                  </a:lnTo>
                  <a:lnTo>
                    <a:pt x="0" y="1415"/>
                  </a:lnTo>
                  <a:lnTo>
                    <a:pt x="11" y="1415"/>
                  </a:lnTo>
                  <a:close/>
                  <a:moveTo>
                    <a:pt x="11" y="1437"/>
                  </a:moveTo>
                  <a:lnTo>
                    <a:pt x="11" y="1447"/>
                  </a:lnTo>
                  <a:lnTo>
                    <a:pt x="0" y="1447"/>
                  </a:lnTo>
                  <a:lnTo>
                    <a:pt x="0" y="1437"/>
                  </a:lnTo>
                  <a:lnTo>
                    <a:pt x="11" y="1437"/>
                  </a:lnTo>
                  <a:close/>
                  <a:moveTo>
                    <a:pt x="11" y="1458"/>
                  </a:moveTo>
                  <a:lnTo>
                    <a:pt x="11" y="1469"/>
                  </a:lnTo>
                  <a:lnTo>
                    <a:pt x="0" y="1469"/>
                  </a:lnTo>
                  <a:lnTo>
                    <a:pt x="0" y="1458"/>
                  </a:lnTo>
                  <a:lnTo>
                    <a:pt x="11" y="1458"/>
                  </a:lnTo>
                  <a:close/>
                  <a:moveTo>
                    <a:pt x="11" y="1480"/>
                  </a:moveTo>
                  <a:lnTo>
                    <a:pt x="11" y="1490"/>
                  </a:lnTo>
                  <a:lnTo>
                    <a:pt x="0" y="1490"/>
                  </a:lnTo>
                  <a:lnTo>
                    <a:pt x="0" y="1480"/>
                  </a:lnTo>
                  <a:lnTo>
                    <a:pt x="11" y="1480"/>
                  </a:lnTo>
                  <a:close/>
                  <a:moveTo>
                    <a:pt x="11" y="1501"/>
                  </a:moveTo>
                  <a:lnTo>
                    <a:pt x="11" y="1512"/>
                  </a:lnTo>
                  <a:lnTo>
                    <a:pt x="0" y="1512"/>
                  </a:lnTo>
                  <a:lnTo>
                    <a:pt x="0" y="1501"/>
                  </a:lnTo>
                  <a:lnTo>
                    <a:pt x="11" y="1501"/>
                  </a:lnTo>
                  <a:close/>
                  <a:moveTo>
                    <a:pt x="11" y="1523"/>
                  </a:moveTo>
                  <a:lnTo>
                    <a:pt x="11" y="1533"/>
                  </a:lnTo>
                  <a:lnTo>
                    <a:pt x="0" y="1533"/>
                  </a:lnTo>
                  <a:lnTo>
                    <a:pt x="0" y="1523"/>
                  </a:lnTo>
                  <a:lnTo>
                    <a:pt x="11" y="1523"/>
                  </a:lnTo>
                  <a:close/>
                  <a:moveTo>
                    <a:pt x="11" y="1544"/>
                  </a:moveTo>
                  <a:lnTo>
                    <a:pt x="11" y="1555"/>
                  </a:lnTo>
                  <a:lnTo>
                    <a:pt x="0" y="1555"/>
                  </a:lnTo>
                  <a:lnTo>
                    <a:pt x="0" y="1544"/>
                  </a:lnTo>
                  <a:lnTo>
                    <a:pt x="11" y="1544"/>
                  </a:lnTo>
                  <a:close/>
                  <a:moveTo>
                    <a:pt x="11" y="1566"/>
                  </a:moveTo>
                  <a:lnTo>
                    <a:pt x="11" y="1576"/>
                  </a:lnTo>
                  <a:lnTo>
                    <a:pt x="0" y="1576"/>
                  </a:lnTo>
                  <a:lnTo>
                    <a:pt x="0" y="1566"/>
                  </a:lnTo>
                  <a:lnTo>
                    <a:pt x="11" y="1566"/>
                  </a:lnTo>
                  <a:close/>
                  <a:moveTo>
                    <a:pt x="11" y="1587"/>
                  </a:moveTo>
                  <a:lnTo>
                    <a:pt x="11" y="1598"/>
                  </a:lnTo>
                  <a:lnTo>
                    <a:pt x="0" y="1598"/>
                  </a:lnTo>
                  <a:lnTo>
                    <a:pt x="0" y="1587"/>
                  </a:lnTo>
                  <a:lnTo>
                    <a:pt x="11" y="1587"/>
                  </a:lnTo>
                  <a:close/>
                  <a:moveTo>
                    <a:pt x="11" y="1608"/>
                  </a:moveTo>
                  <a:lnTo>
                    <a:pt x="11" y="1619"/>
                  </a:lnTo>
                  <a:lnTo>
                    <a:pt x="0" y="1619"/>
                  </a:lnTo>
                  <a:lnTo>
                    <a:pt x="0" y="1608"/>
                  </a:lnTo>
                  <a:lnTo>
                    <a:pt x="11" y="1608"/>
                  </a:lnTo>
                  <a:close/>
                  <a:moveTo>
                    <a:pt x="11" y="1630"/>
                  </a:moveTo>
                  <a:lnTo>
                    <a:pt x="11" y="1640"/>
                  </a:lnTo>
                  <a:lnTo>
                    <a:pt x="0" y="1640"/>
                  </a:lnTo>
                  <a:lnTo>
                    <a:pt x="0" y="1630"/>
                  </a:lnTo>
                  <a:lnTo>
                    <a:pt x="11" y="1630"/>
                  </a:lnTo>
                  <a:close/>
                  <a:moveTo>
                    <a:pt x="11" y="1651"/>
                  </a:moveTo>
                  <a:lnTo>
                    <a:pt x="11" y="1662"/>
                  </a:lnTo>
                  <a:lnTo>
                    <a:pt x="0" y="1662"/>
                  </a:lnTo>
                  <a:lnTo>
                    <a:pt x="0" y="1651"/>
                  </a:lnTo>
                  <a:lnTo>
                    <a:pt x="11" y="1651"/>
                  </a:lnTo>
                  <a:close/>
                  <a:moveTo>
                    <a:pt x="11" y="1673"/>
                  </a:moveTo>
                  <a:lnTo>
                    <a:pt x="11" y="1683"/>
                  </a:lnTo>
                  <a:lnTo>
                    <a:pt x="0" y="1683"/>
                  </a:lnTo>
                  <a:lnTo>
                    <a:pt x="0" y="1673"/>
                  </a:lnTo>
                  <a:lnTo>
                    <a:pt x="11" y="1673"/>
                  </a:lnTo>
                  <a:close/>
                  <a:moveTo>
                    <a:pt x="11" y="1694"/>
                  </a:moveTo>
                  <a:lnTo>
                    <a:pt x="11" y="1705"/>
                  </a:lnTo>
                  <a:lnTo>
                    <a:pt x="0" y="1705"/>
                  </a:lnTo>
                  <a:lnTo>
                    <a:pt x="0" y="1694"/>
                  </a:lnTo>
                  <a:lnTo>
                    <a:pt x="11" y="1694"/>
                  </a:lnTo>
                  <a:close/>
                  <a:moveTo>
                    <a:pt x="11" y="1716"/>
                  </a:moveTo>
                  <a:lnTo>
                    <a:pt x="11" y="1726"/>
                  </a:lnTo>
                  <a:lnTo>
                    <a:pt x="0" y="1726"/>
                  </a:lnTo>
                  <a:lnTo>
                    <a:pt x="0" y="1716"/>
                  </a:lnTo>
                  <a:lnTo>
                    <a:pt x="11" y="1716"/>
                  </a:lnTo>
                  <a:close/>
                  <a:moveTo>
                    <a:pt x="11" y="1737"/>
                  </a:moveTo>
                  <a:lnTo>
                    <a:pt x="11" y="1748"/>
                  </a:lnTo>
                  <a:lnTo>
                    <a:pt x="0" y="1748"/>
                  </a:lnTo>
                  <a:lnTo>
                    <a:pt x="0" y="1737"/>
                  </a:lnTo>
                  <a:lnTo>
                    <a:pt x="11" y="1737"/>
                  </a:lnTo>
                  <a:close/>
                  <a:moveTo>
                    <a:pt x="11" y="1759"/>
                  </a:moveTo>
                  <a:lnTo>
                    <a:pt x="11" y="1769"/>
                  </a:lnTo>
                  <a:lnTo>
                    <a:pt x="0" y="1769"/>
                  </a:lnTo>
                  <a:lnTo>
                    <a:pt x="0" y="1759"/>
                  </a:lnTo>
                  <a:lnTo>
                    <a:pt x="11" y="1759"/>
                  </a:lnTo>
                  <a:close/>
                  <a:moveTo>
                    <a:pt x="11" y="1780"/>
                  </a:moveTo>
                  <a:lnTo>
                    <a:pt x="11" y="1791"/>
                  </a:lnTo>
                  <a:lnTo>
                    <a:pt x="0" y="1791"/>
                  </a:lnTo>
                  <a:lnTo>
                    <a:pt x="0" y="1780"/>
                  </a:lnTo>
                  <a:lnTo>
                    <a:pt x="11" y="1780"/>
                  </a:lnTo>
                  <a:close/>
                  <a:moveTo>
                    <a:pt x="11" y="1801"/>
                  </a:moveTo>
                  <a:lnTo>
                    <a:pt x="11" y="1812"/>
                  </a:lnTo>
                  <a:lnTo>
                    <a:pt x="0" y="1812"/>
                  </a:lnTo>
                  <a:lnTo>
                    <a:pt x="0" y="1801"/>
                  </a:lnTo>
                  <a:lnTo>
                    <a:pt x="11" y="1801"/>
                  </a:lnTo>
                  <a:close/>
                  <a:moveTo>
                    <a:pt x="11" y="1823"/>
                  </a:moveTo>
                  <a:lnTo>
                    <a:pt x="11" y="1834"/>
                  </a:lnTo>
                  <a:lnTo>
                    <a:pt x="0" y="1834"/>
                  </a:lnTo>
                  <a:lnTo>
                    <a:pt x="0" y="1823"/>
                  </a:lnTo>
                  <a:lnTo>
                    <a:pt x="11" y="1823"/>
                  </a:lnTo>
                  <a:close/>
                  <a:moveTo>
                    <a:pt x="11" y="1844"/>
                  </a:moveTo>
                  <a:lnTo>
                    <a:pt x="11" y="1855"/>
                  </a:lnTo>
                  <a:lnTo>
                    <a:pt x="0" y="1855"/>
                  </a:lnTo>
                  <a:lnTo>
                    <a:pt x="0" y="1844"/>
                  </a:lnTo>
                  <a:lnTo>
                    <a:pt x="11" y="1844"/>
                  </a:lnTo>
                  <a:close/>
                  <a:moveTo>
                    <a:pt x="11" y="1866"/>
                  </a:moveTo>
                  <a:lnTo>
                    <a:pt x="11" y="1877"/>
                  </a:lnTo>
                  <a:lnTo>
                    <a:pt x="0" y="1877"/>
                  </a:lnTo>
                  <a:lnTo>
                    <a:pt x="0" y="1866"/>
                  </a:lnTo>
                  <a:lnTo>
                    <a:pt x="11" y="1866"/>
                  </a:lnTo>
                  <a:close/>
                  <a:moveTo>
                    <a:pt x="11" y="1887"/>
                  </a:moveTo>
                  <a:lnTo>
                    <a:pt x="11" y="1898"/>
                  </a:lnTo>
                  <a:lnTo>
                    <a:pt x="0" y="1898"/>
                  </a:lnTo>
                  <a:lnTo>
                    <a:pt x="0" y="1887"/>
                  </a:lnTo>
                  <a:lnTo>
                    <a:pt x="11" y="1887"/>
                  </a:lnTo>
                  <a:close/>
                  <a:moveTo>
                    <a:pt x="11" y="1909"/>
                  </a:moveTo>
                  <a:lnTo>
                    <a:pt x="11" y="1919"/>
                  </a:lnTo>
                  <a:lnTo>
                    <a:pt x="0" y="1919"/>
                  </a:lnTo>
                  <a:lnTo>
                    <a:pt x="0" y="1909"/>
                  </a:lnTo>
                  <a:lnTo>
                    <a:pt x="11" y="1909"/>
                  </a:lnTo>
                  <a:close/>
                  <a:moveTo>
                    <a:pt x="11" y="1930"/>
                  </a:moveTo>
                  <a:lnTo>
                    <a:pt x="11" y="1941"/>
                  </a:lnTo>
                  <a:lnTo>
                    <a:pt x="0" y="1941"/>
                  </a:lnTo>
                  <a:lnTo>
                    <a:pt x="0" y="1930"/>
                  </a:lnTo>
                  <a:lnTo>
                    <a:pt x="11" y="1930"/>
                  </a:lnTo>
                  <a:close/>
                  <a:moveTo>
                    <a:pt x="11" y="1952"/>
                  </a:moveTo>
                  <a:lnTo>
                    <a:pt x="11" y="1962"/>
                  </a:lnTo>
                  <a:lnTo>
                    <a:pt x="0" y="1962"/>
                  </a:lnTo>
                  <a:lnTo>
                    <a:pt x="0" y="1952"/>
                  </a:lnTo>
                  <a:lnTo>
                    <a:pt x="11" y="1952"/>
                  </a:lnTo>
                  <a:close/>
                  <a:moveTo>
                    <a:pt x="11" y="1973"/>
                  </a:moveTo>
                  <a:lnTo>
                    <a:pt x="11" y="1984"/>
                  </a:lnTo>
                  <a:lnTo>
                    <a:pt x="0" y="1984"/>
                  </a:lnTo>
                  <a:lnTo>
                    <a:pt x="0" y="1973"/>
                  </a:lnTo>
                  <a:lnTo>
                    <a:pt x="11" y="1973"/>
                  </a:lnTo>
                  <a:close/>
                  <a:moveTo>
                    <a:pt x="11" y="1994"/>
                  </a:moveTo>
                  <a:lnTo>
                    <a:pt x="11" y="2005"/>
                  </a:lnTo>
                  <a:lnTo>
                    <a:pt x="0" y="2005"/>
                  </a:lnTo>
                  <a:lnTo>
                    <a:pt x="0" y="1994"/>
                  </a:lnTo>
                  <a:lnTo>
                    <a:pt x="11" y="1994"/>
                  </a:lnTo>
                  <a:close/>
                  <a:moveTo>
                    <a:pt x="11" y="2016"/>
                  </a:moveTo>
                  <a:lnTo>
                    <a:pt x="11" y="2027"/>
                  </a:lnTo>
                  <a:lnTo>
                    <a:pt x="0" y="2027"/>
                  </a:lnTo>
                  <a:lnTo>
                    <a:pt x="0" y="2016"/>
                  </a:lnTo>
                  <a:lnTo>
                    <a:pt x="11" y="2016"/>
                  </a:lnTo>
                  <a:close/>
                  <a:moveTo>
                    <a:pt x="11" y="2037"/>
                  </a:moveTo>
                  <a:lnTo>
                    <a:pt x="11" y="2048"/>
                  </a:lnTo>
                  <a:lnTo>
                    <a:pt x="0" y="2048"/>
                  </a:lnTo>
                  <a:lnTo>
                    <a:pt x="0" y="2037"/>
                  </a:lnTo>
                  <a:lnTo>
                    <a:pt x="11" y="2037"/>
                  </a:lnTo>
                  <a:close/>
                  <a:moveTo>
                    <a:pt x="11" y="2059"/>
                  </a:moveTo>
                  <a:lnTo>
                    <a:pt x="11" y="2070"/>
                  </a:lnTo>
                  <a:lnTo>
                    <a:pt x="0" y="2070"/>
                  </a:lnTo>
                  <a:lnTo>
                    <a:pt x="0" y="2059"/>
                  </a:lnTo>
                  <a:lnTo>
                    <a:pt x="11" y="2059"/>
                  </a:lnTo>
                  <a:close/>
                  <a:moveTo>
                    <a:pt x="11" y="2080"/>
                  </a:moveTo>
                  <a:lnTo>
                    <a:pt x="11" y="2091"/>
                  </a:lnTo>
                  <a:lnTo>
                    <a:pt x="0" y="2091"/>
                  </a:lnTo>
                  <a:lnTo>
                    <a:pt x="0" y="2080"/>
                  </a:lnTo>
                  <a:lnTo>
                    <a:pt x="11" y="2080"/>
                  </a:lnTo>
                  <a:close/>
                  <a:moveTo>
                    <a:pt x="11" y="2102"/>
                  </a:moveTo>
                  <a:lnTo>
                    <a:pt x="11" y="2113"/>
                  </a:lnTo>
                  <a:lnTo>
                    <a:pt x="0" y="2113"/>
                  </a:lnTo>
                  <a:lnTo>
                    <a:pt x="0" y="2102"/>
                  </a:lnTo>
                  <a:lnTo>
                    <a:pt x="11" y="2102"/>
                  </a:lnTo>
                  <a:close/>
                  <a:moveTo>
                    <a:pt x="11" y="2123"/>
                  </a:moveTo>
                  <a:lnTo>
                    <a:pt x="11" y="2134"/>
                  </a:lnTo>
                  <a:lnTo>
                    <a:pt x="0" y="2134"/>
                  </a:lnTo>
                  <a:lnTo>
                    <a:pt x="0" y="2123"/>
                  </a:lnTo>
                  <a:lnTo>
                    <a:pt x="11" y="2123"/>
                  </a:lnTo>
                  <a:close/>
                  <a:moveTo>
                    <a:pt x="11" y="2145"/>
                  </a:moveTo>
                  <a:lnTo>
                    <a:pt x="11" y="2155"/>
                  </a:lnTo>
                  <a:lnTo>
                    <a:pt x="0" y="2155"/>
                  </a:lnTo>
                  <a:lnTo>
                    <a:pt x="0" y="2145"/>
                  </a:lnTo>
                  <a:lnTo>
                    <a:pt x="11" y="2145"/>
                  </a:lnTo>
                  <a:close/>
                  <a:moveTo>
                    <a:pt x="11" y="2166"/>
                  </a:moveTo>
                  <a:lnTo>
                    <a:pt x="11" y="2177"/>
                  </a:lnTo>
                  <a:lnTo>
                    <a:pt x="0" y="2177"/>
                  </a:lnTo>
                  <a:lnTo>
                    <a:pt x="0" y="2166"/>
                  </a:lnTo>
                  <a:lnTo>
                    <a:pt x="11" y="2166"/>
                  </a:lnTo>
                  <a:close/>
                  <a:moveTo>
                    <a:pt x="11" y="2187"/>
                  </a:moveTo>
                  <a:lnTo>
                    <a:pt x="11" y="2198"/>
                  </a:lnTo>
                  <a:lnTo>
                    <a:pt x="0" y="2198"/>
                  </a:lnTo>
                  <a:lnTo>
                    <a:pt x="0" y="2187"/>
                  </a:lnTo>
                  <a:lnTo>
                    <a:pt x="11" y="2187"/>
                  </a:lnTo>
                  <a:close/>
                  <a:moveTo>
                    <a:pt x="11" y="2209"/>
                  </a:moveTo>
                  <a:lnTo>
                    <a:pt x="11" y="2220"/>
                  </a:lnTo>
                  <a:lnTo>
                    <a:pt x="0" y="2220"/>
                  </a:lnTo>
                  <a:lnTo>
                    <a:pt x="0" y="2209"/>
                  </a:lnTo>
                  <a:lnTo>
                    <a:pt x="11" y="2209"/>
                  </a:lnTo>
                  <a:close/>
                  <a:moveTo>
                    <a:pt x="11" y="2230"/>
                  </a:moveTo>
                  <a:lnTo>
                    <a:pt x="11" y="2241"/>
                  </a:lnTo>
                  <a:lnTo>
                    <a:pt x="0" y="2241"/>
                  </a:lnTo>
                  <a:lnTo>
                    <a:pt x="0" y="2230"/>
                  </a:lnTo>
                  <a:lnTo>
                    <a:pt x="11" y="2230"/>
                  </a:lnTo>
                  <a:close/>
                  <a:moveTo>
                    <a:pt x="11" y="2252"/>
                  </a:moveTo>
                  <a:lnTo>
                    <a:pt x="11" y="2263"/>
                  </a:lnTo>
                  <a:lnTo>
                    <a:pt x="0" y="2263"/>
                  </a:lnTo>
                  <a:lnTo>
                    <a:pt x="0" y="2252"/>
                  </a:lnTo>
                  <a:lnTo>
                    <a:pt x="11" y="2252"/>
                  </a:lnTo>
                  <a:close/>
                  <a:moveTo>
                    <a:pt x="11" y="2273"/>
                  </a:moveTo>
                  <a:lnTo>
                    <a:pt x="11" y="2284"/>
                  </a:lnTo>
                  <a:lnTo>
                    <a:pt x="0" y="2284"/>
                  </a:lnTo>
                  <a:lnTo>
                    <a:pt x="0" y="2273"/>
                  </a:lnTo>
                  <a:lnTo>
                    <a:pt x="11" y="2273"/>
                  </a:lnTo>
                  <a:close/>
                </a:path>
              </a:pathLst>
            </a:custGeom>
            <a:solidFill>
              <a:srgbClr val="000000"/>
            </a:solidFill>
            <a:ln w="0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6" name="Freeform 90">
              <a:extLst>
                <a:ext uri="{FF2B5EF4-FFF2-40B4-BE49-F238E27FC236}">
                  <a16:creationId xmlns:a16="http://schemas.microsoft.com/office/drawing/2014/main" id="{59D7F0BC-F8CD-4DAC-8C5B-3B49AAE7DF1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349" y="1913"/>
              <a:ext cx="12" cy="2285"/>
            </a:xfrm>
            <a:custGeom>
              <a:avLst/>
              <a:gdLst>
                <a:gd name="T0" fmla="*/ 0 w 12"/>
                <a:gd name="T1" fmla="*/ 22 h 2285"/>
                <a:gd name="T2" fmla="*/ 0 w 12"/>
                <a:gd name="T3" fmla="*/ 76 h 2285"/>
                <a:gd name="T4" fmla="*/ 12 w 12"/>
                <a:gd name="T5" fmla="*/ 119 h 2285"/>
                <a:gd name="T6" fmla="*/ 12 w 12"/>
                <a:gd name="T7" fmla="*/ 151 h 2285"/>
                <a:gd name="T8" fmla="*/ 12 w 12"/>
                <a:gd name="T9" fmla="*/ 172 h 2285"/>
                <a:gd name="T10" fmla="*/ 0 w 12"/>
                <a:gd name="T11" fmla="*/ 215 h 2285"/>
                <a:gd name="T12" fmla="*/ 0 w 12"/>
                <a:gd name="T13" fmla="*/ 269 h 2285"/>
                <a:gd name="T14" fmla="*/ 12 w 12"/>
                <a:gd name="T15" fmla="*/ 312 h 2285"/>
                <a:gd name="T16" fmla="*/ 12 w 12"/>
                <a:gd name="T17" fmla="*/ 344 h 2285"/>
                <a:gd name="T18" fmla="*/ 12 w 12"/>
                <a:gd name="T19" fmla="*/ 365 h 2285"/>
                <a:gd name="T20" fmla="*/ 0 w 12"/>
                <a:gd name="T21" fmla="*/ 408 h 2285"/>
                <a:gd name="T22" fmla="*/ 0 w 12"/>
                <a:gd name="T23" fmla="*/ 462 h 2285"/>
                <a:gd name="T24" fmla="*/ 12 w 12"/>
                <a:gd name="T25" fmla="*/ 505 h 2285"/>
                <a:gd name="T26" fmla="*/ 12 w 12"/>
                <a:gd name="T27" fmla="*/ 537 h 2285"/>
                <a:gd name="T28" fmla="*/ 12 w 12"/>
                <a:gd name="T29" fmla="*/ 558 h 2285"/>
                <a:gd name="T30" fmla="*/ 0 w 12"/>
                <a:gd name="T31" fmla="*/ 601 h 2285"/>
                <a:gd name="T32" fmla="*/ 0 w 12"/>
                <a:gd name="T33" fmla="*/ 655 h 2285"/>
                <a:gd name="T34" fmla="*/ 12 w 12"/>
                <a:gd name="T35" fmla="*/ 698 h 2285"/>
                <a:gd name="T36" fmla="*/ 12 w 12"/>
                <a:gd name="T37" fmla="*/ 730 h 2285"/>
                <a:gd name="T38" fmla="*/ 12 w 12"/>
                <a:gd name="T39" fmla="*/ 751 h 2285"/>
                <a:gd name="T40" fmla="*/ 0 w 12"/>
                <a:gd name="T41" fmla="*/ 794 h 2285"/>
                <a:gd name="T42" fmla="*/ 0 w 12"/>
                <a:gd name="T43" fmla="*/ 848 h 2285"/>
                <a:gd name="T44" fmla="*/ 12 w 12"/>
                <a:gd name="T45" fmla="*/ 891 h 2285"/>
                <a:gd name="T46" fmla="*/ 12 w 12"/>
                <a:gd name="T47" fmla="*/ 923 h 2285"/>
                <a:gd name="T48" fmla="*/ 12 w 12"/>
                <a:gd name="T49" fmla="*/ 944 h 2285"/>
                <a:gd name="T50" fmla="*/ 0 w 12"/>
                <a:gd name="T51" fmla="*/ 987 h 2285"/>
                <a:gd name="T52" fmla="*/ 0 w 12"/>
                <a:gd name="T53" fmla="*/ 1041 h 2285"/>
                <a:gd name="T54" fmla="*/ 12 w 12"/>
                <a:gd name="T55" fmla="*/ 1084 h 2285"/>
                <a:gd name="T56" fmla="*/ 12 w 12"/>
                <a:gd name="T57" fmla="*/ 1116 h 2285"/>
                <a:gd name="T58" fmla="*/ 12 w 12"/>
                <a:gd name="T59" fmla="*/ 1137 h 2285"/>
                <a:gd name="T60" fmla="*/ 0 w 12"/>
                <a:gd name="T61" fmla="*/ 1180 h 2285"/>
                <a:gd name="T62" fmla="*/ 0 w 12"/>
                <a:gd name="T63" fmla="*/ 1234 h 2285"/>
                <a:gd name="T64" fmla="*/ 12 w 12"/>
                <a:gd name="T65" fmla="*/ 1277 h 2285"/>
                <a:gd name="T66" fmla="*/ 12 w 12"/>
                <a:gd name="T67" fmla="*/ 1309 h 2285"/>
                <a:gd name="T68" fmla="*/ 12 w 12"/>
                <a:gd name="T69" fmla="*/ 1330 h 2285"/>
                <a:gd name="T70" fmla="*/ 0 w 12"/>
                <a:gd name="T71" fmla="*/ 1373 h 2285"/>
                <a:gd name="T72" fmla="*/ 0 w 12"/>
                <a:gd name="T73" fmla="*/ 1427 h 2285"/>
                <a:gd name="T74" fmla="*/ 12 w 12"/>
                <a:gd name="T75" fmla="*/ 1470 h 2285"/>
                <a:gd name="T76" fmla="*/ 12 w 12"/>
                <a:gd name="T77" fmla="*/ 1502 h 2285"/>
                <a:gd name="T78" fmla="*/ 12 w 12"/>
                <a:gd name="T79" fmla="*/ 1523 h 2285"/>
                <a:gd name="T80" fmla="*/ 0 w 12"/>
                <a:gd name="T81" fmla="*/ 1566 h 2285"/>
                <a:gd name="T82" fmla="*/ 0 w 12"/>
                <a:gd name="T83" fmla="*/ 1620 h 2285"/>
                <a:gd name="T84" fmla="*/ 12 w 12"/>
                <a:gd name="T85" fmla="*/ 1663 h 2285"/>
                <a:gd name="T86" fmla="*/ 12 w 12"/>
                <a:gd name="T87" fmla="*/ 1695 h 2285"/>
                <a:gd name="T88" fmla="*/ 12 w 12"/>
                <a:gd name="T89" fmla="*/ 1716 h 2285"/>
                <a:gd name="T90" fmla="*/ 0 w 12"/>
                <a:gd name="T91" fmla="*/ 1759 h 2285"/>
                <a:gd name="T92" fmla="*/ 0 w 12"/>
                <a:gd name="T93" fmla="*/ 1813 h 2285"/>
                <a:gd name="T94" fmla="*/ 12 w 12"/>
                <a:gd name="T95" fmla="*/ 1856 h 2285"/>
                <a:gd name="T96" fmla="*/ 12 w 12"/>
                <a:gd name="T97" fmla="*/ 1888 h 2285"/>
                <a:gd name="T98" fmla="*/ 12 w 12"/>
                <a:gd name="T99" fmla="*/ 1910 h 2285"/>
                <a:gd name="T100" fmla="*/ 0 w 12"/>
                <a:gd name="T101" fmla="*/ 1952 h 2285"/>
                <a:gd name="T102" fmla="*/ 0 w 12"/>
                <a:gd name="T103" fmla="*/ 2006 h 2285"/>
                <a:gd name="T104" fmla="*/ 12 w 12"/>
                <a:gd name="T105" fmla="*/ 2049 h 2285"/>
                <a:gd name="T106" fmla="*/ 12 w 12"/>
                <a:gd name="T107" fmla="*/ 2081 h 2285"/>
                <a:gd name="T108" fmla="*/ 12 w 12"/>
                <a:gd name="T109" fmla="*/ 2103 h 2285"/>
                <a:gd name="T110" fmla="*/ 0 w 12"/>
                <a:gd name="T111" fmla="*/ 2146 h 2285"/>
                <a:gd name="T112" fmla="*/ 0 w 12"/>
                <a:gd name="T113" fmla="*/ 2199 h 2285"/>
                <a:gd name="T114" fmla="*/ 12 w 12"/>
                <a:gd name="T115" fmla="*/ 2242 h 2285"/>
                <a:gd name="T116" fmla="*/ 12 w 12"/>
                <a:gd name="T117" fmla="*/ 2274 h 22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2" h="2285">
                  <a:moveTo>
                    <a:pt x="12" y="0"/>
                  </a:moveTo>
                  <a:lnTo>
                    <a:pt x="12" y="11"/>
                  </a:lnTo>
                  <a:lnTo>
                    <a:pt x="0" y="11"/>
                  </a:lnTo>
                  <a:lnTo>
                    <a:pt x="0" y="0"/>
                  </a:lnTo>
                  <a:lnTo>
                    <a:pt x="12" y="0"/>
                  </a:lnTo>
                  <a:close/>
                  <a:moveTo>
                    <a:pt x="12" y="22"/>
                  </a:moveTo>
                  <a:lnTo>
                    <a:pt x="12" y="33"/>
                  </a:lnTo>
                  <a:lnTo>
                    <a:pt x="0" y="33"/>
                  </a:lnTo>
                  <a:lnTo>
                    <a:pt x="0" y="22"/>
                  </a:lnTo>
                  <a:lnTo>
                    <a:pt x="12" y="22"/>
                  </a:lnTo>
                  <a:close/>
                  <a:moveTo>
                    <a:pt x="12" y="43"/>
                  </a:moveTo>
                  <a:lnTo>
                    <a:pt x="12" y="54"/>
                  </a:lnTo>
                  <a:lnTo>
                    <a:pt x="0" y="54"/>
                  </a:lnTo>
                  <a:lnTo>
                    <a:pt x="0" y="43"/>
                  </a:lnTo>
                  <a:lnTo>
                    <a:pt x="12" y="43"/>
                  </a:lnTo>
                  <a:close/>
                  <a:moveTo>
                    <a:pt x="12" y="65"/>
                  </a:moveTo>
                  <a:lnTo>
                    <a:pt x="12" y="76"/>
                  </a:lnTo>
                  <a:lnTo>
                    <a:pt x="0" y="76"/>
                  </a:lnTo>
                  <a:lnTo>
                    <a:pt x="0" y="65"/>
                  </a:lnTo>
                  <a:lnTo>
                    <a:pt x="12" y="65"/>
                  </a:lnTo>
                  <a:close/>
                  <a:moveTo>
                    <a:pt x="12" y="86"/>
                  </a:moveTo>
                  <a:lnTo>
                    <a:pt x="12" y="97"/>
                  </a:lnTo>
                  <a:lnTo>
                    <a:pt x="0" y="97"/>
                  </a:lnTo>
                  <a:lnTo>
                    <a:pt x="0" y="86"/>
                  </a:lnTo>
                  <a:lnTo>
                    <a:pt x="12" y="86"/>
                  </a:lnTo>
                  <a:close/>
                  <a:moveTo>
                    <a:pt x="12" y="108"/>
                  </a:moveTo>
                  <a:lnTo>
                    <a:pt x="12" y="119"/>
                  </a:lnTo>
                  <a:lnTo>
                    <a:pt x="0" y="119"/>
                  </a:lnTo>
                  <a:lnTo>
                    <a:pt x="0" y="108"/>
                  </a:lnTo>
                  <a:lnTo>
                    <a:pt x="12" y="108"/>
                  </a:lnTo>
                  <a:close/>
                  <a:moveTo>
                    <a:pt x="12" y="129"/>
                  </a:moveTo>
                  <a:lnTo>
                    <a:pt x="12" y="140"/>
                  </a:lnTo>
                  <a:lnTo>
                    <a:pt x="0" y="140"/>
                  </a:lnTo>
                  <a:lnTo>
                    <a:pt x="0" y="129"/>
                  </a:lnTo>
                  <a:lnTo>
                    <a:pt x="12" y="129"/>
                  </a:lnTo>
                  <a:close/>
                  <a:moveTo>
                    <a:pt x="12" y="151"/>
                  </a:moveTo>
                  <a:lnTo>
                    <a:pt x="12" y="161"/>
                  </a:lnTo>
                  <a:lnTo>
                    <a:pt x="0" y="161"/>
                  </a:lnTo>
                  <a:lnTo>
                    <a:pt x="0" y="151"/>
                  </a:lnTo>
                  <a:lnTo>
                    <a:pt x="12" y="151"/>
                  </a:lnTo>
                  <a:close/>
                  <a:moveTo>
                    <a:pt x="12" y="172"/>
                  </a:moveTo>
                  <a:lnTo>
                    <a:pt x="12" y="183"/>
                  </a:lnTo>
                  <a:lnTo>
                    <a:pt x="0" y="183"/>
                  </a:lnTo>
                  <a:lnTo>
                    <a:pt x="0" y="172"/>
                  </a:lnTo>
                  <a:lnTo>
                    <a:pt x="12" y="172"/>
                  </a:lnTo>
                  <a:close/>
                  <a:moveTo>
                    <a:pt x="12" y="193"/>
                  </a:moveTo>
                  <a:lnTo>
                    <a:pt x="12" y="204"/>
                  </a:lnTo>
                  <a:lnTo>
                    <a:pt x="0" y="204"/>
                  </a:lnTo>
                  <a:lnTo>
                    <a:pt x="0" y="193"/>
                  </a:lnTo>
                  <a:lnTo>
                    <a:pt x="12" y="193"/>
                  </a:lnTo>
                  <a:close/>
                  <a:moveTo>
                    <a:pt x="12" y="215"/>
                  </a:moveTo>
                  <a:lnTo>
                    <a:pt x="12" y="226"/>
                  </a:lnTo>
                  <a:lnTo>
                    <a:pt x="0" y="226"/>
                  </a:lnTo>
                  <a:lnTo>
                    <a:pt x="0" y="215"/>
                  </a:lnTo>
                  <a:lnTo>
                    <a:pt x="12" y="215"/>
                  </a:lnTo>
                  <a:close/>
                  <a:moveTo>
                    <a:pt x="12" y="236"/>
                  </a:moveTo>
                  <a:lnTo>
                    <a:pt x="12" y="247"/>
                  </a:lnTo>
                  <a:lnTo>
                    <a:pt x="0" y="247"/>
                  </a:lnTo>
                  <a:lnTo>
                    <a:pt x="0" y="236"/>
                  </a:lnTo>
                  <a:lnTo>
                    <a:pt x="12" y="236"/>
                  </a:lnTo>
                  <a:close/>
                  <a:moveTo>
                    <a:pt x="12" y="258"/>
                  </a:moveTo>
                  <a:lnTo>
                    <a:pt x="12" y="269"/>
                  </a:lnTo>
                  <a:lnTo>
                    <a:pt x="0" y="269"/>
                  </a:lnTo>
                  <a:lnTo>
                    <a:pt x="0" y="258"/>
                  </a:lnTo>
                  <a:lnTo>
                    <a:pt x="12" y="258"/>
                  </a:lnTo>
                  <a:close/>
                  <a:moveTo>
                    <a:pt x="12" y="279"/>
                  </a:moveTo>
                  <a:lnTo>
                    <a:pt x="12" y="290"/>
                  </a:lnTo>
                  <a:lnTo>
                    <a:pt x="0" y="290"/>
                  </a:lnTo>
                  <a:lnTo>
                    <a:pt x="0" y="279"/>
                  </a:lnTo>
                  <a:lnTo>
                    <a:pt x="12" y="279"/>
                  </a:lnTo>
                  <a:close/>
                  <a:moveTo>
                    <a:pt x="12" y="301"/>
                  </a:moveTo>
                  <a:lnTo>
                    <a:pt x="12" y="312"/>
                  </a:lnTo>
                  <a:lnTo>
                    <a:pt x="0" y="312"/>
                  </a:lnTo>
                  <a:lnTo>
                    <a:pt x="0" y="301"/>
                  </a:lnTo>
                  <a:lnTo>
                    <a:pt x="12" y="301"/>
                  </a:lnTo>
                  <a:close/>
                  <a:moveTo>
                    <a:pt x="12" y="322"/>
                  </a:moveTo>
                  <a:lnTo>
                    <a:pt x="12" y="333"/>
                  </a:lnTo>
                  <a:lnTo>
                    <a:pt x="0" y="333"/>
                  </a:lnTo>
                  <a:lnTo>
                    <a:pt x="0" y="322"/>
                  </a:lnTo>
                  <a:lnTo>
                    <a:pt x="12" y="322"/>
                  </a:lnTo>
                  <a:close/>
                  <a:moveTo>
                    <a:pt x="12" y="344"/>
                  </a:moveTo>
                  <a:lnTo>
                    <a:pt x="12" y="354"/>
                  </a:lnTo>
                  <a:lnTo>
                    <a:pt x="0" y="354"/>
                  </a:lnTo>
                  <a:lnTo>
                    <a:pt x="0" y="344"/>
                  </a:lnTo>
                  <a:lnTo>
                    <a:pt x="12" y="344"/>
                  </a:lnTo>
                  <a:close/>
                  <a:moveTo>
                    <a:pt x="12" y="365"/>
                  </a:moveTo>
                  <a:lnTo>
                    <a:pt x="12" y="376"/>
                  </a:lnTo>
                  <a:lnTo>
                    <a:pt x="0" y="376"/>
                  </a:lnTo>
                  <a:lnTo>
                    <a:pt x="0" y="365"/>
                  </a:lnTo>
                  <a:lnTo>
                    <a:pt x="12" y="365"/>
                  </a:lnTo>
                  <a:close/>
                  <a:moveTo>
                    <a:pt x="12" y="386"/>
                  </a:moveTo>
                  <a:lnTo>
                    <a:pt x="12" y="397"/>
                  </a:lnTo>
                  <a:lnTo>
                    <a:pt x="0" y="397"/>
                  </a:lnTo>
                  <a:lnTo>
                    <a:pt x="0" y="386"/>
                  </a:lnTo>
                  <a:lnTo>
                    <a:pt x="12" y="386"/>
                  </a:lnTo>
                  <a:close/>
                  <a:moveTo>
                    <a:pt x="12" y="408"/>
                  </a:moveTo>
                  <a:lnTo>
                    <a:pt x="12" y="419"/>
                  </a:lnTo>
                  <a:lnTo>
                    <a:pt x="0" y="419"/>
                  </a:lnTo>
                  <a:lnTo>
                    <a:pt x="0" y="408"/>
                  </a:lnTo>
                  <a:lnTo>
                    <a:pt x="12" y="408"/>
                  </a:lnTo>
                  <a:close/>
                  <a:moveTo>
                    <a:pt x="12" y="429"/>
                  </a:moveTo>
                  <a:lnTo>
                    <a:pt x="12" y="440"/>
                  </a:lnTo>
                  <a:lnTo>
                    <a:pt x="0" y="440"/>
                  </a:lnTo>
                  <a:lnTo>
                    <a:pt x="0" y="429"/>
                  </a:lnTo>
                  <a:lnTo>
                    <a:pt x="12" y="429"/>
                  </a:lnTo>
                  <a:close/>
                  <a:moveTo>
                    <a:pt x="12" y="451"/>
                  </a:moveTo>
                  <a:lnTo>
                    <a:pt x="12" y="462"/>
                  </a:lnTo>
                  <a:lnTo>
                    <a:pt x="0" y="462"/>
                  </a:lnTo>
                  <a:lnTo>
                    <a:pt x="0" y="451"/>
                  </a:lnTo>
                  <a:lnTo>
                    <a:pt x="12" y="451"/>
                  </a:lnTo>
                  <a:close/>
                  <a:moveTo>
                    <a:pt x="12" y="472"/>
                  </a:moveTo>
                  <a:lnTo>
                    <a:pt x="12" y="483"/>
                  </a:lnTo>
                  <a:lnTo>
                    <a:pt x="0" y="483"/>
                  </a:lnTo>
                  <a:lnTo>
                    <a:pt x="0" y="472"/>
                  </a:lnTo>
                  <a:lnTo>
                    <a:pt x="12" y="472"/>
                  </a:lnTo>
                  <a:close/>
                  <a:moveTo>
                    <a:pt x="12" y="494"/>
                  </a:moveTo>
                  <a:lnTo>
                    <a:pt x="12" y="505"/>
                  </a:lnTo>
                  <a:lnTo>
                    <a:pt x="0" y="505"/>
                  </a:lnTo>
                  <a:lnTo>
                    <a:pt x="0" y="494"/>
                  </a:lnTo>
                  <a:lnTo>
                    <a:pt x="12" y="494"/>
                  </a:lnTo>
                  <a:close/>
                  <a:moveTo>
                    <a:pt x="12" y="515"/>
                  </a:moveTo>
                  <a:lnTo>
                    <a:pt x="12" y="526"/>
                  </a:lnTo>
                  <a:lnTo>
                    <a:pt x="0" y="526"/>
                  </a:lnTo>
                  <a:lnTo>
                    <a:pt x="0" y="515"/>
                  </a:lnTo>
                  <a:lnTo>
                    <a:pt x="12" y="515"/>
                  </a:lnTo>
                  <a:close/>
                  <a:moveTo>
                    <a:pt x="12" y="537"/>
                  </a:moveTo>
                  <a:lnTo>
                    <a:pt x="12" y="547"/>
                  </a:lnTo>
                  <a:lnTo>
                    <a:pt x="0" y="547"/>
                  </a:lnTo>
                  <a:lnTo>
                    <a:pt x="0" y="537"/>
                  </a:lnTo>
                  <a:lnTo>
                    <a:pt x="12" y="537"/>
                  </a:lnTo>
                  <a:close/>
                  <a:moveTo>
                    <a:pt x="12" y="558"/>
                  </a:moveTo>
                  <a:lnTo>
                    <a:pt x="12" y="569"/>
                  </a:lnTo>
                  <a:lnTo>
                    <a:pt x="0" y="569"/>
                  </a:lnTo>
                  <a:lnTo>
                    <a:pt x="0" y="558"/>
                  </a:lnTo>
                  <a:lnTo>
                    <a:pt x="12" y="558"/>
                  </a:lnTo>
                  <a:close/>
                  <a:moveTo>
                    <a:pt x="12" y="580"/>
                  </a:moveTo>
                  <a:lnTo>
                    <a:pt x="12" y="590"/>
                  </a:lnTo>
                  <a:lnTo>
                    <a:pt x="0" y="590"/>
                  </a:lnTo>
                  <a:lnTo>
                    <a:pt x="0" y="580"/>
                  </a:lnTo>
                  <a:lnTo>
                    <a:pt x="12" y="580"/>
                  </a:lnTo>
                  <a:close/>
                  <a:moveTo>
                    <a:pt x="12" y="601"/>
                  </a:moveTo>
                  <a:lnTo>
                    <a:pt x="12" y="612"/>
                  </a:lnTo>
                  <a:lnTo>
                    <a:pt x="0" y="612"/>
                  </a:lnTo>
                  <a:lnTo>
                    <a:pt x="0" y="601"/>
                  </a:lnTo>
                  <a:lnTo>
                    <a:pt x="12" y="601"/>
                  </a:lnTo>
                  <a:close/>
                  <a:moveTo>
                    <a:pt x="12" y="623"/>
                  </a:moveTo>
                  <a:lnTo>
                    <a:pt x="12" y="633"/>
                  </a:lnTo>
                  <a:lnTo>
                    <a:pt x="0" y="633"/>
                  </a:lnTo>
                  <a:lnTo>
                    <a:pt x="0" y="623"/>
                  </a:lnTo>
                  <a:lnTo>
                    <a:pt x="12" y="623"/>
                  </a:lnTo>
                  <a:close/>
                  <a:moveTo>
                    <a:pt x="12" y="644"/>
                  </a:moveTo>
                  <a:lnTo>
                    <a:pt x="12" y="655"/>
                  </a:lnTo>
                  <a:lnTo>
                    <a:pt x="0" y="655"/>
                  </a:lnTo>
                  <a:lnTo>
                    <a:pt x="0" y="644"/>
                  </a:lnTo>
                  <a:lnTo>
                    <a:pt x="12" y="644"/>
                  </a:lnTo>
                  <a:close/>
                  <a:moveTo>
                    <a:pt x="12" y="665"/>
                  </a:moveTo>
                  <a:lnTo>
                    <a:pt x="12" y="676"/>
                  </a:lnTo>
                  <a:lnTo>
                    <a:pt x="0" y="676"/>
                  </a:lnTo>
                  <a:lnTo>
                    <a:pt x="0" y="665"/>
                  </a:lnTo>
                  <a:lnTo>
                    <a:pt x="12" y="665"/>
                  </a:lnTo>
                  <a:close/>
                  <a:moveTo>
                    <a:pt x="12" y="687"/>
                  </a:moveTo>
                  <a:lnTo>
                    <a:pt x="12" y="698"/>
                  </a:lnTo>
                  <a:lnTo>
                    <a:pt x="0" y="698"/>
                  </a:lnTo>
                  <a:lnTo>
                    <a:pt x="0" y="687"/>
                  </a:lnTo>
                  <a:lnTo>
                    <a:pt x="12" y="687"/>
                  </a:lnTo>
                  <a:close/>
                  <a:moveTo>
                    <a:pt x="12" y="708"/>
                  </a:moveTo>
                  <a:lnTo>
                    <a:pt x="12" y="719"/>
                  </a:lnTo>
                  <a:lnTo>
                    <a:pt x="0" y="719"/>
                  </a:lnTo>
                  <a:lnTo>
                    <a:pt x="0" y="708"/>
                  </a:lnTo>
                  <a:lnTo>
                    <a:pt x="12" y="708"/>
                  </a:lnTo>
                  <a:close/>
                  <a:moveTo>
                    <a:pt x="12" y="730"/>
                  </a:moveTo>
                  <a:lnTo>
                    <a:pt x="12" y="740"/>
                  </a:lnTo>
                  <a:lnTo>
                    <a:pt x="0" y="740"/>
                  </a:lnTo>
                  <a:lnTo>
                    <a:pt x="0" y="730"/>
                  </a:lnTo>
                  <a:lnTo>
                    <a:pt x="12" y="730"/>
                  </a:lnTo>
                  <a:close/>
                  <a:moveTo>
                    <a:pt x="12" y="751"/>
                  </a:moveTo>
                  <a:lnTo>
                    <a:pt x="12" y="762"/>
                  </a:lnTo>
                  <a:lnTo>
                    <a:pt x="0" y="762"/>
                  </a:lnTo>
                  <a:lnTo>
                    <a:pt x="0" y="751"/>
                  </a:lnTo>
                  <a:lnTo>
                    <a:pt x="12" y="751"/>
                  </a:lnTo>
                  <a:close/>
                  <a:moveTo>
                    <a:pt x="12" y="773"/>
                  </a:moveTo>
                  <a:lnTo>
                    <a:pt x="12" y="783"/>
                  </a:lnTo>
                  <a:lnTo>
                    <a:pt x="0" y="783"/>
                  </a:lnTo>
                  <a:lnTo>
                    <a:pt x="0" y="773"/>
                  </a:lnTo>
                  <a:lnTo>
                    <a:pt x="12" y="773"/>
                  </a:lnTo>
                  <a:close/>
                  <a:moveTo>
                    <a:pt x="12" y="794"/>
                  </a:moveTo>
                  <a:lnTo>
                    <a:pt x="12" y="805"/>
                  </a:lnTo>
                  <a:lnTo>
                    <a:pt x="0" y="805"/>
                  </a:lnTo>
                  <a:lnTo>
                    <a:pt x="0" y="794"/>
                  </a:lnTo>
                  <a:lnTo>
                    <a:pt x="12" y="794"/>
                  </a:lnTo>
                  <a:close/>
                  <a:moveTo>
                    <a:pt x="12" y="816"/>
                  </a:moveTo>
                  <a:lnTo>
                    <a:pt x="12" y="826"/>
                  </a:lnTo>
                  <a:lnTo>
                    <a:pt x="0" y="826"/>
                  </a:lnTo>
                  <a:lnTo>
                    <a:pt x="0" y="816"/>
                  </a:lnTo>
                  <a:lnTo>
                    <a:pt x="12" y="816"/>
                  </a:lnTo>
                  <a:close/>
                  <a:moveTo>
                    <a:pt x="12" y="837"/>
                  </a:moveTo>
                  <a:lnTo>
                    <a:pt x="12" y="848"/>
                  </a:lnTo>
                  <a:lnTo>
                    <a:pt x="0" y="848"/>
                  </a:lnTo>
                  <a:lnTo>
                    <a:pt x="0" y="837"/>
                  </a:lnTo>
                  <a:lnTo>
                    <a:pt x="12" y="837"/>
                  </a:lnTo>
                  <a:close/>
                  <a:moveTo>
                    <a:pt x="12" y="859"/>
                  </a:moveTo>
                  <a:lnTo>
                    <a:pt x="12" y="869"/>
                  </a:lnTo>
                  <a:lnTo>
                    <a:pt x="0" y="869"/>
                  </a:lnTo>
                  <a:lnTo>
                    <a:pt x="0" y="859"/>
                  </a:lnTo>
                  <a:lnTo>
                    <a:pt x="12" y="859"/>
                  </a:lnTo>
                  <a:close/>
                  <a:moveTo>
                    <a:pt x="12" y="880"/>
                  </a:moveTo>
                  <a:lnTo>
                    <a:pt x="12" y="891"/>
                  </a:lnTo>
                  <a:lnTo>
                    <a:pt x="0" y="891"/>
                  </a:lnTo>
                  <a:lnTo>
                    <a:pt x="0" y="880"/>
                  </a:lnTo>
                  <a:lnTo>
                    <a:pt x="12" y="880"/>
                  </a:lnTo>
                  <a:close/>
                  <a:moveTo>
                    <a:pt x="12" y="901"/>
                  </a:moveTo>
                  <a:lnTo>
                    <a:pt x="12" y="912"/>
                  </a:lnTo>
                  <a:lnTo>
                    <a:pt x="0" y="912"/>
                  </a:lnTo>
                  <a:lnTo>
                    <a:pt x="0" y="901"/>
                  </a:lnTo>
                  <a:lnTo>
                    <a:pt x="12" y="901"/>
                  </a:lnTo>
                  <a:close/>
                  <a:moveTo>
                    <a:pt x="12" y="923"/>
                  </a:moveTo>
                  <a:lnTo>
                    <a:pt x="12" y="933"/>
                  </a:lnTo>
                  <a:lnTo>
                    <a:pt x="0" y="933"/>
                  </a:lnTo>
                  <a:lnTo>
                    <a:pt x="0" y="923"/>
                  </a:lnTo>
                  <a:lnTo>
                    <a:pt x="12" y="923"/>
                  </a:lnTo>
                  <a:close/>
                  <a:moveTo>
                    <a:pt x="12" y="944"/>
                  </a:moveTo>
                  <a:lnTo>
                    <a:pt x="12" y="955"/>
                  </a:lnTo>
                  <a:lnTo>
                    <a:pt x="0" y="955"/>
                  </a:lnTo>
                  <a:lnTo>
                    <a:pt x="0" y="944"/>
                  </a:lnTo>
                  <a:lnTo>
                    <a:pt x="12" y="944"/>
                  </a:lnTo>
                  <a:close/>
                  <a:moveTo>
                    <a:pt x="12" y="966"/>
                  </a:moveTo>
                  <a:lnTo>
                    <a:pt x="12" y="976"/>
                  </a:lnTo>
                  <a:lnTo>
                    <a:pt x="0" y="976"/>
                  </a:lnTo>
                  <a:lnTo>
                    <a:pt x="0" y="966"/>
                  </a:lnTo>
                  <a:lnTo>
                    <a:pt x="12" y="966"/>
                  </a:lnTo>
                  <a:close/>
                  <a:moveTo>
                    <a:pt x="12" y="987"/>
                  </a:moveTo>
                  <a:lnTo>
                    <a:pt x="12" y="998"/>
                  </a:lnTo>
                  <a:lnTo>
                    <a:pt x="0" y="998"/>
                  </a:lnTo>
                  <a:lnTo>
                    <a:pt x="0" y="987"/>
                  </a:lnTo>
                  <a:lnTo>
                    <a:pt x="12" y="987"/>
                  </a:lnTo>
                  <a:close/>
                  <a:moveTo>
                    <a:pt x="12" y="1009"/>
                  </a:moveTo>
                  <a:lnTo>
                    <a:pt x="12" y="1019"/>
                  </a:lnTo>
                  <a:lnTo>
                    <a:pt x="0" y="1019"/>
                  </a:lnTo>
                  <a:lnTo>
                    <a:pt x="0" y="1009"/>
                  </a:lnTo>
                  <a:lnTo>
                    <a:pt x="12" y="1009"/>
                  </a:lnTo>
                  <a:close/>
                  <a:moveTo>
                    <a:pt x="12" y="1030"/>
                  </a:moveTo>
                  <a:lnTo>
                    <a:pt x="12" y="1041"/>
                  </a:lnTo>
                  <a:lnTo>
                    <a:pt x="0" y="1041"/>
                  </a:lnTo>
                  <a:lnTo>
                    <a:pt x="0" y="1030"/>
                  </a:lnTo>
                  <a:lnTo>
                    <a:pt x="12" y="1030"/>
                  </a:lnTo>
                  <a:close/>
                  <a:moveTo>
                    <a:pt x="12" y="1052"/>
                  </a:moveTo>
                  <a:lnTo>
                    <a:pt x="12" y="1062"/>
                  </a:lnTo>
                  <a:lnTo>
                    <a:pt x="0" y="1062"/>
                  </a:lnTo>
                  <a:lnTo>
                    <a:pt x="0" y="1052"/>
                  </a:lnTo>
                  <a:lnTo>
                    <a:pt x="12" y="1052"/>
                  </a:lnTo>
                  <a:close/>
                  <a:moveTo>
                    <a:pt x="12" y="1073"/>
                  </a:moveTo>
                  <a:lnTo>
                    <a:pt x="12" y="1084"/>
                  </a:lnTo>
                  <a:lnTo>
                    <a:pt x="0" y="1084"/>
                  </a:lnTo>
                  <a:lnTo>
                    <a:pt x="0" y="1073"/>
                  </a:lnTo>
                  <a:lnTo>
                    <a:pt x="12" y="1073"/>
                  </a:lnTo>
                  <a:close/>
                  <a:moveTo>
                    <a:pt x="12" y="1094"/>
                  </a:moveTo>
                  <a:lnTo>
                    <a:pt x="12" y="1105"/>
                  </a:lnTo>
                  <a:lnTo>
                    <a:pt x="0" y="1105"/>
                  </a:lnTo>
                  <a:lnTo>
                    <a:pt x="0" y="1094"/>
                  </a:lnTo>
                  <a:lnTo>
                    <a:pt x="12" y="1094"/>
                  </a:lnTo>
                  <a:close/>
                  <a:moveTo>
                    <a:pt x="12" y="1116"/>
                  </a:moveTo>
                  <a:lnTo>
                    <a:pt x="12" y="1127"/>
                  </a:lnTo>
                  <a:lnTo>
                    <a:pt x="0" y="1127"/>
                  </a:lnTo>
                  <a:lnTo>
                    <a:pt x="0" y="1116"/>
                  </a:lnTo>
                  <a:lnTo>
                    <a:pt x="12" y="1116"/>
                  </a:lnTo>
                  <a:close/>
                  <a:moveTo>
                    <a:pt x="12" y="1137"/>
                  </a:moveTo>
                  <a:lnTo>
                    <a:pt x="12" y="1148"/>
                  </a:lnTo>
                  <a:lnTo>
                    <a:pt x="0" y="1148"/>
                  </a:lnTo>
                  <a:lnTo>
                    <a:pt x="0" y="1137"/>
                  </a:lnTo>
                  <a:lnTo>
                    <a:pt x="12" y="1137"/>
                  </a:lnTo>
                  <a:close/>
                  <a:moveTo>
                    <a:pt x="12" y="1159"/>
                  </a:moveTo>
                  <a:lnTo>
                    <a:pt x="12" y="1169"/>
                  </a:lnTo>
                  <a:lnTo>
                    <a:pt x="0" y="1169"/>
                  </a:lnTo>
                  <a:lnTo>
                    <a:pt x="0" y="1159"/>
                  </a:lnTo>
                  <a:lnTo>
                    <a:pt x="12" y="1159"/>
                  </a:lnTo>
                  <a:close/>
                  <a:moveTo>
                    <a:pt x="12" y="1180"/>
                  </a:moveTo>
                  <a:lnTo>
                    <a:pt x="12" y="1191"/>
                  </a:lnTo>
                  <a:lnTo>
                    <a:pt x="0" y="1191"/>
                  </a:lnTo>
                  <a:lnTo>
                    <a:pt x="0" y="1180"/>
                  </a:lnTo>
                  <a:lnTo>
                    <a:pt x="12" y="1180"/>
                  </a:lnTo>
                  <a:close/>
                  <a:moveTo>
                    <a:pt x="12" y="1202"/>
                  </a:moveTo>
                  <a:lnTo>
                    <a:pt x="12" y="1212"/>
                  </a:lnTo>
                  <a:lnTo>
                    <a:pt x="0" y="1212"/>
                  </a:lnTo>
                  <a:lnTo>
                    <a:pt x="0" y="1202"/>
                  </a:lnTo>
                  <a:lnTo>
                    <a:pt x="12" y="1202"/>
                  </a:lnTo>
                  <a:close/>
                  <a:moveTo>
                    <a:pt x="12" y="1223"/>
                  </a:moveTo>
                  <a:lnTo>
                    <a:pt x="12" y="1234"/>
                  </a:lnTo>
                  <a:lnTo>
                    <a:pt x="0" y="1234"/>
                  </a:lnTo>
                  <a:lnTo>
                    <a:pt x="0" y="1223"/>
                  </a:lnTo>
                  <a:lnTo>
                    <a:pt x="12" y="1223"/>
                  </a:lnTo>
                  <a:close/>
                  <a:moveTo>
                    <a:pt x="12" y="1245"/>
                  </a:moveTo>
                  <a:lnTo>
                    <a:pt x="12" y="1255"/>
                  </a:lnTo>
                  <a:lnTo>
                    <a:pt x="0" y="1255"/>
                  </a:lnTo>
                  <a:lnTo>
                    <a:pt x="0" y="1245"/>
                  </a:lnTo>
                  <a:lnTo>
                    <a:pt x="12" y="1245"/>
                  </a:lnTo>
                  <a:close/>
                  <a:moveTo>
                    <a:pt x="12" y="1266"/>
                  </a:moveTo>
                  <a:lnTo>
                    <a:pt x="12" y="1277"/>
                  </a:lnTo>
                  <a:lnTo>
                    <a:pt x="0" y="1277"/>
                  </a:lnTo>
                  <a:lnTo>
                    <a:pt x="0" y="1266"/>
                  </a:lnTo>
                  <a:lnTo>
                    <a:pt x="12" y="1266"/>
                  </a:lnTo>
                  <a:close/>
                  <a:moveTo>
                    <a:pt x="12" y="1287"/>
                  </a:moveTo>
                  <a:lnTo>
                    <a:pt x="12" y="1298"/>
                  </a:lnTo>
                  <a:lnTo>
                    <a:pt x="0" y="1298"/>
                  </a:lnTo>
                  <a:lnTo>
                    <a:pt x="0" y="1287"/>
                  </a:lnTo>
                  <a:lnTo>
                    <a:pt x="12" y="1287"/>
                  </a:lnTo>
                  <a:close/>
                  <a:moveTo>
                    <a:pt x="12" y="1309"/>
                  </a:moveTo>
                  <a:lnTo>
                    <a:pt x="12" y="1320"/>
                  </a:lnTo>
                  <a:lnTo>
                    <a:pt x="0" y="1320"/>
                  </a:lnTo>
                  <a:lnTo>
                    <a:pt x="0" y="1309"/>
                  </a:lnTo>
                  <a:lnTo>
                    <a:pt x="12" y="1309"/>
                  </a:lnTo>
                  <a:close/>
                  <a:moveTo>
                    <a:pt x="12" y="1330"/>
                  </a:moveTo>
                  <a:lnTo>
                    <a:pt x="12" y="1341"/>
                  </a:lnTo>
                  <a:lnTo>
                    <a:pt x="0" y="1341"/>
                  </a:lnTo>
                  <a:lnTo>
                    <a:pt x="0" y="1330"/>
                  </a:lnTo>
                  <a:lnTo>
                    <a:pt x="12" y="1330"/>
                  </a:lnTo>
                  <a:close/>
                  <a:moveTo>
                    <a:pt x="12" y="1352"/>
                  </a:moveTo>
                  <a:lnTo>
                    <a:pt x="12" y="1363"/>
                  </a:lnTo>
                  <a:lnTo>
                    <a:pt x="0" y="1363"/>
                  </a:lnTo>
                  <a:lnTo>
                    <a:pt x="0" y="1352"/>
                  </a:lnTo>
                  <a:lnTo>
                    <a:pt x="12" y="1352"/>
                  </a:lnTo>
                  <a:close/>
                  <a:moveTo>
                    <a:pt x="12" y="1373"/>
                  </a:moveTo>
                  <a:lnTo>
                    <a:pt x="12" y="1384"/>
                  </a:lnTo>
                  <a:lnTo>
                    <a:pt x="0" y="1384"/>
                  </a:lnTo>
                  <a:lnTo>
                    <a:pt x="0" y="1373"/>
                  </a:lnTo>
                  <a:lnTo>
                    <a:pt x="12" y="1373"/>
                  </a:lnTo>
                  <a:close/>
                  <a:moveTo>
                    <a:pt x="12" y="1395"/>
                  </a:moveTo>
                  <a:lnTo>
                    <a:pt x="12" y="1406"/>
                  </a:lnTo>
                  <a:lnTo>
                    <a:pt x="0" y="1406"/>
                  </a:lnTo>
                  <a:lnTo>
                    <a:pt x="0" y="1395"/>
                  </a:lnTo>
                  <a:lnTo>
                    <a:pt x="12" y="1395"/>
                  </a:lnTo>
                  <a:close/>
                  <a:moveTo>
                    <a:pt x="12" y="1416"/>
                  </a:moveTo>
                  <a:lnTo>
                    <a:pt x="12" y="1427"/>
                  </a:lnTo>
                  <a:lnTo>
                    <a:pt x="0" y="1427"/>
                  </a:lnTo>
                  <a:lnTo>
                    <a:pt x="0" y="1416"/>
                  </a:lnTo>
                  <a:lnTo>
                    <a:pt x="12" y="1416"/>
                  </a:lnTo>
                  <a:close/>
                  <a:moveTo>
                    <a:pt x="12" y="1438"/>
                  </a:moveTo>
                  <a:lnTo>
                    <a:pt x="12" y="1448"/>
                  </a:lnTo>
                  <a:lnTo>
                    <a:pt x="0" y="1448"/>
                  </a:lnTo>
                  <a:lnTo>
                    <a:pt x="0" y="1438"/>
                  </a:lnTo>
                  <a:lnTo>
                    <a:pt x="12" y="1438"/>
                  </a:lnTo>
                  <a:close/>
                  <a:moveTo>
                    <a:pt x="12" y="1459"/>
                  </a:moveTo>
                  <a:lnTo>
                    <a:pt x="12" y="1470"/>
                  </a:lnTo>
                  <a:lnTo>
                    <a:pt x="0" y="1470"/>
                  </a:lnTo>
                  <a:lnTo>
                    <a:pt x="0" y="1459"/>
                  </a:lnTo>
                  <a:lnTo>
                    <a:pt x="12" y="1459"/>
                  </a:lnTo>
                  <a:close/>
                  <a:moveTo>
                    <a:pt x="12" y="1480"/>
                  </a:moveTo>
                  <a:lnTo>
                    <a:pt x="12" y="1491"/>
                  </a:lnTo>
                  <a:lnTo>
                    <a:pt x="0" y="1491"/>
                  </a:lnTo>
                  <a:lnTo>
                    <a:pt x="0" y="1480"/>
                  </a:lnTo>
                  <a:lnTo>
                    <a:pt x="12" y="1480"/>
                  </a:lnTo>
                  <a:close/>
                  <a:moveTo>
                    <a:pt x="12" y="1502"/>
                  </a:moveTo>
                  <a:lnTo>
                    <a:pt x="12" y="1513"/>
                  </a:lnTo>
                  <a:lnTo>
                    <a:pt x="0" y="1513"/>
                  </a:lnTo>
                  <a:lnTo>
                    <a:pt x="0" y="1502"/>
                  </a:lnTo>
                  <a:lnTo>
                    <a:pt x="12" y="1502"/>
                  </a:lnTo>
                  <a:close/>
                  <a:moveTo>
                    <a:pt x="12" y="1523"/>
                  </a:moveTo>
                  <a:lnTo>
                    <a:pt x="12" y="1534"/>
                  </a:lnTo>
                  <a:lnTo>
                    <a:pt x="0" y="1534"/>
                  </a:lnTo>
                  <a:lnTo>
                    <a:pt x="0" y="1523"/>
                  </a:lnTo>
                  <a:lnTo>
                    <a:pt x="12" y="1523"/>
                  </a:lnTo>
                  <a:close/>
                  <a:moveTo>
                    <a:pt x="12" y="1545"/>
                  </a:moveTo>
                  <a:lnTo>
                    <a:pt x="12" y="1556"/>
                  </a:lnTo>
                  <a:lnTo>
                    <a:pt x="0" y="1556"/>
                  </a:lnTo>
                  <a:lnTo>
                    <a:pt x="0" y="1545"/>
                  </a:lnTo>
                  <a:lnTo>
                    <a:pt x="12" y="1545"/>
                  </a:lnTo>
                  <a:close/>
                  <a:moveTo>
                    <a:pt x="12" y="1566"/>
                  </a:moveTo>
                  <a:lnTo>
                    <a:pt x="12" y="1577"/>
                  </a:lnTo>
                  <a:lnTo>
                    <a:pt x="0" y="1577"/>
                  </a:lnTo>
                  <a:lnTo>
                    <a:pt x="0" y="1566"/>
                  </a:lnTo>
                  <a:lnTo>
                    <a:pt x="12" y="1566"/>
                  </a:lnTo>
                  <a:close/>
                  <a:moveTo>
                    <a:pt x="12" y="1588"/>
                  </a:moveTo>
                  <a:lnTo>
                    <a:pt x="12" y="1599"/>
                  </a:lnTo>
                  <a:lnTo>
                    <a:pt x="0" y="1599"/>
                  </a:lnTo>
                  <a:lnTo>
                    <a:pt x="0" y="1588"/>
                  </a:lnTo>
                  <a:lnTo>
                    <a:pt x="12" y="1588"/>
                  </a:lnTo>
                  <a:close/>
                  <a:moveTo>
                    <a:pt x="12" y="1609"/>
                  </a:moveTo>
                  <a:lnTo>
                    <a:pt x="12" y="1620"/>
                  </a:lnTo>
                  <a:lnTo>
                    <a:pt x="0" y="1620"/>
                  </a:lnTo>
                  <a:lnTo>
                    <a:pt x="0" y="1609"/>
                  </a:lnTo>
                  <a:lnTo>
                    <a:pt x="12" y="1609"/>
                  </a:lnTo>
                  <a:close/>
                  <a:moveTo>
                    <a:pt x="12" y="1631"/>
                  </a:moveTo>
                  <a:lnTo>
                    <a:pt x="12" y="1641"/>
                  </a:lnTo>
                  <a:lnTo>
                    <a:pt x="0" y="1641"/>
                  </a:lnTo>
                  <a:lnTo>
                    <a:pt x="0" y="1631"/>
                  </a:lnTo>
                  <a:lnTo>
                    <a:pt x="12" y="1631"/>
                  </a:lnTo>
                  <a:close/>
                  <a:moveTo>
                    <a:pt x="12" y="1652"/>
                  </a:moveTo>
                  <a:lnTo>
                    <a:pt x="12" y="1663"/>
                  </a:lnTo>
                  <a:lnTo>
                    <a:pt x="0" y="1663"/>
                  </a:lnTo>
                  <a:lnTo>
                    <a:pt x="0" y="1652"/>
                  </a:lnTo>
                  <a:lnTo>
                    <a:pt x="12" y="1652"/>
                  </a:lnTo>
                  <a:close/>
                  <a:moveTo>
                    <a:pt x="12" y="1673"/>
                  </a:moveTo>
                  <a:lnTo>
                    <a:pt x="12" y="1684"/>
                  </a:lnTo>
                  <a:lnTo>
                    <a:pt x="0" y="1684"/>
                  </a:lnTo>
                  <a:lnTo>
                    <a:pt x="0" y="1673"/>
                  </a:lnTo>
                  <a:lnTo>
                    <a:pt x="12" y="1673"/>
                  </a:lnTo>
                  <a:close/>
                  <a:moveTo>
                    <a:pt x="12" y="1695"/>
                  </a:moveTo>
                  <a:lnTo>
                    <a:pt x="12" y="1706"/>
                  </a:lnTo>
                  <a:lnTo>
                    <a:pt x="0" y="1706"/>
                  </a:lnTo>
                  <a:lnTo>
                    <a:pt x="0" y="1695"/>
                  </a:lnTo>
                  <a:lnTo>
                    <a:pt x="12" y="1695"/>
                  </a:lnTo>
                  <a:close/>
                  <a:moveTo>
                    <a:pt x="12" y="1716"/>
                  </a:moveTo>
                  <a:lnTo>
                    <a:pt x="12" y="1727"/>
                  </a:lnTo>
                  <a:lnTo>
                    <a:pt x="0" y="1727"/>
                  </a:lnTo>
                  <a:lnTo>
                    <a:pt x="0" y="1716"/>
                  </a:lnTo>
                  <a:lnTo>
                    <a:pt x="12" y="1716"/>
                  </a:lnTo>
                  <a:close/>
                  <a:moveTo>
                    <a:pt x="12" y="1738"/>
                  </a:moveTo>
                  <a:lnTo>
                    <a:pt x="12" y="1749"/>
                  </a:lnTo>
                  <a:lnTo>
                    <a:pt x="0" y="1749"/>
                  </a:lnTo>
                  <a:lnTo>
                    <a:pt x="0" y="1738"/>
                  </a:lnTo>
                  <a:lnTo>
                    <a:pt x="12" y="1738"/>
                  </a:lnTo>
                  <a:close/>
                  <a:moveTo>
                    <a:pt x="12" y="1759"/>
                  </a:moveTo>
                  <a:lnTo>
                    <a:pt x="12" y="1770"/>
                  </a:lnTo>
                  <a:lnTo>
                    <a:pt x="0" y="1770"/>
                  </a:lnTo>
                  <a:lnTo>
                    <a:pt x="0" y="1759"/>
                  </a:lnTo>
                  <a:lnTo>
                    <a:pt x="12" y="1759"/>
                  </a:lnTo>
                  <a:close/>
                  <a:moveTo>
                    <a:pt x="12" y="1781"/>
                  </a:moveTo>
                  <a:lnTo>
                    <a:pt x="12" y="1792"/>
                  </a:lnTo>
                  <a:lnTo>
                    <a:pt x="0" y="1792"/>
                  </a:lnTo>
                  <a:lnTo>
                    <a:pt x="0" y="1781"/>
                  </a:lnTo>
                  <a:lnTo>
                    <a:pt x="12" y="1781"/>
                  </a:lnTo>
                  <a:close/>
                  <a:moveTo>
                    <a:pt x="12" y="1802"/>
                  </a:moveTo>
                  <a:lnTo>
                    <a:pt x="12" y="1813"/>
                  </a:lnTo>
                  <a:lnTo>
                    <a:pt x="0" y="1813"/>
                  </a:lnTo>
                  <a:lnTo>
                    <a:pt x="0" y="1802"/>
                  </a:lnTo>
                  <a:lnTo>
                    <a:pt x="12" y="1802"/>
                  </a:lnTo>
                  <a:close/>
                  <a:moveTo>
                    <a:pt x="12" y="1824"/>
                  </a:moveTo>
                  <a:lnTo>
                    <a:pt x="12" y="1834"/>
                  </a:lnTo>
                  <a:lnTo>
                    <a:pt x="0" y="1834"/>
                  </a:lnTo>
                  <a:lnTo>
                    <a:pt x="0" y="1824"/>
                  </a:lnTo>
                  <a:lnTo>
                    <a:pt x="12" y="1824"/>
                  </a:lnTo>
                  <a:close/>
                  <a:moveTo>
                    <a:pt x="12" y="1845"/>
                  </a:moveTo>
                  <a:lnTo>
                    <a:pt x="12" y="1856"/>
                  </a:lnTo>
                  <a:lnTo>
                    <a:pt x="0" y="1856"/>
                  </a:lnTo>
                  <a:lnTo>
                    <a:pt x="0" y="1845"/>
                  </a:lnTo>
                  <a:lnTo>
                    <a:pt x="12" y="1845"/>
                  </a:lnTo>
                  <a:close/>
                  <a:moveTo>
                    <a:pt x="12" y="1867"/>
                  </a:moveTo>
                  <a:lnTo>
                    <a:pt x="12" y="1877"/>
                  </a:lnTo>
                  <a:lnTo>
                    <a:pt x="0" y="1877"/>
                  </a:lnTo>
                  <a:lnTo>
                    <a:pt x="0" y="1867"/>
                  </a:lnTo>
                  <a:lnTo>
                    <a:pt x="12" y="1867"/>
                  </a:lnTo>
                  <a:close/>
                  <a:moveTo>
                    <a:pt x="12" y="1888"/>
                  </a:moveTo>
                  <a:lnTo>
                    <a:pt x="12" y="1899"/>
                  </a:lnTo>
                  <a:lnTo>
                    <a:pt x="0" y="1899"/>
                  </a:lnTo>
                  <a:lnTo>
                    <a:pt x="0" y="1888"/>
                  </a:lnTo>
                  <a:lnTo>
                    <a:pt x="12" y="1888"/>
                  </a:lnTo>
                  <a:close/>
                  <a:moveTo>
                    <a:pt x="12" y="1910"/>
                  </a:moveTo>
                  <a:lnTo>
                    <a:pt x="12" y="1920"/>
                  </a:lnTo>
                  <a:lnTo>
                    <a:pt x="0" y="1920"/>
                  </a:lnTo>
                  <a:lnTo>
                    <a:pt x="0" y="1910"/>
                  </a:lnTo>
                  <a:lnTo>
                    <a:pt x="12" y="1910"/>
                  </a:lnTo>
                  <a:close/>
                  <a:moveTo>
                    <a:pt x="12" y="1931"/>
                  </a:moveTo>
                  <a:lnTo>
                    <a:pt x="12" y="1942"/>
                  </a:lnTo>
                  <a:lnTo>
                    <a:pt x="0" y="1942"/>
                  </a:lnTo>
                  <a:lnTo>
                    <a:pt x="0" y="1931"/>
                  </a:lnTo>
                  <a:lnTo>
                    <a:pt x="12" y="1931"/>
                  </a:lnTo>
                  <a:close/>
                  <a:moveTo>
                    <a:pt x="12" y="1952"/>
                  </a:moveTo>
                  <a:lnTo>
                    <a:pt x="12" y="1963"/>
                  </a:lnTo>
                  <a:lnTo>
                    <a:pt x="0" y="1963"/>
                  </a:lnTo>
                  <a:lnTo>
                    <a:pt x="0" y="1952"/>
                  </a:lnTo>
                  <a:lnTo>
                    <a:pt x="12" y="1952"/>
                  </a:lnTo>
                  <a:close/>
                  <a:moveTo>
                    <a:pt x="12" y="1974"/>
                  </a:moveTo>
                  <a:lnTo>
                    <a:pt x="12" y="1985"/>
                  </a:lnTo>
                  <a:lnTo>
                    <a:pt x="0" y="1985"/>
                  </a:lnTo>
                  <a:lnTo>
                    <a:pt x="0" y="1974"/>
                  </a:lnTo>
                  <a:lnTo>
                    <a:pt x="12" y="1974"/>
                  </a:lnTo>
                  <a:close/>
                  <a:moveTo>
                    <a:pt x="12" y="1995"/>
                  </a:moveTo>
                  <a:lnTo>
                    <a:pt x="12" y="2006"/>
                  </a:lnTo>
                  <a:lnTo>
                    <a:pt x="0" y="2006"/>
                  </a:lnTo>
                  <a:lnTo>
                    <a:pt x="0" y="1995"/>
                  </a:lnTo>
                  <a:lnTo>
                    <a:pt x="12" y="1995"/>
                  </a:lnTo>
                  <a:close/>
                  <a:moveTo>
                    <a:pt x="12" y="2017"/>
                  </a:moveTo>
                  <a:lnTo>
                    <a:pt x="12" y="2027"/>
                  </a:lnTo>
                  <a:lnTo>
                    <a:pt x="0" y="2027"/>
                  </a:lnTo>
                  <a:lnTo>
                    <a:pt x="0" y="2017"/>
                  </a:lnTo>
                  <a:lnTo>
                    <a:pt x="12" y="2017"/>
                  </a:lnTo>
                  <a:close/>
                  <a:moveTo>
                    <a:pt x="12" y="2038"/>
                  </a:moveTo>
                  <a:lnTo>
                    <a:pt x="12" y="2049"/>
                  </a:lnTo>
                  <a:lnTo>
                    <a:pt x="0" y="2049"/>
                  </a:lnTo>
                  <a:lnTo>
                    <a:pt x="0" y="2038"/>
                  </a:lnTo>
                  <a:lnTo>
                    <a:pt x="12" y="2038"/>
                  </a:lnTo>
                  <a:close/>
                  <a:moveTo>
                    <a:pt x="12" y="2060"/>
                  </a:moveTo>
                  <a:lnTo>
                    <a:pt x="12" y="2070"/>
                  </a:lnTo>
                  <a:lnTo>
                    <a:pt x="0" y="2070"/>
                  </a:lnTo>
                  <a:lnTo>
                    <a:pt x="0" y="2060"/>
                  </a:lnTo>
                  <a:lnTo>
                    <a:pt x="12" y="2060"/>
                  </a:lnTo>
                  <a:close/>
                  <a:moveTo>
                    <a:pt x="12" y="2081"/>
                  </a:moveTo>
                  <a:lnTo>
                    <a:pt x="12" y="2092"/>
                  </a:lnTo>
                  <a:lnTo>
                    <a:pt x="0" y="2092"/>
                  </a:lnTo>
                  <a:lnTo>
                    <a:pt x="0" y="2081"/>
                  </a:lnTo>
                  <a:lnTo>
                    <a:pt x="12" y="2081"/>
                  </a:lnTo>
                  <a:close/>
                  <a:moveTo>
                    <a:pt x="12" y="2103"/>
                  </a:moveTo>
                  <a:lnTo>
                    <a:pt x="12" y="2113"/>
                  </a:lnTo>
                  <a:lnTo>
                    <a:pt x="0" y="2113"/>
                  </a:lnTo>
                  <a:lnTo>
                    <a:pt x="0" y="2103"/>
                  </a:lnTo>
                  <a:lnTo>
                    <a:pt x="12" y="2103"/>
                  </a:lnTo>
                  <a:close/>
                  <a:moveTo>
                    <a:pt x="12" y="2124"/>
                  </a:moveTo>
                  <a:lnTo>
                    <a:pt x="12" y="2135"/>
                  </a:lnTo>
                  <a:lnTo>
                    <a:pt x="0" y="2135"/>
                  </a:lnTo>
                  <a:lnTo>
                    <a:pt x="0" y="2124"/>
                  </a:lnTo>
                  <a:lnTo>
                    <a:pt x="12" y="2124"/>
                  </a:lnTo>
                  <a:close/>
                  <a:moveTo>
                    <a:pt x="12" y="2146"/>
                  </a:moveTo>
                  <a:lnTo>
                    <a:pt x="12" y="2156"/>
                  </a:lnTo>
                  <a:lnTo>
                    <a:pt x="0" y="2156"/>
                  </a:lnTo>
                  <a:lnTo>
                    <a:pt x="0" y="2146"/>
                  </a:lnTo>
                  <a:lnTo>
                    <a:pt x="12" y="2146"/>
                  </a:lnTo>
                  <a:close/>
                  <a:moveTo>
                    <a:pt x="12" y="2167"/>
                  </a:moveTo>
                  <a:lnTo>
                    <a:pt x="12" y="2178"/>
                  </a:lnTo>
                  <a:lnTo>
                    <a:pt x="0" y="2178"/>
                  </a:lnTo>
                  <a:lnTo>
                    <a:pt x="0" y="2167"/>
                  </a:lnTo>
                  <a:lnTo>
                    <a:pt x="12" y="2167"/>
                  </a:lnTo>
                  <a:close/>
                  <a:moveTo>
                    <a:pt x="12" y="2188"/>
                  </a:moveTo>
                  <a:lnTo>
                    <a:pt x="12" y="2199"/>
                  </a:lnTo>
                  <a:lnTo>
                    <a:pt x="0" y="2199"/>
                  </a:lnTo>
                  <a:lnTo>
                    <a:pt x="0" y="2188"/>
                  </a:lnTo>
                  <a:lnTo>
                    <a:pt x="12" y="2188"/>
                  </a:lnTo>
                  <a:close/>
                  <a:moveTo>
                    <a:pt x="12" y="2210"/>
                  </a:moveTo>
                  <a:lnTo>
                    <a:pt x="12" y="2220"/>
                  </a:lnTo>
                  <a:lnTo>
                    <a:pt x="0" y="2220"/>
                  </a:lnTo>
                  <a:lnTo>
                    <a:pt x="0" y="2210"/>
                  </a:lnTo>
                  <a:lnTo>
                    <a:pt x="12" y="2210"/>
                  </a:lnTo>
                  <a:close/>
                  <a:moveTo>
                    <a:pt x="12" y="2231"/>
                  </a:moveTo>
                  <a:lnTo>
                    <a:pt x="12" y="2242"/>
                  </a:lnTo>
                  <a:lnTo>
                    <a:pt x="0" y="2242"/>
                  </a:lnTo>
                  <a:lnTo>
                    <a:pt x="0" y="2231"/>
                  </a:lnTo>
                  <a:lnTo>
                    <a:pt x="12" y="2231"/>
                  </a:lnTo>
                  <a:close/>
                  <a:moveTo>
                    <a:pt x="12" y="2253"/>
                  </a:moveTo>
                  <a:lnTo>
                    <a:pt x="12" y="2263"/>
                  </a:lnTo>
                  <a:lnTo>
                    <a:pt x="0" y="2263"/>
                  </a:lnTo>
                  <a:lnTo>
                    <a:pt x="0" y="2253"/>
                  </a:lnTo>
                  <a:lnTo>
                    <a:pt x="12" y="2253"/>
                  </a:lnTo>
                  <a:close/>
                  <a:moveTo>
                    <a:pt x="12" y="2274"/>
                  </a:moveTo>
                  <a:lnTo>
                    <a:pt x="12" y="2285"/>
                  </a:lnTo>
                  <a:lnTo>
                    <a:pt x="0" y="2285"/>
                  </a:lnTo>
                  <a:lnTo>
                    <a:pt x="0" y="2274"/>
                  </a:lnTo>
                  <a:lnTo>
                    <a:pt x="12" y="2274"/>
                  </a:lnTo>
                  <a:close/>
                </a:path>
              </a:pathLst>
            </a:custGeom>
            <a:solidFill>
              <a:srgbClr val="000000"/>
            </a:solidFill>
            <a:ln w="0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7" name="Freeform 91">
              <a:extLst>
                <a:ext uri="{FF2B5EF4-FFF2-40B4-BE49-F238E27FC236}">
                  <a16:creationId xmlns:a16="http://schemas.microsoft.com/office/drawing/2014/main" id="{5192EA29-8DAD-40D0-BC98-A0C937B7C95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049" y="1913"/>
              <a:ext cx="12" cy="2285"/>
            </a:xfrm>
            <a:custGeom>
              <a:avLst/>
              <a:gdLst>
                <a:gd name="T0" fmla="*/ 0 w 12"/>
                <a:gd name="T1" fmla="*/ 22 h 2285"/>
                <a:gd name="T2" fmla="*/ 0 w 12"/>
                <a:gd name="T3" fmla="*/ 76 h 2285"/>
                <a:gd name="T4" fmla="*/ 12 w 12"/>
                <a:gd name="T5" fmla="*/ 119 h 2285"/>
                <a:gd name="T6" fmla="*/ 12 w 12"/>
                <a:gd name="T7" fmla="*/ 151 h 2285"/>
                <a:gd name="T8" fmla="*/ 12 w 12"/>
                <a:gd name="T9" fmla="*/ 172 h 2285"/>
                <a:gd name="T10" fmla="*/ 0 w 12"/>
                <a:gd name="T11" fmla="*/ 215 h 2285"/>
                <a:gd name="T12" fmla="*/ 0 w 12"/>
                <a:gd name="T13" fmla="*/ 269 h 2285"/>
                <a:gd name="T14" fmla="*/ 12 w 12"/>
                <a:gd name="T15" fmla="*/ 312 h 2285"/>
                <a:gd name="T16" fmla="*/ 12 w 12"/>
                <a:gd name="T17" fmla="*/ 344 h 2285"/>
                <a:gd name="T18" fmla="*/ 12 w 12"/>
                <a:gd name="T19" fmla="*/ 365 h 2285"/>
                <a:gd name="T20" fmla="*/ 0 w 12"/>
                <a:gd name="T21" fmla="*/ 408 h 2285"/>
                <a:gd name="T22" fmla="*/ 0 w 12"/>
                <a:gd name="T23" fmla="*/ 462 h 2285"/>
                <a:gd name="T24" fmla="*/ 12 w 12"/>
                <a:gd name="T25" fmla="*/ 505 h 2285"/>
                <a:gd name="T26" fmla="*/ 12 w 12"/>
                <a:gd name="T27" fmla="*/ 537 h 2285"/>
                <a:gd name="T28" fmla="*/ 12 w 12"/>
                <a:gd name="T29" fmla="*/ 558 h 2285"/>
                <a:gd name="T30" fmla="*/ 0 w 12"/>
                <a:gd name="T31" fmla="*/ 601 h 2285"/>
                <a:gd name="T32" fmla="*/ 0 w 12"/>
                <a:gd name="T33" fmla="*/ 655 h 2285"/>
                <a:gd name="T34" fmla="*/ 12 w 12"/>
                <a:gd name="T35" fmla="*/ 698 h 2285"/>
                <a:gd name="T36" fmla="*/ 12 w 12"/>
                <a:gd name="T37" fmla="*/ 730 h 2285"/>
                <a:gd name="T38" fmla="*/ 12 w 12"/>
                <a:gd name="T39" fmla="*/ 751 h 2285"/>
                <a:gd name="T40" fmla="*/ 0 w 12"/>
                <a:gd name="T41" fmla="*/ 794 h 2285"/>
                <a:gd name="T42" fmla="*/ 0 w 12"/>
                <a:gd name="T43" fmla="*/ 848 h 2285"/>
                <a:gd name="T44" fmla="*/ 12 w 12"/>
                <a:gd name="T45" fmla="*/ 891 h 2285"/>
                <a:gd name="T46" fmla="*/ 12 w 12"/>
                <a:gd name="T47" fmla="*/ 923 h 2285"/>
                <a:gd name="T48" fmla="*/ 12 w 12"/>
                <a:gd name="T49" fmla="*/ 944 h 2285"/>
                <a:gd name="T50" fmla="*/ 0 w 12"/>
                <a:gd name="T51" fmla="*/ 987 h 2285"/>
                <a:gd name="T52" fmla="*/ 0 w 12"/>
                <a:gd name="T53" fmla="*/ 1041 h 2285"/>
                <a:gd name="T54" fmla="*/ 12 w 12"/>
                <a:gd name="T55" fmla="*/ 1084 h 2285"/>
                <a:gd name="T56" fmla="*/ 12 w 12"/>
                <a:gd name="T57" fmla="*/ 1116 h 2285"/>
                <a:gd name="T58" fmla="*/ 12 w 12"/>
                <a:gd name="T59" fmla="*/ 1137 h 2285"/>
                <a:gd name="T60" fmla="*/ 0 w 12"/>
                <a:gd name="T61" fmla="*/ 1180 h 2285"/>
                <a:gd name="T62" fmla="*/ 0 w 12"/>
                <a:gd name="T63" fmla="*/ 1234 h 2285"/>
                <a:gd name="T64" fmla="*/ 12 w 12"/>
                <a:gd name="T65" fmla="*/ 1277 h 2285"/>
                <a:gd name="T66" fmla="*/ 12 w 12"/>
                <a:gd name="T67" fmla="*/ 1309 h 2285"/>
                <a:gd name="T68" fmla="*/ 12 w 12"/>
                <a:gd name="T69" fmla="*/ 1330 h 2285"/>
                <a:gd name="T70" fmla="*/ 0 w 12"/>
                <a:gd name="T71" fmla="*/ 1373 h 2285"/>
                <a:gd name="T72" fmla="*/ 0 w 12"/>
                <a:gd name="T73" fmla="*/ 1427 h 2285"/>
                <a:gd name="T74" fmla="*/ 12 w 12"/>
                <a:gd name="T75" fmla="*/ 1470 h 2285"/>
                <a:gd name="T76" fmla="*/ 12 w 12"/>
                <a:gd name="T77" fmla="*/ 1502 h 2285"/>
                <a:gd name="T78" fmla="*/ 12 w 12"/>
                <a:gd name="T79" fmla="*/ 1523 h 2285"/>
                <a:gd name="T80" fmla="*/ 0 w 12"/>
                <a:gd name="T81" fmla="*/ 1566 h 2285"/>
                <a:gd name="T82" fmla="*/ 0 w 12"/>
                <a:gd name="T83" fmla="*/ 1620 h 2285"/>
                <a:gd name="T84" fmla="*/ 12 w 12"/>
                <a:gd name="T85" fmla="*/ 1663 h 2285"/>
                <a:gd name="T86" fmla="*/ 12 w 12"/>
                <a:gd name="T87" fmla="*/ 1695 h 2285"/>
                <a:gd name="T88" fmla="*/ 12 w 12"/>
                <a:gd name="T89" fmla="*/ 1716 h 2285"/>
                <a:gd name="T90" fmla="*/ 0 w 12"/>
                <a:gd name="T91" fmla="*/ 1759 h 2285"/>
                <a:gd name="T92" fmla="*/ 0 w 12"/>
                <a:gd name="T93" fmla="*/ 1813 h 2285"/>
                <a:gd name="T94" fmla="*/ 12 w 12"/>
                <a:gd name="T95" fmla="*/ 1856 h 2285"/>
                <a:gd name="T96" fmla="*/ 12 w 12"/>
                <a:gd name="T97" fmla="*/ 1888 h 2285"/>
                <a:gd name="T98" fmla="*/ 12 w 12"/>
                <a:gd name="T99" fmla="*/ 1910 h 2285"/>
                <a:gd name="T100" fmla="*/ 0 w 12"/>
                <a:gd name="T101" fmla="*/ 1952 h 2285"/>
                <a:gd name="T102" fmla="*/ 0 w 12"/>
                <a:gd name="T103" fmla="*/ 2006 h 2285"/>
                <a:gd name="T104" fmla="*/ 12 w 12"/>
                <a:gd name="T105" fmla="*/ 2049 h 2285"/>
                <a:gd name="T106" fmla="*/ 12 w 12"/>
                <a:gd name="T107" fmla="*/ 2081 h 2285"/>
                <a:gd name="T108" fmla="*/ 12 w 12"/>
                <a:gd name="T109" fmla="*/ 2103 h 2285"/>
                <a:gd name="T110" fmla="*/ 0 w 12"/>
                <a:gd name="T111" fmla="*/ 2146 h 2285"/>
                <a:gd name="T112" fmla="*/ 0 w 12"/>
                <a:gd name="T113" fmla="*/ 2199 h 2285"/>
                <a:gd name="T114" fmla="*/ 12 w 12"/>
                <a:gd name="T115" fmla="*/ 2242 h 2285"/>
                <a:gd name="T116" fmla="*/ 12 w 12"/>
                <a:gd name="T117" fmla="*/ 2274 h 22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2" h="2285">
                  <a:moveTo>
                    <a:pt x="12" y="0"/>
                  </a:moveTo>
                  <a:lnTo>
                    <a:pt x="12" y="11"/>
                  </a:lnTo>
                  <a:lnTo>
                    <a:pt x="0" y="11"/>
                  </a:lnTo>
                  <a:lnTo>
                    <a:pt x="0" y="0"/>
                  </a:lnTo>
                  <a:lnTo>
                    <a:pt x="12" y="0"/>
                  </a:lnTo>
                  <a:close/>
                  <a:moveTo>
                    <a:pt x="12" y="22"/>
                  </a:moveTo>
                  <a:lnTo>
                    <a:pt x="12" y="33"/>
                  </a:lnTo>
                  <a:lnTo>
                    <a:pt x="0" y="33"/>
                  </a:lnTo>
                  <a:lnTo>
                    <a:pt x="0" y="22"/>
                  </a:lnTo>
                  <a:lnTo>
                    <a:pt x="12" y="22"/>
                  </a:lnTo>
                  <a:close/>
                  <a:moveTo>
                    <a:pt x="12" y="43"/>
                  </a:moveTo>
                  <a:lnTo>
                    <a:pt x="12" y="54"/>
                  </a:lnTo>
                  <a:lnTo>
                    <a:pt x="0" y="54"/>
                  </a:lnTo>
                  <a:lnTo>
                    <a:pt x="0" y="43"/>
                  </a:lnTo>
                  <a:lnTo>
                    <a:pt x="12" y="43"/>
                  </a:lnTo>
                  <a:close/>
                  <a:moveTo>
                    <a:pt x="12" y="65"/>
                  </a:moveTo>
                  <a:lnTo>
                    <a:pt x="12" y="76"/>
                  </a:lnTo>
                  <a:lnTo>
                    <a:pt x="0" y="76"/>
                  </a:lnTo>
                  <a:lnTo>
                    <a:pt x="0" y="65"/>
                  </a:lnTo>
                  <a:lnTo>
                    <a:pt x="12" y="65"/>
                  </a:lnTo>
                  <a:close/>
                  <a:moveTo>
                    <a:pt x="12" y="86"/>
                  </a:moveTo>
                  <a:lnTo>
                    <a:pt x="12" y="97"/>
                  </a:lnTo>
                  <a:lnTo>
                    <a:pt x="0" y="97"/>
                  </a:lnTo>
                  <a:lnTo>
                    <a:pt x="0" y="86"/>
                  </a:lnTo>
                  <a:lnTo>
                    <a:pt x="12" y="86"/>
                  </a:lnTo>
                  <a:close/>
                  <a:moveTo>
                    <a:pt x="12" y="108"/>
                  </a:moveTo>
                  <a:lnTo>
                    <a:pt x="12" y="119"/>
                  </a:lnTo>
                  <a:lnTo>
                    <a:pt x="0" y="119"/>
                  </a:lnTo>
                  <a:lnTo>
                    <a:pt x="0" y="108"/>
                  </a:lnTo>
                  <a:lnTo>
                    <a:pt x="12" y="108"/>
                  </a:lnTo>
                  <a:close/>
                  <a:moveTo>
                    <a:pt x="12" y="129"/>
                  </a:moveTo>
                  <a:lnTo>
                    <a:pt x="12" y="140"/>
                  </a:lnTo>
                  <a:lnTo>
                    <a:pt x="0" y="140"/>
                  </a:lnTo>
                  <a:lnTo>
                    <a:pt x="0" y="129"/>
                  </a:lnTo>
                  <a:lnTo>
                    <a:pt x="12" y="129"/>
                  </a:lnTo>
                  <a:close/>
                  <a:moveTo>
                    <a:pt x="12" y="151"/>
                  </a:moveTo>
                  <a:lnTo>
                    <a:pt x="12" y="161"/>
                  </a:lnTo>
                  <a:lnTo>
                    <a:pt x="0" y="161"/>
                  </a:lnTo>
                  <a:lnTo>
                    <a:pt x="0" y="151"/>
                  </a:lnTo>
                  <a:lnTo>
                    <a:pt x="12" y="151"/>
                  </a:lnTo>
                  <a:close/>
                  <a:moveTo>
                    <a:pt x="12" y="172"/>
                  </a:moveTo>
                  <a:lnTo>
                    <a:pt x="12" y="183"/>
                  </a:lnTo>
                  <a:lnTo>
                    <a:pt x="0" y="183"/>
                  </a:lnTo>
                  <a:lnTo>
                    <a:pt x="0" y="172"/>
                  </a:lnTo>
                  <a:lnTo>
                    <a:pt x="12" y="172"/>
                  </a:lnTo>
                  <a:close/>
                  <a:moveTo>
                    <a:pt x="12" y="193"/>
                  </a:moveTo>
                  <a:lnTo>
                    <a:pt x="12" y="204"/>
                  </a:lnTo>
                  <a:lnTo>
                    <a:pt x="0" y="204"/>
                  </a:lnTo>
                  <a:lnTo>
                    <a:pt x="0" y="193"/>
                  </a:lnTo>
                  <a:lnTo>
                    <a:pt x="12" y="193"/>
                  </a:lnTo>
                  <a:close/>
                  <a:moveTo>
                    <a:pt x="12" y="215"/>
                  </a:moveTo>
                  <a:lnTo>
                    <a:pt x="12" y="226"/>
                  </a:lnTo>
                  <a:lnTo>
                    <a:pt x="0" y="226"/>
                  </a:lnTo>
                  <a:lnTo>
                    <a:pt x="0" y="215"/>
                  </a:lnTo>
                  <a:lnTo>
                    <a:pt x="12" y="215"/>
                  </a:lnTo>
                  <a:close/>
                  <a:moveTo>
                    <a:pt x="12" y="236"/>
                  </a:moveTo>
                  <a:lnTo>
                    <a:pt x="12" y="247"/>
                  </a:lnTo>
                  <a:lnTo>
                    <a:pt x="0" y="247"/>
                  </a:lnTo>
                  <a:lnTo>
                    <a:pt x="0" y="236"/>
                  </a:lnTo>
                  <a:lnTo>
                    <a:pt x="12" y="236"/>
                  </a:lnTo>
                  <a:close/>
                  <a:moveTo>
                    <a:pt x="12" y="258"/>
                  </a:moveTo>
                  <a:lnTo>
                    <a:pt x="12" y="269"/>
                  </a:lnTo>
                  <a:lnTo>
                    <a:pt x="0" y="269"/>
                  </a:lnTo>
                  <a:lnTo>
                    <a:pt x="0" y="258"/>
                  </a:lnTo>
                  <a:lnTo>
                    <a:pt x="12" y="258"/>
                  </a:lnTo>
                  <a:close/>
                  <a:moveTo>
                    <a:pt x="12" y="279"/>
                  </a:moveTo>
                  <a:lnTo>
                    <a:pt x="12" y="290"/>
                  </a:lnTo>
                  <a:lnTo>
                    <a:pt x="0" y="290"/>
                  </a:lnTo>
                  <a:lnTo>
                    <a:pt x="0" y="279"/>
                  </a:lnTo>
                  <a:lnTo>
                    <a:pt x="12" y="279"/>
                  </a:lnTo>
                  <a:close/>
                  <a:moveTo>
                    <a:pt x="12" y="301"/>
                  </a:moveTo>
                  <a:lnTo>
                    <a:pt x="12" y="312"/>
                  </a:lnTo>
                  <a:lnTo>
                    <a:pt x="0" y="312"/>
                  </a:lnTo>
                  <a:lnTo>
                    <a:pt x="0" y="301"/>
                  </a:lnTo>
                  <a:lnTo>
                    <a:pt x="12" y="301"/>
                  </a:lnTo>
                  <a:close/>
                  <a:moveTo>
                    <a:pt x="12" y="322"/>
                  </a:moveTo>
                  <a:lnTo>
                    <a:pt x="12" y="333"/>
                  </a:lnTo>
                  <a:lnTo>
                    <a:pt x="0" y="333"/>
                  </a:lnTo>
                  <a:lnTo>
                    <a:pt x="0" y="322"/>
                  </a:lnTo>
                  <a:lnTo>
                    <a:pt x="12" y="322"/>
                  </a:lnTo>
                  <a:close/>
                  <a:moveTo>
                    <a:pt x="12" y="344"/>
                  </a:moveTo>
                  <a:lnTo>
                    <a:pt x="12" y="354"/>
                  </a:lnTo>
                  <a:lnTo>
                    <a:pt x="0" y="354"/>
                  </a:lnTo>
                  <a:lnTo>
                    <a:pt x="0" y="344"/>
                  </a:lnTo>
                  <a:lnTo>
                    <a:pt x="12" y="344"/>
                  </a:lnTo>
                  <a:close/>
                  <a:moveTo>
                    <a:pt x="12" y="365"/>
                  </a:moveTo>
                  <a:lnTo>
                    <a:pt x="12" y="376"/>
                  </a:lnTo>
                  <a:lnTo>
                    <a:pt x="0" y="376"/>
                  </a:lnTo>
                  <a:lnTo>
                    <a:pt x="0" y="365"/>
                  </a:lnTo>
                  <a:lnTo>
                    <a:pt x="12" y="365"/>
                  </a:lnTo>
                  <a:close/>
                  <a:moveTo>
                    <a:pt x="12" y="386"/>
                  </a:moveTo>
                  <a:lnTo>
                    <a:pt x="12" y="397"/>
                  </a:lnTo>
                  <a:lnTo>
                    <a:pt x="0" y="397"/>
                  </a:lnTo>
                  <a:lnTo>
                    <a:pt x="0" y="386"/>
                  </a:lnTo>
                  <a:lnTo>
                    <a:pt x="12" y="386"/>
                  </a:lnTo>
                  <a:close/>
                  <a:moveTo>
                    <a:pt x="12" y="408"/>
                  </a:moveTo>
                  <a:lnTo>
                    <a:pt x="12" y="419"/>
                  </a:lnTo>
                  <a:lnTo>
                    <a:pt x="0" y="419"/>
                  </a:lnTo>
                  <a:lnTo>
                    <a:pt x="0" y="408"/>
                  </a:lnTo>
                  <a:lnTo>
                    <a:pt x="12" y="408"/>
                  </a:lnTo>
                  <a:close/>
                  <a:moveTo>
                    <a:pt x="12" y="429"/>
                  </a:moveTo>
                  <a:lnTo>
                    <a:pt x="12" y="440"/>
                  </a:lnTo>
                  <a:lnTo>
                    <a:pt x="0" y="440"/>
                  </a:lnTo>
                  <a:lnTo>
                    <a:pt x="0" y="429"/>
                  </a:lnTo>
                  <a:lnTo>
                    <a:pt x="12" y="429"/>
                  </a:lnTo>
                  <a:close/>
                  <a:moveTo>
                    <a:pt x="12" y="451"/>
                  </a:moveTo>
                  <a:lnTo>
                    <a:pt x="12" y="462"/>
                  </a:lnTo>
                  <a:lnTo>
                    <a:pt x="0" y="462"/>
                  </a:lnTo>
                  <a:lnTo>
                    <a:pt x="0" y="451"/>
                  </a:lnTo>
                  <a:lnTo>
                    <a:pt x="12" y="451"/>
                  </a:lnTo>
                  <a:close/>
                  <a:moveTo>
                    <a:pt x="12" y="472"/>
                  </a:moveTo>
                  <a:lnTo>
                    <a:pt x="12" y="483"/>
                  </a:lnTo>
                  <a:lnTo>
                    <a:pt x="0" y="483"/>
                  </a:lnTo>
                  <a:lnTo>
                    <a:pt x="0" y="472"/>
                  </a:lnTo>
                  <a:lnTo>
                    <a:pt x="12" y="472"/>
                  </a:lnTo>
                  <a:close/>
                  <a:moveTo>
                    <a:pt x="12" y="494"/>
                  </a:moveTo>
                  <a:lnTo>
                    <a:pt x="12" y="505"/>
                  </a:lnTo>
                  <a:lnTo>
                    <a:pt x="0" y="505"/>
                  </a:lnTo>
                  <a:lnTo>
                    <a:pt x="0" y="494"/>
                  </a:lnTo>
                  <a:lnTo>
                    <a:pt x="12" y="494"/>
                  </a:lnTo>
                  <a:close/>
                  <a:moveTo>
                    <a:pt x="12" y="515"/>
                  </a:moveTo>
                  <a:lnTo>
                    <a:pt x="12" y="526"/>
                  </a:lnTo>
                  <a:lnTo>
                    <a:pt x="0" y="526"/>
                  </a:lnTo>
                  <a:lnTo>
                    <a:pt x="0" y="515"/>
                  </a:lnTo>
                  <a:lnTo>
                    <a:pt x="12" y="515"/>
                  </a:lnTo>
                  <a:close/>
                  <a:moveTo>
                    <a:pt x="12" y="537"/>
                  </a:moveTo>
                  <a:lnTo>
                    <a:pt x="12" y="547"/>
                  </a:lnTo>
                  <a:lnTo>
                    <a:pt x="0" y="547"/>
                  </a:lnTo>
                  <a:lnTo>
                    <a:pt x="0" y="537"/>
                  </a:lnTo>
                  <a:lnTo>
                    <a:pt x="12" y="537"/>
                  </a:lnTo>
                  <a:close/>
                  <a:moveTo>
                    <a:pt x="12" y="558"/>
                  </a:moveTo>
                  <a:lnTo>
                    <a:pt x="12" y="569"/>
                  </a:lnTo>
                  <a:lnTo>
                    <a:pt x="0" y="569"/>
                  </a:lnTo>
                  <a:lnTo>
                    <a:pt x="0" y="558"/>
                  </a:lnTo>
                  <a:lnTo>
                    <a:pt x="12" y="558"/>
                  </a:lnTo>
                  <a:close/>
                  <a:moveTo>
                    <a:pt x="12" y="580"/>
                  </a:moveTo>
                  <a:lnTo>
                    <a:pt x="12" y="590"/>
                  </a:lnTo>
                  <a:lnTo>
                    <a:pt x="0" y="590"/>
                  </a:lnTo>
                  <a:lnTo>
                    <a:pt x="0" y="580"/>
                  </a:lnTo>
                  <a:lnTo>
                    <a:pt x="12" y="580"/>
                  </a:lnTo>
                  <a:close/>
                  <a:moveTo>
                    <a:pt x="12" y="601"/>
                  </a:moveTo>
                  <a:lnTo>
                    <a:pt x="12" y="612"/>
                  </a:lnTo>
                  <a:lnTo>
                    <a:pt x="0" y="612"/>
                  </a:lnTo>
                  <a:lnTo>
                    <a:pt x="0" y="601"/>
                  </a:lnTo>
                  <a:lnTo>
                    <a:pt x="12" y="601"/>
                  </a:lnTo>
                  <a:close/>
                  <a:moveTo>
                    <a:pt x="12" y="623"/>
                  </a:moveTo>
                  <a:lnTo>
                    <a:pt x="12" y="633"/>
                  </a:lnTo>
                  <a:lnTo>
                    <a:pt x="0" y="633"/>
                  </a:lnTo>
                  <a:lnTo>
                    <a:pt x="0" y="623"/>
                  </a:lnTo>
                  <a:lnTo>
                    <a:pt x="12" y="623"/>
                  </a:lnTo>
                  <a:close/>
                  <a:moveTo>
                    <a:pt x="12" y="644"/>
                  </a:moveTo>
                  <a:lnTo>
                    <a:pt x="12" y="655"/>
                  </a:lnTo>
                  <a:lnTo>
                    <a:pt x="0" y="655"/>
                  </a:lnTo>
                  <a:lnTo>
                    <a:pt x="0" y="644"/>
                  </a:lnTo>
                  <a:lnTo>
                    <a:pt x="12" y="644"/>
                  </a:lnTo>
                  <a:close/>
                  <a:moveTo>
                    <a:pt x="12" y="665"/>
                  </a:moveTo>
                  <a:lnTo>
                    <a:pt x="12" y="676"/>
                  </a:lnTo>
                  <a:lnTo>
                    <a:pt x="0" y="676"/>
                  </a:lnTo>
                  <a:lnTo>
                    <a:pt x="0" y="665"/>
                  </a:lnTo>
                  <a:lnTo>
                    <a:pt x="12" y="665"/>
                  </a:lnTo>
                  <a:close/>
                  <a:moveTo>
                    <a:pt x="12" y="687"/>
                  </a:moveTo>
                  <a:lnTo>
                    <a:pt x="12" y="698"/>
                  </a:lnTo>
                  <a:lnTo>
                    <a:pt x="0" y="698"/>
                  </a:lnTo>
                  <a:lnTo>
                    <a:pt x="0" y="687"/>
                  </a:lnTo>
                  <a:lnTo>
                    <a:pt x="12" y="687"/>
                  </a:lnTo>
                  <a:close/>
                  <a:moveTo>
                    <a:pt x="12" y="708"/>
                  </a:moveTo>
                  <a:lnTo>
                    <a:pt x="12" y="719"/>
                  </a:lnTo>
                  <a:lnTo>
                    <a:pt x="0" y="719"/>
                  </a:lnTo>
                  <a:lnTo>
                    <a:pt x="0" y="708"/>
                  </a:lnTo>
                  <a:lnTo>
                    <a:pt x="12" y="708"/>
                  </a:lnTo>
                  <a:close/>
                  <a:moveTo>
                    <a:pt x="12" y="730"/>
                  </a:moveTo>
                  <a:lnTo>
                    <a:pt x="12" y="740"/>
                  </a:lnTo>
                  <a:lnTo>
                    <a:pt x="0" y="740"/>
                  </a:lnTo>
                  <a:lnTo>
                    <a:pt x="0" y="730"/>
                  </a:lnTo>
                  <a:lnTo>
                    <a:pt x="12" y="730"/>
                  </a:lnTo>
                  <a:close/>
                  <a:moveTo>
                    <a:pt x="12" y="751"/>
                  </a:moveTo>
                  <a:lnTo>
                    <a:pt x="12" y="762"/>
                  </a:lnTo>
                  <a:lnTo>
                    <a:pt x="0" y="762"/>
                  </a:lnTo>
                  <a:lnTo>
                    <a:pt x="0" y="751"/>
                  </a:lnTo>
                  <a:lnTo>
                    <a:pt x="12" y="751"/>
                  </a:lnTo>
                  <a:close/>
                  <a:moveTo>
                    <a:pt x="12" y="773"/>
                  </a:moveTo>
                  <a:lnTo>
                    <a:pt x="12" y="783"/>
                  </a:lnTo>
                  <a:lnTo>
                    <a:pt x="0" y="783"/>
                  </a:lnTo>
                  <a:lnTo>
                    <a:pt x="0" y="773"/>
                  </a:lnTo>
                  <a:lnTo>
                    <a:pt x="12" y="773"/>
                  </a:lnTo>
                  <a:close/>
                  <a:moveTo>
                    <a:pt x="12" y="794"/>
                  </a:moveTo>
                  <a:lnTo>
                    <a:pt x="12" y="805"/>
                  </a:lnTo>
                  <a:lnTo>
                    <a:pt x="0" y="805"/>
                  </a:lnTo>
                  <a:lnTo>
                    <a:pt x="0" y="794"/>
                  </a:lnTo>
                  <a:lnTo>
                    <a:pt x="12" y="794"/>
                  </a:lnTo>
                  <a:close/>
                  <a:moveTo>
                    <a:pt x="12" y="816"/>
                  </a:moveTo>
                  <a:lnTo>
                    <a:pt x="12" y="826"/>
                  </a:lnTo>
                  <a:lnTo>
                    <a:pt x="0" y="826"/>
                  </a:lnTo>
                  <a:lnTo>
                    <a:pt x="0" y="816"/>
                  </a:lnTo>
                  <a:lnTo>
                    <a:pt x="12" y="816"/>
                  </a:lnTo>
                  <a:close/>
                  <a:moveTo>
                    <a:pt x="12" y="837"/>
                  </a:moveTo>
                  <a:lnTo>
                    <a:pt x="12" y="848"/>
                  </a:lnTo>
                  <a:lnTo>
                    <a:pt x="0" y="848"/>
                  </a:lnTo>
                  <a:lnTo>
                    <a:pt x="0" y="837"/>
                  </a:lnTo>
                  <a:lnTo>
                    <a:pt x="12" y="837"/>
                  </a:lnTo>
                  <a:close/>
                  <a:moveTo>
                    <a:pt x="12" y="859"/>
                  </a:moveTo>
                  <a:lnTo>
                    <a:pt x="12" y="869"/>
                  </a:lnTo>
                  <a:lnTo>
                    <a:pt x="0" y="869"/>
                  </a:lnTo>
                  <a:lnTo>
                    <a:pt x="0" y="859"/>
                  </a:lnTo>
                  <a:lnTo>
                    <a:pt x="12" y="859"/>
                  </a:lnTo>
                  <a:close/>
                  <a:moveTo>
                    <a:pt x="12" y="880"/>
                  </a:moveTo>
                  <a:lnTo>
                    <a:pt x="12" y="891"/>
                  </a:lnTo>
                  <a:lnTo>
                    <a:pt x="0" y="891"/>
                  </a:lnTo>
                  <a:lnTo>
                    <a:pt x="0" y="880"/>
                  </a:lnTo>
                  <a:lnTo>
                    <a:pt x="12" y="880"/>
                  </a:lnTo>
                  <a:close/>
                  <a:moveTo>
                    <a:pt x="12" y="901"/>
                  </a:moveTo>
                  <a:lnTo>
                    <a:pt x="12" y="912"/>
                  </a:lnTo>
                  <a:lnTo>
                    <a:pt x="0" y="912"/>
                  </a:lnTo>
                  <a:lnTo>
                    <a:pt x="0" y="901"/>
                  </a:lnTo>
                  <a:lnTo>
                    <a:pt x="12" y="901"/>
                  </a:lnTo>
                  <a:close/>
                  <a:moveTo>
                    <a:pt x="12" y="923"/>
                  </a:moveTo>
                  <a:lnTo>
                    <a:pt x="12" y="933"/>
                  </a:lnTo>
                  <a:lnTo>
                    <a:pt x="0" y="933"/>
                  </a:lnTo>
                  <a:lnTo>
                    <a:pt x="0" y="923"/>
                  </a:lnTo>
                  <a:lnTo>
                    <a:pt x="12" y="923"/>
                  </a:lnTo>
                  <a:close/>
                  <a:moveTo>
                    <a:pt x="12" y="944"/>
                  </a:moveTo>
                  <a:lnTo>
                    <a:pt x="12" y="955"/>
                  </a:lnTo>
                  <a:lnTo>
                    <a:pt x="0" y="955"/>
                  </a:lnTo>
                  <a:lnTo>
                    <a:pt x="0" y="944"/>
                  </a:lnTo>
                  <a:lnTo>
                    <a:pt x="12" y="944"/>
                  </a:lnTo>
                  <a:close/>
                  <a:moveTo>
                    <a:pt x="12" y="966"/>
                  </a:moveTo>
                  <a:lnTo>
                    <a:pt x="12" y="976"/>
                  </a:lnTo>
                  <a:lnTo>
                    <a:pt x="0" y="976"/>
                  </a:lnTo>
                  <a:lnTo>
                    <a:pt x="0" y="966"/>
                  </a:lnTo>
                  <a:lnTo>
                    <a:pt x="12" y="966"/>
                  </a:lnTo>
                  <a:close/>
                  <a:moveTo>
                    <a:pt x="12" y="987"/>
                  </a:moveTo>
                  <a:lnTo>
                    <a:pt x="12" y="998"/>
                  </a:lnTo>
                  <a:lnTo>
                    <a:pt x="0" y="998"/>
                  </a:lnTo>
                  <a:lnTo>
                    <a:pt x="0" y="987"/>
                  </a:lnTo>
                  <a:lnTo>
                    <a:pt x="12" y="987"/>
                  </a:lnTo>
                  <a:close/>
                  <a:moveTo>
                    <a:pt x="12" y="1009"/>
                  </a:moveTo>
                  <a:lnTo>
                    <a:pt x="12" y="1019"/>
                  </a:lnTo>
                  <a:lnTo>
                    <a:pt x="0" y="1019"/>
                  </a:lnTo>
                  <a:lnTo>
                    <a:pt x="0" y="1009"/>
                  </a:lnTo>
                  <a:lnTo>
                    <a:pt x="12" y="1009"/>
                  </a:lnTo>
                  <a:close/>
                  <a:moveTo>
                    <a:pt x="12" y="1030"/>
                  </a:moveTo>
                  <a:lnTo>
                    <a:pt x="12" y="1041"/>
                  </a:lnTo>
                  <a:lnTo>
                    <a:pt x="0" y="1041"/>
                  </a:lnTo>
                  <a:lnTo>
                    <a:pt x="0" y="1030"/>
                  </a:lnTo>
                  <a:lnTo>
                    <a:pt x="12" y="1030"/>
                  </a:lnTo>
                  <a:close/>
                  <a:moveTo>
                    <a:pt x="12" y="1052"/>
                  </a:moveTo>
                  <a:lnTo>
                    <a:pt x="12" y="1062"/>
                  </a:lnTo>
                  <a:lnTo>
                    <a:pt x="0" y="1062"/>
                  </a:lnTo>
                  <a:lnTo>
                    <a:pt x="0" y="1052"/>
                  </a:lnTo>
                  <a:lnTo>
                    <a:pt x="12" y="1052"/>
                  </a:lnTo>
                  <a:close/>
                  <a:moveTo>
                    <a:pt x="12" y="1073"/>
                  </a:moveTo>
                  <a:lnTo>
                    <a:pt x="12" y="1084"/>
                  </a:lnTo>
                  <a:lnTo>
                    <a:pt x="0" y="1084"/>
                  </a:lnTo>
                  <a:lnTo>
                    <a:pt x="0" y="1073"/>
                  </a:lnTo>
                  <a:lnTo>
                    <a:pt x="12" y="1073"/>
                  </a:lnTo>
                  <a:close/>
                  <a:moveTo>
                    <a:pt x="12" y="1094"/>
                  </a:moveTo>
                  <a:lnTo>
                    <a:pt x="12" y="1105"/>
                  </a:lnTo>
                  <a:lnTo>
                    <a:pt x="0" y="1105"/>
                  </a:lnTo>
                  <a:lnTo>
                    <a:pt x="0" y="1094"/>
                  </a:lnTo>
                  <a:lnTo>
                    <a:pt x="12" y="1094"/>
                  </a:lnTo>
                  <a:close/>
                  <a:moveTo>
                    <a:pt x="12" y="1116"/>
                  </a:moveTo>
                  <a:lnTo>
                    <a:pt x="12" y="1127"/>
                  </a:lnTo>
                  <a:lnTo>
                    <a:pt x="0" y="1127"/>
                  </a:lnTo>
                  <a:lnTo>
                    <a:pt x="0" y="1116"/>
                  </a:lnTo>
                  <a:lnTo>
                    <a:pt x="12" y="1116"/>
                  </a:lnTo>
                  <a:close/>
                  <a:moveTo>
                    <a:pt x="12" y="1137"/>
                  </a:moveTo>
                  <a:lnTo>
                    <a:pt x="12" y="1148"/>
                  </a:lnTo>
                  <a:lnTo>
                    <a:pt x="0" y="1148"/>
                  </a:lnTo>
                  <a:lnTo>
                    <a:pt x="0" y="1137"/>
                  </a:lnTo>
                  <a:lnTo>
                    <a:pt x="12" y="1137"/>
                  </a:lnTo>
                  <a:close/>
                  <a:moveTo>
                    <a:pt x="12" y="1159"/>
                  </a:moveTo>
                  <a:lnTo>
                    <a:pt x="12" y="1169"/>
                  </a:lnTo>
                  <a:lnTo>
                    <a:pt x="0" y="1169"/>
                  </a:lnTo>
                  <a:lnTo>
                    <a:pt x="0" y="1159"/>
                  </a:lnTo>
                  <a:lnTo>
                    <a:pt x="12" y="1159"/>
                  </a:lnTo>
                  <a:close/>
                  <a:moveTo>
                    <a:pt x="12" y="1180"/>
                  </a:moveTo>
                  <a:lnTo>
                    <a:pt x="12" y="1191"/>
                  </a:lnTo>
                  <a:lnTo>
                    <a:pt x="0" y="1191"/>
                  </a:lnTo>
                  <a:lnTo>
                    <a:pt x="0" y="1180"/>
                  </a:lnTo>
                  <a:lnTo>
                    <a:pt x="12" y="1180"/>
                  </a:lnTo>
                  <a:close/>
                  <a:moveTo>
                    <a:pt x="12" y="1202"/>
                  </a:moveTo>
                  <a:lnTo>
                    <a:pt x="12" y="1212"/>
                  </a:lnTo>
                  <a:lnTo>
                    <a:pt x="0" y="1212"/>
                  </a:lnTo>
                  <a:lnTo>
                    <a:pt x="0" y="1202"/>
                  </a:lnTo>
                  <a:lnTo>
                    <a:pt x="12" y="1202"/>
                  </a:lnTo>
                  <a:close/>
                  <a:moveTo>
                    <a:pt x="12" y="1223"/>
                  </a:moveTo>
                  <a:lnTo>
                    <a:pt x="12" y="1234"/>
                  </a:lnTo>
                  <a:lnTo>
                    <a:pt x="0" y="1234"/>
                  </a:lnTo>
                  <a:lnTo>
                    <a:pt x="0" y="1223"/>
                  </a:lnTo>
                  <a:lnTo>
                    <a:pt x="12" y="1223"/>
                  </a:lnTo>
                  <a:close/>
                  <a:moveTo>
                    <a:pt x="12" y="1245"/>
                  </a:moveTo>
                  <a:lnTo>
                    <a:pt x="12" y="1255"/>
                  </a:lnTo>
                  <a:lnTo>
                    <a:pt x="0" y="1255"/>
                  </a:lnTo>
                  <a:lnTo>
                    <a:pt x="0" y="1245"/>
                  </a:lnTo>
                  <a:lnTo>
                    <a:pt x="12" y="1245"/>
                  </a:lnTo>
                  <a:close/>
                  <a:moveTo>
                    <a:pt x="12" y="1266"/>
                  </a:moveTo>
                  <a:lnTo>
                    <a:pt x="12" y="1277"/>
                  </a:lnTo>
                  <a:lnTo>
                    <a:pt x="0" y="1277"/>
                  </a:lnTo>
                  <a:lnTo>
                    <a:pt x="0" y="1266"/>
                  </a:lnTo>
                  <a:lnTo>
                    <a:pt x="12" y="1266"/>
                  </a:lnTo>
                  <a:close/>
                  <a:moveTo>
                    <a:pt x="12" y="1287"/>
                  </a:moveTo>
                  <a:lnTo>
                    <a:pt x="12" y="1298"/>
                  </a:lnTo>
                  <a:lnTo>
                    <a:pt x="0" y="1298"/>
                  </a:lnTo>
                  <a:lnTo>
                    <a:pt x="0" y="1287"/>
                  </a:lnTo>
                  <a:lnTo>
                    <a:pt x="12" y="1287"/>
                  </a:lnTo>
                  <a:close/>
                  <a:moveTo>
                    <a:pt x="12" y="1309"/>
                  </a:moveTo>
                  <a:lnTo>
                    <a:pt x="12" y="1320"/>
                  </a:lnTo>
                  <a:lnTo>
                    <a:pt x="0" y="1320"/>
                  </a:lnTo>
                  <a:lnTo>
                    <a:pt x="0" y="1309"/>
                  </a:lnTo>
                  <a:lnTo>
                    <a:pt x="12" y="1309"/>
                  </a:lnTo>
                  <a:close/>
                  <a:moveTo>
                    <a:pt x="12" y="1330"/>
                  </a:moveTo>
                  <a:lnTo>
                    <a:pt x="12" y="1341"/>
                  </a:lnTo>
                  <a:lnTo>
                    <a:pt x="0" y="1341"/>
                  </a:lnTo>
                  <a:lnTo>
                    <a:pt x="0" y="1330"/>
                  </a:lnTo>
                  <a:lnTo>
                    <a:pt x="12" y="1330"/>
                  </a:lnTo>
                  <a:close/>
                  <a:moveTo>
                    <a:pt x="12" y="1352"/>
                  </a:moveTo>
                  <a:lnTo>
                    <a:pt x="12" y="1363"/>
                  </a:lnTo>
                  <a:lnTo>
                    <a:pt x="0" y="1363"/>
                  </a:lnTo>
                  <a:lnTo>
                    <a:pt x="0" y="1352"/>
                  </a:lnTo>
                  <a:lnTo>
                    <a:pt x="12" y="1352"/>
                  </a:lnTo>
                  <a:close/>
                  <a:moveTo>
                    <a:pt x="12" y="1373"/>
                  </a:moveTo>
                  <a:lnTo>
                    <a:pt x="12" y="1384"/>
                  </a:lnTo>
                  <a:lnTo>
                    <a:pt x="0" y="1384"/>
                  </a:lnTo>
                  <a:lnTo>
                    <a:pt x="0" y="1373"/>
                  </a:lnTo>
                  <a:lnTo>
                    <a:pt x="12" y="1373"/>
                  </a:lnTo>
                  <a:close/>
                  <a:moveTo>
                    <a:pt x="12" y="1395"/>
                  </a:moveTo>
                  <a:lnTo>
                    <a:pt x="12" y="1406"/>
                  </a:lnTo>
                  <a:lnTo>
                    <a:pt x="0" y="1406"/>
                  </a:lnTo>
                  <a:lnTo>
                    <a:pt x="0" y="1395"/>
                  </a:lnTo>
                  <a:lnTo>
                    <a:pt x="12" y="1395"/>
                  </a:lnTo>
                  <a:close/>
                  <a:moveTo>
                    <a:pt x="12" y="1416"/>
                  </a:moveTo>
                  <a:lnTo>
                    <a:pt x="12" y="1427"/>
                  </a:lnTo>
                  <a:lnTo>
                    <a:pt x="0" y="1427"/>
                  </a:lnTo>
                  <a:lnTo>
                    <a:pt x="0" y="1416"/>
                  </a:lnTo>
                  <a:lnTo>
                    <a:pt x="12" y="1416"/>
                  </a:lnTo>
                  <a:close/>
                  <a:moveTo>
                    <a:pt x="12" y="1438"/>
                  </a:moveTo>
                  <a:lnTo>
                    <a:pt x="12" y="1448"/>
                  </a:lnTo>
                  <a:lnTo>
                    <a:pt x="0" y="1448"/>
                  </a:lnTo>
                  <a:lnTo>
                    <a:pt x="0" y="1438"/>
                  </a:lnTo>
                  <a:lnTo>
                    <a:pt x="12" y="1438"/>
                  </a:lnTo>
                  <a:close/>
                  <a:moveTo>
                    <a:pt x="12" y="1459"/>
                  </a:moveTo>
                  <a:lnTo>
                    <a:pt x="12" y="1470"/>
                  </a:lnTo>
                  <a:lnTo>
                    <a:pt x="0" y="1470"/>
                  </a:lnTo>
                  <a:lnTo>
                    <a:pt x="0" y="1459"/>
                  </a:lnTo>
                  <a:lnTo>
                    <a:pt x="12" y="1459"/>
                  </a:lnTo>
                  <a:close/>
                  <a:moveTo>
                    <a:pt x="12" y="1480"/>
                  </a:moveTo>
                  <a:lnTo>
                    <a:pt x="12" y="1491"/>
                  </a:lnTo>
                  <a:lnTo>
                    <a:pt x="0" y="1491"/>
                  </a:lnTo>
                  <a:lnTo>
                    <a:pt x="0" y="1480"/>
                  </a:lnTo>
                  <a:lnTo>
                    <a:pt x="12" y="1480"/>
                  </a:lnTo>
                  <a:close/>
                  <a:moveTo>
                    <a:pt x="12" y="1502"/>
                  </a:moveTo>
                  <a:lnTo>
                    <a:pt x="12" y="1513"/>
                  </a:lnTo>
                  <a:lnTo>
                    <a:pt x="0" y="1513"/>
                  </a:lnTo>
                  <a:lnTo>
                    <a:pt x="0" y="1502"/>
                  </a:lnTo>
                  <a:lnTo>
                    <a:pt x="12" y="1502"/>
                  </a:lnTo>
                  <a:close/>
                  <a:moveTo>
                    <a:pt x="12" y="1523"/>
                  </a:moveTo>
                  <a:lnTo>
                    <a:pt x="12" y="1534"/>
                  </a:lnTo>
                  <a:lnTo>
                    <a:pt x="0" y="1534"/>
                  </a:lnTo>
                  <a:lnTo>
                    <a:pt x="0" y="1523"/>
                  </a:lnTo>
                  <a:lnTo>
                    <a:pt x="12" y="1523"/>
                  </a:lnTo>
                  <a:close/>
                  <a:moveTo>
                    <a:pt x="12" y="1545"/>
                  </a:moveTo>
                  <a:lnTo>
                    <a:pt x="12" y="1556"/>
                  </a:lnTo>
                  <a:lnTo>
                    <a:pt x="0" y="1556"/>
                  </a:lnTo>
                  <a:lnTo>
                    <a:pt x="0" y="1545"/>
                  </a:lnTo>
                  <a:lnTo>
                    <a:pt x="12" y="1545"/>
                  </a:lnTo>
                  <a:close/>
                  <a:moveTo>
                    <a:pt x="12" y="1566"/>
                  </a:moveTo>
                  <a:lnTo>
                    <a:pt x="12" y="1577"/>
                  </a:lnTo>
                  <a:lnTo>
                    <a:pt x="0" y="1577"/>
                  </a:lnTo>
                  <a:lnTo>
                    <a:pt x="0" y="1566"/>
                  </a:lnTo>
                  <a:lnTo>
                    <a:pt x="12" y="1566"/>
                  </a:lnTo>
                  <a:close/>
                  <a:moveTo>
                    <a:pt x="12" y="1588"/>
                  </a:moveTo>
                  <a:lnTo>
                    <a:pt x="12" y="1599"/>
                  </a:lnTo>
                  <a:lnTo>
                    <a:pt x="0" y="1599"/>
                  </a:lnTo>
                  <a:lnTo>
                    <a:pt x="0" y="1588"/>
                  </a:lnTo>
                  <a:lnTo>
                    <a:pt x="12" y="1588"/>
                  </a:lnTo>
                  <a:close/>
                  <a:moveTo>
                    <a:pt x="12" y="1609"/>
                  </a:moveTo>
                  <a:lnTo>
                    <a:pt x="12" y="1620"/>
                  </a:lnTo>
                  <a:lnTo>
                    <a:pt x="0" y="1620"/>
                  </a:lnTo>
                  <a:lnTo>
                    <a:pt x="0" y="1609"/>
                  </a:lnTo>
                  <a:lnTo>
                    <a:pt x="12" y="1609"/>
                  </a:lnTo>
                  <a:close/>
                  <a:moveTo>
                    <a:pt x="12" y="1631"/>
                  </a:moveTo>
                  <a:lnTo>
                    <a:pt x="12" y="1641"/>
                  </a:lnTo>
                  <a:lnTo>
                    <a:pt x="0" y="1641"/>
                  </a:lnTo>
                  <a:lnTo>
                    <a:pt x="0" y="1631"/>
                  </a:lnTo>
                  <a:lnTo>
                    <a:pt x="12" y="1631"/>
                  </a:lnTo>
                  <a:close/>
                  <a:moveTo>
                    <a:pt x="12" y="1652"/>
                  </a:moveTo>
                  <a:lnTo>
                    <a:pt x="12" y="1663"/>
                  </a:lnTo>
                  <a:lnTo>
                    <a:pt x="0" y="1663"/>
                  </a:lnTo>
                  <a:lnTo>
                    <a:pt x="0" y="1652"/>
                  </a:lnTo>
                  <a:lnTo>
                    <a:pt x="12" y="1652"/>
                  </a:lnTo>
                  <a:close/>
                  <a:moveTo>
                    <a:pt x="12" y="1673"/>
                  </a:moveTo>
                  <a:lnTo>
                    <a:pt x="12" y="1684"/>
                  </a:lnTo>
                  <a:lnTo>
                    <a:pt x="0" y="1684"/>
                  </a:lnTo>
                  <a:lnTo>
                    <a:pt x="0" y="1673"/>
                  </a:lnTo>
                  <a:lnTo>
                    <a:pt x="12" y="1673"/>
                  </a:lnTo>
                  <a:close/>
                  <a:moveTo>
                    <a:pt x="12" y="1695"/>
                  </a:moveTo>
                  <a:lnTo>
                    <a:pt x="12" y="1706"/>
                  </a:lnTo>
                  <a:lnTo>
                    <a:pt x="0" y="1706"/>
                  </a:lnTo>
                  <a:lnTo>
                    <a:pt x="0" y="1695"/>
                  </a:lnTo>
                  <a:lnTo>
                    <a:pt x="12" y="1695"/>
                  </a:lnTo>
                  <a:close/>
                  <a:moveTo>
                    <a:pt x="12" y="1716"/>
                  </a:moveTo>
                  <a:lnTo>
                    <a:pt x="12" y="1727"/>
                  </a:lnTo>
                  <a:lnTo>
                    <a:pt x="0" y="1727"/>
                  </a:lnTo>
                  <a:lnTo>
                    <a:pt x="0" y="1716"/>
                  </a:lnTo>
                  <a:lnTo>
                    <a:pt x="12" y="1716"/>
                  </a:lnTo>
                  <a:close/>
                  <a:moveTo>
                    <a:pt x="12" y="1738"/>
                  </a:moveTo>
                  <a:lnTo>
                    <a:pt x="12" y="1749"/>
                  </a:lnTo>
                  <a:lnTo>
                    <a:pt x="0" y="1749"/>
                  </a:lnTo>
                  <a:lnTo>
                    <a:pt x="0" y="1738"/>
                  </a:lnTo>
                  <a:lnTo>
                    <a:pt x="12" y="1738"/>
                  </a:lnTo>
                  <a:close/>
                  <a:moveTo>
                    <a:pt x="12" y="1759"/>
                  </a:moveTo>
                  <a:lnTo>
                    <a:pt x="12" y="1770"/>
                  </a:lnTo>
                  <a:lnTo>
                    <a:pt x="0" y="1770"/>
                  </a:lnTo>
                  <a:lnTo>
                    <a:pt x="0" y="1759"/>
                  </a:lnTo>
                  <a:lnTo>
                    <a:pt x="12" y="1759"/>
                  </a:lnTo>
                  <a:close/>
                  <a:moveTo>
                    <a:pt x="12" y="1781"/>
                  </a:moveTo>
                  <a:lnTo>
                    <a:pt x="12" y="1792"/>
                  </a:lnTo>
                  <a:lnTo>
                    <a:pt x="0" y="1792"/>
                  </a:lnTo>
                  <a:lnTo>
                    <a:pt x="0" y="1781"/>
                  </a:lnTo>
                  <a:lnTo>
                    <a:pt x="12" y="1781"/>
                  </a:lnTo>
                  <a:close/>
                  <a:moveTo>
                    <a:pt x="12" y="1802"/>
                  </a:moveTo>
                  <a:lnTo>
                    <a:pt x="12" y="1813"/>
                  </a:lnTo>
                  <a:lnTo>
                    <a:pt x="0" y="1813"/>
                  </a:lnTo>
                  <a:lnTo>
                    <a:pt x="0" y="1802"/>
                  </a:lnTo>
                  <a:lnTo>
                    <a:pt x="12" y="1802"/>
                  </a:lnTo>
                  <a:close/>
                  <a:moveTo>
                    <a:pt x="12" y="1824"/>
                  </a:moveTo>
                  <a:lnTo>
                    <a:pt x="12" y="1834"/>
                  </a:lnTo>
                  <a:lnTo>
                    <a:pt x="0" y="1834"/>
                  </a:lnTo>
                  <a:lnTo>
                    <a:pt x="0" y="1824"/>
                  </a:lnTo>
                  <a:lnTo>
                    <a:pt x="12" y="1824"/>
                  </a:lnTo>
                  <a:close/>
                  <a:moveTo>
                    <a:pt x="12" y="1845"/>
                  </a:moveTo>
                  <a:lnTo>
                    <a:pt x="12" y="1856"/>
                  </a:lnTo>
                  <a:lnTo>
                    <a:pt x="0" y="1856"/>
                  </a:lnTo>
                  <a:lnTo>
                    <a:pt x="0" y="1845"/>
                  </a:lnTo>
                  <a:lnTo>
                    <a:pt x="12" y="1845"/>
                  </a:lnTo>
                  <a:close/>
                  <a:moveTo>
                    <a:pt x="12" y="1867"/>
                  </a:moveTo>
                  <a:lnTo>
                    <a:pt x="12" y="1877"/>
                  </a:lnTo>
                  <a:lnTo>
                    <a:pt x="0" y="1877"/>
                  </a:lnTo>
                  <a:lnTo>
                    <a:pt x="0" y="1867"/>
                  </a:lnTo>
                  <a:lnTo>
                    <a:pt x="12" y="1867"/>
                  </a:lnTo>
                  <a:close/>
                  <a:moveTo>
                    <a:pt x="12" y="1888"/>
                  </a:moveTo>
                  <a:lnTo>
                    <a:pt x="12" y="1899"/>
                  </a:lnTo>
                  <a:lnTo>
                    <a:pt x="0" y="1899"/>
                  </a:lnTo>
                  <a:lnTo>
                    <a:pt x="0" y="1888"/>
                  </a:lnTo>
                  <a:lnTo>
                    <a:pt x="12" y="1888"/>
                  </a:lnTo>
                  <a:close/>
                  <a:moveTo>
                    <a:pt x="12" y="1910"/>
                  </a:moveTo>
                  <a:lnTo>
                    <a:pt x="12" y="1920"/>
                  </a:lnTo>
                  <a:lnTo>
                    <a:pt x="0" y="1920"/>
                  </a:lnTo>
                  <a:lnTo>
                    <a:pt x="0" y="1910"/>
                  </a:lnTo>
                  <a:lnTo>
                    <a:pt x="12" y="1910"/>
                  </a:lnTo>
                  <a:close/>
                  <a:moveTo>
                    <a:pt x="12" y="1931"/>
                  </a:moveTo>
                  <a:lnTo>
                    <a:pt x="12" y="1942"/>
                  </a:lnTo>
                  <a:lnTo>
                    <a:pt x="0" y="1942"/>
                  </a:lnTo>
                  <a:lnTo>
                    <a:pt x="0" y="1931"/>
                  </a:lnTo>
                  <a:lnTo>
                    <a:pt x="12" y="1931"/>
                  </a:lnTo>
                  <a:close/>
                  <a:moveTo>
                    <a:pt x="12" y="1952"/>
                  </a:moveTo>
                  <a:lnTo>
                    <a:pt x="12" y="1963"/>
                  </a:lnTo>
                  <a:lnTo>
                    <a:pt x="0" y="1963"/>
                  </a:lnTo>
                  <a:lnTo>
                    <a:pt x="0" y="1952"/>
                  </a:lnTo>
                  <a:lnTo>
                    <a:pt x="12" y="1952"/>
                  </a:lnTo>
                  <a:close/>
                  <a:moveTo>
                    <a:pt x="12" y="1974"/>
                  </a:moveTo>
                  <a:lnTo>
                    <a:pt x="12" y="1985"/>
                  </a:lnTo>
                  <a:lnTo>
                    <a:pt x="0" y="1985"/>
                  </a:lnTo>
                  <a:lnTo>
                    <a:pt x="0" y="1974"/>
                  </a:lnTo>
                  <a:lnTo>
                    <a:pt x="12" y="1974"/>
                  </a:lnTo>
                  <a:close/>
                  <a:moveTo>
                    <a:pt x="12" y="1995"/>
                  </a:moveTo>
                  <a:lnTo>
                    <a:pt x="12" y="2006"/>
                  </a:lnTo>
                  <a:lnTo>
                    <a:pt x="0" y="2006"/>
                  </a:lnTo>
                  <a:lnTo>
                    <a:pt x="0" y="1995"/>
                  </a:lnTo>
                  <a:lnTo>
                    <a:pt x="12" y="1995"/>
                  </a:lnTo>
                  <a:close/>
                  <a:moveTo>
                    <a:pt x="12" y="2017"/>
                  </a:moveTo>
                  <a:lnTo>
                    <a:pt x="12" y="2027"/>
                  </a:lnTo>
                  <a:lnTo>
                    <a:pt x="0" y="2027"/>
                  </a:lnTo>
                  <a:lnTo>
                    <a:pt x="0" y="2017"/>
                  </a:lnTo>
                  <a:lnTo>
                    <a:pt x="12" y="2017"/>
                  </a:lnTo>
                  <a:close/>
                  <a:moveTo>
                    <a:pt x="12" y="2038"/>
                  </a:moveTo>
                  <a:lnTo>
                    <a:pt x="12" y="2049"/>
                  </a:lnTo>
                  <a:lnTo>
                    <a:pt x="0" y="2049"/>
                  </a:lnTo>
                  <a:lnTo>
                    <a:pt x="0" y="2038"/>
                  </a:lnTo>
                  <a:lnTo>
                    <a:pt x="12" y="2038"/>
                  </a:lnTo>
                  <a:close/>
                  <a:moveTo>
                    <a:pt x="12" y="2060"/>
                  </a:moveTo>
                  <a:lnTo>
                    <a:pt x="12" y="2070"/>
                  </a:lnTo>
                  <a:lnTo>
                    <a:pt x="0" y="2070"/>
                  </a:lnTo>
                  <a:lnTo>
                    <a:pt x="0" y="2060"/>
                  </a:lnTo>
                  <a:lnTo>
                    <a:pt x="12" y="2060"/>
                  </a:lnTo>
                  <a:close/>
                  <a:moveTo>
                    <a:pt x="12" y="2081"/>
                  </a:moveTo>
                  <a:lnTo>
                    <a:pt x="12" y="2092"/>
                  </a:lnTo>
                  <a:lnTo>
                    <a:pt x="0" y="2092"/>
                  </a:lnTo>
                  <a:lnTo>
                    <a:pt x="0" y="2081"/>
                  </a:lnTo>
                  <a:lnTo>
                    <a:pt x="12" y="2081"/>
                  </a:lnTo>
                  <a:close/>
                  <a:moveTo>
                    <a:pt x="12" y="2103"/>
                  </a:moveTo>
                  <a:lnTo>
                    <a:pt x="12" y="2113"/>
                  </a:lnTo>
                  <a:lnTo>
                    <a:pt x="0" y="2113"/>
                  </a:lnTo>
                  <a:lnTo>
                    <a:pt x="0" y="2103"/>
                  </a:lnTo>
                  <a:lnTo>
                    <a:pt x="12" y="2103"/>
                  </a:lnTo>
                  <a:close/>
                  <a:moveTo>
                    <a:pt x="12" y="2124"/>
                  </a:moveTo>
                  <a:lnTo>
                    <a:pt x="12" y="2135"/>
                  </a:lnTo>
                  <a:lnTo>
                    <a:pt x="0" y="2135"/>
                  </a:lnTo>
                  <a:lnTo>
                    <a:pt x="0" y="2124"/>
                  </a:lnTo>
                  <a:lnTo>
                    <a:pt x="12" y="2124"/>
                  </a:lnTo>
                  <a:close/>
                  <a:moveTo>
                    <a:pt x="12" y="2146"/>
                  </a:moveTo>
                  <a:lnTo>
                    <a:pt x="12" y="2156"/>
                  </a:lnTo>
                  <a:lnTo>
                    <a:pt x="0" y="2156"/>
                  </a:lnTo>
                  <a:lnTo>
                    <a:pt x="0" y="2146"/>
                  </a:lnTo>
                  <a:lnTo>
                    <a:pt x="12" y="2146"/>
                  </a:lnTo>
                  <a:close/>
                  <a:moveTo>
                    <a:pt x="12" y="2167"/>
                  </a:moveTo>
                  <a:lnTo>
                    <a:pt x="12" y="2178"/>
                  </a:lnTo>
                  <a:lnTo>
                    <a:pt x="0" y="2178"/>
                  </a:lnTo>
                  <a:lnTo>
                    <a:pt x="0" y="2167"/>
                  </a:lnTo>
                  <a:lnTo>
                    <a:pt x="12" y="2167"/>
                  </a:lnTo>
                  <a:close/>
                  <a:moveTo>
                    <a:pt x="12" y="2188"/>
                  </a:moveTo>
                  <a:lnTo>
                    <a:pt x="12" y="2199"/>
                  </a:lnTo>
                  <a:lnTo>
                    <a:pt x="0" y="2199"/>
                  </a:lnTo>
                  <a:lnTo>
                    <a:pt x="0" y="2188"/>
                  </a:lnTo>
                  <a:lnTo>
                    <a:pt x="12" y="2188"/>
                  </a:lnTo>
                  <a:close/>
                  <a:moveTo>
                    <a:pt x="12" y="2210"/>
                  </a:moveTo>
                  <a:lnTo>
                    <a:pt x="12" y="2220"/>
                  </a:lnTo>
                  <a:lnTo>
                    <a:pt x="0" y="2220"/>
                  </a:lnTo>
                  <a:lnTo>
                    <a:pt x="0" y="2210"/>
                  </a:lnTo>
                  <a:lnTo>
                    <a:pt x="12" y="2210"/>
                  </a:lnTo>
                  <a:close/>
                  <a:moveTo>
                    <a:pt x="12" y="2231"/>
                  </a:moveTo>
                  <a:lnTo>
                    <a:pt x="12" y="2242"/>
                  </a:lnTo>
                  <a:lnTo>
                    <a:pt x="0" y="2242"/>
                  </a:lnTo>
                  <a:lnTo>
                    <a:pt x="0" y="2231"/>
                  </a:lnTo>
                  <a:lnTo>
                    <a:pt x="12" y="2231"/>
                  </a:lnTo>
                  <a:close/>
                  <a:moveTo>
                    <a:pt x="12" y="2253"/>
                  </a:moveTo>
                  <a:lnTo>
                    <a:pt x="12" y="2263"/>
                  </a:lnTo>
                  <a:lnTo>
                    <a:pt x="0" y="2263"/>
                  </a:lnTo>
                  <a:lnTo>
                    <a:pt x="0" y="2253"/>
                  </a:lnTo>
                  <a:lnTo>
                    <a:pt x="12" y="2253"/>
                  </a:lnTo>
                  <a:close/>
                  <a:moveTo>
                    <a:pt x="12" y="2274"/>
                  </a:moveTo>
                  <a:lnTo>
                    <a:pt x="12" y="2285"/>
                  </a:lnTo>
                  <a:lnTo>
                    <a:pt x="0" y="2285"/>
                  </a:lnTo>
                  <a:lnTo>
                    <a:pt x="0" y="2274"/>
                  </a:lnTo>
                  <a:lnTo>
                    <a:pt x="12" y="2274"/>
                  </a:lnTo>
                  <a:close/>
                </a:path>
              </a:pathLst>
            </a:custGeom>
            <a:solidFill>
              <a:srgbClr val="000000"/>
            </a:solidFill>
            <a:ln w="0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8" name="Freeform 92">
              <a:extLst>
                <a:ext uri="{FF2B5EF4-FFF2-40B4-BE49-F238E27FC236}">
                  <a16:creationId xmlns:a16="http://schemas.microsoft.com/office/drawing/2014/main" id="{296EC8E5-402C-4ECD-A002-739375EDB86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750" y="1913"/>
              <a:ext cx="11" cy="2285"/>
            </a:xfrm>
            <a:custGeom>
              <a:avLst/>
              <a:gdLst>
                <a:gd name="T0" fmla="*/ 0 w 11"/>
                <a:gd name="T1" fmla="*/ 22 h 2285"/>
                <a:gd name="T2" fmla="*/ 0 w 11"/>
                <a:gd name="T3" fmla="*/ 76 h 2285"/>
                <a:gd name="T4" fmla="*/ 11 w 11"/>
                <a:gd name="T5" fmla="*/ 119 h 2285"/>
                <a:gd name="T6" fmla="*/ 11 w 11"/>
                <a:gd name="T7" fmla="*/ 151 h 2285"/>
                <a:gd name="T8" fmla="*/ 11 w 11"/>
                <a:gd name="T9" fmla="*/ 172 h 2285"/>
                <a:gd name="T10" fmla="*/ 0 w 11"/>
                <a:gd name="T11" fmla="*/ 215 h 2285"/>
                <a:gd name="T12" fmla="*/ 0 w 11"/>
                <a:gd name="T13" fmla="*/ 269 h 2285"/>
                <a:gd name="T14" fmla="*/ 11 w 11"/>
                <a:gd name="T15" fmla="*/ 312 h 2285"/>
                <a:gd name="T16" fmla="*/ 11 w 11"/>
                <a:gd name="T17" fmla="*/ 344 h 2285"/>
                <a:gd name="T18" fmla="*/ 11 w 11"/>
                <a:gd name="T19" fmla="*/ 365 h 2285"/>
                <a:gd name="T20" fmla="*/ 0 w 11"/>
                <a:gd name="T21" fmla="*/ 408 h 2285"/>
                <a:gd name="T22" fmla="*/ 0 w 11"/>
                <a:gd name="T23" fmla="*/ 462 h 2285"/>
                <a:gd name="T24" fmla="*/ 11 w 11"/>
                <a:gd name="T25" fmla="*/ 505 h 2285"/>
                <a:gd name="T26" fmla="*/ 11 w 11"/>
                <a:gd name="T27" fmla="*/ 537 h 2285"/>
                <a:gd name="T28" fmla="*/ 11 w 11"/>
                <a:gd name="T29" fmla="*/ 558 h 2285"/>
                <a:gd name="T30" fmla="*/ 0 w 11"/>
                <a:gd name="T31" fmla="*/ 601 h 2285"/>
                <a:gd name="T32" fmla="*/ 0 w 11"/>
                <a:gd name="T33" fmla="*/ 655 h 2285"/>
                <a:gd name="T34" fmla="*/ 11 w 11"/>
                <a:gd name="T35" fmla="*/ 698 h 2285"/>
                <a:gd name="T36" fmla="*/ 11 w 11"/>
                <a:gd name="T37" fmla="*/ 730 h 2285"/>
                <a:gd name="T38" fmla="*/ 11 w 11"/>
                <a:gd name="T39" fmla="*/ 751 h 2285"/>
                <a:gd name="T40" fmla="*/ 0 w 11"/>
                <a:gd name="T41" fmla="*/ 794 h 2285"/>
                <a:gd name="T42" fmla="*/ 0 w 11"/>
                <a:gd name="T43" fmla="*/ 848 h 2285"/>
                <a:gd name="T44" fmla="*/ 11 w 11"/>
                <a:gd name="T45" fmla="*/ 891 h 2285"/>
                <a:gd name="T46" fmla="*/ 11 w 11"/>
                <a:gd name="T47" fmla="*/ 923 h 2285"/>
                <a:gd name="T48" fmla="*/ 11 w 11"/>
                <a:gd name="T49" fmla="*/ 944 h 2285"/>
                <a:gd name="T50" fmla="*/ 0 w 11"/>
                <a:gd name="T51" fmla="*/ 987 h 2285"/>
                <a:gd name="T52" fmla="*/ 0 w 11"/>
                <a:gd name="T53" fmla="*/ 1041 h 2285"/>
                <a:gd name="T54" fmla="*/ 11 w 11"/>
                <a:gd name="T55" fmla="*/ 1084 h 2285"/>
                <a:gd name="T56" fmla="*/ 11 w 11"/>
                <a:gd name="T57" fmla="*/ 1116 h 2285"/>
                <a:gd name="T58" fmla="*/ 11 w 11"/>
                <a:gd name="T59" fmla="*/ 1137 h 2285"/>
                <a:gd name="T60" fmla="*/ 0 w 11"/>
                <a:gd name="T61" fmla="*/ 1180 h 2285"/>
                <a:gd name="T62" fmla="*/ 0 w 11"/>
                <a:gd name="T63" fmla="*/ 1234 h 2285"/>
                <a:gd name="T64" fmla="*/ 11 w 11"/>
                <a:gd name="T65" fmla="*/ 1277 h 2285"/>
                <a:gd name="T66" fmla="*/ 11 w 11"/>
                <a:gd name="T67" fmla="*/ 1309 h 2285"/>
                <a:gd name="T68" fmla="*/ 11 w 11"/>
                <a:gd name="T69" fmla="*/ 1330 h 2285"/>
                <a:gd name="T70" fmla="*/ 0 w 11"/>
                <a:gd name="T71" fmla="*/ 1373 h 2285"/>
                <a:gd name="T72" fmla="*/ 0 w 11"/>
                <a:gd name="T73" fmla="*/ 1427 h 2285"/>
                <a:gd name="T74" fmla="*/ 11 w 11"/>
                <a:gd name="T75" fmla="*/ 1470 h 2285"/>
                <a:gd name="T76" fmla="*/ 11 w 11"/>
                <a:gd name="T77" fmla="*/ 1502 h 2285"/>
                <a:gd name="T78" fmla="*/ 11 w 11"/>
                <a:gd name="T79" fmla="*/ 1523 h 2285"/>
                <a:gd name="T80" fmla="*/ 0 w 11"/>
                <a:gd name="T81" fmla="*/ 1566 h 2285"/>
                <a:gd name="T82" fmla="*/ 0 w 11"/>
                <a:gd name="T83" fmla="*/ 1620 h 2285"/>
                <a:gd name="T84" fmla="*/ 11 w 11"/>
                <a:gd name="T85" fmla="*/ 1663 h 2285"/>
                <a:gd name="T86" fmla="*/ 11 w 11"/>
                <a:gd name="T87" fmla="*/ 1695 h 2285"/>
                <a:gd name="T88" fmla="*/ 11 w 11"/>
                <a:gd name="T89" fmla="*/ 1716 h 2285"/>
                <a:gd name="T90" fmla="*/ 0 w 11"/>
                <a:gd name="T91" fmla="*/ 1759 h 2285"/>
                <a:gd name="T92" fmla="*/ 0 w 11"/>
                <a:gd name="T93" fmla="*/ 1813 h 2285"/>
                <a:gd name="T94" fmla="*/ 11 w 11"/>
                <a:gd name="T95" fmla="*/ 1856 h 2285"/>
                <a:gd name="T96" fmla="*/ 11 w 11"/>
                <a:gd name="T97" fmla="*/ 1888 h 2285"/>
                <a:gd name="T98" fmla="*/ 11 w 11"/>
                <a:gd name="T99" fmla="*/ 1910 h 2285"/>
                <a:gd name="T100" fmla="*/ 0 w 11"/>
                <a:gd name="T101" fmla="*/ 1952 h 2285"/>
                <a:gd name="T102" fmla="*/ 0 w 11"/>
                <a:gd name="T103" fmla="*/ 2006 h 2285"/>
                <a:gd name="T104" fmla="*/ 11 w 11"/>
                <a:gd name="T105" fmla="*/ 2049 h 2285"/>
                <a:gd name="T106" fmla="*/ 11 w 11"/>
                <a:gd name="T107" fmla="*/ 2081 h 2285"/>
                <a:gd name="T108" fmla="*/ 11 w 11"/>
                <a:gd name="T109" fmla="*/ 2103 h 2285"/>
                <a:gd name="T110" fmla="*/ 0 w 11"/>
                <a:gd name="T111" fmla="*/ 2146 h 2285"/>
                <a:gd name="T112" fmla="*/ 0 w 11"/>
                <a:gd name="T113" fmla="*/ 2199 h 2285"/>
                <a:gd name="T114" fmla="*/ 11 w 11"/>
                <a:gd name="T115" fmla="*/ 2242 h 2285"/>
                <a:gd name="T116" fmla="*/ 11 w 11"/>
                <a:gd name="T117" fmla="*/ 2274 h 22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1" h="2285">
                  <a:moveTo>
                    <a:pt x="11" y="0"/>
                  </a:moveTo>
                  <a:lnTo>
                    <a:pt x="11" y="11"/>
                  </a:lnTo>
                  <a:lnTo>
                    <a:pt x="0" y="11"/>
                  </a:lnTo>
                  <a:lnTo>
                    <a:pt x="0" y="0"/>
                  </a:lnTo>
                  <a:lnTo>
                    <a:pt x="11" y="0"/>
                  </a:lnTo>
                  <a:close/>
                  <a:moveTo>
                    <a:pt x="11" y="22"/>
                  </a:moveTo>
                  <a:lnTo>
                    <a:pt x="11" y="33"/>
                  </a:lnTo>
                  <a:lnTo>
                    <a:pt x="0" y="33"/>
                  </a:lnTo>
                  <a:lnTo>
                    <a:pt x="0" y="22"/>
                  </a:lnTo>
                  <a:lnTo>
                    <a:pt x="11" y="22"/>
                  </a:lnTo>
                  <a:close/>
                  <a:moveTo>
                    <a:pt x="11" y="43"/>
                  </a:moveTo>
                  <a:lnTo>
                    <a:pt x="11" y="54"/>
                  </a:lnTo>
                  <a:lnTo>
                    <a:pt x="0" y="54"/>
                  </a:lnTo>
                  <a:lnTo>
                    <a:pt x="0" y="43"/>
                  </a:lnTo>
                  <a:lnTo>
                    <a:pt x="11" y="43"/>
                  </a:lnTo>
                  <a:close/>
                  <a:moveTo>
                    <a:pt x="11" y="65"/>
                  </a:moveTo>
                  <a:lnTo>
                    <a:pt x="11" y="76"/>
                  </a:lnTo>
                  <a:lnTo>
                    <a:pt x="0" y="76"/>
                  </a:lnTo>
                  <a:lnTo>
                    <a:pt x="0" y="65"/>
                  </a:lnTo>
                  <a:lnTo>
                    <a:pt x="11" y="65"/>
                  </a:lnTo>
                  <a:close/>
                  <a:moveTo>
                    <a:pt x="11" y="86"/>
                  </a:moveTo>
                  <a:lnTo>
                    <a:pt x="11" y="97"/>
                  </a:lnTo>
                  <a:lnTo>
                    <a:pt x="0" y="97"/>
                  </a:lnTo>
                  <a:lnTo>
                    <a:pt x="0" y="86"/>
                  </a:lnTo>
                  <a:lnTo>
                    <a:pt x="11" y="86"/>
                  </a:lnTo>
                  <a:close/>
                  <a:moveTo>
                    <a:pt x="11" y="108"/>
                  </a:moveTo>
                  <a:lnTo>
                    <a:pt x="11" y="119"/>
                  </a:lnTo>
                  <a:lnTo>
                    <a:pt x="0" y="119"/>
                  </a:lnTo>
                  <a:lnTo>
                    <a:pt x="0" y="108"/>
                  </a:lnTo>
                  <a:lnTo>
                    <a:pt x="11" y="108"/>
                  </a:lnTo>
                  <a:close/>
                  <a:moveTo>
                    <a:pt x="11" y="129"/>
                  </a:moveTo>
                  <a:lnTo>
                    <a:pt x="11" y="140"/>
                  </a:lnTo>
                  <a:lnTo>
                    <a:pt x="0" y="140"/>
                  </a:lnTo>
                  <a:lnTo>
                    <a:pt x="0" y="129"/>
                  </a:lnTo>
                  <a:lnTo>
                    <a:pt x="11" y="129"/>
                  </a:lnTo>
                  <a:close/>
                  <a:moveTo>
                    <a:pt x="11" y="151"/>
                  </a:moveTo>
                  <a:lnTo>
                    <a:pt x="11" y="161"/>
                  </a:lnTo>
                  <a:lnTo>
                    <a:pt x="0" y="161"/>
                  </a:lnTo>
                  <a:lnTo>
                    <a:pt x="0" y="151"/>
                  </a:lnTo>
                  <a:lnTo>
                    <a:pt x="11" y="151"/>
                  </a:lnTo>
                  <a:close/>
                  <a:moveTo>
                    <a:pt x="11" y="172"/>
                  </a:moveTo>
                  <a:lnTo>
                    <a:pt x="11" y="183"/>
                  </a:lnTo>
                  <a:lnTo>
                    <a:pt x="0" y="183"/>
                  </a:lnTo>
                  <a:lnTo>
                    <a:pt x="0" y="172"/>
                  </a:lnTo>
                  <a:lnTo>
                    <a:pt x="11" y="172"/>
                  </a:lnTo>
                  <a:close/>
                  <a:moveTo>
                    <a:pt x="11" y="193"/>
                  </a:moveTo>
                  <a:lnTo>
                    <a:pt x="11" y="204"/>
                  </a:lnTo>
                  <a:lnTo>
                    <a:pt x="0" y="204"/>
                  </a:lnTo>
                  <a:lnTo>
                    <a:pt x="0" y="193"/>
                  </a:lnTo>
                  <a:lnTo>
                    <a:pt x="11" y="193"/>
                  </a:lnTo>
                  <a:close/>
                  <a:moveTo>
                    <a:pt x="11" y="215"/>
                  </a:moveTo>
                  <a:lnTo>
                    <a:pt x="11" y="226"/>
                  </a:lnTo>
                  <a:lnTo>
                    <a:pt x="0" y="226"/>
                  </a:lnTo>
                  <a:lnTo>
                    <a:pt x="0" y="215"/>
                  </a:lnTo>
                  <a:lnTo>
                    <a:pt x="11" y="215"/>
                  </a:lnTo>
                  <a:close/>
                  <a:moveTo>
                    <a:pt x="11" y="236"/>
                  </a:moveTo>
                  <a:lnTo>
                    <a:pt x="11" y="247"/>
                  </a:lnTo>
                  <a:lnTo>
                    <a:pt x="0" y="247"/>
                  </a:lnTo>
                  <a:lnTo>
                    <a:pt x="0" y="236"/>
                  </a:lnTo>
                  <a:lnTo>
                    <a:pt x="11" y="236"/>
                  </a:lnTo>
                  <a:close/>
                  <a:moveTo>
                    <a:pt x="11" y="258"/>
                  </a:moveTo>
                  <a:lnTo>
                    <a:pt x="11" y="269"/>
                  </a:lnTo>
                  <a:lnTo>
                    <a:pt x="0" y="269"/>
                  </a:lnTo>
                  <a:lnTo>
                    <a:pt x="0" y="258"/>
                  </a:lnTo>
                  <a:lnTo>
                    <a:pt x="11" y="258"/>
                  </a:lnTo>
                  <a:close/>
                  <a:moveTo>
                    <a:pt x="11" y="279"/>
                  </a:moveTo>
                  <a:lnTo>
                    <a:pt x="11" y="290"/>
                  </a:lnTo>
                  <a:lnTo>
                    <a:pt x="0" y="290"/>
                  </a:lnTo>
                  <a:lnTo>
                    <a:pt x="0" y="279"/>
                  </a:lnTo>
                  <a:lnTo>
                    <a:pt x="11" y="279"/>
                  </a:lnTo>
                  <a:close/>
                  <a:moveTo>
                    <a:pt x="11" y="301"/>
                  </a:moveTo>
                  <a:lnTo>
                    <a:pt x="11" y="312"/>
                  </a:lnTo>
                  <a:lnTo>
                    <a:pt x="0" y="312"/>
                  </a:lnTo>
                  <a:lnTo>
                    <a:pt x="0" y="301"/>
                  </a:lnTo>
                  <a:lnTo>
                    <a:pt x="11" y="301"/>
                  </a:lnTo>
                  <a:close/>
                  <a:moveTo>
                    <a:pt x="11" y="322"/>
                  </a:moveTo>
                  <a:lnTo>
                    <a:pt x="11" y="333"/>
                  </a:lnTo>
                  <a:lnTo>
                    <a:pt x="0" y="333"/>
                  </a:lnTo>
                  <a:lnTo>
                    <a:pt x="0" y="322"/>
                  </a:lnTo>
                  <a:lnTo>
                    <a:pt x="11" y="322"/>
                  </a:lnTo>
                  <a:close/>
                  <a:moveTo>
                    <a:pt x="11" y="344"/>
                  </a:moveTo>
                  <a:lnTo>
                    <a:pt x="11" y="354"/>
                  </a:lnTo>
                  <a:lnTo>
                    <a:pt x="0" y="354"/>
                  </a:lnTo>
                  <a:lnTo>
                    <a:pt x="0" y="344"/>
                  </a:lnTo>
                  <a:lnTo>
                    <a:pt x="11" y="344"/>
                  </a:lnTo>
                  <a:close/>
                  <a:moveTo>
                    <a:pt x="11" y="365"/>
                  </a:moveTo>
                  <a:lnTo>
                    <a:pt x="11" y="376"/>
                  </a:lnTo>
                  <a:lnTo>
                    <a:pt x="0" y="376"/>
                  </a:lnTo>
                  <a:lnTo>
                    <a:pt x="0" y="365"/>
                  </a:lnTo>
                  <a:lnTo>
                    <a:pt x="11" y="365"/>
                  </a:lnTo>
                  <a:close/>
                  <a:moveTo>
                    <a:pt x="11" y="386"/>
                  </a:moveTo>
                  <a:lnTo>
                    <a:pt x="11" y="397"/>
                  </a:lnTo>
                  <a:lnTo>
                    <a:pt x="0" y="397"/>
                  </a:lnTo>
                  <a:lnTo>
                    <a:pt x="0" y="386"/>
                  </a:lnTo>
                  <a:lnTo>
                    <a:pt x="11" y="386"/>
                  </a:lnTo>
                  <a:close/>
                  <a:moveTo>
                    <a:pt x="11" y="408"/>
                  </a:moveTo>
                  <a:lnTo>
                    <a:pt x="11" y="419"/>
                  </a:lnTo>
                  <a:lnTo>
                    <a:pt x="0" y="419"/>
                  </a:lnTo>
                  <a:lnTo>
                    <a:pt x="0" y="408"/>
                  </a:lnTo>
                  <a:lnTo>
                    <a:pt x="11" y="408"/>
                  </a:lnTo>
                  <a:close/>
                  <a:moveTo>
                    <a:pt x="11" y="429"/>
                  </a:moveTo>
                  <a:lnTo>
                    <a:pt x="11" y="440"/>
                  </a:lnTo>
                  <a:lnTo>
                    <a:pt x="0" y="440"/>
                  </a:lnTo>
                  <a:lnTo>
                    <a:pt x="0" y="429"/>
                  </a:lnTo>
                  <a:lnTo>
                    <a:pt x="11" y="429"/>
                  </a:lnTo>
                  <a:close/>
                  <a:moveTo>
                    <a:pt x="11" y="451"/>
                  </a:moveTo>
                  <a:lnTo>
                    <a:pt x="11" y="462"/>
                  </a:lnTo>
                  <a:lnTo>
                    <a:pt x="0" y="462"/>
                  </a:lnTo>
                  <a:lnTo>
                    <a:pt x="0" y="451"/>
                  </a:lnTo>
                  <a:lnTo>
                    <a:pt x="11" y="451"/>
                  </a:lnTo>
                  <a:close/>
                  <a:moveTo>
                    <a:pt x="11" y="472"/>
                  </a:moveTo>
                  <a:lnTo>
                    <a:pt x="11" y="483"/>
                  </a:lnTo>
                  <a:lnTo>
                    <a:pt x="0" y="483"/>
                  </a:lnTo>
                  <a:lnTo>
                    <a:pt x="0" y="472"/>
                  </a:lnTo>
                  <a:lnTo>
                    <a:pt x="11" y="472"/>
                  </a:lnTo>
                  <a:close/>
                  <a:moveTo>
                    <a:pt x="11" y="494"/>
                  </a:moveTo>
                  <a:lnTo>
                    <a:pt x="11" y="505"/>
                  </a:lnTo>
                  <a:lnTo>
                    <a:pt x="0" y="505"/>
                  </a:lnTo>
                  <a:lnTo>
                    <a:pt x="0" y="494"/>
                  </a:lnTo>
                  <a:lnTo>
                    <a:pt x="11" y="494"/>
                  </a:lnTo>
                  <a:close/>
                  <a:moveTo>
                    <a:pt x="11" y="515"/>
                  </a:moveTo>
                  <a:lnTo>
                    <a:pt x="11" y="526"/>
                  </a:lnTo>
                  <a:lnTo>
                    <a:pt x="0" y="526"/>
                  </a:lnTo>
                  <a:lnTo>
                    <a:pt x="0" y="515"/>
                  </a:lnTo>
                  <a:lnTo>
                    <a:pt x="11" y="515"/>
                  </a:lnTo>
                  <a:close/>
                  <a:moveTo>
                    <a:pt x="11" y="537"/>
                  </a:moveTo>
                  <a:lnTo>
                    <a:pt x="11" y="547"/>
                  </a:lnTo>
                  <a:lnTo>
                    <a:pt x="0" y="547"/>
                  </a:lnTo>
                  <a:lnTo>
                    <a:pt x="0" y="537"/>
                  </a:lnTo>
                  <a:lnTo>
                    <a:pt x="11" y="537"/>
                  </a:lnTo>
                  <a:close/>
                  <a:moveTo>
                    <a:pt x="11" y="558"/>
                  </a:moveTo>
                  <a:lnTo>
                    <a:pt x="11" y="569"/>
                  </a:lnTo>
                  <a:lnTo>
                    <a:pt x="0" y="569"/>
                  </a:lnTo>
                  <a:lnTo>
                    <a:pt x="0" y="558"/>
                  </a:lnTo>
                  <a:lnTo>
                    <a:pt x="11" y="558"/>
                  </a:lnTo>
                  <a:close/>
                  <a:moveTo>
                    <a:pt x="11" y="580"/>
                  </a:moveTo>
                  <a:lnTo>
                    <a:pt x="11" y="590"/>
                  </a:lnTo>
                  <a:lnTo>
                    <a:pt x="0" y="590"/>
                  </a:lnTo>
                  <a:lnTo>
                    <a:pt x="0" y="580"/>
                  </a:lnTo>
                  <a:lnTo>
                    <a:pt x="11" y="580"/>
                  </a:lnTo>
                  <a:close/>
                  <a:moveTo>
                    <a:pt x="11" y="601"/>
                  </a:moveTo>
                  <a:lnTo>
                    <a:pt x="11" y="612"/>
                  </a:lnTo>
                  <a:lnTo>
                    <a:pt x="0" y="612"/>
                  </a:lnTo>
                  <a:lnTo>
                    <a:pt x="0" y="601"/>
                  </a:lnTo>
                  <a:lnTo>
                    <a:pt x="11" y="601"/>
                  </a:lnTo>
                  <a:close/>
                  <a:moveTo>
                    <a:pt x="11" y="623"/>
                  </a:moveTo>
                  <a:lnTo>
                    <a:pt x="11" y="633"/>
                  </a:lnTo>
                  <a:lnTo>
                    <a:pt x="0" y="633"/>
                  </a:lnTo>
                  <a:lnTo>
                    <a:pt x="0" y="623"/>
                  </a:lnTo>
                  <a:lnTo>
                    <a:pt x="11" y="623"/>
                  </a:lnTo>
                  <a:close/>
                  <a:moveTo>
                    <a:pt x="11" y="644"/>
                  </a:moveTo>
                  <a:lnTo>
                    <a:pt x="11" y="655"/>
                  </a:lnTo>
                  <a:lnTo>
                    <a:pt x="0" y="655"/>
                  </a:lnTo>
                  <a:lnTo>
                    <a:pt x="0" y="644"/>
                  </a:lnTo>
                  <a:lnTo>
                    <a:pt x="11" y="644"/>
                  </a:lnTo>
                  <a:close/>
                  <a:moveTo>
                    <a:pt x="11" y="665"/>
                  </a:moveTo>
                  <a:lnTo>
                    <a:pt x="11" y="676"/>
                  </a:lnTo>
                  <a:lnTo>
                    <a:pt x="0" y="676"/>
                  </a:lnTo>
                  <a:lnTo>
                    <a:pt x="0" y="665"/>
                  </a:lnTo>
                  <a:lnTo>
                    <a:pt x="11" y="665"/>
                  </a:lnTo>
                  <a:close/>
                  <a:moveTo>
                    <a:pt x="11" y="687"/>
                  </a:moveTo>
                  <a:lnTo>
                    <a:pt x="11" y="698"/>
                  </a:lnTo>
                  <a:lnTo>
                    <a:pt x="0" y="698"/>
                  </a:lnTo>
                  <a:lnTo>
                    <a:pt x="0" y="687"/>
                  </a:lnTo>
                  <a:lnTo>
                    <a:pt x="11" y="687"/>
                  </a:lnTo>
                  <a:close/>
                  <a:moveTo>
                    <a:pt x="11" y="708"/>
                  </a:moveTo>
                  <a:lnTo>
                    <a:pt x="11" y="719"/>
                  </a:lnTo>
                  <a:lnTo>
                    <a:pt x="0" y="719"/>
                  </a:lnTo>
                  <a:lnTo>
                    <a:pt x="0" y="708"/>
                  </a:lnTo>
                  <a:lnTo>
                    <a:pt x="11" y="708"/>
                  </a:lnTo>
                  <a:close/>
                  <a:moveTo>
                    <a:pt x="11" y="730"/>
                  </a:moveTo>
                  <a:lnTo>
                    <a:pt x="11" y="740"/>
                  </a:lnTo>
                  <a:lnTo>
                    <a:pt x="0" y="740"/>
                  </a:lnTo>
                  <a:lnTo>
                    <a:pt x="0" y="730"/>
                  </a:lnTo>
                  <a:lnTo>
                    <a:pt x="11" y="730"/>
                  </a:lnTo>
                  <a:close/>
                  <a:moveTo>
                    <a:pt x="11" y="751"/>
                  </a:moveTo>
                  <a:lnTo>
                    <a:pt x="11" y="762"/>
                  </a:lnTo>
                  <a:lnTo>
                    <a:pt x="0" y="762"/>
                  </a:lnTo>
                  <a:lnTo>
                    <a:pt x="0" y="751"/>
                  </a:lnTo>
                  <a:lnTo>
                    <a:pt x="11" y="751"/>
                  </a:lnTo>
                  <a:close/>
                  <a:moveTo>
                    <a:pt x="11" y="773"/>
                  </a:moveTo>
                  <a:lnTo>
                    <a:pt x="11" y="783"/>
                  </a:lnTo>
                  <a:lnTo>
                    <a:pt x="0" y="783"/>
                  </a:lnTo>
                  <a:lnTo>
                    <a:pt x="0" y="773"/>
                  </a:lnTo>
                  <a:lnTo>
                    <a:pt x="11" y="773"/>
                  </a:lnTo>
                  <a:close/>
                  <a:moveTo>
                    <a:pt x="11" y="794"/>
                  </a:moveTo>
                  <a:lnTo>
                    <a:pt x="11" y="805"/>
                  </a:lnTo>
                  <a:lnTo>
                    <a:pt x="0" y="805"/>
                  </a:lnTo>
                  <a:lnTo>
                    <a:pt x="0" y="794"/>
                  </a:lnTo>
                  <a:lnTo>
                    <a:pt x="11" y="794"/>
                  </a:lnTo>
                  <a:close/>
                  <a:moveTo>
                    <a:pt x="11" y="816"/>
                  </a:moveTo>
                  <a:lnTo>
                    <a:pt x="11" y="826"/>
                  </a:lnTo>
                  <a:lnTo>
                    <a:pt x="0" y="826"/>
                  </a:lnTo>
                  <a:lnTo>
                    <a:pt x="0" y="816"/>
                  </a:lnTo>
                  <a:lnTo>
                    <a:pt x="11" y="816"/>
                  </a:lnTo>
                  <a:close/>
                  <a:moveTo>
                    <a:pt x="11" y="837"/>
                  </a:moveTo>
                  <a:lnTo>
                    <a:pt x="11" y="848"/>
                  </a:lnTo>
                  <a:lnTo>
                    <a:pt x="0" y="848"/>
                  </a:lnTo>
                  <a:lnTo>
                    <a:pt x="0" y="837"/>
                  </a:lnTo>
                  <a:lnTo>
                    <a:pt x="11" y="837"/>
                  </a:lnTo>
                  <a:close/>
                  <a:moveTo>
                    <a:pt x="11" y="859"/>
                  </a:moveTo>
                  <a:lnTo>
                    <a:pt x="11" y="869"/>
                  </a:lnTo>
                  <a:lnTo>
                    <a:pt x="0" y="869"/>
                  </a:lnTo>
                  <a:lnTo>
                    <a:pt x="0" y="859"/>
                  </a:lnTo>
                  <a:lnTo>
                    <a:pt x="11" y="859"/>
                  </a:lnTo>
                  <a:close/>
                  <a:moveTo>
                    <a:pt x="11" y="880"/>
                  </a:moveTo>
                  <a:lnTo>
                    <a:pt x="11" y="891"/>
                  </a:lnTo>
                  <a:lnTo>
                    <a:pt x="0" y="891"/>
                  </a:lnTo>
                  <a:lnTo>
                    <a:pt x="0" y="880"/>
                  </a:lnTo>
                  <a:lnTo>
                    <a:pt x="11" y="880"/>
                  </a:lnTo>
                  <a:close/>
                  <a:moveTo>
                    <a:pt x="11" y="901"/>
                  </a:moveTo>
                  <a:lnTo>
                    <a:pt x="11" y="912"/>
                  </a:lnTo>
                  <a:lnTo>
                    <a:pt x="0" y="912"/>
                  </a:lnTo>
                  <a:lnTo>
                    <a:pt x="0" y="901"/>
                  </a:lnTo>
                  <a:lnTo>
                    <a:pt x="11" y="901"/>
                  </a:lnTo>
                  <a:close/>
                  <a:moveTo>
                    <a:pt x="11" y="923"/>
                  </a:moveTo>
                  <a:lnTo>
                    <a:pt x="11" y="933"/>
                  </a:lnTo>
                  <a:lnTo>
                    <a:pt x="0" y="933"/>
                  </a:lnTo>
                  <a:lnTo>
                    <a:pt x="0" y="923"/>
                  </a:lnTo>
                  <a:lnTo>
                    <a:pt x="11" y="923"/>
                  </a:lnTo>
                  <a:close/>
                  <a:moveTo>
                    <a:pt x="11" y="944"/>
                  </a:moveTo>
                  <a:lnTo>
                    <a:pt x="11" y="955"/>
                  </a:lnTo>
                  <a:lnTo>
                    <a:pt x="0" y="955"/>
                  </a:lnTo>
                  <a:lnTo>
                    <a:pt x="0" y="944"/>
                  </a:lnTo>
                  <a:lnTo>
                    <a:pt x="11" y="944"/>
                  </a:lnTo>
                  <a:close/>
                  <a:moveTo>
                    <a:pt x="11" y="966"/>
                  </a:moveTo>
                  <a:lnTo>
                    <a:pt x="11" y="976"/>
                  </a:lnTo>
                  <a:lnTo>
                    <a:pt x="0" y="976"/>
                  </a:lnTo>
                  <a:lnTo>
                    <a:pt x="0" y="966"/>
                  </a:lnTo>
                  <a:lnTo>
                    <a:pt x="11" y="966"/>
                  </a:lnTo>
                  <a:close/>
                  <a:moveTo>
                    <a:pt x="11" y="987"/>
                  </a:moveTo>
                  <a:lnTo>
                    <a:pt x="11" y="998"/>
                  </a:lnTo>
                  <a:lnTo>
                    <a:pt x="0" y="998"/>
                  </a:lnTo>
                  <a:lnTo>
                    <a:pt x="0" y="987"/>
                  </a:lnTo>
                  <a:lnTo>
                    <a:pt x="11" y="987"/>
                  </a:lnTo>
                  <a:close/>
                  <a:moveTo>
                    <a:pt x="11" y="1009"/>
                  </a:moveTo>
                  <a:lnTo>
                    <a:pt x="11" y="1019"/>
                  </a:lnTo>
                  <a:lnTo>
                    <a:pt x="0" y="1019"/>
                  </a:lnTo>
                  <a:lnTo>
                    <a:pt x="0" y="1009"/>
                  </a:lnTo>
                  <a:lnTo>
                    <a:pt x="11" y="1009"/>
                  </a:lnTo>
                  <a:close/>
                  <a:moveTo>
                    <a:pt x="11" y="1030"/>
                  </a:moveTo>
                  <a:lnTo>
                    <a:pt x="11" y="1041"/>
                  </a:lnTo>
                  <a:lnTo>
                    <a:pt x="0" y="1041"/>
                  </a:lnTo>
                  <a:lnTo>
                    <a:pt x="0" y="1030"/>
                  </a:lnTo>
                  <a:lnTo>
                    <a:pt x="11" y="1030"/>
                  </a:lnTo>
                  <a:close/>
                  <a:moveTo>
                    <a:pt x="11" y="1052"/>
                  </a:moveTo>
                  <a:lnTo>
                    <a:pt x="11" y="1062"/>
                  </a:lnTo>
                  <a:lnTo>
                    <a:pt x="0" y="1062"/>
                  </a:lnTo>
                  <a:lnTo>
                    <a:pt x="0" y="1052"/>
                  </a:lnTo>
                  <a:lnTo>
                    <a:pt x="11" y="1052"/>
                  </a:lnTo>
                  <a:close/>
                  <a:moveTo>
                    <a:pt x="11" y="1073"/>
                  </a:moveTo>
                  <a:lnTo>
                    <a:pt x="11" y="1084"/>
                  </a:lnTo>
                  <a:lnTo>
                    <a:pt x="0" y="1084"/>
                  </a:lnTo>
                  <a:lnTo>
                    <a:pt x="0" y="1073"/>
                  </a:lnTo>
                  <a:lnTo>
                    <a:pt x="11" y="1073"/>
                  </a:lnTo>
                  <a:close/>
                  <a:moveTo>
                    <a:pt x="11" y="1094"/>
                  </a:moveTo>
                  <a:lnTo>
                    <a:pt x="11" y="1105"/>
                  </a:lnTo>
                  <a:lnTo>
                    <a:pt x="0" y="1105"/>
                  </a:lnTo>
                  <a:lnTo>
                    <a:pt x="0" y="1094"/>
                  </a:lnTo>
                  <a:lnTo>
                    <a:pt x="11" y="1094"/>
                  </a:lnTo>
                  <a:close/>
                  <a:moveTo>
                    <a:pt x="11" y="1116"/>
                  </a:moveTo>
                  <a:lnTo>
                    <a:pt x="11" y="1127"/>
                  </a:lnTo>
                  <a:lnTo>
                    <a:pt x="0" y="1127"/>
                  </a:lnTo>
                  <a:lnTo>
                    <a:pt x="0" y="1116"/>
                  </a:lnTo>
                  <a:lnTo>
                    <a:pt x="11" y="1116"/>
                  </a:lnTo>
                  <a:close/>
                  <a:moveTo>
                    <a:pt x="11" y="1137"/>
                  </a:moveTo>
                  <a:lnTo>
                    <a:pt x="11" y="1148"/>
                  </a:lnTo>
                  <a:lnTo>
                    <a:pt x="0" y="1148"/>
                  </a:lnTo>
                  <a:lnTo>
                    <a:pt x="0" y="1137"/>
                  </a:lnTo>
                  <a:lnTo>
                    <a:pt x="11" y="1137"/>
                  </a:lnTo>
                  <a:close/>
                  <a:moveTo>
                    <a:pt x="11" y="1159"/>
                  </a:moveTo>
                  <a:lnTo>
                    <a:pt x="11" y="1169"/>
                  </a:lnTo>
                  <a:lnTo>
                    <a:pt x="0" y="1169"/>
                  </a:lnTo>
                  <a:lnTo>
                    <a:pt x="0" y="1159"/>
                  </a:lnTo>
                  <a:lnTo>
                    <a:pt x="11" y="1159"/>
                  </a:lnTo>
                  <a:close/>
                  <a:moveTo>
                    <a:pt x="11" y="1180"/>
                  </a:moveTo>
                  <a:lnTo>
                    <a:pt x="11" y="1191"/>
                  </a:lnTo>
                  <a:lnTo>
                    <a:pt x="0" y="1191"/>
                  </a:lnTo>
                  <a:lnTo>
                    <a:pt x="0" y="1180"/>
                  </a:lnTo>
                  <a:lnTo>
                    <a:pt x="11" y="1180"/>
                  </a:lnTo>
                  <a:close/>
                  <a:moveTo>
                    <a:pt x="11" y="1202"/>
                  </a:moveTo>
                  <a:lnTo>
                    <a:pt x="11" y="1212"/>
                  </a:lnTo>
                  <a:lnTo>
                    <a:pt x="0" y="1212"/>
                  </a:lnTo>
                  <a:lnTo>
                    <a:pt x="0" y="1202"/>
                  </a:lnTo>
                  <a:lnTo>
                    <a:pt x="11" y="1202"/>
                  </a:lnTo>
                  <a:close/>
                  <a:moveTo>
                    <a:pt x="11" y="1223"/>
                  </a:moveTo>
                  <a:lnTo>
                    <a:pt x="11" y="1234"/>
                  </a:lnTo>
                  <a:lnTo>
                    <a:pt x="0" y="1234"/>
                  </a:lnTo>
                  <a:lnTo>
                    <a:pt x="0" y="1223"/>
                  </a:lnTo>
                  <a:lnTo>
                    <a:pt x="11" y="1223"/>
                  </a:lnTo>
                  <a:close/>
                  <a:moveTo>
                    <a:pt x="11" y="1245"/>
                  </a:moveTo>
                  <a:lnTo>
                    <a:pt x="11" y="1255"/>
                  </a:lnTo>
                  <a:lnTo>
                    <a:pt x="0" y="1255"/>
                  </a:lnTo>
                  <a:lnTo>
                    <a:pt x="0" y="1245"/>
                  </a:lnTo>
                  <a:lnTo>
                    <a:pt x="11" y="1245"/>
                  </a:lnTo>
                  <a:close/>
                  <a:moveTo>
                    <a:pt x="11" y="1266"/>
                  </a:moveTo>
                  <a:lnTo>
                    <a:pt x="11" y="1277"/>
                  </a:lnTo>
                  <a:lnTo>
                    <a:pt x="0" y="1277"/>
                  </a:lnTo>
                  <a:lnTo>
                    <a:pt x="0" y="1266"/>
                  </a:lnTo>
                  <a:lnTo>
                    <a:pt x="11" y="1266"/>
                  </a:lnTo>
                  <a:close/>
                  <a:moveTo>
                    <a:pt x="11" y="1287"/>
                  </a:moveTo>
                  <a:lnTo>
                    <a:pt x="11" y="1298"/>
                  </a:lnTo>
                  <a:lnTo>
                    <a:pt x="0" y="1298"/>
                  </a:lnTo>
                  <a:lnTo>
                    <a:pt x="0" y="1287"/>
                  </a:lnTo>
                  <a:lnTo>
                    <a:pt x="11" y="1287"/>
                  </a:lnTo>
                  <a:close/>
                  <a:moveTo>
                    <a:pt x="11" y="1309"/>
                  </a:moveTo>
                  <a:lnTo>
                    <a:pt x="11" y="1320"/>
                  </a:lnTo>
                  <a:lnTo>
                    <a:pt x="0" y="1320"/>
                  </a:lnTo>
                  <a:lnTo>
                    <a:pt x="0" y="1309"/>
                  </a:lnTo>
                  <a:lnTo>
                    <a:pt x="11" y="1309"/>
                  </a:lnTo>
                  <a:close/>
                  <a:moveTo>
                    <a:pt x="11" y="1330"/>
                  </a:moveTo>
                  <a:lnTo>
                    <a:pt x="11" y="1341"/>
                  </a:lnTo>
                  <a:lnTo>
                    <a:pt x="0" y="1341"/>
                  </a:lnTo>
                  <a:lnTo>
                    <a:pt x="0" y="1330"/>
                  </a:lnTo>
                  <a:lnTo>
                    <a:pt x="11" y="1330"/>
                  </a:lnTo>
                  <a:close/>
                  <a:moveTo>
                    <a:pt x="11" y="1352"/>
                  </a:moveTo>
                  <a:lnTo>
                    <a:pt x="11" y="1363"/>
                  </a:lnTo>
                  <a:lnTo>
                    <a:pt x="0" y="1363"/>
                  </a:lnTo>
                  <a:lnTo>
                    <a:pt x="0" y="1352"/>
                  </a:lnTo>
                  <a:lnTo>
                    <a:pt x="11" y="1352"/>
                  </a:lnTo>
                  <a:close/>
                  <a:moveTo>
                    <a:pt x="11" y="1373"/>
                  </a:moveTo>
                  <a:lnTo>
                    <a:pt x="11" y="1384"/>
                  </a:lnTo>
                  <a:lnTo>
                    <a:pt x="0" y="1384"/>
                  </a:lnTo>
                  <a:lnTo>
                    <a:pt x="0" y="1373"/>
                  </a:lnTo>
                  <a:lnTo>
                    <a:pt x="11" y="1373"/>
                  </a:lnTo>
                  <a:close/>
                  <a:moveTo>
                    <a:pt x="11" y="1395"/>
                  </a:moveTo>
                  <a:lnTo>
                    <a:pt x="11" y="1406"/>
                  </a:lnTo>
                  <a:lnTo>
                    <a:pt x="0" y="1406"/>
                  </a:lnTo>
                  <a:lnTo>
                    <a:pt x="0" y="1395"/>
                  </a:lnTo>
                  <a:lnTo>
                    <a:pt x="11" y="1395"/>
                  </a:lnTo>
                  <a:close/>
                  <a:moveTo>
                    <a:pt x="11" y="1416"/>
                  </a:moveTo>
                  <a:lnTo>
                    <a:pt x="11" y="1427"/>
                  </a:lnTo>
                  <a:lnTo>
                    <a:pt x="0" y="1427"/>
                  </a:lnTo>
                  <a:lnTo>
                    <a:pt x="0" y="1416"/>
                  </a:lnTo>
                  <a:lnTo>
                    <a:pt x="11" y="1416"/>
                  </a:lnTo>
                  <a:close/>
                  <a:moveTo>
                    <a:pt x="11" y="1438"/>
                  </a:moveTo>
                  <a:lnTo>
                    <a:pt x="11" y="1448"/>
                  </a:lnTo>
                  <a:lnTo>
                    <a:pt x="0" y="1448"/>
                  </a:lnTo>
                  <a:lnTo>
                    <a:pt x="0" y="1438"/>
                  </a:lnTo>
                  <a:lnTo>
                    <a:pt x="11" y="1438"/>
                  </a:lnTo>
                  <a:close/>
                  <a:moveTo>
                    <a:pt x="11" y="1459"/>
                  </a:moveTo>
                  <a:lnTo>
                    <a:pt x="11" y="1470"/>
                  </a:lnTo>
                  <a:lnTo>
                    <a:pt x="0" y="1470"/>
                  </a:lnTo>
                  <a:lnTo>
                    <a:pt x="0" y="1459"/>
                  </a:lnTo>
                  <a:lnTo>
                    <a:pt x="11" y="1459"/>
                  </a:lnTo>
                  <a:close/>
                  <a:moveTo>
                    <a:pt x="11" y="1480"/>
                  </a:moveTo>
                  <a:lnTo>
                    <a:pt x="11" y="1491"/>
                  </a:lnTo>
                  <a:lnTo>
                    <a:pt x="0" y="1491"/>
                  </a:lnTo>
                  <a:lnTo>
                    <a:pt x="0" y="1480"/>
                  </a:lnTo>
                  <a:lnTo>
                    <a:pt x="11" y="1480"/>
                  </a:lnTo>
                  <a:close/>
                  <a:moveTo>
                    <a:pt x="11" y="1502"/>
                  </a:moveTo>
                  <a:lnTo>
                    <a:pt x="11" y="1513"/>
                  </a:lnTo>
                  <a:lnTo>
                    <a:pt x="0" y="1513"/>
                  </a:lnTo>
                  <a:lnTo>
                    <a:pt x="0" y="1502"/>
                  </a:lnTo>
                  <a:lnTo>
                    <a:pt x="11" y="1502"/>
                  </a:lnTo>
                  <a:close/>
                  <a:moveTo>
                    <a:pt x="11" y="1523"/>
                  </a:moveTo>
                  <a:lnTo>
                    <a:pt x="11" y="1534"/>
                  </a:lnTo>
                  <a:lnTo>
                    <a:pt x="0" y="1534"/>
                  </a:lnTo>
                  <a:lnTo>
                    <a:pt x="0" y="1523"/>
                  </a:lnTo>
                  <a:lnTo>
                    <a:pt x="11" y="1523"/>
                  </a:lnTo>
                  <a:close/>
                  <a:moveTo>
                    <a:pt x="11" y="1545"/>
                  </a:moveTo>
                  <a:lnTo>
                    <a:pt x="11" y="1556"/>
                  </a:lnTo>
                  <a:lnTo>
                    <a:pt x="0" y="1556"/>
                  </a:lnTo>
                  <a:lnTo>
                    <a:pt x="0" y="1545"/>
                  </a:lnTo>
                  <a:lnTo>
                    <a:pt x="11" y="1545"/>
                  </a:lnTo>
                  <a:close/>
                  <a:moveTo>
                    <a:pt x="11" y="1566"/>
                  </a:moveTo>
                  <a:lnTo>
                    <a:pt x="11" y="1577"/>
                  </a:lnTo>
                  <a:lnTo>
                    <a:pt x="0" y="1577"/>
                  </a:lnTo>
                  <a:lnTo>
                    <a:pt x="0" y="1566"/>
                  </a:lnTo>
                  <a:lnTo>
                    <a:pt x="11" y="1566"/>
                  </a:lnTo>
                  <a:close/>
                  <a:moveTo>
                    <a:pt x="11" y="1588"/>
                  </a:moveTo>
                  <a:lnTo>
                    <a:pt x="11" y="1599"/>
                  </a:lnTo>
                  <a:lnTo>
                    <a:pt x="0" y="1599"/>
                  </a:lnTo>
                  <a:lnTo>
                    <a:pt x="0" y="1588"/>
                  </a:lnTo>
                  <a:lnTo>
                    <a:pt x="11" y="1588"/>
                  </a:lnTo>
                  <a:close/>
                  <a:moveTo>
                    <a:pt x="11" y="1609"/>
                  </a:moveTo>
                  <a:lnTo>
                    <a:pt x="11" y="1620"/>
                  </a:lnTo>
                  <a:lnTo>
                    <a:pt x="0" y="1620"/>
                  </a:lnTo>
                  <a:lnTo>
                    <a:pt x="0" y="1609"/>
                  </a:lnTo>
                  <a:lnTo>
                    <a:pt x="11" y="1609"/>
                  </a:lnTo>
                  <a:close/>
                  <a:moveTo>
                    <a:pt x="11" y="1631"/>
                  </a:moveTo>
                  <a:lnTo>
                    <a:pt x="11" y="1641"/>
                  </a:lnTo>
                  <a:lnTo>
                    <a:pt x="0" y="1641"/>
                  </a:lnTo>
                  <a:lnTo>
                    <a:pt x="0" y="1631"/>
                  </a:lnTo>
                  <a:lnTo>
                    <a:pt x="11" y="1631"/>
                  </a:lnTo>
                  <a:close/>
                  <a:moveTo>
                    <a:pt x="11" y="1652"/>
                  </a:moveTo>
                  <a:lnTo>
                    <a:pt x="11" y="1663"/>
                  </a:lnTo>
                  <a:lnTo>
                    <a:pt x="0" y="1663"/>
                  </a:lnTo>
                  <a:lnTo>
                    <a:pt x="0" y="1652"/>
                  </a:lnTo>
                  <a:lnTo>
                    <a:pt x="11" y="1652"/>
                  </a:lnTo>
                  <a:close/>
                  <a:moveTo>
                    <a:pt x="11" y="1673"/>
                  </a:moveTo>
                  <a:lnTo>
                    <a:pt x="11" y="1684"/>
                  </a:lnTo>
                  <a:lnTo>
                    <a:pt x="0" y="1684"/>
                  </a:lnTo>
                  <a:lnTo>
                    <a:pt x="0" y="1673"/>
                  </a:lnTo>
                  <a:lnTo>
                    <a:pt x="11" y="1673"/>
                  </a:lnTo>
                  <a:close/>
                  <a:moveTo>
                    <a:pt x="11" y="1695"/>
                  </a:moveTo>
                  <a:lnTo>
                    <a:pt x="11" y="1706"/>
                  </a:lnTo>
                  <a:lnTo>
                    <a:pt x="0" y="1706"/>
                  </a:lnTo>
                  <a:lnTo>
                    <a:pt x="0" y="1695"/>
                  </a:lnTo>
                  <a:lnTo>
                    <a:pt x="11" y="1695"/>
                  </a:lnTo>
                  <a:close/>
                  <a:moveTo>
                    <a:pt x="11" y="1716"/>
                  </a:moveTo>
                  <a:lnTo>
                    <a:pt x="11" y="1727"/>
                  </a:lnTo>
                  <a:lnTo>
                    <a:pt x="0" y="1727"/>
                  </a:lnTo>
                  <a:lnTo>
                    <a:pt x="0" y="1716"/>
                  </a:lnTo>
                  <a:lnTo>
                    <a:pt x="11" y="1716"/>
                  </a:lnTo>
                  <a:close/>
                  <a:moveTo>
                    <a:pt x="11" y="1738"/>
                  </a:moveTo>
                  <a:lnTo>
                    <a:pt x="11" y="1749"/>
                  </a:lnTo>
                  <a:lnTo>
                    <a:pt x="0" y="1749"/>
                  </a:lnTo>
                  <a:lnTo>
                    <a:pt x="0" y="1738"/>
                  </a:lnTo>
                  <a:lnTo>
                    <a:pt x="11" y="1738"/>
                  </a:lnTo>
                  <a:close/>
                  <a:moveTo>
                    <a:pt x="11" y="1759"/>
                  </a:moveTo>
                  <a:lnTo>
                    <a:pt x="11" y="1770"/>
                  </a:lnTo>
                  <a:lnTo>
                    <a:pt x="0" y="1770"/>
                  </a:lnTo>
                  <a:lnTo>
                    <a:pt x="0" y="1759"/>
                  </a:lnTo>
                  <a:lnTo>
                    <a:pt x="11" y="1759"/>
                  </a:lnTo>
                  <a:close/>
                  <a:moveTo>
                    <a:pt x="11" y="1781"/>
                  </a:moveTo>
                  <a:lnTo>
                    <a:pt x="11" y="1792"/>
                  </a:lnTo>
                  <a:lnTo>
                    <a:pt x="0" y="1792"/>
                  </a:lnTo>
                  <a:lnTo>
                    <a:pt x="0" y="1781"/>
                  </a:lnTo>
                  <a:lnTo>
                    <a:pt x="11" y="1781"/>
                  </a:lnTo>
                  <a:close/>
                  <a:moveTo>
                    <a:pt x="11" y="1802"/>
                  </a:moveTo>
                  <a:lnTo>
                    <a:pt x="11" y="1813"/>
                  </a:lnTo>
                  <a:lnTo>
                    <a:pt x="0" y="1813"/>
                  </a:lnTo>
                  <a:lnTo>
                    <a:pt x="0" y="1802"/>
                  </a:lnTo>
                  <a:lnTo>
                    <a:pt x="11" y="1802"/>
                  </a:lnTo>
                  <a:close/>
                  <a:moveTo>
                    <a:pt x="11" y="1824"/>
                  </a:moveTo>
                  <a:lnTo>
                    <a:pt x="11" y="1834"/>
                  </a:lnTo>
                  <a:lnTo>
                    <a:pt x="0" y="1834"/>
                  </a:lnTo>
                  <a:lnTo>
                    <a:pt x="0" y="1824"/>
                  </a:lnTo>
                  <a:lnTo>
                    <a:pt x="11" y="1824"/>
                  </a:lnTo>
                  <a:close/>
                  <a:moveTo>
                    <a:pt x="11" y="1845"/>
                  </a:moveTo>
                  <a:lnTo>
                    <a:pt x="11" y="1856"/>
                  </a:lnTo>
                  <a:lnTo>
                    <a:pt x="0" y="1856"/>
                  </a:lnTo>
                  <a:lnTo>
                    <a:pt x="0" y="1845"/>
                  </a:lnTo>
                  <a:lnTo>
                    <a:pt x="11" y="1845"/>
                  </a:lnTo>
                  <a:close/>
                  <a:moveTo>
                    <a:pt x="11" y="1867"/>
                  </a:moveTo>
                  <a:lnTo>
                    <a:pt x="11" y="1877"/>
                  </a:lnTo>
                  <a:lnTo>
                    <a:pt x="0" y="1877"/>
                  </a:lnTo>
                  <a:lnTo>
                    <a:pt x="0" y="1867"/>
                  </a:lnTo>
                  <a:lnTo>
                    <a:pt x="11" y="1867"/>
                  </a:lnTo>
                  <a:close/>
                  <a:moveTo>
                    <a:pt x="11" y="1888"/>
                  </a:moveTo>
                  <a:lnTo>
                    <a:pt x="11" y="1899"/>
                  </a:lnTo>
                  <a:lnTo>
                    <a:pt x="0" y="1899"/>
                  </a:lnTo>
                  <a:lnTo>
                    <a:pt x="0" y="1888"/>
                  </a:lnTo>
                  <a:lnTo>
                    <a:pt x="11" y="1888"/>
                  </a:lnTo>
                  <a:close/>
                  <a:moveTo>
                    <a:pt x="11" y="1910"/>
                  </a:moveTo>
                  <a:lnTo>
                    <a:pt x="11" y="1920"/>
                  </a:lnTo>
                  <a:lnTo>
                    <a:pt x="0" y="1920"/>
                  </a:lnTo>
                  <a:lnTo>
                    <a:pt x="0" y="1910"/>
                  </a:lnTo>
                  <a:lnTo>
                    <a:pt x="11" y="1910"/>
                  </a:lnTo>
                  <a:close/>
                  <a:moveTo>
                    <a:pt x="11" y="1931"/>
                  </a:moveTo>
                  <a:lnTo>
                    <a:pt x="11" y="1942"/>
                  </a:lnTo>
                  <a:lnTo>
                    <a:pt x="0" y="1942"/>
                  </a:lnTo>
                  <a:lnTo>
                    <a:pt x="0" y="1931"/>
                  </a:lnTo>
                  <a:lnTo>
                    <a:pt x="11" y="1931"/>
                  </a:lnTo>
                  <a:close/>
                  <a:moveTo>
                    <a:pt x="11" y="1952"/>
                  </a:moveTo>
                  <a:lnTo>
                    <a:pt x="11" y="1963"/>
                  </a:lnTo>
                  <a:lnTo>
                    <a:pt x="0" y="1963"/>
                  </a:lnTo>
                  <a:lnTo>
                    <a:pt x="0" y="1952"/>
                  </a:lnTo>
                  <a:lnTo>
                    <a:pt x="11" y="1952"/>
                  </a:lnTo>
                  <a:close/>
                  <a:moveTo>
                    <a:pt x="11" y="1974"/>
                  </a:moveTo>
                  <a:lnTo>
                    <a:pt x="11" y="1985"/>
                  </a:lnTo>
                  <a:lnTo>
                    <a:pt x="0" y="1985"/>
                  </a:lnTo>
                  <a:lnTo>
                    <a:pt x="0" y="1974"/>
                  </a:lnTo>
                  <a:lnTo>
                    <a:pt x="11" y="1974"/>
                  </a:lnTo>
                  <a:close/>
                  <a:moveTo>
                    <a:pt x="11" y="1995"/>
                  </a:moveTo>
                  <a:lnTo>
                    <a:pt x="11" y="2006"/>
                  </a:lnTo>
                  <a:lnTo>
                    <a:pt x="0" y="2006"/>
                  </a:lnTo>
                  <a:lnTo>
                    <a:pt x="0" y="1995"/>
                  </a:lnTo>
                  <a:lnTo>
                    <a:pt x="11" y="1995"/>
                  </a:lnTo>
                  <a:close/>
                  <a:moveTo>
                    <a:pt x="11" y="2017"/>
                  </a:moveTo>
                  <a:lnTo>
                    <a:pt x="11" y="2027"/>
                  </a:lnTo>
                  <a:lnTo>
                    <a:pt x="0" y="2027"/>
                  </a:lnTo>
                  <a:lnTo>
                    <a:pt x="0" y="2017"/>
                  </a:lnTo>
                  <a:lnTo>
                    <a:pt x="11" y="2017"/>
                  </a:lnTo>
                  <a:close/>
                  <a:moveTo>
                    <a:pt x="11" y="2038"/>
                  </a:moveTo>
                  <a:lnTo>
                    <a:pt x="11" y="2049"/>
                  </a:lnTo>
                  <a:lnTo>
                    <a:pt x="0" y="2049"/>
                  </a:lnTo>
                  <a:lnTo>
                    <a:pt x="0" y="2038"/>
                  </a:lnTo>
                  <a:lnTo>
                    <a:pt x="11" y="2038"/>
                  </a:lnTo>
                  <a:close/>
                  <a:moveTo>
                    <a:pt x="11" y="2060"/>
                  </a:moveTo>
                  <a:lnTo>
                    <a:pt x="11" y="2070"/>
                  </a:lnTo>
                  <a:lnTo>
                    <a:pt x="0" y="2070"/>
                  </a:lnTo>
                  <a:lnTo>
                    <a:pt x="0" y="2060"/>
                  </a:lnTo>
                  <a:lnTo>
                    <a:pt x="11" y="2060"/>
                  </a:lnTo>
                  <a:close/>
                  <a:moveTo>
                    <a:pt x="11" y="2081"/>
                  </a:moveTo>
                  <a:lnTo>
                    <a:pt x="11" y="2092"/>
                  </a:lnTo>
                  <a:lnTo>
                    <a:pt x="0" y="2092"/>
                  </a:lnTo>
                  <a:lnTo>
                    <a:pt x="0" y="2081"/>
                  </a:lnTo>
                  <a:lnTo>
                    <a:pt x="11" y="2081"/>
                  </a:lnTo>
                  <a:close/>
                  <a:moveTo>
                    <a:pt x="11" y="2103"/>
                  </a:moveTo>
                  <a:lnTo>
                    <a:pt x="11" y="2113"/>
                  </a:lnTo>
                  <a:lnTo>
                    <a:pt x="0" y="2113"/>
                  </a:lnTo>
                  <a:lnTo>
                    <a:pt x="0" y="2103"/>
                  </a:lnTo>
                  <a:lnTo>
                    <a:pt x="11" y="2103"/>
                  </a:lnTo>
                  <a:close/>
                  <a:moveTo>
                    <a:pt x="11" y="2124"/>
                  </a:moveTo>
                  <a:lnTo>
                    <a:pt x="11" y="2135"/>
                  </a:lnTo>
                  <a:lnTo>
                    <a:pt x="0" y="2135"/>
                  </a:lnTo>
                  <a:lnTo>
                    <a:pt x="0" y="2124"/>
                  </a:lnTo>
                  <a:lnTo>
                    <a:pt x="11" y="2124"/>
                  </a:lnTo>
                  <a:close/>
                  <a:moveTo>
                    <a:pt x="11" y="2146"/>
                  </a:moveTo>
                  <a:lnTo>
                    <a:pt x="11" y="2156"/>
                  </a:lnTo>
                  <a:lnTo>
                    <a:pt x="0" y="2156"/>
                  </a:lnTo>
                  <a:lnTo>
                    <a:pt x="0" y="2146"/>
                  </a:lnTo>
                  <a:lnTo>
                    <a:pt x="11" y="2146"/>
                  </a:lnTo>
                  <a:close/>
                  <a:moveTo>
                    <a:pt x="11" y="2167"/>
                  </a:moveTo>
                  <a:lnTo>
                    <a:pt x="11" y="2178"/>
                  </a:lnTo>
                  <a:lnTo>
                    <a:pt x="0" y="2178"/>
                  </a:lnTo>
                  <a:lnTo>
                    <a:pt x="0" y="2167"/>
                  </a:lnTo>
                  <a:lnTo>
                    <a:pt x="11" y="2167"/>
                  </a:lnTo>
                  <a:close/>
                  <a:moveTo>
                    <a:pt x="11" y="2188"/>
                  </a:moveTo>
                  <a:lnTo>
                    <a:pt x="11" y="2199"/>
                  </a:lnTo>
                  <a:lnTo>
                    <a:pt x="0" y="2199"/>
                  </a:lnTo>
                  <a:lnTo>
                    <a:pt x="0" y="2188"/>
                  </a:lnTo>
                  <a:lnTo>
                    <a:pt x="11" y="2188"/>
                  </a:lnTo>
                  <a:close/>
                  <a:moveTo>
                    <a:pt x="11" y="2210"/>
                  </a:moveTo>
                  <a:lnTo>
                    <a:pt x="11" y="2220"/>
                  </a:lnTo>
                  <a:lnTo>
                    <a:pt x="0" y="2220"/>
                  </a:lnTo>
                  <a:lnTo>
                    <a:pt x="0" y="2210"/>
                  </a:lnTo>
                  <a:lnTo>
                    <a:pt x="11" y="2210"/>
                  </a:lnTo>
                  <a:close/>
                  <a:moveTo>
                    <a:pt x="11" y="2231"/>
                  </a:moveTo>
                  <a:lnTo>
                    <a:pt x="11" y="2242"/>
                  </a:lnTo>
                  <a:lnTo>
                    <a:pt x="0" y="2242"/>
                  </a:lnTo>
                  <a:lnTo>
                    <a:pt x="0" y="2231"/>
                  </a:lnTo>
                  <a:lnTo>
                    <a:pt x="11" y="2231"/>
                  </a:lnTo>
                  <a:close/>
                  <a:moveTo>
                    <a:pt x="11" y="2253"/>
                  </a:moveTo>
                  <a:lnTo>
                    <a:pt x="11" y="2263"/>
                  </a:lnTo>
                  <a:lnTo>
                    <a:pt x="0" y="2263"/>
                  </a:lnTo>
                  <a:lnTo>
                    <a:pt x="0" y="2253"/>
                  </a:lnTo>
                  <a:lnTo>
                    <a:pt x="11" y="2253"/>
                  </a:lnTo>
                  <a:close/>
                  <a:moveTo>
                    <a:pt x="11" y="2274"/>
                  </a:moveTo>
                  <a:lnTo>
                    <a:pt x="11" y="2285"/>
                  </a:lnTo>
                  <a:lnTo>
                    <a:pt x="0" y="2285"/>
                  </a:lnTo>
                  <a:lnTo>
                    <a:pt x="0" y="2274"/>
                  </a:lnTo>
                  <a:lnTo>
                    <a:pt x="11" y="2274"/>
                  </a:lnTo>
                  <a:close/>
                </a:path>
              </a:pathLst>
            </a:custGeom>
            <a:solidFill>
              <a:srgbClr val="000000"/>
            </a:solidFill>
            <a:ln w="0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9" name="Freeform 93">
              <a:extLst>
                <a:ext uri="{FF2B5EF4-FFF2-40B4-BE49-F238E27FC236}">
                  <a16:creationId xmlns:a16="http://schemas.microsoft.com/office/drawing/2014/main" id="{48FDA731-3421-4694-AF7A-39932E08863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450" y="1913"/>
              <a:ext cx="11" cy="2285"/>
            </a:xfrm>
            <a:custGeom>
              <a:avLst/>
              <a:gdLst>
                <a:gd name="T0" fmla="*/ 0 w 11"/>
                <a:gd name="T1" fmla="*/ 22 h 2285"/>
                <a:gd name="T2" fmla="*/ 0 w 11"/>
                <a:gd name="T3" fmla="*/ 76 h 2285"/>
                <a:gd name="T4" fmla="*/ 11 w 11"/>
                <a:gd name="T5" fmla="*/ 119 h 2285"/>
                <a:gd name="T6" fmla="*/ 11 w 11"/>
                <a:gd name="T7" fmla="*/ 151 h 2285"/>
                <a:gd name="T8" fmla="*/ 11 w 11"/>
                <a:gd name="T9" fmla="*/ 172 h 2285"/>
                <a:gd name="T10" fmla="*/ 0 w 11"/>
                <a:gd name="T11" fmla="*/ 215 h 2285"/>
                <a:gd name="T12" fmla="*/ 0 w 11"/>
                <a:gd name="T13" fmla="*/ 269 h 2285"/>
                <a:gd name="T14" fmla="*/ 11 w 11"/>
                <a:gd name="T15" fmla="*/ 312 h 2285"/>
                <a:gd name="T16" fmla="*/ 11 w 11"/>
                <a:gd name="T17" fmla="*/ 344 h 2285"/>
                <a:gd name="T18" fmla="*/ 11 w 11"/>
                <a:gd name="T19" fmla="*/ 365 h 2285"/>
                <a:gd name="T20" fmla="*/ 0 w 11"/>
                <a:gd name="T21" fmla="*/ 408 h 2285"/>
                <a:gd name="T22" fmla="*/ 0 w 11"/>
                <a:gd name="T23" fmla="*/ 462 h 2285"/>
                <a:gd name="T24" fmla="*/ 11 w 11"/>
                <a:gd name="T25" fmla="*/ 505 h 2285"/>
                <a:gd name="T26" fmla="*/ 11 w 11"/>
                <a:gd name="T27" fmla="*/ 537 h 2285"/>
                <a:gd name="T28" fmla="*/ 11 w 11"/>
                <a:gd name="T29" fmla="*/ 558 h 2285"/>
                <a:gd name="T30" fmla="*/ 0 w 11"/>
                <a:gd name="T31" fmla="*/ 601 h 2285"/>
                <a:gd name="T32" fmla="*/ 0 w 11"/>
                <a:gd name="T33" fmla="*/ 655 h 2285"/>
                <a:gd name="T34" fmla="*/ 11 w 11"/>
                <a:gd name="T35" fmla="*/ 698 h 2285"/>
                <a:gd name="T36" fmla="*/ 11 w 11"/>
                <a:gd name="T37" fmla="*/ 730 h 2285"/>
                <a:gd name="T38" fmla="*/ 11 w 11"/>
                <a:gd name="T39" fmla="*/ 751 h 2285"/>
                <a:gd name="T40" fmla="*/ 0 w 11"/>
                <a:gd name="T41" fmla="*/ 794 h 2285"/>
                <a:gd name="T42" fmla="*/ 0 w 11"/>
                <a:gd name="T43" fmla="*/ 848 h 2285"/>
                <a:gd name="T44" fmla="*/ 11 w 11"/>
                <a:gd name="T45" fmla="*/ 891 h 2285"/>
                <a:gd name="T46" fmla="*/ 11 w 11"/>
                <a:gd name="T47" fmla="*/ 923 h 2285"/>
                <a:gd name="T48" fmla="*/ 11 w 11"/>
                <a:gd name="T49" fmla="*/ 944 h 2285"/>
                <a:gd name="T50" fmla="*/ 0 w 11"/>
                <a:gd name="T51" fmla="*/ 987 h 2285"/>
                <a:gd name="T52" fmla="*/ 0 w 11"/>
                <a:gd name="T53" fmla="*/ 1041 h 2285"/>
                <a:gd name="T54" fmla="*/ 11 w 11"/>
                <a:gd name="T55" fmla="*/ 1084 h 2285"/>
                <a:gd name="T56" fmla="*/ 11 w 11"/>
                <a:gd name="T57" fmla="*/ 1116 h 2285"/>
                <a:gd name="T58" fmla="*/ 11 w 11"/>
                <a:gd name="T59" fmla="*/ 1137 h 2285"/>
                <a:gd name="T60" fmla="*/ 0 w 11"/>
                <a:gd name="T61" fmla="*/ 1180 h 2285"/>
                <a:gd name="T62" fmla="*/ 0 w 11"/>
                <a:gd name="T63" fmla="*/ 1234 h 2285"/>
                <a:gd name="T64" fmla="*/ 11 w 11"/>
                <a:gd name="T65" fmla="*/ 1277 h 2285"/>
                <a:gd name="T66" fmla="*/ 11 w 11"/>
                <a:gd name="T67" fmla="*/ 1309 h 2285"/>
                <a:gd name="T68" fmla="*/ 11 w 11"/>
                <a:gd name="T69" fmla="*/ 1330 h 2285"/>
                <a:gd name="T70" fmla="*/ 0 w 11"/>
                <a:gd name="T71" fmla="*/ 1373 h 2285"/>
                <a:gd name="T72" fmla="*/ 0 w 11"/>
                <a:gd name="T73" fmla="*/ 1427 h 2285"/>
                <a:gd name="T74" fmla="*/ 11 w 11"/>
                <a:gd name="T75" fmla="*/ 1470 h 2285"/>
                <a:gd name="T76" fmla="*/ 11 w 11"/>
                <a:gd name="T77" fmla="*/ 1502 h 2285"/>
                <a:gd name="T78" fmla="*/ 11 w 11"/>
                <a:gd name="T79" fmla="*/ 1523 h 2285"/>
                <a:gd name="T80" fmla="*/ 0 w 11"/>
                <a:gd name="T81" fmla="*/ 1566 h 2285"/>
                <a:gd name="T82" fmla="*/ 0 w 11"/>
                <a:gd name="T83" fmla="*/ 1620 h 2285"/>
                <a:gd name="T84" fmla="*/ 11 w 11"/>
                <a:gd name="T85" fmla="*/ 1663 h 2285"/>
                <a:gd name="T86" fmla="*/ 11 w 11"/>
                <a:gd name="T87" fmla="*/ 1695 h 2285"/>
                <a:gd name="T88" fmla="*/ 11 w 11"/>
                <a:gd name="T89" fmla="*/ 1716 h 2285"/>
                <a:gd name="T90" fmla="*/ 0 w 11"/>
                <a:gd name="T91" fmla="*/ 1759 h 2285"/>
                <a:gd name="T92" fmla="*/ 0 w 11"/>
                <a:gd name="T93" fmla="*/ 1813 h 2285"/>
                <a:gd name="T94" fmla="*/ 11 w 11"/>
                <a:gd name="T95" fmla="*/ 1856 h 2285"/>
                <a:gd name="T96" fmla="*/ 11 w 11"/>
                <a:gd name="T97" fmla="*/ 1888 h 2285"/>
                <a:gd name="T98" fmla="*/ 11 w 11"/>
                <a:gd name="T99" fmla="*/ 1910 h 2285"/>
                <a:gd name="T100" fmla="*/ 0 w 11"/>
                <a:gd name="T101" fmla="*/ 1952 h 2285"/>
                <a:gd name="T102" fmla="*/ 0 w 11"/>
                <a:gd name="T103" fmla="*/ 2006 h 2285"/>
                <a:gd name="T104" fmla="*/ 11 w 11"/>
                <a:gd name="T105" fmla="*/ 2049 h 2285"/>
                <a:gd name="T106" fmla="*/ 11 w 11"/>
                <a:gd name="T107" fmla="*/ 2081 h 2285"/>
                <a:gd name="T108" fmla="*/ 11 w 11"/>
                <a:gd name="T109" fmla="*/ 2103 h 2285"/>
                <a:gd name="T110" fmla="*/ 0 w 11"/>
                <a:gd name="T111" fmla="*/ 2146 h 2285"/>
                <a:gd name="T112" fmla="*/ 0 w 11"/>
                <a:gd name="T113" fmla="*/ 2199 h 2285"/>
                <a:gd name="T114" fmla="*/ 11 w 11"/>
                <a:gd name="T115" fmla="*/ 2242 h 2285"/>
                <a:gd name="T116" fmla="*/ 11 w 11"/>
                <a:gd name="T117" fmla="*/ 2274 h 22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1" h="2285">
                  <a:moveTo>
                    <a:pt x="11" y="0"/>
                  </a:moveTo>
                  <a:lnTo>
                    <a:pt x="11" y="11"/>
                  </a:lnTo>
                  <a:lnTo>
                    <a:pt x="0" y="11"/>
                  </a:lnTo>
                  <a:lnTo>
                    <a:pt x="0" y="0"/>
                  </a:lnTo>
                  <a:lnTo>
                    <a:pt x="11" y="0"/>
                  </a:lnTo>
                  <a:close/>
                  <a:moveTo>
                    <a:pt x="11" y="22"/>
                  </a:moveTo>
                  <a:lnTo>
                    <a:pt x="11" y="33"/>
                  </a:lnTo>
                  <a:lnTo>
                    <a:pt x="0" y="33"/>
                  </a:lnTo>
                  <a:lnTo>
                    <a:pt x="0" y="22"/>
                  </a:lnTo>
                  <a:lnTo>
                    <a:pt x="11" y="22"/>
                  </a:lnTo>
                  <a:close/>
                  <a:moveTo>
                    <a:pt x="11" y="43"/>
                  </a:moveTo>
                  <a:lnTo>
                    <a:pt x="11" y="54"/>
                  </a:lnTo>
                  <a:lnTo>
                    <a:pt x="0" y="54"/>
                  </a:lnTo>
                  <a:lnTo>
                    <a:pt x="0" y="43"/>
                  </a:lnTo>
                  <a:lnTo>
                    <a:pt x="11" y="43"/>
                  </a:lnTo>
                  <a:close/>
                  <a:moveTo>
                    <a:pt x="11" y="65"/>
                  </a:moveTo>
                  <a:lnTo>
                    <a:pt x="11" y="76"/>
                  </a:lnTo>
                  <a:lnTo>
                    <a:pt x="0" y="76"/>
                  </a:lnTo>
                  <a:lnTo>
                    <a:pt x="0" y="65"/>
                  </a:lnTo>
                  <a:lnTo>
                    <a:pt x="11" y="65"/>
                  </a:lnTo>
                  <a:close/>
                  <a:moveTo>
                    <a:pt x="11" y="86"/>
                  </a:moveTo>
                  <a:lnTo>
                    <a:pt x="11" y="97"/>
                  </a:lnTo>
                  <a:lnTo>
                    <a:pt x="0" y="97"/>
                  </a:lnTo>
                  <a:lnTo>
                    <a:pt x="0" y="86"/>
                  </a:lnTo>
                  <a:lnTo>
                    <a:pt x="11" y="86"/>
                  </a:lnTo>
                  <a:close/>
                  <a:moveTo>
                    <a:pt x="11" y="108"/>
                  </a:moveTo>
                  <a:lnTo>
                    <a:pt x="11" y="119"/>
                  </a:lnTo>
                  <a:lnTo>
                    <a:pt x="0" y="119"/>
                  </a:lnTo>
                  <a:lnTo>
                    <a:pt x="0" y="108"/>
                  </a:lnTo>
                  <a:lnTo>
                    <a:pt x="11" y="108"/>
                  </a:lnTo>
                  <a:close/>
                  <a:moveTo>
                    <a:pt x="11" y="129"/>
                  </a:moveTo>
                  <a:lnTo>
                    <a:pt x="11" y="140"/>
                  </a:lnTo>
                  <a:lnTo>
                    <a:pt x="0" y="140"/>
                  </a:lnTo>
                  <a:lnTo>
                    <a:pt x="0" y="129"/>
                  </a:lnTo>
                  <a:lnTo>
                    <a:pt x="11" y="129"/>
                  </a:lnTo>
                  <a:close/>
                  <a:moveTo>
                    <a:pt x="11" y="151"/>
                  </a:moveTo>
                  <a:lnTo>
                    <a:pt x="11" y="161"/>
                  </a:lnTo>
                  <a:lnTo>
                    <a:pt x="0" y="161"/>
                  </a:lnTo>
                  <a:lnTo>
                    <a:pt x="0" y="151"/>
                  </a:lnTo>
                  <a:lnTo>
                    <a:pt x="11" y="151"/>
                  </a:lnTo>
                  <a:close/>
                  <a:moveTo>
                    <a:pt x="11" y="172"/>
                  </a:moveTo>
                  <a:lnTo>
                    <a:pt x="11" y="183"/>
                  </a:lnTo>
                  <a:lnTo>
                    <a:pt x="0" y="183"/>
                  </a:lnTo>
                  <a:lnTo>
                    <a:pt x="0" y="172"/>
                  </a:lnTo>
                  <a:lnTo>
                    <a:pt x="11" y="172"/>
                  </a:lnTo>
                  <a:close/>
                  <a:moveTo>
                    <a:pt x="11" y="193"/>
                  </a:moveTo>
                  <a:lnTo>
                    <a:pt x="11" y="204"/>
                  </a:lnTo>
                  <a:lnTo>
                    <a:pt x="0" y="204"/>
                  </a:lnTo>
                  <a:lnTo>
                    <a:pt x="0" y="193"/>
                  </a:lnTo>
                  <a:lnTo>
                    <a:pt x="11" y="193"/>
                  </a:lnTo>
                  <a:close/>
                  <a:moveTo>
                    <a:pt x="11" y="215"/>
                  </a:moveTo>
                  <a:lnTo>
                    <a:pt x="11" y="226"/>
                  </a:lnTo>
                  <a:lnTo>
                    <a:pt x="0" y="226"/>
                  </a:lnTo>
                  <a:lnTo>
                    <a:pt x="0" y="215"/>
                  </a:lnTo>
                  <a:lnTo>
                    <a:pt x="11" y="215"/>
                  </a:lnTo>
                  <a:close/>
                  <a:moveTo>
                    <a:pt x="11" y="236"/>
                  </a:moveTo>
                  <a:lnTo>
                    <a:pt x="11" y="247"/>
                  </a:lnTo>
                  <a:lnTo>
                    <a:pt x="0" y="247"/>
                  </a:lnTo>
                  <a:lnTo>
                    <a:pt x="0" y="236"/>
                  </a:lnTo>
                  <a:lnTo>
                    <a:pt x="11" y="236"/>
                  </a:lnTo>
                  <a:close/>
                  <a:moveTo>
                    <a:pt x="11" y="258"/>
                  </a:moveTo>
                  <a:lnTo>
                    <a:pt x="11" y="269"/>
                  </a:lnTo>
                  <a:lnTo>
                    <a:pt x="0" y="269"/>
                  </a:lnTo>
                  <a:lnTo>
                    <a:pt x="0" y="258"/>
                  </a:lnTo>
                  <a:lnTo>
                    <a:pt x="11" y="258"/>
                  </a:lnTo>
                  <a:close/>
                  <a:moveTo>
                    <a:pt x="11" y="279"/>
                  </a:moveTo>
                  <a:lnTo>
                    <a:pt x="11" y="290"/>
                  </a:lnTo>
                  <a:lnTo>
                    <a:pt x="0" y="290"/>
                  </a:lnTo>
                  <a:lnTo>
                    <a:pt x="0" y="279"/>
                  </a:lnTo>
                  <a:lnTo>
                    <a:pt x="11" y="279"/>
                  </a:lnTo>
                  <a:close/>
                  <a:moveTo>
                    <a:pt x="11" y="301"/>
                  </a:moveTo>
                  <a:lnTo>
                    <a:pt x="11" y="312"/>
                  </a:lnTo>
                  <a:lnTo>
                    <a:pt x="0" y="312"/>
                  </a:lnTo>
                  <a:lnTo>
                    <a:pt x="0" y="301"/>
                  </a:lnTo>
                  <a:lnTo>
                    <a:pt x="11" y="301"/>
                  </a:lnTo>
                  <a:close/>
                  <a:moveTo>
                    <a:pt x="11" y="322"/>
                  </a:moveTo>
                  <a:lnTo>
                    <a:pt x="11" y="333"/>
                  </a:lnTo>
                  <a:lnTo>
                    <a:pt x="0" y="333"/>
                  </a:lnTo>
                  <a:lnTo>
                    <a:pt x="0" y="322"/>
                  </a:lnTo>
                  <a:lnTo>
                    <a:pt x="11" y="322"/>
                  </a:lnTo>
                  <a:close/>
                  <a:moveTo>
                    <a:pt x="11" y="344"/>
                  </a:moveTo>
                  <a:lnTo>
                    <a:pt x="11" y="354"/>
                  </a:lnTo>
                  <a:lnTo>
                    <a:pt x="0" y="354"/>
                  </a:lnTo>
                  <a:lnTo>
                    <a:pt x="0" y="344"/>
                  </a:lnTo>
                  <a:lnTo>
                    <a:pt x="11" y="344"/>
                  </a:lnTo>
                  <a:close/>
                  <a:moveTo>
                    <a:pt x="11" y="365"/>
                  </a:moveTo>
                  <a:lnTo>
                    <a:pt x="11" y="376"/>
                  </a:lnTo>
                  <a:lnTo>
                    <a:pt x="0" y="376"/>
                  </a:lnTo>
                  <a:lnTo>
                    <a:pt x="0" y="365"/>
                  </a:lnTo>
                  <a:lnTo>
                    <a:pt x="11" y="365"/>
                  </a:lnTo>
                  <a:close/>
                  <a:moveTo>
                    <a:pt x="11" y="386"/>
                  </a:moveTo>
                  <a:lnTo>
                    <a:pt x="11" y="397"/>
                  </a:lnTo>
                  <a:lnTo>
                    <a:pt x="0" y="397"/>
                  </a:lnTo>
                  <a:lnTo>
                    <a:pt x="0" y="386"/>
                  </a:lnTo>
                  <a:lnTo>
                    <a:pt x="11" y="386"/>
                  </a:lnTo>
                  <a:close/>
                  <a:moveTo>
                    <a:pt x="11" y="408"/>
                  </a:moveTo>
                  <a:lnTo>
                    <a:pt x="11" y="419"/>
                  </a:lnTo>
                  <a:lnTo>
                    <a:pt x="0" y="419"/>
                  </a:lnTo>
                  <a:lnTo>
                    <a:pt x="0" y="408"/>
                  </a:lnTo>
                  <a:lnTo>
                    <a:pt x="11" y="408"/>
                  </a:lnTo>
                  <a:close/>
                  <a:moveTo>
                    <a:pt x="11" y="429"/>
                  </a:moveTo>
                  <a:lnTo>
                    <a:pt x="11" y="440"/>
                  </a:lnTo>
                  <a:lnTo>
                    <a:pt x="0" y="440"/>
                  </a:lnTo>
                  <a:lnTo>
                    <a:pt x="0" y="429"/>
                  </a:lnTo>
                  <a:lnTo>
                    <a:pt x="11" y="429"/>
                  </a:lnTo>
                  <a:close/>
                  <a:moveTo>
                    <a:pt x="11" y="451"/>
                  </a:moveTo>
                  <a:lnTo>
                    <a:pt x="11" y="462"/>
                  </a:lnTo>
                  <a:lnTo>
                    <a:pt x="0" y="462"/>
                  </a:lnTo>
                  <a:lnTo>
                    <a:pt x="0" y="451"/>
                  </a:lnTo>
                  <a:lnTo>
                    <a:pt x="11" y="451"/>
                  </a:lnTo>
                  <a:close/>
                  <a:moveTo>
                    <a:pt x="11" y="472"/>
                  </a:moveTo>
                  <a:lnTo>
                    <a:pt x="11" y="483"/>
                  </a:lnTo>
                  <a:lnTo>
                    <a:pt x="0" y="483"/>
                  </a:lnTo>
                  <a:lnTo>
                    <a:pt x="0" y="472"/>
                  </a:lnTo>
                  <a:lnTo>
                    <a:pt x="11" y="472"/>
                  </a:lnTo>
                  <a:close/>
                  <a:moveTo>
                    <a:pt x="11" y="494"/>
                  </a:moveTo>
                  <a:lnTo>
                    <a:pt x="11" y="505"/>
                  </a:lnTo>
                  <a:lnTo>
                    <a:pt x="0" y="505"/>
                  </a:lnTo>
                  <a:lnTo>
                    <a:pt x="0" y="494"/>
                  </a:lnTo>
                  <a:lnTo>
                    <a:pt x="11" y="494"/>
                  </a:lnTo>
                  <a:close/>
                  <a:moveTo>
                    <a:pt x="11" y="515"/>
                  </a:moveTo>
                  <a:lnTo>
                    <a:pt x="11" y="526"/>
                  </a:lnTo>
                  <a:lnTo>
                    <a:pt x="0" y="526"/>
                  </a:lnTo>
                  <a:lnTo>
                    <a:pt x="0" y="515"/>
                  </a:lnTo>
                  <a:lnTo>
                    <a:pt x="11" y="515"/>
                  </a:lnTo>
                  <a:close/>
                  <a:moveTo>
                    <a:pt x="11" y="537"/>
                  </a:moveTo>
                  <a:lnTo>
                    <a:pt x="11" y="547"/>
                  </a:lnTo>
                  <a:lnTo>
                    <a:pt x="0" y="547"/>
                  </a:lnTo>
                  <a:lnTo>
                    <a:pt x="0" y="537"/>
                  </a:lnTo>
                  <a:lnTo>
                    <a:pt x="11" y="537"/>
                  </a:lnTo>
                  <a:close/>
                  <a:moveTo>
                    <a:pt x="11" y="558"/>
                  </a:moveTo>
                  <a:lnTo>
                    <a:pt x="11" y="569"/>
                  </a:lnTo>
                  <a:lnTo>
                    <a:pt x="0" y="569"/>
                  </a:lnTo>
                  <a:lnTo>
                    <a:pt x="0" y="558"/>
                  </a:lnTo>
                  <a:lnTo>
                    <a:pt x="11" y="558"/>
                  </a:lnTo>
                  <a:close/>
                  <a:moveTo>
                    <a:pt x="11" y="580"/>
                  </a:moveTo>
                  <a:lnTo>
                    <a:pt x="11" y="590"/>
                  </a:lnTo>
                  <a:lnTo>
                    <a:pt x="0" y="590"/>
                  </a:lnTo>
                  <a:lnTo>
                    <a:pt x="0" y="580"/>
                  </a:lnTo>
                  <a:lnTo>
                    <a:pt x="11" y="580"/>
                  </a:lnTo>
                  <a:close/>
                  <a:moveTo>
                    <a:pt x="11" y="601"/>
                  </a:moveTo>
                  <a:lnTo>
                    <a:pt x="11" y="612"/>
                  </a:lnTo>
                  <a:lnTo>
                    <a:pt x="0" y="612"/>
                  </a:lnTo>
                  <a:lnTo>
                    <a:pt x="0" y="601"/>
                  </a:lnTo>
                  <a:lnTo>
                    <a:pt x="11" y="601"/>
                  </a:lnTo>
                  <a:close/>
                  <a:moveTo>
                    <a:pt x="11" y="623"/>
                  </a:moveTo>
                  <a:lnTo>
                    <a:pt x="11" y="633"/>
                  </a:lnTo>
                  <a:lnTo>
                    <a:pt x="0" y="633"/>
                  </a:lnTo>
                  <a:lnTo>
                    <a:pt x="0" y="623"/>
                  </a:lnTo>
                  <a:lnTo>
                    <a:pt x="11" y="623"/>
                  </a:lnTo>
                  <a:close/>
                  <a:moveTo>
                    <a:pt x="11" y="644"/>
                  </a:moveTo>
                  <a:lnTo>
                    <a:pt x="11" y="655"/>
                  </a:lnTo>
                  <a:lnTo>
                    <a:pt x="0" y="655"/>
                  </a:lnTo>
                  <a:lnTo>
                    <a:pt x="0" y="644"/>
                  </a:lnTo>
                  <a:lnTo>
                    <a:pt x="11" y="644"/>
                  </a:lnTo>
                  <a:close/>
                  <a:moveTo>
                    <a:pt x="11" y="665"/>
                  </a:moveTo>
                  <a:lnTo>
                    <a:pt x="11" y="676"/>
                  </a:lnTo>
                  <a:lnTo>
                    <a:pt x="0" y="676"/>
                  </a:lnTo>
                  <a:lnTo>
                    <a:pt x="0" y="665"/>
                  </a:lnTo>
                  <a:lnTo>
                    <a:pt x="11" y="665"/>
                  </a:lnTo>
                  <a:close/>
                  <a:moveTo>
                    <a:pt x="11" y="687"/>
                  </a:moveTo>
                  <a:lnTo>
                    <a:pt x="11" y="698"/>
                  </a:lnTo>
                  <a:lnTo>
                    <a:pt x="0" y="698"/>
                  </a:lnTo>
                  <a:lnTo>
                    <a:pt x="0" y="687"/>
                  </a:lnTo>
                  <a:lnTo>
                    <a:pt x="11" y="687"/>
                  </a:lnTo>
                  <a:close/>
                  <a:moveTo>
                    <a:pt x="11" y="708"/>
                  </a:moveTo>
                  <a:lnTo>
                    <a:pt x="11" y="719"/>
                  </a:lnTo>
                  <a:lnTo>
                    <a:pt x="0" y="719"/>
                  </a:lnTo>
                  <a:lnTo>
                    <a:pt x="0" y="708"/>
                  </a:lnTo>
                  <a:lnTo>
                    <a:pt x="11" y="708"/>
                  </a:lnTo>
                  <a:close/>
                  <a:moveTo>
                    <a:pt x="11" y="730"/>
                  </a:moveTo>
                  <a:lnTo>
                    <a:pt x="11" y="740"/>
                  </a:lnTo>
                  <a:lnTo>
                    <a:pt x="0" y="740"/>
                  </a:lnTo>
                  <a:lnTo>
                    <a:pt x="0" y="730"/>
                  </a:lnTo>
                  <a:lnTo>
                    <a:pt x="11" y="730"/>
                  </a:lnTo>
                  <a:close/>
                  <a:moveTo>
                    <a:pt x="11" y="751"/>
                  </a:moveTo>
                  <a:lnTo>
                    <a:pt x="11" y="762"/>
                  </a:lnTo>
                  <a:lnTo>
                    <a:pt x="0" y="762"/>
                  </a:lnTo>
                  <a:lnTo>
                    <a:pt x="0" y="751"/>
                  </a:lnTo>
                  <a:lnTo>
                    <a:pt x="11" y="751"/>
                  </a:lnTo>
                  <a:close/>
                  <a:moveTo>
                    <a:pt x="11" y="773"/>
                  </a:moveTo>
                  <a:lnTo>
                    <a:pt x="11" y="783"/>
                  </a:lnTo>
                  <a:lnTo>
                    <a:pt x="0" y="783"/>
                  </a:lnTo>
                  <a:lnTo>
                    <a:pt x="0" y="773"/>
                  </a:lnTo>
                  <a:lnTo>
                    <a:pt x="11" y="773"/>
                  </a:lnTo>
                  <a:close/>
                  <a:moveTo>
                    <a:pt x="11" y="794"/>
                  </a:moveTo>
                  <a:lnTo>
                    <a:pt x="11" y="805"/>
                  </a:lnTo>
                  <a:lnTo>
                    <a:pt x="0" y="805"/>
                  </a:lnTo>
                  <a:lnTo>
                    <a:pt x="0" y="794"/>
                  </a:lnTo>
                  <a:lnTo>
                    <a:pt x="11" y="794"/>
                  </a:lnTo>
                  <a:close/>
                  <a:moveTo>
                    <a:pt x="11" y="816"/>
                  </a:moveTo>
                  <a:lnTo>
                    <a:pt x="11" y="826"/>
                  </a:lnTo>
                  <a:lnTo>
                    <a:pt x="0" y="826"/>
                  </a:lnTo>
                  <a:lnTo>
                    <a:pt x="0" y="816"/>
                  </a:lnTo>
                  <a:lnTo>
                    <a:pt x="11" y="816"/>
                  </a:lnTo>
                  <a:close/>
                  <a:moveTo>
                    <a:pt x="11" y="837"/>
                  </a:moveTo>
                  <a:lnTo>
                    <a:pt x="11" y="848"/>
                  </a:lnTo>
                  <a:lnTo>
                    <a:pt x="0" y="848"/>
                  </a:lnTo>
                  <a:lnTo>
                    <a:pt x="0" y="837"/>
                  </a:lnTo>
                  <a:lnTo>
                    <a:pt x="11" y="837"/>
                  </a:lnTo>
                  <a:close/>
                  <a:moveTo>
                    <a:pt x="11" y="859"/>
                  </a:moveTo>
                  <a:lnTo>
                    <a:pt x="11" y="869"/>
                  </a:lnTo>
                  <a:lnTo>
                    <a:pt x="0" y="869"/>
                  </a:lnTo>
                  <a:lnTo>
                    <a:pt x="0" y="859"/>
                  </a:lnTo>
                  <a:lnTo>
                    <a:pt x="11" y="859"/>
                  </a:lnTo>
                  <a:close/>
                  <a:moveTo>
                    <a:pt x="11" y="880"/>
                  </a:moveTo>
                  <a:lnTo>
                    <a:pt x="11" y="891"/>
                  </a:lnTo>
                  <a:lnTo>
                    <a:pt x="0" y="891"/>
                  </a:lnTo>
                  <a:lnTo>
                    <a:pt x="0" y="880"/>
                  </a:lnTo>
                  <a:lnTo>
                    <a:pt x="11" y="880"/>
                  </a:lnTo>
                  <a:close/>
                  <a:moveTo>
                    <a:pt x="11" y="901"/>
                  </a:moveTo>
                  <a:lnTo>
                    <a:pt x="11" y="912"/>
                  </a:lnTo>
                  <a:lnTo>
                    <a:pt x="0" y="912"/>
                  </a:lnTo>
                  <a:lnTo>
                    <a:pt x="0" y="901"/>
                  </a:lnTo>
                  <a:lnTo>
                    <a:pt x="11" y="901"/>
                  </a:lnTo>
                  <a:close/>
                  <a:moveTo>
                    <a:pt x="11" y="923"/>
                  </a:moveTo>
                  <a:lnTo>
                    <a:pt x="11" y="933"/>
                  </a:lnTo>
                  <a:lnTo>
                    <a:pt x="0" y="933"/>
                  </a:lnTo>
                  <a:lnTo>
                    <a:pt x="0" y="923"/>
                  </a:lnTo>
                  <a:lnTo>
                    <a:pt x="11" y="923"/>
                  </a:lnTo>
                  <a:close/>
                  <a:moveTo>
                    <a:pt x="11" y="944"/>
                  </a:moveTo>
                  <a:lnTo>
                    <a:pt x="11" y="955"/>
                  </a:lnTo>
                  <a:lnTo>
                    <a:pt x="0" y="955"/>
                  </a:lnTo>
                  <a:lnTo>
                    <a:pt x="0" y="944"/>
                  </a:lnTo>
                  <a:lnTo>
                    <a:pt x="11" y="944"/>
                  </a:lnTo>
                  <a:close/>
                  <a:moveTo>
                    <a:pt x="11" y="966"/>
                  </a:moveTo>
                  <a:lnTo>
                    <a:pt x="11" y="976"/>
                  </a:lnTo>
                  <a:lnTo>
                    <a:pt x="0" y="976"/>
                  </a:lnTo>
                  <a:lnTo>
                    <a:pt x="0" y="966"/>
                  </a:lnTo>
                  <a:lnTo>
                    <a:pt x="11" y="966"/>
                  </a:lnTo>
                  <a:close/>
                  <a:moveTo>
                    <a:pt x="11" y="987"/>
                  </a:moveTo>
                  <a:lnTo>
                    <a:pt x="11" y="998"/>
                  </a:lnTo>
                  <a:lnTo>
                    <a:pt x="0" y="998"/>
                  </a:lnTo>
                  <a:lnTo>
                    <a:pt x="0" y="987"/>
                  </a:lnTo>
                  <a:lnTo>
                    <a:pt x="11" y="987"/>
                  </a:lnTo>
                  <a:close/>
                  <a:moveTo>
                    <a:pt x="11" y="1009"/>
                  </a:moveTo>
                  <a:lnTo>
                    <a:pt x="11" y="1019"/>
                  </a:lnTo>
                  <a:lnTo>
                    <a:pt x="0" y="1019"/>
                  </a:lnTo>
                  <a:lnTo>
                    <a:pt x="0" y="1009"/>
                  </a:lnTo>
                  <a:lnTo>
                    <a:pt x="11" y="1009"/>
                  </a:lnTo>
                  <a:close/>
                  <a:moveTo>
                    <a:pt x="11" y="1030"/>
                  </a:moveTo>
                  <a:lnTo>
                    <a:pt x="11" y="1041"/>
                  </a:lnTo>
                  <a:lnTo>
                    <a:pt x="0" y="1041"/>
                  </a:lnTo>
                  <a:lnTo>
                    <a:pt x="0" y="1030"/>
                  </a:lnTo>
                  <a:lnTo>
                    <a:pt x="11" y="1030"/>
                  </a:lnTo>
                  <a:close/>
                  <a:moveTo>
                    <a:pt x="11" y="1052"/>
                  </a:moveTo>
                  <a:lnTo>
                    <a:pt x="11" y="1062"/>
                  </a:lnTo>
                  <a:lnTo>
                    <a:pt x="0" y="1062"/>
                  </a:lnTo>
                  <a:lnTo>
                    <a:pt x="0" y="1052"/>
                  </a:lnTo>
                  <a:lnTo>
                    <a:pt x="11" y="1052"/>
                  </a:lnTo>
                  <a:close/>
                  <a:moveTo>
                    <a:pt x="11" y="1073"/>
                  </a:moveTo>
                  <a:lnTo>
                    <a:pt x="11" y="1084"/>
                  </a:lnTo>
                  <a:lnTo>
                    <a:pt x="0" y="1084"/>
                  </a:lnTo>
                  <a:lnTo>
                    <a:pt x="0" y="1073"/>
                  </a:lnTo>
                  <a:lnTo>
                    <a:pt x="11" y="1073"/>
                  </a:lnTo>
                  <a:close/>
                  <a:moveTo>
                    <a:pt x="11" y="1094"/>
                  </a:moveTo>
                  <a:lnTo>
                    <a:pt x="11" y="1105"/>
                  </a:lnTo>
                  <a:lnTo>
                    <a:pt x="0" y="1105"/>
                  </a:lnTo>
                  <a:lnTo>
                    <a:pt x="0" y="1094"/>
                  </a:lnTo>
                  <a:lnTo>
                    <a:pt x="11" y="1094"/>
                  </a:lnTo>
                  <a:close/>
                  <a:moveTo>
                    <a:pt x="11" y="1116"/>
                  </a:moveTo>
                  <a:lnTo>
                    <a:pt x="11" y="1127"/>
                  </a:lnTo>
                  <a:lnTo>
                    <a:pt x="0" y="1127"/>
                  </a:lnTo>
                  <a:lnTo>
                    <a:pt x="0" y="1116"/>
                  </a:lnTo>
                  <a:lnTo>
                    <a:pt x="11" y="1116"/>
                  </a:lnTo>
                  <a:close/>
                  <a:moveTo>
                    <a:pt x="11" y="1137"/>
                  </a:moveTo>
                  <a:lnTo>
                    <a:pt x="11" y="1148"/>
                  </a:lnTo>
                  <a:lnTo>
                    <a:pt x="0" y="1148"/>
                  </a:lnTo>
                  <a:lnTo>
                    <a:pt x="0" y="1137"/>
                  </a:lnTo>
                  <a:lnTo>
                    <a:pt x="11" y="1137"/>
                  </a:lnTo>
                  <a:close/>
                  <a:moveTo>
                    <a:pt x="11" y="1159"/>
                  </a:moveTo>
                  <a:lnTo>
                    <a:pt x="11" y="1169"/>
                  </a:lnTo>
                  <a:lnTo>
                    <a:pt x="0" y="1169"/>
                  </a:lnTo>
                  <a:lnTo>
                    <a:pt x="0" y="1159"/>
                  </a:lnTo>
                  <a:lnTo>
                    <a:pt x="11" y="1159"/>
                  </a:lnTo>
                  <a:close/>
                  <a:moveTo>
                    <a:pt x="11" y="1180"/>
                  </a:moveTo>
                  <a:lnTo>
                    <a:pt x="11" y="1191"/>
                  </a:lnTo>
                  <a:lnTo>
                    <a:pt x="0" y="1191"/>
                  </a:lnTo>
                  <a:lnTo>
                    <a:pt x="0" y="1180"/>
                  </a:lnTo>
                  <a:lnTo>
                    <a:pt x="11" y="1180"/>
                  </a:lnTo>
                  <a:close/>
                  <a:moveTo>
                    <a:pt x="11" y="1202"/>
                  </a:moveTo>
                  <a:lnTo>
                    <a:pt x="11" y="1212"/>
                  </a:lnTo>
                  <a:lnTo>
                    <a:pt x="0" y="1212"/>
                  </a:lnTo>
                  <a:lnTo>
                    <a:pt x="0" y="1202"/>
                  </a:lnTo>
                  <a:lnTo>
                    <a:pt x="11" y="1202"/>
                  </a:lnTo>
                  <a:close/>
                  <a:moveTo>
                    <a:pt x="11" y="1223"/>
                  </a:moveTo>
                  <a:lnTo>
                    <a:pt x="11" y="1234"/>
                  </a:lnTo>
                  <a:lnTo>
                    <a:pt x="0" y="1234"/>
                  </a:lnTo>
                  <a:lnTo>
                    <a:pt x="0" y="1223"/>
                  </a:lnTo>
                  <a:lnTo>
                    <a:pt x="11" y="1223"/>
                  </a:lnTo>
                  <a:close/>
                  <a:moveTo>
                    <a:pt x="11" y="1245"/>
                  </a:moveTo>
                  <a:lnTo>
                    <a:pt x="11" y="1255"/>
                  </a:lnTo>
                  <a:lnTo>
                    <a:pt x="0" y="1255"/>
                  </a:lnTo>
                  <a:lnTo>
                    <a:pt x="0" y="1245"/>
                  </a:lnTo>
                  <a:lnTo>
                    <a:pt x="11" y="1245"/>
                  </a:lnTo>
                  <a:close/>
                  <a:moveTo>
                    <a:pt x="11" y="1266"/>
                  </a:moveTo>
                  <a:lnTo>
                    <a:pt x="11" y="1277"/>
                  </a:lnTo>
                  <a:lnTo>
                    <a:pt x="0" y="1277"/>
                  </a:lnTo>
                  <a:lnTo>
                    <a:pt x="0" y="1266"/>
                  </a:lnTo>
                  <a:lnTo>
                    <a:pt x="11" y="1266"/>
                  </a:lnTo>
                  <a:close/>
                  <a:moveTo>
                    <a:pt x="11" y="1287"/>
                  </a:moveTo>
                  <a:lnTo>
                    <a:pt x="11" y="1298"/>
                  </a:lnTo>
                  <a:lnTo>
                    <a:pt x="0" y="1298"/>
                  </a:lnTo>
                  <a:lnTo>
                    <a:pt x="0" y="1287"/>
                  </a:lnTo>
                  <a:lnTo>
                    <a:pt x="11" y="1287"/>
                  </a:lnTo>
                  <a:close/>
                  <a:moveTo>
                    <a:pt x="11" y="1309"/>
                  </a:moveTo>
                  <a:lnTo>
                    <a:pt x="11" y="1320"/>
                  </a:lnTo>
                  <a:lnTo>
                    <a:pt x="0" y="1320"/>
                  </a:lnTo>
                  <a:lnTo>
                    <a:pt x="0" y="1309"/>
                  </a:lnTo>
                  <a:lnTo>
                    <a:pt x="11" y="1309"/>
                  </a:lnTo>
                  <a:close/>
                  <a:moveTo>
                    <a:pt x="11" y="1330"/>
                  </a:moveTo>
                  <a:lnTo>
                    <a:pt x="11" y="1341"/>
                  </a:lnTo>
                  <a:lnTo>
                    <a:pt x="0" y="1341"/>
                  </a:lnTo>
                  <a:lnTo>
                    <a:pt x="0" y="1330"/>
                  </a:lnTo>
                  <a:lnTo>
                    <a:pt x="11" y="1330"/>
                  </a:lnTo>
                  <a:close/>
                  <a:moveTo>
                    <a:pt x="11" y="1352"/>
                  </a:moveTo>
                  <a:lnTo>
                    <a:pt x="11" y="1363"/>
                  </a:lnTo>
                  <a:lnTo>
                    <a:pt x="0" y="1363"/>
                  </a:lnTo>
                  <a:lnTo>
                    <a:pt x="0" y="1352"/>
                  </a:lnTo>
                  <a:lnTo>
                    <a:pt x="11" y="1352"/>
                  </a:lnTo>
                  <a:close/>
                  <a:moveTo>
                    <a:pt x="11" y="1373"/>
                  </a:moveTo>
                  <a:lnTo>
                    <a:pt x="11" y="1384"/>
                  </a:lnTo>
                  <a:lnTo>
                    <a:pt x="0" y="1384"/>
                  </a:lnTo>
                  <a:lnTo>
                    <a:pt x="0" y="1373"/>
                  </a:lnTo>
                  <a:lnTo>
                    <a:pt x="11" y="1373"/>
                  </a:lnTo>
                  <a:close/>
                  <a:moveTo>
                    <a:pt x="11" y="1395"/>
                  </a:moveTo>
                  <a:lnTo>
                    <a:pt x="11" y="1406"/>
                  </a:lnTo>
                  <a:lnTo>
                    <a:pt x="0" y="1406"/>
                  </a:lnTo>
                  <a:lnTo>
                    <a:pt x="0" y="1395"/>
                  </a:lnTo>
                  <a:lnTo>
                    <a:pt x="11" y="1395"/>
                  </a:lnTo>
                  <a:close/>
                  <a:moveTo>
                    <a:pt x="11" y="1416"/>
                  </a:moveTo>
                  <a:lnTo>
                    <a:pt x="11" y="1427"/>
                  </a:lnTo>
                  <a:lnTo>
                    <a:pt x="0" y="1427"/>
                  </a:lnTo>
                  <a:lnTo>
                    <a:pt x="0" y="1416"/>
                  </a:lnTo>
                  <a:lnTo>
                    <a:pt x="11" y="1416"/>
                  </a:lnTo>
                  <a:close/>
                  <a:moveTo>
                    <a:pt x="11" y="1438"/>
                  </a:moveTo>
                  <a:lnTo>
                    <a:pt x="11" y="1448"/>
                  </a:lnTo>
                  <a:lnTo>
                    <a:pt x="0" y="1448"/>
                  </a:lnTo>
                  <a:lnTo>
                    <a:pt x="0" y="1438"/>
                  </a:lnTo>
                  <a:lnTo>
                    <a:pt x="11" y="1438"/>
                  </a:lnTo>
                  <a:close/>
                  <a:moveTo>
                    <a:pt x="11" y="1459"/>
                  </a:moveTo>
                  <a:lnTo>
                    <a:pt x="11" y="1470"/>
                  </a:lnTo>
                  <a:lnTo>
                    <a:pt x="0" y="1470"/>
                  </a:lnTo>
                  <a:lnTo>
                    <a:pt x="0" y="1459"/>
                  </a:lnTo>
                  <a:lnTo>
                    <a:pt x="11" y="1459"/>
                  </a:lnTo>
                  <a:close/>
                  <a:moveTo>
                    <a:pt x="11" y="1480"/>
                  </a:moveTo>
                  <a:lnTo>
                    <a:pt x="11" y="1491"/>
                  </a:lnTo>
                  <a:lnTo>
                    <a:pt x="0" y="1491"/>
                  </a:lnTo>
                  <a:lnTo>
                    <a:pt x="0" y="1480"/>
                  </a:lnTo>
                  <a:lnTo>
                    <a:pt x="11" y="1480"/>
                  </a:lnTo>
                  <a:close/>
                  <a:moveTo>
                    <a:pt x="11" y="1502"/>
                  </a:moveTo>
                  <a:lnTo>
                    <a:pt x="11" y="1513"/>
                  </a:lnTo>
                  <a:lnTo>
                    <a:pt x="0" y="1513"/>
                  </a:lnTo>
                  <a:lnTo>
                    <a:pt x="0" y="1502"/>
                  </a:lnTo>
                  <a:lnTo>
                    <a:pt x="11" y="1502"/>
                  </a:lnTo>
                  <a:close/>
                  <a:moveTo>
                    <a:pt x="11" y="1523"/>
                  </a:moveTo>
                  <a:lnTo>
                    <a:pt x="11" y="1534"/>
                  </a:lnTo>
                  <a:lnTo>
                    <a:pt x="0" y="1534"/>
                  </a:lnTo>
                  <a:lnTo>
                    <a:pt x="0" y="1523"/>
                  </a:lnTo>
                  <a:lnTo>
                    <a:pt x="11" y="1523"/>
                  </a:lnTo>
                  <a:close/>
                  <a:moveTo>
                    <a:pt x="11" y="1545"/>
                  </a:moveTo>
                  <a:lnTo>
                    <a:pt x="11" y="1556"/>
                  </a:lnTo>
                  <a:lnTo>
                    <a:pt x="0" y="1556"/>
                  </a:lnTo>
                  <a:lnTo>
                    <a:pt x="0" y="1545"/>
                  </a:lnTo>
                  <a:lnTo>
                    <a:pt x="11" y="1545"/>
                  </a:lnTo>
                  <a:close/>
                  <a:moveTo>
                    <a:pt x="11" y="1566"/>
                  </a:moveTo>
                  <a:lnTo>
                    <a:pt x="11" y="1577"/>
                  </a:lnTo>
                  <a:lnTo>
                    <a:pt x="0" y="1577"/>
                  </a:lnTo>
                  <a:lnTo>
                    <a:pt x="0" y="1566"/>
                  </a:lnTo>
                  <a:lnTo>
                    <a:pt x="11" y="1566"/>
                  </a:lnTo>
                  <a:close/>
                  <a:moveTo>
                    <a:pt x="11" y="1588"/>
                  </a:moveTo>
                  <a:lnTo>
                    <a:pt x="11" y="1599"/>
                  </a:lnTo>
                  <a:lnTo>
                    <a:pt x="0" y="1599"/>
                  </a:lnTo>
                  <a:lnTo>
                    <a:pt x="0" y="1588"/>
                  </a:lnTo>
                  <a:lnTo>
                    <a:pt x="11" y="1588"/>
                  </a:lnTo>
                  <a:close/>
                  <a:moveTo>
                    <a:pt x="11" y="1609"/>
                  </a:moveTo>
                  <a:lnTo>
                    <a:pt x="11" y="1620"/>
                  </a:lnTo>
                  <a:lnTo>
                    <a:pt x="0" y="1620"/>
                  </a:lnTo>
                  <a:lnTo>
                    <a:pt x="0" y="1609"/>
                  </a:lnTo>
                  <a:lnTo>
                    <a:pt x="11" y="1609"/>
                  </a:lnTo>
                  <a:close/>
                  <a:moveTo>
                    <a:pt x="11" y="1631"/>
                  </a:moveTo>
                  <a:lnTo>
                    <a:pt x="11" y="1641"/>
                  </a:lnTo>
                  <a:lnTo>
                    <a:pt x="0" y="1641"/>
                  </a:lnTo>
                  <a:lnTo>
                    <a:pt x="0" y="1631"/>
                  </a:lnTo>
                  <a:lnTo>
                    <a:pt x="11" y="1631"/>
                  </a:lnTo>
                  <a:close/>
                  <a:moveTo>
                    <a:pt x="11" y="1652"/>
                  </a:moveTo>
                  <a:lnTo>
                    <a:pt x="11" y="1663"/>
                  </a:lnTo>
                  <a:lnTo>
                    <a:pt x="0" y="1663"/>
                  </a:lnTo>
                  <a:lnTo>
                    <a:pt x="0" y="1652"/>
                  </a:lnTo>
                  <a:lnTo>
                    <a:pt x="11" y="1652"/>
                  </a:lnTo>
                  <a:close/>
                  <a:moveTo>
                    <a:pt x="11" y="1673"/>
                  </a:moveTo>
                  <a:lnTo>
                    <a:pt x="11" y="1684"/>
                  </a:lnTo>
                  <a:lnTo>
                    <a:pt x="0" y="1684"/>
                  </a:lnTo>
                  <a:lnTo>
                    <a:pt x="0" y="1673"/>
                  </a:lnTo>
                  <a:lnTo>
                    <a:pt x="11" y="1673"/>
                  </a:lnTo>
                  <a:close/>
                  <a:moveTo>
                    <a:pt x="11" y="1695"/>
                  </a:moveTo>
                  <a:lnTo>
                    <a:pt x="11" y="1706"/>
                  </a:lnTo>
                  <a:lnTo>
                    <a:pt x="0" y="1706"/>
                  </a:lnTo>
                  <a:lnTo>
                    <a:pt x="0" y="1695"/>
                  </a:lnTo>
                  <a:lnTo>
                    <a:pt x="11" y="1695"/>
                  </a:lnTo>
                  <a:close/>
                  <a:moveTo>
                    <a:pt x="11" y="1716"/>
                  </a:moveTo>
                  <a:lnTo>
                    <a:pt x="11" y="1727"/>
                  </a:lnTo>
                  <a:lnTo>
                    <a:pt x="0" y="1727"/>
                  </a:lnTo>
                  <a:lnTo>
                    <a:pt x="0" y="1716"/>
                  </a:lnTo>
                  <a:lnTo>
                    <a:pt x="11" y="1716"/>
                  </a:lnTo>
                  <a:close/>
                  <a:moveTo>
                    <a:pt x="11" y="1738"/>
                  </a:moveTo>
                  <a:lnTo>
                    <a:pt x="11" y="1749"/>
                  </a:lnTo>
                  <a:lnTo>
                    <a:pt x="0" y="1749"/>
                  </a:lnTo>
                  <a:lnTo>
                    <a:pt x="0" y="1738"/>
                  </a:lnTo>
                  <a:lnTo>
                    <a:pt x="11" y="1738"/>
                  </a:lnTo>
                  <a:close/>
                  <a:moveTo>
                    <a:pt x="11" y="1759"/>
                  </a:moveTo>
                  <a:lnTo>
                    <a:pt x="11" y="1770"/>
                  </a:lnTo>
                  <a:lnTo>
                    <a:pt x="0" y="1770"/>
                  </a:lnTo>
                  <a:lnTo>
                    <a:pt x="0" y="1759"/>
                  </a:lnTo>
                  <a:lnTo>
                    <a:pt x="11" y="1759"/>
                  </a:lnTo>
                  <a:close/>
                  <a:moveTo>
                    <a:pt x="11" y="1781"/>
                  </a:moveTo>
                  <a:lnTo>
                    <a:pt x="11" y="1792"/>
                  </a:lnTo>
                  <a:lnTo>
                    <a:pt x="0" y="1792"/>
                  </a:lnTo>
                  <a:lnTo>
                    <a:pt x="0" y="1781"/>
                  </a:lnTo>
                  <a:lnTo>
                    <a:pt x="11" y="1781"/>
                  </a:lnTo>
                  <a:close/>
                  <a:moveTo>
                    <a:pt x="11" y="1802"/>
                  </a:moveTo>
                  <a:lnTo>
                    <a:pt x="11" y="1813"/>
                  </a:lnTo>
                  <a:lnTo>
                    <a:pt x="0" y="1813"/>
                  </a:lnTo>
                  <a:lnTo>
                    <a:pt x="0" y="1802"/>
                  </a:lnTo>
                  <a:lnTo>
                    <a:pt x="11" y="1802"/>
                  </a:lnTo>
                  <a:close/>
                  <a:moveTo>
                    <a:pt x="11" y="1824"/>
                  </a:moveTo>
                  <a:lnTo>
                    <a:pt x="11" y="1834"/>
                  </a:lnTo>
                  <a:lnTo>
                    <a:pt x="0" y="1834"/>
                  </a:lnTo>
                  <a:lnTo>
                    <a:pt x="0" y="1824"/>
                  </a:lnTo>
                  <a:lnTo>
                    <a:pt x="11" y="1824"/>
                  </a:lnTo>
                  <a:close/>
                  <a:moveTo>
                    <a:pt x="11" y="1845"/>
                  </a:moveTo>
                  <a:lnTo>
                    <a:pt x="11" y="1856"/>
                  </a:lnTo>
                  <a:lnTo>
                    <a:pt x="0" y="1856"/>
                  </a:lnTo>
                  <a:lnTo>
                    <a:pt x="0" y="1845"/>
                  </a:lnTo>
                  <a:lnTo>
                    <a:pt x="11" y="1845"/>
                  </a:lnTo>
                  <a:close/>
                  <a:moveTo>
                    <a:pt x="11" y="1867"/>
                  </a:moveTo>
                  <a:lnTo>
                    <a:pt x="11" y="1877"/>
                  </a:lnTo>
                  <a:lnTo>
                    <a:pt x="0" y="1877"/>
                  </a:lnTo>
                  <a:lnTo>
                    <a:pt x="0" y="1867"/>
                  </a:lnTo>
                  <a:lnTo>
                    <a:pt x="11" y="1867"/>
                  </a:lnTo>
                  <a:close/>
                  <a:moveTo>
                    <a:pt x="11" y="1888"/>
                  </a:moveTo>
                  <a:lnTo>
                    <a:pt x="11" y="1899"/>
                  </a:lnTo>
                  <a:lnTo>
                    <a:pt x="0" y="1899"/>
                  </a:lnTo>
                  <a:lnTo>
                    <a:pt x="0" y="1888"/>
                  </a:lnTo>
                  <a:lnTo>
                    <a:pt x="11" y="1888"/>
                  </a:lnTo>
                  <a:close/>
                  <a:moveTo>
                    <a:pt x="11" y="1910"/>
                  </a:moveTo>
                  <a:lnTo>
                    <a:pt x="11" y="1920"/>
                  </a:lnTo>
                  <a:lnTo>
                    <a:pt x="0" y="1920"/>
                  </a:lnTo>
                  <a:lnTo>
                    <a:pt x="0" y="1910"/>
                  </a:lnTo>
                  <a:lnTo>
                    <a:pt x="11" y="1910"/>
                  </a:lnTo>
                  <a:close/>
                  <a:moveTo>
                    <a:pt x="11" y="1931"/>
                  </a:moveTo>
                  <a:lnTo>
                    <a:pt x="11" y="1942"/>
                  </a:lnTo>
                  <a:lnTo>
                    <a:pt x="0" y="1942"/>
                  </a:lnTo>
                  <a:lnTo>
                    <a:pt x="0" y="1931"/>
                  </a:lnTo>
                  <a:lnTo>
                    <a:pt x="11" y="1931"/>
                  </a:lnTo>
                  <a:close/>
                  <a:moveTo>
                    <a:pt x="11" y="1952"/>
                  </a:moveTo>
                  <a:lnTo>
                    <a:pt x="11" y="1963"/>
                  </a:lnTo>
                  <a:lnTo>
                    <a:pt x="0" y="1963"/>
                  </a:lnTo>
                  <a:lnTo>
                    <a:pt x="0" y="1952"/>
                  </a:lnTo>
                  <a:lnTo>
                    <a:pt x="11" y="1952"/>
                  </a:lnTo>
                  <a:close/>
                  <a:moveTo>
                    <a:pt x="11" y="1974"/>
                  </a:moveTo>
                  <a:lnTo>
                    <a:pt x="11" y="1985"/>
                  </a:lnTo>
                  <a:lnTo>
                    <a:pt x="0" y="1985"/>
                  </a:lnTo>
                  <a:lnTo>
                    <a:pt x="0" y="1974"/>
                  </a:lnTo>
                  <a:lnTo>
                    <a:pt x="11" y="1974"/>
                  </a:lnTo>
                  <a:close/>
                  <a:moveTo>
                    <a:pt x="11" y="1995"/>
                  </a:moveTo>
                  <a:lnTo>
                    <a:pt x="11" y="2006"/>
                  </a:lnTo>
                  <a:lnTo>
                    <a:pt x="0" y="2006"/>
                  </a:lnTo>
                  <a:lnTo>
                    <a:pt x="0" y="1995"/>
                  </a:lnTo>
                  <a:lnTo>
                    <a:pt x="11" y="1995"/>
                  </a:lnTo>
                  <a:close/>
                  <a:moveTo>
                    <a:pt x="11" y="2017"/>
                  </a:moveTo>
                  <a:lnTo>
                    <a:pt x="11" y="2027"/>
                  </a:lnTo>
                  <a:lnTo>
                    <a:pt x="0" y="2027"/>
                  </a:lnTo>
                  <a:lnTo>
                    <a:pt x="0" y="2017"/>
                  </a:lnTo>
                  <a:lnTo>
                    <a:pt x="11" y="2017"/>
                  </a:lnTo>
                  <a:close/>
                  <a:moveTo>
                    <a:pt x="11" y="2038"/>
                  </a:moveTo>
                  <a:lnTo>
                    <a:pt x="11" y="2049"/>
                  </a:lnTo>
                  <a:lnTo>
                    <a:pt x="0" y="2049"/>
                  </a:lnTo>
                  <a:lnTo>
                    <a:pt x="0" y="2038"/>
                  </a:lnTo>
                  <a:lnTo>
                    <a:pt x="11" y="2038"/>
                  </a:lnTo>
                  <a:close/>
                  <a:moveTo>
                    <a:pt x="11" y="2060"/>
                  </a:moveTo>
                  <a:lnTo>
                    <a:pt x="11" y="2070"/>
                  </a:lnTo>
                  <a:lnTo>
                    <a:pt x="0" y="2070"/>
                  </a:lnTo>
                  <a:lnTo>
                    <a:pt x="0" y="2060"/>
                  </a:lnTo>
                  <a:lnTo>
                    <a:pt x="11" y="2060"/>
                  </a:lnTo>
                  <a:close/>
                  <a:moveTo>
                    <a:pt x="11" y="2081"/>
                  </a:moveTo>
                  <a:lnTo>
                    <a:pt x="11" y="2092"/>
                  </a:lnTo>
                  <a:lnTo>
                    <a:pt x="0" y="2092"/>
                  </a:lnTo>
                  <a:lnTo>
                    <a:pt x="0" y="2081"/>
                  </a:lnTo>
                  <a:lnTo>
                    <a:pt x="11" y="2081"/>
                  </a:lnTo>
                  <a:close/>
                  <a:moveTo>
                    <a:pt x="11" y="2103"/>
                  </a:moveTo>
                  <a:lnTo>
                    <a:pt x="11" y="2113"/>
                  </a:lnTo>
                  <a:lnTo>
                    <a:pt x="0" y="2113"/>
                  </a:lnTo>
                  <a:lnTo>
                    <a:pt x="0" y="2103"/>
                  </a:lnTo>
                  <a:lnTo>
                    <a:pt x="11" y="2103"/>
                  </a:lnTo>
                  <a:close/>
                  <a:moveTo>
                    <a:pt x="11" y="2124"/>
                  </a:moveTo>
                  <a:lnTo>
                    <a:pt x="11" y="2135"/>
                  </a:lnTo>
                  <a:lnTo>
                    <a:pt x="0" y="2135"/>
                  </a:lnTo>
                  <a:lnTo>
                    <a:pt x="0" y="2124"/>
                  </a:lnTo>
                  <a:lnTo>
                    <a:pt x="11" y="2124"/>
                  </a:lnTo>
                  <a:close/>
                  <a:moveTo>
                    <a:pt x="11" y="2146"/>
                  </a:moveTo>
                  <a:lnTo>
                    <a:pt x="11" y="2156"/>
                  </a:lnTo>
                  <a:lnTo>
                    <a:pt x="0" y="2156"/>
                  </a:lnTo>
                  <a:lnTo>
                    <a:pt x="0" y="2146"/>
                  </a:lnTo>
                  <a:lnTo>
                    <a:pt x="11" y="2146"/>
                  </a:lnTo>
                  <a:close/>
                  <a:moveTo>
                    <a:pt x="11" y="2167"/>
                  </a:moveTo>
                  <a:lnTo>
                    <a:pt x="11" y="2178"/>
                  </a:lnTo>
                  <a:lnTo>
                    <a:pt x="0" y="2178"/>
                  </a:lnTo>
                  <a:lnTo>
                    <a:pt x="0" y="2167"/>
                  </a:lnTo>
                  <a:lnTo>
                    <a:pt x="11" y="2167"/>
                  </a:lnTo>
                  <a:close/>
                  <a:moveTo>
                    <a:pt x="11" y="2188"/>
                  </a:moveTo>
                  <a:lnTo>
                    <a:pt x="11" y="2199"/>
                  </a:lnTo>
                  <a:lnTo>
                    <a:pt x="0" y="2199"/>
                  </a:lnTo>
                  <a:lnTo>
                    <a:pt x="0" y="2188"/>
                  </a:lnTo>
                  <a:lnTo>
                    <a:pt x="11" y="2188"/>
                  </a:lnTo>
                  <a:close/>
                  <a:moveTo>
                    <a:pt x="11" y="2210"/>
                  </a:moveTo>
                  <a:lnTo>
                    <a:pt x="11" y="2220"/>
                  </a:lnTo>
                  <a:lnTo>
                    <a:pt x="0" y="2220"/>
                  </a:lnTo>
                  <a:lnTo>
                    <a:pt x="0" y="2210"/>
                  </a:lnTo>
                  <a:lnTo>
                    <a:pt x="11" y="2210"/>
                  </a:lnTo>
                  <a:close/>
                  <a:moveTo>
                    <a:pt x="11" y="2231"/>
                  </a:moveTo>
                  <a:lnTo>
                    <a:pt x="11" y="2242"/>
                  </a:lnTo>
                  <a:lnTo>
                    <a:pt x="0" y="2242"/>
                  </a:lnTo>
                  <a:lnTo>
                    <a:pt x="0" y="2231"/>
                  </a:lnTo>
                  <a:lnTo>
                    <a:pt x="11" y="2231"/>
                  </a:lnTo>
                  <a:close/>
                  <a:moveTo>
                    <a:pt x="11" y="2253"/>
                  </a:moveTo>
                  <a:lnTo>
                    <a:pt x="11" y="2263"/>
                  </a:lnTo>
                  <a:lnTo>
                    <a:pt x="0" y="2263"/>
                  </a:lnTo>
                  <a:lnTo>
                    <a:pt x="0" y="2253"/>
                  </a:lnTo>
                  <a:lnTo>
                    <a:pt x="11" y="2253"/>
                  </a:lnTo>
                  <a:close/>
                  <a:moveTo>
                    <a:pt x="11" y="2274"/>
                  </a:moveTo>
                  <a:lnTo>
                    <a:pt x="11" y="2285"/>
                  </a:lnTo>
                  <a:lnTo>
                    <a:pt x="0" y="2285"/>
                  </a:lnTo>
                  <a:lnTo>
                    <a:pt x="0" y="2274"/>
                  </a:lnTo>
                  <a:lnTo>
                    <a:pt x="11" y="2274"/>
                  </a:lnTo>
                  <a:close/>
                </a:path>
              </a:pathLst>
            </a:custGeom>
            <a:solidFill>
              <a:srgbClr val="000000"/>
            </a:solidFill>
            <a:ln w="0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0" name="Freeform 94">
              <a:extLst>
                <a:ext uri="{FF2B5EF4-FFF2-40B4-BE49-F238E27FC236}">
                  <a16:creationId xmlns:a16="http://schemas.microsoft.com/office/drawing/2014/main" id="{9C4878F6-3715-425F-A5D4-89DCC4EA19F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150" y="1881"/>
              <a:ext cx="11" cy="2285"/>
            </a:xfrm>
            <a:custGeom>
              <a:avLst/>
              <a:gdLst>
                <a:gd name="T0" fmla="*/ 0 w 11"/>
                <a:gd name="T1" fmla="*/ 22 h 2285"/>
                <a:gd name="T2" fmla="*/ 0 w 11"/>
                <a:gd name="T3" fmla="*/ 75 h 2285"/>
                <a:gd name="T4" fmla="*/ 11 w 11"/>
                <a:gd name="T5" fmla="*/ 118 h 2285"/>
                <a:gd name="T6" fmla="*/ 11 w 11"/>
                <a:gd name="T7" fmla="*/ 151 h 2285"/>
                <a:gd name="T8" fmla="*/ 11 w 11"/>
                <a:gd name="T9" fmla="*/ 172 h 2285"/>
                <a:gd name="T10" fmla="*/ 0 w 11"/>
                <a:gd name="T11" fmla="*/ 215 h 2285"/>
                <a:gd name="T12" fmla="*/ 0 w 11"/>
                <a:gd name="T13" fmla="*/ 268 h 2285"/>
                <a:gd name="T14" fmla="*/ 11 w 11"/>
                <a:gd name="T15" fmla="*/ 311 h 2285"/>
                <a:gd name="T16" fmla="*/ 11 w 11"/>
                <a:gd name="T17" fmla="*/ 344 h 2285"/>
                <a:gd name="T18" fmla="*/ 11 w 11"/>
                <a:gd name="T19" fmla="*/ 365 h 2285"/>
                <a:gd name="T20" fmla="*/ 0 w 11"/>
                <a:gd name="T21" fmla="*/ 408 h 2285"/>
                <a:gd name="T22" fmla="*/ 0 w 11"/>
                <a:gd name="T23" fmla="*/ 461 h 2285"/>
                <a:gd name="T24" fmla="*/ 11 w 11"/>
                <a:gd name="T25" fmla="*/ 504 h 2285"/>
                <a:gd name="T26" fmla="*/ 11 w 11"/>
                <a:gd name="T27" fmla="*/ 537 h 2285"/>
                <a:gd name="T28" fmla="*/ 11 w 11"/>
                <a:gd name="T29" fmla="*/ 558 h 2285"/>
                <a:gd name="T30" fmla="*/ 0 w 11"/>
                <a:gd name="T31" fmla="*/ 601 h 2285"/>
                <a:gd name="T32" fmla="*/ 0 w 11"/>
                <a:gd name="T33" fmla="*/ 655 h 2285"/>
                <a:gd name="T34" fmla="*/ 11 w 11"/>
                <a:gd name="T35" fmla="*/ 697 h 2285"/>
                <a:gd name="T36" fmla="*/ 11 w 11"/>
                <a:gd name="T37" fmla="*/ 730 h 2285"/>
                <a:gd name="T38" fmla="*/ 11 w 11"/>
                <a:gd name="T39" fmla="*/ 751 h 2285"/>
                <a:gd name="T40" fmla="*/ 0 w 11"/>
                <a:gd name="T41" fmla="*/ 794 h 2285"/>
                <a:gd name="T42" fmla="*/ 0 w 11"/>
                <a:gd name="T43" fmla="*/ 848 h 2285"/>
                <a:gd name="T44" fmla="*/ 11 w 11"/>
                <a:gd name="T45" fmla="*/ 891 h 2285"/>
                <a:gd name="T46" fmla="*/ 11 w 11"/>
                <a:gd name="T47" fmla="*/ 923 h 2285"/>
                <a:gd name="T48" fmla="*/ 11 w 11"/>
                <a:gd name="T49" fmla="*/ 944 h 2285"/>
                <a:gd name="T50" fmla="*/ 0 w 11"/>
                <a:gd name="T51" fmla="*/ 987 h 2285"/>
                <a:gd name="T52" fmla="*/ 0 w 11"/>
                <a:gd name="T53" fmla="*/ 1041 h 2285"/>
                <a:gd name="T54" fmla="*/ 11 w 11"/>
                <a:gd name="T55" fmla="*/ 1084 h 2285"/>
                <a:gd name="T56" fmla="*/ 11 w 11"/>
                <a:gd name="T57" fmla="*/ 1116 h 2285"/>
                <a:gd name="T58" fmla="*/ 11 w 11"/>
                <a:gd name="T59" fmla="*/ 1137 h 2285"/>
                <a:gd name="T60" fmla="*/ 0 w 11"/>
                <a:gd name="T61" fmla="*/ 1180 h 2285"/>
                <a:gd name="T62" fmla="*/ 0 w 11"/>
                <a:gd name="T63" fmla="*/ 1234 h 2285"/>
                <a:gd name="T64" fmla="*/ 11 w 11"/>
                <a:gd name="T65" fmla="*/ 1277 h 2285"/>
                <a:gd name="T66" fmla="*/ 11 w 11"/>
                <a:gd name="T67" fmla="*/ 1309 h 2285"/>
                <a:gd name="T68" fmla="*/ 11 w 11"/>
                <a:gd name="T69" fmla="*/ 1330 h 2285"/>
                <a:gd name="T70" fmla="*/ 0 w 11"/>
                <a:gd name="T71" fmla="*/ 1373 h 2285"/>
                <a:gd name="T72" fmla="*/ 0 w 11"/>
                <a:gd name="T73" fmla="*/ 1427 h 2285"/>
                <a:gd name="T74" fmla="*/ 11 w 11"/>
                <a:gd name="T75" fmla="*/ 1470 h 2285"/>
                <a:gd name="T76" fmla="*/ 11 w 11"/>
                <a:gd name="T77" fmla="*/ 1502 h 2285"/>
                <a:gd name="T78" fmla="*/ 11 w 11"/>
                <a:gd name="T79" fmla="*/ 1523 h 2285"/>
                <a:gd name="T80" fmla="*/ 0 w 11"/>
                <a:gd name="T81" fmla="*/ 1566 h 2285"/>
                <a:gd name="T82" fmla="*/ 0 w 11"/>
                <a:gd name="T83" fmla="*/ 1620 h 2285"/>
                <a:gd name="T84" fmla="*/ 11 w 11"/>
                <a:gd name="T85" fmla="*/ 1663 h 2285"/>
                <a:gd name="T86" fmla="*/ 11 w 11"/>
                <a:gd name="T87" fmla="*/ 1695 h 2285"/>
                <a:gd name="T88" fmla="*/ 11 w 11"/>
                <a:gd name="T89" fmla="*/ 1716 h 2285"/>
                <a:gd name="T90" fmla="*/ 0 w 11"/>
                <a:gd name="T91" fmla="*/ 1759 h 2285"/>
                <a:gd name="T92" fmla="*/ 0 w 11"/>
                <a:gd name="T93" fmla="*/ 1813 h 2285"/>
                <a:gd name="T94" fmla="*/ 11 w 11"/>
                <a:gd name="T95" fmla="*/ 1856 h 2285"/>
                <a:gd name="T96" fmla="*/ 11 w 11"/>
                <a:gd name="T97" fmla="*/ 1888 h 2285"/>
                <a:gd name="T98" fmla="*/ 11 w 11"/>
                <a:gd name="T99" fmla="*/ 1909 h 2285"/>
                <a:gd name="T100" fmla="*/ 0 w 11"/>
                <a:gd name="T101" fmla="*/ 1952 h 2285"/>
                <a:gd name="T102" fmla="*/ 0 w 11"/>
                <a:gd name="T103" fmla="*/ 2006 h 2285"/>
                <a:gd name="T104" fmla="*/ 11 w 11"/>
                <a:gd name="T105" fmla="*/ 2049 h 2285"/>
                <a:gd name="T106" fmla="*/ 11 w 11"/>
                <a:gd name="T107" fmla="*/ 2081 h 2285"/>
                <a:gd name="T108" fmla="*/ 11 w 11"/>
                <a:gd name="T109" fmla="*/ 2102 h 2285"/>
                <a:gd name="T110" fmla="*/ 0 w 11"/>
                <a:gd name="T111" fmla="*/ 2145 h 2285"/>
                <a:gd name="T112" fmla="*/ 0 w 11"/>
                <a:gd name="T113" fmla="*/ 2199 h 2285"/>
                <a:gd name="T114" fmla="*/ 11 w 11"/>
                <a:gd name="T115" fmla="*/ 2242 h 2285"/>
                <a:gd name="T116" fmla="*/ 11 w 11"/>
                <a:gd name="T117" fmla="*/ 2274 h 22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1" h="2285">
                  <a:moveTo>
                    <a:pt x="11" y="0"/>
                  </a:moveTo>
                  <a:lnTo>
                    <a:pt x="11" y="11"/>
                  </a:lnTo>
                  <a:lnTo>
                    <a:pt x="0" y="11"/>
                  </a:lnTo>
                  <a:lnTo>
                    <a:pt x="0" y="0"/>
                  </a:lnTo>
                  <a:lnTo>
                    <a:pt x="11" y="0"/>
                  </a:lnTo>
                  <a:close/>
                  <a:moveTo>
                    <a:pt x="11" y="22"/>
                  </a:moveTo>
                  <a:lnTo>
                    <a:pt x="11" y="32"/>
                  </a:lnTo>
                  <a:lnTo>
                    <a:pt x="0" y="32"/>
                  </a:lnTo>
                  <a:lnTo>
                    <a:pt x="0" y="22"/>
                  </a:lnTo>
                  <a:lnTo>
                    <a:pt x="11" y="22"/>
                  </a:lnTo>
                  <a:close/>
                  <a:moveTo>
                    <a:pt x="11" y="43"/>
                  </a:moveTo>
                  <a:lnTo>
                    <a:pt x="11" y="54"/>
                  </a:lnTo>
                  <a:lnTo>
                    <a:pt x="0" y="54"/>
                  </a:lnTo>
                  <a:lnTo>
                    <a:pt x="0" y="43"/>
                  </a:lnTo>
                  <a:lnTo>
                    <a:pt x="11" y="43"/>
                  </a:lnTo>
                  <a:close/>
                  <a:moveTo>
                    <a:pt x="11" y="65"/>
                  </a:moveTo>
                  <a:lnTo>
                    <a:pt x="11" y="75"/>
                  </a:lnTo>
                  <a:lnTo>
                    <a:pt x="0" y="75"/>
                  </a:lnTo>
                  <a:lnTo>
                    <a:pt x="0" y="65"/>
                  </a:lnTo>
                  <a:lnTo>
                    <a:pt x="11" y="65"/>
                  </a:lnTo>
                  <a:close/>
                  <a:moveTo>
                    <a:pt x="11" y="86"/>
                  </a:moveTo>
                  <a:lnTo>
                    <a:pt x="11" y="97"/>
                  </a:lnTo>
                  <a:lnTo>
                    <a:pt x="0" y="97"/>
                  </a:lnTo>
                  <a:lnTo>
                    <a:pt x="0" y="86"/>
                  </a:lnTo>
                  <a:lnTo>
                    <a:pt x="11" y="86"/>
                  </a:lnTo>
                  <a:close/>
                  <a:moveTo>
                    <a:pt x="11" y="108"/>
                  </a:moveTo>
                  <a:lnTo>
                    <a:pt x="11" y="118"/>
                  </a:lnTo>
                  <a:lnTo>
                    <a:pt x="0" y="118"/>
                  </a:lnTo>
                  <a:lnTo>
                    <a:pt x="0" y="108"/>
                  </a:lnTo>
                  <a:lnTo>
                    <a:pt x="11" y="108"/>
                  </a:lnTo>
                  <a:close/>
                  <a:moveTo>
                    <a:pt x="11" y="129"/>
                  </a:moveTo>
                  <a:lnTo>
                    <a:pt x="11" y="140"/>
                  </a:lnTo>
                  <a:lnTo>
                    <a:pt x="0" y="140"/>
                  </a:lnTo>
                  <a:lnTo>
                    <a:pt x="0" y="129"/>
                  </a:lnTo>
                  <a:lnTo>
                    <a:pt x="11" y="129"/>
                  </a:lnTo>
                  <a:close/>
                  <a:moveTo>
                    <a:pt x="11" y="151"/>
                  </a:moveTo>
                  <a:lnTo>
                    <a:pt x="11" y="161"/>
                  </a:lnTo>
                  <a:lnTo>
                    <a:pt x="0" y="161"/>
                  </a:lnTo>
                  <a:lnTo>
                    <a:pt x="0" y="151"/>
                  </a:lnTo>
                  <a:lnTo>
                    <a:pt x="11" y="151"/>
                  </a:lnTo>
                  <a:close/>
                  <a:moveTo>
                    <a:pt x="11" y="172"/>
                  </a:moveTo>
                  <a:lnTo>
                    <a:pt x="11" y="183"/>
                  </a:lnTo>
                  <a:lnTo>
                    <a:pt x="0" y="183"/>
                  </a:lnTo>
                  <a:lnTo>
                    <a:pt x="0" y="172"/>
                  </a:lnTo>
                  <a:lnTo>
                    <a:pt x="11" y="172"/>
                  </a:lnTo>
                  <a:close/>
                  <a:moveTo>
                    <a:pt x="11" y="193"/>
                  </a:moveTo>
                  <a:lnTo>
                    <a:pt x="11" y="204"/>
                  </a:lnTo>
                  <a:lnTo>
                    <a:pt x="0" y="204"/>
                  </a:lnTo>
                  <a:lnTo>
                    <a:pt x="0" y="193"/>
                  </a:lnTo>
                  <a:lnTo>
                    <a:pt x="11" y="193"/>
                  </a:lnTo>
                  <a:close/>
                  <a:moveTo>
                    <a:pt x="11" y="215"/>
                  </a:moveTo>
                  <a:lnTo>
                    <a:pt x="11" y="225"/>
                  </a:lnTo>
                  <a:lnTo>
                    <a:pt x="0" y="225"/>
                  </a:lnTo>
                  <a:lnTo>
                    <a:pt x="0" y="215"/>
                  </a:lnTo>
                  <a:lnTo>
                    <a:pt x="11" y="215"/>
                  </a:lnTo>
                  <a:close/>
                  <a:moveTo>
                    <a:pt x="11" y="236"/>
                  </a:moveTo>
                  <a:lnTo>
                    <a:pt x="11" y="247"/>
                  </a:lnTo>
                  <a:lnTo>
                    <a:pt x="0" y="247"/>
                  </a:lnTo>
                  <a:lnTo>
                    <a:pt x="0" y="236"/>
                  </a:lnTo>
                  <a:lnTo>
                    <a:pt x="11" y="236"/>
                  </a:lnTo>
                  <a:close/>
                  <a:moveTo>
                    <a:pt x="11" y="258"/>
                  </a:moveTo>
                  <a:lnTo>
                    <a:pt x="11" y="268"/>
                  </a:lnTo>
                  <a:lnTo>
                    <a:pt x="0" y="268"/>
                  </a:lnTo>
                  <a:lnTo>
                    <a:pt x="0" y="258"/>
                  </a:lnTo>
                  <a:lnTo>
                    <a:pt x="11" y="258"/>
                  </a:lnTo>
                  <a:close/>
                  <a:moveTo>
                    <a:pt x="11" y="279"/>
                  </a:moveTo>
                  <a:lnTo>
                    <a:pt x="11" y="290"/>
                  </a:lnTo>
                  <a:lnTo>
                    <a:pt x="0" y="290"/>
                  </a:lnTo>
                  <a:lnTo>
                    <a:pt x="0" y="279"/>
                  </a:lnTo>
                  <a:lnTo>
                    <a:pt x="11" y="279"/>
                  </a:lnTo>
                  <a:close/>
                  <a:moveTo>
                    <a:pt x="11" y="301"/>
                  </a:moveTo>
                  <a:lnTo>
                    <a:pt x="11" y="311"/>
                  </a:lnTo>
                  <a:lnTo>
                    <a:pt x="0" y="311"/>
                  </a:lnTo>
                  <a:lnTo>
                    <a:pt x="0" y="301"/>
                  </a:lnTo>
                  <a:lnTo>
                    <a:pt x="11" y="301"/>
                  </a:lnTo>
                  <a:close/>
                  <a:moveTo>
                    <a:pt x="11" y="322"/>
                  </a:moveTo>
                  <a:lnTo>
                    <a:pt x="11" y="333"/>
                  </a:lnTo>
                  <a:lnTo>
                    <a:pt x="0" y="333"/>
                  </a:lnTo>
                  <a:lnTo>
                    <a:pt x="0" y="322"/>
                  </a:lnTo>
                  <a:lnTo>
                    <a:pt x="11" y="322"/>
                  </a:lnTo>
                  <a:close/>
                  <a:moveTo>
                    <a:pt x="11" y="344"/>
                  </a:moveTo>
                  <a:lnTo>
                    <a:pt x="11" y="354"/>
                  </a:lnTo>
                  <a:lnTo>
                    <a:pt x="0" y="354"/>
                  </a:lnTo>
                  <a:lnTo>
                    <a:pt x="0" y="344"/>
                  </a:lnTo>
                  <a:lnTo>
                    <a:pt x="11" y="344"/>
                  </a:lnTo>
                  <a:close/>
                  <a:moveTo>
                    <a:pt x="11" y="365"/>
                  </a:moveTo>
                  <a:lnTo>
                    <a:pt x="11" y="376"/>
                  </a:lnTo>
                  <a:lnTo>
                    <a:pt x="0" y="376"/>
                  </a:lnTo>
                  <a:lnTo>
                    <a:pt x="0" y="365"/>
                  </a:lnTo>
                  <a:lnTo>
                    <a:pt x="11" y="365"/>
                  </a:lnTo>
                  <a:close/>
                  <a:moveTo>
                    <a:pt x="11" y="386"/>
                  </a:moveTo>
                  <a:lnTo>
                    <a:pt x="11" y="397"/>
                  </a:lnTo>
                  <a:lnTo>
                    <a:pt x="0" y="397"/>
                  </a:lnTo>
                  <a:lnTo>
                    <a:pt x="0" y="386"/>
                  </a:lnTo>
                  <a:lnTo>
                    <a:pt x="11" y="386"/>
                  </a:lnTo>
                  <a:close/>
                  <a:moveTo>
                    <a:pt x="11" y="408"/>
                  </a:moveTo>
                  <a:lnTo>
                    <a:pt x="11" y="418"/>
                  </a:lnTo>
                  <a:lnTo>
                    <a:pt x="0" y="418"/>
                  </a:lnTo>
                  <a:lnTo>
                    <a:pt x="0" y="408"/>
                  </a:lnTo>
                  <a:lnTo>
                    <a:pt x="11" y="408"/>
                  </a:lnTo>
                  <a:close/>
                  <a:moveTo>
                    <a:pt x="11" y="429"/>
                  </a:moveTo>
                  <a:lnTo>
                    <a:pt x="11" y="440"/>
                  </a:lnTo>
                  <a:lnTo>
                    <a:pt x="0" y="440"/>
                  </a:lnTo>
                  <a:lnTo>
                    <a:pt x="0" y="429"/>
                  </a:lnTo>
                  <a:lnTo>
                    <a:pt x="11" y="429"/>
                  </a:lnTo>
                  <a:close/>
                  <a:moveTo>
                    <a:pt x="11" y="451"/>
                  </a:moveTo>
                  <a:lnTo>
                    <a:pt x="11" y="461"/>
                  </a:lnTo>
                  <a:lnTo>
                    <a:pt x="0" y="461"/>
                  </a:lnTo>
                  <a:lnTo>
                    <a:pt x="0" y="451"/>
                  </a:lnTo>
                  <a:lnTo>
                    <a:pt x="11" y="451"/>
                  </a:lnTo>
                  <a:close/>
                  <a:moveTo>
                    <a:pt x="11" y="472"/>
                  </a:moveTo>
                  <a:lnTo>
                    <a:pt x="11" y="483"/>
                  </a:lnTo>
                  <a:lnTo>
                    <a:pt x="0" y="483"/>
                  </a:lnTo>
                  <a:lnTo>
                    <a:pt x="0" y="472"/>
                  </a:lnTo>
                  <a:lnTo>
                    <a:pt x="11" y="472"/>
                  </a:lnTo>
                  <a:close/>
                  <a:moveTo>
                    <a:pt x="11" y="494"/>
                  </a:moveTo>
                  <a:lnTo>
                    <a:pt x="11" y="504"/>
                  </a:lnTo>
                  <a:lnTo>
                    <a:pt x="0" y="504"/>
                  </a:lnTo>
                  <a:lnTo>
                    <a:pt x="0" y="494"/>
                  </a:lnTo>
                  <a:lnTo>
                    <a:pt x="11" y="494"/>
                  </a:lnTo>
                  <a:close/>
                  <a:moveTo>
                    <a:pt x="11" y="515"/>
                  </a:moveTo>
                  <a:lnTo>
                    <a:pt x="11" y="526"/>
                  </a:lnTo>
                  <a:lnTo>
                    <a:pt x="0" y="526"/>
                  </a:lnTo>
                  <a:lnTo>
                    <a:pt x="0" y="515"/>
                  </a:lnTo>
                  <a:lnTo>
                    <a:pt x="11" y="515"/>
                  </a:lnTo>
                  <a:close/>
                  <a:moveTo>
                    <a:pt x="11" y="537"/>
                  </a:moveTo>
                  <a:lnTo>
                    <a:pt x="11" y="547"/>
                  </a:lnTo>
                  <a:lnTo>
                    <a:pt x="0" y="547"/>
                  </a:lnTo>
                  <a:lnTo>
                    <a:pt x="0" y="537"/>
                  </a:lnTo>
                  <a:lnTo>
                    <a:pt x="11" y="537"/>
                  </a:lnTo>
                  <a:close/>
                  <a:moveTo>
                    <a:pt x="11" y="558"/>
                  </a:moveTo>
                  <a:lnTo>
                    <a:pt x="11" y="569"/>
                  </a:lnTo>
                  <a:lnTo>
                    <a:pt x="0" y="569"/>
                  </a:lnTo>
                  <a:lnTo>
                    <a:pt x="0" y="558"/>
                  </a:lnTo>
                  <a:lnTo>
                    <a:pt x="11" y="558"/>
                  </a:lnTo>
                  <a:close/>
                  <a:moveTo>
                    <a:pt x="11" y="579"/>
                  </a:moveTo>
                  <a:lnTo>
                    <a:pt x="11" y="590"/>
                  </a:lnTo>
                  <a:lnTo>
                    <a:pt x="0" y="590"/>
                  </a:lnTo>
                  <a:lnTo>
                    <a:pt x="0" y="579"/>
                  </a:lnTo>
                  <a:lnTo>
                    <a:pt x="11" y="579"/>
                  </a:lnTo>
                  <a:close/>
                  <a:moveTo>
                    <a:pt x="11" y="601"/>
                  </a:moveTo>
                  <a:lnTo>
                    <a:pt x="11" y="612"/>
                  </a:lnTo>
                  <a:lnTo>
                    <a:pt x="0" y="612"/>
                  </a:lnTo>
                  <a:lnTo>
                    <a:pt x="0" y="601"/>
                  </a:lnTo>
                  <a:lnTo>
                    <a:pt x="11" y="601"/>
                  </a:lnTo>
                  <a:close/>
                  <a:moveTo>
                    <a:pt x="11" y="622"/>
                  </a:moveTo>
                  <a:lnTo>
                    <a:pt x="11" y="633"/>
                  </a:lnTo>
                  <a:lnTo>
                    <a:pt x="0" y="633"/>
                  </a:lnTo>
                  <a:lnTo>
                    <a:pt x="0" y="622"/>
                  </a:lnTo>
                  <a:lnTo>
                    <a:pt x="11" y="622"/>
                  </a:lnTo>
                  <a:close/>
                  <a:moveTo>
                    <a:pt x="11" y="644"/>
                  </a:moveTo>
                  <a:lnTo>
                    <a:pt x="11" y="655"/>
                  </a:lnTo>
                  <a:lnTo>
                    <a:pt x="0" y="655"/>
                  </a:lnTo>
                  <a:lnTo>
                    <a:pt x="0" y="644"/>
                  </a:lnTo>
                  <a:lnTo>
                    <a:pt x="11" y="644"/>
                  </a:lnTo>
                  <a:close/>
                  <a:moveTo>
                    <a:pt x="11" y="665"/>
                  </a:moveTo>
                  <a:lnTo>
                    <a:pt x="11" y="676"/>
                  </a:lnTo>
                  <a:lnTo>
                    <a:pt x="0" y="676"/>
                  </a:lnTo>
                  <a:lnTo>
                    <a:pt x="0" y="665"/>
                  </a:lnTo>
                  <a:lnTo>
                    <a:pt x="11" y="665"/>
                  </a:lnTo>
                  <a:close/>
                  <a:moveTo>
                    <a:pt x="11" y="687"/>
                  </a:moveTo>
                  <a:lnTo>
                    <a:pt x="11" y="697"/>
                  </a:lnTo>
                  <a:lnTo>
                    <a:pt x="0" y="697"/>
                  </a:lnTo>
                  <a:lnTo>
                    <a:pt x="0" y="687"/>
                  </a:lnTo>
                  <a:lnTo>
                    <a:pt x="11" y="687"/>
                  </a:lnTo>
                  <a:close/>
                  <a:moveTo>
                    <a:pt x="11" y="708"/>
                  </a:moveTo>
                  <a:lnTo>
                    <a:pt x="11" y="719"/>
                  </a:lnTo>
                  <a:lnTo>
                    <a:pt x="0" y="719"/>
                  </a:lnTo>
                  <a:lnTo>
                    <a:pt x="0" y="708"/>
                  </a:lnTo>
                  <a:lnTo>
                    <a:pt x="11" y="708"/>
                  </a:lnTo>
                  <a:close/>
                  <a:moveTo>
                    <a:pt x="11" y="730"/>
                  </a:moveTo>
                  <a:lnTo>
                    <a:pt x="11" y="740"/>
                  </a:lnTo>
                  <a:lnTo>
                    <a:pt x="0" y="740"/>
                  </a:lnTo>
                  <a:lnTo>
                    <a:pt x="0" y="730"/>
                  </a:lnTo>
                  <a:lnTo>
                    <a:pt x="11" y="730"/>
                  </a:lnTo>
                  <a:close/>
                  <a:moveTo>
                    <a:pt x="11" y="751"/>
                  </a:moveTo>
                  <a:lnTo>
                    <a:pt x="11" y="762"/>
                  </a:lnTo>
                  <a:lnTo>
                    <a:pt x="0" y="762"/>
                  </a:lnTo>
                  <a:lnTo>
                    <a:pt x="0" y="751"/>
                  </a:lnTo>
                  <a:lnTo>
                    <a:pt x="11" y="751"/>
                  </a:lnTo>
                  <a:close/>
                  <a:moveTo>
                    <a:pt x="11" y="772"/>
                  </a:moveTo>
                  <a:lnTo>
                    <a:pt x="11" y="783"/>
                  </a:lnTo>
                  <a:lnTo>
                    <a:pt x="0" y="783"/>
                  </a:lnTo>
                  <a:lnTo>
                    <a:pt x="0" y="772"/>
                  </a:lnTo>
                  <a:lnTo>
                    <a:pt x="11" y="772"/>
                  </a:lnTo>
                  <a:close/>
                  <a:moveTo>
                    <a:pt x="11" y="794"/>
                  </a:moveTo>
                  <a:lnTo>
                    <a:pt x="11" y="805"/>
                  </a:lnTo>
                  <a:lnTo>
                    <a:pt x="0" y="805"/>
                  </a:lnTo>
                  <a:lnTo>
                    <a:pt x="0" y="794"/>
                  </a:lnTo>
                  <a:lnTo>
                    <a:pt x="11" y="794"/>
                  </a:lnTo>
                  <a:close/>
                  <a:moveTo>
                    <a:pt x="11" y="815"/>
                  </a:moveTo>
                  <a:lnTo>
                    <a:pt x="11" y="826"/>
                  </a:lnTo>
                  <a:lnTo>
                    <a:pt x="0" y="826"/>
                  </a:lnTo>
                  <a:lnTo>
                    <a:pt x="0" y="815"/>
                  </a:lnTo>
                  <a:lnTo>
                    <a:pt x="11" y="815"/>
                  </a:lnTo>
                  <a:close/>
                  <a:moveTo>
                    <a:pt x="11" y="837"/>
                  </a:moveTo>
                  <a:lnTo>
                    <a:pt x="11" y="848"/>
                  </a:lnTo>
                  <a:lnTo>
                    <a:pt x="0" y="848"/>
                  </a:lnTo>
                  <a:lnTo>
                    <a:pt x="0" y="837"/>
                  </a:lnTo>
                  <a:lnTo>
                    <a:pt x="11" y="837"/>
                  </a:lnTo>
                  <a:close/>
                  <a:moveTo>
                    <a:pt x="11" y="858"/>
                  </a:moveTo>
                  <a:lnTo>
                    <a:pt x="11" y="869"/>
                  </a:lnTo>
                  <a:lnTo>
                    <a:pt x="0" y="869"/>
                  </a:lnTo>
                  <a:lnTo>
                    <a:pt x="0" y="858"/>
                  </a:lnTo>
                  <a:lnTo>
                    <a:pt x="11" y="858"/>
                  </a:lnTo>
                  <a:close/>
                  <a:moveTo>
                    <a:pt x="11" y="880"/>
                  </a:moveTo>
                  <a:lnTo>
                    <a:pt x="11" y="891"/>
                  </a:lnTo>
                  <a:lnTo>
                    <a:pt x="0" y="891"/>
                  </a:lnTo>
                  <a:lnTo>
                    <a:pt x="0" y="880"/>
                  </a:lnTo>
                  <a:lnTo>
                    <a:pt x="11" y="880"/>
                  </a:lnTo>
                  <a:close/>
                  <a:moveTo>
                    <a:pt x="11" y="901"/>
                  </a:moveTo>
                  <a:lnTo>
                    <a:pt x="11" y="912"/>
                  </a:lnTo>
                  <a:lnTo>
                    <a:pt x="0" y="912"/>
                  </a:lnTo>
                  <a:lnTo>
                    <a:pt x="0" y="901"/>
                  </a:lnTo>
                  <a:lnTo>
                    <a:pt x="11" y="901"/>
                  </a:lnTo>
                  <a:close/>
                  <a:moveTo>
                    <a:pt x="11" y="923"/>
                  </a:moveTo>
                  <a:lnTo>
                    <a:pt x="11" y="933"/>
                  </a:lnTo>
                  <a:lnTo>
                    <a:pt x="0" y="933"/>
                  </a:lnTo>
                  <a:lnTo>
                    <a:pt x="0" y="923"/>
                  </a:lnTo>
                  <a:lnTo>
                    <a:pt x="11" y="923"/>
                  </a:lnTo>
                  <a:close/>
                  <a:moveTo>
                    <a:pt x="11" y="944"/>
                  </a:moveTo>
                  <a:lnTo>
                    <a:pt x="11" y="955"/>
                  </a:lnTo>
                  <a:lnTo>
                    <a:pt x="0" y="955"/>
                  </a:lnTo>
                  <a:lnTo>
                    <a:pt x="0" y="944"/>
                  </a:lnTo>
                  <a:lnTo>
                    <a:pt x="11" y="944"/>
                  </a:lnTo>
                  <a:close/>
                  <a:moveTo>
                    <a:pt x="11" y="965"/>
                  </a:moveTo>
                  <a:lnTo>
                    <a:pt x="11" y="976"/>
                  </a:lnTo>
                  <a:lnTo>
                    <a:pt x="0" y="976"/>
                  </a:lnTo>
                  <a:lnTo>
                    <a:pt x="0" y="965"/>
                  </a:lnTo>
                  <a:lnTo>
                    <a:pt x="11" y="965"/>
                  </a:lnTo>
                  <a:close/>
                  <a:moveTo>
                    <a:pt x="11" y="987"/>
                  </a:moveTo>
                  <a:lnTo>
                    <a:pt x="11" y="998"/>
                  </a:lnTo>
                  <a:lnTo>
                    <a:pt x="0" y="998"/>
                  </a:lnTo>
                  <a:lnTo>
                    <a:pt x="0" y="987"/>
                  </a:lnTo>
                  <a:lnTo>
                    <a:pt x="11" y="987"/>
                  </a:lnTo>
                  <a:close/>
                  <a:moveTo>
                    <a:pt x="11" y="1008"/>
                  </a:moveTo>
                  <a:lnTo>
                    <a:pt x="11" y="1019"/>
                  </a:lnTo>
                  <a:lnTo>
                    <a:pt x="0" y="1019"/>
                  </a:lnTo>
                  <a:lnTo>
                    <a:pt x="0" y="1008"/>
                  </a:lnTo>
                  <a:lnTo>
                    <a:pt x="11" y="1008"/>
                  </a:lnTo>
                  <a:close/>
                  <a:moveTo>
                    <a:pt x="11" y="1030"/>
                  </a:moveTo>
                  <a:lnTo>
                    <a:pt x="11" y="1041"/>
                  </a:lnTo>
                  <a:lnTo>
                    <a:pt x="0" y="1041"/>
                  </a:lnTo>
                  <a:lnTo>
                    <a:pt x="0" y="1030"/>
                  </a:lnTo>
                  <a:lnTo>
                    <a:pt x="11" y="1030"/>
                  </a:lnTo>
                  <a:close/>
                  <a:moveTo>
                    <a:pt x="11" y="1051"/>
                  </a:moveTo>
                  <a:lnTo>
                    <a:pt x="11" y="1062"/>
                  </a:lnTo>
                  <a:lnTo>
                    <a:pt x="0" y="1062"/>
                  </a:lnTo>
                  <a:lnTo>
                    <a:pt x="0" y="1051"/>
                  </a:lnTo>
                  <a:lnTo>
                    <a:pt x="11" y="1051"/>
                  </a:lnTo>
                  <a:close/>
                  <a:moveTo>
                    <a:pt x="11" y="1073"/>
                  </a:moveTo>
                  <a:lnTo>
                    <a:pt x="11" y="1084"/>
                  </a:lnTo>
                  <a:lnTo>
                    <a:pt x="0" y="1084"/>
                  </a:lnTo>
                  <a:lnTo>
                    <a:pt x="0" y="1073"/>
                  </a:lnTo>
                  <a:lnTo>
                    <a:pt x="11" y="1073"/>
                  </a:lnTo>
                  <a:close/>
                  <a:moveTo>
                    <a:pt x="11" y="1094"/>
                  </a:moveTo>
                  <a:lnTo>
                    <a:pt x="11" y="1105"/>
                  </a:lnTo>
                  <a:lnTo>
                    <a:pt x="0" y="1105"/>
                  </a:lnTo>
                  <a:lnTo>
                    <a:pt x="0" y="1094"/>
                  </a:lnTo>
                  <a:lnTo>
                    <a:pt x="11" y="1094"/>
                  </a:lnTo>
                  <a:close/>
                  <a:moveTo>
                    <a:pt x="11" y="1116"/>
                  </a:moveTo>
                  <a:lnTo>
                    <a:pt x="11" y="1126"/>
                  </a:lnTo>
                  <a:lnTo>
                    <a:pt x="0" y="1126"/>
                  </a:lnTo>
                  <a:lnTo>
                    <a:pt x="0" y="1116"/>
                  </a:lnTo>
                  <a:lnTo>
                    <a:pt x="11" y="1116"/>
                  </a:lnTo>
                  <a:close/>
                  <a:moveTo>
                    <a:pt x="11" y="1137"/>
                  </a:moveTo>
                  <a:lnTo>
                    <a:pt x="11" y="1148"/>
                  </a:lnTo>
                  <a:lnTo>
                    <a:pt x="0" y="1148"/>
                  </a:lnTo>
                  <a:lnTo>
                    <a:pt x="0" y="1137"/>
                  </a:lnTo>
                  <a:lnTo>
                    <a:pt x="11" y="1137"/>
                  </a:lnTo>
                  <a:close/>
                  <a:moveTo>
                    <a:pt x="11" y="1159"/>
                  </a:moveTo>
                  <a:lnTo>
                    <a:pt x="11" y="1169"/>
                  </a:lnTo>
                  <a:lnTo>
                    <a:pt x="0" y="1169"/>
                  </a:lnTo>
                  <a:lnTo>
                    <a:pt x="0" y="1159"/>
                  </a:lnTo>
                  <a:lnTo>
                    <a:pt x="11" y="1159"/>
                  </a:lnTo>
                  <a:close/>
                  <a:moveTo>
                    <a:pt x="11" y="1180"/>
                  </a:moveTo>
                  <a:lnTo>
                    <a:pt x="11" y="1191"/>
                  </a:lnTo>
                  <a:lnTo>
                    <a:pt x="0" y="1191"/>
                  </a:lnTo>
                  <a:lnTo>
                    <a:pt x="0" y="1180"/>
                  </a:lnTo>
                  <a:lnTo>
                    <a:pt x="11" y="1180"/>
                  </a:lnTo>
                  <a:close/>
                  <a:moveTo>
                    <a:pt x="11" y="1201"/>
                  </a:moveTo>
                  <a:lnTo>
                    <a:pt x="11" y="1212"/>
                  </a:lnTo>
                  <a:lnTo>
                    <a:pt x="0" y="1212"/>
                  </a:lnTo>
                  <a:lnTo>
                    <a:pt x="0" y="1201"/>
                  </a:lnTo>
                  <a:lnTo>
                    <a:pt x="11" y="1201"/>
                  </a:lnTo>
                  <a:close/>
                  <a:moveTo>
                    <a:pt x="11" y="1223"/>
                  </a:moveTo>
                  <a:lnTo>
                    <a:pt x="11" y="1234"/>
                  </a:lnTo>
                  <a:lnTo>
                    <a:pt x="0" y="1234"/>
                  </a:lnTo>
                  <a:lnTo>
                    <a:pt x="0" y="1223"/>
                  </a:lnTo>
                  <a:lnTo>
                    <a:pt x="11" y="1223"/>
                  </a:lnTo>
                  <a:close/>
                  <a:moveTo>
                    <a:pt x="11" y="1244"/>
                  </a:moveTo>
                  <a:lnTo>
                    <a:pt x="11" y="1255"/>
                  </a:lnTo>
                  <a:lnTo>
                    <a:pt x="0" y="1255"/>
                  </a:lnTo>
                  <a:lnTo>
                    <a:pt x="0" y="1244"/>
                  </a:lnTo>
                  <a:lnTo>
                    <a:pt x="11" y="1244"/>
                  </a:lnTo>
                  <a:close/>
                  <a:moveTo>
                    <a:pt x="11" y="1266"/>
                  </a:moveTo>
                  <a:lnTo>
                    <a:pt x="11" y="1277"/>
                  </a:lnTo>
                  <a:lnTo>
                    <a:pt x="0" y="1277"/>
                  </a:lnTo>
                  <a:lnTo>
                    <a:pt x="0" y="1266"/>
                  </a:lnTo>
                  <a:lnTo>
                    <a:pt x="11" y="1266"/>
                  </a:lnTo>
                  <a:close/>
                  <a:moveTo>
                    <a:pt x="11" y="1287"/>
                  </a:moveTo>
                  <a:lnTo>
                    <a:pt x="11" y="1298"/>
                  </a:lnTo>
                  <a:lnTo>
                    <a:pt x="0" y="1298"/>
                  </a:lnTo>
                  <a:lnTo>
                    <a:pt x="0" y="1287"/>
                  </a:lnTo>
                  <a:lnTo>
                    <a:pt x="11" y="1287"/>
                  </a:lnTo>
                  <a:close/>
                  <a:moveTo>
                    <a:pt x="11" y="1309"/>
                  </a:moveTo>
                  <a:lnTo>
                    <a:pt x="11" y="1319"/>
                  </a:lnTo>
                  <a:lnTo>
                    <a:pt x="0" y="1319"/>
                  </a:lnTo>
                  <a:lnTo>
                    <a:pt x="0" y="1309"/>
                  </a:lnTo>
                  <a:lnTo>
                    <a:pt x="11" y="1309"/>
                  </a:lnTo>
                  <a:close/>
                  <a:moveTo>
                    <a:pt x="11" y="1330"/>
                  </a:moveTo>
                  <a:lnTo>
                    <a:pt x="11" y="1341"/>
                  </a:lnTo>
                  <a:lnTo>
                    <a:pt x="0" y="1341"/>
                  </a:lnTo>
                  <a:lnTo>
                    <a:pt x="0" y="1330"/>
                  </a:lnTo>
                  <a:lnTo>
                    <a:pt x="11" y="1330"/>
                  </a:lnTo>
                  <a:close/>
                  <a:moveTo>
                    <a:pt x="11" y="1352"/>
                  </a:moveTo>
                  <a:lnTo>
                    <a:pt x="11" y="1362"/>
                  </a:lnTo>
                  <a:lnTo>
                    <a:pt x="0" y="1362"/>
                  </a:lnTo>
                  <a:lnTo>
                    <a:pt x="0" y="1352"/>
                  </a:lnTo>
                  <a:lnTo>
                    <a:pt x="11" y="1352"/>
                  </a:lnTo>
                  <a:close/>
                  <a:moveTo>
                    <a:pt x="11" y="1373"/>
                  </a:moveTo>
                  <a:lnTo>
                    <a:pt x="11" y="1384"/>
                  </a:lnTo>
                  <a:lnTo>
                    <a:pt x="0" y="1384"/>
                  </a:lnTo>
                  <a:lnTo>
                    <a:pt x="0" y="1373"/>
                  </a:lnTo>
                  <a:lnTo>
                    <a:pt x="11" y="1373"/>
                  </a:lnTo>
                  <a:close/>
                  <a:moveTo>
                    <a:pt x="11" y="1395"/>
                  </a:moveTo>
                  <a:lnTo>
                    <a:pt x="11" y="1405"/>
                  </a:lnTo>
                  <a:lnTo>
                    <a:pt x="0" y="1405"/>
                  </a:lnTo>
                  <a:lnTo>
                    <a:pt x="0" y="1395"/>
                  </a:lnTo>
                  <a:lnTo>
                    <a:pt x="11" y="1395"/>
                  </a:lnTo>
                  <a:close/>
                  <a:moveTo>
                    <a:pt x="11" y="1416"/>
                  </a:moveTo>
                  <a:lnTo>
                    <a:pt x="11" y="1427"/>
                  </a:lnTo>
                  <a:lnTo>
                    <a:pt x="0" y="1427"/>
                  </a:lnTo>
                  <a:lnTo>
                    <a:pt x="0" y="1416"/>
                  </a:lnTo>
                  <a:lnTo>
                    <a:pt x="11" y="1416"/>
                  </a:lnTo>
                  <a:close/>
                  <a:moveTo>
                    <a:pt x="11" y="1438"/>
                  </a:moveTo>
                  <a:lnTo>
                    <a:pt x="11" y="1448"/>
                  </a:lnTo>
                  <a:lnTo>
                    <a:pt x="0" y="1448"/>
                  </a:lnTo>
                  <a:lnTo>
                    <a:pt x="0" y="1438"/>
                  </a:lnTo>
                  <a:lnTo>
                    <a:pt x="11" y="1438"/>
                  </a:lnTo>
                  <a:close/>
                  <a:moveTo>
                    <a:pt x="11" y="1459"/>
                  </a:moveTo>
                  <a:lnTo>
                    <a:pt x="11" y="1470"/>
                  </a:lnTo>
                  <a:lnTo>
                    <a:pt x="0" y="1470"/>
                  </a:lnTo>
                  <a:lnTo>
                    <a:pt x="0" y="1459"/>
                  </a:lnTo>
                  <a:lnTo>
                    <a:pt x="11" y="1459"/>
                  </a:lnTo>
                  <a:close/>
                  <a:moveTo>
                    <a:pt x="11" y="1480"/>
                  </a:moveTo>
                  <a:lnTo>
                    <a:pt x="11" y="1491"/>
                  </a:lnTo>
                  <a:lnTo>
                    <a:pt x="0" y="1491"/>
                  </a:lnTo>
                  <a:lnTo>
                    <a:pt x="0" y="1480"/>
                  </a:lnTo>
                  <a:lnTo>
                    <a:pt x="11" y="1480"/>
                  </a:lnTo>
                  <a:close/>
                  <a:moveTo>
                    <a:pt x="11" y="1502"/>
                  </a:moveTo>
                  <a:lnTo>
                    <a:pt x="11" y="1512"/>
                  </a:lnTo>
                  <a:lnTo>
                    <a:pt x="0" y="1512"/>
                  </a:lnTo>
                  <a:lnTo>
                    <a:pt x="0" y="1502"/>
                  </a:lnTo>
                  <a:lnTo>
                    <a:pt x="11" y="1502"/>
                  </a:lnTo>
                  <a:close/>
                  <a:moveTo>
                    <a:pt x="11" y="1523"/>
                  </a:moveTo>
                  <a:lnTo>
                    <a:pt x="11" y="1534"/>
                  </a:lnTo>
                  <a:lnTo>
                    <a:pt x="0" y="1534"/>
                  </a:lnTo>
                  <a:lnTo>
                    <a:pt x="0" y="1523"/>
                  </a:lnTo>
                  <a:lnTo>
                    <a:pt x="11" y="1523"/>
                  </a:lnTo>
                  <a:close/>
                  <a:moveTo>
                    <a:pt x="11" y="1545"/>
                  </a:moveTo>
                  <a:lnTo>
                    <a:pt x="11" y="1555"/>
                  </a:lnTo>
                  <a:lnTo>
                    <a:pt x="0" y="1555"/>
                  </a:lnTo>
                  <a:lnTo>
                    <a:pt x="0" y="1545"/>
                  </a:lnTo>
                  <a:lnTo>
                    <a:pt x="11" y="1545"/>
                  </a:lnTo>
                  <a:close/>
                  <a:moveTo>
                    <a:pt x="11" y="1566"/>
                  </a:moveTo>
                  <a:lnTo>
                    <a:pt x="11" y="1577"/>
                  </a:lnTo>
                  <a:lnTo>
                    <a:pt x="0" y="1577"/>
                  </a:lnTo>
                  <a:lnTo>
                    <a:pt x="0" y="1566"/>
                  </a:lnTo>
                  <a:lnTo>
                    <a:pt x="11" y="1566"/>
                  </a:lnTo>
                  <a:close/>
                  <a:moveTo>
                    <a:pt x="11" y="1588"/>
                  </a:moveTo>
                  <a:lnTo>
                    <a:pt x="11" y="1598"/>
                  </a:lnTo>
                  <a:lnTo>
                    <a:pt x="0" y="1598"/>
                  </a:lnTo>
                  <a:lnTo>
                    <a:pt x="0" y="1588"/>
                  </a:lnTo>
                  <a:lnTo>
                    <a:pt x="11" y="1588"/>
                  </a:lnTo>
                  <a:close/>
                  <a:moveTo>
                    <a:pt x="11" y="1609"/>
                  </a:moveTo>
                  <a:lnTo>
                    <a:pt x="11" y="1620"/>
                  </a:lnTo>
                  <a:lnTo>
                    <a:pt x="0" y="1620"/>
                  </a:lnTo>
                  <a:lnTo>
                    <a:pt x="0" y="1609"/>
                  </a:lnTo>
                  <a:lnTo>
                    <a:pt x="11" y="1609"/>
                  </a:lnTo>
                  <a:close/>
                  <a:moveTo>
                    <a:pt x="11" y="1631"/>
                  </a:moveTo>
                  <a:lnTo>
                    <a:pt x="11" y="1641"/>
                  </a:lnTo>
                  <a:lnTo>
                    <a:pt x="0" y="1641"/>
                  </a:lnTo>
                  <a:lnTo>
                    <a:pt x="0" y="1631"/>
                  </a:lnTo>
                  <a:lnTo>
                    <a:pt x="11" y="1631"/>
                  </a:lnTo>
                  <a:close/>
                  <a:moveTo>
                    <a:pt x="11" y="1652"/>
                  </a:moveTo>
                  <a:lnTo>
                    <a:pt x="11" y="1663"/>
                  </a:lnTo>
                  <a:lnTo>
                    <a:pt x="0" y="1663"/>
                  </a:lnTo>
                  <a:lnTo>
                    <a:pt x="0" y="1652"/>
                  </a:lnTo>
                  <a:lnTo>
                    <a:pt x="11" y="1652"/>
                  </a:lnTo>
                  <a:close/>
                  <a:moveTo>
                    <a:pt x="11" y="1673"/>
                  </a:moveTo>
                  <a:lnTo>
                    <a:pt x="11" y="1684"/>
                  </a:lnTo>
                  <a:lnTo>
                    <a:pt x="0" y="1684"/>
                  </a:lnTo>
                  <a:lnTo>
                    <a:pt x="0" y="1673"/>
                  </a:lnTo>
                  <a:lnTo>
                    <a:pt x="11" y="1673"/>
                  </a:lnTo>
                  <a:close/>
                  <a:moveTo>
                    <a:pt x="11" y="1695"/>
                  </a:moveTo>
                  <a:lnTo>
                    <a:pt x="11" y="1705"/>
                  </a:lnTo>
                  <a:lnTo>
                    <a:pt x="0" y="1705"/>
                  </a:lnTo>
                  <a:lnTo>
                    <a:pt x="0" y="1695"/>
                  </a:lnTo>
                  <a:lnTo>
                    <a:pt x="11" y="1695"/>
                  </a:lnTo>
                  <a:close/>
                  <a:moveTo>
                    <a:pt x="11" y="1716"/>
                  </a:moveTo>
                  <a:lnTo>
                    <a:pt x="11" y="1727"/>
                  </a:lnTo>
                  <a:lnTo>
                    <a:pt x="0" y="1727"/>
                  </a:lnTo>
                  <a:lnTo>
                    <a:pt x="0" y="1716"/>
                  </a:lnTo>
                  <a:lnTo>
                    <a:pt x="11" y="1716"/>
                  </a:lnTo>
                  <a:close/>
                  <a:moveTo>
                    <a:pt x="11" y="1738"/>
                  </a:moveTo>
                  <a:lnTo>
                    <a:pt x="11" y="1748"/>
                  </a:lnTo>
                  <a:lnTo>
                    <a:pt x="0" y="1748"/>
                  </a:lnTo>
                  <a:lnTo>
                    <a:pt x="0" y="1738"/>
                  </a:lnTo>
                  <a:lnTo>
                    <a:pt x="11" y="1738"/>
                  </a:lnTo>
                  <a:close/>
                  <a:moveTo>
                    <a:pt x="11" y="1759"/>
                  </a:moveTo>
                  <a:lnTo>
                    <a:pt x="11" y="1770"/>
                  </a:lnTo>
                  <a:lnTo>
                    <a:pt x="0" y="1770"/>
                  </a:lnTo>
                  <a:lnTo>
                    <a:pt x="0" y="1759"/>
                  </a:lnTo>
                  <a:lnTo>
                    <a:pt x="11" y="1759"/>
                  </a:lnTo>
                  <a:close/>
                  <a:moveTo>
                    <a:pt x="11" y="1781"/>
                  </a:moveTo>
                  <a:lnTo>
                    <a:pt x="11" y="1791"/>
                  </a:lnTo>
                  <a:lnTo>
                    <a:pt x="0" y="1791"/>
                  </a:lnTo>
                  <a:lnTo>
                    <a:pt x="0" y="1781"/>
                  </a:lnTo>
                  <a:lnTo>
                    <a:pt x="11" y="1781"/>
                  </a:lnTo>
                  <a:close/>
                  <a:moveTo>
                    <a:pt x="11" y="1802"/>
                  </a:moveTo>
                  <a:lnTo>
                    <a:pt x="11" y="1813"/>
                  </a:lnTo>
                  <a:lnTo>
                    <a:pt x="0" y="1813"/>
                  </a:lnTo>
                  <a:lnTo>
                    <a:pt x="0" y="1802"/>
                  </a:lnTo>
                  <a:lnTo>
                    <a:pt x="11" y="1802"/>
                  </a:lnTo>
                  <a:close/>
                  <a:moveTo>
                    <a:pt x="11" y="1824"/>
                  </a:moveTo>
                  <a:lnTo>
                    <a:pt x="11" y="1834"/>
                  </a:lnTo>
                  <a:lnTo>
                    <a:pt x="0" y="1834"/>
                  </a:lnTo>
                  <a:lnTo>
                    <a:pt x="0" y="1824"/>
                  </a:lnTo>
                  <a:lnTo>
                    <a:pt x="11" y="1824"/>
                  </a:lnTo>
                  <a:close/>
                  <a:moveTo>
                    <a:pt x="11" y="1845"/>
                  </a:moveTo>
                  <a:lnTo>
                    <a:pt x="11" y="1856"/>
                  </a:lnTo>
                  <a:lnTo>
                    <a:pt x="0" y="1856"/>
                  </a:lnTo>
                  <a:lnTo>
                    <a:pt x="0" y="1845"/>
                  </a:lnTo>
                  <a:lnTo>
                    <a:pt x="11" y="1845"/>
                  </a:lnTo>
                  <a:close/>
                  <a:moveTo>
                    <a:pt x="11" y="1866"/>
                  </a:moveTo>
                  <a:lnTo>
                    <a:pt x="11" y="1877"/>
                  </a:lnTo>
                  <a:lnTo>
                    <a:pt x="0" y="1877"/>
                  </a:lnTo>
                  <a:lnTo>
                    <a:pt x="0" y="1866"/>
                  </a:lnTo>
                  <a:lnTo>
                    <a:pt x="11" y="1866"/>
                  </a:lnTo>
                  <a:close/>
                  <a:moveTo>
                    <a:pt x="11" y="1888"/>
                  </a:moveTo>
                  <a:lnTo>
                    <a:pt x="11" y="1899"/>
                  </a:lnTo>
                  <a:lnTo>
                    <a:pt x="0" y="1899"/>
                  </a:lnTo>
                  <a:lnTo>
                    <a:pt x="0" y="1888"/>
                  </a:lnTo>
                  <a:lnTo>
                    <a:pt x="11" y="1888"/>
                  </a:lnTo>
                  <a:close/>
                  <a:moveTo>
                    <a:pt x="11" y="1909"/>
                  </a:moveTo>
                  <a:lnTo>
                    <a:pt x="11" y="1920"/>
                  </a:lnTo>
                  <a:lnTo>
                    <a:pt x="0" y="1920"/>
                  </a:lnTo>
                  <a:lnTo>
                    <a:pt x="0" y="1909"/>
                  </a:lnTo>
                  <a:lnTo>
                    <a:pt x="11" y="1909"/>
                  </a:lnTo>
                  <a:close/>
                  <a:moveTo>
                    <a:pt x="11" y="1931"/>
                  </a:moveTo>
                  <a:lnTo>
                    <a:pt x="11" y="1942"/>
                  </a:lnTo>
                  <a:lnTo>
                    <a:pt x="0" y="1942"/>
                  </a:lnTo>
                  <a:lnTo>
                    <a:pt x="0" y="1931"/>
                  </a:lnTo>
                  <a:lnTo>
                    <a:pt x="11" y="1931"/>
                  </a:lnTo>
                  <a:close/>
                  <a:moveTo>
                    <a:pt x="11" y="1952"/>
                  </a:moveTo>
                  <a:lnTo>
                    <a:pt x="11" y="1963"/>
                  </a:lnTo>
                  <a:lnTo>
                    <a:pt x="0" y="1963"/>
                  </a:lnTo>
                  <a:lnTo>
                    <a:pt x="0" y="1952"/>
                  </a:lnTo>
                  <a:lnTo>
                    <a:pt x="11" y="1952"/>
                  </a:lnTo>
                  <a:close/>
                  <a:moveTo>
                    <a:pt x="11" y="1974"/>
                  </a:moveTo>
                  <a:lnTo>
                    <a:pt x="11" y="1984"/>
                  </a:lnTo>
                  <a:lnTo>
                    <a:pt x="0" y="1984"/>
                  </a:lnTo>
                  <a:lnTo>
                    <a:pt x="0" y="1974"/>
                  </a:lnTo>
                  <a:lnTo>
                    <a:pt x="11" y="1974"/>
                  </a:lnTo>
                  <a:close/>
                  <a:moveTo>
                    <a:pt x="11" y="1995"/>
                  </a:moveTo>
                  <a:lnTo>
                    <a:pt x="11" y="2006"/>
                  </a:lnTo>
                  <a:lnTo>
                    <a:pt x="0" y="2006"/>
                  </a:lnTo>
                  <a:lnTo>
                    <a:pt x="0" y="1995"/>
                  </a:lnTo>
                  <a:lnTo>
                    <a:pt x="11" y="1995"/>
                  </a:lnTo>
                  <a:close/>
                  <a:moveTo>
                    <a:pt x="11" y="2017"/>
                  </a:moveTo>
                  <a:lnTo>
                    <a:pt x="11" y="2027"/>
                  </a:lnTo>
                  <a:lnTo>
                    <a:pt x="0" y="2027"/>
                  </a:lnTo>
                  <a:lnTo>
                    <a:pt x="0" y="2017"/>
                  </a:lnTo>
                  <a:lnTo>
                    <a:pt x="11" y="2017"/>
                  </a:lnTo>
                  <a:close/>
                  <a:moveTo>
                    <a:pt x="11" y="2038"/>
                  </a:moveTo>
                  <a:lnTo>
                    <a:pt x="11" y="2049"/>
                  </a:lnTo>
                  <a:lnTo>
                    <a:pt x="0" y="2049"/>
                  </a:lnTo>
                  <a:lnTo>
                    <a:pt x="0" y="2038"/>
                  </a:lnTo>
                  <a:lnTo>
                    <a:pt x="11" y="2038"/>
                  </a:lnTo>
                  <a:close/>
                  <a:moveTo>
                    <a:pt x="11" y="2059"/>
                  </a:moveTo>
                  <a:lnTo>
                    <a:pt x="11" y="2070"/>
                  </a:lnTo>
                  <a:lnTo>
                    <a:pt x="0" y="2070"/>
                  </a:lnTo>
                  <a:lnTo>
                    <a:pt x="0" y="2059"/>
                  </a:lnTo>
                  <a:lnTo>
                    <a:pt x="11" y="2059"/>
                  </a:lnTo>
                  <a:close/>
                  <a:moveTo>
                    <a:pt x="11" y="2081"/>
                  </a:moveTo>
                  <a:lnTo>
                    <a:pt x="11" y="2092"/>
                  </a:lnTo>
                  <a:lnTo>
                    <a:pt x="0" y="2092"/>
                  </a:lnTo>
                  <a:lnTo>
                    <a:pt x="0" y="2081"/>
                  </a:lnTo>
                  <a:lnTo>
                    <a:pt x="11" y="2081"/>
                  </a:lnTo>
                  <a:close/>
                  <a:moveTo>
                    <a:pt x="11" y="2102"/>
                  </a:moveTo>
                  <a:lnTo>
                    <a:pt x="11" y="2113"/>
                  </a:lnTo>
                  <a:lnTo>
                    <a:pt x="0" y="2113"/>
                  </a:lnTo>
                  <a:lnTo>
                    <a:pt x="0" y="2102"/>
                  </a:lnTo>
                  <a:lnTo>
                    <a:pt x="11" y="2102"/>
                  </a:lnTo>
                  <a:close/>
                  <a:moveTo>
                    <a:pt x="11" y="2124"/>
                  </a:moveTo>
                  <a:lnTo>
                    <a:pt x="11" y="2135"/>
                  </a:lnTo>
                  <a:lnTo>
                    <a:pt x="0" y="2135"/>
                  </a:lnTo>
                  <a:lnTo>
                    <a:pt x="0" y="2124"/>
                  </a:lnTo>
                  <a:lnTo>
                    <a:pt x="11" y="2124"/>
                  </a:lnTo>
                  <a:close/>
                  <a:moveTo>
                    <a:pt x="11" y="2145"/>
                  </a:moveTo>
                  <a:lnTo>
                    <a:pt x="11" y="2156"/>
                  </a:lnTo>
                  <a:lnTo>
                    <a:pt x="0" y="2156"/>
                  </a:lnTo>
                  <a:lnTo>
                    <a:pt x="0" y="2145"/>
                  </a:lnTo>
                  <a:lnTo>
                    <a:pt x="11" y="2145"/>
                  </a:lnTo>
                  <a:close/>
                  <a:moveTo>
                    <a:pt x="11" y="2167"/>
                  </a:moveTo>
                  <a:lnTo>
                    <a:pt x="11" y="2178"/>
                  </a:lnTo>
                  <a:lnTo>
                    <a:pt x="0" y="2178"/>
                  </a:lnTo>
                  <a:lnTo>
                    <a:pt x="0" y="2167"/>
                  </a:lnTo>
                  <a:lnTo>
                    <a:pt x="11" y="2167"/>
                  </a:lnTo>
                  <a:close/>
                  <a:moveTo>
                    <a:pt x="11" y="2188"/>
                  </a:moveTo>
                  <a:lnTo>
                    <a:pt x="11" y="2199"/>
                  </a:lnTo>
                  <a:lnTo>
                    <a:pt x="0" y="2199"/>
                  </a:lnTo>
                  <a:lnTo>
                    <a:pt x="0" y="2188"/>
                  </a:lnTo>
                  <a:lnTo>
                    <a:pt x="11" y="2188"/>
                  </a:lnTo>
                  <a:close/>
                  <a:moveTo>
                    <a:pt x="11" y="2210"/>
                  </a:moveTo>
                  <a:lnTo>
                    <a:pt x="11" y="2220"/>
                  </a:lnTo>
                  <a:lnTo>
                    <a:pt x="0" y="2220"/>
                  </a:lnTo>
                  <a:lnTo>
                    <a:pt x="0" y="2210"/>
                  </a:lnTo>
                  <a:lnTo>
                    <a:pt x="11" y="2210"/>
                  </a:lnTo>
                  <a:close/>
                  <a:moveTo>
                    <a:pt x="11" y="2231"/>
                  </a:moveTo>
                  <a:lnTo>
                    <a:pt x="11" y="2242"/>
                  </a:lnTo>
                  <a:lnTo>
                    <a:pt x="0" y="2242"/>
                  </a:lnTo>
                  <a:lnTo>
                    <a:pt x="0" y="2231"/>
                  </a:lnTo>
                  <a:lnTo>
                    <a:pt x="11" y="2231"/>
                  </a:lnTo>
                  <a:close/>
                  <a:moveTo>
                    <a:pt x="11" y="2252"/>
                  </a:moveTo>
                  <a:lnTo>
                    <a:pt x="11" y="2263"/>
                  </a:lnTo>
                  <a:lnTo>
                    <a:pt x="0" y="2263"/>
                  </a:lnTo>
                  <a:lnTo>
                    <a:pt x="0" y="2252"/>
                  </a:lnTo>
                  <a:lnTo>
                    <a:pt x="11" y="2252"/>
                  </a:lnTo>
                  <a:close/>
                  <a:moveTo>
                    <a:pt x="11" y="2274"/>
                  </a:moveTo>
                  <a:lnTo>
                    <a:pt x="11" y="2285"/>
                  </a:lnTo>
                  <a:lnTo>
                    <a:pt x="0" y="2285"/>
                  </a:lnTo>
                  <a:lnTo>
                    <a:pt x="0" y="2274"/>
                  </a:lnTo>
                  <a:lnTo>
                    <a:pt x="11" y="2274"/>
                  </a:lnTo>
                  <a:close/>
                </a:path>
              </a:pathLst>
            </a:custGeom>
            <a:solidFill>
              <a:srgbClr val="000000"/>
            </a:solidFill>
            <a:ln w="0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1" name="Rectangle 95">
              <a:extLst>
                <a:ext uri="{FF2B5EF4-FFF2-40B4-BE49-F238E27FC236}">
                  <a16:creationId xmlns:a16="http://schemas.microsoft.com/office/drawing/2014/main" id="{F1ED3E08-96CF-4FED-8C78-8234A5CE4F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9" y="3130"/>
              <a:ext cx="408" cy="18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16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Inst 3</a:t>
              </a:r>
              <a:endParaRPr kumimoji="0" lang="zh-CN" altLang="zh-CN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102" name="Freeform 96">
              <a:extLst>
                <a:ext uri="{FF2B5EF4-FFF2-40B4-BE49-F238E27FC236}">
                  <a16:creationId xmlns:a16="http://schemas.microsoft.com/office/drawing/2014/main" id="{1931FD23-29B5-4BB4-BDB1-B9ACF1348BE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6" y="3040"/>
              <a:ext cx="150" cy="321"/>
            </a:xfrm>
            <a:custGeom>
              <a:avLst/>
              <a:gdLst>
                <a:gd name="T0" fmla="*/ 0 w 150"/>
                <a:gd name="T1" fmla="*/ 214 h 321"/>
                <a:gd name="T2" fmla="*/ 50 w 150"/>
                <a:gd name="T3" fmla="*/ 160 h 321"/>
                <a:gd name="T4" fmla="*/ 0 w 150"/>
                <a:gd name="T5" fmla="*/ 107 h 321"/>
                <a:gd name="T6" fmla="*/ 0 w 150"/>
                <a:gd name="T7" fmla="*/ 0 h 321"/>
                <a:gd name="T8" fmla="*/ 150 w 150"/>
                <a:gd name="T9" fmla="*/ 107 h 321"/>
                <a:gd name="T10" fmla="*/ 150 w 150"/>
                <a:gd name="T11" fmla="*/ 214 h 321"/>
                <a:gd name="T12" fmla="*/ 0 w 150"/>
                <a:gd name="T13" fmla="*/ 321 h 321"/>
                <a:gd name="T14" fmla="*/ 0 w 150"/>
                <a:gd name="T15" fmla="*/ 214 h 3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50" h="321">
                  <a:moveTo>
                    <a:pt x="0" y="214"/>
                  </a:moveTo>
                  <a:lnTo>
                    <a:pt x="50" y="160"/>
                  </a:lnTo>
                  <a:lnTo>
                    <a:pt x="0" y="107"/>
                  </a:lnTo>
                  <a:lnTo>
                    <a:pt x="0" y="0"/>
                  </a:lnTo>
                  <a:lnTo>
                    <a:pt x="150" y="107"/>
                  </a:lnTo>
                  <a:lnTo>
                    <a:pt x="150" y="214"/>
                  </a:lnTo>
                  <a:lnTo>
                    <a:pt x="0" y="321"/>
                  </a:lnTo>
                  <a:lnTo>
                    <a:pt x="0" y="214"/>
                  </a:lnTo>
                </a:path>
              </a:pathLst>
            </a:custGeom>
            <a:noFill/>
            <a:ln w="174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3" name="Rectangle 97">
              <a:extLst>
                <a:ext uri="{FF2B5EF4-FFF2-40B4-BE49-F238E27FC236}">
                  <a16:creationId xmlns:a16="http://schemas.microsoft.com/office/drawing/2014/main" id="{7B79B0F8-707D-4CCD-8741-0A752895DA22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2750" y="3149"/>
              <a:ext cx="175" cy="10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1050" b="1" i="0" u="none" strike="noStrike" cap="none" normalizeH="0" baseline="0" dirty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ALU</a:t>
              </a:r>
              <a:endParaRPr kumimoji="0" lang="zh-CN" altLang="zh-CN" sz="105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104" name="Rectangle 98">
              <a:extLst>
                <a:ext uri="{FF2B5EF4-FFF2-40B4-BE49-F238E27FC236}">
                  <a16:creationId xmlns:a16="http://schemas.microsoft.com/office/drawing/2014/main" id="{24CA73EA-DA72-41C5-969D-321656126E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49" y="3131"/>
              <a:ext cx="98" cy="1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1100" b="1" i="0" u="none" strike="noStrike" cap="none" normalizeH="0" baseline="0" dirty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I</a:t>
              </a:r>
              <a:r>
                <a:rPr kumimoji="0" lang="en-US" altLang="zh-CN" sz="1100" b="1" i="0" u="none" strike="noStrike" cap="none" normalizeH="0" baseline="0" dirty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M</a:t>
              </a:r>
              <a:endParaRPr kumimoji="0" lang="zh-CN" altLang="zh-CN" sz="1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105" name="Freeform 99">
              <a:extLst>
                <a:ext uri="{FF2B5EF4-FFF2-40B4-BE49-F238E27FC236}">
                  <a16:creationId xmlns:a16="http://schemas.microsoft.com/office/drawing/2014/main" id="{5E7A48B2-5CD3-4D82-9B8E-AEB98549F6D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5" y="3104"/>
              <a:ext cx="116" cy="192"/>
            </a:xfrm>
            <a:custGeom>
              <a:avLst/>
              <a:gdLst>
                <a:gd name="T0" fmla="*/ 116 w 116"/>
                <a:gd name="T1" fmla="*/ 0 h 192"/>
                <a:gd name="T2" fmla="*/ 0 w 116"/>
                <a:gd name="T3" fmla="*/ 0 h 192"/>
                <a:gd name="T4" fmla="*/ 0 w 116"/>
                <a:gd name="T5" fmla="*/ 192 h 192"/>
                <a:gd name="T6" fmla="*/ 116 w 116"/>
                <a:gd name="T7" fmla="*/ 192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16" h="192">
                  <a:moveTo>
                    <a:pt x="116" y="0"/>
                  </a:moveTo>
                  <a:lnTo>
                    <a:pt x="0" y="0"/>
                  </a:lnTo>
                  <a:lnTo>
                    <a:pt x="0" y="192"/>
                  </a:lnTo>
                  <a:lnTo>
                    <a:pt x="116" y="192"/>
                  </a:lnTo>
                </a:path>
              </a:pathLst>
            </a:custGeom>
            <a:noFill/>
            <a:ln w="174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6" name="Freeform 100">
              <a:extLst>
                <a:ext uri="{FF2B5EF4-FFF2-40B4-BE49-F238E27FC236}">
                  <a16:creationId xmlns:a16="http://schemas.microsoft.com/office/drawing/2014/main" id="{3A10DE71-4874-43E8-9B4F-1EFFB57B5B3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2" y="3104"/>
              <a:ext cx="120" cy="192"/>
            </a:xfrm>
            <a:custGeom>
              <a:avLst/>
              <a:gdLst>
                <a:gd name="T0" fmla="*/ 0 w 120"/>
                <a:gd name="T1" fmla="*/ 0 h 192"/>
                <a:gd name="T2" fmla="*/ 120 w 120"/>
                <a:gd name="T3" fmla="*/ 0 h 192"/>
                <a:gd name="T4" fmla="*/ 120 w 120"/>
                <a:gd name="T5" fmla="*/ 192 h 192"/>
                <a:gd name="T6" fmla="*/ 0 w 120"/>
                <a:gd name="T7" fmla="*/ 192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0" h="192">
                  <a:moveTo>
                    <a:pt x="0" y="0"/>
                  </a:moveTo>
                  <a:lnTo>
                    <a:pt x="120" y="0"/>
                  </a:lnTo>
                  <a:lnTo>
                    <a:pt x="120" y="192"/>
                  </a:lnTo>
                  <a:lnTo>
                    <a:pt x="0" y="192"/>
                  </a:lnTo>
                </a:path>
              </a:pathLst>
            </a:custGeom>
            <a:noFill/>
            <a:ln w="174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7" name="Rectangle 101">
              <a:extLst>
                <a:ext uri="{FF2B5EF4-FFF2-40B4-BE49-F238E27FC236}">
                  <a16:creationId xmlns:a16="http://schemas.microsoft.com/office/drawing/2014/main" id="{4E5D89D3-BECA-4023-97C9-B4B2C26D22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51" y="3136"/>
              <a:ext cx="216" cy="1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1100" b="1" i="0" u="none" strike="noStrike" cap="none" normalizeH="0" baseline="0" dirty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Reg</a:t>
              </a:r>
              <a:endParaRPr kumimoji="0" lang="zh-CN" altLang="zh-CN" sz="1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108" name="Freeform 102">
              <a:extLst>
                <a:ext uri="{FF2B5EF4-FFF2-40B4-BE49-F238E27FC236}">
                  <a16:creationId xmlns:a16="http://schemas.microsoft.com/office/drawing/2014/main" id="{102FB8A2-C696-42E8-B4E1-CFD57A50B7C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6" y="3104"/>
              <a:ext cx="103" cy="192"/>
            </a:xfrm>
            <a:custGeom>
              <a:avLst/>
              <a:gdLst>
                <a:gd name="T0" fmla="*/ 103 w 103"/>
                <a:gd name="T1" fmla="*/ 0 h 192"/>
                <a:gd name="T2" fmla="*/ 0 w 103"/>
                <a:gd name="T3" fmla="*/ 0 h 192"/>
                <a:gd name="T4" fmla="*/ 0 w 103"/>
                <a:gd name="T5" fmla="*/ 192 h 192"/>
                <a:gd name="T6" fmla="*/ 103 w 103"/>
                <a:gd name="T7" fmla="*/ 192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3" h="192">
                  <a:moveTo>
                    <a:pt x="103" y="0"/>
                  </a:moveTo>
                  <a:lnTo>
                    <a:pt x="0" y="0"/>
                  </a:lnTo>
                  <a:lnTo>
                    <a:pt x="0" y="192"/>
                  </a:lnTo>
                  <a:lnTo>
                    <a:pt x="103" y="192"/>
                  </a:lnTo>
                </a:path>
              </a:pathLst>
            </a:custGeom>
            <a:noFill/>
            <a:ln w="174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9" name="Freeform 103">
              <a:extLst>
                <a:ext uri="{FF2B5EF4-FFF2-40B4-BE49-F238E27FC236}">
                  <a16:creationId xmlns:a16="http://schemas.microsoft.com/office/drawing/2014/main" id="{6A7403B9-3BAB-44B6-B033-272682185F6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6" y="3104"/>
              <a:ext cx="103" cy="192"/>
            </a:xfrm>
            <a:custGeom>
              <a:avLst/>
              <a:gdLst>
                <a:gd name="T0" fmla="*/ 0 w 103"/>
                <a:gd name="T1" fmla="*/ 0 h 192"/>
                <a:gd name="T2" fmla="*/ 103 w 103"/>
                <a:gd name="T3" fmla="*/ 0 h 192"/>
                <a:gd name="T4" fmla="*/ 103 w 103"/>
                <a:gd name="T5" fmla="*/ 192 h 192"/>
                <a:gd name="T6" fmla="*/ 0 w 103"/>
                <a:gd name="T7" fmla="*/ 192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3" h="192">
                  <a:moveTo>
                    <a:pt x="0" y="0"/>
                  </a:moveTo>
                  <a:lnTo>
                    <a:pt x="103" y="0"/>
                  </a:lnTo>
                  <a:lnTo>
                    <a:pt x="103" y="192"/>
                  </a:lnTo>
                  <a:lnTo>
                    <a:pt x="0" y="192"/>
                  </a:lnTo>
                </a:path>
              </a:pathLst>
            </a:custGeom>
            <a:noFill/>
            <a:ln w="174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0" name="Line 104">
              <a:extLst>
                <a:ext uri="{FF2B5EF4-FFF2-40B4-BE49-F238E27FC236}">
                  <a16:creationId xmlns:a16="http://schemas.microsoft.com/office/drawing/2014/main" id="{45888D3D-CF02-4A03-ACF2-1C99D942B0C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346" y="3200"/>
              <a:ext cx="80" cy="0"/>
            </a:xfrm>
            <a:prstGeom prst="line">
              <a:avLst/>
            </a:prstGeom>
            <a:noFill/>
            <a:ln w="17463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1" name="Freeform 105">
              <a:extLst>
                <a:ext uri="{FF2B5EF4-FFF2-40B4-BE49-F238E27FC236}">
                  <a16:creationId xmlns:a16="http://schemas.microsoft.com/office/drawing/2014/main" id="{58C8E895-2CBA-4859-823A-03B5279E23F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2" y="3136"/>
              <a:ext cx="33" cy="64"/>
            </a:xfrm>
            <a:custGeom>
              <a:avLst/>
              <a:gdLst>
                <a:gd name="T0" fmla="*/ 0 w 33"/>
                <a:gd name="T1" fmla="*/ 64 h 64"/>
                <a:gd name="T2" fmla="*/ 0 w 33"/>
                <a:gd name="T3" fmla="*/ 0 h 64"/>
                <a:gd name="T4" fmla="*/ 33 w 33"/>
                <a:gd name="T5" fmla="*/ 0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3" h="64">
                  <a:moveTo>
                    <a:pt x="0" y="64"/>
                  </a:moveTo>
                  <a:lnTo>
                    <a:pt x="0" y="0"/>
                  </a:lnTo>
                  <a:lnTo>
                    <a:pt x="33" y="0"/>
                  </a:lnTo>
                </a:path>
              </a:pathLst>
            </a:custGeom>
            <a:noFill/>
            <a:ln w="174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2" name="Line 106">
              <a:extLst>
                <a:ext uri="{FF2B5EF4-FFF2-40B4-BE49-F238E27FC236}">
                  <a16:creationId xmlns:a16="http://schemas.microsoft.com/office/drawing/2014/main" id="{247A6C12-A13C-440B-A09A-82E56AAC2D5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634" y="3136"/>
              <a:ext cx="108" cy="0"/>
            </a:xfrm>
            <a:prstGeom prst="line">
              <a:avLst/>
            </a:prstGeom>
            <a:noFill/>
            <a:ln w="17463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3" name="Rectangle 107">
              <a:extLst>
                <a:ext uri="{FF2B5EF4-FFF2-40B4-BE49-F238E27FC236}">
                  <a16:creationId xmlns:a16="http://schemas.microsoft.com/office/drawing/2014/main" id="{900F3B05-2898-4582-B640-672DC6188D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18" y="3131"/>
              <a:ext cx="183" cy="1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1100" b="1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DM</a:t>
              </a:r>
              <a:endParaRPr kumimoji="0" lang="zh-CN" altLang="zh-CN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114" name="Freeform 108">
              <a:extLst>
                <a:ext uri="{FF2B5EF4-FFF2-40B4-BE49-F238E27FC236}">
                  <a16:creationId xmlns:a16="http://schemas.microsoft.com/office/drawing/2014/main" id="{0E4ED0E3-C98A-4610-96E0-F12E638B86D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3" y="3104"/>
              <a:ext cx="112" cy="192"/>
            </a:xfrm>
            <a:custGeom>
              <a:avLst/>
              <a:gdLst>
                <a:gd name="T0" fmla="*/ 112 w 112"/>
                <a:gd name="T1" fmla="*/ 0 h 192"/>
                <a:gd name="T2" fmla="*/ 0 w 112"/>
                <a:gd name="T3" fmla="*/ 0 h 192"/>
                <a:gd name="T4" fmla="*/ 0 w 112"/>
                <a:gd name="T5" fmla="*/ 192 h 192"/>
                <a:gd name="T6" fmla="*/ 112 w 112"/>
                <a:gd name="T7" fmla="*/ 192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12" h="192">
                  <a:moveTo>
                    <a:pt x="112" y="0"/>
                  </a:moveTo>
                  <a:lnTo>
                    <a:pt x="0" y="0"/>
                  </a:lnTo>
                  <a:lnTo>
                    <a:pt x="0" y="192"/>
                  </a:lnTo>
                  <a:lnTo>
                    <a:pt x="112" y="192"/>
                  </a:lnTo>
                </a:path>
              </a:pathLst>
            </a:custGeom>
            <a:noFill/>
            <a:ln w="174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5" name="Freeform 109">
              <a:extLst>
                <a:ext uri="{FF2B5EF4-FFF2-40B4-BE49-F238E27FC236}">
                  <a16:creationId xmlns:a16="http://schemas.microsoft.com/office/drawing/2014/main" id="{C5EFEFCA-AD06-4E01-8325-68C82747B60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5" y="3104"/>
              <a:ext cx="112" cy="192"/>
            </a:xfrm>
            <a:custGeom>
              <a:avLst/>
              <a:gdLst>
                <a:gd name="T0" fmla="*/ 0 w 112"/>
                <a:gd name="T1" fmla="*/ 0 h 192"/>
                <a:gd name="T2" fmla="*/ 112 w 112"/>
                <a:gd name="T3" fmla="*/ 0 h 192"/>
                <a:gd name="T4" fmla="*/ 112 w 112"/>
                <a:gd name="T5" fmla="*/ 192 h 192"/>
                <a:gd name="T6" fmla="*/ 0 w 112"/>
                <a:gd name="T7" fmla="*/ 192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12" h="192">
                  <a:moveTo>
                    <a:pt x="0" y="0"/>
                  </a:moveTo>
                  <a:lnTo>
                    <a:pt x="112" y="0"/>
                  </a:lnTo>
                  <a:lnTo>
                    <a:pt x="112" y="192"/>
                  </a:lnTo>
                  <a:lnTo>
                    <a:pt x="0" y="192"/>
                  </a:lnTo>
                </a:path>
              </a:pathLst>
            </a:custGeom>
            <a:noFill/>
            <a:ln w="174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6" name="Line 110">
              <a:extLst>
                <a:ext uri="{FF2B5EF4-FFF2-40B4-BE49-F238E27FC236}">
                  <a16:creationId xmlns:a16="http://schemas.microsoft.com/office/drawing/2014/main" id="{5F6661D0-DF62-4D99-9C2B-401ADF5347E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38" y="3200"/>
              <a:ext cx="95" cy="0"/>
            </a:xfrm>
            <a:prstGeom prst="line">
              <a:avLst/>
            </a:prstGeom>
            <a:noFill/>
            <a:ln w="17463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7" name="Line 111">
              <a:extLst>
                <a:ext uri="{FF2B5EF4-FFF2-40B4-BE49-F238E27FC236}">
                  <a16:creationId xmlns:a16="http://schemas.microsoft.com/office/drawing/2014/main" id="{D1A528F3-5A02-486C-99B4-47A9F3907E7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00" y="3200"/>
              <a:ext cx="109" cy="0"/>
            </a:xfrm>
            <a:prstGeom prst="line">
              <a:avLst/>
            </a:prstGeom>
            <a:noFill/>
            <a:ln w="17463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8" name="Line 112">
              <a:extLst>
                <a:ext uri="{FF2B5EF4-FFF2-40B4-BE49-F238E27FC236}">
                  <a16:creationId xmlns:a16="http://schemas.microsoft.com/office/drawing/2014/main" id="{D1CCDC03-8881-4B94-8737-01A395C2F19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634" y="3265"/>
              <a:ext cx="108" cy="0"/>
            </a:xfrm>
            <a:prstGeom prst="line">
              <a:avLst/>
            </a:prstGeom>
            <a:noFill/>
            <a:ln w="17463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9" name="Line 113">
              <a:extLst>
                <a:ext uri="{FF2B5EF4-FFF2-40B4-BE49-F238E27FC236}">
                  <a16:creationId xmlns:a16="http://schemas.microsoft.com/office/drawing/2014/main" id="{D2D3E4CF-A861-408B-9AB4-B5E4FF353FC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692" y="3265"/>
              <a:ext cx="0" cy="128"/>
            </a:xfrm>
            <a:prstGeom prst="line">
              <a:avLst/>
            </a:prstGeom>
            <a:noFill/>
            <a:ln w="1905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0" name="Line 114">
              <a:extLst>
                <a:ext uri="{FF2B5EF4-FFF2-40B4-BE49-F238E27FC236}">
                  <a16:creationId xmlns:a16="http://schemas.microsoft.com/office/drawing/2014/main" id="{88D84B4A-07C8-4D65-BE49-8F1804281EF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692" y="3393"/>
              <a:ext cx="233" cy="0"/>
            </a:xfrm>
            <a:prstGeom prst="line">
              <a:avLst/>
            </a:prstGeom>
            <a:noFill/>
            <a:ln w="1905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1" name="Line 115">
              <a:extLst>
                <a:ext uri="{FF2B5EF4-FFF2-40B4-BE49-F238E27FC236}">
                  <a16:creationId xmlns:a16="http://schemas.microsoft.com/office/drawing/2014/main" id="{7B3D4C70-86D3-442D-A02A-2DD50F4444E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25" y="3200"/>
              <a:ext cx="0" cy="193"/>
            </a:xfrm>
            <a:prstGeom prst="line">
              <a:avLst/>
            </a:prstGeom>
            <a:noFill/>
            <a:ln w="1905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2" name="Line 116">
              <a:extLst>
                <a:ext uri="{FF2B5EF4-FFF2-40B4-BE49-F238E27FC236}">
                  <a16:creationId xmlns:a16="http://schemas.microsoft.com/office/drawing/2014/main" id="{3534AA8E-C9AA-46F2-AE9B-CC9A066D771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79" y="3200"/>
              <a:ext cx="0" cy="161"/>
            </a:xfrm>
            <a:prstGeom prst="line">
              <a:avLst/>
            </a:prstGeom>
            <a:noFill/>
            <a:ln w="1905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3" name="Line 117">
              <a:extLst>
                <a:ext uri="{FF2B5EF4-FFF2-40B4-BE49-F238E27FC236}">
                  <a16:creationId xmlns:a16="http://schemas.microsoft.com/office/drawing/2014/main" id="{A4359121-35FB-4123-8043-8E6EEF01236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79" y="3361"/>
              <a:ext cx="300" cy="0"/>
            </a:xfrm>
            <a:prstGeom prst="line">
              <a:avLst/>
            </a:prstGeom>
            <a:noFill/>
            <a:ln w="1905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4" name="Line 118">
              <a:extLst>
                <a:ext uri="{FF2B5EF4-FFF2-40B4-BE49-F238E27FC236}">
                  <a16:creationId xmlns:a16="http://schemas.microsoft.com/office/drawing/2014/main" id="{A6A7705F-E40D-40BE-A041-8BC8E15B2CD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79" y="3200"/>
              <a:ext cx="0" cy="161"/>
            </a:xfrm>
            <a:prstGeom prst="line">
              <a:avLst/>
            </a:prstGeom>
            <a:noFill/>
            <a:ln w="1905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5" name="Freeform 119">
              <a:extLst>
                <a:ext uri="{FF2B5EF4-FFF2-40B4-BE49-F238E27FC236}">
                  <a16:creationId xmlns:a16="http://schemas.microsoft.com/office/drawing/2014/main" id="{488D623B-FE81-40BD-B96B-E859654D3EC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8" y="3104"/>
              <a:ext cx="99" cy="192"/>
            </a:xfrm>
            <a:custGeom>
              <a:avLst/>
              <a:gdLst>
                <a:gd name="T0" fmla="*/ 99 w 99"/>
                <a:gd name="T1" fmla="*/ 0 h 192"/>
                <a:gd name="T2" fmla="*/ 0 w 99"/>
                <a:gd name="T3" fmla="*/ 0 h 192"/>
                <a:gd name="T4" fmla="*/ 0 w 99"/>
                <a:gd name="T5" fmla="*/ 192 h 192"/>
                <a:gd name="T6" fmla="*/ 99 w 99"/>
                <a:gd name="T7" fmla="*/ 192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9" h="192">
                  <a:moveTo>
                    <a:pt x="99" y="0"/>
                  </a:moveTo>
                  <a:lnTo>
                    <a:pt x="0" y="0"/>
                  </a:lnTo>
                  <a:lnTo>
                    <a:pt x="0" y="192"/>
                  </a:lnTo>
                  <a:lnTo>
                    <a:pt x="99" y="192"/>
                  </a:lnTo>
                </a:path>
              </a:pathLst>
            </a:custGeom>
            <a:noFill/>
            <a:ln w="174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6" name="Freeform 120">
              <a:extLst>
                <a:ext uri="{FF2B5EF4-FFF2-40B4-BE49-F238E27FC236}">
                  <a16:creationId xmlns:a16="http://schemas.microsoft.com/office/drawing/2014/main" id="{254F19BC-7805-4C67-BF06-37E196CDF4D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8" y="3104"/>
              <a:ext cx="95" cy="192"/>
            </a:xfrm>
            <a:custGeom>
              <a:avLst/>
              <a:gdLst>
                <a:gd name="T0" fmla="*/ 0 w 95"/>
                <a:gd name="T1" fmla="*/ 0 h 192"/>
                <a:gd name="T2" fmla="*/ 95 w 95"/>
                <a:gd name="T3" fmla="*/ 0 h 192"/>
                <a:gd name="T4" fmla="*/ 95 w 95"/>
                <a:gd name="T5" fmla="*/ 192 h 192"/>
                <a:gd name="T6" fmla="*/ 0 w 95"/>
                <a:gd name="T7" fmla="*/ 192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5" h="192">
                  <a:moveTo>
                    <a:pt x="0" y="0"/>
                  </a:moveTo>
                  <a:lnTo>
                    <a:pt x="95" y="0"/>
                  </a:lnTo>
                  <a:lnTo>
                    <a:pt x="95" y="192"/>
                  </a:lnTo>
                  <a:lnTo>
                    <a:pt x="0" y="192"/>
                  </a:lnTo>
                </a:path>
              </a:pathLst>
            </a:custGeom>
            <a:noFill/>
            <a:ln w="174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7" name="Rectangle 121">
              <a:extLst>
                <a:ext uri="{FF2B5EF4-FFF2-40B4-BE49-F238E27FC236}">
                  <a16:creationId xmlns:a16="http://schemas.microsoft.com/office/drawing/2014/main" id="{4971242F-BB94-4A82-83F5-E47C1F3769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44" y="3162"/>
              <a:ext cx="216" cy="1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1100" b="1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Reg</a:t>
              </a:r>
              <a:endParaRPr kumimoji="0" lang="zh-CN" altLang="zh-CN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128" name="Oval 122">
              <a:extLst>
                <a:ext uri="{FF2B5EF4-FFF2-40B4-BE49-F238E27FC236}">
                  <a16:creationId xmlns:a16="http://schemas.microsoft.com/office/drawing/2014/main" id="{1731350B-F7D1-4D2E-A622-11CD886C4E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70" y="1911"/>
              <a:ext cx="266" cy="483"/>
            </a:xfrm>
            <a:prstGeom prst="ellipse">
              <a:avLst/>
            </a:prstGeom>
            <a:noFill/>
            <a:ln w="26988" cap="flat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</p:grpSp>
    </p:spTree>
    <p:extLst>
      <p:ext uri="{BB962C8B-B14F-4D97-AF65-F5344CB8AC3E}">
        <p14:creationId xmlns:p14="http://schemas.microsoft.com/office/powerpoint/2010/main" val="1789184070"/>
      </p:ext>
    </p:extLst>
  </p:cSld>
  <p:clrMapOvr>
    <a:masterClrMapping/>
  </p:clrMapOvr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>
            <a:extLst>
              <a:ext uri="{FF2B5EF4-FFF2-40B4-BE49-F238E27FC236}">
                <a16:creationId xmlns:a16="http://schemas.microsoft.com/office/drawing/2014/main" id="{C6849276-2D59-4DF9-9377-4E1E1B35B47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dirty="0"/>
              <a:t>控制冒险解决方法：延迟槽技术</a:t>
            </a:r>
          </a:p>
        </p:txBody>
      </p:sp>
      <p:sp>
        <p:nvSpPr>
          <p:cNvPr id="3" name="内容占位符 2">
            <a:extLst>
              <a:ext uri="{FF2B5EF4-FFF2-40B4-BE49-F238E27FC236}">
                <a16:creationId xmlns:a16="http://schemas.microsoft.com/office/drawing/2014/main" id="{130044C0-5193-425E-80C1-734CFE82AEAA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r>
              <a:rPr lang="zh-CN" altLang="en-US" sz="2400" dirty="0"/>
              <a:t>延迟槽技术出发点</a:t>
            </a:r>
            <a:endParaRPr lang="en-US" altLang="zh-CN" sz="2400" dirty="0"/>
          </a:p>
          <a:p>
            <a:pPr lvl="1"/>
            <a:r>
              <a:rPr lang="en-US" altLang="zh-CN" sz="2000" dirty="0" err="1"/>
              <a:t>beq</a:t>
            </a:r>
            <a:r>
              <a:rPr lang="zh-CN" altLang="en-US" sz="2000" dirty="0"/>
              <a:t>后的一次延迟等待周期可以用来执行一些必定要执行的指令</a:t>
            </a:r>
          </a:p>
          <a:p>
            <a:endParaRPr lang="en-US" altLang="zh-CN" dirty="0"/>
          </a:p>
        </p:txBody>
      </p:sp>
      <p:sp>
        <p:nvSpPr>
          <p:cNvPr id="4" name="灯片编号占位符 3">
            <a:extLst>
              <a:ext uri="{FF2B5EF4-FFF2-40B4-BE49-F238E27FC236}">
                <a16:creationId xmlns:a16="http://schemas.microsoft.com/office/drawing/2014/main" id="{5F008612-7D01-4F09-AFBF-ADC6DF9DC73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1806CE5-282B-4233-8654-09F35EA875E2}" type="slidenum">
              <a:rPr lang="zh-CN" altLang="en-US" smtClean="0"/>
              <a:t>46</a:t>
            </a:fld>
            <a:endParaRPr lang="zh-CN" altLang="en-US" dirty="0"/>
          </a:p>
        </p:txBody>
      </p:sp>
      <p:sp>
        <p:nvSpPr>
          <p:cNvPr id="7" name="矩形 1">
            <a:extLst>
              <a:ext uri="{FF2B5EF4-FFF2-40B4-BE49-F238E27FC236}">
                <a16:creationId xmlns:a16="http://schemas.microsoft.com/office/drawing/2014/main" id="{9EBC7801-B06A-B24A-BC7B-EF3A867B1343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16949" y="2253377"/>
            <a:ext cx="1947343" cy="1323439"/>
          </a:xfrm>
          <a:prstGeom prst="rect">
            <a:avLst/>
          </a:prstGeom>
          <a:solidFill>
            <a:schemeClr val="bg1">
              <a:lumMod val="95000"/>
            </a:schemeClr>
          </a:solidFill>
          <a:ln w="190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square">
            <a:spAutoFit/>
          </a:bodyPr>
          <a:lstStyle/>
          <a:p>
            <a:pPr marL="0" lvl="1" indent="-57150"/>
            <a:r>
              <a:rPr lang="en-US" altLang="zh-CN" sz="2000" dirty="0">
                <a:solidFill>
                  <a:schemeClr val="tx1"/>
                </a:solidFill>
              </a:rPr>
              <a:t>add $4, $5, $6</a:t>
            </a:r>
          </a:p>
          <a:p>
            <a:pPr marL="0" lvl="1" indent="-57150"/>
            <a:r>
              <a:rPr lang="en-US" altLang="zh-CN" sz="2000" dirty="0" err="1">
                <a:solidFill>
                  <a:srgbClr val="C00000"/>
                </a:solidFill>
              </a:rPr>
              <a:t>beq</a:t>
            </a:r>
            <a:r>
              <a:rPr lang="en-US" altLang="zh-CN" sz="2000" dirty="0">
                <a:solidFill>
                  <a:srgbClr val="C00000"/>
                </a:solidFill>
              </a:rPr>
              <a:t> $1, $2, 40</a:t>
            </a:r>
          </a:p>
          <a:p>
            <a:pPr marL="0" lvl="1" indent="-57150"/>
            <a:r>
              <a:rPr lang="en-US" altLang="zh-CN" sz="2000" dirty="0" err="1">
                <a:solidFill>
                  <a:schemeClr val="tx1"/>
                </a:solidFill>
              </a:rPr>
              <a:t>lw</a:t>
            </a:r>
            <a:r>
              <a:rPr lang="en-US" altLang="zh-CN" sz="2000" dirty="0">
                <a:solidFill>
                  <a:schemeClr val="tx1"/>
                </a:solidFill>
              </a:rPr>
              <a:t> $3, 300($0)</a:t>
            </a:r>
          </a:p>
          <a:p>
            <a:pPr marL="0" lvl="1" indent="-57150"/>
            <a:r>
              <a:rPr lang="en-US" altLang="zh-CN" sz="2000" dirty="0">
                <a:solidFill>
                  <a:schemeClr val="tx1"/>
                </a:solidFill>
              </a:rPr>
              <a:t>…</a:t>
            </a:r>
          </a:p>
        </p:txBody>
      </p:sp>
      <p:sp>
        <p:nvSpPr>
          <p:cNvPr id="8" name="矩形 4">
            <a:extLst>
              <a:ext uri="{FF2B5EF4-FFF2-40B4-BE49-F238E27FC236}">
                <a16:creationId xmlns:a16="http://schemas.microsoft.com/office/drawing/2014/main" id="{5F20C3E0-6F35-644E-8781-962B55585A9F}"/>
              </a:ext>
            </a:extLst>
          </p:cNvPr>
          <p:cNvSpPr>
            <a:spLocks noChangeArrowheads="1"/>
          </p:cNvSpPr>
          <p:nvPr/>
        </p:nvSpPr>
        <p:spPr bwMode="auto">
          <a:xfrm>
            <a:off x="5323362" y="2245840"/>
            <a:ext cx="1947342" cy="1323439"/>
          </a:xfrm>
          <a:prstGeom prst="rect">
            <a:avLst/>
          </a:prstGeom>
          <a:solidFill>
            <a:schemeClr val="bg1">
              <a:lumMod val="95000"/>
            </a:schemeClr>
          </a:solidFill>
          <a:ln w="190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square">
            <a:spAutoFit/>
          </a:bodyPr>
          <a:lstStyle/>
          <a:p>
            <a:pPr marL="0" lvl="1" indent="-57150"/>
            <a:r>
              <a:rPr lang="en-US" altLang="zh-CN" sz="2000" dirty="0" err="1">
                <a:solidFill>
                  <a:srgbClr val="C00000"/>
                </a:solidFill>
              </a:rPr>
              <a:t>beq</a:t>
            </a:r>
            <a:r>
              <a:rPr lang="en-US" altLang="zh-CN" sz="2000" dirty="0">
                <a:solidFill>
                  <a:srgbClr val="C00000"/>
                </a:solidFill>
              </a:rPr>
              <a:t> $1, $2, 40</a:t>
            </a:r>
          </a:p>
          <a:p>
            <a:pPr marL="0" lvl="1" indent="-57150"/>
            <a:r>
              <a:rPr lang="en-US" altLang="zh-CN" sz="2000" dirty="0">
                <a:solidFill>
                  <a:schemeClr val="tx1"/>
                </a:solidFill>
              </a:rPr>
              <a:t>add $4, $5, $6</a:t>
            </a:r>
          </a:p>
          <a:p>
            <a:pPr marL="0" lvl="1" indent="-57150"/>
            <a:r>
              <a:rPr lang="en-US" altLang="zh-CN" sz="2000" dirty="0" err="1">
                <a:solidFill>
                  <a:schemeClr val="tx1"/>
                </a:solidFill>
              </a:rPr>
              <a:t>lw</a:t>
            </a:r>
            <a:r>
              <a:rPr lang="en-US" altLang="zh-CN" sz="2000" dirty="0">
                <a:solidFill>
                  <a:schemeClr val="tx1"/>
                </a:solidFill>
              </a:rPr>
              <a:t> $3, 300($0)</a:t>
            </a:r>
          </a:p>
          <a:p>
            <a:pPr marL="0" lvl="1" indent="-57150"/>
            <a:r>
              <a:rPr lang="en-US" altLang="zh-CN" sz="2000" dirty="0">
                <a:solidFill>
                  <a:schemeClr val="tx1"/>
                </a:solidFill>
              </a:rPr>
              <a:t>…</a:t>
            </a:r>
          </a:p>
        </p:txBody>
      </p:sp>
      <p:sp>
        <p:nvSpPr>
          <p:cNvPr id="77" name="矩形 1">
            <a:extLst>
              <a:ext uri="{FF2B5EF4-FFF2-40B4-BE49-F238E27FC236}">
                <a16:creationId xmlns:a16="http://schemas.microsoft.com/office/drawing/2014/main" id="{FDD67DB8-405F-4F88-34F0-FC7A8DA3D0A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16948" y="4388926"/>
            <a:ext cx="1947344" cy="1631216"/>
          </a:xfrm>
          <a:prstGeom prst="rect">
            <a:avLst/>
          </a:prstGeom>
          <a:solidFill>
            <a:schemeClr val="bg1">
              <a:lumMod val="95000"/>
            </a:schemeClr>
          </a:solidFill>
          <a:ln w="190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square">
            <a:spAutoFit/>
          </a:bodyPr>
          <a:lstStyle/>
          <a:p>
            <a:pPr marL="0" lvl="1" indent="-57150"/>
            <a:r>
              <a:rPr lang="en-US" altLang="zh-CN" sz="2000" dirty="0">
                <a:solidFill>
                  <a:schemeClr val="tx1"/>
                </a:solidFill>
              </a:rPr>
              <a:t>add $4, $5, $6</a:t>
            </a:r>
          </a:p>
          <a:p>
            <a:pPr marL="0" lvl="1" indent="-57150"/>
            <a:r>
              <a:rPr lang="en-US" altLang="zh-CN" sz="2000" dirty="0" err="1">
                <a:solidFill>
                  <a:srgbClr val="C00000"/>
                </a:solidFill>
              </a:rPr>
              <a:t>beq</a:t>
            </a:r>
            <a:r>
              <a:rPr lang="en-US" altLang="zh-CN" sz="2000" dirty="0">
                <a:solidFill>
                  <a:srgbClr val="C00000"/>
                </a:solidFill>
              </a:rPr>
              <a:t> $1, $2, 40</a:t>
            </a:r>
          </a:p>
          <a:p>
            <a:pPr marL="0" lvl="1" indent="-57150"/>
            <a:r>
              <a:rPr lang="en-US" altLang="zh-CN" sz="2000" dirty="0">
                <a:solidFill>
                  <a:srgbClr val="C00000"/>
                </a:solidFill>
              </a:rPr>
              <a:t>STALL</a:t>
            </a:r>
          </a:p>
          <a:p>
            <a:pPr marL="0" lvl="1" indent="-57150"/>
            <a:r>
              <a:rPr lang="en-US" altLang="zh-CN" sz="2000" dirty="0" err="1">
                <a:solidFill>
                  <a:schemeClr val="tx1"/>
                </a:solidFill>
              </a:rPr>
              <a:t>lw</a:t>
            </a:r>
            <a:r>
              <a:rPr lang="en-US" altLang="zh-CN" sz="2000" dirty="0">
                <a:solidFill>
                  <a:schemeClr val="tx1"/>
                </a:solidFill>
              </a:rPr>
              <a:t> $3, 300($0)</a:t>
            </a:r>
          </a:p>
          <a:p>
            <a:pPr marL="0" lvl="1" indent="-57150"/>
            <a:r>
              <a:rPr lang="en-US" altLang="zh-CN" sz="2000" dirty="0">
                <a:solidFill>
                  <a:schemeClr val="tx1"/>
                </a:solidFill>
              </a:rPr>
              <a:t>…</a:t>
            </a:r>
          </a:p>
        </p:txBody>
      </p:sp>
      <p:sp>
        <p:nvSpPr>
          <p:cNvPr id="78" name="矩形 4">
            <a:extLst>
              <a:ext uri="{FF2B5EF4-FFF2-40B4-BE49-F238E27FC236}">
                <a16:creationId xmlns:a16="http://schemas.microsoft.com/office/drawing/2014/main" id="{11E3D99C-D2F0-60C2-9315-51A02507C8B0}"/>
              </a:ext>
            </a:extLst>
          </p:cNvPr>
          <p:cNvSpPr>
            <a:spLocks noChangeArrowheads="1"/>
          </p:cNvSpPr>
          <p:nvPr/>
        </p:nvSpPr>
        <p:spPr bwMode="auto">
          <a:xfrm>
            <a:off x="5323361" y="4388925"/>
            <a:ext cx="1947344" cy="1323439"/>
          </a:xfrm>
          <a:prstGeom prst="rect">
            <a:avLst/>
          </a:prstGeom>
          <a:solidFill>
            <a:schemeClr val="bg1">
              <a:lumMod val="95000"/>
            </a:schemeClr>
          </a:solidFill>
          <a:ln w="190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square">
            <a:spAutoFit/>
          </a:bodyPr>
          <a:lstStyle/>
          <a:p>
            <a:pPr marL="0" lvl="1" indent="-57150"/>
            <a:r>
              <a:rPr lang="en-US" altLang="zh-CN" sz="2000" dirty="0" err="1">
                <a:solidFill>
                  <a:srgbClr val="C00000"/>
                </a:solidFill>
              </a:rPr>
              <a:t>beq</a:t>
            </a:r>
            <a:r>
              <a:rPr lang="en-US" altLang="zh-CN" sz="2000" dirty="0">
                <a:solidFill>
                  <a:srgbClr val="C00000"/>
                </a:solidFill>
              </a:rPr>
              <a:t> $1, $2, 40</a:t>
            </a:r>
          </a:p>
          <a:p>
            <a:pPr marL="0" lvl="1" indent="-57150"/>
            <a:r>
              <a:rPr lang="en-US" altLang="zh-CN" sz="2000" dirty="0">
                <a:solidFill>
                  <a:schemeClr val="tx1"/>
                </a:solidFill>
              </a:rPr>
              <a:t>add $4, $5, $6 </a:t>
            </a:r>
            <a:r>
              <a:rPr lang="zh-CN" altLang="en-US" sz="2000" dirty="0">
                <a:solidFill>
                  <a:schemeClr val="tx1"/>
                </a:solidFill>
              </a:rPr>
              <a:t> </a:t>
            </a:r>
            <a:r>
              <a:rPr lang="en-US" altLang="zh-CN" sz="2000" dirty="0" err="1">
                <a:solidFill>
                  <a:schemeClr val="tx1"/>
                </a:solidFill>
              </a:rPr>
              <a:t>lw</a:t>
            </a:r>
            <a:r>
              <a:rPr lang="en-US" altLang="zh-CN" sz="2000" dirty="0">
                <a:solidFill>
                  <a:schemeClr val="tx1"/>
                </a:solidFill>
              </a:rPr>
              <a:t> $3, 300($0)</a:t>
            </a:r>
          </a:p>
          <a:p>
            <a:pPr marL="0" lvl="1" indent="-57150"/>
            <a:r>
              <a:rPr lang="en-US" altLang="zh-CN" sz="2000" dirty="0">
                <a:solidFill>
                  <a:schemeClr val="tx1"/>
                </a:solidFill>
              </a:rPr>
              <a:t>…</a:t>
            </a:r>
          </a:p>
        </p:txBody>
      </p:sp>
      <p:sp>
        <p:nvSpPr>
          <p:cNvPr id="80" name="矩形 1">
            <a:extLst>
              <a:ext uri="{FF2B5EF4-FFF2-40B4-BE49-F238E27FC236}">
                <a16:creationId xmlns:a16="http://schemas.microsoft.com/office/drawing/2014/main" id="{E9F045AA-235D-D484-4149-FE8F3FE2A0F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7200" y="3793337"/>
            <a:ext cx="2843709" cy="40011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square">
            <a:spAutoFit/>
          </a:bodyPr>
          <a:lstStyle/>
          <a:p>
            <a:pPr marL="400050" lvl="2"/>
            <a:r>
              <a:rPr lang="zh-CN" altLang="en-US" sz="2000" b="1" dirty="0">
                <a:solidFill>
                  <a:schemeClr val="tx1"/>
                </a:solidFill>
              </a:rPr>
              <a:t>实际执行指令流</a:t>
            </a:r>
            <a:endParaRPr lang="en-US" altLang="zh-CN" sz="2000" b="1" dirty="0">
              <a:solidFill>
                <a:schemeClr val="tx1"/>
              </a:solidFill>
            </a:endParaRPr>
          </a:p>
        </p:txBody>
      </p:sp>
      <p:sp>
        <p:nvSpPr>
          <p:cNvPr id="81" name="Right Arrow 4">
            <a:extLst>
              <a:ext uri="{FF2B5EF4-FFF2-40B4-BE49-F238E27FC236}">
                <a16:creationId xmlns:a16="http://schemas.microsoft.com/office/drawing/2014/main" id="{E9B0519E-3FCA-7200-E06B-E9343295439D}"/>
              </a:ext>
            </a:extLst>
          </p:cNvPr>
          <p:cNvSpPr/>
          <p:nvPr/>
        </p:nvSpPr>
        <p:spPr>
          <a:xfrm rot="5400000">
            <a:off x="6002438" y="3737993"/>
            <a:ext cx="589190" cy="510798"/>
          </a:xfrm>
          <a:prstGeom prst="rightArrow">
            <a:avLst/>
          </a:prstGeom>
          <a:solidFill>
            <a:schemeClr val="bg1">
              <a:lumMod val="85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CN"/>
          </a:p>
        </p:txBody>
      </p:sp>
      <p:sp>
        <p:nvSpPr>
          <p:cNvPr id="82" name="Right Arrow 4">
            <a:extLst>
              <a:ext uri="{FF2B5EF4-FFF2-40B4-BE49-F238E27FC236}">
                <a16:creationId xmlns:a16="http://schemas.microsoft.com/office/drawing/2014/main" id="{E47B5079-3A98-5ACD-B3CC-97286329C0F4}"/>
              </a:ext>
            </a:extLst>
          </p:cNvPr>
          <p:cNvSpPr/>
          <p:nvPr/>
        </p:nvSpPr>
        <p:spPr>
          <a:xfrm rot="5400000">
            <a:off x="2796025" y="3737994"/>
            <a:ext cx="589190" cy="510798"/>
          </a:xfrm>
          <a:prstGeom prst="rightArrow">
            <a:avLst/>
          </a:prstGeom>
          <a:solidFill>
            <a:schemeClr val="bg1">
              <a:lumMod val="85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CN"/>
          </a:p>
        </p:txBody>
      </p:sp>
      <p:cxnSp>
        <p:nvCxnSpPr>
          <p:cNvPr id="9" name="直接箭头连接符 8">
            <a:extLst>
              <a:ext uri="{FF2B5EF4-FFF2-40B4-BE49-F238E27FC236}">
                <a16:creationId xmlns:a16="http://schemas.microsoft.com/office/drawing/2014/main" id="{5D188AFE-F196-6FA8-BCBB-EBCBBF487F56}"/>
              </a:ext>
            </a:extLst>
          </p:cNvPr>
          <p:cNvCxnSpPr>
            <a:cxnSpLocks/>
          </p:cNvCxnSpPr>
          <p:nvPr/>
        </p:nvCxnSpPr>
        <p:spPr>
          <a:xfrm>
            <a:off x="3965616" y="2435516"/>
            <a:ext cx="1357745" cy="341956"/>
          </a:xfrm>
          <a:prstGeom prst="straightConnector1">
            <a:avLst/>
          </a:prstGeom>
          <a:ln w="28575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" name="直接箭头连接符 14">
            <a:extLst>
              <a:ext uri="{FF2B5EF4-FFF2-40B4-BE49-F238E27FC236}">
                <a16:creationId xmlns:a16="http://schemas.microsoft.com/office/drawing/2014/main" id="{81EE883C-461D-2199-0F75-7798E4919ACA}"/>
              </a:ext>
            </a:extLst>
          </p:cNvPr>
          <p:cNvCxnSpPr>
            <a:cxnSpLocks/>
          </p:cNvCxnSpPr>
          <p:nvPr/>
        </p:nvCxnSpPr>
        <p:spPr>
          <a:xfrm flipV="1">
            <a:off x="3965616" y="2463435"/>
            <a:ext cx="1357745" cy="314037"/>
          </a:xfrm>
          <a:prstGeom prst="straightConnector1">
            <a:avLst/>
          </a:prstGeom>
          <a:ln w="28575">
            <a:solidFill>
              <a:srgbClr val="C0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" name="矩形 1">
            <a:extLst>
              <a:ext uri="{FF2B5EF4-FFF2-40B4-BE49-F238E27FC236}">
                <a16:creationId xmlns:a16="http://schemas.microsoft.com/office/drawing/2014/main" id="{6814F057-5889-5E53-AE5F-EACBCBC3A4D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50431" y="3793337"/>
            <a:ext cx="2843709" cy="40011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square">
            <a:spAutoFit/>
          </a:bodyPr>
          <a:lstStyle/>
          <a:p>
            <a:pPr marL="400050" lvl="2"/>
            <a:r>
              <a:rPr lang="zh-CN" altLang="en-US" sz="2000" b="1" dirty="0">
                <a:solidFill>
                  <a:schemeClr val="tx1"/>
                </a:solidFill>
              </a:rPr>
              <a:t>实际执行指令流</a:t>
            </a:r>
            <a:endParaRPr lang="en-US" altLang="zh-CN" sz="2000" b="1" dirty="0">
              <a:solidFill>
                <a:schemeClr val="tx1"/>
              </a:solidFill>
            </a:endParaRPr>
          </a:p>
        </p:txBody>
      </p:sp>
      <p:sp>
        <p:nvSpPr>
          <p:cNvPr id="11" name="文本框 10">
            <a:extLst>
              <a:ext uri="{FF2B5EF4-FFF2-40B4-BE49-F238E27FC236}">
                <a16:creationId xmlns:a16="http://schemas.microsoft.com/office/drawing/2014/main" id="{9DF9B24D-24D8-E94B-DEEE-A0D7616DABD0}"/>
              </a:ext>
            </a:extLst>
          </p:cNvPr>
          <p:cNvSpPr txBox="1"/>
          <p:nvPr/>
        </p:nvSpPr>
        <p:spPr>
          <a:xfrm>
            <a:off x="7572240" y="4712746"/>
            <a:ext cx="1407930" cy="3693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lvl="1" indent="-57150"/>
            <a:r>
              <a:rPr lang="en-US" altLang="zh-CN" sz="1800" dirty="0">
                <a:ea typeface="SimHei" panose="02010609060101010101" pitchFamily="49" charset="-122"/>
              </a:rPr>
              <a:t>(</a:t>
            </a:r>
            <a:r>
              <a:rPr lang="zh-CN" altLang="en-US" sz="1800" dirty="0">
                <a:ea typeface="SimHei" panose="02010609060101010101" pitchFamily="49" charset="-122"/>
              </a:rPr>
              <a:t>总是执行</a:t>
            </a:r>
            <a:r>
              <a:rPr lang="en-US" altLang="zh-CN" sz="1800" dirty="0">
                <a:ea typeface="SimHei" panose="02010609060101010101" pitchFamily="49" charset="-122"/>
              </a:rPr>
              <a:t>)</a:t>
            </a:r>
          </a:p>
        </p:txBody>
      </p:sp>
      <p:cxnSp>
        <p:nvCxnSpPr>
          <p:cNvPr id="12" name="直接箭头连接符 11">
            <a:extLst>
              <a:ext uri="{FF2B5EF4-FFF2-40B4-BE49-F238E27FC236}">
                <a16:creationId xmlns:a16="http://schemas.microsoft.com/office/drawing/2014/main" id="{A20B31E1-D77A-8814-0652-BDC29DCB7CF4}"/>
              </a:ext>
            </a:extLst>
          </p:cNvPr>
          <p:cNvCxnSpPr>
            <a:cxnSpLocks/>
            <a:stCxn id="11" idx="1"/>
          </p:cNvCxnSpPr>
          <p:nvPr/>
        </p:nvCxnSpPr>
        <p:spPr>
          <a:xfrm flipH="1">
            <a:off x="7061442" y="4897412"/>
            <a:ext cx="510798" cy="0"/>
          </a:xfrm>
          <a:prstGeom prst="straightConnector1">
            <a:avLst/>
          </a:prstGeom>
          <a:ln w="28575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6" name="墨迹 5">
                <a:extLst>
                  <a:ext uri="{FF2B5EF4-FFF2-40B4-BE49-F238E27FC236}">
                    <a16:creationId xmlns:a16="http://schemas.microsoft.com/office/drawing/2014/main" id="{F62CB506-9C7C-1AB1-980A-571383292BB0}"/>
                  </a:ext>
                </a:extLst>
              </p14:cNvPr>
              <p14:cNvContentPartPr/>
              <p14:nvPr/>
            </p14:nvContentPartPr>
            <p14:xfrm>
              <a:off x="5246640" y="145440"/>
              <a:ext cx="1698480" cy="1167480"/>
            </p14:xfrm>
          </p:contentPart>
        </mc:Choice>
        <mc:Fallback xmlns="">
          <p:pic>
            <p:nvPicPr>
              <p:cNvPr id="6" name="墨迹 5">
                <a:extLst>
                  <a:ext uri="{FF2B5EF4-FFF2-40B4-BE49-F238E27FC236}">
                    <a16:creationId xmlns:a16="http://schemas.microsoft.com/office/drawing/2014/main" id="{F62CB506-9C7C-1AB1-980A-571383292BB0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5237280" y="136080"/>
                <a:ext cx="1717200" cy="118620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2778436446"/>
      </p:ext>
    </p:extLst>
  </p:cSld>
  <p:clrMapOvr>
    <a:masterClrMapping/>
  </p:clrMapOvr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>
            <a:extLst>
              <a:ext uri="{FF2B5EF4-FFF2-40B4-BE49-F238E27FC236}">
                <a16:creationId xmlns:a16="http://schemas.microsoft.com/office/drawing/2014/main" id="{C6849276-2D59-4DF9-9377-4E1E1B35B47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dirty="0"/>
              <a:t>控制冒险解决方法：延迟槽技术</a:t>
            </a:r>
          </a:p>
        </p:txBody>
      </p:sp>
      <p:sp>
        <p:nvSpPr>
          <p:cNvPr id="3" name="内容占位符 2">
            <a:extLst>
              <a:ext uri="{FF2B5EF4-FFF2-40B4-BE49-F238E27FC236}">
                <a16:creationId xmlns:a16="http://schemas.microsoft.com/office/drawing/2014/main" id="{130044C0-5193-425E-80C1-734CFE82AEAA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r>
              <a:rPr lang="zh-CN" altLang="en-US" sz="2400" dirty="0"/>
              <a:t>延迟槽技术出发点</a:t>
            </a:r>
            <a:endParaRPr lang="en-US" altLang="zh-CN" sz="2400" dirty="0"/>
          </a:p>
          <a:p>
            <a:pPr lvl="1"/>
            <a:r>
              <a:rPr lang="en-US" altLang="zh-CN" sz="2000" dirty="0" err="1"/>
              <a:t>beq</a:t>
            </a:r>
            <a:r>
              <a:rPr lang="zh-CN" altLang="en-US" sz="2000" dirty="0"/>
              <a:t>后的一次延迟等待周期可以用来执行一些必定要执行的指令</a:t>
            </a:r>
          </a:p>
          <a:p>
            <a:endParaRPr lang="en-US" altLang="zh-CN" dirty="0"/>
          </a:p>
        </p:txBody>
      </p:sp>
      <p:sp>
        <p:nvSpPr>
          <p:cNvPr id="4" name="灯片编号占位符 3">
            <a:extLst>
              <a:ext uri="{FF2B5EF4-FFF2-40B4-BE49-F238E27FC236}">
                <a16:creationId xmlns:a16="http://schemas.microsoft.com/office/drawing/2014/main" id="{5F008612-7D01-4F09-AFBF-ADC6DF9DC73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1806CE5-282B-4233-8654-09F35EA875E2}" type="slidenum">
              <a:rPr lang="zh-CN" altLang="en-US" smtClean="0"/>
              <a:t>47</a:t>
            </a:fld>
            <a:endParaRPr lang="zh-CN" altLang="en-US"/>
          </a:p>
        </p:txBody>
      </p:sp>
      <p:grpSp>
        <p:nvGrpSpPr>
          <p:cNvPr id="709" name="组合 708">
            <a:extLst>
              <a:ext uri="{FF2B5EF4-FFF2-40B4-BE49-F238E27FC236}">
                <a16:creationId xmlns:a16="http://schemas.microsoft.com/office/drawing/2014/main" id="{92C9C809-25E5-4BA0-BEB2-73E7D06C5C02}"/>
              </a:ext>
            </a:extLst>
          </p:cNvPr>
          <p:cNvGrpSpPr/>
          <p:nvPr/>
        </p:nvGrpSpPr>
        <p:grpSpPr>
          <a:xfrm>
            <a:off x="840981" y="3657989"/>
            <a:ext cx="7462037" cy="2825361"/>
            <a:chOff x="1868767" y="2118943"/>
            <a:chExt cx="5511825" cy="2086950"/>
          </a:xfrm>
        </p:grpSpPr>
        <p:sp>
          <p:nvSpPr>
            <p:cNvPr id="710" name="Freeform 22">
              <a:extLst>
                <a:ext uri="{FF2B5EF4-FFF2-40B4-BE49-F238E27FC236}">
                  <a16:creationId xmlns:a16="http://schemas.microsoft.com/office/drawing/2014/main" id="{A0B85BF2-A938-4B09-9EF3-D0B248F378B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2605" y="2750698"/>
              <a:ext cx="554038" cy="395288"/>
            </a:xfrm>
            <a:custGeom>
              <a:avLst/>
              <a:gdLst>
                <a:gd name="T0" fmla="*/ 347 w 349"/>
                <a:gd name="T1" fmla="*/ 247 h 249"/>
                <a:gd name="T2" fmla="*/ 349 w 349"/>
                <a:gd name="T3" fmla="*/ 0 h 249"/>
                <a:gd name="T4" fmla="*/ 0 w 349"/>
                <a:gd name="T5" fmla="*/ 0 h 249"/>
                <a:gd name="T6" fmla="*/ 0 w 349"/>
                <a:gd name="T7" fmla="*/ 249 h 249"/>
                <a:gd name="T8" fmla="*/ 349 w 349"/>
                <a:gd name="T9" fmla="*/ 249 h 249"/>
                <a:gd name="T10" fmla="*/ 349 w 349"/>
                <a:gd name="T11" fmla="*/ 249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49" h="249">
                  <a:moveTo>
                    <a:pt x="347" y="247"/>
                  </a:moveTo>
                  <a:lnTo>
                    <a:pt x="349" y="0"/>
                  </a:lnTo>
                  <a:lnTo>
                    <a:pt x="0" y="0"/>
                  </a:lnTo>
                  <a:lnTo>
                    <a:pt x="0" y="249"/>
                  </a:lnTo>
                  <a:lnTo>
                    <a:pt x="349" y="249"/>
                  </a:lnTo>
                  <a:lnTo>
                    <a:pt x="349" y="249"/>
                  </a:lnTo>
                </a:path>
              </a:pathLst>
            </a:custGeom>
            <a:noFill/>
            <a:ln w="14288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32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等线" panose="02010600030101010101" pitchFamily="2" charset="-122"/>
                <a:cs typeface="Arial" panose="020B0604020202020204" pitchFamily="34" charset="0"/>
              </a:endParaRPr>
            </a:p>
          </p:txBody>
        </p:sp>
        <p:sp>
          <p:nvSpPr>
            <p:cNvPr id="711" name="Freeform 26">
              <a:extLst>
                <a:ext uri="{FF2B5EF4-FFF2-40B4-BE49-F238E27FC236}">
                  <a16:creationId xmlns:a16="http://schemas.microsoft.com/office/drawing/2014/main" id="{61EC600A-5A07-4E85-B118-389E50F20D94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2867" y="2750698"/>
              <a:ext cx="277813" cy="395288"/>
            </a:xfrm>
            <a:custGeom>
              <a:avLst/>
              <a:gdLst>
                <a:gd name="T0" fmla="*/ 175 w 175"/>
                <a:gd name="T1" fmla="*/ 247 h 249"/>
                <a:gd name="T2" fmla="*/ 175 w 175"/>
                <a:gd name="T3" fmla="*/ 0 h 249"/>
                <a:gd name="T4" fmla="*/ 0 w 175"/>
                <a:gd name="T5" fmla="*/ 0 h 249"/>
                <a:gd name="T6" fmla="*/ 0 w 175"/>
                <a:gd name="T7" fmla="*/ 249 h 249"/>
                <a:gd name="T8" fmla="*/ 175 w 175"/>
                <a:gd name="T9" fmla="*/ 249 h 249"/>
                <a:gd name="T10" fmla="*/ 175 w 175"/>
                <a:gd name="T11" fmla="*/ 249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75" h="249">
                  <a:moveTo>
                    <a:pt x="175" y="247"/>
                  </a:moveTo>
                  <a:lnTo>
                    <a:pt x="175" y="0"/>
                  </a:lnTo>
                  <a:lnTo>
                    <a:pt x="0" y="0"/>
                  </a:lnTo>
                  <a:lnTo>
                    <a:pt x="0" y="249"/>
                  </a:lnTo>
                  <a:lnTo>
                    <a:pt x="175" y="249"/>
                  </a:lnTo>
                  <a:lnTo>
                    <a:pt x="175" y="249"/>
                  </a:lnTo>
                </a:path>
              </a:pathLst>
            </a:custGeom>
            <a:noFill/>
            <a:ln w="14288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32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等线" panose="02010600030101010101" pitchFamily="2" charset="-122"/>
                <a:cs typeface="Arial" panose="020B0604020202020204" pitchFamily="34" charset="0"/>
              </a:endParaRPr>
            </a:p>
          </p:txBody>
        </p:sp>
        <p:sp>
          <p:nvSpPr>
            <p:cNvPr id="712" name="Freeform 30">
              <a:extLst>
                <a:ext uri="{FF2B5EF4-FFF2-40B4-BE49-F238E27FC236}">
                  <a16:creationId xmlns:a16="http://schemas.microsoft.com/office/drawing/2014/main" id="{BE007191-B184-482F-B294-5F1AAB6DB889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3855" y="2750698"/>
              <a:ext cx="554038" cy="395288"/>
            </a:xfrm>
            <a:custGeom>
              <a:avLst/>
              <a:gdLst>
                <a:gd name="T0" fmla="*/ 349 w 349"/>
                <a:gd name="T1" fmla="*/ 247 h 249"/>
                <a:gd name="T2" fmla="*/ 349 w 349"/>
                <a:gd name="T3" fmla="*/ 0 h 249"/>
                <a:gd name="T4" fmla="*/ 0 w 349"/>
                <a:gd name="T5" fmla="*/ 0 h 249"/>
                <a:gd name="T6" fmla="*/ 0 w 349"/>
                <a:gd name="T7" fmla="*/ 249 h 249"/>
                <a:gd name="T8" fmla="*/ 349 w 349"/>
                <a:gd name="T9" fmla="*/ 249 h 249"/>
                <a:gd name="T10" fmla="*/ 349 w 349"/>
                <a:gd name="T11" fmla="*/ 249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49" h="249">
                  <a:moveTo>
                    <a:pt x="349" y="247"/>
                  </a:moveTo>
                  <a:lnTo>
                    <a:pt x="349" y="0"/>
                  </a:lnTo>
                  <a:lnTo>
                    <a:pt x="0" y="0"/>
                  </a:lnTo>
                  <a:lnTo>
                    <a:pt x="0" y="249"/>
                  </a:lnTo>
                  <a:lnTo>
                    <a:pt x="349" y="249"/>
                  </a:lnTo>
                  <a:lnTo>
                    <a:pt x="349" y="249"/>
                  </a:lnTo>
                </a:path>
              </a:pathLst>
            </a:custGeom>
            <a:noFill/>
            <a:ln w="14288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32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等线" panose="02010600030101010101" pitchFamily="2" charset="-122"/>
                <a:cs typeface="Arial" panose="020B0604020202020204" pitchFamily="34" charset="0"/>
              </a:endParaRPr>
            </a:p>
          </p:txBody>
        </p:sp>
        <p:sp>
          <p:nvSpPr>
            <p:cNvPr id="713" name="Freeform 42">
              <a:extLst>
                <a:ext uri="{FF2B5EF4-FFF2-40B4-BE49-F238E27FC236}">
                  <a16:creationId xmlns:a16="http://schemas.microsoft.com/office/drawing/2014/main" id="{1FA54501-F532-4C19-A647-653674F3B4F8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7892" y="2750698"/>
              <a:ext cx="552450" cy="395288"/>
            </a:xfrm>
            <a:custGeom>
              <a:avLst/>
              <a:gdLst>
                <a:gd name="T0" fmla="*/ 348 w 348"/>
                <a:gd name="T1" fmla="*/ 247 h 249"/>
                <a:gd name="T2" fmla="*/ 348 w 348"/>
                <a:gd name="T3" fmla="*/ 0 h 249"/>
                <a:gd name="T4" fmla="*/ 0 w 348"/>
                <a:gd name="T5" fmla="*/ 0 h 249"/>
                <a:gd name="T6" fmla="*/ 0 w 348"/>
                <a:gd name="T7" fmla="*/ 249 h 249"/>
                <a:gd name="T8" fmla="*/ 348 w 348"/>
                <a:gd name="T9" fmla="*/ 249 h 249"/>
                <a:gd name="T10" fmla="*/ 348 w 348"/>
                <a:gd name="T11" fmla="*/ 249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48" h="249">
                  <a:moveTo>
                    <a:pt x="348" y="247"/>
                  </a:moveTo>
                  <a:lnTo>
                    <a:pt x="348" y="0"/>
                  </a:lnTo>
                  <a:lnTo>
                    <a:pt x="0" y="0"/>
                  </a:lnTo>
                  <a:lnTo>
                    <a:pt x="0" y="249"/>
                  </a:lnTo>
                  <a:lnTo>
                    <a:pt x="348" y="249"/>
                  </a:lnTo>
                  <a:lnTo>
                    <a:pt x="348" y="249"/>
                  </a:lnTo>
                </a:path>
              </a:pathLst>
            </a:custGeom>
            <a:noFill/>
            <a:ln w="14288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32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等线" panose="02010600030101010101" pitchFamily="2" charset="-122"/>
                <a:cs typeface="Arial" panose="020B0604020202020204" pitchFamily="34" charset="0"/>
              </a:endParaRPr>
            </a:p>
          </p:txBody>
        </p:sp>
        <p:sp>
          <p:nvSpPr>
            <p:cNvPr id="714" name="Freeform 46">
              <a:extLst>
                <a:ext uri="{FF2B5EF4-FFF2-40B4-BE49-F238E27FC236}">
                  <a16:creationId xmlns:a16="http://schemas.microsoft.com/office/drawing/2014/main" id="{13BF924C-8472-4EAB-9824-E2BD965216AC}"/>
                </a:ext>
              </a:extLst>
            </p:cNvPr>
            <p:cNvSpPr>
              <a:spLocks/>
            </p:cNvSpPr>
            <p:nvPr/>
          </p:nvSpPr>
          <p:spPr bwMode="auto">
            <a:xfrm>
              <a:off x="5380342" y="2750698"/>
              <a:ext cx="277813" cy="395288"/>
            </a:xfrm>
            <a:custGeom>
              <a:avLst/>
              <a:gdLst>
                <a:gd name="T0" fmla="*/ 175 w 175"/>
                <a:gd name="T1" fmla="*/ 247 h 249"/>
                <a:gd name="T2" fmla="*/ 175 w 175"/>
                <a:gd name="T3" fmla="*/ 0 h 249"/>
                <a:gd name="T4" fmla="*/ 0 w 175"/>
                <a:gd name="T5" fmla="*/ 0 h 249"/>
                <a:gd name="T6" fmla="*/ 0 w 175"/>
                <a:gd name="T7" fmla="*/ 249 h 249"/>
                <a:gd name="T8" fmla="*/ 175 w 175"/>
                <a:gd name="T9" fmla="*/ 249 h 249"/>
                <a:gd name="T10" fmla="*/ 175 w 175"/>
                <a:gd name="T11" fmla="*/ 249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75" h="249">
                  <a:moveTo>
                    <a:pt x="175" y="247"/>
                  </a:moveTo>
                  <a:lnTo>
                    <a:pt x="175" y="0"/>
                  </a:lnTo>
                  <a:lnTo>
                    <a:pt x="0" y="0"/>
                  </a:lnTo>
                  <a:lnTo>
                    <a:pt x="0" y="249"/>
                  </a:lnTo>
                  <a:lnTo>
                    <a:pt x="175" y="249"/>
                  </a:lnTo>
                  <a:lnTo>
                    <a:pt x="175" y="249"/>
                  </a:lnTo>
                </a:path>
              </a:pathLst>
            </a:custGeom>
            <a:noFill/>
            <a:ln w="14288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32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等线" panose="02010600030101010101" pitchFamily="2" charset="-122"/>
                <a:cs typeface="Arial" panose="020B0604020202020204" pitchFamily="34" charset="0"/>
              </a:endParaRPr>
            </a:p>
          </p:txBody>
        </p:sp>
        <p:sp>
          <p:nvSpPr>
            <p:cNvPr id="715" name="Rectangle 47">
              <a:extLst>
                <a:ext uri="{FF2B5EF4-FFF2-40B4-BE49-F238E27FC236}">
                  <a16:creationId xmlns:a16="http://schemas.microsoft.com/office/drawing/2014/main" id="{5250A97B-472C-4AB2-862D-6B41A2855B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56217" y="2426848"/>
              <a:ext cx="76641" cy="15147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defTabSz="914400" eaLnBrk="0" fontAlgn="auto" latinLnBrk="0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zh-CN" altLang="zh-CN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等线" panose="02010600030101010101" pitchFamily="2" charset="-122"/>
                  <a:cs typeface="Arial" panose="020B0604020202020204" pitchFamily="34" charset="0"/>
                </a:rPr>
                <a:t>T</a:t>
              </a:r>
              <a:endParaRPr kumimoji="0" lang="zh-CN" altLang="zh-CN" sz="32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等线" panose="02010600030101010101" pitchFamily="2" charset="-122"/>
                <a:cs typeface="Arial" panose="020B0604020202020204" pitchFamily="34" charset="0"/>
              </a:endParaRPr>
            </a:p>
          </p:txBody>
        </p:sp>
        <p:sp>
          <p:nvSpPr>
            <p:cNvPr id="716" name="Rectangle 48">
              <a:extLst>
                <a:ext uri="{FF2B5EF4-FFF2-40B4-BE49-F238E27FC236}">
                  <a16:creationId xmlns:a16="http://schemas.microsoft.com/office/drawing/2014/main" id="{5F8C6D59-F6A8-46BA-97FA-D1CE79F47C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34005" y="2426848"/>
              <a:ext cx="28177" cy="15147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defTabSz="914400" eaLnBrk="0" fontAlgn="auto" latinLnBrk="0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zh-CN" altLang="zh-CN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等线" panose="02010600030101010101" pitchFamily="2" charset="-122"/>
                  <a:cs typeface="Arial" panose="020B0604020202020204" pitchFamily="34" charset="0"/>
                </a:rPr>
                <a:t>i</a:t>
              </a:r>
              <a:endParaRPr kumimoji="0" lang="zh-CN" altLang="zh-CN" sz="32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等线" panose="02010600030101010101" pitchFamily="2" charset="-122"/>
                <a:cs typeface="Arial" panose="020B0604020202020204" pitchFamily="34" charset="0"/>
              </a:endParaRPr>
            </a:p>
          </p:txBody>
        </p:sp>
        <p:sp>
          <p:nvSpPr>
            <p:cNvPr id="717" name="Rectangle 49">
              <a:extLst>
                <a:ext uri="{FF2B5EF4-FFF2-40B4-BE49-F238E27FC236}">
                  <a16:creationId xmlns:a16="http://schemas.microsoft.com/office/drawing/2014/main" id="{315AF97C-DF24-4BA6-B1A8-066D91EB8D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60992" y="2426848"/>
              <a:ext cx="104818" cy="15147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defTabSz="914400" eaLnBrk="0" fontAlgn="auto" latinLnBrk="0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zh-CN" altLang="zh-CN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等线" panose="02010600030101010101" pitchFamily="2" charset="-122"/>
                  <a:cs typeface="Arial" panose="020B0604020202020204" pitchFamily="34" charset="0"/>
                </a:rPr>
                <a:t>m</a:t>
              </a:r>
              <a:endParaRPr kumimoji="0" lang="zh-CN" altLang="zh-CN" sz="32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等线" panose="02010600030101010101" pitchFamily="2" charset="-122"/>
                <a:cs typeface="Arial" panose="020B0604020202020204" pitchFamily="34" charset="0"/>
              </a:endParaRPr>
            </a:p>
          </p:txBody>
        </p:sp>
        <p:sp>
          <p:nvSpPr>
            <p:cNvPr id="718" name="Rectangle 50">
              <a:extLst>
                <a:ext uri="{FF2B5EF4-FFF2-40B4-BE49-F238E27FC236}">
                  <a16:creationId xmlns:a16="http://schemas.microsoft.com/office/drawing/2014/main" id="{CF6D6B46-9857-432C-94E1-B98FACD7D1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64180" y="2426848"/>
              <a:ext cx="69878" cy="15147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defTabSz="914400" eaLnBrk="0" fontAlgn="auto" latinLnBrk="0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zh-CN" altLang="zh-CN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等线" panose="02010600030101010101" pitchFamily="2" charset="-122"/>
                  <a:cs typeface="Arial" panose="020B0604020202020204" pitchFamily="34" charset="0"/>
                </a:rPr>
                <a:t>e</a:t>
              </a:r>
              <a:endParaRPr kumimoji="0" lang="zh-CN" altLang="zh-CN" sz="32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等线" panose="02010600030101010101" pitchFamily="2" charset="-122"/>
                <a:cs typeface="Arial" panose="020B0604020202020204" pitchFamily="34" charset="0"/>
              </a:endParaRPr>
            </a:p>
          </p:txBody>
        </p:sp>
        <p:sp>
          <p:nvSpPr>
            <p:cNvPr id="719" name="Line 93">
              <a:extLst>
                <a:ext uri="{FF2B5EF4-FFF2-40B4-BE49-F238E27FC236}">
                  <a16:creationId xmlns:a16="http://schemas.microsoft.com/office/drawing/2014/main" id="{00242494-C068-44DF-9EED-3AAB00499F1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997380" y="2814198"/>
              <a:ext cx="0" cy="10731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32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等线" panose="02010600030101010101" pitchFamily="2" charset="-122"/>
                <a:cs typeface="Arial" panose="020B0604020202020204" pitchFamily="34" charset="0"/>
              </a:endParaRPr>
            </a:p>
          </p:txBody>
        </p:sp>
        <p:sp>
          <p:nvSpPr>
            <p:cNvPr id="720" name="Freeform 94">
              <a:extLst>
                <a:ext uri="{FF2B5EF4-FFF2-40B4-BE49-F238E27FC236}">
                  <a16:creationId xmlns:a16="http://schemas.microsoft.com/office/drawing/2014/main" id="{2D8557EA-8594-4829-9AD6-2AD8964A045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7217" y="3871473"/>
              <a:ext cx="63500" cy="66675"/>
            </a:xfrm>
            <a:custGeom>
              <a:avLst/>
              <a:gdLst>
                <a:gd name="T0" fmla="*/ 37 w 40"/>
                <a:gd name="T1" fmla="*/ 0 h 42"/>
                <a:gd name="T2" fmla="*/ 0 w 40"/>
                <a:gd name="T3" fmla="*/ 0 h 42"/>
                <a:gd name="T4" fmla="*/ 19 w 40"/>
                <a:gd name="T5" fmla="*/ 42 h 42"/>
                <a:gd name="T6" fmla="*/ 40 w 40"/>
                <a:gd name="T7" fmla="*/ 0 h 42"/>
                <a:gd name="T8" fmla="*/ 40 w 40"/>
                <a:gd name="T9" fmla="*/ 0 h 42"/>
                <a:gd name="T10" fmla="*/ 37 w 40"/>
                <a:gd name="T11" fmla="*/ 0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" h="42">
                  <a:moveTo>
                    <a:pt x="37" y="0"/>
                  </a:moveTo>
                  <a:lnTo>
                    <a:pt x="0" y="0"/>
                  </a:lnTo>
                  <a:lnTo>
                    <a:pt x="19" y="42"/>
                  </a:lnTo>
                  <a:lnTo>
                    <a:pt x="40" y="0"/>
                  </a:lnTo>
                  <a:lnTo>
                    <a:pt x="40" y="0"/>
                  </a:lnTo>
                  <a:lnTo>
                    <a:pt x="37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32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等线" panose="02010600030101010101" pitchFamily="2" charset="-122"/>
                <a:cs typeface="Arial" panose="020B0604020202020204" pitchFamily="34" charset="0"/>
              </a:endParaRPr>
            </a:p>
          </p:txBody>
        </p:sp>
        <p:sp>
          <p:nvSpPr>
            <p:cNvPr id="721" name="Line 95">
              <a:extLst>
                <a:ext uri="{FF2B5EF4-FFF2-40B4-BE49-F238E27FC236}">
                  <a16:creationId xmlns:a16="http://schemas.microsoft.com/office/drawing/2014/main" id="{18159C4F-F4BD-4FCF-B338-483E708125E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78480" y="2504636"/>
              <a:ext cx="4154488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32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等线" panose="02010600030101010101" pitchFamily="2" charset="-122"/>
                <a:cs typeface="Arial" panose="020B0604020202020204" pitchFamily="34" charset="0"/>
              </a:endParaRPr>
            </a:p>
          </p:txBody>
        </p:sp>
        <p:sp>
          <p:nvSpPr>
            <p:cNvPr id="722" name="Freeform 96">
              <a:extLst>
                <a:ext uri="{FF2B5EF4-FFF2-40B4-BE49-F238E27FC236}">
                  <a16:creationId xmlns:a16="http://schemas.microsoft.com/office/drawing/2014/main" id="{4C44EC69-C8D3-4BFB-835B-5E9652CFC07F}"/>
                </a:ext>
              </a:extLst>
            </p:cNvPr>
            <p:cNvSpPr>
              <a:spLocks/>
            </p:cNvSpPr>
            <p:nvPr/>
          </p:nvSpPr>
          <p:spPr bwMode="auto">
            <a:xfrm>
              <a:off x="7317092" y="2472886"/>
              <a:ext cx="63500" cy="68263"/>
            </a:xfrm>
            <a:custGeom>
              <a:avLst/>
              <a:gdLst>
                <a:gd name="T0" fmla="*/ 0 w 40"/>
                <a:gd name="T1" fmla="*/ 0 h 43"/>
                <a:gd name="T2" fmla="*/ 0 w 40"/>
                <a:gd name="T3" fmla="*/ 43 h 43"/>
                <a:gd name="T4" fmla="*/ 40 w 40"/>
                <a:gd name="T5" fmla="*/ 20 h 43"/>
                <a:gd name="T6" fmla="*/ 0 w 40"/>
                <a:gd name="T7" fmla="*/ 0 h 43"/>
                <a:gd name="T8" fmla="*/ 0 w 40"/>
                <a:gd name="T9" fmla="*/ 0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0" h="43">
                  <a:moveTo>
                    <a:pt x="0" y="0"/>
                  </a:moveTo>
                  <a:lnTo>
                    <a:pt x="0" y="43"/>
                  </a:lnTo>
                  <a:lnTo>
                    <a:pt x="40" y="2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32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等线" panose="02010600030101010101" pitchFamily="2" charset="-122"/>
                <a:cs typeface="Arial" panose="020B0604020202020204" pitchFamily="34" charset="0"/>
              </a:endParaRPr>
            </a:p>
          </p:txBody>
        </p:sp>
        <p:sp>
          <p:nvSpPr>
            <p:cNvPr id="723" name="Freeform 115">
              <a:extLst>
                <a:ext uri="{FF2B5EF4-FFF2-40B4-BE49-F238E27FC236}">
                  <a16:creationId xmlns:a16="http://schemas.microsoft.com/office/drawing/2014/main" id="{E60960E6-E62B-4A29-A538-2BF1FB1E6EF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6642" y="3145986"/>
              <a:ext cx="554038" cy="396875"/>
            </a:xfrm>
            <a:custGeom>
              <a:avLst/>
              <a:gdLst>
                <a:gd name="T0" fmla="*/ 349 w 349"/>
                <a:gd name="T1" fmla="*/ 247 h 250"/>
                <a:gd name="T2" fmla="*/ 349 w 349"/>
                <a:gd name="T3" fmla="*/ 0 h 250"/>
                <a:gd name="T4" fmla="*/ 0 w 349"/>
                <a:gd name="T5" fmla="*/ 0 h 250"/>
                <a:gd name="T6" fmla="*/ 0 w 349"/>
                <a:gd name="T7" fmla="*/ 250 h 250"/>
                <a:gd name="T8" fmla="*/ 349 w 349"/>
                <a:gd name="T9" fmla="*/ 250 h 250"/>
                <a:gd name="T10" fmla="*/ 349 w 349"/>
                <a:gd name="T11" fmla="*/ 250 h 2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49" h="250">
                  <a:moveTo>
                    <a:pt x="349" y="247"/>
                  </a:moveTo>
                  <a:lnTo>
                    <a:pt x="349" y="0"/>
                  </a:lnTo>
                  <a:lnTo>
                    <a:pt x="0" y="0"/>
                  </a:lnTo>
                  <a:lnTo>
                    <a:pt x="0" y="250"/>
                  </a:lnTo>
                  <a:lnTo>
                    <a:pt x="349" y="250"/>
                  </a:lnTo>
                  <a:lnTo>
                    <a:pt x="349" y="250"/>
                  </a:lnTo>
                </a:path>
              </a:pathLst>
            </a:custGeom>
            <a:noFill/>
            <a:ln w="14288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32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等线" panose="02010600030101010101" pitchFamily="2" charset="-122"/>
                <a:cs typeface="Arial" panose="020B0604020202020204" pitchFamily="34" charset="0"/>
              </a:endParaRPr>
            </a:p>
          </p:txBody>
        </p:sp>
        <p:sp>
          <p:nvSpPr>
            <p:cNvPr id="724" name="Freeform 119">
              <a:extLst>
                <a:ext uri="{FF2B5EF4-FFF2-40B4-BE49-F238E27FC236}">
                  <a16:creationId xmlns:a16="http://schemas.microsoft.com/office/drawing/2014/main" id="{E9AFDD68-61C9-492F-AAC5-5097C7120F60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6905" y="3145986"/>
              <a:ext cx="276225" cy="396875"/>
            </a:xfrm>
            <a:custGeom>
              <a:avLst/>
              <a:gdLst>
                <a:gd name="T0" fmla="*/ 172 w 174"/>
                <a:gd name="T1" fmla="*/ 247 h 250"/>
                <a:gd name="T2" fmla="*/ 174 w 174"/>
                <a:gd name="T3" fmla="*/ 0 h 250"/>
                <a:gd name="T4" fmla="*/ 0 w 174"/>
                <a:gd name="T5" fmla="*/ 0 h 250"/>
                <a:gd name="T6" fmla="*/ 0 w 174"/>
                <a:gd name="T7" fmla="*/ 250 h 250"/>
                <a:gd name="T8" fmla="*/ 174 w 174"/>
                <a:gd name="T9" fmla="*/ 250 h 250"/>
                <a:gd name="T10" fmla="*/ 174 w 174"/>
                <a:gd name="T11" fmla="*/ 250 h 2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74" h="250">
                  <a:moveTo>
                    <a:pt x="172" y="247"/>
                  </a:moveTo>
                  <a:lnTo>
                    <a:pt x="174" y="0"/>
                  </a:lnTo>
                  <a:lnTo>
                    <a:pt x="0" y="0"/>
                  </a:lnTo>
                  <a:lnTo>
                    <a:pt x="0" y="250"/>
                  </a:lnTo>
                  <a:lnTo>
                    <a:pt x="174" y="250"/>
                  </a:lnTo>
                  <a:lnTo>
                    <a:pt x="174" y="250"/>
                  </a:lnTo>
                </a:path>
              </a:pathLst>
            </a:custGeom>
            <a:noFill/>
            <a:ln w="14288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32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等线" panose="02010600030101010101" pitchFamily="2" charset="-122"/>
                <a:cs typeface="Arial" panose="020B0604020202020204" pitchFamily="34" charset="0"/>
              </a:endParaRPr>
            </a:p>
          </p:txBody>
        </p:sp>
        <p:sp>
          <p:nvSpPr>
            <p:cNvPr id="725" name="Freeform 123">
              <a:extLst>
                <a:ext uri="{FF2B5EF4-FFF2-40B4-BE49-F238E27FC236}">
                  <a16:creationId xmlns:a16="http://schemas.microsoft.com/office/drawing/2014/main" id="{B540528A-712B-4DE5-9BB1-819BBAF74460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3130" y="3145986"/>
              <a:ext cx="554038" cy="396875"/>
            </a:xfrm>
            <a:custGeom>
              <a:avLst/>
              <a:gdLst>
                <a:gd name="T0" fmla="*/ 349 w 349"/>
                <a:gd name="T1" fmla="*/ 247 h 250"/>
                <a:gd name="T2" fmla="*/ 349 w 349"/>
                <a:gd name="T3" fmla="*/ 0 h 250"/>
                <a:gd name="T4" fmla="*/ 0 w 349"/>
                <a:gd name="T5" fmla="*/ 0 h 250"/>
                <a:gd name="T6" fmla="*/ 0 w 349"/>
                <a:gd name="T7" fmla="*/ 250 h 250"/>
                <a:gd name="T8" fmla="*/ 349 w 349"/>
                <a:gd name="T9" fmla="*/ 250 h 250"/>
                <a:gd name="T10" fmla="*/ 349 w 349"/>
                <a:gd name="T11" fmla="*/ 250 h 2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49" h="250">
                  <a:moveTo>
                    <a:pt x="349" y="247"/>
                  </a:moveTo>
                  <a:lnTo>
                    <a:pt x="349" y="0"/>
                  </a:lnTo>
                  <a:lnTo>
                    <a:pt x="0" y="0"/>
                  </a:lnTo>
                  <a:lnTo>
                    <a:pt x="0" y="250"/>
                  </a:lnTo>
                  <a:lnTo>
                    <a:pt x="349" y="250"/>
                  </a:lnTo>
                  <a:lnTo>
                    <a:pt x="349" y="250"/>
                  </a:lnTo>
                </a:path>
              </a:pathLst>
            </a:custGeom>
            <a:noFill/>
            <a:ln w="14288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32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等线" panose="02010600030101010101" pitchFamily="2" charset="-122"/>
                <a:cs typeface="Arial" panose="020B0604020202020204" pitchFamily="34" charset="0"/>
              </a:endParaRPr>
            </a:p>
          </p:txBody>
        </p:sp>
        <p:sp>
          <p:nvSpPr>
            <p:cNvPr id="726" name="Freeform 135">
              <a:extLst>
                <a:ext uri="{FF2B5EF4-FFF2-40B4-BE49-F238E27FC236}">
                  <a16:creationId xmlns:a16="http://schemas.microsoft.com/office/drawing/2014/main" id="{99F3A5A6-9B9D-44AA-89CB-AE63AB708CCD}"/>
                </a:ext>
              </a:extLst>
            </p:cNvPr>
            <p:cNvSpPr>
              <a:spLocks/>
            </p:cNvSpPr>
            <p:nvPr/>
          </p:nvSpPr>
          <p:spPr bwMode="auto">
            <a:xfrm>
              <a:off x="5377167" y="3145986"/>
              <a:ext cx="554038" cy="396875"/>
            </a:xfrm>
            <a:custGeom>
              <a:avLst/>
              <a:gdLst>
                <a:gd name="T0" fmla="*/ 349 w 349"/>
                <a:gd name="T1" fmla="*/ 247 h 250"/>
                <a:gd name="T2" fmla="*/ 349 w 349"/>
                <a:gd name="T3" fmla="*/ 0 h 250"/>
                <a:gd name="T4" fmla="*/ 0 w 349"/>
                <a:gd name="T5" fmla="*/ 0 h 250"/>
                <a:gd name="T6" fmla="*/ 0 w 349"/>
                <a:gd name="T7" fmla="*/ 250 h 250"/>
                <a:gd name="T8" fmla="*/ 349 w 349"/>
                <a:gd name="T9" fmla="*/ 250 h 250"/>
                <a:gd name="T10" fmla="*/ 349 w 349"/>
                <a:gd name="T11" fmla="*/ 250 h 2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49" h="250">
                  <a:moveTo>
                    <a:pt x="349" y="247"/>
                  </a:moveTo>
                  <a:lnTo>
                    <a:pt x="349" y="0"/>
                  </a:lnTo>
                  <a:lnTo>
                    <a:pt x="0" y="0"/>
                  </a:lnTo>
                  <a:lnTo>
                    <a:pt x="0" y="250"/>
                  </a:lnTo>
                  <a:lnTo>
                    <a:pt x="349" y="250"/>
                  </a:lnTo>
                  <a:lnTo>
                    <a:pt x="349" y="250"/>
                  </a:lnTo>
                </a:path>
              </a:pathLst>
            </a:custGeom>
            <a:noFill/>
            <a:ln w="14288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32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等线" panose="02010600030101010101" pitchFamily="2" charset="-122"/>
                <a:cs typeface="Arial" panose="020B0604020202020204" pitchFamily="34" charset="0"/>
              </a:endParaRPr>
            </a:p>
          </p:txBody>
        </p:sp>
        <p:sp>
          <p:nvSpPr>
            <p:cNvPr id="727" name="Freeform 139">
              <a:extLst>
                <a:ext uri="{FF2B5EF4-FFF2-40B4-BE49-F238E27FC236}">
                  <a16:creationId xmlns:a16="http://schemas.microsoft.com/office/drawing/2014/main" id="{40EDC616-E089-4AC1-BF13-CC745D1E90F8}"/>
                </a:ext>
              </a:extLst>
            </p:cNvPr>
            <p:cNvSpPr>
              <a:spLocks/>
            </p:cNvSpPr>
            <p:nvPr/>
          </p:nvSpPr>
          <p:spPr bwMode="auto">
            <a:xfrm>
              <a:off x="5931205" y="3145986"/>
              <a:ext cx="276225" cy="396875"/>
            </a:xfrm>
            <a:custGeom>
              <a:avLst/>
              <a:gdLst>
                <a:gd name="T0" fmla="*/ 174 w 174"/>
                <a:gd name="T1" fmla="*/ 247 h 250"/>
                <a:gd name="T2" fmla="*/ 174 w 174"/>
                <a:gd name="T3" fmla="*/ 0 h 250"/>
                <a:gd name="T4" fmla="*/ 0 w 174"/>
                <a:gd name="T5" fmla="*/ 0 h 250"/>
                <a:gd name="T6" fmla="*/ 0 w 174"/>
                <a:gd name="T7" fmla="*/ 250 h 250"/>
                <a:gd name="T8" fmla="*/ 174 w 174"/>
                <a:gd name="T9" fmla="*/ 250 h 250"/>
                <a:gd name="T10" fmla="*/ 174 w 174"/>
                <a:gd name="T11" fmla="*/ 250 h 2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74" h="250">
                  <a:moveTo>
                    <a:pt x="174" y="247"/>
                  </a:moveTo>
                  <a:lnTo>
                    <a:pt x="174" y="0"/>
                  </a:lnTo>
                  <a:lnTo>
                    <a:pt x="0" y="0"/>
                  </a:lnTo>
                  <a:lnTo>
                    <a:pt x="0" y="250"/>
                  </a:lnTo>
                  <a:lnTo>
                    <a:pt x="174" y="250"/>
                  </a:lnTo>
                  <a:lnTo>
                    <a:pt x="174" y="250"/>
                  </a:lnTo>
                </a:path>
              </a:pathLst>
            </a:custGeom>
            <a:noFill/>
            <a:ln w="14288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32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等线" panose="02010600030101010101" pitchFamily="2" charset="-122"/>
                <a:cs typeface="Arial" panose="020B0604020202020204" pitchFamily="34" charset="0"/>
              </a:endParaRPr>
            </a:p>
          </p:txBody>
        </p:sp>
        <p:sp>
          <p:nvSpPr>
            <p:cNvPr id="728" name="Rectangle 142">
              <a:extLst>
                <a:ext uri="{FF2B5EF4-FFF2-40B4-BE49-F238E27FC236}">
                  <a16:creationId xmlns:a16="http://schemas.microsoft.com/office/drawing/2014/main" id="{9E87E816-AAB5-4330-BBBA-53DBBB83A5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18180" y="3368236"/>
              <a:ext cx="69878" cy="15147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defTabSz="914400" eaLnBrk="0" fontAlgn="auto" latinLnBrk="0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zh-CN" altLang="zh-CN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等线" panose="02010600030101010101" pitchFamily="2" charset="-122"/>
                  <a:cs typeface="Arial" panose="020B0604020202020204" pitchFamily="34" charset="0"/>
                </a:rPr>
                <a:t>2</a:t>
              </a:r>
              <a:endParaRPr kumimoji="0" lang="zh-CN" altLang="zh-CN" sz="32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等线" panose="02010600030101010101" pitchFamily="2" charset="-122"/>
                <a:cs typeface="Arial" panose="020B0604020202020204" pitchFamily="34" charset="0"/>
              </a:endParaRPr>
            </a:p>
          </p:txBody>
        </p:sp>
        <p:sp>
          <p:nvSpPr>
            <p:cNvPr id="729" name="Rectangle 143">
              <a:extLst>
                <a:ext uri="{FF2B5EF4-FFF2-40B4-BE49-F238E27FC236}">
                  <a16:creationId xmlns:a16="http://schemas.microsoft.com/office/drawing/2014/main" id="{9D45B670-CC08-43F1-AE62-D9CF35B827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88030" y="3368236"/>
              <a:ext cx="34940" cy="15147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defTabSz="914400" eaLnBrk="0" fontAlgn="auto" latinLnBrk="0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zh-CN" altLang="zh-CN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等线" panose="02010600030101010101" pitchFamily="2" charset="-122"/>
                  <a:cs typeface="Arial" panose="020B0604020202020204" pitchFamily="34" charset="0"/>
                </a:rPr>
                <a:t> </a:t>
              </a:r>
              <a:endParaRPr kumimoji="0" lang="zh-CN" altLang="zh-CN" sz="32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等线" panose="02010600030101010101" pitchFamily="2" charset="-122"/>
                <a:cs typeface="Arial" panose="020B0604020202020204" pitchFamily="34" charset="0"/>
              </a:endParaRPr>
            </a:p>
          </p:txBody>
        </p:sp>
        <p:sp>
          <p:nvSpPr>
            <p:cNvPr id="730" name="Rectangle 144">
              <a:extLst>
                <a:ext uri="{FF2B5EF4-FFF2-40B4-BE49-F238E27FC236}">
                  <a16:creationId xmlns:a16="http://schemas.microsoft.com/office/drawing/2014/main" id="{8D7A5334-0566-4E1A-90DD-2BC68ECC27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21367" y="3368236"/>
              <a:ext cx="69878" cy="15147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defTabSz="914400" eaLnBrk="0" fontAlgn="auto" latinLnBrk="0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zh-CN" altLang="zh-CN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等线" panose="02010600030101010101" pitchFamily="2" charset="-122"/>
                  <a:cs typeface="Arial" panose="020B0604020202020204" pitchFamily="34" charset="0"/>
                </a:rPr>
                <a:t>n</a:t>
              </a:r>
              <a:endParaRPr kumimoji="0" lang="zh-CN" altLang="zh-CN" sz="32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等线" panose="02010600030101010101" pitchFamily="2" charset="-122"/>
                <a:cs typeface="Arial" panose="020B0604020202020204" pitchFamily="34" charset="0"/>
              </a:endParaRPr>
            </a:p>
          </p:txBody>
        </p:sp>
        <p:sp>
          <p:nvSpPr>
            <p:cNvPr id="731" name="Rectangle 145">
              <a:extLst>
                <a:ext uri="{FF2B5EF4-FFF2-40B4-BE49-F238E27FC236}">
                  <a16:creationId xmlns:a16="http://schemas.microsoft.com/office/drawing/2014/main" id="{7F374BEC-1774-4A9B-9A5C-CBF300B224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91217" y="3368236"/>
              <a:ext cx="63116" cy="15147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defTabSz="914400" eaLnBrk="0" fontAlgn="auto" latinLnBrk="0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zh-CN" altLang="zh-CN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等线" panose="02010600030101010101" pitchFamily="2" charset="-122"/>
                  <a:cs typeface="Arial" panose="020B0604020202020204" pitchFamily="34" charset="0"/>
                </a:rPr>
                <a:t>s</a:t>
              </a:r>
              <a:endParaRPr kumimoji="0" lang="zh-CN" altLang="zh-CN" sz="32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等线" panose="02010600030101010101" pitchFamily="2" charset="-122"/>
                <a:cs typeface="Arial" panose="020B0604020202020204" pitchFamily="34" charset="0"/>
              </a:endParaRPr>
            </a:p>
          </p:txBody>
        </p:sp>
        <p:sp>
          <p:nvSpPr>
            <p:cNvPr id="732" name="Freeform 164">
              <a:extLst>
                <a:ext uri="{FF2B5EF4-FFF2-40B4-BE49-F238E27FC236}">
                  <a16:creationId xmlns:a16="http://schemas.microsoft.com/office/drawing/2014/main" id="{C8312861-8ED3-4515-AFB9-57A8771CF568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0680" y="3550157"/>
              <a:ext cx="552450" cy="395288"/>
            </a:xfrm>
            <a:custGeom>
              <a:avLst/>
              <a:gdLst>
                <a:gd name="T0" fmla="*/ 348 w 348"/>
                <a:gd name="T1" fmla="*/ 247 h 249"/>
                <a:gd name="T2" fmla="*/ 348 w 348"/>
                <a:gd name="T3" fmla="*/ 0 h 249"/>
                <a:gd name="T4" fmla="*/ 0 w 348"/>
                <a:gd name="T5" fmla="*/ 0 h 249"/>
                <a:gd name="T6" fmla="*/ 0 w 348"/>
                <a:gd name="T7" fmla="*/ 249 h 249"/>
                <a:gd name="T8" fmla="*/ 348 w 348"/>
                <a:gd name="T9" fmla="*/ 249 h 249"/>
                <a:gd name="T10" fmla="*/ 348 w 348"/>
                <a:gd name="T11" fmla="*/ 249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48" h="249">
                  <a:moveTo>
                    <a:pt x="348" y="247"/>
                  </a:moveTo>
                  <a:lnTo>
                    <a:pt x="348" y="0"/>
                  </a:lnTo>
                  <a:lnTo>
                    <a:pt x="0" y="0"/>
                  </a:lnTo>
                  <a:lnTo>
                    <a:pt x="0" y="249"/>
                  </a:lnTo>
                  <a:lnTo>
                    <a:pt x="348" y="249"/>
                  </a:lnTo>
                  <a:lnTo>
                    <a:pt x="348" y="249"/>
                  </a:lnTo>
                </a:path>
              </a:pathLst>
            </a:custGeom>
            <a:noFill/>
            <a:ln w="14288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32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等线" panose="02010600030101010101" pitchFamily="2" charset="-122"/>
                <a:cs typeface="Arial" panose="020B0604020202020204" pitchFamily="34" charset="0"/>
              </a:endParaRPr>
            </a:p>
          </p:txBody>
        </p:sp>
        <p:sp>
          <p:nvSpPr>
            <p:cNvPr id="733" name="Freeform 168">
              <a:extLst>
                <a:ext uri="{FF2B5EF4-FFF2-40B4-BE49-F238E27FC236}">
                  <a16:creationId xmlns:a16="http://schemas.microsoft.com/office/drawing/2014/main" id="{8013AFB5-86A9-4E70-AFFD-50FB0BEE79FF}"/>
                </a:ext>
              </a:extLst>
            </p:cNvPr>
            <p:cNvSpPr>
              <a:spLocks/>
            </p:cNvSpPr>
            <p:nvPr/>
          </p:nvSpPr>
          <p:spPr bwMode="auto">
            <a:xfrm>
              <a:off x="5100942" y="3550157"/>
              <a:ext cx="276225" cy="395288"/>
            </a:xfrm>
            <a:custGeom>
              <a:avLst/>
              <a:gdLst>
                <a:gd name="T0" fmla="*/ 172 w 174"/>
                <a:gd name="T1" fmla="*/ 247 h 249"/>
                <a:gd name="T2" fmla="*/ 174 w 174"/>
                <a:gd name="T3" fmla="*/ 0 h 249"/>
                <a:gd name="T4" fmla="*/ 0 w 174"/>
                <a:gd name="T5" fmla="*/ 0 h 249"/>
                <a:gd name="T6" fmla="*/ 0 w 174"/>
                <a:gd name="T7" fmla="*/ 249 h 249"/>
                <a:gd name="T8" fmla="*/ 174 w 174"/>
                <a:gd name="T9" fmla="*/ 249 h 249"/>
                <a:gd name="T10" fmla="*/ 174 w 174"/>
                <a:gd name="T11" fmla="*/ 249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74" h="249">
                  <a:moveTo>
                    <a:pt x="172" y="247"/>
                  </a:moveTo>
                  <a:lnTo>
                    <a:pt x="174" y="0"/>
                  </a:lnTo>
                  <a:lnTo>
                    <a:pt x="0" y="0"/>
                  </a:lnTo>
                  <a:lnTo>
                    <a:pt x="0" y="249"/>
                  </a:lnTo>
                  <a:lnTo>
                    <a:pt x="174" y="249"/>
                  </a:lnTo>
                  <a:lnTo>
                    <a:pt x="174" y="249"/>
                  </a:lnTo>
                </a:path>
              </a:pathLst>
            </a:custGeom>
            <a:noFill/>
            <a:ln w="14288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32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等线" panose="02010600030101010101" pitchFamily="2" charset="-122"/>
                <a:cs typeface="Arial" panose="020B0604020202020204" pitchFamily="34" charset="0"/>
              </a:endParaRPr>
            </a:p>
          </p:txBody>
        </p:sp>
        <p:sp>
          <p:nvSpPr>
            <p:cNvPr id="734" name="Freeform 172">
              <a:extLst>
                <a:ext uri="{FF2B5EF4-FFF2-40B4-BE49-F238E27FC236}">
                  <a16:creationId xmlns:a16="http://schemas.microsoft.com/office/drawing/2014/main" id="{1F3C411B-3C34-4C25-912C-8FCB72C3EBA4}"/>
                </a:ext>
              </a:extLst>
            </p:cNvPr>
            <p:cNvSpPr>
              <a:spLocks/>
            </p:cNvSpPr>
            <p:nvPr/>
          </p:nvSpPr>
          <p:spPr bwMode="auto">
            <a:xfrm>
              <a:off x="5377167" y="3550157"/>
              <a:ext cx="554038" cy="395288"/>
            </a:xfrm>
            <a:custGeom>
              <a:avLst/>
              <a:gdLst>
                <a:gd name="T0" fmla="*/ 349 w 349"/>
                <a:gd name="T1" fmla="*/ 247 h 249"/>
                <a:gd name="T2" fmla="*/ 349 w 349"/>
                <a:gd name="T3" fmla="*/ 0 h 249"/>
                <a:gd name="T4" fmla="*/ 0 w 349"/>
                <a:gd name="T5" fmla="*/ 0 h 249"/>
                <a:gd name="T6" fmla="*/ 0 w 349"/>
                <a:gd name="T7" fmla="*/ 249 h 249"/>
                <a:gd name="T8" fmla="*/ 349 w 349"/>
                <a:gd name="T9" fmla="*/ 249 h 249"/>
                <a:gd name="T10" fmla="*/ 349 w 349"/>
                <a:gd name="T11" fmla="*/ 249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49" h="249">
                  <a:moveTo>
                    <a:pt x="349" y="247"/>
                  </a:moveTo>
                  <a:lnTo>
                    <a:pt x="349" y="0"/>
                  </a:lnTo>
                  <a:lnTo>
                    <a:pt x="0" y="0"/>
                  </a:lnTo>
                  <a:lnTo>
                    <a:pt x="0" y="249"/>
                  </a:lnTo>
                  <a:lnTo>
                    <a:pt x="349" y="249"/>
                  </a:lnTo>
                  <a:lnTo>
                    <a:pt x="349" y="249"/>
                  </a:lnTo>
                </a:path>
              </a:pathLst>
            </a:custGeom>
            <a:noFill/>
            <a:ln w="14288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32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等线" panose="02010600030101010101" pitchFamily="2" charset="-122"/>
                <a:cs typeface="Arial" panose="020B0604020202020204" pitchFamily="34" charset="0"/>
              </a:endParaRPr>
            </a:p>
          </p:txBody>
        </p:sp>
        <p:sp>
          <p:nvSpPr>
            <p:cNvPr id="735" name="Freeform 184">
              <a:extLst>
                <a:ext uri="{FF2B5EF4-FFF2-40B4-BE49-F238E27FC236}">
                  <a16:creationId xmlns:a16="http://schemas.microsoft.com/office/drawing/2014/main" id="{CD540ADC-087B-440D-B6EA-F49577C8EF4B}"/>
                </a:ext>
              </a:extLst>
            </p:cNvPr>
            <p:cNvSpPr>
              <a:spLocks/>
            </p:cNvSpPr>
            <p:nvPr/>
          </p:nvSpPr>
          <p:spPr bwMode="auto">
            <a:xfrm>
              <a:off x="5931205" y="3550157"/>
              <a:ext cx="552450" cy="395288"/>
            </a:xfrm>
            <a:custGeom>
              <a:avLst/>
              <a:gdLst>
                <a:gd name="T0" fmla="*/ 348 w 348"/>
                <a:gd name="T1" fmla="*/ 247 h 249"/>
                <a:gd name="T2" fmla="*/ 348 w 348"/>
                <a:gd name="T3" fmla="*/ 0 h 249"/>
                <a:gd name="T4" fmla="*/ 0 w 348"/>
                <a:gd name="T5" fmla="*/ 0 h 249"/>
                <a:gd name="T6" fmla="*/ 0 w 348"/>
                <a:gd name="T7" fmla="*/ 249 h 249"/>
                <a:gd name="T8" fmla="*/ 348 w 348"/>
                <a:gd name="T9" fmla="*/ 249 h 249"/>
                <a:gd name="T10" fmla="*/ 348 w 348"/>
                <a:gd name="T11" fmla="*/ 249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48" h="249">
                  <a:moveTo>
                    <a:pt x="348" y="247"/>
                  </a:moveTo>
                  <a:lnTo>
                    <a:pt x="348" y="0"/>
                  </a:lnTo>
                  <a:lnTo>
                    <a:pt x="0" y="0"/>
                  </a:lnTo>
                  <a:lnTo>
                    <a:pt x="0" y="249"/>
                  </a:lnTo>
                  <a:lnTo>
                    <a:pt x="348" y="249"/>
                  </a:lnTo>
                  <a:lnTo>
                    <a:pt x="348" y="249"/>
                  </a:lnTo>
                </a:path>
              </a:pathLst>
            </a:custGeom>
            <a:noFill/>
            <a:ln w="14288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32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等线" panose="02010600030101010101" pitchFamily="2" charset="-122"/>
                <a:cs typeface="Arial" panose="020B0604020202020204" pitchFamily="34" charset="0"/>
              </a:endParaRPr>
            </a:p>
          </p:txBody>
        </p:sp>
        <p:sp>
          <p:nvSpPr>
            <p:cNvPr id="736" name="Freeform 188">
              <a:extLst>
                <a:ext uri="{FF2B5EF4-FFF2-40B4-BE49-F238E27FC236}">
                  <a16:creationId xmlns:a16="http://schemas.microsoft.com/office/drawing/2014/main" id="{0254CD39-797B-4A1A-99A3-A8B794C53D00}"/>
                </a:ext>
              </a:extLst>
            </p:cNvPr>
            <p:cNvSpPr>
              <a:spLocks/>
            </p:cNvSpPr>
            <p:nvPr/>
          </p:nvSpPr>
          <p:spPr bwMode="auto">
            <a:xfrm>
              <a:off x="6483655" y="3550157"/>
              <a:ext cx="277813" cy="395288"/>
            </a:xfrm>
            <a:custGeom>
              <a:avLst/>
              <a:gdLst>
                <a:gd name="T0" fmla="*/ 175 w 175"/>
                <a:gd name="T1" fmla="*/ 247 h 249"/>
                <a:gd name="T2" fmla="*/ 175 w 175"/>
                <a:gd name="T3" fmla="*/ 0 h 249"/>
                <a:gd name="T4" fmla="*/ 0 w 175"/>
                <a:gd name="T5" fmla="*/ 0 h 249"/>
                <a:gd name="T6" fmla="*/ 0 w 175"/>
                <a:gd name="T7" fmla="*/ 249 h 249"/>
                <a:gd name="T8" fmla="*/ 175 w 175"/>
                <a:gd name="T9" fmla="*/ 249 h 249"/>
                <a:gd name="T10" fmla="*/ 175 w 175"/>
                <a:gd name="T11" fmla="*/ 249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75" h="249">
                  <a:moveTo>
                    <a:pt x="175" y="247"/>
                  </a:moveTo>
                  <a:lnTo>
                    <a:pt x="175" y="0"/>
                  </a:lnTo>
                  <a:lnTo>
                    <a:pt x="0" y="0"/>
                  </a:lnTo>
                  <a:lnTo>
                    <a:pt x="0" y="249"/>
                  </a:lnTo>
                  <a:lnTo>
                    <a:pt x="175" y="249"/>
                  </a:lnTo>
                  <a:lnTo>
                    <a:pt x="175" y="249"/>
                  </a:lnTo>
                </a:path>
              </a:pathLst>
            </a:custGeom>
            <a:noFill/>
            <a:ln w="14288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32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等线" panose="02010600030101010101" pitchFamily="2" charset="-122"/>
                <a:cs typeface="Arial" panose="020B0604020202020204" pitchFamily="34" charset="0"/>
              </a:endParaRPr>
            </a:p>
          </p:txBody>
        </p:sp>
        <p:sp>
          <p:nvSpPr>
            <p:cNvPr id="737" name="Line 195">
              <a:extLst>
                <a:ext uri="{FF2B5EF4-FFF2-40B4-BE49-F238E27FC236}">
                  <a16:creationId xmlns:a16="http://schemas.microsoft.com/office/drawing/2014/main" id="{7CB75D42-C5CA-43E6-8A4C-D1E677C0B0C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735692" y="2504636"/>
              <a:ext cx="0" cy="68263"/>
            </a:xfrm>
            <a:prstGeom prst="line">
              <a:avLst/>
            </a:prstGeom>
            <a:noFill/>
            <a:ln w="7938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32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等线" panose="02010600030101010101" pitchFamily="2" charset="-122"/>
                <a:cs typeface="Arial" panose="020B0604020202020204" pitchFamily="34" charset="0"/>
              </a:endParaRPr>
            </a:p>
          </p:txBody>
        </p:sp>
        <p:sp>
          <p:nvSpPr>
            <p:cNvPr id="738" name="Rectangle 196">
              <a:extLst>
                <a:ext uri="{FF2B5EF4-FFF2-40B4-BE49-F238E27FC236}">
                  <a16:creationId xmlns:a16="http://schemas.microsoft.com/office/drawing/2014/main" id="{B9B1C0ED-3329-496A-8A93-52416F94A5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97592" y="2315723"/>
              <a:ext cx="69878" cy="15147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defTabSz="914400" eaLnBrk="0" fontAlgn="auto" latinLnBrk="0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zh-CN" altLang="zh-CN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等线" panose="02010600030101010101" pitchFamily="2" charset="-122"/>
                  <a:cs typeface="Arial" panose="020B0604020202020204" pitchFamily="34" charset="0"/>
                </a:rPr>
                <a:t>2</a:t>
              </a:r>
              <a:endParaRPr kumimoji="0" lang="zh-CN" altLang="zh-CN" sz="32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等线" panose="02010600030101010101" pitchFamily="2" charset="-122"/>
                <a:cs typeface="Arial" panose="020B0604020202020204" pitchFamily="34" charset="0"/>
              </a:endParaRPr>
            </a:p>
          </p:txBody>
        </p:sp>
        <p:sp>
          <p:nvSpPr>
            <p:cNvPr id="739" name="Line 197">
              <a:extLst>
                <a:ext uri="{FF2B5EF4-FFF2-40B4-BE49-F238E27FC236}">
                  <a16:creationId xmlns:a16="http://schemas.microsoft.com/office/drawing/2014/main" id="{6FD72066-D5C6-4CD2-8BC3-7A6D7531B72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288142" y="2504636"/>
              <a:ext cx="0" cy="68263"/>
            </a:xfrm>
            <a:prstGeom prst="line">
              <a:avLst/>
            </a:prstGeom>
            <a:noFill/>
            <a:ln w="7938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32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等线" panose="02010600030101010101" pitchFamily="2" charset="-122"/>
                <a:cs typeface="Arial" panose="020B0604020202020204" pitchFamily="34" charset="0"/>
              </a:endParaRPr>
            </a:p>
          </p:txBody>
        </p:sp>
        <p:sp>
          <p:nvSpPr>
            <p:cNvPr id="740" name="Rectangle 198">
              <a:extLst>
                <a:ext uri="{FF2B5EF4-FFF2-40B4-BE49-F238E27FC236}">
                  <a16:creationId xmlns:a16="http://schemas.microsoft.com/office/drawing/2014/main" id="{B0F6F445-8214-4759-A0EF-4F8F6C721A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51630" y="2315723"/>
              <a:ext cx="69878" cy="15147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defTabSz="914400" eaLnBrk="0" fontAlgn="auto" latinLnBrk="0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zh-CN" altLang="zh-CN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等线" panose="02010600030101010101" pitchFamily="2" charset="-122"/>
                  <a:cs typeface="Arial" panose="020B0604020202020204" pitchFamily="34" charset="0"/>
                </a:rPr>
                <a:t>4</a:t>
              </a:r>
              <a:endParaRPr kumimoji="0" lang="zh-CN" altLang="zh-CN" sz="32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等线" panose="02010600030101010101" pitchFamily="2" charset="-122"/>
                <a:cs typeface="Arial" panose="020B0604020202020204" pitchFamily="34" charset="0"/>
              </a:endParaRPr>
            </a:p>
          </p:txBody>
        </p:sp>
        <p:sp>
          <p:nvSpPr>
            <p:cNvPr id="741" name="Line 199">
              <a:extLst>
                <a:ext uri="{FF2B5EF4-FFF2-40B4-BE49-F238E27FC236}">
                  <a16:creationId xmlns:a16="http://schemas.microsoft.com/office/drawing/2014/main" id="{3096F678-0783-40C0-B3B3-5A6D22FEBB7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842180" y="2504636"/>
              <a:ext cx="0" cy="68263"/>
            </a:xfrm>
            <a:prstGeom prst="line">
              <a:avLst/>
            </a:prstGeom>
            <a:noFill/>
            <a:ln w="7938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32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等线" panose="02010600030101010101" pitchFamily="2" charset="-122"/>
                <a:cs typeface="Arial" panose="020B0604020202020204" pitchFamily="34" charset="0"/>
              </a:endParaRPr>
            </a:p>
          </p:txBody>
        </p:sp>
        <p:sp>
          <p:nvSpPr>
            <p:cNvPr id="742" name="Rectangle 200">
              <a:extLst>
                <a:ext uri="{FF2B5EF4-FFF2-40B4-BE49-F238E27FC236}">
                  <a16:creationId xmlns:a16="http://schemas.microsoft.com/office/drawing/2014/main" id="{9AFD86AD-0CB2-41E8-A4DE-BE3AAD817C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05667" y="2315723"/>
              <a:ext cx="69878" cy="15147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defTabSz="914400" eaLnBrk="0" fontAlgn="auto" latinLnBrk="0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zh-CN" altLang="zh-CN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等线" panose="02010600030101010101" pitchFamily="2" charset="-122"/>
                  <a:cs typeface="Arial" panose="020B0604020202020204" pitchFamily="34" charset="0"/>
                </a:rPr>
                <a:t>6</a:t>
              </a:r>
              <a:endParaRPr kumimoji="0" lang="zh-CN" altLang="zh-CN" sz="32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等线" panose="02010600030101010101" pitchFamily="2" charset="-122"/>
                <a:cs typeface="Arial" panose="020B0604020202020204" pitchFamily="34" charset="0"/>
              </a:endParaRPr>
            </a:p>
          </p:txBody>
        </p:sp>
        <p:sp>
          <p:nvSpPr>
            <p:cNvPr id="743" name="Line 201">
              <a:extLst>
                <a:ext uri="{FF2B5EF4-FFF2-40B4-BE49-F238E27FC236}">
                  <a16:creationId xmlns:a16="http://schemas.microsoft.com/office/drawing/2014/main" id="{9CB0D5E8-1B44-4BEC-A48D-2216681205A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396217" y="2504636"/>
              <a:ext cx="0" cy="68263"/>
            </a:xfrm>
            <a:prstGeom prst="line">
              <a:avLst/>
            </a:prstGeom>
            <a:noFill/>
            <a:ln w="7938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32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等线" panose="02010600030101010101" pitchFamily="2" charset="-122"/>
                <a:cs typeface="Arial" panose="020B0604020202020204" pitchFamily="34" charset="0"/>
              </a:endParaRPr>
            </a:p>
          </p:txBody>
        </p:sp>
        <p:sp>
          <p:nvSpPr>
            <p:cNvPr id="744" name="Rectangle 202">
              <a:extLst>
                <a:ext uri="{FF2B5EF4-FFF2-40B4-BE49-F238E27FC236}">
                  <a16:creationId xmlns:a16="http://schemas.microsoft.com/office/drawing/2014/main" id="{52DE4E75-FFFF-4B20-9950-8C6B16DF94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58117" y="2315723"/>
              <a:ext cx="69878" cy="15147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defTabSz="914400" eaLnBrk="0" fontAlgn="auto" latinLnBrk="0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zh-CN" altLang="zh-CN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等线" panose="02010600030101010101" pitchFamily="2" charset="-122"/>
                  <a:cs typeface="Arial" panose="020B0604020202020204" pitchFamily="34" charset="0"/>
                </a:rPr>
                <a:t>8</a:t>
              </a:r>
              <a:endParaRPr kumimoji="0" lang="zh-CN" altLang="zh-CN" sz="32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等线" panose="02010600030101010101" pitchFamily="2" charset="-122"/>
                <a:cs typeface="Arial" panose="020B0604020202020204" pitchFamily="34" charset="0"/>
              </a:endParaRPr>
            </a:p>
          </p:txBody>
        </p:sp>
        <p:sp>
          <p:nvSpPr>
            <p:cNvPr id="745" name="Line 203">
              <a:extLst>
                <a:ext uri="{FF2B5EF4-FFF2-40B4-BE49-F238E27FC236}">
                  <a16:creationId xmlns:a16="http://schemas.microsoft.com/office/drawing/2014/main" id="{74BBF770-4F73-44D3-AB25-D41FA04E802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948667" y="2504636"/>
              <a:ext cx="0" cy="68263"/>
            </a:xfrm>
            <a:prstGeom prst="line">
              <a:avLst/>
            </a:prstGeom>
            <a:noFill/>
            <a:ln w="7938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32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等线" panose="02010600030101010101" pitchFamily="2" charset="-122"/>
                <a:cs typeface="Arial" panose="020B0604020202020204" pitchFamily="34" charset="0"/>
              </a:endParaRPr>
            </a:p>
          </p:txBody>
        </p:sp>
        <p:sp>
          <p:nvSpPr>
            <p:cNvPr id="746" name="Rectangle 204">
              <a:extLst>
                <a:ext uri="{FF2B5EF4-FFF2-40B4-BE49-F238E27FC236}">
                  <a16:creationId xmlns:a16="http://schemas.microsoft.com/office/drawing/2014/main" id="{F3E3F166-10E9-427C-BD1A-907694F461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875642" y="2315723"/>
              <a:ext cx="69878" cy="15147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defTabSz="914400" eaLnBrk="0" fontAlgn="auto" latinLnBrk="0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zh-CN" altLang="zh-CN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等线" panose="02010600030101010101" pitchFamily="2" charset="-122"/>
                  <a:cs typeface="Arial" panose="020B0604020202020204" pitchFamily="34" charset="0"/>
                </a:rPr>
                <a:t>1</a:t>
              </a:r>
              <a:endParaRPr kumimoji="0" lang="zh-CN" altLang="zh-CN" sz="32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等线" panose="02010600030101010101" pitchFamily="2" charset="-122"/>
                <a:cs typeface="Arial" panose="020B0604020202020204" pitchFamily="34" charset="0"/>
              </a:endParaRPr>
            </a:p>
          </p:txBody>
        </p:sp>
        <p:sp>
          <p:nvSpPr>
            <p:cNvPr id="747" name="Rectangle 206">
              <a:extLst>
                <a:ext uri="{FF2B5EF4-FFF2-40B4-BE49-F238E27FC236}">
                  <a16:creationId xmlns:a16="http://schemas.microsoft.com/office/drawing/2014/main" id="{AFA96E95-538D-4088-8C09-AD4C792AC2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42317" y="2315723"/>
              <a:ext cx="69878" cy="15147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defTabSz="914400" eaLnBrk="0" fontAlgn="auto" latinLnBrk="0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zh-CN" altLang="zh-CN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等线" panose="02010600030101010101" pitchFamily="2" charset="-122"/>
                  <a:cs typeface="Arial" panose="020B0604020202020204" pitchFamily="34" charset="0"/>
                </a:rPr>
                <a:t>0</a:t>
              </a:r>
              <a:endParaRPr kumimoji="0" lang="zh-CN" altLang="zh-CN" sz="32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等线" panose="02010600030101010101" pitchFamily="2" charset="-122"/>
                <a:cs typeface="Arial" panose="020B0604020202020204" pitchFamily="34" charset="0"/>
              </a:endParaRPr>
            </a:p>
          </p:txBody>
        </p:sp>
        <p:sp>
          <p:nvSpPr>
            <p:cNvPr id="748" name="Line 207">
              <a:extLst>
                <a:ext uri="{FF2B5EF4-FFF2-40B4-BE49-F238E27FC236}">
                  <a16:creationId xmlns:a16="http://schemas.microsoft.com/office/drawing/2014/main" id="{40E81D65-0F5D-479D-A7A8-5FF054F9A26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502705" y="2504635"/>
              <a:ext cx="0" cy="68263"/>
            </a:xfrm>
            <a:prstGeom prst="line">
              <a:avLst/>
            </a:prstGeom>
            <a:noFill/>
            <a:ln w="7938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32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等线" panose="02010600030101010101" pitchFamily="2" charset="-122"/>
                <a:cs typeface="Arial" panose="020B0604020202020204" pitchFamily="34" charset="0"/>
              </a:endParaRPr>
            </a:p>
          </p:txBody>
        </p:sp>
        <p:sp>
          <p:nvSpPr>
            <p:cNvPr id="749" name="Line 208">
              <a:extLst>
                <a:ext uri="{FF2B5EF4-FFF2-40B4-BE49-F238E27FC236}">
                  <a16:creationId xmlns:a16="http://schemas.microsoft.com/office/drawing/2014/main" id="{73D34BC3-CDEF-4A0F-B9DE-66312938CC3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048805" y="2504635"/>
              <a:ext cx="0" cy="68263"/>
            </a:xfrm>
            <a:prstGeom prst="line">
              <a:avLst/>
            </a:prstGeom>
            <a:noFill/>
            <a:ln w="7938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32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等线" panose="02010600030101010101" pitchFamily="2" charset="-122"/>
                <a:cs typeface="Arial" panose="020B0604020202020204" pitchFamily="34" charset="0"/>
              </a:endParaRPr>
            </a:p>
          </p:txBody>
        </p:sp>
        <p:sp>
          <p:nvSpPr>
            <p:cNvPr id="750" name="Rectangle 209">
              <a:extLst>
                <a:ext uri="{FF2B5EF4-FFF2-40B4-BE49-F238E27FC236}">
                  <a16:creationId xmlns:a16="http://schemas.microsoft.com/office/drawing/2014/main" id="{45259C38-81A5-4FE7-AB31-8B6B1E55AA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28092" y="2315723"/>
              <a:ext cx="69878" cy="15147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defTabSz="914400" eaLnBrk="0" fontAlgn="auto" latinLnBrk="0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zh-CN" altLang="zh-CN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等线" panose="02010600030101010101" pitchFamily="2" charset="-122"/>
                  <a:cs typeface="Arial" panose="020B0604020202020204" pitchFamily="34" charset="0"/>
                </a:rPr>
                <a:t>1</a:t>
              </a:r>
              <a:endParaRPr kumimoji="0" lang="zh-CN" altLang="zh-CN" sz="32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等线" panose="02010600030101010101" pitchFamily="2" charset="-122"/>
                <a:cs typeface="Arial" panose="020B0604020202020204" pitchFamily="34" charset="0"/>
              </a:endParaRPr>
            </a:p>
          </p:txBody>
        </p:sp>
        <p:sp>
          <p:nvSpPr>
            <p:cNvPr id="751" name="Rectangle 210">
              <a:extLst>
                <a:ext uri="{FF2B5EF4-FFF2-40B4-BE49-F238E27FC236}">
                  <a16:creationId xmlns:a16="http://schemas.microsoft.com/office/drawing/2014/main" id="{4FEA0D9B-D43C-4CC2-96A0-2B4B3F7EBE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94767" y="2315723"/>
              <a:ext cx="69878" cy="15147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defTabSz="914400" eaLnBrk="0" fontAlgn="auto" latinLnBrk="0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zh-CN" altLang="zh-CN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等线" panose="02010600030101010101" pitchFamily="2" charset="-122"/>
                  <a:cs typeface="Arial" panose="020B0604020202020204" pitchFamily="34" charset="0"/>
                </a:rPr>
                <a:t>2</a:t>
              </a:r>
              <a:endParaRPr kumimoji="0" lang="zh-CN" altLang="zh-CN" sz="32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等线" panose="02010600030101010101" pitchFamily="2" charset="-122"/>
                <a:cs typeface="Arial" panose="020B0604020202020204" pitchFamily="34" charset="0"/>
              </a:endParaRPr>
            </a:p>
          </p:txBody>
        </p:sp>
        <p:sp>
          <p:nvSpPr>
            <p:cNvPr id="752" name="Rectangle 211">
              <a:extLst>
                <a:ext uri="{FF2B5EF4-FFF2-40B4-BE49-F238E27FC236}">
                  <a16:creationId xmlns:a16="http://schemas.microsoft.com/office/drawing/2014/main" id="{2BEF7AEE-CD92-41F0-85E0-6EE9B802E4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71017" y="2312548"/>
              <a:ext cx="69878" cy="15147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defTabSz="914400" eaLnBrk="0" fontAlgn="auto" latinLnBrk="0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zh-CN" altLang="zh-CN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等线" panose="02010600030101010101" pitchFamily="2" charset="-122"/>
                  <a:cs typeface="Arial" panose="020B0604020202020204" pitchFamily="34" charset="0"/>
                </a:rPr>
                <a:t>1</a:t>
              </a:r>
              <a:endParaRPr kumimoji="0" lang="zh-CN" altLang="zh-CN" sz="32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等线" panose="02010600030101010101" pitchFamily="2" charset="-122"/>
                <a:cs typeface="Arial" panose="020B0604020202020204" pitchFamily="34" charset="0"/>
              </a:endParaRPr>
            </a:p>
          </p:txBody>
        </p:sp>
        <p:sp>
          <p:nvSpPr>
            <p:cNvPr id="753" name="Rectangle 212">
              <a:extLst>
                <a:ext uri="{FF2B5EF4-FFF2-40B4-BE49-F238E27FC236}">
                  <a16:creationId xmlns:a16="http://schemas.microsoft.com/office/drawing/2014/main" id="{B5868378-B7F1-46CD-AB6E-790723F5FB5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40867" y="2312548"/>
              <a:ext cx="69878" cy="15147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defTabSz="914400" eaLnBrk="0" fontAlgn="auto" latinLnBrk="0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zh-CN" altLang="zh-CN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等线" panose="02010600030101010101" pitchFamily="2" charset="-122"/>
                  <a:cs typeface="Arial" panose="020B0604020202020204" pitchFamily="34" charset="0"/>
                </a:rPr>
                <a:t>4</a:t>
              </a:r>
              <a:endParaRPr kumimoji="0" lang="zh-CN" altLang="zh-CN" sz="32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等线" panose="02010600030101010101" pitchFamily="2" charset="-122"/>
                <a:cs typeface="Arial" panose="020B0604020202020204" pitchFamily="34" charset="0"/>
              </a:endParaRPr>
            </a:p>
          </p:txBody>
        </p:sp>
        <p:sp>
          <p:nvSpPr>
            <p:cNvPr id="754" name="文本框 753">
              <a:extLst>
                <a:ext uri="{FF2B5EF4-FFF2-40B4-BE49-F238E27FC236}">
                  <a16:creationId xmlns:a16="http://schemas.microsoft.com/office/drawing/2014/main" id="{86E6165D-F63A-460C-A451-631B090236F2}"/>
                </a:ext>
              </a:extLst>
            </p:cNvPr>
            <p:cNvSpPr txBox="1"/>
            <p:nvPr/>
          </p:nvSpPr>
          <p:spPr>
            <a:xfrm>
              <a:off x="1944724" y="2823283"/>
              <a:ext cx="1084996" cy="22733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1400" b="0" i="0" u="none" strike="noStrike" kern="0" cap="none" spc="0" normalizeH="0" baseline="0" noProof="0" dirty="0" err="1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Arial" panose="020B0604020202020204" pitchFamily="34" charset="0"/>
                  <a:ea typeface="等线" panose="02010600030101010101" pitchFamily="2" charset="-122"/>
                  <a:cs typeface="Arial" panose="020B0604020202020204" pitchFamily="34" charset="0"/>
                </a:rPr>
                <a:t>beq</a:t>
              </a:r>
              <a:r>
                <a:rPr kumimoji="0" lang="en-US" altLang="zh-CN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Arial" panose="020B0604020202020204" pitchFamily="34" charset="0"/>
                  <a:ea typeface="等线" panose="02010600030101010101" pitchFamily="2" charset="-122"/>
                  <a:cs typeface="Arial" panose="020B0604020202020204" pitchFamily="34" charset="0"/>
                </a:rPr>
                <a:t> $1, $2, $40</a:t>
              </a:r>
              <a:endParaRPr kumimoji="0" lang="zh-CN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Arial" panose="020B0604020202020204" pitchFamily="34" charset="0"/>
                <a:ea typeface="等线" panose="02010600030101010101" pitchFamily="2" charset="-122"/>
                <a:cs typeface="Arial" panose="020B0604020202020204" pitchFamily="34" charset="0"/>
              </a:endParaRPr>
            </a:p>
          </p:txBody>
        </p:sp>
        <p:sp>
          <p:nvSpPr>
            <p:cNvPr id="755" name="文本框 754">
              <a:extLst>
                <a:ext uri="{FF2B5EF4-FFF2-40B4-BE49-F238E27FC236}">
                  <a16:creationId xmlns:a16="http://schemas.microsoft.com/office/drawing/2014/main" id="{D47AB89E-6162-41A4-AF82-AA07113F3FDC}"/>
                </a:ext>
              </a:extLst>
            </p:cNvPr>
            <p:cNvSpPr txBox="1"/>
            <p:nvPr/>
          </p:nvSpPr>
          <p:spPr>
            <a:xfrm>
              <a:off x="1941987" y="3168181"/>
              <a:ext cx="1402557" cy="38647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432FF"/>
                  </a:solidFill>
                  <a:effectLst/>
                  <a:uLnTx/>
                  <a:uFillTx/>
                  <a:latin typeface="Arial" panose="020B0604020202020204" pitchFamily="34" charset="0"/>
                  <a:ea typeface="等线" panose="02010600030101010101" pitchFamily="2" charset="-122"/>
                  <a:cs typeface="Arial" panose="020B0604020202020204" pitchFamily="34" charset="0"/>
                </a:rPr>
                <a:t>add $4, $5, $6</a:t>
              </a:r>
            </a:p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14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等线" panose="02010600030101010101" pitchFamily="2" charset="-122"/>
                  <a:cs typeface="Arial" panose="020B0604020202020204" pitchFamily="34" charset="0"/>
                </a:rPr>
                <a:t>(Delayed branch slot)</a:t>
              </a:r>
              <a:endParaRPr kumimoji="0" lang="zh-CN" altLang="en-US" sz="14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等线" panose="02010600030101010101" pitchFamily="2" charset="-122"/>
                <a:cs typeface="Arial" panose="020B0604020202020204" pitchFamily="34" charset="0"/>
              </a:endParaRPr>
            </a:p>
          </p:txBody>
        </p:sp>
        <p:sp>
          <p:nvSpPr>
            <p:cNvPr id="756" name="文本框 755">
              <a:extLst>
                <a:ext uri="{FF2B5EF4-FFF2-40B4-BE49-F238E27FC236}">
                  <a16:creationId xmlns:a16="http://schemas.microsoft.com/office/drawing/2014/main" id="{16EF7034-AFCF-478F-9EF1-D4E08FAE0F65}"/>
                </a:ext>
              </a:extLst>
            </p:cNvPr>
            <p:cNvSpPr txBox="1"/>
            <p:nvPr/>
          </p:nvSpPr>
          <p:spPr>
            <a:xfrm>
              <a:off x="3138761" y="2820626"/>
              <a:ext cx="601725" cy="238037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11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等线" panose="02010600030101010101" pitchFamily="2" charset="-122"/>
                  <a:cs typeface="Arial" panose="020B0604020202020204" pitchFamily="34" charset="0"/>
                </a:rPr>
                <a:t>Instruction</a:t>
              </a:r>
            </a:p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11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等线" panose="02010600030101010101" pitchFamily="2" charset="-122"/>
                  <a:cs typeface="Arial" panose="020B0604020202020204" pitchFamily="34" charset="0"/>
                </a:rPr>
                <a:t>Fetch</a:t>
              </a:r>
              <a:endParaRPr kumimoji="0" lang="zh-CN" altLang="en-US" sz="11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等线" panose="02010600030101010101" pitchFamily="2" charset="-122"/>
                <a:cs typeface="Arial" panose="020B0604020202020204" pitchFamily="34" charset="0"/>
              </a:endParaRPr>
            </a:p>
          </p:txBody>
        </p:sp>
        <p:sp>
          <p:nvSpPr>
            <p:cNvPr id="757" name="文本框 756">
              <a:extLst>
                <a:ext uri="{FF2B5EF4-FFF2-40B4-BE49-F238E27FC236}">
                  <a16:creationId xmlns:a16="http://schemas.microsoft.com/office/drawing/2014/main" id="{DC7B0180-370B-4DA6-9DDE-232A89956143}"/>
                </a:ext>
              </a:extLst>
            </p:cNvPr>
            <p:cNvSpPr txBox="1"/>
            <p:nvPr/>
          </p:nvSpPr>
          <p:spPr>
            <a:xfrm>
              <a:off x="3958890" y="2889640"/>
              <a:ext cx="334656" cy="11901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11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等线" panose="02010600030101010101" pitchFamily="2" charset="-122"/>
                  <a:cs typeface="Arial" panose="020B0604020202020204" pitchFamily="34" charset="0"/>
                </a:rPr>
                <a:t>Reg</a:t>
              </a:r>
              <a:endParaRPr kumimoji="0" lang="zh-CN" altLang="en-US" sz="11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等线" panose="02010600030101010101" pitchFamily="2" charset="-122"/>
                <a:cs typeface="Arial" panose="020B0604020202020204" pitchFamily="34" charset="0"/>
              </a:endParaRPr>
            </a:p>
          </p:txBody>
        </p:sp>
        <p:sp>
          <p:nvSpPr>
            <p:cNvPr id="758" name="文本框 757">
              <a:extLst>
                <a:ext uri="{FF2B5EF4-FFF2-40B4-BE49-F238E27FC236}">
                  <a16:creationId xmlns:a16="http://schemas.microsoft.com/office/drawing/2014/main" id="{0C581046-7FCC-4A54-9EC4-35DFAE71B5C5}"/>
                </a:ext>
              </a:extLst>
            </p:cNvPr>
            <p:cNvSpPr txBox="1"/>
            <p:nvPr/>
          </p:nvSpPr>
          <p:spPr>
            <a:xfrm>
              <a:off x="4377821" y="2893779"/>
              <a:ext cx="334656" cy="11901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11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等线" panose="02010600030101010101" pitchFamily="2" charset="-122"/>
                  <a:cs typeface="Arial" panose="020B0604020202020204" pitchFamily="34" charset="0"/>
                </a:rPr>
                <a:t>ALU</a:t>
              </a:r>
              <a:endParaRPr kumimoji="0" lang="zh-CN" altLang="en-US" sz="11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等线" panose="02010600030101010101" pitchFamily="2" charset="-122"/>
                <a:cs typeface="Arial" panose="020B0604020202020204" pitchFamily="34" charset="0"/>
              </a:endParaRPr>
            </a:p>
          </p:txBody>
        </p:sp>
        <p:sp>
          <p:nvSpPr>
            <p:cNvPr id="759" name="文本框 758">
              <a:extLst>
                <a:ext uri="{FF2B5EF4-FFF2-40B4-BE49-F238E27FC236}">
                  <a16:creationId xmlns:a16="http://schemas.microsoft.com/office/drawing/2014/main" id="{AF015C78-5157-40FF-8752-C54BF9F189EB}"/>
                </a:ext>
              </a:extLst>
            </p:cNvPr>
            <p:cNvSpPr txBox="1"/>
            <p:nvPr/>
          </p:nvSpPr>
          <p:spPr>
            <a:xfrm>
              <a:off x="4898062" y="2834396"/>
              <a:ext cx="390531" cy="238037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11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等线" panose="02010600030101010101" pitchFamily="2" charset="-122"/>
                  <a:cs typeface="Arial" panose="020B0604020202020204" pitchFamily="34" charset="0"/>
                </a:rPr>
                <a:t>Data</a:t>
              </a:r>
            </a:p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11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等线" panose="02010600030101010101" pitchFamily="2" charset="-122"/>
                  <a:cs typeface="Arial" panose="020B0604020202020204" pitchFamily="34" charset="0"/>
                </a:rPr>
                <a:t>access</a:t>
              </a:r>
              <a:endParaRPr kumimoji="0" lang="zh-CN" altLang="en-US" sz="11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等线" panose="02010600030101010101" pitchFamily="2" charset="-122"/>
                <a:cs typeface="Arial" panose="020B0604020202020204" pitchFamily="34" charset="0"/>
              </a:endParaRPr>
            </a:p>
          </p:txBody>
        </p:sp>
        <p:sp>
          <p:nvSpPr>
            <p:cNvPr id="760" name="文本框 759">
              <a:extLst>
                <a:ext uri="{FF2B5EF4-FFF2-40B4-BE49-F238E27FC236}">
                  <a16:creationId xmlns:a16="http://schemas.microsoft.com/office/drawing/2014/main" id="{03D44BF5-78B6-43EB-A42D-45F485038B95}"/>
                </a:ext>
              </a:extLst>
            </p:cNvPr>
            <p:cNvSpPr txBox="1"/>
            <p:nvPr/>
          </p:nvSpPr>
          <p:spPr>
            <a:xfrm>
              <a:off x="5358762" y="2886786"/>
              <a:ext cx="334656" cy="11901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11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等线" panose="02010600030101010101" pitchFamily="2" charset="-122"/>
                  <a:cs typeface="Arial" panose="020B0604020202020204" pitchFamily="34" charset="0"/>
                </a:rPr>
                <a:t>Reg</a:t>
              </a:r>
              <a:endParaRPr kumimoji="0" lang="zh-CN" altLang="en-US" sz="11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等线" panose="02010600030101010101" pitchFamily="2" charset="-122"/>
                <a:cs typeface="Arial" panose="020B0604020202020204" pitchFamily="34" charset="0"/>
              </a:endParaRPr>
            </a:p>
          </p:txBody>
        </p:sp>
        <p:sp>
          <p:nvSpPr>
            <p:cNvPr id="761" name="文本框 760">
              <a:extLst>
                <a:ext uri="{FF2B5EF4-FFF2-40B4-BE49-F238E27FC236}">
                  <a16:creationId xmlns:a16="http://schemas.microsoft.com/office/drawing/2014/main" id="{29A0E456-EE4C-4FA0-9200-DF971A8BA24D}"/>
                </a:ext>
              </a:extLst>
            </p:cNvPr>
            <p:cNvSpPr txBox="1"/>
            <p:nvPr/>
          </p:nvSpPr>
          <p:spPr>
            <a:xfrm>
              <a:off x="3697592" y="3215437"/>
              <a:ext cx="601725" cy="238037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11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等线" panose="02010600030101010101" pitchFamily="2" charset="-122"/>
                  <a:cs typeface="Arial" panose="020B0604020202020204" pitchFamily="34" charset="0"/>
                </a:rPr>
                <a:t>Instruction</a:t>
              </a:r>
            </a:p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11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等线" panose="02010600030101010101" pitchFamily="2" charset="-122"/>
                  <a:cs typeface="Arial" panose="020B0604020202020204" pitchFamily="34" charset="0"/>
                </a:rPr>
                <a:t>Fetch</a:t>
              </a:r>
              <a:endParaRPr kumimoji="0" lang="zh-CN" altLang="en-US" sz="11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等线" panose="02010600030101010101" pitchFamily="2" charset="-122"/>
                <a:cs typeface="Arial" panose="020B0604020202020204" pitchFamily="34" charset="0"/>
              </a:endParaRPr>
            </a:p>
          </p:txBody>
        </p:sp>
        <p:sp>
          <p:nvSpPr>
            <p:cNvPr id="762" name="文本框 761">
              <a:extLst>
                <a:ext uri="{FF2B5EF4-FFF2-40B4-BE49-F238E27FC236}">
                  <a16:creationId xmlns:a16="http://schemas.microsoft.com/office/drawing/2014/main" id="{8C347EB3-2091-497B-A2F1-401314D4BFB8}"/>
                </a:ext>
              </a:extLst>
            </p:cNvPr>
            <p:cNvSpPr txBox="1"/>
            <p:nvPr/>
          </p:nvSpPr>
          <p:spPr>
            <a:xfrm>
              <a:off x="4517721" y="3284451"/>
              <a:ext cx="334656" cy="11901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11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等线" panose="02010600030101010101" pitchFamily="2" charset="-122"/>
                  <a:cs typeface="Arial" panose="020B0604020202020204" pitchFamily="34" charset="0"/>
                </a:rPr>
                <a:t>Reg</a:t>
              </a:r>
              <a:endParaRPr kumimoji="0" lang="zh-CN" altLang="en-US" sz="11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等线" panose="02010600030101010101" pitchFamily="2" charset="-122"/>
                <a:cs typeface="Arial" panose="020B0604020202020204" pitchFamily="34" charset="0"/>
              </a:endParaRPr>
            </a:p>
          </p:txBody>
        </p:sp>
        <p:sp>
          <p:nvSpPr>
            <p:cNvPr id="763" name="文本框 762">
              <a:extLst>
                <a:ext uri="{FF2B5EF4-FFF2-40B4-BE49-F238E27FC236}">
                  <a16:creationId xmlns:a16="http://schemas.microsoft.com/office/drawing/2014/main" id="{DF632D66-3F4E-4B54-94E4-F13C12D00834}"/>
                </a:ext>
              </a:extLst>
            </p:cNvPr>
            <p:cNvSpPr txBox="1"/>
            <p:nvPr/>
          </p:nvSpPr>
          <p:spPr>
            <a:xfrm>
              <a:off x="4936652" y="3288590"/>
              <a:ext cx="334656" cy="11901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11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等线" panose="02010600030101010101" pitchFamily="2" charset="-122"/>
                  <a:cs typeface="Arial" panose="020B0604020202020204" pitchFamily="34" charset="0"/>
                </a:rPr>
                <a:t>ALU</a:t>
              </a:r>
              <a:endParaRPr kumimoji="0" lang="zh-CN" altLang="en-US" sz="11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等线" panose="02010600030101010101" pitchFamily="2" charset="-122"/>
                <a:cs typeface="Arial" panose="020B0604020202020204" pitchFamily="34" charset="0"/>
              </a:endParaRPr>
            </a:p>
          </p:txBody>
        </p:sp>
        <p:sp>
          <p:nvSpPr>
            <p:cNvPr id="764" name="文本框 763">
              <a:extLst>
                <a:ext uri="{FF2B5EF4-FFF2-40B4-BE49-F238E27FC236}">
                  <a16:creationId xmlns:a16="http://schemas.microsoft.com/office/drawing/2014/main" id="{D4729D42-A4F7-48D0-9DC7-62F952D303F5}"/>
                </a:ext>
              </a:extLst>
            </p:cNvPr>
            <p:cNvSpPr txBox="1"/>
            <p:nvPr/>
          </p:nvSpPr>
          <p:spPr>
            <a:xfrm>
              <a:off x="5456893" y="3229207"/>
              <a:ext cx="390531" cy="238037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11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等线" panose="02010600030101010101" pitchFamily="2" charset="-122"/>
                  <a:cs typeface="Arial" panose="020B0604020202020204" pitchFamily="34" charset="0"/>
                </a:rPr>
                <a:t>Data</a:t>
              </a:r>
            </a:p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11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等线" panose="02010600030101010101" pitchFamily="2" charset="-122"/>
                  <a:cs typeface="Arial" panose="020B0604020202020204" pitchFamily="34" charset="0"/>
                </a:rPr>
                <a:t>access</a:t>
              </a:r>
              <a:endParaRPr kumimoji="0" lang="zh-CN" altLang="en-US" sz="11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等线" panose="02010600030101010101" pitchFamily="2" charset="-122"/>
                <a:cs typeface="Arial" panose="020B0604020202020204" pitchFamily="34" charset="0"/>
              </a:endParaRPr>
            </a:p>
          </p:txBody>
        </p:sp>
        <p:sp>
          <p:nvSpPr>
            <p:cNvPr id="765" name="文本框 764">
              <a:extLst>
                <a:ext uri="{FF2B5EF4-FFF2-40B4-BE49-F238E27FC236}">
                  <a16:creationId xmlns:a16="http://schemas.microsoft.com/office/drawing/2014/main" id="{78D25A18-5C35-45E8-A038-638B25BDC212}"/>
                </a:ext>
              </a:extLst>
            </p:cNvPr>
            <p:cNvSpPr txBox="1"/>
            <p:nvPr/>
          </p:nvSpPr>
          <p:spPr>
            <a:xfrm>
              <a:off x="5917593" y="3281597"/>
              <a:ext cx="334656" cy="11901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11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等线" panose="02010600030101010101" pitchFamily="2" charset="-122"/>
                  <a:cs typeface="Arial" panose="020B0604020202020204" pitchFamily="34" charset="0"/>
                </a:rPr>
                <a:t>Reg</a:t>
              </a:r>
              <a:endParaRPr kumimoji="0" lang="zh-CN" altLang="en-US" sz="11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等线" panose="02010600030101010101" pitchFamily="2" charset="-122"/>
                <a:cs typeface="Arial" panose="020B0604020202020204" pitchFamily="34" charset="0"/>
              </a:endParaRPr>
            </a:p>
          </p:txBody>
        </p:sp>
        <p:sp>
          <p:nvSpPr>
            <p:cNvPr id="766" name="文本框 765">
              <a:extLst>
                <a:ext uri="{FF2B5EF4-FFF2-40B4-BE49-F238E27FC236}">
                  <a16:creationId xmlns:a16="http://schemas.microsoft.com/office/drawing/2014/main" id="{0AFC0E79-1264-427F-9D19-A69D464DB067}"/>
                </a:ext>
              </a:extLst>
            </p:cNvPr>
            <p:cNvSpPr txBox="1"/>
            <p:nvPr/>
          </p:nvSpPr>
          <p:spPr>
            <a:xfrm>
              <a:off x="4239857" y="3626908"/>
              <a:ext cx="601725" cy="238037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11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等线" panose="02010600030101010101" pitchFamily="2" charset="-122"/>
                  <a:cs typeface="Arial" panose="020B0604020202020204" pitchFamily="34" charset="0"/>
                </a:rPr>
                <a:t>Instruction</a:t>
              </a:r>
            </a:p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11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等线" panose="02010600030101010101" pitchFamily="2" charset="-122"/>
                  <a:cs typeface="Arial" panose="020B0604020202020204" pitchFamily="34" charset="0"/>
                </a:rPr>
                <a:t>Fetch</a:t>
              </a:r>
              <a:endParaRPr kumimoji="0" lang="zh-CN" altLang="en-US" sz="11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等线" panose="02010600030101010101" pitchFamily="2" charset="-122"/>
                <a:cs typeface="Arial" panose="020B0604020202020204" pitchFamily="34" charset="0"/>
              </a:endParaRPr>
            </a:p>
          </p:txBody>
        </p:sp>
        <p:sp>
          <p:nvSpPr>
            <p:cNvPr id="767" name="文本框 766">
              <a:extLst>
                <a:ext uri="{FF2B5EF4-FFF2-40B4-BE49-F238E27FC236}">
                  <a16:creationId xmlns:a16="http://schemas.microsoft.com/office/drawing/2014/main" id="{4D3B5318-CC1C-490D-AABD-8853772258F6}"/>
                </a:ext>
              </a:extLst>
            </p:cNvPr>
            <p:cNvSpPr txBox="1"/>
            <p:nvPr/>
          </p:nvSpPr>
          <p:spPr>
            <a:xfrm>
              <a:off x="5059986" y="3695922"/>
              <a:ext cx="334656" cy="11901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11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等线" panose="02010600030101010101" pitchFamily="2" charset="-122"/>
                  <a:cs typeface="Arial" panose="020B0604020202020204" pitchFamily="34" charset="0"/>
                </a:rPr>
                <a:t>Reg</a:t>
              </a:r>
              <a:endParaRPr kumimoji="0" lang="zh-CN" altLang="en-US" sz="11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等线" panose="02010600030101010101" pitchFamily="2" charset="-122"/>
                <a:cs typeface="Arial" panose="020B0604020202020204" pitchFamily="34" charset="0"/>
              </a:endParaRPr>
            </a:p>
          </p:txBody>
        </p:sp>
        <p:sp>
          <p:nvSpPr>
            <p:cNvPr id="768" name="文本框 767">
              <a:extLst>
                <a:ext uri="{FF2B5EF4-FFF2-40B4-BE49-F238E27FC236}">
                  <a16:creationId xmlns:a16="http://schemas.microsoft.com/office/drawing/2014/main" id="{5D2878E1-B2FB-49E7-8CBA-26C957AC796F}"/>
                </a:ext>
              </a:extLst>
            </p:cNvPr>
            <p:cNvSpPr txBox="1"/>
            <p:nvPr/>
          </p:nvSpPr>
          <p:spPr>
            <a:xfrm>
              <a:off x="5478917" y="3700061"/>
              <a:ext cx="334656" cy="11901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11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等线" panose="02010600030101010101" pitchFamily="2" charset="-122"/>
                  <a:cs typeface="Arial" panose="020B0604020202020204" pitchFamily="34" charset="0"/>
                </a:rPr>
                <a:t>ALU</a:t>
              </a:r>
              <a:endParaRPr kumimoji="0" lang="zh-CN" altLang="en-US" sz="11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等线" panose="02010600030101010101" pitchFamily="2" charset="-122"/>
                <a:cs typeface="Arial" panose="020B0604020202020204" pitchFamily="34" charset="0"/>
              </a:endParaRPr>
            </a:p>
          </p:txBody>
        </p:sp>
        <p:sp>
          <p:nvSpPr>
            <p:cNvPr id="769" name="文本框 768">
              <a:extLst>
                <a:ext uri="{FF2B5EF4-FFF2-40B4-BE49-F238E27FC236}">
                  <a16:creationId xmlns:a16="http://schemas.microsoft.com/office/drawing/2014/main" id="{FD3F1C42-60E3-42A4-B5C8-4F90E497543B}"/>
                </a:ext>
              </a:extLst>
            </p:cNvPr>
            <p:cNvSpPr txBox="1"/>
            <p:nvPr/>
          </p:nvSpPr>
          <p:spPr>
            <a:xfrm>
              <a:off x="5999158" y="3640678"/>
              <a:ext cx="390531" cy="238037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11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等线" panose="02010600030101010101" pitchFamily="2" charset="-122"/>
                  <a:cs typeface="Arial" panose="020B0604020202020204" pitchFamily="34" charset="0"/>
                </a:rPr>
                <a:t>Data</a:t>
              </a:r>
            </a:p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11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等线" panose="02010600030101010101" pitchFamily="2" charset="-122"/>
                  <a:cs typeface="Arial" panose="020B0604020202020204" pitchFamily="34" charset="0"/>
                </a:rPr>
                <a:t>access</a:t>
              </a:r>
              <a:endParaRPr kumimoji="0" lang="zh-CN" altLang="en-US" sz="11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等线" panose="02010600030101010101" pitchFamily="2" charset="-122"/>
                <a:cs typeface="Arial" panose="020B0604020202020204" pitchFamily="34" charset="0"/>
              </a:endParaRPr>
            </a:p>
          </p:txBody>
        </p:sp>
        <p:sp>
          <p:nvSpPr>
            <p:cNvPr id="770" name="文本框 769">
              <a:extLst>
                <a:ext uri="{FF2B5EF4-FFF2-40B4-BE49-F238E27FC236}">
                  <a16:creationId xmlns:a16="http://schemas.microsoft.com/office/drawing/2014/main" id="{007CF6A1-0651-427A-9606-DCC6696B210B}"/>
                </a:ext>
              </a:extLst>
            </p:cNvPr>
            <p:cNvSpPr txBox="1"/>
            <p:nvPr/>
          </p:nvSpPr>
          <p:spPr>
            <a:xfrm>
              <a:off x="6459858" y="3693068"/>
              <a:ext cx="334656" cy="11901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11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等线" panose="02010600030101010101" pitchFamily="2" charset="-122"/>
                  <a:cs typeface="Arial" panose="020B0604020202020204" pitchFamily="34" charset="0"/>
                </a:rPr>
                <a:t>Reg</a:t>
              </a:r>
              <a:endParaRPr kumimoji="0" lang="zh-CN" altLang="en-US" sz="11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等线" panose="02010600030101010101" pitchFamily="2" charset="-122"/>
                <a:cs typeface="Arial" panose="020B0604020202020204" pitchFamily="34" charset="0"/>
              </a:endParaRPr>
            </a:p>
          </p:txBody>
        </p:sp>
        <p:sp>
          <p:nvSpPr>
            <p:cNvPr id="771" name="文本框 770">
              <a:extLst>
                <a:ext uri="{FF2B5EF4-FFF2-40B4-BE49-F238E27FC236}">
                  <a16:creationId xmlns:a16="http://schemas.microsoft.com/office/drawing/2014/main" id="{0BC324BE-DBBB-4A33-8BB6-A675973C36DB}"/>
                </a:ext>
              </a:extLst>
            </p:cNvPr>
            <p:cNvSpPr txBox="1"/>
            <p:nvPr/>
          </p:nvSpPr>
          <p:spPr>
            <a:xfrm>
              <a:off x="3833748" y="3745547"/>
              <a:ext cx="334656" cy="15147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ED7D31"/>
                  </a:solidFill>
                  <a:effectLst/>
                  <a:uLnTx/>
                  <a:uFillTx/>
                  <a:latin typeface="Arial" panose="020B0604020202020204" pitchFamily="34" charset="0"/>
                  <a:ea typeface="等线" panose="02010600030101010101" pitchFamily="2" charset="-122"/>
                  <a:cs typeface="Arial" panose="020B0604020202020204" pitchFamily="34" charset="0"/>
                </a:rPr>
                <a:t>2ns</a:t>
              </a:r>
              <a:endParaRPr kumimoji="0" lang="zh-CN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ED7D31"/>
                </a:solidFill>
                <a:effectLst/>
                <a:uLnTx/>
                <a:uFillTx/>
                <a:latin typeface="Arial" panose="020B0604020202020204" pitchFamily="34" charset="0"/>
                <a:ea typeface="等线" panose="02010600030101010101" pitchFamily="2" charset="-122"/>
                <a:cs typeface="Arial" panose="020B0604020202020204" pitchFamily="34" charset="0"/>
              </a:endParaRPr>
            </a:p>
          </p:txBody>
        </p:sp>
        <p:sp>
          <p:nvSpPr>
            <p:cNvPr id="772" name="文本框 771">
              <a:extLst>
                <a:ext uri="{FF2B5EF4-FFF2-40B4-BE49-F238E27FC236}">
                  <a16:creationId xmlns:a16="http://schemas.microsoft.com/office/drawing/2014/main" id="{C1253645-BF9C-4CE3-A1ED-351F1AFE1474}"/>
                </a:ext>
              </a:extLst>
            </p:cNvPr>
            <p:cNvSpPr txBox="1"/>
            <p:nvPr/>
          </p:nvSpPr>
          <p:spPr>
            <a:xfrm>
              <a:off x="4373391" y="4054415"/>
              <a:ext cx="334656" cy="15147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14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等线" panose="02010600030101010101" pitchFamily="2" charset="-122"/>
                  <a:cs typeface="Arial" panose="020B0604020202020204" pitchFamily="34" charset="0"/>
                </a:rPr>
                <a:t>2ns</a:t>
              </a:r>
              <a:endParaRPr kumimoji="0" lang="zh-CN" altLang="en-US" sz="14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等线" panose="02010600030101010101" pitchFamily="2" charset="-122"/>
                <a:cs typeface="Arial" panose="020B0604020202020204" pitchFamily="34" charset="0"/>
              </a:endParaRPr>
            </a:p>
          </p:txBody>
        </p:sp>
        <p:cxnSp>
          <p:nvCxnSpPr>
            <p:cNvPr id="773" name="直接箭头连接符 772">
              <a:extLst>
                <a:ext uri="{FF2B5EF4-FFF2-40B4-BE49-F238E27FC236}">
                  <a16:creationId xmlns:a16="http://schemas.microsoft.com/office/drawing/2014/main" id="{5A45E26D-462F-425C-BFB5-9C6A2DC7E040}"/>
                </a:ext>
              </a:extLst>
            </p:cNvPr>
            <p:cNvCxnSpPr>
              <a:cxnSpLocks/>
            </p:cNvCxnSpPr>
            <p:nvPr/>
          </p:nvCxnSpPr>
          <p:spPr>
            <a:xfrm>
              <a:off x="4257027" y="4022196"/>
              <a:ext cx="566103" cy="0"/>
            </a:xfrm>
            <a:prstGeom prst="straightConnector1">
              <a:avLst/>
            </a:prstGeom>
            <a:noFill/>
            <a:ln w="12700" cap="flat" cmpd="sng" algn="ctr">
              <a:solidFill>
                <a:sysClr val="windowText" lastClr="000000"/>
              </a:solidFill>
              <a:prstDash val="solid"/>
              <a:miter lim="800000"/>
              <a:headEnd type="triangle"/>
              <a:tailEnd type="triangle"/>
            </a:ln>
            <a:effectLst/>
          </p:spPr>
        </p:cxnSp>
        <p:cxnSp>
          <p:nvCxnSpPr>
            <p:cNvPr id="774" name="直接箭头连接符 773">
              <a:extLst>
                <a:ext uri="{FF2B5EF4-FFF2-40B4-BE49-F238E27FC236}">
                  <a16:creationId xmlns:a16="http://schemas.microsoft.com/office/drawing/2014/main" id="{1F0C44CF-2BF4-4439-AD1B-FF3EF7EFE2A2}"/>
                </a:ext>
              </a:extLst>
            </p:cNvPr>
            <p:cNvCxnSpPr>
              <a:cxnSpLocks/>
            </p:cNvCxnSpPr>
            <p:nvPr/>
          </p:nvCxnSpPr>
          <p:spPr>
            <a:xfrm>
              <a:off x="3150539" y="3323737"/>
              <a:ext cx="566103" cy="0"/>
            </a:xfrm>
            <a:prstGeom prst="straightConnector1">
              <a:avLst/>
            </a:prstGeom>
            <a:noFill/>
            <a:ln w="12700" cap="flat" cmpd="sng" algn="ctr">
              <a:solidFill>
                <a:sysClr val="windowText" lastClr="000000"/>
              </a:solidFill>
              <a:prstDash val="solid"/>
              <a:miter lim="800000"/>
              <a:headEnd type="triangle"/>
              <a:tailEnd type="triangle"/>
            </a:ln>
            <a:effectLst/>
          </p:spPr>
        </p:cxnSp>
        <p:cxnSp>
          <p:nvCxnSpPr>
            <p:cNvPr id="775" name="直接箭头连接符 774">
              <a:extLst>
                <a:ext uri="{FF2B5EF4-FFF2-40B4-BE49-F238E27FC236}">
                  <a16:creationId xmlns:a16="http://schemas.microsoft.com/office/drawing/2014/main" id="{08028E91-13AE-4988-B6BF-5FB04C951C24}"/>
                </a:ext>
              </a:extLst>
            </p:cNvPr>
            <p:cNvCxnSpPr>
              <a:cxnSpLocks/>
            </p:cNvCxnSpPr>
            <p:nvPr/>
          </p:nvCxnSpPr>
          <p:spPr>
            <a:xfrm>
              <a:off x="3700767" y="3745547"/>
              <a:ext cx="566103" cy="0"/>
            </a:xfrm>
            <a:prstGeom prst="straightConnector1">
              <a:avLst/>
            </a:prstGeom>
            <a:noFill/>
            <a:ln w="12700" cap="flat" cmpd="sng" algn="ctr">
              <a:solidFill>
                <a:srgbClr val="ED7D31"/>
              </a:solidFill>
              <a:prstDash val="solid"/>
              <a:miter lim="800000"/>
              <a:headEnd type="triangle"/>
              <a:tailEnd type="triangle"/>
            </a:ln>
            <a:effectLst/>
          </p:spPr>
        </p:cxnSp>
        <p:sp>
          <p:nvSpPr>
            <p:cNvPr id="776" name="文本框 775">
              <a:extLst>
                <a:ext uri="{FF2B5EF4-FFF2-40B4-BE49-F238E27FC236}">
                  <a16:creationId xmlns:a16="http://schemas.microsoft.com/office/drawing/2014/main" id="{36F9B822-7E31-4C13-A217-15B042FF4A07}"/>
                </a:ext>
              </a:extLst>
            </p:cNvPr>
            <p:cNvSpPr txBox="1"/>
            <p:nvPr/>
          </p:nvSpPr>
          <p:spPr>
            <a:xfrm>
              <a:off x="1953977" y="3632420"/>
              <a:ext cx="1084996" cy="2163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1400" b="0" i="0" u="none" strike="noStrike" kern="0" cap="none" spc="0" normalizeH="0" baseline="0" noProof="0" dirty="0" err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等线" panose="02010600030101010101" pitchFamily="2" charset="-122"/>
                  <a:cs typeface="Arial" panose="020B0604020202020204" pitchFamily="34" charset="0"/>
                </a:rPr>
                <a:t>lw</a:t>
              </a:r>
              <a:r>
                <a:rPr kumimoji="0" lang="en-US" altLang="zh-CN" sz="14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等线" panose="02010600030101010101" pitchFamily="2" charset="-122"/>
                  <a:cs typeface="Arial" panose="020B0604020202020204" pitchFamily="34" charset="0"/>
                </a:rPr>
                <a:t> $3, 300($0)</a:t>
              </a:r>
              <a:endParaRPr kumimoji="0" lang="zh-CN" altLang="en-US" sz="14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等线" panose="02010600030101010101" pitchFamily="2" charset="-122"/>
                <a:cs typeface="Arial" panose="020B0604020202020204" pitchFamily="34" charset="0"/>
              </a:endParaRPr>
            </a:p>
          </p:txBody>
        </p:sp>
        <p:sp>
          <p:nvSpPr>
            <p:cNvPr id="777" name="文本框 776">
              <a:extLst>
                <a:ext uri="{FF2B5EF4-FFF2-40B4-BE49-F238E27FC236}">
                  <a16:creationId xmlns:a16="http://schemas.microsoft.com/office/drawing/2014/main" id="{F5F0B572-E13D-45A9-96D8-BD1C7E5A3BB4}"/>
                </a:ext>
              </a:extLst>
            </p:cNvPr>
            <p:cNvSpPr txBox="1"/>
            <p:nvPr/>
          </p:nvSpPr>
          <p:spPr>
            <a:xfrm>
              <a:off x="1868767" y="2118943"/>
              <a:ext cx="1084996" cy="6708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14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等线" panose="02010600030101010101" pitchFamily="2" charset="-122"/>
                  <a:cs typeface="Arial" panose="020B0604020202020204" pitchFamily="34" charset="0"/>
                </a:rPr>
                <a:t>Program</a:t>
              </a:r>
            </a:p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14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等线" panose="02010600030101010101" pitchFamily="2" charset="-122"/>
                  <a:cs typeface="Arial" panose="020B0604020202020204" pitchFamily="34" charset="0"/>
                </a:rPr>
                <a:t>Execution</a:t>
              </a:r>
            </a:p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14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等线" panose="02010600030101010101" pitchFamily="2" charset="-122"/>
                  <a:cs typeface="Arial" panose="020B0604020202020204" pitchFamily="34" charset="0"/>
                </a:rPr>
                <a:t>Order</a:t>
              </a:r>
            </a:p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14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等线" panose="02010600030101010101" pitchFamily="2" charset="-122"/>
                  <a:cs typeface="Arial" panose="020B0604020202020204" pitchFamily="34" charset="0"/>
                </a:rPr>
                <a:t>(in instructions)</a:t>
              </a:r>
              <a:endParaRPr kumimoji="0" lang="zh-CN" altLang="en-US" sz="14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等线" panose="02010600030101010101" pitchFamily="2" charset="-122"/>
                <a:cs typeface="Arial" panose="020B0604020202020204" pitchFamily="34" charset="0"/>
              </a:endParaRPr>
            </a:p>
          </p:txBody>
        </p:sp>
      </p:grpSp>
      <p:sp>
        <p:nvSpPr>
          <p:cNvPr id="5" name="矩形 1">
            <a:extLst>
              <a:ext uri="{FF2B5EF4-FFF2-40B4-BE49-F238E27FC236}">
                <a16:creationId xmlns:a16="http://schemas.microsoft.com/office/drawing/2014/main" id="{3462B650-ED0C-336B-127F-545D6F88381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16949" y="2253377"/>
            <a:ext cx="1947343" cy="1323439"/>
          </a:xfrm>
          <a:prstGeom prst="rect">
            <a:avLst/>
          </a:prstGeom>
          <a:solidFill>
            <a:schemeClr val="bg1">
              <a:lumMod val="95000"/>
            </a:schemeClr>
          </a:solidFill>
          <a:ln w="190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square">
            <a:spAutoFit/>
          </a:bodyPr>
          <a:lstStyle/>
          <a:p>
            <a:pPr marL="0" lvl="1" indent="-57150"/>
            <a:r>
              <a:rPr lang="en-US" altLang="zh-CN" sz="2000" dirty="0">
                <a:solidFill>
                  <a:srgbClr val="0432FF"/>
                </a:solidFill>
              </a:rPr>
              <a:t>add $4, $5, $6</a:t>
            </a:r>
          </a:p>
          <a:p>
            <a:pPr marL="0" lvl="1" indent="-57150"/>
            <a:r>
              <a:rPr lang="en-US" altLang="zh-CN" sz="2000" dirty="0" err="1">
                <a:solidFill>
                  <a:srgbClr val="C00000"/>
                </a:solidFill>
              </a:rPr>
              <a:t>beq</a:t>
            </a:r>
            <a:r>
              <a:rPr lang="en-US" altLang="zh-CN" sz="2000" dirty="0">
                <a:solidFill>
                  <a:srgbClr val="C00000"/>
                </a:solidFill>
              </a:rPr>
              <a:t> $1, $2, 40</a:t>
            </a:r>
          </a:p>
          <a:p>
            <a:pPr marL="0" lvl="1" indent="-57150"/>
            <a:r>
              <a:rPr lang="en-US" altLang="zh-CN" sz="2000" dirty="0" err="1">
                <a:solidFill>
                  <a:schemeClr val="tx1"/>
                </a:solidFill>
              </a:rPr>
              <a:t>lw</a:t>
            </a:r>
            <a:r>
              <a:rPr lang="en-US" altLang="zh-CN" sz="2000" dirty="0">
                <a:solidFill>
                  <a:schemeClr val="tx1"/>
                </a:solidFill>
              </a:rPr>
              <a:t> $3, 300($0)</a:t>
            </a:r>
          </a:p>
          <a:p>
            <a:pPr marL="0" lvl="1" indent="-57150"/>
            <a:r>
              <a:rPr lang="en-US" altLang="zh-CN" sz="2000" dirty="0">
                <a:solidFill>
                  <a:schemeClr val="tx1"/>
                </a:solidFill>
              </a:rPr>
              <a:t>…</a:t>
            </a:r>
          </a:p>
        </p:txBody>
      </p:sp>
      <p:sp>
        <p:nvSpPr>
          <p:cNvPr id="6" name="矩形 4">
            <a:extLst>
              <a:ext uri="{FF2B5EF4-FFF2-40B4-BE49-F238E27FC236}">
                <a16:creationId xmlns:a16="http://schemas.microsoft.com/office/drawing/2014/main" id="{4B61D575-F5D7-1A89-BCAD-82B656806A4F}"/>
              </a:ext>
            </a:extLst>
          </p:cNvPr>
          <p:cNvSpPr>
            <a:spLocks noChangeArrowheads="1"/>
          </p:cNvSpPr>
          <p:nvPr/>
        </p:nvSpPr>
        <p:spPr bwMode="auto">
          <a:xfrm>
            <a:off x="5323362" y="2245840"/>
            <a:ext cx="1947342" cy="1323439"/>
          </a:xfrm>
          <a:prstGeom prst="rect">
            <a:avLst/>
          </a:prstGeom>
          <a:solidFill>
            <a:schemeClr val="bg1">
              <a:lumMod val="95000"/>
            </a:schemeClr>
          </a:solidFill>
          <a:ln w="190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square">
            <a:spAutoFit/>
          </a:bodyPr>
          <a:lstStyle/>
          <a:p>
            <a:pPr marL="0" lvl="1" indent="-57150"/>
            <a:r>
              <a:rPr lang="en-US" altLang="zh-CN" sz="2000" dirty="0" err="1">
                <a:solidFill>
                  <a:srgbClr val="C00000"/>
                </a:solidFill>
              </a:rPr>
              <a:t>beq</a:t>
            </a:r>
            <a:r>
              <a:rPr lang="en-US" altLang="zh-CN" sz="2000" dirty="0">
                <a:solidFill>
                  <a:srgbClr val="C00000"/>
                </a:solidFill>
              </a:rPr>
              <a:t> $1, $2, 40</a:t>
            </a:r>
          </a:p>
          <a:p>
            <a:pPr marL="0" lvl="1" indent="-57150"/>
            <a:r>
              <a:rPr lang="en-US" altLang="zh-CN" sz="2000" dirty="0">
                <a:solidFill>
                  <a:srgbClr val="0432FF"/>
                </a:solidFill>
              </a:rPr>
              <a:t>add $4, $5, $6</a:t>
            </a:r>
          </a:p>
          <a:p>
            <a:pPr marL="0" lvl="1" indent="-57150"/>
            <a:r>
              <a:rPr lang="en-US" altLang="zh-CN" sz="2000" dirty="0" err="1">
                <a:solidFill>
                  <a:schemeClr val="tx1"/>
                </a:solidFill>
              </a:rPr>
              <a:t>lw</a:t>
            </a:r>
            <a:r>
              <a:rPr lang="en-US" altLang="zh-CN" sz="2000" dirty="0">
                <a:solidFill>
                  <a:schemeClr val="tx1"/>
                </a:solidFill>
              </a:rPr>
              <a:t> $3, 300($0)</a:t>
            </a:r>
          </a:p>
          <a:p>
            <a:pPr marL="0" lvl="1" indent="-57150"/>
            <a:r>
              <a:rPr lang="en-US" altLang="zh-CN" sz="2000" dirty="0">
                <a:solidFill>
                  <a:schemeClr val="tx1"/>
                </a:solidFill>
              </a:rPr>
              <a:t>…</a:t>
            </a:r>
          </a:p>
        </p:txBody>
      </p:sp>
      <p:cxnSp>
        <p:nvCxnSpPr>
          <p:cNvPr id="7" name="直接箭头连接符 6">
            <a:extLst>
              <a:ext uri="{FF2B5EF4-FFF2-40B4-BE49-F238E27FC236}">
                <a16:creationId xmlns:a16="http://schemas.microsoft.com/office/drawing/2014/main" id="{7D21E7D7-B58D-1B28-D3EA-281AB40FDC6D}"/>
              </a:ext>
            </a:extLst>
          </p:cNvPr>
          <p:cNvCxnSpPr>
            <a:cxnSpLocks/>
          </p:cNvCxnSpPr>
          <p:nvPr/>
        </p:nvCxnSpPr>
        <p:spPr>
          <a:xfrm>
            <a:off x="3965616" y="2435516"/>
            <a:ext cx="1357745" cy="341956"/>
          </a:xfrm>
          <a:prstGeom prst="straightConnector1">
            <a:avLst/>
          </a:prstGeom>
          <a:ln w="28575">
            <a:solidFill>
              <a:srgbClr val="0432FF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" name="直接箭头连接符 7">
            <a:extLst>
              <a:ext uri="{FF2B5EF4-FFF2-40B4-BE49-F238E27FC236}">
                <a16:creationId xmlns:a16="http://schemas.microsoft.com/office/drawing/2014/main" id="{A4401584-9679-A8D2-16CB-3A626E93E2F3}"/>
              </a:ext>
            </a:extLst>
          </p:cNvPr>
          <p:cNvCxnSpPr>
            <a:cxnSpLocks/>
          </p:cNvCxnSpPr>
          <p:nvPr/>
        </p:nvCxnSpPr>
        <p:spPr>
          <a:xfrm flipV="1">
            <a:off x="3965616" y="2463435"/>
            <a:ext cx="1357745" cy="314037"/>
          </a:xfrm>
          <a:prstGeom prst="straightConnector1">
            <a:avLst/>
          </a:prstGeom>
          <a:ln w="28575">
            <a:solidFill>
              <a:srgbClr val="C0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609520488"/>
      </p:ext>
    </p:extLst>
  </p:cSld>
  <p:clrMapOvr>
    <a:masterClrMapping/>
  </p:clrMapOvr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>
            <a:extLst>
              <a:ext uri="{FF2B5EF4-FFF2-40B4-BE49-F238E27FC236}">
                <a16:creationId xmlns:a16="http://schemas.microsoft.com/office/drawing/2014/main" id="{A1D9CE3B-7AF0-48B3-8918-B3114C5386E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dirty="0"/>
              <a:t>控制冒险解决方法：预测</a:t>
            </a:r>
          </a:p>
        </p:txBody>
      </p:sp>
      <p:sp>
        <p:nvSpPr>
          <p:cNvPr id="3" name="内容占位符 2">
            <a:extLst>
              <a:ext uri="{FF2B5EF4-FFF2-40B4-BE49-F238E27FC236}">
                <a16:creationId xmlns:a16="http://schemas.microsoft.com/office/drawing/2014/main" id="{7469A754-DBB7-422C-B194-4FAFD994B855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r>
              <a:rPr lang="zh-CN" altLang="en-US" dirty="0"/>
              <a:t>方式一：静态预测（总是预测分支不执行或执行）</a:t>
            </a:r>
            <a:endParaRPr lang="en-US" altLang="zh-CN" dirty="0"/>
          </a:p>
          <a:p>
            <a:pPr lvl="1"/>
            <a:r>
              <a:rPr lang="zh-CN" altLang="en-US" dirty="0"/>
              <a:t>如果预测错误，则撤销错误执行的指令</a:t>
            </a:r>
          </a:p>
        </p:txBody>
      </p:sp>
      <p:sp>
        <p:nvSpPr>
          <p:cNvPr id="4" name="灯片编号占位符 3">
            <a:extLst>
              <a:ext uri="{FF2B5EF4-FFF2-40B4-BE49-F238E27FC236}">
                <a16:creationId xmlns:a16="http://schemas.microsoft.com/office/drawing/2014/main" id="{FF793A50-7F9C-429B-9F35-C71449D29FC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1806CE5-282B-4233-8654-09F35EA875E2}" type="slidenum">
              <a:rPr lang="zh-CN" altLang="en-US" smtClean="0"/>
              <a:t>48</a:t>
            </a:fld>
            <a:endParaRPr lang="zh-CN" altLang="en-US"/>
          </a:p>
        </p:txBody>
      </p:sp>
      <p:grpSp>
        <p:nvGrpSpPr>
          <p:cNvPr id="603" name="组合 602">
            <a:extLst>
              <a:ext uri="{FF2B5EF4-FFF2-40B4-BE49-F238E27FC236}">
                <a16:creationId xmlns:a16="http://schemas.microsoft.com/office/drawing/2014/main" id="{EEEE5FF7-9B66-409B-BFD4-F20E9ED9067F}"/>
              </a:ext>
            </a:extLst>
          </p:cNvPr>
          <p:cNvGrpSpPr/>
          <p:nvPr/>
        </p:nvGrpSpPr>
        <p:grpSpPr>
          <a:xfrm>
            <a:off x="1673212" y="2013193"/>
            <a:ext cx="5511825" cy="4844807"/>
            <a:chOff x="1868767" y="1014043"/>
            <a:chExt cx="5511825" cy="4844807"/>
          </a:xfrm>
        </p:grpSpPr>
        <p:sp>
          <p:nvSpPr>
            <p:cNvPr id="456" name="Freeform 22">
              <a:extLst>
                <a:ext uri="{FF2B5EF4-FFF2-40B4-BE49-F238E27FC236}">
                  <a16:creationId xmlns:a16="http://schemas.microsoft.com/office/drawing/2014/main" id="{16EB9637-5B90-42ED-838E-E6AAB66BB7E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2605" y="1645798"/>
              <a:ext cx="554038" cy="395288"/>
            </a:xfrm>
            <a:custGeom>
              <a:avLst/>
              <a:gdLst>
                <a:gd name="T0" fmla="*/ 347 w 349"/>
                <a:gd name="T1" fmla="*/ 247 h 249"/>
                <a:gd name="T2" fmla="*/ 349 w 349"/>
                <a:gd name="T3" fmla="*/ 0 h 249"/>
                <a:gd name="T4" fmla="*/ 0 w 349"/>
                <a:gd name="T5" fmla="*/ 0 h 249"/>
                <a:gd name="T6" fmla="*/ 0 w 349"/>
                <a:gd name="T7" fmla="*/ 249 h 249"/>
                <a:gd name="T8" fmla="*/ 349 w 349"/>
                <a:gd name="T9" fmla="*/ 249 h 249"/>
                <a:gd name="T10" fmla="*/ 349 w 349"/>
                <a:gd name="T11" fmla="*/ 249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49" h="249">
                  <a:moveTo>
                    <a:pt x="347" y="247"/>
                  </a:moveTo>
                  <a:lnTo>
                    <a:pt x="349" y="0"/>
                  </a:lnTo>
                  <a:lnTo>
                    <a:pt x="0" y="0"/>
                  </a:lnTo>
                  <a:lnTo>
                    <a:pt x="0" y="249"/>
                  </a:lnTo>
                  <a:lnTo>
                    <a:pt x="349" y="249"/>
                  </a:lnTo>
                  <a:lnTo>
                    <a:pt x="349" y="249"/>
                  </a:lnTo>
                </a:path>
              </a:pathLst>
            </a:custGeom>
            <a:noFill/>
            <a:ln w="14288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</a:pPr>
              <a:endParaRPr lang="zh-CN" altLang="en-US">
                <a:solidFill>
                  <a:prstClr val="black"/>
                </a:solidFill>
                <a:latin typeface="Arial" panose="020B0604020202020204" pitchFamily="34" charset="0"/>
                <a:ea typeface="等线" panose="02010600030101010101" pitchFamily="2" charset="-122"/>
                <a:cs typeface="Arial" panose="020B0604020202020204" pitchFamily="34" charset="0"/>
              </a:endParaRPr>
            </a:p>
          </p:txBody>
        </p:sp>
        <p:sp>
          <p:nvSpPr>
            <p:cNvPr id="457" name="Freeform 26">
              <a:extLst>
                <a:ext uri="{FF2B5EF4-FFF2-40B4-BE49-F238E27FC236}">
                  <a16:creationId xmlns:a16="http://schemas.microsoft.com/office/drawing/2014/main" id="{1BF94956-A8C6-4D1F-B3AC-501987903AE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2867" y="1645798"/>
              <a:ext cx="277813" cy="395288"/>
            </a:xfrm>
            <a:custGeom>
              <a:avLst/>
              <a:gdLst>
                <a:gd name="T0" fmla="*/ 175 w 175"/>
                <a:gd name="T1" fmla="*/ 247 h 249"/>
                <a:gd name="T2" fmla="*/ 175 w 175"/>
                <a:gd name="T3" fmla="*/ 0 h 249"/>
                <a:gd name="T4" fmla="*/ 0 w 175"/>
                <a:gd name="T5" fmla="*/ 0 h 249"/>
                <a:gd name="T6" fmla="*/ 0 w 175"/>
                <a:gd name="T7" fmla="*/ 249 h 249"/>
                <a:gd name="T8" fmla="*/ 175 w 175"/>
                <a:gd name="T9" fmla="*/ 249 h 249"/>
                <a:gd name="T10" fmla="*/ 175 w 175"/>
                <a:gd name="T11" fmla="*/ 249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75" h="249">
                  <a:moveTo>
                    <a:pt x="175" y="247"/>
                  </a:moveTo>
                  <a:lnTo>
                    <a:pt x="175" y="0"/>
                  </a:lnTo>
                  <a:lnTo>
                    <a:pt x="0" y="0"/>
                  </a:lnTo>
                  <a:lnTo>
                    <a:pt x="0" y="249"/>
                  </a:lnTo>
                  <a:lnTo>
                    <a:pt x="175" y="249"/>
                  </a:lnTo>
                  <a:lnTo>
                    <a:pt x="175" y="249"/>
                  </a:lnTo>
                </a:path>
              </a:pathLst>
            </a:custGeom>
            <a:noFill/>
            <a:ln w="14288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</a:pPr>
              <a:endParaRPr lang="zh-CN" altLang="en-US">
                <a:solidFill>
                  <a:prstClr val="black"/>
                </a:solidFill>
                <a:latin typeface="Arial" panose="020B0604020202020204" pitchFamily="34" charset="0"/>
                <a:ea typeface="等线" panose="02010600030101010101" pitchFamily="2" charset="-122"/>
                <a:cs typeface="Arial" panose="020B0604020202020204" pitchFamily="34" charset="0"/>
              </a:endParaRPr>
            </a:p>
          </p:txBody>
        </p:sp>
        <p:sp>
          <p:nvSpPr>
            <p:cNvPr id="458" name="Freeform 30">
              <a:extLst>
                <a:ext uri="{FF2B5EF4-FFF2-40B4-BE49-F238E27FC236}">
                  <a16:creationId xmlns:a16="http://schemas.microsoft.com/office/drawing/2014/main" id="{EB4698C4-A134-49DE-95BC-E623458CC68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3855" y="1645798"/>
              <a:ext cx="554038" cy="395288"/>
            </a:xfrm>
            <a:custGeom>
              <a:avLst/>
              <a:gdLst>
                <a:gd name="T0" fmla="*/ 349 w 349"/>
                <a:gd name="T1" fmla="*/ 247 h 249"/>
                <a:gd name="T2" fmla="*/ 349 w 349"/>
                <a:gd name="T3" fmla="*/ 0 h 249"/>
                <a:gd name="T4" fmla="*/ 0 w 349"/>
                <a:gd name="T5" fmla="*/ 0 h 249"/>
                <a:gd name="T6" fmla="*/ 0 w 349"/>
                <a:gd name="T7" fmla="*/ 249 h 249"/>
                <a:gd name="T8" fmla="*/ 349 w 349"/>
                <a:gd name="T9" fmla="*/ 249 h 249"/>
                <a:gd name="T10" fmla="*/ 349 w 349"/>
                <a:gd name="T11" fmla="*/ 249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49" h="249">
                  <a:moveTo>
                    <a:pt x="349" y="247"/>
                  </a:moveTo>
                  <a:lnTo>
                    <a:pt x="349" y="0"/>
                  </a:lnTo>
                  <a:lnTo>
                    <a:pt x="0" y="0"/>
                  </a:lnTo>
                  <a:lnTo>
                    <a:pt x="0" y="249"/>
                  </a:lnTo>
                  <a:lnTo>
                    <a:pt x="349" y="249"/>
                  </a:lnTo>
                  <a:lnTo>
                    <a:pt x="349" y="249"/>
                  </a:lnTo>
                </a:path>
              </a:pathLst>
            </a:custGeom>
            <a:noFill/>
            <a:ln w="14288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</a:pPr>
              <a:endParaRPr lang="zh-CN" altLang="en-US">
                <a:solidFill>
                  <a:prstClr val="black"/>
                </a:solidFill>
                <a:latin typeface="Arial" panose="020B0604020202020204" pitchFamily="34" charset="0"/>
                <a:ea typeface="等线" panose="02010600030101010101" pitchFamily="2" charset="-122"/>
                <a:cs typeface="Arial" panose="020B0604020202020204" pitchFamily="34" charset="0"/>
              </a:endParaRPr>
            </a:p>
          </p:txBody>
        </p:sp>
        <p:sp>
          <p:nvSpPr>
            <p:cNvPr id="459" name="Freeform 42">
              <a:extLst>
                <a:ext uri="{FF2B5EF4-FFF2-40B4-BE49-F238E27FC236}">
                  <a16:creationId xmlns:a16="http://schemas.microsoft.com/office/drawing/2014/main" id="{228FE9EB-ED8A-4E83-BE8F-9F49B49A0851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7892" y="1645798"/>
              <a:ext cx="552450" cy="395288"/>
            </a:xfrm>
            <a:custGeom>
              <a:avLst/>
              <a:gdLst>
                <a:gd name="T0" fmla="*/ 348 w 348"/>
                <a:gd name="T1" fmla="*/ 247 h 249"/>
                <a:gd name="T2" fmla="*/ 348 w 348"/>
                <a:gd name="T3" fmla="*/ 0 h 249"/>
                <a:gd name="T4" fmla="*/ 0 w 348"/>
                <a:gd name="T5" fmla="*/ 0 h 249"/>
                <a:gd name="T6" fmla="*/ 0 w 348"/>
                <a:gd name="T7" fmla="*/ 249 h 249"/>
                <a:gd name="T8" fmla="*/ 348 w 348"/>
                <a:gd name="T9" fmla="*/ 249 h 249"/>
                <a:gd name="T10" fmla="*/ 348 w 348"/>
                <a:gd name="T11" fmla="*/ 249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48" h="249">
                  <a:moveTo>
                    <a:pt x="348" y="247"/>
                  </a:moveTo>
                  <a:lnTo>
                    <a:pt x="348" y="0"/>
                  </a:lnTo>
                  <a:lnTo>
                    <a:pt x="0" y="0"/>
                  </a:lnTo>
                  <a:lnTo>
                    <a:pt x="0" y="249"/>
                  </a:lnTo>
                  <a:lnTo>
                    <a:pt x="348" y="249"/>
                  </a:lnTo>
                  <a:lnTo>
                    <a:pt x="348" y="249"/>
                  </a:lnTo>
                </a:path>
              </a:pathLst>
            </a:custGeom>
            <a:noFill/>
            <a:ln w="14288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</a:pPr>
              <a:endParaRPr lang="zh-CN" altLang="en-US">
                <a:solidFill>
                  <a:prstClr val="black"/>
                </a:solidFill>
                <a:latin typeface="Arial" panose="020B0604020202020204" pitchFamily="34" charset="0"/>
                <a:ea typeface="等线" panose="02010600030101010101" pitchFamily="2" charset="-122"/>
                <a:cs typeface="Arial" panose="020B0604020202020204" pitchFamily="34" charset="0"/>
              </a:endParaRPr>
            </a:p>
          </p:txBody>
        </p:sp>
        <p:sp>
          <p:nvSpPr>
            <p:cNvPr id="460" name="Freeform 46">
              <a:extLst>
                <a:ext uri="{FF2B5EF4-FFF2-40B4-BE49-F238E27FC236}">
                  <a16:creationId xmlns:a16="http://schemas.microsoft.com/office/drawing/2014/main" id="{F3196BD4-91C6-4951-9FB8-8C2CF4E40450}"/>
                </a:ext>
              </a:extLst>
            </p:cNvPr>
            <p:cNvSpPr>
              <a:spLocks/>
            </p:cNvSpPr>
            <p:nvPr/>
          </p:nvSpPr>
          <p:spPr bwMode="auto">
            <a:xfrm>
              <a:off x="5380342" y="1645798"/>
              <a:ext cx="277813" cy="395288"/>
            </a:xfrm>
            <a:custGeom>
              <a:avLst/>
              <a:gdLst>
                <a:gd name="T0" fmla="*/ 175 w 175"/>
                <a:gd name="T1" fmla="*/ 247 h 249"/>
                <a:gd name="T2" fmla="*/ 175 w 175"/>
                <a:gd name="T3" fmla="*/ 0 h 249"/>
                <a:gd name="T4" fmla="*/ 0 w 175"/>
                <a:gd name="T5" fmla="*/ 0 h 249"/>
                <a:gd name="T6" fmla="*/ 0 w 175"/>
                <a:gd name="T7" fmla="*/ 249 h 249"/>
                <a:gd name="T8" fmla="*/ 175 w 175"/>
                <a:gd name="T9" fmla="*/ 249 h 249"/>
                <a:gd name="T10" fmla="*/ 175 w 175"/>
                <a:gd name="T11" fmla="*/ 249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75" h="249">
                  <a:moveTo>
                    <a:pt x="175" y="247"/>
                  </a:moveTo>
                  <a:lnTo>
                    <a:pt x="175" y="0"/>
                  </a:lnTo>
                  <a:lnTo>
                    <a:pt x="0" y="0"/>
                  </a:lnTo>
                  <a:lnTo>
                    <a:pt x="0" y="249"/>
                  </a:lnTo>
                  <a:lnTo>
                    <a:pt x="175" y="249"/>
                  </a:lnTo>
                  <a:lnTo>
                    <a:pt x="175" y="249"/>
                  </a:lnTo>
                </a:path>
              </a:pathLst>
            </a:custGeom>
            <a:noFill/>
            <a:ln w="14288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</a:pPr>
              <a:endParaRPr lang="zh-CN" altLang="en-US">
                <a:solidFill>
                  <a:prstClr val="black"/>
                </a:solidFill>
                <a:latin typeface="Arial" panose="020B0604020202020204" pitchFamily="34" charset="0"/>
                <a:ea typeface="等线" panose="02010600030101010101" pitchFamily="2" charset="-122"/>
                <a:cs typeface="Arial" panose="020B0604020202020204" pitchFamily="34" charset="0"/>
              </a:endParaRPr>
            </a:p>
          </p:txBody>
        </p:sp>
        <p:sp>
          <p:nvSpPr>
            <p:cNvPr id="461" name="Rectangle 47">
              <a:extLst>
                <a:ext uri="{FF2B5EF4-FFF2-40B4-BE49-F238E27FC236}">
                  <a16:creationId xmlns:a16="http://schemas.microsoft.com/office/drawing/2014/main" id="{1B23548A-DA4A-4CBC-9D98-84BACBC4B45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56217" y="1321948"/>
              <a:ext cx="78548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r>
                <a:rPr lang="zh-CN" altLang="zh-CN" sz="1000">
                  <a:solidFill>
                    <a:srgbClr val="000000"/>
                  </a:solidFill>
                  <a:ea typeface="等线" panose="02010600030101010101" pitchFamily="2" charset="-122"/>
                  <a:cs typeface="Arial" panose="020B0604020202020204" pitchFamily="34" charset="0"/>
                </a:rPr>
                <a:t>T</a:t>
              </a:r>
              <a:endParaRPr lang="zh-CN" altLang="zh-CN">
                <a:solidFill>
                  <a:prstClr val="black"/>
                </a:solidFill>
                <a:ea typeface="等线" panose="02010600030101010101" pitchFamily="2" charset="-122"/>
                <a:cs typeface="Arial" panose="020B0604020202020204" pitchFamily="34" charset="0"/>
              </a:endParaRPr>
            </a:p>
          </p:txBody>
        </p:sp>
        <p:sp>
          <p:nvSpPr>
            <p:cNvPr id="462" name="Rectangle 48">
              <a:extLst>
                <a:ext uri="{FF2B5EF4-FFF2-40B4-BE49-F238E27FC236}">
                  <a16:creationId xmlns:a16="http://schemas.microsoft.com/office/drawing/2014/main" id="{1ABD4635-2E33-47D3-BAF5-305887DE65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34005" y="1321948"/>
              <a:ext cx="28854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r>
                <a:rPr lang="zh-CN" altLang="zh-CN" sz="1000">
                  <a:solidFill>
                    <a:srgbClr val="000000"/>
                  </a:solidFill>
                  <a:ea typeface="等线" panose="02010600030101010101" pitchFamily="2" charset="-122"/>
                  <a:cs typeface="Arial" panose="020B0604020202020204" pitchFamily="34" charset="0"/>
                </a:rPr>
                <a:t>i</a:t>
              </a:r>
              <a:endParaRPr lang="zh-CN" altLang="zh-CN">
                <a:solidFill>
                  <a:prstClr val="black"/>
                </a:solidFill>
                <a:ea typeface="等线" panose="02010600030101010101" pitchFamily="2" charset="-122"/>
                <a:cs typeface="Arial" panose="020B0604020202020204" pitchFamily="34" charset="0"/>
              </a:endParaRPr>
            </a:p>
          </p:txBody>
        </p:sp>
        <p:sp>
          <p:nvSpPr>
            <p:cNvPr id="463" name="Rectangle 49">
              <a:extLst>
                <a:ext uri="{FF2B5EF4-FFF2-40B4-BE49-F238E27FC236}">
                  <a16:creationId xmlns:a16="http://schemas.microsoft.com/office/drawing/2014/main" id="{97AAD3F0-ACEA-4909-B2CF-4EBB523003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60992" y="1321948"/>
              <a:ext cx="107402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r>
                <a:rPr lang="zh-CN" altLang="zh-CN" sz="1000">
                  <a:solidFill>
                    <a:srgbClr val="000000"/>
                  </a:solidFill>
                  <a:ea typeface="等线" panose="02010600030101010101" pitchFamily="2" charset="-122"/>
                  <a:cs typeface="Arial" panose="020B0604020202020204" pitchFamily="34" charset="0"/>
                </a:rPr>
                <a:t>m</a:t>
              </a:r>
              <a:endParaRPr lang="zh-CN" altLang="zh-CN">
                <a:solidFill>
                  <a:prstClr val="black"/>
                </a:solidFill>
                <a:ea typeface="等线" panose="02010600030101010101" pitchFamily="2" charset="-122"/>
                <a:cs typeface="Arial" panose="020B0604020202020204" pitchFamily="34" charset="0"/>
              </a:endParaRPr>
            </a:p>
          </p:txBody>
        </p:sp>
        <p:sp>
          <p:nvSpPr>
            <p:cNvPr id="464" name="Rectangle 50">
              <a:extLst>
                <a:ext uri="{FF2B5EF4-FFF2-40B4-BE49-F238E27FC236}">
                  <a16:creationId xmlns:a16="http://schemas.microsoft.com/office/drawing/2014/main" id="{C5853093-A3A6-4225-9C5A-DC12C614CA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64180" y="1321948"/>
              <a:ext cx="70532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r>
                <a:rPr lang="zh-CN" altLang="zh-CN" sz="1000">
                  <a:solidFill>
                    <a:srgbClr val="000000"/>
                  </a:solidFill>
                  <a:ea typeface="等线" panose="02010600030101010101" pitchFamily="2" charset="-122"/>
                  <a:cs typeface="Arial" panose="020B0604020202020204" pitchFamily="34" charset="0"/>
                </a:rPr>
                <a:t>e</a:t>
              </a:r>
              <a:endParaRPr lang="zh-CN" altLang="zh-CN">
                <a:solidFill>
                  <a:prstClr val="black"/>
                </a:solidFill>
                <a:ea typeface="等线" panose="02010600030101010101" pitchFamily="2" charset="-122"/>
                <a:cs typeface="Arial" panose="020B0604020202020204" pitchFamily="34" charset="0"/>
              </a:endParaRPr>
            </a:p>
          </p:txBody>
        </p:sp>
        <p:sp>
          <p:nvSpPr>
            <p:cNvPr id="465" name="Line 93">
              <a:extLst>
                <a:ext uri="{FF2B5EF4-FFF2-40B4-BE49-F238E27FC236}">
                  <a16:creationId xmlns:a16="http://schemas.microsoft.com/office/drawing/2014/main" id="{71008C17-7BE0-4314-B21C-6A329AA9A29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997380" y="1709298"/>
              <a:ext cx="0" cy="10731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</a:pPr>
              <a:endParaRPr lang="zh-CN" altLang="en-US">
                <a:solidFill>
                  <a:prstClr val="black"/>
                </a:solidFill>
                <a:latin typeface="Arial" panose="020B0604020202020204" pitchFamily="34" charset="0"/>
                <a:ea typeface="等线" panose="02010600030101010101" pitchFamily="2" charset="-122"/>
                <a:cs typeface="Arial" panose="020B0604020202020204" pitchFamily="34" charset="0"/>
              </a:endParaRPr>
            </a:p>
          </p:txBody>
        </p:sp>
        <p:sp>
          <p:nvSpPr>
            <p:cNvPr id="466" name="Freeform 94">
              <a:extLst>
                <a:ext uri="{FF2B5EF4-FFF2-40B4-BE49-F238E27FC236}">
                  <a16:creationId xmlns:a16="http://schemas.microsoft.com/office/drawing/2014/main" id="{249F11CF-1FDB-4592-AF63-1B711BEA824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7217" y="2766573"/>
              <a:ext cx="63500" cy="66675"/>
            </a:xfrm>
            <a:custGeom>
              <a:avLst/>
              <a:gdLst>
                <a:gd name="T0" fmla="*/ 37 w 40"/>
                <a:gd name="T1" fmla="*/ 0 h 42"/>
                <a:gd name="T2" fmla="*/ 0 w 40"/>
                <a:gd name="T3" fmla="*/ 0 h 42"/>
                <a:gd name="T4" fmla="*/ 19 w 40"/>
                <a:gd name="T5" fmla="*/ 42 h 42"/>
                <a:gd name="T6" fmla="*/ 40 w 40"/>
                <a:gd name="T7" fmla="*/ 0 h 42"/>
                <a:gd name="T8" fmla="*/ 40 w 40"/>
                <a:gd name="T9" fmla="*/ 0 h 42"/>
                <a:gd name="T10" fmla="*/ 37 w 40"/>
                <a:gd name="T11" fmla="*/ 0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" h="42">
                  <a:moveTo>
                    <a:pt x="37" y="0"/>
                  </a:moveTo>
                  <a:lnTo>
                    <a:pt x="0" y="0"/>
                  </a:lnTo>
                  <a:lnTo>
                    <a:pt x="19" y="42"/>
                  </a:lnTo>
                  <a:lnTo>
                    <a:pt x="40" y="0"/>
                  </a:lnTo>
                  <a:lnTo>
                    <a:pt x="40" y="0"/>
                  </a:lnTo>
                  <a:lnTo>
                    <a:pt x="37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</a:pPr>
              <a:endParaRPr lang="zh-CN" altLang="en-US">
                <a:solidFill>
                  <a:prstClr val="black"/>
                </a:solidFill>
                <a:latin typeface="Arial" panose="020B0604020202020204" pitchFamily="34" charset="0"/>
                <a:ea typeface="等线" panose="02010600030101010101" pitchFamily="2" charset="-122"/>
                <a:cs typeface="Arial" panose="020B0604020202020204" pitchFamily="34" charset="0"/>
              </a:endParaRPr>
            </a:p>
          </p:txBody>
        </p:sp>
        <p:sp>
          <p:nvSpPr>
            <p:cNvPr id="467" name="Line 95">
              <a:extLst>
                <a:ext uri="{FF2B5EF4-FFF2-40B4-BE49-F238E27FC236}">
                  <a16:creationId xmlns:a16="http://schemas.microsoft.com/office/drawing/2014/main" id="{865D8887-570E-466C-B090-503A1A6B9BD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78480" y="1399736"/>
              <a:ext cx="4154488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</a:pPr>
              <a:endParaRPr lang="zh-CN" altLang="en-US">
                <a:solidFill>
                  <a:prstClr val="black"/>
                </a:solidFill>
                <a:latin typeface="Arial" panose="020B0604020202020204" pitchFamily="34" charset="0"/>
                <a:ea typeface="等线" panose="02010600030101010101" pitchFamily="2" charset="-122"/>
                <a:cs typeface="Arial" panose="020B0604020202020204" pitchFamily="34" charset="0"/>
              </a:endParaRPr>
            </a:p>
          </p:txBody>
        </p:sp>
        <p:sp>
          <p:nvSpPr>
            <p:cNvPr id="468" name="Freeform 96">
              <a:extLst>
                <a:ext uri="{FF2B5EF4-FFF2-40B4-BE49-F238E27FC236}">
                  <a16:creationId xmlns:a16="http://schemas.microsoft.com/office/drawing/2014/main" id="{934F9EB6-C340-44AE-B846-26F1B7FFFC5B}"/>
                </a:ext>
              </a:extLst>
            </p:cNvPr>
            <p:cNvSpPr>
              <a:spLocks/>
            </p:cNvSpPr>
            <p:nvPr/>
          </p:nvSpPr>
          <p:spPr bwMode="auto">
            <a:xfrm>
              <a:off x="7317092" y="1367986"/>
              <a:ext cx="63500" cy="68263"/>
            </a:xfrm>
            <a:custGeom>
              <a:avLst/>
              <a:gdLst>
                <a:gd name="T0" fmla="*/ 0 w 40"/>
                <a:gd name="T1" fmla="*/ 0 h 43"/>
                <a:gd name="T2" fmla="*/ 0 w 40"/>
                <a:gd name="T3" fmla="*/ 43 h 43"/>
                <a:gd name="T4" fmla="*/ 40 w 40"/>
                <a:gd name="T5" fmla="*/ 20 h 43"/>
                <a:gd name="T6" fmla="*/ 0 w 40"/>
                <a:gd name="T7" fmla="*/ 0 h 43"/>
                <a:gd name="T8" fmla="*/ 0 w 40"/>
                <a:gd name="T9" fmla="*/ 0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0" h="43">
                  <a:moveTo>
                    <a:pt x="0" y="0"/>
                  </a:moveTo>
                  <a:lnTo>
                    <a:pt x="0" y="43"/>
                  </a:lnTo>
                  <a:lnTo>
                    <a:pt x="40" y="2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</a:pPr>
              <a:endParaRPr lang="zh-CN" altLang="en-US">
                <a:solidFill>
                  <a:prstClr val="black"/>
                </a:solidFill>
                <a:latin typeface="Arial" panose="020B0604020202020204" pitchFamily="34" charset="0"/>
                <a:ea typeface="等线" panose="02010600030101010101" pitchFamily="2" charset="-122"/>
                <a:cs typeface="Arial" panose="020B0604020202020204" pitchFamily="34" charset="0"/>
              </a:endParaRPr>
            </a:p>
          </p:txBody>
        </p:sp>
        <p:sp>
          <p:nvSpPr>
            <p:cNvPr id="469" name="Freeform 115">
              <a:extLst>
                <a:ext uri="{FF2B5EF4-FFF2-40B4-BE49-F238E27FC236}">
                  <a16:creationId xmlns:a16="http://schemas.microsoft.com/office/drawing/2014/main" id="{795E2DEE-7FFD-49F9-8E8E-011ABB86280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6642" y="2041086"/>
              <a:ext cx="554038" cy="396875"/>
            </a:xfrm>
            <a:custGeom>
              <a:avLst/>
              <a:gdLst>
                <a:gd name="T0" fmla="*/ 349 w 349"/>
                <a:gd name="T1" fmla="*/ 247 h 250"/>
                <a:gd name="T2" fmla="*/ 349 w 349"/>
                <a:gd name="T3" fmla="*/ 0 h 250"/>
                <a:gd name="T4" fmla="*/ 0 w 349"/>
                <a:gd name="T5" fmla="*/ 0 h 250"/>
                <a:gd name="T6" fmla="*/ 0 w 349"/>
                <a:gd name="T7" fmla="*/ 250 h 250"/>
                <a:gd name="T8" fmla="*/ 349 w 349"/>
                <a:gd name="T9" fmla="*/ 250 h 250"/>
                <a:gd name="T10" fmla="*/ 349 w 349"/>
                <a:gd name="T11" fmla="*/ 250 h 2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49" h="250">
                  <a:moveTo>
                    <a:pt x="349" y="247"/>
                  </a:moveTo>
                  <a:lnTo>
                    <a:pt x="349" y="0"/>
                  </a:lnTo>
                  <a:lnTo>
                    <a:pt x="0" y="0"/>
                  </a:lnTo>
                  <a:lnTo>
                    <a:pt x="0" y="250"/>
                  </a:lnTo>
                  <a:lnTo>
                    <a:pt x="349" y="250"/>
                  </a:lnTo>
                  <a:lnTo>
                    <a:pt x="349" y="250"/>
                  </a:lnTo>
                </a:path>
              </a:pathLst>
            </a:custGeom>
            <a:noFill/>
            <a:ln w="14288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</a:pPr>
              <a:endParaRPr lang="zh-CN" altLang="en-US" dirty="0">
                <a:solidFill>
                  <a:prstClr val="black"/>
                </a:solidFill>
                <a:latin typeface="Arial" panose="020B0604020202020204" pitchFamily="34" charset="0"/>
                <a:ea typeface="等线" panose="02010600030101010101" pitchFamily="2" charset="-122"/>
                <a:cs typeface="Arial" panose="020B0604020202020204" pitchFamily="34" charset="0"/>
              </a:endParaRPr>
            </a:p>
          </p:txBody>
        </p:sp>
        <p:sp>
          <p:nvSpPr>
            <p:cNvPr id="470" name="Freeform 119">
              <a:extLst>
                <a:ext uri="{FF2B5EF4-FFF2-40B4-BE49-F238E27FC236}">
                  <a16:creationId xmlns:a16="http://schemas.microsoft.com/office/drawing/2014/main" id="{A384EE28-D3C2-4F6F-9D68-85318F2366DD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6905" y="2041086"/>
              <a:ext cx="276225" cy="396875"/>
            </a:xfrm>
            <a:custGeom>
              <a:avLst/>
              <a:gdLst>
                <a:gd name="T0" fmla="*/ 172 w 174"/>
                <a:gd name="T1" fmla="*/ 247 h 250"/>
                <a:gd name="T2" fmla="*/ 174 w 174"/>
                <a:gd name="T3" fmla="*/ 0 h 250"/>
                <a:gd name="T4" fmla="*/ 0 w 174"/>
                <a:gd name="T5" fmla="*/ 0 h 250"/>
                <a:gd name="T6" fmla="*/ 0 w 174"/>
                <a:gd name="T7" fmla="*/ 250 h 250"/>
                <a:gd name="T8" fmla="*/ 174 w 174"/>
                <a:gd name="T9" fmla="*/ 250 h 250"/>
                <a:gd name="T10" fmla="*/ 174 w 174"/>
                <a:gd name="T11" fmla="*/ 250 h 2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74" h="250">
                  <a:moveTo>
                    <a:pt x="172" y="247"/>
                  </a:moveTo>
                  <a:lnTo>
                    <a:pt x="174" y="0"/>
                  </a:lnTo>
                  <a:lnTo>
                    <a:pt x="0" y="0"/>
                  </a:lnTo>
                  <a:lnTo>
                    <a:pt x="0" y="250"/>
                  </a:lnTo>
                  <a:lnTo>
                    <a:pt x="174" y="250"/>
                  </a:lnTo>
                  <a:lnTo>
                    <a:pt x="174" y="250"/>
                  </a:lnTo>
                </a:path>
              </a:pathLst>
            </a:custGeom>
            <a:noFill/>
            <a:ln w="14288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</a:pPr>
              <a:endParaRPr lang="zh-CN" altLang="en-US">
                <a:solidFill>
                  <a:prstClr val="black"/>
                </a:solidFill>
                <a:latin typeface="Arial" panose="020B0604020202020204" pitchFamily="34" charset="0"/>
                <a:ea typeface="等线" panose="02010600030101010101" pitchFamily="2" charset="-122"/>
                <a:cs typeface="Arial" panose="020B0604020202020204" pitchFamily="34" charset="0"/>
              </a:endParaRPr>
            </a:p>
          </p:txBody>
        </p:sp>
        <p:sp>
          <p:nvSpPr>
            <p:cNvPr id="471" name="Freeform 123">
              <a:extLst>
                <a:ext uri="{FF2B5EF4-FFF2-40B4-BE49-F238E27FC236}">
                  <a16:creationId xmlns:a16="http://schemas.microsoft.com/office/drawing/2014/main" id="{CC775B80-29D1-4895-AC8A-F8AA4475A752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3130" y="2041086"/>
              <a:ext cx="554038" cy="396875"/>
            </a:xfrm>
            <a:custGeom>
              <a:avLst/>
              <a:gdLst>
                <a:gd name="T0" fmla="*/ 349 w 349"/>
                <a:gd name="T1" fmla="*/ 247 h 250"/>
                <a:gd name="T2" fmla="*/ 349 w 349"/>
                <a:gd name="T3" fmla="*/ 0 h 250"/>
                <a:gd name="T4" fmla="*/ 0 w 349"/>
                <a:gd name="T5" fmla="*/ 0 h 250"/>
                <a:gd name="T6" fmla="*/ 0 w 349"/>
                <a:gd name="T7" fmla="*/ 250 h 250"/>
                <a:gd name="T8" fmla="*/ 349 w 349"/>
                <a:gd name="T9" fmla="*/ 250 h 250"/>
                <a:gd name="T10" fmla="*/ 349 w 349"/>
                <a:gd name="T11" fmla="*/ 250 h 2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49" h="250">
                  <a:moveTo>
                    <a:pt x="349" y="247"/>
                  </a:moveTo>
                  <a:lnTo>
                    <a:pt x="349" y="0"/>
                  </a:lnTo>
                  <a:lnTo>
                    <a:pt x="0" y="0"/>
                  </a:lnTo>
                  <a:lnTo>
                    <a:pt x="0" y="250"/>
                  </a:lnTo>
                  <a:lnTo>
                    <a:pt x="349" y="250"/>
                  </a:lnTo>
                  <a:lnTo>
                    <a:pt x="349" y="250"/>
                  </a:lnTo>
                </a:path>
              </a:pathLst>
            </a:custGeom>
            <a:noFill/>
            <a:ln w="14288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</a:pPr>
              <a:endParaRPr lang="zh-CN" altLang="en-US">
                <a:solidFill>
                  <a:prstClr val="black"/>
                </a:solidFill>
                <a:latin typeface="Arial" panose="020B0604020202020204" pitchFamily="34" charset="0"/>
                <a:ea typeface="等线" panose="02010600030101010101" pitchFamily="2" charset="-122"/>
                <a:cs typeface="Arial" panose="020B0604020202020204" pitchFamily="34" charset="0"/>
              </a:endParaRPr>
            </a:p>
          </p:txBody>
        </p:sp>
        <p:sp>
          <p:nvSpPr>
            <p:cNvPr id="472" name="Freeform 135">
              <a:extLst>
                <a:ext uri="{FF2B5EF4-FFF2-40B4-BE49-F238E27FC236}">
                  <a16:creationId xmlns:a16="http://schemas.microsoft.com/office/drawing/2014/main" id="{28AD6C5E-306A-42EB-BDA8-461FECBFB2D1}"/>
                </a:ext>
              </a:extLst>
            </p:cNvPr>
            <p:cNvSpPr>
              <a:spLocks/>
            </p:cNvSpPr>
            <p:nvPr/>
          </p:nvSpPr>
          <p:spPr bwMode="auto">
            <a:xfrm>
              <a:off x="5377167" y="2041086"/>
              <a:ext cx="554038" cy="396875"/>
            </a:xfrm>
            <a:custGeom>
              <a:avLst/>
              <a:gdLst>
                <a:gd name="T0" fmla="*/ 349 w 349"/>
                <a:gd name="T1" fmla="*/ 247 h 250"/>
                <a:gd name="T2" fmla="*/ 349 w 349"/>
                <a:gd name="T3" fmla="*/ 0 h 250"/>
                <a:gd name="T4" fmla="*/ 0 w 349"/>
                <a:gd name="T5" fmla="*/ 0 h 250"/>
                <a:gd name="T6" fmla="*/ 0 w 349"/>
                <a:gd name="T7" fmla="*/ 250 h 250"/>
                <a:gd name="T8" fmla="*/ 349 w 349"/>
                <a:gd name="T9" fmla="*/ 250 h 250"/>
                <a:gd name="T10" fmla="*/ 349 w 349"/>
                <a:gd name="T11" fmla="*/ 250 h 2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49" h="250">
                  <a:moveTo>
                    <a:pt x="349" y="247"/>
                  </a:moveTo>
                  <a:lnTo>
                    <a:pt x="349" y="0"/>
                  </a:lnTo>
                  <a:lnTo>
                    <a:pt x="0" y="0"/>
                  </a:lnTo>
                  <a:lnTo>
                    <a:pt x="0" y="250"/>
                  </a:lnTo>
                  <a:lnTo>
                    <a:pt x="349" y="250"/>
                  </a:lnTo>
                  <a:lnTo>
                    <a:pt x="349" y="250"/>
                  </a:lnTo>
                </a:path>
              </a:pathLst>
            </a:custGeom>
            <a:noFill/>
            <a:ln w="14288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</a:pPr>
              <a:endParaRPr lang="zh-CN" altLang="en-US">
                <a:solidFill>
                  <a:prstClr val="black"/>
                </a:solidFill>
                <a:latin typeface="Arial" panose="020B0604020202020204" pitchFamily="34" charset="0"/>
                <a:ea typeface="等线" panose="02010600030101010101" pitchFamily="2" charset="-122"/>
                <a:cs typeface="Arial" panose="020B0604020202020204" pitchFamily="34" charset="0"/>
              </a:endParaRPr>
            </a:p>
          </p:txBody>
        </p:sp>
        <p:sp>
          <p:nvSpPr>
            <p:cNvPr id="473" name="Freeform 139">
              <a:extLst>
                <a:ext uri="{FF2B5EF4-FFF2-40B4-BE49-F238E27FC236}">
                  <a16:creationId xmlns:a16="http://schemas.microsoft.com/office/drawing/2014/main" id="{448F6467-B4E2-4550-8063-31F27D7481E1}"/>
                </a:ext>
              </a:extLst>
            </p:cNvPr>
            <p:cNvSpPr>
              <a:spLocks/>
            </p:cNvSpPr>
            <p:nvPr/>
          </p:nvSpPr>
          <p:spPr bwMode="auto">
            <a:xfrm>
              <a:off x="5931205" y="2041086"/>
              <a:ext cx="276225" cy="396875"/>
            </a:xfrm>
            <a:custGeom>
              <a:avLst/>
              <a:gdLst>
                <a:gd name="T0" fmla="*/ 174 w 174"/>
                <a:gd name="T1" fmla="*/ 247 h 250"/>
                <a:gd name="T2" fmla="*/ 174 w 174"/>
                <a:gd name="T3" fmla="*/ 0 h 250"/>
                <a:gd name="T4" fmla="*/ 0 w 174"/>
                <a:gd name="T5" fmla="*/ 0 h 250"/>
                <a:gd name="T6" fmla="*/ 0 w 174"/>
                <a:gd name="T7" fmla="*/ 250 h 250"/>
                <a:gd name="T8" fmla="*/ 174 w 174"/>
                <a:gd name="T9" fmla="*/ 250 h 250"/>
                <a:gd name="T10" fmla="*/ 174 w 174"/>
                <a:gd name="T11" fmla="*/ 250 h 2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74" h="250">
                  <a:moveTo>
                    <a:pt x="174" y="247"/>
                  </a:moveTo>
                  <a:lnTo>
                    <a:pt x="174" y="0"/>
                  </a:lnTo>
                  <a:lnTo>
                    <a:pt x="0" y="0"/>
                  </a:lnTo>
                  <a:lnTo>
                    <a:pt x="0" y="250"/>
                  </a:lnTo>
                  <a:lnTo>
                    <a:pt x="174" y="250"/>
                  </a:lnTo>
                  <a:lnTo>
                    <a:pt x="174" y="250"/>
                  </a:lnTo>
                </a:path>
              </a:pathLst>
            </a:custGeom>
            <a:noFill/>
            <a:ln w="14288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</a:pPr>
              <a:endParaRPr lang="zh-CN" altLang="en-US">
                <a:solidFill>
                  <a:prstClr val="black"/>
                </a:solidFill>
                <a:latin typeface="Arial" panose="020B0604020202020204" pitchFamily="34" charset="0"/>
                <a:ea typeface="等线" panose="02010600030101010101" pitchFamily="2" charset="-122"/>
                <a:cs typeface="Arial" panose="020B0604020202020204" pitchFamily="34" charset="0"/>
              </a:endParaRPr>
            </a:p>
          </p:txBody>
        </p:sp>
        <p:sp>
          <p:nvSpPr>
            <p:cNvPr id="474" name="Rectangle 142">
              <a:extLst>
                <a:ext uri="{FF2B5EF4-FFF2-40B4-BE49-F238E27FC236}">
                  <a16:creationId xmlns:a16="http://schemas.microsoft.com/office/drawing/2014/main" id="{60E2F9CA-B42E-4591-87BC-E57B94DC8B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18180" y="2263336"/>
              <a:ext cx="70532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r>
                <a:rPr lang="zh-CN" altLang="zh-CN" sz="1000">
                  <a:solidFill>
                    <a:srgbClr val="000000"/>
                  </a:solidFill>
                  <a:ea typeface="等线" panose="02010600030101010101" pitchFamily="2" charset="-122"/>
                  <a:cs typeface="Arial" panose="020B0604020202020204" pitchFamily="34" charset="0"/>
                </a:rPr>
                <a:t>2</a:t>
              </a:r>
              <a:endParaRPr lang="zh-CN" altLang="zh-CN">
                <a:solidFill>
                  <a:prstClr val="black"/>
                </a:solidFill>
                <a:ea typeface="等线" panose="02010600030101010101" pitchFamily="2" charset="-122"/>
                <a:cs typeface="Arial" panose="020B0604020202020204" pitchFamily="34" charset="0"/>
              </a:endParaRPr>
            </a:p>
          </p:txBody>
        </p:sp>
        <p:sp>
          <p:nvSpPr>
            <p:cNvPr id="475" name="Rectangle 143">
              <a:extLst>
                <a:ext uri="{FF2B5EF4-FFF2-40B4-BE49-F238E27FC236}">
                  <a16:creationId xmlns:a16="http://schemas.microsoft.com/office/drawing/2014/main" id="{0498BC19-563E-4B9B-8E2D-8B45F4973E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88030" y="2263336"/>
              <a:ext cx="35266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r>
                <a:rPr lang="zh-CN" altLang="zh-CN" sz="1000">
                  <a:solidFill>
                    <a:srgbClr val="000000"/>
                  </a:solidFill>
                  <a:ea typeface="等线" panose="02010600030101010101" pitchFamily="2" charset="-122"/>
                  <a:cs typeface="Arial" panose="020B0604020202020204" pitchFamily="34" charset="0"/>
                </a:rPr>
                <a:t> </a:t>
              </a:r>
              <a:endParaRPr lang="zh-CN" altLang="zh-CN">
                <a:solidFill>
                  <a:prstClr val="black"/>
                </a:solidFill>
                <a:ea typeface="等线" panose="02010600030101010101" pitchFamily="2" charset="-122"/>
                <a:cs typeface="Arial" panose="020B0604020202020204" pitchFamily="34" charset="0"/>
              </a:endParaRPr>
            </a:p>
          </p:txBody>
        </p:sp>
        <p:sp>
          <p:nvSpPr>
            <p:cNvPr id="476" name="Rectangle 144">
              <a:extLst>
                <a:ext uri="{FF2B5EF4-FFF2-40B4-BE49-F238E27FC236}">
                  <a16:creationId xmlns:a16="http://schemas.microsoft.com/office/drawing/2014/main" id="{12D5C09C-4AC1-4DAF-9F64-529BE9FDC8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21367" y="2263336"/>
              <a:ext cx="70532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r>
                <a:rPr lang="zh-CN" altLang="zh-CN" sz="1000">
                  <a:solidFill>
                    <a:srgbClr val="000000"/>
                  </a:solidFill>
                  <a:ea typeface="等线" panose="02010600030101010101" pitchFamily="2" charset="-122"/>
                  <a:cs typeface="Arial" panose="020B0604020202020204" pitchFamily="34" charset="0"/>
                </a:rPr>
                <a:t>n</a:t>
              </a:r>
              <a:endParaRPr lang="zh-CN" altLang="zh-CN">
                <a:solidFill>
                  <a:prstClr val="black"/>
                </a:solidFill>
                <a:ea typeface="等线" panose="02010600030101010101" pitchFamily="2" charset="-122"/>
                <a:cs typeface="Arial" panose="020B0604020202020204" pitchFamily="34" charset="0"/>
              </a:endParaRPr>
            </a:p>
          </p:txBody>
        </p:sp>
        <p:sp>
          <p:nvSpPr>
            <p:cNvPr id="477" name="Rectangle 145">
              <a:extLst>
                <a:ext uri="{FF2B5EF4-FFF2-40B4-BE49-F238E27FC236}">
                  <a16:creationId xmlns:a16="http://schemas.microsoft.com/office/drawing/2014/main" id="{627079B8-66E3-4858-BE1F-1AA7C9D62F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91217" y="2263336"/>
              <a:ext cx="64120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r>
                <a:rPr lang="zh-CN" altLang="zh-CN" sz="1000">
                  <a:solidFill>
                    <a:srgbClr val="000000"/>
                  </a:solidFill>
                  <a:ea typeface="等线" panose="02010600030101010101" pitchFamily="2" charset="-122"/>
                  <a:cs typeface="Arial" panose="020B0604020202020204" pitchFamily="34" charset="0"/>
                </a:rPr>
                <a:t>s</a:t>
              </a:r>
              <a:endParaRPr lang="zh-CN" altLang="zh-CN">
                <a:solidFill>
                  <a:prstClr val="black"/>
                </a:solidFill>
                <a:ea typeface="等线" panose="02010600030101010101" pitchFamily="2" charset="-122"/>
                <a:cs typeface="Arial" panose="020B0604020202020204" pitchFamily="34" charset="0"/>
              </a:endParaRPr>
            </a:p>
          </p:txBody>
        </p:sp>
        <p:sp>
          <p:nvSpPr>
            <p:cNvPr id="478" name="Freeform 164">
              <a:extLst>
                <a:ext uri="{FF2B5EF4-FFF2-40B4-BE49-F238E27FC236}">
                  <a16:creationId xmlns:a16="http://schemas.microsoft.com/office/drawing/2014/main" id="{6D601B8B-BBD7-40F6-8746-0FF1FB8184B7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0680" y="2445257"/>
              <a:ext cx="552450" cy="395288"/>
            </a:xfrm>
            <a:custGeom>
              <a:avLst/>
              <a:gdLst>
                <a:gd name="T0" fmla="*/ 348 w 348"/>
                <a:gd name="T1" fmla="*/ 247 h 249"/>
                <a:gd name="T2" fmla="*/ 348 w 348"/>
                <a:gd name="T3" fmla="*/ 0 h 249"/>
                <a:gd name="T4" fmla="*/ 0 w 348"/>
                <a:gd name="T5" fmla="*/ 0 h 249"/>
                <a:gd name="T6" fmla="*/ 0 w 348"/>
                <a:gd name="T7" fmla="*/ 249 h 249"/>
                <a:gd name="T8" fmla="*/ 348 w 348"/>
                <a:gd name="T9" fmla="*/ 249 h 249"/>
                <a:gd name="T10" fmla="*/ 348 w 348"/>
                <a:gd name="T11" fmla="*/ 249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48" h="249">
                  <a:moveTo>
                    <a:pt x="348" y="247"/>
                  </a:moveTo>
                  <a:lnTo>
                    <a:pt x="348" y="0"/>
                  </a:lnTo>
                  <a:lnTo>
                    <a:pt x="0" y="0"/>
                  </a:lnTo>
                  <a:lnTo>
                    <a:pt x="0" y="249"/>
                  </a:lnTo>
                  <a:lnTo>
                    <a:pt x="348" y="249"/>
                  </a:lnTo>
                  <a:lnTo>
                    <a:pt x="348" y="249"/>
                  </a:lnTo>
                </a:path>
              </a:pathLst>
            </a:custGeom>
            <a:noFill/>
            <a:ln w="14288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</a:pPr>
              <a:endParaRPr lang="zh-CN" altLang="en-US">
                <a:solidFill>
                  <a:prstClr val="black"/>
                </a:solidFill>
                <a:latin typeface="Arial" panose="020B0604020202020204" pitchFamily="34" charset="0"/>
                <a:ea typeface="等线" panose="02010600030101010101" pitchFamily="2" charset="-122"/>
                <a:cs typeface="Arial" panose="020B0604020202020204" pitchFamily="34" charset="0"/>
              </a:endParaRPr>
            </a:p>
          </p:txBody>
        </p:sp>
        <p:sp>
          <p:nvSpPr>
            <p:cNvPr id="479" name="Freeform 168">
              <a:extLst>
                <a:ext uri="{FF2B5EF4-FFF2-40B4-BE49-F238E27FC236}">
                  <a16:creationId xmlns:a16="http://schemas.microsoft.com/office/drawing/2014/main" id="{A336E63A-9807-45AF-8F3A-62FCCC845942}"/>
                </a:ext>
              </a:extLst>
            </p:cNvPr>
            <p:cNvSpPr>
              <a:spLocks/>
            </p:cNvSpPr>
            <p:nvPr/>
          </p:nvSpPr>
          <p:spPr bwMode="auto">
            <a:xfrm>
              <a:off x="5100942" y="2445257"/>
              <a:ext cx="276225" cy="395288"/>
            </a:xfrm>
            <a:custGeom>
              <a:avLst/>
              <a:gdLst>
                <a:gd name="T0" fmla="*/ 172 w 174"/>
                <a:gd name="T1" fmla="*/ 247 h 249"/>
                <a:gd name="T2" fmla="*/ 174 w 174"/>
                <a:gd name="T3" fmla="*/ 0 h 249"/>
                <a:gd name="T4" fmla="*/ 0 w 174"/>
                <a:gd name="T5" fmla="*/ 0 h 249"/>
                <a:gd name="T6" fmla="*/ 0 w 174"/>
                <a:gd name="T7" fmla="*/ 249 h 249"/>
                <a:gd name="T8" fmla="*/ 174 w 174"/>
                <a:gd name="T9" fmla="*/ 249 h 249"/>
                <a:gd name="T10" fmla="*/ 174 w 174"/>
                <a:gd name="T11" fmla="*/ 249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74" h="249">
                  <a:moveTo>
                    <a:pt x="172" y="247"/>
                  </a:moveTo>
                  <a:lnTo>
                    <a:pt x="174" y="0"/>
                  </a:lnTo>
                  <a:lnTo>
                    <a:pt x="0" y="0"/>
                  </a:lnTo>
                  <a:lnTo>
                    <a:pt x="0" y="249"/>
                  </a:lnTo>
                  <a:lnTo>
                    <a:pt x="174" y="249"/>
                  </a:lnTo>
                  <a:lnTo>
                    <a:pt x="174" y="249"/>
                  </a:lnTo>
                </a:path>
              </a:pathLst>
            </a:custGeom>
            <a:noFill/>
            <a:ln w="14288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</a:pPr>
              <a:endParaRPr lang="zh-CN" altLang="en-US">
                <a:solidFill>
                  <a:prstClr val="black"/>
                </a:solidFill>
                <a:latin typeface="Arial" panose="020B0604020202020204" pitchFamily="34" charset="0"/>
                <a:ea typeface="等线" panose="02010600030101010101" pitchFamily="2" charset="-122"/>
                <a:cs typeface="Arial" panose="020B0604020202020204" pitchFamily="34" charset="0"/>
              </a:endParaRPr>
            </a:p>
          </p:txBody>
        </p:sp>
        <p:sp>
          <p:nvSpPr>
            <p:cNvPr id="480" name="Freeform 172">
              <a:extLst>
                <a:ext uri="{FF2B5EF4-FFF2-40B4-BE49-F238E27FC236}">
                  <a16:creationId xmlns:a16="http://schemas.microsoft.com/office/drawing/2014/main" id="{BF7D136E-0D8B-4EF7-844E-1B468EEA3A0B}"/>
                </a:ext>
              </a:extLst>
            </p:cNvPr>
            <p:cNvSpPr>
              <a:spLocks/>
            </p:cNvSpPr>
            <p:nvPr/>
          </p:nvSpPr>
          <p:spPr bwMode="auto">
            <a:xfrm>
              <a:off x="5377167" y="2445257"/>
              <a:ext cx="554038" cy="395288"/>
            </a:xfrm>
            <a:custGeom>
              <a:avLst/>
              <a:gdLst>
                <a:gd name="T0" fmla="*/ 349 w 349"/>
                <a:gd name="T1" fmla="*/ 247 h 249"/>
                <a:gd name="T2" fmla="*/ 349 w 349"/>
                <a:gd name="T3" fmla="*/ 0 h 249"/>
                <a:gd name="T4" fmla="*/ 0 w 349"/>
                <a:gd name="T5" fmla="*/ 0 h 249"/>
                <a:gd name="T6" fmla="*/ 0 w 349"/>
                <a:gd name="T7" fmla="*/ 249 h 249"/>
                <a:gd name="T8" fmla="*/ 349 w 349"/>
                <a:gd name="T9" fmla="*/ 249 h 249"/>
                <a:gd name="T10" fmla="*/ 349 w 349"/>
                <a:gd name="T11" fmla="*/ 249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49" h="249">
                  <a:moveTo>
                    <a:pt x="349" y="247"/>
                  </a:moveTo>
                  <a:lnTo>
                    <a:pt x="349" y="0"/>
                  </a:lnTo>
                  <a:lnTo>
                    <a:pt x="0" y="0"/>
                  </a:lnTo>
                  <a:lnTo>
                    <a:pt x="0" y="249"/>
                  </a:lnTo>
                  <a:lnTo>
                    <a:pt x="349" y="249"/>
                  </a:lnTo>
                  <a:lnTo>
                    <a:pt x="349" y="249"/>
                  </a:lnTo>
                </a:path>
              </a:pathLst>
            </a:custGeom>
            <a:noFill/>
            <a:ln w="14288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</a:pPr>
              <a:endParaRPr lang="zh-CN" altLang="en-US">
                <a:solidFill>
                  <a:prstClr val="black"/>
                </a:solidFill>
                <a:latin typeface="Arial" panose="020B0604020202020204" pitchFamily="34" charset="0"/>
                <a:ea typeface="等线" panose="02010600030101010101" pitchFamily="2" charset="-122"/>
                <a:cs typeface="Arial" panose="020B0604020202020204" pitchFamily="34" charset="0"/>
              </a:endParaRPr>
            </a:p>
          </p:txBody>
        </p:sp>
        <p:sp>
          <p:nvSpPr>
            <p:cNvPr id="481" name="Freeform 184">
              <a:extLst>
                <a:ext uri="{FF2B5EF4-FFF2-40B4-BE49-F238E27FC236}">
                  <a16:creationId xmlns:a16="http://schemas.microsoft.com/office/drawing/2014/main" id="{6F5A995B-5112-4814-B4B0-5F70CCD0C322}"/>
                </a:ext>
              </a:extLst>
            </p:cNvPr>
            <p:cNvSpPr>
              <a:spLocks/>
            </p:cNvSpPr>
            <p:nvPr/>
          </p:nvSpPr>
          <p:spPr bwMode="auto">
            <a:xfrm>
              <a:off x="5931205" y="2445257"/>
              <a:ext cx="552450" cy="395288"/>
            </a:xfrm>
            <a:custGeom>
              <a:avLst/>
              <a:gdLst>
                <a:gd name="T0" fmla="*/ 348 w 348"/>
                <a:gd name="T1" fmla="*/ 247 h 249"/>
                <a:gd name="T2" fmla="*/ 348 w 348"/>
                <a:gd name="T3" fmla="*/ 0 h 249"/>
                <a:gd name="T4" fmla="*/ 0 w 348"/>
                <a:gd name="T5" fmla="*/ 0 h 249"/>
                <a:gd name="T6" fmla="*/ 0 w 348"/>
                <a:gd name="T7" fmla="*/ 249 h 249"/>
                <a:gd name="T8" fmla="*/ 348 w 348"/>
                <a:gd name="T9" fmla="*/ 249 h 249"/>
                <a:gd name="T10" fmla="*/ 348 w 348"/>
                <a:gd name="T11" fmla="*/ 249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48" h="249">
                  <a:moveTo>
                    <a:pt x="348" y="247"/>
                  </a:moveTo>
                  <a:lnTo>
                    <a:pt x="348" y="0"/>
                  </a:lnTo>
                  <a:lnTo>
                    <a:pt x="0" y="0"/>
                  </a:lnTo>
                  <a:lnTo>
                    <a:pt x="0" y="249"/>
                  </a:lnTo>
                  <a:lnTo>
                    <a:pt x="348" y="249"/>
                  </a:lnTo>
                  <a:lnTo>
                    <a:pt x="348" y="249"/>
                  </a:lnTo>
                </a:path>
              </a:pathLst>
            </a:custGeom>
            <a:noFill/>
            <a:ln w="14288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</a:pPr>
              <a:endParaRPr lang="zh-CN" altLang="en-US">
                <a:solidFill>
                  <a:prstClr val="black"/>
                </a:solidFill>
                <a:latin typeface="Arial" panose="020B0604020202020204" pitchFamily="34" charset="0"/>
                <a:ea typeface="等线" panose="02010600030101010101" pitchFamily="2" charset="-122"/>
                <a:cs typeface="Arial" panose="020B0604020202020204" pitchFamily="34" charset="0"/>
              </a:endParaRPr>
            </a:p>
          </p:txBody>
        </p:sp>
        <p:sp>
          <p:nvSpPr>
            <p:cNvPr id="482" name="Freeform 188">
              <a:extLst>
                <a:ext uri="{FF2B5EF4-FFF2-40B4-BE49-F238E27FC236}">
                  <a16:creationId xmlns:a16="http://schemas.microsoft.com/office/drawing/2014/main" id="{671D1CBF-11C2-40C7-8A54-6B82F5A08D60}"/>
                </a:ext>
              </a:extLst>
            </p:cNvPr>
            <p:cNvSpPr>
              <a:spLocks/>
            </p:cNvSpPr>
            <p:nvPr/>
          </p:nvSpPr>
          <p:spPr bwMode="auto">
            <a:xfrm>
              <a:off x="6483655" y="2445257"/>
              <a:ext cx="277813" cy="395288"/>
            </a:xfrm>
            <a:custGeom>
              <a:avLst/>
              <a:gdLst>
                <a:gd name="T0" fmla="*/ 175 w 175"/>
                <a:gd name="T1" fmla="*/ 247 h 249"/>
                <a:gd name="T2" fmla="*/ 175 w 175"/>
                <a:gd name="T3" fmla="*/ 0 h 249"/>
                <a:gd name="T4" fmla="*/ 0 w 175"/>
                <a:gd name="T5" fmla="*/ 0 h 249"/>
                <a:gd name="T6" fmla="*/ 0 w 175"/>
                <a:gd name="T7" fmla="*/ 249 h 249"/>
                <a:gd name="T8" fmla="*/ 175 w 175"/>
                <a:gd name="T9" fmla="*/ 249 h 249"/>
                <a:gd name="T10" fmla="*/ 175 w 175"/>
                <a:gd name="T11" fmla="*/ 249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75" h="249">
                  <a:moveTo>
                    <a:pt x="175" y="247"/>
                  </a:moveTo>
                  <a:lnTo>
                    <a:pt x="175" y="0"/>
                  </a:lnTo>
                  <a:lnTo>
                    <a:pt x="0" y="0"/>
                  </a:lnTo>
                  <a:lnTo>
                    <a:pt x="0" y="249"/>
                  </a:lnTo>
                  <a:lnTo>
                    <a:pt x="175" y="249"/>
                  </a:lnTo>
                  <a:lnTo>
                    <a:pt x="175" y="249"/>
                  </a:lnTo>
                </a:path>
              </a:pathLst>
            </a:custGeom>
            <a:noFill/>
            <a:ln w="14288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</a:pPr>
              <a:endParaRPr lang="zh-CN" altLang="en-US">
                <a:solidFill>
                  <a:prstClr val="black"/>
                </a:solidFill>
                <a:latin typeface="Arial" panose="020B0604020202020204" pitchFamily="34" charset="0"/>
                <a:ea typeface="等线" panose="02010600030101010101" pitchFamily="2" charset="-122"/>
                <a:cs typeface="Arial" panose="020B0604020202020204" pitchFamily="34" charset="0"/>
              </a:endParaRPr>
            </a:p>
          </p:txBody>
        </p:sp>
        <p:sp>
          <p:nvSpPr>
            <p:cNvPr id="483" name="Line 195">
              <a:extLst>
                <a:ext uri="{FF2B5EF4-FFF2-40B4-BE49-F238E27FC236}">
                  <a16:creationId xmlns:a16="http://schemas.microsoft.com/office/drawing/2014/main" id="{FC666D16-33A5-4BE1-A36B-8A3C81B815B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735692" y="1399736"/>
              <a:ext cx="0" cy="68263"/>
            </a:xfrm>
            <a:prstGeom prst="line">
              <a:avLst/>
            </a:prstGeom>
            <a:noFill/>
            <a:ln w="7938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</a:pPr>
              <a:endParaRPr lang="zh-CN" altLang="en-US">
                <a:solidFill>
                  <a:prstClr val="black"/>
                </a:solidFill>
                <a:latin typeface="Arial" panose="020B0604020202020204" pitchFamily="34" charset="0"/>
                <a:ea typeface="等线" panose="02010600030101010101" pitchFamily="2" charset="-122"/>
                <a:cs typeface="Arial" panose="020B0604020202020204" pitchFamily="34" charset="0"/>
              </a:endParaRPr>
            </a:p>
          </p:txBody>
        </p:sp>
        <p:sp>
          <p:nvSpPr>
            <p:cNvPr id="484" name="Rectangle 196">
              <a:extLst>
                <a:ext uri="{FF2B5EF4-FFF2-40B4-BE49-F238E27FC236}">
                  <a16:creationId xmlns:a16="http://schemas.microsoft.com/office/drawing/2014/main" id="{EE402554-E9F8-4A41-9B08-0064FCFD13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97592" y="1210823"/>
              <a:ext cx="70532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r>
                <a:rPr lang="zh-CN" altLang="zh-CN" sz="1000">
                  <a:solidFill>
                    <a:srgbClr val="000000"/>
                  </a:solidFill>
                  <a:ea typeface="等线" panose="02010600030101010101" pitchFamily="2" charset="-122"/>
                  <a:cs typeface="Arial" panose="020B0604020202020204" pitchFamily="34" charset="0"/>
                </a:rPr>
                <a:t>2</a:t>
              </a:r>
              <a:endParaRPr lang="zh-CN" altLang="zh-CN">
                <a:solidFill>
                  <a:prstClr val="black"/>
                </a:solidFill>
                <a:ea typeface="等线" panose="02010600030101010101" pitchFamily="2" charset="-122"/>
                <a:cs typeface="Arial" panose="020B0604020202020204" pitchFamily="34" charset="0"/>
              </a:endParaRPr>
            </a:p>
          </p:txBody>
        </p:sp>
        <p:sp>
          <p:nvSpPr>
            <p:cNvPr id="485" name="Line 197">
              <a:extLst>
                <a:ext uri="{FF2B5EF4-FFF2-40B4-BE49-F238E27FC236}">
                  <a16:creationId xmlns:a16="http://schemas.microsoft.com/office/drawing/2014/main" id="{70398EA8-9B2D-4111-B6FA-CDF2FF2190E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288142" y="1399736"/>
              <a:ext cx="0" cy="68263"/>
            </a:xfrm>
            <a:prstGeom prst="line">
              <a:avLst/>
            </a:prstGeom>
            <a:noFill/>
            <a:ln w="7938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</a:pPr>
              <a:endParaRPr lang="zh-CN" altLang="en-US">
                <a:solidFill>
                  <a:prstClr val="black"/>
                </a:solidFill>
                <a:latin typeface="Arial" panose="020B0604020202020204" pitchFamily="34" charset="0"/>
                <a:ea typeface="等线" panose="02010600030101010101" pitchFamily="2" charset="-122"/>
                <a:cs typeface="Arial" panose="020B0604020202020204" pitchFamily="34" charset="0"/>
              </a:endParaRPr>
            </a:p>
          </p:txBody>
        </p:sp>
        <p:sp>
          <p:nvSpPr>
            <p:cNvPr id="486" name="Rectangle 198">
              <a:extLst>
                <a:ext uri="{FF2B5EF4-FFF2-40B4-BE49-F238E27FC236}">
                  <a16:creationId xmlns:a16="http://schemas.microsoft.com/office/drawing/2014/main" id="{AE4F75CC-C2CD-4254-B347-3B70D52EA1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51630" y="1210823"/>
              <a:ext cx="70532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r>
                <a:rPr lang="zh-CN" altLang="zh-CN" sz="1000">
                  <a:solidFill>
                    <a:srgbClr val="000000"/>
                  </a:solidFill>
                  <a:ea typeface="等线" panose="02010600030101010101" pitchFamily="2" charset="-122"/>
                  <a:cs typeface="Arial" panose="020B0604020202020204" pitchFamily="34" charset="0"/>
                </a:rPr>
                <a:t>4</a:t>
              </a:r>
              <a:endParaRPr lang="zh-CN" altLang="zh-CN">
                <a:solidFill>
                  <a:prstClr val="black"/>
                </a:solidFill>
                <a:ea typeface="等线" panose="02010600030101010101" pitchFamily="2" charset="-122"/>
                <a:cs typeface="Arial" panose="020B0604020202020204" pitchFamily="34" charset="0"/>
              </a:endParaRPr>
            </a:p>
          </p:txBody>
        </p:sp>
        <p:sp>
          <p:nvSpPr>
            <p:cNvPr id="487" name="Line 199">
              <a:extLst>
                <a:ext uri="{FF2B5EF4-FFF2-40B4-BE49-F238E27FC236}">
                  <a16:creationId xmlns:a16="http://schemas.microsoft.com/office/drawing/2014/main" id="{A19DF33B-D081-4967-9041-83ACA9CD02D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842180" y="1399736"/>
              <a:ext cx="0" cy="68263"/>
            </a:xfrm>
            <a:prstGeom prst="line">
              <a:avLst/>
            </a:prstGeom>
            <a:noFill/>
            <a:ln w="7938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</a:pPr>
              <a:endParaRPr lang="zh-CN" altLang="en-US">
                <a:solidFill>
                  <a:prstClr val="black"/>
                </a:solidFill>
                <a:latin typeface="Arial" panose="020B0604020202020204" pitchFamily="34" charset="0"/>
                <a:ea typeface="等线" panose="02010600030101010101" pitchFamily="2" charset="-122"/>
                <a:cs typeface="Arial" panose="020B0604020202020204" pitchFamily="34" charset="0"/>
              </a:endParaRPr>
            </a:p>
          </p:txBody>
        </p:sp>
        <p:sp>
          <p:nvSpPr>
            <p:cNvPr id="488" name="Rectangle 200">
              <a:extLst>
                <a:ext uri="{FF2B5EF4-FFF2-40B4-BE49-F238E27FC236}">
                  <a16:creationId xmlns:a16="http://schemas.microsoft.com/office/drawing/2014/main" id="{15FC76D8-7B38-4FA7-B9EF-D515C6E923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05667" y="1210823"/>
              <a:ext cx="70532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r>
                <a:rPr lang="zh-CN" altLang="zh-CN" sz="1000">
                  <a:solidFill>
                    <a:srgbClr val="000000"/>
                  </a:solidFill>
                  <a:ea typeface="等线" panose="02010600030101010101" pitchFamily="2" charset="-122"/>
                  <a:cs typeface="Arial" panose="020B0604020202020204" pitchFamily="34" charset="0"/>
                </a:rPr>
                <a:t>6</a:t>
              </a:r>
              <a:endParaRPr lang="zh-CN" altLang="zh-CN">
                <a:solidFill>
                  <a:prstClr val="black"/>
                </a:solidFill>
                <a:ea typeface="等线" panose="02010600030101010101" pitchFamily="2" charset="-122"/>
                <a:cs typeface="Arial" panose="020B0604020202020204" pitchFamily="34" charset="0"/>
              </a:endParaRPr>
            </a:p>
          </p:txBody>
        </p:sp>
        <p:sp>
          <p:nvSpPr>
            <p:cNvPr id="489" name="Line 201">
              <a:extLst>
                <a:ext uri="{FF2B5EF4-FFF2-40B4-BE49-F238E27FC236}">
                  <a16:creationId xmlns:a16="http://schemas.microsoft.com/office/drawing/2014/main" id="{729BCDD9-6828-4D36-A286-512F8CDE5BA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396217" y="1399736"/>
              <a:ext cx="0" cy="68263"/>
            </a:xfrm>
            <a:prstGeom prst="line">
              <a:avLst/>
            </a:prstGeom>
            <a:noFill/>
            <a:ln w="7938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</a:pPr>
              <a:endParaRPr lang="zh-CN" altLang="en-US">
                <a:solidFill>
                  <a:prstClr val="black"/>
                </a:solidFill>
                <a:latin typeface="Arial" panose="020B0604020202020204" pitchFamily="34" charset="0"/>
                <a:ea typeface="等线" panose="02010600030101010101" pitchFamily="2" charset="-122"/>
                <a:cs typeface="Arial" panose="020B0604020202020204" pitchFamily="34" charset="0"/>
              </a:endParaRPr>
            </a:p>
          </p:txBody>
        </p:sp>
        <p:sp>
          <p:nvSpPr>
            <p:cNvPr id="490" name="Rectangle 202">
              <a:extLst>
                <a:ext uri="{FF2B5EF4-FFF2-40B4-BE49-F238E27FC236}">
                  <a16:creationId xmlns:a16="http://schemas.microsoft.com/office/drawing/2014/main" id="{D0075105-337F-4FE2-BCEA-7A28BEF803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58117" y="1210823"/>
              <a:ext cx="70532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r>
                <a:rPr lang="zh-CN" altLang="zh-CN" sz="1000">
                  <a:solidFill>
                    <a:srgbClr val="000000"/>
                  </a:solidFill>
                  <a:ea typeface="等线" panose="02010600030101010101" pitchFamily="2" charset="-122"/>
                  <a:cs typeface="Arial" panose="020B0604020202020204" pitchFamily="34" charset="0"/>
                </a:rPr>
                <a:t>8</a:t>
              </a:r>
              <a:endParaRPr lang="zh-CN" altLang="zh-CN">
                <a:solidFill>
                  <a:prstClr val="black"/>
                </a:solidFill>
                <a:ea typeface="等线" panose="02010600030101010101" pitchFamily="2" charset="-122"/>
                <a:cs typeface="Arial" panose="020B0604020202020204" pitchFamily="34" charset="0"/>
              </a:endParaRPr>
            </a:p>
          </p:txBody>
        </p:sp>
        <p:sp>
          <p:nvSpPr>
            <p:cNvPr id="491" name="Line 203">
              <a:extLst>
                <a:ext uri="{FF2B5EF4-FFF2-40B4-BE49-F238E27FC236}">
                  <a16:creationId xmlns:a16="http://schemas.microsoft.com/office/drawing/2014/main" id="{7D3DA82B-CA75-458A-8130-593E05077F7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948667" y="1399736"/>
              <a:ext cx="0" cy="68263"/>
            </a:xfrm>
            <a:prstGeom prst="line">
              <a:avLst/>
            </a:prstGeom>
            <a:noFill/>
            <a:ln w="7938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</a:pPr>
              <a:endParaRPr lang="zh-CN" altLang="en-US">
                <a:solidFill>
                  <a:prstClr val="black"/>
                </a:solidFill>
                <a:latin typeface="Arial" panose="020B0604020202020204" pitchFamily="34" charset="0"/>
                <a:ea typeface="等线" panose="02010600030101010101" pitchFamily="2" charset="-122"/>
                <a:cs typeface="Arial" panose="020B0604020202020204" pitchFamily="34" charset="0"/>
              </a:endParaRPr>
            </a:p>
          </p:txBody>
        </p:sp>
        <p:sp>
          <p:nvSpPr>
            <p:cNvPr id="492" name="Rectangle 204">
              <a:extLst>
                <a:ext uri="{FF2B5EF4-FFF2-40B4-BE49-F238E27FC236}">
                  <a16:creationId xmlns:a16="http://schemas.microsoft.com/office/drawing/2014/main" id="{A989D036-CCE1-4D62-A8DA-F0E0962398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875642" y="1210823"/>
              <a:ext cx="70532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r>
                <a:rPr lang="zh-CN" altLang="zh-CN" sz="1000">
                  <a:solidFill>
                    <a:srgbClr val="000000"/>
                  </a:solidFill>
                  <a:ea typeface="等线" panose="02010600030101010101" pitchFamily="2" charset="-122"/>
                  <a:cs typeface="Arial" panose="020B0604020202020204" pitchFamily="34" charset="0"/>
                </a:rPr>
                <a:t>1</a:t>
              </a:r>
              <a:endParaRPr lang="zh-CN" altLang="zh-CN">
                <a:solidFill>
                  <a:prstClr val="black"/>
                </a:solidFill>
                <a:ea typeface="等线" panose="02010600030101010101" pitchFamily="2" charset="-122"/>
                <a:cs typeface="Arial" panose="020B0604020202020204" pitchFamily="34" charset="0"/>
              </a:endParaRPr>
            </a:p>
          </p:txBody>
        </p:sp>
        <p:sp>
          <p:nvSpPr>
            <p:cNvPr id="493" name="Rectangle 206">
              <a:extLst>
                <a:ext uri="{FF2B5EF4-FFF2-40B4-BE49-F238E27FC236}">
                  <a16:creationId xmlns:a16="http://schemas.microsoft.com/office/drawing/2014/main" id="{4305A643-3311-45C3-9EE3-FB984A39E6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42317" y="1210823"/>
              <a:ext cx="70532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r>
                <a:rPr lang="zh-CN" altLang="zh-CN" sz="1000">
                  <a:solidFill>
                    <a:srgbClr val="000000"/>
                  </a:solidFill>
                  <a:ea typeface="等线" panose="02010600030101010101" pitchFamily="2" charset="-122"/>
                  <a:cs typeface="Arial" panose="020B0604020202020204" pitchFamily="34" charset="0"/>
                </a:rPr>
                <a:t>0</a:t>
              </a:r>
              <a:endParaRPr lang="zh-CN" altLang="zh-CN">
                <a:solidFill>
                  <a:prstClr val="black"/>
                </a:solidFill>
                <a:ea typeface="等线" panose="02010600030101010101" pitchFamily="2" charset="-122"/>
                <a:cs typeface="Arial" panose="020B0604020202020204" pitchFamily="34" charset="0"/>
              </a:endParaRPr>
            </a:p>
          </p:txBody>
        </p:sp>
        <p:sp>
          <p:nvSpPr>
            <p:cNvPr id="494" name="Line 207">
              <a:extLst>
                <a:ext uri="{FF2B5EF4-FFF2-40B4-BE49-F238E27FC236}">
                  <a16:creationId xmlns:a16="http://schemas.microsoft.com/office/drawing/2014/main" id="{794646F5-7697-4955-BDF9-869CC4CC00D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502705" y="1399735"/>
              <a:ext cx="0" cy="68263"/>
            </a:xfrm>
            <a:prstGeom prst="line">
              <a:avLst/>
            </a:prstGeom>
            <a:noFill/>
            <a:ln w="7938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</a:pPr>
              <a:endParaRPr lang="zh-CN" altLang="en-US">
                <a:solidFill>
                  <a:prstClr val="black"/>
                </a:solidFill>
                <a:latin typeface="Arial" panose="020B0604020202020204" pitchFamily="34" charset="0"/>
                <a:ea typeface="等线" panose="02010600030101010101" pitchFamily="2" charset="-122"/>
                <a:cs typeface="Arial" panose="020B0604020202020204" pitchFamily="34" charset="0"/>
              </a:endParaRPr>
            </a:p>
          </p:txBody>
        </p:sp>
        <p:sp>
          <p:nvSpPr>
            <p:cNvPr id="495" name="Line 208">
              <a:extLst>
                <a:ext uri="{FF2B5EF4-FFF2-40B4-BE49-F238E27FC236}">
                  <a16:creationId xmlns:a16="http://schemas.microsoft.com/office/drawing/2014/main" id="{4C5E6858-A052-4AA8-9E43-CE6C6AA2BA1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048805" y="1399735"/>
              <a:ext cx="0" cy="68263"/>
            </a:xfrm>
            <a:prstGeom prst="line">
              <a:avLst/>
            </a:prstGeom>
            <a:noFill/>
            <a:ln w="7938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</a:pPr>
              <a:endParaRPr lang="zh-CN" altLang="en-US">
                <a:solidFill>
                  <a:prstClr val="black"/>
                </a:solidFill>
                <a:latin typeface="Arial" panose="020B0604020202020204" pitchFamily="34" charset="0"/>
                <a:ea typeface="等线" panose="02010600030101010101" pitchFamily="2" charset="-122"/>
                <a:cs typeface="Arial" panose="020B0604020202020204" pitchFamily="34" charset="0"/>
              </a:endParaRPr>
            </a:p>
          </p:txBody>
        </p:sp>
        <p:sp>
          <p:nvSpPr>
            <p:cNvPr id="496" name="Rectangle 209">
              <a:extLst>
                <a:ext uri="{FF2B5EF4-FFF2-40B4-BE49-F238E27FC236}">
                  <a16:creationId xmlns:a16="http://schemas.microsoft.com/office/drawing/2014/main" id="{4779D361-7FC0-4E47-AF90-1F114C62A2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28092" y="1210823"/>
              <a:ext cx="70532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r>
                <a:rPr lang="zh-CN" altLang="zh-CN" sz="1000">
                  <a:solidFill>
                    <a:srgbClr val="000000"/>
                  </a:solidFill>
                  <a:ea typeface="等线" panose="02010600030101010101" pitchFamily="2" charset="-122"/>
                  <a:cs typeface="Arial" panose="020B0604020202020204" pitchFamily="34" charset="0"/>
                </a:rPr>
                <a:t>1</a:t>
              </a:r>
              <a:endParaRPr lang="zh-CN" altLang="zh-CN">
                <a:solidFill>
                  <a:prstClr val="black"/>
                </a:solidFill>
                <a:ea typeface="等线" panose="02010600030101010101" pitchFamily="2" charset="-122"/>
                <a:cs typeface="Arial" panose="020B0604020202020204" pitchFamily="34" charset="0"/>
              </a:endParaRPr>
            </a:p>
          </p:txBody>
        </p:sp>
        <p:sp>
          <p:nvSpPr>
            <p:cNvPr id="497" name="Rectangle 210">
              <a:extLst>
                <a:ext uri="{FF2B5EF4-FFF2-40B4-BE49-F238E27FC236}">
                  <a16:creationId xmlns:a16="http://schemas.microsoft.com/office/drawing/2014/main" id="{B1DBA727-6605-422D-B1DD-5299312786D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94767" y="1210823"/>
              <a:ext cx="70532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r>
                <a:rPr lang="zh-CN" altLang="zh-CN" sz="1000">
                  <a:solidFill>
                    <a:srgbClr val="000000"/>
                  </a:solidFill>
                  <a:ea typeface="等线" panose="02010600030101010101" pitchFamily="2" charset="-122"/>
                  <a:cs typeface="Arial" panose="020B0604020202020204" pitchFamily="34" charset="0"/>
                </a:rPr>
                <a:t>2</a:t>
              </a:r>
              <a:endParaRPr lang="zh-CN" altLang="zh-CN">
                <a:solidFill>
                  <a:prstClr val="black"/>
                </a:solidFill>
                <a:ea typeface="等线" panose="02010600030101010101" pitchFamily="2" charset="-122"/>
                <a:cs typeface="Arial" panose="020B0604020202020204" pitchFamily="34" charset="0"/>
              </a:endParaRPr>
            </a:p>
          </p:txBody>
        </p:sp>
        <p:sp>
          <p:nvSpPr>
            <p:cNvPr id="498" name="Rectangle 211">
              <a:extLst>
                <a:ext uri="{FF2B5EF4-FFF2-40B4-BE49-F238E27FC236}">
                  <a16:creationId xmlns:a16="http://schemas.microsoft.com/office/drawing/2014/main" id="{E7D7BBF1-7FF0-40A5-B1E9-B25C651104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71017" y="1207648"/>
              <a:ext cx="70532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r>
                <a:rPr lang="zh-CN" altLang="zh-CN" sz="1000">
                  <a:solidFill>
                    <a:srgbClr val="000000"/>
                  </a:solidFill>
                  <a:ea typeface="等线" panose="02010600030101010101" pitchFamily="2" charset="-122"/>
                  <a:cs typeface="Arial" panose="020B0604020202020204" pitchFamily="34" charset="0"/>
                </a:rPr>
                <a:t>1</a:t>
              </a:r>
              <a:endParaRPr lang="zh-CN" altLang="zh-CN">
                <a:solidFill>
                  <a:prstClr val="black"/>
                </a:solidFill>
                <a:ea typeface="等线" panose="02010600030101010101" pitchFamily="2" charset="-122"/>
                <a:cs typeface="Arial" panose="020B0604020202020204" pitchFamily="34" charset="0"/>
              </a:endParaRPr>
            </a:p>
          </p:txBody>
        </p:sp>
        <p:sp>
          <p:nvSpPr>
            <p:cNvPr id="499" name="Rectangle 212">
              <a:extLst>
                <a:ext uri="{FF2B5EF4-FFF2-40B4-BE49-F238E27FC236}">
                  <a16:creationId xmlns:a16="http://schemas.microsoft.com/office/drawing/2014/main" id="{F82F1BE0-E1D1-49F5-B788-5723BC636A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40867" y="1207648"/>
              <a:ext cx="70532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r>
                <a:rPr lang="zh-CN" altLang="zh-CN" sz="1000">
                  <a:solidFill>
                    <a:srgbClr val="000000"/>
                  </a:solidFill>
                  <a:ea typeface="等线" panose="02010600030101010101" pitchFamily="2" charset="-122"/>
                  <a:cs typeface="Arial" panose="020B0604020202020204" pitchFamily="34" charset="0"/>
                </a:rPr>
                <a:t>4</a:t>
              </a:r>
              <a:endParaRPr lang="zh-CN" altLang="zh-CN">
                <a:solidFill>
                  <a:prstClr val="black"/>
                </a:solidFill>
                <a:ea typeface="等线" panose="02010600030101010101" pitchFamily="2" charset="-122"/>
                <a:cs typeface="Arial" panose="020B0604020202020204" pitchFamily="34" charset="0"/>
              </a:endParaRPr>
            </a:p>
          </p:txBody>
        </p:sp>
        <p:sp>
          <p:nvSpPr>
            <p:cNvPr id="500" name="文本框 499">
              <a:extLst>
                <a:ext uri="{FF2B5EF4-FFF2-40B4-BE49-F238E27FC236}">
                  <a16:creationId xmlns:a16="http://schemas.microsoft.com/office/drawing/2014/main" id="{E6B421F8-D853-441B-BFF6-804B958E1007}"/>
                </a:ext>
              </a:extLst>
            </p:cNvPr>
            <p:cNvSpPr txBox="1"/>
            <p:nvPr/>
          </p:nvSpPr>
          <p:spPr>
            <a:xfrm>
              <a:off x="1944724" y="1718383"/>
              <a:ext cx="1084996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</a:pPr>
              <a:r>
                <a:rPr lang="en-US" altLang="zh-CN" sz="1000" dirty="0">
                  <a:solidFill>
                    <a:prstClr val="black"/>
                  </a:solidFill>
                  <a:latin typeface="Arial" panose="020B0604020202020204" pitchFamily="34" charset="0"/>
                  <a:ea typeface="等线" panose="02010600030101010101" pitchFamily="2" charset="-122"/>
                  <a:cs typeface="Arial" panose="020B0604020202020204" pitchFamily="34" charset="0"/>
                </a:rPr>
                <a:t>add $4, $5, $6</a:t>
              </a:r>
              <a:endParaRPr lang="zh-CN" altLang="en-US" sz="1000" dirty="0">
                <a:solidFill>
                  <a:prstClr val="black"/>
                </a:solidFill>
                <a:latin typeface="Arial" panose="020B0604020202020204" pitchFamily="34" charset="0"/>
                <a:ea typeface="等线" panose="02010600030101010101" pitchFamily="2" charset="-122"/>
                <a:cs typeface="Arial" panose="020B0604020202020204" pitchFamily="34" charset="0"/>
              </a:endParaRPr>
            </a:p>
          </p:txBody>
        </p:sp>
        <p:sp>
          <p:nvSpPr>
            <p:cNvPr id="501" name="文本框 500">
              <a:extLst>
                <a:ext uri="{FF2B5EF4-FFF2-40B4-BE49-F238E27FC236}">
                  <a16:creationId xmlns:a16="http://schemas.microsoft.com/office/drawing/2014/main" id="{731692EC-55E3-4640-AAB1-704075213EEA}"/>
                </a:ext>
              </a:extLst>
            </p:cNvPr>
            <p:cNvSpPr txBox="1"/>
            <p:nvPr/>
          </p:nvSpPr>
          <p:spPr>
            <a:xfrm>
              <a:off x="1938521" y="2090843"/>
              <a:ext cx="1402557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</a:pPr>
              <a:r>
                <a:rPr lang="en-US" altLang="zh-CN" sz="1000" dirty="0" err="1">
                  <a:solidFill>
                    <a:srgbClr val="C00000"/>
                  </a:solidFill>
                  <a:latin typeface="Arial" panose="020B0604020202020204" pitchFamily="34" charset="0"/>
                  <a:ea typeface="等线" panose="02010600030101010101" pitchFamily="2" charset="-122"/>
                  <a:cs typeface="Arial" panose="020B0604020202020204" pitchFamily="34" charset="0"/>
                </a:rPr>
                <a:t>beq</a:t>
              </a:r>
              <a:r>
                <a:rPr lang="en-US" altLang="zh-CN" sz="1000" dirty="0">
                  <a:solidFill>
                    <a:srgbClr val="C00000"/>
                  </a:solidFill>
                  <a:latin typeface="Arial" panose="020B0604020202020204" pitchFamily="34" charset="0"/>
                  <a:ea typeface="等线" panose="02010600030101010101" pitchFamily="2" charset="-122"/>
                  <a:cs typeface="Arial" panose="020B0604020202020204" pitchFamily="34" charset="0"/>
                </a:rPr>
                <a:t> $1, $2, 40</a:t>
              </a:r>
            </a:p>
          </p:txBody>
        </p:sp>
        <p:sp>
          <p:nvSpPr>
            <p:cNvPr id="502" name="文本框 501">
              <a:extLst>
                <a:ext uri="{FF2B5EF4-FFF2-40B4-BE49-F238E27FC236}">
                  <a16:creationId xmlns:a16="http://schemas.microsoft.com/office/drawing/2014/main" id="{602C5F70-B810-492F-80CF-219DE3409A8F}"/>
                </a:ext>
              </a:extLst>
            </p:cNvPr>
            <p:cNvSpPr txBox="1"/>
            <p:nvPr/>
          </p:nvSpPr>
          <p:spPr>
            <a:xfrm>
              <a:off x="3138761" y="1715726"/>
              <a:ext cx="601725" cy="24622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</a:pPr>
              <a:r>
                <a:rPr lang="en-US" altLang="zh-CN" sz="800" dirty="0">
                  <a:solidFill>
                    <a:prstClr val="black"/>
                  </a:solidFill>
                  <a:latin typeface="Arial" panose="020B0604020202020204" pitchFamily="34" charset="0"/>
                  <a:ea typeface="等线" panose="02010600030101010101" pitchFamily="2" charset="-122"/>
                  <a:cs typeface="Arial" panose="020B0604020202020204" pitchFamily="34" charset="0"/>
                </a:rPr>
                <a:t>Instruction</a:t>
              </a: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</a:pPr>
              <a:r>
                <a:rPr lang="en-US" altLang="zh-CN" sz="800" dirty="0">
                  <a:solidFill>
                    <a:prstClr val="black"/>
                  </a:solidFill>
                  <a:latin typeface="Arial" panose="020B0604020202020204" pitchFamily="34" charset="0"/>
                  <a:ea typeface="等线" panose="02010600030101010101" pitchFamily="2" charset="-122"/>
                  <a:cs typeface="Arial" panose="020B0604020202020204" pitchFamily="34" charset="0"/>
                </a:rPr>
                <a:t>Fetch</a:t>
              </a:r>
              <a:endParaRPr lang="zh-CN" altLang="en-US" sz="800" dirty="0">
                <a:solidFill>
                  <a:prstClr val="black"/>
                </a:solidFill>
                <a:latin typeface="Arial" panose="020B0604020202020204" pitchFamily="34" charset="0"/>
                <a:ea typeface="等线" panose="02010600030101010101" pitchFamily="2" charset="-122"/>
                <a:cs typeface="Arial" panose="020B0604020202020204" pitchFamily="34" charset="0"/>
              </a:endParaRPr>
            </a:p>
          </p:txBody>
        </p:sp>
        <p:sp>
          <p:nvSpPr>
            <p:cNvPr id="503" name="文本框 502">
              <a:extLst>
                <a:ext uri="{FF2B5EF4-FFF2-40B4-BE49-F238E27FC236}">
                  <a16:creationId xmlns:a16="http://schemas.microsoft.com/office/drawing/2014/main" id="{93EB23FF-A838-408B-A779-9CDAC1D99027}"/>
                </a:ext>
              </a:extLst>
            </p:cNvPr>
            <p:cNvSpPr txBox="1"/>
            <p:nvPr/>
          </p:nvSpPr>
          <p:spPr>
            <a:xfrm>
              <a:off x="3958890" y="1784740"/>
              <a:ext cx="334656" cy="12311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</a:pPr>
              <a:r>
                <a:rPr lang="en-US" altLang="zh-CN" sz="800" dirty="0">
                  <a:solidFill>
                    <a:prstClr val="black"/>
                  </a:solidFill>
                  <a:latin typeface="Arial" panose="020B0604020202020204" pitchFamily="34" charset="0"/>
                  <a:ea typeface="等线" panose="02010600030101010101" pitchFamily="2" charset="-122"/>
                  <a:cs typeface="Arial" panose="020B0604020202020204" pitchFamily="34" charset="0"/>
                </a:rPr>
                <a:t>Reg</a:t>
              </a:r>
              <a:endParaRPr lang="zh-CN" altLang="en-US" sz="800" dirty="0">
                <a:solidFill>
                  <a:prstClr val="black"/>
                </a:solidFill>
                <a:latin typeface="Arial" panose="020B0604020202020204" pitchFamily="34" charset="0"/>
                <a:ea typeface="等线" panose="02010600030101010101" pitchFamily="2" charset="-122"/>
                <a:cs typeface="Arial" panose="020B0604020202020204" pitchFamily="34" charset="0"/>
              </a:endParaRPr>
            </a:p>
          </p:txBody>
        </p:sp>
        <p:sp>
          <p:nvSpPr>
            <p:cNvPr id="504" name="文本框 503">
              <a:extLst>
                <a:ext uri="{FF2B5EF4-FFF2-40B4-BE49-F238E27FC236}">
                  <a16:creationId xmlns:a16="http://schemas.microsoft.com/office/drawing/2014/main" id="{88F7319A-256B-451C-BFCF-74EB18BF92F0}"/>
                </a:ext>
              </a:extLst>
            </p:cNvPr>
            <p:cNvSpPr txBox="1"/>
            <p:nvPr/>
          </p:nvSpPr>
          <p:spPr>
            <a:xfrm>
              <a:off x="4377821" y="1788879"/>
              <a:ext cx="334656" cy="12311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</a:pPr>
              <a:r>
                <a:rPr lang="en-US" altLang="zh-CN" sz="800" dirty="0">
                  <a:solidFill>
                    <a:prstClr val="black"/>
                  </a:solidFill>
                  <a:latin typeface="Arial" panose="020B0604020202020204" pitchFamily="34" charset="0"/>
                  <a:ea typeface="等线" panose="02010600030101010101" pitchFamily="2" charset="-122"/>
                  <a:cs typeface="Arial" panose="020B0604020202020204" pitchFamily="34" charset="0"/>
                </a:rPr>
                <a:t>ALU</a:t>
              </a:r>
              <a:endParaRPr lang="zh-CN" altLang="en-US" sz="800" dirty="0">
                <a:solidFill>
                  <a:prstClr val="black"/>
                </a:solidFill>
                <a:latin typeface="Arial" panose="020B0604020202020204" pitchFamily="34" charset="0"/>
                <a:ea typeface="等线" panose="02010600030101010101" pitchFamily="2" charset="-122"/>
                <a:cs typeface="Arial" panose="020B0604020202020204" pitchFamily="34" charset="0"/>
              </a:endParaRPr>
            </a:p>
          </p:txBody>
        </p:sp>
        <p:sp>
          <p:nvSpPr>
            <p:cNvPr id="505" name="文本框 504">
              <a:extLst>
                <a:ext uri="{FF2B5EF4-FFF2-40B4-BE49-F238E27FC236}">
                  <a16:creationId xmlns:a16="http://schemas.microsoft.com/office/drawing/2014/main" id="{0587DD7B-15E2-41ED-B335-6232CF95FF77}"/>
                </a:ext>
              </a:extLst>
            </p:cNvPr>
            <p:cNvSpPr txBox="1"/>
            <p:nvPr/>
          </p:nvSpPr>
          <p:spPr>
            <a:xfrm>
              <a:off x="4898062" y="1729496"/>
              <a:ext cx="390531" cy="24622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</a:pPr>
              <a:r>
                <a:rPr lang="en-US" altLang="zh-CN" sz="800" dirty="0">
                  <a:solidFill>
                    <a:prstClr val="black"/>
                  </a:solidFill>
                  <a:latin typeface="Arial" panose="020B0604020202020204" pitchFamily="34" charset="0"/>
                  <a:ea typeface="等线" panose="02010600030101010101" pitchFamily="2" charset="-122"/>
                  <a:cs typeface="Arial" panose="020B0604020202020204" pitchFamily="34" charset="0"/>
                </a:rPr>
                <a:t>Data</a:t>
              </a: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</a:pPr>
              <a:r>
                <a:rPr lang="en-US" altLang="zh-CN" sz="800" dirty="0">
                  <a:solidFill>
                    <a:prstClr val="black"/>
                  </a:solidFill>
                  <a:latin typeface="Arial" panose="020B0604020202020204" pitchFamily="34" charset="0"/>
                  <a:ea typeface="等线" panose="02010600030101010101" pitchFamily="2" charset="-122"/>
                  <a:cs typeface="Arial" panose="020B0604020202020204" pitchFamily="34" charset="0"/>
                </a:rPr>
                <a:t>access</a:t>
              </a:r>
              <a:endParaRPr lang="zh-CN" altLang="en-US" sz="800" dirty="0">
                <a:solidFill>
                  <a:prstClr val="black"/>
                </a:solidFill>
                <a:latin typeface="Arial" panose="020B0604020202020204" pitchFamily="34" charset="0"/>
                <a:ea typeface="等线" panose="02010600030101010101" pitchFamily="2" charset="-122"/>
                <a:cs typeface="Arial" panose="020B0604020202020204" pitchFamily="34" charset="0"/>
              </a:endParaRPr>
            </a:p>
          </p:txBody>
        </p:sp>
        <p:sp>
          <p:nvSpPr>
            <p:cNvPr id="506" name="文本框 505">
              <a:extLst>
                <a:ext uri="{FF2B5EF4-FFF2-40B4-BE49-F238E27FC236}">
                  <a16:creationId xmlns:a16="http://schemas.microsoft.com/office/drawing/2014/main" id="{3AF0DBE8-5131-4377-AC9A-FB095F837FDB}"/>
                </a:ext>
              </a:extLst>
            </p:cNvPr>
            <p:cNvSpPr txBox="1"/>
            <p:nvPr/>
          </p:nvSpPr>
          <p:spPr>
            <a:xfrm>
              <a:off x="5358762" y="1781886"/>
              <a:ext cx="334656" cy="12311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</a:pPr>
              <a:r>
                <a:rPr lang="en-US" altLang="zh-CN" sz="800" dirty="0">
                  <a:solidFill>
                    <a:prstClr val="black"/>
                  </a:solidFill>
                  <a:latin typeface="Arial" panose="020B0604020202020204" pitchFamily="34" charset="0"/>
                  <a:ea typeface="等线" panose="02010600030101010101" pitchFamily="2" charset="-122"/>
                  <a:cs typeface="Arial" panose="020B0604020202020204" pitchFamily="34" charset="0"/>
                </a:rPr>
                <a:t>Reg</a:t>
              </a:r>
              <a:endParaRPr lang="zh-CN" altLang="en-US" sz="800" dirty="0">
                <a:solidFill>
                  <a:prstClr val="black"/>
                </a:solidFill>
                <a:latin typeface="Arial" panose="020B0604020202020204" pitchFamily="34" charset="0"/>
                <a:ea typeface="等线" panose="02010600030101010101" pitchFamily="2" charset="-122"/>
                <a:cs typeface="Arial" panose="020B0604020202020204" pitchFamily="34" charset="0"/>
              </a:endParaRPr>
            </a:p>
          </p:txBody>
        </p:sp>
        <p:sp>
          <p:nvSpPr>
            <p:cNvPr id="507" name="文本框 506">
              <a:extLst>
                <a:ext uri="{FF2B5EF4-FFF2-40B4-BE49-F238E27FC236}">
                  <a16:creationId xmlns:a16="http://schemas.microsoft.com/office/drawing/2014/main" id="{20472F97-BF0B-46F0-9DA4-BF49C253DF07}"/>
                </a:ext>
              </a:extLst>
            </p:cNvPr>
            <p:cNvSpPr txBox="1"/>
            <p:nvPr/>
          </p:nvSpPr>
          <p:spPr>
            <a:xfrm>
              <a:off x="3697592" y="2110537"/>
              <a:ext cx="601725" cy="24622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</a:pPr>
              <a:r>
                <a:rPr lang="en-US" altLang="zh-CN" sz="800" dirty="0">
                  <a:solidFill>
                    <a:prstClr val="black"/>
                  </a:solidFill>
                  <a:latin typeface="Arial" panose="020B0604020202020204" pitchFamily="34" charset="0"/>
                  <a:ea typeface="等线" panose="02010600030101010101" pitchFamily="2" charset="-122"/>
                  <a:cs typeface="Arial" panose="020B0604020202020204" pitchFamily="34" charset="0"/>
                </a:rPr>
                <a:t>Instruction</a:t>
              </a: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</a:pPr>
              <a:r>
                <a:rPr lang="en-US" altLang="zh-CN" sz="800" dirty="0">
                  <a:solidFill>
                    <a:prstClr val="black"/>
                  </a:solidFill>
                  <a:latin typeface="Arial" panose="020B0604020202020204" pitchFamily="34" charset="0"/>
                  <a:ea typeface="等线" panose="02010600030101010101" pitchFamily="2" charset="-122"/>
                  <a:cs typeface="Arial" panose="020B0604020202020204" pitchFamily="34" charset="0"/>
                </a:rPr>
                <a:t>Fetch</a:t>
              </a:r>
              <a:endParaRPr lang="zh-CN" altLang="en-US" sz="800" dirty="0">
                <a:solidFill>
                  <a:prstClr val="black"/>
                </a:solidFill>
                <a:latin typeface="Arial" panose="020B0604020202020204" pitchFamily="34" charset="0"/>
                <a:ea typeface="等线" panose="02010600030101010101" pitchFamily="2" charset="-122"/>
                <a:cs typeface="Arial" panose="020B0604020202020204" pitchFamily="34" charset="0"/>
              </a:endParaRPr>
            </a:p>
          </p:txBody>
        </p:sp>
        <p:sp>
          <p:nvSpPr>
            <p:cNvPr id="508" name="文本框 507">
              <a:extLst>
                <a:ext uri="{FF2B5EF4-FFF2-40B4-BE49-F238E27FC236}">
                  <a16:creationId xmlns:a16="http://schemas.microsoft.com/office/drawing/2014/main" id="{B5F9D50F-61F1-414E-8A55-BEABF14E8597}"/>
                </a:ext>
              </a:extLst>
            </p:cNvPr>
            <p:cNvSpPr txBox="1"/>
            <p:nvPr/>
          </p:nvSpPr>
          <p:spPr>
            <a:xfrm>
              <a:off x="4517721" y="2179551"/>
              <a:ext cx="334656" cy="12311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</a:pPr>
              <a:r>
                <a:rPr lang="en-US" altLang="zh-CN" sz="800" dirty="0">
                  <a:solidFill>
                    <a:prstClr val="black"/>
                  </a:solidFill>
                  <a:latin typeface="Arial" panose="020B0604020202020204" pitchFamily="34" charset="0"/>
                  <a:ea typeface="等线" panose="02010600030101010101" pitchFamily="2" charset="-122"/>
                  <a:cs typeface="Arial" panose="020B0604020202020204" pitchFamily="34" charset="0"/>
                </a:rPr>
                <a:t>Reg</a:t>
              </a:r>
              <a:endParaRPr lang="zh-CN" altLang="en-US" sz="800" dirty="0">
                <a:solidFill>
                  <a:prstClr val="black"/>
                </a:solidFill>
                <a:latin typeface="Arial" panose="020B0604020202020204" pitchFamily="34" charset="0"/>
                <a:ea typeface="等线" panose="02010600030101010101" pitchFamily="2" charset="-122"/>
                <a:cs typeface="Arial" panose="020B0604020202020204" pitchFamily="34" charset="0"/>
              </a:endParaRPr>
            </a:p>
          </p:txBody>
        </p:sp>
        <p:sp>
          <p:nvSpPr>
            <p:cNvPr id="509" name="文本框 508">
              <a:extLst>
                <a:ext uri="{FF2B5EF4-FFF2-40B4-BE49-F238E27FC236}">
                  <a16:creationId xmlns:a16="http://schemas.microsoft.com/office/drawing/2014/main" id="{1380FAA3-FB8B-4F1F-9277-73BFEA413C9F}"/>
                </a:ext>
              </a:extLst>
            </p:cNvPr>
            <p:cNvSpPr txBox="1"/>
            <p:nvPr/>
          </p:nvSpPr>
          <p:spPr>
            <a:xfrm>
              <a:off x="4936652" y="2183690"/>
              <a:ext cx="334656" cy="12311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</a:pPr>
              <a:r>
                <a:rPr lang="en-US" altLang="zh-CN" sz="800" dirty="0">
                  <a:solidFill>
                    <a:prstClr val="black"/>
                  </a:solidFill>
                  <a:latin typeface="Arial" panose="020B0604020202020204" pitchFamily="34" charset="0"/>
                  <a:ea typeface="等线" panose="02010600030101010101" pitchFamily="2" charset="-122"/>
                  <a:cs typeface="Arial" panose="020B0604020202020204" pitchFamily="34" charset="0"/>
                </a:rPr>
                <a:t>ALU</a:t>
              </a:r>
              <a:endParaRPr lang="zh-CN" altLang="en-US" sz="800" dirty="0">
                <a:solidFill>
                  <a:prstClr val="black"/>
                </a:solidFill>
                <a:latin typeface="Arial" panose="020B0604020202020204" pitchFamily="34" charset="0"/>
                <a:ea typeface="等线" panose="02010600030101010101" pitchFamily="2" charset="-122"/>
                <a:cs typeface="Arial" panose="020B0604020202020204" pitchFamily="34" charset="0"/>
              </a:endParaRPr>
            </a:p>
          </p:txBody>
        </p:sp>
        <p:sp>
          <p:nvSpPr>
            <p:cNvPr id="510" name="文本框 509">
              <a:extLst>
                <a:ext uri="{FF2B5EF4-FFF2-40B4-BE49-F238E27FC236}">
                  <a16:creationId xmlns:a16="http://schemas.microsoft.com/office/drawing/2014/main" id="{F6628851-A69A-43BF-A676-DDD6B64C38A6}"/>
                </a:ext>
              </a:extLst>
            </p:cNvPr>
            <p:cNvSpPr txBox="1"/>
            <p:nvPr/>
          </p:nvSpPr>
          <p:spPr>
            <a:xfrm>
              <a:off x="5456893" y="2124307"/>
              <a:ext cx="390531" cy="24622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</a:pPr>
              <a:r>
                <a:rPr lang="en-US" altLang="zh-CN" sz="800" dirty="0">
                  <a:solidFill>
                    <a:prstClr val="black"/>
                  </a:solidFill>
                  <a:latin typeface="Arial" panose="020B0604020202020204" pitchFamily="34" charset="0"/>
                  <a:ea typeface="等线" panose="02010600030101010101" pitchFamily="2" charset="-122"/>
                  <a:cs typeface="Arial" panose="020B0604020202020204" pitchFamily="34" charset="0"/>
                </a:rPr>
                <a:t>Data</a:t>
              </a: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</a:pPr>
              <a:r>
                <a:rPr lang="en-US" altLang="zh-CN" sz="800" dirty="0">
                  <a:solidFill>
                    <a:prstClr val="black"/>
                  </a:solidFill>
                  <a:latin typeface="Arial" panose="020B0604020202020204" pitchFamily="34" charset="0"/>
                  <a:ea typeface="等线" panose="02010600030101010101" pitchFamily="2" charset="-122"/>
                  <a:cs typeface="Arial" panose="020B0604020202020204" pitchFamily="34" charset="0"/>
                </a:rPr>
                <a:t>access</a:t>
              </a:r>
              <a:endParaRPr lang="zh-CN" altLang="en-US" sz="800" dirty="0">
                <a:solidFill>
                  <a:prstClr val="black"/>
                </a:solidFill>
                <a:latin typeface="Arial" panose="020B0604020202020204" pitchFamily="34" charset="0"/>
                <a:ea typeface="等线" panose="02010600030101010101" pitchFamily="2" charset="-122"/>
                <a:cs typeface="Arial" panose="020B0604020202020204" pitchFamily="34" charset="0"/>
              </a:endParaRPr>
            </a:p>
          </p:txBody>
        </p:sp>
        <p:sp>
          <p:nvSpPr>
            <p:cNvPr id="511" name="文本框 510">
              <a:extLst>
                <a:ext uri="{FF2B5EF4-FFF2-40B4-BE49-F238E27FC236}">
                  <a16:creationId xmlns:a16="http://schemas.microsoft.com/office/drawing/2014/main" id="{54625218-B3AC-43CB-BEAD-43E1E3BD905A}"/>
                </a:ext>
              </a:extLst>
            </p:cNvPr>
            <p:cNvSpPr txBox="1"/>
            <p:nvPr/>
          </p:nvSpPr>
          <p:spPr>
            <a:xfrm>
              <a:off x="5917593" y="2176697"/>
              <a:ext cx="334656" cy="12311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</a:pPr>
              <a:r>
                <a:rPr lang="en-US" altLang="zh-CN" sz="800" dirty="0">
                  <a:solidFill>
                    <a:prstClr val="black"/>
                  </a:solidFill>
                  <a:latin typeface="Arial" panose="020B0604020202020204" pitchFamily="34" charset="0"/>
                  <a:ea typeface="等线" panose="02010600030101010101" pitchFamily="2" charset="-122"/>
                  <a:cs typeface="Arial" panose="020B0604020202020204" pitchFamily="34" charset="0"/>
                </a:rPr>
                <a:t>Reg</a:t>
              </a:r>
              <a:endParaRPr lang="zh-CN" altLang="en-US" sz="800" dirty="0">
                <a:solidFill>
                  <a:prstClr val="black"/>
                </a:solidFill>
                <a:latin typeface="Arial" panose="020B0604020202020204" pitchFamily="34" charset="0"/>
                <a:ea typeface="等线" panose="02010600030101010101" pitchFamily="2" charset="-122"/>
                <a:cs typeface="Arial" panose="020B0604020202020204" pitchFamily="34" charset="0"/>
              </a:endParaRPr>
            </a:p>
          </p:txBody>
        </p:sp>
        <p:sp>
          <p:nvSpPr>
            <p:cNvPr id="512" name="文本框 511">
              <a:extLst>
                <a:ext uri="{FF2B5EF4-FFF2-40B4-BE49-F238E27FC236}">
                  <a16:creationId xmlns:a16="http://schemas.microsoft.com/office/drawing/2014/main" id="{6D090172-1727-4174-AA30-864BC5456FFB}"/>
                </a:ext>
              </a:extLst>
            </p:cNvPr>
            <p:cNvSpPr txBox="1"/>
            <p:nvPr/>
          </p:nvSpPr>
          <p:spPr>
            <a:xfrm>
              <a:off x="4239857" y="2522008"/>
              <a:ext cx="601725" cy="24622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</a:pPr>
              <a:r>
                <a:rPr lang="en-US" altLang="zh-CN" sz="800" dirty="0">
                  <a:solidFill>
                    <a:prstClr val="black"/>
                  </a:solidFill>
                  <a:latin typeface="Arial" panose="020B0604020202020204" pitchFamily="34" charset="0"/>
                  <a:ea typeface="等线" panose="02010600030101010101" pitchFamily="2" charset="-122"/>
                  <a:cs typeface="Arial" panose="020B0604020202020204" pitchFamily="34" charset="0"/>
                </a:rPr>
                <a:t>Instruction</a:t>
              </a: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</a:pPr>
              <a:r>
                <a:rPr lang="en-US" altLang="zh-CN" sz="800" dirty="0">
                  <a:solidFill>
                    <a:prstClr val="black"/>
                  </a:solidFill>
                  <a:latin typeface="Arial" panose="020B0604020202020204" pitchFamily="34" charset="0"/>
                  <a:ea typeface="等线" panose="02010600030101010101" pitchFamily="2" charset="-122"/>
                  <a:cs typeface="Arial" panose="020B0604020202020204" pitchFamily="34" charset="0"/>
                </a:rPr>
                <a:t>Fetch</a:t>
              </a:r>
              <a:endParaRPr lang="zh-CN" altLang="en-US" sz="800" dirty="0">
                <a:solidFill>
                  <a:prstClr val="black"/>
                </a:solidFill>
                <a:latin typeface="Arial" panose="020B0604020202020204" pitchFamily="34" charset="0"/>
                <a:ea typeface="等线" panose="02010600030101010101" pitchFamily="2" charset="-122"/>
                <a:cs typeface="Arial" panose="020B0604020202020204" pitchFamily="34" charset="0"/>
              </a:endParaRPr>
            </a:p>
          </p:txBody>
        </p:sp>
        <p:sp>
          <p:nvSpPr>
            <p:cNvPr id="513" name="文本框 512">
              <a:extLst>
                <a:ext uri="{FF2B5EF4-FFF2-40B4-BE49-F238E27FC236}">
                  <a16:creationId xmlns:a16="http://schemas.microsoft.com/office/drawing/2014/main" id="{BB534A94-97E7-4145-A375-8BFB3D0FA889}"/>
                </a:ext>
              </a:extLst>
            </p:cNvPr>
            <p:cNvSpPr txBox="1"/>
            <p:nvPr/>
          </p:nvSpPr>
          <p:spPr>
            <a:xfrm>
              <a:off x="5059986" y="2591022"/>
              <a:ext cx="334656" cy="12311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</a:pPr>
              <a:r>
                <a:rPr lang="en-US" altLang="zh-CN" sz="800" dirty="0">
                  <a:solidFill>
                    <a:prstClr val="black"/>
                  </a:solidFill>
                  <a:latin typeface="Arial" panose="020B0604020202020204" pitchFamily="34" charset="0"/>
                  <a:ea typeface="等线" panose="02010600030101010101" pitchFamily="2" charset="-122"/>
                  <a:cs typeface="Arial" panose="020B0604020202020204" pitchFamily="34" charset="0"/>
                </a:rPr>
                <a:t>Reg</a:t>
              </a:r>
              <a:endParaRPr lang="zh-CN" altLang="en-US" sz="800" dirty="0">
                <a:solidFill>
                  <a:prstClr val="black"/>
                </a:solidFill>
                <a:latin typeface="Arial" panose="020B0604020202020204" pitchFamily="34" charset="0"/>
                <a:ea typeface="等线" panose="02010600030101010101" pitchFamily="2" charset="-122"/>
                <a:cs typeface="Arial" panose="020B0604020202020204" pitchFamily="34" charset="0"/>
              </a:endParaRPr>
            </a:p>
          </p:txBody>
        </p:sp>
        <p:sp>
          <p:nvSpPr>
            <p:cNvPr id="514" name="文本框 513">
              <a:extLst>
                <a:ext uri="{FF2B5EF4-FFF2-40B4-BE49-F238E27FC236}">
                  <a16:creationId xmlns:a16="http://schemas.microsoft.com/office/drawing/2014/main" id="{328AAD5D-8C2D-4A6F-94C5-2CA9C352EA1A}"/>
                </a:ext>
              </a:extLst>
            </p:cNvPr>
            <p:cNvSpPr txBox="1"/>
            <p:nvPr/>
          </p:nvSpPr>
          <p:spPr>
            <a:xfrm>
              <a:off x="5478917" y="2595161"/>
              <a:ext cx="334656" cy="12311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</a:pPr>
              <a:r>
                <a:rPr lang="en-US" altLang="zh-CN" sz="800" dirty="0">
                  <a:solidFill>
                    <a:prstClr val="black"/>
                  </a:solidFill>
                  <a:latin typeface="Arial" panose="020B0604020202020204" pitchFamily="34" charset="0"/>
                  <a:ea typeface="等线" panose="02010600030101010101" pitchFamily="2" charset="-122"/>
                  <a:cs typeface="Arial" panose="020B0604020202020204" pitchFamily="34" charset="0"/>
                </a:rPr>
                <a:t>ALU</a:t>
              </a:r>
              <a:endParaRPr lang="zh-CN" altLang="en-US" sz="800" dirty="0">
                <a:solidFill>
                  <a:prstClr val="black"/>
                </a:solidFill>
                <a:latin typeface="Arial" panose="020B0604020202020204" pitchFamily="34" charset="0"/>
                <a:ea typeface="等线" panose="02010600030101010101" pitchFamily="2" charset="-122"/>
                <a:cs typeface="Arial" panose="020B0604020202020204" pitchFamily="34" charset="0"/>
              </a:endParaRPr>
            </a:p>
          </p:txBody>
        </p:sp>
        <p:sp>
          <p:nvSpPr>
            <p:cNvPr id="515" name="文本框 514">
              <a:extLst>
                <a:ext uri="{FF2B5EF4-FFF2-40B4-BE49-F238E27FC236}">
                  <a16:creationId xmlns:a16="http://schemas.microsoft.com/office/drawing/2014/main" id="{6C1CA202-C236-4EA5-9747-6B6059BD5593}"/>
                </a:ext>
              </a:extLst>
            </p:cNvPr>
            <p:cNvSpPr txBox="1"/>
            <p:nvPr/>
          </p:nvSpPr>
          <p:spPr>
            <a:xfrm>
              <a:off x="5999158" y="2535778"/>
              <a:ext cx="390531" cy="24622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</a:pPr>
              <a:r>
                <a:rPr lang="en-US" altLang="zh-CN" sz="800" dirty="0">
                  <a:solidFill>
                    <a:prstClr val="black"/>
                  </a:solidFill>
                  <a:latin typeface="Arial" panose="020B0604020202020204" pitchFamily="34" charset="0"/>
                  <a:ea typeface="等线" panose="02010600030101010101" pitchFamily="2" charset="-122"/>
                  <a:cs typeface="Arial" panose="020B0604020202020204" pitchFamily="34" charset="0"/>
                </a:rPr>
                <a:t>Data</a:t>
              </a: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</a:pPr>
              <a:r>
                <a:rPr lang="en-US" altLang="zh-CN" sz="800" dirty="0">
                  <a:solidFill>
                    <a:prstClr val="black"/>
                  </a:solidFill>
                  <a:latin typeface="Arial" panose="020B0604020202020204" pitchFamily="34" charset="0"/>
                  <a:ea typeface="等线" panose="02010600030101010101" pitchFamily="2" charset="-122"/>
                  <a:cs typeface="Arial" panose="020B0604020202020204" pitchFamily="34" charset="0"/>
                </a:rPr>
                <a:t>access</a:t>
              </a:r>
              <a:endParaRPr lang="zh-CN" altLang="en-US" sz="800" dirty="0">
                <a:solidFill>
                  <a:prstClr val="black"/>
                </a:solidFill>
                <a:latin typeface="Arial" panose="020B0604020202020204" pitchFamily="34" charset="0"/>
                <a:ea typeface="等线" panose="02010600030101010101" pitchFamily="2" charset="-122"/>
                <a:cs typeface="Arial" panose="020B0604020202020204" pitchFamily="34" charset="0"/>
              </a:endParaRPr>
            </a:p>
          </p:txBody>
        </p:sp>
        <p:sp>
          <p:nvSpPr>
            <p:cNvPr id="516" name="文本框 515">
              <a:extLst>
                <a:ext uri="{FF2B5EF4-FFF2-40B4-BE49-F238E27FC236}">
                  <a16:creationId xmlns:a16="http://schemas.microsoft.com/office/drawing/2014/main" id="{1580F7E3-5D79-46AB-9AF7-E57722D9E05E}"/>
                </a:ext>
              </a:extLst>
            </p:cNvPr>
            <p:cNvSpPr txBox="1"/>
            <p:nvPr/>
          </p:nvSpPr>
          <p:spPr>
            <a:xfrm>
              <a:off x="6459858" y="2588168"/>
              <a:ext cx="334656" cy="12311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</a:pPr>
              <a:r>
                <a:rPr lang="en-US" altLang="zh-CN" sz="800" dirty="0">
                  <a:solidFill>
                    <a:prstClr val="black"/>
                  </a:solidFill>
                  <a:latin typeface="Arial" panose="020B0604020202020204" pitchFamily="34" charset="0"/>
                  <a:ea typeface="等线" panose="02010600030101010101" pitchFamily="2" charset="-122"/>
                  <a:cs typeface="Arial" panose="020B0604020202020204" pitchFamily="34" charset="0"/>
                </a:rPr>
                <a:t>Reg</a:t>
              </a:r>
              <a:endParaRPr lang="zh-CN" altLang="en-US" sz="800" dirty="0">
                <a:solidFill>
                  <a:prstClr val="black"/>
                </a:solidFill>
                <a:latin typeface="Arial" panose="020B0604020202020204" pitchFamily="34" charset="0"/>
                <a:ea typeface="等线" panose="02010600030101010101" pitchFamily="2" charset="-122"/>
                <a:cs typeface="Arial" panose="020B0604020202020204" pitchFamily="34" charset="0"/>
              </a:endParaRPr>
            </a:p>
          </p:txBody>
        </p:sp>
        <p:sp>
          <p:nvSpPr>
            <p:cNvPr id="517" name="文本框 516">
              <a:extLst>
                <a:ext uri="{FF2B5EF4-FFF2-40B4-BE49-F238E27FC236}">
                  <a16:creationId xmlns:a16="http://schemas.microsoft.com/office/drawing/2014/main" id="{42F0806F-1B32-4DEF-BD94-672E218E5F9F}"/>
                </a:ext>
              </a:extLst>
            </p:cNvPr>
            <p:cNvSpPr txBox="1"/>
            <p:nvPr/>
          </p:nvSpPr>
          <p:spPr>
            <a:xfrm>
              <a:off x="3811235" y="2640647"/>
              <a:ext cx="334656" cy="15388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</a:pPr>
              <a:r>
                <a:rPr lang="en-US" altLang="zh-CN" sz="1000" dirty="0">
                  <a:solidFill>
                    <a:srgbClr val="ED7D31"/>
                  </a:solidFill>
                  <a:latin typeface="Arial" panose="020B0604020202020204" pitchFamily="34" charset="0"/>
                  <a:ea typeface="等线" panose="02010600030101010101" pitchFamily="2" charset="-122"/>
                  <a:cs typeface="Arial" panose="020B0604020202020204" pitchFamily="34" charset="0"/>
                </a:rPr>
                <a:t>2ns</a:t>
              </a:r>
              <a:endParaRPr lang="zh-CN" altLang="en-US" sz="1000" dirty="0">
                <a:solidFill>
                  <a:srgbClr val="ED7D31"/>
                </a:solidFill>
                <a:latin typeface="Arial" panose="020B0604020202020204" pitchFamily="34" charset="0"/>
                <a:ea typeface="等线" panose="02010600030101010101" pitchFamily="2" charset="-122"/>
                <a:cs typeface="Arial" panose="020B0604020202020204" pitchFamily="34" charset="0"/>
              </a:endParaRPr>
            </a:p>
          </p:txBody>
        </p:sp>
        <p:sp>
          <p:nvSpPr>
            <p:cNvPr id="518" name="文本框 517">
              <a:extLst>
                <a:ext uri="{FF2B5EF4-FFF2-40B4-BE49-F238E27FC236}">
                  <a16:creationId xmlns:a16="http://schemas.microsoft.com/office/drawing/2014/main" id="{E329A672-2E7A-4B8F-B1CF-192851EB8DA8}"/>
                </a:ext>
              </a:extLst>
            </p:cNvPr>
            <p:cNvSpPr txBox="1"/>
            <p:nvPr/>
          </p:nvSpPr>
          <p:spPr>
            <a:xfrm>
              <a:off x="4373391" y="2949515"/>
              <a:ext cx="334656" cy="15388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</a:pPr>
              <a:r>
                <a:rPr lang="en-US" altLang="zh-CN" sz="1000" dirty="0">
                  <a:solidFill>
                    <a:prstClr val="black"/>
                  </a:solidFill>
                  <a:latin typeface="Arial" panose="020B0604020202020204" pitchFamily="34" charset="0"/>
                  <a:ea typeface="等线" panose="02010600030101010101" pitchFamily="2" charset="-122"/>
                  <a:cs typeface="Arial" panose="020B0604020202020204" pitchFamily="34" charset="0"/>
                </a:rPr>
                <a:t>2ns</a:t>
              </a:r>
              <a:endParaRPr lang="zh-CN" altLang="en-US" sz="1000" dirty="0">
                <a:solidFill>
                  <a:prstClr val="black"/>
                </a:solidFill>
                <a:latin typeface="Arial" panose="020B0604020202020204" pitchFamily="34" charset="0"/>
                <a:ea typeface="等线" panose="02010600030101010101" pitchFamily="2" charset="-122"/>
                <a:cs typeface="Arial" panose="020B0604020202020204" pitchFamily="34" charset="0"/>
              </a:endParaRPr>
            </a:p>
          </p:txBody>
        </p:sp>
        <p:cxnSp>
          <p:nvCxnSpPr>
            <p:cNvPr id="519" name="直接箭头连接符 518">
              <a:extLst>
                <a:ext uri="{FF2B5EF4-FFF2-40B4-BE49-F238E27FC236}">
                  <a16:creationId xmlns:a16="http://schemas.microsoft.com/office/drawing/2014/main" id="{0640795C-8DE2-48EB-A9F4-07F2467C2BF1}"/>
                </a:ext>
              </a:extLst>
            </p:cNvPr>
            <p:cNvCxnSpPr>
              <a:cxnSpLocks/>
            </p:cNvCxnSpPr>
            <p:nvPr/>
          </p:nvCxnSpPr>
          <p:spPr>
            <a:xfrm>
              <a:off x="4257027" y="2917296"/>
              <a:ext cx="566103" cy="0"/>
            </a:xfrm>
            <a:prstGeom prst="straightConnector1">
              <a:avLst/>
            </a:prstGeom>
            <a:noFill/>
            <a:ln w="12700" cap="flat" cmpd="sng" algn="ctr">
              <a:solidFill>
                <a:sysClr val="windowText" lastClr="000000"/>
              </a:solidFill>
              <a:prstDash val="solid"/>
              <a:miter lim="800000"/>
              <a:headEnd type="triangle"/>
              <a:tailEnd type="triangle"/>
            </a:ln>
            <a:effectLst/>
          </p:spPr>
        </p:cxnSp>
        <p:cxnSp>
          <p:nvCxnSpPr>
            <p:cNvPr id="520" name="直接箭头连接符 519">
              <a:extLst>
                <a:ext uri="{FF2B5EF4-FFF2-40B4-BE49-F238E27FC236}">
                  <a16:creationId xmlns:a16="http://schemas.microsoft.com/office/drawing/2014/main" id="{B731C49C-5939-4490-AE2E-94D1FAC88ADE}"/>
                </a:ext>
              </a:extLst>
            </p:cNvPr>
            <p:cNvCxnSpPr>
              <a:cxnSpLocks/>
            </p:cNvCxnSpPr>
            <p:nvPr/>
          </p:nvCxnSpPr>
          <p:spPr>
            <a:xfrm>
              <a:off x="3150539" y="2218837"/>
              <a:ext cx="566103" cy="0"/>
            </a:xfrm>
            <a:prstGeom prst="straightConnector1">
              <a:avLst/>
            </a:prstGeom>
            <a:noFill/>
            <a:ln w="12700" cap="flat" cmpd="sng" algn="ctr">
              <a:solidFill>
                <a:sysClr val="windowText" lastClr="000000"/>
              </a:solidFill>
              <a:prstDash val="solid"/>
              <a:miter lim="800000"/>
              <a:headEnd type="triangle"/>
              <a:tailEnd type="triangle"/>
            </a:ln>
            <a:effectLst/>
          </p:spPr>
        </p:cxnSp>
        <p:cxnSp>
          <p:nvCxnSpPr>
            <p:cNvPr id="521" name="直接箭头连接符 520">
              <a:extLst>
                <a:ext uri="{FF2B5EF4-FFF2-40B4-BE49-F238E27FC236}">
                  <a16:creationId xmlns:a16="http://schemas.microsoft.com/office/drawing/2014/main" id="{4A4C1AE4-C089-466A-870A-735670F82ED5}"/>
                </a:ext>
              </a:extLst>
            </p:cNvPr>
            <p:cNvCxnSpPr>
              <a:cxnSpLocks/>
            </p:cNvCxnSpPr>
            <p:nvPr/>
          </p:nvCxnSpPr>
          <p:spPr>
            <a:xfrm>
              <a:off x="3700767" y="2640647"/>
              <a:ext cx="566103" cy="0"/>
            </a:xfrm>
            <a:prstGeom prst="straightConnector1">
              <a:avLst/>
            </a:prstGeom>
            <a:noFill/>
            <a:ln w="12700" cap="flat" cmpd="sng" algn="ctr">
              <a:solidFill>
                <a:srgbClr val="ED7D31"/>
              </a:solidFill>
              <a:prstDash val="solid"/>
              <a:miter lim="800000"/>
              <a:headEnd type="triangle"/>
              <a:tailEnd type="triangle"/>
            </a:ln>
            <a:effectLst/>
          </p:spPr>
        </p:cxnSp>
        <p:sp>
          <p:nvSpPr>
            <p:cNvPr id="522" name="文本框 521">
              <a:extLst>
                <a:ext uri="{FF2B5EF4-FFF2-40B4-BE49-F238E27FC236}">
                  <a16:creationId xmlns:a16="http://schemas.microsoft.com/office/drawing/2014/main" id="{8C88C15E-88BE-49CF-933A-5C83FD1F0A25}"/>
                </a:ext>
              </a:extLst>
            </p:cNvPr>
            <p:cNvSpPr txBox="1"/>
            <p:nvPr/>
          </p:nvSpPr>
          <p:spPr>
            <a:xfrm>
              <a:off x="1953977" y="2527520"/>
              <a:ext cx="1084996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</a:pPr>
              <a:r>
                <a:rPr lang="en-US" altLang="zh-CN" sz="1000" dirty="0" err="1">
                  <a:solidFill>
                    <a:prstClr val="black"/>
                  </a:solidFill>
                  <a:latin typeface="Arial" panose="020B0604020202020204" pitchFamily="34" charset="0"/>
                  <a:ea typeface="等线" panose="02010600030101010101" pitchFamily="2" charset="-122"/>
                  <a:cs typeface="Arial" panose="020B0604020202020204" pitchFamily="34" charset="0"/>
                </a:rPr>
                <a:t>lw</a:t>
              </a:r>
              <a:r>
                <a:rPr lang="en-US" altLang="zh-CN" sz="1000" dirty="0">
                  <a:solidFill>
                    <a:prstClr val="black"/>
                  </a:solidFill>
                  <a:latin typeface="Arial" panose="020B0604020202020204" pitchFamily="34" charset="0"/>
                  <a:ea typeface="等线" panose="02010600030101010101" pitchFamily="2" charset="-122"/>
                  <a:cs typeface="Arial" panose="020B0604020202020204" pitchFamily="34" charset="0"/>
                </a:rPr>
                <a:t> $3, 300($0)</a:t>
              </a:r>
              <a:endParaRPr lang="zh-CN" altLang="en-US" sz="1000" dirty="0">
                <a:solidFill>
                  <a:prstClr val="black"/>
                </a:solidFill>
                <a:latin typeface="Arial" panose="020B0604020202020204" pitchFamily="34" charset="0"/>
                <a:ea typeface="等线" panose="02010600030101010101" pitchFamily="2" charset="-122"/>
                <a:cs typeface="Arial" panose="020B0604020202020204" pitchFamily="34" charset="0"/>
              </a:endParaRPr>
            </a:p>
          </p:txBody>
        </p:sp>
        <p:sp>
          <p:nvSpPr>
            <p:cNvPr id="523" name="文本框 522">
              <a:extLst>
                <a:ext uri="{FF2B5EF4-FFF2-40B4-BE49-F238E27FC236}">
                  <a16:creationId xmlns:a16="http://schemas.microsoft.com/office/drawing/2014/main" id="{58FB906D-D869-4534-9120-4FF9F587837B}"/>
                </a:ext>
              </a:extLst>
            </p:cNvPr>
            <p:cNvSpPr txBox="1"/>
            <p:nvPr/>
          </p:nvSpPr>
          <p:spPr>
            <a:xfrm>
              <a:off x="1868767" y="1014043"/>
              <a:ext cx="1084996" cy="70788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</a:pPr>
              <a:r>
                <a:rPr lang="en-US" altLang="zh-CN" sz="1000" dirty="0">
                  <a:solidFill>
                    <a:prstClr val="black"/>
                  </a:solidFill>
                  <a:latin typeface="Arial" panose="020B0604020202020204" pitchFamily="34" charset="0"/>
                  <a:ea typeface="等线" panose="02010600030101010101" pitchFamily="2" charset="-122"/>
                  <a:cs typeface="Arial" panose="020B0604020202020204" pitchFamily="34" charset="0"/>
                </a:rPr>
                <a:t>Program</a:t>
              </a:r>
            </a:p>
            <a:p>
              <a:pPr fontAlgn="auto">
                <a:spcBef>
                  <a:spcPts val="0"/>
                </a:spcBef>
                <a:spcAft>
                  <a:spcPts val="0"/>
                </a:spcAft>
              </a:pPr>
              <a:r>
                <a:rPr lang="en-US" altLang="zh-CN" sz="1000" dirty="0">
                  <a:solidFill>
                    <a:prstClr val="black"/>
                  </a:solidFill>
                  <a:latin typeface="Arial" panose="020B0604020202020204" pitchFamily="34" charset="0"/>
                  <a:ea typeface="等线" panose="02010600030101010101" pitchFamily="2" charset="-122"/>
                  <a:cs typeface="Arial" panose="020B0604020202020204" pitchFamily="34" charset="0"/>
                </a:rPr>
                <a:t>Execution</a:t>
              </a:r>
            </a:p>
            <a:p>
              <a:pPr fontAlgn="auto">
                <a:spcBef>
                  <a:spcPts val="0"/>
                </a:spcBef>
                <a:spcAft>
                  <a:spcPts val="0"/>
                </a:spcAft>
              </a:pPr>
              <a:r>
                <a:rPr lang="en-US" altLang="zh-CN" sz="1000" dirty="0">
                  <a:solidFill>
                    <a:prstClr val="black"/>
                  </a:solidFill>
                  <a:latin typeface="Arial" panose="020B0604020202020204" pitchFamily="34" charset="0"/>
                  <a:ea typeface="等线" panose="02010600030101010101" pitchFamily="2" charset="-122"/>
                  <a:cs typeface="Arial" panose="020B0604020202020204" pitchFamily="34" charset="0"/>
                </a:rPr>
                <a:t>Order</a:t>
              </a:r>
            </a:p>
            <a:p>
              <a:pPr fontAlgn="auto">
                <a:spcBef>
                  <a:spcPts val="0"/>
                </a:spcBef>
                <a:spcAft>
                  <a:spcPts val="0"/>
                </a:spcAft>
              </a:pPr>
              <a:r>
                <a:rPr lang="en-US" altLang="zh-CN" sz="1000" dirty="0">
                  <a:solidFill>
                    <a:prstClr val="black"/>
                  </a:solidFill>
                  <a:latin typeface="Arial" panose="020B0604020202020204" pitchFamily="34" charset="0"/>
                  <a:ea typeface="等线" panose="02010600030101010101" pitchFamily="2" charset="-122"/>
                  <a:cs typeface="Arial" panose="020B0604020202020204" pitchFamily="34" charset="0"/>
                </a:rPr>
                <a:t>(in instructions)</a:t>
              </a:r>
              <a:endParaRPr lang="zh-CN" altLang="en-US" sz="1000" dirty="0">
                <a:solidFill>
                  <a:prstClr val="black"/>
                </a:solidFill>
                <a:latin typeface="Arial" panose="020B0604020202020204" pitchFamily="34" charset="0"/>
                <a:ea typeface="等线" panose="02010600030101010101" pitchFamily="2" charset="-122"/>
                <a:cs typeface="Arial" panose="020B0604020202020204" pitchFamily="34" charset="0"/>
              </a:endParaRPr>
            </a:p>
          </p:txBody>
        </p:sp>
        <p:sp>
          <p:nvSpPr>
            <p:cNvPr id="524" name="Freeform 22">
              <a:extLst>
                <a:ext uri="{FF2B5EF4-FFF2-40B4-BE49-F238E27FC236}">
                  <a16:creationId xmlns:a16="http://schemas.microsoft.com/office/drawing/2014/main" id="{14609C70-D45C-442B-939C-54CFB5A8722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2605" y="3755916"/>
              <a:ext cx="554038" cy="395288"/>
            </a:xfrm>
            <a:custGeom>
              <a:avLst/>
              <a:gdLst>
                <a:gd name="T0" fmla="*/ 347 w 349"/>
                <a:gd name="T1" fmla="*/ 247 h 249"/>
                <a:gd name="T2" fmla="*/ 349 w 349"/>
                <a:gd name="T3" fmla="*/ 0 h 249"/>
                <a:gd name="T4" fmla="*/ 0 w 349"/>
                <a:gd name="T5" fmla="*/ 0 h 249"/>
                <a:gd name="T6" fmla="*/ 0 w 349"/>
                <a:gd name="T7" fmla="*/ 249 h 249"/>
                <a:gd name="T8" fmla="*/ 349 w 349"/>
                <a:gd name="T9" fmla="*/ 249 h 249"/>
                <a:gd name="T10" fmla="*/ 349 w 349"/>
                <a:gd name="T11" fmla="*/ 249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49" h="249">
                  <a:moveTo>
                    <a:pt x="347" y="247"/>
                  </a:moveTo>
                  <a:lnTo>
                    <a:pt x="349" y="0"/>
                  </a:lnTo>
                  <a:lnTo>
                    <a:pt x="0" y="0"/>
                  </a:lnTo>
                  <a:lnTo>
                    <a:pt x="0" y="249"/>
                  </a:lnTo>
                  <a:lnTo>
                    <a:pt x="349" y="249"/>
                  </a:lnTo>
                  <a:lnTo>
                    <a:pt x="349" y="249"/>
                  </a:lnTo>
                </a:path>
              </a:pathLst>
            </a:custGeom>
            <a:noFill/>
            <a:ln w="14288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</a:pPr>
              <a:endParaRPr lang="zh-CN" altLang="en-US">
                <a:solidFill>
                  <a:prstClr val="black"/>
                </a:solidFill>
                <a:latin typeface="Arial" panose="020B0604020202020204" pitchFamily="34" charset="0"/>
                <a:ea typeface="等线" panose="02010600030101010101" pitchFamily="2" charset="-122"/>
                <a:cs typeface="Arial" panose="020B0604020202020204" pitchFamily="34" charset="0"/>
              </a:endParaRPr>
            </a:p>
          </p:txBody>
        </p:sp>
        <p:sp>
          <p:nvSpPr>
            <p:cNvPr id="525" name="Freeform 26">
              <a:extLst>
                <a:ext uri="{FF2B5EF4-FFF2-40B4-BE49-F238E27FC236}">
                  <a16:creationId xmlns:a16="http://schemas.microsoft.com/office/drawing/2014/main" id="{4F460E25-306D-46C9-9892-B634B9787D6A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2867" y="3755916"/>
              <a:ext cx="277813" cy="395288"/>
            </a:xfrm>
            <a:custGeom>
              <a:avLst/>
              <a:gdLst>
                <a:gd name="T0" fmla="*/ 175 w 175"/>
                <a:gd name="T1" fmla="*/ 247 h 249"/>
                <a:gd name="T2" fmla="*/ 175 w 175"/>
                <a:gd name="T3" fmla="*/ 0 h 249"/>
                <a:gd name="T4" fmla="*/ 0 w 175"/>
                <a:gd name="T5" fmla="*/ 0 h 249"/>
                <a:gd name="T6" fmla="*/ 0 w 175"/>
                <a:gd name="T7" fmla="*/ 249 h 249"/>
                <a:gd name="T8" fmla="*/ 175 w 175"/>
                <a:gd name="T9" fmla="*/ 249 h 249"/>
                <a:gd name="T10" fmla="*/ 175 w 175"/>
                <a:gd name="T11" fmla="*/ 249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75" h="249">
                  <a:moveTo>
                    <a:pt x="175" y="247"/>
                  </a:moveTo>
                  <a:lnTo>
                    <a:pt x="175" y="0"/>
                  </a:lnTo>
                  <a:lnTo>
                    <a:pt x="0" y="0"/>
                  </a:lnTo>
                  <a:lnTo>
                    <a:pt x="0" y="249"/>
                  </a:lnTo>
                  <a:lnTo>
                    <a:pt x="175" y="249"/>
                  </a:lnTo>
                  <a:lnTo>
                    <a:pt x="175" y="249"/>
                  </a:lnTo>
                </a:path>
              </a:pathLst>
            </a:custGeom>
            <a:noFill/>
            <a:ln w="14288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</a:pPr>
              <a:endParaRPr lang="zh-CN" altLang="en-US">
                <a:solidFill>
                  <a:prstClr val="black"/>
                </a:solidFill>
                <a:latin typeface="Arial" panose="020B0604020202020204" pitchFamily="34" charset="0"/>
                <a:ea typeface="等线" panose="02010600030101010101" pitchFamily="2" charset="-122"/>
                <a:cs typeface="Arial" panose="020B0604020202020204" pitchFamily="34" charset="0"/>
              </a:endParaRPr>
            </a:p>
          </p:txBody>
        </p:sp>
        <p:sp>
          <p:nvSpPr>
            <p:cNvPr id="526" name="Freeform 30">
              <a:extLst>
                <a:ext uri="{FF2B5EF4-FFF2-40B4-BE49-F238E27FC236}">
                  <a16:creationId xmlns:a16="http://schemas.microsoft.com/office/drawing/2014/main" id="{8D11FB63-8F19-480D-8064-058E75E8839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3855" y="3755916"/>
              <a:ext cx="554038" cy="395288"/>
            </a:xfrm>
            <a:custGeom>
              <a:avLst/>
              <a:gdLst>
                <a:gd name="T0" fmla="*/ 349 w 349"/>
                <a:gd name="T1" fmla="*/ 247 h 249"/>
                <a:gd name="T2" fmla="*/ 349 w 349"/>
                <a:gd name="T3" fmla="*/ 0 h 249"/>
                <a:gd name="T4" fmla="*/ 0 w 349"/>
                <a:gd name="T5" fmla="*/ 0 h 249"/>
                <a:gd name="T6" fmla="*/ 0 w 349"/>
                <a:gd name="T7" fmla="*/ 249 h 249"/>
                <a:gd name="T8" fmla="*/ 349 w 349"/>
                <a:gd name="T9" fmla="*/ 249 h 249"/>
                <a:gd name="T10" fmla="*/ 349 w 349"/>
                <a:gd name="T11" fmla="*/ 249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49" h="249">
                  <a:moveTo>
                    <a:pt x="349" y="247"/>
                  </a:moveTo>
                  <a:lnTo>
                    <a:pt x="349" y="0"/>
                  </a:lnTo>
                  <a:lnTo>
                    <a:pt x="0" y="0"/>
                  </a:lnTo>
                  <a:lnTo>
                    <a:pt x="0" y="249"/>
                  </a:lnTo>
                  <a:lnTo>
                    <a:pt x="349" y="249"/>
                  </a:lnTo>
                  <a:lnTo>
                    <a:pt x="349" y="249"/>
                  </a:lnTo>
                </a:path>
              </a:pathLst>
            </a:custGeom>
            <a:noFill/>
            <a:ln w="14288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</a:pPr>
              <a:endParaRPr lang="zh-CN" altLang="en-US">
                <a:solidFill>
                  <a:prstClr val="black"/>
                </a:solidFill>
                <a:latin typeface="Arial" panose="020B0604020202020204" pitchFamily="34" charset="0"/>
                <a:ea typeface="等线" panose="02010600030101010101" pitchFamily="2" charset="-122"/>
                <a:cs typeface="Arial" panose="020B0604020202020204" pitchFamily="34" charset="0"/>
              </a:endParaRPr>
            </a:p>
          </p:txBody>
        </p:sp>
        <p:sp>
          <p:nvSpPr>
            <p:cNvPr id="527" name="Freeform 42">
              <a:extLst>
                <a:ext uri="{FF2B5EF4-FFF2-40B4-BE49-F238E27FC236}">
                  <a16:creationId xmlns:a16="http://schemas.microsoft.com/office/drawing/2014/main" id="{BAA81DAB-5E36-4AD6-B4E7-7DDBC40882FB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7892" y="3755916"/>
              <a:ext cx="552450" cy="395288"/>
            </a:xfrm>
            <a:custGeom>
              <a:avLst/>
              <a:gdLst>
                <a:gd name="T0" fmla="*/ 348 w 348"/>
                <a:gd name="T1" fmla="*/ 247 h 249"/>
                <a:gd name="T2" fmla="*/ 348 w 348"/>
                <a:gd name="T3" fmla="*/ 0 h 249"/>
                <a:gd name="T4" fmla="*/ 0 w 348"/>
                <a:gd name="T5" fmla="*/ 0 h 249"/>
                <a:gd name="T6" fmla="*/ 0 w 348"/>
                <a:gd name="T7" fmla="*/ 249 h 249"/>
                <a:gd name="T8" fmla="*/ 348 w 348"/>
                <a:gd name="T9" fmla="*/ 249 h 249"/>
                <a:gd name="T10" fmla="*/ 348 w 348"/>
                <a:gd name="T11" fmla="*/ 249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48" h="249">
                  <a:moveTo>
                    <a:pt x="348" y="247"/>
                  </a:moveTo>
                  <a:lnTo>
                    <a:pt x="348" y="0"/>
                  </a:lnTo>
                  <a:lnTo>
                    <a:pt x="0" y="0"/>
                  </a:lnTo>
                  <a:lnTo>
                    <a:pt x="0" y="249"/>
                  </a:lnTo>
                  <a:lnTo>
                    <a:pt x="348" y="249"/>
                  </a:lnTo>
                  <a:lnTo>
                    <a:pt x="348" y="249"/>
                  </a:lnTo>
                </a:path>
              </a:pathLst>
            </a:custGeom>
            <a:noFill/>
            <a:ln w="14288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</a:pPr>
              <a:endParaRPr lang="zh-CN" altLang="en-US">
                <a:solidFill>
                  <a:prstClr val="black"/>
                </a:solidFill>
                <a:latin typeface="Arial" panose="020B0604020202020204" pitchFamily="34" charset="0"/>
                <a:ea typeface="等线" panose="02010600030101010101" pitchFamily="2" charset="-122"/>
                <a:cs typeface="Arial" panose="020B0604020202020204" pitchFamily="34" charset="0"/>
              </a:endParaRPr>
            </a:p>
          </p:txBody>
        </p:sp>
        <p:sp>
          <p:nvSpPr>
            <p:cNvPr id="528" name="Freeform 46">
              <a:extLst>
                <a:ext uri="{FF2B5EF4-FFF2-40B4-BE49-F238E27FC236}">
                  <a16:creationId xmlns:a16="http://schemas.microsoft.com/office/drawing/2014/main" id="{C4830798-5FCF-4FD5-B707-0A9F7B8B419D}"/>
                </a:ext>
              </a:extLst>
            </p:cNvPr>
            <p:cNvSpPr>
              <a:spLocks/>
            </p:cNvSpPr>
            <p:nvPr/>
          </p:nvSpPr>
          <p:spPr bwMode="auto">
            <a:xfrm>
              <a:off x="5380342" y="3755916"/>
              <a:ext cx="277813" cy="395288"/>
            </a:xfrm>
            <a:custGeom>
              <a:avLst/>
              <a:gdLst>
                <a:gd name="T0" fmla="*/ 175 w 175"/>
                <a:gd name="T1" fmla="*/ 247 h 249"/>
                <a:gd name="T2" fmla="*/ 175 w 175"/>
                <a:gd name="T3" fmla="*/ 0 h 249"/>
                <a:gd name="T4" fmla="*/ 0 w 175"/>
                <a:gd name="T5" fmla="*/ 0 h 249"/>
                <a:gd name="T6" fmla="*/ 0 w 175"/>
                <a:gd name="T7" fmla="*/ 249 h 249"/>
                <a:gd name="T8" fmla="*/ 175 w 175"/>
                <a:gd name="T9" fmla="*/ 249 h 249"/>
                <a:gd name="T10" fmla="*/ 175 w 175"/>
                <a:gd name="T11" fmla="*/ 249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75" h="249">
                  <a:moveTo>
                    <a:pt x="175" y="247"/>
                  </a:moveTo>
                  <a:lnTo>
                    <a:pt x="175" y="0"/>
                  </a:lnTo>
                  <a:lnTo>
                    <a:pt x="0" y="0"/>
                  </a:lnTo>
                  <a:lnTo>
                    <a:pt x="0" y="249"/>
                  </a:lnTo>
                  <a:lnTo>
                    <a:pt x="175" y="249"/>
                  </a:lnTo>
                  <a:lnTo>
                    <a:pt x="175" y="249"/>
                  </a:lnTo>
                </a:path>
              </a:pathLst>
            </a:custGeom>
            <a:noFill/>
            <a:ln w="14288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</a:pPr>
              <a:endParaRPr lang="zh-CN" altLang="en-US">
                <a:solidFill>
                  <a:prstClr val="black"/>
                </a:solidFill>
                <a:latin typeface="Arial" panose="020B0604020202020204" pitchFamily="34" charset="0"/>
                <a:ea typeface="等线" panose="02010600030101010101" pitchFamily="2" charset="-122"/>
                <a:cs typeface="Arial" panose="020B0604020202020204" pitchFamily="34" charset="0"/>
              </a:endParaRPr>
            </a:p>
          </p:txBody>
        </p:sp>
        <p:sp>
          <p:nvSpPr>
            <p:cNvPr id="529" name="Rectangle 47">
              <a:extLst>
                <a:ext uri="{FF2B5EF4-FFF2-40B4-BE49-F238E27FC236}">
                  <a16:creationId xmlns:a16="http://schemas.microsoft.com/office/drawing/2014/main" id="{F94F2BFA-59CF-4934-981C-8FB3316BE7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56217" y="3432066"/>
              <a:ext cx="78548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r>
                <a:rPr lang="zh-CN" altLang="zh-CN" sz="1000">
                  <a:solidFill>
                    <a:srgbClr val="000000"/>
                  </a:solidFill>
                  <a:ea typeface="等线" panose="02010600030101010101" pitchFamily="2" charset="-122"/>
                  <a:cs typeface="Arial" panose="020B0604020202020204" pitchFamily="34" charset="0"/>
                </a:rPr>
                <a:t>T</a:t>
              </a:r>
              <a:endParaRPr lang="zh-CN" altLang="zh-CN">
                <a:solidFill>
                  <a:prstClr val="black"/>
                </a:solidFill>
                <a:ea typeface="等线" panose="02010600030101010101" pitchFamily="2" charset="-122"/>
                <a:cs typeface="Arial" panose="020B0604020202020204" pitchFamily="34" charset="0"/>
              </a:endParaRPr>
            </a:p>
          </p:txBody>
        </p:sp>
        <p:sp>
          <p:nvSpPr>
            <p:cNvPr id="530" name="Rectangle 48">
              <a:extLst>
                <a:ext uri="{FF2B5EF4-FFF2-40B4-BE49-F238E27FC236}">
                  <a16:creationId xmlns:a16="http://schemas.microsoft.com/office/drawing/2014/main" id="{9F6097FF-863A-452B-BFA5-97A45FCC51A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34005" y="3432066"/>
              <a:ext cx="28854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r>
                <a:rPr lang="zh-CN" altLang="zh-CN" sz="1000">
                  <a:solidFill>
                    <a:srgbClr val="000000"/>
                  </a:solidFill>
                  <a:ea typeface="等线" panose="02010600030101010101" pitchFamily="2" charset="-122"/>
                  <a:cs typeface="Arial" panose="020B0604020202020204" pitchFamily="34" charset="0"/>
                </a:rPr>
                <a:t>i</a:t>
              </a:r>
              <a:endParaRPr lang="zh-CN" altLang="zh-CN">
                <a:solidFill>
                  <a:prstClr val="black"/>
                </a:solidFill>
                <a:ea typeface="等线" panose="02010600030101010101" pitchFamily="2" charset="-122"/>
                <a:cs typeface="Arial" panose="020B0604020202020204" pitchFamily="34" charset="0"/>
              </a:endParaRPr>
            </a:p>
          </p:txBody>
        </p:sp>
        <p:sp>
          <p:nvSpPr>
            <p:cNvPr id="531" name="Rectangle 49">
              <a:extLst>
                <a:ext uri="{FF2B5EF4-FFF2-40B4-BE49-F238E27FC236}">
                  <a16:creationId xmlns:a16="http://schemas.microsoft.com/office/drawing/2014/main" id="{49ADE0E0-C0F5-465E-B753-F50139B9E5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60992" y="3432066"/>
              <a:ext cx="107402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r>
                <a:rPr lang="zh-CN" altLang="zh-CN" sz="1000">
                  <a:solidFill>
                    <a:srgbClr val="000000"/>
                  </a:solidFill>
                  <a:ea typeface="等线" panose="02010600030101010101" pitchFamily="2" charset="-122"/>
                  <a:cs typeface="Arial" panose="020B0604020202020204" pitchFamily="34" charset="0"/>
                </a:rPr>
                <a:t>m</a:t>
              </a:r>
              <a:endParaRPr lang="zh-CN" altLang="zh-CN">
                <a:solidFill>
                  <a:prstClr val="black"/>
                </a:solidFill>
                <a:ea typeface="等线" panose="02010600030101010101" pitchFamily="2" charset="-122"/>
                <a:cs typeface="Arial" panose="020B0604020202020204" pitchFamily="34" charset="0"/>
              </a:endParaRPr>
            </a:p>
          </p:txBody>
        </p:sp>
        <p:sp>
          <p:nvSpPr>
            <p:cNvPr id="532" name="Rectangle 50">
              <a:extLst>
                <a:ext uri="{FF2B5EF4-FFF2-40B4-BE49-F238E27FC236}">
                  <a16:creationId xmlns:a16="http://schemas.microsoft.com/office/drawing/2014/main" id="{C775A41E-8823-4CE2-8600-F20495E9EB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64180" y="3432066"/>
              <a:ext cx="70532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r>
                <a:rPr lang="zh-CN" altLang="zh-CN" sz="1000">
                  <a:solidFill>
                    <a:srgbClr val="000000"/>
                  </a:solidFill>
                  <a:ea typeface="等线" panose="02010600030101010101" pitchFamily="2" charset="-122"/>
                  <a:cs typeface="Arial" panose="020B0604020202020204" pitchFamily="34" charset="0"/>
                </a:rPr>
                <a:t>e</a:t>
              </a:r>
              <a:endParaRPr lang="zh-CN" altLang="zh-CN">
                <a:solidFill>
                  <a:prstClr val="black"/>
                </a:solidFill>
                <a:ea typeface="等线" panose="02010600030101010101" pitchFamily="2" charset="-122"/>
                <a:cs typeface="Arial" panose="020B0604020202020204" pitchFamily="34" charset="0"/>
              </a:endParaRPr>
            </a:p>
          </p:txBody>
        </p:sp>
        <p:sp>
          <p:nvSpPr>
            <p:cNvPr id="533" name="Line 93">
              <a:extLst>
                <a:ext uri="{FF2B5EF4-FFF2-40B4-BE49-F238E27FC236}">
                  <a16:creationId xmlns:a16="http://schemas.microsoft.com/office/drawing/2014/main" id="{BE3E46E9-B659-4320-813E-2697D5C1786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997380" y="3819415"/>
              <a:ext cx="0" cy="1592747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</a:pPr>
              <a:endParaRPr lang="zh-CN" altLang="en-US">
                <a:solidFill>
                  <a:prstClr val="black"/>
                </a:solidFill>
                <a:latin typeface="Arial" panose="020B0604020202020204" pitchFamily="34" charset="0"/>
                <a:ea typeface="等线" panose="02010600030101010101" pitchFamily="2" charset="-122"/>
                <a:cs typeface="Arial" panose="020B0604020202020204" pitchFamily="34" charset="0"/>
              </a:endParaRPr>
            </a:p>
          </p:txBody>
        </p:sp>
        <p:sp>
          <p:nvSpPr>
            <p:cNvPr id="534" name="Freeform 94">
              <a:extLst>
                <a:ext uri="{FF2B5EF4-FFF2-40B4-BE49-F238E27FC236}">
                  <a16:creationId xmlns:a16="http://schemas.microsoft.com/office/drawing/2014/main" id="{BF77B174-94CC-4ECF-8F99-630F78F1059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5630" y="5410441"/>
              <a:ext cx="63500" cy="66675"/>
            </a:xfrm>
            <a:custGeom>
              <a:avLst/>
              <a:gdLst>
                <a:gd name="T0" fmla="*/ 37 w 40"/>
                <a:gd name="T1" fmla="*/ 0 h 42"/>
                <a:gd name="T2" fmla="*/ 0 w 40"/>
                <a:gd name="T3" fmla="*/ 0 h 42"/>
                <a:gd name="T4" fmla="*/ 19 w 40"/>
                <a:gd name="T5" fmla="*/ 42 h 42"/>
                <a:gd name="T6" fmla="*/ 40 w 40"/>
                <a:gd name="T7" fmla="*/ 0 h 42"/>
                <a:gd name="T8" fmla="*/ 40 w 40"/>
                <a:gd name="T9" fmla="*/ 0 h 42"/>
                <a:gd name="T10" fmla="*/ 37 w 40"/>
                <a:gd name="T11" fmla="*/ 0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" h="42">
                  <a:moveTo>
                    <a:pt x="37" y="0"/>
                  </a:moveTo>
                  <a:lnTo>
                    <a:pt x="0" y="0"/>
                  </a:lnTo>
                  <a:lnTo>
                    <a:pt x="19" y="42"/>
                  </a:lnTo>
                  <a:lnTo>
                    <a:pt x="40" y="0"/>
                  </a:lnTo>
                  <a:lnTo>
                    <a:pt x="40" y="0"/>
                  </a:lnTo>
                  <a:lnTo>
                    <a:pt x="37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</a:pPr>
              <a:endParaRPr lang="zh-CN" altLang="en-US">
                <a:solidFill>
                  <a:prstClr val="black"/>
                </a:solidFill>
                <a:latin typeface="Arial" panose="020B0604020202020204" pitchFamily="34" charset="0"/>
                <a:ea typeface="等线" panose="02010600030101010101" pitchFamily="2" charset="-122"/>
                <a:cs typeface="Arial" panose="020B0604020202020204" pitchFamily="34" charset="0"/>
              </a:endParaRPr>
            </a:p>
          </p:txBody>
        </p:sp>
        <p:sp>
          <p:nvSpPr>
            <p:cNvPr id="535" name="Line 95">
              <a:extLst>
                <a:ext uri="{FF2B5EF4-FFF2-40B4-BE49-F238E27FC236}">
                  <a16:creationId xmlns:a16="http://schemas.microsoft.com/office/drawing/2014/main" id="{9D52BEAD-29AE-48E1-BF11-870797EB688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78480" y="3509854"/>
              <a:ext cx="4154488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</a:pPr>
              <a:endParaRPr lang="zh-CN" altLang="en-US">
                <a:solidFill>
                  <a:prstClr val="black"/>
                </a:solidFill>
                <a:latin typeface="Arial" panose="020B0604020202020204" pitchFamily="34" charset="0"/>
                <a:ea typeface="等线" panose="02010600030101010101" pitchFamily="2" charset="-122"/>
                <a:cs typeface="Arial" panose="020B0604020202020204" pitchFamily="34" charset="0"/>
              </a:endParaRPr>
            </a:p>
          </p:txBody>
        </p:sp>
        <p:sp>
          <p:nvSpPr>
            <p:cNvPr id="536" name="Freeform 96">
              <a:extLst>
                <a:ext uri="{FF2B5EF4-FFF2-40B4-BE49-F238E27FC236}">
                  <a16:creationId xmlns:a16="http://schemas.microsoft.com/office/drawing/2014/main" id="{897984BE-9569-4EC8-8823-408E2129D868}"/>
                </a:ext>
              </a:extLst>
            </p:cNvPr>
            <p:cNvSpPr>
              <a:spLocks/>
            </p:cNvSpPr>
            <p:nvPr/>
          </p:nvSpPr>
          <p:spPr bwMode="auto">
            <a:xfrm>
              <a:off x="7317092" y="3478104"/>
              <a:ext cx="63500" cy="68263"/>
            </a:xfrm>
            <a:custGeom>
              <a:avLst/>
              <a:gdLst>
                <a:gd name="T0" fmla="*/ 0 w 40"/>
                <a:gd name="T1" fmla="*/ 0 h 43"/>
                <a:gd name="T2" fmla="*/ 0 w 40"/>
                <a:gd name="T3" fmla="*/ 43 h 43"/>
                <a:gd name="T4" fmla="*/ 40 w 40"/>
                <a:gd name="T5" fmla="*/ 20 h 43"/>
                <a:gd name="T6" fmla="*/ 0 w 40"/>
                <a:gd name="T7" fmla="*/ 0 h 43"/>
                <a:gd name="T8" fmla="*/ 0 w 40"/>
                <a:gd name="T9" fmla="*/ 0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0" h="43">
                  <a:moveTo>
                    <a:pt x="0" y="0"/>
                  </a:moveTo>
                  <a:lnTo>
                    <a:pt x="0" y="43"/>
                  </a:lnTo>
                  <a:lnTo>
                    <a:pt x="40" y="2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</a:pPr>
              <a:endParaRPr lang="zh-CN" altLang="en-US">
                <a:solidFill>
                  <a:prstClr val="black"/>
                </a:solidFill>
                <a:latin typeface="Arial" panose="020B0604020202020204" pitchFamily="34" charset="0"/>
                <a:ea typeface="等线" panose="02010600030101010101" pitchFamily="2" charset="-122"/>
                <a:cs typeface="Arial" panose="020B0604020202020204" pitchFamily="34" charset="0"/>
              </a:endParaRPr>
            </a:p>
          </p:txBody>
        </p:sp>
        <p:sp>
          <p:nvSpPr>
            <p:cNvPr id="537" name="Freeform 115">
              <a:extLst>
                <a:ext uri="{FF2B5EF4-FFF2-40B4-BE49-F238E27FC236}">
                  <a16:creationId xmlns:a16="http://schemas.microsoft.com/office/drawing/2014/main" id="{EEF46161-D89C-4445-81A1-22C700419F2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6642" y="4151204"/>
              <a:ext cx="554038" cy="396875"/>
            </a:xfrm>
            <a:custGeom>
              <a:avLst/>
              <a:gdLst>
                <a:gd name="T0" fmla="*/ 349 w 349"/>
                <a:gd name="T1" fmla="*/ 247 h 250"/>
                <a:gd name="T2" fmla="*/ 349 w 349"/>
                <a:gd name="T3" fmla="*/ 0 h 250"/>
                <a:gd name="T4" fmla="*/ 0 w 349"/>
                <a:gd name="T5" fmla="*/ 0 h 250"/>
                <a:gd name="T6" fmla="*/ 0 w 349"/>
                <a:gd name="T7" fmla="*/ 250 h 250"/>
                <a:gd name="T8" fmla="*/ 349 w 349"/>
                <a:gd name="T9" fmla="*/ 250 h 250"/>
                <a:gd name="T10" fmla="*/ 349 w 349"/>
                <a:gd name="T11" fmla="*/ 250 h 2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49" h="250">
                  <a:moveTo>
                    <a:pt x="349" y="247"/>
                  </a:moveTo>
                  <a:lnTo>
                    <a:pt x="349" y="0"/>
                  </a:lnTo>
                  <a:lnTo>
                    <a:pt x="0" y="0"/>
                  </a:lnTo>
                  <a:lnTo>
                    <a:pt x="0" y="250"/>
                  </a:lnTo>
                  <a:lnTo>
                    <a:pt x="349" y="250"/>
                  </a:lnTo>
                  <a:lnTo>
                    <a:pt x="349" y="250"/>
                  </a:lnTo>
                </a:path>
              </a:pathLst>
            </a:custGeom>
            <a:noFill/>
            <a:ln w="14288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</a:pPr>
              <a:endParaRPr lang="zh-CN" altLang="en-US" dirty="0">
                <a:solidFill>
                  <a:prstClr val="black"/>
                </a:solidFill>
                <a:latin typeface="Arial" panose="020B0604020202020204" pitchFamily="34" charset="0"/>
                <a:ea typeface="等线" panose="02010600030101010101" pitchFamily="2" charset="-122"/>
                <a:cs typeface="Arial" panose="020B0604020202020204" pitchFamily="34" charset="0"/>
              </a:endParaRPr>
            </a:p>
          </p:txBody>
        </p:sp>
        <p:sp>
          <p:nvSpPr>
            <p:cNvPr id="538" name="Freeform 119">
              <a:extLst>
                <a:ext uri="{FF2B5EF4-FFF2-40B4-BE49-F238E27FC236}">
                  <a16:creationId xmlns:a16="http://schemas.microsoft.com/office/drawing/2014/main" id="{5BD1AE1D-7E76-4180-8958-B454375A3DF5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6905" y="4151204"/>
              <a:ext cx="276225" cy="396875"/>
            </a:xfrm>
            <a:custGeom>
              <a:avLst/>
              <a:gdLst>
                <a:gd name="T0" fmla="*/ 172 w 174"/>
                <a:gd name="T1" fmla="*/ 247 h 250"/>
                <a:gd name="T2" fmla="*/ 174 w 174"/>
                <a:gd name="T3" fmla="*/ 0 h 250"/>
                <a:gd name="T4" fmla="*/ 0 w 174"/>
                <a:gd name="T5" fmla="*/ 0 h 250"/>
                <a:gd name="T6" fmla="*/ 0 w 174"/>
                <a:gd name="T7" fmla="*/ 250 h 250"/>
                <a:gd name="T8" fmla="*/ 174 w 174"/>
                <a:gd name="T9" fmla="*/ 250 h 250"/>
                <a:gd name="T10" fmla="*/ 174 w 174"/>
                <a:gd name="T11" fmla="*/ 250 h 2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74" h="250">
                  <a:moveTo>
                    <a:pt x="172" y="247"/>
                  </a:moveTo>
                  <a:lnTo>
                    <a:pt x="174" y="0"/>
                  </a:lnTo>
                  <a:lnTo>
                    <a:pt x="0" y="0"/>
                  </a:lnTo>
                  <a:lnTo>
                    <a:pt x="0" y="250"/>
                  </a:lnTo>
                  <a:lnTo>
                    <a:pt x="174" y="250"/>
                  </a:lnTo>
                  <a:lnTo>
                    <a:pt x="174" y="250"/>
                  </a:lnTo>
                </a:path>
              </a:pathLst>
            </a:custGeom>
            <a:noFill/>
            <a:ln w="14288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</a:pPr>
              <a:endParaRPr lang="zh-CN" altLang="en-US">
                <a:solidFill>
                  <a:prstClr val="black"/>
                </a:solidFill>
                <a:latin typeface="Arial" panose="020B0604020202020204" pitchFamily="34" charset="0"/>
                <a:ea typeface="等线" panose="02010600030101010101" pitchFamily="2" charset="-122"/>
                <a:cs typeface="Arial" panose="020B0604020202020204" pitchFamily="34" charset="0"/>
              </a:endParaRPr>
            </a:p>
          </p:txBody>
        </p:sp>
        <p:sp>
          <p:nvSpPr>
            <p:cNvPr id="539" name="Freeform 123">
              <a:extLst>
                <a:ext uri="{FF2B5EF4-FFF2-40B4-BE49-F238E27FC236}">
                  <a16:creationId xmlns:a16="http://schemas.microsoft.com/office/drawing/2014/main" id="{1D7731A1-4A6F-43BC-83DD-C6312C5C3E2E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3130" y="4151204"/>
              <a:ext cx="554038" cy="396875"/>
            </a:xfrm>
            <a:custGeom>
              <a:avLst/>
              <a:gdLst>
                <a:gd name="T0" fmla="*/ 349 w 349"/>
                <a:gd name="T1" fmla="*/ 247 h 250"/>
                <a:gd name="T2" fmla="*/ 349 w 349"/>
                <a:gd name="T3" fmla="*/ 0 h 250"/>
                <a:gd name="T4" fmla="*/ 0 w 349"/>
                <a:gd name="T5" fmla="*/ 0 h 250"/>
                <a:gd name="T6" fmla="*/ 0 w 349"/>
                <a:gd name="T7" fmla="*/ 250 h 250"/>
                <a:gd name="T8" fmla="*/ 349 w 349"/>
                <a:gd name="T9" fmla="*/ 250 h 250"/>
                <a:gd name="T10" fmla="*/ 349 w 349"/>
                <a:gd name="T11" fmla="*/ 250 h 2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49" h="250">
                  <a:moveTo>
                    <a:pt x="349" y="247"/>
                  </a:moveTo>
                  <a:lnTo>
                    <a:pt x="349" y="0"/>
                  </a:lnTo>
                  <a:lnTo>
                    <a:pt x="0" y="0"/>
                  </a:lnTo>
                  <a:lnTo>
                    <a:pt x="0" y="250"/>
                  </a:lnTo>
                  <a:lnTo>
                    <a:pt x="349" y="250"/>
                  </a:lnTo>
                  <a:lnTo>
                    <a:pt x="349" y="250"/>
                  </a:lnTo>
                </a:path>
              </a:pathLst>
            </a:custGeom>
            <a:noFill/>
            <a:ln w="14288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</a:pPr>
              <a:endParaRPr lang="zh-CN" altLang="en-US">
                <a:solidFill>
                  <a:prstClr val="black"/>
                </a:solidFill>
                <a:latin typeface="Arial" panose="020B0604020202020204" pitchFamily="34" charset="0"/>
                <a:ea typeface="等线" panose="02010600030101010101" pitchFamily="2" charset="-122"/>
                <a:cs typeface="Arial" panose="020B0604020202020204" pitchFamily="34" charset="0"/>
              </a:endParaRPr>
            </a:p>
          </p:txBody>
        </p:sp>
        <p:sp>
          <p:nvSpPr>
            <p:cNvPr id="540" name="Freeform 135">
              <a:extLst>
                <a:ext uri="{FF2B5EF4-FFF2-40B4-BE49-F238E27FC236}">
                  <a16:creationId xmlns:a16="http://schemas.microsoft.com/office/drawing/2014/main" id="{57F16D90-A038-480D-A6C7-D9CDA0315EE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77167" y="4151204"/>
              <a:ext cx="554038" cy="396875"/>
            </a:xfrm>
            <a:custGeom>
              <a:avLst/>
              <a:gdLst>
                <a:gd name="T0" fmla="*/ 349 w 349"/>
                <a:gd name="T1" fmla="*/ 247 h 250"/>
                <a:gd name="T2" fmla="*/ 349 w 349"/>
                <a:gd name="T3" fmla="*/ 0 h 250"/>
                <a:gd name="T4" fmla="*/ 0 w 349"/>
                <a:gd name="T5" fmla="*/ 0 h 250"/>
                <a:gd name="T6" fmla="*/ 0 w 349"/>
                <a:gd name="T7" fmla="*/ 250 h 250"/>
                <a:gd name="T8" fmla="*/ 349 w 349"/>
                <a:gd name="T9" fmla="*/ 250 h 250"/>
                <a:gd name="T10" fmla="*/ 349 w 349"/>
                <a:gd name="T11" fmla="*/ 250 h 2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49" h="250">
                  <a:moveTo>
                    <a:pt x="349" y="247"/>
                  </a:moveTo>
                  <a:lnTo>
                    <a:pt x="349" y="0"/>
                  </a:lnTo>
                  <a:lnTo>
                    <a:pt x="0" y="0"/>
                  </a:lnTo>
                  <a:lnTo>
                    <a:pt x="0" y="250"/>
                  </a:lnTo>
                  <a:lnTo>
                    <a:pt x="349" y="250"/>
                  </a:lnTo>
                  <a:lnTo>
                    <a:pt x="349" y="250"/>
                  </a:lnTo>
                </a:path>
              </a:pathLst>
            </a:custGeom>
            <a:noFill/>
            <a:ln w="14288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</a:pPr>
              <a:endParaRPr lang="zh-CN" altLang="en-US">
                <a:solidFill>
                  <a:prstClr val="black"/>
                </a:solidFill>
                <a:latin typeface="Arial" panose="020B0604020202020204" pitchFamily="34" charset="0"/>
                <a:ea typeface="等线" panose="02010600030101010101" pitchFamily="2" charset="-122"/>
                <a:cs typeface="Arial" panose="020B0604020202020204" pitchFamily="34" charset="0"/>
              </a:endParaRPr>
            </a:p>
          </p:txBody>
        </p:sp>
        <p:sp>
          <p:nvSpPr>
            <p:cNvPr id="541" name="Freeform 139">
              <a:extLst>
                <a:ext uri="{FF2B5EF4-FFF2-40B4-BE49-F238E27FC236}">
                  <a16:creationId xmlns:a16="http://schemas.microsoft.com/office/drawing/2014/main" id="{4D8C2088-06E5-4001-A91C-944599F441DD}"/>
                </a:ext>
              </a:extLst>
            </p:cNvPr>
            <p:cNvSpPr>
              <a:spLocks/>
            </p:cNvSpPr>
            <p:nvPr/>
          </p:nvSpPr>
          <p:spPr bwMode="auto">
            <a:xfrm>
              <a:off x="5931205" y="4151204"/>
              <a:ext cx="276225" cy="396875"/>
            </a:xfrm>
            <a:custGeom>
              <a:avLst/>
              <a:gdLst>
                <a:gd name="T0" fmla="*/ 174 w 174"/>
                <a:gd name="T1" fmla="*/ 247 h 250"/>
                <a:gd name="T2" fmla="*/ 174 w 174"/>
                <a:gd name="T3" fmla="*/ 0 h 250"/>
                <a:gd name="T4" fmla="*/ 0 w 174"/>
                <a:gd name="T5" fmla="*/ 0 h 250"/>
                <a:gd name="T6" fmla="*/ 0 w 174"/>
                <a:gd name="T7" fmla="*/ 250 h 250"/>
                <a:gd name="T8" fmla="*/ 174 w 174"/>
                <a:gd name="T9" fmla="*/ 250 h 250"/>
                <a:gd name="T10" fmla="*/ 174 w 174"/>
                <a:gd name="T11" fmla="*/ 250 h 2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74" h="250">
                  <a:moveTo>
                    <a:pt x="174" y="247"/>
                  </a:moveTo>
                  <a:lnTo>
                    <a:pt x="174" y="0"/>
                  </a:lnTo>
                  <a:lnTo>
                    <a:pt x="0" y="0"/>
                  </a:lnTo>
                  <a:lnTo>
                    <a:pt x="0" y="250"/>
                  </a:lnTo>
                  <a:lnTo>
                    <a:pt x="174" y="250"/>
                  </a:lnTo>
                  <a:lnTo>
                    <a:pt x="174" y="250"/>
                  </a:lnTo>
                </a:path>
              </a:pathLst>
            </a:custGeom>
            <a:noFill/>
            <a:ln w="14288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</a:pPr>
              <a:endParaRPr lang="zh-CN" altLang="en-US">
                <a:solidFill>
                  <a:prstClr val="black"/>
                </a:solidFill>
                <a:latin typeface="Arial" panose="020B0604020202020204" pitchFamily="34" charset="0"/>
                <a:ea typeface="等线" panose="02010600030101010101" pitchFamily="2" charset="-122"/>
                <a:cs typeface="Arial" panose="020B0604020202020204" pitchFamily="34" charset="0"/>
              </a:endParaRPr>
            </a:p>
          </p:txBody>
        </p:sp>
        <p:sp>
          <p:nvSpPr>
            <p:cNvPr id="542" name="Rectangle 142">
              <a:extLst>
                <a:ext uri="{FF2B5EF4-FFF2-40B4-BE49-F238E27FC236}">
                  <a16:creationId xmlns:a16="http://schemas.microsoft.com/office/drawing/2014/main" id="{244BDB45-D1F1-4FA8-AF57-25586ECFB2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18180" y="4373454"/>
              <a:ext cx="70532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r>
                <a:rPr lang="zh-CN" altLang="zh-CN" sz="1000">
                  <a:solidFill>
                    <a:srgbClr val="000000"/>
                  </a:solidFill>
                  <a:ea typeface="等线" panose="02010600030101010101" pitchFamily="2" charset="-122"/>
                  <a:cs typeface="Arial" panose="020B0604020202020204" pitchFamily="34" charset="0"/>
                </a:rPr>
                <a:t>2</a:t>
              </a:r>
              <a:endParaRPr lang="zh-CN" altLang="zh-CN">
                <a:solidFill>
                  <a:prstClr val="black"/>
                </a:solidFill>
                <a:ea typeface="等线" panose="02010600030101010101" pitchFamily="2" charset="-122"/>
                <a:cs typeface="Arial" panose="020B0604020202020204" pitchFamily="34" charset="0"/>
              </a:endParaRPr>
            </a:p>
          </p:txBody>
        </p:sp>
        <p:sp>
          <p:nvSpPr>
            <p:cNvPr id="543" name="Rectangle 143">
              <a:extLst>
                <a:ext uri="{FF2B5EF4-FFF2-40B4-BE49-F238E27FC236}">
                  <a16:creationId xmlns:a16="http://schemas.microsoft.com/office/drawing/2014/main" id="{450FBC46-267A-4517-A226-27E88CE7C9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88030" y="4373454"/>
              <a:ext cx="35266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r>
                <a:rPr lang="zh-CN" altLang="zh-CN" sz="1000">
                  <a:solidFill>
                    <a:srgbClr val="000000"/>
                  </a:solidFill>
                  <a:ea typeface="等线" panose="02010600030101010101" pitchFamily="2" charset="-122"/>
                  <a:cs typeface="Arial" panose="020B0604020202020204" pitchFamily="34" charset="0"/>
                </a:rPr>
                <a:t> </a:t>
              </a:r>
              <a:endParaRPr lang="zh-CN" altLang="zh-CN">
                <a:solidFill>
                  <a:prstClr val="black"/>
                </a:solidFill>
                <a:ea typeface="等线" panose="02010600030101010101" pitchFamily="2" charset="-122"/>
                <a:cs typeface="Arial" panose="020B0604020202020204" pitchFamily="34" charset="0"/>
              </a:endParaRPr>
            </a:p>
          </p:txBody>
        </p:sp>
        <p:sp>
          <p:nvSpPr>
            <p:cNvPr id="544" name="Rectangle 144">
              <a:extLst>
                <a:ext uri="{FF2B5EF4-FFF2-40B4-BE49-F238E27FC236}">
                  <a16:creationId xmlns:a16="http://schemas.microsoft.com/office/drawing/2014/main" id="{7B4FF5F0-A7A3-4108-BE43-DD83B3CFCD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21367" y="4373454"/>
              <a:ext cx="70532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r>
                <a:rPr lang="zh-CN" altLang="zh-CN" sz="1000">
                  <a:solidFill>
                    <a:srgbClr val="000000"/>
                  </a:solidFill>
                  <a:ea typeface="等线" panose="02010600030101010101" pitchFamily="2" charset="-122"/>
                  <a:cs typeface="Arial" panose="020B0604020202020204" pitchFamily="34" charset="0"/>
                </a:rPr>
                <a:t>n</a:t>
              </a:r>
              <a:endParaRPr lang="zh-CN" altLang="zh-CN">
                <a:solidFill>
                  <a:prstClr val="black"/>
                </a:solidFill>
                <a:ea typeface="等线" panose="02010600030101010101" pitchFamily="2" charset="-122"/>
                <a:cs typeface="Arial" panose="020B0604020202020204" pitchFamily="34" charset="0"/>
              </a:endParaRPr>
            </a:p>
          </p:txBody>
        </p:sp>
        <p:sp>
          <p:nvSpPr>
            <p:cNvPr id="545" name="Rectangle 145">
              <a:extLst>
                <a:ext uri="{FF2B5EF4-FFF2-40B4-BE49-F238E27FC236}">
                  <a16:creationId xmlns:a16="http://schemas.microsoft.com/office/drawing/2014/main" id="{DF133E9A-B76D-4608-BB24-A9537126FD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91217" y="4373454"/>
              <a:ext cx="64120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r>
                <a:rPr lang="zh-CN" altLang="zh-CN" sz="1000">
                  <a:solidFill>
                    <a:srgbClr val="000000"/>
                  </a:solidFill>
                  <a:ea typeface="等线" panose="02010600030101010101" pitchFamily="2" charset="-122"/>
                  <a:cs typeface="Arial" panose="020B0604020202020204" pitchFamily="34" charset="0"/>
                </a:rPr>
                <a:t>s</a:t>
              </a:r>
              <a:endParaRPr lang="zh-CN" altLang="zh-CN">
                <a:solidFill>
                  <a:prstClr val="black"/>
                </a:solidFill>
                <a:ea typeface="等线" panose="02010600030101010101" pitchFamily="2" charset="-122"/>
                <a:cs typeface="Arial" panose="020B0604020202020204" pitchFamily="34" charset="0"/>
              </a:endParaRPr>
            </a:p>
          </p:txBody>
        </p:sp>
        <p:sp>
          <p:nvSpPr>
            <p:cNvPr id="546" name="Freeform 164">
              <a:extLst>
                <a:ext uri="{FF2B5EF4-FFF2-40B4-BE49-F238E27FC236}">
                  <a16:creationId xmlns:a16="http://schemas.microsoft.com/office/drawing/2014/main" id="{0030E84C-AD37-4A99-AE13-6CF78C64D58A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4718" y="5200704"/>
              <a:ext cx="552450" cy="395288"/>
            </a:xfrm>
            <a:custGeom>
              <a:avLst/>
              <a:gdLst>
                <a:gd name="T0" fmla="*/ 348 w 348"/>
                <a:gd name="T1" fmla="*/ 247 h 249"/>
                <a:gd name="T2" fmla="*/ 348 w 348"/>
                <a:gd name="T3" fmla="*/ 0 h 249"/>
                <a:gd name="T4" fmla="*/ 0 w 348"/>
                <a:gd name="T5" fmla="*/ 0 h 249"/>
                <a:gd name="T6" fmla="*/ 0 w 348"/>
                <a:gd name="T7" fmla="*/ 249 h 249"/>
                <a:gd name="T8" fmla="*/ 348 w 348"/>
                <a:gd name="T9" fmla="*/ 249 h 249"/>
                <a:gd name="T10" fmla="*/ 348 w 348"/>
                <a:gd name="T11" fmla="*/ 249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48" h="249">
                  <a:moveTo>
                    <a:pt x="348" y="247"/>
                  </a:moveTo>
                  <a:lnTo>
                    <a:pt x="348" y="0"/>
                  </a:lnTo>
                  <a:lnTo>
                    <a:pt x="0" y="0"/>
                  </a:lnTo>
                  <a:lnTo>
                    <a:pt x="0" y="249"/>
                  </a:lnTo>
                  <a:lnTo>
                    <a:pt x="348" y="249"/>
                  </a:lnTo>
                  <a:lnTo>
                    <a:pt x="348" y="249"/>
                  </a:lnTo>
                </a:path>
              </a:pathLst>
            </a:custGeom>
            <a:noFill/>
            <a:ln w="14288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</a:pPr>
              <a:endParaRPr lang="zh-CN" altLang="en-US">
                <a:solidFill>
                  <a:prstClr val="black"/>
                </a:solidFill>
                <a:latin typeface="Arial" panose="020B0604020202020204" pitchFamily="34" charset="0"/>
                <a:ea typeface="等线" panose="02010600030101010101" pitchFamily="2" charset="-122"/>
                <a:cs typeface="Arial" panose="020B0604020202020204" pitchFamily="34" charset="0"/>
              </a:endParaRPr>
            </a:p>
          </p:txBody>
        </p:sp>
        <p:sp>
          <p:nvSpPr>
            <p:cNvPr id="547" name="Freeform 168">
              <a:extLst>
                <a:ext uri="{FF2B5EF4-FFF2-40B4-BE49-F238E27FC236}">
                  <a16:creationId xmlns:a16="http://schemas.microsoft.com/office/drawing/2014/main" id="{1728500D-6558-4F86-85B4-803BECA35E14}"/>
                </a:ext>
              </a:extLst>
            </p:cNvPr>
            <p:cNvSpPr>
              <a:spLocks/>
            </p:cNvSpPr>
            <p:nvPr/>
          </p:nvSpPr>
          <p:spPr bwMode="auto">
            <a:xfrm>
              <a:off x="5654980" y="5200704"/>
              <a:ext cx="276225" cy="395288"/>
            </a:xfrm>
            <a:custGeom>
              <a:avLst/>
              <a:gdLst>
                <a:gd name="T0" fmla="*/ 172 w 174"/>
                <a:gd name="T1" fmla="*/ 247 h 249"/>
                <a:gd name="T2" fmla="*/ 174 w 174"/>
                <a:gd name="T3" fmla="*/ 0 h 249"/>
                <a:gd name="T4" fmla="*/ 0 w 174"/>
                <a:gd name="T5" fmla="*/ 0 h 249"/>
                <a:gd name="T6" fmla="*/ 0 w 174"/>
                <a:gd name="T7" fmla="*/ 249 h 249"/>
                <a:gd name="T8" fmla="*/ 174 w 174"/>
                <a:gd name="T9" fmla="*/ 249 h 249"/>
                <a:gd name="T10" fmla="*/ 174 w 174"/>
                <a:gd name="T11" fmla="*/ 249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74" h="249">
                  <a:moveTo>
                    <a:pt x="172" y="247"/>
                  </a:moveTo>
                  <a:lnTo>
                    <a:pt x="174" y="0"/>
                  </a:lnTo>
                  <a:lnTo>
                    <a:pt x="0" y="0"/>
                  </a:lnTo>
                  <a:lnTo>
                    <a:pt x="0" y="249"/>
                  </a:lnTo>
                  <a:lnTo>
                    <a:pt x="174" y="249"/>
                  </a:lnTo>
                  <a:lnTo>
                    <a:pt x="174" y="249"/>
                  </a:lnTo>
                </a:path>
              </a:pathLst>
            </a:custGeom>
            <a:noFill/>
            <a:ln w="14288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</a:pPr>
              <a:endParaRPr lang="zh-CN" altLang="en-US">
                <a:solidFill>
                  <a:prstClr val="black"/>
                </a:solidFill>
                <a:latin typeface="Arial" panose="020B0604020202020204" pitchFamily="34" charset="0"/>
                <a:ea typeface="等线" panose="02010600030101010101" pitchFamily="2" charset="-122"/>
                <a:cs typeface="Arial" panose="020B0604020202020204" pitchFamily="34" charset="0"/>
              </a:endParaRPr>
            </a:p>
          </p:txBody>
        </p:sp>
        <p:sp>
          <p:nvSpPr>
            <p:cNvPr id="548" name="Freeform 172">
              <a:extLst>
                <a:ext uri="{FF2B5EF4-FFF2-40B4-BE49-F238E27FC236}">
                  <a16:creationId xmlns:a16="http://schemas.microsoft.com/office/drawing/2014/main" id="{CE6ADE20-66FB-46DA-8584-58FC995D3AF2}"/>
                </a:ext>
              </a:extLst>
            </p:cNvPr>
            <p:cNvSpPr>
              <a:spLocks/>
            </p:cNvSpPr>
            <p:nvPr/>
          </p:nvSpPr>
          <p:spPr bwMode="auto">
            <a:xfrm>
              <a:off x="5931205" y="5200704"/>
              <a:ext cx="554038" cy="395288"/>
            </a:xfrm>
            <a:custGeom>
              <a:avLst/>
              <a:gdLst>
                <a:gd name="T0" fmla="*/ 349 w 349"/>
                <a:gd name="T1" fmla="*/ 247 h 249"/>
                <a:gd name="T2" fmla="*/ 349 w 349"/>
                <a:gd name="T3" fmla="*/ 0 h 249"/>
                <a:gd name="T4" fmla="*/ 0 w 349"/>
                <a:gd name="T5" fmla="*/ 0 h 249"/>
                <a:gd name="T6" fmla="*/ 0 w 349"/>
                <a:gd name="T7" fmla="*/ 249 h 249"/>
                <a:gd name="T8" fmla="*/ 349 w 349"/>
                <a:gd name="T9" fmla="*/ 249 h 249"/>
                <a:gd name="T10" fmla="*/ 349 w 349"/>
                <a:gd name="T11" fmla="*/ 249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49" h="249">
                  <a:moveTo>
                    <a:pt x="349" y="247"/>
                  </a:moveTo>
                  <a:lnTo>
                    <a:pt x="349" y="0"/>
                  </a:lnTo>
                  <a:lnTo>
                    <a:pt x="0" y="0"/>
                  </a:lnTo>
                  <a:lnTo>
                    <a:pt x="0" y="249"/>
                  </a:lnTo>
                  <a:lnTo>
                    <a:pt x="349" y="249"/>
                  </a:lnTo>
                  <a:lnTo>
                    <a:pt x="349" y="249"/>
                  </a:lnTo>
                </a:path>
              </a:pathLst>
            </a:custGeom>
            <a:noFill/>
            <a:ln w="14288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</a:pPr>
              <a:endParaRPr lang="zh-CN" altLang="en-US">
                <a:solidFill>
                  <a:prstClr val="black"/>
                </a:solidFill>
                <a:latin typeface="Arial" panose="020B0604020202020204" pitchFamily="34" charset="0"/>
                <a:ea typeface="等线" panose="02010600030101010101" pitchFamily="2" charset="-122"/>
                <a:cs typeface="Arial" panose="020B0604020202020204" pitchFamily="34" charset="0"/>
              </a:endParaRPr>
            </a:p>
          </p:txBody>
        </p:sp>
        <p:sp>
          <p:nvSpPr>
            <p:cNvPr id="549" name="Freeform 184">
              <a:extLst>
                <a:ext uri="{FF2B5EF4-FFF2-40B4-BE49-F238E27FC236}">
                  <a16:creationId xmlns:a16="http://schemas.microsoft.com/office/drawing/2014/main" id="{2E3F7D96-FF59-4572-A118-F900D25DC826}"/>
                </a:ext>
              </a:extLst>
            </p:cNvPr>
            <p:cNvSpPr>
              <a:spLocks/>
            </p:cNvSpPr>
            <p:nvPr/>
          </p:nvSpPr>
          <p:spPr bwMode="auto">
            <a:xfrm>
              <a:off x="6485243" y="5200704"/>
              <a:ext cx="552450" cy="395288"/>
            </a:xfrm>
            <a:custGeom>
              <a:avLst/>
              <a:gdLst>
                <a:gd name="T0" fmla="*/ 348 w 348"/>
                <a:gd name="T1" fmla="*/ 247 h 249"/>
                <a:gd name="T2" fmla="*/ 348 w 348"/>
                <a:gd name="T3" fmla="*/ 0 h 249"/>
                <a:gd name="T4" fmla="*/ 0 w 348"/>
                <a:gd name="T5" fmla="*/ 0 h 249"/>
                <a:gd name="T6" fmla="*/ 0 w 348"/>
                <a:gd name="T7" fmla="*/ 249 h 249"/>
                <a:gd name="T8" fmla="*/ 348 w 348"/>
                <a:gd name="T9" fmla="*/ 249 h 249"/>
                <a:gd name="T10" fmla="*/ 348 w 348"/>
                <a:gd name="T11" fmla="*/ 249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48" h="249">
                  <a:moveTo>
                    <a:pt x="348" y="247"/>
                  </a:moveTo>
                  <a:lnTo>
                    <a:pt x="348" y="0"/>
                  </a:lnTo>
                  <a:lnTo>
                    <a:pt x="0" y="0"/>
                  </a:lnTo>
                  <a:lnTo>
                    <a:pt x="0" y="249"/>
                  </a:lnTo>
                  <a:lnTo>
                    <a:pt x="348" y="249"/>
                  </a:lnTo>
                  <a:lnTo>
                    <a:pt x="348" y="249"/>
                  </a:lnTo>
                </a:path>
              </a:pathLst>
            </a:custGeom>
            <a:noFill/>
            <a:ln w="14288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</a:pPr>
              <a:endParaRPr lang="zh-CN" altLang="en-US">
                <a:solidFill>
                  <a:prstClr val="black"/>
                </a:solidFill>
                <a:latin typeface="Arial" panose="020B0604020202020204" pitchFamily="34" charset="0"/>
                <a:ea typeface="等线" panose="02010600030101010101" pitchFamily="2" charset="-122"/>
                <a:cs typeface="Arial" panose="020B0604020202020204" pitchFamily="34" charset="0"/>
              </a:endParaRPr>
            </a:p>
          </p:txBody>
        </p:sp>
        <p:sp>
          <p:nvSpPr>
            <p:cNvPr id="550" name="Freeform 188">
              <a:extLst>
                <a:ext uri="{FF2B5EF4-FFF2-40B4-BE49-F238E27FC236}">
                  <a16:creationId xmlns:a16="http://schemas.microsoft.com/office/drawing/2014/main" id="{AC8ACBA9-00A9-4B62-8D69-7437125B705A}"/>
                </a:ext>
              </a:extLst>
            </p:cNvPr>
            <p:cNvSpPr>
              <a:spLocks/>
            </p:cNvSpPr>
            <p:nvPr/>
          </p:nvSpPr>
          <p:spPr bwMode="auto">
            <a:xfrm>
              <a:off x="7037693" y="5200704"/>
              <a:ext cx="277813" cy="395288"/>
            </a:xfrm>
            <a:custGeom>
              <a:avLst/>
              <a:gdLst>
                <a:gd name="T0" fmla="*/ 175 w 175"/>
                <a:gd name="T1" fmla="*/ 247 h 249"/>
                <a:gd name="T2" fmla="*/ 175 w 175"/>
                <a:gd name="T3" fmla="*/ 0 h 249"/>
                <a:gd name="T4" fmla="*/ 0 w 175"/>
                <a:gd name="T5" fmla="*/ 0 h 249"/>
                <a:gd name="T6" fmla="*/ 0 w 175"/>
                <a:gd name="T7" fmla="*/ 249 h 249"/>
                <a:gd name="T8" fmla="*/ 175 w 175"/>
                <a:gd name="T9" fmla="*/ 249 h 249"/>
                <a:gd name="T10" fmla="*/ 175 w 175"/>
                <a:gd name="T11" fmla="*/ 249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75" h="249">
                  <a:moveTo>
                    <a:pt x="175" y="247"/>
                  </a:moveTo>
                  <a:lnTo>
                    <a:pt x="175" y="0"/>
                  </a:lnTo>
                  <a:lnTo>
                    <a:pt x="0" y="0"/>
                  </a:lnTo>
                  <a:lnTo>
                    <a:pt x="0" y="249"/>
                  </a:lnTo>
                  <a:lnTo>
                    <a:pt x="175" y="249"/>
                  </a:lnTo>
                  <a:lnTo>
                    <a:pt x="175" y="249"/>
                  </a:lnTo>
                </a:path>
              </a:pathLst>
            </a:custGeom>
            <a:noFill/>
            <a:ln w="14288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</a:pPr>
              <a:endParaRPr lang="zh-CN" altLang="en-US">
                <a:solidFill>
                  <a:prstClr val="black"/>
                </a:solidFill>
                <a:latin typeface="Arial" panose="020B0604020202020204" pitchFamily="34" charset="0"/>
                <a:ea typeface="等线" panose="02010600030101010101" pitchFamily="2" charset="-122"/>
                <a:cs typeface="Arial" panose="020B0604020202020204" pitchFamily="34" charset="0"/>
              </a:endParaRPr>
            </a:p>
          </p:txBody>
        </p:sp>
        <p:sp>
          <p:nvSpPr>
            <p:cNvPr id="551" name="Line 195">
              <a:extLst>
                <a:ext uri="{FF2B5EF4-FFF2-40B4-BE49-F238E27FC236}">
                  <a16:creationId xmlns:a16="http://schemas.microsoft.com/office/drawing/2014/main" id="{5A4938B4-36FA-4801-BE25-32506B0872E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735692" y="3509854"/>
              <a:ext cx="0" cy="68263"/>
            </a:xfrm>
            <a:prstGeom prst="line">
              <a:avLst/>
            </a:prstGeom>
            <a:noFill/>
            <a:ln w="7938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</a:pPr>
              <a:endParaRPr lang="zh-CN" altLang="en-US">
                <a:solidFill>
                  <a:prstClr val="black"/>
                </a:solidFill>
                <a:latin typeface="Arial" panose="020B0604020202020204" pitchFamily="34" charset="0"/>
                <a:ea typeface="等线" panose="02010600030101010101" pitchFamily="2" charset="-122"/>
                <a:cs typeface="Arial" panose="020B0604020202020204" pitchFamily="34" charset="0"/>
              </a:endParaRPr>
            </a:p>
          </p:txBody>
        </p:sp>
        <p:sp>
          <p:nvSpPr>
            <p:cNvPr id="552" name="Rectangle 196">
              <a:extLst>
                <a:ext uri="{FF2B5EF4-FFF2-40B4-BE49-F238E27FC236}">
                  <a16:creationId xmlns:a16="http://schemas.microsoft.com/office/drawing/2014/main" id="{E8F15A64-44B1-4117-BA2A-92BA1D1D31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97592" y="3320941"/>
              <a:ext cx="70532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r>
                <a:rPr lang="zh-CN" altLang="zh-CN" sz="1000">
                  <a:solidFill>
                    <a:srgbClr val="000000"/>
                  </a:solidFill>
                  <a:ea typeface="等线" panose="02010600030101010101" pitchFamily="2" charset="-122"/>
                  <a:cs typeface="Arial" panose="020B0604020202020204" pitchFamily="34" charset="0"/>
                </a:rPr>
                <a:t>2</a:t>
              </a:r>
              <a:endParaRPr lang="zh-CN" altLang="zh-CN">
                <a:solidFill>
                  <a:prstClr val="black"/>
                </a:solidFill>
                <a:ea typeface="等线" panose="02010600030101010101" pitchFamily="2" charset="-122"/>
                <a:cs typeface="Arial" panose="020B0604020202020204" pitchFamily="34" charset="0"/>
              </a:endParaRPr>
            </a:p>
          </p:txBody>
        </p:sp>
        <p:sp>
          <p:nvSpPr>
            <p:cNvPr id="553" name="Line 197">
              <a:extLst>
                <a:ext uri="{FF2B5EF4-FFF2-40B4-BE49-F238E27FC236}">
                  <a16:creationId xmlns:a16="http://schemas.microsoft.com/office/drawing/2014/main" id="{047FDCCA-3EB8-4103-A0A6-D25CACDD04C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288142" y="3509854"/>
              <a:ext cx="0" cy="68263"/>
            </a:xfrm>
            <a:prstGeom prst="line">
              <a:avLst/>
            </a:prstGeom>
            <a:noFill/>
            <a:ln w="7938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</a:pPr>
              <a:endParaRPr lang="zh-CN" altLang="en-US">
                <a:solidFill>
                  <a:prstClr val="black"/>
                </a:solidFill>
                <a:latin typeface="Arial" panose="020B0604020202020204" pitchFamily="34" charset="0"/>
                <a:ea typeface="等线" panose="02010600030101010101" pitchFamily="2" charset="-122"/>
                <a:cs typeface="Arial" panose="020B0604020202020204" pitchFamily="34" charset="0"/>
              </a:endParaRPr>
            </a:p>
          </p:txBody>
        </p:sp>
        <p:sp>
          <p:nvSpPr>
            <p:cNvPr id="554" name="Rectangle 198">
              <a:extLst>
                <a:ext uri="{FF2B5EF4-FFF2-40B4-BE49-F238E27FC236}">
                  <a16:creationId xmlns:a16="http://schemas.microsoft.com/office/drawing/2014/main" id="{4BE7A1AB-C6C9-4ED2-9313-23C6EB7F40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51630" y="3320941"/>
              <a:ext cx="70532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r>
                <a:rPr lang="zh-CN" altLang="zh-CN" sz="1000">
                  <a:solidFill>
                    <a:srgbClr val="000000"/>
                  </a:solidFill>
                  <a:ea typeface="等线" panose="02010600030101010101" pitchFamily="2" charset="-122"/>
                  <a:cs typeface="Arial" panose="020B0604020202020204" pitchFamily="34" charset="0"/>
                </a:rPr>
                <a:t>4</a:t>
              </a:r>
              <a:endParaRPr lang="zh-CN" altLang="zh-CN">
                <a:solidFill>
                  <a:prstClr val="black"/>
                </a:solidFill>
                <a:ea typeface="等线" panose="02010600030101010101" pitchFamily="2" charset="-122"/>
                <a:cs typeface="Arial" panose="020B0604020202020204" pitchFamily="34" charset="0"/>
              </a:endParaRPr>
            </a:p>
          </p:txBody>
        </p:sp>
        <p:sp>
          <p:nvSpPr>
            <p:cNvPr id="555" name="Line 199">
              <a:extLst>
                <a:ext uri="{FF2B5EF4-FFF2-40B4-BE49-F238E27FC236}">
                  <a16:creationId xmlns:a16="http://schemas.microsoft.com/office/drawing/2014/main" id="{AB9C807A-873B-4487-811B-8C64BFBB63F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842180" y="3509854"/>
              <a:ext cx="0" cy="68263"/>
            </a:xfrm>
            <a:prstGeom prst="line">
              <a:avLst/>
            </a:prstGeom>
            <a:noFill/>
            <a:ln w="7938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</a:pPr>
              <a:endParaRPr lang="zh-CN" altLang="en-US">
                <a:solidFill>
                  <a:prstClr val="black"/>
                </a:solidFill>
                <a:latin typeface="Arial" panose="020B0604020202020204" pitchFamily="34" charset="0"/>
                <a:ea typeface="等线" panose="02010600030101010101" pitchFamily="2" charset="-122"/>
                <a:cs typeface="Arial" panose="020B0604020202020204" pitchFamily="34" charset="0"/>
              </a:endParaRPr>
            </a:p>
          </p:txBody>
        </p:sp>
        <p:sp>
          <p:nvSpPr>
            <p:cNvPr id="556" name="Rectangle 200">
              <a:extLst>
                <a:ext uri="{FF2B5EF4-FFF2-40B4-BE49-F238E27FC236}">
                  <a16:creationId xmlns:a16="http://schemas.microsoft.com/office/drawing/2014/main" id="{1CD08E3C-79ED-44C4-B1B1-C459F3E2D4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05667" y="3320941"/>
              <a:ext cx="70532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r>
                <a:rPr lang="zh-CN" altLang="zh-CN" sz="1000">
                  <a:solidFill>
                    <a:srgbClr val="000000"/>
                  </a:solidFill>
                  <a:ea typeface="等线" panose="02010600030101010101" pitchFamily="2" charset="-122"/>
                  <a:cs typeface="Arial" panose="020B0604020202020204" pitchFamily="34" charset="0"/>
                </a:rPr>
                <a:t>6</a:t>
              </a:r>
              <a:endParaRPr lang="zh-CN" altLang="zh-CN">
                <a:solidFill>
                  <a:prstClr val="black"/>
                </a:solidFill>
                <a:ea typeface="等线" panose="02010600030101010101" pitchFamily="2" charset="-122"/>
                <a:cs typeface="Arial" panose="020B0604020202020204" pitchFamily="34" charset="0"/>
              </a:endParaRPr>
            </a:p>
          </p:txBody>
        </p:sp>
        <p:sp>
          <p:nvSpPr>
            <p:cNvPr id="557" name="Line 201">
              <a:extLst>
                <a:ext uri="{FF2B5EF4-FFF2-40B4-BE49-F238E27FC236}">
                  <a16:creationId xmlns:a16="http://schemas.microsoft.com/office/drawing/2014/main" id="{C1EC96FA-D313-464F-83D9-2DA1CBA1CD5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396217" y="3509854"/>
              <a:ext cx="0" cy="68263"/>
            </a:xfrm>
            <a:prstGeom prst="line">
              <a:avLst/>
            </a:prstGeom>
            <a:noFill/>
            <a:ln w="7938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</a:pPr>
              <a:endParaRPr lang="zh-CN" altLang="en-US">
                <a:solidFill>
                  <a:prstClr val="black"/>
                </a:solidFill>
                <a:latin typeface="Arial" panose="020B0604020202020204" pitchFamily="34" charset="0"/>
                <a:ea typeface="等线" panose="02010600030101010101" pitchFamily="2" charset="-122"/>
                <a:cs typeface="Arial" panose="020B0604020202020204" pitchFamily="34" charset="0"/>
              </a:endParaRPr>
            </a:p>
          </p:txBody>
        </p:sp>
        <p:sp>
          <p:nvSpPr>
            <p:cNvPr id="558" name="Rectangle 202">
              <a:extLst>
                <a:ext uri="{FF2B5EF4-FFF2-40B4-BE49-F238E27FC236}">
                  <a16:creationId xmlns:a16="http://schemas.microsoft.com/office/drawing/2014/main" id="{ADBBDA66-845E-4AF7-AF37-18D6731AAA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58117" y="3320941"/>
              <a:ext cx="70532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r>
                <a:rPr lang="zh-CN" altLang="zh-CN" sz="1000">
                  <a:solidFill>
                    <a:srgbClr val="000000"/>
                  </a:solidFill>
                  <a:ea typeface="等线" panose="02010600030101010101" pitchFamily="2" charset="-122"/>
                  <a:cs typeface="Arial" panose="020B0604020202020204" pitchFamily="34" charset="0"/>
                </a:rPr>
                <a:t>8</a:t>
              </a:r>
              <a:endParaRPr lang="zh-CN" altLang="zh-CN">
                <a:solidFill>
                  <a:prstClr val="black"/>
                </a:solidFill>
                <a:ea typeface="等线" panose="02010600030101010101" pitchFamily="2" charset="-122"/>
                <a:cs typeface="Arial" panose="020B0604020202020204" pitchFamily="34" charset="0"/>
              </a:endParaRPr>
            </a:p>
          </p:txBody>
        </p:sp>
        <p:sp>
          <p:nvSpPr>
            <p:cNvPr id="559" name="Line 203">
              <a:extLst>
                <a:ext uri="{FF2B5EF4-FFF2-40B4-BE49-F238E27FC236}">
                  <a16:creationId xmlns:a16="http://schemas.microsoft.com/office/drawing/2014/main" id="{5E7060A5-2158-495D-8F3F-2110646BCE3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948667" y="3509854"/>
              <a:ext cx="0" cy="68263"/>
            </a:xfrm>
            <a:prstGeom prst="line">
              <a:avLst/>
            </a:prstGeom>
            <a:noFill/>
            <a:ln w="7938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</a:pPr>
              <a:endParaRPr lang="zh-CN" altLang="en-US">
                <a:solidFill>
                  <a:prstClr val="black"/>
                </a:solidFill>
                <a:latin typeface="Arial" panose="020B0604020202020204" pitchFamily="34" charset="0"/>
                <a:ea typeface="等线" panose="02010600030101010101" pitchFamily="2" charset="-122"/>
                <a:cs typeface="Arial" panose="020B0604020202020204" pitchFamily="34" charset="0"/>
              </a:endParaRPr>
            </a:p>
          </p:txBody>
        </p:sp>
        <p:sp>
          <p:nvSpPr>
            <p:cNvPr id="560" name="Rectangle 204">
              <a:extLst>
                <a:ext uri="{FF2B5EF4-FFF2-40B4-BE49-F238E27FC236}">
                  <a16:creationId xmlns:a16="http://schemas.microsoft.com/office/drawing/2014/main" id="{4B18B966-7011-4F74-ACEC-3F5DEC68CB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875642" y="3320941"/>
              <a:ext cx="70532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r>
                <a:rPr lang="zh-CN" altLang="zh-CN" sz="1000">
                  <a:solidFill>
                    <a:srgbClr val="000000"/>
                  </a:solidFill>
                  <a:ea typeface="等线" panose="02010600030101010101" pitchFamily="2" charset="-122"/>
                  <a:cs typeface="Arial" panose="020B0604020202020204" pitchFamily="34" charset="0"/>
                </a:rPr>
                <a:t>1</a:t>
              </a:r>
              <a:endParaRPr lang="zh-CN" altLang="zh-CN">
                <a:solidFill>
                  <a:prstClr val="black"/>
                </a:solidFill>
                <a:ea typeface="等线" panose="02010600030101010101" pitchFamily="2" charset="-122"/>
                <a:cs typeface="Arial" panose="020B0604020202020204" pitchFamily="34" charset="0"/>
              </a:endParaRPr>
            </a:p>
          </p:txBody>
        </p:sp>
        <p:sp>
          <p:nvSpPr>
            <p:cNvPr id="561" name="Rectangle 206">
              <a:extLst>
                <a:ext uri="{FF2B5EF4-FFF2-40B4-BE49-F238E27FC236}">
                  <a16:creationId xmlns:a16="http://schemas.microsoft.com/office/drawing/2014/main" id="{22ADF648-3B17-42CB-9A5D-6BD2AADDDF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42317" y="3320941"/>
              <a:ext cx="70532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r>
                <a:rPr lang="zh-CN" altLang="zh-CN" sz="1000">
                  <a:solidFill>
                    <a:srgbClr val="000000"/>
                  </a:solidFill>
                  <a:ea typeface="等线" panose="02010600030101010101" pitchFamily="2" charset="-122"/>
                  <a:cs typeface="Arial" panose="020B0604020202020204" pitchFamily="34" charset="0"/>
                </a:rPr>
                <a:t>0</a:t>
              </a:r>
              <a:endParaRPr lang="zh-CN" altLang="zh-CN">
                <a:solidFill>
                  <a:prstClr val="black"/>
                </a:solidFill>
                <a:ea typeface="等线" panose="02010600030101010101" pitchFamily="2" charset="-122"/>
                <a:cs typeface="Arial" panose="020B0604020202020204" pitchFamily="34" charset="0"/>
              </a:endParaRPr>
            </a:p>
          </p:txBody>
        </p:sp>
        <p:sp>
          <p:nvSpPr>
            <p:cNvPr id="562" name="Line 207">
              <a:extLst>
                <a:ext uri="{FF2B5EF4-FFF2-40B4-BE49-F238E27FC236}">
                  <a16:creationId xmlns:a16="http://schemas.microsoft.com/office/drawing/2014/main" id="{EF042A05-C5BC-497D-B612-A375BD2AFD2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502705" y="3509853"/>
              <a:ext cx="0" cy="68263"/>
            </a:xfrm>
            <a:prstGeom prst="line">
              <a:avLst/>
            </a:prstGeom>
            <a:noFill/>
            <a:ln w="7938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</a:pPr>
              <a:endParaRPr lang="zh-CN" altLang="en-US">
                <a:solidFill>
                  <a:prstClr val="black"/>
                </a:solidFill>
                <a:latin typeface="Arial" panose="020B0604020202020204" pitchFamily="34" charset="0"/>
                <a:ea typeface="等线" panose="02010600030101010101" pitchFamily="2" charset="-122"/>
                <a:cs typeface="Arial" panose="020B0604020202020204" pitchFamily="34" charset="0"/>
              </a:endParaRPr>
            </a:p>
          </p:txBody>
        </p:sp>
        <p:sp>
          <p:nvSpPr>
            <p:cNvPr id="563" name="Line 208">
              <a:extLst>
                <a:ext uri="{FF2B5EF4-FFF2-40B4-BE49-F238E27FC236}">
                  <a16:creationId xmlns:a16="http://schemas.microsoft.com/office/drawing/2014/main" id="{28B332B9-1594-40A7-BA25-F2D726FD894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048805" y="3509853"/>
              <a:ext cx="0" cy="68263"/>
            </a:xfrm>
            <a:prstGeom prst="line">
              <a:avLst/>
            </a:prstGeom>
            <a:noFill/>
            <a:ln w="7938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</a:pPr>
              <a:endParaRPr lang="zh-CN" altLang="en-US">
                <a:solidFill>
                  <a:prstClr val="black"/>
                </a:solidFill>
                <a:latin typeface="Arial" panose="020B0604020202020204" pitchFamily="34" charset="0"/>
                <a:ea typeface="等线" panose="02010600030101010101" pitchFamily="2" charset="-122"/>
                <a:cs typeface="Arial" panose="020B0604020202020204" pitchFamily="34" charset="0"/>
              </a:endParaRPr>
            </a:p>
          </p:txBody>
        </p:sp>
        <p:sp>
          <p:nvSpPr>
            <p:cNvPr id="564" name="Rectangle 209">
              <a:extLst>
                <a:ext uri="{FF2B5EF4-FFF2-40B4-BE49-F238E27FC236}">
                  <a16:creationId xmlns:a16="http://schemas.microsoft.com/office/drawing/2014/main" id="{D9DB4E81-F1CE-4F10-924F-1E97D395E2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28092" y="3320941"/>
              <a:ext cx="70532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r>
                <a:rPr lang="zh-CN" altLang="zh-CN" sz="1000">
                  <a:solidFill>
                    <a:srgbClr val="000000"/>
                  </a:solidFill>
                  <a:ea typeface="等线" panose="02010600030101010101" pitchFamily="2" charset="-122"/>
                  <a:cs typeface="Arial" panose="020B0604020202020204" pitchFamily="34" charset="0"/>
                </a:rPr>
                <a:t>1</a:t>
              </a:r>
              <a:endParaRPr lang="zh-CN" altLang="zh-CN">
                <a:solidFill>
                  <a:prstClr val="black"/>
                </a:solidFill>
                <a:ea typeface="等线" panose="02010600030101010101" pitchFamily="2" charset="-122"/>
                <a:cs typeface="Arial" panose="020B0604020202020204" pitchFamily="34" charset="0"/>
              </a:endParaRPr>
            </a:p>
          </p:txBody>
        </p:sp>
        <p:sp>
          <p:nvSpPr>
            <p:cNvPr id="565" name="Rectangle 210">
              <a:extLst>
                <a:ext uri="{FF2B5EF4-FFF2-40B4-BE49-F238E27FC236}">
                  <a16:creationId xmlns:a16="http://schemas.microsoft.com/office/drawing/2014/main" id="{7FB28458-9129-4543-B847-FE3F7DCDB8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94767" y="3320941"/>
              <a:ext cx="70532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r>
                <a:rPr lang="zh-CN" altLang="zh-CN" sz="1000">
                  <a:solidFill>
                    <a:srgbClr val="000000"/>
                  </a:solidFill>
                  <a:ea typeface="等线" panose="02010600030101010101" pitchFamily="2" charset="-122"/>
                  <a:cs typeface="Arial" panose="020B0604020202020204" pitchFamily="34" charset="0"/>
                </a:rPr>
                <a:t>2</a:t>
              </a:r>
              <a:endParaRPr lang="zh-CN" altLang="zh-CN">
                <a:solidFill>
                  <a:prstClr val="black"/>
                </a:solidFill>
                <a:ea typeface="等线" panose="02010600030101010101" pitchFamily="2" charset="-122"/>
                <a:cs typeface="Arial" panose="020B0604020202020204" pitchFamily="34" charset="0"/>
              </a:endParaRPr>
            </a:p>
          </p:txBody>
        </p:sp>
        <p:sp>
          <p:nvSpPr>
            <p:cNvPr id="566" name="Rectangle 211">
              <a:extLst>
                <a:ext uri="{FF2B5EF4-FFF2-40B4-BE49-F238E27FC236}">
                  <a16:creationId xmlns:a16="http://schemas.microsoft.com/office/drawing/2014/main" id="{006712A2-E45C-457B-A727-73A5F59D75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71017" y="3317766"/>
              <a:ext cx="70532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r>
                <a:rPr lang="zh-CN" altLang="zh-CN" sz="1000">
                  <a:solidFill>
                    <a:srgbClr val="000000"/>
                  </a:solidFill>
                  <a:ea typeface="等线" panose="02010600030101010101" pitchFamily="2" charset="-122"/>
                  <a:cs typeface="Arial" panose="020B0604020202020204" pitchFamily="34" charset="0"/>
                </a:rPr>
                <a:t>1</a:t>
              </a:r>
              <a:endParaRPr lang="zh-CN" altLang="zh-CN">
                <a:solidFill>
                  <a:prstClr val="black"/>
                </a:solidFill>
                <a:ea typeface="等线" panose="02010600030101010101" pitchFamily="2" charset="-122"/>
                <a:cs typeface="Arial" panose="020B0604020202020204" pitchFamily="34" charset="0"/>
              </a:endParaRPr>
            </a:p>
          </p:txBody>
        </p:sp>
        <p:sp>
          <p:nvSpPr>
            <p:cNvPr id="567" name="Rectangle 212">
              <a:extLst>
                <a:ext uri="{FF2B5EF4-FFF2-40B4-BE49-F238E27FC236}">
                  <a16:creationId xmlns:a16="http://schemas.microsoft.com/office/drawing/2014/main" id="{4110A972-D19B-4CB1-99CD-FCAE9B174B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40867" y="3317766"/>
              <a:ext cx="70532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r>
                <a:rPr lang="zh-CN" altLang="zh-CN" sz="1000">
                  <a:solidFill>
                    <a:srgbClr val="000000"/>
                  </a:solidFill>
                  <a:ea typeface="等线" panose="02010600030101010101" pitchFamily="2" charset="-122"/>
                  <a:cs typeface="Arial" panose="020B0604020202020204" pitchFamily="34" charset="0"/>
                </a:rPr>
                <a:t>4</a:t>
              </a:r>
              <a:endParaRPr lang="zh-CN" altLang="zh-CN">
                <a:solidFill>
                  <a:prstClr val="black"/>
                </a:solidFill>
                <a:ea typeface="等线" panose="02010600030101010101" pitchFamily="2" charset="-122"/>
                <a:cs typeface="Arial" panose="020B0604020202020204" pitchFamily="34" charset="0"/>
              </a:endParaRPr>
            </a:p>
          </p:txBody>
        </p:sp>
        <p:sp>
          <p:nvSpPr>
            <p:cNvPr id="568" name="文本框 567">
              <a:extLst>
                <a:ext uri="{FF2B5EF4-FFF2-40B4-BE49-F238E27FC236}">
                  <a16:creationId xmlns:a16="http://schemas.microsoft.com/office/drawing/2014/main" id="{38DEFFCC-E58E-49B8-A547-8B7D4CC07313}"/>
                </a:ext>
              </a:extLst>
            </p:cNvPr>
            <p:cNvSpPr txBox="1"/>
            <p:nvPr/>
          </p:nvSpPr>
          <p:spPr>
            <a:xfrm>
              <a:off x="1983386" y="3822279"/>
              <a:ext cx="1084996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</a:pPr>
              <a:r>
                <a:rPr lang="en-US" altLang="zh-CN" sz="1000" dirty="0">
                  <a:solidFill>
                    <a:prstClr val="black"/>
                  </a:solidFill>
                  <a:latin typeface="Arial" panose="020B0604020202020204" pitchFamily="34" charset="0"/>
                  <a:ea typeface="等线" panose="02010600030101010101" pitchFamily="2" charset="-122"/>
                  <a:cs typeface="Arial" panose="020B0604020202020204" pitchFamily="34" charset="0"/>
                </a:rPr>
                <a:t>add $4, $5, $6</a:t>
              </a:r>
              <a:endParaRPr lang="zh-CN" altLang="en-US" sz="1000" dirty="0">
                <a:solidFill>
                  <a:prstClr val="black"/>
                </a:solidFill>
                <a:latin typeface="Arial" panose="020B0604020202020204" pitchFamily="34" charset="0"/>
                <a:ea typeface="等线" panose="02010600030101010101" pitchFamily="2" charset="-122"/>
                <a:cs typeface="Arial" panose="020B0604020202020204" pitchFamily="34" charset="0"/>
              </a:endParaRPr>
            </a:p>
          </p:txBody>
        </p:sp>
        <p:sp>
          <p:nvSpPr>
            <p:cNvPr id="569" name="文本框 568">
              <a:extLst>
                <a:ext uri="{FF2B5EF4-FFF2-40B4-BE49-F238E27FC236}">
                  <a16:creationId xmlns:a16="http://schemas.microsoft.com/office/drawing/2014/main" id="{E8C9FEFD-0B00-4445-A2DB-19479DC994E6}"/>
                </a:ext>
              </a:extLst>
            </p:cNvPr>
            <p:cNvSpPr txBox="1"/>
            <p:nvPr/>
          </p:nvSpPr>
          <p:spPr>
            <a:xfrm>
              <a:off x="1969145" y="4200960"/>
              <a:ext cx="1402557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</a:pPr>
              <a:r>
                <a:rPr lang="en-US" altLang="zh-CN" sz="1000" dirty="0" err="1">
                  <a:solidFill>
                    <a:srgbClr val="C00000"/>
                  </a:solidFill>
                  <a:latin typeface="Arial" panose="020B0604020202020204" pitchFamily="34" charset="0"/>
                  <a:ea typeface="等线" panose="02010600030101010101" pitchFamily="2" charset="-122"/>
                  <a:cs typeface="Arial" panose="020B0604020202020204" pitchFamily="34" charset="0"/>
                </a:rPr>
                <a:t>beq</a:t>
              </a:r>
              <a:r>
                <a:rPr lang="en-US" altLang="zh-CN" sz="1000" dirty="0">
                  <a:solidFill>
                    <a:srgbClr val="C00000"/>
                  </a:solidFill>
                  <a:latin typeface="Arial" panose="020B0604020202020204" pitchFamily="34" charset="0"/>
                  <a:ea typeface="等线" panose="02010600030101010101" pitchFamily="2" charset="-122"/>
                  <a:cs typeface="Arial" panose="020B0604020202020204" pitchFamily="34" charset="0"/>
                </a:rPr>
                <a:t> $1, $2, 40</a:t>
              </a:r>
            </a:p>
          </p:txBody>
        </p:sp>
        <p:sp>
          <p:nvSpPr>
            <p:cNvPr id="570" name="文本框 569">
              <a:extLst>
                <a:ext uri="{FF2B5EF4-FFF2-40B4-BE49-F238E27FC236}">
                  <a16:creationId xmlns:a16="http://schemas.microsoft.com/office/drawing/2014/main" id="{269C73E3-74EB-4443-B933-32B90F9CD0FE}"/>
                </a:ext>
              </a:extLst>
            </p:cNvPr>
            <p:cNvSpPr txBox="1"/>
            <p:nvPr/>
          </p:nvSpPr>
          <p:spPr>
            <a:xfrm>
              <a:off x="3138761" y="3825844"/>
              <a:ext cx="601725" cy="24622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</a:pPr>
              <a:r>
                <a:rPr lang="en-US" altLang="zh-CN" sz="800" dirty="0">
                  <a:solidFill>
                    <a:prstClr val="black"/>
                  </a:solidFill>
                  <a:latin typeface="Arial" panose="020B0604020202020204" pitchFamily="34" charset="0"/>
                  <a:ea typeface="等线" panose="02010600030101010101" pitchFamily="2" charset="-122"/>
                  <a:cs typeface="Arial" panose="020B0604020202020204" pitchFamily="34" charset="0"/>
                </a:rPr>
                <a:t>Instruction</a:t>
              </a: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</a:pPr>
              <a:r>
                <a:rPr lang="en-US" altLang="zh-CN" sz="800" dirty="0">
                  <a:solidFill>
                    <a:prstClr val="black"/>
                  </a:solidFill>
                  <a:latin typeface="Arial" panose="020B0604020202020204" pitchFamily="34" charset="0"/>
                  <a:ea typeface="等线" panose="02010600030101010101" pitchFamily="2" charset="-122"/>
                  <a:cs typeface="Arial" panose="020B0604020202020204" pitchFamily="34" charset="0"/>
                </a:rPr>
                <a:t>Fetch</a:t>
              </a:r>
              <a:endParaRPr lang="zh-CN" altLang="en-US" sz="800" dirty="0">
                <a:solidFill>
                  <a:prstClr val="black"/>
                </a:solidFill>
                <a:latin typeface="Arial" panose="020B0604020202020204" pitchFamily="34" charset="0"/>
                <a:ea typeface="等线" panose="02010600030101010101" pitchFamily="2" charset="-122"/>
                <a:cs typeface="Arial" panose="020B0604020202020204" pitchFamily="34" charset="0"/>
              </a:endParaRPr>
            </a:p>
          </p:txBody>
        </p:sp>
        <p:sp>
          <p:nvSpPr>
            <p:cNvPr id="571" name="文本框 570">
              <a:extLst>
                <a:ext uri="{FF2B5EF4-FFF2-40B4-BE49-F238E27FC236}">
                  <a16:creationId xmlns:a16="http://schemas.microsoft.com/office/drawing/2014/main" id="{B42A277B-0373-4DFA-A7ED-E489FC63B103}"/>
                </a:ext>
              </a:extLst>
            </p:cNvPr>
            <p:cNvSpPr txBox="1"/>
            <p:nvPr/>
          </p:nvSpPr>
          <p:spPr>
            <a:xfrm>
              <a:off x="3958890" y="3894858"/>
              <a:ext cx="334656" cy="12311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</a:pPr>
              <a:r>
                <a:rPr lang="en-US" altLang="zh-CN" sz="800" dirty="0">
                  <a:solidFill>
                    <a:prstClr val="black"/>
                  </a:solidFill>
                  <a:latin typeface="Arial" panose="020B0604020202020204" pitchFamily="34" charset="0"/>
                  <a:ea typeface="等线" panose="02010600030101010101" pitchFamily="2" charset="-122"/>
                  <a:cs typeface="Arial" panose="020B0604020202020204" pitchFamily="34" charset="0"/>
                </a:rPr>
                <a:t>Reg</a:t>
              </a:r>
              <a:endParaRPr lang="zh-CN" altLang="en-US" sz="800" dirty="0">
                <a:solidFill>
                  <a:prstClr val="black"/>
                </a:solidFill>
                <a:latin typeface="Arial" panose="020B0604020202020204" pitchFamily="34" charset="0"/>
                <a:ea typeface="等线" panose="02010600030101010101" pitchFamily="2" charset="-122"/>
                <a:cs typeface="Arial" panose="020B0604020202020204" pitchFamily="34" charset="0"/>
              </a:endParaRPr>
            </a:p>
          </p:txBody>
        </p:sp>
        <p:sp>
          <p:nvSpPr>
            <p:cNvPr id="572" name="文本框 571">
              <a:extLst>
                <a:ext uri="{FF2B5EF4-FFF2-40B4-BE49-F238E27FC236}">
                  <a16:creationId xmlns:a16="http://schemas.microsoft.com/office/drawing/2014/main" id="{FF12E019-FB76-4E5E-84B9-3021F357596C}"/>
                </a:ext>
              </a:extLst>
            </p:cNvPr>
            <p:cNvSpPr txBox="1"/>
            <p:nvPr/>
          </p:nvSpPr>
          <p:spPr>
            <a:xfrm>
              <a:off x="4377821" y="3898997"/>
              <a:ext cx="334656" cy="12311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</a:pPr>
              <a:r>
                <a:rPr lang="en-US" altLang="zh-CN" sz="800" dirty="0">
                  <a:solidFill>
                    <a:prstClr val="black"/>
                  </a:solidFill>
                  <a:latin typeface="Arial" panose="020B0604020202020204" pitchFamily="34" charset="0"/>
                  <a:ea typeface="等线" panose="02010600030101010101" pitchFamily="2" charset="-122"/>
                  <a:cs typeface="Arial" panose="020B0604020202020204" pitchFamily="34" charset="0"/>
                </a:rPr>
                <a:t>ALU</a:t>
              </a:r>
              <a:endParaRPr lang="zh-CN" altLang="en-US" sz="800" dirty="0">
                <a:solidFill>
                  <a:prstClr val="black"/>
                </a:solidFill>
                <a:latin typeface="Arial" panose="020B0604020202020204" pitchFamily="34" charset="0"/>
                <a:ea typeface="等线" panose="02010600030101010101" pitchFamily="2" charset="-122"/>
                <a:cs typeface="Arial" panose="020B0604020202020204" pitchFamily="34" charset="0"/>
              </a:endParaRPr>
            </a:p>
          </p:txBody>
        </p:sp>
        <p:sp>
          <p:nvSpPr>
            <p:cNvPr id="573" name="文本框 572">
              <a:extLst>
                <a:ext uri="{FF2B5EF4-FFF2-40B4-BE49-F238E27FC236}">
                  <a16:creationId xmlns:a16="http://schemas.microsoft.com/office/drawing/2014/main" id="{08AF0A8D-8E81-4157-879A-5FCE593BFDF8}"/>
                </a:ext>
              </a:extLst>
            </p:cNvPr>
            <p:cNvSpPr txBox="1"/>
            <p:nvPr/>
          </p:nvSpPr>
          <p:spPr>
            <a:xfrm>
              <a:off x="4898062" y="3839614"/>
              <a:ext cx="390531" cy="24622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</a:pPr>
              <a:r>
                <a:rPr lang="en-US" altLang="zh-CN" sz="800" dirty="0">
                  <a:solidFill>
                    <a:prstClr val="black"/>
                  </a:solidFill>
                  <a:latin typeface="Arial" panose="020B0604020202020204" pitchFamily="34" charset="0"/>
                  <a:ea typeface="等线" panose="02010600030101010101" pitchFamily="2" charset="-122"/>
                  <a:cs typeface="Arial" panose="020B0604020202020204" pitchFamily="34" charset="0"/>
                </a:rPr>
                <a:t>Data</a:t>
              </a: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</a:pPr>
              <a:r>
                <a:rPr lang="en-US" altLang="zh-CN" sz="800" dirty="0">
                  <a:solidFill>
                    <a:prstClr val="black"/>
                  </a:solidFill>
                  <a:latin typeface="Arial" panose="020B0604020202020204" pitchFamily="34" charset="0"/>
                  <a:ea typeface="等线" panose="02010600030101010101" pitchFamily="2" charset="-122"/>
                  <a:cs typeface="Arial" panose="020B0604020202020204" pitchFamily="34" charset="0"/>
                </a:rPr>
                <a:t>access</a:t>
              </a:r>
              <a:endParaRPr lang="zh-CN" altLang="en-US" sz="800" dirty="0">
                <a:solidFill>
                  <a:prstClr val="black"/>
                </a:solidFill>
                <a:latin typeface="Arial" panose="020B0604020202020204" pitchFamily="34" charset="0"/>
                <a:ea typeface="等线" panose="02010600030101010101" pitchFamily="2" charset="-122"/>
                <a:cs typeface="Arial" panose="020B0604020202020204" pitchFamily="34" charset="0"/>
              </a:endParaRPr>
            </a:p>
          </p:txBody>
        </p:sp>
        <p:sp>
          <p:nvSpPr>
            <p:cNvPr id="574" name="文本框 573">
              <a:extLst>
                <a:ext uri="{FF2B5EF4-FFF2-40B4-BE49-F238E27FC236}">
                  <a16:creationId xmlns:a16="http://schemas.microsoft.com/office/drawing/2014/main" id="{E47EB58D-CA65-4E5E-9035-798CAA7DACFE}"/>
                </a:ext>
              </a:extLst>
            </p:cNvPr>
            <p:cNvSpPr txBox="1"/>
            <p:nvPr/>
          </p:nvSpPr>
          <p:spPr>
            <a:xfrm>
              <a:off x="5358762" y="3892004"/>
              <a:ext cx="334656" cy="12311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</a:pPr>
              <a:r>
                <a:rPr lang="en-US" altLang="zh-CN" sz="800" dirty="0">
                  <a:solidFill>
                    <a:prstClr val="black"/>
                  </a:solidFill>
                  <a:latin typeface="Arial" panose="020B0604020202020204" pitchFamily="34" charset="0"/>
                  <a:ea typeface="等线" panose="02010600030101010101" pitchFamily="2" charset="-122"/>
                  <a:cs typeface="Arial" panose="020B0604020202020204" pitchFamily="34" charset="0"/>
                </a:rPr>
                <a:t>Reg</a:t>
              </a:r>
              <a:endParaRPr lang="zh-CN" altLang="en-US" sz="800" dirty="0">
                <a:solidFill>
                  <a:prstClr val="black"/>
                </a:solidFill>
                <a:latin typeface="Arial" panose="020B0604020202020204" pitchFamily="34" charset="0"/>
                <a:ea typeface="等线" panose="02010600030101010101" pitchFamily="2" charset="-122"/>
                <a:cs typeface="Arial" panose="020B0604020202020204" pitchFamily="34" charset="0"/>
              </a:endParaRPr>
            </a:p>
          </p:txBody>
        </p:sp>
        <p:sp>
          <p:nvSpPr>
            <p:cNvPr id="575" name="文本框 574">
              <a:extLst>
                <a:ext uri="{FF2B5EF4-FFF2-40B4-BE49-F238E27FC236}">
                  <a16:creationId xmlns:a16="http://schemas.microsoft.com/office/drawing/2014/main" id="{1DDCE91B-177C-4473-A1F4-64B721A416B1}"/>
                </a:ext>
              </a:extLst>
            </p:cNvPr>
            <p:cNvSpPr txBox="1"/>
            <p:nvPr/>
          </p:nvSpPr>
          <p:spPr>
            <a:xfrm>
              <a:off x="3697592" y="4220655"/>
              <a:ext cx="601725" cy="24622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</a:pPr>
              <a:r>
                <a:rPr lang="en-US" altLang="zh-CN" sz="800" dirty="0">
                  <a:solidFill>
                    <a:prstClr val="black"/>
                  </a:solidFill>
                  <a:latin typeface="Arial" panose="020B0604020202020204" pitchFamily="34" charset="0"/>
                  <a:ea typeface="等线" panose="02010600030101010101" pitchFamily="2" charset="-122"/>
                  <a:cs typeface="Arial" panose="020B0604020202020204" pitchFamily="34" charset="0"/>
                </a:rPr>
                <a:t>Instruction</a:t>
              </a: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</a:pPr>
              <a:r>
                <a:rPr lang="en-US" altLang="zh-CN" sz="800" dirty="0">
                  <a:solidFill>
                    <a:prstClr val="black"/>
                  </a:solidFill>
                  <a:latin typeface="Arial" panose="020B0604020202020204" pitchFamily="34" charset="0"/>
                  <a:ea typeface="等线" panose="02010600030101010101" pitchFamily="2" charset="-122"/>
                  <a:cs typeface="Arial" panose="020B0604020202020204" pitchFamily="34" charset="0"/>
                </a:rPr>
                <a:t>Fetch</a:t>
              </a:r>
              <a:endParaRPr lang="zh-CN" altLang="en-US" sz="800" dirty="0">
                <a:solidFill>
                  <a:prstClr val="black"/>
                </a:solidFill>
                <a:latin typeface="Arial" panose="020B0604020202020204" pitchFamily="34" charset="0"/>
                <a:ea typeface="等线" panose="02010600030101010101" pitchFamily="2" charset="-122"/>
                <a:cs typeface="Arial" panose="020B0604020202020204" pitchFamily="34" charset="0"/>
              </a:endParaRPr>
            </a:p>
          </p:txBody>
        </p:sp>
        <p:sp>
          <p:nvSpPr>
            <p:cNvPr id="576" name="文本框 575">
              <a:extLst>
                <a:ext uri="{FF2B5EF4-FFF2-40B4-BE49-F238E27FC236}">
                  <a16:creationId xmlns:a16="http://schemas.microsoft.com/office/drawing/2014/main" id="{B723F3B7-2932-4913-9514-861619045826}"/>
                </a:ext>
              </a:extLst>
            </p:cNvPr>
            <p:cNvSpPr txBox="1"/>
            <p:nvPr/>
          </p:nvSpPr>
          <p:spPr>
            <a:xfrm>
              <a:off x="4517721" y="4289669"/>
              <a:ext cx="334656" cy="12311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</a:pPr>
              <a:r>
                <a:rPr lang="en-US" altLang="zh-CN" sz="800" dirty="0">
                  <a:solidFill>
                    <a:prstClr val="black"/>
                  </a:solidFill>
                  <a:latin typeface="Arial" panose="020B0604020202020204" pitchFamily="34" charset="0"/>
                  <a:ea typeface="等线" panose="02010600030101010101" pitchFamily="2" charset="-122"/>
                  <a:cs typeface="Arial" panose="020B0604020202020204" pitchFamily="34" charset="0"/>
                </a:rPr>
                <a:t>Reg</a:t>
              </a:r>
              <a:endParaRPr lang="zh-CN" altLang="en-US" sz="800" dirty="0">
                <a:solidFill>
                  <a:prstClr val="black"/>
                </a:solidFill>
                <a:latin typeface="Arial" panose="020B0604020202020204" pitchFamily="34" charset="0"/>
                <a:ea typeface="等线" panose="02010600030101010101" pitchFamily="2" charset="-122"/>
                <a:cs typeface="Arial" panose="020B0604020202020204" pitchFamily="34" charset="0"/>
              </a:endParaRPr>
            </a:p>
          </p:txBody>
        </p:sp>
        <p:sp>
          <p:nvSpPr>
            <p:cNvPr id="577" name="文本框 576">
              <a:extLst>
                <a:ext uri="{FF2B5EF4-FFF2-40B4-BE49-F238E27FC236}">
                  <a16:creationId xmlns:a16="http://schemas.microsoft.com/office/drawing/2014/main" id="{E1D5FEFA-72D1-4FD7-8164-14F3EA833167}"/>
                </a:ext>
              </a:extLst>
            </p:cNvPr>
            <p:cNvSpPr txBox="1"/>
            <p:nvPr/>
          </p:nvSpPr>
          <p:spPr>
            <a:xfrm>
              <a:off x="4936652" y="4293808"/>
              <a:ext cx="334656" cy="12311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</a:pPr>
              <a:r>
                <a:rPr lang="en-US" altLang="zh-CN" sz="800" dirty="0">
                  <a:solidFill>
                    <a:prstClr val="black"/>
                  </a:solidFill>
                  <a:latin typeface="Arial" panose="020B0604020202020204" pitchFamily="34" charset="0"/>
                  <a:ea typeface="等线" panose="02010600030101010101" pitchFamily="2" charset="-122"/>
                  <a:cs typeface="Arial" panose="020B0604020202020204" pitchFamily="34" charset="0"/>
                </a:rPr>
                <a:t>ALU</a:t>
              </a:r>
              <a:endParaRPr lang="zh-CN" altLang="en-US" sz="800" dirty="0">
                <a:solidFill>
                  <a:prstClr val="black"/>
                </a:solidFill>
                <a:latin typeface="Arial" panose="020B0604020202020204" pitchFamily="34" charset="0"/>
                <a:ea typeface="等线" panose="02010600030101010101" pitchFamily="2" charset="-122"/>
                <a:cs typeface="Arial" panose="020B0604020202020204" pitchFamily="34" charset="0"/>
              </a:endParaRPr>
            </a:p>
          </p:txBody>
        </p:sp>
        <p:sp>
          <p:nvSpPr>
            <p:cNvPr id="578" name="文本框 577">
              <a:extLst>
                <a:ext uri="{FF2B5EF4-FFF2-40B4-BE49-F238E27FC236}">
                  <a16:creationId xmlns:a16="http://schemas.microsoft.com/office/drawing/2014/main" id="{9BBB4724-AC1B-4E61-B521-E837894AC4C3}"/>
                </a:ext>
              </a:extLst>
            </p:cNvPr>
            <p:cNvSpPr txBox="1"/>
            <p:nvPr/>
          </p:nvSpPr>
          <p:spPr>
            <a:xfrm>
              <a:off x="5456893" y="4234425"/>
              <a:ext cx="390531" cy="24622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</a:pPr>
              <a:r>
                <a:rPr lang="en-US" altLang="zh-CN" sz="800" dirty="0">
                  <a:solidFill>
                    <a:prstClr val="black"/>
                  </a:solidFill>
                  <a:latin typeface="Arial" panose="020B0604020202020204" pitchFamily="34" charset="0"/>
                  <a:ea typeface="等线" panose="02010600030101010101" pitchFamily="2" charset="-122"/>
                  <a:cs typeface="Arial" panose="020B0604020202020204" pitchFamily="34" charset="0"/>
                </a:rPr>
                <a:t>Data</a:t>
              </a: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</a:pPr>
              <a:r>
                <a:rPr lang="en-US" altLang="zh-CN" sz="800" dirty="0">
                  <a:solidFill>
                    <a:prstClr val="black"/>
                  </a:solidFill>
                  <a:latin typeface="Arial" panose="020B0604020202020204" pitchFamily="34" charset="0"/>
                  <a:ea typeface="等线" panose="02010600030101010101" pitchFamily="2" charset="-122"/>
                  <a:cs typeface="Arial" panose="020B0604020202020204" pitchFamily="34" charset="0"/>
                </a:rPr>
                <a:t>access</a:t>
              </a:r>
              <a:endParaRPr lang="zh-CN" altLang="en-US" sz="800" dirty="0">
                <a:solidFill>
                  <a:prstClr val="black"/>
                </a:solidFill>
                <a:latin typeface="Arial" panose="020B0604020202020204" pitchFamily="34" charset="0"/>
                <a:ea typeface="等线" panose="02010600030101010101" pitchFamily="2" charset="-122"/>
                <a:cs typeface="Arial" panose="020B0604020202020204" pitchFamily="34" charset="0"/>
              </a:endParaRPr>
            </a:p>
          </p:txBody>
        </p:sp>
        <p:sp>
          <p:nvSpPr>
            <p:cNvPr id="579" name="文本框 578">
              <a:extLst>
                <a:ext uri="{FF2B5EF4-FFF2-40B4-BE49-F238E27FC236}">
                  <a16:creationId xmlns:a16="http://schemas.microsoft.com/office/drawing/2014/main" id="{5666EE65-723C-4D88-A7DB-305852794A46}"/>
                </a:ext>
              </a:extLst>
            </p:cNvPr>
            <p:cNvSpPr txBox="1"/>
            <p:nvPr/>
          </p:nvSpPr>
          <p:spPr>
            <a:xfrm>
              <a:off x="5917593" y="4286815"/>
              <a:ext cx="334656" cy="12311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</a:pPr>
              <a:r>
                <a:rPr lang="en-US" altLang="zh-CN" sz="800" dirty="0">
                  <a:solidFill>
                    <a:prstClr val="black"/>
                  </a:solidFill>
                  <a:latin typeface="Arial" panose="020B0604020202020204" pitchFamily="34" charset="0"/>
                  <a:ea typeface="等线" panose="02010600030101010101" pitchFamily="2" charset="-122"/>
                  <a:cs typeface="Arial" panose="020B0604020202020204" pitchFamily="34" charset="0"/>
                </a:rPr>
                <a:t>Reg</a:t>
              </a:r>
              <a:endParaRPr lang="zh-CN" altLang="en-US" sz="800" dirty="0">
                <a:solidFill>
                  <a:prstClr val="black"/>
                </a:solidFill>
                <a:latin typeface="Arial" panose="020B0604020202020204" pitchFamily="34" charset="0"/>
                <a:ea typeface="等线" panose="02010600030101010101" pitchFamily="2" charset="-122"/>
                <a:cs typeface="Arial" panose="020B0604020202020204" pitchFamily="34" charset="0"/>
              </a:endParaRPr>
            </a:p>
          </p:txBody>
        </p:sp>
        <p:sp>
          <p:nvSpPr>
            <p:cNvPr id="580" name="文本框 579">
              <a:extLst>
                <a:ext uri="{FF2B5EF4-FFF2-40B4-BE49-F238E27FC236}">
                  <a16:creationId xmlns:a16="http://schemas.microsoft.com/office/drawing/2014/main" id="{75A8B213-49C0-4427-8D00-F297596B4416}"/>
                </a:ext>
              </a:extLst>
            </p:cNvPr>
            <p:cNvSpPr txBox="1"/>
            <p:nvPr/>
          </p:nvSpPr>
          <p:spPr>
            <a:xfrm>
              <a:off x="4793895" y="5277455"/>
              <a:ext cx="601725" cy="24622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</a:pPr>
              <a:r>
                <a:rPr lang="en-US" altLang="zh-CN" sz="800" dirty="0">
                  <a:solidFill>
                    <a:prstClr val="black"/>
                  </a:solidFill>
                  <a:latin typeface="Arial" panose="020B0604020202020204" pitchFamily="34" charset="0"/>
                  <a:ea typeface="等线" panose="02010600030101010101" pitchFamily="2" charset="-122"/>
                  <a:cs typeface="Arial" panose="020B0604020202020204" pitchFamily="34" charset="0"/>
                </a:rPr>
                <a:t>Instruction</a:t>
              </a: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</a:pPr>
              <a:r>
                <a:rPr lang="en-US" altLang="zh-CN" sz="800" dirty="0">
                  <a:solidFill>
                    <a:prstClr val="black"/>
                  </a:solidFill>
                  <a:latin typeface="Arial" panose="020B0604020202020204" pitchFamily="34" charset="0"/>
                  <a:ea typeface="等线" panose="02010600030101010101" pitchFamily="2" charset="-122"/>
                  <a:cs typeface="Arial" panose="020B0604020202020204" pitchFamily="34" charset="0"/>
                </a:rPr>
                <a:t>Fetch</a:t>
              </a:r>
              <a:endParaRPr lang="zh-CN" altLang="en-US" sz="800" dirty="0">
                <a:solidFill>
                  <a:prstClr val="black"/>
                </a:solidFill>
                <a:latin typeface="Arial" panose="020B0604020202020204" pitchFamily="34" charset="0"/>
                <a:ea typeface="等线" panose="02010600030101010101" pitchFamily="2" charset="-122"/>
                <a:cs typeface="Arial" panose="020B0604020202020204" pitchFamily="34" charset="0"/>
              </a:endParaRPr>
            </a:p>
          </p:txBody>
        </p:sp>
        <p:sp>
          <p:nvSpPr>
            <p:cNvPr id="581" name="文本框 580">
              <a:extLst>
                <a:ext uri="{FF2B5EF4-FFF2-40B4-BE49-F238E27FC236}">
                  <a16:creationId xmlns:a16="http://schemas.microsoft.com/office/drawing/2014/main" id="{6498761E-C645-448B-87F1-A23EDE090707}"/>
                </a:ext>
              </a:extLst>
            </p:cNvPr>
            <p:cNvSpPr txBox="1"/>
            <p:nvPr/>
          </p:nvSpPr>
          <p:spPr>
            <a:xfrm>
              <a:off x="5614024" y="5346469"/>
              <a:ext cx="334656" cy="12311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</a:pPr>
              <a:r>
                <a:rPr lang="en-US" altLang="zh-CN" sz="800" dirty="0">
                  <a:solidFill>
                    <a:prstClr val="black"/>
                  </a:solidFill>
                  <a:latin typeface="Arial" panose="020B0604020202020204" pitchFamily="34" charset="0"/>
                  <a:ea typeface="等线" panose="02010600030101010101" pitchFamily="2" charset="-122"/>
                  <a:cs typeface="Arial" panose="020B0604020202020204" pitchFamily="34" charset="0"/>
                </a:rPr>
                <a:t>Reg</a:t>
              </a:r>
              <a:endParaRPr lang="zh-CN" altLang="en-US" sz="800" dirty="0">
                <a:solidFill>
                  <a:prstClr val="black"/>
                </a:solidFill>
                <a:latin typeface="Arial" panose="020B0604020202020204" pitchFamily="34" charset="0"/>
                <a:ea typeface="等线" panose="02010600030101010101" pitchFamily="2" charset="-122"/>
                <a:cs typeface="Arial" panose="020B0604020202020204" pitchFamily="34" charset="0"/>
              </a:endParaRPr>
            </a:p>
          </p:txBody>
        </p:sp>
        <p:sp>
          <p:nvSpPr>
            <p:cNvPr id="582" name="文本框 581">
              <a:extLst>
                <a:ext uri="{FF2B5EF4-FFF2-40B4-BE49-F238E27FC236}">
                  <a16:creationId xmlns:a16="http://schemas.microsoft.com/office/drawing/2014/main" id="{6151F13C-CB7B-4639-8634-73944ED4894D}"/>
                </a:ext>
              </a:extLst>
            </p:cNvPr>
            <p:cNvSpPr txBox="1"/>
            <p:nvPr/>
          </p:nvSpPr>
          <p:spPr>
            <a:xfrm>
              <a:off x="6032955" y="5350608"/>
              <a:ext cx="334656" cy="12311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</a:pPr>
              <a:r>
                <a:rPr lang="en-US" altLang="zh-CN" sz="800" dirty="0">
                  <a:solidFill>
                    <a:prstClr val="black"/>
                  </a:solidFill>
                  <a:latin typeface="Arial" panose="020B0604020202020204" pitchFamily="34" charset="0"/>
                  <a:ea typeface="等线" panose="02010600030101010101" pitchFamily="2" charset="-122"/>
                  <a:cs typeface="Arial" panose="020B0604020202020204" pitchFamily="34" charset="0"/>
                </a:rPr>
                <a:t>ALU</a:t>
              </a:r>
              <a:endParaRPr lang="zh-CN" altLang="en-US" sz="800" dirty="0">
                <a:solidFill>
                  <a:prstClr val="black"/>
                </a:solidFill>
                <a:latin typeface="Arial" panose="020B0604020202020204" pitchFamily="34" charset="0"/>
                <a:ea typeface="等线" panose="02010600030101010101" pitchFamily="2" charset="-122"/>
                <a:cs typeface="Arial" panose="020B0604020202020204" pitchFamily="34" charset="0"/>
              </a:endParaRPr>
            </a:p>
          </p:txBody>
        </p:sp>
        <p:sp>
          <p:nvSpPr>
            <p:cNvPr id="583" name="文本框 582">
              <a:extLst>
                <a:ext uri="{FF2B5EF4-FFF2-40B4-BE49-F238E27FC236}">
                  <a16:creationId xmlns:a16="http://schemas.microsoft.com/office/drawing/2014/main" id="{6C9A7734-5FC6-4921-B150-AF3674BDD35E}"/>
                </a:ext>
              </a:extLst>
            </p:cNvPr>
            <p:cNvSpPr txBox="1"/>
            <p:nvPr/>
          </p:nvSpPr>
          <p:spPr>
            <a:xfrm>
              <a:off x="6553196" y="5291225"/>
              <a:ext cx="390531" cy="24622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</a:pPr>
              <a:r>
                <a:rPr lang="en-US" altLang="zh-CN" sz="800" dirty="0">
                  <a:solidFill>
                    <a:prstClr val="black"/>
                  </a:solidFill>
                  <a:latin typeface="Arial" panose="020B0604020202020204" pitchFamily="34" charset="0"/>
                  <a:ea typeface="等线" panose="02010600030101010101" pitchFamily="2" charset="-122"/>
                  <a:cs typeface="Arial" panose="020B0604020202020204" pitchFamily="34" charset="0"/>
                </a:rPr>
                <a:t>Data</a:t>
              </a: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</a:pPr>
              <a:r>
                <a:rPr lang="en-US" altLang="zh-CN" sz="800" dirty="0">
                  <a:solidFill>
                    <a:prstClr val="black"/>
                  </a:solidFill>
                  <a:latin typeface="Arial" panose="020B0604020202020204" pitchFamily="34" charset="0"/>
                  <a:ea typeface="等线" panose="02010600030101010101" pitchFamily="2" charset="-122"/>
                  <a:cs typeface="Arial" panose="020B0604020202020204" pitchFamily="34" charset="0"/>
                </a:rPr>
                <a:t>access</a:t>
              </a:r>
              <a:endParaRPr lang="zh-CN" altLang="en-US" sz="800" dirty="0">
                <a:solidFill>
                  <a:prstClr val="black"/>
                </a:solidFill>
                <a:latin typeface="Arial" panose="020B0604020202020204" pitchFamily="34" charset="0"/>
                <a:ea typeface="等线" panose="02010600030101010101" pitchFamily="2" charset="-122"/>
                <a:cs typeface="Arial" panose="020B0604020202020204" pitchFamily="34" charset="0"/>
              </a:endParaRPr>
            </a:p>
          </p:txBody>
        </p:sp>
        <p:sp>
          <p:nvSpPr>
            <p:cNvPr id="584" name="文本框 583">
              <a:extLst>
                <a:ext uri="{FF2B5EF4-FFF2-40B4-BE49-F238E27FC236}">
                  <a16:creationId xmlns:a16="http://schemas.microsoft.com/office/drawing/2014/main" id="{EDE405FF-0441-43EE-BBCB-FBEF00F5422C}"/>
                </a:ext>
              </a:extLst>
            </p:cNvPr>
            <p:cNvSpPr txBox="1"/>
            <p:nvPr/>
          </p:nvSpPr>
          <p:spPr>
            <a:xfrm>
              <a:off x="7013896" y="5343615"/>
              <a:ext cx="334656" cy="12311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</a:pPr>
              <a:r>
                <a:rPr lang="en-US" altLang="zh-CN" sz="800" dirty="0">
                  <a:solidFill>
                    <a:prstClr val="black"/>
                  </a:solidFill>
                  <a:latin typeface="Arial" panose="020B0604020202020204" pitchFamily="34" charset="0"/>
                  <a:ea typeface="等线" panose="02010600030101010101" pitchFamily="2" charset="-122"/>
                  <a:cs typeface="Arial" panose="020B0604020202020204" pitchFamily="34" charset="0"/>
                </a:rPr>
                <a:t>Reg</a:t>
              </a:r>
              <a:endParaRPr lang="zh-CN" altLang="en-US" sz="800" dirty="0">
                <a:solidFill>
                  <a:prstClr val="black"/>
                </a:solidFill>
                <a:latin typeface="Arial" panose="020B0604020202020204" pitchFamily="34" charset="0"/>
                <a:ea typeface="等线" panose="02010600030101010101" pitchFamily="2" charset="-122"/>
                <a:cs typeface="Arial" panose="020B0604020202020204" pitchFamily="34" charset="0"/>
              </a:endParaRPr>
            </a:p>
          </p:txBody>
        </p:sp>
        <p:sp>
          <p:nvSpPr>
            <p:cNvPr id="585" name="文本框 584">
              <a:extLst>
                <a:ext uri="{FF2B5EF4-FFF2-40B4-BE49-F238E27FC236}">
                  <a16:creationId xmlns:a16="http://schemas.microsoft.com/office/drawing/2014/main" id="{17FFD0A3-3980-458B-BFBF-A68768D7D894}"/>
                </a:ext>
              </a:extLst>
            </p:cNvPr>
            <p:cNvSpPr txBox="1"/>
            <p:nvPr/>
          </p:nvSpPr>
          <p:spPr>
            <a:xfrm>
              <a:off x="4119568" y="5412163"/>
              <a:ext cx="334656" cy="15388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</a:pPr>
              <a:r>
                <a:rPr lang="en-US" altLang="zh-CN" sz="1000" dirty="0">
                  <a:solidFill>
                    <a:srgbClr val="ED7D31"/>
                  </a:solidFill>
                  <a:latin typeface="Arial" panose="020B0604020202020204" pitchFamily="34" charset="0"/>
                  <a:ea typeface="等线" panose="02010600030101010101" pitchFamily="2" charset="-122"/>
                  <a:cs typeface="Arial" panose="020B0604020202020204" pitchFamily="34" charset="0"/>
                </a:rPr>
                <a:t>4ns</a:t>
              </a:r>
              <a:endParaRPr lang="zh-CN" altLang="en-US" sz="1000" dirty="0">
                <a:solidFill>
                  <a:srgbClr val="ED7D31"/>
                </a:solidFill>
                <a:latin typeface="Arial" panose="020B0604020202020204" pitchFamily="34" charset="0"/>
                <a:ea typeface="等线" panose="02010600030101010101" pitchFamily="2" charset="-122"/>
                <a:cs typeface="Arial" panose="020B0604020202020204" pitchFamily="34" charset="0"/>
              </a:endParaRPr>
            </a:p>
          </p:txBody>
        </p:sp>
        <p:sp>
          <p:nvSpPr>
            <p:cNvPr id="586" name="文本框 585">
              <a:extLst>
                <a:ext uri="{FF2B5EF4-FFF2-40B4-BE49-F238E27FC236}">
                  <a16:creationId xmlns:a16="http://schemas.microsoft.com/office/drawing/2014/main" id="{C7AACD06-B2E7-4F87-9466-115C708B6A2C}"/>
                </a:ext>
              </a:extLst>
            </p:cNvPr>
            <p:cNvSpPr txBox="1"/>
            <p:nvPr/>
          </p:nvSpPr>
          <p:spPr>
            <a:xfrm>
              <a:off x="4927429" y="5704962"/>
              <a:ext cx="334656" cy="15388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</a:pPr>
              <a:r>
                <a:rPr lang="en-US" altLang="zh-CN" sz="1000" dirty="0">
                  <a:solidFill>
                    <a:prstClr val="black"/>
                  </a:solidFill>
                  <a:latin typeface="Arial" panose="020B0604020202020204" pitchFamily="34" charset="0"/>
                  <a:ea typeface="等线" panose="02010600030101010101" pitchFamily="2" charset="-122"/>
                  <a:cs typeface="Arial" panose="020B0604020202020204" pitchFamily="34" charset="0"/>
                </a:rPr>
                <a:t>2ns</a:t>
              </a:r>
              <a:endParaRPr lang="zh-CN" altLang="en-US" sz="1000" dirty="0">
                <a:solidFill>
                  <a:prstClr val="black"/>
                </a:solidFill>
                <a:latin typeface="Arial" panose="020B0604020202020204" pitchFamily="34" charset="0"/>
                <a:ea typeface="等线" panose="02010600030101010101" pitchFamily="2" charset="-122"/>
                <a:cs typeface="Arial" panose="020B0604020202020204" pitchFamily="34" charset="0"/>
              </a:endParaRPr>
            </a:p>
          </p:txBody>
        </p:sp>
        <p:cxnSp>
          <p:nvCxnSpPr>
            <p:cNvPr id="587" name="直接箭头连接符 586">
              <a:extLst>
                <a:ext uri="{FF2B5EF4-FFF2-40B4-BE49-F238E27FC236}">
                  <a16:creationId xmlns:a16="http://schemas.microsoft.com/office/drawing/2014/main" id="{9D537EEC-F4C5-42FD-87DD-F25C2A5B86AB}"/>
                </a:ext>
              </a:extLst>
            </p:cNvPr>
            <p:cNvCxnSpPr>
              <a:cxnSpLocks/>
            </p:cNvCxnSpPr>
            <p:nvPr/>
          </p:nvCxnSpPr>
          <p:spPr>
            <a:xfrm>
              <a:off x="4811065" y="5672743"/>
              <a:ext cx="566103" cy="0"/>
            </a:xfrm>
            <a:prstGeom prst="straightConnector1">
              <a:avLst/>
            </a:prstGeom>
            <a:noFill/>
            <a:ln w="12700" cap="flat" cmpd="sng" algn="ctr">
              <a:solidFill>
                <a:sysClr val="windowText" lastClr="000000"/>
              </a:solidFill>
              <a:prstDash val="solid"/>
              <a:miter lim="800000"/>
              <a:headEnd type="triangle"/>
              <a:tailEnd type="triangle"/>
            </a:ln>
            <a:effectLst/>
          </p:spPr>
        </p:cxnSp>
        <p:cxnSp>
          <p:nvCxnSpPr>
            <p:cNvPr id="588" name="直接箭头连接符 587">
              <a:extLst>
                <a:ext uri="{FF2B5EF4-FFF2-40B4-BE49-F238E27FC236}">
                  <a16:creationId xmlns:a16="http://schemas.microsoft.com/office/drawing/2014/main" id="{540CD35A-B578-4872-B62B-24EC42A8ED5C}"/>
                </a:ext>
              </a:extLst>
            </p:cNvPr>
            <p:cNvCxnSpPr>
              <a:cxnSpLocks/>
            </p:cNvCxnSpPr>
            <p:nvPr/>
          </p:nvCxnSpPr>
          <p:spPr>
            <a:xfrm>
              <a:off x="3150539" y="4328955"/>
              <a:ext cx="566103" cy="0"/>
            </a:xfrm>
            <a:prstGeom prst="straightConnector1">
              <a:avLst/>
            </a:prstGeom>
            <a:noFill/>
            <a:ln w="12700" cap="flat" cmpd="sng" algn="ctr">
              <a:solidFill>
                <a:sysClr val="windowText" lastClr="000000"/>
              </a:solidFill>
              <a:prstDash val="solid"/>
              <a:miter lim="800000"/>
              <a:headEnd type="triangle"/>
              <a:tailEnd type="triangle"/>
            </a:ln>
            <a:effectLst/>
          </p:spPr>
        </p:cxnSp>
        <p:cxnSp>
          <p:nvCxnSpPr>
            <p:cNvPr id="589" name="直接箭头连接符 588">
              <a:extLst>
                <a:ext uri="{FF2B5EF4-FFF2-40B4-BE49-F238E27FC236}">
                  <a16:creationId xmlns:a16="http://schemas.microsoft.com/office/drawing/2014/main" id="{30AC2B29-866D-4709-8C55-C5A38FA4B7C2}"/>
                </a:ext>
              </a:extLst>
            </p:cNvPr>
            <p:cNvCxnSpPr>
              <a:cxnSpLocks/>
            </p:cNvCxnSpPr>
            <p:nvPr/>
          </p:nvCxnSpPr>
          <p:spPr>
            <a:xfrm>
              <a:off x="3697592" y="5396094"/>
              <a:ext cx="1123316" cy="0"/>
            </a:xfrm>
            <a:prstGeom prst="straightConnector1">
              <a:avLst/>
            </a:prstGeom>
            <a:noFill/>
            <a:ln w="12700" cap="flat" cmpd="sng" algn="ctr">
              <a:solidFill>
                <a:srgbClr val="ED7D31"/>
              </a:solidFill>
              <a:prstDash val="solid"/>
              <a:miter lim="800000"/>
              <a:headEnd type="triangle"/>
              <a:tailEnd type="triangle"/>
            </a:ln>
            <a:effectLst/>
          </p:spPr>
        </p:cxnSp>
        <p:sp>
          <p:nvSpPr>
            <p:cNvPr id="590" name="文本框 589">
              <a:extLst>
                <a:ext uri="{FF2B5EF4-FFF2-40B4-BE49-F238E27FC236}">
                  <a16:creationId xmlns:a16="http://schemas.microsoft.com/office/drawing/2014/main" id="{C7F9BCF4-6B56-4992-B2B4-AA7F61FE761E}"/>
                </a:ext>
              </a:extLst>
            </p:cNvPr>
            <p:cNvSpPr txBox="1"/>
            <p:nvPr/>
          </p:nvSpPr>
          <p:spPr>
            <a:xfrm>
              <a:off x="2004987" y="5272983"/>
              <a:ext cx="1084996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</a:pPr>
              <a:r>
                <a:rPr lang="en-US" altLang="zh-CN" sz="1000" dirty="0" err="1">
                  <a:solidFill>
                    <a:srgbClr val="C00000"/>
                  </a:solidFill>
                  <a:latin typeface="Arial" panose="020B0604020202020204" pitchFamily="34" charset="0"/>
                  <a:ea typeface="等线" panose="02010600030101010101" pitchFamily="2" charset="-122"/>
                  <a:cs typeface="Arial" panose="020B0604020202020204" pitchFamily="34" charset="0"/>
                </a:rPr>
                <a:t>lw</a:t>
              </a:r>
              <a:r>
                <a:rPr lang="en-US" altLang="zh-CN" sz="1000" dirty="0">
                  <a:solidFill>
                    <a:srgbClr val="C00000"/>
                  </a:solidFill>
                  <a:latin typeface="Arial" panose="020B0604020202020204" pitchFamily="34" charset="0"/>
                  <a:ea typeface="等线" panose="02010600030101010101" pitchFamily="2" charset="-122"/>
                  <a:cs typeface="Arial" panose="020B0604020202020204" pitchFamily="34" charset="0"/>
                </a:rPr>
                <a:t> $3, 300($0)</a:t>
              </a:r>
              <a:endParaRPr lang="zh-CN" altLang="en-US" sz="1000" dirty="0">
                <a:solidFill>
                  <a:srgbClr val="C00000"/>
                </a:solidFill>
                <a:latin typeface="Arial" panose="020B0604020202020204" pitchFamily="34" charset="0"/>
                <a:ea typeface="等线" panose="02010600030101010101" pitchFamily="2" charset="-122"/>
                <a:cs typeface="Arial" panose="020B0604020202020204" pitchFamily="34" charset="0"/>
              </a:endParaRPr>
            </a:p>
          </p:txBody>
        </p:sp>
        <p:sp>
          <p:nvSpPr>
            <p:cNvPr id="591" name="文本框 590">
              <a:extLst>
                <a:ext uri="{FF2B5EF4-FFF2-40B4-BE49-F238E27FC236}">
                  <a16:creationId xmlns:a16="http://schemas.microsoft.com/office/drawing/2014/main" id="{F951A7DB-70FB-4F7A-9105-DA2A692A2367}"/>
                </a:ext>
              </a:extLst>
            </p:cNvPr>
            <p:cNvSpPr txBox="1"/>
            <p:nvPr/>
          </p:nvSpPr>
          <p:spPr>
            <a:xfrm>
              <a:off x="1868767" y="3124161"/>
              <a:ext cx="1084996" cy="70788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</a:pPr>
              <a:r>
                <a:rPr lang="en-US" altLang="zh-CN" sz="1000" dirty="0">
                  <a:solidFill>
                    <a:prstClr val="black"/>
                  </a:solidFill>
                  <a:latin typeface="Arial" panose="020B0604020202020204" pitchFamily="34" charset="0"/>
                  <a:ea typeface="等线" panose="02010600030101010101" pitchFamily="2" charset="-122"/>
                  <a:cs typeface="Arial" panose="020B0604020202020204" pitchFamily="34" charset="0"/>
                </a:rPr>
                <a:t>Program</a:t>
              </a:r>
            </a:p>
            <a:p>
              <a:pPr fontAlgn="auto">
                <a:spcBef>
                  <a:spcPts val="0"/>
                </a:spcBef>
                <a:spcAft>
                  <a:spcPts val="0"/>
                </a:spcAft>
              </a:pPr>
              <a:r>
                <a:rPr lang="en-US" altLang="zh-CN" sz="1000" dirty="0">
                  <a:solidFill>
                    <a:prstClr val="black"/>
                  </a:solidFill>
                  <a:latin typeface="Arial" panose="020B0604020202020204" pitchFamily="34" charset="0"/>
                  <a:ea typeface="等线" panose="02010600030101010101" pitchFamily="2" charset="-122"/>
                  <a:cs typeface="Arial" panose="020B0604020202020204" pitchFamily="34" charset="0"/>
                </a:rPr>
                <a:t>Execution</a:t>
              </a:r>
            </a:p>
            <a:p>
              <a:pPr fontAlgn="auto">
                <a:spcBef>
                  <a:spcPts val="0"/>
                </a:spcBef>
                <a:spcAft>
                  <a:spcPts val="0"/>
                </a:spcAft>
              </a:pPr>
              <a:r>
                <a:rPr lang="en-US" altLang="zh-CN" sz="1000" dirty="0">
                  <a:solidFill>
                    <a:prstClr val="black"/>
                  </a:solidFill>
                  <a:latin typeface="Arial" panose="020B0604020202020204" pitchFamily="34" charset="0"/>
                  <a:ea typeface="等线" panose="02010600030101010101" pitchFamily="2" charset="-122"/>
                  <a:cs typeface="Arial" panose="020B0604020202020204" pitchFamily="34" charset="0"/>
                </a:rPr>
                <a:t>Order</a:t>
              </a:r>
            </a:p>
            <a:p>
              <a:pPr fontAlgn="auto">
                <a:spcBef>
                  <a:spcPts val="0"/>
                </a:spcBef>
                <a:spcAft>
                  <a:spcPts val="0"/>
                </a:spcAft>
              </a:pPr>
              <a:r>
                <a:rPr lang="en-US" altLang="zh-CN" sz="1000" dirty="0">
                  <a:solidFill>
                    <a:prstClr val="black"/>
                  </a:solidFill>
                  <a:latin typeface="Arial" panose="020B0604020202020204" pitchFamily="34" charset="0"/>
                  <a:ea typeface="等线" panose="02010600030101010101" pitchFamily="2" charset="-122"/>
                  <a:cs typeface="Arial" panose="020B0604020202020204" pitchFamily="34" charset="0"/>
                </a:rPr>
                <a:t>(in instructions)</a:t>
              </a:r>
              <a:endParaRPr lang="zh-CN" altLang="en-US" sz="1000" dirty="0">
                <a:solidFill>
                  <a:prstClr val="black"/>
                </a:solidFill>
                <a:latin typeface="Arial" panose="020B0604020202020204" pitchFamily="34" charset="0"/>
                <a:ea typeface="等线" panose="02010600030101010101" pitchFamily="2" charset="-122"/>
                <a:cs typeface="Arial" panose="020B0604020202020204" pitchFamily="34" charset="0"/>
              </a:endParaRPr>
            </a:p>
          </p:txBody>
        </p:sp>
        <p:sp>
          <p:nvSpPr>
            <p:cNvPr id="592" name="Freeform 8">
              <a:extLst>
                <a:ext uri="{FF2B5EF4-FFF2-40B4-BE49-F238E27FC236}">
                  <a16:creationId xmlns:a16="http://schemas.microsoft.com/office/drawing/2014/main" id="{E907D46D-D21D-47FC-A420-3DAAEB1BCF8A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6413" y="4607746"/>
              <a:ext cx="515938" cy="457200"/>
            </a:xfrm>
            <a:custGeom>
              <a:avLst/>
              <a:gdLst>
                <a:gd name="T0" fmla="*/ 173 w 325"/>
                <a:gd name="T1" fmla="*/ 58 h 288"/>
                <a:gd name="T2" fmla="*/ 223 w 325"/>
                <a:gd name="T3" fmla="*/ 0 h 288"/>
                <a:gd name="T4" fmla="*/ 219 w 325"/>
                <a:gd name="T5" fmla="*/ 77 h 288"/>
                <a:gd name="T6" fmla="*/ 271 w 325"/>
                <a:gd name="T7" fmla="*/ 42 h 288"/>
                <a:gd name="T8" fmla="*/ 247 w 325"/>
                <a:gd name="T9" fmla="*/ 87 h 288"/>
                <a:gd name="T10" fmla="*/ 325 w 325"/>
                <a:gd name="T11" fmla="*/ 88 h 288"/>
                <a:gd name="T12" fmla="*/ 256 w 325"/>
                <a:gd name="T13" fmla="*/ 125 h 288"/>
                <a:gd name="T14" fmla="*/ 275 w 325"/>
                <a:gd name="T15" fmla="*/ 151 h 288"/>
                <a:gd name="T16" fmla="*/ 247 w 325"/>
                <a:gd name="T17" fmla="*/ 164 h 288"/>
                <a:gd name="T18" fmla="*/ 284 w 325"/>
                <a:gd name="T19" fmla="*/ 209 h 288"/>
                <a:gd name="T20" fmla="*/ 220 w 325"/>
                <a:gd name="T21" fmla="*/ 191 h 288"/>
                <a:gd name="T22" fmla="*/ 225 w 325"/>
                <a:gd name="T23" fmla="*/ 232 h 288"/>
                <a:gd name="T24" fmla="*/ 184 w 325"/>
                <a:gd name="T25" fmla="*/ 213 h 288"/>
                <a:gd name="T26" fmla="*/ 175 w 325"/>
                <a:gd name="T27" fmla="*/ 251 h 288"/>
                <a:gd name="T28" fmla="*/ 149 w 325"/>
                <a:gd name="T29" fmla="*/ 232 h 288"/>
                <a:gd name="T30" fmla="*/ 131 w 325"/>
                <a:gd name="T31" fmla="*/ 263 h 288"/>
                <a:gd name="T32" fmla="*/ 114 w 325"/>
                <a:gd name="T33" fmla="*/ 242 h 288"/>
                <a:gd name="T34" fmla="*/ 74 w 325"/>
                <a:gd name="T35" fmla="*/ 288 h 288"/>
                <a:gd name="T36" fmla="*/ 73 w 325"/>
                <a:gd name="T37" fmla="*/ 243 h 288"/>
                <a:gd name="T38" fmla="*/ 20 w 325"/>
                <a:gd name="T39" fmla="*/ 238 h 288"/>
                <a:gd name="T40" fmla="*/ 51 w 325"/>
                <a:gd name="T41" fmla="*/ 205 h 288"/>
                <a:gd name="T42" fmla="*/ 0 w 325"/>
                <a:gd name="T43" fmla="*/ 172 h 288"/>
                <a:gd name="T44" fmla="*/ 60 w 325"/>
                <a:gd name="T45" fmla="*/ 155 h 288"/>
                <a:gd name="T46" fmla="*/ 18 w 325"/>
                <a:gd name="T47" fmla="*/ 110 h 288"/>
                <a:gd name="T48" fmla="*/ 81 w 325"/>
                <a:gd name="T49" fmla="*/ 104 h 288"/>
                <a:gd name="T50" fmla="*/ 68 w 325"/>
                <a:gd name="T51" fmla="*/ 48 h 288"/>
                <a:gd name="T52" fmla="*/ 129 w 325"/>
                <a:gd name="T53" fmla="*/ 85 h 288"/>
                <a:gd name="T54" fmla="*/ 147 w 325"/>
                <a:gd name="T55" fmla="*/ 25 h 288"/>
                <a:gd name="T56" fmla="*/ 173 w 325"/>
                <a:gd name="T57" fmla="*/ 58 h 2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325" h="288">
                  <a:moveTo>
                    <a:pt x="173" y="58"/>
                  </a:moveTo>
                  <a:lnTo>
                    <a:pt x="223" y="0"/>
                  </a:lnTo>
                  <a:lnTo>
                    <a:pt x="219" y="77"/>
                  </a:lnTo>
                  <a:lnTo>
                    <a:pt x="271" y="42"/>
                  </a:lnTo>
                  <a:lnTo>
                    <a:pt x="247" y="87"/>
                  </a:lnTo>
                  <a:lnTo>
                    <a:pt x="325" y="88"/>
                  </a:lnTo>
                  <a:lnTo>
                    <a:pt x="256" y="125"/>
                  </a:lnTo>
                  <a:lnTo>
                    <a:pt x="275" y="151"/>
                  </a:lnTo>
                  <a:lnTo>
                    <a:pt x="247" y="164"/>
                  </a:lnTo>
                  <a:lnTo>
                    <a:pt x="284" y="209"/>
                  </a:lnTo>
                  <a:lnTo>
                    <a:pt x="220" y="191"/>
                  </a:lnTo>
                  <a:lnTo>
                    <a:pt x="225" y="232"/>
                  </a:lnTo>
                  <a:lnTo>
                    <a:pt x="184" y="213"/>
                  </a:lnTo>
                  <a:lnTo>
                    <a:pt x="175" y="251"/>
                  </a:lnTo>
                  <a:lnTo>
                    <a:pt x="149" y="232"/>
                  </a:lnTo>
                  <a:lnTo>
                    <a:pt x="131" y="263"/>
                  </a:lnTo>
                  <a:lnTo>
                    <a:pt x="114" y="242"/>
                  </a:lnTo>
                  <a:lnTo>
                    <a:pt x="74" y="288"/>
                  </a:lnTo>
                  <a:lnTo>
                    <a:pt x="73" y="243"/>
                  </a:lnTo>
                  <a:lnTo>
                    <a:pt x="20" y="238"/>
                  </a:lnTo>
                  <a:lnTo>
                    <a:pt x="51" y="205"/>
                  </a:lnTo>
                  <a:lnTo>
                    <a:pt x="0" y="172"/>
                  </a:lnTo>
                  <a:lnTo>
                    <a:pt x="60" y="155"/>
                  </a:lnTo>
                  <a:lnTo>
                    <a:pt x="18" y="110"/>
                  </a:lnTo>
                  <a:lnTo>
                    <a:pt x="81" y="104"/>
                  </a:lnTo>
                  <a:lnTo>
                    <a:pt x="68" y="48"/>
                  </a:lnTo>
                  <a:lnTo>
                    <a:pt x="129" y="85"/>
                  </a:lnTo>
                  <a:lnTo>
                    <a:pt x="147" y="25"/>
                  </a:lnTo>
                  <a:lnTo>
                    <a:pt x="173" y="58"/>
                  </a:lnTo>
                  <a:close/>
                </a:path>
              </a:pathLst>
            </a:custGeom>
            <a:pattFill prst="shingle">
              <a:fgClr>
                <a:srgbClr val="333399"/>
              </a:fgClr>
              <a:bgClr>
                <a:srgbClr val="FFFFFF"/>
              </a:bgClr>
            </a:patt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SimHei" panose="02010609060101010101" pitchFamily="49" charset="-122"/>
              </a:endParaRPr>
            </a:p>
          </p:txBody>
        </p:sp>
        <p:sp>
          <p:nvSpPr>
            <p:cNvPr id="593" name="Freeform 9">
              <a:extLst>
                <a:ext uri="{FF2B5EF4-FFF2-40B4-BE49-F238E27FC236}">
                  <a16:creationId xmlns:a16="http://schemas.microsoft.com/office/drawing/2014/main" id="{1581E7B3-881F-4223-819B-86A5E86CA16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6413" y="4607746"/>
              <a:ext cx="515938" cy="457200"/>
            </a:xfrm>
            <a:custGeom>
              <a:avLst/>
              <a:gdLst>
                <a:gd name="T0" fmla="*/ 173 w 325"/>
                <a:gd name="T1" fmla="*/ 58 h 288"/>
                <a:gd name="T2" fmla="*/ 223 w 325"/>
                <a:gd name="T3" fmla="*/ 0 h 288"/>
                <a:gd name="T4" fmla="*/ 219 w 325"/>
                <a:gd name="T5" fmla="*/ 77 h 288"/>
                <a:gd name="T6" fmla="*/ 271 w 325"/>
                <a:gd name="T7" fmla="*/ 42 h 288"/>
                <a:gd name="T8" fmla="*/ 247 w 325"/>
                <a:gd name="T9" fmla="*/ 87 h 288"/>
                <a:gd name="T10" fmla="*/ 325 w 325"/>
                <a:gd name="T11" fmla="*/ 88 h 288"/>
                <a:gd name="T12" fmla="*/ 256 w 325"/>
                <a:gd name="T13" fmla="*/ 125 h 288"/>
                <a:gd name="T14" fmla="*/ 275 w 325"/>
                <a:gd name="T15" fmla="*/ 151 h 288"/>
                <a:gd name="T16" fmla="*/ 247 w 325"/>
                <a:gd name="T17" fmla="*/ 164 h 288"/>
                <a:gd name="T18" fmla="*/ 284 w 325"/>
                <a:gd name="T19" fmla="*/ 209 h 288"/>
                <a:gd name="T20" fmla="*/ 220 w 325"/>
                <a:gd name="T21" fmla="*/ 191 h 288"/>
                <a:gd name="T22" fmla="*/ 225 w 325"/>
                <a:gd name="T23" fmla="*/ 232 h 288"/>
                <a:gd name="T24" fmla="*/ 184 w 325"/>
                <a:gd name="T25" fmla="*/ 213 h 288"/>
                <a:gd name="T26" fmla="*/ 175 w 325"/>
                <a:gd name="T27" fmla="*/ 251 h 288"/>
                <a:gd name="T28" fmla="*/ 149 w 325"/>
                <a:gd name="T29" fmla="*/ 232 h 288"/>
                <a:gd name="T30" fmla="*/ 131 w 325"/>
                <a:gd name="T31" fmla="*/ 263 h 288"/>
                <a:gd name="T32" fmla="*/ 114 w 325"/>
                <a:gd name="T33" fmla="*/ 242 h 288"/>
                <a:gd name="T34" fmla="*/ 74 w 325"/>
                <a:gd name="T35" fmla="*/ 288 h 288"/>
                <a:gd name="T36" fmla="*/ 73 w 325"/>
                <a:gd name="T37" fmla="*/ 243 h 288"/>
                <a:gd name="T38" fmla="*/ 20 w 325"/>
                <a:gd name="T39" fmla="*/ 238 h 288"/>
                <a:gd name="T40" fmla="*/ 51 w 325"/>
                <a:gd name="T41" fmla="*/ 205 h 288"/>
                <a:gd name="T42" fmla="*/ 0 w 325"/>
                <a:gd name="T43" fmla="*/ 172 h 288"/>
                <a:gd name="T44" fmla="*/ 60 w 325"/>
                <a:gd name="T45" fmla="*/ 155 h 288"/>
                <a:gd name="T46" fmla="*/ 18 w 325"/>
                <a:gd name="T47" fmla="*/ 110 h 288"/>
                <a:gd name="T48" fmla="*/ 81 w 325"/>
                <a:gd name="T49" fmla="*/ 104 h 288"/>
                <a:gd name="T50" fmla="*/ 68 w 325"/>
                <a:gd name="T51" fmla="*/ 48 h 288"/>
                <a:gd name="T52" fmla="*/ 129 w 325"/>
                <a:gd name="T53" fmla="*/ 85 h 288"/>
                <a:gd name="T54" fmla="*/ 147 w 325"/>
                <a:gd name="T55" fmla="*/ 25 h 288"/>
                <a:gd name="T56" fmla="*/ 173 w 325"/>
                <a:gd name="T57" fmla="*/ 58 h 2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325" h="288">
                  <a:moveTo>
                    <a:pt x="173" y="58"/>
                  </a:moveTo>
                  <a:lnTo>
                    <a:pt x="223" y="0"/>
                  </a:lnTo>
                  <a:lnTo>
                    <a:pt x="219" y="77"/>
                  </a:lnTo>
                  <a:lnTo>
                    <a:pt x="271" y="42"/>
                  </a:lnTo>
                  <a:lnTo>
                    <a:pt x="247" y="87"/>
                  </a:lnTo>
                  <a:lnTo>
                    <a:pt x="325" y="88"/>
                  </a:lnTo>
                  <a:lnTo>
                    <a:pt x="256" y="125"/>
                  </a:lnTo>
                  <a:lnTo>
                    <a:pt x="275" y="151"/>
                  </a:lnTo>
                  <a:lnTo>
                    <a:pt x="247" y="164"/>
                  </a:lnTo>
                  <a:lnTo>
                    <a:pt x="284" y="209"/>
                  </a:lnTo>
                  <a:lnTo>
                    <a:pt x="220" y="191"/>
                  </a:lnTo>
                  <a:lnTo>
                    <a:pt x="225" y="232"/>
                  </a:lnTo>
                  <a:lnTo>
                    <a:pt x="184" y="213"/>
                  </a:lnTo>
                  <a:lnTo>
                    <a:pt x="175" y="251"/>
                  </a:lnTo>
                  <a:lnTo>
                    <a:pt x="149" y="232"/>
                  </a:lnTo>
                  <a:lnTo>
                    <a:pt x="131" y="263"/>
                  </a:lnTo>
                  <a:lnTo>
                    <a:pt x="114" y="242"/>
                  </a:lnTo>
                  <a:lnTo>
                    <a:pt x="74" y="288"/>
                  </a:lnTo>
                  <a:lnTo>
                    <a:pt x="73" y="243"/>
                  </a:lnTo>
                  <a:lnTo>
                    <a:pt x="20" y="238"/>
                  </a:lnTo>
                  <a:lnTo>
                    <a:pt x="51" y="205"/>
                  </a:lnTo>
                  <a:lnTo>
                    <a:pt x="0" y="172"/>
                  </a:lnTo>
                  <a:lnTo>
                    <a:pt x="60" y="155"/>
                  </a:lnTo>
                  <a:lnTo>
                    <a:pt x="18" y="110"/>
                  </a:lnTo>
                  <a:lnTo>
                    <a:pt x="81" y="104"/>
                  </a:lnTo>
                  <a:lnTo>
                    <a:pt x="68" y="48"/>
                  </a:lnTo>
                  <a:lnTo>
                    <a:pt x="129" y="85"/>
                  </a:lnTo>
                  <a:lnTo>
                    <a:pt x="147" y="25"/>
                  </a:lnTo>
                  <a:lnTo>
                    <a:pt x="173" y="58"/>
                  </a:lnTo>
                  <a:close/>
                </a:path>
              </a:pathLst>
            </a:custGeom>
            <a:pattFill prst="shingle">
              <a:fgClr>
                <a:srgbClr val="333399"/>
              </a:fgClr>
              <a:bgClr>
                <a:srgbClr val="FFFFFF"/>
              </a:bgClr>
            </a:pattFill>
            <a:ln w="9525" cap="flat">
              <a:solidFill>
                <a:srgbClr val="3C09F7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SimHei" panose="02010609060101010101" pitchFamily="49" charset="-122"/>
              </a:endParaRPr>
            </a:p>
          </p:txBody>
        </p:sp>
        <p:sp>
          <p:nvSpPr>
            <p:cNvPr id="594" name="Freeform 10">
              <a:extLst>
                <a:ext uri="{FF2B5EF4-FFF2-40B4-BE49-F238E27FC236}">
                  <a16:creationId xmlns:a16="http://schemas.microsoft.com/office/drawing/2014/main" id="{9D4BC951-9E2D-4D0B-A3C2-4CED519250C0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2351" y="4607746"/>
              <a:ext cx="515938" cy="457200"/>
            </a:xfrm>
            <a:custGeom>
              <a:avLst/>
              <a:gdLst>
                <a:gd name="T0" fmla="*/ 172 w 325"/>
                <a:gd name="T1" fmla="*/ 58 h 288"/>
                <a:gd name="T2" fmla="*/ 222 w 325"/>
                <a:gd name="T3" fmla="*/ 0 h 288"/>
                <a:gd name="T4" fmla="*/ 218 w 325"/>
                <a:gd name="T5" fmla="*/ 77 h 288"/>
                <a:gd name="T6" fmla="*/ 271 w 325"/>
                <a:gd name="T7" fmla="*/ 42 h 288"/>
                <a:gd name="T8" fmla="*/ 246 w 325"/>
                <a:gd name="T9" fmla="*/ 87 h 288"/>
                <a:gd name="T10" fmla="*/ 325 w 325"/>
                <a:gd name="T11" fmla="*/ 88 h 288"/>
                <a:gd name="T12" fmla="*/ 255 w 325"/>
                <a:gd name="T13" fmla="*/ 125 h 288"/>
                <a:gd name="T14" fmla="*/ 275 w 325"/>
                <a:gd name="T15" fmla="*/ 151 h 288"/>
                <a:gd name="T16" fmla="*/ 246 w 325"/>
                <a:gd name="T17" fmla="*/ 164 h 288"/>
                <a:gd name="T18" fmla="*/ 284 w 325"/>
                <a:gd name="T19" fmla="*/ 209 h 288"/>
                <a:gd name="T20" fmla="*/ 220 w 325"/>
                <a:gd name="T21" fmla="*/ 191 h 288"/>
                <a:gd name="T22" fmla="*/ 225 w 325"/>
                <a:gd name="T23" fmla="*/ 232 h 288"/>
                <a:gd name="T24" fmla="*/ 183 w 325"/>
                <a:gd name="T25" fmla="*/ 213 h 288"/>
                <a:gd name="T26" fmla="*/ 175 w 325"/>
                <a:gd name="T27" fmla="*/ 251 h 288"/>
                <a:gd name="T28" fmla="*/ 149 w 325"/>
                <a:gd name="T29" fmla="*/ 232 h 288"/>
                <a:gd name="T30" fmla="*/ 131 w 325"/>
                <a:gd name="T31" fmla="*/ 263 h 288"/>
                <a:gd name="T32" fmla="*/ 113 w 325"/>
                <a:gd name="T33" fmla="*/ 242 h 288"/>
                <a:gd name="T34" fmla="*/ 74 w 325"/>
                <a:gd name="T35" fmla="*/ 288 h 288"/>
                <a:gd name="T36" fmla="*/ 72 w 325"/>
                <a:gd name="T37" fmla="*/ 243 h 288"/>
                <a:gd name="T38" fmla="*/ 19 w 325"/>
                <a:gd name="T39" fmla="*/ 238 h 288"/>
                <a:gd name="T40" fmla="*/ 50 w 325"/>
                <a:gd name="T41" fmla="*/ 205 h 288"/>
                <a:gd name="T42" fmla="*/ 0 w 325"/>
                <a:gd name="T43" fmla="*/ 172 h 288"/>
                <a:gd name="T44" fmla="*/ 59 w 325"/>
                <a:gd name="T45" fmla="*/ 155 h 288"/>
                <a:gd name="T46" fmla="*/ 18 w 325"/>
                <a:gd name="T47" fmla="*/ 110 h 288"/>
                <a:gd name="T48" fmla="*/ 81 w 325"/>
                <a:gd name="T49" fmla="*/ 104 h 288"/>
                <a:gd name="T50" fmla="*/ 68 w 325"/>
                <a:gd name="T51" fmla="*/ 48 h 288"/>
                <a:gd name="T52" fmla="*/ 129 w 325"/>
                <a:gd name="T53" fmla="*/ 85 h 288"/>
                <a:gd name="T54" fmla="*/ 146 w 325"/>
                <a:gd name="T55" fmla="*/ 25 h 288"/>
                <a:gd name="T56" fmla="*/ 172 w 325"/>
                <a:gd name="T57" fmla="*/ 58 h 2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325" h="288">
                  <a:moveTo>
                    <a:pt x="172" y="58"/>
                  </a:moveTo>
                  <a:lnTo>
                    <a:pt x="222" y="0"/>
                  </a:lnTo>
                  <a:lnTo>
                    <a:pt x="218" y="77"/>
                  </a:lnTo>
                  <a:lnTo>
                    <a:pt x="271" y="42"/>
                  </a:lnTo>
                  <a:lnTo>
                    <a:pt x="246" y="87"/>
                  </a:lnTo>
                  <a:lnTo>
                    <a:pt x="325" y="88"/>
                  </a:lnTo>
                  <a:lnTo>
                    <a:pt x="255" y="125"/>
                  </a:lnTo>
                  <a:lnTo>
                    <a:pt x="275" y="151"/>
                  </a:lnTo>
                  <a:lnTo>
                    <a:pt x="246" y="164"/>
                  </a:lnTo>
                  <a:lnTo>
                    <a:pt x="284" y="209"/>
                  </a:lnTo>
                  <a:lnTo>
                    <a:pt x="220" y="191"/>
                  </a:lnTo>
                  <a:lnTo>
                    <a:pt x="225" y="232"/>
                  </a:lnTo>
                  <a:lnTo>
                    <a:pt x="183" y="213"/>
                  </a:lnTo>
                  <a:lnTo>
                    <a:pt x="175" y="251"/>
                  </a:lnTo>
                  <a:lnTo>
                    <a:pt x="149" y="232"/>
                  </a:lnTo>
                  <a:lnTo>
                    <a:pt x="131" y="263"/>
                  </a:lnTo>
                  <a:lnTo>
                    <a:pt x="113" y="242"/>
                  </a:lnTo>
                  <a:lnTo>
                    <a:pt x="74" y="288"/>
                  </a:lnTo>
                  <a:lnTo>
                    <a:pt x="72" y="243"/>
                  </a:lnTo>
                  <a:lnTo>
                    <a:pt x="19" y="238"/>
                  </a:lnTo>
                  <a:lnTo>
                    <a:pt x="50" y="205"/>
                  </a:lnTo>
                  <a:lnTo>
                    <a:pt x="0" y="172"/>
                  </a:lnTo>
                  <a:lnTo>
                    <a:pt x="59" y="155"/>
                  </a:lnTo>
                  <a:lnTo>
                    <a:pt x="18" y="110"/>
                  </a:lnTo>
                  <a:lnTo>
                    <a:pt x="81" y="104"/>
                  </a:lnTo>
                  <a:lnTo>
                    <a:pt x="68" y="48"/>
                  </a:lnTo>
                  <a:lnTo>
                    <a:pt x="129" y="85"/>
                  </a:lnTo>
                  <a:lnTo>
                    <a:pt x="146" y="25"/>
                  </a:lnTo>
                  <a:lnTo>
                    <a:pt x="172" y="58"/>
                  </a:lnTo>
                  <a:close/>
                </a:path>
              </a:pathLst>
            </a:custGeom>
            <a:pattFill prst="shingle">
              <a:fgClr>
                <a:srgbClr val="333399"/>
              </a:fgClr>
              <a:bgClr>
                <a:srgbClr val="FFFFFF"/>
              </a:bgClr>
            </a:patt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SimHei" panose="02010609060101010101" pitchFamily="49" charset="-122"/>
              </a:endParaRPr>
            </a:p>
          </p:txBody>
        </p:sp>
        <p:sp>
          <p:nvSpPr>
            <p:cNvPr id="595" name="Freeform 11">
              <a:extLst>
                <a:ext uri="{FF2B5EF4-FFF2-40B4-BE49-F238E27FC236}">
                  <a16:creationId xmlns:a16="http://schemas.microsoft.com/office/drawing/2014/main" id="{166D332B-84F6-4710-946D-5473FF6FD14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2351" y="4607746"/>
              <a:ext cx="515938" cy="457200"/>
            </a:xfrm>
            <a:custGeom>
              <a:avLst/>
              <a:gdLst>
                <a:gd name="T0" fmla="*/ 172 w 325"/>
                <a:gd name="T1" fmla="*/ 58 h 288"/>
                <a:gd name="T2" fmla="*/ 222 w 325"/>
                <a:gd name="T3" fmla="*/ 0 h 288"/>
                <a:gd name="T4" fmla="*/ 218 w 325"/>
                <a:gd name="T5" fmla="*/ 77 h 288"/>
                <a:gd name="T6" fmla="*/ 271 w 325"/>
                <a:gd name="T7" fmla="*/ 42 h 288"/>
                <a:gd name="T8" fmla="*/ 246 w 325"/>
                <a:gd name="T9" fmla="*/ 87 h 288"/>
                <a:gd name="T10" fmla="*/ 325 w 325"/>
                <a:gd name="T11" fmla="*/ 88 h 288"/>
                <a:gd name="T12" fmla="*/ 255 w 325"/>
                <a:gd name="T13" fmla="*/ 125 h 288"/>
                <a:gd name="T14" fmla="*/ 275 w 325"/>
                <a:gd name="T15" fmla="*/ 151 h 288"/>
                <a:gd name="T16" fmla="*/ 246 w 325"/>
                <a:gd name="T17" fmla="*/ 164 h 288"/>
                <a:gd name="T18" fmla="*/ 284 w 325"/>
                <a:gd name="T19" fmla="*/ 209 h 288"/>
                <a:gd name="T20" fmla="*/ 220 w 325"/>
                <a:gd name="T21" fmla="*/ 191 h 288"/>
                <a:gd name="T22" fmla="*/ 225 w 325"/>
                <a:gd name="T23" fmla="*/ 232 h 288"/>
                <a:gd name="T24" fmla="*/ 183 w 325"/>
                <a:gd name="T25" fmla="*/ 213 h 288"/>
                <a:gd name="T26" fmla="*/ 175 w 325"/>
                <a:gd name="T27" fmla="*/ 251 h 288"/>
                <a:gd name="T28" fmla="*/ 149 w 325"/>
                <a:gd name="T29" fmla="*/ 232 h 288"/>
                <a:gd name="T30" fmla="*/ 131 w 325"/>
                <a:gd name="T31" fmla="*/ 263 h 288"/>
                <a:gd name="T32" fmla="*/ 113 w 325"/>
                <a:gd name="T33" fmla="*/ 242 h 288"/>
                <a:gd name="T34" fmla="*/ 74 w 325"/>
                <a:gd name="T35" fmla="*/ 288 h 288"/>
                <a:gd name="T36" fmla="*/ 72 w 325"/>
                <a:gd name="T37" fmla="*/ 243 h 288"/>
                <a:gd name="T38" fmla="*/ 19 w 325"/>
                <a:gd name="T39" fmla="*/ 238 h 288"/>
                <a:gd name="T40" fmla="*/ 50 w 325"/>
                <a:gd name="T41" fmla="*/ 205 h 288"/>
                <a:gd name="T42" fmla="*/ 0 w 325"/>
                <a:gd name="T43" fmla="*/ 172 h 288"/>
                <a:gd name="T44" fmla="*/ 59 w 325"/>
                <a:gd name="T45" fmla="*/ 155 h 288"/>
                <a:gd name="T46" fmla="*/ 18 w 325"/>
                <a:gd name="T47" fmla="*/ 110 h 288"/>
                <a:gd name="T48" fmla="*/ 81 w 325"/>
                <a:gd name="T49" fmla="*/ 104 h 288"/>
                <a:gd name="T50" fmla="*/ 68 w 325"/>
                <a:gd name="T51" fmla="*/ 48 h 288"/>
                <a:gd name="T52" fmla="*/ 129 w 325"/>
                <a:gd name="T53" fmla="*/ 85 h 288"/>
                <a:gd name="T54" fmla="*/ 146 w 325"/>
                <a:gd name="T55" fmla="*/ 25 h 288"/>
                <a:gd name="T56" fmla="*/ 172 w 325"/>
                <a:gd name="T57" fmla="*/ 58 h 2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325" h="288">
                  <a:moveTo>
                    <a:pt x="172" y="58"/>
                  </a:moveTo>
                  <a:lnTo>
                    <a:pt x="222" y="0"/>
                  </a:lnTo>
                  <a:lnTo>
                    <a:pt x="218" y="77"/>
                  </a:lnTo>
                  <a:lnTo>
                    <a:pt x="271" y="42"/>
                  </a:lnTo>
                  <a:lnTo>
                    <a:pt x="246" y="87"/>
                  </a:lnTo>
                  <a:lnTo>
                    <a:pt x="325" y="88"/>
                  </a:lnTo>
                  <a:lnTo>
                    <a:pt x="255" y="125"/>
                  </a:lnTo>
                  <a:lnTo>
                    <a:pt x="275" y="151"/>
                  </a:lnTo>
                  <a:lnTo>
                    <a:pt x="246" y="164"/>
                  </a:lnTo>
                  <a:lnTo>
                    <a:pt x="284" y="209"/>
                  </a:lnTo>
                  <a:lnTo>
                    <a:pt x="220" y="191"/>
                  </a:lnTo>
                  <a:lnTo>
                    <a:pt x="225" y="232"/>
                  </a:lnTo>
                  <a:lnTo>
                    <a:pt x="183" y="213"/>
                  </a:lnTo>
                  <a:lnTo>
                    <a:pt x="175" y="251"/>
                  </a:lnTo>
                  <a:lnTo>
                    <a:pt x="149" y="232"/>
                  </a:lnTo>
                  <a:lnTo>
                    <a:pt x="131" y="263"/>
                  </a:lnTo>
                  <a:lnTo>
                    <a:pt x="113" y="242"/>
                  </a:lnTo>
                  <a:lnTo>
                    <a:pt x="74" y="288"/>
                  </a:lnTo>
                  <a:lnTo>
                    <a:pt x="72" y="243"/>
                  </a:lnTo>
                  <a:lnTo>
                    <a:pt x="19" y="238"/>
                  </a:lnTo>
                  <a:lnTo>
                    <a:pt x="50" y="205"/>
                  </a:lnTo>
                  <a:lnTo>
                    <a:pt x="0" y="172"/>
                  </a:lnTo>
                  <a:lnTo>
                    <a:pt x="59" y="155"/>
                  </a:lnTo>
                  <a:lnTo>
                    <a:pt x="18" y="110"/>
                  </a:lnTo>
                  <a:lnTo>
                    <a:pt x="81" y="104"/>
                  </a:lnTo>
                  <a:lnTo>
                    <a:pt x="68" y="48"/>
                  </a:lnTo>
                  <a:lnTo>
                    <a:pt x="129" y="85"/>
                  </a:lnTo>
                  <a:lnTo>
                    <a:pt x="146" y="25"/>
                  </a:lnTo>
                  <a:lnTo>
                    <a:pt x="172" y="58"/>
                  </a:lnTo>
                  <a:close/>
                </a:path>
              </a:pathLst>
            </a:custGeom>
            <a:pattFill prst="shingle">
              <a:fgClr>
                <a:srgbClr val="333399"/>
              </a:fgClr>
              <a:bgClr>
                <a:srgbClr val="FFFFFF"/>
              </a:bgClr>
            </a:pattFill>
            <a:ln w="9525" cap="flat">
              <a:solidFill>
                <a:srgbClr val="3C09F7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SimHei" panose="02010609060101010101" pitchFamily="49" charset="-122"/>
              </a:endParaRPr>
            </a:p>
          </p:txBody>
        </p:sp>
        <p:sp>
          <p:nvSpPr>
            <p:cNvPr id="596" name="Freeform 12">
              <a:extLst>
                <a:ext uri="{FF2B5EF4-FFF2-40B4-BE49-F238E27FC236}">
                  <a16:creationId xmlns:a16="http://schemas.microsoft.com/office/drawing/2014/main" id="{3A48230F-E9ED-41B1-B404-A71F1AC1C651}"/>
                </a:ext>
              </a:extLst>
            </p:cNvPr>
            <p:cNvSpPr>
              <a:spLocks/>
            </p:cNvSpPr>
            <p:nvPr/>
          </p:nvSpPr>
          <p:spPr bwMode="auto">
            <a:xfrm>
              <a:off x="5248288" y="4607746"/>
              <a:ext cx="514350" cy="457200"/>
            </a:xfrm>
            <a:custGeom>
              <a:avLst/>
              <a:gdLst>
                <a:gd name="T0" fmla="*/ 172 w 324"/>
                <a:gd name="T1" fmla="*/ 58 h 288"/>
                <a:gd name="T2" fmla="*/ 222 w 324"/>
                <a:gd name="T3" fmla="*/ 0 h 288"/>
                <a:gd name="T4" fmla="*/ 218 w 324"/>
                <a:gd name="T5" fmla="*/ 77 h 288"/>
                <a:gd name="T6" fmla="*/ 270 w 324"/>
                <a:gd name="T7" fmla="*/ 42 h 288"/>
                <a:gd name="T8" fmla="*/ 246 w 324"/>
                <a:gd name="T9" fmla="*/ 87 h 288"/>
                <a:gd name="T10" fmla="*/ 324 w 324"/>
                <a:gd name="T11" fmla="*/ 88 h 288"/>
                <a:gd name="T12" fmla="*/ 255 w 324"/>
                <a:gd name="T13" fmla="*/ 125 h 288"/>
                <a:gd name="T14" fmla="*/ 274 w 324"/>
                <a:gd name="T15" fmla="*/ 151 h 288"/>
                <a:gd name="T16" fmla="*/ 246 w 324"/>
                <a:gd name="T17" fmla="*/ 164 h 288"/>
                <a:gd name="T18" fmla="*/ 283 w 324"/>
                <a:gd name="T19" fmla="*/ 209 h 288"/>
                <a:gd name="T20" fmla="*/ 220 w 324"/>
                <a:gd name="T21" fmla="*/ 191 h 288"/>
                <a:gd name="T22" fmla="*/ 224 w 324"/>
                <a:gd name="T23" fmla="*/ 232 h 288"/>
                <a:gd name="T24" fmla="*/ 183 w 324"/>
                <a:gd name="T25" fmla="*/ 213 h 288"/>
                <a:gd name="T26" fmla="*/ 174 w 324"/>
                <a:gd name="T27" fmla="*/ 251 h 288"/>
                <a:gd name="T28" fmla="*/ 148 w 324"/>
                <a:gd name="T29" fmla="*/ 232 h 288"/>
                <a:gd name="T30" fmla="*/ 130 w 324"/>
                <a:gd name="T31" fmla="*/ 263 h 288"/>
                <a:gd name="T32" fmla="*/ 113 w 324"/>
                <a:gd name="T33" fmla="*/ 242 h 288"/>
                <a:gd name="T34" fmla="*/ 74 w 324"/>
                <a:gd name="T35" fmla="*/ 288 h 288"/>
                <a:gd name="T36" fmla="*/ 72 w 324"/>
                <a:gd name="T37" fmla="*/ 243 h 288"/>
                <a:gd name="T38" fmla="*/ 19 w 324"/>
                <a:gd name="T39" fmla="*/ 238 h 288"/>
                <a:gd name="T40" fmla="*/ 50 w 324"/>
                <a:gd name="T41" fmla="*/ 205 h 288"/>
                <a:gd name="T42" fmla="*/ 0 w 324"/>
                <a:gd name="T43" fmla="*/ 172 h 288"/>
                <a:gd name="T44" fmla="*/ 59 w 324"/>
                <a:gd name="T45" fmla="*/ 155 h 288"/>
                <a:gd name="T46" fmla="*/ 17 w 324"/>
                <a:gd name="T47" fmla="*/ 110 h 288"/>
                <a:gd name="T48" fmla="*/ 81 w 324"/>
                <a:gd name="T49" fmla="*/ 104 h 288"/>
                <a:gd name="T50" fmla="*/ 68 w 324"/>
                <a:gd name="T51" fmla="*/ 48 h 288"/>
                <a:gd name="T52" fmla="*/ 128 w 324"/>
                <a:gd name="T53" fmla="*/ 85 h 288"/>
                <a:gd name="T54" fmla="*/ 146 w 324"/>
                <a:gd name="T55" fmla="*/ 25 h 288"/>
                <a:gd name="T56" fmla="*/ 172 w 324"/>
                <a:gd name="T57" fmla="*/ 58 h 2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324" h="288">
                  <a:moveTo>
                    <a:pt x="172" y="58"/>
                  </a:moveTo>
                  <a:lnTo>
                    <a:pt x="222" y="0"/>
                  </a:lnTo>
                  <a:lnTo>
                    <a:pt x="218" y="77"/>
                  </a:lnTo>
                  <a:lnTo>
                    <a:pt x="270" y="42"/>
                  </a:lnTo>
                  <a:lnTo>
                    <a:pt x="246" y="87"/>
                  </a:lnTo>
                  <a:lnTo>
                    <a:pt x="324" y="88"/>
                  </a:lnTo>
                  <a:lnTo>
                    <a:pt x="255" y="125"/>
                  </a:lnTo>
                  <a:lnTo>
                    <a:pt x="274" y="151"/>
                  </a:lnTo>
                  <a:lnTo>
                    <a:pt x="246" y="164"/>
                  </a:lnTo>
                  <a:lnTo>
                    <a:pt x="283" y="209"/>
                  </a:lnTo>
                  <a:lnTo>
                    <a:pt x="220" y="191"/>
                  </a:lnTo>
                  <a:lnTo>
                    <a:pt x="224" y="232"/>
                  </a:lnTo>
                  <a:lnTo>
                    <a:pt x="183" y="213"/>
                  </a:lnTo>
                  <a:lnTo>
                    <a:pt x="174" y="251"/>
                  </a:lnTo>
                  <a:lnTo>
                    <a:pt x="148" y="232"/>
                  </a:lnTo>
                  <a:lnTo>
                    <a:pt x="130" y="263"/>
                  </a:lnTo>
                  <a:lnTo>
                    <a:pt x="113" y="242"/>
                  </a:lnTo>
                  <a:lnTo>
                    <a:pt x="74" y="288"/>
                  </a:lnTo>
                  <a:lnTo>
                    <a:pt x="72" y="243"/>
                  </a:lnTo>
                  <a:lnTo>
                    <a:pt x="19" y="238"/>
                  </a:lnTo>
                  <a:lnTo>
                    <a:pt x="50" y="205"/>
                  </a:lnTo>
                  <a:lnTo>
                    <a:pt x="0" y="172"/>
                  </a:lnTo>
                  <a:lnTo>
                    <a:pt x="59" y="155"/>
                  </a:lnTo>
                  <a:lnTo>
                    <a:pt x="17" y="110"/>
                  </a:lnTo>
                  <a:lnTo>
                    <a:pt x="81" y="104"/>
                  </a:lnTo>
                  <a:lnTo>
                    <a:pt x="68" y="48"/>
                  </a:lnTo>
                  <a:lnTo>
                    <a:pt x="128" y="85"/>
                  </a:lnTo>
                  <a:lnTo>
                    <a:pt x="146" y="25"/>
                  </a:lnTo>
                  <a:lnTo>
                    <a:pt x="172" y="58"/>
                  </a:lnTo>
                  <a:close/>
                </a:path>
              </a:pathLst>
            </a:custGeom>
            <a:pattFill prst="shingle">
              <a:fgClr>
                <a:srgbClr val="333399"/>
              </a:fgClr>
              <a:bgClr>
                <a:srgbClr val="FFFFFF"/>
              </a:bgClr>
            </a:patt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SimHei" panose="02010609060101010101" pitchFamily="49" charset="-122"/>
              </a:endParaRPr>
            </a:p>
          </p:txBody>
        </p:sp>
        <p:sp>
          <p:nvSpPr>
            <p:cNvPr id="597" name="Freeform 13">
              <a:extLst>
                <a:ext uri="{FF2B5EF4-FFF2-40B4-BE49-F238E27FC236}">
                  <a16:creationId xmlns:a16="http://schemas.microsoft.com/office/drawing/2014/main" id="{735EFE08-FDE2-4A70-B12B-2699148C302E}"/>
                </a:ext>
              </a:extLst>
            </p:cNvPr>
            <p:cNvSpPr>
              <a:spLocks/>
            </p:cNvSpPr>
            <p:nvPr/>
          </p:nvSpPr>
          <p:spPr bwMode="auto">
            <a:xfrm>
              <a:off x="5248288" y="4607746"/>
              <a:ext cx="514350" cy="457200"/>
            </a:xfrm>
            <a:custGeom>
              <a:avLst/>
              <a:gdLst>
                <a:gd name="T0" fmla="*/ 172 w 324"/>
                <a:gd name="T1" fmla="*/ 58 h 288"/>
                <a:gd name="T2" fmla="*/ 222 w 324"/>
                <a:gd name="T3" fmla="*/ 0 h 288"/>
                <a:gd name="T4" fmla="*/ 218 w 324"/>
                <a:gd name="T5" fmla="*/ 77 h 288"/>
                <a:gd name="T6" fmla="*/ 270 w 324"/>
                <a:gd name="T7" fmla="*/ 42 h 288"/>
                <a:gd name="T8" fmla="*/ 246 w 324"/>
                <a:gd name="T9" fmla="*/ 87 h 288"/>
                <a:gd name="T10" fmla="*/ 324 w 324"/>
                <a:gd name="T11" fmla="*/ 88 h 288"/>
                <a:gd name="T12" fmla="*/ 255 w 324"/>
                <a:gd name="T13" fmla="*/ 125 h 288"/>
                <a:gd name="T14" fmla="*/ 274 w 324"/>
                <a:gd name="T15" fmla="*/ 151 h 288"/>
                <a:gd name="T16" fmla="*/ 246 w 324"/>
                <a:gd name="T17" fmla="*/ 164 h 288"/>
                <a:gd name="T18" fmla="*/ 283 w 324"/>
                <a:gd name="T19" fmla="*/ 209 h 288"/>
                <a:gd name="T20" fmla="*/ 220 w 324"/>
                <a:gd name="T21" fmla="*/ 191 h 288"/>
                <a:gd name="T22" fmla="*/ 224 w 324"/>
                <a:gd name="T23" fmla="*/ 232 h 288"/>
                <a:gd name="T24" fmla="*/ 183 w 324"/>
                <a:gd name="T25" fmla="*/ 213 h 288"/>
                <a:gd name="T26" fmla="*/ 174 w 324"/>
                <a:gd name="T27" fmla="*/ 251 h 288"/>
                <a:gd name="T28" fmla="*/ 148 w 324"/>
                <a:gd name="T29" fmla="*/ 232 h 288"/>
                <a:gd name="T30" fmla="*/ 130 w 324"/>
                <a:gd name="T31" fmla="*/ 263 h 288"/>
                <a:gd name="T32" fmla="*/ 113 w 324"/>
                <a:gd name="T33" fmla="*/ 242 h 288"/>
                <a:gd name="T34" fmla="*/ 74 w 324"/>
                <a:gd name="T35" fmla="*/ 288 h 288"/>
                <a:gd name="T36" fmla="*/ 72 w 324"/>
                <a:gd name="T37" fmla="*/ 243 h 288"/>
                <a:gd name="T38" fmla="*/ 19 w 324"/>
                <a:gd name="T39" fmla="*/ 238 h 288"/>
                <a:gd name="T40" fmla="*/ 50 w 324"/>
                <a:gd name="T41" fmla="*/ 205 h 288"/>
                <a:gd name="T42" fmla="*/ 0 w 324"/>
                <a:gd name="T43" fmla="*/ 172 h 288"/>
                <a:gd name="T44" fmla="*/ 59 w 324"/>
                <a:gd name="T45" fmla="*/ 155 h 288"/>
                <a:gd name="T46" fmla="*/ 17 w 324"/>
                <a:gd name="T47" fmla="*/ 110 h 288"/>
                <a:gd name="T48" fmla="*/ 81 w 324"/>
                <a:gd name="T49" fmla="*/ 104 h 288"/>
                <a:gd name="T50" fmla="*/ 68 w 324"/>
                <a:gd name="T51" fmla="*/ 48 h 288"/>
                <a:gd name="T52" fmla="*/ 128 w 324"/>
                <a:gd name="T53" fmla="*/ 85 h 288"/>
                <a:gd name="T54" fmla="*/ 146 w 324"/>
                <a:gd name="T55" fmla="*/ 25 h 288"/>
                <a:gd name="T56" fmla="*/ 172 w 324"/>
                <a:gd name="T57" fmla="*/ 58 h 2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324" h="288">
                  <a:moveTo>
                    <a:pt x="172" y="58"/>
                  </a:moveTo>
                  <a:lnTo>
                    <a:pt x="222" y="0"/>
                  </a:lnTo>
                  <a:lnTo>
                    <a:pt x="218" y="77"/>
                  </a:lnTo>
                  <a:lnTo>
                    <a:pt x="270" y="42"/>
                  </a:lnTo>
                  <a:lnTo>
                    <a:pt x="246" y="87"/>
                  </a:lnTo>
                  <a:lnTo>
                    <a:pt x="324" y="88"/>
                  </a:lnTo>
                  <a:lnTo>
                    <a:pt x="255" y="125"/>
                  </a:lnTo>
                  <a:lnTo>
                    <a:pt x="274" y="151"/>
                  </a:lnTo>
                  <a:lnTo>
                    <a:pt x="246" y="164"/>
                  </a:lnTo>
                  <a:lnTo>
                    <a:pt x="283" y="209"/>
                  </a:lnTo>
                  <a:lnTo>
                    <a:pt x="220" y="191"/>
                  </a:lnTo>
                  <a:lnTo>
                    <a:pt x="224" y="232"/>
                  </a:lnTo>
                  <a:lnTo>
                    <a:pt x="183" y="213"/>
                  </a:lnTo>
                  <a:lnTo>
                    <a:pt x="174" y="251"/>
                  </a:lnTo>
                  <a:lnTo>
                    <a:pt x="148" y="232"/>
                  </a:lnTo>
                  <a:lnTo>
                    <a:pt x="130" y="263"/>
                  </a:lnTo>
                  <a:lnTo>
                    <a:pt x="113" y="242"/>
                  </a:lnTo>
                  <a:lnTo>
                    <a:pt x="74" y="288"/>
                  </a:lnTo>
                  <a:lnTo>
                    <a:pt x="72" y="243"/>
                  </a:lnTo>
                  <a:lnTo>
                    <a:pt x="19" y="238"/>
                  </a:lnTo>
                  <a:lnTo>
                    <a:pt x="50" y="205"/>
                  </a:lnTo>
                  <a:lnTo>
                    <a:pt x="0" y="172"/>
                  </a:lnTo>
                  <a:lnTo>
                    <a:pt x="59" y="155"/>
                  </a:lnTo>
                  <a:lnTo>
                    <a:pt x="17" y="110"/>
                  </a:lnTo>
                  <a:lnTo>
                    <a:pt x="81" y="104"/>
                  </a:lnTo>
                  <a:lnTo>
                    <a:pt x="68" y="48"/>
                  </a:lnTo>
                  <a:lnTo>
                    <a:pt x="128" y="85"/>
                  </a:lnTo>
                  <a:lnTo>
                    <a:pt x="146" y="25"/>
                  </a:lnTo>
                  <a:lnTo>
                    <a:pt x="172" y="58"/>
                  </a:lnTo>
                  <a:close/>
                </a:path>
              </a:pathLst>
            </a:custGeom>
            <a:pattFill prst="shingle">
              <a:fgClr>
                <a:srgbClr val="333399"/>
              </a:fgClr>
              <a:bgClr>
                <a:srgbClr val="FFFFFF"/>
              </a:bgClr>
            </a:pattFill>
            <a:ln w="9525" cap="flat">
              <a:solidFill>
                <a:srgbClr val="3C09F7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SimHei" panose="02010609060101010101" pitchFamily="49" charset="-122"/>
              </a:endParaRPr>
            </a:p>
          </p:txBody>
        </p:sp>
        <p:sp>
          <p:nvSpPr>
            <p:cNvPr id="598" name="Freeform 14">
              <a:extLst>
                <a:ext uri="{FF2B5EF4-FFF2-40B4-BE49-F238E27FC236}">
                  <a16:creationId xmlns:a16="http://schemas.microsoft.com/office/drawing/2014/main" id="{C9C39E27-861C-4A6F-AD1B-A3945207987E}"/>
                </a:ext>
              </a:extLst>
            </p:cNvPr>
            <p:cNvSpPr>
              <a:spLocks/>
            </p:cNvSpPr>
            <p:nvPr/>
          </p:nvSpPr>
          <p:spPr bwMode="auto">
            <a:xfrm>
              <a:off x="5762638" y="4607746"/>
              <a:ext cx="515938" cy="457200"/>
            </a:xfrm>
            <a:custGeom>
              <a:avLst/>
              <a:gdLst>
                <a:gd name="T0" fmla="*/ 173 w 325"/>
                <a:gd name="T1" fmla="*/ 58 h 288"/>
                <a:gd name="T2" fmla="*/ 223 w 325"/>
                <a:gd name="T3" fmla="*/ 0 h 288"/>
                <a:gd name="T4" fmla="*/ 219 w 325"/>
                <a:gd name="T5" fmla="*/ 77 h 288"/>
                <a:gd name="T6" fmla="*/ 271 w 325"/>
                <a:gd name="T7" fmla="*/ 42 h 288"/>
                <a:gd name="T8" fmla="*/ 247 w 325"/>
                <a:gd name="T9" fmla="*/ 87 h 288"/>
                <a:gd name="T10" fmla="*/ 325 w 325"/>
                <a:gd name="T11" fmla="*/ 88 h 288"/>
                <a:gd name="T12" fmla="*/ 256 w 325"/>
                <a:gd name="T13" fmla="*/ 125 h 288"/>
                <a:gd name="T14" fmla="*/ 275 w 325"/>
                <a:gd name="T15" fmla="*/ 151 h 288"/>
                <a:gd name="T16" fmla="*/ 247 w 325"/>
                <a:gd name="T17" fmla="*/ 164 h 288"/>
                <a:gd name="T18" fmla="*/ 284 w 325"/>
                <a:gd name="T19" fmla="*/ 209 h 288"/>
                <a:gd name="T20" fmla="*/ 220 w 325"/>
                <a:gd name="T21" fmla="*/ 191 h 288"/>
                <a:gd name="T22" fmla="*/ 225 w 325"/>
                <a:gd name="T23" fmla="*/ 232 h 288"/>
                <a:gd name="T24" fmla="*/ 183 w 325"/>
                <a:gd name="T25" fmla="*/ 213 h 288"/>
                <a:gd name="T26" fmla="*/ 175 w 325"/>
                <a:gd name="T27" fmla="*/ 251 h 288"/>
                <a:gd name="T28" fmla="*/ 149 w 325"/>
                <a:gd name="T29" fmla="*/ 232 h 288"/>
                <a:gd name="T30" fmla="*/ 131 w 325"/>
                <a:gd name="T31" fmla="*/ 263 h 288"/>
                <a:gd name="T32" fmla="*/ 114 w 325"/>
                <a:gd name="T33" fmla="*/ 242 h 288"/>
                <a:gd name="T34" fmla="*/ 74 w 325"/>
                <a:gd name="T35" fmla="*/ 288 h 288"/>
                <a:gd name="T36" fmla="*/ 73 w 325"/>
                <a:gd name="T37" fmla="*/ 243 h 288"/>
                <a:gd name="T38" fmla="*/ 20 w 325"/>
                <a:gd name="T39" fmla="*/ 238 h 288"/>
                <a:gd name="T40" fmla="*/ 50 w 325"/>
                <a:gd name="T41" fmla="*/ 205 h 288"/>
                <a:gd name="T42" fmla="*/ 0 w 325"/>
                <a:gd name="T43" fmla="*/ 172 h 288"/>
                <a:gd name="T44" fmla="*/ 59 w 325"/>
                <a:gd name="T45" fmla="*/ 155 h 288"/>
                <a:gd name="T46" fmla="*/ 18 w 325"/>
                <a:gd name="T47" fmla="*/ 110 h 288"/>
                <a:gd name="T48" fmla="*/ 81 w 325"/>
                <a:gd name="T49" fmla="*/ 104 h 288"/>
                <a:gd name="T50" fmla="*/ 68 w 325"/>
                <a:gd name="T51" fmla="*/ 48 h 288"/>
                <a:gd name="T52" fmla="*/ 129 w 325"/>
                <a:gd name="T53" fmla="*/ 85 h 288"/>
                <a:gd name="T54" fmla="*/ 147 w 325"/>
                <a:gd name="T55" fmla="*/ 25 h 288"/>
                <a:gd name="T56" fmla="*/ 173 w 325"/>
                <a:gd name="T57" fmla="*/ 58 h 2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325" h="288">
                  <a:moveTo>
                    <a:pt x="173" y="58"/>
                  </a:moveTo>
                  <a:lnTo>
                    <a:pt x="223" y="0"/>
                  </a:lnTo>
                  <a:lnTo>
                    <a:pt x="219" y="77"/>
                  </a:lnTo>
                  <a:lnTo>
                    <a:pt x="271" y="42"/>
                  </a:lnTo>
                  <a:lnTo>
                    <a:pt x="247" y="87"/>
                  </a:lnTo>
                  <a:lnTo>
                    <a:pt x="325" y="88"/>
                  </a:lnTo>
                  <a:lnTo>
                    <a:pt x="256" y="125"/>
                  </a:lnTo>
                  <a:lnTo>
                    <a:pt x="275" y="151"/>
                  </a:lnTo>
                  <a:lnTo>
                    <a:pt x="247" y="164"/>
                  </a:lnTo>
                  <a:lnTo>
                    <a:pt x="284" y="209"/>
                  </a:lnTo>
                  <a:lnTo>
                    <a:pt x="220" y="191"/>
                  </a:lnTo>
                  <a:lnTo>
                    <a:pt x="225" y="232"/>
                  </a:lnTo>
                  <a:lnTo>
                    <a:pt x="183" y="213"/>
                  </a:lnTo>
                  <a:lnTo>
                    <a:pt x="175" y="251"/>
                  </a:lnTo>
                  <a:lnTo>
                    <a:pt x="149" y="232"/>
                  </a:lnTo>
                  <a:lnTo>
                    <a:pt x="131" y="263"/>
                  </a:lnTo>
                  <a:lnTo>
                    <a:pt x="114" y="242"/>
                  </a:lnTo>
                  <a:lnTo>
                    <a:pt x="74" y="288"/>
                  </a:lnTo>
                  <a:lnTo>
                    <a:pt x="73" y="243"/>
                  </a:lnTo>
                  <a:lnTo>
                    <a:pt x="20" y="238"/>
                  </a:lnTo>
                  <a:lnTo>
                    <a:pt x="50" y="205"/>
                  </a:lnTo>
                  <a:lnTo>
                    <a:pt x="0" y="172"/>
                  </a:lnTo>
                  <a:lnTo>
                    <a:pt x="59" y="155"/>
                  </a:lnTo>
                  <a:lnTo>
                    <a:pt x="18" y="110"/>
                  </a:lnTo>
                  <a:lnTo>
                    <a:pt x="81" y="104"/>
                  </a:lnTo>
                  <a:lnTo>
                    <a:pt x="68" y="48"/>
                  </a:lnTo>
                  <a:lnTo>
                    <a:pt x="129" y="85"/>
                  </a:lnTo>
                  <a:lnTo>
                    <a:pt x="147" y="25"/>
                  </a:lnTo>
                  <a:lnTo>
                    <a:pt x="173" y="58"/>
                  </a:lnTo>
                  <a:close/>
                </a:path>
              </a:pathLst>
            </a:custGeom>
            <a:pattFill prst="shingle">
              <a:fgClr>
                <a:srgbClr val="333399"/>
              </a:fgClr>
              <a:bgClr>
                <a:srgbClr val="FFFFFF"/>
              </a:bgClr>
            </a:patt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SimHei" panose="02010609060101010101" pitchFamily="49" charset="-122"/>
              </a:endParaRPr>
            </a:p>
          </p:txBody>
        </p:sp>
        <p:sp>
          <p:nvSpPr>
            <p:cNvPr id="599" name="Freeform 15">
              <a:extLst>
                <a:ext uri="{FF2B5EF4-FFF2-40B4-BE49-F238E27FC236}">
                  <a16:creationId xmlns:a16="http://schemas.microsoft.com/office/drawing/2014/main" id="{F215E349-BCE7-47EF-8539-F1FAB242A461}"/>
                </a:ext>
              </a:extLst>
            </p:cNvPr>
            <p:cNvSpPr>
              <a:spLocks/>
            </p:cNvSpPr>
            <p:nvPr/>
          </p:nvSpPr>
          <p:spPr bwMode="auto">
            <a:xfrm>
              <a:off x="5762638" y="4607746"/>
              <a:ext cx="515938" cy="457200"/>
            </a:xfrm>
            <a:custGeom>
              <a:avLst/>
              <a:gdLst>
                <a:gd name="T0" fmla="*/ 173 w 325"/>
                <a:gd name="T1" fmla="*/ 58 h 288"/>
                <a:gd name="T2" fmla="*/ 223 w 325"/>
                <a:gd name="T3" fmla="*/ 0 h 288"/>
                <a:gd name="T4" fmla="*/ 219 w 325"/>
                <a:gd name="T5" fmla="*/ 77 h 288"/>
                <a:gd name="T6" fmla="*/ 271 w 325"/>
                <a:gd name="T7" fmla="*/ 42 h 288"/>
                <a:gd name="T8" fmla="*/ 247 w 325"/>
                <a:gd name="T9" fmla="*/ 87 h 288"/>
                <a:gd name="T10" fmla="*/ 325 w 325"/>
                <a:gd name="T11" fmla="*/ 88 h 288"/>
                <a:gd name="T12" fmla="*/ 256 w 325"/>
                <a:gd name="T13" fmla="*/ 125 h 288"/>
                <a:gd name="T14" fmla="*/ 275 w 325"/>
                <a:gd name="T15" fmla="*/ 151 h 288"/>
                <a:gd name="T16" fmla="*/ 247 w 325"/>
                <a:gd name="T17" fmla="*/ 164 h 288"/>
                <a:gd name="T18" fmla="*/ 284 w 325"/>
                <a:gd name="T19" fmla="*/ 209 h 288"/>
                <a:gd name="T20" fmla="*/ 220 w 325"/>
                <a:gd name="T21" fmla="*/ 191 h 288"/>
                <a:gd name="T22" fmla="*/ 225 w 325"/>
                <a:gd name="T23" fmla="*/ 232 h 288"/>
                <a:gd name="T24" fmla="*/ 183 w 325"/>
                <a:gd name="T25" fmla="*/ 213 h 288"/>
                <a:gd name="T26" fmla="*/ 175 w 325"/>
                <a:gd name="T27" fmla="*/ 251 h 288"/>
                <a:gd name="T28" fmla="*/ 149 w 325"/>
                <a:gd name="T29" fmla="*/ 232 h 288"/>
                <a:gd name="T30" fmla="*/ 131 w 325"/>
                <a:gd name="T31" fmla="*/ 263 h 288"/>
                <a:gd name="T32" fmla="*/ 114 w 325"/>
                <a:gd name="T33" fmla="*/ 242 h 288"/>
                <a:gd name="T34" fmla="*/ 74 w 325"/>
                <a:gd name="T35" fmla="*/ 288 h 288"/>
                <a:gd name="T36" fmla="*/ 73 w 325"/>
                <a:gd name="T37" fmla="*/ 243 h 288"/>
                <a:gd name="T38" fmla="*/ 20 w 325"/>
                <a:gd name="T39" fmla="*/ 238 h 288"/>
                <a:gd name="T40" fmla="*/ 50 w 325"/>
                <a:gd name="T41" fmla="*/ 205 h 288"/>
                <a:gd name="T42" fmla="*/ 0 w 325"/>
                <a:gd name="T43" fmla="*/ 172 h 288"/>
                <a:gd name="T44" fmla="*/ 59 w 325"/>
                <a:gd name="T45" fmla="*/ 155 h 288"/>
                <a:gd name="T46" fmla="*/ 18 w 325"/>
                <a:gd name="T47" fmla="*/ 110 h 288"/>
                <a:gd name="T48" fmla="*/ 81 w 325"/>
                <a:gd name="T49" fmla="*/ 104 h 288"/>
                <a:gd name="T50" fmla="*/ 68 w 325"/>
                <a:gd name="T51" fmla="*/ 48 h 288"/>
                <a:gd name="T52" fmla="*/ 129 w 325"/>
                <a:gd name="T53" fmla="*/ 85 h 288"/>
                <a:gd name="T54" fmla="*/ 147 w 325"/>
                <a:gd name="T55" fmla="*/ 25 h 288"/>
                <a:gd name="T56" fmla="*/ 173 w 325"/>
                <a:gd name="T57" fmla="*/ 58 h 2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325" h="288">
                  <a:moveTo>
                    <a:pt x="173" y="58"/>
                  </a:moveTo>
                  <a:lnTo>
                    <a:pt x="223" y="0"/>
                  </a:lnTo>
                  <a:lnTo>
                    <a:pt x="219" y="77"/>
                  </a:lnTo>
                  <a:lnTo>
                    <a:pt x="271" y="42"/>
                  </a:lnTo>
                  <a:lnTo>
                    <a:pt x="247" y="87"/>
                  </a:lnTo>
                  <a:lnTo>
                    <a:pt x="325" y="88"/>
                  </a:lnTo>
                  <a:lnTo>
                    <a:pt x="256" y="125"/>
                  </a:lnTo>
                  <a:lnTo>
                    <a:pt x="275" y="151"/>
                  </a:lnTo>
                  <a:lnTo>
                    <a:pt x="247" y="164"/>
                  </a:lnTo>
                  <a:lnTo>
                    <a:pt x="284" y="209"/>
                  </a:lnTo>
                  <a:lnTo>
                    <a:pt x="220" y="191"/>
                  </a:lnTo>
                  <a:lnTo>
                    <a:pt x="225" y="232"/>
                  </a:lnTo>
                  <a:lnTo>
                    <a:pt x="183" y="213"/>
                  </a:lnTo>
                  <a:lnTo>
                    <a:pt x="175" y="251"/>
                  </a:lnTo>
                  <a:lnTo>
                    <a:pt x="149" y="232"/>
                  </a:lnTo>
                  <a:lnTo>
                    <a:pt x="131" y="263"/>
                  </a:lnTo>
                  <a:lnTo>
                    <a:pt x="114" y="242"/>
                  </a:lnTo>
                  <a:lnTo>
                    <a:pt x="74" y="288"/>
                  </a:lnTo>
                  <a:lnTo>
                    <a:pt x="73" y="243"/>
                  </a:lnTo>
                  <a:lnTo>
                    <a:pt x="20" y="238"/>
                  </a:lnTo>
                  <a:lnTo>
                    <a:pt x="50" y="205"/>
                  </a:lnTo>
                  <a:lnTo>
                    <a:pt x="0" y="172"/>
                  </a:lnTo>
                  <a:lnTo>
                    <a:pt x="59" y="155"/>
                  </a:lnTo>
                  <a:lnTo>
                    <a:pt x="18" y="110"/>
                  </a:lnTo>
                  <a:lnTo>
                    <a:pt x="81" y="104"/>
                  </a:lnTo>
                  <a:lnTo>
                    <a:pt x="68" y="48"/>
                  </a:lnTo>
                  <a:lnTo>
                    <a:pt x="129" y="85"/>
                  </a:lnTo>
                  <a:lnTo>
                    <a:pt x="147" y="25"/>
                  </a:lnTo>
                  <a:lnTo>
                    <a:pt x="173" y="58"/>
                  </a:lnTo>
                  <a:close/>
                </a:path>
              </a:pathLst>
            </a:custGeom>
            <a:pattFill prst="shingle">
              <a:fgClr>
                <a:srgbClr val="333399"/>
              </a:fgClr>
              <a:bgClr>
                <a:srgbClr val="FFFFFF"/>
              </a:bgClr>
            </a:pattFill>
            <a:ln w="9525" cap="flat">
              <a:solidFill>
                <a:srgbClr val="3C09F7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SimHei" panose="02010609060101010101" pitchFamily="49" charset="-122"/>
              </a:endParaRPr>
            </a:p>
          </p:txBody>
        </p:sp>
        <p:sp>
          <p:nvSpPr>
            <p:cNvPr id="600" name="Freeform 16">
              <a:extLst>
                <a:ext uri="{FF2B5EF4-FFF2-40B4-BE49-F238E27FC236}">
                  <a16:creationId xmlns:a16="http://schemas.microsoft.com/office/drawing/2014/main" id="{D52BEA60-7465-4F2C-B251-07AB86985297}"/>
                </a:ext>
              </a:extLst>
            </p:cNvPr>
            <p:cNvSpPr>
              <a:spLocks/>
            </p:cNvSpPr>
            <p:nvPr/>
          </p:nvSpPr>
          <p:spPr bwMode="auto">
            <a:xfrm>
              <a:off x="6278576" y="4607746"/>
              <a:ext cx="515938" cy="457200"/>
            </a:xfrm>
            <a:custGeom>
              <a:avLst/>
              <a:gdLst>
                <a:gd name="T0" fmla="*/ 172 w 325"/>
                <a:gd name="T1" fmla="*/ 58 h 288"/>
                <a:gd name="T2" fmla="*/ 222 w 325"/>
                <a:gd name="T3" fmla="*/ 0 h 288"/>
                <a:gd name="T4" fmla="*/ 218 w 325"/>
                <a:gd name="T5" fmla="*/ 77 h 288"/>
                <a:gd name="T6" fmla="*/ 271 w 325"/>
                <a:gd name="T7" fmla="*/ 42 h 288"/>
                <a:gd name="T8" fmla="*/ 246 w 325"/>
                <a:gd name="T9" fmla="*/ 87 h 288"/>
                <a:gd name="T10" fmla="*/ 325 w 325"/>
                <a:gd name="T11" fmla="*/ 88 h 288"/>
                <a:gd name="T12" fmla="*/ 255 w 325"/>
                <a:gd name="T13" fmla="*/ 125 h 288"/>
                <a:gd name="T14" fmla="*/ 275 w 325"/>
                <a:gd name="T15" fmla="*/ 151 h 288"/>
                <a:gd name="T16" fmla="*/ 246 w 325"/>
                <a:gd name="T17" fmla="*/ 164 h 288"/>
                <a:gd name="T18" fmla="*/ 284 w 325"/>
                <a:gd name="T19" fmla="*/ 209 h 288"/>
                <a:gd name="T20" fmla="*/ 220 w 325"/>
                <a:gd name="T21" fmla="*/ 191 h 288"/>
                <a:gd name="T22" fmla="*/ 225 w 325"/>
                <a:gd name="T23" fmla="*/ 232 h 288"/>
                <a:gd name="T24" fmla="*/ 183 w 325"/>
                <a:gd name="T25" fmla="*/ 213 h 288"/>
                <a:gd name="T26" fmla="*/ 175 w 325"/>
                <a:gd name="T27" fmla="*/ 251 h 288"/>
                <a:gd name="T28" fmla="*/ 148 w 325"/>
                <a:gd name="T29" fmla="*/ 232 h 288"/>
                <a:gd name="T30" fmla="*/ 131 w 325"/>
                <a:gd name="T31" fmla="*/ 263 h 288"/>
                <a:gd name="T32" fmla="*/ 113 w 325"/>
                <a:gd name="T33" fmla="*/ 242 h 288"/>
                <a:gd name="T34" fmla="*/ 74 w 325"/>
                <a:gd name="T35" fmla="*/ 288 h 288"/>
                <a:gd name="T36" fmla="*/ 72 w 325"/>
                <a:gd name="T37" fmla="*/ 243 h 288"/>
                <a:gd name="T38" fmla="*/ 19 w 325"/>
                <a:gd name="T39" fmla="*/ 238 h 288"/>
                <a:gd name="T40" fmla="*/ 50 w 325"/>
                <a:gd name="T41" fmla="*/ 205 h 288"/>
                <a:gd name="T42" fmla="*/ 0 w 325"/>
                <a:gd name="T43" fmla="*/ 172 h 288"/>
                <a:gd name="T44" fmla="*/ 59 w 325"/>
                <a:gd name="T45" fmla="*/ 155 h 288"/>
                <a:gd name="T46" fmla="*/ 18 w 325"/>
                <a:gd name="T47" fmla="*/ 110 h 288"/>
                <a:gd name="T48" fmla="*/ 81 w 325"/>
                <a:gd name="T49" fmla="*/ 104 h 288"/>
                <a:gd name="T50" fmla="*/ 68 w 325"/>
                <a:gd name="T51" fmla="*/ 48 h 288"/>
                <a:gd name="T52" fmla="*/ 128 w 325"/>
                <a:gd name="T53" fmla="*/ 85 h 288"/>
                <a:gd name="T54" fmla="*/ 146 w 325"/>
                <a:gd name="T55" fmla="*/ 25 h 288"/>
                <a:gd name="T56" fmla="*/ 172 w 325"/>
                <a:gd name="T57" fmla="*/ 58 h 2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325" h="288">
                  <a:moveTo>
                    <a:pt x="172" y="58"/>
                  </a:moveTo>
                  <a:lnTo>
                    <a:pt x="222" y="0"/>
                  </a:lnTo>
                  <a:lnTo>
                    <a:pt x="218" y="77"/>
                  </a:lnTo>
                  <a:lnTo>
                    <a:pt x="271" y="42"/>
                  </a:lnTo>
                  <a:lnTo>
                    <a:pt x="246" y="87"/>
                  </a:lnTo>
                  <a:lnTo>
                    <a:pt x="325" y="88"/>
                  </a:lnTo>
                  <a:lnTo>
                    <a:pt x="255" y="125"/>
                  </a:lnTo>
                  <a:lnTo>
                    <a:pt x="275" y="151"/>
                  </a:lnTo>
                  <a:lnTo>
                    <a:pt x="246" y="164"/>
                  </a:lnTo>
                  <a:lnTo>
                    <a:pt x="284" y="209"/>
                  </a:lnTo>
                  <a:lnTo>
                    <a:pt x="220" y="191"/>
                  </a:lnTo>
                  <a:lnTo>
                    <a:pt x="225" y="232"/>
                  </a:lnTo>
                  <a:lnTo>
                    <a:pt x="183" y="213"/>
                  </a:lnTo>
                  <a:lnTo>
                    <a:pt x="175" y="251"/>
                  </a:lnTo>
                  <a:lnTo>
                    <a:pt x="148" y="232"/>
                  </a:lnTo>
                  <a:lnTo>
                    <a:pt x="131" y="263"/>
                  </a:lnTo>
                  <a:lnTo>
                    <a:pt x="113" y="242"/>
                  </a:lnTo>
                  <a:lnTo>
                    <a:pt x="74" y="288"/>
                  </a:lnTo>
                  <a:lnTo>
                    <a:pt x="72" y="243"/>
                  </a:lnTo>
                  <a:lnTo>
                    <a:pt x="19" y="238"/>
                  </a:lnTo>
                  <a:lnTo>
                    <a:pt x="50" y="205"/>
                  </a:lnTo>
                  <a:lnTo>
                    <a:pt x="0" y="172"/>
                  </a:lnTo>
                  <a:lnTo>
                    <a:pt x="59" y="155"/>
                  </a:lnTo>
                  <a:lnTo>
                    <a:pt x="18" y="110"/>
                  </a:lnTo>
                  <a:lnTo>
                    <a:pt x="81" y="104"/>
                  </a:lnTo>
                  <a:lnTo>
                    <a:pt x="68" y="48"/>
                  </a:lnTo>
                  <a:lnTo>
                    <a:pt x="128" y="85"/>
                  </a:lnTo>
                  <a:lnTo>
                    <a:pt x="146" y="25"/>
                  </a:lnTo>
                  <a:lnTo>
                    <a:pt x="172" y="58"/>
                  </a:lnTo>
                  <a:close/>
                </a:path>
              </a:pathLst>
            </a:custGeom>
            <a:pattFill prst="shingle">
              <a:fgClr>
                <a:srgbClr val="333399"/>
              </a:fgClr>
              <a:bgClr>
                <a:srgbClr val="FFFFFF"/>
              </a:bgClr>
            </a:patt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SimHei" panose="02010609060101010101" pitchFamily="49" charset="-122"/>
              </a:endParaRPr>
            </a:p>
          </p:txBody>
        </p:sp>
        <p:sp>
          <p:nvSpPr>
            <p:cNvPr id="601" name="Freeform 17">
              <a:extLst>
                <a:ext uri="{FF2B5EF4-FFF2-40B4-BE49-F238E27FC236}">
                  <a16:creationId xmlns:a16="http://schemas.microsoft.com/office/drawing/2014/main" id="{FEA00C50-1E31-4A63-A262-AA50B67EB41B}"/>
                </a:ext>
              </a:extLst>
            </p:cNvPr>
            <p:cNvSpPr>
              <a:spLocks/>
            </p:cNvSpPr>
            <p:nvPr/>
          </p:nvSpPr>
          <p:spPr bwMode="auto">
            <a:xfrm>
              <a:off x="6278576" y="4607746"/>
              <a:ext cx="515938" cy="457200"/>
            </a:xfrm>
            <a:custGeom>
              <a:avLst/>
              <a:gdLst>
                <a:gd name="T0" fmla="*/ 172 w 325"/>
                <a:gd name="T1" fmla="*/ 58 h 288"/>
                <a:gd name="T2" fmla="*/ 222 w 325"/>
                <a:gd name="T3" fmla="*/ 0 h 288"/>
                <a:gd name="T4" fmla="*/ 218 w 325"/>
                <a:gd name="T5" fmla="*/ 77 h 288"/>
                <a:gd name="T6" fmla="*/ 271 w 325"/>
                <a:gd name="T7" fmla="*/ 42 h 288"/>
                <a:gd name="T8" fmla="*/ 246 w 325"/>
                <a:gd name="T9" fmla="*/ 87 h 288"/>
                <a:gd name="T10" fmla="*/ 325 w 325"/>
                <a:gd name="T11" fmla="*/ 88 h 288"/>
                <a:gd name="T12" fmla="*/ 255 w 325"/>
                <a:gd name="T13" fmla="*/ 125 h 288"/>
                <a:gd name="T14" fmla="*/ 275 w 325"/>
                <a:gd name="T15" fmla="*/ 151 h 288"/>
                <a:gd name="T16" fmla="*/ 246 w 325"/>
                <a:gd name="T17" fmla="*/ 164 h 288"/>
                <a:gd name="T18" fmla="*/ 284 w 325"/>
                <a:gd name="T19" fmla="*/ 209 h 288"/>
                <a:gd name="T20" fmla="*/ 220 w 325"/>
                <a:gd name="T21" fmla="*/ 191 h 288"/>
                <a:gd name="T22" fmla="*/ 225 w 325"/>
                <a:gd name="T23" fmla="*/ 232 h 288"/>
                <a:gd name="T24" fmla="*/ 183 w 325"/>
                <a:gd name="T25" fmla="*/ 213 h 288"/>
                <a:gd name="T26" fmla="*/ 175 w 325"/>
                <a:gd name="T27" fmla="*/ 251 h 288"/>
                <a:gd name="T28" fmla="*/ 148 w 325"/>
                <a:gd name="T29" fmla="*/ 232 h 288"/>
                <a:gd name="T30" fmla="*/ 131 w 325"/>
                <a:gd name="T31" fmla="*/ 263 h 288"/>
                <a:gd name="T32" fmla="*/ 113 w 325"/>
                <a:gd name="T33" fmla="*/ 242 h 288"/>
                <a:gd name="T34" fmla="*/ 74 w 325"/>
                <a:gd name="T35" fmla="*/ 288 h 288"/>
                <a:gd name="T36" fmla="*/ 72 w 325"/>
                <a:gd name="T37" fmla="*/ 243 h 288"/>
                <a:gd name="T38" fmla="*/ 19 w 325"/>
                <a:gd name="T39" fmla="*/ 238 h 288"/>
                <a:gd name="T40" fmla="*/ 50 w 325"/>
                <a:gd name="T41" fmla="*/ 205 h 288"/>
                <a:gd name="T42" fmla="*/ 0 w 325"/>
                <a:gd name="T43" fmla="*/ 172 h 288"/>
                <a:gd name="T44" fmla="*/ 59 w 325"/>
                <a:gd name="T45" fmla="*/ 155 h 288"/>
                <a:gd name="T46" fmla="*/ 18 w 325"/>
                <a:gd name="T47" fmla="*/ 110 h 288"/>
                <a:gd name="T48" fmla="*/ 81 w 325"/>
                <a:gd name="T49" fmla="*/ 104 h 288"/>
                <a:gd name="T50" fmla="*/ 68 w 325"/>
                <a:gd name="T51" fmla="*/ 48 h 288"/>
                <a:gd name="T52" fmla="*/ 128 w 325"/>
                <a:gd name="T53" fmla="*/ 85 h 288"/>
                <a:gd name="T54" fmla="*/ 146 w 325"/>
                <a:gd name="T55" fmla="*/ 25 h 288"/>
                <a:gd name="T56" fmla="*/ 172 w 325"/>
                <a:gd name="T57" fmla="*/ 58 h 2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325" h="288">
                  <a:moveTo>
                    <a:pt x="172" y="58"/>
                  </a:moveTo>
                  <a:lnTo>
                    <a:pt x="222" y="0"/>
                  </a:lnTo>
                  <a:lnTo>
                    <a:pt x="218" y="77"/>
                  </a:lnTo>
                  <a:lnTo>
                    <a:pt x="271" y="42"/>
                  </a:lnTo>
                  <a:lnTo>
                    <a:pt x="246" y="87"/>
                  </a:lnTo>
                  <a:lnTo>
                    <a:pt x="325" y="88"/>
                  </a:lnTo>
                  <a:lnTo>
                    <a:pt x="255" y="125"/>
                  </a:lnTo>
                  <a:lnTo>
                    <a:pt x="275" y="151"/>
                  </a:lnTo>
                  <a:lnTo>
                    <a:pt x="246" y="164"/>
                  </a:lnTo>
                  <a:lnTo>
                    <a:pt x="284" y="209"/>
                  </a:lnTo>
                  <a:lnTo>
                    <a:pt x="220" y="191"/>
                  </a:lnTo>
                  <a:lnTo>
                    <a:pt x="225" y="232"/>
                  </a:lnTo>
                  <a:lnTo>
                    <a:pt x="183" y="213"/>
                  </a:lnTo>
                  <a:lnTo>
                    <a:pt x="175" y="251"/>
                  </a:lnTo>
                  <a:lnTo>
                    <a:pt x="148" y="232"/>
                  </a:lnTo>
                  <a:lnTo>
                    <a:pt x="131" y="263"/>
                  </a:lnTo>
                  <a:lnTo>
                    <a:pt x="113" y="242"/>
                  </a:lnTo>
                  <a:lnTo>
                    <a:pt x="74" y="288"/>
                  </a:lnTo>
                  <a:lnTo>
                    <a:pt x="72" y="243"/>
                  </a:lnTo>
                  <a:lnTo>
                    <a:pt x="19" y="238"/>
                  </a:lnTo>
                  <a:lnTo>
                    <a:pt x="50" y="205"/>
                  </a:lnTo>
                  <a:lnTo>
                    <a:pt x="0" y="172"/>
                  </a:lnTo>
                  <a:lnTo>
                    <a:pt x="59" y="155"/>
                  </a:lnTo>
                  <a:lnTo>
                    <a:pt x="18" y="110"/>
                  </a:lnTo>
                  <a:lnTo>
                    <a:pt x="81" y="104"/>
                  </a:lnTo>
                  <a:lnTo>
                    <a:pt x="68" y="48"/>
                  </a:lnTo>
                  <a:lnTo>
                    <a:pt x="128" y="85"/>
                  </a:lnTo>
                  <a:lnTo>
                    <a:pt x="146" y="25"/>
                  </a:lnTo>
                  <a:lnTo>
                    <a:pt x="172" y="58"/>
                  </a:lnTo>
                  <a:close/>
                </a:path>
              </a:pathLst>
            </a:custGeom>
            <a:pattFill prst="shingle">
              <a:fgClr>
                <a:srgbClr val="333399"/>
              </a:fgClr>
              <a:bgClr>
                <a:srgbClr val="FFFFFF"/>
              </a:bgClr>
            </a:pattFill>
            <a:ln w="9525" cap="flat">
              <a:solidFill>
                <a:srgbClr val="3C09F7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SimHei" panose="02010609060101010101" pitchFamily="49" charset="-122"/>
              </a:endParaRPr>
            </a:p>
          </p:txBody>
        </p:sp>
        <p:cxnSp>
          <p:nvCxnSpPr>
            <p:cNvPr id="602" name="连接符: 肘形 601">
              <a:extLst>
                <a:ext uri="{FF2B5EF4-FFF2-40B4-BE49-F238E27FC236}">
                  <a16:creationId xmlns:a16="http://schemas.microsoft.com/office/drawing/2014/main" id="{A2C4D39A-A2BB-44E7-A7CF-4CD5DDCBE1B7}"/>
                </a:ext>
              </a:extLst>
            </p:cNvPr>
            <p:cNvCxnSpPr>
              <a:cxnSpLocks/>
            </p:cNvCxnSpPr>
            <p:nvPr/>
          </p:nvCxnSpPr>
          <p:spPr>
            <a:xfrm rot="5400000">
              <a:off x="2042789" y="4451238"/>
              <a:ext cx="874306" cy="805669"/>
            </a:xfrm>
            <a:prstGeom prst="bentConnector3">
              <a:avLst/>
            </a:prstGeom>
            <a:noFill/>
            <a:ln w="12700" cap="flat" cmpd="sng" algn="ctr">
              <a:solidFill>
                <a:srgbClr val="C00000"/>
              </a:solidFill>
              <a:prstDash val="solid"/>
              <a:miter lim="800000"/>
              <a:tailEnd type="triangle"/>
            </a:ln>
            <a:effectLst/>
          </p:spPr>
        </p:cxnSp>
      </p:grpSp>
    </p:spTree>
    <p:extLst>
      <p:ext uri="{BB962C8B-B14F-4D97-AF65-F5344CB8AC3E}">
        <p14:creationId xmlns:p14="http://schemas.microsoft.com/office/powerpoint/2010/main" val="2952954244"/>
      </p:ext>
    </p:extLst>
  </p:cSld>
  <p:clrMapOvr>
    <a:masterClrMapping/>
  </p:clrMapOvr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>
            <a:extLst>
              <a:ext uri="{FF2B5EF4-FFF2-40B4-BE49-F238E27FC236}">
                <a16:creationId xmlns:a16="http://schemas.microsoft.com/office/drawing/2014/main" id="{5D257D57-7407-4CD5-8A57-50F4E9FE047D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dirty="0"/>
              <a:t>控制冒险解决方法：预测</a:t>
            </a:r>
          </a:p>
        </p:txBody>
      </p:sp>
      <p:sp>
        <p:nvSpPr>
          <p:cNvPr id="3" name="内容占位符 2">
            <a:extLst>
              <a:ext uri="{FF2B5EF4-FFF2-40B4-BE49-F238E27FC236}">
                <a16:creationId xmlns:a16="http://schemas.microsoft.com/office/drawing/2014/main" id="{140A422A-A39F-45CA-B387-36A060AA5D3C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r>
              <a:rPr lang="zh-CN" altLang="en-US" dirty="0">
                <a:solidFill>
                  <a:srgbClr val="3333FF"/>
                </a:solidFill>
              </a:rPr>
              <a:t>每次预测失误会导致不必要的流水线重置</a:t>
            </a:r>
          </a:p>
          <a:p>
            <a:pPr lvl="1"/>
            <a:r>
              <a:rPr lang="zh-CN" altLang="en-US" dirty="0"/>
              <a:t>必须保证错误执行的指令不会改变最终的结果，并且在正确的分支地址处重启流水线</a:t>
            </a:r>
          </a:p>
          <a:p>
            <a:pPr lvl="1"/>
            <a:r>
              <a:rPr lang="zh-CN" altLang="en-US" dirty="0"/>
              <a:t>如何减小预测失误的概率？</a:t>
            </a:r>
          </a:p>
          <a:p>
            <a:pPr lvl="1"/>
            <a:r>
              <a:rPr lang="zh-CN" altLang="en-US" dirty="0"/>
              <a:t>静态 → 动态 </a:t>
            </a:r>
          </a:p>
          <a:p>
            <a:r>
              <a:rPr lang="zh-CN" altLang="en-US" dirty="0">
                <a:solidFill>
                  <a:srgbClr val="3333FF"/>
                </a:solidFill>
              </a:rPr>
              <a:t>方式二：动态分支预测（</a:t>
            </a:r>
            <a:r>
              <a:rPr lang="en-US" altLang="zh-CN" dirty="0">
                <a:solidFill>
                  <a:srgbClr val="3333FF"/>
                </a:solidFill>
              </a:rPr>
              <a:t>Dynamic branch prediction</a:t>
            </a:r>
            <a:r>
              <a:rPr lang="zh-CN" altLang="en-US" dirty="0">
                <a:solidFill>
                  <a:srgbClr val="3333FF"/>
                </a:solidFill>
              </a:rPr>
              <a:t>） </a:t>
            </a:r>
          </a:p>
          <a:p>
            <a:pPr lvl="1"/>
            <a:r>
              <a:rPr lang="zh-CN" altLang="en-US" dirty="0"/>
              <a:t>利用历史信息进行动态预测</a:t>
            </a:r>
          </a:p>
          <a:p>
            <a:pPr lvl="1"/>
            <a:r>
              <a:rPr lang="zh-CN" altLang="en-US" dirty="0"/>
              <a:t>保存并利用近期记录的行为预测未来的行为</a:t>
            </a:r>
          </a:p>
          <a:p>
            <a:endParaRPr lang="zh-CN" altLang="en-US" dirty="0"/>
          </a:p>
        </p:txBody>
      </p:sp>
      <p:sp>
        <p:nvSpPr>
          <p:cNvPr id="4" name="灯片编号占位符 3">
            <a:extLst>
              <a:ext uri="{FF2B5EF4-FFF2-40B4-BE49-F238E27FC236}">
                <a16:creationId xmlns:a16="http://schemas.microsoft.com/office/drawing/2014/main" id="{57886315-BF2D-4D65-A0EC-F18B18DAC69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1806CE5-282B-4233-8654-09F35EA875E2}" type="slidenum">
              <a:rPr lang="zh-CN" altLang="en-US" smtClean="0"/>
              <a:t>49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795336596"/>
      </p:ext>
    </p:extLst>
  </p:cSld>
  <p:clrMapOvr>
    <a:masterClrMapping/>
  </p:clrMapOvr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>
            <a:extLst>
              <a:ext uri="{FF2B5EF4-FFF2-40B4-BE49-F238E27FC236}">
                <a16:creationId xmlns:a16="http://schemas.microsoft.com/office/drawing/2014/main" id="{5D257D57-7407-4CD5-8A57-50F4E9FE047D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dirty="0"/>
              <a:t>动态分支预测</a:t>
            </a:r>
          </a:p>
        </p:txBody>
      </p:sp>
      <p:sp>
        <p:nvSpPr>
          <p:cNvPr id="3" name="内容占位符 2">
            <a:extLst>
              <a:ext uri="{FF2B5EF4-FFF2-40B4-BE49-F238E27FC236}">
                <a16:creationId xmlns:a16="http://schemas.microsoft.com/office/drawing/2014/main" id="{140A422A-A39F-45CA-B387-36A060AA5D3C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r>
              <a:rPr lang="zh-CN" altLang="en-US" dirty="0"/>
              <a:t>动态分支预测的实现 </a:t>
            </a:r>
          </a:p>
          <a:p>
            <a:pPr lvl="1"/>
            <a:r>
              <a:rPr lang="zh-CN" altLang="en-US" dirty="0"/>
              <a:t>增加额外硬件进行动态预测</a:t>
            </a:r>
          </a:p>
          <a:p>
            <a:pPr lvl="2"/>
            <a:r>
              <a:rPr lang="zh-CN" altLang="en-US" dirty="0"/>
              <a:t>在哪个阶段预测？</a:t>
            </a:r>
          </a:p>
          <a:p>
            <a:pPr lvl="1"/>
            <a:r>
              <a:rPr lang="zh-CN" altLang="en-US" dirty="0"/>
              <a:t>在</a:t>
            </a:r>
            <a:r>
              <a:rPr lang="en-US" altLang="zh-CN" dirty="0">
                <a:solidFill>
                  <a:srgbClr val="3333FF"/>
                </a:solidFill>
              </a:rPr>
              <a:t>IF</a:t>
            </a:r>
            <a:r>
              <a:rPr lang="zh-CN" altLang="en-US" dirty="0">
                <a:solidFill>
                  <a:srgbClr val="3333FF"/>
                </a:solidFill>
              </a:rPr>
              <a:t>阶段</a:t>
            </a:r>
            <a:r>
              <a:rPr lang="zh-CN" altLang="en-US" dirty="0"/>
              <a:t>进行</a:t>
            </a:r>
            <a:r>
              <a:rPr lang="zh-CN" altLang="en-US" dirty="0">
                <a:solidFill>
                  <a:srgbClr val="3333FF"/>
                </a:solidFill>
              </a:rPr>
              <a:t>分支预测缓存</a:t>
            </a:r>
          </a:p>
          <a:p>
            <a:pPr lvl="2"/>
            <a:r>
              <a:rPr lang="en-US" altLang="zh-CN" dirty="0"/>
              <a:t>Branch History Table (BHT) </a:t>
            </a:r>
            <a:r>
              <a:rPr lang="en-US" altLang="zh-CN" dirty="0">
                <a:sym typeface="Wingdings" pitchFamily="2" charset="2"/>
              </a:rPr>
              <a:t></a:t>
            </a:r>
            <a:r>
              <a:rPr lang="en-US" altLang="zh-CN" dirty="0"/>
              <a:t> Branch Target Buffer (BTB) </a:t>
            </a:r>
          </a:p>
          <a:p>
            <a:pPr lvl="2"/>
            <a:r>
              <a:rPr lang="zh-CN" altLang="en-US" dirty="0"/>
              <a:t>可以用</a:t>
            </a:r>
            <a:r>
              <a:rPr lang="en-US" altLang="zh-CN" dirty="0">
                <a:solidFill>
                  <a:srgbClr val="3333FF"/>
                </a:solidFill>
              </a:rPr>
              <a:t>PC</a:t>
            </a:r>
            <a:r>
              <a:rPr lang="zh-CN" altLang="en-US" dirty="0">
                <a:solidFill>
                  <a:srgbClr val="3333FF"/>
                </a:solidFill>
              </a:rPr>
              <a:t>（或者</a:t>
            </a:r>
            <a:r>
              <a:rPr lang="en-US" altLang="zh-CN" dirty="0">
                <a:solidFill>
                  <a:srgbClr val="3333FF"/>
                </a:solidFill>
              </a:rPr>
              <a:t>PC</a:t>
            </a:r>
            <a:r>
              <a:rPr lang="zh-CN" altLang="en-US" dirty="0">
                <a:solidFill>
                  <a:srgbClr val="3333FF"/>
                </a:solidFill>
              </a:rPr>
              <a:t>的低位地址）</a:t>
            </a:r>
            <a:r>
              <a:rPr lang="zh-CN" altLang="en-US" dirty="0"/>
              <a:t>为索引，记录过去是否跳转</a:t>
            </a:r>
          </a:p>
        </p:txBody>
      </p:sp>
      <p:sp>
        <p:nvSpPr>
          <p:cNvPr id="4" name="灯片编号占位符 3">
            <a:extLst>
              <a:ext uri="{FF2B5EF4-FFF2-40B4-BE49-F238E27FC236}">
                <a16:creationId xmlns:a16="http://schemas.microsoft.com/office/drawing/2014/main" id="{57886315-BF2D-4D65-A0EC-F18B18DAC69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1806CE5-282B-4233-8654-09F35EA875E2}" type="slidenum">
              <a:rPr lang="zh-CN" altLang="en-US" smtClean="0"/>
              <a:t>50</a:t>
            </a:fld>
            <a:endParaRPr lang="zh-CN" altLang="en-US"/>
          </a:p>
        </p:txBody>
      </p:sp>
      <p:grpSp>
        <p:nvGrpSpPr>
          <p:cNvPr id="70" name="组合 69">
            <a:extLst>
              <a:ext uri="{FF2B5EF4-FFF2-40B4-BE49-F238E27FC236}">
                <a16:creationId xmlns:a16="http://schemas.microsoft.com/office/drawing/2014/main" id="{6DFBDD2A-2F63-3C88-EFF9-91A0E0B43CBA}"/>
              </a:ext>
            </a:extLst>
          </p:cNvPr>
          <p:cNvGrpSpPr/>
          <p:nvPr/>
        </p:nvGrpSpPr>
        <p:grpSpPr>
          <a:xfrm>
            <a:off x="1148268" y="4185979"/>
            <a:ext cx="6587364" cy="2459632"/>
            <a:chOff x="338078" y="3214509"/>
            <a:chExt cx="8467033" cy="3161473"/>
          </a:xfrm>
        </p:grpSpPr>
        <p:sp>
          <p:nvSpPr>
            <p:cNvPr id="5" name="Rectangle 25">
              <a:extLst>
                <a:ext uri="{FF2B5EF4-FFF2-40B4-BE49-F238E27FC236}">
                  <a16:creationId xmlns:a16="http://schemas.microsoft.com/office/drawing/2014/main" id="{10848B23-D48F-F4AD-7DEC-30C2BF88DB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8078" y="3214509"/>
              <a:ext cx="414106" cy="316147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73" tIns="44442" rIns="90473" bIns="44442">
              <a:spAutoFit/>
            </a:bodyPr>
            <a:lstStyle/>
            <a:p>
              <a:pPr algn="ctr" eaLnBrk="0" hangingPunct="0"/>
              <a:r>
                <a:rPr lang="en-US" altLang="zh-CN" sz="1400" i="1" dirty="0">
                  <a:latin typeface="Arial" pitchFamily="34" charset="0"/>
                  <a:ea typeface="SimHei" panose="02010609060101010101" pitchFamily="49" charset="-122"/>
                </a:rPr>
                <a:t>I</a:t>
              </a:r>
            </a:p>
            <a:p>
              <a:pPr algn="ctr" eaLnBrk="0" hangingPunct="0"/>
              <a:r>
                <a:rPr lang="en-US" altLang="zh-CN" sz="1400" i="1" dirty="0">
                  <a:latin typeface="Arial" pitchFamily="34" charset="0"/>
                  <a:ea typeface="SimHei" panose="02010609060101010101" pitchFamily="49" charset="-122"/>
                </a:rPr>
                <a:t>n</a:t>
              </a:r>
            </a:p>
            <a:p>
              <a:pPr algn="ctr" eaLnBrk="0" hangingPunct="0"/>
              <a:r>
                <a:rPr lang="en-US" altLang="zh-CN" sz="1400" i="1" dirty="0">
                  <a:latin typeface="Arial" pitchFamily="34" charset="0"/>
                  <a:ea typeface="SimHei" panose="02010609060101010101" pitchFamily="49" charset="-122"/>
                </a:rPr>
                <a:t>s</a:t>
              </a:r>
            </a:p>
            <a:p>
              <a:pPr algn="ctr" eaLnBrk="0" hangingPunct="0"/>
              <a:r>
                <a:rPr lang="en-US" altLang="zh-CN" sz="1400" i="1" dirty="0">
                  <a:latin typeface="Arial" pitchFamily="34" charset="0"/>
                  <a:ea typeface="SimHei" panose="02010609060101010101" pitchFamily="49" charset="-122"/>
                </a:rPr>
                <a:t>t</a:t>
              </a:r>
            </a:p>
            <a:p>
              <a:pPr algn="ctr" eaLnBrk="0" hangingPunct="0"/>
              <a:r>
                <a:rPr lang="en-US" altLang="zh-CN" sz="1400" i="1" dirty="0">
                  <a:latin typeface="Arial" pitchFamily="34" charset="0"/>
                  <a:ea typeface="SimHei" panose="02010609060101010101" pitchFamily="49" charset="-122"/>
                </a:rPr>
                <a:t>r.</a:t>
              </a:r>
            </a:p>
            <a:p>
              <a:pPr algn="ctr" eaLnBrk="0" hangingPunct="0"/>
              <a:endParaRPr lang="en-US" altLang="zh-CN" sz="1400" i="1" dirty="0">
                <a:latin typeface="Arial" pitchFamily="34" charset="0"/>
                <a:ea typeface="SimHei" panose="02010609060101010101" pitchFamily="49" charset="-122"/>
              </a:endParaRPr>
            </a:p>
            <a:p>
              <a:pPr algn="ctr" eaLnBrk="0" hangingPunct="0"/>
              <a:r>
                <a:rPr lang="en-US" altLang="zh-CN" sz="1400" i="1" dirty="0">
                  <a:latin typeface="Arial" pitchFamily="34" charset="0"/>
                  <a:ea typeface="SimHei" panose="02010609060101010101" pitchFamily="49" charset="-122"/>
                </a:rPr>
                <a:t>O</a:t>
              </a:r>
            </a:p>
            <a:p>
              <a:pPr algn="ctr" eaLnBrk="0" hangingPunct="0"/>
              <a:r>
                <a:rPr lang="en-US" altLang="zh-CN" sz="1400" i="1" dirty="0">
                  <a:latin typeface="Arial" pitchFamily="34" charset="0"/>
                  <a:ea typeface="SimHei" panose="02010609060101010101" pitchFamily="49" charset="-122"/>
                </a:rPr>
                <a:t>r</a:t>
              </a:r>
            </a:p>
            <a:p>
              <a:pPr algn="ctr" eaLnBrk="0" hangingPunct="0"/>
              <a:r>
                <a:rPr lang="en-US" altLang="zh-CN" sz="1400" i="1" dirty="0">
                  <a:latin typeface="Arial" pitchFamily="34" charset="0"/>
                  <a:ea typeface="SimHei" panose="02010609060101010101" pitchFamily="49" charset="-122"/>
                </a:rPr>
                <a:t>d</a:t>
              </a:r>
            </a:p>
            <a:p>
              <a:pPr algn="ctr" eaLnBrk="0" hangingPunct="0"/>
              <a:r>
                <a:rPr lang="en-US" altLang="zh-CN" sz="1400" i="1" dirty="0">
                  <a:latin typeface="Arial" pitchFamily="34" charset="0"/>
                  <a:ea typeface="SimHei" panose="02010609060101010101" pitchFamily="49" charset="-122"/>
                </a:rPr>
                <a:t>e</a:t>
              </a:r>
            </a:p>
            <a:p>
              <a:pPr algn="ctr" eaLnBrk="0" hangingPunct="0"/>
              <a:r>
                <a:rPr lang="en-US" altLang="zh-CN" sz="1400" i="1" dirty="0">
                  <a:latin typeface="Arial" pitchFamily="34" charset="0"/>
                  <a:ea typeface="SimHei" panose="02010609060101010101" pitchFamily="49" charset="-122"/>
                </a:rPr>
                <a:t>r</a:t>
              </a:r>
            </a:p>
          </p:txBody>
        </p:sp>
        <p:sp>
          <p:nvSpPr>
            <p:cNvPr id="6" name="Line 26">
              <a:extLst>
                <a:ext uri="{FF2B5EF4-FFF2-40B4-BE49-F238E27FC236}">
                  <a16:creationId xmlns:a16="http://schemas.microsoft.com/office/drawing/2014/main" id="{4AADB39E-EFDA-9E82-63B9-4787B38DA58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309512" y="3235146"/>
              <a:ext cx="6907213" cy="3175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600" dirty="0">
                <a:ea typeface="SimHei" panose="02010609060101010101" pitchFamily="49" charset="-122"/>
              </a:endParaRPr>
            </a:p>
          </p:txBody>
        </p:sp>
        <p:sp>
          <p:nvSpPr>
            <p:cNvPr id="7" name="Rectangle 27">
              <a:extLst>
                <a:ext uri="{FF2B5EF4-FFF2-40B4-BE49-F238E27FC236}">
                  <a16:creationId xmlns:a16="http://schemas.microsoft.com/office/drawing/2014/main" id="{5F8CB525-BF29-3F31-86D7-B9ABF17E14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03100" y="3686314"/>
              <a:ext cx="784979" cy="51096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73" tIns="44442" rIns="90473" bIns="44442">
              <a:spAutoFit/>
            </a:bodyPr>
            <a:lstStyle/>
            <a:p>
              <a:pPr eaLnBrk="0" hangingPunct="0"/>
              <a:r>
                <a:rPr lang="en-US" altLang="zh-CN" sz="2000" dirty="0" err="1">
                  <a:solidFill>
                    <a:schemeClr val="accent1"/>
                  </a:solidFill>
                  <a:latin typeface="Arial" pitchFamily="34" charset="0"/>
                  <a:ea typeface="SimHei" panose="02010609060101010101" pitchFamily="49" charset="-122"/>
                </a:rPr>
                <a:t>beq</a:t>
              </a:r>
              <a:endParaRPr lang="en-US" altLang="zh-CN" sz="2000" dirty="0">
                <a:solidFill>
                  <a:schemeClr val="accent1"/>
                </a:solidFill>
                <a:latin typeface="Arial" pitchFamily="34" charset="0"/>
                <a:ea typeface="SimHei" panose="02010609060101010101" pitchFamily="49" charset="-122"/>
              </a:endParaRPr>
            </a:p>
          </p:txBody>
        </p:sp>
        <p:sp>
          <p:nvSpPr>
            <p:cNvPr id="8" name="Line 28">
              <a:extLst>
                <a:ext uri="{FF2B5EF4-FFF2-40B4-BE49-F238E27FC236}">
                  <a16:creationId xmlns:a16="http://schemas.microsoft.com/office/drawing/2014/main" id="{B2DEDCE4-D831-84E8-477C-D4D7F147654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37400" y="3401834"/>
              <a:ext cx="0" cy="2784475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600" dirty="0">
                <a:ea typeface="SimHei" panose="02010609060101010101" pitchFamily="49" charset="-122"/>
              </a:endParaRPr>
            </a:p>
          </p:txBody>
        </p:sp>
        <p:sp>
          <p:nvSpPr>
            <p:cNvPr id="9" name="Freeform 31">
              <a:extLst>
                <a:ext uri="{FF2B5EF4-FFF2-40B4-BE49-F238E27FC236}">
                  <a16:creationId xmlns:a16="http://schemas.microsoft.com/office/drawing/2014/main" id="{000255AE-817C-1C3B-2D05-7EFDD3A716EE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8818" y="3311346"/>
              <a:ext cx="539445" cy="1249507"/>
            </a:xfrm>
            <a:custGeom>
              <a:avLst/>
              <a:gdLst>
                <a:gd name="T0" fmla="*/ 0 w 213"/>
                <a:gd name="T1" fmla="*/ 320 h 481"/>
                <a:gd name="T2" fmla="*/ 71 w 213"/>
                <a:gd name="T3" fmla="*/ 240 h 481"/>
                <a:gd name="T4" fmla="*/ 0 w 213"/>
                <a:gd name="T5" fmla="*/ 160 h 481"/>
                <a:gd name="T6" fmla="*/ 0 w 213"/>
                <a:gd name="T7" fmla="*/ 0 h 481"/>
                <a:gd name="T8" fmla="*/ 212 w 213"/>
                <a:gd name="T9" fmla="*/ 160 h 481"/>
                <a:gd name="T10" fmla="*/ 212 w 213"/>
                <a:gd name="T11" fmla="*/ 320 h 481"/>
                <a:gd name="T12" fmla="*/ 0 w 213"/>
                <a:gd name="T13" fmla="*/ 480 h 481"/>
                <a:gd name="T14" fmla="*/ 0 w 213"/>
                <a:gd name="T15" fmla="*/ 320 h 48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13" h="481">
                  <a:moveTo>
                    <a:pt x="0" y="320"/>
                  </a:moveTo>
                  <a:lnTo>
                    <a:pt x="71" y="240"/>
                  </a:lnTo>
                  <a:lnTo>
                    <a:pt x="0" y="160"/>
                  </a:lnTo>
                  <a:lnTo>
                    <a:pt x="0" y="0"/>
                  </a:lnTo>
                  <a:lnTo>
                    <a:pt x="212" y="160"/>
                  </a:lnTo>
                  <a:lnTo>
                    <a:pt x="212" y="320"/>
                  </a:lnTo>
                  <a:lnTo>
                    <a:pt x="0" y="480"/>
                  </a:lnTo>
                  <a:lnTo>
                    <a:pt x="0" y="320"/>
                  </a:lnTo>
                </a:path>
              </a:pathLst>
            </a:custGeom>
            <a:noFill/>
            <a:ln w="25400" cap="rnd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600" dirty="0">
                <a:ea typeface="SimHei" panose="02010609060101010101" pitchFamily="49" charset="-122"/>
              </a:endParaRPr>
            </a:p>
          </p:txBody>
        </p:sp>
        <p:sp>
          <p:nvSpPr>
            <p:cNvPr id="10" name="Rectangle 32">
              <a:extLst>
                <a:ext uri="{FF2B5EF4-FFF2-40B4-BE49-F238E27FC236}">
                  <a16:creationId xmlns:a16="http://schemas.microsoft.com/office/drawing/2014/main" id="{29D919CF-CFA5-1534-0BB1-08585E4411BD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4747415" y="3691604"/>
              <a:ext cx="745831" cy="43184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73" tIns="44442" rIns="90473" bIns="44442">
              <a:spAutoFit/>
            </a:bodyPr>
            <a:lstStyle/>
            <a:p>
              <a:pPr eaLnBrk="0" hangingPunct="0"/>
              <a:r>
                <a:rPr lang="en-US" altLang="zh-CN" sz="1600" dirty="0">
                  <a:latin typeface="Arial" pitchFamily="34" charset="0"/>
                  <a:ea typeface="SimHei" panose="02010609060101010101" pitchFamily="49" charset="-122"/>
                </a:rPr>
                <a:t>ALU</a:t>
              </a:r>
            </a:p>
          </p:txBody>
        </p:sp>
        <p:sp>
          <p:nvSpPr>
            <p:cNvPr id="11" name="Rectangle 34">
              <a:extLst>
                <a:ext uri="{FF2B5EF4-FFF2-40B4-BE49-F238E27FC236}">
                  <a16:creationId xmlns:a16="http://schemas.microsoft.com/office/drawing/2014/main" id="{92A50AEE-68FD-51E2-DA7C-31C343F690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36142" y="3700285"/>
              <a:ext cx="529489" cy="43184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73" tIns="44442" rIns="90473" bIns="44442">
              <a:spAutoFit/>
            </a:bodyPr>
            <a:lstStyle/>
            <a:p>
              <a:pPr algn="ctr" eaLnBrk="0" hangingPunct="0"/>
              <a:r>
                <a:rPr lang="en-US" altLang="zh-CN" sz="1600" dirty="0">
                  <a:latin typeface="Arial" pitchFamily="34" charset="0"/>
                  <a:ea typeface="SimHei" panose="02010609060101010101" pitchFamily="49" charset="-122"/>
                </a:rPr>
                <a:t>IM</a:t>
              </a:r>
            </a:p>
          </p:txBody>
        </p:sp>
        <p:grpSp>
          <p:nvGrpSpPr>
            <p:cNvPr id="12" name="Group 35">
              <a:extLst>
                <a:ext uri="{FF2B5EF4-FFF2-40B4-BE49-F238E27FC236}">
                  <a16:creationId xmlns:a16="http://schemas.microsoft.com/office/drawing/2014/main" id="{624182B9-CCDB-4C52-8260-B4A440457D8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463625" y="3560728"/>
              <a:ext cx="861086" cy="750743"/>
              <a:chOff x="1291" y="1509"/>
              <a:chExt cx="340" cy="289"/>
            </a:xfrm>
          </p:grpSpPr>
          <p:sp>
            <p:nvSpPr>
              <p:cNvPr id="13" name="Freeform 36">
                <a:extLst>
                  <a:ext uri="{FF2B5EF4-FFF2-40B4-BE49-F238E27FC236}">
                    <a16:creationId xmlns:a16="http://schemas.microsoft.com/office/drawing/2014/main" id="{4A1A2090-E3C7-5791-4233-A86FE3F3C4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1" y="1509"/>
                <a:ext cx="170" cy="289"/>
              </a:xfrm>
              <a:custGeom>
                <a:avLst/>
                <a:gdLst>
                  <a:gd name="T0" fmla="*/ 169 w 170"/>
                  <a:gd name="T1" fmla="*/ 0 h 289"/>
                  <a:gd name="T2" fmla="*/ 0 w 170"/>
                  <a:gd name="T3" fmla="*/ 0 h 289"/>
                  <a:gd name="T4" fmla="*/ 0 w 170"/>
                  <a:gd name="T5" fmla="*/ 288 h 289"/>
                  <a:gd name="T6" fmla="*/ 169 w 170"/>
                  <a:gd name="T7" fmla="*/ 288 h 28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0" h="289">
                    <a:moveTo>
                      <a:pt x="169" y="0"/>
                    </a:moveTo>
                    <a:lnTo>
                      <a:pt x="0" y="0"/>
                    </a:lnTo>
                    <a:lnTo>
                      <a:pt x="0" y="288"/>
                    </a:lnTo>
                    <a:lnTo>
                      <a:pt x="169" y="288"/>
                    </a:lnTo>
                  </a:path>
                </a:pathLst>
              </a:custGeom>
              <a:noFill/>
              <a:ln w="25400" cap="rnd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sz="1600" dirty="0">
                  <a:ea typeface="SimHei" panose="02010609060101010101" pitchFamily="49" charset="-122"/>
                </a:endParaRPr>
              </a:p>
            </p:txBody>
          </p:sp>
          <p:sp>
            <p:nvSpPr>
              <p:cNvPr id="14" name="Freeform 37">
                <a:extLst>
                  <a:ext uri="{FF2B5EF4-FFF2-40B4-BE49-F238E27FC236}">
                    <a16:creationId xmlns:a16="http://schemas.microsoft.com/office/drawing/2014/main" id="{E97A0A17-E683-FD59-5B55-0CEAB9DE8F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0" y="1509"/>
                <a:ext cx="171" cy="289"/>
              </a:xfrm>
              <a:custGeom>
                <a:avLst/>
                <a:gdLst>
                  <a:gd name="T0" fmla="*/ 0 w 171"/>
                  <a:gd name="T1" fmla="*/ 0 h 289"/>
                  <a:gd name="T2" fmla="*/ 170 w 171"/>
                  <a:gd name="T3" fmla="*/ 0 h 289"/>
                  <a:gd name="T4" fmla="*/ 170 w 171"/>
                  <a:gd name="T5" fmla="*/ 288 h 289"/>
                  <a:gd name="T6" fmla="*/ 0 w 171"/>
                  <a:gd name="T7" fmla="*/ 288 h 28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1" h="289">
                    <a:moveTo>
                      <a:pt x="0" y="0"/>
                    </a:moveTo>
                    <a:lnTo>
                      <a:pt x="170" y="0"/>
                    </a:lnTo>
                    <a:lnTo>
                      <a:pt x="170" y="288"/>
                    </a:lnTo>
                    <a:lnTo>
                      <a:pt x="0" y="288"/>
                    </a:lnTo>
                  </a:path>
                </a:pathLst>
              </a:custGeom>
              <a:noFill/>
              <a:ln w="25400" cap="rnd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sz="1600" dirty="0">
                  <a:ea typeface="SimHei" panose="02010609060101010101" pitchFamily="49" charset="-122"/>
                </a:endParaRPr>
              </a:p>
            </p:txBody>
          </p:sp>
        </p:grpSp>
        <p:sp>
          <p:nvSpPr>
            <p:cNvPr id="15" name="Rectangle 38">
              <a:extLst>
                <a:ext uri="{FF2B5EF4-FFF2-40B4-BE49-F238E27FC236}">
                  <a16:creationId xmlns:a16="http://schemas.microsoft.com/office/drawing/2014/main" id="{137EF297-BDDA-8DC2-7643-E3710752D9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75941" y="3700285"/>
              <a:ext cx="716986" cy="43184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73" tIns="44442" rIns="90473" bIns="44442">
              <a:spAutoFit/>
            </a:bodyPr>
            <a:lstStyle/>
            <a:p>
              <a:pPr eaLnBrk="0" hangingPunct="0"/>
              <a:r>
                <a:rPr lang="en-US" altLang="zh-CN" sz="1600" dirty="0">
                  <a:latin typeface="Arial" pitchFamily="34" charset="0"/>
                  <a:ea typeface="SimHei" panose="02010609060101010101" pitchFamily="49" charset="-122"/>
                </a:rPr>
                <a:t>Reg</a:t>
              </a:r>
            </a:p>
          </p:txBody>
        </p:sp>
        <p:sp>
          <p:nvSpPr>
            <p:cNvPr id="16" name="Freeform 40">
              <a:extLst>
                <a:ext uri="{FF2B5EF4-FFF2-40B4-BE49-F238E27FC236}">
                  <a16:creationId xmlns:a16="http://schemas.microsoft.com/office/drawing/2014/main" id="{24276D94-183B-98DD-DDE5-45242A5DAB4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8624" y="3560728"/>
              <a:ext cx="377358" cy="750743"/>
            </a:xfrm>
            <a:custGeom>
              <a:avLst/>
              <a:gdLst>
                <a:gd name="T0" fmla="*/ 148 w 149"/>
                <a:gd name="T1" fmla="*/ 0 h 289"/>
                <a:gd name="T2" fmla="*/ 0 w 149"/>
                <a:gd name="T3" fmla="*/ 0 h 289"/>
                <a:gd name="T4" fmla="*/ 0 w 149"/>
                <a:gd name="T5" fmla="*/ 288 h 289"/>
                <a:gd name="T6" fmla="*/ 148 w 149"/>
                <a:gd name="T7" fmla="*/ 288 h 28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9" h="289">
                  <a:moveTo>
                    <a:pt x="148" y="0"/>
                  </a:moveTo>
                  <a:lnTo>
                    <a:pt x="0" y="0"/>
                  </a:lnTo>
                  <a:lnTo>
                    <a:pt x="0" y="288"/>
                  </a:lnTo>
                  <a:lnTo>
                    <a:pt x="148" y="288"/>
                  </a:lnTo>
                </a:path>
              </a:pathLst>
            </a:custGeom>
            <a:noFill/>
            <a:ln w="25400" cap="rnd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600" dirty="0">
                <a:ea typeface="SimHei" panose="02010609060101010101" pitchFamily="49" charset="-122"/>
              </a:endParaRPr>
            </a:p>
          </p:txBody>
        </p:sp>
        <p:sp>
          <p:nvSpPr>
            <p:cNvPr id="17" name="Freeform 41">
              <a:extLst>
                <a:ext uri="{FF2B5EF4-FFF2-40B4-BE49-F238E27FC236}">
                  <a16:creationId xmlns:a16="http://schemas.microsoft.com/office/drawing/2014/main" id="{4518EEBE-B396-4656-CECD-478991BA0A6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3450" y="3560728"/>
              <a:ext cx="374826" cy="750743"/>
            </a:xfrm>
            <a:custGeom>
              <a:avLst/>
              <a:gdLst>
                <a:gd name="T0" fmla="*/ 0 w 148"/>
                <a:gd name="T1" fmla="*/ 0 h 289"/>
                <a:gd name="T2" fmla="*/ 147 w 148"/>
                <a:gd name="T3" fmla="*/ 0 h 289"/>
                <a:gd name="T4" fmla="*/ 147 w 148"/>
                <a:gd name="T5" fmla="*/ 288 h 289"/>
                <a:gd name="T6" fmla="*/ 0 w 148"/>
                <a:gd name="T7" fmla="*/ 288 h 28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8" h="289">
                  <a:moveTo>
                    <a:pt x="0" y="0"/>
                  </a:moveTo>
                  <a:lnTo>
                    <a:pt x="147" y="0"/>
                  </a:lnTo>
                  <a:lnTo>
                    <a:pt x="147" y="288"/>
                  </a:lnTo>
                  <a:lnTo>
                    <a:pt x="0" y="288"/>
                  </a:lnTo>
                </a:path>
              </a:pathLst>
            </a:custGeom>
            <a:noFill/>
            <a:ln w="25400" cap="rnd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600" dirty="0">
                <a:ea typeface="SimHei" panose="02010609060101010101" pitchFamily="49" charset="-122"/>
              </a:endParaRPr>
            </a:p>
          </p:txBody>
        </p:sp>
        <p:sp>
          <p:nvSpPr>
            <p:cNvPr id="18" name="Line 42">
              <a:extLst>
                <a:ext uri="{FF2B5EF4-FFF2-40B4-BE49-F238E27FC236}">
                  <a16:creationId xmlns:a16="http://schemas.microsoft.com/office/drawing/2014/main" id="{0DDD4209-934B-5D24-CC49-84A019F5B9B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37374" y="3934801"/>
              <a:ext cx="293782" cy="0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600" dirty="0">
                <a:ea typeface="SimHei" panose="02010609060101010101" pitchFamily="49" charset="-122"/>
              </a:endParaRPr>
            </a:p>
          </p:txBody>
        </p:sp>
        <p:sp>
          <p:nvSpPr>
            <p:cNvPr id="19" name="Freeform 43">
              <a:extLst>
                <a:ext uri="{FF2B5EF4-FFF2-40B4-BE49-F238E27FC236}">
                  <a16:creationId xmlns:a16="http://schemas.microsoft.com/office/drawing/2014/main" id="{D459D053-58F0-176B-9735-55C847D337B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9591" y="3685419"/>
              <a:ext cx="121565" cy="251980"/>
            </a:xfrm>
            <a:custGeom>
              <a:avLst/>
              <a:gdLst>
                <a:gd name="T0" fmla="*/ 0 w 48"/>
                <a:gd name="T1" fmla="*/ 96 h 97"/>
                <a:gd name="T2" fmla="*/ 0 w 48"/>
                <a:gd name="T3" fmla="*/ 0 h 97"/>
                <a:gd name="T4" fmla="*/ 47 w 48"/>
                <a:gd name="T5" fmla="*/ 0 h 97"/>
                <a:gd name="T6" fmla="*/ 47 w 48"/>
                <a:gd name="T7" fmla="*/ 0 h 9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8" h="97">
                  <a:moveTo>
                    <a:pt x="0" y="96"/>
                  </a:moveTo>
                  <a:lnTo>
                    <a:pt x="0" y="0"/>
                  </a:lnTo>
                  <a:lnTo>
                    <a:pt x="47" y="0"/>
                  </a:lnTo>
                </a:path>
              </a:pathLst>
            </a:custGeom>
            <a:noFill/>
            <a:ln w="25400" cap="rnd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600" dirty="0">
                <a:ea typeface="SimHei" panose="02010609060101010101" pitchFamily="49" charset="-122"/>
              </a:endParaRPr>
            </a:p>
          </p:txBody>
        </p:sp>
        <p:sp>
          <p:nvSpPr>
            <p:cNvPr id="20" name="Line 44">
              <a:extLst>
                <a:ext uri="{FF2B5EF4-FFF2-40B4-BE49-F238E27FC236}">
                  <a16:creationId xmlns:a16="http://schemas.microsoft.com/office/drawing/2014/main" id="{36F99AA4-019D-575E-17FC-E7882264591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90938" y="3685419"/>
              <a:ext cx="397619" cy="0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600" dirty="0">
                <a:ea typeface="SimHei" panose="02010609060101010101" pitchFamily="49" charset="-122"/>
              </a:endParaRPr>
            </a:p>
          </p:txBody>
        </p:sp>
        <p:sp>
          <p:nvSpPr>
            <p:cNvPr id="21" name="Rectangle 45">
              <a:extLst>
                <a:ext uri="{FF2B5EF4-FFF2-40B4-BE49-F238E27FC236}">
                  <a16:creationId xmlns:a16="http://schemas.microsoft.com/office/drawing/2014/main" id="{288C9724-7902-945A-61F4-B14D0E3B50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869176" y="3700285"/>
              <a:ext cx="644872" cy="43184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73" tIns="44442" rIns="90473" bIns="44442">
              <a:spAutoFit/>
            </a:bodyPr>
            <a:lstStyle/>
            <a:p>
              <a:pPr eaLnBrk="0" hangingPunct="0"/>
              <a:r>
                <a:rPr lang="en-US" altLang="zh-CN" sz="1600" dirty="0">
                  <a:latin typeface="Arial" pitchFamily="34" charset="0"/>
                  <a:ea typeface="SimHei" panose="02010609060101010101" pitchFamily="49" charset="-122"/>
                </a:rPr>
                <a:t>DM</a:t>
              </a:r>
            </a:p>
          </p:txBody>
        </p:sp>
        <p:sp>
          <p:nvSpPr>
            <p:cNvPr id="22" name="Freeform 47">
              <a:extLst>
                <a:ext uri="{FF2B5EF4-FFF2-40B4-BE49-F238E27FC236}">
                  <a16:creationId xmlns:a16="http://schemas.microsoft.com/office/drawing/2014/main" id="{A670153A-9338-A6B8-38DE-A31A523589F3}"/>
                </a:ext>
              </a:extLst>
            </p:cNvPr>
            <p:cNvSpPr>
              <a:spLocks/>
            </p:cNvSpPr>
            <p:nvPr/>
          </p:nvSpPr>
          <p:spPr bwMode="auto">
            <a:xfrm>
              <a:off x="5778806" y="3560728"/>
              <a:ext cx="410282" cy="750743"/>
            </a:xfrm>
            <a:custGeom>
              <a:avLst/>
              <a:gdLst>
                <a:gd name="T0" fmla="*/ 161 w 162"/>
                <a:gd name="T1" fmla="*/ 0 h 289"/>
                <a:gd name="T2" fmla="*/ 0 w 162"/>
                <a:gd name="T3" fmla="*/ 0 h 289"/>
                <a:gd name="T4" fmla="*/ 0 w 162"/>
                <a:gd name="T5" fmla="*/ 288 h 289"/>
                <a:gd name="T6" fmla="*/ 161 w 162"/>
                <a:gd name="T7" fmla="*/ 288 h 28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2" h="289">
                  <a:moveTo>
                    <a:pt x="161" y="0"/>
                  </a:moveTo>
                  <a:lnTo>
                    <a:pt x="0" y="0"/>
                  </a:lnTo>
                  <a:lnTo>
                    <a:pt x="0" y="288"/>
                  </a:lnTo>
                  <a:lnTo>
                    <a:pt x="161" y="288"/>
                  </a:lnTo>
                </a:path>
              </a:pathLst>
            </a:custGeom>
            <a:noFill/>
            <a:ln w="25400" cap="rnd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600" dirty="0">
                <a:ea typeface="SimHei" panose="02010609060101010101" pitchFamily="49" charset="-122"/>
              </a:endParaRPr>
            </a:p>
          </p:txBody>
        </p:sp>
        <p:sp>
          <p:nvSpPr>
            <p:cNvPr id="23" name="Freeform 48">
              <a:extLst>
                <a:ext uri="{FF2B5EF4-FFF2-40B4-BE49-F238E27FC236}">
                  <a16:creationId xmlns:a16="http://schemas.microsoft.com/office/drawing/2014/main" id="{78509041-EBE7-D627-3593-1D20FD673FC3}"/>
                </a:ext>
              </a:extLst>
            </p:cNvPr>
            <p:cNvSpPr>
              <a:spLocks/>
            </p:cNvSpPr>
            <p:nvPr/>
          </p:nvSpPr>
          <p:spPr bwMode="auto">
            <a:xfrm>
              <a:off x="6186556" y="3560728"/>
              <a:ext cx="415347" cy="750743"/>
            </a:xfrm>
            <a:custGeom>
              <a:avLst/>
              <a:gdLst>
                <a:gd name="T0" fmla="*/ 0 w 164"/>
                <a:gd name="T1" fmla="*/ 0 h 289"/>
                <a:gd name="T2" fmla="*/ 163 w 164"/>
                <a:gd name="T3" fmla="*/ 0 h 289"/>
                <a:gd name="T4" fmla="*/ 163 w 164"/>
                <a:gd name="T5" fmla="*/ 288 h 289"/>
                <a:gd name="T6" fmla="*/ 0 w 164"/>
                <a:gd name="T7" fmla="*/ 288 h 28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4" h="289">
                  <a:moveTo>
                    <a:pt x="0" y="0"/>
                  </a:moveTo>
                  <a:lnTo>
                    <a:pt x="163" y="0"/>
                  </a:lnTo>
                  <a:lnTo>
                    <a:pt x="163" y="288"/>
                  </a:lnTo>
                  <a:lnTo>
                    <a:pt x="0" y="288"/>
                  </a:lnTo>
                </a:path>
              </a:pathLst>
            </a:custGeom>
            <a:noFill/>
            <a:ln w="25400" cap="rnd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600" dirty="0">
                <a:ea typeface="SimHei" panose="02010609060101010101" pitchFamily="49" charset="-122"/>
              </a:endParaRPr>
            </a:p>
          </p:txBody>
        </p:sp>
        <p:sp>
          <p:nvSpPr>
            <p:cNvPr id="24" name="Rectangle 49">
              <a:extLst>
                <a:ext uri="{FF2B5EF4-FFF2-40B4-BE49-F238E27FC236}">
                  <a16:creationId xmlns:a16="http://schemas.microsoft.com/office/drawing/2014/main" id="{608C943A-5D06-C334-826B-1B97394E90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88589" y="3700285"/>
              <a:ext cx="716986" cy="43184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73" tIns="44442" rIns="90473" bIns="44442">
              <a:spAutoFit/>
            </a:bodyPr>
            <a:lstStyle/>
            <a:p>
              <a:pPr eaLnBrk="0" hangingPunct="0"/>
              <a:r>
                <a:rPr lang="en-US" altLang="zh-CN" sz="1600" dirty="0">
                  <a:latin typeface="Arial" pitchFamily="34" charset="0"/>
                  <a:ea typeface="SimHei" panose="02010609060101010101" pitchFamily="49" charset="-122"/>
                </a:rPr>
                <a:t>Reg</a:t>
              </a:r>
            </a:p>
          </p:txBody>
        </p:sp>
        <p:sp>
          <p:nvSpPr>
            <p:cNvPr id="25" name="Freeform 51">
              <a:extLst>
                <a:ext uri="{FF2B5EF4-FFF2-40B4-BE49-F238E27FC236}">
                  <a16:creationId xmlns:a16="http://schemas.microsoft.com/office/drawing/2014/main" id="{3C43C3BC-419F-BFE5-DC07-D2CC2AF73835}"/>
                </a:ext>
              </a:extLst>
            </p:cNvPr>
            <p:cNvSpPr>
              <a:spLocks/>
            </p:cNvSpPr>
            <p:nvPr/>
          </p:nvSpPr>
          <p:spPr bwMode="auto">
            <a:xfrm>
              <a:off x="6964065" y="3560728"/>
              <a:ext cx="359630" cy="750743"/>
            </a:xfrm>
            <a:custGeom>
              <a:avLst/>
              <a:gdLst>
                <a:gd name="T0" fmla="*/ 141 w 142"/>
                <a:gd name="T1" fmla="*/ 0 h 289"/>
                <a:gd name="T2" fmla="*/ 0 w 142"/>
                <a:gd name="T3" fmla="*/ 0 h 289"/>
                <a:gd name="T4" fmla="*/ 0 w 142"/>
                <a:gd name="T5" fmla="*/ 288 h 289"/>
                <a:gd name="T6" fmla="*/ 141 w 142"/>
                <a:gd name="T7" fmla="*/ 288 h 28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2" h="289">
                  <a:moveTo>
                    <a:pt x="141" y="0"/>
                  </a:moveTo>
                  <a:lnTo>
                    <a:pt x="0" y="0"/>
                  </a:lnTo>
                  <a:lnTo>
                    <a:pt x="0" y="288"/>
                  </a:lnTo>
                  <a:lnTo>
                    <a:pt x="141" y="288"/>
                  </a:lnTo>
                </a:path>
              </a:pathLst>
            </a:custGeom>
            <a:noFill/>
            <a:ln w="25400" cap="rnd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600" dirty="0">
                <a:ea typeface="SimHei" panose="02010609060101010101" pitchFamily="49" charset="-122"/>
              </a:endParaRPr>
            </a:p>
          </p:txBody>
        </p:sp>
        <p:sp>
          <p:nvSpPr>
            <p:cNvPr id="26" name="Freeform 52">
              <a:extLst>
                <a:ext uri="{FF2B5EF4-FFF2-40B4-BE49-F238E27FC236}">
                  <a16:creationId xmlns:a16="http://schemas.microsoft.com/office/drawing/2014/main" id="{BAC5E1CB-92CA-7804-1F3A-ACAA59755D9C}"/>
                </a:ext>
              </a:extLst>
            </p:cNvPr>
            <p:cNvSpPr>
              <a:spLocks/>
            </p:cNvSpPr>
            <p:nvPr/>
          </p:nvSpPr>
          <p:spPr bwMode="auto">
            <a:xfrm>
              <a:off x="7321162" y="3560728"/>
              <a:ext cx="362163" cy="750743"/>
            </a:xfrm>
            <a:custGeom>
              <a:avLst/>
              <a:gdLst>
                <a:gd name="T0" fmla="*/ 0 w 143"/>
                <a:gd name="T1" fmla="*/ 0 h 289"/>
                <a:gd name="T2" fmla="*/ 142 w 143"/>
                <a:gd name="T3" fmla="*/ 0 h 289"/>
                <a:gd name="T4" fmla="*/ 142 w 143"/>
                <a:gd name="T5" fmla="*/ 288 h 289"/>
                <a:gd name="T6" fmla="*/ 0 w 143"/>
                <a:gd name="T7" fmla="*/ 288 h 28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3" h="289">
                  <a:moveTo>
                    <a:pt x="0" y="0"/>
                  </a:moveTo>
                  <a:lnTo>
                    <a:pt x="142" y="0"/>
                  </a:lnTo>
                  <a:lnTo>
                    <a:pt x="142" y="288"/>
                  </a:lnTo>
                  <a:lnTo>
                    <a:pt x="0" y="288"/>
                  </a:lnTo>
                </a:path>
              </a:pathLst>
            </a:custGeom>
            <a:noFill/>
            <a:ln w="25400" cap="rnd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600" dirty="0">
                <a:ea typeface="SimHei" panose="02010609060101010101" pitchFamily="49" charset="-122"/>
              </a:endParaRPr>
            </a:p>
          </p:txBody>
        </p:sp>
        <p:sp>
          <p:nvSpPr>
            <p:cNvPr id="27" name="Line 53">
              <a:extLst>
                <a:ext uri="{FF2B5EF4-FFF2-40B4-BE49-F238E27FC236}">
                  <a16:creationId xmlns:a16="http://schemas.microsoft.com/office/drawing/2014/main" id="{638CD82A-90C6-06DD-5A57-1B73A8960F3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591772" y="3934801"/>
              <a:ext cx="352032" cy="0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600" dirty="0">
                <a:ea typeface="SimHei" panose="02010609060101010101" pitchFamily="49" charset="-122"/>
              </a:endParaRPr>
            </a:p>
          </p:txBody>
        </p:sp>
        <p:sp>
          <p:nvSpPr>
            <p:cNvPr id="28" name="Line 54">
              <a:extLst>
                <a:ext uri="{FF2B5EF4-FFF2-40B4-BE49-F238E27FC236}">
                  <a16:creationId xmlns:a16="http://schemas.microsoft.com/office/drawing/2014/main" id="{FAABB387-6817-5D39-259E-B65DAFA0DA5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365991" y="3934801"/>
              <a:ext cx="392554" cy="0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600" dirty="0">
                <a:ea typeface="SimHei" panose="02010609060101010101" pitchFamily="49" charset="-122"/>
              </a:endParaRPr>
            </a:p>
          </p:txBody>
        </p:sp>
        <p:sp>
          <p:nvSpPr>
            <p:cNvPr id="29" name="Line 55">
              <a:extLst>
                <a:ext uri="{FF2B5EF4-FFF2-40B4-BE49-F238E27FC236}">
                  <a16:creationId xmlns:a16="http://schemas.microsoft.com/office/drawing/2014/main" id="{E48DB6C7-9514-4A55-4942-6DFD5DD4DD8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90938" y="4184182"/>
              <a:ext cx="397619" cy="0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600" dirty="0">
                <a:ea typeface="SimHei" panose="02010609060101010101" pitchFamily="49" charset="-122"/>
              </a:endParaRPr>
            </a:p>
          </p:txBody>
        </p:sp>
        <p:sp>
          <p:nvSpPr>
            <p:cNvPr id="30" name="Line 56">
              <a:extLst>
                <a:ext uri="{FF2B5EF4-FFF2-40B4-BE49-F238E27FC236}">
                  <a16:creationId xmlns:a16="http://schemas.microsoft.com/office/drawing/2014/main" id="{2EFF8C1A-9C41-3338-375F-055598CC05A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03677" y="4184182"/>
              <a:ext cx="0" cy="49876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600" dirty="0">
                <a:ea typeface="SimHei" panose="02010609060101010101" pitchFamily="49" charset="-122"/>
              </a:endParaRPr>
            </a:p>
          </p:txBody>
        </p:sp>
        <p:sp>
          <p:nvSpPr>
            <p:cNvPr id="31" name="Line 57">
              <a:extLst>
                <a:ext uri="{FF2B5EF4-FFF2-40B4-BE49-F238E27FC236}">
                  <a16:creationId xmlns:a16="http://schemas.microsoft.com/office/drawing/2014/main" id="{20141543-C894-9D8B-DA84-18F81ECFEB3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03677" y="4682946"/>
              <a:ext cx="850955" cy="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600" dirty="0">
                <a:ea typeface="SimHei" panose="02010609060101010101" pitchFamily="49" charset="-122"/>
              </a:endParaRPr>
            </a:p>
          </p:txBody>
        </p:sp>
        <p:sp>
          <p:nvSpPr>
            <p:cNvPr id="32" name="Line 58">
              <a:extLst>
                <a:ext uri="{FF2B5EF4-FFF2-40B4-BE49-F238E27FC236}">
                  <a16:creationId xmlns:a16="http://schemas.microsoft.com/office/drawing/2014/main" id="{F2FC97C6-62DB-FD09-467C-52C0AA8F7F7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454632" y="3934801"/>
              <a:ext cx="0" cy="748145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600" dirty="0">
                <a:ea typeface="SimHei" panose="02010609060101010101" pitchFamily="49" charset="-122"/>
              </a:endParaRPr>
            </a:p>
          </p:txBody>
        </p:sp>
        <p:sp>
          <p:nvSpPr>
            <p:cNvPr id="33" name="Line 59">
              <a:extLst>
                <a:ext uri="{FF2B5EF4-FFF2-40B4-BE49-F238E27FC236}">
                  <a16:creationId xmlns:a16="http://schemas.microsoft.com/office/drawing/2014/main" id="{58AC18F5-4785-52FB-AEA2-B87AFBB4A8A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657241" y="3934801"/>
              <a:ext cx="0" cy="623455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600" dirty="0">
                <a:ea typeface="SimHei" panose="02010609060101010101" pitchFamily="49" charset="-122"/>
              </a:endParaRPr>
            </a:p>
          </p:txBody>
        </p:sp>
        <p:sp>
          <p:nvSpPr>
            <p:cNvPr id="34" name="Line 60">
              <a:extLst>
                <a:ext uri="{FF2B5EF4-FFF2-40B4-BE49-F238E27FC236}">
                  <a16:creationId xmlns:a16="http://schemas.microsoft.com/office/drawing/2014/main" id="{42AC23E9-B45D-D015-1D24-4292EF9EF98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657241" y="4558255"/>
              <a:ext cx="1094086" cy="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600" dirty="0">
                <a:ea typeface="SimHei" panose="02010609060101010101" pitchFamily="49" charset="-122"/>
              </a:endParaRPr>
            </a:p>
          </p:txBody>
        </p:sp>
        <p:sp>
          <p:nvSpPr>
            <p:cNvPr id="35" name="Line 61">
              <a:extLst>
                <a:ext uri="{FF2B5EF4-FFF2-40B4-BE49-F238E27FC236}">
                  <a16:creationId xmlns:a16="http://schemas.microsoft.com/office/drawing/2014/main" id="{8ABAAEFD-66EE-863F-54BD-F54C223ABE7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751326" y="3934801"/>
              <a:ext cx="0" cy="623455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600" dirty="0">
                <a:ea typeface="SimHei" panose="02010609060101010101" pitchFamily="49" charset="-122"/>
              </a:endParaRPr>
            </a:p>
          </p:txBody>
        </p:sp>
        <p:sp>
          <p:nvSpPr>
            <p:cNvPr id="36" name="Rectangle 62">
              <a:extLst>
                <a:ext uri="{FF2B5EF4-FFF2-40B4-BE49-F238E27FC236}">
                  <a16:creationId xmlns:a16="http://schemas.microsoft.com/office/drawing/2014/main" id="{3B553E02-6B6A-5647-9A74-4A779F4D62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03100" y="5373826"/>
              <a:ext cx="1075497" cy="51096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73" tIns="44442" rIns="90473" bIns="44442">
              <a:spAutoFit/>
            </a:bodyPr>
            <a:lstStyle/>
            <a:p>
              <a:pPr eaLnBrk="0" hangingPunct="0"/>
              <a:r>
                <a:rPr lang="en-US" altLang="zh-CN" sz="2000" dirty="0">
                  <a:latin typeface="Arial" pitchFamily="34" charset="0"/>
                  <a:ea typeface="SimHei" panose="02010609060101010101" pitchFamily="49" charset="-122"/>
                </a:rPr>
                <a:t>target</a:t>
              </a:r>
            </a:p>
          </p:txBody>
        </p:sp>
        <p:sp>
          <p:nvSpPr>
            <p:cNvPr id="37" name="Freeform 65">
              <a:extLst>
                <a:ext uri="{FF2B5EF4-FFF2-40B4-BE49-F238E27FC236}">
                  <a16:creationId xmlns:a16="http://schemas.microsoft.com/office/drawing/2014/main" id="{8BC71224-ADC4-25E8-B8B9-F8ABA1F0B34F}"/>
                </a:ext>
              </a:extLst>
            </p:cNvPr>
            <p:cNvSpPr>
              <a:spLocks/>
            </p:cNvSpPr>
            <p:nvPr/>
          </p:nvSpPr>
          <p:spPr bwMode="auto">
            <a:xfrm>
              <a:off x="5923587" y="5063946"/>
              <a:ext cx="535507" cy="1110673"/>
            </a:xfrm>
            <a:custGeom>
              <a:avLst/>
              <a:gdLst>
                <a:gd name="T0" fmla="*/ 0 w 213"/>
                <a:gd name="T1" fmla="*/ 320 h 481"/>
                <a:gd name="T2" fmla="*/ 71 w 213"/>
                <a:gd name="T3" fmla="*/ 240 h 481"/>
                <a:gd name="T4" fmla="*/ 0 w 213"/>
                <a:gd name="T5" fmla="*/ 160 h 481"/>
                <a:gd name="T6" fmla="*/ 0 w 213"/>
                <a:gd name="T7" fmla="*/ 0 h 481"/>
                <a:gd name="T8" fmla="*/ 212 w 213"/>
                <a:gd name="T9" fmla="*/ 160 h 481"/>
                <a:gd name="T10" fmla="*/ 212 w 213"/>
                <a:gd name="T11" fmla="*/ 320 h 481"/>
                <a:gd name="T12" fmla="*/ 0 w 213"/>
                <a:gd name="T13" fmla="*/ 480 h 481"/>
                <a:gd name="T14" fmla="*/ 0 w 213"/>
                <a:gd name="T15" fmla="*/ 320 h 48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13" h="481">
                  <a:moveTo>
                    <a:pt x="0" y="320"/>
                  </a:moveTo>
                  <a:lnTo>
                    <a:pt x="71" y="240"/>
                  </a:lnTo>
                  <a:lnTo>
                    <a:pt x="0" y="160"/>
                  </a:lnTo>
                  <a:lnTo>
                    <a:pt x="0" y="0"/>
                  </a:lnTo>
                  <a:lnTo>
                    <a:pt x="212" y="160"/>
                  </a:lnTo>
                  <a:lnTo>
                    <a:pt x="212" y="320"/>
                  </a:lnTo>
                  <a:lnTo>
                    <a:pt x="0" y="480"/>
                  </a:lnTo>
                  <a:lnTo>
                    <a:pt x="0" y="320"/>
                  </a:lnTo>
                </a:path>
              </a:pathLst>
            </a:custGeom>
            <a:noFill/>
            <a:ln w="25400" cap="rnd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600" dirty="0">
                <a:ea typeface="SimHei" panose="02010609060101010101" pitchFamily="49" charset="-122"/>
              </a:endParaRPr>
            </a:p>
          </p:txBody>
        </p:sp>
        <p:sp>
          <p:nvSpPr>
            <p:cNvPr id="38" name="Rectangle 66">
              <a:extLst>
                <a:ext uri="{FF2B5EF4-FFF2-40B4-BE49-F238E27FC236}">
                  <a16:creationId xmlns:a16="http://schemas.microsoft.com/office/drawing/2014/main" id="{A0BFB28C-779B-8184-1C5A-4B91138AE390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5834768" y="5398747"/>
              <a:ext cx="745831" cy="43184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73" tIns="44442" rIns="90473" bIns="44442">
              <a:spAutoFit/>
            </a:bodyPr>
            <a:lstStyle/>
            <a:p>
              <a:pPr eaLnBrk="0" hangingPunct="0"/>
              <a:r>
                <a:rPr lang="en-US" altLang="zh-CN" sz="1600" dirty="0">
                  <a:latin typeface="Arial" pitchFamily="34" charset="0"/>
                  <a:ea typeface="SimHei" panose="02010609060101010101" pitchFamily="49" charset="-122"/>
                </a:rPr>
                <a:t>ALU</a:t>
              </a:r>
            </a:p>
          </p:txBody>
        </p:sp>
        <p:sp>
          <p:nvSpPr>
            <p:cNvPr id="39" name="Rectangle 68">
              <a:extLst>
                <a:ext uri="{FF2B5EF4-FFF2-40B4-BE49-F238E27FC236}">
                  <a16:creationId xmlns:a16="http://schemas.microsoft.com/office/drawing/2014/main" id="{F244B976-F151-8072-D2A8-67724D9516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62030" y="5400227"/>
              <a:ext cx="529489" cy="43184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73" tIns="44442" rIns="90473" bIns="44442">
              <a:spAutoFit/>
            </a:bodyPr>
            <a:lstStyle/>
            <a:p>
              <a:pPr algn="ctr" eaLnBrk="0" hangingPunct="0"/>
              <a:r>
                <a:rPr lang="en-US" altLang="zh-CN" sz="1600" dirty="0">
                  <a:latin typeface="Arial" pitchFamily="34" charset="0"/>
                  <a:ea typeface="SimHei" panose="02010609060101010101" pitchFamily="49" charset="-122"/>
                </a:rPr>
                <a:t>IM</a:t>
              </a:r>
            </a:p>
          </p:txBody>
        </p:sp>
        <p:grpSp>
          <p:nvGrpSpPr>
            <p:cNvPr id="40" name="Group 69">
              <a:extLst>
                <a:ext uri="{FF2B5EF4-FFF2-40B4-BE49-F238E27FC236}">
                  <a16:creationId xmlns:a16="http://schemas.microsoft.com/office/drawing/2014/main" id="{9B2E4F4C-3837-99AF-1A30-AFBDFB62518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595512" y="5285619"/>
              <a:ext cx="854801" cy="667327"/>
              <a:chOff x="1291" y="1509"/>
              <a:chExt cx="340" cy="289"/>
            </a:xfrm>
          </p:grpSpPr>
          <p:sp>
            <p:nvSpPr>
              <p:cNvPr id="41" name="Freeform 70">
                <a:extLst>
                  <a:ext uri="{FF2B5EF4-FFF2-40B4-BE49-F238E27FC236}">
                    <a16:creationId xmlns:a16="http://schemas.microsoft.com/office/drawing/2014/main" id="{6DDC78BC-CDA7-0D76-0B10-7B5D65B693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1" y="1509"/>
                <a:ext cx="170" cy="289"/>
              </a:xfrm>
              <a:custGeom>
                <a:avLst/>
                <a:gdLst>
                  <a:gd name="T0" fmla="*/ 169 w 170"/>
                  <a:gd name="T1" fmla="*/ 0 h 289"/>
                  <a:gd name="T2" fmla="*/ 0 w 170"/>
                  <a:gd name="T3" fmla="*/ 0 h 289"/>
                  <a:gd name="T4" fmla="*/ 0 w 170"/>
                  <a:gd name="T5" fmla="*/ 288 h 289"/>
                  <a:gd name="T6" fmla="*/ 169 w 170"/>
                  <a:gd name="T7" fmla="*/ 288 h 28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0" h="289">
                    <a:moveTo>
                      <a:pt x="169" y="0"/>
                    </a:moveTo>
                    <a:lnTo>
                      <a:pt x="0" y="0"/>
                    </a:lnTo>
                    <a:lnTo>
                      <a:pt x="0" y="288"/>
                    </a:lnTo>
                    <a:lnTo>
                      <a:pt x="169" y="288"/>
                    </a:lnTo>
                  </a:path>
                </a:pathLst>
              </a:custGeom>
              <a:noFill/>
              <a:ln w="25400" cap="rnd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sz="1600" dirty="0">
                  <a:ea typeface="SimHei" panose="02010609060101010101" pitchFamily="49" charset="-122"/>
                </a:endParaRPr>
              </a:p>
            </p:txBody>
          </p:sp>
          <p:sp>
            <p:nvSpPr>
              <p:cNvPr id="42" name="Freeform 71">
                <a:extLst>
                  <a:ext uri="{FF2B5EF4-FFF2-40B4-BE49-F238E27FC236}">
                    <a16:creationId xmlns:a16="http://schemas.microsoft.com/office/drawing/2014/main" id="{73CF216E-5598-F9BE-44AC-E9AFD67BE4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0" y="1509"/>
                <a:ext cx="171" cy="289"/>
              </a:xfrm>
              <a:custGeom>
                <a:avLst/>
                <a:gdLst>
                  <a:gd name="T0" fmla="*/ 0 w 171"/>
                  <a:gd name="T1" fmla="*/ 0 h 289"/>
                  <a:gd name="T2" fmla="*/ 170 w 171"/>
                  <a:gd name="T3" fmla="*/ 0 h 289"/>
                  <a:gd name="T4" fmla="*/ 170 w 171"/>
                  <a:gd name="T5" fmla="*/ 288 h 289"/>
                  <a:gd name="T6" fmla="*/ 0 w 171"/>
                  <a:gd name="T7" fmla="*/ 288 h 28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1" h="289">
                    <a:moveTo>
                      <a:pt x="0" y="0"/>
                    </a:moveTo>
                    <a:lnTo>
                      <a:pt x="170" y="0"/>
                    </a:lnTo>
                    <a:lnTo>
                      <a:pt x="170" y="288"/>
                    </a:lnTo>
                    <a:lnTo>
                      <a:pt x="0" y="288"/>
                    </a:lnTo>
                  </a:path>
                </a:pathLst>
              </a:custGeom>
              <a:noFill/>
              <a:ln w="25400" cap="rnd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sz="1600" dirty="0">
                  <a:ea typeface="SimHei" panose="02010609060101010101" pitchFamily="49" charset="-122"/>
                </a:endParaRPr>
              </a:p>
            </p:txBody>
          </p:sp>
        </p:grpSp>
        <p:sp>
          <p:nvSpPr>
            <p:cNvPr id="43" name="Rectangle 72">
              <a:extLst>
                <a:ext uri="{FF2B5EF4-FFF2-40B4-BE49-F238E27FC236}">
                  <a16:creationId xmlns:a16="http://schemas.microsoft.com/office/drawing/2014/main" id="{2B5F17BD-6F26-1BC3-9009-79A475CD7D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99654" y="5400227"/>
              <a:ext cx="716986" cy="43184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73" tIns="44442" rIns="90473" bIns="44442">
              <a:spAutoFit/>
            </a:bodyPr>
            <a:lstStyle/>
            <a:p>
              <a:pPr eaLnBrk="0" hangingPunct="0"/>
              <a:r>
                <a:rPr lang="en-US" altLang="zh-CN" sz="1600" dirty="0">
                  <a:latin typeface="Arial" pitchFamily="34" charset="0"/>
                  <a:ea typeface="SimHei" panose="02010609060101010101" pitchFamily="49" charset="-122"/>
                </a:rPr>
                <a:t>Reg</a:t>
              </a:r>
            </a:p>
          </p:txBody>
        </p:sp>
        <p:sp>
          <p:nvSpPr>
            <p:cNvPr id="44" name="Freeform 74">
              <a:extLst>
                <a:ext uri="{FF2B5EF4-FFF2-40B4-BE49-F238E27FC236}">
                  <a16:creationId xmlns:a16="http://schemas.microsoft.com/office/drawing/2014/main" id="{B707565B-A1B6-F403-62F9-810F2B5C1023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2007" y="5285619"/>
              <a:ext cx="374604" cy="667327"/>
            </a:xfrm>
            <a:custGeom>
              <a:avLst/>
              <a:gdLst>
                <a:gd name="T0" fmla="*/ 148 w 149"/>
                <a:gd name="T1" fmla="*/ 0 h 289"/>
                <a:gd name="T2" fmla="*/ 0 w 149"/>
                <a:gd name="T3" fmla="*/ 0 h 289"/>
                <a:gd name="T4" fmla="*/ 0 w 149"/>
                <a:gd name="T5" fmla="*/ 288 h 289"/>
                <a:gd name="T6" fmla="*/ 148 w 149"/>
                <a:gd name="T7" fmla="*/ 288 h 28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9" h="289">
                  <a:moveTo>
                    <a:pt x="148" y="0"/>
                  </a:moveTo>
                  <a:lnTo>
                    <a:pt x="0" y="0"/>
                  </a:lnTo>
                  <a:lnTo>
                    <a:pt x="0" y="288"/>
                  </a:lnTo>
                  <a:lnTo>
                    <a:pt x="148" y="288"/>
                  </a:lnTo>
                </a:path>
              </a:pathLst>
            </a:custGeom>
            <a:noFill/>
            <a:ln w="25400" cap="rnd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600" dirty="0">
                <a:ea typeface="SimHei" panose="02010609060101010101" pitchFamily="49" charset="-122"/>
              </a:endParaRPr>
            </a:p>
          </p:txBody>
        </p:sp>
        <p:sp>
          <p:nvSpPr>
            <p:cNvPr id="45" name="Freeform 75">
              <a:extLst>
                <a:ext uri="{FF2B5EF4-FFF2-40B4-BE49-F238E27FC236}">
                  <a16:creationId xmlns:a16="http://schemas.microsoft.com/office/drawing/2014/main" id="{59CFFB99-197A-3B3D-FE88-D2C24AD14C61}"/>
                </a:ext>
              </a:extLst>
            </p:cNvPr>
            <p:cNvSpPr>
              <a:spLocks/>
            </p:cNvSpPr>
            <p:nvPr/>
          </p:nvSpPr>
          <p:spPr bwMode="auto">
            <a:xfrm>
              <a:off x="5124097" y="5285619"/>
              <a:ext cx="372090" cy="667327"/>
            </a:xfrm>
            <a:custGeom>
              <a:avLst/>
              <a:gdLst>
                <a:gd name="T0" fmla="*/ 0 w 148"/>
                <a:gd name="T1" fmla="*/ 0 h 289"/>
                <a:gd name="T2" fmla="*/ 147 w 148"/>
                <a:gd name="T3" fmla="*/ 0 h 289"/>
                <a:gd name="T4" fmla="*/ 147 w 148"/>
                <a:gd name="T5" fmla="*/ 288 h 289"/>
                <a:gd name="T6" fmla="*/ 0 w 148"/>
                <a:gd name="T7" fmla="*/ 288 h 28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8" h="289">
                  <a:moveTo>
                    <a:pt x="0" y="0"/>
                  </a:moveTo>
                  <a:lnTo>
                    <a:pt x="147" y="0"/>
                  </a:lnTo>
                  <a:lnTo>
                    <a:pt x="147" y="288"/>
                  </a:lnTo>
                  <a:lnTo>
                    <a:pt x="0" y="288"/>
                  </a:lnTo>
                </a:path>
              </a:pathLst>
            </a:custGeom>
            <a:noFill/>
            <a:ln w="25400" cap="rnd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600" dirty="0">
                <a:ea typeface="SimHei" panose="02010609060101010101" pitchFamily="49" charset="-122"/>
              </a:endParaRPr>
            </a:p>
          </p:txBody>
        </p:sp>
        <p:sp>
          <p:nvSpPr>
            <p:cNvPr id="46" name="Line 76">
              <a:extLst>
                <a:ext uri="{FF2B5EF4-FFF2-40B4-BE49-F238E27FC236}">
                  <a16:creationId xmlns:a16="http://schemas.microsoft.com/office/drawing/2014/main" id="{55C481B2-11DE-6194-89E2-651AD7514F9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462883" y="5618128"/>
              <a:ext cx="291638" cy="0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600" dirty="0">
                <a:ea typeface="SimHei" panose="02010609060101010101" pitchFamily="49" charset="-122"/>
              </a:endParaRPr>
            </a:p>
          </p:txBody>
        </p:sp>
        <p:sp>
          <p:nvSpPr>
            <p:cNvPr id="47" name="Freeform 77">
              <a:extLst>
                <a:ext uri="{FF2B5EF4-FFF2-40B4-BE49-F238E27FC236}">
                  <a16:creationId xmlns:a16="http://schemas.microsoft.com/office/drawing/2014/main" id="{7D0EF17A-BE26-9637-6595-BE2FEEB50B37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3843" y="5396455"/>
              <a:ext cx="120678" cy="223982"/>
            </a:xfrm>
            <a:custGeom>
              <a:avLst/>
              <a:gdLst>
                <a:gd name="T0" fmla="*/ 0 w 48"/>
                <a:gd name="T1" fmla="*/ 96 h 97"/>
                <a:gd name="T2" fmla="*/ 0 w 48"/>
                <a:gd name="T3" fmla="*/ 0 h 97"/>
                <a:gd name="T4" fmla="*/ 47 w 48"/>
                <a:gd name="T5" fmla="*/ 0 h 97"/>
                <a:gd name="T6" fmla="*/ 47 w 48"/>
                <a:gd name="T7" fmla="*/ 0 h 9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8" h="97">
                  <a:moveTo>
                    <a:pt x="0" y="96"/>
                  </a:moveTo>
                  <a:lnTo>
                    <a:pt x="0" y="0"/>
                  </a:lnTo>
                  <a:lnTo>
                    <a:pt x="47" y="0"/>
                  </a:lnTo>
                </a:path>
              </a:pathLst>
            </a:custGeom>
            <a:noFill/>
            <a:ln w="25400" cap="rnd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600" dirty="0">
                <a:ea typeface="SimHei" panose="02010609060101010101" pitchFamily="49" charset="-122"/>
              </a:endParaRPr>
            </a:p>
          </p:txBody>
        </p:sp>
        <p:sp>
          <p:nvSpPr>
            <p:cNvPr id="48" name="Line 78">
              <a:extLst>
                <a:ext uri="{FF2B5EF4-FFF2-40B4-BE49-F238E27FC236}">
                  <a16:creationId xmlns:a16="http://schemas.microsoft.com/office/drawing/2014/main" id="{53BA13ED-A44B-375D-2EB6-196631FEFA9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508757" y="5396455"/>
              <a:ext cx="394717" cy="0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600" dirty="0">
                <a:ea typeface="SimHei" panose="02010609060101010101" pitchFamily="49" charset="-122"/>
              </a:endParaRPr>
            </a:p>
          </p:txBody>
        </p:sp>
        <p:sp>
          <p:nvSpPr>
            <p:cNvPr id="49" name="Rectangle 79">
              <a:extLst>
                <a:ext uri="{FF2B5EF4-FFF2-40B4-BE49-F238E27FC236}">
                  <a16:creationId xmlns:a16="http://schemas.microsoft.com/office/drawing/2014/main" id="{DBB3866A-A788-CA16-51ED-DA0DCA950B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69342" y="5400227"/>
              <a:ext cx="644872" cy="43184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73" tIns="44442" rIns="90473" bIns="44442">
              <a:spAutoFit/>
            </a:bodyPr>
            <a:lstStyle/>
            <a:p>
              <a:pPr eaLnBrk="0" hangingPunct="0"/>
              <a:r>
                <a:rPr lang="en-US" altLang="zh-CN" sz="1600" dirty="0">
                  <a:latin typeface="Arial" pitchFamily="34" charset="0"/>
                  <a:ea typeface="SimHei" panose="02010609060101010101" pitchFamily="49" charset="-122"/>
                </a:rPr>
                <a:t>DM</a:t>
              </a:r>
            </a:p>
          </p:txBody>
        </p:sp>
        <p:sp>
          <p:nvSpPr>
            <p:cNvPr id="50" name="Freeform 81">
              <a:extLst>
                <a:ext uri="{FF2B5EF4-FFF2-40B4-BE49-F238E27FC236}">
                  <a16:creationId xmlns:a16="http://schemas.microsoft.com/office/drawing/2014/main" id="{FF89D897-2C1B-4604-D672-994C2685DE7A}"/>
                </a:ext>
              </a:extLst>
            </p:cNvPr>
            <p:cNvSpPr>
              <a:spLocks/>
            </p:cNvSpPr>
            <p:nvPr/>
          </p:nvSpPr>
          <p:spPr bwMode="auto">
            <a:xfrm>
              <a:off x="6886494" y="5285619"/>
              <a:ext cx="407287" cy="667327"/>
            </a:xfrm>
            <a:custGeom>
              <a:avLst/>
              <a:gdLst>
                <a:gd name="T0" fmla="*/ 161 w 162"/>
                <a:gd name="T1" fmla="*/ 0 h 289"/>
                <a:gd name="T2" fmla="*/ 0 w 162"/>
                <a:gd name="T3" fmla="*/ 0 h 289"/>
                <a:gd name="T4" fmla="*/ 0 w 162"/>
                <a:gd name="T5" fmla="*/ 288 h 289"/>
                <a:gd name="T6" fmla="*/ 161 w 162"/>
                <a:gd name="T7" fmla="*/ 288 h 28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2" h="289">
                  <a:moveTo>
                    <a:pt x="161" y="0"/>
                  </a:moveTo>
                  <a:lnTo>
                    <a:pt x="0" y="0"/>
                  </a:lnTo>
                  <a:lnTo>
                    <a:pt x="0" y="288"/>
                  </a:lnTo>
                  <a:lnTo>
                    <a:pt x="161" y="288"/>
                  </a:lnTo>
                </a:path>
              </a:pathLst>
            </a:custGeom>
            <a:noFill/>
            <a:ln w="25400" cap="rnd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600" dirty="0">
                <a:ea typeface="SimHei" panose="02010609060101010101" pitchFamily="49" charset="-122"/>
              </a:endParaRPr>
            </a:p>
          </p:txBody>
        </p:sp>
        <p:sp>
          <p:nvSpPr>
            <p:cNvPr id="51" name="Freeform 82">
              <a:extLst>
                <a:ext uri="{FF2B5EF4-FFF2-40B4-BE49-F238E27FC236}">
                  <a16:creationId xmlns:a16="http://schemas.microsoft.com/office/drawing/2014/main" id="{02F89EC1-0D57-DB6D-162C-54B61EC5E9EA}"/>
                </a:ext>
              </a:extLst>
            </p:cNvPr>
            <p:cNvSpPr>
              <a:spLocks/>
            </p:cNvSpPr>
            <p:nvPr/>
          </p:nvSpPr>
          <p:spPr bwMode="auto">
            <a:xfrm>
              <a:off x="7291267" y="5285619"/>
              <a:ext cx="412316" cy="667327"/>
            </a:xfrm>
            <a:custGeom>
              <a:avLst/>
              <a:gdLst>
                <a:gd name="T0" fmla="*/ 0 w 164"/>
                <a:gd name="T1" fmla="*/ 0 h 289"/>
                <a:gd name="T2" fmla="*/ 163 w 164"/>
                <a:gd name="T3" fmla="*/ 0 h 289"/>
                <a:gd name="T4" fmla="*/ 163 w 164"/>
                <a:gd name="T5" fmla="*/ 288 h 289"/>
                <a:gd name="T6" fmla="*/ 0 w 164"/>
                <a:gd name="T7" fmla="*/ 288 h 28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4" h="289">
                  <a:moveTo>
                    <a:pt x="0" y="0"/>
                  </a:moveTo>
                  <a:lnTo>
                    <a:pt x="163" y="0"/>
                  </a:lnTo>
                  <a:lnTo>
                    <a:pt x="163" y="288"/>
                  </a:lnTo>
                  <a:lnTo>
                    <a:pt x="0" y="288"/>
                  </a:lnTo>
                </a:path>
              </a:pathLst>
            </a:custGeom>
            <a:noFill/>
            <a:ln w="25400" cap="rnd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600" dirty="0">
                <a:ea typeface="SimHei" panose="02010609060101010101" pitchFamily="49" charset="-122"/>
              </a:endParaRPr>
            </a:p>
          </p:txBody>
        </p:sp>
        <p:sp>
          <p:nvSpPr>
            <p:cNvPr id="52" name="Rectangle 83">
              <a:extLst>
                <a:ext uri="{FF2B5EF4-FFF2-40B4-BE49-F238E27FC236}">
                  <a16:creationId xmlns:a16="http://schemas.microsoft.com/office/drawing/2014/main" id="{5B639701-5826-A18E-C86D-DDF268D9BF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088125" y="5400227"/>
              <a:ext cx="716986" cy="43184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73" tIns="44442" rIns="90473" bIns="44442">
              <a:spAutoFit/>
            </a:bodyPr>
            <a:lstStyle/>
            <a:p>
              <a:pPr eaLnBrk="0" hangingPunct="0"/>
              <a:r>
                <a:rPr lang="en-US" altLang="zh-CN" sz="1600" dirty="0">
                  <a:latin typeface="Arial" pitchFamily="34" charset="0"/>
                  <a:ea typeface="SimHei" panose="02010609060101010101" pitchFamily="49" charset="-122"/>
                </a:rPr>
                <a:t>Reg</a:t>
              </a:r>
            </a:p>
          </p:txBody>
        </p:sp>
        <p:sp>
          <p:nvSpPr>
            <p:cNvPr id="53" name="Freeform 85">
              <a:extLst>
                <a:ext uri="{FF2B5EF4-FFF2-40B4-BE49-F238E27FC236}">
                  <a16:creationId xmlns:a16="http://schemas.microsoft.com/office/drawing/2014/main" id="{E45D0AAF-66B3-F295-80BA-3F10A92FC659}"/>
                </a:ext>
              </a:extLst>
            </p:cNvPr>
            <p:cNvSpPr>
              <a:spLocks/>
            </p:cNvSpPr>
            <p:nvPr/>
          </p:nvSpPr>
          <p:spPr bwMode="auto">
            <a:xfrm>
              <a:off x="8063102" y="5285619"/>
              <a:ext cx="357005" cy="667327"/>
            </a:xfrm>
            <a:custGeom>
              <a:avLst/>
              <a:gdLst>
                <a:gd name="T0" fmla="*/ 141 w 142"/>
                <a:gd name="T1" fmla="*/ 0 h 289"/>
                <a:gd name="T2" fmla="*/ 0 w 142"/>
                <a:gd name="T3" fmla="*/ 0 h 289"/>
                <a:gd name="T4" fmla="*/ 0 w 142"/>
                <a:gd name="T5" fmla="*/ 288 h 289"/>
                <a:gd name="T6" fmla="*/ 141 w 142"/>
                <a:gd name="T7" fmla="*/ 288 h 28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2" h="289">
                  <a:moveTo>
                    <a:pt x="141" y="0"/>
                  </a:moveTo>
                  <a:lnTo>
                    <a:pt x="0" y="0"/>
                  </a:lnTo>
                  <a:lnTo>
                    <a:pt x="0" y="288"/>
                  </a:lnTo>
                  <a:lnTo>
                    <a:pt x="141" y="288"/>
                  </a:lnTo>
                </a:path>
              </a:pathLst>
            </a:custGeom>
            <a:noFill/>
            <a:ln w="25400" cap="rnd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600" dirty="0">
                <a:ea typeface="SimHei" panose="02010609060101010101" pitchFamily="49" charset="-122"/>
              </a:endParaRPr>
            </a:p>
          </p:txBody>
        </p:sp>
        <p:sp>
          <p:nvSpPr>
            <p:cNvPr id="54" name="Freeform 86">
              <a:extLst>
                <a:ext uri="{FF2B5EF4-FFF2-40B4-BE49-F238E27FC236}">
                  <a16:creationId xmlns:a16="http://schemas.microsoft.com/office/drawing/2014/main" id="{3B557A04-028F-20CF-63D8-33C0DFA79592}"/>
                </a:ext>
              </a:extLst>
            </p:cNvPr>
            <p:cNvSpPr>
              <a:spLocks/>
            </p:cNvSpPr>
            <p:nvPr/>
          </p:nvSpPr>
          <p:spPr bwMode="auto">
            <a:xfrm>
              <a:off x="8417593" y="5285619"/>
              <a:ext cx="359519" cy="667327"/>
            </a:xfrm>
            <a:custGeom>
              <a:avLst/>
              <a:gdLst>
                <a:gd name="T0" fmla="*/ 0 w 143"/>
                <a:gd name="T1" fmla="*/ 0 h 289"/>
                <a:gd name="T2" fmla="*/ 142 w 143"/>
                <a:gd name="T3" fmla="*/ 0 h 289"/>
                <a:gd name="T4" fmla="*/ 142 w 143"/>
                <a:gd name="T5" fmla="*/ 288 h 289"/>
                <a:gd name="T6" fmla="*/ 0 w 143"/>
                <a:gd name="T7" fmla="*/ 288 h 28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3" h="289">
                  <a:moveTo>
                    <a:pt x="0" y="0"/>
                  </a:moveTo>
                  <a:lnTo>
                    <a:pt x="142" y="0"/>
                  </a:lnTo>
                  <a:lnTo>
                    <a:pt x="142" y="288"/>
                  </a:lnTo>
                  <a:lnTo>
                    <a:pt x="0" y="288"/>
                  </a:lnTo>
                </a:path>
              </a:pathLst>
            </a:custGeom>
            <a:noFill/>
            <a:ln w="25400" cap="rnd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600" dirty="0">
                <a:ea typeface="SimHei" panose="02010609060101010101" pitchFamily="49" charset="-122"/>
              </a:endParaRPr>
            </a:p>
          </p:txBody>
        </p:sp>
        <p:sp>
          <p:nvSpPr>
            <p:cNvPr id="55" name="Line 87">
              <a:extLst>
                <a:ext uri="{FF2B5EF4-FFF2-40B4-BE49-F238E27FC236}">
                  <a16:creationId xmlns:a16="http://schemas.microsoft.com/office/drawing/2014/main" id="{A299F33D-117A-53DD-7E0A-144B7EC0992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693527" y="5618128"/>
              <a:ext cx="349463" cy="0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600" dirty="0">
                <a:ea typeface="SimHei" panose="02010609060101010101" pitchFamily="49" charset="-122"/>
              </a:endParaRPr>
            </a:p>
          </p:txBody>
        </p:sp>
        <p:sp>
          <p:nvSpPr>
            <p:cNvPr id="56" name="Line 88">
              <a:extLst>
                <a:ext uri="{FF2B5EF4-FFF2-40B4-BE49-F238E27FC236}">
                  <a16:creationId xmlns:a16="http://schemas.microsoft.com/office/drawing/2014/main" id="{80B5E34D-3C7F-B25C-80E0-2F677D76ADE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476693" y="5618128"/>
              <a:ext cx="389689" cy="0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600" dirty="0">
                <a:ea typeface="SimHei" panose="02010609060101010101" pitchFamily="49" charset="-122"/>
              </a:endParaRPr>
            </a:p>
          </p:txBody>
        </p:sp>
        <p:sp>
          <p:nvSpPr>
            <p:cNvPr id="57" name="Line 89">
              <a:extLst>
                <a:ext uri="{FF2B5EF4-FFF2-40B4-BE49-F238E27FC236}">
                  <a16:creationId xmlns:a16="http://schemas.microsoft.com/office/drawing/2014/main" id="{E1FF8C08-16C3-FA41-17C9-3690D28A949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508757" y="5839801"/>
              <a:ext cx="394717" cy="0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dirty="0">
                <a:ea typeface="SimHei" panose="02010609060101010101" pitchFamily="49" charset="-122"/>
              </a:endParaRPr>
            </a:p>
          </p:txBody>
        </p:sp>
        <p:sp>
          <p:nvSpPr>
            <p:cNvPr id="58" name="Line 90">
              <a:extLst>
                <a:ext uri="{FF2B5EF4-FFF2-40B4-BE49-F238E27FC236}">
                  <a16:creationId xmlns:a16="http://schemas.microsoft.com/office/drawing/2014/main" id="{6AFDFC8F-552C-A924-6A56-C8EE4A90767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719943" y="5839801"/>
              <a:ext cx="0" cy="443345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dirty="0">
                <a:ea typeface="SimHei" panose="02010609060101010101" pitchFamily="49" charset="-122"/>
              </a:endParaRPr>
            </a:p>
          </p:txBody>
        </p:sp>
        <p:sp>
          <p:nvSpPr>
            <p:cNvPr id="59" name="Line 91">
              <a:extLst>
                <a:ext uri="{FF2B5EF4-FFF2-40B4-BE49-F238E27FC236}">
                  <a16:creationId xmlns:a16="http://schemas.microsoft.com/office/drawing/2014/main" id="{B1761FC4-DE1D-EC83-EF49-94D0F5DD01B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719943" y="6283146"/>
              <a:ext cx="844744" cy="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600" dirty="0">
                <a:ea typeface="SimHei" panose="02010609060101010101" pitchFamily="49" charset="-122"/>
              </a:endParaRPr>
            </a:p>
          </p:txBody>
        </p:sp>
        <p:sp>
          <p:nvSpPr>
            <p:cNvPr id="60" name="Line 92">
              <a:extLst>
                <a:ext uri="{FF2B5EF4-FFF2-40B4-BE49-F238E27FC236}">
                  <a16:creationId xmlns:a16="http://schemas.microsoft.com/office/drawing/2014/main" id="{D483CD1E-441F-EC6A-A8BA-C592B4F7FC7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564687" y="5618128"/>
              <a:ext cx="0" cy="665018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600" dirty="0">
                <a:ea typeface="SimHei" panose="02010609060101010101" pitchFamily="49" charset="-122"/>
              </a:endParaRPr>
            </a:p>
          </p:txBody>
        </p:sp>
        <p:sp>
          <p:nvSpPr>
            <p:cNvPr id="61" name="Line 93">
              <a:extLst>
                <a:ext uri="{FF2B5EF4-FFF2-40B4-BE49-F238E27FC236}">
                  <a16:creationId xmlns:a16="http://schemas.microsoft.com/office/drawing/2014/main" id="{5D9F8AB9-D2F5-4C5A-CF7A-99C90659C08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765817" y="5618128"/>
              <a:ext cx="0" cy="554182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600" dirty="0">
                <a:ea typeface="SimHei" panose="02010609060101010101" pitchFamily="49" charset="-122"/>
              </a:endParaRPr>
            </a:p>
          </p:txBody>
        </p:sp>
        <p:sp>
          <p:nvSpPr>
            <p:cNvPr id="62" name="Line 94">
              <a:extLst>
                <a:ext uri="{FF2B5EF4-FFF2-40B4-BE49-F238E27FC236}">
                  <a16:creationId xmlns:a16="http://schemas.microsoft.com/office/drawing/2014/main" id="{A348AF99-823C-7803-01AA-2FB97992A61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765817" y="6172310"/>
              <a:ext cx="1086100" cy="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600" dirty="0">
                <a:ea typeface="SimHei" panose="02010609060101010101" pitchFamily="49" charset="-122"/>
              </a:endParaRPr>
            </a:p>
          </p:txBody>
        </p:sp>
        <p:sp>
          <p:nvSpPr>
            <p:cNvPr id="63" name="Line 95">
              <a:extLst>
                <a:ext uri="{FF2B5EF4-FFF2-40B4-BE49-F238E27FC236}">
                  <a16:creationId xmlns:a16="http://schemas.microsoft.com/office/drawing/2014/main" id="{989EE2C9-D2F1-1F52-F3AB-54B0F3CF09E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851916" y="5618128"/>
              <a:ext cx="0" cy="554182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600" dirty="0">
                <a:ea typeface="SimHei" panose="02010609060101010101" pitchFamily="49" charset="-122"/>
              </a:endParaRPr>
            </a:p>
          </p:txBody>
        </p:sp>
        <p:sp>
          <p:nvSpPr>
            <p:cNvPr id="64" name="Line 126">
              <a:extLst>
                <a:ext uri="{FF2B5EF4-FFF2-40B4-BE49-F238E27FC236}">
                  <a16:creationId xmlns:a16="http://schemas.microsoft.com/office/drawing/2014/main" id="{7E1111B1-A6AC-BD10-556E-4D34F0790A8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668912" y="3317696"/>
              <a:ext cx="0" cy="2951163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prstDash val="sysDot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600" dirty="0">
                <a:ea typeface="SimHei" panose="02010609060101010101" pitchFamily="49" charset="-122"/>
              </a:endParaRPr>
            </a:p>
          </p:txBody>
        </p:sp>
        <p:sp>
          <p:nvSpPr>
            <p:cNvPr id="65" name="Line 129">
              <a:extLst>
                <a:ext uri="{FF2B5EF4-FFF2-40B4-BE49-F238E27FC236}">
                  <a16:creationId xmlns:a16="http://schemas.microsoft.com/office/drawing/2014/main" id="{D4D57E96-ED8E-197F-480B-E859476827D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576712" y="3317696"/>
              <a:ext cx="0" cy="2951163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prstDash val="sysDot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600" dirty="0">
                <a:ea typeface="SimHei" panose="02010609060101010101" pitchFamily="49" charset="-122"/>
              </a:endParaRPr>
            </a:p>
          </p:txBody>
        </p:sp>
        <p:sp>
          <p:nvSpPr>
            <p:cNvPr id="66" name="Line 131">
              <a:extLst>
                <a:ext uri="{FF2B5EF4-FFF2-40B4-BE49-F238E27FC236}">
                  <a16:creationId xmlns:a16="http://schemas.microsoft.com/office/drawing/2014/main" id="{7EADB07E-81B0-1F8D-E822-65805C5635D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527375" y="3276421"/>
              <a:ext cx="0" cy="2951163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prstDash val="sysDot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600" dirty="0">
                <a:ea typeface="SimHei" panose="02010609060101010101" pitchFamily="49" charset="-122"/>
              </a:endParaRPr>
            </a:p>
          </p:txBody>
        </p:sp>
        <p:sp>
          <p:nvSpPr>
            <p:cNvPr id="67" name="Line 133">
              <a:extLst>
                <a:ext uri="{FF2B5EF4-FFF2-40B4-BE49-F238E27FC236}">
                  <a16:creationId xmlns:a16="http://schemas.microsoft.com/office/drawing/2014/main" id="{B6A6FEC7-DF55-1402-4C6F-A650953E36A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12950" y="3276421"/>
              <a:ext cx="0" cy="2951163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prstDash val="sysDot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600" dirty="0">
                <a:ea typeface="SimHei" panose="02010609060101010101" pitchFamily="49" charset="-122"/>
              </a:endParaRPr>
            </a:p>
          </p:txBody>
        </p:sp>
        <p:sp>
          <p:nvSpPr>
            <p:cNvPr id="68" name="Line 135">
              <a:extLst>
                <a:ext uri="{FF2B5EF4-FFF2-40B4-BE49-F238E27FC236}">
                  <a16:creationId xmlns:a16="http://schemas.microsoft.com/office/drawing/2014/main" id="{48010F79-E9AC-BC6D-2D46-91F6441D2EB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300112" y="3235146"/>
              <a:ext cx="0" cy="2951163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prstDash val="sysDot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600" dirty="0">
                <a:ea typeface="SimHei" panose="02010609060101010101" pitchFamily="49" charset="-122"/>
              </a:endParaRPr>
            </a:p>
          </p:txBody>
        </p:sp>
        <p:sp>
          <p:nvSpPr>
            <p:cNvPr id="69" name="Line 141">
              <a:extLst>
                <a:ext uri="{FF2B5EF4-FFF2-40B4-BE49-F238E27FC236}">
                  <a16:creationId xmlns:a16="http://schemas.microsoft.com/office/drawing/2014/main" id="{7021ACCA-2BA4-935C-1F63-D0A7A78ED8E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786512" y="3311346"/>
              <a:ext cx="0" cy="2951163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prstDash val="sysDot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600" dirty="0">
                <a:ea typeface="SimHei" panose="02010609060101010101" pitchFamily="49" charset="-122"/>
              </a:endParaRPr>
            </a:p>
          </p:txBody>
        </p:sp>
      </p:grpSp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71" name="墨迹 70">
                <a:extLst>
                  <a:ext uri="{FF2B5EF4-FFF2-40B4-BE49-F238E27FC236}">
                    <a16:creationId xmlns:a16="http://schemas.microsoft.com/office/drawing/2014/main" id="{6381DFB5-7F48-8FE8-2411-D8701DD8FA99}"/>
                  </a:ext>
                </a:extLst>
              </p14:cNvPr>
              <p14:cNvContentPartPr/>
              <p14:nvPr/>
            </p14:nvContentPartPr>
            <p14:xfrm>
              <a:off x="2093040" y="4439880"/>
              <a:ext cx="199800" cy="420120"/>
            </p14:xfrm>
          </p:contentPart>
        </mc:Choice>
        <mc:Fallback xmlns="">
          <p:pic>
            <p:nvPicPr>
              <p:cNvPr id="71" name="墨迹 70">
                <a:extLst>
                  <a:ext uri="{FF2B5EF4-FFF2-40B4-BE49-F238E27FC236}">
                    <a16:creationId xmlns:a16="http://schemas.microsoft.com/office/drawing/2014/main" id="{6381DFB5-7F48-8FE8-2411-D8701DD8FA99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083680" y="4430520"/>
                <a:ext cx="218520" cy="438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">
            <p14:nvContentPartPr>
              <p14:cNvPr id="72" name="墨迹 71">
                <a:extLst>
                  <a:ext uri="{FF2B5EF4-FFF2-40B4-BE49-F238E27FC236}">
                    <a16:creationId xmlns:a16="http://schemas.microsoft.com/office/drawing/2014/main" id="{F5D54435-96EF-9B97-7713-3AE377CE2F6B}"/>
                  </a:ext>
                </a:extLst>
              </p14:cNvPr>
              <p14:cNvContentPartPr/>
              <p14:nvPr/>
            </p14:nvContentPartPr>
            <p14:xfrm>
              <a:off x="2643480" y="757800"/>
              <a:ext cx="5902920" cy="5284440"/>
            </p14:xfrm>
          </p:contentPart>
        </mc:Choice>
        <mc:Fallback xmlns="">
          <p:pic>
            <p:nvPicPr>
              <p:cNvPr id="72" name="墨迹 71">
                <a:extLst>
                  <a:ext uri="{FF2B5EF4-FFF2-40B4-BE49-F238E27FC236}">
                    <a16:creationId xmlns:a16="http://schemas.microsoft.com/office/drawing/2014/main" id="{F5D54435-96EF-9B97-7713-3AE377CE2F6B}"/>
                  </a:ext>
                </a:extLst>
              </p:cNvPr>
              <p:cNvPicPr/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2634120" y="748440"/>
                <a:ext cx="5921640" cy="530316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2996450783"/>
      </p:ext>
    </p:extLst>
  </p:cSld>
  <p:clrMapOvr>
    <a:masterClrMapping/>
  </p:clrMapOvr>
</p:sld>
</file>

<file path=ppt/slides/slide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>
            <a:extLst>
              <a:ext uri="{FF2B5EF4-FFF2-40B4-BE49-F238E27FC236}">
                <a16:creationId xmlns:a16="http://schemas.microsoft.com/office/drawing/2014/main" id="{B1D5FBE5-8E53-496D-B9D5-C5CA6ABFC8A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dirty="0"/>
              <a:t>动态分支预测</a:t>
            </a:r>
            <a:endParaRPr lang="en-US" altLang="zh-CN" dirty="0"/>
          </a:p>
        </p:txBody>
      </p:sp>
      <p:sp>
        <p:nvSpPr>
          <p:cNvPr id="3" name="内容占位符 2">
            <a:extLst>
              <a:ext uri="{FF2B5EF4-FFF2-40B4-BE49-F238E27FC236}">
                <a16:creationId xmlns:a16="http://schemas.microsoft.com/office/drawing/2014/main" id="{072F946B-82F9-4560-AAC5-F9880183B0A7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457200" y="1166020"/>
            <a:ext cx="8589264" cy="4525963"/>
          </a:xfrm>
        </p:spPr>
        <p:txBody>
          <a:bodyPr/>
          <a:lstStyle/>
          <a:p>
            <a:r>
              <a:rPr lang="zh-CN" altLang="en-US" dirty="0"/>
              <a:t>动态分支预测流程：</a:t>
            </a:r>
            <a:r>
              <a:rPr lang="en-US" altLang="zh-CN" dirty="0"/>
              <a:t>Clock 1</a:t>
            </a:r>
          </a:p>
          <a:p>
            <a:pPr lvl="1"/>
            <a:r>
              <a:rPr lang="en-US" altLang="zh-CN" dirty="0" err="1"/>
              <a:t>beq</a:t>
            </a:r>
            <a:r>
              <a:rPr lang="zh-CN" altLang="en-US" dirty="0"/>
              <a:t>指令的</a:t>
            </a:r>
            <a:r>
              <a:rPr lang="en-US" altLang="zh-CN" dirty="0"/>
              <a:t>IF</a:t>
            </a:r>
            <a:r>
              <a:rPr lang="zh-CN" altLang="en-US" dirty="0"/>
              <a:t>阶段</a:t>
            </a:r>
          </a:p>
          <a:p>
            <a:pPr lvl="2">
              <a:spcBef>
                <a:spcPts val="0"/>
              </a:spcBef>
            </a:pPr>
            <a:r>
              <a:rPr lang="zh-CN" altLang="en-US" dirty="0"/>
              <a:t>查询指令地址是否在</a:t>
            </a:r>
            <a:r>
              <a:rPr lang="en-US" altLang="zh-CN" dirty="0"/>
              <a:t>BHT</a:t>
            </a:r>
            <a:r>
              <a:rPr lang="zh-CN" altLang="en-US" dirty="0"/>
              <a:t>和</a:t>
            </a:r>
            <a:r>
              <a:rPr lang="en-US" altLang="zh-CN" dirty="0"/>
              <a:t>BTB</a:t>
            </a:r>
            <a:r>
              <a:rPr lang="zh-CN" altLang="en-US" dirty="0"/>
              <a:t>中</a:t>
            </a:r>
          </a:p>
          <a:p>
            <a:pPr lvl="2">
              <a:spcBef>
                <a:spcPts val="0"/>
              </a:spcBef>
            </a:pPr>
            <a:r>
              <a:rPr lang="zh-CN" altLang="en-US" dirty="0"/>
              <a:t>若存在，</a:t>
            </a:r>
            <a:r>
              <a:rPr lang="zh-CN" altLang="en-US" dirty="0">
                <a:solidFill>
                  <a:srgbClr val="3333FF"/>
                </a:solidFill>
              </a:rPr>
              <a:t>根据历史记录判断是否跳转</a:t>
            </a:r>
            <a:r>
              <a:rPr lang="zh-CN" altLang="en-US" dirty="0"/>
              <a:t>：若跳转，取出目标地址作为下一条指令的</a:t>
            </a:r>
            <a:r>
              <a:rPr lang="en-US" altLang="zh-CN" dirty="0"/>
              <a:t>IF</a:t>
            </a:r>
            <a:r>
              <a:rPr lang="zh-CN" altLang="en-US" dirty="0"/>
              <a:t>地址</a:t>
            </a:r>
            <a:endParaRPr lang="en-US" altLang="zh-CN" dirty="0"/>
          </a:p>
          <a:p>
            <a:pPr lvl="2">
              <a:spcBef>
                <a:spcPts val="0"/>
              </a:spcBef>
            </a:pPr>
            <a:r>
              <a:rPr lang="zh-CN" altLang="en-US" dirty="0"/>
              <a:t>若不存在，建立新的条目</a:t>
            </a:r>
          </a:p>
        </p:txBody>
      </p:sp>
      <p:sp>
        <p:nvSpPr>
          <p:cNvPr id="4" name="灯片编号占位符 3">
            <a:extLst>
              <a:ext uri="{FF2B5EF4-FFF2-40B4-BE49-F238E27FC236}">
                <a16:creationId xmlns:a16="http://schemas.microsoft.com/office/drawing/2014/main" id="{DA785B70-6C58-46BC-97DF-A98B3B27C74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1806CE5-282B-4233-8654-09F35EA875E2}" type="slidenum">
              <a:rPr lang="zh-CN" altLang="en-US" smtClean="0"/>
              <a:t>51</a:t>
            </a:fld>
            <a:endParaRPr lang="zh-CN" altLang="en-US"/>
          </a:p>
        </p:txBody>
      </p:sp>
      <p:sp>
        <p:nvSpPr>
          <p:cNvPr id="315" name="Line 84">
            <a:extLst>
              <a:ext uri="{FF2B5EF4-FFF2-40B4-BE49-F238E27FC236}">
                <a16:creationId xmlns:a16="http://schemas.microsoft.com/office/drawing/2014/main" id="{56CA92CB-26DE-4B59-9DF5-9504FC597EBC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867715" y="3351305"/>
            <a:ext cx="0" cy="484961"/>
          </a:xfrm>
          <a:prstGeom prst="line">
            <a:avLst/>
          </a:prstGeom>
          <a:noFill/>
          <a:ln w="38100">
            <a:solidFill>
              <a:srgbClr val="0432FF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grpSp>
        <p:nvGrpSpPr>
          <p:cNvPr id="5" name="组合 4">
            <a:extLst>
              <a:ext uri="{FF2B5EF4-FFF2-40B4-BE49-F238E27FC236}">
                <a16:creationId xmlns:a16="http://schemas.microsoft.com/office/drawing/2014/main" id="{97E01AE7-21A4-4302-AC63-62E10834741F}"/>
              </a:ext>
            </a:extLst>
          </p:cNvPr>
          <p:cNvGrpSpPr/>
          <p:nvPr/>
        </p:nvGrpSpPr>
        <p:grpSpPr>
          <a:xfrm>
            <a:off x="364950" y="3492415"/>
            <a:ext cx="8416347" cy="3109912"/>
            <a:chOff x="364950" y="3214509"/>
            <a:chExt cx="8416347" cy="3109912"/>
          </a:xfrm>
        </p:grpSpPr>
        <p:sp>
          <p:nvSpPr>
            <p:cNvPr id="6" name="Rectangle 25">
              <a:extLst>
                <a:ext uri="{FF2B5EF4-FFF2-40B4-BE49-F238E27FC236}">
                  <a16:creationId xmlns:a16="http://schemas.microsoft.com/office/drawing/2014/main" id="{1C86DA80-0326-6B91-C3D3-B5B9BEC135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4950" y="3214509"/>
              <a:ext cx="360362" cy="31099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73" tIns="44442" rIns="90473" bIns="44442">
              <a:spAutoFit/>
            </a:bodyPr>
            <a:lstStyle/>
            <a:p>
              <a:pPr algn="ctr" eaLnBrk="0" hangingPunct="0"/>
              <a:r>
                <a:rPr lang="en-US" altLang="zh-CN" i="1" dirty="0">
                  <a:latin typeface="Arial" pitchFamily="34" charset="0"/>
                  <a:ea typeface="SimHei" panose="02010609060101010101" pitchFamily="49" charset="-122"/>
                </a:rPr>
                <a:t>I</a:t>
              </a:r>
            </a:p>
            <a:p>
              <a:pPr algn="ctr" eaLnBrk="0" hangingPunct="0"/>
              <a:r>
                <a:rPr lang="en-US" altLang="zh-CN" i="1" dirty="0">
                  <a:latin typeface="Arial" pitchFamily="34" charset="0"/>
                  <a:ea typeface="SimHei" panose="02010609060101010101" pitchFamily="49" charset="-122"/>
                </a:rPr>
                <a:t>n</a:t>
              </a:r>
            </a:p>
            <a:p>
              <a:pPr algn="ctr" eaLnBrk="0" hangingPunct="0"/>
              <a:r>
                <a:rPr lang="en-US" altLang="zh-CN" i="1" dirty="0">
                  <a:latin typeface="Arial" pitchFamily="34" charset="0"/>
                  <a:ea typeface="SimHei" panose="02010609060101010101" pitchFamily="49" charset="-122"/>
                </a:rPr>
                <a:t>s</a:t>
              </a:r>
            </a:p>
            <a:p>
              <a:pPr algn="ctr" eaLnBrk="0" hangingPunct="0"/>
              <a:r>
                <a:rPr lang="en-US" altLang="zh-CN" i="1" dirty="0">
                  <a:latin typeface="Arial" pitchFamily="34" charset="0"/>
                  <a:ea typeface="SimHei" panose="02010609060101010101" pitchFamily="49" charset="-122"/>
                </a:rPr>
                <a:t>t</a:t>
              </a:r>
            </a:p>
            <a:p>
              <a:pPr algn="ctr" eaLnBrk="0" hangingPunct="0"/>
              <a:r>
                <a:rPr lang="en-US" altLang="zh-CN" i="1" dirty="0">
                  <a:latin typeface="Arial" pitchFamily="34" charset="0"/>
                  <a:ea typeface="SimHei" panose="02010609060101010101" pitchFamily="49" charset="-122"/>
                </a:rPr>
                <a:t>r.</a:t>
              </a:r>
            </a:p>
            <a:p>
              <a:pPr algn="ctr" eaLnBrk="0" hangingPunct="0"/>
              <a:endParaRPr lang="en-US" altLang="zh-CN" i="1" dirty="0">
                <a:latin typeface="Arial" pitchFamily="34" charset="0"/>
                <a:ea typeface="SimHei" panose="02010609060101010101" pitchFamily="49" charset="-122"/>
              </a:endParaRPr>
            </a:p>
            <a:p>
              <a:pPr algn="ctr" eaLnBrk="0" hangingPunct="0"/>
              <a:r>
                <a:rPr lang="en-US" altLang="zh-CN" i="1" dirty="0">
                  <a:latin typeface="Arial" pitchFamily="34" charset="0"/>
                  <a:ea typeface="SimHei" panose="02010609060101010101" pitchFamily="49" charset="-122"/>
                </a:rPr>
                <a:t>O</a:t>
              </a:r>
            </a:p>
            <a:p>
              <a:pPr algn="ctr" eaLnBrk="0" hangingPunct="0"/>
              <a:r>
                <a:rPr lang="en-US" altLang="zh-CN" i="1" dirty="0">
                  <a:latin typeface="Arial" pitchFamily="34" charset="0"/>
                  <a:ea typeface="SimHei" panose="02010609060101010101" pitchFamily="49" charset="-122"/>
                </a:rPr>
                <a:t>r</a:t>
              </a:r>
            </a:p>
            <a:p>
              <a:pPr algn="ctr" eaLnBrk="0" hangingPunct="0"/>
              <a:r>
                <a:rPr lang="en-US" altLang="zh-CN" i="1" dirty="0">
                  <a:latin typeface="Arial" pitchFamily="34" charset="0"/>
                  <a:ea typeface="SimHei" panose="02010609060101010101" pitchFamily="49" charset="-122"/>
                </a:rPr>
                <a:t>d</a:t>
              </a:r>
            </a:p>
            <a:p>
              <a:pPr algn="ctr" eaLnBrk="0" hangingPunct="0"/>
              <a:r>
                <a:rPr lang="en-US" altLang="zh-CN" i="1" dirty="0">
                  <a:latin typeface="Arial" pitchFamily="34" charset="0"/>
                  <a:ea typeface="SimHei" panose="02010609060101010101" pitchFamily="49" charset="-122"/>
                </a:rPr>
                <a:t>e</a:t>
              </a:r>
            </a:p>
            <a:p>
              <a:pPr algn="ctr" eaLnBrk="0" hangingPunct="0"/>
              <a:r>
                <a:rPr lang="en-US" altLang="zh-CN" i="1" dirty="0">
                  <a:latin typeface="Arial" pitchFamily="34" charset="0"/>
                  <a:ea typeface="SimHei" panose="02010609060101010101" pitchFamily="49" charset="-122"/>
                </a:rPr>
                <a:t>r</a:t>
              </a:r>
            </a:p>
          </p:txBody>
        </p:sp>
        <p:sp>
          <p:nvSpPr>
            <p:cNvPr id="7" name="Line 26">
              <a:extLst>
                <a:ext uri="{FF2B5EF4-FFF2-40B4-BE49-F238E27FC236}">
                  <a16:creationId xmlns:a16="http://schemas.microsoft.com/office/drawing/2014/main" id="{1C47A731-6756-7F25-6DCE-14C29A2E9E0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309512" y="3235146"/>
              <a:ext cx="6907213" cy="3175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8" name="Rectangle 27">
              <a:extLst>
                <a:ext uri="{FF2B5EF4-FFF2-40B4-BE49-F238E27FC236}">
                  <a16:creationId xmlns:a16="http://schemas.microsoft.com/office/drawing/2014/main" id="{0305207F-BD51-8904-5E03-06EC8296B3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03100" y="3686314"/>
              <a:ext cx="697277" cy="45908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73" tIns="44442" rIns="90473" bIns="44442">
              <a:spAutoFit/>
            </a:bodyPr>
            <a:lstStyle/>
            <a:p>
              <a:pPr eaLnBrk="0" hangingPunct="0"/>
              <a:r>
                <a:rPr lang="en-US" altLang="zh-CN" sz="2400" dirty="0" err="1">
                  <a:solidFill>
                    <a:schemeClr val="accent1"/>
                  </a:solidFill>
                  <a:latin typeface="Arial" pitchFamily="34" charset="0"/>
                  <a:ea typeface="SimHei" panose="02010609060101010101" pitchFamily="49" charset="-122"/>
                </a:rPr>
                <a:t>beq</a:t>
              </a:r>
              <a:endParaRPr lang="en-US" altLang="zh-CN" sz="2400" dirty="0">
                <a:solidFill>
                  <a:schemeClr val="accent1"/>
                </a:solidFill>
                <a:latin typeface="Arial" pitchFamily="34" charset="0"/>
                <a:ea typeface="SimHei" panose="02010609060101010101" pitchFamily="49" charset="-122"/>
              </a:endParaRPr>
            </a:p>
          </p:txBody>
        </p:sp>
        <p:sp>
          <p:nvSpPr>
            <p:cNvPr id="9" name="Line 28">
              <a:extLst>
                <a:ext uri="{FF2B5EF4-FFF2-40B4-BE49-F238E27FC236}">
                  <a16:creationId xmlns:a16="http://schemas.microsoft.com/office/drawing/2014/main" id="{4B52D4B1-6392-46A7-1AF3-AF14B4514D4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90387" y="3401834"/>
              <a:ext cx="0" cy="2784475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10" name="Freeform 31">
              <a:extLst>
                <a:ext uri="{FF2B5EF4-FFF2-40B4-BE49-F238E27FC236}">
                  <a16:creationId xmlns:a16="http://schemas.microsoft.com/office/drawing/2014/main" id="{77EFE87D-0AA9-BD41-B0AA-131906D2B27E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8818" y="3311346"/>
              <a:ext cx="539445" cy="1249507"/>
            </a:xfrm>
            <a:custGeom>
              <a:avLst/>
              <a:gdLst>
                <a:gd name="T0" fmla="*/ 0 w 213"/>
                <a:gd name="T1" fmla="*/ 320 h 481"/>
                <a:gd name="T2" fmla="*/ 71 w 213"/>
                <a:gd name="T3" fmla="*/ 240 h 481"/>
                <a:gd name="T4" fmla="*/ 0 w 213"/>
                <a:gd name="T5" fmla="*/ 160 h 481"/>
                <a:gd name="T6" fmla="*/ 0 w 213"/>
                <a:gd name="T7" fmla="*/ 0 h 481"/>
                <a:gd name="T8" fmla="*/ 212 w 213"/>
                <a:gd name="T9" fmla="*/ 160 h 481"/>
                <a:gd name="T10" fmla="*/ 212 w 213"/>
                <a:gd name="T11" fmla="*/ 320 h 481"/>
                <a:gd name="T12" fmla="*/ 0 w 213"/>
                <a:gd name="T13" fmla="*/ 480 h 481"/>
                <a:gd name="T14" fmla="*/ 0 w 213"/>
                <a:gd name="T15" fmla="*/ 320 h 48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13" h="481">
                  <a:moveTo>
                    <a:pt x="0" y="320"/>
                  </a:moveTo>
                  <a:lnTo>
                    <a:pt x="71" y="240"/>
                  </a:lnTo>
                  <a:lnTo>
                    <a:pt x="0" y="160"/>
                  </a:lnTo>
                  <a:lnTo>
                    <a:pt x="0" y="0"/>
                  </a:lnTo>
                  <a:lnTo>
                    <a:pt x="212" y="160"/>
                  </a:lnTo>
                  <a:lnTo>
                    <a:pt x="212" y="320"/>
                  </a:lnTo>
                  <a:lnTo>
                    <a:pt x="0" y="480"/>
                  </a:lnTo>
                  <a:lnTo>
                    <a:pt x="0" y="320"/>
                  </a:lnTo>
                </a:path>
              </a:pathLst>
            </a:custGeom>
            <a:noFill/>
            <a:ln w="25400" cap="rnd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11" name="Rectangle 32">
              <a:extLst>
                <a:ext uri="{FF2B5EF4-FFF2-40B4-BE49-F238E27FC236}">
                  <a16:creationId xmlns:a16="http://schemas.microsoft.com/office/drawing/2014/main" id="{74A12598-BC41-4086-4916-F576411AEE31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4778904" y="3708760"/>
              <a:ext cx="682850" cy="39752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73" tIns="44442" rIns="90473" bIns="44442">
              <a:spAutoFit/>
            </a:bodyPr>
            <a:lstStyle/>
            <a:p>
              <a:pPr eaLnBrk="0" hangingPunct="0"/>
              <a:r>
                <a:rPr lang="en-US" altLang="zh-CN" sz="2000" dirty="0">
                  <a:latin typeface="Arial" pitchFamily="34" charset="0"/>
                  <a:ea typeface="SimHei" panose="02010609060101010101" pitchFamily="49" charset="-122"/>
                </a:rPr>
                <a:t>ALU</a:t>
              </a:r>
            </a:p>
          </p:txBody>
        </p:sp>
        <p:sp>
          <p:nvSpPr>
            <p:cNvPr id="12" name="Rectangle 34">
              <a:extLst>
                <a:ext uri="{FF2B5EF4-FFF2-40B4-BE49-F238E27FC236}">
                  <a16:creationId xmlns:a16="http://schemas.microsoft.com/office/drawing/2014/main" id="{FAEFF53F-22EC-F266-40C9-D0B89F47851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67662" y="3708163"/>
              <a:ext cx="466445" cy="39752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73" tIns="44442" rIns="90473" bIns="44442">
              <a:spAutoFit/>
            </a:bodyPr>
            <a:lstStyle/>
            <a:p>
              <a:pPr algn="ctr" eaLnBrk="0" hangingPunct="0"/>
              <a:r>
                <a:rPr lang="en-US" altLang="zh-CN" sz="2000" dirty="0">
                  <a:latin typeface="Arial" pitchFamily="34" charset="0"/>
                  <a:ea typeface="SimHei" panose="02010609060101010101" pitchFamily="49" charset="-122"/>
                </a:rPr>
                <a:t>IM</a:t>
              </a:r>
            </a:p>
          </p:txBody>
        </p:sp>
        <p:grpSp>
          <p:nvGrpSpPr>
            <p:cNvPr id="13" name="Group 35">
              <a:extLst>
                <a:ext uri="{FF2B5EF4-FFF2-40B4-BE49-F238E27FC236}">
                  <a16:creationId xmlns:a16="http://schemas.microsoft.com/office/drawing/2014/main" id="{D8F7DF32-78AF-BB31-BB5E-30E75D8D575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463625" y="3560728"/>
              <a:ext cx="861086" cy="750743"/>
              <a:chOff x="1291" y="1509"/>
              <a:chExt cx="340" cy="289"/>
            </a:xfrm>
          </p:grpSpPr>
          <p:sp>
            <p:nvSpPr>
              <p:cNvPr id="197" name="Freeform 36">
                <a:extLst>
                  <a:ext uri="{FF2B5EF4-FFF2-40B4-BE49-F238E27FC236}">
                    <a16:creationId xmlns:a16="http://schemas.microsoft.com/office/drawing/2014/main" id="{63F576B0-BDCF-FE6D-4AD4-2AF9462C01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1" y="1509"/>
                <a:ext cx="170" cy="289"/>
              </a:xfrm>
              <a:custGeom>
                <a:avLst/>
                <a:gdLst>
                  <a:gd name="T0" fmla="*/ 169 w 170"/>
                  <a:gd name="T1" fmla="*/ 0 h 289"/>
                  <a:gd name="T2" fmla="*/ 0 w 170"/>
                  <a:gd name="T3" fmla="*/ 0 h 289"/>
                  <a:gd name="T4" fmla="*/ 0 w 170"/>
                  <a:gd name="T5" fmla="*/ 288 h 289"/>
                  <a:gd name="T6" fmla="*/ 169 w 170"/>
                  <a:gd name="T7" fmla="*/ 288 h 28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0" h="289">
                    <a:moveTo>
                      <a:pt x="169" y="0"/>
                    </a:moveTo>
                    <a:lnTo>
                      <a:pt x="0" y="0"/>
                    </a:lnTo>
                    <a:lnTo>
                      <a:pt x="0" y="288"/>
                    </a:lnTo>
                    <a:lnTo>
                      <a:pt x="169" y="288"/>
                    </a:lnTo>
                  </a:path>
                </a:pathLst>
              </a:custGeom>
              <a:noFill/>
              <a:ln w="25400" cap="rnd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dirty="0">
                  <a:ea typeface="SimHei" panose="02010609060101010101" pitchFamily="49" charset="-122"/>
                </a:endParaRPr>
              </a:p>
            </p:txBody>
          </p:sp>
          <p:sp>
            <p:nvSpPr>
              <p:cNvPr id="198" name="Freeform 37">
                <a:extLst>
                  <a:ext uri="{FF2B5EF4-FFF2-40B4-BE49-F238E27FC236}">
                    <a16:creationId xmlns:a16="http://schemas.microsoft.com/office/drawing/2014/main" id="{4E8D55FD-ABFD-EB27-5A03-59A38EB7E1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0" y="1509"/>
                <a:ext cx="171" cy="289"/>
              </a:xfrm>
              <a:custGeom>
                <a:avLst/>
                <a:gdLst>
                  <a:gd name="T0" fmla="*/ 0 w 171"/>
                  <a:gd name="T1" fmla="*/ 0 h 289"/>
                  <a:gd name="T2" fmla="*/ 170 w 171"/>
                  <a:gd name="T3" fmla="*/ 0 h 289"/>
                  <a:gd name="T4" fmla="*/ 170 w 171"/>
                  <a:gd name="T5" fmla="*/ 288 h 289"/>
                  <a:gd name="T6" fmla="*/ 0 w 171"/>
                  <a:gd name="T7" fmla="*/ 288 h 28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1" h="289">
                    <a:moveTo>
                      <a:pt x="0" y="0"/>
                    </a:moveTo>
                    <a:lnTo>
                      <a:pt x="170" y="0"/>
                    </a:lnTo>
                    <a:lnTo>
                      <a:pt x="170" y="288"/>
                    </a:lnTo>
                    <a:lnTo>
                      <a:pt x="0" y="288"/>
                    </a:lnTo>
                  </a:path>
                </a:pathLst>
              </a:custGeom>
              <a:noFill/>
              <a:ln w="25400" cap="rnd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dirty="0">
                  <a:ea typeface="SimHei" panose="02010609060101010101" pitchFamily="49" charset="-122"/>
                </a:endParaRPr>
              </a:p>
            </p:txBody>
          </p:sp>
        </p:grpSp>
        <p:sp>
          <p:nvSpPr>
            <p:cNvPr id="14" name="Rectangle 38">
              <a:extLst>
                <a:ext uri="{FF2B5EF4-FFF2-40B4-BE49-F238E27FC236}">
                  <a16:creationId xmlns:a16="http://schemas.microsoft.com/office/drawing/2014/main" id="{57BA7420-A3C6-F236-BF11-CC85108C7F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5117" y="3721152"/>
              <a:ext cx="653996" cy="39752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73" tIns="44442" rIns="90473" bIns="44442">
              <a:spAutoFit/>
            </a:bodyPr>
            <a:lstStyle/>
            <a:p>
              <a:pPr eaLnBrk="0" hangingPunct="0"/>
              <a:r>
                <a:rPr lang="en-US" altLang="zh-CN" sz="2000" dirty="0">
                  <a:latin typeface="Arial" pitchFamily="34" charset="0"/>
                  <a:ea typeface="SimHei" panose="02010609060101010101" pitchFamily="49" charset="-122"/>
                </a:rPr>
                <a:t>Reg</a:t>
              </a:r>
            </a:p>
          </p:txBody>
        </p:sp>
        <p:sp>
          <p:nvSpPr>
            <p:cNvPr id="15" name="Freeform 40">
              <a:extLst>
                <a:ext uri="{FF2B5EF4-FFF2-40B4-BE49-F238E27FC236}">
                  <a16:creationId xmlns:a16="http://schemas.microsoft.com/office/drawing/2014/main" id="{BC0A70E7-843E-8474-AAA6-3D1095BEF72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8624" y="3560728"/>
              <a:ext cx="377358" cy="750743"/>
            </a:xfrm>
            <a:custGeom>
              <a:avLst/>
              <a:gdLst>
                <a:gd name="T0" fmla="*/ 148 w 149"/>
                <a:gd name="T1" fmla="*/ 0 h 289"/>
                <a:gd name="T2" fmla="*/ 0 w 149"/>
                <a:gd name="T3" fmla="*/ 0 h 289"/>
                <a:gd name="T4" fmla="*/ 0 w 149"/>
                <a:gd name="T5" fmla="*/ 288 h 289"/>
                <a:gd name="T6" fmla="*/ 148 w 149"/>
                <a:gd name="T7" fmla="*/ 288 h 28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9" h="289">
                  <a:moveTo>
                    <a:pt x="148" y="0"/>
                  </a:moveTo>
                  <a:lnTo>
                    <a:pt x="0" y="0"/>
                  </a:lnTo>
                  <a:lnTo>
                    <a:pt x="0" y="288"/>
                  </a:lnTo>
                  <a:lnTo>
                    <a:pt x="148" y="288"/>
                  </a:lnTo>
                </a:path>
              </a:pathLst>
            </a:custGeom>
            <a:noFill/>
            <a:ln w="25400" cap="rnd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16" name="Freeform 41">
              <a:extLst>
                <a:ext uri="{FF2B5EF4-FFF2-40B4-BE49-F238E27FC236}">
                  <a16:creationId xmlns:a16="http://schemas.microsoft.com/office/drawing/2014/main" id="{1596DF07-AC80-D6A6-DE4F-272D23F50BEC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3450" y="3560728"/>
              <a:ext cx="374826" cy="750743"/>
            </a:xfrm>
            <a:custGeom>
              <a:avLst/>
              <a:gdLst>
                <a:gd name="T0" fmla="*/ 0 w 148"/>
                <a:gd name="T1" fmla="*/ 0 h 289"/>
                <a:gd name="T2" fmla="*/ 147 w 148"/>
                <a:gd name="T3" fmla="*/ 0 h 289"/>
                <a:gd name="T4" fmla="*/ 147 w 148"/>
                <a:gd name="T5" fmla="*/ 288 h 289"/>
                <a:gd name="T6" fmla="*/ 0 w 148"/>
                <a:gd name="T7" fmla="*/ 288 h 28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8" h="289">
                  <a:moveTo>
                    <a:pt x="0" y="0"/>
                  </a:moveTo>
                  <a:lnTo>
                    <a:pt x="147" y="0"/>
                  </a:lnTo>
                  <a:lnTo>
                    <a:pt x="147" y="288"/>
                  </a:lnTo>
                  <a:lnTo>
                    <a:pt x="0" y="288"/>
                  </a:lnTo>
                </a:path>
              </a:pathLst>
            </a:custGeom>
            <a:noFill/>
            <a:ln w="25400" cap="rnd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17" name="Line 42">
              <a:extLst>
                <a:ext uri="{FF2B5EF4-FFF2-40B4-BE49-F238E27FC236}">
                  <a16:creationId xmlns:a16="http://schemas.microsoft.com/office/drawing/2014/main" id="{1DCFD932-98E6-2AC5-056B-3CA24DCB5BD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37374" y="3934801"/>
              <a:ext cx="293782" cy="0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18" name="Freeform 43">
              <a:extLst>
                <a:ext uri="{FF2B5EF4-FFF2-40B4-BE49-F238E27FC236}">
                  <a16:creationId xmlns:a16="http://schemas.microsoft.com/office/drawing/2014/main" id="{16C87083-08C9-224F-E12A-4FE4308E2F0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9591" y="3685419"/>
              <a:ext cx="121565" cy="251980"/>
            </a:xfrm>
            <a:custGeom>
              <a:avLst/>
              <a:gdLst>
                <a:gd name="T0" fmla="*/ 0 w 48"/>
                <a:gd name="T1" fmla="*/ 96 h 97"/>
                <a:gd name="T2" fmla="*/ 0 w 48"/>
                <a:gd name="T3" fmla="*/ 0 h 97"/>
                <a:gd name="T4" fmla="*/ 47 w 48"/>
                <a:gd name="T5" fmla="*/ 0 h 97"/>
                <a:gd name="T6" fmla="*/ 47 w 48"/>
                <a:gd name="T7" fmla="*/ 0 h 9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8" h="97">
                  <a:moveTo>
                    <a:pt x="0" y="96"/>
                  </a:moveTo>
                  <a:lnTo>
                    <a:pt x="0" y="0"/>
                  </a:lnTo>
                  <a:lnTo>
                    <a:pt x="47" y="0"/>
                  </a:lnTo>
                </a:path>
              </a:pathLst>
            </a:custGeom>
            <a:noFill/>
            <a:ln w="25400" cap="rnd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19" name="Line 44">
              <a:extLst>
                <a:ext uri="{FF2B5EF4-FFF2-40B4-BE49-F238E27FC236}">
                  <a16:creationId xmlns:a16="http://schemas.microsoft.com/office/drawing/2014/main" id="{72CCDC6A-6007-99E1-AEBC-6FF6D59CCC9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90938" y="3685419"/>
              <a:ext cx="397619" cy="0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20" name="Rectangle 45">
              <a:extLst>
                <a:ext uri="{FF2B5EF4-FFF2-40B4-BE49-F238E27FC236}">
                  <a16:creationId xmlns:a16="http://schemas.microsoft.com/office/drawing/2014/main" id="{18A85917-71BE-A7F7-F47D-5B537EADE7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08353" y="3726347"/>
              <a:ext cx="581861" cy="39752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73" tIns="44442" rIns="90473" bIns="44442">
              <a:spAutoFit/>
            </a:bodyPr>
            <a:lstStyle/>
            <a:p>
              <a:pPr eaLnBrk="0" hangingPunct="0"/>
              <a:r>
                <a:rPr lang="en-US" altLang="zh-CN" sz="2000" dirty="0">
                  <a:latin typeface="Arial" pitchFamily="34" charset="0"/>
                  <a:ea typeface="SimHei" panose="02010609060101010101" pitchFamily="49" charset="-122"/>
                </a:rPr>
                <a:t>DM</a:t>
              </a:r>
            </a:p>
          </p:txBody>
        </p:sp>
        <p:sp>
          <p:nvSpPr>
            <p:cNvPr id="21" name="Freeform 47">
              <a:extLst>
                <a:ext uri="{FF2B5EF4-FFF2-40B4-BE49-F238E27FC236}">
                  <a16:creationId xmlns:a16="http://schemas.microsoft.com/office/drawing/2014/main" id="{62E12D6B-D198-01AF-B974-3C2FDD452D7F}"/>
                </a:ext>
              </a:extLst>
            </p:cNvPr>
            <p:cNvSpPr>
              <a:spLocks/>
            </p:cNvSpPr>
            <p:nvPr/>
          </p:nvSpPr>
          <p:spPr bwMode="auto">
            <a:xfrm>
              <a:off x="5778806" y="3560728"/>
              <a:ext cx="410282" cy="750743"/>
            </a:xfrm>
            <a:custGeom>
              <a:avLst/>
              <a:gdLst>
                <a:gd name="T0" fmla="*/ 161 w 162"/>
                <a:gd name="T1" fmla="*/ 0 h 289"/>
                <a:gd name="T2" fmla="*/ 0 w 162"/>
                <a:gd name="T3" fmla="*/ 0 h 289"/>
                <a:gd name="T4" fmla="*/ 0 w 162"/>
                <a:gd name="T5" fmla="*/ 288 h 289"/>
                <a:gd name="T6" fmla="*/ 161 w 162"/>
                <a:gd name="T7" fmla="*/ 288 h 28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2" h="289">
                  <a:moveTo>
                    <a:pt x="161" y="0"/>
                  </a:moveTo>
                  <a:lnTo>
                    <a:pt x="0" y="0"/>
                  </a:lnTo>
                  <a:lnTo>
                    <a:pt x="0" y="288"/>
                  </a:lnTo>
                  <a:lnTo>
                    <a:pt x="161" y="288"/>
                  </a:lnTo>
                </a:path>
              </a:pathLst>
            </a:custGeom>
            <a:noFill/>
            <a:ln w="25400" cap="rnd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22" name="Freeform 48">
              <a:extLst>
                <a:ext uri="{FF2B5EF4-FFF2-40B4-BE49-F238E27FC236}">
                  <a16:creationId xmlns:a16="http://schemas.microsoft.com/office/drawing/2014/main" id="{A927D29B-81E1-C48E-F6BA-2CF01F672721}"/>
                </a:ext>
              </a:extLst>
            </p:cNvPr>
            <p:cNvSpPr>
              <a:spLocks/>
            </p:cNvSpPr>
            <p:nvPr/>
          </p:nvSpPr>
          <p:spPr bwMode="auto">
            <a:xfrm>
              <a:off x="6186556" y="3560728"/>
              <a:ext cx="415347" cy="750743"/>
            </a:xfrm>
            <a:custGeom>
              <a:avLst/>
              <a:gdLst>
                <a:gd name="T0" fmla="*/ 0 w 164"/>
                <a:gd name="T1" fmla="*/ 0 h 289"/>
                <a:gd name="T2" fmla="*/ 163 w 164"/>
                <a:gd name="T3" fmla="*/ 0 h 289"/>
                <a:gd name="T4" fmla="*/ 163 w 164"/>
                <a:gd name="T5" fmla="*/ 288 h 289"/>
                <a:gd name="T6" fmla="*/ 0 w 164"/>
                <a:gd name="T7" fmla="*/ 288 h 28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4" h="289">
                  <a:moveTo>
                    <a:pt x="0" y="0"/>
                  </a:moveTo>
                  <a:lnTo>
                    <a:pt x="163" y="0"/>
                  </a:lnTo>
                  <a:lnTo>
                    <a:pt x="163" y="288"/>
                  </a:lnTo>
                  <a:lnTo>
                    <a:pt x="0" y="288"/>
                  </a:lnTo>
                </a:path>
              </a:pathLst>
            </a:custGeom>
            <a:noFill/>
            <a:ln w="25400" cap="rnd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23" name="Rectangle 49">
              <a:extLst>
                <a:ext uri="{FF2B5EF4-FFF2-40B4-BE49-F238E27FC236}">
                  <a16:creationId xmlns:a16="http://schemas.microsoft.com/office/drawing/2014/main" id="{AE059740-9DD5-4304-864B-AF36482EC3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27765" y="3705566"/>
              <a:ext cx="653996" cy="39752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73" tIns="44442" rIns="90473" bIns="44442">
              <a:spAutoFit/>
            </a:bodyPr>
            <a:lstStyle/>
            <a:p>
              <a:pPr eaLnBrk="0" hangingPunct="0"/>
              <a:r>
                <a:rPr lang="en-US" altLang="zh-CN" sz="2000" dirty="0">
                  <a:latin typeface="Arial" pitchFamily="34" charset="0"/>
                  <a:ea typeface="SimHei" panose="02010609060101010101" pitchFamily="49" charset="-122"/>
                </a:rPr>
                <a:t>Reg</a:t>
              </a:r>
            </a:p>
          </p:txBody>
        </p:sp>
        <p:sp>
          <p:nvSpPr>
            <p:cNvPr id="24" name="Freeform 51">
              <a:extLst>
                <a:ext uri="{FF2B5EF4-FFF2-40B4-BE49-F238E27FC236}">
                  <a16:creationId xmlns:a16="http://schemas.microsoft.com/office/drawing/2014/main" id="{87F33C06-5B81-6747-A729-4966036A8AB9}"/>
                </a:ext>
              </a:extLst>
            </p:cNvPr>
            <p:cNvSpPr>
              <a:spLocks/>
            </p:cNvSpPr>
            <p:nvPr/>
          </p:nvSpPr>
          <p:spPr bwMode="auto">
            <a:xfrm>
              <a:off x="6964065" y="3560728"/>
              <a:ext cx="359630" cy="750743"/>
            </a:xfrm>
            <a:custGeom>
              <a:avLst/>
              <a:gdLst>
                <a:gd name="T0" fmla="*/ 141 w 142"/>
                <a:gd name="T1" fmla="*/ 0 h 289"/>
                <a:gd name="T2" fmla="*/ 0 w 142"/>
                <a:gd name="T3" fmla="*/ 0 h 289"/>
                <a:gd name="T4" fmla="*/ 0 w 142"/>
                <a:gd name="T5" fmla="*/ 288 h 289"/>
                <a:gd name="T6" fmla="*/ 141 w 142"/>
                <a:gd name="T7" fmla="*/ 288 h 28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2" h="289">
                  <a:moveTo>
                    <a:pt x="141" y="0"/>
                  </a:moveTo>
                  <a:lnTo>
                    <a:pt x="0" y="0"/>
                  </a:lnTo>
                  <a:lnTo>
                    <a:pt x="0" y="288"/>
                  </a:lnTo>
                  <a:lnTo>
                    <a:pt x="141" y="288"/>
                  </a:lnTo>
                </a:path>
              </a:pathLst>
            </a:custGeom>
            <a:noFill/>
            <a:ln w="25400" cap="rnd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25" name="Freeform 52">
              <a:extLst>
                <a:ext uri="{FF2B5EF4-FFF2-40B4-BE49-F238E27FC236}">
                  <a16:creationId xmlns:a16="http://schemas.microsoft.com/office/drawing/2014/main" id="{56F2C4F7-5734-3D0F-C1C9-CC8507A5FBA8}"/>
                </a:ext>
              </a:extLst>
            </p:cNvPr>
            <p:cNvSpPr>
              <a:spLocks/>
            </p:cNvSpPr>
            <p:nvPr/>
          </p:nvSpPr>
          <p:spPr bwMode="auto">
            <a:xfrm>
              <a:off x="7321162" y="3560728"/>
              <a:ext cx="362163" cy="750743"/>
            </a:xfrm>
            <a:custGeom>
              <a:avLst/>
              <a:gdLst>
                <a:gd name="T0" fmla="*/ 0 w 143"/>
                <a:gd name="T1" fmla="*/ 0 h 289"/>
                <a:gd name="T2" fmla="*/ 142 w 143"/>
                <a:gd name="T3" fmla="*/ 0 h 289"/>
                <a:gd name="T4" fmla="*/ 142 w 143"/>
                <a:gd name="T5" fmla="*/ 288 h 289"/>
                <a:gd name="T6" fmla="*/ 0 w 143"/>
                <a:gd name="T7" fmla="*/ 288 h 28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3" h="289">
                  <a:moveTo>
                    <a:pt x="0" y="0"/>
                  </a:moveTo>
                  <a:lnTo>
                    <a:pt x="142" y="0"/>
                  </a:lnTo>
                  <a:lnTo>
                    <a:pt x="142" y="288"/>
                  </a:lnTo>
                  <a:lnTo>
                    <a:pt x="0" y="288"/>
                  </a:lnTo>
                </a:path>
              </a:pathLst>
            </a:custGeom>
            <a:noFill/>
            <a:ln w="25400" cap="rnd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26" name="Line 53">
              <a:extLst>
                <a:ext uri="{FF2B5EF4-FFF2-40B4-BE49-F238E27FC236}">
                  <a16:creationId xmlns:a16="http://schemas.microsoft.com/office/drawing/2014/main" id="{F462CF72-4ACE-29B0-F429-E1406E06591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591772" y="3934801"/>
              <a:ext cx="352032" cy="0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27" name="Line 54">
              <a:extLst>
                <a:ext uri="{FF2B5EF4-FFF2-40B4-BE49-F238E27FC236}">
                  <a16:creationId xmlns:a16="http://schemas.microsoft.com/office/drawing/2014/main" id="{1970F661-CA81-3896-F791-288A3F64B2C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365991" y="3934801"/>
              <a:ext cx="392554" cy="0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28" name="Line 55">
              <a:extLst>
                <a:ext uri="{FF2B5EF4-FFF2-40B4-BE49-F238E27FC236}">
                  <a16:creationId xmlns:a16="http://schemas.microsoft.com/office/drawing/2014/main" id="{86B8766E-BCF0-F09F-7E63-622E74FF7AB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90938" y="4184182"/>
              <a:ext cx="397619" cy="0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29" name="Line 56">
              <a:extLst>
                <a:ext uri="{FF2B5EF4-FFF2-40B4-BE49-F238E27FC236}">
                  <a16:creationId xmlns:a16="http://schemas.microsoft.com/office/drawing/2014/main" id="{CBC214E7-617C-2A55-B8EF-39B2377AE8A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03677" y="4184182"/>
              <a:ext cx="0" cy="49876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30" name="Line 57">
              <a:extLst>
                <a:ext uri="{FF2B5EF4-FFF2-40B4-BE49-F238E27FC236}">
                  <a16:creationId xmlns:a16="http://schemas.microsoft.com/office/drawing/2014/main" id="{6477D7E7-E49F-FE0F-9E78-C6774C00137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03677" y="4682946"/>
              <a:ext cx="850955" cy="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31" name="Line 58">
              <a:extLst>
                <a:ext uri="{FF2B5EF4-FFF2-40B4-BE49-F238E27FC236}">
                  <a16:creationId xmlns:a16="http://schemas.microsoft.com/office/drawing/2014/main" id="{E2C7A030-CA81-355F-94EF-5156E2DC8A2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454632" y="3934801"/>
              <a:ext cx="0" cy="748145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32" name="Line 59">
              <a:extLst>
                <a:ext uri="{FF2B5EF4-FFF2-40B4-BE49-F238E27FC236}">
                  <a16:creationId xmlns:a16="http://schemas.microsoft.com/office/drawing/2014/main" id="{9ADE1E6C-A24E-C9B9-0D2E-1A75386AA91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657241" y="3934801"/>
              <a:ext cx="0" cy="623455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33" name="Line 60">
              <a:extLst>
                <a:ext uri="{FF2B5EF4-FFF2-40B4-BE49-F238E27FC236}">
                  <a16:creationId xmlns:a16="http://schemas.microsoft.com/office/drawing/2014/main" id="{20CC778D-3B0C-14FF-1BBF-8066E436EF0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657241" y="4558255"/>
              <a:ext cx="1094086" cy="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34" name="Line 61">
              <a:extLst>
                <a:ext uri="{FF2B5EF4-FFF2-40B4-BE49-F238E27FC236}">
                  <a16:creationId xmlns:a16="http://schemas.microsoft.com/office/drawing/2014/main" id="{FA5214C8-C452-67BD-D124-F89B2446DA7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751326" y="3934801"/>
              <a:ext cx="0" cy="623455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35" name="Rectangle 62">
              <a:extLst>
                <a:ext uri="{FF2B5EF4-FFF2-40B4-BE49-F238E27FC236}">
                  <a16:creationId xmlns:a16="http://schemas.microsoft.com/office/drawing/2014/main" id="{25EAE597-20F4-6803-0F2C-33D101960C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03100" y="5373826"/>
              <a:ext cx="969788" cy="45908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73" tIns="44442" rIns="90473" bIns="44442">
              <a:spAutoFit/>
            </a:bodyPr>
            <a:lstStyle/>
            <a:p>
              <a:pPr eaLnBrk="0" hangingPunct="0"/>
              <a:r>
                <a:rPr lang="en-US" altLang="zh-CN" sz="2400" dirty="0">
                  <a:latin typeface="Arial" pitchFamily="34" charset="0"/>
                  <a:ea typeface="SimHei" panose="02010609060101010101" pitchFamily="49" charset="-122"/>
                </a:rPr>
                <a:t>target</a:t>
              </a:r>
            </a:p>
          </p:txBody>
        </p:sp>
        <p:sp>
          <p:nvSpPr>
            <p:cNvPr id="36" name="Freeform 65">
              <a:extLst>
                <a:ext uri="{FF2B5EF4-FFF2-40B4-BE49-F238E27FC236}">
                  <a16:creationId xmlns:a16="http://schemas.microsoft.com/office/drawing/2014/main" id="{47622AA0-80FB-70BE-6DEE-3E473D820231}"/>
                </a:ext>
              </a:extLst>
            </p:cNvPr>
            <p:cNvSpPr>
              <a:spLocks/>
            </p:cNvSpPr>
            <p:nvPr/>
          </p:nvSpPr>
          <p:spPr bwMode="auto">
            <a:xfrm>
              <a:off x="5923587" y="5063946"/>
              <a:ext cx="535507" cy="1110673"/>
            </a:xfrm>
            <a:custGeom>
              <a:avLst/>
              <a:gdLst>
                <a:gd name="T0" fmla="*/ 0 w 213"/>
                <a:gd name="T1" fmla="*/ 320 h 481"/>
                <a:gd name="T2" fmla="*/ 71 w 213"/>
                <a:gd name="T3" fmla="*/ 240 h 481"/>
                <a:gd name="T4" fmla="*/ 0 w 213"/>
                <a:gd name="T5" fmla="*/ 160 h 481"/>
                <a:gd name="T6" fmla="*/ 0 w 213"/>
                <a:gd name="T7" fmla="*/ 0 h 481"/>
                <a:gd name="T8" fmla="*/ 212 w 213"/>
                <a:gd name="T9" fmla="*/ 160 h 481"/>
                <a:gd name="T10" fmla="*/ 212 w 213"/>
                <a:gd name="T11" fmla="*/ 320 h 481"/>
                <a:gd name="T12" fmla="*/ 0 w 213"/>
                <a:gd name="T13" fmla="*/ 480 h 481"/>
                <a:gd name="T14" fmla="*/ 0 w 213"/>
                <a:gd name="T15" fmla="*/ 320 h 48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13" h="481">
                  <a:moveTo>
                    <a:pt x="0" y="320"/>
                  </a:moveTo>
                  <a:lnTo>
                    <a:pt x="71" y="240"/>
                  </a:lnTo>
                  <a:lnTo>
                    <a:pt x="0" y="160"/>
                  </a:lnTo>
                  <a:lnTo>
                    <a:pt x="0" y="0"/>
                  </a:lnTo>
                  <a:lnTo>
                    <a:pt x="212" y="160"/>
                  </a:lnTo>
                  <a:lnTo>
                    <a:pt x="212" y="320"/>
                  </a:lnTo>
                  <a:lnTo>
                    <a:pt x="0" y="480"/>
                  </a:lnTo>
                  <a:lnTo>
                    <a:pt x="0" y="320"/>
                  </a:lnTo>
                </a:path>
              </a:pathLst>
            </a:custGeom>
            <a:noFill/>
            <a:ln w="25400" cap="rnd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37" name="Rectangle 66">
              <a:extLst>
                <a:ext uri="{FF2B5EF4-FFF2-40B4-BE49-F238E27FC236}">
                  <a16:creationId xmlns:a16="http://schemas.microsoft.com/office/drawing/2014/main" id="{BA432908-461A-53A3-A96D-003799FD22A2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5866257" y="5415901"/>
              <a:ext cx="682850" cy="39752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73" tIns="44442" rIns="90473" bIns="44442">
              <a:spAutoFit/>
            </a:bodyPr>
            <a:lstStyle/>
            <a:p>
              <a:pPr eaLnBrk="0" hangingPunct="0"/>
              <a:r>
                <a:rPr lang="en-US" altLang="zh-CN" sz="2000" dirty="0">
                  <a:latin typeface="Arial" pitchFamily="34" charset="0"/>
                  <a:ea typeface="SimHei" panose="02010609060101010101" pitchFamily="49" charset="-122"/>
                </a:rPr>
                <a:t>ALU</a:t>
              </a:r>
            </a:p>
          </p:txBody>
        </p:sp>
        <p:sp>
          <p:nvSpPr>
            <p:cNvPr id="38" name="Rectangle 68">
              <a:extLst>
                <a:ext uri="{FF2B5EF4-FFF2-40B4-BE49-F238E27FC236}">
                  <a16:creationId xmlns:a16="http://schemas.microsoft.com/office/drawing/2014/main" id="{15C5248B-FE9C-B850-C634-3A5008DB74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93550" y="5432477"/>
              <a:ext cx="466445" cy="39752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73" tIns="44442" rIns="90473" bIns="44442">
              <a:spAutoFit/>
            </a:bodyPr>
            <a:lstStyle/>
            <a:p>
              <a:pPr algn="ctr" eaLnBrk="0" hangingPunct="0"/>
              <a:r>
                <a:rPr lang="en-US" altLang="zh-CN" sz="2000" dirty="0">
                  <a:latin typeface="Arial" pitchFamily="34" charset="0"/>
                  <a:ea typeface="SimHei" panose="02010609060101010101" pitchFamily="49" charset="-122"/>
                </a:rPr>
                <a:t>IM</a:t>
              </a:r>
            </a:p>
          </p:txBody>
        </p:sp>
        <p:grpSp>
          <p:nvGrpSpPr>
            <p:cNvPr id="39" name="Group 69">
              <a:extLst>
                <a:ext uri="{FF2B5EF4-FFF2-40B4-BE49-F238E27FC236}">
                  <a16:creationId xmlns:a16="http://schemas.microsoft.com/office/drawing/2014/main" id="{5C4161B1-5BE4-21F8-1468-839B78D4E3D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595512" y="5285619"/>
              <a:ext cx="854801" cy="667327"/>
              <a:chOff x="1291" y="1509"/>
              <a:chExt cx="340" cy="289"/>
            </a:xfrm>
          </p:grpSpPr>
          <p:sp>
            <p:nvSpPr>
              <p:cNvPr id="195" name="Freeform 70">
                <a:extLst>
                  <a:ext uri="{FF2B5EF4-FFF2-40B4-BE49-F238E27FC236}">
                    <a16:creationId xmlns:a16="http://schemas.microsoft.com/office/drawing/2014/main" id="{337BA1F5-6282-C993-493F-04D1A30A56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1" y="1509"/>
                <a:ext cx="170" cy="289"/>
              </a:xfrm>
              <a:custGeom>
                <a:avLst/>
                <a:gdLst>
                  <a:gd name="T0" fmla="*/ 169 w 170"/>
                  <a:gd name="T1" fmla="*/ 0 h 289"/>
                  <a:gd name="T2" fmla="*/ 0 w 170"/>
                  <a:gd name="T3" fmla="*/ 0 h 289"/>
                  <a:gd name="T4" fmla="*/ 0 w 170"/>
                  <a:gd name="T5" fmla="*/ 288 h 289"/>
                  <a:gd name="T6" fmla="*/ 169 w 170"/>
                  <a:gd name="T7" fmla="*/ 288 h 28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0" h="289">
                    <a:moveTo>
                      <a:pt x="169" y="0"/>
                    </a:moveTo>
                    <a:lnTo>
                      <a:pt x="0" y="0"/>
                    </a:lnTo>
                    <a:lnTo>
                      <a:pt x="0" y="288"/>
                    </a:lnTo>
                    <a:lnTo>
                      <a:pt x="169" y="288"/>
                    </a:lnTo>
                  </a:path>
                </a:pathLst>
              </a:custGeom>
              <a:noFill/>
              <a:ln w="25400" cap="rnd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dirty="0">
                  <a:ea typeface="SimHei" panose="02010609060101010101" pitchFamily="49" charset="-122"/>
                </a:endParaRPr>
              </a:p>
            </p:txBody>
          </p:sp>
          <p:sp>
            <p:nvSpPr>
              <p:cNvPr id="196" name="Freeform 71">
                <a:extLst>
                  <a:ext uri="{FF2B5EF4-FFF2-40B4-BE49-F238E27FC236}">
                    <a16:creationId xmlns:a16="http://schemas.microsoft.com/office/drawing/2014/main" id="{68290EB0-4755-2067-8070-E96E0A4331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0" y="1509"/>
                <a:ext cx="171" cy="289"/>
              </a:xfrm>
              <a:custGeom>
                <a:avLst/>
                <a:gdLst>
                  <a:gd name="T0" fmla="*/ 0 w 171"/>
                  <a:gd name="T1" fmla="*/ 0 h 289"/>
                  <a:gd name="T2" fmla="*/ 170 w 171"/>
                  <a:gd name="T3" fmla="*/ 0 h 289"/>
                  <a:gd name="T4" fmla="*/ 170 w 171"/>
                  <a:gd name="T5" fmla="*/ 288 h 289"/>
                  <a:gd name="T6" fmla="*/ 0 w 171"/>
                  <a:gd name="T7" fmla="*/ 288 h 28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1" h="289">
                    <a:moveTo>
                      <a:pt x="0" y="0"/>
                    </a:moveTo>
                    <a:lnTo>
                      <a:pt x="170" y="0"/>
                    </a:lnTo>
                    <a:lnTo>
                      <a:pt x="170" y="288"/>
                    </a:lnTo>
                    <a:lnTo>
                      <a:pt x="0" y="288"/>
                    </a:lnTo>
                  </a:path>
                </a:pathLst>
              </a:custGeom>
              <a:noFill/>
              <a:ln w="25400" cap="rnd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dirty="0">
                  <a:ea typeface="SimHei" panose="02010609060101010101" pitchFamily="49" charset="-122"/>
                </a:endParaRPr>
              </a:p>
            </p:txBody>
          </p:sp>
        </p:grpSp>
        <p:sp>
          <p:nvSpPr>
            <p:cNvPr id="40" name="Rectangle 72">
              <a:extLst>
                <a:ext uri="{FF2B5EF4-FFF2-40B4-BE49-F238E27FC236}">
                  <a16:creationId xmlns:a16="http://schemas.microsoft.com/office/drawing/2014/main" id="{5301E0BA-C651-B249-2BA1-E18EA5F397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38833" y="5444022"/>
              <a:ext cx="653996" cy="39752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73" tIns="44442" rIns="90473" bIns="44442">
              <a:spAutoFit/>
            </a:bodyPr>
            <a:lstStyle/>
            <a:p>
              <a:pPr eaLnBrk="0" hangingPunct="0"/>
              <a:r>
                <a:rPr lang="en-US" altLang="zh-CN" sz="2000" dirty="0">
                  <a:latin typeface="Arial" pitchFamily="34" charset="0"/>
                  <a:ea typeface="SimHei" panose="02010609060101010101" pitchFamily="49" charset="-122"/>
                </a:rPr>
                <a:t>Reg</a:t>
              </a:r>
            </a:p>
          </p:txBody>
        </p:sp>
        <p:sp>
          <p:nvSpPr>
            <p:cNvPr id="41" name="Freeform 74">
              <a:extLst>
                <a:ext uri="{FF2B5EF4-FFF2-40B4-BE49-F238E27FC236}">
                  <a16:creationId xmlns:a16="http://schemas.microsoft.com/office/drawing/2014/main" id="{F8AB87B8-5950-E9C3-0327-FDA6CB284232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2007" y="5285619"/>
              <a:ext cx="374604" cy="667327"/>
            </a:xfrm>
            <a:custGeom>
              <a:avLst/>
              <a:gdLst>
                <a:gd name="T0" fmla="*/ 148 w 149"/>
                <a:gd name="T1" fmla="*/ 0 h 289"/>
                <a:gd name="T2" fmla="*/ 0 w 149"/>
                <a:gd name="T3" fmla="*/ 0 h 289"/>
                <a:gd name="T4" fmla="*/ 0 w 149"/>
                <a:gd name="T5" fmla="*/ 288 h 289"/>
                <a:gd name="T6" fmla="*/ 148 w 149"/>
                <a:gd name="T7" fmla="*/ 288 h 28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9" h="289">
                  <a:moveTo>
                    <a:pt x="148" y="0"/>
                  </a:moveTo>
                  <a:lnTo>
                    <a:pt x="0" y="0"/>
                  </a:lnTo>
                  <a:lnTo>
                    <a:pt x="0" y="288"/>
                  </a:lnTo>
                  <a:lnTo>
                    <a:pt x="148" y="288"/>
                  </a:lnTo>
                </a:path>
              </a:pathLst>
            </a:custGeom>
            <a:noFill/>
            <a:ln w="25400" cap="rnd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42" name="Freeform 75">
              <a:extLst>
                <a:ext uri="{FF2B5EF4-FFF2-40B4-BE49-F238E27FC236}">
                  <a16:creationId xmlns:a16="http://schemas.microsoft.com/office/drawing/2014/main" id="{790C0A93-9327-548B-DCED-2B00A4902281}"/>
                </a:ext>
              </a:extLst>
            </p:cNvPr>
            <p:cNvSpPr>
              <a:spLocks/>
            </p:cNvSpPr>
            <p:nvPr/>
          </p:nvSpPr>
          <p:spPr bwMode="auto">
            <a:xfrm>
              <a:off x="5124097" y="5285619"/>
              <a:ext cx="372090" cy="667327"/>
            </a:xfrm>
            <a:custGeom>
              <a:avLst/>
              <a:gdLst>
                <a:gd name="T0" fmla="*/ 0 w 148"/>
                <a:gd name="T1" fmla="*/ 0 h 289"/>
                <a:gd name="T2" fmla="*/ 147 w 148"/>
                <a:gd name="T3" fmla="*/ 0 h 289"/>
                <a:gd name="T4" fmla="*/ 147 w 148"/>
                <a:gd name="T5" fmla="*/ 288 h 289"/>
                <a:gd name="T6" fmla="*/ 0 w 148"/>
                <a:gd name="T7" fmla="*/ 288 h 28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8" h="289">
                  <a:moveTo>
                    <a:pt x="0" y="0"/>
                  </a:moveTo>
                  <a:lnTo>
                    <a:pt x="147" y="0"/>
                  </a:lnTo>
                  <a:lnTo>
                    <a:pt x="147" y="288"/>
                  </a:lnTo>
                  <a:lnTo>
                    <a:pt x="0" y="288"/>
                  </a:lnTo>
                </a:path>
              </a:pathLst>
            </a:custGeom>
            <a:noFill/>
            <a:ln w="25400" cap="rnd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43" name="Line 76">
              <a:extLst>
                <a:ext uri="{FF2B5EF4-FFF2-40B4-BE49-F238E27FC236}">
                  <a16:creationId xmlns:a16="http://schemas.microsoft.com/office/drawing/2014/main" id="{E254BC2B-CC2C-F699-4D96-BE9159C3890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462883" y="5618128"/>
              <a:ext cx="291638" cy="0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44" name="Freeform 77">
              <a:extLst>
                <a:ext uri="{FF2B5EF4-FFF2-40B4-BE49-F238E27FC236}">
                  <a16:creationId xmlns:a16="http://schemas.microsoft.com/office/drawing/2014/main" id="{C63C301A-EDA3-8D6A-726E-274739C039D6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3843" y="5396455"/>
              <a:ext cx="120678" cy="223982"/>
            </a:xfrm>
            <a:custGeom>
              <a:avLst/>
              <a:gdLst>
                <a:gd name="T0" fmla="*/ 0 w 48"/>
                <a:gd name="T1" fmla="*/ 96 h 97"/>
                <a:gd name="T2" fmla="*/ 0 w 48"/>
                <a:gd name="T3" fmla="*/ 0 h 97"/>
                <a:gd name="T4" fmla="*/ 47 w 48"/>
                <a:gd name="T5" fmla="*/ 0 h 97"/>
                <a:gd name="T6" fmla="*/ 47 w 48"/>
                <a:gd name="T7" fmla="*/ 0 h 9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8" h="97">
                  <a:moveTo>
                    <a:pt x="0" y="96"/>
                  </a:moveTo>
                  <a:lnTo>
                    <a:pt x="0" y="0"/>
                  </a:lnTo>
                  <a:lnTo>
                    <a:pt x="47" y="0"/>
                  </a:lnTo>
                </a:path>
              </a:pathLst>
            </a:custGeom>
            <a:noFill/>
            <a:ln w="25400" cap="rnd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45" name="Line 78">
              <a:extLst>
                <a:ext uri="{FF2B5EF4-FFF2-40B4-BE49-F238E27FC236}">
                  <a16:creationId xmlns:a16="http://schemas.microsoft.com/office/drawing/2014/main" id="{4E95A1C7-A7EC-DD1A-5DE5-AB395D5DD01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508757" y="5396455"/>
              <a:ext cx="394717" cy="0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46" name="Rectangle 79">
              <a:extLst>
                <a:ext uri="{FF2B5EF4-FFF2-40B4-BE49-F238E27FC236}">
                  <a16:creationId xmlns:a16="http://schemas.microsoft.com/office/drawing/2014/main" id="{B55F841D-8EAC-F787-0512-A91C3A3702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08518" y="5446331"/>
              <a:ext cx="581861" cy="39752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73" tIns="44442" rIns="90473" bIns="44442">
              <a:spAutoFit/>
            </a:bodyPr>
            <a:lstStyle/>
            <a:p>
              <a:pPr eaLnBrk="0" hangingPunct="0"/>
              <a:r>
                <a:rPr lang="en-US" altLang="zh-CN" sz="2000" dirty="0">
                  <a:latin typeface="Arial" pitchFamily="34" charset="0"/>
                  <a:ea typeface="SimHei" panose="02010609060101010101" pitchFamily="49" charset="-122"/>
                </a:rPr>
                <a:t>DM</a:t>
              </a:r>
            </a:p>
          </p:txBody>
        </p:sp>
        <p:sp>
          <p:nvSpPr>
            <p:cNvPr id="47" name="Freeform 81">
              <a:extLst>
                <a:ext uri="{FF2B5EF4-FFF2-40B4-BE49-F238E27FC236}">
                  <a16:creationId xmlns:a16="http://schemas.microsoft.com/office/drawing/2014/main" id="{365778DC-E378-C767-9D5D-44B8AE6CD8DA}"/>
                </a:ext>
              </a:extLst>
            </p:cNvPr>
            <p:cNvSpPr>
              <a:spLocks/>
            </p:cNvSpPr>
            <p:nvPr/>
          </p:nvSpPr>
          <p:spPr bwMode="auto">
            <a:xfrm>
              <a:off x="6886494" y="5285619"/>
              <a:ext cx="407287" cy="667327"/>
            </a:xfrm>
            <a:custGeom>
              <a:avLst/>
              <a:gdLst>
                <a:gd name="T0" fmla="*/ 161 w 162"/>
                <a:gd name="T1" fmla="*/ 0 h 289"/>
                <a:gd name="T2" fmla="*/ 0 w 162"/>
                <a:gd name="T3" fmla="*/ 0 h 289"/>
                <a:gd name="T4" fmla="*/ 0 w 162"/>
                <a:gd name="T5" fmla="*/ 288 h 289"/>
                <a:gd name="T6" fmla="*/ 161 w 162"/>
                <a:gd name="T7" fmla="*/ 288 h 28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2" h="289">
                  <a:moveTo>
                    <a:pt x="161" y="0"/>
                  </a:moveTo>
                  <a:lnTo>
                    <a:pt x="0" y="0"/>
                  </a:lnTo>
                  <a:lnTo>
                    <a:pt x="0" y="288"/>
                  </a:lnTo>
                  <a:lnTo>
                    <a:pt x="161" y="288"/>
                  </a:lnTo>
                </a:path>
              </a:pathLst>
            </a:custGeom>
            <a:noFill/>
            <a:ln w="25400" cap="rnd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48" name="Freeform 82">
              <a:extLst>
                <a:ext uri="{FF2B5EF4-FFF2-40B4-BE49-F238E27FC236}">
                  <a16:creationId xmlns:a16="http://schemas.microsoft.com/office/drawing/2014/main" id="{62551AFE-FC56-D4D7-CF6C-BAC88E2B3260}"/>
                </a:ext>
              </a:extLst>
            </p:cNvPr>
            <p:cNvSpPr>
              <a:spLocks/>
            </p:cNvSpPr>
            <p:nvPr/>
          </p:nvSpPr>
          <p:spPr bwMode="auto">
            <a:xfrm>
              <a:off x="7291267" y="5285619"/>
              <a:ext cx="412316" cy="667327"/>
            </a:xfrm>
            <a:custGeom>
              <a:avLst/>
              <a:gdLst>
                <a:gd name="T0" fmla="*/ 0 w 164"/>
                <a:gd name="T1" fmla="*/ 0 h 289"/>
                <a:gd name="T2" fmla="*/ 163 w 164"/>
                <a:gd name="T3" fmla="*/ 0 h 289"/>
                <a:gd name="T4" fmla="*/ 163 w 164"/>
                <a:gd name="T5" fmla="*/ 288 h 289"/>
                <a:gd name="T6" fmla="*/ 0 w 164"/>
                <a:gd name="T7" fmla="*/ 288 h 28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4" h="289">
                  <a:moveTo>
                    <a:pt x="0" y="0"/>
                  </a:moveTo>
                  <a:lnTo>
                    <a:pt x="163" y="0"/>
                  </a:lnTo>
                  <a:lnTo>
                    <a:pt x="163" y="288"/>
                  </a:lnTo>
                  <a:lnTo>
                    <a:pt x="0" y="288"/>
                  </a:lnTo>
                </a:path>
              </a:pathLst>
            </a:custGeom>
            <a:noFill/>
            <a:ln w="25400" cap="rnd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49" name="Rectangle 83">
              <a:extLst>
                <a:ext uri="{FF2B5EF4-FFF2-40B4-BE49-F238E27FC236}">
                  <a16:creationId xmlns:a16="http://schemas.microsoft.com/office/drawing/2014/main" id="{F5462D16-14D8-2A0E-A497-F099F0FA47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127301" y="5439404"/>
              <a:ext cx="653996" cy="39752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73" tIns="44442" rIns="90473" bIns="44442">
              <a:spAutoFit/>
            </a:bodyPr>
            <a:lstStyle/>
            <a:p>
              <a:pPr eaLnBrk="0" hangingPunct="0"/>
              <a:r>
                <a:rPr lang="en-US" altLang="zh-CN" sz="2000" dirty="0">
                  <a:latin typeface="Arial" pitchFamily="34" charset="0"/>
                  <a:ea typeface="SimHei" panose="02010609060101010101" pitchFamily="49" charset="-122"/>
                </a:rPr>
                <a:t>Reg</a:t>
              </a:r>
            </a:p>
          </p:txBody>
        </p:sp>
        <p:sp>
          <p:nvSpPr>
            <p:cNvPr id="50" name="Freeform 85">
              <a:extLst>
                <a:ext uri="{FF2B5EF4-FFF2-40B4-BE49-F238E27FC236}">
                  <a16:creationId xmlns:a16="http://schemas.microsoft.com/office/drawing/2014/main" id="{9C3CEF11-1D36-8F63-AAF8-7202E51E9B37}"/>
                </a:ext>
              </a:extLst>
            </p:cNvPr>
            <p:cNvSpPr>
              <a:spLocks/>
            </p:cNvSpPr>
            <p:nvPr/>
          </p:nvSpPr>
          <p:spPr bwMode="auto">
            <a:xfrm>
              <a:off x="8063102" y="5285619"/>
              <a:ext cx="357005" cy="667327"/>
            </a:xfrm>
            <a:custGeom>
              <a:avLst/>
              <a:gdLst>
                <a:gd name="T0" fmla="*/ 141 w 142"/>
                <a:gd name="T1" fmla="*/ 0 h 289"/>
                <a:gd name="T2" fmla="*/ 0 w 142"/>
                <a:gd name="T3" fmla="*/ 0 h 289"/>
                <a:gd name="T4" fmla="*/ 0 w 142"/>
                <a:gd name="T5" fmla="*/ 288 h 289"/>
                <a:gd name="T6" fmla="*/ 141 w 142"/>
                <a:gd name="T7" fmla="*/ 288 h 28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2" h="289">
                  <a:moveTo>
                    <a:pt x="141" y="0"/>
                  </a:moveTo>
                  <a:lnTo>
                    <a:pt x="0" y="0"/>
                  </a:lnTo>
                  <a:lnTo>
                    <a:pt x="0" y="288"/>
                  </a:lnTo>
                  <a:lnTo>
                    <a:pt x="141" y="288"/>
                  </a:lnTo>
                </a:path>
              </a:pathLst>
            </a:custGeom>
            <a:noFill/>
            <a:ln w="25400" cap="rnd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51" name="Freeform 86">
              <a:extLst>
                <a:ext uri="{FF2B5EF4-FFF2-40B4-BE49-F238E27FC236}">
                  <a16:creationId xmlns:a16="http://schemas.microsoft.com/office/drawing/2014/main" id="{9F9AA7F9-4B67-3AD5-F6F5-C99B0AE99C97}"/>
                </a:ext>
              </a:extLst>
            </p:cNvPr>
            <p:cNvSpPr>
              <a:spLocks/>
            </p:cNvSpPr>
            <p:nvPr/>
          </p:nvSpPr>
          <p:spPr bwMode="auto">
            <a:xfrm>
              <a:off x="8417593" y="5285619"/>
              <a:ext cx="359519" cy="667327"/>
            </a:xfrm>
            <a:custGeom>
              <a:avLst/>
              <a:gdLst>
                <a:gd name="T0" fmla="*/ 0 w 143"/>
                <a:gd name="T1" fmla="*/ 0 h 289"/>
                <a:gd name="T2" fmla="*/ 142 w 143"/>
                <a:gd name="T3" fmla="*/ 0 h 289"/>
                <a:gd name="T4" fmla="*/ 142 w 143"/>
                <a:gd name="T5" fmla="*/ 288 h 289"/>
                <a:gd name="T6" fmla="*/ 0 w 143"/>
                <a:gd name="T7" fmla="*/ 288 h 28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3" h="289">
                  <a:moveTo>
                    <a:pt x="0" y="0"/>
                  </a:moveTo>
                  <a:lnTo>
                    <a:pt x="142" y="0"/>
                  </a:lnTo>
                  <a:lnTo>
                    <a:pt x="142" y="288"/>
                  </a:lnTo>
                  <a:lnTo>
                    <a:pt x="0" y="288"/>
                  </a:lnTo>
                </a:path>
              </a:pathLst>
            </a:custGeom>
            <a:noFill/>
            <a:ln w="25400" cap="rnd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52" name="Line 87">
              <a:extLst>
                <a:ext uri="{FF2B5EF4-FFF2-40B4-BE49-F238E27FC236}">
                  <a16:creationId xmlns:a16="http://schemas.microsoft.com/office/drawing/2014/main" id="{7FFD1A5F-0574-EF11-1494-3DDF923D868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693527" y="5618128"/>
              <a:ext cx="349463" cy="0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53" name="Line 88">
              <a:extLst>
                <a:ext uri="{FF2B5EF4-FFF2-40B4-BE49-F238E27FC236}">
                  <a16:creationId xmlns:a16="http://schemas.microsoft.com/office/drawing/2014/main" id="{320BE7D8-C9B6-85D5-6F90-806676039E9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476693" y="5618128"/>
              <a:ext cx="389689" cy="0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54" name="Line 89">
              <a:extLst>
                <a:ext uri="{FF2B5EF4-FFF2-40B4-BE49-F238E27FC236}">
                  <a16:creationId xmlns:a16="http://schemas.microsoft.com/office/drawing/2014/main" id="{045174CD-D937-FF3B-CA55-42D97B0EBA1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508757" y="5839801"/>
              <a:ext cx="394717" cy="0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55" name="Line 90">
              <a:extLst>
                <a:ext uri="{FF2B5EF4-FFF2-40B4-BE49-F238E27FC236}">
                  <a16:creationId xmlns:a16="http://schemas.microsoft.com/office/drawing/2014/main" id="{271504AA-9CC3-58E9-C22B-102DB94523D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719943" y="5839801"/>
              <a:ext cx="0" cy="443345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56" name="Line 91">
              <a:extLst>
                <a:ext uri="{FF2B5EF4-FFF2-40B4-BE49-F238E27FC236}">
                  <a16:creationId xmlns:a16="http://schemas.microsoft.com/office/drawing/2014/main" id="{F5940B77-0745-3512-43CC-03FF3B13A36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719943" y="6283146"/>
              <a:ext cx="844744" cy="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57" name="Line 92">
              <a:extLst>
                <a:ext uri="{FF2B5EF4-FFF2-40B4-BE49-F238E27FC236}">
                  <a16:creationId xmlns:a16="http://schemas.microsoft.com/office/drawing/2014/main" id="{8A84972E-3D9B-7DAC-C886-3CBCD647A3A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564687" y="5618128"/>
              <a:ext cx="0" cy="665018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58" name="Line 93">
              <a:extLst>
                <a:ext uri="{FF2B5EF4-FFF2-40B4-BE49-F238E27FC236}">
                  <a16:creationId xmlns:a16="http://schemas.microsoft.com/office/drawing/2014/main" id="{49FD380F-7DDB-ADE5-732D-6A1BDEE10D5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765817" y="5618128"/>
              <a:ext cx="0" cy="554182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59" name="Line 94">
              <a:extLst>
                <a:ext uri="{FF2B5EF4-FFF2-40B4-BE49-F238E27FC236}">
                  <a16:creationId xmlns:a16="http://schemas.microsoft.com/office/drawing/2014/main" id="{BA5E9B58-7DA6-3180-6620-13B3427ECC6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765817" y="6172310"/>
              <a:ext cx="1086100" cy="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60" name="Line 95">
              <a:extLst>
                <a:ext uri="{FF2B5EF4-FFF2-40B4-BE49-F238E27FC236}">
                  <a16:creationId xmlns:a16="http://schemas.microsoft.com/office/drawing/2014/main" id="{AEB1795E-3159-ED24-526E-DCC482F928A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851916" y="5618128"/>
              <a:ext cx="0" cy="554182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61" name="Line 126">
              <a:extLst>
                <a:ext uri="{FF2B5EF4-FFF2-40B4-BE49-F238E27FC236}">
                  <a16:creationId xmlns:a16="http://schemas.microsoft.com/office/drawing/2014/main" id="{B918A81A-285C-2480-3BCC-4F68123C4B5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668912" y="3317696"/>
              <a:ext cx="0" cy="2951163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prstDash val="sysDot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62" name="Line 129">
              <a:extLst>
                <a:ext uri="{FF2B5EF4-FFF2-40B4-BE49-F238E27FC236}">
                  <a16:creationId xmlns:a16="http://schemas.microsoft.com/office/drawing/2014/main" id="{94C81CBA-D131-7B17-B52A-AF1961CDA27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576712" y="3317696"/>
              <a:ext cx="0" cy="2951163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prstDash val="sysDot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63" name="Line 131">
              <a:extLst>
                <a:ext uri="{FF2B5EF4-FFF2-40B4-BE49-F238E27FC236}">
                  <a16:creationId xmlns:a16="http://schemas.microsoft.com/office/drawing/2014/main" id="{C3FA85A7-2C94-5236-7CEC-30B74D8D0A3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527375" y="3276421"/>
              <a:ext cx="0" cy="2951163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prstDash val="sysDot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192" name="Line 133">
              <a:extLst>
                <a:ext uri="{FF2B5EF4-FFF2-40B4-BE49-F238E27FC236}">
                  <a16:creationId xmlns:a16="http://schemas.microsoft.com/office/drawing/2014/main" id="{A46A4E5D-E41C-1638-808C-F2FCB2D1565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12950" y="3276421"/>
              <a:ext cx="0" cy="2951163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prstDash val="sysDot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193" name="Line 135">
              <a:extLst>
                <a:ext uri="{FF2B5EF4-FFF2-40B4-BE49-F238E27FC236}">
                  <a16:creationId xmlns:a16="http://schemas.microsoft.com/office/drawing/2014/main" id="{582E0559-1A82-AA2E-5AC5-3639CC1E1C8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300112" y="3235146"/>
              <a:ext cx="0" cy="2951163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prstDash val="sysDot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194" name="Line 141">
              <a:extLst>
                <a:ext uri="{FF2B5EF4-FFF2-40B4-BE49-F238E27FC236}">
                  <a16:creationId xmlns:a16="http://schemas.microsoft.com/office/drawing/2014/main" id="{FBAD7791-74D6-BF3B-2E87-E5AE5A0FEF2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786512" y="3311346"/>
              <a:ext cx="0" cy="2951163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prstDash val="sysDot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</p:grpSp>
      <p:sp>
        <p:nvSpPr>
          <p:cNvPr id="199" name="Freeform 5">
            <a:extLst>
              <a:ext uri="{FF2B5EF4-FFF2-40B4-BE49-F238E27FC236}">
                <a16:creationId xmlns:a16="http://schemas.microsoft.com/office/drawing/2014/main" id="{E87C6614-7B59-517A-5E7A-08A7E3C839DC}"/>
              </a:ext>
            </a:extLst>
          </p:cNvPr>
          <p:cNvSpPr/>
          <p:nvPr/>
        </p:nvSpPr>
        <p:spPr>
          <a:xfrm>
            <a:off x="2891085" y="4579316"/>
            <a:ext cx="699550" cy="1310370"/>
          </a:xfrm>
          <a:custGeom>
            <a:avLst/>
            <a:gdLst>
              <a:gd name="connsiteX0" fmla="*/ 0 w 427838"/>
              <a:gd name="connsiteY0" fmla="*/ 0 h 1375795"/>
              <a:gd name="connsiteX1" fmla="*/ 151002 w 427838"/>
              <a:gd name="connsiteY1" fmla="*/ 1132514 h 1375795"/>
              <a:gd name="connsiteX2" fmla="*/ 427838 w 427838"/>
              <a:gd name="connsiteY2" fmla="*/ 1375795 h 137579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427838" h="1375795">
                <a:moveTo>
                  <a:pt x="0" y="0"/>
                </a:moveTo>
                <a:cubicBezTo>
                  <a:pt x="39848" y="451607"/>
                  <a:pt x="79696" y="903215"/>
                  <a:pt x="151002" y="1132514"/>
                </a:cubicBezTo>
                <a:cubicBezTo>
                  <a:pt x="222308" y="1361813"/>
                  <a:pt x="325073" y="1368804"/>
                  <a:pt x="427838" y="1375795"/>
                </a:cubicBezTo>
              </a:path>
            </a:pathLst>
          </a:custGeom>
          <a:noFill/>
          <a:ln w="38100">
            <a:solidFill>
              <a:srgbClr val="7030A0"/>
            </a:solidFill>
            <a:headEnd type="none" w="med" len="med"/>
            <a:tailEnd type="triangle" w="med" len="me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zh-CN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n-CN"/>
          </a:p>
        </p:txBody>
      </p:sp>
      <p:sp>
        <p:nvSpPr>
          <p:cNvPr id="200" name="文本框 199">
            <a:extLst>
              <a:ext uri="{FF2B5EF4-FFF2-40B4-BE49-F238E27FC236}">
                <a16:creationId xmlns:a16="http://schemas.microsoft.com/office/drawing/2014/main" id="{A601E3ED-7031-9611-FB6F-0A91701B9902}"/>
              </a:ext>
            </a:extLst>
          </p:cNvPr>
          <p:cNvSpPr txBox="1"/>
          <p:nvPr/>
        </p:nvSpPr>
        <p:spPr>
          <a:xfrm>
            <a:off x="2301413" y="5167353"/>
            <a:ext cx="774571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altLang="zh-CN" dirty="0">
                <a:ea typeface="SimHei" panose="02010609060101010101" pitchFamily="49" charset="-122"/>
              </a:rPr>
              <a:t>target</a:t>
            </a:r>
          </a:p>
          <a:p>
            <a:pPr algn="ctr"/>
            <a:r>
              <a:rPr lang="en-US" altLang="zh-CN" dirty="0">
                <a:ea typeface="SimHei" panose="02010609060101010101" pitchFamily="49" charset="-122"/>
              </a:rPr>
              <a:t>PC</a:t>
            </a:r>
            <a:endParaRPr lang="zh-CN" altLang="en-US" dirty="0">
              <a:ea typeface="SimHei" panose="02010609060101010101" pitchFamily="49" charset="-122"/>
            </a:endParaRPr>
          </a:p>
        </p:txBody>
      </p:sp>
    </p:spTree>
    <p:extLst>
      <p:ext uri="{BB962C8B-B14F-4D97-AF65-F5344CB8AC3E}">
        <p14:creationId xmlns:p14="http://schemas.microsoft.com/office/powerpoint/2010/main" val="3737161381"/>
      </p:ext>
    </p:extLst>
  </p:cSld>
  <p:clrMapOvr>
    <a:masterClrMapping/>
  </p:clrMapOvr>
</p:sld>
</file>

<file path=ppt/slides/slide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>
            <a:extLst>
              <a:ext uri="{FF2B5EF4-FFF2-40B4-BE49-F238E27FC236}">
                <a16:creationId xmlns:a16="http://schemas.microsoft.com/office/drawing/2014/main" id="{B1D5FBE5-8E53-496D-B9D5-C5CA6ABFC8A9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54000" y="136525"/>
            <a:ext cx="8648700" cy="826958"/>
          </a:xfrm>
        </p:spPr>
        <p:txBody>
          <a:bodyPr/>
          <a:lstStyle/>
          <a:p>
            <a:r>
              <a:rPr lang="zh-CN" altLang="en-US"/>
              <a:t>动态分支预测</a:t>
            </a:r>
            <a:endParaRPr lang="zh-CN" altLang="en-US" dirty="0"/>
          </a:p>
        </p:txBody>
      </p:sp>
      <p:sp>
        <p:nvSpPr>
          <p:cNvPr id="3" name="内容占位符 2">
            <a:extLst>
              <a:ext uri="{FF2B5EF4-FFF2-40B4-BE49-F238E27FC236}">
                <a16:creationId xmlns:a16="http://schemas.microsoft.com/office/drawing/2014/main" id="{072F946B-82F9-4560-AAC5-F9880183B0A7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457200" y="1166020"/>
            <a:ext cx="8229600" cy="4525963"/>
          </a:xfrm>
        </p:spPr>
        <p:txBody>
          <a:bodyPr/>
          <a:lstStyle/>
          <a:p>
            <a:r>
              <a:rPr lang="zh-CN" altLang="en-US" dirty="0"/>
              <a:t>动态分支预测流程：</a:t>
            </a:r>
            <a:r>
              <a:rPr lang="en-US" altLang="zh-CN" dirty="0"/>
              <a:t>Clock 2</a:t>
            </a:r>
          </a:p>
          <a:p>
            <a:pPr lvl="1"/>
            <a:r>
              <a:rPr lang="en-US" altLang="zh-CN" dirty="0" err="1"/>
              <a:t>beq</a:t>
            </a:r>
            <a:r>
              <a:rPr lang="zh-CN" altLang="en-US" dirty="0"/>
              <a:t>指令的</a:t>
            </a:r>
            <a:r>
              <a:rPr lang="en-US" altLang="zh-CN" dirty="0"/>
              <a:t>ID</a:t>
            </a:r>
            <a:r>
              <a:rPr lang="zh-CN" altLang="en-US" dirty="0"/>
              <a:t>阶段</a:t>
            </a:r>
          </a:p>
          <a:p>
            <a:pPr lvl="2"/>
            <a:r>
              <a:rPr lang="zh-CN" altLang="en-US" dirty="0"/>
              <a:t>下一条指令的</a:t>
            </a:r>
            <a:r>
              <a:rPr lang="en-US" altLang="zh-CN" dirty="0"/>
              <a:t>IF</a:t>
            </a:r>
            <a:r>
              <a:rPr lang="zh-CN" altLang="en-US" dirty="0"/>
              <a:t>段根据</a:t>
            </a:r>
            <a:r>
              <a:rPr lang="zh-CN" altLang="en-US" dirty="0">
                <a:solidFill>
                  <a:srgbClr val="00B050"/>
                </a:solidFill>
              </a:rPr>
              <a:t>预测目标地址</a:t>
            </a:r>
            <a:r>
              <a:rPr lang="zh-CN" altLang="en-US" dirty="0"/>
              <a:t>取出指令</a:t>
            </a:r>
          </a:p>
          <a:p>
            <a:endParaRPr lang="zh-CN" altLang="en-US" dirty="0"/>
          </a:p>
        </p:txBody>
      </p:sp>
      <p:sp>
        <p:nvSpPr>
          <p:cNvPr id="4" name="灯片编号占位符 3">
            <a:extLst>
              <a:ext uri="{FF2B5EF4-FFF2-40B4-BE49-F238E27FC236}">
                <a16:creationId xmlns:a16="http://schemas.microsoft.com/office/drawing/2014/main" id="{DA785B70-6C58-46BC-97DF-A98B3B27C74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6553200" y="6245225"/>
            <a:ext cx="2133600" cy="476250"/>
          </a:xfrm>
        </p:spPr>
        <p:txBody>
          <a:bodyPr/>
          <a:lstStyle/>
          <a:p>
            <a:fld id="{B1806CE5-282B-4233-8654-09F35EA875E2}" type="slidenum">
              <a:rPr lang="zh-CN" altLang="en-US" smtClean="0"/>
              <a:pPr/>
              <a:t>52</a:t>
            </a:fld>
            <a:endParaRPr lang="zh-CN" altLang="en-US"/>
          </a:p>
        </p:txBody>
      </p:sp>
      <p:sp>
        <p:nvSpPr>
          <p:cNvPr id="84" name="Line 85">
            <a:extLst>
              <a:ext uri="{FF2B5EF4-FFF2-40B4-BE49-F238E27FC236}">
                <a16:creationId xmlns:a16="http://schemas.microsoft.com/office/drawing/2014/main" id="{93275EC0-5D2A-4C61-8107-271436A13802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020397" y="2476499"/>
            <a:ext cx="776789" cy="2809119"/>
          </a:xfrm>
          <a:prstGeom prst="line">
            <a:avLst/>
          </a:prstGeom>
          <a:noFill/>
          <a:ln w="38100">
            <a:solidFill>
              <a:srgbClr val="00B05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grpSp>
        <p:nvGrpSpPr>
          <p:cNvPr id="5" name="组合 4">
            <a:extLst>
              <a:ext uri="{FF2B5EF4-FFF2-40B4-BE49-F238E27FC236}">
                <a16:creationId xmlns:a16="http://schemas.microsoft.com/office/drawing/2014/main" id="{AAB44C87-2EB1-24C5-4E99-7A1A43F90E6C}"/>
              </a:ext>
            </a:extLst>
          </p:cNvPr>
          <p:cNvGrpSpPr/>
          <p:nvPr/>
        </p:nvGrpSpPr>
        <p:grpSpPr>
          <a:xfrm>
            <a:off x="364950" y="3214509"/>
            <a:ext cx="8416347" cy="3109912"/>
            <a:chOff x="364950" y="3214509"/>
            <a:chExt cx="8416347" cy="3109912"/>
          </a:xfrm>
        </p:grpSpPr>
        <p:sp>
          <p:nvSpPr>
            <p:cNvPr id="6" name="Rectangle 25">
              <a:extLst>
                <a:ext uri="{FF2B5EF4-FFF2-40B4-BE49-F238E27FC236}">
                  <a16:creationId xmlns:a16="http://schemas.microsoft.com/office/drawing/2014/main" id="{D6420704-BB26-8E5F-7601-98D4D04010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4950" y="3214509"/>
              <a:ext cx="360362" cy="31099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73" tIns="44442" rIns="90473" bIns="44442">
              <a:spAutoFit/>
            </a:bodyPr>
            <a:lstStyle/>
            <a:p>
              <a:pPr algn="ctr" eaLnBrk="0" hangingPunct="0"/>
              <a:r>
                <a:rPr lang="en-US" altLang="zh-CN" i="1" dirty="0">
                  <a:latin typeface="Arial" pitchFamily="34" charset="0"/>
                  <a:ea typeface="SimHei" panose="02010609060101010101" pitchFamily="49" charset="-122"/>
                </a:rPr>
                <a:t>I</a:t>
              </a:r>
            </a:p>
            <a:p>
              <a:pPr algn="ctr" eaLnBrk="0" hangingPunct="0"/>
              <a:r>
                <a:rPr lang="en-US" altLang="zh-CN" i="1" dirty="0">
                  <a:latin typeface="Arial" pitchFamily="34" charset="0"/>
                  <a:ea typeface="SimHei" panose="02010609060101010101" pitchFamily="49" charset="-122"/>
                </a:rPr>
                <a:t>n</a:t>
              </a:r>
            </a:p>
            <a:p>
              <a:pPr algn="ctr" eaLnBrk="0" hangingPunct="0"/>
              <a:r>
                <a:rPr lang="en-US" altLang="zh-CN" i="1" dirty="0">
                  <a:latin typeface="Arial" pitchFamily="34" charset="0"/>
                  <a:ea typeface="SimHei" panose="02010609060101010101" pitchFamily="49" charset="-122"/>
                </a:rPr>
                <a:t>s</a:t>
              </a:r>
            </a:p>
            <a:p>
              <a:pPr algn="ctr" eaLnBrk="0" hangingPunct="0"/>
              <a:r>
                <a:rPr lang="en-US" altLang="zh-CN" i="1" dirty="0">
                  <a:latin typeface="Arial" pitchFamily="34" charset="0"/>
                  <a:ea typeface="SimHei" panose="02010609060101010101" pitchFamily="49" charset="-122"/>
                </a:rPr>
                <a:t>t</a:t>
              </a:r>
            </a:p>
            <a:p>
              <a:pPr algn="ctr" eaLnBrk="0" hangingPunct="0"/>
              <a:r>
                <a:rPr lang="en-US" altLang="zh-CN" i="1" dirty="0">
                  <a:latin typeface="Arial" pitchFamily="34" charset="0"/>
                  <a:ea typeface="SimHei" panose="02010609060101010101" pitchFamily="49" charset="-122"/>
                </a:rPr>
                <a:t>r.</a:t>
              </a:r>
            </a:p>
            <a:p>
              <a:pPr algn="ctr" eaLnBrk="0" hangingPunct="0"/>
              <a:endParaRPr lang="en-US" altLang="zh-CN" i="1" dirty="0">
                <a:latin typeface="Arial" pitchFamily="34" charset="0"/>
                <a:ea typeface="SimHei" panose="02010609060101010101" pitchFamily="49" charset="-122"/>
              </a:endParaRPr>
            </a:p>
            <a:p>
              <a:pPr algn="ctr" eaLnBrk="0" hangingPunct="0"/>
              <a:r>
                <a:rPr lang="en-US" altLang="zh-CN" i="1" dirty="0">
                  <a:latin typeface="Arial" pitchFamily="34" charset="0"/>
                  <a:ea typeface="SimHei" panose="02010609060101010101" pitchFamily="49" charset="-122"/>
                </a:rPr>
                <a:t>O</a:t>
              </a:r>
            </a:p>
            <a:p>
              <a:pPr algn="ctr" eaLnBrk="0" hangingPunct="0"/>
              <a:r>
                <a:rPr lang="en-US" altLang="zh-CN" i="1" dirty="0">
                  <a:latin typeface="Arial" pitchFamily="34" charset="0"/>
                  <a:ea typeface="SimHei" panose="02010609060101010101" pitchFamily="49" charset="-122"/>
                </a:rPr>
                <a:t>r</a:t>
              </a:r>
            </a:p>
            <a:p>
              <a:pPr algn="ctr" eaLnBrk="0" hangingPunct="0"/>
              <a:r>
                <a:rPr lang="en-US" altLang="zh-CN" i="1" dirty="0">
                  <a:latin typeface="Arial" pitchFamily="34" charset="0"/>
                  <a:ea typeface="SimHei" panose="02010609060101010101" pitchFamily="49" charset="-122"/>
                </a:rPr>
                <a:t>d</a:t>
              </a:r>
            </a:p>
            <a:p>
              <a:pPr algn="ctr" eaLnBrk="0" hangingPunct="0"/>
              <a:r>
                <a:rPr lang="en-US" altLang="zh-CN" i="1" dirty="0">
                  <a:latin typeface="Arial" pitchFamily="34" charset="0"/>
                  <a:ea typeface="SimHei" panose="02010609060101010101" pitchFamily="49" charset="-122"/>
                </a:rPr>
                <a:t>e</a:t>
              </a:r>
            </a:p>
            <a:p>
              <a:pPr algn="ctr" eaLnBrk="0" hangingPunct="0"/>
              <a:r>
                <a:rPr lang="en-US" altLang="zh-CN" i="1" dirty="0">
                  <a:latin typeface="Arial" pitchFamily="34" charset="0"/>
                  <a:ea typeface="SimHei" panose="02010609060101010101" pitchFamily="49" charset="-122"/>
                </a:rPr>
                <a:t>r</a:t>
              </a:r>
            </a:p>
          </p:txBody>
        </p:sp>
        <p:sp>
          <p:nvSpPr>
            <p:cNvPr id="7" name="Line 26">
              <a:extLst>
                <a:ext uri="{FF2B5EF4-FFF2-40B4-BE49-F238E27FC236}">
                  <a16:creationId xmlns:a16="http://schemas.microsoft.com/office/drawing/2014/main" id="{1A98577D-5B81-83CA-FFD5-DB36A92C08D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309512" y="3235146"/>
              <a:ext cx="6907213" cy="3175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8" name="Rectangle 27">
              <a:extLst>
                <a:ext uri="{FF2B5EF4-FFF2-40B4-BE49-F238E27FC236}">
                  <a16:creationId xmlns:a16="http://schemas.microsoft.com/office/drawing/2014/main" id="{B4A765D0-AC2D-22E4-B1FF-718B38BBA6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03100" y="3686314"/>
              <a:ext cx="697277" cy="45908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73" tIns="44442" rIns="90473" bIns="44442">
              <a:spAutoFit/>
            </a:bodyPr>
            <a:lstStyle/>
            <a:p>
              <a:pPr eaLnBrk="0" hangingPunct="0"/>
              <a:r>
                <a:rPr lang="en-US" altLang="zh-CN" sz="2400" dirty="0" err="1">
                  <a:solidFill>
                    <a:schemeClr val="accent1"/>
                  </a:solidFill>
                  <a:latin typeface="Arial" pitchFamily="34" charset="0"/>
                  <a:ea typeface="SimHei" panose="02010609060101010101" pitchFamily="49" charset="-122"/>
                </a:rPr>
                <a:t>beq</a:t>
              </a:r>
              <a:endParaRPr lang="en-US" altLang="zh-CN" sz="2400" dirty="0">
                <a:solidFill>
                  <a:schemeClr val="accent1"/>
                </a:solidFill>
                <a:latin typeface="Arial" pitchFamily="34" charset="0"/>
                <a:ea typeface="SimHei" panose="02010609060101010101" pitchFamily="49" charset="-122"/>
              </a:endParaRPr>
            </a:p>
          </p:txBody>
        </p:sp>
        <p:sp>
          <p:nvSpPr>
            <p:cNvPr id="9" name="Line 28">
              <a:extLst>
                <a:ext uri="{FF2B5EF4-FFF2-40B4-BE49-F238E27FC236}">
                  <a16:creationId xmlns:a16="http://schemas.microsoft.com/office/drawing/2014/main" id="{17832FBD-A7B8-9AFE-D1DB-37787197864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90387" y="3401834"/>
              <a:ext cx="0" cy="2784475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10" name="Freeform 31">
              <a:extLst>
                <a:ext uri="{FF2B5EF4-FFF2-40B4-BE49-F238E27FC236}">
                  <a16:creationId xmlns:a16="http://schemas.microsoft.com/office/drawing/2014/main" id="{B419898D-4782-CBE5-1825-6A9D4D45C0A9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8818" y="3311346"/>
              <a:ext cx="539445" cy="1249507"/>
            </a:xfrm>
            <a:custGeom>
              <a:avLst/>
              <a:gdLst>
                <a:gd name="T0" fmla="*/ 0 w 213"/>
                <a:gd name="T1" fmla="*/ 320 h 481"/>
                <a:gd name="T2" fmla="*/ 71 w 213"/>
                <a:gd name="T3" fmla="*/ 240 h 481"/>
                <a:gd name="T4" fmla="*/ 0 w 213"/>
                <a:gd name="T5" fmla="*/ 160 h 481"/>
                <a:gd name="T6" fmla="*/ 0 w 213"/>
                <a:gd name="T7" fmla="*/ 0 h 481"/>
                <a:gd name="T8" fmla="*/ 212 w 213"/>
                <a:gd name="T9" fmla="*/ 160 h 481"/>
                <a:gd name="T10" fmla="*/ 212 w 213"/>
                <a:gd name="T11" fmla="*/ 320 h 481"/>
                <a:gd name="T12" fmla="*/ 0 w 213"/>
                <a:gd name="T13" fmla="*/ 480 h 481"/>
                <a:gd name="T14" fmla="*/ 0 w 213"/>
                <a:gd name="T15" fmla="*/ 320 h 48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13" h="481">
                  <a:moveTo>
                    <a:pt x="0" y="320"/>
                  </a:moveTo>
                  <a:lnTo>
                    <a:pt x="71" y="240"/>
                  </a:lnTo>
                  <a:lnTo>
                    <a:pt x="0" y="160"/>
                  </a:lnTo>
                  <a:lnTo>
                    <a:pt x="0" y="0"/>
                  </a:lnTo>
                  <a:lnTo>
                    <a:pt x="212" y="160"/>
                  </a:lnTo>
                  <a:lnTo>
                    <a:pt x="212" y="320"/>
                  </a:lnTo>
                  <a:lnTo>
                    <a:pt x="0" y="480"/>
                  </a:lnTo>
                  <a:lnTo>
                    <a:pt x="0" y="320"/>
                  </a:lnTo>
                </a:path>
              </a:pathLst>
            </a:custGeom>
            <a:noFill/>
            <a:ln w="25400" cap="rnd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11" name="Rectangle 32">
              <a:extLst>
                <a:ext uri="{FF2B5EF4-FFF2-40B4-BE49-F238E27FC236}">
                  <a16:creationId xmlns:a16="http://schemas.microsoft.com/office/drawing/2014/main" id="{96F299E0-F6AE-F4CA-258B-ED29560CE2CF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4778904" y="3708760"/>
              <a:ext cx="682850" cy="39752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73" tIns="44442" rIns="90473" bIns="44442">
              <a:spAutoFit/>
            </a:bodyPr>
            <a:lstStyle/>
            <a:p>
              <a:pPr eaLnBrk="0" hangingPunct="0"/>
              <a:r>
                <a:rPr lang="en-US" altLang="zh-CN" sz="2000" dirty="0">
                  <a:latin typeface="Arial" pitchFamily="34" charset="0"/>
                  <a:ea typeface="SimHei" panose="02010609060101010101" pitchFamily="49" charset="-122"/>
                </a:rPr>
                <a:t>ALU</a:t>
              </a:r>
            </a:p>
          </p:txBody>
        </p:sp>
        <p:sp>
          <p:nvSpPr>
            <p:cNvPr id="12" name="Rectangle 34">
              <a:extLst>
                <a:ext uri="{FF2B5EF4-FFF2-40B4-BE49-F238E27FC236}">
                  <a16:creationId xmlns:a16="http://schemas.microsoft.com/office/drawing/2014/main" id="{26ECE823-155F-1ED5-62D8-F423A7764B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67662" y="3708163"/>
              <a:ext cx="466445" cy="39752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73" tIns="44442" rIns="90473" bIns="44442">
              <a:spAutoFit/>
            </a:bodyPr>
            <a:lstStyle/>
            <a:p>
              <a:pPr algn="ctr" eaLnBrk="0" hangingPunct="0"/>
              <a:r>
                <a:rPr lang="en-US" altLang="zh-CN" sz="2000" dirty="0">
                  <a:latin typeface="Arial" pitchFamily="34" charset="0"/>
                  <a:ea typeface="SimHei" panose="02010609060101010101" pitchFamily="49" charset="-122"/>
                </a:rPr>
                <a:t>IM</a:t>
              </a:r>
            </a:p>
          </p:txBody>
        </p:sp>
        <p:grpSp>
          <p:nvGrpSpPr>
            <p:cNvPr id="13" name="Group 35">
              <a:extLst>
                <a:ext uri="{FF2B5EF4-FFF2-40B4-BE49-F238E27FC236}">
                  <a16:creationId xmlns:a16="http://schemas.microsoft.com/office/drawing/2014/main" id="{E148F674-BCAF-EF08-7137-007F7EE8277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463625" y="3560728"/>
              <a:ext cx="861086" cy="750743"/>
              <a:chOff x="1291" y="1509"/>
              <a:chExt cx="340" cy="289"/>
            </a:xfrm>
          </p:grpSpPr>
          <p:sp>
            <p:nvSpPr>
              <p:cNvPr id="69" name="Freeform 36">
                <a:extLst>
                  <a:ext uri="{FF2B5EF4-FFF2-40B4-BE49-F238E27FC236}">
                    <a16:creationId xmlns:a16="http://schemas.microsoft.com/office/drawing/2014/main" id="{BECE3DA5-66DB-2BD5-8B55-D84000B568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1" y="1509"/>
                <a:ext cx="170" cy="289"/>
              </a:xfrm>
              <a:custGeom>
                <a:avLst/>
                <a:gdLst>
                  <a:gd name="T0" fmla="*/ 169 w 170"/>
                  <a:gd name="T1" fmla="*/ 0 h 289"/>
                  <a:gd name="T2" fmla="*/ 0 w 170"/>
                  <a:gd name="T3" fmla="*/ 0 h 289"/>
                  <a:gd name="T4" fmla="*/ 0 w 170"/>
                  <a:gd name="T5" fmla="*/ 288 h 289"/>
                  <a:gd name="T6" fmla="*/ 169 w 170"/>
                  <a:gd name="T7" fmla="*/ 288 h 28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0" h="289">
                    <a:moveTo>
                      <a:pt x="169" y="0"/>
                    </a:moveTo>
                    <a:lnTo>
                      <a:pt x="0" y="0"/>
                    </a:lnTo>
                    <a:lnTo>
                      <a:pt x="0" y="288"/>
                    </a:lnTo>
                    <a:lnTo>
                      <a:pt x="169" y="288"/>
                    </a:lnTo>
                  </a:path>
                </a:pathLst>
              </a:custGeom>
              <a:noFill/>
              <a:ln w="25400" cap="rnd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dirty="0">
                  <a:ea typeface="SimHei" panose="02010609060101010101" pitchFamily="49" charset="-122"/>
                </a:endParaRPr>
              </a:p>
            </p:txBody>
          </p:sp>
          <p:sp>
            <p:nvSpPr>
              <p:cNvPr id="70" name="Freeform 37">
                <a:extLst>
                  <a:ext uri="{FF2B5EF4-FFF2-40B4-BE49-F238E27FC236}">
                    <a16:creationId xmlns:a16="http://schemas.microsoft.com/office/drawing/2014/main" id="{9274DF83-84AC-98BE-8CB2-6947CA3CFB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0" y="1509"/>
                <a:ext cx="171" cy="289"/>
              </a:xfrm>
              <a:custGeom>
                <a:avLst/>
                <a:gdLst>
                  <a:gd name="T0" fmla="*/ 0 w 171"/>
                  <a:gd name="T1" fmla="*/ 0 h 289"/>
                  <a:gd name="T2" fmla="*/ 170 w 171"/>
                  <a:gd name="T3" fmla="*/ 0 h 289"/>
                  <a:gd name="T4" fmla="*/ 170 w 171"/>
                  <a:gd name="T5" fmla="*/ 288 h 289"/>
                  <a:gd name="T6" fmla="*/ 0 w 171"/>
                  <a:gd name="T7" fmla="*/ 288 h 28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1" h="289">
                    <a:moveTo>
                      <a:pt x="0" y="0"/>
                    </a:moveTo>
                    <a:lnTo>
                      <a:pt x="170" y="0"/>
                    </a:lnTo>
                    <a:lnTo>
                      <a:pt x="170" y="288"/>
                    </a:lnTo>
                    <a:lnTo>
                      <a:pt x="0" y="288"/>
                    </a:lnTo>
                  </a:path>
                </a:pathLst>
              </a:custGeom>
              <a:noFill/>
              <a:ln w="25400" cap="rnd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dirty="0">
                  <a:ea typeface="SimHei" panose="02010609060101010101" pitchFamily="49" charset="-122"/>
                </a:endParaRPr>
              </a:p>
            </p:txBody>
          </p:sp>
        </p:grpSp>
        <p:sp>
          <p:nvSpPr>
            <p:cNvPr id="14" name="Rectangle 38">
              <a:extLst>
                <a:ext uri="{FF2B5EF4-FFF2-40B4-BE49-F238E27FC236}">
                  <a16:creationId xmlns:a16="http://schemas.microsoft.com/office/drawing/2014/main" id="{8FBEF5E4-C668-AF4C-01C9-F3111E36C5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5117" y="3721152"/>
              <a:ext cx="653996" cy="39752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73" tIns="44442" rIns="90473" bIns="44442">
              <a:spAutoFit/>
            </a:bodyPr>
            <a:lstStyle/>
            <a:p>
              <a:pPr eaLnBrk="0" hangingPunct="0"/>
              <a:r>
                <a:rPr lang="en-US" altLang="zh-CN" sz="2000" dirty="0">
                  <a:latin typeface="Arial" pitchFamily="34" charset="0"/>
                  <a:ea typeface="SimHei" panose="02010609060101010101" pitchFamily="49" charset="-122"/>
                </a:rPr>
                <a:t>Reg</a:t>
              </a:r>
            </a:p>
          </p:txBody>
        </p:sp>
        <p:sp>
          <p:nvSpPr>
            <p:cNvPr id="15" name="Freeform 40">
              <a:extLst>
                <a:ext uri="{FF2B5EF4-FFF2-40B4-BE49-F238E27FC236}">
                  <a16:creationId xmlns:a16="http://schemas.microsoft.com/office/drawing/2014/main" id="{17FEDBB3-8141-96B9-DA2F-E5834068E05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8624" y="3560728"/>
              <a:ext cx="377358" cy="750743"/>
            </a:xfrm>
            <a:custGeom>
              <a:avLst/>
              <a:gdLst>
                <a:gd name="T0" fmla="*/ 148 w 149"/>
                <a:gd name="T1" fmla="*/ 0 h 289"/>
                <a:gd name="T2" fmla="*/ 0 w 149"/>
                <a:gd name="T3" fmla="*/ 0 h 289"/>
                <a:gd name="T4" fmla="*/ 0 w 149"/>
                <a:gd name="T5" fmla="*/ 288 h 289"/>
                <a:gd name="T6" fmla="*/ 148 w 149"/>
                <a:gd name="T7" fmla="*/ 288 h 28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9" h="289">
                  <a:moveTo>
                    <a:pt x="148" y="0"/>
                  </a:moveTo>
                  <a:lnTo>
                    <a:pt x="0" y="0"/>
                  </a:lnTo>
                  <a:lnTo>
                    <a:pt x="0" y="288"/>
                  </a:lnTo>
                  <a:lnTo>
                    <a:pt x="148" y="288"/>
                  </a:lnTo>
                </a:path>
              </a:pathLst>
            </a:custGeom>
            <a:noFill/>
            <a:ln w="25400" cap="rnd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16" name="Freeform 41">
              <a:extLst>
                <a:ext uri="{FF2B5EF4-FFF2-40B4-BE49-F238E27FC236}">
                  <a16:creationId xmlns:a16="http://schemas.microsoft.com/office/drawing/2014/main" id="{CB083305-66E3-A9CC-D5A6-BF7D5AB3EAB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3450" y="3560728"/>
              <a:ext cx="374826" cy="750743"/>
            </a:xfrm>
            <a:custGeom>
              <a:avLst/>
              <a:gdLst>
                <a:gd name="T0" fmla="*/ 0 w 148"/>
                <a:gd name="T1" fmla="*/ 0 h 289"/>
                <a:gd name="T2" fmla="*/ 147 w 148"/>
                <a:gd name="T3" fmla="*/ 0 h 289"/>
                <a:gd name="T4" fmla="*/ 147 w 148"/>
                <a:gd name="T5" fmla="*/ 288 h 289"/>
                <a:gd name="T6" fmla="*/ 0 w 148"/>
                <a:gd name="T7" fmla="*/ 288 h 28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8" h="289">
                  <a:moveTo>
                    <a:pt x="0" y="0"/>
                  </a:moveTo>
                  <a:lnTo>
                    <a:pt x="147" y="0"/>
                  </a:lnTo>
                  <a:lnTo>
                    <a:pt x="147" y="288"/>
                  </a:lnTo>
                  <a:lnTo>
                    <a:pt x="0" y="288"/>
                  </a:lnTo>
                </a:path>
              </a:pathLst>
            </a:custGeom>
            <a:noFill/>
            <a:ln w="25400" cap="rnd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17" name="Line 42">
              <a:extLst>
                <a:ext uri="{FF2B5EF4-FFF2-40B4-BE49-F238E27FC236}">
                  <a16:creationId xmlns:a16="http://schemas.microsoft.com/office/drawing/2014/main" id="{6D6C98D4-CDEC-DD0C-5BBC-BC24CAE10DA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37374" y="3934801"/>
              <a:ext cx="293782" cy="0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18" name="Freeform 43">
              <a:extLst>
                <a:ext uri="{FF2B5EF4-FFF2-40B4-BE49-F238E27FC236}">
                  <a16:creationId xmlns:a16="http://schemas.microsoft.com/office/drawing/2014/main" id="{BF13677A-4183-41A3-D84D-7C49D312F1B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9591" y="3685419"/>
              <a:ext cx="121565" cy="251980"/>
            </a:xfrm>
            <a:custGeom>
              <a:avLst/>
              <a:gdLst>
                <a:gd name="T0" fmla="*/ 0 w 48"/>
                <a:gd name="T1" fmla="*/ 96 h 97"/>
                <a:gd name="T2" fmla="*/ 0 w 48"/>
                <a:gd name="T3" fmla="*/ 0 h 97"/>
                <a:gd name="T4" fmla="*/ 47 w 48"/>
                <a:gd name="T5" fmla="*/ 0 h 97"/>
                <a:gd name="T6" fmla="*/ 47 w 48"/>
                <a:gd name="T7" fmla="*/ 0 h 9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8" h="97">
                  <a:moveTo>
                    <a:pt x="0" y="96"/>
                  </a:moveTo>
                  <a:lnTo>
                    <a:pt x="0" y="0"/>
                  </a:lnTo>
                  <a:lnTo>
                    <a:pt x="47" y="0"/>
                  </a:lnTo>
                </a:path>
              </a:pathLst>
            </a:custGeom>
            <a:noFill/>
            <a:ln w="25400" cap="rnd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19" name="Line 44">
              <a:extLst>
                <a:ext uri="{FF2B5EF4-FFF2-40B4-BE49-F238E27FC236}">
                  <a16:creationId xmlns:a16="http://schemas.microsoft.com/office/drawing/2014/main" id="{3EDE5D3C-7FD5-734F-AFDB-33623277923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90938" y="3685419"/>
              <a:ext cx="397619" cy="0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20" name="Rectangle 45">
              <a:extLst>
                <a:ext uri="{FF2B5EF4-FFF2-40B4-BE49-F238E27FC236}">
                  <a16:creationId xmlns:a16="http://schemas.microsoft.com/office/drawing/2014/main" id="{09EB9105-3953-4F07-8BCF-9DD7ABC016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08353" y="3726347"/>
              <a:ext cx="581861" cy="39752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73" tIns="44442" rIns="90473" bIns="44442">
              <a:spAutoFit/>
            </a:bodyPr>
            <a:lstStyle/>
            <a:p>
              <a:pPr eaLnBrk="0" hangingPunct="0"/>
              <a:r>
                <a:rPr lang="en-US" altLang="zh-CN" sz="2000" dirty="0">
                  <a:latin typeface="Arial" pitchFamily="34" charset="0"/>
                  <a:ea typeface="SimHei" panose="02010609060101010101" pitchFamily="49" charset="-122"/>
                </a:rPr>
                <a:t>DM</a:t>
              </a:r>
            </a:p>
          </p:txBody>
        </p:sp>
        <p:sp>
          <p:nvSpPr>
            <p:cNvPr id="21" name="Freeform 47">
              <a:extLst>
                <a:ext uri="{FF2B5EF4-FFF2-40B4-BE49-F238E27FC236}">
                  <a16:creationId xmlns:a16="http://schemas.microsoft.com/office/drawing/2014/main" id="{F363ECAB-EE27-CBDE-AAFA-E31D6C333403}"/>
                </a:ext>
              </a:extLst>
            </p:cNvPr>
            <p:cNvSpPr>
              <a:spLocks/>
            </p:cNvSpPr>
            <p:nvPr/>
          </p:nvSpPr>
          <p:spPr bwMode="auto">
            <a:xfrm>
              <a:off x="5778806" y="3560728"/>
              <a:ext cx="410282" cy="750743"/>
            </a:xfrm>
            <a:custGeom>
              <a:avLst/>
              <a:gdLst>
                <a:gd name="T0" fmla="*/ 161 w 162"/>
                <a:gd name="T1" fmla="*/ 0 h 289"/>
                <a:gd name="T2" fmla="*/ 0 w 162"/>
                <a:gd name="T3" fmla="*/ 0 h 289"/>
                <a:gd name="T4" fmla="*/ 0 w 162"/>
                <a:gd name="T5" fmla="*/ 288 h 289"/>
                <a:gd name="T6" fmla="*/ 161 w 162"/>
                <a:gd name="T7" fmla="*/ 288 h 28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2" h="289">
                  <a:moveTo>
                    <a:pt x="161" y="0"/>
                  </a:moveTo>
                  <a:lnTo>
                    <a:pt x="0" y="0"/>
                  </a:lnTo>
                  <a:lnTo>
                    <a:pt x="0" y="288"/>
                  </a:lnTo>
                  <a:lnTo>
                    <a:pt x="161" y="288"/>
                  </a:lnTo>
                </a:path>
              </a:pathLst>
            </a:custGeom>
            <a:noFill/>
            <a:ln w="25400" cap="rnd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22" name="Freeform 48">
              <a:extLst>
                <a:ext uri="{FF2B5EF4-FFF2-40B4-BE49-F238E27FC236}">
                  <a16:creationId xmlns:a16="http://schemas.microsoft.com/office/drawing/2014/main" id="{F2C3A9FD-592F-B0F7-902D-A5FDFF1CDBF8}"/>
                </a:ext>
              </a:extLst>
            </p:cNvPr>
            <p:cNvSpPr>
              <a:spLocks/>
            </p:cNvSpPr>
            <p:nvPr/>
          </p:nvSpPr>
          <p:spPr bwMode="auto">
            <a:xfrm>
              <a:off x="6186556" y="3560728"/>
              <a:ext cx="415347" cy="750743"/>
            </a:xfrm>
            <a:custGeom>
              <a:avLst/>
              <a:gdLst>
                <a:gd name="T0" fmla="*/ 0 w 164"/>
                <a:gd name="T1" fmla="*/ 0 h 289"/>
                <a:gd name="T2" fmla="*/ 163 w 164"/>
                <a:gd name="T3" fmla="*/ 0 h 289"/>
                <a:gd name="T4" fmla="*/ 163 w 164"/>
                <a:gd name="T5" fmla="*/ 288 h 289"/>
                <a:gd name="T6" fmla="*/ 0 w 164"/>
                <a:gd name="T7" fmla="*/ 288 h 28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4" h="289">
                  <a:moveTo>
                    <a:pt x="0" y="0"/>
                  </a:moveTo>
                  <a:lnTo>
                    <a:pt x="163" y="0"/>
                  </a:lnTo>
                  <a:lnTo>
                    <a:pt x="163" y="288"/>
                  </a:lnTo>
                  <a:lnTo>
                    <a:pt x="0" y="288"/>
                  </a:lnTo>
                </a:path>
              </a:pathLst>
            </a:custGeom>
            <a:noFill/>
            <a:ln w="25400" cap="rnd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23" name="Rectangle 49">
              <a:extLst>
                <a:ext uri="{FF2B5EF4-FFF2-40B4-BE49-F238E27FC236}">
                  <a16:creationId xmlns:a16="http://schemas.microsoft.com/office/drawing/2014/main" id="{360B3EAB-BDF9-0B07-98AF-593BFC5CF3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27765" y="3705566"/>
              <a:ext cx="653996" cy="39752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73" tIns="44442" rIns="90473" bIns="44442">
              <a:spAutoFit/>
            </a:bodyPr>
            <a:lstStyle/>
            <a:p>
              <a:pPr eaLnBrk="0" hangingPunct="0"/>
              <a:r>
                <a:rPr lang="en-US" altLang="zh-CN" sz="2000" dirty="0">
                  <a:latin typeface="Arial" pitchFamily="34" charset="0"/>
                  <a:ea typeface="SimHei" panose="02010609060101010101" pitchFamily="49" charset="-122"/>
                </a:rPr>
                <a:t>Reg</a:t>
              </a:r>
            </a:p>
          </p:txBody>
        </p:sp>
        <p:sp>
          <p:nvSpPr>
            <p:cNvPr id="24" name="Freeform 51">
              <a:extLst>
                <a:ext uri="{FF2B5EF4-FFF2-40B4-BE49-F238E27FC236}">
                  <a16:creationId xmlns:a16="http://schemas.microsoft.com/office/drawing/2014/main" id="{8BAC6AB5-D6B2-DAF6-683B-A4E919EB359D}"/>
                </a:ext>
              </a:extLst>
            </p:cNvPr>
            <p:cNvSpPr>
              <a:spLocks/>
            </p:cNvSpPr>
            <p:nvPr/>
          </p:nvSpPr>
          <p:spPr bwMode="auto">
            <a:xfrm>
              <a:off x="6964065" y="3560728"/>
              <a:ext cx="359630" cy="750743"/>
            </a:xfrm>
            <a:custGeom>
              <a:avLst/>
              <a:gdLst>
                <a:gd name="T0" fmla="*/ 141 w 142"/>
                <a:gd name="T1" fmla="*/ 0 h 289"/>
                <a:gd name="T2" fmla="*/ 0 w 142"/>
                <a:gd name="T3" fmla="*/ 0 h 289"/>
                <a:gd name="T4" fmla="*/ 0 w 142"/>
                <a:gd name="T5" fmla="*/ 288 h 289"/>
                <a:gd name="T6" fmla="*/ 141 w 142"/>
                <a:gd name="T7" fmla="*/ 288 h 28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2" h="289">
                  <a:moveTo>
                    <a:pt x="141" y="0"/>
                  </a:moveTo>
                  <a:lnTo>
                    <a:pt x="0" y="0"/>
                  </a:lnTo>
                  <a:lnTo>
                    <a:pt x="0" y="288"/>
                  </a:lnTo>
                  <a:lnTo>
                    <a:pt x="141" y="288"/>
                  </a:lnTo>
                </a:path>
              </a:pathLst>
            </a:custGeom>
            <a:noFill/>
            <a:ln w="25400" cap="rnd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25" name="Freeform 52">
              <a:extLst>
                <a:ext uri="{FF2B5EF4-FFF2-40B4-BE49-F238E27FC236}">
                  <a16:creationId xmlns:a16="http://schemas.microsoft.com/office/drawing/2014/main" id="{9FD74966-F7E6-EFC7-DA0E-C22C5BE8771A}"/>
                </a:ext>
              </a:extLst>
            </p:cNvPr>
            <p:cNvSpPr>
              <a:spLocks/>
            </p:cNvSpPr>
            <p:nvPr/>
          </p:nvSpPr>
          <p:spPr bwMode="auto">
            <a:xfrm>
              <a:off x="7321162" y="3560728"/>
              <a:ext cx="362163" cy="750743"/>
            </a:xfrm>
            <a:custGeom>
              <a:avLst/>
              <a:gdLst>
                <a:gd name="T0" fmla="*/ 0 w 143"/>
                <a:gd name="T1" fmla="*/ 0 h 289"/>
                <a:gd name="T2" fmla="*/ 142 w 143"/>
                <a:gd name="T3" fmla="*/ 0 h 289"/>
                <a:gd name="T4" fmla="*/ 142 w 143"/>
                <a:gd name="T5" fmla="*/ 288 h 289"/>
                <a:gd name="T6" fmla="*/ 0 w 143"/>
                <a:gd name="T7" fmla="*/ 288 h 28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3" h="289">
                  <a:moveTo>
                    <a:pt x="0" y="0"/>
                  </a:moveTo>
                  <a:lnTo>
                    <a:pt x="142" y="0"/>
                  </a:lnTo>
                  <a:lnTo>
                    <a:pt x="142" y="288"/>
                  </a:lnTo>
                  <a:lnTo>
                    <a:pt x="0" y="288"/>
                  </a:lnTo>
                </a:path>
              </a:pathLst>
            </a:custGeom>
            <a:noFill/>
            <a:ln w="25400" cap="rnd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26" name="Line 53">
              <a:extLst>
                <a:ext uri="{FF2B5EF4-FFF2-40B4-BE49-F238E27FC236}">
                  <a16:creationId xmlns:a16="http://schemas.microsoft.com/office/drawing/2014/main" id="{E1781DA0-C58F-63E8-E402-C5E6E83D923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591772" y="3934801"/>
              <a:ext cx="352032" cy="0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27" name="Line 54">
              <a:extLst>
                <a:ext uri="{FF2B5EF4-FFF2-40B4-BE49-F238E27FC236}">
                  <a16:creationId xmlns:a16="http://schemas.microsoft.com/office/drawing/2014/main" id="{5EDA1938-0D12-1789-8792-93EE835632C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365991" y="3934801"/>
              <a:ext cx="392554" cy="0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28" name="Line 55">
              <a:extLst>
                <a:ext uri="{FF2B5EF4-FFF2-40B4-BE49-F238E27FC236}">
                  <a16:creationId xmlns:a16="http://schemas.microsoft.com/office/drawing/2014/main" id="{61EDDE53-D65F-E236-086C-1B95F89C3F9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90938" y="4184182"/>
              <a:ext cx="397619" cy="0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29" name="Line 56">
              <a:extLst>
                <a:ext uri="{FF2B5EF4-FFF2-40B4-BE49-F238E27FC236}">
                  <a16:creationId xmlns:a16="http://schemas.microsoft.com/office/drawing/2014/main" id="{DA2728F5-9A0D-1103-DF11-4693B850CAF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03677" y="4184182"/>
              <a:ext cx="0" cy="49876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30" name="Line 57">
              <a:extLst>
                <a:ext uri="{FF2B5EF4-FFF2-40B4-BE49-F238E27FC236}">
                  <a16:creationId xmlns:a16="http://schemas.microsoft.com/office/drawing/2014/main" id="{EEFBCB4A-4339-61DA-2E90-5D9EFC2FEAB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03677" y="4682946"/>
              <a:ext cx="850955" cy="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31" name="Line 58">
              <a:extLst>
                <a:ext uri="{FF2B5EF4-FFF2-40B4-BE49-F238E27FC236}">
                  <a16:creationId xmlns:a16="http://schemas.microsoft.com/office/drawing/2014/main" id="{CFB6A75E-05D3-F744-0B04-915FF409E80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454632" y="3934801"/>
              <a:ext cx="0" cy="748145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32" name="Line 59">
              <a:extLst>
                <a:ext uri="{FF2B5EF4-FFF2-40B4-BE49-F238E27FC236}">
                  <a16:creationId xmlns:a16="http://schemas.microsoft.com/office/drawing/2014/main" id="{0444C35D-E467-53C3-F7F3-18246CAFA5B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657241" y="3934801"/>
              <a:ext cx="0" cy="623455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33" name="Line 60">
              <a:extLst>
                <a:ext uri="{FF2B5EF4-FFF2-40B4-BE49-F238E27FC236}">
                  <a16:creationId xmlns:a16="http://schemas.microsoft.com/office/drawing/2014/main" id="{689D96DA-74B6-C0A5-7DA1-C97E5979F47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657241" y="4558255"/>
              <a:ext cx="1094086" cy="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34" name="Line 61">
              <a:extLst>
                <a:ext uri="{FF2B5EF4-FFF2-40B4-BE49-F238E27FC236}">
                  <a16:creationId xmlns:a16="http://schemas.microsoft.com/office/drawing/2014/main" id="{5734C901-0197-AB45-DE59-73E1EF249FC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751326" y="3934801"/>
              <a:ext cx="0" cy="623455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35" name="Rectangle 62">
              <a:extLst>
                <a:ext uri="{FF2B5EF4-FFF2-40B4-BE49-F238E27FC236}">
                  <a16:creationId xmlns:a16="http://schemas.microsoft.com/office/drawing/2014/main" id="{DC217F10-E9A3-6297-8161-958CB06799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03100" y="5373826"/>
              <a:ext cx="969788" cy="45908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73" tIns="44442" rIns="90473" bIns="44442">
              <a:spAutoFit/>
            </a:bodyPr>
            <a:lstStyle/>
            <a:p>
              <a:pPr eaLnBrk="0" hangingPunct="0"/>
              <a:r>
                <a:rPr lang="en-US" altLang="zh-CN" sz="2400" dirty="0">
                  <a:latin typeface="Arial" pitchFamily="34" charset="0"/>
                  <a:ea typeface="SimHei" panose="02010609060101010101" pitchFamily="49" charset="-122"/>
                </a:rPr>
                <a:t>target</a:t>
              </a:r>
            </a:p>
          </p:txBody>
        </p:sp>
        <p:sp>
          <p:nvSpPr>
            <p:cNvPr id="36" name="Freeform 65">
              <a:extLst>
                <a:ext uri="{FF2B5EF4-FFF2-40B4-BE49-F238E27FC236}">
                  <a16:creationId xmlns:a16="http://schemas.microsoft.com/office/drawing/2014/main" id="{DF1CA50F-D575-C672-E165-B5D65CC526CD}"/>
                </a:ext>
              </a:extLst>
            </p:cNvPr>
            <p:cNvSpPr>
              <a:spLocks/>
            </p:cNvSpPr>
            <p:nvPr/>
          </p:nvSpPr>
          <p:spPr bwMode="auto">
            <a:xfrm>
              <a:off x="5923587" y="5063946"/>
              <a:ext cx="535507" cy="1110673"/>
            </a:xfrm>
            <a:custGeom>
              <a:avLst/>
              <a:gdLst>
                <a:gd name="T0" fmla="*/ 0 w 213"/>
                <a:gd name="T1" fmla="*/ 320 h 481"/>
                <a:gd name="T2" fmla="*/ 71 w 213"/>
                <a:gd name="T3" fmla="*/ 240 h 481"/>
                <a:gd name="T4" fmla="*/ 0 w 213"/>
                <a:gd name="T5" fmla="*/ 160 h 481"/>
                <a:gd name="T6" fmla="*/ 0 w 213"/>
                <a:gd name="T7" fmla="*/ 0 h 481"/>
                <a:gd name="T8" fmla="*/ 212 w 213"/>
                <a:gd name="T9" fmla="*/ 160 h 481"/>
                <a:gd name="T10" fmla="*/ 212 w 213"/>
                <a:gd name="T11" fmla="*/ 320 h 481"/>
                <a:gd name="T12" fmla="*/ 0 w 213"/>
                <a:gd name="T13" fmla="*/ 480 h 481"/>
                <a:gd name="T14" fmla="*/ 0 w 213"/>
                <a:gd name="T15" fmla="*/ 320 h 48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13" h="481">
                  <a:moveTo>
                    <a:pt x="0" y="320"/>
                  </a:moveTo>
                  <a:lnTo>
                    <a:pt x="71" y="240"/>
                  </a:lnTo>
                  <a:lnTo>
                    <a:pt x="0" y="160"/>
                  </a:lnTo>
                  <a:lnTo>
                    <a:pt x="0" y="0"/>
                  </a:lnTo>
                  <a:lnTo>
                    <a:pt x="212" y="160"/>
                  </a:lnTo>
                  <a:lnTo>
                    <a:pt x="212" y="320"/>
                  </a:lnTo>
                  <a:lnTo>
                    <a:pt x="0" y="480"/>
                  </a:lnTo>
                  <a:lnTo>
                    <a:pt x="0" y="320"/>
                  </a:lnTo>
                </a:path>
              </a:pathLst>
            </a:custGeom>
            <a:noFill/>
            <a:ln w="25400" cap="rnd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37" name="Rectangle 66">
              <a:extLst>
                <a:ext uri="{FF2B5EF4-FFF2-40B4-BE49-F238E27FC236}">
                  <a16:creationId xmlns:a16="http://schemas.microsoft.com/office/drawing/2014/main" id="{8CAE79FB-75B8-6505-7E7B-FBFB325E372D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5866257" y="5415901"/>
              <a:ext cx="682850" cy="39752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73" tIns="44442" rIns="90473" bIns="44442">
              <a:spAutoFit/>
            </a:bodyPr>
            <a:lstStyle/>
            <a:p>
              <a:pPr eaLnBrk="0" hangingPunct="0"/>
              <a:r>
                <a:rPr lang="en-US" altLang="zh-CN" sz="2000" dirty="0">
                  <a:latin typeface="Arial" pitchFamily="34" charset="0"/>
                  <a:ea typeface="SimHei" panose="02010609060101010101" pitchFamily="49" charset="-122"/>
                </a:rPr>
                <a:t>ALU</a:t>
              </a:r>
            </a:p>
          </p:txBody>
        </p:sp>
        <p:sp>
          <p:nvSpPr>
            <p:cNvPr id="38" name="Rectangle 68">
              <a:extLst>
                <a:ext uri="{FF2B5EF4-FFF2-40B4-BE49-F238E27FC236}">
                  <a16:creationId xmlns:a16="http://schemas.microsoft.com/office/drawing/2014/main" id="{3943A363-1F17-3E3E-74C7-4D74918898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93550" y="5432477"/>
              <a:ext cx="466445" cy="39752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73" tIns="44442" rIns="90473" bIns="44442">
              <a:spAutoFit/>
            </a:bodyPr>
            <a:lstStyle/>
            <a:p>
              <a:pPr algn="ctr" eaLnBrk="0" hangingPunct="0"/>
              <a:r>
                <a:rPr lang="en-US" altLang="zh-CN" sz="2000" dirty="0">
                  <a:latin typeface="Arial" pitchFamily="34" charset="0"/>
                  <a:ea typeface="SimHei" panose="02010609060101010101" pitchFamily="49" charset="-122"/>
                </a:rPr>
                <a:t>IM</a:t>
              </a:r>
            </a:p>
          </p:txBody>
        </p:sp>
        <p:grpSp>
          <p:nvGrpSpPr>
            <p:cNvPr id="39" name="Group 69">
              <a:extLst>
                <a:ext uri="{FF2B5EF4-FFF2-40B4-BE49-F238E27FC236}">
                  <a16:creationId xmlns:a16="http://schemas.microsoft.com/office/drawing/2014/main" id="{EFD0049B-50DD-B290-FA0B-84C4AE9AE5E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595512" y="5285619"/>
              <a:ext cx="854801" cy="667327"/>
              <a:chOff x="1291" y="1509"/>
              <a:chExt cx="340" cy="289"/>
            </a:xfrm>
          </p:grpSpPr>
          <p:sp>
            <p:nvSpPr>
              <p:cNvPr id="67" name="Freeform 70">
                <a:extLst>
                  <a:ext uri="{FF2B5EF4-FFF2-40B4-BE49-F238E27FC236}">
                    <a16:creationId xmlns:a16="http://schemas.microsoft.com/office/drawing/2014/main" id="{802A2C29-3C43-A099-9288-8F17E7958A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1" y="1509"/>
                <a:ext cx="170" cy="289"/>
              </a:xfrm>
              <a:custGeom>
                <a:avLst/>
                <a:gdLst>
                  <a:gd name="T0" fmla="*/ 169 w 170"/>
                  <a:gd name="T1" fmla="*/ 0 h 289"/>
                  <a:gd name="T2" fmla="*/ 0 w 170"/>
                  <a:gd name="T3" fmla="*/ 0 h 289"/>
                  <a:gd name="T4" fmla="*/ 0 w 170"/>
                  <a:gd name="T5" fmla="*/ 288 h 289"/>
                  <a:gd name="T6" fmla="*/ 169 w 170"/>
                  <a:gd name="T7" fmla="*/ 288 h 28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0" h="289">
                    <a:moveTo>
                      <a:pt x="169" y="0"/>
                    </a:moveTo>
                    <a:lnTo>
                      <a:pt x="0" y="0"/>
                    </a:lnTo>
                    <a:lnTo>
                      <a:pt x="0" y="288"/>
                    </a:lnTo>
                    <a:lnTo>
                      <a:pt x="169" y="288"/>
                    </a:lnTo>
                  </a:path>
                </a:pathLst>
              </a:custGeom>
              <a:noFill/>
              <a:ln w="25400" cap="rnd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dirty="0">
                  <a:ea typeface="SimHei" panose="02010609060101010101" pitchFamily="49" charset="-122"/>
                </a:endParaRPr>
              </a:p>
            </p:txBody>
          </p:sp>
          <p:sp>
            <p:nvSpPr>
              <p:cNvPr id="68" name="Freeform 71">
                <a:extLst>
                  <a:ext uri="{FF2B5EF4-FFF2-40B4-BE49-F238E27FC236}">
                    <a16:creationId xmlns:a16="http://schemas.microsoft.com/office/drawing/2014/main" id="{E46EF0AC-17B6-BBA2-F615-118363423D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0" y="1509"/>
                <a:ext cx="171" cy="289"/>
              </a:xfrm>
              <a:custGeom>
                <a:avLst/>
                <a:gdLst>
                  <a:gd name="T0" fmla="*/ 0 w 171"/>
                  <a:gd name="T1" fmla="*/ 0 h 289"/>
                  <a:gd name="T2" fmla="*/ 170 w 171"/>
                  <a:gd name="T3" fmla="*/ 0 h 289"/>
                  <a:gd name="T4" fmla="*/ 170 w 171"/>
                  <a:gd name="T5" fmla="*/ 288 h 289"/>
                  <a:gd name="T6" fmla="*/ 0 w 171"/>
                  <a:gd name="T7" fmla="*/ 288 h 28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1" h="289">
                    <a:moveTo>
                      <a:pt x="0" y="0"/>
                    </a:moveTo>
                    <a:lnTo>
                      <a:pt x="170" y="0"/>
                    </a:lnTo>
                    <a:lnTo>
                      <a:pt x="170" y="288"/>
                    </a:lnTo>
                    <a:lnTo>
                      <a:pt x="0" y="288"/>
                    </a:lnTo>
                  </a:path>
                </a:pathLst>
              </a:custGeom>
              <a:noFill/>
              <a:ln w="25400" cap="rnd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dirty="0">
                  <a:ea typeface="SimHei" panose="02010609060101010101" pitchFamily="49" charset="-122"/>
                </a:endParaRPr>
              </a:p>
            </p:txBody>
          </p:sp>
        </p:grpSp>
        <p:sp>
          <p:nvSpPr>
            <p:cNvPr id="40" name="Rectangle 72">
              <a:extLst>
                <a:ext uri="{FF2B5EF4-FFF2-40B4-BE49-F238E27FC236}">
                  <a16:creationId xmlns:a16="http://schemas.microsoft.com/office/drawing/2014/main" id="{36E887CB-6DB4-3308-20F8-6AB46CC622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38833" y="5444022"/>
              <a:ext cx="653996" cy="39752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73" tIns="44442" rIns="90473" bIns="44442">
              <a:spAutoFit/>
            </a:bodyPr>
            <a:lstStyle/>
            <a:p>
              <a:pPr eaLnBrk="0" hangingPunct="0"/>
              <a:r>
                <a:rPr lang="en-US" altLang="zh-CN" sz="2000" dirty="0">
                  <a:latin typeface="Arial" pitchFamily="34" charset="0"/>
                  <a:ea typeface="SimHei" panose="02010609060101010101" pitchFamily="49" charset="-122"/>
                </a:rPr>
                <a:t>Reg</a:t>
              </a:r>
            </a:p>
          </p:txBody>
        </p:sp>
        <p:sp>
          <p:nvSpPr>
            <p:cNvPr id="41" name="Freeform 74">
              <a:extLst>
                <a:ext uri="{FF2B5EF4-FFF2-40B4-BE49-F238E27FC236}">
                  <a16:creationId xmlns:a16="http://schemas.microsoft.com/office/drawing/2014/main" id="{4042A8A9-FC60-2013-AE51-95208E1E126C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2007" y="5285619"/>
              <a:ext cx="374604" cy="667327"/>
            </a:xfrm>
            <a:custGeom>
              <a:avLst/>
              <a:gdLst>
                <a:gd name="T0" fmla="*/ 148 w 149"/>
                <a:gd name="T1" fmla="*/ 0 h 289"/>
                <a:gd name="T2" fmla="*/ 0 w 149"/>
                <a:gd name="T3" fmla="*/ 0 h 289"/>
                <a:gd name="T4" fmla="*/ 0 w 149"/>
                <a:gd name="T5" fmla="*/ 288 h 289"/>
                <a:gd name="T6" fmla="*/ 148 w 149"/>
                <a:gd name="T7" fmla="*/ 288 h 28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9" h="289">
                  <a:moveTo>
                    <a:pt x="148" y="0"/>
                  </a:moveTo>
                  <a:lnTo>
                    <a:pt x="0" y="0"/>
                  </a:lnTo>
                  <a:lnTo>
                    <a:pt x="0" y="288"/>
                  </a:lnTo>
                  <a:lnTo>
                    <a:pt x="148" y="288"/>
                  </a:lnTo>
                </a:path>
              </a:pathLst>
            </a:custGeom>
            <a:noFill/>
            <a:ln w="25400" cap="rnd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42" name="Freeform 75">
              <a:extLst>
                <a:ext uri="{FF2B5EF4-FFF2-40B4-BE49-F238E27FC236}">
                  <a16:creationId xmlns:a16="http://schemas.microsoft.com/office/drawing/2014/main" id="{050F0D46-68A1-5E28-18BA-D79C23CEA0C7}"/>
                </a:ext>
              </a:extLst>
            </p:cNvPr>
            <p:cNvSpPr>
              <a:spLocks/>
            </p:cNvSpPr>
            <p:nvPr/>
          </p:nvSpPr>
          <p:spPr bwMode="auto">
            <a:xfrm>
              <a:off x="5124097" y="5285619"/>
              <a:ext cx="372090" cy="667327"/>
            </a:xfrm>
            <a:custGeom>
              <a:avLst/>
              <a:gdLst>
                <a:gd name="T0" fmla="*/ 0 w 148"/>
                <a:gd name="T1" fmla="*/ 0 h 289"/>
                <a:gd name="T2" fmla="*/ 147 w 148"/>
                <a:gd name="T3" fmla="*/ 0 h 289"/>
                <a:gd name="T4" fmla="*/ 147 w 148"/>
                <a:gd name="T5" fmla="*/ 288 h 289"/>
                <a:gd name="T6" fmla="*/ 0 w 148"/>
                <a:gd name="T7" fmla="*/ 288 h 28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8" h="289">
                  <a:moveTo>
                    <a:pt x="0" y="0"/>
                  </a:moveTo>
                  <a:lnTo>
                    <a:pt x="147" y="0"/>
                  </a:lnTo>
                  <a:lnTo>
                    <a:pt x="147" y="288"/>
                  </a:lnTo>
                  <a:lnTo>
                    <a:pt x="0" y="288"/>
                  </a:lnTo>
                </a:path>
              </a:pathLst>
            </a:custGeom>
            <a:noFill/>
            <a:ln w="25400" cap="rnd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43" name="Line 76">
              <a:extLst>
                <a:ext uri="{FF2B5EF4-FFF2-40B4-BE49-F238E27FC236}">
                  <a16:creationId xmlns:a16="http://schemas.microsoft.com/office/drawing/2014/main" id="{161A4579-DEB2-D7C4-3BDE-8C30C10BE64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462883" y="5618128"/>
              <a:ext cx="291638" cy="0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44" name="Freeform 77">
              <a:extLst>
                <a:ext uri="{FF2B5EF4-FFF2-40B4-BE49-F238E27FC236}">
                  <a16:creationId xmlns:a16="http://schemas.microsoft.com/office/drawing/2014/main" id="{E743350E-DCC0-2E55-58C9-62DC7E400B3E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3843" y="5396455"/>
              <a:ext cx="120678" cy="223982"/>
            </a:xfrm>
            <a:custGeom>
              <a:avLst/>
              <a:gdLst>
                <a:gd name="T0" fmla="*/ 0 w 48"/>
                <a:gd name="T1" fmla="*/ 96 h 97"/>
                <a:gd name="T2" fmla="*/ 0 w 48"/>
                <a:gd name="T3" fmla="*/ 0 h 97"/>
                <a:gd name="T4" fmla="*/ 47 w 48"/>
                <a:gd name="T5" fmla="*/ 0 h 97"/>
                <a:gd name="T6" fmla="*/ 47 w 48"/>
                <a:gd name="T7" fmla="*/ 0 h 9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8" h="97">
                  <a:moveTo>
                    <a:pt x="0" y="96"/>
                  </a:moveTo>
                  <a:lnTo>
                    <a:pt x="0" y="0"/>
                  </a:lnTo>
                  <a:lnTo>
                    <a:pt x="47" y="0"/>
                  </a:lnTo>
                </a:path>
              </a:pathLst>
            </a:custGeom>
            <a:noFill/>
            <a:ln w="25400" cap="rnd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45" name="Line 78">
              <a:extLst>
                <a:ext uri="{FF2B5EF4-FFF2-40B4-BE49-F238E27FC236}">
                  <a16:creationId xmlns:a16="http://schemas.microsoft.com/office/drawing/2014/main" id="{806B2ACD-6E6F-7E4F-F354-2466637CCC9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508757" y="5396455"/>
              <a:ext cx="394717" cy="0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46" name="Rectangle 79">
              <a:extLst>
                <a:ext uri="{FF2B5EF4-FFF2-40B4-BE49-F238E27FC236}">
                  <a16:creationId xmlns:a16="http://schemas.microsoft.com/office/drawing/2014/main" id="{A59DF18D-5F94-4DA8-B2D3-0439BFB2BD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08518" y="5446331"/>
              <a:ext cx="581861" cy="39752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73" tIns="44442" rIns="90473" bIns="44442">
              <a:spAutoFit/>
            </a:bodyPr>
            <a:lstStyle/>
            <a:p>
              <a:pPr eaLnBrk="0" hangingPunct="0"/>
              <a:r>
                <a:rPr lang="en-US" altLang="zh-CN" sz="2000" dirty="0">
                  <a:latin typeface="Arial" pitchFamily="34" charset="0"/>
                  <a:ea typeface="SimHei" panose="02010609060101010101" pitchFamily="49" charset="-122"/>
                </a:rPr>
                <a:t>DM</a:t>
              </a:r>
            </a:p>
          </p:txBody>
        </p:sp>
        <p:sp>
          <p:nvSpPr>
            <p:cNvPr id="47" name="Freeform 81">
              <a:extLst>
                <a:ext uri="{FF2B5EF4-FFF2-40B4-BE49-F238E27FC236}">
                  <a16:creationId xmlns:a16="http://schemas.microsoft.com/office/drawing/2014/main" id="{45D0CCA5-8905-01A1-0D93-7A302362D35B}"/>
                </a:ext>
              </a:extLst>
            </p:cNvPr>
            <p:cNvSpPr>
              <a:spLocks/>
            </p:cNvSpPr>
            <p:nvPr/>
          </p:nvSpPr>
          <p:spPr bwMode="auto">
            <a:xfrm>
              <a:off x="6886494" y="5285619"/>
              <a:ext cx="407287" cy="667327"/>
            </a:xfrm>
            <a:custGeom>
              <a:avLst/>
              <a:gdLst>
                <a:gd name="T0" fmla="*/ 161 w 162"/>
                <a:gd name="T1" fmla="*/ 0 h 289"/>
                <a:gd name="T2" fmla="*/ 0 w 162"/>
                <a:gd name="T3" fmla="*/ 0 h 289"/>
                <a:gd name="T4" fmla="*/ 0 w 162"/>
                <a:gd name="T5" fmla="*/ 288 h 289"/>
                <a:gd name="T6" fmla="*/ 161 w 162"/>
                <a:gd name="T7" fmla="*/ 288 h 28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2" h="289">
                  <a:moveTo>
                    <a:pt x="161" y="0"/>
                  </a:moveTo>
                  <a:lnTo>
                    <a:pt x="0" y="0"/>
                  </a:lnTo>
                  <a:lnTo>
                    <a:pt x="0" y="288"/>
                  </a:lnTo>
                  <a:lnTo>
                    <a:pt x="161" y="288"/>
                  </a:lnTo>
                </a:path>
              </a:pathLst>
            </a:custGeom>
            <a:noFill/>
            <a:ln w="25400" cap="rnd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48" name="Freeform 82">
              <a:extLst>
                <a:ext uri="{FF2B5EF4-FFF2-40B4-BE49-F238E27FC236}">
                  <a16:creationId xmlns:a16="http://schemas.microsoft.com/office/drawing/2014/main" id="{65267B48-41B5-CC6A-51E2-126CD76FB013}"/>
                </a:ext>
              </a:extLst>
            </p:cNvPr>
            <p:cNvSpPr>
              <a:spLocks/>
            </p:cNvSpPr>
            <p:nvPr/>
          </p:nvSpPr>
          <p:spPr bwMode="auto">
            <a:xfrm>
              <a:off x="7291267" y="5285619"/>
              <a:ext cx="412316" cy="667327"/>
            </a:xfrm>
            <a:custGeom>
              <a:avLst/>
              <a:gdLst>
                <a:gd name="T0" fmla="*/ 0 w 164"/>
                <a:gd name="T1" fmla="*/ 0 h 289"/>
                <a:gd name="T2" fmla="*/ 163 w 164"/>
                <a:gd name="T3" fmla="*/ 0 h 289"/>
                <a:gd name="T4" fmla="*/ 163 w 164"/>
                <a:gd name="T5" fmla="*/ 288 h 289"/>
                <a:gd name="T6" fmla="*/ 0 w 164"/>
                <a:gd name="T7" fmla="*/ 288 h 28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4" h="289">
                  <a:moveTo>
                    <a:pt x="0" y="0"/>
                  </a:moveTo>
                  <a:lnTo>
                    <a:pt x="163" y="0"/>
                  </a:lnTo>
                  <a:lnTo>
                    <a:pt x="163" y="288"/>
                  </a:lnTo>
                  <a:lnTo>
                    <a:pt x="0" y="288"/>
                  </a:lnTo>
                </a:path>
              </a:pathLst>
            </a:custGeom>
            <a:noFill/>
            <a:ln w="25400" cap="rnd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49" name="Rectangle 83">
              <a:extLst>
                <a:ext uri="{FF2B5EF4-FFF2-40B4-BE49-F238E27FC236}">
                  <a16:creationId xmlns:a16="http://schemas.microsoft.com/office/drawing/2014/main" id="{8466F641-CE82-CFE6-D783-27405B10A9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127301" y="5439404"/>
              <a:ext cx="653996" cy="39752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73" tIns="44442" rIns="90473" bIns="44442">
              <a:spAutoFit/>
            </a:bodyPr>
            <a:lstStyle/>
            <a:p>
              <a:pPr eaLnBrk="0" hangingPunct="0"/>
              <a:r>
                <a:rPr lang="en-US" altLang="zh-CN" sz="2000" dirty="0">
                  <a:latin typeface="Arial" pitchFamily="34" charset="0"/>
                  <a:ea typeface="SimHei" panose="02010609060101010101" pitchFamily="49" charset="-122"/>
                </a:rPr>
                <a:t>Reg</a:t>
              </a:r>
            </a:p>
          </p:txBody>
        </p:sp>
        <p:sp>
          <p:nvSpPr>
            <p:cNvPr id="50" name="Freeform 85">
              <a:extLst>
                <a:ext uri="{FF2B5EF4-FFF2-40B4-BE49-F238E27FC236}">
                  <a16:creationId xmlns:a16="http://schemas.microsoft.com/office/drawing/2014/main" id="{849C9BDD-48DE-02B0-FD97-0BEE75E3A8AF}"/>
                </a:ext>
              </a:extLst>
            </p:cNvPr>
            <p:cNvSpPr>
              <a:spLocks/>
            </p:cNvSpPr>
            <p:nvPr/>
          </p:nvSpPr>
          <p:spPr bwMode="auto">
            <a:xfrm>
              <a:off x="8063102" y="5285619"/>
              <a:ext cx="357005" cy="667327"/>
            </a:xfrm>
            <a:custGeom>
              <a:avLst/>
              <a:gdLst>
                <a:gd name="T0" fmla="*/ 141 w 142"/>
                <a:gd name="T1" fmla="*/ 0 h 289"/>
                <a:gd name="T2" fmla="*/ 0 w 142"/>
                <a:gd name="T3" fmla="*/ 0 h 289"/>
                <a:gd name="T4" fmla="*/ 0 w 142"/>
                <a:gd name="T5" fmla="*/ 288 h 289"/>
                <a:gd name="T6" fmla="*/ 141 w 142"/>
                <a:gd name="T7" fmla="*/ 288 h 28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2" h="289">
                  <a:moveTo>
                    <a:pt x="141" y="0"/>
                  </a:moveTo>
                  <a:lnTo>
                    <a:pt x="0" y="0"/>
                  </a:lnTo>
                  <a:lnTo>
                    <a:pt x="0" y="288"/>
                  </a:lnTo>
                  <a:lnTo>
                    <a:pt x="141" y="288"/>
                  </a:lnTo>
                </a:path>
              </a:pathLst>
            </a:custGeom>
            <a:noFill/>
            <a:ln w="25400" cap="rnd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51" name="Freeform 86">
              <a:extLst>
                <a:ext uri="{FF2B5EF4-FFF2-40B4-BE49-F238E27FC236}">
                  <a16:creationId xmlns:a16="http://schemas.microsoft.com/office/drawing/2014/main" id="{FD3EF438-196F-84F7-705B-A359E9370C3E}"/>
                </a:ext>
              </a:extLst>
            </p:cNvPr>
            <p:cNvSpPr>
              <a:spLocks/>
            </p:cNvSpPr>
            <p:nvPr/>
          </p:nvSpPr>
          <p:spPr bwMode="auto">
            <a:xfrm>
              <a:off x="8417593" y="5285619"/>
              <a:ext cx="359519" cy="667327"/>
            </a:xfrm>
            <a:custGeom>
              <a:avLst/>
              <a:gdLst>
                <a:gd name="T0" fmla="*/ 0 w 143"/>
                <a:gd name="T1" fmla="*/ 0 h 289"/>
                <a:gd name="T2" fmla="*/ 142 w 143"/>
                <a:gd name="T3" fmla="*/ 0 h 289"/>
                <a:gd name="T4" fmla="*/ 142 w 143"/>
                <a:gd name="T5" fmla="*/ 288 h 289"/>
                <a:gd name="T6" fmla="*/ 0 w 143"/>
                <a:gd name="T7" fmla="*/ 288 h 28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3" h="289">
                  <a:moveTo>
                    <a:pt x="0" y="0"/>
                  </a:moveTo>
                  <a:lnTo>
                    <a:pt x="142" y="0"/>
                  </a:lnTo>
                  <a:lnTo>
                    <a:pt x="142" y="288"/>
                  </a:lnTo>
                  <a:lnTo>
                    <a:pt x="0" y="288"/>
                  </a:lnTo>
                </a:path>
              </a:pathLst>
            </a:custGeom>
            <a:noFill/>
            <a:ln w="25400" cap="rnd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52" name="Line 87">
              <a:extLst>
                <a:ext uri="{FF2B5EF4-FFF2-40B4-BE49-F238E27FC236}">
                  <a16:creationId xmlns:a16="http://schemas.microsoft.com/office/drawing/2014/main" id="{D56EE057-9EA4-169B-929B-34E69290F50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693527" y="5618128"/>
              <a:ext cx="349463" cy="0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53" name="Line 88">
              <a:extLst>
                <a:ext uri="{FF2B5EF4-FFF2-40B4-BE49-F238E27FC236}">
                  <a16:creationId xmlns:a16="http://schemas.microsoft.com/office/drawing/2014/main" id="{9F91E51B-821E-E2E7-EB83-46E393E0A76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476693" y="5618128"/>
              <a:ext cx="389689" cy="0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54" name="Line 89">
              <a:extLst>
                <a:ext uri="{FF2B5EF4-FFF2-40B4-BE49-F238E27FC236}">
                  <a16:creationId xmlns:a16="http://schemas.microsoft.com/office/drawing/2014/main" id="{B3413E6B-A081-D4E0-A947-6F05D490675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508757" y="5839801"/>
              <a:ext cx="394717" cy="0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55" name="Line 90">
              <a:extLst>
                <a:ext uri="{FF2B5EF4-FFF2-40B4-BE49-F238E27FC236}">
                  <a16:creationId xmlns:a16="http://schemas.microsoft.com/office/drawing/2014/main" id="{7130E6BE-745E-31FF-143A-B7618EAB829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719943" y="5839801"/>
              <a:ext cx="0" cy="443345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56" name="Line 91">
              <a:extLst>
                <a:ext uri="{FF2B5EF4-FFF2-40B4-BE49-F238E27FC236}">
                  <a16:creationId xmlns:a16="http://schemas.microsoft.com/office/drawing/2014/main" id="{F9245AF2-D5C2-D26F-6D74-8F8BEE59B85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719943" y="6283146"/>
              <a:ext cx="844744" cy="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57" name="Line 92">
              <a:extLst>
                <a:ext uri="{FF2B5EF4-FFF2-40B4-BE49-F238E27FC236}">
                  <a16:creationId xmlns:a16="http://schemas.microsoft.com/office/drawing/2014/main" id="{EFC3ED6A-42E6-70AA-ADB1-B4F2581D45C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564687" y="5618128"/>
              <a:ext cx="0" cy="665018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58" name="Line 93">
              <a:extLst>
                <a:ext uri="{FF2B5EF4-FFF2-40B4-BE49-F238E27FC236}">
                  <a16:creationId xmlns:a16="http://schemas.microsoft.com/office/drawing/2014/main" id="{37D35D61-78C9-6759-CCED-83149FD8930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765817" y="5618128"/>
              <a:ext cx="0" cy="554182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59" name="Line 94">
              <a:extLst>
                <a:ext uri="{FF2B5EF4-FFF2-40B4-BE49-F238E27FC236}">
                  <a16:creationId xmlns:a16="http://schemas.microsoft.com/office/drawing/2014/main" id="{D8004EB5-F8E8-3757-A9E9-3B343FA3E86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765817" y="6172310"/>
              <a:ext cx="1086100" cy="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60" name="Line 95">
              <a:extLst>
                <a:ext uri="{FF2B5EF4-FFF2-40B4-BE49-F238E27FC236}">
                  <a16:creationId xmlns:a16="http://schemas.microsoft.com/office/drawing/2014/main" id="{EEF97FF3-124A-1675-E3FF-1AF7D8ECE2E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851916" y="5618128"/>
              <a:ext cx="0" cy="554182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61" name="Line 126">
              <a:extLst>
                <a:ext uri="{FF2B5EF4-FFF2-40B4-BE49-F238E27FC236}">
                  <a16:creationId xmlns:a16="http://schemas.microsoft.com/office/drawing/2014/main" id="{FE6D9934-CCDF-C3B4-F98C-55A644A91ED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668912" y="3317696"/>
              <a:ext cx="0" cy="2951163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prstDash val="sysDot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62" name="Line 129">
              <a:extLst>
                <a:ext uri="{FF2B5EF4-FFF2-40B4-BE49-F238E27FC236}">
                  <a16:creationId xmlns:a16="http://schemas.microsoft.com/office/drawing/2014/main" id="{E4D5568B-156F-473B-B4DF-5024FB4EA34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576712" y="3317696"/>
              <a:ext cx="0" cy="2951163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prstDash val="sysDot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63" name="Line 131">
              <a:extLst>
                <a:ext uri="{FF2B5EF4-FFF2-40B4-BE49-F238E27FC236}">
                  <a16:creationId xmlns:a16="http://schemas.microsoft.com/office/drawing/2014/main" id="{F8A4BBDA-8C1D-2924-9F05-8693448A006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527375" y="3276421"/>
              <a:ext cx="0" cy="2951163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prstDash val="sysDot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64" name="Line 133">
              <a:extLst>
                <a:ext uri="{FF2B5EF4-FFF2-40B4-BE49-F238E27FC236}">
                  <a16:creationId xmlns:a16="http://schemas.microsoft.com/office/drawing/2014/main" id="{E268463D-A730-3879-8005-4980C29486B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12950" y="3276421"/>
              <a:ext cx="0" cy="2951163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prstDash val="sysDot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65" name="Line 135">
              <a:extLst>
                <a:ext uri="{FF2B5EF4-FFF2-40B4-BE49-F238E27FC236}">
                  <a16:creationId xmlns:a16="http://schemas.microsoft.com/office/drawing/2014/main" id="{CD18B064-096C-8C97-78DE-0EDBC81F411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300112" y="3235146"/>
              <a:ext cx="0" cy="2951163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prstDash val="sysDot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66" name="Line 141">
              <a:extLst>
                <a:ext uri="{FF2B5EF4-FFF2-40B4-BE49-F238E27FC236}">
                  <a16:creationId xmlns:a16="http://schemas.microsoft.com/office/drawing/2014/main" id="{E18284F0-90CF-4189-B642-4FFE1D35C65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786512" y="3311346"/>
              <a:ext cx="0" cy="2951163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prstDash val="sysDot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520025189"/>
      </p:ext>
    </p:extLst>
  </p:cSld>
  <p:clrMapOvr>
    <a:masterClrMapping/>
  </p:clrMapOvr>
</p:sld>
</file>

<file path=ppt/slides/slide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>
            <a:extLst>
              <a:ext uri="{FF2B5EF4-FFF2-40B4-BE49-F238E27FC236}">
                <a16:creationId xmlns:a16="http://schemas.microsoft.com/office/drawing/2014/main" id="{B1D5FBE5-8E53-496D-B9D5-C5CA6ABFC8A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dirty="0"/>
              <a:t>动态分支预测</a:t>
            </a:r>
          </a:p>
        </p:txBody>
      </p:sp>
      <p:sp>
        <p:nvSpPr>
          <p:cNvPr id="3" name="内容占位符 2">
            <a:extLst>
              <a:ext uri="{FF2B5EF4-FFF2-40B4-BE49-F238E27FC236}">
                <a16:creationId xmlns:a16="http://schemas.microsoft.com/office/drawing/2014/main" id="{072F946B-82F9-4560-AAC5-F9880183B0A7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r>
              <a:rPr lang="zh-CN" altLang="en-US" dirty="0"/>
              <a:t>动态分支预测的实现</a:t>
            </a:r>
            <a:endParaRPr lang="en-US" altLang="zh-CN" dirty="0"/>
          </a:p>
          <a:p>
            <a:pPr lvl="1"/>
            <a:r>
              <a:rPr lang="zh-CN" altLang="en-US" dirty="0"/>
              <a:t>由第一个分支指令建立</a:t>
            </a:r>
            <a:r>
              <a:rPr lang="en-US" altLang="zh-CN" dirty="0"/>
              <a:t>BHT</a:t>
            </a:r>
            <a:r>
              <a:rPr lang="zh-CN" altLang="en-US" dirty="0"/>
              <a:t>和</a:t>
            </a:r>
            <a:r>
              <a:rPr lang="en-US" altLang="zh-CN" dirty="0"/>
              <a:t>BTB</a:t>
            </a:r>
            <a:r>
              <a:rPr lang="zh-CN" altLang="en-US" dirty="0"/>
              <a:t>：</a:t>
            </a:r>
          </a:p>
          <a:p>
            <a:pPr lvl="1"/>
            <a:r>
              <a:rPr lang="en-US" altLang="zh-CN" dirty="0"/>
              <a:t>ID</a:t>
            </a:r>
            <a:r>
              <a:rPr lang="zh-CN" altLang="en-US" dirty="0"/>
              <a:t>译码发现是</a:t>
            </a:r>
            <a:r>
              <a:rPr lang="en-US" altLang="zh-CN" dirty="0" err="1"/>
              <a:t>beq</a:t>
            </a:r>
            <a:r>
              <a:rPr lang="zh-CN" altLang="en-US" dirty="0"/>
              <a:t>，存下</a:t>
            </a:r>
            <a:endParaRPr lang="en-US" altLang="zh-CN" dirty="0">
              <a:sym typeface="Wingdings" pitchFamily="2" charset="2"/>
            </a:endParaRPr>
          </a:p>
          <a:p>
            <a:pPr lvl="2"/>
            <a:r>
              <a:rPr lang="zh-CN" altLang="en-US" dirty="0"/>
              <a:t>这条指令的地址、最终是否跳转（</a:t>
            </a:r>
            <a:r>
              <a:rPr lang="en-US" altLang="zh-CN" dirty="0"/>
              <a:t>1/0</a:t>
            </a:r>
            <a:r>
              <a:rPr lang="zh-CN" altLang="en-US" dirty="0"/>
              <a:t>）、如跳转的话目标地址</a:t>
            </a:r>
          </a:p>
          <a:p>
            <a:pPr lvl="1"/>
            <a:endParaRPr lang="zh-CN" altLang="en-US" dirty="0"/>
          </a:p>
        </p:txBody>
      </p:sp>
      <p:sp>
        <p:nvSpPr>
          <p:cNvPr id="4" name="灯片编号占位符 3">
            <a:extLst>
              <a:ext uri="{FF2B5EF4-FFF2-40B4-BE49-F238E27FC236}">
                <a16:creationId xmlns:a16="http://schemas.microsoft.com/office/drawing/2014/main" id="{DA785B70-6C58-46BC-97DF-A98B3B27C74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1806CE5-282B-4233-8654-09F35EA875E2}" type="slidenum">
              <a:rPr lang="zh-CN" altLang="en-US" smtClean="0"/>
              <a:t>53</a:t>
            </a:fld>
            <a:endParaRPr lang="zh-CN" altLang="en-US"/>
          </a:p>
        </p:txBody>
      </p:sp>
      <p:grpSp>
        <p:nvGrpSpPr>
          <p:cNvPr id="83" name="组合 82">
            <a:extLst>
              <a:ext uri="{FF2B5EF4-FFF2-40B4-BE49-F238E27FC236}">
                <a16:creationId xmlns:a16="http://schemas.microsoft.com/office/drawing/2014/main" id="{DB29D184-A2AC-D099-34ED-E183CDD49A90}"/>
              </a:ext>
            </a:extLst>
          </p:cNvPr>
          <p:cNvGrpSpPr/>
          <p:nvPr/>
        </p:nvGrpSpPr>
        <p:grpSpPr>
          <a:xfrm>
            <a:off x="364950" y="3214509"/>
            <a:ext cx="8416347" cy="3109912"/>
            <a:chOff x="364950" y="3214509"/>
            <a:chExt cx="8416347" cy="3109912"/>
          </a:xfrm>
        </p:grpSpPr>
        <p:sp>
          <p:nvSpPr>
            <p:cNvPr id="5" name="Rectangle 25">
              <a:extLst>
                <a:ext uri="{FF2B5EF4-FFF2-40B4-BE49-F238E27FC236}">
                  <a16:creationId xmlns:a16="http://schemas.microsoft.com/office/drawing/2014/main" id="{161B6DF3-79B3-4CA9-A354-BD28EBA6A0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4950" y="3214509"/>
              <a:ext cx="360362" cy="31099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73" tIns="44442" rIns="90473" bIns="44442">
              <a:spAutoFit/>
            </a:bodyPr>
            <a:lstStyle/>
            <a:p>
              <a:pPr algn="ctr" eaLnBrk="0" hangingPunct="0"/>
              <a:r>
                <a:rPr lang="en-US" altLang="zh-CN" i="1" dirty="0">
                  <a:latin typeface="Arial" pitchFamily="34" charset="0"/>
                  <a:ea typeface="SimHei" panose="02010609060101010101" pitchFamily="49" charset="-122"/>
                </a:rPr>
                <a:t>I</a:t>
              </a:r>
            </a:p>
            <a:p>
              <a:pPr algn="ctr" eaLnBrk="0" hangingPunct="0"/>
              <a:r>
                <a:rPr lang="en-US" altLang="zh-CN" i="1" dirty="0">
                  <a:latin typeface="Arial" pitchFamily="34" charset="0"/>
                  <a:ea typeface="SimHei" panose="02010609060101010101" pitchFamily="49" charset="-122"/>
                </a:rPr>
                <a:t>n</a:t>
              </a:r>
            </a:p>
            <a:p>
              <a:pPr algn="ctr" eaLnBrk="0" hangingPunct="0"/>
              <a:r>
                <a:rPr lang="en-US" altLang="zh-CN" i="1" dirty="0">
                  <a:latin typeface="Arial" pitchFamily="34" charset="0"/>
                  <a:ea typeface="SimHei" panose="02010609060101010101" pitchFamily="49" charset="-122"/>
                </a:rPr>
                <a:t>s</a:t>
              </a:r>
            </a:p>
            <a:p>
              <a:pPr algn="ctr" eaLnBrk="0" hangingPunct="0"/>
              <a:r>
                <a:rPr lang="en-US" altLang="zh-CN" i="1" dirty="0">
                  <a:latin typeface="Arial" pitchFamily="34" charset="0"/>
                  <a:ea typeface="SimHei" panose="02010609060101010101" pitchFamily="49" charset="-122"/>
                </a:rPr>
                <a:t>t</a:t>
              </a:r>
            </a:p>
            <a:p>
              <a:pPr algn="ctr" eaLnBrk="0" hangingPunct="0"/>
              <a:r>
                <a:rPr lang="en-US" altLang="zh-CN" i="1" dirty="0">
                  <a:latin typeface="Arial" pitchFamily="34" charset="0"/>
                  <a:ea typeface="SimHei" panose="02010609060101010101" pitchFamily="49" charset="-122"/>
                </a:rPr>
                <a:t>r.</a:t>
              </a:r>
            </a:p>
            <a:p>
              <a:pPr algn="ctr" eaLnBrk="0" hangingPunct="0"/>
              <a:endParaRPr lang="en-US" altLang="zh-CN" i="1" dirty="0">
                <a:latin typeface="Arial" pitchFamily="34" charset="0"/>
                <a:ea typeface="SimHei" panose="02010609060101010101" pitchFamily="49" charset="-122"/>
              </a:endParaRPr>
            </a:p>
            <a:p>
              <a:pPr algn="ctr" eaLnBrk="0" hangingPunct="0"/>
              <a:r>
                <a:rPr lang="en-US" altLang="zh-CN" i="1" dirty="0">
                  <a:latin typeface="Arial" pitchFamily="34" charset="0"/>
                  <a:ea typeface="SimHei" panose="02010609060101010101" pitchFamily="49" charset="-122"/>
                </a:rPr>
                <a:t>O</a:t>
              </a:r>
            </a:p>
            <a:p>
              <a:pPr algn="ctr" eaLnBrk="0" hangingPunct="0"/>
              <a:r>
                <a:rPr lang="en-US" altLang="zh-CN" i="1" dirty="0">
                  <a:latin typeface="Arial" pitchFamily="34" charset="0"/>
                  <a:ea typeface="SimHei" panose="02010609060101010101" pitchFamily="49" charset="-122"/>
                </a:rPr>
                <a:t>r</a:t>
              </a:r>
            </a:p>
            <a:p>
              <a:pPr algn="ctr" eaLnBrk="0" hangingPunct="0"/>
              <a:r>
                <a:rPr lang="en-US" altLang="zh-CN" i="1" dirty="0">
                  <a:latin typeface="Arial" pitchFamily="34" charset="0"/>
                  <a:ea typeface="SimHei" panose="02010609060101010101" pitchFamily="49" charset="-122"/>
                </a:rPr>
                <a:t>d</a:t>
              </a:r>
            </a:p>
            <a:p>
              <a:pPr algn="ctr" eaLnBrk="0" hangingPunct="0"/>
              <a:r>
                <a:rPr lang="en-US" altLang="zh-CN" i="1" dirty="0">
                  <a:latin typeface="Arial" pitchFamily="34" charset="0"/>
                  <a:ea typeface="SimHei" panose="02010609060101010101" pitchFamily="49" charset="-122"/>
                </a:rPr>
                <a:t>e</a:t>
              </a:r>
            </a:p>
            <a:p>
              <a:pPr algn="ctr" eaLnBrk="0" hangingPunct="0"/>
              <a:r>
                <a:rPr lang="en-US" altLang="zh-CN" i="1" dirty="0">
                  <a:latin typeface="Arial" pitchFamily="34" charset="0"/>
                  <a:ea typeface="SimHei" panose="02010609060101010101" pitchFamily="49" charset="-122"/>
                </a:rPr>
                <a:t>r</a:t>
              </a:r>
            </a:p>
          </p:txBody>
        </p:sp>
        <p:sp>
          <p:nvSpPr>
            <p:cNvPr id="6" name="Line 26">
              <a:extLst>
                <a:ext uri="{FF2B5EF4-FFF2-40B4-BE49-F238E27FC236}">
                  <a16:creationId xmlns:a16="http://schemas.microsoft.com/office/drawing/2014/main" id="{8A11EDE9-4C73-4064-B592-A1715CC2707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309512" y="3235146"/>
              <a:ext cx="6907213" cy="3175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7" name="Rectangle 27">
              <a:extLst>
                <a:ext uri="{FF2B5EF4-FFF2-40B4-BE49-F238E27FC236}">
                  <a16:creationId xmlns:a16="http://schemas.microsoft.com/office/drawing/2014/main" id="{334FAFD1-5FE1-4495-92D8-007E67E414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03100" y="3686314"/>
              <a:ext cx="697277" cy="45908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73" tIns="44442" rIns="90473" bIns="44442">
              <a:spAutoFit/>
            </a:bodyPr>
            <a:lstStyle/>
            <a:p>
              <a:pPr eaLnBrk="0" hangingPunct="0"/>
              <a:r>
                <a:rPr lang="en-US" altLang="zh-CN" sz="2400" dirty="0" err="1">
                  <a:solidFill>
                    <a:schemeClr val="accent1"/>
                  </a:solidFill>
                  <a:latin typeface="Arial" pitchFamily="34" charset="0"/>
                  <a:ea typeface="SimHei" panose="02010609060101010101" pitchFamily="49" charset="-122"/>
                </a:rPr>
                <a:t>beq</a:t>
              </a:r>
              <a:endParaRPr lang="en-US" altLang="zh-CN" sz="2400" dirty="0">
                <a:solidFill>
                  <a:schemeClr val="accent1"/>
                </a:solidFill>
                <a:latin typeface="Arial" pitchFamily="34" charset="0"/>
                <a:ea typeface="SimHei" panose="02010609060101010101" pitchFamily="49" charset="-122"/>
              </a:endParaRPr>
            </a:p>
          </p:txBody>
        </p:sp>
        <p:sp>
          <p:nvSpPr>
            <p:cNvPr id="8" name="Line 28">
              <a:extLst>
                <a:ext uri="{FF2B5EF4-FFF2-40B4-BE49-F238E27FC236}">
                  <a16:creationId xmlns:a16="http://schemas.microsoft.com/office/drawing/2014/main" id="{328EA48D-A3D8-475C-B92E-82DC5E081B3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90387" y="3401834"/>
              <a:ext cx="0" cy="2784475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40" name="Freeform 31">
              <a:extLst>
                <a:ext uri="{FF2B5EF4-FFF2-40B4-BE49-F238E27FC236}">
                  <a16:creationId xmlns:a16="http://schemas.microsoft.com/office/drawing/2014/main" id="{EB95E0E6-01B5-41E3-B633-9FA0D571E4E1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8818" y="3311346"/>
              <a:ext cx="539445" cy="1249507"/>
            </a:xfrm>
            <a:custGeom>
              <a:avLst/>
              <a:gdLst>
                <a:gd name="T0" fmla="*/ 0 w 213"/>
                <a:gd name="T1" fmla="*/ 320 h 481"/>
                <a:gd name="T2" fmla="*/ 71 w 213"/>
                <a:gd name="T3" fmla="*/ 240 h 481"/>
                <a:gd name="T4" fmla="*/ 0 w 213"/>
                <a:gd name="T5" fmla="*/ 160 h 481"/>
                <a:gd name="T6" fmla="*/ 0 w 213"/>
                <a:gd name="T7" fmla="*/ 0 h 481"/>
                <a:gd name="T8" fmla="*/ 212 w 213"/>
                <a:gd name="T9" fmla="*/ 160 h 481"/>
                <a:gd name="T10" fmla="*/ 212 w 213"/>
                <a:gd name="T11" fmla="*/ 320 h 481"/>
                <a:gd name="T12" fmla="*/ 0 w 213"/>
                <a:gd name="T13" fmla="*/ 480 h 481"/>
                <a:gd name="T14" fmla="*/ 0 w 213"/>
                <a:gd name="T15" fmla="*/ 320 h 48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13" h="481">
                  <a:moveTo>
                    <a:pt x="0" y="320"/>
                  </a:moveTo>
                  <a:lnTo>
                    <a:pt x="71" y="240"/>
                  </a:lnTo>
                  <a:lnTo>
                    <a:pt x="0" y="160"/>
                  </a:lnTo>
                  <a:lnTo>
                    <a:pt x="0" y="0"/>
                  </a:lnTo>
                  <a:lnTo>
                    <a:pt x="212" y="160"/>
                  </a:lnTo>
                  <a:lnTo>
                    <a:pt x="212" y="320"/>
                  </a:lnTo>
                  <a:lnTo>
                    <a:pt x="0" y="480"/>
                  </a:lnTo>
                  <a:lnTo>
                    <a:pt x="0" y="320"/>
                  </a:lnTo>
                </a:path>
              </a:pathLst>
            </a:custGeom>
            <a:noFill/>
            <a:ln w="25400" cap="rnd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41" name="Rectangle 32">
              <a:extLst>
                <a:ext uri="{FF2B5EF4-FFF2-40B4-BE49-F238E27FC236}">
                  <a16:creationId xmlns:a16="http://schemas.microsoft.com/office/drawing/2014/main" id="{09692A1F-29A4-4BC3-B2E8-7EE6A41F5A15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4778904" y="3708760"/>
              <a:ext cx="682850" cy="39752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73" tIns="44442" rIns="90473" bIns="44442">
              <a:spAutoFit/>
            </a:bodyPr>
            <a:lstStyle/>
            <a:p>
              <a:pPr eaLnBrk="0" hangingPunct="0"/>
              <a:r>
                <a:rPr lang="en-US" altLang="zh-CN" sz="2000" dirty="0">
                  <a:latin typeface="Arial" pitchFamily="34" charset="0"/>
                  <a:ea typeface="SimHei" panose="02010609060101010101" pitchFamily="49" charset="-122"/>
                </a:rPr>
                <a:t>ALU</a:t>
              </a:r>
            </a:p>
          </p:txBody>
        </p:sp>
        <p:sp>
          <p:nvSpPr>
            <p:cNvPr id="36" name="Rectangle 34">
              <a:extLst>
                <a:ext uri="{FF2B5EF4-FFF2-40B4-BE49-F238E27FC236}">
                  <a16:creationId xmlns:a16="http://schemas.microsoft.com/office/drawing/2014/main" id="{B4AEA0BC-3E45-43B5-9C5B-78871E8692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67662" y="3708163"/>
              <a:ext cx="466445" cy="39752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73" tIns="44442" rIns="90473" bIns="44442">
              <a:spAutoFit/>
            </a:bodyPr>
            <a:lstStyle/>
            <a:p>
              <a:pPr algn="ctr" eaLnBrk="0" hangingPunct="0"/>
              <a:r>
                <a:rPr lang="en-US" altLang="zh-CN" sz="2000" dirty="0">
                  <a:latin typeface="Arial" pitchFamily="34" charset="0"/>
                  <a:ea typeface="SimHei" panose="02010609060101010101" pitchFamily="49" charset="-122"/>
                </a:rPr>
                <a:t>IM</a:t>
              </a:r>
            </a:p>
          </p:txBody>
        </p:sp>
        <p:grpSp>
          <p:nvGrpSpPr>
            <p:cNvPr id="37" name="Group 35">
              <a:extLst>
                <a:ext uri="{FF2B5EF4-FFF2-40B4-BE49-F238E27FC236}">
                  <a16:creationId xmlns:a16="http://schemas.microsoft.com/office/drawing/2014/main" id="{6E89B6DE-D00F-429A-91CF-DD6BEBA15B1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463625" y="3560728"/>
              <a:ext cx="861086" cy="750743"/>
              <a:chOff x="1291" y="1509"/>
              <a:chExt cx="340" cy="289"/>
            </a:xfrm>
          </p:grpSpPr>
          <p:sp>
            <p:nvSpPr>
              <p:cNvPr id="38" name="Freeform 36">
                <a:extLst>
                  <a:ext uri="{FF2B5EF4-FFF2-40B4-BE49-F238E27FC236}">
                    <a16:creationId xmlns:a16="http://schemas.microsoft.com/office/drawing/2014/main" id="{B52CB5D2-8850-4B81-8B8A-A13758965D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1" y="1509"/>
                <a:ext cx="170" cy="289"/>
              </a:xfrm>
              <a:custGeom>
                <a:avLst/>
                <a:gdLst>
                  <a:gd name="T0" fmla="*/ 169 w 170"/>
                  <a:gd name="T1" fmla="*/ 0 h 289"/>
                  <a:gd name="T2" fmla="*/ 0 w 170"/>
                  <a:gd name="T3" fmla="*/ 0 h 289"/>
                  <a:gd name="T4" fmla="*/ 0 w 170"/>
                  <a:gd name="T5" fmla="*/ 288 h 289"/>
                  <a:gd name="T6" fmla="*/ 169 w 170"/>
                  <a:gd name="T7" fmla="*/ 288 h 28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0" h="289">
                    <a:moveTo>
                      <a:pt x="169" y="0"/>
                    </a:moveTo>
                    <a:lnTo>
                      <a:pt x="0" y="0"/>
                    </a:lnTo>
                    <a:lnTo>
                      <a:pt x="0" y="288"/>
                    </a:lnTo>
                    <a:lnTo>
                      <a:pt x="169" y="288"/>
                    </a:lnTo>
                  </a:path>
                </a:pathLst>
              </a:custGeom>
              <a:noFill/>
              <a:ln w="25400" cap="rnd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dirty="0">
                  <a:ea typeface="SimHei" panose="02010609060101010101" pitchFamily="49" charset="-122"/>
                </a:endParaRPr>
              </a:p>
            </p:txBody>
          </p:sp>
          <p:sp>
            <p:nvSpPr>
              <p:cNvPr id="39" name="Freeform 37">
                <a:extLst>
                  <a:ext uri="{FF2B5EF4-FFF2-40B4-BE49-F238E27FC236}">
                    <a16:creationId xmlns:a16="http://schemas.microsoft.com/office/drawing/2014/main" id="{844AECA7-A77C-4C75-8DC4-9D417F54AA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0" y="1509"/>
                <a:ext cx="171" cy="289"/>
              </a:xfrm>
              <a:custGeom>
                <a:avLst/>
                <a:gdLst>
                  <a:gd name="T0" fmla="*/ 0 w 171"/>
                  <a:gd name="T1" fmla="*/ 0 h 289"/>
                  <a:gd name="T2" fmla="*/ 170 w 171"/>
                  <a:gd name="T3" fmla="*/ 0 h 289"/>
                  <a:gd name="T4" fmla="*/ 170 w 171"/>
                  <a:gd name="T5" fmla="*/ 288 h 289"/>
                  <a:gd name="T6" fmla="*/ 0 w 171"/>
                  <a:gd name="T7" fmla="*/ 288 h 28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1" h="289">
                    <a:moveTo>
                      <a:pt x="0" y="0"/>
                    </a:moveTo>
                    <a:lnTo>
                      <a:pt x="170" y="0"/>
                    </a:lnTo>
                    <a:lnTo>
                      <a:pt x="170" y="288"/>
                    </a:lnTo>
                    <a:lnTo>
                      <a:pt x="0" y="288"/>
                    </a:lnTo>
                  </a:path>
                </a:pathLst>
              </a:custGeom>
              <a:noFill/>
              <a:ln w="25400" cap="rnd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dirty="0">
                  <a:ea typeface="SimHei" panose="02010609060101010101" pitchFamily="49" charset="-122"/>
                </a:endParaRPr>
              </a:p>
            </p:txBody>
          </p:sp>
        </p:grpSp>
        <p:sp>
          <p:nvSpPr>
            <p:cNvPr id="12" name="Rectangle 38">
              <a:extLst>
                <a:ext uri="{FF2B5EF4-FFF2-40B4-BE49-F238E27FC236}">
                  <a16:creationId xmlns:a16="http://schemas.microsoft.com/office/drawing/2014/main" id="{9B64EEAC-BB6F-44DF-9258-C2643DC2B1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5117" y="3721152"/>
              <a:ext cx="653996" cy="39752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73" tIns="44442" rIns="90473" bIns="44442">
              <a:spAutoFit/>
            </a:bodyPr>
            <a:lstStyle/>
            <a:p>
              <a:pPr eaLnBrk="0" hangingPunct="0"/>
              <a:r>
                <a:rPr lang="en-US" altLang="zh-CN" sz="2000" dirty="0">
                  <a:latin typeface="Arial" pitchFamily="34" charset="0"/>
                  <a:ea typeface="SimHei" panose="02010609060101010101" pitchFamily="49" charset="-122"/>
                </a:rPr>
                <a:t>Reg</a:t>
              </a:r>
            </a:p>
          </p:txBody>
        </p:sp>
        <p:sp>
          <p:nvSpPr>
            <p:cNvPr id="34" name="Freeform 40">
              <a:extLst>
                <a:ext uri="{FF2B5EF4-FFF2-40B4-BE49-F238E27FC236}">
                  <a16:creationId xmlns:a16="http://schemas.microsoft.com/office/drawing/2014/main" id="{9D07951E-D4D0-457F-8BA4-FF1A725166C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8624" y="3560728"/>
              <a:ext cx="377358" cy="750743"/>
            </a:xfrm>
            <a:custGeom>
              <a:avLst/>
              <a:gdLst>
                <a:gd name="T0" fmla="*/ 148 w 149"/>
                <a:gd name="T1" fmla="*/ 0 h 289"/>
                <a:gd name="T2" fmla="*/ 0 w 149"/>
                <a:gd name="T3" fmla="*/ 0 h 289"/>
                <a:gd name="T4" fmla="*/ 0 w 149"/>
                <a:gd name="T5" fmla="*/ 288 h 289"/>
                <a:gd name="T6" fmla="*/ 148 w 149"/>
                <a:gd name="T7" fmla="*/ 288 h 28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9" h="289">
                  <a:moveTo>
                    <a:pt x="148" y="0"/>
                  </a:moveTo>
                  <a:lnTo>
                    <a:pt x="0" y="0"/>
                  </a:lnTo>
                  <a:lnTo>
                    <a:pt x="0" y="288"/>
                  </a:lnTo>
                  <a:lnTo>
                    <a:pt x="148" y="288"/>
                  </a:lnTo>
                </a:path>
              </a:pathLst>
            </a:custGeom>
            <a:noFill/>
            <a:ln w="25400" cap="rnd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35" name="Freeform 41">
              <a:extLst>
                <a:ext uri="{FF2B5EF4-FFF2-40B4-BE49-F238E27FC236}">
                  <a16:creationId xmlns:a16="http://schemas.microsoft.com/office/drawing/2014/main" id="{D47837DF-2547-4DE8-A33F-9A48F6C428F6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3450" y="3560728"/>
              <a:ext cx="374826" cy="750743"/>
            </a:xfrm>
            <a:custGeom>
              <a:avLst/>
              <a:gdLst>
                <a:gd name="T0" fmla="*/ 0 w 148"/>
                <a:gd name="T1" fmla="*/ 0 h 289"/>
                <a:gd name="T2" fmla="*/ 147 w 148"/>
                <a:gd name="T3" fmla="*/ 0 h 289"/>
                <a:gd name="T4" fmla="*/ 147 w 148"/>
                <a:gd name="T5" fmla="*/ 288 h 289"/>
                <a:gd name="T6" fmla="*/ 0 w 148"/>
                <a:gd name="T7" fmla="*/ 288 h 28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8" h="289">
                  <a:moveTo>
                    <a:pt x="0" y="0"/>
                  </a:moveTo>
                  <a:lnTo>
                    <a:pt x="147" y="0"/>
                  </a:lnTo>
                  <a:lnTo>
                    <a:pt x="147" y="288"/>
                  </a:lnTo>
                  <a:lnTo>
                    <a:pt x="0" y="288"/>
                  </a:lnTo>
                </a:path>
              </a:pathLst>
            </a:custGeom>
            <a:noFill/>
            <a:ln w="25400" cap="rnd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14" name="Line 42">
              <a:extLst>
                <a:ext uri="{FF2B5EF4-FFF2-40B4-BE49-F238E27FC236}">
                  <a16:creationId xmlns:a16="http://schemas.microsoft.com/office/drawing/2014/main" id="{94F218D5-92E6-4C98-B25F-62F3072116F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37374" y="3934801"/>
              <a:ext cx="293782" cy="0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15" name="Freeform 43">
              <a:extLst>
                <a:ext uri="{FF2B5EF4-FFF2-40B4-BE49-F238E27FC236}">
                  <a16:creationId xmlns:a16="http://schemas.microsoft.com/office/drawing/2014/main" id="{318F3D7A-2F1B-4F8B-B873-144B219AED1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9591" y="3685419"/>
              <a:ext cx="121565" cy="251980"/>
            </a:xfrm>
            <a:custGeom>
              <a:avLst/>
              <a:gdLst>
                <a:gd name="T0" fmla="*/ 0 w 48"/>
                <a:gd name="T1" fmla="*/ 96 h 97"/>
                <a:gd name="T2" fmla="*/ 0 w 48"/>
                <a:gd name="T3" fmla="*/ 0 h 97"/>
                <a:gd name="T4" fmla="*/ 47 w 48"/>
                <a:gd name="T5" fmla="*/ 0 h 97"/>
                <a:gd name="T6" fmla="*/ 47 w 48"/>
                <a:gd name="T7" fmla="*/ 0 h 9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8" h="97">
                  <a:moveTo>
                    <a:pt x="0" y="96"/>
                  </a:moveTo>
                  <a:lnTo>
                    <a:pt x="0" y="0"/>
                  </a:lnTo>
                  <a:lnTo>
                    <a:pt x="47" y="0"/>
                  </a:lnTo>
                </a:path>
              </a:pathLst>
            </a:custGeom>
            <a:noFill/>
            <a:ln w="25400" cap="rnd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16" name="Line 44">
              <a:extLst>
                <a:ext uri="{FF2B5EF4-FFF2-40B4-BE49-F238E27FC236}">
                  <a16:creationId xmlns:a16="http://schemas.microsoft.com/office/drawing/2014/main" id="{3972023E-3218-4839-8CBA-E97B691D876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90938" y="3685419"/>
              <a:ext cx="397619" cy="0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17" name="Rectangle 45">
              <a:extLst>
                <a:ext uri="{FF2B5EF4-FFF2-40B4-BE49-F238E27FC236}">
                  <a16:creationId xmlns:a16="http://schemas.microsoft.com/office/drawing/2014/main" id="{80FB6817-3C98-453A-8A45-2112C48943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08353" y="3726347"/>
              <a:ext cx="581861" cy="39752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73" tIns="44442" rIns="90473" bIns="44442">
              <a:spAutoFit/>
            </a:bodyPr>
            <a:lstStyle/>
            <a:p>
              <a:pPr eaLnBrk="0" hangingPunct="0"/>
              <a:r>
                <a:rPr lang="en-US" altLang="zh-CN" sz="2000" dirty="0">
                  <a:latin typeface="Arial" pitchFamily="34" charset="0"/>
                  <a:ea typeface="SimHei" panose="02010609060101010101" pitchFamily="49" charset="-122"/>
                </a:rPr>
                <a:t>DM</a:t>
              </a:r>
            </a:p>
          </p:txBody>
        </p:sp>
        <p:sp>
          <p:nvSpPr>
            <p:cNvPr id="32" name="Freeform 47">
              <a:extLst>
                <a:ext uri="{FF2B5EF4-FFF2-40B4-BE49-F238E27FC236}">
                  <a16:creationId xmlns:a16="http://schemas.microsoft.com/office/drawing/2014/main" id="{3446080E-68CF-4319-A541-49A2E819021E}"/>
                </a:ext>
              </a:extLst>
            </p:cNvPr>
            <p:cNvSpPr>
              <a:spLocks/>
            </p:cNvSpPr>
            <p:nvPr/>
          </p:nvSpPr>
          <p:spPr bwMode="auto">
            <a:xfrm>
              <a:off x="5778806" y="3560728"/>
              <a:ext cx="410282" cy="750743"/>
            </a:xfrm>
            <a:custGeom>
              <a:avLst/>
              <a:gdLst>
                <a:gd name="T0" fmla="*/ 161 w 162"/>
                <a:gd name="T1" fmla="*/ 0 h 289"/>
                <a:gd name="T2" fmla="*/ 0 w 162"/>
                <a:gd name="T3" fmla="*/ 0 h 289"/>
                <a:gd name="T4" fmla="*/ 0 w 162"/>
                <a:gd name="T5" fmla="*/ 288 h 289"/>
                <a:gd name="T6" fmla="*/ 161 w 162"/>
                <a:gd name="T7" fmla="*/ 288 h 28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2" h="289">
                  <a:moveTo>
                    <a:pt x="161" y="0"/>
                  </a:moveTo>
                  <a:lnTo>
                    <a:pt x="0" y="0"/>
                  </a:lnTo>
                  <a:lnTo>
                    <a:pt x="0" y="288"/>
                  </a:lnTo>
                  <a:lnTo>
                    <a:pt x="161" y="288"/>
                  </a:lnTo>
                </a:path>
              </a:pathLst>
            </a:custGeom>
            <a:noFill/>
            <a:ln w="25400" cap="rnd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33" name="Freeform 48">
              <a:extLst>
                <a:ext uri="{FF2B5EF4-FFF2-40B4-BE49-F238E27FC236}">
                  <a16:creationId xmlns:a16="http://schemas.microsoft.com/office/drawing/2014/main" id="{64DE9CC1-2AC6-4635-93D7-358C55CAAEB9}"/>
                </a:ext>
              </a:extLst>
            </p:cNvPr>
            <p:cNvSpPr>
              <a:spLocks/>
            </p:cNvSpPr>
            <p:nvPr/>
          </p:nvSpPr>
          <p:spPr bwMode="auto">
            <a:xfrm>
              <a:off x="6186556" y="3560728"/>
              <a:ext cx="415347" cy="750743"/>
            </a:xfrm>
            <a:custGeom>
              <a:avLst/>
              <a:gdLst>
                <a:gd name="T0" fmla="*/ 0 w 164"/>
                <a:gd name="T1" fmla="*/ 0 h 289"/>
                <a:gd name="T2" fmla="*/ 163 w 164"/>
                <a:gd name="T3" fmla="*/ 0 h 289"/>
                <a:gd name="T4" fmla="*/ 163 w 164"/>
                <a:gd name="T5" fmla="*/ 288 h 289"/>
                <a:gd name="T6" fmla="*/ 0 w 164"/>
                <a:gd name="T7" fmla="*/ 288 h 28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4" h="289">
                  <a:moveTo>
                    <a:pt x="0" y="0"/>
                  </a:moveTo>
                  <a:lnTo>
                    <a:pt x="163" y="0"/>
                  </a:lnTo>
                  <a:lnTo>
                    <a:pt x="163" y="288"/>
                  </a:lnTo>
                  <a:lnTo>
                    <a:pt x="0" y="288"/>
                  </a:lnTo>
                </a:path>
              </a:pathLst>
            </a:custGeom>
            <a:noFill/>
            <a:ln w="25400" cap="rnd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19" name="Rectangle 49">
              <a:extLst>
                <a:ext uri="{FF2B5EF4-FFF2-40B4-BE49-F238E27FC236}">
                  <a16:creationId xmlns:a16="http://schemas.microsoft.com/office/drawing/2014/main" id="{81D18A78-84D0-436C-A66E-E49D2B4E69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27765" y="3705566"/>
              <a:ext cx="653996" cy="39752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73" tIns="44442" rIns="90473" bIns="44442">
              <a:spAutoFit/>
            </a:bodyPr>
            <a:lstStyle/>
            <a:p>
              <a:pPr eaLnBrk="0" hangingPunct="0"/>
              <a:r>
                <a:rPr lang="en-US" altLang="zh-CN" sz="2000" dirty="0">
                  <a:latin typeface="Arial" pitchFamily="34" charset="0"/>
                  <a:ea typeface="SimHei" panose="02010609060101010101" pitchFamily="49" charset="-122"/>
                </a:rPr>
                <a:t>Reg</a:t>
              </a:r>
            </a:p>
          </p:txBody>
        </p:sp>
        <p:sp>
          <p:nvSpPr>
            <p:cNvPr id="30" name="Freeform 51">
              <a:extLst>
                <a:ext uri="{FF2B5EF4-FFF2-40B4-BE49-F238E27FC236}">
                  <a16:creationId xmlns:a16="http://schemas.microsoft.com/office/drawing/2014/main" id="{0C914EDA-69CA-41B5-830A-6D2692255C1E}"/>
                </a:ext>
              </a:extLst>
            </p:cNvPr>
            <p:cNvSpPr>
              <a:spLocks/>
            </p:cNvSpPr>
            <p:nvPr/>
          </p:nvSpPr>
          <p:spPr bwMode="auto">
            <a:xfrm>
              <a:off x="6964065" y="3560728"/>
              <a:ext cx="359630" cy="750743"/>
            </a:xfrm>
            <a:custGeom>
              <a:avLst/>
              <a:gdLst>
                <a:gd name="T0" fmla="*/ 141 w 142"/>
                <a:gd name="T1" fmla="*/ 0 h 289"/>
                <a:gd name="T2" fmla="*/ 0 w 142"/>
                <a:gd name="T3" fmla="*/ 0 h 289"/>
                <a:gd name="T4" fmla="*/ 0 w 142"/>
                <a:gd name="T5" fmla="*/ 288 h 289"/>
                <a:gd name="T6" fmla="*/ 141 w 142"/>
                <a:gd name="T7" fmla="*/ 288 h 28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2" h="289">
                  <a:moveTo>
                    <a:pt x="141" y="0"/>
                  </a:moveTo>
                  <a:lnTo>
                    <a:pt x="0" y="0"/>
                  </a:lnTo>
                  <a:lnTo>
                    <a:pt x="0" y="288"/>
                  </a:lnTo>
                  <a:lnTo>
                    <a:pt x="141" y="288"/>
                  </a:lnTo>
                </a:path>
              </a:pathLst>
            </a:custGeom>
            <a:noFill/>
            <a:ln w="25400" cap="rnd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31" name="Freeform 52">
              <a:extLst>
                <a:ext uri="{FF2B5EF4-FFF2-40B4-BE49-F238E27FC236}">
                  <a16:creationId xmlns:a16="http://schemas.microsoft.com/office/drawing/2014/main" id="{1C9C6159-0C93-4D65-93A8-789AECE21A97}"/>
                </a:ext>
              </a:extLst>
            </p:cNvPr>
            <p:cNvSpPr>
              <a:spLocks/>
            </p:cNvSpPr>
            <p:nvPr/>
          </p:nvSpPr>
          <p:spPr bwMode="auto">
            <a:xfrm>
              <a:off x="7321162" y="3560728"/>
              <a:ext cx="362163" cy="750743"/>
            </a:xfrm>
            <a:custGeom>
              <a:avLst/>
              <a:gdLst>
                <a:gd name="T0" fmla="*/ 0 w 143"/>
                <a:gd name="T1" fmla="*/ 0 h 289"/>
                <a:gd name="T2" fmla="*/ 142 w 143"/>
                <a:gd name="T3" fmla="*/ 0 h 289"/>
                <a:gd name="T4" fmla="*/ 142 w 143"/>
                <a:gd name="T5" fmla="*/ 288 h 289"/>
                <a:gd name="T6" fmla="*/ 0 w 143"/>
                <a:gd name="T7" fmla="*/ 288 h 28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3" h="289">
                  <a:moveTo>
                    <a:pt x="0" y="0"/>
                  </a:moveTo>
                  <a:lnTo>
                    <a:pt x="142" y="0"/>
                  </a:lnTo>
                  <a:lnTo>
                    <a:pt x="142" y="288"/>
                  </a:lnTo>
                  <a:lnTo>
                    <a:pt x="0" y="288"/>
                  </a:lnTo>
                </a:path>
              </a:pathLst>
            </a:custGeom>
            <a:noFill/>
            <a:ln w="25400" cap="rnd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21" name="Line 53">
              <a:extLst>
                <a:ext uri="{FF2B5EF4-FFF2-40B4-BE49-F238E27FC236}">
                  <a16:creationId xmlns:a16="http://schemas.microsoft.com/office/drawing/2014/main" id="{D061C7F3-939C-4451-ACAF-BFF14C4A5FF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591772" y="3934801"/>
              <a:ext cx="352032" cy="0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22" name="Line 54">
              <a:extLst>
                <a:ext uri="{FF2B5EF4-FFF2-40B4-BE49-F238E27FC236}">
                  <a16:creationId xmlns:a16="http://schemas.microsoft.com/office/drawing/2014/main" id="{561A23AE-3CB4-4D7A-ABBF-80C74B065C8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365991" y="3934801"/>
              <a:ext cx="392554" cy="0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23" name="Line 55">
              <a:extLst>
                <a:ext uri="{FF2B5EF4-FFF2-40B4-BE49-F238E27FC236}">
                  <a16:creationId xmlns:a16="http://schemas.microsoft.com/office/drawing/2014/main" id="{2906EAD0-A2C1-4012-9119-0699B42EAD8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90938" y="4184182"/>
              <a:ext cx="397619" cy="0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24" name="Line 56">
              <a:extLst>
                <a:ext uri="{FF2B5EF4-FFF2-40B4-BE49-F238E27FC236}">
                  <a16:creationId xmlns:a16="http://schemas.microsoft.com/office/drawing/2014/main" id="{6E2401CE-657D-4C1C-BC28-1B8782937D2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03677" y="4184182"/>
              <a:ext cx="0" cy="49876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25" name="Line 57">
              <a:extLst>
                <a:ext uri="{FF2B5EF4-FFF2-40B4-BE49-F238E27FC236}">
                  <a16:creationId xmlns:a16="http://schemas.microsoft.com/office/drawing/2014/main" id="{D888BDB1-4163-4647-822F-53D6ACB0D1F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03677" y="4682946"/>
              <a:ext cx="850955" cy="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26" name="Line 58">
              <a:extLst>
                <a:ext uri="{FF2B5EF4-FFF2-40B4-BE49-F238E27FC236}">
                  <a16:creationId xmlns:a16="http://schemas.microsoft.com/office/drawing/2014/main" id="{89DE7FDC-A1D4-44C0-97E5-3FD023E36ED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454632" y="3934801"/>
              <a:ext cx="0" cy="748145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27" name="Line 59">
              <a:extLst>
                <a:ext uri="{FF2B5EF4-FFF2-40B4-BE49-F238E27FC236}">
                  <a16:creationId xmlns:a16="http://schemas.microsoft.com/office/drawing/2014/main" id="{FA2F867C-B070-4EEC-9DAF-26F44706648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657241" y="3934801"/>
              <a:ext cx="0" cy="623455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28" name="Line 60">
              <a:extLst>
                <a:ext uri="{FF2B5EF4-FFF2-40B4-BE49-F238E27FC236}">
                  <a16:creationId xmlns:a16="http://schemas.microsoft.com/office/drawing/2014/main" id="{DB34DEB9-5ACB-40C4-9F33-2AF0253BD91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657241" y="4558255"/>
              <a:ext cx="1094086" cy="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29" name="Line 61">
              <a:extLst>
                <a:ext uri="{FF2B5EF4-FFF2-40B4-BE49-F238E27FC236}">
                  <a16:creationId xmlns:a16="http://schemas.microsoft.com/office/drawing/2014/main" id="{28BB9992-82F8-4125-8130-BD5DBE354D8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751326" y="3934801"/>
              <a:ext cx="0" cy="623455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42" name="Rectangle 62">
              <a:extLst>
                <a:ext uri="{FF2B5EF4-FFF2-40B4-BE49-F238E27FC236}">
                  <a16:creationId xmlns:a16="http://schemas.microsoft.com/office/drawing/2014/main" id="{C364CE80-3974-4201-9EE7-BFF4B6FA3D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03100" y="5373826"/>
              <a:ext cx="969788" cy="45908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73" tIns="44442" rIns="90473" bIns="44442">
              <a:spAutoFit/>
            </a:bodyPr>
            <a:lstStyle/>
            <a:p>
              <a:pPr eaLnBrk="0" hangingPunct="0"/>
              <a:r>
                <a:rPr lang="en-US" altLang="zh-CN" sz="2400" dirty="0">
                  <a:latin typeface="Arial" pitchFamily="34" charset="0"/>
                  <a:ea typeface="SimHei" panose="02010609060101010101" pitchFamily="49" charset="-122"/>
                </a:rPr>
                <a:t>target</a:t>
              </a:r>
            </a:p>
          </p:txBody>
        </p:sp>
        <p:sp>
          <p:nvSpPr>
            <p:cNvPr id="74" name="Freeform 65">
              <a:extLst>
                <a:ext uri="{FF2B5EF4-FFF2-40B4-BE49-F238E27FC236}">
                  <a16:creationId xmlns:a16="http://schemas.microsoft.com/office/drawing/2014/main" id="{66E48E35-4785-4F2B-86D5-AC448FCA58BC}"/>
                </a:ext>
              </a:extLst>
            </p:cNvPr>
            <p:cNvSpPr>
              <a:spLocks/>
            </p:cNvSpPr>
            <p:nvPr/>
          </p:nvSpPr>
          <p:spPr bwMode="auto">
            <a:xfrm>
              <a:off x="5923587" y="5063946"/>
              <a:ext cx="535507" cy="1110673"/>
            </a:xfrm>
            <a:custGeom>
              <a:avLst/>
              <a:gdLst>
                <a:gd name="T0" fmla="*/ 0 w 213"/>
                <a:gd name="T1" fmla="*/ 320 h 481"/>
                <a:gd name="T2" fmla="*/ 71 w 213"/>
                <a:gd name="T3" fmla="*/ 240 h 481"/>
                <a:gd name="T4" fmla="*/ 0 w 213"/>
                <a:gd name="T5" fmla="*/ 160 h 481"/>
                <a:gd name="T6" fmla="*/ 0 w 213"/>
                <a:gd name="T7" fmla="*/ 0 h 481"/>
                <a:gd name="T8" fmla="*/ 212 w 213"/>
                <a:gd name="T9" fmla="*/ 160 h 481"/>
                <a:gd name="T10" fmla="*/ 212 w 213"/>
                <a:gd name="T11" fmla="*/ 320 h 481"/>
                <a:gd name="T12" fmla="*/ 0 w 213"/>
                <a:gd name="T13" fmla="*/ 480 h 481"/>
                <a:gd name="T14" fmla="*/ 0 w 213"/>
                <a:gd name="T15" fmla="*/ 320 h 48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13" h="481">
                  <a:moveTo>
                    <a:pt x="0" y="320"/>
                  </a:moveTo>
                  <a:lnTo>
                    <a:pt x="71" y="240"/>
                  </a:lnTo>
                  <a:lnTo>
                    <a:pt x="0" y="160"/>
                  </a:lnTo>
                  <a:lnTo>
                    <a:pt x="0" y="0"/>
                  </a:lnTo>
                  <a:lnTo>
                    <a:pt x="212" y="160"/>
                  </a:lnTo>
                  <a:lnTo>
                    <a:pt x="212" y="320"/>
                  </a:lnTo>
                  <a:lnTo>
                    <a:pt x="0" y="480"/>
                  </a:lnTo>
                  <a:lnTo>
                    <a:pt x="0" y="320"/>
                  </a:lnTo>
                </a:path>
              </a:pathLst>
            </a:custGeom>
            <a:noFill/>
            <a:ln w="25400" cap="rnd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75" name="Rectangle 66">
              <a:extLst>
                <a:ext uri="{FF2B5EF4-FFF2-40B4-BE49-F238E27FC236}">
                  <a16:creationId xmlns:a16="http://schemas.microsoft.com/office/drawing/2014/main" id="{28E970CA-61A4-4269-9FB4-C073108796C7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5866257" y="5415901"/>
              <a:ext cx="682850" cy="39752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73" tIns="44442" rIns="90473" bIns="44442">
              <a:spAutoFit/>
            </a:bodyPr>
            <a:lstStyle/>
            <a:p>
              <a:pPr eaLnBrk="0" hangingPunct="0"/>
              <a:r>
                <a:rPr lang="en-US" altLang="zh-CN" sz="2000" dirty="0">
                  <a:latin typeface="Arial" pitchFamily="34" charset="0"/>
                  <a:ea typeface="SimHei" panose="02010609060101010101" pitchFamily="49" charset="-122"/>
                </a:rPr>
                <a:t>ALU</a:t>
              </a:r>
            </a:p>
          </p:txBody>
        </p:sp>
        <p:sp>
          <p:nvSpPr>
            <p:cNvPr id="70" name="Rectangle 68">
              <a:extLst>
                <a:ext uri="{FF2B5EF4-FFF2-40B4-BE49-F238E27FC236}">
                  <a16:creationId xmlns:a16="http://schemas.microsoft.com/office/drawing/2014/main" id="{AB47D672-AC9D-4780-A488-D9B6587886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93550" y="5432477"/>
              <a:ext cx="466445" cy="39752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73" tIns="44442" rIns="90473" bIns="44442">
              <a:spAutoFit/>
            </a:bodyPr>
            <a:lstStyle/>
            <a:p>
              <a:pPr algn="ctr" eaLnBrk="0" hangingPunct="0"/>
              <a:r>
                <a:rPr lang="en-US" altLang="zh-CN" sz="2000" dirty="0">
                  <a:latin typeface="Arial" pitchFamily="34" charset="0"/>
                  <a:ea typeface="SimHei" panose="02010609060101010101" pitchFamily="49" charset="-122"/>
                </a:rPr>
                <a:t>IM</a:t>
              </a:r>
            </a:p>
          </p:txBody>
        </p:sp>
        <p:grpSp>
          <p:nvGrpSpPr>
            <p:cNvPr id="71" name="Group 69">
              <a:extLst>
                <a:ext uri="{FF2B5EF4-FFF2-40B4-BE49-F238E27FC236}">
                  <a16:creationId xmlns:a16="http://schemas.microsoft.com/office/drawing/2014/main" id="{9C48BEBC-2E8E-40AF-8AE1-656370CEB99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595512" y="5285619"/>
              <a:ext cx="854801" cy="667327"/>
              <a:chOff x="1291" y="1509"/>
              <a:chExt cx="340" cy="289"/>
            </a:xfrm>
          </p:grpSpPr>
          <p:sp>
            <p:nvSpPr>
              <p:cNvPr id="72" name="Freeform 70">
                <a:extLst>
                  <a:ext uri="{FF2B5EF4-FFF2-40B4-BE49-F238E27FC236}">
                    <a16:creationId xmlns:a16="http://schemas.microsoft.com/office/drawing/2014/main" id="{C68FDC00-3F38-4AD0-BEC3-7997FE406C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1" y="1509"/>
                <a:ext cx="170" cy="289"/>
              </a:xfrm>
              <a:custGeom>
                <a:avLst/>
                <a:gdLst>
                  <a:gd name="T0" fmla="*/ 169 w 170"/>
                  <a:gd name="T1" fmla="*/ 0 h 289"/>
                  <a:gd name="T2" fmla="*/ 0 w 170"/>
                  <a:gd name="T3" fmla="*/ 0 h 289"/>
                  <a:gd name="T4" fmla="*/ 0 w 170"/>
                  <a:gd name="T5" fmla="*/ 288 h 289"/>
                  <a:gd name="T6" fmla="*/ 169 w 170"/>
                  <a:gd name="T7" fmla="*/ 288 h 28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0" h="289">
                    <a:moveTo>
                      <a:pt x="169" y="0"/>
                    </a:moveTo>
                    <a:lnTo>
                      <a:pt x="0" y="0"/>
                    </a:lnTo>
                    <a:lnTo>
                      <a:pt x="0" y="288"/>
                    </a:lnTo>
                    <a:lnTo>
                      <a:pt x="169" y="288"/>
                    </a:lnTo>
                  </a:path>
                </a:pathLst>
              </a:custGeom>
              <a:noFill/>
              <a:ln w="25400" cap="rnd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dirty="0">
                  <a:ea typeface="SimHei" panose="02010609060101010101" pitchFamily="49" charset="-122"/>
                </a:endParaRPr>
              </a:p>
            </p:txBody>
          </p:sp>
          <p:sp>
            <p:nvSpPr>
              <p:cNvPr id="73" name="Freeform 71">
                <a:extLst>
                  <a:ext uri="{FF2B5EF4-FFF2-40B4-BE49-F238E27FC236}">
                    <a16:creationId xmlns:a16="http://schemas.microsoft.com/office/drawing/2014/main" id="{42A63F6B-3886-4A0B-9DCF-BBB7194723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0" y="1509"/>
                <a:ext cx="171" cy="289"/>
              </a:xfrm>
              <a:custGeom>
                <a:avLst/>
                <a:gdLst>
                  <a:gd name="T0" fmla="*/ 0 w 171"/>
                  <a:gd name="T1" fmla="*/ 0 h 289"/>
                  <a:gd name="T2" fmla="*/ 170 w 171"/>
                  <a:gd name="T3" fmla="*/ 0 h 289"/>
                  <a:gd name="T4" fmla="*/ 170 w 171"/>
                  <a:gd name="T5" fmla="*/ 288 h 289"/>
                  <a:gd name="T6" fmla="*/ 0 w 171"/>
                  <a:gd name="T7" fmla="*/ 288 h 28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1" h="289">
                    <a:moveTo>
                      <a:pt x="0" y="0"/>
                    </a:moveTo>
                    <a:lnTo>
                      <a:pt x="170" y="0"/>
                    </a:lnTo>
                    <a:lnTo>
                      <a:pt x="170" y="288"/>
                    </a:lnTo>
                    <a:lnTo>
                      <a:pt x="0" y="288"/>
                    </a:lnTo>
                  </a:path>
                </a:pathLst>
              </a:custGeom>
              <a:noFill/>
              <a:ln w="25400" cap="rnd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dirty="0">
                  <a:ea typeface="SimHei" panose="02010609060101010101" pitchFamily="49" charset="-122"/>
                </a:endParaRPr>
              </a:p>
            </p:txBody>
          </p:sp>
        </p:grpSp>
        <p:sp>
          <p:nvSpPr>
            <p:cNvPr id="46" name="Rectangle 72">
              <a:extLst>
                <a:ext uri="{FF2B5EF4-FFF2-40B4-BE49-F238E27FC236}">
                  <a16:creationId xmlns:a16="http://schemas.microsoft.com/office/drawing/2014/main" id="{A828D5E4-CAAB-427D-B651-B6971180DE3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38833" y="5444022"/>
              <a:ext cx="653996" cy="39752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73" tIns="44442" rIns="90473" bIns="44442">
              <a:spAutoFit/>
            </a:bodyPr>
            <a:lstStyle/>
            <a:p>
              <a:pPr eaLnBrk="0" hangingPunct="0"/>
              <a:r>
                <a:rPr lang="en-US" altLang="zh-CN" sz="2000" dirty="0">
                  <a:latin typeface="Arial" pitchFamily="34" charset="0"/>
                  <a:ea typeface="SimHei" panose="02010609060101010101" pitchFamily="49" charset="-122"/>
                </a:rPr>
                <a:t>Reg</a:t>
              </a:r>
            </a:p>
          </p:txBody>
        </p:sp>
        <p:sp>
          <p:nvSpPr>
            <p:cNvPr id="68" name="Freeform 74">
              <a:extLst>
                <a:ext uri="{FF2B5EF4-FFF2-40B4-BE49-F238E27FC236}">
                  <a16:creationId xmlns:a16="http://schemas.microsoft.com/office/drawing/2014/main" id="{BCBFE182-AF2F-40A3-80F9-09F04243DF1A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2007" y="5285619"/>
              <a:ext cx="374604" cy="667327"/>
            </a:xfrm>
            <a:custGeom>
              <a:avLst/>
              <a:gdLst>
                <a:gd name="T0" fmla="*/ 148 w 149"/>
                <a:gd name="T1" fmla="*/ 0 h 289"/>
                <a:gd name="T2" fmla="*/ 0 w 149"/>
                <a:gd name="T3" fmla="*/ 0 h 289"/>
                <a:gd name="T4" fmla="*/ 0 w 149"/>
                <a:gd name="T5" fmla="*/ 288 h 289"/>
                <a:gd name="T6" fmla="*/ 148 w 149"/>
                <a:gd name="T7" fmla="*/ 288 h 28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9" h="289">
                  <a:moveTo>
                    <a:pt x="148" y="0"/>
                  </a:moveTo>
                  <a:lnTo>
                    <a:pt x="0" y="0"/>
                  </a:lnTo>
                  <a:lnTo>
                    <a:pt x="0" y="288"/>
                  </a:lnTo>
                  <a:lnTo>
                    <a:pt x="148" y="288"/>
                  </a:lnTo>
                </a:path>
              </a:pathLst>
            </a:custGeom>
            <a:noFill/>
            <a:ln w="25400" cap="rnd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69" name="Freeform 75">
              <a:extLst>
                <a:ext uri="{FF2B5EF4-FFF2-40B4-BE49-F238E27FC236}">
                  <a16:creationId xmlns:a16="http://schemas.microsoft.com/office/drawing/2014/main" id="{F9CD81C2-32C0-44DF-87B6-FF71EB65F308}"/>
                </a:ext>
              </a:extLst>
            </p:cNvPr>
            <p:cNvSpPr>
              <a:spLocks/>
            </p:cNvSpPr>
            <p:nvPr/>
          </p:nvSpPr>
          <p:spPr bwMode="auto">
            <a:xfrm>
              <a:off x="5124097" y="5285619"/>
              <a:ext cx="372090" cy="667327"/>
            </a:xfrm>
            <a:custGeom>
              <a:avLst/>
              <a:gdLst>
                <a:gd name="T0" fmla="*/ 0 w 148"/>
                <a:gd name="T1" fmla="*/ 0 h 289"/>
                <a:gd name="T2" fmla="*/ 147 w 148"/>
                <a:gd name="T3" fmla="*/ 0 h 289"/>
                <a:gd name="T4" fmla="*/ 147 w 148"/>
                <a:gd name="T5" fmla="*/ 288 h 289"/>
                <a:gd name="T6" fmla="*/ 0 w 148"/>
                <a:gd name="T7" fmla="*/ 288 h 28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8" h="289">
                  <a:moveTo>
                    <a:pt x="0" y="0"/>
                  </a:moveTo>
                  <a:lnTo>
                    <a:pt x="147" y="0"/>
                  </a:lnTo>
                  <a:lnTo>
                    <a:pt x="147" y="288"/>
                  </a:lnTo>
                  <a:lnTo>
                    <a:pt x="0" y="288"/>
                  </a:lnTo>
                </a:path>
              </a:pathLst>
            </a:custGeom>
            <a:noFill/>
            <a:ln w="25400" cap="rnd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48" name="Line 76">
              <a:extLst>
                <a:ext uri="{FF2B5EF4-FFF2-40B4-BE49-F238E27FC236}">
                  <a16:creationId xmlns:a16="http://schemas.microsoft.com/office/drawing/2014/main" id="{03D52966-BB99-40EF-9939-765B5245FF2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462883" y="5618128"/>
              <a:ext cx="291638" cy="0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49" name="Freeform 77">
              <a:extLst>
                <a:ext uri="{FF2B5EF4-FFF2-40B4-BE49-F238E27FC236}">
                  <a16:creationId xmlns:a16="http://schemas.microsoft.com/office/drawing/2014/main" id="{7A8F6324-4509-4B6A-B0DA-8D34C15556C6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3843" y="5396455"/>
              <a:ext cx="120678" cy="223982"/>
            </a:xfrm>
            <a:custGeom>
              <a:avLst/>
              <a:gdLst>
                <a:gd name="T0" fmla="*/ 0 w 48"/>
                <a:gd name="T1" fmla="*/ 96 h 97"/>
                <a:gd name="T2" fmla="*/ 0 w 48"/>
                <a:gd name="T3" fmla="*/ 0 h 97"/>
                <a:gd name="T4" fmla="*/ 47 w 48"/>
                <a:gd name="T5" fmla="*/ 0 h 97"/>
                <a:gd name="T6" fmla="*/ 47 w 48"/>
                <a:gd name="T7" fmla="*/ 0 h 9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8" h="97">
                  <a:moveTo>
                    <a:pt x="0" y="96"/>
                  </a:moveTo>
                  <a:lnTo>
                    <a:pt x="0" y="0"/>
                  </a:lnTo>
                  <a:lnTo>
                    <a:pt x="47" y="0"/>
                  </a:lnTo>
                </a:path>
              </a:pathLst>
            </a:custGeom>
            <a:noFill/>
            <a:ln w="25400" cap="rnd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50" name="Line 78">
              <a:extLst>
                <a:ext uri="{FF2B5EF4-FFF2-40B4-BE49-F238E27FC236}">
                  <a16:creationId xmlns:a16="http://schemas.microsoft.com/office/drawing/2014/main" id="{71048FC3-A330-4465-925D-51C282CE360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508757" y="5396455"/>
              <a:ext cx="394717" cy="0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51" name="Rectangle 79">
              <a:extLst>
                <a:ext uri="{FF2B5EF4-FFF2-40B4-BE49-F238E27FC236}">
                  <a16:creationId xmlns:a16="http://schemas.microsoft.com/office/drawing/2014/main" id="{75A0DC8C-A11F-4CE5-B1C2-19860C447D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08518" y="5446331"/>
              <a:ext cx="581861" cy="39752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73" tIns="44442" rIns="90473" bIns="44442">
              <a:spAutoFit/>
            </a:bodyPr>
            <a:lstStyle/>
            <a:p>
              <a:pPr eaLnBrk="0" hangingPunct="0"/>
              <a:r>
                <a:rPr lang="en-US" altLang="zh-CN" sz="2000" dirty="0">
                  <a:latin typeface="Arial" pitchFamily="34" charset="0"/>
                  <a:ea typeface="SimHei" panose="02010609060101010101" pitchFamily="49" charset="-122"/>
                </a:rPr>
                <a:t>DM</a:t>
              </a:r>
            </a:p>
          </p:txBody>
        </p:sp>
        <p:sp>
          <p:nvSpPr>
            <p:cNvPr id="66" name="Freeform 81">
              <a:extLst>
                <a:ext uri="{FF2B5EF4-FFF2-40B4-BE49-F238E27FC236}">
                  <a16:creationId xmlns:a16="http://schemas.microsoft.com/office/drawing/2014/main" id="{1C280C4A-BC74-459C-BD6D-097926BBBFB4}"/>
                </a:ext>
              </a:extLst>
            </p:cNvPr>
            <p:cNvSpPr>
              <a:spLocks/>
            </p:cNvSpPr>
            <p:nvPr/>
          </p:nvSpPr>
          <p:spPr bwMode="auto">
            <a:xfrm>
              <a:off x="6886494" y="5285619"/>
              <a:ext cx="407287" cy="667327"/>
            </a:xfrm>
            <a:custGeom>
              <a:avLst/>
              <a:gdLst>
                <a:gd name="T0" fmla="*/ 161 w 162"/>
                <a:gd name="T1" fmla="*/ 0 h 289"/>
                <a:gd name="T2" fmla="*/ 0 w 162"/>
                <a:gd name="T3" fmla="*/ 0 h 289"/>
                <a:gd name="T4" fmla="*/ 0 w 162"/>
                <a:gd name="T5" fmla="*/ 288 h 289"/>
                <a:gd name="T6" fmla="*/ 161 w 162"/>
                <a:gd name="T7" fmla="*/ 288 h 28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2" h="289">
                  <a:moveTo>
                    <a:pt x="161" y="0"/>
                  </a:moveTo>
                  <a:lnTo>
                    <a:pt x="0" y="0"/>
                  </a:lnTo>
                  <a:lnTo>
                    <a:pt x="0" y="288"/>
                  </a:lnTo>
                  <a:lnTo>
                    <a:pt x="161" y="288"/>
                  </a:lnTo>
                </a:path>
              </a:pathLst>
            </a:custGeom>
            <a:noFill/>
            <a:ln w="25400" cap="rnd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67" name="Freeform 82">
              <a:extLst>
                <a:ext uri="{FF2B5EF4-FFF2-40B4-BE49-F238E27FC236}">
                  <a16:creationId xmlns:a16="http://schemas.microsoft.com/office/drawing/2014/main" id="{043C29E2-83F8-4E35-B971-06740E0D620D}"/>
                </a:ext>
              </a:extLst>
            </p:cNvPr>
            <p:cNvSpPr>
              <a:spLocks/>
            </p:cNvSpPr>
            <p:nvPr/>
          </p:nvSpPr>
          <p:spPr bwMode="auto">
            <a:xfrm>
              <a:off x="7291267" y="5285619"/>
              <a:ext cx="412316" cy="667327"/>
            </a:xfrm>
            <a:custGeom>
              <a:avLst/>
              <a:gdLst>
                <a:gd name="T0" fmla="*/ 0 w 164"/>
                <a:gd name="T1" fmla="*/ 0 h 289"/>
                <a:gd name="T2" fmla="*/ 163 w 164"/>
                <a:gd name="T3" fmla="*/ 0 h 289"/>
                <a:gd name="T4" fmla="*/ 163 w 164"/>
                <a:gd name="T5" fmla="*/ 288 h 289"/>
                <a:gd name="T6" fmla="*/ 0 w 164"/>
                <a:gd name="T7" fmla="*/ 288 h 28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4" h="289">
                  <a:moveTo>
                    <a:pt x="0" y="0"/>
                  </a:moveTo>
                  <a:lnTo>
                    <a:pt x="163" y="0"/>
                  </a:lnTo>
                  <a:lnTo>
                    <a:pt x="163" y="288"/>
                  </a:lnTo>
                  <a:lnTo>
                    <a:pt x="0" y="288"/>
                  </a:lnTo>
                </a:path>
              </a:pathLst>
            </a:custGeom>
            <a:noFill/>
            <a:ln w="25400" cap="rnd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53" name="Rectangle 83">
              <a:extLst>
                <a:ext uri="{FF2B5EF4-FFF2-40B4-BE49-F238E27FC236}">
                  <a16:creationId xmlns:a16="http://schemas.microsoft.com/office/drawing/2014/main" id="{0CDAF346-1607-4A79-8B01-E08CE6B24D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127301" y="5439404"/>
              <a:ext cx="653996" cy="39752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73" tIns="44442" rIns="90473" bIns="44442">
              <a:spAutoFit/>
            </a:bodyPr>
            <a:lstStyle/>
            <a:p>
              <a:pPr eaLnBrk="0" hangingPunct="0"/>
              <a:r>
                <a:rPr lang="en-US" altLang="zh-CN" sz="2000" dirty="0">
                  <a:latin typeface="Arial" pitchFamily="34" charset="0"/>
                  <a:ea typeface="SimHei" panose="02010609060101010101" pitchFamily="49" charset="-122"/>
                </a:rPr>
                <a:t>Reg</a:t>
              </a:r>
            </a:p>
          </p:txBody>
        </p:sp>
        <p:sp>
          <p:nvSpPr>
            <p:cNvPr id="64" name="Freeform 85">
              <a:extLst>
                <a:ext uri="{FF2B5EF4-FFF2-40B4-BE49-F238E27FC236}">
                  <a16:creationId xmlns:a16="http://schemas.microsoft.com/office/drawing/2014/main" id="{4379B5D4-8F96-4DB7-98A3-8C0DDF04DE5C}"/>
                </a:ext>
              </a:extLst>
            </p:cNvPr>
            <p:cNvSpPr>
              <a:spLocks/>
            </p:cNvSpPr>
            <p:nvPr/>
          </p:nvSpPr>
          <p:spPr bwMode="auto">
            <a:xfrm>
              <a:off x="8063102" y="5285619"/>
              <a:ext cx="357005" cy="667327"/>
            </a:xfrm>
            <a:custGeom>
              <a:avLst/>
              <a:gdLst>
                <a:gd name="T0" fmla="*/ 141 w 142"/>
                <a:gd name="T1" fmla="*/ 0 h 289"/>
                <a:gd name="T2" fmla="*/ 0 w 142"/>
                <a:gd name="T3" fmla="*/ 0 h 289"/>
                <a:gd name="T4" fmla="*/ 0 w 142"/>
                <a:gd name="T5" fmla="*/ 288 h 289"/>
                <a:gd name="T6" fmla="*/ 141 w 142"/>
                <a:gd name="T7" fmla="*/ 288 h 28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2" h="289">
                  <a:moveTo>
                    <a:pt x="141" y="0"/>
                  </a:moveTo>
                  <a:lnTo>
                    <a:pt x="0" y="0"/>
                  </a:lnTo>
                  <a:lnTo>
                    <a:pt x="0" y="288"/>
                  </a:lnTo>
                  <a:lnTo>
                    <a:pt x="141" y="288"/>
                  </a:lnTo>
                </a:path>
              </a:pathLst>
            </a:custGeom>
            <a:noFill/>
            <a:ln w="25400" cap="rnd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65" name="Freeform 86">
              <a:extLst>
                <a:ext uri="{FF2B5EF4-FFF2-40B4-BE49-F238E27FC236}">
                  <a16:creationId xmlns:a16="http://schemas.microsoft.com/office/drawing/2014/main" id="{729C6158-9F1B-4E4B-9F2E-BFA4688F62F3}"/>
                </a:ext>
              </a:extLst>
            </p:cNvPr>
            <p:cNvSpPr>
              <a:spLocks/>
            </p:cNvSpPr>
            <p:nvPr/>
          </p:nvSpPr>
          <p:spPr bwMode="auto">
            <a:xfrm>
              <a:off x="8417593" y="5285619"/>
              <a:ext cx="359519" cy="667327"/>
            </a:xfrm>
            <a:custGeom>
              <a:avLst/>
              <a:gdLst>
                <a:gd name="T0" fmla="*/ 0 w 143"/>
                <a:gd name="T1" fmla="*/ 0 h 289"/>
                <a:gd name="T2" fmla="*/ 142 w 143"/>
                <a:gd name="T3" fmla="*/ 0 h 289"/>
                <a:gd name="T4" fmla="*/ 142 w 143"/>
                <a:gd name="T5" fmla="*/ 288 h 289"/>
                <a:gd name="T6" fmla="*/ 0 w 143"/>
                <a:gd name="T7" fmla="*/ 288 h 28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3" h="289">
                  <a:moveTo>
                    <a:pt x="0" y="0"/>
                  </a:moveTo>
                  <a:lnTo>
                    <a:pt x="142" y="0"/>
                  </a:lnTo>
                  <a:lnTo>
                    <a:pt x="142" y="288"/>
                  </a:lnTo>
                  <a:lnTo>
                    <a:pt x="0" y="288"/>
                  </a:lnTo>
                </a:path>
              </a:pathLst>
            </a:custGeom>
            <a:noFill/>
            <a:ln w="25400" cap="rnd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55" name="Line 87">
              <a:extLst>
                <a:ext uri="{FF2B5EF4-FFF2-40B4-BE49-F238E27FC236}">
                  <a16:creationId xmlns:a16="http://schemas.microsoft.com/office/drawing/2014/main" id="{7B0EB25C-0459-4BBF-B8D3-F78288A51E3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693527" y="5618128"/>
              <a:ext cx="349463" cy="0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56" name="Line 88">
              <a:extLst>
                <a:ext uri="{FF2B5EF4-FFF2-40B4-BE49-F238E27FC236}">
                  <a16:creationId xmlns:a16="http://schemas.microsoft.com/office/drawing/2014/main" id="{1DE5B185-8F50-4E3E-B893-6032E5C009F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476693" y="5618128"/>
              <a:ext cx="389689" cy="0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57" name="Line 89">
              <a:extLst>
                <a:ext uri="{FF2B5EF4-FFF2-40B4-BE49-F238E27FC236}">
                  <a16:creationId xmlns:a16="http://schemas.microsoft.com/office/drawing/2014/main" id="{7630F063-EFAB-49EA-8C35-5C2C2AB74B6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508757" y="5839801"/>
              <a:ext cx="394717" cy="0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58" name="Line 90">
              <a:extLst>
                <a:ext uri="{FF2B5EF4-FFF2-40B4-BE49-F238E27FC236}">
                  <a16:creationId xmlns:a16="http://schemas.microsoft.com/office/drawing/2014/main" id="{F9F82BAA-F02D-48BC-A36A-C58199ADDB5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719943" y="5839801"/>
              <a:ext cx="0" cy="443345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59" name="Line 91">
              <a:extLst>
                <a:ext uri="{FF2B5EF4-FFF2-40B4-BE49-F238E27FC236}">
                  <a16:creationId xmlns:a16="http://schemas.microsoft.com/office/drawing/2014/main" id="{63E02506-9629-400B-8F1B-007590FDB30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719943" y="6283146"/>
              <a:ext cx="844744" cy="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60" name="Line 92">
              <a:extLst>
                <a:ext uri="{FF2B5EF4-FFF2-40B4-BE49-F238E27FC236}">
                  <a16:creationId xmlns:a16="http://schemas.microsoft.com/office/drawing/2014/main" id="{99B8DCF4-0CB0-4ADF-A7E4-FE9EDDCBAFF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564687" y="5618128"/>
              <a:ext cx="0" cy="665018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61" name="Line 93">
              <a:extLst>
                <a:ext uri="{FF2B5EF4-FFF2-40B4-BE49-F238E27FC236}">
                  <a16:creationId xmlns:a16="http://schemas.microsoft.com/office/drawing/2014/main" id="{285B7EA6-2687-43B4-A457-9C0704DDB00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765817" y="5618128"/>
              <a:ext cx="0" cy="554182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62" name="Line 94">
              <a:extLst>
                <a:ext uri="{FF2B5EF4-FFF2-40B4-BE49-F238E27FC236}">
                  <a16:creationId xmlns:a16="http://schemas.microsoft.com/office/drawing/2014/main" id="{CE6DE354-D01B-4BA7-AFCC-E067EF7A2F5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765817" y="6172310"/>
              <a:ext cx="1086100" cy="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63" name="Line 95">
              <a:extLst>
                <a:ext uri="{FF2B5EF4-FFF2-40B4-BE49-F238E27FC236}">
                  <a16:creationId xmlns:a16="http://schemas.microsoft.com/office/drawing/2014/main" id="{B8EABB9C-C0D2-489B-B69C-74D253CBD49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851916" y="5618128"/>
              <a:ext cx="0" cy="554182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76" name="Line 126">
              <a:extLst>
                <a:ext uri="{FF2B5EF4-FFF2-40B4-BE49-F238E27FC236}">
                  <a16:creationId xmlns:a16="http://schemas.microsoft.com/office/drawing/2014/main" id="{8837C556-73DE-41C3-97F0-C70BD8F1ECB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668912" y="3317696"/>
              <a:ext cx="0" cy="2951163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prstDash val="sysDot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77" name="Line 129">
              <a:extLst>
                <a:ext uri="{FF2B5EF4-FFF2-40B4-BE49-F238E27FC236}">
                  <a16:creationId xmlns:a16="http://schemas.microsoft.com/office/drawing/2014/main" id="{AC4E01C9-350B-4B15-B25D-B5EA431EB44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576712" y="3317696"/>
              <a:ext cx="0" cy="2951163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prstDash val="sysDot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78" name="Line 131">
              <a:extLst>
                <a:ext uri="{FF2B5EF4-FFF2-40B4-BE49-F238E27FC236}">
                  <a16:creationId xmlns:a16="http://schemas.microsoft.com/office/drawing/2014/main" id="{054BA843-B903-4104-95D3-1254CF0A573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527375" y="3276421"/>
              <a:ext cx="0" cy="2951163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prstDash val="sysDot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79" name="Line 133">
              <a:extLst>
                <a:ext uri="{FF2B5EF4-FFF2-40B4-BE49-F238E27FC236}">
                  <a16:creationId xmlns:a16="http://schemas.microsoft.com/office/drawing/2014/main" id="{26B0FE4C-85EE-440A-AD1A-199FABD9CEF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12950" y="3276421"/>
              <a:ext cx="0" cy="2951163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prstDash val="sysDot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80" name="Line 135">
              <a:extLst>
                <a:ext uri="{FF2B5EF4-FFF2-40B4-BE49-F238E27FC236}">
                  <a16:creationId xmlns:a16="http://schemas.microsoft.com/office/drawing/2014/main" id="{446FDC39-3390-422E-B5A5-CB640C69D70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300112" y="3235146"/>
              <a:ext cx="0" cy="2951163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prstDash val="sysDot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81" name="Line 141">
              <a:extLst>
                <a:ext uri="{FF2B5EF4-FFF2-40B4-BE49-F238E27FC236}">
                  <a16:creationId xmlns:a16="http://schemas.microsoft.com/office/drawing/2014/main" id="{3C28CD86-A6BA-4477-95F7-01455F81D73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786512" y="3311346"/>
              <a:ext cx="0" cy="2951163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prstDash val="sysDot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</p:grpSp>
      <p:sp>
        <p:nvSpPr>
          <p:cNvPr id="82" name="矩形 81">
            <a:extLst>
              <a:ext uri="{FF2B5EF4-FFF2-40B4-BE49-F238E27FC236}">
                <a16:creationId xmlns:a16="http://schemas.microsoft.com/office/drawing/2014/main" id="{D1DA2186-07C9-46ED-9DC0-2BF46248EE84}"/>
              </a:ext>
            </a:extLst>
          </p:cNvPr>
          <p:cNvSpPr/>
          <p:nvPr/>
        </p:nvSpPr>
        <p:spPr>
          <a:xfrm>
            <a:off x="5903474" y="1117268"/>
            <a:ext cx="3325988" cy="70788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altLang="zh-CN" sz="2000" dirty="0">
                <a:latin typeface="Arial" charset="0"/>
                <a:ea typeface="SimHei" panose="02010609060101010101" pitchFamily="49" charset="-122"/>
              </a:rPr>
              <a:t>BHT</a:t>
            </a:r>
            <a:r>
              <a:rPr lang="en-US" altLang="zh-CN" sz="2000" dirty="0">
                <a:ea typeface="SimHei" panose="02010609060101010101" pitchFamily="49" charset="-122"/>
              </a:rPr>
              <a:t>:</a:t>
            </a:r>
            <a:r>
              <a:rPr lang="zh-CN" altLang="en-US" sz="2000" dirty="0">
                <a:ea typeface="SimHei" panose="02010609060101010101" pitchFamily="49" charset="-122"/>
              </a:rPr>
              <a:t> </a:t>
            </a:r>
            <a:r>
              <a:rPr lang="en-US" altLang="zh-CN" sz="2000" dirty="0">
                <a:latin typeface="Arial" charset="0"/>
                <a:ea typeface="SimHei" panose="02010609060101010101" pitchFamily="49" charset="-122"/>
              </a:rPr>
              <a:t>Branch history table</a:t>
            </a:r>
          </a:p>
          <a:p>
            <a:r>
              <a:rPr lang="en-US" altLang="zh-CN" sz="2000" dirty="0">
                <a:latin typeface="Arial" charset="0"/>
                <a:ea typeface="SimHei" panose="02010609060101010101" pitchFamily="49" charset="-122"/>
              </a:rPr>
              <a:t>BTB</a:t>
            </a:r>
            <a:r>
              <a:rPr lang="en-US" altLang="zh-CN" sz="2000" dirty="0">
                <a:ea typeface="SimHei" panose="02010609060101010101" pitchFamily="49" charset="-122"/>
              </a:rPr>
              <a:t>:</a:t>
            </a:r>
            <a:r>
              <a:rPr lang="zh-CN" altLang="en-US" sz="2000" dirty="0">
                <a:ea typeface="SimHei" panose="02010609060101010101" pitchFamily="49" charset="-122"/>
              </a:rPr>
              <a:t> </a:t>
            </a:r>
            <a:r>
              <a:rPr lang="en-US" altLang="zh-CN" sz="2000" dirty="0">
                <a:latin typeface="Arial" charset="0"/>
                <a:ea typeface="SimHei" panose="02010609060101010101" pitchFamily="49" charset="-122"/>
              </a:rPr>
              <a:t>Branch Target Buffer</a:t>
            </a:r>
            <a:endParaRPr lang="zh-CN" altLang="en-US" sz="2000" dirty="0">
              <a:ea typeface="SimHei" panose="02010609060101010101" pitchFamily="49" charset="-122"/>
            </a:endParaRPr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9" name="墨迹 8">
                <a:extLst>
                  <a:ext uri="{FF2B5EF4-FFF2-40B4-BE49-F238E27FC236}">
                    <a16:creationId xmlns:a16="http://schemas.microsoft.com/office/drawing/2014/main" id="{677001FD-A172-B5EE-C08A-62BABCFF30EA}"/>
                  </a:ext>
                </a:extLst>
              </p14:cNvPr>
              <p14:cNvContentPartPr/>
              <p14:nvPr/>
            </p14:nvContentPartPr>
            <p14:xfrm>
              <a:off x="2294640" y="4862160"/>
              <a:ext cx="360" cy="360"/>
            </p14:xfrm>
          </p:contentPart>
        </mc:Choice>
        <mc:Fallback xmlns="">
          <p:pic>
            <p:nvPicPr>
              <p:cNvPr id="9" name="墨迹 8">
                <a:extLst>
                  <a:ext uri="{FF2B5EF4-FFF2-40B4-BE49-F238E27FC236}">
                    <a16:creationId xmlns:a16="http://schemas.microsoft.com/office/drawing/2014/main" id="{677001FD-A172-B5EE-C08A-62BABCFF30EA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285280" y="4852800"/>
                <a:ext cx="19080" cy="1908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700909840"/>
      </p:ext>
    </p:extLst>
  </p:cSld>
  <p:clrMapOvr>
    <a:masterClrMapping/>
  </p:clrMapOvr>
</p:sld>
</file>

<file path=ppt/slides/slide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灯片编号占位符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1806CE5-282B-4233-8654-09F35EA875E2}" type="slidenum">
              <a:rPr lang="zh-CN" altLang="en-US" smtClean="0"/>
              <a:t>54</a:t>
            </a:fld>
            <a:endParaRPr lang="zh-CN" altLang="en-US"/>
          </a:p>
        </p:txBody>
      </p:sp>
      <p:sp>
        <p:nvSpPr>
          <p:cNvPr id="6" name="文本框 5"/>
          <p:cNvSpPr txBox="1"/>
          <p:nvPr>
            <p:custDataLst>
              <p:tags r:id="rId2"/>
            </p:custDataLst>
          </p:nvPr>
        </p:nvSpPr>
        <p:spPr>
          <a:xfrm>
            <a:off x="914400" y="879474"/>
            <a:ext cx="7315200" cy="2143125"/>
          </a:xfrm>
          <a:prstGeom prst="rect">
            <a:avLst/>
          </a:prstGeom>
          <a:noFill/>
        </p:spPr>
        <p:txBody>
          <a:bodyPr vert="horz" wrap="square" rtlCol="0" anchor="ctr" anchorCtr="0">
            <a:noAutofit/>
          </a:bodyPr>
          <a:lstStyle/>
          <a:p>
            <a:r>
              <a:rPr lang="zh-CN" altLang="en-US" sz="2400" b="1" dirty="0">
                <a:latin typeface="+mn-lt"/>
                <a:ea typeface="+mn-ea"/>
                <a:sym typeface="Microsoft Yahei" panose="020B0503020204020204" pitchFamily="34" charset="-122"/>
              </a:rPr>
              <a:t>假设某个程序中的指令类型分布如下，而且分支发生的概率为</a:t>
            </a:r>
            <a:r>
              <a:rPr lang="en-US" altLang="zh-CN" sz="2400" b="1" dirty="0">
                <a:latin typeface="+mn-lt"/>
                <a:ea typeface="+mn-ea"/>
                <a:sym typeface="Microsoft Yahei" panose="020B0503020204020204" pitchFamily="34" charset="-122"/>
              </a:rPr>
              <a:t>30%</a:t>
            </a:r>
            <a:r>
              <a:rPr lang="zh-CN" altLang="en-US" sz="2400" b="1" dirty="0">
                <a:latin typeface="+mn-lt"/>
                <a:ea typeface="+mn-ea"/>
                <a:sym typeface="Microsoft Yahei" panose="020B0503020204020204" pitchFamily="34" charset="-122"/>
              </a:rPr>
              <a:t>，不发生的概率为</a:t>
            </a:r>
            <a:r>
              <a:rPr lang="en-US" altLang="zh-CN" sz="2400" b="1" dirty="0">
                <a:latin typeface="+mn-lt"/>
                <a:ea typeface="+mn-ea"/>
                <a:sym typeface="Microsoft Yahei" panose="020B0503020204020204" pitchFamily="34" charset="-122"/>
              </a:rPr>
              <a:t>70%</a:t>
            </a:r>
            <a:r>
              <a:rPr lang="zh-CN" altLang="en-US" sz="2400" b="1" dirty="0">
                <a:latin typeface="+mn-lt"/>
                <a:ea typeface="+mn-ea"/>
                <a:sym typeface="Microsoft Yahei" panose="020B0503020204020204" pitchFamily="34" charset="-122"/>
              </a:rPr>
              <a:t>。若分支预测时，总是预测分支不发生， 而预测错误会造成</a:t>
            </a:r>
            <a:r>
              <a:rPr lang="en-US" altLang="zh-CN" sz="2400" b="1" dirty="0">
                <a:latin typeface="+mn-lt"/>
                <a:ea typeface="+mn-ea"/>
                <a:sym typeface="Microsoft Yahei" panose="020B0503020204020204" pitchFamily="34" charset="-122"/>
              </a:rPr>
              <a:t>2</a:t>
            </a:r>
            <a:r>
              <a:rPr lang="zh-CN" altLang="en-US" sz="2400" b="1" dirty="0">
                <a:latin typeface="+mn-lt"/>
                <a:ea typeface="+mn-ea"/>
                <a:sym typeface="Microsoft Yahei" panose="020B0503020204020204" pitchFamily="34" charset="-122"/>
              </a:rPr>
              <a:t>个周期的时间浪费，这会导致</a:t>
            </a:r>
            <a:r>
              <a:rPr lang="en-US" altLang="zh-CN" sz="2400" b="1" dirty="0">
                <a:latin typeface="+mn-lt"/>
                <a:ea typeface="+mn-ea"/>
                <a:sym typeface="Microsoft Yahei" panose="020B0503020204020204" pitchFamily="34" charset="-122"/>
              </a:rPr>
              <a:t>CPI</a:t>
            </a:r>
            <a:r>
              <a:rPr lang="zh-CN" altLang="en-US" sz="2400" b="1" dirty="0">
                <a:latin typeface="+mn-lt"/>
                <a:ea typeface="+mn-ea"/>
                <a:sym typeface="Microsoft Yahei" panose="020B0503020204020204" pitchFamily="34" charset="-122"/>
              </a:rPr>
              <a:t>增加多少：</a:t>
            </a:r>
          </a:p>
        </p:txBody>
      </p:sp>
      <p:sp>
        <p:nvSpPr>
          <p:cNvPr id="7" name="文本框 6"/>
          <p:cNvSpPr txBox="1"/>
          <p:nvPr>
            <p:custDataLst>
              <p:tags r:id="rId3"/>
            </p:custDataLst>
          </p:nvPr>
        </p:nvSpPr>
        <p:spPr>
          <a:xfrm>
            <a:off x="1828800" y="2786063"/>
            <a:ext cx="6400800" cy="642938"/>
          </a:xfrm>
          <a:prstGeom prst="rect">
            <a:avLst/>
          </a:prstGeom>
          <a:noFill/>
        </p:spPr>
        <p:txBody>
          <a:bodyPr vert="horz" rtlCol="0" anchor="ctr" anchorCtr="0">
            <a:noAutofit/>
          </a:bodyPr>
          <a:lstStyle/>
          <a:p>
            <a:r>
              <a:rPr lang="en-US" altLang="zh-CN" sz="2600" dirty="0">
                <a:solidFill>
                  <a:srgbClr val="00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  <a:sym typeface="Microsoft Yahei" panose="020B0503020204020204" pitchFamily="34" charset="-122"/>
              </a:rPr>
              <a:t>0.27</a:t>
            </a:r>
            <a:endParaRPr lang="zh-CN" altLang="en-US" sz="2600" dirty="0">
              <a:solidFill>
                <a:srgbClr val="000000"/>
              </a:solidFill>
              <a:latin typeface="Microsoft Yahei" panose="020B0503020204020204" pitchFamily="34" charset="-122"/>
              <a:ea typeface="Microsoft Yahei" panose="020B0503020204020204" pitchFamily="34" charset="-122"/>
              <a:sym typeface="Microsoft Yahei" panose="020B0503020204020204" pitchFamily="34" charset="-122"/>
            </a:endParaRPr>
          </a:p>
        </p:txBody>
      </p:sp>
      <p:sp>
        <p:nvSpPr>
          <p:cNvPr id="8" name="文本框 7"/>
          <p:cNvSpPr txBox="1"/>
          <p:nvPr>
            <p:custDataLst>
              <p:tags r:id="rId4"/>
            </p:custDataLst>
          </p:nvPr>
        </p:nvSpPr>
        <p:spPr>
          <a:xfrm>
            <a:off x="1828800" y="3643313"/>
            <a:ext cx="6400800" cy="642938"/>
          </a:xfrm>
          <a:prstGeom prst="rect">
            <a:avLst/>
          </a:prstGeom>
          <a:noFill/>
        </p:spPr>
        <p:txBody>
          <a:bodyPr vert="horz" rtlCol="0" anchor="ctr" anchorCtr="0">
            <a:noAutofit/>
          </a:bodyPr>
          <a:lstStyle/>
          <a:p>
            <a:r>
              <a:rPr lang="en-US" altLang="zh-CN" sz="2600" dirty="0">
                <a:solidFill>
                  <a:srgbClr val="00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  <a:sym typeface="Microsoft Yahei" panose="020B0503020204020204" pitchFamily="34" charset="-122"/>
              </a:rPr>
              <a:t>0.18</a:t>
            </a:r>
            <a:endParaRPr lang="zh-CN" altLang="en-US" sz="2600" dirty="0">
              <a:solidFill>
                <a:srgbClr val="000000"/>
              </a:solidFill>
              <a:latin typeface="Microsoft Yahei" panose="020B0503020204020204" pitchFamily="34" charset="-122"/>
              <a:ea typeface="Microsoft Yahei" panose="020B0503020204020204" pitchFamily="34" charset="-122"/>
              <a:sym typeface="Microsoft Yahei" panose="020B0503020204020204" pitchFamily="34" charset="-122"/>
            </a:endParaRPr>
          </a:p>
        </p:txBody>
      </p:sp>
      <p:sp>
        <p:nvSpPr>
          <p:cNvPr id="9" name="文本框 8"/>
          <p:cNvSpPr txBox="1"/>
          <p:nvPr>
            <p:custDataLst>
              <p:tags r:id="rId5"/>
            </p:custDataLst>
          </p:nvPr>
        </p:nvSpPr>
        <p:spPr>
          <a:xfrm>
            <a:off x="1828800" y="4500563"/>
            <a:ext cx="6400800" cy="642938"/>
          </a:xfrm>
          <a:prstGeom prst="rect">
            <a:avLst/>
          </a:prstGeom>
          <a:noFill/>
        </p:spPr>
        <p:txBody>
          <a:bodyPr vert="horz" rtlCol="0" anchor="ctr" anchorCtr="0">
            <a:noAutofit/>
          </a:bodyPr>
          <a:lstStyle/>
          <a:p>
            <a:r>
              <a:rPr lang="en-US" altLang="zh-CN" sz="2600" dirty="0">
                <a:solidFill>
                  <a:srgbClr val="00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  <a:sym typeface="Microsoft Yahei" panose="020B0503020204020204" pitchFamily="34" charset="-122"/>
              </a:rPr>
              <a:t>0.12</a:t>
            </a:r>
            <a:endParaRPr lang="zh-CN" altLang="en-US" sz="2600" dirty="0">
              <a:solidFill>
                <a:srgbClr val="000000"/>
              </a:solidFill>
              <a:latin typeface="Microsoft Yahei" panose="020B0503020204020204" pitchFamily="34" charset="-122"/>
              <a:ea typeface="Microsoft Yahei" panose="020B0503020204020204" pitchFamily="34" charset="-122"/>
              <a:sym typeface="Microsoft Yahei" panose="020B0503020204020204" pitchFamily="34" charset="-122"/>
            </a:endParaRPr>
          </a:p>
        </p:txBody>
      </p:sp>
      <p:sp>
        <p:nvSpPr>
          <p:cNvPr id="10" name="文本框 9"/>
          <p:cNvSpPr txBox="1"/>
          <p:nvPr>
            <p:custDataLst>
              <p:tags r:id="rId6"/>
            </p:custDataLst>
          </p:nvPr>
        </p:nvSpPr>
        <p:spPr>
          <a:xfrm>
            <a:off x="1828800" y="5357813"/>
            <a:ext cx="6400800" cy="642938"/>
          </a:xfrm>
          <a:prstGeom prst="rect">
            <a:avLst/>
          </a:prstGeom>
          <a:noFill/>
        </p:spPr>
        <p:txBody>
          <a:bodyPr vert="horz" rtlCol="0" anchor="ctr" anchorCtr="0">
            <a:noAutofit/>
          </a:bodyPr>
          <a:lstStyle/>
          <a:p>
            <a:r>
              <a:rPr lang="en-US" altLang="zh-CN" sz="2600" dirty="0">
                <a:solidFill>
                  <a:srgbClr val="00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  <a:sym typeface="Microsoft Yahei" panose="020B0503020204020204" pitchFamily="34" charset="-122"/>
              </a:rPr>
              <a:t>0.15</a:t>
            </a:r>
            <a:endParaRPr lang="zh-CN" altLang="en-US" sz="2600" dirty="0">
              <a:solidFill>
                <a:srgbClr val="000000"/>
              </a:solidFill>
              <a:latin typeface="Microsoft Yahei" panose="020B0503020204020204" pitchFamily="34" charset="-122"/>
              <a:ea typeface="Microsoft Yahei" panose="020B0503020204020204" pitchFamily="34" charset="-122"/>
              <a:sym typeface="Microsoft Yahei" panose="020B0503020204020204" pitchFamily="34" charset="-122"/>
            </a:endParaRPr>
          </a:p>
        </p:txBody>
      </p:sp>
      <p:sp>
        <p:nvSpPr>
          <p:cNvPr id="11" name="椭圆 10"/>
          <p:cNvSpPr>
            <a:spLocks noChangeAspect="1"/>
          </p:cNvSpPr>
          <p:nvPr>
            <p:custDataLst>
              <p:tags r:id="rId7"/>
            </p:custDataLst>
          </p:nvPr>
        </p:nvSpPr>
        <p:spPr>
          <a:xfrm>
            <a:off x="1114425" y="2850356"/>
            <a:ext cx="514350" cy="514350"/>
          </a:xfrm>
          <a:prstGeom prst="ellipse">
            <a:avLst/>
          </a:prstGeom>
          <a:solidFill>
            <a:srgbClr val="808080"/>
          </a:solidFill>
          <a:ln w="12700" cmpd="sng">
            <a:solidFill>
              <a:srgbClr val="000000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 anchorCtr="1"/>
          <a:lstStyle/>
          <a:p>
            <a:pPr algn="ctr"/>
            <a:r>
              <a:rPr lang="en-US" altLang="zh-CN" sz="1600">
                <a:solidFill>
                  <a:srgbClr val="FFFFFF"/>
                </a:solidFill>
                <a:latin typeface="Microsoft Yahei" panose="020B0503020204020204" pitchFamily="34" charset="-122"/>
                <a:ea typeface="Microsoft Yahei" panose="020B0503020204020204" pitchFamily="34" charset="-122"/>
                <a:sym typeface="Microsoft Yahei" panose="020B0503020204020204" pitchFamily="34" charset="-122"/>
              </a:rPr>
              <a:t>A</a:t>
            </a:r>
            <a:endParaRPr lang="zh-CN" altLang="en-US" sz="1600">
              <a:solidFill>
                <a:srgbClr val="FFFFFF"/>
              </a:solidFill>
              <a:latin typeface="Microsoft Yahei" panose="020B0503020204020204" pitchFamily="34" charset="-122"/>
              <a:ea typeface="Microsoft Yahei" panose="020B0503020204020204" pitchFamily="34" charset="-122"/>
              <a:sym typeface="Microsoft Yahei" panose="020B0503020204020204" pitchFamily="34" charset="-122"/>
            </a:endParaRPr>
          </a:p>
        </p:txBody>
      </p:sp>
      <p:sp>
        <p:nvSpPr>
          <p:cNvPr id="12" name="椭圆 11"/>
          <p:cNvSpPr>
            <a:spLocks noChangeAspect="1"/>
          </p:cNvSpPr>
          <p:nvPr>
            <p:custDataLst>
              <p:tags r:id="rId8"/>
            </p:custDataLst>
          </p:nvPr>
        </p:nvSpPr>
        <p:spPr>
          <a:xfrm>
            <a:off x="1114425" y="3707606"/>
            <a:ext cx="514350" cy="514350"/>
          </a:xfrm>
          <a:prstGeom prst="ellipse">
            <a:avLst/>
          </a:prstGeom>
          <a:solidFill>
            <a:srgbClr val="808080"/>
          </a:solidFill>
          <a:ln w="12700" cmpd="sng">
            <a:solidFill>
              <a:srgbClr val="000000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 anchorCtr="1"/>
          <a:lstStyle/>
          <a:p>
            <a:pPr algn="ctr"/>
            <a:r>
              <a:rPr lang="en-US" altLang="zh-CN" sz="1600">
                <a:solidFill>
                  <a:srgbClr val="FFFFFF"/>
                </a:solidFill>
                <a:latin typeface="Microsoft Yahei" panose="020B0503020204020204" pitchFamily="34" charset="-122"/>
                <a:ea typeface="Microsoft Yahei" panose="020B0503020204020204" pitchFamily="34" charset="-122"/>
                <a:sym typeface="Microsoft Yahei" panose="020B0503020204020204" pitchFamily="34" charset="-122"/>
              </a:rPr>
              <a:t>B</a:t>
            </a:r>
            <a:endParaRPr lang="zh-CN" altLang="en-US" sz="1600">
              <a:solidFill>
                <a:srgbClr val="FFFFFF"/>
              </a:solidFill>
              <a:latin typeface="Microsoft Yahei" panose="020B0503020204020204" pitchFamily="34" charset="-122"/>
              <a:ea typeface="Microsoft Yahei" panose="020B0503020204020204" pitchFamily="34" charset="-122"/>
              <a:sym typeface="Microsoft Yahei" panose="020B0503020204020204" pitchFamily="34" charset="-122"/>
            </a:endParaRPr>
          </a:p>
        </p:txBody>
      </p:sp>
      <p:sp>
        <p:nvSpPr>
          <p:cNvPr id="13" name="椭圆 12"/>
          <p:cNvSpPr>
            <a:spLocks noChangeAspect="1"/>
          </p:cNvSpPr>
          <p:nvPr>
            <p:custDataLst>
              <p:tags r:id="rId9"/>
            </p:custDataLst>
          </p:nvPr>
        </p:nvSpPr>
        <p:spPr>
          <a:xfrm>
            <a:off x="1114425" y="4564856"/>
            <a:ext cx="514350" cy="514350"/>
          </a:xfrm>
          <a:prstGeom prst="ellipse">
            <a:avLst/>
          </a:prstGeom>
          <a:solidFill>
            <a:srgbClr val="00FF00"/>
          </a:solidFill>
          <a:ln w="25400" cmpd="sng">
            <a:solidFill>
              <a:srgbClr val="000000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 anchorCtr="1"/>
          <a:lstStyle/>
          <a:p>
            <a:pPr algn="ctr"/>
            <a:r>
              <a:rPr lang="en-US" altLang="zh-CN" sz="1600">
                <a:solidFill>
                  <a:srgbClr val="FFFFFF"/>
                </a:solidFill>
                <a:latin typeface="Microsoft Yahei" panose="020B0503020204020204" pitchFamily="34" charset="-122"/>
                <a:ea typeface="Microsoft Yahei" panose="020B0503020204020204" pitchFamily="34" charset="-122"/>
                <a:sym typeface="Microsoft Yahei" panose="020B0503020204020204" pitchFamily="34" charset="-122"/>
              </a:rPr>
              <a:t>C</a:t>
            </a:r>
            <a:endParaRPr lang="zh-CN" altLang="en-US" sz="1600">
              <a:solidFill>
                <a:srgbClr val="FFFFFF"/>
              </a:solidFill>
              <a:latin typeface="Microsoft Yahei" panose="020B0503020204020204" pitchFamily="34" charset="-122"/>
              <a:ea typeface="Microsoft Yahei" panose="020B0503020204020204" pitchFamily="34" charset="-122"/>
              <a:sym typeface="Microsoft Yahei" panose="020B0503020204020204" pitchFamily="34" charset="-122"/>
            </a:endParaRPr>
          </a:p>
        </p:txBody>
      </p:sp>
      <p:sp>
        <p:nvSpPr>
          <p:cNvPr id="14" name="椭圆 13"/>
          <p:cNvSpPr>
            <a:spLocks noChangeAspect="1"/>
          </p:cNvSpPr>
          <p:nvPr>
            <p:custDataLst>
              <p:tags r:id="rId10"/>
            </p:custDataLst>
          </p:nvPr>
        </p:nvSpPr>
        <p:spPr>
          <a:xfrm>
            <a:off x="1114425" y="5422106"/>
            <a:ext cx="514350" cy="514350"/>
          </a:xfrm>
          <a:prstGeom prst="ellipse">
            <a:avLst/>
          </a:prstGeom>
          <a:solidFill>
            <a:srgbClr val="808080"/>
          </a:solidFill>
          <a:ln w="12700" cmpd="sng">
            <a:solidFill>
              <a:srgbClr val="000000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 anchorCtr="1"/>
          <a:lstStyle/>
          <a:p>
            <a:pPr algn="ctr"/>
            <a:r>
              <a:rPr lang="en-US" altLang="zh-CN" sz="1600">
                <a:solidFill>
                  <a:srgbClr val="FFFFFF"/>
                </a:solidFill>
                <a:latin typeface="Microsoft Yahei" panose="020B0503020204020204" pitchFamily="34" charset="-122"/>
                <a:ea typeface="Microsoft Yahei" panose="020B0503020204020204" pitchFamily="34" charset="-122"/>
                <a:sym typeface="Microsoft Yahei" panose="020B0503020204020204" pitchFamily="34" charset="-122"/>
              </a:rPr>
              <a:t>D</a:t>
            </a:r>
            <a:endParaRPr lang="zh-CN" altLang="en-US" sz="1600">
              <a:solidFill>
                <a:srgbClr val="FFFFFF"/>
              </a:solidFill>
              <a:latin typeface="Microsoft Yahei" panose="020B0503020204020204" pitchFamily="34" charset="-122"/>
              <a:ea typeface="Microsoft Yahei" panose="020B0503020204020204" pitchFamily="34" charset="-122"/>
              <a:sym typeface="Microsoft Yahei" panose="020B0503020204020204" pitchFamily="34" charset="-122"/>
            </a:endParaRPr>
          </a:p>
        </p:txBody>
      </p:sp>
      <p:sp>
        <p:nvSpPr>
          <p:cNvPr id="15" name="圆角矩形 14"/>
          <p:cNvSpPr/>
          <p:nvPr>
            <p:custDataLst>
              <p:tags r:id="rId11"/>
            </p:custDataLst>
          </p:nvPr>
        </p:nvSpPr>
        <p:spPr>
          <a:xfrm>
            <a:off x="6172200" y="6215063"/>
            <a:ext cx="1543050" cy="411480"/>
          </a:xfrm>
          <a:prstGeom prst="roundRect">
            <a:avLst/>
          </a:prstGeom>
          <a:solidFill>
            <a:srgbClr val="808080"/>
          </a:solidFill>
          <a:ln w="38100" cmpd="sng">
            <a:solidFill>
              <a:srgbClr val="000000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 anchorCtr="1"/>
          <a:lstStyle/>
          <a:p>
            <a:pPr algn="ctr"/>
            <a:r>
              <a:rPr lang="zh-CN" altLang="en-US" sz="1600">
                <a:solidFill>
                  <a:srgbClr val="FFFFFF"/>
                </a:solidFill>
                <a:latin typeface="Microsoft Yahei" panose="020B0503020204020204" pitchFamily="34" charset="-122"/>
                <a:ea typeface="Microsoft Yahei" panose="020B0503020204020204" pitchFamily="34" charset="-122"/>
                <a:sym typeface="Microsoft Yahei" panose="020B0503020204020204" pitchFamily="34" charset="-122"/>
              </a:rPr>
              <a:t>提交</a:t>
            </a:r>
          </a:p>
        </p:txBody>
      </p:sp>
      <p:graphicFrame>
        <p:nvGraphicFramePr>
          <p:cNvPr id="22" name="表格 6">
            <a:extLst>
              <a:ext uri="{FF2B5EF4-FFF2-40B4-BE49-F238E27FC236}">
                <a16:creationId xmlns:a16="http://schemas.microsoft.com/office/drawing/2014/main" id="{CFBB2B97-E00F-B344-A083-D9CF2B9D24B0}"/>
              </a:ext>
            </a:extLst>
          </p:cNvPr>
          <p:cNvGraphicFramePr>
            <a:graphicFrameLocks noGrp="1"/>
          </p:cNvGraphicFramePr>
          <p:nvPr/>
        </p:nvGraphicFramePr>
        <p:xfrm>
          <a:off x="2925796" y="3868739"/>
          <a:ext cx="5921475" cy="774700"/>
        </p:xfrm>
        <a:graphic>
          <a:graphicData uri="http://schemas.openxmlformats.org/drawingml/2006/table">
            <a:tbl>
              <a:tblPr bandRow="1">
                <a:tableStyleId>{ED083AE6-46FA-4A59-8FB0-9F97EB10719F}</a:tableStyleId>
              </a:tblPr>
              <a:tblGrid>
                <a:gridCol w="1184295">
                  <a:extLst>
                    <a:ext uri="{9D8B030D-6E8A-4147-A177-3AD203B41FA5}">
                      <a16:colId xmlns:a16="http://schemas.microsoft.com/office/drawing/2014/main" val="3933815846"/>
                    </a:ext>
                  </a:extLst>
                </a:gridCol>
                <a:gridCol w="1184295">
                  <a:extLst>
                    <a:ext uri="{9D8B030D-6E8A-4147-A177-3AD203B41FA5}">
                      <a16:colId xmlns:a16="http://schemas.microsoft.com/office/drawing/2014/main" val="2688935752"/>
                    </a:ext>
                  </a:extLst>
                </a:gridCol>
                <a:gridCol w="1184295">
                  <a:extLst>
                    <a:ext uri="{9D8B030D-6E8A-4147-A177-3AD203B41FA5}">
                      <a16:colId xmlns:a16="http://schemas.microsoft.com/office/drawing/2014/main" val="4230027787"/>
                    </a:ext>
                  </a:extLst>
                </a:gridCol>
                <a:gridCol w="1184295">
                  <a:extLst>
                    <a:ext uri="{9D8B030D-6E8A-4147-A177-3AD203B41FA5}">
                      <a16:colId xmlns:a16="http://schemas.microsoft.com/office/drawing/2014/main" val="611730462"/>
                    </a:ext>
                  </a:extLst>
                </a:gridCol>
                <a:gridCol w="1184295">
                  <a:extLst>
                    <a:ext uri="{9D8B030D-6E8A-4147-A177-3AD203B41FA5}">
                      <a16:colId xmlns:a16="http://schemas.microsoft.com/office/drawing/2014/main" val="2193694290"/>
                    </a:ext>
                  </a:extLst>
                </a:gridCol>
              </a:tblGrid>
              <a:tr h="387350"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800" b="1" dirty="0"/>
                        <a:t>R-type</a:t>
                      </a:r>
                      <a:endParaRPr lang="zh-CN" altLang="en-US" sz="1800" b="1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800" b="1" dirty="0"/>
                        <a:t>Jump</a:t>
                      </a:r>
                      <a:endParaRPr lang="zh-CN" altLang="en-US" sz="1800" b="1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800" b="1" dirty="0" err="1"/>
                        <a:t>lw</a:t>
                      </a:r>
                      <a:endParaRPr lang="zh-CN" altLang="en-US" sz="1800" b="1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800" b="1" dirty="0" err="1"/>
                        <a:t>sw</a:t>
                      </a:r>
                      <a:endParaRPr lang="zh-CN" altLang="en-US" sz="1800" b="1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800" b="1" dirty="0" err="1"/>
                        <a:t>beq</a:t>
                      </a:r>
                      <a:endParaRPr lang="zh-CN" altLang="en-US" sz="1800" b="1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944500837"/>
                  </a:ext>
                </a:extLst>
              </a:tr>
              <a:tr h="387350"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800" dirty="0"/>
                        <a:t>50%</a:t>
                      </a:r>
                      <a:endParaRPr lang="zh-CN" altLang="en-US" sz="18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800" dirty="0"/>
                        <a:t>5%</a:t>
                      </a:r>
                      <a:endParaRPr lang="zh-CN" altLang="en-US" sz="18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800" dirty="0"/>
                        <a:t>20%</a:t>
                      </a:r>
                      <a:endParaRPr lang="zh-CN" altLang="en-US" sz="18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800" dirty="0"/>
                        <a:t>5%</a:t>
                      </a:r>
                      <a:endParaRPr lang="zh-CN" altLang="en-US" sz="18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800" dirty="0"/>
                        <a:t>20%</a:t>
                      </a:r>
                      <a:endParaRPr lang="zh-CN" altLang="en-US" sz="1800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486988586"/>
                  </a:ext>
                </a:extLst>
              </a:tr>
            </a:tbl>
          </a:graphicData>
        </a:graphic>
      </p:graphicFrame>
      <p:grpSp>
        <p:nvGrpSpPr>
          <p:cNvPr id="20" name="组合 19"/>
          <p:cNvGrpSpPr/>
          <p:nvPr>
            <p:custDataLst>
              <p:tags r:id="rId12"/>
            </p:custDataLst>
          </p:nvPr>
        </p:nvGrpSpPr>
        <p:grpSpPr>
          <a:xfrm>
            <a:off x="0" y="0"/>
            <a:ext cx="9144000" cy="635000"/>
            <a:chOff x="0" y="0"/>
            <a:chExt cx="9144000" cy="635000"/>
          </a:xfrm>
        </p:grpSpPr>
        <p:sp>
          <p:nvSpPr>
            <p:cNvPr id="16" name="TitleBackground"/>
            <p:cNvSpPr/>
            <p:nvPr>
              <p:custDataLst>
                <p:tags r:id="rId14"/>
              </p:custDataLst>
            </p:nvPr>
          </p:nvSpPr>
          <p:spPr>
            <a:xfrm>
              <a:off x="0" y="0"/>
              <a:ext cx="9144000" cy="635000"/>
            </a:xfrm>
            <a:prstGeom prst="rect">
              <a:avLst/>
            </a:prstGeom>
            <a:solidFill>
              <a:srgbClr val="F6F7F8"/>
            </a:solidFill>
            <a:ln w="25400" cap="flat" cmpd="sng" algn="ctr">
              <a:noFill/>
              <a:prstDash val="solid"/>
            </a:ln>
            <a:effectLst/>
            <a:extLst>
              <a:ext uri="{91240B29-F687-4F45-9708-019B960494DF}">
                <a14:hiddenLine xmlns:a14="http://schemas.microsoft.com/office/drawing/2010/main" w="25400" cap="flat" cmpd="sng" algn="ctr">
                  <a:solidFill>
                    <a:schemeClr val="accent1">
                      <a:shade val="50000"/>
                    </a:schemeClr>
                  </a:solidFill>
                  <a:prstDash val="solid"/>
                </a14:hiddenLine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7" name="ColorBlock"/>
            <p:cNvSpPr/>
            <p:nvPr>
              <p:custDataLst>
                <p:tags r:id="rId15"/>
              </p:custDataLst>
            </p:nvPr>
          </p:nvSpPr>
          <p:spPr>
            <a:xfrm>
              <a:off x="0" y="0"/>
              <a:ext cx="190500" cy="635000"/>
            </a:xfrm>
            <a:prstGeom prst="rect">
              <a:avLst/>
            </a:prstGeom>
            <a:solidFill>
              <a:srgbClr val="639EF4"/>
            </a:solidFill>
            <a:ln w="25400" cap="flat" cmpd="sng" algn="ctr">
              <a:noFill/>
              <a:prstDash val="solid"/>
            </a:ln>
            <a:effectLst/>
            <a:extLst>
              <a:ext uri="{91240B29-F687-4F45-9708-019B960494DF}">
                <a14:hiddenLine xmlns:a14="http://schemas.microsoft.com/office/drawing/2010/main" w="25400" cap="flat" cmpd="sng" algn="ctr">
                  <a:solidFill>
                    <a:schemeClr val="accent1">
                      <a:shade val="50000"/>
                    </a:schemeClr>
                  </a:solidFill>
                  <a:prstDash val="solid"/>
                </a14:hiddenLine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8" name="TypeText"/>
            <p:cNvSpPr txBox="1"/>
            <p:nvPr>
              <p:custDataLst>
                <p:tags r:id="rId16"/>
              </p:custDataLst>
            </p:nvPr>
          </p:nvSpPr>
          <p:spPr>
            <a:xfrm>
              <a:off x="254000" y="0"/>
              <a:ext cx="1905000" cy="635000"/>
            </a:xfrm>
            <a:prstGeom prst="rect">
              <a:avLst/>
            </a:prstGeom>
            <a:noFill/>
          </p:spPr>
          <p:txBody>
            <a:bodyPr vert="horz" wrap="none" rtlCol="0" anchor="ctr" anchorCtr="0">
              <a:noAutofit/>
            </a:bodyPr>
            <a:lstStyle/>
            <a:p>
              <a:r>
                <a:rPr lang="zh-CN" altLang="en-US" sz="2600" dirty="0">
                  <a:solidFill>
                    <a:srgbClr val="00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  <a:sym typeface="Microsoft Yahei" panose="020B0503020204020204" pitchFamily="34" charset="-122"/>
                </a:rPr>
                <a:t>单选题</a:t>
              </a:r>
            </a:p>
          </p:txBody>
        </p:sp>
        <p:sp>
          <p:nvSpPr>
            <p:cNvPr id="19" name="TipText"/>
            <p:cNvSpPr txBox="1"/>
            <p:nvPr>
              <p:custDataLst>
                <p:tags r:id="rId17"/>
              </p:custDataLst>
            </p:nvPr>
          </p:nvSpPr>
          <p:spPr>
            <a:xfrm>
              <a:off x="1525905" y="109220"/>
              <a:ext cx="2286000" cy="508000"/>
            </a:xfrm>
            <a:prstGeom prst="rect">
              <a:avLst/>
            </a:prstGeom>
            <a:noFill/>
          </p:spPr>
          <p:txBody>
            <a:bodyPr vert="horz" wrap="none" rtlCol="0" anchor="ctr" anchorCtr="0">
              <a:noAutofit/>
            </a:bodyPr>
            <a:lstStyle/>
            <a:p>
              <a:r>
                <a:rPr lang="en-US" altLang="zh-CN" sz="2000">
                  <a:solidFill>
                    <a:srgbClr val="80808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  <a:sym typeface="Microsoft Yahei" panose="020B0503020204020204" pitchFamily="34" charset="-122"/>
                </a:rPr>
                <a:t>10</a:t>
              </a:r>
              <a:r>
                <a:rPr lang="zh-CN" altLang="en-US" sz="2000">
                  <a:solidFill>
                    <a:srgbClr val="80808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  <a:sym typeface="Microsoft Yahei" panose="020B0503020204020204" pitchFamily="34" charset="-122"/>
                </a:rPr>
                <a:t>分</a:t>
              </a:r>
            </a:p>
          </p:txBody>
        </p:sp>
      </p:grpSp>
      <p:pic>
        <p:nvPicPr>
          <p:cNvPr id="5" name="图片 4"/>
          <p:cNvPicPr>
            <a:picLocks/>
          </p:cNvPicPr>
          <p:nvPr>
            <p:custDataLst>
              <p:tags r:id="rId13"/>
            </p:custDataLst>
          </p:nvPr>
        </p:nvPicPr>
        <p:blipFill>
          <a:blip r:embed="rId1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594600" y="63500"/>
            <a:ext cx="1422400" cy="508000"/>
          </a:xfrm>
          <a:prstGeom prst="rect">
            <a:avLst/>
          </a:prstGeom>
        </p:spPr>
      </p:pic>
    </p:spTree>
    <p:custDataLst>
      <p:tags r:id="rId1"/>
    </p:custDataLst>
    <p:extLst>
      <p:ext uri="{BB962C8B-B14F-4D97-AF65-F5344CB8AC3E}">
        <p14:creationId xmlns:p14="http://schemas.microsoft.com/office/powerpoint/2010/main" val="3025107711"/>
      </p:ext>
    </p:extLst>
  </p:cSld>
  <p:clrMapOvr>
    <a:masterClrMapping/>
  </p:clrMapOvr>
</p:sld>
</file>

<file path=ppt/slides/slide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>
            <a:extLst>
              <a:ext uri="{FF2B5EF4-FFF2-40B4-BE49-F238E27FC236}">
                <a16:creationId xmlns:a16="http://schemas.microsoft.com/office/drawing/2014/main" id="{8C768481-7002-4BE8-AC29-BF0C9B3F4B2D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dirty="0"/>
              <a:t>答案解析</a:t>
            </a:r>
          </a:p>
        </p:txBody>
      </p:sp>
      <p:sp>
        <p:nvSpPr>
          <p:cNvPr id="3" name="内容占位符 2">
            <a:extLst>
              <a:ext uri="{FF2B5EF4-FFF2-40B4-BE49-F238E27FC236}">
                <a16:creationId xmlns:a16="http://schemas.microsoft.com/office/drawing/2014/main" id="{3456B826-1D62-4947-AF6B-7779863EA407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457200" y="1166019"/>
            <a:ext cx="8229600" cy="5079205"/>
          </a:xfrm>
        </p:spPr>
        <p:txBody>
          <a:bodyPr/>
          <a:lstStyle/>
          <a:p>
            <a:r>
              <a:rPr lang="zh-CN" altLang="en-US" sz="2400" dirty="0"/>
              <a:t>假设某个程序中的指令类型分布如下，而且分支发生的概率为</a:t>
            </a:r>
            <a:r>
              <a:rPr lang="en-US" altLang="zh-CN" sz="2400" dirty="0"/>
              <a:t>30%</a:t>
            </a:r>
            <a:r>
              <a:rPr lang="zh-CN" altLang="en-US" sz="2400" dirty="0"/>
              <a:t>，不发生的概率为</a:t>
            </a:r>
            <a:r>
              <a:rPr lang="en-US" altLang="zh-CN" sz="2400" dirty="0"/>
              <a:t>70%</a:t>
            </a:r>
            <a:r>
              <a:rPr lang="zh-CN" altLang="en-US" sz="2400" dirty="0"/>
              <a:t>。若分支预测时，总是预测分支不发生，相比完美的分支预测，这会导致</a:t>
            </a:r>
            <a:r>
              <a:rPr lang="en-US" altLang="zh-CN" sz="2400" dirty="0"/>
              <a:t>CPI</a:t>
            </a:r>
            <a:r>
              <a:rPr lang="zh-CN" altLang="en-US" sz="2400" dirty="0"/>
              <a:t>增加多少：</a:t>
            </a:r>
            <a:endParaRPr lang="en-US" altLang="zh-CN" sz="2400" dirty="0"/>
          </a:p>
          <a:p>
            <a:endParaRPr lang="en-US" altLang="zh-CN" sz="2400" dirty="0"/>
          </a:p>
          <a:p>
            <a:endParaRPr lang="en-US" altLang="zh-CN" sz="2400" dirty="0"/>
          </a:p>
          <a:p>
            <a:pPr marL="514350" indent="-514350">
              <a:buAutoNum type="alphaUcPeriod"/>
            </a:pPr>
            <a:r>
              <a:rPr lang="en-US" altLang="zh-CN" sz="2400" dirty="0"/>
              <a:t>0.27</a:t>
            </a:r>
          </a:p>
          <a:p>
            <a:pPr marL="514350" indent="-514350">
              <a:buAutoNum type="alphaUcPeriod"/>
            </a:pPr>
            <a:r>
              <a:rPr lang="en-US" altLang="zh-CN" sz="2400" dirty="0"/>
              <a:t>0.18</a:t>
            </a:r>
          </a:p>
          <a:p>
            <a:pPr marL="514350" indent="-514350">
              <a:buAutoNum type="alphaUcPeriod"/>
            </a:pPr>
            <a:r>
              <a:rPr lang="en-US" altLang="zh-CN" sz="2400" dirty="0">
                <a:solidFill>
                  <a:srgbClr val="3333FF"/>
                </a:solidFill>
              </a:rPr>
              <a:t>0.12</a:t>
            </a:r>
          </a:p>
          <a:p>
            <a:pPr marL="514350" indent="-514350">
              <a:buAutoNum type="alphaUcPeriod"/>
            </a:pPr>
            <a:r>
              <a:rPr lang="en-US" altLang="zh-CN" sz="2400" dirty="0"/>
              <a:t>0.15</a:t>
            </a:r>
          </a:p>
          <a:p>
            <a:pPr marL="0" indent="0">
              <a:buNone/>
            </a:pPr>
            <a:endParaRPr lang="en-US" altLang="zh-CN" sz="2400" dirty="0"/>
          </a:p>
          <a:p>
            <a:pPr marL="0" indent="0">
              <a:buNone/>
            </a:pPr>
            <a:r>
              <a:rPr lang="zh-CN" altLang="en-US" sz="2400" dirty="0">
                <a:solidFill>
                  <a:srgbClr val="3333FF"/>
                </a:solidFill>
              </a:rPr>
              <a:t>解析：增加的</a:t>
            </a:r>
            <a:r>
              <a:rPr lang="en-US" altLang="zh-CN" sz="2400" dirty="0">
                <a:solidFill>
                  <a:srgbClr val="3333FF"/>
                </a:solidFill>
              </a:rPr>
              <a:t>CPI = 0.3 * 20% * 2 = 0.12</a:t>
            </a:r>
          </a:p>
          <a:p>
            <a:pPr marL="0" indent="0">
              <a:buNone/>
            </a:pPr>
            <a:endParaRPr lang="zh-CN" altLang="en-US" sz="2400" dirty="0"/>
          </a:p>
        </p:txBody>
      </p:sp>
      <p:sp>
        <p:nvSpPr>
          <p:cNvPr id="4" name="灯片编号占位符 3">
            <a:extLst>
              <a:ext uri="{FF2B5EF4-FFF2-40B4-BE49-F238E27FC236}">
                <a16:creationId xmlns:a16="http://schemas.microsoft.com/office/drawing/2014/main" id="{6EFBA1D2-25FA-40FD-9A20-4A6745097C9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1806CE5-282B-4233-8654-09F35EA875E2}" type="slidenum">
              <a:rPr lang="zh-CN" altLang="en-US" smtClean="0"/>
              <a:t>55</a:t>
            </a:fld>
            <a:endParaRPr lang="zh-CN" altLang="en-US"/>
          </a:p>
        </p:txBody>
      </p:sp>
      <p:graphicFrame>
        <p:nvGraphicFramePr>
          <p:cNvPr id="7" name="表格 6">
            <a:extLst>
              <a:ext uri="{FF2B5EF4-FFF2-40B4-BE49-F238E27FC236}">
                <a16:creationId xmlns:a16="http://schemas.microsoft.com/office/drawing/2014/main" id="{B86B52F0-1C5C-6038-8884-DE558804BE22}"/>
              </a:ext>
            </a:extLst>
          </p:cNvPr>
          <p:cNvGraphicFramePr>
            <a:graphicFrameLocks noGrp="1"/>
          </p:cNvGraphicFramePr>
          <p:nvPr/>
        </p:nvGraphicFramePr>
        <p:xfrm>
          <a:off x="2925796" y="3868739"/>
          <a:ext cx="5921475" cy="774700"/>
        </p:xfrm>
        <a:graphic>
          <a:graphicData uri="http://schemas.openxmlformats.org/drawingml/2006/table">
            <a:tbl>
              <a:tblPr bandRow="1">
                <a:tableStyleId>{ED083AE6-46FA-4A59-8FB0-9F97EB10719F}</a:tableStyleId>
              </a:tblPr>
              <a:tblGrid>
                <a:gridCol w="1184295">
                  <a:extLst>
                    <a:ext uri="{9D8B030D-6E8A-4147-A177-3AD203B41FA5}">
                      <a16:colId xmlns:a16="http://schemas.microsoft.com/office/drawing/2014/main" val="3933815846"/>
                    </a:ext>
                  </a:extLst>
                </a:gridCol>
                <a:gridCol w="1184295">
                  <a:extLst>
                    <a:ext uri="{9D8B030D-6E8A-4147-A177-3AD203B41FA5}">
                      <a16:colId xmlns:a16="http://schemas.microsoft.com/office/drawing/2014/main" val="2688935752"/>
                    </a:ext>
                  </a:extLst>
                </a:gridCol>
                <a:gridCol w="1184295">
                  <a:extLst>
                    <a:ext uri="{9D8B030D-6E8A-4147-A177-3AD203B41FA5}">
                      <a16:colId xmlns:a16="http://schemas.microsoft.com/office/drawing/2014/main" val="4230027787"/>
                    </a:ext>
                  </a:extLst>
                </a:gridCol>
                <a:gridCol w="1184295">
                  <a:extLst>
                    <a:ext uri="{9D8B030D-6E8A-4147-A177-3AD203B41FA5}">
                      <a16:colId xmlns:a16="http://schemas.microsoft.com/office/drawing/2014/main" val="611730462"/>
                    </a:ext>
                  </a:extLst>
                </a:gridCol>
                <a:gridCol w="1184295">
                  <a:extLst>
                    <a:ext uri="{9D8B030D-6E8A-4147-A177-3AD203B41FA5}">
                      <a16:colId xmlns:a16="http://schemas.microsoft.com/office/drawing/2014/main" val="2193694290"/>
                    </a:ext>
                  </a:extLst>
                </a:gridCol>
              </a:tblGrid>
              <a:tr h="387350"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800" b="1" dirty="0"/>
                        <a:t>R-type</a:t>
                      </a:r>
                      <a:endParaRPr lang="zh-CN" altLang="en-US" sz="1800" b="1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800" b="1" dirty="0"/>
                        <a:t>Jump</a:t>
                      </a:r>
                      <a:endParaRPr lang="zh-CN" altLang="en-US" sz="1800" b="1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800" b="1" dirty="0" err="1"/>
                        <a:t>lw</a:t>
                      </a:r>
                      <a:endParaRPr lang="zh-CN" altLang="en-US" sz="1800" b="1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800" b="1" dirty="0" err="1"/>
                        <a:t>sw</a:t>
                      </a:r>
                      <a:endParaRPr lang="zh-CN" altLang="en-US" sz="1800" b="1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800" b="1" dirty="0" err="1"/>
                        <a:t>beq</a:t>
                      </a:r>
                      <a:endParaRPr lang="zh-CN" altLang="en-US" sz="1800" b="1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944500837"/>
                  </a:ext>
                </a:extLst>
              </a:tr>
              <a:tr h="387350"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800" dirty="0"/>
                        <a:t>50%</a:t>
                      </a:r>
                      <a:endParaRPr lang="zh-CN" altLang="en-US" sz="18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800" dirty="0"/>
                        <a:t>5%</a:t>
                      </a:r>
                      <a:endParaRPr lang="zh-CN" altLang="en-US" sz="18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800" dirty="0"/>
                        <a:t>20%</a:t>
                      </a:r>
                      <a:endParaRPr lang="zh-CN" altLang="en-US" sz="18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800" dirty="0"/>
                        <a:t>5%</a:t>
                      </a:r>
                      <a:endParaRPr lang="zh-CN" altLang="en-US" sz="18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800" dirty="0"/>
                        <a:t>20%</a:t>
                      </a:r>
                      <a:endParaRPr lang="zh-CN" altLang="en-US" sz="1800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486988586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249817877"/>
      </p:ext>
    </p:extLst>
  </p:cSld>
  <p:clrMapOvr>
    <a:masterClrMapping/>
  </p:clrMapOvr>
</p:sld>
</file>

<file path=ppt/slides/slide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内容占位符 2"/>
          <p:cNvSpPr>
            <a:spLocks noGrp="1"/>
          </p:cNvSpPr>
          <p:nvPr>
            <p:ph idx="1"/>
          </p:nvPr>
        </p:nvSpPr>
        <p:spPr>
          <a:xfrm>
            <a:off x="457200" y="1600200"/>
            <a:ext cx="8229600" cy="4732506"/>
          </a:xfrm>
        </p:spPr>
        <p:txBody>
          <a:bodyPr/>
          <a:lstStyle/>
          <a:p>
            <a:r>
              <a:rPr lang="zh-CN" altLang="en-US" sz="3200" dirty="0">
                <a:solidFill>
                  <a:schemeClr val="bg1">
                    <a:lumMod val="65000"/>
                  </a:schemeClr>
                </a:solidFill>
              </a:rPr>
              <a:t>复习与回顾</a:t>
            </a:r>
            <a:endParaRPr lang="en-US" altLang="zh-CN" sz="3200" dirty="0">
              <a:solidFill>
                <a:schemeClr val="bg1">
                  <a:lumMod val="65000"/>
                </a:schemeClr>
              </a:solidFill>
            </a:endParaRPr>
          </a:p>
          <a:p>
            <a:r>
              <a:rPr lang="zh-CN" altLang="en-US" sz="3200" dirty="0">
                <a:solidFill>
                  <a:schemeClr val="bg1">
                    <a:lumMod val="65000"/>
                  </a:schemeClr>
                </a:solidFill>
                <a:cs typeface="+mn-cs"/>
              </a:rPr>
              <a:t>流水线基本概念</a:t>
            </a:r>
            <a:r>
              <a:rPr lang="en-US" altLang="zh-CN" sz="3200" dirty="0">
                <a:solidFill>
                  <a:schemeClr val="bg1">
                    <a:lumMod val="65000"/>
                  </a:schemeClr>
                </a:solidFill>
                <a:cs typeface="+mn-cs"/>
              </a:rPr>
              <a:t> P4</a:t>
            </a:r>
            <a:endParaRPr lang="en-US" altLang="zh-CN" sz="3200" dirty="0">
              <a:solidFill>
                <a:schemeClr val="bg1">
                  <a:lumMod val="65000"/>
                </a:schemeClr>
              </a:solidFill>
            </a:endParaRPr>
          </a:p>
          <a:p>
            <a:r>
              <a:rPr lang="zh-CN" altLang="en-US" sz="3200" dirty="0">
                <a:solidFill>
                  <a:schemeClr val="bg1">
                    <a:lumMod val="65000"/>
                  </a:schemeClr>
                </a:solidFill>
                <a:cs typeface="+mn-cs"/>
              </a:rPr>
              <a:t>流水线数据通路</a:t>
            </a:r>
            <a:r>
              <a:rPr lang="en-US" altLang="zh-CN" sz="3200" dirty="0">
                <a:solidFill>
                  <a:schemeClr val="bg1">
                    <a:lumMod val="65000"/>
                  </a:schemeClr>
                </a:solidFill>
                <a:cs typeface="+mn-cs"/>
              </a:rPr>
              <a:t> P6</a:t>
            </a:r>
            <a:endParaRPr lang="en-US" altLang="zh-CN" sz="3200" dirty="0">
              <a:solidFill>
                <a:schemeClr val="bg1">
                  <a:lumMod val="65000"/>
                </a:schemeClr>
              </a:solidFill>
            </a:endParaRPr>
          </a:p>
          <a:p>
            <a:r>
              <a:rPr lang="zh-CN" altLang="en-US" sz="3200" dirty="0">
                <a:solidFill>
                  <a:schemeClr val="bg1">
                    <a:lumMod val="65000"/>
                  </a:schemeClr>
                </a:solidFill>
                <a:cs typeface="+mn-cs"/>
              </a:rPr>
              <a:t>流水线的冒险</a:t>
            </a:r>
            <a:r>
              <a:rPr lang="en-US" altLang="zh-CN" sz="3200" dirty="0">
                <a:solidFill>
                  <a:schemeClr val="bg1">
                    <a:lumMod val="65000"/>
                  </a:schemeClr>
                </a:solidFill>
                <a:cs typeface="+mn-cs"/>
              </a:rPr>
              <a:t> P10</a:t>
            </a:r>
          </a:p>
          <a:p>
            <a:r>
              <a:rPr lang="zh-CN" altLang="en-US" sz="3200" dirty="0"/>
              <a:t>数据通路的实现（考虑冒险）</a:t>
            </a:r>
            <a:endParaRPr lang="en-US" altLang="zh-CN" sz="3200" dirty="0"/>
          </a:p>
          <a:p>
            <a:pPr lvl="1"/>
            <a:r>
              <a:rPr lang="zh-CN" altLang="en-US" sz="2800" dirty="0"/>
              <a:t>结构冒险</a:t>
            </a:r>
            <a:r>
              <a:rPr lang="en-US" altLang="zh-CN" sz="2800" dirty="0"/>
              <a:t> P56</a:t>
            </a:r>
          </a:p>
          <a:p>
            <a:pPr lvl="1"/>
            <a:r>
              <a:rPr lang="zh-CN" altLang="en-US" sz="2800" dirty="0">
                <a:solidFill>
                  <a:schemeClr val="bg1">
                    <a:lumMod val="65000"/>
                  </a:schemeClr>
                </a:solidFill>
              </a:rPr>
              <a:t>数据冒险</a:t>
            </a:r>
            <a:r>
              <a:rPr lang="en-US" altLang="zh-CN" sz="2800" dirty="0">
                <a:solidFill>
                  <a:schemeClr val="bg1">
                    <a:lumMod val="65000"/>
                  </a:schemeClr>
                </a:solidFill>
              </a:rPr>
              <a:t> P85</a:t>
            </a:r>
          </a:p>
          <a:p>
            <a:pPr lvl="1"/>
            <a:r>
              <a:rPr lang="zh-CN" altLang="en-US" sz="2800" dirty="0">
                <a:solidFill>
                  <a:schemeClr val="bg1">
                    <a:lumMod val="65000"/>
                  </a:schemeClr>
                </a:solidFill>
              </a:rPr>
              <a:t>控制冒险</a:t>
            </a:r>
            <a:endParaRPr lang="en-US" altLang="zh-CN" sz="2800" dirty="0">
              <a:solidFill>
                <a:schemeClr val="bg1">
                  <a:lumMod val="65000"/>
                </a:schemeClr>
              </a:solidFill>
            </a:endParaRPr>
          </a:p>
          <a:p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4659731-6BD7-46E7-8D3C-2F3AC07E20B1}" type="slidenum">
              <a:rPr lang="en-US" altLang="zh-CN" smtClean="0"/>
              <a:pPr/>
              <a:t>56</a:t>
            </a:fld>
            <a:endParaRPr lang="en-US" altLang="zh-CN"/>
          </a:p>
        </p:txBody>
      </p:sp>
      <p:sp>
        <p:nvSpPr>
          <p:cNvPr id="8" name="标题 7">
            <a:extLst>
              <a:ext uri="{FF2B5EF4-FFF2-40B4-BE49-F238E27FC236}">
                <a16:creationId xmlns:a16="http://schemas.microsoft.com/office/drawing/2014/main" id="{A4AFA0D0-3ABC-9E4B-A473-CF0D454A0F5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dirty="0"/>
              <a:t>本节课目录</a:t>
            </a:r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2" name="墨迹 1">
                <a:extLst>
                  <a:ext uri="{FF2B5EF4-FFF2-40B4-BE49-F238E27FC236}">
                    <a16:creationId xmlns:a16="http://schemas.microsoft.com/office/drawing/2014/main" id="{4327DD49-AE31-020A-515D-1D7784D0FF56}"/>
                  </a:ext>
                </a:extLst>
              </p14:cNvPr>
              <p14:cNvContentPartPr/>
              <p14:nvPr/>
            </p14:nvContentPartPr>
            <p14:xfrm>
              <a:off x="6845040" y="2154600"/>
              <a:ext cx="360" cy="360"/>
            </p14:xfrm>
          </p:contentPart>
        </mc:Choice>
        <mc:Fallback xmlns="">
          <p:pic>
            <p:nvPicPr>
              <p:cNvPr id="2" name="墨迹 1">
                <a:extLst>
                  <a:ext uri="{FF2B5EF4-FFF2-40B4-BE49-F238E27FC236}">
                    <a16:creationId xmlns:a16="http://schemas.microsoft.com/office/drawing/2014/main" id="{4327DD49-AE31-020A-515D-1D7784D0FF56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6835680" y="2145240"/>
                <a:ext cx="19080" cy="1908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416919787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"/>
    </mc:Choice>
    <mc:Fallback xmlns="">
      <p:transition/>
    </mc:Fallback>
  </mc:AlternateContent>
</p:sld>
</file>

<file path=ppt/slides/slide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>
            <a:extLst>
              <a:ext uri="{FF2B5EF4-FFF2-40B4-BE49-F238E27FC236}">
                <a16:creationId xmlns:a16="http://schemas.microsoft.com/office/drawing/2014/main" id="{9F528C6A-27DD-4C1B-8E14-9F1EDB3CFA98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dirty="0"/>
              <a:t>流水线实现与优化</a:t>
            </a:r>
          </a:p>
        </p:txBody>
      </p:sp>
      <p:sp>
        <p:nvSpPr>
          <p:cNvPr id="3" name="内容占位符 2">
            <a:extLst>
              <a:ext uri="{FF2B5EF4-FFF2-40B4-BE49-F238E27FC236}">
                <a16:creationId xmlns:a16="http://schemas.microsoft.com/office/drawing/2014/main" id="{36703905-7308-46B8-BEC5-2F9CAB67E90E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457200" y="1166020"/>
            <a:ext cx="8458200" cy="4525963"/>
          </a:xfrm>
        </p:spPr>
        <p:txBody>
          <a:bodyPr/>
          <a:lstStyle/>
          <a:p>
            <a:r>
              <a:rPr lang="zh-CN" altLang="en-US" dirty="0"/>
              <a:t>最大化时钟速度：</a:t>
            </a:r>
            <a:r>
              <a:rPr lang="zh-CN" altLang="en-US" dirty="0">
                <a:solidFill>
                  <a:srgbClr val="3333FF"/>
                </a:solidFill>
              </a:rPr>
              <a:t>提高理论最大吞吐率</a:t>
            </a:r>
          </a:p>
          <a:p>
            <a:r>
              <a:rPr lang="zh-CN" altLang="en-US" dirty="0"/>
              <a:t>提高有效执行指令比例：</a:t>
            </a:r>
            <a:r>
              <a:rPr lang="zh-CN" altLang="en-US" dirty="0">
                <a:solidFill>
                  <a:srgbClr val="3333FF"/>
                </a:solidFill>
              </a:rPr>
              <a:t>提高实际吞吐率</a:t>
            </a:r>
          </a:p>
          <a:p>
            <a:r>
              <a:rPr lang="zh-CN" altLang="en-US" dirty="0"/>
              <a:t>最小化所需要的硬件资源：</a:t>
            </a:r>
            <a:r>
              <a:rPr lang="zh-CN" altLang="en-US" dirty="0">
                <a:solidFill>
                  <a:srgbClr val="3333FF"/>
                </a:solidFill>
              </a:rPr>
              <a:t>成本最小化</a:t>
            </a:r>
          </a:p>
          <a:p>
            <a:endParaRPr lang="zh-CN" altLang="en-US" dirty="0">
              <a:solidFill>
                <a:srgbClr val="0070C0"/>
              </a:solidFill>
            </a:endParaRPr>
          </a:p>
          <a:p>
            <a:pPr marL="0" indent="0" algn="ctr">
              <a:buNone/>
            </a:pPr>
            <a:r>
              <a:rPr lang="zh-CN" altLang="en-US" dirty="0">
                <a:solidFill>
                  <a:srgbClr val="3333FF"/>
                </a:solidFill>
              </a:rPr>
              <a:t>三方面互相影响</a:t>
            </a:r>
          </a:p>
        </p:txBody>
      </p:sp>
      <p:sp>
        <p:nvSpPr>
          <p:cNvPr id="4" name="灯片编号占位符 3">
            <a:extLst>
              <a:ext uri="{FF2B5EF4-FFF2-40B4-BE49-F238E27FC236}">
                <a16:creationId xmlns:a16="http://schemas.microsoft.com/office/drawing/2014/main" id="{7FEC4906-60E0-4014-A41E-50950590530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1806CE5-282B-4233-8654-09F35EA875E2}" type="slidenum">
              <a:rPr lang="zh-CN" altLang="en-US" smtClean="0"/>
              <a:t>57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438400595"/>
      </p:ext>
    </p:extLst>
  </p:cSld>
  <p:clrMapOvr>
    <a:masterClrMapping/>
  </p:clrMapOvr>
</p:sld>
</file>

<file path=ppt/slides/slide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>
            <a:extLst>
              <a:ext uri="{FF2B5EF4-FFF2-40B4-BE49-F238E27FC236}">
                <a16:creationId xmlns:a16="http://schemas.microsoft.com/office/drawing/2014/main" id="{9F528C6A-27DD-4C1B-8E14-9F1EDB3CFA98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dirty="0"/>
              <a:t>流水线实现与优化</a:t>
            </a:r>
          </a:p>
        </p:txBody>
      </p:sp>
      <p:sp>
        <p:nvSpPr>
          <p:cNvPr id="3" name="内容占位符 2">
            <a:extLst>
              <a:ext uri="{FF2B5EF4-FFF2-40B4-BE49-F238E27FC236}">
                <a16:creationId xmlns:a16="http://schemas.microsoft.com/office/drawing/2014/main" id="{36703905-7308-46B8-BEC5-2F9CAB67E90E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457200" y="1166020"/>
            <a:ext cx="8458200" cy="4525963"/>
          </a:xfrm>
        </p:spPr>
        <p:txBody>
          <a:bodyPr/>
          <a:lstStyle/>
          <a:p>
            <a:r>
              <a:rPr lang="zh-CN" altLang="en-US" dirty="0">
                <a:solidFill>
                  <a:srgbClr val="3333FF"/>
                </a:solidFill>
              </a:rPr>
              <a:t>问：</a:t>
            </a:r>
            <a:r>
              <a:rPr lang="en-US" altLang="zh-CN" dirty="0">
                <a:solidFill>
                  <a:srgbClr val="3333FF"/>
                </a:solidFill>
              </a:rPr>
              <a:t>k</a:t>
            </a:r>
            <a:r>
              <a:rPr lang="zh-CN" altLang="en-US" dirty="0">
                <a:solidFill>
                  <a:srgbClr val="3333FF"/>
                </a:solidFill>
              </a:rPr>
              <a:t>级流水线一定可以使吞吐率提高</a:t>
            </a:r>
            <a:r>
              <a:rPr lang="en-US" altLang="zh-CN" dirty="0">
                <a:solidFill>
                  <a:srgbClr val="3333FF"/>
                </a:solidFill>
              </a:rPr>
              <a:t>k</a:t>
            </a:r>
            <a:r>
              <a:rPr lang="zh-CN" altLang="en-US" dirty="0">
                <a:solidFill>
                  <a:srgbClr val="3333FF"/>
                </a:solidFill>
              </a:rPr>
              <a:t>倍吗？</a:t>
            </a:r>
          </a:p>
          <a:p>
            <a:pPr lvl="1"/>
            <a:r>
              <a:rPr lang="zh-CN" altLang="en-US" dirty="0"/>
              <a:t>假定每级组合逻辑电路的传播延时都是相同的</a:t>
            </a:r>
          </a:p>
          <a:p>
            <a:pPr lvl="1"/>
            <a:r>
              <a:rPr lang="zh-CN" altLang="en-US" dirty="0"/>
              <a:t>不考虑寄存器的建立保持时间要求</a:t>
            </a:r>
          </a:p>
          <a:p>
            <a:r>
              <a:rPr lang="zh-CN" altLang="en-US" dirty="0">
                <a:solidFill>
                  <a:srgbClr val="3333FF"/>
                </a:solidFill>
              </a:rPr>
              <a:t>问题的关键：指令间依赖</a:t>
            </a:r>
          </a:p>
          <a:p>
            <a:pPr lvl="1"/>
            <a:r>
              <a:rPr lang="zh-CN" altLang="en-US" dirty="0"/>
              <a:t>流水线是否被阻塞？</a:t>
            </a:r>
          </a:p>
          <a:p>
            <a:pPr lvl="1"/>
            <a:r>
              <a:rPr lang="zh-CN" altLang="en-US" dirty="0"/>
              <a:t>流水线是否执行了不必要的指令？</a:t>
            </a:r>
          </a:p>
          <a:p>
            <a:endParaRPr lang="zh-CN" altLang="en-US" dirty="0"/>
          </a:p>
          <a:p>
            <a:endParaRPr lang="zh-CN" altLang="en-US" dirty="0"/>
          </a:p>
        </p:txBody>
      </p:sp>
      <p:sp>
        <p:nvSpPr>
          <p:cNvPr id="4" name="灯片编号占位符 3">
            <a:extLst>
              <a:ext uri="{FF2B5EF4-FFF2-40B4-BE49-F238E27FC236}">
                <a16:creationId xmlns:a16="http://schemas.microsoft.com/office/drawing/2014/main" id="{7FEC4906-60E0-4014-A41E-50950590530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1806CE5-282B-4233-8654-09F35EA875E2}" type="slidenum">
              <a:rPr lang="zh-CN" altLang="en-US" smtClean="0"/>
              <a:t>58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2595230057"/>
      </p:ext>
    </p:extLst>
  </p:cSld>
  <p:clrMapOvr>
    <a:masterClrMapping/>
  </p:clrMapOvr>
</p:sld>
</file>

<file path=ppt/slides/slide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>
            <a:extLst>
              <a:ext uri="{FF2B5EF4-FFF2-40B4-BE49-F238E27FC236}">
                <a16:creationId xmlns:a16="http://schemas.microsoft.com/office/drawing/2014/main" id="{9472A54A-C51F-4EE2-B1A5-EA735B32FB4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dirty="0"/>
              <a:t>一个例子</a:t>
            </a:r>
          </a:p>
        </p:txBody>
      </p:sp>
      <p:sp>
        <p:nvSpPr>
          <p:cNvPr id="3" name="内容占位符 2">
            <a:extLst>
              <a:ext uri="{FF2B5EF4-FFF2-40B4-BE49-F238E27FC236}">
                <a16:creationId xmlns:a16="http://schemas.microsoft.com/office/drawing/2014/main" id="{CF8C9B20-CE33-4CF9-8FC3-0196DB627C41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marL="0" indent="0">
              <a:buNone/>
            </a:pPr>
            <a:r>
              <a:rPr lang="en-US" altLang="zh-CN" sz="2000" dirty="0"/>
              <a:t>After compiling C to assembly MIPS, I have: </a:t>
            </a:r>
          </a:p>
          <a:p>
            <a:pPr marL="0" indent="0">
              <a:buNone/>
            </a:pPr>
            <a:r>
              <a:rPr lang="en-US" altLang="zh-CN" sz="2000" dirty="0"/>
              <a:t>…</a:t>
            </a:r>
          </a:p>
          <a:p>
            <a:pPr marL="0" indent="0">
              <a:buNone/>
            </a:pPr>
            <a:r>
              <a:rPr lang="en-US" altLang="zh-CN" sz="2000" dirty="0" err="1"/>
              <a:t>lw</a:t>
            </a:r>
            <a:r>
              <a:rPr lang="en-US" altLang="zh-CN" sz="2000" dirty="0"/>
              <a:t> $2,8($</a:t>
            </a:r>
            <a:r>
              <a:rPr lang="en-US" altLang="zh-CN" sz="2000" dirty="0" err="1"/>
              <a:t>fp</a:t>
            </a:r>
            <a:r>
              <a:rPr lang="en-US" altLang="zh-CN" sz="2000" dirty="0"/>
              <a:t>)</a:t>
            </a:r>
          </a:p>
          <a:p>
            <a:pPr marL="0" indent="0">
              <a:buNone/>
            </a:pPr>
            <a:r>
              <a:rPr lang="en-US" altLang="zh-CN" sz="2000" dirty="0" err="1"/>
              <a:t>nop</a:t>
            </a:r>
            <a:endParaRPr lang="en-US" altLang="zh-CN" sz="2000" dirty="0"/>
          </a:p>
          <a:p>
            <a:pPr marL="0" indent="0">
              <a:buNone/>
            </a:pPr>
            <a:r>
              <a:rPr lang="en-US" altLang="zh-CN" sz="2000" dirty="0" err="1"/>
              <a:t>sw</a:t>
            </a:r>
            <a:r>
              <a:rPr lang="en-US" altLang="zh-CN" sz="2000" dirty="0"/>
              <a:t> $2,16($</a:t>
            </a:r>
            <a:r>
              <a:rPr lang="en-US" altLang="zh-CN" sz="2000" dirty="0" err="1"/>
              <a:t>fp</a:t>
            </a:r>
            <a:r>
              <a:rPr lang="en-US" altLang="zh-CN" sz="2000" dirty="0"/>
              <a:t>)</a:t>
            </a:r>
          </a:p>
          <a:p>
            <a:pPr marL="0" indent="0">
              <a:buNone/>
            </a:pPr>
            <a:r>
              <a:rPr lang="en-US" altLang="zh-CN" sz="2000" dirty="0"/>
              <a:t>li $2,5 # 0x5</a:t>
            </a:r>
          </a:p>
          <a:p>
            <a:pPr marL="0" indent="0">
              <a:buNone/>
            </a:pPr>
            <a:r>
              <a:rPr lang="en-US" altLang="zh-CN" sz="2000" dirty="0" err="1"/>
              <a:t>lw</a:t>
            </a:r>
            <a:r>
              <a:rPr lang="en-US" altLang="zh-CN" sz="2000" dirty="0"/>
              <a:t> $3,16($</a:t>
            </a:r>
            <a:r>
              <a:rPr lang="en-US" altLang="zh-CN" sz="2000" dirty="0" err="1"/>
              <a:t>fp</a:t>
            </a:r>
            <a:r>
              <a:rPr lang="en-US" altLang="zh-CN" sz="2000" dirty="0"/>
              <a:t>)</a:t>
            </a:r>
          </a:p>
          <a:p>
            <a:pPr marL="0" indent="0">
              <a:buNone/>
            </a:pPr>
            <a:r>
              <a:rPr lang="en-US" altLang="zh-CN" sz="2000" dirty="0" err="1"/>
              <a:t>nop</a:t>
            </a:r>
            <a:endParaRPr lang="en-US" altLang="zh-CN" sz="2000" dirty="0"/>
          </a:p>
          <a:p>
            <a:pPr marL="0" indent="0">
              <a:buNone/>
            </a:pPr>
            <a:r>
              <a:rPr lang="en-US" altLang="zh-CN" sz="2000" dirty="0" err="1"/>
              <a:t>beq</a:t>
            </a:r>
            <a:r>
              <a:rPr lang="en-US" altLang="zh-CN" sz="2000" dirty="0"/>
              <a:t> $3,$2,$L4</a:t>
            </a:r>
          </a:p>
          <a:p>
            <a:pPr marL="0" indent="0">
              <a:buNone/>
            </a:pPr>
            <a:r>
              <a:rPr lang="en-US" altLang="zh-CN" sz="2000" dirty="0" err="1"/>
              <a:t>nop</a:t>
            </a:r>
            <a:endParaRPr lang="en-US" altLang="zh-CN" sz="2000" dirty="0"/>
          </a:p>
          <a:p>
            <a:pPr marL="0" indent="0">
              <a:buNone/>
            </a:pPr>
            <a:r>
              <a:rPr lang="en-US" altLang="zh-CN" sz="2000" dirty="0"/>
              <a:t>li $2,10 # 0xa</a:t>
            </a:r>
          </a:p>
          <a:p>
            <a:pPr marL="0" indent="0">
              <a:buNone/>
            </a:pPr>
            <a:r>
              <a:rPr lang="en-US" altLang="zh-CN" sz="2000" dirty="0"/>
              <a:t>…</a:t>
            </a:r>
            <a:endParaRPr lang="zh-CN" altLang="en-US" sz="2000" dirty="0"/>
          </a:p>
        </p:txBody>
      </p:sp>
      <p:sp>
        <p:nvSpPr>
          <p:cNvPr id="4" name="灯片编号占位符 3">
            <a:extLst>
              <a:ext uri="{FF2B5EF4-FFF2-40B4-BE49-F238E27FC236}">
                <a16:creationId xmlns:a16="http://schemas.microsoft.com/office/drawing/2014/main" id="{A0821068-9D9C-4C71-B543-4106B5EF2B1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1806CE5-282B-4233-8654-09F35EA875E2}" type="slidenum">
              <a:rPr lang="zh-CN" altLang="en-US" smtClean="0"/>
              <a:t>59</a:t>
            </a:fld>
            <a:endParaRPr lang="zh-CN" altLang="en-US" dirty="0"/>
          </a:p>
        </p:txBody>
      </p:sp>
      <p:sp>
        <p:nvSpPr>
          <p:cNvPr id="5" name="矩形 4">
            <a:extLst>
              <a:ext uri="{FF2B5EF4-FFF2-40B4-BE49-F238E27FC236}">
                <a16:creationId xmlns:a16="http://schemas.microsoft.com/office/drawing/2014/main" id="{1BD48735-EFC7-4507-B65A-5653110DE82E}"/>
              </a:ext>
            </a:extLst>
          </p:cNvPr>
          <p:cNvSpPr/>
          <p:nvPr/>
        </p:nvSpPr>
        <p:spPr>
          <a:xfrm>
            <a:off x="457200" y="6444476"/>
            <a:ext cx="7391400" cy="27699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altLang="zh-CN" sz="1200" dirty="0">
                <a:ea typeface="SimHei" panose="02010609060101010101" pitchFamily="49" charset="-122"/>
              </a:rPr>
              <a:t>Source -- </a:t>
            </a:r>
            <a:r>
              <a:rPr lang="zh-CN" altLang="en-US" sz="1200" dirty="0">
                <a:ea typeface="SimHei" panose="02010609060101010101" pitchFamily="49" charset="-122"/>
              </a:rPr>
              <a:t>http://stackoverflow.com/questions/20924452/nop-and-pipeline-hazards-in-this-assembly-mips</a:t>
            </a:r>
          </a:p>
        </p:txBody>
      </p:sp>
      <p:sp>
        <p:nvSpPr>
          <p:cNvPr id="6" name="Rectangle 2">
            <a:extLst>
              <a:ext uri="{FF2B5EF4-FFF2-40B4-BE49-F238E27FC236}">
                <a16:creationId xmlns:a16="http://schemas.microsoft.com/office/drawing/2014/main" id="{C878554B-1A1C-4101-984D-0484E5D4ED7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08300" y="2235200"/>
            <a:ext cx="5867400" cy="28382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0" tIns="0" rIns="0" bIns="158700" numCol="1" anchor="ctr" anchorCtr="0" compatLnSpc="1">
            <a:prstTxWarp prst="textNoShape">
              <a:avLst/>
            </a:prstTxWarp>
            <a:noAutofit/>
          </a:bodyPr>
          <a:lstStyle/>
          <a:p>
            <a:pPr marL="457200" marR="0" lvl="0" indent="-457200" algn="l" defTabSz="914400" rtl="0" eaLnBrk="0" fontAlgn="base" latinLnBrk="0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anose="020B0604020202020204" pitchFamily="34" charset="0"/>
              <a:buChar char="•"/>
              <a:tabLst/>
            </a:pPr>
            <a:r>
              <a:rPr kumimoji="0" lang="en-US" altLang="zh-CN" sz="240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rPr>
              <a:t>Why are there </a:t>
            </a:r>
            <a:r>
              <a:rPr kumimoji="0" lang="en-US" altLang="zh-CN" sz="2400" u="none" strike="noStrike" cap="none" normalizeH="0" baseline="0" dirty="0" err="1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rPr>
              <a:t>nop</a:t>
            </a:r>
            <a:r>
              <a:rPr kumimoji="0" lang="en-US" altLang="zh-CN" sz="240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rPr>
              <a:t> code lines?</a:t>
            </a:r>
          </a:p>
          <a:p>
            <a:pPr marL="457200" marR="0" lvl="0" indent="-457200" algn="l" defTabSz="914400" rtl="0" eaLnBrk="0" fontAlgn="base" latinLnBrk="0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anose="020B0604020202020204" pitchFamily="34" charset="0"/>
              <a:buChar char="•"/>
              <a:tabLst/>
            </a:pPr>
            <a:r>
              <a:rPr kumimoji="0" lang="en-US" altLang="zh-CN" sz="240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rPr>
              <a:t>What is the meaning of </a:t>
            </a:r>
            <a:r>
              <a:rPr kumimoji="0" lang="en-US" altLang="zh-CN" sz="2400" u="none" strike="noStrike" cap="none" normalizeH="0" baseline="0" dirty="0" err="1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rPr>
              <a:t>nop</a:t>
            </a:r>
            <a:r>
              <a:rPr kumimoji="0" lang="en-US" altLang="zh-CN" sz="240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rPr>
              <a:t>? </a:t>
            </a:r>
          </a:p>
          <a:p>
            <a:pPr marL="457200" marR="0" lvl="0" indent="-457200" algn="l" defTabSz="914400" rtl="0" eaLnBrk="0" fontAlgn="base" latinLnBrk="0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anose="020B0604020202020204" pitchFamily="34" charset="0"/>
              <a:buChar char="•"/>
              <a:tabLst/>
            </a:pPr>
            <a:r>
              <a:rPr kumimoji="0" lang="en-US" altLang="zh-CN" sz="240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rPr>
              <a:t>Does it help anything in pipeline hazards? </a:t>
            </a:r>
          </a:p>
          <a:p>
            <a:pPr marL="457200" marR="0" lvl="0" indent="-457200" algn="l" defTabSz="914400" rtl="0" eaLnBrk="0" fontAlgn="base" latinLnBrk="0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anose="020B0604020202020204" pitchFamily="34" charset="0"/>
              <a:buChar char="•"/>
              <a:tabLst/>
            </a:pPr>
            <a:r>
              <a:rPr kumimoji="0" lang="en-US" altLang="zh-CN" sz="240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rPr>
              <a:t>What if I remove all the </a:t>
            </a:r>
            <a:r>
              <a:rPr kumimoji="0" lang="en-US" altLang="zh-CN" sz="2400" u="none" strike="noStrike" cap="none" normalizeH="0" baseline="0" dirty="0" err="1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rPr>
              <a:t>nops</a:t>
            </a:r>
            <a:r>
              <a:rPr kumimoji="0" lang="en-US" altLang="zh-CN" sz="240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rPr>
              <a:t>? </a:t>
            </a:r>
          </a:p>
        </p:txBody>
      </p:sp>
    </p:spTree>
    <p:extLst>
      <p:ext uri="{BB962C8B-B14F-4D97-AF65-F5344CB8AC3E}">
        <p14:creationId xmlns:p14="http://schemas.microsoft.com/office/powerpoint/2010/main" val="2302205097"/>
      </p:ext>
    </p:extLst>
  </p:cSld>
  <p:clrMapOvr>
    <a:masterClrMapping/>
  </p:clrMapOvr>
</p:sld>
</file>

<file path=ppt/slides/slide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>
            <a:extLst>
              <a:ext uri="{FF2B5EF4-FFF2-40B4-BE49-F238E27FC236}">
                <a16:creationId xmlns:a16="http://schemas.microsoft.com/office/drawing/2014/main" id="{9EABC2DB-EBA9-4F74-8FCE-2B35F2B2AE1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dirty="0"/>
              <a:t>回顾：数据冒险</a:t>
            </a:r>
            <a:r>
              <a:rPr lang="en-US" altLang="zh-CN" dirty="0"/>
              <a:t>A</a:t>
            </a:r>
            <a:endParaRPr lang="zh-CN" altLang="en-US" dirty="0"/>
          </a:p>
        </p:txBody>
      </p:sp>
      <p:sp>
        <p:nvSpPr>
          <p:cNvPr id="3" name="内容占位符 2">
            <a:extLst>
              <a:ext uri="{FF2B5EF4-FFF2-40B4-BE49-F238E27FC236}">
                <a16:creationId xmlns:a16="http://schemas.microsoft.com/office/drawing/2014/main" id="{B8D1F9A8-EE36-4E89-B851-C09FA99675C8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r>
              <a:rPr lang="en-US" altLang="zh-CN" dirty="0"/>
              <a:t>Read after write (RAW)</a:t>
            </a:r>
          </a:p>
          <a:p>
            <a:endParaRPr lang="zh-CN" altLang="en-US" dirty="0"/>
          </a:p>
        </p:txBody>
      </p:sp>
      <p:sp>
        <p:nvSpPr>
          <p:cNvPr id="4" name="灯片编号占位符 3">
            <a:extLst>
              <a:ext uri="{FF2B5EF4-FFF2-40B4-BE49-F238E27FC236}">
                <a16:creationId xmlns:a16="http://schemas.microsoft.com/office/drawing/2014/main" id="{AA741F26-06FA-4934-B037-E3ACF30C5CF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1806CE5-282B-4233-8654-09F35EA875E2}" type="slidenum">
              <a:rPr lang="zh-CN" altLang="en-US" smtClean="0"/>
              <a:t>60</a:t>
            </a:fld>
            <a:endParaRPr lang="zh-CN" altLang="en-US"/>
          </a:p>
        </p:txBody>
      </p:sp>
      <p:sp>
        <p:nvSpPr>
          <p:cNvPr id="88" name="Rectangle 85">
            <a:extLst>
              <a:ext uri="{FF2B5EF4-FFF2-40B4-BE49-F238E27FC236}">
                <a16:creationId xmlns:a16="http://schemas.microsoft.com/office/drawing/2014/main" id="{67BF516A-0941-4ED0-BC85-8D7E17DAA5E7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69000" y="5770563"/>
            <a:ext cx="188913" cy="377825"/>
          </a:xfrm>
          <a:prstGeom prst="rect">
            <a:avLst/>
          </a:prstGeom>
          <a:solidFill>
            <a:srgbClr val="0099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90" name="Rectangle 87">
            <a:extLst>
              <a:ext uri="{FF2B5EF4-FFF2-40B4-BE49-F238E27FC236}">
                <a16:creationId xmlns:a16="http://schemas.microsoft.com/office/drawing/2014/main" id="{77403AAB-5110-45DF-8E98-D97979BA3317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03850" y="5078413"/>
            <a:ext cx="188913" cy="377825"/>
          </a:xfrm>
          <a:prstGeom prst="rect">
            <a:avLst/>
          </a:prstGeom>
          <a:solidFill>
            <a:srgbClr val="0099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7" name="AutoShape 3">
            <a:extLst>
              <a:ext uri="{FF2B5EF4-FFF2-40B4-BE49-F238E27FC236}">
                <a16:creationId xmlns:a16="http://schemas.microsoft.com/office/drawing/2014/main" id="{300B5035-C651-4F78-80BC-9116FD7FA54A}"/>
              </a:ext>
            </a:extLst>
          </p:cNvPr>
          <p:cNvSpPr>
            <a:spLocks noChangeAspect="1" noChangeArrowheads="1" noTextEdit="1"/>
          </p:cNvSpPr>
          <p:nvPr/>
        </p:nvSpPr>
        <p:spPr bwMode="auto">
          <a:xfrm>
            <a:off x="854075" y="2184400"/>
            <a:ext cx="7080250" cy="42862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8" name="Freeform 5">
            <a:extLst>
              <a:ext uri="{FF2B5EF4-FFF2-40B4-BE49-F238E27FC236}">
                <a16:creationId xmlns:a16="http://schemas.microsoft.com/office/drawing/2014/main" id="{9B0F7934-9858-43D0-B872-A3450AAB34E8}"/>
              </a:ext>
            </a:extLst>
          </p:cNvPr>
          <p:cNvSpPr>
            <a:spLocks/>
          </p:cNvSpPr>
          <p:nvPr/>
        </p:nvSpPr>
        <p:spPr bwMode="auto">
          <a:xfrm>
            <a:off x="6378575" y="5645150"/>
            <a:ext cx="273050" cy="628650"/>
          </a:xfrm>
          <a:custGeom>
            <a:avLst/>
            <a:gdLst>
              <a:gd name="T0" fmla="*/ 0 w 172"/>
              <a:gd name="T1" fmla="*/ 264 h 396"/>
              <a:gd name="T2" fmla="*/ 58 w 172"/>
              <a:gd name="T3" fmla="*/ 198 h 396"/>
              <a:gd name="T4" fmla="*/ 0 w 172"/>
              <a:gd name="T5" fmla="*/ 132 h 396"/>
              <a:gd name="T6" fmla="*/ 0 w 172"/>
              <a:gd name="T7" fmla="*/ 0 h 396"/>
              <a:gd name="T8" fmla="*/ 172 w 172"/>
              <a:gd name="T9" fmla="*/ 132 h 396"/>
              <a:gd name="T10" fmla="*/ 172 w 172"/>
              <a:gd name="T11" fmla="*/ 264 h 396"/>
              <a:gd name="T12" fmla="*/ 0 w 172"/>
              <a:gd name="T13" fmla="*/ 396 h 396"/>
              <a:gd name="T14" fmla="*/ 0 w 172"/>
              <a:gd name="T15" fmla="*/ 264 h 39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172" h="396">
                <a:moveTo>
                  <a:pt x="0" y="264"/>
                </a:moveTo>
                <a:lnTo>
                  <a:pt x="58" y="198"/>
                </a:lnTo>
                <a:lnTo>
                  <a:pt x="0" y="132"/>
                </a:lnTo>
                <a:lnTo>
                  <a:pt x="0" y="0"/>
                </a:lnTo>
                <a:lnTo>
                  <a:pt x="172" y="132"/>
                </a:lnTo>
                <a:lnTo>
                  <a:pt x="172" y="264"/>
                </a:lnTo>
                <a:lnTo>
                  <a:pt x="0" y="396"/>
                </a:lnTo>
                <a:lnTo>
                  <a:pt x="0" y="264"/>
                </a:lnTo>
              </a:path>
            </a:pathLst>
          </a:custGeom>
          <a:noFill/>
          <a:ln w="20638" cap="rnd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9" name="Rectangle 6">
            <a:extLst>
              <a:ext uri="{FF2B5EF4-FFF2-40B4-BE49-F238E27FC236}">
                <a16:creationId xmlns:a16="http://schemas.microsoft.com/office/drawing/2014/main" id="{3769D206-74CF-4D6B-BF1B-9FB4EDEF211D}"/>
              </a:ext>
            </a:extLst>
          </p:cNvPr>
          <p:cNvSpPr>
            <a:spLocks noChangeArrowheads="1"/>
          </p:cNvSpPr>
          <p:nvPr/>
        </p:nvSpPr>
        <p:spPr bwMode="auto">
          <a:xfrm rot="5400000">
            <a:off x="6197600" y="5854700"/>
            <a:ext cx="635000" cy="215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zh-CN" altLang="zh-CN" sz="1400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rPr>
              <a:t>ALU</a:t>
            </a:r>
            <a:endParaRPr kumimoji="0" lang="zh-CN" altLang="zh-CN" sz="140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  <a:ea typeface="SimHei" panose="02010609060101010101" pitchFamily="49" charset="-122"/>
            </a:endParaRPr>
          </a:p>
        </p:txBody>
      </p:sp>
      <p:sp>
        <p:nvSpPr>
          <p:cNvPr id="10" name="Rectangle 7">
            <a:extLst>
              <a:ext uri="{FF2B5EF4-FFF2-40B4-BE49-F238E27FC236}">
                <a16:creationId xmlns:a16="http://schemas.microsoft.com/office/drawing/2014/main" id="{1972DA7A-6208-47A7-BE8E-C08562788ED2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32400" y="5826125"/>
            <a:ext cx="185738" cy="200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zh-CN" altLang="zh-CN" sz="1300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rPr>
              <a:t>IM</a:t>
            </a:r>
            <a:endParaRPr kumimoji="0" lang="zh-CN" altLang="zh-CN" sz="180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  <a:ea typeface="SimHei" panose="02010609060101010101" pitchFamily="49" charset="-122"/>
            </a:endParaRPr>
          </a:p>
        </p:txBody>
      </p:sp>
      <p:sp>
        <p:nvSpPr>
          <p:cNvPr id="11" name="Freeform 8">
            <a:extLst>
              <a:ext uri="{FF2B5EF4-FFF2-40B4-BE49-F238E27FC236}">
                <a16:creationId xmlns:a16="http://schemas.microsoft.com/office/drawing/2014/main" id="{102BE81D-52FE-4D06-8190-A240E572A595}"/>
              </a:ext>
            </a:extLst>
          </p:cNvPr>
          <p:cNvSpPr>
            <a:spLocks/>
          </p:cNvSpPr>
          <p:nvPr/>
        </p:nvSpPr>
        <p:spPr bwMode="auto">
          <a:xfrm>
            <a:off x="5160963" y="5770563"/>
            <a:ext cx="227013" cy="376238"/>
          </a:xfrm>
          <a:custGeom>
            <a:avLst/>
            <a:gdLst>
              <a:gd name="T0" fmla="*/ 143 w 143"/>
              <a:gd name="T1" fmla="*/ 0 h 237"/>
              <a:gd name="T2" fmla="*/ 0 w 143"/>
              <a:gd name="T3" fmla="*/ 0 h 237"/>
              <a:gd name="T4" fmla="*/ 0 w 143"/>
              <a:gd name="T5" fmla="*/ 237 h 237"/>
              <a:gd name="T6" fmla="*/ 143 w 143"/>
              <a:gd name="T7" fmla="*/ 237 h 2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143" h="237">
                <a:moveTo>
                  <a:pt x="143" y="0"/>
                </a:moveTo>
                <a:lnTo>
                  <a:pt x="0" y="0"/>
                </a:lnTo>
                <a:lnTo>
                  <a:pt x="0" y="237"/>
                </a:lnTo>
                <a:lnTo>
                  <a:pt x="143" y="237"/>
                </a:lnTo>
              </a:path>
            </a:pathLst>
          </a:custGeom>
          <a:noFill/>
          <a:ln w="20638" cap="rnd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12" name="Freeform 9">
            <a:extLst>
              <a:ext uri="{FF2B5EF4-FFF2-40B4-BE49-F238E27FC236}">
                <a16:creationId xmlns:a16="http://schemas.microsoft.com/office/drawing/2014/main" id="{95CDEFDD-601F-4B90-82EB-52F321F0A0BE}"/>
              </a:ext>
            </a:extLst>
          </p:cNvPr>
          <p:cNvSpPr>
            <a:spLocks/>
          </p:cNvSpPr>
          <p:nvPr/>
        </p:nvSpPr>
        <p:spPr bwMode="auto">
          <a:xfrm>
            <a:off x="5380038" y="5770563"/>
            <a:ext cx="227013" cy="376238"/>
          </a:xfrm>
          <a:custGeom>
            <a:avLst/>
            <a:gdLst>
              <a:gd name="T0" fmla="*/ 0 w 143"/>
              <a:gd name="T1" fmla="*/ 0 h 237"/>
              <a:gd name="T2" fmla="*/ 143 w 143"/>
              <a:gd name="T3" fmla="*/ 0 h 237"/>
              <a:gd name="T4" fmla="*/ 143 w 143"/>
              <a:gd name="T5" fmla="*/ 237 h 237"/>
              <a:gd name="T6" fmla="*/ 0 w 143"/>
              <a:gd name="T7" fmla="*/ 237 h 2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143" h="237">
                <a:moveTo>
                  <a:pt x="0" y="0"/>
                </a:moveTo>
                <a:lnTo>
                  <a:pt x="143" y="0"/>
                </a:lnTo>
                <a:lnTo>
                  <a:pt x="143" y="237"/>
                </a:lnTo>
                <a:lnTo>
                  <a:pt x="0" y="237"/>
                </a:lnTo>
              </a:path>
            </a:pathLst>
          </a:custGeom>
          <a:noFill/>
          <a:ln w="20638" cap="rnd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13" name="Rectangle 10">
            <a:extLst>
              <a:ext uri="{FF2B5EF4-FFF2-40B4-BE49-F238E27FC236}">
                <a16:creationId xmlns:a16="http://schemas.microsoft.com/office/drawing/2014/main" id="{DABCF7A8-6941-4C29-A159-27E1897729C1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13425" y="5832475"/>
            <a:ext cx="306388" cy="200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zh-CN" altLang="zh-CN" sz="1300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rPr>
              <a:t>Reg</a:t>
            </a:r>
            <a:endParaRPr kumimoji="0" lang="zh-CN" altLang="zh-CN" sz="180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  <a:ea typeface="SimHei" panose="02010609060101010101" pitchFamily="49" charset="-122"/>
            </a:endParaRPr>
          </a:p>
        </p:txBody>
      </p:sp>
      <p:sp>
        <p:nvSpPr>
          <p:cNvPr id="14" name="Freeform 11">
            <a:extLst>
              <a:ext uri="{FF2B5EF4-FFF2-40B4-BE49-F238E27FC236}">
                <a16:creationId xmlns:a16="http://schemas.microsoft.com/office/drawing/2014/main" id="{4FE44DF1-7D91-495F-97B4-6EB0D2A51878}"/>
              </a:ext>
            </a:extLst>
          </p:cNvPr>
          <p:cNvSpPr>
            <a:spLocks/>
          </p:cNvSpPr>
          <p:nvPr/>
        </p:nvSpPr>
        <p:spPr bwMode="auto">
          <a:xfrm>
            <a:off x="5765800" y="5770563"/>
            <a:ext cx="195263" cy="376238"/>
          </a:xfrm>
          <a:custGeom>
            <a:avLst/>
            <a:gdLst>
              <a:gd name="T0" fmla="*/ 123 w 123"/>
              <a:gd name="T1" fmla="*/ 0 h 237"/>
              <a:gd name="T2" fmla="*/ 0 w 123"/>
              <a:gd name="T3" fmla="*/ 0 h 237"/>
              <a:gd name="T4" fmla="*/ 0 w 123"/>
              <a:gd name="T5" fmla="*/ 237 h 237"/>
              <a:gd name="T6" fmla="*/ 123 w 123"/>
              <a:gd name="T7" fmla="*/ 237 h 2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123" h="237">
                <a:moveTo>
                  <a:pt x="123" y="0"/>
                </a:moveTo>
                <a:lnTo>
                  <a:pt x="0" y="0"/>
                </a:lnTo>
                <a:lnTo>
                  <a:pt x="0" y="237"/>
                </a:lnTo>
                <a:lnTo>
                  <a:pt x="123" y="237"/>
                </a:lnTo>
              </a:path>
            </a:pathLst>
          </a:custGeom>
          <a:noFill/>
          <a:ln w="20638" cap="rnd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15" name="Freeform 12">
            <a:extLst>
              <a:ext uri="{FF2B5EF4-FFF2-40B4-BE49-F238E27FC236}">
                <a16:creationId xmlns:a16="http://schemas.microsoft.com/office/drawing/2014/main" id="{63476796-7690-4F7D-ABD9-79021F99D6B7}"/>
              </a:ext>
            </a:extLst>
          </p:cNvPr>
          <p:cNvSpPr>
            <a:spLocks/>
          </p:cNvSpPr>
          <p:nvPr/>
        </p:nvSpPr>
        <p:spPr bwMode="auto">
          <a:xfrm>
            <a:off x="5961063" y="5770563"/>
            <a:ext cx="188913" cy="376238"/>
          </a:xfrm>
          <a:custGeom>
            <a:avLst/>
            <a:gdLst>
              <a:gd name="T0" fmla="*/ 0 w 119"/>
              <a:gd name="T1" fmla="*/ 0 h 237"/>
              <a:gd name="T2" fmla="*/ 119 w 119"/>
              <a:gd name="T3" fmla="*/ 0 h 237"/>
              <a:gd name="T4" fmla="*/ 119 w 119"/>
              <a:gd name="T5" fmla="*/ 237 h 237"/>
              <a:gd name="T6" fmla="*/ 0 w 119"/>
              <a:gd name="T7" fmla="*/ 237 h 2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119" h="237">
                <a:moveTo>
                  <a:pt x="0" y="0"/>
                </a:moveTo>
                <a:lnTo>
                  <a:pt x="119" y="0"/>
                </a:lnTo>
                <a:lnTo>
                  <a:pt x="119" y="237"/>
                </a:lnTo>
                <a:lnTo>
                  <a:pt x="0" y="237"/>
                </a:lnTo>
              </a:path>
            </a:pathLst>
          </a:custGeom>
          <a:noFill/>
          <a:ln w="20638" cap="rnd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16" name="Line 13">
            <a:extLst>
              <a:ext uri="{FF2B5EF4-FFF2-40B4-BE49-F238E27FC236}">
                <a16:creationId xmlns:a16="http://schemas.microsoft.com/office/drawing/2014/main" id="{9A80091A-26B7-497F-B3AA-0AB3073F3062}"/>
              </a:ext>
            </a:extLst>
          </p:cNvPr>
          <p:cNvSpPr>
            <a:spLocks noChangeShapeType="1"/>
          </p:cNvSpPr>
          <p:nvPr/>
        </p:nvSpPr>
        <p:spPr bwMode="auto">
          <a:xfrm>
            <a:off x="5616575" y="5959475"/>
            <a:ext cx="149225" cy="0"/>
          </a:xfrm>
          <a:prstGeom prst="line">
            <a:avLst/>
          </a:prstGeom>
          <a:noFill/>
          <a:ln w="20638" cap="flat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17" name="Freeform 14">
            <a:extLst>
              <a:ext uri="{FF2B5EF4-FFF2-40B4-BE49-F238E27FC236}">
                <a16:creationId xmlns:a16="http://schemas.microsoft.com/office/drawing/2014/main" id="{A0BA770D-8E80-46F0-B46D-39EF7E328891}"/>
              </a:ext>
            </a:extLst>
          </p:cNvPr>
          <p:cNvSpPr>
            <a:spLocks/>
          </p:cNvSpPr>
          <p:nvPr/>
        </p:nvSpPr>
        <p:spPr bwMode="auto">
          <a:xfrm>
            <a:off x="5702300" y="5834063"/>
            <a:ext cx="61913" cy="123825"/>
          </a:xfrm>
          <a:custGeom>
            <a:avLst/>
            <a:gdLst>
              <a:gd name="T0" fmla="*/ 0 w 39"/>
              <a:gd name="T1" fmla="*/ 78 h 78"/>
              <a:gd name="T2" fmla="*/ 0 w 39"/>
              <a:gd name="T3" fmla="*/ 0 h 78"/>
              <a:gd name="T4" fmla="*/ 39 w 39"/>
              <a:gd name="T5" fmla="*/ 0 h 7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39" h="78">
                <a:moveTo>
                  <a:pt x="0" y="78"/>
                </a:moveTo>
                <a:lnTo>
                  <a:pt x="0" y="0"/>
                </a:lnTo>
                <a:lnTo>
                  <a:pt x="39" y="0"/>
                </a:lnTo>
              </a:path>
            </a:pathLst>
          </a:custGeom>
          <a:noFill/>
          <a:ln w="20638" cap="rnd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18" name="Line 15">
            <a:extLst>
              <a:ext uri="{FF2B5EF4-FFF2-40B4-BE49-F238E27FC236}">
                <a16:creationId xmlns:a16="http://schemas.microsoft.com/office/drawing/2014/main" id="{139917E7-1AA3-4752-B378-94292EB782EA}"/>
              </a:ext>
            </a:extLst>
          </p:cNvPr>
          <p:cNvSpPr>
            <a:spLocks noChangeShapeType="1"/>
          </p:cNvSpPr>
          <p:nvPr/>
        </p:nvSpPr>
        <p:spPr bwMode="auto">
          <a:xfrm>
            <a:off x="6157913" y="5834063"/>
            <a:ext cx="204788" cy="0"/>
          </a:xfrm>
          <a:prstGeom prst="line">
            <a:avLst/>
          </a:prstGeom>
          <a:noFill/>
          <a:ln w="20638" cap="flat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19" name="Rectangle 16">
            <a:extLst>
              <a:ext uri="{FF2B5EF4-FFF2-40B4-BE49-F238E27FC236}">
                <a16:creationId xmlns:a16="http://schemas.microsoft.com/office/drawing/2014/main" id="{AB401761-661B-4919-ADBA-DA5A4FBC807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83400" y="5826125"/>
            <a:ext cx="260350" cy="200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zh-CN" altLang="zh-CN" sz="1300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rPr>
              <a:t>DM</a:t>
            </a:r>
            <a:endParaRPr kumimoji="0" lang="zh-CN" altLang="zh-CN" sz="180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  <a:ea typeface="SimHei" panose="02010609060101010101" pitchFamily="49" charset="-122"/>
            </a:endParaRPr>
          </a:p>
        </p:txBody>
      </p:sp>
      <p:sp>
        <p:nvSpPr>
          <p:cNvPr id="20" name="Freeform 17">
            <a:extLst>
              <a:ext uri="{FF2B5EF4-FFF2-40B4-BE49-F238E27FC236}">
                <a16:creationId xmlns:a16="http://schemas.microsoft.com/office/drawing/2014/main" id="{19544EFD-49C7-4033-833C-C4B0D2AF4311}"/>
              </a:ext>
            </a:extLst>
          </p:cNvPr>
          <p:cNvSpPr>
            <a:spLocks/>
          </p:cNvSpPr>
          <p:nvPr/>
        </p:nvSpPr>
        <p:spPr bwMode="auto">
          <a:xfrm>
            <a:off x="6873875" y="5770563"/>
            <a:ext cx="211138" cy="376238"/>
          </a:xfrm>
          <a:custGeom>
            <a:avLst/>
            <a:gdLst>
              <a:gd name="T0" fmla="*/ 133 w 133"/>
              <a:gd name="T1" fmla="*/ 0 h 237"/>
              <a:gd name="T2" fmla="*/ 0 w 133"/>
              <a:gd name="T3" fmla="*/ 0 h 237"/>
              <a:gd name="T4" fmla="*/ 0 w 133"/>
              <a:gd name="T5" fmla="*/ 237 h 237"/>
              <a:gd name="T6" fmla="*/ 133 w 133"/>
              <a:gd name="T7" fmla="*/ 237 h 2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133" h="237">
                <a:moveTo>
                  <a:pt x="133" y="0"/>
                </a:moveTo>
                <a:lnTo>
                  <a:pt x="0" y="0"/>
                </a:lnTo>
                <a:lnTo>
                  <a:pt x="0" y="237"/>
                </a:lnTo>
                <a:lnTo>
                  <a:pt x="133" y="237"/>
                </a:lnTo>
              </a:path>
            </a:pathLst>
          </a:custGeom>
          <a:noFill/>
          <a:ln w="20638" cap="rnd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21" name="Freeform 18">
            <a:extLst>
              <a:ext uri="{FF2B5EF4-FFF2-40B4-BE49-F238E27FC236}">
                <a16:creationId xmlns:a16="http://schemas.microsoft.com/office/drawing/2014/main" id="{E6B49CFB-6542-4592-92AB-BAF029BFAA81}"/>
              </a:ext>
            </a:extLst>
          </p:cNvPr>
          <p:cNvSpPr>
            <a:spLocks/>
          </p:cNvSpPr>
          <p:nvPr/>
        </p:nvSpPr>
        <p:spPr bwMode="auto">
          <a:xfrm>
            <a:off x="7085013" y="5770563"/>
            <a:ext cx="219075" cy="376238"/>
          </a:xfrm>
          <a:custGeom>
            <a:avLst/>
            <a:gdLst>
              <a:gd name="T0" fmla="*/ 0 w 138"/>
              <a:gd name="T1" fmla="*/ 0 h 237"/>
              <a:gd name="T2" fmla="*/ 138 w 138"/>
              <a:gd name="T3" fmla="*/ 0 h 237"/>
              <a:gd name="T4" fmla="*/ 138 w 138"/>
              <a:gd name="T5" fmla="*/ 237 h 237"/>
              <a:gd name="T6" fmla="*/ 0 w 138"/>
              <a:gd name="T7" fmla="*/ 237 h 2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138" h="237">
                <a:moveTo>
                  <a:pt x="0" y="0"/>
                </a:moveTo>
                <a:lnTo>
                  <a:pt x="138" y="0"/>
                </a:lnTo>
                <a:lnTo>
                  <a:pt x="138" y="237"/>
                </a:lnTo>
                <a:lnTo>
                  <a:pt x="0" y="237"/>
                </a:lnTo>
              </a:path>
            </a:pathLst>
          </a:custGeom>
          <a:noFill/>
          <a:ln w="20638" cap="rnd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22" name="Rectangle 19">
            <a:extLst>
              <a:ext uri="{FF2B5EF4-FFF2-40B4-BE49-F238E27FC236}">
                <a16:creationId xmlns:a16="http://schemas.microsoft.com/office/drawing/2014/main" id="{8B4F80E0-2321-4893-A20B-3EF9274AD7D9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27925" y="5826125"/>
            <a:ext cx="306388" cy="200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zh-CN" altLang="zh-CN" sz="1300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rPr>
              <a:t>Reg</a:t>
            </a:r>
            <a:endParaRPr kumimoji="0" lang="zh-CN" altLang="zh-CN" sz="180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  <a:ea typeface="SimHei" panose="02010609060101010101" pitchFamily="49" charset="-122"/>
            </a:endParaRPr>
          </a:p>
        </p:txBody>
      </p:sp>
      <p:sp>
        <p:nvSpPr>
          <p:cNvPr id="23" name="Freeform 20">
            <a:extLst>
              <a:ext uri="{FF2B5EF4-FFF2-40B4-BE49-F238E27FC236}">
                <a16:creationId xmlns:a16="http://schemas.microsoft.com/office/drawing/2014/main" id="{E16AD0AE-CA31-4198-82FD-23D40FE1C60A}"/>
              </a:ext>
            </a:extLst>
          </p:cNvPr>
          <p:cNvSpPr>
            <a:spLocks/>
          </p:cNvSpPr>
          <p:nvPr/>
        </p:nvSpPr>
        <p:spPr bwMode="auto">
          <a:xfrm>
            <a:off x="7486650" y="5770563"/>
            <a:ext cx="187325" cy="376238"/>
          </a:xfrm>
          <a:custGeom>
            <a:avLst/>
            <a:gdLst>
              <a:gd name="T0" fmla="*/ 118 w 118"/>
              <a:gd name="T1" fmla="*/ 0 h 237"/>
              <a:gd name="T2" fmla="*/ 0 w 118"/>
              <a:gd name="T3" fmla="*/ 0 h 237"/>
              <a:gd name="T4" fmla="*/ 0 w 118"/>
              <a:gd name="T5" fmla="*/ 237 h 237"/>
              <a:gd name="T6" fmla="*/ 118 w 118"/>
              <a:gd name="T7" fmla="*/ 237 h 2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118" h="237">
                <a:moveTo>
                  <a:pt x="118" y="0"/>
                </a:moveTo>
                <a:lnTo>
                  <a:pt x="0" y="0"/>
                </a:lnTo>
                <a:lnTo>
                  <a:pt x="0" y="237"/>
                </a:lnTo>
                <a:lnTo>
                  <a:pt x="118" y="237"/>
                </a:lnTo>
              </a:path>
            </a:pathLst>
          </a:custGeom>
          <a:noFill/>
          <a:ln w="20638" cap="rnd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24" name="Freeform 21">
            <a:extLst>
              <a:ext uri="{FF2B5EF4-FFF2-40B4-BE49-F238E27FC236}">
                <a16:creationId xmlns:a16="http://schemas.microsoft.com/office/drawing/2014/main" id="{E8BD0216-A47C-4DD3-A11D-8175038A155E}"/>
              </a:ext>
            </a:extLst>
          </p:cNvPr>
          <p:cNvSpPr>
            <a:spLocks/>
          </p:cNvSpPr>
          <p:nvPr/>
        </p:nvSpPr>
        <p:spPr bwMode="auto">
          <a:xfrm>
            <a:off x="7675563" y="5770563"/>
            <a:ext cx="187325" cy="376238"/>
          </a:xfrm>
          <a:custGeom>
            <a:avLst/>
            <a:gdLst>
              <a:gd name="T0" fmla="*/ 0 w 118"/>
              <a:gd name="T1" fmla="*/ 0 h 237"/>
              <a:gd name="T2" fmla="*/ 118 w 118"/>
              <a:gd name="T3" fmla="*/ 0 h 237"/>
              <a:gd name="T4" fmla="*/ 118 w 118"/>
              <a:gd name="T5" fmla="*/ 237 h 237"/>
              <a:gd name="T6" fmla="*/ 0 w 118"/>
              <a:gd name="T7" fmla="*/ 237 h 2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118" h="237">
                <a:moveTo>
                  <a:pt x="0" y="0"/>
                </a:moveTo>
                <a:lnTo>
                  <a:pt x="118" y="0"/>
                </a:lnTo>
                <a:lnTo>
                  <a:pt x="118" y="237"/>
                </a:lnTo>
                <a:lnTo>
                  <a:pt x="0" y="237"/>
                </a:lnTo>
              </a:path>
            </a:pathLst>
          </a:custGeom>
          <a:noFill/>
          <a:ln w="20638" cap="rnd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25" name="Line 22">
            <a:extLst>
              <a:ext uri="{FF2B5EF4-FFF2-40B4-BE49-F238E27FC236}">
                <a16:creationId xmlns:a16="http://schemas.microsoft.com/office/drawing/2014/main" id="{DA336C38-DF23-4A85-8228-620013B8B17E}"/>
              </a:ext>
            </a:extLst>
          </p:cNvPr>
          <p:cNvSpPr>
            <a:spLocks noChangeShapeType="1"/>
          </p:cNvSpPr>
          <p:nvPr/>
        </p:nvSpPr>
        <p:spPr bwMode="auto">
          <a:xfrm>
            <a:off x="7297738" y="5959475"/>
            <a:ext cx="180975" cy="0"/>
          </a:xfrm>
          <a:prstGeom prst="line">
            <a:avLst/>
          </a:prstGeom>
          <a:noFill/>
          <a:ln w="20638" cap="flat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26" name="Line 23">
            <a:extLst>
              <a:ext uri="{FF2B5EF4-FFF2-40B4-BE49-F238E27FC236}">
                <a16:creationId xmlns:a16="http://schemas.microsoft.com/office/drawing/2014/main" id="{1477912E-9283-4CDF-BD30-D58754E4422E}"/>
              </a:ext>
            </a:extLst>
          </p:cNvPr>
          <p:cNvSpPr>
            <a:spLocks noChangeShapeType="1"/>
          </p:cNvSpPr>
          <p:nvPr/>
        </p:nvSpPr>
        <p:spPr bwMode="auto">
          <a:xfrm>
            <a:off x="6661150" y="5959475"/>
            <a:ext cx="204788" cy="0"/>
          </a:xfrm>
          <a:prstGeom prst="line">
            <a:avLst/>
          </a:prstGeom>
          <a:noFill/>
          <a:ln w="20638" cap="flat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27" name="Line 24">
            <a:extLst>
              <a:ext uri="{FF2B5EF4-FFF2-40B4-BE49-F238E27FC236}">
                <a16:creationId xmlns:a16="http://schemas.microsoft.com/office/drawing/2014/main" id="{56F8D23D-018C-45C4-A57F-CB93E927BFD9}"/>
              </a:ext>
            </a:extLst>
          </p:cNvPr>
          <p:cNvSpPr>
            <a:spLocks noChangeShapeType="1"/>
          </p:cNvSpPr>
          <p:nvPr/>
        </p:nvSpPr>
        <p:spPr bwMode="auto">
          <a:xfrm>
            <a:off x="6157913" y="6084888"/>
            <a:ext cx="204788" cy="0"/>
          </a:xfrm>
          <a:prstGeom prst="line">
            <a:avLst/>
          </a:prstGeom>
          <a:noFill/>
          <a:ln w="20638" cap="flat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28" name="Line 25">
            <a:extLst>
              <a:ext uri="{FF2B5EF4-FFF2-40B4-BE49-F238E27FC236}">
                <a16:creationId xmlns:a16="http://schemas.microsoft.com/office/drawing/2014/main" id="{195035AD-36E5-4EEE-8083-EF1F6B5C1AA7}"/>
              </a:ext>
            </a:extLst>
          </p:cNvPr>
          <p:cNvSpPr>
            <a:spLocks noChangeShapeType="1"/>
          </p:cNvSpPr>
          <p:nvPr/>
        </p:nvSpPr>
        <p:spPr bwMode="auto">
          <a:xfrm>
            <a:off x="6269038" y="6084888"/>
            <a:ext cx="0" cy="252413"/>
          </a:xfrm>
          <a:prstGeom prst="line">
            <a:avLst/>
          </a:prstGeom>
          <a:noFill/>
          <a:ln w="23813" cap="flat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29" name="Line 26">
            <a:extLst>
              <a:ext uri="{FF2B5EF4-FFF2-40B4-BE49-F238E27FC236}">
                <a16:creationId xmlns:a16="http://schemas.microsoft.com/office/drawing/2014/main" id="{9B9E5771-D2BB-4695-B2C0-C45A7B567B34}"/>
              </a:ext>
            </a:extLst>
          </p:cNvPr>
          <p:cNvSpPr>
            <a:spLocks noChangeShapeType="1"/>
          </p:cNvSpPr>
          <p:nvPr/>
        </p:nvSpPr>
        <p:spPr bwMode="auto">
          <a:xfrm>
            <a:off x="6269038" y="6337300"/>
            <a:ext cx="439738" cy="0"/>
          </a:xfrm>
          <a:prstGeom prst="line">
            <a:avLst/>
          </a:prstGeom>
          <a:noFill/>
          <a:ln w="23813" cap="flat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30" name="Line 27">
            <a:extLst>
              <a:ext uri="{FF2B5EF4-FFF2-40B4-BE49-F238E27FC236}">
                <a16:creationId xmlns:a16="http://schemas.microsoft.com/office/drawing/2014/main" id="{5C78BDE9-DF8B-4174-A953-024E60C3E549}"/>
              </a:ext>
            </a:extLst>
          </p:cNvPr>
          <p:cNvSpPr>
            <a:spLocks noChangeShapeType="1"/>
          </p:cNvSpPr>
          <p:nvPr/>
        </p:nvSpPr>
        <p:spPr bwMode="auto">
          <a:xfrm>
            <a:off x="6708775" y="5959475"/>
            <a:ext cx="0" cy="377825"/>
          </a:xfrm>
          <a:prstGeom prst="line">
            <a:avLst/>
          </a:prstGeom>
          <a:noFill/>
          <a:ln w="23813" cap="flat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31" name="Line 28">
            <a:extLst>
              <a:ext uri="{FF2B5EF4-FFF2-40B4-BE49-F238E27FC236}">
                <a16:creationId xmlns:a16="http://schemas.microsoft.com/office/drawing/2014/main" id="{CDD94466-2FF9-4A2A-9591-B72C7695F0C1}"/>
              </a:ext>
            </a:extLst>
          </p:cNvPr>
          <p:cNvSpPr>
            <a:spLocks noChangeShapeType="1"/>
          </p:cNvSpPr>
          <p:nvPr/>
        </p:nvSpPr>
        <p:spPr bwMode="auto">
          <a:xfrm>
            <a:off x="6810375" y="5959475"/>
            <a:ext cx="0" cy="314325"/>
          </a:xfrm>
          <a:prstGeom prst="line">
            <a:avLst/>
          </a:prstGeom>
          <a:noFill/>
          <a:ln w="23813" cap="flat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32" name="Line 29">
            <a:extLst>
              <a:ext uri="{FF2B5EF4-FFF2-40B4-BE49-F238E27FC236}">
                <a16:creationId xmlns:a16="http://schemas.microsoft.com/office/drawing/2014/main" id="{13FB66A2-DC95-467F-A911-ABB6406795A1}"/>
              </a:ext>
            </a:extLst>
          </p:cNvPr>
          <p:cNvSpPr>
            <a:spLocks noChangeShapeType="1"/>
          </p:cNvSpPr>
          <p:nvPr/>
        </p:nvSpPr>
        <p:spPr bwMode="auto">
          <a:xfrm>
            <a:off x="6810375" y="6273800"/>
            <a:ext cx="565150" cy="0"/>
          </a:xfrm>
          <a:prstGeom prst="line">
            <a:avLst/>
          </a:prstGeom>
          <a:noFill/>
          <a:ln w="23813" cap="flat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33" name="Line 30">
            <a:extLst>
              <a:ext uri="{FF2B5EF4-FFF2-40B4-BE49-F238E27FC236}">
                <a16:creationId xmlns:a16="http://schemas.microsoft.com/office/drawing/2014/main" id="{112B3404-14DC-4096-9F7D-FE6985DA2D11}"/>
              </a:ext>
            </a:extLst>
          </p:cNvPr>
          <p:cNvSpPr>
            <a:spLocks noChangeShapeType="1"/>
          </p:cNvSpPr>
          <p:nvPr/>
        </p:nvSpPr>
        <p:spPr bwMode="auto">
          <a:xfrm>
            <a:off x="7375525" y="5959475"/>
            <a:ext cx="0" cy="314325"/>
          </a:xfrm>
          <a:prstGeom prst="line">
            <a:avLst/>
          </a:prstGeom>
          <a:noFill/>
          <a:ln w="23813" cap="flat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34" name="Freeform 31">
            <a:extLst>
              <a:ext uri="{FF2B5EF4-FFF2-40B4-BE49-F238E27FC236}">
                <a16:creationId xmlns:a16="http://schemas.microsoft.com/office/drawing/2014/main" id="{06CFA3A1-A9A9-4BB6-8DA7-4B630D7F8876}"/>
              </a:ext>
            </a:extLst>
          </p:cNvPr>
          <p:cNvSpPr>
            <a:spLocks/>
          </p:cNvSpPr>
          <p:nvPr/>
        </p:nvSpPr>
        <p:spPr bwMode="auto">
          <a:xfrm>
            <a:off x="5803900" y="4953000"/>
            <a:ext cx="282575" cy="628650"/>
          </a:xfrm>
          <a:custGeom>
            <a:avLst/>
            <a:gdLst>
              <a:gd name="T0" fmla="*/ 0 w 178"/>
              <a:gd name="T1" fmla="*/ 264 h 396"/>
              <a:gd name="T2" fmla="*/ 60 w 178"/>
              <a:gd name="T3" fmla="*/ 198 h 396"/>
              <a:gd name="T4" fmla="*/ 0 w 178"/>
              <a:gd name="T5" fmla="*/ 132 h 396"/>
              <a:gd name="T6" fmla="*/ 0 w 178"/>
              <a:gd name="T7" fmla="*/ 0 h 396"/>
              <a:gd name="T8" fmla="*/ 178 w 178"/>
              <a:gd name="T9" fmla="*/ 132 h 396"/>
              <a:gd name="T10" fmla="*/ 178 w 178"/>
              <a:gd name="T11" fmla="*/ 264 h 396"/>
              <a:gd name="T12" fmla="*/ 0 w 178"/>
              <a:gd name="T13" fmla="*/ 396 h 396"/>
              <a:gd name="T14" fmla="*/ 0 w 178"/>
              <a:gd name="T15" fmla="*/ 264 h 39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178" h="396">
                <a:moveTo>
                  <a:pt x="0" y="264"/>
                </a:moveTo>
                <a:lnTo>
                  <a:pt x="60" y="198"/>
                </a:lnTo>
                <a:lnTo>
                  <a:pt x="0" y="132"/>
                </a:lnTo>
                <a:lnTo>
                  <a:pt x="0" y="0"/>
                </a:lnTo>
                <a:lnTo>
                  <a:pt x="178" y="132"/>
                </a:lnTo>
                <a:lnTo>
                  <a:pt x="178" y="264"/>
                </a:lnTo>
                <a:lnTo>
                  <a:pt x="0" y="396"/>
                </a:lnTo>
                <a:lnTo>
                  <a:pt x="0" y="264"/>
                </a:lnTo>
              </a:path>
            </a:pathLst>
          </a:custGeom>
          <a:noFill/>
          <a:ln w="20638" cap="rnd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35" name="Rectangle 32">
            <a:extLst>
              <a:ext uri="{FF2B5EF4-FFF2-40B4-BE49-F238E27FC236}">
                <a16:creationId xmlns:a16="http://schemas.microsoft.com/office/drawing/2014/main" id="{4B7F1C09-B5C6-478A-8F2B-2C7665C65F03}"/>
              </a:ext>
            </a:extLst>
          </p:cNvPr>
          <p:cNvSpPr>
            <a:spLocks noChangeArrowheads="1"/>
          </p:cNvSpPr>
          <p:nvPr/>
        </p:nvSpPr>
        <p:spPr bwMode="auto">
          <a:xfrm rot="5400000">
            <a:off x="5632450" y="5162550"/>
            <a:ext cx="661988" cy="215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zh-CN" altLang="zh-CN" sz="1400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rPr>
              <a:t>ALU</a:t>
            </a:r>
            <a:endParaRPr kumimoji="0" lang="zh-CN" altLang="zh-CN" sz="140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  <a:ea typeface="SimHei" panose="02010609060101010101" pitchFamily="49" charset="-122"/>
            </a:endParaRPr>
          </a:p>
        </p:txBody>
      </p:sp>
      <p:sp>
        <p:nvSpPr>
          <p:cNvPr id="36" name="Rectangle 33">
            <a:extLst>
              <a:ext uri="{FF2B5EF4-FFF2-40B4-BE49-F238E27FC236}">
                <a16:creationId xmlns:a16="http://schemas.microsoft.com/office/drawing/2014/main" id="{5FCEE96B-92D1-4A9D-8386-16185D3B3116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65663" y="5133975"/>
            <a:ext cx="185738" cy="200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zh-CN" altLang="zh-CN" sz="1300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rPr>
              <a:t>IM</a:t>
            </a:r>
            <a:endParaRPr kumimoji="0" lang="zh-CN" altLang="zh-CN" sz="180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  <a:ea typeface="SimHei" panose="02010609060101010101" pitchFamily="49" charset="-122"/>
            </a:endParaRPr>
          </a:p>
        </p:txBody>
      </p:sp>
      <p:sp>
        <p:nvSpPr>
          <p:cNvPr id="37" name="Freeform 34">
            <a:extLst>
              <a:ext uri="{FF2B5EF4-FFF2-40B4-BE49-F238E27FC236}">
                <a16:creationId xmlns:a16="http://schemas.microsoft.com/office/drawing/2014/main" id="{098D298C-5D52-4310-8FE5-ED97309EC9CD}"/>
              </a:ext>
            </a:extLst>
          </p:cNvPr>
          <p:cNvSpPr>
            <a:spLocks/>
          </p:cNvSpPr>
          <p:nvPr/>
        </p:nvSpPr>
        <p:spPr bwMode="auto">
          <a:xfrm>
            <a:off x="4594225" y="5078413"/>
            <a:ext cx="219075" cy="376238"/>
          </a:xfrm>
          <a:custGeom>
            <a:avLst/>
            <a:gdLst>
              <a:gd name="T0" fmla="*/ 138 w 138"/>
              <a:gd name="T1" fmla="*/ 0 h 237"/>
              <a:gd name="T2" fmla="*/ 0 w 138"/>
              <a:gd name="T3" fmla="*/ 0 h 237"/>
              <a:gd name="T4" fmla="*/ 0 w 138"/>
              <a:gd name="T5" fmla="*/ 237 h 237"/>
              <a:gd name="T6" fmla="*/ 138 w 138"/>
              <a:gd name="T7" fmla="*/ 237 h 2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138" h="237">
                <a:moveTo>
                  <a:pt x="138" y="0"/>
                </a:moveTo>
                <a:lnTo>
                  <a:pt x="0" y="0"/>
                </a:lnTo>
                <a:lnTo>
                  <a:pt x="0" y="237"/>
                </a:lnTo>
                <a:lnTo>
                  <a:pt x="138" y="237"/>
                </a:lnTo>
              </a:path>
            </a:pathLst>
          </a:custGeom>
          <a:noFill/>
          <a:ln w="20638" cap="rnd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38" name="Freeform 35">
            <a:extLst>
              <a:ext uri="{FF2B5EF4-FFF2-40B4-BE49-F238E27FC236}">
                <a16:creationId xmlns:a16="http://schemas.microsoft.com/office/drawing/2014/main" id="{32BD8AAF-CD55-4719-9725-9828EDFAF3EA}"/>
              </a:ext>
            </a:extLst>
          </p:cNvPr>
          <p:cNvSpPr>
            <a:spLocks/>
          </p:cNvSpPr>
          <p:nvPr/>
        </p:nvSpPr>
        <p:spPr bwMode="auto">
          <a:xfrm>
            <a:off x="4814888" y="5078413"/>
            <a:ext cx="227013" cy="376238"/>
          </a:xfrm>
          <a:custGeom>
            <a:avLst/>
            <a:gdLst>
              <a:gd name="T0" fmla="*/ 0 w 143"/>
              <a:gd name="T1" fmla="*/ 0 h 237"/>
              <a:gd name="T2" fmla="*/ 143 w 143"/>
              <a:gd name="T3" fmla="*/ 0 h 237"/>
              <a:gd name="T4" fmla="*/ 143 w 143"/>
              <a:gd name="T5" fmla="*/ 237 h 237"/>
              <a:gd name="T6" fmla="*/ 0 w 143"/>
              <a:gd name="T7" fmla="*/ 237 h 2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143" h="237">
                <a:moveTo>
                  <a:pt x="0" y="0"/>
                </a:moveTo>
                <a:lnTo>
                  <a:pt x="143" y="0"/>
                </a:lnTo>
                <a:lnTo>
                  <a:pt x="143" y="237"/>
                </a:lnTo>
                <a:lnTo>
                  <a:pt x="0" y="237"/>
                </a:lnTo>
              </a:path>
            </a:pathLst>
          </a:custGeom>
          <a:noFill/>
          <a:ln w="20638" cap="rnd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39" name="Rectangle 36">
            <a:extLst>
              <a:ext uri="{FF2B5EF4-FFF2-40B4-BE49-F238E27FC236}">
                <a16:creationId xmlns:a16="http://schemas.microsoft.com/office/drawing/2014/main" id="{5D1B2F3D-8CE1-4695-B26B-B45670B63F4A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46688" y="5140325"/>
            <a:ext cx="306388" cy="200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zh-CN" altLang="zh-CN" sz="1300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rPr>
              <a:t>Reg</a:t>
            </a:r>
            <a:endParaRPr kumimoji="0" lang="zh-CN" altLang="zh-CN" sz="180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  <a:ea typeface="SimHei" panose="02010609060101010101" pitchFamily="49" charset="-122"/>
            </a:endParaRPr>
          </a:p>
        </p:txBody>
      </p:sp>
      <p:sp>
        <p:nvSpPr>
          <p:cNvPr id="40" name="Freeform 37">
            <a:extLst>
              <a:ext uri="{FF2B5EF4-FFF2-40B4-BE49-F238E27FC236}">
                <a16:creationId xmlns:a16="http://schemas.microsoft.com/office/drawing/2014/main" id="{EAD42283-293D-4B2A-A75F-E79570D6A55C}"/>
              </a:ext>
            </a:extLst>
          </p:cNvPr>
          <p:cNvSpPr>
            <a:spLocks/>
          </p:cNvSpPr>
          <p:nvPr/>
        </p:nvSpPr>
        <p:spPr bwMode="auto">
          <a:xfrm>
            <a:off x="5199063" y="5078413"/>
            <a:ext cx="195263" cy="376238"/>
          </a:xfrm>
          <a:custGeom>
            <a:avLst/>
            <a:gdLst>
              <a:gd name="T0" fmla="*/ 123 w 123"/>
              <a:gd name="T1" fmla="*/ 0 h 237"/>
              <a:gd name="T2" fmla="*/ 0 w 123"/>
              <a:gd name="T3" fmla="*/ 0 h 237"/>
              <a:gd name="T4" fmla="*/ 0 w 123"/>
              <a:gd name="T5" fmla="*/ 237 h 237"/>
              <a:gd name="T6" fmla="*/ 123 w 123"/>
              <a:gd name="T7" fmla="*/ 237 h 2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123" h="237">
                <a:moveTo>
                  <a:pt x="123" y="0"/>
                </a:moveTo>
                <a:lnTo>
                  <a:pt x="0" y="0"/>
                </a:lnTo>
                <a:lnTo>
                  <a:pt x="0" y="237"/>
                </a:lnTo>
                <a:lnTo>
                  <a:pt x="123" y="237"/>
                </a:lnTo>
              </a:path>
            </a:pathLst>
          </a:custGeom>
          <a:noFill/>
          <a:ln w="20638" cap="rnd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41" name="Freeform 38">
            <a:extLst>
              <a:ext uri="{FF2B5EF4-FFF2-40B4-BE49-F238E27FC236}">
                <a16:creationId xmlns:a16="http://schemas.microsoft.com/office/drawing/2014/main" id="{6D5F8325-63F4-482E-806F-A80509E34229}"/>
              </a:ext>
            </a:extLst>
          </p:cNvPr>
          <p:cNvSpPr>
            <a:spLocks/>
          </p:cNvSpPr>
          <p:nvPr/>
        </p:nvSpPr>
        <p:spPr bwMode="auto">
          <a:xfrm>
            <a:off x="5387975" y="5078413"/>
            <a:ext cx="195263" cy="376238"/>
          </a:xfrm>
          <a:custGeom>
            <a:avLst/>
            <a:gdLst>
              <a:gd name="T0" fmla="*/ 0 w 123"/>
              <a:gd name="T1" fmla="*/ 0 h 237"/>
              <a:gd name="T2" fmla="*/ 123 w 123"/>
              <a:gd name="T3" fmla="*/ 0 h 237"/>
              <a:gd name="T4" fmla="*/ 123 w 123"/>
              <a:gd name="T5" fmla="*/ 237 h 237"/>
              <a:gd name="T6" fmla="*/ 0 w 123"/>
              <a:gd name="T7" fmla="*/ 237 h 2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123" h="237">
                <a:moveTo>
                  <a:pt x="0" y="0"/>
                </a:moveTo>
                <a:lnTo>
                  <a:pt x="123" y="0"/>
                </a:lnTo>
                <a:lnTo>
                  <a:pt x="123" y="237"/>
                </a:lnTo>
                <a:lnTo>
                  <a:pt x="0" y="237"/>
                </a:lnTo>
              </a:path>
            </a:pathLst>
          </a:custGeom>
          <a:noFill/>
          <a:ln w="20638" cap="rnd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42" name="Line 39">
            <a:extLst>
              <a:ext uri="{FF2B5EF4-FFF2-40B4-BE49-F238E27FC236}">
                <a16:creationId xmlns:a16="http://schemas.microsoft.com/office/drawing/2014/main" id="{D47FAE60-DAFA-47BC-970F-01EBA6F50B2E}"/>
              </a:ext>
            </a:extLst>
          </p:cNvPr>
          <p:cNvSpPr>
            <a:spLocks noChangeShapeType="1"/>
          </p:cNvSpPr>
          <p:nvPr/>
        </p:nvSpPr>
        <p:spPr bwMode="auto">
          <a:xfrm>
            <a:off x="5049838" y="5267325"/>
            <a:ext cx="149225" cy="0"/>
          </a:xfrm>
          <a:prstGeom prst="line">
            <a:avLst/>
          </a:prstGeom>
          <a:noFill/>
          <a:ln w="20638" cap="flat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43" name="Freeform 40">
            <a:extLst>
              <a:ext uri="{FF2B5EF4-FFF2-40B4-BE49-F238E27FC236}">
                <a16:creationId xmlns:a16="http://schemas.microsoft.com/office/drawing/2014/main" id="{C61D2B02-12F8-458F-95BE-45C7C9FA8335}"/>
              </a:ext>
            </a:extLst>
          </p:cNvPr>
          <p:cNvSpPr>
            <a:spLocks/>
          </p:cNvSpPr>
          <p:nvPr/>
        </p:nvSpPr>
        <p:spPr bwMode="auto">
          <a:xfrm>
            <a:off x="5137150" y="5141913"/>
            <a:ext cx="61913" cy="123825"/>
          </a:xfrm>
          <a:custGeom>
            <a:avLst/>
            <a:gdLst>
              <a:gd name="T0" fmla="*/ 0 w 39"/>
              <a:gd name="T1" fmla="*/ 78 h 78"/>
              <a:gd name="T2" fmla="*/ 0 w 39"/>
              <a:gd name="T3" fmla="*/ 0 h 78"/>
              <a:gd name="T4" fmla="*/ 39 w 39"/>
              <a:gd name="T5" fmla="*/ 0 h 7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39" h="78">
                <a:moveTo>
                  <a:pt x="0" y="78"/>
                </a:moveTo>
                <a:lnTo>
                  <a:pt x="0" y="0"/>
                </a:lnTo>
                <a:lnTo>
                  <a:pt x="39" y="0"/>
                </a:lnTo>
              </a:path>
            </a:pathLst>
          </a:custGeom>
          <a:noFill/>
          <a:ln w="20638" cap="rnd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44" name="Line 41">
            <a:extLst>
              <a:ext uri="{FF2B5EF4-FFF2-40B4-BE49-F238E27FC236}">
                <a16:creationId xmlns:a16="http://schemas.microsoft.com/office/drawing/2014/main" id="{1820F887-6E5A-47DE-8D2A-24FFE2614F44}"/>
              </a:ext>
            </a:extLst>
          </p:cNvPr>
          <p:cNvSpPr>
            <a:spLocks noChangeShapeType="1"/>
          </p:cNvSpPr>
          <p:nvPr/>
        </p:nvSpPr>
        <p:spPr bwMode="auto">
          <a:xfrm>
            <a:off x="5592763" y="5141913"/>
            <a:ext cx="204788" cy="0"/>
          </a:xfrm>
          <a:prstGeom prst="line">
            <a:avLst/>
          </a:prstGeom>
          <a:noFill/>
          <a:ln w="20638" cap="flat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45" name="Rectangle 42">
            <a:extLst>
              <a:ext uri="{FF2B5EF4-FFF2-40B4-BE49-F238E27FC236}">
                <a16:creationId xmlns:a16="http://schemas.microsoft.com/office/drawing/2014/main" id="{7EDDBB99-EAF4-4FC8-A7E2-2C6E5AEC8AC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18250" y="5133975"/>
            <a:ext cx="260350" cy="200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zh-CN" altLang="zh-CN" sz="1300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rPr>
              <a:t>DM</a:t>
            </a:r>
            <a:endParaRPr kumimoji="0" lang="zh-CN" altLang="zh-CN" sz="180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  <a:ea typeface="SimHei" panose="02010609060101010101" pitchFamily="49" charset="-122"/>
            </a:endParaRPr>
          </a:p>
        </p:txBody>
      </p:sp>
      <p:sp>
        <p:nvSpPr>
          <p:cNvPr id="46" name="Freeform 43">
            <a:extLst>
              <a:ext uri="{FF2B5EF4-FFF2-40B4-BE49-F238E27FC236}">
                <a16:creationId xmlns:a16="http://schemas.microsoft.com/office/drawing/2014/main" id="{85EE87BC-1EFB-4D3F-A7CA-2ECD9D5E7D81}"/>
              </a:ext>
            </a:extLst>
          </p:cNvPr>
          <p:cNvSpPr>
            <a:spLocks/>
          </p:cNvSpPr>
          <p:nvPr/>
        </p:nvSpPr>
        <p:spPr bwMode="auto">
          <a:xfrm>
            <a:off x="6307138" y="5078413"/>
            <a:ext cx="211138" cy="376238"/>
          </a:xfrm>
          <a:custGeom>
            <a:avLst/>
            <a:gdLst>
              <a:gd name="T0" fmla="*/ 133 w 133"/>
              <a:gd name="T1" fmla="*/ 0 h 237"/>
              <a:gd name="T2" fmla="*/ 0 w 133"/>
              <a:gd name="T3" fmla="*/ 0 h 237"/>
              <a:gd name="T4" fmla="*/ 0 w 133"/>
              <a:gd name="T5" fmla="*/ 237 h 237"/>
              <a:gd name="T6" fmla="*/ 133 w 133"/>
              <a:gd name="T7" fmla="*/ 237 h 2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133" h="237">
                <a:moveTo>
                  <a:pt x="133" y="0"/>
                </a:moveTo>
                <a:lnTo>
                  <a:pt x="0" y="0"/>
                </a:lnTo>
                <a:lnTo>
                  <a:pt x="0" y="237"/>
                </a:lnTo>
                <a:lnTo>
                  <a:pt x="133" y="237"/>
                </a:lnTo>
              </a:path>
            </a:pathLst>
          </a:custGeom>
          <a:noFill/>
          <a:ln w="20638" cap="rnd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47" name="Freeform 44">
            <a:extLst>
              <a:ext uri="{FF2B5EF4-FFF2-40B4-BE49-F238E27FC236}">
                <a16:creationId xmlns:a16="http://schemas.microsoft.com/office/drawing/2014/main" id="{7D2610E9-1F90-4346-90D3-7BF275ABB8F1}"/>
              </a:ext>
            </a:extLst>
          </p:cNvPr>
          <p:cNvSpPr>
            <a:spLocks/>
          </p:cNvSpPr>
          <p:nvPr/>
        </p:nvSpPr>
        <p:spPr bwMode="auto">
          <a:xfrm>
            <a:off x="6519863" y="5078413"/>
            <a:ext cx="211138" cy="376238"/>
          </a:xfrm>
          <a:custGeom>
            <a:avLst/>
            <a:gdLst>
              <a:gd name="T0" fmla="*/ 0 w 133"/>
              <a:gd name="T1" fmla="*/ 0 h 237"/>
              <a:gd name="T2" fmla="*/ 133 w 133"/>
              <a:gd name="T3" fmla="*/ 0 h 237"/>
              <a:gd name="T4" fmla="*/ 133 w 133"/>
              <a:gd name="T5" fmla="*/ 237 h 237"/>
              <a:gd name="T6" fmla="*/ 0 w 133"/>
              <a:gd name="T7" fmla="*/ 237 h 2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133" h="237">
                <a:moveTo>
                  <a:pt x="0" y="0"/>
                </a:moveTo>
                <a:lnTo>
                  <a:pt x="133" y="0"/>
                </a:lnTo>
                <a:lnTo>
                  <a:pt x="133" y="237"/>
                </a:lnTo>
                <a:lnTo>
                  <a:pt x="0" y="237"/>
                </a:lnTo>
              </a:path>
            </a:pathLst>
          </a:custGeom>
          <a:noFill/>
          <a:ln w="20638" cap="rnd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48" name="Rectangle 45">
            <a:extLst>
              <a:ext uri="{FF2B5EF4-FFF2-40B4-BE49-F238E27FC236}">
                <a16:creationId xmlns:a16="http://schemas.microsoft.com/office/drawing/2014/main" id="{E73E9F42-610F-4441-AD4A-ABE56C3C0DA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962775" y="5133975"/>
            <a:ext cx="306388" cy="200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zh-CN" altLang="zh-CN" sz="1300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rPr>
              <a:t>Reg</a:t>
            </a:r>
            <a:endParaRPr kumimoji="0" lang="zh-CN" altLang="zh-CN" sz="180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  <a:ea typeface="SimHei" panose="02010609060101010101" pitchFamily="49" charset="-122"/>
            </a:endParaRPr>
          </a:p>
        </p:txBody>
      </p:sp>
      <p:sp>
        <p:nvSpPr>
          <p:cNvPr id="49" name="Freeform 46">
            <a:extLst>
              <a:ext uri="{FF2B5EF4-FFF2-40B4-BE49-F238E27FC236}">
                <a16:creationId xmlns:a16="http://schemas.microsoft.com/office/drawing/2014/main" id="{E9E59F5B-017B-4C2E-92B4-DFD5A82D1E14}"/>
              </a:ext>
            </a:extLst>
          </p:cNvPr>
          <p:cNvSpPr>
            <a:spLocks/>
          </p:cNvSpPr>
          <p:nvPr/>
        </p:nvSpPr>
        <p:spPr bwMode="auto">
          <a:xfrm>
            <a:off x="6919913" y="5078413"/>
            <a:ext cx="188913" cy="376238"/>
          </a:xfrm>
          <a:custGeom>
            <a:avLst/>
            <a:gdLst>
              <a:gd name="T0" fmla="*/ 119 w 119"/>
              <a:gd name="T1" fmla="*/ 0 h 237"/>
              <a:gd name="T2" fmla="*/ 0 w 119"/>
              <a:gd name="T3" fmla="*/ 0 h 237"/>
              <a:gd name="T4" fmla="*/ 0 w 119"/>
              <a:gd name="T5" fmla="*/ 237 h 237"/>
              <a:gd name="T6" fmla="*/ 119 w 119"/>
              <a:gd name="T7" fmla="*/ 237 h 2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119" h="237">
                <a:moveTo>
                  <a:pt x="119" y="0"/>
                </a:moveTo>
                <a:lnTo>
                  <a:pt x="0" y="0"/>
                </a:lnTo>
                <a:lnTo>
                  <a:pt x="0" y="237"/>
                </a:lnTo>
                <a:lnTo>
                  <a:pt x="119" y="237"/>
                </a:lnTo>
              </a:path>
            </a:pathLst>
          </a:custGeom>
          <a:noFill/>
          <a:ln w="20638" cap="rnd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50" name="Freeform 47">
            <a:extLst>
              <a:ext uri="{FF2B5EF4-FFF2-40B4-BE49-F238E27FC236}">
                <a16:creationId xmlns:a16="http://schemas.microsoft.com/office/drawing/2014/main" id="{BEC77AB2-EE1F-4972-A184-A51DE70D34B7}"/>
              </a:ext>
            </a:extLst>
          </p:cNvPr>
          <p:cNvSpPr>
            <a:spLocks/>
          </p:cNvSpPr>
          <p:nvPr/>
        </p:nvSpPr>
        <p:spPr bwMode="auto">
          <a:xfrm>
            <a:off x="7108825" y="5078413"/>
            <a:ext cx="187325" cy="376238"/>
          </a:xfrm>
          <a:custGeom>
            <a:avLst/>
            <a:gdLst>
              <a:gd name="T0" fmla="*/ 0 w 118"/>
              <a:gd name="T1" fmla="*/ 0 h 237"/>
              <a:gd name="T2" fmla="*/ 118 w 118"/>
              <a:gd name="T3" fmla="*/ 0 h 237"/>
              <a:gd name="T4" fmla="*/ 118 w 118"/>
              <a:gd name="T5" fmla="*/ 237 h 237"/>
              <a:gd name="T6" fmla="*/ 0 w 118"/>
              <a:gd name="T7" fmla="*/ 237 h 2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118" h="237">
                <a:moveTo>
                  <a:pt x="0" y="0"/>
                </a:moveTo>
                <a:lnTo>
                  <a:pt x="118" y="0"/>
                </a:lnTo>
                <a:lnTo>
                  <a:pt x="118" y="237"/>
                </a:lnTo>
                <a:lnTo>
                  <a:pt x="0" y="237"/>
                </a:lnTo>
              </a:path>
            </a:pathLst>
          </a:custGeom>
          <a:noFill/>
          <a:ln w="20638" cap="rnd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51" name="Line 48">
            <a:extLst>
              <a:ext uri="{FF2B5EF4-FFF2-40B4-BE49-F238E27FC236}">
                <a16:creationId xmlns:a16="http://schemas.microsoft.com/office/drawing/2014/main" id="{3E794D1E-A161-49A7-92BF-1F702D1E2B98}"/>
              </a:ext>
            </a:extLst>
          </p:cNvPr>
          <p:cNvSpPr>
            <a:spLocks noChangeShapeType="1"/>
          </p:cNvSpPr>
          <p:nvPr/>
        </p:nvSpPr>
        <p:spPr bwMode="auto">
          <a:xfrm>
            <a:off x="6732588" y="5267325"/>
            <a:ext cx="179388" cy="0"/>
          </a:xfrm>
          <a:prstGeom prst="line">
            <a:avLst/>
          </a:prstGeom>
          <a:noFill/>
          <a:ln w="20638" cap="flat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52" name="Line 49">
            <a:extLst>
              <a:ext uri="{FF2B5EF4-FFF2-40B4-BE49-F238E27FC236}">
                <a16:creationId xmlns:a16="http://schemas.microsoft.com/office/drawing/2014/main" id="{2D5102F7-7967-498D-90EE-F507E63AB6EA}"/>
              </a:ext>
            </a:extLst>
          </p:cNvPr>
          <p:cNvSpPr>
            <a:spLocks noChangeShapeType="1"/>
          </p:cNvSpPr>
          <p:nvPr/>
        </p:nvSpPr>
        <p:spPr bwMode="auto">
          <a:xfrm>
            <a:off x="6096000" y="5267325"/>
            <a:ext cx="203200" cy="0"/>
          </a:xfrm>
          <a:prstGeom prst="line">
            <a:avLst/>
          </a:prstGeom>
          <a:noFill/>
          <a:ln w="20638" cap="flat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53" name="Line 50">
            <a:extLst>
              <a:ext uri="{FF2B5EF4-FFF2-40B4-BE49-F238E27FC236}">
                <a16:creationId xmlns:a16="http://schemas.microsoft.com/office/drawing/2014/main" id="{B691343E-B2F3-4BDA-9D11-743B9300641A}"/>
              </a:ext>
            </a:extLst>
          </p:cNvPr>
          <p:cNvSpPr>
            <a:spLocks noChangeShapeType="1"/>
          </p:cNvSpPr>
          <p:nvPr/>
        </p:nvSpPr>
        <p:spPr bwMode="auto">
          <a:xfrm>
            <a:off x="5592763" y="5392738"/>
            <a:ext cx="204788" cy="0"/>
          </a:xfrm>
          <a:prstGeom prst="line">
            <a:avLst/>
          </a:prstGeom>
          <a:noFill/>
          <a:ln w="20638" cap="flat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54" name="Line 51">
            <a:extLst>
              <a:ext uri="{FF2B5EF4-FFF2-40B4-BE49-F238E27FC236}">
                <a16:creationId xmlns:a16="http://schemas.microsoft.com/office/drawing/2014/main" id="{DAC87997-330C-4E81-9335-F6759735C62D}"/>
              </a:ext>
            </a:extLst>
          </p:cNvPr>
          <p:cNvSpPr>
            <a:spLocks noChangeShapeType="1"/>
          </p:cNvSpPr>
          <p:nvPr/>
        </p:nvSpPr>
        <p:spPr bwMode="auto">
          <a:xfrm>
            <a:off x="5702300" y="5392738"/>
            <a:ext cx="0" cy="252413"/>
          </a:xfrm>
          <a:prstGeom prst="line">
            <a:avLst/>
          </a:prstGeom>
          <a:noFill/>
          <a:ln w="23813" cap="flat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55" name="Line 52">
            <a:extLst>
              <a:ext uri="{FF2B5EF4-FFF2-40B4-BE49-F238E27FC236}">
                <a16:creationId xmlns:a16="http://schemas.microsoft.com/office/drawing/2014/main" id="{B3F23888-98A5-4A75-9411-62D4CB1C9AC9}"/>
              </a:ext>
            </a:extLst>
          </p:cNvPr>
          <p:cNvSpPr>
            <a:spLocks noChangeShapeType="1"/>
          </p:cNvSpPr>
          <p:nvPr/>
        </p:nvSpPr>
        <p:spPr bwMode="auto">
          <a:xfrm>
            <a:off x="5702300" y="5645150"/>
            <a:ext cx="439738" cy="0"/>
          </a:xfrm>
          <a:prstGeom prst="line">
            <a:avLst/>
          </a:prstGeom>
          <a:noFill/>
          <a:ln w="23813" cap="flat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56" name="Line 53">
            <a:extLst>
              <a:ext uri="{FF2B5EF4-FFF2-40B4-BE49-F238E27FC236}">
                <a16:creationId xmlns:a16="http://schemas.microsoft.com/office/drawing/2014/main" id="{D651D96D-149D-4340-966D-8CD6DFDE6C86}"/>
              </a:ext>
            </a:extLst>
          </p:cNvPr>
          <p:cNvSpPr>
            <a:spLocks noChangeShapeType="1"/>
          </p:cNvSpPr>
          <p:nvPr/>
        </p:nvSpPr>
        <p:spPr bwMode="auto">
          <a:xfrm>
            <a:off x="6142038" y="5267325"/>
            <a:ext cx="0" cy="377825"/>
          </a:xfrm>
          <a:prstGeom prst="line">
            <a:avLst/>
          </a:prstGeom>
          <a:noFill/>
          <a:ln w="23813" cap="flat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57" name="Line 54">
            <a:extLst>
              <a:ext uri="{FF2B5EF4-FFF2-40B4-BE49-F238E27FC236}">
                <a16:creationId xmlns:a16="http://schemas.microsoft.com/office/drawing/2014/main" id="{CC5347E2-59E2-4464-A6DC-142A16C6AD9E}"/>
              </a:ext>
            </a:extLst>
          </p:cNvPr>
          <p:cNvSpPr>
            <a:spLocks noChangeShapeType="1"/>
          </p:cNvSpPr>
          <p:nvPr/>
        </p:nvSpPr>
        <p:spPr bwMode="auto">
          <a:xfrm>
            <a:off x="6245225" y="5267325"/>
            <a:ext cx="0" cy="314325"/>
          </a:xfrm>
          <a:prstGeom prst="line">
            <a:avLst/>
          </a:prstGeom>
          <a:noFill/>
          <a:ln w="23813" cap="flat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58" name="Line 55">
            <a:extLst>
              <a:ext uri="{FF2B5EF4-FFF2-40B4-BE49-F238E27FC236}">
                <a16:creationId xmlns:a16="http://schemas.microsoft.com/office/drawing/2014/main" id="{2E1E4227-ECB5-4BF0-A23E-792A7906C1A7}"/>
              </a:ext>
            </a:extLst>
          </p:cNvPr>
          <p:cNvSpPr>
            <a:spLocks noChangeShapeType="1"/>
          </p:cNvSpPr>
          <p:nvPr/>
        </p:nvSpPr>
        <p:spPr bwMode="auto">
          <a:xfrm>
            <a:off x="6245225" y="5581650"/>
            <a:ext cx="565150" cy="0"/>
          </a:xfrm>
          <a:prstGeom prst="line">
            <a:avLst/>
          </a:prstGeom>
          <a:noFill/>
          <a:ln w="23813" cap="flat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59" name="Line 56">
            <a:extLst>
              <a:ext uri="{FF2B5EF4-FFF2-40B4-BE49-F238E27FC236}">
                <a16:creationId xmlns:a16="http://schemas.microsoft.com/office/drawing/2014/main" id="{043DC802-9484-4101-BD7C-CB0D4C0CB809}"/>
              </a:ext>
            </a:extLst>
          </p:cNvPr>
          <p:cNvSpPr>
            <a:spLocks noChangeShapeType="1"/>
          </p:cNvSpPr>
          <p:nvPr/>
        </p:nvSpPr>
        <p:spPr bwMode="auto">
          <a:xfrm>
            <a:off x="6810375" y="5267325"/>
            <a:ext cx="0" cy="314325"/>
          </a:xfrm>
          <a:prstGeom prst="line">
            <a:avLst/>
          </a:prstGeom>
          <a:noFill/>
          <a:ln w="23813" cap="flat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60" name="Rectangle 57">
            <a:extLst>
              <a:ext uri="{FF2B5EF4-FFF2-40B4-BE49-F238E27FC236}">
                <a16:creationId xmlns:a16="http://schemas.microsoft.com/office/drawing/2014/main" id="{9DBAB007-03B5-480F-A24E-43AA7618F8E8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14938" y="2687638"/>
            <a:ext cx="188913" cy="377825"/>
          </a:xfrm>
          <a:prstGeom prst="rect">
            <a:avLst/>
          </a:prstGeom>
          <a:solidFill>
            <a:srgbClr val="DE250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61" name="Rectangle 58">
            <a:extLst>
              <a:ext uri="{FF2B5EF4-FFF2-40B4-BE49-F238E27FC236}">
                <a16:creationId xmlns:a16="http://schemas.microsoft.com/office/drawing/2014/main" id="{1BDF6ADA-92E4-4CE7-B4A4-48EE6854D8B1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14938" y="2687638"/>
            <a:ext cx="188913" cy="377825"/>
          </a:xfrm>
          <a:prstGeom prst="rect">
            <a:avLst/>
          </a:prstGeom>
          <a:noFill/>
          <a:ln w="9525" cap="flat">
            <a:solidFill>
              <a:srgbClr val="DE2506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62" name="Rectangle 59">
            <a:extLst>
              <a:ext uri="{FF2B5EF4-FFF2-40B4-BE49-F238E27FC236}">
                <a16:creationId xmlns:a16="http://schemas.microsoft.com/office/drawing/2014/main" id="{2FAA92E5-F1BC-448B-BAF4-1EA8B7C8A8A8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53025" y="4260850"/>
            <a:ext cx="125413" cy="377825"/>
          </a:xfrm>
          <a:prstGeom prst="rect">
            <a:avLst/>
          </a:prstGeom>
          <a:solidFill>
            <a:srgbClr val="0099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63" name="Rectangle 60">
            <a:extLst>
              <a:ext uri="{FF2B5EF4-FFF2-40B4-BE49-F238E27FC236}">
                <a16:creationId xmlns:a16="http://schemas.microsoft.com/office/drawing/2014/main" id="{BDC02A2D-2DD2-400D-9B39-EA38E4D9E4EB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53025" y="4260850"/>
            <a:ext cx="125413" cy="377825"/>
          </a:xfrm>
          <a:prstGeom prst="rect">
            <a:avLst/>
          </a:prstGeom>
          <a:noFill/>
          <a:ln w="9525" cap="flat">
            <a:solidFill>
              <a:srgbClr val="000000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64" name="Rectangle 61">
            <a:extLst>
              <a:ext uri="{FF2B5EF4-FFF2-40B4-BE49-F238E27FC236}">
                <a16:creationId xmlns:a16="http://schemas.microsoft.com/office/drawing/2014/main" id="{93403002-AABD-4FB5-825F-A62D5756D283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81525" y="3446463"/>
            <a:ext cx="125413" cy="376238"/>
          </a:xfrm>
          <a:prstGeom prst="rect">
            <a:avLst/>
          </a:prstGeom>
          <a:solidFill>
            <a:srgbClr val="0099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66" name="Rectangle 63">
            <a:extLst>
              <a:ext uri="{FF2B5EF4-FFF2-40B4-BE49-F238E27FC236}">
                <a16:creationId xmlns:a16="http://schemas.microsoft.com/office/drawing/2014/main" id="{B7F931C2-E117-44DB-A7EF-3A7DF8901923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35463" y="2687638"/>
            <a:ext cx="125413" cy="377825"/>
          </a:xfrm>
          <a:prstGeom prst="rect">
            <a:avLst/>
          </a:prstGeom>
          <a:solidFill>
            <a:srgbClr val="DE250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67" name="Rectangle 64">
            <a:extLst>
              <a:ext uri="{FF2B5EF4-FFF2-40B4-BE49-F238E27FC236}">
                <a16:creationId xmlns:a16="http://schemas.microsoft.com/office/drawing/2014/main" id="{E2219535-4D77-4746-837E-259968E5EAC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35463" y="2687638"/>
            <a:ext cx="125413" cy="377825"/>
          </a:xfrm>
          <a:prstGeom prst="rect">
            <a:avLst/>
          </a:prstGeom>
          <a:noFill/>
          <a:ln w="9525" cap="flat">
            <a:solidFill>
              <a:srgbClr val="000000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68" name="Freeform 65">
            <a:extLst>
              <a:ext uri="{FF2B5EF4-FFF2-40B4-BE49-F238E27FC236}">
                <a16:creationId xmlns:a16="http://schemas.microsoft.com/office/drawing/2014/main" id="{4DB41559-422D-4CF3-B522-7B8158D60E7F}"/>
              </a:ext>
            </a:extLst>
          </p:cNvPr>
          <p:cNvSpPr>
            <a:spLocks noEditPoints="1"/>
          </p:cNvSpPr>
          <p:nvPr/>
        </p:nvSpPr>
        <p:spPr bwMode="auto">
          <a:xfrm>
            <a:off x="4387850" y="2998788"/>
            <a:ext cx="190500" cy="492125"/>
          </a:xfrm>
          <a:custGeom>
            <a:avLst/>
            <a:gdLst>
              <a:gd name="T0" fmla="*/ 14 w 169"/>
              <a:gd name="T1" fmla="*/ 0 h 399"/>
              <a:gd name="T2" fmla="*/ 158 w 169"/>
              <a:gd name="T3" fmla="*/ 361 h 399"/>
              <a:gd name="T4" fmla="*/ 144 w 169"/>
              <a:gd name="T5" fmla="*/ 367 h 399"/>
              <a:gd name="T6" fmla="*/ 0 w 169"/>
              <a:gd name="T7" fmla="*/ 5 h 399"/>
              <a:gd name="T8" fmla="*/ 14 w 169"/>
              <a:gd name="T9" fmla="*/ 0 h 399"/>
              <a:gd name="T10" fmla="*/ 169 w 169"/>
              <a:gd name="T11" fmla="*/ 349 h 399"/>
              <a:gd name="T12" fmla="*/ 165 w 169"/>
              <a:gd name="T13" fmla="*/ 399 h 399"/>
              <a:gd name="T14" fmla="*/ 128 w 169"/>
              <a:gd name="T15" fmla="*/ 366 h 399"/>
              <a:gd name="T16" fmla="*/ 169 w 169"/>
              <a:gd name="T17" fmla="*/ 349 h 39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169" h="399">
                <a:moveTo>
                  <a:pt x="14" y="0"/>
                </a:moveTo>
                <a:lnTo>
                  <a:pt x="158" y="361"/>
                </a:lnTo>
                <a:lnTo>
                  <a:pt x="144" y="367"/>
                </a:lnTo>
                <a:lnTo>
                  <a:pt x="0" y="5"/>
                </a:lnTo>
                <a:lnTo>
                  <a:pt x="14" y="0"/>
                </a:lnTo>
                <a:close/>
                <a:moveTo>
                  <a:pt x="169" y="349"/>
                </a:moveTo>
                <a:lnTo>
                  <a:pt x="165" y="399"/>
                </a:lnTo>
                <a:lnTo>
                  <a:pt x="128" y="366"/>
                </a:lnTo>
                <a:lnTo>
                  <a:pt x="169" y="349"/>
                </a:lnTo>
                <a:close/>
              </a:path>
            </a:pathLst>
          </a:custGeom>
          <a:solidFill>
            <a:srgbClr val="009900"/>
          </a:solidFill>
          <a:ln w="0" cap="flat">
            <a:solidFill>
              <a:srgbClr val="0099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69" name="Freeform 66">
            <a:extLst>
              <a:ext uri="{FF2B5EF4-FFF2-40B4-BE49-F238E27FC236}">
                <a16:creationId xmlns:a16="http://schemas.microsoft.com/office/drawing/2014/main" id="{C4E10246-51C7-4CF9-83FA-EC69118B0145}"/>
              </a:ext>
            </a:extLst>
          </p:cNvPr>
          <p:cNvSpPr>
            <a:spLocks noEditPoints="1"/>
          </p:cNvSpPr>
          <p:nvPr/>
        </p:nvSpPr>
        <p:spPr bwMode="auto">
          <a:xfrm>
            <a:off x="4387850" y="2997200"/>
            <a:ext cx="765175" cy="1514475"/>
          </a:xfrm>
          <a:custGeom>
            <a:avLst/>
            <a:gdLst>
              <a:gd name="T0" fmla="*/ 13 w 482"/>
              <a:gd name="T1" fmla="*/ 0 h 954"/>
              <a:gd name="T2" fmla="*/ 472 w 482"/>
              <a:gd name="T3" fmla="*/ 918 h 954"/>
              <a:gd name="T4" fmla="*/ 458 w 482"/>
              <a:gd name="T5" fmla="*/ 925 h 954"/>
              <a:gd name="T6" fmla="*/ 0 w 482"/>
              <a:gd name="T7" fmla="*/ 7 h 954"/>
              <a:gd name="T8" fmla="*/ 13 w 482"/>
              <a:gd name="T9" fmla="*/ 0 h 954"/>
              <a:gd name="T10" fmla="*/ 482 w 482"/>
              <a:gd name="T11" fmla="*/ 905 h 954"/>
              <a:gd name="T12" fmla="*/ 482 w 482"/>
              <a:gd name="T13" fmla="*/ 954 h 954"/>
              <a:gd name="T14" fmla="*/ 442 w 482"/>
              <a:gd name="T15" fmla="*/ 925 h 954"/>
              <a:gd name="T16" fmla="*/ 482 w 482"/>
              <a:gd name="T17" fmla="*/ 905 h 9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482" h="954">
                <a:moveTo>
                  <a:pt x="13" y="0"/>
                </a:moveTo>
                <a:lnTo>
                  <a:pt x="472" y="918"/>
                </a:lnTo>
                <a:lnTo>
                  <a:pt x="458" y="925"/>
                </a:lnTo>
                <a:lnTo>
                  <a:pt x="0" y="7"/>
                </a:lnTo>
                <a:lnTo>
                  <a:pt x="13" y="0"/>
                </a:lnTo>
                <a:close/>
                <a:moveTo>
                  <a:pt x="482" y="905"/>
                </a:moveTo>
                <a:lnTo>
                  <a:pt x="482" y="954"/>
                </a:lnTo>
                <a:lnTo>
                  <a:pt x="442" y="925"/>
                </a:lnTo>
                <a:lnTo>
                  <a:pt x="482" y="905"/>
                </a:lnTo>
                <a:close/>
              </a:path>
            </a:pathLst>
          </a:custGeom>
          <a:solidFill>
            <a:srgbClr val="009900"/>
          </a:solidFill>
          <a:ln w="0" cap="flat">
            <a:solidFill>
              <a:srgbClr val="0099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70" name="Rectangle 67">
            <a:extLst>
              <a:ext uri="{FF2B5EF4-FFF2-40B4-BE49-F238E27FC236}">
                <a16:creationId xmlns:a16="http://schemas.microsoft.com/office/drawing/2014/main" id="{149137C5-8C44-476D-96C3-32493ED25B2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16000" y="2797175"/>
            <a:ext cx="52388" cy="2301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zh-CN" altLang="zh-CN" sz="1500" i="1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rPr>
              <a:t>I</a:t>
            </a:r>
            <a:endParaRPr kumimoji="0" lang="zh-CN" altLang="zh-CN" sz="1800" i="1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  <a:ea typeface="SimHei" panose="02010609060101010101" pitchFamily="49" charset="-122"/>
            </a:endParaRPr>
          </a:p>
        </p:txBody>
      </p:sp>
      <p:sp>
        <p:nvSpPr>
          <p:cNvPr id="71" name="Rectangle 68">
            <a:extLst>
              <a:ext uri="{FF2B5EF4-FFF2-40B4-BE49-F238E27FC236}">
                <a16:creationId xmlns:a16="http://schemas.microsoft.com/office/drawing/2014/main" id="{B5FB0899-F2AF-4963-90F4-45DFF2A33A67}"/>
              </a:ext>
            </a:extLst>
          </p:cNvPr>
          <p:cNvSpPr>
            <a:spLocks noChangeArrowheads="1"/>
          </p:cNvSpPr>
          <p:nvPr/>
        </p:nvSpPr>
        <p:spPr bwMode="auto">
          <a:xfrm>
            <a:off x="992188" y="3024188"/>
            <a:ext cx="107950" cy="2301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zh-CN" altLang="zh-CN" sz="1500" i="1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rPr>
              <a:t>n</a:t>
            </a:r>
            <a:endParaRPr kumimoji="0" lang="zh-CN" altLang="zh-CN" sz="1800" i="1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  <a:ea typeface="SimHei" panose="02010609060101010101" pitchFamily="49" charset="-122"/>
            </a:endParaRPr>
          </a:p>
        </p:txBody>
      </p:sp>
      <p:sp>
        <p:nvSpPr>
          <p:cNvPr id="72" name="Rectangle 69">
            <a:extLst>
              <a:ext uri="{FF2B5EF4-FFF2-40B4-BE49-F238E27FC236}">
                <a16:creationId xmlns:a16="http://schemas.microsoft.com/office/drawing/2014/main" id="{EA8AAA11-44C4-4739-BAAF-231E6D1AB767}"/>
              </a:ext>
            </a:extLst>
          </p:cNvPr>
          <p:cNvSpPr>
            <a:spLocks noChangeArrowheads="1"/>
          </p:cNvSpPr>
          <p:nvPr/>
        </p:nvSpPr>
        <p:spPr bwMode="auto">
          <a:xfrm>
            <a:off x="992188" y="3252788"/>
            <a:ext cx="96838" cy="2301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zh-CN" altLang="zh-CN" sz="1500" i="1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rPr>
              <a:t>s</a:t>
            </a:r>
            <a:endParaRPr kumimoji="0" lang="zh-CN" altLang="zh-CN" sz="1800" i="1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  <a:ea typeface="SimHei" panose="02010609060101010101" pitchFamily="49" charset="-122"/>
            </a:endParaRPr>
          </a:p>
        </p:txBody>
      </p:sp>
      <p:sp>
        <p:nvSpPr>
          <p:cNvPr id="73" name="Rectangle 70">
            <a:extLst>
              <a:ext uri="{FF2B5EF4-FFF2-40B4-BE49-F238E27FC236}">
                <a16:creationId xmlns:a16="http://schemas.microsoft.com/office/drawing/2014/main" id="{B982E27D-2836-482E-9F18-4EDE72FB998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16000" y="3481388"/>
            <a:ext cx="52388" cy="2301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zh-CN" altLang="zh-CN" sz="1500" i="1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rPr>
              <a:t>t</a:t>
            </a:r>
            <a:endParaRPr kumimoji="0" lang="zh-CN" altLang="zh-CN" sz="1800" i="1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  <a:ea typeface="SimHei" panose="02010609060101010101" pitchFamily="49" charset="-122"/>
            </a:endParaRPr>
          </a:p>
        </p:txBody>
      </p:sp>
      <p:sp>
        <p:nvSpPr>
          <p:cNvPr id="74" name="Rectangle 71">
            <a:extLst>
              <a:ext uri="{FF2B5EF4-FFF2-40B4-BE49-F238E27FC236}">
                <a16:creationId xmlns:a16="http://schemas.microsoft.com/office/drawing/2014/main" id="{5644C983-D576-4BAF-B561-5E3E9AADA9C7}"/>
              </a:ext>
            </a:extLst>
          </p:cNvPr>
          <p:cNvSpPr>
            <a:spLocks noChangeArrowheads="1"/>
          </p:cNvSpPr>
          <p:nvPr/>
        </p:nvSpPr>
        <p:spPr bwMode="auto">
          <a:xfrm>
            <a:off x="984250" y="3708400"/>
            <a:ext cx="109902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zh-CN" altLang="zh-CN" sz="1500" i="1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rPr>
              <a:t>r.</a:t>
            </a:r>
            <a:endParaRPr kumimoji="0" lang="zh-CN" altLang="zh-CN" sz="1800" i="1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  <a:ea typeface="SimHei" panose="02010609060101010101" pitchFamily="49" charset="-122"/>
            </a:endParaRPr>
          </a:p>
        </p:txBody>
      </p:sp>
      <p:sp>
        <p:nvSpPr>
          <p:cNvPr id="75" name="Rectangle 72">
            <a:extLst>
              <a:ext uri="{FF2B5EF4-FFF2-40B4-BE49-F238E27FC236}">
                <a16:creationId xmlns:a16="http://schemas.microsoft.com/office/drawing/2014/main" id="{6E8802CE-23EB-471B-953F-94A675E3FE3C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8375" y="4157663"/>
            <a:ext cx="149225" cy="2301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zh-CN" altLang="zh-CN" sz="1500" i="1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rPr>
              <a:t>O</a:t>
            </a:r>
            <a:endParaRPr kumimoji="0" lang="zh-CN" altLang="zh-CN" sz="1800" i="1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  <a:ea typeface="SimHei" panose="02010609060101010101" pitchFamily="49" charset="-122"/>
            </a:endParaRPr>
          </a:p>
        </p:txBody>
      </p:sp>
      <p:sp>
        <p:nvSpPr>
          <p:cNvPr id="76" name="Rectangle 73">
            <a:extLst>
              <a:ext uri="{FF2B5EF4-FFF2-40B4-BE49-F238E27FC236}">
                <a16:creationId xmlns:a16="http://schemas.microsoft.com/office/drawing/2014/main" id="{5C6621D3-8994-42AB-9A3A-3012D91BD56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08063" y="4384675"/>
            <a:ext cx="63500" cy="2301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zh-CN" altLang="zh-CN" sz="1500" i="1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rPr>
              <a:t>r</a:t>
            </a:r>
            <a:endParaRPr kumimoji="0" lang="zh-CN" altLang="zh-CN" sz="1800" i="1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  <a:ea typeface="SimHei" panose="02010609060101010101" pitchFamily="49" charset="-122"/>
            </a:endParaRPr>
          </a:p>
        </p:txBody>
      </p:sp>
      <p:sp>
        <p:nvSpPr>
          <p:cNvPr id="77" name="Rectangle 74">
            <a:extLst>
              <a:ext uri="{FF2B5EF4-FFF2-40B4-BE49-F238E27FC236}">
                <a16:creationId xmlns:a16="http://schemas.microsoft.com/office/drawing/2014/main" id="{8D4EC7C0-E328-4C35-B0E0-9FD8C4C31C1C}"/>
              </a:ext>
            </a:extLst>
          </p:cNvPr>
          <p:cNvSpPr>
            <a:spLocks noChangeArrowheads="1"/>
          </p:cNvSpPr>
          <p:nvPr/>
        </p:nvSpPr>
        <p:spPr bwMode="auto">
          <a:xfrm>
            <a:off x="992188" y="4613275"/>
            <a:ext cx="107950" cy="2301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zh-CN" altLang="zh-CN" sz="1500" i="1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rPr>
              <a:t>d</a:t>
            </a:r>
            <a:endParaRPr kumimoji="0" lang="zh-CN" altLang="zh-CN" sz="1800" i="1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  <a:ea typeface="SimHei" panose="02010609060101010101" pitchFamily="49" charset="-122"/>
            </a:endParaRPr>
          </a:p>
        </p:txBody>
      </p:sp>
      <p:sp>
        <p:nvSpPr>
          <p:cNvPr id="78" name="Rectangle 75">
            <a:extLst>
              <a:ext uri="{FF2B5EF4-FFF2-40B4-BE49-F238E27FC236}">
                <a16:creationId xmlns:a16="http://schemas.microsoft.com/office/drawing/2014/main" id="{1F6EB17B-D44D-49BB-9332-B6D7BD905F45}"/>
              </a:ext>
            </a:extLst>
          </p:cNvPr>
          <p:cNvSpPr>
            <a:spLocks noChangeArrowheads="1"/>
          </p:cNvSpPr>
          <p:nvPr/>
        </p:nvSpPr>
        <p:spPr bwMode="auto">
          <a:xfrm>
            <a:off x="992188" y="4841875"/>
            <a:ext cx="107950" cy="2301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zh-CN" altLang="zh-CN" sz="1500" i="1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rPr>
              <a:t>e</a:t>
            </a:r>
            <a:endParaRPr kumimoji="0" lang="zh-CN" altLang="zh-CN" sz="1800" i="1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  <a:ea typeface="SimHei" panose="02010609060101010101" pitchFamily="49" charset="-122"/>
            </a:endParaRPr>
          </a:p>
        </p:txBody>
      </p:sp>
      <p:sp>
        <p:nvSpPr>
          <p:cNvPr id="79" name="Rectangle 76">
            <a:extLst>
              <a:ext uri="{FF2B5EF4-FFF2-40B4-BE49-F238E27FC236}">
                <a16:creationId xmlns:a16="http://schemas.microsoft.com/office/drawing/2014/main" id="{7A185AF2-83A2-47F8-A597-73FE854CB1C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08063" y="5060950"/>
            <a:ext cx="63500" cy="2301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zh-CN" altLang="zh-CN" sz="1500" i="1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rPr>
              <a:t>r</a:t>
            </a:r>
            <a:endParaRPr kumimoji="0" lang="zh-CN" altLang="zh-CN" sz="1800" i="1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  <a:ea typeface="SimHei" panose="02010609060101010101" pitchFamily="49" charset="-122"/>
            </a:endParaRPr>
          </a:p>
        </p:txBody>
      </p:sp>
      <p:sp>
        <p:nvSpPr>
          <p:cNvPr id="80" name="Freeform 77">
            <a:extLst>
              <a:ext uri="{FF2B5EF4-FFF2-40B4-BE49-F238E27FC236}">
                <a16:creationId xmlns:a16="http://schemas.microsoft.com/office/drawing/2014/main" id="{5D32756C-4705-45F0-BE47-7C684BD01E38}"/>
              </a:ext>
            </a:extLst>
          </p:cNvPr>
          <p:cNvSpPr>
            <a:spLocks noEditPoints="1"/>
          </p:cNvSpPr>
          <p:nvPr/>
        </p:nvSpPr>
        <p:spPr bwMode="auto">
          <a:xfrm>
            <a:off x="2386013" y="2224088"/>
            <a:ext cx="5202238" cy="61913"/>
          </a:xfrm>
          <a:custGeom>
            <a:avLst/>
            <a:gdLst>
              <a:gd name="T0" fmla="*/ 0 w 3277"/>
              <a:gd name="T1" fmla="*/ 13 h 39"/>
              <a:gd name="T2" fmla="*/ 3244 w 3277"/>
              <a:gd name="T3" fmla="*/ 13 h 39"/>
              <a:gd name="T4" fmla="*/ 3244 w 3277"/>
              <a:gd name="T5" fmla="*/ 26 h 39"/>
              <a:gd name="T6" fmla="*/ 0 w 3277"/>
              <a:gd name="T7" fmla="*/ 26 h 39"/>
              <a:gd name="T8" fmla="*/ 0 w 3277"/>
              <a:gd name="T9" fmla="*/ 13 h 39"/>
              <a:gd name="T10" fmla="*/ 3238 w 3277"/>
              <a:gd name="T11" fmla="*/ 0 h 39"/>
              <a:gd name="T12" fmla="*/ 3277 w 3277"/>
              <a:gd name="T13" fmla="*/ 20 h 39"/>
              <a:gd name="T14" fmla="*/ 3238 w 3277"/>
              <a:gd name="T15" fmla="*/ 39 h 39"/>
              <a:gd name="T16" fmla="*/ 3238 w 3277"/>
              <a:gd name="T17" fmla="*/ 0 h 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3277" h="39">
                <a:moveTo>
                  <a:pt x="0" y="13"/>
                </a:moveTo>
                <a:lnTo>
                  <a:pt x="3244" y="13"/>
                </a:lnTo>
                <a:lnTo>
                  <a:pt x="3244" y="26"/>
                </a:lnTo>
                <a:lnTo>
                  <a:pt x="0" y="26"/>
                </a:lnTo>
                <a:lnTo>
                  <a:pt x="0" y="13"/>
                </a:lnTo>
                <a:close/>
                <a:moveTo>
                  <a:pt x="3238" y="0"/>
                </a:moveTo>
                <a:lnTo>
                  <a:pt x="3277" y="20"/>
                </a:lnTo>
                <a:lnTo>
                  <a:pt x="3238" y="39"/>
                </a:lnTo>
                <a:lnTo>
                  <a:pt x="3238" y="0"/>
                </a:lnTo>
                <a:close/>
              </a:path>
            </a:pathLst>
          </a:custGeom>
          <a:solidFill>
            <a:srgbClr val="000000"/>
          </a:solidFill>
          <a:ln w="0" cap="flat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81" name="Rectangle 78">
            <a:extLst>
              <a:ext uri="{FF2B5EF4-FFF2-40B4-BE49-F238E27FC236}">
                <a16:creationId xmlns:a16="http://schemas.microsoft.com/office/drawing/2014/main" id="{42034939-0B47-40BE-9252-25F58A3A4E1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327150" y="2668588"/>
            <a:ext cx="428625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zh-CN" altLang="zh-CN" sz="2000" u="none" strike="noStrike" cap="none" normalizeH="0" baseline="0" dirty="0">
                <a:ln>
                  <a:noFill/>
                </a:ln>
                <a:solidFill>
                  <a:srgbClr val="3333CC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rPr>
              <a:t>add</a:t>
            </a:r>
            <a:endParaRPr kumimoji="0" lang="zh-CN" altLang="zh-CN" sz="180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  <a:ea typeface="SimHei" panose="02010609060101010101" pitchFamily="49" charset="-122"/>
            </a:endParaRPr>
          </a:p>
        </p:txBody>
      </p:sp>
      <p:sp>
        <p:nvSpPr>
          <p:cNvPr id="82" name="Rectangle 79">
            <a:extLst>
              <a:ext uri="{FF2B5EF4-FFF2-40B4-BE49-F238E27FC236}">
                <a16:creationId xmlns:a16="http://schemas.microsoft.com/office/drawing/2014/main" id="{6A91EC23-EC16-44B3-9533-5798852BEFC5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46263" y="2676525"/>
            <a:ext cx="227013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zh-CN" altLang="zh-CN" sz="2000" u="none" strike="noStrike" cap="none" normalizeH="0" baseline="0" dirty="0">
                <a:ln>
                  <a:noFill/>
                </a:ln>
                <a:solidFill>
                  <a:srgbClr val="DE2506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rPr>
              <a:t>r1</a:t>
            </a:r>
            <a:endParaRPr kumimoji="0" lang="zh-CN" altLang="zh-CN" sz="180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  <a:ea typeface="SimHei" panose="02010609060101010101" pitchFamily="49" charset="-122"/>
            </a:endParaRPr>
          </a:p>
        </p:txBody>
      </p:sp>
      <p:sp>
        <p:nvSpPr>
          <p:cNvPr id="83" name="Rectangle 80">
            <a:extLst>
              <a:ext uri="{FF2B5EF4-FFF2-40B4-BE49-F238E27FC236}">
                <a16:creationId xmlns:a16="http://schemas.microsoft.com/office/drawing/2014/main" id="{E9FBA546-3526-4D62-8311-30552B34DD75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73275" y="2676525"/>
            <a:ext cx="596900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zh-CN" altLang="zh-CN" sz="2000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rPr>
              <a:t>,r2,r3</a:t>
            </a:r>
            <a:endParaRPr kumimoji="0" lang="zh-CN" altLang="zh-CN" sz="180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  <a:ea typeface="SimHei" panose="02010609060101010101" pitchFamily="49" charset="-122"/>
            </a:endParaRPr>
          </a:p>
        </p:txBody>
      </p:sp>
      <p:sp>
        <p:nvSpPr>
          <p:cNvPr id="84" name="Freeform 81">
            <a:extLst>
              <a:ext uri="{FF2B5EF4-FFF2-40B4-BE49-F238E27FC236}">
                <a16:creationId xmlns:a16="http://schemas.microsoft.com/office/drawing/2014/main" id="{02D9A4BF-DEF6-412C-9501-9C4C8A6E5296}"/>
              </a:ext>
            </a:extLst>
          </p:cNvPr>
          <p:cNvSpPr>
            <a:spLocks noEditPoints="1"/>
          </p:cNvSpPr>
          <p:nvPr/>
        </p:nvSpPr>
        <p:spPr bwMode="auto">
          <a:xfrm>
            <a:off x="3351213" y="2357438"/>
            <a:ext cx="20638" cy="3670300"/>
          </a:xfrm>
          <a:custGeom>
            <a:avLst/>
            <a:gdLst>
              <a:gd name="T0" fmla="*/ 13 w 13"/>
              <a:gd name="T1" fmla="*/ 40 h 2312"/>
              <a:gd name="T2" fmla="*/ 0 w 13"/>
              <a:gd name="T3" fmla="*/ 53 h 2312"/>
              <a:gd name="T4" fmla="*/ 13 w 13"/>
              <a:gd name="T5" fmla="*/ 106 h 2312"/>
              <a:gd name="T6" fmla="*/ 0 w 13"/>
              <a:gd name="T7" fmla="*/ 146 h 2312"/>
              <a:gd name="T8" fmla="*/ 13 w 13"/>
              <a:gd name="T9" fmla="*/ 159 h 2312"/>
              <a:gd name="T10" fmla="*/ 13 w 13"/>
              <a:gd name="T11" fmla="*/ 225 h 2312"/>
              <a:gd name="T12" fmla="*/ 0 w 13"/>
              <a:gd name="T13" fmla="*/ 238 h 2312"/>
              <a:gd name="T14" fmla="*/ 13 w 13"/>
              <a:gd name="T15" fmla="*/ 291 h 2312"/>
              <a:gd name="T16" fmla="*/ 0 w 13"/>
              <a:gd name="T17" fmla="*/ 330 h 2312"/>
              <a:gd name="T18" fmla="*/ 13 w 13"/>
              <a:gd name="T19" fmla="*/ 344 h 2312"/>
              <a:gd name="T20" fmla="*/ 13 w 13"/>
              <a:gd name="T21" fmla="*/ 410 h 2312"/>
              <a:gd name="T22" fmla="*/ 0 w 13"/>
              <a:gd name="T23" fmla="*/ 423 h 2312"/>
              <a:gd name="T24" fmla="*/ 13 w 13"/>
              <a:gd name="T25" fmla="*/ 476 h 2312"/>
              <a:gd name="T26" fmla="*/ 0 w 13"/>
              <a:gd name="T27" fmla="*/ 515 h 2312"/>
              <a:gd name="T28" fmla="*/ 13 w 13"/>
              <a:gd name="T29" fmla="*/ 529 h 2312"/>
              <a:gd name="T30" fmla="*/ 13 w 13"/>
              <a:gd name="T31" fmla="*/ 594 h 2312"/>
              <a:gd name="T32" fmla="*/ 0 w 13"/>
              <a:gd name="T33" fmla="*/ 608 h 2312"/>
              <a:gd name="T34" fmla="*/ 13 w 13"/>
              <a:gd name="T35" fmla="*/ 661 h 2312"/>
              <a:gd name="T36" fmla="*/ 0 w 13"/>
              <a:gd name="T37" fmla="*/ 700 h 2312"/>
              <a:gd name="T38" fmla="*/ 13 w 13"/>
              <a:gd name="T39" fmla="*/ 713 h 2312"/>
              <a:gd name="T40" fmla="*/ 13 w 13"/>
              <a:gd name="T41" fmla="*/ 780 h 2312"/>
              <a:gd name="T42" fmla="*/ 0 w 13"/>
              <a:gd name="T43" fmla="*/ 793 h 2312"/>
              <a:gd name="T44" fmla="*/ 13 w 13"/>
              <a:gd name="T45" fmla="*/ 846 h 2312"/>
              <a:gd name="T46" fmla="*/ 0 w 13"/>
              <a:gd name="T47" fmla="*/ 885 h 2312"/>
              <a:gd name="T48" fmla="*/ 13 w 13"/>
              <a:gd name="T49" fmla="*/ 899 h 2312"/>
              <a:gd name="T50" fmla="*/ 13 w 13"/>
              <a:gd name="T51" fmla="*/ 965 h 2312"/>
              <a:gd name="T52" fmla="*/ 0 w 13"/>
              <a:gd name="T53" fmla="*/ 978 h 2312"/>
              <a:gd name="T54" fmla="*/ 13 w 13"/>
              <a:gd name="T55" fmla="*/ 1030 h 2312"/>
              <a:gd name="T56" fmla="*/ 0 w 13"/>
              <a:gd name="T57" fmla="*/ 1070 h 2312"/>
              <a:gd name="T58" fmla="*/ 13 w 13"/>
              <a:gd name="T59" fmla="*/ 1083 h 2312"/>
              <a:gd name="T60" fmla="*/ 13 w 13"/>
              <a:gd name="T61" fmla="*/ 1149 h 2312"/>
              <a:gd name="T62" fmla="*/ 0 w 13"/>
              <a:gd name="T63" fmla="*/ 1163 h 2312"/>
              <a:gd name="T64" fmla="*/ 13 w 13"/>
              <a:gd name="T65" fmla="*/ 1216 h 2312"/>
              <a:gd name="T66" fmla="*/ 0 w 13"/>
              <a:gd name="T67" fmla="*/ 1255 h 2312"/>
              <a:gd name="T68" fmla="*/ 13 w 13"/>
              <a:gd name="T69" fmla="*/ 1268 h 2312"/>
              <a:gd name="T70" fmla="*/ 13 w 13"/>
              <a:gd name="T71" fmla="*/ 1335 h 2312"/>
              <a:gd name="T72" fmla="*/ 0 w 13"/>
              <a:gd name="T73" fmla="*/ 1348 h 2312"/>
              <a:gd name="T74" fmla="*/ 13 w 13"/>
              <a:gd name="T75" fmla="*/ 1400 h 2312"/>
              <a:gd name="T76" fmla="*/ 0 w 13"/>
              <a:gd name="T77" fmla="*/ 1440 h 2312"/>
              <a:gd name="T78" fmla="*/ 13 w 13"/>
              <a:gd name="T79" fmla="*/ 1453 h 2312"/>
              <a:gd name="T80" fmla="*/ 13 w 13"/>
              <a:gd name="T81" fmla="*/ 1519 h 2312"/>
              <a:gd name="T82" fmla="*/ 0 w 13"/>
              <a:gd name="T83" fmla="*/ 1533 h 2312"/>
              <a:gd name="T84" fmla="*/ 13 w 13"/>
              <a:gd name="T85" fmla="*/ 1585 h 2312"/>
              <a:gd name="T86" fmla="*/ 0 w 13"/>
              <a:gd name="T87" fmla="*/ 1625 h 2312"/>
              <a:gd name="T88" fmla="*/ 13 w 13"/>
              <a:gd name="T89" fmla="*/ 1638 h 2312"/>
              <a:gd name="T90" fmla="*/ 13 w 13"/>
              <a:gd name="T91" fmla="*/ 1704 h 2312"/>
              <a:gd name="T92" fmla="*/ 0 w 13"/>
              <a:gd name="T93" fmla="*/ 1718 h 2312"/>
              <a:gd name="T94" fmla="*/ 13 w 13"/>
              <a:gd name="T95" fmla="*/ 1770 h 2312"/>
              <a:gd name="T96" fmla="*/ 0 w 13"/>
              <a:gd name="T97" fmla="*/ 1810 h 2312"/>
              <a:gd name="T98" fmla="*/ 13 w 13"/>
              <a:gd name="T99" fmla="*/ 1823 h 2312"/>
              <a:gd name="T100" fmla="*/ 13 w 13"/>
              <a:gd name="T101" fmla="*/ 1889 h 2312"/>
              <a:gd name="T102" fmla="*/ 0 w 13"/>
              <a:gd name="T103" fmla="*/ 1902 h 2312"/>
              <a:gd name="T104" fmla="*/ 13 w 13"/>
              <a:gd name="T105" fmla="*/ 1955 h 2312"/>
              <a:gd name="T106" fmla="*/ 0 w 13"/>
              <a:gd name="T107" fmla="*/ 1995 h 2312"/>
              <a:gd name="T108" fmla="*/ 13 w 13"/>
              <a:gd name="T109" fmla="*/ 2008 h 2312"/>
              <a:gd name="T110" fmla="*/ 13 w 13"/>
              <a:gd name="T111" fmla="*/ 2074 h 2312"/>
              <a:gd name="T112" fmla="*/ 0 w 13"/>
              <a:gd name="T113" fmla="*/ 2088 h 2312"/>
              <a:gd name="T114" fmla="*/ 13 w 13"/>
              <a:gd name="T115" fmla="*/ 2140 h 2312"/>
              <a:gd name="T116" fmla="*/ 0 w 13"/>
              <a:gd name="T117" fmla="*/ 2180 h 2312"/>
              <a:gd name="T118" fmla="*/ 13 w 13"/>
              <a:gd name="T119" fmla="*/ 2193 h 2312"/>
              <a:gd name="T120" fmla="*/ 13 w 13"/>
              <a:gd name="T121" fmla="*/ 2259 h 2312"/>
              <a:gd name="T122" fmla="*/ 0 w 13"/>
              <a:gd name="T123" fmla="*/ 2272 h 23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13" h="2312">
                <a:moveTo>
                  <a:pt x="13" y="0"/>
                </a:moveTo>
                <a:lnTo>
                  <a:pt x="13" y="13"/>
                </a:lnTo>
                <a:lnTo>
                  <a:pt x="0" y="13"/>
                </a:lnTo>
                <a:lnTo>
                  <a:pt x="0" y="0"/>
                </a:lnTo>
                <a:lnTo>
                  <a:pt x="13" y="0"/>
                </a:lnTo>
                <a:close/>
                <a:moveTo>
                  <a:pt x="13" y="27"/>
                </a:moveTo>
                <a:lnTo>
                  <a:pt x="13" y="40"/>
                </a:lnTo>
                <a:lnTo>
                  <a:pt x="0" y="40"/>
                </a:lnTo>
                <a:lnTo>
                  <a:pt x="0" y="27"/>
                </a:lnTo>
                <a:lnTo>
                  <a:pt x="13" y="27"/>
                </a:lnTo>
                <a:close/>
                <a:moveTo>
                  <a:pt x="13" y="53"/>
                </a:moveTo>
                <a:lnTo>
                  <a:pt x="13" y="66"/>
                </a:lnTo>
                <a:lnTo>
                  <a:pt x="0" y="66"/>
                </a:lnTo>
                <a:lnTo>
                  <a:pt x="0" y="53"/>
                </a:lnTo>
                <a:lnTo>
                  <a:pt x="13" y="53"/>
                </a:lnTo>
                <a:close/>
                <a:moveTo>
                  <a:pt x="13" y="79"/>
                </a:moveTo>
                <a:lnTo>
                  <a:pt x="13" y="93"/>
                </a:lnTo>
                <a:lnTo>
                  <a:pt x="0" y="93"/>
                </a:lnTo>
                <a:lnTo>
                  <a:pt x="0" y="79"/>
                </a:lnTo>
                <a:lnTo>
                  <a:pt x="13" y="79"/>
                </a:lnTo>
                <a:close/>
                <a:moveTo>
                  <a:pt x="13" y="106"/>
                </a:moveTo>
                <a:lnTo>
                  <a:pt x="13" y="119"/>
                </a:lnTo>
                <a:lnTo>
                  <a:pt x="0" y="119"/>
                </a:lnTo>
                <a:lnTo>
                  <a:pt x="0" y="106"/>
                </a:lnTo>
                <a:lnTo>
                  <a:pt x="13" y="106"/>
                </a:lnTo>
                <a:close/>
                <a:moveTo>
                  <a:pt x="13" y="132"/>
                </a:moveTo>
                <a:lnTo>
                  <a:pt x="13" y="146"/>
                </a:lnTo>
                <a:lnTo>
                  <a:pt x="0" y="146"/>
                </a:lnTo>
                <a:lnTo>
                  <a:pt x="0" y="132"/>
                </a:lnTo>
                <a:lnTo>
                  <a:pt x="13" y="132"/>
                </a:lnTo>
                <a:close/>
                <a:moveTo>
                  <a:pt x="13" y="159"/>
                </a:moveTo>
                <a:lnTo>
                  <a:pt x="13" y="172"/>
                </a:lnTo>
                <a:lnTo>
                  <a:pt x="0" y="172"/>
                </a:lnTo>
                <a:lnTo>
                  <a:pt x="0" y="159"/>
                </a:lnTo>
                <a:lnTo>
                  <a:pt x="13" y="159"/>
                </a:lnTo>
                <a:close/>
                <a:moveTo>
                  <a:pt x="13" y="185"/>
                </a:moveTo>
                <a:lnTo>
                  <a:pt x="13" y="198"/>
                </a:lnTo>
                <a:lnTo>
                  <a:pt x="0" y="198"/>
                </a:lnTo>
                <a:lnTo>
                  <a:pt x="0" y="185"/>
                </a:lnTo>
                <a:lnTo>
                  <a:pt x="13" y="185"/>
                </a:lnTo>
                <a:close/>
                <a:moveTo>
                  <a:pt x="13" y="211"/>
                </a:moveTo>
                <a:lnTo>
                  <a:pt x="13" y="225"/>
                </a:lnTo>
                <a:lnTo>
                  <a:pt x="0" y="225"/>
                </a:lnTo>
                <a:lnTo>
                  <a:pt x="0" y="211"/>
                </a:lnTo>
                <a:lnTo>
                  <a:pt x="13" y="211"/>
                </a:lnTo>
                <a:close/>
                <a:moveTo>
                  <a:pt x="13" y="238"/>
                </a:moveTo>
                <a:lnTo>
                  <a:pt x="13" y="251"/>
                </a:lnTo>
                <a:lnTo>
                  <a:pt x="0" y="251"/>
                </a:lnTo>
                <a:lnTo>
                  <a:pt x="0" y="238"/>
                </a:lnTo>
                <a:lnTo>
                  <a:pt x="13" y="238"/>
                </a:lnTo>
                <a:close/>
                <a:moveTo>
                  <a:pt x="13" y="264"/>
                </a:moveTo>
                <a:lnTo>
                  <a:pt x="13" y="277"/>
                </a:lnTo>
                <a:lnTo>
                  <a:pt x="0" y="277"/>
                </a:lnTo>
                <a:lnTo>
                  <a:pt x="0" y="264"/>
                </a:lnTo>
                <a:lnTo>
                  <a:pt x="13" y="264"/>
                </a:lnTo>
                <a:close/>
                <a:moveTo>
                  <a:pt x="13" y="291"/>
                </a:moveTo>
                <a:lnTo>
                  <a:pt x="13" y="304"/>
                </a:lnTo>
                <a:lnTo>
                  <a:pt x="0" y="304"/>
                </a:lnTo>
                <a:lnTo>
                  <a:pt x="0" y="291"/>
                </a:lnTo>
                <a:lnTo>
                  <a:pt x="13" y="291"/>
                </a:lnTo>
                <a:close/>
                <a:moveTo>
                  <a:pt x="13" y="317"/>
                </a:moveTo>
                <a:lnTo>
                  <a:pt x="13" y="330"/>
                </a:lnTo>
                <a:lnTo>
                  <a:pt x="0" y="330"/>
                </a:lnTo>
                <a:lnTo>
                  <a:pt x="0" y="317"/>
                </a:lnTo>
                <a:lnTo>
                  <a:pt x="13" y="317"/>
                </a:lnTo>
                <a:close/>
                <a:moveTo>
                  <a:pt x="13" y="344"/>
                </a:moveTo>
                <a:lnTo>
                  <a:pt x="13" y="357"/>
                </a:lnTo>
                <a:lnTo>
                  <a:pt x="0" y="357"/>
                </a:lnTo>
                <a:lnTo>
                  <a:pt x="0" y="344"/>
                </a:lnTo>
                <a:lnTo>
                  <a:pt x="13" y="344"/>
                </a:lnTo>
                <a:close/>
                <a:moveTo>
                  <a:pt x="13" y="370"/>
                </a:moveTo>
                <a:lnTo>
                  <a:pt x="13" y="383"/>
                </a:lnTo>
                <a:lnTo>
                  <a:pt x="0" y="383"/>
                </a:lnTo>
                <a:lnTo>
                  <a:pt x="0" y="370"/>
                </a:lnTo>
                <a:lnTo>
                  <a:pt x="13" y="370"/>
                </a:lnTo>
                <a:close/>
                <a:moveTo>
                  <a:pt x="13" y="396"/>
                </a:moveTo>
                <a:lnTo>
                  <a:pt x="13" y="410"/>
                </a:lnTo>
                <a:lnTo>
                  <a:pt x="0" y="410"/>
                </a:lnTo>
                <a:lnTo>
                  <a:pt x="0" y="396"/>
                </a:lnTo>
                <a:lnTo>
                  <a:pt x="13" y="396"/>
                </a:lnTo>
                <a:close/>
                <a:moveTo>
                  <a:pt x="13" y="423"/>
                </a:moveTo>
                <a:lnTo>
                  <a:pt x="13" y="436"/>
                </a:lnTo>
                <a:lnTo>
                  <a:pt x="0" y="436"/>
                </a:lnTo>
                <a:lnTo>
                  <a:pt x="0" y="423"/>
                </a:lnTo>
                <a:lnTo>
                  <a:pt x="13" y="423"/>
                </a:lnTo>
                <a:close/>
                <a:moveTo>
                  <a:pt x="13" y="449"/>
                </a:moveTo>
                <a:lnTo>
                  <a:pt x="13" y="463"/>
                </a:lnTo>
                <a:lnTo>
                  <a:pt x="0" y="463"/>
                </a:lnTo>
                <a:lnTo>
                  <a:pt x="0" y="449"/>
                </a:lnTo>
                <a:lnTo>
                  <a:pt x="13" y="449"/>
                </a:lnTo>
                <a:close/>
                <a:moveTo>
                  <a:pt x="13" y="476"/>
                </a:moveTo>
                <a:lnTo>
                  <a:pt x="13" y="489"/>
                </a:lnTo>
                <a:lnTo>
                  <a:pt x="0" y="489"/>
                </a:lnTo>
                <a:lnTo>
                  <a:pt x="0" y="476"/>
                </a:lnTo>
                <a:lnTo>
                  <a:pt x="13" y="476"/>
                </a:lnTo>
                <a:close/>
                <a:moveTo>
                  <a:pt x="13" y="502"/>
                </a:moveTo>
                <a:lnTo>
                  <a:pt x="13" y="515"/>
                </a:lnTo>
                <a:lnTo>
                  <a:pt x="0" y="515"/>
                </a:lnTo>
                <a:lnTo>
                  <a:pt x="0" y="502"/>
                </a:lnTo>
                <a:lnTo>
                  <a:pt x="13" y="502"/>
                </a:lnTo>
                <a:close/>
                <a:moveTo>
                  <a:pt x="13" y="529"/>
                </a:moveTo>
                <a:lnTo>
                  <a:pt x="13" y="542"/>
                </a:lnTo>
                <a:lnTo>
                  <a:pt x="0" y="542"/>
                </a:lnTo>
                <a:lnTo>
                  <a:pt x="0" y="529"/>
                </a:lnTo>
                <a:lnTo>
                  <a:pt x="13" y="529"/>
                </a:lnTo>
                <a:close/>
                <a:moveTo>
                  <a:pt x="13" y="555"/>
                </a:moveTo>
                <a:lnTo>
                  <a:pt x="13" y="568"/>
                </a:lnTo>
                <a:lnTo>
                  <a:pt x="0" y="568"/>
                </a:lnTo>
                <a:lnTo>
                  <a:pt x="0" y="555"/>
                </a:lnTo>
                <a:lnTo>
                  <a:pt x="13" y="555"/>
                </a:lnTo>
                <a:close/>
                <a:moveTo>
                  <a:pt x="13" y="581"/>
                </a:moveTo>
                <a:lnTo>
                  <a:pt x="13" y="594"/>
                </a:lnTo>
                <a:lnTo>
                  <a:pt x="0" y="594"/>
                </a:lnTo>
                <a:lnTo>
                  <a:pt x="0" y="581"/>
                </a:lnTo>
                <a:lnTo>
                  <a:pt x="13" y="581"/>
                </a:lnTo>
                <a:close/>
                <a:moveTo>
                  <a:pt x="13" y="608"/>
                </a:moveTo>
                <a:lnTo>
                  <a:pt x="13" y="621"/>
                </a:lnTo>
                <a:lnTo>
                  <a:pt x="0" y="621"/>
                </a:lnTo>
                <a:lnTo>
                  <a:pt x="0" y="608"/>
                </a:lnTo>
                <a:lnTo>
                  <a:pt x="13" y="608"/>
                </a:lnTo>
                <a:close/>
                <a:moveTo>
                  <a:pt x="13" y="634"/>
                </a:moveTo>
                <a:lnTo>
                  <a:pt x="13" y="647"/>
                </a:lnTo>
                <a:lnTo>
                  <a:pt x="0" y="647"/>
                </a:lnTo>
                <a:lnTo>
                  <a:pt x="0" y="634"/>
                </a:lnTo>
                <a:lnTo>
                  <a:pt x="13" y="634"/>
                </a:lnTo>
                <a:close/>
                <a:moveTo>
                  <a:pt x="13" y="661"/>
                </a:moveTo>
                <a:lnTo>
                  <a:pt x="13" y="674"/>
                </a:lnTo>
                <a:lnTo>
                  <a:pt x="0" y="674"/>
                </a:lnTo>
                <a:lnTo>
                  <a:pt x="0" y="661"/>
                </a:lnTo>
                <a:lnTo>
                  <a:pt x="13" y="661"/>
                </a:lnTo>
                <a:close/>
                <a:moveTo>
                  <a:pt x="13" y="687"/>
                </a:moveTo>
                <a:lnTo>
                  <a:pt x="13" y="700"/>
                </a:lnTo>
                <a:lnTo>
                  <a:pt x="0" y="700"/>
                </a:lnTo>
                <a:lnTo>
                  <a:pt x="0" y="687"/>
                </a:lnTo>
                <a:lnTo>
                  <a:pt x="13" y="687"/>
                </a:lnTo>
                <a:close/>
                <a:moveTo>
                  <a:pt x="13" y="713"/>
                </a:moveTo>
                <a:lnTo>
                  <a:pt x="13" y="727"/>
                </a:lnTo>
                <a:lnTo>
                  <a:pt x="0" y="727"/>
                </a:lnTo>
                <a:lnTo>
                  <a:pt x="0" y="713"/>
                </a:lnTo>
                <a:lnTo>
                  <a:pt x="13" y="713"/>
                </a:lnTo>
                <a:close/>
                <a:moveTo>
                  <a:pt x="13" y="740"/>
                </a:moveTo>
                <a:lnTo>
                  <a:pt x="13" y="753"/>
                </a:lnTo>
                <a:lnTo>
                  <a:pt x="0" y="753"/>
                </a:lnTo>
                <a:lnTo>
                  <a:pt x="0" y="740"/>
                </a:lnTo>
                <a:lnTo>
                  <a:pt x="13" y="740"/>
                </a:lnTo>
                <a:close/>
                <a:moveTo>
                  <a:pt x="13" y="766"/>
                </a:moveTo>
                <a:lnTo>
                  <a:pt x="13" y="780"/>
                </a:lnTo>
                <a:lnTo>
                  <a:pt x="0" y="780"/>
                </a:lnTo>
                <a:lnTo>
                  <a:pt x="0" y="766"/>
                </a:lnTo>
                <a:lnTo>
                  <a:pt x="13" y="766"/>
                </a:lnTo>
                <a:close/>
                <a:moveTo>
                  <a:pt x="13" y="793"/>
                </a:moveTo>
                <a:lnTo>
                  <a:pt x="13" y="806"/>
                </a:lnTo>
                <a:lnTo>
                  <a:pt x="0" y="806"/>
                </a:lnTo>
                <a:lnTo>
                  <a:pt x="0" y="793"/>
                </a:lnTo>
                <a:lnTo>
                  <a:pt x="13" y="793"/>
                </a:lnTo>
                <a:close/>
                <a:moveTo>
                  <a:pt x="13" y="819"/>
                </a:moveTo>
                <a:lnTo>
                  <a:pt x="13" y="832"/>
                </a:lnTo>
                <a:lnTo>
                  <a:pt x="0" y="832"/>
                </a:lnTo>
                <a:lnTo>
                  <a:pt x="0" y="819"/>
                </a:lnTo>
                <a:lnTo>
                  <a:pt x="13" y="819"/>
                </a:lnTo>
                <a:close/>
                <a:moveTo>
                  <a:pt x="13" y="846"/>
                </a:moveTo>
                <a:lnTo>
                  <a:pt x="13" y="859"/>
                </a:lnTo>
                <a:lnTo>
                  <a:pt x="0" y="859"/>
                </a:lnTo>
                <a:lnTo>
                  <a:pt x="0" y="846"/>
                </a:lnTo>
                <a:lnTo>
                  <a:pt x="13" y="846"/>
                </a:lnTo>
                <a:close/>
                <a:moveTo>
                  <a:pt x="13" y="872"/>
                </a:moveTo>
                <a:lnTo>
                  <a:pt x="13" y="885"/>
                </a:lnTo>
                <a:lnTo>
                  <a:pt x="0" y="885"/>
                </a:lnTo>
                <a:lnTo>
                  <a:pt x="0" y="872"/>
                </a:lnTo>
                <a:lnTo>
                  <a:pt x="13" y="872"/>
                </a:lnTo>
                <a:close/>
                <a:moveTo>
                  <a:pt x="13" y="899"/>
                </a:moveTo>
                <a:lnTo>
                  <a:pt x="13" y="912"/>
                </a:lnTo>
                <a:lnTo>
                  <a:pt x="0" y="912"/>
                </a:lnTo>
                <a:lnTo>
                  <a:pt x="0" y="899"/>
                </a:lnTo>
                <a:lnTo>
                  <a:pt x="13" y="899"/>
                </a:lnTo>
                <a:close/>
                <a:moveTo>
                  <a:pt x="13" y="925"/>
                </a:moveTo>
                <a:lnTo>
                  <a:pt x="13" y="938"/>
                </a:lnTo>
                <a:lnTo>
                  <a:pt x="0" y="938"/>
                </a:lnTo>
                <a:lnTo>
                  <a:pt x="0" y="925"/>
                </a:lnTo>
                <a:lnTo>
                  <a:pt x="13" y="925"/>
                </a:lnTo>
                <a:close/>
                <a:moveTo>
                  <a:pt x="13" y="951"/>
                </a:moveTo>
                <a:lnTo>
                  <a:pt x="13" y="965"/>
                </a:lnTo>
                <a:lnTo>
                  <a:pt x="0" y="965"/>
                </a:lnTo>
                <a:lnTo>
                  <a:pt x="0" y="951"/>
                </a:lnTo>
                <a:lnTo>
                  <a:pt x="13" y="951"/>
                </a:lnTo>
                <a:close/>
                <a:moveTo>
                  <a:pt x="13" y="978"/>
                </a:moveTo>
                <a:lnTo>
                  <a:pt x="13" y="991"/>
                </a:lnTo>
                <a:lnTo>
                  <a:pt x="0" y="991"/>
                </a:lnTo>
                <a:lnTo>
                  <a:pt x="0" y="978"/>
                </a:lnTo>
                <a:lnTo>
                  <a:pt x="13" y="978"/>
                </a:lnTo>
                <a:close/>
                <a:moveTo>
                  <a:pt x="13" y="1004"/>
                </a:moveTo>
                <a:lnTo>
                  <a:pt x="13" y="1017"/>
                </a:lnTo>
                <a:lnTo>
                  <a:pt x="0" y="1017"/>
                </a:lnTo>
                <a:lnTo>
                  <a:pt x="0" y="1004"/>
                </a:lnTo>
                <a:lnTo>
                  <a:pt x="13" y="1004"/>
                </a:lnTo>
                <a:close/>
                <a:moveTo>
                  <a:pt x="13" y="1030"/>
                </a:moveTo>
                <a:lnTo>
                  <a:pt x="13" y="1044"/>
                </a:lnTo>
                <a:lnTo>
                  <a:pt x="0" y="1044"/>
                </a:lnTo>
                <a:lnTo>
                  <a:pt x="0" y="1030"/>
                </a:lnTo>
                <a:lnTo>
                  <a:pt x="13" y="1030"/>
                </a:lnTo>
                <a:close/>
                <a:moveTo>
                  <a:pt x="13" y="1057"/>
                </a:moveTo>
                <a:lnTo>
                  <a:pt x="13" y="1070"/>
                </a:lnTo>
                <a:lnTo>
                  <a:pt x="0" y="1070"/>
                </a:lnTo>
                <a:lnTo>
                  <a:pt x="0" y="1057"/>
                </a:lnTo>
                <a:lnTo>
                  <a:pt x="13" y="1057"/>
                </a:lnTo>
                <a:close/>
                <a:moveTo>
                  <a:pt x="13" y="1083"/>
                </a:moveTo>
                <a:lnTo>
                  <a:pt x="13" y="1097"/>
                </a:lnTo>
                <a:lnTo>
                  <a:pt x="0" y="1097"/>
                </a:lnTo>
                <a:lnTo>
                  <a:pt x="0" y="1083"/>
                </a:lnTo>
                <a:lnTo>
                  <a:pt x="13" y="1083"/>
                </a:lnTo>
                <a:close/>
                <a:moveTo>
                  <a:pt x="13" y="1110"/>
                </a:moveTo>
                <a:lnTo>
                  <a:pt x="13" y="1123"/>
                </a:lnTo>
                <a:lnTo>
                  <a:pt x="0" y="1123"/>
                </a:lnTo>
                <a:lnTo>
                  <a:pt x="0" y="1110"/>
                </a:lnTo>
                <a:lnTo>
                  <a:pt x="13" y="1110"/>
                </a:lnTo>
                <a:close/>
                <a:moveTo>
                  <a:pt x="13" y="1136"/>
                </a:moveTo>
                <a:lnTo>
                  <a:pt x="13" y="1149"/>
                </a:lnTo>
                <a:lnTo>
                  <a:pt x="0" y="1149"/>
                </a:lnTo>
                <a:lnTo>
                  <a:pt x="0" y="1136"/>
                </a:lnTo>
                <a:lnTo>
                  <a:pt x="13" y="1136"/>
                </a:lnTo>
                <a:close/>
                <a:moveTo>
                  <a:pt x="13" y="1163"/>
                </a:moveTo>
                <a:lnTo>
                  <a:pt x="13" y="1176"/>
                </a:lnTo>
                <a:lnTo>
                  <a:pt x="0" y="1176"/>
                </a:lnTo>
                <a:lnTo>
                  <a:pt x="0" y="1163"/>
                </a:lnTo>
                <a:lnTo>
                  <a:pt x="13" y="1163"/>
                </a:lnTo>
                <a:close/>
                <a:moveTo>
                  <a:pt x="13" y="1189"/>
                </a:moveTo>
                <a:lnTo>
                  <a:pt x="13" y="1202"/>
                </a:lnTo>
                <a:lnTo>
                  <a:pt x="0" y="1202"/>
                </a:lnTo>
                <a:lnTo>
                  <a:pt x="0" y="1189"/>
                </a:lnTo>
                <a:lnTo>
                  <a:pt x="13" y="1189"/>
                </a:lnTo>
                <a:close/>
                <a:moveTo>
                  <a:pt x="13" y="1216"/>
                </a:moveTo>
                <a:lnTo>
                  <a:pt x="13" y="1229"/>
                </a:lnTo>
                <a:lnTo>
                  <a:pt x="0" y="1229"/>
                </a:lnTo>
                <a:lnTo>
                  <a:pt x="0" y="1216"/>
                </a:lnTo>
                <a:lnTo>
                  <a:pt x="13" y="1216"/>
                </a:lnTo>
                <a:close/>
                <a:moveTo>
                  <a:pt x="13" y="1242"/>
                </a:moveTo>
                <a:lnTo>
                  <a:pt x="13" y="1255"/>
                </a:lnTo>
                <a:lnTo>
                  <a:pt x="0" y="1255"/>
                </a:lnTo>
                <a:lnTo>
                  <a:pt x="0" y="1242"/>
                </a:lnTo>
                <a:lnTo>
                  <a:pt x="13" y="1242"/>
                </a:lnTo>
                <a:close/>
                <a:moveTo>
                  <a:pt x="13" y="1268"/>
                </a:moveTo>
                <a:lnTo>
                  <a:pt x="13" y="1282"/>
                </a:lnTo>
                <a:lnTo>
                  <a:pt x="0" y="1282"/>
                </a:lnTo>
                <a:lnTo>
                  <a:pt x="0" y="1268"/>
                </a:lnTo>
                <a:lnTo>
                  <a:pt x="13" y="1268"/>
                </a:lnTo>
                <a:close/>
                <a:moveTo>
                  <a:pt x="13" y="1295"/>
                </a:moveTo>
                <a:lnTo>
                  <a:pt x="13" y="1308"/>
                </a:lnTo>
                <a:lnTo>
                  <a:pt x="0" y="1308"/>
                </a:lnTo>
                <a:lnTo>
                  <a:pt x="0" y="1295"/>
                </a:lnTo>
                <a:lnTo>
                  <a:pt x="13" y="1295"/>
                </a:lnTo>
                <a:close/>
                <a:moveTo>
                  <a:pt x="13" y="1321"/>
                </a:moveTo>
                <a:lnTo>
                  <a:pt x="13" y="1335"/>
                </a:lnTo>
                <a:lnTo>
                  <a:pt x="0" y="1335"/>
                </a:lnTo>
                <a:lnTo>
                  <a:pt x="0" y="1321"/>
                </a:lnTo>
                <a:lnTo>
                  <a:pt x="13" y="1321"/>
                </a:lnTo>
                <a:close/>
                <a:moveTo>
                  <a:pt x="13" y="1348"/>
                </a:moveTo>
                <a:lnTo>
                  <a:pt x="13" y="1361"/>
                </a:lnTo>
                <a:lnTo>
                  <a:pt x="0" y="1361"/>
                </a:lnTo>
                <a:lnTo>
                  <a:pt x="0" y="1348"/>
                </a:lnTo>
                <a:lnTo>
                  <a:pt x="13" y="1348"/>
                </a:lnTo>
                <a:close/>
                <a:moveTo>
                  <a:pt x="13" y="1374"/>
                </a:moveTo>
                <a:lnTo>
                  <a:pt x="13" y="1387"/>
                </a:lnTo>
                <a:lnTo>
                  <a:pt x="0" y="1387"/>
                </a:lnTo>
                <a:lnTo>
                  <a:pt x="0" y="1374"/>
                </a:lnTo>
                <a:lnTo>
                  <a:pt x="13" y="1374"/>
                </a:lnTo>
                <a:close/>
                <a:moveTo>
                  <a:pt x="13" y="1400"/>
                </a:moveTo>
                <a:lnTo>
                  <a:pt x="13" y="1414"/>
                </a:lnTo>
                <a:lnTo>
                  <a:pt x="0" y="1414"/>
                </a:lnTo>
                <a:lnTo>
                  <a:pt x="0" y="1400"/>
                </a:lnTo>
                <a:lnTo>
                  <a:pt x="13" y="1400"/>
                </a:lnTo>
                <a:close/>
                <a:moveTo>
                  <a:pt x="13" y="1427"/>
                </a:moveTo>
                <a:lnTo>
                  <a:pt x="13" y="1440"/>
                </a:lnTo>
                <a:lnTo>
                  <a:pt x="0" y="1440"/>
                </a:lnTo>
                <a:lnTo>
                  <a:pt x="0" y="1427"/>
                </a:lnTo>
                <a:lnTo>
                  <a:pt x="13" y="1427"/>
                </a:lnTo>
                <a:close/>
                <a:moveTo>
                  <a:pt x="13" y="1453"/>
                </a:moveTo>
                <a:lnTo>
                  <a:pt x="13" y="1466"/>
                </a:lnTo>
                <a:lnTo>
                  <a:pt x="0" y="1466"/>
                </a:lnTo>
                <a:lnTo>
                  <a:pt x="0" y="1453"/>
                </a:lnTo>
                <a:lnTo>
                  <a:pt x="13" y="1453"/>
                </a:lnTo>
                <a:close/>
                <a:moveTo>
                  <a:pt x="13" y="1480"/>
                </a:moveTo>
                <a:lnTo>
                  <a:pt x="13" y="1493"/>
                </a:lnTo>
                <a:lnTo>
                  <a:pt x="0" y="1493"/>
                </a:lnTo>
                <a:lnTo>
                  <a:pt x="0" y="1480"/>
                </a:lnTo>
                <a:lnTo>
                  <a:pt x="13" y="1480"/>
                </a:lnTo>
                <a:close/>
                <a:moveTo>
                  <a:pt x="13" y="1506"/>
                </a:moveTo>
                <a:lnTo>
                  <a:pt x="13" y="1519"/>
                </a:lnTo>
                <a:lnTo>
                  <a:pt x="0" y="1519"/>
                </a:lnTo>
                <a:lnTo>
                  <a:pt x="0" y="1506"/>
                </a:lnTo>
                <a:lnTo>
                  <a:pt x="13" y="1506"/>
                </a:lnTo>
                <a:close/>
                <a:moveTo>
                  <a:pt x="13" y="1533"/>
                </a:moveTo>
                <a:lnTo>
                  <a:pt x="13" y="1546"/>
                </a:lnTo>
                <a:lnTo>
                  <a:pt x="0" y="1546"/>
                </a:lnTo>
                <a:lnTo>
                  <a:pt x="0" y="1533"/>
                </a:lnTo>
                <a:lnTo>
                  <a:pt x="13" y="1533"/>
                </a:lnTo>
                <a:close/>
                <a:moveTo>
                  <a:pt x="13" y="1559"/>
                </a:moveTo>
                <a:lnTo>
                  <a:pt x="13" y="1572"/>
                </a:lnTo>
                <a:lnTo>
                  <a:pt x="0" y="1572"/>
                </a:lnTo>
                <a:lnTo>
                  <a:pt x="0" y="1559"/>
                </a:lnTo>
                <a:lnTo>
                  <a:pt x="13" y="1559"/>
                </a:lnTo>
                <a:close/>
                <a:moveTo>
                  <a:pt x="13" y="1585"/>
                </a:moveTo>
                <a:lnTo>
                  <a:pt x="13" y="1599"/>
                </a:lnTo>
                <a:lnTo>
                  <a:pt x="0" y="1599"/>
                </a:lnTo>
                <a:lnTo>
                  <a:pt x="0" y="1585"/>
                </a:lnTo>
                <a:lnTo>
                  <a:pt x="13" y="1585"/>
                </a:lnTo>
                <a:close/>
                <a:moveTo>
                  <a:pt x="13" y="1612"/>
                </a:moveTo>
                <a:lnTo>
                  <a:pt x="13" y="1625"/>
                </a:lnTo>
                <a:lnTo>
                  <a:pt x="0" y="1625"/>
                </a:lnTo>
                <a:lnTo>
                  <a:pt x="0" y="1612"/>
                </a:lnTo>
                <a:lnTo>
                  <a:pt x="13" y="1612"/>
                </a:lnTo>
                <a:close/>
                <a:moveTo>
                  <a:pt x="13" y="1638"/>
                </a:moveTo>
                <a:lnTo>
                  <a:pt x="13" y="1652"/>
                </a:lnTo>
                <a:lnTo>
                  <a:pt x="0" y="1652"/>
                </a:lnTo>
                <a:lnTo>
                  <a:pt x="0" y="1638"/>
                </a:lnTo>
                <a:lnTo>
                  <a:pt x="13" y="1638"/>
                </a:lnTo>
                <a:close/>
                <a:moveTo>
                  <a:pt x="13" y="1665"/>
                </a:moveTo>
                <a:lnTo>
                  <a:pt x="13" y="1678"/>
                </a:lnTo>
                <a:lnTo>
                  <a:pt x="0" y="1678"/>
                </a:lnTo>
                <a:lnTo>
                  <a:pt x="0" y="1665"/>
                </a:lnTo>
                <a:lnTo>
                  <a:pt x="13" y="1665"/>
                </a:lnTo>
                <a:close/>
                <a:moveTo>
                  <a:pt x="13" y="1691"/>
                </a:moveTo>
                <a:lnTo>
                  <a:pt x="13" y="1704"/>
                </a:lnTo>
                <a:lnTo>
                  <a:pt x="0" y="1704"/>
                </a:lnTo>
                <a:lnTo>
                  <a:pt x="0" y="1691"/>
                </a:lnTo>
                <a:lnTo>
                  <a:pt x="13" y="1691"/>
                </a:lnTo>
                <a:close/>
                <a:moveTo>
                  <a:pt x="13" y="1718"/>
                </a:moveTo>
                <a:lnTo>
                  <a:pt x="13" y="1731"/>
                </a:lnTo>
                <a:lnTo>
                  <a:pt x="0" y="1731"/>
                </a:lnTo>
                <a:lnTo>
                  <a:pt x="0" y="1718"/>
                </a:lnTo>
                <a:lnTo>
                  <a:pt x="13" y="1718"/>
                </a:lnTo>
                <a:close/>
                <a:moveTo>
                  <a:pt x="13" y="1744"/>
                </a:moveTo>
                <a:lnTo>
                  <a:pt x="13" y="1757"/>
                </a:lnTo>
                <a:lnTo>
                  <a:pt x="0" y="1757"/>
                </a:lnTo>
                <a:lnTo>
                  <a:pt x="0" y="1744"/>
                </a:lnTo>
                <a:lnTo>
                  <a:pt x="13" y="1744"/>
                </a:lnTo>
                <a:close/>
                <a:moveTo>
                  <a:pt x="13" y="1770"/>
                </a:moveTo>
                <a:lnTo>
                  <a:pt x="13" y="1783"/>
                </a:lnTo>
                <a:lnTo>
                  <a:pt x="0" y="1783"/>
                </a:lnTo>
                <a:lnTo>
                  <a:pt x="0" y="1770"/>
                </a:lnTo>
                <a:lnTo>
                  <a:pt x="13" y="1770"/>
                </a:lnTo>
                <a:close/>
                <a:moveTo>
                  <a:pt x="13" y="1797"/>
                </a:moveTo>
                <a:lnTo>
                  <a:pt x="13" y="1810"/>
                </a:lnTo>
                <a:lnTo>
                  <a:pt x="0" y="1810"/>
                </a:lnTo>
                <a:lnTo>
                  <a:pt x="0" y="1797"/>
                </a:lnTo>
                <a:lnTo>
                  <a:pt x="13" y="1797"/>
                </a:lnTo>
                <a:close/>
                <a:moveTo>
                  <a:pt x="13" y="1823"/>
                </a:moveTo>
                <a:lnTo>
                  <a:pt x="13" y="1836"/>
                </a:lnTo>
                <a:lnTo>
                  <a:pt x="0" y="1836"/>
                </a:lnTo>
                <a:lnTo>
                  <a:pt x="0" y="1823"/>
                </a:lnTo>
                <a:lnTo>
                  <a:pt x="13" y="1823"/>
                </a:lnTo>
                <a:close/>
                <a:moveTo>
                  <a:pt x="13" y="1850"/>
                </a:moveTo>
                <a:lnTo>
                  <a:pt x="13" y="1863"/>
                </a:lnTo>
                <a:lnTo>
                  <a:pt x="0" y="1863"/>
                </a:lnTo>
                <a:lnTo>
                  <a:pt x="0" y="1850"/>
                </a:lnTo>
                <a:lnTo>
                  <a:pt x="13" y="1850"/>
                </a:lnTo>
                <a:close/>
                <a:moveTo>
                  <a:pt x="13" y="1876"/>
                </a:moveTo>
                <a:lnTo>
                  <a:pt x="13" y="1889"/>
                </a:lnTo>
                <a:lnTo>
                  <a:pt x="0" y="1889"/>
                </a:lnTo>
                <a:lnTo>
                  <a:pt x="0" y="1876"/>
                </a:lnTo>
                <a:lnTo>
                  <a:pt x="13" y="1876"/>
                </a:lnTo>
                <a:close/>
                <a:moveTo>
                  <a:pt x="13" y="1902"/>
                </a:moveTo>
                <a:lnTo>
                  <a:pt x="13" y="1916"/>
                </a:lnTo>
                <a:lnTo>
                  <a:pt x="0" y="1916"/>
                </a:lnTo>
                <a:lnTo>
                  <a:pt x="0" y="1902"/>
                </a:lnTo>
                <a:lnTo>
                  <a:pt x="13" y="1902"/>
                </a:lnTo>
                <a:close/>
                <a:moveTo>
                  <a:pt x="13" y="1929"/>
                </a:moveTo>
                <a:lnTo>
                  <a:pt x="13" y="1942"/>
                </a:lnTo>
                <a:lnTo>
                  <a:pt x="0" y="1942"/>
                </a:lnTo>
                <a:lnTo>
                  <a:pt x="0" y="1929"/>
                </a:lnTo>
                <a:lnTo>
                  <a:pt x="13" y="1929"/>
                </a:lnTo>
                <a:close/>
                <a:moveTo>
                  <a:pt x="13" y="1955"/>
                </a:moveTo>
                <a:lnTo>
                  <a:pt x="13" y="1969"/>
                </a:lnTo>
                <a:lnTo>
                  <a:pt x="0" y="1969"/>
                </a:lnTo>
                <a:lnTo>
                  <a:pt x="0" y="1955"/>
                </a:lnTo>
                <a:lnTo>
                  <a:pt x="13" y="1955"/>
                </a:lnTo>
                <a:close/>
                <a:moveTo>
                  <a:pt x="13" y="1982"/>
                </a:moveTo>
                <a:lnTo>
                  <a:pt x="13" y="1995"/>
                </a:lnTo>
                <a:lnTo>
                  <a:pt x="0" y="1995"/>
                </a:lnTo>
                <a:lnTo>
                  <a:pt x="0" y="1982"/>
                </a:lnTo>
                <a:lnTo>
                  <a:pt x="13" y="1982"/>
                </a:lnTo>
                <a:close/>
                <a:moveTo>
                  <a:pt x="13" y="2008"/>
                </a:moveTo>
                <a:lnTo>
                  <a:pt x="13" y="2021"/>
                </a:lnTo>
                <a:lnTo>
                  <a:pt x="0" y="2021"/>
                </a:lnTo>
                <a:lnTo>
                  <a:pt x="0" y="2008"/>
                </a:lnTo>
                <a:lnTo>
                  <a:pt x="13" y="2008"/>
                </a:lnTo>
                <a:close/>
                <a:moveTo>
                  <a:pt x="13" y="2035"/>
                </a:moveTo>
                <a:lnTo>
                  <a:pt x="13" y="2048"/>
                </a:lnTo>
                <a:lnTo>
                  <a:pt x="0" y="2048"/>
                </a:lnTo>
                <a:lnTo>
                  <a:pt x="0" y="2035"/>
                </a:lnTo>
                <a:lnTo>
                  <a:pt x="13" y="2035"/>
                </a:lnTo>
                <a:close/>
                <a:moveTo>
                  <a:pt x="13" y="2061"/>
                </a:moveTo>
                <a:lnTo>
                  <a:pt x="13" y="2074"/>
                </a:lnTo>
                <a:lnTo>
                  <a:pt x="0" y="2074"/>
                </a:lnTo>
                <a:lnTo>
                  <a:pt x="0" y="2061"/>
                </a:lnTo>
                <a:lnTo>
                  <a:pt x="13" y="2061"/>
                </a:lnTo>
                <a:close/>
                <a:moveTo>
                  <a:pt x="13" y="2088"/>
                </a:moveTo>
                <a:lnTo>
                  <a:pt x="13" y="2101"/>
                </a:lnTo>
                <a:lnTo>
                  <a:pt x="0" y="2101"/>
                </a:lnTo>
                <a:lnTo>
                  <a:pt x="0" y="2088"/>
                </a:lnTo>
                <a:lnTo>
                  <a:pt x="13" y="2088"/>
                </a:lnTo>
                <a:close/>
                <a:moveTo>
                  <a:pt x="13" y="2114"/>
                </a:moveTo>
                <a:lnTo>
                  <a:pt x="13" y="2127"/>
                </a:lnTo>
                <a:lnTo>
                  <a:pt x="0" y="2127"/>
                </a:lnTo>
                <a:lnTo>
                  <a:pt x="0" y="2114"/>
                </a:lnTo>
                <a:lnTo>
                  <a:pt x="13" y="2114"/>
                </a:lnTo>
                <a:close/>
                <a:moveTo>
                  <a:pt x="13" y="2140"/>
                </a:moveTo>
                <a:lnTo>
                  <a:pt x="13" y="2153"/>
                </a:lnTo>
                <a:lnTo>
                  <a:pt x="0" y="2153"/>
                </a:lnTo>
                <a:lnTo>
                  <a:pt x="0" y="2140"/>
                </a:lnTo>
                <a:lnTo>
                  <a:pt x="13" y="2140"/>
                </a:lnTo>
                <a:close/>
                <a:moveTo>
                  <a:pt x="13" y="2167"/>
                </a:moveTo>
                <a:lnTo>
                  <a:pt x="13" y="2180"/>
                </a:lnTo>
                <a:lnTo>
                  <a:pt x="0" y="2180"/>
                </a:lnTo>
                <a:lnTo>
                  <a:pt x="0" y="2167"/>
                </a:lnTo>
                <a:lnTo>
                  <a:pt x="13" y="2167"/>
                </a:lnTo>
                <a:close/>
                <a:moveTo>
                  <a:pt x="13" y="2193"/>
                </a:moveTo>
                <a:lnTo>
                  <a:pt x="13" y="2206"/>
                </a:lnTo>
                <a:lnTo>
                  <a:pt x="0" y="2206"/>
                </a:lnTo>
                <a:lnTo>
                  <a:pt x="0" y="2193"/>
                </a:lnTo>
                <a:lnTo>
                  <a:pt x="13" y="2193"/>
                </a:lnTo>
                <a:close/>
                <a:moveTo>
                  <a:pt x="13" y="2219"/>
                </a:moveTo>
                <a:lnTo>
                  <a:pt x="13" y="2233"/>
                </a:lnTo>
                <a:lnTo>
                  <a:pt x="0" y="2233"/>
                </a:lnTo>
                <a:lnTo>
                  <a:pt x="0" y="2219"/>
                </a:lnTo>
                <a:lnTo>
                  <a:pt x="13" y="2219"/>
                </a:lnTo>
                <a:close/>
                <a:moveTo>
                  <a:pt x="13" y="2246"/>
                </a:moveTo>
                <a:lnTo>
                  <a:pt x="13" y="2259"/>
                </a:lnTo>
                <a:lnTo>
                  <a:pt x="0" y="2259"/>
                </a:lnTo>
                <a:lnTo>
                  <a:pt x="0" y="2246"/>
                </a:lnTo>
                <a:lnTo>
                  <a:pt x="13" y="2246"/>
                </a:lnTo>
                <a:close/>
                <a:moveTo>
                  <a:pt x="13" y="2272"/>
                </a:moveTo>
                <a:lnTo>
                  <a:pt x="13" y="2286"/>
                </a:lnTo>
                <a:lnTo>
                  <a:pt x="0" y="2286"/>
                </a:lnTo>
                <a:lnTo>
                  <a:pt x="0" y="2272"/>
                </a:lnTo>
                <a:lnTo>
                  <a:pt x="13" y="2272"/>
                </a:lnTo>
                <a:close/>
                <a:moveTo>
                  <a:pt x="13" y="2299"/>
                </a:moveTo>
                <a:lnTo>
                  <a:pt x="13" y="2312"/>
                </a:lnTo>
                <a:lnTo>
                  <a:pt x="0" y="2312"/>
                </a:lnTo>
                <a:lnTo>
                  <a:pt x="0" y="2299"/>
                </a:lnTo>
                <a:lnTo>
                  <a:pt x="13" y="2299"/>
                </a:lnTo>
                <a:close/>
              </a:path>
            </a:pathLst>
          </a:custGeom>
          <a:solidFill>
            <a:srgbClr val="000000"/>
          </a:solidFill>
          <a:ln w="0" cap="flat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85" name="Freeform 82">
            <a:extLst>
              <a:ext uri="{FF2B5EF4-FFF2-40B4-BE49-F238E27FC236}">
                <a16:creationId xmlns:a16="http://schemas.microsoft.com/office/drawing/2014/main" id="{46B1BC37-5B50-462E-AFFB-9163D0BA5E0D}"/>
              </a:ext>
            </a:extLst>
          </p:cNvPr>
          <p:cNvSpPr>
            <a:spLocks noEditPoints="1"/>
          </p:cNvSpPr>
          <p:nvPr/>
        </p:nvSpPr>
        <p:spPr bwMode="auto">
          <a:xfrm>
            <a:off x="3916363" y="2357438"/>
            <a:ext cx="20638" cy="3670300"/>
          </a:xfrm>
          <a:custGeom>
            <a:avLst/>
            <a:gdLst>
              <a:gd name="T0" fmla="*/ 13 w 13"/>
              <a:gd name="T1" fmla="*/ 40 h 2312"/>
              <a:gd name="T2" fmla="*/ 0 w 13"/>
              <a:gd name="T3" fmla="*/ 53 h 2312"/>
              <a:gd name="T4" fmla="*/ 13 w 13"/>
              <a:gd name="T5" fmla="*/ 106 h 2312"/>
              <a:gd name="T6" fmla="*/ 0 w 13"/>
              <a:gd name="T7" fmla="*/ 146 h 2312"/>
              <a:gd name="T8" fmla="*/ 13 w 13"/>
              <a:gd name="T9" fmla="*/ 159 h 2312"/>
              <a:gd name="T10" fmla="*/ 13 w 13"/>
              <a:gd name="T11" fmla="*/ 225 h 2312"/>
              <a:gd name="T12" fmla="*/ 0 w 13"/>
              <a:gd name="T13" fmla="*/ 238 h 2312"/>
              <a:gd name="T14" fmla="*/ 13 w 13"/>
              <a:gd name="T15" fmla="*/ 291 h 2312"/>
              <a:gd name="T16" fmla="*/ 0 w 13"/>
              <a:gd name="T17" fmla="*/ 330 h 2312"/>
              <a:gd name="T18" fmla="*/ 13 w 13"/>
              <a:gd name="T19" fmla="*/ 344 h 2312"/>
              <a:gd name="T20" fmla="*/ 13 w 13"/>
              <a:gd name="T21" fmla="*/ 410 h 2312"/>
              <a:gd name="T22" fmla="*/ 0 w 13"/>
              <a:gd name="T23" fmla="*/ 423 h 2312"/>
              <a:gd name="T24" fmla="*/ 13 w 13"/>
              <a:gd name="T25" fmla="*/ 476 h 2312"/>
              <a:gd name="T26" fmla="*/ 0 w 13"/>
              <a:gd name="T27" fmla="*/ 515 h 2312"/>
              <a:gd name="T28" fmla="*/ 13 w 13"/>
              <a:gd name="T29" fmla="*/ 529 h 2312"/>
              <a:gd name="T30" fmla="*/ 13 w 13"/>
              <a:gd name="T31" fmla="*/ 594 h 2312"/>
              <a:gd name="T32" fmla="*/ 0 w 13"/>
              <a:gd name="T33" fmla="*/ 608 h 2312"/>
              <a:gd name="T34" fmla="*/ 13 w 13"/>
              <a:gd name="T35" fmla="*/ 661 h 2312"/>
              <a:gd name="T36" fmla="*/ 0 w 13"/>
              <a:gd name="T37" fmla="*/ 700 h 2312"/>
              <a:gd name="T38" fmla="*/ 13 w 13"/>
              <a:gd name="T39" fmla="*/ 713 h 2312"/>
              <a:gd name="T40" fmla="*/ 13 w 13"/>
              <a:gd name="T41" fmla="*/ 780 h 2312"/>
              <a:gd name="T42" fmla="*/ 0 w 13"/>
              <a:gd name="T43" fmla="*/ 793 h 2312"/>
              <a:gd name="T44" fmla="*/ 13 w 13"/>
              <a:gd name="T45" fmla="*/ 846 h 2312"/>
              <a:gd name="T46" fmla="*/ 0 w 13"/>
              <a:gd name="T47" fmla="*/ 885 h 2312"/>
              <a:gd name="T48" fmla="*/ 13 w 13"/>
              <a:gd name="T49" fmla="*/ 899 h 2312"/>
              <a:gd name="T50" fmla="*/ 13 w 13"/>
              <a:gd name="T51" fmla="*/ 965 h 2312"/>
              <a:gd name="T52" fmla="*/ 0 w 13"/>
              <a:gd name="T53" fmla="*/ 978 h 2312"/>
              <a:gd name="T54" fmla="*/ 13 w 13"/>
              <a:gd name="T55" fmla="*/ 1030 h 2312"/>
              <a:gd name="T56" fmla="*/ 0 w 13"/>
              <a:gd name="T57" fmla="*/ 1070 h 2312"/>
              <a:gd name="T58" fmla="*/ 13 w 13"/>
              <a:gd name="T59" fmla="*/ 1083 h 2312"/>
              <a:gd name="T60" fmla="*/ 13 w 13"/>
              <a:gd name="T61" fmla="*/ 1149 h 2312"/>
              <a:gd name="T62" fmla="*/ 0 w 13"/>
              <a:gd name="T63" fmla="*/ 1163 h 2312"/>
              <a:gd name="T64" fmla="*/ 13 w 13"/>
              <a:gd name="T65" fmla="*/ 1216 h 2312"/>
              <a:gd name="T66" fmla="*/ 0 w 13"/>
              <a:gd name="T67" fmla="*/ 1255 h 2312"/>
              <a:gd name="T68" fmla="*/ 13 w 13"/>
              <a:gd name="T69" fmla="*/ 1268 h 2312"/>
              <a:gd name="T70" fmla="*/ 13 w 13"/>
              <a:gd name="T71" fmla="*/ 1335 h 2312"/>
              <a:gd name="T72" fmla="*/ 0 w 13"/>
              <a:gd name="T73" fmla="*/ 1348 h 2312"/>
              <a:gd name="T74" fmla="*/ 13 w 13"/>
              <a:gd name="T75" fmla="*/ 1400 h 2312"/>
              <a:gd name="T76" fmla="*/ 0 w 13"/>
              <a:gd name="T77" fmla="*/ 1440 h 2312"/>
              <a:gd name="T78" fmla="*/ 13 w 13"/>
              <a:gd name="T79" fmla="*/ 1453 h 2312"/>
              <a:gd name="T80" fmla="*/ 13 w 13"/>
              <a:gd name="T81" fmla="*/ 1519 h 2312"/>
              <a:gd name="T82" fmla="*/ 0 w 13"/>
              <a:gd name="T83" fmla="*/ 1533 h 2312"/>
              <a:gd name="T84" fmla="*/ 13 w 13"/>
              <a:gd name="T85" fmla="*/ 1585 h 2312"/>
              <a:gd name="T86" fmla="*/ 0 w 13"/>
              <a:gd name="T87" fmla="*/ 1625 h 2312"/>
              <a:gd name="T88" fmla="*/ 13 w 13"/>
              <a:gd name="T89" fmla="*/ 1638 h 2312"/>
              <a:gd name="T90" fmla="*/ 13 w 13"/>
              <a:gd name="T91" fmla="*/ 1704 h 2312"/>
              <a:gd name="T92" fmla="*/ 0 w 13"/>
              <a:gd name="T93" fmla="*/ 1718 h 2312"/>
              <a:gd name="T94" fmla="*/ 13 w 13"/>
              <a:gd name="T95" fmla="*/ 1770 h 2312"/>
              <a:gd name="T96" fmla="*/ 0 w 13"/>
              <a:gd name="T97" fmla="*/ 1810 h 2312"/>
              <a:gd name="T98" fmla="*/ 13 w 13"/>
              <a:gd name="T99" fmla="*/ 1823 h 2312"/>
              <a:gd name="T100" fmla="*/ 13 w 13"/>
              <a:gd name="T101" fmla="*/ 1889 h 2312"/>
              <a:gd name="T102" fmla="*/ 0 w 13"/>
              <a:gd name="T103" fmla="*/ 1902 h 2312"/>
              <a:gd name="T104" fmla="*/ 13 w 13"/>
              <a:gd name="T105" fmla="*/ 1955 h 2312"/>
              <a:gd name="T106" fmla="*/ 0 w 13"/>
              <a:gd name="T107" fmla="*/ 1995 h 2312"/>
              <a:gd name="T108" fmla="*/ 13 w 13"/>
              <a:gd name="T109" fmla="*/ 2008 h 2312"/>
              <a:gd name="T110" fmla="*/ 13 w 13"/>
              <a:gd name="T111" fmla="*/ 2074 h 2312"/>
              <a:gd name="T112" fmla="*/ 0 w 13"/>
              <a:gd name="T113" fmla="*/ 2088 h 2312"/>
              <a:gd name="T114" fmla="*/ 13 w 13"/>
              <a:gd name="T115" fmla="*/ 2140 h 2312"/>
              <a:gd name="T116" fmla="*/ 0 w 13"/>
              <a:gd name="T117" fmla="*/ 2180 h 2312"/>
              <a:gd name="T118" fmla="*/ 13 w 13"/>
              <a:gd name="T119" fmla="*/ 2193 h 2312"/>
              <a:gd name="T120" fmla="*/ 13 w 13"/>
              <a:gd name="T121" fmla="*/ 2259 h 2312"/>
              <a:gd name="T122" fmla="*/ 0 w 13"/>
              <a:gd name="T123" fmla="*/ 2272 h 23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13" h="2312">
                <a:moveTo>
                  <a:pt x="13" y="0"/>
                </a:moveTo>
                <a:lnTo>
                  <a:pt x="13" y="13"/>
                </a:lnTo>
                <a:lnTo>
                  <a:pt x="0" y="13"/>
                </a:lnTo>
                <a:lnTo>
                  <a:pt x="0" y="0"/>
                </a:lnTo>
                <a:lnTo>
                  <a:pt x="13" y="0"/>
                </a:lnTo>
                <a:close/>
                <a:moveTo>
                  <a:pt x="13" y="27"/>
                </a:moveTo>
                <a:lnTo>
                  <a:pt x="13" y="40"/>
                </a:lnTo>
                <a:lnTo>
                  <a:pt x="0" y="40"/>
                </a:lnTo>
                <a:lnTo>
                  <a:pt x="0" y="27"/>
                </a:lnTo>
                <a:lnTo>
                  <a:pt x="13" y="27"/>
                </a:lnTo>
                <a:close/>
                <a:moveTo>
                  <a:pt x="13" y="53"/>
                </a:moveTo>
                <a:lnTo>
                  <a:pt x="13" y="66"/>
                </a:lnTo>
                <a:lnTo>
                  <a:pt x="0" y="66"/>
                </a:lnTo>
                <a:lnTo>
                  <a:pt x="0" y="53"/>
                </a:lnTo>
                <a:lnTo>
                  <a:pt x="13" y="53"/>
                </a:lnTo>
                <a:close/>
                <a:moveTo>
                  <a:pt x="13" y="79"/>
                </a:moveTo>
                <a:lnTo>
                  <a:pt x="13" y="93"/>
                </a:lnTo>
                <a:lnTo>
                  <a:pt x="0" y="93"/>
                </a:lnTo>
                <a:lnTo>
                  <a:pt x="0" y="79"/>
                </a:lnTo>
                <a:lnTo>
                  <a:pt x="13" y="79"/>
                </a:lnTo>
                <a:close/>
                <a:moveTo>
                  <a:pt x="13" y="106"/>
                </a:moveTo>
                <a:lnTo>
                  <a:pt x="13" y="119"/>
                </a:lnTo>
                <a:lnTo>
                  <a:pt x="0" y="119"/>
                </a:lnTo>
                <a:lnTo>
                  <a:pt x="0" y="106"/>
                </a:lnTo>
                <a:lnTo>
                  <a:pt x="13" y="106"/>
                </a:lnTo>
                <a:close/>
                <a:moveTo>
                  <a:pt x="13" y="132"/>
                </a:moveTo>
                <a:lnTo>
                  <a:pt x="13" y="146"/>
                </a:lnTo>
                <a:lnTo>
                  <a:pt x="0" y="146"/>
                </a:lnTo>
                <a:lnTo>
                  <a:pt x="0" y="132"/>
                </a:lnTo>
                <a:lnTo>
                  <a:pt x="13" y="132"/>
                </a:lnTo>
                <a:close/>
                <a:moveTo>
                  <a:pt x="13" y="159"/>
                </a:moveTo>
                <a:lnTo>
                  <a:pt x="13" y="172"/>
                </a:lnTo>
                <a:lnTo>
                  <a:pt x="0" y="172"/>
                </a:lnTo>
                <a:lnTo>
                  <a:pt x="0" y="159"/>
                </a:lnTo>
                <a:lnTo>
                  <a:pt x="13" y="159"/>
                </a:lnTo>
                <a:close/>
                <a:moveTo>
                  <a:pt x="13" y="185"/>
                </a:moveTo>
                <a:lnTo>
                  <a:pt x="13" y="198"/>
                </a:lnTo>
                <a:lnTo>
                  <a:pt x="0" y="198"/>
                </a:lnTo>
                <a:lnTo>
                  <a:pt x="0" y="185"/>
                </a:lnTo>
                <a:lnTo>
                  <a:pt x="13" y="185"/>
                </a:lnTo>
                <a:close/>
                <a:moveTo>
                  <a:pt x="13" y="211"/>
                </a:moveTo>
                <a:lnTo>
                  <a:pt x="13" y="225"/>
                </a:lnTo>
                <a:lnTo>
                  <a:pt x="0" y="225"/>
                </a:lnTo>
                <a:lnTo>
                  <a:pt x="0" y="211"/>
                </a:lnTo>
                <a:lnTo>
                  <a:pt x="13" y="211"/>
                </a:lnTo>
                <a:close/>
                <a:moveTo>
                  <a:pt x="13" y="238"/>
                </a:moveTo>
                <a:lnTo>
                  <a:pt x="13" y="251"/>
                </a:lnTo>
                <a:lnTo>
                  <a:pt x="0" y="251"/>
                </a:lnTo>
                <a:lnTo>
                  <a:pt x="0" y="238"/>
                </a:lnTo>
                <a:lnTo>
                  <a:pt x="13" y="238"/>
                </a:lnTo>
                <a:close/>
                <a:moveTo>
                  <a:pt x="13" y="264"/>
                </a:moveTo>
                <a:lnTo>
                  <a:pt x="13" y="277"/>
                </a:lnTo>
                <a:lnTo>
                  <a:pt x="0" y="277"/>
                </a:lnTo>
                <a:lnTo>
                  <a:pt x="0" y="264"/>
                </a:lnTo>
                <a:lnTo>
                  <a:pt x="13" y="264"/>
                </a:lnTo>
                <a:close/>
                <a:moveTo>
                  <a:pt x="13" y="291"/>
                </a:moveTo>
                <a:lnTo>
                  <a:pt x="13" y="304"/>
                </a:lnTo>
                <a:lnTo>
                  <a:pt x="0" y="304"/>
                </a:lnTo>
                <a:lnTo>
                  <a:pt x="0" y="291"/>
                </a:lnTo>
                <a:lnTo>
                  <a:pt x="13" y="291"/>
                </a:lnTo>
                <a:close/>
                <a:moveTo>
                  <a:pt x="13" y="317"/>
                </a:moveTo>
                <a:lnTo>
                  <a:pt x="13" y="330"/>
                </a:lnTo>
                <a:lnTo>
                  <a:pt x="0" y="330"/>
                </a:lnTo>
                <a:lnTo>
                  <a:pt x="0" y="317"/>
                </a:lnTo>
                <a:lnTo>
                  <a:pt x="13" y="317"/>
                </a:lnTo>
                <a:close/>
                <a:moveTo>
                  <a:pt x="13" y="344"/>
                </a:moveTo>
                <a:lnTo>
                  <a:pt x="13" y="357"/>
                </a:lnTo>
                <a:lnTo>
                  <a:pt x="0" y="357"/>
                </a:lnTo>
                <a:lnTo>
                  <a:pt x="0" y="344"/>
                </a:lnTo>
                <a:lnTo>
                  <a:pt x="13" y="344"/>
                </a:lnTo>
                <a:close/>
                <a:moveTo>
                  <a:pt x="13" y="370"/>
                </a:moveTo>
                <a:lnTo>
                  <a:pt x="13" y="383"/>
                </a:lnTo>
                <a:lnTo>
                  <a:pt x="0" y="383"/>
                </a:lnTo>
                <a:lnTo>
                  <a:pt x="0" y="370"/>
                </a:lnTo>
                <a:lnTo>
                  <a:pt x="13" y="370"/>
                </a:lnTo>
                <a:close/>
                <a:moveTo>
                  <a:pt x="13" y="396"/>
                </a:moveTo>
                <a:lnTo>
                  <a:pt x="13" y="410"/>
                </a:lnTo>
                <a:lnTo>
                  <a:pt x="0" y="410"/>
                </a:lnTo>
                <a:lnTo>
                  <a:pt x="0" y="396"/>
                </a:lnTo>
                <a:lnTo>
                  <a:pt x="13" y="396"/>
                </a:lnTo>
                <a:close/>
                <a:moveTo>
                  <a:pt x="13" y="423"/>
                </a:moveTo>
                <a:lnTo>
                  <a:pt x="13" y="436"/>
                </a:lnTo>
                <a:lnTo>
                  <a:pt x="0" y="436"/>
                </a:lnTo>
                <a:lnTo>
                  <a:pt x="0" y="423"/>
                </a:lnTo>
                <a:lnTo>
                  <a:pt x="13" y="423"/>
                </a:lnTo>
                <a:close/>
                <a:moveTo>
                  <a:pt x="13" y="449"/>
                </a:moveTo>
                <a:lnTo>
                  <a:pt x="13" y="463"/>
                </a:lnTo>
                <a:lnTo>
                  <a:pt x="0" y="463"/>
                </a:lnTo>
                <a:lnTo>
                  <a:pt x="0" y="449"/>
                </a:lnTo>
                <a:lnTo>
                  <a:pt x="13" y="449"/>
                </a:lnTo>
                <a:close/>
                <a:moveTo>
                  <a:pt x="13" y="476"/>
                </a:moveTo>
                <a:lnTo>
                  <a:pt x="13" y="489"/>
                </a:lnTo>
                <a:lnTo>
                  <a:pt x="0" y="489"/>
                </a:lnTo>
                <a:lnTo>
                  <a:pt x="0" y="476"/>
                </a:lnTo>
                <a:lnTo>
                  <a:pt x="13" y="476"/>
                </a:lnTo>
                <a:close/>
                <a:moveTo>
                  <a:pt x="13" y="502"/>
                </a:moveTo>
                <a:lnTo>
                  <a:pt x="13" y="515"/>
                </a:lnTo>
                <a:lnTo>
                  <a:pt x="0" y="515"/>
                </a:lnTo>
                <a:lnTo>
                  <a:pt x="0" y="502"/>
                </a:lnTo>
                <a:lnTo>
                  <a:pt x="13" y="502"/>
                </a:lnTo>
                <a:close/>
                <a:moveTo>
                  <a:pt x="13" y="529"/>
                </a:moveTo>
                <a:lnTo>
                  <a:pt x="13" y="542"/>
                </a:lnTo>
                <a:lnTo>
                  <a:pt x="0" y="542"/>
                </a:lnTo>
                <a:lnTo>
                  <a:pt x="0" y="529"/>
                </a:lnTo>
                <a:lnTo>
                  <a:pt x="13" y="529"/>
                </a:lnTo>
                <a:close/>
                <a:moveTo>
                  <a:pt x="13" y="555"/>
                </a:moveTo>
                <a:lnTo>
                  <a:pt x="13" y="568"/>
                </a:lnTo>
                <a:lnTo>
                  <a:pt x="0" y="568"/>
                </a:lnTo>
                <a:lnTo>
                  <a:pt x="0" y="555"/>
                </a:lnTo>
                <a:lnTo>
                  <a:pt x="13" y="555"/>
                </a:lnTo>
                <a:close/>
                <a:moveTo>
                  <a:pt x="13" y="581"/>
                </a:moveTo>
                <a:lnTo>
                  <a:pt x="13" y="594"/>
                </a:lnTo>
                <a:lnTo>
                  <a:pt x="0" y="594"/>
                </a:lnTo>
                <a:lnTo>
                  <a:pt x="0" y="581"/>
                </a:lnTo>
                <a:lnTo>
                  <a:pt x="13" y="581"/>
                </a:lnTo>
                <a:close/>
                <a:moveTo>
                  <a:pt x="13" y="608"/>
                </a:moveTo>
                <a:lnTo>
                  <a:pt x="13" y="621"/>
                </a:lnTo>
                <a:lnTo>
                  <a:pt x="0" y="621"/>
                </a:lnTo>
                <a:lnTo>
                  <a:pt x="0" y="608"/>
                </a:lnTo>
                <a:lnTo>
                  <a:pt x="13" y="608"/>
                </a:lnTo>
                <a:close/>
                <a:moveTo>
                  <a:pt x="13" y="634"/>
                </a:moveTo>
                <a:lnTo>
                  <a:pt x="13" y="647"/>
                </a:lnTo>
                <a:lnTo>
                  <a:pt x="0" y="647"/>
                </a:lnTo>
                <a:lnTo>
                  <a:pt x="0" y="634"/>
                </a:lnTo>
                <a:lnTo>
                  <a:pt x="13" y="634"/>
                </a:lnTo>
                <a:close/>
                <a:moveTo>
                  <a:pt x="13" y="661"/>
                </a:moveTo>
                <a:lnTo>
                  <a:pt x="13" y="674"/>
                </a:lnTo>
                <a:lnTo>
                  <a:pt x="0" y="674"/>
                </a:lnTo>
                <a:lnTo>
                  <a:pt x="0" y="661"/>
                </a:lnTo>
                <a:lnTo>
                  <a:pt x="13" y="661"/>
                </a:lnTo>
                <a:close/>
                <a:moveTo>
                  <a:pt x="13" y="687"/>
                </a:moveTo>
                <a:lnTo>
                  <a:pt x="13" y="700"/>
                </a:lnTo>
                <a:lnTo>
                  <a:pt x="0" y="700"/>
                </a:lnTo>
                <a:lnTo>
                  <a:pt x="0" y="687"/>
                </a:lnTo>
                <a:lnTo>
                  <a:pt x="13" y="687"/>
                </a:lnTo>
                <a:close/>
                <a:moveTo>
                  <a:pt x="13" y="713"/>
                </a:moveTo>
                <a:lnTo>
                  <a:pt x="13" y="727"/>
                </a:lnTo>
                <a:lnTo>
                  <a:pt x="0" y="727"/>
                </a:lnTo>
                <a:lnTo>
                  <a:pt x="0" y="713"/>
                </a:lnTo>
                <a:lnTo>
                  <a:pt x="13" y="713"/>
                </a:lnTo>
                <a:close/>
                <a:moveTo>
                  <a:pt x="13" y="740"/>
                </a:moveTo>
                <a:lnTo>
                  <a:pt x="13" y="753"/>
                </a:lnTo>
                <a:lnTo>
                  <a:pt x="0" y="753"/>
                </a:lnTo>
                <a:lnTo>
                  <a:pt x="0" y="740"/>
                </a:lnTo>
                <a:lnTo>
                  <a:pt x="13" y="740"/>
                </a:lnTo>
                <a:close/>
                <a:moveTo>
                  <a:pt x="13" y="766"/>
                </a:moveTo>
                <a:lnTo>
                  <a:pt x="13" y="780"/>
                </a:lnTo>
                <a:lnTo>
                  <a:pt x="0" y="780"/>
                </a:lnTo>
                <a:lnTo>
                  <a:pt x="0" y="766"/>
                </a:lnTo>
                <a:lnTo>
                  <a:pt x="13" y="766"/>
                </a:lnTo>
                <a:close/>
                <a:moveTo>
                  <a:pt x="13" y="793"/>
                </a:moveTo>
                <a:lnTo>
                  <a:pt x="13" y="806"/>
                </a:lnTo>
                <a:lnTo>
                  <a:pt x="0" y="806"/>
                </a:lnTo>
                <a:lnTo>
                  <a:pt x="0" y="793"/>
                </a:lnTo>
                <a:lnTo>
                  <a:pt x="13" y="793"/>
                </a:lnTo>
                <a:close/>
                <a:moveTo>
                  <a:pt x="13" y="819"/>
                </a:moveTo>
                <a:lnTo>
                  <a:pt x="13" y="832"/>
                </a:lnTo>
                <a:lnTo>
                  <a:pt x="0" y="832"/>
                </a:lnTo>
                <a:lnTo>
                  <a:pt x="0" y="819"/>
                </a:lnTo>
                <a:lnTo>
                  <a:pt x="13" y="819"/>
                </a:lnTo>
                <a:close/>
                <a:moveTo>
                  <a:pt x="13" y="846"/>
                </a:moveTo>
                <a:lnTo>
                  <a:pt x="13" y="859"/>
                </a:lnTo>
                <a:lnTo>
                  <a:pt x="0" y="859"/>
                </a:lnTo>
                <a:lnTo>
                  <a:pt x="0" y="846"/>
                </a:lnTo>
                <a:lnTo>
                  <a:pt x="13" y="846"/>
                </a:lnTo>
                <a:close/>
                <a:moveTo>
                  <a:pt x="13" y="872"/>
                </a:moveTo>
                <a:lnTo>
                  <a:pt x="13" y="885"/>
                </a:lnTo>
                <a:lnTo>
                  <a:pt x="0" y="885"/>
                </a:lnTo>
                <a:lnTo>
                  <a:pt x="0" y="872"/>
                </a:lnTo>
                <a:lnTo>
                  <a:pt x="13" y="872"/>
                </a:lnTo>
                <a:close/>
                <a:moveTo>
                  <a:pt x="13" y="899"/>
                </a:moveTo>
                <a:lnTo>
                  <a:pt x="13" y="912"/>
                </a:lnTo>
                <a:lnTo>
                  <a:pt x="0" y="912"/>
                </a:lnTo>
                <a:lnTo>
                  <a:pt x="0" y="899"/>
                </a:lnTo>
                <a:lnTo>
                  <a:pt x="13" y="899"/>
                </a:lnTo>
                <a:close/>
                <a:moveTo>
                  <a:pt x="13" y="925"/>
                </a:moveTo>
                <a:lnTo>
                  <a:pt x="13" y="938"/>
                </a:lnTo>
                <a:lnTo>
                  <a:pt x="0" y="938"/>
                </a:lnTo>
                <a:lnTo>
                  <a:pt x="0" y="925"/>
                </a:lnTo>
                <a:lnTo>
                  <a:pt x="13" y="925"/>
                </a:lnTo>
                <a:close/>
                <a:moveTo>
                  <a:pt x="13" y="951"/>
                </a:moveTo>
                <a:lnTo>
                  <a:pt x="13" y="965"/>
                </a:lnTo>
                <a:lnTo>
                  <a:pt x="0" y="965"/>
                </a:lnTo>
                <a:lnTo>
                  <a:pt x="0" y="951"/>
                </a:lnTo>
                <a:lnTo>
                  <a:pt x="13" y="951"/>
                </a:lnTo>
                <a:close/>
                <a:moveTo>
                  <a:pt x="13" y="978"/>
                </a:moveTo>
                <a:lnTo>
                  <a:pt x="13" y="991"/>
                </a:lnTo>
                <a:lnTo>
                  <a:pt x="0" y="991"/>
                </a:lnTo>
                <a:lnTo>
                  <a:pt x="0" y="978"/>
                </a:lnTo>
                <a:lnTo>
                  <a:pt x="13" y="978"/>
                </a:lnTo>
                <a:close/>
                <a:moveTo>
                  <a:pt x="13" y="1004"/>
                </a:moveTo>
                <a:lnTo>
                  <a:pt x="13" y="1017"/>
                </a:lnTo>
                <a:lnTo>
                  <a:pt x="0" y="1017"/>
                </a:lnTo>
                <a:lnTo>
                  <a:pt x="0" y="1004"/>
                </a:lnTo>
                <a:lnTo>
                  <a:pt x="13" y="1004"/>
                </a:lnTo>
                <a:close/>
                <a:moveTo>
                  <a:pt x="13" y="1030"/>
                </a:moveTo>
                <a:lnTo>
                  <a:pt x="13" y="1044"/>
                </a:lnTo>
                <a:lnTo>
                  <a:pt x="0" y="1044"/>
                </a:lnTo>
                <a:lnTo>
                  <a:pt x="0" y="1030"/>
                </a:lnTo>
                <a:lnTo>
                  <a:pt x="13" y="1030"/>
                </a:lnTo>
                <a:close/>
                <a:moveTo>
                  <a:pt x="13" y="1057"/>
                </a:moveTo>
                <a:lnTo>
                  <a:pt x="13" y="1070"/>
                </a:lnTo>
                <a:lnTo>
                  <a:pt x="0" y="1070"/>
                </a:lnTo>
                <a:lnTo>
                  <a:pt x="0" y="1057"/>
                </a:lnTo>
                <a:lnTo>
                  <a:pt x="13" y="1057"/>
                </a:lnTo>
                <a:close/>
                <a:moveTo>
                  <a:pt x="13" y="1083"/>
                </a:moveTo>
                <a:lnTo>
                  <a:pt x="13" y="1097"/>
                </a:lnTo>
                <a:lnTo>
                  <a:pt x="0" y="1097"/>
                </a:lnTo>
                <a:lnTo>
                  <a:pt x="0" y="1083"/>
                </a:lnTo>
                <a:lnTo>
                  <a:pt x="13" y="1083"/>
                </a:lnTo>
                <a:close/>
                <a:moveTo>
                  <a:pt x="13" y="1110"/>
                </a:moveTo>
                <a:lnTo>
                  <a:pt x="13" y="1123"/>
                </a:lnTo>
                <a:lnTo>
                  <a:pt x="0" y="1123"/>
                </a:lnTo>
                <a:lnTo>
                  <a:pt x="0" y="1110"/>
                </a:lnTo>
                <a:lnTo>
                  <a:pt x="13" y="1110"/>
                </a:lnTo>
                <a:close/>
                <a:moveTo>
                  <a:pt x="13" y="1136"/>
                </a:moveTo>
                <a:lnTo>
                  <a:pt x="13" y="1149"/>
                </a:lnTo>
                <a:lnTo>
                  <a:pt x="0" y="1149"/>
                </a:lnTo>
                <a:lnTo>
                  <a:pt x="0" y="1136"/>
                </a:lnTo>
                <a:lnTo>
                  <a:pt x="13" y="1136"/>
                </a:lnTo>
                <a:close/>
                <a:moveTo>
                  <a:pt x="13" y="1163"/>
                </a:moveTo>
                <a:lnTo>
                  <a:pt x="13" y="1176"/>
                </a:lnTo>
                <a:lnTo>
                  <a:pt x="0" y="1176"/>
                </a:lnTo>
                <a:lnTo>
                  <a:pt x="0" y="1163"/>
                </a:lnTo>
                <a:lnTo>
                  <a:pt x="13" y="1163"/>
                </a:lnTo>
                <a:close/>
                <a:moveTo>
                  <a:pt x="13" y="1189"/>
                </a:moveTo>
                <a:lnTo>
                  <a:pt x="13" y="1202"/>
                </a:lnTo>
                <a:lnTo>
                  <a:pt x="0" y="1202"/>
                </a:lnTo>
                <a:lnTo>
                  <a:pt x="0" y="1189"/>
                </a:lnTo>
                <a:lnTo>
                  <a:pt x="13" y="1189"/>
                </a:lnTo>
                <a:close/>
                <a:moveTo>
                  <a:pt x="13" y="1216"/>
                </a:moveTo>
                <a:lnTo>
                  <a:pt x="13" y="1229"/>
                </a:lnTo>
                <a:lnTo>
                  <a:pt x="0" y="1229"/>
                </a:lnTo>
                <a:lnTo>
                  <a:pt x="0" y="1216"/>
                </a:lnTo>
                <a:lnTo>
                  <a:pt x="13" y="1216"/>
                </a:lnTo>
                <a:close/>
                <a:moveTo>
                  <a:pt x="13" y="1242"/>
                </a:moveTo>
                <a:lnTo>
                  <a:pt x="13" y="1255"/>
                </a:lnTo>
                <a:lnTo>
                  <a:pt x="0" y="1255"/>
                </a:lnTo>
                <a:lnTo>
                  <a:pt x="0" y="1242"/>
                </a:lnTo>
                <a:lnTo>
                  <a:pt x="13" y="1242"/>
                </a:lnTo>
                <a:close/>
                <a:moveTo>
                  <a:pt x="13" y="1268"/>
                </a:moveTo>
                <a:lnTo>
                  <a:pt x="13" y="1282"/>
                </a:lnTo>
                <a:lnTo>
                  <a:pt x="0" y="1282"/>
                </a:lnTo>
                <a:lnTo>
                  <a:pt x="0" y="1268"/>
                </a:lnTo>
                <a:lnTo>
                  <a:pt x="13" y="1268"/>
                </a:lnTo>
                <a:close/>
                <a:moveTo>
                  <a:pt x="13" y="1295"/>
                </a:moveTo>
                <a:lnTo>
                  <a:pt x="13" y="1308"/>
                </a:lnTo>
                <a:lnTo>
                  <a:pt x="0" y="1308"/>
                </a:lnTo>
                <a:lnTo>
                  <a:pt x="0" y="1295"/>
                </a:lnTo>
                <a:lnTo>
                  <a:pt x="13" y="1295"/>
                </a:lnTo>
                <a:close/>
                <a:moveTo>
                  <a:pt x="13" y="1321"/>
                </a:moveTo>
                <a:lnTo>
                  <a:pt x="13" y="1335"/>
                </a:lnTo>
                <a:lnTo>
                  <a:pt x="0" y="1335"/>
                </a:lnTo>
                <a:lnTo>
                  <a:pt x="0" y="1321"/>
                </a:lnTo>
                <a:lnTo>
                  <a:pt x="13" y="1321"/>
                </a:lnTo>
                <a:close/>
                <a:moveTo>
                  <a:pt x="13" y="1348"/>
                </a:moveTo>
                <a:lnTo>
                  <a:pt x="13" y="1361"/>
                </a:lnTo>
                <a:lnTo>
                  <a:pt x="0" y="1361"/>
                </a:lnTo>
                <a:lnTo>
                  <a:pt x="0" y="1348"/>
                </a:lnTo>
                <a:lnTo>
                  <a:pt x="13" y="1348"/>
                </a:lnTo>
                <a:close/>
                <a:moveTo>
                  <a:pt x="13" y="1374"/>
                </a:moveTo>
                <a:lnTo>
                  <a:pt x="13" y="1387"/>
                </a:lnTo>
                <a:lnTo>
                  <a:pt x="0" y="1387"/>
                </a:lnTo>
                <a:lnTo>
                  <a:pt x="0" y="1374"/>
                </a:lnTo>
                <a:lnTo>
                  <a:pt x="13" y="1374"/>
                </a:lnTo>
                <a:close/>
                <a:moveTo>
                  <a:pt x="13" y="1400"/>
                </a:moveTo>
                <a:lnTo>
                  <a:pt x="13" y="1414"/>
                </a:lnTo>
                <a:lnTo>
                  <a:pt x="0" y="1414"/>
                </a:lnTo>
                <a:lnTo>
                  <a:pt x="0" y="1400"/>
                </a:lnTo>
                <a:lnTo>
                  <a:pt x="13" y="1400"/>
                </a:lnTo>
                <a:close/>
                <a:moveTo>
                  <a:pt x="13" y="1427"/>
                </a:moveTo>
                <a:lnTo>
                  <a:pt x="13" y="1440"/>
                </a:lnTo>
                <a:lnTo>
                  <a:pt x="0" y="1440"/>
                </a:lnTo>
                <a:lnTo>
                  <a:pt x="0" y="1427"/>
                </a:lnTo>
                <a:lnTo>
                  <a:pt x="13" y="1427"/>
                </a:lnTo>
                <a:close/>
                <a:moveTo>
                  <a:pt x="13" y="1453"/>
                </a:moveTo>
                <a:lnTo>
                  <a:pt x="13" y="1466"/>
                </a:lnTo>
                <a:lnTo>
                  <a:pt x="0" y="1466"/>
                </a:lnTo>
                <a:lnTo>
                  <a:pt x="0" y="1453"/>
                </a:lnTo>
                <a:lnTo>
                  <a:pt x="13" y="1453"/>
                </a:lnTo>
                <a:close/>
                <a:moveTo>
                  <a:pt x="13" y="1480"/>
                </a:moveTo>
                <a:lnTo>
                  <a:pt x="13" y="1493"/>
                </a:lnTo>
                <a:lnTo>
                  <a:pt x="0" y="1493"/>
                </a:lnTo>
                <a:lnTo>
                  <a:pt x="0" y="1480"/>
                </a:lnTo>
                <a:lnTo>
                  <a:pt x="13" y="1480"/>
                </a:lnTo>
                <a:close/>
                <a:moveTo>
                  <a:pt x="13" y="1506"/>
                </a:moveTo>
                <a:lnTo>
                  <a:pt x="13" y="1519"/>
                </a:lnTo>
                <a:lnTo>
                  <a:pt x="0" y="1519"/>
                </a:lnTo>
                <a:lnTo>
                  <a:pt x="0" y="1506"/>
                </a:lnTo>
                <a:lnTo>
                  <a:pt x="13" y="1506"/>
                </a:lnTo>
                <a:close/>
                <a:moveTo>
                  <a:pt x="13" y="1533"/>
                </a:moveTo>
                <a:lnTo>
                  <a:pt x="13" y="1546"/>
                </a:lnTo>
                <a:lnTo>
                  <a:pt x="0" y="1546"/>
                </a:lnTo>
                <a:lnTo>
                  <a:pt x="0" y="1533"/>
                </a:lnTo>
                <a:lnTo>
                  <a:pt x="13" y="1533"/>
                </a:lnTo>
                <a:close/>
                <a:moveTo>
                  <a:pt x="13" y="1559"/>
                </a:moveTo>
                <a:lnTo>
                  <a:pt x="13" y="1572"/>
                </a:lnTo>
                <a:lnTo>
                  <a:pt x="0" y="1572"/>
                </a:lnTo>
                <a:lnTo>
                  <a:pt x="0" y="1559"/>
                </a:lnTo>
                <a:lnTo>
                  <a:pt x="13" y="1559"/>
                </a:lnTo>
                <a:close/>
                <a:moveTo>
                  <a:pt x="13" y="1585"/>
                </a:moveTo>
                <a:lnTo>
                  <a:pt x="13" y="1599"/>
                </a:lnTo>
                <a:lnTo>
                  <a:pt x="0" y="1599"/>
                </a:lnTo>
                <a:lnTo>
                  <a:pt x="0" y="1585"/>
                </a:lnTo>
                <a:lnTo>
                  <a:pt x="13" y="1585"/>
                </a:lnTo>
                <a:close/>
                <a:moveTo>
                  <a:pt x="13" y="1612"/>
                </a:moveTo>
                <a:lnTo>
                  <a:pt x="13" y="1625"/>
                </a:lnTo>
                <a:lnTo>
                  <a:pt x="0" y="1625"/>
                </a:lnTo>
                <a:lnTo>
                  <a:pt x="0" y="1612"/>
                </a:lnTo>
                <a:lnTo>
                  <a:pt x="13" y="1612"/>
                </a:lnTo>
                <a:close/>
                <a:moveTo>
                  <a:pt x="13" y="1638"/>
                </a:moveTo>
                <a:lnTo>
                  <a:pt x="13" y="1652"/>
                </a:lnTo>
                <a:lnTo>
                  <a:pt x="0" y="1652"/>
                </a:lnTo>
                <a:lnTo>
                  <a:pt x="0" y="1638"/>
                </a:lnTo>
                <a:lnTo>
                  <a:pt x="13" y="1638"/>
                </a:lnTo>
                <a:close/>
                <a:moveTo>
                  <a:pt x="13" y="1665"/>
                </a:moveTo>
                <a:lnTo>
                  <a:pt x="13" y="1678"/>
                </a:lnTo>
                <a:lnTo>
                  <a:pt x="0" y="1678"/>
                </a:lnTo>
                <a:lnTo>
                  <a:pt x="0" y="1665"/>
                </a:lnTo>
                <a:lnTo>
                  <a:pt x="13" y="1665"/>
                </a:lnTo>
                <a:close/>
                <a:moveTo>
                  <a:pt x="13" y="1691"/>
                </a:moveTo>
                <a:lnTo>
                  <a:pt x="13" y="1704"/>
                </a:lnTo>
                <a:lnTo>
                  <a:pt x="0" y="1704"/>
                </a:lnTo>
                <a:lnTo>
                  <a:pt x="0" y="1691"/>
                </a:lnTo>
                <a:lnTo>
                  <a:pt x="13" y="1691"/>
                </a:lnTo>
                <a:close/>
                <a:moveTo>
                  <a:pt x="13" y="1718"/>
                </a:moveTo>
                <a:lnTo>
                  <a:pt x="13" y="1731"/>
                </a:lnTo>
                <a:lnTo>
                  <a:pt x="0" y="1731"/>
                </a:lnTo>
                <a:lnTo>
                  <a:pt x="0" y="1718"/>
                </a:lnTo>
                <a:lnTo>
                  <a:pt x="13" y="1718"/>
                </a:lnTo>
                <a:close/>
                <a:moveTo>
                  <a:pt x="13" y="1744"/>
                </a:moveTo>
                <a:lnTo>
                  <a:pt x="13" y="1757"/>
                </a:lnTo>
                <a:lnTo>
                  <a:pt x="0" y="1757"/>
                </a:lnTo>
                <a:lnTo>
                  <a:pt x="0" y="1744"/>
                </a:lnTo>
                <a:lnTo>
                  <a:pt x="13" y="1744"/>
                </a:lnTo>
                <a:close/>
                <a:moveTo>
                  <a:pt x="13" y="1770"/>
                </a:moveTo>
                <a:lnTo>
                  <a:pt x="13" y="1783"/>
                </a:lnTo>
                <a:lnTo>
                  <a:pt x="0" y="1783"/>
                </a:lnTo>
                <a:lnTo>
                  <a:pt x="0" y="1770"/>
                </a:lnTo>
                <a:lnTo>
                  <a:pt x="13" y="1770"/>
                </a:lnTo>
                <a:close/>
                <a:moveTo>
                  <a:pt x="13" y="1797"/>
                </a:moveTo>
                <a:lnTo>
                  <a:pt x="13" y="1810"/>
                </a:lnTo>
                <a:lnTo>
                  <a:pt x="0" y="1810"/>
                </a:lnTo>
                <a:lnTo>
                  <a:pt x="0" y="1797"/>
                </a:lnTo>
                <a:lnTo>
                  <a:pt x="13" y="1797"/>
                </a:lnTo>
                <a:close/>
                <a:moveTo>
                  <a:pt x="13" y="1823"/>
                </a:moveTo>
                <a:lnTo>
                  <a:pt x="13" y="1836"/>
                </a:lnTo>
                <a:lnTo>
                  <a:pt x="0" y="1836"/>
                </a:lnTo>
                <a:lnTo>
                  <a:pt x="0" y="1823"/>
                </a:lnTo>
                <a:lnTo>
                  <a:pt x="13" y="1823"/>
                </a:lnTo>
                <a:close/>
                <a:moveTo>
                  <a:pt x="13" y="1850"/>
                </a:moveTo>
                <a:lnTo>
                  <a:pt x="13" y="1863"/>
                </a:lnTo>
                <a:lnTo>
                  <a:pt x="0" y="1863"/>
                </a:lnTo>
                <a:lnTo>
                  <a:pt x="0" y="1850"/>
                </a:lnTo>
                <a:lnTo>
                  <a:pt x="13" y="1850"/>
                </a:lnTo>
                <a:close/>
                <a:moveTo>
                  <a:pt x="13" y="1876"/>
                </a:moveTo>
                <a:lnTo>
                  <a:pt x="13" y="1889"/>
                </a:lnTo>
                <a:lnTo>
                  <a:pt x="0" y="1889"/>
                </a:lnTo>
                <a:lnTo>
                  <a:pt x="0" y="1876"/>
                </a:lnTo>
                <a:lnTo>
                  <a:pt x="13" y="1876"/>
                </a:lnTo>
                <a:close/>
                <a:moveTo>
                  <a:pt x="13" y="1902"/>
                </a:moveTo>
                <a:lnTo>
                  <a:pt x="13" y="1916"/>
                </a:lnTo>
                <a:lnTo>
                  <a:pt x="0" y="1916"/>
                </a:lnTo>
                <a:lnTo>
                  <a:pt x="0" y="1902"/>
                </a:lnTo>
                <a:lnTo>
                  <a:pt x="13" y="1902"/>
                </a:lnTo>
                <a:close/>
                <a:moveTo>
                  <a:pt x="13" y="1929"/>
                </a:moveTo>
                <a:lnTo>
                  <a:pt x="13" y="1942"/>
                </a:lnTo>
                <a:lnTo>
                  <a:pt x="0" y="1942"/>
                </a:lnTo>
                <a:lnTo>
                  <a:pt x="0" y="1929"/>
                </a:lnTo>
                <a:lnTo>
                  <a:pt x="13" y="1929"/>
                </a:lnTo>
                <a:close/>
                <a:moveTo>
                  <a:pt x="13" y="1955"/>
                </a:moveTo>
                <a:lnTo>
                  <a:pt x="13" y="1969"/>
                </a:lnTo>
                <a:lnTo>
                  <a:pt x="0" y="1969"/>
                </a:lnTo>
                <a:lnTo>
                  <a:pt x="0" y="1955"/>
                </a:lnTo>
                <a:lnTo>
                  <a:pt x="13" y="1955"/>
                </a:lnTo>
                <a:close/>
                <a:moveTo>
                  <a:pt x="13" y="1982"/>
                </a:moveTo>
                <a:lnTo>
                  <a:pt x="13" y="1995"/>
                </a:lnTo>
                <a:lnTo>
                  <a:pt x="0" y="1995"/>
                </a:lnTo>
                <a:lnTo>
                  <a:pt x="0" y="1982"/>
                </a:lnTo>
                <a:lnTo>
                  <a:pt x="13" y="1982"/>
                </a:lnTo>
                <a:close/>
                <a:moveTo>
                  <a:pt x="13" y="2008"/>
                </a:moveTo>
                <a:lnTo>
                  <a:pt x="13" y="2021"/>
                </a:lnTo>
                <a:lnTo>
                  <a:pt x="0" y="2021"/>
                </a:lnTo>
                <a:lnTo>
                  <a:pt x="0" y="2008"/>
                </a:lnTo>
                <a:lnTo>
                  <a:pt x="13" y="2008"/>
                </a:lnTo>
                <a:close/>
                <a:moveTo>
                  <a:pt x="13" y="2035"/>
                </a:moveTo>
                <a:lnTo>
                  <a:pt x="13" y="2048"/>
                </a:lnTo>
                <a:lnTo>
                  <a:pt x="0" y="2048"/>
                </a:lnTo>
                <a:lnTo>
                  <a:pt x="0" y="2035"/>
                </a:lnTo>
                <a:lnTo>
                  <a:pt x="13" y="2035"/>
                </a:lnTo>
                <a:close/>
                <a:moveTo>
                  <a:pt x="13" y="2061"/>
                </a:moveTo>
                <a:lnTo>
                  <a:pt x="13" y="2074"/>
                </a:lnTo>
                <a:lnTo>
                  <a:pt x="0" y="2074"/>
                </a:lnTo>
                <a:lnTo>
                  <a:pt x="0" y="2061"/>
                </a:lnTo>
                <a:lnTo>
                  <a:pt x="13" y="2061"/>
                </a:lnTo>
                <a:close/>
                <a:moveTo>
                  <a:pt x="13" y="2088"/>
                </a:moveTo>
                <a:lnTo>
                  <a:pt x="13" y="2101"/>
                </a:lnTo>
                <a:lnTo>
                  <a:pt x="0" y="2101"/>
                </a:lnTo>
                <a:lnTo>
                  <a:pt x="0" y="2088"/>
                </a:lnTo>
                <a:lnTo>
                  <a:pt x="13" y="2088"/>
                </a:lnTo>
                <a:close/>
                <a:moveTo>
                  <a:pt x="13" y="2114"/>
                </a:moveTo>
                <a:lnTo>
                  <a:pt x="13" y="2127"/>
                </a:lnTo>
                <a:lnTo>
                  <a:pt x="0" y="2127"/>
                </a:lnTo>
                <a:lnTo>
                  <a:pt x="0" y="2114"/>
                </a:lnTo>
                <a:lnTo>
                  <a:pt x="13" y="2114"/>
                </a:lnTo>
                <a:close/>
                <a:moveTo>
                  <a:pt x="13" y="2140"/>
                </a:moveTo>
                <a:lnTo>
                  <a:pt x="13" y="2153"/>
                </a:lnTo>
                <a:lnTo>
                  <a:pt x="0" y="2153"/>
                </a:lnTo>
                <a:lnTo>
                  <a:pt x="0" y="2140"/>
                </a:lnTo>
                <a:lnTo>
                  <a:pt x="13" y="2140"/>
                </a:lnTo>
                <a:close/>
                <a:moveTo>
                  <a:pt x="13" y="2167"/>
                </a:moveTo>
                <a:lnTo>
                  <a:pt x="13" y="2180"/>
                </a:lnTo>
                <a:lnTo>
                  <a:pt x="0" y="2180"/>
                </a:lnTo>
                <a:lnTo>
                  <a:pt x="0" y="2167"/>
                </a:lnTo>
                <a:lnTo>
                  <a:pt x="13" y="2167"/>
                </a:lnTo>
                <a:close/>
                <a:moveTo>
                  <a:pt x="13" y="2193"/>
                </a:moveTo>
                <a:lnTo>
                  <a:pt x="13" y="2206"/>
                </a:lnTo>
                <a:lnTo>
                  <a:pt x="0" y="2206"/>
                </a:lnTo>
                <a:lnTo>
                  <a:pt x="0" y="2193"/>
                </a:lnTo>
                <a:lnTo>
                  <a:pt x="13" y="2193"/>
                </a:lnTo>
                <a:close/>
                <a:moveTo>
                  <a:pt x="13" y="2219"/>
                </a:moveTo>
                <a:lnTo>
                  <a:pt x="13" y="2233"/>
                </a:lnTo>
                <a:lnTo>
                  <a:pt x="0" y="2233"/>
                </a:lnTo>
                <a:lnTo>
                  <a:pt x="0" y="2219"/>
                </a:lnTo>
                <a:lnTo>
                  <a:pt x="13" y="2219"/>
                </a:lnTo>
                <a:close/>
                <a:moveTo>
                  <a:pt x="13" y="2246"/>
                </a:moveTo>
                <a:lnTo>
                  <a:pt x="13" y="2259"/>
                </a:lnTo>
                <a:lnTo>
                  <a:pt x="0" y="2259"/>
                </a:lnTo>
                <a:lnTo>
                  <a:pt x="0" y="2246"/>
                </a:lnTo>
                <a:lnTo>
                  <a:pt x="13" y="2246"/>
                </a:lnTo>
                <a:close/>
                <a:moveTo>
                  <a:pt x="13" y="2272"/>
                </a:moveTo>
                <a:lnTo>
                  <a:pt x="13" y="2286"/>
                </a:lnTo>
                <a:lnTo>
                  <a:pt x="0" y="2286"/>
                </a:lnTo>
                <a:lnTo>
                  <a:pt x="0" y="2272"/>
                </a:lnTo>
                <a:lnTo>
                  <a:pt x="13" y="2272"/>
                </a:lnTo>
                <a:close/>
                <a:moveTo>
                  <a:pt x="13" y="2299"/>
                </a:moveTo>
                <a:lnTo>
                  <a:pt x="13" y="2312"/>
                </a:lnTo>
                <a:lnTo>
                  <a:pt x="0" y="2312"/>
                </a:lnTo>
                <a:lnTo>
                  <a:pt x="0" y="2299"/>
                </a:lnTo>
                <a:lnTo>
                  <a:pt x="13" y="2299"/>
                </a:lnTo>
                <a:close/>
              </a:path>
            </a:pathLst>
          </a:custGeom>
          <a:solidFill>
            <a:srgbClr val="000000"/>
          </a:solidFill>
          <a:ln w="0" cap="flat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86" name="Freeform 83">
            <a:extLst>
              <a:ext uri="{FF2B5EF4-FFF2-40B4-BE49-F238E27FC236}">
                <a16:creationId xmlns:a16="http://schemas.microsoft.com/office/drawing/2014/main" id="{20CF4283-87E5-4CF6-922A-5921165C033E}"/>
              </a:ext>
            </a:extLst>
          </p:cNvPr>
          <p:cNvSpPr>
            <a:spLocks noEditPoints="1"/>
          </p:cNvSpPr>
          <p:nvPr/>
        </p:nvSpPr>
        <p:spPr bwMode="auto">
          <a:xfrm>
            <a:off x="4481513" y="2357438"/>
            <a:ext cx="22225" cy="3670300"/>
          </a:xfrm>
          <a:custGeom>
            <a:avLst/>
            <a:gdLst>
              <a:gd name="T0" fmla="*/ 14 w 14"/>
              <a:gd name="T1" fmla="*/ 40 h 2312"/>
              <a:gd name="T2" fmla="*/ 0 w 14"/>
              <a:gd name="T3" fmla="*/ 53 h 2312"/>
              <a:gd name="T4" fmla="*/ 14 w 14"/>
              <a:gd name="T5" fmla="*/ 106 h 2312"/>
              <a:gd name="T6" fmla="*/ 0 w 14"/>
              <a:gd name="T7" fmla="*/ 146 h 2312"/>
              <a:gd name="T8" fmla="*/ 14 w 14"/>
              <a:gd name="T9" fmla="*/ 159 h 2312"/>
              <a:gd name="T10" fmla="*/ 14 w 14"/>
              <a:gd name="T11" fmla="*/ 225 h 2312"/>
              <a:gd name="T12" fmla="*/ 0 w 14"/>
              <a:gd name="T13" fmla="*/ 238 h 2312"/>
              <a:gd name="T14" fmla="*/ 14 w 14"/>
              <a:gd name="T15" fmla="*/ 291 h 2312"/>
              <a:gd name="T16" fmla="*/ 0 w 14"/>
              <a:gd name="T17" fmla="*/ 330 h 2312"/>
              <a:gd name="T18" fmla="*/ 14 w 14"/>
              <a:gd name="T19" fmla="*/ 344 h 2312"/>
              <a:gd name="T20" fmla="*/ 14 w 14"/>
              <a:gd name="T21" fmla="*/ 410 h 2312"/>
              <a:gd name="T22" fmla="*/ 0 w 14"/>
              <a:gd name="T23" fmla="*/ 423 h 2312"/>
              <a:gd name="T24" fmla="*/ 14 w 14"/>
              <a:gd name="T25" fmla="*/ 476 h 2312"/>
              <a:gd name="T26" fmla="*/ 0 w 14"/>
              <a:gd name="T27" fmla="*/ 515 h 2312"/>
              <a:gd name="T28" fmla="*/ 14 w 14"/>
              <a:gd name="T29" fmla="*/ 529 h 2312"/>
              <a:gd name="T30" fmla="*/ 14 w 14"/>
              <a:gd name="T31" fmla="*/ 594 h 2312"/>
              <a:gd name="T32" fmla="*/ 0 w 14"/>
              <a:gd name="T33" fmla="*/ 608 h 2312"/>
              <a:gd name="T34" fmla="*/ 14 w 14"/>
              <a:gd name="T35" fmla="*/ 661 h 2312"/>
              <a:gd name="T36" fmla="*/ 0 w 14"/>
              <a:gd name="T37" fmla="*/ 700 h 2312"/>
              <a:gd name="T38" fmla="*/ 14 w 14"/>
              <a:gd name="T39" fmla="*/ 713 h 2312"/>
              <a:gd name="T40" fmla="*/ 14 w 14"/>
              <a:gd name="T41" fmla="*/ 780 h 2312"/>
              <a:gd name="T42" fmla="*/ 0 w 14"/>
              <a:gd name="T43" fmla="*/ 793 h 2312"/>
              <a:gd name="T44" fmla="*/ 14 w 14"/>
              <a:gd name="T45" fmla="*/ 846 h 2312"/>
              <a:gd name="T46" fmla="*/ 0 w 14"/>
              <a:gd name="T47" fmla="*/ 885 h 2312"/>
              <a:gd name="T48" fmla="*/ 14 w 14"/>
              <a:gd name="T49" fmla="*/ 899 h 2312"/>
              <a:gd name="T50" fmla="*/ 14 w 14"/>
              <a:gd name="T51" fmla="*/ 965 h 2312"/>
              <a:gd name="T52" fmla="*/ 0 w 14"/>
              <a:gd name="T53" fmla="*/ 978 h 2312"/>
              <a:gd name="T54" fmla="*/ 14 w 14"/>
              <a:gd name="T55" fmla="*/ 1030 h 2312"/>
              <a:gd name="T56" fmla="*/ 0 w 14"/>
              <a:gd name="T57" fmla="*/ 1070 h 2312"/>
              <a:gd name="T58" fmla="*/ 14 w 14"/>
              <a:gd name="T59" fmla="*/ 1083 h 2312"/>
              <a:gd name="T60" fmla="*/ 14 w 14"/>
              <a:gd name="T61" fmla="*/ 1149 h 2312"/>
              <a:gd name="T62" fmla="*/ 0 w 14"/>
              <a:gd name="T63" fmla="*/ 1163 h 2312"/>
              <a:gd name="T64" fmla="*/ 14 w 14"/>
              <a:gd name="T65" fmla="*/ 1216 h 2312"/>
              <a:gd name="T66" fmla="*/ 0 w 14"/>
              <a:gd name="T67" fmla="*/ 1255 h 2312"/>
              <a:gd name="T68" fmla="*/ 14 w 14"/>
              <a:gd name="T69" fmla="*/ 1268 h 2312"/>
              <a:gd name="T70" fmla="*/ 14 w 14"/>
              <a:gd name="T71" fmla="*/ 1335 h 2312"/>
              <a:gd name="T72" fmla="*/ 0 w 14"/>
              <a:gd name="T73" fmla="*/ 1348 h 2312"/>
              <a:gd name="T74" fmla="*/ 14 w 14"/>
              <a:gd name="T75" fmla="*/ 1400 h 2312"/>
              <a:gd name="T76" fmla="*/ 0 w 14"/>
              <a:gd name="T77" fmla="*/ 1440 h 2312"/>
              <a:gd name="T78" fmla="*/ 14 w 14"/>
              <a:gd name="T79" fmla="*/ 1453 h 2312"/>
              <a:gd name="T80" fmla="*/ 14 w 14"/>
              <a:gd name="T81" fmla="*/ 1519 h 2312"/>
              <a:gd name="T82" fmla="*/ 0 w 14"/>
              <a:gd name="T83" fmla="*/ 1533 h 2312"/>
              <a:gd name="T84" fmla="*/ 14 w 14"/>
              <a:gd name="T85" fmla="*/ 1585 h 2312"/>
              <a:gd name="T86" fmla="*/ 0 w 14"/>
              <a:gd name="T87" fmla="*/ 1625 h 2312"/>
              <a:gd name="T88" fmla="*/ 14 w 14"/>
              <a:gd name="T89" fmla="*/ 1638 h 2312"/>
              <a:gd name="T90" fmla="*/ 14 w 14"/>
              <a:gd name="T91" fmla="*/ 1704 h 2312"/>
              <a:gd name="T92" fmla="*/ 0 w 14"/>
              <a:gd name="T93" fmla="*/ 1718 h 2312"/>
              <a:gd name="T94" fmla="*/ 14 w 14"/>
              <a:gd name="T95" fmla="*/ 1770 h 2312"/>
              <a:gd name="T96" fmla="*/ 0 w 14"/>
              <a:gd name="T97" fmla="*/ 1810 h 2312"/>
              <a:gd name="T98" fmla="*/ 14 w 14"/>
              <a:gd name="T99" fmla="*/ 1823 h 2312"/>
              <a:gd name="T100" fmla="*/ 14 w 14"/>
              <a:gd name="T101" fmla="*/ 1889 h 2312"/>
              <a:gd name="T102" fmla="*/ 0 w 14"/>
              <a:gd name="T103" fmla="*/ 1902 h 2312"/>
              <a:gd name="T104" fmla="*/ 14 w 14"/>
              <a:gd name="T105" fmla="*/ 1955 h 2312"/>
              <a:gd name="T106" fmla="*/ 0 w 14"/>
              <a:gd name="T107" fmla="*/ 1995 h 2312"/>
              <a:gd name="T108" fmla="*/ 14 w 14"/>
              <a:gd name="T109" fmla="*/ 2008 h 2312"/>
              <a:gd name="T110" fmla="*/ 14 w 14"/>
              <a:gd name="T111" fmla="*/ 2074 h 2312"/>
              <a:gd name="T112" fmla="*/ 0 w 14"/>
              <a:gd name="T113" fmla="*/ 2088 h 2312"/>
              <a:gd name="T114" fmla="*/ 14 w 14"/>
              <a:gd name="T115" fmla="*/ 2140 h 2312"/>
              <a:gd name="T116" fmla="*/ 0 w 14"/>
              <a:gd name="T117" fmla="*/ 2180 h 2312"/>
              <a:gd name="T118" fmla="*/ 14 w 14"/>
              <a:gd name="T119" fmla="*/ 2193 h 2312"/>
              <a:gd name="T120" fmla="*/ 14 w 14"/>
              <a:gd name="T121" fmla="*/ 2259 h 2312"/>
              <a:gd name="T122" fmla="*/ 0 w 14"/>
              <a:gd name="T123" fmla="*/ 2272 h 23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14" h="2312">
                <a:moveTo>
                  <a:pt x="14" y="0"/>
                </a:moveTo>
                <a:lnTo>
                  <a:pt x="14" y="13"/>
                </a:lnTo>
                <a:lnTo>
                  <a:pt x="0" y="13"/>
                </a:lnTo>
                <a:lnTo>
                  <a:pt x="0" y="0"/>
                </a:lnTo>
                <a:lnTo>
                  <a:pt x="14" y="0"/>
                </a:lnTo>
                <a:close/>
                <a:moveTo>
                  <a:pt x="14" y="27"/>
                </a:moveTo>
                <a:lnTo>
                  <a:pt x="14" y="40"/>
                </a:lnTo>
                <a:lnTo>
                  <a:pt x="0" y="40"/>
                </a:lnTo>
                <a:lnTo>
                  <a:pt x="0" y="27"/>
                </a:lnTo>
                <a:lnTo>
                  <a:pt x="14" y="27"/>
                </a:lnTo>
                <a:close/>
                <a:moveTo>
                  <a:pt x="14" y="53"/>
                </a:moveTo>
                <a:lnTo>
                  <a:pt x="14" y="66"/>
                </a:lnTo>
                <a:lnTo>
                  <a:pt x="0" y="66"/>
                </a:lnTo>
                <a:lnTo>
                  <a:pt x="0" y="53"/>
                </a:lnTo>
                <a:lnTo>
                  <a:pt x="14" y="53"/>
                </a:lnTo>
                <a:close/>
                <a:moveTo>
                  <a:pt x="14" y="79"/>
                </a:moveTo>
                <a:lnTo>
                  <a:pt x="14" y="93"/>
                </a:lnTo>
                <a:lnTo>
                  <a:pt x="0" y="93"/>
                </a:lnTo>
                <a:lnTo>
                  <a:pt x="0" y="79"/>
                </a:lnTo>
                <a:lnTo>
                  <a:pt x="14" y="79"/>
                </a:lnTo>
                <a:close/>
                <a:moveTo>
                  <a:pt x="14" y="106"/>
                </a:moveTo>
                <a:lnTo>
                  <a:pt x="14" y="119"/>
                </a:lnTo>
                <a:lnTo>
                  <a:pt x="0" y="119"/>
                </a:lnTo>
                <a:lnTo>
                  <a:pt x="0" y="106"/>
                </a:lnTo>
                <a:lnTo>
                  <a:pt x="14" y="106"/>
                </a:lnTo>
                <a:close/>
                <a:moveTo>
                  <a:pt x="14" y="132"/>
                </a:moveTo>
                <a:lnTo>
                  <a:pt x="14" y="146"/>
                </a:lnTo>
                <a:lnTo>
                  <a:pt x="0" y="146"/>
                </a:lnTo>
                <a:lnTo>
                  <a:pt x="0" y="132"/>
                </a:lnTo>
                <a:lnTo>
                  <a:pt x="14" y="132"/>
                </a:lnTo>
                <a:close/>
                <a:moveTo>
                  <a:pt x="14" y="159"/>
                </a:moveTo>
                <a:lnTo>
                  <a:pt x="14" y="172"/>
                </a:lnTo>
                <a:lnTo>
                  <a:pt x="0" y="172"/>
                </a:lnTo>
                <a:lnTo>
                  <a:pt x="0" y="159"/>
                </a:lnTo>
                <a:lnTo>
                  <a:pt x="14" y="159"/>
                </a:lnTo>
                <a:close/>
                <a:moveTo>
                  <a:pt x="14" y="185"/>
                </a:moveTo>
                <a:lnTo>
                  <a:pt x="14" y="198"/>
                </a:lnTo>
                <a:lnTo>
                  <a:pt x="0" y="198"/>
                </a:lnTo>
                <a:lnTo>
                  <a:pt x="0" y="185"/>
                </a:lnTo>
                <a:lnTo>
                  <a:pt x="14" y="185"/>
                </a:lnTo>
                <a:close/>
                <a:moveTo>
                  <a:pt x="14" y="211"/>
                </a:moveTo>
                <a:lnTo>
                  <a:pt x="14" y="225"/>
                </a:lnTo>
                <a:lnTo>
                  <a:pt x="0" y="225"/>
                </a:lnTo>
                <a:lnTo>
                  <a:pt x="0" y="211"/>
                </a:lnTo>
                <a:lnTo>
                  <a:pt x="14" y="211"/>
                </a:lnTo>
                <a:close/>
                <a:moveTo>
                  <a:pt x="14" y="238"/>
                </a:moveTo>
                <a:lnTo>
                  <a:pt x="14" y="251"/>
                </a:lnTo>
                <a:lnTo>
                  <a:pt x="0" y="251"/>
                </a:lnTo>
                <a:lnTo>
                  <a:pt x="0" y="238"/>
                </a:lnTo>
                <a:lnTo>
                  <a:pt x="14" y="238"/>
                </a:lnTo>
                <a:close/>
                <a:moveTo>
                  <a:pt x="14" y="264"/>
                </a:moveTo>
                <a:lnTo>
                  <a:pt x="14" y="277"/>
                </a:lnTo>
                <a:lnTo>
                  <a:pt x="0" y="277"/>
                </a:lnTo>
                <a:lnTo>
                  <a:pt x="0" y="264"/>
                </a:lnTo>
                <a:lnTo>
                  <a:pt x="14" y="264"/>
                </a:lnTo>
                <a:close/>
                <a:moveTo>
                  <a:pt x="14" y="291"/>
                </a:moveTo>
                <a:lnTo>
                  <a:pt x="14" y="304"/>
                </a:lnTo>
                <a:lnTo>
                  <a:pt x="0" y="304"/>
                </a:lnTo>
                <a:lnTo>
                  <a:pt x="0" y="291"/>
                </a:lnTo>
                <a:lnTo>
                  <a:pt x="14" y="291"/>
                </a:lnTo>
                <a:close/>
                <a:moveTo>
                  <a:pt x="14" y="317"/>
                </a:moveTo>
                <a:lnTo>
                  <a:pt x="14" y="330"/>
                </a:lnTo>
                <a:lnTo>
                  <a:pt x="0" y="330"/>
                </a:lnTo>
                <a:lnTo>
                  <a:pt x="0" y="317"/>
                </a:lnTo>
                <a:lnTo>
                  <a:pt x="14" y="317"/>
                </a:lnTo>
                <a:close/>
                <a:moveTo>
                  <a:pt x="14" y="344"/>
                </a:moveTo>
                <a:lnTo>
                  <a:pt x="14" y="357"/>
                </a:lnTo>
                <a:lnTo>
                  <a:pt x="0" y="357"/>
                </a:lnTo>
                <a:lnTo>
                  <a:pt x="0" y="344"/>
                </a:lnTo>
                <a:lnTo>
                  <a:pt x="14" y="344"/>
                </a:lnTo>
                <a:close/>
                <a:moveTo>
                  <a:pt x="14" y="370"/>
                </a:moveTo>
                <a:lnTo>
                  <a:pt x="14" y="383"/>
                </a:lnTo>
                <a:lnTo>
                  <a:pt x="0" y="383"/>
                </a:lnTo>
                <a:lnTo>
                  <a:pt x="0" y="370"/>
                </a:lnTo>
                <a:lnTo>
                  <a:pt x="14" y="370"/>
                </a:lnTo>
                <a:close/>
                <a:moveTo>
                  <a:pt x="14" y="396"/>
                </a:moveTo>
                <a:lnTo>
                  <a:pt x="14" y="410"/>
                </a:lnTo>
                <a:lnTo>
                  <a:pt x="0" y="410"/>
                </a:lnTo>
                <a:lnTo>
                  <a:pt x="0" y="396"/>
                </a:lnTo>
                <a:lnTo>
                  <a:pt x="14" y="396"/>
                </a:lnTo>
                <a:close/>
                <a:moveTo>
                  <a:pt x="14" y="423"/>
                </a:moveTo>
                <a:lnTo>
                  <a:pt x="14" y="436"/>
                </a:lnTo>
                <a:lnTo>
                  <a:pt x="0" y="436"/>
                </a:lnTo>
                <a:lnTo>
                  <a:pt x="0" y="423"/>
                </a:lnTo>
                <a:lnTo>
                  <a:pt x="14" y="423"/>
                </a:lnTo>
                <a:close/>
                <a:moveTo>
                  <a:pt x="14" y="449"/>
                </a:moveTo>
                <a:lnTo>
                  <a:pt x="14" y="463"/>
                </a:lnTo>
                <a:lnTo>
                  <a:pt x="0" y="463"/>
                </a:lnTo>
                <a:lnTo>
                  <a:pt x="0" y="449"/>
                </a:lnTo>
                <a:lnTo>
                  <a:pt x="14" y="449"/>
                </a:lnTo>
                <a:close/>
                <a:moveTo>
                  <a:pt x="14" y="476"/>
                </a:moveTo>
                <a:lnTo>
                  <a:pt x="14" y="489"/>
                </a:lnTo>
                <a:lnTo>
                  <a:pt x="0" y="489"/>
                </a:lnTo>
                <a:lnTo>
                  <a:pt x="0" y="476"/>
                </a:lnTo>
                <a:lnTo>
                  <a:pt x="14" y="476"/>
                </a:lnTo>
                <a:close/>
                <a:moveTo>
                  <a:pt x="14" y="502"/>
                </a:moveTo>
                <a:lnTo>
                  <a:pt x="14" y="515"/>
                </a:lnTo>
                <a:lnTo>
                  <a:pt x="0" y="515"/>
                </a:lnTo>
                <a:lnTo>
                  <a:pt x="0" y="502"/>
                </a:lnTo>
                <a:lnTo>
                  <a:pt x="14" y="502"/>
                </a:lnTo>
                <a:close/>
                <a:moveTo>
                  <a:pt x="14" y="529"/>
                </a:moveTo>
                <a:lnTo>
                  <a:pt x="14" y="542"/>
                </a:lnTo>
                <a:lnTo>
                  <a:pt x="0" y="542"/>
                </a:lnTo>
                <a:lnTo>
                  <a:pt x="0" y="529"/>
                </a:lnTo>
                <a:lnTo>
                  <a:pt x="14" y="529"/>
                </a:lnTo>
                <a:close/>
                <a:moveTo>
                  <a:pt x="14" y="555"/>
                </a:moveTo>
                <a:lnTo>
                  <a:pt x="14" y="568"/>
                </a:lnTo>
                <a:lnTo>
                  <a:pt x="0" y="568"/>
                </a:lnTo>
                <a:lnTo>
                  <a:pt x="0" y="555"/>
                </a:lnTo>
                <a:lnTo>
                  <a:pt x="14" y="555"/>
                </a:lnTo>
                <a:close/>
                <a:moveTo>
                  <a:pt x="14" y="581"/>
                </a:moveTo>
                <a:lnTo>
                  <a:pt x="14" y="594"/>
                </a:lnTo>
                <a:lnTo>
                  <a:pt x="0" y="594"/>
                </a:lnTo>
                <a:lnTo>
                  <a:pt x="0" y="581"/>
                </a:lnTo>
                <a:lnTo>
                  <a:pt x="14" y="581"/>
                </a:lnTo>
                <a:close/>
                <a:moveTo>
                  <a:pt x="14" y="608"/>
                </a:moveTo>
                <a:lnTo>
                  <a:pt x="14" y="621"/>
                </a:lnTo>
                <a:lnTo>
                  <a:pt x="0" y="621"/>
                </a:lnTo>
                <a:lnTo>
                  <a:pt x="0" y="608"/>
                </a:lnTo>
                <a:lnTo>
                  <a:pt x="14" y="608"/>
                </a:lnTo>
                <a:close/>
                <a:moveTo>
                  <a:pt x="14" y="634"/>
                </a:moveTo>
                <a:lnTo>
                  <a:pt x="14" y="647"/>
                </a:lnTo>
                <a:lnTo>
                  <a:pt x="0" y="647"/>
                </a:lnTo>
                <a:lnTo>
                  <a:pt x="0" y="634"/>
                </a:lnTo>
                <a:lnTo>
                  <a:pt x="14" y="634"/>
                </a:lnTo>
                <a:close/>
                <a:moveTo>
                  <a:pt x="14" y="661"/>
                </a:moveTo>
                <a:lnTo>
                  <a:pt x="14" y="674"/>
                </a:lnTo>
                <a:lnTo>
                  <a:pt x="0" y="674"/>
                </a:lnTo>
                <a:lnTo>
                  <a:pt x="0" y="661"/>
                </a:lnTo>
                <a:lnTo>
                  <a:pt x="14" y="661"/>
                </a:lnTo>
                <a:close/>
                <a:moveTo>
                  <a:pt x="14" y="687"/>
                </a:moveTo>
                <a:lnTo>
                  <a:pt x="14" y="700"/>
                </a:lnTo>
                <a:lnTo>
                  <a:pt x="0" y="700"/>
                </a:lnTo>
                <a:lnTo>
                  <a:pt x="0" y="687"/>
                </a:lnTo>
                <a:lnTo>
                  <a:pt x="14" y="687"/>
                </a:lnTo>
                <a:close/>
                <a:moveTo>
                  <a:pt x="14" y="713"/>
                </a:moveTo>
                <a:lnTo>
                  <a:pt x="14" y="727"/>
                </a:lnTo>
                <a:lnTo>
                  <a:pt x="0" y="727"/>
                </a:lnTo>
                <a:lnTo>
                  <a:pt x="0" y="713"/>
                </a:lnTo>
                <a:lnTo>
                  <a:pt x="14" y="713"/>
                </a:lnTo>
                <a:close/>
                <a:moveTo>
                  <a:pt x="14" y="740"/>
                </a:moveTo>
                <a:lnTo>
                  <a:pt x="14" y="753"/>
                </a:lnTo>
                <a:lnTo>
                  <a:pt x="0" y="753"/>
                </a:lnTo>
                <a:lnTo>
                  <a:pt x="0" y="740"/>
                </a:lnTo>
                <a:lnTo>
                  <a:pt x="14" y="740"/>
                </a:lnTo>
                <a:close/>
                <a:moveTo>
                  <a:pt x="14" y="766"/>
                </a:moveTo>
                <a:lnTo>
                  <a:pt x="14" y="780"/>
                </a:lnTo>
                <a:lnTo>
                  <a:pt x="0" y="780"/>
                </a:lnTo>
                <a:lnTo>
                  <a:pt x="0" y="766"/>
                </a:lnTo>
                <a:lnTo>
                  <a:pt x="14" y="766"/>
                </a:lnTo>
                <a:close/>
                <a:moveTo>
                  <a:pt x="14" y="793"/>
                </a:moveTo>
                <a:lnTo>
                  <a:pt x="14" y="806"/>
                </a:lnTo>
                <a:lnTo>
                  <a:pt x="0" y="806"/>
                </a:lnTo>
                <a:lnTo>
                  <a:pt x="0" y="793"/>
                </a:lnTo>
                <a:lnTo>
                  <a:pt x="14" y="793"/>
                </a:lnTo>
                <a:close/>
                <a:moveTo>
                  <a:pt x="14" y="819"/>
                </a:moveTo>
                <a:lnTo>
                  <a:pt x="14" y="832"/>
                </a:lnTo>
                <a:lnTo>
                  <a:pt x="0" y="832"/>
                </a:lnTo>
                <a:lnTo>
                  <a:pt x="0" y="819"/>
                </a:lnTo>
                <a:lnTo>
                  <a:pt x="14" y="819"/>
                </a:lnTo>
                <a:close/>
                <a:moveTo>
                  <a:pt x="14" y="846"/>
                </a:moveTo>
                <a:lnTo>
                  <a:pt x="14" y="859"/>
                </a:lnTo>
                <a:lnTo>
                  <a:pt x="0" y="859"/>
                </a:lnTo>
                <a:lnTo>
                  <a:pt x="0" y="846"/>
                </a:lnTo>
                <a:lnTo>
                  <a:pt x="14" y="846"/>
                </a:lnTo>
                <a:close/>
                <a:moveTo>
                  <a:pt x="14" y="872"/>
                </a:moveTo>
                <a:lnTo>
                  <a:pt x="14" y="885"/>
                </a:lnTo>
                <a:lnTo>
                  <a:pt x="0" y="885"/>
                </a:lnTo>
                <a:lnTo>
                  <a:pt x="0" y="872"/>
                </a:lnTo>
                <a:lnTo>
                  <a:pt x="14" y="872"/>
                </a:lnTo>
                <a:close/>
                <a:moveTo>
                  <a:pt x="14" y="899"/>
                </a:moveTo>
                <a:lnTo>
                  <a:pt x="14" y="912"/>
                </a:lnTo>
                <a:lnTo>
                  <a:pt x="0" y="912"/>
                </a:lnTo>
                <a:lnTo>
                  <a:pt x="0" y="899"/>
                </a:lnTo>
                <a:lnTo>
                  <a:pt x="14" y="899"/>
                </a:lnTo>
                <a:close/>
                <a:moveTo>
                  <a:pt x="14" y="925"/>
                </a:moveTo>
                <a:lnTo>
                  <a:pt x="14" y="938"/>
                </a:lnTo>
                <a:lnTo>
                  <a:pt x="0" y="938"/>
                </a:lnTo>
                <a:lnTo>
                  <a:pt x="0" y="925"/>
                </a:lnTo>
                <a:lnTo>
                  <a:pt x="14" y="925"/>
                </a:lnTo>
                <a:close/>
                <a:moveTo>
                  <a:pt x="14" y="951"/>
                </a:moveTo>
                <a:lnTo>
                  <a:pt x="14" y="965"/>
                </a:lnTo>
                <a:lnTo>
                  <a:pt x="0" y="965"/>
                </a:lnTo>
                <a:lnTo>
                  <a:pt x="0" y="951"/>
                </a:lnTo>
                <a:lnTo>
                  <a:pt x="14" y="951"/>
                </a:lnTo>
                <a:close/>
                <a:moveTo>
                  <a:pt x="14" y="978"/>
                </a:moveTo>
                <a:lnTo>
                  <a:pt x="14" y="991"/>
                </a:lnTo>
                <a:lnTo>
                  <a:pt x="0" y="991"/>
                </a:lnTo>
                <a:lnTo>
                  <a:pt x="0" y="978"/>
                </a:lnTo>
                <a:lnTo>
                  <a:pt x="14" y="978"/>
                </a:lnTo>
                <a:close/>
                <a:moveTo>
                  <a:pt x="14" y="1004"/>
                </a:moveTo>
                <a:lnTo>
                  <a:pt x="14" y="1017"/>
                </a:lnTo>
                <a:lnTo>
                  <a:pt x="0" y="1017"/>
                </a:lnTo>
                <a:lnTo>
                  <a:pt x="0" y="1004"/>
                </a:lnTo>
                <a:lnTo>
                  <a:pt x="14" y="1004"/>
                </a:lnTo>
                <a:close/>
                <a:moveTo>
                  <a:pt x="14" y="1030"/>
                </a:moveTo>
                <a:lnTo>
                  <a:pt x="14" y="1044"/>
                </a:lnTo>
                <a:lnTo>
                  <a:pt x="0" y="1044"/>
                </a:lnTo>
                <a:lnTo>
                  <a:pt x="0" y="1030"/>
                </a:lnTo>
                <a:lnTo>
                  <a:pt x="14" y="1030"/>
                </a:lnTo>
                <a:close/>
                <a:moveTo>
                  <a:pt x="14" y="1057"/>
                </a:moveTo>
                <a:lnTo>
                  <a:pt x="14" y="1070"/>
                </a:lnTo>
                <a:lnTo>
                  <a:pt x="0" y="1070"/>
                </a:lnTo>
                <a:lnTo>
                  <a:pt x="0" y="1057"/>
                </a:lnTo>
                <a:lnTo>
                  <a:pt x="14" y="1057"/>
                </a:lnTo>
                <a:close/>
                <a:moveTo>
                  <a:pt x="14" y="1083"/>
                </a:moveTo>
                <a:lnTo>
                  <a:pt x="14" y="1097"/>
                </a:lnTo>
                <a:lnTo>
                  <a:pt x="0" y="1097"/>
                </a:lnTo>
                <a:lnTo>
                  <a:pt x="0" y="1083"/>
                </a:lnTo>
                <a:lnTo>
                  <a:pt x="14" y="1083"/>
                </a:lnTo>
                <a:close/>
                <a:moveTo>
                  <a:pt x="14" y="1110"/>
                </a:moveTo>
                <a:lnTo>
                  <a:pt x="14" y="1123"/>
                </a:lnTo>
                <a:lnTo>
                  <a:pt x="0" y="1123"/>
                </a:lnTo>
                <a:lnTo>
                  <a:pt x="0" y="1110"/>
                </a:lnTo>
                <a:lnTo>
                  <a:pt x="14" y="1110"/>
                </a:lnTo>
                <a:close/>
                <a:moveTo>
                  <a:pt x="14" y="1136"/>
                </a:moveTo>
                <a:lnTo>
                  <a:pt x="14" y="1149"/>
                </a:lnTo>
                <a:lnTo>
                  <a:pt x="0" y="1149"/>
                </a:lnTo>
                <a:lnTo>
                  <a:pt x="0" y="1136"/>
                </a:lnTo>
                <a:lnTo>
                  <a:pt x="14" y="1136"/>
                </a:lnTo>
                <a:close/>
                <a:moveTo>
                  <a:pt x="14" y="1163"/>
                </a:moveTo>
                <a:lnTo>
                  <a:pt x="14" y="1176"/>
                </a:lnTo>
                <a:lnTo>
                  <a:pt x="0" y="1176"/>
                </a:lnTo>
                <a:lnTo>
                  <a:pt x="0" y="1163"/>
                </a:lnTo>
                <a:lnTo>
                  <a:pt x="14" y="1163"/>
                </a:lnTo>
                <a:close/>
                <a:moveTo>
                  <a:pt x="14" y="1189"/>
                </a:moveTo>
                <a:lnTo>
                  <a:pt x="14" y="1202"/>
                </a:lnTo>
                <a:lnTo>
                  <a:pt x="0" y="1202"/>
                </a:lnTo>
                <a:lnTo>
                  <a:pt x="0" y="1189"/>
                </a:lnTo>
                <a:lnTo>
                  <a:pt x="14" y="1189"/>
                </a:lnTo>
                <a:close/>
                <a:moveTo>
                  <a:pt x="14" y="1216"/>
                </a:moveTo>
                <a:lnTo>
                  <a:pt x="14" y="1229"/>
                </a:lnTo>
                <a:lnTo>
                  <a:pt x="0" y="1229"/>
                </a:lnTo>
                <a:lnTo>
                  <a:pt x="0" y="1216"/>
                </a:lnTo>
                <a:lnTo>
                  <a:pt x="14" y="1216"/>
                </a:lnTo>
                <a:close/>
                <a:moveTo>
                  <a:pt x="14" y="1242"/>
                </a:moveTo>
                <a:lnTo>
                  <a:pt x="14" y="1255"/>
                </a:lnTo>
                <a:lnTo>
                  <a:pt x="0" y="1255"/>
                </a:lnTo>
                <a:lnTo>
                  <a:pt x="0" y="1242"/>
                </a:lnTo>
                <a:lnTo>
                  <a:pt x="14" y="1242"/>
                </a:lnTo>
                <a:close/>
                <a:moveTo>
                  <a:pt x="14" y="1268"/>
                </a:moveTo>
                <a:lnTo>
                  <a:pt x="14" y="1282"/>
                </a:lnTo>
                <a:lnTo>
                  <a:pt x="0" y="1282"/>
                </a:lnTo>
                <a:lnTo>
                  <a:pt x="0" y="1268"/>
                </a:lnTo>
                <a:lnTo>
                  <a:pt x="14" y="1268"/>
                </a:lnTo>
                <a:close/>
                <a:moveTo>
                  <a:pt x="14" y="1295"/>
                </a:moveTo>
                <a:lnTo>
                  <a:pt x="14" y="1308"/>
                </a:lnTo>
                <a:lnTo>
                  <a:pt x="0" y="1308"/>
                </a:lnTo>
                <a:lnTo>
                  <a:pt x="0" y="1295"/>
                </a:lnTo>
                <a:lnTo>
                  <a:pt x="14" y="1295"/>
                </a:lnTo>
                <a:close/>
                <a:moveTo>
                  <a:pt x="14" y="1321"/>
                </a:moveTo>
                <a:lnTo>
                  <a:pt x="14" y="1335"/>
                </a:lnTo>
                <a:lnTo>
                  <a:pt x="0" y="1335"/>
                </a:lnTo>
                <a:lnTo>
                  <a:pt x="0" y="1321"/>
                </a:lnTo>
                <a:lnTo>
                  <a:pt x="14" y="1321"/>
                </a:lnTo>
                <a:close/>
                <a:moveTo>
                  <a:pt x="14" y="1348"/>
                </a:moveTo>
                <a:lnTo>
                  <a:pt x="14" y="1361"/>
                </a:lnTo>
                <a:lnTo>
                  <a:pt x="0" y="1361"/>
                </a:lnTo>
                <a:lnTo>
                  <a:pt x="0" y="1348"/>
                </a:lnTo>
                <a:lnTo>
                  <a:pt x="14" y="1348"/>
                </a:lnTo>
                <a:close/>
                <a:moveTo>
                  <a:pt x="14" y="1374"/>
                </a:moveTo>
                <a:lnTo>
                  <a:pt x="14" y="1387"/>
                </a:lnTo>
                <a:lnTo>
                  <a:pt x="0" y="1387"/>
                </a:lnTo>
                <a:lnTo>
                  <a:pt x="0" y="1374"/>
                </a:lnTo>
                <a:lnTo>
                  <a:pt x="14" y="1374"/>
                </a:lnTo>
                <a:close/>
                <a:moveTo>
                  <a:pt x="14" y="1400"/>
                </a:moveTo>
                <a:lnTo>
                  <a:pt x="14" y="1414"/>
                </a:lnTo>
                <a:lnTo>
                  <a:pt x="0" y="1414"/>
                </a:lnTo>
                <a:lnTo>
                  <a:pt x="0" y="1400"/>
                </a:lnTo>
                <a:lnTo>
                  <a:pt x="14" y="1400"/>
                </a:lnTo>
                <a:close/>
                <a:moveTo>
                  <a:pt x="14" y="1427"/>
                </a:moveTo>
                <a:lnTo>
                  <a:pt x="14" y="1440"/>
                </a:lnTo>
                <a:lnTo>
                  <a:pt x="0" y="1440"/>
                </a:lnTo>
                <a:lnTo>
                  <a:pt x="0" y="1427"/>
                </a:lnTo>
                <a:lnTo>
                  <a:pt x="14" y="1427"/>
                </a:lnTo>
                <a:close/>
                <a:moveTo>
                  <a:pt x="14" y="1453"/>
                </a:moveTo>
                <a:lnTo>
                  <a:pt x="14" y="1466"/>
                </a:lnTo>
                <a:lnTo>
                  <a:pt x="0" y="1466"/>
                </a:lnTo>
                <a:lnTo>
                  <a:pt x="0" y="1453"/>
                </a:lnTo>
                <a:lnTo>
                  <a:pt x="14" y="1453"/>
                </a:lnTo>
                <a:close/>
                <a:moveTo>
                  <a:pt x="14" y="1480"/>
                </a:moveTo>
                <a:lnTo>
                  <a:pt x="14" y="1493"/>
                </a:lnTo>
                <a:lnTo>
                  <a:pt x="0" y="1493"/>
                </a:lnTo>
                <a:lnTo>
                  <a:pt x="0" y="1480"/>
                </a:lnTo>
                <a:lnTo>
                  <a:pt x="14" y="1480"/>
                </a:lnTo>
                <a:close/>
                <a:moveTo>
                  <a:pt x="14" y="1506"/>
                </a:moveTo>
                <a:lnTo>
                  <a:pt x="14" y="1519"/>
                </a:lnTo>
                <a:lnTo>
                  <a:pt x="0" y="1519"/>
                </a:lnTo>
                <a:lnTo>
                  <a:pt x="0" y="1506"/>
                </a:lnTo>
                <a:lnTo>
                  <a:pt x="14" y="1506"/>
                </a:lnTo>
                <a:close/>
                <a:moveTo>
                  <a:pt x="14" y="1533"/>
                </a:moveTo>
                <a:lnTo>
                  <a:pt x="14" y="1546"/>
                </a:lnTo>
                <a:lnTo>
                  <a:pt x="0" y="1546"/>
                </a:lnTo>
                <a:lnTo>
                  <a:pt x="0" y="1533"/>
                </a:lnTo>
                <a:lnTo>
                  <a:pt x="14" y="1533"/>
                </a:lnTo>
                <a:close/>
                <a:moveTo>
                  <a:pt x="14" y="1559"/>
                </a:moveTo>
                <a:lnTo>
                  <a:pt x="14" y="1572"/>
                </a:lnTo>
                <a:lnTo>
                  <a:pt x="0" y="1572"/>
                </a:lnTo>
                <a:lnTo>
                  <a:pt x="0" y="1559"/>
                </a:lnTo>
                <a:lnTo>
                  <a:pt x="14" y="1559"/>
                </a:lnTo>
                <a:close/>
                <a:moveTo>
                  <a:pt x="14" y="1585"/>
                </a:moveTo>
                <a:lnTo>
                  <a:pt x="14" y="1599"/>
                </a:lnTo>
                <a:lnTo>
                  <a:pt x="0" y="1599"/>
                </a:lnTo>
                <a:lnTo>
                  <a:pt x="0" y="1585"/>
                </a:lnTo>
                <a:lnTo>
                  <a:pt x="14" y="1585"/>
                </a:lnTo>
                <a:close/>
                <a:moveTo>
                  <a:pt x="14" y="1612"/>
                </a:moveTo>
                <a:lnTo>
                  <a:pt x="14" y="1625"/>
                </a:lnTo>
                <a:lnTo>
                  <a:pt x="0" y="1625"/>
                </a:lnTo>
                <a:lnTo>
                  <a:pt x="0" y="1612"/>
                </a:lnTo>
                <a:lnTo>
                  <a:pt x="14" y="1612"/>
                </a:lnTo>
                <a:close/>
                <a:moveTo>
                  <a:pt x="14" y="1638"/>
                </a:moveTo>
                <a:lnTo>
                  <a:pt x="14" y="1652"/>
                </a:lnTo>
                <a:lnTo>
                  <a:pt x="0" y="1652"/>
                </a:lnTo>
                <a:lnTo>
                  <a:pt x="0" y="1638"/>
                </a:lnTo>
                <a:lnTo>
                  <a:pt x="14" y="1638"/>
                </a:lnTo>
                <a:close/>
                <a:moveTo>
                  <a:pt x="14" y="1665"/>
                </a:moveTo>
                <a:lnTo>
                  <a:pt x="14" y="1678"/>
                </a:lnTo>
                <a:lnTo>
                  <a:pt x="0" y="1678"/>
                </a:lnTo>
                <a:lnTo>
                  <a:pt x="0" y="1665"/>
                </a:lnTo>
                <a:lnTo>
                  <a:pt x="14" y="1665"/>
                </a:lnTo>
                <a:close/>
                <a:moveTo>
                  <a:pt x="14" y="1691"/>
                </a:moveTo>
                <a:lnTo>
                  <a:pt x="14" y="1704"/>
                </a:lnTo>
                <a:lnTo>
                  <a:pt x="0" y="1704"/>
                </a:lnTo>
                <a:lnTo>
                  <a:pt x="0" y="1691"/>
                </a:lnTo>
                <a:lnTo>
                  <a:pt x="14" y="1691"/>
                </a:lnTo>
                <a:close/>
                <a:moveTo>
                  <a:pt x="14" y="1718"/>
                </a:moveTo>
                <a:lnTo>
                  <a:pt x="14" y="1731"/>
                </a:lnTo>
                <a:lnTo>
                  <a:pt x="0" y="1731"/>
                </a:lnTo>
                <a:lnTo>
                  <a:pt x="0" y="1718"/>
                </a:lnTo>
                <a:lnTo>
                  <a:pt x="14" y="1718"/>
                </a:lnTo>
                <a:close/>
                <a:moveTo>
                  <a:pt x="14" y="1744"/>
                </a:moveTo>
                <a:lnTo>
                  <a:pt x="14" y="1757"/>
                </a:lnTo>
                <a:lnTo>
                  <a:pt x="0" y="1757"/>
                </a:lnTo>
                <a:lnTo>
                  <a:pt x="0" y="1744"/>
                </a:lnTo>
                <a:lnTo>
                  <a:pt x="14" y="1744"/>
                </a:lnTo>
                <a:close/>
                <a:moveTo>
                  <a:pt x="14" y="1770"/>
                </a:moveTo>
                <a:lnTo>
                  <a:pt x="14" y="1783"/>
                </a:lnTo>
                <a:lnTo>
                  <a:pt x="0" y="1783"/>
                </a:lnTo>
                <a:lnTo>
                  <a:pt x="0" y="1770"/>
                </a:lnTo>
                <a:lnTo>
                  <a:pt x="14" y="1770"/>
                </a:lnTo>
                <a:close/>
                <a:moveTo>
                  <a:pt x="14" y="1797"/>
                </a:moveTo>
                <a:lnTo>
                  <a:pt x="14" y="1810"/>
                </a:lnTo>
                <a:lnTo>
                  <a:pt x="0" y="1810"/>
                </a:lnTo>
                <a:lnTo>
                  <a:pt x="0" y="1797"/>
                </a:lnTo>
                <a:lnTo>
                  <a:pt x="14" y="1797"/>
                </a:lnTo>
                <a:close/>
                <a:moveTo>
                  <a:pt x="14" y="1823"/>
                </a:moveTo>
                <a:lnTo>
                  <a:pt x="14" y="1836"/>
                </a:lnTo>
                <a:lnTo>
                  <a:pt x="0" y="1836"/>
                </a:lnTo>
                <a:lnTo>
                  <a:pt x="0" y="1823"/>
                </a:lnTo>
                <a:lnTo>
                  <a:pt x="14" y="1823"/>
                </a:lnTo>
                <a:close/>
                <a:moveTo>
                  <a:pt x="14" y="1850"/>
                </a:moveTo>
                <a:lnTo>
                  <a:pt x="14" y="1863"/>
                </a:lnTo>
                <a:lnTo>
                  <a:pt x="0" y="1863"/>
                </a:lnTo>
                <a:lnTo>
                  <a:pt x="0" y="1850"/>
                </a:lnTo>
                <a:lnTo>
                  <a:pt x="14" y="1850"/>
                </a:lnTo>
                <a:close/>
                <a:moveTo>
                  <a:pt x="14" y="1876"/>
                </a:moveTo>
                <a:lnTo>
                  <a:pt x="14" y="1889"/>
                </a:lnTo>
                <a:lnTo>
                  <a:pt x="0" y="1889"/>
                </a:lnTo>
                <a:lnTo>
                  <a:pt x="0" y="1876"/>
                </a:lnTo>
                <a:lnTo>
                  <a:pt x="14" y="1876"/>
                </a:lnTo>
                <a:close/>
                <a:moveTo>
                  <a:pt x="14" y="1902"/>
                </a:moveTo>
                <a:lnTo>
                  <a:pt x="14" y="1916"/>
                </a:lnTo>
                <a:lnTo>
                  <a:pt x="0" y="1916"/>
                </a:lnTo>
                <a:lnTo>
                  <a:pt x="0" y="1902"/>
                </a:lnTo>
                <a:lnTo>
                  <a:pt x="14" y="1902"/>
                </a:lnTo>
                <a:close/>
                <a:moveTo>
                  <a:pt x="14" y="1929"/>
                </a:moveTo>
                <a:lnTo>
                  <a:pt x="14" y="1942"/>
                </a:lnTo>
                <a:lnTo>
                  <a:pt x="0" y="1942"/>
                </a:lnTo>
                <a:lnTo>
                  <a:pt x="0" y="1929"/>
                </a:lnTo>
                <a:lnTo>
                  <a:pt x="14" y="1929"/>
                </a:lnTo>
                <a:close/>
                <a:moveTo>
                  <a:pt x="14" y="1955"/>
                </a:moveTo>
                <a:lnTo>
                  <a:pt x="14" y="1969"/>
                </a:lnTo>
                <a:lnTo>
                  <a:pt x="0" y="1969"/>
                </a:lnTo>
                <a:lnTo>
                  <a:pt x="0" y="1955"/>
                </a:lnTo>
                <a:lnTo>
                  <a:pt x="14" y="1955"/>
                </a:lnTo>
                <a:close/>
                <a:moveTo>
                  <a:pt x="14" y="1982"/>
                </a:moveTo>
                <a:lnTo>
                  <a:pt x="14" y="1995"/>
                </a:lnTo>
                <a:lnTo>
                  <a:pt x="0" y="1995"/>
                </a:lnTo>
                <a:lnTo>
                  <a:pt x="0" y="1982"/>
                </a:lnTo>
                <a:lnTo>
                  <a:pt x="14" y="1982"/>
                </a:lnTo>
                <a:close/>
                <a:moveTo>
                  <a:pt x="14" y="2008"/>
                </a:moveTo>
                <a:lnTo>
                  <a:pt x="14" y="2021"/>
                </a:lnTo>
                <a:lnTo>
                  <a:pt x="0" y="2021"/>
                </a:lnTo>
                <a:lnTo>
                  <a:pt x="0" y="2008"/>
                </a:lnTo>
                <a:lnTo>
                  <a:pt x="14" y="2008"/>
                </a:lnTo>
                <a:close/>
                <a:moveTo>
                  <a:pt x="14" y="2035"/>
                </a:moveTo>
                <a:lnTo>
                  <a:pt x="14" y="2048"/>
                </a:lnTo>
                <a:lnTo>
                  <a:pt x="0" y="2048"/>
                </a:lnTo>
                <a:lnTo>
                  <a:pt x="0" y="2035"/>
                </a:lnTo>
                <a:lnTo>
                  <a:pt x="14" y="2035"/>
                </a:lnTo>
                <a:close/>
                <a:moveTo>
                  <a:pt x="14" y="2061"/>
                </a:moveTo>
                <a:lnTo>
                  <a:pt x="14" y="2074"/>
                </a:lnTo>
                <a:lnTo>
                  <a:pt x="0" y="2074"/>
                </a:lnTo>
                <a:lnTo>
                  <a:pt x="0" y="2061"/>
                </a:lnTo>
                <a:lnTo>
                  <a:pt x="14" y="2061"/>
                </a:lnTo>
                <a:close/>
                <a:moveTo>
                  <a:pt x="14" y="2088"/>
                </a:moveTo>
                <a:lnTo>
                  <a:pt x="14" y="2101"/>
                </a:lnTo>
                <a:lnTo>
                  <a:pt x="0" y="2101"/>
                </a:lnTo>
                <a:lnTo>
                  <a:pt x="0" y="2088"/>
                </a:lnTo>
                <a:lnTo>
                  <a:pt x="14" y="2088"/>
                </a:lnTo>
                <a:close/>
                <a:moveTo>
                  <a:pt x="14" y="2114"/>
                </a:moveTo>
                <a:lnTo>
                  <a:pt x="14" y="2127"/>
                </a:lnTo>
                <a:lnTo>
                  <a:pt x="0" y="2127"/>
                </a:lnTo>
                <a:lnTo>
                  <a:pt x="0" y="2114"/>
                </a:lnTo>
                <a:lnTo>
                  <a:pt x="14" y="2114"/>
                </a:lnTo>
                <a:close/>
                <a:moveTo>
                  <a:pt x="14" y="2140"/>
                </a:moveTo>
                <a:lnTo>
                  <a:pt x="14" y="2153"/>
                </a:lnTo>
                <a:lnTo>
                  <a:pt x="0" y="2153"/>
                </a:lnTo>
                <a:lnTo>
                  <a:pt x="0" y="2140"/>
                </a:lnTo>
                <a:lnTo>
                  <a:pt x="14" y="2140"/>
                </a:lnTo>
                <a:close/>
                <a:moveTo>
                  <a:pt x="14" y="2167"/>
                </a:moveTo>
                <a:lnTo>
                  <a:pt x="14" y="2180"/>
                </a:lnTo>
                <a:lnTo>
                  <a:pt x="0" y="2180"/>
                </a:lnTo>
                <a:lnTo>
                  <a:pt x="0" y="2167"/>
                </a:lnTo>
                <a:lnTo>
                  <a:pt x="14" y="2167"/>
                </a:lnTo>
                <a:close/>
                <a:moveTo>
                  <a:pt x="14" y="2193"/>
                </a:moveTo>
                <a:lnTo>
                  <a:pt x="14" y="2206"/>
                </a:lnTo>
                <a:lnTo>
                  <a:pt x="0" y="2206"/>
                </a:lnTo>
                <a:lnTo>
                  <a:pt x="0" y="2193"/>
                </a:lnTo>
                <a:lnTo>
                  <a:pt x="14" y="2193"/>
                </a:lnTo>
                <a:close/>
                <a:moveTo>
                  <a:pt x="14" y="2219"/>
                </a:moveTo>
                <a:lnTo>
                  <a:pt x="14" y="2233"/>
                </a:lnTo>
                <a:lnTo>
                  <a:pt x="0" y="2233"/>
                </a:lnTo>
                <a:lnTo>
                  <a:pt x="0" y="2219"/>
                </a:lnTo>
                <a:lnTo>
                  <a:pt x="14" y="2219"/>
                </a:lnTo>
                <a:close/>
                <a:moveTo>
                  <a:pt x="14" y="2246"/>
                </a:moveTo>
                <a:lnTo>
                  <a:pt x="14" y="2259"/>
                </a:lnTo>
                <a:lnTo>
                  <a:pt x="0" y="2259"/>
                </a:lnTo>
                <a:lnTo>
                  <a:pt x="0" y="2246"/>
                </a:lnTo>
                <a:lnTo>
                  <a:pt x="14" y="2246"/>
                </a:lnTo>
                <a:close/>
                <a:moveTo>
                  <a:pt x="14" y="2272"/>
                </a:moveTo>
                <a:lnTo>
                  <a:pt x="14" y="2286"/>
                </a:lnTo>
                <a:lnTo>
                  <a:pt x="0" y="2286"/>
                </a:lnTo>
                <a:lnTo>
                  <a:pt x="0" y="2272"/>
                </a:lnTo>
                <a:lnTo>
                  <a:pt x="14" y="2272"/>
                </a:lnTo>
                <a:close/>
                <a:moveTo>
                  <a:pt x="14" y="2299"/>
                </a:moveTo>
                <a:lnTo>
                  <a:pt x="14" y="2312"/>
                </a:lnTo>
                <a:lnTo>
                  <a:pt x="0" y="2312"/>
                </a:lnTo>
                <a:lnTo>
                  <a:pt x="0" y="2299"/>
                </a:lnTo>
                <a:lnTo>
                  <a:pt x="14" y="2299"/>
                </a:lnTo>
                <a:close/>
              </a:path>
            </a:pathLst>
          </a:custGeom>
          <a:solidFill>
            <a:srgbClr val="000000"/>
          </a:solidFill>
          <a:ln w="0" cap="flat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87" name="Freeform 84">
            <a:extLst>
              <a:ext uri="{FF2B5EF4-FFF2-40B4-BE49-F238E27FC236}">
                <a16:creationId xmlns:a16="http://schemas.microsoft.com/office/drawing/2014/main" id="{2BCF016B-101B-45BE-988E-9C7FADE53943}"/>
              </a:ext>
            </a:extLst>
          </p:cNvPr>
          <p:cNvSpPr>
            <a:spLocks noEditPoints="1"/>
          </p:cNvSpPr>
          <p:nvPr/>
        </p:nvSpPr>
        <p:spPr bwMode="auto">
          <a:xfrm>
            <a:off x="5048250" y="2357438"/>
            <a:ext cx="20638" cy="3670300"/>
          </a:xfrm>
          <a:custGeom>
            <a:avLst/>
            <a:gdLst>
              <a:gd name="T0" fmla="*/ 13 w 13"/>
              <a:gd name="T1" fmla="*/ 40 h 2312"/>
              <a:gd name="T2" fmla="*/ 0 w 13"/>
              <a:gd name="T3" fmla="*/ 53 h 2312"/>
              <a:gd name="T4" fmla="*/ 13 w 13"/>
              <a:gd name="T5" fmla="*/ 106 h 2312"/>
              <a:gd name="T6" fmla="*/ 0 w 13"/>
              <a:gd name="T7" fmla="*/ 146 h 2312"/>
              <a:gd name="T8" fmla="*/ 13 w 13"/>
              <a:gd name="T9" fmla="*/ 159 h 2312"/>
              <a:gd name="T10" fmla="*/ 13 w 13"/>
              <a:gd name="T11" fmla="*/ 225 h 2312"/>
              <a:gd name="T12" fmla="*/ 0 w 13"/>
              <a:gd name="T13" fmla="*/ 238 h 2312"/>
              <a:gd name="T14" fmla="*/ 13 w 13"/>
              <a:gd name="T15" fmla="*/ 291 h 2312"/>
              <a:gd name="T16" fmla="*/ 0 w 13"/>
              <a:gd name="T17" fmla="*/ 330 h 2312"/>
              <a:gd name="T18" fmla="*/ 13 w 13"/>
              <a:gd name="T19" fmla="*/ 344 h 2312"/>
              <a:gd name="T20" fmla="*/ 13 w 13"/>
              <a:gd name="T21" fmla="*/ 410 h 2312"/>
              <a:gd name="T22" fmla="*/ 0 w 13"/>
              <a:gd name="T23" fmla="*/ 423 h 2312"/>
              <a:gd name="T24" fmla="*/ 13 w 13"/>
              <a:gd name="T25" fmla="*/ 476 h 2312"/>
              <a:gd name="T26" fmla="*/ 0 w 13"/>
              <a:gd name="T27" fmla="*/ 515 h 2312"/>
              <a:gd name="T28" fmla="*/ 13 w 13"/>
              <a:gd name="T29" fmla="*/ 529 h 2312"/>
              <a:gd name="T30" fmla="*/ 13 w 13"/>
              <a:gd name="T31" fmla="*/ 594 h 2312"/>
              <a:gd name="T32" fmla="*/ 0 w 13"/>
              <a:gd name="T33" fmla="*/ 608 h 2312"/>
              <a:gd name="T34" fmla="*/ 13 w 13"/>
              <a:gd name="T35" fmla="*/ 661 h 2312"/>
              <a:gd name="T36" fmla="*/ 0 w 13"/>
              <a:gd name="T37" fmla="*/ 700 h 2312"/>
              <a:gd name="T38" fmla="*/ 13 w 13"/>
              <a:gd name="T39" fmla="*/ 713 h 2312"/>
              <a:gd name="T40" fmla="*/ 13 w 13"/>
              <a:gd name="T41" fmla="*/ 780 h 2312"/>
              <a:gd name="T42" fmla="*/ 0 w 13"/>
              <a:gd name="T43" fmla="*/ 793 h 2312"/>
              <a:gd name="T44" fmla="*/ 13 w 13"/>
              <a:gd name="T45" fmla="*/ 846 h 2312"/>
              <a:gd name="T46" fmla="*/ 0 w 13"/>
              <a:gd name="T47" fmla="*/ 885 h 2312"/>
              <a:gd name="T48" fmla="*/ 13 w 13"/>
              <a:gd name="T49" fmla="*/ 899 h 2312"/>
              <a:gd name="T50" fmla="*/ 13 w 13"/>
              <a:gd name="T51" fmla="*/ 965 h 2312"/>
              <a:gd name="T52" fmla="*/ 0 w 13"/>
              <a:gd name="T53" fmla="*/ 978 h 2312"/>
              <a:gd name="T54" fmla="*/ 13 w 13"/>
              <a:gd name="T55" fmla="*/ 1030 h 2312"/>
              <a:gd name="T56" fmla="*/ 0 w 13"/>
              <a:gd name="T57" fmla="*/ 1070 h 2312"/>
              <a:gd name="T58" fmla="*/ 13 w 13"/>
              <a:gd name="T59" fmla="*/ 1083 h 2312"/>
              <a:gd name="T60" fmla="*/ 13 w 13"/>
              <a:gd name="T61" fmla="*/ 1149 h 2312"/>
              <a:gd name="T62" fmla="*/ 0 w 13"/>
              <a:gd name="T63" fmla="*/ 1163 h 2312"/>
              <a:gd name="T64" fmla="*/ 13 w 13"/>
              <a:gd name="T65" fmla="*/ 1216 h 2312"/>
              <a:gd name="T66" fmla="*/ 0 w 13"/>
              <a:gd name="T67" fmla="*/ 1255 h 2312"/>
              <a:gd name="T68" fmla="*/ 13 w 13"/>
              <a:gd name="T69" fmla="*/ 1268 h 2312"/>
              <a:gd name="T70" fmla="*/ 13 w 13"/>
              <a:gd name="T71" fmla="*/ 1335 h 2312"/>
              <a:gd name="T72" fmla="*/ 0 w 13"/>
              <a:gd name="T73" fmla="*/ 1348 h 2312"/>
              <a:gd name="T74" fmla="*/ 13 w 13"/>
              <a:gd name="T75" fmla="*/ 1400 h 2312"/>
              <a:gd name="T76" fmla="*/ 0 w 13"/>
              <a:gd name="T77" fmla="*/ 1440 h 2312"/>
              <a:gd name="T78" fmla="*/ 13 w 13"/>
              <a:gd name="T79" fmla="*/ 1453 h 2312"/>
              <a:gd name="T80" fmla="*/ 13 w 13"/>
              <a:gd name="T81" fmla="*/ 1519 h 2312"/>
              <a:gd name="T82" fmla="*/ 0 w 13"/>
              <a:gd name="T83" fmla="*/ 1533 h 2312"/>
              <a:gd name="T84" fmla="*/ 13 w 13"/>
              <a:gd name="T85" fmla="*/ 1585 h 2312"/>
              <a:gd name="T86" fmla="*/ 0 w 13"/>
              <a:gd name="T87" fmla="*/ 1625 h 2312"/>
              <a:gd name="T88" fmla="*/ 13 w 13"/>
              <a:gd name="T89" fmla="*/ 1638 h 2312"/>
              <a:gd name="T90" fmla="*/ 13 w 13"/>
              <a:gd name="T91" fmla="*/ 1704 h 2312"/>
              <a:gd name="T92" fmla="*/ 0 w 13"/>
              <a:gd name="T93" fmla="*/ 1718 h 2312"/>
              <a:gd name="T94" fmla="*/ 13 w 13"/>
              <a:gd name="T95" fmla="*/ 1770 h 2312"/>
              <a:gd name="T96" fmla="*/ 0 w 13"/>
              <a:gd name="T97" fmla="*/ 1810 h 2312"/>
              <a:gd name="T98" fmla="*/ 13 w 13"/>
              <a:gd name="T99" fmla="*/ 1823 h 2312"/>
              <a:gd name="T100" fmla="*/ 13 w 13"/>
              <a:gd name="T101" fmla="*/ 1889 h 2312"/>
              <a:gd name="T102" fmla="*/ 0 w 13"/>
              <a:gd name="T103" fmla="*/ 1902 h 2312"/>
              <a:gd name="T104" fmla="*/ 13 w 13"/>
              <a:gd name="T105" fmla="*/ 1955 h 2312"/>
              <a:gd name="T106" fmla="*/ 0 w 13"/>
              <a:gd name="T107" fmla="*/ 1995 h 2312"/>
              <a:gd name="T108" fmla="*/ 13 w 13"/>
              <a:gd name="T109" fmla="*/ 2008 h 2312"/>
              <a:gd name="T110" fmla="*/ 13 w 13"/>
              <a:gd name="T111" fmla="*/ 2074 h 2312"/>
              <a:gd name="T112" fmla="*/ 0 w 13"/>
              <a:gd name="T113" fmla="*/ 2088 h 2312"/>
              <a:gd name="T114" fmla="*/ 13 w 13"/>
              <a:gd name="T115" fmla="*/ 2140 h 2312"/>
              <a:gd name="T116" fmla="*/ 0 w 13"/>
              <a:gd name="T117" fmla="*/ 2180 h 2312"/>
              <a:gd name="T118" fmla="*/ 13 w 13"/>
              <a:gd name="T119" fmla="*/ 2193 h 2312"/>
              <a:gd name="T120" fmla="*/ 13 w 13"/>
              <a:gd name="T121" fmla="*/ 2259 h 2312"/>
              <a:gd name="T122" fmla="*/ 0 w 13"/>
              <a:gd name="T123" fmla="*/ 2272 h 23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13" h="2312">
                <a:moveTo>
                  <a:pt x="13" y="0"/>
                </a:moveTo>
                <a:lnTo>
                  <a:pt x="13" y="13"/>
                </a:lnTo>
                <a:lnTo>
                  <a:pt x="0" y="13"/>
                </a:lnTo>
                <a:lnTo>
                  <a:pt x="0" y="0"/>
                </a:lnTo>
                <a:lnTo>
                  <a:pt x="13" y="0"/>
                </a:lnTo>
                <a:close/>
                <a:moveTo>
                  <a:pt x="13" y="27"/>
                </a:moveTo>
                <a:lnTo>
                  <a:pt x="13" y="40"/>
                </a:lnTo>
                <a:lnTo>
                  <a:pt x="0" y="40"/>
                </a:lnTo>
                <a:lnTo>
                  <a:pt x="0" y="27"/>
                </a:lnTo>
                <a:lnTo>
                  <a:pt x="13" y="27"/>
                </a:lnTo>
                <a:close/>
                <a:moveTo>
                  <a:pt x="13" y="53"/>
                </a:moveTo>
                <a:lnTo>
                  <a:pt x="13" y="66"/>
                </a:lnTo>
                <a:lnTo>
                  <a:pt x="0" y="66"/>
                </a:lnTo>
                <a:lnTo>
                  <a:pt x="0" y="53"/>
                </a:lnTo>
                <a:lnTo>
                  <a:pt x="13" y="53"/>
                </a:lnTo>
                <a:close/>
                <a:moveTo>
                  <a:pt x="13" y="79"/>
                </a:moveTo>
                <a:lnTo>
                  <a:pt x="13" y="93"/>
                </a:lnTo>
                <a:lnTo>
                  <a:pt x="0" y="93"/>
                </a:lnTo>
                <a:lnTo>
                  <a:pt x="0" y="79"/>
                </a:lnTo>
                <a:lnTo>
                  <a:pt x="13" y="79"/>
                </a:lnTo>
                <a:close/>
                <a:moveTo>
                  <a:pt x="13" y="106"/>
                </a:moveTo>
                <a:lnTo>
                  <a:pt x="13" y="119"/>
                </a:lnTo>
                <a:lnTo>
                  <a:pt x="0" y="119"/>
                </a:lnTo>
                <a:lnTo>
                  <a:pt x="0" y="106"/>
                </a:lnTo>
                <a:lnTo>
                  <a:pt x="13" y="106"/>
                </a:lnTo>
                <a:close/>
                <a:moveTo>
                  <a:pt x="13" y="132"/>
                </a:moveTo>
                <a:lnTo>
                  <a:pt x="13" y="146"/>
                </a:lnTo>
                <a:lnTo>
                  <a:pt x="0" y="146"/>
                </a:lnTo>
                <a:lnTo>
                  <a:pt x="0" y="132"/>
                </a:lnTo>
                <a:lnTo>
                  <a:pt x="13" y="132"/>
                </a:lnTo>
                <a:close/>
                <a:moveTo>
                  <a:pt x="13" y="159"/>
                </a:moveTo>
                <a:lnTo>
                  <a:pt x="13" y="172"/>
                </a:lnTo>
                <a:lnTo>
                  <a:pt x="0" y="172"/>
                </a:lnTo>
                <a:lnTo>
                  <a:pt x="0" y="159"/>
                </a:lnTo>
                <a:lnTo>
                  <a:pt x="13" y="159"/>
                </a:lnTo>
                <a:close/>
                <a:moveTo>
                  <a:pt x="13" y="185"/>
                </a:moveTo>
                <a:lnTo>
                  <a:pt x="13" y="198"/>
                </a:lnTo>
                <a:lnTo>
                  <a:pt x="0" y="198"/>
                </a:lnTo>
                <a:lnTo>
                  <a:pt x="0" y="185"/>
                </a:lnTo>
                <a:lnTo>
                  <a:pt x="13" y="185"/>
                </a:lnTo>
                <a:close/>
                <a:moveTo>
                  <a:pt x="13" y="211"/>
                </a:moveTo>
                <a:lnTo>
                  <a:pt x="13" y="225"/>
                </a:lnTo>
                <a:lnTo>
                  <a:pt x="0" y="225"/>
                </a:lnTo>
                <a:lnTo>
                  <a:pt x="0" y="211"/>
                </a:lnTo>
                <a:lnTo>
                  <a:pt x="13" y="211"/>
                </a:lnTo>
                <a:close/>
                <a:moveTo>
                  <a:pt x="13" y="238"/>
                </a:moveTo>
                <a:lnTo>
                  <a:pt x="13" y="251"/>
                </a:lnTo>
                <a:lnTo>
                  <a:pt x="0" y="251"/>
                </a:lnTo>
                <a:lnTo>
                  <a:pt x="0" y="238"/>
                </a:lnTo>
                <a:lnTo>
                  <a:pt x="13" y="238"/>
                </a:lnTo>
                <a:close/>
                <a:moveTo>
                  <a:pt x="13" y="264"/>
                </a:moveTo>
                <a:lnTo>
                  <a:pt x="13" y="277"/>
                </a:lnTo>
                <a:lnTo>
                  <a:pt x="0" y="277"/>
                </a:lnTo>
                <a:lnTo>
                  <a:pt x="0" y="264"/>
                </a:lnTo>
                <a:lnTo>
                  <a:pt x="13" y="264"/>
                </a:lnTo>
                <a:close/>
                <a:moveTo>
                  <a:pt x="13" y="291"/>
                </a:moveTo>
                <a:lnTo>
                  <a:pt x="13" y="304"/>
                </a:lnTo>
                <a:lnTo>
                  <a:pt x="0" y="304"/>
                </a:lnTo>
                <a:lnTo>
                  <a:pt x="0" y="291"/>
                </a:lnTo>
                <a:lnTo>
                  <a:pt x="13" y="291"/>
                </a:lnTo>
                <a:close/>
                <a:moveTo>
                  <a:pt x="13" y="317"/>
                </a:moveTo>
                <a:lnTo>
                  <a:pt x="13" y="330"/>
                </a:lnTo>
                <a:lnTo>
                  <a:pt x="0" y="330"/>
                </a:lnTo>
                <a:lnTo>
                  <a:pt x="0" y="317"/>
                </a:lnTo>
                <a:lnTo>
                  <a:pt x="13" y="317"/>
                </a:lnTo>
                <a:close/>
                <a:moveTo>
                  <a:pt x="13" y="344"/>
                </a:moveTo>
                <a:lnTo>
                  <a:pt x="13" y="357"/>
                </a:lnTo>
                <a:lnTo>
                  <a:pt x="0" y="357"/>
                </a:lnTo>
                <a:lnTo>
                  <a:pt x="0" y="344"/>
                </a:lnTo>
                <a:lnTo>
                  <a:pt x="13" y="344"/>
                </a:lnTo>
                <a:close/>
                <a:moveTo>
                  <a:pt x="13" y="370"/>
                </a:moveTo>
                <a:lnTo>
                  <a:pt x="13" y="383"/>
                </a:lnTo>
                <a:lnTo>
                  <a:pt x="0" y="383"/>
                </a:lnTo>
                <a:lnTo>
                  <a:pt x="0" y="370"/>
                </a:lnTo>
                <a:lnTo>
                  <a:pt x="13" y="370"/>
                </a:lnTo>
                <a:close/>
                <a:moveTo>
                  <a:pt x="13" y="396"/>
                </a:moveTo>
                <a:lnTo>
                  <a:pt x="13" y="410"/>
                </a:lnTo>
                <a:lnTo>
                  <a:pt x="0" y="410"/>
                </a:lnTo>
                <a:lnTo>
                  <a:pt x="0" y="396"/>
                </a:lnTo>
                <a:lnTo>
                  <a:pt x="13" y="396"/>
                </a:lnTo>
                <a:close/>
                <a:moveTo>
                  <a:pt x="13" y="423"/>
                </a:moveTo>
                <a:lnTo>
                  <a:pt x="13" y="436"/>
                </a:lnTo>
                <a:lnTo>
                  <a:pt x="0" y="436"/>
                </a:lnTo>
                <a:lnTo>
                  <a:pt x="0" y="423"/>
                </a:lnTo>
                <a:lnTo>
                  <a:pt x="13" y="423"/>
                </a:lnTo>
                <a:close/>
                <a:moveTo>
                  <a:pt x="13" y="449"/>
                </a:moveTo>
                <a:lnTo>
                  <a:pt x="13" y="463"/>
                </a:lnTo>
                <a:lnTo>
                  <a:pt x="0" y="463"/>
                </a:lnTo>
                <a:lnTo>
                  <a:pt x="0" y="449"/>
                </a:lnTo>
                <a:lnTo>
                  <a:pt x="13" y="449"/>
                </a:lnTo>
                <a:close/>
                <a:moveTo>
                  <a:pt x="13" y="476"/>
                </a:moveTo>
                <a:lnTo>
                  <a:pt x="13" y="489"/>
                </a:lnTo>
                <a:lnTo>
                  <a:pt x="0" y="489"/>
                </a:lnTo>
                <a:lnTo>
                  <a:pt x="0" y="476"/>
                </a:lnTo>
                <a:lnTo>
                  <a:pt x="13" y="476"/>
                </a:lnTo>
                <a:close/>
                <a:moveTo>
                  <a:pt x="13" y="502"/>
                </a:moveTo>
                <a:lnTo>
                  <a:pt x="13" y="515"/>
                </a:lnTo>
                <a:lnTo>
                  <a:pt x="0" y="515"/>
                </a:lnTo>
                <a:lnTo>
                  <a:pt x="0" y="502"/>
                </a:lnTo>
                <a:lnTo>
                  <a:pt x="13" y="502"/>
                </a:lnTo>
                <a:close/>
                <a:moveTo>
                  <a:pt x="13" y="529"/>
                </a:moveTo>
                <a:lnTo>
                  <a:pt x="13" y="542"/>
                </a:lnTo>
                <a:lnTo>
                  <a:pt x="0" y="542"/>
                </a:lnTo>
                <a:lnTo>
                  <a:pt x="0" y="529"/>
                </a:lnTo>
                <a:lnTo>
                  <a:pt x="13" y="529"/>
                </a:lnTo>
                <a:close/>
                <a:moveTo>
                  <a:pt x="13" y="555"/>
                </a:moveTo>
                <a:lnTo>
                  <a:pt x="13" y="568"/>
                </a:lnTo>
                <a:lnTo>
                  <a:pt x="0" y="568"/>
                </a:lnTo>
                <a:lnTo>
                  <a:pt x="0" y="555"/>
                </a:lnTo>
                <a:lnTo>
                  <a:pt x="13" y="555"/>
                </a:lnTo>
                <a:close/>
                <a:moveTo>
                  <a:pt x="13" y="581"/>
                </a:moveTo>
                <a:lnTo>
                  <a:pt x="13" y="594"/>
                </a:lnTo>
                <a:lnTo>
                  <a:pt x="0" y="594"/>
                </a:lnTo>
                <a:lnTo>
                  <a:pt x="0" y="581"/>
                </a:lnTo>
                <a:lnTo>
                  <a:pt x="13" y="581"/>
                </a:lnTo>
                <a:close/>
                <a:moveTo>
                  <a:pt x="13" y="608"/>
                </a:moveTo>
                <a:lnTo>
                  <a:pt x="13" y="621"/>
                </a:lnTo>
                <a:lnTo>
                  <a:pt x="0" y="621"/>
                </a:lnTo>
                <a:lnTo>
                  <a:pt x="0" y="608"/>
                </a:lnTo>
                <a:lnTo>
                  <a:pt x="13" y="608"/>
                </a:lnTo>
                <a:close/>
                <a:moveTo>
                  <a:pt x="13" y="634"/>
                </a:moveTo>
                <a:lnTo>
                  <a:pt x="13" y="647"/>
                </a:lnTo>
                <a:lnTo>
                  <a:pt x="0" y="647"/>
                </a:lnTo>
                <a:lnTo>
                  <a:pt x="0" y="634"/>
                </a:lnTo>
                <a:lnTo>
                  <a:pt x="13" y="634"/>
                </a:lnTo>
                <a:close/>
                <a:moveTo>
                  <a:pt x="13" y="661"/>
                </a:moveTo>
                <a:lnTo>
                  <a:pt x="13" y="674"/>
                </a:lnTo>
                <a:lnTo>
                  <a:pt x="0" y="674"/>
                </a:lnTo>
                <a:lnTo>
                  <a:pt x="0" y="661"/>
                </a:lnTo>
                <a:lnTo>
                  <a:pt x="13" y="661"/>
                </a:lnTo>
                <a:close/>
                <a:moveTo>
                  <a:pt x="13" y="687"/>
                </a:moveTo>
                <a:lnTo>
                  <a:pt x="13" y="700"/>
                </a:lnTo>
                <a:lnTo>
                  <a:pt x="0" y="700"/>
                </a:lnTo>
                <a:lnTo>
                  <a:pt x="0" y="687"/>
                </a:lnTo>
                <a:lnTo>
                  <a:pt x="13" y="687"/>
                </a:lnTo>
                <a:close/>
                <a:moveTo>
                  <a:pt x="13" y="713"/>
                </a:moveTo>
                <a:lnTo>
                  <a:pt x="13" y="727"/>
                </a:lnTo>
                <a:lnTo>
                  <a:pt x="0" y="727"/>
                </a:lnTo>
                <a:lnTo>
                  <a:pt x="0" y="713"/>
                </a:lnTo>
                <a:lnTo>
                  <a:pt x="13" y="713"/>
                </a:lnTo>
                <a:close/>
                <a:moveTo>
                  <a:pt x="13" y="740"/>
                </a:moveTo>
                <a:lnTo>
                  <a:pt x="13" y="753"/>
                </a:lnTo>
                <a:lnTo>
                  <a:pt x="0" y="753"/>
                </a:lnTo>
                <a:lnTo>
                  <a:pt x="0" y="740"/>
                </a:lnTo>
                <a:lnTo>
                  <a:pt x="13" y="740"/>
                </a:lnTo>
                <a:close/>
                <a:moveTo>
                  <a:pt x="13" y="766"/>
                </a:moveTo>
                <a:lnTo>
                  <a:pt x="13" y="780"/>
                </a:lnTo>
                <a:lnTo>
                  <a:pt x="0" y="780"/>
                </a:lnTo>
                <a:lnTo>
                  <a:pt x="0" y="766"/>
                </a:lnTo>
                <a:lnTo>
                  <a:pt x="13" y="766"/>
                </a:lnTo>
                <a:close/>
                <a:moveTo>
                  <a:pt x="13" y="793"/>
                </a:moveTo>
                <a:lnTo>
                  <a:pt x="13" y="806"/>
                </a:lnTo>
                <a:lnTo>
                  <a:pt x="0" y="806"/>
                </a:lnTo>
                <a:lnTo>
                  <a:pt x="0" y="793"/>
                </a:lnTo>
                <a:lnTo>
                  <a:pt x="13" y="793"/>
                </a:lnTo>
                <a:close/>
                <a:moveTo>
                  <a:pt x="13" y="819"/>
                </a:moveTo>
                <a:lnTo>
                  <a:pt x="13" y="832"/>
                </a:lnTo>
                <a:lnTo>
                  <a:pt x="0" y="832"/>
                </a:lnTo>
                <a:lnTo>
                  <a:pt x="0" y="819"/>
                </a:lnTo>
                <a:lnTo>
                  <a:pt x="13" y="819"/>
                </a:lnTo>
                <a:close/>
                <a:moveTo>
                  <a:pt x="13" y="846"/>
                </a:moveTo>
                <a:lnTo>
                  <a:pt x="13" y="859"/>
                </a:lnTo>
                <a:lnTo>
                  <a:pt x="0" y="859"/>
                </a:lnTo>
                <a:lnTo>
                  <a:pt x="0" y="846"/>
                </a:lnTo>
                <a:lnTo>
                  <a:pt x="13" y="846"/>
                </a:lnTo>
                <a:close/>
                <a:moveTo>
                  <a:pt x="13" y="872"/>
                </a:moveTo>
                <a:lnTo>
                  <a:pt x="13" y="885"/>
                </a:lnTo>
                <a:lnTo>
                  <a:pt x="0" y="885"/>
                </a:lnTo>
                <a:lnTo>
                  <a:pt x="0" y="872"/>
                </a:lnTo>
                <a:lnTo>
                  <a:pt x="13" y="872"/>
                </a:lnTo>
                <a:close/>
                <a:moveTo>
                  <a:pt x="13" y="899"/>
                </a:moveTo>
                <a:lnTo>
                  <a:pt x="13" y="912"/>
                </a:lnTo>
                <a:lnTo>
                  <a:pt x="0" y="912"/>
                </a:lnTo>
                <a:lnTo>
                  <a:pt x="0" y="899"/>
                </a:lnTo>
                <a:lnTo>
                  <a:pt x="13" y="899"/>
                </a:lnTo>
                <a:close/>
                <a:moveTo>
                  <a:pt x="13" y="925"/>
                </a:moveTo>
                <a:lnTo>
                  <a:pt x="13" y="938"/>
                </a:lnTo>
                <a:lnTo>
                  <a:pt x="0" y="938"/>
                </a:lnTo>
                <a:lnTo>
                  <a:pt x="0" y="925"/>
                </a:lnTo>
                <a:lnTo>
                  <a:pt x="13" y="925"/>
                </a:lnTo>
                <a:close/>
                <a:moveTo>
                  <a:pt x="13" y="951"/>
                </a:moveTo>
                <a:lnTo>
                  <a:pt x="13" y="965"/>
                </a:lnTo>
                <a:lnTo>
                  <a:pt x="0" y="965"/>
                </a:lnTo>
                <a:lnTo>
                  <a:pt x="0" y="951"/>
                </a:lnTo>
                <a:lnTo>
                  <a:pt x="13" y="951"/>
                </a:lnTo>
                <a:close/>
                <a:moveTo>
                  <a:pt x="13" y="978"/>
                </a:moveTo>
                <a:lnTo>
                  <a:pt x="13" y="991"/>
                </a:lnTo>
                <a:lnTo>
                  <a:pt x="0" y="991"/>
                </a:lnTo>
                <a:lnTo>
                  <a:pt x="0" y="978"/>
                </a:lnTo>
                <a:lnTo>
                  <a:pt x="13" y="978"/>
                </a:lnTo>
                <a:close/>
                <a:moveTo>
                  <a:pt x="13" y="1004"/>
                </a:moveTo>
                <a:lnTo>
                  <a:pt x="13" y="1017"/>
                </a:lnTo>
                <a:lnTo>
                  <a:pt x="0" y="1017"/>
                </a:lnTo>
                <a:lnTo>
                  <a:pt x="0" y="1004"/>
                </a:lnTo>
                <a:lnTo>
                  <a:pt x="13" y="1004"/>
                </a:lnTo>
                <a:close/>
                <a:moveTo>
                  <a:pt x="13" y="1030"/>
                </a:moveTo>
                <a:lnTo>
                  <a:pt x="13" y="1044"/>
                </a:lnTo>
                <a:lnTo>
                  <a:pt x="0" y="1044"/>
                </a:lnTo>
                <a:lnTo>
                  <a:pt x="0" y="1030"/>
                </a:lnTo>
                <a:lnTo>
                  <a:pt x="13" y="1030"/>
                </a:lnTo>
                <a:close/>
                <a:moveTo>
                  <a:pt x="13" y="1057"/>
                </a:moveTo>
                <a:lnTo>
                  <a:pt x="13" y="1070"/>
                </a:lnTo>
                <a:lnTo>
                  <a:pt x="0" y="1070"/>
                </a:lnTo>
                <a:lnTo>
                  <a:pt x="0" y="1057"/>
                </a:lnTo>
                <a:lnTo>
                  <a:pt x="13" y="1057"/>
                </a:lnTo>
                <a:close/>
                <a:moveTo>
                  <a:pt x="13" y="1083"/>
                </a:moveTo>
                <a:lnTo>
                  <a:pt x="13" y="1097"/>
                </a:lnTo>
                <a:lnTo>
                  <a:pt x="0" y="1097"/>
                </a:lnTo>
                <a:lnTo>
                  <a:pt x="0" y="1083"/>
                </a:lnTo>
                <a:lnTo>
                  <a:pt x="13" y="1083"/>
                </a:lnTo>
                <a:close/>
                <a:moveTo>
                  <a:pt x="13" y="1110"/>
                </a:moveTo>
                <a:lnTo>
                  <a:pt x="13" y="1123"/>
                </a:lnTo>
                <a:lnTo>
                  <a:pt x="0" y="1123"/>
                </a:lnTo>
                <a:lnTo>
                  <a:pt x="0" y="1110"/>
                </a:lnTo>
                <a:lnTo>
                  <a:pt x="13" y="1110"/>
                </a:lnTo>
                <a:close/>
                <a:moveTo>
                  <a:pt x="13" y="1136"/>
                </a:moveTo>
                <a:lnTo>
                  <a:pt x="13" y="1149"/>
                </a:lnTo>
                <a:lnTo>
                  <a:pt x="0" y="1149"/>
                </a:lnTo>
                <a:lnTo>
                  <a:pt x="0" y="1136"/>
                </a:lnTo>
                <a:lnTo>
                  <a:pt x="13" y="1136"/>
                </a:lnTo>
                <a:close/>
                <a:moveTo>
                  <a:pt x="13" y="1163"/>
                </a:moveTo>
                <a:lnTo>
                  <a:pt x="13" y="1176"/>
                </a:lnTo>
                <a:lnTo>
                  <a:pt x="0" y="1176"/>
                </a:lnTo>
                <a:lnTo>
                  <a:pt x="0" y="1163"/>
                </a:lnTo>
                <a:lnTo>
                  <a:pt x="13" y="1163"/>
                </a:lnTo>
                <a:close/>
                <a:moveTo>
                  <a:pt x="13" y="1189"/>
                </a:moveTo>
                <a:lnTo>
                  <a:pt x="13" y="1202"/>
                </a:lnTo>
                <a:lnTo>
                  <a:pt x="0" y="1202"/>
                </a:lnTo>
                <a:lnTo>
                  <a:pt x="0" y="1189"/>
                </a:lnTo>
                <a:lnTo>
                  <a:pt x="13" y="1189"/>
                </a:lnTo>
                <a:close/>
                <a:moveTo>
                  <a:pt x="13" y="1216"/>
                </a:moveTo>
                <a:lnTo>
                  <a:pt x="13" y="1229"/>
                </a:lnTo>
                <a:lnTo>
                  <a:pt x="0" y="1229"/>
                </a:lnTo>
                <a:lnTo>
                  <a:pt x="0" y="1216"/>
                </a:lnTo>
                <a:lnTo>
                  <a:pt x="13" y="1216"/>
                </a:lnTo>
                <a:close/>
                <a:moveTo>
                  <a:pt x="13" y="1242"/>
                </a:moveTo>
                <a:lnTo>
                  <a:pt x="13" y="1255"/>
                </a:lnTo>
                <a:lnTo>
                  <a:pt x="0" y="1255"/>
                </a:lnTo>
                <a:lnTo>
                  <a:pt x="0" y="1242"/>
                </a:lnTo>
                <a:lnTo>
                  <a:pt x="13" y="1242"/>
                </a:lnTo>
                <a:close/>
                <a:moveTo>
                  <a:pt x="13" y="1268"/>
                </a:moveTo>
                <a:lnTo>
                  <a:pt x="13" y="1282"/>
                </a:lnTo>
                <a:lnTo>
                  <a:pt x="0" y="1282"/>
                </a:lnTo>
                <a:lnTo>
                  <a:pt x="0" y="1268"/>
                </a:lnTo>
                <a:lnTo>
                  <a:pt x="13" y="1268"/>
                </a:lnTo>
                <a:close/>
                <a:moveTo>
                  <a:pt x="13" y="1295"/>
                </a:moveTo>
                <a:lnTo>
                  <a:pt x="13" y="1308"/>
                </a:lnTo>
                <a:lnTo>
                  <a:pt x="0" y="1308"/>
                </a:lnTo>
                <a:lnTo>
                  <a:pt x="0" y="1295"/>
                </a:lnTo>
                <a:lnTo>
                  <a:pt x="13" y="1295"/>
                </a:lnTo>
                <a:close/>
                <a:moveTo>
                  <a:pt x="13" y="1321"/>
                </a:moveTo>
                <a:lnTo>
                  <a:pt x="13" y="1335"/>
                </a:lnTo>
                <a:lnTo>
                  <a:pt x="0" y="1335"/>
                </a:lnTo>
                <a:lnTo>
                  <a:pt x="0" y="1321"/>
                </a:lnTo>
                <a:lnTo>
                  <a:pt x="13" y="1321"/>
                </a:lnTo>
                <a:close/>
                <a:moveTo>
                  <a:pt x="13" y="1348"/>
                </a:moveTo>
                <a:lnTo>
                  <a:pt x="13" y="1361"/>
                </a:lnTo>
                <a:lnTo>
                  <a:pt x="0" y="1361"/>
                </a:lnTo>
                <a:lnTo>
                  <a:pt x="0" y="1348"/>
                </a:lnTo>
                <a:lnTo>
                  <a:pt x="13" y="1348"/>
                </a:lnTo>
                <a:close/>
                <a:moveTo>
                  <a:pt x="13" y="1374"/>
                </a:moveTo>
                <a:lnTo>
                  <a:pt x="13" y="1387"/>
                </a:lnTo>
                <a:lnTo>
                  <a:pt x="0" y="1387"/>
                </a:lnTo>
                <a:lnTo>
                  <a:pt x="0" y="1374"/>
                </a:lnTo>
                <a:lnTo>
                  <a:pt x="13" y="1374"/>
                </a:lnTo>
                <a:close/>
                <a:moveTo>
                  <a:pt x="13" y="1400"/>
                </a:moveTo>
                <a:lnTo>
                  <a:pt x="13" y="1414"/>
                </a:lnTo>
                <a:lnTo>
                  <a:pt x="0" y="1414"/>
                </a:lnTo>
                <a:lnTo>
                  <a:pt x="0" y="1400"/>
                </a:lnTo>
                <a:lnTo>
                  <a:pt x="13" y="1400"/>
                </a:lnTo>
                <a:close/>
                <a:moveTo>
                  <a:pt x="13" y="1427"/>
                </a:moveTo>
                <a:lnTo>
                  <a:pt x="13" y="1440"/>
                </a:lnTo>
                <a:lnTo>
                  <a:pt x="0" y="1440"/>
                </a:lnTo>
                <a:lnTo>
                  <a:pt x="0" y="1427"/>
                </a:lnTo>
                <a:lnTo>
                  <a:pt x="13" y="1427"/>
                </a:lnTo>
                <a:close/>
                <a:moveTo>
                  <a:pt x="13" y="1453"/>
                </a:moveTo>
                <a:lnTo>
                  <a:pt x="13" y="1466"/>
                </a:lnTo>
                <a:lnTo>
                  <a:pt x="0" y="1466"/>
                </a:lnTo>
                <a:lnTo>
                  <a:pt x="0" y="1453"/>
                </a:lnTo>
                <a:lnTo>
                  <a:pt x="13" y="1453"/>
                </a:lnTo>
                <a:close/>
                <a:moveTo>
                  <a:pt x="13" y="1480"/>
                </a:moveTo>
                <a:lnTo>
                  <a:pt x="13" y="1493"/>
                </a:lnTo>
                <a:lnTo>
                  <a:pt x="0" y="1493"/>
                </a:lnTo>
                <a:lnTo>
                  <a:pt x="0" y="1480"/>
                </a:lnTo>
                <a:lnTo>
                  <a:pt x="13" y="1480"/>
                </a:lnTo>
                <a:close/>
                <a:moveTo>
                  <a:pt x="13" y="1506"/>
                </a:moveTo>
                <a:lnTo>
                  <a:pt x="13" y="1519"/>
                </a:lnTo>
                <a:lnTo>
                  <a:pt x="0" y="1519"/>
                </a:lnTo>
                <a:lnTo>
                  <a:pt x="0" y="1506"/>
                </a:lnTo>
                <a:lnTo>
                  <a:pt x="13" y="1506"/>
                </a:lnTo>
                <a:close/>
                <a:moveTo>
                  <a:pt x="13" y="1533"/>
                </a:moveTo>
                <a:lnTo>
                  <a:pt x="13" y="1546"/>
                </a:lnTo>
                <a:lnTo>
                  <a:pt x="0" y="1546"/>
                </a:lnTo>
                <a:lnTo>
                  <a:pt x="0" y="1533"/>
                </a:lnTo>
                <a:lnTo>
                  <a:pt x="13" y="1533"/>
                </a:lnTo>
                <a:close/>
                <a:moveTo>
                  <a:pt x="13" y="1559"/>
                </a:moveTo>
                <a:lnTo>
                  <a:pt x="13" y="1572"/>
                </a:lnTo>
                <a:lnTo>
                  <a:pt x="0" y="1572"/>
                </a:lnTo>
                <a:lnTo>
                  <a:pt x="0" y="1559"/>
                </a:lnTo>
                <a:lnTo>
                  <a:pt x="13" y="1559"/>
                </a:lnTo>
                <a:close/>
                <a:moveTo>
                  <a:pt x="13" y="1585"/>
                </a:moveTo>
                <a:lnTo>
                  <a:pt x="13" y="1599"/>
                </a:lnTo>
                <a:lnTo>
                  <a:pt x="0" y="1599"/>
                </a:lnTo>
                <a:lnTo>
                  <a:pt x="0" y="1585"/>
                </a:lnTo>
                <a:lnTo>
                  <a:pt x="13" y="1585"/>
                </a:lnTo>
                <a:close/>
                <a:moveTo>
                  <a:pt x="13" y="1612"/>
                </a:moveTo>
                <a:lnTo>
                  <a:pt x="13" y="1625"/>
                </a:lnTo>
                <a:lnTo>
                  <a:pt x="0" y="1625"/>
                </a:lnTo>
                <a:lnTo>
                  <a:pt x="0" y="1612"/>
                </a:lnTo>
                <a:lnTo>
                  <a:pt x="13" y="1612"/>
                </a:lnTo>
                <a:close/>
                <a:moveTo>
                  <a:pt x="13" y="1638"/>
                </a:moveTo>
                <a:lnTo>
                  <a:pt x="13" y="1652"/>
                </a:lnTo>
                <a:lnTo>
                  <a:pt x="0" y="1652"/>
                </a:lnTo>
                <a:lnTo>
                  <a:pt x="0" y="1638"/>
                </a:lnTo>
                <a:lnTo>
                  <a:pt x="13" y="1638"/>
                </a:lnTo>
                <a:close/>
                <a:moveTo>
                  <a:pt x="13" y="1665"/>
                </a:moveTo>
                <a:lnTo>
                  <a:pt x="13" y="1678"/>
                </a:lnTo>
                <a:lnTo>
                  <a:pt x="0" y="1678"/>
                </a:lnTo>
                <a:lnTo>
                  <a:pt x="0" y="1665"/>
                </a:lnTo>
                <a:lnTo>
                  <a:pt x="13" y="1665"/>
                </a:lnTo>
                <a:close/>
                <a:moveTo>
                  <a:pt x="13" y="1691"/>
                </a:moveTo>
                <a:lnTo>
                  <a:pt x="13" y="1704"/>
                </a:lnTo>
                <a:lnTo>
                  <a:pt x="0" y="1704"/>
                </a:lnTo>
                <a:lnTo>
                  <a:pt x="0" y="1691"/>
                </a:lnTo>
                <a:lnTo>
                  <a:pt x="13" y="1691"/>
                </a:lnTo>
                <a:close/>
                <a:moveTo>
                  <a:pt x="13" y="1718"/>
                </a:moveTo>
                <a:lnTo>
                  <a:pt x="13" y="1731"/>
                </a:lnTo>
                <a:lnTo>
                  <a:pt x="0" y="1731"/>
                </a:lnTo>
                <a:lnTo>
                  <a:pt x="0" y="1718"/>
                </a:lnTo>
                <a:lnTo>
                  <a:pt x="13" y="1718"/>
                </a:lnTo>
                <a:close/>
                <a:moveTo>
                  <a:pt x="13" y="1744"/>
                </a:moveTo>
                <a:lnTo>
                  <a:pt x="13" y="1757"/>
                </a:lnTo>
                <a:lnTo>
                  <a:pt x="0" y="1757"/>
                </a:lnTo>
                <a:lnTo>
                  <a:pt x="0" y="1744"/>
                </a:lnTo>
                <a:lnTo>
                  <a:pt x="13" y="1744"/>
                </a:lnTo>
                <a:close/>
                <a:moveTo>
                  <a:pt x="13" y="1770"/>
                </a:moveTo>
                <a:lnTo>
                  <a:pt x="13" y="1783"/>
                </a:lnTo>
                <a:lnTo>
                  <a:pt x="0" y="1783"/>
                </a:lnTo>
                <a:lnTo>
                  <a:pt x="0" y="1770"/>
                </a:lnTo>
                <a:lnTo>
                  <a:pt x="13" y="1770"/>
                </a:lnTo>
                <a:close/>
                <a:moveTo>
                  <a:pt x="13" y="1797"/>
                </a:moveTo>
                <a:lnTo>
                  <a:pt x="13" y="1810"/>
                </a:lnTo>
                <a:lnTo>
                  <a:pt x="0" y="1810"/>
                </a:lnTo>
                <a:lnTo>
                  <a:pt x="0" y="1797"/>
                </a:lnTo>
                <a:lnTo>
                  <a:pt x="13" y="1797"/>
                </a:lnTo>
                <a:close/>
                <a:moveTo>
                  <a:pt x="13" y="1823"/>
                </a:moveTo>
                <a:lnTo>
                  <a:pt x="13" y="1836"/>
                </a:lnTo>
                <a:lnTo>
                  <a:pt x="0" y="1836"/>
                </a:lnTo>
                <a:lnTo>
                  <a:pt x="0" y="1823"/>
                </a:lnTo>
                <a:lnTo>
                  <a:pt x="13" y="1823"/>
                </a:lnTo>
                <a:close/>
                <a:moveTo>
                  <a:pt x="13" y="1850"/>
                </a:moveTo>
                <a:lnTo>
                  <a:pt x="13" y="1863"/>
                </a:lnTo>
                <a:lnTo>
                  <a:pt x="0" y="1863"/>
                </a:lnTo>
                <a:lnTo>
                  <a:pt x="0" y="1850"/>
                </a:lnTo>
                <a:lnTo>
                  <a:pt x="13" y="1850"/>
                </a:lnTo>
                <a:close/>
                <a:moveTo>
                  <a:pt x="13" y="1876"/>
                </a:moveTo>
                <a:lnTo>
                  <a:pt x="13" y="1889"/>
                </a:lnTo>
                <a:lnTo>
                  <a:pt x="0" y="1889"/>
                </a:lnTo>
                <a:lnTo>
                  <a:pt x="0" y="1876"/>
                </a:lnTo>
                <a:lnTo>
                  <a:pt x="13" y="1876"/>
                </a:lnTo>
                <a:close/>
                <a:moveTo>
                  <a:pt x="13" y="1902"/>
                </a:moveTo>
                <a:lnTo>
                  <a:pt x="13" y="1916"/>
                </a:lnTo>
                <a:lnTo>
                  <a:pt x="0" y="1916"/>
                </a:lnTo>
                <a:lnTo>
                  <a:pt x="0" y="1902"/>
                </a:lnTo>
                <a:lnTo>
                  <a:pt x="13" y="1902"/>
                </a:lnTo>
                <a:close/>
                <a:moveTo>
                  <a:pt x="13" y="1929"/>
                </a:moveTo>
                <a:lnTo>
                  <a:pt x="13" y="1942"/>
                </a:lnTo>
                <a:lnTo>
                  <a:pt x="0" y="1942"/>
                </a:lnTo>
                <a:lnTo>
                  <a:pt x="0" y="1929"/>
                </a:lnTo>
                <a:lnTo>
                  <a:pt x="13" y="1929"/>
                </a:lnTo>
                <a:close/>
                <a:moveTo>
                  <a:pt x="13" y="1955"/>
                </a:moveTo>
                <a:lnTo>
                  <a:pt x="13" y="1969"/>
                </a:lnTo>
                <a:lnTo>
                  <a:pt x="0" y="1969"/>
                </a:lnTo>
                <a:lnTo>
                  <a:pt x="0" y="1955"/>
                </a:lnTo>
                <a:lnTo>
                  <a:pt x="13" y="1955"/>
                </a:lnTo>
                <a:close/>
                <a:moveTo>
                  <a:pt x="13" y="1982"/>
                </a:moveTo>
                <a:lnTo>
                  <a:pt x="13" y="1995"/>
                </a:lnTo>
                <a:lnTo>
                  <a:pt x="0" y="1995"/>
                </a:lnTo>
                <a:lnTo>
                  <a:pt x="0" y="1982"/>
                </a:lnTo>
                <a:lnTo>
                  <a:pt x="13" y="1982"/>
                </a:lnTo>
                <a:close/>
                <a:moveTo>
                  <a:pt x="13" y="2008"/>
                </a:moveTo>
                <a:lnTo>
                  <a:pt x="13" y="2021"/>
                </a:lnTo>
                <a:lnTo>
                  <a:pt x="0" y="2021"/>
                </a:lnTo>
                <a:lnTo>
                  <a:pt x="0" y="2008"/>
                </a:lnTo>
                <a:lnTo>
                  <a:pt x="13" y="2008"/>
                </a:lnTo>
                <a:close/>
                <a:moveTo>
                  <a:pt x="13" y="2035"/>
                </a:moveTo>
                <a:lnTo>
                  <a:pt x="13" y="2048"/>
                </a:lnTo>
                <a:lnTo>
                  <a:pt x="0" y="2048"/>
                </a:lnTo>
                <a:lnTo>
                  <a:pt x="0" y="2035"/>
                </a:lnTo>
                <a:lnTo>
                  <a:pt x="13" y="2035"/>
                </a:lnTo>
                <a:close/>
                <a:moveTo>
                  <a:pt x="13" y="2061"/>
                </a:moveTo>
                <a:lnTo>
                  <a:pt x="13" y="2074"/>
                </a:lnTo>
                <a:lnTo>
                  <a:pt x="0" y="2074"/>
                </a:lnTo>
                <a:lnTo>
                  <a:pt x="0" y="2061"/>
                </a:lnTo>
                <a:lnTo>
                  <a:pt x="13" y="2061"/>
                </a:lnTo>
                <a:close/>
                <a:moveTo>
                  <a:pt x="13" y="2088"/>
                </a:moveTo>
                <a:lnTo>
                  <a:pt x="13" y="2101"/>
                </a:lnTo>
                <a:lnTo>
                  <a:pt x="0" y="2101"/>
                </a:lnTo>
                <a:lnTo>
                  <a:pt x="0" y="2088"/>
                </a:lnTo>
                <a:lnTo>
                  <a:pt x="13" y="2088"/>
                </a:lnTo>
                <a:close/>
                <a:moveTo>
                  <a:pt x="13" y="2114"/>
                </a:moveTo>
                <a:lnTo>
                  <a:pt x="13" y="2127"/>
                </a:lnTo>
                <a:lnTo>
                  <a:pt x="0" y="2127"/>
                </a:lnTo>
                <a:lnTo>
                  <a:pt x="0" y="2114"/>
                </a:lnTo>
                <a:lnTo>
                  <a:pt x="13" y="2114"/>
                </a:lnTo>
                <a:close/>
                <a:moveTo>
                  <a:pt x="13" y="2140"/>
                </a:moveTo>
                <a:lnTo>
                  <a:pt x="13" y="2153"/>
                </a:lnTo>
                <a:lnTo>
                  <a:pt x="0" y="2153"/>
                </a:lnTo>
                <a:lnTo>
                  <a:pt x="0" y="2140"/>
                </a:lnTo>
                <a:lnTo>
                  <a:pt x="13" y="2140"/>
                </a:lnTo>
                <a:close/>
                <a:moveTo>
                  <a:pt x="13" y="2167"/>
                </a:moveTo>
                <a:lnTo>
                  <a:pt x="13" y="2180"/>
                </a:lnTo>
                <a:lnTo>
                  <a:pt x="0" y="2180"/>
                </a:lnTo>
                <a:lnTo>
                  <a:pt x="0" y="2167"/>
                </a:lnTo>
                <a:lnTo>
                  <a:pt x="13" y="2167"/>
                </a:lnTo>
                <a:close/>
                <a:moveTo>
                  <a:pt x="13" y="2193"/>
                </a:moveTo>
                <a:lnTo>
                  <a:pt x="13" y="2206"/>
                </a:lnTo>
                <a:lnTo>
                  <a:pt x="0" y="2206"/>
                </a:lnTo>
                <a:lnTo>
                  <a:pt x="0" y="2193"/>
                </a:lnTo>
                <a:lnTo>
                  <a:pt x="13" y="2193"/>
                </a:lnTo>
                <a:close/>
                <a:moveTo>
                  <a:pt x="13" y="2219"/>
                </a:moveTo>
                <a:lnTo>
                  <a:pt x="13" y="2233"/>
                </a:lnTo>
                <a:lnTo>
                  <a:pt x="0" y="2233"/>
                </a:lnTo>
                <a:lnTo>
                  <a:pt x="0" y="2219"/>
                </a:lnTo>
                <a:lnTo>
                  <a:pt x="13" y="2219"/>
                </a:lnTo>
                <a:close/>
                <a:moveTo>
                  <a:pt x="13" y="2246"/>
                </a:moveTo>
                <a:lnTo>
                  <a:pt x="13" y="2259"/>
                </a:lnTo>
                <a:lnTo>
                  <a:pt x="0" y="2259"/>
                </a:lnTo>
                <a:lnTo>
                  <a:pt x="0" y="2246"/>
                </a:lnTo>
                <a:lnTo>
                  <a:pt x="13" y="2246"/>
                </a:lnTo>
                <a:close/>
                <a:moveTo>
                  <a:pt x="13" y="2272"/>
                </a:moveTo>
                <a:lnTo>
                  <a:pt x="13" y="2286"/>
                </a:lnTo>
                <a:lnTo>
                  <a:pt x="0" y="2286"/>
                </a:lnTo>
                <a:lnTo>
                  <a:pt x="0" y="2272"/>
                </a:lnTo>
                <a:lnTo>
                  <a:pt x="13" y="2272"/>
                </a:lnTo>
                <a:close/>
                <a:moveTo>
                  <a:pt x="13" y="2299"/>
                </a:moveTo>
                <a:lnTo>
                  <a:pt x="13" y="2312"/>
                </a:lnTo>
                <a:lnTo>
                  <a:pt x="0" y="2312"/>
                </a:lnTo>
                <a:lnTo>
                  <a:pt x="0" y="2299"/>
                </a:lnTo>
                <a:lnTo>
                  <a:pt x="13" y="2299"/>
                </a:lnTo>
                <a:close/>
              </a:path>
            </a:pathLst>
          </a:custGeom>
          <a:solidFill>
            <a:srgbClr val="000000"/>
          </a:solidFill>
          <a:ln w="0" cap="flat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89" name="Rectangle 86">
            <a:extLst>
              <a:ext uri="{FF2B5EF4-FFF2-40B4-BE49-F238E27FC236}">
                <a16:creationId xmlns:a16="http://schemas.microsoft.com/office/drawing/2014/main" id="{F23DF5FD-12A7-4591-9942-04E0EA32886E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69000" y="5770563"/>
            <a:ext cx="188913" cy="377825"/>
          </a:xfrm>
          <a:prstGeom prst="rect">
            <a:avLst/>
          </a:prstGeom>
          <a:noFill/>
          <a:ln w="9525" cap="flat">
            <a:solidFill>
              <a:srgbClr val="000000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91" name="Rectangle 88">
            <a:extLst>
              <a:ext uri="{FF2B5EF4-FFF2-40B4-BE49-F238E27FC236}">
                <a16:creationId xmlns:a16="http://schemas.microsoft.com/office/drawing/2014/main" id="{A6B2B04D-C4E1-42CF-8E5D-657FC6D647E8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03850" y="5078413"/>
            <a:ext cx="188913" cy="377825"/>
          </a:xfrm>
          <a:prstGeom prst="rect">
            <a:avLst/>
          </a:prstGeom>
          <a:noFill/>
          <a:ln w="9525" cap="flat">
            <a:solidFill>
              <a:srgbClr val="000000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92" name="Freeform 89">
            <a:extLst>
              <a:ext uri="{FF2B5EF4-FFF2-40B4-BE49-F238E27FC236}">
                <a16:creationId xmlns:a16="http://schemas.microsoft.com/office/drawing/2014/main" id="{DDCD6F6A-E4A5-40A6-84EA-32083EC17CF8}"/>
              </a:ext>
            </a:extLst>
          </p:cNvPr>
          <p:cNvSpPr>
            <a:spLocks noEditPoints="1"/>
          </p:cNvSpPr>
          <p:nvPr/>
        </p:nvSpPr>
        <p:spPr bwMode="auto">
          <a:xfrm>
            <a:off x="5329238" y="3065463"/>
            <a:ext cx="107950" cy="2201863"/>
          </a:xfrm>
          <a:custGeom>
            <a:avLst/>
            <a:gdLst>
              <a:gd name="T0" fmla="*/ 15 w 68"/>
              <a:gd name="T1" fmla="*/ 0 h 1387"/>
              <a:gd name="T2" fmla="*/ 54 w 68"/>
              <a:gd name="T3" fmla="*/ 1350 h 1387"/>
              <a:gd name="T4" fmla="*/ 39 w 68"/>
              <a:gd name="T5" fmla="*/ 1350 h 1387"/>
              <a:gd name="T6" fmla="*/ 0 w 68"/>
              <a:gd name="T7" fmla="*/ 0 h 1387"/>
              <a:gd name="T8" fmla="*/ 15 w 68"/>
              <a:gd name="T9" fmla="*/ 0 h 1387"/>
              <a:gd name="T10" fmla="*/ 68 w 68"/>
              <a:gd name="T11" fmla="*/ 1342 h 1387"/>
              <a:gd name="T12" fmla="*/ 47 w 68"/>
              <a:gd name="T13" fmla="*/ 1387 h 1387"/>
              <a:gd name="T14" fmla="*/ 24 w 68"/>
              <a:gd name="T15" fmla="*/ 1343 h 1387"/>
              <a:gd name="T16" fmla="*/ 68 w 68"/>
              <a:gd name="T17" fmla="*/ 1342 h 138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68" h="1387">
                <a:moveTo>
                  <a:pt x="15" y="0"/>
                </a:moveTo>
                <a:lnTo>
                  <a:pt x="54" y="1350"/>
                </a:lnTo>
                <a:lnTo>
                  <a:pt x="39" y="1350"/>
                </a:lnTo>
                <a:lnTo>
                  <a:pt x="0" y="0"/>
                </a:lnTo>
                <a:lnTo>
                  <a:pt x="15" y="0"/>
                </a:lnTo>
                <a:close/>
                <a:moveTo>
                  <a:pt x="68" y="1342"/>
                </a:moveTo>
                <a:lnTo>
                  <a:pt x="47" y="1387"/>
                </a:lnTo>
                <a:lnTo>
                  <a:pt x="24" y="1343"/>
                </a:lnTo>
                <a:lnTo>
                  <a:pt x="68" y="1342"/>
                </a:lnTo>
                <a:close/>
              </a:path>
            </a:pathLst>
          </a:custGeom>
          <a:solidFill>
            <a:srgbClr val="009900"/>
          </a:solidFill>
          <a:ln w="0" cap="flat">
            <a:solidFill>
              <a:srgbClr val="0099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93" name="Freeform 90">
            <a:extLst>
              <a:ext uri="{FF2B5EF4-FFF2-40B4-BE49-F238E27FC236}">
                <a16:creationId xmlns:a16="http://schemas.microsoft.com/office/drawing/2014/main" id="{7E04C82D-C0D6-4107-B7F4-BA1DDB9DE4B9}"/>
              </a:ext>
            </a:extLst>
          </p:cNvPr>
          <p:cNvSpPr>
            <a:spLocks noEditPoints="1"/>
          </p:cNvSpPr>
          <p:nvPr/>
        </p:nvSpPr>
        <p:spPr bwMode="auto">
          <a:xfrm>
            <a:off x="5329238" y="3000375"/>
            <a:ext cx="598488" cy="2959100"/>
          </a:xfrm>
          <a:custGeom>
            <a:avLst/>
            <a:gdLst>
              <a:gd name="T0" fmla="*/ 15 w 377"/>
              <a:gd name="T1" fmla="*/ 0 h 1864"/>
              <a:gd name="T2" fmla="*/ 364 w 377"/>
              <a:gd name="T3" fmla="*/ 1826 h 1864"/>
              <a:gd name="T4" fmla="*/ 350 w 377"/>
              <a:gd name="T5" fmla="*/ 1829 h 1864"/>
              <a:gd name="T6" fmla="*/ 0 w 377"/>
              <a:gd name="T7" fmla="*/ 3 h 1864"/>
              <a:gd name="T8" fmla="*/ 15 w 377"/>
              <a:gd name="T9" fmla="*/ 0 h 1864"/>
              <a:gd name="T10" fmla="*/ 377 w 377"/>
              <a:gd name="T11" fmla="*/ 1816 h 1864"/>
              <a:gd name="T12" fmla="*/ 364 w 377"/>
              <a:gd name="T13" fmla="*/ 1864 h 1864"/>
              <a:gd name="T14" fmla="*/ 334 w 377"/>
              <a:gd name="T15" fmla="*/ 1825 h 1864"/>
              <a:gd name="T16" fmla="*/ 377 w 377"/>
              <a:gd name="T17" fmla="*/ 1816 h 18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377" h="1864">
                <a:moveTo>
                  <a:pt x="15" y="0"/>
                </a:moveTo>
                <a:lnTo>
                  <a:pt x="364" y="1826"/>
                </a:lnTo>
                <a:lnTo>
                  <a:pt x="350" y="1829"/>
                </a:lnTo>
                <a:lnTo>
                  <a:pt x="0" y="3"/>
                </a:lnTo>
                <a:lnTo>
                  <a:pt x="15" y="0"/>
                </a:lnTo>
                <a:close/>
                <a:moveTo>
                  <a:pt x="377" y="1816"/>
                </a:moveTo>
                <a:lnTo>
                  <a:pt x="364" y="1864"/>
                </a:lnTo>
                <a:lnTo>
                  <a:pt x="334" y="1825"/>
                </a:lnTo>
                <a:lnTo>
                  <a:pt x="377" y="1816"/>
                </a:lnTo>
                <a:close/>
              </a:path>
            </a:pathLst>
          </a:custGeom>
          <a:solidFill>
            <a:srgbClr val="009900"/>
          </a:solidFill>
          <a:ln w="0" cap="flat">
            <a:solidFill>
              <a:srgbClr val="0099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94" name="Freeform 91">
            <a:extLst>
              <a:ext uri="{FF2B5EF4-FFF2-40B4-BE49-F238E27FC236}">
                <a16:creationId xmlns:a16="http://schemas.microsoft.com/office/drawing/2014/main" id="{54D7D557-3D61-415B-9793-9C4F1784AB3B}"/>
              </a:ext>
            </a:extLst>
          </p:cNvPr>
          <p:cNvSpPr>
            <a:spLocks noEditPoints="1"/>
          </p:cNvSpPr>
          <p:nvPr/>
        </p:nvSpPr>
        <p:spPr bwMode="auto">
          <a:xfrm>
            <a:off x="5613400" y="2357438"/>
            <a:ext cx="20638" cy="3670300"/>
          </a:xfrm>
          <a:custGeom>
            <a:avLst/>
            <a:gdLst>
              <a:gd name="T0" fmla="*/ 13 w 13"/>
              <a:gd name="T1" fmla="*/ 40 h 2312"/>
              <a:gd name="T2" fmla="*/ 0 w 13"/>
              <a:gd name="T3" fmla="*/ 53 h 2312"/>
              <a:gd name="T4" fmla="*/ 13 w 13"/>
              <a:gd name="T5" fmla="*/ 106 h 2312"/>
              <a:gd name="T6" fmla="*/ 0 w 13"/>
              <a:gd name="T7" fmla="*/ 146 h 2312"/>
              <a:gd name="T8" fmla="*/ 13 w 13"/>
              <a:gd name="T9" fmla="*/ 159 h 2312"/>
              <a:gd name="T10" fmla="*/ 13 w 13"/>
              <a:gd name="T11" fmla="*/ 225 h 2312"/>
              <a:gd name="T12" fmla="*/ 0 w 13"/>
              <a:gd name="T13" fmla="*/ 238 h 2312"/>
              <a:gd name="T14" fmla="*/ 13 w 13"/>
              <a:gd name="T15" fmla="*/ 291 h 2312"/>
              <a:gd name="T16" fmla="*/ 0 w 13"/>
              <a:gd name="T17" fmla="*/ 330 h 2312"/>
              <a:gd name="T18" fmla="*/ 13 w 13"/>
              <a:gd name="T19" fmla="*/ 344 h 2312"/>
              <a:gd name="T20" fmla="*/ 13 w 13"/>
              <a:gd name="T21" fmla="*/ 410 h 2312"/>
              <a:gd name="T22" fmla="*/ 0 w 13"/>
              <a:gd name="T23" fmla="*/ 423 h 2312"/>
              <a:gd name="T24" fmla="*/ 13 w 13"/>
              <a:gd name="T25" fmla="*/ 476 h 2312"/>
              <a:gd name="T26" fmla="*/ 0 w 13"/>
              <a:gd name="T27" fmla="*/ 515 h 2312"/>
              <a:gd name="T28" fmla="*/ 13 w 13"/>
              <a:gd name="T29" fmla="*/ 529 h 2312"/>
              <a:gd name="T30" fmla="*/ 13 w 13"/>
              <a:gd name="T31" fmla="*/ 594 h 2312"/>
              <a:gd name="T32" fmla="*/ 0 w 13"/>
              <a:gd name="T33" fmla="*/ 608 h 2312"/>
              <a:gd name="T34" fmla="*/ 13 w 13"/>
              <a:gd name="T35" fmla="*/ 661 h 2312"/>
              <a:gd name="T36" fmla="*/ 0 w 13"/>
              <a:gd name="T37" fmla="*/ 700 h 2312"/>
              <a:gd name="T38" fmla="*/ 13 w 13"/>
              <a:gd name="T39" fmla="*/ 713 h 2312"/>
              <a:gd name="T40" fmla="*/ 13 w 13"/>
              <a:gd name="T41" fmla="*/ 780 h 2312"/>
              <a:gd name="T42" fmla="*/ 0 w 13"/>
              <a:gd name="T43" fmla="*/ 793 h 2312"/>
              <a:gd name="T44" fmla="*/ 13 w 13"/>
              <a:gd name="T45" fmla="*/ 846 h 2312"/>
              <a:gd name="T46" fmla="*/ 0 w 13"/>
              <a:gd name="T47" fmla="*/ 885 h 2312"/>
              <a:gd name="T48" fmla="*/ 13 w 13"/>
              <a:gd name="T49" fmla="*/ 899 h 2312"/>
              <a:gd name="T50" fmla="*/ 13 w 13"/>
              <a:gd name="T51" fmla="*/ 965 h 2312"/>
              <a:gd name="T52" fmla="*/ 0 w 13"/>
              <a:gd name="T53" fmla="*/ 978 h 2312"/>
              <a:gd name="T54" fmla="*/ 13 w 13"/>
              <a:gd name="T55" fmla="*/ 1030 h 2312"/>
              <a:gd name="T56" fmla="*/ 0 w 13"/>
              <a:gd name="T57" fmla="*/ 1070 h 2312"/>
              <a:gd name="T58" fmla="*/ 13 w 13"/>
              <a:gd name="T59" fmla="*/ 1083 h 2312"/>
              <a:gd name="T60" fmla="*/ 13 w 13"/>
              <a:gd name="T61" fmla="*/ 1149 h 2312"/>
              <a:gd name="T62" fmla="*/ 0 w 13"/>
              <a:gd name="T63" fmla="*/ 1163 h 2312"/>
              <a:gd name="T64" fmla="*/ 13 w 13"/>
              <a:gd name="T65" fmla="*/ 1216 h 2312"/>
              <a:gd name="T66" fmla="*/ 0 w 13"/>
              <a:gd name="T67" fmla="*/ 1255 h 2312"/>
              <a:gd name="T68" fmla="*/ 13 w 13"/>
              <a:gd name="T69" fmla="*/ 1268 h 2312"/>
              <a:gd name="T70" fmla="*/ 13 w 13"/>
              <a:gd name="T71" fmla="*/ 1335 h 2312"/>
              <a:gd name="T72" fmla="*/ 0 w 13"/>
              <a:gd name="T73" fmla="*/ 1348 h 2312"/>
              <a:gd name="T74" fmla="*/ 13 w 13"/>
              <a:gd name="T75" fmla="*/ 1400 h 2312"/>
              <a:gd name="T76" fmla="*/ 0 w 13"/>
              <a:gd name="T77" fmla="*/ 1440 h 2312"/>
              <a:gd name="T78" fmla="*/ 13 w 13"/>
              <a:gd name="T79" fmla="*/ 1453 h 2312"/>
              <a:gd name="T80" fmla="*/ 13 w 13"/>
              <a:gd name="T81" fmla="*/ 1519 h 2312"/>
              <a:gd name="T82" fmla="*/ 0 w 13"/>
              <a:gd name="T83" fmla="*/ 1533 h 2312"/>
              <a:gd name="T84" fmla="*/ 13 w 13"/>
              <a:gd name="T85" fmla="*/ 1585 h 2312"/>
              <a:gd name="T86" fmla="*/ 0 w 13"/>
              <a:gd name="T87" fmla="*/ 1625 h 2312"/>
              <a:gd name="T88" fmla="*/ 13 w 13"/>
              <a:gd name="T89" fmla="*/ 1638 h 2312"/>
              <a:gd name="T90" fmla="*/ 13 w 13"/>
              <a:gd name="T91" fmla="*/ 1704 h 2312"/>
              <a:gd name="T92" fmla="*/ 0 w 13"/>
              <a:gd name="T93" fmla="*/ 1718 h 2312"/>
              <a:gd name="T94" fmla="*/ 13 w 13"/>
              <a:gd name="T95" fmla="*/ 1770 h 2312"/>
              <a:gd name="T96" fmla="*/ 0 w 13"/>
              <a:gd name="T97" fmla="*/ 1810 h 2312"/>
              <a:gd name="T98" fmla="*/ 13 w 13"/>
              <a:gd name="T99" fmla="*/ 1823 h 2312"/>
              <a:gd name="T100" fmla="*/ 13 w 13"/>
              <a:gd name="T101" fmla="*/ 1889 h 2312"/>
              <a:gd name="T102" fmla="*/ 0 w 13"/>
              <a:gd name="T103" fmla="*/ 1902 h 2312"/>
              <a:gd name="T104" fmla="*/ 13 w 13"/>
              <a:gd name="T105" fmla="*/ 1955 h 2312"/>
              <a:gd name="T106" fmla="*/ 0 w 13"/>
              <a:gd name="T107" fmla="*/ 1995 h 2312"/>
              <a:gd name="T108" fmla="*/ 13 w 13"/>
              <a:gd name="T109" fmla="*/ 2008 h 2312"/>
              <a:gd name="T110" fmla="*/ 13 w 13"/>
              <a:gd name="T111" fmla="*/ 2074 h 2312"/>
              <a:gd name="T112" fmla="*/ 0 w 13"/>
              <a:gd name="T113" fmla="*/ 2088 h 2312"/>
              <a:gd name="T114" fmla="*/ 13 w 13"/>
              <a:gd name="T115" fmla="*/ 2140 h 2312"/>
              <a:gd name="T116" fmla="*/ 0 w 13"/>
              <a:gd name="T117" fmla="*/ 2180 h 2312"/>
              <a:gd name="T118" fmla="*/ 13 w 13"/>
              <a:gd name="T119" fmla="*/ 2193 h 2312"/>
              <a:gd name="T120" fmla="*/ 13 w 13"/>
              <a:gd name="T121" fmla="*/ 2259 h 2312"/>
              <a:gd name="T122" fmla="*/ 0 w 13"/>
              <a:gd name="T123" fmla="*/ 2272 h 23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13" h="2312">
                <a:moveTo>
                  <a:pt x="13" y="0"/>
                </a:moveTo>
                <a:lnTo>
                  <a:pt x="13" y="13"/>
                </a:lnTo>
                <a:lnTo>
                  <a:pt x="0" y="13"/>
                </a:lnTo>
                <a:lnTo>
                  <a:pt x="0" y="0"/>
                </a:lnTo>
                <a:lnTo>
                  <a:pt x="13" y="0"/>
                </a:lnTo>
                <a:close/>
                <a:moveTo>
                  <a:pt x="13" y="27"/>
                </a:moveTo>
                <a:lnTo>
                  <a:pt x="13" y="40"/>
                </a:lnTo>
                <a:lnTo>
                  <a:pt x="0" y="40"/>
                </a:lnTo>
                <a:lnTo>
                  <a:pt x="0" y="27"/>
                </a:lnTo>
                <a:lnTo>
                  <a:pt x="13" y="27"/>
                </a:lnTo>
                <a:close/>
                <a:moveTo>
                  <a:pt x="13" y="53"/>
                </a:moveTo>
                <a:lnTo>
                  <a:pt x="13" y="66"/>
                </a:lnTo>
                <a:lnTo>
                  <a:pt x="0" y="66"/>
                </a:lnTo>
                <a:lnTo>
                  <a:pt x="0" y="53"/>
                </a:lnTo>
                <a:lnTo>
                  <a:pt x="13" y="53"/>
                </a:lnTo>
                <a:close/>
                <a:moveTo>
                  <a:pt x="13" y="79"/>
                </a:moveTo>
                <a:lnTo>
                  <a:pt x="13" y="93"/>
                </a:lnTo>
                <a:lnTo>
                  <a:pt x="0" y="93"/>
                </a:lnTo>
                <a:lnTo>
                  <a:pt x="0" y="79"/>
                </a:lnTo>
                <a:lnTo>
                  <a:pt x="13" y="79"/>
                </a:lnTo>
                <a:close/>
                <a:moveTo>
                  <a:pt x="13" y="106"/>
                </a:moveTo>
                <a:lnTo>
                  <a:pt x="13" y="119"/>
                </a:lnTo>
                <a:lnTo>
                  <a:pt x="0" y="119"/>
                </a:lnTo>
                <a:lnTo>
                  <a:pt x="0" y="106"/>
                </a:lnTo>
                <a:lnTo>
                  <a:pt x="13" y="106"/>
                </a:lnTo>
                <a:close/>
                <a:moveTo>
                  <a:pt x="13" y="132"/>
                </a:moveTo>
                <a:lnTo>
                  <a:pt x="13" y="146"/>
                </a:lnTo>
                <a:lnTo>
                  <a:pt x="0" y="146"/>
                </a:lnTo>
                <a:lnTo>
                  <a:pt x="0" y="132"/>
                </a:lnTo>
                <a:lnTo>
                  <a:pt x="13" y="132"/>
                </a:lnTo>
                <a:close/>
                <a:moveTo>
                  <a:pt x="13" y="159"/>
                </a:moveTo>
                <a:lnTo>
                  <a:pt x="13" y="172"/>
                </a:lnTo>
                <a:lnTo>
                  <a:pt x="0" y="172"/>
                </a:lnTo>
                <a:lnTo>
                  <a:pt x="0" y="159"/>
                </a:lnTo>
                <a:lnTo>
                  <a:pt x="13" y="159"/>
                </a:lnTo>
                <a:close/>
                <a:moveTo>
                  <a:pt x="13" y="185"/>
                </a:moveTo>
                <a:lnTo>
                  <a:pt x="13" y="198"/>
                </a:lnTo>
                <a:lnTo>
                  <a:pt x="0" y="198"/>
                </a:lnTo>
                <a:lnTo>
                  <a:pt x="0" y="185"/>
                </a:lnTo>
                <a:lnTo>
                  <a:pt x="13" y="185"/>
                </a:lnTo>
                <a:close/>
                <a:moveTo>
                  <a:pt x="13" y="211"/>
                </a:moveTo>
                <a:lnTo>
                  <a:pt x="13" y="225"/>
                </a:lnTo>
                <a:lnTo>
                  <a:pt x="0" y="225"/>
                </a:lnTo>
                <a:lnTo>
                  <a:pt x="0" y="211"/>
                </a:lnTo>
                <a:lnTo>
                  <a:pt x="13" y="211"/>
                </a:lnTo>
                <a:close/>
                <a:moveTo>
                  <a:pt x="13" y="238"/>
                </a:moveTo>
                <a:lnTo>
                  <a:pt x="13" y="251"/>
                </a:lnTo>
                <a:lnTo>
                  <a:pt x="0" y="251"/>
                </a:lnTo>
                <a:lnTo>
                  <a:pt x="0" y="238"/>
                </a:lnTo>
                <a:lnTo>
                  <a:pt x="13" y="238"/>
                </a:lnTo>
                <a:close/>
                <a:moveTo>
                  <a:pt x="13" y="264"/>
                </a:moveTo>
                <a:lnTo>
                  <a:pt x="13" y="277"/>
                </a:lnTo>
                <a:lnTo>
                  <a:pt x="0" y="277"/>
                </a:lnTo>
                <a:lnTo>
                  <a:pt x="0" y="264"/>
                </a:lnTo>
                <a:lnTo>
                  <a:pt x="13" y="264"/>
                </a:lnTo>
                <a:close/>
                <a:moveTo>
                  <a:pt x="13" y="291"/>
                </a:moveTo>
                <a:lnTo>
                  <a:pt x="13" y="304"/>
                </a:lnTo>
                <a:lnTo>
                  <a:pt x="0" y="304"/>
                </a:lnTo>
                <a:lnTo>
                  <a:pt x="0" y="291"/>
                </a:lnTo>
                <a:lnTo>
                  <a:pt x="13" y="291"/>
                </a:lnTo>
                <a:close/>
                <a:moveTo>
                  <a:pt x="13" y="317"/>
                </a:moveTo>
                <a:lnTo>
                  <a:pt x="13" y="330"/>
                </a:lnTo>
                <a:lnTo>
                  <a:pt x="0" y="330"/>
                </a:lnTo>
                <a:lnTo>
                  <a:pt x="0" y="317"/>
                </a:lnTo>
                <a:lnTo>
                  <a:pt x="13" y="317"/>
                </a:lnTo>
                <a:close/>
                <a:moveTo>
                  <a:pt x="13" y="344"/>
                </a:moveTo>
                <a:lnTo>
                  <a:pt x="13" y="357"/>
                </a:lnTo>
                <a:lnTo>
                  <a:pt x="0" y="357"/>
                </a:lnTo>
                <a:lnTo>
                  <a:pt x="0" y="344"/>
                </a:lnTo>
                <a:lnTo>
                  <a:pt x="13" y="344"/>
                </a:lnTo>
                <a:close/>
                <a:moveTo>
                  <a:pt x="13" y="370"/>
                </a:moveTo>
                <a:lnTo>
                  <a:pt x="13" y="383"/>
                </a:lnTo>
                <a:lnTo>
                  <a:pt x="0" y="383"/>
                </a:lnTo>
                <a:lnTo>
                  <a:pt x="0" y="370"/>
                </a:lnTo>
                <a:lnTo>
                  <a:pt x="13" y="370"/>
                </a:lnTo>
                <a:close/>
                <a:moveTo>
                  <a:pt x="13" y="396"/>
                </a:moveTo>
                <a:lnTo>
                  <a:pt x="13" y="410"/>
                </a:lnTo>
                <a:lnTo>
                  <a:pt x="0" y="410"/>
                </a:lnTo>
                <a:lnTo>
                  <a:pt x="0" y="396"/>
                </a:lnTo>
                <a:lnTo>
                  <a:pt x="13" y="396"/>
                </a:lnTo>
                <a:close/>
                <a:moveTo>
                  <a:pt x="13" y="423"/>
                </a:moveTo>
                <a:lnTo>
                  <a:pt x="13" y="436"/>
                </a:lnTo>
                <a:lnTo>
                  <a:pt x="0" y="436"/>
                </a:lnTo>
                <a:lnTo>
                  <a:pt x="0" y="423"/>
                </a:lnTo>
                <a:lnTo>
                  <a:pt x="13" y="423"/>
                </a:lnTo>
                <a:close/>
                <a:moveTo>
                  <a:pt x="13" y="449"/>
                </a:moveTo>
                <a:lnTo>
                  <a:pt x="13" y="463"/>
                </a:lnTo>
                <a:lnTo>
                  <a:pt x="0" y="463"/>
                </a:lnTo>
                <a:lnTo>
                  <a:pt x="0" y="449"/>
                </a:lnTo>
                <a:lnTo>
                  <a:pt x="13" y="449"/>
                </a:lnTo>
                <a:close/>
                <a:moveTo>
                  <a:pt x="13" y="476"/>
                </a:moveTo>
                <a:lnTo>
                  <a:pt x="13" y="489"/>
                </a:lnTo>
                <a:lnTo>
                  <a:pt x="0" y="489"/>
                </a:lnTo>
                <a:lnTo>
                  <a:pt x="0" y="476"/>
                </a:lnTo>
                <a:lnTo>
                  <a:pt x="13" y="476"/>
                </a:lnTo>
                <a:close/>
                <a:moveTo>
                  <a:pt x="13" y="502"/>
                </a:moveTo>
                <a:lnTo>
                  <a:pt x="13" y="515"/>
                </a:lnTo>
                <a:lnTo>
                  <a:pt x="0" y="515"/>
                </a:lnTo>
                <a:lnTo>
                  <a:pt x="0" y="502"/>
                </a:lnTo>
                <a:lnTo>
                  <a:pt x="13" y="502"/>
                </a:lnTo>
                <a:close/>
                <a:moveTo>
                  <a:pt x="13" y="529"/>
                </a:moveTo>
                <a:lnTo>
                  <a:pt x="13" y="542"/>
                </a:lnTo>
                <a:lnTo>
                  <a:pt x="0" y="542"/>
                </a:lnTo>
                <a:lnTo>
                  <a:pt x="0" y="529"/>
                </a:lnTo>
                <a:lnTo>
                  <a:pt x="13" y="529"/>
                </a:lnTo>
                <a:close/>
                <a:moveTo>
                  <a:pt x="13" y="555"/>
                </a:moveTo>
                <a:lnTo>
                  <a:pt x="13" y="568"/>
                </a:lnTo>
                <a:lnTo>
                  <a:pt x="0" y="568"/>
                </a:lnTo>
                <a:lnTo>
                  <a:pt x="0" y="555"/>
                </a:lnTo>
                <a:lnTo>
                  <a:pt x="13" y="555"/>
                </a:lnTo>
                <a:close/>
                <a:moveTo>
                  <a:pt x="13" y="581"/>
                </a:moveTo>
                <a:lnTo>
                  <a:pt x="13" y="594"/>
                </a:lnTo>
                <a:lnTo>
                  <a:pt x="0" y="594"/>
                </a:lnTo>
                <a:lnTo>
                  <a:pt x="0" y="581"/>
                </a:lnTo>
                <a:lnTo>
                  <a:pt x="13" y="581"/>
                </a:lnTo>
                <a:close/>
                <a:moveTo>
                  <a:pt x="13" y="608"/>
                </a:moveTo>
                <a:lnTo>
                  <a:pt x="13" y="621"/>
                </a:lnTo>
                <a:lnTo>
                  <a:pt x="0" y="621"/>
                </a:lnTo>
                <a:lnTo>
                  <a:pt x="0" y="608"/>
                </a:lnTo>
                <a:lnTo>
                  <a:pt x="13" y="608"/>
                </a:lnTo>
                <a:close/>
                <a:moveTo>
                  <a:pt x="13" y="634"/>
                </a:moveTo>
                <a:lnTo>
                  <a:pt x="13" y="647"/>
                </a:lnTo>
                <a:lnTo>
                  <a:pt x="0" y="647"/>
                </a:lnTo>
                <a:lnTo>
                  <a:pt x="0" y="634"/>
                </a:lnTo>
                <a:lnTo>
                  <a:pt x="13" y="634"/>
                </a:lnTo>
                <a:close/>
                <a:moveTo>
                  <a:pt x="13" y="661"/>
                </a:moveTo>
                <a:lnTo>
                  <a:pt x="13" y="674"/>
                </a:lnTo>
                <a:lnTo>
                  <a:pt x="0" y="674"/>
                </a:lnTo>
                <a:lnTo>
                  <a:pt x="0" y="661"/>
                </a:lnTo>
                <a:lnTo>
                  <a:pt x="13" y="661"/>
                </a:lnTo>
                <a:close/>
                <a:moveTo>
                  <a:pt x="13" y="687"/>
                </a:moveTo>
                <a:lnTo>
                  <a:pt x="13" y="700"/>
                </a:lnTo>
                <a:lnTo>
                  <a:pt x="0" y="700"/>
                </a:lnTo>
                <a:lnTo>
                  <a:pt x="0" y="687"/>
                </a:lnTo>
                <a:lnTo>
                  <a:pt x="13" y="687"/>
                </a:lnTo>
                <a:close/>
                <a:moveTo>
                  <a:pt x="13" y="713"/>
                </a:moveTo>
                <a:lnTo>
                  <a:pt x="13" y="727"/>
                </a:lnTo>
                <a:lnTo>
                  <a:pt x="0" y="727"/>
                </a:lnTo>
                <a:lnTo>
                  <a:pt x="0" y="713"/>
                </a:lnTo>
                <a:lnTo>
                  <a:pt x="13" y="713"/>
                </a:lnTo>
                <a:close/>
                <a:moveTo>
                  <a:pt x="13" y="740"/>
                </a:moveTo>
                <a:lnTo>
                  <a:pt x="13" y="753"/>
                </a:lnTo>
                <a:lnTo>
                  <a:pt x="0" y="753"/>
                </a:lnTo>
                <a:lnTo>
                  <a:pt x="0" y="740"/>
                </a:lnTo>
                <a:lnTo>
                  <a:pt x="13" y="740"/>
                </a:lnTo>
                <a:close/>
                <a:moveTo>
                  <a:pt x="13" y="766"/>
                </a:moveTo>
                <a:lnTo>
                  <a:pt x="13" y="780"/>
                </a:lnTo>
                <a:lnTo>
                  <a:pt x="0" y="780"/>
                </a:lnTo>
                <a:lnTo>
                  <a:pt x="0" y="766"/>
                </a:lnTo>
                <a:lnTo>
                  <a:pt x="13" y="766"/>
                </a:lnTo>
                <a:close/>
                <a:moveTo>
                  <a:pt x="13" y="793"/>
                </a:moveTo>
                <a:lnTo>
                  <a:pt x="13" y="806"/>
                </a:lnTo>
                <a:lnTo>
                  <a:pt x="0" y="806"/>
                </a:lnTo>
                <a:lnTo>
                  <a:pt x="0" y="793"/>
                </a:lnTo>
                <a:lnTo>
                  <a:pt x="13" y="793"/>
                </a:lnTo>
                <a:close/>
                <a:moveTo>
                  <a:pt x="13" y="819"/>
                </a:moveTo>
                <a:lnTo>
                  <a:pt x="13" y="832"/>
                </a:lnTo>
                <a:lnTo>
                  <a:pt x="0" y="832"/>
                </a:lnTo>
                <a:lnTo>
                  <a:pt x="0" y="819"/>
                </a:lnTo>
                <a:lnTo>
                  <a:pt x="13" y="819"/>
                </a:lnTo>
                <a:close/>
                <a:moveTo>
                  <a:pt x="13" y="846"/>
                </a:moveTo>
                <a:lnTo>
                  <a:pt x="13" y="859"/>
                </a:lnTo>
                <a:lnTo>
                  <a:pt x="0" y="859"/>
                </a:lnTo>
                <a:lnTo>
                  <a:pt x="0" y="846"/>
                </a:lnTo>
                <a:lnTo>
                  <a:pt x="13" y="846"/>
                </a:lnTo>
                <a:close/>
                <a:moveTo>
                  <a:pt x="13" y="872"/>
                </a:moveTo>
                <a:lnTo>
                  <a:pt x="13" y="885"/>
                </a:lnTo>
                <a:lnTo>
                  <a:pt x="0" y="885"/>
                </a:lnTo>
                <a:lnTo>
                  <a:pt x="0" y="872"/>
                </a:lnTo>
                <a:lnTo>
                  <a:pt x="13" y="872"/>
                </a:lnTo>
                <a:close/>
                <a:moveTo>
                  <a:pt x="13" y="899"/>
                </a:moveTo>
                <a:lnTo>
                  <a:pt x="13" y="912"/>
                </a:lnTo>
                <a:lnTo>
                  <a:pt x="0" y="912"/>
                </a:lnTo>
                <a:lnTo>
                  <a:pt x="0" y="899"/>
                </a:lnTo>
                <a:lnTo>
                  <a:pt x="13" y="899"/>
                </a:lnTo>
                <a:close/>
                <a:moveTo>
                  <a:pt x="13" y="925"/>
                </a:moveTo>
                <a:lnTo>
                  <a:pt x="13" y="938"/>
                </a:lnTo>
                <a:lnTo>
                  <a:pt x="0" y="938"/>
                </a:lnTo>
                <a:lnTo>
                  <a:pt x="0" y="925"/>
                </a:lnTo>
                <a:lnTo>
                  <a:pt x="13" y="925"/>
                </a:lnTo>
                <a:close/>
                <a:moveTo>
                  <a:pt x="13" y="951"/>
                </a:moveTo>
                <a:lnTo>
                  <a:pt x="13" y="965"/>
                </a:lnTo>
                <a:lnTo>
                  <a:pt x="0" y="965"/>
                </a:lnTo>
                <a:lnTo>
                  <a:pt x="0" y="951"/>
                </a:lnTo>
                <a:lnTo>
                  <a:pt x="13" y="951"/>
                </a:lnTo>
                <a:close/>
                <a:moveTo>
                  <a:pt x="13" y="978"/>
                </a:moveTo>
                <a:lnTo>
                  <a:pt x="13" y="991"/>
                </a:lnTo>
                <a:lnTo>
                  <a:pt x="0" y="991"/>
                </a:lnTo>
                <a:lnTo>
                  <a:pt x="0" y="978"/>
                </a:lnTo>
                <a:lnTo>
                  <a:pt x="13" y="978"/>
                </a:lnTo>
                <a:close/>
                <a:moveTo>
                  <a:pt x="13" y="1004"/>
                </a:moveTo>
                <a:lnTo>
                  <a:pt x="13" y="1017"/>
                </a:lnTo>
                <a:lnTo>
                  <a:pt x="0" y="1017"/>
                </a:lnTo>
                <a:lnTo>
                  <a:pt x="0" y="1004"/>
                </a:lnTo>
                <a:lnTo>
                  <a:pt x="13" y="1004"/>
                </a:lnTo>
                <a:close/>
                <a:moveTo>
                  <a:pt x="13" y="1030"/>
                </a:moveTo>
                <a:lnTo>
                  <a:pt x="13" y="1044"/>
                </a:lnTo>
                <a:lnTo>
                  <a:pt x="0" y="1044"/>
                </a:lnTo>
                <a:lnTo>
                  <a:pt x="0" y="1030"/>
                </a:lnTo>
                <a:lnTo>
                  <a:pt x="13" y="1030"/>
                </a:lnTo>
                <a:close/>
                <a:moveTo>
                  <a:pt x="13" y="1057"/>
                </a:moveTo>
                <a:lnTo>
                  <a:pt x="13" y="1070"/>
                </a:lnTo>
                <a:lnTo>
                  <a:pt x="0" y="1070"/>
                </a:lnTo>
                <a:lnTo>
                  <a:pt x="0" y="1057"/>
                </a:lnTo>
                <a:lnTo>
                  <a:pt x="13" y="1057"/>
                </a:lnTo>
                <a:close/>
                <a:moveTo>
                  <a:pt x="13" y="1083"/>
                </a:moveTo>
                <a:lnTo>
                  <a:pt x="13" y="1097"/>
                </a:lnTo>
                <a:lnTo>
                  <a:pt x="0" y="1097"/>
                </a:lnTo>
                <a:lnTo>
                  <a:pt x="0" y="1083"/>
                </a:lnTo>
                <a:lnTo>
                  <a:pt x="13" y="1083"/>
                </a:lnTo>
                <a:close/>
                <a:moveTo>
                  <a:pt x="13" y="1110"/>
                </a:moveTo>
                <a:lnTo>
                  <a:pt x="13" y="1123"/>
                </a:lnTo>
                <a:lnTo>
                  <a:pt x="0" y="1123"/>
                </a:lnTo>
                <a:lnTo>
                  <a:pt x="0" y="1110"/>
                </a:lnTo>
                <a:lnTo>
                  <a:pt x="13" y="1110"/>
                </a:lnTo>
                <a:close/>
                <a:moveTo>
                  <a:pt x="13" y="1136"/>
                </a:moveTo>
                <a:lnTo>
                  <a:pt x="13" y="1149"/>
                </a:lnTo>
                <a:lnTo>
                  <a:pt x="0" y="1149"/>
                </a:lnTo>
                <a:lnTo>
                  <a:pt x="0" y="1136"/>
                </a:lnTo>
                <a:lnTo>
                  <a:pt x="13" y="1136"/>
                </a:lnTo>
                <a:close/>
                <a:moveTo>
                  <a:pt x="13" y="1163"/>
                </a:moveTo>
                <a:lnTo>
                  <a:pt x="13" y="1176"/>
                </a:lnTo>
                <a:lnTo>
                  <a:pt x="0" y="1176"/>
                </a:lnTo>
                <a:lnTo>
                  <a:pt x="0" y="1163"/>
                </a:lnTo>
                <a:lnTo>
                  <a:pt x="13" y="1163"/>
                </a:lnTo>
                <a:close/>
                <a:moveTo>
                  <a:pt x="13" y="1189"/>
                </a:moveTo>
                <a:lnTo>
                  <a:pt x="13" y="1202"/>
                </a:lnTo>
                <a:lnTo>
                  <a:pt x="0" y="1202"/>
                </a:lnTo>
                <a:lnTo>
                  <a:pt x="0" y="1189"/>
                </a:lnTo>
                <a:lnTo>
                  <a:pt x="13" y="1189"/>
                </a:lnTo>
                <a:close/>
                <a:moveTo>
                  <a:pt x="13" y="1216"/>
                </a:moveTo>
                <a:lnTo>
                  <a:pt x="13" y="1229"/>
                </a:lnTo>
                <a:lnTo>
                  <a:pt x="0" y="1229"/>
                </a:lnTo>
                <a:lnTo>
                  <a:pt x="0" y="1216"/>
                </a:lnTo>
                <a:lnTo>
                  <a:pt x="13" y="1216"/>
                </a:lnTo>
                <a:close/>
                <a:moveTo>
                  <a:pt x="13" y="1242"/>
                </a:moveTo>
                <a:lnTo>
                  <a:pt x="13" y="1255"/>
                </a:lnTo>
                <a:lnTo>
                  <a:pt x="0" y="1255"/>
                </a:lnTo>
                <a:lnTo>
                  <a:pt x="0" y="1242"/>
                </a:lnTo>
                <a:lnTo>
                  <a:pt x="13" y="1242"/>
                </a:lnTo>
                <a:close/>
                <a:moveTo>
                  <a:pt x="13" y="1268"/>
                </a:moveTo>
                <a:lnTo>
                  <a:pt x="13" y="1282"/>
                </a:lnTo>
                <a:lnTo>
                  <a:pt x="0" y="1282"/>
                </a:lnTo>
                <a:lnTo>
                  <a:pt x="0" y="1268"/>
                </a:lnTo>
                <a:lnTo>
                  <a:pt x="13" y="1268"/>
                </a:lnTo>
                <a:close/>
                <a:moveTo>
                  <a:pt x="13" y="1295"/>
                </a:moveTo>
                <a:lnTo>
                  <a:pt x="13" y="1308"/>
                </a:lnTo>
                <a:lnTo>
                  <a:pt x="0" y="1308"/>
                </a:lnTo>
                <a:lnTo>
                  <a:pt x="0" y="1295"/>
                </a:lnTo>
                <a:lnTo>
                  <a:pt x="13" y="1295"/>
                </a:lnTo>
                <a:close/>
                <a:moveTo>
                  <a:pt x="13" y="1321"/>
                </a:moveTo>
                <a:lnTo>
                  <a:pt x="13" y="1335"/>
                </a:lnTo>
                <a:lnTo>
                  <a:pt x="0" y="1335"/>
                </a:lnTo>
                <a:lnTo>
                  <a:pt x="0" y="1321"/>
                </a:lnTo>
                <a:lnTo>
                  <a:pt x="13" y="1321"/>
                </a:lnTo>
                <a:close/>
                <a:moveTo>
                  <a:pt x="13" y="1348"/>
                </a:moveTo>
                <a:lnTo>
                  <a:pt x="13" y="1361"/>
                </a:lnTo>
                <a:lnTo>
                  <a:pt x="0" y="1361"/>
                </a:lnTo>
                <a:lnTo>
                  <a:pt x="0" y="1348"/>
                </a:lnTo>
                <a:lnTo>
                  <a:pt x="13" y="1348"/>
                </a:lnTo>
                <a:close/>
                <a:moveTo>
                  <a:pt x="13" y="1374"/>
                </a:moveTo>
                <a:lnTo>
                  <a:pt x="13" y="1387"/>
                </a:lnTo>
                <a:lnTo>
                  <a:pt x="0" y="1387"/>
                </a:lnTo>
                <a:lnTo>
                  <a:pt x="0" y="1374"/>
                </a:lnTo>
                <a:lnTo>
                  <a:pt x="13" y="1374"/>
                </a:lnTo>
                <a:close/>
                <a:moveTo>
                  <a:pt x="13" y="1400"/>
                </a:moveTo>
                <a:lnTo>
                  <a:pt x="13" y="1414"/>
                </a:lnTo>
                <a:lnTo>
                  <a:pt x="0" y="1414"/>
                </a:lnTo>
                <a:lnTo>
                  <a:pt x="0" y="1400"/>
                </a:lnTo>
                <a:lnTo>
                  <a:pt x="13" y="1400"/>
                </a:lnTo>
                <a:close/>
                <a:moveTo>
                  <a:pt x="13" y="1427"/>
                </a:moveTo>
                <a:lnTo>
                  <a:pt x="13" y="1440"/>
                </a:lnTo>
                <a:lnTo>
                  <a:pt x="0" y="1440"/>
                </a:lnTo>
                <a:lnTo>
                  <a:pt x="0" y="1427"/>
                </a:lnTo>
                <a:lnTo>
                  <a:pt x="13" y="1427"/>
                </a:lnTo>
                <a:close/>
                <a:moveTo>
                  <a:pt x="13" y="1453"/>
                </a:moveTo>
                <a:lnTo>
                  <a:pt x="13" y="1466"/>
                </a:lnTo>
                <a:lnTo>
                  <a:pt x="0" y="1466"/>
                </a:lnTo>
                <a:lnTo>
                  <a:pt x="0" y="1453"/>
                </a:lnTo>
                <a:lnTo>
                  <a:pt x="13" y="1453"/>
                </a:lnTo>
                <a:close/>
                <a:moveTo>
                  <a:pt x="13" y="1480"/>
                </a:moveTo>
                <a:lnTo>
                  <a:pt x="13" y="1493"/>
                </a:lnTo>
                <a:lnTo>
                  <a:pt x="0" y="1493"/>
                </a:lnTo>
                <a:lnTo>
                  <a:pt x="0" y="1480"/>
                </a:lnTo>
                <a:lnTo>
                  <a:pt x="13" y="1480"/>
                </a:lnTo>
                <a:close/>
                <a:moveTo>
                  <a:pt x="13" y="1506"/>
                </a:moveTo>
                <a:lnTo>
                  <a:pt x="13" y="1519"/>
                </a:lnTo>
                <a:lnTo>
                  <a:pt x="0" y="1519"/>
                </a:lnTo>
                <a:lnTo>
                  <a:pt x="0" y="1506"/>
                </a:lnTo>
                <a:lnTo>
                  <a:pt x="13" y="1506"/>
                </a:lnTo>
                <a:close/>
                <a:moveTo>
                  <a:pt x="13" y="1533"/>
                </a:moveTo>
                <a:lnTo>
                  <a:pt x="13" y="1546"/>
                </a:lnTo>
                <a:lnTo>
                  <a:pt x="0" y="1546"/>
                </a:lnTo>
                <a:lnTo>
                  <a:pt x="0" y="1533"/>
                </a:lnTo>
                <a:lnTo>
                  <a:pt x="13" y="1533"/>
                </a:lnTo>
                <a:close/>
                <a:moveTo>
                  <a:pt x="13" y="1559"/>
                </a:moveTo>
                <a:lnTo>
                  <a:pt x="13" y="1572"/>
                </a:lnTo>
                <a:lnTo>
                  <a:pt x="0" y="1572"/>
                </a:lnTo>
                <a:lnTo>
                  <a:pt x="0" y="1559"/>
                </a:lnTo>
                <a:lnTo>
                  <a:pt x="13" y="1559"/>
                </a:lnTo>
                <a:close/>
                <a:moveTo>
                  <a:pt x="13" y="1585"/>
                </a:moveTo>
                <a:lnTo>
                  <a:pt x="13" y="1599"/>
                </a:lnTo>
                <a:lnTo>
                  <a:pt x="0" y="1599"/>
                </a:lnTo>
                <a:lnTo>
                  <a:pt x="0" y="1585"/>
                </a:lnTo>
                <a:lnTo>
                  <a:pt x="13" y="1585"/>
                </a:lnTo>
                <a:close/>
                <a:moveTo>
                  <a:pt x="13" y="1612"/>
                </a:moveTo>
                <a:lnTo>
                  <a:pt x="13" y="1625"/>
                </a:lnTo>
                <a:lnTo>
                  <a:pt x="0" y="1625"/>
                </a:lnTo>
                <a:lnTo>
                  <a:pt x="0" y="1612"/>
                </a:lnTo>
                <a:lnTo>
                  <a:pt x="13" y="1612"/>
                </a:lnTo>
                <a:close/>
                <a:moveTo>
                  <a:pt x="13" y="1638"/>
                </a:moveTo>
                <a:lnTo>
                  <a:pt x="13" y="1652"/>
                </a:lnTo>
                <a:lnTo>
                  <a:pt x="0" y="1652"/>
                </a:lnTo>
                <a:lnTo>
                  <a:pt x="0" y="1638"/>
                </a:lnTo>
                <a:lnTo>
                  <a:pt x="13" y="1638"/>
                </a:lnTo>
                <a:close/>
                <a:moveTo>
                  <a:pt x="13" y="1665"/>
                </a:moveTo>
                <a:lnTo>
                  <a:pt x="13" y="1678"/>
                </a:lnTo>
                <a:lnTo>
                  <a:pt x="0" y="1678"/>
                </a:lnTo>
                <a:lnTo>
                  <a:pt x="0" y="1665"/>
                </a:lnTo>
                <a:lnTo>
                  <a:pt x="13" y="1665"/>
                </a:lnTo>
                <a:close/>
                <a:moveTo>
                  <a:pt x="13" y="1691"/>
                </a:moveTo>
                <a:lnTo>
                  <a:pt x="13" y="1704"/>
                </a:lnTo>
                <a:lnTo>
                  <a:pt x="0" y="1704"/>
                </a:lnTo>
                <a:lnTo>
                  <a:pt x="0" y="1691"/>
                </a:lnTo>
                <a:lnTo>
                  <a:pt x="13" y="1691"/>
                </a:lnTo>
                <a:close/>
                <a:moveTo>
                  <a:pt x="13" y="1718"/>
                </a:moveTo>
                <a:lnTo>
                  <a:pt x="13" y="1731"/>
                </a:lnTo>
                <a:lnTo>
                  <a:pt x="0" y="1731"/>
                </a:lnTo>
                <a:lnTo>
                  <a:pt x="0" y="1718"/>
                </a:lnTo>
                <a:lnTo>
                  <a:pt x="13" y="1718"/>
                </a:lnTo>
                <a:close/>
                <a:moveTo>
                  <a:pt x="13" y="1744"/>
                </a:moveTo>
                <a:lnTo>
                  <a:pt x="13" y="1757"/>
                </a:lnTo>
                <a:lnTo>
                  <a:pt x="0" y="1757"/>
                </a:lnTo>
                <a:lnTo>
                  <a:pt x="0" y="1744"/>
                </a:lnTo>
                <a:lnTo>
                  <a:pt x="13" y="1744"/>
                </a:lnTo>
                <a:close/>
                <a:moveTo>
                  <a:pt x="13" y="1770"/>
                </a:moveTo>
                <a:lnTo>
                  <a:pt x="13" y="1783"/>
                </a:lnTo>
                <a:lnTo>
                  <a:pt x="0" y="1783"/>
                </a:lnTo>
                <a:lnTo>
                  <a:pt x="0" y="1770"/>
                </a:lnTo>
                <a:lnTo>
                  <a:pt x="13" y="1770"/>
                </a:lnTo>
                <a:close/>
                <a:moveTo>
                  <a:pt x="13" y="1797"/>
                </a:moveTo>
                <a:lnTo>
                  <a:pt x="13" y="1810"/>
                </a:lnTo>
                <a:lnTo>
                  <a:pt x="0" y="1810"/>
                </a:lnTo>
                <a:lnTo>
                  <a:pt x="0" y="1797"/>
                </a:lnTo>
                <a:lnTo>
                  <a:pt x="13" y="1797"/>
                </a:lnTo>
                <a:close/>
                <a:moveTo>
                  <a:pt x="13" y="1823"/>
                </a:moveTo>
                <a:lnTo>
                  <a:pt x="13" y="1836"/>
                </a:lnTo>
                <a:lnTo>
                  <a:pt x="0" y="1836"/>
                </a:lnTo>
                <a:lnTo>
                  <a:pt x="0" y="1823"/>
                </a:lnTo>
                <a:lnTo>
                  <a:pt x="13" y="1823"/>
                </a:lnTo>
                <a:close/>
                <a:moveTo>
                  <a:pt x="13" y="1850"/>
                </a:moveTo>
                <a:lnTo>
                  <a:pt x="13" y="1863"/>
                </a:lnTo>
                <a:lnTo>
                  <a:pt x="0" y="1863"/>
                </a:lnTo>
                <a:lnTo>
                  <a:pt x="0" y="1850"/>
                </a:lnTo>
                <a:lnTo>
                  <a:pt x="13" y="1850"/>
                </a:lnTo>
                <a:close/>
                <a:moveTo>
                  <a:pt x="13" y="1876"/>
                </a:moveTo>
                <a:lnTo>
                  <a:pt x="13" y="1889"/>
                </a:lnTo>
                <a:lnTo>
                  <a:pt x="0" y="1889"/>
                </a:lnTo>
                <a:lnTo>
                  <a:pt x="0" y="1876"/>
                </a:lnTo>
                <a:lnTo>
                  <a:pt x="13" y="1876"/>
                </a:lnTo>
                <a:close/>
                <a:moveTo>
                  <a:pt x="13" y="1902"/>
                </a:moveTo>
                <a:lnTo>
                  <a:pt x="13" y="1916"/>
                </a:lnTo>
                <a:lnTo>
                  <a:pt x="0" y="1916"/>
                </a:lnTo>
                <a:lnTo>
                  <a:pt x="0" y="1902"/>
                </a:lnTo>
                <a:lnTo>
                  <a:pt x="13" y="1902"/>
                </a:lnTo>
                <a:close/>
                <a:moveTo>
                  <a:pt x="13" y="1929"/>
                </a:moveTo>
                <a:lnTo>
                  <a:pt x="13" y="1942"/>
                </a:lnTo>
                <a:lnTo>
                  <a:pt x="0" y="1942"/>
                </a:lnTo>
                <a:lnTo>
                  <a:pt x="0" y="1929"/>
                </a:lnTo>
                <a:lnTo>
                  <a:pt x="13" y="1929"/>
                </a:lnTo>
                <a:close/>
                <a:moveTo>
                  <a:pt x="13" y="1955"/>
                </a:moveTo>
                <a:lnTo>
                  <a:pt x="13" y="1969"/>
                </a:lnTo>
                <a:lnTo>
                  <a:pt x="0" y="1969"/>
                </a:lnTo>
                <a:lnTo>
                  <a:pt x="0" y="1955"/>
                </a:lnTo>
                <a:lnTo>
                  <a:pt x="13" y="1955"/>
                </a:lnTo>
                <a:close/>
                <a:moveTo>
                  <a:pt x="13" y="1982"/>
                </a:moveTo>
                <a:lnTo>
                  <a:pt x="13" y="1995"/>
                </a:lnTo>
                <a:lnTo>
                  <a:pt x="0" y="1995"/>
                </a:lnTo>
                <a:lnTo>
                  <a:pt x="0" y="1982"/>
                </a:lnTo>
                <a:lnTo>
                  <a:pt x="13" y="1982"/>
                </a:lnTo>
                <a:close/>
                <a:moveTo>
                  <a:pt x="13" y="2008"/>
                </a:moveTo>
                <a:lnTo>
                  <a:pt x="13" y="2021"/>
                </a:lnTo>
                <a:lnTo>
                  <a:pt x="0" y="2021"/>
                </a:lnTo>
                <a:lnTo>
                  <a:pt x="0" y="2008"/>
                </a:lnTo>
                <a:lnTo>
                  <a:pt x="13" y="2008"/>
                </a:lnTo>
                <a:close/>
                <a:moveTo>
                  <a:pt x="13" y="2035"/>
                </a:moveTo>
                <a:lnTo>
                  <a:pt x="13" y="2048"/>
                </a:lnTo>
                <a:lnTo>
                  <a:pt x="0" y="2048"/>
                </a:lnTo>
                <a:lnTo>
                  <a:pt x="0" y="2035"/>
                </a:lnTo>
                <a:lnTo>
                  <a:pt x="13" y="2035"/>
                </a:lnTo>
                <a:close/>
                <a:moveTo>
                  <a:pt x="13" y="2061"/>
                </a:moveTo>
                <a:lnTo>
                  <a:pt x="13" y="2074"/>
                </a:lnTo>
                <a:lnTo>
                  <a:pt x="0" y="2074"/>
                </a:lnTo>
                <a:lnTo>
                  <a:pt x="0" y="2061"/>
                </a:lnTo>
                <a:lnTo>
                  <a:pt x="13" y="2061"/>
                </a:lnTo>
                <a:close/>
                <a:moveTo>
                  <a:pt x="13" y="2088"/>
                </a:moveTo>
                <a:lnTo>
                  <a:pt x="13" y="2101"/>
                </a:lnTo>
                <a:lnTo>
                  <a:pt x="0" y="2101"/>
                </a:lnTo>
                <a:lnTo>
                  <a:pt x="0" y="2088"/>
                </a:lnTo>
                <a:lnTo>
                  <a:pt x="13" y="2088"/>
                </a:lnTo>
                <a:close/>
                <a:moveTo>
                  <a:pt x="13" y="2114"/>
                </a:moveTo>
                <a:lnTo>
                  <a:pt x="13" y="2127"/>
                </a:lnTo>
                <a:lnTo>
                  <a:pt x="0" y="2127"/>
                </a:lnTo>
                <a:lnTo>
                  <a:pt x="0" y="2114"/>
                </a:lnTo>
                <a:lnTo>
                  <a:pt x="13" y="2114"/>
                </a:lnTo>
                <a:close/>
                <a:moveTo>
                  <a:pt x="13" y="2140"/>
                </a:moveTo>
                <a:lnTo>
                  <a:pt x="13" y="2153"/>
                </a:lnTo>
                <a:lnTo>
                  <a:pt x="0" y="2153"/>
                </a:lnTo>
                <a:lnTo>
                  <a:pt x="0" y="2140"/>
                </a:lnTo>
                <a:lnTo>
                  <a:pt x="13" y="2140"/>
                </a:lnTo>
                <a:close/>
                <a:moveTo>
                  <a:pt x="13" y="2167"/>
                </a:moveTo>
                <a:lnTo>
                  <a:pt x="13" y="2180"/>
                </a:lnTo>
                <a:lnTo>
                  <a:pt x="0" y="2180"/>
                </a:lnTo>
                <a:lnTo>
                  <a:pt x="0" y="2167"/>
                </a:lnTo>
                <a:lnTo>
                  <a:pt x="13" y="2167"/>
                </a:lnTo>
                <a:close/>
                <a:moveTo>
                  <a:pt x="13" y="2193"/>
                </a:moveTo>
                <a:lnTo>
                  <a:pt x="13" y="2206"/>
                </a:lnTo>
                <a:lnTo>
                  <a:pt x="0" y="2206"/>
                </a:lnTo>
                <a:lnTo>
                  <a:pt x="0" y="2193"/>
                </a:lnTo>
                <a:lnTo>
                  <a:pt x="13" y="2193"/>
                </a:lnTo>
                <a:close/>
                <a:moveTo>
                  <a:pt x="13" y="2219"/>
                </a:moveTo>
                <a:lnTo>
                  <a:pt x="13" y="2233"/>
                </a:lnTo>
                <a:lnTo>
                  <a:pt x="0" y="2233"/>
                </a:lnTo>
                <a:lnTo>
                  <a:pt x="0" y="2219"/>
                </a:lnTo>
                <a:lnTo>
                  <a:pt x="13" y="2219"/>
                </a:lnTo>
                <a:close/>
                <a:moveTo>
                  <a:pt x="13" y="2246"/>
                </a:moveTo>
                <a:lnTo>
                  <a:pt x="13" y="2259"/>
                </a:lnTo>
                <a:lnTo>
                  <a:pt x="0" y="2259"/>
                </a:lnTo>
                <a:lnTo>
                  <a:pt x="0" y="2246"/>
                </a:lnTo>
                <a:lnTo>
                  <a:pt x="13" y="2246"/>
                </a:lnTo>
                <a:close/>
                <a:moveTo>
                  <a:pt x="13" y="2272"/>
                </a:moveTo>
                <a:lnTo>
                  <a:pt x="13" y="2286"/>
                </a:lnTo>
                <a:lnTo>
                  <a:pt x="0" y="2286"/>
                </a:lnTo>
                <a:lnTo>
                  <a:pt x="0" y="2272"/>
                </a:lnTo>
                <a:lnTo>
                  <a:pt x="13" y="2272"/>
                </a:lnTo>
                <a:close/>
                <a:moveTo>
                  <a:pt x="13" y="2299"/>
                </a:moveTo>
                <a:lnTo>
                  <a:pt x="13" y="2312"/>
                </a:lnTo>
                <a:lnTo>
                  <a:pt x="0" y="2312"/>
                </a:lnTo>
                <a:lnTo>
                  <a:pt x="0" y="2299"/>
                </a:lnTo>
                <a:lnTo>
                  <a:pt x="13" y="2299"/>
                </a:lnTo>
                <a:close/>
              </a:path>
            </a:pathLst>
          </a:custGeom>
          <a:solidFill>
            <a:srgbClr val="000000"/>
          </a:solidFill>
          <a:ln w="0" cap="flat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95" name="Freeform 92">
            <a:extLst>
              <a:ext uri="{FF2B5EF4-FFF2-40B4-BE49-F238E27FC236}">
                <a16:creationId xmlns:a16="http://schemas.microsoft.com/office/drawing/2014/main" id="{AC4E8AA1-58AE-4EB6-8BB9-EEDAD7615435}"/>
              </a:ext>
            </a:extLst>
          </p:cNvPr>
          <p:cNvSpPr>
            <a:spLocks noEditPoints="1"/>
          </p:cNvSpPr>
          <p:nvPr/>
        </p:nvSpPr>
        <p:spPr bwMode="auto">
          <a:xfrm>
            <a:off x="6180138" y="2357438"/>
            <a:ext cx="20638" cy="3670300"/>
          </a:xfrm>
          <a:custGeom>
            <a:avLst/>
            <a:gdLst>
              <a:gd name="T0" fmla="*/ 13 w 13"/>
              <a:gd name="T1" fmla="*/ 40 h 2312"/>
              <a:gd name="T2" fmla="*/ 0 w 13"/>
              <a:gd name="T3" fmla="*/ 53 h 2312"/>
              <a:gd name="T4" fmla="*/ 13 w 13"/>
              <a:gd name="T5" fmla="*/ 106 h 2312"/>
              <a:gd name="T6" fmla="*/ 0 w 13"/>
              <a:gd name="T7" fmla="*/ 146 h 2312"/>
              <a:gd name="T8" fmla="*/ 13 w 13"/>
              <a:gd name="T9" fmla="*/ 159 h 2312"/>
              <a:gd name="T10" fmla="*/ 13 w 13"/>
              <a:gd name="T11" fmla="*/ 225 h 2312"/>
              <a:gd name="T12" fmla="*/ 0 w 13"/>
              <a:gd name="T13" fmla="*/ 238 h 2312"/>
              <a:gd name="T14" fmla="*/ 13 w 13"/>
              <a:gd name="T15" fmla="*/ 291 h 2312"/>
              <a:gd name="T16" fmla="*/ 0 w 13"/>
              <a:gd name="T17" fmla="*/ 330 h 2312"/>
              <a:gd name="T18" fmla="*/ 13 w 13"/>
              <a:gd name="T19" fmla="*/ 344 h 2312"/>
              <a:gd name="T20" fmla="*/ 13 w 13"/>
              <a:gd name="T21" fmla="*/ 410 h 2312"/>
              <a:gd name="T22" fmla="*/ 0 w 13"/>
              <a:gd name="T23" fmla="*/ 423 h 2312"/>
              <a:gd name="T24" fmla="*/ 13 w 13"/>
              <a:gd name="T25" fmla="*/ 476 h 2312"/>
              <a:gd name="T26" fmla="*/ 0 w 13"/>
              <a:gd name="T27" fmla="*/ 515 h 2312"/>
              <a:gd name="T28" fmla="*/ 13 w 13"/>
              <a:gd name="T29" fmla="*/ 529 h 2312"/>
              <a:gd name="T30" fmla="*/ 13 w 13"/>
              <a:gd name="T31" fmla="*/ 594 h 2312"/>
              <a:gd name="T32" fmla="*/ 0 w 13"/>
              <a:gd name="T33" fmla="*/ 608 h 2312"/>
              <a:gd name="T34" fmla="*/ 13 w 13"/>
              <a:gd name="T35" fmla="*/ 661 h 2312"/>
              <a:gd name="T36" fmla="*/ 0 w 13"/>
              <a:gd name="T37" fmla="*/ 700 h 2312"/>
              <a:gd name="T38" fmla="*/ 13 w 13"/>
              <a:gd name="T39" fmla="*/ 713 h 2312"/>
              <a:gd name="T40" fmla="*/ 13 w 13"/>
              <a:gd name="T41" fmla="*/ 780 h 2312"/>
              <a:gd name="T42" fmla="*/ 0 w 13"/>
              <a:gd name="T43" fmla="*/ 793 h 2312"/>
              <a:gd name="T44" fmla="*/ 13 w 13"/>
              <a:gd name="T45" fmla="*/ 846 h 2312"/>
              <a:gd name="T46" fmla="*/ 0 w 13"/>
              <a:gd name="T47" fmla="*/ 885 h 2312"/>
              <a:gd name="T48" fmla="*/ 13 w 13"/>
              <a:gd name="T49" fmla="*/ 899 h 2312"/>
              <a:gd name="T50" fmla="*/ 13 w 13"/>
              <a:gd name="T51" fmla="*/ 965 h 2312"/>
              <a:gd name="T52" fmla="*/ 0 w 13"/>
              <a:gd name="T53" fmla="*/ 978 h 2312"/>
              <a:gd name="T54" fmla="*/ 13 w 13"/>
              <a:gd name="T55" fmla="*/ 1030 h 2312"/>
              <a:gd name="T56" fmla="*/ 0 w 13"/>
              <a:gd name="T57" fmla="*/ 1070 h 2312"/>
              <a:gd name="T58" fmla="*/ 13 w 13"/>
              <a:gd name="T59" fmla="*/ 1083 h 2312"/>
              <a:gd name="T60" fmla="*/ 13 w 13"/>
              <a:gd name="T61" fmla="*/ 1149 h 2312"/>
              <a:gd name="T62" fmla="*/ 0 w 13"/>
              <a:gd name="T63" fmla="*/ 1163 h 2312"/>
              <a:gd name="T64" fmla="*/ 13 w 13"/>
              <a:gd name="T65" fmla="*/ 1216 h 2312"/>
              <a:gd name="T66" fmla="*/ 0 w 13"/>
              <a:gd name="T67" fmla="*/ 1255 h 2312"/>
              <a:gd name="T68" fmla="*/ 13 w 13"/>
              <a:gd name="T69" fmla="*/ 1268 h 2312"/>
              <a:gd name="T70" fmla="*/ 13 w 13"/>
              <a:gd name="T71" fmla="*/ 1335 h 2312"/>
              <a:gd name="T72" fmla="*/ 0 w 13"/>
              <a:gd name="T73" fmla="*/ 1348 h 2312"/>
              <a:gd name="T74" fmla="*/ 13 w 13"/>
              <a:gd name="T75" fmla="*/ 1400 h 2312"/>
              <a:gd name="T76" fmla="*/ 0 w 13"/>
              <a:gd name="T77" fmla="*/ 1440 h 2312"/>
              <a:gd name="T78" fmla="*/ 13 w 13"/>
              <a:gd name="T79" fmla="*/ 1453 h 2312"/>
              <a:gd name="T80" fmla="*/ 13 w 13"/>
              <a:gd name="T81" fmla="*/ 1519 h 2312"/>
              <a:gd name="T82" fmla="*/ 0 w 13"/>
              <a:gd name="T83" fmla="*/ 1533 h 2312"/>
              <a:gd name="T84" fmla="*/ 13 w 13"/>
              <a:gd name="T85" fmla="*/ 1585 h 2312"/>
              <a:gd name="T86" fmla="*/ 0 w 13"/>
              <a:gd name="T87" fmla="*/ 1625 h 2312"/>
              <a:gd name="T88" fmla="*/ 13 w 13"/>
              <a:gd name="T89" fmla="*/ 1638 h 2312"/>
              <a:gd name="T90" fmla="*/ 13 w 13"/>
              <a:gd name="T91" fmla="*/ 1704 h 2312"/>
              <a:gd name="T92" fmla="*/ 0 w 13"/>
              <a:gd name="T93" fmla="*/ 1718 h 2312"/>
              <a:gd name="T94" fmla="*/ 13 w 13"/>
              <a:gd name="T95" fmla="*/ 1770 h 2312"/>
              <a:gd name="T96" fmla="*/ 0 w 13"/>
              <a:gd name="T97" fmla="*/ 1810 h 2312"/>
              <a:gd name="T98" fmla="*/ 13 w 13"/>
              <a:gd name="T99" fmla="*/ 1823 h 2312"/>
              <a:gd name="T100" fmla="*/ 13 w 13"/>
              <a:gd name="T101" fmla="*/ 1889 h 2312"/>
              <a:gd name="T102" fmla="*/ 0 w 13"/>
              <a:gd name="T103" fmla="*/ 1902 h 2312"/>
              <a:gd name="T104" fmla="*/ 13 w 13"/>
              <a:gd name="T105" fmla="*/ 1955 h 2312"/>
              <a:gd name="T106" fmla="*/ 0 w 13"/>
              <a:gd name="T107" fmla="*/ 1995 h 2312"/>
              <a:gd name="T108" fmla="*/ 13 w 13"/>
              <a:gd name="T109" fmla="*/ 2008 h 2312"/>
              <a:gd name="T110" fmla="*/ 13 w 13"/>
              <a:gd name="T111" fmla="*/ 2074 h 2312"/>
              <a:gd name="T112" fmla="*/ 0 w 13"/>
              <a:gd name="T113" fmla="*/ 2088 h 2312"/>
              <a:gd name="T114" fmla="*/ 13 w 13"/>
              <a:gd name="T115" fmla="*/ 2140 h 2312"/>
              <a:gd name="T116" fmla="*/ 0 w 13"/>
              <a:gd name="T117" fmla="*/ 2180 h 2312"/>
              <a:gd name="T118" fmla="*/ 13 w 13"/>
              <a:gd name="T119" fmla="*/ 2193 h 2312"/>
              <a:gd name="T120" fmla="*/ 13 w 13"/>
              <a:gd name="T121" fmla="*/ 2259 h 2312"/>
              <a:gd name="T122" fmla="*/ 0 w 13"/>
              <a:gd name="T123" fmla="*/ 2272 h 23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13" h="2312">
                <a:moveTo>
                  <a:pt x="13" y="0"/>
                </a:moveTo>
                <a:lnTo>
                  <a:pt x="13" y="13"/>
                </a:lnTo>
                <a:lnTo>
                  <a:pt x="0" y="13"/>
                </a:lnTo>
                <a:lnTo>
                  <a:pt x="0" y="0"/>
                </a:lnTo>
                <a:lnTo>
                  <a:pt x="13" y="0"/>
                </a:lnTo>
                <a:close/>
                <a:moveTo>
                  <a:pt x="13" y="27"/>
                </a:moveTo>
                <a:lnTo>
                  <a:pt x="13" y="40"/>
                </a:lnTo>
                <a:lnTo>
                  <a:pt x="0" y="40"/>
                </a:lnTo>
                <a:lnTo>
                  <a:pt x="0" y="27"/>
                </a:lnTo>
                <a:lnTo>
                  <a:pt x="13" y="27"/>
                </a:lnTo>
                <a:close/>
                <a:moveTo>
                  <a:pt x="13" y="53"/>
                </a:moveTo>
                <a:lnTo>
                  <a:pt x="13" y="66"/>
                </a:lnTo>
                <a:lnTo>
                  <a:pt x="0" y="66"/>
                </a:lnTo>
                <a:lnTo>
                  <a:pt x="0" y="53"/>
                </a:lnTo>
                <a:lnTo>
                  <a:pt x="13" y="53"/>
                </a:lnTo>
                <a:close/>
                <a:moveTo>
                  <a:pt x="13" y="79"/>
                </a:moveTo>
                <a:lnTo>
                  <a:pt x="13" y="93"/>
                </a:lnTo>
                <a:lnTo>
                  <a:pt x="0" y="93"/>
                </a:lnTo>
                <a:lnTo>
                  <a:pt x="0" y="79"/>
                </a:lnTo>
                <a:lnTo>
                  <a:pt x="13" y="79"/>
                </a:lnTo>
                <a:close/>
                <a:moveTo>
                  <a:pt x="13" y="106"/>
                </a:moveTo>
                <a:lnTo>
                  <a:pt x="13" y="119"/>
                </a:lnTo>
                <a:lnTo>
                  <a:pt x="0" y="119"/>
                </a:lnTo>
                <a:lnTo>
                  <a:pt x="0" y="106"/>
                </a:lnTo>
                <a:lnTo>
                  <a:pt x="13" y="106"/>
                </a:lnTo>
                <a:close/>
                <a:moveTo>
                  <a:pt x="13" y="132"/>
                </a:moveTo>
                <a:lnTo>
                  <a:pt x="13" y="146"/>
                </a:lnTo>
                <a:lnTo>
                  <a:pt x="0" y="146"/>
                </a:lnTo>
                <a:lnTo>
                  <a:pt x="0" y="132"/>
                </a:lnTo>
                <a:lnTo>
                  <a:pt x="13" y="132"/>
                </a:lnTo>
                <a:close/>
                <a:moveTo>
                  <a:pt x="13" y="159"/>
                </a:moveTo>
                <a:lnTo>
                  <a:pt x="13" y="172"/>
                </a:lnTo>
                <a:lnTo>
                  <a:pt x="0" y="172"/>
                </a:lnTo>
                <a:lnTo>
                  <a:pt x="0" y="159"/>
                </a:lnTo>
                <a:lnTo>
                  <a:pt x="13" y="159"/>
                </a:lnTo>
                <a:close/>
                <a:moveTo>
                  <a:pt x="13" y="185"/>
                </a:moveTo>
                <a:lnTo>
                  <a:pt x="13" y="198"/>
                </a:lnTo>
                <a:lnTo>
                  <a:pt x="0" y="198"/>
                </a:lnTo>
                <a:lnTo>
                  <a:pt x="0" y="185"/>
                </a:lnTo>
                <a:lnTo>
                  <a:pt x="13" y="185"/>
                </a:lnTo>
                <a:close/>
                <a:moveTo>
                  <a:pt x="13" y="211"/>
                </a:moveTo>
                <a:lnTo>
                  <a:pt x="13" y="225"/>
                </a:lnTo>
                <a:lnTo>
                  <a:pt x="0" y="225"/>
                </a:lnTo>
                <a:lnTo>
                  <a:pt x="0" y="211"/>
                </a:lnTo>
                <a:lnTo>
                  <a:pt x="13" y="211"/>
                </a:lnTo>
                <a:close/>
                <a:moveTo>
                  <a:pt x="13" y="238"/>
                </a:moveTo>
                <a:lnTo>
                  <a:pt x="13" y="251"/>
                </a:lnTo>
                <a:lnTo>
                  <a:pt x="0" y="251"/>
                </a:lnTo>
                <a:lnTo>
                  <a:pt x="0" y="238"/>
                </a:lnTo>
                <a:lnTo>
                  <a:pt x="13" y="238"/>
                </a:lnTo>
                <a:close/>
                <a:moveTo>
                  <a:pt x="13" y="264"/>
                </a:moveTo>
                <a:lnTo>
                  <a:pt x="13" y="277"/>
                </a:lnTo>
                <a:lnTo>
                  <a:pt x="0" y="277"/>
                </a:lnTo>
                <a:lnTo>
                  <a:pt x="0" y="264"/>
                </a:lnTo>
                <a:lnTo>
                  <a:pt x="13" y="264"/>
                </a:lnTo>
                <a:close/>
                <a:moveTo>
                  <a:pt x="13" y="291"/>
                </a:moveTo>
                <a:lnTo>
                  <a:pt x="13" y="304"/>
                </a:lnTo>
                <a:lnTo>
                  <a:pt x="0" y="304"/>
                </a:lnTo>
                <a:lnTo>
                  <a:pt x="0" y="291"/>
                </a:lnTo>
                <a:lnTo>
                  <a:pt x="13" y="291"/>
                </a:lnTo>
                <a:close/>
                <a:moveTo>
                  <a:pt x="13" y="317"/>
                </a:moveTo>
                <a:lnTo>
                  <a:pt x="13" y="330"/>
                </a:lnTo>
                <a:lnTo>
                  <a:pt x="0" y="330"/>
                </a:lnTo>
                <a:lnTo>
                  <a:pt x="0" y="317"/>
                </a:lnTo>
                <a:lnTo>
                  <a:pt x="13" y="317"/>
                </a:lnTo>
                <a:close/>
                <a:moveTo>
                  <a:pt x="13" y="344"/>
                </a:moveTo>
                <a:lnTo>
                  <a:pt x="13" y="357"/>
                </a:lnTo>
                <a:lnTo>
                  <a:pt x="0" y="357"/>
                </a:lnTo>
                <a:lnTo>
                  <a:pt x="0" y="344"/>
                </a:lnTo>
                <a:lnTo>
                  <a:pt x="13" y="344"/>
                </a:lnTo>
                <a:close/>
                <a:moveTo>
                  <a:pt x="13" y="370"/>
                </a:moveTo>
                <a:lnTo>
                  <a:pt x="13" y="383"/>
                </a:lnTo>
                <a:lnTo>
                  <a:pt x="0" y="383"/>
                </a:lnTo>
                <a:lnTo>
                  <a:pt x="0" y="370"/>
                </a:lnTo>
                <a:lnTo>
                  <a:pt x="13" y="370"/>
                </a:lnTo>
                <a:close/>
                <a:moveTo>
                  <a:pt x="13" y="396"/>
                </a:moveTo>
                <a:lnTo>
                  <a:pt x="13" y="410"/>
                </a:lnTo>
                <a:lnTo>
                  <a:pt x="0" y="410"/>
                </a:lnTo>
                <a:lnTo>
                  <a:pt x="0" y="396"/>
                </a:lnTo>
                <a:lnTo>
                  <a:pt x="13" y="396"/>
                </a:lnTo>
                <a:close/>
                <a:moveTo>
                  <a:pt x="13" y="423"/>
                </a:moveTo>
                <a:lnTo>
                  <a:pt x="13" y="436"/>
                </a:lnTo>
                <a:lnTo>
                  <a:pt x="0" y="436"/>
                </a:lnTo>
                <a:lnTo>
                  <a:pt x="0" y="423"/>
                </a:lnTo>
                <a:lnTo>
                  <a:pt x="13" y="423"/>
                </a:lnTo>
                <a:close/>
                <a:moveTo>
                  <a:pt x="13" y="449"/>
                </a:moveTo>
                <a:lnTo>
                  <a:pt x="13" y="463"/>
                </a:lnTo>
                <a:lnTo>
                  <a:pt x="0" y="463"/>
                </a:lnTo>
                <a:lnTo>
                  <a:pt x="0" y="449"/>
                </a:lnTo>
                <a:lnTo>
                  <a:pt x="13" y="449"/>
                </a:lnTo>
                <a:close/>
                <a:moveTo>
                  <a:pt x="13" y="476"/>
                </a:moveTo>
                <a:lnTo>
                  <a:pt x="13" y="489"/>
                </a:lnTo>
                <a:lnTo>
                  <a:pt x="0" y="489"/>
                </a:lnTo>
                <a:lnTo>
                  <a:pt x="0" y="476"/>
                </a:lnTo>
                <a:lnTo>
                  <a:pt x="13" y="476"/>
                </a:lnTo>
                <a:close/>
                <a:moveTo>
                  <a:pt x="13" y="502"/>
                </a:moveTo>
                <a:lnTo>
                  <a:pt x="13" y="515"/>
                </a:lnTo>
                <a:lnTo>
                  <a:pt x="0" y="515"/>
                </a:lnTo>
                <a:lnTo>
                  <a:pt x="0" y="502"/>
                </a:lnTo>
                <a:lnTo>
                  <a:pt x="13" y="502"/>
                </a:lnTo>
                <a:close/>
                <a:moveTo>
                  <a:pt x="13" y="529"/>
                </a:moveTo>
                <a:lnTo>
                  <a:pt x="13" y="542"/>
                </a:lnTo>
                <a:lnTo>
                  <a:pt x="0" y="542"/>
                </a:lnTo>
                <a:lnTo>
                  <a:pt x="0" y="529"/>
                </a:lnTo>
                <a:lnTo>
                  <a:pt x="13" y="529"/>
                </a:lnTo>
                <a:close/>
                <a:moveTo>
                  <a:pt x="13" y="555"/>
                </a:moveTo>
                <a:lnTo>
                  <a:pt x="13" y="568"/>
                </a:lnTo>
                <a:lnTo>
                  <a:pt x="0" y="568"/>
                </a:lnTo>
                <a:lnTo>
                  <a:pt x="0" y="555"/>
                </a:lnTo>
                <a:lnTo>
                  <a:pt x="13" y="555"/>
                </a:lnTo>
                <a:close/>
                <a:moveTo>
                  <a:pt x="13" y="581"/>
                </a:moveTo>
                <a:lnTo>
                  <a:pt x="13" y="594"/>
                </a:lnTo>
                <a:lnTo>
                  <a:pt x="0" y="594"/>
                </a:lnTo>
                <a:lnTo>
                  <a:pt x="0" y="581"/>
                </a:lnTo>
                <a:lnTo>
                  <a:pt x="13" y="581"/>
                </a:lnTo>
                <a:close/>
                <a:moveTo>
                  <a:pt x="13" y="608"/>
                </a:moveTo>
                <a:lnTo>
                  <a:pt x="13" y="621"/>
                </a:lnTo>
                <a:lnTo>
                  <a:pt x="0" y="621"/>
                </a:lnTo>
                <a:lnTo>
                  <a:pt x="0" y="608"/>
                </a:lnTo>
                <a:lnTo>
                  <a:pt x="13" y="608"/>
                </a:lnTo>
                <a:close/>
                <a:moveTo>
                  <a:pt x="13" y="634"/>
                </a:moveTo>
                <a:lnTo>
                  <a:pt x="13" y="647"/>
                </a:lnTo>
                <a:lnTo>
                  <a:pt x="0" y="647"/>
                </a:lnTo>
                <a:lnTo>
                  <a:pt x="0" y="634"/>
                </a:lnTo>
                <a:lnTo>
                  <a:pt x="13" y="634"/>
                </a:lnTo>
                <a:close/>
                <a:moveTo>
                  <a:pt x="13" y="661"/>
                </a:moveTo>
                <a:lnTo>
                  <a:pt x="13" y="674"/>
                </a:lnTo>
                <a:lnTo>
                  <a:pt x="0" y="674"/>
                </a:lnTo>
                <a:lnTo>
                  <a:pt x="0" y="661"/>
                </a:lnTo>
                <a:lnTo>
                  <a:pt x="13" y="661"/>
                </a:lnTo>
                <a:close/>
                <a:moveTo>
                  <a:pt x="13" y="687"/>
                </a:moveTo>
                <a:lnTo>
                  <a:pt x="13" y="700"/>
                </a:lnTo>
                <a:lnTo>
                  <a:pt x="0" y="700"/>
                </a:lnTo>
                <a:lnTo>
                  <a:pt x="0" y="687"/>
                </a:lnTo>
                <a:lnTo>
                  <a:pt x="13" y="687"/>
                </a:lnTo>
                <a:close/>
                <a:moveTo>
                  <a:pt x="13" y="713"/>
                </a:moveTo>
                <a:lnTo>
                  <a:pt x="13" y="727"/>
                </a:lnTo>
                <a:lnTo>
                  <a:pt x="0" y="727"/>
                </a:lnTo>
                <a:lnTo>
                  <a:pt x="0" y="713"/>
                </a:lnTo>
                <a:lnTo>
                  <a:pt x="13" y="713"/>
                </a:lnTo>
                <a:close/>
                <a:moveTo>
                  <a:pt x="13" y="740"/>
                </a:moveTo>
                <a:lnTo>
                  <a:pt x="13" y="753"/>
                </a:lnTo>
                <a:lnTo>
                  <a:pt x="0" y="753"/>
                </a:lnTo>
                <a:lnTo>
                  <a:pt x="0" y="740"/>
                </a:lnTo>
                <a:lnTo>
                  <a:pt x="13" y="740"/>
                </a:lnTo>
                <a:close/>
                <a:moveTo>
                  <a:pt x="13" y="766"/>
                </a:moveTo>
                <a:lnTo>
                  <a:pt x="13" y="780"/>
                </a:lnTo>
                <a:lnTo>
                  <a:pt x="0" y="780"/>
                </a:lnTo>
                <a:lnTo>
                  <a:pt x="0" y="766"/>
                </a:lnTo>
                <a:lnTo>
                  <a:pt x="13" y="766"/>
                </a:lnTo>
                <a:close/>
                <a:moveTo>
                  <a:pt x="13" y="793"/>
                </a:moveTo>
                <a:lnTo>
                  <a:pt x="13" y="806"/>
                </a:lnTo>
                <a:lnTo>
                  <a:pt x="0" y="806"/>
                </a:lnTo>
                <a:lnTo>
                  <a:pt x="0" y="793"/>
                </a:lnTo>
                <a:lnTo>
                  <a:pt x="13" y="793"/>
                </a:lnTo>
                <a:close/>
                <a:moveTo>
                  <a:pt x="13" y="819"/>
                </a:moveTo>
                <a:lnTo>
                  <a:pt x="13" y="832"/>
                </a:lnTo>
                <a:lnTo>
                  <a:pt x="0" y="832"/>
                </a:lnTo>
                <a:lnTo>
                  <a:pt x="0" y="819"/>
                </a:lnTo>
                <a:lnTo>
                  <a:pt x="13" y="819"/>
                </a:lnTo>
                <a:close/>
                <a:moveTo>
                  <a:pt x="13" y="846"/>
                </a:moveTo>
                <a:lnTo>
                  <a:pt x="13" y="859"/>
                </a:lnTo>
                <a:lnTo>
                  <a:pt x="0" y="859"/>
                </a:lnTo>
                <a:lnTo>
                  <a:pt x="0" y="846"/>
                </a:lnTo>
                <a:lnTo>
                  <a:pt x="13" y="846"/>
                </a:lnTo>
                <a:close/>
                <a:moveTo>
                  <a:pt x="13" y="872"/>
                </a:moveTo>
                <a:lnTo>
                  <a:pt x="13" y="885"/>
                </a:lnTo>
                <a:lnTo>
                  <a:pt x="0" y="885"/>
                </a:lnTo>
                <a:lnTo>
                  <a:pt x="0" y="872"/>
                </a:lnTo>
                <a:lnTo>
                  <a:pt x="13" y="872"/>
                </a:lnTo>
                <a:close/>
                <a:moveTo>
                  <a:pt x="13" y="899"/>
                </a:moveTo>
                <a:lnTo>
                  <a:pt x="13" y="912"/>
                </a:lnTo>
                <a:lnTo>
                  <a:pt x="0" y="912"/>
                </a:lnTo>
                <a:lnTo>
                  <a:pt x="0" y="899"/>
                </a:lnTo>
                <a:lnTo>
                  <a:pt x="13" y="899"/>
                </a:lnTo>
                <a:close/>
                <a:moveTo>
                  <a:pt x="13" y="925"/>
                </a:moveTo>
                <a:lnTo>
                  <a:pt x="13" y="938"/>
                </a:lnTo>
                <a:lnTo>
                  <a:pt x="0" y="938"/>
                </a:lnTo>
                <a:lnTo>
                  <a:pt x="0" y="925"/>
                </a:lnTo>
                <a:lnTo>
                  <a:pt x="13" y="925"/>
                </a:lnTo>
                <a:close/>
                <a:moveTo>
                  <a:pt x="13" y="951"/>
                </a:moveTo>
                <a:lnTo>
                  <a:pt x="13" y="965"/>
                </a:lnTo>
                <a:lnTo>
                  <a:pt x="0" y="965"/>
                </a:lnTo>
                <a:lnTo>
                  <a:pt x="0" y="951"/>
                </a:lnTo>
                <a:lnTo>
                  <a:pt x="13" y="951"/>
                </a:lnTo>
                <a:close/>
                <a:moveTo>
                  <a:pt x="13" y="978"/>
                </a:moveTo>
                <a:lnTo>
                  <a:pt x="13" y="991"/>
                </a:lnTo>
                <a:lnTo>
                  <a:pt x="0" y="991"/>
                </a:lnTo>
                <a:lnTo>
                  <a:pt x="0" y="978"/>
                </a:lnTo>
                <a:lnTo>
                  <a:pt x="13" y="978"/>
                </a:lnTo>
                <a:close/>
                <a:moveTo>
                  <a:pt x="13" y="1004"/>
                </a:moveTo>
                <a:lnTo>
                  <a:pt x="13" y="1017"/>
                </a:lnTo>
                <a:lnTo>
                  <a:pt x="0" y="1017"/>
                </a:lnTo>
                <a:lnTo>
                  <a:pt x="0" y="1004"/>
                </a:lnTo>
                <a:lnTo>
                  <a:pt x="13" y="1004"/>
                </a:lnTo>
                <a:close/>
                <a:moveTo>
                  <a:pt x="13" y="1030"/>
                </a:moveTo>
                <a:lnTo>
                  <a:pt x="13" y="1044"/>
                </a:lnTo>
                <a:lnTo>
                  <a:pt x="0" y="1044"/>
                </a:lnTo>
                <a:lnTo>
                  <a:pt x="0" y="1030"/>
                </a:lnTo>
                <a:lnTo>
                  <a:pt x="13" y="1030"/>
                </a:lnTo>
                <a:close/>
                <a:moveTo>
                  <a:pt x="13" y="1057"/>
                </a:moveTo>
                <a:lnTo>
                  <a:pt x="13" y="1070"/>
                </a:lnTo>
                <a:lnTo>
                  <a:pt x="0" y="1070"/>
                </a:lnTo>
                <a:lnTo>
                  <a:pt x="0" y="1057"/>
                </a:lnTo>
                <a:lnTo>
                  <a:pt x="13" y="1057"/>
                </a:lnTo>
                <a:close/>
                <a:moveTo>
                  <a:pt x="13" y="1083"/>
                </a:moveTo>
                <a:lnTo>
                  <a:pt x="13" y="1097"/>
                </a:lnTo>
                <a:lnTo>
                  <a:pt x="0" y="1097"/>
                </a:lnTo>
                <a:lnTo>
                  <a:pt x="0" y="1083"/>
                </a:lnTo>
                <a:lnTo>
                  <a:pt x="13" y="1083"/>
                </a:lnTo>
                <a:close/>
                <a:moveTo>
                  <a:pt x="13" y="1110"/>
                </a:moveTo>
                <a:lnTo>
                  <a:pt x="13" y="1123"/>
                </a:lnTo>
                <a:lnTo>
                  <a:pt x="0" y="1123"/>
                </a:lnTo>
                <a:lnTo>
                  <a:pt x="0" y="1110"/>
                </a:lnTo>
                <a:lnTo>
                  <a:pt x="13" y="1110"/>
                </a:lnTo>
                <a:close/>
                <a:moveTo>
                  <a:pt x="13" y="1136"/>
                </a:moveTo>
                <a:lnTo>
                  <a:pt x="13" y="1149"/>
                </a:lnTo>
                <a:lnTo>
                  <a:pt x="0" y="1149"/>
                </a:lnTo>
                <a:lnTo>
                  <a:pt x="0" y="1136"/>
                </a:lnTo>
                <a:lnTo>
                  <a:pt x="13" y="1136"/>
                </a:lnTo>
                <a:close/>
                <a:moveTo>
                  <a:pt x="13" y="1163"/>
                </a:moveTo>
                <a:lnTo>
                  <a:pt x="13" y="1176"/>
                </a:lnTo>
                <a:lnTo>
                  <a:pt x="0" y="1176"/>
                </a:lnTo>
                <a:lnTo>
                  <a:pt x="0" y="1163"/>
                </a:lnTo>
                <a:lnTo>
                  <a:pt x="13" y="1163"/>
                </a:lnTo>
                <a:close/>
                <a:moveTo>
                  <a:pt x="13" y="1189"/>
                </a:moveTo>
                <a:lnTo>
                  <a:pt x="13" y="1202"/>
                </a:lnTo>
                <a:lnTo>
                  <a:pt x="0" y="1202"/>
                </a:lnTo>
                <a:lnTo>
                  <a:pt x="0" y="1189"/>
                </a:lnTo>
                <a:lnTo>
                  <a:pt x="13" y="1189"/>
                </a:lnTo>
                <a:close/>
                <a:moveTo>
                  <a:pt x="13" y="1216"/>
                </a:moveTo>
                <a:lnTo>
                  <a:pt x="13" y="1229"/>
                </a:lnTo>
                <a:lnTo>
                  <a:pt x="0" y="1229"/>
                </a:lnTo>
                <a:lnTo>
                  <a:pt x="0" y="1216"/>
                </a:lnTo>
                <a:lnTo>
                  <a:pt x="13" y="1216"/>
                </a:lnTo>
                <a:close/>
                <a:moveTo>
                  <a:pt x="13" y="1242"/>
                </a:moveTo>
                <a:lnTo>
                  <a:pt x="13" y="1255"/>
                </a:lnTo>
                <a:lnTo>
                  <a:pt x="0" y="1255"/>
                </a:lnTo>
                <a:lnTo>
                  <a:pt x="0" y="1242"/>
                </a:lnTo>
                <a:lnTo>
                  <a:pt x="13" y="1242"/>
                </a:lnTo>
                <a:close/>
                <a:moveTo>
                  <a:pt x="13" y="1268"/>
                </a:moveTo>
                <a:lnTo>
                  <a:pt x="13" y="1282"/>
                </a:lnTo>
                <a:lnTo>
                  <a:pt x="0" y="1282"/>
                </a:lnTo>
                <a:lnTo>
                  <a:pt x="0" y="1268"/>
                </a:lnTo>
                <a:lnTo>
                  <a:pt x="13" y="1268"/>
                </a:lnTo>
                <a:close/>
                <a:moveTo>
                  <a:pt x="13" y="1295"/>
                </a:moveTo>
                <a:lnTo>
                  <a:pt x="13" y="1308"/>
                </a:lnTo>
                <a:lnTo>
                  <a:pt x="0" y="1308"/>
                </a:lnTo>
                <a:lnTo>
                  <a:pt x="0" y="1295"/>
                </a:lnTo>
                <a:lnTo>
                  <a:pt x="13" y="1295"/>
                </a:lnTo>
                <a:close/>
                <a:moveTo>
                  <a:pt x="13" y="1321"/>
                </a:moveTo>
                <a:lnTo>
                  <a:pt x="13" y="1335"/>
                </a:lnTo>
                <a:lnTo>
                  <a:pt x="0" y="1335"/>
                </a:lnTo>
                <a:lnTo>
                  <a:pt x="0" y="1321"/>
                </a:lnTo>
                <a:lnTo>
                  <a:pt x="13" y="1321"/>
                </a:lnTo>
                <a:close/>
                <a:moveTo>
                  <a:pt x="13" y="1348"/>
                </a:moveTo>
                <a:lnTo>
                  <a:pt x="13" y="1361"/>
                </a:lnTo>
                <a:lnTo>
                  <a:pt x="0" y="1361"/>
                </a:lnTo>
                <a:lnTo>
                  <a:pt x="0" y="1348"/>
                </a:lnTo>
                <a:lnTo>
                  <a:pt x="13" y="1348"/>
                </a:lnTo>
                <a:close/>
                <a:moveTo>
                  <a:pt x="13" y="1374"/>
                </a:moveTo>
                <a:lnTo>
                  <a:pt x="13" y="1387"/>
                </a:lnTo>
                <a:lnTo>
                  <a:pt x="0" y="1387"/>
                </a:lnTo>
                <a:lnTo>
                  <a:pt x="0" y="1374"/>
                </a:lnTo>
                <a:lnTo>
                  <a:pt x="13" y="1374"/>
                </a:lnTo>
                <a:close/>
                <a:moveTo>
                  <a:pt x="13" y="1400"/>
                </a:moveTo>
                <a:lnTo>
                  <a:pt x="13" y="1414"/>
                </a:lnTo>
                <a:lnTo>
                  <a:pt x="0" y="1414"/>
                </a:lnTo>
                <a:lnTo>
                  <a:pt x="0" y="1400"/>
                </a:lnTo>
                <a:lnTo>
                  <a:pt x="13" y="1400"/>
                </a:lnTo>
                <a:close/>
                <a:moveTo>
                  <a:pt x="13" y="1427"/>
                </a:moveTo>
                <a:lnTo>
                  <a:pt x="13" y="1440"/>
                </a:lnTo>
                <a:lnTo>
                  <a:pt x="0" y="1440"/>
                </a:lnTo>
                <a:lnTo>
                  <a:pt x="0" y="1427"/>
                </a:lnTo>
                <a:lnTo>
                  <a:pt x="13" y="1427"/>
                </a:lnTo>
                <a:close/>
                <a:moveTo>
                  <a:pt x="13" y="1453"/>
                </a:moveTo>
                <a:lnTo>
                  <a:pt x="13" y="1466"/>
                </a:lnTo>
                <a:lnTo>
                  <a:pt x="0" y="1466"/>
                </a:lnTo>
                <a:lnTo>
                  <a:pt x="0" y="1453"/>
                </a:lnTo>
                <a:lnTo>
                  <a:pt x="13" y="1453"/>
                </a:lnTo>
                <a:close/>
                <a:moveTo>
                  <a:pt x="13" y="1480"/>
                </a:moveTo>
                <a:lnTo>
                  <a:pt x="13" y="1493"/>
                </a:lnTo>
                <a:lnTo>
                  <a:pt x="0" y="1493"/>
                </a:lnTo>
                <a:lnTo>
                  <a:pt x="0" y="1480"/>
                </a:lnTo>
                <a:lnTo>
                  <a:pt x="13" y="1480"/>
                </a:lnTo>
                <a:close/>
                <a:moveTo>
                  <a:pt x="13" y="1506"/>
                </a:moveTo>
                <a:lnTo>
                  <a:pt x="13" y="1519"/>
                </a:lnTo>
                <a:lnTo>
                  <a:pt x="0" y="1519"/>
                </a:lnTo>
                <a:lnTo>
                  <a:pt x="0" y="1506"/>
                </a:lnTo>
                <a:lnTo>
                  <a:pt x="13" y="1506"/>
                </a:lnTo>
                <a:close/>
                <a:moveTo>
                  <a:pt x="13" y="1533"/>
                </a:moveTo>
                <a:lnTo>
                  <a:pt x="13" y="1546"/>
                </a:lnTo>
                <a:lnTo>
                  <a:pt x="0" y="1546"/>
                </a:lnTo>
                <a:lnTo>
                  <a:pt x="0" y="1533"/>
                </a:lnTo>
                <a:lnTo>
                  <a:pt x="13" y="1533"/>
                </a:lnTo>
                <a:close/>
                <a:moveTo>
                  <a:pt x="13" y="1559"/>
                </a:moveTo>
                <a:lnTo>
                  <a:pt x="13" y="1572"/>
                </a:lnTo>
                <a:lnTo>
                  <a:pt x="0" y="1572"/>
                </a:lnTo>
                <a:lnTo>
                  <a:pt x="0" y="1559"/>
                </a:lnTo>
                <a:lnTo>
                  <a:pt x="13" y="1559"/>
                </a:lnTo>
                <a:close/>
                <a:moveTo>
                  <a:pt x="13" y="1585"/>
                </a:moveTo>
                <a:lnTo>
                  <a:pt x="13" y="1599"/>
                </a:lnTo>
                <a:lnTo>
                  <a:pt x="0" y="1599"/>
                </a:lnTo>
                <a:lnTo>
                  <a:pt x="0" y="1585"/>
                </a:lnTo>
                <a:lnTo>
                  <a:pt x="13" y="1585"/>
                </a:lnTo>
                <a:close/>
                <a:moveTo>
                  <a:pt x="13" y="1612"/>
                </a:moveTo>
                <a:lnTo>
                  <a:pt x="13" y="1625"/>
                </a:lnTo>
                <a:lnTo>
                  <a:pt x="0" y="1625"/>
                </a:lnTo>
                <a:lnTo>
                  <a:pt x="0" y="1612"/>
                </a:lnTo>
                <a:lnTo>
                  <a:pt x="13" y="1612"/>
                </a:lnTo>
                <a:close/>
                <a:moveTo>
                  <a:pt x="13" y="1638"/>
                </a:moveTo>
                <a:lnTo>
                  <a:pt x="13" y="1652"/>
                </a:lnTo>
                <a:lnTo>
                  <a:pt x="0" y="1652"/>
                </a:lnTo>
                <a:lnTo>
                  <a:pt x="0" y="1638"/>
                </a:lnTo>
                <a:lnTo>
                  <a:pt x="13" y="1638"/>
                </a:lnTo>
                <a:close/>
                <a:moveTo>
                  <a:pt x="13" y="1665"/>
                </a:moveTo>
                <a:lnTo>
                  <a:pt x="13" y="1678"/>
                </a:lnTo>
                <a:lnTo>
                  <a:pt x="0" y="1678"/>
                </a:lnTo>
                <a:lnTo>
                  <a:pt x="0" y="1665"/>
                </a:lnTo>
                <a:lnTo>
                  <a:pt x="13" y="1665"/>
                </a:lnTo>
                <a:close/>
                <a:moveTo>
                  <a:pt x="13" y="1691"/>
                </a:moveTo>
                <a:lnTo>
                  <a:pt x="13" y="1704"/>
                </a:lnTo>
                <a:lnTo>
                  <a:pt x="0" y="1704"/>
                </a:lnTo>
                <a:lnTo>
                  <a:pt x="0" y="1691"/>
                </a:lnTo>
                <a:lnTo>
                  <a:pt x="13" y="1691"/>
                </a:lnTo>
                <a:close/>
                <a:moveTo>
                  <a:pt x="13" y="1718"/>
                </a:moveTo>
                <a:lnTo>
                  <a:pt x="13" y="1731"/>
                </a:lnTo>
                <a:lnTo>
                  <a:pt x="0" y="1731"/>
                </a:lnTo>
                <a:lnTo>
                  <a:pt x="0" y="1718"/>
                </a:lnTo>
                <a:lnTo>
                  <a:pt x="13" y="1718"/>
                </a:lnTo>
                <a:close/>
                <a:moveTo>
                  <a:pt x="13" y="1744"/>
                </a:moveTo>
                <a:lnTo>
                  <a:pt x="13" y="1757"/>
                </a:lnTo>
                <a:lnTo>
                  <a:pt x="0" y="1757"/>
                </a:lnTo>
                <a:lnTo>
                  <a:pt x="0" y="1744"/>
                </a:lnTo>
                <a:lnTo>
                  <a:pt x="13" y="1744"/>
                </a:lnTo>
                <a:close/>
                <a:moveTo>
                  <a:pt x="13" y="1770"/>
                </a:moveTo>
                <a:lnTo>
                  <a:pt x="13" y="1783"/>
                </a:lnTo>
                <a:lnTo>
                  <a:pt x="0" y="1783"/>
                </a:lnTo>
                <a:lnTo>
                  <a:pt x="0" y="1770"/>
                </a:lnTo>
                <a:lnTo>
                  <a:pt x="13" y="1770"/>
                </a:lnTo>
                <a:close/>
                <a:moveTo>
                  <a:pt x="13" y="1797"/>
                </a:moveTo>
                <a:lnTo>
                  <a:pt x="13" y="1810"/>
                </a:lnTo>
                <a:lnTo>
                  <a:pt x="0" y="1810"/>
                </a:lnTo>
                <a:lnTo>
                  <a:pt x="0" y="1797"/>
                </a:lnTo>
                <a:lnTo>
                  <a:pt x="13" y="1797"/>
                </a:lnTo>
                <a:close/>
                <a:moveTo>
                  <a:pt x="13" y="1823"/>
                </a:moveTo>
                <a:lnTo>
                  <a:pt x="13" y="1836"/>
                </a:lnTo>
                <a:lnTo>
                  <a:pt x="0" y="1836"/>
                </a:lnTo>
                <a:lnTo>
                  <a:pt x="0" y="1823"/>
                </a:lnTo>
                <a:lnTo>
                  <a:pt x="13" y="1823"/>
                </a:lnTo>
                <a:close/>
                <a:moveTo>
                  <a:pt x="13" y="1850"/>
                </a:moveTo>
                <a:lnTo>
                  <a:pt x="13" y="1863"/>
                </a:lnTo>
                <a:lnTo>
                  <a:pt x="0" y="1863"/>
                </a:lnTo>
                <a:lnTo>
                  <a:pt x="0" y="1850"/>
                </a:lnTo>
                <a:lnTo>
                  <a:pt x="13" y="1850"/>
                </a:lnTo>
                <a:close/>
                <a:moveTo>
                  <a:pt x="13" y="1876"/>
                </a:moveTo>
                <a:lnTo>
                  <a:pt x="13" y="1889"/>
                </a:lnTo>
                <a:lnTo>
                  <a:pt x="0" y="1889"/>
                </a:lnTo>
                <a:lnTo>
                  <a:pt x="0" y="1876"/>
                </a:lnTo>
                <a:lnTo>
                  <a:pt x="13" y="1876"/>
                </a:lnTo>
                <a:close/>
                <a:moveTo>
                  <a:pt x="13" y="1902"/>
                </a:moveTo>
                <a:lnTo>
                  <a:pt x="13" y="1916"/>
                </a:lnTo>
                <a:lnTo>
                  <a:pt x="0" y="1916"/>
                </a:lnTo>
                <a:lnTo>
                  <a:pt x="0" y="1902"/>
                </a:lnTo>
                <a:lnTo>
                  <a:pt x="13" y="1902"/>
                </a:lnTo>
                <a:close/>
                <a:moveTo>
                  <a:pt x="13" y="1929"/>
                </a:moveTo>
                <a:lnTo>
                  <a:pt x="13" y="1942"/>
                </a:lnTo>
                <a:lnTo>
                  <a:pt x="0" y="1942"/>
                </a:lnTo>
                <a:lnTo>
                  <a:pt x="0" y="1929"/>
                </a:lnTo>
                <a:lnTo>
                  <a:pt x="13" y="1929"/>
                </a:lnTo>
                <a:close/>
                <a:moveTo>
                  <a:pt x="13" y="1955"/>
                </a:moveTo>
                <a:lnTo>
                  <a:pt x="13" y="1969"/>
                </a:lnTo>
                <a:lnTo>
                  <a:pt x="0" y="1969"/>
                </a:lnTo>
                <a:lnTo>
                  <a:pt x="0" y="1955"/>
                </a:lnTo>
                <a:lnTo>
                  <a:pt x="13" y="1955"/>
                </a:lnTo>
                <a:close/>
                <a:moveTo>
                  <a:pt x="13" y="1982"/>
                </a:moveTo>
                <a:lnTo>
                  <a:pt x="13" y="1995"/>
                </a:lnTo>
                <a:lnTo>
                  <a:pt x="0" y="1995"/>
                </a:lnTo>
                <a:lnTo>
                  <a:pt x="0" y="1982"/>
                </a:lnTo>
                <a:lnTo>
                  <a:pt x="13" y="1982"/>
                </a:lnTo>
                <a:close/>
                <a:moveTo>
                  <a:pt x="13" y="2008"/>
                </a:moveTo>
                <a:lnTo>
                  <a:pt x="13" y="2021"/>
                </a:lnTo>
                <a:lnTo>
                  <a:pt x="0" y="2021"/>
                </a:lnTo>
                <a:lnTo>
                  <a:pt x="0" y="2008"/>
                </a:lnTo>
                <a:lnTo>
                  <a:pt x="13" y="2008"/>
                </a:lnTo>
                <a:close/>
                <a:moveTo>
                  <a:pt x="13" y="2035"/>
                </a:moveTo>
                <a:lnTo>
                  <a:pt x="13" y="2048"/>
                </a:lnTo>
                <a:lnTo>
                  <a:pt x="0" y="2048"/>
                </a:lnTo>
                <a:lnTo>
                  <a:pt x="0" y="2035"/>
                </a:lnTo>
                <a:lnTo>
                  <a:pt x="13" y="2035"/>
                </a:lnTo>
                <a:close/>
                <a:moveTo>
                  <a:pt x="13" y="2061"/>
                </a:moveTo>
                <a:lnTo>
                  <a:pt x="13" y="2074"/>
                </a:lnTo>
                <a:lnTo>
                  <a:pt x="0" y="2074"/>
                </a:lnTo>
                <a:lnTo>
                  <a:pt x="0" y="2061"/>
                </a:lnTo>
                <a:lnTo>
                  <a:pt x="13" y="2061"/>
                </a:lnTo>
                <a:close/>
                <a:moveTo>
                  <a:pt x="13" y="2088"/>
                </a:moveTo>
                <a:lnTo>
                  <a:pt x="13" y="2101"/>
                </a:lnTo>
                <a:lnTo>
                  <a:pt x="0" y="2101"/>
                </a:lnTo>
                <a:lnTo>
                  <a:pt x="0" y="2088"/>
                </a:lnTo>
                <a:lnTo>
                  <a:pt x="13" y="2088"/>
                </a:lnTo>
                <a:close/>
                <a:moveTo>
                  <a:pt x="13" y="2114"/>
                </a:moveTo>
                <a:lnTo>
                  <a:pt x="13" y="2127"/>
                </a:lnTo>
                <a:lnTo>
                  <a:pt x="0" y="2127"/>
                </a:lnTo>
                <a:lnTo>
                  <a:pt x="0" y="2114"/>
                </a:lnTo>
                <a:lnTo>
                  <a:pt x="13" y="2114"/>
                </a:lnTo>
                <a:close/>
                <a:moveTo>
                  <a:pt x="13" y="2140"/>
                </a:moveTo>
                <a:lnTo>
                  <a:pt x="13" y="2153"/>
                </a:lnTo>
                <a:lnTo>
                  <a:pt x="0" y="2153"/>
                </a:lnTo>
                <a:lnTo>
                  <a:pt x="0" y="2140"/>
                </a:lnTo>
                <a:lnTo>
                  <a:pt x="13" y="2140"/>
                </a:lnTo>
                <a:close/>
                <a:moveTo>
                  <a:pt x="13" y="2167"/>
                </a:moveTo>
                <a:lnTo>
                  <a:pt x="13" y="2180"/>
                </a:lnTo>
                <a:lnTo>
                  <a:pt x="0" y="2180"/>
                </a:lnTo>
                <a:lnTo>
                  <a:pt x="0" y="2167"/>
                </a:lnTo>
                <a:lnTo>
                  <a:pt x="13" y="2167"/>
                </a:lnTo>
                <a:close/>
                <a:moveTo>
                  <a:pt x="13" y="2193"/>
                </a:moveTo>
                <a:lnTo>
                  <a:pt x="13" y="2206"/>
                </a:lnTo>
                <a:lnTo>
                  <a:pt x="0" y="2206"/>
                </a:lnTo>
                <a:lnTo>
                  <a:pt x="0" y="2193"/>
                </a:lnTo>
                <a:lnTo>
                  <a:pt x="13" y="2193"/>
                </a:lnTo>
                <a:close/>
                <a:moveTo>
                  <a:pt x="13" y="2219"/>
                </a:moveTo>
                <a:lnTo>
                  <a:pt x="13" y="2233"/>
                </a:lnTo>
                <a:lnTo>
                  <a:pt x="0" y="2233"/>
                </a:lnTo>
                <a:lnTo>
                  <a:pt x="0" y="2219"/>
                </a:lnTo>
                <a:lnTo>
                  <a:pt x="13" y="2219"/>
                </a:lnTo>
                <a:close/>
                <a:moveTo>
                  <a:pt x="13" y="2246"/>
                </a:moveTo>
                <a:lnTo>
                  <a:pt x="13" y="2259"/>
                </a:lnTo>
                <a:lnTo>
                  <a:pt x="0" y="2259"/>
                </a:lnTo>
                <a:lnTo>
                  <a:pt x="0" y="2246"/>
                </a:lnTo>
                <a:lnTo>
                  <a:pt x="13" y="2246"/>
                </a:lnTo>
                <a:close/>
                <a:moveTo>
                  <a:pt x="13" y="2272"/>
                </a:moveTo>
                <a:lnTo>
                  <a:pt x="13" y="2286"/>
                </a:lnTo>
                <a:lnTo>
                  <a:pt x="0" y="2286"/>
                </a:lnTo>
                <a:lnTo>
                  <a:pt x="0" y="2272"/>
                </a:lnTo>
                <a:lnTo>
                  <a:pt x="13" y="2272"/>
                </a:lnTo>
                <a:close/>
                <a:moveTo>
                  <a:pt x="13" y="2299"/>
                </a:moveTo>
                <a:lnTo>
                  <a:pt x="13" y="2312"/>
                </a:lnTo>
                <a:lnTo>
                  <a:pt x="0" y="2312"/>
                </a:lnTo>
                <a:lnTo>
                  <a:pt x="0" y="2299"/>
                </a:lnTo>
                <a:lnTo>
                  <a:pt x="13" y="2299"/>
                </a:lnTo>
                <a:close/>
              </a:path>
            </a:pathLst>
          </a:custGeom>
          <a:solidFill>
            <a:srgbClr val="000000"/>
          </a:solidFill>
          <a:ln w="0" cap="flat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96" name="Freeform 93">
            <a:extLst>
              <a:ext uri="{FF2B5EF4-FFF2-40B4-BE49-F238E27FC236}">
                <a16:creationId xmlns:a16="http://schemas.microsoft.com/office/drawing/2014/main" id="{B1FD85E6-ED21-4CC6-90A1-FCF05A26A939}"/>
              </a:ext>
            </a:extLst>
          </p:cNvPr>
          <p:cNvSpPr>
            <a:spLocks noEditPoints="1"/>
          </p:cNvSpPr>
          <p:nvPr/>
        </p:nvSpPr>
        <p:spPr bwMode="auto">
          <a:xfrm>
            <a:off x="6745288" y="2357438"/>
            <a:ext cx="20638" cy="3670300"/>
          </a:xfrm>
          <a:custGeom>
            <a:avLst/>
            <a:gdLst>
              <a:gd name="T0" fmla="*/ 13 w 13"/>
              <a:gd name="T1" fmla="*/ 40 h 2312"/>
              <a:gd name="T2" fmla="*/ 0 w 13"/>
              <a:gd name="T3" fmla="*/ 53 h 2312"/>
              <a:gd name="T4" fmla="*/ 13 w 13"/>
              <a:gd name="T5" fmla="*/ 106 h 2312"/>
              <a:gd name="T6" fmla="*/ 0 w 13"/>
              <a:gd name="T7" fmla="*/ 146 h 2312"/>
              <a:gd name="T8" fmla="*/ 13 w 13"/>
              <a:gd name="T9" fmla="*/ 159 h 2312"/>
              <a:gd name="T10" fmla="*/ 13 w 13"/>
              <a:gd name="T11" fmla="*/ 225 h 2312"/>
              <a:gd name="T12" fmla="*/ 0 w 13"/>
              <a:gd name="T13" fmla="*/ 238 h 2312"/>
              <a:gd name="T14" fmla="*/ 13 w 13"/>
              <a:gd name="T15" fmla="*/ 291 h 2312"/>
              <a:gd name="T16" fmla="*/ 0 w 13"/>
              <a:gd name="T17" fmla="*/ 330 h 2312"/>
              <a:gd name="T18" fmla="*/ 13 w 13"/>
              <a:gd name="T19" fmla="*/ 344 h 2312"/>
              <a:gd name="T20" fmla="*/ 13 w 13"/>
              <a:gd name="T21" fmla="*/ 410 h 2312"/>
              <a:gd name="T22" fmla="*/ 0 w 13"/>
              <a:gd name="T23" fmla="*/ 423 h 2312"/>
              <a:gd name="T24" fmla="*/ 13 w 13"/>
              <a:gd name="T25" fmla="*/ 476 h 2312"/>
              <a:gd name="T26" fmla="*/ 0 w 13"/>
              <a:gd name="T27" fmla="*/ 515 h 2312"/>
              <a:gd name="T28" fmla="*/ 13 w 13"/>
              <a:gd name="T29" fmla="*/ 529 h 2312"/>
              <a:gd name="T30" fmla="*/ 13 w 13"/>
              <a:gd name="T31" fmla="*/ 594 h 2312"/>
              <a:gd name="T32" fmla="*/ 0 w 13"/>
              <a:gd name="T33" fmla="*/ 608 h 2312"/>
              <a:gd name="T34" fmla="*/ 13 w 13"/>
              <a:gd name="T35" fmla="*/ 661 h 2312"/>
              <a:gd name="T36" fmla="*/ 0 w 13"/>
              <a:gd name="T37" fmla="*/ 700 h 2312"/>
              <a:gd name="T38" fmla="*/ 13 w 13"/>
              <a:gd name="T39" fmla="*/ 713 h 2312"/>
              <a:gd name="T40" fmla="*/ 13 w 13"/>
              <a:gd name="T41" fmla="*/ 780 h 2312"/>
              <a:gd name="T42" fmla="*/ 0 w 13"/>
              <a:gd name="T43" fmla="*/ 793 h 2312"/>
              <a:gd name="T44" fmla="*/ 13 w 13"/>
              <a:gd name="T45" fmla="*/ 846 h 2312"/>
              <a:gd name="T46" fmla="*/ 0 w 13"/>
              <a:gd name="T47" fmla="*/ 885 h 2312"/>
              <a:gd name="T48" fmla="*/ 13 w 13"/>
              <a:gd name="T49" fmla="*/ 899 h 2312"/>
              <a:gd name="T50" fmla="*/ 13 w 13"/>
              <a:gd name="T51" fmla="*/ 965 h 2312"/>
              <a:gd name="T52" fmla="*/ 0 w 13"/>
              <a:gd name="T53" fmla="*/ 978 h 2312"/>
              <a:gd name="T54" fmla="*/ 13 w 13"/>
              <a:gd name="T55" fmla="*/ 1030 h 2312"/>
              <a:gd name="T56" fmla="*/ 0 w 13"/>
              <a:gd name="T57" fmla="*/ 1070 h 2312"/>
              <a:gd name="T58" fmla="*/ 13 w 13"/>
              <a:gd name="T59" fmla="*/ 1083 h 2312"/>
              <a:gd name="T60" fmla="*/ 13 w 13"/>
              <a:gd name="T61" fmla="*/ 1149 h 2312"/>
              <a:gd name="T62" fmla="*/ 0 w 13"/>
              <a:gd name="T63" fmla="*/ 1163 h 2312"/>
              <a:gd name="T64" fmla="*/ 13 w 13"/>
              <a:gd name="T65" fmla="*/ 1216 h 2312"/>
              <a:gd name="T66" fmla="*/ 0 w 13"/>
              <a:gd name="T67" fmla="*/ 1255 h 2312"/>
              <a:gd name="T68" fmla="*/ 13 w 13"/>
              <a:gd name="T69" fmla="*/ 1268 h 2312"/>
              <a:gd name="T70" fmla="*/ 13 w 13"/>
              <a:gd name="T71" fmla="*/ 1335 h 2312"/>
              <a:gd name="T72" fmla="*/ 0 w 13"/>
              <a:gd name="T73" fmla="*/ 1348 h 2312"/>
              <a:gd name="T74" fmla="*/ 13 w 13"/>
              <a:gd name="T75" fmla="*/ 1400 h 2312"/>
              <a:gd name="T76" fmla="*/ 0 w 13"/>
              <a:gd name="T77" fmla="*/ 1440 h 2312"/>
              <a:gd name="T78" fmla="*/ 13 w 13"/>
              <a:gd name="T79" fmla="*/ 1453 h 2312"/>
              <a:gd name="T80" fmla="*/ 13 w 13"/>
              <a:gd name="T81" fmla="*/ 1519 h 2312"/>
              <a:gd name="T82" fmla="*/ 0 w 13"/>
              <a:gd name="T83" fmla="*/ 1533 h 2312"/>
              <a:gd name="T84" fmla="*/ 13 w 13"/>
              <a:gd name="T85" fmla="*/ 1585 h 2312"/>
              <a:gd name="T86" fmla="*/ 0 w 13"/>
              <a:gd name="T87" fmla="*/ 1625 h 2312"/>
              <a:gd name="T88" fmla="*/ 13 w 13"/>
              <a:gd name="T89" fmla="*/ 1638 h 2312"/>
              <a:gd name="T90" fmla="*/ 13 w 13"/>
              <a:gd name="T91" fmla="*/ 1704 h 2312"/>
              <a:gd name="T92" fmla="*/ 0 w 13"/>
              <a:gd name="T93" fmla="*/ 1718 h 2312"/>
              <a:gd name="T94" fmla="*/ 13 w 13"/>
              <a:gd name="T95" fmla="*/ 1770 h 2312"/>
              <a:gd name="T96" fmla="*/ 0 w 13"/>
              <a:gd name="T97" fmla="*/ 1810 h 2312"/>
              <a:gd name="T98" fmla="*/ 13 w 13"/>
              <a:gd name="T99" fmla="*/ 1823 h 2312"/>
              <a:gd name="T100" fmla="*/ 13 w 13"/>
              <a:gd name="T101" fmla="*/ 1889 h 2312"/>
              <a:gd name="T102" fmla="*/ 0 w 13"/>
              <a:gd name="T103" fmla="*/ 1902 h 2312"/>
              <a:gd name="T104" fmla="*/ 13 w 13"/>
              <a:gd name="T105" fmla="*/ 1955 h 2312"/>
              <a:gd name="T106" fmla="*/ 0 w 13"/>
              <a:gd name="T107" fmla="*/ 1995 h 2312"/>
              <a:gd name="T108" fmla="*/ 13 w 13"/>
              <a:gd name="T109" fmla="*/ 2008 h 2312"/>
              <a:gd name="T110" fmla="*/ 13 w 13"/>
              <a:gd name="T111" fmla="*/ 2074 h 2312"/>
              <a:gd name="T112" fmla="*/ 0 w 13"/>
              <a:gd name="T113" fmla="*/ 2088 h 2312"/>
              <a:gd name="T114" fmla="*/ 13 w 13"/>
              <a:gd name="T115" fmla="*/ 2140 h 2312"/>
              <a:gd name="T116" fmla="*/ 0 w 13"/>
              <a:gd name="T117" fmla="*/ 2180 h 2312"/>
              <a:gd name="T118" fmla="*/ 13 w 13"/>
              <a:gd name="T119" fmla="*/ 2193 h 2312"/>
              <a:gd name="T120" fmla="*/ 13 w 13"/>
              <a:gd name="T121" fmla="*/ 2259 h 2312"/>
              <a:gd name="T122" fmla="*/ 0 w 13"/>
              <a:gd name="T123" fmla="*/ 2272 h 23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13" h="2312">
                <a:moveTo>
                  <a:pt x="13" y="0"/>
                </a:moveTo>
                <a:lnTo>
                  <a:pt x="13" y="13"/>
                </a:lnTo>
                <a:lnTo>
                  <a:pt x="0" y="13"/>
                </a:lnTo>
                <a:lnTo>
                  <a:pt x="0" y="0"/>
                </a:lnTo>
                <a:lnTo>
                  <a:pt x="13" y="0"/>
                </a:lnTo>
                <a:close/>
                <a:moveTo>
                  <a:pt x="13" y="27"/>
                </a:moveTo>
                <a:lnTo>
                  <a:pt x="13" y="40"/>
                </a:lnTo>
                <a:lnTo>
                  <a:pt x="0" y="40"/>
                </a:lnTo>
                <a:lnTo>
                  <a:pt x="0" y="27"/>
                </a:lnTo>
                <a:lnTo>
                  <a:pt x="13" y="27"/>
                </a:lnTo>
                <a:close/>
                <a:moveTo>
                  <a:pt x="13" y="53"/>
                </a:moveTo>
                <a:lnTo>
                  <a:pt x="13" y="66"/>
                </a:lnTo>
                <a:lnTo>
                  <a:pt x="0" y="66"/>
                </a:lnTo>
                <a:lnTo>
                  <a:pt x="0" y="53"/>
                </a:lnTo>
                <a:lnTo>
                  <a:pt x="13" y="53"/>
                </a:lnTo>
                <a:close/>
                <a:moveTo>
                  <a:pt x="13" y="79"/>
                </a:moveTo>
                <a:lnTo>
                  <a:pt x="13" y="93"/>
                </a:lnTo>
                <a:lnTo>
                  <a:pt x="0" y="93"/>
                </a:lnTo>
                <a:lnTo>
                  <a:pt x="0" y="79"/>
                </a:lnTo>
                <a:lnTo>
                  <a:pt x="13" y="79"/>
                </a:lnTo>
                <a:close/>
                <a:moveTo>
                  <a:pt x="13" y="106"/>
                </a:moveTo>
                <a:lnTo>
                  <a:pt x="13" y="119"/>
                </a:lnTo>
                <a:lnTo>
                  <a:pt x="0" y="119"/>
                </a:lnTo>
                <a:lnTo>
                  <a:pt x="0" y="106"/>
                </a:lnTo>
                <a:lnTo>
                  <a:pt x="13" y="106"/>
                </a:lnTo>
                <a:close/>
                <a:moveTo>
                  <a:pt x="13" y="132"/>
                </a:moveTo>
                <a:lnTo>
                  <a:pt x="13" y="146"/>
                </a:lnTo>
                <a:lnTo>
                  <a:pt x="0" y="146"/>
                </a:lnTo>
                <a:lnTo>
                  <a:pt x="0" y="132"/>
                </a:lnTo>
                <a:lnTo>
                  <a:pt x="13" y="132"/>
                </a:lnTo>
                <a:close/>
                <a:moveTo>
                  <a:pt x="13" y="159"/>
                </a:moveTo>
                <a:lnTo>
                  <a:pt x="13" y="172"/>
                </a:lnTo>
                <a:lnTo>
                  <a:pt x="0" y="172"/>
                </a:lnTo>
                <a:lnTo>
                  <a:pt x="0" y="159"/>
                </a:lnTo>
                <a:lnTo>
                  <a:pt x="13" y="159"/>
                </a:lnTo>
                <a:close/>
                <a:moveTo>
                  <a:pt x="13" y="185"/>
                </a:moveTo>
                <a:lnTo>
                  <a:pt x="13" y="198"/>
                </a:lnTo>
                <a:lnTo>
                  <a:pt x="0" y="198"/>
                </a:lnTo>
                <a:lnTo>
                  <a:pt x="0" y="185"/>
                </a:lnTo>
                <a:lnTo>
                  <a:pt x="13" y="185"/>
                </a:lnTo>
                <a:close/>
                <a:moveTo>
                  <a:pt x="13" y="211"/>
                </a:moveTo>
                <a:lnTo>
                  <a:pt x="13" y="225"/>
                </a:lnTo>
                <a:lnTo>
                  <a:pt x="0" y="225"/>
                </a:lnTo>
                <a:lnTo>
                  <a:pt x="0" y="211"/>
                </a:lnTo>
                <a:lnTo>
                  <a:pt x="13" y="211"/>
                </a:lnTo>
                <a:close/>
                <a:moveTo>
                  <a:pt x="13" y="238"/>
                </a:moveTo>
                <a:lnTo>
                  <a:pt x="13" y="251"/>
                </a:lnTo>
                <a:lnTo>
                  <a:pt x="0" y="251"/>
                </a:lnTo>
                <a:lnTo>
                  <a:pt x="0" y="238"/>
                </a:lnTo>
                <a:lnTo>
                  <a:pt x="13" y="238"/>
                </a:lnTo>
                <a:close/>
                <a:moveTo>
                  <a:pt x="13" y="264"/>
                </a:moveTo>
                <a:lnTo>
                  <a:pt x="13" y="277"/>
                </a:lnTo>
                <a:lnTo>
                  <a:pt x="0" y="277"/>
                </a:lnTo>
                <a:lnTo>
                  <a:pt x="0" y="264"/>
                </a:lnTo>
                <a:lnTo>
                  <a:pt x="13" y="264"/>
                </a:lnTo>
                <a:close/>
                <a:moveTo>
                  <a:pt x="13" y="291"/>
                </a:moveTo>
                <a:lnTo>
                  <a:pt x="13" y="304"/>
                </a:lnTo>
                <a:lnTo>
                  <a:pt x="0" y="304"/>
                </a:lnTo>
                <a:lnTo>
                  <a:pt x="0" y="291"/>
                </a:lnTo>
                <a:lnTo>
                  <a:pt x="13" y="291"/>
                </a:lnTo>
                <a:close/>
                <a:moveTo>
                  <a:pt x="13" y="317"/>
                </a:moveTo>
                <a:lnTo>
                  <a:pt x="13" y="330"/>
                </a:lnTo>
                <a:lnTo>
                  <a:pt x="0" y="330"/>
                </a:lnTo>
                <a:lnTo>
                  <a:pt x="0" y="317"/>
                </a:lnTo>
                <a:lnTo>
                  <a:pt x="13" y="317"/>
                </a:lnTo>
                <a:close/>
                <a:moveTo>
                  <a:pt x="13" y="344"/>
                </a:moveTo>
                <a:lnTo>
                  <a:pt x="13" y="357"/>
                </a:lnTo>
                <a:lnTo>
                  <a:pt x="0" y="357"/>
                </a:lnTo>
                <a:lnTo>
                  <a:pt x="0" y="344"/>
                </a:lnTo>
                <a:lnTo>
                  <a:pt x="13" y="344"/>
                </a:lnTo>
                <a:close/>
                <a:moveTo>
                  <a:pt x="13" y="370"/>
                </a:moveTo>
                <a:lnTo>
                  <a:pt x="13" y="383"/>
                </a:lnTo>
                <a:lnTo>
                  <a:pt x="0" y="383"/>
                </a:lnTo>
                <a:lnTo>
                  <a:pt x="0" y="370"/>
                </a:lnTo>
                <a:lnTo>
                  <a:pt x="13" y="370"/>
                </a:lnTo>
                <a:close/>
                <a:moveTo>
                  <a:pt x="13" y="396"/>
                </a:moveTo>
                <a:lnTo>
                  <a:pt x="13" y="410"/>
                </a:lnTo>
                <a:lnTo>
                  <a:pt x="0" y="410"/>
                </a:lnTo>
                <a:lnTo>
                  <a:pt x="0" y="396"/>
                </a:lnTo>
                <a:lnTo>
                  <a:pt x="13" y="396"/>
                </a:lnTo>
                <a:close/>
                <a:moveTo>
                  <a:pt x="13" y="423"/>
                </a:moveTo>
                <a:lnTo>
                  <a:pt x="13" y="436"/>
                </a:lnTo>
                <a:lnTo>
                  <a:pt x="0" y="436"/>
                </a:lnTo>
                <a:lnTo>
                  <a:pt x="0" y="423"/>
                </a:lnTo>
                <a:lnTo>
                  <a:pt x="13" y="423"/>
                </a:lnTo>
                <a:close/>
                <a:moveTo>
                  <a:pt x="13" y="449"/>
                </a:moveTo>
                <a:lnTo>
                  <a:pt x="13" y="463"/>
                </a:lnTo>
                <a:lnTo>
                  <a:pt x="0" y="463"/>
                </a:lnTo>
                <a:lnTo>
                  <a:pt x="0" y="449"/>
                </a:lnTo>
                <a:lnTo>
                  <a:pt x="13" y="449"/>
                </a:lnTo>
                <a:close/>
                <a:moveTo>
                  <a:pt x="13" y="476"/>
                </a:moveTo>
                <a:lnTo>
                  <a:pt x="13" y="489"/>
                </a:lnTo>
                <a:lnTo>
                  <a:pt x="0" y="489"/>
                </a:lnTo>
                <a:lnTo>
                  <a:pt x="0" y="476"/>
                </a:lnTo>
                <a:lnTo>
                  <a:pt x="13" y="476"/>
                </a:lnTo>
                <a:close/>
                <a:moveTo>
                  <a:pt x="13" y="502"/>
                </a:moveTo>
                <a:lnTo>
                  <a:pt x="13" y="515"/>
                </a:lnTo>
                <a:lnTo>
                  <a:pt x="0" y="515"/>
                </a:lnTo>
                <a:lnTo>
                  <a:pt x="0" y="502"/>
                </a:lnTo>
                <a:lnTo>
                  <a:pt x="13" y="502"/>
                </a:lnTo>
                <a:close/>
                <a:moveTo>
                  <a:pt x="13" y="529"/>
                </a:moveTo>
                <a:lnTo>
                  <a:pt x="13" y="542"/>
                </a:lnTo>
                <a:lnTo>
                  <a:pt x="0" y="542"/>
                </a:lnTo>
                <a:lnTo>
                  <a:pt x="0" y="529"/>
                </a:lnTo>
                <a:lnTo>
                  <a:pt x="13" y="529"/>
                </a:lnTo>
                <a:close/>
                <a:moveTo>
                  <a:pt x="13" y="555"/>
                </a:moveTo>
                <a:lnTo>
                  <a:pt x="13" y="568"/>
                </a:lnTo>
                <a:lnTo>
                  <a:pt x="0" y="568"/>
                </a:lnTo>
                <a:lnTo>
                  <a:pt x="0" y="555"/>
                </a:lnTo>
                <a:lnTo>
                  <a:pt x="13" y="555"/>
                </a:lnTo>
                <a:close/>
                <a:moveTo>
                  <a:pt x="13" y="581"/>
                </a:moveTo>
                <a:lnTo>
                  <a:pt x="13" y="594"/>
                </a:lnTo>
                <a:lnTo>
                  <a:pt x="0" y="594"/>
                </a:lnTo>
                <a:lnTo>
                  <a:pt x="0" y="581"/>
                </a:lnTo>
                <a:lnTo>
                  <a:pt x="13" y="581"/>
                </a:lnTo>
                <a:close/>
                <a:moveTo>
                  <a:pt x="13" y="608"/>
                </a:moveTo>
                <a:lnTo>
                  <a:pt x="13" y="621"/>
                </a:lnTo>
                <a:lnTo>
                  <a:pt x="0" y="621"/>
                </a:lnTo>
                <a:lnTo>
                  <a:pt x="0" y="608"/>
                </a:lnTo>
                <a:lnTo>
                  <a:pt x="13" y="608"/>
                </a:lnTo>
                <a:close/>
                <a:moveTo>
                  <a:pt x="13" y="634"/>
                </a:moveTo>
                <a:lnTo>
                  <a:pt x="13" y="647"/>
                </a:lnTo>
                <a:lnTo>
                  <a:pt x="0" y="647"/>
                </a:lnTo>
                <a:lnTo>
                  <a:pt x="0" y="634"/>
                </a:lnTo>
                <a:lnTo>
                  <a:pt x="13" y="634"/>
                </a:lnTo>
                <a:close/>
                <a:moveTo>
                  <a:pt x="13" y="661"/>
                </a:moveTo>
                <a:lnTo>
                  <a:pt x="13" y="674"/>
                </a:lnTo>
                <a:lnTo>
                  <a:pt x="0" y="674"/>
                </a:lnTo>
                <a:lnTo>
                  <a:pt x="0" y="661"/>
                </a:lnTo>
                <a:lnTo>
                  <a:pt x="13" y="661"/>
                </a:lnTo>
                <a:close/>
                <a:moveTo>
                  <a:pt x="13" y="687"/>
                </a:moveTo>
                <a:lnTo>
                  <a:pt x="13" y="700"/>
                </a:lnTo>
                <a:lnTo>
                  <a:pt x="0" y="700"/>
                </a:lnTo>
                <a:lnTo>
                  <a:pt x="0" y="687"/>
                </a:lnTo>
                <a:lnTo>
                  <a:pt x="13" y="687"/>
                </a:lnTo>
                <a:close/>
                <a:moveTo>
                  <a:pt x="13" y="713"/>
                </a:moveTo>
                <a:lnTo>
                  <a:pt x="13" y="727"/>
                </a:lnTo>
                <a:lnTo>
                  <a:pt x="0" y="727"/>
                </a:lnTo>
                <a:lnTo>
                  <a:pt x="0" y="713"/>
                </a:lnTo>
                <a:lnTo>
                  <a:pt x="13" y="713"/>
                </a:lnTo>
                <a:close/>
                <a:moveTo>
                  <a:pt x="13" y="740"/>
                </a:moveTo>
                <a:lnTo>
                  <a:pt x="13" y="753"/>
                </a:lnTo>
                <a:lnTo>
                  <a:pt x="0" y="753"/>
                </a:lnTo>
                <a:lnTo>
                  <a:pt x="0" y="740"/>
                </a:lnTo>
                <a:lnTo>
                  <a:pt x="13" y="740"/>
                </a:lnTo>
                <a:close/>
                <a:moveTo>
                  <a:pt x="13" y="766"/>
                </a:moveTo>
                <a:lnTo>
                  <a:pt x="13" y="780"/>
                </a:lnTo>
                <a:lnTo>
                  <a:pt x="0" y="780"/>
                </a:lnTo>
                <a:lnTo>
                  <a:pt x="0" y="766"/>
                </a:lnTo>
                <a:lnTo>
                  <a:pt x="13" y="766"/>
                </a:lnTo>
                <a:close/>
                <a:moveTo>
                  <a:pt x="13" y="793"/>
                </a:moveTo>
                <a:lnTo>
                  <a:pt x="13" y="806"/>
                </a:lnTo>
                <a:lnTo>
                  <a:pt x="0" y="806"/>
                </a:lnTo>
                <a:lnTo>
                  <a:pt x="0" y="793"/>
                </a:lnTo>
                <a:lnTo>
                  <a:pt x="13" y="793"/>
                </a:lnTo>
                <a:close/>
                <a:moveTo>
                  <a:pt x="13" y="819"/>
                </a:moveTo>
                <a:lnTo>
                  <a:pt x="13" y="832"/>
                </a:lnTo>
                <a:lnTo>
                  <a:pt x="0" y="832"/>
                </a:lnTo>
                <a:lnTo>
                  <a:pt x="0" y="819"/>
                </a:lnTo>
                <a:lnTo>
                  <a:pt x="13" y="819"/>
                </a:lnTo>
                <a:close/>
                <a:moveTo>
                  <a:pt x="13" y="846"/>
                </a:moveTo>
                <a:lnTo>
                  <a:pt x="13" y="859"/>
                </a:lnTo>
                <a:lnTo>
                  <a:pt x="0" y="859"/>
                </a:lnTo>
                <a:lnTo>
                  <a:pt x="0" y="846"/>
                </a:lnTo>
                <a:lnTo>
                  <a:pt x="13" y="846"/>
                </a:lnTo>
                <a:close/>
                <a:moveTo>
                  <a:pt x="13" y="872"/>
                </a:moveTo>
                <a:lnTo>
                  <a:pt x="13" y="885"/>
                </a:lnTo>
                <a:lnTo>
                  <a:pt x="0" y="885"/>
                </a:lnTo>
                <a:lnTo>
                  <a:pt x="0" y="872"/>
                </a:lnTo>
                <a:lnTo>
                  <a:pt x="13" y="872"/>
                </a:lnTo>
                <a:close/>
                <a:moveTo>
                  <a:pt x="13" y="899"/>
                </a:moveTo>
                <a:lnTo>
                  <a:pt x="13" y="912"/>
                </a:lnTo>
                <a:lnTo>
                  <a:pt x="0" y="912"/>
                </a:lnTo>
                <a:lnTo>
                  <a:pt x="0" y="899"/>
                </a:lnTo>
                <a:lnTo>
                  <a:pt x="13" y="899"/>
                </a:lnTo>
                <a:close/>
                <a:moveTo>
                  <a:pt x="13" y="925"/>
                </a:moveTo>
                <a:lnTo>
                  <a:pt x="13" y="938"/>
                </a:lnTo>
                <a:lnTo>
                  <a:pt x="0" y="938"/>
                </a:lnTo>
                <a:lnTo>
                  <a:pt x="0" y="925"/>
                </a:lnTo>
                <a:lnTo>
                  <a:pt x="13" y="925"/>
                </a:lnTo>
                <a:close/>
                <a:moveTo>
                  <a:pt x="13" y="951"/>
                </a:moveTo>
                <a:lnTo>
                  <a:pt x="13" y="965"/>
                </a:lnTo>
                <a:lnTo>
                  <a:pt x="0" y="965"/>
                </a:lnTo>
                <a:lnTo>
                  <a:pt x="0" y="951"/>
                </a:lnTo>
                <a:lnTo>
                  <a:pt x="13" y="951"/>
                </a:lnTo>
                <a:close/>
                <a:moveTo>
                  <a:pt x="13" y="978"/>
                </a:moveTo>
                <a:lnTo>
                  <a:pt x="13" y="991"/>
                </a:lnTo>
                <a:lnTo>
                  <a:pt x="0" y="991"/>
                </a:lnTo>
                <a:lnTo>
                  <a:pt x="0" y="978"/>
                </a:lnTo>
                <a:lnTo>
                  <a:pt x="13" y="978"/>
                </a:lnTo>
                <a:close/>
                <a:moveTo>
                  <a:pt x="13" y="1004"/>
                </a:moveTo>
                <a:lnTo>
                  <a:pt x="13" y="1017"/>
                </a:lnTo>
                <a:lnTo>
                  <a:pt x="0" y="1017"/>
                </a:lnTo>
                <a:lnTo>
                  <a:pt x="0" y="1004"/>
                </a:lnTo>
                <a:lnTo>
                  <a:pt x="13" y="1004"/>
                </a:lnTo>
                <a:close/>
                <a:moveTo>
                  <a:pt x="13" y="1030"/>
                </a:moveTo>
                <a:lnTo>
                  <a:pt x="13" y="1044"/>
                </a:lnTo>
                <a:lnTo>
                  <a:pt x="0" y="1044"/>
                </a:lnTo>
                <a:lnTo>
                  <a:pt x="0" y="1030"/>
                </a:lnTo>
                <a:lnTo>
                  <a:pt x="13" y="1030"/>
                </a:lnTo>
                <a:close/>
                <a:moveTo>
                  <a:pt x="13" y="1057"/>
                </a:moveTo>
                <a:lnTo>
                  <a:pt x="13" y="1070"/>
                </a:lnTo>
                <a:lnTo>
                  <a:pt x="0" y="1070"/>
                </a:lnTo>
                <a:lnTo>
                  <a:pt x="0" y="1057"/>
                </a:lnTo>
                <a:lnTo>
                  <a:pt x="13" y="1057"/>
                </a:lnTo>
                <a:close/>
                <a:moveTo>
                  <a:pt x="13" y="1083"/>
                </a:moveTo>
                <a:lnTo>
                  <a:pt x="13" y="1097"/>
                </a:lnTo>
                <a:lnTo>
                  <a:pt x="0" y="1097"/>
                </a:lnTo>
                <a:lnTo>
                  <a:pt x="0" y="1083"/>
                </a:lnTo>
                <a:lnTo>
                  <a:pt x="13" y="1083"/>
                </a:lnTo>
                <a:close/>
                <a:moveTo>
                  <a:pt x="13" y="1110"/>
                </a:moveTo>
                <a:lnTo>
                  <a:pt x="13" y="1123"/>
                </a:lnTo>
                <a:lnTo>
                  <a:pt x="0" y="1123"/>
                </a:lnTo>
                <a:lnTo>
                  <a:pt x="0" y="1110"/>
                </a:lnTo>
                <a:lnTo>
                  <a:pt x="13" y="1110"/>
                </a:lnTo>
                <a:close/>
                <a:moveTo>
                  <a:pt x="13" y="1136"/>
                </a:moveTo>
                <a:lnTo>
                  <a:pt x="13" y="1149"/>
                </a:lnTo>
                <a:lnTo>
                  <a:pt x="0" y="1149"/>
                </a:lnTo>
                <a:lnTo>
                  <a:pt x="0" y="1136"/>
                </a:lnTo>
                <a:lnTo>
                  <a:pt x="13" y="1136"/>
                </a:lnTo>
                <a:close/>
                <a:moveTo>
                  <a:pt x="13" y="1163"/>
                </a:moveTo>
                <a:lnTo>
                  <a:pt x="13" y="1176"/>
                </a:lnTo>
                <a:lnTo>
                  <a:pt x="0" y="1176"/>
                </a:lnTo>
                <a:lnTo>
                  <a:pt x="0" y="1163"/>
                </a:lnTo>
                <a:lnTo>
                  <a:pt x="13" y="1163"/>
                </a:lnTo>
                <a:close/>
                <a:moveTo>
                  <a:pt x="13" y="1189"/>
                </a:moveTo>
                <a:lnTo>
                  <a:pt x="13" y="1202"/>
                </a:lnTo>
                <a:lnTo>
                  <a:pt x="0" y="1202"/>
                </a:lnTo>
                <a:lnTo>
                  <a:pt x="0" y="1189"/>
                </a:lnTo>
                <a:lnTo>
                  <a:pt x="13" y="1189"/>
                </a:lnTo>
                <a:close/>
                <a:moveTo>
                  <a:pt x="13" y="1216"/>
                </a:moveTo>
                <a:lnTo>
                  <a:pt x="13" y="1229"/>
                </a:lnTo>
                <a:lnTo>
                  <a:pt x="0" y="1229"/>
                </a:lnTo>
                <a:lnTo>
                  <a:pt x="0" y="1216"/>
                </a:lnTo>
                <a:lnTo>
                  <a:pt x="13" y="1216"/>
                </a:lnTo>
                <a:close/>
                <a:moveTo>
                  <a:pt x="13" y="1242"/>
                </a:moveTo>
                <a:lnTo>
                  <a:pt x="13" y="1255"/>
                </a:lnTo>
                <a:lnTo>
                  <a:pt x="0" y="1255"/>
                </a:lnTo>
                <a:lnTo>
                  <a:pt x="0" y="1242"/>
                </a:lnTo>
                <a:lnTo>
                  <a:pt x="13" y="1242"/>
                </a:lnTo>
                <a:close/>
                <a:moveTo>
                  <a:pt x="13" y="1268"/>
                </a:moveTo>
                <a:lnTo>
                  <a:pt x="13" y="1282"/>
                </a:lnTo>
                <a:lnTo>
                  <a:pt x="0" y="1282"/>
                </a:lnTo>
                <a:lnTo>
                  <a:pt x="0" y="1268"/>
                </a:lnTo>
                <a:lnTo>
                  <a:pt x="13" y="1268"/>
                </a:lnTo>
                <a:close/>
                <a:moveTo>
                  <a:pt x="13" y="1295"/>
                </a:moveTo>
                <a:lnTo>
                  <a:pt x="13" y="1308"/>
                </a:lnTo>
                <a:lnTo>
                  <a:pt x="0" y="1308"/>
                </a:lnTo>
                <a:lnTo>
                  <a:pt x="0" y="1295"/>
                </a:lnTo>
                <a:lnTo>
                  <a:pt x="13" y="1295"/>
                </a:lnTo>
                <a:close/>
                <a:moveTo>
                  <a:pt x="13" y="1321"/>
                </a:moveTo>
                <a:lnTo>
                  <a:pt x="13" y="1335"/>
                </a:lnTo>
                <a:lnTo>
                  <a:pt x="0" y="1335"/>
                </a:lnTo>
                <a:lnTo>
                  <a:pt x="0" y="1321"/>
                </a:lnTo>
                <a:lnTo>
                  <a:pt x="13" y="1321"/>
                </a:lnTo>
                <a:close/>
                <a:moveTo>
                  <a:pt x="13" y="1348"/>
                </a:moveTo>
                <a:lnTo>
                  <a:pt x="13" y="1361"/>
                </a:lnTo>
                <a:lnTo>
                  <a:pt x="0" y="1361"/>
                </a:lnTo>
                <a:lnTo>
                  <a:pt x="0" y="1348"/>
                </a:lnTo>
                <a:lnTo>
                  <a:pt x="13" y="1348"/>
                </a:lnTo>
                <a:close/>
                <a:moveTo>
                  <a:pt x="13" y="1374"/>
                </a:moveTo>
                <a:lnTo>
                  <a:pt x="13" y="1387"/>
                </a:lnTo>
                <a:lnTo>
                  <a:pt x="0" y="1387"/>
                </a:lnTo>
                <a:lnTo>
                  <a:pt x="0" y="1374"/>
                </a:lnTo>
                <a:lnTo>
                  <a:pt x="13" y="1374"/>
                </a:lnTo>
                <a:close/>
                <a:moveTo>
                  <a:pt x="13" y="1400"/>
                </a:moveTo>
                <a:lnTo>
                  <a:pt x="13" y="1414"/>
                </a:lnTo>
                <a:lnTo>
                  <a:pt x="0" y="1414"/>
                </a:lnTo>
                <a:lnTo>
                  <a:pt x="0" y="1400"/>
                </a:lnTo>
                <a:lnTo>
                  <a:pt x="13" y="1400"/>
                </a:lnTo>
                <a:close/>
                <a:moveTo>
                  <a:pt x="13" y="1427"/>
                </a:moveTo>
                <a:lnTo>
                  <a:pt x="13" y="1440"/>
                </a:lnTo>
                <a:lnTo>
                  <a:pt x="0" y="1440"/>
                </a:lnTo>
                <a:lnTo>
                  <a:pt x="0" y="1427"/>
                </a:lnTo>
                <a:lnTo>
                  <a:pt x="13" y="1427"/>
                </a:lnTo>
                <a:close/>
                <a:moveTo>
                  <a:pt x="13" y="1453"/>
                </a:moveTo>
                <a:lnTo>
                  <a:pt x="13" y="1466"/>
                </a:lnTo>
                <a:lnTo>
                  <a:pt x="0" y="1466"/>
                </a:lnTo>
                <a:lnTo>
                  <a:pt x="0" y="1453"/>
                </a:lnTo>
                <a:lnTo>
                  <a:pt x="13" y="1453"/>
                </a:lnTo>
                <a:close/>
                <a:moveTo>
                  <a:pt x="13" y="1480"/>
                </a:moveTo>
                <a:lnTo>
                  <a:pt x="13" y="1493"/>
                </a:lnTo>
                <a:lnTo>
                  <a:pt x="0" y="1493"/>
                </a:lnTo>
                <a:lnTo>
                  <a:pt x="0" y="1480"/>
                </a:lnTo>
                <a:lnTo>
                  <a:pt x="13" y="1480"/>
                </a:lnTo>
                <a:close/>
                <a:moveTo>
                  <a:pt x="13" y="1506"/>
                </a:moveTo>
                <a:lnTo>
                  <a:pt x="13" y="1519"/>
                </a:lnTo>
                <a:lnTo>
                  <a:pt x="0" y="1519"/>
                </a:lnTo>
                <a:lnTo>
                  <a:pt x="0" y="1506"/>
                </a:lnTo>
                <a:lnTo>
                  <a:pt x="13" y="1506"/>
                </a:lnTo>
                <a:close/>
                <a:moveTo>
                  <a:pt x="13" y="1533"/>
                </a:moveTo>
                <a:lnTo>
                  <a:pt x="13" y="1546"/>
                </a:lnTo>
                <a:lnTo>
                  <a:pt x="0" y="1546"/>
                </a:lnTo>
                <a:lnTo>
                  <a:pt x="0" y="1533"/>
                </a:lnTo>
                <a:lnTo>
                  <a:pt x="13" y="1533"/>
                </a:lnTo>
                <a:close/>
                <a:moveTo>
                  <a:pt x="13" y="1559"/>
                </a:moveTo>
                <a:lnTo>
                  <a:pt x="13" y="1572"/>
                </a:lnTo>
                <a:lnTo>
                  <a:pt x="0" y="1572"/>
                </a:lnTo>
                <a:lnTo>
                  <a:pt x="0" y="1559"/>
                </a:lnTo>
                <a:lnTo>
                  <a:pt x="13" y="1559"/>
                </a:lnTo>
                <a:close/>
                <a:moveTo>
                  <a:pt x="13" y="1585"/>
                </a:moveTo>
                <a:lnTo>
                  <a:pt x="13" y="1599"/>
                </a:lnTo>
                <a:lnTo>
                  <a:pt x="0" y="1599"/>
                </a:lnTo>
                <a:lnTo>
                  <a:pt x="0" y="1585"/>
                </a:lnTo>
                <a:lnTo>
                  <a:pt x="13" y="1585"/>
                </a:lnTo>
                <a:close/>
                <a:moveTo>
                  <a:pt x="13" y="1612"/>
                </a:moveTo>
                <a:lnTo>
                  <a:pt x="13" y="1625"/>
                </a:lnTo>
                <a:lnTo>
                  <a:pt x="0" y="1625"/>
                </a:lnTo>
                <a:lnTo>
                  <a:pt x="0" y="1612"/>
                </a:lnTo>
                <a:lnTo>
                  <a:pt x="13" y="1612"/>
                </a:lnTo>
                <a:close/>
                <a:moveTo>
                  <a:pt x="13" y="1638"/>
                </a:moveTo>
                <a:lnTo>
                  <a:pt x="13" y="1652"/>
                </a:lnTo>
                <a:lnTo>
                  <a:pt x="0" y="1652"/>
                </a:lnTo>
                <a:lnTo>
                  <a:pt x="0" y="1638"/>
                </a:lnTo>
                <a:lnTo>
                  <a:pt x="13" y="1638"/>
                </a:lnTo>
                <a:close/>
                <a:moveTo>
                  <a:pt x="13" y="1665"/>
                </a:moveTo>
                <a:lnTo>
                  <a:pt x="13" y="1678"/>
                </a:lnTo>
                <a:lnTo>
                  <a:pt x="0" y="1678"/>
                </a:lnTo>
                <a:lnTo>
                  <a:pt x="0" y="1665"/>
                </a:lnTo>
                <a:lnTo>
                  <a:pt x="13" y="1665"/>
                </a:lnTo>
                <a:close/>
                <a:moveTo>
                  <a:pt x="13" y="1691"/>
                </a:moveTo>
                <a:lnTo>
                  <a:pt x="13" y="1704"/>
                </a:lnTo>
                <a:lnTo>
                  <a:pt x="0" y="1704"/>
                </a:lnTo>
                <a:lnTo>
                  <a:pt x="0" y="1691"/>
                </a:lnTo>
                <a:lnTo>
                  <a:pt x="13" y="1691"/>
                </a:lnTo>
                <a:close/>
                <a:moveTo>
                  <a:pt x="13" y="1718"/>
                </a:moveTo>
                <a:lnTo>
                  <a:pt x="13" y="1731"/>
                </a:lnTo>
                <a:lnTo>
                  <a:pt x="0" y="1731"/>
                </a:lnTo>
                <a:lnTo>
                  <a:pt x="0" y="1718"/>
                </a:lnTo>
                <a:lnTo>
                  <a:pt x="13" y="1718"/>
                </a:lnTo>
                <a:close/>
                <a:moveTo>
                  <a:pt x="13" y="1744"/>
                </a:moveTo>
                <a:lnTo>
                  <a:pt x="13" y="1757"/>
                </a:lnTo>
                <a:lnTo>
                  <a:pt x="0" y="1757"/>
                </a:lnTo>
                <a:lnTo>
                  <a:pt x="0" y="1744"/>
                </a:lnTo>
                <a:lnTo>
                  <a:pt x="13" y="1744"/>
                </a:lnTo>
                <a:close/>
                <a:moveTo>
                  <a:pt x="13" y="1770"/>
                </a:moveTo>
                <a:lnTo>
                  <a:pt x="13" y="1783"/>
                </a:lnTo>
                <a:lnTo>
                  <a:pt x="0" y="1783"/>
                </a:lnTo>
                <a:lnTo>
                  <a:pt x="0" y="1770"/>
                </a:lnTo>
                <a:lnTo>
                  <a:pt x="13" y="1770"/>
                </a:lnTo>
                <a:close/>
                <a:moveTo>
                  <a:pt x="13" y="1797"/>
                </a:moveTo>
                <a:lnTo>
                  <a:pt x="13" y="1810"/>
                </a:lnTo>
                <a:lnTo>
                  <a:pt x="0" y="1810"/>
                </a:lnTo>
                <a:lnTo>
                  <a:pt x="0" y="1797"/>
                </a:lnTo>
                <a:lnTo>
                  <a:pt x="13" y="1797"/>
                </a:lnTo>
                <a:close/>
                <a:moveTo>
                  <a:pt x="13" y="1823"/>
                </a:moveTo>
                <a:lnTo>
                  <a:pt x="13" y="1836"/>
                </a:lnTo>
                <a:lnTo>
                  <a:pt x="0" y="1836"/>
                </a:lnTo>
                <a:lnTo>
                  <a:pt x="0" y="1823"/>
                </a:lnTo>
                <a:lnTo>
                  <a:pt x="13" y="1823"/>
                </a:lnTo>
                <a:close/>
                <a:moveTo>
                  <a:pt x="13" y="1850"/>
                </a:moveTo>
                <a:lnTo>
                  <a:pt x="13" y="1863"/>
                </a:lnTo>
                <a:lnTo>
                  <a:pt x="0" y="1863"/>
                </a:lnTo>
                <a:lnTo>
                  <a:pt x="0" y="1850"/>
                </a:lnTo>
                <a:lnTo>
                  <a:pt x="13" y="1850"/>
                </a:lnTo>
                <a:close/>
                <a:moveTo>
                  <a:pt x="13" y="1876"/>
                </a:moveTo>
                <a:lnTo>
                  <a:pt x="13" y="1889"/>
                </a:lnTo>
                <a:lnTo>
                  <a:pt x="0" y="1889"/>
                </a:lnTo>
                <a:lnTo>
                  <a:pt x="0" y="1876"/>
                </a:lnTo>
                <a:lnTo>
                  <a:pt x="13" y="1876"/>
                </a:lnTo>
                <a:close/>
                <a:moveTo>
                  <a:pt x="13" y="1902"/>
                </a:moveTo>
                <a:lnTo>
                  <a:pt x="13" y="1916"/>
                </a:lnTo>
                <a:lnTo>
                  <a:pt x="0" y="1916"/>
                </a:lnTo>
                <a:lnTo>
                  <a:pt x="0" y="1902"/>
                </a:lnTo>
                <a:lnTo>
                  <a:pt x="13" y="1902"/>
                </a:lnTo>
                <a:close/>
                <a:moveTo>
                  <a:pt x="13" y="1929"/>
                </a:moveTo>
                <a:lnTo>
                  <a:pt x="13" y="1942"/>
                </a:lnTo>
                <a:lnTo>
                  <a:pt x="0" y="1942"/>
                </a:lnTo>
                <a:lnTo>
                  <a:pt x="0" y="1929"/>
                </a:lnTo>
                <a:lnTo>
                  <a:pt x="13" y="1929"/>
                </a:lnTo>
                <a:close/>
                <a:moveTo>
                  <a:pt x="13" y="1955"/>
                </a:moveTo>
                <a:lnTo>
                  <a:pt x="13" y="1969"/>
                </a:lnTo>
                <a:lnTo>
                  <a:pt x="0" y="1969"/>
                </a:lnTo>
                <a:lnTo>
                  <a:pt x="0" y="1955"/>
                </a:lnTo>
                <a:lnTo>
                  <a:pt x="13" y="1955"/>
                </a:lnTo>
                <a:close/>
                <a:moveTo>
                  <a:pt x="13" y="1982"/>
                </a:moveTo>
                <a:lnTo>
                  <a:pt x="13" y="1995"/>
                </a:lnTo>
                <a:lnTo>
                  <a:pt x="0" y="1995"/>
                </a:lnTo>
                <a:lnTo>
                  <a:pt x="0" y="1982"/>
                </a:lnTo>
                <a:lnTo>
                  <a:pt x="13" y="1982"/>
                </a:lnTo>
                <a:close/>
                <a:moveTo>
                  <a:pt x="13" y="2008"/>
                </a:moveTo>
                <a:lnTo>
                  <a:pt x="13" y="2021"/>
                </a:lnTo>
                <a:lnTo>
                  <a:pt x="0" y="2021"/>
                </a:lnTo>
                <a:lnTo>
                  <a:pt x="0" y="2008"/>
                </a:lnTo>
                <a:lnTo>
                  <a:pt x="13" y="2008"/>
                </a:lnTo>
                <a:close/>
                <a:moveTo>
                  <a:pt x="13" y="2035"/>
                </a:moveTo>
                <a:lnTo>
                  <a:pt x="13" y="2048"/>
                </a:lnTo>
                <a:lnTo>
                  <a:pt x="0" y="2048"/>
                </a:lnTo>
                <a:lnTo>
                  <a:pt x="0" y="2035"/>
                </a:lnTo>
                <a:lnTo>
                  <a:pt x="13" y="2035"/>
                </a:lnTo>
                <a:close/>
                <a:moveTo>
                  <a:pt x="13" y="2061"/>
                </a:moveTo>
                <a:lnTo>
                  <a:pt x="13" y="2074"/>
                </a:lnTo>
                <a:lnTo>
                  <a:pt x="0" y="2074"/>
                </a:lnTo>
                <a:lnTo>
                  <a:pt x="0" y="2061"/>
                </a:lnTo>
                <a:lnTo>
                  <a:pt x="13" y="2061"/>
                </a:lnTo>
                <a:close/>
                <a:moveTo>
                  <a:pt x="13" y="2088"/>
                </a:moveTo>
                <a:lnTo>
                  <a:pt x="13" y="2101"/>
                </a:lnTo>
                <a:lnTo>
                  <a:pt x="0" y="2101"/>
                </a:lnTo>
                <a:lnTo>
                  <a:pt x="0" y="2088"/>
                </a:lnTo>
                <a:lnTo>
                  <a:pt x="13" y="2088"/>
                </a:lnTo>
                <a:close/>
                <a:moveTo>
                  <a:pt x="13" y="2114"/>
                </a:moveTo>
                <a:lnTo>
                  <a:pt x="13" y="2127"/>
                </a:lnTo>
                <a:lnTo>
                  <a:pt x="0" y="2127"/>
                </a:lnTo>
                <a:lnTo>
                  <a:pt x="0" y="2114"/>
                </a:lnTo>
                <a:lnTo>
                  <a:pt x="13" y="2114"/>
                </a:lnTo>
                <a:close/>
                <a:moveTo>
                  <a:pt x="13" y="2140"/>
                </a:moveTo>
                <a:lnTo>
                  <a:pt x="13" y="2153"/>
                </a:lnTo>
                <a:lnTo>
                  <a:pt x="0" y="2153"/>
                </a:lnTo>
                <a:lnTo>
                  <a:pt x="0" y="2140"/>
                </a:lnTo>
                <a:lnTo>
                  <a:pt x="13" y="2140"/>
                </a:lnTo>
                <a:close/>
                <a:moveTo>
                  <a:pt x="13" y="2167"/>
                </a:moveTo>
                <a:lnTo>
                  <a:pt x="13" y="2180"/>
                </a:lnTo>
                <a:lnTo>
                  <a:pt x="0" y="2180"/>
                </a:lnTo>
                <a:lnTo>
                  <a:pt x="0" y="2167"/>
                </a:lnTo>
                <a:lnTo>
                  <a:pt x="13" y="2167"/>
                </a:lnTo>
                <a:close/>
                <a:moveTo>
                  <a:pt x="13" y="2193"/>
                </a:moveTo>
                <a:lnTo>
                  <a:pt x="13" y="2206"/>
                </a:lnTo>
                <a:lnTo>
                  <a:pt x="0" y="2206"/>
                </a:lnTo>
                <a:lnTo>
                  <a:pt x="0" y="2193"/>
                </a:lnTo>
                <a:lnTo>
                  <a:pt x="13" y="2193"/>
                </a:lnTo>
                <a:close/>
                <a:moveTo>
                  <a:pt x="13" y="2219"/>
                </a:moveTo>
                <a:lnTo>
                  <a:pt x="13" y="2233"/>
                </a:lnTo>
                <a:lnTo>
                  <a:pt x="0" y="2233"/>
                </a:lnTo>
                <a:lnTo>
                  <a:pt x="0" y="2219"/>
                </a:lnTo>
                <a:lnTo>
                  <a:pt x="13" y="2219"/>
                </a:lnTo>
                <a:close/>
                <a:moveTo>
                  <a:pt x="13" y="2246"/>
                </a:moveTo>
                <a:lnTo>
                  <a:pt x="13" y="2259"/>
                </a:lnTo>
                <a:lnTo>
                  <a:pt x="0" y="2259"/>
                </a:lnTo>
                <a:lnTo>
                  <a:pt x="0" y="2246"/>
                </a:lnTo>
                <a:lnTo>
                  <a:pt x="13" y="2246"/>
                </a:lnTo>
                <a:close/>
                <a:moveTo>
                  <a:pt x="13" y="2272"/>
                </a:moveTo>
                <a:lnTo>
                  <a:pt x="13" y="2286"/>
                </a:lnTo>
                <a:lnTo>
                  <a:pt x="0" y="2286"/>
                </a:lnTo>
                <a:lnTo>
                  <a:pt x="0" y="2272"/>
                </a:lnTo>
                <a:lnTo>
                  <a:pt x="13" y="2272"/>
                </a:lnTo>
                <a:close/>
                <a:moveTo>
                  <a:pt x="13" y="2299"/>
                </a:moveTo>
                <a:lnTo>
                  <a:pt x="13" y="2312"/>
                </a:lnTo>
                <a:lnTo>
                  <a:pt x="0" y="2312"/>
                </a:lnTo>
                <a:lnTo>
                  <a:pt x="0" y="2299"/>
                </a:lnTo>
                <a:lnTo>
                  <a:pt x="13" y="2299"/>
                </a:lnTo>
                <a:close/>
              </a:path>
            </a:pathLst>
          </a:custGeom>
          <a:solidFill>
            <a:srgbClr val="000000"/>
          </a:solidFill>
          <a:ln w="0" cap="flat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97" name="Freeform 94">
            <a:extLst>
              <a:ext uri="{FF2B5EF4-FFF2-40B4-BE49-F238E27FC236}">
                <a16:creationId xmlns:a16="http://schemas.microsoft.com/office/drawing/2014/main" id="{E503C84B-0478-4113-8451-7B3F6817E3DA}"/>
              </a:ext>
            </a:extLst>
          </p:cNvPr>
          <p:cNvSpPr>
            <a:spLocks noEditPoints="1"/>
          </p:cNvSpPr>
          <p:nvPr/>
        </p:nvSpPr>
        <p:spPr bwMode="auto">
          <a:xfrm>
            <a:off x="7310438" y="2357438"/>
            <a:ext cx="22225" cy="3670300"/>
          </a:xfrm>
          <a:custGeom>
            <a:avLst/>
            <a:gdLst>
              <a:gd name="T0" fmla="*/ 14 w 14"/>
              <a:gd name="T1" fmla="*/ 40 h 2312"/>
              <a:gd name="T2" fmla="*/ 0 w 14"/>
              <a:gd name="T3" fmla="*/ 53 h 2312"/>
              <a:gd name="T4" fmla="*/ 14 w 14"/>
              <a:gd name="T5" fmla="*/ 106 h 2312"/>
              <a:gd name="T6" fmla="*/ 0 w 14"/>
              <a:gd name="T7" fmla="*/ 146 h 2312"/>
              <a:gd name="T8" fmla="*/ 14 w 14"/>
              <a:gd name="T9" fmla="*/ 159 h 2312"/>
              <a:gd name="T10" fmla="*/ 14 w 14"/>
              <a:gd name="T11" fmla="*/ 225 h 2312"/>
              <a:gd name="T12" fmla="*/ 0 w 14"/>
              <a:gd name="T13" fmla="*/ 238 h 2312"/>
              <a:gd name="T14" fmla="*/ 14 w 14"/>
              <a:gd name="T15" fmla="*/ 291 h 2312"/>
              <a:gd name="T16" fmla="*/ 0 w 14"/>
              <a:gd name="T17" fmla="*/ 330 h 2312"/>
              <a:gd name="T18" fmla="*/ 14 w 14"/>
              <a:gd name="T19" fmla="*/ 344 h 2312"/>
              <a:gd name="T20" fmla="*/ 14 w 14"/>
              <a:gd name="T21" fmla="*/ 410 h 2312"/>
              <a:gd name="T22" fmla="*/ 0 w 14"/>
              <a:gd name="T23" fmla="*/ 423 h 2312"/>
              <a:gd name="T24" fmla="*/ 14 w 14"/>
              <a:gd name="T25" fmla="*/ 476 h 2312"/>
              <a:gd name="T26" fmla="*/ 0 w 14"/>
              <a:gd name="T27" fmla="*/ 515 h 2312"/>
              <a:gd name="T28" fmla="*/ 14 w 14"/>
              <a:gd name="T29" fmla="*/ 529 h 2312"/>
              <a:gd name="T30" fmla="*/ 14 w 14"/>
              <a:gd name="T31" fmla="*/ 594 h 2312"/>
              <a:gd name="T32" fmla="*/ 0 w 14"/>
              <a:gd name="T33" fmla="*/ 608 h 2312"/>
              <a:gd name="T34" fmla="*/ 14 w 14"/>
              <a:gd name="T35" fmla="*/ 661 h 2312"/>
              <a:gd name="T36" fmla="*/ 0 w 14"/>
              <a:gd name="T37" fmla="*/ 700 h 2312"/>
              <a:gd name="T38" fmla="*/ 14 w 14"/>
              <a:gd name="T39" fmla="*/ 713 h 2312"/>
              <a:gd name="T40" fmla="*/ 14 w 14"/>
              <a:gd name="T41" fmla="*/ 780 h 2312"/>
              <a:gd name="T42" fmla="*/ 0 w 14"/>
              <a:gd name="T43" fmla="*/ 793 h 2312"/>
              <a:gd name="T44" fmla="*/ 14 w 14"/>
              <a:gd name="T45" fmla="*/ 846 h 2312"/>
              <a:gd name="T46" fmla="*/ 0 w 14"/>
              <a:gd name="T47" fmla="*/ 885 h 2312"/>
              <a:gd name="T48" fmla="*/ 14 w 14"/>
              <a:gd name="T49" fmla="*/ 899 h 2312"/>
              <a:gd name="T50" fmla="*/ 14 w 14"/>
              <a:gd name="T51" fmla="*/ 965 h 2312"/>
              <a:gd name="T52" fmla="*/ 0 w 14"/>
              <a:gd name="T53" fmla="*/ 978 h 2312"/>
              <a:gd name="T54" fmla="*/ 14 w 14"/>
              <a:gd name="T55" fmla="*/ 1030 h 2312"/>
              <a:gd name="T56" fmla="*/ 0 w 14"/>
              <a:gd name="T57" fmla="*/ 1070 h 2312"/>
              <a:gd name="T58" fmla="*/ 14 w 14"/>
              <a:gd name="T59" fmla="*/ 1083 h 2312"/>
              <a:gd name="T60" fmla="*/ 14 w 14"/>
              <a:gd name="T61" fmla="*/ 1149 h 2312"/>
              <a:gd name="T62" fmla="*/ 0 w 14"/>
              <a:gd name="T63" fmla="*/ 1163 h 2312"/>
              <a:gd name="T64" fmla="*/ 14 w 14"/>
              <a:gd name="T65" fmla="*/ 1216 h 2312"/>
              <a:gd name="T66" fmla="*/ 0 w 14"/>
              <a:gd name="T67" fmla="*/ 1255 h 2312"/>
              <a:gd name="T68" fmla="*/ 14 w 14"/>
              <a:gd name="T69" fmla="*/ 1268 h 2312"/>
              <a:gd name="T70" fmla="*/ 14 w 14"/>
              <a:gd name="T71" fmla="*/ 1335 h 2312"/>
              <a:gd name="T72" fmla="*/ 0 w 14"/>
              <a:gd name="T73" fmla="*/ 1348 h 2312"/>
              <a:gd name="T74" fmla="*/ 14 w 14"/>
              <a:gd name="T75" fmla="*/ 1400 h 2312"/>
              <a:gd name="T76" fmla="*/ 0 w 14"/>
              <a:gd name="T77" fmla="*/ 1440 h 2312"/>
              <a:gd name="T78" fmla="*/ 14 w 14"/>
              <a:gd name="T79" fmla="*/ 1453 h 2312"/>
              <a:gd name="T80" fmla="*/ 14 w 14"/>
              <a:gd name="T81" fmla="*/ 1519 h 2312"/>
              <a:gd name="T82" fmla="*/ 0 w 14"/>
              <a:gd name="T83" fmla="*/ 1533 h 2312"/>
              <a:gd name="T84" fmla="*/ 14 w 14"/>
              <a:gd name="T85" fmla="*/ 1585 h 2312"/>
              <a:gd name="T86" fmla="*/ 0 w 14"/>
              <a:gd name="T87" fmla="*/ 1625 h 2312"/>
              <a:gd name="T88" fmla="*/ 14 w 14"/>
              <a:gd name="T89" fmla="*/ 1638 h 2312"/>
              <a:gd name="T90" fmla="*/ 14 w 14"/>
              <a:gd name="T91" fmla="*/ 1704 h 2312"/>
              <a:gd name="T92" fmla="*/ 0 w 14"/>
              <a:gd name="T93" fmla="*/ 1718 h 2312"/>
              <a:gd name="T94" fmla="*/ 14 w 14"/>
              <a:gd name="T95" fmla="*/ 1770 h 2312"/>
              <a:gd name="T96" fmla="*/ 0 w 14"/>
              <a:gd name="T97" fmla="*/ 1810 h 2312"/>
              <a:gd name="T98" fmla="*/ 14 w 14"/>
              <a:gd name="T99" fmla="*/ 1823 h 2312"/>
              <a:gd name="T100" fmla="*/ 14 w 14"/>
              <a:gd name="T101" fmla="*/ 1889 h 2312"/>
              <a:gd name="T102" fmla="*/ 0 w 14"/>
              <a:gd name="T103" fmla="*/ 1902 h 2312"/>
              <a:gd name="T104" fmla="*/ 14 w 14"/>
              <a:gd name="T105" fmla="*/ 1955 h 2312"/>
              <a:gd name="T106" fmla="*/ 0 w 14"/>
              <a:gd name="T107" fmla="*/ 1995 h 2312"/>
              <a:gd name="T108" fmla="*/ 14 w 14"/>
              <a:gd name="T109" fmla="*/ 2008 h 2312"/>
              <a:gd name="T110" fmla="*/ 14 w 14"/>
              <a:gd name="T111" fmla="*/ 2074 h 2312"/>
              <a:gd name="T112" fmla="*/ 0 w 14"/>
              <a:gd name="T113" fmla="*/ 2088 h 2312"/>
              <a:gd name="T114" fmla="*/ 14 w 14"/>
              <a:gd name="T115" fmla="*/ 2140 h 2312"/>
              <a:gd name="T116" fmla="*/ 0 w 14"/>
              <a:gd name="T117" fmla="*/ 2180 h 2312"/>
              <a:gd name="T118" fmla="*/ 14 w 14"/>
              <a:gd name="T119" fmla="*/ 2193 h 2312"/>
              <a:gd name="T120" fmla="*/ 14 w 14"/>
              <a:gd name="T121" fmla="*/ 2259 h 2312"/>
              <a:gd name="T122" fmla="*/ 0 w 14"/>
              <a:gd name="T123" fmla="*/ 2272 h 23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14" h="2312">
                <a:moveTo>
                  <a:pt x="14" y="0"/>
                </a:moveTo>
                <a:lnTo>
                  <a:pt x="14" y="13"/>
                </a:lnTo>
                <a:lnTo>
                  <a:pt x="0" y="13"/>
                </a:lnTo>
                <a:lnTo>
                  <a:pt x="0" y="0"/>
                </a:lnTo>
                <a:lnTo>
                  <a:pt x="14" y="0"/>
                </a:lnTo>
                <a:close/>
                <a:moveTo>
                  <a:pt x="14" y="27"/>
                </a:moveTo>
                <a:lnTo>
                  <a:pt x="14" y="40"/>
                </a:lnTo>
                <a:lnTo>
                  <a:pt x="0" y="40"/>
                </a:lnTo>
                <a:lnTo>
                  <a:pt x="0" y="27"/>
                </a:lnTo>
                <a:lnTo>
                  <a:pt x="14" y="27"/>
                </a:lnTo>
                <a:close/>
                <a:moveTo>
                  <a:pt x="14" y="53"/>
                </a:moveTo>
                <a:lnTo>
                  <a:pt x="14" y="66"/>
                </a:lnTo>
                <a:lnTo>
                  <a:pt x="0" y="66"/>
                </a:lnTo>
                <a:lnTo>
                  <a:pt x="0" y="53"/>
                </a:lnTo>
                <a:lnTo>
                  <a:pt x="14" y="53"/>
                </a:lnTo>
                <a:close/>
                <a:moveTo>
                  <a:pt x="14" y="79"/>
                </a:moveTo>
                <a:lnTo>
                  <a:pt x="14" y="93"/>
                </a:lnTo>
                <a:lnTo>
                  <a:pt x="0" y="93"/>
                </a:lnTo>
                <a:lnTo>
                  <a:pt x="0" y="79"/>
                </a:lnTo>
                <a:lnTo>
                  <a:pt x="14" y="79"/>
                </a:lnTo>
                <a:close/>
                <a:moveTo>
                  <a:pt x="14" y="106"/>
                </a:moveTo>
                <a:lnTo>
                  <a:pt x="14" y="119"/>
                </a:lnTo>
                <a:lnTo>
                  <a:pt x="0" y="119"/>
                </a:lnTo>
                <a:lnTo>
                  <a:pt x="0" y="106"/>
                </a:lnTo>
                <a:lnTo>
                  <a:pt x="14" y="106"/>
                </a:lnTo>
                <a:close/>
                <a:moveTo>
                  <a:pt x="14" y="132"/>
                </a:moveTo>
                <a:lnTo>
                  <a:pt x="14" y="146"/>
                </a:lnTo>
                <a:lnTo>
                  <a:pt x="0" y="146"/>
                </a:lnTo>
                <a:lnTo>
                  <a:pt x="0" y="132"/>
                </a:lnTo>
                <a:lnTo>
                  <a:pt x="14" y="132"/>
                </a:lnTo>
                <a:close/>
                <a:moveTo>
                  <a:pt x="14" y="159"/>
                </a:moveTo>
                <a:lnTo>
                  <a:pt x="14" y="172"/>
                </a:lnTo>
                <a:lnTo>
                  <a:pt x="0" y="172"/>
                </a:lnTo>
                <a:lnTo>
                  <a:pt x="0" y="159"/>
                </a:lnTo>
                <a:lnTo>
                  <a:pt x="14" y="159"/>
                </a:lnTo>
                <a:close/>
                <a:moveTo>
                  <a:pt x="14" y="185"/>
                </a:moveTo>
                <a:lnTo>
                  <a:pt x="14" y="198"/>
                </a:lnTo>
                <a:lnTo>
                  <a:pt x="0" y="198"/>
                </a:lnTo>
                <a:lnTo>
                  <a:pt x="0" y="185"/>
                </a:lnTo>
                <a:lnTo>
                  <a:pt x="14" y="185"/>
                </a:lnTo>
                <a:close/>
                <a:moveTo>
                  <a:pt x="14" y="211"/>
                </a:moveTo>
                <a:lnTo>
                  <a:pt x="14" y="225"/>
                </a:lnTo>
                <a:lnTo>
                  <a:pt x="0" y="225"/>
                </a:lnTo>
                <a:lnTo>
                  <a:pt x="0" y="211"/>
                </a:lnTo>
                <a:lnTo>
                  <a:pt x="14" y="211"/>
                </a:lnTo>
                <a:close/>
                <a:moveTo>
                  <a:pt x="14" y="238"/>
                </a:moveTo>
                <a:lnTo>
                  <a:pt x="14" y="251"/>
                </a:lnTo>
                <a:lnTo>
                  <a:pt x="0" y="251"/>
                </a:lnTo>
                <a:lnTo>
                  <a:pt x="0" y="238"/>
                </a:lnTo>
                <a:lnTo>
                  <a:pt x="14" y="238"/>
                </a:lnTo>
                <a:close/>
                <a:moveTo>
                  <a:pt x="14" y="264"/>
                </a:moveTo>
                <a:lnTo>
                  <a:pt x="14" y="277"/>
                </a:lnTo>
                <a:lnTo>
                  <a:pt x="0" y="277"/>
                </a:lnTo>
                <a:lnTo>
                  <a:pt x="0" y="264"/>
                </a:lnTo>
                <a:lnTo>
                  <a:pt x="14" y="264"/>
                </a:lnTo>
                <a:close/>
                <a:moveTo>
                  <a:pt x="14" y="291"/>
                </a:moveTo>
                <a:lnTo>
                  <a:pt x="14" y="304"/>
                </a:lnTo>
                <a:lnTo>
                  <a:pt x="0" y="304"/>
                </a:lnTo>
                <a:lnTo>
                  <a:pt x="0" y="291"/>
                </a:lnTo>
                <a:lnTo>
                  <a:pt x="14" y="291"/>
                </a:lnTo>
                <a:close/>
                <a:moveTo>
                  <a:pt x="14" y="317"/>
                </a:moveTo>
                <a:lnTo>
                  <a:pt x="14" y="330"/>
                </a:lnTo>
                <a:lnTo>
                  <a:pt x="0" y="330"/>
                </a:lnTo>
                <a:lnTo>
                  <a:pt x="0" y="317"/>
                </a:lnTo>
                <a:lnTo>
                  <a:pt x="14" y="317"/>
                </a:lnTo>
                <a:close/>
                <a:moveTo>
                  <a:pt x="14" y="344"/>
                </a:moveTo>
                <a:lnTo>
                  <a:pt x="14" y="357"/>
                </a:lnTo>
                <a:lnTo>
                  <a:pt x="0" y="357"/>
                </a:lnTo>
                <a:lnTo>
                  <a:pt x="0" y="344"/>
                </a:lnTo>
                <a:lnTo>
                  <a:pt x="14" y="344"/>
                </a:lnTo>
                <a:close/>
                <a:moveTo>
                  <a:pt x="14" y="370"/>
                </a:moveTo>
                <a:lnTo>
                  <a:pt x="14" y="383"/>
                </a:lnTo>
                <a:lnTo>
                  <a:pt x="0" y="383"/>
                </a:lnTo>
                <a:lnTo>
                  <a:pt x="0" y="370"/>
                </a:lnTo>
                <a:lnTo>
                  <a:pt x="14" y="370"/>
                </a:lnTo>
                <a:close/>
                <a:moveTo>
                  <a:pt x="14" y="396"/>
                </a:moveTo>
                <a:lnTo>
                  <a:pt x="14" y="410"/>
                </a:lnTo>
                <a:lnTo>
                  <a:pt x="0" y="410"/>
                </a:lnTo>
                <a:lnTo>
                  <a:pt x="0" y="396"/>
                </a:lnTo>
                <a:lnTo>
                  <a:pt x="14" y="396"/>
                </a:lnTo>
                <a:close/>
                <a:moveTo>
                  <a:pt x="14" y="423"/>
                </a:moveTo>
                <a:lnTo>
                  <a:pt x="14" y="436"/>
                </a:lnTo>
                <a:lnTo>
                  <a:pt x="0" y="436"/>
                </a:lnTo>
                <a:lnTo>
                  <a:pt x="0" y="423"/>
                </a:lnTo>
                <a:lnTo>
                  <a:pt x="14" y="423"/>
                </a:lnTo>
                <a:close/>
                <a:moveTo>
                  <a:pt x="14" y="449"/>
                </a:moveTo>
                <a:lnTo>
                  <a:pt x="14" y="463"/>
                </a:lnTo>
                <a:lnTo>
                  <a:pt x="0" y="463"/>
                </a:lnTo>
                <a:lnTo>
                  <a:pt x="0" y="449"/>
                </a:lnTo>
                <a:lnTo>
                  <a:pt x="14" y="449"/>
                </a:lnTo>
                <a:close/>
                <a:moveTo>
                  <a:pt x="14" y="476"/>
                </a:moveTo>
                <a:lnTo>
                  <a:pt x="14" y="489"/>
                </a:lnTo>
                <a:lnTo>
                  <a:pt x="0" y="489"/>
                </a:lnTo>
                <a:lnTo>
                  <a:pt x="0" y="476"/>
                </a:lnTo>
                <a:lnTo>
                  <a:pt x="14" y="476"/>
                </a:lnTo>
                <a:close/>
                <a:moveTo>
                  <a:pt x="14" y="502"/>
                </a:moveTo>
                <a:lnTo>
                  <a:pt x="14" y="515"/>
                </a:lnTo>
                <a:lnTo>
                  <a:pt x="0" y="515"/>
                </a:lnTo>
                <a:lnTo>
                  <a:pt x="0" y="502"/>
                </a:lnTo>
                <a:lnTo>
                  <a:pt x="14" y="502"/>
                </a:lnTo>
                <a:close/>
                <a:moveTo>
                  <a:pt x="14" y="529"/>
                </a:moveTo>
                <a:lnTo>
                  <a:pt x="14" y="542"/>
                </a:lnTo>
                <a:lnTo>
                  <a:pt x="0" y="542"/>
                </a:lnTo>
                <a:lnTo>
                  <a:pt x="0" y="529"/>
                </a:lnTo>
                <a:lnTo>
                  <a:pt x="14" y="529"/>
                </a:lnTo>
                <a:close/>
                <a:moveTo>
                  <a:pt x="14" y="555"/>
                </a:moveTo>
                <a:lnTo>
                  <a:pt x="14" y="568"/>
                </a:lnTo>
                <a:lnTo>
                  <a:pt x="0" y="568"/>
                </a:lnTo>
                <a:lnTo>
                  <a:pt x="0" y="555"/>
                </a:lnTo>
                <a:lnTo>
                  <a:pt x="14" y="555"/>
                </a:lnTo>
                <a:close/>
                <a:moveTo>
                  <a:pt x="14" y="581"/>
                </a:moveTo>
                <a:lnTo>
                  <a:pt x="14" y="594"/>
                </a:lnTo>
                <a:lnTo>
                  <a:pt x="0" y="594"/>
                </a:lnTo>
                <a:lnTo>
                  <a:pt x="0" y="581"/>
                </a:lnTo>
                <a:lnTo>
                  <a:pt x="14" y="581"/>
                </a:lnTo>
                <a:close/>
                <a:moveTo>
                  <a:pt x="14" y="608"/>
                </a:moveTo>
                <a:lnTo>
                  <a:pt x="14" y="621"/>
                </a:lnTo>
                <a:lnTo>
                  <a:pt x="0" y="621"/>
                </a:lnTo>
                <a:lnTo>
                  <a:pt x="0" y="608"/>
                </a:lnTo>
                <a:lnTo>
                  <a:pt x="14" y="608"/>
                </a:lnTo>
                <a:close/>
                <a:moveTo>
                  <a:pt x="14" y="634"/>
                </a:moveTo>
                <a:lnTo>
                  <a:pt x="14" y="647"/>
                </a:lnTo>
                <a:lnTo>
                  <a:pt x="0" y="647"/>
                </a:lnTo>
                <a:lnTo>
                  <a:pt x="0" y="634"/>
                </a:lnTo>
                <a:lnTo>
                  <a:pt x="14" y="634"/>
                </a:lnTo>
                <a:close/>
                <a:moveTo>
                  <a:pt x="14" y="661"/>
                </a:moveTo>
                <a:lnTo>
                  <a:pt x="14" y="674"/>
                </a:lnTo>
                <a:lnTo>
                  <a:pt x="0" y="674"/>
                </a:lnTo>
                <a:lnTo>
                  <a:pt x="0" y="661"/>
                </a:lnTo>
                <a:lnTo>
                  <a:pt x="14" y="661"/>
                </a:lnTo>
                <a:close/>
                <a:moveTo>
                  <a:pt x="14" y="687"/>
                </a:moveTo>
                <a:lnTo>
                  <a:pt x="14" y="700"/>
                </a:lnTo>
                <a:lnTo>
                  <a:pt x="0" y="700"/>
                </a:lnTo>
                <a:lnTo>
                  <a:pt x="0" y="687"/>
                </a:lnTo>
                <a:lnTo>
                  <a:pt x="14" y="687"/>
                </a:lnTo>
                <a:close/>
                <a:moveTo>
                  <a:pt x="14" y="713"/>
                </a:moveTo>
                <a:lnTo>
                  <a:pt x="14" y="727"/>
                </a:lnTo>
                <a:lnTo>
                  <a:pt x="0" y="727"/>
                </a:lnTo>
                <a:lnTo>
                  <a:pt x="0" y="713"/>
                </a:lnTo>
                <a:lnTo>
                  <a:pt x="14" y="713"/>
                </a:lnTo>
                <a:close/>
                <a:moveTo>
                  <a:pt x="14" y="740"/>
                </a:moveTo>
                <a:lnTo>
                  <a:pt x="14" y="753"/>
                </a:lnTo>
                <a:lnTo>
                  <a:pt x="0" y="753"/>
                </a:lnTo>
                <a:lnTo>
                  <a:pt x="0" y="740"/>
                </a:lnTo>
                <a:lnTo>
                  <a:pt x="14" y="740"/>
                </a:lnTo>
                <a:close/>
                <a:moveTo>
                  <a:pt x="14" y="766"/>
                </a:moveTo>
                <a:lnTo>
                  <a:pt x="14" y="780"/>
                </a:lnTo>
                <a:lnTo>
                  <a:pt x="0" y="780"/>
                </a:lnTo>
                <a:lnTo>
                  <a:pt x="0" y="766"/>
                </a:lnTo>
                <a:lnTo>
                  <a:pt x="14" y="766"/>
                </a:lnTo>
                <a:close/>
                <a:moveTo>
                  <a:pt x="14" y="793"/>
                </a:moveTo>
                <a:lnTo>
                  <a:pt x="14" y="806"/>
                </a:lnTo>
                <a:lnTo>
                  <a:pt x="0" y="806"/>
                </a:lnTo>
                <a:lnTo>
                  <a:pt x="0" y="793"/>
                </a:lnTo>
                <a:lnTo>
                  <a:pt x="14" y="793"/>
                </a:lnTo>
                <a:close/>
                <a:moveTo>
                  <a:pt x="14" y="819"/>
                </a:moveTo>
                <a:lnTo>
                  <a:pt x="14" y="832"/>
                </a:lnTo>
                <a:lnTo>
                  <a:pt x="0" y="832"/>
                </a:lnTo>
                <a:lnTo>
                  <a:pt x="0" y="819"/>
                </a:lnTo>
                <a:lnTo>
                  <a:pt x="14" y="819"/>
                </a:lnTo>
                <a:close/>
                <a:moveTo>
                  <a:pt x="14" y="846"/>
                </a:moveTo>
                <a:lnTo>
                  <a:pt x="14" y="859"/>
                </a:lnTo>
                <a:lnTo>
                  <a:pt x="0" y="859"/>
                </a:lnTo>
                <a:lnTo>
                  <a:pt x="0" y="846"/>
                </a:lnTo>
                <a:lnTo>
                  <a:pt x="14" y="846"/>
                </a:lnTo>
                <a:close/>
                <a:moveTo>
                  <a:pt x="14" y="872"/>
                </a:moveTo>
                <a:lnTo>
                  <a:pt x="14" y="885"/>
                </a:lnTo>
                <a:lnTo>
                  <a:pt x="0" y="885"/>
                </a:lnTo>
                <a:lnTo>
                  <a:pt x="0" y="872"/>
                </a:lnTo>
                <a:lnTo>
                  <a:pt x="14" y="872"/>
                </a:lnTo>
                <a:close/>
                <a:moveTo>
                  <a:pt x="14" y="899"/>
                </a:moveTo>
                <a:lnTo>
                  <a:pt x="14" y="912"/>
                </a:lnTo>
                <a:lnTo>
                  <a:pt x="0" y="912"/>
                </a:lnTo>
                <a:lnTo>
                  <a:pt x="0" y="899"/>
                </a:lnTo>
                <a:lnTo>
                  <a:pt x="14" y="899"/>
                </a:lnTo>
                <a:close/>
                <a:moveTo>
                  <a:pt x="14" y="925"/>
                </a:moveTo>
                <a:lnTo>
                  <a:pt x="14" y="938"/>
                </a:lnTo>
                <a:lnTo>
                  <a:pt x="0" y="938"/>
                </a:lnTo>
                <a:lnTo>
                  <a:pt x="0" y="925"/>
                </a:lnTo>
                <a:lnTo>
                  <a:pt x="14" y="925"/>
                </a:lnTo>
                <a:close/>
                <a:moveTo>
                  <a:pt x="14" y="951"/>
                </a:moveTo>
                <a:lnTo>
                  <a:pt x="14" y="965"/>
                </a:lnTo>
                <a:lnTo>
                  <a:pt x="0" y="965"/>
                </a:lnTo>
                <a:lnTo>
                  <a:pt x="0" y="951"/>
                </a:lnTo>
                <a:lnTo>
                  <a:pt x="14" y="951"/>
                </a:lnTo>
                <a:close/>
                <a:moveTo>
                  <a:pt x="14" y="978"/>
                </a:moveTo>
                <a:lnTo>
                  <a:pt x="14" y="991"/>
                </a:lnTo>
                <a:lnTo>
                  <a:pt x="0" y="991"/>
                </a:lnTo>
                <a:lnTo>
                  <a:pt x="0" y="978"/>
                </a:lnTo>
                <a:lnTo>
                  <a:pt x="14" y="978"/>
                </a:lnTo>
                <a:close/>
                <a:moveTo>
                  <a:pt x="14" y="1004"/>
                </a:moveTo>
                <a:lnTo>
                  <a:pt x="14" y="1017"/>
                </a:lnTo>
                <a:lnTo>
                  <a:pt x="0" y="1017"/>
                </a:lnTo>
                <a:lnTo>
                  <a:pt x="0" y="1004"/>
                </a:lnTo>
                <a:lnTo>
                  <a:pt x="14" y="1004"/>
                </a:lnTo>
                <a:close/>
                <a:moveTo>
                  <a:pt x="14" y="1030"/>
                </a:moveTo>
                <a:lnTo>
                  <a:pt x="14" y="1044"/>
                </a:lnTo>
                <a:lnTo>
                  <a:pt x="0" y="1044"/>
                </a:lnTo>
                <a:lnTo>
                  <a:pt x="0" y="1030"/>
                </a:lnTo>
                <a:lnTo>
                  <a:pt x="14" y="1030"/>
                </a:lnTo>
                <a:close/>
                <a:moveTo>
                  <a:pt x="14" y="1057"/>
                </a:moveTo>
                <a:lnTo>
                  <a:pt x="14" y="1070"/>
                </a:lnTo>
                <a:lnTo>
                  <a:pt x="0" y="1070"/>
                </a:lnTo>
                <a:lnTo>
                  <a:pt x="0" y="1057"/>
                </a:lnTo>
                <a:lnTo>
                  <a:pt x="14" y="1057"/>
                </a:lnTo>
                <a:close/>
                <a:moveTo>
                  <a:pt x="14" y="1083"/>
                </a:moveTo>
                <a:lnTo>
                  <a:pt x="14" y="1097"/>
                </a:lnTo>
                <a:lnTo>
                  <a:pt x="0" y="1097"/>
                </a:lnTo>
                <a:lnTo>
                  <a:pt x="0" y="1083"/>
                </a:lnTo>
                <a:lnTo>
                  <a:pt x="14" y="1083"/>
                </a:lnTo>
                <a:close/>
                <a:moveTo>
                  <a:pt x="14" y="1110"/>
                </a:moveTo>
                <a:lnTo>
                  <a:pt x="14" y="1123"/>
                </a:lnTo>
                <a:lnTo>
                  <a:pt x="0" y="1123"/>
                </a:lnTo>
                <a:lnTo>
                  <a:pt x="0" y="1110"/>
                </a:lnTo>
                <a:lnTo>
                  <a:pt x="14" y="1110"/>
                </a:lnTo>
                <a:close/>
                <a:moveTo>
                  <a:pt x="14" y="1136"/>
                </a:moveTo>
                <a:lnTo>
                  <a:pt x="14" y="1149"/>
                </a:lnTo>
                <a:lnTo>
                  <a:pt x="0" y="1149"/>
                </a:lnTo>
                <a:lnTo>
                  <a:pt x="0" y="1136"/>
                </a:lnTo>
                <a:lnTo>
                  <a:pt x="14" y="1136"/>
                </a:lnTo>
                <a:close/>
                <a:moveTo>
                  <a:pt x="14" y="1163"/>
                </a:moveTo>
                <a:lnTo>
                  <a:pt x="14" y="1176"/>
                </a:lnTo>
                <a:lnTo>
                  <a:pt x="0" y="1176"/>
                </a:lnTo>
                <a:lnTo>
                  <a:pt x="0" y="1163"/>
                </a:lnTo>
                <a:lnTo>
                  <a:pt x="14" y="1163"/>
                </a:lnTo>
                <a:close/>
                <a:moveTo>
                  <a:pt x="14" y="1189"/>
                </a:moveTo>
                <a:lnTo>
                  <a:pt x="14" y="1202"/>
                </a:lnTo>
                <a:lnTo>
                  <a:pt x="0" y="1202"/>
                </a:lnTo>
                <a:lnTo>
                  <a:pt x="0" y="1189"/>
                </a:lnTo>
                <a:lnTo>
                  <a:pt x="14" y="1189"/>
                </a:lnTo>
                <a:close/>
                <a:moveTo>
                  <a:pt x="14" y="1216"/>
                </a:moveTo>
                <a:lnTo>
                  <a:pt x="14" y="1229"/>
                </a:lnTo>
                <a:lnTo>
                  <a:pt x="0" y="1229"/>
                </a:lnTo>
                <a:lnTo>
                  <a:pt x="0" y="1216"/>
                </a:lnTo>
                <a:lnTo>
                  <a:pt x="14" y="1216"/>
                </a:lnTo>
                <a:close/>
                <a:moveTo>
                  <a:pt x="14" y="1242"/>
                </a:moveTo>
                <a:lnTo>
                  <a:pt x="14" y="1255"/>
                </a:lnTo>
                <a:lnTo>
                  <a:pt x="0" y="1255"/>
                </a:lnTo>
                <a:lnTo>
                  <a:pt x="0" y="1242"/>
                </a:lnTo>
                <a:lnTo>
                  <a:pt x="14" y="1242"/>
                </a:lnTo>
                <a:close/>
                <a:moveTo>
                  <a:pt x="14" y="1268"/>
                </a:moveTo>
                <a:lnTo>
                  <a:pt x="14" y="1282"/>
                </a:lnTo>
                <a:lnTo>
                  <a:pt x="0" y="1282"/>
                </a:lnTo>
                <a:lnTo>
                  <a:pt x="0" y="1268"/>
                </a:lnTo>
                <a:lnTo>
                  <a:pt x="14" y="1268"/>
                </a:lnTo>
                <a:close/>
                <a:moveTo>
                  <a:pt x="14" y="1295"/>
                </a:moveTo>
                <a:lnTo>
                  <a:pt x="14" y="1308"/>
                </a:lnTo>
                <a:lnTo>
                  <a:pt x="0" y="1308"/>
                </a:lnTo>
                <a:lnTo>
                  <a:pt x="0" y="1295"/>
                </a:lnTo>
                <a:lnTo>
                  <a:pt x="14" y="1295"/>
                </a:lnTo>
                <a:close/>
                <a:moveTo>
                  <a:pt x="14" y="1321"/>
                </a:moveTo>
                <a:lnTo>
                  <a:pt x="14" y="1335"/>
                </a:lnTo>
                <a:lnTo>
                  <a:pt x="0" y="1335"/>
                </a:lnTo>
                <a:lnTo>
                  <a:pt x="0" y="1321"/>
                </a:lnTo>
                <a:lnTo>
                  <a:pt x="14" y="1321"/>
                </a:lnTo>
                <a:close/>
                <a:moveTo>
                  <a:pt x="14" y="1348"/>
                </a:moveTo>
                <a:lnTo>
                  <a:pt x="14" y="1361"/>
                </a:lnTo>
                <a:lnTo>
                  <a:pt x="0" y="1361"/>
                </a:lnTo>
                <a:lnTo>
                  <a:pt x="0" y="1348"/>
                </a:lnTo>
                <a:lnTo>
                  <a:pt x="14" y="1348"/>
                </a:lnTo>
                <a:close/>
                <a:moveTo>
                  <a:pt x="14" y="1374"/>
                </a:moveTo>
                <a:lnTo>
                  <a:pt x="14" y="1387"/>
                </a:lnTo>
                <a:lnTo>
                  <a:pt x="0" y="1387"/>
                </a:lnTo>
                <a:lnTo>
                  <a:pt x="0" y="1374"/>
                </a:lnTo>
                <a:lnTo>
                  <a:pt x="14" y="1374"/>
                </a:lnTo>
                <a:close/>
                <a:moveTo>
                  <a:pt x="14" y="1400"/>
                </a:moveTo>
                <a:lnTo>
                  <a:pt x="14" y="1414"/>
                </a:lnTo>
                <a:lnTo>
                  <a:pt x="0" y="1414"/>
                </a:lnTo>
                <a:lnTo>
                  <a:pt x="0" y="1400"/>
                </a:lnTo>
                <a:lnTo>
                  <a:pt x="14" y="1400"/>
                </a:lnTo>
                <a:close/>
                <a:moveTo>
                  <a:pt x="14" y="1427"/>
                </a:moveTo>
                <a:lnTo>
                  <a:pt x="14" y="1440"/>
                </a:lnTo>
                <a:lnTo>
                  <a:pt x="0" y="1440"/>
                </a:lnTo>
                <a:lnTo>
                  <a:pt x="0" y="1427"/>
                </a:lnTo>
                <a:lnTo>
                  <a:pt x="14" y="1427"/>
                </a:lnTo>
                <a:close/>
                <a:moveTo>
                  <a:pt x="14" y="1453"/>
                </a:moveTo>
                <a:lnTo>
                  <a:pt x="14" y="1466"/>
                </a:lnTo>
                <a:lnTo>
                  <a:pt x="0" y="1466"/>
                </a:lnTo>
                <a:lnTo>
                  <a:pt x="0" y="1453"/>
                </a:lnTo>
                <a:lnTo>
                  <a:pt x="14" y="1453"/>
                </a:lnTo>
                <a:close/>
                <a:moveTo>
                  <a:pt x="14" y="1480"/>
                </a:moveTo>
                <a:lnTo>
                  <a:pt x="14" y="1493"/>
                </a:lnTo>
                <a:lnTo>
                  <a:pt x="0" y="1493"/>
                </a:lnTo>
                <a:lnTo>
                  <a:pt x="0" y="1480"/>
                </a:lnTo>
                <a:lnTo>
                  <a:pt x="14" y="1480"/>
                </a:lnTo>
                <a:close/>
                <a:moveTo>
                  <a:pt x="14" y="1506"/>
                </a:moveTo>
                <a:lnTo>
                  <a:pt x="14" y="1519"/>
                </a:lnTo>
                <a:lnTo>
                  <a:pt x="0" y="1519"/>
                </a:lnTo>
                <a:lnTo>
                  <a:pt x="0" y="1506"/>
                </a:lnTo>
                <a:lnTo>
                  <a:pt x="14" y="1506"/>
                </a:lnTo>
                <a:close/>
                <a:moveTo>
                  <a:pt x="14" y="1533"/>
                </a:moveTo>
                <a:lnTo>
                  <a:pt x="14" y="1546"/>
                </a:lnTo>
                <a:lnTo>
                  <a:pt x="0" y="1546"/>
                </a:lnTo>
                <a:lnTo>
                  <a:pt x="0" y="1533"/>
                </a:lnTo>
                <a:lnTo>
                  <a:pt x="14" y="1533"/>
                </a:lnTo>
                <a:close/>
                <a:moveTo>
                  <a:pt x="14" y="1559"/>
                </a:moveTo>
                <a:lnTo>
                  <a:pt x="14" y="1572"/>
                </a:lnTo>
                <a:lnTo>
                  <a:pt x="0" y="1572"/>
                </a:lnTo>
                <a:lnTo>
                  <a:pt x="0" y="1559"/>
                </a:lnTo>
                <a:lnTo>
                  <a:pt x="14" y="1559"/>
                </a:lnTo>
                <a:close/>
                <a:moveTo>
                  <a:pt x="14" y="1585"/>
                </a:moveTo>
                <a:lnTo>
                  <a:pt x="14" y="1599"/>
                </a:lnTo>
                <a:lnTo>
                  <a:pt x="0" y="1599"/>
                </a:lnTo>
                <a:lnTo>
                  <a:pt x="0" y="1585"/>
                </a:lnTo>
                <a:lnTo>
                  <a:pt x="14" y="1585"/>
                </a:lnTo>
                <a:close/>
                <a:moveTo>
                  <a:pt x="14" y="1612"/>
                </a:moveTo>
                <a:lnTo>
                  <a:pt x="14" y="1625"/>
                </a:lnTo>
                <a:lnTo>
                  <a:pt x="0" y="1625"/>
                </a:lnTo>
                <a:lnTo>
                  <a:pt x="0" y="1612"/>
                </a:lnTo>
                <a:lnTo>
                  <a:pt x="14" y="1612"/>
                </a:lnTo>
                <a:close/>
                <a:moveTo>
                  <a:pt x="14" y="1638"/>
                </a:moveTo>
                <a:lnTo>
                  <a:pt x="14" y="1652"/>
                </a:lnTo>
                <a:lnTo>
                  <a:pt x="0" y="1652"/>
                </a:lnTo>
                <a:lnTo>
                  <a:pt x="0" y="1638"/>
                </a:lnTo>
                <a:lnTo>
                  <a:pt x="14" y="1638"/>
                </a:lnTo>
                <a:close/>
                <a:moveTo>
                  <a:pt x="14" y="1665"/>
                </a:moveTo>
                <a:lnTo>
                  <a:pt x="14" y="1678"/>
                </a:lnTo>
                <a:lnTo>
                  <a:pt x="0" y="1678"/>
                </a:lnTo>
                <a:lnTo>
                  <a:pt x="0" y="1665"/>
                </a:lnTo>
                <a:lnTo>
                  <a:pt x="14" y="1665"/>
                </a:lnTo>
                <a:close/>
                <a:moveTo>
                  <a:pt x="14" y="1691"/>
                </a:moveTo>
                <a:lnTo>
                  <a:pt x="14" y="1704"/>
                </a:lnTo>
                <a:lnTo>
                  <a:pt x="0" y="1704"/>
                </a:lnTo>
                <a:lnTo>
                  <a:pt x="0" y="1691"/>
                </a:lnTo>
                <a:lnTo>
                  <a:pt x="14" y="1691"/>
                </a:lnTo>
                <a:close/>
                <a:moveTo>
                  <a:pt x="14" y="1718"/>
                </a:moveTo>
                <a:lnTo>
                  <a:pt x="14" y="1731"/>
                </a:lnTo>
                <a:lnTo>
                  <a:pt x="0" y="1731"/>
                </a:lnTo>
                <a:lnTo>
                  <a:pt x="0" y="1718"/>
                </a:lnTo>
                <a:lnTo>
                  <a:pt x="14" y="1718"/>
                </a:lnTo>
                <a:close/>
                <a:moveTo>
                  <a:pt x="14" y="1744"/>
                </a:moveTo>
                <a:lnTo>
                  <a:pt x="14" y="1757"/>
                </a:lnTo>
                <a:lnTo>
                  <a:pt x="0" y="1757"/>
                </a:lnTo>
                <a:lnTo>
                  <a:pt x="0" y="1744"/>
                </a:lnTo>
                <a:lnTo>
                  <a:pt x="14" y="1744"/>
                </a:lnTo>
                <a:close/>
                <a:moveTo>
                  <a:pt x="14" y="1770"/>
                </a:moveTo>
                <a:lnTo>
                  <a:pt x="14" y="1783"/>
                </a:lnTo>
                <a:lnTo>
                  <a:pt x="0" y="1783"/>
                </a:lnTo>
                <a:lnTo>
                  <a:pt x="0" y="1770"/>
                </a:lnTo>
                <a:lnTo>
                  <a:pt x="14" y="1770"/>
                </a:lnTo>
                <a:close/>
                <a:moveTo>
                  <a:pt x="14" y="1797"/>
                </a:moveTo>
                <a:lnTo>
                  <a:pt x="14" y="1810"/>
                </a:lnTo>
                <a:lnTo>
                  <a:pt x="0" y="1810"/>
                </a:lnTo>
                <a:lnTo>
                  <a:pt x="0" y="1797"/>
                </a:lnTo>
                <a:lnTo>
                  <a:pt x="14" y="1797"/>
                </a:lnTo>
                <a:close/>
                <a:moveTo>
                  <a:pt x="14" y="1823"/>
                </a:moveTo>
                <a:lnTo>
                  <a:pt x="14" y="1836"/>
                </a:lnTo>
                <a:lnTo>
                  <a:pt x="0" y="1836"/>
                </a:lnTo>
                <a:lnTo>
                  <a:pt x="0" y="1823"/>
                </a:lnTo>
                <a:lnTo>
                  <a:pt x="14" y="1823"/>
                </a:lnTo>
                <a:close/>
                <a:moveTo>
                  <a:pt x="14" y="1850"/>
                </a:moveTo>
                <a:lnTo>
                  <a:pt x="14" y="1863"/>
                </a:lnTo>
                <a:lnTo>
                  <a:pt x="0" y="1863"/>
                </a:lnTo>
                <a:lnTo>
                  <a:pt x="0" y="1850"/>
                </a:lnTo>
                <a:lnTo>
                  <a:pt x="14" y="1850"/>
                </a:lnTo>
                <a:close/>
                <a:moveTo>
                  <a:pt x="14" y="1876"/>
                </a:moveTo>
                <a:lnTo>
                  <a:pt x="14" y="1889"/>
                </a:lnTo>
                <a:lnTo>
                  <a:pt x="0" y="1889"/>
                </a:lnTo>
                <a:lnTo>
                  <a:pt x="0" y="1876"/>
                </a:lnTo>
                <a:lnTo>
                  <a:pt x="14" y="1876"/>
                </a:lnTo>
                <a:close/>
                <a:moveTo>
                  <a:pt x="14" y="1902"/>
                </a:moveTo>
                <a:lnTo>
                  <a:pt x="14" y="1916"/>
                </a:lnTo>
                <a:lnTo>
                  <a:pt x="0" y="1916"/>
                </a:lnTo>
                <a:lnTo>
                  <a:pt x="0" y="1902"/>
                </a:lnTo>
                <a:lnTo>
                  <a:pt x="14" y="1902"/>
                </a:lnTo>
                <a:close/>
                <a:moveTo>
                  <a:pt x="14" y="1929"/>
                </a:moveTo>
                <a:lnTo>
                  <a:pt x="14" y="1942"/>
                </a:lnTo>
                <a:lnTo>
                  <a:pt x="0" y="1942"/>
                </a:lnTo>
                <a:lnTo>
                  <a:pt x="0" y="1929"/>
                </a:lnTo>
                <a:lnTo>
                  <a:pt x="14" y="1929"/>
                </a:lnTo>
                <a:close/>
                <a:moveTo>
                  <a:pt x="14" y="1955"/>
                </a:moveTo>
                <a:lnTo>
                  <a:pt x="14" y="1969"/>
                </a:lnTo>
                <a:lnTo>
                  <a:pt x="0" y="1969"/>
                </a:lnTo>
                <a:lnTo>
                  <a:pt x="0" y="1955"/>
                </a:lnTo>
                <a:lnTo>
                  <a:pt x="14" y="1955"/>
                </a:lnTo>
                <a:close/>
                <a:moveTo>
                  <a:pt x="14" y="1982"/>
                </a:moveTo>
                <a:lnTo>
                  <a:pt x="14" y="1995"/>
                </a:lnTo>
                <a:lnTo>
                  <a:pt x="0" y="1995"/>
                </a:lnTo>
                <a:lnTo>
                  <a:pt x="0" y="1982"/>
                </a:lnTo>
                <a:lnTo>
                  <a:pt x="14" y="1982"/>
                </a:lnTo>
                <a:close/>
                <a:moveTo>
                  <a:pt x="14" y="2008"/>
                </a:moveTo>
                <a:lnTo>
                  <a:pt x="14" y="2021"/>
                </a:lnTo>
                <a:lnTo>
                  <a:pt x="0" y="2021"/>
                </a:lnTo>
                <a:lnTo>
                  <a:pt x="0" y="2008"/>
                </a:lnTo>
                <a:lnTo>
                  <a:pt x="14" y="2008"/>
                </a:lnTo>
                <a:close/>
                <a:moveTo>
                  <a:pt x="14" y="2035"/>
                </a:moveTo>
                <a:lnTo>
                  <a:pt x="14" y="2048"/>
                </a:lnTo>
                <a:lnTo>
                  <a:pt x="0" y="2048"/>
                </a:lnTo>
                <a:lnTo>
                  <a:pt x="0" y="2035"/>
                </a:lnTo>
                <a:lnTo>
                  <a:pt x="14" y="2035"/>
                </a:lnTo>
                <a:close/>
                <a:moveTo>
                  <a:pt x="14" y="2061"/>
                </a:moveTo>
                <a:lnTo>
                  <a:pt x="14" y="2074"/>
                </a:lnTo>
                <a:lnTo>
                  <a:pt x="0" y="2074"/>
                </a:lnTo>
                <a:lnTo>
                  <a:pt x="0" y="2061"/>
                </a:lnTo>
                <a:lnTo>
                  <a:pt x="14" y="2061"/>
                </a:lnTo>
                <a:close/>
                <a:moveTo>
                  <a:pt x="14" y="2088"/>
                </a:moveTo>
                <a:lnTo>
                  <a:pt x="14" y="2101"/>
                </a:lnTo>
                <a:lnTo>
                  <a:pt x="0" y="2101"/>
                </a:lnTo>
                <a:lnTo>
                  <a:pt x="0" y="2088"/>
                </a:lnTo>
                <a:lnTo>
                  <a:pt x="14" y="2088"/>
                </a:lnTo>
                <a:close/>
                <a:moveTo>
                  <a:pt x="14" y="2114"/>
                </a:moveTo>
                <a:lnTo>
                  <a:pt x="14" y="2127"/>
                </a:lnTo>
                <a:lnTo>
                  <a:pt x="0" y="2127"/>
                </a:lnTo>
                <a:lnTo>
                  <a:pt x="0" y="2114"/>
                </a:lnTo>
                <a:lnTo>
                  <a:pt x="14" y="2114"/>
                </a:lnTo>
                <a:close/>
                <a:moveTo>
                  <a:pt x="14" y="2140"/>
                </a:moveTo>
                <a:lnTo>
                  <a:pt x="14" y="2153"/>
                </a:lnTo>
                <a:lnTo>
                  <a:pt x="0" y="2153"/>
                </a:lnTo>
                <a:lnTo>
                  <a:pt x="0" y="2140"/>
                </a:lnTo>
                <a:lnTo>
                  <a:pt x="14" y="2140"/>
                </a:lnTo>
                <a:close/>
                <a:moveTo>
                  <a:pt x="14" y="2167"/>
                </a:moveTo>
                <a:lnTo>
                  <a:pt x="14" y="2180"/>
                </a:lnTo>
                <a:lnTo>
                  <a:pt x="0" y="2180"/>
                </a:lnTo>
                <a:lnTo>
                  <a:pt x="0" y="2167"/>
                </a:lnTo>
                <a:lnTo>
                  <a:pt x="14" y="2167"/>
                </a:lnTo>
                <a:close/>
                <a:moveTo>
                  <a:pt x="14" y="2193"/>
                </a:moveTo>
                <a:lnTo>
                  <a:pt x="14" y="2206"/>
                </a:lnTo>
                <a:lnTo>
                  <a:pt x="0" y="2206"/>
                </a:lnTo>
                <a:lnTo>
                  <a:pt x="0" y="2193"/>
                </a:lnTo>
                <a:lnTo>
                  <a:pt x="14" y="2193"/>
                </a:lnTo>
                <a:close/>
                <a:moveTo>
                  <a:pt x="14" y="2219"/>
                </a:moveTo>
                <a:lnTo>
                  <a:pt x="14" y="2233"/>
                </a:lnTo>
                <a:lnTo>
                  <a:pt x="0" y="2233"/>
                </a:lnTo>
                <a:lnTo>
                  <a:pt x="0" y="2219"/>
                </a:lnTo>
                <a:lnTo>
                  <a:pt x="14" y="2219"/>
                </a:lnTo>
                <a:close/>
                <a:moveTo>
                  <a:pt x="14" y="2246"/>
                </a:moveTo>
                <a:lnTo>
                  <a:pt x="14" y="2259"/>
                </a:lnTo>
                <a:lnTo>
                  <a:pt x="0" y="2259"/>
                </a:lnTo>
                <a:lnTo>
                  <a:pt x="0" y="2246"/>
                </a:lnTo>
                <a:lnTo>
                  <a:pt x="14" y="2246"/>
                </a:lnTo>
                <a:close/>
                <a:moveTo>
                  <a:pt x="14" y="2272"/>
                </a:moveTo>
                <a:lnTo>
                  <a:pt x="14" y="2286"/>
                </a:lnTo>
                <a:lnTo>
                  <a:pt x="0" y="2286"/>
                </a:lnTo>
                <a:lnTo>
                  <a:pt x="0" y="2272"/>
                </a:lnTo>
                <a:lnTo>
                  <a:pt x="14" y="2272"/>
                </a:lnTo>
                <a:close/>
                <a:moveTo>
                  <a:pt x="14" y="2299"/>
                </a:moveTo>
                <a:lnTo>
                  <a:pt x="14" y="2312"/>
                </a:lnTo>
                <a:lnTo>
                  <a:pt x="0" y="2312"/>
                </a:lnTo>
                <a:lnTo>
                  <a:pt x="0" y="2299"/>
                </a:lnTo>
                <a:lnTo>
                  <a:pt x="14" y="2299"/>
                </a:lnTo>
                <a:close/>
              </a:path>
            </a:pathLst>
          </a:custGeom>
          <a:solidFill>
            <a:srgbClr val="000000"/>
          </a:solidFill>
          <a:ln w="0" cap="flat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98" name="Freeform 95">
            <a:extLst>
              <a:ext uri="{FF2B5EF4-FFF2-40B4-BE49-F238E27FC236}">
                <a16:creationId xmlns:a16="http://schemas.microsoft.com/office/drawing/2014/main" id="{77214169-B013-4792-8DE2-A6F76497C261}"/>
              </a:ext>
            </a:extLst>
          </p:cNvPr>
          <p:cNvSpPr>
            <a:spLocks noEditPoints="1"/>
          </p:cNvSpPr>
          <p:nvPr/>
        </p:nvSpPr>
        <p:spPr bwMode="auto">
          <a:xfrm>
            <a:off x="1157288" y="2687638"/>
            <a:ext cx="69850" cy="3711575"/>
          </a:xfrm>
          <a:custGeom>
            <a:avLst/>
            <a:gdLst>
              <a:gd name="T0" fmla="*/ 29 w 44"/>
              <a:gd name="T1" fmla="*/ 0 h 2338"/>
              <a:gd name="T2" fmla="*/ 29 w 44"/>
              <a:gd name="T3" fmla="*/ 2301 h 2338"/>
              <a:gd name="T4" fmla="*/ 14 w 44"/>
              <a:gd name="T5" fmla="*/ 2301 h 2338"/>
              <a:gd name="T6" fmla="*/ 14 w 44"/>
              <a:gd name="T7" fmla="*/ 0 h 2338"/>
              <a:gd name="T8" fmla="*/ 29 w 44"/>
              <a:gd name="T9" fmla="*/ 0 h 2338"/>
              <a:gd name="T10" fmla="*/ 44 w 44"/>
              <a:gd name="T11" fmla="*/ 2294 h 2338"/>
              <a:gd name="T12" fmla="*/ 22 w 44"/>
              <a:gd name="T13" fmla="*/ 2338 h 2338"/>
              <a:gd name="T14" fmla="*/ 0 w 44"/>
              <a:gd name="T15" fmla="*/ 2294 h 2338"/>
              <a:gd name="T16" fmla="*/ 44 w 44"/>
              <a:gd name="T17" fmla="*/ 2294 h 23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44" h="2338">
                <a:moveTo>
                  <a:pt x="29" y="0"/>
                </a:moveTo>
                <a:lnTo>
                  <a:pt x="29" y="2301"/>
                </a:lnTo>
                <a:lnTo>
                  <a:pt x="14" y="2301"/>
                </a:lnTo>
                <a:lnTo>
                  <a:pt x="14" y="0"/>
                </a:lnTo>
                <a:lnTo>
                  <a:pt x="29" y="0"/>
                </a:lnTo>
                <a:close/>
                <a:moveTo>
                  <a:pt x="44" y="2294"/>
                </a:moveTo>
                <a:lnTo>
                  <a:pt x="22" y="2338"/>
                </a:lnTo>
                <a:lnTo>
                  <a:pt x="0" y="2294"/>
                </a:lnTo>
                <a:lnTo>
                  <a:pt x="44" y="2294"/>
                </a:lnTo>
                <a:close/>
              </a:path>
            </a:pathLst>
          </a:custGeom>
          <a:solidFill>
            <a:srgbClr val="000000"/>
          </a:solidFill>
          <a:ln w="0" cap="flat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i="1" dirty="0">
              <a:ea typeface="SimHei" panose="02010609060101010101" pitchFamily="49" charset="-122"/>
            </a:endParaRPr>
          </a:p>
        </p:txBody>
      </p:sp>
      <p:sp>
        <p:nvSpPr>
          <p:cNvPr id="99" name="Freeform 96">
            <a:extLst>
              <a:ext uri="{FF2B5EF4-FFF2-40B4-BE49-F238E27FC236}">
                <a16:creationId xmlns:a16="http://schemas.microsoft.com/office/drawing/2014/main" id="{6F3B47BA-6C8C-4763-9A5E-EDD0BB1B5402}"/>
              </a:ext>
            </a:extLst>
          </p:cNvPr>
          <p:cNvSpPr>
            <a:spLocks/>
          </p:cNvSpPr>
          <p:nvPr/>
        </p:nvSpPr>
        <p:spPr bwMode="auto">
          <a:xfrm>
            <a:off x="4106863" y="2562225"/>
            <a:ext cx="282575" cy="628650"/>
          </a:xfrm>
          <a:custGeom>
            <a:avLst/>
            <a:gdLst>
              <a:gd name="T0" fmla="*/ 0 w 178"/>
              <a:gd name="T1" fmla="*/ 264 h 396"/>
              <a:gd name="T2" fmla="*/ 60 w 178"/>
              <a:gd name="T3" fmla="*/ 198 h 396"/>
              <a:gd name="T4" fmla="*/ 0 w 178"/>
              <a:gd name="T5" fmla="*/ 132 h 396"/>
              <a:gd name="T6" fmla="*/ 0 w 178"/>
              <a:gd name="T7" fmla="*/ 0 h 396"/>
              <a:gd name="T8" fmla="*/ 178 w 178"/>
              <a:gd name="T9" fmla="*/ 132 h 396"/>
              <a:gd name="T10" fmla="*/ 178 w 178"/>
              <a:gd name="T11" fmla="*/ 264 h 396"/>
              <a:gd name="T12" fmla="*/ 0 w 178"/>
              <a:gd name="T13" fmla="*/ 396 h 396"/>
              <a:gd name="T14" fmla="*/ 0 w 178"/>
              <a:gd name="T15" fmla="*/ 264 h 39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178" h="396">
                <a:moveTo>
                  <a:pt x="0" y="264"/>
                </a:moveTo>
                <a:lnTo>
                  <a:pt x="60" y="198"/>
                </a:lnTo>
                <a:lnTo>
                  <a:pt x="0" y="132"/>
                </a:lnTo>
                <a:lnTo>
                  <a:pt x="0" y="0"/>
                </a:lnTo>
                <a:lnTo>
                  <a:pt x="178" y="132"/>
                </a:lnTo>
                <a:lnTo>
                  <a:pt x="178" y="264"/>
                </a:lnTo>
                <a:lnTo>
                  <a:pt x="0" y="396"/>
                </a:lnTo>
                <a:lnTo>
                  <a:pt x="0" y="264"/>
                </a:lnTo>
              </a:path>
            </a:pathLst>
          </a:custGeom>
          <a:noFill/>
          <a:ln w="20638" cap="rnd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100" name="Rectangle 97">
            <a:extLst>
              <a:ext uri="{FF2B5EF4-FFF2-40B4-BE49-F238E27FC236}">
                <a16:creationId xmlns:a16="http://schemas.microsoft.com/office/drawing/2014/main" id="{1F305116-79D3-4C41-89D2-153823084958}"/>
              </a:ext>
            </a:extLst>
          </p:cNvPr>
          <p:cNvSpPr>
            <a:spLocks noChangeArrowheads="1"/>
          </p:cNvSpPr>
          <p:nvPr/>
        </p:nvSpPr>
        <p:spPr bwMode="auto">
          <a:xfrm rot="5400000">
            <a:off x="3933825" y="2771775"/>
            <a:ext cx="661988" cy="215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zh-CN" altLang="zh-CN" sz="1400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rPr>
              <a:t>ALU</a:t>
            </a:r>
            <a:endParaRPr kumimoji="0" lang="zh-CN" altLang="zh-CN" sz="140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  <a:ea typeface="SimHei" panose="02010609060101010101" pitchFamily="49" charset="-122"/>
            </a:endParaRPr>
          </a:p>
        </p:txBody>
      </p:sp>
      <p:sp>
        <p:nvSpPr>
          <p:cNvPr id="101" name="Rectangle 98">
            <a:extLst>
              <a:ext uri="{FF2B5EF4-FFF2-40B4-BE49-F238E27FC236}">
                <a16:creationId xmlns:a16="http://schemas.microsoft.com/office/drawing/2014/main" id="{DECD6B8C-4A51-40EC-9D45-E0055417255B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68625" y="2743200"/>
            <a:ext cx="185738" cy="200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zh-CN" altLang="zh-CN" sz="1300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rPr>
              <a:t>IM</a:t>
            </a:r>
            <a:endParaRPr kumimoji="0" lang="zh-CN" altLang="zh-CN" sz="180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  <a:ea typeface="SimHei" panose="02010609060101010101" pitchFamily="49" charset="-122"/>
            </a:endParaRPr>
          </a:p>
        </p:txBody>
      </p:sp>
      <p:sp>
        <p:nvSpPr>
          <p:cNvPr id="102" name="Freeform 99">
            <a:extLst>
              <a:ext uri="{FF2B5EF4-FFF2-40B4-BE49-F238E27FC236}">
                <a16:creationId xmlns:a16="http://schemas.microsoft.com/office/drawing/2014/main" id="{B51846E7-3B1D-4387-8E98-64C2C4BB7034}"/>
              </a:ext>
            </a:extLst>
          </p:cNvPr>
          <p:cNvSpPr>
            <a:spLocks/>
          </p:cNvSpPr>
          <p:nvPr/>
        </p:nvSpPr>
        <p:spPr bwMode="auto">
          <a:xfrm>
            <a:off x="2897188" y="2687638"/>
            <a:ext cx="219075" cy="376238"/>
          </a:xfrm>
          <a:custGeom>
            <a:avLst/>
            <a:gdLst>
              <a:gd name="T0" fmla="*/ 138 w 138"/>
              <a:gd name="T1" fmla="*/ 0 h 237"/>
              <a:gd name="T2" fmla="*/ 0 w 138"/>
              <a:gd name="T3" fmla="*/ 0 h 237"/>
              <a:gd name="T4" fmla="*/ 0 w 138"/>
              <a:gd name="T5" fmla="*/ 237 h 237"/>
              <a:gd name="T6" fmla="*/ 138 w 138"/>
              <a:gd name="T7" fmla="*/ 237 h 2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138" h="237">
                <a:moveTo>
                  <a:pt x="138" y="0"/>
                </a:moveTo>
                <a:lnTo>
                  <a:pt x="0" y="0"/>
                </a:lnTo>
                <a:lnTo>
                  <a:pt x="0" y="237"/>
                </a:lnTo>
                <a:lnTo>
                  <a:pt x="138" y="237"/>
                </a:lnTo>
              </a:path>
            </a:pathLst>
          </a:custGeom>
          <a:noFill/>
          <a:ln w="20638" cap="rnd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103" name="Freeform 100">
            <a:extLst>
              <a:ext uri="{FF2B5EF4-FFF2-40B4-BE49-F238E27FC236}">
                <a16:creationId xmlns:a16="http://schemas.microsoft.com/office/drawing/2014/main" id="{7CEC9F39-0D00-4996-B74E-D0535B6000E7}"/>
              </a:ext>
            </a:extLst>
          </p:cNvPr>
          <p:cNvSpPr>
            <a:spLocks/>
          </p:cNvSpPr>
          <p:nvPr/>
        </p:nvSpPr>
        <p:spPr bwMode="auto">
          <a:xfrm>
            <a:off x="3117850" y="2687638"/>
            <a:ext cx="227013" cy="376238"/>
          </a:xfrm>
          <a:custGeom>
            <a:avLst/>
            <a:gdLst>
              <a:gd name="T0" fmla="*/ 0 w 143"/>
              <a:gd name="T1" fmla="*/ 0 h 237"/>
              <a:gd name="T2" fmla="*/ 143 w 143"/>
              <a:gd name="T3" fmla="*/ 0 h 237"/>
              <a:gd name="T4" fmla="*/ 143 w 143"/>
              <a:gd name="T5" fmla="*/ 237 h 237"/>
              <a:gd name="T6" fmla="*/ 0 w 143"/>
              <a:gd name="T7" fmla="*/ 237 h 2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143" h="237">
                <a:moveTo>
                  <a:pt x="0" y="0"/>
                </a:moveTo>
                <a:lnTo>
                  <a:pt x="143" y="0"/>
                </a:lnTo>
                <a:lnTo>
                  <a:pt x="143" y="237"/>
                </a:lnTo>
                <a:lnTo>
                  <a:pt x="0" y="237"/>
                </a:lnTo>
              </a:path>
            </a:pathLst>
          </a:custGeom>
          <a:noFill/>
          <a:ln w="20638" cap="rnd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104" name="Rectangle 101">
            <a:extLst>
              <a:ext uri="{FF2B5EF4-FFF2-40B4-BE49-F238E27FC236}">
                <a16:creationId xmlns:a16="http://schemas.microsoft.com/office/drawing/2014/main" id="{A99CB6BE-E7A0-4750-A861-86996D59670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49650" y="2749550"/>
            <a:ext cx="306388" cy="200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zh-CN" altLang="zh-CN" sz="1300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rPr>
              <a:t>Reg</a:t>
            </a:r>
            <a:endParaRPr kumimoji="0" lang="zh-CN" altLang="zh-CN" sz="180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  <a:ea typeface="SimHei" panose="02010609060101010101" pitchFamily="49" charset="-122"/>
            </a:endParaRPr>
          </a:p>
        </p:txBody>
      </p:sp>
      <p:sp>
        <p:nvSpPr>
          <p:cNvPr id="105" name="Freeform 102">
            <a:extLst>
              <a:ext uri="{FF2B5EF4-FFF2-40B4-BE49-F238E27FC236}">
                <a16:creationId xmlns:a16="http://schemas.microsoft.com/office/drawing/2014/main" id="{A2E533A9-33C8-4521-9D5F-0306490B3FBF}"/>
              </a:ext>
            </a:extLst>
          </p:cNvPr>
          <p:cNvSpPr>
            <a:spLocks/>
          </p:cNvSpPr>
          <p:nvPr/>
        </p:nvSpPr>
        <p:spPr bwMode="auto">
          <a:xfrm>
            <a:off x="3502025" y="2687638"/>
            <a:ext cx="195263" cy="376238"/>
          </a:xfrm>
          <a:custGeom>
            <a:avLst/>
            <a:gdLst>
              <a:gd name="T0" fmla="*/ 123 w 123"/>
              <a:gd name="T1" fmla="*/ 0 h 237"/>
              <a:gd name="T2" fmla="*/ 0 w 123"/>
              <a:gd name="T3" fmla="*/ 0 h 237"/>
              <a:gd name="T4" fmla="*/ 0 w 123"/>
              <a:gd name="T5" fmla="*/ 237 h 237"/>
              <a:gd name="T6" fmla="*/ 123 w 123"/>
              <a:gd name="T7" fmla="*/ 237 h 2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123" h="237">
                <a:moveTo>
                  <a:pt x="123" y="0"/>
                </a:moveTo>
                <a:lnTo>
                  <a:pt x="0" y="0"/>
                </a:lnTo>
                <a:lnTo>
                  <a:pt x="0" y="237"/>
                </a:lnTo>
                <a:lnTo>
                  <a:pt x="123" y="237"/>
                </a:lnTo>
              </a:path>
            </a:pathLst>
          </a:custGeom>
          <a:noFill/>
          <a:ln w="20638" cap="rnd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106" name="Freeform 103">
            <a:extLst>
              <a:ext uri="{FF2B5EF4-FFF2-40B4-BE49-F238E27FC236}">
                <a16:creationId xmlns:a16="http://schemas.microsoft.com/office/drawing/2014/main" id="{9289FE54-F5CD-47B6-A41F-9A5ADDEB6266}"/>
              </a:ext>
            </a:extLst>
          </p:cNvPr>
          <p:cNvSpPr>
            <a:spLocks/>
          </p:cNvSpPr>
          <p:nvPr/>
        </p:nvSpPr>
        <p:spPr bwMode="auto">
          <a:xfrm>
            <a:off x="3690938" y="2687638"/>
            <a:ext cx="195263" cy="376238"/>
          </a:xfrm>
          <a:custGeom>
            <a:avLst/>
            <a:gdLst>
              <a:gd name="T0" fmla="*/ 0 w 123"/>
              <a:gd name="T1" fmla="*/ 0 h 237"/>
              <a:gd name="T2" fmla="*/ 123 w 123"/>
              <a:gd name="T3" fmla="*/ 0 h 237"/>
              <a:gd name="T4" fmla="*/ 123 w 123"/>
              <a:gd name="T5" fmla="*/ 237 h 237"/>
              <a:gd name="T6" fmla="*/ 0 w 123"/>
              <a:gd name="T7" fmla="*/ 237 h 2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123" h="237">
                <a:moveTo>
                  <a:pt x="0" y="0"/>
                </a:moveTo>
                <a:lnTo>
                  <a:pt x="123" y="0"/>
                </a:lnTo>
                <a:lnTo>
                  <a:pt x="123" y="237"/>
                </a:lnTo>
                <a:lnTo>
                  <a:pt x="0" y="237"/>
                </a:lnTo>
              </a:path>
            </a:pathLst>
          </a:custGeom>
          <a:noFill/>
          <a:ln w="20638" cap="rnd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107" name="Line 104">
            <a:extLst>
              <a:ext uri="{FF2B5EF4-FFF2-40B4-BE49-F238E27FC236}">
                <a16:creationId xmlns:a16="http://schemas.microsoft.com/office/drawing/2014/main" id="{F2D8E1E7-E86B-4308-B88D-832B85B42DA1}"/>
              </a:ext>
            </a:extLst>
          </p:cNvPr>
          <p:cNvSpPr>
            <a:spLocks noChangeShapeType="1"/>
          </p:cNvSpPr>
          <p:nvPr/>
        </p:nvSpPr>
        <p:spPr bwMode="auto">
          <a:xfrm>
            <a:off x="3352800" y="2876550"/>
            <a:ext cx="149225" cy="0"/>
          </a:xfrm>
          <a:prstGeom prst="line">
            <a:avLst/>
          </a:prstGeom>
          <a:noFill/>
          <a:ln w="20638" cap="flat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108" name="Freeform 105">
            <a:extLst>
              <a:ext uri="{FF2B5EF4-FFF2-40B4-BE49-F238E27FC236}">
                <a16:creationId xmlns:a16="http://schemas.microsoft.com/office/drawing/2014/main" id="{BA8D9581-C6FF-45A4-AB09-F1A8B16F062A}"/>
              </a:ext>
            </a:extLst>
          </p:cNvPr>
          <p:cNvSpPr>
            <a:spLocks/>
          </p:cNvSpPr>
          <p:nvPr/>
        </p:nvSpPr>
        <p:spPr bwMode="auto">
          <a:xfrm>
            <a:off x="3440113" y="2751138"/>
            <a:ext cx="61913" cy="123825"/>
          </a:xfrm>
          <a:custGeom>
            <a:avLst/>
            <a:gdLst>
              <a:gd name="T0" fmla="*/ 0 w 39"/>
              <a:gd name="T1" fmla="*/ 78 h 78"/>
              <a:gd name="T2" fmla="*/ 0 w 39"/>
              <a:gd name="T3" fmla="*/ 0 h 78"/>
              <a:gd name="T4" fmla="*/ 39 w 39"/>
              <a:gd name="T5" fmla="*/ 0 h 7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39" h="78">
                <a:moveTo>
                  <a:pt x="0" y="78"/>
                </a:moveTo>
                <a:lnTo>
                  <a:pt x="0" y="0"/>
                </a:lnTo>
                <a:lnTo>
                  <a:pt x="39" y="0"/>
                </a:lnTo>
              </a:path>
            </a:pathLst>
          </a:custGeom>
          <a:noFill/>
          <a:ln w="20638" cap="rnd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109" name="Line 106">
            <a:extLst>
              <a:ext uri="{FF2B5EF4-FFF2-40B4-BE49-F238E27FC236}">
                <a16:creationId xmlns:a16="http://schemas.microsoft.com/office/drawing/2014/main" id="{5311F177-273C-40B3-98C5-5EFC1810D628}"/>
              </a:ext>
            </a:extLst>
          </p:cNvPr>
          <p:cNvSpPr>
            <a:spLocks noChangeShapeType="1"/>
          </p:cNvSpPr>
          <p:nvPr/>
        </p:nvSpPr>
        <p:spPr bwMode="auto">
          <a:xfrm>
            <a:off x="3895725" y="2751138"/>
            <a:ext cx="203200" cy="0"/>
          </a:xfrm>
          <a:prstGeom prst="line">
            <a:avLst/>
          </a:prstGeom>
          <a:noFill/>
          <a:ln w="20638" cap="flat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110" name="Rectangle 107">
            <a:extLst>
              <a:ext uri="{FF2B5EF4-FFF2-40B4-BE49-F238E27FC236}">
                <a16:creationId xmlns:a16="http://schemas.microsoft.com/office/drawing/2014/main" id="{881EDAB0-54FB-4B01-934A-0A7B94B14EB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19625" y="2743200"/>
            <a:ext cx="260350" cy="200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zh-CN" altLang="zh-CN" sz="1300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rPr>
              <a:t>DM</a:t>
            </a:r>
            <a:endParaRPr kumimoji="0" lang="zh-CN" altLang="zh-CN" sz="180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  <a:ea typeface="SimHei" panose="02010609060101010101" pitchFamily="49" charset="-122"/>
            </a:endParaRPr>
          </a:p>
        </p:txBody>
      </p:sp>
      <p:sp>
        <p:nvSpPr>
          <p:cNvPr id="111" name="Freeform 108">
            <a:extLst>
              <a:ext uri="{FF2B5EF4-FFF2-40B4-BE49-F238E27FC236}">
                <a16:creationId xmlns:a16="http://schemas.microsoft.com/office/drawing/2014/main" id="{235A371D-5A56-4DA5-9BA4-2FF464CB5E3E}"/>
              </a:ext>
            </a:extLst>
          </p:cNvPr>
          <p:cNvSpPr>
            <a:spLocks/>
          </p:cNvSpPr>
          <p:nvPr/>
        </p:nvSpPr>
        <p:spPr bwMode="auto">
          <a:xfrm>
            <a:off x="4610100" y="2687638"/>
            <a:ext cx="211138" cy="376238"/>
          </a:xfrm>
          <a:custGeom>
            <a:avLst/>
            <a:gdLst>
              <a:gd name="T0" fmla="*/ 133 w 133"/>
              <a:gd name="T1" fmla="*/ 0 h 237"/>
              <a:gd name="T2" fmla="*/ 0 w 133"/>
              <a:gd name="T3" fmla="*/ 0 h 237"/>
              <a:gd name="T4" fmla="*/ 0 w 133"/>
              <a:gd name="T5" fmla="*/ 237 h 237"/>
              <a:gd name="T6" fmla="*/ 133 w 133"/>
              <a:gd name="T7" fmla="*/ 237 h 2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133" h="237">
                <a:moveTo>
                  <a:pt x="133" y="0"/>
                </a:moveTo>
                <a:lnTo>
                  <a:pt x="0" y="0"/>
                </a:lnTo>
                <a:lnTo>
                  <a:pt x="0" y="237"/>
                </a:lnTo>
                <a:lnTo>
                  <a:pt x="133" y="237"/>
                </a:lnTo>
              </a:path>
            </a:pathLst>
          </a:custGeom>
          <a:noFill/>
          <a:ln w="20638" cap="rnd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112" name="Freeform 109">
            <a:extLst>
              <a:ext uri="{FF2B5EF4-FFF2-40B4-BE49-F238E27FC236}">
                <a16:creationId xmlns:a16="http://schemas.microsoft.com/office/drawing/2014/main" id="{CA09D86A-648F-488B-AB37-859209BF98CB}"/>
              </a:ext>
            </a:extLst>
          </p:cNvPr>
          <p:cNvSpPr>
            <a:spLocks/>
          </p:cNvSpPr>
          <p:nvPr/>
        </p:nvSpPr>
        <p:spPr bwMode="auto">
          <a:xfrm>
            <a:off x="4822825" y="2687638"/>
            <a:ext cx="211138" cy="376238"/>
          </a:xfrm>
          <a:custGeom>
            <a:avLst/>
            <a:gdLst>
              <a:gd name="T0" fmla="*/ 0 w 133"/>
              <a:gd name="T1" fmla="*/ 0 h 237"/>
              <a:gd name="T2" fmla="*/ 133 w 133"/>
              <a:gd name="T3" fmla="*/ 0 h 237"/>
              <a:gd name="T4" fmla="*/ 133 w 133"/>
              <a:gd name="T5" fmla="*/ 237 h 237"/>
              <a:gd name="T6" fmla="*/ 0 w 133"/>
              <a:gd name="T7" fmla="*/ 237 h 2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133" h="237">
                <a:moveTo>
                  <a:pt x="0" y="0"/>
                </a:moveTo>
                <a:lnTo>
                  <a:pt x="133" y="0"/>
                </a:lnTo>
                <a:lnTo>
                  <a:pt x="133" y="237"/>
                </a:lnTo>
                <a:lnTo>
                  <a:pt x="0" y="237"/>
                </a:lnTo>
              </a:path>
            </a:pathLst>
          </a:custGeom>
          <a:noFill/>
          <a:ln w="20638" cap="rnd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113" name="Rectangle 110">
            <a:extLst>
              <a:ext uri="{FF2B5EF4-FFF2-40B4-BE49-F238E27FC236}">
                <a16:creationId xmlns:a16="http://schemas.microsoft.com/office/drawing/2014/main" id="{01617CB9-5E4F-4710-80A0-3C7AA9FE1085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64150" y="2743200"/>
            <a:ext cx="306388" cy="200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zh-CN" altLang="zh-CN" sz="1300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rPr>
              <a:t>Reg</a:t>
            </a:r>
            <a:endParaRPr kumimoji="0" lang="zh-CN" altLang="zh-CN" sz="180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  <a:ea typeface="SimHei" panose="02010609060101010101" pitchFamily="49" charset="-122"/>
            </a:endParaRPr>
          </a:p>
        </p:txBody>
      </p:sp>
      <p:sp>
        <p:nvSpPr>
          <p:cNvPr id="114" name="Freeform 111">
            <a:extLst>
              <a:ext uri="{FF2B5EF4-FFF2-40B4-BE49-F238E27FC236}">
                <a16:creationId xmlns:a16="http://schemas.microsoft.com/office/drawing/2014/main" id="{3492E910-7612-45D8-9F67-48191392396D}"/>
              </a:ext>
            </a:extLst>
          </p:cNvPr>
          <p:cNvSpPr>
            <a:spLocks/>
          </p:cNvSpPr>
          <p:nvPr/>
        </p:nvSpPr>
        <p:spPr bwMode="auto">
          <a:xfrm>
            <a:off x="5222875" y="2687638"/>
            <a:ext cx="187325" cy="376238"/>
          </a:xfrm>
          <a:custGeom>
            <a:avLst/>
            <a:gdLst>
              <a:gd name="T0" fmla="*/ 118 w 118"/>
              <a:gd name="T1" fmla="*/ 0 h 237"/>
              <a:gd name="T2" fmla="*/ 0 w 118"/>
              <a:gd name="T3" fmla="*/ 0 h 237"/>
              <a:gd name="T4" fmla="*/ 0 w 118"/>
              <a:gd name="T5" fmla="*/ 237 h 237"/>
              <a:gd name="T6" fmla="*/ 118 w 118"/>
              <a:gd name="T7" fmla="*/ 237 h 2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118" h="237">
                <a:moveTo>
                  <a:pt x="118" y="0"/>
                </a:moveTo>
                <a:lnTo>
                  <a:pt x="0" y="0"/>
                </a:lnTo>
                <a:lnTo>
                  <a:pt x="0" y="237"/>
                </a:lnTo>
                <a:lnTo>
                  <a:pt x="118" y="237"/>
                </a:lnTo>
              </a:path>
            </a:pathLst>
          </a:custGeom>
          <a:noFill/>
          <a:ln w="20638" cap="rnd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115" name="Freeform 112">
            <a:extLst>
              <a:ext uri="{FF2B5EF4-FFF2-40B4-BE49-F238E27FC236}">
                <a16:creationId xmlns:a16="http://schemas.microsoft.com/office/drawing/2014/main" id="{3211B5C0-41EA-4F32-85B5-7649702FACB4}"/>
              </a:ext>
            </a:extLst>
          </p:cNvPr>
          <p:cNvSpPr>
            <a:spLocks/>
          </p:cNvSpPr>
          <p:nvPr/>
        </p:nvSpPr>
        <p:spPr bwMode="auto">
          <a:xfrm>
            <a:off x="5411788" y="2687638"/>
            <a:ext cx="187325" cy="376238"/>
          </a:xfrm>
          <a:custGeom>
            <a:avLst/>
            <a:gdLst>
              <a:gd name="T0" fmla="*/ 0 w 118"/>
              <a:gd name="T1" fmla="*/ 0 h 237"/>
              <a:gd name="T2" fmla="*/ 118 w 118"/>
              <a:gd name="T3" fmla="*/ 0 h 237"/>
              <a:gd name="T4" fmla="*/ 118 w 118"/>
              <a:gd name="T5" fmla="*/ 237 h 237"/>
              <a:gd name="T6" fmla="*/ 0 w 118"/>
              <a:gd name="T7" fmla="*/ 237 h 2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118" h="237">
                <a:moveTo>
                  <a:pt x="0" y="0"/>
                </a:moveTo>
                <a:lnTo>
                  <a:pt x="118" y="0"/>
                </a:lnTo>
                <a:lnTo>
                  <a:pt x="118" y="237"/>
                </a:lnTo>
                <a:lnTo>
                  <a:pt x="0" y="237"/>
                </a:lnTo>
              </a:path>
            </a:pathLst>
          </a:custGeom>
          <a:noFill/>
          <a:ln w="20638" cap="rnd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116" name="Line 113">
            <a:extLst>
              <a:ext uri="{FF2B5EF4-FFF2-40B4-BE49-F238E27FC236}">
                <a16:creationId xmlns:a16="http://schemas.microsoft.com/office/drawing/2014/main" id="{F5F9336D-28BE-4D29-B4A5-01645252205A}"/>
              </a:ext>
            </a:extLst>
          </p:cNvPr>
          <p:cNvSpPr>
            <a:spLocks noChangeShapeType="1"/>
          </p:cNvSpPr>
          <p:nvPr/>
        </p:nvSpPr>
        <p:spPr bwMode="auto">
          <a:xfrm>
            <a:off x="5033963" y="2876550"/>
            <a:ext cx="180975" cy="0"/>
          </a:xfrm>
          <a:prstGeom prst="line">
            <a:avLst/>
          </a:prstGeom>
          <a:noFill/>
          <a:ln w="20638" cap="flat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117" name="Line 114">
            <a:extLst>
              <a:ext uri="{FF2B5EF4-FFF2-40B4-BE49-F238E27FC236}">
                <a16:creationId xmlns:a16="http://schemas.microsoft.com/office/drawing/2014/main" id="{E3099458-9E60-4559-AD3A-E80138B2811E}"/>
              </a:ext>
            </a:extLst>
          </p:cNvPr>
          <p:cNvSpPr>
            <a:spLocks noChangeShapeType="1"/>
          </p:cNvSpPr>
          <p:nvPr/>
        </p:nvSpPr>
        <p:spPr bwMode="auto">
          <a:xfrm>
            <a:off x="4397375" y="2876550"/>
            <a:ext cx="204788" cy="0"/>
          </a:xfrm>
          <a:prstGeom prst="line">
            <a:avLst/>
          </a:prstGeom>
          <a:noFill/>
          <a:ln w="20638" cap="flat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118" name="Line 115">
            <a:extLst>
              <a:ext uri="{FF2B5EF4-FFF2-40B4-BE49-F238E27FC236}">
                <a16:creationId xmlns:a16="http://schemas.microsoft.com/office/drawing/2014/main" id="{23949654-9BB1-4B30-A5EC-25A7E8D57F0B}"/>
              </a:ext>
            </a:extLst>
          </p:cNvPr>
          <p:cNvSpPr>
            <a:spLocks noChangeShapeType="1"/>
          </p:cNvSpPr>
          <p:nvPr/>
        </p:nvSpPr>
        <p:spPr bwMode="auto">
          <a:xfrm>
            <a:off x="3895725" y="3001963"/>
            <a:ext cx="203200" cy="0"/>
          </a:xfrm>
          <a:prstGeom prst="line">
            <a:avLst/>
          </a:prstGeom>
          <a:noFill/>
          <a:ln w="20638" cap="flat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119" name="Line 116">
            <a:extLst>
              <a:ext uri="{FF2B5EF4-FFF2-40B4-BE49-F238E27FC236}">
                <a16:creationId xmlns:a16="http://schemas.microsoft.com/office/drawing/2014/main" id="{E26B04FF-D642-4CAF-9143-44C9835FA517}"/>
              </a:ext>
            </a:extLst>
          </p:cNvPr>
          <p:cNvSpPr>
            <a:spLocks noChangeShapeType="1"/>
          </p:cNvSpPr>
          <p:nvPr/>
        </p:nvSpPr>
        <p:spPr bwMode="auto">
          <a:xfrm>
            <a:off x="4005263" y="3001963"/>
            <a:ext cx="0" cy="252413"/>
          </a:xfrm>
          <a:prstGeom prst="line">
            <a:avLst/>
          </a:prstGeom>
          <a:noFill/>
          <a:ln w="23813" cap="flat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120" name="Line 117">
            <a:extLst>
              <a:ext uri="{FF2B5EF4-FFF2-40B4-BE49-F238E27FC236}">
                <a16:creationId xmlns:a16="http://schemas.microsoft.com/office/drawing/2014/main" id="{F4866408-B1CA-4CC4-9E83-469DCB90F446}"/>
              </a:ext>
            </a:extLst>
          </p:cNvPr>
          <p:cNvSpPr>
            <a:spLocks noChangeShapeType="1"/>
          </p:cNvSpPr>
          <p:nvPr/>
        </p:nvSpPr>
        <p:spPr bwMode="auto">
          <a:xfrm>
            <a:off x="4005263" y="3254375"/>
            <a:ext cx="439738" cy="0"/>
          </a:xfrm>
          <a:prstGeom prst="line">
            <a:avLst/>
          </a:prstGeom>
          <a:noFill/>
          <a:ln w="23813" cap="flat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121" name="Line 118">
            <a:extLst>
              <a:ext uri="{FF2B5EF4-FFF2-40B4-BE49-F238E27FC236}">
                <a16:creationId xmlns:a16="http://schemas.microsoft.com/office/drawing/2014/main" id="{6E3C0A4B-41D7-4A0C-AF4C-98775DC77F63}"/>
              </a:ext>
            </a:extLst>
          </p:cNvPr>
          <p:cNvSpPr>
            <a:spLocks noChangeShapeType="1"/>
          </p:cNvSpPr>
          <p:nvPr/>
        </p:nvSpPr>
        <p:spPr bwMode="auto">
          <a:xfrm>
            <a:off x="4445000" y="2876550"/>
            <a:ext cx="0" cy="377825"/>
          </a:xfrm>
          <a:prstGeom prst="line">
            <a:avLst/>
          </a:prstGeom>
          <a:noFill/>
          <a:ln w="23813" cap="flat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122" name="Line 119">
            <a:extLst>
              <a:ext uri="{FF2B5EF4-FFF2-40B4-BE49-F238E27FC236}">
                <a16:creationId xmlns:a16="http://schemas.microsoft.com/office/drawing/2014/main" id="{08291864-0799-4BD4-A60F-77A23C61957E}"/>
              </a:ext>
            </a:extLst>
          </p:cNvPr>
          <p:cNvSpPr>
            <a:spLocks noChangeShapeType="1"/>
          </p:cNvSpPr>
          <p:nvPr/>
        </p:nvSpPr>
        <p:spPr bwMode="auto">
          <a:xfrm>
            <a:off x="4546600" y="2876550"/>
            <a:ext cx="0" cy="314325"/>
          </a:xfrm>
          <a:prstGeom prst="line">
            <a:avLst/>
          </a:prstGeom>
          <a:noFill/>
          <a:ln w="23813" cap="flat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123" name="Line 120">
            <a:extLst>
              <a:ext uri="{FF2B5EF4-FFF2-40B4-BE49-F238E27FC236}">
                <a16:creationId xmlns:a16="http://schemas.microsoft.com/office/drawing/2014/main" id="{164C9C15-F081-422F-A93C-AFFB6E89DB14}"/>
              </a:ext>
            </a:extLst>
          </p:cNvPr>
          <p:cNvSpPr>
            <a:spLocks noChangeShapeType="1"/>
          </p:cNvSpPr>
          <p:nvPr/>
        </p:nvSpPr>
        <p:spPr bwMode="auto">
          <a:xfrm>
            <a:off x="4546600" y="3190875"/>
            <a:ext cx="566738" cy="0"/>
          </a:xfrm>
          <a:prstGeom prst="line">
            <a:avLst/>
          </a:prstGeom>
          <a:noFill/>
          <a:ln w="23813" cap="flat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124" name="Line 121">
            <a:extLst>
              <a:ext uri="{FF2B5EF4-FFF2-40B4-BE49-F238E27FC236}">
                <a16:creationId xmlns:a16="http://schemas.microsoft.com/office/drawing/2014/main" id="{730A38E8-C003-43EC-BB14-FFCF6C8176A9}"/>
              </a:ext>
            </a:extLst>
          </p:cNvPr>
          <p:cNvSpPr>
            <a:spLocks noChangeShapeType="1"/>
          </p:cNvSpPr>
          <p:nvPr/>
        </p:nvSpPr>
        <p:spPr bwMode="auto">
          <a:xfrm>
            <a:off x="5113338" y="2876550"/>
            <a:ext cx="0" cy="314325"/>
          </a:xfrm>
          <a:prstGeom prst="line">
            <a:avLst/>
          </a:prstGeom>
          <a:noFill/>
          <a:ln w="23813" cap="flat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125" name="Rectangle 122">
            <a:extLst>
              <a:ext uri="{FF2B5EF4-FFF2-40B4-BE49-F238E27FC236}">
                <a16:creationId xmlns:a16="http://schemas.microsoft.com/office/drawing/2014/main" id="{879442AE-53E0-4311-A2E7-797D1BE3C33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327150" y="3494088"/>
            <a:ext cx="782638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zh-CN" altLang="zh-CN" sz="2000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rPr>
              <a:t>sub r4,</a:t>
            </a:r>
            <a:endParaRPr kumimoji="0" lang="zh-CN" altLang="zh-CN" sz="180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  <a:ea typeface="SimHei" panose="02010609060101010101" pitchFamily="49" charset="-122"/>
            </a:endParaRPr>
          </a:p>
        </p:txBody>
      </p:sp>
      <p:sp>
        <p:nvSpPr>
          <p:cNvPr id="126" name="Rectangle 123">
            <a:extLst>
              <a:ext uri="{FF2B5EF4-FFF2-40B4-BE49-F238E27FC236}">
                <a16:creationId xmlns:a16="http://schemas.microsoft.com/office/drawing/2014/main" id="{89345C39-AA00-4530-BDD5-94B9A542D9D0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97088" y="3494088"/>
            <a:ext cx="227013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zh-CN" altLang="zh-CN" sz="2000" u="none" strike="noStrike" cap="none" normalizeH="0" baseline="0" dirty="0">
                <a:ln>
                  <a:noFill/>
                </a:ln>
                <a:solidFill>
                  <a:srgbClr val="009900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rPr>
              <a:t>r1</a:t>
            </a:r>
            <a:endParaRPr kumimoji="0" lang="zh-CN" altLang="zh-CN" sz="180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  <a:ea typeface="SimHei" panose="02010609060101010101" pitchFamily="49" charset="-122"/>
            </a:endParaRPr>
          </a:p>
        </p:txBody>
      </p:sp>
      <p:sp>
        <p:nvSpPr>
          <p:cNvPr id="127" name="Rectangle 124">
            <a:extLst>
              <a:ext uri="{FF2B5EF4-FFF2-40B4-BE49-F238E27FC236}">
                <a16:creationId xmlns:a16="http://schemas.microsoft.com/office/drawing/2014/main" id="{35BA02D5-8CC3-4F47-8656-ACD70A475465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24100" y="3494088"/>
            <a:ext cx="298450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zh-CN" altLang="zh-CN" sz="2000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rPr>
              <a:t>,r5</a:t>
            </a:r>
            <a:endParaRPr kumimoji="0" lang="zh-CN" altLang="zh-CN" sz="180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  <a:ea typeface="SimHei" panose="02010609060101010101" pitchFamily="49" charset="-122"/>
            </a:endParaRPr>
          </a:p>
        </p:txBody>
      </p:sp>
      <p:sp>
        <p:nvSpPr>
          <p:cNvPr id="128" name="Rectangle 125">
            <a:extLst>
              <a:ext uri="{FF2B5EF4-FFF2-40B4-BE49-F238E27FC236}">
                <a16:creationId xmlns:a16="http://schemas.microsoft.com/office/drawing/2014/main" id="{3FE638FB-B545-48F7-8673-FCD170D80B83}"/>
              </a:ext>
            </a:extLst>
          </p:cNvPr>
          <p:cNvSpPr>
            <a:spLocks noChangeArrowheads="1"/>
          </p:cNvSpPr>
          <p:nvPr/>
        </p:nvSpPr>
        <p:spPr bwMode="auto">
          <a:xfrm>
            <a:off x="1327150" y="4375150"/>
            <a:ext cx="725488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zh-CN" altLang="zh-CN" sz="2000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rPr>
              <a:t>and r6</a:t>
            </a:r>
            <a:endParaRPr kumimoji="0" lang="zh-CN" altLang="zh-CN" sz="180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  <a:ea typeface="SimHei" panose="02010609060101010101" pitchFamily="49" charset="-122"/>
            </a:endParaRPr>
          </a:p>
        </p:txBody>
      </p:sp>
      <p:sp>
        <p:nvSpPr>
          <p:cNvPr id="129" name="Rectangle 126">
            <a:extLst>
              <a:ext uri="{FF2B5EF4-FFF2-40B4-BE49-F238E27FC236}">
                <a16:creationId xmlns:a16="http://schemas.microsoft.com/office/drawing/2014/main" id="{7B4889B2-BA2A-4BA1-96E3-E127222A284B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41525" y="4375150"/>
            <a:ext cx="298450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zh-CN" altLang="zh-CN" sz="2000" u="none" strike="noStrike" cap="none" normalizeH="0" baseline="0" dirty="0">
                <a:ln>
                  <a:noFill/>
                </a:ln>
                <a:solidFill>
                  <a:srgbClr val="009900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rPr>
              <a:t>,r1</a:t>
            </a:r>
            <a:endParaRPr kumimoji="0" lang="zh-CN" altLang="zh-CN" sz="180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  <a:ea typeface="SimHei" panose="02010609060101010101" pitchFamily="49" charset="-122"/>
            </a:endParaRPr>
          </a:p>
        </p:txBody>
      </p:sp>
      <p:sp>
        <p:nvSpPr>
          <p:cNvPr id="130" name="Rectangle 127">
            <a:extLst>
              <a:ext uri="{FF2B5EF4-FFF2-40B4-BE49-F238E27FC236}">
                <a16:creationId xmlns:a16="http://schemas.microsoft.com/office/drawing/2014/main" id="{1C701D1C-FCAC-42C4-92D3-C1901FF0987B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39975" y="4375150"/>
            <a:ext cx="298450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zh-CN" altLang="zh-CN" sz="2000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rPr>
              <a:t>,r7</a:t>
            </a:r>
            <a:endParaRPr kumimoji="0" lang="zh-CN" altLang="zh-CN" sz="180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  <a:ea typeface="SimHei" panose="02010609060101010101" pitchFamily="49" charset="-122"/>
            </a:endParaRPr>
          </a:p>
        </p:txBody>
      </p:sp>
      <p:sp>
        <p:nvSpPr>
          <p:cNvPr id="131" name="Freeform 128">
            <a:extLst>
              <a:ext uri="{FF2B5EF4-FFF2-40B4-BE49-F238E27FC236}">
                <a16:creationId xmlns:a16="http://schemas.microsoft.com/office/drawing/2014/main" id="{2A2F9D6F-B923-485C-952E-6DEF8822D676}"/>
              </a:ext>
            </a:extLst>
          </p:cNvPr>
          <p:cNvSpPr>
            <a:spLocks/>
          </p:cNvSpPr>
          <p:nvPr/>
        </p:nvSpPr>
        <p:spPr bwMode="auto">
          <a:xfrm>
            <a:off x="4681538" y="3316288"/>
            <a:ext cx="273050" cy="628650"/>
          </a:xfrm>
          <a:custGeom>
            <a:avLst/>
            <a:gdLst>
              <a:gd name="T0" fmla="*/ 0 w 172"/>
              <a:gd name="T1" fmla="*/ 264 h 396"/>
              <a:gd name="T2" fmla="*/ 57 w 172"/>
              <a:gd name="T3" fmla="*/ 198 h 396"/>
              <a:gd name="T4" fmla="*/ 0 w 172"/>
              <a:gd name="T5" fmla="*/ 132 h 396"/>
              <a:gd name="T6" fmla="*/ 0 w 172"/>
              <a:gd name="T7" fmla="*/ 0 h 396"/>
              <a:gd name="T8" fmla="*/ 172 w 172"/>
              <a:gd name="T9" fmla="*/ 132 h 396"/>
              <a:gd name="T10" fmla="*/ 172 w 172"/>
              <a:gd name="T11" fmla="*/ 264 h 396"/>
              <a:gd name="T12" fmla="*/ 0 w 172"/>
              <a:gd name="T13" fmla="*/ 396 h 396"/>
              <a:gd name="T14" fmla="*/ 0 w 172"/>
              <a:gd name="T15" fmla="*/ 264 h 39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172" h="396">
                <a:moveTo>
                  <a:pt x="0" y="264"/>
                </a:moveTo>
                <a:lnTo>
                  <a:pt x="57" y="198"/>
                </a:lnTo>
                <a:lnTo>
                  <a:pt x="0" y="132"/>
                </a:lnTo>
                <a:lnTo>
                  <a:pt x="0" y="0"/>
                </a:lnTo>
                <a:lnTo>
                  <a:pt x="172" y="132"/>
                </a:lnTo>
                <a:lnTo>
                  <a:pt x="172" y="264"/>
                </a:lnTo>
                <a:lnTo>
                  <a:pt x="0" y="396"/>
                </a:lnTo>
                <a:lnTo>
                  <a:pt x="0" y="264"/>
                </a:lnTo>
              </a:path>
            </a:pathLst>
          </a:custGeom>
          <a:noFill/>
          <a:ln w="20638" cap="rnd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132" name="Rectangle 129">
            <a:extLst>
              <a:ext uri="{FF2B5EF4-FFF2-40B4-BE49-F238E27FC236}">
                <a16:creationId xmlns:a16="http://schemas.microsoft.com/office/drawing/2014/main" id="{FC3AEE11-E66F-4FC0-999B-A8D2E61DEEC3}"/>
              </a:ext>
            </a:extLst>
          </p:cNvPr>
          <p:cNvSpPr>
            <a:spLocks noChangeArrowheads="1"/>
          </p:cNvSpPr>
          <p:nvPr/>
        </p:nvSpPr>
        <p:spPr bwMode="auto">
          <a:xfrm rot="5400000">
            <a:off x="4498975" y="3527425"/>
            <a:ext cx="661988" cy="215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zh-CN" altLang="zh-CN" sz="1400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rPr>
              <a:t>ALU</a:t>
            </a:r>
            <a:endParaRPr kumimoji="0" lang="zh-CN" altLang="zh-CN" sz="140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  <a:ea typeface="SimHei" panose="02010609060101010101" pitchFamily="49" charset="-122"/>
            </a:endParaRPr>
          </a:p>
        </p:txBody>
      </p:sp>
      <p:sp>
        <p:nvSpPr>
          <p:cNvPr id="133" name="Rectangle 130">
            <a:extLst>
              <a:ext uri="{FF2B5EF4-FFF2-40B4-BE49-F238E27FC236}">
                <a16:creationId xmlns:a16="http://schemas.microsoft.com/office/drawing/2014/main" id="{0B06B63A-EC84-4805-88A0-8F7D57A89D4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35363" y="3495675"/>
            <a:ext cx="185738" cy="200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zh-CN" altLang="zh-CN" sz="1300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rPr>
              <a:t>IM</a:t>
            </a:r>
            <a:endParaRPr kumimoji="0" lang="zh-CN" altLang="zh-CN" sz="180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  <a:ea typeface="SimHei" panose="02010609060101010101" pitchFamily="49" charset="-122"/>
            </a:endParaRPr>
          </a:p>
        </p:txBody>
      </p:sp>
      <p:sp>
        <p:nvSpPr>
          <p:cNvPr id="134" name="Freeform 131">
            <a:extLst>
              <a:ext uri="{FF2B5EF4-FFF2-40B4-BE49-F238E27FC236}">
                <a16:creationId xmlns:a16="http://schemas.microsoft.com/office/drawing/2014/main" id="{9AE5D2EC-D7E1-4148-AA2B-F694C79ADD5E}"/>
              </a:ext>
            </a:extLst>
          </p:cNvPr>
          <p:cNvSpPr>
            <a:spLocks/>
          </p:cNvSpPr>
          <p:nvPr/>
        </p:nvSpPr>
        <p:spPr bwMode="auto">
          <a:xfrm>
            <a:off x="3462338" y="3443288"/>
            <a:ext cx="227013" cy="376238"/>
          </a:xfrm>
          <a:custGeom>
            <a:avLst/>
            <a:gdLst>
              <a:gd name="T0" fmla="*/ 143 w 143"/>
              <a:gd name="T1" fmla="*/ 0 h 237"/>
              <a:gd name="T2" fmla="*/ 0 w 143"/>
              <a:gd name="T3" fmla="*/ 0 h 237"/>
              <a:gd name="T4" fmla="*/ 0 w 143"/>
              <a:gd name="T5" fmla="*/ 237 h 237"/>
              <a:gd name="T6" fmla="*/ 143 w 143"/>
              <a:gd name="T7" fmla="*/ 237 h 2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143" h="237">
                <a:moveTo>
                  <a:pt x="143" y="0"/>
                </a:moveTo>
                <a:lnTo>
                  <a:pt x="0" y="0"/>
                </a:lnTo>
                <a:lnTo>
                  <a:pt x="0" y="237"/>
                </a:lnTo>
                <a:lnTo>
                  <a:pt x="143" y="237"/>
                </a:lnTo>
              </a:path>
            </a:pathLst>
          </a:custGeom>
          <a:noFill/>
          <a:ln w="20638" cap="rnd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135" name="Freeform 132">
            <a:extLst>
              <a:ext uri="{FF2B5EF4-FFF2-40B4-BE49-F238E27FC236}">
                <a16:creationId xmlns:a16="http://schemas.microsoft.com/office/drawing/2014/main" id="{62091601-462C-40BB-9337-43DCFEFF8663}"/>
              </a:ext>
            </a:extLst>
          </p:cNvPr>
          <p:cNvSpPr>
            <a:spLocks/>
          </p:cNvSpPr>
          <p:nvPr/>
        </p:nvSpPr>
        <p:spPr bwMode="auto">
          <a:xfrm>
            <a:off x="3683000" y="3443288"/>
            <a:ext cx="227013" cy="376238"/>
          </a:xfrm>
          <a:custGeom>
            <a:avLst/>
            <a:gdLst>
              <a:gd name="T0" fmla="*/ 0 w 143"/>
              <a:gd name="T1" fmla="*/ 0 h 237"/>
              <a:gd name="T2" fmla="*/ 143 w 143"/>
              <a:gd name="T3" fmla="*/ 0 h 237"/>
              <a:gd name="T4" fmla="*/ 143 w 143"/>
              <a:gd name="T5" fmla="*/ 237 h 237"/>
              <a:gd name="T6" fmla="*/ 0 w 143"/>
              <a:gd name="T7" fmla="*/ 237 h 2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143" h="237">
                <a:moveTo>
                  <a:pt x="0" y="0"/>
                </a:moveTo>
                <a:lnTo>
                  <a:pt x="143" y="0"/>
                </a:lnTo>
                <a:lnTo>
                  <a:pt x="143" y="237"/>
                </a:lnTo>
                <a:lnTo>
                  <a:pt x="0" y="237"/>
                </a:lnTo>
              </a:path>
            </a:pathLst>
          </a:custGeom>
          <a:noFill/>
          <a:ln w="20638" cap="rnd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136" name="Rectangle 133">
            <a:extLst>
              <a:ext uri="{FF2B5EF4-FFF2-40B4-BE49-F238E27FC236}">
                <a16:creationId xmlns:a16="http://schemas.microsoft.com/office/drawing/2014/main" id="{53074284-EB0E-41EB-B60B-3D174AB3200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16388" y="3505200"/>
            <a:ext cx="306388" cy="200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zh-CN" altLang="zh-CN" sz="1300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rPr>
              <a:t>Reg</a:t>
            </a:r>
            <a:endParaRPr kumimoji="0" lang="zh-CN" altLang="zh-CN" sz="180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  <a:ea typeface="SimHei" panose="02010609060101010101" pitchFamily="49" charset="-122"/>
            </a:endParaRPr>
          </a:p>
        </p:txBody>
      </p:sp>
      <p:sp>
        <p:nvSpPr>
          <p:cNvPr id="137" name="Freeform 134">
            <a:extLst>
              <a:ext uri="{FF2B5EF4-FFF2-40B4-BE49-F238E27FC236}">
                <a16:creationId xmlns:a16="http://schemas.microsoft.com/office/drawing/2014/main" id="{B9F43EDA-733B-4375-A147-634F7177ED9F}"/>
              </a:ext>
            </a:extLst>
          </p:cNvPr>
          <p:cNvSpPr>
            <a:spLocks/>
          </p:cNvSpPr>
          <p:nvPr/>
        </p:nvSpPr>
        <p:spPr bwMode="auto">
          <a:xfrm>
            <a:off x="4068763" y="3443288"/>
            <a:ext cx="195263" cy="376238"/>
          </a:xfrm>
          <a:custGeom>
            <a:avLst/>
            <a:gdLst>
              <a:gd name="T0" fmla="*/ 123 w 123"/>
              <a:gd name="T1" fmla="*/ 0 h 237"/>
              <a:gd name="T2" fmla="*/ 0 w 123"/>
              <a:gd name="T3" fmla="*/ 0 h 237"/>
              <a:gd name="T4" fmla="*/ 0 w 123"/>
              <a:gd name="T5" fmla="*/ 237 h 237"/>
              <a:gd name="T6" fmla="*/ 123 w 123"/>
              <a:gd name="T7" fmla="*/ 237 h 2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123" h="237">
                <a:moveTo>
                  <a:pt x="123" y="0"/>
                </a:moveTo>
                <a:lnTo>
                  <a:pt x="0" y="0"/>
                </a:lnTo>
                <a:lnTo>
                  <a:pt x="0" y="237"/>
                </a:lnTo>
                <a:lnTo>
                  <a:pt x="123" y="237"/>
                </a:lnTo>
              </a:path>
            </a:pathLst>
          </a:custGeom>
          <a:noFill/>
          <a:ln w="20638" cap="rnd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138" name="Freeform 135">
            <a:extLst>
              <a:ext uri="{FF2B5EF4-FFF2-40B4-BE49-F238E27FC236}">
                <a16:creationId xmlns:a16="http://schemas.microsoft.com/office/drawing/2014/main" id="{BAC0AABD-E7A6-4097-8D29-3BF13549F1C0}"/>
              </a:ext>
            </a:extLst>
          </p:cNvPr>
          <p:cNvSpPr>
            <a:spLocks/>
          </p:cNvSpPr>
          <p:nvPr/>
        </p:nvSpPr>
        <p:spPr bwMode="auto">
          <a:xfrm>
            <a:off x="4264025" y="3443288"/>
            <a:ext cx="187325" cy="376238"/>
          </a:xfrm>
          <a:custGeom>
            <a:avLst/>
            <a:gdLst>
              <a:gd name="T0" fmla="*/ 0 w 118"/>
              <a:gd name="T1" fmla="*/ 0 h 237"/>
              <a:gd name="T2" fmla="*/ 118 w 118"/>
              <a:gd name="T3" fmla="*/ 0 h 237"/>
              <a:gd name="T4" fmla="*/ 118 w 118"/>
              <a:gd name="T5" fmla="*/ 237 h 237"/>
              <a:gd name="T6" fmla="*/ 0 w 118"/>
              <a:gd name="T7" fmla="*/ 237 h 2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118" h="237">
                <a:moveTo>
                  <a:pt x="0" y="0"/>
                </a:moveTo>
                <a:lnTo>
                  <a:pt x="118" y="0"/>
                </a:lnTo>
                <a:lnTo>
                  <a:pt x="118" y="237"/>
                </a:lnTo>
                <a:lnTo>
                  <a:pt x="0" y="237"/>
                </a:lnTo>
              </a:path>
            </a:pathLst>
          </a:custGeom>
          <a:noFill/>
          <a:ln w="20638" cap="rnd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139" name="Line 136">
            <a:extLst>
              <a:ext uri="{FF2B5EF4-FFF2-40B4-BE49-F238E27FC236}">
                <a16:creationId xmlns:a16="http://schemas.microsoft.com/office/drawing/2014/main" id="{401E453D-9D06-4273-9CB4-4B01CF2492ED}"/>
              </a:ext>
            </a:extLst>
          </p:cNvPr>
          <p:cNvSpPr>
            <a:spLocks noChangeShapeType="1"/>
          </p:cNvSpPr>
          <p:nvPr/>
        </p:nvSpPr>
        <p:spPr bwMode="auto">
          <a:xfrm>
            <a:off x="3917950" y="3632200"/>
            <a:ext cx="150813" cy="0"/>
          </a:xfrm>
          <a:prstGeom prst="line">
            <a:avLst/>
          </a:prstGeom>
          <a:noFill/>
          <a:ln w="20638" cap="flat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140" name="Freeform 137">
            <a:extLst>
              <a:ext uri="{FF2B5EF4-FFF2-40B4-BE49-F238E27FC236}">
                <a16:creationId xmlns:a16="http://schemas.microsoft.com/office/drawing/2014/main" id="{3EED4142-E9B3-4598-B611-7756831C1066}"/>
              </a:ext>
            </a:extLst>
          </p:cNvPr>
          <p:cNvSpPr>
            <a:spLocks/>
          </p:cNvSpPr>
          <p:nvPr/>
        </p:nvSpPr>
        <p:spPr bwMode="auto">
          <a:xfrm>
            <a:off x="4005263" y="3505200"/>
            <a:ext cx="61913" cy="125413"/>
          </a:xfrm>
          <a:custGeom>
            <a:avLst/>
            <a:gdLst>
              <a:gd name="T0" fmla="*/ 0 w 39"/>
              <a:gd name="T1" fmla="*/ 79 h 79"/>
              <a:gd name="T2" fmla="*/ 0 w 39"/>
              <a:gd name="T3" fmla="*/ 0 h 79"/>
              <a:gd name="T4" fmla="*/ 39 w 39"/>
              <a:gd name="T5" fmla="*/ 0 h 7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39" h="79">
                <a:moveTo>
                  <a:pt x="0" y="79"/>
                </a:moveTo>
                <a:lnTo>
                  <a:pt x="0" y="0"/>
                </a:lnTo>
                <a:lnTo>
                  <a:pt x="39" y="0"/>
                </a:lnTo>
              </a:path>
            </a:pathLst>
          </a:custGeom>
          <a:noFill/>
          <a:ln w="20638" cap="rnd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141" name="Line 138">
            <a:extLst>
              <a:ext uri="{FF2B5EF4-FFF2-40B4-BE49-F238E27FC236}">
                <a16:creationId xmlns:a16="http://schemas.microsoft.com/office/drawing/2014/main" id="{BC9CE92A-ACD8-4665-9845-B6F896A8772D}"/>
              </a:ext>
            </a:extLst>
          </p:cNvPr>
          <p:cNvSpPr>
            <a:spLocks noChangeShapeType="1"/>
          </p:cNvSpPr>
          <p:nvPr/>
        </p:nvSpPr>
        <p:spPr bwMode="auto">
          <a:xfrm>
            <a:off x="4460875" y="3505200"/>
            <a:ext cx="204788" cy="0"/>
          </a:xfrm>
          <a:prstGeom prst="line">
            <a:avLst/>
          </a:prstGeom>
          <a:noFill/>
          <a:ln w="20638" cap="flat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142" name="Rectangle 139">
            <a:extLst>
              <a:ext uri="{FF2B5EF4-FFF2-40B4-BE49-F238E27FC236}">
                <a16:creationId xmlns:a16="http://schemas.microsoft.com/office/drawing/2014/main" id="{83A647FC-A4DD-421C-9368-E4265F1C148C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86363" y="3495675"/>
            <a:ext cx="260350" cy="200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zh-CN" altLang="zh-CN" sz="1300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rPr>
              <a:t>DM</a:t>
            </a:r>
            <a:endParaRPr kumimoji="0" lang="zh-CN" altLang="zh-CN" sz="180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  <a:ea typeface="SimHei" panose="02010609060101010101" pitchFamily="49" charset="-122"/>
            </a:endParaRPr>
          </a:p>
        </p:txBody>
      </p:sp>
      <p:sp>
        <p:nvSpPr>
          <p:cNvPr id="143" name="Freeform 140">
            <a:extLst>
              <a:ext uri="{FF2B5EF4-FFF2-40B4-BE49-F238E27FC236}">
                <a16:creationId xmlns:a16="http://schemas.microsoft.com/office/drawing/2014/main" id="{0FA7F94E-978E-4FA9-B194-8777D972901C}"/>
              </a:ext>
            </a:extLst>
          </p:cNvPr>
          <p:cNvSpPr>
            <a:spLocks/>
          </p:cNvSpPr>
          <p:nvPr/>
        </p:nvSpPr>
        <p:spPr bwMode="auto">
          <a:xfrm>
            <a:off x="5175250" y="3443288"/>
            <a:ext cx="212725" cy="376238"/>
          </a:xfrm>
          <a:custGeom>
            <a:avLst/>
            <a:gdLst>
              <a:gd name="T0" fmla="*/ 134 w 134"/>
              <a:gd name="T1" fmla="*/ 0 h 237"/>
              <a:gd name="T2" fmla="*/ 0 w 134"/>
              <a:gd name="T3" fmla="*/ 0 h 237"/>
              <a:gd name="T4" fmla="*/ 0 w 134"/>
              <a:gd name="T5" fmla="*/ 237 h 237"/>
              <a:gd name="T6" fmla="*/ 134 w 134"/>
              <a:gd name="T7" fmla="*/ 237 h 2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134" h="237">
                <a:moveTo>
                  <a:pt x="134" y="0"/>
                </a:moveTo>
                <a:lnTo>
                  <a:pt x="0" y="0"/>
                </a:lnTo>
                <a:lnTo>
                  <a:pt x="0" y="237"/>
                </a:lnTo>
                <a:lnTo>
                  <a:pt x="134" y="237"/>
                </a:lnTo>
              </a:path>
            </a:pathLst>
          </a:custGeom>
          <a:noFill/>
          <a:ln w="20638" cap="rnd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144" name="Freeform 141">
            <a:extLst>
              <a:ext uri="{FF2B5EF4-FFF2-40B4-BE49-F238E27FC236}">
                <a16:creationId xmlns:a16="http://schemas.microsoft.com/office/drawing/2014/main" id="{CA68CA22-3285-477F-B64F-6FC69935146F}"/>
              </a:ext>
            </a:extLst>
          </p:cNvPr>
          <p:cNvSpPr>
            <a:spLocks/>
          </p:cNvSpPr>
          <p:nvPr/>
        </p:nvSpPr>
        <p:spPr bwMode="auto">
          <a:xfrm>
            <a:off x="5387975" y="3443288"/>
            <a:ext cx="219075" cy="376238"/>
          </a:xfrm>
          <a:custGeom>
            <a:avLst/>
            <a:gdLst>
              <a:gd name="T0" fmla="*/ 0 w 138"/>
              <a:gd name="T1" fmla="*/ 0 h 237"/>
              <a:gd name="T2" fmla="*/ 138 w 138"/>
              <a:gd name="T3" fmla="*/ 0 h 237"/>
              <a:gd name="T4" fmla="*/ 138 w 138"/>
              <a:gd name="T5" fmla="*/ 237 h 237"/>
              <a:gd name="T6" fmla="*/ 0 w 138"/>
              <a:gd name="T7" fmla="*/ 237 h 2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138" h="237">
                <a:moveTo>
                  <a:pt x="0" y="0"/>
                </a:moveTo>
                <a:lnTo>
                  <a:pt x="138" y="0"/>
                </a:lnTo>
                <a:lnTo>
                  <a:pt x="138" y="237"/>
                </a:lnTo>
                <a:lnTo>
                  <a:pt x="0" y="237"/>
                </a:lnTo>
              </a:path>
            </a:pathLst>
          </a:custGeom>
          <a:noFill/>
          <a:ln w="20638" cap="rnd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145" name="Rectangle 142">
            <a:extLst>
              <a:ext uri="{FF2B5EF4-FFF2-40B4-BE49-F238E27FC236}">
                <a16:creationId xmlns:a16="http://schemas.microsoft.com/office/drawing/2014/main" id="{ACB38039-AD44-4943-97F5-3B65627465B7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30888" y="3495675"/>
            <a:ext cx="306388" cy="200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zh-CN" altLang="zh-CN" sz="1300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rPr>
              <a:t>Reg</a:t>
            </a:r>
            <a:endParaRPr kumimoji="0" lang="zh-CN" altLang="zh-CN" sz="180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  <a:ea typeface="SimHei" panose="02010609060101010101" pitchFamily="49" charset="-122"/>
            </a:endParaRPr>
          </a:p>
        </p:txBody>
      </p:sp>
      <p:sp>
        <p:nvSpPr>
          <p:cNvPr id="146" name="Freeform 143">
            <a:extLst>
              <a:ext uri="{FF2B5EF4-FFF2-40B4-BE49-F238E27FC236}">
                <a16:creationId xmlns:a16="http://schemas.microsoft.com/office/drawing/2014/main" id="{754E515C-F3C1-477B-8343-DC0C0C39CD75}"/>
              </a:ext>
            </a:extLst>
          </p:cNvPr>
          <p:cNvSpPr>
            <a:spLocks/>
          </p:cNvSpPr>
          <p:nvPr/>
        </p:nvSpPr>
        <p:spPr bwMode="auto">
          <a:xfrm>
            <a:off x="5789613" y="3443288"/>
            <a:ext cx="187325" cy="376238"/>
          </a:xfrm>
          <a:custGeom>
            <a:avLst/>
            <a:gdLst>
              <a:gd name="T0" fmla="*/ 118 w 118"/>
              <a:gd name="T1" fmla="*/ 0 h 237"/>
              <a:gd name="T2" fmla="*/ 0 w 118"/>
              <a:gd name="T3" fmla="*/ 0 h 237"/>
              <a:gd name="T4" fmla="*/ 0 w 118"/>
              <a:gd name="T5" fmla="*/ 237 h 237"/>
              <a:gd name="T6" fmla="*/ 118 w 118"/>
              <a:gd name="T7" fmla="*/ 237 h 2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118" h="237">
                <a:moveTo>
                  <a:pt x="118" y="0"/>
                </a:moveTo>
                <a:lnTo>
                  <a:pt x="0" y="0"/>
                </a:lnTo>
                <a:lnTo>
                  <a:pt x="0" y="237"/>
                </a:lnTo>
                <a:lnTo>
                  <a:pt x="118" y="237"/>
                </a:lnTo>
              </a:path>
            </a:pathLst>
          </a:custGeom>
          <a:noFill/>
          <a:ln w="20638" cap="rnd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147" name="Freeform 144">
            <a:extLst>
              <a:ext uri="{FF2B5EF4-FFF2-40B4-BE49-F238E27FC236}">
                <a16:creationId xmlns:a16="http://schemas.microsoft.com/office/drawing/2014/main" id="{AE928F71-B420-4CDB-87F1-1853F2E2672F}"/>
              </a:ext>
            </a:extLst>
          </p:cNvPr>
          <p:cNvSpPr>
            <a:spLocks/>
          </p:cNvSpPr>
          <p:nvPr/>
        </p:nvSpPr>
        <p:spPr bwMode="auto">
          <a:xfrm>
            <a:off x="5976938" y="3443288"/>
            <a:ext cx="188913" cy="376238"/>
          </a:xfrm>
          <a:custGeom>
            <a:avLst/>
            <a:gdLst>
              <a:gd name="T0" fmla="*/ 0 w 119"/>
              <a:gd name="T1" fmla="*/ 0 h 237"/>
              <a:gd name="T2" fmla="*/ 119 w 119"/>
              <a:gd name="T3" fmla="*/ 0 h 237"/>
              <a:gd name="T4" fmla="*/ 119 w 119"/>
              <a:gd name="T5" fmla="*/ 237 h 237"/>
              <a:gd name="T6" fmla="*/ 0 w 119"/>
              <a:gd name="T7" fmla="*/ 237 h 2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119" h="237">
                <a:moveTo>
                  <a:pt x="0" y="0"/>
                </a:moveTo>
                <a:lnTo>
                  <a:pt x="119" y="0"/>
                </a:lnTo>
                <a:lnTo>
                  <a:pt x="119" y="237"/>
                </a:lnTo>
                <a:lnTo>
                  <a:pt x="0" y="237"/>
                </a:lnTo>
              </a:path>
            </a:pathLst>
          </a:custGeom>
          <a:noFill/>
          <a:ln w="20638" cap="rnd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148" name="Line 145">
            <a:extLst>
              <a:ext uri="{FF2B5EF4-FFF2-40B4-BE49-F238E27FC236}">
                <a16:creationId xmlns:a16="http://schemas.microsoft.com/office/drawing/2014/main" id="{0D0829E2-465A-4B0E-860A-00EEA46244F1}"/>
              </a:ext>
            </a:extLst>
          </p:cNvPr>
          <p:cNvSpPr>
            <a:spLocks noChangeShapeType="1"/>
          </p:cNvSpPr>
          <p:nvPr/>
        </p:nvSpPr>
        <p:spPr bwMode="auto">
          <a:xfrm>
            <a:off x="5600700" y="3632200"/>
            <a:ext cx="180975" cy="0"/>
          </a:xfrm>
          <a:prstGeom prst="line">
            <a:avLst/>
          </a:prstGeom>
          <a:noFill/>
          <a:ln w="20638" cap="flat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149" name="Line 146">
            <a:extLst>
              <a:ext uri="{FF2B5EF4-FFF2-40B4-BE49-F238E27FC236}">
                <a16:creationId xmlns:a16="http://schemas.microsoft.com/office/drawing/2014/main" id="{772F3B64-0D60-435C-85E0-DBFE3408AABE}"/>
              </a:ext>
            </a:extLst>
          </p:cNvPr>
          <p:cNvSpPr>
            <a:spLocks noChangeShapeType="1"/>
          </p:cNvSpPr>
          <p:nvPr/>
        </p:nvSpPr>
        <p:spPr bwMode="auto">
          <a:xfrm>
            <a:off x="4964113" y="3632200"/>
            <a:ext cx="204788" cy="0"/>
          </a:xfrm>
          <a:prstGeom prst="line">
            <a:avLst/>
          </a:prstGeom>
          <a:noFill/>
          <a:ln w="20638" cap="flat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150" name="Line 147">
            <a:extLst>
              <a:ext uri="{FF2B5EF4-FFF2-40B4-BE49-F238E27FC236}">
                <a16:creationId xmlns:a16="http://schemas.microsoft.com/office/drawing/2014/main" id="{A3977F2A-1ABB-4BEA-B7E8-911FF999233E}"/>
              </a:ext>
            </a:extLst>
          </p:cNvPr>
          <p:cNvSpPr>
            <a:spLocks noChangeShapeType="1"/>
          </p:cNvSpPr>
          <p:nvPr/>
        </p:nvSpPr>
        <p:spPr bwMode="auto">
          <a:xfrm>
            <a:off x="4460875" y="3757613"/>
            <a:ext cx="204788" cy="0"/>
          </a:xfrm>
          <a:prstGeom prst="line">
            <a:avLst/>
          </a:prstGeom>
          <a:noFill/>
          <a:ln w="20638" cap="flat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151" name="Line 148">
            <a:extLst>
              <a:ext uri="{FF2B5EF4-FFF2-40B4-BE49-F238E27FC236}">
                <a16:creationId xmlns:a16="http://schemas.microsoft.com/office/drawing/2014/main" id="{DE2A561F-AC4B-4F7E-B482-60B669C0FB72}"/>
              </a:ext>
            </a:extLst>
          </p:cNvPr>
          <p:cNvSpPr>
            <a:spLocks noChangeShapeType="1"/>
          </p:cNvSpPr>
          <p:nvPr/>
        </p:nvSpPr>
        <p:spPr bwMode="auto">
          <a:xfrm>
            <a:off x="4570413" y="3757613"/>
            <a:ext cx="0" cy="250825"/>
          </a:xfrm>
          <a:prstGeom prst="line">
            <a:avLst/>
          </a:prstGeom>
          <a:noFill/>
          <a:ln w="23813" cap="flat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152" name="Line 149">
            <a:extLst>
              <a:ext uri="{FF2B5EF4-FFF2-40B4-BE49-F238E27FC236}">
                <a16:creationId xmlns:a16="http://schemas.microsoft.com/office/drawing/2014/main" id="{F47B81A5-04E7-4E24-972C-542239C997F3}"/>
              </a:ext>
            </a:extLst>
          </p:cNvPr>
          <p:cNvSpPr>
            <a:spLocks noChangeShapeType="1"/>
          </p:cNvSpPr>
          <p:nvPr/>
        </p:nvSpPr>
        <p:spPr bwMode="auto">
          <a:xfrm>
            <a:off x="4570413" y="4008438"/>
            <a:ext cx="441325" cy="0"/>
          </a:xfrm>
          <a:prstGeom prst="line">
            <a:avLst/>
          </a:prstGeom>
          <a:noFill/>
          <a:ln w="23813" cap="flat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153" name="Line 150">
            <a:extLst>
              <a:ext uri="{FF2B5EF4-FFF2-40B4-BE49-F238E27FC236}">
                <a16:creationId xmlns:a16="http://schemas.microsoft.com/office/drawing/2014/main" id="{92402651-F141-493B-8C3A-F53177B2DB71}"/>
              </a:ext>
            </a:extLst>
          </p:cNvPr>
          <p:cNvSpPr>
            <a:spLocks noChangeShapeType="1"/>
          </p:cNvSpPr>
          <p:nvPr/>
        </p:nvSpPr>
        <p:spPr bwMode="auto">
          <a:xfrm>
            <a:off x="5011738" y="3632200"/>
            <a:ext cx="0" cy="376238"/>
          </a:xfrm>
          <a:prstGeom prst="line">
            <a:avLst/>
          </a:prstGeom>
          <a:noFill/>
          <a:ln w="23813" cap="flat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154" name="Line 151">
            <a:extLst>
              <a:ext uri="{FF2B5EF4-FFF2-40B4-BE49-F238E27FC236}">
                <a16:creationId xmlns:a16="http://schemas.microsoft.com/office/drawing/2014/main" id="{DCDB8E67-79DB-4203-95F7-0DC1835350E0}"/>
              </a:ext>
            </a:extLst>
          </p:cNvPr>
          <p:cNvSpPr>
            <a:spLocks noChangeShapeType="1"/>
          </p:cNvSpPr>
          <p:nvPr/>
        </p:nvSpPr>
        <p:spPr bwMode="auto">
          <a:xfrm>
            <a:off x="5113338" y="3632200"/>
            <a:ext cx="0" cy="314325"/>
          </a:xfrm>
          <a:prstGeom prst="line">
            <a:avLst/>
          </a:prstGeom>
          <a:noFill/>
          <a:ln w="23813" cap="flat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155" name="Line 152">
            <a:extLst>
              <a:ext uri="{FF2B5EF4-FFF2-40B4-BE49-F238E27FC236}">
                <a16:creationId xmlns:a16="http://schemas.microsoft.com/office/drawing/2014/main" id="{4BBEA100-0BD2-4F81-98D0-ECCFF416F70A}"/>
              </a:ext>
            </a:extLst>
          </p:cNvPr>
          <p:cNvSpPr>
            <a:spLocks noChangeShapeType="1"/>
          </p:cNvSpPr>
          <p:nvPr/>
        </p:nvSpPr>
        <p:spPr bwMode="auto">
          <a:xfrm>
            <a:off x="5113338" y="3946525"/>
            <a:ext cx="565150" cy="0"/>
          </a:xfrm>
          <a:prstGeom prst="line">
            <a:avLst/>
          </a:prstGeom>
          <a:noFill/>
          <a:ln w="23813" cap="flat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156" name="Line 153">
            <a:extLst>
              <a:ext uri="{FF2B5EF4-FFF2-40B4-BE49-F238E27FC236}">
                <a16:creationId xmlns:a16="http://schemas.microsoft.com/office/drawing/2014/main" id="{E2B8CA2E-0109-4A92-9ABD-57AF925384DB}"/>
              </a:ext>
            </a:extLst>
          </p:cNvPr>
          <p:cNvSpPr>
            <a:spLocks noChangeShapeType="1"/>
          </p:cNvSpPr>
          <p:nvPr/>
        </p:nvSpPr>
        <p:spPr bwMode="auto">
          <a:xfrm>
            <a:off x="5678488" y="3632200"/>
            <a:ext cx="0" cy="314325"/>
          </a:xfrm>
          <a:prstGeom prst="line">
            <a:avLst/>
          </a:prstGeom>
          <a:noFill/>
          <a:ln w="23813" cap="flat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157" name="Freeform 154">
            <a:extLst>
              <a:ext uri="{FF2B5EF4-FFF2-40B4-BE49-F238E27FC236}">
                <a16:creationId xmlns:a16="http://schemas.microsoft.com/office/drawing/2014/main" id="{112B31A4-352C-4DDC-96DE-DCDB8C1174BD}"/>
              </a:ext>
            </a:extLst>
          </p:cNvPr>
          <p:cNvSpPr>
            <a:spLocks/>
          </p:cNvSpPr>
          <p:nvPr/>
        </p:nvSpPr>
        <p:spPr bwMode="auto">
          <a:xfrm>
            <a:off x="5238750" y="4135438"/>
            <a:ext cx="282575" cy="627063"/>
          </a:xfrm>
          <a:custGeom>
            <a:avLst/>
            <a:gdLst>
              <a:gd name="T0" fmla="*/ 0 w 178"/>
              <a:gd name="T1" fmla="*/ 263 h 395"/>
              <a:gd name="T2" fmla="*/ 59 w 178"/>
              <a:gd name="T3" fmla="*/ 197 h 395"/>
              <a:gd name="T4" fmla="*/ 0 w 178"/>
              <a:gd name="T5" fmla="*/ 132 h 395"/>
              <a:gd name="T6" fmla="*/ 0 w 178"/>
              <a:gd name="T7" fmla="*/ 0 h 395"/>
              <a:gd name="T8" fmla="*/ 178 w 178"/>
              <a:gd name="T9" fmla="*/ 132 h 395"/>
              <a:gd name="T10" fmla="*/ 178 w 178"/>
              <a:gd name="T11" fmla="*/ 263 h 395"/>
              <a:gd name="T12" fmla="*/ 0 w 178"/>
              <a:gd name="T13" fmla="*/ 395 h 395"/>
              <a:gd name="T14" fmla="*/ 0 w 178"/>
              <a:gd name="T15" fmla="*/ 263 h 39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178" h="395">
                <a:moveTo>
                  <a:pt x="0" y="263"/>
                </a:moveTo>
                <a:lnTo>
                  <a:pt x="59" y="197"/>
                </a:lnTo>
                <a:lnTo>
                  <a:pt x="0" y="132"/>
                </a:lnTo>
                <a:lnTo>
                  <a:pt x="0" y="0"/>
                </a:lnTo>
                <a:lnTo>
                  <a:pt x="178" y="132"/>
                </a:lnTo>
                <a:lnTo>
                  <a:pt x="178" y="263"/>
                </a:lnTo>
                <a:lnTo>
                  <a:pt x="0" y="395"/>
                </a:lnTo>
                <a:lnTo>
                  <a:pt x="0" y="263"/>
                </a:lnTo>
              </a:path>
            </a:pathLst>
          </a:custGeom>
          <a:noFill/>
          <a:ln w="20638" cap="rnd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158" name="Rectangle 155">
            <a:extLst>
              <a:ext uri="{FF2B5EF4-FFF2-40B4-BE49-F238E27FC236}">
                <a16:creationId xmlns:a16="http://schemas.microsoft.com/office/drawing/2014/main" id="{4FD2D85F-8E04-41B0-B789-42085B5E3660}"/>
              </a:ext>
            </a:extLst>
          </p:cNvPr>
          <p:cNvSpPr>
            <a:spLocks noChangeArrowheads="1"/>
          </p:cNvSpPr>
          <p:nvPr/>
        </p:nvSpPr>
        <p:spPr bwMode="auto">
          <a:xfrm rot="5400000">
            <a:off x="5067300" y="4344988"/>
            <a:ext cx="661988" cy="215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zh-CN" altLang="zh-CN" sz="1400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rPr>
              <a:t>ALU</a:t>
            </a:r>
            <a:endParaRPr kumimoji="0" lang="zh-CN" altLang="zh-CN" sz="140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  <a:ea typeface="SimHei" panose="02010609060101010101" pitchFamily="49" charset="-122"/>
            </a:endParaRPr>
          </a:p>
        </p:txBody>
      </p:sp>
      <p:sp>
        <p:nvSpPr>
          <p:cNvPr id="159" name="Rectangle 156">
            <a:extLst>
              <a:ext uri="{FF2B5EF4-FFF2-40B4-BE49-F238E27FC236}">
                <a16:creationId xmlns:a16="http://schemas.microsoft.com/office/drawing/2014/main" id="{036C9931-6B3E-44E8-ACFF-7850E032E027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02100" y="4316413"/>
            <a:ext cx="185738" cy="200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zh-CN" altLang="zh-CN" sz="1300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rPr>
              <a:t>IM</a:t>
            </a:r>
            <a:endParaRPr kumimoji="0" lang="zh-CN" altLang="zh-CN" sz="180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  <a:ea typeface="SimHei" panose="02010609060101010101" pitchFamily="49" charset="-122"/>
            </a:endParaRPr>
          </a:p>
        </p:txBody>
      </p:sp>
      <p:sp>
        <p:nvSpPr>
          <p:cNvPr id="160" name="Freeform 157">
            <a:extLst>
              <a:ext uri="{FF2B5EF4-FFF2-40B4-BE49-F238E27FC236}">
                <a16:creationId xmlns:a16="http://schemas.microsoft.com/office/drawing/2014/main" id="{C2135CF8-E2F9-4DA3-BA2E-ED4DE2678631}"/>
              </a:ext>
            </a:extLst>
          </p:cNvPr>
          <p:cNvSpPr>
            <a:spLocks/>
          </p:cNvSpPr>
          <p:nvPr/>
        </p:nvSpPr>
        <p:spPr bwMode="auto">
          <a:xfrm>
            <a:off x="4029075" y="4260850"/>
            <a:ext cx="219075" cy="376238"/>
          </a:xfrm>
          <a:custGeom>
            <a:avLst/>
            <a:gdLst>
              <a:gd name="T0" fmla="*/ 138 w 138"/>
              <a:gd name="T1" fmla="*/ 0 h 237"/>
              <a:gd name="T2" fmla="*/ 0 w 138"/>
              <a:gd name="T3" fmla="*/ 0 h 237"/>
              <a:gd name="T4" fmla="*/ 0 w 138"/>
              <a:gd name="T5" fmla="*/ 237 h 237"/>
              <a:gd name="T6" fmla="*/ 138 w 138"/>
              <a:gd name="T7" fmla="*/ 237 h 2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138" h="237">
                <a:moveTo>
                  <a:pt x="138" y="0"/>
                </a:moveTo>
                <a:lnTo>
                  <a:pt x="0" y="0"/>
                </a:lnTo>
                <a:lnTo>
                  <a:pt x="0" y="237"/>
                </a:lnTo>
                <a:lnTo>
                  <a:pt x="138" y="237"/>
                </a:lnTo>
              </a:path>
            </a:pathLst>
          </a:custGeom>
          <a:noFill/>
          <a:ln w="20638" cap="rnd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161" name="Freeform 158">
            <a:extLst>
              <a:ext uri="{FF2B5EF4-FFF2-40B4-BE49-F238E27FC236}">
                <a16:creationId xmlns:a16="http://schemas.microsoft.com/office/drawing/2014/main" id="{B9012777-091A-4E03-AE20-E06C1931A5DE}"/>
              </a:ext>
            </a:extLst>
          </p:cNvPr>
          <p:cNvSpPr>
            <a:spLocks/>
          </p:cNvSpPr>
          <p:nvPr/>
        </p:nvSpPr>
        <p:spPr bwMode="auto">
          <a:xfrm>
            <a:off x="4248150" y="4260850"/>
            <a:ext cx="227013" cy="376238"/>
          </a:xfrm>
          <a:custGeom>
            <a:avLst/>
            <a:gdLst>
              <a:gd name="T0" fmla="*/ 0 w 143"/>
              <a:gd name="T1" fmla="*/ 0 h 237"/>
              <a:gd name="T2" fmla="*/ 143 w 143"/>
              <a:gd name="T3" fmla="*/ 0 h 237"/>
              <a:gd name="T4" fmla="*/ 143 w 143"/>
              <a:gd name="T5" fmla="*/ 237 h 237"/>
              <a:gd name="T6" fmla="*/ 0 w 143"/>
              <a:gd name="T7" fmla="*/ 237 h 2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143" h="237">
                <a:moveTo>
                  <a:pt x="0" y="0"/>
                </a:moveTo>
                <a:lnTo>
                  <a:pt x="143" y="0"/>
                </a:lnTo>
                <a:lnTo>
                  <a:pt x="143" y="237"/>
                </a:lnTo>
                <a:lnTo>
                  <a:pt x="0" y="237"/>
                </a:lnTo>
              </a:path>
            </a:pathLst>
          </a:custGeom>
          <a:noFill/>
          <a:ln w="20638" cap="rnd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162" name="Rectangle 159">
            <a:extLst>
              <a:ext uri="{FF2B5EF4-FFF2-40B4-BE49-F238E27FC236}">
                <a16:creationId xmlns:a16="http://schemas.microsoft.com/office/drawing/2014/main" id="{5BF1B2E0-E773-4DCF-BEF6-492CB8F31AC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81538" y="4322763"/>
            <a:ext cx="306388" cy="200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zh-CN" altLang="zh-CN" sz="1300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rPr>
              <a:t>Reg</a:t>
            </a:r>
            <a:endParaRPr kumimoji="0" lang="zh-CN" altLang="zh-CN" sz="180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  <a:ea typeface="SimHei" panose="02010609060101010101" pitchFamily="49" charset="-122"/>
            </a:endParaRPr>
          </a:p>
        </p:txBody>
      </p:sp>
      <p:sp>
        <p:nvSpPr>
          <p:cNvPr id="163" name="Freeform 160">
            <a:extLst>
              <a:ext uri="{FF2B5EF4-FFF2-40B4-BE49-F238E27FC236}">
                <a16:creationId xmlns:a16="http://schemas.microsoft.com/office/drawing/2014/main" id="{10A06CE8-D0EC-4E2F-B174-383795E684FD}"/>
              </a:ext>
            </a:extLst>
          </p:cNvPr>
          <p:cNvSpPr>
            <a:spLocks/>
          </p:cNvSpPr>
          <p:nvPr/>
        </p:nvSpPr>
        <p:spPr bwMode="auto">
          <a:xfrm>
            <a:off x="4633913" y="4260850"/>
            <a:ext cx="195263" cy="376238"/>
          </a:xfrm>
          <a:custGeom>
            <a:avLst/>
            <a:gdLst>
              <a:gd name="T0" fmla="*/ 123 w 123"/>
              <a:gd name="T1" fmla="*/ 0 h 237"/>
              <a:gd name="T2" fmla="*/ 0 w 123"/>
              <a:gd name="T3" fmla="*/ 0 h 237"/>
              <a:gd name="T4" fmla="*/ 0 w 123"/>
              <a:gd name="T5" fmla="*/ 237 h 237"/>
              <a:gd name="T6" fmla="*/ 123 w 123"/>
              <a:gd name="T7" fmla="*/ 237 h 2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123" h="237">
                <a:moveTo>
                  <a:pt x="123" y="0"/>
                </a:moveTo>
                <a:lnTo>
                  <a:pt x="0" y="0"/>
                </a:lnTo>
                <a:lnTo>
                  <a:pt x="0" y="237"/>
                </a:lnTo>
                <a:lnTo>
                  <a:pt x="123" y="237"/>
                </a:lnTo>
              </a:path>
            </a:pathLst>
          </a:custGeom>
          <a:noFill/>
          <a:ln w="20638" cap="rnd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164" name="Freeform 161">
            <a:extLst>
              <a:ext uri="{FF2B5EF4-FFF2-40B4-BE49-F238E27FC236}">
                <a16:creationId xmlns:a16="http://schemas.microsoft.com/office/drawing/2014/main" id="{FA9AAF85-1887-463E-9EA0-26358549F5B8}"/>
              </a:ext>
            </a:extLst>
          </p:cNvPr>
          <p:cNvSpPr>
            <a:spLocks/>
          </p:cNvSpPr>
          <p:nvPr/>
        </p:nvSpPr>
        <p:spPr bwMode="auto">
          <a:xfrm>
            <a:off x="4822825" y="4260850"/>
            <a:ext cx="195263" cy="376238"/>
          </a:xfrm>
          <a:custGeom>
            <a:avLst/>
            <a:gdLst>
              <a:gd name="T0" fmla="*/ 0 w 123"/>
              <a:gd name="T1" fmla="*/ 0 h 237"/>
              <a:gd name="T2" fmla="*/ 123 w 123"/>
              <a:gd name="T3" fmla="*/ 0 h 237"/>
              <a:gd name="T4" fmla="*/ 123 w 123"/>
              <a:gd name="T5" fmla="*/ 237 h 237"/>
              <a:gd name="T6" fmla="*/ 0 w 123"/>
              <a:gd name="T7" fmla="*/ 237 h 2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123" h="237">
                <a:moveTo>
                  <a:pt x="0" y="0"/>
                </a:moveTo>
                <a:lnTo>
                  <a:pt x="123" y="0"/>
                </a:lnTo>
                <a:lnTo>
                  <a:pt x="123" y="237"/>
                </a:lnTo>
                <a:lnTo>
                  <a:pt x="0" y="237"/>
                </a:lnTo>
              </a:path>
            </a:pathLst>
          </a:custGeom>
          <a:noFill/>
          <a:ln w="20638" cap="rnd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165" name="Line 162">
            <a:extLst>
              <a:ext uri="{FF2B5EF4-FFF2-40B4-BE49-F238E27FC236}">
                <a16:creationId xmlns:a16="http://schemas.microsoft.com/office/drawing/2014/main" id="{11062E84-EF2A-45ED-8DBC-411472046901}"/>
              </a:ext>
            </a:extLst>
          </p:cNvPr>
          <p:cNvSpPr>
            <a:spLocks noChangeShapeType="1"/>
          </p:cNvSpPr>
          <p:nvPr/>
        </p:nvSpPr>
        <p:spPr bwMode="auto">
          <a:xfrm>
            <a:off x="4484688" y="4449763"/>
            <a:ext cx="149225" cy="0"/>
          </a:xfrm>
          <a:prstGeom prst="line">
            <a:avLst/>
          </a:prstGeom>
          <a:noFill/>
          <a:ln w="20638" cap="flat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166" name="Freeform 163">
            <a:extLst>
              <a:ext uri="{FF2B5EF4-FFF2-40B4-BE49-F238E27FC236}">
                <a16:creationId xmlns:a16="http://schemas.microsoft.com/office/drawing/2014/main" id="{0127667F-F04A-40A6-A2B4-CA764A5D7FC3}"/>
              </a:ext>
            </a:extLst>
          </p:cNvPr>
          <p:cNvSpPr>
            <a:spLocks/>
          </p:cNvSpPr>
          <p:nvPr/>
        </p:nvSpPr>
        <p:spPr bwMode="auto">
          <a:xfrm>
            <a:off x="4570413" y="4324350"/>
            <a:ext cx="61913" cy="123825"/>
          </a:xfrm>
          <a:custGeom>
            <a:avLst/>
            <a:gdLst>
              <a:gd name="T0" fmla="*/ 0 w 39"/>
              <a:gd name="T1" fmla="*/ 78 h 78"/>
              <a:gd name="T2" fmla="*/ 0 w 39"/>
              <a:gd name="T3" fmla="*/ 0 h 78"/>
              <a:gd name="T4" fmla="*/ 39 w 39"/>
              <a:gd name="T5" fmla="*/ 0 h 7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39" h="78">
                <a:moveTo>
                  <a:pt x="0" y="78"/>
                </a:moveTo>
                <a:lnTo>
                  <a:pt x="0" y="0"/>
                </a:lnTo>
                <a:lnTo>
                  <a:pt x="39" y="0"/>
                </a:lnTo>
              </a:path>
            </a:pathLst>
          </a:custGeom>
          <a:noFill/>
          <a:ln w="20638" cap="rnd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167" name="Line 164">
            <a:extLst>
              <a:ext uri="{FF2B5EF4-FFF2-40B4-BE49-F238E27FC236}">
                <a16:creationId xmlns:a16="http://schemas.microsoft.com/office/drawing/2014/main" id="{AD77675C-D161-4E51-9DBF-9E0281E46ADF}"/>
              </a:ext>
            </a:extLst>
          </p:cNvPr>
          <p:cNvSpPr>
            <a:spLocks noChangeShapeType="1"/>
          </p:cNvSpPr>
          <p:nvPr/>
        </p:nvSpPr>
        <p:spPr bwMode="auto">
          <a:xfrm>
            <a:off x="5026025" y="4324350"/>
            <a:ext cx="204788" cy="0"/>
          </a:xfrm>
          <a:prstGeom prst="line">
            <a:avLst/>
          </a:prstGeom>
          <a:noFill/>
          <a:ln w="20638" cap="flat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168" name="Rectangle 165">
            <a:extLst>
              <a:ext uri="{FF2B5EF4-FFF2-40B4-BE49-F238E27FC236}">
                <a16:creationId xmlns:a16="http://schemas.microsoft.com/office/drawing/2014/main" id="{8C2C14E4-F7A5-461F-A815-54ED1A450D71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51513" y="4316413"/>
            <a:ext cx="260350" cy="200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zh-CN" altLang="zh-CN" sz="1300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rPr>
              <a:t>DM</a:t>
            </a:r>
            <a:endParaRPr kumimoji="0" lang="zh-CN" altLang="zh-CN" sz="180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  <a:ea typeface="SimHei" panose="02010609060101010101" pitchFamily="49" charset="-122"/>
            </a:endParaRPr>
          </a:p>
        </p:txBody>
      </p:sp>
      <p:sp>
        <p:nvSpPr>
          <p:cNvPr id="169" name="Freeform 166">
            <a:extLst>
              <a:ext uri="{FF2B5EF4-FFF2-40B4-BE49-F238E27FC236}">
                <a16:creationId xmlns:a16="http://schemas.microsoft.com/office/drawing/2014/main" id="{75A1AED8-C44C-46CA-B846-8F470E05F5BE}"/>
              </a:ext>
            </a:extLst>
          </p:cNvPr>
          <p:cNvSpPr>
            <a:spLocks/>
          </p:cNvSpPr>
          <p:nvPr/>
        </p:nvSpPr>
        <p:spPr bwMode="auto">
          <a:xfrm>
            <a:off x="5741988" y="4260850"/>
            <a:ext cx="211138" cy="376238"/>
          </a:xfrm>
          <a:custGeom>
            <a:avLst/>
            <a:gdLst>
              <a:gd name="T0" fmla="*/ 133 w 133"/>
              <a:gd name="T1" fmla="*/ 0 h 237"/>
              <a:gd name="T2" fmla="*/ 0 w 133"/>
              <a:gd name="T3" fmla="*/ 0 h 237"/>
              <a:gd name="T4" fmla="*/ 0 w 133"/>
              <a:gd name="T5" fmla="*/ 237 h 237"/>
              <a:gd name="T6" fmla="*/ 133 w 133"/>
              <a:gd name="T7" fmla="*/ 237 h 2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133" h="237">
                <a:moveTo>
                  <a:pt x="133" y="0"/>
                </a:moveTo>
                <a:lnTo>
                  <a:pt x="0" y="0"/>
                </a:lnTo>
                <a:lnTo>
                  <a:pt x="0" y="237"/>
                </a:lnTo>
                <a:lnTo>
                  <a:pt x="133" y="237"/>
                </a:lnTo>
              </a:path>
            </a:pathLst>
          </a:custGeom>
          <a:noFill/>
          <a:ln w="20638" cap="rnd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170" name="Freeform 167">
            <a:extLst>
              <a:ext uri="{FF2B5EF4-FFF2-40B4-BE49-F238E27FC236}">
                <a16:creationId xmlns:a16="http://schemas.microsoft.com/office/drawing/2014/main" id="{1E4C6D16-304C-40AB-85B7-729A32B4D438}"/>
              </a:ext>
            </a:extLst>
          </p:cNvPr>
          <p:cNvSpPr>
            <a:spLocks/>
          </p:cNvSpPr>
          <p:nvPr/>
        </p:nvSpPr>
        <p:spPr bwMode="auto">
          <a:xfrm>
            <a:off x="5954713" y="4260850"/>
            <a:ext cx="211138" cy="376238"/>
          </a:xfrm>
          <a:custGeom>
            <a:avLst/>
            <a:gdLst>
              <a:gd name="T0" fmla="*/ 0 w 133"/>
              <a:gd name="T1" fmla="*/ 0 h 237"/>
              <a:gd name="T2" fmla="*/ 133 w 133"/>
              <a:gd name="T3" fmla="*/ 0 h 237"/>
              <a:gd name="T4" fmla="*/ 133 w 133"/>
              <a:gd name="T5" fmla="*/ 237 h 237"/>
              <a:gd name="T6" fmla="*/ 0 w 133"/>
              <a:gd name="T7" fmla="*/ 237 h 2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133" h="237">
                <a:moveTo>
                  <a:pt x="0" y="0"/>
                </a:moveTo>
                <a:lnTo>
                  <a:pt x="133" y="0"/>
                </a:lnTo>
                <a:lnTo>
                  <a:pt x="133" y="237"/>
                </a:lnTo>
                <a:lnTo>
                  <a:pt x="0" y="237"/>
                </a:lnTo>
              </a:path>
            </a:pathLst>
          </a:custGeom>
          <a:noFill/>
          <a:ln w="20638" cap="rnd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171" name="Rectangle 168">
            <a:extLst>
              <a:ext uri="{FF2B5EF4-FFF2-40B4-BE49-F238E27FC236}">
                <a16:creationId xmlns:a16="http://schemas.microsoft.com/office/drawing/2014/main" id="{7C9CB4E6-2DD0-4727-ABA7-82D0E3B8A46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96038" y="4316413"/>
            <a:ext cx="306388" cy="200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zh-CN" altLang="zh-CN" sz="1300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rPr>
              <a:t>Reg</a:t>
            </a:r>
            <a:endParaRPr kumimoji="0" lang="zh-CN" altLang="zh-CN" sz="180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  <a:ea typeface="SimHei" panose="02010609060101010101" pitchFamily="49" charset="-122"/>
            </a:endParaRPr>
          </a:p>
        </p:txBody>
      </p:sp>
      <p:sp>
        <p:nvSpPr>
          <p:cNvPr id="172" name="Freeform 169">
            <a:extLst>
              <a:ext uri="{FF2B5EF4-FFF2-40B4-BE49-F238E27FC236}">
                <a16:creationId xmlns:a16="http://schemas.microsoft.com/office/drawing/2014/main" id="{9164A7E8-AABE-4C7D-8FFF-090BE1553707}"/>
              </a:ext>
            </a:extLst>
          </p:cNvPr>
          <p:cNvSpPr>
            <a:spLocks/>
          </p:cNvSpPr>
          <p:nvPr/>
        </p:nvSpPr>
        <p:spPr bwMode="auto">
          <a:xfrm>
            <a:off x="6354763" y="4260850"/>
            <a:ext cx="187325" cy="376238"/>
          </a:xfrm>
          <a:custGeom>
            <a:avLst/>
            <a:gdLst>
              <a:gd name="T0" fmla="*/ 118 w 118"/>
              <a:gd name="T1" fmla="*/ 0 h 237"/>
              <a:gd name="T2" fmla="*/ 0 w 118"/>
              <a:gd name="T3" fmla="*/ 0 h 237"/>
              <a:gd name="T4" fmla="*/ 0 w 118"/>
              <a:gd name="T5" fmla="*/ 237 h 237"/>
              <a:gd name="T6" fmla="*/ 118 w 118"/>
              <a:gd name="T7" fmla="*/ 237 h 2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118" h="237">
                <a:moveTo>
                  <a:pt x="118" y="0"/>
                </a:moveTo>
                <a:lnTo>
                  <a:pt x="0" y="0"/>
                </a:lnTo>
                <a:lnTo>
                  <a:pt x="0" y="237"/>
                </a:lnTo>
                <a:lnTo>
                  <a:pt x="118" y="237"/>
                </a:lnTo>
              </a:path>
            </a:pathLst>
          </a:custGeom>
          <a:noFill/>
          <a:ln w="20638" cap="rnd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173" name="Freeform 170">
            <a:extLst>
              <a:ext uri="{FF2B5EF4-FFF2-40B4-BE49-F238E27FC236}">
                <a16:creationId xmlns:a16="http://schemas.microsoft.com/office/drawing/2014/main" id="{AFCABDA1-B387-486F-81D5-7362D2DE45A3}"/>
              </a:ext>
            </a:extLst>
          </p:cNvPr>
          <p:cNvSpPr>
            <a:spLocks/>
          </p:cNvSpPr>
          <p:nvPr/>
        </p:nvSpPr>
        <p:spPr bwMode="auto">
          <a:xfrm>
            <a:off x="6543675" y="4260850"/>
            <a:ext cx="187325" cy="376238"/>
          </a:xfrm>
          <a:custGeom>
            <a:avLst/>
            <a:gdLst>
              <a:gd name="T0" fmla="*/ 0 w 118"/>
              <a:gd name="T1" fmla="*/ 0 h 237"/>
              <a:gd name="T2" fmla="*/ 118 w 118"/>
              <a:gd name="T3" fmla="*/ 0 h 237"/>
              <a:gd name="T4" fmla="*/ 118 w 118"/>
              <a:gd name="T5" fmla="*/ 237 h 237"/>
              <a:gd name="T6" fmla="*/ 0 w 118"/>
              <a:gd name="T7" fmla="*/ 237 h 2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118" h="237">
                <a:moveTo>
                  <a:pt x="0" y="0"/>
                </a:moveTo>
                <a:lnTo>
                  <a:pt x="118" y="0"/>
                </a:lnTo>
                <a:lnTo>
                  <a:pt x="118" y="237"/>
                </a:lnTo>
                <a:lnTo>
                  <a:pt x="0" y="237"/>
                </a:lnTo>
              </a:path>
            </a:pathLst>
          </a:custGeom>
          <a:noFill/>
          <a:ln w="20638" cap="rnd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174" name="Line 171">
            <a:extLst>
              <a:ext uri="{FF2B5EF4-FFF2-40B4-BE49-F238E27FC236}">
                <a16:creationId xmlns:a16="http://schemas.microsoft.com/office/drawing/2014/main" id="{A9EBF1C7-92D2-4130-AFB2-4BE267B2D854}"/>
              </a:ext>
            </a:extLst>
          </p:cNvPr>
          <p:cNvSpPr>
            <a:spLocks noChangeShapeType="1"/>
          </p:cNvSpPr>
          <p:nvPr/>
        </p:nvSpPr>
        <p:spPr bwMode="auto">
          <a:xfrm>
            <a:off x="6165850" y="4449763"/>
            <a:ext cx="180975" cy="0"/>
          </a:xfrm>
          <a:prstGeom prst="line">
            <a:avLst/>
          </a:prstGeom>
          <a:noFill/>
          <a:ln w="20638" cap="flat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175" name="Line 172">
            <a:extLst>
              <a:ext uri="{FF2B5EF4-FFF2-40B4-BE49-F238E27FC236}">
                <a16:creationId xmlns:a16="http://schemas.microsoft.com/office/drawing/2014/main" id="{480DBCF3-6DCB-4946-AA8C-7AB64CC12151}"/>
              </a:ext>
            </a:extLst>
          </p:cNvPr>
          <p:cNvSpPr>
            <a:spLocks noChangeShapeType="1"/>
          </p:cNvSpPr>
          <p:nvPr/>
        </p:nvSpPr>
        <p:spPr bwMode="auto">
          <a:xfrm>
            <a:off x="5529263" y="4449763"/>
            <a:ext cx="204788" cy="0"/>
          </a:xfrm>
          <a:prstGeom prst="line">
            <a:avLst/>
          </a:prstGeom>
          <a:noFill/>
          <a:ln w="20638" cap="flat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176" name="Line 173">
            <a:extLst>
              <a:ext uri="{FF2B5EF4-FFF2-40B4-BE49-F238E27FC236}">
                <a16:creationId xmlns:a16="http://schemas.microsoft.com/office/drawing/2014/main" id="{FECB30D1-2CA9-4B19-A9F9-DE631587D2EB}"/>
              </a:ext>
            </a:extLst>
          </p:cNvPr>
          <p:cNvSpPr>
            <a:spLocks noChangeShapeType="1"/>
          </p:cNvSpPr>
          <p:nvPr/>
        </p:nvSpPr>
        <p:spPr bwMode="auto">
          <a:xfrm>
            <a:off x="5026025" y="4575175"/>
            <a:ext cx="204788" cy="0"/>
          </a:xfrm>
          <a:prstGeom prst="line">
            <a:avLst/>
          </a:prstGeom>
          <a:noFill/>
          <a:ln w="20638" cap="flat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177" name="Line 174">
            <a:extLst>
              <a:ext uri="{FF2B5EF4-FFF2-40B4-BE49-F238E27FC236}">
                <a16:creationId xmlns:a16="http://schemas.microsoft.com/office/drawing/2014/main" id="{CB1A5F5A-588C-4812-9C2C-7630909E9CBE}"/>
              </a:ext>
            </a:extLst>
          </p:cNvPr>
          <p:cNvSpPr>
            <a:spLocks noChangeShapeType="1"/>
          </p:cNvSpPr>
          <p:nvPr/>
        </p:nvSpPr>
        <p:spPr bwMode="auto">
          <a:xfrm>
            <a:off x="5137150" y="4575175"/>
            <a:ext cx="0" cy="252413"/>
          </a:xfrm>
          <a:prstGeom prst="line">
            <a:avLst/>
          </a:prstGeom>
          <a:noFill/>
          <a:ln w="23813" cap="flat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178" name="Line 175">
            <a:extLst>
              <a:ext uri="{FF2B5EF4-FFF2-40B4-BE49-F238E27FC236}">
                <a16:creationId xmlns:a16="http://schemas.microsoft.com/office/drawing/2014/main" id="{3D840577-17E0-4DCA-8A6B-41E826CB71B3}"/>
              </a:ext>
            </a:extLst>
          </p:cNvPr>
          <p:cNvSpPr>
            <a:spLocks noChangeShapeType="1"/>
          </p:cNvSpPr>
          <p:nvPr/>
        </p:nvSpPr>
        <p:spPr bwMode="auto">
          <a:xfrm>
            <a:off x="5137150" y="4827588"/>
            <a:ext cx="439738" cy="0"/>
          </a:xfrm>
          <a:prstGeom prst="line">
            <a:avLst/>
          </a:prstGeom>
          <a:noFill/>
          <a:ln w="23813" cap="flat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179" name="Line 176">
            <a:extLst>
              <a:ext uri="{FF2B5EF4-FFF2-40B4-BE49-F238E27FC236}">
                <a16:creationId xmlns:a16="http://schemas.microsoft.com/office/drawing/2014/main" id="{31D0724A-0926-4102-885D-4F46F42118A6}"/>
              </a:ext>
            </a:extLst>
          </p:cNvPr>
          <p:cNvSpPr>
            <a:spLocks noChangeShapeType="1"/>
          </p:cNvSpPr>
          <p:nvPr/>
        </p:nvSpPr>
        <p:spPr bwMode="auto">
          <a:xfrm>
            <a:off x="5576888" y="4449763"/>
            <a:ext cx="0" cy="377825"/>
          </a:xfrm>
          <a:prstGeom prst="line">
            <a:avLst/>
          </a:prstGeom>
          <a:noFill/>
          <a:ln w="23813" cap="flat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180" name="Line 177">
            <a:extLst>
              <a:ext uri="{FF2B5EF4-FFF2-40B4-BE49-F238E27FC236}">
                <a16:creationId xmlns:a16="http://schemas.microsoft.com/office/drawing/2014/main" id="{00BC1C15-8BE0-4043-86D1-33B467236503}"/>
              </a:ext>
            </a:extLst>
          </p:cNvPr>
          <p:cNvSpPr>
            <a:spLocks noChangeShapeType="1"/>
          </p:cNvSpPr>
          <p:nvPr/>
        </p:nvSpPr>
        <p:spPr bwMode="auto">
          <a:xfrm>
            <a:off x="5678488" y="4449763"/>
            <a:ext cx="0" cy="314325"/>
          </a:xfrm>
          <a:prstGeom prst="line">
            <a:avLst/>
          </a:prstGeom>
          <a:noFill/>
          <a:ln w="23813" cap="flat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181" name="Line 178">
            <a:extLst>
              <a:ext uri="{FF2B5EF4-FFF2-40B4-BE49-F238E27FC236}">
                <a16:creationId xmlns:a16="http://schemas.microsoft.com/office/drawing/2014/main" id="{00C06BDF-7B89-46F7-811D-B5A094CE5782}"/>
              </a:ext>
            </a:extLst>
          </p:cNvPr>
          <p:cNvSpPr>
            <a:spLocks noChangeShapeType="1"/>
          </p:cNvSpPr>
          <p:nvPr/>
        </p:nvSpPr>
        <p:spPr bwMode="auto">
          <a:xfrm>
            <a:off x="5678488" y="4764088"/>
            <a:ext cx="566738" cy="0"/>
          </a:xfrm>
          <a:prstGeom prst="line">
            <a:avLst/>
          </a:prstGeom>
          <a:noFill/>
          <a:ln w="23813" cap="flat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182" name="Line 179">
            <a:extLst>
              <a:ext uri="{FF2B5EF4-FFF2-40B4-BE49-F238E27FC236}">
                <a16:creationId xmlns:a16="http://schemas.microsoft.com/office/drawing/2014/main" id="{0E939C5B-3528-4915-A425-DD916569FB97}"/>
              </a:ext>
            </a:extLst>
          </p:cNvPr>
          <p:cNvSpPr>
            <a:spLocks noChangeShapeType="1"/>
          </p:cNvSpPr>
          <p:nvPr/>
        </p:nvSpPr>
        <p:spPr bwMode="auto">
          <a:xfrm>
            <a:off x="6245225" y="4449763"/>
            <a:ext cx="0" cy="314325"/>
          </a:xfrm>
          <a:prstGeom prst="line">
            <a:avLst/>
          </a:prstGeom>
          <a:noFill/>
          <a:ln w="23813" cap="flat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183" name="Rectangle 180">
            <a:extLst>
              <a:ext uri="{FF2B5EF4-FFF2-40B4-BE49-F238E27FC236}">
                <a16:creationId xmlns:a16="http://schemas.microsoft.com/office/drawing/2014/main" id="{08986C88-F980-4C16-B14C-F026050123D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327150" y="5824538"/>
            <a:ext cx="723900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zh-CN" altLang="zh-CN" sz="2000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rPr>
              <a:t>xor r4,</a:t>
            </a:r>
            <a:endParaRPr kumimoji="0" lang="zh-CN" altLang="zh-CN" sz="180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  <a:ea typeface="SimHei" panose="02010609060101010101" pitchFamily="49" charset="-122"/>
            </a:endParaRPr>
          </a:p>
        </p:txBody>
      </p:sp>
      <p:sp>
        <p:nvSpPr>
          <p:cNvPr id="184" name="Rectangle 181">
            <a:extLst>
              <a:ext uri="{FF2B5EF4-FFF2-40B4-BE49-F238E27FC236}">
                <a16:creationId xmlns:a16="http://schemas.microsoft.com/office/drawing/2014/main" id="{E844001B-0786-4B46-AA52-9CEAC3403852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41525" y="5824538"/>
            <a:ext cx="227013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zh-CN" altLang="zh-CN" sz="2000" u="none" strike="noStrike" cap="none" normalizeH="0" baseline="0" dirty="0">
                <a:ln>
                  <a:noFill/>
                </a:ln>
                <a:solidFill>
                  <a:srgbClr val="009900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rPr>
              <a:t>r1</a:t>
            </a:r>
            <a:endParaRPr kumimoji="0" lang="zh-CN" altLang="zh-CN" sz="180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  <a:ea typeface="SimHei" panose="02010609060101010101" pitchFamily="49" charset="-122"/>
            </a:endParaRPr>
          </a:p>
        </p:txBody>
      </p:sp>
      <p:sp>
        <p:nvSpPr>
          <p:cNvPr id="185" name="Rectangle 182">
            <a:extLst>
              <a:ext uri="{FF2B5EF4-FFF2-40B4-BE49-F238E27FC236}">
                <a16:creationId xmlns:a16="http://schemas.microsoft.com/office/drawing/2014/main" id="{03BE4C25-BC49-48DC-AA17-BD65711855CB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70125" y="5824538"/>
            <a:ext cx="298450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zh-CN" altLang="zh-CN" sz="2000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rPr>
              <a:t>,r5</a:t>
            </a:r>
            <a:endParaRPr kumimoji="0" lang="zh-CN" altLang="zh-CN" sz="180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  <a:ea typeface="SimHei" panose="02010609060101010101" pitchFamily="49" charset="-122"/>
            </a:endParaRPr>
          </a:p>
        </p:txBody>
      </p:sp>
      <p:sp>
        <p:nvSpPr>
          <p:cNvPr id="186" name="Rectangle 183">
            <a:extLst>
              <a:ext uri="{FF2B5EF4-FFF2-40B4-BE49-F238E27FC236}">
                <a16:creationId xmlns:a16="http://schemas.microsoft.com/office/drawing/2014/main" id="{7F36D430-1439-4EB2-A5DD-5A883B9A03B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327150" y="5105400"/>
            <a:ext cx="736600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zh-CN" altLang="zh-CN" sz="2000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rPr>
              <a:t>or  r8, </a:t>
            </a:r>
            <a:endParaRPr kumimoji="0" lang="zh-CN" altLang="zh-CN" sz="180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  <a:ea typeface="SimHei" panose="02010609060101010101" pitchFamily="49" charset="-122"/>
            </a:endParaRPr>
          </a:p>
        </p:txBody>
      </p:sp>
      <p:sp>
        <p:nvSpPr>
          <p:cNvPr id="187" name="Rectangle 184">
            <a:extLst>
              <a:ext uri="{FF2B5EF4-FFF2-40B4-BE49-F238E27FC236}">
                <a16:creationId xmlns:a16="http://schemas.microsoft.com/office/drawing/2014/main" id="{4CD79024-F47C-4C7E-838B-35F76512962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49463" y="5105400"/>
            <a:ext cx="227013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zh-CN" altLang="zh-CN" sz="2000" u="none" strike="noStrike" cap="none" normalizeH="0" baseline="0" dirty="0">
                <a:ln>
                  <a:noFill/>
                </a:ln>
                <a:solidFill>
                  <a:srgbClr val="009900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rPr>
              <a:t>r1</a:t>
            </a:r>
            <a:endParaRPr kumimoji="0" lang="zh-CN" altLang="zh-CN" sz="180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  <a:ea typeface="SimHei" panose="02010609060101010101" pitchFamily="49" charset="-122"/>
            </a:endParaRPr>
          </a:p>
        </p:txBody>
      </p:sp>
      <p:sp>
        <p:nvSpPr>
          <p:cNvPr id="188" name="Rectangle 185">
            <a:extLst>
              <a:ext uri="{FF2B5EF4-FFF2-40B4-BE49-F238E27FC236}">
                <a16:creationId xmlns:a16="http://schemas.microsoft.com/office/drawing/2014/main" id="{885ACF78-CA39-432E-B36B-2938D1BF55B3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78063" y="5105400"/>
            <a:ext cx="368300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zh-CN" altLang="zh-CN" sz="2000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rPr>
              <a:t>, r9</a:t>
            </a:r>
            <a:endParaRPr kumimoji="0" lang="zh-CN" altLang="zh-CN" sz="180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  <a:ea typeface="SimHei" panose="02010609060101010101" pitchFamily="49" charset="-122"/>
            </a:endParaRPr>
          </a:p>
        </p:txBody>
      </p:sp>
    </p:spTree>
    <p:extLst>
      <p:ext uri="{BB962C8B-B14F-4D97-AF65-F5344CB8AC3E}">
        <p14:creationId xmlns:p14="http://schemas.microsoft.com/office/powerpoint/2010/main" val="2626578105"/>
      </p:ext>
    </p:extLst>
  </p:cSld>
  <p:clrMapOvr>
    <a:masterClrMapping/>
  </p:clrMapOvr>
</p:sld>
</file>

<file path=ppt/slides/slide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>
            <a:extLst>
              <a:ext uri="{FF2B5EF4-FFF2-40B4-BE49-F238E27FC236}">
                <a16:creationId xmlns:a16="http://schemas.microsoft.com/office/drawing/2014/main" id="{9EABC2DB-EBA9-4F74-8FCE-2B35F2B2AE1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dirty="0"/>
              <a:t>回顾：数据冒险</a:t>
            </a:r>
            <a:r>
              <a:rPr lang="en-US" altLang="zh-CN" dirty="0"/>
              <a:t>B</a:t>
            </a:r>
            <a:endParaRPr lang="zh-CN" altLang="en-US" dirty="0"/>
          </a:p>
        </p:txBody>
      </p:sp>
      <p:sp>
        <p:nvSpPr>
          <p:cNvPr id="3" name="内容占位符 2">
            <a:extLst>
              <a:ext uri="{FF2B5EF4-FFF2-40B4-BE49-F238E27FC236}">
                <a16:creationId xmlns:a16="http://schemas.microsoft.com/office/drawing/2014/main" id="{B8D1F9A8-EE36-4E89-B851-C09FA99675C8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r>
              <a:rPr lang="en-US" altLang="zh-CN" dirty="0"/>
              <a:t>Use before load</a:t>
            </a:r>
            <a:endParaRPr lang="zh-CN" altLang="en-US" dirty="0"/>
          </a:p>
        </p:txBody>
      </p:sp>
      <p:sp>
        <p:nvSpPr>
          <p:cNvPr id="4" name="灯片编号占位符 3">
            <a:extLst>
              <a:ext uri="{FF2B5EF4-FFF2-40B4-BE49-F238E27FC236}">
                <a16:creationId xmlns:a16="http://schemas.microsoft.com/office/drawing/2014/main" id="{AA741F26-06FA-4934-B037-E3ACF30C5CF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1806CE5-282B-4233-8654-09F35EA875E2}" type="slidenum">
              <a:rPr lang="zh-CN" altLang="en-US" smtClean="0"/>
              <a:t>61</a:t>
            </a:fld>
            <a:endParaRPr lang="zh-CN" altLang="en-US"/>
          </a:p>
        </p:txBody>
      </p:sp>
      <p:pic>
        <p:nvPicPr>
          <p:cNvPr id="6" name="图片 4">
            <a:extLst>
              <a:ext uri="{FF2B5EF4-FFF2-40B4-BE49-F238E27FC236}">
                <a16:creationId xmlns:a16="http://schemas.microsoft.com/office/drawing/2014/main" id="{030F4AAF-2890-CA49-88A7-0A6F1B6B587E}"/>
              </a:ext>
            </a:extLst>
          </p:cNvPr>
          <p:cNvPicPr/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72444" y="1927102"/>
            <a:ext cx="7206375" cy="3967418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3899034414"/>
      </p:ext>
    </p:extLst>
  </p:cSld>
  <p:clrMapOvr>
    <a:masterClrMapping/>
  </p:clrMapOvr>
</p:sld>
</file>

<file path=ppt/slides/slide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>
            <a:extLst>
              <a:ext uri="{FF2B5EF4-FFF2-40B4-BE49-F238E27FC236}">
                <a16:creationId xmlns:a16="http://schemas.microsoft.com/office/drawing/2014/main" id="{96E45606-5E5F-4C45-8137-3FDB4D48F968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dirty="0"/>
              <a:t>回顾：控制冒险</a:t>
            </a:r>
          </a:p>
        </p:txBody>
      </p:sp>
      <p:sp>
        <p:nvSpPr>
          <p:cNvPr id="3" name="内容占位符 2">
            <a:extLst>
              <a:ext uri="{FF2B5EF4-FFF2-40B4-BE49-F238E27FC236}">
                <a16:creationId xmlns:a16="http://schemas.microsoft.com/office/drawing/2014/main" id="{CF04A1FD-1385-438D-9DFF-4C7931475900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r>
              <a:rPr lang="zh-CN" altLang="en-US" dirty="0"/>
              <a:t>分支指令导致的冒险</a:t>
            </a:r>
          </a:p>
        </p:txBody>
      </p:sp>
      <p:sp>
        <p:nvSpPr>
          <p:cNvPr id="4" name="灯片编号占位符 3">
            <a:extLst>
              <a:ext uri="{FF2B5EF4-FFF2-40B4-BE49-F238E27FC236}">
                <a16:creationId xmlns:a16="http://schemas.microsoft.com/office/drawing/2014/main" id="{A0934F52-1B5B-4CFE-98EB-A83643546BA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1806CE5-282B-4233-8654-09F35EA875E2}" type="slidenum">
              <a:rPr lang="zh-CN" altLang="en-US" smtClean="0"/>
              <a:t>62</a:t>
            </a:fld>
            <a:endParaRPr lang="zh-CN" altLang="en-US"/>
          </a:p>
        </p:txBody>
      </p:sp>
      <p:sp>
        <p:nvSpPr>
          <p:cNvPr id="5" name="Rectangle 155">
            <a:extLst>
              <a:ext uri="{FF2B5EF4-FFF2-40B4-BE49-F238E27FC236}">
                <a16:creationId xmlns:a16="http://schemas.microsoft.com/office/drawing/2014/main" id="{BC66CE40-F9E3-4EAC-B95F-6655B92F0E20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8200" y="5765800"/>
            <a:ext cx="2438400" cy="1066800"/>
          </a:xfrm>
          <a:prstGeom prst="rect">
            <a:avLst/>
          </a:prstGeom>
          <a:solidFill>
            <a:schemeClr val="bg1"/>
          </a:solidFill>
          <a:ln w="12700">
            <a:solidFill>
              <a:schemeClr val="bg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grpSp>
        <p:nvGrpSpPr>
          <p:cNvPr id="6" name="Group 2">
            <a:extLst>
              <a:ext uri="{FF2B5EF4-FFF2-40B4-BE49-F238E27FC236}">
                <a16:creationId xmlns:a16="http://schemas.microsoft.com/office/drawing/2014/main" id="{D8B0EB6A-43F3-4E10-A05A-06AA02EF3B8D}"/>
              </a:ext>
            </a:extLst>
          </p:cNvPr>
          <p:cNvGrpSpPr>
            <a:grpSpLocks/>
          </p:cNvGrpSpPr>
          <p:nvPr/>
        </p:nvGrpSpPr>
        <p:grpSpPr bwMode="auto">
          <a:xfrm>
            <a:off x="3505201" y="2336802"/>
            <a:ext cx="1563688" cy="1290638"/>
            <a:chOff x="2160" y="1683"/>
            <a:chExt cx="985" cy="813"/>
          </a:xfrm>
        </p:grpSpPr>
        <p:sp>
          <p:nvSpPr>
            <p:cNvPr id="7" name="Rectangle 3">
              <a:extLst>
                <a:ext uri="{FF2B5EF4-FFF2-40B4-BE49-F238E27FC236}">
                  <a16:creationId xmlns:a16="http://schemas.microsoft.com/office/drawing/2014/main" id="{8851B77A-C2B8-460C-8C74-7E231DAF85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60" y="2208"/>
              <a:ext cx="336" cy="288"/>
            </a:xfrm>
            <a:prstGeom prst="rect">
              <a:avLst/>
            </a:prstGeom>
            <a:solidFill>
              <a:schemeClr val="accent1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8" name="Rectangle 4">
              <a:extLst>
                <a:ext uri="{FF2B5EF4-FFF2-40B4-BE49-F238E27FC236}">
                  <a16:creationId xmlns:a16="http://schemas.microsoft.com/office/drawing/2014/main" id="{B5157CEC-39EB-46A6-B1C6-9C76E274DF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49" y="1683"/>
              <a:ext cx="96" cy="288"/>
            </a:xfrm>
            <a:prstGeom prst="rect">
              <a:avLst/>
            </a:prstGeom>
            <a:solidFill>
              <a:schemeClr val="accent1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9" name="Line 5">
              <a:extLst>
                <a:ext uri="{FF2B5EF4-FFF2-40B4-BE49-F238E27FC236}">
                  <a16:creationId xmlns:a16="http://schemas.microsoft.com/office/drawing/2014/main" id="{4D1E7687-2432-4E44-AA8A-539080FD7F8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160" y="1968"/>
              <a:ext cx="864" cy="240"/>
            </a:xfrm>
            <a:prstGeom prst="line">
              <a:avLst/>
            </a:prstGeom>
            <a:noFill/>
            <a:ln w="28575">
              <a:solidFill>
                <a:schemeClr val="accent1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</p:grpSp>
      <p:sp>
        <p:nvSpPr>
          <p:cNvPr id="10" name="Rectangle 7">
            <a:extLst>
              <a:ext uri="{FF2B5EF4-FFF2-40B4-BE49-F238E27FC236}">
                <a16:creationId xmlns:a16="http://schemas.microsoft.com/office/drawing/2014/main" id="{6FE5A1AD-ADB2-4267-BD63-A92DC588C726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3225" y="2409825"/>
            <a:ext cx="358775" cy="31099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73" tIns="44442" rIns="90473" bIns="44442">
            <a:spAutoFit/>
          </a:bodyPr>
          <a:lstStyle/>
          <a:p>
            <a:pPr algn="ctr" eaLnBrk="0" hangingPunct="0"/>
            <a:r>
              <a:rPr lang="en-US" altLang="zh-CN" i="1" dirty="0">
                <a:latin typeface="Arial" pitchFamily="34" charset="0"/>
                <a:ea typeface="SimHei" panose="02010609060101010101" pitchFamily="49" charset="-122"/>
              </a:rPr>
              <a:t>I</a:t>
            </a:r>
          </a:p>
          <a:p>
            <a:pPr algn="ctr" eaLnBrk="0" hangingPunct="0"/>
            <a:r>
              <a:rPr lang="en-US" altLang="zh-CN" i="1" dirty="0">
                <a:latin typeface="Arial" pitchFamily="34" charset="0"/>
                <a:ea typeface="SimHei" panose="02010609060101010101" pitchFamily="49" charset="-122"/>
              </a:rPr>
              <a:t>n</a:t>
            </a:r>
          </a:p>
          <a:p>
            <a:pPr algn="ctr" eaLnBrk="0" hangingPunct="0"/>
            <a:r>
              <a:rPr lang="en-US" altLang="zh-CN" i="1" dirty="0">
                <a:latin typeface="Arial" pitchFamily="34" charset="0"/>
                <a:ea typeface="SimHei" panose="02010609060101010101" pitchFamily="49" charset="-122"/>
              </a:rPr>
              <a:t>s</a:t>
            </a:r>
          </a:p>
          <a:p>
            <a:pPr algn="ctr" eaLnBrk="0" hangingPunct="0"/>
            <a:r>
              <a:rPr lang="en-US" altLang="zh-CN" i="1" dirty="0">
                <a:latin typeface="Arial" pitchFamily="34" charset="0"/>
                <a:ea typeface="SimHei" panose="02010609060101010101" pitchFamily="49" charset="-122"/>
              </a:rPr>
              <a:t>t</a:t>
            </a:r>
          </a:p>
          <a:p>
            <a:pPr algn="ctr" eaLnBrk="0" hangingPunct="0"/>
            <a:r>
              <a:rPr lang="en-US" altLang="zh-CN" i="1" dirty="0">
                <a:latin typeface="Arial" pitchFamily="34" charset="0"/>
                <a:ea typeface="SimHei" panose="02010609060101010101" pitchFamily="49" charset="-122"/>
              </a:rPr>
              <a:t>r.</a:t>
            </a:r>
          </a:p>
          <a:p>
            <a:pPr algn="ctr" eaLnBrk="0" hangingPunct="0"/>
            <a:endParaRPr lang="en-US" altLang="zh-CN" i="1" dirty="0">
              <a:latin typeface="Arial" pitchFamily="34" charset="0"/>
              <a:ea typeface="SimHei" panose="02010609060101010101" pitchFamily="49" charset="-122"/>
            </a:endParaRPr>
          </a:p>
          <a:p>
            <a:pPr algn="ctr" eaLnBrk="0" hangingPunct="0"/>
            <a:r>
              <a:rPr lang="en-US" altLang="zh-CN" i="1" dirty="0">
                <a:latin typeface="Arial" pitchFamily="34" charset="0"/>
                <a:ea typeface="SimHei" panose="02010609060101010101" pitchFamily="49" charset="-122"/>
              </a:rPr>
              <a:t>O</a:t>
            </a:r>
          </a:p>
          <a:p>
            <a:pPr algn="ctr" eaLnBrk="0" hangingPunct="0"/>
            <a:r>
              <a:rPr lang="en-US" altLang="zh-CN" i="1" dirty="0">
                <a:latin typeface="Arial" pitchFamily="34" charset="0"/>
                <a:ea typeface="SimHei" panose="02010609060101010101" pitchFamily="49" charset="-122"/>
              </a:rPr>
              <a:t>r</a:t>
            </a:r>
          </a:p>
          <a:p>
            <a:pPr algn="ctr" eaLnBrk="0" hangingPunct="0"/>
            <a:r>
              <a:rPr lang="en-US" altLang="zh-CN" i="1" dirty="0">
                <a:latin typeface="Arial" pitchFamily="34" charset="0"/>
                <a:ea typeface="SimHei" panose="02010609060101010101" pitchFamily="49" charset="-122"/>
              </a:rPr>
              <a:t>d</a:t>
            </a:r>
          </a:p>
          <a:p>
            <a:pPr algn="ctr" eaLnBrk="0" hangingPunct="0"/>
            <a:r>
              <a:rPr lang="en-US" altLang="zh-CN" i="1" dirty="0">
                <a:latin typeface="Arial" pitchFamily="34" charset="0"/>
                <a:ea typeface="SimHei" panose="02010609060101010101" pitchFamily="49" charset="-122"/>
              </a:rPr>
              <a:t>e</a:t>
            </a:r>
          </a:p>
          <a:p>
            <a:pPr algn="ctr" eaLnBrk="0" hangingPunct="0"/>
            <a:r>
              <a:rPr lang="en-US" altLang="zh-CN" i="1" dirty="0">
                <a:latin typeface="Arial" pitchFamily="34" charset="0"/>
                <a:ea typeface="SimHei" panose="02010609060101010101" pitchFamily="49" charset="-122"/>
              </a:rPr>
              <a:t>r</a:t>
            </a:r>
          </a:p>
        </p:txBody>
      </p:sp>
      <p:sp>
        <p:nvSpPr>
          <p:cNvPr id="11" name="Line 8">
            <a:extLst>
              <a:ext uri="{FF2B5EF4-FFF2-40B4-BE49-F238E27FC236}">
                <a16:creationId xmlns:a16="http://schemas.microsoft.com/office/drawing/2014/main" id="{10A0011D-5EC2-4ACB-8D39-9197FE9C393A}"/>
              </a:ext>
            </a:extLst>
          </p:cNvPr>
          <p:cNvSpPr>
            <a:spLocks noChangeShapeType="1"/>
          </p:cNvSpPr>
          <p:nvPr/>
        </p:nvSpPr>
        <p:spPr bwMode="auto">
          <a:xfrm>
            <a:off x="1524000" y="1803400"/>
            <a:ext cx="6311900" cy="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12" name="Rectangle 9">
            <a:extLst>
              <a:ext uri="{FF2B5EF4-FFF2-40B4-BE49-F238E27FC236}">
                <a16:creationId xmlns:a16="http://schemas.microsoft.com/office/drawing/2014/main" id="{884DE36B-B8F9-4DF8-8945-7C589128C6BA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8200" y="3136900"/>
            <a:ext cx="474460" cy="45908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73" tIns="44442" rIns="90473" bIns="44442">
            <a:spAutoFit/>
          </a:bodyPr>
          <a:lstStyle/>
          <a:p>
            <a:pPr eaLnBrk="0" hangingPunct="0"/>
            <a:r>
              <a:rPr lang="en-US" altLang="zh-CN" sz="2400" dirty="0" err="1">
                <a:latin typeface="Arial" pitchFamily="34" charset="0"/>
                <a:ea typeface="SimHei" panose="02010609060101010101" pitchFamily="49" charset="-122"/>
              </a:rPr>
              <a:t>lw</a:t>
            </a:r>
            <a:endParaRPr lang="en-US" altLang="zh-CN" sz="2400" dirty="0">
              <a:latin typeface="Arial" pitchFamily="34" charset="0"/>
              <a:ea typeface="SimHei" panose="02010609060101010101" pitchFamily="49" charset="-122"/>
            </a:endParaRPr>
          </a:p>
        </p:txBody>
      </p:sp>
      <p:sp>
        <p:nvSpPr>
          <p:cNvPr id="13" name="Rectangle 10">
            <a:extLst>
              <a:ext uri="{FF2B5EF4-FFF2-40B4-BE49-F238E27FC236}">
                <a16:creationId xmlns:a16="http://schemas.microsoft.com/office/drawing/2014/main" id="{DC5DD47D-35E6-4F68-B4D4-686F0FAE447B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8200" y="4846638"/>
            <a:ext cx="934522" cy="45908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73" tIns="44442" rIns="90473" bIns="44442">
            <a:spAutoFit/>
          </a:bodyPr>
          <a:lstStyle/>
          <a:p>
            <a:pPr eaLnBrk="0" hangingPunct="0"/>
            <a:r>
              <a:rPr lang="en-US" altLang="zh-CN" sz="2400" dirty="0">
                <a:latin typeface="Arial" pitchFamily="34" charset="0"/>
                <a:ea typeface="SimHei" panose="02010609060101010101" pitchFamily="49" charset="-122"/>
              </a:rPr>
              <a:t>Inst 4</a:t>
            </a:r>
          </a:p>
        </p:txBody>
      </p:sp>
      <p:sp>
        <p:nvSpPr>
          <p:cNvPr id="14" name="Line 11">
            <a:extLst>
              <a:ext uri="{FF2B5EF4-FFF2-40B4-BE49-F238E27FC236}">
                <a16:creationId xmlns:a16="http://schemas.microsoft.com/office/drawing/2014/main" id="{B35A9C45-5905-4D4F-B60F-EFC3E501D22C}"/>
              </a:ext>
            </a:extLst>
          </p:cNvPr>
          <p:cNvSpPr>
            <a:spLocks noChangeShapeType="1"/>
          </p:cNvSpPr>
          <p:nvPr/>
        </p:nvSpPr>
        <p:spPr bwMode="auto">
          <a:xfrm>
            <a:off x="2705100" y="1930400"/>
            <a:ext cx="0" cy="4470400"/>
          </a:xfrm>
          <a:prstGeom prst="line">
            <a:avLst/>
          </a:prstGeom>
          <a:noFill/>
          <a:ln w="25400">
            <a:solidFill>
              <a:schemeClr val="tx1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15" name="Line 12">
            <a:extLst>
              <a:ext uri="{FF2B5EF4-FFF2-40B4-BE49-F238E27FC236}">
                <a16:creationId xmlns:a16="http://schemas.microsoft.com/office/drawing/2014/main" id="{9D50EF4C-7292-4CD5-BAE1-732DB7F0CBC4}"/>
              </a:ext>
            </a:extLst>
          </p:cNvPr>
          <p:cNvSpPr>
            <a:spLocks noChangeShapeType="1"/>
          </p:cNvSpPr>
          <p:nvPr/>
        </p:nvSpPr>
        <p:spPr bwMode="auto">
          <a:xfrm>
            <a:off x="3390900" y="1930400"/>
            <a:ext cx="0" cy="4470400"/>
          </a:xfrm>
          <a:prstGeom prst="line">
            <a:avLst/>
          </a:prstGeom>
          <a:noFill/>
          <a:ln w="25400">
            <a:solidFill>
              <a:schemeClr val="tx1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16" name="Line 13">
            <a:extLst>
              <a:ext uri="{FF2B5EF4-FFF2-40B4-BE49-F238E27FC236}">
                <a16:creationId xmlns:a16="http://schemas.microsoft.com/office/drawing/2014/main" id="{F21FFD6C-86B6-4E0D-A75F-B45742786A80}"/>
              </a:ext>
            </a:extLst>
          </p:cNvPr>
          <p:cNvSpPr>
            <a:spLocks noChangeShapeType="1"/>
          </p:cNvSpPr>
          <p:nvPr/>
        </p:nvSpPr>
        <p:spPr bwMode="auto">
          <a:xfrm>
            <a:off x="4076700" y="1930400"/>
            <a:ext cx="0" cy="4470400"/>
          </a:xfrm>
          <a:prstGeom prst="line">
            <a:avLst/>
          </a:prstGeom>
          <a:noFill/>
          <a:ln w="25400">
            <a:solidFill>
              <a:schemeClr val="tx1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17" name="Line 14">
            <a:extLst>
              <a:ext uri="{FF2B5EF4-FFF2-40B4-BE49-F238E27FC236}">
                <a16:creationId xmlns:a16="http://schemas.microsoft.com/office/drawing/2014/main" id="{AB4372D8-D0BE-496E-B8DC-CA0021CCC8FF}"/>
              </a:ext>
            </a:extLst>
          </p:cNvPr>
          <p:cNvSpPr>
            <a:spLocks noChangeShapeType="1"/>
          </p:cNvSpPr>
          <p:nvPr/>
        </p:nvSpPr>
        <p:spPr bwMode="auto">
          <a:xfrm>
            <a:off x="4762500" y="1930400"/>
            <a:ext cx="0" cy="4470400"/>
          </a:xfrm>
          <a:prstGeom prst="line">
            <a:avLst/>
          </a:prstGeom>
          <a:noFill/>
          <a:ln w="25400">
            <a:solidFill>
              <a:schemeClr val="tx1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18" name="Line 15">
            <a:extLst>
              <a:ext uri="{FF2B5EF4-FFF2-40B4-BE49-F238E27FC236}">
                <a16:creationId xmlns:a16="http://schemas.microsoft.com/office/drawing/2014/main" id="{AC3AF36F-DB2B-42FA-9D2B-AEE68667A962}"/>
              </a:ext>
            </a:extLst>
          </p:cNvPr>
          <p:cNvSpPr>
            <a:spLocks noChangeShapeType="1"/>
          </p:cNvSpPr>
          <p:nvPr/>
        </p:nvSpPr>
        <p:spPr bwMode="auto">
          <a:xfrm>
            <a:off x="5448300" y="1930400"/>
            <a:ext cx="0" cy="4470400"/>
          </a:xfrm>
          <a:prstGeom prst="line">
            <a:avLst/>
          </a:prstGeom>
          <a:noFill/>
          <a:ln w="25400">
            <a:solidFill>
              <a:schemeClr val="tx1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19" name="Line 16">
            <a:extLst>
              <a:ext uri="{FF2B5EF4-FFF2-40B4-BE49-F238E27FC236}">
                <a16:creationId xmlns:a16="http://schemas.microsoft.com/office/drawing/2014/main" id="{5E4A95C8-CA6A-471F-AE96-417B30417C4E}"/>
              </a:ext>
            </a:extLst>
          </p:cNvPr>
          <p:cNvSpPr>
            <a:spLocks noChangeShapeType="1"/>
          </p:cNvSpPr>
          <p:nvPr/>
        </p:nvSpPr>
        <p:spPr bwMode="auto">
          <a:xfrm>
            <a:off x="6134100" y="1930400"/>
            <a:ext cx="0" cy="4470400"/>
          </a:xfrm>
          <a:prstGeom prst="line">
            <a:avLst/>
          </a:prstGeom>
          <a:noFill/>
          <a:ln w="25400">
            <a:solidFill>
              <a:schemeClr val="tx1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20" name="Line 17">
            <a:extLst>
              <a:ext uri="{FF2B5EF4-FFF2-40B4-BE49-F238E27FC236}">
                <a16:creationId xmlns:a16="http://schemas.microsoft.com/office/drawing/2014/main" id="{51E4ADB5-4694-4C48-8682-9889B54AF400}"/>
              </a:ext>
            </a:extLst>
          </p:cNvPr>
          <p:cNvSpPr>
            <a:spLocks noChangeShapeType="1"/>
          </p:cNvSpPr>
          <p:nvPr/>
        </p:nvSpPr>
        <p:spPr bwMode="auto">
          <a:xfrm>
            <a:off x="6819900" y="1930400"/>
            <a:ext cx="0" cy="4470400"/>
          </a:xfrm>
          <a:prstGeom prst="line">
            <a:avLst/>
          </a:prstGeom>
          <a:noFill/>
          <a:ln w="25400">
            <a:solidFill>
              <a:schemeClr val="tx1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21" name="Line 18">
            <a:extLst>
              <a:ext uri="{FF2B5EF4-FFF2-40B4-BE49-F238E27FC236}">
                <a16:creationId xmlns:a16="http://schemas.microsoft.com/office/drawing/2014/main" id="{97249718-B0AC-4607-97E5-24F107D9E2FC}"/>
              </a:ext>
            </a:extLst>
          </p:cNvPr>
          <p:cNvSpPr>
            <a:spLocks noChangeShapeType="1"/>
          </p:cNvSpPr>
          <p:nvPr/>
        </p:nvSpPr>
        <p:spPr bwMode="auto">
          <a:xfrm>
            <a:off x="7505700" y="1930400"/>
            <a:ext cx="0" cy="4470400"/>
          </a:xfrm>
          <a:prstGeom prst="line">
            <a:avLst/>
          </a:prstGeom>
          <a:noFill/>
          <a:ln w="25400">
            <a:solidFill>
              <a:schemeClr val="tx1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22" name="Rectangle 19">
            <a:extLst>
              <a:ext uri="{FF2B5EF4-FFF2-40B4-BE49-F238E27FC236}">
                <a16:creationId xmlns:a16="http://schemas.microsoft.com/office/drawing/2014/main" id="{83D31BAC-D2CC-450E-8050-C4A875B334B0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8200" y="3975100"/>
            <a:ext cx="934522" cy="45908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73" tIns="44442" rIns="90473" bIns="44442">
            <a:spAutoFit/>
          </a:bodyPr>
          <a:lstStyle/>
          <a:p>
            <a:pPr eaLnBrk="0" hangingPunct="0"/>
            <a:r>
              <a:rPr lang="en-US" altLang="zh-CN" sz="2400" dirty="0">
                <a:latin typeface="Arial" pitchFamily="34" charset="0"/>
                <a:ea typeface="SimHei" panose="02010609060101010101" pitchFamily="49" charset="-122"/>
              </a:rPr>
              <a:t>Inst 3</a:t>
            </a:r>
          </a:p>
        </p:txBody>
      </p:sp>
      <p:sp>
        <p:nvSpPr>
          <p:cNvPr id="23" name="Line 20">
            <a:extLst>
              <a:ext uri="{FF2B5EF4-FFF2-40B4-BE49-F238E27FC236}">
                <a16:creationId xmlns:a16="http://schemas.microsoft.com/office/drawing/2014/main" id="{69749A98-9630-4FC9-9F25-72124C19B02B}"/>
              </a:ext>
            </a:extLst>
          </p:cNvPr>
          <p:cNvSpPr>
            <a:spLocks noChangeShapeType="1"/>
          </p:cNvSpPr>
          <p:nvPr/>
        </p:nvSpPr>
        <p:spPr bwMode="auto">
          <a:xfrm>
            <a:off x="762000" y="2332038"/>
            <a:ext cx="0" cy="3886200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grpSp>
        <p:nvGrpSpPr>
          <p:cNvPr id="24" name="Group 21">
            <a:extLst>
              <a:ext uri="{FF2B5EF4-FFF2-40B4-BE49-F238E27FC236}">
                <a16:creationId xmlns:a16="http://schemas.microsoft.com/office/drawing/2014/main" id="{4A711906-80C1-43A0-84A5-128176A5D5D5}"/>
              </a:ext>
            </a:extLst>
          </p:cNvPr>
          <p:cNvGrpSpPr>
            <a:grpSpLocks/>
          </p:cNvGrpSpPr>
          <p:nvPr/>
        </p:nvGrpSpPr>
        <p:grpSpPr bwMode="auto">
          <a:xfrm>
            <a:off x="838200" y="2179638"/>
            <a:ext cx="5337175" cy="838200"/>
            <a:chOff x="480" y="1584"/>
            <a:chExt cx="3362" cy="528"/>
          </a:xfrm>
        </p:grpSpPr>
        <p:sp>
          <p:nvSpPr>
            <p:cNvPr id="25" name="Rectangle 22">
              <a:extLst>
                <a:ext uri="{FF2B5EF4-FFF2-40B4-BE49-F238E27FC236}">
                  <a16:creationId xmlns:a16="http://schemas.microsoft.com/office/drawing/2014/main" id="{BEF3FE1B-D5F4-403C-83FA-48EB346FF6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0" y="1632"/>
              <a:ext cx="439" cy="28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73" tIns="44442" rIns="90473" bIns="44442">
              <a:spAutoFit/>
            </a:bodyPr>
            <a:lstStyle/>
            <a:p>
              <a:pPr eaLnBrk="0" hangingPunct="0"/>
              <a:r>
                <a:rPr lang="en-US" altLang="zh-CN" sz="2400" dirty="0" err="1">
                  <a:solidFill>
                    <a:schemeClr val="accent1"/>
                  </a:solidFill>
                  <a:latin typeface="Arial" pitchFamily="34" charset="0"/>
                  <a:ea typeface="SimHei" panose="02010609060101010101" pitchFamily="49" charset="-122"/>
                </a:rPr>
                <a:t>beq</a:t>
              </a:r>
              <a:endParaRPr lang="en-US" altLang="zh-CN" sz="2400" dirty="0">
                <a:solidFill>
                  <a:schemeClr val="accent1"/>
                </a:solidFill>
                <a:latin typeface="Arial" pitchFamily="34" charset="0"/>
                <a:ea typeface="SimHei" panose="02010609060101010101" pitchFamily="49" charset="-122"/>
              </a:endParaRPr>
            </a:p>
          </p:txBody>
        </p:sp>
        <p:grpSp>
          <p:nvGrpSpPr>
            <p:cNvPr id="26" name="Group 23">
              <a:extLst>
                <a:ext uri="{FF2B5EF4-FFF2-40B4-BE49-F238E27FC236}">
                  <a16:creationId xmlns:a16="http://schemas.microsoft.com/office/drawing/2014/main" id="{09CF2948-743F-4E02-A683-CC7A5CF8603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640" y="1584"/>
              <a:ext cx="223" cy="481"/>
              <a:chOff x="2207" y="1413"/>
              <a:chExt cx="223" cy="481"/>
            </a:xfrm>
          </p:grpSpPr>
          <p:sp>
            <p:nvSpPr>
              <p:cNvPr id="56" name="Freeform 24">
                <a:extLst>
                  <a:ext uri="{FF2B5EF4-FFF2-40B4-BE49-F238E27FC236}">
                    <a16:creationId xmlns:a16="http://schemas.microsoft.com/office/drawing/2014/main" id="{CD16FC1A-AEF1-499A-905D-38740680A8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7" y="1413"/>
                <a:ext cx="213" cy="481"/>
              </a:xfrm>
              <a:custGeom>
                <a:avLst/>
                <a:gdLst>
                  <a:gd name="T0" fmla="*/ 0 w 213"/>
                  <a:gd name="T1" fmla="*/ 320 h 481"/>
                  <a:gd name="T2" fmla="*/ 71 w 213"/>
                  <a:gd name="T3" fmla="*/ 240 h 481"/>
                  <a:gd name="T4" fmla="*/ 0 w 213"/>
                  <a:gd name="T5" fmla="*/ 160 h 481"/>
                  <a:gd name="T6" fmla="*/ 0 w 213"/>
                  <a:gd name="T7" fmla="*/ 0 h 481"/>
                  <a:gd name="T8" fmla="*/ 212 w 213"/>
                  <a:gd name="T9" fmla="*/ 160 h 481"/>
                  <a:gd name="T10" fmla="*/ 212 w 213"/>
                  <a:gd name="T11" fmla="*/ 320 h 481"/>
                  <a:gd name="T12" fmla="*/ 0 w 213"/>
                  <a:gd name="T13" fmla="*/ 480 h 481"/>
                  <a:gd name="T14" fmla="*/ 0 w 213"/>
                  <a:gd name="T15" fmla="*/ 320 h 48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13" h="481">
                    <a:moveTo>
                      <a:pt x="0" y="320"/>
                    </a:moveTo>
                    <a:lnTo>
                      <a:pt x="71" y="240"/>
                    </a:lnTo>
                    <a:lnTo>
                      <a:pt x="0" y="160"/>
                    </a:lnTo>
                    <a:lnTo>
                      <a:pt x="0" y="0"/>
                    </a:lnTo>
                    <a:lnTo>
                      <a:pt x="212" y="160"/>
                    </a:lnTo>
                    <a:lnTo>
                      <a:pt x="212" y="320"/>
                    </a:lnTo>
                    <a:lnTo>
                      <a:pt x="0" y="480"/>
                    </a:lnTo>
                    <a:lnTo>
                      <a:pt x="0" y="320"/>
                    </a:lnTo>
                  </a:path>
                </a:pathLst>
              </a:custGeom>
              <a:noFill/>
              <a:ln w="25400" cap="rnd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dirty="0">
                  <a:ea typeface="SimHei" panose="02010609060101010101" pitchFamily="49" charset="-122"/>
                </a:endParaRPr>
              </a:p>
            </p:txBody>
          </p:sp>
          <p:sp>
            <p:nvSpPr>
              <p:cNvPr id="57" name="Rectangle 25">
                <a:extLst>
                  <a:ext uri="{FF2B5EF4-FFF2-40B4-BE49-F238E27FC236}">
                    <a16:creationId xmlns:a16="http://schemas.microsoft.com/office/drawing/2014/main" id="{8D1FFC6C-4C66-4B03-BC15-B9E6CA9225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5400000">
                <a:off x="2124" y="1533"/>
                <a:ext cx="376" cy="21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12700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lIns="90473" tIns="44442" rIns="90473" bIns="44442">
                <a:spAutoFit/>
              </a:bodyPr>
              <a:lstStyle/>
              <a:p>
                <a:pPr eaLnBrk="0" hangingPunct="0"/>
                <a:r>
                  <a:rPr lang="en-US" altLang="zh-CN" sz="1600" dirty="0">
                    <a:latin typeface="Arial" pitchFamily="34" charset="0"/>
                    <a:ea typeface="SimHei" panose="02010609060101010101" pitchFamily="49" charset="-122"/>
                  </a:rPr>
                  <a:t>ALU</a:t>
                </a:r>
              </a:p>
            </p:txBody>
          </p:sp>
        </p:grpSp>
        <p:grpSp>
          <p:nvGrpSpPr>
            <p:cNvPr id="27" name="Group 26">
              <a:extLst>
                <a:ext uri="{FF2B5EF4-FFF2-40B4-BE49-F238E27FC236}">
                  <a16:creationId xmlns:a16="http://schemas.microsoft.com/office/drawing/2014/main" id="{BAC5E8B9-8BC4-4A78-8C33-0C62476E3E2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727" y="1680"/>
              <a:ext cx="350" cy="289"/>
              <a:chOff x="1281" y="1509"/>
              <a:chExt cx="350" cy="289"/>
            </a:xfrm>
          </p:grpSpPr>
          <p:sp>
            <p:nvSpPr>
              <p:cNvPr id="52" name="Rectangle 27">
                <a:extLst>
                  <a:ext uri="{FF2B5EF4-FFF2-40B4-BE49-F238E27FC236}">
                    <a16:creationId xmlns:a16="http://schemas.microsoft.com/office/drawing/2014/main" id="{035D20B8-1249-43D9-BA2B-5593F971B6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81" y="1511"/>
                <a:ext cx="259" cy="21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12700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lIns="90473" tIns="44442" rIns="90473" bIns="44442">
                <a:spAutoFit/>
              </a:bodyPr>
              <a:lstStyle/>
              <a:p>
                <a:pPr algn="ctr" eaLnBrk="0" hangingPunct="0"/>
                <a:r>
                  <a:rPr lang="en-US" altLang="zh-CN" sz="1600" dirty="0">
                    <a:latin typeface="Arial" pitchFamily="34" charset="0"/>
                    <a:ea typeface="SimHei" panose="02010609060101010101" pitchFamily="49" charset="-122"/>
                  </a:rPr>
                  <a:t>IM</a:t>
                </a:r>
              </a:p>
            </p:txBody>
          </p:sp>
          <p:grpSp>
            <p:nvGrpSpPr>
              <p:cNvPr id="53" name="Group 28">
                <a:extLst>
                  <a:ext uri="{FF2B5EF4-FFF2-40B4-BE49-F238E27FC236}">
                    <a16:creationId xmlns:a16="http://schemas.microsoft.com/office/drawing/2014/main" id="{EF5C5209-3094-4F6B-9C90-89B75C1ABAB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291" y="1509"/>
                <a:ext cx="340" cy="289"/>
                <a:chOff x="1291" y="1509"/>
                <a:chExt cx="340" cy="289"/>
              </a:xfrm>
            </p:grpSpPr>
            <p:sp>
              <p:nvSpPr>
                <p:cNvPr id="54" name="Freeform 29">
                  <a:extLst>
                    <a:ext uri="{FF2B5EF4-FFF2-40B4-BE49-F238E27FC236}">
                      <a16:creationId xmlns:a16="http://schemas.microsoft.com/office/drawing/2014/main" id="{C0490E7C-1EC6-4E1F-9849-9E338271AAD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291" y="1509"/>
                  <a:ext cx="170" cy="289"/>
                </a:xfrm>
                <a:custGeom>
                  <a:avLst/>
                  <a:gdLst>
                    <a:gd name="T0" fmla="*/ 169 w 170"/>
                    <a:gd name="T1" fmla="*/ 0 h 289"/>
                    <a:gd name="T2" fmla="*/ 0 w 170"/>
                    <a:gd name="T3" fmla="*/ 0 h 289"/>
                    <a:gd name="T4" fmla="*/ 0 w 170"/>
                    <a:gd name="T5" fmla="*/ 288 h 289"/>
                    <a:gd name="T6" fmla="*/ 169 w 170"/>
                    <a:gd name="T7" fmla="*/ 288 h 289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170" h="289">
                      <a:moveTo>
                        <a:pt x="169" y="0"/>
                      </a:moveTo>
                      <a:lnTo>
                        <a:pt x="0" y="0"/>
                      </a:lnTo>
                      <a:lnTo>
                        <a:pt x="0" y="288"/>
                      </a:lnTo>
                      <a:lnTo>
                        <a:pt x="169" y="288"/>
                      </a:lnTo>
                    </a:path>
                  </a:pathLst>
                </a:custGeom>
                <a:noFill/>
                <a:ln w="25400" cap="rnd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zh-CN" altLang="en-US" dirty="0">
                    <a:ea typeface="SimHei" panose="02010609060101010101" pitchFamily="49" charset="-122"/>
                  </a:endParaRPr>
                </a:p>
              </p:txBody>
            </p:sp>
            <p:sp>
              <p:nvSpPr>
                <p:cNvPr id="55" name="Freeform 30">
                  <a:extLst>
                    <a:ext uri="{FF2B5EF4-FFF2-40B4-BE49-F238E27FC236}">
                      <a16:creationId xmlns:a16="http://schemas.microsoft.com/office/drawing/2014/main" id="{CDE1A6AB-9C7E-44E6-A18C-24ECC4F75F7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460" y="1509"/>
                  <a:ext cx="171" cy="289"/>
                </a:xfrm>
                <a:custGeom>
                  <a:avLst/>
                  <a:gdLst>
                    <a:gd name="T0" fmla="*/ 0 w 171"/>
                    <a:gd name="T1" fmla="*/ 0 h 289"/>
                    <a:gd name="T2" fmla="*/ 170 w 171"/>
                    <a:gd name="T3" fmla="*/ 0 h 289"/>
                    <a:gd name="T4" fmla="*/ 170 w 171"/>
                    <a:gd name="T5" fmla="*/ 288 h 289"/>
                    <a:gd name="T6" fmla="*/ 0 w 171"/>
                    <a:gd name="T7" fmla="*/ 288 h 289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171" h="289">
                      <a:moveTo>
                        <a:pt x="0" y="0"/>
                      </a:moveTo>
                      <a:lnTo>
                        <a:pt x="170" y="0"/>
                      </a:lnTo>
                      <a:lnTo>
                        <a:pt x="170" y="288"/>
                      </a:lnTo>
                      <a:lnTo>
                        <a:pt x="0" y="288"/>
                      </a:lnTo>
                    </a:path>
                  </a:pathLst>
                </a:custGeom>
                <a:noFill/>
                <a:ln w="25400" cap="rnd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zh-CN" altLang="en-US" dirty="0">
                    <a:ea typeface="SimHei" panose="02010609060101010101" pitchFamily="49" charset="-122"/>
                  </a:endParaRPr>
                </a:p>
              </p:txBody>
            </p:sp>
          </p:grpSp>
        </p:grpSp>
        <p:sp>
          <p:nvSpPr>
            <p:cNvPr id="28" name="Rectangle 31">
              <a:extLst>
                <a:ext uri="{FF2B5EF4-FFF2-40B4-BE49-F238E27FC236}">
                  <a16:creationId xmlns:a16="http://schemas.microsoft.com/office/drawing/2014/main" id="{3371C349-6FF1-4BC7-9EAC-F77A5652F9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78" y="1687"/>
              <a:ext cx="355" cy="21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73" tIns="44442" rIns="90473" bIns="44442">
              <a:spAutoFit/>
            </a:bodyPr>
            <a:lstStyle/>
            <a:p>
              <a:pPr eaLnBrk="0" hangingPunct="0"/>
              <a:r>
                <a:rPr lang="en-US" altLang="zh-CN" sz="1600" dirty="0">
                  <a:latin typeface="Arial" pitchFamily="34" charset="0"/>
                  <a:ea typeface="SimHei" panose="02010609060101010101" pitchFamily="49" charset="-122"/>
                </a:rPr>
                <a:t>Reg</a:t>
              </a:r>
            </a:p>
          </p:txBody>
        </p:sp>
        <p:grpSp>
          <p:nvGrpSpPr>
            <p:cNvPr id="29" name="Group 32">
              <a:extLst>
                <a:ext uri="{FF2B5EF4-FFF2-40B4-BE49-F238E27FC236}">
                  <a16:creationId xmlns:a16="http://schemas.microsoft.com/office/drawing/2014/main" id="{47FC6676-7A03-4496-AF7C-D56ADF63D71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197" y="1680"/>
              <a:ext cx="296" cy="289"/>
              <a:chOff x="1751" y="1509"/>
              <a:chExt cx="296" cy="289"/>
            </a:xfrm>
          </p:grpSpPr>
          <p:sp>
            <p:nvSpPr>
              <p:cNvPr id="50" name="Freeform 33">
                <a:extLst>
                  <a:ext uri="{FF2B5EF4-FFF2-40B4-BE49-F238E27FC236}">
                    <a16:creationId xmlns:a16="http://schemas.microsoft.com/office/drawing/2014/main" id="{406373D3-E505-423D-ABF9-3A90A749F7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1" y="1509"/>
                <a:ext cx="149" cy="289"/>
              </a:xfrm>
              <a:custGeom>
                <a:avLst/>
                <a:gdLst>
                  <a:gd name="T0" fmla="*/ 148 w 149"/>
                  <a:gd name="T1" fmla="*/ 0 h 289"/>
                  <a:gd name="T2" fmla="*/ 0 w 149"/>
                  <a:gd name="T3" fmla="*/ 0 h 289"/>
                  <a:gd name="T4" fmla="*/ 0 w 149"/>
                  <a:gd name="T5" fmla="*/ 288 h 289"/>
                  <a:gd name="T6" fmla="*/ 148 w 149"/>
                  <a:gd name="T7" fmla="*/ 288 h 28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9" h="289">
                    <a:moveTo>
                      <a:pt x="148" y="0"/>
                    </a:moveTo>
                    <a:lnTo>
                      <a:pt x="0" y="0"/>
                    </a:lnTo>
                    <a:lnTo>
                      <a:pt x="0" y="288"/>
                    </a:lnTo>
                    <a:lnTo>
                      <a:pt x="148" y="288"/>
                    </a:lnTo>
                  </a:path>
                </a:pathLst>
              </a:custGeom>
              <a:noFill/>
              <a:ln w="25400" cap="rnd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dirty="0">
                  <a:ea typeface="SimHei" panose="02010609060101010101" pitchFamily="49" charset="-122"/>
                </a:endParaRPr>
              </a:p>
            </p:txBody>
          </p:sp>
          <p:sp>
            <p:nvSpPr>
              <p:cNvPr id="51" name="Freeform 34">
                <a:extLst>
                  <a:ext uri="{FF2B5EF4-FFF2-40B4-BE49-F238E27FC236}">
                    <a16:creationId xmlns:a16="http://schemas.microsoft.com/office/drawing/2014/main" id="{D096B926-0EC9-451F-8E9C-2F8C3E1758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9" y="1509"/>
                <a:ext cx="148" cy="289"/>
              </a:xfrm>
              <a:custGeom>
                <a:avLst/>
                <a:gdLst>
                  <a:gd name="T0" fmla="*/ 0 w 148"/>
                  <a:gd name="T1" fmla="*/ 0 h 289"/>
                  <a:gd name="T2" fmla="*/ 147 w 148"/>
                  <a:gd name="T3" fmla="*/ 0 h 289"/>
                  <a:gd name="T4" fmla="*/ 147 w 148"/>
                  <a:gd name="T5" fmla="*/ 288 h 289"/>
                  <a:gd name="T6" fmla="*/ 0 w 148"/>
                  <a:gd name="T7" fmla="*/ 288 h 28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8" h="289">
                    <a:moveTo>
                      <a:pt x="0" y="0"/>
                    </a:moveTo>
                    <a:lnTo>
                      <a:pt x="147" y="0"/>
                    </a:lnTo>
                    <a:lnTo>
                      <a:pt x="147" y="288"/>
                    </a:lnTo>
                    <a:lnTo>
                      <a:pt x="0" y="288"/>
                    </a:lnTo>
                  </a:path>
                </a:pathLst>
              </a:custGeom>
              <a:noFill/>
              <a:ln w="25400" cap="rnd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dirty="0">
                  <a:ea typeface="SimHei" panose="02010609060101010101" pitchFamily="49" charset="-122"/>
                </a:endParaRPr>
              </a:p>
            </p:txBody>
          </p:sp>
        </p:grpSp>
        <p:sp>
          <p:nvSpPr>
            <p:cNvPr id="30" name="Line 35">
              <a:extLst>
                <a:ext uri="{FF2B5EF4-FFF2-40B4-BE49-F238E27FC236}">
                  <a16:creationId xmlns:a16="http://schemas.microsoft.com/office/drawing/2014/main" id="{7DB2DA26-FD9F-4F3D-9A62-9B025F9F725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082" y="1824"/>
              <a:ext cx="116" cy="0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31" name="Freeform 36">
              <a:extLst>
                <a:ext uri="{FF2B5EF4-FFF2-40B4-BE49-F238E27FC236}">
                  <a16:creationId xmlns:a16="http://schemas.microsoft.com/office/drawing/2014/main" id="{193C83ED-C5B5-497B-A086-8344FCBFBEB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0" y="1728"/>
              <a:ext cx="48" cy="97"/>
            </a:xfrm>
            <a:custGeom>
              <a:avLst/>
              <a:gdLst>
                <a:gd name="T0" fmla="*/ 0 w 48"/>
                <a:gd name="T1" fmla="*/ 96 h 97"/>
                <a:gd name="T2" fmla="*/ 0 w 48"/>
                <a:gd name="T3" fmla="*/ 0 h 97"/>
                <a:gd name="T4" fmla="*/ 47 w 48"/>
                <a:gd name="T5" fmla="*/ 0 h 97"/>
                <a:gd name="T6" fmla="*/ 47 w 48"/>
                <a:gd name="T7" fmla="*/ 0 h 9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8" h="97">
                  <a:moveTo>
                    <a:pt x="0" y="96"/>
                  </a:moveTo>
                  <a:lnTo>
                    <a:pt x="0" y="0"/>
                  </a:lnTo>
                  <a:lnTo>
                    <a:pt x="47" y="0"/>
                  </a:lnTo>
                </a:path>
              </a:pathLst>
            </a:custGeom>
            <a:noFill/>
            <a:ln w="25400" cap="rnd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32" name="Line 37">
              <a:extLst>
                <a:ext uri="{FF2B5EF4-FFF2-40B4-BE49-F238E27FC236}">
                  <a16:creationId xmlns:a16="http://schemas.microsoft.com/office/drawing/2014/main" id="{3C0CE983-D898-4960-9A81-F80B42715CF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498" y="1728"/>
              <a:ext cx="157" cy="0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33" name="Rectangle 38">
              <a:extLst>
                <a:ext uri="{FF2B5EF4-FFF2-40B4-BE49-F238E27FC236}">
                  <a16:creationId xmlns:a16="http://schemas.microsoft.com/office/drawing/2014/main" id="{A2EB28EF-3CC7-4FEA-ACD7-FBD23EBDFB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95" y="1682"/>
              <a:ext cx="313" cy="21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73" tIns="44442" rIns="90473" bIns="44442">
              <a:spAutoFit/>
            </a:bodyPr>
            <a:lstStyle/>
            <a:p>
              <a:pPr eaLnBrk="0" hangingPunct="0"/>
              <a:r>
                <a:rPr lang="en-US" altLang="zh-CN" sz="1600" dirty="0">
                  <a:latin typeface="Arial" pitchFamily="34" charset="0"/>
                  <a:ea typeface="SimHei" panose="02010609060101010101" pitchFamily="49" charset="-122"/>
                </a:rPr>
                <a:t>DM</a:t>
              </a:r>
            </a:p>
          </p:txBody>
        </p:sp>
        <p:grpSp>
          <p:nvGrpSpPr>
            <p:cNvPr id="34" name="Group 39">
              <a:extLst>
                <a:ext uri="{FF2B5EF4-FFF2-40B4-BE49-F238E27FC236}">
                  <a16:creationId xmlns:a16="http://schemas.microsoft.com/office/drawing/2014/main" id="{03EC0116-23BA-4C6B-B9D0-598753292E4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046" y="1680"/>
              <a:ext cx="325" cy="289"/>
              <a:chOff x="2600" y="1509"/>
              <a:chExt cx="325" cy="289"/>
            </a:xfrm>
          </p:grpSpPr>
          <p:sp>
            <p:nvSpPr>
              <p:cNvPr id="48" name="Freeform 40">
                <a:extLst>
                  <a:ext uri="{FF2B5EF4-FFF2-40B4-BE49-F238E27FC236}">
                    <a16:creationId xmlns:a16="http://schemas.microsoft.com/office/drawing/2014/main" id="{CEC93050-EFCC-4248-9ECB-3FEFBD245B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0" y="1509"/>
                <a:ext cx="162" cy="289"/>
              </a:xfrm>
              <a:custGeom>
                <a:avLst/>
                <a:gdLst>
                  <a:gd name="T0" fmla="*/ 161 w 162"/>
                  <a:gd name="T1" fmla="*/ 0 h 289"/>
                  <a:gd name="T2" fmla="*/ 0 w 162"/>
                  <a:gd name="T3" fmla="*/ 0 h 289"/>
                  <a:gd name="T4" fmla="*/ 0 w 162"/>
                  <a:gd name="T5" fmla="*/ 288 h 289"/>
                  <a:gd name="T6" fmla="*/ 161 w 162"/>
                  <a:gd name="T7" fmla="*/ 288 h 28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2" h="289">
                    <a:moveTo>
                      <a:pt x="161" y="0"/>
                    </a:moveTo>
                    <a:lnTo>
                      <a:pt x="0" y="0"/>
                    </a:lnTo>
                    <a:lnTo>
                      <a:pt x="0" y="288"/>
                    </a:lnTo>
                    <a:lnTo>
                      <a:pt x="161" y="288"/>
                    </a:lnTo>
                  </a:path>
                </a:pathLst>
              </a:custGeom>
              <a:noFill/>
              <a:ln w="25400" cap="rnd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dirty="0">
                  <a:ea typeface="SimHei" panose="02010609060101010101" pitchFamily="49" charset="-122"/>
                </a:endParaRPr>
              </a:p>
            </p:txBody>
          </p:sp>
          <p:sp>
            <p:nvSpPr>
              <p:cNvPr id="49" name="Freeform 41">
                <a:extLst>
                  <a:ext uri="{FF2B5EF4-FFF2-40B4-BE49-F238E27FC236}">
                    <a16:creationId xmlns:a16="http://schemas.microsoft.com/office/drawing/2014/main" id="{6D5E53D6-9162-4719-BB9F-8BAF7CB452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1" y="1509"/>
                <a:ext cx="164" cy="289"/>
              </a:xfrm>
              <a:custGeom>
                <a:avLst/>
                <a:gdLst>
                  <a:gd name="T0" fmla="*/ 0 w 164"/>
                  <a:gd name="T1" fmla="*/ 0 h 289"/>
                  <a:gd name="T2" fmla="*/ 163 w 164"/>
                  <a:gd name="T3" fmla="*/ 0 h 289"/>
                  <a:gd name="T4" fmla="*/ 163 w 164"/>
                  <a:gd name="T5" fmla="*/ 288 h 289"/>
                  <a:gd name="T6" fmla="*/ 0 w 164"/>
                  <a:gd name="T7" fmla="*/ 288 h 28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4" h="289">
                    <a:moveTo>
                      <a:pt x="0" y="0"/>
                    </a:moveTo>
                    <a:lnTo>
                      <a:pt x="163" y="0"/>
                    </a:lnTo>
                    <a:lnTo>
                      <a:pt x="163" y="288"/>
                    </a:lnTo>
                    <a:lnTo>
                      <a:pt x="0" y="288"/>
                    </a:lnTo>
                  </a:path>
                </a:pathLst>
              </a:custGeom>
              <a:noFill/>
              <a:ln w="25400" cap="rnd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dirty="0">
                  <a:ea typeface="SimHei" panose="02010609060101010101" pitchFamily="49" charset="-122"/>
                </a:endParaRPr>
              </a:p>
            </p:txBody>
          </p:sp>
        </p:grpSp>
        <p:sp>
          <p:nvSpPr>
            <p:cNvPr id="35" name="Rectangle 42">
              <a:extLst>
                <a:ext uri="{FF2B5EF4-FFF2-40B4-BE49-F238E27FC236}">
                  <a16:creationId xmlns:a16="http://schemas.microsoft.com/office/drawing/2014/main" id="{499D5F1C-8B4B-455E-B961-96C0615DE9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87" y="1682"/>
              <a:ext cx="355" cy="21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73" tIns="44442" rIns="90473" bIns="44442">
              <a:spAutoFit/>
            </a:bodyPr>
            <a:lstStyle/>
            <a:p>
              <a:pPr eaLnBrk="0" hangingPunct="0"/>
              <a:r>
                <a:rPr lang="en-US" altLang="zh-CN" sz="1600" dirty="0">
                  <a:latin typeface="Arial" pitchFamily="34" charset="0"/>
                  <a:ea typeface="SimHei" panose="02010609060101010101" pitchFamily="49" charset="-122"/>
                </a:rPr>
                <a:t>Reg</a:t>
              </a:r>
            </a:p>
          </p:txBody>
        </p:sp>
        <p:grpSp>
          <p:nvGrpSpPr>
            <p:cNvPr id="36" name="Group 43">
              <a:extLst>
                <a:ext uri="{FF2B5EF4-FFF2-40B4-BE49-F238E27FC236}">
                  <a16:creationId xmlns:a16="http://schemas.microsoft.com/office/drawing/2014/main" id="{96E207A8-445C-4B58-88F3-5D0B5EDE999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514" y="1680"/>
              <a:ext cx="284" cy="289"/>
              <a:chOff x="3068" y="1509"/>
              <a:chExt cx="284" cy="289"/>
            </a:xfrm>
          </p:grpSpPr>
          <p:sp>
            <p:nvSpPr>
              <p:cNvPr id="46" name="Freeform 44">
                <a:extLst>
                  <a:ext uri="{FF2B5EF4-FFF2-40B4-BE49-F238E27FC236}">
                    <a16:creationId xmlns:a16="http://schemas.microsoft.com/office/drawing/2014/main" id="{9EF4984B-1A22-482F-88F7-5D9030BCA1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8" y="1509"/>
                <a:ext cx="142" cy="289"/>
              </a:xfrm>
              <a:custGeom>
                <a:avLst/>
                <a:gdLst>
                  <a:gd name="T0" fmla="*/ 141 w 142"/>
                  <a:gd name="T1" fmla="*/ 0 h 289"/>
                  <a:gd name="T2" fmla="*/ 0 w 142"/>
                  <a:gd name="T3" fmla="*/ 0 h 289"/>
                  <a:gd name="T4" fmla="*/ 0 w 142"/>
                  <a:gd name="T5" fmla="*/ 288 h 289"/>
                  <a:gd name="T6" fmla="*/ 141 w 142"/>
                  <a:gd name="T7" fmla="*/ 288 h 28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2" h="289">
                    <a:moveTo>
                      <a:pt x="141" y="0"/>
                    </a:moveTo>
                    <a:lnTo>
                      <a:pt x="0" y="0"/>
                    </a:lnTo>
                    <a:lnTo>
                      <a:pt x="0" y="288"/>
                    </a:lnTo>
                    <a:lnTo>
                      <a:pt x="141" y="288"/>
                    </a:lnTo>
                  </a:path>
                </a:pathLst>
              </a:custGeom>
              <a:noFill/>
              <a:ln w="25400" cap="rnd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dirty="0">
                  <a:ea typeface="SimHei" panose="02010609060101010101" pitchFamily="49" charset="-122"/>
                </a:endParaRPr>
              </a:p>
            </p:txBody>
          </p:sp>
          <p:sp>
            <p:nvSpPr>
              <p:cNvPr id="47" name="Freeform 45">
                <a:extLst>
                  <a:ext uri="{FF2B5EF4-FFF2-40B4-BE49-F238E27FC236}">
                    <a16:creationId xmlns:a16="http://schemas.microsoft.com/office/drawing/2014/main" id="{49918A41-FC94-44C7-9623-541944C812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9" y="1509"/>
                <a:ext cx="143" cy="289"/>
              </a:xfrm>
              <a:custGeom>
                <a:avLst/>
                <a:gdLst>
                  <a:gd name="T0" fmla="*/ 0 w 143"/>
                  <a:gd name="T1" fmla="*/ 0 h 289"/>
                  <a:gd name="T2" fmla="*/ 142 w 143"/>
                  <a:gd name="T3" fmla="*/ 0 h 289"/>
                  <a:gd name="T4" fmla="*/ 142 w 143"/>
                  <a:gd name="T5" fmla="*/ 288 h 289"/>
                  <a:gd name="T6" fmla="*/ 0 w 143"/>
                  <a:gd name="T7" fmla="*/ 288 h 28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3" h="289">
                    <a:moveTo>
                      <a:pt x="0" y="0"/>
                    </a:moveTo>
                    <a:lnTo>
                      <a:pt x="142" y="0"/>
                    </a:lnTo>
                    <a:lnTo>
                      <a:pt x="142" y="288"/>
                    </a:lnTo>
                    <a:lnTo>
                      <a:pt x="0" y="288"/>
                    </a:lnTo>
                  </a:path>
                </a:pathLst>
              </a:custGeom>
              <a:noFill/>
              <a:ln w="25400" cap="rnd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dirty="0">
                  <a:ea typeface="SimHei" panose="02010609060101010101" pitchFamily="49" charset="-122"/>
                </a:endParaRPr>
              </a:p>
            </p:txBody>
          </p:sp>
        </p:grpSp>
        <p:sp>
          <p:nvSpPr>
            <p:cNvPr id="37" name="Line 46">
              <a:extLst>
                <a:ext uri="{FF2B5EF4-FFF2-40B4-BE49-F238E27FC236}">
                  <a16:creationId xmlns:a16="http://schemas.microsoft.com/office/drawing/2014/main" id="{7BC5C776-BBC9-4A2C-BCBB-B2ED506C25F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67" y="1824"/>
              <a:ext cx="139" cy="0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38" name="Line 47">
              <a:extLst>
                <a:ext uri="{FF2B5EF4-FFF2-40B4-BE49-F238E27FC236}">
                  <a16:creationId xmlns:a16="http://schemas.microsoft.com/office/drawing/2014/main" id="{5F1E15A2-E3D7-4B5F-9028-DD3A2B4AEE3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83" y="1824"/>
              <a:ext cx="155" cy="0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39" name="Line 48">
              <a:extLst>
                <a:ext uri="{FF2B5EF4-FFF2-40B4-BE49-F238E27FC236}">
                  <a16:creationId xmlns:a16="http://schemas.microsoft.com/office/drawing/2014/main" id="{7C3E33BB-46F7-4836-89B3-30A1E5EDF33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498" y="1920"/>
              <a:ext cx="157" cy="0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40" name="Line 49">
              <a:extLst>
                <a:ext uri="{FF2B5EF4-FFF2-40B4-BE49-F238E27FC236}">
                  <a16:creationId xmlns:a16="http://schemas.microsoft.com/office/drawing/2014/main" id="{C8827AF6-0CF8-4BE8-9652-A1BEFE817DC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582" y="1920"/>
              <a:ext cx="0" cy="192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41" name="Line 50">
              <a:extLst>
                <a:ext uri="{FF2B5EF4-FFF2-40B4-BE49-F238E27FC236}">
                  <a16:creationId xmlns:a16="http://schemas.microsoft.com/office/drawing/2014/main" id="{6D73A5BA-4FE3-4F3E-8034-86FEF77C8D8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582" y="2112"/>
              <a:ext cx="336" cy="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42" name="Line 51">
              <a:extLst>
                <a:ext uri="{FF2B5EF4-FFF2-40B4-BE49-F238E27FC236}">
                  <a16:creationId xmlns:a16="http://schemas.microsoft.com/office/drawing/2014/main" id="{94690EE6-AEE6-49A6-AB27-7F94B17725B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18" y="1824"/>
              <a:ext cx="0" cy="288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43" name="Line 52">
              <a:extLst>
                <a:ext uri="{FF2B5EF4-FFF2-40B4-BE49-F238E27FC236}">
                  <a16:creationId xmlns:a16="http://schemas.microsoft.com/office/drawing/2014/main" id="{7E3FB450-0FF9-48DE-8CB6-F67060443F8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998" y="1824"/>
              <a:ext cx="0" cy="24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44" name="Line 53">
              <a:extLst>
                <a:ext uri="{FF2B5EF4-FFF2-40B4-BE49-F238E27FC236}">
                  <a16:creationId xmlns:a16="http://schemas.microsoft.com/office/drawing/2014/main" id="{35B2525E-469A-4E1A-A411-9C79607A244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98" y="2064"/>
              <a:ext cx="432" cy="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45" name="Line 54">
              <a:extLst>
                <a:ext uri="{FF2B5EF4-FFF2-40B4-BE49-F238E27FC236}">
                  <a16:creationId xmlns:a16="http://schemas.microsoft.com/office/drawing/2014/main" id="{E74A6E27-AF0D-4694-A27B-58B0629ACE3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30" y="1824"/>
              <a:ext cx="0" cy="24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</p:grpSp>
      <p:grpSp>
        <p:nvGrpSpPr>
          <p:cNvPr id="58" name="Group 55">
            <a:extLst>
              <a:ext uri="{FF2B5EF4-FFF2-40B4-BE49-F238E27FC236}">
                <a16:creationId xmlns:a16="http://schemas.microsoft.com/office/drawing/2014/main" id="{B7E1A8DE-8B42-40AC-A9F9-AEE9DE63D271}"/>
              </a:ext>
            </a:extLst>
          </p:cNvPr>
          <p:cNvGrpSpPr>
            <a:grpSpLocks/>
          </p:cNvGrpSpPr>
          <p:nvPr/>
        </p:nvGrpSpPr>
        <p:grpSpPr bwMode="auto">
          <a:xfrm>
            <a:off x="3503613" y="3017838"/>
            <a:ext cx="3357562" cy="838200"/>
            <a:chOff x="1561" y="1152"/>
            <a:chExt cx="2115" cy="528"/>
          </a:xfrm>
        </p:grpSpPr>
        <p:grpSp>
          <p:nvGrpSpPr>
            <p:cNvPr id="59" name="Group 56">
              <a:extLst>
                <a:ext uri="{FF2B5EF4-FFF2-40B4-BE49-F238E27FC236}">
                  <a16:creationId xmlns:a16="http://schemas.microsoft.com/office/drawing/2014/main" id="{EAA0152F-8704-44D7-A619-A29B234C3C2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487" y="1152"/>
              <a:ext cx="223" cy="481"/>
              <a:chOff x="2207" y="1413"/>
              <a:chExt cx="223" cy="481"/>
            </a:xfrm>
          </p:grpSpPr>
          <p:sp>
            <p:nvSpPr>
              <p:cNvPr id="89" name="Freeform 57">
                <a:extLst>
                  <a:ext uri="{FF2B5EF4-FFF2-40B4-BE49-F238E27FC236}">
                    <a16:creationId xmlns:a16="http://schemas.microsoft.com/office/drawing/2014/main" id="{7523C395-FD14-4424-9CB7-F2F7001468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7" y="1413"/>
                <a:ext cx="213" cy="481"/>
              </a:xfrm>
              <a:custGeom>
                <a:avLst/>
                <a:gdLst>
                  <a:gd name="T0" fmla="*/ 0 w 213"/>
                  <a:gd name="T1" fmla="*/ 320 h 481"/>
                  <a:gd name="T2" fmla="*/ 71 w 213"/>
                  <a:gd name="T3" fmla="*/ 240 h 481"/>
                  <a:gd name="T4" fmla="*/ 0 w 213"/>
                  <a:gd name="T5" fmla="*/ 160 h 481"/>
                  <a:gd name="T6" fmla="*/ 0 w 213"/>
                  <a:gd name="T7" fmla="*/ 0 h 481"/>
                  <a:gd name="T8" fmla="*/ 212 w 213"/>
                  <a:gd name="T9" fmla="*/ 160 h 481"/>
                  <a:gd name="T10" fmla="*/ 212 w 213"/>
                  <a:gd name="T11" fmla="*/ 320 h 481"/>
                  <a:gd name="T12" fmla="*/ 0 w 213"/>
                  <a:gd name="T13" fmla="*/ 480 h 481"/>
                  <a:gd name="T14" fmla="*/ 0 w 213"/>
                  <a:gd name="T15" fmla="*/ 320 h 48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13" h="481">
                    <a:moveTo>
                      <a:pt x="0" y="320"/>
                    </a:moveTo>
                    <a:lnTo>
                      <a:pt x="71" y="240"/>
                    </a:lnTo>
                    <a:lnTo>
                      <a:pt x="0" y="160"/>
                    </a:lnTo>
                    <a:lnTo>
                      <a:pt x="0" y="0"/>
                    </a:lnTo>
                    <a:lnTo>
                      <a:pt x="212" y="160"/>
                    </a:lnTo>
                    <a:lnTo>
                      <a:pt x="212" y="320"/>
                    </a:lnTo>
                    <a:lnTo>
                      <a:pt x="0" y="480"/>
                    </a:lnTo>
                    <a:lnTo>
                      <a:pt x="0" y="320"/>
                    </a:lnTo>
                  </a:path>
                </a:pathLst>
              </a:custGeom>
              <a:noFill/>
              <a:ln w="25400" cap="rnd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dirty="0">
                  <a:ea typeface="SimHei" panose="02010609060101010101" pitchFamily="49" charset="-122"/>
                </a:endParaRPr>
              </a:p>
            </p:txBody>
          </p:sp>
          <p:sp>
            <p:nvSpPr>
              <p:cNvPr id="90" name="Rectangle 58">
                <a:extLst>
                  <a:ext uri="{FF2B5EF4-FFF2-40B4-BE49-F238E27FC236}">
                    <a16:creationId xmlns:a16="http://schemas.microsoft.com/office/drawing/2014/main" id="{E14A3E65-DCCA-4E25-97E2-E62C271E86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5400000">
                <a:off x="2124" y="1533"/>
                <a:ext cx="376" cy="21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12700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lIns="90473" tIns="44442" rIns="90473" bIns="44442">
                <a:spAutoFit/>
              </a:bodyPr>
              <a:lstStyle/>
              <a:p>
                <a:pPr eaLnBrk="0" hangingPunct="0"/>
                <a:r>
                  <a:rPr lang="en-US" altLang="zh-CN" sz="1600" dirty="0">
                    <a:latin typeface="Arial" pitchFamily="34" charset="0"/>
                    <a:ea typeface="SimHei" panose="02010609060101010101" pitchFamily="49" charset="-122"/>
                  </a:rPr>
                  <a:t>ALU</a:t>
                </a:r>
              </a:p>
            </p:txBody>
          </p:sp>
        </p:grpSp>
        <p:grpSp>
          <p:nvGrpSpPr>
            <p:cNvPr id="60" name="Group 59">
              <a:extLst>
                <a:ext uri="{FF2B5EF4-FFF2-40B4-BE49-F238E27FC236}">
                  <a16:creationId xmlns:a16="http://schemas.microsoft.com/office/drawing/2014/main" id="{A1A4EC8A-B314-4E5A-BAC1-995CDF71541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561" y="1248"/>
              <a:ext cx="350" cy="289"/>
              <a:chOff x="1281" y="1509"/>
              <a:chExt cx="350" cy="289"/>
            </a:xfrm>
          </p:grpSpPr>
          <p:sp>
            <p:nvSpPr>
              <p:cNvPr id="85" name="Rectangle 60">
                <a:extLst>
                  <a:ext uri="{FF2B5EF4-FFF2-40B4-BE49-F238E27FC236}">
                    <a16:creationId xmlns:a16="http://schemas.microsoft.com/office/drawing/2014/main" id="{5FA7B966-7097-4A5E-9D30-1407282F66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81" y="1511"/>
                <a:ext cx="259" cy="21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12700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lIns="90473" tIns="44442" rIns="90473" bIns="44442">
                <a:spAutoFit/>
              </a:bodyPr>
              <a:lstStyle/>
              <a:p>
                <a:pPr algn="ctr" eaLnBrk="0" hangingPunct="0"/>
                <a:r>
                  <a:rPr lang="en-US" altLang="zh-CN" sz="1600" dirty="0">
                    <a:latin typeface="Arial" pitchFamily="34" charset="0"/>
                    <a:ea typeface="SimHei" panose="02010609060101010101" pitchFamily="49" charset="-122"/>
                  </a:rPr>
                  <a:t>IM</a:t>
                </a:r>
              </a:p>
            </p:txBody>
          </p:sp>
          <p:grpSp>
            <p:nvGrpSpPr>
              <p:cNvPr id="86" name="Group 61">
                <a:extLst>
                  <a:ext uri="{FF2B5EF4-FFF2-40B4-BE49-F238E27FC236}">
                    <a16:creationId xmlns:a16="http://schemas.microsoft.com/office/drawing/2014/main" id="{1BCF9392-D47C-42E0-9C8F-F1C4F608331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291" y="1509"/>
                <a:ext cx="340" cy="289"/>
                <a:chOff x="1291" y="1509"/>
                <a:chExt cx="340" cy="289"/>
              </a:xfrm>
            </p:grpSpPr>
            <p:sp>
              <p:nvSpPr>
                <p:cNvPr id="87" name="Freeform 62">
                  <a:extLst>
                    <a:ext uri="{FF2B5EF4-FFF2-40B4-BE49-F238E27FC236}">
                      <a16:creationId xmlns:a16="http://schemas.microsoft.com/office/drawing/2014/main" id="{05FE649B-78FE-44BA-87C2-E249DE9B999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291" y="1509"/>
                  <a:ext cx="170" cy="289"/>
                </a:xfrm>
                <a:custGeom>
                  <a:avLst/>
                  <a:gdLst>
                    <a:gd name="T0" fmla="*/ 169 w 170"/>
                    <a:gd name="T1" fmla="*/ 0 h 289"/>
                    <a:gd name="T2" fmla="*/ 0 w 170"/>
                    <a:gd name="T3" fmla="*/ 0 h 289"/>
                    <a:gd name="T4" fmla="*/ 0 w 170"/>
                    <a:gd name="T5" fmla="*/ 288 h 289"/>
                    <a:gd name="T6" fmla="*/ 169 w 170"/>
                    <a:gd name="T7" fmla="*/ 288 h 289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170" h="289">
                      <a:moveTo>
                        <a:pt x="169" y="0"/>
                      </a:moveTo>
                      <a:lnTo>
                        <a:pt x="0" y="0"/>
                      </a:lnTo>
                      <a:lnTo>
                        <a:pt x="0" y="288"/>
                      </a:lnTo>
                      <a:lnTo>
                        <a:pt x="169" y="288"/>
                      </a:lnTo>
                    </a:path>
                  </a:pathLst>
                </a:custGeom>
                <a:noFill/>
                <a:ln w="25400" cap="rnd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zh-CN" altLang="en-US" dirty="0">
                    <a:ea typeface="SimHei" panose="02010609060101010101" pitchFamily="49" charset="-122"/>
                  </a:endParaRPr>
                </a:p>
              </p:txBody>
            </p:sp>
            <p:sp>
              <p:nvSpPr>
                <p:cNvPr id="88" name="Freeform 63">
                  <a:extLst>
                    <a:ext uri="{FF2B5EF4-FFF2-40B4-BE49-F238E27FC236}">
                      <a16:creationId xmlns:a16="http://schemas.microsoft.com/office/drawing/2014/main" id="{82826E9A-8EF9-4CEB-A292-C5BF813F3FE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460" y="1509"/>
                  <a:ext cx="171" cy="289"/>
                </a:xfrm>
                <a:custGeom>
                  <a:avLst/>
                  <a:gdLst>
                    <a:gd name="T0" fmla="*/ 0 w 171"/>
                    <a:gd name="T1" fmla="*/ 0 h 289"/>
                    <a:gd name="T2" fmla="*/ 170 w 171"/>
                    <a:gd name="T3" fmla="*/ 0 h 289"/>
                    <a:gd name="T4" fmla="*/ 170 w 171"/>
                    <a:gd name="T5" fmla="*/ 288 h 289"/>
                    <a:gd name="T6" fmla="*/ 0 w 171"/>
                    <a:gd name="T7" fmla="*/ 288 h 289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171" h="289">
                      <a:moveTo>
                        <a:pt x="0" y="0"/>
                      </a:moveTo>
                      <a:lnTo>
                        <a:pt x="170" y="0"/>
                      </a:lnTo>
                      <a:lnTo>
                        <a:pt x="170" y="288"/>
                      </a:lnTo>
                      <a:lnTo>
                        <a:pt x="0" y="288"/>
                      </a:lnTo>
                    </a:path>
                  </a:pathLst>
                </a:custGeom>
                <a:noFill/>
                <a:ln w="25400" cap="rnd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zh-CN" altLang="en-US" dirty="0">
                    <a:ea typeface="SimHei" panose="02010609060101010101" pitchFamily="49" charset="-122"/>
                  </a:endParaRPr>
                </a:p>
              </p:txBody>
            </p:sp>
          </p:grpSp>
        </p:grpSp>
        <p:sp>
          <p:nvSpPr>
            <p:cNvPr id="61" name="Rectangle 64">
              <a:extLst>
                <a:ext uri="{FF2B5EF4-FFF2-40B4-BE49-F238E27FC236}">
                  <a16:creationId xmlns:a16="http://schemas.microsoft.com/office/drawing/2014/main" id="{519D0B09-001E-4355-AB7A-C2CF119F5F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12" y="1255"/>
              <a:ext cx="355" cy="21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73" tIns="44442" rIns="90473" bIns="44442">
              <a:spAutoFit/>
            </a:bodyPr>
            <a:lstStyle/>
            <a:p>
              <a:pPr eaLnBrk="0" hangingPunct="0"/>
              <a:r>
                <a:rPr lang="en-US" altLang="zh-CN" sz="1600" dirty="0">
                  <a:latin typeface="Arial" pitchFamily="34" charset="0"/>
                  <a:ea typeface="SimHei" panose="02010609060101010101" pitchFamily="49" charset="-122"/>
                </a:rPr>
                <a:t>Reg</a:t>
              </a:r>
            </a:p>
          </p:txBody>
        </p:sp>
        <p:grpSp>
          <p:nvGrpSpPr>
            <p:cNvPr id="62" name="Group 65">
              <a:extLst>
                <a:ext uri="{FF2B5EF4-FFF2-40B4-BE49-F238E27FC236}">
                  <a16:creationId xmlns:a16="http://schemas.microsoft.com/office/drawing/2014/main" id="{E22DA9E5-68E1-4BD0-A5D2-0DDB4097D51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031" y="1248"/>
              <a:ext cx="296" cy="289"/>
              <a:chOff x="1751" y="1509"/>
              <a:chExt cx="296" cy="289"/>
            </a:xfrm>
          </p:grpSpPr>
          <p:sp>
            <p:nvSpPr>
              <p:cNvPr id="83" name="Freeform 66">
                <a:extLst>
                  <a:ext uri="{FF2B5EF4-FFF2-40B4-BE49-F238E27FC236}">
                    <a16:creationId xmlns:a16="http://schemas.microsoft.com/office/drawing/2014/main" id="{E1600E9B-5357-4B6A-B1A3-8F003F2095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1" y="1509"/>
                <a:ext cx="149" cy="289"/>
              </a:xfrm>
              <a:custGeom>
                <a:avLst/>
                <a:gdLst>
                  <a:gd name="T0" fmla="*/ 148 w 149"/>
                  <a:gd name="T1" fmla="*/ 0 h 289"/>
                  <a:gd name="T2" fmla="*/ 0 w 149"/>
                  <a:gd name="T3" fmla="*/ 0 h 289"/>
                  <a:gd name="T4" fmla="*/ 0 w 149"/>
                  <a:gd name="T5" fmla="*/ 288 h 289"/>
                  <a:gd name="T6" fmla="*/ 148 w 149"/>
                  <a:gd name="T7" fmla="*/ 288 h 28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9" h="289">
                    <a:moveTo>
                      <a:pt x="148" y="0"/>
                    </a:moveTo>
                    <a:lnTo>
                      <a:pt x="0" y="0"/>
                    </a:lnTo>
                    <a:lnTo>
                      <a:pt x="0" y="288"/>
                    </a:lnTo>
                    <a:lnTo>
                      <a:pt x="148" y="288"/>
                    </a:lnTo>
                  </a:path>
                </a:pathLst>
              </a:custGeom>
              <a:noFill/>
              <a:ln w="25400" cap="rnd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dirty="0">
                  <a:ea typeface="SimHei" panose="02010609060101010101" pitchFamily="49" charset="-122"/>
                </a:endParaRPr>
              </a:p>
            </p:txBody>
          </p:sp>
          <p:sp>
            <p:nvSpPr>
              <p:cNvPr id="84" name="Freeform 67">
                <a:extLst>
                  <a:ext uri="{FF2B5EF4-FFF2-40B4-BE49-F238E27FC236}">
                    <a16:creationId xmlns:a16="http://schemas.microsoft.com/office/drawing/2014/main" id="{198E7330-870D-431A-BA09-C9F5FC4FDD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9" y="1509"/>
                <a:ext cx="148" cy="289"/>
              </a:xfrm>
              <a:custGeom>
                <a:avLst/>
                <a:gdLst>
                  <a:gd name="T0" fmla="*/ 0 w 148"/>
                  <a:gd name="T1" fmla="*/ 0 h 289"/>
                  <a:gd name="T2" fmla="*/ 147 w 148"/>
                  <a:gd name="T3" fmla="*/ 0 h 289"/>
                  <a:gd name="T4" fmla="*/ 147 w 148"/>
                  <a:gd name="T5" fmla="*/ 288 h 289"/>
                  <a:gd name="T6" fmla="*/ 0 w 148"/>
                  <a:gd name="T7" fmla="*/ 288 h 28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8" h="289">
                    <a:moveTo>
                      <a:pt x="0" y="0"/>
                    </a:moveTo>
                    <a:lnTo>
                      <a:pt x="147" y="0"/>
                    </a:lnTo>
                    <a:lnTo>
                      <a:pt x="147" y="288"/>
                    </a:lnTo>
                    <a:lnTo>
                      <a:pt x="0" y="288"/>
                    </a:lnTo>
                  </a:path>
                </a:pathLst>
              </a:custGeom>
              <a:noFill/>
              <a:ln w="25400" cap="rnd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dirty="0">
                  <a:ea typeface="SimHei" panose="02010609060101010101" pitchFamily="49" charset="-122"/>
                </a:endParaRPr>
              </a:p>
            </p:txBody>
          </p:sp>
        </p:grpSp>
        <p:sp>
          <p:nvSpPr>
            <p:cNvPr id="63" name="Line 68">
              <a:extLst>
                <a:ext uri="{FF2B5EF4-FFF2-40B4-BE49-F238E27FC236}">
                  <a16:creationId xmlns:a16="http://schemas.microsoft.com/office/drawing/2014/main" id="{0D51F383-7960-4D96-970C-9E7BCA51F11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916" y="1392"/>
              <a:ext cx="116" cy="0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64" name="Freeform 69">
              <a:extLst>
                <a:ext uri="{FF2B5EF4-FFF2-40B4-BE49-F238E27FC236}">
                  <a16:creationId xmlns:a16="http://schemas.microsoft.com/office/drawing/2014/main" id="{74EE4D4B-B9C8-4ACD-BA28-CA2DF4D492B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4" y="1296"/>
              <a:ext cx="48" cy="97"/>
            </a:xfrm>
            <a:custGeom>
              <a:avLst/>
              <a:gdLst>
                <a:gd name="T0" fmla="*/ 0 w 48"/>
                <a:gd name="T1" fmla="*/ 96 h 97"/>
                <a:gd name="T2" fmla="*/ 0 w 48"/>
                <a:gd name="T3" fmla="*/ 0 h 97"/>
                <a:gd name="T4" fmla="*/ 47 w 48"/>
                <a:gd name="T5" fmla="*/ 0 h 97"/>
                <a:gd name="T6" fmla="*/ 47 w 48"/>
                <a:gd name="T7" fmla="*/ 0 h 9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8" h="97">
                  <a:moveTo>
                    <a:pt x="0" y="96"/>
                  </a:moveTo>
                  <a:lnTo>
                    <a:pt x="0" y="0"/>
                  </a:lnTo>
                  <a:lnTo>
                    <a:pt x="47" y="0"/>
                  </a:lnTo>
                </a:path>
              </a:pathLst>
            </a:custGeom>
            <a:noFill/>
            <a:ln w="25400" cap="rnd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65" name="Line 70">
              <a:extLst>
                <a:ext uri="{FF2B5EF4-FFF2-40B4-BE49-F238E27FC236}">
                  <a16:creationId xmlns:a16="http://schemas.microsoft.com/office/drawing/2014/main" id="{998D125E-423B-4409-B288-A9BAA352188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332" y="1296"/>
              <a:ext cx="157" cy="0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66" name="Rectangle 71">
              <a:extLst>
                <a:ext uri="{FF2B5EF4-FFF2-40B4-BE49-F238E27FC236}">
                  <a16:creationId xmlns:a16="http://schemas.microsoft.com/office/drawing/2014/main" id="{F6E49F68-351E-4DB4-A2EA-1E8BF971AA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29" y="1250"/>
              <a:ext cx="313" cy="21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73" tIns="44442" rIns="90473" bIns="44442">
              <a:spAutoFit/>
            </a:bodyPr>
            <a:lstStyle/>
            <a:p>
              <a:pPr eaLnBrk="0" hangingPunct="0"/>
              <a:r>
                <a:rPr lang="en-US" altLang="zh-CN" sz="1600" dirty="0">
                  <a:latin typeface="Arial" pitchFamily="34" charset="0"/>
                  <a:ea typeface="SimHei" panose="02010609060101010101" pitchFamily="49" charset="-122"/>
                </a:rPr>
                <a:t>DM</a:t>
              </a:r>
            </a:p>
          </p:txBody>
        </p:sp>
        <p:grpSp>
          <p:nvGrpSpPr>
            <p:cNvPr id="67" name="Group 72">
              <a:extLst>
                <a:ext uri="{FF2B5EF4-FFF2-40B4-BE49-F238E27FC236}">
                  <a16:creationId xmlns:a16="http://schemas.microsoft.com/office/drawing/2014/main" id="{38AA6DD1-10D5-4A55-88D1-FBEF3CC3E4C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880" y="1248"/>
              <a:ext cx="325" cy="289"/>
              <a:chOff x="2600" y="1509"/>
              <a:chExt cx="325" cy="289"/>
            </a:xfrm>
          </p:grpSpPr>
          <p:sp>
            <p:nvSpPr>
              <p:cNvPr id="81" name="Freeform 73">
                <a:extLst>
                  <a:ext uri="{FF2B5EF4-FFF2-40B4-BE49-F238E27FC236}">
                    <a16:creationId xmlns:a16="http://schemas.microsoft.com/office/drawing/2014/main" id="{D82EFF2D-E1A2-48DF-AC47-9EE58070A3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0" y="1509"/>
                <a:ext cx="162" cy="289"/>
              </a:xfrm>
              <a:custGeom>
                <a:avLst/>
                <a:gdLst>
                  <a:gd name="T0" fmla="*/ 161 w 162"/>
                  <a:gd name="T1" fmla="*/ 0 h 289"/>
                  <a:gd name="T2" fmla="*/ 0 w 162"/>
                  <a:gd name="T3" fmla="*/ 0 h 289"/>
                  <a:gd name="T4" fmla="*/ 0 w 162"/>
                  <a:gd name="T5" fmla="*/ 288 h 289"/>
                  <a:gd name="T6" fmla="*/ 161 w 162"/>
                  <a:gd name="T7" fmla="*/ 288 h 28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2" h="289">
                    <a:moveTo>
                      <a:pt x="161" y="0"/>
                    </a:moveTo>
                    <a:lnTo>
                      <a:pt x="0" y="0"/>
                    </a:lnTo>
                    <a:lnTo>
                      <a:pt x="0" y="288"/>
                    </a:lnTo>
                    <a:lnTo>
                      <a:pt x="161" y="288"/>
                    </a:lnTo>
                  </a:path>
                </a:pathLst>
              </a:custGeom>
              <a:noFill/>
              <a:ln w="25400" cap="rnd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dirty="0">
                  <a:ea typeface="SimHei" panose="02010609060101010101" pitchFamily="49" charset="-122"/>
                </a:endParaRPr>
              </a:p>
            </p:txBody>
          </p:sp>
          <p:sp>
            <p:nvSpPr>
              <p:cNvPr id="82" name="Freeform 74">
                <a:extLst>
                  <a:ext uri="{FF2B5EF4-FFF2-40B4-BE49-F238E27FC236}">
                    <a16:creationId xmlns:a16="http://schemas.microsoft.com/office/drawing/2014/main" id="{45F3988C-15E5-4C76-A699-B19E7E9CB9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1" y="1509"/>
                <a:ext cx="164" cy="289"/>
              </a:xfrm>
              <a:custGeom>
                <a:avLst/>
                <a:gdLst>
                  <a:gd name="T0" fmla="*/ 0 w 164"/>
                  <a:gd name="T1" fmla="*/ 0 h 289"/>
                  <a:gd name="T2" fmla="*/ 163 w 164"/>
                  <a:gd name="T3" fmla="*/ 0 h 289"/>
                  <a:gd name="T4" fmla="*/ 163 w 164"/>
                  <a:gd name="T5" fmla="*/ 288 h 289"/>
                  <a:gd name="T6" fmla="*/ 0 w 164"/>
                  <a:gd name="T7" fmla="*/ 288 h 28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4" h="289">
                    <a:moveTo>
                      <a:pt x="0" y="0"/>
                    </a:moveTo>
                    <a:lnTo>
                      <a:pt x="163" y="0"/>
                    </a:lnTo>
                    <a:lnTo>
                      <a:pt x="163" y="288"/>
                    </a:lnTo>
                    <a:lnTo>
                      <a:pt x="0" y="288"/>
                    </a:lnTo>
                  </a:path>
                </a:pathLst>
              </a:custGeom>
              <a:noFill/>
              <a:ln w="25400" cap="rnd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dirty="0">
                  <a:ea typeface="SimHei" panose="02010609060101010101" pitchFamily="49" charset="-122"/>
                </a:endParaRPr>
              </a:p>
            </p:txBody>
          </p:sp>
        </p:grpSp>
        <p:sp>
          <p:nvSpPr>
            <p:cNvPr id="68" name="Rectangle 75">
              <a:extLst>
                <a:ext uri="{FF2B5EF4-FFF2-40B4-BE49-F238E27FC236}">
                  <a16:creationId xmlns:a16="http://schemas.microsoft.com/office/drawing/2014/main" id="{E68A59E3-056C-41D6-A7FE-C2DB2232CB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21" y="1250"/>
              <a:ext cx="355" cy="21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73" tIns="44442" rIns="90473" bIns="44442">
              <a:spAutoFit/>
            </a:bodyPr>
            <a:lstStyle/>
            <a:p>
              <a:pPr eaLnBrk="0" hangingPunct="0"/>
              <a:r>
                <a:rPr lang="en-US" altLang="zh-CN" sz="1600" dirty="0">
                  <a:latin typeface="Arial" pitchFamily="34" charset="0"/>
                  <a:ea typeface="SimHei" panose="02010609060101010101" pitchFamily="49" charset="-122"/>
                </a:rPr>
                <a:t>Reg</a:t>
              </a:r>
            </a:p>
          </p:txBody>
        </p:sp>
        <p:grpSp>
          <p:nvGrpSpPr>
            <p:cNvPr id="69" name="Group 76">
              <a:extLst>
                <a:ext uri="{FF2B5EF4-FFF2-40B4-BE49-F238E27FC236}">
                  <a16:creationId xmlns:a16="http://schemas.microsoft.com/office/drawing/2014/main" id="{B7D1D81F-CFED-4069-BB81-5E577982BF5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348" y="1248"/>
              <a:ext cx="284" cy="289"/>
              <a:chOff x="3068" y="1509"/>
              <a:chExt cx="284" cy="289"/>
            </a:xfrm>
          </p:grpSpPr>
          <p:sp>
            <p:nvSpPr>
              <p:cNvPr id="79" name="Freeform 77">
                <a:extLst>
                  <a:ext uri="{FF2B5EF4-FFF2-40B4-BE49-F238E27FC236}">
                    <a16:creationId xmlns:a16="http://schemas.microsoft.com/office/drawing/2014/main" id="{C885921D-0F56-4356-8C45-850B273282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8" y="1509"/>
                <a:ext cx="142" cy="289"/>
              </a:xfrm>
              <a:custGeom>
                <a:avLst/>
                <a:gdLst>
                  <a:gd name="T0" fmla="*/ 141 w 142"/>
                  <a:gd name="T1" fmla="*/ 0 h 289"/>
                  <a:gd name="T2" fmla="*/ 0 w 142"/>
                  <a:gd name="T3" fmla="*/ 0 h 289"/>
                  <a:gd name="T4" fmla="*/ 0 w 142"/>
                  <a:gd name="T5" fmla="*/ 288 h 289"/>
                  <a:gd name="T6" fmla="*/ 141 w 142"/>
                  <a:gd name="T7" fmla="*/ 288 h 28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2" h="289">
                    <a:moveTo>
                      <a:pt x="141" y="0"/>
                    </a:moveTo>
                    <a:lnTo>
                      <a:pt x="0" y="0"/>
                    </a:lnTo>
                    <a:lnTo>
                      <a:pt x="0" y="288"/>
                    </a:lnTo>
                    <a:lnTo>
                      <a:pt x="141" y="288"/>
                    </a:lnTo>
                  </a:path>
                </a:pathLst>
              </a:custGeom>
              <a:noFill/>
              <a:ln w="25400" cap="rnd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dirty="0">
                  <a:ea typeface="SimHei" panose="02010609060101010101" pitchFamily="49" charset="-122"/>
                </a:endParaRPr>
              </a:p>
            </p:txBody>
          </p:sp>
          <p:sp>
            <p:nvSpPr>
              <p:cNvPr id="80" name="Freeform 78">
                <a:extLst>
                  <a:ext uri="{FF2B5EF4-FFF2-40B4-BE49-F238E27FC236}">
                    <a16:creationId xmlns:a16="http://schemas.microsoft.com/office/drawing/2014/main" id="{06D309C6-277A-4D4A-B489-C4CBB8778F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9" y="1509"/>
                <a:ext cx="143" cy="289"/>
              </a:xfrm>
              <a:custGeom>
                <a:avLst/>
                <a:gdLst>
                  <a:gd name="T0" fmla="*/ 0 w 143"/>
                  <a:gd name="T1" fmla="*/ 0 h 289"/>
                  <a:gd name="T2" fmla="*/ 142 w 143"/>
                  <a:gd name="T3" fmla="*/ 0 h 289"/>
                  <a:gd name="T4" fmla="*/ 142 w 143"/>
                  <a:gd name="T5" fmla="*/ 288 h 289"/>
                  <a:gd name="T6" fmla="*/ 0 w 143"/>
                  <a:gd name="T7" fmla="*/ 288 h 28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3" h="289">
                    <a:moveTo>
                      <a:pt x="0" y="0"/>
                    </a:moveTo>
                    <a:lnTo>
                      <a:pt x="142" y="0"/>
                    </a:lnTo>
                    <a:lnTo>
                      <a:pt x="142" y="288"/>
                    </a:lnTo>
                    <a:lnTo>
                      <a:pt x="0" y="288"/>
                    </a:lnTo>
                  </a:path>
                </a:pathLst>
              </a:custGeom>
              <a:noFill/>
              <a:ln w="25400" cap="rnd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dirty="0">
                  <a:ea typeface="SimHei" panose="02010609060101010101" pitchFamily="49" charset="-122"/>
                </a:endParaRPr>
              </a:p>
            </p:txBody>
          </p:sp>
        </p:grpSp>
        <p:sp>
          <p:nvSpPr>
            <p:cNvPr id="70" name="Line 79">
              <a:extLst>
                <a:ext uri="{FF2B5EF4-FFF2-40B4-BE49-F238E27FC236}">
                  <a16:creationId xmlns:a16="http://schemas.microsoft.com/office/drawing/2014/main" id="{96D11B63-26FF-4308-86AD-79BE5C80C17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01" y="1392"/>
              <a:ext cx="139" cy="0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71" name="Line 80">
              <a:extLst>
                <a:ext uri="{FF2B5EF4-FFF2-40B4-BE49-F238E27FC236}">
                  <a16:creationId xmlns:a16="http://schemas.microsoft.com/office/drawing/2014/main" id="{12B2406A-D1A5-494B-9E4F-B8BA3D13CD3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717" y="1392"/>
              <a:ext cx="155" cy="0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72" name="Line 81">
              <a:extLst>
                <a:ext uri="{FF2B5EF4-FFF2-40B4-BE49-F238E27FC236}">
                  <a16:creationId xmlns:a16="http://schemas.microsoft.com/office/drawing/2014/main" id="{FCCF36BA-D758-4433-9406-D26F74F3AEA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332" y="1488"/>
              <a:ext cx="157" cy="0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73" name="Line 82">
              <a:extLst>
                <a:ext uri="{FF2B5EF4-FFF2-40B4-BE49-F238E27FC236}">
                  <a16:creationId xmlns:a16="http://schemas.microsoft.com/office/drawing/2014/main" id="{95348C6D-0943-4491-9DCC-8C94344AF3C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416" y="1488"/>
              <a:ext cx="0" cy="192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74" name="Line 83">
              <a:extLst>
                <a:ext uri="{FF2B5EF4-FFF2-40B4-BE49-F238E27FC236}">
                  <a16:creationId xmlns:a16="http://schemas.microsoft.com/office/drawing/2014/main" id="{CC282474-264C-4D01-9550-87DEBBF6C80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416" y="1680"/>
              <a:ext cx="336" cy="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75" name="Line 84">
              <a:extLst>
                <a:ext uri="{FF2B5EF4-FFF2-40B4-BE49-F238E27FC236}">
                  <a16:creationId xmlns:a16="http://schemas.microsoft.com/office/drawing/2014/main" id="{8737ED4C-AA6F-41BE-8085-E6C31716431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752" y="1392"/>
              <a:ext cx="0" cy="288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76" name="Line 85">
              <a:extLst>
                <a:ext uri="{FF2B5EF4-FFF2-40B4-BE49-F238E27FC236}">
                  <a16:creationId xmlns:a16="http://schemas.microsoft.com/office/drawing/2014/main" id="{CCDED69A-4D73-414B-AB41-C405FA4565F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832" y="1392"/>
              <a:ext cx="0" cy="24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77" name="Line 86">
              <a:extLst>
                <a:ext uri="{FF2B5EF4-FFF2-40B4-BE49-F238E27FC236}">
                  <a16:creationId xmlns:a16="http://schemas.microsoft.com/office/drawing/2014/main" id="{21964BF5-49A3-42ED-BBBC-CCA51AE52E5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32" y="1632"/>
              <a:ext cx="432" cy="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78" name="Line 87">
              <a:extLst>
                <a:ext uri="{FF2B5EF4-FFF2-40B4-BE49-F238E27FC236}">
                  <a16:creationId xmlns:a16="http://schemas.microsoft.com/office/drawing/2014/main" id="{ACDADA44-8FB9-4BB9-AD2E-FA1B1D0D3DC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64" y="1392"/>
              <a:ext cx="0" cy="24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</p:grpSp>
      <p:grpSp>
        <p:nvGrpSpPr>
          <p:cNvPr id="91" name="Group 88">
            <a:extLst>
              <a:ext uri="{FF2B5EF4-FFF2-40B4-BE49-F238E27FC236}">
                <a16:creationId xmlns:a16="http://schemas.microsoft.com/office/drawing/2014/main" id="{EE5390D2-94F4-45FD-83A9-80EE3A160CC0}"/>
              </a:ext>
            </a:extLst>
          </p:cNvPr>
          <p:cNvGrpSpPr>
            <a:grpSpLocks/>
          </p:cNvGrpSpPr>
          <p:nvPr/>
        </p:nvGrpSpPr>
        <p:grpSpPr bwMode="auto">
          <a:xfrm>
            <a:off x="4189420" y="3856038"/>
            <a:ext cx="3355967" cy="838200"/>
            <a:chOff x="1561" y="1152"/>
            <a:chExt cx="2115" cy="528"/>
          </a:xfrm>
        </p:grpSpPr>
        <p:grpSp>
          <p:nvGrpSpPr>
            <p:cNvPr id="92" name="Group 89">
              <a:extLst>
                <a:ext uri="{FF2B5EF4-FFF2-40B4-BE49-F238E27FC236}">
                  <a16:creationId xmlns:a16="http://schemas.microsoft.com/office/drawing/2014/main" id="{C28B7F67-48D3-4D23-9EF6-5E1A5FFFD68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486" y="1152"/>
              <a:ext cx="224" cy="481"/>
              <a:chOff x="2206" y="1413"/>
              <a:chExt cx="224" cy="481"/>
            </a:xfrm>
          </p:grpSpPr>
          <p:sp>
            <p:nvSpPr>
              <p:cNvPr id="122" name="Freeform 90">
                <a:extLst>
                  <a:ext uri="{FF2B5EF4-FFF2-40B4-BE49-F238E27FC236}">
                    <a16:creationId xmlns:a16="http://schemas.microsoft.com/office/drawing/2014/main" id="{686FE5A4-17D7-491D-8440-D892D54564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7" y="1413"/>
                <a:ext cx="213" cy="481"/>
              </a:xfrm>
              <a:custGeom>
                <a:avLst/>
                <a:gdLst>
                  <a:gd name="T0" fmla="*/ 0 w 213"/>
                  <a:gd name="T1" fmla="*/ 320 h 481"/>
                  <a:gd name="T2" fmla="*/ 71 w 213"/>
                  <a:gd name="T3" fmla="*/ 240 h 481"/>
                  <a:gd name="T4" fmla="*/ 0 w 213"/>
                  <a:gd name="T5" fmla="*/ 160 h 481"/>
                  <a:gd name="T6" fmla="*/ 0 w 213"/>
                  <a:gd name="T7" fmla="*/ 0 h 481"/>
                  <a:gd name="T8" fmla="*/ 212 w 213"/>
                  <a:gd name="T9" fmla="*/ 160 h 481"/>
                  <a:gd name="T10" fmla="*/ 212 w 213"/>
                  <a:gd name="T11" fmla="*/ 320 h 481"/>
                  <a:gd name="T12" fmla="*/ 0 w 213"/>
                  <a:gd name="T13" fmla="*/ 480 h 481"/>
                  <a:gd name="T14" fmla="*/ 0 w 213"/>
                  <a:gd name="T15" fmla="*/ 320 h 48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13" h="481">
                    <a:moveTo>
                      <a:pt x="0" y="320"/>
                    </a:moveTo>
                    <a:lnTo>
                      <a:pt x="71" y="240"/>
                    </a:lnTo>
                    <a:lnTo>
                      <a:pt x="0" y="160"/>
                    </a:lnTo>
                    <a:lnTo>
                      <a:pt x="0" y="0"/>
                    </a:lnTo>
                    <a:lnTo>
                      <a:pt x="212" y="160"/>
                    </a:lnTo>
                    <a:lnTo>
                      <a:pt x="212" y="320"/>
                    </a:lnTo>
                    <a:lnTo>
                      <a:pt x="0" y="480"/>
                    </a:lnTo>
                    <a:lnTo>
                      <a:pt x="0" y="320"/>
                    </a:lnTo>
                  </a:path>
                </a:pathLst>
              </a:custGeom>
              <a:noFill/>
              <a:ln w="25400" cap="rnd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dirty="0">
                  <a:ea typeface="SimHei" panose="02010609060101010101" pitchFamily="49" charset="-122"/>
                </a:endParaRPr>
              </a:p>
            </p:txBody>
          </p:sp>
          <p:sp>
            <p:nvSpPr>
              <p:cNvPr id="123" name="Rectangle 91">
                <a:extLst>
                  <a:ext uri="{FF2B5EF4-FFF2-40B4-BE49-F238E27FC236}">
                    <a16:creationId xmlns:a16="http://schemas.microsoft.com/office/drawing/2014/main" id="{ECC640B3-7FA8-4C98-9A83-04624FA65A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5400000">
                <a:off x="2124" y="1532"/>
                <a:ext cx="376" cy="211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12700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lIns="90473" tIns="44442" rIns="90473" bIns="44442">
                <a:spAutoFit/>
              </a:bodyPr>
              <a:lstStyle/>
              <a:p>
                <a:pPr eaLnBrk="0" hangingPunct="0"/>
                <a:r>
                  <a:rPr lang="en-US" altLang="zh-CN" sz="1600" dirty="0">
                    <a:latin typeface="Arial" pitchFamily="34" charset="0"/>
                    <a:ea typeface="SimHei" panose="02010609060101010101" pitchFamily="49" charset="-122"/>
                  </a:rPr>
                  <a:t>ALU</a:t>
                </a:r>
              </a:p>
            </p:txBody>
          </p:sp>
        </p:grpSp>
        <p:grpSp>
          <p:nvGrpSpPr>
            <p:cNvPr id="93" name="Group 92">
              <a:extLst>
                <a:ext uri="{FF2B5EF4-FFF2-40B4-BE49-F238E27FC236}">
                  <a16:creationId xmlns:a16="http://schemas.microsoft.com/office/drawing/2014/main" id="{3061C1BC-06ED-4BE8-B86F-339009DADCD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561" y="1248"/>
              <a:ext cx="350" cy="289"/>
              <a:chOff x="1281" y="1509"/>
              <a:chExt cx="350" cy="289"/>
            </a:xfrm>
          </p:grpSpPr>
          <p:sp>
            <p:nvSpPr>
              <p:cNvPr id="118" name="Rectangle 93">
                <a:extLst>
                  <a:ext uri="{FF2B5EF4-FFF2-40B4-BE49-F238E27FC236}">
                    <a16:creationId xmlns:a16="http://schemas.microsoft.com/office/drawing/2014/main" id="{BCDE1247-F8DC-426A-AFB2-D5F3E938DA5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81" y="1511"/>
                <a:ext cx="260" cy="21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12700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lIns="90473" tIns="44442" rIns="90473" bIns="44442">
                <a:spAutoFit/>
              </a:bodyPr>
              <a:lstStyle/>
              <a:p>
                <a:pPr algn="ctr" eaLnBrk="0" hangingPunct="0"/>
                <a:r>
                  <a:rPr lang="en-US" altLang="zh-CN" sz="1600" dirty="0">
                    <a:latin typeface="Arial" pitchFamily="34" charset="0"/>
                    <a:ea typeface="SimHei" panose="02010609060101010101" pitchFamily="49" charset="-122"/>
                  </a:rPr>
                  <a:t>IM</a:t>
                </a:r>
              </a:p>
            </p:txBody>
          </p:sp>
          <p:grpSp>
            <p:nvGrpSpPr>
              <p:cNvPr id="119" name="Group 94">
                <a:extLst>
                  <a:ext uri="{FF2B5EF4-FFF2-40B4-BE49-F238E27FC236}">
                    <a16:creationId xmlns:a16="http://schemas.microsoft.com/office/drawing/2014/main" id="{47507439-A74C-4F36-910E-24C4476C0C2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291" y="1509"/>
                <a:ext cx="340" cy="289"/>
                <a:chOff x="1291" y="1509"/>
                <a:chExt cx="340" cy="289"/>
              </a:xfrm>
            </p:grpSpPr>
            <p:sp>
              <p:nvSpPr>
                <p:cNvPr id="120" name="Freeform 95">
                  <a:extLst>
                    <a:ext uri="{FF2B5EF4-FFF2-40B4-BE49-F238E27FC236}">
                      <a16:creationId xmlns:a16="http://schemas.microsoft.com/office/drawing/2014/main" id="{079AAC16-F5B7-4B97-B881-A2E24263E1B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291" y="1509"/>
                  <a:ext cx="170" cy="289"/>
                </a:xfrm>
                <a:custGeom>
                  <a:avLst/>
                  <a:gdLst>
                    <a:gd name="T0" fmla="*/ 169 w 170"/>
                    <a:gd name="T1" fmla="*/ 0 h 289"/>
                    <a:gd name="T2" fmla="*/ 0 w 170"/>
                    <a:gd name="T3" fmla="*/ 0 h 289"/>
                    <a:gd name="T4" fmla="*/ 0 w 170"/>
                    <a:gd name="T5" fmla="*/ 288 h 289"/>
                    <a:gd name="T6" fmla="*/ 169 w 170"/>
                    <a:gd name="T7" fmla="*/ 288 h 289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170" h="289">
                      <a:moveTo>
                        <a:pt x="169" y="0"/>
                      </a:moveTo>
                      <a:lnTo>
                        <a:pt x="0" y="0"/>
                      </a:lnTo>
                      <a:lnTo>
                        <a:pt x="0" y="288"/>
                      </a:lnTo>
                      <a:lnTo>
                        <a:pt x="169" y="288"/>
                      </a:lnTo>
                    </a:path>
                  </a:pathLst>
                </a:custGeom>
                <a:noFill/>
                <a:ln w="25400" cap="rnd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zh-CN" altLang="en-US" dirty="0">
                    <a:ea typeface="SimHei" panose="02010609060101010101" pitchFamily="49" charset="-122"/>
                  </a:endParaRPr>
                </a:p>
              </p:txBody>
            </p:sp>
            <p:sp>
              <p:nvSpPr>
                <p:cNvPr id="121" name="Freeform 96">
                  <a:extLst>
                    <a:ext uri="{FF2B5EF4-FFF2-40B4-BE49-F238E27FC236}">
                      <a16:creationId xmlns:a16="http://schemas.microsoft.com/office/drawing/2014/main" id="{DEBE5EE2-C7A2-4943-9152-94EB777318A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460" y="1509"/>
                  <a:ext cx="171" cy="289"/>
                </a:xfrm>
                <a:custGeom>
                  <a:avLst/>
                  <a:gdLst>
                    <a:gd name="T0" fmla="*/ 0 w 171"/>
                    <a:gd name="T1" fmla="*/ 0 h 289"/>
                    <a:gd name="T2" fmla="*/ 170 w 171"/>
                    <a:gd name="T3" fmla="*/ 0 h 289"/>
                    <a:gd name="T4" fmla="*/ 170 w 171"/>
                    <a:gd name="T5" fmla="*/ 288 h 289"/>
                    <a:gd name="T6" fmla="*/ 0 w 171"/>
                    <a:gd name="T7" fmla="*/ 288 h 289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171" h="289">
                      <a:moveTo>
                        <a:pt x="0" y="0"/>
                      </a:moveTo>
                      <a:lnTo>
                        <a:pt x="170" y="0"/>
                      </a:lnTo>
                      <a:lnTo>
                        <a:pt x="170" y="288"/>
                      </a:lnTo>
                      <a:lnTo>
                        <a:pt x="0" y="288"/>
                      </a:lnTo>
                    </a:path>
                  </a:pathLst>
                </a:custGeom>
                <a:noFill/>
                <a:ln w="25400" cap="rnd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zh-CN" altLang="en-US" dirty="0">
                    <a:ea typeface="SimHei" panose="02010609060101010101" pitchFamily="49" charset="-122"/>
                  </a:endParaRPr>
                </a:p>
              </p:txBody>
            </p:sp>
          </p:grpSp>
        </p:grpSp>
        <p:sp>
          <p:nvSpPr>
            <p:cNvPr id="94" name="Rectangle 97">
              <a:extLst>
                <a:ext uri="{FF2B5EF4-FFF2-40B4-BE49-F238E27FC236}">
                  <a16:creationId xmlns:a16="http://schemas.microsoft.com/office/drawing/2014/main" id="{82FCE989-9B92-435D-9873-1DED757B15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12" y="1255"/>
              <a:ext cx="355" cy="21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73" tIns="44442" rIns="90473" bIns="44442">
              <a:spAutoFit/>
            </a:bodyPr>
            <a:lstStyle/>
            <a:p>
              <a:pPr eaLnBrk="0" hangingPunct="0"/>
              <a:r>
                <a:rPr lang="en-US" altLang="zh-CN" sz="1600" dirty="0">
                  <a:latin typeface="Arial" pitchFamily="34" charset="0"/>
                  <a:ea typeface="SimHei" panose="02010609060101010101" pitchFamily="49" charset="-122"/>
                </a:rPr>
                <a:t>Reg</a:t>
              </a:r>
            </a:p>
          </p:txBody>
        </p:sp>
        <p:grpSp>
          <p:nvGrpSpPr>
            <p:cNvPr id="95" name="Group 98">
              <a:extLst>
                <a:ext uri="{FF2B5EF4-FFF2-40B4-BE49-F238E27FC236}">
                  <a16:creationId xmlns:a16="http://schemas.microsoft.com/office/drawing/2014/main" id="{EC73FC4F-C732-4A06-AE6C-251B63D99C4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031" y="1248"/>
              <a:ext cx="296" cy="289"/>
              <a:chOff x="1751" y="1509"/>
              <a:chExt cx="296" cy="289"/>
            </a:xfrm>
          </p:grpSpPr>
          <p:sp>
            <p:nvSpPr>
              <p:cNvPr id="116" name="Freeform 99">
                <a:extLst>
                  <a:ext uri="{FF2B5EF4-FFF2-40B4-BE49-F238E27FC236}">
                    <a16:creationId xmlns:a16="http://schemas.microsoft.com/office/drawing/2014/main" id="{20E9DA77-762B-46B4-A65D-2A957A25C1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1" y="1509"/>
                <a:ext cx="149" cy="289"/>
              </a:xfrm>
              <a:custGeom>
                <a:avLst/>
                <a:gdLst>
                  <a:gd name="T0" fmla="*/ 148 w 149"/>
                  <a:gd name="T1" fmla="*/ 0 h 289"/>
                  <a:gd name="T2" fmla="*/ 0 w 149"/>
                  <a:gd name="T3" fmla="*/ 0 h 289"/>
                  <a:gd name="T4" fmla="*/ 0 w 149"/>
                  <a:gd name="T5" fmla="*/ 288 h 289"/>
                  <a:gd name="T6" fmla="*/ 148 w 149"/>
                  <a:gd name="T7" fmla="*/ 288 h 28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9" h="289">
                    <a:moveTo>
                      <a:pt x="148" y="0"/>
                    </a:moveTo>
                    <a:lnTo>
                      <a:pt x="0" y="0"/>
                    </a:lnTo>
                    <a:lnTo>
                      <a:pt x="0" y="288"/>
                    </a:lnTo>
                    <a:lnTo>
                      <a:pt x="148" y="288"/>
                    </a:lnTo>
                  </a:path>
                </a:pathLst>
              </a:custGeom>
              <a:noFill/>
              <a:ln w="25400" cap="rnd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dirty="0">
                  <a:ea typeface="SimHei" panose="02010609060101010101" pitchFamily="49" charset="-122"/>
                </a:endParaRPr>
              </a:p>
            </p:txBody>
          </p:sp>
          <p:sp>
            <p:nvSpPr>
              <p:cNvPr id="117" name="Freeform 100">
                <a:extLst>
                  <a:ext uri="{FF2B5EF4-FFF2-40B4-BE49-F238E27FC236}">
                    <a16:creationId xmlns:a16="http://schemas.microsoft.com/office/drawing/2014/main" id="{2F5D52DC-D724-4778-AB58-D48E1E6BD7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9" y="1509"/>
                <a:ext cx="148" cy="289"/>
              </a:xfrm>
              <a:custGeom>
                <a:avLst/>
                <a:gdLst>
                  <a:gd name="T0" fmla="*/ 0 w 148"/>
                  <a:gd name="T1" fmla="*/ 0 h 289"/>
                  <a:gd name="T2" fmla="*/ 147 w 148"/>
                  <a:gd name="T3" fmla="*/ 0 h 289"/>
                  <a:gd name="T4" fmla="*/ 147 w 148"/>
                  <a:gd name="T5" fmla="*/ 288 h 289"/>
                  <a:gd name="T6" fmla="*/ 0 w 148"/>
                  <a:gd name="T7" fmla="*/ 288 h 28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8" h="289">
                    <a:moveTo>
                      <a:pt x="0" y="0"/>
                    </a:moveTo>
                    <a:lnTo>
                      <a:pt x="147" y="0"/>
                    </a:lnTo>
                    <a:lnTo>
                      <a:pt x="147" y="288"/>
                    </a:lnTo>
                    <a:lnTo>
                      <a:pt x="0" y="288"/>
                    </a:lnTo>
                  </a:path>
                </a:pathLst>
              </a:custGeom>
              <a:noFill/>
              <a:ln w="25400" cap="rnd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dirty="0">
                  <a:ea typeface="SimHei" panose="02010609060101010101" pitchFamily="49" charset="-122"/>
                </a:endParaRPr>
              </a:p>
            </p:txBody>
          </p:sp>
        </p:grpSp>
        <p:sp>
          <p:nvSpPr>
            <p:cNvPr id="96" name="Line 101">
              <a:extLst>
                <a:ext uri="{FF2B5EF4-FFF2-40B4-BE49-F238E27FC236}">
                  <a16:creationId xmlns:a16="http://schemas.microsoft.com/office/drawing/2014/main" id="{88DF5ACC-C742-4C87-BFF7-5B9BD842E59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916" y="1392"/>
              <a:ext cx="116" cy="0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97" name="Freeform 102">
              <a:extLst>
                <a:ext uri="{FF2B5EF4-FFF2-40B4-BE49-F238E27FC236}">
                  <a16:creationId xmlns:a16="http://schemas.microsoft.com/office/drawing/2014/main" id="{9166896D-5A9A-4548-B5BA-7AA38220FF2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4" y="1296"/>
              <a:ext cx="48" cy="97"/>
            </a:xfrm>
            <a:custGeom>
              <a:avLst/>
              <a:gdLst>
                <a:gd name="T0" fmla="*/ 0 w 48"/>
                <a:gd name="T1" fmla="*/ 96 h 97"/>
                <a:gd name="T2" fmla="*/ 0 w 48"/>
                <a:gd name="T3" fmla="*/ 0 h 97"/>
                <a:gd name="T4" fmla="*/ 47 w 48"/>
                <a:gd name="T5" fmla="*/ 0 h 97"/>
                <a:gd name="T6" fmla="*/ 47 w 48"/>
                <a:gd name="T7" fmla="*/ 0 h 9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8" h="97">
                  <a:moveTo>
                    <a:pt x="0" y="96"/>
                  </a:moveTo>
                  <a:lnTo>
                    <a:pt x="0" y="0"/>
                  </a:lnTo>
                  <a:lnTo>
                    <a:pt x="47" y="0"/>
                  </a:lnTo>
                </a:path>
              </a:pathLst>
            </a:custGeom>
            <a:noFill/>
            <a:ln w="25400" cap="rnd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98" name="Line 103">
              <a:extLst>
                <a:ext uri="{FF2B5EF4-FFF2-40B4-BE49-F238E27FC236}">
                  <a16:creationId xmlns:a16="http://schemas.microsoft.com/office/drawing/2014/main" id="{6744BCB7-E12A-49DF-933A-9B6155CE23A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332" y="1296"/>
              <a:ext cx="157" cy="0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99" name="Rectangle 104">
              <a:extLst>
                <a:ext uri="{FF2B5EF4-FFF2-40B4-BE49-F238E27FC236}">
                  <a16:creationId xmlns:a16="http://schemas.microsoft.com/office/drawing/2014/main" id="{1C2D698F-1079-410A-A83B-B30C792BE2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29" y="1250"/>
              <a:ext cx="316" cy="2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73" tIns="44442" rIns="90473" bIns="44442">
              <a:spAutoFit/>
            </a:bodyPr>
            <a:lstStyle/>
            <a:p>
              <a:pPr eaLnBrk="0" hangingPunct="0"/>
              <a:r>
                <a:rPr lang="en-US" altLang="zh-CN" sz="1600" dirty="0">
                  <a:latin typeface="Arial" pitchFamily="34" charset="0"/>
                  <a:ea typeface="SimHei" panose="02010609060101010101" pitchFamily="49" charset="-122"/>
                </a:rPr>
                <a:t>DM</a:t>
              </a:r>
            </a:p>
          </p:txBody>
        </p:sp>
        <p:grpSp>
          <p:nvGrpSpPr>
            <p:cNvPr id="100" name="Group 105">
              <a:extLst>
                <a:ext uri="{FF2B5EF4-FFF2-40B4-BE49-F238E27FC236}">
                  <a16:creationId xmlns:a16="http://schemas.microsoft.com/office/drawing/2014/main" id="{37E1C5FD-7F59-42CA-B86C-D87B610AB4C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880" y="1248"/>
              <a:ext cx="325" cy="289"/>
              <a:chOff x="2600" y="1509"/>
              <a:chExt cx="325" cy="289"/>
            </a:xfrm>
          </p:grpSpPr>
          <p:sp>
            <p:nvSpPr>
              <p:cNvPr id="114" name="Freeform 106">
                <a:extLst>
                  <a:ext uri="{FF2B5EF4-FFF2-40B4-BE49-F238E27FC236}">
                    <a16:creationId xmlns:a16="http://schemas.microsoft.com/office/drawing/2014/main" id="{E4060EEB-FDAA-4F41-A610-7913B2C8EE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0" y="1509"/>
                <a:ext cx="162" cy="289"/>
              </a:xfrm>
              <a:custGeom>
                <a:avLst/>
                <a:gdLst>
                  <a:gd name="T0" fmla="*/ 161 w 162"/>
                  <a:gd name="T1" fmla="*/ 0 h 289"/>
                  <a:gd name="T2" fmla="*/ 0 w 162"/>
                  <a:gd name="T3" fmla="*/ 0 h 289"/>
                  <a:gd name="T4" fmla="*/ 0 w 162"/>
                  <a:gd name="T5" fmla="*/ 288 h 289"/>
                  <a:gd name="T6" fmla="*/ 161 w 162"/>
                  <a:gd name="T7" fmla="*/ 288 h 28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2" h="289">
                    <a:moveTo>
                      <a:pt x="161" y="0"/>
                    </a:moveTo>
                    <a:lnTo>
                      <a:pt x="0" y="0"/>
                    </a:lnTo>
                    <a:lnTo>
                      <a:pt x="0" y="288"/>
                    </a:lnTo>
                    <a:lnTo>
                      <a:pt x="161" y="288"/>
                    </a:lnTo>
                  </a:path>
                </a:pathLst>
              </a:custGeom>
              <a:noFill/>
              <a:ln w="25400" cap="rnd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dirty="0">
                  <a:ea typeface="SimHei" panose="02010609060101010101" pitchFamily="49" charset="-122"/>
                </a:endParaRPr>
              </a:p>
            </p:txBody>
          </p:sp>
          <p:sp>
            <p:nvSpPr>
              <p:cNvPr id="115" name="Freeform 107">
                <a:extLst>
                  <a:ext uri="{FF2B5EF4-FFF2-40B4-BE49-F238E27FC236}">
                    <a16:creationId xmlns:a16="http://schemas.microsoft.com/office/drawing/2014/main" id="{6C21EC72-A251-4B67-92A6-6482F36E39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1" y="1509"/>
                <a:ext cx="164" cy="289"/>
              </a:xfrm>
              <a:custGeom>
                <a:avLst/>
                <a:gdLst>
                  <a:gd name="T0" fmla="*/ 0 w 164"/>
                  <a:gd name="T1" fmla="*/ 0 h 289"/>
                  <a:gd name="T2" fmla="*/ 163 w 164"/>
                  <a:gd name="T3" fmla="*/ 0 h 289"/>
                  <a:gd name="T4" fmla="*/ 163 w 164"/>
                  <a:gd name="T5" fmla="*/ 288 h 289"/>
                  <a:gd name="T6" fmla="*/ 0 w 164"/>
                  <a:gd name="T7" fmla="*/ 288 h 28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4" h="289">
                    <a:moveTo>
                      <a:pt x="0" y="0"/>
                    </a:moveTo>
                    <a:lnTo>
                      <a:pt x="163" y="0"/>
                    </a:lnTo>
                    <a:lnTo>
                      <a:pt x="163" y="288"/>
                    </a:lnTo>
                    <a:lnTo>
                      <a:pt x="0" y="288"/>
                    </a:lnTo>
                  </a:path>
                </a:pathLst>
              </a:custGeom>
              <a:noFill/>
              <a:ln w="25400" cap="rnd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dirty="0">
                  <a:ea typeface="SimHei" panose="02010609060101010101" pitchFamily="49" charset="-122"/>
                </a:endParaRPr>
              </a:p>
            </p:txBody>
          </p:sp>
        </p:grpSp>
        <p:sp>
          <p:nvSpPr>
            <p:cNvPr id="101" name="Rectangle 108">
              <a:extLst>
                <a:ext uri="{FF2B5EF4-FFF2-40B4-BE49-F238E27FC236}">
                  <a16:creationId xmlns:a16="http://schemas.microsoft.com/office/drawing/2014/main" id="{DC6DF8B5-D347-4EED-B43C-7B5A60FF15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21" y="1250"/>
              <a:ext cx="355" cy="21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73" tIns="44442" rIns="90473" bIns="44442">
              <a:spAutoFit/>
            </a:bodyPr>
            <a:lstStyle/>
            <a:p>
              <a:pPr eaLnBrk="0" hangingPunct="0"/>
              <a:r>
                <a:rPr lang="en-US" altLang="zh-CN" sz="1600" dirty="0">
                  <a:latin typeface="Arial" pitchFamily="34" charset="0"/>
                  <a:ea typeface="SimHei" panose="02010609060101010101" pitchFamily="49" charset="-122"/>
                </a:rPr>
                <a:t>Reg</a:t>
              </a:r>
            </a:p>
          </p:txBody>
        </p:sp>
        <p:grpSp>
          <p:nvGrpSpPr>
            <p:cNvPr id="102" name="Group 109">
              <a:extLst>
                <a:ext uri="{FF2B5EF4-FFF2-40B4-BE49-F238E27FC236}">
                  <a16:creationId xmlns:a16="http://schemas.microsoft.com/office/drawing/2014/main" id="{88D4E023-7059-4348-A65A-75AB431BDC7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348" y="1248"/>
              <a:ext cx="284" cy="289"/>
              <a:chOff x="3068" y="1509"/>
              <a:chExt cx="284" cy="289"/>
            </a:xfrm>
          </p:grpSpPr>
          <p:sp>
            <p:nvSpPr>
              <p:cNvPr id="112" name="Freeform 110">
                <a:extLst>
                  <a:ext uri="{FF2B5EF4-FFF2-40B4-BE49-F238E27FC236}">
                    <a16:creationId xmlns:a16="http://schemas.microsoft.com/office/drawing/2014/main" id="{D1E1C863-CD75-4244-B5FC-E78EED4FBA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8" y="1509"/>
                <a:ext cx="142" cy="289"/>
              </a:xfrm>
              <a:custGeom>
                <a:avLst/>
                <a:gdLst>
                  <a:gd name="T0" fmla="*/ 141 w 142"/>
                  <a:gd name="T1" fmla="*/ 0 h 289"/>
                  <a:gd name="T2" fmla="*/ 0 w 142"/>
                  <a:gd name="T3" fmla="*/ 0 h 289"/>
                  <a:gd name="T4" fmla="*/ 0 w 142"/>
                  <a:gd name="T5" fmla="*/ 288 h 289"/>
                  <a:gd name="T6" fmla="*/ 141 w 142"/>
                  <a:gd name="T7" fmla="*/ 288 h 28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2" h="289">
                    <a:moveTo>
                      <a:pt x="141" y="0"/>
                    </a:moveTo>
                    <a:lnTo>
                      <a:pt x="0" y="0"/>
                    </a:lnTo>
                    <a:lnTo>
                      <a:pt x="0" y="288"/>
                    </a:lnTo>
                    <a:lnTo>
                      <a:pt x="141" y="288"/>
                    </a:lnTo>
                  </a:path>
                </a:pathLst>
              </a:custGeom>
              <a:noFill/>
              <a:ln w="25400" cap="rnd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dirty="0">
                  <a:ea typeface="SimHei" panose="02010609060101010101" pitchFamily="49" charset="-122"/>
                </a:endParaRPr>
              </a:p>
            </p:txBody>
          </p:sp>
          <p:sp>
            <p:nvSpPr>
              <p:cNvPr id="113" name="Freeform 111">
                <a:extLst>
                  <a:ext uri="{FF2B5EF4-FFF2-40B4-BE49-F238E27FC236}">
                    <a16:creationId xmlns:a16="http://schemas.microsoft.com/office/drawing/2014/main" id="{6FB66AEB-40FF-4CD9-BDA3-159067DA12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9" y="1509"/>
                <a:ext cx="143" cy="289"/>
              </a:xfrm>
              <a:custGeom>
                <a:avLst/>
                <a:gdLst>
                  <a:gd name="T0" fmla="*/ 0 w 143"/>
                  <a:gd name="T1" fmla="*/ 0 h 289"/>
                  <a:gd name="T2" fmla="*/ 142 w 143"/>
                  <a:gd name="T3" fmla="*/ 0 h 289"/>
                  <a:gd name="T4" fmla="*/ 142 w 143"/>
                  <a:gd name="T5" fmla="*/ 288 h 289"/>
                  <a:gd name="T6" fmla="*/ 0 w 143"/>
                  <a:gd name="T7" fmla="*/ 288 h 28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3" h="289">
                    <a:moveTo>
                      <a:pt x="0" y="0"/>
                    </a:moveTo>
                    <a:lnTo>
                      <a:pt x="142" y="0"/>
                    </a:lnTo>
                    <a:lnTo>
                      <a:pt x="142" y="288"/>
                    </a:lnTo>
                    <a:lnTo>
                      <a:pt x="0" y="288"/>
                    </a:lnTo>
                  </a:path>
                </a:pathLst>
              </a:custGeom>
              <a:noFill/>
              <a:ln w="25400" cap="rnd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dirty="0">
                  <a:ea typeface="SimHei" panose="02010609060101010101" pitchFamily="49" charset="-122"/>
                </a:endParaRPr>
              </a:p>
            </p:txBody>
          </p:sp>
        </p:grpSp>
        <p:sp>
          <p:nvSpPr>
            <p:cNvPr id="103" name="Line 112">
              <a:extLst>
                <a:ext uri="{FF2B5EF4-FFF2-40B4-BE49-F238E27FC236}">
                  <a16:creationId xmlns:a16="http://schemas.microsoft.com/office/drawing/2014/main" id="{AC5CAA68-CBE5-4CBC-8B0E-5A3BB4670D4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01" y="1392"/>
              <a:ext cx="139" cy="0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104" name="Line 113">
              <a:extLst>
                <a:ext uri="{FF2B5EF4-FFF2-40B4-BE49-F238E27FC236}">
                  <a16:creationId xmlns:a16="http://schemas.microsoft.com/office/drawing/2014/main" id="{5599C47B-95D0-4471-BCA6-F3064601F4F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717" y="1392"/>
              <a:ext cx="155" cy="0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105" name="Line 114">
              <a:extLst>
                <a:ext uri="{FF2B5EF4-FFF2-40B4-BE49-F238E27FC236}">
                  <a16:creationId xmlns:a16="http://schemas.microsoft.com/office/drawing/2014/main" id="{1D7F5D53-51C7-4971-850C-265528FFEFF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332" y="1488"/>
              <a:ext cx="157" cy="0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106" name="Line 115">
              <a:extLst>
                <a:ext uri="{FF2B5EF4-FFF2-40B4-BE49-F238E27FC236}">
                  <a16:creationId xmlns:a16="http://schemas.microsoft.com/office/drawing/2014/main" id="{F65D7F9A-880D-4F69-8EC3-8129BDA909B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416" y="1488"/>
              <a:ext cx="0" cy="192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107" name="Line 116">
              <a:extLst>
                <a:ext uri="{FF2B5EF4-FFF2-40B4-BE49-F238E27FC236}">
                  <a16:creationId xmlns:a16="http://schemas.microsoft.com/office/drawing/2014/main" id="{079EA304-DB19-4658-A84D-6DF3D847FF4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416" y="1680"/>
              <a:ext cx="336" cy="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108" name="Line 117">
              <a:extLst>
                <a:ext uri="{FF2B5EF4-FFF2-40B4-BE49-F238E27FC236}">
                  <a16:creationId xmlns:a16="http://schemas.microsoft.com/office/drawing/2014/main" id="{620709D6-7ABC-4789-925B-69B3BC1E0F7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752" y="1392"/>
              <a:ext cx="0" cy="288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109" name="Line 118">
              <a:extLst>
                <a:ext uri="{FF2B5EF4-FFF2-40B4-BE49-F238E27FC236}">
                  <a16:creationId xmlns:a16="http://schemas.microsoft.com/office/drawing/2014/main" id="{922A3389-9E98-4B5C-B26B-E9F499E1F6F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832" y="1392"/>
              <a:ext cx="0" cy="24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110" name="Line 119">
              <a:extLst>
                <a:ext uri="{FF2B5EF4-FFF2-40B4-BE49-F238E27FC236}">
                  <a16:creationId xmlns:a16="http://schemas.microsoft.com/office/drawing/2014/main" id="{1A3D1E34-D867-4BB3-8CC0-FF5870C712C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32" y="1632"/>
              <a:ext cx="432" cy="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111" name="Line 120">
              <a:extLst>
                <a:ext uri="{FF2B5EF4-FFF2-40B4-BE49-F238E27FC236}">
                  <a16:creationId xmlns:a16="http://schemas.microsoft.com/office/drawing/2014/main" id="{9BBC48AC-1F37-4AED-9463-0CEDFEC37E6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64" y="1392"/>
              <a:ext cx="0" cy="24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</p:grpSp>
      <p:grpSp>
        <p:nvGrpSpPr>
          <p:cNvPr id="124" name="Group 121">
            <a:extLst>
              <a:ext uri="{FF2B5EF4-FFF2-40B4-BE49-F238E27FC236}">
                <a16:creationId xmlns:a16="http://schemas.microsoft.com/office/drawing/2014/main" id="{CC6C9B50-7A40-4E33-8694-564DF006BA90}"/>
              </a:ext>
            </a:extLst>
          </p:cNvPr>
          <p:cNvGrpSpPr>
            <a:grpSpLocks/>
          </p:cNvGrpSpPr>
          <p:nvPr/>
        </p:nvGrpSpPr>
        <p:grpSpPr bwMode="auto">
          <a:xfrm>
            <a:off x="4875213" y="4694238"/>
            <a:ext cx="3357562" cy="838200"/>
            <a:chOff x="1561" y="1152"/>
            <a:chExt cx="2115" cy="528"/>
          </a:xfrm>
        </p:grpSpPr>
        <p:grpSp>
          <p:nvGrpSpPr>
            <p:cNvPr id="125" name="Group 122">
              <a:extLst>
                <a:ext uri="{FF2B5EF4-FFF2-40B4-BE49-F238E27FC236}">
                  <a16:creationId xmlns:a16="http://schemas.microsoft.com/office/drawing/2014/main" id="{281233B4-8EA2-45BE-AF55-3DC235E09D8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487" y="1152"/>
              <a:ext cx="223" cy="481"/>
              <a:chOff x="2207" y="1413"/>
              <a:chExt cx="223" cy="481"/>
            </a:xfrm>
          </p:grpSpPr>
          <p:sp>
            <p:nvSpPr>
              <p:cNvPr id="155" name="Freeform 123">
                <a:extLst>
                  <a:ext uri="{FF2B5EF4-FFF2-40B4-BE49-F238E27FC236}">
                    <a16:creationId xmlns:a16="http://schemas.microsoft.com/office/drawing/2014/main" id="{8D3755BB-A47F-41F3-AAFD-5A4AF2A80F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7" y="1413"/>
                <a:ext cx="213" cy="481"/>
              </a:xfrm>
              <a:custGeom>
                <a:avLst/>
                <a:gdLst>
                  <a:gd name="T0" fmla="*/ 0 w 213"/>
                  <a:gd name="T1" fmla="*/ 320 h 481"/>
                  <a:gd name="T2" fmla="*/ 71 w 213"/>
                  <a:gd name="T3" fmla="*/ 240 h 481"/>
                  <a:gd name="T4" fmla="*/ 0 w 213"/>
                  <a:gd name="T5" fmla="*/ 160 h 481"/>
                  <a:gd name="T6" fmla="*/ 0 w 213"/>
                  <a:gd name="T7" fmla="*/ 0 h 481"/>
                  <a:gd name="T8" fmla="*/ 212 w 213"/>
                  <a:gd name="T9" fmla="*/ 160 h 481"/>
                  <a:gd name="T10" fmla="*/ 212 w 213"/>
                  <a:gd name="T11" fmla="*/ 320 h 481"/>
                  <a:gd name="T12" fmla="*/ 0 w 213"/>
                  <a:gd name="T13" fmla="*/ 480 h 481"/>
                  <a:gd name="T14" fmla="*/ 0 w 213"/>
                  <a:gd name="T15" fmla="*/ 320 h 48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13" h="481">
                    <a:moveTo>
                      <a:pt x="0" y="320"/>
                    </a:moveTo>
                    <a:lnTo>
                      <a:pt x="71" y="240"/>
                    </a:lnTo>
                    <a:lnTo>
                      <a:pt x="0" y="160"/>
                    </a:lnTo>
                    <a:lnTo>
                      <a:pt x="0" y="0"/>
                    </a:lnTo>
                    <a:lnTo>
                      <a:pt x="212" y="160"/>
                    </a:lnTo>
                    <a:lnTo>
                      <a:pt x="212" y="320"/>
                    </a:lnTo>
                    <a:lnTo>
                      <a:pt x="0" y="480"/>
                    </a:lnTo>
                    <a:lnTo>
                      <a:pt x="0" y="320"/>
                    </a:lnTo>
                  </a:path>
                </a:pathLst>
              </a:custGeom>
              <a:noFill/>
              <a:ln w="25400" cap="rnd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dirty="0">
                  <a:ea typeface="SimHei" panose="02010609060101010101" pitchFamily="49" charset="-122"/>
                </a:endParaRPr>
              </a:p>
            </p:txBody>
          </p:sp>
          <p:sp>
            <p:nvSpPr>
              <p:cNvPr id="156" name="Rectangle 124">
                <a:extLst>
                  <a:ext uri="{FF2B5EF4-FFF2-40B4-BE49-F238E27FC236}">
                    <a16:creationId xmlns:a16="http://schemas.microsoft.com/office/drawing/2014/main" id="{A9FA4A02-FC6F-41BD-BD27-F68425576E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5400000">
                <a:off x="2124" y="1533"/>
                <a:ext cx="376" cy="21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12700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lIns="90473" tIns="44442" rIns="90473" bIns="44442">
                <a:spAutoFit/>
              </a:bodyPr>
              <a:lstStyle/>
              <a:p>
                <a:pPr eaLnBrk="0" hangingPunct="0"/>
                <a:r>
                  <a:rPr lang="en-US" altLang="zh-CN" sz="1600" dirty="0">
                    <a:latin typeface="Arial" pitchFamily="34" charset="0"/>
                    <a:ea typeface="SimHei" panose="02010609060101010101" pitchFamily="49" charset="-122"/>
                  </a:rPr>
                  <a:t>ALU</a:t>
                </a:r>
              </a:p>
            </p:txBody>
          </p:sp>
        </p:grpSp>
        <p:grpSp>
          <p:nvGrpSpPr>
            <p:cNvPr id="126" name="Group 125">
              <a:extLst>
                <a:ext uri="{FF2B5EF4-FFF2-40B4-BE49-F238E27FC236}">
                  <a16:creationId xmlns:a16="http://schemas.microsoft.com/office/drawing/2014/main" id="{6D32435B-BD8D-4139-AAE2-E82EF1F1775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561" y="1248"/>
              <a:ext cx="350" cy="289"/>
              <a:chOff x="1281" y="1509"/>
              <a:chExt cx="350" cy="289"/>
            </a:xfrm>
          </p:grpSpPr>
          <p:sp>
            <p:nvSpPr>
              <p:cNvPr id="151" name="Rectangle 126">
                <a:extLst>
                  <a:ext uri="{FF2B5EF4-FFF2-40B4-BE49-F238E27FC236}">
                    <a16:creationId xmlns:a16="http://schemas.microsoft.com/office/drawing/2014/main" id="{4ED2FDCE-B761-4CE0-BB67-9F68FA81584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81" y="1511"/>
                <a:ext cx="259" cy="21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12700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lIns="90473" tIns="44442" rIns="90473" bIns="44442">
                <a:spAutoFit/>
              </a:bodyPr>
              <a:lstStyle/>
              <a:p>
                <a:pPr algn="ctr" eaLnBrk="0" hangingPunct="0"/>
                <a:r>
                  <a:rPr lang="en-US" altLang="zh-CN" sz="1600" dirty="0">
                    <a:latin typeface="Arial" pitchFamily="34" charset="0"/>
                    <a:ea typeface="SimHei" panose="02010609060101010101" pitchFamily="49" charset="-122"/>
                  </a:rPr>
                  <a:t>IM</a:t>
                </a:r>
              </a:p>
            </p:txBody>
          </p:sp>
          <p:grpSp>
            <p:nvGrpSpPr>
              <p:cNvPr id="152" name="Group 127">
                <a:extLst>
                  <a:ext uri="{FF2B5EF4-FFF2-40B4-BE49-F238E27FC236}">
                    <a16:creationId xmlns:a16="http://schemas.microsoft.com/office/drawing/2014/main" id="{B87FC5E8-E688-4D8E-B76A-F6C595F2DB7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291" y="1509"/>
                <a:ext cx="340" cy="289"/>
                <a:chOff x="1291" y="1509"/>
                <a:chExt cx="340" cy="289"/>
              </a:xfrm>
            </p:grpSpPr>
            <p:sp>
              <p:nvSpPr>
                <p:cNvPr id="153" name="Freeform 128">
                  <a:extLst>
                    <a:ext uri="{FF2B5EF4-FFF2-40B4-BE49-F238E27FC236}">
                      <a16:creationId xmlns:a16="http://schemas.microsoft.com/office/drawing/2014/main" id="{81D06FCE-5C4D-411B-A1A2-D3C3C928EA9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291" y="1509"/>
                  <a:ext cx="170" cy="289"/>
                </a:xfrm>
                <a:custGeom>
                  <a:avLst/>
                  <a:gdLst>
                    <a:gd name="T0" fmla="*/ 169 w 170"/>
                    <a:gd name="T1" fmla="*/ 0 h 289"/>
                    <a:gd name="T2" fmla="*/ 0 w 170"/>
                    <a:gd name="T3" fmla="*/ 0 h 289"/>
                    <a:gd name="T4" fmla="*/ 0 w 170"/>
                    <a:gd name="T5" fmla="*/ 288 h 289"/>
                    <a:gd name="T6" fmla="*/ 169 w 170"/>
                    <a:gd name="T7" fmla="*/ 288 h 289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170" h="289">
                      <a:moveTo>
                        <a:pt x="169" y="0"/>
                      </a:moveTo>
                      <a:lnTo>
                        <a:pt x="0" y="0"/>
                      </a:lnTo>
                      <a:lnTo>
                        <a:pt x="0" y="288"/>
                      </a:lnTo>
                      <a:lnTo>
                        <a:pt x="169" y="288"/>
                      </a:lnTo>
                    </a:path>
                  </a:pathLst>
                </a:custGeom>
                <a:noFill/>
                <a:ln w="25400" cap="rnd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zh-CN" altLang="en-US" dirty="0">
                    <a:ea typeface="SimHei" panose="02010609060101010101" pitchFamily="49" charset="-122"/>
                  </a:endParaRPr>
                </a:p>
              </p:txBody>
            </p:sp>
            <p:sp>
              <p:nvSpPr>
                <p:cNvPr id="154" name="Freeform 129">
                  <a:extLst>
                    <a:ext uri="{FF2B5EF4-FFF2-40B4-BE49-F238E27FC236}">
                      <a16:creationId xmlns:a16="http://schemas.microsoft.com/office/drawing/2014/main" id="{8425C4D7-E6F8-416F-8039-A97D0CF1DDB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460" y="1509"/>
                  <a:ext cx="171" cy="289"/>
                </a:xfrm>
                <a:custGeom>
                  <a:avLst/>
                  <a:gdLst>
                    <a:gd name="T0" fmla="*/ 0 w 171"/>
                    <a:gd name="T1" fmla="*/ 0 h 289"/>
                    <a:gd name="T2" fmla="*/ 170 w 171"/>
                    <a:gd name="T3" fmla="*/ 0 h 289"/>
                    <a:gd name="T4" fmla="*/ 170 w 171"/>
                    <a:gd name="T5" fmla="*/ 288 h 289"/>
                    <a:gd name="T6" fmla="*/ 0 w 171"/>
                    <a:gd name="T7" fmla="*/ 288 h 289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171" h="289">
                      <a:moveTo>
                        <a:pt x="0" y="0"/>
                      </a:moveTo>
                      <a:lnTo>
                        <a:pt x="170" y="0"/>
                      </a:lnTo>
                      <a:lnTo>
                        <a:pt x="170" y="288"/>
                      </a:lnTo>
                      <a:lnTo>
                        <a:pt x="0" y="288"/>
                      </a:lnTo>
                    </a:path>
                  </a:pathLst>
                </a:custGeom>
                <a:noFill/>
                <a:ln w="25400" cap="rnd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zh-CN" altLang="en-US" dirty="0">
                    <a:ea typeface="SimHei" panose="02010609060101010101" pitchFamily="49" charset="-122"/>
                  </a:endParaRPr>
                </a:p>
              </p:txBody>
            </p:sp>
          </p:grpSp>
        </p:grpSp>
        <p:sp>
          <p:nvSpPr>
            <p:cNvPr id="127" name="Rectangle 130">
              <a:extLst>
                <a:ext uri="{FF2B5EF4-FFF2-40B4-BE49-F238E27FC236}">
                  <a16:creationId xmlns:a16="http://schemas.microsoft.com/office/drawing/2014/main" id="{D04DC176-4E4E-4020-8B37-AA175B436A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12" y="1255"/>
              <a:ext cx="355" cy="21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73" tIns="44442" rIns="90473" bIns="44442">
              <a:spAutoFit/>
            </a:bodyPr>
            <a:lstStyle/>
            <a:p>
              <a:pPr eaLnBrk="0" hangingPunct="0"/>
              <a:r>
                <a:rPr lang="en-US" altLang="zh-CN" sz="1600" dirty="0">
                  <a:latin typeface="Arial" pitchFamily="34" charset="0"/>
                  <a:ea typeface="SimHei" panose="02010609060101010101" pitchFamily="49" charset="-122"/>
                </a:rPr>
                <a:t>Reg</a:t>
              </a:r>
            </a:p>
          </p:txBody>
        </p:sp>
        <p:grpSp>
          <p:nvGrpSpPr>
            <p:cNvPr id="128" name="Group 131">
              <a:extLst>
                <a:ext uri="{FF2B5EF4-FFF2-40B4-BE49-F238E27FC236}">
                  <a16:creationId xmlns:a16="http://schemas.microsoft.com/office/drawing/2014/main" id="{3EF568B0-4FAA-42F6-B216-C52402B95A2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031" y="1248"/>
              <a:ext cx="296" cy="289"/>
              <a:chOff x="1751" y="1509"/>
              <a:chExt cx="296" cy="289"/>
            </a:xfrm>
          </p:grpSpPr>
          <p:sp>
            <p:nvSpPr>
              <p:cNvPr id="149" name="Freeform 132">
                <a:extLst>
                  <a:ext uri="{FF2B5EF4-FFF2-40B4-BE49-F238E27FC236}">
                    <a16:creationId xmlns:a16="http://schemas.microsoft.com/office/drawing/2014/main" id="{391E9E23-31D4-4FC7-90C9-92FA30BB04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1" y="1509"/>
                <a:ext cx="149" cy="289"/>
              </a:xfrm>
              <a:custGeom>
                <a:avLst/>
                <a:gdLst>
                  <a:gd name="T0" fmla="*/ 148 w 149"/>
                  <a:gd name="T1" fmla="*/ 0 h 289"/>
                  <a:gd name="T2" fmla="*/ 0 w 149"/>
                  <a:gd name="T3" fmla="*/ 0 h 289"/>
                  <a:gd name="T4" fmla="*/ 0 w 149"/>
                  <a:gd name="T5" fmla="*/ 288 h 289"/>
                  <a:gd name="T6" fmla="*/ 148 w 149"/>
                  <a:gd name="T7" fmla="*/ 288 h 28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9" h="289">
                    <a:moveTo>
                      <a:pt x="148" y="0"/>
                    </a:moveTo>
                    <a:lnTo>
                      <a:pt x="0" y="0"/>
                    </a:lnTo>
                    <a:lnTo>
                      <a:pt x="0" y="288"/>
                    </a:lnTo>
                    <a:lnTo>
                      <a:pt x="148" y="288"/>
                    </a:lnTo>
                  </a:path>
                </a:pathLst>
              </a:custGeom>
              <a:noFill/>
              <a:ln w="25400" cap="rnd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dirty="0">
                  <a:ea typeface="SimHei" panose="02010609060101010101" pitchFamily="49" charset="-122"/>
                </a:endParaRPr>
              </a:p>
            </p:txBody>
          </p:sp>
          <p:sp>
            <p:nvSpPr>
              <p:cNvPr id="150" name="Freeform 133">
                <a:extLst>
                  <a:ext uri="{FF2B5EF4-FFF2-40B4-BE49-F238E27FC236}">
                    <a16:creationId xmlns:a16="http://schemas.microsoft.com/office/drawing/2014/main" id="{0C58B117-1070-4274-AE08-B6CCC0D219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9" y="1509"/>
                <a:ext cx="148" cy="289"/>
              </a:xfrm>
              <a:custGeom>
                <a:avLst/>
                <a:gdLst>
                  <a:gd name="T0" fmla="*/ 0 w 148"/>
                  <a:gd name="T1" fmla="*/ 0 h 289"/>
                  <a:gd name="T2" fmla="*/ 147 w 148"/>
                  <a:gd name="T3" fmla="*/ 0 h 289"/>
                  <a:gd name="T4" fmla="*/ 147 w 148"/>
                  <a:gd name="T5" fmla="*/ 288 h 289"/>
                  <a:gd name="T6" fmla="*/ 0 w 148"/>
                  <a:gd name="T7" fmla="*/ 288 h 28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8" h="289">
                    <a:moveTo>
                      <a:pt x="0" y="0"/>
                    </a:moveTo>
                    <a:lnTo>
                      <a:pt x="147" y="0"/>
                    </a:lnTo>
                    <a:lnTo>
                      <a:pt x="147" y="288"/>
                    </a:lnTo>
                    <a:lnTo>
                      <a:pt x="0" y="288"/>
                    </a:lnTo>
                  </a:path>
                </a:pathLst>
              </a:custGeom>
              <a:noFill/>
              <a:ln w="25400" cap="rnd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dirty="0">
                  <a:ea typeface="SimHei" panose="02010609060101010101" pitchFamily="49" charset="-122"/>
                </a:endParaRPr>
              </a:p>
            </p:txBody>
          </p:sp>
        </p:grpSp>
        <p:sp>
          <p:nvSpPr>
            <p:cNvPr id="129" name="Line 134">
              <a:extLst>
                <a:ext uri="{FF2B5EF4-FFF2-40B4-BE49-F238E27FC236}">
                  <a16:creationId xmlns:a16="http://schemas.microsoft.com/office/drawing/2014/main" id="{7D3B3449-D144-46C3-A89E-13E44B8AC2C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916" y="1392"/>
              <a:ext cx="116" cy="0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130" name="Freeform 135">
              <a:extLst>
                <a:ext uri="{FF2B5EF4-FFF2-40B4-BE49-F238E27FC236}">
                  <a16:creationId xmlns:a16="http://schemas.microsoft.com/office/drawing/2014/main" id="{CA6D31B3-8653-439C-9356-22E4DFA4D46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4" y="1296"/>
              <a:ext cx="48" cy="97"/>
            </a:xfrm>
            <a:custGeom>
              <a:avLst/>
              <a:gdLst>
                <a:gd name="T0" fmla="*/ 0 w 48"/>
                <a:gd name="T1" fmla="*/ 96 h 97"/>
                <a:gd name="T2" fmla="*/ 0 w 48"/>
                <a:gd name="T3" fmla="*/ 0 h 97"/>
                <a:gd name="T4" fmla="*/ 47 w 48"/>
                <a:gd name="T5" fmla="*/ 0 h 97"/>
                <a:gd name="T6" fmla="*/ 47 w 48"/>
                <a:gd name="T7" fmla="*/ 0 h 9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8" h="97">
                  <a:moveTo>
                    <a:pt x="0" y="96"/>
                  </a:moveTo>
                  <a:lnTo>
                    <a:pt x="0" y="0"/>
                  </a:lnTo>
                  <a:lnTo>
                    <a:pt x="47" y="0"/>
                  </a:lnTo>
                </a:path>
              </a:pathLst>
            </a:custGeom>
            <a:noFill/>
            <a:ln w="25400" cap="rnd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131" name="Line 136">
              <a:extLst>
                <a:ext uri="{FF2B5EF4-FFF2-40B4-BE49-F238E27FC236}">
                  <a16:creationId xmlns:a16="http://schemas.microsoft.com/office/drawing/2014/main" id="{47D0F999-DE5C-4401-A1F6-B4906234023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332" y="1296"/>
              <a:ext cx="157" cy="0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132" name="Rectangle 137">
              <a:extLst>
                <a:ext uri="{FF2B5EF4-FFF2-40B4-BE49-F238E27FC236}">
                  <a16:creationId xmlns:a16="http://schemas.microsoft.com/office/drawing/2014/main" id="{F13973D8-0F0C-42C6-A635-73F1888BBA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29" y="1250"/>
              <a:ext cx="313" cy="21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73" tIns="44442" rIns="90473" bIns="44442">
              <a:spAutoFit/>
            </a:bodyPr>
            <a:lstStyle/>
            <a:p>
              <a:pPr eaLnBrk="0" hangingPunct="0"/>
              <a:r>
                <a:rPr lang="en-US" altLang="zh-CN" sz="1600" dirty="0">
                  <a:latin typeface="Arial" pitchFamily="34" charset="0"/>
                  <a:ea typeface="SimHei" panose="02010609060101010101" pitchFamily="49" charset="-122"/>
                </a:rPr>
                <a:t>DM</a:t>
              </a:r>
            </a:p>
          </p:txBody>
        </p:sp>
        <p:grpSp>
          <p:nvGrpSpPr>
            <p:cNvPr id="133" name="Group 138">
              <a:extLst>
                <a:ext uri="{FF2B5EF4-FFF2-40B4-BE49-F238E27FC236}">
                  <a16:creationId xmlns:a16="http://schemas.microsoft.com/office/drawing/2014/main" id="{949A0F3B-4C5A-4C6A-AEA9-2ABE6A27D37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880" y="1248"/>
              <a:ext cx="325" cy="289"/>
              <a:chOff x="2600" y="1509"/>
              <a:chExt cx="325" cy="289"/>
            </a:xfrm>
          </p:grpSpPr>
          <p:sp>
            <p:nvSpPr>
              <p:cNvPr id="147" name="Freeform 139">
                <a:extLst>
                  <a:ext uri="{FF2B5EF4-FFF2-40B4-BE49-F238E27FC236}">
                    <a16:creationId xmlns:a16="http://schemas.microsoft.com/office/drawing/2014/main" id="{84113987-AD59-4214-82B3-A0E1DF504C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0" y="1509"/>
                <a:ext cx="162" cy="289"/>
              </a:xfrm>
              <a:custGeom>
                <a:avLst/>
                <a:gdLst>
                  <a:gd name="T0" fmla="*/ 161 w 162"/>
                  <a:gd name="T1" fmla="*/ 0 h 289"/>
                  <a:gd name="T2" fmla="*/ 0 w 162"/>
                  <a:gd name="T3" fmla="*/ 0 h 289"/>
                  <a:gd name="T4" fmla="*/ 0 w 162"/>
                  <a:gd name="T5" fmla="*/ 288 h 289"/>
                  <a:gd name="T6" fmla="*/ 161 w 162"/>
                  <a:gd name="T7" fmla="*/ 288 h 28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2" h="289">
                    <a:moveTo>
                      <a:pt x="161" y="0"/>
                    </a:moveTo>
                    <a:lnTo>
                      <a:pt x="0" y="0"/>
                    </a:lnTo>
                    <a:lnTo>
                      <a:pt x="0" y="288"/>
                    </a:lnTo>
                    <a:lnTo>
                      <a:pt x="161" y="288"/>
                    </a:lnTo>
                  </a:path>
                </a:pathLst>
              </a:custGeom>
              <a:noFill/>
              <a:ln w="25400" cap="rnd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dirty="0">
                  <a:ea typeface="SimHei" panose="02010609060101010101" pitchFamily="49" charset="-122"/>
                </a:endParaRPr>
              </a:p>
            </p:txBody>
          </p:sp>
          <p:sp>
            <p:nvSpPr>
              <p:cNvPr id="148" name="Freeform 140">
                <a:extLst>
                  <a:ext uri="{FF2B5EF4-FFF2-40B4-BE49-F238E27FC236}">
                    <a16:creationId xmlns:a16="http://schemas.microsoft.com/office/drawing/2014/main" id="{D0EE0A60-ADA0-42DF-9E10-FEF0137E72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1" y="1509"/>
                <a:ext cx="164" cy="289"/>
              </a:xfrm>
              <a:custGeom>
                <a:avLst/>
                <a:gdLst>
                  <a:gd name="T0" fmla="*/ 0 w 164"/>
                  <a:gd name="T1" fmla="*/ 0 h 289"/>
                  <a:gd name="T2" fmla="*/ 163 w 164"/>
                  <a:gd name="T3" fmla="*/ 0 h 289"/>
                  <a:gd name="T4" fmla="*/ 163 w 164"/>
                  <a:gd name="T5" fmla="*/ 288 h 289"/>
                  <a:gd name="T6" fmla="*/ 0 w 164"/>
                  <a:gd name="T7" fmla="*/ 288 h 28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4" h="289">
                    <a:moveTo>
                      <a:pt x="0" y="0"/>
                    </a:moveTo>
                    <a:lnTo>
                      <a:pt x="163" y="0"/>
                    </a:lnTo>
                    <a:lnTo>
                      <a:pt x="163" y="288"/>
                    </a:lnTo>
                    <a:lnTo>
                      <a:pt x="0" y="288"/>
                    </a:lnTo>
                  </a:path>
                </a:pathLst>
              </a:custGeom>
              <a:noFill/>
              <a:ln w="25400" cap="rnd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dirty="0">
                  <a:ea typeface="SimHei" panose="02010609060101010101" pitchFamily="49" charset="-122"/>
                </a:endParaRPr>
              </a:p>
            </p:txBody>
          </p:sp>
        </p:grpSp>
        <p:sp>
          <p:nvSpPr>
            <p:cNvPr id="134" name="Rectangle 141">
              <a:extLst>
                <a:ext uri="{FF2B5EF4-FFF2-40B4-BE49-F238E27FC236}">
                  <a16:creationId xmlns:a16="http://schemas.microsoft.com/office/drawing/2014/main" id="{F4BBA121-E856-465E-8D87-A2027D899E3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21" y="1250"/>
              <a:ext cx="355" cy="21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73" tIns="44442" rIns="90473" bIns="44442">
              <a:spAutoFit/>
            </a:bodyPr>
            <a:lstStyle/>
            <a:p>
              <a:pPr eaLnBrk="0" hangingPunct="0"/>
              <a:r>
                <a:rPr lang="en-US" altLang="zh-CN" sz="1600" dirty="0">
                  <a:latin typeface="Arial" pitchFamily="34" charset="0"/>
                  <a:ea typeface="SimHei" panose="02010609060101010101" pitchFamily="49" charset="-122"/>
                </a:rPr>
                <a:t>Reg</a:t>
              </a:r>
            </a:p>
          </p:txBody>
        </p:sp>
        <p:grpSp>
          <p:nvGrpSpPr>
            <p:cNvPr id="135" name="Group 142">
              <a:extLst>
                <a:ext uri="{FF2B5EF4-FFF2-40B4-BE49-F238E27FC236}">
                  <a16:creationId xmlns:a16="http://schemas.microsoft.com/office/drawing/2014/main" id="{52D8355D-46DC-4279-B0DD-A8BECB27F07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348" y="1248"/>
              <a:ext cx="284" cy="289"/>
              <a:chOff x="3068" y="1509"/>
              <a:chExt cx="284" cy="289"/>
            </a:xfrm>
          </p:grpSpPr>
          <p:sp>
            <p:nvSpPr>
              <p:cNvPr id="145" name="Freeform 143">
                <a:extLst>
                  <a:ext uri="{FF2B5EF4-FFF2-40B4-BE49-F238E27FC236}">
                    <a16:creationId xmlns:a16="http://schemas.microsoft.com/office/drawing/2014/main" id="{49978B63-8386-40B1-9FD7-14AB7CE8AD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8" y="1509"/>
                <a:ext cx="142" cy="289"/>
              </a:xfrm>
              <a:custGeom>
                <a:avLst/>
                <a:gdLst>
                  <a:gd name="T0" fmla="*/ 141 w 142"/>
                  <a:gd name="T1" fmla="*/ 0 h 289"/>
                  <a:gd name="T2" fmla="*/ 0 w 142"/>
                  <a:gd name="T3" fmla="*/ 0 h 289"/>
                  <a:gd name="T4" fmla="*/ 0 w 142"/>
                  <a:gd name="T5" fmla="*/ 288 h 289"/>
                  <a:gd name="T6" fmla="*/ 141 w 142"/>
                  <a:gd name="T7" fmla="*/ 288 h 28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2" h="289">
                    <a:moveTo>
                      <a:pt x="141" y="0"/>
                    </a:moveTo>
                    <a:lnTo>
                      <a:pt x="0" y="0"/>
                    </a:lnTo>
                    <a:lnTo>
                      <a:pt x="0" y="288"/>
                    </a:lnTo>
                    <a:lnTo>
                      <a:pt x="141" y="288"/>
                    </a:lnTo>
                  </a:path>
                </a:pathLst>
              </a:custGeom>
              <a:noFill/>
              <a:ln w="25400" cap="rnd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dirty="0">
                  <a:ea typeface="SimHei" panose="02010609060101010101" pitchFamily="49" charset="-122"/>
                </a:endParaRPr>
              </a:p>
            </p:txBody>
          </p:sp>
          <p:sp>
            <p:nvSpPr>
              <p:cNvPr id="146" name="Freeform 144">
                <a:extLst>
                  <a:ext uri="{FF2B5EF4-FFF2-40B4-BE49-F238E27FC236}">
                    <a16:creationId xmlns:a16="http://schemas.microsoft.com/office/drawing/2014/main" id="{4A17568C-320A-4EFC-82F4-365AA8065A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9" y="1509"/>
                <a:ext cx="143" cy="289"/>
              </a:xfrm>
              <a:custGeom>
                <a:avLst/>
                <a:gdLst>
                  <a:gd name="T0" fmla="*/ 0 w 143"/>
                  <a:gd name="T1" fmla="*/ 0 h 289"/>
                  <a:gd name="T2" fmla="*/ 142 w 143"/>
                  <a:gd name="T3" fmla="*/ 0 h 289"/>
                  <a:gd name="T4" fmla="*/ 142 w 143"/>
                  <a:gd name="T5" fmla="*/ 288 h 289"/>
                  <a:gd name="T6" fmla="*/ 0 w 143"/>
                  <a:gd name="T7" fmla="*/ 288 h 28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3" h="289">
                    <a:moveTo>
                      <a:pt x="0" y="0"/>
                    </a:moveTo>
                    <a:lnTo>
                      <a:pt x="142" y="0"/>
                    </a:lnTo>
                    <a:lnTo>
                      <a:pt x="142" y="288"/>
                    </a:lnTo>
                    <a:lnTo>
                      <a:pt x="0" y="288"/>
                    </a:lnTo>
                  </a:path>
                </a:pathLst>
              </a:custGeom>
              <a:noFill/>
              <a:ln w="25400" cap="rnd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dirty="0">
                  <a:ea typeface="SimHei" panose="02010609060101010101" pitchFamily="49" charset="-122"/>
                </a:endParaRPr>
              </a:p>
            </p:txBody>
          </p:sp>
        </p:grpSp>
        <p:sp>
          <p:nvSpPr>
            <p:cNvPr id="136" name="Line 145">
              <a:extLst>
                <a:ext uri="{FF2B5EF4-FFF2-40B4-BE49-F238E27FC236}">
                  <a16:creationId xmlns:a16="http://schemas.microsoft.com/office/drawing/2014/main" id="{D81CF129-E0BC-40EE-90B9-1F3008109DA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01" y="1392"/>
              <a:ext cx="139" cy="0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137" name="Line 146">
              <a:extLst>
                <a:ext uri="{FF2B5EF4-FFF2-40B4-BE49-F238E27FC236}">
                  <a16:creationId xmlns:a16="http://schemas.microsoft.com/office/drawing/2014/main" id="{692F9055-2AFA-4A3F-A90E-D216D1CCF7D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717" y="1392"/>
              <a:ext cx="155" cy="0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138" name="Line 147">
              <a:extLst>
                <a:ext uri="{FF2B5EF4-FFF2-40B4-BE49-F238E27FC236}">
                  <a16:creationId xmlns:a16="http://schemas.microsoft.com/office/drawing/2014/main" id="{F98838B3-F5A2-4182-8578-522839CD6BC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332" y="1488"/>
              <a:ext cx="157" cy="0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139" name="Line 148">
              <a:extLst>
                <a:ext uri="{FF2B5EF4-FFF2-40B4-BE49-F238E27FC236}">
                  <a16:creationId xmlns:a16="http://schemas.microsoft.com/office/drawing/2014/main" id="{EC87E69B-7A0A-4147-AED2-18715FBD0AE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416" y="1488"/>
              <a:ext cx="0" cy="192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140" name="Line 149">
              <a:extLst>
                <a:ext uri="{FF2B5EF4-FFF2-40B4-BE49-F238E27FC236}">
                  <a16:creationId xmlns:a16="http://schemas.microsoft.com/office/drawing/2014/main" id="{0EA6ABB8-E18B-464B-B175-938B5996F5A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416" y="1680"/>
              <a:ext cx="336" cy="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141" name="Line 150">
              <a:extLst>
                <a:ext uri="{FF2B5EF4-FFF2-40B4-BE49-F238E27FC236}">
                  <a16:creationId xmlns:a16="http://schemas.microsoft.com/office/drawing/2014/main" id="{C7C8079D-9D19-47B0-972B-AD144DDC7AB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752" y="1392"/>
              <a:ext cx="0" cy="288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142" name="Line 151">
              <a:extLst>
                <a:ext uri="{FF2B5EF4-FFF2-40B4-BE49-F238E27FC236}">
                  <a16:creationId xmlns:a16="http://schemas.microsoft.com/office/drawing/2014/main" id="{5F2E111A-DA09-4410-AAFD-EBCDD24206A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832" y="1392"/>
              <a:ext cx="0" cy="24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143" name="Line 152">
              <a:extLst>
                <a:ext uri="{FF2B5EF4-FFF2-40B4-BE49-F238E27FC236}">
                  <a16:creationId xmlns:a16="http://schemas.microsoft.com/office/drawing/2014/main" id="{8EBA70CF-4B40-4ED1-89B8-C2030618E94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32" y="1632"/>
              <a:ext cx="432" cy="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144" name="Line 153">
              <a:extLst>
                <a:ext uri="{FF2B5EF4-FFF2-40B4-BE49-F238E27FC236}">
                  <a16:creationId xmlns:a16="http://schemas.microsoft.com/office/drawing/2014/main" id="{BBD8E3E3-C3C9-42C4-AB5D-0488CCC3889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64" y="1392"/>
              <a:ext cx="0" cy="24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658913023"/>
      </p:ext>
    </p:extLst>
  </p:cSld>
  <p:clrMapOvr>
    <a:masterClrMapping/>
  </p:clrMapOvr>
</p:sld>
</file>

<file path=ppt/slides/slide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>
            <a:extLst>
              <a:ext uri="{FF2B5EF4-FFF2-40B4-BE49-F238E27FC236}">
                <a16:creationId xmlns:a16="http://schemas.microsoft.com/office/drawing/2014/main" id="{03470FA0-8132-487A-97D9-FAB2CF047514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dirty="0"/>
              <a:t>回顾：流水线</a:t>
            </a:r>
            <a:r>
              <a:rPr lang="en-US" altLang="zh-CN" dirty="0"/>
              <a:t>RTL</a:t>
            </a:r>
            <a:r>
              <a:rPr lang="zh-CN" altLang="en-US" dirty="0"/>
              <a:t>描述</a:t>
            </a:r>
          </a:p>
        </p:txBody>
      </p:sp>
      <p:sp>
        <p:nvSpPr>
          <p:cNvPr id="3" name="内容占位符 2">
            <a:extLst>
              <a:ext uri="{FF2B5EF4-FFF2-40B4-BE49-F238E27FC236}">
                <a16:creationId xmlns:a16="http://schemas.microsoft.com/office/drawing/2014/main" id="{13E05429-5126-4E1C-B1FA-24BE6FD04AE2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r>
              <a:rPr lang="en-US" altLang="zh-CN" dirty="0"/>
              <a:t>Forwarding</a:t>
            </a:r>
          </a:p>
          <a:p>
            <a:r>
              <a:rPr lang="zh-CN" altLang="en-US" dirty="0"/>
              <a:t>提前分支判断</a:t>
            </a:r>
          </a:p>
        </p:txBody>
      </p:sp>
      <p:sp>
        <p:nvSpPr>
          <p:cNvPr id="4" name="灯片编号占位符 3">
            <a:extLst>
              <a:ext uri="{FF2B5EF4-FFF2-40B4-BE49-F238E27FC236}">
                <a16:creationId xmlns:a16="http://schemas.microsoft.com/office/drawing/2014/main" id="{2F886579-8359-4072-A44A-6E554D5B070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1806CE5-282B-4233-8654-09F35EA875E2}" type="slidenum">
              <a:rPr lang="zh-CN" altLang="en-US" smtClean="0"/>
              <a:t>63</a:t>
            </a:fld>
            <a:endParaRPr lang="zh-CN" altLang="en-US"/>
          </a:p>
        </p:txBody>
      </p:sp>
      <p:graphicFrame>
        <p:nvGraphicFramePr>
          <p:cNvPr id="5" name="内容占位符 3">
            <a:extLst>
              <a:ext uri="{FF2B5EF4-FFF2-40B4-BE49-F238E27FC236}">
                <a16:creationId xmlns:a16="http://schemas.microsoft.com/office/drawing/2014/main" id="{E572BC4F-C5BD-411F-8423-C316F5B7DC2F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3546079183"/>
              </p:ext>
            </p:extLst>
          </p:nvPr>
        </p:nvGraphicFramePr>
        <p:xfrm>
          <a:off x="361950" y="2476085"/>
          <a:ext cx="8432800" cy="3684493"/>
        </p:xfrm>
        <a:graphic>
          <a:graphicData uri="http://schemas.openxmlformats.org/drawingml/2006/table">
            <a:tbl>
              <a:tblPr firstRow="1" bandRow="1">
                <a:tableStyleId>{E8B1032C-EA38-4F05-BA0D-38AFFFC7BED3}</a:tableStyleId>
              </a:tblPr>
              <a:tblGrid>
                <a:gridCol w="108541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163861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727842">
                  <a:extLst>
                    <a:ext uri="{9D8B030D-6E8A-4147-A177-3AD203B41FA5}">
                      <a16:colId xmlns:a16="http://schemas.microsoft.com/office/drawing/2014/main" val="2771823051"/>
                    </a:ext>
                  </a:extLst>
                </a:gridCol>
                <a:gridCol w="2025171">
                  <a:extLst>
                    <a:ext uri="{9D8B030D-6E8A-4147-A177-3AD203B41FA5}">
                      <a16:colId xmlns:a16="http://schemas.microsoft.com/office/drawing/2014/main" val="1388760228"/>
                    </a:ext>
                  </a:extLst>
                </a:gridCol>
                <a:gridCol w="1430514">
                  <a:extLst>
                    <a:ext uri="{9D8B030D-6E8A-4147-A177-3AD203B41FA5}">
                      <a16:colId xmlns:a16="http://schemas.microsoft.com/office/drawing/2014/main" val="2910212671"/>
                    </a:ext>
                  </a:extLst>
                </a:gridCol>
              </a:tblGrid>
              <a:tr h="432000">
                <a:tc>
                  <a:txBody>
                    <a:bodyPr/>
                    <a:lstStyle/>
                    <a:p>
                      <a:pPr algn="ctr"/>
                      <a:r>
                        <a:rPr lang="zh-CN" altLang="en-US" sz="2000" dirty="0"/>
                        <a:t>流水线</a:t>
                      </a:r>
                    </a:p>
                  </a:txBody>
                  <a:tcPr marL="36000" marR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4C6E7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2000" dirty="0"/>
                        <a:t>R</a:t>
                      </a:r>
                      <a:r>
                        <a:rPr lang="zh-CN" altLang="en-US" sz="2000" dirty="0"/>
                        <a:t>类型</a:t>
                      </a:r>
                    </a:p>
                  </a:txBody>
                  <a:tcPr marL="36000" marR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4C6E7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CN" altLang="en-US" sz="2000" dirty="0"/>
                        <a:t>读存储器</a:t>
                      </a:r>
                    </a:p>
                  </a:txBody>
                  <a:tcPr marL="36000" marR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4C6E7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CN" altLang="en-US" sz="2000" dirty="0"/>
                        <a:t>写存储器</a:t>
                      </a:r>
                    </a:p>
                  </a:txBody>
                  <a:tcPr marL="36000" marR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4C6E7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CN" altLang="en-US" sz="2000" dirty="0"/>
                        <a:t>分支</a:t>
                      </a:r>
                    </a:p>
                  </a:txBody>
                  <a:tcPr marL="36000" marR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4C6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80580"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600" dirty="0"/>
                        <a:t>IF</a:t>
                      </a:r>
                    </a:p>
                  </a:txBody>
                  <a:tcPr marL="36000" marR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4">
                  <a:txBody>
                    <a:bodyPr/>
                    <a:lstStyle/>
                    <a:p>
                      <a:pPr algn="ctr"/>
                      <a:r>
                        <a:rPr lang="en-US" altLang="zh-CN" sz="1600" dirty="0"/>
                        <a:t>IR</a:t>
                      </a:r>
                      <a:r>
                        <a:rPr lang="en-US" altLang="zh-CN" sz="1600" dirty="0">
                          <a:sym typeface="Symbol"/>
                        </a:rPr>
                        <a:t>&lt;= </a:t>
                      </a:r>
                      <a:r>
                        <a:rPr lang="en-US" altLang="zh-CN" sz="1600" dirty="0" err="1"/>
                        <a:t>MemInst</a:t>
                      </a:r>
                      <a:r>
                        <a:rPr lang="en-US" altLang="zh-CN" sz="1600" dirty="0"/>
                        <a:t>[PC];  PC </a:t>
                      </a:r>
                      <a:r>
                        <a:rPr lang="en-US" altLang="zh-CN" sz="1600" dirty="0">
                          <a:sym typeface="Symbol"/>
                        </a:rPr>
                        <a:t>&lt;= PC + 4</a:t>
                      </a:r>
                      <a:endParaRPr lang="en-US" altLang="zh-CN" sz="1600" dirty="0"/>
                    </a:p>
                  </a:txBody>
                  <a:tcPr marL="36000" marR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zh-CN" altLang="en-US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>
                  <a:txBody>
                    <a:bodyPr/>
                    <a:lstStyle/>
                    <a:p>
                      <a:endParaRPr lang="zh-CN" altLang="en-US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en-US" altLang="zh-CN" sz="1600" dirty="0"/>
                    </a:p>
                  </a:txBody>
                  <a:tcPr marL="36000" marR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433512">
                <a:tc>
                  <a:txBody>
                    <a:bodyPr/>
                    <a:lstStyle/>
                    <a:p>
                      <a:pPr marL="0" marR="0" lvl="1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CN" sz="1600" dirty="0"/>
                        <a:t>ID</a:t>
                      </a:r>
                    </a:p>
                  </a:txBody>
                  <a:tcPr marL="36000" marR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4">
                  <a:txBody>
                    <a:bodyPr/>
                    <a:lstStyle/>
                    <a:p>
                      <a:pPr marL="0" marR="0" lvl="1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CN" sz="1600" b="0" dirty="0"/>
                        <a:t>op </a:t>
                      </a:r>
                      <a:r>
                        <a:rPr lang="en-US" altLang="zh-CN" sz="1600" b="0" dirty="0">
                          <a:sym typeface="Symbol"/>
                        </a:rPr>
                        <a:t>&lt;= </a:t>
                      </a:r>
                      <a:r>
                        <a:rPr lang="en-US" altLang="zh-CN" sz="1600" b="0" dirty="0"/>
                        <a:t>IR[31:26]; A </a:t>
                      </a:r>
                      <a:r>
                        <a:rPr lang="en-US" altLang="zh-CN" sz="1600" b="0" dirty="0">
                          <a:sym typeface="Symbol"/>
                        </a:rPr>
                        <a:t>&lt;= </a:t>
                      </a:r>
                      <a:r>
                        <a:rPr lang="en-US" altLang="zh-CN" sz="1600" b="0" dirty="0"/>
                        <a:t>Reg[IR[25:21]];  B </a:t>
                      </a:r>
                      <a:r>
                        <a:rPr lang="en-US" altLang="zh-CN" sz="1600" b="0" dirty="0">
                          <a:sym typeface="Symbol"/>
                        </a:rPr>
                        <a:t>&lt;= </a:t>
                      </a:r>
                      <a:r>
                        <a:rPr lang="en-US" altLang="zh-CN" sz="1600" b="0" dirty="0"/>
                        <a:t>Reg[IR[20:16]]; </a:t>
                      </a:r>
                    </a:p>
                    <a:p>
                      <a:pPr marL="0" marR="0" lvl="1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CN" altLang="en-US" sz="1600" b="1" dirty="0">
                          <a:solidFill>
                            <a:srgbClr val="0070C0"/>
                          </a:solidFill>
                        </a:rPr>
                        <a:t>分支：</a:t>
                      </a:r>
                      <a:r>
                        <a:rPr lang="en-US" altLang="zh-CN" sz="1600" b="1" dirty="0">
                          <a:solidFill>
                            <a:srgbClr val="0070C0"/>
                          </a:solidFill>
                        </a:rPr>
                        <a:t>If(A == B) PC </a:t>
                      </a:r>
                      <a:r>
                        <a:rPr lang="en-US" altLang="zh-CN" sz="1600" b="1" dirty="0">
                          <a:solidFill>
                            <a:srgbClr val="0070C0"/>
                          </a:solidFill>
                          <a:sym typeface="Symbol"/>
                        </a:rPr>
                        <a:t>&lt;= </a:t>
                      </a:r>
                      <a:r>
                        <a:rPr lang="en-US" altLang="zh-CN" sz="1600" b="1" dirty="0">
                          <a:solidFill>
                            <a:srgbClr val="0070C0"/>
                          </a:solidFill>
                        </a:rPr>
                        <a:t>PC + </a:t>
                      </a:r>
                      <a:r>
                        <a:rPr lang="en-US" altLang="zh-CN" sz="1600" b="1" dirty="0" err="1">
                          <a:solidFill>
                            <a:srgbClr val="0070C0"/>
                          </a:solidFill>
                        </a:rPr>
                        <a:t>signext</a:t>
                      </a:r>
                      <a:r>
                        <a:rPr lang="en-US" altLang="zh-CN" sz="1600" b="1" dirty="0">
                          <a:solidFill>
                            <a:srgbClr val="0070C0"/>
                          </a:solidFill>
                        </a:rPr>
                        <a:t>(IR[15:0]) &lt;&lt; 2</a:t>
                      </a:r>
                    </a:p>
                  </a:txBody>
                  <a:tcPr marL="36000" marR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zh-CN" altLang="en-US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zh-CN" altLang="en-US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pPr marL="0" marR="0" lvl="1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zh-CN" sz="1600" b="1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693620"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600" dirty="0"/>
                        <a:t>EX</a:t>
                      </a:r>
                    </a:p>
                  </a:txBody>
                  <a:tcPr marL="36000" marR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600" dirty="0" err="1"/>
                        <a:t>ALUOut</a:t>
                      </a:r>
                      <a:r>
                        <a:rPr lang="en-US" altLang="zh-CN" sz="1600" dirty="0"/>
                        <a:t> </a:t>
                      </a:r>
                      <a:r>
                        <a:rPr lang="en-US" altLang="zh-CN" sz="1600" dirty="0">
                          <a:sym typeface="Symbol"/>
                        </a:rPr>
                        <a:t>&lt;= </a:t>
                      </a:r>
                      <a:r>
                        <a:rPr lang="en-US" altLang="zh-CN" sz="1600" dirty="0"/>
                        <a:t>A op B</a:t>
                      </a:r>
                    </a:p>
                    <a:p>
                      <a:pPr algn="ctr"/>
                      <a:r>
                        <a:rPr lang="en-US" altLang="zh-CN" sz="1600" b="1" dirty="0">
                          <a:solidFill>
                            <a:srgbClr val="0070C0"/>
                          </a:solidFill>
                        </a:rPr>
                        <a:t>EX/</a:t>
                      </a:r>
                      <a:r>
                        <a:rPr lang="en-US" altLang="zh-CN" sz="1600" b="1" dirty="0" err="1">
                          <a:solidFill>
                            <a:srgbClr val="0070C0"/>
                          </a:solidFill>
                        </a:rPr>
                        <a:t>MEM.ALUOut</a:t>
                      </a:r>
                      <a:endParaRPr lang="en-US" altLang="zh-CN" sz="1600" b="1" dirty="0">
                        <a:solidFill>
                          <a:srgbClr val="0070C0"/>
                        </a:solidFill>
                      </a:endParaRPr>
                    </a:p>
                    <a:p>
                      <a:pPr algn="ctr"/>
                      <a:r>
                        <a:rPr lang="en-US" altLang="zh-CN" sz="1600" b="1" dirty="0">
                          <a:solidFill>
                            <a:srgbClr val="0070C0"/>
                          </a:solidFill>
                        </a:rPr>
                        <a:t>MEM/</a:t>
                      </a:r>
                      <a:r>
                        <a:rPr lang="en-US" altLang="zh-CN" sz="1600" b="1" dirty="0" err="1">
                          <a:solidFill>
                            <a:srgbClr val="0070C0"/>
                          </a:solidFill>
                        </a:rPr>
                        <a:t>WB.ALUOut</a:t>
                      </a:r>
                      <a:endParaRPr lang="en-US" altLang="zh-CN" sz="1600" b="1" dirty="0">
                        <a:solidFill>
                          <a:srgbClr val="0070C0"/>
                        </a:solidFill>
                      </a:endParaRPr>
                    </a:p>
                    <a:p>
                      <a:pPr algn="ctr"/>
                      <a:r>
                        <a:rPr lang="en-US" altLang="zh-CN" sz="1600" b="1" dirty="0">
                          <a:solidFill>
                            <a:srgbClr val="0070C0"/>
                          </a:solidFill>
                        </a:rPr>
                        <a:t>MDR</a:t>
                      </a:r>
                    </a:p>
                  </a:txBody>
                  <a:tcPr marL="36000" marR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2"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CN" sz="1600" dirty="0" err="1"/>
                        <a:t>ALUOut</a:t>
                      </a:r>
                      <a:r>
                        <a:rPr lang="en-US" altLang="zh-CN" sz="1600" dirty="0"/>
                        <a:t> </a:t>
                      </a:r>
                      <a:r>
                        <a:rPr lang="en-US" altLang="zh-CN" sz="1600" dirty="0">
                          <a:sym typeface="Symbol"/>
                        </a:rPr>
                        <a:t>&lt;= </a:t>
                      </a:r>
                      <a:r>
                        <a:rPr lang="en-US" altLang="zh-CN" sz="1600" dirty="0"/>
                        <a:t>A + </a:t>
                      </a:r>
                      <a:r>
                        <a:rPr lang="en-US" altLang="zh-CN" sz="1600" dirty="0" err="1"/>
                        <a:t>signext</a:t>
                      </a:r>
                      <a:r>
                        <a:rPr lang="en-US" altLang="zh-CN" sz="1600" dirty="0"/>
                        <a:t>(IR[15:0])</a:t>
                      </a: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CN" sz="1600" b="1" dirty="0">
                          <a:solidFill>
                            <a:srgbClr val="0070C0"/>
                          </a:solidFill>
                        </a:rPr>
                        <a:t>EX/</a:t>
                      </a:r>
                      <a:r>
                        <a:rPr lang="en-US" altLang="zh-CN" sz="1600" b="1" dirty="0" err="1">
                          <a:solidFill>
                            <a:srgbClr val="0070C0"/>
                          </a:solidFill>
                        </a:rPr>
                        <a:t>MEM.ALUOut</a:t>
                      </a:r>
                      <a:endParaRPr lang="en-US" altLang="zh-CN" sz="1600" b="1" dirty="0">
                        <a:solidFill>
                          <a:srgbClr val="0070C0"/>
                        </a:solidFill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CN" sz="1600" b="1" dirty="0">
                          <a:solidFill>
                            <a:srgbClr val="0070C0"/>
                          </a:solidFill>
                        </a:rPr>
                        <a:t>MEM/</a:t>
                      </a:r>
                      <a:r>
                        <a:rPr lang="en-US" altLang="zh-CN" sz="1600" b="1" dirty="0" err="1">
                          <a:solidFill>
                            <a:srgbClr val="0070C0"/>
                          </a:solidFill>
                        </a:rPr>
                        <a:t>WB.ALUOut</a:t>
                      </a:r>
                      <a:endParaRPr lang="en-US" altLang="zh-CN" sz="1600" b="1" dirty="0">
                        <a:solidFill>
                          <a:srgbClr val="0070C0"/>
                        </a:solidFill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CN" sz="1600" b="1" dirty="0">
                          <a:solidFill>
                            <a:srgbClr val="0070C0"/>
                          </a:solidFill>
                        </a:rPr>
                        <a:t>MDR</a:t>
                      </a:r>
                      <a:endParaRPr lang="zh-CN" altLang="en-US" dirty="0">
                        <a:solidFill>
                          <a:srgbClr val="0070C0"/>
                        </a:solidFill>
                      </a:endParaRPr>
                    </a:p>
                  </a:txBody>
                  <a:tcPr marL="36000" marR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zh-CN" altLang="en-US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1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zh-CN" sz="1600" dirty="0"/>
                    </a:p>
                  </a:txBody>
                  <a:tcPr marL="36000" marR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646873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CN" sz="1600" dirty="0"/>
                        <a:t>MEM</a:t>
                      </a:r>
                      <a:endParaRPr lang="zh-CN" altLang="en-US" sz="1600" dirty="0"/>
                    </a:p>
                  </a:txBody>
                  <a:tcPr marL="36000" marR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zh-CN" altLang="en-US" sz="1600" dirty="0"/>
                    </a:p>
                  </a:txBody>
                  <a:tcPr marL="36000" marR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600" dirty="0"/>
                        <a:t>MDR</a:t>
                      </a:r>
                      <a:r>
                        <a:rPr lang="en-US" altLang="zh-CN" sz="1600" dirty="0">
                          <a:sym typeface="Symbol"/>
                        </a:rPr>
                        <a:t>&lt;=</a:t>
                      </a:r>
                      <a:r>
                        <a:rPr lang="en-US" altLang="zh-CN" sz="1600" dirty="0" err="1">
                          <a:sym typeface="Symbol"/>
                        </a:rPr>
                        <a:t>MemData</a:t>
                      </a:r>
                      <a:r>
                        <a:rPr lang="en-US" altLang="zh-CN" sz="1600" dirty="0">
                          <a:sym typeface="Symbol"/>
                        </a:rPr>
                        <a:t>[</a:t>
                      </a:r>
                      <a:r>
                        <a:rPr lang="en-US" altLang="zh-CN" sz="1600" dirty="0" err="1">
                          <a:sym typeface="Symbol"/>
                        </a:rPr>
                        <a:t>ALUOut</a:t>
                      </a:r>
                      <a:r>
                        <a:rPr lang="en-US" altLang="zh-CN" sz="1600" dirty="0">
                          <a:sym typeface="Symbol"/>
                        </a:rPr>
                        <a:t>];</a:t>
                      </a:r>
                    </a:p>
                  </a:txBody>
                  <a:tcPr marL="36000" marR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600" dirty="0" err="1">
                          <a:sym typeface="Symbol"/>
                        </a:rPr>
                        <a:t>MemData</a:t>
                      </a:r>
                      <a:r>
                        <a:rPr lang="en-US" altLang="zh-CN" sz="1600" dirty="0">
                          <a:sym typeface="Symbol"/>
                        </a:rPr>
                        <a:t>[</a:t>
                      </a:r>
                      <a:r>
                        <a:rPr lang="en-US" altLang="zh-CN" sz="1600" dirty="0" err="1">
                          <a:sym typeface="Symbol"/>
                        </a:rPr>
                        <a:t>ALUout</a:t>
                      </a:r>
                      <a:r>
                        <a:rPr lang="en-US" altLang="zh-CN" sz="1600" dirty="0">
                          <a:sym typeface="Symbol"/>
                        </a:rPr>
                        <a:t>] &lt;= B</a:t>
                      </a:r>
                      <a:endParaRPr lang="zh-CN" altLang="en-US" sz="1600" dirty="0"/>
                    </a:p>
                  </a:txBody>
                  <a:tcPr marL="36000" marR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zh-CN" altLang="en-US" sz="1800" dirty="0"/>
                    </a:p>
                  </a:txBody>
                  <a:tcPr marL="36000" marR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418273"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600" dirty="0"/>
                        <a:t>WB</a:t>
                      </a:r>
                      <a:endParaRPr lang="zh-CN" altLang="en-US" sz="1600" dirty="0"/>
                    </a:p>
                  </a:txBody>
                  <a:tcPr marL="36000" marR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CN" sz="1600" dirty="0"/>
                        <a:t>Reg[IR[15:11]]</a:t>
                      </a:r>
                      <a:r>
                        <a:rPr lang="en-US" altLang="zh-CN" sz="1600" dirty="0">
                          <a:sym typeface="Symbol"/>
                        </a:rPr>
                        <a:t> &lt;= </a:t>
                      </a:r>
                      <a:r>
                        <a:rPr lang="en-US" altLang="zh-CN" sz="1600" dirty="0" err="1"/>
                        <a:t>ALUOut</a:t>
                      </a:r>
                      <a:endParaRPr lang="zh-CN" altLang="en-US" sz="1600" dirty="0"/>
                    </a:p>
                  </a:txBody>
                  <a:tcPr marL="36000" marR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600" dirty="0"/>
                        <a:t>Reg[IR[20:16]]</a:t>
                      </a:r>
                      <a:r>
                        <a:rPr lang="en-US" altLang="zh-CN" sz="1600" dirty="0">
                          <a:sym typeface="Symbol"/>
                        </a:rPr>
                        <a:t> &lt;= MDR</a:t>
                      </a:r>
                      <a:endParaRPr lang="zh-CN" altLang="en-US" sz="1600" dirty="0"/>
                    </a:p>
                  </a:txBody>
                  <a:tcPr marL="36000" marR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CN" altLang="en-US" sz="1600" dirty="0"/>
                    </a:p>
                  </a:txBody>
                  <a:tcPr marL="36000" marR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CN" altLang="en-US" dirty="0"/>
                    </a:p>
                  </a:txBody>
                  <a:tcPr marL="36000" marR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</a:tbl>
          </a:graphicData>
        </a:graphic>
      </p:graphicFrame>
      <p:sp>
        <p:nvSpPr>
          <p:cNvPr id="6" name="文本框 5">
            <a:extLst>
              <a:ext uri="{FF2B5EF4-FFF2-40B4-BE49-F238E27FC236}">
                <a16:creationId xmlns:a16="http://schemas.microsoft.com/office/drawing/2014/main" id="{4144714A-705D-1825-A7D3-CE30C1C899C3}"/>
              </a:ext>
            </a:extLst>
          </p:cNvPr>
          <p:cNvSpPr txBox="1"/>
          <p:nvPr/>
        </p:nvSpPr>
        <p:spPr>
          <a:xfrm>
            <a:off x="7396990" y="3256049"/>
            <a:ext cx="1530648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en-US" altLang="zh-CN" dirty="0">
                <a:highlight>
                  <a:srgbClr val="FFFF00"/>
                </a:highlight>
                <a:ea typeface="SimHei" panose="02010609060101010101" pitchFamily="49" charset="-122"/>
              </a:rPr>
              <a:t>Where are A and B from?</a:t>
            </a:r>
            <a:endParaRPr kumimoji="1" lang="zh-CN" altLang="en-US" dirty="0">
              <a:highlight>
                <a:srgbClr val="FFFF00"/>
              </a:highlight>
              <a:ea typeface="SimHei" panose="02010609060101010101" pitchFamily="49" charset="-122"/>
            </a:endParaRPr>
          </a:p>
        </p:txBody>
      </p:sp>
    </p:spTree>
    <p:extLst>
      <p:ext uri="{BB962C8B-B14F-4D97-AF65-F5344CB8AC3E}">
        <p14:creationId xmlns:p14="http://schemas.microsoft.com/office/powerpoint/2010/main" val="3700459338"/>
      </p:ext>
    </p:extLst>
  </p:cSld>
  <p:clrMapOvr>
    <a:masterClrMapping/>
  </p:clrMapOvr>
</p:sld>
</file>

<file path=ppt/slides/slide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CF68694D-29BA-3440-A067-806C270E9CF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CN" dirty="0"/>
              <a:t>参照</a:t>
            </a:r>
            <a:r>
              <a:rPr lang="zh-CN" altLang="en-US" dirty="0"/>
              <a:t>：多周期的控制信号</a:t>
            </a:r>
            <a:endParaRPr lang="en-CN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F847270D-6CE9-6B48-AD8D-967A6445C34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1806CE5-282B-4233-8654-09F35EA875E2}" type="slidenum">
              <a:rPr lang="zh-CN" altLang="en-US" smtClean="0"/>
              <a:t>64</a:t>
            </a:fld>
            <a:endParaRPr lang="zh-CN" altLang="en-US"/>
          </a:p>
        </p:txBody>
      </p:sp>
      <p:pic>
        <p:nvPicPr>
          <p:cNvPr id="8" name="图片 7">
            <a:extLst>
              <a:ext uri="{FF2B5EF4-FFF2-40B4-BE49-F238E27FC236}">
                <a16:creationId xmlns:a16="http://schemas.microsoft.com/office/drawing/2014/main" id="{A2ED148A-8544-4E2A-9E50-CD993CFB9B66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14933" y="1131153"/>
            <a:ext cx="8926834" cy="543157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85395106"/>
      </p:ext>
    </p:extLst>
  </p:cSld>
  <p:clrMapOvr>
    <a:masterClrMapping/>
  </p:clrMapOvr>
</p:sld>
</file>

<file path=ppt/slides/slide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>
            <a:extLst>
              <a:ext uri="{FF2B5EF4-FFF2-40B4-BE49-F238E27FC236}">
                <a16:creationId xmlns:a16="http://schemas.microsoft.com/office/drawing/2014/main" id="{AEA9B5D6-EE3F-4878-AEF1-A7516743FA3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dirty="0"/>
              <a:t>简化的</a:t>
            </a:r>
            <a:r>
              <a:rPr lang="zh-CN" altLang="en-CN" dirty="0"/>
              <a:t>流水线</a:t>
            </a:r>
            <a:r>
              <a:rPr lang="zh-CN" altLang="en-US" dirty="0"/>
              <a:t>数据通路</a:t>
            </a:r>
          </a:p>
        </p:txBody>
      </p:sp>
      <p:sp>
        <p:nvSpPr>
          <p:cNvPr id="135" name="Rectangle 136">
            <a:extLst>
              <a:ext uri="{FF2B5EF4-FFF2-40B4-BE49-F238E27FC236}">
                <a16:creationId xmlns:a16="http://schemas.microsoft.com/office/drawing/2014/main" id="{BF72B85C-CFC3-449F-927C-14D084F790C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35943" y="5973844"/>
            <a:ext cx="2261446" cy="643750"/>
          </a:xfrm>
          <a:prstGeom prst="rect">
            <a:avLst/>
          </a:prstGeom>
          <a:solidFill>
            <a:schemeClr val="bg1">
              <a:lumMod val="95000"/>
            </a:schemeClr>
          </a:solidFill>
          <a:ln w="28575">
            <a:solidFill>
              <a:srgbClr val="0070C0"/>
            </a:solidFill>
            <a:miter lim="800000"/>
            <a:headEnd/>
            <a:tailEnd/>
          </a:ln>
          <a:effectLst/>
        </p:spPr>
        <p:txBody>
          <a:bodyPr wrap="square" lIns="90473" tIns="44442" rIns="90473" bIns="44442">
            <a:spAutoFit/>
          </a:bodyPr>
          <a:lstStyle/>
          <a:p>
            <a:pPr eaLnBrk="0" hangingPunct="0"/>
            <a:r>
              <a:rPr lang="en-US" altLang="zh-CN" dirty="0">
                <a:solidFill>
                  <a:srgbClr val="0070C0"/>
                </a:solidFill>
                <a:latin typeface="Arial" pitchFamily="34" charset="0"/>
                <a:ea typeface="SimHei" panose="02010609060101010101" pitchFamily="49" charset="-122"/>
              </a:rPr>
              <a:t>ID/EX</a:t>
            </a:r>
            <a:r>
              <a:rPr lang="zh-CN" altLang="en-US" dirty="0">
                <a:latin typeface="Arial" pitchFamily="34" charset="0"/>
                <a:ea typeface="SimHei" panose="02010609060101010101" pitchFamily="49" charset="-122"/>
              </a:rPr>
              <a:t>：</a:t>
            </a:r>
            <a:r>
              <a:rPr lang="en-US" altLang="zh-CN" dirty="0">
                <a:latin typeface="Arial" pitchFamily="34" charset="0"/>
                <a:ea typeface="SimHei" panose="02010609060101010101" pitchFamily="49" charset="-122"/>
              </a:rPr>
              <a:t>138 </a:t>
            </a:r>
            <a:r>
              <a:rPr lang="zh-CN" altLang="en-US" dirty="0">
                <a:latin typeface="Arial" pitchFamily="34" charset="0"/>
                <a:ea typeface="SimHei" panose="02010609060101010101" pitchFamily="49" charset="-122"/>
              </a:rPr>
              <a:t>位</a:t>
            </a:r>
            <a:r>
              <a:rPr lang="en-US" altLang="zh-CN" dirty="0">
                <a:latin typeface="Arial" pitchFamily="34" charset="0"/>
                <a:ea typeface="SimHei" panose="02010609060101010101" pitchFamily="49" charset="-122"/>
              </a:rPr>
              <a:t>+:</a:t>
            </a:r>
          </a:p>
          <a:p>
            <a:pPr eaLnBrk="0" hangingPunct="0"/>
            <a:r>
              <a:rPr lang="en-US" altLang="zh-CN" dirty="0">
                <a:latin typeface="Arial" pitchFamily="34" charset="0"/>
                <a:ea typeface="SimHei" panose="02010609060101010101" pitchFamily="49" charset="-122"/>
              </a:rPr>
              <a:t>32 * 4 + 5 * 2</a:t>
            </a:r>
          </a:p>
        </p:txBody>
      </p:sp>
      <p:sp>
        <p:nvSpPr>
          <p:cNvPr id="136" name="Line 137">
            <a:extLst>
              <a:ext uri="{FF2B5EF4-FFF2-40B4-BE49-F238E27FC236}">
                <a16:creationId xmlns:a16="http://schemas.microsoft.com/office/drawing/2014/main" id="{C3500F88-E3F3-40FA-B3F7-203758EE4362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061421" y="5351438"/>
            <a:ext cx="510579" cy="608643"/>
          </a:xfrm>
          <a:prstGeom prst="line">
            <a:avLst/>
          </a:prstGeom>
          <a:noFill/>
          <a:ln w="28575">
            <a:solidFill>
              <a:srgbClr val="0070C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2075" tIns="46038" rIns="92075" bIns="46038">
            <a:spAutoFit/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139" name="Rectangle 140">
            <a:extLst>
              <a:ext uri="{FF2B5EF4-FFF2-40B4-BE49-F238E27FC236}">
                <a16:creationId xmlns:a16="http://schemas.microsoft.com/office/drawing/2014/main" id="{A33C01BA-4ABF-4065-B576-A3046C77661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73894" y="5972423"/>
            <a:ext cx="2261447" cy="643750"/>
          </a:xfrm>
          <a:prstGeom prst="rect">
            <a:avLst/>
          </a:prstGeom>
          <a:solidFill>
            <a:schemeClr val="bg1">
              <a:lumMod val="95000"/>
            </a:schemeClr>
          </a:solidFill>
          <a:ln w="28575">
            <a:solidFill>
              <a:srgbClr val="0070C0"/>
            </a:solidFill>
            <a:miter lim="800000"/>
            <a:headEnd/>
            <a:tailEnd/>
          </a:ln>
          <a:effectLst/>
        </p:spPr>
        <p:txBody>
          <a:bodyPr wrap="square" lIns="90473" tIns="44442" rIns="90473" bIns="44442">
            <a:spAutoFit/>
          </a:bodyPr>
          <a:lstStyle/>
          <a:p>
            <a:pPr eaLnBrk="0" hangingPunct="0"/>
            <a:r>
              <a:rPr lang="en-US" altLang="zh-CN" dirty="0">
                <a:solidFill>
                  <a:srgbClr val="0070C0"/>
                </a:solidFill>
                <a:latin typeface="Arial" pitchFamily="34" charset="0"/>
                <a:ea typeface="SimHei" panose="02010609060101010101" pitchFamily="49" charset="-122"/>
              </a:rPr>
              <a:t>EX/MEM</a:t>
            </a:r>
            <a:r>
              <a:rPr lang="zh-CN" altLang="en-US" dirty="0">
                <a:latin typeface="Arial" pitchFamily="34" charset="0"/>
                <a:ea typeface="SimHei" panose="02010609060101010101" pitchFamily="49" charset="-122"/>
              </a:rPr>
              <a:t>：</a:t>
            </a:r>
            <a:r>
              <a:rPr lang="en-US" altLang="zh-CN" dirty="0">
                <a:latin typeface="Arial" pitchFamily="34" charset="0"/>
                <a:ea typeface="SimHei" panose="02010609060101010101" pitchFamily="49" charset="-122"/>
              </a:rPr>
              <a:t>102 </a:t>
            </a:r>
            <a:r>
              <a:rPr lang="zh-CN" altLang="en-US" dirty="0">
                <a:latin typeface="Arial" pitchFamily="34" charset="0"/>
                <a:ea typeface="SimHei" panose="02010609060101010101" pitchFamily="49" charset="-122"/>
              </a:rPr>
              <a:t>位</a:t>
            </a:r>
            <a:r>
              <a:rPr lang="en-US" altLang="zh-CN" dirty="0">
                <a:latin typeface="Arial" pitchFamily="34" charset="0"/>
                <a:ea typeface="SimHei" panose="02010609060101010101" pitchFamily="49" charset="-122"/>
              </a:rPr>
              <a:t>+:</a:t>
            </a:r>
          </a:p>
          <a:p>
            <a:pPr eaLnBrk="0" hangingPunct="0"/>
            <a:r>
              <a:rPr lang="en-US" altLang="zh-CN" dirty="0">
                <a:latin typeface="Arial" pitchFamily="34" charset="0"/>
                <a:ea typeface="SimHei" panose="02010609060101010101" pitchFamily="49" charset="-122"/>
              </a:rPr>
              <a:t>32 </a:t>
            </a:r>
            <a:r>
              <a:rPr lang="zh-CN" altLang="en-US" dirty="0">
                <a:latin typeface="Arial" pitchFamily="34" charset="0"/>
                <a:ea typeface="SimHei" panose="02010609060101010101" pitchFamily="49" charset="-122"/>
              </a:rPr>
              <a:t>* </a:t>
            </a:r>
            <a:r>
              <a:rPr lang="en-US" altLang="zh-CN" dirty="0">
                <a:latin typeface="Arial" pitchFamily="34" charset="0"/>
                <a:ea typeface="SimHei" panose="02010609060101010101" pitchFamily="49" charset="-122"/>
              </a:rPr>
              <a:t>3 + “zero” + 5</a:t>
            </a:r>
          </a:p>
        </p:txBody>
      </p:sp>
      <p:sp>
        <p:nvSpPr>
          <p:cNvPr id="140" name="Line 141">
            <a:extLst>
              <a:ext uri="{FF2B5EF4-FFF2-40B4-BE49-F238E27FC236}">
                <a16:creationId xmlns:a16="http://schemas.microsoft.com/office/drawing/2014/main" id="{DC8B3DFF-39BF-4B90-9FEE-E89A6A9C0553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948888" y="5232409"/>
            <a:ext cx="293925" cy="743188"/>
          </a:xfrm>
          <a:prstGeom prst="line">
            <a:avLst/>
          </a:prstGeom>
          <a:noFill/>
          <a:ln w="28575">
            <a:solidFill>
              <a:srgbClr val="0070C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144" name="Rectangle 126">
            <a:extLst>
              <a:ext uri="{FF2B5EF4-FFF2-40B4-BE49-F238E27FC236}">
                <a16:creationId xmlns:a16="http://schemas.microsoft.com/office/drawing/2014/main" id="{3DEE6B77-B258-44F0-B368-A58C1E4B1455}"/>
              </a:ext>
            </a:extLst>
          </p:cNvPr>
          <p:cNvSpPr>
            <a:spLocks noChangeArrowheads="1"/>
          </p:cNvSpPr>
          <p:nvPr/>
        </p:nvSpPr>
        <p:spPr bwMode="auto">
          <a:xfrm>
            <a:off x="138636" y="4779336"/>
            <a:ext cx="2370402" cy="951526"/>
          </a:xfrm>
          <a:prstGeom prst="rect">
            <a:avLst/>
          </a:prstGeom>
          <a:solidFill>
            <a:schemeClr val="bg1">
              <a:lumMod val="95000"/>
            </a:schemeClr>
          </a:solidFill>
          <a:ln w="28575">
            <a:solidFill>
              <a:srgbClr val="0070C0"/>
            </a:solidFill>
            <a:miter lim="800000"/>
            <a:headEnd/>
            <a:tailEnd/>
          </a:ln>
          <a:effectLst/>
        </p:spPr>
        <p:txBody>
          <a:bodyPr wrap="square" lIns="90473" tIns="44442" rIns="90473" bIns="44442">
            <a:spAutoFit/>
          </a:bodyPr>
          <a:lstStyle/>
          <a:p>
            <a:pPr eaLnBrk="0" hangingPunct="0"/>
            <a:r>
              <a:rPr lang="zh-CN" altLang="en-US" dirty="0">
                <a:solidFill>
                  <a:srgbClr val="0070C0"/>
                </a:solidFill>
                <a:latin typeface="Arial" pitchFamily="34" charset="0"/>
                <a:ea typeface="SimHei" panose="02010609060101010101" pitchFamily="49" charset="-122"/>
              </a:rPr>
              <a:t>寄存器应足够</a:t>
            </a:r>
            <a:r>
              <a:rPr lang="en-US" altLang="zh-CN" dirty="0">
                <a:solidFill>
                  <a:srgbClr val="0070C0"/>
                </a:solidFill>
                <a:latin typeface="Arial" pitchFamily="34" charset="0"/>
                <a:ea typeface="SimHei" panose="02010609060101010101" pitchFamily="49" charset="-122"/>
              </a:rPr>
              <a:t>”</a:t>
            </a:r>
            <a:r>
              <a:rPr lang="zh-CN" altLang="en-US" dirty="0">
                <a:solidFill>
                  <a:srgbClr val="0070C0"/>
                </a:solidFill>
                <a:latin typeface="Arial" pitchFamily="34" charset="0"/>
                <a:ea typeface="SimHei" panose="02010609060101010101" pitchFamily="49" charset="-122"/>
              </a:rPr>
              <a:t>宽</a:t>
            </a:r>
            <a:r>
              <a:rPr lang="en-US" altLang="zh-CN" dirty="0">
                <a:solidFill>
                  <a:srgbClr val="0070C0"/>
                </a:solidFill>
                <a:latin typeface="Arial" pitchFamily="34" charset="0"/>
                <a:ea typeface="SimHei" panose="02010609060101010101" pitchFamily="49" charset="-122"/>
              </a:rPr>
              <a:t>”</a:t>
            </a:r>
            <a:r>
              <a:rPr lang="zh-CN" altLang="en-US" dirty="0">
                <a:solidFill>
                  <a:srgbClr val="0070C0"/>
                </a:solidFill>
                <a:latin typeface="Arial" pitchFamily="34" charset="0"/>
                <a:ea typeface="SimHei" panose="02010609060101010101" pitchFamily="49" charset="-122"/>
              </a:rPr>
              <a:t>，</a:t>
            </a:r>
            <a:r>
              <a:rPr lang="zh-CN" altLang="en-US" dirty="0">
                <a:latin typeface="Arial" pitchFamily="34" charset="0"/>
                <a:ea typeface="SimHei" panose="02010609060101010101" pitchFamily="49" charset="-122"/>
              </a:rPr>
              <a:t>比如</a:t>
            </a:r>
            <a:r>
              <a:rPr lang="en-US" altLang="zh-CN" dirty="0">
                <a:solidFill>
                  <a:srgbClr val="0070C0"/>
                </a:solidFill>
                <a:latin typeface="Arial" pitchFamily="34" charset="0"/>
                <a:ea typeface="SimHei" panose="02010609060101010101" pitchFamily="49" charset="-122"/>
              </a:rPr>
              <a:t>IF/ID</a:t>
            </a:r>
            <a:r>
              <a:rPr lang="zh-CN" altLang="en-US" dirty="0">
                <a:latin typeface="Arial" pitchFamily="34" charset="0"/>
                <a:ea typeface="SimHei" panose="02010609060101010101" pitchFamily="49" charset="-122"/>
              </a:rPr>
              <a:t>：</a:t>
            </a:r>
            <a:r>
              <a:rPr lang="en-US" altLang="zh-CN" dirty="0">
                <a:latin typeface="Arial" pitchFamily="34" charset="0"/>
                <a:ea typeface="SimHei" panose="02010609060101010101" pitchFamily="49" charset="-122"/>
              </a:rPr>
              <a:t>64 </a:t>
            </a:r>
            <a:r>
              <a:rPr lang="zh-CN" altLang="en-US" dirty="0">
                <a:latin typeface="Arial" pitchFamily="34" charset="0"/>
                <a:ea typeface="SimHei" panose="02010609060101010101" pitchFamily="49" charset="-122"/>
              </a:rPr>
              <a:t>位</a:t>
            </a:r>
            <a:r>
              <a:rPr lang="en-US" altLang="zh-CN" dirty="0">
                <a:latin typeface="Arial" pitchFamily="34" charset="0"/>
                <a:ea typeface="SimHei" panose="02010609060101010101" pitchFamily="49" charset="-122"/>
              </a:rPr>
              <a:t>:</a:t>
            </a:r>
          </a:p>
          <a:p>
            <a:pPr eaLnBrk="0" hangingPunct="0"/>
            <a:r>
              <a:rPr lang="en-US" altLang="zh-CN" dirty="0">
                <a:latin typeface="Arial" pitchFamily="34" charset="0"/>
                <a:ea typeface="SimHei" panose="02010609060101010101" pitchFamily="49" charset="-122"/>
              </a:rPr>
              <a:t>32 * 2</a:t>
            </a:r>
            <a:endParaRPr lang="zh-CN" altLang="en-US" dirty="0">
              <a:latin typeface="Arial" pitchFamily="34" charset="0"/>
              <a:ea typeface="SimHei" panose="02010609060101010101" pitchFamily="49" charset="-122"/>
            </a:endParaRPr>
          </a:p>
        </p:txBody>
      </p:sp>
      <p:sp>
        <p:nvSpPr>
          <p:cNvPr id="145" name="Line 127">
            <a:extLst>
              <a:ext uri="{FF2B5EF4-FFF2-40B4-BE49-F238E27FC236}">
                <a16:creationId xmlns:a16="http://schemas.microsoft.com/office/drawing/2014/main" id="{11840E36-913B-4419-89E3-4065D31F7757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201883" y="4329691"/>
            <a:ext cx="396233" cy="449644"/>
          </a:xfrm>
          <a:prstGeom prst="line">
            <a:avLst/>
          </a:prstGeom>
          <a:noFill/>
          <a:ln w="28575">
            <a:solidFill>
              <a:srgbClr val="0070C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2075" tIns="46038" rIns="92075" bIns="46038">
            <a:spAutoFit/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147" name="Rectangle 146">
            <a:extLst>
              <a:ext uri="{FF2B5EF4-FFF2-40B4-BE49-F238E27FC236}">
                <a16:creationId xmlns:a16="http://schemas.microsoft.com/office/drawing/2014/main" id="{A2E1E0D1-DAF8-3349-8F6A-940661AC026D}"/>
              </a:ext>
            </a:extLst>
          </p:cNvPr>
          <p:cNvSpPr/>
          <p:nvPr/>
        </p:nvSpPr>
        <p:spPr>
          <a:xfrm>
            <a:off x="193163" y="5825231"/>
            <a:ext cx="1335407" cy="92333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altLang="zh-CN" dirty="0">
                <a:ea typeface="SimHei" panose="02010609060101010101" pitchFamily="49" charset="-122"/>
              </a:rPr>
              <a:t>“+” </a:t>
            </a:r>
            <a:r>
              <a:rPr lang="zh-CN" altLang="en-US" dirty="0">
                <a:ea typeface="SimHei" panose="02010609060101010101" pitchFamily="49" charset="-122"/>
              </a:rPr>
              <a:t>表示</a:t>
            </a:r>
            <a:r>
              <a:rPr lang="en-US" altLang="zh-CN" dirty="0">
                <a:ea typeface="SimHei" panose="02010609060101010101" pitchFamily="49" charset="-122"/>
              </a:rPr>
              <a:t>: </a:t>
            </a:r>
            <a:r>
              <a:rPr lang="zh-CN" altLang="en-US" dirty="0">
                <a:ea typeface="SimHei" panose="02010609060101010101" pitchFamily="49" charset="-122"/>
              </a:rPr>
              <a:t>后续讲解中会逐渐增加</a:t>
            </a:r>
            <a:endParaRPr lang="en-CN" dirty="0">
              <a:ea typeface="SimHei" panose="02010609060101010101" pitchFamily="49" charset="-122"/>
            </a:endParaRPr>
          </a:p>
        </p:txBody>
      </p:sp>
      <p:sp>
        <p:nvSpPr>
          <p:cNvPr id="463" name="Line 8">
            <a:extLst>
              <a:ext uri="{FF2B5EF4-FFF2-40B4-BE49-F238E27FC236}">
                <a16:creationId xmlns:a16="http://schemas.microsoft.com/office/drawing/2014/main" id="{B2959750-77FD-457F-978A-EBC85AFE88A6}"/>
              </a:ext>
            </a:extLst>
          </p:cNvPr>
          <p:cNvSpPr>
            <a:spLocks noChangeShapeType="1"/>
          </p:cNvSpPr>
          <p:nvPr/>
        </p:nvSpPr>
        <p:spPr bwMode="auto">
          <a:xfrm>
            <a:off x="2836345" y="5093530"/>
            <a:ext cx="1747538" cy="0"/>
          </a:xfrm>
          <a:prstGeom prst="line">
            <a:avLst/>
          </a:prstGeom>
          <a:noFill/>
          <a:ln w="19050">
            <a:solidFill>
              <a:sysClr val="windowText" lastClr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</a:endParaRPr>
          </a:p>
        </p:txBody>
      </p:sp>
      <p:sp>
        <p:nvSpPr>
          <p:cNvPr id="464" name="Line 9">
            <a:extLst>
              <a:ext uri="{FF2B5EF4-FFF2-40B4-BE49-F238E27FC236}">
                <a16:creationId xmlns:a16="http://schemas.microsoft.com/office/drawing/2014/main" id="{B763CDFF-5077-4D82-BE1F-D2D020407A9B}"/>
              </a:ext>
            </a:extLst>
          </p:cNvPr>
          <p:cNvSpPr>
            <a:spLocks noChangeShapeType="1"/>
          </p:cNvSpPr>
          <p:nvPr/>
        </p:nvSpPr>
        <p:spPr bwMode="auto">
          <a:xfrm>
            <a:off x="4735843" y="5093530"/>
            <a:ext cx="262057" cy="0"/>
          </a:xfrm>
          <a:prstGeom prst="line">
            <a:avLst/>
          </a:prstGeom>
          <a:noFill/>
          <a:ln w="19050">
            <a:solidFill>
              <a:sysClr val="windowText" lastClr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</a:endParaRPr>
          </a:p>
        </p:txBody>
      </p:sp>
      <p:sp>
        <p:nvSpPr>
          <p:cNvPr id="465" name="Line 10">
            <a:extLst>
              <a:ext uri="{FF2B5EF4-FFF2-40B4-BE49-F238E27FC236}">
                <a16:creationId xmlns:a16="http://schemas.microsoft.com/office/drawing/2014/main" id="{8E87E362-47DF-40CD-90A7-F3AA934AFD00}"/>
              </a:ext>
            </a:extLst>
          </p:cNvPr>
          <p:cNvSpPr>
            <a:spLocks noChangeShapeType="1"/>
          </p:cNvSpPr>
          <p:nvPr/>
        </p:nvSpPr>
        <p:spPr bwMode="auto">
          <a:xfrm>
            <a:off x="6407401" y="5093530"/>
            <a:ext cx="1671558" cy="0"/>
          </a:xfrm>
          <a:prstGeom prst="line">
            <a:avLst/>
          </a:prstGeom>
          <a:noFill/>
          <a:ln w="19050">
            <a:solidFill>
              <a:sysClr val="windowText" lastClr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</a:endParaRPr>
          </a:p>
        </p:txBody>
      </p:sp>
      <p:sp>
        <p:nvSpPr>
          <p:cNvPr id="466" name="Line 11">
            <a:extLst>
              <a:ext uri="{FF2B5EF4-FFF2-40B4-BE49-F238E27FC236}">
                <a16:creationId xmlns:a16="http://schemas.microsoft.com/office/drawing/2014/main" id="{BAF81188-FB6F-40AD-BE99-670DABD7083B}"/>
              </a:ext>
            </a:extLst>
          </p:cNvPr>
          <p:cNvSpPr>
            <a:spLocks noChangeShapeType="1"/>
          </p:cNvSpPr>
          <p:nvPr/>
        </p:nvSpPr>
        <p:spPr bwMode="auto">
          <a:xfrm>
            <a:off x="2836345" y="4815770"/>
            <a:ext cx="0" cy="277759"/>
          </a:xfrm>
          <a:prstGeom prst="line">
            <a:avLst/>
          </a:prstGeom>
          <a:noFill/>
          <a:ln w="19050">
            <a:solidFill>
              <a:sysClr val="windowText" lastClr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</a:endParaRPr>
          </a:p>
        </p:txBody>
      </p:sp>
      <p:sp>
        <p:nvSpPr>
          <p:cNvPr id="467" name="Line 12">
            <a:extLst>
              <a:ext uri="{FF2B5EF4-FFF2-40B4-BE49-F238E27FC236}">
                <a16:creationId xmlns:a16="http://schemas.microsoft.com/office/drawing/2014/main" id="{D70CE80D-027A-47D5-A8CD-4705FD6DCD61}"/>
              </a:ext>
            </a:extLst>
          </p:cNvPr>
          <p:cNvSpPr>
            <a:spLocks noChangeShapeType="1"/>
          </p:cNvSpPr>
          <p:nvPr/>
        </p:nvSpPr>
        <p:spPr bwMode="auto">
          <a:xfrm>
            <a:off x="2760365" y="5541548"/>
            <a:ext cx="5622515" cy="0"/>
          </a:xfrm>
          <a:prstGeom prst="line">
            <a:avLst/>
          </a:prstGeom>
          <a:noFill/>
          <a:ln w="19050">
            <a:solidFill>
              <a:sysClr val="windowText" lastClr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</a:endParaRPr>
          </a:p>
        </p:txBody>
      </p:sp>
      <p:sp>
        <p:nvSpPr>
          <p:cNvPr id="468" name="Line 13">
            <a:extLst>
              <a:ext uri="{FF2B5EF4-FFF2-40B4-BE49-F238E27FC236}">
                <a16:creationId xmlns:a16="http://schemas.microsoft.com/office/drawing/2014/main" id="{C44ED659-0FBE-4C5D-A3D5-1F594F5A2576}"/>
              </a:ext>
            </a:extLst>
          </p:cNvPr>
          <p:cNvSpPr>
            <a:spLocks noChangeShapeType="1"/>
          </p:cNvSpPr>
          <p:nvPr/>
        </p:nvSpPr>
        <p:spPr bwMode="auto">
          <a:xfrm>
            <a:off x="8230920" y="5093530"/>
            <a:ext cx="151960" cy="0"/>
          </a:xfrm>
          <a:prstGeom prst="line">
            <a:avLst/>
          </a:prstGeom>
          <a:noFill/>
          <a:ln w="19050">
            <a:solidFill>
              <a:sysClr val="windowText" lastClr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</a:endParaRPr>
          </a:p>
        </p:txBody>
      </p:sp>
      <p:sp>
        <p:nvSpPr>
          <p:cNvPr id="469" name="Line 14">
            <a:extLst>
              <a:ext uri="{FF2B5EF4-FFF2-40B4-BE49-F238E27FC236}">
                <a16:creationId xmlns:a16="http://schemas.microsoft.com/office/drawing/2014/main" id="{94A08660-54FB-492A-88DC-D13FECFCED0D}"/>
              </a:ext>
            </a:extLst>
          </p:cNvPr>
          <p:cNvSpPr>
            <a:spLocks noChangeShapeType="1"/>
          </p:cNvSpPr>
          <p:nvPr/>
        </p:nvSpPr>
        <p:spPr bwMode="auto">
          <a:xfrm>
            <a:off x="8382879" y="5093530"/>
            <a:ext cx="0" cy="448018"/>
          </a:xfrm>
          <a:prstGeom prst="line">
            <a:avLst/>
          </a:prstGeom>
          <a:noFill/>
          <a:ln w="19050">
            <a:solidFill>
              <a:sysClr val="windowText" lastClr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</a:endParaRPr>
          </a:p>
        </p:txBody>
      </p:sp>
      <p:sp>
        <p:nvSpPr>
          <p:cNvPr id="470" name="Line 15">
            <a:extLst>
              <a:ext uri="{FF2B5EF4-FFF2-40B4-BE49-F238E27FC236}">
                <a16:creationId xmlns:a16="http://schemas.microsoft.com/office/drawing/2014/main" id="{5A17BB36-8DC4-4C51-8BD8-6C0287437901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760365" y="3899306"/>
            <a:ext cx="0" cy="1642241"/>
          </a:xfrm>
          <a:prstGeom prst="line">
            <a:avLst/>
          </a:prstGeom>
          <a:noFill/>
          <a:ln w="19050">
            <a:solidFill>
              <a:sysClr val="windowText" lastClr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</a:endParaRPr>
          </a:p>
        </p:txBody>
      </p:sp>
      <p:sp>
        <p:nvSpPr>
          <p:cNvPr id="471" name="Line 16">
            <a:extLst>
              <a:ext uri="{FF2B5EF4-FFF2-40B4-BE49-F238E27FC236}">
                <a16:creationId xmlns:a16="http://schemas.microsoft.com/office/drawing/2014/main" id="{D52D034D-B01E-4EBC-802E-199A848BCA25}"/>
              </a:ext>
            </a:extLst>
          </p:cNvPr>
          <p:cNvSpPr>
            <a:spLocks noChangeShapeType="1"/>
          </p:cNvSpPr>
          <p:nvPr/>
        </p:nvSpPr>
        <p:spPr bwMode="auto">
          <a:xfrm>
            <a:off x="2760365" y="3904769"/>
            <a:ext cx="379900" cy="0"/>
          </a:xfrm>
          <a:prstGeom prst="line">
            <a:avLst/>
          </a:prstGeom>
          <a:noFill/>
          <a:ln w="19050">
            <a:solidFill>
              <a:sysClr val="windowText" lastClr="00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</a:endParaRPr>
          </a:p>
        </p:txBody>
      </p:sp>
      <p:grpSp>
        <p:nvGrpSpPr>
          <p:cNvPr id="472" name="Group 17">
            <a:extLst>
              <a:ext uri="{FF2B5EF4-FFF2-40B4-BE49-F238E27FC236}">
                <a16:creationId xmlns:a16="http://schemas.microsoft.com/office/drawing/2014/main" id="{8469281A-59ED-4F6E-8F6F-CB02489BEE2E}"/>
              </a:ext>
            </a:extLst>
          </p:cNvPr>
          <p:cNvGrpSpPr>
            <a:grpSpLocks/>
          </p:cNvGrpSpPr>
          <p:nvPr/>
        </p:nvGrpSpPr>
        <p:grpSpPr bwMode="auto">
          <a:xfrm>
            <a:off x="1772626" y="2107617"/>
            <a:ext cx="379900" cy="833278"/>
            <a:chOff x="1392" y="2880"/>
            <a:chExt cx="288" cy="480"/>
          </a:xfrm>
        </p:grpSpPr>
        <p:sp>
          <p:nvSpPr>
            <p:cNvPr id="473" name="Line 18">
              <a:extLst>
                <a:ext uri="{FF2B5EF4-FFF2-40B4-BE49-F238E27FC236}">
                  <a16:creationId xmlns:a16="http://schemas.microsoft.com/office/drawing/2014/main" id="{7CBB5B08-C20A-472D-AEC8-C596C911A1F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92" y="3072"/>
              <a:ext cx="48" cy="48"/>
            </a:xfrm>
            <a:prstGeom prst="line">
              <a:avLst/>
            </a:prstGeom>
            <a:noFill/>
            <a:ln w="19050">
              <a:solidFill>
                <a:sysClr val="windowText" lastClr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F0502020204030204"/>
                <a:ea typeface="等线" panose="02010600030101010101" pitchFamily="2" charset="-122"/>
              </a:endParaRPr>
            </a:p>
          </p:txBody>
        </p:sp>
        <p:sp>
          <p:nvSpPr>
            <p:cNvPr id="474" name="Line 19">
              <a:extLst>
                <a:ext uri="{FF2B5EF4-FFF2-40B4-BE49-F238E27FC236}">
                  <a16:creationId xmlns:a16="http://schemas.microsoft.com/office/drawing/2014/main" id="{872A5279-0FE3-4E7A-9341-95D233BC0C3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392" y="3120"/>
              <a:ext cx="48" cy="48"/>
            </a:xfrm>
            <a:prstGeom prst="line">
              <a:avLst/>
            </a:prstGeom>
            <a:noFill/>
            <a:ln w="19050">
              <a:solidFill>
                <a:sysClr val="windowText" lastClr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F0502020204030204"/>
                <a:ea typeface="等线" panose="02010600030101010101" pitchFamily="2" charset="-122"/>
              </a:endParaRPr>
            </a:p>
          </p:txBody>
        </p:sp>
        <p:sp>
          <p:nvSpPr>
            <p:cNvPr id="475" name="Line 20">
              <a:extLst>
                <a:ext uri="{FF2B5EF4-FFF2-40B4-BE49-F238E27FC236}">
                  <a16:creationId xmlns:a16="http://schemas.microsoft.com/office/drawing/2014/main" id="{44223482-DC22-41F7-B86E-DA44808DD25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392" y="2880"/>
              <a:ext cx="0" cy="192"/>
            </a:xfrm>
            <a:prstGeom prst="line">
              <a:avLst/>
            </a:prstGeom>
            <a:noFill/>
            <a:ln w="19050">
              <a:solidFill>
                <a:sysClr val="windowText" lastClr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F0502020204030204"/>
                <a:ea typeface="等线" panose="02010600030101010101" pitchFamily="2" charset="-122"/>
              </a:endParaRPr>
            </a:p>
          </p:txBody>
        </p:sp>
        <p:sp>
          <p:nvSpPr>
            <p:cNvPr id="476" name="Line 21">
              <a:extLst>
                <a:ext uri="{FF2B5EF4-FFF2-40B4-BE49-F238E27FC236}">
                  <a16:creationId xmlns:a16="http://schemas.microsoft.com/office/drawing/2014/main" id="{7D59D614-B7E0-4E48-990B-89C1DD222B7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392" y="3168"/>
              <a:ext cx="0" cy="192"/>
            </a:xfrm>
            <a:prstGeom prst="line">
              <a:avLst/>
            </a:prstGeom>
            <a:noFill/>
            <a:ln w="19050">
              <a:solidFill>
                <a:sysClr val="windowText" lastClr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F0502020204030204"/>
                <a:ea typeface="等线" panose="02010600030101010101" pitchFamily="2" charset="-122"/>
              </a:endParaRPr>
            </a:p>
          </p:txBody>
        </p:sp>
        <p:sp>
          <p:nvSpPr>
            <p:cNvPr id="477" name="Line 22">
              <a:extLst>
                <a:ext uri="{FF2B5EF4-FFF2-40B4-BE49-F238E27FC236}">
                  <a16:creationId xmlns:a16="http://schemas.microsoft.com/office/drawing/2014/main" id="{46CDD6E4-5B95-43C5-A842-DD645F01D82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392" y="3216"/>
              <a:ext cx="288" cy="144"/>
            </a:xfrm>
            <a:prstGeom prst="line">
              <a:avLst/>
            </a:prstGeom>
            <a:noFill/>
            <a:ln w="19050">
              <a:solidFill>
                <a:sysClr val="windowText" lastClr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F0502020204030204"/>
                <a:ea typeface="等线" panose="02010600030101010101" pitchFamily="2" charset="-122"/>
              </a:endParaRPr>
            </a:p>
          </p:txBody>
        </p:sp>
        <p:sp>
          <p:nvSpPr>
            <p:cNvPr id="478" name="Line 23">
              <a:extLst>
                <a:ext uri="{FF2B5EF4-FFF2-40B4-BE49-F238E27FC236}">
                  <a16:creationId xmlns:a16="http://schemas.microsoft.com/office/drawing/2014/main" id="{80D7D98B-1583-4E9B-B309-11F92E7D4CD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680" y="3024"/>
              <a:ext cx="0" cy="192"/>
            </a:xfrm>
            <a:prstGeom prst="line">
              <a:avLst/>
            </a:prstGeom>
            <a:noFill/>
            <a:ln w="19050">
              <a:solidFill>
                <a:sysClr val="windowText" lastClr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F0502020204030204"/>
                <a:ea typeface="等线" panose="02010600030101010101" pitchFamily="2" charset="-122"/>
              </a:endParaRPr>
            </a:p>
          </p:txBody>
        </p:sp>
        <p:sp>
          <p:nvSpPr>
            <p:cNvPr id="479" name="Line 24">
              <a:extLst>
                <a:ext uri="{FF2B5EF4-FFF2-40B4-BE49-F238E27FC236}">
                  <a16:creationId xmlns:a16="http://schemas.microsoft.com/office/drawing/2014/main" id="{E8AB8144-0637-4DCC-BFC6-60B660AAD4B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92" y="2880"/>
              <a:ext cx="288" cy="144"/>
            </a:xfrm>
            <a:prstGeom prst="line">
              <a:avLst/>
            </a:prstGeom>
            <a:noFill/>
            <a:ln w="19050">
              <a:solidFill>
                <a:sysClr val="windowText" lastClr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F0502020204030204"/>
                <a:ea typeface="等线" panose="02010600030101010101" pitchFamily="2" charset="-122"/>
              </a:endParaRPr>
            </a:p>
          </p:txBody>
        </p:sp>
      </p:grpSp>
      <p:sp>
        <p:nvSpPr>
          <p:cNvPr id="480" name="Rectangle 25">
            <a:extLst>
              <a:ext uri="{FF2B5EF4-FFF2-40B4-BE49-F238E27FC236}">
                <a16:creationId xmlns:a16="http://schemas.microsoft.com/office/drawing/2014/main" id="{22ECCFEA-BDA2-4F05-A3B4-57491768657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88806" y="3010335"/>
            <a:ext cx="1291659" cy="1319357"/>
          </a:xfrm>
          <a:prstGeom prst="rect">
            <a:avLst/>
          </a:prstGeom>
          <a:noFill/>
          <a:ln w="19050">
            <a:solidFill>
              <a:sysClr val="windowText" lastClr="000000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</a:endParaRPr>
          </a:p>
        </p:txBody>
      </p:sp>
      <p:sp>
        <p:nvSpPr>
          <p:cNvPr id="481" name="Rectangle 26">
            <a:extLst>
              <a:ext uri="{FF2B5EF4-FFF2-40B4-BE49-F238E27FC236}">
                <a16:creationId xmlns:a16="http://schemas.microsoft.com/office/drawing/2014/main" id="{74EC9AA7-8119-47F8-A1BF-1E2D1D119953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2927" y="3357534"/>
            <a:ext cx="151960" cy="763838"/>
          </a:xfrm>
          <a:prstGeom prst="rect">
            <a:avLst/>
          </a:prstGeom>
          <a:noFill/>
          <a:ln w="19050">
            <a:solidFill>
              <a:sysClr val="windowText" lastClr="000000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</a:endParaRPr>
          </a:p>
        </p:txBody>
      </p:sp>
      <p:sp>
        <p:nvSpPr>
          <p:cNvPr id="482" name="Line 27">
            <a:extLst>
              <a:ext uri="{FF2B5EF4-FFF2-40B4-BE49-F238E27FC236}">
                <a16:creationId xmlns:a16="http://schemas.microsoft.com/office/drawing/2014/main" id="{34E67EC4-67A8-4103-A710-1922F22CAA67}"/>
              </a:ext>
            </a:extLst>
          </p:cNvPr>
          <p:cNvSpPr>
            <a:spLocks noChangeShapeType="1"/>
          </p:cNvSpPr>
          <p:nvPr/>
        </p:nvSpPr>
        <p:spPr bwMode="auto">
          <a:xfrm>
            <a:off x="784887" y="3704733"/>
            <a:ext cx="303920" cy="0"/>
          </a:xfrm>
          <a:prstGeom prst="line">
            <a:avLst/>
          </a:prstGeom>
          <a:noFill/>
          <a:ln w="19050">
            <a:solidFill>
              <a:sysClr val="windowText" lastClr="00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</a:endParaRPr>
          </a:p>
        </p:txBody>
      </p:sp>
      <p:sp>
        <p:nvSpPr>
          <p:cNvPr id="483" name="Line 28">
            <a:extLst>
              <a:ext uri="{FF2B5EF4-FFF2-40B4-BE49-F238E27FC236}">
                <a16:creationId xmlns:a16="http://schemas.microsoft.com/office/drawing/2014/main" id="{18BFAE8F-39A3-465C-AEEA-DF778141DC45}"/>
              </a:ext>
            </a:extLst>
          </p:cNvPr>
          <p:cNvSpPr>
            <a:spLocks noChangeShapeType="1"/>
          </p:cNvSpPr>
          <p:nvPr/>
        </p:nvSpPr>
        <p:spPr bwMode="auto">
          <a:xfrm>
            <a:off x="860867" y="2246497"/>
            <a:ext cx="911759" cy="0"/>
          </a:xfrm>
          <a:prstGeom prst="line">
            <a:avLst/>
          </a:prstGeom>
          <a:noFill/>
          <a:ln w="19050">
            <a:solidFill>
              <a:sysClr val="windowText" lastClr="00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</a:endParaRPr>
          </a:p>
        </p:txBody>
      </p:sp>
      <p:sp>
        <p:nvSpPr>
          <p:cNvPr id="484" name="Line 29">
            <a:extLst>
              <a:ext uri="{FF2B5EF4-FFF2-40B4-BE49-F238E27FC236}">
                <a16:creationId xmlns:a16="http://schemas.microsoft.com/office/drawing/2014/main" id="{4FAB56EC-9418-4BA2-9ED3-9CB290FEA8C3}"/>
              </a:ext>
            </a:extLst>
          </p:cNvPr>
          <p:cNvSpPr>
            <a:spLocks noChangeShapeType="1"/>
          </p:cNvSpPr>
          <p:nvPr/>
        </p:nvSpPr>
        <p:spPr bwMode="auto">
          <a:xfrm>
            <a:off x="1392726" y="2802015"/>
            <a:ext cx="379900" cy="0"/>
          </a:xfrm>
          <a:prstGeom prst="line">
            <a:avLst/>
          </a:prstGeom>
          <a:noFill/>
          <a:ln w="19050">
            <a:solidFill>
              <a:sysClr val="windowText" lastClr="00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</a:endParaRPr>
          </a:p>
        </p:txBody>
      </p:sp>
      <p:sp>
        <p:nvSpPr>
          <p:cNvPr id="485" name="Text Box 30">
            <a:extLst>
              <a:ext uri="{FF2B5EF4-FFF2-40B4-BE49-F238E27FC236}">
                <a16:creationId xmlns:a16="http://schemas.microsoft.com/office/drawing/2014/main" id="{78294EF2-A5E9-4CD4-9DB1-BCFD6052CF3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12826" y="3496414"/>
            <a:ext cx="747290" cy="46165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1425" tIns="45713" rIns="91425" bIns="45713">
            <a:spAutoFit/>
          </a:bodyPr>
          <a:lstStyle>
            <a:lvl1pPr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1pPr>
            <a:lvl2pPr marL="742950" indent="-28575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2pPr>
            <a:lvl3pPr marL="11430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3pPr>
            <a:lvl4pPr marL="16002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4pPr>
            <a:lvl5pPr marL="20574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9pPr>
          </a:lstStyle>
          <a:p>
            <a:pPr fontAlgn="auto">
              <a:spcBef>
                <a:spcPts val="0"/>
              </a:spcBef>
              <a:spcAft>
                <a:spcPts val="0"/>
              </a:spcAft>
            </a:pPr>
            <a:r>
              <a:rPr lang="en-US" altLang="zh-CN" sz="1200" b="0" dirty="0">
                <a:solidFill>
                  <a:prstClr val="black"/>
                </a:solidFill>
                <a:latin typeface="Arial" pitchFamily="34" charset="0"/>
                <a:ea typeface="SimHei" panose="02010609060101010101" pitchFamily="49" charset="-122"/>
              </a:rPr>
              <a:t>Read</a:t>
            </a:r>
          </a:p>
          <a:p>
            <a:pPr fontAlgn="auto">
              <a:spcBef>
                <a:spcPts val="0"/>
              </a:spcBef>
              <a:spcAft>
                <a:spcPts val="0"/>
              </a:spcAft>
            </a:pPr>
            <a:r>
              <a:rPr lang="en-US" altLang="zh-CN" sz="1200" b="0" dirty="0">
                <a:solidFill>
                  <a:prstClr val="black"/>
                </a:solidFill>
                <a:latin typeface="Arial" pitchFamily="34" charset="0"/>
                <a:ea typeface="SimHei" panose="02010609060101010101" pitchFamily="49" charset="-122"/>
              </a:rPr>
              <a:t>Address</a:t>
            </a:r>
          </a:p>
        </p:txBody>
      </p:sp>
      <p:sp>
        <p:nvSpPr>
          <p:cNvPr id="486" name="Text Box 31">
            <a:extLst>
              <a:ext uri="{FF2B5EF4-FFF2-40B4-BE49-F238E27FC236}">
                <a16:creationId xmlns:a16="http://schemas.microsoft.com/office/drawing/2014/main" id="{169C6F37-4926-4EBB-B8AC-297061C5C78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321353" y="3022376"/>
            <a:ext cx="1010182" cy="52320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1425" tIns="45713" rIns="91425" bIns="45713">
            <a:spAutoFit/>
          </a:bodyPr>
          <a:lstStyle>
            <a:lvl1pPr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1pPr>
            <a:lvl2pPr marL="742950" indent="-28575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2pPr>
            <a:lvl3pPr marL="11430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3pPr>
            <a:lvl4pPr marL="16002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4pPr>
            <a:lvl5pPr marL="20574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9pPr>
          </a:lstStyle>
          <a:p>
            <a:pPr algn="ctr" fontAlgn="auto">
              <a:spcBef>
                <a:spcPts val="0"/>
              </a:spcBef>
              <a:spcAft>
                <a:spcPts val="0"/>
              </a:spcAft>
            </a:pPr>
            <a:r>
              <a:rPr lang="en-US" altLang="zh-CN" sz="1400" b="0" dirty="0">
                <a:solidFill>
                  <a:prstClr val="black"/>
                </a:solidFill>
                <a:latin typeface="Arial" pitchFamily="34" charset="0"/>
                <a:ea typeface="SimHei" panose="02010609060101010101" pitchFamily="49" charset="-122"/>
              </a:rPr>
              <a:t>Instruction</a:t>
            </a:r>
          </a:p>
          <a:p>
            <a:pPr algn="ctr" fontAlgn="auto">
              <a:spcBef>
                <a:spcPts val="0"/>
              </a:spcBef>
              <a:spcAft>
                <a:spcPts val="0"/>
              </a:spcAft>
            </a:pPr>
            <a:r>
              <a:rPr lang="en-US" altLang="zh-CN" sz="1400" b="0" dirty="0">
                <a:solidFill>
                  <a:prstClr val="black"/>
                </a:solidFill>
                <a:latin typeface="Arial" pitchFamily="34" charset="0"/>
                <a:ea typeface="SimHei" panose="02010609060101010101" pitchFamily="49" charset="-122"/>
              </a:rPr>
              <a:t>Memory</a:t>
            </a:r>
          </a:p>
        </p:txBody>
      </p:sp>
      <p:sp>
        <p:nvSpPr>
          <p:cNvPr id="487" name="Text Box 32">
            <a:extLst>
              <a:ext uri="{FF2B5EF4-FFF2-40B4-BE49-F238E27FC236}">
                <a16:creationId xmlns:a16="http://schemas.microsoft.com/office/drawing/2014/main" id="{9BB27AAA-239D-490E-A98E-73D6F88B4F6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47300" y="2385231"/>
            <a:ext cx="457146" cy="27698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1425" tIns="45713" rIns="91425" bIns="45713">
            <a:spAutoFit/>
          </a:bodyPr>
          <a:lstStyle>
            <a:lvl1pPr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1pPr>
            <a:lvl2pPr marL="742950" indent="-28575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2pPr>
            <a:lvl3pPr marL="11430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3pPr>
            <a:lvl4pPr marL="16002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4pPr>
            <a:lvl5pPr marL="20574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9pPr>
          </a:lstStyle>
          <a:p>
            <a:pPr fontAlgn="auto">
              <a:spcBef>
                <a:spcPts val="0"/>
              </a:spcBef>
              <a:spcAft>
                <a:spcPts val="0"/>
              </a:spcAft>
            </a:pPr>
            <a:r>
              <a:rPr lang="en-US" altLang="zh-CN" sz="1200" b="0" dirty="0">
                <a:solidFill>
                  <a:prstClr val="black"/>
                </a:solidFill>
                <a:latin typeface="Arial" pitchFamily="34" charset="0"/>
                <a:ea typeface="SimHei" panose="02010609060101010101" pitchFamily="49" charset="-122"/>
              </a:rPr>
              <a:t>Add</a:t>
            </a:r>
          </a:p>
        </p:txBody>
      </p:sp>
      <p:sp>
        <p:nvSpPr>
          <p:cNvPr id="488" name="Text Box 33">
            <a:extLst>
              <a:ext uri="{FF2B5EF4-FFF2-40B4-BE49-F238E27FC236}">
                <a16:creationId xmlns:a16="http://schemas.microsoft.com/office/drawing/2014/main" id="{254CBDAB-9EBA-4A2B-B39D-1DAD0A6AC313}"/>
              </a:ext>
            </a:extLst>
          </p:cNvPr>
          <p:cNvSpPr txBox="1">
            <a:spLocks noChangeArrowheads="1"/>
          </p:cNvSpPr>
          <p:nvPr/>
        </p:nvSpPr>
        <p:spPr bwMode="auto">
          <a:xfrm rot="16200000">
            <a:off x="512365" y="3621936"/>
            <a:ext cx="397836" cy="27698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1425" tIns="45713" rIns="91425" bIns="45713">
            <a:spAutoFit/>
          </a:bodyPr>
          <a:lstStyle>
            <a:lvl1pPr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1pPr>
            <a:lvl2pPr marL="742950" indent="-28575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2pPr>
            <a:lvl3pPr marL="11430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3pPr>
            <a:lvl4pPr marL="16002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4pPr>
            <a:lvl5pPr marL="20574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9pPr>
          </a:lstStyle>
          <a:p>
            <a:pPr fontAlgn="auto">
              <a:spcBef>
                <a:spcPts val="0"/>
              </a:spcBef>
              <a:spcAft>
                <a:spcPts val="0"/>
              </a:spcAft>
            </a:pPr>
            <a:r>
              <a:rPr lang="en-US" altLang="zh-CN" sz="1200" b="0" dirty="0">
                <a:solidFill>
                  <a:prstClr val="black"/>
                </a:solidFill>
                <a:latin typeface="Arial" pitchFamily="34" charset="0"/>
                <a:ea typeface="SimHei" panose="02010609060101010101" pitchFamily="49" charset="-122"/>
              </a:rPr>
              <a:t>PC</a:t>
            </a:r>
          </a:p>
        </p:txBody>
      </p:sp>
      <p:sp>
        <p:nvSpPr>
          <p:cNvPr id="489" name="Line 34">
            <a:extLst>
              <a:ext uri="{FF2B5EF4-FFF2-40B4-BE49-F238E27FC236}">
                <a16:creationId xmlns:a16="http://schemas.microsoft.com/office/drawing/2014/main" id="{C99418AF-3584-43B8-9145-68B0C3CB4FCD}"/>
              </a:ext>
            </a:extLst>
          </p:cNvPr>
          <p:cNvSpPr>
            <a:spLocks noChangeShapeType="1"/>
          </p:cNvSpPr>
          <p:nvPr/>
        </p:nvSpPr>
        <p:spPr bwMode="auto">
          <a:xfrm>
            <a:off x="329007" y="3704733"/>
            <a:ext cx="303920" cy="0"/>
          </a:xfrm>
          <a:prstGeom prst="line">
            <a:avLst/>
          </a:prstGeom>
          <a:noFill/>
          <a:ln w="19050">
            <a:solidFill>
              <a:sysClr val="windowText" lastClr="00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</a:endParaRPr>
          </a:p>
        </p:txBody>
      </p:sp>
      <p:sp>
        <p:nvSpPr>
          <p:cNvPr id="490" name="Text Box 35">
            <a:extLst>
              <a:ext uri="{FF2B5EF4-FFF2-40B4-BE49-F238E27FC236}">
                <a16:creationId xmlns:a16="http://schemas.microsoft.com/office/drawing/2014/main" id="{E955C9EA-8877-4DC7-AC58-043E0B3E122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164786" y="2663136"/>
            <a:ext cx="269595" cy="27698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1425" tIns="45713" rIns="91425" bIns="45713">
            <a:spAutoFit/>
          </a:bodyPr>
          <a:lstStyle>
            <a:lvl1pPr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1pPr>
            <a:lvl2pPr marL="742950" indent="-28575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2pPr>
            <a:lvl3pPr marL="11430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3pPr>
            <a:lvl4pPr marL="16002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4pPr>
            <a:lvl5pPr marL="20574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9pPr>
          </a:lstStyle>
          <a:p>
            <a:pPr fontAlgn="auto">
              <a:spcBef>
                <a:spcPts val="0"/>
              </a:spcBef>
              <a:spcAft>
                <a:spcPts val="0"/>
              </a:spcAft>
            </a:pPr>
            <a:r>
              <a:rPr lang="en-US" altLang="zh-CN" sz="1200" b="0" dirty="0">
                <a:solidFill>
                  <a:prstClr val="black"/>
                </a:solidFill>
                <a:latin typeface="Arial" pitchFamily="34" charset="0"/>
                <a:ea typeface="SimHei" panose="02010609060101010101" pitchFamily="49" charset="-122"/>
              </a:rPr>
              <a:t>4</a:t>
            </a:r>
          </a:p>
        </p:txBody>
      </p:sp>
      <p:sp>
        <p:nvSpPr>
          <p:cNvPr id="491" name="Line 36">
            <a:extLst>
              <a:ext uri="{FF2B5EF4-FFF2-40B4-BE49-F238E27FC236}">
                <a16:creationId xmlns:a16="http://schemas.microsoft.com/office/drawing/2014/main" id="{2E21B651-7779-4FC5-9F30-AE7546464216}"/>
              </a:ext>
            </a:extLst>
          </p:cNvPr>
          <p:cNvSpPr>
            <a:spLocks noChangeShapeType="1"/>
          </p:cNvSpPr>
          <p:nvPr/>
        </p:nvSpPr>
        <p:spPr bwMode="auto">
          <a:xfrm>
            <a:off x="329007" y="1482658"/>
            <a:ext cx="0" cy="2222075"/>
          </a:xfrm>
          <a:prstGeom prst="line">
            <a:avLst/>
          </a:prstGeom>
          <a:noFill/>
          <a:ln w="19050">
            <a:solidFill>
              <a:sysClr val="windowText" lastClr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</a:endParaRPr>
          </a:p>
        </p:txBody>
      </p:sp>
      <p:sp>
        <p:nvSpPr>
          <p:cNvPr id="492" name="AutoShape 37">
            <a:extLst>
              <a:ext uri="{FF2B5EF4-FFF2-40B4-BE49-F238E27FC236}">
                <a16:creationId xmlns:a16="http://schemas.microsoft.com/office/drawing/2014/main" id="{98BD6B35-D6D8-46BF-9B75-DE3556ABCA8F}"/>
              </a:ext>
            </a:extLst>
          </p:cNvPr>
          <p:cNvSpPr>
            <a:spLocks noChangeArrowheads="1"/>
          </p:cNvSpPr>
          <p:nvPr/>
        </p:nvSpPr>
        <p:spPr bwMode="auto">
          <a:xfrm rot="5400000" flipH="1">
            <a:off x="966277" y="1403408"/>
            <a:ext cx="624959" cy="227940"/>
          </a:xfrm>
          <a:custGeom>
            <a:avLst/>
            <a:gdLst>
              <a:gd name="T0" fmla="*/ 8 w 21600"/>
              <a:gd name="T1" fmla="*/ 0 h 21600"/>
              <a:gd name="T2" fmla="*/ 4 w 21600"/>
              <a:gd name="T3" fmla="*/ 1 h 21600"/>
              <a:gd name="T4" fmla="*/ 1 w 21600"/>
              <a:gd name="T5" fmla="*/ 0 h 21600"/>
              <a:gd name="T6" fmla="*/ 4 w 21600"/>
              <a:gd name="T7" fmla="*/ 0 h 21600"/>
              <a:gd name="T8" fmla="*/ 0 60000 65536"/>
              <a:gd name="T9" fmla="*/ 0 60000 65536"/>
              <a:gd name="T10" fmla="*/ 0 60000 65536"/>
              <a:gd name="T11" fmla="*/ 0 60000 65536"/>
              <a:gd name="T12" fmla="*/ 4500 w 21600"/>
              <a:gd name="T13" fmla="*/ 4500 h 21600"/>
              <a:gd name="T14" fmla="*/ 17100 w 21600"/>
              <a:gd name="T15" fmla="*/ 17100 h 21600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21600" h="21600">
                <a:moveTo>
                  <a:pt x="0" y="0"/>
                </a:moveTo>
                <a:lnTo>
                  <a:pt x="5400" y="21600"/>
                </a:lnTo>
                <a:lnTo>
                  <a:pt x="16200" y="21600"/>
                </a:lnTo>
                <a:lnTo>
                  <a:pt x="21600" y="0"/>
                </a:lnTo>
                <a:lnTo>
                  <a:pt x="0" y="0"/>
                </a:lnTo>
                <a:close/>
              </a:path>
            </a:pathLst>
          </a:custGeom>
          <a:noFill/>
          <a:ln w="19050">
            <a:solidFill>
              <a:sysClr val="windowText" lastClr="000000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</a:endParaRPr>
          </a:p>
        </p:txBody>
      </p:sp>
      <p:sp>
        <p:nvSpPr>
          <p:cNvPr id="493" name="Line 38">
            <a:extLst>
              <a:ext uri="{FF2B5EF4-FFF2-40B4-BE49-F238E27FC236}">
                <a16:creationId xmlns:a16="http://schemas.microsoft.com/office/drawing/2014/main" id="{B627A4F4-6829-4E0E-9AA4-826022F3537C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29006" y="1482658"/>
            <a:ext cx="835779" cy="0"/>
          </a:xfrm>
          <a:prstGeom prst="line">
            <a:avLst/>
          </a:prstGeom>
          <a:noFill/>
          <a:ln w="19050">
            <a:solidFill>
              <a:sysClr val="windowText" lastClr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</a:endParaRPr>
          </a:p>
        </p:txBody>
      </p:sp>
      <p:sp>
        <p:nvSpPr>
          <p:cNvPr id="494" name="Rectangle 40">
            <a:extLst>
              <a:ext uri="{FF2B5EF4-FFF2-40B4-BE49-F238E27FC236}">
                <a16:creationId xmlns:a16="http://schemas.microsoft.com/office/drawing/2014/main" id="{3A347A59-28EF-4DF4-A8E4-6455ECFF152A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1267919" y="1230710"/>
            <a:ext cx="159080" cy="61318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19047" tIns="26984" rIns="19047" bIns="26984"/>
          <a:lstStyle/>
          <a:p>
            <a:pPr eaLnBrk="0" fontAlgn="auto" hangingPunct="0">
              <a:spcBef>
                <a:spcPts val="600"/>
              </a:spcBef>
              <a:spcAft>
                <a:spcPts val="600"/>
              </a:spcAft>
            </a:pPr>
            <a:r>
              <a:rPr lang="en-US" altLang="zh-CN" sz="1200" dirty="0">
                <a:solidFill>
                  <a:prstClr val="black"/>
                </a:solidFill>
                <a:latin typeface="Arial" pitchFamily="34" charset="0"/>
                <a:ea typeface="等线" panose="02010600030101010101" pitchFamily="2" charset="-122"/>
              </a:rPr>
              <a:t>1</a:t>
            </a:r>
          </a:p>
          <a:p>
            <a:pPr eaLnBrk="0" fontAlgn="auto" hangingPunct="0">
              <a:spcBef>
                <a:spcPts val="600"/>
              </a:spcBef>
              <a:spcAft>
                <a:spcPts val="600"/>
              </a:spcAft>
            </a:pPr>
            <a:r>
              <a:rPr lang="en-US" altLang="zh-CN" sz="1200" dirty="0">
                <a:solidFill>
                  <a:prstClr val="black"/>
                </a:solidFill>
                <a:latin typeface="Arial" pitchFamily="34" charset="0"/>
                <a:ea typeface="等线" panose="02010600030101010101" pitchFamily="2" charset="-122"/>
              </a:rPr>
              <a:t>0</a:t>
            </a:r>
          </a:p>
        </p:txBody>
      </p:sp>
      <p:sp>
        <p:nvSpPr>
          <p:cNvPr id="495" name="Line 41">
            <a:extLst>
              <a:ext uri="{FF2B5EF4-FFF2-40B4-BE49-F238E27FC236}">
                <a16:creationId xmlns:a16="http://schemas.microsoft.com/office/drawing/2014/main" id="{AB8B69D3-7137-49DB-815E-DE90CB9D6C3D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392726" y="1343779"/>
            <a:ext cx="5242615" cy="0"/>
          </a:xfrm>
          <a:prstGeom prst="line">
            <a:avLst/>
          </a:prstGeom>
          <a:noFill/>
          <a:ln w="19050">
            <a:solidFill>
              <a:sysClr val="windowText" lastClr="00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</a:endParaRPr>
          </a:p>
        </p:txBody>
      </p:sp>
      <p:sp>
        <p:nvSpPr>
          <p:cNvPr id="496" name="Line 42">
            <a:extLst>
              <a:ext uri="{FF2B5EF4-FFF2-40B4-BE49-F238E27FC236}">
                <a16:creationId xmlns:a16="http://schemas.microsoft.com/office/drawing/2014/main" id="{0138E229-BD5F-400E-8CE5-35935B424FEB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912325" y="5715936"/>
            <a:ext cx="5926434" cy="0"/>
          </a:xfrm>
          <a:prstGeom prst="line">
            <a:avLst/>
          </a:prstGeom>
          <a:noFill/>
          <a:ln w="19050">
            <a:solidFill>
              <a:sysClr val="windowText" lastClr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</a:endParaRPr>
          </a:p>
        </p:txBody>
      </p:sp>
      <p:sp>
        <p:nvSpPr>
          <p:cNvPr id="497" name="Rectangle 43">
            <a:extLst>
              <a:ext uri="{FF2B5EF4-FFF2-40B4-BE49-F238E27FC236}">
                <a16:creationId xmlns:a16="http://schemas.microsoft.com/office/drawing/2014/main" id="{C9531CBA-EF3B-4B36-9C4F-02D5CE099D0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40264" y="3010335"/>
            <a:ext cx="1291659" cy="1319357"/>
          </a:xfrm>
          <a:prstGeom prst="rect">
            <a:avLst/>
          </a:prstGeom>
          <a:noFill/>
          <a:ln w="19050">
            <a:solidFill>
              <a:sysClr val="windowText" lastClr="000000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</a:endParaRPr>
          </a:p>
        </p:txBody>
      </p:sp>
      <p:sp>
        <p:nvSpPr>
          <p:cNvPr id="498" name="Line 44">
            <a:extLst>
              <a:ext uri="{FF2B5EF4-FFF2-40B4-BE49-F238E27FC236}">
                <a16:creationId xmlns:a16="http://schemas.microsoft.com/office/drawing/2014/main" id="{07360A55-673E-4EAC-8CA9-007562791A81}"/>
              </a:ext>
            </a:extLst>
          </p:cNvPr>
          <p:cNvSpPr>
            <a:spLocks noChangeShapeType="1"/>
          </p:cNvSpPr>
          <p:nvPr/>
        </p:nvSpPr>
        <p:spPr bwMode="auto">
          <a:xfrm>
            <a:off x="2380465" y="3704733"/>
            <a:ext cx="151960" cy="0"/>
          </a:xfrm>
          <a:prstGeom prst="line">
            <a:avLst/>
          </a:prstGeom>
          <a:noFill/>
          <a:ln w="19050">
            <a:solidFill>
              <a:sysClr val="windowText" lastClr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</a:endParaRPr>
          </a:p>
        </p:txBody>
      </p:sp>
      <p:sp>
        <p:nvSpPr>
          <p:cNvPr id="499" name="Line 45">
            <a:extLst>
              <a:ext uri="{FF2B5EF4-FFF2-40B4-BE49-F238E27FC236}">
                <a16:creationId xmlns:a16="http://schemas.microsoft.com/office/drawing/2014/main" id="{F2C1932C-69C5-4E12-91C7-CE07C283A06F}"/>
              </a:ext>
            </a:extLst>
          </p:cNvPr>
          <p:cNvSpPr>
            <a:spLocks noChangeShapeType="1"/>
          </p:cNvSpPr>
          <p:nvPr/>
        </p:nvSpPr>
        <p:spPr bwMode="auto">
          <a:xfrm>
            <a:off x="2836345" y="3496414"/>
            <a:ext cx="303920" cy="0"/>
          </a:xfrm>
          <a:prstGeom prst="line">
            <a:avLst/>
          </a:prstGeom>
          <a:noFill/>
          <a:ln w="19050">
            <a:solidFill>
              <a:sysClr val="windowText" lastClr="00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</a:endParaRPr>
          </a:p>
        </p:txBody>
      </p:sp>
      <p:sp>
        <p:nvSpPr>
          <p:cNvPr id="500" name="Text Box 46">
            <a:extLst>
              <a:ext uri="{FF2B5EF4-FFF2-40B4-BE49-F238E27FC236}">
                <a16:creationId xmlns:a16="http://schemas.microsoft.com/office/drawing/2014/main" id="{73A17869-4CA9-4A74-B310-22A2100CE29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64284" y="4051932"/>
            <a:ext cx="908039" cy="27698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1425" tIns="45713" rIns="91425" bIns="45713">
            <a:spAutoFit/>
          </a:bodyPr>
          <a:lstStyle>
            <a:lvl1pPr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1pPr>
            <a:lvl2pPr marL="742950" indent="-28575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2pPr>
            <a:lvl3pPr marL="11430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3pPr>
            <a:lvl4pPr marL="16002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4pPr>
            <a:lvl5pPr marL="20574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9pPr>
          </a:lstStyle>
          <a:p>
            <a:pPr fontAlgn="auto">
              <a:spcBef>
                <a:spcPts val="0"/>
              </a:spcBef>
              <a:spcAft>
                <a:spcPts val="0"/>
              </a:spcAft>
            </a:pPr>
            <a:r>
              <a:rPr lang="en-US" altLang="zh-CN" sz="1200" b="0" dirty="0">
                <a:solidFill>
                  <a:prstClr val="black"/>
                </a:solidFill>
                <a:latin typeface="Arial" pitchFamily="34" charset="0"/>
                <a:ea typeface="SimHei" panose="02010609060101010101" pitchFamily="49" charset="-122"/>
              </a:rPr>
              <a:t>Write Data</a:t>
            </a:r>
          </a:p>
        </p:txBody>
      </p:sp>
      <p:sp>
        <p:nvSpPr>
          <p:cNvPr id="501" name="Text Box 47">
            <a:extLst>
              <a:ext uri="{FF2B5EF4-FFF2-40B4-BE49-F238E27FC236}">
                <a16:creationId xmlns:a16="http://schemas.microsoft.com/office/drawing/2014/main" id="{476DFCF9-A065-4BB7-9885-A864280DA67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78531" y="2953915"/>
            <a:ext cx="636332" cy="46148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1425" tIns="45713" rIns="91425" bIns="45713">
            <a:spAutoFit/>
          </a:bodyPr>
          <a:lstStyle>
            <a:lvl1pPr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1pPr>
            <a:lvl2pPr marL="742950" indent="-28575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2pPr>
            <a:lvl3pPr marL="11430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3pPr>
            <a:lvl4pPr marL="16002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4pPr>
            <a:lvl5pPr marL="20574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9pPr>
          </a:lstStyle>
          <a:p>
            <a:pPr fontAlgn="auto">
              <a:spcBef>
                <a:spcPts val="0"/>
              </a:spcBef>
              <a:spcAft>
                <a:spcPts val="0"/>
              </a:spcAft>
            </a:pPr>
            <a:r>
              <a:rPr lang="en-US" altLang="zh-CN" sz="1200" b="0" dirty="0">
                <a:solidFill>
                  <a:prstClr val="black"/>
                </a:solidFill>
                <a:latin typeface="Arial" pitchFamily="34" charset="0"/>
                <a:ea typeface="SimHei" panose="02010609060101010101" pitchFamily="49" charset="-122"/>
              </a:rPr>
              <a:t>Read </a:t>
            </a:r>
          </a:p>
          <a:p>
            <a:pPr fontAlgn="auto">
              <a:spcBef>
                <a:spcPts val="0"/>
              </a:spcBef>
              <a:spcAft>
                <a:spcPts val="0"/>
              </a:spcAft>
            </a:pPr>
            <a:r>
              <a:rPr lang="en-US" altLang="zh-CN" sz="1200" b="0" dirty="0" err="1">
                <a:solidFill>
                  <a:prstClr val="black"/>
                </a:solidFill>
                <a:latin typeface="Arial" pitchFamily="34" charset="0"/>
                <a:ea typeface="SimHei" panose="02010609060101010101" pitchFamily="49" charset="-122"/>
              </a:rPr>
              <a:t>Addr</a:t>
            </a:r>
            <a:r>
              <a:rPr lang="en-US" altLang="zh-CN" sz="1200" b="0" dirty="0">
                <a:solidFill>
                  <a:prstClr val="black"/>
                </a:solidFill>
                <a:latin typeface="Arial" pitchFamily="34" charset="0"/>
                <a:ea typeface="SimHei" panose="02010609060101010101" pitchFamily="49" charset="-122"/>
              </a:rPr>
              <a:t> 1</a:t>
            </a:r>
          </a:p>
        </p:txBody>
      </p:sp>
      <p:sp>
        <p:nvSpPr>
          <p:cNvPr id="502" name="Text Box 48">
            <a:extLst>
              <a:ext uri="{FF2B5EF4-FFF2-40B4-BE49-F238E27FC236}">
                <a16:creationId xmlns:a16="http://schemas.microsoft.com/office/drawing/2014/main" id="{CD51F421-3176-4DA8-8B20-6DE7599B5A1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73782" y="3319921"/>
            <a:ext cx="636332" cy="46148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1425" tIns="45713" rIns="91425" bIns="45713">
            <a:spAutoFit/>
          </a:bodyPr>
          <a:lstStyle>
            <a:lvl1pPr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1pPr>
            <a:lvl2pPr marL="742950" indent="-28575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2pPr>
            <a:lvl3pPr marL="11430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3pPr>
            <a:lvl4pPr marL="16002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4pPr>
            <a:lvl5pPr marL="20574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9pPr>
          </a:lstStyle>
          <a:p>
            <a:pPr fontAlgn="auto">
              <a:spcBef>
                <a:spcPts val="0"/>
              </a:spcBef>
              <a:spcAft>
                <a:spcPts val="0"/>
              </a:spcAft>
            </a:pPr>
            <a:r>
              <a:rPr lang="en-US" altLang="zh-CN" sz="1200" b="0" dirty="0">
                <a:solidFill>
                  <a:prstClr val="black"/>
                </a:solidFill>
                <a:latin typeface="Arial" pitchFamily="34" charset="0"/>
                <a:ea typeface="SimHei" panose="02010609060101010101" pitchFamily="49" charset="-122"/>
              </a:rPr>
              <a:t>Read </a:t>
            </a:r>
          </a:p>
          <a:p>
            <a:pPr fontAlgn="auto">
              <a:spcBef>
                <a:spcPts val="0"/>
              </a:spcBef>
              <a:spcAft>
                <a:spcPts val="0"/>
              </a:spcAft>
            </a:pPr>
            <a:r>
              <a:rPr lang="en-US" altLang="zh-CN" sz="1200" b="0" dirty="0" err="1">
                <a:solidFill>
                  <a:prstClr val="black"/>
                </a:solidFill>
                <a:latin typeface="Arial" pitchFamily="34" charset="0"/>
                <a:ea typeface="SimHei" panose="02010609060101010101" pitchFamily="49" charset="-122"/>
              </a:rPr>
              <a:t>Addr</a:t>
            </a:r>
            <a:r>
              <a:rPr lang="en-US" altLang="zh-CN" sz="1200" b="0" dirty="0">
                <a:solidFill>
                  <a:prstClr val="black"/>
                </a:solidFill>
                <a:latin typeface="Arial" pitchFamily="34" charset="0"/>
                <a:ea typeface="SimHei" panose="02010609060101010101" pitchFamily="49" charset="-122"/>
              </a:rPr>
              <a:t> 2</a:t>
            </a:r>
          </a:p>
        </p:txBody>
      </p:sp>
      <p:sp>
        <p:nvSpPr>
          <p:cNvPr id="503" name="Text Box 49">
            <a:extLst>
              <a:ext uri="{FF2B5EF4-FFF2-40B4-BE49-F238E27FC236}">
                <a16:creationId xmlns:a16="http://schemas.microsoft.com/office/drawing/2014/main" id="{2A4AA6AC-4B11-4C8C-8E3B-5A66072D5B6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80071" y="3774172"/>
            <a:ext cx="899575" cy="27698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1425" tIns="45713" rIns="91425" bIns="45713">
            <a:spAutoFit/>
          </a:bodyPr>
          <a:lstStyle>
            <a:lvl1pPr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1pPr>
            <a:lvl2pPr marL="742950" indent="-28575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2pPr>
            <a:lvl3pPr marL="11430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3pPr>
            <a:lvl4pPr marL="16002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4pPr>
            <a:lvl5pPr marL="20574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9pPr>
          </a:lstStyle>
          <a:p>
            <a:pPr fontAlgn="auto">
              <a:spcBef>
                <a:spcPts val="0"/>
              </a:spcBef>
              <a:spcAft>
                <a:spcPts val="0"/>
              </a:spcAft>
            </a:pPr>
            <a:r>
              <a:rPr lang="en-US" altLang="zh-CN" sz="1200" b="0" dirty="0">
                <a:solidFill>
                  <a:prstClr val="black"/>
                </a:solidFill>
                <a:latin typeface="Arial" pitchFamily="34" charset="0"/>
                <a:ea typeface="SimHei" panose="02010609060101010101" pitchFamily="49" charset="-122"/>
              </a:rPr>
              <a:t>Write </a:t>
            </a:r>
            <a:r>
              <a:rPr lang="en-US" altLang="zh-CN" sz="1200" b="0" dirty="0" err="1">
                <a:solidFill>
                  <a:prstClr val="black"/>
                </a:solidFill>
                <a:latin typeface="Arial" pitchFamily="34" charset="0"/>
                <a:ea typeface="SimHei" panose="02010609060101010101" pitchFamily="49" charset="-122"/>
              </a:rPr>
              <a:t>Addr</a:t>
            </a:r>
            <a:endParaRPr lang="en-US" altLang="zh-CN" sz="1200" b="0" dirty="0">
              <a:solidFill>
                <a:prstClr val="black"/>
              </a:solidFill>
              <a:latin typeface="Arial" pitchFamily="34" charset="0"/>
              <a:ea typeface="SimHei" panose="02010609060101010101" pitchFamily="49" charset="-122"/>
            </a:endParaRPr>
          </a:p>
        </p:txBody>
      </p:sp>
      <p:sp>
        <p:nvSpPr>
          <p:cNvPr id="504" name="Text Box 50">
            <a:extLst>
              <a:ext uri="{FF2B5EF4-FFF2-40B4-BE49-F238E27FC236}">
                <a16:creationId xmlns:a16="http://schemas.microsoft.com/office/drawing/2014/main" id="{751A1A31-B3A0-4DE1-B732-4AD92A8BA8A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662914" y="3470190"/>
            <a:ext cx="622256" cy="30776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1425" tIns="45713" rIns="91425" bIns="45713">
            <a:spAutoFit/>
          </a:bodyPr>
          <a:lstStyle>
            <a:lvl1pPr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1pPr>
            <a:lvl2pPr marL="742950" indent="-28575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2pPr>
            <a:lvl3pPr marL="11430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3pPr>
            <a:lvl4pPr marL="16002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4pPr>
            <a:lvl5pPr marL="20574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9pPr>
          </a:lstStyle>
          <a:p>
            <a:pPr algn="ctr" fontAlgn="auto">
              <a:spcBef>
                <a:spcPts val="0"/>
              </a:spcBef>
              <a:spcAft>
                <a:spcPts val="0"/>
              </a:spcAft>
            </a:pPr>
            <a:r>
              <a:rPr lang="en-US" altLang="zh-CN" sz="1400" b="0" dirty="0">
                <a:solidFill>
                  <a:prstClr val="black"/>
                </a:solidFill>
                <a:latin typeface="Arial" pitchFamily="34" charset="0"/>
                <a:ea typeface="SimHei" panose="02010609060101010101" pitchFamily="49" charset="-122"/>
              </a:rPr>
              <a:t>Regs</a:t>
            </a:r>
          </a:p>
        </p:txBody>
      </p:sp>
      <p:sp>
        <p:nvSpPr>
          <p:cNvPr id="505" name="Text Box 51">
            <a:extLst>
              <a:ext uri="{FF2B5EF4-FFF2-40B4-BE49-F238E27FC236}">
                <a16:creationId xmlns:a16="http://schemas.microsoft.com/office/drawing/2014/main" id="{B767F681-34C9-46FA-B46A-D3CF2929FC8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830662" y="3149214"/>
            <a:ext cx="679964" cy="46165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1425" tIns="45713" rIns="91425" bIns="45713">
            <a:spAutoFit/>
          </a:bodyPr>
          <a:lstStyle>
            <a:lvl1pPr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1pPr>
            <a:lvl2pPr marL="742950" indent="-28575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2pPr>
            <a:lvl3pPr marL="11430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3pPr>
            <a:lvl4pPr marL="16002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4pPr>
            <a:lvl5pPr marL="20574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9pPr>
          </a:lstStyle>
          <a:p>
            <a:pPr algn="r" fontAlgn="auto">
              <a:spcBef>
                <a:spcPts val="0"/>
              </a:spcBef>
              <a:spcAft>
                <a:spcPts val="0"/>
              </a:spcAft>
            </a:pPr>
            <a:r>
              <a:rPr lang="en-US" altLang="zh-CN" sz="1200" b="0" dirty="0">
                <a:solidFill>
                  <a:prstClr val="black"/>
                </a:solidFill>
                <a:latin typeface="Arial" pitchFamily="34" charset="0"/>
                <a:ea typeface="SimHei" panose="02010609060101010101" pitchFamily="49" charset="-122"/>
              </a:rPr>
              <a:t>Read</a:t>
            </a:r>
          </a:p>
          <a:p>
            <a:pPr algn="r" fontAlgn="auto">
              <a:spcBef>
                <a:spcPts val="0"/>
              </a:spcBef>
              <a:spcAft>
                <a:spcPts val="0"/>
              </a:spcAft>
            </a:pPr>
            <a:r>
              <a:rPr lang="en-US" altLang="zh-CN" sz="1200" b="0" dirty="0">
                <a:solidFill>
                  <a:prstClr val="black"/>
                </a:solidFill>
                <a:latin typeface="Arial" pitchFamily="34" charset="0"/>
                <a:ea typeface="SimHei" panose="02010609060101010101" pitchFamily="49" charset="-122"/>
              </a:rPr>
              <a:t> Data 1</a:t>
            </a:r>
          </a:p>
        </p:txBody>
      </p:sp>
      <p:sp>
        <p:nvSpPr>
          <p:cNvPr id="506" name="Text Box 52">
            <a:extLst>
              <a:ext uri="{FF2B5EF4-FFF2-40B4-BE49-F238E27FC236}">
                <a16:creationId xmlns:a16="http://schemas.microsoft.com/office/drawing/2014/main" id="{8A920FD4-F729-4A41-9103-96D95C2D1AD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816859" y="3774173"/>
            <a:ext cx="679964" cy="46165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1425" tIns="45713" rIns="91425" bIns="45713">
            <a:spAutoFit/>
          </a:bodyPr>
          <a:lstStyle>
            <a:lvl1pPr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1pPr>
            <a:lvl2pPr marL="742950" indent="-28575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2pPr>
            <a:lvl3pPr marL="11430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3pPr>
            <a:lvl4pPr marL="16002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4pPr>
            <a:lvl5pPr marL="20574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9pPr>
          </a:lstStyle>
          <a:p>
            <a:pPr algn="r" fontAlgn="auto">
              <a:spcBef>
                <a:spcPts val="0"/>
              </a:spcBef>
              <a:spcAft>
                <a:spcPts val="0"/>
              </a:spcAft>
            </a:pPr>
            <a:r>
              <a:rPr lang="en-US" altLang="zh-CN" sz="1200" b="0" dirty="0">
                <a:solidFill>
                  <a:prstClr val="black"/>
                </a:solidFill>
                <a:latin typeface="Arial" pitchFamily="34" charset="0"/>
                <a:ea typeface="SimHei" panose="02010609060101010101" pitchFamily="49" charset="-122"/>
              </a:rPr>
              <a:t>Read</a:t>
            </a:r>
          </a:p>
          <a:p>
            <a:pPr algn="r" fontAlgn="auto">
              <a:spcBef>
                <a:spcPts val="0"/>
              </a:spcBef>
              <a:spcAft>
                <a:spcPts val="0"/>
              </a:spcAft>
            </a:pPr>
            <a:r>
              <a:rPr lang="en-US" altLang="zh-CN" sz="1200" b="0" dirty="0">
                <a:solidFill>
                  <a:prstClr val="black"/>
                </a:solidFill>
                <a:latin typeface="Arial" pitchFamily="34" charset="0"/>
                <a:ea typeface="SimHei" panose="02010609060101010101" pitchFamily="49" charset="-122"/>
              </a:rPr>
              <a:t> Data 2</a:t>
            </a:r>
          </a:p>
        </p:txBody>
      </p:sp>
      <p:sp>
        <p:nvSpPr>
          <p:cNvPr id="507" name="Line 53">
            <a:extLst>
              <a:ext uri="{FF2B5EF4-FFF2-40B4-BE49-F238E27FC236}">
                <a16:creationId xmlns:a16="http://schemas.microsoft.com/office/drawing/2014/main" id="{936483EA-A93B-4FE9-9E1C-D57A7C3ED8AA}"/>
              </a:ext>
            </a:extLst>
          </p:cNvPr>
          <p:cNvSpPr>
            <a:spLocks noChangeShapeType="1"/>
          </p:cNvSpPr>
          <p:nvPr/>
        </p:nvSpPr>
        <p:spPr bwMode="auto">
          <a:xfrm>
            <a:off x="2836345" y="4815770"/>
            <a:ext cx="379900" cy="0"/>
          </a:xfrm>
          <a:prstGeom prst="line">
            <a:avLst/>
          </a:prstGeom>
          <a:noFill/>
          <a:ln w="19050">
            <a:solidFill>
              <a:sysClr val="windowText" lastClr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</a:endParaRPr>
          </a:p>
        </p:txBody>
      </p:sp>
      <p:sp>
        <p:nvSpPr>
          <p:cNvPr id="508" name="Line 54">
            <a:extLst>
              <a:ext uri="{FF2B5EF4-FFF2-40B4-BE49-F238E27FC236}">
                <a16:creationId xmlns:a16="http://schemas.microsoft.com/office/drawing/2014/main" id="{1280A1B4-F2E9-4B98-BF6F-718E43FD9F4E}"/>
              </a:ext>
            </a:extLst>
          </p:cNvPr>
          <p:cNvSpPr>
            <a:spLocks noChangeShapeType="1"/>
          </p:cNvSpPr>
          <p:nvPr/>
        </p:nvSpPr>
        <p:spPr bwMode="auto">
          <a:xfrm>
            <a:off x="3021543" y="4749518"/>
            <a:ext cx="75980" cy="138880"/>
          </a:xfrm>
          <a:prstGeom prst="line">
            <a:avLst/>
          </a:prstGeom>
          <a:noFill/>
          <a:ln w="12700">
            <a:solidFill>
              <a:sysClr val="windowText" lastClr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</a:endParaRPr>
          </a:p>
        </p:txBody>
      </p:sp>
      <p:sp>
        <p:nvSpPr>
          <p:cNvPr id="509" name="Line 55">
            <a:extLst>
              <a:ext uri="{FF2B5EF4-FFF2-40B4-BE49-F238E27FC236}">
                <a16:creationId xmlns:a16="http://schemas.microsoft.com/office/drawing/2014/main" id="{4ED068F2-0B20-4708-B298-DC51A1798DFC}"/>
              </a:ext>
            </a:extLst>
          </p:cNvPr>
          <p:cNvSpPr>
            <a:spLocks noChangeShapeType="1"/>
          </p:cNvSpPr>
          <p:nvPr/>
        </p:nvSpPr>
        <p:spPr bwMode="auto">
          <a:xfrm>
            <a:off x="4234054" y="4733847"/>
            <a:ext cx="75980" cy="138880"/>
          </a:xfrm>
          <a:prstGeom prst="line">
            <a:avLst/>
          </a:prstGeom>
          <a:noFill/>
          <a:ln w="12700">
            <a:solidFill>
              <a:sysClr val="windowText" lastClr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</a:endParaRPr>
          </a:p>
        </p:txBody>
      </p:sp>
      <p:sp>
        <p:nvSpPr>
          <p:cNvPr id="510" name="Text Box 56">
            <a:extLst>
              <a:ext uri="{FF2B5EF4-FFF2-40B4-BE49-F238E27FC236}">
                <a16:creationId xmlns:a16="http://schemas.microsoft.com/office/drawing/2014/main" id="{053DD55C-3677-4329-B9C1-AFFF68B7280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902832" y="4838245"/>
            <a:ext cx="379889" cy="27698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1425" tIns="45713" rIns="91425" bIns="45713">
            <a:spAutoFit/>
          </a:bodyPr>
          <a:lstStyle>
            <a:lvl1pPr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1pPr>
            <a:lvl2pPr marL="742950" indent="-28575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2pPr>
            <a:lvl3pPr marL="11430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3pPr>
            <a:lvl4pPr marL="16002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4pPr>
            <a:lvl5pPr marL="20574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9pPr>
          </a:lstStyle>
          <a:p>
            <a:pPr fontAlgn="auto">
              <a:spcBef>
                <a:spcPts val="0"/>
              </a:spcBef>
              <a:spcAft>
                <a:spcPts val="0"/>
              </a:spcAft>
            </a:pPr>
            <a:r>
              <a:rPr lang="en-US" altLang="zh-CN" sz="1200" b="0" dirty="0">
                <a:solidFill>
                  <a:prstClr val="black"/>
                </a:solidFill>
                <a:latin typeface="Arial" pitchFamily="34" charset="0"/>
                <a:ea typeface="SimHei" panose="02010609060101010101" pitchFamily="49" charset="-122"/>
              </a:rPr>
              <a:t>16</a:t>
            </a:r>
          </a:p>
        </p:txBody>
      </p:sp>
      <p:sp>
        <p:nvSpPr>
          <p:cNvPr id="511" name="Text Box 57">
            <a:extLst>
              <a:ext uri="{FF2B5EF4-FFF2-40B4-BE49-F238E27FC236}">
                <a16:creationId xmlns:a16="http://schemas.microsoft.com/office/drawing/2014/main" id="{B30BE5BE-6BAC-407B-996D-C650325EA8C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128003" y="4815770"/>
            <a:ext cx="354554" cy="27698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1425" tIns="45713" rIns="91425" bIns="45713">
            <a:spAutoFit/>
          </a:bodyPr>
          <a:lstStyle>
            <a:lvl1pPr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1pPr>
            <a:lvl2pPr marL="742950" indent="-28575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2pPr>
            <a:lvl3pPr marL="11430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3pPr>
            <a:lvl4pPr marL="16002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4pPr>
            <a:lvl5pPr marL="20574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9pPr>
          </a:lstStyle>
          <a:p>
            <a:pPr fontAlgn="auto">
              <a:spcBef>
                <a:spcPts val="0"/>
              </a:spcBef>
              <a:spcAft>
                <a:spcPts val="0"/>
              </a:spcAft>
            </a:pPr>
            <a:r>
              <a:rPr lang="en-US" altLang="zh-CN" sz="1200" b="0" dirty="0">
                <a:solidFill>
                  <a:prstClr val="black"/>
                </a:solidFill>
                <a:latin typeface="Arial" pitchFamily="34" charset="0"/>
                <a:ea typeface="SimHei" panose="02010609060101010101" pitchFamily="49" charset="-122"/>
              </a:rPr>
              <a:t>32</a:t>
            </a:r>
          </a:p>
        </p:txBody>
      </p:sp>
      <p:sp>
        <p:nvSpPr>
          <p:cNvPr id="512" name="Line 58">
            <a:extLst>
              <a:ext uri="{FF2B5EF4-FFF2-40B4-BE49-F238E27FC236}">
                <a16:creationId xmlns:a16="http://schemas.microsoft.com/office/drawing/2014/main" id="{9D321028-31D4-4506-8CF1-D347F4F8DBCB}"/>
              </a:ext>
            </a:extLst>
          </p:cNvPr>
          <p:cNvSpPr>
            <a:spLocks noChangeShapeType="1"/>
          </p:cNvSpPr>
          <p:nvPr/>
        </p:nvSpPr>
        <p:spPr bwMode="auto">
          <a:xfrm>
            <a:off x="2912325" y="4190812"/>
            <a:ext cx="227939" cy="0"/>
          </a:xfrm>
          <a:prstGeom prst="line">
            <a:avLst/>
          </a:prstGeom>
          <a:noFill/>
          <a:ln w="19050">
            <a:solidFill>
              <a:sysClr val="windowText" lastClr="00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</a:endParaRPr>
          </a:p>
        </p:txBody>
      </p:sp>
      <p:sp>
        <p:nvSpPr>
          <p:cNvPr id="513" name="Line 59">
            <a:extLst>
              <a:ext uri="{FF2B5EF4-FFF2-40B4-BE49-F238E27FC236}">
                <a16:creationId xmlns:a16="http://schemas.microsoft.com/office/drawing/2014/main" id="{A9A73F38-E1F7-48B3-B2F6-6CE2CD615343}"/>
              </a:ext>
            </a:extLst>
          </p:cNvPr>
          <p:cNvSpPr>
            <a:spLocks noChangeShapeType="1"/>
          </p:cNvSpPr>
          <p:nvPr/>
        </p:nvSpPr>
        <p:spPr bwMode="auto">
          <a:xfrm>
            <a:off x="4843353" y="4329692"/>
            <a:ext cx="0" cy="486079"/>
          </a:xfrm>
          <a:prstGeom prst="line">
            <a:avLst/>
          </a:prstGeom>
          <a:noFill/>
          <a:ln w="19050">
            <a:solidFill>
              <a:sysClr val="windowText" lastClr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</a:endParaRPr>
          </a:p>
        </p:txBody>
      </p:sp>
      <p:sp>
        <p:nvSpPr>
          <p:cNvPr id="514" name="Line 60">
            <a:extLst>
              <a:ext uri="{FF2B5EF4-FFF2-40B4-BE49-F238E27FC236}">
                <a16:creationId xmlns:a16="http://schemas.microsoft.com/office/drawing/2014/main" id="{F97598AC-B23F-469F-BD08-53EFCF60A012}"/>
              </a:ext>
            </a:extLst>
          </p:cNvPr>
          <p:cNvSpPr>
            <a:spLocks noChangeShapeType="1"/>
          </p:cNvSpPr>
          <p:nvPr/>
        </p:nvSpPr>
        <p:spPr bwMode="auto">
          <a:xfrm>
            <a:off x="4431923" y="3982492"/>
            <a:ext cx="151960" cy="0"/>
          </a:xfrm>
          <a:prstGeom prst="line">
            <a:avLst/>
          </a:prstGeom>
          <a:noFill/>
          <a:ln w="19050">
            <a:solidFill>
              <a:sysClr val="windowText" lastClr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</a:endParaRPr>
          </a:p>
        </p:txBody>
      </p:sp>
      <p:sp>
        <p:nvSpPr>
          <p:cNvPr id="515" name="Line 61">
            <a:extLst>
              <a:ext uri="{FF2B5EF4-FFF2-40B4-BE49-F238E27FC236}">
                <a16:creationId xmlns:a16="http://schemas.microsoft.com/office/drawing/2014/main" id="{B877FC89-3C42-47F0-A825-58A95A586F5B}"/>
              </a:ext>
            </a:extLst>
          </p:cNvPr>
          <p:cNvSpPr>
            <a:spLocks noChangeShapeType="1"/>
          </p:cNvSpPr>
          <p:nvPr/>
        </p:nvSpPr>
        <p:spPr bwMode="auto">
          <a:xfrm>
            <a:off x="2836345" y="3149214"/>
            <a:ext cx="0" cy="1666556"/>
          </a:xfrm>
          <a:prstGeom prst="line">
            <a:avLst/>
          </a:prstGeom>
          <a:noFill/>
          <a:ln w="19050">
            <a:solidFill>
              <a:sysClr val="windowText" lastClr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</a:endParaRPr>
          </a:p>
        </p:txBody>
      </p:sp>
      <p:sp>
        <p:nvSpPr>
          <p:cNvPr id="516" name="Line 62">
            <a:extLst>
              <a:ext uri="{FF2B5EF4-FFF2-40B4-BE49-F238E27FC236}">
                <a16:creationId xmlns:a16="http://schemas.microsoft.com/office/drawing/2014/main" id="{B9717234-FFBF-483C-8005-A52A58BAEBCC}"/>
              </a:ext>
            </a:extLst>
          </p:cNvPr>
          <p:cNvSpPr>
            <a:spLocks noChangeShapeType="1"/>
          </p:cNvSpPr>
          <p:nvPr/>
        </p:nvSpPr>
        <p:spPr bwMode="auto">
          <a:xfrm>
            <a:off x="2836345" y="3149214"/>
            <a:ext cx="303920" cy="0"/>
          </a:xfrm>
          <a:prstGeom prst="line">
            <a:avLst/>
          </a:prstGeom>
          <a:noFill/>
          <a:ln w="19050">
            <a:solidFill>
              <a:sysClr val="windowText" lastClr="00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</a:endParaRPr>
          </a:p>
        </p:txBody>
      </p:sp>
      <p:sp>
        <p:nvSpPr>
          <p:cNvPr id="517" name="Line 63">
            <a:extLst>
              <a:ext uri="{FF2B5EF4-FFF2-40B4-BE49-F238E27FC236}">
                <a16:creationId xmlns:a16="http://schemas.microsoft.com/office/drawing/2014/main" id="{D2A571F3-7916-46B2-8AD4-020EE37C8EE3}"/>
              </a:ext>
            </a:extLst>
          </p:cNvPr>
          <p:cNvSpPr>
            <a:spLocks noChangeShapeType="1"/>
          </p:cNvSpPr>
          <p:nvPr/>
        </p:nvSpPr>
        <p:spPr bwMode="auto">
          <a:xfrm>
            <a:off x="4735843" y="3982492"/>
            <a:ext cx="471997" cy="0"/>
          </a:xfrm>
          <a:prstGeom prst="line">
            <a:avLst/>
          </a:prstGeom>
          <a:noFill/>
          <a:ln w="19050">
            <a:solidFill>
              <a:sysClr val="windowText" lastClr="00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</a:endParaRPr>
          </a:p>
        </p:txBody>
      </p:sp>
      <p:sp>
        <p:nvSpPr>
          <p:cNvPr id="518" name="Line 64">
            <a:extLst>
              <a:ext uri="{FF2B5EF4-FFF2-40B4-BE49-F238E27FC236}">
                <a16:creationId xmlns:a16="http://schemas.microsoft.com/office/drawing/2014/main" id="{BE01B54B-8333-40E5-8ABC-A6542C67D99C}"/>
              </a:ext>
            </a:extLst>
          </p:cNvPr>
          <p:cNvSpPr>
            <a:spLocks noChangeShapeType="1"/>
          </p:cNvSpPr>
          <p:nvPr/>
        </p:nvSpPr>
        <p:spPr bwMode="auto">
          <a:xfrm>
            <a:off x="6103483" y="3774173"/>
            <a:ext cx="151514" cy="0"/>
          </a:xfrm>
          <a:prstGeom prst="line">
            <a:avLst/>
          </a:prstGeom>
          <a:noFill/>
          <a:ln w="19050">
            <a:solidFill>
              <a:sysClr val="windowText" lastClr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</a:endParaRPr>
          </a:p>
        </p:txBody>
      </p:sp>
      <p:sp>
        <p:nvSpPr>
          <p:cNvPr id="519" name="Freeform 65">
            <a:extLst>
              <a:ext uri="{FF2B5EF4-FFF2-40B4-BE49-F238E27FC236}">
                <a16:creationId xmlns:a16="http://schemas.microsoft.com/office/drawing/2014/main" id="{FF9A38A3-6237-4E61-A4EC-C4259A32F194}"/>
              </a:ext>
            </a:extLst>
          </p:cNvPr>
          <p:cNvSpPr>
            <a:spLocks/>
          </p:cNvSpPr>
          <p:nvPr/>
        </p:nvSpPr>
        <p:spPr bwMode="auto">
          <a:xfrm>
            <a:off x="5571622" y="3149214"/>
            <a:ext cx="531860" cy="1180477"/>
          </a:xfrm>
          <a:custGeom>
            <a:avLst/>
            <a:gdLst>
              <a:gd name="T0" fmla="*/ 0 w 388"/>
              <a:gd name="T1" fmla="*/ 0 h 1099"/>
              <a:gd name="T2" fmla="*/ 0 w 388"/>
              <a:gd name="T3" fmla="*/ 235 h 1099"/>
              <a:gd name="T4" fmla="*/ 83 w 388"/>
              <a:gd name="T5" fmla="*/ 305 h 1099"/>
              <a:gd name="T6" fmla="*/ 0 w 388"/>
              <a:gd name="T7" fmla="*/ 370 h 1099"/>
              <a:gd name="T8" fmla="*/ 0 w 388"/>
              <a:gd name="T9" fmla="*/ 605 h 1099"/>
              <a:gd name="T10" fmla="*/ 290 w 388"/>
              <a:gd name="T11" fmla="*/ 436 h 1099"/>
              <a:gd name="T12" fmla="*/ 290 w 388"/>
              <a:gd name="T13" fmla="*/ 170 h 1099"/>
              <a:gd name="T14" fmla="*/ 0 w 388"/>
              <a:gd name="T15" fmla="*/ 0 h 1099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0" t="0" r="r" b="b"/>
            <a:pathLst>
              <a:path w="388" h="1099">
                <a:moveTo>
                  <a:pt x="0" y="0"/>
                </a:moveTo>
                <a:lnTo>
                  <a:pt x="0" y="427"/>
                </a:lnTo>
                <a:lnTo>
                  <a:pt x="111" y="553"/>
                </a:lnTo>
                <a:lnTo>
                  <a:pt x="0" y="671"/>
                </a:lnTo>
                <a:lnTo>
                  <a:pt x="0" y="1098"/>
                </a:lnTo>
                <a:lnTo>
                  <a:pt x="387" y="790"/>
                </a:lnTo>
                <a:lnTo>
                  <a:pt x="387" y="308"/>
                </a:lnTo>
                <a:lnTo>
                  <a:pt x="0" y="0"/>
                </a:lnTo>
              </a:path>
            </a:pathLst>
          </a:custGeom>
          <a:noFill/>
          <a:ln w="19050" cap="rnd" cmpd="sng">
            <a:solidFill>
              <a:srgbClr val="000000"/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fontAlgn="auto">
              <a:spcBef>
                <a:spcPts val="0"/>
              </a:spcBef>
              <a:spcAft>
                <a:spcPts val="0"/>
              </a:spcAft>
            </a:pPr>
            <a:endParaRPr lang="zh-CN" altLang="en-US">
              <a:solidFill>
                <a:prstClr val="black"/>
              </a:solidFill>
              <a:latin typeface="等线" panose="020F0502020204030204"/>
              <a:ea typeface="等线" panose="02010600030101010101" pitchFamily="2" charset="-122"/>
            </a:endParaRPr>
          </a:p>
        </p:txBody>
      </p:sp>
      <p:sp>
        <p:nvSpPr>
          <p:cNvPr id="520" name="Rectangle 66">
            <a:extLst>
              <a:ext uri="{FF2B5EF4-FFF2-40B4-BE49-F238E27FC236}">
                <a16:creationId xmlns:a16="http://schemas.microsoft.com/office/drawing/2014/main" id="{5EB457E6-FAD8-4137-9870-AFEF7116EE1F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68180" y="3626888"/>
            <a:ext cx="473292" cy="1985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19047" tIns="26984" rIns="19047" bIns="26984"/>
          <a:lstStyle/>
          <a:p>
            <a:pPr algn="ctr" defTabSz="903288" eaLnBrk="0" fontAlgn="auto" hangingPunct="0">
              <a:lnSpc>
                <a:spcPts val="1600"/>
              </a:lnSpc>
              <a:spcBef>
                <a:spcPts val="0"/>
              </a:spcBef>
              <a:spcAft>
                <a:spcPts val="0"/>
              </a:spcAft>
              <a:tabLst>
                <a:tab pos="452438" algn="l"/>
                <a:tab pos="903288" algn="l"/>
                <a:tab pos="1357313" algn="l"/>
              </a:tabLst>
            </a:pPr>
            <a:r>
              <a:rPr lang="en-US" altLang="zh-CN" sz="1400" b="1" dirty="0">
                <a:solidFill>
                  <a:srgbClr val="000000"/>
                </a:solidFill>
                <a:latin typeface="Arial" pitchFamily="34" charset="0"/>
                <a:ea typeface="等线" panose="02010600030101010101" pitchFamily="2" charset="-122"/>
              </a:rPr>
              <a:t>ALU</a:t>
            </a:r>
          </a:p>
        </p:txBody>
      </p:sp>
      <p:sp>
        <p:nvSpPr>
          <p:cNvPr id="521" name="AutoShape 67">
            <a:extLst>
              <a:ext uri="{FF2B5EF4-FFF2-40B4-BE49-F238E27FC236}">
                <a16:creationId xmlns:a16="http://schemas.microsoft.com/office/drawing/2014/main" id="{EF886C7D-96FF-4324-81F1-1CA24783AEEC}"/>
              </a:ext>
            </a:extLst>
          </p:cNvPr>
          <p:cNvSpPr>
            <a:spLocks noChangeArrowheads="1"/>
          </p:cNvSpPr>
          <p:nvPr/>
        </p:nvSpPr>
        <p:spPr bwMode="auto">
          <a:xfrm rot="16200000">
            <a:off x="4974612" y="4005956"/>
            <a:ext cx="694398" cy="227940"/>
          </a:xfrm>
          <a:custGeom>
            <a:avLst/>
            <a:gdLst>
              <a:gd name="T0" fmla="*/ 9 w 21600"/>
              <a:gd name="T1" fmla="*/ 0 h 21600"/>
              <a:gd name="T2" fmla="*/ 5 w 21600"/>
              <a:gd name="T3" fmla="*/ 1 h 21600"/>
              <a:gd name="T4" fmla="*/ 1 w 21600"/>
              <a:gd name="T5" fmla="*/ 0 h 21600"/>
              <a:gd name="T6" fmla="*/ 5 w 21600"/>
              <a:gd name="T7" fmla="*/ 0 h 21600"/>
              <a:gd name="T8" fmla="*/ 0 60000 65536"/>
              <a:gd name="T9" fmla="*/ 0 60000 65536"/>
              <a:gd name="T10" fmla="*/ 0 60000 65536"/>
              <a:gd name="T11" fmla="*/ 0 60000 65536"/>
              <a:gd name="T12" fmla="*/ 4500 w 21600"/>
              <a:gd name="T13" fmla="*/ 4500 h 21600"/>
              <a:gd name="T14" fmla="*/ 17100 w 21600"/>
              <a:gd name="T15" fmla="*/ 17100 h 21600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21600" h="21600">
                <a:moveTo>
                  <a:pt x="0" y="0"/>
                </a:moveTo>
                <a:lnTo>
                  <a:pt x="5400" y="21600"/>
                </a:lnTo>
                <a:lnTo>
                  <a:pt x="16200" y="21600"/>
                </a:lnTo>
                <a:lnTo>
                  <a:pt x="21600" y="0"/>
                </a:lnTo>
                <a:lnTo>
                  <a:pt x="0" y="0"/>
                </a:lnTo>
                <a:close/>
              </a:path>
            </a:pathLst>
          </a:custGeom>
          <a:noFill/>
          <a:ln w="19050">
            <a:solidFill>
              <a:sysClr val="windowText" lastClr="000000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</a:endParaRPr>
          </a:p>
        </p:txBody>
      </p:sp>
      <p:sp>
        <p:nvSpPr>
          <p:cNvPr id="522" name="Line 68">
            <a:extLst>
              <a:ext uri="{FF2B5EF4-FFF2-40B4-BE49-F238E27FC236}">
                <a16:creationId xmlns:a16="http://schemas.microsoft.com/office/drawing/2014/main" id="{9243B02D-2CFC-45DC-954B-00CA0348ABFF}"/>
              </a:ext>
            </a:extLst>
          </p:cNvPr>
          <p:cNvSpPr>
            <a:spLocks noChangeShapeType="1"/>
          </p:cNvSpPr>
          <p:nvPr/>
        </p:nvSpPr>
        <p:spPr bwMode="auto">
          <a:xfrm>
            <a:off x="5440813" y="4121372"/>
            <a:ext cx="130809" cy="0"/>
          </a:xfrm>
          <a:prstGeom prst="line">
            <a:avLst/>
          </a:prstGeom>
          <a:noFill/>
          <a:ln w="19050">
            <a:solidFill>
              <a:sysClr val="windowText" lastClr="00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</a:endParaRPr>
          </a:p>
        </p:txBody>
      </p:sp>
      <p:sp>
        <p:nvSpPr>
          <p:cNvPr id="523" name="Rectangle 70">
            <a:extLst>
              <a:ext uri="{FF2B5EF4-FFF2-40B4-BE49-F238E27FC236}">
                <a16:creationId xmlns:a16="http://schemas.microsoft.com/office/drawing/2014/main" id="{C4494AD1-F057-4F28-BF3E-09ED9EEDF47F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34753" y="3823952"/>
            <a:ext cx="120300" cy="68210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19047" tIns="26984" rIns="19047" bIns="26984"/>
          <a:lstStyle/>
          <a:p>
            <a:pPr eaLnBrk="0" fontAlgn="auto" hangingPunct="0">
              <a:spcBef>
                <a:spcPts val="600"/>
              </a:spcBef>
              <a:spcAft>
                <a:spcPts val="600"/>
              </a:spcAft>
            </a:pPr>
            <a:r>
              <a:rPr lang="en-US" altLang="zh-CN" sz="1200" dirty="0">
                <a:solidFill>
                  <a:prstClr val="black"/>
                </a:solidFill>
                <a:latin typeface="Arial" pitchFamily="34" charset="0"/>
                <a:ea typeface="等线" panose="02010600030101010101" pitchFamily="2" charset="-122"/>
              </a:rPr>
              <a:t>0</a:t>
            </a:r>
          </a:p>
          <a:p>
            <a:pPr eaLnBrk="0" fontAlgn="auto" hangingPunct="0">
              <a:spcBef>
                <a:spcPts val="600"/>
              </a:spcBef>
              <a:spcAft>
                <a:spcPts val="600"/>
              </a:spcAft>
            </a:pPr>
            <a:r>
              <a:rPr lang="en-US" altLang="zh-CN" sz="1200" dirty="0">
                <a:solidFill>
                  <a:prstClr val="black"/>
                </a:solidFill>
                <a:latin typeface="Arial" pitchFamily="34" charset="0"/>
                <a:ea typeface="等线" panose="02010600030101010101" pitchFamily="2" charset="-122"/>
              </a:rPr>
              <a:t>1</a:t>
            </a:r>
          </a:p>
        </p:txBody>
      </p:sp>
      <p:sp>
        <p:nvSpPr>
          <p:cNvPr id="524" name="Line 71">
            <a:extLst>
              <a:ext uri="{FF2B5EF4-FFF2-40B4-BE49-F238E27FC236}">
                <a16:creationId xmlns:a16="http://schemas.microsoft.com/office/drawing/2014/main" id="{E558F3DF-535E-4F90-9FAA-179749EEA44B}"/>
              </a:ext>
            </a:extLst>
          </p:cNvPr>
          <p:cNvSpPr>
            <a:spLocks noChangeShapeType="1"/>
          </p:cNvSpPr>
          <p:nvPr/>
        </p:nvSpPr>
        <p:spPr bwMode="auto">
          <a:xfrm>
            <a:off x="4843354" y="4329692"/>
            <a:ext cx="364486" cy="0"/>
          </a:xfrm>
          <a:prstGeom prst="line">
            <a:avLst/>
          </a:prstGeom>
          <a:noFill/>
          <a:ln w="19050">
            <a:solidFill>
              <a:sysClr val="windowText" lastClr="00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</a:endParaRPr>
          </a:p>
        </p:txBody>
      </p:sp>
      <p:sp>
        <p:nvSpPr>
          <p:cNvPr id="525" name="Line 72">
            <a:extLst>
              <a:ext uri="{FF2B5EF4-FFF2-40B4-BE49-F238E27FC236}">
                <a16:creationId xmlns:a16="http://schemas.microsoft.com/office/drawing/2014/main" id="{80FF129B-8D9C-4274-AF4D-EA259F096A1B}"/>
              </a:ext>
            </a:extLst>
          </p:cNvPr>
          <p:cNvSpPr>
            <a:spLocks noChangeShapeType="1"/>
          </p:cNvSpPr>
          <p:nvPr/>
        </p:nvSpPr>
        <p:spPr bwMode="auto">
          <a:xfrm>
            <a:off x="4735843" y="3357534"/>
            <a:ext cx="810453" cy="0"/>
          </a:xfrm>
          <a:prstGeom prst="line">
            <a:avLst/>
          </a:prstGeom>
          <a:noFill/>
          <a:ln w="19050">
            <a:solidFill>
              <a:sysClr val="windowText" lastClr="00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</a:endParaRPr>
          </a:p>
        </p:txBody>
      </p:sp>
      <p:sp>
        <p:nvSpPr>
          <p:cNvPr id="526" name="Oval 73">
            <a:extLst>
              <a:ext uri="{FF2B5EF4-FFF2-40B4-BE49-F238E27FC236}">
                <a16:creationId xmlns:a16="http://schemas.microsoft.com/office/drawing/2014/main" id="{3CD7E247-F74F-497F-902E-39F99993D351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15743" y="2663136"/>
            <a:ext cx="455880" cy="486079"/>
          </a:xfrm>
          <a:prstGeom prst="ellipse">
            <a:avLst/>
          </a:prstGeom>
          <a:noFill/>
          <a:ln w="19050">
            <a:solidFill>
              <a:sysClr val="windowText" lastClr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</a:endParaRPr>
          </a:p>
        </p:txBody>
      </p:sp>
      <p:sp>
        <p:nvSpPr>
          <p:cNvPr id="527" name="Rectangle 74">
            <a:extLst>
              <a:ext uri="{FF2B5EF4-FFF2-40B4-BE49-F238E27FC236}">
                <a16:creationId xmlns:a16="http://schemas.microsoft.com/office/drawing/2014/main" id="{97AA3630-C636-48C3-A96D-6B08FCB94443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22714" y="2782822"/>
            <a:ext cx="441936" cy="239554"/>
          </a:xfrm>
          <a:prstGeom prst="rect">
            <a:avLst/>
          </a:prstGeom>
          <a:noFill/>
          <a:ln w="12700">
            <a:noFill/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19047" tIns="26984" rIns="19047" bIns="26984"/>
          <a:lstStyle/>
          <a:p>
            <a:pPr algn="ctr" defTabSz="903288" eaLnBrk="0" fontAlgn="auto" hangingPunct="0">
              <a:lnSpc>
                <a:spcPts val="1600"/>
              </a:lnSpc>
              <a:spcBef>
                <a:spcPts val="0"/>
              </a:spcBef>
              <a:spcAft>
                <a:spcPts val="0"/>
              </a:spcAft>
              <a:tabLst>
                <a:tab pos="452438" algn="l"/>
                <a:tab pos="903288" algn="l"/>
                <a:tab pos="1357313" algn="l"/>
              </a:tabLst>
            </a:pPr>
            <a:r>
              <a:rPr lang="en-US" altLang="zh-CN" sz="1400" dirty="0">
                <a:solidFill>
                  <a:srgbClr val="000000"/>
                </a:solidFill>
                <a:latin typeface="Arial" pitchFamily="34" charset="0"/>
                <a:ea typeface="等线" panose="02010600030101010101" pitchFamily="2" charset="-122"/>
              </a:rPr>
              <a:t>&lt;&lt;2</a:t>
            </a:r>
          </a:p>
        </p:txBody>
      </p:sp>
      <p:sp>
        <p:nvSpPr>
          <p:cNvPr id="528" name="Line 75">
            <a:extLst>
              <a:ext uri="{FF2B5EF4-FFF2-40B4-BE49-F238E27FC236}">
                <a16:creationId xmlns:a16="http://schemas.microsoft.com/office/drawing/2014/main" id="{78FD75E9-8E49-4577-A921-C8BFD0A49775}"/>
              </a:ext>
            </a:extLst>
          </p:cNvPr>
          <p:cNvSpPr>
            <a:spLocks noChangeShapeType="1"/>
          </p:cNvSpPr>
          <p:nvPr/>
        </p:nvSpPr>
        <p:spPr bwMode="auto">
          <a:xfrm>
            <a:off x="4843353" y="2940895"/>
            <a:ext cx="272390" cy="0"/>
          </a:xfrm>
          <a:prstGeom prst="line">
            <a:avLst/>
          </a:prstGeom>
          <a:noFill/>
          <a:ln w="19050">
            <a:solidFill>
              <a:sysClr val="windowText" lastClr="00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</a:endParaRPr>
          </a:p>
        </p:txBody>
      </p:sp>
      <p:grpSp>
        <p:nvGrpSpPr>
          <p:cNvPr id="529" name="Group 76">
            <a:extLst>
              <a:ext uri="{FF2B5EF4-FFF2-40B4-BE49-F238E27FC236}">
                <a16:creationId xmlns:a16="http://schemas.microsoft.com/office/drawing/2014/main" id="{BAC9090A-B6D5-441E-A6FA-BD070B8A047A}"/>
              </a:ext>
            </a:extLst>
          </p:cNvPr>
          <p:cNvGrpSpPr>
            <a:grpSpLocks/>
          </p:cNvGrpSpPr>
          <p:nvPr/>
        </p:nvGrpSpPr>
        <p:grpSpPr bwMode="auto">
          <a:xfrm>
            <a:off x="5799562" y="2315936"/>
            <a:ext cx="356156" cy="833278"/>
            <a:chOff x="1392" y="2880"/>
            <a:chExt cx="288" cy="480"/>
          </a:xfrm>
        </p:grpSpPr>
        <p:sp>
          <p:nvSpPr>
            <p:cNvPr id="530" name="Line 77">
              <a:extLst>
                <a:ext uri="{FF2B5EF4-FFF2-40B4-BE49-F238E27FC236}">
                  <a16:creationId xmlns:a16="http://schemas.microsoft.com/office/drawing/2014/main" id="{CC3DC092-7ED3-4554-B843-5548246FD16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92" y="3072"/>
              <a:ext cx="48" cy="48"/>
            </a:xfrm>
            <a:prstGeom prst="line">
              <a:avLst/>
            </a:prstGeom>
            <a:noFill/>
            <a:ln w="19050">
              <a:solidFill>
                <a:sysClr val="windowText" lastClr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F0502020204030204"/>
                <a:ea typeface="等线" panose="02010600030101010101" pitchFamily="2" charset="-122"/>
              </a:endParaRPr>
            </a:p>
          </p:txBody>
        </p:sp>
        <p:sp>
          <p:nvSpPr>
            <p:cNvPr id="531" name="Line 78">
              <a:extLst>
                <a:ext uri="{FF2B5EF4-FFF2-40B4-BE49-F238E27FC236}">
                  <a16:creationId xmlns:a16="http://schemas.microsoft.com/office/drawing/2014/main" id="{C944BB4A-69F7-47AC-A64F-C52BD2F6546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392" y="3120"/>
              <a:ext cx="48" cy="48"/>
            </a:xfrm>
            <a:prstGeom prst="line">
              <a:avLst/>
            </a:prstGeom>
            <a:noFill/>
            <a:ln w="19050">
              <a:solidFill>
                <a:sysClr val="windowText" lastClr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F0502020204030204"/>
                <a:ea typeface="等线" panose="02010600030101010101" pitchFamily="2" charset="-122"/>
              </a:endParaRPr>
            </a:p>
          </p:txBody>
        </p:sp>
        <p:sp>
          <p:nvSpPr>
            <p:cNvPr id="532" name="Line 79">
              <a:extLst>
                <a:ext uri="{FF2B5EF4-FFF2-40B4-BE49-F238E27FC236}">
                  <a16:creationId xmlns:a16="http://schemas.microsoft.com/office/drawing/2014/main" id="{735AA3F5-039C-4C52-8BB7-E52AF04B4AA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392" y="2880"/>
              <a:ext cx="0" cy="192"/>
            </a:xfrm>
            <a:prstGeom prst="line">
              <a:avLst/>
            </a:prstGeom>
            <a:noFill/>
            <a:ln w="19050">
              <a:solidFill>
                <a:sysClr val="windowText" lastClr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F0502020204030204"/>
                <a:ea typeface="等线" panose="02010600030101010101" pitchFamily="2" charset="-122"/>
              </a:endParaRPr>
            </a:p>
          </p:txBody>
        </p:sp>
        <p:sp>
          <p:nvSpPr>
            <p:cNvPr id="533" name="Line 80">
              <a:extLst>
                <a:ext uri="{FF2B5EF4-FFF2-40B4-BE49-F238E27FC236}">
                  <a16:creationId xmlns:a16="http://schemas.microsoft.com/office/drawing/2014/main" id="{5CB97816-FC9C-44CF-AB46-D4567FD3B26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392" y="3168"/>
              <a:ext cx="0" cy="192"/>
            </a:xfrm>
            <a:prstGeom prst="line">
              <a:avLst/>
            </a:prstGeom>
            <a:noFill/>
            <a:ln w="19050">
              <a:solidFill>
                <a:sysClr val="windowText" lastClr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F0502020204030204"/>
                <a:ea typeface="等线" panose="02010600030101010101" pitchFamily="2" charset="-122"/>
              </a:endParaRPr>
            </a:p>
          </p:txBody>
        </p:sp>
        <p:sp>
          <p:nvSpPr>
            <p:cNvPr id="534" name="Line 81">
              <a:extLst>
                <a:ext uri="{FF2B5EF4-FFF2-40B4-BE49-F238E27FC236}">
                  <a16:creationId xmlns:a16="http://schemas.microsoft.com/office/drawing/2014/main" id="{E7CF2511-4AAF-4CAB-8B9B-6AA03DC0B82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392" y="3216"/>
              <a:ext cx="288" cy="144"/>
            </a:xfrm>
            <a:prstGeom prst="line">
              <a:avLst/>
            </a:prstGeom>
            <a:noFill/>
            <a:ln w="19050">
              <a:solidFill>
                <a:sysClr val="windowText" lastClr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F0502020204030204"/>
                <a:ea typeface="等线" panose="02010600030101010101" pitchFamily="2" charset="-122"/>
              </a:endParaRPr>
            </a:p>
          </p:txBody>
        </p:sp>
        <p:sp>
          <p:nvSpPr>
            <p:cNvPr id="535" name="Line 82">
              <a:extLst>
                <a:ext uri="{FF2B5EF4-FFF2-40B4-BE49-F238E27FC236}">
                  <a16:creationId xmlns:a16="http://schemas.microsoft.com/office/drawing/2014/main" id="{60063A71-5567-4E46-B482-6F6FA25F91E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680" y="3024"/>
              <a:ext cx="0" cy="192"/>
            </a:xfrm>
            <a:prstGeom prst="line">
              <a:avLst/>
            </a:prstGeom>
            <a:noFill/>
            <a:ln w="19050">
              <a:solidFill>
                <a:sysClr val="windowText" lastClr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F0502020204030204"/>
                <a:ea typeface="等线" panose="02010600030101010101" pitchFamily="2" charset="-122"/>
              </a:endParaRPr>
            </a:p>
          </p:txBody>
        </p:sp>
        <p:sp>
          <p:nvSpPr>
            <p:cNvPr id="536" name="Line 83">
              <a:extLst>
                <a:ext uri="{FF2B5EF4-FFF2-40B4-BE49-F238E27FC236}">
                  <a16:creationId xmlns:a16="http://schemas.microsoft.com/office/drawing/2014/main" id="{64C3327A-56A0-4878-B146-4FE6BE80B44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92" y="2880"/>
              <a:ext cx="288" cy="144"/>
            </a:xfrm>
            <a:prstGeom prst="line">
              <a:avLst/>
            </a:prstGeom>
            <a:noFill/>
            <a:ln w="19050">
              <a:solidFill>
                <a:sysClr val="windowText" lastClr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F0502020204030204"/>
                <a:ea typeface="等线" panose="02010600030101010101" pitchFamily="2" charset="-122"/>
              </a:endParaRPr>
            </a:p>
          </p:txBody>
        </p:sp>
      </p:grpSp>
      <p:sp>
        <p:nvSpPr>
          <p:cNvPr id="537" name="Text Box 84">
            <a:extLst>
              <a:ext uri="{FF2B5EF4-FFF2-40B4-BE49-F238E27FC236}">
                <a16:creationId xmlns:a16="http://schemas.microsoft.com/office/drawing/2014/main" id="{86D49E78-9E76-4A66-93D8-7E5FE0D1966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763191" y="2599161"/>
            <a:ext cx="457146" cy="27698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1425" tIns="45713" rIns="91425" bIns="45713">
            <a:spAutoFit/>
          </a:bodyPr>
          <a:lstStyle>
            <a:lvl1pPr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1pPr>
            <a:lvl2pPr marL="742950" indent="-28575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2pPr>
            <a:lvl3pPr marL="11430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3pPr>
            <a:lvl4pPr marL="16002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4pPr>
            <a:lvl5pPr marL="20574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9pPr>
          </a:lstStyle>
          <a:p>
            <a:pPr fontAlgn="auto">
              <a:spcBef>
                <a:spcPts val="0"/>
              </a:spcBef>
              <a:spcAft>
                <a:spcPts val="0"/>
              </a:spcAft>
            </a:pPr>
            <a:r>
              <a:rPr lang="en-US" altLang="zh-CN" sz="1200" b="0" dirty="0">
                <a:solidFill>
                  <a:prstClr val="black"/>
                </a:solidFill>
                <a:latin typeface="Arial" pitchFamily="34" charset="0"/>
                <a:ea typeface="SimHei" panose="02010609060101010101" pitchFamily="49" charset="-122"/>
              </a:rPr>
              <a:t>Add</a:t>
            </a:r>
          </a:p>
        </p:txBody>
      </p:sp>
      <p:sp>
        <p:nvSpPr>
          <p:cNvPr id="538" name="Line 85">
            <a:extLst>
              <a:ext uri="{FF2B5EF4-FFF2-40B4-BE49-F238E27FC236}">
                <a16:creationId xmlns:a16="http://schemas.microsoft.com/office/drawing/2014/main" id="{114DAED3-B497-4514-B4E6-3A4601F249A8}"/>
              </a:ext>
            </a:extLst>
          </p:cNvPr>
          <p:cNvSpPr>
            <a:spLocks noChangeShapeType="1"/>
          </p:cNvSpPr>
          <p:nvPr/>
        </p:nvSpPr>
        <p:spPr bwMode="auto">
          <a:xfrm>
            <a:off x="5566901" y="2940895"/>
            <a:ext cx="227940" cy="0"/>
          </a:xfrm>
          <a:prstGeom prst="line">
            <a:avLst/>
          </a:prstGeom>
          <a:noFill/>
          <a:ln w="19050">
            <a:solidFill>
              <a:sysClr val="windowText" lastClr="00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</a:endParaRPr>
          </a:p>
        </p:txBody>
      </p:sp>
      <p:sp>
        <p:nvSpPr>
          <p:cNvPr id="539" name="Rectangle 86">
            <a:extLst>
              <a:ext uri="{FF2B5EF4-FFF2-40B4-BE49-F238E27FC236}">
                <a16:creationId xmlns:a16="http://schemas.microsoft.com/office/drawing/2014/main" id="{59A4311F-6BE5-4CC7-B8EA-7BCA41558D0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35341" y="3184998"/>
            <a:ext cx="1291659" cy="1117207"/>
          </a:xfrm>
          <a:prstGeom prst="rect">
            <a:avLst/>
          </a:prstGeom>
          <a:noFill/>
          <a:ln w="19050">
            <a:solidFill>
              <a:sysClr val="windowText" lastClr="000000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</a:endParaRPr>
          </a:p>
        </p:txBody>
      </p:sp>
      <p:sp>
        <p:nvSpPr>
          <p:cNvPr id="540" name="Line 87">
            <a:extLst>
              <a:ext uri="{FF2B5EF4-FFF2-40B4-BE49-F238E27FC236}">
                <a16:creationId xmlns:a16="http://schemas.microsoft.com/office/drawing/2014/main" id="{7A72AE04-6EE6-4279-BA9E-6279C3B5C234}"/>
              </a:ext>
            </a:extLst>
          </p:cNvPr>
          <p:cNvSpPr>
            <a:spLocks noChangeShapeType="1"/>
          </p:cNvSpPr>
          <p:nvPr/>
        </p:nvSpPr>
        <p:spPr bwMode="auto">
          <a:xfrm>
            <a:off x="6407401" y="3774173"/>
            <a:ext cx="227940" cy="0"/>
          </a:xfrm>
          <a:prstGeom prst="line">
            <a:avLst/>
          </a:prstGeom>
          <a:noFill/>
          <a:ln w="19050">
            <a:solidFill>
              <a:sysClr val="windowText" lastClr="00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</a:endParaRPr>
          </a:p>
        </p:txBody>
      </p:sp>
      <p:sp>
        <p:nvSpPr>
          <p:cNvPr id="541" name="Text Box 88">
            <a:extLst>
              <a:ext uri="{FF2B5EF4-FFF2-40B4-BE49-F238E27FC236}">
                <a16:creationId xmlns:a16="http://schemas.microsoft.com/office/drawing/2014/main" id="{CF10A878-5541-4E54-9BDF-B14B8F450F7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661652" y="3184999"/>
            <a:ext cx="830645" cy="52320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1425" tIns="45713" rIns="91425" bIns="45713">
            <a:spAutoFit/>
          </a:bodyPr>
          <a:lstStyle>
            <a:lvl1pPr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1pPr>
            <a:lvl2pPr marL="742950" indent="-28575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2pPr>
            <a:lvl3pPr marL="11430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3pPr>
            <a:lvl4pPr marL="16002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4pPr>
            <a:lvl5pPr marL="20574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9pPr>
          </a:lstStyle>
          <a:p>
            <a:pPr algn="ctr" fontAlgn="auto">
              <a:spcBef>
                <a:spcPts val="0"/>
              </a:spcBef>
              <a:spcAft>
                <a:spcPts val="0"/>
              </a:spcAft>
            </a:pPr>
            <a:r>
              <a:rPr lang="en-US" altLang="zh-CN" sz="1400" b="0" dirty="0">
                <a:solidFill>
                  <a:prstClr val="black"/>
                </a:solidFill>
                <a:latin typeface="Arial" pitchFamily="34" charset="0"/>
                <a:ea typeface="SimHei" panose="02010609060101010101" pitchFamily="49" charset="-122"/>
              </a:rPr>
              <a:t>Data</a:t>
            </a:r>
          </a:p>
          <a:p>
            <a:pPr algn="ctr" fontAlgn="auto">
              <a:spcBef>
                <a:spcPts val="0"/>
              </a:spcBef>
              <a:spcAft>
                <a:spcPts val="0"/>
              </a:spcAft>
            </a:pPr>
            <a:r>
              <a:rPr lang="en-US" altLang="zh-CN" sz="1400" b="0" dirty="0">
                <a:solidFill>
                  <a:prstClr val="black"/>
                </a:solidFill>
                <a:latin typeface="Arial" pitchFamily="34" charset="0"/>
                <a:ea typeface="SimHei" panose="02010609060101010101" pitchFamily="49" charset="-122"/>
              </a:rPr>
              <a:t>Memory</a:t>
            </a:r>
          </a:p>
        </p:txBody>
      </p:sp>
      <p:sp>
        <p:nvSpPr>
          <p:cNvPr id="542" name="Text Box 89">
            <a:extLst>
              <a:ext uri="{FF2B5EF4-FFF2-40B4-BE49-F238E27FC236}">
                <a16:creationId xmlns:a16="http://schemas.microsoft.com/office/drawing/2014/main" id="{7856BF5F-3C51-4D22-B563-F40BA9BE454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59361" y="3635293"/>
            <a:ext cx="747290" cy="27698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1425" tIns="45713" rIns="91425" bIns="45713">
            <a:spAutoFit/>
          </a:bodyPr>
          <a:lstStyle>
            <a:lvl1pPr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1pPr>
            <a:lvl2pPr marL="742950" indent="-28575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2pPr>
            <a:lvl3pPr marL="11430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3pPr>
            <a:lvl4pPr marL="16002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4pPr>
            <a:lvl5pPr marL="20574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9pPr>
          </a:lstStyle>
          <a:p>
            <a:pPr fontAlgn="auto">
              <a:spcBef>
                <a:spcPts val="0"/>
              </a:spcBef>
              <a:spcAft>
                <a:spcPts val="0"/>
              </a:spcAft>
            </a:pPr>
            <a:r>
              <a:rPr lang="en-US" altLang="zh-CN" sz="1200" b="0" dirty="0">
                <a:solidFill>
                  <a:prstClr val="black"/>
                </a:solidFill>
                <a:latin typeface="Arial" pitchFamily="34" charset="0"/>
                <a:ea typeface="SimHei" panose="02010609060101010101" pitchFamily="49" charset="-122"/>
              </a:rPr>
              <a:t>Address</a:t>
            </a:r>
          </a:p>
        </p:txBody>
      </p:sp>
      <p:sp>
        <p:nvSpPr>
          <p:cNvPr id="543" name="Text Box 90">
            <a:extLst>
              <a:ext uri="{FF2B5EF4-FFF2-40B4-BE49-F238E27FC236}">
                <a16:creationId xmlns:a16="http://schemas.microsoft.com/office/drawing/2014/main" id="{61194753-15AF-4ACB-982F-3A3A70FC90E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59361" y="3982492"/>
            <a:ext cx="908039" cy="27698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1425" tIns="45713" rIns="91425" bIns="45713">
            <a:spAutoFit/>
          </a:bodyPr>
          <a:lstStyle>
            <a:lvl1pPr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1pPr>
            <a:lvl2pPr marL="742950" indent="-28575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2pPr>
            <a:lvl3pPr marL="11430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3pPr>
            <a:lvl4pPr marL="16002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4pPr>
            <a:lvl5pPr marL="20574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9pPr>
          </a:lstStyle>
          <a:p>
            <a:pPr fontAlgn="auto">
              <a:spcBef>
                <a:spcPts val="0"/>
              </a:spcBef>
              <a:spcAft>
                <a:spcPts val="0"/>
              </a:spcAft>
            </a:pPr>
            <a:r>
              <a:rPr lang="en-US" altLang="zh-CN" sz="1200" b="0" dirty="0">
                <a:solidFill>
                  <a:prstClr val="black"/>
                </a:solidFill>
                <a:latin typeface="Arial" pitchFamily="34" charset="0"/>
                <a:ea typeface="SimHei" panose="02010609060101010101" pitchFamily="49" charset="-122"/>
              </a:rPr>
              <a:t>Write Data</a:t>
            </a:r>
          </a:p>
        </p:txBody>
      </p:sp>
      <p:sp>
        <p:nvSpPr>
          <p:cNvPr id="544" name="Text Box 91">
            <a:extLst>
              <a:ext uri="{FF2B5EF4-FFF2-40B4-BE49-F238E27FC236}">
                <a16:creationId xmlns:a16="http://schemas.microsoft.com/office/drawing/2014/main" id="{1C72AA81-31E0-495A-A83E-04B85949804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95140" y="3565853"/>
            <a:ext cx="550120" cy="46165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1425" tIns="45713" rIns="91425" bIns="45713">
            <a:spAutoFit/>
          </a:bodyPr>
          <a:lstStyle>
            <a:lvl1pPr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1pPr>
            <a:lvl2pPr marL="742950" indent="-28575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2pPr>
            <a:lvl3pPr marL="11430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3pPr>
            <a:lvl4pPr marL="16002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4pPr>
            <a:lvl5pPr marL="20574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9pPr>
          </a:lstStyle>
          <a:p>
            <a:pPr fontAlgn="auto">
              <a:spcBef>
                <a:spcPts val="0"/>
              </a:spcBef>
              <a:spcAft>
                <a:spcPts val="0"/>
              </a:spcAft>
            </a:pPr>
            <a:r>
              <a:rPr lang="en-US" altLang="zh-CN" sz="1200" b="0" dirty="0">
                <a:solidFill>
                  <a:prstClr val="black"/>
                </a:solidFill>
                <a:latin typeface="Arial" pitchFamily="34" charset="0"/>
                <a:ea typeface="SimHei" panose="02010609060101010101" pitchFamily="49" charset="-122"/>
              </a:rPr>
              <a:t>Read</a:t>
            </a:r>
          </a:p>
          <a:p>
            <a:pPr fontAlgn="auto">
              <a:spcBef>
                <a:spcPts val="0"/>
              </a:spcBef>
              <a:spcAft>
                <a:spcPts val="0"/>
              </a:spcAft>
            </a:pPr>
            <a:r>
              <a:rPr lang="en-US" altLang="zh-CN" sz="1200" b="0" dirty="0">
                <a:solidFill>
                  <a:prstClr val="black"/>
                </a:solidFill>
                <a:latin typeface="Arial" pitchFamily="34" charset="0"/>
                <a:ea typeface="SimHei" panose="02010609060101010101" pitchFamily="49" charset="-122"/>
              </a:rPr>
              <a:t>Data</a:t>
            </a:r>
          </a:p>
        </p:txBody>
      </p:sp>
      <p:sp>
        <p:nvSpPr>
          <p:cNvPr id="545" name="Line 92">
            <a:extLst>
              <a:ext uri="{FF2B5EF4-FFF2-40B4-BE49-F238E27FC236}">
                <a16:creationId xmlns:a16="http://schemas.microsoft.com/office/drawing/2014/main" id="{3023F5AA-CA9A-459A-B8E0-5E8580C1116B}"/>
              </a:ext>
            </a:extLst>
          </p:cNvPr>
          <p:cNvSpPr>
            <a:spLocks noChangeShapeType="1"/>
          </p:cNvSpPr>
          <p:nvPr/>
        </p:nvSpPr>
        <p:spPr bwMode="auto">
          <a:xfrm>
            <a:off x="6407401" y="4121372"/>
            <a:ext cx="227940" cy="0"/>
          </a:xfrm>
          <a:prstGeom prst="line">
            <a:avLst/>
          </a:prstGeom>
          <a:noFill/>
          <a:ln w="19050">
            <a:solidFill>
              <a:sysClr val="windowText" lastClr="00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</a:endParaRPr>
          </a:p>
        </p:txBody>
      </p:sp>
      <p:sp>
        <p:nvSpPr>
          <p:cNvPr id="546" name="Line 93">
            <a:extLst>
              <a:ext uri="{FF2B5EF4-FFF2-40B4-BE49-F238E27FC236}">
                <a16:creationId xmlns:a16="http://schemas.microsoft.com/office/drawing/2014/main" id="{E098DF0A-38FE-4EA8-86FC-9DD38BC72109}"/>
              </a:ext>
            </a:extLst>
          </p:cNvPr>
          <p:cNvSpPr>
            <a:spLocks noChangeShapeType="1"/>
          </p:cNvSpPr>
          <p:nvPr/>
        </p:nvSpPr>
        <p:spPr bwMode="auto">
          <a:xfrm>
            <a:off x="8230920" y="4121372"/>
            <a:ext cx="227940" cy="1447"/>
          </a:xfrm>
          <a:prstGeom prst="line">
            <a:avLst/>
          </a:prstGeom>
          <a:noFill/>
          <a:ln w="19050">
            <a:solidFill>
              <a:sysClr val="windowText" lastClr="00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</a:endParaRPr>
          </a:p>
        </p:txBody>
      </p:sp>
      <p:sp>
        <p:nvSpPr>
          <p:cNvPr id="547" name="AutoShape 94">
            <a:extLst>
              <a:ext uri="{FF2B5EF4-FFF2-40B4-BE49-F238E27FC236}">
                <a16:creationId xmlns:a16="http://schemas.microsoft.com/office/drawing/2014/main" id="{966A2549-0A6C-4DA7-BA1E-A02D528E75C9}"/>
              </a:ext>
            </a:extLst>
          </p:cNvPr>
          <p:cNvSpPr>
            <a:spLocks noChangeArrowheads="1"/>
          </p:cNvSpPr>
          <p:nvPr/>
        </p:nvSpPr>
        <p:spPr bwMode="auto">
          <a:xfrm rot="16200000">
            <a:off x="8260350" y="3833803"/>
            <a:ext cx="624959" cy="227940"/>
          </a:xfrm>
          <a:custGeom>
            <a:avLst/>
            <a:gdLst>
              <a:gd name="T0" fmla="*/ 8 w 21600"/>
              <a:gd name="T1" fmla="*/ 0 h 21600"/>
              <a:gd name="T2" fmla="*/ 4 w 21600"/>
              <a:gd name="T3" fmla="*/ 1 h 21600"/>
              <a:gd name="T4" fmla="*/ 1 w 21600"/>
              <a:gd name="T5" fmla="*/ 0 h 21600"/>
              <a:gd name="T6" fmla="*/ 4 w 21600"/>
              <a:gd name="T7" fmla="*/ 0 h 21600"/>
              <a:gd name="T8" fmla="*/ 0 60000 65536"/>
              <a:gd name="T9" fmla="*/ 0 60000 65536"/>
              <a:gd name="T10" fmla="*/ 0 60000 65536"/>
              <a:gd name="T11" fmla="*/ 0 60000 65536"/>
              <a:gd name="T12" fmla="*/ 4500 w 21600"/>
              <a:gd name="T13" fmla="*/ 4500 h 21600"/>
              <a:gd name="T14" fmla="*/ 17100 w 21600"/>
              <a:gd name="T15" fmla="*/ 17100 h 21600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21600" h="21600">
                <a:moveTo>
                  <a:pt x="0" y="0"/>
                </a:moveTo>
                <a:lnTo>
                  <a:pt x="5400" y="21600"/>
                </a:lnTo>
                <a:lnTo>
                  <a:pt x="16200" y="21600"/>
                </a:lnTo>
                <a:lnTo>
                  <a:pt x="21600" y="0"/>
                </a:lnTo>
                <a:lnTo>
                  <a:pt x="0" y="0"/>
                </a:lnTo>
                <a:close/>
              </a:path>
            </a:pathLst>
          </a:custGeom>
          <a:noFill/>
          <a:ln w="19050">
            <a:solidFill>
              <a:sysClr val="windowText" lastClr="000000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</a:endParaRPr>
          </a:p>
        </p:txBody>
      </p:sp>
      <p:sp>
        <p:nvSpPr>
          <p:cNvPr id="548" name="Line 98">
            <a:extLst>
              <a:ext uri="{FF2B5EF4-FFF2-40B4-BE49-F238E27FC236}">
                <a16:creationId xmlns:a16="http://schemas.microsoft.com/office/drawing/2014/main" id="{335A8EF2-1A4B-4B4A-A110-9549479B9862}"/>
              </a:ext>
            </a:extLst>
          </p:cNvPr>
          <p:cNvSpPr>
            <a:spLocks noChangeShapeType="1"/>
          </p:cNvSpPr>
          <p:nvPr/>
        </p:nvSpPr>
        <p:spPr bwMode="auto">
          <a:xfrm>
            <a:off x="4431923" y="3357534"/>
            <a:ext cx="151960" cy="0"/>
          </a:xfrm>
          <a:prstGeom prst="line">
            <a:avLst/>
          </a:prstGeom>
          <a:noFill/>
          <a:ln w="19050">
            <a:solidFill>
              <a:sysClr val="windowText" lastClr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</a:endParaRPr>
          </a:p>
        </p:txBody>
      </p:sp>
      <p:sp>
        <p:nvSpPr>
          <p:cNvPr id="549" name="Line 99">
            <a:extLst>
              <a:ext uri="{FF2B5EF4-FFF2-40B4-BE49-F238E27FC236}">
                <a16:creationId xmlns:a16="http://schemas.microsoft.com/office/drawing/2014/main" id="{896CFD2B-E01C-41B7-9022-3B3DA989208F}"/>
              </a:ext>
            </a:extLst>
          </p:cNvPr>
          <p:cNvSpPr>
            <a:spLocks noChangeShapeType="1"/>
          </p:cNvSpPr>
          <p:nvPr/>
        </p:nvSpPr>
        <p:spPr bwMode="auto">
          <a:xfrm>
            <a:off x="2912325" y="4190812"/>
            <a:ext cx="0" cy="1525123"/>
          </a:xfrm>
          <a:prstGeom prst="line">
            <a:avLst/>
          </a:prstGeom>
          <a:noFill/>
          <a:ln w="19050">
            <a:solidFill>
              <a:sysClr val="windowText" lastClr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</a:endParaRPr>
          </a:p>
        </p:txBody>
      </p:sp>
      <p:sp>
        <p:nvSpPr>
          <p:cNvPr id="550" name="Line 100">
            <a:extLst>
              <a:ext uri="{FF2B5EF4-FFF2-40B4-BE49-F238E27FC236}">
                <a16:creationId xmlns:a16="http://schemas.microsoft.com/office/drawing/2014/main" id="{F844A0BB-2C33-4520-9941-61885F238D45}"/>
              </a:ext>
            </a:extLst>
          </p:cNvPr>
          <p:cNvSpPr>
            <a:spLocks noChangeShapeType="1"/>
          </p:cNvSpPr>
          <p:nvPr/>
        </p:nvSpPr>
        <p:spPr bwMode="auto">
          <a:xfrm>
            <a:off x="2152525" y="2524256"/>
            <a:ext cx="227940" cy="0"/>
          </a:xfrm>
          <a:prstGeom prst="line">
            <a:avLst/>
          </a:prstGeom>
          <a:noFill/>
          <a:ln w="19050">
            <a:solidFill>
              <a:sysClr val="windowText" lastClr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</a:endParaRPr>
          </a:p>
        </p:txBody>
      </p:sp>
      <p:sp>
        <p:nvSpPr>
          <p:cNvPr id="551" name="Line 101">
            <a:extLst>
              <a:ext uri="{FF2B5EF4-FFF2-40B4-BE49-F238E27FC236}">
                <a16:creationId xmlns:a16="http://schemas.microsoft.com/office/drawing/2014/main" id="{EF6AAF8F-86A5-4C22-8D65-5C4593496F72}"/>
              </a:ext>
            </a:extLst>
          </p:cNvPr>
          <p:cNvSpPr>
            <a:spLocks noChangeShapeType="1"/>
          </p:cNvSpPr>
          <p:nvPr/>
        </p:nvSpPr>
        <p:spPr bwMode="auto">
          <a:xfrm>
            <a:off x="1392726" y="1621538"/>
            <a:ext cx="911759" cy="0"/>
          </a:xfrm>
          <a:prstGeom prst="line">
            <a:avLst/>
          </a:prstGeom>
          <a:noFill/>
          <a:ln w="19050">
            <a:solidFill>
              <a:sysClr val="windowText" lastClr="000000"/>
            </a:solidFill>
            <a:round/>
            <a:headEnd type="triangle" w="med" len="med"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</a:endParaRPr>
          </a:p>
        </p:txBody>
      </p:sp>
      <p:sp>
        <p:nvSpPr>
          <p:cNvPr id="552" name="Line 102">
            <a:extLst>
              <a:ext uri="{FF2B5EF4-FFF2-40B4-BE49-F238E27FC236}">
                <a16:creationId xmlns:a16="http://schemas.microsoft.com/office/drawing/2014/main" id="{894B7615-DFE2-426A-9916-FEAE453D61CF}"/>
              </a:ext>
            </a:extLst>
          </p:cNvPr>
          <p:cNvSpPr>
            <a:spLocks noChangeShapeType="1"/>
          </p:cNvSpPr>
          <p:nvPr/>
        </p:nvSpPr>
        <p:spPr bwMode="auto">
          <a:xfrm>
            <a:off x="2684385" y="3704733"/>
            <a:ext cx="151960" cy="0"/>
          </a:xfrm>
          <a:prstGeom prst="line">
            <a:avLst/>
          </a:prstGeom>
          <a:noFill/>
          <a:ln w="19050">
            <a:solidFill>
              <a:sysClr val="windowText" lastClr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</a:endParaRPr>
          </a:p>
        </p:txBody>
      </p:sp>
      <p:sp>
        <p:nvSpPr>
          <p:cNvPr id="553" name="Line 103">
            <a:extLst>
              <a:ext uri="{FF2B5EF4-FFF2-40B4-BE49-F238E27FC236}">
                <a16:creationId xmlns:a16="http://schemas.microsoft.com/office/drawing/2014/main" id="{55DFAD63-A324-44CA-B26C-E5EF8138BC67}"/>
              </a:ext>
            </a:extLst>
          </p:cNvPr>
          <p:cNvSpPr>
            <a:spLocks noChangeShapeType="1"/>
          </p:cNvSpPr>
          <p:nvPr/>
        </p:nvSpPr>
        <p:spPr bwMode="auto">
          <a:xfrm>
            <a:off x="7927000" y="3774173"/>
            <a:ext cx="151609" cy="0"/>
          </a:xfrm>
          <a:prstGeom prst="line">
            <a:avLst/>
          </a:prstGeom>
          <a:noFill/>
          <a:ln w="19050">
            <a:solidFill>
              <a:sysClr val="windowText" lastClr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</a:endParaRPr>
          </a:p>
        </p:txBody>
      </p:sp>
      <p:sp>
        <p:nvSpPr>
          <p:cNvPr id="554" name="Rectangle 104">
            <a:extLst>
              <a:ext uri="{FF2B5EF4-FFF2-40B4-BE49-F238E27FC236}">
                <a16:creationId xmlns:a16="http://schemas.microsoft.com/office/drawing/2014/main" id="{A0A4E8F7-5B48-4EAB-99FC-43A7896BA0F3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32425" y="2315936"/>
            <a:ext cx="151960" cy="2013755"/>
          </a:xfrm>
          <a:prstGeom prst="rect">
            <a:avLst/>
          </a:prstGeom>
          <a:pattFill prst="wdUpDiag">
            <a:fgClr>
              <a:sysClr val="window" lastClr="FFFFFF">
                <a:lumMod val="75000"/>
              </a:sysClr>
            </a:fgClr>
            <a:bgClr>
              <a:sysClr val="window" lastClr="FFFFFF"/>
            </a:bgClr>
          </a:pattFill>
          <a:ln w="19050">
            <a:solidFill>
              <a:sysClr val="windowText" lastClr="000000"/>
            </a:solidFill>
            <a:miter lim="800000"/>
            <a:headEnd/>
            <a:tailEnd/>
          </a:ln>
          <a:effectLst/>
        </p:spPr>
        <p:txBody>
          <a:bodyPr wrap="none" anchor="ctr"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</a:endParaRPr>
          </a:p>
        </p:txBody>
      </p:sp>
      <p:sp>
        <p:nvSpPr>
          <p:cNvPr id="555" name="Rectangle 105">
            <a:extLst>
              <a:ext uri="{FF2B5EF4-FFF2-40B4-BE49-F238E27FC236}">
                <a16:creationId xmlns:a16="http://schemas.microsoft.com/office/drawing/2014/main" id="{6BB98BEF-1757-4AB8-9E3F-60728C3C1F3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83882" y="2315936"/>
            <a:ext cx="158319" cy="3133028"/>
          </a:xfrm>
          <a:prstGeom prst="rect">
            <a:avLst/>
          </a:prstGeom>
          <a:pattFill prst="wdUpDiag">
            <a:fgClr>
              <a:sysClr val="window" lastClr="FFFFFF">
                <a:lumMod val="75000"/>
              </a:sysClr>
            </a:fgClr>
            <a:bgClr>
              <a:sysClr val="window" lastClr="FFFFFF"/>
            </a:bgClr>
          </a:pattFill>
          <a:ln w="19050">
            <a:solidFill>
              <a:sysClr val="windowText" lastClr="000000"/>
            </a:solidFill>
            <a:miter lim="800000"/>
            <a:headEnd/>
            <a:tailEnd/>
          </a:ln>
          <a:effectLst/>
        </p:spPr>
        <p:txBody>
          <a:bodyPr wrap="none" anchor="ctr"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</a:endParaRPr>
          </a:p>
        </p:txBody>
      </p:sp>
      <p:sp>
        <p:nvSpPr>
          <p:cNvPr id="556" name="Line 106">
            <a:extLst>
              <a:ext uri="{FF2B5EF4-FFF2-40B4-BE49-F238E27FC236}">
                <a16:creationId xmlns:a16="http://schemas.microsoft.com/office/drawing/2014/main" id="{2E7CC065-4FB6-4DF7-A41A-02E801D969CB}"/>
              </a:ext>
            </a:extLst>
          </p:cNvPr>
          <p:cNvSpPr>
            <a:spLocks noChangeShapeType="1"/>
          </p:cNvSpPr>
          <p:nvPr/>
        </p:nvSpPr>
        <p:spPr bwMode="auto">
          <a:xfrm>
            <a:off x="2304485" y="2524256"/>
            <a:ext cx="227940" cy="0"/>
          </a:xfrm>
          <a:prstGeom prst="line">
            <a:avLst/>
          </a:prstGeom>
          <a:noFill/>
          <a:ln w="19050">
            <a:solidFill>
              <a:sysClr val="windowText" lastClr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</a:endParaRPr>
          </a:p>
        </p:txBody>
      </p:sp>
      <p:sp>
        <p:nvSpPr>
          <p:cNvPr id="557" name="Line 107">
            <a:extLst>
              <a:ext uri="{FF2B5EF4-FFF2-40B4-BE49-F238E27FC236}">
                <a16:creationId xmlns:a16="http://schemas.microsoft.com/office/drawing/2014/main" id="{3BE411C5-0A4B-404D-AFCE-3D676FB35AA8}"/>
              </a:ext>
            </a:extLst>
          </p:cNvPr>
          <p:cNvSpPr>
            <a:spLocks noChangeShapeType="1"/>
          </p:cNvSpPr>
          <p:nvPr/>
        </p:nvSpPr>
        <p:spPr bwMode="auto">
          <a:xfrm>
            <a:off x="2684385" y="2524256"/>
            <a:ext cx="1899498" cy="0"/>
          </a:xfrm>
          <a:prstGeom prst="line">
            <a:avLst/>
          </a:prstGeom>
          <a:noFill/>
          <a:ln w="19050">
            <a:solidFill>
              <a:sysClr val="windowText" lastClr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</a:endParaRPr>
          </a:p>
        </p:txBody>
      </p:sp>
      <p:sp>
        <p:nvSpPr>
          <p:cNvPr id="558" name="Line 108">
            <a:extLst>
              <a:ext uri="{FF2B5EF4-FFF2-40B4-BE49-F238E27FC236}">
                <a16:creationId xmlns:a16="http://schemas.microsoft.com/office/drawing/2014/main" id="{6D4BC3BB-FB68-486A-ADFB-2B9BE5996500}"/>
              </a:ext>
            </a:extLst>
          </p:cNvPr>
          <p:cNvSpPr>
            <a:spLocks noChangeShapeType="1"/>
          </p:cNvSpPr>
          <p:nvPr/>
        </p:nvSpPr>
        <p:spPr bwMode="auto">
          <a:xfrm>
            <a:off x="6155718" y="2732575"/>
            <a:ext cx="99724" cy="0"/>
          </a:xfrm>
          <a:prstGeom prst="line">
            <a:avLst/>
          </a:prstGeom>
          <a:noFill/>
          <a:ln w="19050">
            <a:solidFill>
              <a:sysClr val="windowText" lastClr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</a:endParaRPr>
          </a:p>
        </p:txBody>
      </p:sp>
      <p:sp>
        <p:nvSpPr>
          <p:cNvPr id="559" name="Line 109">
            <a:extLst>
              <a:ext uri="{FF2B5EF4-FFF2-40B4-BE49-F238E27FC236}">
                <a16:creationId xmlns:a16="http://schemas.microsoft.com/office/drawing/2014/main" id="{1BC3E698-6828-4E03-A96A-F8F8D90754A9}"/>
              </a:ext>
            </a:extLst>
          </p:cNvPr>
          <p:cNvSpPr>
            <a:spLocks noChangeShapeType="1"/>
          </p:cNvSpPr>
          <p:nvPr/>
        </p:nvSpPr>
        <p:spPr bwMode="auto">
          <a:xfrm>
            <a:off x="4735843" y="4815770"/>
            <a:ext cx="107510" cy="0"/>
          </a:xfrm>
          <a:prstGeom prst="line">
            <a:avLst/>
          </a:prstGeom>
          <a:noFill/>
          <a:ln w="19050">
            <a:solidFill>
              <a:sysClr val="windowText" lastClr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</a:endParaRPr>
          </a:p>
        </p:txBody>
      </p:sp>
      <p:sp>
        <p:nvSpPr>
          <p:cNvPr id="560" name="Line 110">
            <a:extLst>
              <a:ext uri="{FF2B5EF4-FFF2-40B4-BE49-F238E27FC236}">
                <a16:creationId xmlns:a16="http://schemas.microsoft.com/office/drawing/2014/main" id="{BDF577FC-8F40-4308-9AD5-7CEFE3B5BA9D}"/>
              </a:ext>
            </a:extLst>
          </p:cNvPr>
          <p:cNvSpPr>
            <a:spLocks noChangeShapeType="1"/>
          </p:cNvSpPr>
          <p:nvPr/>
        </p:nvSpPr>
        <p:spPr bwMode="auto">
          <a:xfrm>
            <a:off x="4963783" y="3982492"/>
            <a:ext cx="0" cy="833278"/>
          </a:xfrm>
          <a:prstGeom prst="line">
            <a:avLst/>
          </a:prstGeom>
          <a:noFill/>
          <a:ln w="19050">
            <a:solidFill>
              <a:sysClr val="windowText" lastClr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</a:endParaRPr>
          </a:p>
        </p:txBody>
      </p:sp>
      <p:sp>
        <p:nvSpPr>
          <p:cNvPr id="561" name="Line 111">
            <a:extLst>
              <a:ext uri="{FF2B5EF4-FFF2-40B4-BE49-F238E27FC236}">
                <a16:creationId xmlns:a16="http://schemas.microsoft.com/office/drawing/2014/main" id="{810F22DD-FB44-4095-AB3A-56AE52EC7272}"/>
              </a:ext>
            </a:extLst>
          </p:cNvPr>
          <p:cNvSpPr>
            <a:spLocks noChangeShapeType="1"/>
          </p:cNvSpPr>
          <p:nvPr/>
        </p:nvSpPr>
        <p:spPr bwMode="auto">
          <a:xfrm>
            <a:off x="4963783" y="4815770"/>
            <a:ext cx="1291659" cy="0"/>
          </a:xfrm>
          <a:prstGeom prst="line">
            <a:avLst/>
          </a:prstGeom>
          <a:noFill/>
          <a:ln w="19050">
            <a:solidFill>
              <a:sysClr val="windowText" lastClr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</a:endParaRPr>
          </a:p>
        </p:txBody>
      </p:sp>
      <p:sp>
        <p:nvSpPr>
          <p:cNvPr id="562" name="Rectangle 112">
            <a:extLst>
              <a:ext uri="{FF2B5EF4-FFF2-40B4-BE49-F238E27FC236}">
                <a16:creationId xmlns:a16="http://schemas.microsoft.com/office/drawing/2014/main" id="{656C6947-CF23-4A57-A324-9E898988F174}"/>
              </a:ext>
            </a:extLst>
          </p:cNvPr>
          <p:cNvSpPr>
            <a:spLocks noChangeArrowheads="1"/>
          </p:cNvSpPr>
          <p:nvPr/>
        </p:nvSpPr>
        <p:spPr bwMode="auto">
          <a:xfrm>
            <a:off x="8078960" y="2871455"/>
            <a:ext cx="151960" cy="2360954"/>
          </a:xfrm>
          <a:prstGeom prst="rect">
            <a:avLst/>
          </a:prstGeom>
          <a:pattFill prst="wdUpDiag">
            <a:fgClr>
              <a:sysClr val="window" lastClr="FFFFFF">
                <a:lumMod val="75000"/>
              </a:sysClr>
            </a:fgClr>
            <a:bgClr>
              <a:sysClr val="window" lastClr="FFFFFF"/>
            </a:bgClr>
          </a:pattFill>
          <a:ln w="19050">
            <a:solidFill>
              <a:sysClr val="windowText" lastClr="000000"/>
            </a:solidFill>
            <a:miter lim="800000"/>
            <a:headEnd/>
            <a:tailEnd/>
          </a:ln>
          <a:effectLst/>
        </p:spPr>
        <p:txBody>
          <a:bodyPr wrap="none" anchor="ctr"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</a:endParaRPr>
          </a:p>
        </p:txBody>
      </p:sp>
      <p:sp>
        <p:nvSpPr>
          <p:cNvPr id="563" name="Line 113">
            <a:extLst>
              <a:ext uri="{FF2B5EF4-FFF2-40B4-BE49-F238E27FC236}">
                <a16:creationId xmlns:a16="http://schemas.microsoft.com/office/drawing/2014/main" id="{68893F16-3AE0-47C5-96E0-E916E31047D9}"/>
              </a:ext>
            </a:extLst>
          </p:cNvPr>
          <p:cNvSpPr>
            <a:spLocks noChangeShapeType="1"/>
          </p:cNvSpPr>
          <p:nvPr/>
        </p:nvSpPr>
        <p:spPr bwMode="auto">
          <a:xfrm>
            <a:off x="6483381" y="4815770"/>
            <a:ext cx="1595579" cy="0"/>
          </a:xfrm>
          <a:prstGeom prst="line">
            <a:avLst/>
          </a:prstGeom>
          <a:noFill/>
          <a:ln w="19050">
            <a:solidFill>
              <a:sysClr val="windowText" lastClr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</a:endParaRPr>
          </a:p>
        </p:txBody>
      </p:sp>
      <p:sp>
        <p:nvSpPr>
          <p:cNvPr id="564" name="Line 114">
            <a:extLst>
              <a:ext uri="{FF2B5EF4-FFF2-40B4-BE49-F238E27FC236}">
                <a16:creationId xmlns:a16="http://schemas.microsoft.com/office/drawing/2014/main" id="{B5D537EB-846A-4B68-AD84-E18B72D53F15}"/>
              </a:ext>
            </a:extLst>
          </p:cNvPr>
          <p:cNvSpPr>
            <a:spLocks noChangeShapeType="1"/>
          </p:cNvSpPr>
          <p:nvPr/>
        </p:nvSpPr>
        <p:spPr bwMode="auto">
          <a:xfrm>
            <a:off x="8230920" y="3774173"/>
            <a:ext cx="227940" cy="1447"/>
          </a:xfrm>
          <a:prstGeom prst="line">
            <a:avLst/>
          </a:prstGeom>
          <a:noFill/>
          <a:ln w="19050">
            <a:solidFill>
              <a:sysClr val="windowText" lastClr="00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</a:endParaRPr>
          </a:p>
        </p:txBody>
      </p:sp>
      <p:sp>
        <p:nvSpPr>
          <p:cNvPr id="565" name="Line 115">
            <a:extLst>
              <a:ext uri="{FF2B5EF4-FFF2-40B4-BE49-F238E27FC236}">
                <a16:creationId xmlns:a16="http://schemas.microsoft.com/office/drawing/2014/main" id="{B8476D3A-51FC-49D1-8236-72C65EA1865D}"/>
              </a:ext>
            </a:extLst>
          </p:cNvPr>
          <p:cNvSpPr>
            <a:spLocks noChangeShapeType="1"/>
          </p:cNvSpPr>
          <p:nvPr/>
        </p:nvSpPr>
        <p:spPr bwMode="auto">
          <a:xfrm>
            <a:off x="8838759" y="3913052"/>
            <a:ext cx="0" cy="1802883"/>
          </a:xfrm>
          <a:prstGeom prst="line">
            <a:avLst/>
          </a:prstGeom>
          <a:noFill/>
          <a:ln w="19050">
            <a:solidFill>
              <a:sysClr val="windowText" lastClr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</a:endParaRPr>
          </a:p>
        </p:txBody>
      </p:sp>
      <p:sp>
        <p:nvSpPr>
          <p:cNvPr id="566" name="Line 116">
            <a:extLst>
              <a:ext uri="{FF2B5EF4-FFF2-40B4-BE49-F238E27FC236}">
                <a16:creationId xmlns:a16="http://schemas.microsoft.com/office/drawing/2014/main" id="{36B966ED-0B24-4508-B0D2-C486FF76122D}"/>
              </a:ext>
            </a:extLst>
          </p:cNvPr>
          <p:cNvSpPr>
            <a:spLocks noChangeShapeType="1"/>
          </p:cNvSpPr>
          <p:nvPr/>
        </p:nvSpPr>
        <p:spPr bwMode="auto">
          <a:xfrm>
            <a:off x="6635341" y="1343779"/>
            <a:ext cx="0" cy="1388797"/>
          </a:xfrm>
          <a:prstGeom prst="line">
            <a:avLst/>
          </a:prstGeom>
          <a:noFill/>
          <a:ln w="19050">
            <a:solidFill>
              <a:sysClr val="windowText" lastClr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</a:endParaRPr>
          </a:p>
        </p:txBody>
      </p:sp>
      <p:sp>
        <p:nvSpPr>
          <p:cNvPr id="567" name="Line 117">
            <a:extLst>
              <a:ext uri="{FF2B5EF4-FFF2-40B4-BE49-F238E27FC236}">
                <a16:creationId xmlns:a16="http://schemas.microsoft.com/office/drawing/2014/main" id="{8B301EF9-B544-49E2-A66F-6728478E8A78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255441" y="4121372"/>
            <a:ext cx="151960" cy="694398"/>
          </a:xfrm>
          <a:prstGeom prst="line">
            <a:avLst/>
          </a:prstGeom>
          <a:noFill/>
          <a:ln w="28575" cap="rnd">
            <a:solidFill>
              <a:srgbClr val="ED7D31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</a:endParaRPr>
          </a:p>
        </p:txBody>
      </p:sp>
      <p:sp>
        <p:nvSpPr>
          <p:cNvPr id="568" name="Line 118">
            <a:extLst>
              <a:ext uri="{FF2B5EF4-FFF2-40B4-BE49-F238E27FC236}">
                <a16:creationId xmlns:a16="http://schemas.microsoft.com/office/drawing/2014/main" id="{86411C84-9660-491C-A136-D2C623411284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8078960" y="4121372"/>
            <a:ext cx="151960" cy="694398"/>
          </a:xfrm>
          <a:prstGeom prst="line">
            <a:avLst/>
          </a:prstGeom>
          <a:noFill/>
          <a:ln w="28575" cap="rnd">
            <a:solidFill>
              <a:sysClr val="windowText" lastClr="000000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</a:endParaRPr>
          </a:p>
        </p:txBody>
      </p:sp>
      <p:sp>
        <p:nvSpPr>
          <p:cNvPr id="569" name="Text Box 119">
            <a:extLst>
              <a:ext uri="{FF2B5EF4-FFF2-40B4-BE49-F238E27FC236}">
                <a16:creationId xmlns:a16="http://schemas.microsoft.com/office/drawing/2014/main" id="{F34D4647-1439-4369-A607-7AF8B832D6E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380465" y="2038177"/>
            <a:ext cx="519664" cy="27698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1425" tIns="45713" rIns="91425" bIns="45713">
            <a:spAutoFit/>
          </a:bodyPr>
          <a:lstStyle>
            <a:lvl1pPr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1pPr>
            <a:lvl2pPr marL="742950" indent="-28575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2pPr>
            <a:lvl3pPr marL="11430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3pPr>
            <a:lvl4pPr marL="16002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4pPr>
            <a:lvl5pPr marL="20574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9pPr>
          </a:lstStyle>
          <a:p>
            <a:pPr fontAlgn="auto">
              <a:spcBef>
                <a:spcPts val="0"/>
              </a:spcBef>
              <a:spcAft>
                <a:spcPts val="0"/>
              </a:spcAft>
            </a:pPr>
            <a:r>
              <a:rPr lang="en-US" altLang="zh-CN" sz="1200" b="0" dirty="0">
                <a:solidFill>
                  <a:prstClr val="black"/>
                </a:solidFill>
                <a:latin typeface="Arial" pitchFamily="34" charset="0"/>
                <a:ea typeface="SimHei" panose="02010609060101010101" pitchFamily="49" charset="-122"/>
              </a:rPr>
              <a:t>IF/ID</a:t>
            </a:r>
          </a:p>
        </p:txBody>
      </p:sp>
      <p:sp>
        <p:nvSpPr>
          <p:cNvPr id="570" name="Line 120">
            <a:extLst>
              <a:ext uri="{FF2B5EF4-FFF2-40B4-BE49-F238E27FC236}">
                <a16:creationId xmlns:a16="http://schemas.microsoft.com/office/drawing/2014/main" id="{E4D807A7-2361-482F-AB80-82F4D06968FC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843353" y="2940895"/>
            <a:ext cx="0" cy="1388797"/>
          </a:xfrm>
          <a:prstGeom prst="line">
            <a:avLst/>
          </a:prstGeom>
          <a:noFill/>
          <a:ln w="19050">
            <a:solidFill>
              <a:sysClr val="windowText" lastClr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</a:endParaRPr>
          </a:p>
        </p:txBody>
      </p:sp>
      <p:sp>
        <p:nvSpPr>
          <p:cNvPr id="571" name="Line 121">
            <a:extLst>
              <a:ext uri="{FF2B5EF4-FFF2-40B4-BE49-F238E27FC236}">
                <a16:creationId xmlns:a16="http://schemas.microsoft.com/office/drawing/2014/main" id="{1801FB4B-6DC4-451E-8436-E61E60B6D8EA}"/>
              </a:ext>
            </a:extLst>
          </p:cNvPr>
          <p:cNvSpPr>
            <a:spLocks noChangeShapeType="1"/>
          </p:cNvSpPr>
          <p:nvPr/>
        </p:nvSpPr>
        <p:spPr bwMode="auto">
          <a:xfrm>
            <a:off x="4013473" y="4815770"/>
            <a:ext cx="570411" cy="0"/>
          </a:xfrm>
          <a:prstGeom prst="line">
            <a:avLst/>
          </a:prstGeom>
          <a:noFill/>
          <a:ln w="19050">
            <a:solidFill>
              <a:sysClr val="windowText" lastClr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</a:endParaRPr>
          </a:p>
        </p:txBody>
      </p:sp>
      <p:sp>
        <p:nvSpPr>
          <p:cNvPr id="572" name="Line 122">
            <a:extLst>
              <a:ext uri="{FF2B5EF4-FFF2-40B4-BE49-F238E27FC236}">
                <a16:creationId xmlns:a16="http://schemas.microsoft.com/office/drawing/2014/main" id="{DE32FD25-8017-4115-94EE-DDA8D1913AA9}"/>
              </a:ext>
            </a:extLst>
          </p:cNvPr>
          <p:cNvSpPr>
            <a:spLocks noChangeShapeType="1"/>
          </p:cNvSpPr>
          <p:nvPr/>
        </p:nvSpPr>
        <p:spPr bwMode="auto">
          <a:xfrm>
            <a:off x="4735843" y="2524256"/>
            <a:ext cx="1063719" cy="0"/>
          </a:xfrm>
          <a:prstGeom prst="line">
            <a:avLst/>
          </a:prstGeom>
          <a:noFill/>
          <a:ln w="19050">
            <a:solidFill>
              <a:sysClr val="windowText" lastClr="00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</a:endParaRPr>
          </a:p>
        </p:txBody>
      </p:sp>
      <p:sp>
        <p:nvSpPr>
          <p:cNvPr id="573" name="Line 123">
            <a:extLst>
              <a:ext uri="{FF2B5EF4-FFF2-40B4-BE49-F238E27FC236}">
                <a16:creationId xmlns:a16="http://schemas.microsoft.com/office/drawing/2014/main" id="{D0252686-0233-45F4-BE4F-4FCAC3E6936E}"/>
              </a:ext>
            </a:extLst>
          </p:cNvPr>
          <p:cNvSpPr>
            <a:spLocks noChangeShapeType="1"/>
          </p:cNvSpPr>
          <p:nvPr/>
        </p:nvSpPr>
        <p:spPr bwMode="auto">
          <a:xfrm>
            <a:off x="2304485" y="1621538"/>
            <a:ext cx="0" cy="902718"/>
          </a:xfrm>
          <a:prstGeom prst="line">
            <a:avLst/>
          </a:prstGeom>
          <a:noFill/>
          <a:ln w="19050">
            <a:solidFill>
              <a:sysClr val="windowText" lastClr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</a:endParaRPr>
          </a:p>
        </p:txBody>
      </p:sp>
      <p:sp>
        <p:nvSpPr>
          <p:cNvPr id="574" name="Line 124">
            <a:extLst>
              <a:ext uri="{FF2B5EF4-FFF2-40B4-BE49-F238E27FC236}">
                <a16:creationId xmlns:a16="http://schemas.microsoft.com/office/drawing/2014/main" id="{E9856547-E07C-4DB4-B419-D16660215A1A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027502" y="3037144"/>
            <a:ext cx="0" cy="389829"/>
          </a:xfrm>
          <a:prstGeom prst="line">
            <a:avLst/>
          </a:prstGeom>
          <a:noFill/>
          <a:ln w="19050">
            <a:solidFill>
              <a:sysClr val="windowText" lastClr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</a:endParaRPr>
          </a:p>
        </p:txBody>
      </p:sp>
      <p:sp>
        <p:nvSpPr>
          <p:cNvPr id="575" name="Line 125">
            <a:extLst>
              <a:ext uri="{FF2B5EF4-FFF2-40B4-BE49-F238E27FC236}">
                <a16:creationId xmlns:a16="http://schemas.microsoft.com/office/drawing/2014/main" id="{E7DED5D5-45CF-4BAA-ADB1-DAEF0B20E286}"/>
              </a:ext>
            </a:extLst>
          </p:cNvPr>
          <p:cNvSpPr>
            <a:spLocks noChangeShapeType="1"/>
          </p:cNvSpPr>
          <p:nvPr/>
        </p:nvSpPr>
        <p:spPr bwMode="auto">
          <a:xfrm>
            <a:off x="860867" y="2246497"/>
            <a:ext cx="0" cy="1458237"/>
          </a:xfrm>
          <a:prstGeom prst="line">
            <a:avLst/>
          </a:prstGeom>
          <a:noFill/>
          <a:ln w="19050">
            <a:solidFill>
              <a:sysClr val="windowText" lastClr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</a:endParaRPr>
          </a:p>
        </p:txBody>
      </p:sp>
      <p:sp>
        <p:nvSpPr>
          <p:cNvPr id="576" name="Rectangle 126">
            <a:extLst>
              <a:ext uri="{FF2B5EF4-FFF2-40B4-BE49-F238E27FC236}">
                <a16:creationId xmlns:a16="http://schemas.microsoft.com/office/drawing/2014/main" id="{DAF4B61D-A07E-4DA9-ADAC-7EE9CFB4B51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55441" y="2315936"/>
            <a:ext cx="151960" cy="2916473"/>
          </a:xfrm>
          <a:prstGeom prst="rect">
            <a:avLst/>
          </a:prstGeom>
          <a:pattFill prst="wdUpDiag">
            <a:fgClr>
              <a:sysClr val="window" lastClr="FFFFFF">
                <a:lumMod val="75000"/>
              </a:sysClr>
            </a:fgClr>
            <a:bgClr>
              <a:sysClr val="window" lastClr="FFFFFF"/>
            </a:bgClr>
          </a:pattFill>
          <a:ln w="19050">
            <a:solidFill>
              <a:sysClr val="windowText" lastClr="000000"/>
            </a:solidFill>
            <a:miter lim="800000"/>
            <a:headEnd/>
            <a:tailEnd/>
          </a:ln>
          <a:effectLst/>
        </p:spPr>
        <p:txBody>
          <a:bodyPr wrap="none" anchor="ctr"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</a:endParaRPr>
          </a:p>
        </p:txBody>
      </p:sp>
      <p:sp>
        <p:nvSpPr>
          <p:cNvPr id="577" name="Oval 127">
            <a:extLst>
              <a:ext uri="{FF2B5EF4-FFF2-40B4-BE49-F238E27FC236}">
                <a16:creationId xmlns:a16="http://schemas.microsoft.com/office/drawing/2014/main" id="{59FE52C9-67A8-4BC9-89C8-D082F133F17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16244" y="4607451"/>
            <a:ext cx="810453" cy="416639"/>
          </a:xfrm>
          <a:prstGeom prst="ellipse">
            <a:avLst/>
          </a:prstGeom>
          <a:solidFill>
            <a:sysClr val="window" lastClr="FFFFFF"/>
          </a:solidFill>
          <a:ln w="19050">
            <a:solidFill>
              <a:sysClr val="windowText" lastClr="00000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</a:endParaRPr>
          </a:p>
        </p:txBody>
      </p:sp>
      <p:sp>
        <p:nvSpPr>
          <p:cNvPr id="578" name="Rectangle 128">
            <a:extLst>
              <a:ext uri="{FF2B5EF4-FFF2-40B4-BE49-F238E27FC236}">
                <a16:creationId xmlns:a16="http://schemas.microsoft.com/office/drawing/2014/main" id="{A37D9CD0-0CB3-4F83-AD22-5DC4FF1DD73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68204" y="4607451"/>
            <a:ext cx="531860" cy="41663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19047" tIns="26984" rIns="19047" bIns="26984"/>
          <a:lstStyle/>
          <a:p>
            <a:pPr algn="ctr" eaLnBrk="0" fontAlgn="auto" hangingPunct="0">
              <a:spcBef>
                <a:spcPts val="0"/>
              </a:spcBef>
              <a:spcAft>
                <a:spcPts val="0"/>
              </a:spcAft>
            </a:pPr>
            <a:r>
              <a:rPr lang="en-US" altLang="zh-CN" sz="1200" dirty="0" err="1">
                <a:solidFill>
                  <a:srgbClr val="000000"/>
                </a:solidFill>
                <a:latin typeface="Arial" pitchFamily="34" charset="0"/>
                <a:ea typeface="等线" panose="02010600030101010101" pitchFamily="2" charset="-122"/>
              </a:rPr>
              <a:t>Imm</a:t>
            </a:r>
            <a:endParaRPr lang="en-US" altLang="zh-CN" sz="1200" dirty="0">
              <a:solidFill>
                <a:srgbClr val="000000"/>
              </a:solidFill>
              <a:latin typeface="Arial" pitchFamily="34" charset="0"/>
              <a:ea typeface="等线" panose="02010600030101010101" pitchFamily="2" charset="-122"/>
            </a:endParaRPr>
          </a:p>
          <a:p>
            <a:pPr algn="ctr" eaLnBrk="0" fontAlgn="auto" hangingPunct="0">
              <a:spcBef>
                <a:spcPts val="0"/>
              </a:spcBef>
              <a:spcAft>
                <a:spcPts val="0"/>
              </a:spcAft>
            </a:pPr>
            <a:r>
              <a:rPr lang="en-US" altLang="zh-CN" sz="1200" dirty="0">
                <a:solidFill>
                  <a:srgbClr val="000000"/>
                </a:solidFill>
                <a:latin typeface="Arial" pitchFamily="34" charset="0"/>
                <a:ea typeface="等线" panose="02010600030101010101" pitchFamily="2" charset="-122"/>
              </a:rPr>
              <a:t>Extend</a:t>
            </a:r>
          </a:p>
        </p:txBody>
      </p:sp>
      <p:sp>
        <p:nvSpPr>
          <p:cNvPr id="579" name="Line 129">
            <a:extLst>
              <a:ext uri="{FF2B5EF4-FFF2-40B4-BE49-F238E27FC236}">
                <a16:creationId xmlns:a16="http://schemas.microsoft.com/office/drawing/2014/main" id="{CC8C6834-443F-4383-A81C-280F4E5EC88C}"/>
              </a:ext>
            </a:extLst>
          </p:cNvPr>
          <p:cNvSpPr>
            <a:spLocks noChangeShapeType="1"/>
          </p:cNvSpPr>
          <p:nvPr/>
        </p:nvSpPr>
        <p:spPr bwMode="auto">
          <a:xfrm>
            <a:off x="6407401" y="2732575"/>
            <a:ext cx="227940" cy="0"/>
          </a:xfrm>
          <a:prstGeom prst="line">
            <a:avLst/>
          </a:prstGeom>
          <a:noFill/>
          <a:ln w="19050">
            <a:solidFill>
              <a:sysClr val="windowText" lastClr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</a:endParaRPr>
          </a:p>
        </p:txBody>
      </p:sp>
      <p:sp>
        <p:nvSpPr>
          <p:cNvPr id="580" name="Line 130">
            <a:extLst>
              <a:ext uri="{FF2B5EF4-FFF2-40B4-BE49-F238E27FC236}">
                <a16:creationId xmlns:a16="http://schemas.microsoft.com/office/drawing/2014/main" id="{33BBB318-227C-4CAB-90C0-46ABDF9D4F6A}"/>
              </a:ext>
            </a:extLst>
          </p:cNvPr>
          <p:cNvSpPr>
            <a:spLocks noChangeShapeType="1"/>
          </p:cNvSpPr>
          <p:nvPr/>
        </p:nvSpPr>
        <p:spPr bwMode="auto">
          <a:xfrm>
            <a:off x="6027502" y="3037145"/>
            <a:ext cx="227940" cy="0"/>
          </a:xfrm>
          <a:prstGeom prst="line">
            <a:avLst/>
          </a:prstGeom>
          <a:noFill/>
          <a:ln w="19050">
            <a:solidFill>
              <a:sysClr val="windowText" lastClr="00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</a:endParaRPr>
          </a:p>
        </p:txBody>
      </p:sp>
      <p:sp>
        <p:nvSpPr>
          <p:cNvPr id="581" name="Line 131">
            <a:extLst>
              <a:ext uri="{FF2B5EF4-FFF2-40B4-BE49-F238E27FC236}">
                <a16:creationId xmlns:a16="http://schemas.microsoft.com/office/drawing/2014/main" id="{CC28FED7-3BEC-444E-AF2E-EE49E0059B56}"/>
              </a:ext>
            </a:extLst>
          </p:cNvPr>
          <p:cNvSpPr>
            <a:spLocks noChangeShapeType="1"/>
          </p:cNvSpPr>
          <p:nvPr/>
        </p:nvSpPr>
        <p:spPr bwMode="auto">
          <a:xfrm>
            <a:off x="6407400" y="3037145"/>
            <a:ext cx="713024" cy="0"/>
          </a:xfrm>
          <a:prstGeom prst="line">
            <a:avLst/>
          </a:prstGeom>
          <a:noFill/>
          <a:ln w="19050">
            <a:solidFill>
              <a:sysClr val="windowText" lastClr="000000"/>
            </a:solidFill>
            <a:round/>
            <a:headEnd type="none" w="med" len="med"/>
            <a:tailEnd type="non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</a:endParaRPr>
          </a:p>
        </p:txBody>
      </p:sp>
      <p:sp>
        <p:nvSpPr>
          <p:cNvPr id="582" name="Line 132">
            <a:extLst>
              <a:ext uri="{FF2B5EF4-FFF2-40B4-BE49-F238E27FC236}">
                <a16:creationId xmlns:a16="http://schemas.microsoft.com/office/drawing/2014/main" id="{38F689B3-B098-4ED8-A450-7613035455B6}"/>
              </a:ext>
            </a:extLst>
          </p:cNvPr>
          <p:cNvSpPr>
            <a:spLocks noChangeShapeType="1"/>
          </p:cNvSpPr>
          <p:nvPr/>
        </p:nvSpPr>
        <p:spPr bwMode="auto">
          <a:xfrm>
            <a:off x="6483381" y="3774173"/>
            <a:ext cx="0" cy="1041598"/>
          </a:xfrm>
          <a:prstGeom prst="line">
            <a:avLst/>
          </a:prstGeom>
          <a:noFill/>
          <a:ln w="19050">
            <a:solidFill>
              <a:sysClr val="windowText" lastClr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</a:endParaRPr>
          </a:p>
        </p:txBody>
      </p:sp>
      <p:sp>
        <p:nvSpPr>
          <p:cNvPr id="583" name="Text Box 133">
            <a:extLst>
              <a:ext uri="{FF2B5EF4-FFF2-40B4-BE49-F238E27FC236}">
                <a16:creationId xmlns:a16="http://schemas.microsoft.com/office/drawing/2014/main" id="{240DA771-F600-43C3-8232-51F8B9F4F96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355943" y="1482658"/>
            <a:ext cx="586990" cy="27698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1425" tIns="45713" rIns="91425" bIns="45713">
            <a:spAutoFit/>
          </a:bodyPr>
          <a:lstStyle>
            <a:lvl1pPr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1pPr>
            <a:lvl2pPr marL="742950" indent="-28575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2pPr>
            <a:lvl3pPr marL="11430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3pPr>
            <a:lvl4pPr marL="16002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4pPr>
            <a:lvl5pPr marL="20574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9pPr>
          </a:lstStyle>
          <a:p>
            <a:pPr fontAlgn="auto">
              <a:spcBef>
                <a:spcPts val="0"/>
              </a:spcBef>
              <a:spcAft>
                <a:spcPts val="0"/>
              </a:spcAft>
            </a:pPr>
            <a:r>
              <a:rPr lang="en-US" altLang="zh-CN" sz="1200" b="0" dirty="0">
                <a:solidFill>
                  <a:prstClr val="black"/>
                </a:solidFill>
                <a:latin typeface="Arial" pitchFamily="34" charset="0"/>
                <a:ea typeface="SimHei" panose="02010609060101010101" pitchFamily="49" charset="-122"/>
              </a:rPr>
              <a:t>ID/EX</a:t>
            </a:r>
          </a:p>
        </p:txBody>
      </p:sp>
      <p:sp>
        <p:nvSpPr>
          <p:cNvPr id="584" name="Text Box 134">
            <a:extLst>
              <a:ext uri="{FF2B5EF4-FFF2-40B4-BE49-F238E27FC236}">
                <a16:creationId xmlns:a16="http://schemas.microsoft.com/office/drawing/2014/main" id="{DCA6179A-6B1F-4021-AE01-A1C460E0270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5542" y="1649025"/>
            <a:ext cx="792174" cy="27698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1425" tIns="45713" rIns="91425" bIns="45713">
            <a:spAutoFit/>
          </a:bodyPr>
          <a:lstStyle>
            <a:lvl1pPr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1pPr>
            <a:lvl2pPr marL="742950" indent="-28575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2pPr>
            <a:lvl3pPr marL="11430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3pPr>
            <a:lvl4pPr marL="16002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4pPr>
            <a:lvl5pPr marL="20574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9pPr>
          </a:lstStyle>
          <a:p>
            <a:pPr fontAlgn="auto">
              <a:spcBef>
                <a:spcPts val="0"/>
              </a:spcBef>
              <a:spcAft>
                <a:spcPts val="0"/>
              </a:spcAft>
            </a:pPr>
            <a:r>
              <a:rPr lang="en-US" altLang="zh-CN" sz="1200" b="0" dirty="0">
                <a:solidFill>
                  <a:prstClr val="black"/>
                </a:solidFill>
                <a:latin typeface="Arial" pitchFamily="34" charset="0"/>
                <a:ea typeface="SimHei" panose="02010609060101010101" pitchFamily="49" charset="-122"/>
              </a:rPr>
              <a:t>EX/MEM</a:t>
            </a:r>
          </a:p>
        </p:txBody>
      </p:sp>
      <p:sp>
        <p:nvSpPr>
          <p:cNvPr id="585" name="Text Box 135">
            <a:extLst>
              <a:ext uri="{FF2B5EF4-FFF2-40B4-BE49-F238E27FC236}">
                <a16:creationId xmlns:a16="http://schemas.microsoft.com/office/drawing/2014/main" id="{58630755-5214-43C5-8429-D9999EBB344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75040" y="2394056"/>
            <a:ext cx="843470" cy="27698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1425" tIns="45713" rIns="91425" bIns="45713">
            <a:spAutoFit/>
          </a:bodyPr>
          <a:lstStyle>
            <a:lvl1pPr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1pPr>
            <a:lvl2pPr marL="742950" indent="-28575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2pPr>
            <a:lvl3pPr marL="11430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3pPr>
            <a:lvl4pPr marL="16002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4pPr>
            <a:lvl5pPr marL="20574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9pPr>
          </a:lstStyle>
          <a:p>
            <a:pPr fontAlgn="auto">
              <a:spcBef>
                <a:spcPts val="0"/>
              </a:spcBef>
              <a:spcAft>
                <a:spcPts val="0"/>
              </a:spcAft>
            </a:pPr>
            <a:r>
              <a:rPr lang="en-US" altLang="zh-CN" sz="1200" b="0" dirty="0">
                <a:solidFill>
                  <a:prstClr val="black"/>
                </a:solidFill>
                <a:latin typeface="Arial" pitchFamily="34" charset="0"/>
                <a:ea typeface="SimHei" panose="02010609060101010101" pitchFamily="49" charset="-122"/>
              </a:rPr>
              <a:t>MEM/WB</a:t>
            </a:r>
          </a:p>
        </p:txBody>
      </p:sp>
      <p:sp>
        <p:nvSpPr>
          <p:cNvPr id="586" name="Rectangle 137">
            <a:extLst>
              <a:ext uri="{FF2B5EF4-FFF2-40B4-BE49-F238E27FC236}">
                <a16:creationId xmlns:a16="http://schemas.microsoft.com/office/drawing/2014/main" id="{1A3969F3-7033-4687-A125-8AC2A1BFE54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87001" y="2104251"/>
            <a:ext cx="151968" cy="208332"/>
          </a:xfrm>
          <a:prstGeom prst="rect">
            <a:avLst/>
          </a:prstGeom>
          <a:pattFill prst="wdUpDiag">
            <a:fgClr>
              <a:srgbClr val="70AD47">
                <a:lumMod val="40000"/>
                <a:lumOff val="60000"/>
              </a:srgbClr>
            </a:fgClr>
            <a:bgClr>
              <a:sysClr val="window" lastClr="FFFFFF"/>
            </a:bgClr>
          </a:pattFill>
          <a:ln w="19050">
            <a:solidFill>
              <a:srgbClr val="00B050"/>
            </a:solidFill>
            <a:miter lim="800000"/>
            <a:headEnd/>
            <a:tailEnd/>
          </a:ln>
          <a:effectLst/>
        </p:spPr>
        <p:txBody>
          <a:bodyPr wrap="none" anchor="ctr"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</a:endParaRPr>
          </a:p>
        </p:txBody>
      </p:sp>
      <p:sp>
        <p:nvSpPr>
          <p:cNvPr id="587" name="Rectangle 138">
            <a:extLst>
              <a:ext uri="{FF2B5EF4-FFF2-40B4-BE49-F238E27FC236}">
                <a16:creationId xmlns:a16="http://schemas.microsoft.com/office/drawing/2014/main" id="{AA5B2C44-6834-4959-93EC-AC9FDA3B14A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87001" y="1895918"/>
            <a:ext cx="151968" cy="208332"/>
          </a:xfrm>
          <a:prstGeom prst="rect">
            <a:avLst/>
          </a:prstGeom>
          <a:pattFill prst="wdUpDiag">
            <a:fgClr>
              <a:srgbClr val="70AD47">
                <a:lumMod val="40000"/>
                <a:lumOff val="60000"/>
              </a:srgbClr>
            </a:fgClr>
            <a:bgClr>
              <a:sysClr val="window" lastClr="FFFFFF"/>
            </a:bgClr>
          </a:pattFill>
          <a:ln w="19050">
            <a:solidFill>
              <a:srgbClr val="00B050"/>
            </a:solidFill>
            <a:miter lim="800000"/>
            <a:headEnd/>
            <a:tailEnd/>
          </a:ln>
          <a:effectLst/>
        </p:spPr>
        <p:txBody>
          <a:bodyPr wrap="none" anchor="ctr"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</a:endParaRPr>
          </a:p>
        </p:txBody>
      </p:sp>
      <p:sp>
        <p:nvSpPr>
          <p:cNvPr id="588" name="Rectangle 139">
            <a:extLst>
              <a:ext uri="{FF2B5EF4-FFF2-40B4-BE49-F238E27FC236}">
                <a16:creationId xmlns:a16="http://schemas.microsoft.com/office/drawing/2014/main" id="{5CC95D34-9282-4B9F-9A5F-E491E1F587E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87001" y="1687586"/>
            <a:ext cx="151968" cy="208332"/>
          </a:xfrm>
          <a:prstGeom prst="rect">
            <a:avLst/>
          </a:prstGeom>
          <a:pattFill prst="wdUpDiag">
            <a:fgClr>
              <a:srgbClr val="70AD47">
                <a:lumMod val="40000"/>
                <a:lumOff val="60000"/>
              </a:srgbClr>
            </a:fgClr>
            <a:bgClr>
              <a:sysClr val="window" lastClr="FFFFFF"/>
            </a:bgClr>
          </a:pattFill>
          <a:ln w="19050">
            <a:solidFill>
              <a:srgbClr val="00B050"/>
            </a:solidFill>
            <a:miter lim="800000"/>
            <a:headEnd/>
            <a:tailEnd/>
          </a:ln>
          <a:effectLst/>
        </p:spPr>
        <p:txBody>
          <a:bodyPr wrap="none" anchor="ctr"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</a:endParaRPr>
          </a:p>
        </p:txBody>
      </p:sp>
      <p:sp>
        <p:nvSpPr>
          <p:cNvPr id="589" name="Rectangle 140">
            <a:extLst>
              <a:ext uri="{FF2B5EF4-FFF2-40B4-BE49-F238E27FC236}">
                <a16:creationId xmlns:a16="http://schemas.microsoft.com/office/drawing/2014/main" id="{ECEA45B7-49B5-4664-936A-9396F78164A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54996" y="2099649"/>
            <a:ext cx="151968" cy="208332"/>
          </a:xfrm>
          <a:prstGeom prst="rect">
            <a:avLst/>
          </a:prstGeom>
          <a:pattFill prst="wdUpDiag">
            <a:fgClr>
              <a:srgbClr val="70AD47">
                <a:lumMod val="40000"/>
                <a:lumOff val="60000"/>
              </a:srgbClr>
            </a:fgClr>
            <a:bgClr>
              <a:sysClr val="window" lastClr="FFFFFF"/>
            </a:bgClr>
          </a:pattFill>
          <a:ln w="19050">
            <a:solidFill>
              <a:srgbClr val="00B050"/>
            </a:solidFill>
            <a:miter lim="800000"/>
            <a:headEnd/>
            <a:tailEnd/>
          </a:ln>
          <a:effectLst/>
        </p:spPr>
        <p:txBody>
          <a:bodyPr wrap="none" anchor="ctr"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</a:endParaRPr>
          </a:p>
        </p:txBody>
      </p:sp>
      <p:sp>
        <p:nvSpPr>
          <p:cNvPr id="590" name="Rectangle 141">
            <a:extLst>
              <a:ext uri="{FF2B5EF4-FFF2-40B4-BE49-F238E27FC236}">
                <a16:creationId xmlns:a16="http://schemas.microsoft.com/office/drawing/2014/main" id="{1111980C-7593-406E-B945-AC8057A17FE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54996" y="1891316"/>
            <a:ext cx="151968" cy="208332"/>
          </a:xfrm>
          <a:prstGeom prst="rect">
            <a:avLst/>
          </a:prstGeom>
          <a:pattFill prst="wdUpDiag">
            <a:fgClr>
              <a:srgbClr val="70AD47">
                <a:lumMod val="40000"/>
                <a:lumOff val="60000"/>
              </a:srgbClr>
            </a:fgClr>
            <a:bgClr>
              <a:sysClr val="window" lastClr="FFFFFF"/>
            </a:bgClr>
          </a:pattFill>
          <a:ln w="19050">
            <a:solidFill>
              <a:srgbClr val="00B050"/>
            </a:solidFill>
            <a:miter lim="800000"/>
            <a:headEnd/>
            <a:tailEnd/>
          </a:ln>
          <a:effectLst/>
        </p:spPr>
        <p:txBody>
          <a:bodyPr wrap="none" anchor="ctr"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</a:endParaRPr>
          </a:p>
        </p:txBody>
      </p:sp>
      <p:sp>
        <p:nvSpPr>
          <p:cNvPr id="591" name="Rectangle 142">
            <a:extLst>
              <a:ext uri="{FF2B5EF4-FFF2-40B4-BE49-F238E27FC236}">
                <a16:creationId xmlns:a16="http://schemas.microsoft.com/office/drawing/2014/main" id="{590E195F-F615-4905-BD32-02191E1D9F25}"/>
              </a:ext>
            </a:extLst>
          </p:cNvPr>
          <p:cNvSpPr>
            <a:spLocks noChangeArrowheads="1"/>
          </p:cNvSpPr>
          <p:nvPr/>
        </p:nvSpPr>
        <p:spPr bwMode="auto">
          <a:xfrm>
            <a:off x="8078609" y="2655405"/>
            <a:ext cx="151968" cy="208332"/>
          </a:xfrm>
          <a:prstGeom prst="rect">
            <a:avLst/>
          </a:prstGeom>
          <a:pattFill prst="wdUpDiag">
            <a:fgClr>
              <a:srgbClr val="70AD47">
                <a:lumMod val="40000"/>
                <a:lumOff val="60000"/>
              </a:srgbClr>
            </a:fgClr>
            <a:bgClr>
              <a:sysClr val="window" lastClr="FFFFFF"/>
            </a:bgClr>
          </a:pattFill>
          <a:ln w="19050">
            <a:solidFill>
              <a:srgbClr val="00B050"/>
            </a:solidFill>
            <a:miter lim="800000"/>
            <a:headEnd/>
            <a:tailEnd/>
          </a:ln>
          <a:effectLst/>
        </p:spPr>
        <p:txBody>
          <a:bodyPr wrap="none" anchor="ctr"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</a:endParaRPr>
          </a:p>
        </p:txBody>
      </p:sp>
      <p:sp>
        <p:nvSpPr>
          <p:cNvPr id="592" name="Rectangle 143">
            <a:extLst>
              <a:ext uri="{FF2B5EF4-FFF2-40B4-BE49-F238E27FC236}">
                <a16:creationId xmlns:a16="http://schemas.microsoft.com/office/drawing/2014/main" id="{DF2A2864-523F-43C6-AD6E-8E4D70C8C57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77679" y="1934001"/>
            <a:ext cx="531887" cy="27777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19047" tIns="26984" rIns="19047" bIns="26984"/>
          <a:lstStyle/>
          <a:p>
            <a:pPr algn="ctr" eaLnBrk="0" fontAlgn="auto" hangingPunct="0">
              <a:spcBef>
                <a:spcPts val="0"/>
              </a:spcBef>
              <a:spcAft>
                <a:spcPts val="0"/>
              </a:spcAft>
            </a:pPr>
            <a:r>
              <a:rPr lang="en-US" altLang="zh-CN" sz="1200" dirty="0">
                <a:solidFill>
                  <a:srgbClr val="00B050"/>
                </a:solidFill>
                <a:latin typeface="Arial" pitchFamily="34" charset="0"/>
                <a:ea typeface="等线" panose="02010600030101010101" pitchFamily="2" charset="-122"/>
              </a:rPr>
              <a:t>Control</a:t>
            </a:r>
          </a:p>
        </p:txBody>
      </p:sp>
      <p:sp>
        <p:nvSpPr>
          <p:cNvPr id="593" name="Oval 144">
            <a:extLst>
              <a:ext uri="{FF2B5EF4-FFF2-40B4-BE49-F238E27FC236}">
                <a16:creationId xmlns:a16="http://schemas.microsoft.com/office/drawing/2014/main" id="{AB800524-6429-45CD-9823-03A1DEF9982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67610" y="1648263"/>
            <a:ext cx="759839" cy="813075"/>
          </a:xfrm>
          <a:prstGeom prst="ellipse">
            <a:avLst/>
          </a:prstGeom>
          <a:noFill/>
          <a:ln w="19050">
            <a:solidFill>
              <a:srgbClr val="00B05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fontAlgn="auto">
              <a:spcBef>
                <a:spcPts val="0"/>
              </a:spcBef>
              <a:spcAft>
                <a:spcPts val="0"/>
              </a:spcAft>
            </a:pPr>
            <a:endParaRPr lang="zh-CN" altLang="en-US">
              <a:solidFill>
                <a:prstClr val="black"/>
              </a:solidFill>
              <a:latin typeface="等线" panose="020F0502020204030204"/>
              <a:ea typeface="等线" panose="02010600030101010101" pitchFamily="2" charset="-122"/>
            </a:endParaRPr>
          </a:p>
        </p:txBody>
      </p:sp>
      <p:sp>
        <p:nvSpPr>
          <p:cNvPr id="594" name="Line 145">
            <a:extLst>
              <a:ext uri="{FF2B5EF4-FFF2-40B4-BE49-F238E27FC236}">
                <a16:creationId xmlns:a16="http://schemas.microsoft.com/office/drawing/2014/main" id="{48C99CD7-DC7A-4D4F-810B-657E9E65FDBA}"/>
              </a:ext>
            </a:extLst>
          </p:cNvPr>
          <p:cNvSpPr>
            <a:spLocks noChangeShapeType="1"/>
          </p:cNvSpPr>
          <p:nvPr/>
        </p:nvSpPr>
        <p:spPr bwMode="auto">
          <a:xfrm>
            <a:off x="2835723" y="2257156"/>
            <a:ext cx="0" cy="902773"/>
          </a:xfrm>
          <a:prstGeom prst="line">
            <a:avLst/>
          </a:prstGeom>
          <a:noFill/>
          <a:ln w="19050">
            <a:solidFill>
              <a:sysClr val="windowText" lastClr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</a:endParaRPr>
          </a:p>
        </p:txBody>
      </p:sp>
      <p:sp>
        <p:nvSpPr>
          <p:cNvPr id="595" name="Line 146">
            <a:extLst>
              <a:ext uri="{FF2B5EF4-FFF2-40B4-BE49-F238E27FC236}">
                <a16:creationId xmlns:a16="http://schemas.microsoft.com/office/drawing/2014/main" id="{49EBF82E-4F13-4F7A-B4B5-B19C5CE4DF8F}"/>
              </a:ext>
            </a:extLst>
          </p:cNvPr>
          <p:cNvSpPr>
            <a:spLocks noChangeShapeType="1"/>
          </p:cNvSpPr>
          <p:nvPr/>
        </p:nvSpPr>
        <p:spPr bwMode="auto">
          <a:xfrm>
            <a:off x="2835723" y="2257156"/>
            <a:ext cx="592457" cy="0"/>
          </a:xfrm>
          <a:prstGeom prst="line">
            <a:avLst/>
          </a:prstGeom>
          <a:noFill/>
          <a:ln w="19050">
            <a:solidFill>
              <a:sysClr val="windowText" lastClr="00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</a:endParaRPr>
          </a:p>
        </p:txBody>
      </p:sp>
      <p:sp>
        <p:nvSpPr>
          <p:cNvPr id="596" name="Line 147">
            <a:extLst>
              <a:ext uri="{FF2B5EF4-FFF2-40B4-BE49-F238E27FC236}">
                <a16:creationId xmlns:a16="http://schemas.microsoft.com/office/drawing/2014/main" id="{08496BD7-0F77-4274-AB38-DF4854BB183D}"/>
              </a:ext>
            </a:extLst>
          </p:cNvPr>
          <p:cNvSpPr>
            <a:spLocks noChangeShapeType="1"/>
          </p:cNvSpPr>
          <p:nvPr/>
        </p:nvSpPr>
        <p:spPr bwMode="auto">
          <a:xfrm>
            <a:off x="4026137" y="1787151"/>
            <a:ext cx="557215" cy="0"/>
          </a:xfrm>
          <a:prstGeom prst="line">
            <a:avLst/>
          </a:prstGeom>
          <a:noFill/>
          <a:ln w="12700">
            <a:solidFill>
              <a:srgbClr val="00B05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fontAlgn="auto">
              <a:spcBef>
                <a:spcPts val="0"/>
              </a:spcBef>
              <a:spcAft>
                <a:spcPts val="0"/>
              </a:spcAft>
            </a:pPr>
            <a:endParaRPr lang="zh-CN" altLang="en-US">
              <a:solidFill>
                <a:prstClr val="black"/>
              </a:solidFill>
              <a:latin typeface="等线" panose="020F0502020204030204"/>
              <a:ea typeface="等线" panose="02010600030101010101" pitchFamily="2" charset="-122"/>
            </a:endParaRPr>
          </a:p>
        </p:txBody>
      </p:sp>
      <p:sp>
        <p:nvSpPr>
          <p:cNvPr id="597" name="Line 148">
            <a:extLst>
              <a:ext uri="{FF2B5EF4-FFF2-40B4-BE49-F238E27FC236}">
                <a16:creationId xmlns:a16="http://schemas.microsoft.com/office/drawing/2014/main" id="{7F32B07B-DEFE-49C6-A64E-0F2197877099}"/>
              </a:ext>
            </a:extLst>
          </p:cNvPr>
          <p:cNvSpPr>
            <a:spLocks noChangeShapeType="1"/>
          </p:cNvSpPr>
          <p:nvPr/>
        </p:nvSpPr>
        <p:spPr bwMode="auto">
          <a:xfrm>
            <a:off x="4127449" y="1995483"/>
            <a:ext cx="455903" cy="0"/>
          </a:xfrm>
          <a:prstGeom prst="line">
            <a:avLst/>
          </a:prstGeom>
          <a:noFill/>
          <a:ln w="12700">
            <a:solidFill>
              <a:srgbClr val="00B05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fontAlgn="auto">
              <a:spcBef>
                <a:spcPts val="0"/>
              </a:spcBef>
              <a:spcAft>
                <a:spcPts val="0"/>
              </a:spcAft>
            </a:pPr>
            <a:endParaRPr lang="zh-CN" altLang="en-US">
              <a:solidFill>
                <a:prstClr val="black"/>
              </a:solidFill>
              <a:latin typeface="等线" panose="020F0502020204030204"/>
              <a:ea typeface="等线" panose="02010600030101010101" pitchFamily="2" charset="-122"/>
            </a:endParaRPr>
          </a:p>
        </p:txBody>
      </p:sp>
      <p:sp>
        <p:nvSpPr>
          <p:cNvPr id="598" name="Line 149">
            <a:extLst>
              <a:ext uri="{FF2B5EF4-FFF2-40B4-BE49-F238E27FC236}">
                <a16:creationId xmlns:a16="http://schemas.microsoft.com/office/drawing/2014/main" id="{EE1874D6-9888-46BC-A685-E858D161EB46}"/>
              </a:ext>
            </a:extLst>
          </p:cNvPr>
          <p:cNvSpPr>
            <a:spLocks noChangeShapeType="1"/>
          </p:cNvSpPr>
          <p:nvPr/>
        </p:nvSpPr>
        <p:spPr bwMode="auto">
          <a:xfrm>
            <a:off x="4089457" y="2203816"/>
            <a:ext cx="493895" cy="0"/>
          </a:xfrm>
          <a:prstGeom prst="line">
            <a:avLst/>
          </a:prstGeom>
          <a:noFill/>
          <a:ln w="12700">
            <a:solidFill>
              <a:srgbClr val="00B05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fontAlgn="auto">
              <a:spcBef>
                <a:spcPts val="0"/>
              </a:spcBef>
              <a:spcAft>
                <a:spcPts val="0"/>
              </a:spcAft>
            </a:pPr>
            <a:endParaRPr lang="zh-CN" altLang="en-US">
              <a:solidFill>
                <a:prstClr val="black"/>
              </a:solidFill>
              <a:latin typeface="等线" panose="020F0502020204030204"/>
              <a:ea typeface="等线" panose="02010600030101010101" pitchFamily="2" charset="-122"/>
            </a:endParaRPr>
          </a:p>
        </p:txBody>
      </p:sp>
      <p:sp>
        <p:nvSpPr>
          <p:cNvPr id="599" name="Line 150">
            <a:extLst>
              <a:ext uri="{FF2B5EF4-FFF2-40B4-BE49-F238E27FC236}">
                <a16:creationId xmlns:a16="http://schemas.microsoft.com/office/drawing/2014/main" id="{AA0326DD-DEE3-421C-941D-813A3E31B316}"/>
              </a:ext>
            </a:extLst>
          </p:cNvPr>
          <p:cNvSpPr>
            <a:spLocks noChangeShapeType="1"/>
          </p:cNvSpPr>
          <p:nvPr/>
        </p:nvSpPr>
        <p:spPr bwMode="auto">
          <a:xfrm>
            <a:off x="6406964" y="2203816"/>
            <a:ext cx="1671645" cy="486109"/>
          </a:xfrm>
          <a:prstGeom prst="line">
            <a:avLst/>
          </a:prstGeom>
          <a:noFill/>
          <a:ln w="12700">
            <a:solidFill>
              <a:srgbClr val="00B05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fontAlgn="auto">
              <a:spcBef>
                <a:spcPts val="0"/>
              </a:spcBef>
              <a:spcAft>
                <a:spcPts val="0"/>
              </a:spcAft>
            </a:pPr>
            <a:endParaRPr lang="zh-CN" altLang="en-US">
              <a:solidFill>
                <a:prstClr val="black"/>
              </a:solidFill>
              <a:latin typeface="等线" panose="020F0502020204030204"/>
              <a:ea typeface="等线" panose="02010600030101010101" pitchFamily="2" charset="-122"/>
            </a:endParaRPr>
          </a:p>
        </p:txBody>
      </p:sp>
      <p:sp>
        <p:nvSpPr>
          <p:cNvPr id="600" name="Line 151">
            <a:extLst>
              <a:ext uri="{FF2B5EF4-FFF2-40B4-BE49-F238E27FC236}">
                <a16:creationId xmlns:a16="http://schemas.microsoft.com/office/drawing/2014/main" id="{92BA5D2B-A150-4FE8-86D3-7B19F251591F}"/>
              </a:ext>
            </a:extLst>
          </p:cNvPr>
          <p:cNvSpPr>
            <a:spLocks noChangeShapeType="1"/>
          </p:cNvSpPr>
          <p:nvPr/>
        </p:nvSpPr>
        <p:spPr bwMode="auto">
          <a:xfrm>
            <a:off x="4735319" y="2203816"/>
            <a:ext cx="1519677" cy="0"/>
          </a:xfrm>
          <a:prstGeom prst="line">
            <a:avLst/>
          </a:prstGeom>
          <a:noFill/>
          <a:ln w="12700">
            <a:solidFill>
              <a:srgbClr val="00B05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fontAlgn="auto">
              <a:spcBef>
                <a:spcPts val="0"/>
              </a:spcBef>
              <a:spcAft>
                <a:spcPts val="0"/>
              </a:spcAft>
            </a:pPr>
            <a:endParaRPr lang="zh-CN" altLang="en-US">
              <a:solidFill>
                <a:prstClr val="black"/>
              </a:solidFill>
              <a:latin typeface="等线" panose="020F0502020204030204"/>
              <a:ea typeface="等线" panose="02010600030101010101" pitchFamily="2" charset="-122"/>
            </a:endParaRPr>
          </a:p>
        </p:txBody>
      </p:sp>
      <p:sp>
        <p:nvSpPr>
          <p:cNvPr id="601" name="Line 152">
            <a:extLst>
              <a:ext uri="{FF2B5EF4-FFF2-40B4-BE49-F238E27FC236}">
                <a16:creationId xmlns:a16="http://schemas.microsoft.com/office/drawing/2014/main" id="{55FC73D8-CE50-47B4-A1B3-E5F00BE4C7B6}"/>
              </a:ext>
            </a:extLst>
          </p:cNvPr>
          <p:cNvSpPr>
            <a:spLocks noChangeShapeType="1"/>
          </p:cNvSpPr>
          <p:nvPr/>
        </p:nvSpPr>
        <p:spPr bwMode="auto">
          <a:xfrm>
            <a:off x="4735319" y="1995483"/>
            <a:ext cx="1519677" cy="0"/>
          </a:xfrm>
          <a:prstGeom prst="line">
            <a:avLst/>
          </a:prstGeom>
          <a:noFill/>
          <a:ln w="12700">
            <a:solidFill>
              <a:srgbClr val="00B05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fontAlgn="auto">
              <a:spcBef>
                <a:spcPts val="0"/>
              </a:spcBef>
              <a:spcAft>
                <a:spcPts val="0"/>
              </a:spcAft>
            </a:pPr>
            <a:endParaRPr lang="zh-CN" altLang="en-US">
              <a:solidFill>
                <a:prstClr val="black"/>
              </a:solidFill>
              <a:latin typeface="等线" panose="020F0502020204030204"/>
              <a:ea typeface="等线" panose="02010600030101010101" pitchFamily="2" charset="-122"/>
            </a:endParaRPr>
          </a:p>
        </p:txBody>
      </p:sp>
      <p:sp>
        <p:nvSpPr>
          <p:cNvPr id="602" name="Line 153">
            <a:extLst>
              <a:ext uri="{FF2B5EF4-FFF2-40B4-BE49-F238E27FC236}">
                <a16:creationId xmlns:a16="http://schemas.microsoft.com/office/drawing/2014/main" id="{A84EEA88-7FD4-44F1-9752-AC34CE6E5E28}"/>
              </a:ext>
            </a:extLst>
          </p:cNvPr>
          <p:cNvSpPr>
            <a:spLocks noChangeShapeType="1"/>
          </p:cNvSpPr>
          <p:nvPr/>
        </p:nvSpPr>
        <p:spPr bwMode="auto">
          <a:xfrm>
            <a:off x="4735319" y="1781207"/>
            <a:ext cx="607871" cy="0"/>
          </a:xfrm>
          <a:prstGeom prst="line">
            <a:avLst/>
          </a:prstGeom>
          <a:noFill/>
          <a:ln w="12700">
            <a:solidFill>
              <a:srgbClr val="00B05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fontAlgn="auto">
              <a:spcBef>
                <a:spcPts val="0"/>
              </a:spcBef>
              <a:spcAft>
                <a:spcPts val="0"/>
              </a:spcAft>
            </a:pPr>
            <a:endParaRPr lang="zh-CN" altLang="en-US">
              <a:solidFill>
                <a:prstClr val="black"/>
              </a:solidFill>
              <a:latin typeface="等线" panose="020F0502020204030204"/>
              <a:ea typeface="等线" panose="02010600030101010101" pitchFamily="2" charset="-122"/>
            </a:endParaRPr>
          </a:p>
        </p:txBody>
      </p:sp>
      <p:sp>
        <p:nvSpPr>
          <p:cNvPr id="603" name="Line 154">
            <a:extLst>
              <a:ext uri="{FF2B5EF4-FFF2-40B4-BE49-F238E27FC236}">
                <a16:creationId xmlns:a16="http://schemas.microsoft.com/office/drawing/2014/main" id="{585D1B08-10CC-4EE9-AFE9-C0B3DDC5D698}"/>
              </a:ext>
            </a:extLst>
          </p:cNvPr>
          <p:cNvSpPr>
            <a:spLocks noChangeShapeType="1"/>
          </p:cNvSpPr>
          <p:nvPr/>
        </p:nvSpPr>
        <p:spPr bwMode="auto">
          <a:xfrm>
            <a:off x="8610496" y="2759369"/>
            <a:ext cx="0" cy="277776"/>
          </a:xfrm>
          <a:prstGeom prst="line">
            <a:avLst/>
          </a:prstGeom>
          <a:noFill/>
          <a:ln w="12700">
            <a:solidFill>
              <a:srgbClr val="00B05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fontAlgn="auto">
              <a:spcBef>
                <a:spcPts val="0"/>
              </a:spcBef>
              <a:spcAft>
                <a:spcPts val="0"/>
              </a:spcAft>
            </a:pPr>
            <a:endParaRPr lang="zh-CN" altLang="en-US">
              <a:solidFill>
                <a:prstClr val="black"/>
              </a:solidFill>
              <a:latin typeface="等线" panose="020F0502020204030204"/>
              <a:ea typeface="等线" panose="02010600030101010101" pitchFamily="2" charset="-122"/>
            </a:endParaRPr>
          </a:p>
        </p:txBody>
      </p:sp>
      <p:sp>
        <p:nvSpPr>
          <p:cNvPr id="604" name="Line 155">
            <a:extLst>
              <a:ext uri="{FF2B5EF4-FFF2-40B4-BE49-F238E27FC236}">
                <a16:creationId xmlns:a16="http://schemas.microsoft.com/office/drawing/2014/main" id="{C695D9F3-33F9-4EF5-BC86-9C2ED8A7C653}"/>
              </a:ext>
            </a:extLst>
          </p:cNvPr>
          <p:cNvSpPr>
            <a:spLocks noChangeShapeType="1"/>
          </p:cNvSpPr>
          <p:nvPr/>
        </p:nvSpPr>
        <p:spPr bwMode="auto">
          <a:xfrm>
            <a:off x="6406965" y="1995483"/>
            <a:ext cx="346972" cy="0"/>
          </a:xfrm>
          <a:prstGeom prst="line">
            <a:avLst/>
          </a:prstGeom>
          <a:noFill/>
          <a:ln w="12700">
            <a:solidFill>
              <a:srgbClr val="00B05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fontAlgn="auto">
              <a:spcBef>
                <a:spcPts val="0"/>
              </a:spcBef>
              <a:spcAft>
                <a:spcPts val="0"/>
              </a:spcAft>
            </a:pPr>
            <a:endParaRPr lang="zh-CN" altLang="en-US">
              <a:solidFill>
                <a:prstClr val="black"/>
              </a:solidFill>
              <a:latin typeface="等线" panose="020F0502020204030204"/>
              <a:ea typeface="等线" panose="02010600030101010101" pitchFamily="2" charset="-122"/>
            </a:endParaRPr>
          </a:p>
        </p:txBody>
      </p:sp>
      <p:sp>
        <p:nvSpPr>
          <p:cNvPr id="605" name="Line 156">
            <a:extLst>
              <a:ext uri="{FF2B5EF4-FFF2-40B4-BE49-F238E27FC236}">
                <a16:creationId xmlns:a16="http://schemas.microsoft.com/office/drawing/2014/main" id="{E8103DB5-3E53-4477-90F1-53F5D4A5CD9D}"/>
              </a:ext>
            </a:extLst>
          </p:cNvPr>
          <p:cNvSpPr>
            <a:spLocks noChangeShapeType="1"/>
          </p:cNvSpPr>
          <p:nvPr/>
        </p:nvSpPr>
        <p:spPr bwMode="auto">
          <a:xfrm>
            <a:off x="8230577" y="2759369"/>
            <a:ext cx="379919" cy="0"/>
          </a:xfrm>
          <a:prstGeom prst="line">
            <a:avLst/>
          </a:prstGeom>
          <a:noFill/>
          <a:ln w="12700">
            <a:solidFill>
              <a:srgbClr val="00B05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fontAlgn="auto">
              <a:spcBef>
                <a:spcPts val="0"/>
              </a:spcBef>
              <a:spcAft>
                <a:spcPts val="0"/>
              </a:spcAft>
            </a:pPr>
            <a:endParaRPr lang="zh-CN" altLang="en-US">
              <a:solidFill>
                <a:prstClr val="black"/>
              </a:solidFill>
              <a:latin typeface="等线" panose="020F0502020204030204"/>
              <a:ea typeface="等线" panose="02010600030101010101" pitchFamily="2" charset="-122"/>
            </a:endParaRPr>
          </a:p>
        </p:txBody>
      </p:sp>
      <p:sp>
        <p:nvSpPr>
          <p:cNvPr id="606" name="Line 157">
            <a:extLst>
              <a:ext uri="{FF2B5EF4-FFF2-40B4-BE49-F238E27FC236}">
                <a16:creationId xmlns:a16="http://schemas.microsoft.com/office/drawing/2014/main" id="{007D7FD2-B93A-489D-8A67-8427BFA7BC73}"/>
              </a:ext>
            </a:extLst>
          </p:cNvPr>
          <p:cNvSpPr>
            <a:spLocks noChangeShapeType="1"/>
          </p:cNvSpPr>
          <p:nvPr/>
        </p:nvSpPr>
        <p:spPr bwMode="auto">
          <a:xfrm>
            <a:off x="6753936" y="1995482"/>
            <a:ext cx="0" cy="138888"/>
          </a:xfrm>
          <a:prstGeom prst="line">
            <a:avLst/>
          </a:prstGeom>
          <a:noFill/>
          <a:ln w="12700">
            <a:solidFill>
              <a:srgbClr val="00B05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fontAlgn="auto">
              <a:spcBef>
                <a:spcPts val="0"/>
              </a:spcBef>
              <a:spcAft>
                <a:spcPts val="0"/>
              </a:spcAft>
            </a:pPr>
            <a:endParaRPr lang="zh-CN" altLang="en-US">
              <a:solidFill>
                <a:prstClr val="black"/>
              </a:solidFill>
              <a:latin typeface="等线" panose="020F0502020204030204"/>
              <a:ea typeface="等线" panose="02010600030101010101" pitchFamily="2" charset="-122"/>
            </a:endParaRPr>
          </a:p>
        </p:txBody>
      </p:sp>
      <p:sp>
        <p:nvSpPr>
          <p:cNvPr id="607" name="Line 158">
            <a:extLst>
              <a:ext uri="{FF2B5EF4-FFF2-40B4-BE49-F238E27FC236}">
                <a16:creationId xmlns:a16="http://schemas.microsoft.com/office/drawing/2014/main" id="{7C861D76-267A-4748-9F0C-75BF29578892}"/>
              </a:ext>
            </a:extLst>
          </p:cNvPr>
          <p:cNvSpPr>
            <a:spLocks noChangeShapeType="1"/>
          </p:cNvSpPr>
          <p:nvPr/>
        </p:nvSpPr>
        <p:spPr bwMode="auto">
          <a:xfrm>
            <a:off x="5343190" y="1781207"/>
            <a:ext cx="0" cy="110109"/>
          </a:xfrm>
          <a:prstGeom prst="line">
            <a:avLst/>
          </a:prstGeom>
          <a:noFill/>
          <a:ln w="12700">
            <a:solidFill>
              <a:srgbClr val="00B05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fontAlgn="auto">
              <a:spcBef>
                <a:spcPts val="0"/>
              </a:spcBef>
              <a:spcAft>
                <a:spcPts val="0"/>
              </a:spcAft>
            </a:pPr>
            <a:endParaRPr lang="zh-CN" altLang="en-US">
              <a:solidFill>
                <a:prstClr val="black"/>
              </a:solidFill>
              <a:latin typeface="等线" panose="020F0502020204030204"/>
              <a:ea typeface="等线" panose="02010600030101010101" pitchFamily="2" charset="-122"/>
            </a:endParaRPr>
          </a:p>
        </p:txBody>
      </p:sp>
      <p:sp>
        <p:nvSpPr>
          <p:cNvPr id="608" name="Rectangle 40">
            <a:extLst>
              <a:ext uri="{FF2B5EF4-FFF2-40B4-BE49-F238E27FC236}">
                <a16:creationId xmlns:a16="http://schemas.microsoft.com/office/drawing/2014/main" id="{9321A21D-B1D2-4F40-9786-0EE30EDC947E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8473127" y="3670013"/>
            <a:ext cx="159080" cy="61318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19047" tIns="26984" rIns="19047" bIns="26984"/>
          <a:lstStyle/>
          <a:p>
            <a:pPr eaLnBrk="0" fontAlgn="auto" hangingPunct="0">
              <a:spcBef>
                <a:spcPts val="600"/>
              </a:spcBef>
              <a:spcAft>
                <a:spcPts val="600"/>
              </a:spcAft>
            </a:pPr>
            <a:r>
              <a:rPr lang="en-US" altLang="zh-CN" sz="1200" dirty="0">
                <a:solidFill>
                  <a:prstClr val="black"/>
                </a:solidFill>
                <a:latin typeface="Arial" pitchFamily="34" charset="0"/>
                <a:ea typeface="等线" panose="02010600030101010101" pitchFamily="2" charset="-122"/>
              </a:rPr>
              <a:t>1</a:t>
            </a:r>
          </a:p>
          <a:p>
            <a:pPr eaLnBrk="0" fontAlgn="auto" hangingPunct="0">
              <a:spcBef>
                <a:spcPts val="600"/>
              </a:spcBef>
              <a:spcAft>
                <a:spcPts val="600"/>
              </a:spcAft>
            </a:pPr>
            <a:r>
              <a:rPr lang="en-US" altLang="zh-CN" sz="1200" dirty="0">
                <a:solidFill>
                  <a:prstClr val="black"/>
                </a:solidFill>
                <a:latin typeface="Arial" pitchFamily="34" charset="0"/>
                <a:ea typeface="等线" panose="02010600030101010101" pitchFamily="2" charset="-122"/>
              </a:rPr>
              <a:t>0</a:t>
            </a:r>
          </a:p>
        </p:txBody>
      </p:sp>
      <p:sp>
        <p:nvSpPr>
          <p:cNvPr id="609" name="Line 118">
            <a:extLst>
              <a:ext uri="{FF2B5EF4-FFF2-40B4-BE49-F238E27FC236}">
                <a16:creationId xmlns:a16="http://schemas.microsoft.com/office/drawing/2014/main" id="{0BBDC026-77D9-43CF-A67D-BA523C5FAE56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268069" y="4143847"/>
            <a:ext cx="118182" cy="694398"/>
          </a:xfrm>
          <a:prstGeom prst="line">
            <a:avLst/>
          </a:prstGeom>
          <a:noFill/>
          <a:ln w="28575" cap="rnd">
            <a:solidFill>
              <a:sysClr val="windowText" lastClr="000000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</a:endParaRPr>
          </a:p>
        </p:txBody>
      </p:sp>
      <p:sp>
        <p:nvSpPr>
          <p:cNvPr id="610" name="Line 13">
            <a:extLst>
              <a:ext uri="{FF2B5EF4-FFF2-40B4-BE49-F238E27FC236}">
                <a16:creationId xmlns:a16="http://schemas.microsoft.com/office/drawing/2014/main" id="{8A5BDDC6-04AF-49A2-8E4D-7C82AB238E42}"/>
              </a:ext>
            </a:extLst>
          </p:cNvPr>
          <p:cNvSpPr>
            <a:spLocks noChangeShapeType="1"/>
          </p:cNvSpPr>
          <p:nvPr/>
        </p:nvSpPr>
        <p:spPr bwMode="auto">
          <a:xfrm>
            <a:off x="8686799" y="3913053"/>
            <a:ext cx="151960" cy="0"/>
          </a:xfrm>
          <a:prstGeom prst="line">
            <a:avLst/>
          </a:prstGeom>
          <a:noFill/>
          <a:ln w="19050">
            <a:solidFill>
              <a:sysClr val="windowText" lastClr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</a:endParaRPr>
          </a:p>
        </p:txBody>
      </p:sp>
      <p:sp>
        <p:nvSpPr>
          <p:cNvPr id="611" name="Line 110">
            <a:extLst>
              <a:ext uri="{FF2B5EF4-FFF2-40B4-BE49-F238E27FC236}">
                <a16:creationId xmlns:a16="http://schemas.microsoft.com/office/drawing/2014/main" id="{811CB649-37B2-4F42-BEC0-83C603898F6A}"/>
              </a:ext>
            </a:extLst>
          </p:cNvPr>
          <p:cNvSpPr>
            <a:spLocks noChangeShapeType="1"/>
          </p:cNvSpPr>
          <p:nvPr/>
        </p:nvSpPr>
        <p:spPr bwMode="auto">
          <a:xfrm>
            <a:off x="2835723" y="5093529"/>
            <a:ext cx="0" cy="236873"/>
          </a:xfrm>
          <a:prstGeom prst="line">
            <a:avLst/>
          </a:prstGeom>
          <a:noFill/>
          <a:ln w="19050">
            <a:solidFill>
              <a:sysClr val="windowText" lastClr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</a:endParaRPr>
          </a:p>
        </p:txBody>
      </p:sp>
      <p:sp>
        <p:nvSpPr>
          <p:cNvPr id="612" name="Line 8">
            <a:extLst>
              <a:ext uri="{FF2B5EF4-FFF2-40B4-BE49-F238E27FC236}">
                <a16:creationId xmlns:a16="http://schemas.microsoft.com/office/drawing/2014/main" id="{9F993E4B-1824-4360-9E0C-CE8CA00008D5}"/>
              </a:ext>
            </a:extLst>
          </p:cNvPr>
          <p:cNvSpPr>
            <a:spLocks noChangeShapeType="1"/>
          </p:cNvSpPr>
          <p:nvPr/>
        </p:nvSpPr>
        <p:spPr bwMode="auto">
          <a:xfrm>
            <a:off x="2835723" y="5326892"/>
            <a:ext cx="1747538" cy="0"/>
          </a:xfrm>
          <a:prstGeom prst="line">
            <a:avLst/>
          </a:prstGeom>
          <a:noFill/>
          <a:ln w="19050">
            <a:solidFill>
              <a:sysClr val="windowText" lastClr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</a:endParaRPr>
          </a:p>
        </p:txBody>
      </p:sp>
      <p:sp>
        <p:nvSpPr>
          <p:cNvPr id="613" name="Line 9">
            <a:extLst>
              <a:ext uri="{FF2B5EF4-FFF2-40B4-BE49-F238E27FC236}">
                <a16:creationId xmlns:a16="http://schemas.microsoft.com/office/drawing/2014/main" id="{A1B9312E-F398-4BF0-A42D-34F887E4975E}"/>
              </a:ext>
            </a:extLst>
          </p:cNvPr>
          <p:cNvSpPr>
            <a:spLocks noChangeShapeType="1"/>
          </p:cNvSpPr>
          <p:nvPr/>
        </p:nvSpPr>
        <p:spPr bwMode="auto">
          <a:xfrm>
            <a:off x="4742201" y="5326892"/>
            <a:ext cx="262057" cy="0"/>
          </a:xfrm>
          <a:prstGeom prst="line">
            <a:avLst/>
          </a:prstGeom>
          <a:noFill/>
          <a:ln w="19050">
            <a:solidFill>
              <a:sysClr val="windowText" lastClr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</a:endParaRPr>
          </a:p>
        </p:txBody>
      </p:sp>
      <p:sp>
        <p:nvSpPr>
          <p:cNvPr id="614" name="AutoShape 67">
            <a:extLst>
              <a:ext uri="{FF2B5EF4-FFF2-40B4-BE49-F238E27FC236}">
                <a16:creationId xmlns:a16="http://schemas.microsoft.com/office/drawing/2014/main" id="{32DE998B-4B48-4981-BEDE-9FAC3AE0CFDB}"/>
              </a:ext>
            </a:extLst>
          </p:cNvPr>
          <p:cNvSpPr>
            <a:spLocks noChangeArrowheads="1"/>
          </p:cNvSpPr>
          <p:nvPr/>
        </p:nvSpPr>
        <p:spPr bwMode="auto">
          <a:xfrm rot="16200000">
            <a:off x="4840498" y="5024784"/>
            <a:ext cx="565593" cy="236773"/>
          </a:xfrm>
          <a:custGeom>
            <a:avLst/>
            <a:gdLst>
              <a:gd name="T0" fmla="*/ 9 w 21600"/>
              <a:gd name="T1" fmla="*/ 0 h 21600"/>
              <a:gd name="T2" fmla="*/ 5 w 21600"/>
              <a:gd name="T3" fmla="*/ 1 h 21600"/>
              <a:gd name="T4" fmla="*/ 1 w 21600"/>
              <a:gd name="T5" fmla="*/ 0 h 21600"/>
              <a:gd name="T6" fmla="*/ 5 w 21600"/>
              <a:gd name="T7" fmla="*/ 0 h 21600"/>
              <a:gd name="T8" fmla="*/ 0 60000 65536"/>
              <a:gd name="T9" fmla="*/ 0 60000 65536"/>
              <a:gd name="T10" fmla="*/ 0 60000 65536"/>
              <a:gd name="T11" fmla="*/ 0 60000 65536"/>
              <a:gd name="T12" fmla="*/ 4500 w 21600"/>
              <a:gd name="T13" fmla="*/ 4500 h 21600"/>
              <a:gd name="T14" fmla="*/ 17100 w 21600"/>
              <a:gd name="T15" fmla="*/ 17100 h 21600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21600" h="21600">
                <a:moveTo>
                  <a:pt x="0" y="0"/>
                </a:moveTo>
                <a:lnTo>
                  <a:pt x="5400" y="21600"/>
                </a:lnTo>
                <a:lnTo>
                  <a:pt x="16200" y="21600"/>
                </a:lnTo>
                <a:lnTo>
                  <a:pt x="21600" y="0"/>
                </a:lnTo>
                <a:lnTo>
                  <a:pt x="0" y="0"/>
                </a:lnTo>
                <a:close/>
              </a:path>
            </a:pathLst>
          </a:custGeom>
          <a:noFill/>
          <a:ln w="19050">
            <a:solidFill>
              <a:sysClr val="windowText" lastClr="000000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</a:endParaRPr>
          </a:p>
        </p:txBody>
      </p:sp>
      <p:sp>
        <p:nvSpPr>
          <p:cNvPr id="615" name="Rectangle 70">
            <a:extLst>
              <a:ext uri="{FF2B5EF4-FFF2-40B4-BE49-F238E27FC236}">
                <a16:creationId xmlns:a16="http://schemas.microsoft.com/office/drawing/2014/main" id="{C3C66661-7D98-492A-B05F-648A7E022A2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99558" y="4850731"/>
            <a:ext cx="118669" cy="60569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19047" tIns="26984" rIns="19047" bIns="26984"/>
          <a:lstStyle/>
          <a:p>
            <a:pPr eaLnBrk="0" fontAlgn="auto" hangingPunct="0">
              <a:spcBef>
                <a:spcPts val="600"/>
              </a:spcBef>
              <a:spcAft>
                <a:spcPts val="600"/>
              </a:spcAft>
            </a:pPr>
            <a:r>
              <a:rPr lang="en-US" altLang="zh-CN" sz="1200" dirty="0">
                <a:solidFill>
                  <a:prstClr val="black"/>
                </a:solidFill>
                <a:latin typeface="Arial" pitchFamily="34" charset="0"/>
                <a:ea typeface="等线" panose="02010600030101010101" pitchFamily="2" charset="-122"/>
              </a:rPr>
              <a:t>0</a:t>
            </a:r>
          </a:p>
          <a:p>
            <a:pPr eaLnBrk="0" fontAlgn="auto" hangingPunct="0">
              <a:spcBef>
                <a:spcPts val="600"/>
              </a:spcBef>
              <a:spcAft>
                <a:spcPts val="600"/>
              </a:spcAft>
            </a:pPr>
            <a:r>
              <a:rPr lang="en-US" altLang="zh-CN" sz="1200" dirty="0">
                <a:solidFill>
                  <a:prstClr val="black"/>
                </a:solidFill>
                <a:latin typeface="Arial" pitchFamily="34" charset="0"/>
                <a:ea typeface="等线" panose="02010600030101010101" pitchFamily="2" charset="-122"/>
              </a:rPr>
              <a:t>1</a:t>
            </a:r>
          </a:p>
        </p:txBody>
      </p:sp>
      <p:sp>
        <p:nvSpPr>
          <p:cNvPr id="616" name="Line 10">
            <a:extLst>
              <a:ext uri="{FF2B5EF4-FFF2-40B4-BE49-F238E27FC236}">
                <a16:creationId xmlns:a16="http://schemas.microsoft.com/office/drawing/2014/main" id="{771BBEC2-7686-454D-9C7B-0E75A022B8E0}"/>
              </a:ext>
            </a:extLst>
          </p:cNvPr>
          <p:cNvSpPr>
            <a:spLocks noChangeShapeType="1"/>
          </p:cNvSpPr>
          <p:nvPr/>
        </p:nvSpPr>
        <p:spPr bwMode="auto">
          <a:xfrm>
            <a:off x="5234753" y="5093529"/>
            <a:ext cx="1008061" cy="0"/>
          </a:xfrm>
          <a:prstGeom prst="line">
            <a:avLst/>
          </a:prstGeom>
          <a:noFill/>
          <a:ln w="19050">
            <a:solidFill>
              <a:sysClr val="windowText" lastClr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</a:endParaRPr>
          </a:p>
        </p:txBody>
      </p:sp>
      <p:sp>
        <p:nvSpPr>
          <p:cNvPr id="617" name="Line 153">
            <a:extLst>
              <a:ext uri="{FF2B5EF4-FFF2-40B4-BE49-F238E27FC236}">
                <a16:creationId xmlns:a16="http://schemas.microsoft.com/office/drawing/2014/main" id="{87881E3E-4C3B-4F5F-A996-33AA6827214D}"/>
              </a:ext>
            </a:extLst>
          </p:cNvPr>
          <p:cNvSpPr>
            <a:spLocks noChangeShapeType="1"/>
          </p:cNvSpPr>
          <p:nvPr/>
        </p:nvSpPr>
        <p:spPr bwMode="auto">
          <a:xfrm>
            <a:off x="4042168" y="2315162"/>
            <a:ext cx="258460" cy="0"/>
          </a:xfrm>
          <a:prstGeom prst="line">
            <a:avLst/>
          </a:prstGeom>
          <a:noFill/>
          <a:ln w="12700">
            <a:solidFill>
              <a:srgbClr val="00B05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fontAlgn="auto">
              <a:spcBef>
                <a:spcPts val="0"/>
              </a:spcBef>
              <a:spcAft>
                <a:spcPts val="0"/>
              </a:spcAft>
            </a:pPr>
            <a:endParaRPr lang="zh-CN" altLang="en-US">
              <a:solidFill>
                <a:prstClr val="black"/>
              </a:solidFill>
              <a:latin typeface="等线" panose="020F0502020204030204"/>
              <a:ea typeface="等线" panose="02010600030101010101" pitchFamily="2" charset="-122"/>
            </a:endParaRPr>
          </a:p>
        </p:txBody>
      </p:sp>
      <p:sp>
        <p:nvSpPr>
          <p:cNvPr id="618" name="Line 158">
            <a:extLst>
              <a:ext uri="{FF2B5EF4-FFF2-40B4-BE49-F238E27FC236}">
                <a16:creationId xmlns:a16="http://schemas.microsoft.com/office/drawing/2014/main" id="{84D471FF-BDF0-4479-9751-CBAB79923A78}"/>
              </a:ext>
            </a:extLst>
          </p:cNvPr>
          <p:cNvSpPr>
            <a:spLocks noChangeShapeType="1"/>
          </p:cNvSpPr>
          <p:nvPr/>
        </p:nvSpPr>
        <p:spPr bwMode="auto">
          <a:xfrm>
            <a:off x="4296626" y="2313645"/>
            <a:ext cx="0" cy="117757"/>
          </a:xfrm>
          <a:prstGeom prst="line">
            <a:avLst/>
          </a:prstGeom>
          <a:noFill/>
          <a:ln w="12700">
            <a:solidFill>
              <a:srgbClr val="00B05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fontAlgn="auto">
              <a:spcBef>
                <a:spcPts val="0"/>
              </a:spcBef>
              <a:spcAft>
                <a:spcPts val="0"/>
              </a:spcAft>
            </a:pPr>
            <a:endParaRPr lang="zh-CN" altLang="en-US">
              <a:solidFill>
                <a:prstClr val="black"/>
              </a:solidFill>
              <a:latin typeface="等线" panose="020F0502020204030204"/>
              <a:ea typeface="等线" panose="02010600030101010101" pitchFamily="2" charset="-122"/>
            </a:endParaRPr>
          </a:p>
        </p:txBody>
      </p:sp>
      <p:sp>
        <p:nvSpPr>
          <p:cNvPr id="619" name="Text Box 30">
            <a:extLst>
              <a:ext uri="{FF2B5EF4-FFF2-40B4-BE49-F238E27FC236}">
                <a16:creationId xmlns:a16="http://schemas.microsoft.com/office/drawing/2014/main" id="{B409C5F2-7D4A-4C03-A8FC-27AD5FCA1A5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427560" y="2815903"/>
            <a:ext cx="500428" cy="27698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1425" tIns="45713" rIns="91425" bIns="45713">
            <a:spAutoFit/>
          </a:bodyPr>
          <a:lstStyle>
            <a:lvl1pPr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1pPr>
            <a:lvl2pPr marL="742950" indent="-28575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2pPr>
            <a:lvl3pPr marL="11430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3pPr>
            <a:lvl4pPr marL="16002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4pPr>
            <a:lvl5pPr marL="20574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9pPr>
          </a:lstStyle>
          <a:p>
            <a:pPr fontAlgn="auto">
              <a:spcBef>
                <a:spcPts val="0"/>
              </a:spcBef>
              <a:spcAft>
                <a:spcPts val="0"/>
              </a:spcAft>
            </a:pPr>
            <a:r>
              <a:rPr lang="en-US" altLang="zh-CN" sz="1200" b="0" dirty="0">
                <a:solidFill>
                  <a:prstClr val="black"/>
                </a:solidFill>
                <a:latin typeface="Arial" pitchFamily="34" charset="0"/>
                <a:ea typeface="SimHei" panose="02010609060101010101" pitchFamily="49" charset="-122"/>
              </a:rPr>
              <a:t>Zero</a:t>
            </a:r>
          </a:p>
        </p:txBody>
      </p:sp>
      <p:sp>
        <p:nvSpPr>
          <p:cNvPr id="620" name="Line 124">
            <a:extLst>
              <a:ext uri="{FF2B5EF4-FFF2-40B4-BE49-F238E27FC236}">
                <a16:creationId xmlns:a16="http://schemas.microsoft.com/office/drawing/2014/main" id="{9E2E85F4-19ED-40E0-95A1-721392D2866C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7120424" y="1800566"/>
            <a:ext cx="0" cy="1236577"/>
          </a:xfrm>
          <a:prstGeom prst="line">
            <a:avLst/>
          </a:prstGeom>
          <a:noFill/>
          <a:ln w="19050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</a:endParaRPr>
          </a:p>
        </p:txBody>
      </p:sp>
      <p:sp>
        <p:nvSpPr>
          <p:cNvPr id="142" name="Rectangle 143">
            <a:extLst>
              <a:ext uri="{FF2B5EF4-FFF2-40B4-BE49-F238E27FC236}">
                <a16:creationId xmlns:a16="http://schemas.microsoft.com/office/drawing/2014/main" id="{98FBCCEC-E21A-45A8-B757-82FDE05D46C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914799" y="5973951"/>
            <a:ext cx="2133595" cy="643750"/>
          </a:xfrm>
          <a:prstGeom prst="rect">
            <a:avLst/>
          </a:prstGeom>
          <a:solidFill>
            <a:schemeClr val="bg1">
              <a:lumMod val="95000"/>
            </a:schemeClr>
          </a:solidFill>
          <a:ln w="28575">
            <a:solidFill>
              <a:srgbClr val="0070C0"/>
            </a:solidFill>
            <a:miter lim="800000"/>
            <a:headEnd/>
            <a:tailEnd/>
          </a:ln>
          <a:effectLst/>
        </p:spPr>
        <p:txBody>
          <a:bodyPr wrap="square" lIns="90473" tIns="44442" rIns="90473" bIns="44442">
            <a:spAutoFit/>
          </a:bodyPr>
          <a:lstStyle/>
          <a:p>
            <a:pPr eaLnBrk="0" hangingPunct="0"/>
            <a:r>
              <a:rPr lang="en-US" altLang="zh-CN" dirty="0">
                <a:solidFill>
                  <a:srgbClr val="0070C0"/>
                </a:solidFill>
                <a:latin typeface="Arial" pitchFamily="34" charset="0"/>
                <a:ea typeface="SimHei" panose="02010609060101010101" pitchFamily="49" charset="-122"/>
              </a:rPr>
              <a:t>MEM/WB</a:t>
            </a:r>
            <a:r>
              <a:rPr lang="zh-CN" altLang="en-US" dirty="0">
                <a:latin typeface="Arial" pitchFamily="34" charset="0"/>
                <a:ea typeface="SimHei" panose="02010609060101010101" pitchFamily="49" charset="-122"/>
              </a:rPr>
              <a:t>：</a:t>
            </a:r>
            <a:r>
              <a:rPr lang="en-US" altLang="zh-CN" dirty="0">
                <a:latin typeface="Arial" pitchFamily="34" charset="0"/>
                <a:ea typeface="SimHei" panose="02010609060101010101" pitchFamily="49" charset="-122"/>
              </a:rPr>
              <a:t>69 </a:t>
            </a:r>
            <a:r>
              <a:rPr lang="zh-CN" altLang="en-US" dirty="0">
                <a:latin typeface="Arial" pitchFamily="34" charset="0"/>
                <a:ea typeface="SimHei" panose="02010609060101010101" pitchFamily="49" charset="-122"/>
              </a:rPr>
              <a:t>位</a:t>
            </a:r>
            <a:r>
              <a:rPr lang="en-US" altLang="zh-CN" dirty="0">
                <a:latin typeface="Arial" pitchFamily="34" charset="0"/>
                <a:ea typeface="SimHei" panose="02010609060101010101" pitchFamily="49" charset="-122"/>
              </a:rPr>
              <a:t>+:</a:t>
            </a:r>
          </a:p>
          <a:p>
            <a:pPr eaLnBrk="0" hangingPunct="0"/>
            <a:r>
              <a:rPr lang="en-US" altLang="zh-CN" dirty="0">
                <a:latin typeface="Arial" pitchFamily="34" charset="0"/>
                <a:ea typeface="SimHei" panose="02010609060101010101" pitchFamily="49" charset="-122"/>
              </a:rPr>
              <a:t>32 * 2 + 5</a:t>
            </a:r>
          </a:p>
        </p:txBody>
      </p:sp>
      <p:sp>
        <p:nvSpPr>
          <p:cNvPr id="143" name="Line 144">
            <a:extLst>
              <a:ext uri="{FF2B5EF4-FFF2-40B4-BE49-F238E27FC236}">
                <a16:creationId xmlns:a16="http://schemas.microsoft.com/office/drawing/2014/main" id="{57CA837F-9D9D-4D7D-94F5-F9DA42538C24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7817806" y="5212640"/>
            <a:ext cx="276505" cy="743188"/>
          </a:xfrm>
          <a:prstGeom prst="line">
            <a:avLst/>
          </a:prstGeom>
          <a:noFill/>
          <a:ln w="28575">
            <a:solidFill>
              <a:srgbClr val="0070C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4" name="灯片编号占位符 3">
            <a:extLst>
              <a:ext uri="{FF2B5EF4-FFF2-40B4-BE49-F238E27FC236}">
                <a16:creationId xmlns:a16="http://schemas.microsoft.com/office/drawing/2014/main" id="{C278CFE4-3D23-4B6D-97CB-6D88CCA581E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1806CE5-282B-4233-8654-09F35EA875E2}" type="slidenum">
              <a:rPr lang="zh-CN" altLang="en-US" smtClean="0"/>
              <a:t>65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246631358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1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0" dur="500"/>
                                        <p:tgtEl>
                                          <p:spTgt spid="1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5" dur="500"/>
                                        <p:tgtEl>
                                          <p:spTgt spid="1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8" dur="500"/>
                                        <p:tgtEl>
                                          <p:spTgt spid="1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3" dur="500"/>
                                        <p:tgtEl>
                                          <p:spTgt spid="1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6" dur="500"/>
                                        <p:tgtEl>
                                          <p:spTgt spid="1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1" dur="500"/>
                                        <p:tgtEl>
                                          <p:spTgt spid="1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4" dur="500"/>
                                        <p:tgtEl>
                                          <p:spTgt spid="1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35" grpId="0" animBg="1"/>
      <p:bldP spid="136" grpId="0" animBg="1"/>
      <p:bldP spid="139" grpId="0" animBg="1"/>
      <p:bldP spid="140" grpId="0" animBg="1"/>
      <p:bldP spid="144" grpId="0" animBg="1"/>
      <p:bldP spid="145" grpId="0" animBg="1"/>
      <p:bldP spid="142" grpId="0" animBg="1"/>
      <p:bldP spid="143" grpId="0" animBg="1"/>
    </p:bldLst>
  </p:timing>
</p:sld>
</file>

<file path=ppt/slides/slide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ectangle 6" descr=" 10"/>
          <p:cNvSpPr>
            <a:spLocks noChangeArrowheads="1"/>
          </p:cNvSpPr>
          <p:nvPr/>
        </p:nvSpPr>
        <p:spPr bwMode="auto">
          <a:xfrm>
            <a:off x="838200" y="6691312"/>
            <a:ext cx="2438400" cy="152400"/>
          </a:xfrm>
          <a:prstGeom prst="rect">
            <a:avLst/>
          </a:prstGeom>
          <a:solidFill>
            <a:schemeClr val="bg1"/>
          </a:solidFill>
          <a:ln w="12700">
            <a:solidFill>
              <a:schemeClr val="bg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pic>
        <p:nvPicPr>
          <p:cNvPr id="1847298" name="Picture 2" descr=" 1847298"/>
          <p:cNvPicPr>
            <a:picLocks noChangeAspect="1" noChangeArrowheads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49419"/>
          <a:stretch/>
        </p:blipFill>
        <p:spPr bwMode="auto">
          <a:xfrm>
            <a:off x="361491" y="1165225"/>
            <a:ext cx="8421018" cy="56927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" name="Title 2">
            <a:extLst>
              <a:ext uri="{FF2B5EF4-FFF2-40B4-BE49-F238E27FC236}">
                <a16:creationId xmlns:a16="http://schemas.microsoft.com/office/drawing/2014/main" id="{AD0BEB00-6D1E-A343-BD01-88F20E75CD68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dirty="0"/>
              <a:t>流水线</a:t>
            </a:r>
            <a:r>
              <a:rPr lang="zh-CN" altLang="en-CN" dirty="0"/>
              <a:t>运行示例</a:t>
            </a:r>
            <a:endParaRPr lang="en-CN" dirty="0"/>
          </a:p>
        </p:txBody>
      </p:sp>
      <p:sp>
        <p:nvSpPr>
          <p:cNvPr id="2" name="Slide Number Placeholder 1">
            <a:extLst>
              <a:ext uri="{FF2B5EF4-FFF2-40B4-BE49-F238E27FC236}">
                <a16:creationId xmlns:a16="http://schemas.microsoft.com/office/drawing/2014/main" id="{7C5287F5-EE44-AA40-A963-88C93641B8A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1806CE5-282B-4233-8654-09F35EA875E2}" type="slidenum">
              <a:rPr lang="zh-CN" altLang="en-US" smtClean="0"/>
              <a:t>66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357992037"/>
      </p:ext>
    </p:extLst>
  </p:cSld>
  <p:clrMapOvr>
    <a:masterClrMapping/>
  </p:clrMapOvr>
</p:sld>
</file>

<file path=ppt/slides/slide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ectangle 6" descr=" 10"/>
          <p:cNvSpPr>
            <a:spLocks noChangeArrowheads="1"/>
          </p:cNvSpPr>
          <p:nvPr/>
        </p:nvSpPr>
        <p:spPr bwMode="auto">
          <a:xfrm>
            <a:off x="838200" y="6691312"/>
            <a:ext cx="2438400" cy="152400"/>
          </a:xfrm>
          <a:prstGeom prst="rect">
            <a:avLst/>
          </a:prstGeom>
          <a:solidFill>
            <a:schemeClr val="bg1"/>
          </a:solidFill>
          <a:ln w="12700">
            <a:solidFill>
              <a:schemeClr val="bg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pic>
        <p:nvPicPr>
          <p:cNvPr id="1847298" name="Picture 2" descr=" 1847298"/>
          <p:cNvPicPr>
            <a:picLocks noChangeAspect="1" noChangeArrowheads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49369"/>
          <a:stretch/>
        </p:blipFill>
        <p:spPr bwMode="auto">
          <a:xfrm>
            <a:off x="583406" y="1259696"/>
            <a:ext cx="7977188" cy="53980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Slide Number Placeholder 1">
            <a:extLst>
              <a:ext uri="{FF2B5EF4-FFF2-40B4-BE49-F238E27FC236}">
                <a16:creationId xmlns:a16="http://schemas.microsoft.com/office/drawing/2014/main" id="{9EBAC4C6-3C7A-DB40-BDD3-14A22EF3E85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1806CE5-282B-4233-8654-09F35EA875E2}" type="slidenum">
              <a:rPr lang="zh-CN" altLang="en-US" smtClean="0"/>
              <a:t>67</a:t>
            </a:fld>
            <a:endParaRPr lang="zh-CN" altLang="en-US"/>
          </a:p>
        </p:txBody>
      </p:sp>
      <p:sp>
        <p:nvSpPr>
          <p:cNvPr id="6" name="Title 2">
            <a:extLst>
              <a:ext uri="{FF2B5EF4-FFF2-40B4-BE49-F238E27FC236}">
                <a16:creationId xmlns:a16="http://schemas.microsoft.com/office/drawing/2014/main" id="{2D0411E3-0F33-E240-A325-7DE83EDE24A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54000" y="136525"/>
            <a:ext cx="8648700" cy="826958"/>
          </a:xfrm>
        </p:spPr>
        <p:txBody>
          <a:bodyPr/>
          <a:lstStyle/>
          <a:p>
            <a:r>
              <a:rPr lang="zh-CN" altLang="en-US" dirty="0"/>
              <a:t>流水线</a:t>
            </a:r>
            <a:r>
              <a:rPr lang="zh-CN" altLang="en-CN" dirty="0"/>
              <a:t>运行示例</a:t>
            </a:r>
            <a:endParaRPr lang="en-CN" dirty="0"/>
          </a:p>
        </p:txBody>
      </p:sp>
    </p:spTree>
    <p:extLst>
      <p:ext uri="{BB962C8B-B14F-4D97-AF65-F5344CB8AC3E}">
        <p14:creationId xmlns:p14="http://schemas.microsoft.com/office/powerpoint/2010/main" val="2559840147"/>
      </p:ext>
    </p:extLst>
  </p:cSld>
  <p:clrMapOvr>
    <a:masterClrMapping/>
  </p:clrMapOvr>
</p:sld>
</file>

<file path=ppt/slides/slide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ectangle 6" descr=" 10"/>
          <p:cNvSpPr>
            <a:spLocks noChangeArrowheads="1"/>
          </p:cNvSpPr>
          <p:nvPr/>
        </p:nvSpPr>
        <p:spPr bwMode="auto">
          <a:xfrm>
            <a:off x="838200" y="6691312"/>
            <a:ext cx="2438400" cy="152400"/>
          </a:xfrm>
          <a:prstGeom prst="rect">
            <a:avLst/>
          </a:prstGeom>
          <a:solidFill>
            <a:schemeClr val="bg1"/>
          </a:solidFill>
          <a:ln w="12700">
            <a:solidFill>
              <a:schemeClr val="bg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pic>
        <p:nvPicPr>
          <p:cNvPr id="4" name="Picture 3" descr=" 1847299">
            <a:extLst>
              <a:ext uri="{FF2B5EF4-FFF2-40B4-BE49-F238E27FC236}">
                <a16:creationId xmlns:a16="http://schemas.microsoft.com/office/drawing/2014/main" id="{C9019AF5-4D4B-4015-8CFC-64B379A6E24D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49337"/>
          <a:stretch/>
        </p:blipFill>
        <p:spPr bwMode="auto">
          <a:xfrm>
            <a:off x="565150" y="1322387"/>
            <a:ext cx="8013700" cy="55213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Slide Number Placeholder 1">
            <a:extLst>
              <a:ext uri="{FF2B5EF4-FFF2-40B4-BE49-F238E27FC236}">
                <a16:creationId xmlns:a16="http://schemas.microsoft.com/office/drawing/2014/main" id="{B1B68E5C-EBAF-2A45-95AE-6448B5CBA75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1806CE5-282B-4233-8654-09F35EA875E2}" type="slidenum">
              <a:rPr lang="zh-CN" altLang="en-US" smtClean="0"/>
              <a:t>68</a:t>
            </a:fld>
            <a:endParaRPr lang="zh-CN" altLang="en-US"/>
          </a:p>
        </p:txBody>
      </p:sp>
      <p:sp>
        <p:nvSpPr>
          <p:cNvPr id="5" name="Title 2">
            <a:extLst>
              <a:ext uri="{FF2B5EF4-FFF2-40B4-BE49-F238E27FC236}">
                <a16:creationId xmlns:a16="http://schemas.microsoft.com/office/drawing/2014/main" id="{30B5AFAA-BC2E-3D4F-AAFF-3B68FE44C4D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54000" y="136525"/>
            <a:ext cx="8648700" cy="826958"/>
          </a:xfrm>
        </p:spPr>
        <p:txBody>
          <a:bodyPr/>
          <a:lstStyle/>
          <a:p>
            <a:r>
              <a:rPr lang="zh-CN" altLang="en-US" dirty="0"/>
              <a:t>流水线</a:t>
            </a:r>
            <a:r>
              <a:rPr lang="zh-CN" altLang="en-CN" dirty="0"/>
              <a:t>运行示例</a:t>
            </a:r>
            <a:endParaRPr lang="en-CN" dirty="0"/>
          </a:p>
        </p:txBody>
      </p:sp>
    </p:spTree>
    <p:extLst>
      <p:ext uri="{BB962C8B-B14F-4D97-AF65-F5344CB8AC3E}">
        <p14:creationId xmlns:p14="http://schemas.microsoft.com/office/powerpoint/2010/main" val="3259464497"/>
      </p:ext>
    </p:extLst>
  </p:cSld>
  <p:clrMapOvr>
    <a:masterClrMapping/>
  </p:clrMapOvr>
</p:sld>
</file>

<file path=ppt/slides/slide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ectangle 6" descr=" 10"/>
          <p:cNvSpPr>
            <a:spLocks noChangeArrowheads="1"/>
          </p:cNvSpPr>
          <p:nvPr/>
        </p:nvSpPr>
        <p:spPr bwMode="auto">
          <a:xfrm>
            <a:off x="838200" y="6691312"/>
            <a:ext cx="2438400" cy="152400"/>
          </a:xfrm>
          <a:prstGeom prst="rect">
            <a:avLst/>
          </a:prstGeom>
          <a:solidFill>
            <a:schemeClr val="bg1"/>
          </a:solidFill>
          <a:ln w="12700">
            <a:solidFill>
              <a:schemeClr val="bg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pic>
        <p:nvPicPr>
          <p:cNvPr id="4" name="Picture 3" descr=" 1847299">
            <a:extLst>
              <a:ext uri="{FF2B5EF4-FFF2-40B4-BE49-F238E27FC236}">
                <a16:creationId xmlns:a16="http://schemas.microsoft.com/office/drawing/2014/main" id="{C9019AF5-4D4B-4015-8CFC-64B379A6E24D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49379"/>
          <a:stretch/>
        </p:blipFill>
        <p:spPr bwMode="auto">
          <a:xfrm>
            <a:off x="565150" y="1174584"/>
            <a:ext cx="8013700" cy="551672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Slide Number Placeholder 1">
            <a:extLst>
              <a:ext uri="{FF2B5EF4-FFF2-40B4-BE49-F238E27FC236}">
                <a16:creationId xmlns:a16="http://schemas.microsoft.com/office/drawing/2014/main" id="{BF844D66-3298-4D47-A599-C53083E184A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1806CE5-282B-4233-8654-09F35EA875E2}" type="slidenum">
              <a:rPr lang="zh-CN" altLang="en-US" smtClean="0"/>
              <a:t>69</a:t>
            </a:fld>
            <a:endParaRPr lang="zh-CN" altLang="en-US"/>
          </a:p>
        </p:txBody>
      </p:sp>
      <p:sp>
        <p:nvSpPr>
          <p:cNvPr id="5" name="Title 2">
            <a:extLst>
              <a:ext uri="{FF2B5EF4-FFF2-40B4-BE49-F238E27FC236}">
                <a16:creationId xmlns:a16="http://schemas.microsoft.com/office/drawing/2014/main" id="{3EC38A58-70C6-C144-A4FE-9D983BBE8B0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54000" y="136525"/>
            <a:ext cx="8648700" cy="826958"/>
          </a:xfrm>
        </p:spPr>
        <p:txBody>
          <a:bodyPr/>
          <a:lstStyle/>
          <a:p>
            <a:r>
              <a:rPr lang="zh-CN" altLang="en-US" dirty="0"/>
              <a:t>流水线</a:t>
            </a:r>
            <a:r>
              <a:rPr lang="zh-CN" altLang="en-CN" dirty="0"/>
              <a:t>运行示例</a:t>
            </a:r>
            <a:endParaRPr lang="en-CN" dirty="0"/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B544BC01-B06F-AA49-8625-304D532F31BF}"/>
              </a:ext>
            </a:extLst>
          </p:cNvPr>
          <p:cNvSpPr txBox="1"/>
          <p:nvPr/>
        </p:nvSpPr>
        <p:spPr>
          <a:xfrm>
            <a:off x="2315686" y="1270659"/>
            <a:ext cx="1491114" cy="276999"/>
          </a:xfrm>
          <a:prstGeom prst="rect">
            <a:avLst/>
          </a:prstGeom>
          <a:solidFill>
            <a:schemeClr val="bg1"/>
          </a:solidFill>
        </p:spPr>
        <p:txBody>
          <a:bodyPr wrap="none" rtlCol="0">
            <a:spAutoFit/>
          </a:bodyPr>
          <a:lstStyle/>
          <a:p>
            <a:r>
              <a:rPr lang="en-CN" sz="1200" dirty="0">
                <a:ea typeface="SimHei" panose="02010609060101010101" pitchFamily="49" charset="-122"/>
              </a:rPr>
              <a:t>ID: and $12, $4, $5</a:t>
            </a:r>
          </a:p>
        </p:txBody>
      </p:sp>
    </p:spTree>
    <p:extLst>
      <p:ext uri="{BB962C8B-B14F-4D97-AF65-F5344CB8AC3E}">
        <p14:creationId xmlns:p14="http://schemas.microsoft.com/office/powerpoint/2010/main" val="2234004496"/>
      </p:ext>
    </p:extLst>
  </p:cSld>
  <p:clrMapOvr>
    <a:masterClrMapping/>
  </p:clrMapOvr>
</p:sld>
</file>

<file path=ppt/slides/slide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ectangle 6" descr=" 10"/>
          <p:cNvSpPr>
            <a:spLocks noChangeArrowheads="1"/>
          </p:cNvSpPr>
          <p:nvPr/>
        </p:nvSpPr>
        <p:spPr bwMode="auto">
          <a:xfrm>
            <a:off x="838200" y="6691312"/>
            <a:ext cx="2438400" cy="152400"/>
          </a:xfrm>
          <a:prstGeom prst="rect">
            <a:avLst/>
          </a:prstGeom>
          <a:solidFill>
            <a:schemeClr val="bg1"/>
          </a:solidFill>
          <a:ln w="12700">
            <a:solidFill>
              <a:schemeClr val="bg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pic>
        <p:nvPicPr>
          <p:cNvPr id="5" name="Picture 4" descr=" 1847300">
            <a:extLst>
              <a:ext uri="{FF2B5EF4-FFF2-40B4-BE49-F238E27FC236}">
                <a16:creationId xmlns:a16="http://schemas.microsoft.com/office/drawing/2014/main" id="{1F111929-E2DC-4FCF-BEF3-A1CA1B852EEF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-1" b="49664"/>
          <a:stretch/>
        </p:blipFill>
        <p:spPr bwMode="auto">
          <a:xfrm>
            <a:off x="456406" y="1239837"/>
            <a:ext cx="8231187" cy="54514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Slide Number Placeholder 1">
            <a:extLst>
              <a:ext uri="{FF2B5EF4-FFF2-40B4-BE49-F238E27FC236}">
                <a16:creationId xmlns:a16="http://schemas.microsoft.com/office/drawing/2014/main" id="{75857654-32E4-F749-AD9D-1A0538EBB4D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1806CE5-282B-4233-8654-09F35EA875E2}" type="slidenum">
              <a:rPr lang="zh-CN" altLang="en-US" smtClean="0"/>
              <a:t>70</a:t>
            </a:fld>
            <a:endParaRPr lang="zh-CN" altLang="en-US"/>
          </a:p>
        </p:txBody>
      </p:sp>
      <p:sp>
        <p:nvSpPr>
          <p:cNvPr id="6" name="Title 2">
            <a:extLst>
              <a:ext uri="{FF2B5EF4-FFF2-40B4-BE49-F238E27FC236}">
                <a16:creationId xmlns:a16="http://schemas.microsoft.com/office/drawing/2014/main" id="{9BA934FE-40DA-604E-AE51-A2A4553278B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54000" y="136525"/>
            <a:ext cx="8648700" cy="826958"/>
          </a:xfrm>
        </p:spPr>
        <p:txBody>
          <a:bodyPr/>
          <a:lstStyle/>
          <a:p>
            <a:r>
              <a:rPr lang="zh-CN" altLang="en-US" dirty="0"/>
              <a:t>流水线</a:t>
            </a:r>
            <a:r>
              <a:rPr lang="zh-CN" altLang="en-CN" dirty="0"/>
              <a:t>运行示例</a:t>
            </a:r>
            <a:endParaRPr lang="en-CN" dirty="0"/>
          </a:p>
        </p:txBody>
      </p:sp>
    </p:spTree>
    <p:extLst>
      <p:ext uri="{BB962C8B-B14F-4D97-AF65-F5344CB8AC3E}">
        <p14:creationId xmlns:p14="http://schemas.microsoft.com/office/powerpoint/2010/main" val="2138418847"/>
      </p:ext>
    </p:extLst>
  </p:cSld>
  <p:clrMapOvr>
    <a:masterClrMapping/>
  </p:clrMapOvr>
</p:sld>
</file>

<file path=ppt/slides/slide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ectangle 6" descr=" 10"/>
          <p:cNvSpPr>
            <a:spLocks noChangeArrowheads="1"/>
          </p:cNvSpPr>
          <p:nvPr/>
        </p:nvSpPr>
        <p:spPr bwMode="auto">
          <a:xfrm>
            <a:off x="838200" y="6691312"/>
            <a:ext cx="2438400" cy="152400"/>
          </a:xfrm>
          <a:prstGeom prst="rect">
            <a:avLst/>
          </a:prstGeom>
          <a:solidFill>
            <a:schemeClr val="bg1"/>
          </a:solidFill>
          <a:ln w="12700">
            <a:solidFill>
              <a:schemeClr val="bg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pic>
        <p:nvPicPr>
          <p:cNvPr id="5" name="Picture 4" descr=" 1847300">
            <a:extLst>
              <a:ext uri="{FF2B5EF4-FFF2-40B4-BE49-F238E27FC236}">
                <a16:creationId xmlns:a16="http://schemas.microsoft.com/office/drawing/2014/main" id="{1F111929-E2DC-4FCF-BEF3-A1CA1B852EEF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50335"/>
          <a:stretch/>
        </p:blipFill>
        <p:spPr bwMode="auto">
          <a:xfrm>
            <a:off x="456406" y="1312618"/>
            <a:ext cx="8231187" cy="537869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Slide Number Placeholder 1">
            <a:extLst>
              <a:ext uri="{FF2B5EF4-FFF2-40B4-BE49-F238E27FC236}">
                <a16:creationId xmlns:a16="http://schemas.microsoft.com/office/drawing/2014/main" id="{11834DCE-5C3D-3245-8EB1-F4D0902D269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1806CE5-282B-4233-8654-09F35EA875E2}" type="slidenum">
              <a:rPr lang="zh-CN" altLang="en-US" smtClean="0"/>
              <a:t>71</a:t>
            </a:fld>
            <a:endParaRPr lang="zh-CN" altLang="en-US"/>
          </a:p>
        </p:txBody>
      </p:sp>
      <p:sp>
        <p:nvSpPr>
          <p:cNvPr id="6" name="Title 2">
            <a:extLst>
              <a:ext uri="{FF2B5EF4-FFF2-40B4-BE49-F238E27FC236}">
                <a16:creationId xmlns:a16="http://schemas.microsoft.com/office/drawing/2014/main" id="{5CB1AA1D-6143-DE4A-B394-245E97ACAD9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54000" y="136525"/>
            <a:ext cx="8648700" cy="826958"/>
          </a:xfrm>
        </p:spPr>
        <p:txBody>
          <a:bodyPr/>
          <a:lstStyle/>
          <a:p>
            <a:r>
              <a:rPr lang="zh-CN" altLang="en-US" dirty="0"/>
              <a:t>流水线</a:t>
            </a:r>
            <a:r>
              <a:rPr lang="zh-CN" altLang="en-CN" dirty="0"/>
              <a:t>运行示例</a:t>
            </a:r>
            <a:endParaRPr lang="en-CN" dirty="0"/>
          </a:p>
        </p:txBody>
      </p:sp>
    </p:spTree>
    <p:extLst>
      <p:ext uri="{BB962C8B-B14F-4D97-AF65-F5344CB8AC3E}">
        <p14:creationId xmlns:p14="http://schemas.microsoft.com/office/powerpoint/2010/main" val="3406438646"/>
      </p:ext>
    </p:extLst>
  </p:cSld>
  <p:clrMapOvr>
    <a:masterClrMapping/>
  </p:clrMapOvr>
</p:sld>
</file>

<file path=ppt/slides/slide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ectangle 6" descr=" 10"/>
          <p:cNvSpPr>
            <a:spLocks noChangeArrowheads="1"/>
          </p:cNvSpPr>
          <p:nvPr/>
        </p:nvSpPr>
        <p:spPr bwMode="auto">
          <a:xfrm>
            <a:off x="838200" y="6691312"/>
            <a:ext cx="2438400" cy="152400"/>
          </a:xfrm>
          <a:prstGeom prst="rect">
            <a:avLst/>
          </a:prstGeom>
          <a:solidFill>
            <a:schemeClr val="bg1"/>
          </a:solidFill>
          <a:ln w="12700">
            <a:solidFill>
              <a:schemeClr val="bg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pic>
        <p:nvPicPr>
          <p:cNvPr id="4" name="Picture 5" descr=" 1847301">
            <a:extLst>
              <a:ext uri="{FF2B5EF4-FFF2-40B4-BE49-F238E27FC236}">
                <a16:creationId xmlns:a16="http://schemas.microsoft.com/office/drawing/2014/main" id="{395C9325-64B9-4E3F-BE47-378BF3F9D0FC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49658"/>
          <a:stretch/>
        </p:blipFill>
        <p:spPr bwMode="auto">
          <a:xfrm>
            <a:off x="456406" y="1204912"/>
            <a:ext cx="8231188" cy="5486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Slide Number Placeholder 1">
            <a:extLst>
              <a:ext uri="{FF2B5EF4-FFF2-40B4-BE49-F238E27FC236}">
                <a16:creationId xmlns:a16="http://schemas.microsoft.com/office/drawing/2014/main" id="{38A46CFF-7D74-8C47-A096-D6FC9AD9BCF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1806CE5-282B-4233-8654-09F35EA875E2}" type="slidenum">
              <a:rPr lang="zh-CN" altLang="en-US" smtClean="0"/>
              <a:t>72</a:t>
            </a:fld>
            <a:endParaRPr lang="zh-CN" altLang="en-US"/>
          </a:p>
        </p:txBody>
      </p:sp>
      <p:sp>
        <p:nvSpPr>
          <p:cNvPr id="5" name="Title 2">
            <a:extLst>
              <a:ext uri="{FF2B5EF4-FFF2-40B4-BE49-F238E27FC236}">
                <a16:creationId xmlns:a16="http://schemas.microsoft.com/office/drawing/2014/main" id="{B863CDBB-BA9E-7841-84D0-F319B6DC41B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54000" y="136525"/>
            <a:ext cx="8648700" cy="826958"/>
          </a:xfrm>
        </p:spPr>
        <p:txBody>
          <a:bodyPr/>
          <a:lstStyle/>
          <a:p>
            <a:r>
              <a:rPr lang="zh-CN" altLang="en-US" dirty="0"/>
              <a:t>流水线</a:t>
            </a:r>
            <a:r>
              <a:rPr lang="zh-CN" altLang="en-CN" dirty="0"/>
              <a:t>运行示例</a:t>
            </a:r>
            <a:endParaRPr lang="en-CN" dirty="0"/>
          </a:p>
        </p:txBody>
      </p:sp>
    </p:spTree>
    <p:extLst>
      <p:ext uri="{BB962C8B-B14F-4D97-AF65-F5344CB8AC3E}">
        <p14:creationId xmlns:p14="http://schemas.microsoft.com/office/powerpoint/2010/main" val="164743162"/>
      </p:ext>
    </p:extLst>
  </p:cSld>
  <p:clrMapOvr>
    <a:masterClrMapping/>
  </p:clrMapOvr>
</p:sld>
</file>

<file path=ppt/slides/slide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ectangle 6" descr=" 10"/>
          <p:cNvSpPr>
            <a:spLocks noChangeArrowheads="1"/>
          </p:cNvSpPr>
          <p:nvPr/>
        </p:nvSpPr>
        <p:spPr bwMode="auto">
          <a:xfrm>
            <a:off x="838200" y="6691312"/>
            <a:ext cx="2438400" cy="152400"/>
          </a:xfrm>
          <a:prstGeom prst="rect">
            <a:avLst/>
          </a:prstGeom>
          <a:solidFill>
            <a:schemeClr val="bg1"/>
          </a:solidFill>
          <a:ln w="12700">
            <a:solidFill>
              <a:schemeClr val="bg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pic>
        <p:nvPicPr>
          <p:cNvPr id="4" name="Picture 5" descr=" 1847301">
            <a:extLst>
              <a:ext uri="{FF2B5EF4-FFF2-40B4-BE49-F238E27FC236}">
                <a16:creationId xmlns:a16="http://schemas.microsoft.com/office/drawing/2014/main" id="{395C9325-64B9-4E3F-BE47-378BF3F9D0FC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50037"/>
          <a:stretch/>
        </p:blipFill>
        <p:spPr bwMode="auto">
          <a:xfrm>
            <a:off x="456406" y="1246293"/>
            <a:ext cx="8231188" cy="544501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Slide Number Placeholder 1">
            <a:extLst>
              <a:ext uri="{FF2B5EF4-FFF2-40B4-BE49-F238E27FC236}">
                <a16:creationId xmlns:a16="http://schemas.microsoft.com/office/drawing/2014/main" id="{5ED304B3-C1B5-E142-ACCF-294B421377B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1806CE5-282B-4233-8654-09F35EA875E2}" type="slidenum">
              <a:rPr lang="zh-CN" altLang="en-US" smtClean="0"/>
              <a:t>73</a:t>
            </a:fld>
            <a:endParaRPr lang="zh-CN" altLang="en-US"/>
          </a:p>
        </p:txBody>
      </p:sp>
      <p:sp>
        <p:nvSpPr>
          <p:cNvPr id="5" name="Title 2">
            <a:extLst>
              <a:ext uri="{FF2B5EF4-FFF2-40B4-BE49-F238E27FC236}">
                <a16:creationId xmlns:a16="http://schemas.microsoft.com/office/drawing/2014/main" id="{67E4D479-7860-A74A-8F65-AF6EBC27C59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54000" y="136525"/>
            <a:ext cx="8648700" cy="826958"/>
          </a:xfrm>
        </p:spPr>
        <p:txBody>
          <a:bodyPr/>
          <a:lstStyle/>
          <a:p>
            <a:r>
              <a:rPr lang="zh-CN" altLang="en-US" dirty="0"/>
              <a:t>流水线</a:t>
            </a:r>
            <a:r>
              <a:rPr lang="zh-CN" altLang="en-CN" dirty="0"/>
              <a:t>运行示例</a:t>
            </a:r>
            <a:endParaRPr lang="en-CN" dirty="0"/>
          </a:p>
        </p:txBody>
      </p:sp>
    </p:spTree>
    <p:extLst>
      <p:ext uri="{BB962C8B-B14F-4D97-AF65-F5344CB8AC3E}">
        <p14:creationId xmlns:p14="http://schemas.microsoft.com/office/powerpoint/2010/main" val="3519983218"/>
      </p:ext>
    </p:extLst>
  </p:cSld>
  <p:clrMapOvr>
    <a:masterClrMapping/>
  </p:clrMapOvr>
</p:sld>
</file>

<file path=ppt/slides/slide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ectangle 6" descr=" 10"/>
          <p:cNvSpPr>
            <a:spLocks noChangeArrowheads="1"/>
          </p:cNvSpPr>
          <p:nvPr/>
        </p:nvSpPr>
        <p:spPr bwMode="auto">
          <a:xfrm>
            <a:off x="838200" y="6691312"/>
            <a:ext cx="2438400" cy="152400"/>
          </a:xfrm>
          <a:prstGeom prst="rect">
            <a:avLst/>
          </a:prstGeom>
          <a:solidFill>
            <a:schemeClr val="bg1"/>
          </a:solidFill>
          <a:ln w="12700">
            <a:solidFill>
              <a:schemeClr val="bg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pic>
        <p:nvPicPr>
          <p:cNvPr id="5" name="Picture 6" descr=" 1847302">
            <a:extLst>
              <a:ext uri="{FF2B5EF4-FFF2-40B4-BE49-F238E27FC236}">
                <a16:creationId xmlns:a16="http://schemas.microsoft.com/office/drawing/2014/main" id="{B10FEC54-F1D2-4A28-A8C2-E0CC77B55970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15553" y="1260798"/>
            <a:ext cx="7912894" cy="550671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Slide Number Placeholder 1">
            <a:extLst>
              <a:ext uri="{FF2B5EF4-FFF2-40B4-BE49-F238E27FC236}">
                <a16:creationId xmlns:a16="http://schemas.microsoft.com/office/drawing/2014/main" id="{77F2F1BE-4224-F24B-8F93-05A4E32D2AE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1806CE5-282B-4233-8654-09F35EA875E2}" type="slidenum">
              <a:rPr lang="zh-CN" altLang="en-US" smtClean="0"/>
              <a:t>74</a:t>
            </a:fld>
            <a:endParaRPr lang="zh-CN" altLang="en-US"/>
          </a:p>
        </p:txBody>
      </p:sp>
      <p:sp>
        <p:nvSpPr>
          <p:cNvPr id="6" name="Title 2">
            <a:extLst>
              <a:ext uri="{FF2B5EF4-FFF2-40B4-BE49-F238E27FC236}">
                <a16:creationId xmlns:a16="http://schemas.microsoft.com/office/drawing/2014/main" id="{AE25DF42-473C-EE4B-8415-3743E4261E2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54000" y="136525"/>
            <a:ext cx="8648700" cy="826958"/>
          </a:xfrm>
        </p:spPr>
        <p:txBody>
          <a:bodyPr/>
          <a:lstStyle/>
          <a:p>
            <a:r>
              <a:rPr lang="zh-CN" altLang="en-US" dirty="0"/>
              <a:t>流水线</a:t>
            </a:r>
            <a:r>
              <a:rPr lang="zh-CN" altLang="en-CN" dirty="0"/>
              <a:t>运行示例</a:t>
            </a:r>
            <a:endParaRPr lang="en-CN" dirty="0"/>
          </a:p>
        </p:txBody>
      </p:sp>
    </p:spTree>
    <p:extLst>
      <p:ext uri="{BB962C8B-B14F-4D97-AF65-F5344CB8AC3E}">
        <p14:creationId xmlns:p14="http://schemas.microsoft.com/office/powerpoint/2010/main" val="4150825484"/>
      </p:ext>
    </p:extLst>
  </p:cSld>
  <p:clrMapOvr>
    <a:masterClrMapping/>
  </p:clrMapOvr>
</p:sld>
</file>

<file path=ppt/slides/slide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>
            <a:extLst>
              <a:ext uri="{FF2B5EF4-FFF2-40B4-BE49-F238E27FC236}">
                <a16:creationId xmlns:a16="http://schemas.microsoft.com/office/drawing/2014/main" id="{9FAA486D-512E-463C-9732-EDDCBE4370AD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dirty="0"/>
              <a:t>流水线的控制信号（不考虑冒险）</a:t>
            </a:r>
          </a:p>
        </p:txBody>
      </p:sp>
      <p:sp>
        <p:nvSpPr>
          <p:cNvPr id="3" name="内容占位符 2">
            <a:extLst>
              <a:ext uri="{FF2B5EF4-FFF2-40B4-BE49-F238E27FC236}">
                <a16:creationId xmlns:a16="http://schemas.microsoft.com/office/drawing/2014/main" id="{3A6B56FD-E505-4D1B-933E-C93A27719005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457199" y="1166020"/>
            <a:ext cx="8530027" cy="4525963"/>
          </a:xfrm>
        </p:spPr>
        <p:txBody>
          <a:bodyPr/>
          <a:lstStyle/>
          <a:p>
            <a:r>
              <a:rPr lang="zh-CN" altLang="en-US" sz="2400" b="0" dirty="0">
                <a:latin typeface="SimHei" panose="02010609060101010101" pitchFamily="49" charset="-122"/>
                <a:ea typeface="SimHei" panose="02010609060101010101" pitchFamily="49" charset="-122"/>
              </a:rPr>
              <a:t>控制信号均可在</a:t>
            </a:r>
            <a:r>
              <a:rPr lang="en-US" altLang="zh-CN" sz="2400" b="0" dirty="0">
                <a:latin typeface="SimHei" panose="02010609060101010101" pitchFamily="49" charset="-122"/>
                <a:ea typeface="SimHei" panose="02010609060101010101" pitchFamily="49" charset="-122"/>
              </a:rPr>
              <a:t>ID</a:t>
            </a:r>
            <a:r>
              <a:rPr lang="zh-CN" altLang="en-US" sz="2400" b="0" dirty="0">
                <a:latin typeface="SimHei" panose="02010609060101010101" pitchFamily="49" charset="-122"/>
                <a:ea typeface="SimHei" panose="02010609060101010101" pitchFamily="49" charset="-122"/>
              </a:rPr>
              <a:t>阶段决定，并在各级流水中传递使用</a:t>
            </a:r>
            <a:endParaRPr lang="en-US" altLang="zh-CN" sz="2400" b="0" dirty="0">
              <a:latin typeface="SimHei" panose="02010609060101010101" pitchFamily="49" charset="-122"/>
              <a:ea typeface="SimHei" panose="02010609060101010101" pitchFamily="49" charset="-122"/>
            </a:endParaRPr>
          </a:p>
        </p:txBody>
      </p:sp>
      <p:sp>
        <p:nvSpPr>
          <p:cNvPr id="4" name="灯片编号占位符 3">
            <a:extLst>
              <a:ext uri="{FF2B5EF4-FFF2-40B4-BE49-F238E27FC236}">
                <a16:creationId xmlns:a16="http://schemas.microsoft.com/office/drawing/2014/main" id="{200D47AE-A815-4C68-ADBF-678B125383D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1806CE5-282B-4233-8654-09F35EA875E2}" type="slidenum">
              <a:rPr lang="zh-CN" altLang="en-US" smtClean="0"/>
              <a:t>75</a:t>
            </a:fld>
            <a:endParaRPr lang="zh-CN" altLang="en-US"/>
          </a:p>
        </p:txBody>
      </p:sp>
      <p:sp>
        <p:nvSpPr>
          <p:cNvPr id="790" name="Line 8">
            <a:extLst>
              <a:ext uri="{FF2B5EF4-FFF2-40B4-BE49-F238E27FC236}">
                <a16:creationId xmlns:a16="http://schemas.microsoft.com/office/drawing/2014/main" id="{AEBE97E4-D392-4FFC-A2C1-1A875D99C2F6}"/>
              </a:ext>
            </a:extLst>
          </p:cNvPr>
          <p:cNvSpPr>
            <a:spLocks noChangeShapeType="1"/>
          </p:cNvSpPr>
          <p:nvPr/>
        </p:nvSpPr>
        <p:spPr bwMode="auto">
          <a:xfrm>
            <a:off x="2720755" y="5716684"/>
            <a:ext cx="1747538" cy="0"/>
          </a:xfrm>
          <a:prstGeom prst="line">
            <a:avLst/>
          </a:prstGeom>
          <a:noFill/>
          <a:ln w="19050">
            <a:solidFill>
              <a:sysClr val="windowText" lastClr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</a:endParaRPr>
          </a:p>
        </p:txBody>
      </p:sp>
      <p:sp>
        <p:nvSpPr>
          <p:cNvPr id="791" name="Line 9">
            <a:extLst>
              <a:ext uri="{FF2B5EF4-FFF2-40B4-BE49-F238E27FC236}">
                <a16:creationId xmlns:a16="http://schemas.microsoft.com/office/drawing/2014/main" id="{9A31E946-76BF-4330-A79E-9EA63BF2E388}"/>
              </a:ext>
            </a:extLst>
          </p:cNvPr>
          <p:cNvSpPr>
            <a:spLocks noChangeShapeType="1"/>
          </p:cNvSpPr>
          <p:nvPr/>
        </p:nvSpPr>
        <p:spPr bwMode="auto">
          <a:xfrm>
            <a:off x="4620253" y="5716684"/>
            <a:ext cx="262057" cy="0"/>
          </a:xfrm>
          <a:prstGeom prst="line">
            <a:avLst/>
          </a:prstGeom>
          <a:noFill/>
          <a:ln w="19050">
            <a:solidFill>
              <a:sysClr val="windowText" lastClr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</a:endParaRPr>
          </a:p>
        </p:txBody>
      </p:sp>
      <p:sp>
        <p:nvSpPr>
          <p:cNvPr id="792" name="Line 10">
            <a:extLst>
              <a:ext uri="{FF2B5EF4-FFF2-40B4-BE49-F238E27FC236}">
                <a16:creationId xmlns:a16="http://schemas.microsoft.com/office/drawing/2014/main" id="{E74B2257-2678-48D0-8C3D-18EB25D95EC5}"/>
              </a:ext>
            </a:extLst>
          </p:cNvPr>
          <p:cNvSpPr>
            <a:spLocks noChangeShapeType="1"/>
          </p:cNvSpPr>
          <p:nvPr/>
        </p:nvSpPr>
        <p:spPr bwMode="auto">
          <a:xfrm>
            <a:off x="6291811" y="5716684"/>
            <a:ext cx="1671558" cy="0"/>
          </a:xfrm>
          <a:prstGeom prst="line">
            <a:avLst/>
          </a:prstGeom>
          <a:noFill/>
          <a:ln w="19050">
            <a:solidFill>
              <a:sysClr val="windowText" lastClr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</a:endParaRPr>
          </a:p>
        </p:txBody>
      </p:sp>
      <p:sp>
        <p:nvSpPr>
          <p:cNvPr id="793" name="Line 11">
            <a:extLst>
              <a:ext uri="{FF2B5EF4-FFF2-40B4-BE49-F238E27FC236}">
                <a16:creationId xmlns:a16="http://schemas.microsoft.com/office/drawing/2014/main" id="{27E5E322-CAB1-4419-ACA6-9AD799090314}"/>
              </a:ext>
            </a:extLst>
          </p:cNvPr>
          <p:cNvSpPr>
            <a:spLocks noChangeShapeType="1"/>
          </p:cNvSpPr>
          <p:nvPr/>
        </p:nvSpPr>
        <p:spPr bwMode="auto">
          <a:xfrm>
            <a:off x="2720755" y="5438924"/>
            <a:ext cx="0" cy="277759"/>
          </a:xfrm>
          <a:prstGeom prst="line">
            <a:avLst/>
          </a:prstGeom>
          <a:noFill/>
          <a:ln w="19050">
            <a:solidFill>
              <a:sysClr val="windowText" lastClr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</a:endParaRPr>
          </a:p>
        </p:txBody>
      </p:sp>
      <p:sp>
        <p:nvSpPr>
          <p:cNvPr id="794" name="Line 12">
            <a:extLst>
              <a:ext uri="{FF2B5EF4-FFF2-40B4-BE49-F238E27FC236}">
                <a16:creationId xmlns:a16="http://schemas.microsoft.com/office/drawing/2014/main" id="{DD345901-8E48-44BD-8632-69F886A9B287}"/>
              </a:ext>
            </a:extLst>
          </p:cNvPr>
          <p:cNvSpPr>
            <a:spLocks noChangeShapeType="1"/>
          </p:cNvSpPr>
          <p:nvPr/>
        </p:nvSpPr>
        <p:spPr bwMode="auto">
          <a:xfrm>
            <a:off x="2644775" y="6164702"/>
            <a:ext cx="5622515" cy="0"/>
          </a:xfrm>
          <a:prstGeom prst="line">
            <a:avLst/>
          </a:prstGeom>
          <a:noFill/>
          <a:ln w="19050">
            <a:solidFill>
              <a:sysClr val="windowText" lastClr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</a:endParaRPr>
          </a:p>
        </p:txBody>
      </p:sp>
      <p:sp>
        <p:nvSpPr>
          <p:cNvPr id="795" name="Line 13">
            <a:extLst>
              <a:ext uri="{FF2B5EF4-FFF2-40B4-BE49-F238E27FC236}">
                <a16:creationId xmlns:a16="http://schemas.microsoft.com/office/drawing/2014/main" id="{3C2903BF-7E0F-44EB-94F2-47122522BEC1}"/>
              </a:ext>
            </a:extLst>
          </p:cNvPr>
          <p:cNvSpPr>
            <a:spLocks noChangeShapeType="1"/>
          </p:cNvSpPr>
          <p:nvPr/>
        </p:nvSpPr>
        <p:spPr bwMode="auto">
          <a:xfrm>
            <a:off x="8115330" y="5716684"/>
            <a:ext cx="151960" cy="0"/>
          </a:xfrm>
          <a:prstGeom prst="line">
            <a:avLst/>
          </a:prstGeom>
          <a:noFill/>
          <a:ln w="19050">
            <a:solidFill>
              <a:sysClr val="windowText" lastClr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</a:endParaRPr>
          </a:p>
        </p:txBody>
      </p:sp>
      <p:sp>
        <p:nvSpPr>
          <p:cNvPr id="796" name="Line 14">
            <a:extLst>
              <a:ext uri="{FF2B5EF4-FFF2-40B4-BE49-F238E27FC236}">
                <a16:creationId xmlns:a16="http://schemas.microsoft.com/office/drawing/2014/main" id="{6BE5236E-1A38-4C48-955A-8CFF8F653491}"/>
              </a:ext>
            </a:extLst>
          </p:cNvPr>
          <p:cNvSpPr>
            <a:spLocks noChangeShapeType="1"/>
          </p:cNvSpPr>
          <p:nvPr/>
        </p:nvSpPr>
        <p:spPr bwMode="auto">
          <a:xfrm>
            <a:off x="8267289" y="5716684"/>
            <a:ext cx="0" cy="448018"/>
          </a:xfrm>
          <a:prstGeom prst="line">
            <a:avLst/>
          </a:prstGeom>
          <a:noFill/>
          <a:ln w="19050">
            <a:solidFill>
              <a:sysClr val="windowText" lastClr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</a:endParaRPr>
          </a:p>
        </p:txBody>
      </p:sp>
      <p:sp>
        <p:nvSpPr>
          <p:cNvPr id="797" name="Line 15">
            <a:extLst>
              <a:ext uri="{FF2B5EF4-FFF2-40B4-BE49-F238E27FC236}">
                <a16:creationId xmlns:a16="http://schemas.microsoft.com/office/drawing/2014/main" id="{2ABA9B71-C2A0-4506-A22A-4516A585E386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644775" y="4522460"/>
            <a:ext cx="0" cy="1642241"/>
          </a:xfrm>
          <a:prstGeom prst="line">
            <a:avLst/>
          </a:prstGeom>
          <a:noFill/>
          <a:ln w="19050">
            <a:solidFill>
              <a:sysClr val="windowText" lastClr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</a:endParaRPr>
          </a:p>
        </p:txBody>
      </p:sp>
      <p:sp>
        <p:nvSpPr>
          <p:cNvPr id="798" name="Line 16">
            <a:extLst>
              <a:ext uri="{FF2B5EF4-FFF2-40B4-BE49-F238E27FC236}">
                <a16:creationId xmlns:a16="http://schemas.microsoft.com/office/drawing/2014/main" id="{4B439BBA-C819-4B35-A208-B407C5C0DF36}"/>
              </a:ext>
            </a:extLst>
          </p:cNvPr>
          <p:cNvSpPr>
            <a:spLocks noChangeShapeType="1"/>
          </p:cNvSpPr>
          <p:nvPr/>
        </p:nvSpPr>
        <p:spPr bwMode="auto">
          <a:xfrm>
            <a:off x="2644775" y="4527923"/>
            <a:ext cx="379900" cy="0"/>
          </a:xfrm>
          <a:prstGeom prst="line">
            <a:avLst/>
          </a:prstGeom>
          <a:noFill/>
          <a:ln w="19050">
            <a:solidFill>
              <a:sysClr val="windowText" lastClr="00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</a:endParaRPr>
          </a:p>
        </p:txBody>
      </p:sp>
      <p:grpSp>
        <p:nvGrpSpPr>
          <p:cNvPr id="799" name="Group 17">
            <a:extLst>
              <a:ext uri="{FF2B5EF4-FFF2-40B4-BE49-F238E27FC236}">
                <a16:creationId xmlns:a16="http://schemas.microsoft.com/office/drawing/2014/main" id="{A39807AE-600C-4A1E-A3E0-F9ED8EFA60DE}"/>
              </a:ext>
            </a:extLst>
          </p:cNvPr>
          <p:cNvGrpSpPr>
            <a:grpSpLocks/>
          </p:cNvGrpSpPr>
          <p:nvPr/>
        </p:nvGrpSpPr>
        <p:grpSpPr bwMode="auto">
          <a:xfrm>
            <a:off x="1657036" y="2730771"/>
            <a:ext cx="379900" cy="833278"/>
            <a:chOff x="1392" y="2880"/>
            <a:chExt cx="288" cy="480"/>
          </a:xfrm>
        </p:grpSpPr>
        <p:sp>
          <p:nvSpPr>
            <p:cNvPr id="800" name="Line 18">
              <a:extLst>
                <a:ext uri="{FF2B5EF4-FFF2-40B4-BE49-F238E27FC236}">
                  <a16:creationId xmlns:a16="http://schemas.microsoft.com/office/drawing/2014/main" id="{E8918A8B-6A97-4B7E-AFD6-60EA31B78AC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92" y="3072"/>
              <a:ext cx="48" cy="48"/>
            </a:xfrm>
            <a:prstGeom prst="line">
              <a:avLst/>
            </a:prstGeom>
            <a:noFill/>
            <a:ln w="19050">
              <a:solidFill>
                <a:sysClr val="windowText" lastClr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F0502020204030204"/>
                <a:ea typeface="等线" panose="02010600030101010101" pitchFamily="2" charset="-122"/>
              </a:endParaRPr>
            </a:p>
          </p:txBody>
        </p:sp>
        <p:sp>
          <p:nvSpPr>
            <p:cNvPr id="801" name="Line 19">
              <a:extLst>
                <a:ext uri="{FF2B5EF4-FFF2-40B4-BE49-F238E27FC236}">
                  <a16:creationId xmlns:a16="http://schemas.microsoft.com/office/drawing/2014/main" id="{DB467FD0-6751-46B6-883F-F651004E1BD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392" y="3120"/>
              <a:ext cx="48" cy="48"/>
            </a:xfrm>
            <a:prstGeom prst="line">
              <a:avLst/>
            </a:prstGeom>
            <a:noFill/>
            <a:ln w="19050">
              <a:solidFill>
                <a:sysClr val="windowText" lastClr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F0502020204030204"/>
                <a:ea typeface="等线" panose="02010600030101010101" pitchFamily="2" charset="-122"/>
              </a:endParaRPr>
            </a:p>
          </p:txBody>
        </p:sp>
        <p:sp>
          <p:nvSpPr>
            <p:cNvPr id="802" name="Line 20">
              <a:extLst>
                <a:ext uri="{FF2B5EF4-FFF2-40B4-BE49-F238E27FC236}">
                  <a16:creationId xmlns:a16="http://schemas.microsoft.com/office/drawing/2014/main" id="{E8E482FF-525C-41BE-8D2D-EA4050720A2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392" y="2880"/>
              <a:ext cx="0" cy="192"/>
            </a:xfrm>
            <a:prstGeom prst="line">
              <a:avLst/>
            </a:prstGeom>
            <a:noFill/>
            <a:ln w="19050">
              <a:solidFill>
                <a:sysClr val="windowText" lastClr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F0502020204030204"/>
                <a:ea typeface="等线" panose="02010600030101010101" pitchFamily="2" charset="-122"/>
              </a:endParaRPr>
            </a:p>
          </p:txBody>
        </p:sp>
        <p:sp>
          <p:nvSpPr>
            <p:cNvPr id="803" name="Line 21">
              <a:extLst>
                <a:ext uri="{FF2B5EF4-FFF2-40B4-BE49-F238E27FC236}">
                  <a16:creationId xmlns:a16="http://schemas.microsoft.com/office/drawing/2014/main" id="{230E1E7A-1F85-4E82-9591-820A241B041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392" y="3168"/>
              <a:ext cx="0" cy="192"/>
            </a:xfrm>
            <a:prstGeom prst="line">
              <a:avLst/>
            </a:prstGeom>
            <a:noFill/>
            <a:ln w="19050">
              <a:solidFill>
                <a:sysClr val="windowText" lastClr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F0502020204030204"/>
                <a:ea typeface="等线" panose="02010600030101010101" pitchFamily="2" charset="-122"/>
              </a:endParaRPr>
            </a:p>
          </p:txBody>
        </p:sp>
        <p:sp>
          <p:nvSpPr>
            <p:cNvPr id="804" name="Line 22">
              <a:extLst>
                <a:ext uri="{FF2B5EF4-FFF2-40B4-BE49-F238E27FC236}">
                  <a16:creationId xmlns:a16="http://schemas.microsoft.com/office/drawing/2014/main" id="{431B995E-DE72-4A16-9CB3-8631D53AC7C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392" y="3216"/>
              <a:ext cx="288" cy="144"/>
            </a:xfrm>
            <a:prstGeom prst="line">
              <a:avLst/>
            </a:prstGeom>
            <a:noFill/>
            <a:ln w="19050">
              <a:solidFill>
                <a:sysClr val="windowText" lastClr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F0502020204030204"/>
                <a:ea typeface="等线" panose="02010600030101010101" pitchFamily="2" charset="-122"/>
              </a:endParaRPr>
            </a:p>
          </p:txBody>
        </p:sp>
        <p:sp>
          <p:nvSpPr>
            <p:cNvPr id="805" name="Line 23">
              <a:extLst>
                <a:ext uri="{FF2B5EF4-FFF2-40B4-BE49-F238E27FC236}">
                  <a16:creationId xmlns:a16="http://schemas.microsoft.com/office/drawing/2014/main" id="{6D33CBE0-1B60-4464-B9D4-2B38B884DC9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680" y="3024"/>
              <a:ext cx="0" cy="192"/>
            </a:xfrm>
            <a:prstGeom prst="line">
              <a:avLst/>
            </a:prstGeom>
            <a:noFill/>
            <a:ln w="19050">
              <a:solidFill>
                <a:sysClr val="windowText" lastClr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F0502020204030204"/>
                <a:ea typeface="等线" panose="02010600030101010101" pitchFamily="2" charset="-122"/>
              </a:endParaRPr>
            </a:p>
          </p:txBody>
        </p:sp>
        <p:sp>
          <p:nvSpPr>
            <p:cNvPr id="806" name="Line 24">
              <a:extLst>
                <a:ext uri="{FF2B5EF4-FFF2-40B4-BE49-F238E27FC236}">
                  <a16:creationId xmlns:a16="http://schemas.microsoft.com/office/drawing/2014/main" id="{CB3CDDD3-F8AE-4519-B9C5-C42A7046F81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92" y="2880"/>
              <a:ext cx="288" cy="144"/>
            </a:xfrm>
            <a:prstGeom prst="line">
              <a:avLst/>
            </a:prstGeom>
            <a:noFill/>
            <a:ln w="19050">
              <a:solidFill>
                <a:sysClr val="windowText" lastClr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F0502020204030204"/>
                <a:ea typeface="等线" panose="02010600030101010101" pitchFamily="2" charset="-122"/>
              </a:endParaRPr>
            </a:p>
          </p:txBody>
        </p:sp>
      </p:grpSp>
      <p:sp>
        <p:nvSpPr>
          <p:cNvPr id="807" name="Rectangle 25">
            <a:extLst>
              <a:ext uri="{FF2B5EF4-FFF2-40B4-BE49-F238E27FC236}">
                <a16:creationId xmlns:a16="http://schemas.microsoft.com/office/drawing/2014/main" id="{3C910EF7-C608-448F-9D97-F0D3E77A8AC4}"/>
              </a:ext>
            </a:extLst>
          </p:cNvPr>
          <p:cNvSpPr>
            <a:spLocks noChangeArrowheads="1"/>
          </p:cNvSpPr>
          <p:nvPr/>
        </p:nvSpPr>
        <p:spPr bwMode="auto">
          <a:xfrm>
            <a:off x="973216" y="3633489"/>
            <a:ext cx="1291659" cy="1319357"/>
          </a:xfrm>
          <a:prstGeom prst="rect">
            <a:avLst/>
          </a:prstGeom>
          <a:noFill/>
          <a:ln w="19050">
            <a:solidFill>
              <a:sysClr val="windowText" lastClr="000000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</a:endParaRPr>
          </a:p>
        </p:txBody>
      </p:sp>
      <p:sp>
        <p:nvSpPr>
          <p:cNvPr id="808" name="Rectangle 26">
            <a:extLst>
              <a:ext uri="{FF2B5EF4-FFF2-40B4-BE49-F238E27FC236}">
                <a16:creationId xmlns:a16="http://schemas.microsoft.com/office/drawing/2014/main" id="{592CA1F8-C9C3-487B-BD89-D5E500C9E9F7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7337" y="3980688"/>
            <a:ext cx="151960" cy="763838"/>
          </a:xfrm>
          <a:prstGeom prst="rect">
            <a:avLst/>
          </a:prstGeom>
          <a:noFill/>
          <a:ln w="19050">
            <a:solidFill>
              <a:sysClr val="windowText" lastClr="000000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</a:endParaRPr>
          </a:p>
        </p:txBody>
      </p:sp>
      <p:sp>
        <p:nvSpPr>
          <p:cNvPr id="809" name="Line 27">
            <a:extLst>
              <a:ext uri="{FF2B5EF4-FFF2-40B4-BE49-F238E27FC236}">
                <a16:creationId xmlns:a16="http://schemas.microsoft.com/office/drawing/2014/main" id="{BEF0A7DA-1CEC-4422-9465-0723FE8B28FD}"/>
              </a:ext>
            </a:extLst>
          </p:cNvPr>
          <p:cNvSpPr>
            <a:spLocks noChangeShapeType="1"/>
          </p:cNvSpPr>
          <p:nvPr/>
        </p:nvSpPr>
        <p:spPr bwMode="auto">
          <a:xfrm>
            <a:off x="669297" y="4327887"/>
            <a:ext cx="303920" cy="0"/>
          </a:xfrm>
          <a:prstGeom prst="line">
            <a:avLst/>
          </a:prstGeom>
          <a:noFill/>
          <a:ln w="19050">
            <a:solidFill>
              <a:sysClr val="windowText" lastClr="00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</a:endParaRPr>
          </a:p>
        </p:txBody>
      </p:sp>
      <p:sp>
        <p:nvSpPr>
          <p:cNvPr id="810" name="Line 28">
            <a:extLst>
              <a:ext uri="{FF2B5EF4-FFF2-40B4-BE49-F238E27FC236}">
                <a16:creationId xmlns:a16="http://schemas.microsoft.com/office/drawing/2014/main" id="{B8A1B63D-A383-4EEE-98D5-D95A634AD224}"/>
              </a:ext>
            </a:extLst>
          </p:cNvPr>
          <p:cNvSpPr>
            <a:spLocks noChangeShapeType="1"/>
          </p:cNvSpPr>
          <p:nvPr/>
        </p:nvSpPr>
        <p:spPr bwMode="auto">
          <a:xfrm>
            <a:off x="745277" y="2869651"/>
            <a:ext cx="911759" cy="0"/>
          </a:xfrm>
          <a:prstGeom prst="line">
            <a:avLst/>
          </a:prstGeom>
          <a:noFill/>
          <a:ln w="19050">
            <a:solidFill>
              <a:sysClr val="windowText" lastClr="00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</a:endParaRPr>
          </a:p>
        </p:txBody>
      </p:sp>
      <p:sp>
        <p:nvSpPr>
          <p:cNvPr id="811" name="Line 29">
            <a:extLst>
              <a:ext uri="{FF2B5EF4-FFF2-40B4-BE49-F238E27FC236}">
                <a16:creationId xmlns:a16="http://schemas.microsoft.com/office/drawing/2014/main" id="{ED3FEE78-3A25-4AF0-B284-F5A88AF8F6E3}"/>
              </a:ext>
            </a:extLst>
          </p:cNvPr>
          <p:cNvSpPr>
            <a:spLocks noChangeShapeType="1"/>
          </p:cNvSpPr>
          <p:nvPr/>
        </p:nvSpPr>
        <p:spPr bwMode="auto">
          <a:xfrm>
            <a:off x="1277136" y="3425169"/>
            <a:ext cx="379900" cy="0"/>
          </a:xfrm>
          <a:prstGeom prst="line">
            <a:avLst/>
          </a:prstGeom>
          <a:noFill/>
          <a:ln w="19050">
            <a:solidFill>
              <a:sysClr val="windowText" lastClr="00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</a:endParaRPr>
          </a:p>
        </p:txBody>
      </p:sp>
      <p:sp>
        <p:nvSpPr>
          <p:cNvPr id="812" name="Text Box 30">
            <a:extLst>
              <a:ext uri="{FF2B5EF4-FFF2-40B4-BE49-F238E27FC236}">
                <a16:creationId xmlns:a16="http://schemas.microsoft.com/office/drawing/2014/main" id="{F7BABAC2-FBFF-488B-AB39-5C77DEA3A7F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97236" y="4119568"/>
            <a:ext cx="747290" cy="46165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1425" tIns="45713" rIns="91425" bIns="45713">
            <a:spAutoFit/>
          </a:bodyPr>
          <a:lstStyle>
            <a:lvl1pPr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1pPr>
            <a:lvl2pPr marL="742950" indent="-28575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2pPr>
            <a:lvl3pPr marL="11430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3pPr>
            <a:lvl4pPr marL="16002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4pPr>
            <a:lvl5pPr marL="20574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9pPr>
          </a:lstStyle>
          <a:p>
            <a:pPr fontAlgn="auto">
              <a:spcBef>
                <a:spcPts val="0"/>
              </a:spcBef>
              <a:spcAft>
                <a:spcPts val="0"/>
              </a:spcAft>
            </a:pPr>
            <a:r>
              <a:rPr lang="en-US" altLang="zh-CN" sz="1200" b="0" dirty="0">
                <a:solidFill>
                  <a:prstClr val="black"/>
                </a:solidFill>
                <a:latin typeface="Arial" pitchFamily="34" charset="0"/>
                <a:ea typeface="SimHei" panose="02010609060101010101" pitchFamily="49" charset="-122"/>
              </a:rPr>
              <a:t>Read</a:t>
            </a:r>
          </a:p>
          <a:p>
            <a:pPr fontAlgn="auto">
              <a:spcBef>
                <a:spcPts val="0"/>
              </a:spcBef>
              <a:spcAft>
                <a:spcPts val="0"/>
              </a:spcAft>
            </a:pPr>
            <a:r>
              <a:rPr lang="en-US" altLang="zh-CN" sz="1200" b="0" dirty="0">
                <a:solidFill>
                  <a:prstClr val="black"/>
                </a:solidFill>
                <a:latin typeface="Arial" pitchFamily="34" charset="0"/>
                <a:ea typeface="SimHei" panose="02010609060101010101" pitchFamily="49" charset="-122"/>
              </a:rPr>
              <a:t>Address</a:t>
            </a:r>
          </a:p>
        </p:txBody>
      </p:sp>
      <p:sp>
        <p:nvSpPr>
          <p:cNvPr id="813" name="Text Box 31">
            <a:extLst>
              <a:ext uri="{FF2B5EF4-FFF2-40B4-BE49-F238E27FC236}">
                <a16:creationId xmlns:a16="http://schemas.microsoft.com/office/drawing/2014/main" id="{589E48C7-B35B-4FD0-93A1-6731D2A341B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205763" y="3645530"/>
            <a:ext cx="1010182" cy="52320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1425" tIns="45713" rIns="91425" bIns="45713">
            <a:spAutoFit/>
          </a:bodyPr>
          <a:lstStyle>
            <a:lvl1pPr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1pPr>
            <a:lvl2pPr marL="742950" indent="-28575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2pPr>
            <a:lvl3pPr marL="11430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3pPr>
            <a:lvl4pPr marL="16002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4pPr>
            <a:lvl5pPr marL="20574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9pPr>
          </a:lstStyle>
          <a:p>
            <a:pPr algn="ctr" fontAlgn="auto">
              <a:spcBef>
                <a:spcPts val="0"/>
              </a:spcBef>
              <a:spcAft>
                <a:spcPts val="0"/>
              </a:spcAft>
            </a:pPr>
            <a:r>
              <a:rPr lang="en-US" altLang="zh-CN" sz="1400" b="0" dirty="0">
                <a:solidFill>
                  <a:prstClr val="black"/>
                </a:solidFill>
                <a:latin typeface="Arial" pitchFamily="34" charset="0"/>
                <a:ea typeface="SimHei" panose="02010609060101010101" pitchFamily="49" charset="-122"/>
              </a:rPr>
              <a:t>Instruction</a:t>
            </a:r>
          </a:p>
          <a:p>
            <a:pPr algn="ctr" fontAlgn="auto">
              <a:spcBef>
                <a:spcPts val="0"/>
              </a:spcBef>
              <a:spcAft>
                <a:spcPts val="0"/>
              </a:spcAft>
            </a:pPr>
            <a:r>
              <a:rPr lang="en-US" altLang="zh-CN" sz="1400" b="0" dirty="0">
                <a:solidFill>
                  <a:prstClr val="black"/>
                </a:solidFill>
                <a:latin typeface="Arial" pitchFamily="34" charset="0"/>
                <a:ea typeface="SimHei" panose="02010609060101010101" pitchFamily="49" charset="-122"/>
              </a:rPr>
              <a:t>Memory</a:t>
            </a:r>
          </a:p>
        </p:txBody>
      </p:sp>
      <p:sp>
        <p:nvSpPr>
          <p:cNvPr id="814" name="Text Box 32">
            <a:extLst>
              <a:ext uri="{FF2B5EF4-FFF2-40B4-BE49-F238E27FC236}">
                <a16:creationId xmlns:a16="http://schemas.microsoft.com/office/drawing/2014/main" id="{06C7257E-E23D-45B9-9389-F7016F10201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631710" y="3008385"/>
            <a:ext cx="457146" cy="27698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1425" tIns="45713" rIns="91425" bIns="45713">
            <a:spAutoFit/>
          </a:bodyPr>
          <a:lstStyle>
            <a:lvl1pPr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1pPr>
            <a:lvl2pPr marL="742950" indent="-28575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2pPr>
            <a:lvl3pPr marL="11430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3pPr>
            <a:lvl4pPr marL="16002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4pPr>
            <a:lvl5pPr marL="20574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9pPr>
          </a:lstStyle>
          <a:p>
            <a:pPr fontAlgn="auto">
              <a:spcBef>
                <a:spcPts val="0"/>
              </a:spcBef>
              <a:spcAft>
                <a:spcPts val="0"/>
              </a:spcAft>
            </a:pPr>
            <a:r>
              <a:rPr lang="en-US" altLang="zh-CN" sz="1200" b="0" dirty="0">
                <a:solidFill>
                  <a:prstClr val="black"/>
                </a:solidFill>
                <a:latin typeface="Arial" pitchFamily="34" charset="0"/>
                <a:ea typeface="SimHei" panose="02010609060101010101" pitchFamily="49" charset="-122"/>
              </a:rPr>
              <a:t>Add</a:t>
            </a:r>
          </a:p>
        </p:txBody>
      </p:sp>
      <p:sp>
        <p:nvSpPr>
          <p:cNvPr id="815" name="Text Box 33">
            <a:extLst>
              <a:ext uri="{FF2B5EF4-FFF2-40B4-BE49-F238E27FC236}">
                <a16:creationId xmlns:a16="http://schemas.microsoft.com/office/drawing/2014/main" id="{56DD3A6A-3AC4-461D-8C41-47B4CDFF71A7}"/>
              </a:ext>
            </a:extLst>
          </p:cNvPr>
          <p:cNvSpPr txBox="1">
            <a:spLocks noChangeArrowheads="1"/>
          </p:cNvSpPr>
          <p:nvPr/>
        </p:nvSpPr>
        <p:spPr bwMode="auto">
          <a:xfrm rot="16200000">
            <a:off x="396775" y="4245090"/>
            <a:ext cx="397836" cy="27698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1425" tIns="45713" rIns="91425" bIns="45713">
            <a:spAutoFit/>
          </a:bodyPr>
          <a:lstStyle>
            <a:lvl1pPr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1pPr>
            <a:lvl2pPr marL="742950" indent="-28575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2pPr>
            <a:lvl3pPr marL="11430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3pPr>
            <a:lvl4pPr marL="16002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4pPr>
            <a:lvl5pPr marL="20574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9pPr>
          </a:lstStyle>
          <a:p>
            <a:pPr fontAlgn="auto">
              <a:spcBef>
                <a:spcPts val="0"/>
              </a:spcBef>
              <a:spcAft>
                <a:spcPts val="0"/>
              </a:spcAft>
            </a:pPr>
            <a:r>
              <a:rPr lang="en-US" altLang="zh-CN" sz="1200" b="0" dirty="0">
                <a:solidFill>
                  <a:prstClr val="black"/>
                </a:solidFill>
                <a:latin typeface="Arial" pitchFamily="34" charset="0"/>
                <a:ea typeface="SimHei" panose="02010609060101010101" pitchFamily="49" charset="-122"/>
              </a:rPr>
              <a:t>PC</a:t>
            </a:r>
          </a:p>
        </p:txBody>
      </p:sp>
      <p:sp>
        <p:nvSpPr>
          <p:cNvPr id="816" name="Line 34">
            <a:extLst>
              <a:ext uri="{FF2B5EF4-FFF2-40B4-BE49-F238E27FC236}">
                <a16:creationId xmlns:a16="http://schemas.microsoft.com/office/drawing/2014/main" id="{3BFA801B-21AB-4CB9-B3C4-3BBC4784DA2C}"/>
              </a:ext>
            </a:extLst>
          </p:cNvPr>
          <p:cNvSpPr>
            <a:spLocks noChangeShapeType="1"/>
          </p:cNvSpPr>
          <p:nvPr/>
        </p:nvSpPr>
        <p:spPr bwMode="auto">
          <a:xfrm>
            <a:off x="213417" y="4327887"/>
            <a:ext cx="303920" cy="0"/>
          </a:xfrm>
          <a:prstGeom prst="line">
            <a:avLst/>
          </a:prstGeom>
          <a:noFill/>
          <a:ln w="19050">
            <a:solidFill>
              <a:sysClr val="windowText" lastClr="00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</a:endParaRPr>
          </a:p>
        </p:txBody>
      </p:sp>
      <p:sp>
        <p:nvSpPr>
          <p:cNvPr id="817" name="Text Box 35">
            <a:extLst>
              <a:ext uri="{FF2B5EF4-FFF2-40B4-BE49-F238E27FC236}">
                <a16:creationId xmlns:a16="http://schemas.microsoft.com/office/drawing/2014/main" id="{3CF811FD-1351-4C2F-92A9-758F3B343E0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49196" y="3286290"/>
            <a:ext cx="269595" cy="27698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1425" tIns="45713" rIns="91425" bIns="45713">
            <a:spAutoFit/>
          </a:bodyPr>
          <a:lstStyle>
            <a:lvl1pPr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1pPr>
            <a:lvl2pPr marL="742950" indent="-28575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2pPr>
            <a:lvl3pPr marL="11430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3pPr>
            <a:lvl4pPr marL="16002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4pPr>
            <a:lvl5pPr marL="20574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9pPr>
          </a:lstStyle>
          <a:p>
            <a:pPr fontAlgn="auto">
              <a:spcBef>
                <a:spcPts val="0"/>
              </a:spcBef>
              <a:spcAft>
                <a:spcPts val="0"/>
              </a:spcAft>
            </a:pPr>
            <a:r>
              <a:rPr lang="en-US" altLang="zh-CN" sz="1200" b="0" dirty="0">
                <a:solidFill>
                  <a:prstClr val="black"/>
                </a:solidFill>
                <a:latin typeface="Arial" pitchFamily="34" charset="0"/>
                <a:ea typeface="SimHei" panose="02010609060101010101" pitchFamily="49" charset="-122"/>
              </a:rPr>
              <a:t>4</a:t>
            </a:r>
          </a:p>
        </p:txBody>
      </p:sp>
      <p:sp>
        <p:nvSpPr>
          <p:cNvPr id="818" name="Line 36">
            <a:extLst>
              <a:ext uri="{FF2B5EF4-FFF2-40B4-BE49-F238E27FC236}">
                <a16:creationId xmlns:a16="http://schemas.microsoft.com/office/drawing/2014/main" id="{23E79A1B-A911-43AC-B3F3-F87D825B9C44}"/>
              </a:ext>
            </a:extLst>
          </p:cNvPr>
          <p:cNvSpPr>
            <a:spLocks noChangeShapeType="1"/>
          </p:cNvSpPr>
          <p:nvPr/>
        </p:nvSpPr>
        <p:spPr bwMode="auto">
          <a:xfrm>
            <a:off x="213417" y="2105812"/>
            <a:ext cx="0" cy="2222075"/>
          </a:xfrm>
          <a:prstGeom prst="line">
            <a:avLst/>
          </a:prstGeom>
          <a:noFill/>
          <a:ln w="19050">
            <a:solidFill>
              <a:sysClr val="windowText" lastClr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</a:endParaRPr>
          </a:p>
        </p:txBody>
      </p:sp>
      <p:sp>
        <p:nvSpPr>
          <p:cNvPr id="819" name="AutoShape 37">
            <a:extLst>
              <a:ext uri="{FF2B5EF4-FFF2-40B4-BE49-F238E27FC236}">
                <a16:creationId xmlns:a16="http://schemas.microsoft.com/office/drawing/2014/main" id="{064A1F0B-F40B-439F-BE81-3581EB026F28}"/>
              </a:ext>
            </a:extLst>
          </p:cNvPr>
          <p:cNvSpPr>
            <a:spLocks noChangeArrowheads="1"/>
          </p:cNvSpPr>
          <p:nvPr/>
        </p:nvSpPr>
        <p:spPr bwMode="auto">
          <a:xfrm rot="5400000" flipH="1">
            <a:off x="850687" y="2026562"/>
            <a:ext cx="624959" cy="227940"/>
          </a:xfrm>
          <a:custGeom>
            <a:avLst/>
            <a:gdLst>
              <a:gd name="T0" fmla="*/ 8 w 21600"/>
              <a:gd name="T1" fmla="*/ 0 h 21600"/>
              <a:gd name="T2" fmla="*/ 4 w 21600"/>
              <a:gd name="T3" fmla="*/ 1 h 21600"/>
              <a:gd name="T4" fmla="*/ 1 w 21600"/>
              <a:gd name="T5" fmla="*/ 0 h 21600"/>
              <a:gd name="T6" fmla="*/ 4 w 21600"/>
              <a:gd name="T7" fmla="*/ 0 h 21600"/>
              <a:gd name="T8" fmla="*/ 0 60000 65536"/>
              <a:gd name="T9" fmla="*/ 0 60000 65536"/>
              <a:gd name="T10" fmla="*/ 0 60000 65536"/>
              <a:gd name="T11" fmla="*/ 0 60000 65536"/>
              <a:gd name="T12" fmla="*/ 4500 w 21600"/>
              <a:gd name="T13" fmla="*/ 4500 h 21600"/>
              <a:gd name="T14" fmla="*/ 17100 w 21600"/>
              <a:gd name="T15" fmla="*/ 17100 h 21600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21600" h="21600">
                <a:moveTo>
                  <a:pt x="0" y="0"/>
                </a:moveTo>
                <a:lnTo>
                  <a:pt x="5400" y="21600"/>
                </a:lnTo>
                <a:lnTo>
                  <a:pt x="16200" y="21600"/>
                </a:lnTo>
                <a:lnTo>
                  <a:pt x="21600" y="0"/>
                </a:lnTo>
                <a:lnTo>
                  <a:pt x="0" y="0"/>
                </a:lnTo>
                <a:close/>
              </a:path>
            </a:pathLst>
          </a:custGeom>
          <a:noFill/>
          <a:ln w="19050">
            <a:solidFill>
              <a:sysClr val="windowText" lastClr="000000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</a:endParaRPr>
          </a:p>
        </p:txBody>
      </p:sp>
      <p:sp>
        <p:nvSpPr>
          <p:cNvPr id="820" name="Line 38">
            <a:extLst>
              <a:ext uri="{FF2B5EF4-FFF2-40B4-BE49-F238E27FC236}">
                <a16:creationId xmlns:a16="http://schemas.microsoft.com/office/drawing/2014/main" id="{AD6CCC64-E9F3-4CBC-BE0F-66A912199EA9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13416" y="2105812"/>
            <a:ext cx="835779" cy="0"/>
          </a:xfrm>
          <a:prstGeom prst="line">
            <a:avLst/>
          </a:prstGeom>
          <a:noFill/>
          <a:ln w="19050">
            <a:solidFill>
              <a:sysClr val="windowText" lastClr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</a:endParaRPr>
          </a:p>
        </p:txBody>
      </p:sp>
      <p:sp>
        <p:nvSpPr>
          <p:cNvPr id="821" name="Rectangle 40">
            <a:extLst>
              <a:ext uri="{FF2B5EF4-FFF2-40B4-BE49-F238E27FC236}">
                <a16:creationId xmlns:a16="http://schemas.microsoft.com/office/drawing/2014/main" id="{B5F45F90-752E-43DB-A198-4AFD25948D23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1152329" y="1853864"/>
            <a:ext cx="159080" cy="61318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19047" tIns="26984" rIns="19047" bIns="26984"/>
          <a:lstStyle/>
          <a:p>
            <a:pPr eaLnBrk="0" fontAlgn="auto" hangingPunct="0">
              <a:spcBef>
                <a:spcPts val="600"/>
              </a:spcBef>
              <a:spcAft>
                <a:spcPts val="600"/>
              </a:spcAft>
            </a:pPr>
            <a:r>
              <a:rPr lang="en-US" altLang="zh-CN" sz="1200" dirty="0">
                <a:solidFill>
                  <a:prstClr val="black"/>
                </a:solidFill>
                <a:latin typeface="Arial" pitchFamily="34" charset="0"/>
                <a:ea typeface="等线" panose="02010600030101010101" pitchFamily="2" charset="-122"/>
              </a:rPr>
              <a:t>1</a:t>
            </a:r>
          </a:p>
          <a:p>
            <a:pPr eaLnBrk="0" fontAlgn="auto" hangingPunct="0">
              <a:spcBef>
                <a:spcPts val="600"/>
              </a:spcBef>
              <a:spcAft>
                <a:spcPts val="600"/>
              </a:spcAft>
            </a:pPr>
            <a:r>
              <a:rPr lang="en-US" altLang="zh-CN" sz="1200" dirty="0">
                <a:solidFill>
                  <a:prstClr val="black"/>
                </a:solidFill>
                <a:latin typeface="Arial" pitchFamily="34" charset="0"/>
                <a:ea typeface="等线" panose="02010600030101010101" pitchFamily="2" charset="-122"/>
              </a:rPr>
              <a:t>0</a:t>
            </a:r>
          </a:p>
        </p:txBody>
      </p:sp>
      <p:sp>
        <p:nvSpPr>
          <p:cNvPr id="822" name="Line 41">
            <a:extLst>
              <a:ext uri="{FF2B5EF4-FFF2-40B4-BE49-F238E27FC236}">
                <a16:creationId xmlns:a16="http://schemas.microsoft.com/office/drawing/2014/main" id="{00A6F411-B2AA-4429-B219-76FFFED165C5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277136" y="1966933"/>
            <a:ext cx="5242615" cy="0"/>
          </a:xfrm>
          <a:prstGeom prst="line">
            <a:avLst/>
          </a:prstGeom>
          <a:noFill/>
          <a:ln w="19050">
            <a:solidFill>
              <a:sysClr val="windowText" lastClr="00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</a:endParaRPr>
          </a:p>
        </p:txBody>
      </p:sp>
      <p:sp>
        <p:nvSpPr>
          <p:cNvPr id="823" name="Line 42">
            <a:extLst>
              <a:ext uri="{FF2B5EF4-FFF2-40B4-BE49-F238E27FC236}">
                <a16:creationId xmlns:a16="http://schemas.microsoft.com/office/drawing/2014/main" id="{1B388102-DEF6-4207-97BD-172F12D6B645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796735" y="6339090"/>
            <a:ext cx="5926434" cy="0"/>
          </a:xfrm>
          <a:prstGeom prst="line">
            <a:avLst/>
          </a:prstGeom>
          <a:noFill/>
          <a:ln w="19050">
            <a:solidFill>
              <a:sysClr val="windowText" lastClr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</a:endParaRPr>
          </a:p>
        </p:txBody>
      </p:sp>
      <p:sp>
        <p:nvSpPr>
          <p:cNvPr id="824" name="Rectangle 43">
            <a:extLst>
              <a:ext uri="{FF2B5EF4-FFF2-40B4-BE49-F238E27FC236}">
                <a16:creationId xmlns:a16="http://schemas.microsoft.com/office/drawing/2014/main" id="{E75C99E8-A2E9-4294-9B00-4C372183594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24674" y="3633489"/>
            <a:ext cx="1291659" cy="1319357"/>
          </a:xfrm>
          <a:prstGeom prst="rect">
            <a:avLst/>
          </a:prstGeom>
          <a:noFill/>
          <a:ln w="19050">
            <a:solidFill>
              <a:sysClr val="windowText" lastClr="000000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</a:endParaRPr>
          </a:p>
        </p:txBody>
      </p:sp>
      <p:sp>
        <p:nvSpPr>
          <p:cNvPr id="825" name="Line 44">
            <a:extLst>
              <a:ext uri="{FF2B5EF4-FFF2-40B4-BE49-F238E27FC236}">
                <a16:creationId xmlns:a16="http://schemas.microsoft.com/office/drawing/2014/main" id="{618E278A-8283-45E6-B113-3D0E65F9A1D4}"/>
              </a:ext>
            </a:extLst>
          </p:cNvPr>
          <p:cNvSpPr>
            <a:spLocks noChangeShapeType="1"/>
          </p:cNvSpPr>
          <p:nvPr/>
        </p:nvSpPr>
        <p:spPr bwMode="auto">
          <a:xfrm>
            <a:off x="2264875" y="4327887"/>
            <a:ext cx="151960" cy="0"/>
          </a:xfrm>
          <a:prstGeom prst="line">
            <a:avLst/>
          </a:prstGeom>
          <a:noFill/>
          <a:ln w="19050">
            <a:solidFill>
              <a:sysClr val="windowText" lastClr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</a:endParaRPr>
          </a:p>
        </p:txBody>
      </p:sp>
      <p:sp>
        <p:nvSpPr>
          <p:cNvPr id="826" name="Line 45">
            <a:extLst>
              <a:ext uri="{FF2B5EF4-FFF2-40B4-BE49-F238E27FC236}">
                <a16:creationId xmlns:a16="http://schemas.microsoft.com/office/drawing/2014/main" id="{1649B0C9-9ACF-4E67-9E4C-39012BBFF6D2}"/>
              </a:ext>
            </a:extLst>
          </p:cNvPr>
          <p:cNvSpPr>
            <a:spLocks noChangeShapeType="1"/>
          </p:cNvSpPr>
          <p:nvPr/>
        </p:nvSpPr>
        <p:spPr bwMode="auto">
          <a:xfrm>
            <a:off x="2720755" y="4119568"/>
            <a:ext cx="303920" cy="0"/>
          </a:xfrm>
          <a:prstGeom prst="line">
            <a:avLst/>
          </a:prstGeom>
          <a:noFill/>
          <a:ln w="19050">
            <a:solidFill>
              <a:sysClr val="windowText" lastClr="00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</a:endParaRPr>
          </a:p>
        </p:txBody>
      </p:sp>
      <p:sp>
        <p:nvSpPr>
          <p:cNvPr id="827" name="Text Box 46">
            <a:extLst>
              <a:ext uri="{FF2B5EF4-FFF2-40B4-BE49-F238E27FC236}">
                <a16:creationId xmlns:a16="http://schemas.microsoft.com/office/drawing/2014/main" id="{8BA562DF-9EC0-41EA-B7E0-19EFCB7F149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948694" y="4675086"/>
            <a:ext cx="908039" cy="27698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1425" tIns="45713" rIns="91425" bIns="45713">
            <a:spAutoFit/>
          </a:bodyPr>
          <a:lstStyle>
            <a:lvl1pPr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1pPr>
            <a:lvl2pPr marL="742950" indent="-28575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2pPr>
            <a:lvl3pPr marL="11430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3pPr>
            <a:lvl4pPr marL="16002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4pPr>
            <a:lvl5pPr marL="20574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9pPr>
          </a:lstStyle>
          <a:p>
            <a:pPr fontAlgn="auto">
              <a:spcBef>
                <a:spcPts val="0"/>
              </a:spcBef>
              <a:spcAft>
                <a:spcPts val="0"/>
              </a:spcAft>
            </a:pPr>
            <a:r>
              <a:rPr lang="en-US" altLang="zh-CN" sz="1200" b="0" dirty="0">
                <a:solidFill>
                  <a:prstClr val="black"/>
                </a:solidFill>
                <a:latin typeface="Arial" pitchFamily="34" charset="0"/>
                <a:ea typeface="SimHei" panose="02010609060101010101" pitchFamily="49" charset="-122"/>
              </a:rPr>
              <a:t>Write Data</a:t>
            </a:r>
          </a:p>
        </p:txBody>
      </p:sp>
      <p:sp>
        <p:nvSpPr>
          <p:cNvPr id="828" name="Text Box 47">
            <a:extLst>
              <a:ext uri="{FF2B5EF4-FFF2-40B4-BE49-F238E27FC236}">
                <a16:creationId xmlns:a16="http://schemas.microsoft.com/office/drawing/2014/main" id="{4F4899EA-23FA-47D5-8FEC-6731E2FBCA5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962941" y="3577069"/>
            <a:ext cx="636332" cy="46148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1425" tIns="45713" rIns="91425" bIns="45713">
            <a:spAutoFit/>
          </a:bodyPr>
          <a:lstStyle>
            <a:lvl1pPr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1pPr>
            <a:lvl2pPr marL="742950" indent="-28575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2pPr>
            <a:lvl3pPr marL="11430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3pPr>
            <a:lvl4pPr marL="16002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4pPr>
            <a:lvl5pPr marL="20574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9pPr>
          </a:lstStyle>
          <a:p>
            <a:pPr fontAlgn="auto">
              <a:spcBef>
                <a:spcPts val="0"/>
              </a:spcBef>
              <a:spcAft>
                <a:spcPts val="0"/>
              </a:spcAft>
            </a:pPr>
            <a:r>
              <a:rPr lang="en-US" altLang="zh-CN" sz="1200" b="0" dirty="0">
                <a:solidFill>
                  <a:prstClr val="black"/>
                </a:solidFill>
                <a:latin typeface="Arial" pitchFamily="34" charset="0"/>
                <a:ea typeface="SimHei" panose="02010609060101010101" pitchFamily="49" charset="-122"/>
              </a:rPr>
              <a:t>Read </a:t>
            </a:r>
          </a:p>
          <a:p>
            <a:pPr fontAlgn="auto">
              <a:spcBef>
                <a:spcPts val="0"/>
              </a:spcBef>
              <a:spcAft>
                <a:spcPts val="0"/>
              </a:spcAft>
            </a:pPr>
            <a:r>
              <a:rPr lang="en-US" altLang="zh-CN" sz="1200" b="0" dirty="0" err="1">
                <a:solidFill>
                  <a:prstClr val="black"/>
                </a:solidFill>
                <a:latin typeface="Arial" pitchFamily="34" charset="0"/>
                <a:ea typeface="SimHei" panose="02010609060101010101" pitchFamily="49" charset="-122"/>
              </a:rPr>
              <a:t>Addr</a:t>
            </a:r>
            <a:r>
              <a:rPr lang="en-US" altLang="zh-CN" sz="1200" b="0" dirty="0">
                <a:solidFill>
                  <a:prstClr val="black"/>
                </a:solidFill>
                <a:latin typeface="Arial" pitchFamily="34" charset="0"/>
                <a:ea typeface="SimHei" panose="02010609060101010101" pitchFamily="49" charset="-122"/>
              </a:rPr>
              <a:t> 1</a:t>
            </a:r>
          </a:p>
        </p:txBody>
      </p:sp>
      <p:sp>
        <p:nvSpPr>
          <p:cNvPr id="829" name="Text Box 48">
            <a:extLst>
              <a:ext uri="{FF2B5EF4-FFF2-40B4-BE49-F238E27FC236}">
                <a16:creationId xmlns:a16="http://schemas.microsoft.com/office/drawing/2014/main" id="{20FB7CCC-00FD-4D96-94A4-50FD994CEB4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958192" y="3943075"/>
            <a:ext cx="636332" cy="46148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1425" tIns="45713" rIns="91425" bIns="45713">
            <a:spAutoFit/>
          </a:bodyPr>
          <a:lstStyle>
            <a:lvl1pPr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1pPr>
            <a:lvl2pPr marL="742950" indent="-28575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2pPr>
            <a:lvl3pPr marL="11430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3pPr>
            <a:lvl4pPr marL="16002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4pPr>
            <a:lvl5pPr marL="20574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9pPr>
          </a:lstStyle>
          <a:p>
            <a:pPr fontAlgn="auto">
              <a:spcBef>
                <a:spcPts val="0"/>
              </a:spcBef>
              <a:spcAft>
                <a:spcPts val="0"/>
              </a:spcAft>
            </a:pPr>
            <a:r>
              <a:rPr lang="en-US" altLang="zh-CN" sz="1200" b="0" dirty="0">
                <a:solidFill>
                  <a:prstClr val="black"/>
                </a:solidFill>
                <a:latin typeface="Arial" pitchFamily="34" charset="0"/>
                <a:ea typeface="SimHei" panose="02010609060101010101" pitchFamily="49" charset="-122"/>
              </a:rPr>
              <a:t>Read </a:t>
            </a:r>
          </a:p>
          <a:p>
            <a:pPr fontAlgn="auto">
              <a:spcBef>
                <a:spcPts val="0"/>
              </a:spcBef>
              <a:spcAft>
                <a:spcPts val="0"/>
              </a:spcAft>
            </a:pPr>
            <a:r>
              <a:rPr lang="en-US" altLang="zh-CN" sz="1200" b="0" dirty="0" err="1">
                <a:solidFill>
                  <a:prstClr val="black"/>
                </a:solidFill>
                <a:latin typeface="Arial" pitchFamily="34" charset="0"/>
                <a:ea typeface="SimHei" panose="02010609060101010101" pitchFamily="49" charset="-122"/>
              </a:rPr>
              <a:t>Addr</a:t>
            </a:r>
            <a:r>
              <a:rPr lang="en-US" altLang="zh-CN" sz="1200" b="0" dirty="0">
                <a:solidFill>
                  <a:prstClr val="black"/>
                </a:solidFill>
                <a:latin typeface="Arial" pitchFamily="34" charset="0"/>
                <a:ea typeface="SimHei" panose="02010609060101010101" pitchFamily="49" charset="-122"/>
              </a:rPr>
              <a:t> 2</a:t>
            </a:r>
          </a:p>
        </p:txBody>
      </p:sp>
      <p:sp>
        <p:nvSpPr>
          <p:cNvPr id="830" name="Text Box 49">
            <a:extLst>
              <a:ext uri="{FF2B5EF4-FFF2-40B4-BE49-F238E27FC236}">
                <a16:creationId xmlns:a16="http://schemas.microsoft.com/office/drawing/2014/main" id="{B8E1BCE5-6CAC-468D-B194-B723B8E2FDA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964481" y="4397326"/>
            <a:ext cx="899575" cy="27698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1425" tIns="45713" rIns="91425" bIns="45713">
            <a:spAutoFit/>
          </a:bodyPr>
          <a:lstStyle>
            <a:lvl1pPr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1pPr>
            <a:lvl2pPr marL="742950" indent="-28575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2pPr>
            <a:lvl3pPr marL="11430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3pPr>
            <a:lvl4pPr marL="16002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4pPr>
            <a:lvl5pPr marL="20574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9pPr>
          </a:lstStyle>
          <a:p>
            <a:pPr fontAlgn="auto">
              <a:spcBef>
                <a:spcPts val="0"/>
              </a:spcBef>
              <a:spcAft>
                <a:spcPts val="0"/>
              </a:spcAft>
            </a:pPr>
            <a:r>
              <a:rPr lang="en-US" altLang="zh-CN" sz="1200" b="0" dirty="0">
                <a:solidFill>
                  <a:prstClr val="black"/>
                </a:solidFill>
                <a:latin typeface="Arial" pitchFamily="34" charset="0"/>
                <a:ea typeface="SimHei" panose="02010609060101010101" pitchFamily="49" charset="-122"/>
              </a:rPr>
              <a:t>Write </a:t>
            </a:r>
            <a:r>
              <a:rPr lang="en-US" altLang="zh-CN" sz="1200" b="0" dirty="0" err="1">
                <a:solidFill>
                  <a:prstClr val="black"/>
                </a:solidFill>
                <a:latin typeface="Arial" pitchFamily="34" charset="0"/>
                <a:ea typeface="SimHei" panose="02010609060101010101" pitchFamily="49" charset="-122"/>
              </a:rPr>
              <a:t>Addr</a:t>
            </a:r>
            <a:endParaRPr lang="en-US" altLang="zh-CN" sz="1200" b="0" dirty="0">
              <a:solidFill>
                <a:prstClr val="black"/>
              </a:solidFill>
              <a:latin typeface="Arial" pitchFamily="34" charset="0"/>
              <a:ea typeface="SimHei" panose="02010609060101010101" pitchFamily="49" charset="-122"/>
            </a:endParaRPr>
          </a:p>
        </p:txBody>
      </p:sp>
      <p:sp>
        <p:nvSpPr>
          <p:cNvPr id="831" name="Text Box 50">
            <a:extLst>
              <a:ext uri="{FF2B5EF4-FFF2-40B4-BE49-F238E27FC236}">
                <a16:creationId xmlns:a16="http://schemas.microsoft.com/office/drawing/2014/main" id="{AC0CBD3A-75C3-4E8E-AC69-342F8014FCC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547324" y="4093344"/>
            <a:ext cx="622256" cy="30776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1425" tIns="45713" rIns="91425" bIns="45713">
            <a:spAutoFit/>
          </a:bodyPr>
          <a:lstStyle>
            <a:lvl1pPr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1pPr>
            <a:lvl2pPr marL="742950" indent="-28575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2pPr>
            <a:lvl3pPr marL="11430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3pPr>
            <a:lvl4pPr marL="16002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4pPr>
            <a:lvl5pPr marL="20574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9pPr>
          </a:lstStyle>
          <a:p>
            <a:pPr algn="ctr" fontAlgn="auto">
              <a:spcBef>
                <a:spcPts val="0"/>
              </a:spcBef>
              <a:spcAft>
                <a:spcPts val="0"/>
              </a:spcAft>
            </a:pPr>
            <a:r>
              <a:rPr lang="en-US" altLang="zh-CN" sz="1400" b="0" dirty="0">
                <a:solidFill>
                  <a:prstClr val="black"/>
                </a:solidFill>
                <a:latin typeface="Arial" pitchFamily="34" charset="0"/>
                <a:ea typeface="SimHei" panose="02010609060101010101" pitchFamily="49" charset="-122"/>
              </a:rPr>
              <a:t>Regs</a:t>
            </a:r>
          </a:p>
        </p:txBody>
      </p:sp>
      <p:sp>
        <p:nvSpPr>
          <p:cNvPr id="832" name="Text Box 51">
            <a:extLst>
              <a:ext uri="{FF2B5EF4-FFF2-40B4-BE49-F238E27FC236}">
                <a16:creationId xmlns:a16="http://schemas.microsoft.com/office/drawing/2014/main" id="{5803F9DD-E516-4F61-A05F-EC1652C0904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715072" y="3772368"/>
            <a:ext cx="679964" cy="46165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1425" tIns="45713" rIns="91425" bIns="45713">
            <a:spAutoFit/>
          </a:bodyPr>
          <a:lstStyle>
            <a:lvl1pPr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1pPr>
            <a:lvl2pPr marL="742950" indent="-28575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2pPr>
            <a:lvl3pPr marL="11430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3pPr>
            <a:lvl4pPr marL="16002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4pPr>
            <a:lvl5pPr marL="20574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9pPr>
          </a:lstStyle>
          <a:p>
            <a:pPr algn="r" fontAlgn="auto">
              <a:spcBef>
                <a:spcPts val="0"/>
              </a:spcBef>
              <a:spcAft>
                <a:spcPts val="0"/>
              </a:spcAft>
            </a:pPr>
            <a:r>
              <a:rPr lang="en-US" altLang="zh-CN" sz="1200" b="0" dirty="0">
                <a:solidFill>
                  <a:prstClr val="black"/>
                </a:solidFill>
                <a:latin typeface="Arial" pitchFamily="34" charset="0"/>
                <a:ea typeface="SimHei" panose="02010609060101010101" pitchFamily="49" charset="-122"/>
              </a:rPr>
              <a:t>Read</a:t>
            </a:r>
          </a:p>
          <a:p>
            <a:pPr algn="r" fontAlgn="auto">
              <a:spcBef>
                <a:spcPts val="0"/>
              </a:spcBef>
              <a:spcAft>
                <a:spcPts val="0"/>
              </a:spcAft>
            </a:pPr>
            <a:r>
              <a:rPr lang="en-US" altLang="zh-CN" sz="1200" b="0" dirty="0">
                <a:solidFill>
                  <a:prstClr val="black"/>
                </a:solidFill>
                <a:latin typeface="Arial" pitchFamily="34" charset="0"/>
                <a:ea typeface="SimHei" panose="02010609060101010101" pitchFamily="49" charset="-122"/>
              </a:rPr>
              <a:t> Data 1</a:t>
            </a:r>
          </a:p>
        </p:txBody>
      </p:sp>
      <p:sp>
        <p:nvSpPr>
          <p:cNvPr id="833" name="Text Box 52">
            <a:extLst>
              <a:ext uri="{FF2B5EF4-FFF2-40B4-BE49-F238E27FC236}">
                <a16:creationId xmlns:a16="http://schemas.microsoft.com/office/drawing/2014/main" id="{CE2B0352-CEC9-4E16-9EFC-1552C2BF369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701269" y="4397327"/>
            <a:ext cx="679964" cy="46165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1425" tIns="45713" rIns="91425" bIns="45713">
            <a:spAutoFit/>
          </a:bodyPr>
          <a:lstStyle>
            <a:lvl1pPr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1pPr>
            <a:lvl2pPr marL="742950" indent="-28575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2pPr>
            <a:lvl3pPr marL="11430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3pPr>
            <a:lvl4pPr marL="16002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4pPr>
            <a:lvl5pPr marL="20574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9pPr>
          </a:lstStyle>
          <a:p>
            <a:pPr algn="r" fontAlgn="auto">
              <a:spcBef>
                <a:spcPts val="0"/>
              </a:spcBef>
              <a:spcAft>
                <a:spcPts val="0"/>
              </a:spcAft>
            </a:pPr>
            <a:r>
              <a:rPr lang="en-US" altLang="zh-CN" sz="1200" b="0" dirty="0">
                <a:solidFill>
                  <a:prstClr val="black"/>
                </a:solidFill>
                <a:latin typeface="Arial" pitchFamily="34" charset="0"/>
                <a:ea typeface="SimHei" panose="02010609060101010101" pitchFamily="49" charset="-122"/>
              </a:rPr>
              <a:t>Read</a:t>
            </a:r>
          </a:p>
          <a:p>
            <a:pPr algn="r" fontAlgn="auto">
              <a:spcBef>
                <a:spcPts val="0"/>
              </a:spcBef>
              <a:spcAft>
                <a:spcPts val="0"/>
              </a:spcAft>
            </a:pPr>
            <a:r>
              <a:rPr lang="en-US" altLang="zh-CN" sz="1200" b="0" dirty="0">
                <a:solidFill>
                  <a:prstClr val="black"/>
                </a:solidFill>
                <a:latin typeface="Arial" pitchFamily="34" charset="0"/>
                <a:ea typeface="SimHei" panose="02010609060101010101" pitchFamily="49" charset="-122"/>
              </a:rPr>
              <a:t> Data 2</a:t>
            </a:r>
          </a:p>
        </p:txBody>
      </p:sp>
      <p:sp>
        <p:nvSpPr>
          <p:cNvPr id="834" name="Line 53">
            <a:extLst>
              <a:ext uri="{FF2B5EF4-FFF2-40B4-BE49-F238E27FC236}">
                <a16:creationId xmlns:a16="http://schemas.microsoft.com/office/drawing/2014/main" id="{52567D9B-D415-4AFD-B287-49257A4E6129}"/>
              </a:ext>
            </a:extLst>
          </p:cNvPr>
          <p:cNvSpPr>
            <a:spLocks noChangeShapeType="1"/>
          </p:cNvSpPr>
          <p:nvPr/>
        </p:nvSpPr>
        <p:spPr bwMode="auto">
          <a:xfrm>
            <a:off x="2720755" y="5438924"/>
            <a:ext cx="379900" cy="0"/>
          </a:xfrm>
          <a:prstGeom prst="line">
            <a:avLst/>
          </a:prstGeom>
          <a:noFill/>
          <a:ln w="19050">
            <a:solidFill>
              <a:sysClr val="windowText" lastClr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</a:endParaRPr>
          </a:p>
        </p:txBody>
      </p:sp>
      <p:sp>
        <p:nvSpPr>
          <p:cNvPr id="835" name="Line 54">
            <a:extLst>
              <a:ext uri="{FF2B5EF4-FFF2-40B4-BE49-F238E27FC236}">
                <a16:creationId xmlns:a16="http://schemas.microsoft.com/office/drawing/2014/main" id="{B4A366AB-53B0-4CF6-A88B-7310A7EE0A6C}"/>
              </a:ext>
            </a:extLst>
          </p:cNvPr>
          <p:cNvSpPr>
            <a:spLocks noChangeShapeType="1"/>
          </p:cNvSpPr>
          <p:nvPr/>
        </p:nvSpPr>
        <p:spPr bwMode="auto">
          <a:xfrm>
            <a:off x="2905953" y="5372672"/>
            <a:ext cx="75980" cy="138880"/>
          </a:xfrm>
          <a:prstGeom prst="line">
            <a:avLst/>
          </a:prstGeom>
          <a:noFill/>
          <a:ln w="12700">
            <a:solidFill>
              <a:sysClr val="windowText" lastClr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</a:endParaRPr>
          </a:p>
        </p:txBody>
      </p:sp>
      <p:sp>
        <p:nvSpPr>
          <p:cNvPr id="836" name="Line 55">
            <a:extLst>
              <a:ext uri="{FF2B5EF4-FFF2-40B4-BE49-F238E27FC236}">
                <a16:creationId xmlns:a16="http://schemas.microsoft.com/office/drawing/2014/main" id="{BE030130-C9C8-4B93-B331-9E9076FBB599}"/>
              </a:ext>
            </a:extLst>
          </p:cNvPr>
          <p:cNvSpPr>
            <a:spLocks noChangeShapeType="1"/>
          </p:cNvSpPr>
          <p:nvPr/>
        </p:nvSpPr>
        <p:spPr bwMode="auto">
          <a:xfrm>
            <a:off x="4118464" y="5357001"/>
            <a:ext cx="75980" cy="138880"/>
          </a:xfrm>
          <a:prstGeom prst="line">
            <a:avLst/>
          </a:prstGeom>
          <a:noFill/>
          <a:ln w="12700">
            <a:solidFill>
              <a:sysClr val="windowText" lastClr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</a:endParaRPr>
          </a:p>
        </p:txBody>
      </p:sp>
      <p:sp>
        <p:nvSpPr>
          <p:cNvPr id="837" name="Text Box 56">
            <a:extLst>
              <a:ext uri="{FF2B5EF4-FFF2-40B4-BE49-F238E27FC236}">
                <a16:creationId xmlns:a16="http://schemas.microsoft.com/office/drawing/2014/main" id="{91F0AF99-AEF0-4307-BDA8-6BA6C9035F5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787242" y="5461399"/>
            <a:ext cx="379889" cy="27698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1425" tIns="45713" rIns="91425" bIns="45713">
            <a:spAutoFit/>
          </a:bodyPr>
          <a:lstStyle>
            <a:lvl1pPr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1pPr>
            <a:lvl2pPr marL="742950" indent="-28575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2pPr>
            <a:lvl3pPr marL="11430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3pPr>
            <a:lvl4pPr marL="16002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4pPr>
            <a:lvl5pPr marL="20574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9pPr>
          </a:lstStyle>
          <a:p>
            <a:pPr fontAlgn="auto">
              <a:spcBef>
                <a:spcPts val="0"/>
              </a:spcBef>
              <a:spcAft>
                <a:spcPts val="0"/>
              </a:spcAft>
            </a:pPr>
            <a:r>
              <a:rPr lang="en-US" altLang="zh-CN" sz="1200" b="0" dirty="0">
                <a:solidFill>
                  <a:prstClr val="black"/>
                </a:solidFill>
                <a:latin typeface="Arial" pitchFamily="34" charset="0"/>
                <a:ea typeface="SimHei" panose="02010609060101010101" pitchFamily="49" charset="-122"/>
              </a:rPr>
              <a:t>16</a:t>
            </a:r>
          </a:p>
        </p:txBody>
      </p:sp>
      <p:sp>
        <p:nvSpPr>
          <p:cNvPr id="838" name="Text Box 57">
            <a:extLst>
              <a:ext uri="{FF2B5EF4-FFF2-40B4-BE49-F238E27FC236}">
                <a16:creationId xmlns:a16="http://schemas.microsoft.com/office/drawing/2014/main" id="{D9D873FC-3C1C-4DC0-9B70-84A8B90FFA2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012413" y="5438924"/>
            <a:ext cx="354554" cy="27698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1425" tIns="45713" rIns="91425" bIns="45713">
            <a:spAutoFit/>
          </a:bodyPr>
          <a:lstStyle>
            <a:lvl1pPr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1pPr>
            <a:lvl2pPr marL="742950" indent="-28575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2pPr>
            <a:lvl3pPr marL="11430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3pPr>
            <a:lvl4pPr marL="16002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4pPr>
            <a:lvl5pPr marL="20574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9pPr>
          </a:lstStyle>
          <a:p>
            <a:pPr fontAlgn="auto">
              <a:spcBef>
                <a:spcPts val="0"/>
              </a:spcBef>
              <a:spcAft>
                <a:spcPts val="0"/>
              </a:spcAft>
            </a:pPr>
            <a:r>
              <a:rPr lang="en-US" altLang="zh-CN" sz="1200" b="0" dirty="0">
                <a:solidFill>
                  <a:prstClr val="black"/>
                </a:solidFill>
                <a:latin typeface="Arial" pitchFamily="34" charset="0"/>
                <a:ea typeface="SimHei" panose="02010609060101010101" pitchFamily="49" charset="-122"/>
              </a:rPr>
              <a:t>32</a:t>
            </a:r>
          </a:p>
        </p:txBody>
      </p:sp>
      <p:sp>
        <p:nvSpPr>
          <p:cNvPr id="839" name="Line 58">
            <a:extLst>
              <a:ext uri="{FF2B5EF4-FFF2-40B4-BE49-F238E27FC236}">
                <a16:creationId xmlns:a16="http://schemas.microsoft.com/office/drawing/2014/main" id="{0B1769A3-43FB-40BE-84DE-EC2E1AC5D4E8}"/>
              </a:ext>
            </a:extLst>
          </p:cNvPr>
          <p:cNvSpPr>
            <a:spLocks noChangeShapeType="1"/>
          </p:cNvSpPr>
          <p:nvPr/>
        </p:nvSpPr>
        <p:spPr bwMode="auto">
          <a:xfrm>
            <a:off x="2796735" y="4813966"/>
            <a:ext cx="227939" cy="0"/>
          </a:xfrm>
          <a:prstGeom prst="line">
            <a:avLst/>
          </a:prstGeom>
          <a:noFill/>
          <a:ln w="19050">
            <a:solidFill>
              <a:sysClr val="windowText" lastClr="00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</a:endParaRPr>
          </a:p>
        </p:txBody>
      </p:sp>
      <p:sp>
        <p:nvSpPr>
          <p:cNvPr id="840" name="Line 59">
            <a:extLst>
              <a:ext uri="{FF2B5EF4-FFF2-40B4-BE49-F238E27FC236}">
                <a16:creationId xmlns:a16="http://schemas.microsoft.com/office/drawing/2014/main" id="{25250F34-26C4-4C9C-8DD6-87F2E123A0E5}"/>
              </a:ext>
            </a:extLst>
          </p:cNvPr>
          <p:cNvSpPr>
            <a:spLocks noChangeShapeType="1"/>
          </p:cNvSpPr>
          <p:nvPr/>
        </p:nvSpPr>
        <p:spPr bwMode="auto">
          <a:xfrm>
            <a:off x="4727763" y="4952846"/>
            <a:ext cx="0" cy="486079"/>
          </a:xfrm>
          <a:prstGeom prst="line">
            <a:avLst/>
          </a:prstGeom>
          <a:noFill/>
          <a:ln w="19050">
            <a:solidFill>
              <a:sysClr val="windowText" lastClr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</a:endParaRPr>
          </a:p>
        </p:txBody>
      </p:sp>
      <p:sp>
        <p:nvSpPr>
          <p:cNvPr id="841" name="Line 60">
            <a:extLst>
              <a:ext uri="{FF2B5EF4-FFF2-40B4-BE49-F238E27FC236}">
                <a16:creationId xmlns:a16="http://schemas.microsoft.com/office/drawing/2014/main" id="{6AE5C2A9-97CE-4529-87D4-C262DE25F027}"/>
              </a:ext>
            </a:extLst>
          </p:cNvPr>
          <p:cNvSpPr>
            <a:spLocks noChangeShapeType="1"/>
          </p:cNvSpPr>
          <p:nvPr/>
        </p:nvSpPr>
        <p:spPr bwMode="auto">
          <a:xfrm>
            <a:off x="4316333" y="4605646"/>
            <a:ext cx="151960" cy="0"/>
          </a:xfrm>
          <a:prstGeom prst="line">
            <a:avLst/>
          </a:prstGeom>
          <a:noFill/>
          <a:ln w="19050">
            <a:solidFill>
              <a:sysClr val="windowText" lastClr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</a:endParaRPr>
          </a:p>
        </p:txBody>
      </p:sp>
      <p:sp>
        <p:nvSpPr>
          <p:cNvPr id="842" name="Line 61">
            <a:extLst>
              <a:ext uri="{FF2B5EF4-FFF2-40B4-BE49-F238E27FC236}">
                <a16:creationId xmlns:a16="http://schemas.microsoft.com/office/drawing/2014/main" id="{FF7C16EF-7834-49E7-90AF-60F84310095C}"/>
              </a:ext>
            </a:extLst>
          </p:cNvPr>
          <p:cNvSpPr>
            <a:spLocks noChangeShapeType="1"/>
          </p:cNvSpPr>
          <p:nvPr/>
        </p:nvSpPr>
        <p:spPr bwMode="auto">
          <a:xfrm>
            <a:off x="2720755" y="3772368"/>
            <a:ext cx="0" cy="1666556"/>
          </a:xfrm>
          <a:prstGeom prst="line">
            <a:avLst/>
          </a:prstGeom>
          <a:noFill/>
          <a:ln w="19050">
            <a:solidFill>
              <a:sysClr val="windowText" lastClr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</a:endParaRPr>
          </a:p>
        </p:txBody>
      </p:sp>
      <p:sp>
        <p:nvSpPr>
          <p:cNvPr id="843" name="Line 62">
            <a:extLst>
              <a:ext uri="{FF2B5EF4-FFF2-40B4-BE49-F238E27FC236}">
                <a16:creationId xmlns:a16="http://schemas.microsoft.com/office/drawing/2014/main" id="{A8319B4B-133E-4476-8833-92929B44F452}"/>
              </a:ext>
            </a:extLst>
          </p:cNvPr>
          <p:cNvSpPr>
            <a:spLocks noChangeShapeType="1"/>
          </p:cNvSpPr>
          <p:nvPr/>
        </p:nvSpPr>
        <p:spPr bwMode="auto">
          <a:xfrm>
            <a:off x="2720755" y="3772368"/>
            <a:ext cx="303920" cy="0"/>
          </a:xfrm>
          <a:prstGeom prst="line">
            <a:avLst/>
          </a:prstGeom>
          <a:noFill/>
          <a:ln w="19050">
            <a:solidFill>
              <a:sysClr val="windowText" lastClr="00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</a:endParaRPr>
          </a:p>
        </p:txBody>
      </p:sp>
      <p:sp>
        <p:nvSpPr>
          <p:cNvPr id="844" name="Line 63">
            <a:extLst>
              <a:ext uri="{FF2B5EF4-FFF2-40B4-BE49-F238E27FC236}">
                <a16:creationId xmlns:a16="http://schemas.microsoft.com/office/drawing/2014/main" id="{D751E93A-D6C1-4359-9648-274339305A24}"/>
              </a:ext>
            </a:extLst>
          </p:cNvPr>
          <p:cNvSpPr>
            <a:spLocks noChangeShapeType="1"/>
          </p:cNvSpPr>
          <p:nvPr/>
        </p:nvSpPr>
        <p:spPr bwMode="auto">
          <a:xfrm>
            <a:off x="4620253" y="4605646"/>
            <a:ext cx="471997" cy="0"/>
          </a:xfrm>
          <a:prstGeom prst="line">
            <a:avLst/>
          </a:prstGeom>
          <a:noFill/>
          <a:ln w="19050">
            <a:solidFill>
              <a:sysClr val="windowText" lastClr="00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</a:endParaRPr>
          </a:p>
        </p:txBody>
      </p:sp>
      <p:sp>
        <p:nvSpPr>
          <p:cNvPr id="845" name="Line 64">
            <a:extLst>
              <a:ext uri="{FF2B5EF4-FFF2-40B4-BE49-F238E27FC236}">
                <a16:creationId xmlns:a16="http://schemas.microsoft.com/office/drawing/2014/main" id="{AE04E5CA-EFF9-4967-9032-14E56C7C1132}"/>
              </a:ext>
            </a:extLst>
          </p:cNvPr>
          <p:cNvSpPr>
            <a:spLocks noChangeShapeType="1"/>
          </p:cNvSpPr>
          <p:nvPr/>
        </p:nvSpPr>
        <p:spPr bwMode="auto">
          <a:xfrm>
            <a:off x="5987893" y="4397327"/>
            <a:ext cx="151514" cy="0"/>
          </a:xfrm>
          <a:prstGeom prst="line">
            <a:avLst/>
          </a:prstGeom>
          <a:noFill/>
          <a:ln w="19050">
            <a:solidFill>
              <a:sysClr val="windowText" lastClr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</a:endParaRPr>
          </a:p>
        </p:txBody>
      </p:sp>
      <p:sp>
        <p:nvSpPr>
          <p:cNvPr id="846" name="Freeform 65">
            <a:extLst>
              <a:ext uri="{FF2B5EF4-FFF2-40B4-BE49-F238E27FC236}">
                <a16:creationId xmlns:a16="http://schemas.microsoft.com/office/drawing/2014/main" id="{1A004C00-3ED3-4D38-A025-184530D3EDD8}"/>
              </a:ext>
            </a:extLst>
          </p:cNvPr>
          <p:cNvSpPr>
            <a:spLocks/>
          </p:cNvSpPr>
          <p:nvPr/>
        </p:nvSpPr>
        <p:spPr bwMode="auto">
          <a:xfrm>
            <a:off x="5456032" y="3772368"/>
            <a:ext cx="531860" cy="1180477"/>
          </a:xfrm>
          <a:custGeom>
            <a:avLst/>
            <a:gdLst>
              <a:gd name="T0" fmla="*/ 0 w 388"/>
              <a:gd name="T1" fmla="*/ 0 h 1099"/>
              <a:gd name="T2" fmla="*/ 0 w 388"/>
              <a:gd name="T3" fmla="*/ 235 h 1099"/>
              <a:gd name="T4" fmla="*/ 83 w 388"/>
              <a:gd name="T5" fmla="*/ 305 h 1099"/>
              <a:gd name="T6" fmla="*/ 0 w 388"/>
              <a:gd name="T7" fmla="*/ 370 h 1099"/>
              <a:gd name="T8" fmla="*/ 0 w 388"/>
              <a:gd name="T9" fmla="*/ 605 h 1099"/>
              <a:gd name="T10" fmla="*/ 290 w 388"/>
              <a:gd name="T11" fmla="*/ 436 h 1099"/>
              <a:gd name="T12" fmla="*/ 290 w 388"/>
              <a:gd name="T13" fmla="*/ 170 h 1099"/>
              <a:gd name="T14" fmla="*/ 0 w 388"/>
              <a:gd name="T15" fmla="*/ 0 h 1099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0" t="0" r="r" b="b"/>
            <a:pathLst>
              <a:path w="388" h="1099">
                <a:moveTo>
                  <a:pt x="0" y="0"/>
                </a:moveTo>
                <a:lnTo>
                  <a:pt x="0" y="427"/>
                </a:lnTo>
                <a:lnTo>
                  <a:pt x="111" y="553"/>
                </a:lnTo>
                <a:lnTo>
                  <a:pt x="0" y="671"/>
                </a:lnTo>
                <a:lnTo>
                  <a:pt x="0" y="1098"/>
                </a:lnTo>
                <a:lnTo>
                  <a:pt x="387" y="790"/>
                </a:lnTo>
                <a:lnTo>
                  <a:pt x="387" y="308"/>
                </a:lnTo>
                <a:lnTo>
                  <a:pt x="0" y="0"/>
                </a:lnTo>
              </a:path>
            </a:pathLst>
          </a:custGeom>
          <a:noFill/>
          <a:ln w="19050" cap="rnd" cmpd="sng">
            <a:solidFill>
              <a:srgbClr val="000000"/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fontAlgn="auto">
              <a:spcBef>
                <a:spcPts val="0"/>
              </a:spcBef>
              <a:spcAft>
                <a:spcPts val="0"/>
              </a:spcAft>
            </a:pPr>
            <a:endParaRPr lang="zh-CN" altLang="en-US">
              <a:solidFill>
                <a:prstClr val="black"/>
              </a:solidFill>
              <a:latin typeface="等线" panose="020F0502020204030204"/>
              <a:ea typeface="等线" panose="02010600030101010101" pitchFamily="2" charset="-122"/>
            </a:endParaRPr>
          </a:p>
        </p:txBody>
      </p:sp>
      <p:sp>
        <p:nvSpPr>
          <p:cNvPr id="847" name="Rectangle 66">
            <a:extLst>
              <a:ext uri="{FF2B5EF4-FFF2-40B4-BE49-F238E27FC236}">
                <a16:creationId xmlns:a16="http://schemas.microsoft.com/office/drawing/2014/main" id="{9E8FEE9C-DE9F-49A6-84DB-4BB3E6851202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52590" y="4250042"/>
            <a:ext cx="473292" cy="1985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19047" tIns="26984" rIns="19047" bIns="26984"/>
          <a:lstStyle/>
          <a:p>
            <a:pPr algn="ctr" defTabSz="903288" eaLnBrk="0" fontAlgn="auto" hangingPunct="0">
              <a:lnSpc>
                <a:spcPts val="1600"/>
              </a:lnSpc>
              <a:spcBef>
                <a:spcPts val="0"/>
              </a:spcBef>
              <a:spcAft>
                <a:spcPts val="0"/>
              </a:spcAft>
              <a:tabLst>
                <a:tab pos="452438" algn="l"/>
                <a:tab pos="903288" algn="l"/>
                <a:tab pos="1357313" algn="l"/>
              </a:tabLst>
            </a:pPr>
            <a:r>
              <a:rPr lang="en-US" altLang="zh-CN" sz="1400" b="1" dirty="0">
                <a:solidFill>
                  <a:srgbClr val="000000"/>
                </a:solidFill>
                <a:latin typeface="Arial" pitchFamily="34" charset="0"/>
                <a:ea typeface="等线" panose="02010600030101010101" pitchFamily="2" charset="-122"/>
              </a:rPr>
              <a:t>ALU</a:t>
            </a:r>
          </a:p>
        </p:txBody>
      </p:sp>
      <p:sp>
        <p:nvSpPr>
          <p:cNvPr id="848" name="AutoShape 67">
            <a:extLst>
              <a:ext uri="{FF2B5EF4-FFF2-40B4-BE49-F238E27FC236}">
                <a16:creationId xmlns:a16="http://schemas.microsoft.com/office/drawing/2014/main" id="{2C274A4B-11C7-4DE1-8891-289FB4309C50}"/>
              </a:ext>
            </a:extLst>
          </p:cNvPr>
          <p:cNvSpPr>
            <a:spLocks noChangeArrowheads="1"/>
          </p:cNvSpPr>
          <p:nvPr/>
        </p:nvSpPr>
        <p:spPr bwMode="auto">
          <a:xfrm rot="16200000">
            <a:off x="4859022" y="4629110"/>
            <a:ext cx="694398" cy="227940"/>
          </a:xfrm>
          <a:custGeom>
            <a:avLst/>
            <a:gdLst>
              <a:gd name="T0" fmla="*/ 9 w 21600"/>
              <a:gd name="T1" fmla="*/ 0 h 21600"/>
              <a:gd name="T2" fmla="*/ 5 w 21600"/>
              <a:gd name="T3" fmla="*/ 1 h 21600"/>
              <a:gd name="T4" fmla="*/ 1 w 21600"/>
              <a:gd name="T5" fmla="*/ 0 h 21600"/>
              <a:gd name="T6" fmla="*/ 5 w 21600"/>
              <a:gd name="T7" fmla="*/ 0 h 21600"/>
              <a:gd name="T8" fmla="*/ 0 60000 65536"/>
              <a:gd name="T9" fmla="*/ 0 60000 65536"/>
              <a:gd name="T10" fmla="*/ 0 60000 65536"/>
              <a:gd name="T11" fmla="*/ 0 60000 65536"/>
              <a:gd name="T12" fmla="*/ 4500 w 21600"/>
              <a:gd name="T13" fmla="*/ 4500 h 21600"/>
              <a:gd name="T14" fmla="*/ 17100 w 21600"/>
              <a:gd name="T15" fmla="*/ 17100 h 21600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21600" h="21600">
                <a:moveTo>
                  <a:pt x="0" y="0"/>
                </a:moveTo>
                <a:lnTo>
                  <a:pt x="5400" y="21600"/>
                </a:lnTo>
                <a:lnTo>
                  <a:pt x="16200" y="21600"/>
                </a:lnTo>
                <a:lnTo>
                  <a:pt x="21600" y="0"/>
                </a:lnTo>
                <a:lnTo>
                  <a:pt x="0" y="0"/>
                </a:lnTo>
                <a:close/>
              </a:path>
            </a:pathLst>
          </a:custGeom>
          <a:noFill/>
          <a:ln w="19050">
            <a:solidFill>
              <a:sysClr val="windowText" lastClr="000000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</a:endParaRPr>
          </a:p>
        </p:txBody>
      </p:sp>
      <p:sp>
        <p:nvSpPr>
          <p:cNvPr id="849" name="Line 68">
            <a:extLst>
              <a:ext uri="{FF2B5EF4-FFF2-40B4-BE49-F238E27FC236}">
                <a16:creationId xmlns:a16="http://schemas.microsoft.com/office/drawing/2014/main" id="{DEA011BE-9559-4FF1-B184-B515E406BEC1}"/>
              </a:ext>
            </a:extLst>
          </p:cNvPr>
          <p:cNvSpPr>
            <a:spLocks noChangeShapeType="1"/>
          </p:cNvSpPr>
          <p:nvPr/>
        </p:nvSpPr>
        <p:spPr bwMode="auto">
          <a:xfrm>
            <a:off x="5325223" y="4744526"/>
            <a:ext cx="130809" cy="0"/>
          </a:xfrm>
          <a:prstGeom prst="line">
            <a:avLst/>
          </a:prstGeom>
          <a:noFill/>
          <a:ln w="19050">
            <a:solidFill>
              <a:sysClr val="windowText" lastClr="00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</a:endParaRPr>
          </a:p>
        </p:txBody>
      </p:sp>
      <p:sp>
        <p:nvSpPr>
          <p:cNvPr id="850" name="Rectangle 70">
            <a:extLst>
              <a:ext uri="{FF2B5EF4-FFF2-40B4-BE49-F238E27FC236}">
                <a16:creationId xmlns:a16="http://schemas.microsoft.com/office/drawing/2014/main" id="{1A05270A-2A55-41FE-A3DE-A8BF094FA4AB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19163" y="4447106"/>
            <a:ext cx="120300" cy="68210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19047" tIns="26984" rIns="19047" bIns="26984"/>
          <a:lstStyle/>
          <a:p>
            <a:pPr eaLnBrk="0" fontAlgn="auto" hangingPunct="0">
              <a:spcBef>
                <a:spcPts val="600"/>
              </a:spcBef>
              <a:spcAft>
                <a:spcPts val="600"/>
              </a:spcAft>
            </a:pPr>
            <a:r>
              <a:rPr lang="en-US" altLang="zh-CN" sz="1200" dirty="0">
                <a:solidFill>
                  <a:prstClr val="black"/>
                </a:solidFill>
                <a:latin typeface="Arial" pitchFamily="34" charset="0"/>
                <a:ea typeface="等线" panose="02010600030101010101" pitchFamily="2" charset="-122"/>
              </a:rPr>
              <a:t>0</a:t>
            </a:r>
          </a:p>
          <a:p>
            <a:pPr eaLnBrk="0" fontAlgn="auto" hangingPunct="0">
              <a:spcBef>
                <a:spcPts val="600"/>
              </a:spcBef>
              <a:spcAft>
                <a:spcPts val="600"/>
              </a:spcAft>
            </a:pPr>
            <a:r>
              <a:rPr lang="en-US" altLang="zh-CN" sz="1200" dirty="0">
                <a:solidFill>
                  <a:prstClr val="black"/>
                </a:solidFill>
                <a:latin typeface="Arial" pitchFamily="34" charset="0"/>
                <a:ea typeface="等线" panose="02010600030101010101" pitchFamily="2" charset="-122"/>
              </a:rPr>
              <a:t>1</a:t>
            </a:r>
          </a:p>
        </p:txBody>
      </p:sp>
      <p:sp>
        <p:nvSpPr>
          <p:cNvPr id="851" name="Line 71">
            <a:extLst>
              <a:ext uri="{FF2B5EF4-FFF2-40B4-BE49-F238E27FC236}">
                <a16:creationId xmlns:a16="http://schemas.microsoft.com/office/drawing/2014/main" id="{0A8E1B59-0C0D-43D6-A15F-CF92E4243A70}"/>
              </a:ext>
            </a:extLst>
          </p:cNvPr>
          <p:cNvSpPr>
            <a:spLocks noChangeShapeType="1"/>
          </p:cNvSpPr>
          <p:nvPr/>
        </p:nvSpPr>
        <p:spPr bwMode="auto">
          <a:xfrm>
            <a:off x="4727764" y="4952846"/>
            <a:ext cx="364486" cy="0"/>
          </a:xfrm>
          <a:prstGeom prst="line">
            <a:avLst/>
          </a:prstGeom>
          <a:noFill/>
          <a:ln w="19050">
            <a:solidFill>
              <a:sysClr val="windowText" lastClr="00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</a:endParaRPr>
          </a:p>
        </p:txBody>
      </p:sp>
      <p:sp>
        <p:nvSpPr>
          <p:cNvPr id="852" name="Line 72">
            <a:extLst>
              <a:ext uri="{FF2B5EF4-FFF2-40B4-BE49-F238E27FC236}">
                <a16:creationId xmlns:a16="http://schemas.microsoft.com/office/drawing/2014/main" id="{AC67FD41-A598-4689-A601-2F2085445D04}"/>
              </a:ext>
            </a:extLst>
          </p:cNvPr>
          <p:cNvSpPr>
            <a:spLocks noChangeShapeType="1"/>
          </p:cNvSpPr>
          <p:nvPr/>
        </p:nvSpPr>
        <p:spPr bwMode="auto">
          <a:xfrm>
            <a:off x="4620253" y="3980688"/>
            <a:ext cx="810453" cy="0"/>
          </a:xfrm>
          <a:prstGeom prst="line">
            <a:avLst/>
          </a:prstGeom>
          <a:noFill/>
          <a:ln w="19050">
            <a:solidFill>
              <a:sysClr val="windowText" lastClr="00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</a:endParaRPr>
          </a:p>
        </p:txBody>
      </p:sp>
      <p:sp>
        <p:nvSpPr>
          <p:cNvPr id="853" name="Oval 73">
            <a:extLst>
              <a:ext uri="{FF2B5EF4-FFF2-40B4-BE49-F238E27FC236}">
                <a16:creationId xmlns:a16="http://schemas.microsoft.com/office/drawing/2014/main" id="{2E8FDB5F-4E88-4319-A40B-50A8AB9D6720}"/>
              </a:ext>
            </a:extLst>
          </p:cNvPr>
          <p:cNvSpPr>
            <a:spLocks noChangeArrowheads="1"/>
          </p:cNvSpPr>
          <p:nvPr/>
        </p:nvSpPr>
        <p:spPr bwMode="auto">
          <a:xfrm>
            <a:off x="5000153" y="3286290"/>
            <a:ext cx="455880" cy="486079"/>
          </a:xfrm>
          <a:prstGeom prst="ellipse">
            <a:avLst/>
          </a:prstGeom>
          <a:noFill/>
          <a:ln w="19050">
            <a:solidFill>
              <a:sysClr val="windowText" lastClr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</a:endParaRPr>
          </a:p>
        </p:txBody>
      </p:sp>
      <p:sp>
        <p:nvSpPr>
          <p:cNvPr id="854" name="Rectangle 74">
            <a:extLst>
              <a:ext uri="{FF2B5EF4-FFF2-40B4-BE49-F238E27FC236}">
                <a16:creationId xmlns:a16="http://schemas.microsoft.com/office/drawing/2014/main" id="{12525217-3ADE-4FC9-8D59-7C01305930F1}"/>
              </a:ext>
            </a:extLst>
          </p:cNvPr>
          <p:cNvSpPr>
            <a:spLocks noChangeArrowheads="1"/>
          </p:cNvSpPr>
          <p:nvPr/>
        </p:nvSpPr>
        <p:spPr bwMode="auto">
          <a:xfrm>
            <a:off x="5007124" y="3405976"/>
            <a:ext cx="441936" cy="239554"/>
          </a:xfrm>
          <a:prstGeom prst="rect">
            <a:avLst/>
          </a:prstGeom>
          <a:noFill/>
          <a:ln w="12700">
            <a:noFill/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19047" tIns="26984" rIns="19047" bIns="26984"/>
          <a:lstStyle/>
          <a:p>
            <a:pPr algn="ctr" defTabSz="903288" eaLnBrk="0" fontAlgn="auto" hangingPunct="0">
              <a:lnSpc>
                <a:spcPts val="1600"/>
              </a:lnSpc>
              <a:spcBef>
                <a:spcPts val="0"/>
              </a:spcBef>
              <a:spcAft>
                <a:spcPts val="0"/>
              </a:spcAft>
              <a:tabLst>
                <a:tab pos="452438" algn="l"/>
                <a:tab pos="903288" algn="l"/>
                <a:tab pos="1357313" algn="l"/>
              </a:tabLst>
            </a:pPr>
            <a:r>
              <a:rPr lang="en-US" altLang="zh-CN" sz="1400" dirty="0">
                <a:solidFill>
                  <a:srgbClr val="000000"/>
                </a:solidFill>
                <a:latin typeface="Arial" pitchFamily="34" charset="0"/>
                <a:ea typeface="等线" panose="02010600030101010101" pitchFamily="2" charset="-122"/>
              </a:rPr>
              <a:t>&lt;&lt;2</a:t>
            </a:r>
          </a:p>
        </p:txBody>
      </p:sp>
      <p:sp>
        <p:nvSpPr>
          <p:cNvPr id="855" name="Line 75">
            <a:extLst>
              <a:ext uri="{FF2B5EF4-FFF2-40B4-BE49-F238E27FC236}">
                <a16:creationId xmlns:a16="http://schemas.microsoft.com/office/drawing/2014/main" id="{D3AE8F16-A731-4996-95A9-8861BEDD4441}"/>
              </a:ext>
            </a:extLst>
          </p:cNvPr>
          <p:cNvSpPr>
            <a:spLocks noChangeShapeType="1"/>
          </p:cNvSpPr>
          <p:nvPr/>
        </p:nvSpPr>
        <p:spPr bwMode="auto">
          <a:xfrm>
            <a:off x="4727763" y="3564049"/>
            <a:ext cx="272390" cy="0"/>
          </a:xfrm>
          <a:prstGeom prst="line">
            <a:avLst/>
          </a:prstGeom>
          <a:noFill/>
          <a:ln w="19050">
            <a:solidFill>
              <a:sysClr val="windowText" lastClr="00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</a:endParaRPr>
          </a:p>
        </p:txBody>
      </p:sp>
      <p:grpSp>
        <p:nvGrpSpPr>
          <p:cNvPr id="856" name="Group 76">
            <a:extLst>
              <a:ext uri="{FF2B5EF4-FFF2-40B4-BE49-F238E27FC236}">
                <a16:creationId xmlns:a16="http://schemas.microsoft.com/office/drawing/2014/main" id="{9DF509A6-00DF-49E8-A72D-0390D31FA279}"/>
              </a:ext>
            </a:extLst>
          </p:cNvPr>
          <p:cNvGrpSpPr>
            <a:grpSpLocks/>
          </p:cNvGrpSpPr>
          <p:nvPr/>
        </p:nvGrpSpPr>
        <p:grpSpPr bwMode="auto">
          <a:xfrm>
            <a:off x="5683972" y="2939090"/>
            <a:ext cx="356156" cy="833278"/>
            <a:chOff x="1392" y="2880"/>
            <a:chExt cx="288" cy="480"/>
          </a:xfrm>
        </p:grpSpPr>
        <p:sp>
          <p:nvSpPr>
            <p:cNvPr id="857" name="Line 77">
              <a:extLst>
                <a:ext uri="{FF2B5EF4-FFF2-40B4-BE49-F238E27FC236}">
                  <a16:creationId xmlns:a16="http://schemas.microsoft.com/office/drawing/2014/main" id="{69822930-C29D-4559-951E-0DD3F8ED75C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92" y="3072"/>
              <a:ext cx="48" cy="48"/>
            </a:xfrm>
            <a:prstGeom prst="line">
              <a:avLst/>
            </a:prstGeom>
            <a:noFill/>
            <a:ln w="19050">
              <a:solidFill>
                <a:sysClr val="windowText" lastClr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F0502020204030204"/>
                <a:ea typeface="等线" panose="02010600030101010101" pitchFamily="2" charset="-122"/>
              </a:endParaRPr>
            </a:p>
          </p:txBody>
        </p:sp>
        <p:sp>
          <p:nvSpPr>
            <p:cNvPr id="858" name="Line 78">
              <a:extLst>
                <a:ext uri="{FF2B5EF4-FFF2-40B4-BE49-F238E27FC236}">
                  <a16:creationId xmlns:a16="http://schemas.microsoft.com/office/drawing/2014/main" id="{1DB32533-D667-4C3E-BEFE-860F075795A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392" y="3120"/>
              <a:ext cx="48" cy="48"/>
            </a:xfrm>
            <a:prstGeom prst="line">
              <a:avLst/>
            </a:prstGeom>
            <a:noFill/>
            <a:ln w="19050">
              <a:solidFill>
                <a:sysClr val="windowText" lastClr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F0502020204030204"/>
                <a:ea typeface="等线" panose="02010600030101010101" pitchFamily="2" charset="-122"/>
              </a:endParaRPr>
            </a:p>
          </p:txBody>
        </p:sp>
        <p:sp>
          <p:nvSpPr>
            <p:cNvPr id="859" name="Line 79">
              <a:extLst>
                <a:ext uri="{FF2B5EF4-FFF2-40B4-BE49-F238E27FC236}">
                  <a16:creationId xmlns:a16="http://schemas.microsoft.com/office/drawing/2014/main" id="{2B7EC715-805C-4675-B58C-AAF1A0997DE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392" y="2880"/>
              <a:ext cx="0" cy="192"/>
            </a:xfrm>
            <a:prstGeom prst="line">
              <a:avLst/>
            </a:prstGeom>
            <a:noFill/>
            <a:ln w="19050">
              <a:solidFill>
                <a:sysClr val="windowText" lastClr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F0502020204030204"/>
                <a:ea typeface="等线" panose="02010600030101010101" pitchFamily="2" charset="-122"/>
              </a:endParaRPr>
            </a:p>
          </p:txBody>
        </p:sp>
        <p:sp>
          <p:nvSpPr>
            <p:cNvPr id="860" name="Line 80">
              <a:extLst>
                <a:ext uri="{FF2B5EF4-FFF2-40B4-BE49-F238E27FC236}">
                  <a16:creationId xmlns:a16="http://schemas.microsoft.com/office/drawing/2014/main" id="{73394DD7-D45A-4243-8FC0-F967BC45C16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392" y="3168"/>
              <a:ext cx="0" cy="192"/>
            </a:xfrm>
            <a:prstGeom prst="line">
              <a:avLst/>
            </a:prstGeom>
            <a:noFill/>
            <a:ln w="19050">
              <a:solidFill>
                <a:sysClr val="windowText" lastClr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F0502020204030204"/>
                <a:ea typeface="等线" panose="02010600030101010101" pitchFamily="2" charset="-122"/>
              </a:endParaRPr>
            </a:p>
          </p:txBody>
        </p:sp>
        <p:sp>
          <p:nvSpPr>
            <p:cNvPr id="861" name="Line 81">
              <a:extLst>
                <a:ext uri="{FF2B5EF4-FFF2-40B4-BE49-F238E27FC236}">
                  <a16:creationId xmlns:a16="http://schemas.microsoft.com/office/drawing/2014/main" id="{ECF0A470-9AE6-4B0F-8BAF-55273F6D067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392" y="3216"/>
              <a:ext cx="288" cy="144"/>
            </a:xfrm>
            <a:prstGeom prst="line">
              <a:avLst/>
            </a:prstGeom>
            <a:noFill/>
            <a:ln w="19050">
              <a:solidFill>
                <a:sysClr val="windowText" lastClr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F0502020204030204"/>
                <a:ea typeface="等线" panose="02010600030101010101" pitchFamily="2" charset="-122"/>
              </a:endParaRPr>
            </a:p>
          </p:txBody>
        </p:sp>
        <p:sp>
          <p:nvSpPr>
            <p:cNvPr id="862" name="Line 82">
              <a:extLst>
                <a:ext uri="{FF2B5EF4-FFF2-40B4-BE49-F238E27FC236}">
                  <a16:creationId xmlns:a16="http://schemas.microsoft.com/office/drawing/2014/main" id="{E721FA38-321D-4BD4-A057-680FD459CF2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680" y="3024"/>
              <a:ext cx="0" cy="192"/>
            </a:xfrm>
            <a:prstGeom prst="line">
              <a:avLst/>
            </a:prstGeom>
            <a:noFill/>
            <a:ln w="19050">
              <a:solidFill>
                <a:sysClr val="windowText" lastClr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F0502020204030204"/>
                <a:ea typeface="等线" panose="02010600030101010101" pitchFamily="2" charset="-122"/>
              </a:endParaRPr>
            </a:p>
          </p:txBody>
        </p:sp>
        <p:sp>
          <p:nvSpPr>
            <p:cNvPr id="863" name="Line 83">
              <a:extLst>
                <a:ext uri="{FF2B5EF4-FFF2-40B4-BE49-F238E27FC236}">
                  <a16:creationId xmlns:a16="http://schemas.microsoft.com/office/drawing/2014/main" id="{8369EDF0-7C69-4A48-A1FE-D1B785550F0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92" y="2880"/>
              <a:ext cx="288" cy="144"/>
            </a:xfrm>
            <a:prstGeom prst="line">
              <a:avLst/>
            </a:prstGeom>
            <a:noFill/>
            <a:ln w="19050">
              <a:solidFill>
                <a:sysClr val="windowText" lastClr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F0502020204030204"/>
                <a:ea typeface="等线" panose="02010600030101010101" pitchFamily="2" charset="-122"/>
              </a:endParaRPr>
            </a:p>
          </p:txBody>
        </p:sp>
      </p:grpSp>
      <p:sp>
        <p:nvSpPr>
          <p:cNvPr id="864" name="Text Box 84">
            <a:extLst>
              <a:ext uri="{FF2B5EF4-FFF2-40B4-BE49-F238E27FC236}">
                <a16:creationId xmlns:a16="http://schemas.microsoft.com/office/drawing/2014/main" id="{97E3B207-4308-4D3D-9818-B5657EEF539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647601" y="3222315"/>
            <a:ext cx="457146" cy="27698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1425" tIns="45713" rIns="91425" bIns="45713">
            <a:spAutoFit/>
          </a:bodyPr>
          <a:lstStyle>
            <a:lvl1pPr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1pPr>
            <a:lvl2pPr marL="742950" indent="-28575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2pPr>
            <a:lvl3pPr marL="11430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3pPr>
            <a:lvl4pPr marL="16002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4pPr>
            <a:lvl5pPr marL="20574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9pPr>
          </a:lstStyle>
          <a:p>
            <a:pPr fontAlgn="auto">
              <a:spcBef>
                <a:spcPts val="0"/>
              </a:spcBef>
              <a:spcAft>
                <a:spcPts val="0"/>
              </a:spcAft>
            </a:pPr>
            <a:r>
              <a:rPr lang="en-US" altLang="zh-CN" sz="1200" b="0" dirty="0">
                <a:solidFill>
                  <a:prstClr val="black"/>
                </a:solidFill>
                <a:latin typeface="Arial" pitchFamily="34" charset="0"/>
                <a:ea typeface="SimHei" panose="02010609060101010101" pitchFamily="49" charset="-122"/>
              </a:rPr>
              <a:t>Add</a:t>
            </a:r>
          </a:p>
        </p:txBody>
      </p:sp>
      <p:sp>
        <p:nvSpPr>
          <p:cNvPr id="865" name="Line 85">
            <a:extLst>
              <a:ext uri="{FF2B5EF4-FFF2-40B4-BE49-F238E27FC236}">
                <a16:creationId xmlns:a16="http://schemas.microsoft.com/office/drawing/2014/main" id="{859684B4-D974-4CA3-AAC1-21976D51E2CC}"/>
              </a:ext>
            </a:extLst>
          </p:cNvPr>
          <p:cNvSpPr>
            <a:spLocks noChangeShapeType="1"/>
          </p:cNvSpPr>
          <p:nvPr/>
        </p:nvSpPr>
        <p:spPr bwMode="auto">
          <a:xfrm>
            <a:off x="5451311" y="3564049"/>
            <a:ext cx="227940" cy="0"/>
          </a:xfrm>
          <a:prstGeom prst="line">
            <a:avLst/>
          </a:prstGeom>
          <a:noFill/>
          <a:ln w="19050">
            <a:solidFill>
              <a:sysClr val="windowText" lastClr="00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</a:endParaRPr>
          </a:p>
        </p:txBody>
      </p:sp>
      <p:sp>
        <p:nvSpPr>
          <p:cNvPr id="866" name="Rectangle 86">
            <a:extLst>
              <a:ext uri="{FF2B5EF4-FFF2-40B4-BE49-F238E27FC236}">
                <a16:creationId xmlns:a16="http://schemas.microsoft.com/office/drawing/2014/main" id="{A5794302-17FC-487C-B683-088E927C393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19751" y="3808152"/>
            <a:ext cx="1291659" cy="1117207"/>
          </a:xfrm>
          <a:prstGeom prst="rect">
            <a:avLst/>
          </a:prstGeom>
          <a:noFill/>
          <a:ln w="19050">
            <a:solidFill>
              <a:sysClr val="windowText" lastClr="000000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</a:endParaRPr>
          </a:p>
        </p:txBody>
      </p:sp>
      <p:sp>
        <p:nvSpPr>
          <p:cNvPr id="867" name="Line 87">
            <a:extLst>
              <a:ext uri="{FF2B5EF4-FFF2-40B4-BE49-F238E27FC236}">
                <a16:creationId xmlns:a16="http://schemas.microsoft.com/office/drawing/2014/main" id="{8662E908-C748-4FE8-BB25-5735D956E4BF}"/>
              </a:ext>
            </a:extLst>
          </p:cNvPr>
          <p:cNvSpPr>
            <a:spLocks noChangeShapeType="1"/>
          </p:cNvSpPr>
          <p:nvPr/>
        </p:nvSpPr>
        <p:spPr bwMode="auto">
          <a:xfrm>
            <a:off x="6291811" y="4397327"/>
            <a:ext cx="227940" cy="0"/>
          </a:xfrm>
          <a:prstGeom prst="line">
            <a:avLst/>
          </a:prstGeom>
          <a:noFill/>
          <a:ln w="19050">
            <a:solidFill>
              <a:sysClr val="windowText" lastClr="00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</a:endParaRPr>
          </a:p>
        </p:txBody>
      </p:sp>
      <p:sp>
        <p:nvSpPr>
          <p:cNvPr id="868" name="Text Box 88">
            <a:extLst>
              <a:ext uri="{FF2B5EF4-FFF2-40B4-BE49-F238E27FC236}">
                <a16:creationId xmlns:a16="http://schemas.microsoft.com/office/drawing/2014/main" id="{F6E17B25-AE3F-444E-B10A-07A6167B3CE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46062" y="3808153"/>
            <a:ext cx="830645" cy="52320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1425" tIns="45713" rIns="91425" bIns="45713">
            <a:spAutoFit/>
          </a:bodyPr>
          <a:lstStyle>
            <a:lvl1pPr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1pPr>
            <a:lvl2pPr marL="742950" indent="-28575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2pPr>
            <a:lvl3pPr marL="11430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3pPr>
            <a:lvl4pPr marL="16002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4pPr>
            <a:lvl5pPr marL="20574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9pPr>
          </a:lstStyle>
          <a:p>
            <a:pPr algn="ctr" fontAlgn="auto">
              <a:spcBef>
                <a:spcPts val="0"/>
              </a:spcBef>
              <a:spcAft>
                <a:spcPts val="0"/>
              </a:spcAft>
            </a:pPr>
            <a:r>
              <a:rPr lang="en-US" altLang="zh-CN" sz="1400" b="0" dirty="0">
                <a:solidFill>
                  <a:prstClr val="black"/>
                </a:solidFill>
                <a:latin typeface="Arial" pitchFamily="34" charset="0"/>
                <a:ea typeface="SimHei" panose="02010609060101010101" pitchFamily="49" charset="-122"/>
              </a:rPr>
              <a:t>Data</a:t>
            </a:r>
          </a:p>
          <a:p>
            <a:pPr algn="ctr" fontAlgn="auto">
              <a:spcBef>
                <a:spcPts val="0"/>
              </a:spcBef>
              <a:spcAft>
                <a:spcPts val="0"/>
              </a:spcAft>
            </a:pPr>
            <a:r>
              <a:rPr lang="en-US" altLang="zh-CN" sz="1400" b="0" dirty="0">
                <a:solidFill>
                  <a:prstClr val="black"/>
                </a:solidFill>
                <a:latin typeface="Arial" pitchFamily="34" charset="0"/>
                <a:ea typeface="SimHei" panose="02010609060101010101" pitchFamily="49" charset="-122"/>
              </a:rPr>
              <a:t>Memory</a:t>
            </a:r>
          </a:p>
        </p:txBody>
      </p:sp>
      <p:sp>
        <p:nvSpPr>
          <p:cNvPr id="869" name="Text Box 89">
            <a:extLst>
              <a:ext uri="{FF2B5EF4-FFF2-40B4-BE49-F238E27FC236}">
                <a16:creationId xmlns:a16="http://schemas.microsoft.com/office/drawing/2014/main" id="{A6932F7B-5A07-43F9-B058-EE2D0316896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443771" y="4258447"/>
            <a:ext cx="747290" cy="27698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1425" tIns="45713" rIns="91425" bIns="45713">
            <a:spAutoFit/>
          </a:bodyPr>
          <a:lstStyle>
            <a:lvl1pPr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1pPr>
            <a:lvl2pPr marL="742950" indent="-28575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2pPr>
            <a:lvl3pPr marL="11430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3pPr>
            <a:lvl4pPr marL="16002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4pPr>
            <a:lvl5pPr marL="20574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9pPr>
          </a:lstStyle>
          <a:p>
            <a:pPr fontAlgn="auto">
              <a:spcBef>
                <a:spcPts val="0"/>
              </a:spcBef>
              <a:spcAft>
                <a:spcPts val="0"/>
              </a:spcAft>
            </a:pPr>
            <a:r>
              <a:rPr lang="en-US" altLang="zh-CN" sz="1200" b="0" dirty="0">
                <a:solidFill>
                  <a:prstClr val="black"/>
                </a:solidFill>
                <a:latin typeface="Arial" pitchFamily="34" charset="0"/>
                <a:ea typeface="SimHei" panose="02010609060101010101" pitchFamily="49" charset="-122"/>
              </a:rPr>
              <a:t>Address</a:t>
            </a:r>
          </a:p>
        </p:txBody>
      </p:sp>
      <p:sp>
        <p:nvSpPr>
          <p:cNvPr id="870" name="Text Box 90">
            <a:extLst>
              <a:ext uri="{FF2B5EF4-FFF2-40B4-BE49-F238E27FC236}">
                <a16:creationId xmlns:a16="http://schemas.microsoft.com/office/drawing/2014/main" id="{05360CFE-9118-428D-827B-EB173E637D1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443771" y="4605646"/>
            <a:ext cx="908039" cy="27698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1425" tIns="45713" rIns="91425" bIns="45713">
            <a:spAutoFit/>
          </a:bodyPr>
          <a:lstStyle>
            <a:lvl1pPr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1pPr>
            <a:lvl2pPr marL="742950" indent="-28575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2pPr>
            <a:lvl3pPr marL="11430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3pPr>
            <a:lvl4pPr marL="16002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4pPr>
            <a:lvl5pPr marL="20574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9pPr>
          </a:lstStyle>
          <a:p>
            <a:pPr fontAlgn="auto">
              <a:spcBef>
                <a:spcPts val="0"/>
              </a:spcBef>
              <a:spcAft>
                <a:spcPts val="0"/>
              </a:spcAft>
            </a:pPr>
            <a:r>
              <a:rPr lang="en-US" altLang="zh-CN" sz="1200" b="0" dirty="0">
                <a:solidFill>
                  <a:prstClr val="black"/>
                </a:solidFill>
                <a:latin typeface="Arial" pitchFamily="34" charset="0"/>
                <a:ea typeface="SimHei" panose="02010609060101010101" pitchFamily="49" charset="-122"/>
              </a:rPr>
              <a:t>Write Data</a:t>
            </a:r>
          </a:p>
        </p:txBody>
      </p:sp>
      <p:sp>
        <p:nvSpPr>
          <p:cNvPr id="871" name="Text Box 91">
            <a:extLst>
              <a:ext uri="{FF2B5EF4-FFF2-40B4-BE49-F238E27FC236}">
                <a16:creationId xmlns:a16="http://schemas.microsoft.com/office/drawing/2014/main" id="{F202072A-E377-44D2-8B54-7E47B5C217D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279550" y="4189007"/>
            <a:ext cx="550120" cy="46165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1425" tIns="45713" rIns="91425" bIns="45713">
            <a:spAutoFit/>
          </a:bodyPr>
          <a:lstStyle>
            <a:lvl1pPr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1pPr>
            <a:lvl2pPr marL="742950" indent="-28575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2pPr>
            <a:lvl3pPr marL="11430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3pPr>
            <a:lvl4pPr marL="16002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4pPr>
            <a:lvl5pPr marL="20574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9pPr>
          </a:lstStyle>
          <a:p>
            <a:pPr fontAlgn="auto">
              <a:spcBef>
                <a:spcPts val="0"/>
              </a:spcBef>
              <a:spcAft>
                <a:spcPts val="0"/>
              </a:spcAft>
            </a:pPr>
            <a:r>
              <a:rPr lang="en-US" altLang="zh-CN" sz="1200" b="0" dirty="0">
                <a:solidFill>
                  <a:prstClr val="black"/>
                </a:solidFill>
                <a:latin typeface="Arial" pitchFamily="34" charset="0"/>
                <a:ea typeface="SimHei" panose="02010609060101010101" pitchFamily="49" charset="-122"/>
              </a:rPr>
              <a:t>Read</a:t>
            </a:r>
          </a:p>
          <a:p>
            <a:pPr fontAlgn="auto">
              <a:spcBef>
                <a:spcPts val="0"/>
              </a:spcBef>
              <a:spcAft>
                <a:spcPts val="0"/>
              </a:spcAft>
            </a:pPr>
            <a:r>
              <a:rPr lang="en-US" altLang="zh-CN" sz="1200" b="0" dirty="0">
                <a:solidFill>
                  <a:prstClr val="black"/>
                </a:solidFill>
                <a:latin typeface="Arial" pitchFamily="34" charset="0"/>
                <a:ea typeface="SimHei" panose="02010609060101010101" pitchFamily="49" charset="-122"/>
              </a:rPr>
              <a:t>Data</a:t>
            </a:r>
          </a:p>
        </p:txBody>
      </p:sp>
      <p:sp>
        <p:nvSpPr>
          <p:cNvPr id="872" name="Line 92">
            <a:extLst>
              <a:ext uri="{FF2B5EF4-FFF2-40B4-BE49-F238E27FC236}">
                <a16:creationId xmlns:a16="http://schemas.microsoft.com/office/drawing/2014/main" id="{58F32A96-6B7D-4164-9EDD-81459F468B9B}"/>
              </a:ext>
            </a:extLst>
          </p:cNvPr>
          <p:cNvSpPr>
            <a:spLocks noChangeShapeType="1"/>
          </p:cNvSpPr>
          <p:nvPr/>
        </p:nvSpPr>
        <p:spPr bwMode="auto">
          <a:xfrm>
            <a:off x="6291811" y="4744526"/>
            <a:ext cx="227940" cy="0"/>
          </a:xfrm>
          <a:prstGeom prst="line">
            <a:avLst/>
          </a:prstGeom>
          <a:noFill/>
          <a:ln w="19050">
            <a:solidFill>
              <a:sysClr val="windowText" lastClr="00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</a:endParaRPr>
          </a:p>
        </p:txBody>
      </p:sp>
      <p:sp>
        <p:nvSpPr>
          <p:cNvPr id="873" name="Line 93">
            <a:extLst>
              <a:ext uri="{FF2B5EF4-FFF2-40B4-BE49-F238E27FC236}">
                <a16:creationId xmlns:a16="http://schemas.microsoft.com/office/drawing/2014/main" id="{CA4C7AC8-48E0-4E90-95A8-0EFF62E6E7C7}"/>
              </a:ext>
            </a:extLst>
          </p:cNvPr>
          <p:cNvSpPr>
            <a:spLocks noChangeShapeType="1"/>
          </p:cNvSpPr>
          <p:nvPr/>
        </p:nvSpPr>
        <p:spPr bwMode="auto">
          <a:xfrm>
            <a:off x="8115330" y="4744526"/>
            <a:ext cx="227940" cy="1447"/>
          </a:xfrm>
          <a:prstGeom prst="line">
            <a:avLst/>
          </a:prstGeom>
          <a:noFill/>
          <a:ln w="19050">
            <a:solidFill>
              <a:sysClr val="windowText" lastClr="00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</a:endParaRPr>
          </a:p>
        </p:txBody>
      </p:sp>
      <p:sp>
        <p:nvSpPr>
          <p:cNvPr id="874" name="AutoShape 94">
            <a:extLst>
              <a:ext uri="{FF2B5EF4-FFF2-40B4-BE49-F238E27FC236}">
                <a16:creationId xmlns:a16="http://schemas.microsoft.com/office/drawing/2014/main" id="{8F07E89F-705F-4D83-8605-A030D7209DF0}"/>
              </a:ext>
            </a:extLst>
          </p:cNvPr>
          <p:cNvSpPr>
            <a:spLocks noChangeArrowheads="1"/>
          </p:cNvSpPr>
          <p:nvPr/>
        </p:nvSpPr>
        <p:spPr bwMode="auto">
          <a:xfrm rot="16200000">
            <a:off x="8144760" y="4456957"/>
            <a:ext cx="624959" cy="227940"/>
          </a:xfrm>
          <a:custGeom>
            <a:avLst/>
            <a:gdLst>
              <a:gd name="T0" fmla="*/ 8 w 21600"/>
              <a:gd name="T1" fmla="*/ 0 h 21600"/>
              <a:gd name="T2" fmla="*/ 4 w 21600"/>
              <a:gd name="T3" fmla="*/ 1 h 21600"/>
              <a:gd name="T4" fmla="*/ 1 w 21600"/>
              <a:gd name="T5" fmla="*/ 0 h 21600"/>
              <a:gd name="T6" fmla="*/ 4 w 21600"/>
              <a:gd name="T7" fmla="*/ 0 h 21600"/>
              <a:gd name="T8" fmla="*/ 0 60000 65536"/>
              <a:gd name="T9" fmla="*/ 0 60000 65536"/>
              <a:gd name="T10" fmla="*/ 0 60000 65536"/>
              <a:gd name="T11" fmla="*/ 0 60000 65536"/>
              <a:gd name="T12" fmla="*/ 4500 w 21600"/>
              <a:gd name="T13" fmla="*/ 4500 h 21600"/>
              <a:gd name="T14" fmla="*/ 17100 w 21600"/>
              <a:gd name="T15" fmla="*/ 17100 h 21600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21600" h="21600">
                <a:moveTo>
                  <a:pt x="0" y="0"/>
                </a:moveTo>
                <a:lnTo>
                  <a:pt x="5400" y="21600"/>
                </a:lnTo>
                <a:lnTo>
                  <a:pt x="16200" y="21600"/>
                </a:lnTo>
                <a:lnTo>
                  <a:pt x="21600" y="0"/>
                </a:lnTo>
                <a:lnTo>
                  <a:pt x="0" y="0"/>
                </a:lnTo>
                <a:close/>
              </a:path>
            </a:pathLst>
          </a:custGeom>
          <a:noFill/>
          <a:ln w="19050">
            <a:solidFill>
              <a:sysClr val="windowText" lastClr="000000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</a:endParaRPr>
          </a:p>
        </p:txBody>
      </p:sp>
      <p:sp>
        <p:nvSpPr>
          <p:cNvPr id="875" name="Line 98">
            <a:extLst>
              <a:ext uri="{FF2B5EF4-FFF2-40B4-BE49-F238E27FC236}">
                <a16:creationId xmlns:a16="http://schemas.microsoft.com/office/drawing/2014/main" id="{6221E58D-3184-4D5E-99DD-F38AEF244AFC}"/>
              </a:ext>
            </a:extLst>
          </p:cNvPr>
          <p:cNvSpPr>
            <a:spLocks noChangeShapeType="1"/>
          </p:cNvSpPr>
          <p:nvPr/>
        </p:nvSpPr>
        <p:spPr bwMode="auto">
          <a:xfrm>
            <a:off x="4316333" y="3980688"/>
            <a:ext cx="151960" cy="0"/>
          </a:xfrm>
          <a:prstGeom prst="line">
            <a:avLst/>
          </a:prstGeom>
          <a:noFill/>
          <a:ln w="19050">
            <a:solidFill>
              <a:sysClr val="windowText" lastClr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</a:endParaRPr>
          </a:p>
        </p:txBody>
      </p:sp>
      <p:sp>
        <p:nvSpPr>
          <p:cNvPr id="876" name="Line 99">
            <a:extLst>
              <a:ext uri="{FF2B5EF4-FFF2-40B4-BE49-F238E27FC236}">
                <a16:creationId xmlns:a16="http://schemas.microsoft.com/office/drawing/2014/main" id="{4300364B-0BAE-406B-9787-40C3CCA5A18E}"/>
              </a:ext>
            </a:extLst>
          </p:cNvPr>
          <p:cNvSpPr>
            <a:spLocks noChangeShapeType="1"/>
          </p:cNvSpPr>
          <p:nvPr/>
        </p:nvSpPr>
        <p:spPr bwMode="auto">
          <a:xfrm>
            <a:off x="2796735" y="4813966"/>
            <a:ext cx="0" cy="1525123"/>
          </a:xfrm>
          <a:prstGeom prst="line">
            <a:avLst/>
          </a:prstGeom>
          <a:noFill/>
          <a:ln w="19050">
            <a:solidFill>
              <a:sysClr val="windowText" lastClr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</a:endParaRPr>
          </a:p>
        </p:txBody>
      </p:sp>
      <p:sp>
        <p:nvSpPr>
          <p:cNvPr id="877" name="Line 100">
            <a:extLst>
              <a:ext uri="{FF2B5EF4-FFF2-40B4-BE49-F238E27FC236}">
                <a16:creationId xmlns:a16="http://schemas.microsoft.com/office/drawing/2014/main" id="{9AE060CE-5930-4A32-A6E6-F5F1AA2FAF09}"/>
              </a:ext>
            </a:extLst>
          </p:cNvPr>
          <p:cNvSpPr>
            <a:spLocks noChangeShapeType="1"/>
          </p:cNvSpPr>
          <p:nvPr/>
        </p:nvSpPr>
        <p:spPr bwMode="auto">
          <a:xfrm>
            <a:off x="2036935" y="3147410"/>
            <a:ext cx="227940" cy="0"/>
          </a:xfrm>
          <a:prstGeom prst="line">
            <a:avLst/>
          </a:prstGeom>
          <a:noFill/>
          <a:ln w="19050">
            <a:solidFill>
              <a:sysClr val="windowText" lastClr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</a:endParaRPr>
          </a:p>
        </p:txBody>
      </p:sp>
      <p:sp>
        <p:nvSpPr>
          <p:cNvPr id="878" name="Line 101">
            <a:extLst>
              <a:ext uri="{FF2B5EF4-FFF2-40B4-BE49-F238E27FC236}">
                <a16:creationId xmlns:a16="http://schemas.microsoft.com/office/drawing/2014/main" id="{0B89104A-49F9-4F0E-B12B-98C2D7C2E165}"/>
              </a:ext>
            </a:extLst>
          </p:cNvPr>
          <p:cNvSpPr>
            <a:spLocks noChangeShapeType="1"/>
          </p:cNvSpPr>
          <p:nvPr/>
        </p:nvSpPr>
        <p:spPr bwMode="auto">
          <a:xfrm>
            <a:off x="1277136" y="2244692"/>
            <a:ext cx="911759" cy="0"/>
          </a:xfrm>
          <a:prstGeom prst="line">
            <a:avLst/>
          </a:prstGeom>
          <a:noFill/>
          <a:ln w="19050">
            <a:solidFill>
              <a:sysClr val="windowText" lastClr="000000"/>
            </a:solidFill>
            <a:round/>
            <a:headEnd type="triangle" w="med" len="med"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</a:endParaRPr>
          </a:p>
        </p:txBody>
      </p:sp>
      <p:sp>
        <p:nvSpPr>
          <p:cNvPr id="879" name="Line 102">
            <a:extLst>
              <a:ext uri="{FF2B5EF4-FFF2-40B4-BE49-F238E27FC236}">
                <a16:creationId xmlns:a16="http://schemas.microsoft.com/office/drawing/2014/main" id="{961D3F29-3C22-46D4-AEC8-3FAB4E6F1DFD}"/>
              </a:ext>
            </a:extLst>
          </p:cNvPr>
          <p:cNvSpPr>
            <a:spLocks noChangeShapeType="1"/>
          </p:cNvSpPr>
          <p:nvPr/>
        </p:nvSpPr>
        <p:spPr bwMode="auto">
          <a:xfrm>
            <a:off x="2568795" y="4327887"/>
            <a:ext cx="151960" cy="0"/>
          </a:xfrm>
          <a:prstGeom prst="line">
            <a:avLst/>
          </a:prstGeom>
          <a:noFill/>
          <a:ln w="19050">
            <a:solidFill>
              <a:sysClr val="windowText" lastClr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</a:endParaRPr>
          </a:p>
        </p:txBody>
      </p:sp>
      <p:sp>
        <p:nvSpPr>
          <p:cNvPr id="880" name="Line 103">
            <a:extLst>
              <a:ext uri="{FF2B5EF4-FFF2-40B4-BE49-F238E27FC236}">
                <a16:creationId xmlns:a16="http://schemas.microsoft.com/office/drawing/2014/main" id="{520ABF7E-62AE-47DC-8BB7-214AA7593B2E}"/>
              </a:ext>
            </a:extLst>
          </p:cNvPr>
          <p:cNvSpPr>
            <a:spLocks noChangeShapeType="1"/>
          </p:cNvSpPr>
          <p:nvPr/>
        </p:nvSpPr>
        <p:spPr bwMode="auto">
          <a:xfrm>
            <a:off x="7811410" y="4397327"/>
            <a:ext cx="151609" cy="0"/>
          </a:xfrm>
          <a:prstGeom prst="line">
            <a:avLst/>
          </a:prstGeom>
          <a:noFill/>
          <a:ln w="19050">
            <a:solidFill>
              <a:sysClr val="windowText" lastClr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</a:endParaRPr>
          </a:p>
        </p:txBody>
      </p:sp>
      <p:sp>
        <p:nvSpPr>
          <p:cNvPr id="881" name="Rectangle 104">
            <a:extLst>
              <a:ext uri="{FF2B5EF4-FFF2-40B4-BE49-F238E27FC236}">
                <a16:creationId xmlns:a16="http://schemas.microsoft.com/office/drawing/2014/main" id="{DE2B143E-32BD-47CD-A0A8-786BDE9D32B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416835" y="2939090"/>
            <a:ext cx="151960" cy="2013755"/>
          </a:xfrm>
          <a:prstGeom prst="rect">
            <a:avLst/>
          </a:prstGeom>
          <a:pattFill prst="wdUpDiag">
            <a:fgClr>
              <a:sysClr val="window" lastClr="FFFFFF">
                <a:lumMod val="75000"/>
              </a:sysClr>
            </a:fgClr>
            <a:bgClr>
              <a:sysClr val="window" lastClr="FFFFFF"/>
            </a:bgClr>
          </a:pattFill>
          <a:ln w="19050">
            <a:solidFill>
              <a:sysClr val="windowText" lastClr="000000"/>
            </a:solidFill>
            <a:miter lim="800000"/>
            <a:headEnd/>
            <a:tailEnd/>
          </a:ln>
          <a:effectLst/>
        </p:spPr>
        <p:txBody>
          <a:bodyPr wrap="none" anchor="ctr"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</a:endParaRPr>
          </a:p>
        </p:txBody>
      </p:sp>
      <p:sp>
        <p:nvSpPr>
          <p:cNvPr id="882" name="Rectangle 105">
            <a:extLst>
              <a:ext uri="{FF2B5EF4-FFF2-40B4-BE49-F238E27FC236}">
                <a16:creationId xmlns:a16="http://schemas.microsoft.com/office/drawing/2014/main" id="{449CA0E0-F50A-4902-94E2-7371C193788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68292" y="2939090"/>
            <a:ext cx="158319" cy="3133028"/>
          </a:xfrm>
          <a:prstGeom prst="rect">
            <a:avLst/>
          </a:prstGeom>
          <a:pattFill prst="wdUpDiag">
            <a:fgClr>
              <a:sysClr val="window" lastClr="FFFFFF">
                <a:lumMod val="75000"/>
              </a:sysClr>
            </a:fgClr>
            <a:bgClr>
              <a:sysClr val="window" lastClr="FFFFFF"/>
            </a:bgClr>
          </a:pattFill>
          <a:ln w="19050">
            <a:solidFill>
              <a:sysClr val="windowText" lastClr="000000"/>
            </a:solidFill>
            <a:miter lim="800000"/>
            <a:headEnd/>
            <a:tailEnd/>
          </a:ln>
          <a:effectLst/>
        </p:spPr>
        <p:txBody>
          <a:bodyPr wrap="none" anchor="ctr"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</a:endParaRPr>
          </a:p>
        </p:txBody>
      </p:sp>
      <p:sp>
        <p:nvSpPr>
          <p:cNvPr id="883" name="Line 106">
            <a:extLst>
              <a:ext uri="{FF2B5EF4-FFF2-40B4-BE49-F238E27FC236}">
                <a16:creationId xmlns:a16="http://schemas.microsoft.com/office/drawing/2014/main" id="{2C6335EF-148F-4C3F-B222-9AD1F7250CE1}"/>
              </a:ext>
            </a:extLst>
          </p:cNvPr>
          <p:cNvSpPr>
            <a:spLocks noChangeShapeType="1"/>
          </p:cNvSpPr>
          <p:nvPr/>
        </p:nvSpPr>
        <p:spPr bwMode="auto">
          <a:xfrm>
            <a:off x="2188895" y="3147410"/>
            <a:ext cx="227940" cy="0"/>
          </a:xfrm>
          <a:prstGeom prst="line">
            <a:avLst/>
          </a:prstGeom>
          <a:noFill/>
          <a:ln w="19050">
            <a:solidFill>
              <a:sysClr val="windowText" lastClr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</a:endParaRPr>
          </a:p>
        </p:txBody>
      </p:sp>
      <p:sp>
        <p:nvSpPr>
          <p:cNvPr id="884" name="Line 107">
            <a:extLst>
              <a:ext uri="{FF2B5EF4-FFF2-40B4-BE49-F238E27FC236}">
                <a16:creationId xmlns:a16="http://schemas.microsoft.com/office/drawing/2014/main" id="{948D4F06-F256-4507-9BE9-5550C1AB32CD}"/>
              </a:ext>
            </a:extLst>
          </p:cNvPr>
          <p:cNvSpPr>
            <a:spLocks noChangeShapeType="1"/>
          </p:cNvSpPr>
          <p:nvPr/>
        </p:nvSpPr>
        <p:spPr bwMode="auto">
          <a:xfrm>
            <a:off x="2568795" y="3147410"/>
            <a:ext cx="1899498" cy="0"/>
          </a:xfrm>
          <a:prstGeom prst="line">
            <a:avLst/>
          </a:prstGeom>
          <a:noFill/>
          <a:ln w="19050">
            <a:solidFill>
              <a:sysClr val="windowText" lastClr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</a:endParaRPr>
          </a:p>
        </p:txBody>
      </p:sp>
      <p:sp>
        <p:nvSpPr>
          <p:cNvPr id="885" name="Line 108">
            <a:extLst>
              <a:ext uri="{FF2B5EF4-FFF2-40B4-BE49-F238E27FC236}">
                <a16:creationId xmlns:a16="http://schemas.microsoft.com/office/drawing/2014/main" id="{AEAB32E9-C1C7-4621-B1DE-4EF61A86DFA9}"/>
              </a:ext>
            </a:extLst>
          </p:cNvPr>
          <p:cNvSpPr>
            <a:spLocks noChangeShapeType="1"/>
          </p:cNvSpPr>
          <p:nvPr/>
        </p:nvSpPr>
        <p:spPr bwMode="auto">
          <a:xfrm>
            <a:off x="6040128" y="3355729"/>
            <a:ext cx="99724" cy="0"/>
          </a:xfrm>
          <a:prstGeom prst="line">
            <a:avLst/>
          </a:prstGeom>
          <a:noFill/>
          <a:ln w="19050">
            <a:solidFill>
              <a:sysClr val="windowText" lastClr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</a:endParaRPr>
          </a:p>
        </p:txBody>
      </p:sp>
      <p:sp>
        <p:nvSpPr>
          <p:cNvPr id="886" name="Line 109">
            <a:extLst>
              <a:ext uri="{FF2B5EF4-FFF2-40B4-BE49-F238E27FC236}">
                <a16:creationId xmlns:a16="http://schemas.microsoft.com/office/drawing/2014/main" id="{986CE9FD-F0AC-4E94-BA82-EB913A4C23E1}"/>
              </a:ext>
            </a:extLst>
          </p:cNvPr>
          <p:cNvSpPr>
            <a:spLocks noChangeShapeType="1"/>
          </p:cNvSpPr>
          <p:nvPr/>
        </p:nvSpPr>
        <p:spPr bwMode="auto">
          <a:xfrm>
            <a:off x="4620253" y="5438924"/>
            <a:ext cx="107510" cy="0"/>
          </a:xfrm>
          <a:prstGeom prst="line">
            <a:avLst/>
          </a:prstGeom>
          <a:noFill/>
          <a:ln w="19050">
            <a:solidFill>
              <a:sysClr val="windowText" lastClr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</a:endParaRPr>
          </a:p>
        </p:txBody>
      </p:sp>
      <p:sp>
        <p:nvSpPr>
          <p:cNvPr id="887" name="Line 110">
            <a:extLst>
              <a:ext uri="{FF2B5EF4-FFF2-40B4-BE49-F238E27FC236}">
                <a16:creationId xmlns:a16="http://schemas.microsoft.com/office/drawing/2014/main" id="{08221F25-B7F8-4C8B-A6BE-8788F04C3022}"/>
              </a:ext>
            </a:extLst>
          </p:cNvPr>
          <p:cNvSpPr>
            <a:spLocks noChangeShapeType="1"/>
          </p:cNvSpPr>
          <p:nvPr/>
        </p:nvSpPr>
        <p:spPr bwMode="auto">
          <a:xfrm>
            <a:off x="4848193" y="4605646"/>
            <a:ext cx="0" cy="833278"/>
          </a:xfrm>
          <a:prstGeom prst="line">
            <a:avLst/>
          </a:prstGeom>
          <a:noFill/>
          <a:ln w="19050">
            <a:solidFill>
              <a:sysClr val="windowText" lastClr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</a:endParaRPr>
          </a:p>
        </p:txBody>
      </p:sp>
      <p:sp>
        <p:nvSpPr>
          <p:cNvPr id="888" name="Line 111">
            <a:extLst>
              <a:ext uri="{FF2B5EF4-FFF2-40B4-BE49-F238E27FC236}">
                <a16:creationId xmlns:a16="http://schemas.microsoft.com/office/drawing/2014/main" id="{5466104A-45EB-4AFA-AB7B-EEF2C6E0E612}"/>
              </a:ext>
            </a:extLst>
          </p:cNvPr>
          <p:cNvSpPr>
            <a:spLocks noChangeShapeType="1"/>
          </p:cNvSpPr>
          <p:nvPr/>
        </p:nvSpPr>
        <p:spPr bwMode="auto">
          <a:xfrm>
            <a:off x="4848193" y="5438924"/>
            <a:ext cx="1291659" cy="0"/>
          </a:xfrm>
          <a:prstGeom prst="line">
            <a:avLst/>
          </a:prstGeom>
          <a:noFill/>
          <a:ln w="19050">
            <a:solidFill>
              <a:sysClr val="windowText" lastClr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</a:endParaRPr>
          </a:p>
        </p:txBody>
      </p:sp>
      <p:sp>
        <p:nvSpPr>
          <p:cNvPr id="889" name="Rectangle 112">
            <a:extLst>
              <a:ext uri="{FF2B5EF4-FFF2-40B4-BE49-F238E27FC236}">
                <a16:creationId xmlns:a16="http://schemas.microsoft.com/office/drawing/2014/main" id="{81DD3D33-FBCF-45DB-AD02-9D7A8DAA7C79}"/>
              </a:ext>
            </a:extLst>
          </p:cNvPr>
          <p:cNvSpPr>
            <a:spLocks noChangeArrowheads="1"/>
          </p:cNvSpPr>
          <p:nvPr/>
        </p:nvSpPr>
        <p:spPr bwMode="auto">
          <a:xfrm>
            <a:off x="7963370" y="3494609"/>
            <a:ext cx="151960" cy="2360954"/>
          </a:xfrm>
          <a:prstGeom prst="rect">
            <a:avLst/>
          </a:prstGeom>
          <a:pattFill prst="wdUpDiag">
            <a:fgClr>
              <a:sysClr val="window" lastClr="FFFFFF">
                <a:lumMod val="75000"/>
              </a:sysClr>
            </a:fgClr>
            <a:bgClr>
              <a:sysClr val="window" lastClr="FFFFFF"/>
            </a:bgClr>
          </a:pattFill>
          <a:ln w="19050">
            <a:solidFill>
              <a:sysClr val="windowText" lastClr="000000"/>
            </a:solidFill>
            <a:miter lim="800000"/>
            <a:headEnd/>
            <a:tailEnd/>
          </a:ln>
          <a:effectLst/>
        </p:spPr>
        <p:txBody>
          <a:bodyPr wrap="none" anchor="ctr"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</a:endParaRPr>
          </a:p>
        </p:txBody>
      </p:sp>
      <p:sp>
        <p:nvSpPr>
          <p:cNvPr id="890" name="Line 113">
            <a:extLst>
              <a:ext uri="{FF2B5EF4-FFF2-40B4-BE49-F238E27FC236}">
                <a16:creationId xmlns:a16="http://schemas.microsoft.com/office/drawing/2014/main" id="{9AF5C553-F767-477C-BAA0-111FCCE44B89}"/>
              </a:ext>
            </a:extLst>
          </p:cNvPr>
          <p:cNvSpPr>
            <a:spLocks noChangeShapeType="1"/>
          </p:cNvSpPr>
          <p:nvPr/>
        </p:nvSpPr>
        <p:spPr bwMode="auto">
          <a:xfrm>
            <a:off x="6367791" y="5438924"/>
            <a:ext cx="1595579" cy="0"/>
          </a:xfrm>
          <a:prstGeom prst="line">
            <a:avLst/>
          </a:prstGeom>
          <a:noFill/>
          <a:ln w="19050">
            <a:solidFill>
              <a:sysClr val="windowText" lastClr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</a:endParaRPr>
          </a:p>
        </p:txBody>
      </p:sp>
      <p:sp>
        <p:nvSpPr>
          <p:cNvPr id="891" name="Line 114">
            <a:extLst>
              <a:ext uri="{FF2B5EF4-FFF2-40B4-BE49-F238E27FC236}">
                <a16:creationId xmlns:a16="http://schemas.microsoft.com/office/drawing/2014/main" id="{2E51352F-BBDB-47EF-8D92-C1BB2F7A46F4}"/>
              </a:ext>
            </a:extLst>
          </p:cNvPr>
          <p:cNvSpPr>
            <a:spLocks noChangeShapeType="1"/>
          </p:cNvSpPr>
          <p:nvPr/>
        </p:nvSpPr>
        <p:spPr bwMode="auto">
          <a:xfrm>
            <a:off x="8115330" y="4397327"/>
            <a:ext cx="227940" cy="1447"/>
          </a:xfrm>
          <a:prstGeom prst="line">
            <a:avLst/>
          </a:prstGeom>
          <a:noFill/>
          <a:ln w="19050">
            <a:solidFill>
              <a:sysClr val="windowText" lastClr="00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</a:endParaRPr>
          </a:p>
        </p:txBody>
      </p:sp>
      <p:sp>
        <p:nvSpPr>
          <p:cNvPr id="892" name="Line 115">
            <a:extLst>
              <a:ext uri="{FF2B5EF4-FFF2-40B4-BE49-F238E27FC236}">
                <a16:creationId xmlns:a16="http://schemas.microsoft.com/office/drawing/2014/main" id="{3CC553C1-200A-4153-8838-3D8FE1B10229}"/>
              </a:ext>
            </a:extLst>
          </p:cNvPr>
          <p:cNvSpPr>
            <a:spLocks noChangeShapeType="1"/>
          </p:cNvSpPr>
          <p:nvPr/>
        </p:nvSpPr>
        <p:spPr bwMode="auto">
          <a:xfrm>
            <a:off x="8723169" y="4536206"/>
            <a:ext cx="0" cy="1802883"/>
          </a:xfrm>
          <a:prstGeom prst="line">
            <a:avLst/>
          </a:prstGeom>
          <a:noFill/>
          <a:ln w="19050">
            <a:solidFill>
              <a:sysClr val="windowText" lastClr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</a:endParaRPr>
          </a:p>
        </p:txBody>
      </p:sp>
      <p:sp>
        <p:nvSpPr>
          <p:cNvPr id="893" name="Line 116">
            <a:extLst>
              <a:ext uri="{FF2B5EF4-FFF2-40B4-BE49-F238E27FC236}">
                <a16:creationId xmlns:a16="http://schemas.microsoft.com/office/drawing/2014/main" id="{D30B0492-A591-404A-8C69-48F101AA4154}"/>
              </a:ext>
            </a:extLst>
          </p:cNvPr>
          <p:cNvSpPr>
            <a:spLocks noChangeShapeType="1"/>
          </p:cNvSpPr>
          <p:nvPr/>
        </p:nvSpPr>
        <p:spPr bwMode="auto">
          <a:xfrm>
            <a:off x="6519751" y="1966933"/>
            <a:ext cx="0" cy="1388797"/>
          </a:xfrm>
          <a:prstGeom prst="line">
            <a:avLst/>
          </a:prstGeom>
          <a:noFill/>
          <a:ln w="19050">
            <a:solidFill>
              <a:sysClr val="windowText" lastClr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</a:endParaRPr>
          </a:p>
        </p:txBody>
      </p:sp>
      <p:sp>
        <p:nvSpPr>
          <p:cNvPr id="894" name="Line 117">
            <a:extLst>
              <a:ext uri="{FF2B5EF4-FFF2-40B4-BE49-F238E27FC236}">
                <a16:creationId xmlns:a16="http://schemas.microsoft.com/office/drawing/2014/main" id="{2A8CBBE0-A2CB-4257-A5A3-B27BF8F35B9A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139851" y="4744526"/>
            <a:ext cx="151960" cy="694398"/>
          </a:xfrm>
          <a:prstGeom prst="line">
            <a:avLst/>
          </a:prstGeom>
          <a:noFill/>
          <a:ln w="28575" cap="rnd">
            <a:solidFill>
              <a:srgbClr val="ED7D31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</a:endParaRPr>
          </a:p>
        </p:txBody>
      </p:sp>
      <p:sp>
        <p:nvSpPr>
          <p:cNvPr id="895" name="Line 118">
            <a:extLst>
              <a:ext uri="{FF2B5EF4-FFF2-40B4-BE49-F238E27FC236}">
                <a16:creationId xmlns:a16="http://schemas.microsoft.com/office/drawing/2014/main" id="{8C01B846-A1AA-44CD-A4C3-71B975A1A447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963370" y="4744526"/>
            <a:ext cx="151960" cy="694398"/>
          </a:xfrm>
          <a:prstGeom prst="line">
            <a:avLst/>
          </a:prstGeom>
          <a:noFill/>
          <a:ln w="28575" cap="rnd">
            <a:solidFill>
              <a:sysClr val="windowText" lastClr="000000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</a:endParaRPr>
          </a:p>
        </p:txBody>
      </p:sp>
      <p:sp>
        <p:nvSpPr>
          <p:cNvPr id="896" name="Text Box 119">
            <a:extLst>
              <a:ext uri="{FF2B5EF4-FFF2-40B4-BE49-F238E27FC236}">
                <a16:creationId xmlns:a16="http://schemas.microsoft.com/office/drawing/2014/main" id="{9FCBA05A-755F-4161-99DF-34FE0DE738B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64875" y="2661331"/>
            <a:ext cx="519664" cy="27698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1425" tIns="45713" rIns="91425" bIns="45713">
            <a:spAutoFit/>
          </a:bodyPr>
          <a:lstStyle>
            <a:lvl1pPr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1pPr>
            <a:lvl2pPr marL="742950" indent="-28575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2pPr>
            <a:lvl3pPr marL="11430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3pPr>
            <a:lvl4pPr marL="16002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4pPr>
            <a:lvl5pPr marL="20574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9pPr>
          </a:lstStyle>
          <a:p>
            <a:pPr fontAlgn="auto">
              <a:spcBef>
                <a:spcPts val="0"/>
              </a:spcBef>
              <a:spcAft>
                <a:spcPts val="0"/>
              </a:spcAft>
            </a:pPr>
            <a:r>
              <a:rPr lang="en-US" altLang="zh-CN" sz="1200" b="0" dirty="0">
                <a:solidFill>
                  <a:prstClr val="black"/>
                </a:solidFill>
                <a:latin typeface="Arial" pitchFamily="34" charset="0"/>
                <a:ea typeface="SimHei" panose="02010609060101010101" pitchFamily="49" charset="-122"/>
              </a:rPr>
              <a:t>IF/ID</a:t>
            </a:r>
          </a:p>
        </p:txBody>
      </p:sp>
      <p:sp>
        <p:nvSpPr>
          <p:cNvPr id="897" name="Line 120">
            <a:extLst>
              <a:ext uri="{FF2B5EF4-FFF2-40B4-BE49-F238E27FC236}">
                <a16:creationId xmlns:a16="http://schemas.microsoft.com/office/drawing/2014/main" id="{FCAA2DB6-89EC-4FC8-B039-36B03E5B04B8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727763" y="3564049"/>
            <a:ext cx="0" cy="1388797"/>
          </a:xfrm>
          <a:prstGeom prst="line">
            <a:avLst/>
          </a:prstGeom>
          <a:noFill/>
          <a:ln w="19050">
            <a:solidFill>
              <a:sysClr val="windowText" lastClr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</a:endParaRPr>
          </a:p>
        </p:txBody>
      </p:sp>
      <p:sp>
        <p:nvSpPr>
          <p:cNvPr id="898" name="Line 121">
            <a:extLst>
              <a:ext uri="{FF2B5EF4-FFF2-40B4-BE49-F238E27FC236}">
                <a16:creationId xmlns:a16="http://schemas.microsoft.com/office/drawing/2014/main" id="{99EB2A4E-C97F-4A7B-8DDC-1A0A96DDF364}"/>
              </a:ext>
            </a:extLst>
          </p:cNvPr>
          <p:cNvSpPr>
            <a:spLocks noChangeShapeType="1"/>
          </p:cNvSpPr>
          <p:nvPr/>
        </p:nvSpPr>
        <p:spPr bwMode="auto">
          <a:xfrm>
            <a:off x="3897883" y="5438924"/>
            <a:ext cx="570411" cy="0"/>
          </a:xfrm>
          <a:prstGeom prst="line">
            <a:avLst/>
          </a:prstGeom>
          <a:noFill/>
          <a:ln w="19050">
            <a:solidFill>
              <a:sysClr val="windowText" lastClr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</a:endParaRPr>
          </a:p>
        </p:txBody>
      </p:sp>
      <p:sp>
        <p:nvSpPr>
          <p:cNvPr id="899" name="Line 122">
            <a:extLst>
              <a:ext uri="{FF2B5EF4-FFF2-40B4-BE49-F238E27FC236}">
                <a16:creationId xmlns:a16="http://schemas.microsoft.com/office/drawing/2014/main" id="{C8321257-3D2D-4074-930C-7A0E47DE20AE}"/>
              </a:ext>
            </a:extLst>
          </p:cNvPr>
          <p:cNvSpPr>
            <a:spLocks noChangeShapeType="1"/>
          </p:cNvSpPr>
          <p:nvPr/>
        </p:nvSpPr>
        <p:spPr bwMode="auto">
          <a:xfrm>
            <a:off x="4620253" y="3147410"/>
            <a:ext cx="1063719" cy="0"/>
          </a:xfrm>
          <a:prstGeom prst="line">
            <a:avLst/>
          </a:prstGeom>
          <a:noFill/>
          <a:ln w="19050">
            <a:solidFill>
              <a:sysClr val="windowText" lastClr="00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</a:endParaRPr>
          </a:p>
        </p:txBody>
      </p:sp>
      <p:sp>
        <p:nvSpPr>
          <p:cNvPr id="900" name="Line 123">
            <a:extLst>
              <a:ext uri="{FF2B5EF4-FFF2-40B4-BE49-F238E27FC236}">
                <a16:creationId xmlns:a16="http://schemas.microsoft.com/office/drawing/2014/main" id="{15E1D6E1-067F-4E25-8E72-7EBCD0CBAF23}"/>
              </a:ext>
            </a:extLst>
          </p:cNvPr>
          <p:cNvSpPr>
            <a:spLocks noChangeShapeType="1"/>
          </p:cNvSpPr>
          <p:nvPr/>
        </p:nvSpPr>
        <p:spPr bwMode="auto">
          <a:xfrm>
            <a:off x="2188895" y="2244692"/>
            <a:ext cx="0" cy="902718"/>
          </a:xfrm>
          <a:prstGeom prst="line">
            <a:avLst/>
          </a:prstGeom>
          <a:noFill/>
          <a:ln w="19050">
            <a:solidFill>
              <a:sysClr val="windowText" lastClr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</a:endParaRPr>
          </a:p>
        </p:txBody>
      </p:sp>
      <p:sp>
        <p:nvSpPr>
          <p:cNvPr id="901" name="Line 124">
            <a:extLst>
              <a:ext uri="{FF2B5EF4-FFF2-40B4-BE49-F238E27FC236}">
                <a16:creationId xmlns:a16="http://schemas.microsoft.com/office/drawing/2014/main" id="{D5281E9E-7BE4-4DDF-9698-F51D5FB76ADA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911912" y="3660298"/>
            <a:ext cx="0" cy="389829"/>
          </a:xfrm>
          <a:prstGeom prst="line">
            <a:avLst/>
          </a:prstGeom>
          <a:noFill/>
          <a:ln w="19050">
            <a:solidFill>
              <a:sysClr val="windowText" lastClr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</a:endParaRPr>
          </a:p>
        </p:txBody>
      </p:sp>
      <p:sp>
        <p:nvSpPr>
          <p:cNvPr id="902" name="Line 125">
            <a:extLst>
              <a:ext uri="{FF2B5EF4-FFF2-40B4-BE49-F238E27FC236}">
                <a16:creationId xmlns:a16="http://schemas.microsoft.com/office/drawing/2014/main" id="{AFAB45EA-97FA-4C6F-A51C-DD61645C75AE}"/>
              </a:ext>
            </a:extLst>
          </p:cNvPr>
          <p:cNvSpPr>
            <a:spLocks noChangeShapeType="1"/>
          </p:cNvSpPr>
          <p:nvPr/>
        </p:nvSpPr>
        <p:spPr bwMode="auto">
          <a:xfrm>
            <a:off x="745277" y="2869651"/>
            <a:ext cx="0" cy="1458237"/>
          </a:xfrm>
          <a:prstGeom prst="line">
            <a:avLst/>
          </a:prstGeom>
          <a:noFill/>
          <a:ln w="19050">
            <a:solidFill>
              <a:sysClr val="windowText" lastClr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</a:endParaRPr>
          </a:p>
        </p:txBody>
      </p:sp>
      <p:sp>
        <p:nvSpPr>
          <p:cNvPr id="903" name="Rectangle 126">
            <a:extLst>
              <a:ext uri="{FF2B5EF4-FFF2-40B4-BE49-F238E27FC236}">
                <a16:creationId xmlns:a16="http://schemas.microsoft.com/office/drawing/2014/main" id="{9C5C7F2B-BC8C-4933-AB16-44C1A36E1B9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9851" y="2939090"/>
            <a:ext cx="151960" cy="2916473"/>
          </a:xfrm>
          <a:prstGeom prst="rect">
            <a:avLst/>
          </a:prstGeom>
          <a:pattFill prst="wdUpDiag">
            <a:fgClr>
              <a:sysClr val="window" lastClr="FFFFFF">
                <a:lumMod val="75000"/>
              </a:sysClr>
            </a:fgClr>
            <a:bgClr>
              <a:sysClr val="window" lastClr="FFFFFF"/>
            </a:bgClr>
          </a:pattFill>
          <a:ln w="19050">
            <a:solidFill>
              <a:sysClr val="windowText" lastClr="000000"/>
            </a:solidFill>
            <a:miter lim="800000"/>
            <a:headEnd/>
            <a:tailEnd/>
          </a:ln>
          <a:effectLst/>
        </p:spPr>
        <p:txBody>
          <a:bodyPr wrap="none" anchor="ctr"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</a:endParaRPr>
          </a:p>
        </p:txBody>
      </p:sp>
      <p:sp>
        <p:nvSpPr>
          <p:cNvPr id="904" name="Oval 127">
            <a:extLst>
              <a:ext uri="{FF2B5EF4-FFF2-40B4-BE49-F238E27FC236}">
                <a16:creationId xmlns:a16="http://schemas.microsoft.com/office/drawing/2014/main" id="{AB6E6292-5A89-444F-8393-7DACBC00709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00654" y="5230605"/>
            <a:ext cx="810453" cy="416639"/>
          </a:xfrm>
          <a:prstGeom prst="ellipse">
            <a:avLst/>
          </a:prstGeom>
          <a:solidFill>
            <a:sysClr val="window" lastClr="FFFFFF"/>
          </a:solidFill>
          <a:ln w="19050">
            <a:solidFill>
              <a:sysClr val="windowText" lastClr="00000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</a:endParaRPr>
          </a:p>
        </p:txBody>
      </p:sp>
      <p:sp>
        <p:nvSpPr>
          <p:cNvPr id="905" name="Rectangle 128">
            <a:extLst>
              <a:ext uri="{FF2B5EF4-FFF2-40B4-BE49-F238E27FC236}">
                <a16:creationId xmlns:a16="http://schemas.microsoft.com/office/drawing/2014/main" id="{68DA0863-90DE-4A52-B07B-28D3EE6F9E5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52614" y="5230605"/>
            <a:ext cx="531860" cy="41663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19047" tIns="26984" rIns="19047" bIns="26984"/>
          <a:lstStyle/>
          <a:p>
            <a:pPr algn="ctr" eaLnBrk="0" fontAlgn="auto" hangingPunct="0">
              <a:spcBef>
                <a:spcPts val="0"/>
              </a:spcBef>
              <a:spcAft>
                <a:spcPts val="0"/>
              </a:spcAft>
            </a:pPr>
            <a:r>
              <a:rPr lang="en-US" altLang="zh-CN" sz="1200" dirty="0" err="1">
                <a:solidFill>
                  <a:srgbClr val="000000"/>
                </a:solidFill>
                <a:latin typeface="Arial" pitchFamily="34" charset="0"/>
                <a:ea typeface="等线" panose="02010600030101010101" pitchFamily="2" charset="-122"/>
              </a:rPr>
              <a:t>Imm</a:t>
            </a:r>
            <a:endParaRPr lang="en-US" altLang="zh-CN" sz="1200" dirty="0">
              <a:solidFill>
                <a:srgbClr val="000000"/>
              </a:solidFill>
              <a:latin typeface="Arial" pitchFamily="34" charset="0"/>
              <a:ea typeface="等线" panose="02010600030101010101" pitchFamily="2" charset="-122"/>
            </a:endParaRPr>
          </a:p>
          <a:p>
            <a:pPr algn="ctr" eaLnBrk="0" fontAlgn="auto" hangingPunct="0">
              <a:spcBef>
                <a:spcPts val="0"/>
              </a:spcBef>
              <a:spcAft>
                <a:spcPts val="0"/>
              </a:spcAft>
            </a:pPr>
            <a:r>
              <a:rPr lang="en-US" altLang="zh-CN" sz="1200" dirty="0">
                <a:solidFill>
                  <a:srgbClr val="000000"/>
                </a:solidFill>
                <a:latin typeface="Arial" pitchFamily="34" charset="0"/>
                <a:ea typeface="等线" panose="02010600030101010101" pitchFamily="2" charset="-122"/>
              </a:rPr>
              <a:t>Extend</a:t>
            </a:r>
          </a:p>
        </p:txBody>
      </p:sp>
      <p:sp>
        <p:nvSpPr>
          <p:cNvPr id="906" name="Line 129">
            <a:extLst>
              <a:ext uri="{FF2B5EF4-FFF2-40B4-BE49-F238E27FC236}">
                <a16:creationId xmlns:a16="http://schemas.microsoft.com/office/drawing/2014/main" id="{F2A17A3F-7493-4695-B90D-F9DF1E7452BA}"/>
              </a:ext>
            </a:extLst>
          </p:cNvPr>
          <p:cNvSpPr>
            <a:spLocks noChangeShapeType="1"/>
          </p:cNvSpPr>
          <p:nvPr/>
        </p:nvSpPr>
        <p:spPr bwMode="auto">
          <a:xfrm>
            <a:off x="6291811" y="3355729"/>
            <a:ext cx="227940" cy="0"/>
          </a:xfrm>
          <a:prstGeom prst="line">
            <a:avLst/>
          </a:prstGeom>
          <a:noFill/>
          <a:ln w="19050">
            <a:solidFill>
              <a:sysClr val="windowText" lastClr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</a:endParaRPr>
          </a:p>
        </p:txBody>
      </p:sp>
      <p:sp>
        <p:nvSpPr>
          <p:cNvPr id="907" name="Line 130">
            <a:extLst>
              <a:ext uri="{FF2B5EF4-FFF2-40B4-BE49-F238E27FC236}">
                <a16:creationId xmlns:a16="http://schemas.microsoft.com/office/drawing/2014/main" id="{BAC57856-FB9C-4A77-9B29-ECBAC1155A16}"/>
              </a:ext>
            </a:extLst>
          </p:cNvPr>
          <p:cNvSpPr>
            <a:spLocks noChangeShapeType="1"/>
          </p:cNvSpPr>
          <p:nvPr/>
        </p:nvSpPr>
        <p:spPr bwMode="auto">
          <a:xfrm>
            <a:off x="5911912" y="3660299"/>
            <a:ext cx="227940" cy="0"/>
          </a:xfrm>
          <a:prstGeom prst="line">
            <a:avLst/>
          </a:prstGeom>
          <a:noFill/>
          <a:ln w="19050">
            <a:solidFill>
              <a:sysClr val="windowText" lastClr="00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</a:endParaRPr>
          </a:p>
        </p:txBody>
      </p:sp>
      <p:sp>
        <p:nvSpPr>
          <p:cNvPr id="908" name="Line 131">
            <a:extLst>
              <a:ext uri="{FF2B5EF4-FFF2-40B4-BE49-F238E27FC236}">
                <a16:creationId xmlns:a16="http://schemas.microsoft.com/office/drawing/2014/main" id="{4C8BBCD6-E2AC-4B32-8775-86445D95231F}"/>
              </a:ext>
            </a:extLst>
          </p:cNvPr>
          <p:cNvSpPr>
            <a:spLocks noChangeShapeType="1"/>
          </p:cNvSpPr>
          <p:nvPr/>
        </p:nvSpPr>
        <p:spPr bwMode="auto">
          <a:xfrm>
            <a:off x="6291810" y="3660299"/>
            <a:ext cx="713024" cy="0"/>
          </a:xfrm>
          <a:prstGeom prst="line">
            <a:avLst/>
          </a:prstGeom>
          <a:noFill/>
          <a:ln w="19050">
            <a:solidFill>
              <a:sysClr val="windowText" lastClr="000000"/>
            </a:solidFill>
            <a:round/>
            <a:headEnd type="none" w="med" len="med"/>
            <a:tailEnd type="non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</a:endParaRPr>
          </a:p>
        </p:txBody>
      </p:sp>
      <p:sp>
        <p:nvSpPr>
          <p:cNvPr id="909" name="Line 132">
            <a:extLst>
              <a:ext uri="{FF2B5EF4-FFF2-40B4-BE49-F238E27FC236}">
                <a16:creationId xmlns:a16="http://schemas.microsoft.com/office/drawing/2014/main" id="{23C2F60C-6E4B-4436-A1FA-8AB20B31A4AB}"/>
              </a:ext>
            </a:extLst>
          </p:cNvPr>
          <p:cNvSpPr>
            <a:spLocks noChangeShapeType="1"/>
          </p:cNvSpPr>
          <p:nvPr/>
        </p:nvSpPr>
        <p:spPr bwMode="auto">
          <a:xfrm>
            <a:off x="6367791" y="4397327"/>
            <a:ext cx="0" cy="1041598"/>
          </a:xfrm>
          <a:prstGeom prst="line">
            <a:avLst/>
          </a:prstGeom>
          <a:noFill/>
          <a:ln w="19050">
            <a:solidFill>
              <a:sysClr val="windowText" lastClr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</a:endParaRPr>
          </a:p>
        </p:txBody>
      </p:sp>
      <p:sp>
        <p:nvSpPr>
          <p:cNvPr id="910" name="Text Box 133">
            <a:extLst>
              <a:ext uri="{FF2B5EF4-FFF2-40B4-BE49-F238E27FC236}">
                <a16:creationId xmlns:a16="http://schemas.microsoft.com/office/drawing/2014/main" id="{3335D0C7-44FD-455A-BE64-10E2B067F42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40353" y="2105812"/>
            <a:ext cx="586990" cy="27698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1425" tIns="45713" rIns="91425" bIns="45713">
            <a:spAutoFit/>
          </a:bodyPr>
          <a:lstStyle>
            <a:lvl1pPr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1pPr>
            <a:lvl2pPr marL="742950" indent="-28575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2pPr>
            <a:lvl3pPr marL="11430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3pPr>
            <a:lvl4pPr marL="16002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4pPr>
            <a:lvl5pPr marL="20574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9pPr>
          </a:lstStyle>
          <a:p>
            <a:pPr fontAlgn="auto">
              <a:spcBef>
                <a:spcPts val="0"/>
              </a:spcBef>
              <a:spcAft>
                <a:spcPts val="0"/>
              </a:spcAft>
            </a:pPr>
            <a:r>
              <a:rPr lang="en-US" altLang="zh-CN" sz="1200" b="0" dirty="0">
                <a:solidFill>
                  <a:prstClr val="black"/>
                </a:solidFill>
                <a:latin typeface="Arial" pitchFamily="34" charset="0"/>
                <a:ea typeface="SimHei" panose="02010609060101010101" pitchFamily="49" charset="-122"/>
              </a:rPr>
              <a:t>ID/EX</a:t>
            </a:r>
          </a:p>
        </p:txBody>
      </p:sp>
      <p:sp>
        <p:nvSpPr>
          <p:cNvPr id="911" name="Text Box 134">
            <a:extLst>
              <a:ext uri="{FF2B5EF4-FFF2-40B4-BE49-F238E27FC236}">
                <a16:creationId xmlns:a16="http://schemas.microsoft.com/office/drawing/2014/main" id="{7269087C-14D8-459B-8621-919A1D894A5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759952" y="2272179"/>
            <a:ext cx="792174" cy="27698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1425" tIns="45713" rIns="91425" bIns="45713">
            <a:spAutoFit/>
          </a:bodyPr>
          <a:lstStyle>
            <a:lvl1pPr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1pPr>
            <a:lvl2pPr marL="742950" indent="-28575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2pPr>
            <a:lvl3pPr marL="11430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3pPr>
            <a:lvl4pPr marL="16002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4pPr>
            <a:lvl5pPr marL="20574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9pPr>
          </a:lstStyle>
          <a:p>
            <a:pPr fontAlgn="auto">
              <a:spcBef>
                <a:spcPts val="0"/>
              </a:spcBef>
              <a:spcAft>
                <a:spcPts val="0"/>
              </a:spcAft>
            </a:pPr>
            <a:r>
              <a:rPr lang="en-US" altLang="zh-CN" sz="1200" b="0" dirty="0">
                <a:solidFill>
                  <a:prstClr val="black"/>
                </a:solidFill>
                <a:latin typeface="Arial" pitchFamily="34" charset="0"/>
                <a:ea typeface="SimHei" panose="02010609060101010101" pitchFamily="49" charset="-122"/>
              </a:rPr>
              <a:t>EX/MEM</a:t>
            </a:r>
          </a:p>
        </p:txBody>
      </p:sp>
      <p:sp>
        <p:nvSpPr>
          <p:cNvPr id="912" name="Text Box 135">
            <a:extLst>
              <a:ext uri="{FF2B5EF4-FFF2-40B4-BE49-F238E27FC236}">
                <a16:creationId xmlns:a16="http://schemas.microsoft.com/office/drawing/2014/main" id="{96DD596A-A933-4BF3-94F1-177BD61F529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59450" y="3017210"/>
            <a:ext cx="843470" cy="27698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1425" tIns="45713" rIns="91425" bIns="45713">
            <a:spAutoFit/>
          </a:bodyPr>
          <a:lstStyle>
            <a:lvl1pPr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1pPr>
            <a:lvl2pPr marL="742950" indent="-28575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2pPr>
            <a:lvl3pPr marL="11430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3pPr>
            <a:lvl4pPr marL="16002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4pPr>
            <a:lvl5pPr marL="20574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9pPr>
          </a:lstStyle>
          <a:p>
            <a:pPr fontAlgn="auto">
              <a:spcBef>
                <a:spcPts val="0"/>
              </a:spcBef>
              <a:spcAft>
                <a:spcPts val="0"/>
              </a:spcAft>
            </a:pPr>
            <a:r>
              <a:rPr lang="en-US" altLang="zh-CN" sz="1200" b="0" dirty="0">
                <a:solidFill>
                  <a:prstClr val="black"/>
                </a:solidFill>
                <a:latin typeface="Arial" pitchFamily="34" charset="0"/>
                <a:ea typeface="SimHei" panose="02010609060101010101" pitchFamily="49" charset="-122"/>
              </a:rPr>
              <a:t>MEM/WB</a:t>
            </a:r>
          </a:p>
        </p:txBody>
      </p:sp>
      <p:sp>
        <p:nvSpPr>
          <p:cNvPr id="913" name="Rectangle 137">
            <a:extLst>
              <a:ext uri="{FF2B5EF4-FFF2-40B4-BE49-F238E27FC236}">
                <a16:creationId xmlns:a16="http://schemas.microsoft.com/office/drawing/2014/main" id="{A82AB398-5C26-4F1A-8A80-545B00617CD7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71411" y="2727405"/>
            <a:ext cx="151968" cy="208332"/>
          </a:xfrm>
          <a:prstGeom prst="rect">
            <a:avLst/>
          </a:prstGeom>
          <a:pattFill prst="wdUpDiag">
            <a:fgClr>
              <a:srgbClr val="70AD47">
                <a:lumMod val="40000"/>
                <a:lumOff val="60000"/>
              </a:srgbClr>
            </a:fgClr>
            <a:bgClr>
              <a:sysClr val="window" lastClr="FFFFFF"/>
            </a:bgClr>
          </a:pattFill>
          <a:ln w="19050">
            <a:solidFill>
              <a:srgbClr val="00B050"/>
            </a:solidFill>
            <a:miter lim="800000"/>
            <a:headEnd/>
            <a:tailEnd/>
          </a:ln>
          <a:effectLst/>
        </p:spPr>
        <p:txBody>
          <a:bodyPr wrap="none" anchor="ctr"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</a:endParaRPr>
          </a:p>
        </p:txBody>
      </p:sp>
      <p:sp>
        <p:nvSpPr>
          <p:cNvPr id="914" name="Rectangle 138">
            <a:extLst>
              <a:ext uri="{FF2B5EF4-FFF2-40B4-BE49-F238E27FC236}">
                <a16:creationId xmlns:a16="http://schemas.microsoft.com/office/drawing/2014/main" id="{1E30C0F6-8E7F-4D8C-A546-A0B0FB4F1BA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71411" y="2519072"/>
            <a:ext cx="151968" cy="208332"/>
          </a:xfrm>
          <a:prstGeom prst="rect">
            <a:avLst/>
          </a:prstGeom>
          <a:pattFill prst="wdUpDiag">
            <a:fgClr>
              <a:srgbClr val="70AD47">
                <a:lumMod val="40000"/>
                <a:lumOff val="60000"/>
              </a:srgbClr>
            </a:fgClr>
            <a:bgClr>
              <a:sysClr val="window" lastClr="FFFFFF"/>
            </a:bgClr>
          </a:pattFill>
          <a:ln w="19050">
            <a:solidFill>
              <a:srgbClr val="00B050"/>
            </a:solidFill>
            <a:miter lim="800000"/>
            <a:headEnd/>
            <a:tailEnd/>
          </a:ln>
          <a:effectLst/>
        </p:spPr>
        <p:txBody>
          <a:bodyPr wrap="none" anchor="ctr"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</a:endParaRPr>
          </a:p>
        </p:txBody>
      </p:sp>
      <p:sp>
        <p:nvSpPr>
          <p:cNvPr id="915" name="Rectangle 139">
            <a:extLst>
              <a:ext uri="{FF2B5EF4-FFF2-40B4-BE49-F238E27FC236}">
                <a16:creationId xmlns:a16="http://schemas.microsoft.com/office/drawing/2014/main" id="{D5D61193-3F91-4F55-AA4B-8B22472DC3F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71411" y="2310740"/>
            <a:ext cx="151968" cy="208332"/>
          </a:xfrm>
          <a:prstGeom prst="rect">
            <a:avLst/>
          </a:prstGeom>
          <a:pattFill prst="wdUpDiag">
            <a:fgClr>
              <a:srgbClr val="70AD47">
                <a:lumMod val="40000"/>
                <a:lumOff val="60000"/>
              </a:srgbClr>
            </a:fgClr>
            <a:bgClr>
              <a:sysClr val="window" lastClr="FFFFFF"/>
            </a:bgClr>
          </a:pattFill>
          <a:ln w="19050">
            <a:solidFill>
              <a:srgbClr val="00B050"/>
            </a:solidFill>
            <a:miter lim="800000"/>
            <a:headEnd/>
            <a:tailEnd/>
          </a:ln>
          <a:effectLst/>
        </p:spPr>
        <p:txBody>
          <a:bodyPr wrap="none" anchor="ctr"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</a:endParaRPr>
          </a:p>
        </p:txBody>
      </p:sp>
      <p:sp>
        <p:nvSpPr>
          <p:cNvPr id="916" name="Rectangle 140">
            <a:extLst>
              <a:ext uri="{FF2B5EF4-FFF2-40B4-BE49-F238E27FC236}">
                <a16:creationId xmlns:a16="http://schemas.microsoft.com/office/drawing/2014/main" id="{E569697F-F66C-478E-8399-CB20CE17739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9406" y="2722803"/>
            <a:ext cx="151968" cy="208332"/>
          </a:xfrm>
          <a:prstGeom prst="rect">
            <a:avLst/>
          </a:prstGeom>
          <a:pattFill prst="wdUpDiag">
            <a:fgClr>
              <a:srgbClr val="70AD47">
                <a:lumMod val="40000"/>
                <a:lumOff val="60000"/>
              </a:srgbClr>
            </a:fgClr>
            <a:bgClr>
              <a:sysClr val="window" lastClr="FFFFFF"/>
            </a:bgClr>
          </a:pattFill>
          <a:ln w="19050">
            <a:solidFill>
              <a:srgbClr val="00B050"/>
            </a:solidFill>
            <a:miter lim="800000"/>
            <a:headEnd/>
            <a:tailEnd/>
          </a:ln>
          <a:effectLst/>
        </p:spPr>
        <p:txBody>
          <a:bodyPr wrap="none" anchor="ctr"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</a:endParaRPr>
          </a:p>
        </p:txBody>
      </p:sp>
      <p:sp>
        <p:nvSpPr>
          <p:cNvPr id="917" name="Rectangle 141">
            <a:extLst>
              <a:ext uri="{FF2B5EF4-FFF2-40B4-BE49-F238E27FC236}">
                <a16:creationId xmlns:a16="http://schemas.microsoft.com/office/drawing/2014/main" id="{3FAB8287-D6FA-4336-8389-473806378DE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9406" y="2514470"/>
            <a:ext cx="151968" cy="208332"/>
          </a:xfrm>
          <a:prstGeom prst="rect">
            <a:avLst/>
          </a:prstGeom>
          <a:pattFill prst="wdUpDiag">
            <a:fgClr>
              <a:srgbClr val="70AD47">
                <a:lumMod val="40000"/>
                <a:lumOff val="60000"/>
              </a:srgbClr>
            </a:fgClr>
            <a:bgClr>
              <a:sysClr val="window" lastClr="FFFFFF"/>
            </a:bgClr>
          </a:pattFill>
          <a:ln w="19050">
            <a:solidFill>
              <a:srgbClr val="00B050"/>
            </a:solidFill>
            <a:miter lim="800000"/>
            <a:headEnd/>
            <a:tailEnd/>
          </a:ln>
          <a:effectLst/>
        </p:spPr>
        <p:txBody>
          <a:bodyPr wrap="none" anchor="ctr"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</a:endParaRPr>
          </a:p>
        </p:txBody>
      </p:sp>
      <p:sp>
        <p:nvSpPr>
          <p:cNvPr id="918" name="Rectangle 142">
            <a:extLst>
              <a:ext uri="{FF2B5EF4-FFF2-40B4-BE49-F238E27FC236}">
                <a16:creationId xmlns:a16="http://schemas.microsoft.com/office/drawing/2014/main" id="{BC1CE71A-EDE4-4A16-96AF-C401E0E36E3E}"/>
              </a:ext>
            </a:extLst>
          </p:cNvPr>
          <p:cNvSpPr>
            <a:spLocks noChangeArrowheads="1"/>
          </p:cNvSpPr>
          <p:nvPr/>
        </p:nvSpPr>
        <p:spPr bwMode="auto">
          <a:xfrm>
            <a:off x="7963019" y="3278559"/>
            <a:ext cx="151968" cy="208332"/>
          </a:xfrm>
          <a:prstGeom prst="rect">
            <a:avLst/>
          </a:prstGeom>
          <a:pattFill prst="wdUpDiag">
            <a:fgClr>
              <a:srgbClr val="70AD47">
                <a:lumMod val="40000"/>
                <a:lumOff val="60000"/>
              </a:srgbClr>
            </a:fgClr>
            <a:bgClr>
              <a:sysClr val="window" lastClr="FFFFFF"/>
            </a:bgClr>
          </a:pattFill>
          <a:ln w="19050">
            <a:solidFill>
              <a:srgbClr val="00B050"/>
            </a:solidFill>
            <a:miter lim="800000"/>
            <a:headEnd/>
            <a:tailEnd/>
          </a:ln>
          <a:effectLst/>
        </p:spPr>
        <p:txBody>
          <a:bodyPr wrap="none" anchor="ctr"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</a:endParaRPr>
          </a:p>
        </p:txBody>
      </p:sp>
      <p:sp>
        <p:nvSpPr>
          <p:cNvPr id="919" name="Rectangle 143">
            <a:extLst>
              <a:ext uri="{FF2B5EF4-FFF2-40B4-BE49-F238E27FC236}">
                <a16:creationId xmlns:a16="http://schemas.microsoft.com/office/drawing/2014/main" id="{1A38DF20-32E5-482F-B277-1951E3DF7B0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62089" y="2557155"/>
            <a:ext cx="531887" cy="27777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19047" tIns="26984" rIns="19047" bIns="26984"/>
          <a:lstStyle/>
          <a:p>
            <a:pPr algn="ctr" eaLnBrk="0" fontAlgn="auto" hangingPunct="0">
              <a:spcBef>
                <a:spcPts val="0"/>
              </a:spcBef>
              <a:spcAft>
                <a:spcPts val="0"/>
              </a:spcAft>
            </a:pPr>
            <a:r>
              <a:rPr lang="en-US" altLang="zh-CN" sz="1200" dirty="0">
                <a:solidFill>
                  <a:srgbClr val="00B050"/>
                </a:solidFill>
                <a:latin typeface="Arial" pitchFamily="34" charset="0"/>
                <a:ea typeface="等线" panose="02010600030101010101" pitchFamily="2" charset="-122"/>
              </a:rPr>
              <a:t>Control</a:t>
            </a:r>
          </a:p>
        </p:txBody>
      </p:sp>
      <p:sp>
        <p:nvSpPr>
          <p:cNvPr id="920" name="Oval 144">
            <a:extLst>
              <a:ext uri="{FF2B5EF4-FFF2-40B4-BE49-F238E27FC236}">
                <a16:creationId xmlns:a16="http://schemas.microsoft.com/office/drawing/2014/main" id="{79445565-7871-49A5-A6D3-25DE5A69CC5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52020" y="2271417"/>
            <a:ext cx="759839" cy="813075"/>
          </a:xfrm>
          <a:prstGeom prst="ellipse">
            <a:avLst/>
          </a:prstGeom>
          <a:noFill/>
          <a:ln w="19050">
            <a:solidFill>
              <a:srgbClr val="00B05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fontAlgn="auto">
              <a:spcBef>
                <a:spcPts val="0"/>
              </a:spcBef>
              <a:spcAft>
                <a:spcPts val="0"/>
              </a:spcAft>
            </a:pPr>
            <a:endParaRPr lang="zh-CN" altLang="en-US">
              <a:solidFill>
                <a:prstClr val="black"/>
              </a:solidFill>
              <a:latin typeface="等线" panose="020F0502020204030204"/>
              <a:ea typeface="等线" panose="02010600030101010101" pitchFamily="2" charset="-122"/>
            </a:endParaRPr>
          </a:p>
        </p:txBody>
      </p:sp>
      <p:sp>
        <p:nvSpPr>
          <p:cNvPr id="921" name="Line 145">
            <a:extLst>
              <a:ext uri="{FF2B5EF4-FFF2-40B4-BE49-F238E27FC236}">
                <a16:creationId xmlns:a16="http://schemas.microsoft.com/office/drawing/2014/main" id="{D2D1A3B4-7F12-4D50-BEBF-FAF5F45B024A}"/>
              </a:ext>
            </a:extLst>
          </p:cNvPr>
          <p:cNvSpPr>
            <a:spLocks noChangeShapeType="1"/>
          </p:cNvSpPr>
          <p:nvPr/>
        </p:nvSpPr>
        <p:spPr bwMode="auto">
          <a:xfrm>
            <a:off x="2720133" y="2880310"/>
            <a:ext cx="0" cy="902773"/>
          </a:xfrm>
          <a:prstGeom prst="line">
            <a:avLst/>
          </a:prstGeom>
          <a:noFill/>
          <a:ln w="19050">
            <a:solidFill>
              <a:sysClr val="windowText" lastClr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</a:endParaRPr>
          </a:p>
        </p:txBody>
      </p:sp>
      <p:sp>
        <p:nvSpPr>
          <p:cNvPr id="922" name="Line 146">
            <a:extLst>
              <a:ext uri="{FF2B5EF4-FFF2-40B4-BE49-F238E27FC236}">
                <a16:creationId xmlns:a16="http://schemas.microsoft.com/office/drawing/2014/main" id="{6C21259A-0532-4A27-802A-10E6A6DF0B9A}"/>
              </a:ext>
            </a:extLst>
          </p:cNvPr>
          <p:cNvSpPr>
            <a:spLocks noChangeShapeType="1"/>
          </p:cNvSpPr>
          <p:nvPr/>
        </p:nvSpPr>
        <p:spPr bwMode="auto">
          <a:xfrm>
            <a:off x="2720133" y="2880310"/>
            <a:ext cx="592457" cy="0"/>
          </a:xfrm>
          <a:prstGeom prst="line">
            <a:avLst/>
          </a:prstGeom>
          <a:noFill/>
          <a:ln w="19050">
            <a:solidFill>
              <a:sysClr val="windowText" lastClr="00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</a:endParaRPr>
          </a:p>
        </p:txBody>
      </p:sp>
      <p:sp>
        <p:nvSpPr>
          <p:cNvPr id="923" name="Line 147">
            <a:extLst>
              <a:ext uri="{FF2B5EF4-FFF2-40B4-BE49-F238E27FC236}">
                <a16:creationId xmlns:a16="http://schemas.microsoft.com/office/drawing/2014/main" id="{DCCF857C-1FC1-45F0-9375-07C73A89168B}"/>
              </a:ext>
            </a:extLst>
          </p:cNvPr>
          <p:cNvSpPr>
            <a:spLocks noChangeShapeType="1"/>
          </p:cNvSpPr>
          <p:nvPr/>
        </p:nvSpPr>
        <p:spPr bwMode="auto">
          <a:xfrm>
            <a:off x="3910547" y="2410305"/>
            <a:ext cx="557215" cy="0"/>
          </a:xfrm>
          <a:prstGeom prst="line">
            <a:avLst/>
          </a:prstGeom>
          <a:noFill/>
          <a:ln w="12700">
            <a:solidFill>
              <a:srgbClr val="00B05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fontAlgn="auto">
              <a:spcBef>
                <a:spcPts val="0"/>
              </a:spcBef>
              <a:spcAft>
                <a:spcPts val="0"/>
              </a:spcAft>
            </a:pPr>
            <a:endParaRPr lang="zh-CN" altLang="en-US">
              <a:solidFill>
                <a:prstClr val="black"/>
              </a:solidFill>
              <a:latin typeface="等线" panose="020F0502020204030204"/>
              <a:ea typeface="等线" panose="02010600030101010101" pitchFamily="2" charset="-122"/>
            </a:endParaRPr>
          </a:p>
        </p:txBody>
      </p:sp>
      <p:sp>
        <p:nvSpPr>
          <p:cNvPr id="924" name="Line 148">
            <a:extLst>
              <a:ext uri="{FF2B5EF4-FFF2-40B4-BE49-F238E27FC236}">
                <a16:creationId xmlns:a16="http://schemas.microsoft.com/office/drawing/2014/main" id="{7BA0CBDB-EED2-4AD4-BCB9-6D1317617533}"/>
              </a:ext>
            </a:extLst>
          </p:cNvPr>
          <p:cNvSpPr>
            <a:spLocks noChangeShapeType="1"/>
          </p:cNvSpPr>
          <p:nvPr/>
        </p:nvSpPr>
        <p:spPr bwMode="auto">
          <a:xfrm>
            <a:off x="4011859" y="2618637"/>
            <a:ext cx="455903" cy="0"/>
          </a:xfrm>
          <a:prstGeom prst="line">
            <a:avLst/>
          </a:prstGeom>
          <a:noFill/>
          <a:ln w="12700">
            <a:solidFill>
              <a:srgbClr val="00B05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fontAlgn="auto">
              <a:spcBef>
                <a:spcPts val="0"/>
              </a:spcBef>
              <a:spcAft>
                <a:spcPts val="0"/>
              </a:spcAft>
            </a:pPr>
            <a:endParaRPr lang="zh-CN" altLang="en-US">
              <a:solidFill>
                <a:prstClr val="black"/>
              </a:solidFill>
              <a:latin typeface="等线" panose="020F0502020204030204"/>
              <a:ea typeface="等线" panose="02010600030101010101" pitchFamily="2" charset="-122"/>
            </a:endParaRPr>
          </a:p>
        </p:txBody>
      </p:sp>
      <p:sp>
        <p:nvSpPr>
          <p:cNvPr id="925" name="Line 149">
            <a:extLst>
              <a:ext uri="{FF2B5EF4-FFF2-40B4-BE49-F238E27FC236}">
                <a16:creationId xmlns:a16="http://schemas.microsoft.com/office/drawing/2014/main" id="{18A063FE-D25B-4430-9324-B6CAF9C440D1}"/>
              </a:ext>
            </a:extLst>
          </p:cNvPr>
          <p:cNvSpPr>
            <a:spLocks noChangeShapeType="1"/>
          </p:cNvSpPr>
          <p:nvPr/>
        </p:nvSpPr>
        <p:spPr bwMode="auto">
          <a:xfrm>
            <a:off x="3973867" y="2826970"/>
            <a:ext cx="493895" cy="0"/>
          </a:xfrm>
          <a:prstGeom prst="line">
            <a:avLst/>
          </a:prstGeom>
          <a:noFill/>
          <a:ln w="12700">
            <a:solidFill>
              <a:srgbClr val="00B05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fontAlgn="auto">
              <a:spcBef>
                <a:spcPts val="0"/>
              </a:spcBef>
              <a:spcAft>
                <a:spcPts val="0"/>
              </a:spcAft>
            </a:pPr>
            <a:endParaRPr lang="zh-CN" altLang="en-US">
              <a:solidFill>
                <a:prstClr val="black"/>
              </a:solidFill>
              <a:latin typeface="等线" panose="020F0502020204030204"/>
              <a:ea typeface="等线" panose="02010600030101010101" pitchFamily="2" charset="-122"/>
            </a:endParaRPr>
          </a:p>
        </p:txBody>
      </p:sp>
      <p:sp>
        <p:nvSpPr>
          <p:cNvPr id="926" name="Line 150">
            <a:extLst>
              <a:ext uri="{FF2B5EF4-FFF2-40B4-BE49-F238E27FC236}">
                <a16:creationId xmlns:a16="http://schemas.microsoft.com/office/drawing/2014/main" id="{EE205498-C8DB-4964-A6F8-74024AA690D9}"/>
              </a:ext>
            </a:extLst>
          </p:cNvPr>
          <p:cNvSpPr>
            <a:spLocks noChangeShapeType="1"/>
          </p:cNvSpPr>
          <p:nvPr/>
        </p:nvSpPr>
        <p:spPr bwMode="auto">
          <a:xfrm>
            <a:off x="6291374" y="2826970"/>
            <a:ext cx="1671645" cy="486109"/>
          </a:xfrm>
          <a:prstGeom prst="line">
            <a:avLst/>
          </a:prstGeom>
          <a:noFill/>
          <a:ln w="12700">
            <a:solidFill>
              <a:srgbClr val="00B05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fontAlgn="auto">
              <a:spcBef>
                <a:spcPts val="0"/>
              </a:spcBef>
              <a:spcAft>
                <a:spcPts val="0"/>
              </a:spcAft>
            </a:pPr>
            <a:endParaRPr lang="zh-CN" altLang="en-US">
              <a:solidFill>
                <a:prstClr val="black"/>
              </a:solidFill>
              <a:latin typeface="等线" panose="020F0502020204030204"/>
              <a:ea typeface="等线" panose="02010600030101010101" pitchFamily="2" charset="-122"/>
            </a:endParaRPr>
          </a:p>
        </p:txBody>
      </p:sp>
      <p:sp>
        <p:nvSpPr>
          <p:cNvPr id="927" name="Line 151">
            <a:extLst>
              <a:ext uri="{FF2B5EF4-FFF2-40B4-BE49-F238E27FC236}">
                <a16:creationId xmlns:a16="http://schemas.microsoft.com/office/drawing/2014/main" id="{A67360C9-1353-4BF7-AB09-1ABE96155FDA}"/>
              </a:ext>
            </a:extLst>
          </p:cNvPr>
          <p:cNvSpPr>
            <a:spLocks noChangeShapeType="1"/>
          </p:cNvSpPr>
          <p:nvPr/>
        </p:nvSpPr>
        <p:spPr bwMode="auto">
          <a:xfrm>
            <a:off x="4619729" y="2826970"/>
            <a:ext cx="1519677" cy="0"/>
          </a:xfrm>
          <a:prstGeom prst="line">
            <a:avLst/>
          </a:prstGeom>
          <a:noFill/>
          <a:ln w="12700">
            <a:solidFill>
              <a:srgbClr val="00B05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fontAlgn="auto">
              <a:spcBef>
                <a:spcPts val="0"/>
              </a:spcBef>
              <a:spcAft>
                <a:spcPts val="0"/>
              </a:spcAft>
            </a:pPr>
            <a:endParaRPr lang="zh-CN" altLang="en-US">
              <a:solidFill>
                <a:prstClr val="black"/>
              </a:solidFill>
              <a:latin typeface="等线" panose="020F0502020204030204"/>
              <a:ea typeface="等线" panose="02010600030101010101" pitchFamily="2" charset="-122"/>
            </a:endParaRPr>
          </a:p>
        </p:txBody>
      </p:sp>
      <p:sp>
        <p:nvSpPr>
          <p:cNvPr id="928" name="Line 152">
            <a:extLst>
              <a:ext uri="{FF2B5EF4-FFF2-40B4-BE49-F238E27FC236}">
                <a16:creationId xmlns:a16="http://schemas.microsoft.com/office/drawing/2014/main" id="{649E242F-C7D6-40B0-8752-CCB411FCCC19}"/>
              </a:ext>
            </a:extLst>
          </p:cNvPr>
          <p:cNvSpPr>
            <a:spLocks noChangeShapeType="1"/>
          </p:cNvSpPr>
          <p:nvPr/>
        </p:nvSpPr>
        <p:spPr bwMode="auto">
          <a:xfrm>
            <a:off x="4619729" y="2618637"/>
            <a:ext cx="1519677" cy="0"/>
          </a:xfrm>
          <a:prstGeom prst="line">
            <a:avLst/>
          </a:prstGeom>
          <a:noFill/>
          <a:ln w="12700">
            <a:solidFill>
              <a:srgbClr val="00B05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fontAlgn="auto">
              <a:spcBef>
                <a:spcPts val="0"/>
              </a:spcBef>
              <a:spcAft>
                <a:spcPts val="0"/>
              </a:spcAft>
            </a:pPr>
            <a:endParaRPr lang="zh-CN" altLang="en-US">
              <a:solidFill>
                <a:prstClr val="black"/>
              </a:solidFill>
              <a:latin typeface="等线" panose="020F0502020204030204"/>
              <a:ea typeface="等线" panose="02010600030101010101" pitchFamily="2" charset="-122"/>
            </a:endParaRPr>
          </a:p>
        </p:txBody>
      </p:sp>
      <p:sp>
        <p:nvSpPr>
          <p:cNvPr id="929" name="Line 153">
            <a:extLst>
              <a:ext uri="{FF2B5EF4-FFF2-40B4-BE49-F238E27FC236}">
                <a16:creationId xmlns:a16="http://schemas.microsoft.com/office/drawing/2014/main" id="{0BF9FC57-7163-41F1-B49B-5FEFAB626F23}"/>
              </a:ext>
            </a:extLst>
          </p:cNvPr>
          <p:cNvSpPr>
            <a:spLocks noChangeShapeType="1"/>
          </p:cNvSpPr>
          <p:nvPr/>
        </p:nvSpPr>
        <p:spPr bwMode="auto">
          <a:xfrm>
            <a:off x="4619729" y="2404361"/>
            <a:ext cx="607871" cy="0"/>
          </a:xfrm>
          <a:prstGeom prst="line">
            <a:avLst/>
          </a:prstGeom>
          <a:noFill/>
          <a:ln w="12700">
            <a:solidFill>
              <a:srgbClr val="00B05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fontAlgn="auto">
              <a:spcBef>
                <a:spcPts val="0"/>
              </a:spcBef>
              <a:spcAft>
                <a:spcPts val="0"/>
              </a:spcAft>
            </a:pPr>
            <a:endParaRPr lang="zh-CN" altLang="en-US">
              <a:solidFill>
                <a:prstClr val="black"/>
              </a:solidFill>
              <a:latin typeface="等线" panose="020F0502020204030204"/>
              <a:ea typeface="等线" panose="02010600030101010101" pitchFamily="2" charset="-122"/>
            </a:endParaRPr>
          </a:p>
        </p:txBody>
      </p:sp>
      <p:sp>
        <p:nvSpPr>
          <p:cNvPr id="930" name="Line 154">
            <a:extLst>
              <a:ext uri="{FF2B5EF4-FFF2-40B4-BE49-F238E27FC236}">
                <a16:creationId xmlns:a16="http://schemas.microsoft.com/office/drawing/2014/main" id="{758F47F2-3401-42DB-91B5-5D47BCFFB143}"/>
              </a:ext>
            </a:extLst>
          </p:cNvPr>
          <p:cNvSpPr>
            <a:spLocks noChangeShapeType="1"/>
          </p:cNvSpPr>
          <p:nvPr/>
        </p:nvSpPr>
        <p:spPr bwMode="auto">
          <a:xfrm>
            <a:off x="8494906" y="3382523"/>
            <a:ext cx="0" cy="277776"/>
          </a:xfrm>
          <a:prstGeom prst="line">
            <a:avLst/>
          </a:prstGeom>
          <a:noFill/>
          <a:ln w="12700">
            <a:solidFill>
              <a:srgbClr val="00B05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fontAlgn="auto">
              <a:spcBef>
                <a:spcPts val="0"/>
              </a:spcBef>
              <a:spcAft>
                <a:spcPts val="0"/>
              </a:spcAft>
            </a:pPr>
            <a:endParaRPr lang="zh-CN" altLang="en-US">
              <a:solidFill>
                <a:prstClr val="black"/>
              </a:solidFill>
              <a:latin typeface="等线" panose="020F0502020204030204"/>
              <a:ea typeface="等线" panose="02010600030101010101" pitchFamily="2" charset="-122"/>
            </a:endParaRPr>
          </a:p>
        </p:txBody>
      </p:sp>
      <p:sp>
        <p:nvSpPr>
          <p:cNvPr id="931" name="Line 155">
            <a:extLst>
              <a:ext uri="{FF2B5EF4-FFF2-40B4-BE49-F238E27FC236}">
                <a16:creationId xmlns:a16="http://schemas.microsoft.com/office/drawing/2014/main" id="{04AD1219-5E32-4DD5-9E78-C5D45D2730D1}"/>
              </a:ext>
            </a:extLst>
          </p:cNvPr>
          <p:cNvSpPr>
            <a:spLocks noChangeShapeType="1"/>
          </p:cNvSpPr>
          <p:nvPr/>
        </p:nvSpPr>
        <p:spPr bwMode="auto">
          <a:xfrm>
            <a:off x="6291375" y="2618637"/>
            <a:ext cx="346972" cy="0"/>
          </a:xfrm>
          <a:prstGeom prst="line">
            <a:avLst/>
          </a:prstGeom>
          <a:noFill/>
          <a:ln w="12700">
            <a:solidFill>
              <a:srgbClr val="00B05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fontAlgn="auto">
              <a:spcBef>
                <a:spcPts val="0"/>
              </a:spcBef>
              <a:spcAft>
                <a:spcPts val="0"/>
              </a:spcAft>
            </a:pPr>
            <a:endParaRPr lang="zh-CN" altLang="en-US">
              <a:solidFill>
                <a:prstClr val="black"/>
              </a:solidFill>
              <a:latin typeface="等线" panose="020F0502020204030204"/>
              <a:ea typeface="等线" panose="02010600030101010101" pitchFamily="2" charset="-122"/>
            </a:endParaRPr>
          </a:p>
        </p:txBody>
      </p:sp>
      <p:sp>
        <p:nvSpPr>
          <p:cNvPr id="932" name="Line 156">
            <a:extLst>
              <a:ext uri="{FF2B5EF4-FFF2-40B4-BE49-F238E27FC236}">
                <a16:creationId xmlns:a16="http://schemas.microsoft.com/office/drawing/2014/main" id="{2238FC0E-7B08-4B07-A0C4-83157D2135D3}"/>
              </a:ext>
            </a:extLst>
          </p:cNvPr>
          <p:cNvSpPr>
            <a:spLocks noChangeShapeType="1"/>
          </p:cNvSpPr>
          <p:nvPr/>
        </p:nvSpPr>
        <p:spPr bwMode="auto">
          <a:xfrm>
            <a:off x="8114987" y="3382523"/>
            <a:ext cx="379919" cy="0"/>
          </a:xfrm>
          <a:prstGeom prst="line">
            <a:avLst/>
          </a:prstGeom>
          <a:noFill/>
          <a:ln w="12700">
            <a:solidFill>
              <a:srgbClr val="00B05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fontAlgn="auto">
              <a:spcBef>
                <a:spcPts val="0"/>
              </a:spcBef>
              <a:spcAft>
                <a:spcPts val="0"/>
              </a:spcAft>
            </a:pPr>
            <a:endParaRPr lang="zh-CN" altLang="en-US">
              <a:solidFill>
                <a:prstClr val="black"/>
              </a:solidFill>
              <a:latin typeface="等线" panose="020F0502020204030204"/>
              <a:ea typeface="等线" panose="02010600030101010101" pitchFamily="2" charset="-122"/>
            </a:endParaRPr>
          </a:p>
        </p:txBody>
      </p:sp>
      <p:sp>
        <p:nvSpPr>
          <p:cNvPr id="933" name="Line 157">
            <a:extLst>
              <a:ext uri="{FF2B5EF4-FFF2-40B4-BE49-F238E27FC236}">
                <a16:creationId xmlns:a16="http://schemas.microsoft.com/office/drawing/2014/main" id="{6E955752-9876-42BB-B425-C9B79270F131}"/>
              </a:ext>
            </a:extLst>
          </p:cNvPr>
          <p:cNvSpPr>
            <a:spLocks noChangeShapeType="1"/>
          </p:cNvSpPr>
          <p:nvPr/>
        </p:nvSpPr>
        <p:spPr bwMode="auto">
          <a:xfrm>
            <a:off x="6638346" y="2618636"/>
            <a:ext cx="0" cy="138888"/>
          </a:xfrm>
          <a:prstGeom prst="line">
            <a:avLst/>
          </a:prstGeom>
          <a:noFill/>
          <a:ln w="12700">
            <a:solidFill>
              <a:srgbClr val="00B05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fontAlgn="auto">
              <a:spcBef>
                <a:spcPts val="0"/>
              </a:spcBef>
              <a:spcAft>
                <a:spcPts val="0"/>
              </a:spcAft>
            </a:pPr>
            <a:endParaRPr lang="zh-CN" altLang="en-US">
              <a:solidFill>
                <a:prstClr val="black"/>
              </a:solidFill>
              <a:latin typeface="等线" panose="020F0502020204030204"/>
              <a:ea typeface="等线" panose="02010600030101010101" pitchFamily="2" charset="-122"/>
            </a:endParaRPr>
          </a:p>
        </p:txBody>
      </p:sp>
      <p:sp>
        <p:nvSpPr>
          <p:cNvPr id="934" name="Line 158">
            <a:extLst>
              <a:ext uri="{FF2B5EF4-FFF2-40B4-BE49-F238E27FC236}">
                <a16:creationId xmlns:a16="http://schemas.microsoft.com/office/drawing/2014/main" id="{810FB0ED-3216-498C-A22D-4C2BB25E036A}"/>
              </a:ext>
            </a:extLst>
          </p:cNvPr>
          <p:cNvSpPr>
            <a:spLocks noChangeShapeType="1"/>
          </p:cNvSpPr>
          <p:nvPr/>
        </p:nvSpPr>
        <p:spPr bwMode="auto">
          <a:xfrm>
            <a:off x="5227600" y="2404361"/>
            <a:ext cx="0" cy="110109"/>
          </a:xfrm>
          <a:prstGeom prst="line">
            <a:avLst/>
          </a:prstGeom>
          <a:noFill/>
          <a:ln w="12700">
            <a:solidFill>
              <a:srgbClr val="00B05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fontAlgn="auto">
              <a:spcBef>
                <a:spcPts val="0"/>
              </a:spcBef>
              <a:spcAft>
                <a:spcPts val="0"/>
              </a:spcAft>
            </a:pPr>
            <a:endParaRPr lang="zh-CN" altLang="en-US">
              <a:solidFill>
                <a:prstClr val="black"/>
              </a:solidFill>
              <a:latin typeface="等线" panose="020F0502020204030204"/>
              <a:ea typeface="等线" panose="02010600030101010101" pitchFamily="2" charset="-122"/>
            </a:endParaRPr>
          </a:p>
        </p:txBody>
      </p:sp>
      <p:sp>
        <p:nvSpPr>
          <p:cNvPr id="935" name="Rectangle 40">
            <a:extLst>
              <a:ext uri="{FF2B5EF4-FFF2-40B4-BE49-F238E27FC236}">
                <a16:creationId xmlns:a16="http://schemas.microsoft.com/office/drawing/2014/main" id="{50E9D266-966B-443A-B470-3CDC5258B766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8357537" y="4293167"/>
            <a:ext cx="159080" cy="61318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19047" tIns="26984" rIns="19047" bIns="26984"/>
          <a:lstStyle/>
          <a:p>
            <a:pPr eaLnBrk="0" fontAlgn="auto" hangingPunct="0">
              <a:spcBef>
                <a:spcPts val="600"/>
              </a:spcBef>
              <a:spcAft>
                <a:spcPts val="600"/>
              </a:spcAft>
            </a:pPr>
            <a:r>
              <a:rPr lang="en-US" altLang="zh-CN" sz="1200" dirty="0">
                <a:solidFill>
                  <a:prstClr val="black"/>
                </a:solidFill>
                <a:latin typeface="Arial" pitchFamily="34" charset="0"/>
                <a:ea typeface="等线" panose="02010600030101010101" pitchFamily="2" charset="-122"/>
              </a:rPr>
              <a:t>1</a:t>
            </a:r>
          </a:p>
          <a:p>
            <a:pPr eaLnBrk="0" fontAlgn="auto" hangingPunct="0">
              <a:spcBef>
                <a:spcPts val="600"/>
              </a:spcBef>
              <a:spcAft>
                <a:spcPts val="600"/>
              </a:spcAft>
            </a:pPr>
            <a:r>
              <a:rPr lang="en-US" altLang="zh-CN" sz="1200" dirty="0">
                <a:solidFill>
                  <a:prstClr val="black"/>
                </a:solidFill>
                <a:latin typeface="Arial" pitchFamily="34" charset="0"/>
                <a:ea typeface="等线" panose="02010600030101010101" pitchFamily="2" charset="-122"/>
              </a:rPr>
              <a:t>0</a:t>
            </a:r>
          </a:p>
        </p:txBody>
      </p:sp>
      <p:sp>
        <p:nvSpPr>
          <p:cNvPr id="936" name="Line 118">
            <a:extLst>
              <a:ext uri="{FF2B5EF4-FFF2-40B4-BE49-F238E27FC236}">
                <a16:creationId xmlns:a16="http://schemas.microsoft.com/office/drawing/2014/main" id="{B77BD9BD-D3D9-4F9D-863B-2E9A8CD75CDE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152479" y="4767001"/>
            <a:ext cx="118182" cy="694398"/>
          </a:xfrm>
          <a:prstGeom prst="line">
            <a:avLst/>
          </a:prstGeom>
          <a:noFill/>
          <a:ln w="28575" cap="rnd">
            <a:solidFill>
              <a:sysClr val="windowText" lastClr="000000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</a:endParaRPr>
          </a:p>
        </p:txBody>
      </p:sp>
      <p:sp>
        <p:nvSpPr>
          <p:cNvPr id="937" name="Line 13">
            <a:extLst>
              <a:ext uri="{FF2B5EF4-FFF2-40B4-BE49-F238E27FC236}">
                <a16:creationId xmlns:a16="http://schemas.microsoft.com/office/drawing/2014/main" id="{0DC03796-5BB7-42CC-AAD5-7DA379EB7D36}"/>
              </a:ext>
            </a:extLst>
          </p:cNvPr>
          <p:cNvSpPr>
            <a:spLocks noChangeShapeType="1"/>
          </p:cNvSpPr>
          <p:nvPr/>
        </p:nvSpPr>
        <p:spPr bwMode="auto">
          <a:xfrm>
            <a:off x="8571209" y="4536207"/>
            <a:ext cx="151960" cy="0"/>
          </a:xfrm>
          <a:prstGeom prst="line">
            <a:avLst/>
          </a:prstGeom>
          <a:noFill/>
          <a:ln w="19050">
            <a:solidFill>
              <a:sysClr val="windowText" lastClr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</a:endParaRPr>
          </a:p>
        </p:txBody>
      </p:sp>
      <p:sp>
        <p:nvSpPr>
          <p:cNvPr id="938" name="Line 110">
            <a:extLst>
              <a:ext uri="{FF2B5EF4-FFF2-40B4-BE49-F238E27FC236}">
                <a16:creationId xmlns:a16="http://schemas.microsoft.com/office/drawing/2014/main" id="{5D6BA07A-8D07-4FE7-97E8-B6296C4AA127}"/>
              </a:ext>
            </a:extLst>
          </p:cNvPr>
          <p:cNvSpPr>
            <a:spLocks noChangeShapeType="1"/>
          </p:cNvSpPr>
          <p:nvPr/>
        </p:nvSpPr>
        <p:spPr bwMode="auto">
          <a:xfrm>
            <a:off x="2720133" y="5716683"/>
            <a:ext cx="0" cy="236873"/>
          </a:xfrm>
          <a:prstGeom prst="line">
            <a:avLst/>
          </a:prstGeom>
          <a:noFill/>
          <a:ln w="19050">
            <a:solidFill>
              <a:sysClr val="windowText" lastClr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</a:endParaRPr>
          </a:p>
        </p:txBody>
      </p:sp>
      <p:sp>
        <p:nvSpPr>
          <p:cNvPr id="939" name="Line 8">
            <a:extLst>
              <a:ext uri="{FF2B5EF4-FFF2-40B4-BE49-F238E27FC236}">
                <a16:creationId xmlns:a16="http://schemas.microsoft.com/office/drawing/2014/main" id="{C15507C8-298A-47B1-87F5-87611F1B77A5}"/>
              </a:ext>
            </a:extLst>
          </p:cNvPr>
          <p:cNvSpPr>
            <a:spLocks noChangeShapeType="1"/>
          </p:cNvSpPr>
          <p:nvPr/>
        </p:nvSpPr>
        <p:spPr bwMode="auto">
          <a:xfrm>
            <a:off x="2720133" y="5950046"/>
            <a:ext cx="1747538" cy="0"/>
          </a:xfrm>
          <a:prstGeom prst="line">
            <a:avLst/>
          </a:prstGeom>
          <a:noFill/>
          <a:ln w="19050">
            <a:solidFill>
              <a:sysClr val="windowText" lastClr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</a:endParaRPr>
          </a:p>
        </p:txBody>
      </p:sp>
      <p:sp>
        <p:nvSpPr>
          <p:cNvPr id="940" name="Line 9">
            <a:extLst>
              <a:ext uri="{FF2B5EF4-FFF2-40B4-BE49-F238E27FC236}">
                <a16:creationId xmlns:a16="http://schemas.microsoft.com/office/drawing/2014/main" id="{30363C4F-13FA-4F46-9802-988634BC7FCD}"/>
              </a:ext>
            </a:extLst>
          </p:cNvPr>
          <p:cNvSpPr>
            <a:spLocks noChangeShapeType="1"/>
          </p:cNvSpPr>
          <p:nvPr/>
        </p:nvSpPr>
        <p:spPr bwMode="auto">
          <a:xfrm>
            <a:off x="4626611" y="5950046"/>
            <a:ext cx="262057" cy="0"/>
          </a:xfrm>
          <a:prstGeom prst="line">
            <a:avLst/>
          </a:prstGeom>
          <a:noFill/>
          <a:ln w="19050">
            <a:solidFill>
              <a:sysClr val="windowText" lastClr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</a:endParaRPr>
          </a:p>
        </p:txBody>
      </p:sp>
      <p:sp>
        <p:nvSpPr>
          <p:cNvPr id="941" name="AutoShape 67">
            <a:extLst>
              <a:ext uri="{FF2B5EF4-FFF2-40B4-BE49-F238E27FC236}">
                <a16:creationId xmlns:a16="http://schemas.microsoft.com/office/drawing/2014/main" id="{D67D0A14-BF90-46D4-A213-2D5ABAE4D9AE}"/>
              </a:ext>
            </a:extLst>
          </p:cNvPr>
          <p:cNvSpPr>
            <a:spLocks noChangeArrowheads="1"/>
          </p:cNvSpPr>
          <p:nvPr/>
        </p:nvSpPr>
        <p:spPr bwMode="auto">
          <a:xfrm rot="16200000">
            <a:off x="4724908" y="5647938"/>
            <a:ext cx="565593" cy="236773"/>
          </a:xfrm>
          <a:custGeom>
            <a:avLst/>
            <a:gdLst>
              <a:gd name="T0" fmla="*/ 9 w 21600"/>
              <a:gd name="T1" fmla="*/ 0 h 21600"/>
              <a:gd name="T2" fmla="*/ 5 w 21600"/>
              <a:gd name="T3" fmla="*/ 1 h 21600"/>
              <a:gd name="T4" fmla="*/ 1 w 21600"/>
              <a:gd name="T5" fmla="*/ 0 h 21600"/>
              <a:gd name="T6" fmla="*/ 5 w 21600"/>
              <a:gd name="T7" fmla="*/ 0 h 21600"/>
              <a:gd name="T8" fmla="*/ 0 60000 65536"/>
              <a:gd name="T9" fmla="*/ 0 60000 65536"/>
              <a:gd name="T10" fmla="*/ 0 60000 65536"/>
              <a:gd name="T11" fmla="*/ 0 60000 65536"/>
              <a:gd name="T12" fmla="*/ 4500 w 21600"/>
              <a:gd name="T13" fmla="*/ 4500 h 21600"/>
              <a:gd name="T14" fmla="*/ 17100 w 21600"/>
              <a:gd name="T15" fmla="*/ 17100 h 21600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21600" h="21600">
                <a:moveTo>
                  <a:pt x="0" y="0"/>
                </a:moveTo>
                <a:lnTo>
                  <a:pt x="5400" y="21600"/>
                </a:lnTo>
                <a:lnTo>
                  <a:pt x="16200" y="21600"/>
                </a:lnTo>
                <a:lnTo>
                  <a:pt x="21600" y="0"/>
                </a:lnTo>
                <a:lnTo>
                  <a:pt x="0" y="0"/>
                </a:lnTo>
                <a:close/>
              </a:path>
            </a:pathLst>
          </a:custGeom>
          <a:noFill/>
          <a:ln w="19050">
            <a:solidFill>
              <a:sysClr val="windowText" lastClr="000000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</a:endParaRPr>
          </a:p>
        </p:txBody>
      </p:sp>
      <p:sp>
        <p:nvSpPr>
          <p:cNvPr id="942" name="Rectangle 70">
            <a:extLst>
              <a:ext uri="{FF2B5EF4-FFF2-40B4-BE49-F238E27FC236}">
                <a16:creationId xmlns:a16="http://schemas.microsoft.com/office/drawing/2014/main" id="{CC4E26ED-C7A9-4F4F-846E-3C283DC07CD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83968" y="5473885"/>
            <a:ext cx="118669" cy="60569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19047" tIns="26984" rIns="19047" bIns="26984"/>
          <a:lstStyle/>
          <a:p>
            <a:pPr eaLnBrk="0" fontAlgn="auto" hangingPunct="0">
              <a:spcBef>
                <a:spcPts val="600"/>
              </a:spcBef>
              <a:spcAft>
                <a:spcPts val="600"/>
              </a:spcAft>
            </a:pPr>
            <a:r>
              <a:rPr lang="en-US" altLang="zh-CN" sz="1200" dirty="0">
                <a:solidFill>
                  <a:prstClr val="black"/>
                </a:solidFill>
                <a:latin typeface="Arial" pitchFamily="34" charset="0"/>
                <a:ea typeface="等线" panose="02010600030101010101" pitchFamily="2" charset="-122"/>
              </a:rPr>
              <a:t>0</a:t>
            </a:r>
          </a:p>
          <a:p>
            <a:pPr eaLnBrk="0" fontAlgn="auto" hangingPunct="0">
              <a:spcBef>
                <a:spcPts val="600"/>
              </a:spcBef>
              <a:spcAft>
                <a:spcPts val="600"/>
              </a:spcAft>
            </a:pPr>
            <a:r>
              <a:rPr lang="en-US" altLang="zh-CN" sz="1200" dirty="0">
                <a:solidFill>
                  <a:prstClr val="black"/>
                </a:solidFill>
                <a:latin typeface="Arial" pitchFamily="34" charset="0"/>
                <a:ea typeface="等线" panose="02010600030101010101" pitchFamily="2" charset="-122"/>
              </a:rPr>
              <a:t>1</a:t>
            </a:r>
          </a:p>
        </p:txBody>
      </p:sp>
      <p:sp>
        <p:nvSpPr>
          <p:cNvPr id="943" name="Line 10">
            <a:extLst>
              <a:ext uri="{FF2B5EF4-FFF2-40B4-BE49-F238E27FC236}">
                <a16:creationId xmlns:a16="http://schemas.microsoft.com/office/drawing/2014/main" id="{CDC592E5-3990-4717-B92B-53563E6089CE}"/>
              </a:ext>
            </a:extLst>
          </p:cNvPr>
          <p:cNvSpPr>
            <a:spLocks noChangeShapeType="1"/>
          </p:cNvSpPr>
          <p:nvPr/>
        </p:nvSpPr>
        <p:spPr bwMode="auto">
          <a:xfrm>
            <a:off x="5119163" y="5716683"/>
            <a:ext cx="1008061" cy="0"/>
          </a:xfrm>
          <a:prstGeom prst="line">
            <a:avLst/>
          </a:prstGeom>
          <a:noFill/>
          <a:ln w="19050">
            <a:solidFill>
              <a:sysClr val="windowText" lastClr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</a:endParaRPr>
          </a:p>
        </p:txBody>
      </p:sp>
      <p:sp>
        <p:nvSpPr>
          <p:cNvPr id="944" name="Line 153">
            <a:extLst>
              <a:ext uri="{FF2B5EF4-FFF2-40B4-BE49-F238E27FC236}">
                <a16:creationId xmlns:a16="http://schemas.microsoft.com/office/drawing/2014/main" id="{A84E3C40-0E15-4027-A8EE-515A2374DE93}"/>
              </a:ext>
            </a:extLst>
          </p:cNvPr>
          <p:cNvSpPr>
            <a:spLocks noChangeShapeType="1"/>
          </p:cNvSpPr>
          <p:nvPr/>
        </p:nvSpPr>
        <p:spPr bwMode="auto">
          <a:xfrm>
            <a:off x="3926578" y="2938316"/>
            <a:ext cx="258460" cy="0"/>
          </a:xfrm>
          <a:prstGeom prst="line">
            <a:avLst/>
          </a:prstGeom>
          <a:noFill/>
          <a:ln w="12700">
            <a:solidFill>
              <a:srgbClr val="00B05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fontAlgn="auto">
              <a:spcBef>
                <a:spcPts val="0"/>
              </a:spcBef>
              <a:spcAft>
                <a:spcPts val="0"/>
              </a:spcAft>
            </a:pPr>
            <a:endParaRPr lang="zh-CN" altLang="en-US">
              <a:solidFill>
                <a:prstClr val="black"/>
              </a:solidFill>
              <a:latin typeface="等线" panose="020F0502020204030204"/>
              <a:ea typeface="等线" panose="02010600030101010101" pitchFamily="2" charset="-122"/>
            </a:endParaRPr>
          </a:p>
        </p:txBody>
      </p:sp>
      <p:sp>
        <p:nvSpPr>
          <p:cNvPr id="945" name="Line 158">
            <a:extLst>
              <a:ext uri="{FF2B5EF4-FFF2-40B4-BE49-F238E27FC236}">
                <a16:creationId xmlns:a16="http://schemas.microsoft.com/office/drawing/2014/main" id="{59BD9798-FD49-4C0F-8E97-C42AFDCF6885}"/>
              </a:ext>
            </a:extLst>
          </p:cNvPr>
          <p:cNvSpPr>
            <a:spLocks noChangeShapeType="1"/>
          </p:cNvSpPr>
          <p:nvPr/>
        </p:nvSpPr>
        <p:spPr bwMode="auto">
          <a:xfrm>
            <a:off x="4181036" y="2936799"/>
            <a:ext cx="0" cy="117757"/>
          </a:xfrm>
          <a:prstGeom prst="line">
            <a:avLst/>
          </a:prstGeom>
          <a:noFill/>
          <a:ln w="12700">
            <a:solidFill>
              <a:srgbClr val="00B05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fontAlgn="auto">
              <a:spcBef>
                <a:spcPts val="0"/>
              </a:spcBef>
              <a:spcAft>
                <a:spcPts val="0"/>
              </a:spcAft>
            </a:pPr>
            <a:endParaRPr lang="zh-CN" altLang="en-US">
              <a:solidFill>
                <a:prstClr val="black"/>
              </a:solidFill>
              <a:latin typeface="等线" panose="020F0502020204030204"/>
              <a:ea typeface="等线" panose="02010600030101010101" pitchFamily="2" charset="-122"/>
            </a:endParaRPr>
          </a:p>
        </p:txBody>
      </p:sp>
      <p:sp>
        <p:nvSpPr>
          <p:cNvPr id="946" name="Text Box 30">
            <a:extLst>
              <a:ext uri="{FF2B5EF4-FFF2-40B4-BE49-F238E27FC236}">
                <a16:creationId xmlns:a16="http://schemas.microsoft.com/office/drawing/2014/main" id="{EE3629B0-7C79-4A44-8131-DFD0E9F75B2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311970" y="3439057"/>
            <a:ext cx="500428" cy="27698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1425" tIns="45713" rIns="91425" bIns="45713">
            <a:spAutoFit/>
          </a:bodyPr>
          <a:lstStyle>
            <a:lvl1pPr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1pPr>
            <a:lvl2pPr marL="742950" indent="-28575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2pPr>
            <a:lvl3pPr marL="11430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3pPr>
            <a:lvl4pPr marL="16002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4pPr>
            <a:lvl5pPr marL="20574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9pPr>
          </a:lstStyle>
          <a:p>
            <a:pPr fontAlgn="auto">
              <a:spcBef>
                <a:spcPts val="0"/>
              </a:spcBef>
              <a:spcAft>
                <a:spcPts val="0"/>
              </a:spcAft>
            </a:pPr>
            <a:r>
              <a:rPr lang="en-US" altLang="zh-CN" sz="1200" b="0" dirty="0">
                <a:solidFill>
                  <a:prstClr val="black"/>
                </a:solidFill>
                <a:latin typeface="Arial" pitchFamily="34" charset="0"/>
                <a:ea typeface="SimHei" panose="02010609060101010101" pitchFamily="49" charset="-122"/>
              </a:rPr>
              <a:t>Zero</a:t>
            </a:r>
          </a:p>
        </p:txBody>
      </p:sp>
      <p:sp>
        <p:nvSpPr>
          <p:cNvPr id="947" name="Line 124">
            <a:extLst>
              <a:ext uri="{FF2B5EF4-FFF2-40B4-BE49-F238E27FC236}">
                <a16:creationId xmlns:a16="http://schemas.microsoft.com/office/drawing/2014/main" id="{F02538AE-521B-409B-ABE8-FF475378C4DF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7004834" y="2423720"/>
            <a:ext cx="0" cy="1236577"/>
          </a:xfrm>
          <a:prstGeom prst="line">
            <a:avLst/>
          </a:prstGeom>
          <a:noFill/>
          <a:ln w="19050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</a:endParaRPr>
          </a:p>
        </p:txBody>
      </p:sp>
      <p:sp>
        <p:nvSpPr>
          <p:cNvPr id="163" name="Rectangle 5">
            <a:extLst>
              <a:ext uri="{FF2B5EF4-FFF2-40B4-BE49-F238E27FC236}">
                <a16:creationId xmlns:a16="http://schemas.microsoft.com/office/drawing/2014/main" id="{F3D649C8-1C55-4E17-98BD-43D7B6E7AE33}"/>
              </a:ext>
            </a:extLst>
          </p:cNvPr>
          <p:cNvSpPr/>
          <p:nvPr/>
        </p:nvSpPr>
        <p:spPr>
          <a:xfrm>
            <a:off x="136525" y="5740952"/>
            <a:ext cx="2332678" cy="70788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zh-CN" altLang="en-US" sz="2000" dirty="0">
                <a:solidFill>
                  <a:srgbClr val="3333FF"/>
                </a:solidFill>
                <a:latin typeface="SimHei" panose="02010609060101010101" pitchFamily="49" charset="-122"/>
                <a:ea typeface="SimHei" panose="02010609060101010101" pitchFamily="49" charset="-122"/>
              </a:rPr>
              <a:t>思考：</a:t>
            </a:r>
            <a:br>
              <a:rPr lang="en-US" altLang="zh-CN" sz="2000" dirty="0">
                <a:solidFill>
                  <a:srgbClr val="3333FF"/>
                </a:solidFill>
                <a:latin typeface="SimHei" panose="02010609060101010101" pitchFamily="49" charset="-122"/>
                <a:ea typeface="SimHei" panose="02010609060101010101" pitchFamily="49" charset="-122"/>
              </a:rPr>
            </a:br>
            <a:r>
              <a:rPr lang="zh-CN" altLang="en-US" sz="2000" dirty="0">
                <a:solidFill>
                  <a:srgbClr val="3333FF"/>
                </a:solidFill>
                <a:latin typeface="SimHei" panose="02010609060101010101" pitchFamily="49" charset="-122"/>
                <a:ea typeface="SimHei" panose="02010609060101010101" pitchFamily="49" charset="-122"/>
              </a:rPr>
              <a:t>需要哪些控制信号？</a:t>
            </a:r>
            <a:endParaRPr lang="en-CN" sz="2000" dirty="0">
              <a:solidFill>
                <a:srgbClr val="3333FF"/>
              </a:solidFill>
              <a:latin typeface="SimHei" panose="02010609060101010101" pitchFamily="49" charset="-122"/>
              <a:ea typeface="SimHei" panose="02010609060101010101" pitchFamily="49" charset="-122"/>
            </a:endParaRPr>
          </a:p>
        </p:txBody>
      </p:sp>
    </p:spTree>
    <p:extLst>
      <p:ext uri="{BB962C8B-B14F-4D97-AF65-F5344CB8AC3E}">
        <p14:creationId xmlns:p14="http://schemas.microsoft.com/office/powerpoint/2010/main" val="2189607345"/>
      </p:ext>
    </p:extLst>
  </p:cSld>
  <p:clrMapOvr>
    <a:masterClrMapping/>
  </p:clrMapOvr>
</p:sld>
</file>

<file path=ppt/slides/slide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>
            <a:extLst>
              <a:ext uri="{FF2B5EF4-FFF2-40B4-BE49-F238E27FC236}">
                <a16:creationId xmlns:a16="http://schemas.microsoft.com/office/drawing/2014/main" id="{9FAA486D-512E-463C-9732-EDDCBE4370AD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dirty="0"/>
              <a:t>流水线的控制信号</a:t>
            </a:r>
          </a:p>
        </p:txBody>
      </p:sp>
      <p:sp>
        <p:nvSpPr>
          <p:cNvPr id="3" name="内容占位符 2">
            <a:extLst>
              <a:ext uri="{FF2B5EF4-FFF2-40B4-BE49-F238E27FC236}">
                <a16:creationId xmlns:a16="http://schemas.microsoft.com/office/drawing/2014/main" id="{3A6B56FD-E505-4D1B-933E-C93A27719005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457199" y="1166021"/>
            <a:ext cx="8686799" cy="826958"/>
          </a:xfrm>
        </p:spPr>
        <p:txBody>
          <a:bodyPr/>
          <a:lstStyle/>
          <a:p>
            <a:r>
              <a:rPr lang="zh-CN" altLang="en-US" sz="2400" b="0" dirty="0">
                <a:latin typeface="SimHei" panose="02010609060101010101" pitchFamily="49" charset="-122"/>
                <a:ea typeface="SimHei" panose="02010609060101010101" pitchFamily="49" charset="-122"/>
              </a:rPr>
              <a:t>控制信号均在</a:t>
            </a:r>
            <a:r>
              <a:rPr lang="en-US" altLang="zh-CN" sz="2400" b="0" dirty="0">
                <a:latin typeface="SimHei" panose="02010609060101010101" pitchFamily="49" charset="-122"/>
                <a:ea typeface="SimHei" panose="02010609060101010101" pitchFamily="49" charset="-122"/>
              </a:rPr>
              <a:t>ID</a:t>
            </a:r>
            <a:r>
              <a:rPr lang="zh-CN" altLang="en-US" sz="2400" b="0" dirty="0">
                <a:latin typeface="SimHei" panose="02010609060101010101" pitchFamily="49" charset="-122"/>
                <a:ea typeface="SimHei" panose="02010609060101010101" pitchFamily="49" charset="-122"/>
              </a:rPr>
              <a:t>阶段决定，需要在各级流水中根据需要保存</a:t>
            </a:r>
            <a:endParaRPr lang="en-US" altLang="zh-CN" sz="2400" b="0" dirty="0">
              <a:latin typeface="SimHei" panose="02010609060101010101" pitchFamily="49" charset="-122"/>
              <a:ea typeface="SimHei" panose="02010609060101010101" pitchFamily="49" charset="-122"/>
            </a:endParaRPr>
          </a:p>
        </p:txBody>
      </p:sp>
      <p:sp>
        <p:nvSpPr>
          <p:cNvPr id="4" name="灯片编号占位符 3">
            <a:extLst>
              <a:ext uri="{FF2B5EF4-FFF2-40B4-BE49-F238E27FC236}">
                <a16:creationId xmlns:a16="http://schemas.microsoft.com/office/drawing/2014/main" id="{200D47AE-A815-4C68-ADBF-678B125383D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1806CE5-282B-4233-8654-09F35EA875E2}" type="slidenum">
              <a:rPr lang="zh-CN" altLang="en-US" smtClean="0"/>
              <a:t>76</a:t>
            </a:fld>
            <a:endParaRPr lang="zh-CN" altLang="en-US"/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22A788A7-BB88-574E-A6B8-06376BF2719D}"/>
              </a:ext>
            </a:extLst>
          </p:cNvPr>
          <p:cNvSpPr/>
          <p:nvPr/>
        </p:nvSpPr>
        <p:spPr>
          <a:xfrm>
            <a:off x="136525" y="5740952"/>
            <a:ext cx="2332678" cy="70788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zh-CN" altLang="en-US" sz="2000" dirty="0">
                <a:solidFill>
                  <a:srgbClr val="3333FF"/>
                </a:solidFill>
                <a:latin typeface="SimHei" panose="02010609060101010101" pitchFamily="49" charset="-122"/>
                <a:ea typeface="SimHei" panose="02010609060101010101" pitchFamily="49" charset="-122"/>
              </a:rPr>
              <a:t>思考：</a:t>
            </a:r>
            <a:br>
              <a:rPr lang="en-US" altLang="zh-CN" sz="2000" dirty="0">
                <a:solidFill>
                  <a:srgbClr val="3333FF"/>
                </a:solidFill>
                <a:latin typeface="SimHei" panose="02010609060101010101" pitchFamily="49" charset="-122"/>
                <a:ea typeface="SimHei" panose="02010609060101010101" pitchFamily="49" charset="-122"/>
              </a:rPr>
            </a:br>
            <a:r>
              <a:rPr lang="zh-CN" altLang="en-US" sz="2000" dirty="0">
                <a:solidFill>
                  <a:srgbClr val="3333FF"/>
                </a:solidFill>
                <a:latin typeface="SimHei" panose="02010609060101010101" pitchFamily="49" charset="-122"/>
                <a:ea typeface="SimHei" panose="02010609060101010101" pitchFamily="49" charset="-122"/>
              </a:rPr>
              <a:t>需要哪些控制信号？</a:t>
            </a:r>
            <a:endParaRPr lang="en-CN" sz="2000" dirty="0">
              <a:solidFill>
                <a:srgbClr val="3333FF"/>
              </a:solidFill>
              <a:latin typeface="SimHei" panose="02010609060101010101" pitchFamily="49" charset="-122"/>
              <a:ea typeface="SimHei" panose="02010609060101010101" pitchFamily="49" charset="-122"/>
            </a:endParaRPr>
          </a:p>
        </p:txBody>
      </p:sp>
      <p:sp>
        <p:nvSpPr>
          <p:cNvPr id="183" name="Line 8">
            <a:extLst>
              <a:ext uri="{FF2B5EF4-FFF2-40B4-BE49-F238E27FC236}">
                <a16:creationId xmlns:a16="http://schemas.microsoft.com/office/drawing/2014/main" id="{90B421E2-E7EB-4620-994E-C23146A0F145}"/>
              </a:ext>
            </a:extLst>
          </p:cNvPr>
          <p:cNvSpPr>
            <a:spLocks noChangeShapeType="1"/>
          </p:cNvSpPr>
          <p:nvPr/>
        </p:nvSpPr>
        <p:spPr bwMode="auto">
          <a:xfrm>
            <a:off x="2720754" y="5713488"/>
            <a:ext cx="1747538" cy="0"/>
          </a:xfrm>
          <a:prstGeom prst="line">
            <a:avLst/>
          </a:prstGeom>
          <a:noFill/>
          <a:ln w="19050">
            <a:solidFill>
              <a:sysClr val="windowText" lastClr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</a:endParaRPr>
          </a:p>
        </p:txBody>
      </p:sp>
      <p:sp>
        <p:nvSpPr>
          <p:cNvPr id="184" name="Line 9">
            <a:extLst>
              <a:ext uri="{FF2B5EF4-FFF2-40B4-BE49-F238E27FC236}">
                <a16:creationId xmlns:a16="http://schemas.microsoft.com/office/drawing/2014/main" id="{DC2E5772-B0C3-4A26-81C0-F6634BA90C6E}"/>
              </a:ext>
            </a:extLst>
          </p:cNvPr>
          <p:cNvSpPr>
            <a:spLocks noChangeShapeType="1"/>
          </p:cNvSpPr>
          <p:nvPr/>
        </p:nvSpPr>
        <p:spPr bwMode="auto">
          <a:xfrm>
            <a:off x="4620252" y="5713488"/>
            <a:ext cx="1048762" cy="0"/>
          </a:xfrm>
          <a:prstGeom prst="line">
            <a:avLst/>
          </a:prstGeom>
          <a:noFill/>
          <a:ln w="19050">
            <a:solidFill>
              <a:sysClr val="windowText" lastClr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</a:endParaRPr>
          </a:p>
        </p:txBody>
      </p:sp>
      <p:sp>
        <p:nvSpPr>
          <p:cNvPr id="362" name="Line 10">
            <a:extLst>
              <a:ext uri="{FF2B5EF4-FFF2-40B4-BE49-F238E27FC236}">
                <a16:creationId xmlns:a16="http://schemas.microsoft.com/office/drawing/2014/main" id="{6D8BFEAC-D01B-4416-A13B-84FA75FB3105}"/>
              </a:ext>
            </a:extLst>
          </p:cNvPr>
          <p:cNvSpPr>
            <a:spLocks noChangeShapeType="1"/>
          </p:cNvSpPr>
          <p:nvPr/>
        </p:nvSpPr>
        <p:spPr bwMode="auto">
          <a:xfrm>
            <a:off x="6291810" y="5713488"/>
            <a:ext cx="1671558" cy="0"/>
          </a:xfrm>
          <a:prstGeom prst="line">
            <a:avLst/>
          </a:prstGeom>
          <a:noFill/>
          <a:ln w="19050">
            <a:solidFill>
              <a:sysClr val="windowText" lastClr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</a:endParaRPr>
          </a:p>
        </p:txBody>
      </p:sp>
      <p:sp>
        <p:nvSpPr>
          <p:cNvPr id="363" name="Line 11">
            <a:extLst>
              <a:ext uri="{FF2B5EF4-FFF2-40B4-BE49-F238E27FC236}">
                <a16:creationId xmlns:a16="http://schemas.microsoft.com/office/drawing/2014/main" id="{588A2975-87D0-4AB1-8482-BE8FD6BC1C49}"/>
              </a:ext>
            </a:extLst>
          </p:cNvPr>
          <p:cNvSpPr>
            <a:spLocks noChangeShapeType="1"/>
          </p:cNvSpPr>
          <p:nvPr/>
        </p:nvSpPr>
        <p:spPr bwMode="auto">
          <a:xfrm>
            <a:off x="2720754" y="5435728"/>
            <a:ext cx="0" cy="277759"/>
          </a:xfrm>
          <a:prstGeom prst="line">
            <a:avLst/>
          </a:prstGeom>
          <a:noFill/>
          <a:ln w="19050">
            <a:solidFill>
              <a:sysClr val="windowText" lastClr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</a:endParaRPr>
          </a:p>
        </p:txBody>
      </p:sp>
      <p:sp>
        <p:nvSpPr>
          <p:cNvPr id="364" name="Line 12">
            <a:extLst>
              <a:ext uri="{FF2B5EF4-FFF2-40B4-BE49-F238E27FC236}">
                <a16:creationId xmlns:a16="http://schemas.microsoft.com/office/drawing/2014/main" id="{55012DB5-C369-4C19-8474-398917636296}"/>
              </a:ext>
            </a:extLst>
          </p:cNvPr>
          <p:cNvSpPr>
            <a:spLocks noChangeShapeType="1"/>
          </p:cNvSpPr>
          <p:nvPr/>
        </p:nvSpPr>
        <p:spPr bwMode="auto">
          <a:xfrm>
            <a:off x="2644774" y="6161506"/>
            <a:ext cx="5622515" cy="0"/>
          </a:xfrm>
          <a:prstGeom prst="line">
            <a:avLst/>
          </a:prstGeom>
          <a:noFill/>
          <a:ln w="19050">
            <a:solidFill>
              <a:sysClr val="windowText" lastClr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</a:endParaRPr>
          </a:p>
        </p:txBody>
      </p:sp>
      <p:sp>
        <p:nvSpPr>
          <p:cNvPr id="365" name="Line 13">
            <a:extLst>
              <a:ext uri="{FF2B5EF4-FFF2-40B4-BE49-F238E27FC236}">
                <a16:creationId xmlns:a16="http://schemas.microsoft.com/office/drawing/2014/main" id="{B3DEB4A6-017C-4B2B-BD2E-541F521D52CA}"/>
              </a:ext>
            </a:extLst>
          </p:cNvPr>
          <p:cNvSpPr>
            <a:spLocks noChangeShapeType="1"/>
          </p:cNvSpPr>
          <p:nvPr/>
        </p:nvSpPr>
        <p:spPr bwMode="auto">
          <a:xfrm>
            <a:off x="8115329" y="5713488"/>
            <a:ext cx="151960" cy="0"/>
          </a:xfrm>
          <a:prstGeom prst="line">
            <a:avLst/>
          </a:prstGeom>
          <a:noFill/>
          <a:ln w="19050">
            <a:solidFill>
              <a:sysClr val="windowText" lastClr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</a:endParaRPr>
          </a:p>
        </p:txBody>
      </p:sp>
      <p:sp>
        <p:nvSpPr>
          <p:cNvPr id="366" name="Line 14">
            <a:extLst>
              <a:ext uri="{FF2B5EF4-FFF2-40B4-BE49-F238E27FC236}">
                <a16:creationId xmlns:a16="http://schemas.microsoft.com/office/drawing/2014/main" id="{FC61331C-2A6D-4C72-BB90-E7CA5318B311}"/>
              </a:ext>
            </a:extLst>
          </p:cNvPr>
          <p:cNvSpPr>
            <a:spLocks noChangeShapeType="1"/>
          </p:cNvSpPr>
          <p:nvPr/>
        </p:nvSpPr>
        <p:spPr bwMode="auto">
          <a:xfrm>
            <a:off x="8267288" y="5713488"/>
            <a:ext cx="0" cy="448018"/>
          </a:xfrm>
          <a:prstGeom prst="line">
            <a:avLst/>
          </a:prstGeom>
          <a:noFill/>
          <a:ln w="19050">
            <a:solidFill>
              <a:sysClr val="windowText" lastClr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</a:endParaRPr>
          </a:p>
        </p:txBody>
      </p:sp>
      <p:sp>
        <p:nvSpPr>
          <p:cNvPr id="367" name="Line 15">
            <a:extLst>
              <a:ext uri="{FF2B5EF4-FFF2-40B4-BE49-F238E27FC236}">
                <a16:creationId xmlns:a16="http://schemas.microsoft.com/office/drawing/2014/main" id="{72E677A1-4762-45A1-A6EF-371AED679CC2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644774" y="4519264"/>
            <a:ext cx="0" cy="1642241"/>
          </a:xfrm>
          <a:prstGeom prst="line">
            <a:avLst/>
          </a:prstGeom>
          <a:noFill/>
          <a:ln w="19050">
            <a:solidFill>
              <a:sysClr val="windowText" lastClr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</a:endParaRPr>
          </a:p>
        </p:txBody>
      </p:sp>
      <p:sp>
        <p:nvSpPr>
          <p:cNvPr id="368" name="Line 16">
            <a:extLst>
              <a:ext uri="{FF2B5EF4-FFF2-40B4-BE49-F238E27FC236}">
                <a16:creationId xmlns:a16="http://schemas.microsoft.com/office/drawing/2014/main" id="{4E2B610E-8ED0-4F78-B42A-CE636410F456}"/>
              </a:ext>
            </a:extLst>
          </p:cNvPr>
          <p:cNvSpPr>
            <a:spLocks noChangeShapeType="1"/>
          </p:cNvSpPr>
          <p:nvPr/>
        </p:nvSpPr>
        <p:spPr bwMode="auto">
          <a:xfrm>
            <a:off x="2644774" y="4524727"/>
            <a:ext cx="379900" cy="0"/>
          </a:xfrm>
          <a:prstGeom prst="line">
            <a:avLst/>
          </a:prstGeom>
          <a:noFill/>
          <a:ln w="19050">
            <a:solidFill>
              <a:sysClr val="windowText" lastClr="00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</a:endParaRPr>
          </a:p>
        </p:txBody>
      </p:sp>
      <p:grpSp>
        <p:nvGrpSpPr>
          <p:cNvPr id="369" name="Group 17">
            <a:extLst>
              <a:ext uri="{FF2B5EF4-FFF2-40B4-BE49-F238E27FC236}">
                <a16:creationId xmlns:a16="http://schemas.microsoft.com/office/drawing/2014/main" id="{988EB290-78CA-40A2-A95A-1EFBF943B9EC}"/>
              </a:ext>
            </a:extLst>
          </p:cNvPr>
          <p:cNvGrpSpPr>
            <a:grpSpLocks/>
          </p:cNvGrpSpPr>
          <p:nvPr/>
        </p:nvGrpSpPr>
        <p:grpSpPr bwMode="auto">
          <a:xfrm>
            <a:off x="1657035" y="2727575"/>
            <a:ext cx="379900" cy="833278"/>
            <a:chOff x="1392" y="2880"/>
            <a:chExt cx="288" cy="480"/>
          </a:xfrm>
        </p:grpSpPr>
        <p:sp>
          <p:nvSpPr>
            <p:cNvPr id="370" name="Line 18">
              <a:extLst>
                <a:ext uri="{FF2B5EF4-FFF2-40B4-BE49-F238E27FC236}">
                  <a16:creationId xmlns:a16="http://schemas.microsoft.com/office/drawing/2014/main" id="{6D7BE235-13C8-48D1-9769-2A66E212655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92" y="3072"/>
              <a:ext cx="48" cy="48"/>
            </a:xfrm>
            <a:prstGeom prst="line">
              <a:avLst/>
            </a:prstGeom>
            <a:noFill/>
            <a:ln w="19050">
              <a:solidFill>
                <a:sysClr val="windowText" lastClr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F0502020204030204"/>
                <a:ea typeface="等线" panose="02010600030101010101" pitchFamily="2" charset="-122"/>
              </a:endParaRPr>
            </a:p>
          </p:txBody>
        </p:sp>
        <p:sp>
          <p:nvSpPr>
            <p:cNvPr id="371" name="Line 19">
              <a:extLst>
                <a:ext uri="{FF2B5EF4-FFF2-40B4-BE49-F238E27FC236}">
                  <a16:creationId xmlns:a16="http://schemas.microsoft.com/office/drawing/2014/main" id="{B6807838-C4D3-4D51-B86B-4EAD9B0DC01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392" y="3120"/>
              <a:ext cx="48" cy="48"/>
            </a:xfrm>
            <a:prstGeom prst="line">
              <a:avLst/>
            </a:prstGeom>
            <a:noFill/>
            <a:ln w="19050">
              <a:solidFill>
                <a:sysClr val="windowText" lastClr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F0502020204030204"/>
                <a:ea typeface="等线" panose="02010600030101010101" pitchFamily="2" charset="-122"/>
              </a:endParaRPr>
            </a:p>
          </p:txBody>
        </p:sp>
        <p:sp>
          <p:nvSpPr>
            <p:cNvPr id="372" name="Line 20">
              <a:extLst>
                <a:ext uri="{FF2B5EF4-FFF2-40B4-BE49-F238E27FC236}">
                  <a16:creationId xmlns:a16="http://schemas.microsoft.com/office/drawing/2014/main" id="{64EBBE88-667C-4D81-BBE1-1B79A1248F0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392" y="2880"/>
              <a:ext cx="0" cy="192"/>
            </a:xfrm>
            <a:prstGeom prst="line">
              <a:avLst/>
            </a:prstGeom>
            <a:noFill/>
            <a:ln w="19050">
              <a:solidFill>
                <a:sysClr val="windowText" lastClr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F0502020204030204"/>
                <a:ea typeface="等线" panose="02010600030101010101" pitchFamily="2" charset="-122"/>
              </a:endParaRPr>
            </a:p>
          </p:txBody>
        </p:sp>
        <p:sp>
          <p:nvSpPr>
            <p:cNvPr id="373" name="Line 21">
              <a:extLst>
                <a:ext uri="{FF2B5EF4-FFF2-40B4-BE49-F238E27FC236}">
                  <a16:creationId xmlns:a16="http://schemas.microsoft.com/office/drawing/2014/main" id="{BC3FFC5D-B5B6-4C63-823F-9593CC1B8C9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392" y="3168"/>
              <a:ext cx="0" cy="192"/>
            </a:xfrm>
            <a:prstGeom prst="line">
              <a:avLst/>
            </a:prstGeom>
            <a:noFill/>
            <a:ln w="19050">
              <a:solidFill>
                <a:sysClr val="windowText" lastClr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F0502020204030204"/>
                <a:ea typeface="等线" panose="02010600030101010101" pitchFamily="2" charset="-122"/>
              </a:endParaRPr>
            </a:p>
          </p:txBody>
        </p:sp>
        <p:sp>
          <p:nvSpPr>
            <p:cNvPr id="374" name="Line 22">
              <a:extLst>
                <a:ext uri="{FF2B5EF4-FFF2-40B4-BE49-F238E27FC236}">
                  <a16:creationId xmlns:a16="http://schemas.microsoft.com/office/drawing/2014/main" id="{E15965F3-8ACD-4481-9528-CF86773CD3D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392" y="3216"/>
              <a:ext cx="288" cy="144"/>
            </a:xfrm>
            <a:prstGeom prst="line">
              <a:avLst/>
            </a:prstGeom>
            <a:noFill/>
            <a:ln w="19050">
              <a:solidFill>
                <a:sysClr val="windowText" lastClr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F0502020204030204"/>
                <a:ea typeface="等线" panose="02010600030101010101" pitchFamily="2" charset="-122"/>
              </a:endParaRPr>
            </a:p>
          </p:txBody>
        </p:sp>
        <p:sp>
          <p:nvSpPr>
            <p:cNvPr id="375" name="Line 23">
              <a:extLst>
                <a:ext uri="{FF2B5EF4-FFF2-40B4-BE49-F238E27FC236}">
                  <a16:creationId xmlns:a16="http://schemas.microsoft.com/office/drawing/2014/main" id="{E1FC960A-538D-4783-9437-07D436C978C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680" y="3024"/>
              <a:ext cx="0" cy="192"/>
            </a:xfrm>
            <a:prstGeom prst="line">
              <a:avLst/>
            </a:prstGeom>
            <a:noFill/>
            <a:ln w="19050">
              <a:solidFill>
                <a:sysClr val="windowText" lastClr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F0502020204030204"/>
                <a:ea typeface="等线" panose="02010600030101010101" pitchFamily="2" charset="-122"/>
              </a:endParaRPr>
            </a:p>
          </p:txBody>
        </p:sp>
        <p:sp>
          <p:nvSpPr>
            <p:cNvPr id="376" name="Line 24">
              <a:extLst>
                <a:ext uri="{FF2B5EF4-FFF2-40B4-BE49-F238E27FC236}">
                  <a16:creationId xmlns:a16="http://schemas.microsoft.com/office/drawing/2014/main" id="{32AF770E-F32A-4D70-B67E-A986D0ED32D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92" y="2880"/>
              <a:ext cx="288" cy="144"/>
            </a:xfrm>
            <a:prstGeom prst="line">
              <a:avLst/>
            </a:prstGeom>
            <a:noFill/>
            <a:ln w="19050">
              <a:solidFill>
                <a:sysClr val="windowText" lastClr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F0502020204030204"/>
                <a:ea typeface="等线" panose="02010600030101010101" pitchFamily="2" charset="-122"/>
              </a:endParaRPr>
            </a:p>
          </p:txBody>
        </p:sp>
      </p:grpSp>
      <p:sp>
        <p:nvSpPr>
          <p:cNvPr id="377" name="Rectangle 25">
            <a:extLst>
              <a:ext uri="{FF2B5EF4-FFF2-40B4-BE49-F238E27FC236}">
                <a16:creationId xmlns:a16="http://schemas.microsoft.com/office/drawing/2014/main" id="{2684B2AB-89E1-4FCB-A804-7B00AAE5C04D}"/>
              </a:ext>
            </a:extLst>
          </p:cNvPr>
          <p:cNvSpPr>
            <a:spLocks noChangeArrowheads="1"/>
          </p:cNvSpPr>
          <p:nvPr/>
        </p:nvSpPr>
        <p:spPr bwMode="auto">
          <a:xfrm>
            <a:off x="973215" y="3630293"/>
            <a:ext cx="1291659" cy="1319357"/>
          </a:xfrm>
          <a:prstGeom prst="rect">
            <a:avLst/>
          </a:prstGeom>
          <a:noFill/>
          <a:ln w="19050">
            <a:solidFill>
              <a:sysClr val="windowText" lastClr="000000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</a:endParaRPr>
          </a:p>
        </p:txBody>
      </p:sp>
      <p:sp>
        <p:nvSpPr>
          <p:cNvPr id="378" name="Rectangle 26">
            <a:extLst>
              <a:ext uri="{FF2B5EF4-FFF2-40B4-BE49-F238E27FC236}">
                <a16:creationId xmlns:a16="http://schemas.microsoft.com/office/drawing/2014/main" id="{6434E9C7-2AB1-4339-BDE5-5974950A6F58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7336" y="3977492"/>
            <a:ext cx="151960" cy="763838"/>
          </a:xfrm>
          <a:prstGeom prst="rect">
            <a:avLst/>
          </a:prstGeom>
          <a:noFill/>
          <a:ln w="19050">
            <a:solidFill>
              <a:sysClr val="windowText" lastClr="000000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</a:endParaRPr>
          </a:p>
        </p:txBody>
      </p:sp>
      <p:sp>
        <p:nvSpPr>
          <p:cNvPr id="379" name="Line 27">
            <a:extLst>
              <a:ext uri="{FF2B5EF4-FFF2-40B4-BE49-F238E27FC236}">
                <a16:creationId xmlns:a16="http://schemas.microsoft.com/office/drawing/2014/main" id="{004C2124-04DB-45FD-B751-2F7198269E9D}"/>
              </a:ext>
            </a:extLst>
          </p:cNvPr>
          <p:cNvSpPr>
            <a:spLocks noChangeShapeType="1"/>
          </p:cNvSpPr>
          <p:nvPr/>
        </p:nvSpPr>
        <p:spPr bwMode="auto">
          <a:xfrm>
            <a:off x="669296" y="4324691"/>
            <a:ext cx="303920" cy="0"/>
          </a:xfrm>
          <a:prstGeom prst="line">
            <a:avLst/>
          </a:prstGeom>
          <a:noFill/>
          <a:ln w="19050">
            <a:solidFill>
              <a:sysClr val="windowText" lastClr="00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</a:endParaRPr>
          </a:p>
        </p:txBody>
      </p:sp>
      <p:sp>
        <p:nvSpPr>
          <p:cNvPr id="380" name="Line 28">
            <a:extLst>
              <a:ext uri="{FF2B5EF4-FFF2-40B4-BE49-F238E27FC236}">
                <a16:creationId xmlns:a16="http://schemas.microsoft.com/office/drawing/2014/main" id="{E452EE8F-56C0-450D-B6D4-138052A8C9EF}"/>
              </a:ext>
            </a:extLst>
          </p:cNvPr>
          <p:cNvSpPr>
            <a:spLocks noChangeShapeType="1"/>
          </p:cNvSpPr>
          <p:nvPr/>
        </p:nvSpPr>
        <p:spPr bwMode="auto">
          <a:xfrm>
            <a:off x="745276" y="2866455"/>
            <a:ext cx="911759" cy="0"/>
          </a:xfrm>
          <a:prstGeom prst="line">
            <a:avLst/>
          </a:prstGeom>
          <a:noFill/>
          <a:ln w="19050">
            <a:solidFill>
              <a:sysClr val="windowText" lastClr="00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</a:endParaRPr>
          </a:p>
        </p:txBody>
      </p:sp>
      <p:sp>
        <p:nvSpPr>
          <p:cNvPr id="381" name="Line 29">
            <a:extLst>
              <a:ext uri="{FF2B5EF4-FFF2-40B4-BE49-F238E27FC236}">
                <a16:creationId xmlns:a16="http://schemas.microsoft.com/office/drawing/2014/main" id="{4478DCD9-B06A-425B-98C8-C077C4702185}"/>
              </a:ext>
            </a:extLst>
          </p:cNvPr>
          <p:cNvSpPr>
            <a:spLocks noChangeShapeType="1"/>
          </p:cNvSpPr>
          <p:nvPr/>
        </p:nvSpPr>
        <p:spPr bwMode="auto">
          <a:xfrm>
            <a:off x="1277135" y="3421973"/>
            <a:ext cx="379900" cy="0"/>
          </a:xfrm>
          <a:prstGeom prst="line">
            <a:avLst/>
          </a:prstGeom>
          <a:noFill/>
          <a:ln w="19050">
            <a:solidFill>
              <a:sysClr val="windowText" lastClr="00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</a:endParaRPr>
          </a:p>
        </p:txBody>
      </p:sp>
      <p:sp>
        <p:nvSpPr>
          <p:cNvPr id="382" name="Text Box 30">
            <a:extLst>
              <a:ext uri="{FF2B5EF4-FFF2-40B4-BE49-F238E27FC236}">
                <a16:creationId xmlns:a16="http://schemas.microsoft.com/office/drawing/2014/main" id="{5F7BE18E-FC5F-4F48-BACB-35C83E7F252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97235" y="4116372"/>
            <a:ext cx="747290" cy="46165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1425" tIns="45713" rIns="91425" bIns="45713">
            <a:spAutoFit/>
          </a:bodyPr>
          <a:lstStyle>
            <a:lvl1pPr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1pPr>
            <a:lvl2pPr marL="742950" indent="-28575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2pPr>
            <a:lvl3pPr marL="11430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3pPr>
            <a:lvl4pPr marL="16002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4pPr>
            <a:lvl5pPr marL="20574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9pPr>
          </a:lstStyle>
          <a:p>
            <a:pPr fontAlgn="auto">
              <a:spcBef>
                <a:spcPts val="0"/>
              </a:spcBef>
              <a:spcAft>
                <a:spcPts val="0"/>
              </a:spcAft>
            </a:pPr>
            <a:r>
              <a:rPr lang="en-US" altLang="zh-CN" sz="1200" b="0" dirty="0">
                <a:solidFill>
                  <a:prstClr val="black"/>
                </a:solidFill>
                <a:latin typeface="Arial" pitchFamily="34" charset="0"/>
                <a:ea typeface="SimHei" panose="02010609060101010101" pitchFamily="49" charset="-122"/>
              </a:rPr>
              <a:t>Read</a:t>
            </a:r>
          </a:p>
          <a:p>
            <a:pPr fontAlgn="auto">
              <a:spcBef>
                <a:spcPts val="0"/>
              </a:spcBef>
              <a:spcAft>
                <a:spcPts val="0"/>
              </a:spcAft>
            </a:pPr>
            <a:r>
              <a:rPr lang="en-US" altLang="zh-CN" sz="1200" b="0" dirty="0">
                <a:solidFill>
                  <a:prstClr val="black"/>
                </a:solidFill>
                <a:latin typeface="Arial" pitchFamily="34" charset="0"/>
                <a:ea typeface="SimHei" panose="02010609060101010101" pitchFamily="49" charset="-122"/>
              </a:rPr>
              <a:t>Address</a:t>
            </a:r>
          </a:p>
        </p:txBody>
      </p:sp>
      <p:sp>
        <p:nvSpPr>
          <p:cNvPr id="383" name="Text Box 31">
            <a:extLst>
              <a:ext uri="{FF2B5EF4-FFF2-40B4-BE49-F238E27FC236}">
                <a16:creationId xmlns:a16="http://schemas.microsoft.com/office/drawing/2014/main" id="{E2E84BF3-56DF-4BD6-86AB-688A3E04137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205762" y="3642334"/>
            <a:ext cx="1010182" cy="52320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1425" tIns="45713" rIns="91425" bIns="45713">
            <a:spAutoFit/>
          </a:bodyPr>
          <a:lstStyle>
            <a:lvl1pPr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1pPr>
            <a:lvl2pPr marL="742950" indent="-28575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2pPr>
            <a:lvl3pPr marL="11430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3pPr>
            <a:lvl4pPr marL="16002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4pPr>
            <a:lvl5pPr marL="20574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9pPr>
          </a:lstStyle>
          <a:p>
            <a:pPr algn="ctr" fontAlgn="auto">
              <a:spcBef>
                <a:spcPts val="0"/>
              </a:spcBef>
              <a:spcAft>
                <a:spcPts val="0"/>
              </a:spcAft>
            </a:pPr>
            <a:r>
              <a:rPr lang="en-US" altLang="zh-CN" sz="1400" b="0" dirty="0">
                <a:solidFill>
                  <a:prstClr val="black"/>
                </a:solidFill>
                <a:latin typeface="Arial" pitchFamily="34" charset="0"/>
                <a:ea typeface="SimHei" panose="02010609060101010101" pitchFamily="49" charset="-122"/>
              </a:rPr>
              <a:t>Instruction</a:t>
            </a:r>
          </a:p>
          <a:p>
            <a:pPr algn="ctr" fontAlgn="auto">
              <a:spcBef>
                <a:spcPts val="0"/>
              </a:spcBef>
              <a:spcAft>
                <a:spcPts val="0"/>
              </a:spcAft>
            </a:pPr>
            <a:r>
              <a:rPr lang="en-US" altLang="zh-CN" sz="1400" b="0" dirty="0">
                <a:solidFill>
                  <a:prstClr val="black"/>
                </a:solidFill>
                <a:latin typeface="Arial" pitchFamily="34" charset="0"/>
                <a:ea typeface="SimHei" panose="02010609060101010101" pitchFamily="49" charset="-122"/>
              </a:rPr>
              <a:t>Memory</a:t>
            </a:r>
          </a:p>
        </p:txBody>
      </p:sp>
      <p:sp>
        <p:nvSpPr>
          <p:cNvPr id="384" name="Text Box 32">
            <a:extLst>
              <a:ext uri="{FF2B5EF4-FFF2-40B4-BE49-F238E27FC236}">
                <a16:creationId xmlns:a16="http://schemas.microsoft.com/office/drawing/2014/main" id="{14865EDC-627E-4AFC-ADEC-42AB9646CCD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631709" y="3005189"/>
            <a:ext cx="457146" cy="27698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1425" tIns="45713" rIns="91425" bIns="45713">
            <a:spAutoFit/>
          </a:bodyPr>
          <a:lstStyle>
            <a:lvl1pPr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1pPr>
            <a:lvl2pPr marL="742950" indent="-28575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2pPr>
            <a:lvl3pPr marL="11430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3pPr>
            <a:lvl4pPr marL="16002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4pPr>
            <a:lvl5pPr marL="20574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9pPr>
          </a:lstStyle>
          <a:p>
            <a:pPr fontAlgn="auto">
              <a:spcBef>
                <a:spcPts val="0"/>
              </a:spcBef>
              <a:spcAft>
                <a:spcPts val="0"/>
              </a:spcAft>
            </a:pPr>
            <a:r>
              <a:rPr lang="en-US" altLang="zh-CN" sz="1200" b="0" dirty="0">
                <a:solidFill>
                  <a:prstClr val="black"/>
                </a:solidFill>
                <a:latin typeface="Arial" pitchFamily="34" charset="0"/>
                <a:ea typeface="SimHei" panose="02010609060101010101" pitchFamily="49" charset="-122"/>
              </a:rPr>
              <a:t>Add</a:t>
            </a:r>
          </a:p>
        </p:txBody>
      </p:sp>
      <p:sp>
        <p:nvSpPr>
          <p:cNvPr id="385" name="Text Box 33">
            <a:extLst>
              <a:ext uri="{FF2B5EF4-FFF2-40B4-BE49-F238E27FC236}">
                <a16:creationId xmlns:a16="http://schemas.microsoft.com/office/drawing/2014/main" id="{3C26D3A2-5AFD-4CC2-AD37-DBD15B51D1C5}"/>
              </a:ext>
            </a:extLst>
          </p:cNvPr>
          <p:cNvSpPr txBox="1">
            <a:spLocks noChangeArrowheads="1"/>
          </p:cNvSpPr>
          <p:nvPr/>
        </p:nvSpPr>
        <p:spPr bwMode="auto">
          <a:xfrm rot="16200000">
            <a:off x="396774" y="4241894"/>
            <a:ext cx="397836" cy="27698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1425" tIns="45713" rIns="91425" bIns="45713">
            <a:spAutoFit/>
          </a:bodyPr>
          <a:lstStyle>
            <a:lvl1pPr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1pPr>
            <a:lvl2pPr marL="742950" indent="-28575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2pPr>
            <a:lvl3pPr marL="11430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3pPr>
            <a:lvl4pPr marL="16002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4pPr>
            <a:lvl5pPr marL="20574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9pPr>
          </a:lstStyle>
          <a:p>
            <a:pPr fontAlgn="auto">
              <a:spcBef>
                <a:spcPts val="0"/>
              </a:spcBef>
              <a:spcAft>
                <a:spcPts val="0"/>
              </a:spcAft>
            </a:pPr>
            <a:r>
              <a:rPr lang="en-US" altLang="zh-CN" sz="1200" b="0" dirty="0">
                <a:solidFill>
                  <a:prstClr val="black"/>
                </a:solidFill>
                <a:latin typeface="Arial" pitchFamily="34" charset="0"/>
                <a:ea typeface="SimHei" panose="02010609060101010101" pitchFamily="49" charset="-122"/>
              </a:rPr>
              <a:t>PC</a:t>
            </a:r>
          </a:p>
        </p:txBody>
      </p:sp>
      <p:sp>
        <p:nvSpPr>
          <p:cNvPr id="386" name="Line 34">
            <a:extLst>
              <a:ext uri="{FF2B5EF4-FFF2-40B4-BE49-F238E27FC236}">
                <a16:creationId xmlns:a16="http://schemas.microsoft.com/office/drawing/2014/main" id="{A2DF1DD7-74ED-4383-8E74-05E922460EAC}"/>
              </a:ext>
            </a:extLst>
          </p:cNvPr>
          <p:cNvSpPr>
            <a:spLocks noChangeShapeType="1"/>
          </p:cNvSpPr>
          <p:nvPr/>
        </p:nvSpPr>
        <p:spPr bwMode="auto">
          <a:xfrm>
            <a:off x="213416" y="4324691"/>
            <a:ext cx="303920" cy="0"/>
          </a:xfrm>
          <a:prstGeom prst="line">
            <a:avLst/>
          </a:prstGeom>
          <a:noFill/>
          <a:ln w="19050">
            <a:solidFill>
              <a:sysClr val="windowText" lastClr="00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</a:endParaRPr>
          </a:p>
        </p:txBody>
      </p:sp>
      <p:sp>
        <p:nvSpPr>
          <p:cNvPr id="387" name="Text Box 35">
            <a:extLst>
              <a:ext uri="{FF2B5EF4-FFF2-40B4-BE49-F238E27FC236}">
                <a16:creationId xmlns:a16="http://schemas.microsoft.com/office/drawing/2014/main" id="{68048B6A-4AD8-4A84-93CC-5CA4E899886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49195" y="3283094"/>
            <a:ext cx="269595" cy="27698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1425" tIns="45713" rIns="91425" bIns="45713">
            <a:spAutoFit/>
          </a:bodyPr>
          <a:lstStyle>
            <a:lvl1pPr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1pPr>
            <a:lvl2pPr marL="742950" indent="-28575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2pPr>
            <a:lvl3pPr marL="11430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3pPr>
            <a:lvl4pPr marL="16002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4pPr>
            <a:lvl5pPr marL="20574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9pPr>
          </a:lstStyle>
          <a:p>
            <a:pPr fontAlgn="auto">
              <a:spcBef>
                <a:spcPts val="0"/>
              </a:spcBef>
              <a:spcAft>
                <a:spcPts val="0"/>
              </a:spcAft>
            </a:pPr>
            <a:r>
              <a:rPr lang="en-US" altLang="zh-CN" sz="1200" b="0" dirty="0">
                <a:solidFill>
                  <a:prstClr val="black"/>
                </a:solidFill>
                <a:latin typeface="Arial" pitchFamily="34" charset="0"/>
                <a:ea typeface="SimHei" panose="02010609060101010101" pitchFamily="49" charset="-122"/>
              </a:rPr>
              <a:t>4</a:t>
            </a:r>
          </a:p>
        </p:txBody>
      </p:sp>
      <p:sp>
        <p:nvSpPr>
          <p:cNvPr id="388" name="Line 36">
            <a:extLst>
              <a:ext uri="{FF2B5EF4-FFF2-40B4-BE49-F238E27FC236}">
                <a16:creationId xmlns:a16="http://schemas.microsoft.com/office/drawing/2014/main" id="{4F14A24F-0550-4710-878D-25E8BB00628B}"/>
              </a:ext>
            </a:extLst>
          </p:cNvPr>
          <p:cNvSpPr>
            <a:spLocks noChangeShapeType="1"/>
          </p:cNvSpPr>
          <p:nvPr/>
        </p:nvSpPr>
        <p:spPr bwMode="auto">
          <a:xfrm>
            <a:off x="213416" y="2102616"/>
            <a:ext cx="0" cy="2222075"/>
          </a:xfrm>
          <a:prstGeom prst="line">
            <a:avLst/>
          </a:prstGeom>
          <a:noFill/>
          <a:ln w="19050">
            <a:solidFill>
              <a:sysClr val="windowText" lastClr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</a:endParaRPr>
          </a:p>
        </p:txBody>
      </p:sp>
      <p:sp>
        <p:nvSpPr>
          <p:cNvPr id="389" name="AutoShape 37">
            <a:extLst>
              <a:ext uri="{FF2B5EF4-FFF2-40B4-BE49-F238E27FC236}">
                <a16:creationId xmlns:a16="http://schemas.microsoft.com/office/drawing/2014/main" id="{25C7271D-CDAE-42FB-9C08-767AF230A3B8}"/>
              </a:ext>
            </a:extLst>
          </p:cNvPr>
          <p:cNvSpPr>
            <a:spLocks noChangeArrowheads="1"/>
          </p:cNvSpPr>
          <p:nvPr/>
        </p:nvSpPr>
        <p:spPr bwMode="auto">
          <a:xfrm rot="5400000" flipH="1">
            <a:off x="850686" y="2023366"/>
            <a:ext cx="624959" cy="227940"/>
          </a:xfrm>
          <a:custGeom>
            <a:avLst/>
            <a:gdLst>
              <a:gd name="T0" fmla="*/ 8 w 21600"/>
              <a:gd name="T1" fmla="*/ 0 h 21600"/>
              <a:gd name="T2" fmla="*/ 4 w 21600"/>
              <a:gd name="T3" fmla="*/ 1 h 21600"/>
              <a:gd name="T4" fmla="*/ 1 w 21600"/>
              <a:gd name="T5" fmla="*/ 0 h 21600"/>
              <a:gd name="T6" fmla="*/ 4 w 21600"/>
              <a:gd name="T7" fmla="*/ 0 h 21600"/>
              <a:gd name="T8" fmla="*/ 0 60000 65536"/>
              <a:gd name="T9" fmla="*/ 0 60000 65536"/>
              <a:gd name="T10" fmla="*/ 0 60000 65536"/>
              <a:gd name="T11" fmla="*/ 0 60000 65536"/>
              <a:gd name="T12" fmla="*/ 4500 w 21600"/>
              <a:gd name="T13" fmla="*/ 4500 h 21600"/>
              <a:gd name="T14" fmla="*/ 17100 w 21600"/>
              <a:gd name="T15" fmla="*/ 17100 h 21600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21600" h="21600">
                <a:moveTo>
                  <a:pt x="0" y="0"/>
                </a:moveTo>
                <a:lnTo>
                  <a:pt x="5400" y="21600"/>
                </a:lnTo>
                <a:lnTo>
                  <a:pt x="16200" y="21600"/>
                </a:lnTo>
                <a:lnTo>
                  <a:pt x="21600" y="0"/>
                </a:lnTo>
                <a:lnTo>
                  <a:pt x="0" y="0"/>
                </a:lnTo>
                <a:close/>
              </a:path>
            </a:pathLst>
          </a:custGeom>
          <a:noFill/>
          <a:ln w="19050">
            <a:solidFill>
              <a:sysClr val="windowText" lastClr="000000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</a:endParaRPr>
          </a:p>
        </p:txBody>
      </p:sp>
      <p:sp>
        <p:nvSpPr>
          <p:cNvPr id="390" name="Line 38">
            <a:extLst>
              <a:ext uri="{FF2B5EF4-FFF2-40B4-BE49-F238E27FC236}">
                <a16:creationId xmlns:a16="http://schemas.microsoft.com/office/drawing/2014/main" id="{AC0C3BB7-BC05-4AAD-972B-1EF5630D4A3B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13415" y="2102616"/>
            <a:ext cx="835779" cy="0"/>
          </a:xfrm>
          <a:prstGeom prst="line">
            <a:avLst/>
          </a:prstGeom>
          <a:noFill/>
          <a:ln w="19050">
            <a:solidFill>
              <a:sysClr val="windowText" lastClr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</a:endParaRPr>
          </a:p>
        </p:txBody>
      </p:sp>
      <p:sp>
        <p:nvSpPr>
          <p:cNvPr id="391" name="Rectangle 40">
            <a:extLst>
              <a:ext uri="{FF2B5EF4-FFF2-40B4-BE49-F238E27FC236}">
                <a16:creationId xmlns:a16="http://schemas.microsoft.com/office/drawing/2014/main" id="{47CBE10D-FA74-4401-8795-66C0B06608FD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1152328" y="1850668"/>
            <a:ext cx="159080" cy="61318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19047" tIns="26984" rIns="19047" bIns="26984"/>
          <a:lstStyle/>
          <a:p>
            <a:pPr eaLnBrk="0" fontAlgn="auto" hangingPunct="0">
              <a:spcBef>
                <a:spcPts val="600"/>
              </a:spcBef>
              <a:spcAft>
                <a:spcPts val="600"/>
              </a:spcAft>
            </a:pPr>
            <a:r>
              <a:rPr lang="en-US" altLang="zh-CN" sz="1200" dirty="0">
                <a:solidFill>
                  <a:prstClr val="black"/>
                </a:solidFill>
                <a:latin typeface="Arial" pitchFamily="34" charset="0"/>
                <a:ea typeface="等线" panose="02010600030101010101" pitchFamily="2" charset="-122"/>
              </a:rPr>
              <a:t>1</a:t>
            </a:r>
          </a:p>
          <a:p>
            <a:pPr eaLnBrk="0" fontAlgn="auto" hangingPunct="0">
              <a:spcBef>
                <a:spcPts val="600"/>
              </a:spcBef>
              <a:spcAft>
                <a:spcPts val="600"/>
              </a:spcAft>
            </a:pPr>
            <a:r>
              <a:rPr lang="en-US" altLang="zh-CN" sz="1200" dirty="0">
                <a:solidFill>
                  <a:prstClr val="black"/>
                </a:solidFill>
                <a:latin typeface="Arial" pitchFamily="34" charset="0"/>
                <a:ea typeface="等线" panose="02010600030101010101" pitchFamily="2" charset="-122"/>
              </a:rPr>
              <a:t>0</a:t>
            </a:r>
          </a:p>
        </p:txBody>
      </p:sp>
      <p:sp>
        <p:nvSpPr>
          <p:cNvPr id="392" name="Line 41">
            <a:extLst>
              <a:ext uri="{FF2B5EF4-FFF2-40B4-BE49-F238E27FC236}">
                <a16:creationId xmlns:a16="http://schemas.microsoft.com/office/drawing/2014/main" id="{EE6EA720-593E-480D-9C78-9BDA02A869F4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277135" y="1963737"/>
            <a:ext cx="5242615" cy="0"/>
          </a:xfrm>
          <a:prstGeom prst="line">
            <a:avLst/>
          </a:prstGeom>
          <a:noFill/>
          <a:ln w="19050">
            <a:solidFill>
              <a:sysClr val="windowText" lastClr="00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</a:endParaRPr>
          </a:p>
        </p:txBody>
      </p:sp>
      <p:sp>
        <p:nvSpPr>
          <p:cNvPr id="393" name="Line 42">
            <a:extLst>
              <a:ext uri="{FF2B5EF4-FFF2-40B4-BE49-F238E27FC236}">
                <a16:creationId xmlns:a16="http://schemas.microsoft.com/office/drawing/2014/main" id="{E4E0B0CD-4379-4008-A20D-32D4C5A98CE9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796734" y="6335894"/>
            <a:ext cx="5926434" cy="0"/>
          </a:xfrm>
          <a:prstGeom prst="line">
            <a:avLst/>
          </a:prstGeom>
          <a:noFill/>
          <a:ln w="19050">
            <a:solidFill>
              <a:sysClr val="windowText" lastClr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</a:endParaRPr>
          </a:p>
        </p:txBody>
      </p:sp>
      <p:sp>
        <p:nvSpPr>
          <p:cNvPr id="394" name="Rectangle 43">
            <a:extLst>
              <a:ext uri="{FF2B5EF4-FFF2-40B4-BE49-F238E27FC236}">
                <a16:creationId xmlns:a16="http://schemas.microsoft.com/office/drawing/2014/main" id="{CE2AD94B-8CB3-4CB4-A60B-2FA18148F36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24673" y="3630293"/>
            <a:ext cx="1291659" cy="1319357"/>
          </a:xfrm>
          <a:prstGeom prst="rect">
            <a:avLst/>
          </a:prstGeom>
          <a:noFill/>
          <a:ln w="19050">
            <a:solidFill>
              <a:sysClr val="windowText" lastClr="000000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</a:endParaRPr>
          </a:p>
        </p:txBody>
      </p:sp>
      <p:sp>
        <p:nvSpPr>
          <p:cNvPr id="395" name="Line 44">
            <a:extLst>
              <a:ext uri="{FF2B5EF4-FFF2-40B4-BE49-F238E27FC236}">
                <a16:creationId xmlns:a16="http://schemas.microsoft.com/office/drawing/2014/main" id="{348EC001-C550-454F-8B7E-3C45821FDB88}"/>
              </a:ext>
            </a:extLst>
          </p:cNvPr>
          <p:cNvSpPr>
            <a:spLocks noChangeShapeType="1"/>
          </p:cNvSpPr>
          <p:nvPr/>
        </p:nvSpPr>
        <p:spPr bwMode="auto">
          <a:xfrm>
            <a:off x="2264874" y="4324691"/>
            <a:ext cx="151960" cy="0"/>
          </a:xfrm>
          <a:prstGeom prst="line">
            <a:avLst/>
          </a:prstGeom>
          <a:noFill/>
          <a:ln w="19050">
            <a:solidFill>
              <a:sysClr val="windowText" lastClr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</a:endParaRPr>
          </a:p>
        </p:txBody>
      </p:sp>
      <p:sp>
        <p:nvSpPr>
          <p:cNvPr id="396" name="Line 45">
            <a:extLst>
              <a:ext uri="{FF2B5EF4-FFF2-40B4-BE49-F238E27FC236}">
                <a16:creationId xmlns:a16="http://schemas.microsoft.com/office/drawing/2014/main" id="{A88F47A7-D4D9-4F74-BC38-B7FDB182551C}"/>
              </a:ext>
            </a:extLst>
          </p:cNvPr>
          <p:cNvSpPr>
            <a:spLocks noChangeShapeType="1"/>
          </p:cNvSpPr>
          <p:nvPr/>
        </p:nvSpPr>
        <p:spPr bwMode="auto">
          <a:xfrm>
            <a:off x="2720754" y="4116372"/>
            <a:ext cx="303920" cy="0"/>
          </a:xfrm>
          <a:prstGeom prst="line">
            <a:avLst/>
          </a:prstGeom>
          <a:noFill/>
          <a:ln w="19050">
            <a:solidFill>
              <a:sysClr val="windowText" lastClr="00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</a:endParaRPr>
          </a:p>
        </p:txBody>
      </p:sp>
      <p:sp>
        <p:nvSpPr>
          <p:cNvPr id="397" name="Text Box 46">
            <a:extLst>
              <a:ext uri="{FF2B5EF4-FFF2-40B4-BE49-F238E27FC236}">
                <a16:creationId xmlns:a16="http://schemas.microsoft.com/office/drawing/2014/main" id="{09BAB3EF-DCB3-407E-9694-550A4AB1AB6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948693" y="4671890"/>
            <a:ext cx="908039" cy="27698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1425" tIns="45713" rIns="91425" bIns="45713">
            <a:spAutoFit/>
          </a:bodyPr>
          <a:lstStyle>
            <a:lvl1pPr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1pPr>
            <a:lvl2pPr marL="742950" indent="-28575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2pPr>
            <a:lvl3pPr marL="11430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3pPr>
            <a:lvl4pPr marL="16002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4pPr>
            <a:lvl5pPr marL="20574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9pPr>
          </a:lstStyle>
          <a:p>
            <a:pPr fontAlgn="auto">
              <a:spcBef>
                <a:spcPts val="0"/>
              </a:spcBef>
              <a:spcAft>
                <a:spcPts val="0"/>
              </a:spcAft>
            </a:pPr>
            <a:r>
              <a:rPr lang="en-US" altLang="zh-CN" sz="1200" b="0" dirty="0">
                <a:solidFill>
                  <a:prstClr val="black"/>
                </a:solidFill>
                <a:latin typeface="Arial" pitchFamily="34" charset="0"/>
                <a:ea typeface="SimHei" panose="02010609060101010101" pitchFamily="49" charset="-122"/>
              </a:rPr>
              <a:t>Write Data</a:t>
            </a:r>
          </a:p>
        </p:txBody>
      </p:sp>
      <p:sp>
        <p:nvSpPr>
          <p:cNvPr id="398" name="Text Box 47">
            <a:extLst>
              <a:ext uri="{FF2B5EF4-FFF2-40B4-BE49-F238E27FC236}">
                <a16:creationId xmlns:a16="http://schemas.microsoft.com/office/drawing/2014/main" id="{864D8122-0BCF-485A-8F4B-E1ABB4F3EB2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962940" y="3573873"/>
            <a:ext cx="636332" cy="46148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1425" tIns="45713" rIns="91425" bIns="45713">
            <a:spAutoFit/>
          </a:bodyPr>
          <a:lstStyle>
            <a:lvl1pPr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1pPr>
            <a:lvl2pPr marL="742950" indent="-28575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2pPr>
            <a:lvl3pPr marL="11430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3pPr>
            <a:lvl4pPr marL="16002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4pPr>
            <a:lvl5pPr marL="20574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9pPr>
          </a:lstStyle>
          <a:p>
            <a:pPr fontAlgn="auto">
              <a:spcBef>
                <a:spcPts val="0"/>
              </a:spcBef>
              <a:spcAft>
                <a:spcPts val="0"/>
              </a:spcAft>
            </a:pPr>
            <a:r>
              <a:rPr lang="en-US" altLang="zh-CN" sz="1200" b="0" dirty="0">
                <a:solidFill>
                  <a:prstClr val="black"/>
                </a:solidFill>
                <a:latin typeface="Arial" pitchFamily="34" charset="0"/>
                <a:ea typeface="SimHei" panose="02010609060101010101" pitchFamily="49" charset="-122"/>
              </a:rPr>
              <a:t>Read </a:t>
            </a:r>
          </a:p>
          <a:p>
            <a:pPr fontAlgn="auto">
              <a:spcBef>
                <a:spcPts val="0"/>
              </a:spcBef>
              <a:spcAft>
                <a:spcPts val="0"/>
              </a:spcAft>
            </a:pPr>
            <a:r>
              <a:rPr lang="en-US" altLang="zh-CN" sz="1200" b="0" dirty="0" err="1">
                <a:solidFill>
                  <a:prstClr val="black"/>
                </a:solidFill>
                <a:latin typeface="Arial" pitchFamily="34" charset="0"/>
                <a:ea typeface="SimHei" panose="02010609060101010101" pitchFamily="49" charset="-122"/>
              </a:rPr>
              <a:t>Addr</a:t>
            </a:r>
            <a:r>
              <a:rPr lang="en-US" altLang="zh-CN" sz="1200" b="0" dirty="0">
                <a:solidFill>
                  <a:prstClr val="black"/>
                </a:solidFill>
                <a:latin typeface="Arial" pitchFamily="34" charset="0"/>
                <a:ea typeface="SimHei" panose="02010609060101010101" pitchFamily="49" charset="-122"/>
              </a:rPr>
              <a:t> 1</a:t>
            </a:r>
          </a:p>
        </p:txBody>
      </p:sp>
      <p:sp>
        <p:nvSpPr>
          <p:cNvPr id="399" name="Text Box 48">
            <a:extLst>
              <a:ext uri="{FF2B5EF4-FFF2-40B4-BE49-F238E27FC236}">
                <a16:creationId xmlns:a16="http://schemas.microsoft.com/office/drawing/2014/main" id="{347E0A82-B34B-4994-B804-CC1CF0C84AA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958191" y="3939879"/>
            <a:ext cx="636332" cy="46148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1425" tIns="45713" rIns="91425" bIns="45713">
            <a:spAutoFit/>
          </a:bodyPr>
          <a:lstStyle>
            <a:lvl1pPr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1pPr>
            <a:lvl2pPr marL="742950" indent="-28575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2pPr>
            <a:lvl3pPr marL="11430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3pPr>
            <a:lvl4pPr marL="16002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4pPr>
            <a:lvl5pPr marL="20574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9pPr>
          </a:lstStyle>
          <a:p>
            <a:pPr fontAlgn="auto">
              <a:spcBef>
                <a:spcPts val="0"/>
              </a:spcBef>
              <a:spcAft>
                <a:spcPts val="0"/>
              </a:spcAft>
            </a:pPr>
            <a:r>
              <a:rPr lang="en-US" altLang="zh-CN" sz="1200" b="0" dirty="0">
                <a:solidFill>
                  <a:prstClr val="black"/>
                </a:solidFill>
                <a:latin typeface="Arial" pitchFamily="34" charset="0"/>
                <a:ea typeface="SimHei" panose="02010609060101010101" pitchFamily="49" charset="-122"/>
              </a:rPr>
              <a:t>Read </a:t>
            </a:r>
          </a:p>
          <a:p>
            <a:pPr fontAlgn="auto">
              <a:spcBef>
                <a:spcPts val="0"/>
              </a:spcBef>
              <a:spcAft>
                <a:spcPts val="0"/>
              </a:spcAft>
            </a:pPr>
            <a:r>
              <a:rPr lang="en-US" altLang="zh-CN" sz="1200" b="0" dirty="0" err="1">
                <a:solidFill>
                  <a:prstClr val="black"/>
                </a:solidFill>
                <a:latin typeface="Arial" pitchFamily="34" charset="0"/>
                <a:ea typeface="SimHei" panose="02010609060101010101" pitchFamily="49" charset="-122"/>
              </a:rPr>
              <a:t>Addr</a:t>
            </a:r>
            <a:r>
              <a:rPr lang="en-US" altLang="zh-CN" sz="1200" b="0" dirty="0">
                <a:solidFill>
                  <a:prstClr val="black"/>
                </a:solidFill>
                <a:latin typeface="Arial" pitchFamily="34" charset="0"/>
                <a:ea typeface="SimHei" panose="02010609060101010101" pitchFamily="49" charset="-122"/>
              </a:rPr>
              <a:t> 2</a:t>
            </a:r>
          </a:p>
        </p:txBody>
      </p:sp>
      <p:sp>
        <p:nvSpPr>
          <p:cNvPr id="400" name="Text Box 49">
            <a:extLst>
              <a:ext uri="{FF2B5EF4-FFF2-40B4-BE49-F238E27FC236}">
                <a16:creationId xmlns:a16="http://schemas.microsoft.com/office/drawing/2014/main" id="{8FA5A793-B7E8-4A64-8D12-0E22F1B1CFB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964480" y="4394130"/>
            <a:ext cx="899575" cy="27698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1425" tIns="45713" rIns="91425" bIns="45713">
            <a:spAutoFit/>
          </a:bodyPr>
          <a:lstStyle>
            <a:lvl1pPr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1pPr>
            <a:lvl2pPr marL="742950" indent="-28575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2pPr>
            <a:lvl3pPr marL="11430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3pPr>
            <a:lvl4pPr marL="16002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4pPr>
            <a:lvl5pPr marL="20574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9pPr>
          </a:lstStyle>
          <a:p>
            <a:pPr fontAlgn="auto">
              <a:spcBef>
                <a:spcPts val="0"/>
              </a:spcBef>
              <a:spcAft>
                <a:spcPts val="0"/>
              </a:spcAft>
            </a:pPr>
            <a:r>
              <a:rPr lang="en-US" altLang="zh-CN" sz="1200" b="0" dirty="0">
                <a:solidFill>
                  <a:prstClr val="black"/>
                </a:solidFill>
                <a:latin typeface="Arial" pitchFamily="34" charset="0"/>
                <a:ea typeface="SimHei" panose="02010609060101010101" pitchFamily="49" charset="-122"/>
              </a:rPr>
              <a:t>Write </a:t>
            </a:r>
            <a:r>
              <a:rPr lang="en-US" altLang="zh-CN" sz="1200" b="0" dirty="0" err="1">
                <a:solidFill>
                  <a:prstClr val="black"/>
                </a:solidFill>
                <a:latin typeface="Arial" pitchFamily="34" charset="0"/>
                <a:ea typeface="SimHei" panose="02010609060101010101" pitchFamily="49" charset="-122"/>
              </a:rPr>
              <a:t>Addr</a:t>
            </a:r>
            <a:endParaRPr lang="en-US" altLang="zh-CN" sz="1200" b="0" dirty="0">
              <a:solidFill>
                <a:prstClr val="black"/>
              </a:solidFill>
              <a:latin typeface="Arial" pitchFamily="34" charset="0"/>
              <a:ea typeface="SimHei" panose="02010609060101010101" pitchFamily="49" charset="-122"/>
            </a:endParaRPr>
          </a:p>
        </p:txBody>
      </p:sp>
      <p:sp>
        <p:nvSpPr>
          <p:cNvPr id="401" name="Text Box 50">
            <a:extLst>
              <a:ext uri="{FF2B5EF4-FFF2-40B4-BE49-F238E27FC236}">
                <a16:creationId xmlns:a16="http://schemas.microsoft.com/office/drawing/2014/main" id="{7D3AEFF9-CFE9-4994-A750-01808C0864B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547323" y="4090148"/>
            <a:ext cx="622256" cy="30776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1425" tIns="45713" rIns="91425" bIns="45713">
            <a:spAutoFit/>
          </a:bodyPr>
          <a:lstStyle>
            <a:lvl1pPr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1pPr>
            <a:lvl2pPr marL="742950" indent="-28575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2pPr>
            <a:lvl3pPr marL="11430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3pPr>
            <a:lvl4pPr marL="16002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4pPr>
            <a:lvl5pPr marL="20574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9pPr>
          </a:lstStyle>
          <a:p>
            <a:pPr algn="ctr" fontAlgn="auto">
              <a:spcBef>
                <a:spcPts val="0"/>
              </a:spcBef>
              <a:spcAft>
                <a:spcPts val="0"/>
              </a:spcAft>
            </a:pPr>
            <a:r>
              <a:rPr lang="en-US" altLang="zh-CN" sz="1400" b="0" dirty="0">
                <a:solidFill>
                  <a:prstClr val="black"/>
                </a:solidFill>
                <a:latin typeface="Arial" pitchFamily="34" charset="0"/>
                <a:ea typeface="SimHei" panose="02010609060101010101" pitchFamily="49" charset="-122"/>
              </a:rPr>
              <a:t>Regs</a:t>
            </a:r>
          </a:p>
        </p:txBody>
      </p:sp>
      <p:sp>
        <p:nvSpPr>
          <p:cNvPr id="402" name="Text Box 51">
            <a:extLst>
              <a:ext uri="{FF2B5EF4-FFF2-40B4-BE49-F238E27FC236}">
                <a16:creationId xmlns:a16="http://schemas.microsoft.com/office/drawing/2014/main" id="{CFE70A50-4098-429B-BE2D-B694CACAB8B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715071" y="3769172"/>
            <a:ext cx="679964" cy="46165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1425" tIns="45713" rIns="91425" bIns="45713">
            <a:spAutoFit/>
          </a:bodyPr>
          <a:lstStyle>
            <a:lvl1pPr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1pPr>
            <a:lvl2pPr marL="742950" indent="-28575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2pPr>
            <a:lvl3pPr marL="11430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3pPr>
            <a:lvl4pPr marL="16002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4pPr>
            <a:lvl5pPr marL="20574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9pPr>
          </a:lstStyle>
          <a:p>
            <a:pPr algn="r" fontAlgn="auto">
              <a:spcBef>
                <a:spcPts val="0"/>
              </a:spcBef>
              <a:spcAft>
                <a:spcPts val="0"/>
              </a:spcAft>
            </a:pPr>
            <a:r>
              <a:rPr lang="en-US" altLang="zh-CN" sz="1200" b="0" dirty="0">
                <a:solidFill>
                  <a:prstClr val="black"/>
                </a:solidFill>
                <a:latin typeface="Arial" pitchFamily="34" charset="0"/>
                <a:ea typeface="SimHei" panose="02010609060101010101" pitchFamily="49" charset="-122"/>
              </a:rPr>
              <a:t>Read</a:t>
            </a:r>
          </a:p>
          <a:p>
            <a:pPr algn="r" fontAlgn="auto">
              <a:spcBef>
                <a:spcPts val="0"/>
              </a:spcBef>
              <a:spcAft>
                <a:spcPts val="0"/>
              </a:spcAft>
            </a:pPr>
            <a:r>
              <a:rPr lang="en-US" altLang="zh-CN" sz="1200" b="0" dirty="0">
                <a:solidFill>
                  <a:prstClr val="black"/>
                </a:solidFill>
                <a:latin typeface="Arial" pitchFamily="34" charset="0"/>
                <a:ea typeface="SimHei" panose="02010609060101010101" pitchFamily="49" charset="-122"/>
              </a:rPr>
              <a:t> Data 1</a:t>
            </a:r>
          </a:p>
        </p:txBody>
      </p:sp>
      <p:sp>
        <p:nvSpPr>
          <p:cNvPr id="403" name="Text Box 52">
            <a:extLst>
              <a:ext uri="{FF2B5EF4-FFF2-40B4-BE49-F238E27FC236}">
                <a16:creationId xmlns:a16="http://schemas.microsoft.com/office/drawing/2014/main" id="{008F8FD1-7C88-46EC-B38E-CFE39BC242B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701268" y="4394131"/>
            <a:ext cx="679964" cy="46165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1425" tIns="45713" rIns="91425" bIns="45713">
            <a:spAutoFit/>
          </a:bodyPr>
          <a:lstStyle>
            <a:lvl1pPr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1pPr>
            <a:lvl2pPr marL="742950" indent="-28575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2pPr>
            <a:lvl3pPr marL="11430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3pPr>
            <a:lvl4pPr marL="16002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4pPr>
            <a:lvl5pPr marL="20574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9pPr>
          </a:lstStyle>
          <a:p>
            <a:pPr algn="r" fontAlgn="auto">
              <a:spcBef>
                <a:spcPts val="0"/>
              </a:spcBef>
              <a:spcAft>
                <a:spcPts val="0"/>
              </a:spcAft>
            </a:pPr>
            <a:r>
              <a:rPr lang="en-US" altLang="zh-CN" sz="1200" b="0" dirty="0">
                <a:solidFill>
                  <a:prstClr val="black"/>
                </a:solidFill>
                <a:latin typeface="Arial" pitchFamily="34" charset="0"/>
                <a:ea typeface="SimHei" panose="02010609060101010101" pitchFamily="49" charset="-122"/>
              </a:rPr>
              <a:t>Read</a:t>
            </a:r>
          </a:p>
          <a:p>
            <a:pPr algn="r" fontAlgn="auto">
              <a:spcBef>
                <a:spcPts val="0"/>
              </a:spcBef>
              <a:spcAft>
                <a:spcPts val="0"/>
              </a:spcAft>
            </a:pPr>
            <a:r>
              <a:rPr lang="en-US" altLang="zh-CN" sz="1200" b="0" dirty="0">
                <a:solidFill>
                  <a:prstClr val="black"/>
                </a:solidFill>
                <a:latin typeface="Arial" pitchFamily="34" charset="0"/>
                <a:ea typeface="SimHei" panose="02010609060101010101" pitchFamily="49" charset="-122"/>
              </a:rPr>
              <a:t> Data 2</a:t>
            </a:r>
          </a:p>
        </p:txBody>
      </p:sp>
      <p:sp>
        <p:nvSpPr>
          <p:cNvPr id="404" name="Line 53">
            <a:extLst>
              <a:ext uri="{FF2B5EF4-FFF2-40B4-BE49-F238E27FC236}">
                <a16:creationId xmlns:a16="http://schemas.microsoft.com/office/drawing/2014/main" id="{F1460BF2-1861-4DC5-A30B-AC6E7B153B3F}"/>
              </a:ext>
            </a:extLst>
          </p:cNvPr>
          <p:cNvSpPr>
            <a:spLocks noChangeShapeType="1"/>
          </p:cNvSpPr>
          <p:nvPr/>
        </p:nvSpPr>
        <p:spPr bwMode="auto">
          <a:xfrm>
            <a:off x="2720754" y="5435728"/>
            <a:ext cx="379900" cy="0"/>
          </a:xfrm>
          <a:prstGeom prst="line">
            <a:avLst/>
          </a:prstGeom>
          <a:noFill/>
          <a:ln w="19050">
            <a:solidFill>
              <a:sysClr val="windowText" lastClr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</a:endParaRPr>
          </a:p>
        </p:txBody>
      </p:sp>
      <p:sp>
        <p:nvSpPr>
          <p:cNvPr id="405" name="Line 54">
            <a:extLst>
              <a:ext uri="{FF2B5EF4-FFF2-40B4-BE49-F238E27FC236}">
                <a16:creationId xmlns:a16="http://schemas.microsoft.com/office/drawing/2014/main" id="{50950E1D-2789-4B22-BE25-8380D85104B0}"/>
              </a:ext>
            </a:extLst>
          </p:cNvPr>
          <p:cNvSpPr>
            <a:spLocks noChangeShapeType="1"/>
          </p:cNvSpPr>
          <p:nvPr/>
        </p:nvSpPr>
        <p:spPr bwMode="auto">
          <a:xfrm>
            <a:off x="2905952" y="5369476"/>
            <a:ext cx="75980" cy="138880"/>
          </a:xfrm>
          <a:prstGeom prst="line">
            <a:avLst/>
          </a:prstGeom>
          <a:noFill/>
          <a:ln w="12700">
            <a:solidFill>
              <a:sysClr val="windowText" lastClr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</a:endParaRPr>
          </a:p>
        </p:txBody>
      </p:sp>
      <p:sp>
        <p:nvSpPr>
          <p:cNvPr id="406" name="Line 55">
            <a:extLst>
              <a:ext uri="{FF2B5EF4-FFF2-40B4-BE49-F238E27FC236}">
                <a16:creationId xmlns:a16="http://schemas.microsoft.com/office/drawing/2014/main" id="{EAFF8C14-73BC-41EB-8D2A-81B54B729AD0}"/>
              </a:ext>
            </a:extLst>
          </p:cNvPr>
          <p:cNvSpPr>
            <a:spLocks noChangeShapeType="1"/>
          </p:cNvSpPr>
          <p:nvPr/>
        </p:nvSpPr>
        <p:spPr bwMode="auto">
          <a:xfrm>
            <a:off x="4118463" y="5353805"/>
            <a:ext cx="75980" cy="138880"/>
          </a:xfrm>
          <a:prstGeom prst="line">
            <a:avLst/>
          </a:prstGeom>
          <a:noFill/>
          <a:ln w="12700">
            <a:solidFill>
              <a:sysClr val="windowText" lastClr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</a:endParaRPr>
          </a:p>
        </p:txBody>
      </p:sp>
      <p:sp>
        <p:nvSpPr>
          <p:cNvPr id="407" name="Text Box 56">
            <a:extLst>
              <a:ext uri="{FF2B5EF4-FFF2-40B4-BE49-F238E27FC236}">
                <a16:creationId xmlns:a16="http://schemas.microsoft.com/office/drawing/2014/main" id="{D6E2B191-E62E-48D5-8E7A-022167C6666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787241" y="5458203"/>
            <a:ext cx="379889" cy="27698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1425" tIns="45713" rIns="91425" bIns="45713">
            <a:spAutoFit/>
          </a:bodyPr>
          <a:lstStyle>
            <a:lvl1pPr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1pPr>
            <a:lvl2pPr marL="742950" indent="-28575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2pPr>
            <a:lvl3pPr marL="11430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3pPr>
            <a:lvl4pPr marL="16002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4pPr>
            <a:lvl5pPr marL="20574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9pPr>
          </a:lstStyle>
          <a:p>
            <a:pPr fontAlgn="auto">
              <a:spcBef>
                <a:spcPts val="0"/>
              </a:spcBef>
              <a:spcAft>
                <a:spcPts val="0"/>
              </a:spcAft>
            </a:pPr>
            <a:r>
              <a:rPr lang="en-US" altLang="zh-CN" sz="1200" b="0" dirty="0">
                <a:solidFill>
                  <a:prstClr val="black"/>
                </a:solidFill>
                <a:latin typeface="Arial" pitchFamily="34" charset="0"/>
                <a:ea typeface="SimHei" panose="02010609060101010101" pitchFamily="49" charset="-122"/>
              </a:rPr>
              <a:t>16</a:t>
            </a:r>
          </a:p>
        </p:txBody>
      </p:sp>
      <p:sp>
        <p:nvSpPr>
          <p:cNvPr id="408" name="Text Box 57">
            <a:extLst>
              <a:ext uri="{FF2B5EF4-FFF2-40B4-BE49-F238E27FC236}">
                <a16:creationId xmlns:a16="http://schemas.microsoft.com/office/drawing/2014/main" id="{9D44924F-7DF4-4BF8-8651-06D572D3C42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012412" y="5435728"/>
            <a:ext cx="354554" cy="27698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1425" tIns="45713" rIns="91425" bIns="45713">
            <a:spAutoFit/>
          </a:bodyPr>
          <a:lstStyle>
            <a:lvl1pPr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1pPr>
            <a:lvl2pPr marL="742950" indent="-28575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2pPr>
            <a:lvl3pPr marL="11430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3pPr>
            <a:lvl4pPr marL="16002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4pPr>
            <a:lvl5pPr marL="20574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9pPr>
          </a:lstStyle>
          <a:p>
            <a:pPr fontAlgn="auto">
              <a:spcBef>
                <a:spcPts val="0"/>
              </a:spcBef>
              <a:spcAft>
                <a:spcPts val="0"/>
              </a:spcAft>
            </a:pPr>
            <a:r>
              <a:rPr lang="en-US" altLang="zh-CN" sz="1200" b="0" dirty="0">
                <a:solidFill>
                  <a:prstClr val="black"/>
                </a:solidFill>
                <a:latin typeface="Arial" pitchFamily="34" charset="0"/>
                <a:ea typeface="SimHei" panose="02010609060101010101" pitchFamily="49" charset="-122"/>
              </a:rPr>
              <a:t>32</a:t>
            </a:r>
          </a:p>
        </p:txBody>
      </p:sp>
      <p:sp>
        <p:nvSpPr>
          <p:cNvPr id="409" name="Line 58">
            <a:extLst>
              <a:ext uri="{FF2B5EF4-FFF2-40B4-BE49-F238E27FC236}">
                <a16:creationId xmlns:a16="http://schemas.microsoft.com/office/drawing/2014/main" id="{B0D42763-955F-497C-9025-B3B50859EFCE}"/>
              </a:ext>
            </a:extLst>
          </p:cNvPr>
          <p:cNvSpPr>
            <a:spLocks noChangeShapeType="1"/>
          </p:cNvSpPr>
          <p:nvPr/>
        </p:nvSpPr>
        <p:spPr bwMode="auto">
          <a:xfrm>
            <a:off x="2796734" y="4810770"/>
            <a:ext cx="227939" cy="0"/>
          </a:xfrm>
          <a:prstGeom prst="line">
            <a:avLst/>
          </a:prstGeom>
          <a:noFill/>
          <a:ln w="19050">
            <a:solidFill>
              <a:sysClr val="windowText" lastClr="00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</a:endParaRPr>
          </a:p>
        </p:txBody>
      </p:sp>
      <p:sp>
        <p:nvSpPr>
          <p:cNvPr id="410" name="Line 59">
            <a:extLst>
              <a:ext uri="{FF2B5EF4-FFF2-40B4-BE49-F238E27FC236}">
                <a16:creationId xmlns:a16="http://schemas.microsoft.com/office/drawing/2014/main" id="{338638EE-F151-42B1-83D1-7D224ABAE069}"/>
              </a:ext>
            </a:extLst>
          </p:cNvPr>
          <p:cNvSpPr>
            <a:spLocks noChangeShapeType="1"/>
          </p:cNvSpPr>
          <p:nvPr/>
        </p:nvSpPr>
        <p:spPr bwMode="auto">
          <a:xfrm>
            <a:off x="4727762" y="4949650"/>
            <a:ext cx="0" cy="486079"/>
          </a:xfrm>
          <a:prstGeom prst="line">
            <a:avLst/>
          </a:prstGeom>
          <a:noFill/>
          <a:ln w="19050">
            <a:solidFill>
              <a:sysClr val="windowText" lastClr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</a:endParaRPr>
          </a:p>
        </p:txBody>
      </p:sp>
      <p:sp>
        <p:nvSpPr>
          <p:cNvPr id="411" name="Line 60">
            <a:extLst>
              <a:ext uri="{FF2B5EF4-FFF2-40B4-BE49-F238E27FC236}">
                <a16:creationId xmlns:a16="http://schemas.microsoft.com/office/drawing/2014/main" id="{5EC3EE26-4866-484C-A3F8-E97389B44F1B}"/>
              </a:ext>
            </a:extLst>
          </p:cNvPr>
          <p:cNvSpPr>
            <a:spLocks noChangeShapeType="1"/>
          </p:cNvSpPr>
          <p:nvPr/>
        </p:nvSpPr>
        <p:spPr bwMode="auto">
          <a:xfrm>
            <a:off x="4316332" y="4602450"/>
            <a:ext cx="151960" cy="0"/>
          </a:xfrm>
          <a:prstGeom prst="line">
            <a:avLst/>
          </a:prstGeom>
          <a:noFill/>
          <a:ln w="19050">
            <a:solidFill>
              <a:sysClr val="windowText" lastClr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</a:endParaRPr>
          </a:p>
        </p:txBody>
      </p:sp>
      <p:sp>
        <p:nvSpPr>
          <p:cNvPr id="412" name="Line 61">
            <a:extLst>
              <a:ext uri="{FF2B5EF4-FFF2-40B4-BE49-F238E27FC236}">
                <a16:creationId xmlns:a16="http://schemas.microsoft.com/office/drawing/2014/main" id="{8AB4CB08-64D5-46F0-A607-CFCC559AA596}"/>
              </a:ext>
            </a:extLst>
          </p:cNvPr>
          <p:cNvSpPr>
            <a:spLocks noChangeShapeType="1"/>
          </p:cNvSpPr>
          <p:nvPr/>
        </p:nvSpPr>
        <p:spPr bwMode="auto">
          <a:xfrm>
            <a:off x="2720754" y="3769172"/>
            <a:ext cx="0" cy="1666556"/>
          </a:xfrm>
          <a:prstGeom prst="line">
            <a:avLst/>
          </a:prstGeom>
          <a:noFill/>
          <a:ln w="19050">
            <a:solidFill>
              <a:sysClr val="windowText" lastClr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</a:endParaRPr>
          </a:p>
        </p:txBody>
      </p:sp>
      <p:sp>
        <p:nvSpPr>
          <p:cNvPr id="413" name="Line 62">
            <a:extLst>
              <a:ext uri="{FF2B5EF4-FFF2-40B4-BE49-F238E27FC236}">
                <a16:creationId xmlns:a16="http://schemas.microsoft.com/office/drawing/2014/main" id="{22FFB86C-0432-45D1-9DC3-52AAEEC3CA7E}"/>
              </a:ext>
            </a:extLst>
          </p:cNvPr>
          <p:cNvSpPr>
            <a:spLocks noChangeShapeType="1"/>
          </p:cNvSpPr>
          <p:nvPr/>
        </p:nvSpPr>
        <p:spPr bwMode="auto">
          <a:xfrm>
            <a:off x="2720754" y="3769172"/>
            <a:ext cx="303920" cy="0"/>
          </a:xfrm>
          <a:prstGeom prst="line">
            <a:avLst/>
          </a:prstGeom>
          <a:noFill/>
          <a:ln w="19050">
            <a:solidFill>
              <a:sysClr val="windowText" lastClr="00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</a:endParaRPr>
          </a:p>
        </p:txBody>
      </p:sp>
      <p:sp>
        <p:nvSpPr>
          <p:cNvPr id="414" name="Line 63">
            <a:extLst>
              <a:ext uri="{FF2B5EF4-FFF2-40B4-BE49-F238E27FC236}">
                <a16:creationId xmlns:a16="http://schemas.microsoft.com/office/drawing/2014/main" id="{F225A860-E44F-4D21-B899-C58C26249E4C}"/>
              </a:ext>
            </a:extLst>
          </p:cNvPr>
          <p:cNvSpPr>
            <a:spLocks noChangeShapeType="1"/>
          </p:cNvSpPr>
          <p:nvPr/>
        </p:nvSpPr>
        <p:spPr bwMode="auto">
          <a:xfrm>
            <a:off x="4620252" y="4602450"/>
            <a:ext cx="471997" cy="0"/>
          </a:xfrm>
          <a:prstGeom prst="line">
            <a:avLst/>
          </a:prstGeom>
          <a:noFill/>
          <a:ln w="19050">
            <a:solidFill>
              <a:sysClr val="windowText" lastClr="00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</a:endParaRPr>
          </a:p>
        </p:txBody>
      </p:sp>
      <p:sp>
        <p:nvSpPr>
          <p:cNvPr id="415" name="Line 64">
            <a:extLst>
              <a:ext uri="{FF2B5EF4-FFF2-40B4-BE49-F238E27FC236}">
                <a16:creationId xmlns:a16="http://schemas.microsoft.com/office/drawing/2014/main" id="{2D316B6F-4ADF-492F-BF3D-A47D43698F2D}"/>
              </a:ext>
            </a:extLst>
          </p:cNvPr>
          <p:cNvSpPr>
            <a:spLocks noChangeShapeType="1"/>
          </p:cNvSpPr>
          <p:nvPr/>
        </p:nvSpPr>
        <p:spPr bwMode="auto">
          <a:xfrm>
            <a:off x="5987892" y="4394131"/>
            <a:ext cx="151514" cy="0"/>
          </a:xfrm>
          <a:prstGeom prst="line">
            <a:avLst/>
          </a:prstGeom>
          <a:noFill/>
          <a:ln w="19050">
            <a:solidFill>
              <a:sysClr val="windowText" lastClr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</a:endParaRPr>
          </a:p>
        </p:txBody>
      </p:sp>
      <p:sp>
        <p:nvSpPr>
          <p:cNvPr id="416" name="Freeform 65">
            <a:extLst>
              <a:ext uri="{FF2B5EF4-FFF2-40B4-BE49-F238E27FC236}">
                <a16:creationId xmlns:a16="http://schemas.microsoft.com/office/drawing/2014/main" id="{E738CC34-C3EA-43D9-A092-C93A13F00AA7}"/>
              </a:ext>
            </a:extLst>
          </p:cNvPr>
          <p:cNvSpPr>
            <a:spLocks/>
          </p:cNvSpPr>
          <p:nvPr/>
        </p:nvSpPr>
        <p:spPr bwMode="auto">
          <a:xfrm>
            <a:off x="5456031" y="3769172"/>
            <a:ext cx="531860" cy="1180477"/>
          </a:xfrm>
          <a:custGeom>
            <a:avLst/>
            <a:gdLst>
              <a:gd name="T0" fmla="*/ 0 w 388"/>
              <a:gd name="T1" fmla="*/ 0 h 1099"/>
              <a:gd name="T2" fmla="*/ 0 w 388"/>
              <a:gd name="T3" fmla="*/ 235 h 1099"/>
              <a:gd name="T4" fmla="*/ 83 w 388"/>
              <a:gd name="T5" fmla="*/ 305 h 1099"/>
              <a:gd name="T6" fmla="*/ 0 w 388"/>
              <a:gd name="T7" fmla="*/ 370 h 1099"/>
              <a:gd name="T8" fmla="*/ 0 w 388"/>
              <a:gd name="T9" fmla="*/ 605 h 1099"/>
              <a:gd name="T10" fmla="*/ 290 w 388"/>
              <a:gd name="T11" fmla="*/ 436 h 1099"/>
              <a:gd name="T12" fmla="*/ 290 w 388"/>
              <a:gd name="T13" fmla="*/ 170 h 1099"/>
              <a:gd name="T14" fmla="*/ 0 w 388"/>
              <a:gd name="T15" fmla="*/ 0 h 1099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0" t="0" r="r" b="b"/>
            <a:pathLst>
              <a:path w="388" h="1099">
                <a:moveTo>
                  <a:pt x="0" y="0"/>
                </a:moveTo>
                <a:lnTo>
                  <a:pt x="0" y="427"/>
                </a:lnTo>
                <a:lnTo>
                  <a:pt x="111" y="553"/>
                </a:lnTo>
                <a:lnTo>
                  <a:pt x="0" y="671"/>
                </a:lnTo>
                <a:lnTo>
                  <a:pt x="0" y="1098"/>
                </a:lnTo>
                <a:lnTo>
                  <a:pt x="387" y="790"/>
                </a:lnTo>
                <a:lnTo>
                  <a:pt x="387" y="308"/>
                </a:lnTo>
                <a:lnTo>
                  <a:pt x="0" y="0"/>
                </a:lnTo>
              </a:path>
            </a:pathLst>
          </a:custGeom>
          <a:noFill/>
          <a:ln w="19050" cap="rnd" cmpd="sng">
            <a:solidFill>
              <a:srgbClr val="000000"/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fontAlgn="auto">
              <a:spcBef>
                <a:spcPts val="0"/>
              </a:spcBef>
              <a:spcAft>
                <a:spcPts val="0"/>
              </a:spcAft>
            </a:pPr>
            <a:endParaRPr lang="zh-CN" altLang="en-US">
              <a:solidFill>
                <a:prstClr val="black"/>
              </a:solidFill>
              <a:latin typeface="等线" panose="020F0502020204030204"/>
              <a:ea typeface="等线" panose="02010600030101010101" pitchFamily="2" charset="-122"/>
            </a:endParaRPr>
          </a:p>
        </p:txBody>
      </p:sp>
      <p:sp>
        <p:nvSpPr>
          <p:cNvPr id="417" name="Rectangle 66">
            <a:extLst>
              <a:ext uri="{FF2B5EF4-FFF2-40B4-BE49-F238E27FC236}">
                <a16:creationId xmlns:a16="http://schemas.microsoft.com/office/drawing/2014/main" id="{8A248BC2-6EE8-4F06-9ECE-11CE469D958E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52589" y="4246846"/>
            <a:ext cx="473292" cy="1985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19047" tIns="26984" rIns="19047" bIns="26984"/>
          <a:lstStyle/>
          <a:p>
            <a:pPr algn="ctr" defTabSz="903288" eaLnBrk="0" fontAlgn="auto" hangingPunct="0">
              <a:lnSpc>
                <a:spcPts val="1600"/>
              </a:lnSpc>
              <a:spcBef>
                <a:spcPts val="0"/>
              </a:spcBef>
              <a:spcAft>
                <a:spcPts val="0"/>
              </a:spcAft>
              <a:tabLst>
                <a:tab pos="452438" algn="l"/>
                <a:tab pos="903288" algn="l"/>
                <a:tab pos="1357313" algn="l"/>
              </a:tabLst>
            </a:pPr>
            <a:r>
              <a:rPr lang="en-US" altLang="zh-CN" sz="1400" b="1" dirty="0">
                <a:solidFill>
                  <a:srgbClr val="000000"/>
                </a:solidFill>
                <a:latin typeface="Arial" pitchFamily="34" charset="0"/>
                <a:ea typeface="等线" panose="02010600030101010101" pitchFamily="2" charset="-122"/>
              </a:rPr>
              <a:t>ALU</a:t>
            </a:r>
          </a:p>
        </p:txBody>
      </p:sp>
      <p:sp>
        <p:nvSpPr>
          <p:cNvPr id="418" name="AutoShape 67">
            <a:extLst>
              <a:ext uri="{FF2B5EF4-FFF2-40B4-BE49-F238E27FC236}">
                <a16:creationId xmlns:a16="http://schemas.microsoft.com/office/drawing/2014/main" id="{CED13859-1545-4AE0-A30E-A5E74C5A60FC}"/>
              </a:ext>
            </a:extLst>
          </p:cNvPr>
          <p:cNvSpPr>
            <a:spLocks noChangeArrowheads="1"/>
          </p:cNvSpPr>
          <p:nvPr/>
        </p:nvSpPr>
        <p:spPr bwMode="auto">
          <a:xfrm rot="16200000">
            <a:off x="4859021" y="4625914"/>
            <a:ext cx="694398" cy="227940"/>
          </a:xfrm>
          <a:custGeom>
            <a:avLst/>
            <a:gdLst>
              <a:gd name="T0" fmla="*/ 9 w 21600"/>
              <a:gd name="T1" fmla="*/ 0 h 21600"/>
              <a:gd name="T2" fmla="*/ 5 w 21600"/>
              <a:gd name="T3" fmla="*/ 1 h 21600"/>
              <a:gd name="T4" fmla="*/ 1 w 21600"/>
              <a:gd name="T5" fmla="*/ 0 h 21600"/>
              <a:gd name="T6" fmla="*/ 5 w 21600"/>
              <a:gd name="T7" fmla="*/ 0 h 21600"/>
              <a:gd name="T8" fmla="*/ 0 60000 65536"/>
              <a:gd name="T9" fmla="*/ 0 60000 65536"/>
              <a:gd name="T10" fmla="*/ 0 60000 65536"/>
              <a:gd name="T11" fmla="*/ 0 60000 65536"/>
              <a:gd name="T12" fmla="*/ 4500 w 21600"/>
              <a:gd name="T13" fmla="*/ 4500 h 21600"/>
              <a:gd name="T14" fmla="*/ 17100 w 21600"/>
              <a:gd name="T15" fmla="*/ 17100 h 21600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21600" h="21600">
                <a:moveTo>
                  <a:pt x="0" y="0"/>
                </a:moveTo>
                <a:lnTo>
                  <a:pt x="5400" y="21600"/>
                </a:lnTo>
                <a:lnTo>
                  <a:pt x="16200" y="21600"/>
                </a:lnTo>
                <a:lnTo>
                  <a:pt x="21600" y="0"/>
                </a:lnTo>
                <a:lnTo>
                  <a:pt x="0" y="0"/>
                </a:lnTo>
                <a:close/>
              </a:path>
            </a:pathLst>
          </a:custGeom>
          <a:noFill/>
          <a:ln w="19050">
            <a:solidFill>
              <a:sysClr val="windowText" lastClr="000000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</a:endParaRPr>
          </a:p>
        </p:txBody>
      </p:sp>
      <p:sp>
        <p:nvSpPr>
          <p:cNvPr id="419" name="Line 68">
            <a:extLst>
              <a:ext uri="{FF2B5EF4-FFF2-40B4-BE49-F238E27FC236}">
                <a16:creationId xmlns:a16="http://schemas.microsoft.com/office/drawing/2014/main" id="{A0909ED1-EDBC-4427-AD46-81DAE1AFF852}"/>
              </a:ext>
            </a:extLst>
          </p:cNvPr>
          <p:cNvSpPr>
            <a:spLocks noChangeShapeType="1"/>
          </p:cNvSpPr>
          <p:nvPr/>
        </p:nvSpPr>
        <p:spPr bwMode="auto">
          <a:xfrm>
            <a:off x="5325222" y="4741330"/>
            <a:ext cx="130809" cy="0"/>
          </a:xfrm>
          <a:prstGeom prst="line">
            <a:avLst/>
          </a:prstGeom>
          <a:noFill/>
          <a:ln w="19050">
            <a:solidFill>
              <a:sysClr val="windowText" lastClr="00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</a:endParaRPr>
          </a:p>
        </p:txBody>
      </p:sp>
      <p:sp>
        <p:nvSpPr>
          <p:cNvPr id="420" name="Rectangle 70">
            <a:extLst>
              <a:ext uri="{FF2B5EF4-FFF2-40B4-BE49-F238E27FC236}">
                <a16:creationId xmlns:a16="http://schemas.microsoft.com/office/drawing/2014/main" id="{6BFA927D-70D8-44BE-9FAE-42B7099BBE93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19162" y="4443910"/>
            <a:ext cx="120300" cy="68210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19047" tIns="26984" rIns="19047" bIns="26984"/>
          <a:lstStyle/>
          <a:p>
            <a:pPr eaLnBrk="0" fontAlgn="auto" hangingPunct="0">
              <a:spcBef>
                <a:spcPts val="600"/>
              </a:spcBef>
              <a:spcAft>
                <a:spcPts val="600"/>
              </a:spcAft>
            </a:pPr>
            <a:r>
              <a:rPr lang="en-US" altLang="zh-CN" sz="1200" dirty="0">
                <a:solidFill>
                  <a:prstClr val="black"/>
                </a:solidFill>
                <a:latin typeface="Arial" pitchFamily="34" charset="0"/>
                <a:ea typeface="等线" panose="02010600030101010101" pitchFamily="2" charset="-122"/>
              </a:rPr>
              <a:t>0</a:t>
            </a:r>
          </a:p>
          <a:p>
            <a:pPr eaLnBrk="0" fontAlgn="auto" hangingPunct="0">
              <a:spcBef>
                <a:spcPts val="600"/>
              </a:spcBef>
              <a:spcAft>
                <a:spcPts val="600"/>
              </a:spcAft>
            </a:pPr>
            <a:r>
              <a:rPr lang="en-US" altLang="zh-CN" sz="1200" dirty="0">
                <a:solidFill>
                  <a:prstClr val="black"/>
                </a:solidFill>
                <a:latin typeface="Arial" pitchFamily="34" charset="0"/>
                <a:ea typeface="等线" panose="02010600030101010101" pitchFamily="2" charset="-122"/>
              </a:rPr>
              <a:t>1</a:t>
            </a:r>
          </a:p>
        </p:txBody>
      </p:sp>
      <p:sp>
        <p:nvSpPr>
          <p:cNvPr id="421" name="Line 71">
            <a:extLst>
              <a:ext uri="{FF2B5EF4-FFF2-40B4-BE49-F238E27FC236}">
                <a16:creationId xmlns:a16="http://schemas.microsoft.com/office/drawing/2014/main" id="{067F2709-3859-4DCF-9C8A-84EA2299F4DF}"/>
              </a:ext>
            </a:extLst>
          </p:cNvPr>
          <p:cNvSpPr>
            <a:spLocks noChangeShapeType="1"/>
          </p:cNvSpPr>
          <p:nvPr/>
        </p:nvSpPr>
        <p:spPr bwMode="auto">
          <a:xfrm>
            <a:off x="4727763" y="4949650"/>
            <a:ext cx="364486" cy="0"/>
          </a:xfrm>
          <a:prstGeom prst="line">
            <a:avLst/>
          </a:prstGeom>
          <a:noFill/>
          <a:ln w="19050">
            <a:solidFill>
              <a:sysClr val="windowText" lastClr="00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</a:endParaRPr>
          </a:p>
        </p:txBody>
      </p:sp>
      <p:sp>
        <p:nvSpPr>
          <p:cNvPr id="422" name="Line 72">
            <a:extLst>
              <a:ext uri="{FF2B5EF4-FFF2-40B4-BE49-F238E27FC236}">
                <a16:creationId xmlns:a16="http://schemas.microsoft.com/office/drawing/2014/main" id="{7EA823E9-3FAF-489F-A751-0AE66E81B00E}"/>
              </a:ext>
            </a:extLst>
          </p:cNvPr>
          <p:cNvSpPr>
            <a:spLocks noChangeShapeType="1"/>
          </p:cNvSpPr>
          <p:nvPr/>
        </p:nvSpPr>
        <p:spPr bwMode="auto">
          <a:xfrm>
            <a:off x="4620252" y="3977492"/>
            <a:ext cx="810453" cy="0"/>
          </a:xfrm>
          <a:prstGeom prst="line">
            <a:avLst/>
          </a:prstGeom>
          <a:noFill/>
          <a:ln w="19050">
            <a:solidFill>
              <a:sysClr val="windowText" lastClr="00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</a:endParaRPr>
          </a:p>
        </p:txBody>
      </p:sp>
      <p:sp>
        <p:nvSpPr>
          <p:cNvPr id="423" name="Oval 73">
            <a:extLst>
              <a:ext uri="{FF2B5EF4-FFF2-40B4-BE49-F238E27FC236}">
                <a16:creationId xmlns:a16="http://schemas.microsoft.com/office/drawing/2014/main" id="{FE6903DC-5D82-413A-9CBE-4DD8F02CBFD4}"/>
              </a:ext>
            </a:extLst>
          </p:cNvPr>
          <p:cNvSpPr>
            <a:spLocks noChangeArrowheads="1"/>
          </p:cNvSpPr>
          <p:nvPr/>
        </p:nvSpPr>
        <p:spPr bwMode="auto">
          <a:xfrm>
            <a:off x="5000152" y="3283094"/>
            <a:ext cx="455880" cy="486079"/>
          </a:xfrm>
          <a:prstGeom prst="ellipse">
            <a:avLst/>
          </a:prstGeom>
          <a:noFill/>
          <a:ln w="19050">
            <a:solidFill>
              <a:sysClr val="windowText" lastClr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</a:endParaRPr>
          </a:p>
        </p:txBody>
      </p:sp>
      <p:sp>
        <p:nvSpPr>
          <p:cNvPr id="424" name="Rectangle 74">
            <a:extLst>
              <a:ext uri="{FF2B5EF4-FFF2-40B4-BE49-F238E27FC236}">
                <a16:creationId xmlns:a16="http://schemas.microsoft.com/office/drawing/2014/main" id="{DF244C5B-E785-4996-B170-4C825EA6AF75}"/>
              </a:ext>
            </a:extLst>
          </p:cNvPr>
          <p:cNvSpPr>
            <a:spLocks noChangeArrowheads="1"/>
          </p:cNvSpPr>
          <p:nvPr/>
        </p:nvSpPr>
        <p:spPr bwMode="auto">
          <a:xfrm>
            <a:off x="5007123" y="3402780"/>
            <a:ext cx="441936" cy="239554"/>
          </a:xfrm>
          <a:prstGeom prst="rect">
            <a:avLst/>
          </a:prstGeom>
          <a:noFill/>
          <a:ln w="12700">
            <a:noFill/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19047" tIns="26984" rIns="19047" bIns="26984"/>
          <a:lstStyle/>
          <a:p>
            <a:pPr algn="ctr" defTabSz="903288" eaLnBrk="0" fontAlgn="auto" hangingPunct="0">
              <a:lnSpc>
                <a:spcPts val="1600"/>
              </a:lnSpc>
              <a:spcBef>
                <a:spcPts val="0"/>
              </a:spcBef>
              <a:spcAft>
                <a:spcPts val="0"/>
              </a:spcAft>
              <a:tabLst>
                <a:tab pos="452438" algn="l"/>
                <a:tab pos="903288" algn="l"/>
                <a:tab pos="1357313" algn="l"/>
              </a:tabLst>
            </a:pPr>
            <a:r>
              <a:rPr lang="en-US" altLang="zh-CN" sz="1400" dirty="0">
                <a:solidFill>
                  <a:srgbClr val="000000"/>
                </a:solidFill>
                <a:latin typeface="Arial" pitchFamily="34" charset="0"/>
                <a:ea typeface="等线" panose="02010600030101010101" pitchFamily="2" charset="-122"/>
              </a:rPr>
              <a:t>&lt;&lt;2</a:t>
            </a:r>
          </a:p>
        </p:txBody>
      </p:sp>
      <p:sp>
        <p:nvSpPr>
          <p:cNvPr id="425" name="Line 75">
            <a:extLst>
              <a:ext uri="{FF2B5EF4-FFF2-40B4-BE49-F238E27FC236}">
                <a16:creationId xmlns:a16="http://schemas.microsoft.com/office/drawing/2014/main" id="{CF5CD8E9-6767-4A70-831F-335D87A9557F}"/>
              </a:ext>
            </a:extLst>
          </p:cNvPr>
          <p:cNvSpPr>
            <a:spLocks noChangeShapeType="1"/>
          </p:cNvSpPr>
          <p:nvPr/>
        </p:nvSpPr>
        <p:spPr bwMode="auto">
          <a:xfrm>
            <a:off x="4727762" y="3560853"/>
            <a:ext cx="272390" cy="0"/>
          </a:xfrm>
          <a:prstGeom prst="line">
            <a:avLst/>
          </a:prstGeom>
          <a:noFill/>
          <a:ln w="19050">
            <a:solidFill>
              <a:sysClr val="windowText" lastClr="00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</a:endParaRPr>
          </a:p>
        </p:txBody>
      </p:sp>
      <p:grpSp>
        <p:nvGrpSpPr>
          <p:cNvPr id="426" name="Group 76">
            <a:extLst>
              <a:ext uri="{FF2B5EF4-FFF2-40B4-BE49-F238E27FC236}">
                <a16:creationId xmlns:a16="http://schemas.microsoft.com/office/drawing/2014/main" id="{4F4A540E-9ACF-4835-A4A5-162AF2B3A582}"/>
              </a:ext>
            </a:extLst>
          </p:cNvPr>
          <p:cNvGrpSpPr>
            <a:grpSpLocks/>
          </p:cNvGrpSpPr>
          <p:nvPr/>
        </p:nvGrpSpPr>
        <p:grpSpPr bwMode="auto">
          <a:xfrm>
            <a:off x="5683971" y="2935894"/>
            <a:ext cx="356156" cy="833278"/>
            <a:chOff x="1392" y="2880"/>
            <a:chExt cx="288" cy="480"/>
          </a:xfrm>
        </p:grpSpPr>
        <p:sp>
          <p:nvSpPr>
            <p:cNvPr id="427" name="Line 77">
              <a:extLst>
                <a:ext uri="{FF2B5EF4-FFF2-40B4-BE49-F238E27FC236}">
                  <a16:creationId xmlns:a16="http://schemas.microsoft.com/office/drawing/2014/main" id="{8CDCCC36-0D66-41D8-BF5C-A185765CC4A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92" y="3072"/>
              <a:ext cx="48" cy="48"/>
            </a:xfrm>
            <a:prstGeom prst="line">
              <a:avLst/>
            </a:prstGeom>
            <a:noFill/>
            <a:ln w="19050">
              <a:solidFill>
                <a:sysClr val="windowText" lastClr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F0502020204030204"/>
                <a:ea typeface="等线" panose="02010600030101010101" pitchFamily="2" charset="-122"/>
              </a:endParaRPr>
            </a:p>
          </p:txBody>
        </p:sp>
        <p:sp>
          <p:nvSpPr>
            <p:cNvPr id="428" name="Line 78">
              <a:extLst>
                <a:ext uri="{FF2B5EF4-FFF2-40B4-BE49-F238E27FC236}">
                  <a16:creationId xmlns:a16="http://schemas.microsoft.com/office/drawing/2014/main" id="{53F41F6C-1E69-4A98-A843-4809B8E042E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392" y="3120"/>
              <a:ext cx="48" cy="48"/>
            </a:xfrm>
            <a:prstGeom prst="line">
              <a:avLst/>
            </a:prstGeom>
            <a:noFill/>
            <a:ln w="19050">
              <a:solidFill>
                <a:sysClr val="windowText" lastClr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F0502020204030204"/>
                <a:ea typeface="等线" panose="02010600030101010101" pitchFamily="2" charset="-122"/>
              </a:endParaRPr>
            </a:p>
          </p:txBody>
        </p:sp>
        <p:sp>
          <p:nvSpPr>
            <p:cNvPr id="429" name="Line 79">
              <a:extLst>
                <a:ext uri="{FF2B5EF4-FFF2-40B4-BE49-F238E27FC236}">
                  <a16:creationId xmlns:a16="http://schemas.microsoft.com/office/drawing/2014/main" id="{31A04CE9-6B6F-45F8-A0C2-8D7EE4889AB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392" y="2880"/>
              <a:ext cx="0" cy="192"/>
            </a:xfrm>
            <a:prstGeom prst="line">
              <a:avLst/>
            </a:prstGeom>
            <a:noFill/>
            <a:ln w="19050">
              <a:solidFill>
                <a:sysClr val="windowText" lastClr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F0502020204030204"/>
                <a:ea typeface="等线" panose="02010600030101010101" pitchFamily="2" charset="-122"/>
              </a:endParaRPr>
            </a:p>
          </p:txBody>
        </p:sp>
        <p:sp>
          <p:nvSpPr>
            <p:cNvPr id="430" name="Line 80">
              <a:extLst>
                <a:ext uri="{FF2B5EF4-FFF2-40B4-BE49-F238E27FC236}">
                  <a16:creationId xmlns:a16="http://schemas.microsoft.com/office/drawing/2014/main" id="{A1FAB165-4AE9-40D5-AE41-2EEF10C713F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392" y="3168"/>
              <a:ext cx="0" cy="192"/>
            </a:xfrm>
            <a:prstGeom prst="line">
              <a:avLst/>
            </a:prstGeom>
            <a:noFill/>
            <a:ln w="19050">
              <a:solidFill>
                <a:sysClr val="windowText" lastClr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F0502020204030204"/>
                <a:ea typeface="等线" panose="02010600030101010101" pitchFamily="2" charset="-122"/>
              </a:endParaRPr>
            </a:p>
          </p:txBody>
        </p:sp>
        <p:sp>
          <p:nvSpPr>
            <p:cNvPr id="431" name="Line 81">
              <a:extLst>
                <a:ext uri="{FF2B5EF4-FFF2-40B4-BE49-F238E27FC236}">
                  <a16:creationId xmlns:a16="http://schemas.microsoft.com/office/drawing/2014/main" id="{418A6441-2C41-462A-955D-FB51B829512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392" y="3216"/>
              <a:ext cx="288" cy="144"/>
            </a:xfrm>
            <a:prstGeom prst="line">
              <a:avLst/>
            </a:prstGeom>
            <a:noFill/>
            <a:ln w="19050">
              <a:solidFill>
                <a:sysClr val="windowText" lastClr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F0502020204030204"/>
                <a:ea typeface="等线" panose="02010600030101010101" pitchFamily="2" charset="-122"/>
              </a:endParaRPr>
            </a:p>
          </p:txBody>
        </p:sp>
        <p:sp>
          <p:nvSpPr>
            <p:cNvPr id="432" name="Line 82">
              <a:extLst>
                <a:ext uri="{FF2B5EF4-FFF2-40B4-BE49-F238E27FC236}">
                  <a16:creationId xmlns:a16="http://schemas.microsoft.com/office/drawing/2014/main" id="{5418ADAB-CB3F-47FE-9C3B-F45AFD2A9F8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680" y="3024"/>
              <a:ext cx="0" cy="192"/>
            </a:xfrm>
            <a:prstGeom prst="line">
              <a:avLst/>
            </a:prstGeom>
            <a:noFill/>
            <a:ln w="19050">
              <a:solidFill>
                <a:sysClr val="windowText" lastClr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F0502020204030204"/>
                <a:ea typeface="等线" panose="02010600030101010101" pitchFamily="2" charset="-122"/>
              </a:endParaRPr>
            </a:p>
          </p:txBody>
        </p:sp>
        <p:sp>
          <p:nvSpPr>
            <p:cNvPr id="433" name="Line 83">
              <a:extLst>
                <a:ext uri="{FF2B5EF4-FFF2-40B4-BE49-F238E27FC236}">
                  <a16:creationId xmlns:a16="http://schemas.microsoft.com/office/drawing/2014/main" id="{961EF150-69DE-4F0E-839F-8E5E0488E33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92" y="2880"/>
              <a:ext cx="288" cy="144"/>
            </a:xfrm>
            <a:prstGeom prst="line">
              <a:avLst/>
            </a:prstGeom>
            <a:noFill/>
            <a:ln w="19050">
              <a:solidFill>
                <a:sysClr val="windowText" lastClr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F0502020204030204"/>
                <a:ea typeface="等线" panose="02010600030101010101" pitchFamily="2" charset="-122"/>
              </a:endParaRPr>
            </a:p>
          </p:txBody>
        </p:sp>
      </p:grpSp>
      <p:sp>
        <p:nvSpPr>
          <p:cNvPr id="434" name="Text Box 84">
            <a:extLst>
              <a:ext uri="{FF2B5EF4-FFF2-40B4-BE49-F238E27FC236}">
                <a16:creationId xmlns:a16="http://schemas.microsoft.com/office/drawing/2014/main" id="{B4092A30-24CC-4CE3-A737-185CEA0284B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647600" y="3219119"/>
            <a:ext cx="457146" cy="27698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1425" tIns="45713" rIns="91425" bIns="45713">
            <a:spAutoFit/>
          </a:bodyPr>
          <a:lstStyle>
            <a:lvl1pPr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1pPr>
            <a:lvl2pPr marL="742950" indent="-28575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2pPr>
            <a:lvl3pPr marL="11430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3pPr>
            <a:lvl4pPr marL="16002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4pPr>
            <a:lvl5pPr marL="20574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9pPr>
          </a:lstStyle>
          <a:p>
            <a:pPr fontAlgn="auto">
              <a:spcBef>
                <a:spcPts val="0"/>
              </a:spcBef>
              <a:spcAft>
                <a:spcPts val="0"/>
              </a:spcAft>
            </a:pPr>
            <a:r>
              <a:rPr lang="en-US" altLang="zh-CN" sz="1200" b="0" dirty="0">
                <a:solidFill>
                  <a:prstClr val="black"/>
                </a:solidFill>
                <a:latin typeface="Arial" pitchFamily="34" charset="0"/>
                <a:ea typeface="SimHei" panose="02010609060101010101" pitchFamily="49" charset="-122"/>
              </a:rPr>
              <a:t>Add</a:t>
            </a:r>
          </a:p>
        </p:txBody>
      </p:sp>
      <p:sp>
        <p:nvSpPr>
          <p:cNvPr id="435" name="Line 85">
            <a:extLst>
              <a:ext uri="{FF2B5EF4-FFF2-40B4-BE49-F238E27FC236}">
                <a16:creationId xmlns:a16="http://schemas.microsoft.com/office/drawing/2014/main" id="{070AF81A-4F46-458F-8A54-64CED1204CE3}"/>
              </a:ext>
            </a:extLst>
          </p:cNvPr>
          <p:cNvSpPr>
            <a:spLocks noChangeShapeType="1"/>
          </p:cNvSpPr>
          <p:nvPr/>
        </p:nvSpPr>
        <p:spPr bwMode="auto">
          <a:xfrm>
            <a:off x="5451310" y="3560853"/>
            <a:ext cx="227940" cy="0"/>
          </a:xfrm>
          <a:prstGeom prst="line">
            <a:avLst/>
          </a:prstGeom>
          <a:noFill/>
          <a:ln w="19050">
            <a:solidFill>
              <a:sysClr val="windowText" lastClr="00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</a:endParaRPr>
          </a:p>
        </p:txBody>
      </p:sp>
      <p:sp>
        <p:nvSpPr>
          <p:cNvPr id="436" name="Rectangle 86">
            <a:extLst>
              <a:ext uri="{FF2B5EF4-FFF2-40B4-BE49-F238E27FC236}">
                <a16:creationId xmlns:a16="http://schemas.microsoft.com/office/drawing/2014/main" id="{49973A2A-89A0-407F-9F15-8104217BFE4D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19750" y="3804956"/>
            <a:ext cx="1291659" cy="1117207"/>
          </a:xfrm>
          <a:prstGeom prst="rect">
            <a:avLst/>
          </a:prstGeom>
          <a:noFill/>
          <a:ln w="19050">
            <a:solidFill>
              <a:sysClr val="windowText" lastClr="000000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</a:endParaRPr>
          </a:p>
        </p:txBody>
      </p:sp>
      <p:sp>
        <p:nvSpPr>
          <p:cNvPr id="437" name="Line 87">
            <a:extLst>
              <a:ext uri="{FF2B5EF4-FFF2-40B4-BE49-F238E27FC236}">
                <a16:creationId xmlns:a16="http://schemas.microsoft.com/office/drawing/2014/main" id="{B6301D9F-116C-427F-8BC2-3B8793F748E7}"/>
              </a:ext>
            </a:extLst>
          </p:cNvPr>
          <p:cNvSpPr>
            <a:spLocks noChangeShapeType="1"/>
          </p:cNvSpPr>
          <p:nvPr/>
        </p:nvSpPr>
        <p:spPr bwMode="auto">
          <a:xfrm>
            <a:off x="6291811" y="4394131"/>
            <a:ext cx="227940" cy="0"/>
          </a:xfrm>
          <a:prstGeom prst="line">
            <a:avLst/>
          </a:prstGeom>
          <a:noFill/>
          <a:ln w="19050">
            <a:solidFill>
              <a:sysClr val="windowText" lastClr="00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</a:endParaRPr>
          </a:p>
        </p:txBody>
      </p:sp>
      <p:sp>
        <p:nvSpPr>
          <p:cNvPr id="438" name="Text Box 88">
            <a:extLst>
              <a:ext uri="{FF2B5EF4-FFF2-40B4-BE49-F238E27FC236}">
                <a16:creationId xmlns:a16="http://schemas.microsoft.com/office/drawing/2014/main" id="{15A09977-B083-4C5E-9D68-FD2B241A4CF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46061" y="3804957"/>
            <a:ext cx="830645" cy="52320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1425" tIns="45713" rIns="91425" bIns="45713">
            <a:spAutoFit/>
          </a:bodyPr>
          <a:lstStyle>
            <a:lvl1pPr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1pPr>
            <a:lvl2pPr marL="742950" indent="-28575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2pPr>
            <a:lvl3pPr marL="11430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3pPr>
            <a:lvl4pPr marL="16002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4pPr>
            <a:lvl5pPr marL="20574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9pPr>
          </a:lstStyle>
          <a:p>
            <a:pPr algn="ctr" fontAlgn="auto">
              <a:spcBef>
                <a:spcPts val="0"/>
              </a:spcBef>
              <a:spcAft>
                <a:spcPts val="0"/>
              </a:spcAft>
            </a:pPr>
            <a:r>
              <a:rPr lang="en-US" altLang="zh-CN" sz="1400" b="0" dirty="0">
                <a:solidFill>
                  <a:prstClr val="black"/>
                </a:solidFill>
                <a:latin typeface="Arial" pitchFamily="34" charset="0"/>
                <a:ea typeface="SimHei" panose="02010609060101010101" pitchFamily="49" charset="-122"/>
              </a:rPr>
              <a:t>Data</a:t>
            </a:r>
          </a:p>
          <a:p>
            <a:pPr algn="ctr" fontAlgn="auto">
              <a:spcBef>
                <a:spcPts val="0"/>
              </a:spcBef>
              <a:spcAft>
                <a:spcPts val="0"/>
              </a:spcAft>
            </a:pPr>
            <a:r>
              <a:rPr lang="en-US" altLang="zh-CN" sz="1400" b="0" dirty="0">
                <a:solidFill>
                  <a:prstClr val="black"/>
                </a:solidFill>
                <a:latin typeface="Arial" pitchFamily="34" charset="0"/>
                <a:ea typeface="SimHei" panose="02010609060101010101" pitchFamily="49" charset="-122"/>
              </a:rPr>
              <a:t>Memory</a:t>
            </a:r>
          </a:p>
        </p:txBody>
      </p:sp>
      <p:sp>
        <p:nvSpPr>
          <p:cNvPr id="439" name="Text Box 89">
            <a:extLst>
              <a:ext uri="{FF2B5EF4-FFF2-40B4-BE49-F238E27FC236}">
                <a16:creationId xmlns:a16="http://schemas.microsoft.com/office/drawing/2014/main" id="{40AABA32-62A8-4161-B10C-6E8FED87DC4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443770" y="4255251"/>
            <a:ext cx="747290" cy="27698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1425" tIns="45713" rIns="91425" bIns="45713">
            <a:spAutoFit/>
          </a:bodyPr>
          <a:lstStyle>
            <a:lvl1pPr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1pPr>
            <a:lvl2pPr marL="742950" indent="-28575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2pPr>
            <a:lvl3pPr marL="11430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3pPr>
            <a:lvl4pPr marL="16002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4pPr>
            <a:lvl5pPr marL="20574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9pPr>
          </a:lstStyle>
          <a:p>
            <a:pPr fontAlgn="auto">
              <a:spcBef>
                <a:spcPts val="0"/>
              </a:spcBef>
              <a:spcAft>
                <a:spcPts val="0"/>
              </a:spcAft>
            </a:pPr>
            <a:r>
              <a:rPr lang="en-US" altLang="zh-CN" sz="1200" b="0" dirty="0">
                <a:solidFill>
                  <a:prstClr val="black"/>
                </a:solidFill>
                <a:latin typeface="Arial" pitchFamily="34" charset="0"/>
                <a:ea typeface="SimHei" panose="02010609060101010101" pitchFamily="49" charset="-122"/>
              </a:rPr>
              <a:t>Address</a:t>
            </a:r>
          </a:p>
        </p:txBody>
      </p:sp>
      <p:sp>
        <p:nvSpPr>
          <p:cNvPr id="440" name="Text Box 90">
            <a:extLst>
              <a:ext uri="{FF2B5EF4-FFF2-40B4-BE49-F238E27FC236}">
                <a16:creationId xmlns:a16="http://schemas.microsoft.com/office/drawing/2014/main" id="{5674A327-1919-403C-8717-CF9603B2FDE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443770" y="4602450"/>
            <a:ext cx="908039" cy="27698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1425" tIns="45713" rIns="91425" bIns="45713">
            <a:spAutoFit/>
          </a:bodyPr>
          <a:lstStyle>
            <a:lvl1pPr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1pPr>
            <a:lvl2pPr marL="742950" indent="-28575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2pPr>
            <a:lvl3pPr marL="11430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3pPr>
            <a:lvl4pPr marL="16002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4pPr>
            <a:lvl5pPr marL="20574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9pPr>
          </a:lstStyle>
          <a:p>
            <a:pPr fontAlgn="auto">
              <a:spcBef>
                <a:spcPts val="0"/>
              </a:spcBef>
              <a:spcAft>
                <a:spcPts val="0"/>
              </a:spcAft>
            </a:pPr>
            <a:r>
              <a:rPr lang="en-US" altLang="zh-CN" sz="1200" b="0" dirty="0">
                <a:solidFill>
                  <a:prstClr val="black"/>
                </a:solidFill>
                <a:latin typeface="Arial" pitchFamily="34" charset="0"/>
                <a:ea typeface="SimHei" panose="02010609060101010101" pitchFamily="49" charset="-122"/>
              </a:rPr>
              <a:t>Write Data</a:t>
            </a:r>
          </a:p>
        </p:txBody>
      </p:sp>
      <p:sp>
        <p:nvSpPr>
          <p:cNvPr id="441" name="Text Box 91">
            <a:extLst>
              <a:ext uri="{FF2B5EF4-FFF2-40B4-BE49-F238E27FC236}">
                <a16:creationId xmlns:a16="http://schemas.microsoft.com/office/drawing/2014/main" id="{6D0611B3-1024-4C16-A450-0EB6775B011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279549" y="4185811"/>
            <a:ext cx="550120" cy="46165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1425" tIns="45713" rIns="91425" bIns="45713">
            <a:spAutoFit/>
          </a:bodyPr>
          <a:lstStyle>
            <a:lvl1pPr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1pPr>
            <a:lvl2pPr marL="742950" indent="-28575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2pPr>
            <a:lvl3pPr marL="11430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3pPr>
            <a:lvl4pPr marL="16002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4pPr>
            <a:lvl5pPr marL="20574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9pPr>
          </a:lstStyle>
          <a:p>
            <a:pPr fontAlgn="auto">
              <a:spcBef>
                <a:spcPts val="0"/>
              </a:spcBef>
              <a:spcAft>
                <a:spcPts val="0"/>
              </a:spcAft>
            </a:pPr>
            <a:r>
              <a:rPr lang="en-US" altLang="zh-CN" sz="1200" b="0" dirty="0">
                <a:solidFill>
                  <a:prstClr val="black"/>
                </a:solidFill>
                <a:latin typeface="Arial" pitchFamily="34" charset="0"/>
                <a:ea typeface="SimHei" panose="02010609060101010101" pitchFamily="49" charset="-122"/>
              </a:rPr>
              <a:t>Read</a:t>
            </a:r>
          </a:p>
          <a:p>
            <a:pPr fontAlgn="auto">
              <a:spcBef>
                <a:spcPts val="0"/>
              </a:spcBef>
              <a:spcAft>
                <a:spcPts val="0"/>
              </a:spcAft>
            </a:pPr>
            <a:r>
              <a:rPr lang="en-US" altLang="zh-CN" sz="1200" b="0" dirty="0">
                <a:solidFill>
                  <a:prstClr val="black"/>
                </a:solidFill>
                <a:latin typeface="Arial" pitchFamily="34" charset="0"/>
                <a:ea typeface="SimHei" panose="02010609060101010101" pitchFamily="49" charset="-122"/>
              </a:rPr>
              <a:t>Data</a:t>
            </a:r>
          </a:p>
        </p:txBody>
      </p:sp>
      <p:sp>
        <p:nvSpPr>
          <p:cNvPr id="442" name="Line 92">
            <a:extLst>
              <a:ext uri="{FF2B5EF4-FFF2-40B4-BE49-F238E27FC236}">
                <a16:creationId xmlns:a16="http://schemas.microsoft.com/office/drawing/2014/main" id="{888317BB-3E78-4DD1-ADB2-57321877E4CC}"/>
              </a:ext>
            </a:extLst>
          </p:cNvPr>
          <p:cNvSpPr>
            <a:spLocks noChangeShapeType="1"/>
          </p:cNvSpPr>
          <p:nvPr/>
        </p:nvSpPr>
        <p:spPr bwMode="auto">
          <a:xfrm>
            <a:off x="6291810" y="4741330"/>
            <a:ext cx="227940" cy="0"/>
          </a:xfrm>
          <a:prstGeom prst="line">
            <a:avLst/>
          </a:prstGeom>
          <a:noFill/>
          <a:ln w="19050">
            <a:solidFill>
              <a:sysClr val="windowText" lastClr="00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</a:endParaRPr>
          </a:p>
        </p:txBody>
      </p:sp>
      <p:sp>
        <p:nvSpPr>
          <p:cNvPr id="443" name="Line 93">
            <a:extLst>
              <a:ext uri="{FF2B5EF4-FFF2-40B4-BE49-F238E27FC236}">
                <a16:creationId xmlns:a16="http://schemas.microsoft.com/office/drawing/2014/main" id="{D72C5C3D-9C62-430E-ACFC-18411C793F0E}"/>
              </a:ext>
            </a:extLst>
          </p:cNvPr>
          <p:cNvSpPr>
            <a:spLocks noChangeShapeType="1"/>
          </p:cNvSpPr>
          <p:nvPr/>
        </p:nvSpPr>
        <p:spPr bwMode="auto">
          <a:xfrm>
            <a:off x="8115329" y="4741330"/>
            <a:ext cx="227940" cy="1447"/>
          </a:xfrm>
          <a:prstGeom prst="line">
            <a:avLst/>
          </a:prstGeom>
          <a:noFill/>
          <a:ln w="19050">
            <a:solidFill>
              <a:sysClr val="windowText" lastClr="00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</a:endParaRPr>
          </a:p>
        </p:txBody>
      </p:sp>
      <p:sp>
        <p:nvSpPr>
          <p:cNvPr id="444" name="AutoShape 94">
            <a:extLst>
              <a:ext uri="{FF2B5EF4-FFF2-40B4-BE49-F238E27FC236}">
                <a16:creationId xmlns:a16="http://schemas.microsoft.com/office/drawing/2014/main" id="{D3F33250-4A94-4088-8CE1-E3BFFD61AE6E}"/>
              </a:ext>
            </a:extLst>
          </p:cNvPr>
          <p:cNvSpPr>
            <a:spLocks noChangeArrowheads="1"/>
          </p:cNvSpPr>
          <p:nvPr/>
        </p:nvSpPr>
        <p:spPr bwMode="auto">
          <a:xfrm rot="16200000">
            <a:off x="8144759" y="4453761"/>
            <a:ext cx="624959" cy="227940"/>
          </a:xfrm>
          <a:custGeom>
            <a:avLst/>
            <a:gdLst>
              <a:gd name="T0" fmla="*/ 8 w 21600"/>
              <a:gd name="T1" fmla="*/ 0 h 21600"/>
              <a:gd name="T2" fmla="*/ 4 w 21600"/>
              <a:gd name="T3" fmla="*/ 1 h 21600"/>
              <a:gd name="T4" fmla="*/ 1 w 21600"/>
              <a:gd name="T5" fmla="*/ 0 h 21600"/>
              <a:gd name="T6" fmla="*/ 4 w 21600"/>
              <a:gd name="T7" fmla="*/ 0 h 21600"/>
              <a:gd name="T8" fmla="*/ 0 60000 65536"/>
              <a:gd name="T9" fmla="*/ 0 60000 65536"/>
              <a:gd name="T10" fmla="*/ 0 60000 65536"/>
              <a:gd name="T11" fmla="*/ 0 60000 65536"/>
              <a:gd name="T12" fmla="*/ 4500 w 21600"/>
              <a:gd name="T13" fmla="*/ 4500 h 21600"/>
              <a:gd name="T14" fmla="*/ 17100 w 21600"/>
              <a:gd name="T15" fmla="*/ 17100 h 21600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21600" h="21600">
                <a:moveTo>
                  <a:pt x="0" y="0"/>
                </a:moveTo>
                <a:lnTo>
                  <a:pt x="5400" y="21600"/>
                </a:lnTo>
                <a:lnTo>
                  <a:pt x="16200" y="21600"/>
                </a:lnTo>
                <a:lnTo>
                  <a:pt x="21600" y="0"/>
                </a:lnTo>
                <a:lnTo>
                  <a:pt x="0" y="0"/>
                </a:lnTo>
                <a:close/>
              </a:path>
            </a:pathLst>
          </a:custGeom>
          <a:noFill/>
          <a:ln w="19050">
            <a:solidFill>
              <a:sysClr val="windowText" lastClr="000000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</a:endParaRPr>
          </a:p>
        </p:txBody>
      </p:sp>
      <p:sp>
        <p:nvSpPr>
          <p:cNvPr id="445" name="Line 98">
            <a:extLst>
              <a:ext uri="{FF2B5EF4-FFF2-40B4-BE49-F238E27FC236}">
                <a16:creationId xmlns:a16="http://schemas.microsoft.com/office/drawing/2014/main" id="{683F0C9B-AE80-4A69-8361-F428DD31EB21}"/>
              </a:ext>
            </a:extLst>
          </p:cNvPr>
          <p:cNvSpPr>
            <a:spLocks noChangeShapeType="1"/>
          </p:cNvSpPr>
          <p:nvPr/>
        </p:nvSpPr>
        <p:spPr bwMode="auto">
          <a:xfrm>
            <a:off x="4316332" y="3977492"/>
            <a:ext cx="151960" cy="0"/>
          </a:xfrm>
          <a:prstGeom prst="line">
            <a:avLst/>
          </a:prstGeom>
          <a:noFill/>
          <a:ln w="19050">
            <a:solidFill>
              <a:sysClr val="windowText" lastClr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</a:endParaRPr>
          </a:p>
        </p:txBody>
      </p:sp>
      <p:sp>
        <p:nvSpPr>
          <p:cNvPr id="446" name="Line 99">
            <a:extLst>
              <a:ext uri="{FF2B5EF4-FFF2-40B4-BE49-F238E27FC236}">
                <a16:creationId xmlns:a16="http://schemas.microsoft.com/office/drawing/2014/main" id="{30E92828-C680-485C-A081-B344ABF3F1EA}"/>
              </a:ext>
            </a:extLst>
          </p:cNvPr>
          <p:cNvSpPr>
            <a:spLocks noChangeShapeType="1"/>
          </p:cNvSpPr>
          <p:nvPr/>
        </p:nvSpPr>
        <p:spPr bwMode="auto">
          <a:xfrm>
            <a:off x="2796734" y="4810770"/>
            <a:ext cx="0" cy="1525123"/>
          </a:xfrm>
          <a:prstGeom prst="line">
            <a:avLst/>
          </a:prstGeom>
          <a:noFill/>
          <a:ln w="19050">
            <a:solidFill>
              <a:sysClr val="windowText" lastClr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</a:endParaRPr>
          </a:p>
        </p:txBody>
      </p:sp>
      <p:sp>
        <p:nvSpPr>
          <p:cNvPr id="447" name="Line 100">
            <a:extLst>
              <a:ext uri="{FF2B5EF4-FFF2-40B4-BE49-F238E27FC236}">
                <a16:creationId xmlns:a16="http://schemas.microsoft.com/office/drawing/2014/main" id="{B3E8F5B6-08AD-4021-9034-4B7E2BE65648}"/>
              </a:ext>
            </a:extLst>
          </p:cNvPr>
          <p:cNvSpPr>
            <a:spLocks noChangeShapeType="1"/>
          </p:cNvSpPr>
          <p:nvPr/>
        </p:nvSpPr>
        <p:spPr bwMode="auto">
          <a:xfrm>
            <a:off x="2036934" y="3144214"/>
            <a:ext cx="227940" cy="0"/>
          </a:xfrm>
          <a:prstGeom prst="line">
            <a:avLst/>
          </a:prstGeom>
          <a:noFill/>
          <a:ln w="19050">
            <a:solidFill>
              <a:sysClr val="windowText" lastClr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</a:endParaRPr>
          </a:p>
        </p:txBody>
      </p:sp>
      <p:sp>
        <p:nvSpPr>
          <p:cNvPr id="448" name="Line 101">
            <a:extLst>
              <a:ext uri="{FF2B5EF4-FFF2-40B4-BE49-F238E27FC236}">
                <a16:creationId xmlns:a16="http://schemas.microsoft.com/office/drawing/2014/main" id="{D9F6C784-977E-49AF-9739-2ECAB65C57C7}"/>
              </a:ext>
            </a:extLst>
          </p:cNvPr>
          <p:cNvSpPr>
            <a:spLocks noChangeShapeType="1"/>
          </p:cNvSpPr>
          <p:nvPr/>
        </p:nvSpPr>
        <p:spPr bwMode="auto">
          <a:xfrm>
            <a:off x="1277135" y="2241496"/>
            <a:ext cx="911759" cy="0"/>
          </a:xfrm>
          <a:prstGeom prst="line">
            <a:avLst/>
          </a:prstGeom>
          <a:noFill/>
          <a:ln w="19050">
            <a:solidFill>
              <a:sysClr val="windowText" lastClr="000000"/>
            </a:solidFill>
            <a:round/>
            <a:headEnd type="triangle" w="med" len="med"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</a:endParaRPr>
          </a:p>
        </p:txBody>
      </p:sp>
      <p:sp>
        <p:nvSpPr>
          <p:cNvPr id="449" name="Line 102">
            <a:extLst>
              <a:ext uri="{FF2B5EF4-FFF2-40B4-BE49-F238E27FC236}">
                <a16:creationId xmlns:a16="http://schemas.microsoft.com/office/drawing/2014/main" id="{B979182A-A5E7-4EAE-B20A-D7A6D176D0CF}"/>
              </a:ext>
            </a:extLst>
          </p:cNvPr>
          <p:cNvSpPr>
            <a:spLocks noChangeShapeType="1"/>
          </p:cNvSpPr>
          <p:nvPr/>
        </p:nvSpPr>
        <p:spPr bwMode="auto">
          <a:xfrm>
            <a:off x="2568794" y="4324691"/>
            <a:ext cx="151960" cy="0"/>
          </a:xfrm>
          <a:prstGeom prst="line">
            <a:avLst/>
          </a:prstGeom>
          <a:noFill/>
          <a:ln w="19050">
            <a:solidFill>
              <a:sysClr val="windowText" lastClr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</a:endParaRPr>
          </a:p>
        </p:txBody>
      </p:sp>
      <p:sp>
        <p:nvSpPr>
          <p:cNvPr id="450" name="Line 103">
            <a:extLst>
              <a:ext uri="{FF2B5EF4-FFF2-40B4-BE49-F238E27FC236}">
                <a16:creationId xmlns:a16="http://schemas.microsoft.com/office/drawing/2014/main" id="{4D7379C9-E242-4B24-9711-DD23941F3353}"/>
              </a:ext>
            </a:extLst>
          </p:cNvPr>
          <p:cNvSpPr>
            <a:spLocks noChangeShapeType="1"/>
          </p:cNvSpPr>
          <p:nvPr/>
        </p:nvSpPr>
        <p:spPr bwMode="auto">
          <a:xfrm>
            <a:off x="7811409" y="4394131"/>
            <a:ext cx="151609" cy="0"/>
          </a:xfrm>
          <a:prstGeom prst="line">
            <a:avLst/>
          </a:prstGeom>
          <a:noFill/>
          <a:ln w="19050">
            <a:solidFill>
              <a:sysClr val="windowText" lastClr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</a:endParaRPr>
          </a:p>
        </p:txBody>
      </p:sp>
      <p:sp>
        <p:nvSpPr>
          <p:cNvPr id="451" name="Rectangle 104">
            <a:extLst>
              <a:ext uri="{FF2B5EF4-FFF2-40B4-BE49-F238E27FC236}">
                <a16:creationId xmlns:a16="http://schemas.microsoft.com/office/drawing/2014/main" id="{1F0AF87B-50D7-4A25-B7BF-CD1693E3C293}"/>
              </a:ext>
            </a:extLst>
          </p:cNvPr>
          <p:cNvSpPr>
            <a:spLocks noChangeArrowheads="1"/>
          </p:cNvSpPr>
          <p:nvPr/>
        </p:nvSpPr>
        <p:spPr bwMode="auto">
          <a:xfrm>
            <a:off x="2416834" y="2935894"/>
            <a:ext cx="151960" cy="2013755"/>
          </a:xfrm>
          <a:prstGeom prst="rect">
            <a:avLst/>
          </a:prstGeom>
          <a:pattFill prst="wdUpDiag">
            <a:fgClr>
              <a:sysClr val="window" lastClr="FFFFFF">
                <a:lumMod val="75000"/>
              </a:sysClr>
            </a:fgClr>
            <a:bgClr>
              <a:sysClr val="window" lastClr="FFFFFF"/>
            </a:bgClr>
          </a:pattFill>
          <a:ln w="19050">
            <a:solidFill>
              <a:sysClr val="windowText" lastClr="000000"/>
            </a:solidFill>
            <a:miter lim="800000"/>
            <a:headEnd/>
            <a:tailEnd/>
          </a:ln>
          <a:effectLst/>
        </p:spPr>
        <p:txBody>
          <a:bodyPr wrap="none" anchor="ctr"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</a:endParaRPr>
          </a:p>
        </p:txBody>
      </p:sp>
      <p:sp>
        <p:nvSpPr>
          <p:cNvPr id="452" name="Rectangle 105">
            <a:extLst>
              <a:ext uri="{FF2B5EF4-FFF2-40B4-BE49-F238E27FC236}">
                <a16:creationId xmlns:a16="http://schemas.microsoft.com/office/drawing/2014/main" id="{28D65B85-9D65-498C-AADE-CE426CDFD3E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68291" y="2935894"/>
            <a:ext cx="158319" cy="3133028"/>
          </a:xfrm>
          <a:prstGeom prst="rect">
            <a:avLst/>
          </a:prstGeom>
          <a:pattFill prst="wdUpDiag">
            <a:fgClr>
              <a:sysClr val="window" lastClr="FFFFFF">
                <a:lumMod val="75000"/>
              </a:sysClr>
            </a:fgClr>
            <a:bgClr>
              <a:sysClr val="window" lastClr="FFFFFF"/>
            </a:bgClr>
          </a:pattFill>
          <a:ln w="19050">
            <a:solidFill>
              <a:sysClr val="windowText" lastClr="000000"/>
            </a:solidFill>
            <a:miter lim="800000"/>
            <a:headEnd/>
            <a:tailEnd/>
          </a:ln>
          <a:effectLst/>
        </p:spPr>
        <p:txBody>
          <a:bodyPr wrap="none" anchor="ctr"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</a:endParaRPr>
          </a:p>
        </p:txBody>
      </p:sp>
      <p:sp>
        <p:nvSpPr>
          <p:cNvPr id="453" name="Line 106">
            <a:extLst>
              <a:ext uri="{FF2B5EF4-FFF2-40B4-BE49-F238E27FC236}">
                <a16:creationId xmlns:a16="http://schemas.microsoft.com/office/drawing/2014/main" id="{98CDF445-5547-4938-B8A9-6F9F3FE46653}"/>
              </a:ext>
            </a:extLst>
          </p:cNvPr>
          <p:cNvSpPr>
            <a:spLocks noChangeShapeType="1"/>
          </p:cNvSpPr>
          <p:nvPr/>
        </p:nvSpPr>
        <p:spPr bwMode="auto">
          <a:xfrm>
            <a:off x="2188894" y="3144214"/>
            <a:ext cx="227940" cy="0"/>
          </a:xfrm>
          <a:prstGeom prst="line">
            <a:avLst/>
          </a:prstGeom>
          <a:noFill/>
          <a:ln w="19050">
            <a:solidFill>
              <a:sysClr val="windowText" lastClr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</a:endParaRPr>
          </a:p>
        </p:txBody>
      </p:sp>
      <p:sp>
        <p:nvSpPr>
          <p:cNvPr id="454" name="Line 107">
            <a:extLst>
              <a:ext uri="{FF2B5EF4-FFF2-40B4-BE49-F238E27FC236}">
                <a16:creationId xmlns:a16="http://schemas.microsoft.com/office/drawing/2014/main" id="{340C733B-BE14-4C16-87C4-D299BFED6B08}"/>
              </a:ext>
            </a:extLst>
          </p:cNvPr>
          <p:cNvSpPr>
            <a:spLocks noChangeShapeType="1"/>
          </p:cNvSpPr>
          <p:nvPr/>
        </p:nvSpPr>
        <p:spPr bwMode="auto">
          <a:xfrm>
            <a:off x="2568794" y="3144214"/>
            <a:ext cx="1899498" cy="0"/>
          </a:xfrm>
          <a:prstGeom prst="line">
            <a:avLst/>
          </a:prstGeom>
          <a:noFill/>
          <a:ln w="19050">
            <a:solidFill>
              <a:sysClr val="windowText" lastClr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</a:endParaRPr>
          </a:p>
        </p:txBody>
      </p:sp>
      <p:sp>
        <p:nvSpPr>
          <p:cNvPr id="455" name="Line 108">
            <a:extLst>
              <a:ext uri="{FF2B5EF4-FFF2-40B4-BE49-F238E27FC236}">
                <a16:creationId xmlns:a16="http://schemas.microsoft.com/office/drawing/2014/main" id="{539194F2-C6BE-4051-898A-038E85858E9A}"/>
              </a:ext>
            </a:extLst>
          </p:cNvPr>
          <p:cNvSpPr>
            <a:spLocks noChangeShapeType="1"/>
          </p:cNvSpPr>
          <p:nvPr/>
        </p:nvSpPr>
        <p:spPr bwMode="auto">
          <a:xfrm>
            <a:off x="6040127" y="3352533"/>
            <a:ext cx="99724" cy="0"/>
          </a:xfrm>
          <a:prstGeom prst="line">
            <a:avLst/>
          </a:prstGeom>
          <a:noFill/>
          <a:ln w="19050">
            <a:solidFill>
              <a:sysClr val="windowText" lastClr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</a:endParaRPr>
          </a:p>
        </p:txBody>
      </p:sp>
      <p:sp>
        <p:nvSpPr>
          <p:cNvPr id="456" name="Line 109">
            <a:extLst>
              <a:ext uri="{FF2B5EF4-FFF2-40B4-BE49-F238E27FC236}">
                <a16:creationId xmlns:a16="http://schemas.microsoft.com/office/drawing/2014/main" id="{0B9ACF3C-F5E1-49C1-B050-A75E2EC1AF4B}"/>
              </a:ext>
            </a:extLst>
          </p:cNvPr>
          <p:cNvSpPr>
            <a:spLocks noChangeShapeType="1"/>
          </p:cNvSpPr>
          <p:nvPr/>
        </p:nvSpPr>
        <p:spPr bwMode="auto">
          <a:xfrm>
            <a:off x="4620252" y="5435728"/>
            <a:ext cx="107510" cy="0"/>
          </a:xfrm>
          <a:prstGeom prst="line">
            <a:avLst/>
          </a:prstGeom>
          <a:noFill/>
          <a:ln w="19050">
            <a:solidFill>
              <a:sysClr val="windowText" lastClr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</a:endParaRPr>
          </a:p>
        </p:txBody>
      </p:sp>
      <p:sp>
        <p:nvSpPr>
          <p:cNvPr id="457" name="Line 110">
            <a:extLst>
              <a:ext uri="{FF2B5EF4-FFF2-40B4-BE49-F238E27FC236}">
                <a16:creationId xmlns:a16="http://schemas.microsoft.com/office/drawing/2014/main" id="{F698C09A-B0A2-4958-9552-286E518B6561}"/>
              </a:ext>
            </a:extLst>
          </p:cNvPr>
          <p:cNvSpPr>
            <a:spLocks noChangeShapeType="1"/>
          </p:cNvSpPr>
          <p:nvPr/>
        </p:nvSpPr>
        <p:spPr bwMode="auto">
          <a:xfrm>
            <a:off x="4848192" y="4602450"/>
            <a:ext cx="0" cy="833278"/>
          </a:xfrm>
          <a:prstGeom prst="line">
            <a:avLst/>
          </a:prstGeom>
          <a:noFill/>
          <a:ln w="19050">
            <a:solidFill>
              <a:sysClr val="windowText" lastClr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</a:endParaRPr>
          </a:p>
        </p:txBody>
      </p:sp>
      <p:sp>
        <p:nvSpPr>
          <p:cNvPr id="458" name="Line 111">
            <a:extLst>
              <a:ext uri="{FF2B5EF4-FFF2-40B4-BE49-F238E27FC236}">
                <a16:creationId xmlns:a16="http://schemas.microsoft.com/office/drawing/2014/main" id="{727F29AC-2F1D-435F-94B6-4C6A94E92BD6}"/>
              </a:ext>
            </a:extLst>
          </p:cNvPr>
          <p:cNvSpPr>
            <a:spLocks noChangeShapeType="1"/>
          </p:cNvSpPr>
          <p:nvPr/>
        </p:nvSpPr>
        <p:spPr bwMode="auto">
          <a:xfrm>
            <a:off x="4848192" y="5435728"/>
            <a:ext cx="1291659" cy="0"/>
          </a:xfrm>
          <a:prstGeom prst="line">
            <a:avLst/>
          </a:prstGeom>
          <a:noFill/>
          <a:ln w="19050">
            <a:solidFill>
              <a:sysClr val="windowText" lastClr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</a:endParaRPr>
          </a:p>
        </p:txBody>
      </p:sp>
      <p:sp>
        <p:nvSpPr>
          <p:cNvPr id="459" name="Rectangle 112">
            <a:extLst>
              <a:ext uri="{FF2B5EF4-FFF2-40B4-BE49-F238E27FC236}">
                <a16:creationId xmlns:a16="http://schemas.microsoft.com/office/drawing/2014/main" id="{EA0F64AB-EF82-43E8-ABC6-D92D1AD8481C}"/>
              </a:ext>
            </a:extLst>
          </p:cNvPr>
          <p:cNvSpPr>
            <a:spLocks noChangeArrowheads="1"/>
          </p:cNvSpPr>
          <p:nvPr/>
        </p:nvSpPr>
        <p:spPr bwMode="auto">
          <a:xfrm>
            <a:off x="7963369" y="3491413"/>
            <a:ext cx="151960" cy="2360954"/>
          </a:xfrm>
          <a:prstGeom prst="rect">
            <a:avLst/>
          </a:prstGeom>
          <a:pattFill prst="wdUpDiag">
            <a:fgClr>
              <a:sysClr val="window" lastClr="FFFFFF">
                <a:lumMod val="75000"/>
              </a:sysClr>
            </a:fgClr>
            <a:bgClr>
              <a:sysClr val="window" lastClr="FFFFFF"/>
            </a:bgClr>
          </a:pattFill>
          <a:ln w="19050">
            <a:solidFill>
              <a:sysClr val="windowText" lastClr="000000"/>
            </a:solidFill>
            <a:miter lim="800000"/>
            <a:headEnd/>
            <a:tailEnd/>
          </a:ln>
          <a:effectLst/>
        </p:spPr>
        <p:txBody>
          <a:bodyPr wrap="none" anchor="ctr"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</a:endParaRPr>
          </a:p>
        </p:txBody>
      </p:sp>
      <p:sp>
        <p:nvSpPr>
          <p:cNvPr id="460" name="Line 113">
            <a:extLst>
              <a:ext uri="{FF2B5EF4-FFF2-40B4-BE49-F238E27FC236}">
                <a16:creationId xmlns:a16="http://schemas.microsoft.com/office/drawing/2014/main" id="{1DCC651C-189D-4735-B8B2-2DCEFFFC4DD2}"/>
              </a:ext>
            </a:extLst>
          </p:cNvPr>
          <p:cNvSpPr>
            <a:spLocks noChangeShapeType="1"/>
          </p:cNvSpPr>
          <p:nvPr/>
        </p:nvSpPr>
        <p:spPr bwMode="auto">
          <a:xfrm>
            <a:off x="6367790" y="5435728"/>
            <a:ext cx="1595579" cy="0"/>
          </a:xfrm>
          <a:prstGeom prst="line">
            <a:avLst/>
          </a:prstGeom>
          <a:noFill/>
          <a:ln w="19050">
            <a:solidFill>
              <a:sysClr val="windowText" lastClr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</a:endParaRPr>
          </a:p>
        </p:txBody>
      </p:sp>
      <p:sp>
        <p:nvSpPr>
          <p:cNvPr id="461" name="Line 114">
            <a:extLst>
              <a:ext uri="{FF2B5EF4-FFF2-40B4-BE49-F238E27FC236}">
                <a16:creationId xmlns:a16="http://schemas.microsoft.com/office/drawing/2014/main" id="{559D14AD-A063-424B-B394-4AC19A2609F2}"/>
              </a:ext>
            </a:extLst>
          </p:cNvPr>
          <p:cNvSpPr>
            <a:spLocks noChangeShapeType="1"/>
          </p:cNvSpPr>
          <p:nvPr/>
        </p:nvSpPr>
        <p:spPr bwMode="auto">
          <a:xfrm>
            <a:off x="8115329" y="4394131"/>
            <a:ext cx="227940" cy="1447"/>
          </a:xfrm>
          <a:prstGeom prst="line">
            <a:avLst/>
          </a:prstGeom>
          <a:noFill/>
          <a:ln w="19050">
            <a:solidFill>
              <a:sysClr val="windowText" lastClr="00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</a:endParaRPr>
          </a:p>
        </p:txBody>
      </p:sp>
      <p:sp>
        <p:nvSpPr>
          <p:cNvPr id="462" name="Line 115">
            <a:extLst>
              <a:ext uri="{FF2B5EF4-FFF2-40B4-BE49-F238E27FC236}">
                <a16:creationId xmlns:a16="http://schemas.microsoft.com/office/drawing/2014/main" id="{E4E16ADF-E402-4A42-9F6B-9058E1B763F2}"/>
              </a:ext>
            </a:extLst>
          </p:cNvPr>
          <p:cNvSpPr>
            <a:spLocks noChangeShapeType="1"/>
          </p:cNvSpPr>
          <p:nvPr/>
        </p:nvSpPr>
        <p:spPr bwMode="auto">
          <a:xfrm>
            <a:off x="8723168" y="4533010"/>
            <a:ext cx="0" cy="1802883"/>
          </a:xfrm>
          <a:prstGeom prst="line">
            <a:avLst/>
          </a:prstGeom>
          <a:noFill/>
          <a:ln w="19050">
            <a:solidFill>
              <a:sysClr val="windowText" lastClr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</a:endParaRPr>
          </a:p>
        </p:txBody>
      </p:sp>
      <p:sp>
        <p:nvSpPr>
          <p:cNvPr id="463" name="Line 116">
            <a:extLst>
              <a:ext uri="{FF2B5EF4-FFF2-40B4-BE49-F238E27FC236}">
                <a16:creationId xmlns:a16="http://schemas.microsoft.com/office/drawing/2014/main" id="{441D1A43-19F4-4C65-84E8-B427E8242E16}"/>
              </a:ext>
            </a:extLst>
          </p:cNvPr>
          <p:cNvSpPr>
            <a:spLocks noChangeShapeType="1"/>
          </p:cNvSpPr>
          <p:nvPr/>
        </p:nvSpPr>
        <p:spPr bwMode="auto">
          <a:xfrm>
            <a:off x="6519750" y="1963737"/>
            <a:ext cx="0" cy="1388797"/>
          </a:xfrm>
          <a:prstGeom prst="line">
            <a:avLst/>
          </a:prstGeom>
          <a:noFill/>
          <a:ln w="19050">
            <a:solidFill>
              <a:sysClr val="windowText" lastClr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</a:endParaRPr>
          </a:p>
        </p:txBody>
      </p:sp>
      <p:sp>
        <p:nvSpPr>
          <p:cNvPr id="464" name="Line 117">
            <a:extLst>
              <a:ext uri="{FF2B5EF4-FFF2-40B4-BE49-F238E27FC236}">
                <a16:creationId xmlns:a16="http://schemas.microsoft.com/office/drawing/2014/main" id="{9C6CC4CA-53E7-447B-BD9E-5FF85D29076D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139850" y="4741330"/>
            <a:ext cx="151960" cy="694398"/>
          </a:xfrm>
          <a:prstGeom prst="line">
            <a:avLst/>
          </a:prstGeom>
          <a:noFill/>
          <a:ln w="28575" cap="rnd">
            <a:solidFill>
              <a:srgbClr val="ED7D31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</a:endParaRPr>
          </a:p>
        </p:txBody>
      </p:sp>
      <p:sp>
        <p:nvSpPr>
          <p:cNvPr id="465" name="Line 118">
            <a:extLst>
              <a:ext uri="{FF2B5EF4-FFF2-40B4-BE49-F238E27FC236}">
                <a16:creationId xmlns:a16="http://schemas.microsoft.com/office/drawing/2014/main" id="{2F293FC9-9D3C-4416-8A02-0A95FD113D82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963369" y="4741330"/>
            <a:ext cx="151960" cy="694398"/>
          </a:xfrm>
          <a:prstGeom prst="line">
            <a:avLst/>
          </a:prstGeom>
          <a:noFill/>
          <a:ln w="28575" cap="rnd">
            <a:solidFill>
              <a:sysClr val="windowText" lastClr="000000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</a:endParaRPr>
          </a:p>
        </p:txBody>
      </p:sp>
      <p:sp>
        <p:nvSpPr>
          <p:cNvPr id="466" name="Text Box 119">
            <a:extLst>
              <a:ext uri="{FF2B5EF4-FFF2-40B4-BE49-F238E27FC236}">
                <a16:creationId xmlns:a16="http://schemas.microsoft.com/office/drawing/2014/main" id="{5D95B1C0-5567-468D-A387-BA59582A311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64874" y="2658135"/>
            <a:ext cx="519664" cy="27698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1425" tIns="45713" rIns="91425" bIns="45713">
            <a:spAutoFit/>
          </a:bodyPr>
          <a:lstStyle>
            <a:lvl1pPr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1pPr>
            <a:lvl2pPr marL="742950" indent="-28575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2pPr>
            <a:lvl3pPr marL="11430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3pPr>
            <a:lvl4pPr marL="16002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4pPr>
            <a:lvl5pPr marL="20574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9pPr>
          </a:lstStyle>
          <a:p>
            <a:pPr fontAlgn="auto">
              <a:spcBef>
                <a:spcPts val="0"/>
              </a:spcBef>
              <a:spcAft>
                <a:spcPts val="0"/>
              </a:spcAft>
            </a:pPr>
            <a:r>
              <a:rPr lang="en-US" altLang="zh-CN" sz="1200" b="0" dirty="0">
                <a:solidFill>
                  <a:prstClr val="black"/>
                </a:solidFill>
                <a:latin typeface="Arial" pitchFamily="34" charset="0"/>
                <a:ea typeface="SimHei" panose="02010609060101010101" pitchFamily="49" charset="-122"/>
              </a:rPr>
              <a:t>IF/ID</a:t>
            </a:r>
          </a:p>
        </p:txBody>
      </p:sp>
      <p:sp>
        <p:nvSpPr>
          <p:cNvPr id="467" name="Line 120">
            <a:extLst>
              <a:ext uri="{FF2B5EF4-FFF2-40B4-BE49-F238E27FC236}">
                <a16:creationId xmlns:a16="http://schemas.microsoft.com/office/drawing/2014/main" id="{3A227C0E-5F2D-4308-8344-7B8BE0F9B7A6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727762" y="3560853"/>
            <a:ext cx="0" cy="1388797"/>
          </a:xfrm>
          <a:prstGeom prst="line">
            <a:avLst/>
          </a:prstGeom>
          <a:noFill/>
          <a:ln w="19050">
            <a:solidFill>
              <a:sysClr val="windowText" lastClr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</a:endParaRPr>
          </a:p>
        </p:txBody>
      </p:sp>
      <p:sp>
        <p:nvSpPr>
          <p:cNvPr id="468" name="Line 121">
            <a:extLst>
              <a:ext uri="{FF2B5EF4-FFF2-40B4-BE49-F238E27FC236}">
                <a16:creationId xmlns:a16="http://schemas.microsoft.com/office/drawing/2014/main" id="{B260598C-0DD3-45A9-A4D2-4D4B894C9F2B}"/>
              </a:ext>
            </a:extLst>
          </p:cNvPr>
          <p:cNvSpPr>
            <a:spLocks noChangeShapeType="1"/>
          </p:cNvSpPr>
          <p:nvPr/>
        </p:nvSpPr>
        <p:spPr bwMode="auto">
          <a:xfrm>
            <a:off x="3897882" y="5435728"/>
            <a:ext cx="570411" cy="0"/>
          </a:xfrm>
          <a:prstGeom prst="line">
            <a:avLst/>
          </a:prstGeom>
          <a:noFill/>
          <a:ln w="19050">
            <a:solidFill>
              <a:sysClr val="windowText" lastClr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</a:endParaRPr>
          </a:p>
        </p:txBody>
      </p:sp>
      <p:sp>
        <p:nvSpPr>
          <p:cNvPr id="469" name="Line 122">
            <a:extLst>
              <a:ext uri="{FF2B5EF4-FFF2-40B4-BE49-F238E27FC236}">
                <a16:creationId xmlns:a16="http://schemas.microsoft.com/office/drawing/2014/main" id="{4D289A5A-D035-4E1A-A3BE-8BE5378685A8}"/>
              </a:ext>
            </a:extLst>
          </p:cNvPr>
          <p:cNvSpPr>
            <a:spLocks noChangeShapeType="1"/>
          </p:cNvSpPr>
          <p:nvPr/>
        </p:nvSpPr>
        <p:spPr bwMode="auto">
          <a:xfrm>
            <a:off x="4620252" y="3144214"/>
            <a:ext cx="1063719" cy="0"/>
          </a:xfrm>
          <a:prstGeom prst="line">
            <a:avLst/>
          </a:prstGeom>
          <a:noFill/>
          <a:ln w="19050">
            <a:solidFill>
              <a:sysClr val="windowText" lastClr="00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</a:endParaRPr>
          </a:p>
        </p:txBody>
      </p:sp>
      <p:sp>
        <p:nvSpPr>
          <p:cNvPr id="470" name="Line 123">
            <a:extLst>
              <a:ext uri="{FF2B5EF4-FFF2-40B4-BE49-F238E27FC236}">
                <a16:creationId xmlns:a16="http://schemas.microsoft.com/office/drawing/2014/main" id="{5F93DD38-9DEC-4734-A404-4DDEE9D93062}"/>
              </a:ext>
            </a:extLst>
          </p:cNvPr>
          <p:cNvSpPr>
            <a:spLocks noChangeShapeType="1"/>
          </p:cNvSpPr>
          <p:nvPr/>
        </p:nvSpPr>
        <p:spPr bwMode="auto">
          <a:xfrm>
            <a:off x="2188894" y="2241496"/>
            <a:ext cx="0" cy="902718"/>
          </a:xfrm>
          <a:prstGeom prst="line">
            <a:avLst/>
          </a:prstGeom>
          <a:noFill/>
          <a:ln w="19050">
            <a:solidFill>
              <a:sysClr val="windowText" lastClr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</a:endParaRPr>
          </a:p>
        </p:txBody>
      </p:sp>
      <p:sp>
        <p:nvSpPr>
          <p:cNvPr id="471" name="Line 124">
            <a:extLst>
              <a:ext uri="{FF2B5EF4-FFF2-40B4-BE49-F238E27FC236}">
                <a16:creationId xmlns:a16="http://schemas.microsoft.com/office/drawing/2014/main" id="{076699B0-C8EA-4E97-8A94-F91759FFAA10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911911" y="3657102"/>
            <a:ext cx="0" cy="389829"/>
          </a:xfrm>
          <a:prstGeom prst="line">
            <a:avLst/>
          </a:prstGeom>
          <a:noFill/>
          <a:ln w="19050">
            <a:solidFill>
              <a:sysClr val="windowText" lastClr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</a:endParaRPr>
          </a:p>
        </p:txBody>
      </p:sp>
      <p:sp>
        <p:nvSpPr>
          <p:cNvPr id="472" name="Line 125">
            <a:extLst>
              <a:ext uri="{FF2B5EF4-FFF2-40B4-BE49-F238E27FC236}">
                <a16:creationId xmlns:a16="http://schemas.microsoft.com/office/drawing/2014/main" id="{7F120421-FC8F-4D67-9729-14DACFFB563D}"/>
              </a:ext>
            </a:extLst>
          </p:cNvPr>
          <p:cNvSpPr>
            <a:spLocks noChangeShapeType="1"/>
          </p:cNvSpPr>
          <p:nvPr/>
        </p:nvSpPr>
        <p:spPr bwMode="auto">
          <a:xfrm>
            <a:off x="745276" y="2866455"/>
            <a:ext cx="0" cy="1458237"/>
          </a:xfrm>
          <a:prstGeom prst="line">
            <a:avLst/>
          </a:prstGeom>
          <a:noFill/>
          <a:ln w="19050">
            <a:solidFill>
              <a:sysClr val="windowText" lastClr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</a:endParaRPr>
          </a:p>
        </p:txBody>
      </p:sp>
      <p:sp>
        <p:nvSpPr>
          <p:cNvPr id="473" name="Rectangle 126">
            <a:extLst>
              <a:ext uri="{FF2B5EF4-FFF2-40B4-BE49-F238E27FC236}">
                <a16:creationId xmlns:a16="http://schemas.microsoft.com/office/drawing/2014/main" id="{28F88B54-AD1C-469F-8CF1-D895033453F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9850" y="2935894"/>
            <a:ext cx="151960" cy="2916473"/>
          </a:xfrm>
          <a:prstGeom prst="rect">
            <a:avLst/>
          </a:prstGeom>
          <a:pattFill prst="wdUpDiag">
            <a:fgClr>
              <a:sysClr val="window" lastClr="FFFFFF">
                <a:lumMod val="75000"/>
              </a:sysClr>
            </a:fgClr>
            <a:bgClr>
              <a:sysClr val="window" lastClr="FFFFFF"/>
            </a:bgClr>
          </a:pattFill>
          <a:ln w="19050">
            <a:solidFill>
              <a:sysClr val="windowText" lastClr="000000"/>
            </a:solidFill>
            <a:miter lim="800000"/>
            <a:headEnd/>
            <a:tailEnd/>
          </a:ln>
          <a:effectLst/>
        </p:spPr>
        <p:txBody>
          <a:bodyPr wrap="none" anchor="ctr"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</a:endParaRPr>
          </a:p>
        </p:txBody>
      </p:sp>
      <p:sp>
        <p:nvSpPr>
          <p:cNvPr id="474" name="Oval 127">
            <a:extLst>
              <a:ext uri="{FF2B5EF4-FFF2-40B4-BE49-F238E27FC236}">
                <a16:creationId xmlns:a16="http://schemas.microsoft.com/office/drawing/2014/main" id="{29DFE9A0-9191-4DFE-9200-1B34941D9F3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00653" y="5227409"/>
            <a:ext cx="810453" cy="416639"/>
          </a:xfrm>
          <a:prstGeom prst="ellipse">
            <a:avLst/>
          </a:prstGeom>
          <a:solidFill>
            <a:sysClr val="window" lastClr="FFFFFF"/>
          </a:solidFill>
          <a:ln w="19050">
            <a:solidFill>
              <a:sysClr val="windowText" lastClr="00000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</a:endParaRPr>
          </a:p>
        </p:txBody>
      </p:sp>
      <p:sp>
        <p:nvSpPr>
          <p:cNvPr id="475" name="Rectangle 128">
            <a:extLst>
              <a:ext uri="{FF2B5EF4-FFF2-40B4-BE49-F238E27FC236}">
                <a16:creationId xmlns:a16="http://schemas.microsoft.com/office/drawing/2014/main" id="{39426C7B-52BB-45B7-96FC-EFDD79A796B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52613" y="5227409"/>
            <a:ext cx="531860" cy="41663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19047" tIns="26984" rIns="19047" bIns="26984"/>
          <a:lstStyle/>
          <a:p>
            <a:pPr algn="ctr" eaLnBrk="0" fontAlgn="auto" hangingPunct="0">
              <a:spcBef>
                <a:spcPts val="0"/>
              </a:spcBef>
              <a:spcAft>
                <a:spcPts val="0"/>
              </a:spcAft>
            </a:pPr>
            <a:r>
              <a:rPr lang="en-US" altLang="zh-CN" sz="1200" dirty="0" err="1">
                <a:solidFill>
                  <a:srgbClr val="000000"/>
                </a:solidFill>
                <a:latin typeface="Arial" pitchFamily="34" charset="0"/>
                <a:ea typeface="等线" panose="02010600030101010101" pitchFamily="2" charset="-122"/>
              </a:rPr>
              <a:t>Imm</a:t>
            </a:r>
            <a:endParaRPr lang="en-US" altLang="zh-CN" sz="1200" dirty="0">
              <a:solidFill>
                <a:srgbClr val="000000"/>
              </a:solidFill>
              <a:latin typeface="Arial" pitchFamily="34" charset="0"/>
              <a:ea typeface="等线" panose="02010600030101010101" pitchFamily="2" charset="-122"/>
            </a:endParaRPr>
          </a:p>
          <a:p>
            <a:pPr algn="ctr" eaLnBrk="0" fontAlgn="auto" hangingPunct="0">
              <a:spcBef>
                <a:spcPts val="0"/>
              </a:spcBef>
              <a:spcAft>
                <a:spcPts val="0"/>
              </a:spcAft>
            </a:pPr>
            <a:r>
              <a:rPr lang="en-US" altLang="zh-CN" sz="1200" dirty="0">
                <a:solidFill>
                  <a:srgbClr val="000000"/>
                </a:solidFill>
                <a:latin typeface="Arial" pitchFamily="34" charset="0"/>
                <a:ea typeface="等线" panose="02010600030101010101" pitchFamily="2" charset="-122"/>
              </a:rPr>
              <a:t>Extend</a:t>
            </a:r>
          </a:p>
        </p:txBody>
      </p:sp>
      <p:sp>
        <p:nvSpPr>
          <p:cNvPr id="476" name="Line 129">
            <a:extLst>
              <a:ext uri="{FF2B5EF4-FFF2-40B4-BE49-F238E27FC236}">
                <a16:creationId xmlns:a16="http://schemas.microsoft.com/office/drawing/2014/main" id="{DD7F71CF-CEE2-4298-B3DE-B0F92BE19365}"/>
              </a:ext>
            </a:extLst>
          </p:cNvPr>
          <p:cNvSpPr>
            <a:spLocks noChangeShapeType="1"/>
          </p:cNvSpPr>
          <p:nvPr/>
        </p:nvSpPr>
        <p:spPr bwMode="auto">
          <a:xfrm>
            <a:off x="6291810" y="3352533"/>
            <a:ext cx="227940" cy="0"/>
          </a:xfrm>
          <a:prstGeom prst="line">
            <a:avLst/>
          </a:prstGeom>
          <a:noFill/>
          <a:ln w="19050">
            <a:solidFill>
              <a:sysClr val="windowText" lastClr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</a:endParaRPr>
          </a:p>
        </p:txBody>
      </p:sp>
      <p:sp>
        <p:nvSpPr>
          <p:cNvPr id="477" name="Line 130">
            <a:extLst>
              <a:ext uri="{FF2B5EF4-FFF2-40B4-BE49-F238E27FC236}">
                <a16:creationId xmlns:a16="http://schemas.microsoft.com/office/drawing/2014/main" id="{5BEA24A1-1186-4384-867B-148AAE67EB88}"/>
              </a:ext>
            </a:extLst>
          </p:cNvPr>
          <p:cNvSpPr>
            <a:spLocks noChangeShapeType="1"/>
          </p:cNvSpPr>
          <p:nvPr/>
        </p:nvSpPr>
        <p:spPr bwMode="auto">
          <a:xfrm>
            <a:off x="5911911" y="3657103"/>
            <a:ext cx="227940" cy="0"/>
          </a:xfrm>
          <a:prstGeom prst="line">
            <a:avLst/>
          </a:prstGeom>
          <a:noFill/>
          <a:ln w="19050">
            <a:solidFill>
              <a:sysClr val="windowText" lastClr="00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</a:endParaRPr>
          </a:p>
        </p:txBody>
      </p:sp>
      <p:sp>
        <p:nvSpPr>
          <p:cNvPr id="478" name="Line 131">
            <a:extLst>
              <a:ext uri="{FF2B5EF4-FFF2-40B4-BE49-F238E27FC236}">
                <a16:creationId xmlns:a16="http://schemas.microsoft.com/office/drawing/2014/main" id="{E864466E-D262-4D0A-A01C-AC3DEE06395C}"/>
              </a:ext>
            </a:extLst>
          </p:cNvPr>
          <p:cNvSpPr>
            <a:spLocks noChangeShapeType="1"/>
          </p:cNvSpPr>
          <p:nvPr/>
        </p:nvSpPr>
        <p:spPr bwMode="auto">
          <a:xfrm>
            <a:off x="6291809" y="3657103"/>
            <a:ext cx="713024" cy="0"/>
          </a:xfrm>
          <a:prstGeom prst="line">
            <a:avLst/>
          </a:prstGeom>
          <a:noFill/>
          <a:ln w="19050">
            <a:solidFill>
              <a:sysClr val="windowText" lastClr="000000"/>
            </a:solidFill>
            <a:round/>
            <a:headEnd type="none" w="med" len="med"/>
            <a:tailEnd type="non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</a:endParaRPr>
          </a:p>
        </p:txBody>
      </p:sp>
      <p:sp>
        <p:nvSpPr>
          <p:cNvPr id="479" name="Line 132">
            <a:extLst>
              <a:ext uri="{FF2B5EF4-FFF2-40B4-BE49-F238E27FC236}">
                <a16:creationId xmlns:a16="http://schemas.microsoft.com/office/drawing/2014/main" id="{23FC2FE7-2987-4EED-A37F-A422EA403AB4}"/>
              </a:ext>
            </a:extLst>
          </p:cNvPr>
          <p:cNvSpPr>
            <a:spLocks noChangeShapeType="1"/>
          </p:cNvSpPr>
          <p:nvPr/>
        </p:nvSpPr>
        <p:spPr bwMode="auto">
          <a:xfrm>
            <a:off x="6367790" y="4394131"/>
            <a:ext cx="0" cy="1041598"/>
          </a:xfrm>
          <a:prstGeom prst="line">
            <a:avLst/>
          </a:prstGeom>
          <a:noFill/>
          <a:ln w="19050">
            <a:solidFill>
              <a:sysClr val="windowText" lastClr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</a:endParaRPr>
          </a:p>
        </p:txBody>
      </p:sp>
      <p:sp>
        <p:nvSpPr>
          <p:cNvPr id="480" name="Text Box 133">
            <a:extLst>
              <a:ext uri="{FF2B5EF4-FFF2-40B4-BE49-F238E27FC236}">
                <a16:creationId xmlns:a16="http://schemas.microsoft.com/office/drawing/2014/main" id="{DBF17C82-8333-433D-B41B-D543F5EBF3C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40352" y="2102616"/>
            <a:ext cx="586990" cy="27698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1425" tIns="45713" rIns="91425" bIns="45713">
            <a:spAutoFit/>
          </a:bodyPr>
          <a:lstStyle>
            <a:lvl1pPr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1pPr>
            <a:lvl2pPr marL="742950" indent="-28575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2pPr>
            <a:lvl3pPr marL="11430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3pPr>
            <a:lvl4pPr marL="16002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4pPr>
            <a:lvl5pPr marL="20574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9pPr>
          </a:lstStyle>
          <a:p>
            <a:pPr fontAlgn="auto">
              <a:spcBef>
                <a:spcPts val="0"/>
              </a:spcBef>
              <a:spcAft>
                <a:spcPts val="0"/>
              </a:spcAft>
            </a:pPr>
            <a:r>
              <a:rPr lang="en-US" altLang="zh-CN" sz="1200" b="0" dirty="0">
                <a:solidFill>
                  <a:prstClr val="black"/>
                </a:solidFill>
                <a:latin typeface="Arial" pitchFamily="34" charset="0"/>
                <a:ea typeface="SimHei" panose="02010609060101010101" pitchFamily="49" charset="-122"/>
              </a:rPr>
              <a:t>ID/EX</a:t>
            </a:r>
          </a:p>
        </p:txBody>
      </p:sp>
      <p:sp>
        <p:nvSpPr>
          <p:cNvPr id="481" name="Text Box 134">
            <a:extLst>
              <a:ext uri="{FF2B5EF4-FFF2-40B4-BE49-F238E27FC236}">
                <a16:creationId xmlns:a16="http://schemas.microsoft.com/office/drawing/2014/main" id="{DA1AEEBA-16D8-4409-9ADB-275FBEB23CA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759951" y="2268983"/>
            <a:ext cx="792174" cy="27698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1425" tIns="45713" rIns="91425" bIns="45713">
            <a:spAutoFit/>
          </a:bodyPr>
          <a:lstStyle>
            <a:lvl1pPr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1pPr>
            <a:lvl2pPr marL="742950" indent="-28575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2pPr>
            <a:lvl3pPr marL="11430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3pPr>
            <a:lvl4pPr marL="16002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4pPr>
            <a:lvl5pPr marL="20574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9pPr>
          </a:lstStyle>
          <a:p>
            <a:pPr fontAlgn="auto">
              <a:spcBef>
                <a:spcPts val="0"/>
              </a:spcBef>
              <a:spcAft>
                <a:spcPts val="0"/>
              </a:spcAft>
            </a:pPr>
            <a:r>
              <a:rPr lang="en-US" altLang="zh-CN" sz="1200" b="0" dirty="0">
                <a:solidFill>
                  <a:prstClr val="black"/>
                </a:solidFill>
                <a:latin typeface="Arial" pitchFamily="34" charset="0"/>
                <a:ea typeface="SimHei" panose="02010609060101010101" pitchFamily="49" charset="-122"/>
              </a:rPr>
              <a:t>EX/MEM</a:t>
            </a:r>
          </a:p>
        </p:txBody>
      </p:sp>
      <p:sp>
        <p:nvSpPr>
          <p:cNvPr id="482" name="Text Box 135">
            <a:extLst>
              <a:ext uri="{FF2B5EF4-FFF2-40B4-BE49-F238E27FC236}">
                <a16:creationId xmlns:a16="http://schemas.microsoft.com/office/drawing/2014/main" id="{CE3D6AB0-E13B-40EB-9D18-E292C589935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59449" y="3014014"/>
            <a:ext cx="843470" cy="27698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1425" tIns="45713" rIns="91425" bIns="45713">
            <a:spAutoFit/>
          </a:bodyPr>
          <a:lstStyle>
            <a:lvl1pPr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1pPr>
            <a:lvl2pPr marL="742950" indent="-28575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2pPr>
            <a:lvl3pPr marL="11430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3pPr>
            <a:lvl4pPr marL="16002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4pPr>
            <a:lvl5pPr marL="20574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9pPr>
          </a:lstStyle>
          <a:p>
            <a:pPr fontAlgn="auto">
              <a:spcBef>
                <a:spcPts val="0"/>
              </a:spcBef>
              <a:spcAft>
                <a:spcPts val="0"/>
              </a:spcAft>
            </a:pPr>
            <a:r>
              <a:rPr lang="en-US" altLang="zh-CN" sz="1200" b="0" dirty="0">
                <a:solidFill>
                  <a:prstClr val="black"/>
                </a:solidFill>
                <a:latin typeface="Arial" pitchFamily="34" charset="0"/>
                <a:ea typeface="SimHei" panose="02010609060101010101" pitchFamily="49" charset="-122"/>
              </a:rPr>
              <a:t>MEM/WB</a:t>
            </a:r>
          </a:p>
        </p:txBody>
      </p:sp>
      <p:sp>
        <p:nvSpPr>
          <p:cNvPr id="483" name="Rectangle 137">
            <a:extLst>
              <a:ext uri="{FF2B5EF4-FFF2-40B4-BE49-F238E27FC236}">
                <a16:creationId xmlns:a16="http://schemas.microsoft.com/office/drawing/2014/main" id="{509C0A07-ECFD-4010-A61B-E7D5FB87119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71410" y="2724209"/>
            <a:ext cx="151968" cy="208332"/>
          </a:xfrm>
          <a:prstGeom prst="rect">
            <a:avLst/>
          </a:prstGeom>
          <a:pattFill prst="wdUpDiag">
            <a:fgClr>
              <a:srgbClr val="70AD47">
                <a:lumMod val="40000"/>
                <a:lumOff val="60000"/>
              </a:srgbClr>
            </a:fgClr>
            <a:bgClr>
              <a:sysClr val="window" lastClr="FFFFFF"/>
            </a:bgClr>
          </a:pattFill>
          <a:ln w="19050">
            <a:solidFill>
              <a:srgbClr val="00B050"/>
            </a:solidFill>
            <a:miter lim="800000"/>
            <a:headEnd/>
            <a:tailEnd/>
          </a:ln>
          <a:effectLst/>
        </p:spPr>
        <p:txBody>
          <a:bodyPr wrap="none" anchor="ctr"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</a:endParaRPr>
          </a:p>
        </p:txBody>
      </p:sp>
      <p:sp>
        <p:nvSpPr>
          <p:cNvPr id="484" name="Rectangle 138">
            <a:extLst>
              <a:ext uri="{FF2B5EF4-FFF2-40B4-BE49-F238E27FC236}">
                <a16:creationId xmlns:a16="http://schemas.microsoft.com/office/drawing/2014/main" id="{70A3F355-2EE6-4799-B50A-F4D49381660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71410" y="2515876"/>
            <a:ext cx="151968" cy="208332"/>
          </a:xfrm>
          <a:prstGeom prst="rect">
            <a:avLst/>
          </a:prstGeom>
          <a:pattFill prst="wdUpDiag">
            <a:fgClr>
              <a:srgbClr val="70AD47">
                <a:lumMod val="40000"/>
                <a:lumOff val="60000"/>
              </a:srgbClr>
            </a:fgClr>
            <a:bgClr>
              <a:sysClr val="window" lastClr="FFFFFF"/>
            </a:bgClr>
          </a:pattFill>
          <a:ln w="19050">
            <a:solidFill>
              <a:srgbClr val="00B050"/>
            </a:solidFill>
            <a:miter lim="800000"/>
            <a:headEnd/>
            <a:tailEnd/>
          </a:ln>
          <a:effectLst/>
        </p:spPr>
        <p:txBody>
          <a:bodyPr wrap="none" anchor="ctr"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</a:endParaRPr>
          </a:p>
        </p:txBody>
      </p:sp>
      <p:sp>
        <p:nvSpPr>
          <p:cNvPr id="485" name="Rectangle 139">
            <a:extLst>
              <a:ext uri="{FF2B5EF4-FFF2-40B4-BE49-F238E27FC236}">
                <a16:creationId xmlns:a16="http://schemas.microsoft.com/office/drawing/2014/main" id="{FEE78186-F769-475E-8A11-218734EF4DA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71410" y="2307544"/>
            <a:ext cx="151968" cy="208332"/>
          </a:xfrm>
          <a:prstGeom prst="rect">
            <a:avLst/>
          </a:prstGeom>
          <a:pattFill prst="wdUpDiag">
            <a:fgClr>
              <a:srgbClr val="70AD47">
                <a:lumMod val="40000"/>
                <a:lumOff val="60000"/>
              </a:srgbClr>
            </a:fgClr>
            <a:bgClr>
              <a:sysClr val="window" lastClr="FFFFFF"/>
            </a:bgClr>
          </a:pattFill>
          <a:ln w="19050">
            <a:solidFill>
              <a:srgbClr val="00B050"/>
            </a:solidFill>
            <a:miter lim="800000"/>
            <a:headEnd/>
            <a:tailEnd/>
          </a:ln>
          <a:effectLst/>
        </p:spPr>
        <p:txBody>
          <a:bodyPr wrap="none" anchor="ctr"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</a:endParaRPr>
          </a:p>
        </p:txBody>
      </p:sp>
      <p:sp>
        <p:nvSpPr>
          <p:cNvPr id="486" name="Rectangle 140">
            <a:extLst>
              <a:ext uri="{FF2B5EF4-FFF2-40B4-BE49-F238E27FC236}">
                <a16:creationId xmlns:a16="http://schemas.microsoft.com/office/drawing/2014/main" id="{FD292CD7-AFDA-4E35-9F99-1FBEABE38AD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9405" y="2719607"/>
            <a:ext cx="151968" cy="208332"/>
          </a:xfrm>
          <a:prstGeom prst="rect">
            <a:avLst/>
          </a:prstGeom>
          <a:pattFill prst="wdUpDiag">
            <a:fgClr>
              <a:srgbClr val="70AD47">
                <a:lumMod val="40000"/>
                <a:lumOff val="60000"/>
              </a:srgbClr>
            </a:fgClr>
            <a:bgClr>
              <a:sysClr val="window" lastClr="FFFFFF"/>
            </a:bgClr>
          </a:pattFill>
          <a:ln w="19050">
            <a:solidFill>
              <a:srgbClr val="00B050"/>
            </a:solidFill>
            <a:miter lim="800000"/>
            <a:headEnd/>
            <a:tailEnd/>
          </a:ln>
          <a:effectLst/>
        </p:spPr>
        <p:txBody>
          <a:bodyPr wrap="none" anchor="ctr"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</a:endParaRPr>
          </a:p>
        </p:txBody>
      </p:sp>
      <p:sp>
        <p:nvSpPr>
          <p:cNvPr id="487" name="Rectangle 141">
            <a:extLst>
              <a:ext uri="{FF2B5EF4-FFF2-40B4-BE49-F238E27FC236}">
                <a16:creationId xmlns:a16="http://schemas.microsoft.com/office/drawing/2014/main" id="{7FFC122F-A3BE-404A-88DC-D8451726CB1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9405" y="2511274"/>
            <a:ext cx="151968" cy="208332"/>
          </a:xfrm>
          <a:prstGeom prst="rect">
            <a:avLst/>
          </a:prstGeom>
          <a:pattFill prst="wdUpDiag">
            <a:fgClr>
              <a:srgbClr val="70AD47">
                <a:lumMod val="40000"/>
                <a:lumOff val="60000"/>
              </a:srgbClr>
            </a:fgClr>
            <a:bgClr>
              <a:sysClr val="window" lastClr="FFFFFF"/>
            </a:bgClr>
          </a:pattFill>
          <a:ln w="19050">
            <a:solidFill>
              <a:srgbClr val="00B050"/>
            </a:solidFill>
            <a:miter lim="800000"/>
            <a:headEnd/>
            <a:tailEnd/>
          </a:ln>
          <a:effectLst/>
        </p:spPr>
        <p:txBody>
          <a:bodyPr wrap="none" anchor="ctr"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</a:endParaRPr>
          </a:p>
        </p:txBody>
      </p:sp>
      <p:sp>
        <p:nvSpPr>
          <p:cNvPr id="488" name="Rectangle 142">
            <a:extLst>
              <a:ext uri="{FF2B5EF4-FFF2-40B4-BE49-F238E27FC236}">
                <a16:creationId xmlns:a16="http://schemas.microsoft.com/office/drawing/2014/main" id="{B9474544-00CB-46A7-AFEE-72F508F840BC}"/>
              </a:ext>
            </a:extLst>
          </p:cNvPr>
          <p:cNvSpPr>
            <a:spLocks noChangeArrowheads="1"/>
          </p:cNvSpPr>
          <p:nvPr/>
        </p:nvSpPr>
        <p:spPr bwMode="auto">
          <a:xfrm>
            <a:off x="7963018" y="3275363"/>
            <a:ext cx="151968" cy="208332"/>
          </a:xfrm>
          <a:prstGeom prst="rect">
            <a:avLst/>
          </a:prstGeom>
          <a:pattFill prst="wdUpDiag">
            <a:fgClr>
              <a:srgbClr val="70AD47">
                <a:lumMod val="40000"/>
                <a:lumOff val="60000"/>
              </a:srgbClr>
            </a:fgClr>
            <a:bgClr>
              <a:sysClr val="window" lastClr="FFFFFF"/>
            </a:bgClr>
          </a:pattFill>
          <a:ln w="19050">
            <a:solidFill>
              <a:srgbClr val="00B050"/>
            </a:solidFill>
            <a:miter lim="800000"/>
            <a:headEnd/>
            <a:tailEnd/>
          </a:ln>
          <a:effectLst/>
        </p:spPr>
        <p:txBody>
          <a:bodyPr wrap="none" anchor="ctr"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</a:endParaRPr>
          </a:p>
        </p:txBody>
      </p:sp>
      <p:sp>
        <p:nvSpPr>
          <p:cNvPr id="489" name="Rectangle 143">
            <a:extLst>
              <a:ext uri="{FF2B5EF4-FFF2-40B4-BE49-F238E27FC236}">
                <a16:creationId xmlns:a16="http://schemas.microsoft.com/office/drawing/2014/main" id="{19835545-34B2-442B-B700-16E3F8634A6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62088" y="2553959"/>
            <a:ext cx="531887" cy="27777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19047" tIns="26984" rIns="19047" bIns="26984"/>
          <a:lstStyle/>
          <a:p>
            <a:pPr algn="ctr" eaLnBrk="0" fontAlgn="auto" hangingPunct="0">
              <a:spcBef>
                <a:spcPts val="0"/>
              </a:spcBef>
              <a:spcAft>
                <a:spcPts val="0"/>
              </a:spcAft>
            </a:pPr>
            <a:r>
              <a:rPr lang="en-US" altLang="zh-CN" sz="1200" dirty="0">
                <a:solidFill>
                  <a:srgbClr val="00B050"/>
                </a:solidFill>
                <a:latin typeface="Arial" pitchFamily="34" charset="0"/>
                <a:ea typeface="等线" panose="02010600030101010101" pitchFamily="2" charset="-122"/>
              </a:rPr>
              <a:t>Control</a:t>
            </a:r>
          </a:p>
        </p:txBody>
      </p:sp>
      <p:sp>
        <p:nvSpPr>
          <p:cNvPr id="490" name="Oval 144">
            <a:extLst>
              <a:ext uri="{FF2B5EF4-FFF2-40B4-BE49-F238E27FC236}">
                <a16:creationId xmlns:a16="http://schemas.microsoft.com/office/drawing/2014/main" id="{D6C94452-546E-45B7-9C4B-CB4291A4283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52019" y="2268221"/>
            <a:ext cx="759839" cy="813075"/>
          </a:xfrm>
          <a:prstGeom prst="ellipse">
            <a:avLst/>
          </a:prstGeom>
          <a:noFill/>
          <a:ln w="19050">
            <a:solidFill>
              <a:srgbClr val="00B05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fontAlgn="auto">
              <a:spcBef>
                <a:spcPts val="0"/>
              </a:spcBef>
              <a:spcAft>
                <a:spcPts val="0"/>
              </a:spcAft>
            </a:pPr>
            <a:endParaRPr lang="zh-CN" altLang="en-US">
              <a:solidFill>
                <a:prstClr val="black"/>
              </a:solidFill>
              <a:latin typeface="等线" panose="020F0502020204030204"/>
              <a:ea typeface="等线" panose="02010600030101010101" pitchFamily="2" charset="-122"/>
            </a:endParaRPr>
          </a:p>
        </p:txBody>
      </p:sp>
      <p:sp>
        <p:nvSpPr>
          <p:cNvPr id="491" name="Line 145">
            <a:extLst>
              <a:ext uri="{FF2B5EF4-FFF2-40B4-BE49-F238E27FC236}">
                <a16:creationId xmlns:a16="http://schemas.microsoft.com/office/drawing/2014/main" id="{3B3BBF52-3964-4D3A-B407-062A5D3AED65}"/>
              </a:ext>
            </a:extLst>
          </p:cNvPr>
          <p:cNvSpPr>
            <a:spLocks noChangeShapeType="1"/>
          </p:cNvSpPr>
          <p:nvPr/>
        </p:nvSpPr>
        <p:spPr bwMode="auto">
          <a:xfrm>
            <a:off x="2720132" y="2877114"/>
            <a:ext cx="0" cy="902773"/>
          </a:xfrm>
          <a:prstGeom prst="line">
            <a:avLst/>
          </a:prstGeom>
          <a:noFill/>
          <a:ln w="19050">
            <a:solidFill>
              <a:sysClr val="windowText" lastClr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</a:endParaRPr>
          </a:p>
        </p:txBody>
      </p:sp>
      <p:sp>
        <p:nvSpPr>
          <p:cNvPr id="492" name="Line 146">
            <a:extLst>
              <a:ext uri="{FF2B5EF4-FFF2-40B4-BE49-F238E27FC236}">
                <a16:creationId xmlns:a16="http://schemas.microsoft.com/office/drawing/2014/main" id="{5779C347-5BB5-4950-9D7F-69B019C74EA5}"/>
              </a:ext>
            </a:extLst>
          </p:cNvPr>
          <p:cNvSpPr>
            <a:spLocks noChangeShapeType="1"/>
          </p:cNvSpPr>
          <p:nvPr/>
        </p:nvSpPr>
        <p:spPr bwMode="auto">
          <a:xfrm>
            <a:off x="2720132" y="2877114"/>
            <a:ext cx="592457" cy="0"/>
          </a:xfrm>
          <a:prstGeom prst="line">
            <a:avLst/>
          </a:prstGeom>
          <a:noFill/>
          <a:ln w="19050">
            <a:solidFill>
              <a:sysClr val="windowText" lastClr="00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</a:endParaRPr>
          </a:p>
        </p:txBody>
      </p:sp>
      <p:sp>
        <p:nvSpPr>
          <p:cNvPr id="493" name="Line 147">
            <a:extLst>
              <a:ext uri="{FF2B5EF4-FFF2-40B4-BE49-F238E27FC236}">
                <a16:creationId xmlns:a16="http://schemas.microsoft.com/office/drawing/2014/main" id="{0A71D58E-860D-4270-B70A-EF70D0ADA120}"/>
              </a:ext>
            </a:extLst>
          </p:cNvPr>
          <p:cNvSpPr>
            <a:spLocks noChangeShapeType="1"/>
          </p:cNvSpPr>
          <p:nvPr/>
        </p:nvSpPr>
        <p:spPr bwMode="auto">
          <a:xfrm>
            <a:off x="3910546" y="2407109"/>
            <a:ext cx="557215" cy="0"/>
          </a:xfrm>
          <a:prstGeom prst="line">
            <a:avLst/>
          </a:prstGeom>
          <a:noFill/>
          <a:ln w="12700">
            <a:solidFill>
              <a:srgbClr val="00B05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fontAlgn="auto">
              <a:spcBef>
                <a:spcPts val="0"/>
              </a:spcBef>
              <a:spcAft>
                <a:spcPts val="0"/>
              </a:spcAft>
            </a:pPr>
            <a:endParaRPr lang="zh-CN" altLang="en-US">
              <a:solidFill>
                <a:prstClr val="black"/>
              </a:solidFill>
              <a:latin typeface="等线" panose="020F0502020204030204"/>
              <a:ea typeface="等线" panose="02010600030101010101" pitchFamily="2" charset="-122"/>
            </a:endParaRPr>
          </a:p>
        </p:txBody>
      </p:sp>
      <p:sp>
        <p:nvSpPr>
          <p:cNvPr id="494" name="Line 148">
            <a:extLst>
              <a:ext uri="{FF2B5EF4-FFF2-40B4-BE49-F238E27FC236}">
                <a16:creationId xmlns:a16="http://schemas.microsoft.com/office/drawing/2014/main" id="{988E16E6-5162-46A9-9670-0161287CC4F3}"/>
              </a:ext>
            </a:extLst>
          </p:cNvPr>
          <p:cNvSpPr>
            <a:spLocks noChangeShapeType="1"/>
          </p:cNvSpPr>
          <p:nvPr/>
        </p:nvSpPr>
        <p:spPr bwMode="auto">
          <a:xfrm>
            <a:off x="4011858" y="2615441"/>
            <a:ext cx="455903" cy="0"/>
          </a:xfrm>
          <a:prstGeom prst="line">
            <a:avLst/>
          </a:prstGeom>
          <a:noFill/>
          <a:ln w="12700">
            <a:solidFill>
              <a:srgbClr val="00B05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fontAlgn="auto">
              <a:spcBef>
                <a:spcPts val="0"/>
              </a:spcBef>
              <a:spcAft>
                <a:spcPts val="0"/>
              </a:spcAft>
            </a:pPr>
            <a:endParaRPr lang="zh-CN" altLang="en-US">
              <a:solidFill>
                <a:prstClr val="black"/>
              </a:solidFill>
              <a:latin typeface="等线" panose="020F0502020204030204"/>
              <a:ea typeface="等线" panose="02010600030101010101" pitchFamily="2" charset="-122"/>
            </a:endParaRPr>
          </a:p>
        </p:txBody>
      </p:sp>
      <p:sp>
        <p:nvSpPr>
          <p:cNvPr id="495" name="Line 149">
            <a:extLst>
              <a:ext uri="{FF2B5EF4-FFF2-40B4-BE49-F238E27FC236}">
                <a16:creationId xmlns:a16="http://schemas.microsoft.com/office/drawing/2014/main" id="{D4093EBE-F65E-4CE2-B3B6-299A35105E13}"/>
              </a:ext>
            </a:extLst>
          </p:cNvPr>
          <p:cNvSpPr>
            <a:spLocks noChangeShapeType="1"/>
          </p:cNvSpPr>
          <p:nvPr/>
        </p:nvSpPr>
        <p:spPr bwMode="auto">
          <a:xfrm>
            <a:off x="3973866" y="2823774"/>
            <a:ext cx="493895" cy="0"/>
          </a:xfrm>
          <a:prstGeom prst="line">
            <a:avLst/>
          </a:prstGeom>
          <a:noFill/>
          <a:ln w="12700">
            <a:solidFill>
              <a:srgbClr val="00B05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fontAlgn="auto">
              <a:spcBef>
                <a:spcPts val="0"/>
              </a:spcBef>
              <a:spcAft>
                <a:spcPts val="0"/>
              </a:spcAft>
            </a:pPr>
            <a:endParaRPr lang="zh-CN" altLang="en-US">
              <a:solidFill>
                <a:prstClr val="black"/>
              </a:solidFill>
              <a:latin typeface="等线" panose="020F0502020204030204"/>
              <a:ea typeface="等线" panose="02010600030101010101" pitchFamily="2" charset="-122"/>
            </a:endParaRPr>
          </a:p>
        </p:txBody>
      </p:sp>
      <p:sp>
        <p:nvSpPr>
          <p:cNvPr id="496" name="Line 150">
            <a:extLst>
              <a:ext uri="{FF2B5EF4-FFF2-40B4-BE49-F238E27FC236}">
                <a16:creationId xmlns:a16="http://schemas.microsoft.com/office/drawing/2014/main" id="{DBC3E3F6-21DA-4820-A92C-4571B85DCC87}"/>
              </a:ext>
            </a:extLst>
          </p:cNvPr>
          <p:cNvSpPr>
            <a:spLocks noChangeShapeType="1"/>
          </p:cNvSpPr>
          <p:nvPr/>
        </p:nvSpPr>
        <p:spPr bwMode="auto">
          <a:xfrm>
            <a:off x="6291373" y="2823774"/>
            <a:ext cx="1671645" cy="486109"/>
          </a:xfrm>
          <a:prstGeom prst="line">
            <a:avLst/>
          </a:prstGeom>
          <a:noFill/>
          <a:ln w="12700">
            <a:solidFill>
              <a:srgbClr val="00B05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fontAlgn="auto">
              <a:spcBef>
                <a:spcPts val="0"/>
              </a:spcBef>
              <a:spcAft>
                <a:spcPts val="0"/>
              </a:spcAft>
            </a:pPr>
            <a:endParaRPr lang="zh-CN" altLang="en-US">
              <a:solidFill>
                <a:prstClr val="black"/>
              </a:solidFill>
              <a:latin typeface="等线" panose="020F0502020204030204"/>
              <a:ea typeface="等线" panose="02010600030101010101" pitchFamily="2" charset="-122"/>
            </a:endParaRPr>
          </a:p>
        </p:txBody>
      </p:sp>
      <p:sp>
        <p:nvSpPr>
          <p:cNvPr id="497" name="Line 151">
            <a:extLst>
              <a:ext uri="{FF2B5EF4-FFF2-40B4-BE49-F238E27FC236}">
                <a16:creationId xmlns:a16="http://schemas.microsoft.com/office/drawing/2014/main" id="{C6B62BBC-C0AE-4C1E-93CB-4662B33EEE96}"/>
              </a:ext>
            </a:extLst>
          </p:cNvPr>
          <p:cNvSpPr>
            <a:spLocks noChangeShapeType="1"/>
          </p:cNvSpPr>
          <p:nvPr/>
        </p:nvSpPr>
        <p:spPr bwMode="auto">
          <a:xfrm>
            <a:off x="4619728" y="2823774"/>
            <a:ext cx="1519677" cy="0"/>
          </a:xfrm>
          <a:prstGeom prst="line">
            <a:avLst/>
          </a:prstGeom>
          <a:noFill/>
          <a:ln w="12700">
            <a:solidFill>
              <a:srgbClr val="00B05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fontAlgn="auto">
              <a:spcBef>
                <a:spcPts val="0"/>
              </a:spcBef>
              <a:spcAft>
                <a:spcPts val="0"/>
              </a:spcAft>
            </a:pPr>
            <a:endParaRPr lang="zh-CN" altLang="en-US">
              <a:solidFill>
                <a:prstClr val="black"/>
              </a:solidFill>
              <a:latin typeface="等线" panose="020F0502020204030204"/>
              <a:ea typeface="等线" panose="02010600030101010101" pitchFamily="2" charset="-122"/>
            </a:endParaRPr>
          </a:p>
        </p:txBody>
      </p:sp>
      <p:sp>
        <p:nvSpPr>
          <p:cNvPr id="498" name="Line 152">
            <a:extLst>
              <a:ext uri="{FF2B5EF4-FFF2-40B4-BE49-F238E27FC236}">
                <a16:creationId xmlns:a16="http://schemas.microsoft.com/office/drawing/2014/main" id="{C7527587-378E-48DC-B0D8-D1EA08BA9351}"/>
              </a:ext>
            </a:extLst>
          </p:cNvPr>
          <p:cNvSpPr>
            <a:spLocks noChangeShapeType="1"/>
          </p:cNvSpPr>
          <p:nvPr/>
        </p:nvSpPr>
        <p:spPr bwMode="auto">
          <a:xfrm>
            <a:off x="4619728" y="2615441"/>
            <a:ext cx="1519677" cy="0"/>
          </a:xfrm>
          <a:prstGeom prst="line">
            <a:avLst/>
          </a:prstGeom>
          <a:noFill/>
          <a:ln w="12700">
            <a:solidFill>
              <a:srgbClr val="00B05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fontAlgn="auto">
              <a:spcBef>
                <a:spcPts val="0"/>
              </a:spcBef>
              <a:spcAft>
                <a:spcPts val="0"/>
              </a:spcAft>
            </a:pPr>
            <a:endParaRPr lang="zh-CN" altLang="en-US">
              <a:solidFill>
                <a:prstClr val="black"/>
              </a:solidFill>
              <a:latin typeface="等线" panose="020F0502020204030204"/>
              <a:ea typeface="等线" panose="02010600030101010101" pitchFamily="2" charset="-122"/>
            </a:endParaRPr>
          </a:p>
        </p:txBody>
      </p:sp>
      <p:sp>
        <p:nvSpPr>
          <p:cNvPr id="499" name="Line 154">
            <a:extLst>
              <a:ext uri="{FF2B5EF4-FFF2-40B4-BE49-F238E27FC236}">
                <a16:creationId xmlns:a16="http://schemas.microsoft.com/office/drawing/2014/main" id="{8E417093-C2E8-42C8-9349-45239CB18469}"/>
              </a:ext>
            </a:extLst>
          </p:cNvPr>
          <p:cNvSpPr>
            <a:spLocks noChangeShapeType="1"/>
          </p:cNvSpPr>
          <p:nvPr/>
        </p:nvSpPr>
        <p:spPr bwMode="auto">
          <a:xfrm>
            <a:off x="8494905" y="3379327"/>
            <a:ext cx="0" cy="277776"/>
          </a:xfrm>
          <a:prstGeom prst="line">
            <a:avLst/>
          </a:prstGeom>
          <a:noFill/>
          <a:ln w="12700">
            <a:solidFill>
              <a:srgbClr val="00B05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fontAlgn="auto">
              <a:spcBef>
                <a:spcPts val="0"/>
              </a:spcBef>
              <a:spcAft>
                <a:spcPts val="0"/>
              </a:spcAft>
            </a:pPr>
            <a:endParaRPr lang="zh-CN" altLang="en-US">
              <a:solidFill>
                <a:prstClr val="black"/>
              </a:solidFill>
              <a:latin typeface="等线" panose="020F0502020204030204"/>
              <a:ea typeface="等线" panose="02010600030101010101" pitchFamily="2" charset="-122"/>
            </a:endParaRPr>
          </a:p>
        </p:txBody>
      </p:sp>
      <p:sp>
        <p:nvSpPr>
          <p:cNvPr id="500" name="Line 155">
            <a:extLst>
              <a:ext uri="{FF2B5EF4-FFF2-40B4-BE49-F238E27FC236}">
                <a16:creationId xmlns:a16="http://schemas.microsoft.com/office/drawing/2014/main" id="{ADEC0BCB-0FA5-406C-B0F3-C85988D43D5E}"/>
              </a:ext>
            </a:extLst>
          </p:cNvPr>
          <p:cNvSpPr>
            <a:spLocks noChangeShapeType="1"/>
          </p:cNvSpPr>
          <p:nvPr/>
        </p:nvSpPr>
        <p:spPr bwMode="auto">
          <a:xfrm>
            <a:off x="6291374" y="2615441"/>
            <a:ext cx="346972" cy="0"/>
          </a:xfrm>
          <a:prstGeom prst="line">
            <a:avLst/>
          </a:prstGeom>
          <a:noFill/>
          <a:ln w="12700">
            <a:solidFill>
              <a:srgbClr val="00B05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fontAlgn="auto">
              <a:spcBef>
                <a:spcPts val="0"/>
              </a:spcBef>
              <a:spcAft>
                <a:spcPts val="0"/>
              </a:spcAft>
            </a:pPr>
            <a:endParaRPr lang="zh-CN" altLang="en-US">
              <a:solidFill>
                <a:prstClr val="black"/>
              </a:solidFill>
              <a:latin typeface="等线" panose="020F0502020204030204"/>
              <a:ea typeface="等线" panose="02010600030101010101" pitchFamily="2" charset="-122"/>
            </a:endParaRPr>
          </a:p>
        </p:txBody>
      </p:sp>
      <p:sp>
        <p:nvSpPr>
          <p:cNvPr id="501" name="Line 156">
            <a:extLst>
              <a:ext uri="{FF2B5EF4-FFF2-40B4-BE49-F238E27FC236}">
                <a16:creationId xmlns:a16="http://schemas.microsoft.com/office/drawing/2014/main" id="{A29B85DD-C5E9-414D-9D73-4769DA9A52F1}"/>
              </a:ext>
            </a:extLst>
          </p:cNvPr>
          <p:cNvSpPr>
            <a:spLocks noChangeShapeType="1"/>
          </p:cNvSpPr>
          <p:nvPr/>
        </p:nvSpPr>
        <p:spPr bwMode="auto">
          <a:xfrm>
            <a:off x="8114986" y="3379327"/>
            <a:ext cx="379919" cy="0"/>
          </a:xfrm>
          <a:prstGeom prst="line">
            <a:avLst/>
          </a:prstGeom>
          <a:noFill/>
          <a:ln w="12700">
            <a:solidFill>
              <a:srgbClr val="00B05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fontAlgn="auto">
              <a:spcBef>
                <a:spcPts val="0"/>
              </a:spcBef>
              <a:spcAft>
                <a:spcPts val="0"/>
              </a:spcAft>
            </a:pPr>
            <a:endParaRPr lang="zh-CN" altLang="en-US">
              <a:solidFill>
                <a:prstClr val="black"/>
              </a:solidFill>
              <a:latin typeface="等线" panose="020F0502020204030204"/>
              <a:ea typeface="等线" panose="02010600030101010101" pitchFamily="2" charset="-122"/>
            </a:endParaRPr>
          </a:p>
        </p:txBody>
      </p:sp>
      <p:sp>
        <p:nvSpPr>
          <p:cNvPr id="502" name="Line 157">
            <a:extLst>
              <a:ext uri="{FF2B5EF4-FFF2-40B4-BE49-F238E27FC236}">
                <a16:creationId xmlns:a16="http://schemas.microsoft.com/office/drawing/2014/main" id="{FAD0368D-78CF-47A3-B204-3D22125BC428}"/>
              </a:ext>
            </a:extLst>
          </p:cNvPr>
          <p:cNvSpPr>
            <a:spLocks noChangeShapeType="1"/>
          </p:cNvSpPr>
          <p:nvPr/>
        </p:nvSpPr>
        <p:spPr bwMode="auto">
          <a:xfrm>
            <a:off x="6638345" y="2615440"/>
            <a:ext cx="0" cy="138888"/>
          </a:xfrm>
          <a:prstGeom prst="line">
            <a:avLst/>
          </a:prstGeom>
          <a:noFill/>
          <a:ln w="12700">
            <a:solidFill>
              <a:srgbClr val="00B05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fontAlgn="auto">
              <a:spcBef>
                <a:spcPts val="0"/>
              </a:spcBef>
              <a:spcAft>
                <a:spcPts val="0"/>
              </a:spcAft>
            </a:pPr>
            <a:endParaRPr lang="zh-CN" altLang="en-US">
              <a:solidFill>
                <a:prstClr val="black"/>
              </a:solidFill>
              <a:latin typeface="等线" panose="020F0502020204030204"/>
              <a:ea typeface="等线" panose="02010600030101010101" pitchFamily="2" charset="-122"/>
            </a:endParaRPr>
          </a:p>
        </p:txBody>
      </p:sp>
      <p:sp>
        <p:nvSpPr>
          <p:cNvPr id="503" name="Rectangle 40">
            <a:extLst>
              <a:ext uri="{FF2B5EF4-FFF2-40B4-BE49-F238E27FC236}">
                <a16:creationId xmlns:a16="http://schemas.microsoft.com/office/drawing/2014/main" id="{AAA55941-0DF2-4811-B728-E7F6089A6E22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8357536" y="4289971"/>
            <a:ext cx="159080" cy="61318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19047" tIns="26984" rIns="19047" bIns="26984"/>
          <a:lstStyle/>
          <a:p>
            <a:pPr eaLnBrk="0" fontAlgn="auto" hangingPunct="0">
              <a:spcBef>
                <a:spcPts val="600"/>
              </a:spcBef>
              <a:spcAft>
                <a:spcPts val="600"/>
              </a:spcAft>
            </a:pPr>
            <a:r>
              <a:rPr lang="en-US" altLang="zh-CN" sz="1200" dirty="0">
                <a:solidFill>
                  <a:prstClr val="black"/>
                </a:solidFill>
                <a:latin typeface="Arial" pitchFamily="34" charset="0"/>
                <a:ea typeface="等线" panose="02010600030101010101" pitchFamily="2" charset="-122"/>
              </a:rPr>
              <a:t>1</a:t>
            </a:r>
          </a:p>
          <a:p>
            <a:pPr eaLnBrk="0" fontAlgn="auto" hangingPunct="0">
              <a:spcBef>
                <a:spcPts val="600"/>
              </a:spcBef>
              <a:spcAft>
                <a:spcPts val="600"/>
              </a:spcAft>
            </a:pPr>
            <a:r>
              <a:rPr lang="en-US" altLang="zh-CN" sz="1200" dirty="0">
                <a:solidFill>
                  <a:prstClr val="black"/>
                </a:solidFill>
                <a:latin typeface="Arial" pitchFamily="34" charset="0"/>
                <a:ea typeface="等线" panose="02010600030101010101" pitchFamily="2" charset="-122"/>
              </a:rPr>
              <a:t>0</a:t>
            </a:r>
          </a:p>
        </p:txBody>
      </p:sp>
      <p:sp>
        <p:nvSpPr>
          <p:cNvPr id="504" name="Line 118">
            <a:extLst>
              <a:ext uri="{FF2B5EF4-FFF2-40B4-BE49-F238E27FC236}">
                <a16:creationId xmlns:a16="http://schemas.microsoft.com/office/drawing/2014/main" id="{E3455C40-E5FB-4C19-BE19-F0E6D87A163E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152478" y="4763805"/>
            <a:ext cx="118182" cy="694398"/>
          </a:xfrm>
          <a:prstGeom prst="line">
            <a:avLst/>
          </a:prstGeom>
          <a:noFill/>
          <a:ln w="28575" cap="rnd">
            <a:solidFill>
              <a:sysClr val="windowText" lastClr="000000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</a:endParaRPr>
          </a:p>
        </p:txBody>
      </p:sp>
      <p:sp>
        <p:nvSpPr>
          <p:cNvPr id="505" name="Line 13">
            <a:extLst>
              <a:ext uri="{FF2B5EF4-FFF2-40B4-BE49-F238E27FC236}">
                <a16:creationId xmlns:a16="http://schemas.microsoft.com/office/drawing/2014/main" id="{DC6A3709-BEB8-4D32-B55F-F2D7B523FBFC}"/>
              </a:ext>
            </a:extLst>
          </p:cNvPr>
          <p:cNvSpPr>
            <a:spLocks noChangeShapeType="1"/>
          </p:cNvSpPr>
          <p:nvPr/>
        </p:nvSpPr>
        <p:spPr bwMode="auto">
          <a:xfrm>
            <a:off x="8571208" y="4533011"/>
            <a:ext cx="151960" cy="0"/>
          </a:xfrm>
          <a:prstGeom prst="line">
            <a:avLst/>
          </a:prstGeom>
          <a:noFill/>
          <a:ln w="19050">
            <a:solidFill>
              <a:sysClr val="windowText" lastClr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</a:endParaRPr>
          </a:p>
        </p:txBody>
      </p:sp>
      <p:sp>
        <p:nvSpPr>
          <p:cNvPr id="506" name="Line 110">
            <a:extLst>
              <a:ext uri="{FF2B5EF4-FFF2-40B4-BE49-F238E27FC236}">
                <a16:creationId xmlns:a16="http://schemas.microsoft.com/office/drawing/2014/main" id="{FDBD35FF-4C1C-4345-A7E7-C7417A9B5370}"/>
              </a:ext>
            </a:extLst>
          </p:cNvPr>
          <p:cNvSpPr>
            <a:spLocks noChangeShapeType="1"/>
          </p:cNvSpPr>
          <p:nvPr/>
        </p:nvSpPr>
        <p:spPr bwMode="auto">
          <a:xfrm>
            <a:off x="2720132" y="5713487"/>
            <a:ext cx="0" cy="236873"/>
          </a:xfrm>
          <a:prstGeom prst="line">
            <a:avLst/>
          </a:prstGeom>
          <a:noFill/>
          <a:ln w="19050">
            <a:solidFill>
              <a:sysClr val="windowText" lastClr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</a:endParaRPr>
          </a:p>
        </p:txBody>
      </p:sp>
      <p:sp>
        <p:nvSpPr>
          <p:cNvPr id="507" name="Line 8">
            <a:extLst>
              <a:ext uri="{FF2B5EF4-FFF2-40B4-BE49-F238E27FC236}">
                <a16:creationId xmlns:a16="http://schemas.microsoft.com/office/drawing/2014/main" id="{D606C874-8E5B-4238-9AD3-105DF9BF0CC9}"/>
              </a:ext>
            </a:extLst>
          </p:cNvPr>
          <p:cNvSpPr>
            <a:spLocks noChangeShapeType="1"/>
          </p:cNvSpPr>
          <p:nvPr/>
        </p:nvSpPr>
        <p:spPr bwMode="auto">
          <a:xfrm>
            <a:off x="2720132" y="5946850"/>
            <a:ext cx="1747538" cy="0"/>
          </a:xfrm>
          <a:prstGeom prst="line">
            <a:avLst/>
          </a:prstGeom>
          <a:noFill/>
          <a:ln w="19050">
            <a:solidFill>
              <a:sysClr val="windowText" lastClr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</a:endParaRPr>
          </a:p>
        </p:txBody>
      </p:sp>
      <p:sp>
        <p:nvSpPr>
          <p:cNvPr id="508" name="Line 9">
            <a:extLst>
              <a:ext uri="{FF2B5EF4-FFF2-40B4-BE49-F238E27FC236}">
                <a16:creationId xmlns:a16="http://schemas.microsoft.com/office/drawing/2014/main" id="{68F2003B-F9F4-437E-A5BC-7DD748CEFA54}"/>
              </a:ext>
            </a:extLst>
          </p:cNvPr>
          <p:cNvSpPr>
            <a:spLocks noChangeShapeType="1"/>
          </p:cNvSpPr>
          <p:nvPr/>
        </p:nvSpPr>
        <p:spPr bwMode="auto">
          <a:xfrm>
            <a:off x="4626610" y="5946850"/>
            <a:ext cx="1052640" cy="0"/>
          </a:xfrm>
          <a:prstGeom prst="line">
            <a:avLst/>
          </a:prstGeom>
          <a:noFill/>
          <a:ln w="19050">
            <a:solidFill>
              <a:sysClr val="windowText" lastClr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</a:endParaRPr>
          </a:p>
        </p:txBody>
      </p:sp>
      <p:sp>
        <p:nvSpPr>
          <p:cNvPr id="509" name="AutoShape 67">
            <a:extLst>
              <a:ext uri="{FF2B5EF4-FFF2-40B4-BE49-F238E27FC236}">
                <a16:creationId xmlns:a16="http://schemas.microsoft.com/office/drawing/2014/main" id="{B750CFA1-82BA-482B-8215-4F636F3B0245}"/>
              </a:ext>
            </a:extLst>
          </p:cNvPr>
          <p:cNvSpPr>
            <a:spLocks noChangeArrowheads="1"/>
          </p:cNvSpPr>
          <p:nvPr/>
        </p:nvSpPr>
        <p:spPr bwMode="auto">
          <a:xfrm rot="16200000">
            <a:off x="5509954" y="5663249"/>
            <a:ext cx="565593" cy="236773"/>
          </a:xfrm>
          <a:custGeom>
            <a:avLst/>
            <a:gdLst>
              <a:gd name="T0" fmla="*/ 9 w 21600"/>
              <a:gd name="T1" fmla="*/ 0 h 21600"/>
              <a:gd name="T2" fmla="*/ 5 w 21600"/>
              <a:gd name="T3" fmla="*/ 1 h 21600"/>
              <a:gd name="T4" fmla="*/ 1 w 21600"/>
              <a:gd name="T5" fmla="*/ 0 h 21600"/>
              <a:gd name="T6" fmla="*/ 5 w 21600"/>
              <a:gd name="T7" fmla="*/ 0 h 21600"/>
              <a:gd name="T8" fmla="*/ 0 60000 65536"/>
              <a:gd name="T9" fmla="*/ 0 60000 65536"/>
              <a:gd name="T10" fmla="*/ 0 60000 65536"/>
              <a:gd name="T11" fmla="*/ 0 60000 65536"/>
              <a:gd name="T12" fmla="*/ 4500 w 21600"/>
              <a:gd name="T13" fmla="*/ 4500 h 21600"/>
              <a:gd name="T14" fmla="*/ 17100 w 21600"/>
              <a:gd name="T15" fmla="*/ 17100 h 21600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21600" h="21600">
                <a:moveTo>
                  <a:pt x="0" y="0"/>
                </a:moveTo>
                <a:lnTo>
                  <a:pt x="5400" y="21600"/>
                </a:lnTo>
                <a:lnTo>
                  <a:pt x="16200" y="21600"/>
                </a:lnTo>
                <a:lnTo>
                  <a:pt x="21600" y="0"/>
                </a:lnTo>
                <a:lnTo>
                  <a:pt x="0" y="0"/>
                </a:lnTo>
                <a:close/>
              </a:path>
            </a:pathLst>
          </a:custGeom>
          <a:noFill/>
          <a:ln w="19050">
            <a:solidFill>
              <a:sysClr val="windowText" lastClr="000000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</a:endParaRPr>
          </a:p>
        </p:txBody>
      </p:sp>
      <p:sp>
        <p:nvSpPr>
          <p:cNvPr id="510" name="Rectangle 70">
            <a:extLst>
              <a:ext uri="{FF2B5EF4-FFF2-40B4-BE49-F238E27FC236}">
                <a16:creationId xmlns:a16="http://schemas.microsoft.com/office/drawing/2014/main" id="{5D69E50C-1260-4B4D-9C6C-055CD2A13DE5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69014" y="5489196"/>
            <a:ext cx="118669" cy="60569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19047" tIns="26984" rIns="19047" bIns="26984"/>
          <a:lstStyle/>
          <a:p>
            <a:pPr eaLnBrk="0" fontAlgn="auto" hangingPunct="0">
              <a:spcBef>
                <a:spcPts val="600"/>
              </a:spcBef>
              <a:spcAft>
                <a:spcPts val="600"/>
              </a:spcAft>
            </a:pPr>
            <a:r>
              <a:rPr lang="en-US" altLang="zh-CN" sz="1200" dirty="0">
                <a:solidFill>
                  <a:prstClr val="black"/>
                </a:solidFill>
                <a:latin typeface="Arial" pitchFamily="34" charset="0"/>
                <a:ea typeface="等线" panose="02010600030101010101" pitchFamily="2" charset="-122"/>
              </a:rPr>
              <a:t>0</a:t>
            </a:r>
          </a:p>
          <a:p>
            <a:pPr eaLnBrk="0" fontAlgn="auto" hangingPunct="0">
              <a:spcBef>
                <a:spcPts val="600"/>
              </a:spcBef>
              <a:spcAft>
                <a:spcPts val="600"/>
              </a:spcAft>
            </a:pPr>
            <a:r>
              <a:rPr lang="en-US" altLang="zh-CN" sz="1200" dirty="0">
                <a:solidFill>
                  <a:prstClr val="black"/>
                </a:solidFill>
                <a:latin typeface="Arial" pitchFamily="34" charset="0"/>
                <a:ea typeface="等线" panose="02010600030101010101" pitchFamily="2" charset="-122"/>
              </a:rPr>
              <a:t>1</a:t>
            </a:r>
          </a:p>
        </p:txBody>
      </p:sp>
      <p:sp>
        <p:nvSpPr>
          <p:cNvPr id="511" name="Line 10">
            <a:extLst>
              <a:ext uri="{FF2B5EF4-FFF2-40B4-BE49-F238E27FC236}">
                <a16:creationId xmlns:a16="http://schemas.microsoft.com/office/drawing/2014/main" id="{5BAE99B5-9120-4885-9C7B-7520F7FC457A}"/>
              </a:ext>
            </a:extLst>
          </p:cNvPr>
          <p:cNvSpPr>
            <a:spLocks noChangeShapeType="1"/>
          </p:cNvSpPr>
          <p:nvPr/>
        </p:nvSpPr>
        <p:spPr bwMode="auto">
          <a:xfrm>
            <a:off x="5918225" y="5713487"/>
            <a:ext cx="215312" cy="0"/>
          </a:xfrm>
          <a:prstGeom prst="line">
            <a:avLst/>
          </a:prstGeom>
          <a:noFill/>
          <a:ln w="19050">
            <a:solidFill>
              <a:sysClr val="windowText" lastClr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</a:endParaRPr>
          </a:p>
        </p:txBody>
      </p:sp>
      <p:sp>
        <p:nvSpPr>
          <p:cNvPr id="512" name="Line 153">
            <a:extLst>
              <a:ext uri="{FF2B5EF4-FFF2-40B4-BE49-F238E27FC236}">
                <a16:creationId xmlns:a16="http://schemas.microsoft.com/office/drawing/2014/main" id="{6DA776F2-BF36-4104-9E3F-4659674CB475}"/>
              </a:ext>
            </a:extLst>
          </p:cNvPr>
          <p:cNvSpPr>
            <a:spLocks noChangeShapeType="1"/>
          </p:cNvSpPr>
          <p:nvPr/>
        </p:nvSpPr>
        <p:spPr bwMode="auto">
          <a:xfrm>
            <a:off x="3926577" y="2935120"/>
            <a:ext cx="258460" cy="0"/>
          </a:xfrm>
          <a:prstGeom prst="line">
            <a:avLst/>
          </a:prstGeom>
          <a:noFill/>
          <a:ln w="12700">
            <a:solidFill>
              <a:srgbClr val="00B05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fontAlgn="auto">
              <a:spcBef>
                <a:spcPts val="0"/>
              </a:spcBef>
              <a:spcAft>
                <a:spcPts val="0"/>
              </a:spcAft>
            </a:pPr>
            <a:endParaRPr lang="zh-CN" altLang="en-US">
              <a:solidFill>
                <a:prstClr val="black"/>
              </a:solidFill>
              <a:latin typeface="等线" panose="020F0502020204030204"/>
              <a:ea typeface="等线" panose="02010600030101010101" pitchFamily="2" charset="-122"/>
            </a:endParaRPr>
          </a:p>
        </p:txBody>
      </p:sp>
      <p:sp>
        <p:nvSpPr>
          <p:cNvPr id="513" name="Line 158">
            <a:extLst>
              <a:ext uri="{FF2B5EF4-FFF2-40B4-BE49-F238E27FC236}">
                <a16:creationId xmlns:a16="http://schemas.microsoft.com/office/drawing/2014/main" id="{C0FBA2E6-59CD-46C6-92D0-C21ED1995D3B}"/>
              </a:ext>
            </a:extLst>
          </p:cNvPr>
          <p:cNvSpPr>
            <a:spLocks noChangeShapeType="1"/>
          </p:cNvSpPr>
          <p:nvPr/>
        </p:nvSpPr>
        <p:spPr bwMode="auto">
          <a:xfrm>
            <a:off x="4181035" y="2933603"/>
            <a:ext cx="0" cy="117757"/>
          </a:xfrm>
          <a:prstGeom prst="line">
            <a:avLst/>
          </a:prstGeom>
          <a:noFill/>
          <a:ln w="12700">
            <a:solidFill>
              <a:srgbClr val="00B05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fontAlgn="auto">
              <a:spcBef>
                <a:spcPts val="0"/>
              </a:spcBef>
              <a:spcAft>
                <a:spcPts val="0"/>
              </a:spcAft>
            </a:pPr>
            <a:endParaRPr lang="zh-CN" altLang="en-US">
              <a:solidFill>
                <a:prstClr val="black"/>
              </a:solidFill>
              <a:latin typeface="等线" panose="020F0502020204030204"/>
              <a:ea typeface="等线" panose="02010600030101010101" pitchFamily="2" charset="-122"/>
            </a:endParaRPr>
          </a:p>
        </p:txBody>
      </p:sp>
      <p:sp>
        <p:nvSpPr>
          <p:cNvPr id="514" name="Text Box 30">
            <a:extLst>
              <a:ext uri="{FF2B5EF4-FFF2-40B4-BE49-F238E27FC236}">
                <a16:creationId xmlns:a16="http://schemas.microsoft.com/office/drawing/2014/main" id="{6E36D0AD-71FA-4711-BD5B-74D81434E5F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311969" y="3435861"/>
            <a:ext cx="500428" cy="27698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1425" tIns="45713" rIns="91425" bIns="45713">
            <a:spAutoFit/>
          </a:bodyPr>
          <a:lstStyle>
            <a:lvl1pPr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1pPr>
            <a:lvl2pPr marL="742950" indent="-28575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2pPr>
            <a:lvl3pPr marL="11430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3pPr>
            <a:lvl4pPr marL="16002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4pPr>
            <a:lvl5pPr marL="20574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9pPr>
          </a:lstStyle>
          <a:p>
            <a:pPr fontAlgn="auto">
              <a:spcBef>
                <a:spcPts val="0"/>
              </a:spcBef>
              <a:spcAft>
                <a:spcPts val="0"/>
              </a:spcAft>
            </a:pPr>
            <a:r>
              <a:rPr lang="en-US" altLang="zh-CN" sz="1200" b="0" dirty="0">
                <a:solidFill>
                  <a:prstClr val="black"/>
                </a:solidFill>
                <a:latin typeface="Arial" pitchFamily="34" charset="0"/>
                <a:ea typeface="SimHei" panose="02010609060101010101" pitchFamily="49" charset="-122"/>
              </a:rPr>
              <a:t>Zero</a:t>
            </a:r>
          </a:p>
        </p:txBody>
      </p:sp>
      <p:sp>
        <p:nvSpPr>
          <p:cNvPr id="515" name="流程图: 延期 514">
            <a:extLst>
              <a:ext uri="{FF2B5EF4-FFF2-40B4-BE49-F238E27FC236}">
                <a16:creationId xmlns:a16="http://schemas.microsoft.com/office/drawing/2014/main" id="{137CE87F-B40A-4C83-BC8D-0C100967050B}"/>
              </a:ext>
            </a:extLst>
          </p:cNvPr>
          <p:cNvSpPr/>
          <p:nvPr/>
        </p:nvSpPr>
        <p:spPr>
          <a:xfrm rot="16200000">
            <a:off x="6903386" y="2019510"/>
            <a:ext cx="413006" cy="381758"/>
          </a:xfrm>
          <a:prstGeom prst="flowChartDelay">
            <a:avLst/>
          </a:prstGeom>
          <a:noFill/>
          <a:ln w="19050" cap="flat" cmpd="sng" algn="ctr">
            <a:solidFill>
              <a:srgbClr val="00B050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516" name="Line 124">
            <a:extLst>
              <a:ext uri="{FF2B5EF4-FFF2-40B4-BE49-F238E27FC236}">
                <a16:creationId xmlns:a16="http://schemas.microsoft.com/office/drawing/2014/main" id="{B7A0A79C-E260-4E5C-AF46-ECD1FDD0D0EC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7004833" y="2420524"/>
            <a:ext cx="0" cy="1236577"/>
          </a:xfrm>
          <a:prstGeom prst="line">
            <a:avLst/>
          </a:prstGeom>
          <a:noFill/>
          <a:ln w="19050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</a:endParaRPr>
          </a:p>
        </p:txBody>
      </p:sp>
      <p:sp>
        <p:nvSpPr>
          <p:cNvPr id="517" name="Line 124">
            <a:extLst>
              <a:ext uri="{FF2B5EF4-FFF2-40B4-BE49-F238E27FC236}">
                <a16:creationId xmlns:a16="http://schemas.microsoft.com/office/drawing/2014/main" id="{31681F76-7BD8-4330-90AB-856CDB5FD001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7190965" y="2416178"/>
            <a:ext cx="0" cy="268705"/>
          </a:xfrm>
          <a:prstGeom prst="line">
            <a:avLst/>
          </a:prstGeom>
          <a:noFill/>
          <a:ln w="12700">
            <a:solidFill>
              <a:srgbClr val="00B050"/>
            </a:solidFill>
            <a:round/>
            <a:headEnd type="none" w="med" len="med"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fontAlgn="auto">
              <a:spcBef>
                <a:spcPts val="0"/>
              </a:spcBef>
              <a:spcAft>
                <a:spcPts val="0"/>
              </a:spcAft>
            </a:pPr>
            <a:endParaRPr lang="zh-CN" altLang="en-US">
              <a:solidFill>
                <a:prstClr val="black"/>
              </a:solidFill>
              <a:latin typeface="等线" panose="020F0502020204030204"/>
              <a:ea typeface="等线" panose="02010600030101010101" pitchFamily="2" charset="-122"/>
            </a:endParaRPr>
          </a:p>
        </p:txBody>
      </p:sp>
      <p:sp>
        <p:nvSpPr>
          <p:cNvPr id="518" name="Text Box 30">
            <a:extLst>
              <a:ext uri="{FF2B5EF4-FFF2-40B4-BE49-F238E27FC236}">
                <a16:creationId xmlns:a16="http://schemas.microsoft.com/office/drawing/2014/main" id="{C7579539-C002-4824-B86A-51C1A71579C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133167" y="2553959"/>
            <a:ext cx="670346" cy="27698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1425" tIns="45713" rIns="91425" bIns="45713">
            <a:spAutoFit/>
          </a:bodyPr>
          <a:lstStyle>
            <a:lvl1pPr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1pPr>
            <a:lvl2pPr marL="742950" indent="-28575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2pPr>
            <a:lvl3pPr marL="11430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3pPr>
            <a:lvl4pPr marL="16002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4pPr>
            <a:lvl5pPr marL="20574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9pPr>
          </a:lstStyle>
          <a:p>
            <a:pPr fontAlgn="auto">
              <a:spcBef>
                <a:spcPts val="0"/>
              </a:spcBef>
              <a:spcAft>
                <a:spcPts val="0"/>
              </a:spcAft>
            </a:pPr>
            <a:r>
              <a:rPr lang="en-US" altLang="zh-CN" sz="1200" b="0" dirty="0">
                <a:solidFill>
                  <a:srgbClr val="00B050"/>
                </a:solidFill>
                <a:latin typeface="Arial" pitchFamily="34" charset="0"/>
                <a:ea typeface="SimHei" panose="02010609060101010101" pitchFamily="49" charset="-122"/>
              </a:rPr>
              <a:t>Branch</a:t>
            </a:r>
          </a:p>
        </p:txBody>
      </p:sp>
      <p:sp>
        <p:nvSpPr>
          <p:cNvPr id="519" name="Line 153">
            <a:extLst>
              <a:ext uri="{FF2B5EF4-FFF2-40B4-BE49-F238E27FC236}">
                <a16:creationId xmlns:a16="http://schemas.microsoft.com/office/drawing/2014/main" id="{EB68A86E-C9B6-4AE7-A210-6C4C16998650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652194" y="3379327"/>
            <a:ext cx="0" cy="248294"/>
          </a:xfrm>
          <a:prstGeom prst="line">
            <a:avLst/>
          </a:prstGeom>
          <a:noFill/>
          <a:ln w="12700">
            <a:solidFill>
              <a:srgbClr val="00B05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fontAlgn="auto">
              <a:spcBef>
                <a:spcPts val="0"/>
              </a:spcBef>
              <a:spcAft>
                <a:spcPts val="0"/>
              </a:spcAft>
            </a:pPr>
            <a:endParaRPr lang="zh-CN" altLang="en-US">
              <a:solidFill>
                <a:prstClr val="black"/>
              </a:solidFill>
              <a:latin typeface="等线" panose="020F0502020204030204"/>
              <a:ea typeface="等线" panose="02010600030101010101" pitchFamily="2" charset="-122"/>
            </a:endParaRPr>
          </a:p>
        </p:txBody>
      </p:sp>
      <p:sp>
        <p:nvSpPr>
          <p:cNvPr id="520" name="Text Box 30">
            <a:extLst>
              <a:ext uri="{FF2B5EF4-FFF2-40B4-BE49-F238E27FC236}">
                <a16:creationId xmlns:a16="http://schemas.microsoft.com/office/drawing/2014/main" id="{D1F393D7-E822-4585-91FA-F100168960D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69100" y="3230285"/>
            <a:ext cx="659574" cy="27698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1425" tIns="45713" rIns="91425" bIns="45713">
            <a:spAutoFit/>
          </a:bodyPr>
          <a:lstStyle>
            <a:lvl1pPr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1pPr>
            <a:lvl2pPr marL="742950" indent="-28575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2pPr>
            <a:lvl3pPr marL="11430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3pPr>
            <a:lvl4pPr marL="16002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4pPr>
            <a:lvl5pPr marL="20574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9pPr>
          </a:lstStyle>
          <a:p>
            <a:pPr fontAlgn="auto">
              <a:spcBef>
                <a:spcPts val="0"/>
              </a:spcBef>
              <a:spcAft>
                <a:spcPts val="0"/>
              </a:spcAft>
            </a:pPr>
            <a:r>
              <a:rPr lang="en-US" altLang="zh-CN" sz="1200" b="0" dirty="0" err="1">
                <a:solidFill>
                  <a:srgbClr val="00B050"/>
                </a:solidFill>
                <a:latin typeface="Arial" pitchFamily="34" charset="0"/>
                <a:ea typeface="SimHei" panose="02010609060101010101" pitchFamily="49" charset="-122"/>
              </a:rPr>
              <a:t>RegWr</a:t>
            </a:r>
            <a:endParaRPr lang="en-US" altLang="zh-CN" sz="1200" b="0" dirty="0">
              <a:solidFill>
                <a:srgbClr val="00B050"/>
              </a:solidFill>
              <a:latin typeface="Arial" pitchFamily="34" charset="0"/>
              <a:ea typeface="SimHei" panose="02010609060101010101" pitchFamily="49" charset="-122"/>
            </a:endParaRPr>
          </a:p>
        </p:txBody>
      </p:sp>
      <p:sp>
        <p:nvSpPr>
          <p:cNvPr id="521" name="Line 153">
            <a:extLst>
              <a:ext uri="{FF2B5EF4-FFF2-40B4-BE49-F238E27FC236}">
                <a16:creationId xmlns:a16="http://schemas.microsoft.com/office/drawing/2014/main" id="{DF9928F4-3F4B-47A6-B1D1-509B83473395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7111736" y="1749834"/>
            <a:ext cx="0" cy="254051"/>
          </a:xfrm>
          <a:prstGeom prst="line">
            <a:avLst/>
          </a:prstGeom>
          <a:noFill/>
          <a:ln w="12700">
            <a:solidFill>
              <a:srgbClr val="00B05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fontAlgn="auto">
              <a:spcBef>
                <a:spcPts val="0"/>
              </a:spcBef>
              <a:spcAft>
                <a:spcPts val="0"/>
              </a:spcAft>
            </a:pPr>
            <a:endParaRPr lang="zh-CN" altLang="en-US">
              <a:solidFill>
                <a:prstClr val="black"/>
              </a:solidFill>
              <a:latin typeface="等线" panose="020F0502020204030204"/>
              <a:ea typeface="等线" panose="02010600030101010101" pitchFamily="2" charset="-122"/>
            </a:endParaRPr>
          </a:p>
        </p:txBody>
      </p:sp>
      <p:sp>
        <p:nvSpPr>
          <p:cNvPr id="522" name="Line 153">
            <a:extLst>
              <a:ext uri="{FF2B5EF4-FFF2-40B4-BE49-F238E27FC236}">
                <a16:creationId xmlns:a16="http://schemas.microsoft.com/office/drawing/2014/main" id="{A5DA644A-3C24-44B4-A817-63A3591ED557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1127505" y="1749832"/>
            <a:ext cx="5984231" cy="0"/>
          </a:xfrm>
          <a:prstGeom prst="line">
            <a:avLst/>
          </a:prstGeom>
          <a:noFill/>
          <a:ln w="12700">
            <a:solidFill>
              <a:srgbClr val="00B05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fontAlgn="auto">
              <a:spcBef>
                <a:spcPts val="0"/>
              </a:spcBef>
              <a:spcAft>
                <a:spcPts val="0"/>
              </a:spcAft>
            </a:pPr>
            <a:endParaRPr lang="zh-CN" altLang="en-US">
              <a:solidFill>
                <a:prstClr val="black"/>
              </a:solidFill>
              <a:latin typeface="等线" panose="020F0502020204030204"/>
              <a:ea typeface="等线" panose="02010600030101010101" pitchFamily="2" charset="-122"/>
            </a:endParaRPr>
          </a:p>
        </p:txBody>
      </p:sp>
      <p:sp>
        <p:nvSpPr>
          <p:cNvPr id="523" name="Line 153">
            <a:extLst>
              <a:ext uri="{FF2B5EF4-FFF2-40B4-BE49-F238E27FC236}">
                <a16:creationId xmlns:a16="http://schemas.microsoft.com/office/drawing/2014/main" id="{7E56D94E-D826-448B-AF9A-F250C4D925C5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1127505" y="1749831"/>
            <a:ext cx="0" cy="173886"/>
          </a:xfrm>
          <a:prstGeom prst="line">
            <a:avLst/>
          </a:prstGeom>
          <a:noFill/>
          <a:ln w="12700">
            <a:solidFill>
              <a:srgbClr val="00B05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fontAlgn="auto">
              <a:spcBef>
                <a:spcPts val="0"/>
              </a:spcBef>
              <a:spcAft>
                <a:spcPts val="0"/>
              </a:spcAft>
            </a:pPr>
            <a:endParaRPr lang="zh-CN" altLang="en-US">
              <a:solidFill>
                <a:prstClr val="black"/>
              </a:solidFill>
              <a:latin typeface="等线" panose="020F0502020204030204"/>
              <a:ea typeface="等线" panose="02010600030101010101" pitchFamily="2" charset="-122"/>
            </a:endParaRPr>
          </a:p>
        </p:txBody>
      </p:sp>
      <p:sp>
        <p:nvSpPr>
          <p:cNvPr id="524" name="Text Box 30">
            <a:extLst>
              <a:ext uri="{FF2B5EF4-FFF2-40B4-BE49-F238E27FC236}">
                <a16:creationId xmlns:a16="http://schemas.microsoft.com/office/drawing/2014/main" id="{5A3D7ADF-BD8E-4C56-B494-9EB7964F86F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414532" y="1515517"/>
            <a:ext cx="628668" cy="27698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1425" tIns="45713" rIns="91425" bIns="45713">
            <a:spAutoFit/>
          </a:bodyPr>
          <a:lstStyle>
            <a:lvl1pPr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1pPr>
            <a:lvl2pPr marL="742950" indent="-28575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2pPr>
            <a:lvl3pPr marL="11430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3pPr>
            <a:lvl4pPr marL="16002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4pPr>
            <a:lvl5pPr marL="20574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9pPr>
          </a:lstStyle>
          <a:p>
            <a:pPr fontAlgn="auto">
              <a:spcBef>
                <a:spcPts val="0"/>
              </a:spcBef>
              <a:spcAft>
                <a:spcPts val="0"/>
              </a:spcAft>
            </a:pPr>
            <a:r>
              <a:rPr lang="en-US" altLang="zh-CN" sz="1200" b="0" dirty="0" err="1">
                <a:solidFill>
                  <a:srgbClr val="00B050"/>
                </a:solidFill>
                <a:latin typeface="Arial" pitchFamily="34" charset="0"/>
                <a:ea typeface="SimHei" panose="02010609060101010101" pitchFamily="49" charset="-122"/>
              </a:rPr>
              <a:t>PCSrc</a:t>
            </a:r>
            <a:endParaRPr lang="en-US" altLang="zh-CN" sz="1200" b="0" dirty="0">
              <a:solidFill>
                <a:srgbClr val="00B050"/>
              </a:solidFill>
              <a:latin typeface="Arial" pitchFamily="34" charset="0"/>
              <a:ea typeface="SimHei" panose="02010609060101010101" pitchFamily="49" charset="-122"/>
            </a:endParaRPr>
          </a:p>
        </p:txBody>
      </p:sp>
      <p:sp>
        <p:nvSpPr>
          <p:cNvPr id="525" name="Line 153">
            <a:extLst>
              <a:ext uri="{FF2B5EF4-FFF2-40B4-BE49-F238E27FC236}">
                <a16:creationId xmlns:a16="http://schemas.microsoft.com/office/drawing/2014/main" id="{D6238931-F30D-4022-B979-D9E20FFD4211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799481" y="5989689"/>
            <a:ext cx="0" cy="619634"/>
          </a:xfrm>
          <a:prstGeom prst="line">
            <a:avLst/>
          </a:prstGeom>
          <a:noFill/>
          <a:ln w="12700">
            <a:solidFill>
              <a:srgbClr val="00B05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fontAlgn="auto">
              <a:spcBef>
                <a:spcPts val="0"/>
              </a:spcBef>
              <a:spcAft>
                <a:spcPts val="0"/>
              </a:spcAft>
            </a:pPr>
            <a:endParaRPr lang="zh-CN" altLang="en-US">
              <a:solidFill>
                <a:prstClr val="black"/>
              </a:solidFill>
              <a:latin typeface="等线" panose="020F0502020204030204"/>
              <a:ea typeface="等线" panose="02010600030101010101" pitchFamily="2" charset="-122"/>
            </a:endParaRPr>
          </a:p>
        </p:txBody>
      </p:sp>
      <p:sp>
        <p:nvSpPr>
          <p:cNvPr id="526" name="Text Box 30">
            <a:extLst>
              <a:ext uri="{FF2B5EF4-FFF2-40B4-BE49-F238E27FC236}">
                <a16:creationId xmlns:a16="http://schemas.microsoft.com/office/drawing/2014/main" id="{D8FC0506-9B76-4268-A4B9-CB2087FDE27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750170" y="6461564"/>
            <a:ext cx="695994" cy="27698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1425" tIns="45713" rIns="91425" bIns="45713">
            <a:spAutoFit/>
          </a:bodyPr>
          <a:lstStyle>
            <a:lvl1pPr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1pPr>
            <a:lvl2pPr marL="742950" indent="-28575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2pPr>
            <a:lvl3pPr marL="11430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3pPr>
            <a:lvl4pPr marL="16002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4pPr>
            <a:lvl5pPr marL="20574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9pPr>
          </a:lstStyle>
          <a:p>
            <a:pPr fontAlgn="auto">
              <a:spcBef>
                <a:spcPts val="0"/>
              </a:spcBef>
              <a:spcAft>
                <a:spcPts val="0"/>
              </a:spcAft>
            </a:pPr>
            <a:r>
              <a:rPr lang="en-US" altLang="zh-CN" sz="1200" b="0" dirty="0" err="1">
                <a:solidFill>
                  <a:srgbClr val="00B050"/>
                </a:solidFill>
                <a:latin typeface="Arial" pitchFamily="34" charset="0"/>
                <a:ea typeface="SimHei" panose="02010609060101010101" pitchFamily="49" charset="-122"/>
              </a:rPr>
              <a:t>RegDst</a:t>
            </a:r>
            <a:endParaRPr lang="en-US" altLang="zh-CN" sz="1200" b="0" dirty="0">
              <a:solidFill>
                <a:srgbClr val="00B050"/>
              </a:solidFill>
              <a:latin typeface="Arial" pitchFamily="34" charset="0"/>
              <a:ea typeface="SimHei" panose="02010609060101010101" pitchFamily="49" charset="-122"/>
            </a:endParaRPr>
          </a:p>
        </p:txBody>
      </p:sp>
      <p:sp>
        <p:nvSpPr>
          <p:cNvPr id="527" name="Line 153">
            <a:extLst>
              <a:ext uri="{FF2B5EF4-FFF2-40B4-BE49-F238E27FC236}">
                <a16:creationId xmlns:a16="http://schemas.microsoft.com/office/drawing/2014/main" id="{E802A419-3F2F-4B46-B200-6BD6A71C9F4A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727070" y="4917592"/>
            <a:ext cx="0" cy="309817"/>
          </a:xfrm>
          <a:prstGeom prst="line">
            <a:avLst/>
          </a:prstGeom>
          <a:noFill/>
          <a:ln w="12700">
            <a:solidFill>
              <a:srgbClr val="00B05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fontAlgn="auto">
              <a:spcBef>
                <a:spcPts val="0"/>
              </a:spcBef>
              <a:spcAft>
                <a:spcPts val="0"/>
              </a:spcAft>
            </a:pPr>
            <a:endParaRPr lang="zh-CN" altLang="en-US">
              <a:solidFill>
                <a:prstClr val="black"/>
              </a:solidFill>
              <a:latin typeface="等线" panose="020F0502020204030204"/>
              <a:ea typeface="等线" panose="02010600030101010101" pitchFamily="2" charset="-122"/>
            </a:endParaRPr>
          </a:p>
        </p:txBody>
      </p:sp>
      <p:sp>
        <p:nvSpPr>
          <p:cNvPr id="528" name="Line 153">
            <a:extLst>
              <a:ext uri="{FF2B5EF4-FFF2-40B4-BE49-F238E27FC236}">
                <a16:creationId xmlns:a16="http://schemas.microsoft.com/office/drawing/2014/main" id="{22BBD0A5-1DAE-4C4D-920F-9EF601E74092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7643660" y="4932174"/>
            <a:ext cx="0" cy="309817"/>
          </a:xfrm>
          <a:prstGeom prst="line">
            <a:avLst/>
          </a:prstGeom>
          <a:noFill/>
          <a:ln w="12700">
            <a:solidFill>
              <a:srgbClr val="00B05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fontAlgn="auto">
              <a:spcBef>
                <a:spcPts val="0"/>
              </a:spcBef>
              <a:spcAft>
                <a:spcPts val="0"/>
              </a:spcAft>
            </a:pPr>
            <a:endParaRPr lang="zh-CN" altLang="en-US">
              <a:solidFill>
                <a:prstClr val="black"/>
              </a:solidFill>
              <a:latin typeface="等线" panose="020F0502020204030204"/>
              <a:ea typeface="等线" panose="02010600030101010101" pitchFamily="2" charset="-122"/>
            </a:endParaRPr>
          </a:p>
        </p:txBody>
      </p:sp>
      <p:sp>
        <p:nvSpPr>
          <p:cNvPr id="529" name="Text Box 30">
            <a:extLst>
              <a:ext uri="{FF2B5EF4-FFF2-40B4-BE49-F238E27FC236}">
                <a16:creationId xmlns:a16="http://schemas.microsoft.com/office/drawing/2014/main" id="{5A51F617-C14F-4BE3-8538-4EAAAFE45B0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311969" y="5140251"/>
            <a:ext cx="891560" cy="27698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1425" tIns="45713" rIns="91425" bIns="45713">
            <a:spAutoFit/>
          </a:bodyPr>
          <a:lstStyle>
            <a:lvl1pPr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1pPr>
            <a:lvl2pPr marL="742950" indent="-28575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2pPr>
            <a:lvl3pPr marL="11430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3pPr>
            <a:lvl4pPr marL="16002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4pPr>
            <a:lvl5pPr marL="20574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9pPr>
          </a:lstStyle>
          <a:p>
            <a:pPr fontAlgn="auto">
              <a:spcBef>
                <a:spcPts val="0"/>
              </a:spcBef>
              <a:spcAft>
                <a:spcPts val="0"/>
              </a:spcAft>
            </a:pPr>
            <a:r>
              <a:rPr lang="en-US" altLang="zh-CN" sz="1200" b="0" dirty="0" err="1">
                <a:solidFill>
                  <a:srgbClr val="00B050"/>
                </a:solidFill>
                <a:latin typeface="Arial" pitchFamily="34" charset="0"/>
                <a:ea typeface="SimHei" panose="02010609060101010101" pitchFamily="49" charset="-122"/>
              </a:rPr>
              <a:t>MemRead</a:t>
            </a:r>
            <a:endParaRPr lang="en-US" altLang="zh-CN" sz="1200" b="0" dirty="0">
              <a:solidFill>
                <a:srgbClr val="00B050"/>
              </a:solidFill>
              <a:latin typeface="Arial" pitchFamily="34" charset="0"/>
              <a:ea typeface="SimHei" panose="02010609060101010101" pitchFamily="49" charset="-122"/>
            </a:endParaRPr>
          </a:p>
        </p:txBody>
      </p:sp>
      <p:sp>
        <p:nvSpPr>
          <p:cNvPr id="530" name="Text Box 30">
            <a:extLst>
              <a:ext uri="{FF2B5EF4-FFF2-40B4-BE49-F238E27FC236}">
                <a16:creationId xmlns:a16="http://schemas.microsoft.com/office/drawing/2014/main" id="{5B261525-AA53-4299-84C6-93F3CDF9DBD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242530" y="5141974"/>
            <a:ext cx="720488" cy="27698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1425" tIns="45713" rIns="91425" bIns="45713">
            <a:spAutoFit/>
          </a:bodyPr>
          <a:lstStyle>
            <a:lvl1pPr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1pPr>
            <a:lvl2pPr marL="742950" indent="-28575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2pPr>
            <a:lvl3pPr marL="11430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3pPr>
            <a:lvl4pPr marL="16002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4pPr>
            <a:lvl5pPr marL="20574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9pPr>
          </a:lstStyle>
          <a:p>
            <a:pPr fontAlgn="auto">
              <a:spcBef>
                <a:spcPts val="0"/>
              </a:spcBef>
              <a:spcAft>
                <a:spcPts val="0"/>
              </a:spcAft>
            </a:pPr>
            <a:r>
              <a:rPr lang="en-US" altLang="zh-CN" sz="1200" b="0" dirty="0" err="1">
                <a:solidFill>
                  <a:srgbClr val="00B050"/>
                </a:solidFill>
                <a:latin typeface="Arial" pitchFamily="34" charset="0"/>
                <a:ea typeface="SimHei" panose="02010609060101010101" pitchFamily="49" charset="-122"/>
              </a:rPr>
              <a:t>MemWr</a:t>
            </a:r>
            <a:endParaRPr lang="en-US" altLang="zh-CN" sz="1200" b="0" dirty="0">
              <a:solidFill>
                <a:srgbClr val="00B050"/>
              </a:solidFill>
              <a:latin typeface="Arial" pitchFamily="34" charset="0"/>
              <a:ea typeface="SimHei" panose="02010609060101010101" pitchFamily="49" charset="-122"/>
            </a:endParaRPr>
          </a:p>
        </p:txBody>
      </p:sp>
      <p:sp>
        <p:nvSpPr>
          <p:cNvPr id="531" name="Line 153">
            <a:extLst>
              <a:ext uri="{FF2B5EF4-FFF2-40B4-BE49-F238E27FC236}">
                <a16:creationId xmlns:a16="http://schemas.microsoft.com/office/drawing/2014/main" id="{39B088FA-B7AB-4B22-A721-2C2DA0E7FFDB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8457238" y="4018747"/>
            <a:ext cx="0" cy="309817"/>
          </a:xfrm>
          <a:prstGeom prst="line">
            <a:avLst/>
          </a:prstGeom>
          <a:noFill/>
          <a:ln w="12700">
            <a:solidFill>
              <a:srgbClr val="00B05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fontAlgn="auto">
              <a:spcBef>
                <a:spcPts val="0"/>
              </a:spcBef>
              <a:spcAft>
                <a:spcPts val="0"/>
              </a:spcAft>
            </a:pPr>
            <a:endParaRPr lang="zh-CN" altLang="en-US">
              <a:solidFill>
                <a:prstClr val="black"/>
              </a:solidFill>
              <a:latin typeface="等线" panose="020F0502020204030204"/>
              <a:ea typeface="等线" panose="02010600030101010101" pitchFamily="2" charset="-122"/>
            </a:endParaRPr>
          </a:p>
        </p:txBody>
      </p:sp>
      <p:sp>
        <p:nvSpPr>
          <p:cNvPr id="532" name="Text Box 30">
            <a:extLst>
              <a:ext uri="{FF2B5EF4-FFF2-40B4-BE49-F238E27FC236}">
                <a16:creationId xmlns:a16="http://schemas.microsoft.com/office/drawing/2014/main" id="{3CDA048F-7F9C-4F69-AFCD-E60C6AC9494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134661" y="3831930"/>
            <a:ext cx="934841" cy="27698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1425" tIns="45713" rIns="91425" bIns="45713">
            <a:spAutoFit/>
          </a:bodyPr>
          <a:lstStyle>
            <a:lvl1pPr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1pPr>
            <a:lvl2pPr marL="742950" indent="-28575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2pPr>
            <a:lvl3pPr marL="11430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3pPr>
            <a:lvl4pPr marL="16002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4pPr>
            <a:lvl5pPr marL="20574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9pPr>
          </a:lstStyle>
          <a:p>
            <a:pPr fontAlgn="auto">
              <a:spcBef>
                <a:spcPts val="0"/>
              </a:spcBef>
              <a:spcAft>
                <a:spcPts val="0"/>
              </a:spcAft>
            </a:pPr>
            <a:r>
              <a:rPr lang="en-US" altLang="zh-CN" sz="1200" b="0" dirty="0" err="1">
                <a:solidFill>
                  <a:srgbClr val="00B050"/>
                </a:solidFill>
                <a:latin typeface="Arial" pitchFamily="34" charset="0"/>
                <a:ea typeface="SimHei" panose="02010609060101010101" pitchFamily="49" charset="-122"/>
              </a:rPr>
              <a:t>MemtoReg</a:t>
            </a:r>
            <a:endParaRPr lang="en-US" altLang="zh-CN" sz="1200" b="0" dirty="0">
              <a:solidFill>
                <a:srgbClr val="00B050"/>
              </a:solidFill>
              <a:latin typeface="Arial" pitchFamily="34" charset="0"/>
              <a:ea typeface="SimHei" panose="02010609060101010101" pitchFamily="49" charset="-122"/>
            </a:endParaRPr>
          </a:p>
        </p:txBody>
      </p:sp>
      <p:sp>
        <p:nvSpPr>
          <p:cNvPr id="533" name="Line 153">
            <a:extLst>
              <a:ext uri="{FF2B5EF4-FFF2-40B4-BE49-F238E27FC236}">
                <a16:creationId xmlns:a16="http://schemas.microsoft.com/office/drawing/2014/main" id="{D2D31AA9-5DB2-43E2-B152-9F348C742D3A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745455" y="4784961"/>
            <a:ext cx="0" cy="302121"/>
          </a:xfrm>
          <a:prstGeom prst="line">
            <a:avLst/>
          </a:prstGeom>
          <a:noFill/>
          <a:ln w="12700">
            <a:solidFill>
              <a:srgbClr val="00B05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fontAlgn="auto">
              <a:spcBef>
                <a:spcPts val="0"/>
              </a:spcBef>
              <a:spcAft>
                <a:spcPts val="0"/>
              </a:spcAft>
            </a:pPr>
            <a:endParaRPr lang="zh-CN" altLang="en-US">
              <a:solidFill>
                <a:prstClr val="black"/>
              </a:solidFill>
              <a:latin typeface="等线" panose="020F0502020204030204"/>
              <a:ea typeface="等线" panose="02010600030101010101" pitchFamily="2" charset="-122"/>
            </a:endParaRPr>
          </a:p>
        </p:txBody>
      </p:sp>
      <p:sp>
        <p:nvSpPr>
          <p:cNvPr id="534" name="Text Box 30">
            <a:extLst>
              <a:ext uri="{FF2B5EF4-FFF2-40B4-BE49-F238E27FC236}">
                <a16:creationId xmlns:a16="http://schemas.microsoft.com/office/drawing/2014/main" id="{EDAF13D5-F786-407C-A44A-AB2FFF363EA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364350" y="5018976"/>
            <a:ext cx="687979" cy="27698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1425" tIns="45713" rIns="91425" bIns="45713">
            <a:spAutoFit/>
          </a:bodyPr>
          <a:lstStyle>
            <a:lvl1pPr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1pPr>
            <a:lvl2pPr marL="742950" indent="-28575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2pPr>
            <a:lvl3pPr marL="11430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3pPr>
            <a:lvl4pPr marL="16002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4pPr>
            <a:lvl5pPr marL="20574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9pPr>
          </a:lstStyle>
          <a:p>
            <a:pPr fontAlgn="auto">
              <a:spcBef>
                <a:spcPts val="0"/>
              </a:spcBef>
              <a:spcAft>
                <a:spcPts val="0"/>
              </a:spcAft>
            </a:pPr>
            <a:r>
              <a:rPr lang="en-US" altLang="zh-CN" sz="1200" b="0" dirty="0" err="1">
                <a:solidFill>
                  <a:srgbClr val="00B050"/>
                </a:solidFill>
                <a:latin typeface="Arial" pitchFamily="34" charset="0"/>
                <a:ea typeface="SimHei" panose="02010609060101010101" pitchFamily="49" charset="-122"/>
              </a:rPr>
              <a:t>ALUOp</a:t>
            </a:r>
            <a:endParaRPr lang="en-US" altLang="zh-CN" sz="1200" b="0" dirty="0">
              <a:solidFill>
                <a:srgbClr val="00B050"/>
              </a:solidFill>
              <a:latin typeface="Arial" pitchFamily="34" charset="0"/>
              <a:ea typeface="SimHei" panose="02010609060101010101" pitchFamily="49" charset="-122"/>
            </a:endParaRPr>
          </a:p>
        </p:txBody>
      </p:sp>
      <p:sp>
        <p:nvSpPr>
          <p:cNvPr id="535" name="Line 153">
            <a:extLst>
              <a:ext uri="{FF2B5EF4-FFF2-40B4-BE49-F238E27FC236}">
                <a16:creationId xmlns:a16="http://schemas.microsoft.com/office/drawing/2014/main" id="{58233CA0-22D4-4C51-ABD3-0DE684236502}"/>
              </a:ext>
            </a:extLst>
          </p:cNvPr>
          <p:cNvSpPr>
            <a:spLocks noChangeShapeType="1"/>
          </p:cNvSpPr>
          <p:nvPr/>
        </p:nvSpPr>
        <p:spPr bwMode="auto">
          <a:xfrm>
            <a:off x="4619728" y="2401165"/>
            <a:ext cx="607871" cy="0"/>
          </a:xfrm>
          <a:prstGeom prst="line">
            <a:avLst/>
          </a:prstGeom>
          <a:noFill/>
          <a:ln w="12700">
            <a:solidFill>
              <a:srgbClr val="00B05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fontAlgn="auto">
              <a:spcBef>
                <a:spcPts val="0"/>
              </a:spcBef>
              <a:spcAft>
                <a:spcPts val="0"/>
              </a:spcAft>
            </a:pPr>
            <a:endParaRPr lang="zh-CN" altLang="en-US">
              <a:solidFill>
                <a:prstClr val="black"/>
              </a:solidFill>
              <a:latin typeface="等线" panose="020F0502020204030204"/>
              <a:ea typeface="等线" panose="02010600030101010101" pitchFamily="2" charset="-122"/>
            </a:endParaRPr>
          </a:p>
        </p:txBody>
      </p:sp>
      <p:sp>
        <p:nvSpPr>
          <p:cNvPr id="536" name="Line 158">
            <a:extLst>
              <a:ext uri="{FF2B5EF4-FFF2-40B4-BE49-F238E27FC236}">
                <a16:creationId xmlns:a16="http://schemas.microsoft.com/office/drawing/2014/main" id="{6CECFFB2-D580-42A2-A475-9C99481765DC}"/>
              </a:ext>
            </a:extLst>
          </p:cNvPr>
          <p:cNvSpPr>
            <a:spLocks noChangeShapeType="1"/>
          </p:cNvSpPr>
          <p:nvPr/>
        </p:nvSpPr>
        <p:spPr bwMode="auto">
          <a:xfrm>
            <a:off x="5227599" y="2401165"/>
            <a:ext cx="0" cy="110109"/>
          </a:xfrm>
          <a:prstGeom prst="line">
            <a:avLst/>
          </a:prstGeom>
          <a:noFill/>
          <a:ln w="12700">
            <a:solidFill>
              <a:srgbClr val="00B05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fontAlgn="auto">
              <a:spcBef>
                <a:spcPts val="0"/>
              </a:spcBef>
              <a:spcAft>
                <a:spcPts val="0"/>
              </a:spcAft>
            </a:pPr>
            <a:endParaRPr lang="zh-CN" altLang="en-US">
              <a:solidFill>
                <a:prstClr val="black"/>
              </a:solidFill>
              <a:latin typeface="等线" panose="020F0502020204030204"/>
              <a:ea typeface="等线" panose="02010600030101010101" pitchFamily="2" charset="-122"/>
            </a:endParaRPr>
          </a:p>
        </p:txBody>
      </p:sp>
      <p:sp>
        <p:nvSpPr>
          <p:cNvPr id="537" name="Line 153">
            <a:extLst>
              <a:ext uri="{FF2B5EF4-FFF2-40B4-BE49-F238E27FC236}">
                <a16:creationId xmlns:a16="http://schemas.microsoft.com/office/drawing/2014/main" id="{BE29DEAD-550C-4C45-AD50-7EC9401F077F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202590" y="5002642"/>
            <a:ext cx="0" cy="173018"/>
          </a:xfrm>
          <a:prstGeom prst="line">
            <a:avLst/>
          </a:prstGeom>
          <a:noFill/>
          <a:ln w="12700">
            <a:solidFill>
              <a:srgbClr val="00B05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fontAlgn="auto">
              <a:spcBef>
                <a:spcPts val="0"/>
              </a:spcBef>
              <a:spcAft>
                <a:spcPts val="0"/>
              </a:spcAft>
            </a:pPr>
            <a:endParaRPr lang="zh-CN" altLang="en-US">
              <a:solidFill>
                <a:prstClr val="black"/>
              </a:solidFill>
              <a:latin typeface="等线" panose="020F0502020204030204"/>
              <a:ea typeface="等线" panose="02010600030101010101" pitchFamily="2" charset="-122"/>
            </a:endParaRPr>
          </a:p>
        </p:txBody>
      </p:sp>
      <p:sp>
        <p:nvSpPr>
          <p:cNvPr id="538" name="Text Box 30">
            <a:extLst>
              <a:ext uri="{FF2B5EF4-FFF2-40B4-BE49-F238E27FC236}">
                <a16:creationId xmlns:a16="http://schemas.microsoft.com/office/drawing/2014/main" id="{33B04268-5A3A-4E43-9E65-1D2598F1FB0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785845" y="5122432"/>
            <a:ext cx="713627" cy="27698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1425" tIns="45713" rIns="91425" bIns="45713">
            <a:spAutoFit/>
          </a:bodyPr>
          <a:lstStyle>
            <a:lvl1pPr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1pPr>
            <a:lvl2pPr marL="742950" indent="-28575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2pPr>
            <a:lvl3pPr marL="11430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3pPr>
            <a:lvl4pPr marL="16002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4pPr>
            <a:lvl5pPr marL="20574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9pPr>
          </a:lstStyle>
          <a:p>
            <a:pPr fontAlgn="auto">
              <a:spcBef>
                <a:spcPts val="0"/>
              </a:spcBef>
              <a:spcAft>
                <a:spcPts val="0"/>
              </a:spcAft>
            </a:pPr>
            <a:r>
              <a:rPr lang="en-US" altLang="zh-CN" sz="1200" b="0" dirty="0" err="1">
                <a:solidFill>
                  <a:srgbClr val="00B050"/>
                </a:solidFill>
                <a:latin typeface="Arial" pitchFamily="34" charset="0"/>
                <a:ea typeface="SimHei" panose="02010609060101010101" pitchFamily="49" charset="-122"/>
              </a:rPr>
              <a:t>ALUSrc</a:t>
            </a:r>
            <a:endParaRPr lang="en-US" altLang="zh-CN" sz="1200" b="0" dirty="0">
              <a:solidFill>
                <a:srgbClr val="00B050"/>
              </a:solidFill>
              <a:latin typeface="Arial" pitchFamily="34" charset="0"/>
              <a:ea typeface="SimHei" panose="02010609060101010101" pitchFamily="49" charset="-122"/>
            </a:endParaRPr>
          </a:p>
        </p:txBody>
      </p:sp>
    </p:spTree>
    <p:extLst>
      <p:ext uri="{BB962C8B-B14F-4D97-AF65-F5344CB8AC3E}">
        <p14:creationId xmlns:p14="http://schemas.microsoft.com/office/powerpoint/2010/main" val="4126444106"/>
      </p:ext>
    </p:extLst>
  </p:cSld>
  <p:clrMapOvr>
    <a:masterClrMapping/>
  </p:clrMapOvr>
</p:sld>
</file>

<file path=ppt/slides/slide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>
            <a:extLst>
              <a:ext uri="{FF2B5EF4-FFF2-40B4-BE49-F238E27FC236}">
                <a16:creationId xmlns:a16="http://schemas.microsoft.com/office/drawing/2014/main" id="{90936A00-32F5-4E26-B556-D2569CF2A90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dirty="0"/>
              <a:t>流水线的控制信号：</a:t>
            </a:r>
            <a:r>
              <a:rPr lang="zh-CN" altLang="en-CN" dirty="0"/>
              <a:t>指令间对比</a:t>
            </a:r>
            <a:endParaRPr lang="zh-CN" altLang="en-US" dirty="0"/>
          </a:p>
        </p:txBody>
      </p:sp>
      <p:sp>
        <p:nvSpPr>
          <p:cNvPr id="4" name="灯片编号占位符 3">
            <a:extLst>
              <a:ext uri="{FF2B5EF4-FFF2-40B4-BE49-F238E27FC236}">
                <a16:creationId xmlns:a16="http://schemas.microsoft.com/office/drawing/2014/main" id="{62E2FB5F-88C7-46ED-B836-D3EF74FBAE2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1806CE5-282B-4233-8654-09F35EA875E2}" type="slidenum">
              <a:rPr lang="zh-CN" altLang="en-US" smtClean="0"/>
              <a:t>77</a:t>
            </a:fld>
            <a:endParaRPr lang="zh-CN" altLang="en-US"/>
          </a:p>
        </p:txBody>
      </p:sp>
      <p:graphicFrame>
        <p:nvGraphicFramePr>
          <p:cNvPr id="6" name="Group 3">
            <a:extLst>
              <a:ext uri="{FF2B5EF4-FFF2-40B4-BE49-F238E27FC236}">
                <a16:creationId xmlns:a16="http://schemas.microsoft.com/office/drawing/2014/main" id="{EB6782CB-BB70-3E47-B9AE-E230F36896CB}"/>
              </a:ext>
            </a:extLst>
          </p:cNvPr>
          <p:cNvGraphicFramePr>
            <a:graphicFrameLocks/>
          </p:cNvGraphicFramePr>
          <p:nvPr/>
        </p:nvGraphicFramePr>
        <p:xfrm>
          <a:off x="511674" y="1366709"/>
          <a:ext cx="7736976" cy="2643055"/>
        </p:xfrm>
        <a:graphic>
          <a:graphicData uri="http://schemas.openxmlformats.org/drawingml/2006/table">
            <a:tbl>
              <a:tblPr/>
              <a:tblGrid>
                <a:gridCol w="7406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86046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02966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800557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80036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993309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87711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736722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987534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</a:tblGrid>
              <a:tr h="439697">
                <a:tc rowSpan="2">
                  <a:txBody>
                    <a:bodyPr/>
                    <a:lstStyle/>
                    <a:p>
                      <a:pPr marL="0" marR="0" lvl="0" indent="0" algn="ctr" defTabSz="100965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endParaRPr kumimoji="0" lang="zh-CN" altLang="en-US" sz="14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j-lt"/>
                        <a:ea typeface="SimHei" panose="02010609060101010101" pitchFamily="49" charset="-122"/>
                        <a:cs typeface="Arial" panose="020B0604020202020204" pitchFamily="34" charset="0"/>
                      </a:endParaRPr>
                    </a:p>
                  </a:txBody>
                  <a:tcPr marL="0" marR="0" marT="0" marB="0" anchor="ctr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gridSpan="3">
                  <a:txBody>
                    <a:bodyPr/>
                    <a:lstStyle/>
                    <a:p>
                      <a:pPr marL="0" marR="0" lvl="0" indent="0" algn="ctr" defTabSz="100965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altLang="zh-CN" sz="14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j-lt"/>
                          <a:ea typeface="SimHei" panose="02010609060101010101" pitchFamily="49" charset="-122"/>
                          <a:cs typeface="Arial" panose="020B0604020202020204" pitchFamily="34" charset="0"/>
                        </a:rPr>
                        <a:t>EX Stage</a:t>
                      </a:r>
                    </a:p>
                  </a:txBody>
                  <a:tcPr marL="0" marR="0" marT="0" marB="0" anchor="ctr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B4C6E7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CN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zh-CN" altLang="en-US"/>
                    </a:p>
                  </a:txBody>
                  <a:tcPr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gridSpan="3">
                  <a:txBody>
                    <a:bodyPr/>
                    <a:lstStyle/>
                    <a:p>
                      <a:pPr marL="0" marR="0" lvl="0" indent="0" algn="ctr" defTabSz="100965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altLang="zh-CN" sz="14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j-lt"/>
                          <a:ea typeface="SimHei" panose="02010609060101010101" pitchFamily="49" charset="-122"/>
                          <a:cs typeface="Arial" panose="020B0604020202020204" pitchFamily="34" charset="0"/>
                        </a:rPr>
                        <a:t>MEM Stage</a:t>
                      </a:r>
                    </a:p>
                  </a:txBody>
                  <a:tcPr marL="0" marR="0" marT="0" marB="0" anchor="ctr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B4C6E7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CN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zh-CN" altLang="en-US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marL="0" marR="0" lvl="0" indent="0" algn="ctr" defTabSz="100965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altLang="zh-CN" sz="14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j-lt"/>
                          <a:ea typeface="SimHei" panose="02010609060101010101" pitchFamily="49" charset="-122"/>
                          <a:cs typeface="Arial" panose="020B0604020202020204" pitchFamily="34" charset="0"/>
                        </a:rPr>
                        <a:t>WB Stage</a:t>
                      </a:r>
                    </a:p>
                  </a:txBody>
                  <a:tcPr marL="0" marR="0" marT="0" marB="0" anchor="ctr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B4C6E7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CN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74215">
                <a:tc vMerge="1">
                  <a:txBody>
                    <a:bodyPr/>
                    <a:lstStyle/>
                    <a:p>
                      <a:endParaRPr lang="zh-CN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ctr" defTabSz="100965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altLang="zh-CN" sz="14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j-lt"/>
                          <a:ea typeface="SimHei" panose="02010609060101010101" pitchFamily="49" charset="-122"/>
                          <a:cs typeface="Arial" panose="020B0604020202020204" pitchFamily="34" charset="0"/>
                        </a:rPr>
                        <a:t>RegDst</a:t>
                      </a:r>
                      <a:endParaRPr kumimoji="0" lang="en-US" altLang="zh-CN" sz="14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j-lt"/>
                        <a:ea typeface="SimHei" panose="02010609060101010101" pitchFamily="49" charset="-122"/>
                        <a:cs typeface="Arial" panose="020B0604020202020204" pitchFamily="34" charset="0"/>
                      </a:endParaRPr>
                    </a:p>
                  </a:txBody>
                  <a:tcPr marL="0" marR="0" marT="0" marB="0" anchor="ctr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0965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altLang="zh-CN" sz="14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j-lt"/>
                          <a:ea typeface="SimHei" panose="02010609060101010101" pitchFamily="49" charset="-122"/>
                          <a:cs typeface="Arial" panose="020B0604020202020204" pitchFamily="34" charset="0"/>
                        </a:rPr>
                        <a:t>ALUOp</a:t>
                      </a:r>
                      <a:r>
                        <a:rPr kumimoji="0" lang="en-US" altLang="zh-CN" sz="14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j-lt"/>
                          <a:ea typeface="SimHei" panose="02010609060101010101" pitchFamily="49" charset="-122"/>
                          <a:cs typeface="Arial" panose="020B0604020202020204" pitchFamily="34" charset="0"/>
                        </a:rPr>
                        <a:t>[1:0]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0965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altLang="zh-CN" sz="14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j-lt"/>
                          <a:ea typeface="SimHei" panose="02010609060101010101" pitchFamily="49" charset="-122"/>
                          <a:cs typeface="Arial" panose="020B0604020202020204" pitchFamily="34" charset="0"/>
                        </a:rPr>
                        <a:t>ALUSrc</a:t>
                      </a:r>
                      <a:endParaRPr kumimoji="0" lang="en-US" altLang="zh-CN" sz="14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j-lt"/>
                        <a:ea typeface="SimHei" panose="02010609060101010101" pitchFamily="49" charset="-122"/>
                        <a:cs typeface="Arial" panose="020B0604020202020204" pitchFamily="34" charset="0"/>
                      </a:endParaRP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0965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altLang="zh-CN" sz="14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j-lt"/>
                          <a:ea typeface="SimHei" panose="02010609060101010101" pitchFamily="49" charset="-122"/>
                          <a:cs typeface="Arial" panose="020B0604020202020204" pitchFamily="34" charset="0"/>
                        </a:rPr>
                        <a:t>Branch</a:t>
                      </a:r>
                    </a:p>
                  </a:txBody>
                  <a:tcPr marL="0" marR="0" marT="0" marB="0" anchor="ctr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0965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altLang="zh-CN" sz="14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j-lt"/>
                          <a:ea typeface="SimHei" panose="02010609060101010101" pitchFamily="49" charset="-122"/>
                          <a:cs typeface="Arial" panose="020B0604020202020204" pitchFamily="34" charset="0"/>
                        </a:rPr>
                        <a:t>MemRead</a:t>
                      </a:r>
                      <a:endParaRPr kumimoji="0" lang="en-US" altLang="zh-CN" sz="14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j-lt"/>
                        <a:ea typeface="SimHei" panose="02010609060101010101" pitchFamily="49" charset="-122"/>
                        <a:cs typeface="Arial" panose="020B0604020202020204" pitchFamily="34" charset="0"/>
                      </a:endParaRP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0965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altLang="zh-CN" sz="14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j-lt"/>
                          <a:ea typeface="SimHei" panose="02010609060101010101" pitchFamily="49" charset="-122"/>
                          <a:cs typeface="Arial" panose="020B0604020202020204" pitchFamily="34" charset="0"/>
                        </a:rPr>
                        <a:t>MemWr</a:t>
                      </a:r>
                      <a:endParaRPr kumimoji="0" lang="en-US" altLang="zh-CN" sz="14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j-lt"/>
                        <a:ea typeface="SimHei" panose="02010609060101010101" pitchFamily="49" charset="-122"/>
                        <a:cs typeface="Arial" panose="020B0604020202020204" pitchFamily="34" charset="0"/>
                      </a:endParaRP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0965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altLang="zh-CN" sz="14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j-lt"/>
                          <a:ea typeface="SimHei" panose="02010609060101010101" pitchFamily="49" charset="-122"/>
                          <a:cs typeface="Arial" panose="020B0604020202020204" pitchFamily="34" charset="0"/>
                        </a:rPr>
                        <a:t>RegWr</a:t>
                      </a:r>
                      <a:endParaRPr kumimoji="0" lang="en-US" altLang="zh-CN" sz="14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j-lt"/>
                        <a:ea typeface="SimHei" panose="02010609060101010101" pitchFamily="49" charset="-122"/>
                        <a:cs typeface="Arial" panose="020B0604020202020204" pitchFamily="34" charset="0"/>
                      </a:endParaRPr>
                    </a:p>
                  </a:txBody>
                  <a:tcPr marL="0" marR="0" marT="0" marB="0" anchor="ctr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0965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altLang="zh-CN" sz="14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j-lt"/>
                          <a:ea typeface="SimHei" panose="02010609060101010101" pitchFamily="49" charset="-122"/>
                          <a:cs typeface="Arial" panose="020B0604020202020204" pitchFamily="34" charset="0"/>
                        </a:rPr>
                        <a:t>MemtoReg</a:t>
                      </a:r>
                      <a:endParaRPr kumimoji="0" lang="en-US" altLang="zh-CN" sz="14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j-lt"/>
                        <a:ea typeface="SimHei" panose="02010609060101010101" pitchFamily="49" charset="-122"/>
                        <a:cs typeface="Arial" panose="020B0604020202020204" pitchFamily="34" charset="0"/>
                      </a:endParaRP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414994">
                <a:tc>
                  <a:txBody>
                    <a:bodyPr/>
                    <a:lstStyle/>
                    <a:p>
                      <a:pPr marL="0" marR="0" lvl="0" indent="0" algn="ctr" defTabSz="100965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altLang="zh-CN" sz="14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j-lt"/>
                          <a:ea typeface="SimHei" panose="02010609060101010101" pitchFamily="49" charset="-122"/>
                          <a:cs typeface="Arial" panose="020B0604020202020204" pitchFamily="34" charset="0"/>
                        </a:rPr>
                        <a:t>R</a:t>
                      </a:r>
                    </a:p>
                  </a:txBody>
                  <a:tcPr marL="0" marR="0" marT="0" marB="0" anchor="ctr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0965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altLang="zh-CN" sz="14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j-lt"/>
                          <a:ea typeface="SimHei" panose="02010609060101010101" pitchFamily="49" charset="-122"/>
                          <a:cs typeface="Arial" panose="020B0604020202020204" pitchFamily="34" charset="0"/>
                        </a:rPr>
                        <a:t>1</a:t>
                      </a:r>
                    </a:p>
                  </a:txBody>
                  <a:tcPr marL="0" marR="0" marT="0" marB="0" anchor="ctr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0965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altLang="zh-CN" sz="14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j-lt"/>
                          <a:ea typeface="SimHei" panose="02010609060101010101" pitchFamily="49" charset="-122"/>
                          <a:cs typeface="Arial" panose="020B0604020202020204" pitchFamily="34" charset="0"/>
                        </a:rPr>
                        <a:t>10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0965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altLang="zh-CN" sz="14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j-lt"/>
                          <a:ea typeface="SimHei" panose="02010609060101010101" pitchFamily="49" charset="-122"/>
                          <a:cs typeface="Arial" panose="020B0604020202020204" pitchFamily="34" charset="0"/>
                        </a:rPr>
                        <a:t>0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0965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altLang="zh-CN" sz="14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j-lt"/>
                          <a:ea typeface="SimHei" panose="02010609060101010101" pitchFamily="49" charset="-122"/>
                          <a:cs typeface="Arial" panose="020B0604020202020204" pitchFamily="34" charset="0"/>
                        </a:rPr>
                        <a:t>0</a:t>
                      </a:r>
                    </a:p>
                  </a:txBody>
                  <a:tcPr marL="0" marR="0" marT="0" marB="0" anchor="ctr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0965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altLang="zh-CN" sz="14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j-lt"/>
                          <a:ea typeface="SimHei" panose="02010609060101010101" pitchFamily="49" charset="-122"/>
                          <a:cs typeface="Arial" panose="020B0604020202020204" pitchFamily="34" charset="0"/>
                        </a:rPr>
                        <a:t>0</a:t>
                      </a:r>
                      <a:r>
                        <a:rPr kumimoji="0" lang="en-US" altLang="zh-CN" sz="14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latin typeface="+mj-lt"/>
                          <a:ea typeface="SimHei" panose="02010609060101010101" pitchFamily="49" charset="-122"/>
                          <a:cs typeface="Arial" panose="020B0604020202020204" pitchFamily="34" charset="0"/>
                        </a:rPr>
                        <a:t>/X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0965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altLang="zh-CN" sz="14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j-lt"/>
                          <a:ea typeface="SimHei" panose="02010609060101010101" pitchFamily="49" charset="-122"/>
                          <a:cs typeface="Arial" panose="020B0604020202020204" pitchFamily="34" charset="0"/>
                        </a:rPr>
                        <a:t>0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0965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altLang="zh-CN" sz="14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j-lt"/>
                          <a:ea typeface="SimHei" panose="02010609060101010101" pitchFamily="49" charset="-122"/>
                          <a:cs typeface="Arial" panose="020B0604020202020204" pitchFamily="34" charset="0"/>
                        </a:rPr>
                        <a:t>1</a:t>
                      </a:r>
                    </a:p>
                  </a:txBody>
                  <a:tcPr marL="0" marR="0" marT="0" marB="0" anchor="ctr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0965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altLang="zh-CN" sz="14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j-lt"/>
                          <a:ea typeface="SimHei" panose="02010609060101010101" pitchFamily="49" charset="-122"/>
                          <a:cs typeface="Arial" panose="020B0604020202020204" pitchFamily="34" charset="0"/>
                        </a:rPr>
                        <a:t>0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438049">
                <a:tc>
                  <a:txBody>
                    <a:bodyPr/>
                    <a:lstStyle/>
                    <a:p>
                      <a:pPr marL="0" marR="0" lvl="0" indent="0" algn="ctr" defTabSz="100965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altLang="zh-CN" sz="14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j-lt"/>
                          <a:ea typeface="SimHei" panose="02010609060101010101" pitchFamily="49" charset="-122"/>
                          <a:cs typeface="Arial" panose="020B0604020202020204" pitchFamily="34" charset="0"/>
                        </a:rPr>
                        <a:t>lw</a:t>
                      </a:r>
                      <a:endParaRPr kumimoji="0" lang="en-US" altLang="zh-CN" sz="14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j-lt"/>
                        <a:ea typeface="SimHei" panose="02010609060101010101" pitchFamily="49" charset="-122"/>
                        <a:cs typeface="Arial" panose="020B0604020202020204" pitchFamily="34" charset="0"/>
                      </a:endParaRPr>
                    </a:p>
                  </a:txBody>
                  <a:tcPr marL="0" marR="0" marT="0" marB="0" anchor="ctr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0965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altLang="zh-CN" sz="14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j-lt"/>
                          <a:ea typeface="SimHei" panose="02010609060101010101" pitchFamily="49" charset="-122"/>
                          <a:cs typeface="Arial" panose="020B0604020202020204" pitchFamily="34" charset="0"/>
                        </a:rPr>
                        <a:t>0</a:t>
                      </a:r>
                    </a:p>
                  </a:txBody>
                  <a:tcPr marL="0" marR="0" marT="0" marB="0" anchor="ctr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0965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altLang="zh-CN" sz="14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j-lt"/>
                          <a:ea typeface="SimHei" panose="02010609060101010101" pitchFamily="49" charset="-122"/>
                          <a:cs typeface="Arial" panose="020B0604020202020204" pitchFamily="34" charset="0"/>
                        </a:rPr>
                        <a:t>00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0965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altLang="zh-CN" sz="14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j-lt"/>
                          <a:ea typeface="SimHei" panose="02010609060101010101" pitchFamily="49" charset="-122"/>
                          <a:cs typeface="Arial" panose="020B0604020202020204" pitchFamily="34" charset="0"/>
                        </a:rPr>
                        <a:t>1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0965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altLang="zh-CN" sz="14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j-lt"/>
                          <a:ea typeface="SimHei" panose="02010609060101010101" pitchFamily="49" charset="-122"/>
                          <a:cs typeface="Arial" panose="020B0604020202020204" pitchFamily="34" charset="0"/>
                        </a:rPr>
                        <a:t>0</a:t>
                      </a:r>
                    </a:p>
                  </a:txBody>
                  <a:tcPr marL="0" marR="0" marT="0" marB="0" anchor="ctr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0965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altLang="zh-CN" sz="14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j-lt"/>
                          <a:ea typeface="SimHei" panose="02010609060101010101" pitchFamily="49" charset="-122"/>
                          <a:cs typeface="Arial" panose="020B0604020202020204" pitchFamily="34" charset="0"/>
                        </a:rPr>
                        <a:t>1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0965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altLang="zh-CN" sz="14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j-lt"/>
                          <a:ea typeface="SimHei" panose="02010609060101010101" pitchFamily="49" charset="-122"/>
                          <a:cs typeface="Arial" panose="020B0604020202020204" pitchFamily="34" charset="0"/>
                        </a:rPr>
                        <a:t>0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0965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altLang="zh-CN" sz="14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j-lt"/>
                          <a:ea typeface="SimHei" panose="02010609060101010101" pitchFamily="49" charset="-122"/>
                          <a:cs typeface="Arial" panose="020B0604020202020204" pitchFamily="34" charset="0"/>
                        </a:rPr>
                        <a:t>1</a:t>
                      </a:r>
                    </a:p>
                  </a:txBody>
                  <a:tcPr marL="0" marR="0" marT="0" marB="0" anchor="ctr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0965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altLang="zh-CN" sz="14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j-lt"/>
                          <a:ea typeface="SimHei" panose="02010609060101010101" pitchFamily="49" charset="-122"/>
                          <a:cs typeface="Arial" panose="020B0604020202020204" pitchFamily="34" charset="0"/>
                        </a:rPr>
                        <a:t>1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436403">
                <a:tc>
                  <a:txBody>
                    <a:bodyPr/>
                    <a:lstStyle/>
                    <a:p>
                      <a:pPr marL="0" marR="0" lvl="0" indent="0" algn="ctr" defTabSz="100965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altLang="zh-CN" sz="14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j-lt"/>
                          <a:ea typeface="SimHei" panose="02010609060101010101" pitchFamily="49" charset="-122"/>
                          <a:cs typeface="Arial" panose="020B0604020202020204" pitchFamily="34" charset="0"/>
                        </a:rPr>
                        <a:t>sw</a:t>
                      </a:r>
                      <a:endParaRPr kumimoji="0" lang="en-US" altLang="zh-CN" sz="14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j-lt"/>
                        <a:ea typeface="SimHei" panose="02010609060101010101" pitchFamily="49" charset="-122"/>
                        <a:cs typeface="Arial" panose="020B0604020202020204" pitchFamily="34" charset="0"/>
                      </a:endParaRPr>
                    </a:p>
                  </a:txBody>
                  <a:tcPr marL="0" marR="0" marT="0" marB="0" anchor="ctr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0965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altLang="zh-CN" sz="14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j-lt"/>
                          <a:ea typeface="SimHei" panose="02010609060101010101" pitchFamily="49" charset="-122"/>
                          <a:cs typeface="Arial" panose="020B0604020202020204" pitchFamily="34" charset="0"/>
                        </a:rPr>
                        <a:t>X</a:t>
                      </a:r>
                    </a:p>
                  </a:txBody>
                  <a:tcPr marL="0" marR="0" marT="0" marB="0" anchor="ctr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0965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altLang="zh-CN" sz="14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j-lt"/>
                          <a:ea typeface="SimHei" panose="02010609060101010101" pitchFamily="49" charset="-122"/>
                          <a:cs typeface="Arial" panose="020B0604020202020204" pitchFamily="34" charset="0"/>
                        </a:rPr>
                        <a:t>00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0965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altLang="zh-CN" sz="14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j-lt"/>
                          <a:ea typeface="SimHei" panose="02010609060101010101" pitchFamily="49" charset="-122"/>
                          <a:cs typeface="Arial" panose="020B0604020202020204" pitchFamily="34" charset="0"/>
                        </a:rPr>
                        <a:t>1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0965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altLang="zh-CN" sz="14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j-lt"/>
                          <a:ea typeface="SimHei" panose="02010609060101010101" pitchFamily="49" charset="-122"/>
                          <a:cs typeface="Arial" panose="020B0604020202020204" pitchFamily="34" charset="0"/>
                        </a:rPr>
                        <a:t>0</a:t>
                      </a:r>
                    </a:p>
                  </a:txBody>
                  <a:tcPr marL="0" marR="0" marT="0" marB="0" anchor="ctr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0965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altLang="zh-CN" sz="14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j-lt"/>
                          <a:ea typeface="SimHei" panose="02010609060101010101" pitchFamily="49" charset="-122"/>
                          <a:cs typeface="Arial" panose="020B0604020202020204" pitchFamily="34" charset="0"/>
                        </a:rPr>
                        <a:t>0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0965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altLang="zh-CN" sz="14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j-lt"/>
                          <a:ea typeface="SimHei" panose="02010609060101010101" pitchFamily="49" charset="-122"/>
                          <a:cs typeface="Arial" panose="020B0604020202020204" pitchFamily="34" charset="0"/>
                        </a:rPr>
                        <a:t>1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0965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altLang="zh-CN" sz="14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j-lt"/>
                          <a:ea typeface="SimHei" panose="02010609060101010101" pitchFamily="49" charset="-122"/>
                          <a:cs typeface="Arial" panose="020B0604020202020204" pitchFamily="34" charset="0"/>
                        </a:rPr>
                        <a:t>0</a:t>
                      </a:r>
                    </a:p>
                  </a:txBody>
                  <a:tcPr marL="0" marR="0" marT="0" marB="0" anchor="ctr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0965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altLang="zh-CN" sz="14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j-lt"/>
                          <a:ea typeface="SimHei" panose="02010609060101010101" pitchFamily="49" charset="-122"/>
                          <a:cs typeface="Arial" panose="020B0604020202020204" pitchFamily="34" charset="0"/>
                        </a:rPr>
                        <a:t>X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439697">
                <a:tc>
                  <a:txBody>
                    <a:bodyPr/>
                    <a:lstStyle/>
                    <a:p>
                      <a:pPr marL="0" marR="0" lvl="0" indent="0" algn="ctr" defTabSz="100965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altLang="zh-CN" sz="14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j-lt"/>
                          <a:ea typeface="SimHei" panose="02010609060101010101" pitchFamily="49" charset="-122"/>
                          <a:cs typeface="Arial" panose="020B0604020202020204" pitchFamily="34" charset="0"/>
                        </a:rPr>
                        <a:t>beq</a:t>
                      </a:r>
                      <a:endParaRPr kumimoji="0" lang="en-US" altLang="zh-CN" sz="14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j-lt"/>
                        <a:ea typeface="SimHei" panose="02010609060101010101" pitchFamily="49" charset="-122"/>
                        <a:cs typeface="Arial" panose="020B0604020202020204" pitchFamily="34" charset="0"/>
                      </a:endParaRPr>
                    </a:p>
                  </a:txBody>
                  <a:tcPr marL="0" marR="0" marT="0" marB="0" anchor="ctr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0965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altLang="zh-CN" sz="14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j-lt"/>
                          <a:ea typeface="SimHei" panose="02010609060101010101" pitchFamily="49" charset="-122"/>
                          <a:cs typeface="Arial" panose="020B0604020202020204" pitchFamily="34" charset="0"/>
                        </a:rPr>
                        <a:t>X</a:t>
                      </a:r>
                    </a:p>
                  </a:txBody>
                  <a:tcPr marL="0" marR="0" marT="0" marB="0" anchor="ctr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0965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altLang="zh-CN" sz="14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j-lt"/>
                          <a:ea typeface="SimHei" panose="02010609060101010101" pitchFamily="49" charset="-122"/>
                          <a:cs typeface="Arial" panose="020B0604020202020204" pitchFamily="34" charset="0"/>
                        </a:rPr>
                        <a:t>01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0965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altLang="zh-CN" sz="14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j-lt"/>
                          <a:ea typeface="SimHei" panose="02010609060101010101" pitchFamily="49" charset="-122"/>
                          <a:cs typeface="Arial" panose="020B0604020202020204" pitchFamily="34" charset="0"/>
                        </a:rPr>
                        <a:t>0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0965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altLang="zh-CN" sz="14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j-lt"/>
                          <a:ea typeface="SimHei" panose="02010609060101010101" pitchFamily="49" charset="-122"/>
                          <a:cs typeface="Arial" panose="020B0604020202020204" pitchFamily="34" charset="0"/>
                        </a:rPr>
                        <a:t>1</a:t>
                      </a:r>
                    </a:p>
                  </a:txBody>
                  <a:tcPr marL="0" marR="0" marT="0" marB="0" anchor="ctr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0965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altLang="zh-CN" sz="14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j-lt"/>
                          <a:ea typeface="SimHei" panose="02010609060101010101" pitchFamily="49" charset="-122"/>
                          <a:cs typeface="Arial" panose="020B0604020202020204" pitchFamily="34" charset="0"/>
                        </a:rPr>
                        <a:t>0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0965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altLang="zh-CN" sz="14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j-lt"/>
                          <a:ea typeface="SimHei" panose="02010609060101010101" pitchFamily="49" charset="-122"/>
                          <a:cs typeface="Arial" panose="020B0604020202020204" pitchFamily="34" charset="0"/>
                        </a:rPr>
                        <a:t>0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0965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altLang="zh-CN" sz="14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j-lt"/>
                          <a:ea typeface="SimHei" panose="02010609060101010101" pitchFamily="49" charset="-122"/>
                          <a:cs typeface="Arial" panose="020B0604020202020204" pitchFamily="34" charset="0"/>
                        </a:rPr>
                        <a:t>0</a:t>
                      </a:r>
                    </a:p>
                  </a:txBody>
                  <a:tcPr marL="0" marR="0" marT="0" marB="0" anchor="ctr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0965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altLang="zh-CN" sz="14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j-lt"/>
                          <a:ea typeface="SimHei" panose="02010609060101010101" pitchFamily="49" charset="-122"/>
                          <a:cs typeface="Arial" panose="020B0604020202020204" pitchFamily="34" charset="0"/>
                        </a:rPr>
                        <a:t>X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</a:tbl>
          </a:graphicData>
        </a:graphic>
      </p:graphicFrame>
      <p:sp>
        <p:nvSpPr>
          <p:cNvPr id="7" name="Text Box 75">
            <a:extLst>
              <a:ext uri="{FF2B5EF4-FFF2-40B4-BE49-F238E27FC236}">
                <a16:creationId xmlns:a16="http://schemas.microsoft.com/office/drawing/2014/main" id="{BBA4194B-C19A-AA48-843F-A6115E27F8A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38200" y="4283466"/>
            <a:ext cx="7412576" cy="52320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1425" tIns="45713" rIns="91425" bIns="45713">
            <a:spAutoFit/>
          </a:bodyPr>
          <a:lstStyle>
            <a:lvl1pPr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1pPr>
            <a:lvl2pPr marL="742950" indent="-28575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2pPr>
            <a:lvl3pPr marL="11430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3pPr>
            <a:lvl4pPr marL="16002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4pPr>
            <a:lvl5pPr marL="20574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9pPr>
          </a:lstStyle>
          <a:p>
            <a:r>
              <a:rPr lang="en-US" altLang="zh-CN" sz="2800" b="0" dirty="0">
                <a:latin typeface="Arial" pitchFamily="34" charset="0"/>
                <a:ea typeface="SimHei" panose="02010609060101010101" pitchFamily="49" charset="-122"/>
              </a:rPr>
              <a:t>Q:</a:t>
            </a:r>
            <a:r>
              <a:rPr lang="en-US" altLang="zh-CN" b="0" dirty="0">
                <a:latin typeface="Arial" pitchFamily="34" charset="0"/>
                <a:ea typeface="SimHei" panose="02010609060101010101" pitchFamily="49" charset="-122"/>
              </a:rPr>
              <a:t> </a:t>
            </a:r>
            <a:r>
              <a:rPr lang="zh-CN" altLang="en-US" sz="2400" b="0" dirty="0">
                <a:latin typeface="Arial" pitchFamily="34" charset="0"/>
                <a:ea typeface="SimHei" panose="02010609060101010101" pitchFamily="49" charset="-122"/>
              </a:rPr>
              <a:t>为什么不考虑流水线状态寄存器的写入使能信号</a:t>
            </a:r>
            <a:r>
              <a:rPr lang="en-US" altLang="zh-CN" sz="2400" b="0" dirty="0">
                <a:latin typeface="Arial" pitchFamily="34" charset="0"/>
                <a:ea typeface="SimHei" panose="02010609060101010101" pitchFamily="49" charset="-122"/>
              </a:rPr>
              <a:t>?</a:t>
            </a:r>
          </a:p>
        </p:txBody>
      </p:sp>
      <p:sp>
        <p:nvSpPr>
          <p:cNvPr id="8" name="Text Box 76">
            <a:extLst>
              <a:ext uri="{FF2B5EF4-FFF2-40B4-BE49-F238E27FC236}">
                <a16:creationId xmlns:a16="http://schemas.microsoft.com/office/drawing/2014/main" id="{291EA0F7-F2F2-5148-8A89-7CE7ACBF2DF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38200" y="4686692"/>
            <a:ext cx="6902821" cy="52320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1425" tIns="45713" rIns="91425" bIns="45713">
            <a:spAutoFit/>
          </a:bodyPr>
          <a:lstStyle>
            <a:lvl1pPr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1pPr>
            <a:lvl2pPr marL="742950" indent="-28575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2pPr>
            <a:lvl3pPr marL="11430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3pPr>
            <a:lvl4pPr marL="16002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4pPr>
            <a:lvl5pPr marL="20574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9pPr>
          </a:lstStyle>
          <a:p>
            <a:r>
              <a:rPr lang="en-US" altLang="zh-CN" sz="2800" b="0" dirty="0">
                <a:solidFill>
                  <a:srgbClr val="3333FF"/>
                </a:solidFill>
                <a:latin typeface="Arial" pitchFamily="34" charset="0"/>
                <a:ea typeface="SimHei" panose="02010609060101010101" pitchFamily="49" charset="-122"/>
              </a:rPr>
              <a:t>A:</a:t>
            </a:r>
            <a:r>
              <a:rPr lang="zh-CN" altLang="en-US" sz="2800" b="0" dirty="0">
                <a:solidFill>
                  <a:srgbClr val="3333FF"/>
                </a:solidFill>
                <a:latin typeface="Arial" pitchFamily="34" charset="0"/>
                <a:ea typeface="SimHei" panose="02010609060101010101" pitchFamily="49" charset="-122"/>
              </a:rPr>
              <a:t>（</a:t>
            </a:r>
            <a:r>
              <a:rPr lang="zh-CN" altLang="en-US" sz="2400" b="0" dirty="0">
                <a:solidFill>
                  <a:srgbClr val="3333FF"/>
                </a:solidFill>
                <a:latin typeface="Arial" pitchFamily="34" charset="0"/>
                <a:ea typeface="SimHei" panose="02010609060101010101" pitchFamily="49" charset="-122"/>
              </a:rPr>
              <a:t>目前认为）总是写入的，可认为是恒定有效</a:t>
            </a:r>
            <a:endParaRPr lang="en-US" altLang="zh-CN" sz="2400" b="0" dirty="0">
              <a:solidFill>
                <a:srgbClr val="3333FF"/>
              </a:solidFill>
              <a:latin typeface="Arial" pitchFamily="34" charset="0"/>
              <a:ea typeface="SimHei" panose="02010609060101010101" pitchFamily="49" charset="-122"/>
            </a:endParaRPr>
          </a:p>
        </p:txBody>
      </p:sp>
      <p:sp>
        <p:nvSpPr>
          <p:cNvPr id="9" name="Text Box 77">
            <a:extLst>
              <a:ext uri="{FF2B5EF4-FFF2-40B4-BE49-F238E27FC236}">
                <a16:creationId xmlns:a16="http://schemas.microsoft.com/office/drawing/2014/main" id="{626411C2-CA71-1E47-862D-4DB65A2488B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38200" y="5129604"/>
            <a:ext cx="6984574" cy="52320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1425" tIns="45713" rIns="91425" bIns="45713">
            <a:spAutoFit/>
          </a:bodyPr>
          <a:lstStyle>
            <a:lvl1pPr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1pPr>
            <a:lvl2pPr marL="742950" indent="-28575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2pPr>
            <a:lvl3pPr marL="11430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3pPr>
            <a:lvl4pPr marL="16002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4pPr>
            <a:lvl5pPr marL="20574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9pPr>
          </a:lstStyle>
          <a:p>
            <a:r>
              <a:rPr lang="en-US" altLang="zh-CN" sz="2800" b="0" dirty="0">
                <a:latin typeface="Arial" pitchFamily="34" charset="0"/>
                <a:ea typeface="SimHei" panose="02010609060101010101" pitchFamily="49" charset="-122"/>
              </a:rPr>
              <a:t>Q:</a:t>
            </a:r>
            <a:r>
              <a:rPr lang="en-US" altLang="zh-CN" b="0" dirty="0">
                <a:latin typeface="Arial" pitchFamily="34" charset="0"/>
                <a:ea typeface="SimHei" panose="02010609060101010101" pitchFamily="49" charset="-122"/>
              </a:rPr>
              <a:t> </a:t>
            </a:r>
            <a:r>
              <a:rPr lang="zh-CN" altLang="en-US" sz="2400" b="0" dirty="0">
                <a:latin typeface="Arial" pitchFamily="34" charset="0"/>
                <a:ea typeface="SimHei" panose="02010609060101010101" pitchFamily="49" charset="-122"/>
              </a:rPr>
              <a:t>为什么没考虑</a:t>
            </a:r>
            <a:r>
              <a:rPr lang="en-US" altLang="zh-CN" sz="2400" b="0" dirty="0">
                <a:latin typeface="Arial" pitchFamily="34" charset="0"/>
                <a:ea typeface="SimHei" panose="02010609060101010101" pitchFamily="49" charset="-122"/>
              </a:rPr>
              <a:t>IF</a:t>
            </a:r>
            <a:r>
              <a:rPr lang="zh-CN" altLang="en-US" sz="2400" b="0" dirty="0">
                <a:latin typeface="Arial" pitchFamily="34" charset="0"/>
                <a:ea typeface="SimHei" panose="02010609060101010101" pitchFamily="49" charset="-122"/>
              </a:rPr>
              <a:t>和</a:t>
            </a:r>
            <a:r>
              <a:rPr lang="en-US" altLang="zh-CN" sz="2400" b="0" dirty="0">
                <a:latin typeface="Arial" pitchFamily="34" charset="0"/>
                <a:ea typeface="SimHei" panose="02010609060101010101" pitchFamily="49" charset="-122"/>
              </a:rPr>
              <a:t>ID</a:t>
            </a:r>
            <a:r>
              <a:rPr lang="zh-CN" altLang="en-US" sz="2400" b="0" dirty="0">
                <a:latin typeface="Arial" pitchFamily="34" charset="0"/>
                <a:ea typeface="SimHei" panose="02010609060101010101" pitchFamily="49" charset="-122"/>
              </a:rPr>
              <a:t>阶段的寄存器的控制信号</a:t>
            </a:r>
            <a:r>
              <a:rPr lang="en-US" altLang="zh-CN" sz="2400" b="0" dirty="0">
                <a:latin typeface="Arial" pitchFamily="34" charset="0"/>
                <a:ea typeface="SimHei" panose="02010609060101010101" pitchFamily="49" charset="-122"/>
              </a:rPr>
              <a:t>?</a:t>
            </a:r>
          </a:p>
        </p:txBody>
      </p:sp>
      <p:sp>
        <p:nvSpPr>
          <p:cNvPr id="10" name="Text Box 78">
            <a:extLst>
              <a:ext uri="{FF2B5EF4-FFF2-40B4-BE49-F238E27FC236}">
                <a16:creationId xmlns:a16="http://schemas.microsoft.com/office/drawing/2014/main" id="{BFE7301F-27EB-734D-90F1-A4E3D71C84A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38200" y="5601092"/>
            <a:ext cx="7142163" cy="5191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1425" tIns="45713" rIns="91425" bIns="45713">
            <a:spAutoFit/>
          </a:bodyPr>
          <a:lstStyle>
            <a:lvl1pPr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1pPr>
            <a:lvl2pPr marL="742950" indent="-28575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2pPr>
            <a:lvl3pPr marL="11430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3pPr>
            <a:lvl4pPr marL="16002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4pPr>
            <a:lvl5pPr marL="20574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9pPr>
          </a:lstStyle>
          <a:p>
            <a:r>
              <a:rPr lang="en-US" altLang="zh-CN" sz="2800" b="0" dirty="0">
                <a:solidFill>
                  <a:srgbClr val="3333FF"/>
                </a:solidFill>
                <a:latin typeface="Arial" pitchFamily="34" charset="0"/>
                <a:ea typeface="SimHei" panose="02010609060101010101" pitchFamily="49" charset="-122"/>
              </a:rPr>
              <a:t>A:</a:t>
            </a:r>
            <a:r>
              <a:rPr lang="en-US" altLang="zh-CN" b="0" dirty="0">
                <a:solidFill>
                  <a:srgbClr val="3333FF"/>
                </a:solidFill>
                <a:latin typeface="Arial" pitchFamily="34" charset="0"/>
                <a:ea typeface="SimHei" panose="02010609060101010101" pitchFamily="49" charset="-122"/>
              </a:rPr>
              <a:t> </a:t>
            </a:r>
            <a:r>
              <a:rPr lang="zh-CN" altLang="en-US" sz="2400" b="0" dirty="0">
                <a:solidFill>
                  <a:srgbClr val="3333FF"/>
                </a:solidFill>
                <a:latin typeface="Arial" pitchFamily="34" charset="0"/>
                <a:ea typeface="SimHei" panose="02010609060101010101" pitchFamily="49" charset="-122"/>
              </a:rPr>
              <a:t>对于所有指令都是相同的</a:t>
            </a:r>
          </a:p>
        </p:txBody>
      </p:sp>
    </p:spTree>
    <p:extLst>
      <p:ext uri="{BB962C8B-B14F-4D97-AF65-F5344CB8AC3E}">
        <p14:creationId xmlns:p14="http://schemas.microsoft.com/office/powerpoint/2010/main" val="300479401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/>
      <p:bldP spid="8" grpId="0"/>
      <p:bldP spid="9" grpId="0"/>
      <p:bldP spid="10" grpId="0"/>
    </p:bldLst>
  </p:timing>
</p:sld>
</file>

<file path=ppt/slides/slide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>
            <a:extLst>
              <a:ext uri="{FF2B5EF4-FFF2-40B4-BE49-F238E27FC236}">
                <a16:creationId xmlns:a16="http://schemas.microsoft.com/office/drawing/2014/main" id="{9FAA486D-512E-463C-9732-EDDCBE4370AD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dirty="0"/>
              <a:t>流水线的控制信号</a:t>
            </a:r>
          </a:p>
        </p:txBody>
      </p:sp>
      <p:sp>
        <p:nvSpPr>
          <p:cNvPr id="3" name="内容占位符 2">
            <a:extLst>
              <a:ext uri="{FF2B5EF4-FFF2-40B4-BE49-F238E27FC236}">
                <a16:creationId xmlns:a16="http://schemas.microsoft.com/office/drawing/2014/main" id="{3A6B56FD-E505-4D1B-933E-C93A27719005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457200" y="1166021"/>
            <a:ext cx="8648700" cy="826958"/>
          </a:xfrm>
        </p:spPr>
        <p:txBody>
          <a:bodyPr/>
          <a:lstStyle/>
          <a:p>
            <a:r>
              <a:rPr lang="zh-CN" altLang="en-US" sz="2400" b="0" dirty="0">
                <a:latin typeface="SimHei" panose="02010609060101010101" pitchFamily="49" charset="-122"/>
                <a:ea typeface="SimHei" panose="02010609060101010101" pitchFamily="49" charset="-122"/>
              </a:rPr>
              <a:t>控制信号均在</a:t>
            </a:r>
            <a:r>
              <a:rPr lang="en-US" altLang="zh-CN" sz="2400" b="0" dirty="0">
                <a:latin typeface="SimHei" panose="02010609060101010101" pitchFamily="49" charset="-122"/>
                <a:ea typeface="SimHei" panose="02010609060101010101" pitchFamily="49" charset="-122"/>
              </a:rPr>
              <a:t>ID</a:t>
            </a:r>
            <a:r>
              <a:rPr lang="zh-CN" altLang="en-US" sz="2400" b="0" dirty="0">
                <a:latin typeface="SimHei" panose="02010609060101010101" pitchFamily="49" charset="-122"/>
                <a:ea typeface="SimHei" panose="02010609060101010101" pitchFamily="49" charset="-122"/>
              </a:rPr>
              <a:t>阶段决定，需要在各级流水中根据需要保存</a:t>
            </a:r>
            <a:endParaRPr lang="en-US" altLang="zh-CN" sz="2400" b="0" dirty="0">
              <a:latin typeface="SimHei" panose="02010609060101010101" pitchFamily="49" charset="-122"/>
              <a:ea typeface="SimHei" panose="02010609060101010101" pitchFamily="49" charset="-122"/>
            </a:endParaRPr>
          </a:p>
        </p:txBody>
      </p:sp>
      <p:sp>
        <p:nvSpPr>
          <p:cNvPr id="4" name="灯片编号占位符 3">
            <a:extLst>
              <a:ext uri="{FF2B5EF4-FFF2-40B4-BE49-F238E27FC236}">
                <a16:creationId xmlns:a16="http://schemas.microsoft.com/office/drawing/2014/main" id="{200D47AE-A815-4C68-ADBF-678B125383D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1806CE5-282B-4233-8654-09F35EA875E2}" type="slidenum">
              <a:rPr lang="zh-CN" altLang="en-US" smtClean="0"/>
              <a:t>78</a:t>
            </a:fld>
            <a:endParaRPr lang="zh-CN" altLang="en-US"/>
          </a:p>
        </p:txBody>
      </p:sp>
      <p:sp>
        <p:nvSpPr>
          <p:cNvPr id="185" name="Line 8">
            <a:extLst>
              <a:ext uri="{FF2B5EF4-FFF2-40B4-BE49-F238E27FC236}">
                <a16:creationId xmlns:a16="http://schemas.microsoft.com/office/drawing/2014/main" id="{504E1DBE-7CD3-4568-AC43-84D191A2A455}"/>
              </a:ext>
            </a:extLst>
          </p:cNvPr>
          <p:cNvSpPr>
            <a:spLocks noChangeShapeType="1"/>
          </p:cNvSpPr>
          <p:nvPr/>
        </p:nvSpPr>
        <p:spPr bwMode="auto">
          <a:xfrm>
            <a:off x="2851382" y="5700765"/>
            <a:ext cx="1747538" cy="0"/>
          </a:xfrm>
          <a:prstGeom prst="line">
            <a:avLst/>
          </a:prstGeom>
          <a:noFill/>
          <a:ln w="19050">
            <a:solidFill>
              <a:sysClr val="windowText" lastClr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</a:endParaRPr>
          </a:p>
        </p:txBody>
      </p:sp>
      <p:sp>
        <p:nvSpPr>
          <p:cNvPr id="186" name="Line 9">
            <a:extLst>
              <a:ext uri="{FF2B5EF4-FFF2-40B4-BE49-F238E27FC236}">
                <a16:creationId xmlns:a16="http://schemas.microsoft.com/office/drawing/2014/main" id="{551B0296-6514-46D5-95FB-391CFFBCF58B}"/>
              </a:ext>
            </a:extLst>
          </p:cNvPr>
          <p:cNvSpPr>
            <a:spLocks noChangeShapeType="1"/>
          </p:cNvSpPr>
          <p:nvPr/>
        </p:nvSpPr>
        <p:spPr bwMode="auto">
          <a:xfrm>
            <a:off x="4750880" y="5700765"/>
            <a:ext cx="262057" cy="0"/>
          </a:xfrm>
          <a:prstGeom prst="line">
            <a:avLst/>
          </a:prstGeom>
          <a:noFill/>
          <a:ln w="19050">
            <a:solidFill>
              <a:sysClr val="windowText" lastClr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</a:endParaRPr>
          </a:p>
        </p:txBody>
      </p:sp>
      <p:sp>
        <p:nvSpPr>
          <p:cNvPr id="187" name="Line 10">
            <a:extLst>
              <a:ext uri="{FF2B5EF4-FFF2-40B4-BE49-F238E27FC236}">
                <a16:creationId xmlns:a16="http://schemas.microsoft.com/office/drawing/2014/main" id="{0BDA8FD0-E9F8-4B04-A01C-57DD32EEA9FF}"/>
              </a:ext>
            </a:extLst>
          </p:cNvPr>
          <p:cNvSpPr>
            <a:spLocks noChangeShapeType="1"/>
          </p:cNvSpPr>
          <p:nvPr/>
        </p:nvSpPr>
        <p:spPr bwMode="auto">
          <a:xfrm>
            <a:off x="6422438" y="5700765"/>
            <a:ext cx="1671558" cy="0"/>
          </a:xfrm>
          <a:prstGeom prst="line">
            <a:avLst/>
          </a:prstGeom>
          <a:noFill/>
          <a:ln w="19050">
            <a:solidFill>
              <a:sysClr val="windowText" lastClr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</a:endParaRPr>
          </a:p>
        </p:txBody>
      </p:sp>
      <p:sp>
        <p:nvSpPr>
          <p:cNvPr id="188" name="Line 11">
            <a:extLst>
              <a:ext uri="{FF2B5EF4-FFF2-40B4-BE49-F238E27FC236}">
                <a16:creationId xmlns:a16="http://schemas.microsoft.com/office/drawing/2014/main" id="{A29DD12D-D064-4223-8ADF-2DA22CEC1FD9}"/>
              </a:ext>
            </a:extLst>
          </p:cNvPr>
          <p:cNvSpPr>
            <a:spLocks noChangeShapeType="1"/>
          </p:cNvSpPr>
          <p:nvPr/>
        </p:nvSpPr>
        <p:spPr bwMode="auto">
          <a:xfrm>
            <a:off x="2851382" y="5423005"/>
            <a:ext cx="0" cy="277759"/>
          </a:xfrm>
          <a:prstGeom prst="line">
            <a:avLst/>
          </a:prstGeom>
          <a:noFill/>
          <a:ln w="19050">
            <a:solidFill>
              <a:sysClr val="windowText" lastClr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</a:endParaRPr>
          </a:p>
        </p:txBody>
      </p:sp>
      <p:sp>
        <p:nvSpPr>
          <p:cNvPr id="189" name="Line 12">
            <a:extLst>
              <a:ext uri="{FF2B5EF4-FFF2-40B4-BE49-F238E27FC236}">
                <a16:creationId xmlns:a16="http://schemas.microsoft.com/office/drawing/2014/main" id="{81ED8ABC-58F7-49D1-993C-71EC5966F3B4}"/>
              </a:ext>
            </a:extLst>
          </p:cNvPr>
          <p:cNvSpPr>
            <a:spLocks noChangeShapeType="1"/>
          </p:cNvSpPr>
          <p:nvPr/>
        </p:nvSpPr>
        <p:spPr bwMode="auto">
          <a:xfrm>
            <a:off x="2775402" y="6148783"/>
            <a:ext cx="5622515" cy="0"/>
          </a:xfrm>
          <a:prstGeom prst="line">
            <a:avLst/>
          </a:prstGeom>
          <a:noFill/>
          <a:ln w="19050">
            <a:solidFill>
              <a:sysClr val="windowText" lastClr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</a:endParaRPr>
          </a:p>
        </p:txBody>
      </p:sp>
      <p:sp>
        <p:nvSpPr>
          <p:cNvPr id="190" name="Line 13">
            <a:extLst>
              <a:ext uri="{FF2B5EF4-FFF2-40B4-BE49-F238E27FC236}">
                <a16:creationId xmlns:a16="http://schemas.microsoft.com/office/drawing/2014/main" id="{5DA3AA9E-0D00-474A-A14B-906A05C559C3}"/>
              </a:ext>
            </a:extLst>
          </p:cNvPr>
          <p:cNvSpPr>
            <a:spLocks noChangeShapeType="1"/>
          </p:cNvSpPr>
          <p:nvPr/>
        </p:nvSpPr>
        <p:spPr bwMode="auto">
          <a:xfrm>
            <a:off x="8245957" y="5700765"/>
            <a:ext cx="151960" cy="0"/>
          </a:xfrm>
          <a:prstGeom prst="line">
            <a:avLst/>
          </a:prstGeom>
          <a:noFill/>
          <a:ln w="19050">
            <a:solidFill>
              <a:sysClr val="windowText" lastClr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</a:endParaRPr>
          </a:p>
        </p:txBody>
      </p:sp>
      <p:sp>
        <p:nvSpPr>
          <p:cNvPr id="191" name="Line 14">
            <a:extLst>
              <a:ext uri="{FF2B5EF4-FFF2-40B4-BE49-F238E27FC236}">
                <a16:creationId xmlns:a16="http://schemas.microsoft.com/office/drawing/2014/main" id="{24772EB1-572E-471D-9C7E-4E34646C7D0B}"/>
              </a:ext>
            </a:extLst>
          </p:cNvPr>
          <p:cNvSpPr>
            <a:spLocks noChangeShapeType="1"/>
          </p:cNvSpPr>
          <p:nvPr/>
        </p:nvSpPr>
        <p:spPr bwMode="auto">
          <a:xfrm>
            <a:off x="8397916" y="5700765"/>
            <a:ext cx="0" cy="448018"/>
          </a:xfrm>
          <a:prstGeom prst="line">
            <a:avLst/>
          </a:prstGeom>
          <a:noFill/>
          <a:ln w="19050">
            <a:solidFill>
              <a:sysClr val="windowText" lastClr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</a:endParaRPr>
          </a:p>
        </p:txBody>
      </p:sp>
      <p:sp>
        <p:nvSpPr>
          <p:cNvPr id="192" name="Line 15">
            <a:extLst>
              <a:ext uri="{FF2B5EF4-FFF2-40B4-BE49-F238E27FC236}">
                <a16:creationId xmlns:a16="http://schemas.microsoft.com/office/drawing/2014/main" id="{02BF955E-4DAA-4D4E-BCCC-16F81CE292D4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775402" y="4506541"/>
            <a:ext cx="0" cy="1642241"/>
          </a:xfrm>
          <a:prstGeom prst="line">
            <a:avLst/>
          </a:prstGeom>
          <a:noFill/>
          <a:ln w="19050">
            <a:solidFill>
              <a:sysClr val="windowText" lastClr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</a:endParaRPr>
          </a:p>
        </p:txBody>
      </p:sp>
      <p:sp>
        <p:nvSpPr>
          <p:cNvPr id="193" name="Line 16">
            <a:extLst>
              <a:ext uri="{FF2B5EF4-FFF2-40B4-BE49-F238E27FC236}">
                <a16:creationId xmlns:a16="http://schemas.microsoft.com/office/drawing/2014/main" id="{CA6A1949-9D0C-4EDE-B087-EA579D96A0C5}"/>
              </a:ext>
            </a:extLst>
          </p:cNvPr>
          <p:cNvSpPr>
            <a:spLocks noChangeShapeType="1"/>
          </p:cNvSpPr>
          <p:nvPr/>
        </p:nvSpPr>
        <p:spPr bwMode="auto">
          <a:xfrm>
            <a:off x="2775402" y="4512004"/>
            <a:ext cx="379900" cy="0"/>
          </a:xfrm>
          <a:prstGeom prst="line">
            <a:avLst/>
          </a:prstGeom>
          <a:noFill/>
          <a:ln w="19050">
            <a:solidFill>
              <a:sysClr val="windowText" lastClr="00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</a:endParaRPr>
          </a:p>
        </p:txBody>
      </p:sp>
      <p:grpSp>
        <p:nvGrpSpPr>
          <p:cNvPr id="194" name="Group 17">
            <a:extLst>
              <a:ext uri="{FF2B5EF4-FFF2-40B4-BE49-F238E27FC236}">
                <a16:creationId xmlns:a16="http://schemas.microsoft.com/office/drawing/2014/main" id="{EC928F8A-16E0-4A45-8A20-64E4A23711AA}"/>
              </a:ext>
            </a:extLst>
          </p:cNvPr>
          <p:cNvGrpSpPr>
            <a:grpSpLocks/>
          </p:cNvGrpSpPr>
          <p:nvPr/>
        </p:nvGrpSpPr>
        <p:grpSpPr bwMode="auto">
          <a:xfrm>
            <a:off x="1787663" y="2714852"/>
            <a:ext cx="379900" cy="833278"/>
            <a:chOff x="1392" y="2880"/>
            <a:chExt cx="288" cy="480"/>
          </a:xfrm>
        </p:grpSpPr>
        <p:sp>
          <p:nvSpPr>
            <p:cNvPr id="195" name="Line 18">
              <a:extLst>
                <a:ext uri="{FF2B5EF4-FFF2-40B4-BE49-F238E27FC236}">
                  <a16:creationId xmlns:a16="http://schemas.microsoft.com/office/drawing/2014/main" id="{FAE1199C-5D2E-4E5C-AC3F-653549A3730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92" y="3072"/>
              <a:ext cx="48" cy="48"/>
            </a:xfrm>
            <a:prstGeom prst="line">
              <a:avLst/>
            </a:prstGeom>
            <a:noFill/>
            <a:ln w="19050">
              <a:solidFill>
                <a:sysClr val="windowText" lastClr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F0502020204030204"/>
                <a:ea typeface="等线" panose="02010600030101010101" pitchFamily="2" charset="-122"/>
              </a:endParaRPr>
            </a:p>
          </p:txBody>
        </p:sp>
        <p:sp>
          <p:nvSpPr>
            <p:cNvPr id="196" name="Line 19">
              <a:extLst>
                <a:ext uri="{FF2B5EF4-FFF2-40B4-BE49-F238E27FC236}">
                  <a16:creationId xmlns:a16="http://schemas.microsoft.com/office/drawing/2014/main" id="{EF35A625-A567-4BCC-9C65-C2862A96E42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392" y="3120"/>
              <a:ext cx="48" cy="48"/>
            </a:xfrm>
            <a:prstGeom prst="line">
              <a:avLst/>
            </a:prstGeom>
            <a:noFill/>
            <a:ln w="19050">
              <a:solidFill>
                <a:sysClr val="windowText" lastClr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F0502020204030204"/>
                <a:ea typeface="等线" panose="02010600030101010101" pitchFamily="2" charset="-122"/>
              </a:endParaRPr>
            </a:p>
          </p:txBody>
        </p:sp>
        <p:sp>
          <p:nvSpPr>
            <p:cNvPr id="197" name="Line 20">
              <a:extLst>
                <a:ext uri="{FF2B5EF4-FFF2-40B4-BE49-F238E27FC236}">
                  <a16:creationId xmlns:a16="http://schemas.microsoft.com/office/drawing/2014/main" id="{950C788F-45AC-4329-8BF2-9C1F824BAF7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392" y="2880"/>
              <a:ext cx="0" cy="192"/>
            </a:xfrm>
            <a:prstGeom prst="line">
              <a:avLst/>
            </a:prstGeom>
            <a:noFill/>
            <a:ln w="19050">
              <a:solidFill>
                <a:sysClr val="windowText" lastClr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F0502020204030204"/>
                <a:ea typeface="等线" panose="02010600030101010101" pitchFamily="2" charset="-122"/>
              </a:endParaRPr>
            </a:p>
          </p:txBody>
        </p:sp>
        <p:sp>
          <p:nvSpPr>
            <p:cNvPr id="198" name="Line 21">
              <a:extLst>
                <a:ext uri="{FF2B5EF4-FFF2-40B4-BE49-F238E27FC236}">
                  <a16:creationId xmlns:a16="http://schemas.microsoft.com/office/drawing/2014/main" id="{A14495AA-6E6E-4290-822F-5A918B72EF4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392" y="3168"/>
              <a:ext cx="0" cy="192"/>
            </a:xfrm>
            <a:prstGeom prst="line">
              <a:avLst/>
            </a:prstGeom>
            <a:noFill/>
            <a:ln w="19050">
              <a:solidFill>
                <a:sysClr val="windowText" lastClr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F0502020204030204"/>
                <a:ea typeface="等线" panose="02010600030101010101" pitchFamily="2" charset="-122"/>
              </a:endParaRPr>
            </a:p>
          </p:txBody>
        </p:sp>
        <p:sp>
          <p:nvSpPr>
            <p:cNvPr id="199" name="Line 22">
              <a:extLst>
                <a:ext uri="{FF2B5EF4-FFF2-40B4-BE49-F238E27FC236}">
                  <a16:creationId xmlns:a16="http://schemas.microsoft.com/office/drawing/2014/main" id="{39A784EC-0F0B-4166-8DDA-D87E63F1AE5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392" y="3216"/>
              <a:ext cx="288" cy="144"/>
            </a:xfrm>
            <a:prstGeom prst="line">
              <a:avLst/>
            </a:prstGeom>
            <a:noFill/>
            <a:ln w="19050">
              <a:solidFill>
                <a:sysClr val="windowText" lastClr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F0502020204030204"/>
                <a:ea typeface="等线" panose="02010600030101010101" pitchFamily="2" charset="-122"/>
              </a:endParaRPr>
            </a:p>
          </p:txBody>
        </p:sp>
        <p:sp>
          <p:nvSpPr>
            <p:cNvPr id="200" name="Line 23">
              <a:extLst>
                <a:ext uri="{FF2B5EF4-FFF2-40B4-BE49-F238E27FC236}">
                  <a16:creationId xmlns:a16="http://schemas.microsoft.com/office/drawing/2014/main" id="{D3DC5A42-A4DB-43FF-97A7-A712072B055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680" y="3024"/>
              <a:ext cx="0" cy="192"/>
            </a:xfrm>
            <a:prstGeom prst="line">
              <a:avLst/>
            </a:prstGeom>
            <a:noFill/>
            <a:ln w="19050">
              <a:solidFill>
                <a:sysClr val="windowText" lastClr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F0502020204030204"/>
                <a:ea typeface="等线" panose="02010600030101010101" pitchFamily="2" charset="-122"/>
              </a:endParaRPr>
            </a:p>
          </p:txBody>
        </p:sp>
        <p:sp>
          <p:nvSpPr>
            <p:cNvPr id="201" name="Line 24">
              <a:extLst>
                <a:ext uri="{FF2B5EF4-FFF2-40B4-BE49-F238E27FC236}">
                  <a16:creationId xmlns:a16="http://schemas.microsoft.com/office/drawing/2014/main" id="{BB70BA07-2776-4739-9286-7E52042139C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92" y="2880"/>
              <a:ext cx="288" cy="144"/>
            </a:xfrm>
            <a:prstGeom prst="line">
              <a:avLst/>
            </a:prstGeom>
            <a:noFill/>
            <a:ln w="19050">
              <a:solidFill>
                <a:sysClr val="windowText" lastClr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F0502020204030204"/>
                <a:ea typeface="等线" panose="02010600030101010101" pitchFamily="2" charset="-122"/>
              </a:endParaRPr>
            </a:p>
          </p:txBody>
        </p:sp>
      </p:grpSp>
      <p:sp>
        <p:nvSpPr>
          <p:cNvPr id="202" name="Rectangle 25">
            <a:extLst>
              <a:ext uri="{FF2B5EF4-FFF2-40B4-BE49-F238E27FC236}">
                <a16:creationId xmlns:a16="http://schemas.microsoft.com/office/drawing/2014/main" id="{4CCC3294-D298-458C-A13A-BB3874FDA6B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103843" y="3617570"/>
            <a:ext cx="1291659" cy="1319357"/>
          </a:xfrm>
          <a:prstGeom prst="rect">
            <a:avLst/>
          </a:prstGeom>
          <a:noFill/>
          <a:ln w="19050">
            <a:solidFill>
              <a:sysClr val="windowText" lastClr="000000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</a:endParaRPr>
          </a:p>
        </p:txBody>
      </p:sp>
      <p:sp>
        <p:nvSpPr>
          <p:cNvPr id="203" name="Rectangle 26">
            <a:extLst>
              <a:ext uri="{FF2B5EF4-FFF2-40B4-BE49-F238E27FC236}">
                <a16:creationId xmlns:a16="http://schemas.microsoft.com/office/drawing/2014/main" id="{B98FC525-B4C1-4675-B54C-65C229F20C7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7964" y="3964769"/>
            <a:ext cx="151960" cy="763838"/>
          </a:xfrm>
          <a:prstGeom prst="rect">
            <a:avLst/>
          </a:prstGeom>
          <a:noFill/>
          <a:ln w="19050">
            <a:solidFill>
              <a:sysClr val="windowText" lastClr="000000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</a:endParaRPr>
          </a:p>
        </p:txBody>
      </p:sp>
      <p:sp>
        <p:nvSpPr>
          <p:cNvPr id="204" name="Line 27">
            <a:extLst>
              <a:ext uri="{FF2B5EF4-FFF2-40B4-BE49-F238E27FC236}">
                <a16:creationId xmlns:a16="http://schemas.microsoft.com/office/drawing/2014/main" id="{24BF398B-CE53-43DC-BE51-B8C9B30686BD}"/>
              </a:ext>
            </a:extLst>
          </p:cNvPr>
          <p:cNvSpPr>
            <a:spLocks noChangeShapeType="1"/>
          </p:cNvSpPr>
          <p:nvPr/>
        </p:nvSpPr>
        <p:spPr bwMode="auto">
          <a:xfrm>
            <a:off x="799924" y="4311968"/>
            <a:ext cx="303920" cy="0"/>
          </a:xfrm>
          <a:prstGeom prst="line">
            <a:avLst/>
          </a:prstGeom>
          <a:noFill/>
          <a:ln w="19050">
            <a:solidFill>
              <a:sysClr val="windowText" lastClr="00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</a:endParaRPr>
          </a:p>
        </p:txBody>
      </p:sp>
      <p:sp>
        <p:nvSpPr>
          <p:cNvPr id="205" name="Line 28">
            <a:extLst>
              <a:ext uri="{FF2B5EF4-FFF2-40B4-BE49-F238E27FC236}">
                <a16:creationId xmlns:a16="http://schemas.microsoft.com/office/drawing/2014/main" id="{A46F752F-C7FC-443D-A3C7-BDF0F5E213C7}"/>
              </a:ext>
            </a:extLst>
          </p:cNvPr>
          <p:cNvSpPr>
            <a:spLocks noChangeShapeType="1"/>
          </p:cNvSpPr>
          <p:nvPr/>
        </p:nvSpPr>
        <p:spPr bwMode="auto">
          <a:xfrm>
            <a:off x="875904" y="2853732"/>
            <a:ext cx="911759" cy="0"/>
          </a:xfrm>
          <a:prstGeom prst="line">
            <a:avLst/>
          </a:prstGeom>
          <a:noFill/>
          <a:ln w="19050">
            <a:solidFill>
              <a:sysClr val="windowText" lastClr="00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</a:endParaRPr>
          </a:p>
        </p:txBody>
      </p:sp>
      <p:sp>
        <p:nvSpPr>
          <p:cNvPr id="206" name="Line 29">
            <a:extLst>
              <a:ext uri="{FF2B5EF4-FFF2-40B4-BE49-F238E27FC236}">
                <a16:creationId xmlns:a16="http://schemas.microsoft.com/office/drawing/2014/main" id="{4518885A-74DE-4FE2-A779-053422CFD4FE}"/>
              </a:ext>
            </a:extLst>
          </p:cNvPr>
          <p:cNvSpPr>
            <a:spLocks noChangeShapeType="1"/>
          </p:cNvSpPr>
          <p:nvPr/>
        </p:nvSpPr>
        <p:spPr bwMode="auto">
          <a:xfrm>
            <a:off x="1407763" y="3409250"/>
            <a:ext cx="379900" cy="0"/>
          </a:xfrm>
          <a:prstGeom prst="line">
            <a:avLst/>
          </a:prstGeom>
          <a:noFill/>
          <a:ln w="19050">
            <a:solidFill>
              <a:sysClr val="windowText" lastClr="00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</a:endParaRPr>
          </a:p>
        </p:txBody>
      </p:sp>
      <p:sp>
        <p:nvSpPr>
          <p:cNvPr id="207" name="Text Box 30">
            <a:extLst>
              <a:ext uri="{FF2B5EF4-FFF2-40B4-BE49-F238E27FC236}">
                <a16:creationId xmlns:a16="http://schemas.microsoft.com/office/drawing/2014/main" id="{922C55B8-4583-4438-959E-BC87FDAE467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27863" y="4103649"/>
            <a:ext cx="747290" cy="46165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1425" tIns="45713" rIns="91425" bIns="45713">
            <a:spAutoFit/>
          </a:bodyPr>
          <a:lstStyle>
            <a:lvl1pPr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1pPr>
            <a:lvl2pPr marL="742950" indent="-28575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2pPr>
            <a:lvl3pPr marL="11430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3pPr>
            <a:lvl4pPr marL="16002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4pPr>
            <a:lvl5pPr marL="20574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9pPr>
          </a:lstStyle>
          <a:p>
            <a:pPr fontAlgn="auto">
              <a:spcBef>
                <a:spcPts val="0"/>
              </a:spcBef>
              <a:spcAft>
                <a:spcPts val="0"/>
              </a:spcAft>
            </a:pPr>
            <a:r>
              <a:rPr lang="en-US" altLang="zh-CN" sz="1200" b="0" dirty="0">
                <a:solidFill>
                  <a:prstClr val="black"/>
                </a:solidFill>
                <a:latin typeface="Arial" pitchFamily="34" charset="0"/>
                <a:ea typeface="SimHei" panose="02010609060101010101" pitchFamily="49" charset="-122"/>
              </a:rPr>
              <a:t>Read</a:t>
            </a:r>
          </a:p>
          <a:p>
            <a:pPr fontAlgn="auto">
              <a:spcBef>
                <a:spcPts val="0"/>
              </a:spcBef>
              <a:spcAft>
                <a:spcPts val="0"/>
              </a:spcAft>
            </a:pPr>
            <a:r>
              <a:rPr lang="en-US" altLang="zh-CN" sz="1200" b="0" dirty="0">
                <a:solidFill>
                  <a:prstClr val="black"/>
                </a:solidFill>
                <a:latin typeface="Arial" pitchFamily="34" charset="0"/>
                <a:ea typeface="SimHei" panose="02010609060101010101" pitchFamily="49" charset="-122"/>
              </a:rPr>
              <a:t>Address</a:t>
            </a:r>
          </a:p>
        </p:txBody>
      </p:sp>
      <p:sp>
        <p:nvSpPr>
          <p:cNvPr id="208" name="Text Box 31">
            <a:extLst>
              <a:ext uri="{FF2B5EF4-FFF2-40B4-BE49-F238E27FC236}">
                <a16:creationId xmlns:a16="http://schemas.microsoft.com/office/drawing/2014/main" id="{B27F92DC-6137-4F75-85FE-9E31AD4988B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336390" y="3629611"/>
            <a:ext cx="1010182" cy="52320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1425" tIns="45713" rIns="91425" bIns="45713">
            <a:spAutoFit/>
          </a:bodyPr>
          <a:lstStyle>
            <a:lvl1pPr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1pPr>
            <a:lvl2pPr marL="742950" indent="-28575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2pPr>
            <a:lvl3pPr marL="11430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3pPr>
            <a:lvl4pPr marL="16002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4pPr>
            <a:lvl5pPr marL="20574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9pPr>
          </a:lstStyle>
          <a:p>
            <a:pPr algn="ctr" fontAlgn="auto">
              <a:spcBef>
                <a:spcPts val="0"/>
              </a:spcBef>
              <a:spcAft>
                <a:spcPts val="0"/>
              </a:spcAft>
            </a:pPr>
            <a:r>
              <a:rPr lang="en-US" altLang="zh-CN" sz="1400" b="0" dirty="0">
                <a:solidFill>
                  <a:prstClr val="black"/>
                </a:solidFill>
                <a:latin typeface="Arial" pitchFamily="34" charset="0"/>
                <a:ea typeface="SimHei" panose="02010609060101010101" pitchFamily="49" charset="-122"/>
              </a:rPr>
              <a:t>Instruction</a:t>
            </a:r>
          </a:p>
          <a:p>
            <a:pPr algn="ctr" fontAlgn="auto">
              <a:spcBef>
                <a:spcPts val="0"/>
              </a:spcBef>
              <a:spcAft>
                <a:spcPts val="0"/>
              </a:spcAft>
            </a:pPr>
            <a:r>
              <a:rPr lang="en-US" altLang="zh-CN" sz="1400" b="0" dirty="0">
                <a:solidFill>
                  <a:prstClr val="black"/>
                </a:solidFill>
                <a:latin typeface="Arial" pitchFamily="34" charset="0"/>
                <a:ea typeface="SimHei" panose="02010609060101010101" pitchFamily="49" charset="-122"/>
              </a:rPr>
              <a:t>Memory</a:t>
            </a:r>
          </a:p>
        </p:txBody>
      </p:sp>
      <p:sp>
        <p:nvSpPr>
          <p:cNvPr id="209" name="Text Box 32">
            <a:extLst>
              <a:ext uri="{FF2B5EF4-FFF2-40B4-BE49-F238E27FC236}">
                <a16:creationId xmlns:a16="http://schemas.microsoft.com/office/drawing/2014/main" id="{823C0615-0BEB-4268-A748-8E8334450B9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62337" y="2992466"/>
            <a:ext cx="457146" cy="27698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1425" tIns="45713" rIns="91425" bIns="45713">
            <a:spAutoFit/>
          </a:bodyPr>
          <a:lstStyle>
            <a:lvl1pPr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1pPr>
            <a:lvl2pPr marL="742950" indent="-28575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2pPr>
            <a:lvl3pPr marL="11430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3pPr>
            <a:lvl4pPr marL="16002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4pPr>
            <a:lvl5pPr marL="20574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9pPr>
          </a:lstStyle>
          <a:p>
            <a:pPr fontAlgn="auto">
              <a:spcBef>
                <a:spcPts val="0"/>
              </a:spcBef>
              <a:spcAft>
                <a:spcPts val="0"/>
              </a:spcAft>
            </a:pPr>
            <a:r>
              <a:rPr lang="en-US" altLang="zh-CN" sz="1200" b="0" dirty="0">
                <a:solidFill>
                  <a:prstClr val="black"/>
                </a:solidFill>
                <a:latin typeface="Arial" pitchFamily="34" charset="0"/>
                <a:ea typeface="SimHei" panose="02010609060101010101" pitchFamily="49" charset="-122"/>
              </a:rPr>
              <a:t>Add</a:t>
            </a:r>
          </a:p>
        </p:txBody>
      </p:sp>
      <p:sp>
        <p:nvSpPr>
          <p:cNvPr id="210" name="Text Box 33">
            <a:extLst>
              <a:ext uri="{FF2B5EF4-FFF2-40B4-BE49-F238E27FC236}">
                <a16:creationId xmlns:a16="http://schemas.microsoft.com/office/drawing/2014/main" id="{B4DD1586-81CF-42BE-8597-28EBC82E2A9F}"/>
              </a:ext>
            </a:extLst>
          </p:cNvPr>
          <p:cNvSpPr txBox="1">
            <a:spLocks noChangeArrowheads="1"/>
          </p:cNvSpPr>
          <p:nvPr/>
        </p:nvSpPr>
        <p:spPr bwMode="auto">
          <a:xfrm rot="16200000">
            <a:off x="527402" y="4229171"/>
            <a:ext cx="397836" cy="27698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1425" tIns="45713" rIns="91425" bIns="45713">
            <a:spAutoFit/>
          </a:bodyPr>
          <a:lstStyle>
            <a:lvl1pPr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1pPr>
            <a:lvl2pPr marL="742950" indent="-28575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2pPr>
            <a:lvl3pPr marL="11430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3pPr>
            <a:lvl4pPr marL="16002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4pPr>
            <a:lvl5pPr marL="20574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9pPr>
          </a:lstStyle>
          <a:p>
            <a:pPr fontAlgn="auto">
              <a:spcBef>
                <a:spcPts val="0"/>
              </a:spcBef>
              <a:spcAft>
                <a:spcPts val="0"/>
              </a:spcAft>
            </a:pPr>
            <a:r>
              <a:rPr lang="en-US" altLang="zh-CN" sz="1200" b="0" dirty="0">
                <a:solidFill>
                  <a:prstClr val="black"/>
                </a:solidFill>
                <a:latin typeface="Arial" pitchFamily="34" charset="0"/>
                <a:ea typeface="SimHei" panose="02010609060101010101" pitchFamily="49" charset="-122"/>
              </a:rPr>
              <a:t>PC</a:t>
            </a:r>
          </a:p>
        </p:txBody>
      </p:sp>
      <p:sp>
        <p:nvSpPr>
          <p:cNvPr id="211" name="Line 34">
            <a:extLst>
              <a:ext uri="{FF2B5EF4-FFF2-40B4-BE49-F238E27FC236}">
                <a16:creationId xmlns:a16="http://schemas.microsoft.com/office/drawing/2014/main" id="{E3AE70D9-11F0-4CEA-BA95-3D3B0C094ECE}"/>
              </a:ext>
            </a:extLst>
          </p:cNvPr>
          <p:cNvSpPr>
            <a:spLocks noChangeShapeType="1"/>
          </p:cNvSpPr>
          <p:nvPr/>
        </p:nvSpPr>
        <p:spPr bwMode="auto">
          <a:xfrm>
            <a:off x="344044" y="4311968"/>
            <a:ext cx="303920" cy="0"/>
          </a:xfrm>
          <a:prstGeom prst="line">
            <a:avLst/>
          </a:prstGeom>
          <a:noFill/>
          <a:ln w="19050">
            <a:solidFill>
              <a:sysClr val="windowText" lastClr="00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</a:endParaRPr>
          </a:p>
        </p:txBody>
      </p:sp>
      <p:sp>
        <p:nvSpPr>
          <p:cNvPr id="212" name="Text Box 35">
            <a:extLst>
              <a:ext uri="{FF2B5EF4-FFF2-40B4-BE49-F238E27FC236}">
                <a16:creationId xmlns:a16="http://schemas.microsoft.com/office/drawing/2014/main" id="{51F06B11-43BE-4250-84B1-10E5BCBB741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179823" y="3270371"/>
            <a:ext cx="269595" cy="27698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1425" tIns="45713" rIns="91425" bIns="45713">
            <a:spAutoFit/>
          </a:bodyPr>
          <a:lstStyle>
            <a:lvl1pPr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1pPr>
            <a:lvl2pPr marL="742950" indent="-28575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2pPr>
            <a:lvl3pPr marL="11430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3pPr>
            <a:lvl4pPr marL="16002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4pPr>
            <a:lvl5pPr marL="20574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9pPr>
          </a:lstStyle>
          <a:p>
            <a:pPr fontAlgn="auto">
              <a:spcBef>
                <a:spcPts val="0"/>
              </a:spcBef>
              <a:spcAft>
                <a:spcPts val="0"/>
              </a:spcAft>
            </a:pPr>
            <a:r>
              <a:rPr lang="en-US" altLang="zh-CN" sz="1200" b="0" dirty="0">
                <a:solidFill>
                  <a:prstClr val="black"/>
                </a:solidFill>
                <a:latin typeface="Arial" pitchFamily="34" charset="0"/>
                <a:ea typeface="SimHei" panose="02010609060101010101" pitchFamily="49" charset="-122"/>
              </a:rPr>
              <a:t>4</a:t>
            </a:r>
          </a:p>
        </p:txBody>
      </p:sp>
      <p:sp>
        <p:nvSpPr>
          <p:cNvPr id="213" name="Line 36">
            <a:extLst>
              <a:ext uri="{FF2B5EF4-FFF2-40B4-BE49-F238E27FC236}">
                <a16:creationId xmlns:a16="http://schemas.microsoft.com/office/drawing/2014/main" id="{6D512E16-059C-4CF0-A1AB-87FFF7D4C143}"/>
              </a:ext>
            </a:extLst>
          </p:cNvPr>
          <p:cNvSpPr>
            <a:spLocks noChangeShapeType="1"/>
          </p:cNvSpPr>
          <p:nvPr/>
        </p:nvSpPr>
        <p:spPr bwMode="auto">
          <a:xfrm>
            <a:off x="344044" y="2089893"/>
            <a:ext cx="0" cy="2222075"/>
          </a:xfrm>
          <a:prstGeom prst="line">
            <a:avLst/>
          </a:prstGeom>
          <a:noFill/>
          <a:ln w="19050">
            <a:solidFill>
              <a:sysClr val="windowText" lastClr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</a:endParaRPr>
          </a:p>
        </p:txBody>
      </p:sp>
      <p:sp>
        <p:nvSpPr>
          <p:cNvPr id="214" name="AutoShape 37">
            <a:extLst>
              <a:ext uri="{FF2B5EF4-FFF2-40B4-BE49-F238E27FC236}">
                <a16:creationId xmlns:a16="http://schemas.microsoft.com/office/drawing/2014/main" id="{89646315-5B6E-4CB3-B652-76A9D7F14466}"/>
              </a:ext>
            </a:extLst>
          </p:cNvPr>
          <p:cNvSpPr>
            <a:spLocks noChangeArrowheads="1"/>
          </p:cNvSpPr>
          <p:nvPr/>
        </p:nvSpPr>
        <p:spPr bwMode="auto">
          <a:xfrm rot="5400000" flipH="1">
            <a:off x="981314" y="2010643"/>
            <a:ext cx="624959" cy="227940"/>
          </a:xfrm>
          <a:custGeom>
            <a:avLst/>
            <a:gdLst>
              <a:gd name="T0" fmla="*/ 8 w 21600"/>
              <a:gd name="T1" fmla="*/ 0 h 21600"/>
              <a:gd name="T2" fmla="*/ 4 w 21600"/>
              <a:gd name="T3" fmla="*/ 1 h 21600"/>
              <a:gd name="T4" fmla="*/ 1 w 21600"/>
              <a:gd name="T5" fmla="*/ 0 h 21600"/>
              <a:gd name="T6" fmla="*/ 4 w 21600"/>
              <a:gd name="T7" fmla="*/ 0 h 21600"/>
              <a:gd name="T8" fmla="*/ 0 60000 65536"/>
              <a:gd name="T9" fmla="*/ 0 60000 65536"/>
              <a:gd name="T10" fmla="*/ 0 60000 65536"/>
              <a:gd name="T11" fmla="*/ 0 60000 65536"/>
              <a:gd name="T12" fmla="*/ 4500 w 21600"/>
              <a:gd name="T13" fmla="*/ 4500 h 21600"/>
              <a:gd name="T14" fmla="*/ 17100 w 21600"/>
              <a:gd name="T15" fmla="*/ 17100 h 21600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21600" h="21600">
                <a:moveTo>
                  <a:pt x="0" y="0"/>
                </a:moveTo>
                <a:lnTo>
                  <a:pt x="5400" y="21600"/>
                </a:lnTo>
                <a:lnTo>
                  <a:pt x="16200" y="21600"/>
                </a:lnTo>
                <a:lnTo>
                  <a:pt x="21600" y="0"/>
                </a:lnTo>
                <a:lnTo>
                  <a:pt x="0" y="0"/>
                </a:lnTo>
                <a:close/>
              </a:path>
            </a:pathLst>
          </a:custGeom>
          <a:noFill/>
          <a:ln w="19050">
            <a:solidFill>
              <a:sysClr val="windowText" lastClr="000000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</a:endParaRPr>
          </a:p>
        </p:txBody>
      </p:sp>
      <p:sp>
        <p:nvSpPr>
          <p:cNvPr id="215" name="Line 38">
            <a:extLst>
              <a:ext uri="{FF2B5EF4-FFF2-40B4-BE49-F238E27FC236}">
                <a16:creationId xmlns:a16="http://schemas.microsoft.com/office/drawing/2014/main" id="{2EECE57D-22FD-4473-BD81-2071D64476A4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44043" y="2089893"/>
            <a:ext cx="835779" cy="0"/>
          </a:xfrm>
          <a:prstGeom prst="line">
            <a:avLst/>
          </a:prstGeom>
          <a:noFill/>
          <a:ln w="19050">
            <a:solidFill>
              <a:sysClr val="windowText" lastClr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</a:endParaRPr>
          </a:p>
        </p:txBody>
      </p:sp>
      <p:sp>
        <p:nvSpPr>
          <p:cNvPr id="216" name="Rectangle 40">
            <a:extLst>
              <a:ext uri="{FF2B5EF4-FFF2-40B4-BE49-F238E27FC236}">
                <a16:creationId xmlns:a16="http://schemas.microsoft.com/office/drawing/2014/main" id="{1120A2C7-2646-4D5A-A9BF-664A95F97B92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1282956" y="1837945"/>
            <a:ext cx="159080" cy="61318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19047" tIns="26984" rIns="19047" bIns="26984"/>
          <a:lstStyle/>
          <a:p>
            <a:pPr eaLnBrk="0" fontAlgn="auto" hangingPunct="0">
              <a:spcBef>
                <a:spcPts val="600"/>
              </a:spcBef>
              <a:spcAft>
                <a:spcPts val="600"/>
              </a:spcAft>
            </a:pPr>
            <a:r>
              <a:rPr lang="en-US" altLang="zh-CN" sz="1200" dirty="0">
                <a:solidFill>
                  <a:prstClr val="black"/>
                </a:solidFill>
                <a:latin typeface="Arial" pitchFamily="34" charset="0"/>
                <a:ea typeface="等线" panose="02010600030101010101" pitchFamily="2" charset="-122"/>
              </a:rPr>
              <a:t>1</a:t>
            </a:r>
          </a:p>
          <a:p>
            <a:pPr eaLnBrk="0" fontAlgn="auto" hangingPunct="0">
              <a:spcBef>
                <a:spcPts val="600"/>
              </a:spcBef>
              <a:spcAft>
                <a:spcPts val="600"/>
              </a:spcAft>
            </a:pPr>
            <a:r>
              <a:rPr lang="en-US" altLang="zh-CN" sz="1200" dirty="0">
                <a:solidFill>
                  <a:prstClr val="black"/>
                </a:solidFill>
                <a:latin typeface="Arial" pitchFamily="34" charset="0"/>
                <a:ea typeface="等线" panose="02010600030101010101" pitchFamily="2" charset="-122"/>
              </a:rPr>
              <a:t>0</a:t>
            </a:r>
          </a:p>
        </p:txBody>
      </p:sp>
      <p:sp>
        <p:nvSpPr>
          <p:cNvPr id="217" name="Line 41">
            <a:extLst>
              <a:ext uri="{FF2B5EF4-FFF2-40B4-BE49-F238E27FC236}">
                <a16:creationId xmlns:a16="http://schemas.microsoft.com/office/drawing/2014/main" id="{328FE470-E749-47DB-A076-2BFD6215C59D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407763" y="1951014"/>
            <a:ext cx="5242615" cy="0"/>
          </a:xfrm>
          <a:prstGeom prst="line">
            <a:avLst/>
          </a:prstGeom>
          <a:noFill/>
          <a:ln w="19050">
            <a:solidFill>
              <a:sysClr val="windowText" lastClr="00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</a:endParaRPr>
          </a:p>
        </p:txBody>
      </p:sp>
      <p:sp>
        <p:nvSpPr>
          <p:cNvPr id="218" name="Line 42">
            <a:extLst>
              <a:ext uri="{FF2B5EF4-FFF2-40B4-BE49-F238E27FC236}">
                <a16:creationId xmlns:a16="http://schemas.microsoft.com/office/drawing/2014/main" id="{70A3A145-E62F-4C9C-B24D-AC9307548B19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927362" y="6323171"/>
            <a:ext cx="5926434" cy="0"/>
          </a:xfrm>
          <a:prstGeom prst="line">
            <a:avLst/>
          </a:prstGeom>
          <a:noFill/>
          <a:ln w="19050">
            <a:solidFill>
              <a:sysClr val="windowText" lastClr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</a:endParaRPr>
          </a:p>
        </p:txBody>
      </p:sp>
      <p:sp>
        <p:nvSpPr>
          <p:cNvPr id="219" name="Rectangle 43">
            <a:extLst>
              <a:ext uri="{FF2B5EF4-FFF2-40B4-BE49-F238E27FC236}">
                <a16:creationId xmlns:a16="http://schemas.microsoft.com/office/drawing/2014/main" id="{0833E9DD-303B-4FFD-BD09-C6E5A6768D5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55301" y="3617570"/>
            <a:ext cx="1291659" cy="1319357"/>
          </a:xfrm>
          <a:prstGeom prst="rect">
            <a:avLst/>
          </a:prstGeom>
          <a:noFill/>
          <a:ln w="19050">
            <a:solidFill>
              <a:sysClr val="windowText" lastClr="000000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</a:endParaRPr>
          </a:p>
        </p:txBody>
      </p:sp>
      <p:sp>
        <p:nvSpPr>
          <p:cNvPr id="220" name="Line 44">
            <a:extLst>
              <a:ext uri="{FF2B5EF4-FFF2-40B4-BE49-F238E27FC236}">
                <a16:creationId xmlns:a16="http://schemas.microsoft.com/office/drawing/2014/main" id="{5905FDDE-FE88-43FD-B742-39A91E9681C5}"/>
              </a:ext>
            </a:extLst>
          </p:cNvPr>
          <p:cNvSpPr>
            <a:spLocks noChangeShapeType="1"/>
          </p:cNvSpPr>
          <p:nvPr/>
        </p:nvSpPr>
        <p:spPr bwMode="auto">
          <a:xfrm>
            <a:off x="2395502" y="4311968"/>
            <a:ext cx="151960" cy="0"/>
          </a:xfrm>
          <a:prstGeom prst="line">
            <a:avLst/>
          </a:prstGeom>
          <a:noFill/>
          <a:ln w="19050">
            <a:solidFill>
              <a:sysClr val="windowText" lastClr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</a:endParaRPr>
          </a:p>
        </p:txBody>
      </p:sp>
      <p:sp>
        <p:nvSpPr>
          <p:cNvPr id="221" name="Line 45">
            <a:extLst>
              <a:ext uri="{FF2B5EF4-FFF2-40B4-BE49-F238E27FC236}">
                <a16:creationId xmlns:a16="http://schemas.microsoft.com/office/drawing/2014/main" id="{173B30DF-4C4E-4B56-8510-4E18FF6EE5B2}"/>
              </a:ext>
            </a:extLst>
          </p:cNvPr>
          <p:cNvSpPr>
            <a:spLocks noChangeShapeType="1"/>
          </p:cNvSpPr>
          <p:nvPr/>
        </p:nvSpPr>
        <p:spPr bwMode="auto">
          <a:xfrm>
            <a:off x="2851382" y="4103649"/>
            <a:ext cx="303920" cy="0"/>
          </a:xfrm>
          <a:prstGeom prst="line">
            <a:avLst/>
          </a:prstGeom>
          <a:noFill/>
          <a:ln w="19050">
            <a:solidFill>
              <a:sysClr val="windowText" lastClr="00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</a:endParaRPr>
          </a:p>
        </p:txBody>
      </p:sp>
      <p:sp>
        <p:nvSpPr>
          <p:cNvPr id="222" name="Text Box 46">
            <a:extLst>
              <a:ext uri="{FF2B5EF4-FFF2-40B4-BE49-F238E27FC236}">
                <a16:creationId xmlns:a16="http://schemas.microsoft.com/office/drawing/2014/main" id="{D8E9ACC7-25C8-480A-9A00-D5E4E85B226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79321" y="4659167"/>
            <a:ext cx="908039" cy="27698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1425" tIns="45713" rIns="91425" bIns="45713">
            <a:spAutoFit/>
          </a:bodyPr>
          <a:lstStyle>
            <a:lvl1pPr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1pPr>
            <a:lvl2pPr marL="742950" indent="-28575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2pPr>
            <a:lvl3pPr marL="11430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3pPr>
            <a:lvl4pPr marL="16002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4pPr>
            <a:lvl5pPr marL="20574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9pPr>
          </a:lstStyle>
          <a:p>
            <a:pPr fontAlgn="auto">
              <a:spcBef>
                <a:spcPts val="0"/>
              </a:spcBef>
              <a:spcAft>
                <a:spcPts val="0"/>
              </a:spcAft>
            </a:pPr>
            <a:r>
              <a:rPr lang="en-US" altLang="zh-CN" sz="1200" b="0" dirty="0">
                <a:solidFill>
                  <a:prstClr val="black"/>
                </a:solidFill>
                <a:latin typeface="Arial" pitchFamily="34" charset="0"/>
                <a:ea typeface="SimHei" panose="02010609060101010101" pitchFamily="49" charset="-122"/>
              </a:rPr>
              <a:t>Write Data</a:t>
            </a:r>
          </a:p>
        </p:txBody>
      </p:sp>
      <p:sp>
        <p:nvSpPr>
          <p:cNvPr id="223" name="Text Box 47">
            <a:extLst>
              <a:ext uri="{FF2B5EF4-FFF2-40B4-BE49-F238E27FC236}">
                <a16:creationId xmlns:a16="http://schemas.microsoft.com/office/drawing/2014/main" id="{99EBCA49-7EC0-44C5-A8E0-234358D8F23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93568" y="3561150"/>
            <a:ext cx="636332" cy="46148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1425" tIns="45713" rIns="91425" bIns="45713">
            <a:spAutoFit/>
          </a:bodyPr>
          <a:lstStyle>
            <a:lvl1pPr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1pPr>
            <a:lvl2pPr marL="742950" indent="-28575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2pPr>
            <a:lvl3pPr marL="11430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3pPr>
            <a:lvl4pPr marL="16002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4pPr>
            <a:lvl5pPr marL="20574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9pPr>
          </a:lstStyle>
          <a:p>
            <a:pPr fontAlgn="auto">
              <a:spcBef>
                <a:spcPts val="0"/>
              </a:spcBef>
              <a:spcAft>
                <a:spcPts val="0"/>
              </a:spcAft>
            </a:pPr>
            <a:r>
              <a:rPr lang="en-US" altLang="zh-CN" sz="1200" b="0" dirty="0">
                <a:solidFill>
                  <a:prstClr val="black"/>
                </a:solidFill>
                <a:latin typeface="Arial" pitchFamily="34" charset="0"/>
                <a:ea typeface="SimHei" panose="02010609060101010101" pitchFamily="49" charset="-122"/>
              </a:rPr>
              <a:t>Read </a:t>
            </a:r>
          </a:p>
          <a:p>
            <a:pPr fontAlgn="auto">
              <a:spcBef>
                <a:spcPts val="0"/>
              </a:spcBef>
              <a:spcAft>
                <a:spcPts val="0"/>
              </a:spcAft>
            </a:pPr>
            <a:r>
              <a:rPr lang="en-US" altLang="zh-CN" sz="1200" b="0" dirty="0" err="1">
                <a:solidFill>
                  <a:prstClr val="black"/>
                </a:solidFill>
                <a:latin typeface="Arial" pitchFamily="34" charset="0"/>
                <a:ea typeface="SimHei" panose="02010609060101010101" pitchFamily="49" charset="-122"/>
              </a:rPr>
              <a:t>Addr</a:t>
            </a:r>
            <a:r>
              <a:rPr lang="en-US" altLang="zh-CN" sz="1200" b="0" dirty="0">
                <a:solidFill>
                  <a:prstClr val="black"/>
                </a:solidFill>
                <a:latin typeface="Arial" pitchFamily="34" charset="0"/>
                <a:ea typeface="SimHei" panose="02010609060101010101" pitchFamily="49" charset="-122"/>
              </a:rPr>
              <a:t> 1</a:t>
            </a:r>
          </a:p>
        </p:txBody>
      </p:sp>
      <p:sp>
        <p:nvSpPr>
          <p:cNvPr id="224" name="Text Box 48">
            <a:extLst>
              <a:ext uri="{FF2B5EF4-FFF2-40B4-BE49-F238E27FC236}">
                <a16:creationId xmlns:a16="http://schemas.microsoft.com/office/drawing/2014/main" id="{53876F50-32B2-4AF6-9FA9-99912B778B0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88819" y="3927156"/>
            <a:ext cx="636332" cy="46148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1425" tIns="45713" rIns="91425" bIns="45713">
            <a:spAutoFit/>
          </a:bodyPr>
          <a:lstStyle>
            <a:lvl1pPr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1pPr>
            <a:lvl2pPr marL="742950" indent="-28575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2pPr>
            <a:lvl3pPr marL="11430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3pPr>
            <a:lvl4pPr marL="16002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4pPr>
            <a:lvl5pPr marL="20574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9pPr>
          </a:lstStyle>
          <a:p>
            <a:pPr fontAlgn="auto">
              <a:spcBef>
                <a:spcPts val="0"/>
              </a:spcBef>
              <a:spcAft>
                <a:spcPts val="0"/>
              </a:spcAft>
            </a:pPr>
            <a:r>
              <a:rPr lang="en-US" altLang="zh-CN" sz="1200" b="0" dirty="0">
                <a:solidFill>
                  <a:prstClr val="black"/>
                </a:solidFill>
                <a:latin typeface="Arial" pitchFamily="34" charset="0"/>
                <a:ea typeface="SimHei" panose="02010609060101010101" pitchFamily="49" charset="-122"/>
              </a:rPr>
              <a:t>Read </a:t>
            </a:r>
          </a:p>
          <a:p>
            <a:pPr fontAlgn="auto">
              <a:spcBef>
                <a:spcPts val="0"/>
              </a:spcBef>
              <a:spcAft>
                <a:spcPts val="0"/>
              </a:spcAft>
            </a:pPr>
            <a:r>
              <a:rPr lang="en-US" altLang="zh-CN" sz="1200" b="0" dirty="0" err="1">
                <a:solidFill>
                  <a:prstClr val="black"/>
                </a:solidFill>
                <a:latin typeface="Arial" pitchFamily="34" charset="0"/>
                <a:ea typeface="SimHei" panose="02010609060101010101" pitchFamily="49" charset="-122"/>
              </a:rPr>
              <a:t>Addr</a:t>
            </a:r>
            <a:r>
              <a:rPr lang="en-US" altLang="zh-CN" sz="1200" b="0" dirty="0">
                <a:solidFill>
                  <a:prstClr val="black"/>
                </a:solidFill>
                <a:latin typeface="Arial" pitchFamily="34" charset="0"/>
                <a:ea typeface="SimHei" panose="02010609060101010101" pitchFamily="49" charset="-122"/>
              </a:rPr>
              <a:t> 2</a:t>
            </a:r>
          </a:p>
        </p:txBody>
      </p:sp>
      <p:sp>
        <p:nvSpPr>
          <p:cNvPr id="225" name="Text Box 49">
            <a:extLst>
              <a:ext uri="{FF2B5EF4-FFF2-40B4-BE49-F238E27FC236}">
                <a16:creationId xmlns:a16="http://schemas.microsoft.com/office/drawing/2014/main" id="{1206E2FC-4EC4-42AA-A230-1FDAF2D0110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95108" y="4381407"/>
            <a:ext cx="899575" cy="27698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1425" tIns="45713" rIns="91425" bIns="45713">
            <a:spAutoFit/>
          </a:bodyPr>
          <a:lstStyle>
            <a:lvl1pPr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1pPr>
            <a:lvl2pPr marL="742950" indent="-28575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2pPr>
            <a:lvl3pPr marL="11430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3pPr>
            <a:lvl4pPr marL="16002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4pPr>
            <a:lvl5pPr marL="20574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9pPr>
          </a:lstStyle>
          <a:p>
            <a:pPr fontAlgn="auto">
              <a:spcBef>
                <a:spcPts val="0"/>
              </a:spcBef>
              <a:spcAft>
                <a:spcPts val="0"/>
              </a:spcAft>
            </a:pPr>
            <a:r>
              <a:rPr lang="en-US" altLang="zh-CN" sz="1200" b="0" dirty="0">
                <a:solidFill>
                  <a:prstClr val="black"/>
                </a:solidFill>
                <a:latin typeface="Arial" pitchFamily="34" charset="0"/>
                <a:ea typeface="SimHei" panose="02010609060101010101" pitchFamily="49" charset="-122"/>
              </a:rPr>
              <a:t>Write </a:t>
            </a:r>
            <a:r>
              <a:rPr lang="en-US" altLang="zh-CN" sz="1200" b="0" dirty="0" err="1">
                <a:solidFill>
                  <a:prstClr val="black"/>
                </a:solidFill>
                <a:latin typeface="Arial" pitchFamily="34" charset="0"/>
                <a:ea typeface="SimHei" panose="02010609060101010101" pitchFamily="49" charset="-122"/>
              </a:rPr>
              <a:t>Addr</a:t>
            </a:r>
            <a:endParaRPr lang="en-US" altLang="zh-CN" sz="1200" b="0" dirty="0">
              <a:solidFill>
                <a:prstClr val="black"/>
              </a:solidFill>
              <a:latin typeface="Arial" pitchFamily="34" charset="0"/>
              <a:ea typeface="SimHei" panose="02010609060101010101" pitchFamily="49" charset="-122"/>
            </a:endParaRPr>
          </a:p>
        </p:txBody>
      </p:sp>
      <p:sp>
        <p:nvSpPr>
          <p:cNvPr id="226" name="Text Box 50">
            <a:extLst>
              <a:ext uri="{FF2B5EF4-FFF2-40B4-BE49-F238E27FC236}">
                <a16:creationId xmlns:a16="http://schemas.microsoft.com/office/drawing/2014/main" id="{DF3ECDBA-2CFF-4C35-BCE5-4C04AD921DC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677951" y="4077425"/>
            <a:ext cx="622256" cy="30776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1425" tIns="45713" rIns="91425" bIns="45713">
            <a:spAutoFit/>
          </a:bodyPr>
          <a:lstStyle>
            <a:lvl1pPr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1pPr>
            <a:lvl2pPr marL="742950" indent="-28575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2pPr>
            <a:lvl3pPr marL="11430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3pPr>
            <a:lvl4pPr marL="16002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4pPr>
            <a:lvl5pPr marL="20574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9pPr>
          </a:lstStyle>
          <a:p>
            <a:pPr algn="ctr" fontAlgn="auto">
              <a:spcBef>
                <a:spcPts val="0"/>
              </a:spcBef>
              <a:spcAft>
                <a:spcPts val="0"/>
              </a:spcAft>
            </a:pPr>
            <a:r>
              <a:rPr lang="en-US" altLang="zh-CN" sz="1400" b="0" dirty="0">
                <a:solidFill>
                  <a:prstClr val="black"/>
                </a:solidFill>
                <a:latin typeface="Arial" pitchFamily="34" charset="0"/>
                <a:ea typeface="SimHei" panose="02010609060101010101" pitchFamily="49" charset="-122"/>
              </a:rPr>
              <a:t>Regs</a:t>
            </a:r>
          </a:p>
        </p:txBody>
      </p:sp>
      <p:sp>
        <p:nvSpPr>
          <p:cNvPr id="227" name="Text Box 51">
            <a:extLst>
              <a:ext uri="{FF2B5EF4-FFF2-40B4-BE49-F238E27FC236}">
                <a16:creationId xmlns:a16="http://schemas.microsoft.com/office/drawing/2014/main" id="{2631B78A-2283-4C3B-B9C6-8D189AE2A78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845699" y="3756449"/>
            <a:ext cx="679964" cy="46165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1425" tIns="45713" rIns="91425" bIns="45713">
            <a:spAutoFit/>
          </a:bodyPr>
          <a:lstStyle>
            <a:lvl1pPr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1pPr>
            <a:lvl2pPr marL="742950" indent="-28575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2pPr>
            <a:lvl3pPr marL="11430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3pPr>
            <a:lvl4pPr marL="16002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4pPr>
            <a:lvl5pPr marL="20574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9pPr>
          </a:lstStyle>
          <a:p>
            <a:pPr algn="r" fontAlgn="auto">
              <a:spcBef>
                <a:spcPts val="0"/>
              </a:spcBef>
              <a:spcAft>
                <a:spcPts val="0"/>
              </a:spcAft>
            </a:pPr>
            <a:r>
              <a:rPr lang="en-US" altLang="zh-CN" sz="1200" b="0" dirty="0">
                <a:solidFill>
                  <a:prstClr val="black"/>
                </a:solidFill>
                <a:latin typeface="Arial" pitchFamily="34" charset="0"/>
                <a:ea typeface="SimHei" panose="02010609060101010101" pitchFamily="49" charset="-122"/>
              </a:rPr>
              <a:t>Read</a:t>
            </a:r>
          </a:p>
          <a:p>
            <a:pPr algn="r" fontAlgn="auto">
              <a:spcBef>
                <a:spcPts val="0"/>
              </a:spcBef>
              <a:spcAft>
                <a:spcPts val="0"/>
              </a:spcAft>
            </a:pPr>
            <a:r>
              <a:rPr lang="en-US" altLang="zh-CN" sz="1200" b="0" dirty="0">
                <a:solidFill>
                  <a:prstClr val="black"/>
                </a:solidFill>
                <a:latin typeface="Arial" pitchFamily="34" charset="0"/>
                <a:ea typeface="SimHei" panose="02010609060101010101" pitchFamily="49" charset="-122"/>
              </a:rPr>
              <a:t> Data 1</a:t>
            </a:r>
          </a:p>
        </p:txBody>
      </p:sp>
      <p:sp>
        <p:nvSpPr>
          <p:cNvPr id="228" name="Text Box 52">
            <a:extLst>
              <a:ext uri="{FF2B5EF4-FFF2-40B4-BE49-F238E27FC236}">
                <a16:creationId xmlns:a16="http://schemas.microsoft.com/office/drawing/2014/main" id="{4628A3E4-AC84-47DE-A3C9-ED92F315926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831896" y="4381408"/>
            <a:ext cx="679964" cy="46165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1425" tIns="45713" rIns="91425" bIns="45713">
            <a:spAutoFit/>
          </a:bodyPr>
          <a:lstStyle>
            <a:lvl1pPr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1pPr>
            <a:lvl2pPr marL="742950" indent="-28575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2pPr>
            <a:lvl3pPr marL="11430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3pPr>
            <a:lvl4pPr marL="16002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4pPr>
            <a:lvl5pPr marL="20574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9pPr>
          </a:lstStyle>
          <a:p>
            <a:pPr algn="r" fontAlgn="auto">
              <a:spcBef>
                <a:spcPts val="0"/>
              </a:spcBef>
              <a:spcAft>
                <a:spcPts val="0"/>
              </a:spcAft>
            </a:pPr>
            <a:r>
              <a:rPr lang="en-US" altLang="zh-CN" sz="1200" b="0" dirty="0">
                <a:solidFill>
                  <a:prstClr val="black"/>
                </a:solidFill>
                <a:latin typeface="Arial" pitchFamily="34" charset="0"/>
                <a:ea typeface="SimHei" panose="02010609060101010101" pitchFamily="49" charset="-122"/>
              </a:rPr>
              <a:t>Read</a:t>
            </a:r>
          </a:p>
          <a:p>
            <a:pPr algn="r" fontAlgn="auto">
              <a:spcBef>
                <a:spcPts val="0"/>
              </a:spcBef>
              <a:spcAft>
                <a:spcPts val="0"/>
              </a:spcAft>
            </a:pPr>
            <a:r>
              <a:rPr lang="en-US" altLang="zh-CN" sz="1200" b="0" dirty="0">
                <a:solidFill>
                  <a:prstClr val="black"/>
                </a:solidFill>
                <a:latin typeface="Arial" pitchFamily="34" charset="0"/>
                <a:ea typeface="SimHei" panose="02010609060101010101" pitchFamily="49" charset="-122"/>
              </a:rPr>
              <a:t> Data 2</a:t>
            </a:r>
          </a:p>
        </p:txBody>
      </p:sp>
      <p:sp>
        <p:nvSpPr>
          <p:cNvPr id="229" name="Line 53">
            <a:extLst>
              <a:ext uri="{FF2B5EF4-FFF2-40B4-BE49-F238E27FC236}">
                <a16:creationId xmlns:a16="http://schemas.microsoft.com/office/drawing/2014/main" id="{B2838E2B-EB00-4727-9C3F-9140B905141A}"/>
              </a:ext>
            </a:extLst>
          </p:cNvPr>
          <p:cNvSpPr>
            <a:spLocks noChangeShapeType="1"/>
          </p:cNvSpPr>
          <p:nvPr/>
        </p:nvSpPr>
        <p:spPr bwMode="auto">
          <a:xfrm>
            <a:off x="2851382" y="5423005"/>
            <a:ext cx="379900" cy="0"/>
          </a:xfrm>
          <a:prstGeom prst="line">
            <a:avLst/>
          </a:prstGeom>
          <a:noFill/>
          <a:ln w="19050">
            <a:solidFill>
              <a:sysClr val="windowText" lastClr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</a:endParaRPr>
          </a:p>
        </p:txBody>
      </p:sp>
      <p:sp>
        <p:nvSpPr>
          <p:cNvPr id="230" name="Line 54">
            <a:extLst>
              <a:ext uri="{FF2B5EF4-FFF2-40B4-BE49-F238E27FC236}">
                <a16:creationId xmlns:a16="http://schemas.microsoft.com/office/drawing/2014/main" id="{595458CA-0E9E-4A97-BDF4-4485B3199659}"/>
              </a:ext>
            </a:extLst>
          </p:cNvPr>
          <p:cNvSpPr>
            <a:spLocks noChangeShapeType="1"/>
          </p:cNvSpPr>
          <p:nvPr/>
        </p:nvSpPr>
        <p:spPr bwMode="auto">
          <a:xfrm>
            <a:off x="3036580" y="5356753"/>
            <a:ext cx="75980" cy="138880"/>
          </a:xfrm>
          <a:prstGeom prst="line">
            <a:avLst/>
          </a:prstGeom>
          <a:noFill/>
          <a:ln w="12700">
            <a:solidFill>
              <a:sysClr val="windowText" lastClr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</a:endParaRPr>
          </a:p>
        </p:txBody>
      </p:sp>
      <p:sp>
        <p:nvSpPr>
          <p:cNvPr id="231" name="Line 55">
            <a:extLst>
              <a:ext uri="{FF2B5EF4-FFF2-40B4-BE49-F238E27FC236}">
                <a16:creationId xmlns:a16="http://schemas.microsoft.com/office/drawing/2014/main" id="{C4E548F8-D327-436E-BEA6-62E7A16BE7AE}"/>
              </a:ext>
            </a:extLst>
          </p:cNvPr>
          <p:cNvSpPr>
            <a:spLocks noChangeShapeType="1"/>
          </p:cNvSpPr>
          <p:nvPr/>
        </p:nvSpPr>
        <p:spPr bwMode="auto">
          <a:xfrm>
            <a:off x="4249091" y="5341082"/>
            <a:ext cx="75980" cy="138880"/>
          </a:xfrm>
          <a:prstGeom prst="line">
            <a:avLst/>
          </a:prstGeom>
          <a:noFill/>
          <a:ln w="12700">
            <a:solidFill>
              <a:sysClr val="windowText" lastClr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</a:endParaRPr>
          </a:p>
        </p:txBody>
      </p:sp>
      <p:sp>
        <p:nvSpPr>
          <p:cNvPr id="232" name="Text Box 56">
            <a:extLst>
              <a:ext uri="{FF2B5EF4-FFF2-40B4-BE49-F238E27FC236}">
                <a16:creationId xmlns:a16="http://schemas.microsoft.com/office/drawing/2014/main" id="{644937A8-40C5-46C8-9C9D-F00EF50ADC2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917869" y="5445480"/>
            <a:ext cx="379889" cy="27698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1425" tIns="45713" rIns="91425" bIns="45713">
            <a:spAutoFit/>
          </a:bodyPr>
          <a:lstStyle>
            <a:lvl1pPr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1pPr>
            <a:lvl2pPr marL="742950" indent="-28575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2pPr>
            <a:lvl3pPr marL="11430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3pPr>
            <a:lvl4pPr marL="16002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4pPr>
            <a:lvl5pPr marL="20574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9pPr>
          </a:lstStyle>
          <a:p>
            <a:pPr fontAlgn="auto">
              <a:spcBef>
                <a:spcPts val="0"/>
              </a:spcBef>
              <a:spcAft>
                <a:spcPts val="0"/>
              </a:spcAft>
            </a:pPr>
            <a:r>
              <a:rPr lang="en-US" altLang="zh-CN" sz="1200" b="0" dirty="0">
                <a:solidFill>
                  <a:prstClr val="black"/>
                </a:solidFill>
                <a:latin typeface="Arial" pitchFamily="34" charset="0"/>
                <a:ea typeface="SimHei" panose="02010609060101010101" pitchFamily="49" charset="-122"/>
              </a:rPr>
              <a:t>16</a:t>
            </a:r>
          </a:p>
        </p:txBody>
      </p:sp>
      <p:sp>
        <p:nvSpPr>
          <p:cNvPr id="233" name="Text Box 57">
            <a:extLst>
              <a:ext uri="{FF2B5EF4-FFF2-40B4-BE49-F238E27FC236}">
                <a16:creationId xmlns:a16="http://schemas.microsoft.com/office/drawing/2014/main" id="{03BB167D-449A-43BB-B547-531F63E5D29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143040" y="5423005"/>
            <a:ext cx="354554" cy="27698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1425" tIns="45713" rIns="91425" bIns="45713">
            <a:spAutoFit/>
          </a:bodyPr>
          <a:lstStyle>
            <a:lvl1pPr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1pPr>
            <a:lvl2pPr marL="742950" indent="-28575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2pPr>
            <a:lvl3pPr marL="11430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3pPr>
            <a:lvl4pPr marL="16002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4pPr>
            <a:lvl5pPr marL="20574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9pPr>
          </a:lstStyle>
          <a:p>
            <a:pPr fontAlgn="auto">
              <a:spcBef>
                <a:spcPts val="0"/>
              </a:spcBef>
              <a:spcAft>
                <a:spcPts val="0"/>
              </a:spcAft>
            </a:pPr>
            <a:r>
              <a:rPr lang="en-US" altLang="zh-CN" sz="1200" b="0" dirty="0">
                <a:solidFill>
                  <a:prstClr val="black"/>
                </a:solidFill>
                <a:latin typeface="Arial" pitchFamily="34" charset="0"/>
                <a:ea typeface="SimHei" panose="02010609060101010101" pitchFamily="49" charset="-122"/>
              </a:rPr>
              <a:t>32</a:t>
            </a:r>
          </a:p>
        </p:txBody>
      </p:sp>
      <p:sp>
        <p:nvSpPr>
          <p:cNvPr id="234" name="Line 58">
            <a:extLst>
              <a:ext uri="{FF2B5EF4-FFF2-40B4-BE49-F238E27FC236}">
                <a16:creationId xmlns:a16="http://schemas.microsoft.com/office/drawing/2014/main" id="{86146648-F445-4888-9F44-ED71A184B72D}"/>
              </a:ext>
            </a:extLst>
          </p:cNvPr>
          <p:cNvSpPr>
            <a:spLocks noChangeShapeType="1"/>
          </p:cNvSpPr>
          <p:nvPr/>
        </p:nvSpPr>
        <p:spPr bwMode="auto">
          <a:xfrm>
            <a:off x="2927362" y="4798047"/>
            <a:ext cx="227939" cy="0"/>
          </a:xfrm>
          <a:prstGeom prst="line">
            <a:avLst/>
          </a:prstGeom>
          <a:noFill/>
          <a:ln w="19050">
            <a:solidFill>
              <a:sysClr val="windowText" lastClr="00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</a:endParaRPr>
          </a:p>
        </p:txBody>
      </p:sp>
      <p:sp>
        <p:nvSpPr>
          <p:cNvPr id="235" name="Line 59">
            <a:extLst>
              <a:ext uri="{FF2B5EF4-FFF2-40B4-BE49-F238E27FC236}">
                <a16:creationId xmlns:a16="http://schemas.microsoft.com/office/drawing/2014/main" id="{88758794-4FC9-4C71-935E-C5E68C80ACB3}"/>
              </a:ext>
            </a:extLst>
          </p:cNvPr>
          <p:cNvSpPr>
            <a:spLocks noChangeShapeType="1"/>
          </p:cNvSpPr>
          <p:nvPr/>
        </p:nvSpPr>
        <p:spPr bwMode="auto">
          <a:xfrm>
            <a:off x="4858390" y="4936927"/>
            <a:ext cx="0" cy="486079"/>
          </a:xfrm>
          <a:prstGeom prst="line">
            <a:avLst/>
          </a:prstGeom>
          <a:noFill/>
          <a:ln w="19050">
            <a:solidFill>
              <a:sysClr val="windowText" lastClr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</a:endParaRPr>
          </a:p>
        </p:txBody>
      </p:sp>
      <p:sp>
        <p:nvSpPr>
          <p:cNvPr id="236" name="Line 60">
            <a:extLst>
              <a:ext uri="{FF2B5EF4-FFF2-40B4-BE49-F238E27FC236}">
                <a16:creationId xmlns:a16="http://schemas.microsoft.com/office/drawing/2014/main" id="{94818F02-8B61-428B-92F5-B9CB1962BE81}"/>
              </a:ext>
            </a:extLst>
          </p:cNvPr>
          <p:cNvSpPr>
            <a:spLocks noChangeShapeType="1"/>
          </p:cNvSpPr>
          <p:nvPr/>
        </p:nvSpPr>
        <p:spPr bwMode="auto">
          <a:xfrm>
            <a:off x="4446960" y="4589727"/>
            <a:ext cx="151960" cy="0"/>
          </a:xfrm>
          <a:prstGeom prst="line">
            <a:avLst/>
          </a:prstGeom>
          <a:noFill/>
          <a:ln w="19050">
            <a:solidFill>
              <a:sysClr val="windowText" lastClr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</a:endParaRPr>
          </a:p>
        </p:txBody>
      </p:sp>
      <p:sp>
        <p:nvSpPr>
          <p:cNvPr id="237" name="Line 61">
            <a:extLst>
              <a:ext uri="{FF2B5EF4-FFF2-40B4-BE49-F238E27FC236}">
                <a16:creationId xmlns:a16="http://schemas.microsoft.com/office/drawing/2014/main" id="{6CCF1587-D68A-4D91-BA46-65631748E928}"/>
              </a:ext>
            </a:extLst>
          </p:cNvPr>
          <p:cNvSpPr>
            <a:spLocks noChangeShapeType="1"/>
          </p:cNvSpPr>
          <p:nvPr/>
        </p:nvSpPr>
        <p:spPr bwMode="auto">
          <a:xfrm>
            <a:off x="2851382" y="3756449"/>
            <a:ext cx="0" cy="1666556"/>
          </a:xfrm>
          <a:prstGeom prst="line">
            <a:avLst/>
          </a:prstGeom>
          <a:noFill/>
          <a:ln w="19050">
            <a:solidFill>
              <a:sysClr val="windowText" lastClr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</a:endParaRPr>
          </a:p>
        </p:txBody>
      </p:sp>
      <p:sp>
        <p:nvSpPr>
          <p:cNvPr id="238" name="Line 62">
            <a:extLst>
              <a:ext uri="{FF2B5EF4-FFF2-40B4-BE49-F238E27FC236}">
                <a16:creationId xmlns:a16="http://schemas.microsoft.com/office/drawing/2014/main" id="{0DF24A5B-1789-4BBC-A2C8-876C93BE10C4}"/>
              </a:ext>
            </a:extLst>
          </p:cNvPr>
          <p:cNvSpPr>
            <a:spLocks noChangeShapeType="1"/>
          </p:cNvSpPr>
          <p:nvPr/>
        </p:nvSpPr>
        <p:spPr bwMode="auto">
          <a:xfrm>
            <a:off x="2851382" y="3756449"/>
            <a:ext cx="303920" cy="0"/>
          </a:xfrm>
          <a:prstGeom prst="line">
            <a:avLst/>
          </a:prstGeom>
          <a:noFill/>
          <a:ln w="19050">
            <a:solidFill>
              <a:sysClr val="windowText" lastClr="00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</a:endParaRPr>
          </a:p>
        </p:txBody>
      </p:sp>
      <p:sp>
        <p:nvSpPr>
          <p:cNvPr id="239" name="Line 63">
            <a:extLst>
              <a:ext uri="{FF2B5EF4-FFF2-40B4-BE49-F238E27FC236}">
                <a16:creationId xmlns:a16="http://schemas.microsoft.com/office/drawing/2014/main" id="{4829A98D-1E10-482D-8A5F-2737EB258E45}"/>
              </a:ext>
            </a:extLst>
          </p:cNvPr>
          <p:cNvSpPr>
            <a:spLocks noChangeShapeType="1"/>
          </p:cNvSpPr>
          <p:nvPr/>
        </p:nvSpPr>
        <p:spPr bwMode="auto">
          <a:xfrm>
            <a:off x="4750880" y="4589727"/>
            <a:ext cx="471997" cy="0"/>
          </a:xfrm>
          <a:prstGeom prst="line">
            <a:avLst/>
          </a:prstGeom>
          <a:noFill/>
          <a:ln w="19050">
            <a:solidFill>
              <a:sysClr val="windowText" lastClr="00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</a:endParaRPr>
          </a:p>
        </p:txBody>
      </p:sp>
      <p:sp>
        <p:nvSpPr>
          <p:cNvPr id="240" name="Line 64">
            <a:extLst>
              <a:ext uri="{FF2B5EF4-FFF2-40B4-BE49-F238E27FC236}">
                <a16:creationId xmlns:a16="http://schemas.microsoft.com/office/drawing/2014/main" id="{34F278BB-ADEC-40B0-8677-93CEECA89E21}"/>
              </a:ext>
            </a:extLst>
          </p:cNvPr>
          <p:cNvSpPr>
            <a:spLocks noChangeShapeType="1"/>
          </p:cNvSpPr>
          <p:nvPr/>
        </p:nvSpPr>
        <p:spPr bwMode="auto">
          <a:xfrm>
            <a:off x="6118520" y="4381408"/>
            <a:ext cx="151514" cy="0"/>
          </a:xfrm>
          <a:prstGeom prst="line">
            <a:avLst/>
          </a:prstGeom>
          <a:noFill/>
          <a:ln w="19050">
            <a:solidFill>
              <a:sysClr val="windowText" lastClr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</a:endParaRPr>
          </a:p>
        </p:txBody>
      </p:sp>
      <p:sp>
        <p:nvSpPr>
          <p:cNvPr id="241" name="Freeform 65">
            <a:extLst>
              <a:ext uri="{FF2B5EF4-FFF2-40B4-BE49-F238E27FC236}">
                <a16:creationId xmlns:a16="http://schemas.microsoft.com/office/drawing/2014/main" id="{BB9CB7E9-F3F8-4B6E-9BAD-C8421A5618A9}"/>
              </a:ext>
            </a:extLst>
          </p:cNvPr>
          <p:cNvSpPr>
            <a:spLocks/>
          </p:cNvSpPr>
          <p:nvPr/>
        </p:nvSpPr>
        <p:spPr bwMode="auto">
          <a:xfrm>
            <a:off x="5586659" y="3756449"/>
            <a:ext cx="531860" cy="1180477"/>
          </a:xfrm>
          <a:custGeom>
            <a:avLst/>
            <a:gdLst>
              <a:gd name="T0" fmla="*/ 0 w 388"/>
              <a:gd name="T1" fmla="*/ 0 h 1099"/>
              <a:gd name="T2" fmla="*/ 0 w 388"/>
              <a:gd name="T3" fmla="*/ 235 h 1099"/>
              <a:gd name="T4" fmla="*/ 83 w 388"/>
              <a:gd name="T5" fmla="*/ 305 h 1099"/>
              <a:gd name="T6" fmla="*/ 0 w 388"/>
              <a:gd name="T7" fmla="*/ 370 h 1099"/>
              <a:gd name="T8" fmla="*/ 0 w 388"/>
              <a:gd name="T9" fmla="*/ 605 h 1099"/>
              <a:gd name="T10" fmla="*/ 290 w 388"/>
              <a:gd name="T11" fmla="*/ 436 h 1099"/>
              <a:gd name="T12" fmla="*/ 290 w 388"/>
              <a:gd name="T13" fmla="*/ 170 h 1099"/>
              <a:gd name="T14" fmla="*/ 0 w 388"/>
              <a:gd name="T15" fmla="*/ 0 h 1099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0" t="0" r="r" b="b"/>
            <a:pathLst>
              <a:path w="388" h="1099">
                <a:moveTo>
                  <a:pt x="0" y="0"/>
                </a:moveTo>
                <a:lnTo>
                  <a:pt x="0" y="427"/>
                </a:lnTo>
                <a:lnTo>
                  <a:pt x="111" y="553"/>
                </a:lnTo>
                <a:lnTo>
                  <a:pt x="0" y="671"/>
                </a:lnTo>
                <a:lnTo>
                  <a:pt x="0" y="1098"/>
                </a:lnTo>
                <a:lnTo>
                  <a:pt x="387" y="790"/>
                </a:lnTo>
                <a:lnTo>
                  <a:pt x="387" y="308"/>
                </a:lnTo>
                <a:lnTo>
                  <a:pt x="0" y="0"/>
                </a:lnTo>
              </a:path>
            </a:pathLst>
          </a:custGeom>
          <a:noFill/>
          <a:ln w="19050" cap="rnd" cmpd="sng">
            <a:solidFill>
              <a:srgbClr val="000000"/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fontAlgn="auto">
              <a:spcBef>
                <a:spcPts val="0"/>
              </a:spcBef>
              <a:spcAft>
                <a:spcPts val="0"/>
              </a:spcAft>
            </a:pPr>
            <a:endParaRPr lang="zh-CN" altLang="en-US">
              <a:solidFill>
                <a:prstClr val="black"/>
              </a:solidFill>
              <a:latin typeface="等线" panose="020F0502020204030204"/>
              <a:ea typeface="等线" panose="02010600030101010101" pitchFamily="2" charset="-122"/>
            </a:endParaRPr>
          </a:p>
        </p:txBody>
      </p:sp>
      <p:sp>
        <p:nvSpPr>
          <p:cNvPr id="242" name="Rectangle 66">
            <a:extLst>
              <a:ext uri="{FF2B5EF4-FFF2-40B4-BE49-F238E27FC236}">
                <a16:creationId xmlns:a16="http://schemas.microsoft.com/office/drawing/2014/main" id="{18A730CF-092B-4D98-9452-5ABE44B09652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83217" y="4234123"/>
            <a:ext cx="473292" cy="1985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19047" tIns="26984" rIns="19047" bIns="26984"/>
          <a:lstStyle/>
          <a:p>
            <a:pPr algn="ctr" defTabSz="903288" eaLnBrk="0" fontAlgn="auto" hangingPunct="0">
              <a:lnSpc>
                <a:spcPts val="1600"/>
              </a:lnSpc>
              <a:spcBef>
                <a:spcPts val="0"/>
              </a:spcBef>
              <a:spcAft>
                <a:spcPts val="0"/>
              </a:spcAft>
              <a:tabLst>
                <a:tab pos="452438" algn="l"/>
                <a:tab pos="903288" algn="l"/>
                <a:tab pos="1357313" algn="l"/>
              </a:tabLst>
            </a:pPr>
            <a:r>
              <a:rPr lang="en-US" altLang="zh-CN" sz="1400" b="1" dirty="0">
                <a:solidFill>
                  <a:srgbClr val="000000"/>
                </a:solidFill>
                <a:latin typeface="Arial" pitchFamily="34" charset="0"/>
                <a:ea typeface="等线" panose="02010600030101010101" pitchFamily="2" charset="-122"/>
              </a:rPr>
              <a:t>ALU</a:t>
            </a:r>
          </a:p>
        </p:txBody>
      </p:sp>
      <p:sp>
        <p:nvSpPr>
          <p:cNvPr id="243" name="AutoShape 67">
            <a:extLst>
              <a:ext uri="{FF2B5EF4-FFF2-40B4-BE49-F238E27FC236}">
                <a16:creationId xmlns:a16="http://schemas.microsoft.com/office/drawing/2014/main" id="{CDBBE81F-F981-47DE-8568-C6CEF19A3AE0}"/>
              </a:ext>
            </a:extLst>
          </p:cNvPr>
          <p:cNvSpPr>
            <a:spLocks noChangeArrowheads="1"/>
          </p:cNvSpPr>
          <p:nvPr/>
        </p:nvSpPr>
        <p:spPr bwMode="auto">
          <a:xfrm rot="16200000">
            <a:off x="4989649" y="4613191"/>
            <a:ext cx="694398" cy="227940"/>
          </a:xfrm>
          <a:custGeom>
            <a:avLst/>
            <a:gdLst>
              <a:gd name="T0" fmla="*/ 9 w 21600"/>
              <a:gd name="T1" fmla="*/ 0 h 21600"/>
              <a:gd name="T2" fmla="*/ 5 w 21600"/>
              <a:gd name="T3" fmla="*/ 1 h 21600"/>
              <a:gd name="T4" fmla="*/ 1 w 21600"/>
              <a:gd name="T5" fmla="*/ 0 h 21600"/>
              <a:gd name="T6" fmla="*/ 5 w 21600"/>
              <a:gd name="T7" fmla="*/ 0 h 21600"/>
              <a:gd name="T8" fmla="*/ 0 60000 65536"/>
              <a:gd name="T9" fmla="*/ 0 60000 65536"/>
              <a:gd name="T10" fmla="*/ 0 60000 65536"/>
              <a:gd name="T11" fmla="*/ 0 60000 65536"/>
              <a:gd name="T12" fmla="*/ 4500 w 21600"/>
              <a:gd name="T13" fmla="*/ 4500 h 21600"/>
              <a:gd name="T14" fmla="*/ 17100 w 21600"/>
              <a:gd name="T15" fmla="*/ 17100 h 21600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21600" h="21600">
                <a:moveTo>
                  <a:pt x="0" y="0"/>
                </a:moveTo>
                <a:lnTo>
                  <a:pt x="5400" y="21600"/>
                </a:lnTo>
                <a:lnTo>
                  <a:pt x="16200" y="21600"/>
                </a:lnTo>
                <a:lnTo>
                  <a:pt x="21600" y="0"/>
                </a:lnTo>
                <a:lnTo>
                  <a:pt x="0" y="0"/>
                </a:lnTo>
                <a:close/>
              </a:path>
            </a:pathLst>
          </a:custGeom>
          <a:noFill/>
          <a:ln w="19050">
            <a:solidFill>
              <a:sysClr val="windowText" lastClr="000000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</a:endParaRPr>
          </a:p>
        </p:txBody>
      </p:sp>
      <p:sp>
        <p:nvSpPr>
          <p:cNvPr id="244" name="Line 68">
            <a:extLst>
              <a:ext uri="{FF2B5EF4-FFF2-40B4-BE49-F238E27FC236}">
                <a16:creationId xmlns:a16="http://schemas.microsoft.com/office/drawing/2014/main" id="{D3AE6885-E7C5-40CB-8E8F-120FC8CE7363}"/>
              </a:ext>
            </a:extLst>
          </p:cNvPr>
          <p:cNvSpPr>
            <a:spLocks noChangeShapeType="1"/>
          </p:cNvSpPr>
          <p:nvPr/>
        </p:nvSpPr>
        <p:spPr bwMode="auto">
          <a:xfrm>
            <a:off x="5455850" y="4728607"/>
            <a:ext cx="130809" cy="0"/>
          </a:xfrm>
          <a:prstGeom prst="line">
            <a:avLst/>
          </a:prstGeom>
          <a:noFill/>
          <a:ln w="19050">
            <a:solidFill>
              <a:sysClr val="windowText" lastClr="00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</a:endParaRPr>
          </a:p>
        </p:txBody>
      </p:sp>
      <p:sp>
        <p:nvSpPr>
          <p:cNvPr id="245" name="Rectangle 70">
            <a:extLst>
              <a:ext uri="{FF2B5EF4-FFF2-40B4-BE49-F238E27FC236}">
                <a16:creationId xmlns:a16="http://schemas.microsoft.com/office/drawing/2014/main" id="{C41A66F6-79D1-4180-9C63-922E113674F9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49790" y="4431187"/>
            <a:ext cx="120300" cy="68210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19047" tIns="26984" rIns="19047" bIns="26984"/>
          <a:lstStyle/>
          <a:p>
            <a:pPr eaLnBrk="0" fontAlgn="auto" hangingPunct="0">
              <a:spcBef>
                <a:spcPts val="600"/>
              </a:spcBef>
              <a:spcAft>
                <a:spcPts val="600"/>
              </a:spcAft>
            </a:pPr>
            <a:r>
              <a:rPr lang="en-US" altLang="zh-CN" sz="1200" dirty="0">
                <a:solidFill>
                  <a:prstClr val="black"/>
                </a:solidFill>
                <a:latin typeface="Arial" pitchFamily="34" charset="0"/>
                <a:ea typeface="等线" panose="02010600030101010101" pitchFamily="2" charset="-122"/>
              </a:rPr>
              <a:t>0</a:t>
            </a:r>
          </a:p>
          <a:p>
            <a:pPr eaLnBrk="0" fontAlgn="auto" hangingPunct="0">
              <a:spcBef>
                <a:spcPts val="600"/>
              </a:spcBef>
              <a:spcAft>
                <a:spcPts val="600"/>
              </a:spcAft>
            </a:pPr>
            <a:r>
              <a:rPr lang="en-US" altLang="zh-CN" sz="1200" dirty="0">
                <a:solidFill>
                  <a:prstClr val="black"/>
                </a:solidFill>
                <a:latin typeface="Arial" pitchFamily="34" charset="0"/>
                <a:ea typeface="等线" panose="02010600030101010101" pitchFamily="2" charset="-122"/>
              </a:rPr>
              <a:t>1</a:t>
            </a:r>
          </a:p>
        </p:txBody>
      </p:sp>
      <p:sp>
        <p:nvSpPr>
          <p:cNvPr id="246" name="Line 71">
            <a:extLst>
              <a:ext uri="{FF2B5EF4-FFF2-40B4-BE49-F238E27FC236}">
                <a16:creationId xmlns:a16="http://schemas.microsoft.com/office/drawing/2014/main" id="{C99A433A-DAF4-46EF-B62B-CD97C68E2C23}"/>
              </a:ext>
            </a:extLst>
          </p:cNvPr>
          <p:cNvSpPr>
            <a:spLocks noChangeShapeType="1"/>
          </p:cNvSpPr>
          <p:nvPr/>
        </p:nvSpPr>
        <p:spPr bwMode="auto">
          <a:xfrm>
            <a:off x="4858391" y="4936927"/>
            <a:ext cx="364486" cy="0"/>
          </a:xfrm>
          <a:prstGeom prst="line">
            <a:avLst/>
          </a:prstGeom>
          <a:noFill/>
          <a:ln w="19050">
            <a:solidFill>
              <a:sysClr val="windowText" lastClr="00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</a:endParaRPr>
          </a:p>
        </p:txBody>
      </p:sp>
      <p:sp>
        <p:nvSpPr>
          <p:cNvPr id="247" name="Line 72">
            <a:extLst>
              <a:ext uri="{FF2B5EF4-FFF2-40B4-BE49-F238E27FC236}">
                <a16:creationId xmlns:a16="http://schemas.microsoft.com/office/drawing/2014/main" id="{DF8ADBBF-5252-497B-8DE5-0BE8AF4C375C}"/>
              </a:ext>
            </a:extLst>
          </p:cNvPr>
          <p:cNvSpPr>
            <a:spLocks noChangeShapeType="1"/>
          </p:cNvSpPr>
          <p:nvPr/>
        </p:nvSpPr>
        <p:spPr bwMode="auto">
          <a:xfrm>
            <a:off x="4750880" y="3964769"/>
            <a:ext cx="810453" cy="0"/>
          </a:xfrm>
          <a:prstGeom prst="line">
            <a:avLst/>
          </a:prstGeom>
          <a:noFill/>
          <a:ln w="19050">
            <a:solidFill>
              <a:sysClr val="windowText" lastClr="00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</a:endParaRPr>
          </a:p>
        </p:txBody>
      </p:sp>
      <p:sp>
        <p:nvSpPr>
          <p:cNvPr id="248" name="Oval 73">
            <a:extLst>
              <a:ext uri="{FF2B5EF4-FFF2-40B4-BE49-F238E27FC236}">
                <a16:creationId xmlns:a16="http://schemas.microsoft.com/office/drawing/2014/main" id="{7AFD3508-342F-4C8D-B411-7B50B2A09D70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30780" y="3270371"/>
            <a:ext cx="455880" cy="486079"/>
          </a:xfrm>
          <a:prstGeom prst="ellipse">
            <a:avLst/>
          </a:prstGeom>
          <a:noFill/>
          <a:ln w="19050">
            <a:solidFill>
              <a:sysClr val="windowText" lastClr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</a:endParaRPr>
          </a:p>
        </p:txBody>
      </p:sp>
      <p:sp>
        <p:nvSpPr>
          <p:cNvPr id="249" name="Rectangle 74">
            <a:extLst>
              <a:ext uri="{FF2B5EF4-FFF2-40B4-BE49-F238E27FC236}">
                <a16:creationId xmlns:a16="http://schemas.microsoft.com/office/drawing/2014/main" id="{9D7FFB26-8971-409E-A177-F811C6B5FF14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37751" y="3390057"/>
            <a:ext cx="441936" cy="239554"/>
          </a:xfrm>
          <a:prstGeom prst="rect">
            <a:avLst/>
          </a:prstGeom>
          <a:noFill/>
          <a:ln w="12700">
            <a:noFill/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19047" tIns="26984" rIns="19047" bIns="26984"/>
          <a:lstStyle/>
          <a:p>
            <a:pPr algn="ctr" defTabSz="903288" eaLnBrk="0" fontAlgn="auto" hangingPunct="0">
              <a:lnSpc>
                <a:spcPts val="1600"/>
              </a:lnSpc>
              <a:spcBef>
                <a:spcPts val="0"/>
              </a:spcBef>
              <a:spcAft>
                <a:spcPts val="0"/>
              </a:spcAft>
              <a:tabLst>
                <a:tab pos="452438" algn="l"/>
                <a:tab pos="903288" algn="l"/>
                <a:tab pos="1357313" algn="l"/>
              </a:tabLst>
            </a:pPr>
            <a:r>
              <a:rPr lang="en-US" altLang="zh-CN" sz="1400" dirty="0">
                <a:solidFill>
                  <a:srgbClr val="000000"/>
                </a:solidFill>
                <a:latin typeface="Arial" pitchFamily="34" charset="0"/>
                <a:ea typeface="等线" panose="02010600030101010101" pitchFamily="2" charset="-122"/>
              </a:rPr>
              <a:t>&lt;&lt;2</a:t>
            </a:r>
          </a:p>
        </p:txBody>
      </p:sp>
      <p:sp>
        <p:nvSpPr>
          <p:cNvPr id="250" name="Line 75">
            <a:extLst>
              <a:ext uri="{FF2B5EF4-FFF2-40B4-BE49-F238E27FC236}">
                <a16:creationId xmlns:a16="http://schemas.microsoft.com/office/drawing/2014/main" id="{1785F4D2-A1F7-406B-B8A8-CEE1D57D398C}"/>
              </a:ext>
            </a:extLst>
          </p:cNvPr>
          <p:cNvSpPr>
            <a:spLocks noChangeShapeType="1"/>
          </p:cNvSpPr>
          <p:nvPr/>
        </p:nvSpPr>
        <p:spPr bwMode="auto">
          <a:xfrm>
            <a:off x="4858390" y="3548130"/>
            <a:ext cx="272390" cy="0"/>
          </a:xfrm>
          <a:prstGeom prst="line">
            <a:avLst/>
          </a:prstGeom>
          <a:noFill/>
          <a:ln w="19050">
            <a:solidFill>
              <a:sysClr val="windowText" lastClr="00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</a:endParaRPr>
          </a:p>
        </p:txBody>
      </p:sp>
      <p:grpSp>
        <p:nvGrpSpPr>
          <p:cNvPr id="251" name="Group 76">
            <a:extLst>
              <a:ext uri="{FF2B5EF4-FFF2-40B4-BE49-F238E27FC236}">
                <a16:creationId xmlns:a16="http://schemas.microsoft.com/office/drawing/2014/main" id="{5FA90013-DB05-4BC6-AE49-81673DE7BB5F}"/>
              </a:ext>
            </a:extLst>
          </p:cNvPr>
          <p:cNvGrpSpPr>
            <a:grpSpLocks/>
          </p:cNvGrpSpPr>
          <p:nvPr/>
        </p:nvGrpSpPr>
        <p:grpSpPr bwMode="auto">
          <a:xfrm>
            <a:off x="5814599" y="2923171"/>
            <a:ext cx="356156" cy="833278"/>
            <a:chOff x="1392" y="2880"/>
            <a:chExt cx="288" cy="480"/>
          </a:xfrm>
        </p:grpSpPr>
        <p:sp>
          <p:nvSpPr>
            <p:cNvPr id="252" name="Line 77">
              <a:extLst>
                <a:ext uri="{FF2B5EF4-FFF2-40B4-BE49-F238E27FC236}">
                  <a16:creationId xmlns:a16="http://schemas.microsoft.com/office/drawing/2014/main" id="{B8B32721-84DE-4E13-8F2E-1FF8B66310B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92" y="3072"/>
              <a:ext cx="48" cy="48"/>
            </a:xfrm>
            <a:prstGeom prst="line">
              <a:avLst/>
            </a:prstGeom>
            <a:noFill/>
            <a:ln w="19050">
              <a:solidFill>
                <a:sysClr val="windowText" lastClr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F0502020204030204"/>
                <a:ea typeface="等线" panose="02010600030101010101" pitchFamily="2" charset="-122"/>
              </a:endParaRPr>
            </a:p>
          </p:txBody>
        </p:sp>
        <p:sp>
          <p:nvSpPr>
            <p:cNvPr id="253" name="Line 78">
              <a:extLst>
                <a:ext uri="{FF2B5EF4-FFF2-40B4-BE49-F238E27FC236}">
                  <a16:creationId xmlns:a16="http://schemas.microsoft.com/office/drawing/2014/main" id="{78C77076-F717-4C8F-ABFE-0C1928AD9E4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392" y="3120"/>
              <a:ext cx="48" cy="48"/>
            </a:xfrm>
            <a:prstGeom prst="line">
              <a:avLst/>
            </a:prstGeom>
            <a:noFill/>
            <a:ln w="19050">
              <a:solidFill>
                <a:sysClr val="windowText" lastClr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F0502020204030204"/>
                <a:ea typeface="等线" panose="02010600030101010101" pitchFamily="2" charset="-122"/>
              </a:endParaRPr>
            </a:p>
          </p:txBody>
        </p:sp>
        <p:sp>
          <p:nvSpPr>
            <p:cNvPr id="254" name="Line 79">
              <a:extLst>
                <a:ext uri="{FF2B5EF4-FFF2-40B4-BE49-F238E27FC236}">
                  <a16:creationId xmlns:a16="http://schemas.microsoft.com/office/drawing/2014/main" id="{13195801-3300-4B38-ACF5-633206CBECA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392" y="2880"/>
              <a:ext cx="0" cy="192"/>
            </a:xfrm>
            <a:prstGeom prst="line">
              <a:avLst/>
            </a:prstGeom>
            <a:noFill/>
            <a:ln w="19050">
              <a:solidFill>
                <a:sysClr val="windowText" lastClr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F0502020204030204"/>
                <a:ea typeface="等线" panose="02010600030101010101" pitchFamily="2" charset="-122"/>
              </a:endParaRPr>
            </a:p>
          </p:txBody>
        </p:sp>
        <p:sp>
          <p:nvSpPr>
            <p:cNvPr id="255" name="Line 80">
              <a:extLst>
                <a:ext uri="{FF2B5EF4-FFF2-40B4-BE49-F238E27FC236}">
                  <a16:creationId xmlns:a16="http://schemas.microsoft.com/office/drawing/2014/main" id="{B3F1D39A-BA6F-4EA3-A767-A598ACFE031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392" y="3168"/>
              <a:ext cx="0" cy="192"/>
            </a:xfrm>
            <a:prstGeom prst="line">
              <a:avLst/>
            </a:prstGeom>
            <a:noFill/>
            <a:ln w="19050">
              <a:solidFill>
                <a:sysClr val="windowText" lastClr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F0502020204030204"/>
                <a:ea typeface="等线" panose="02010600030101010101" pitchFamily="2" charset="-122"/>
              </a:endParaRPr>
            </a:p>
          </p:txBody>
        </p:sp>
        <p:sp>
          <p:nvSpPr>
            <p:cNvPr id="256" name="Line 81">
              <a:extLst>
                <a:ext uri="{FF2B5EF4-FFF2-40B4-BE49-F238E27FC236}">
                  <a16:creationId xmlns:a16="http://schemas.microsoft.com/office/drawing/2014/main" id="{7FFDFC39-B1C0-4ADC-A553-41F58EADB5C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392" y="3216"/>
              <a:ext cx="288" cy="144"/>
            </a:xfrm>
            <a:prstGeom prst="line">
              <a:avLst/>
            </a:prstGeom>
            <a:noFill/>
            <a:ln w="19050">
              <a:solidFill>
                <a:sysClr val="windowText" lastClr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F0502020204030204"/>
                <a:ea typeface="等线" panose="02010600030101010101" pitchFamily="2" charset="-122"/>
              </a:endParaRPr>
            </a:p>
          </p:txBody>
        </p:sp>
        <p:sp>
          <p:nvSpPr>
            <p:cNvPr id="257" name="Line 82">
              <a:extLst>
                <a:ext uri="{FF2B5EF4-FFF2-40B4-BE49-F238E27FC236}">
                  <a16:creationId xmlns:a16="http://schemas.microsoft.com/office/drawing/2014/main" id="{B3F8368C-E95A-4E10-9D24-846FFAF9C24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680" y="3024"/>
              <a:ext cx="0" cy="192"/>
            </a:xfrm>
            <a:prstGeom prst="line">
              <a:avLst/>
            </a:prstGeom>
            <a:noFill/>
            <a:ln w="19050">
              <a:solidFill>
                <a:sysClr val="windowText" lastClr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F0502020204030204"/>
                <a:ea typeface="等线" panose="02010600030101010101" pitchFamily="2" charset="-122"/>
              </a:endParaRPr>
            </a:p>
          </p:txBody>
        </p:sp>
        <p:sp>
          <p:nvSpPr>
            <p:cNvPr id="258" name="Line 83">
              <a:extLst>
                <a:ext uri="{FF2B5EF4-FFF2-40B4-BE49-F238E27FC236}">
                  <a16:creationId xmlns:a16="http://schemas.microsoft.com/office/drawing/2014/main" id="{730B887F-2DF1-414A-9CD5-12981DA1849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92" y="2880"/>
              <a:ext cx="288" cy="144"/>
            </a:xfrm>
            <a:prstGeom prst="line">
              <a:avLst/>
            </a:prstGeom>
            <a:noFill/>
            <a:ln w="19050">
              <a:solidFill>
                <a:sysClr val="windowText" lastClr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F0502020204030204"/>
                <a:ea typeface="等线" panose="02010600030101010101" pitchFamily="2" charset="-122"/>
              </a:endParaRPr>
            </a:p>
          </p:txBody>
        </p:sp>
      </p:grpSp>
      <p:sp>
        <p:nvSpPr>
          <p:cNvPr id="259" name="Text Box 84">
            <a:extLst>
              <a:ext uri="{FF2B5EF4-FFF2-40B4-BE49-F238E27FC236}">
                <a16:creationId xmlns:a16="http://schemas.microsoft.com/office/drawing/2014/main" id="{2F604E61-50A8-4846-B71B-B3477AC9DFE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778228" y="3206396"/>
            <a:ext cx="457146" cy="27698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1425" tIns="45713" rIns="91425" bIns="45713">
            <a:spAutoFit/>
          </a:bodyPr>
          <a:lstStyle>
            <a:lvl1pPr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1pPr>
            <a:lvl2pPr marL="742950" indent="-28575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2pPr>
            <a:lvl3pPr marL="11430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3pPr>
            <a:lvl4pPr marL="16002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4pPr>
            <a:lvl5pPr marL="20574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9pPr>
          </a:lstStyle>
          <a:p>
            <a:pPr fontAlgn="auto">
              <a:spcBef>
                <a:spcPts val="0"/>
              </a:spcBef>
              <a:spcAft>
                <a:spcPts val="0"/>
              </a:spcAft>
            </a:pPr>
            <a:r>
              <a:rPr lang="en-US" altLang="zh-CN" sz="1200" b="0" dirty="0">
                <a:solidFill>
                  <a:prstClr val="black"/>
                </a:solidFill>
                <a:latin typeface="Arial" pitchFamily="34" charset="0"/>
                <a:ea typeface="SimHei" panose="02010609060101010101" pitchFamily="49" charset="-122"/>
              </a:rPr>
              <a:t>Add</a:t>
            </a:r>
          </a:p>
        </p:txBody>
      </p:sp>
      <p:sp>
        <p:nvSpPr>
          <p:cNvPr id="260" name="Line 85">
            <a:extLst>
              <a:ext uri="{FF2B5EF4-FFF2-40B4-BE49-F238E27FC236}">
                <a16:creationId xmlns:a16="http://schemas.microsoft.com/office/drawing/2014/main" id="{9FD40647-5EE9-4858-AFB0-65FEE784DA37}"/>
              </a:ext>
            </a:extLst>
          </p:cNvPr>
          <p:cNvSpPr>
            <a:spLocks noChangeShapeType="1"/>
          </p:cNvSpPr>
          <p:nvPr/>
        </p:nvSpPr>
        <p:spPr bwMode="auto">
          <a:xfrm>
            <a:off x="5581938" y="3548130"/>
            <a:ext cx="227940" cy="0"/>
          </a:xfrm>
          <a:prstGeom prst="line">
            <a:avLst/>
          </a:prstGeom>
          <a:noFill/>
          <a:ln w="19050">
            <a:solidFill>
              <a:sysClr val="windowText" lastClr="00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</a:endParaRPr>
          </a:p>
        </p:txBody>
      </p:sp>
      <p:sp>
        <p:nvSpPr>
          <p:cNvPr id="261" name="Rectangle 86">
            <a:extLst>
              <a:ext uri="{FF2B5EF4-FFF2-40B4-BE49-F238E27FC236}">
                <a16:creationId xmlns:a16="http://schemas.microsoft.com/office/drawing/2014/main" id="{3B240796-0B8F-44E5-B80E-51614438859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50378" y="3792233"/>
            <a:ext cx="1291659" cy="1117207"/>
          </a:xfrm>
          <a:prstGeom prst="rect">
            <a:avLst/>
          </a:prstGeom>
          <a:noFill/>
          <a:ln w="19050">
            <a:solidFill>
              <a:sysClr val="windowText" lastClr="000000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</a:endParaRPr>
          </a:p>
        </p:txBody>
      </p:sp>
      <p:sp>
        <p:nvSpPr>
          <p:cNvPr id="262" name="Line 87">
            <a:extLst>
              <a:ext uri="{FF2B5EF4-FFF2-40B4-BE49-F238E27FC236}">
                <a16:creationId xmlns:a16="http://schemas.microsoft.com/office/drawing/2014/main" id="{48776F3B-4D56-41F9-B985-242D8C2722F9}"/>
              </a:ext>
            </a:extLst>
          </p:cNvPr>
          <p:cNvSpPr>
            <a:spLocks noChangeShapeType="1"/>
          </p:cNvSpPr>
          <p:nvPr/>
        </p:nvSpPr>
        <p:spPr bwMode="auto">
          <a:xfrm>
            <a:off x="6422439" y="4381408"/>
            <a:ext cx="227940" cy="0"/>
          </a:xfrm>
          <a:prstGeom prst="line">
            <a:avLst/>
          </a:prstGeom>
          <a:noFill/>
          <a:ln w="19050">
            <a:solidFill>
              <a:sysClr val="windowText" lastClr="00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</a:endParaRPr>
          </a:p>
        </p:txBody>
      </p:sp>
      <p:sp>
        <p:nvSpPr>
          <p:cNvPr id="263" name="Text Box 88">
            <a:extLst>
              <a:ext uri="{FF2B5EF4-FFF2-40B4-BE49-F238E27FC236}">
                <a16:creationId xmlns:a16="http://schemas.microsoft.com/office/drawing/2014/main" id="{E682EE06-4CE9-4973-9B29-B0A7C936561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676689" y="3792234"/>
            <a:ext cx="830645" cy="52320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1425" tIns="45713" rIns="91425" bIns="45713">
            <a:spAutoFit/>
          </a:bodyPr>
          <a:lstStyle>
            <a:lvl1pPr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1pPr>
            <a:lvl2pPr marL="742950" indent="-28575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2pPr>
            <a:lvl3pPr marL="11430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3pPr>
            <a:lvl4pPr marL="16002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4pPr>
            <a:lvl5pPr marL="20574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9pPr>
          </a:lstStyle>
          <a:p>
            <a:pPr algn="ctr" fontAlgn="auto">
              <a:spcBef>
                <a:spcPts val="0"/>
              </a:spcBef>
              <a:spcAft>
                <a:spcPts val="0"/>
              </a:spcAft>
            </a:pPr>
            <a:r>
              <a:rPr lang="en-US" altLang="zh-CN" sz="1400" b="0" dirty="0">
                <a:solidFill>
                  <a:prstClr val="black"/>
                </a:solidFill>
                <a:latin typeface="Arial" pitchFamily="34" charset="0"/>
                <a:ea typeface="SimHei" panose="02010609060101010101" pitchFamily="49" charset="-122"/>
              </a:rPr>
              <a:t>Data</a:t>
            </a:r>
          </a:p>
          <a:p>
            <a:pPr algn="ctr" fontAlgn="auto">
              <a:spcBef>
                <a:spcPts val="0"/>
              </a:spcBef>
              <a:spcAft>
                <a:spcPts val="0"/>
              </a:spcAft>
            </a:pPr>
            <a:r>
              <a:rPr lang="en-US" altLang="zh-CN" sz="1400" b="0" dirty="0">
                <a:solidFill>
                  <a:prstClr val="black"/>
                </a:solidFill>
                <a:latin typeface="Arial" pitchFamily="34" charset="0"/>
                <a:ea typeface="SimHei" panose="02010609060101010101" pitchFamily="49" charset="-122"/>
              </a:rPr>
              <a:t>Memory</a:t>
            </a:r>
          </a:p>
        </p:txBody>
      </p:sp>
      <p:sp>
        <p:nvSpPr>
          <p:cNvPr id="264" name="Text Box 89">
            <a:extLst>
              <a:ext uri="{FF2B5EF4-FFF2-40B4-BE49-F238E27FC236}">
                <a16:creationId xmlns:a16="http://schemas.microsoft.com/office/drawing/2014/main" id="{252C8FB5-075D-4DFF-B013-F242DF32DB8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74398" y="4242528"/>
            <a:ext cx="747290" cy="27698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1425" tIns="45713" rIns="91425" bIns="45713">
            <a:spAutoFit/>
          </a:bodyPr>
          <a:lstStyle>
            <a:lvl1pPr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1pPr>
            <a:lvl2pPr marL="742950" indent="-28575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2pPr>
            <a:lvl3pPr marL="11430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3pPr>
            <a:lvl4pPr marL="16002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4pPr>
            <a:lvl5pPr marL="20574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9pPr>
          </a:lstStyle>
          <a:p>
            <a:pPr fontAlgn="auto">
              <a:spcBef>
                <a:spcPts val="0"/>
              </a:spcBef>
              <a:spcAft>
                <a:spcPts val="0"/>
              </a:spcAft>
            </a:pPr>
            <a:r>
              <a:rPr lang="en-US" altLang="zh-CN" sz="1200" b="0" dirty="0">
                <a:solidFill>
                  <a:prstClr val="black"/>
                </a:solidFill>
                <a:latin typeface="Arial" pitchFamily="34" charset="0"/>
                <a:ea typeface="SimHei" panose="02010609060101010101" pitchFamily="49" charset="-122"/>
              </a:rPr>
              <a:t>Address</a:t>
            </a:r>
          </a:p>
        </p:txBody>
      </p:sp>
      <p:sp>
        <p:nvSpPr>
          <p:cNvPr id="265" name="Text Box 90">
            <a:extLst>
              <a:ext uri="{FF2B5EF4-FFF2-40B4-BE49-F238E27FC236}">
                <a16:creationId xmlns:a16="http://schemas.microsoft.com/office/drawing/2014/main" id="{F8B580EF-FEA6-4D83-ADF7-3C5E118CBD8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74398" y="4589727"/>
            <a:ext cx="908039" cy="27698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1425" tIns="45713" rIns="91425" bIns="45713">
            <a:spAutoFit/>
          </a:bodyPr>
          <a:lstStyle>
            <a:lvl1pPr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1pPr>
            <a:lvl2pPr marL="742950" indent="-28575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2pPr>
            <a:lvl3pPr marL="11430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3pPr>
            <a:lvl4pPr marL="16002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4pPr>
            <a:lvl5pPr marL="20574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9pPr>
          </a:lstStyle>
          <a:p>
            <a:pPr fontAlgn="auto">
              <a:spcBef>
                <a:spcPts val="0"/>
              </a:spcBef>
              <a:spcAft>
                <a:spcPts val="0"/>
              </a:spcAft>
            </a:pPr>
            <a:r>
              <a:rPr lang="en-US" altLang="zh-CN" sz="1200" b="0" dirty="0">
                <a:solidFill>
                  <a:prstClr val="black"/>
                </a:solidFill>
                <a:latin typeface="Arial" pitchFamily="34" charset="0"/>
                <a:ea typeface="SimHei" panose="02010609060101010101" pitchFamily="49" charset="-122"/>
              </a:rPr>
              <a:t>Write Data</a:t>
            </a:r>
          </a:p>
        </p:txBody>
      </p:sp>
      <p:sp>
        <p:nvSpPr>
          <p:cNvPr id="266" name="Text Box 91">
            <a:extLst>
              <a:ext uri="{FF2B5EF4-FFF2-40B4-BE49-F238E27FC236}">
                <a16:creationId xmlns:a16="http://schemas.microsoft.com/office/drawing/2014/main" id="{23174915-DBC9-4125-A6C4-B65E932A2CF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410177" y="4173088"/>
            <a:ext cx="550120" cy="46165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1425" tIns="45713" rIns="91425" bIns="45713">
            <a:spAutoFit/>
          </a:bodyPr>
          <a:lstStyle>
            <a:lvl1pPr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1pPr>
            <a:lvl2pPr marL="742950" indent="-28575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2pPr>
            <a:lvl3pPr marL="11430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3pPr>
            <a:lvl4pPr marL="16002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4pPr>
            <a:lvl5pPr marL="20574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9pPr>
          </a:lstStyle>
          <a:p>
            <a:pPr fontAlgn="auto">
              <a:spcBef>
                <a:spcPts val="0"/>
              </a:spcBef>
              <a:spcAft>
                <a:spcPts val="0"/>
              </a:spcAft>
            </a:pPr>
            <a:r>
              <a:rPr lang="en-US" altLang="zh-CN" sz="1200" b="0" dirty="0">
                <a:solidFill>
                  <a:prstClr val="black"/>
                </a:solidFill>
                <a:latin typeface="Arial" pitchFamily="34" charset="0"/>
                <a:ea typeface="SimHei" panose="02010609060101010101" pitchFamily="49" charset="-122"/>
              </a:rPr>
              <a:t>Read</a:t>
            </a:r>
          </a:p>
          <a:p>
            <a:pPr fontAlgn="auto">
              <a:spcBef>
                <a:spcPts val="0"/>
              </a:spcBef>
              <a:spcAft>
                <a:spcPts val="0"/>
              </a:spcAft>
            </a:pPr>
            <a:r>
              <a:rPr lang="en-US" altLang="zh-CN" sz="1200" b="0" dirty="0">
                <a:solidFill>
                  <a:prstClr val="black"/>
                </a:solidFill>
                <a:latin typeface="Arial" pitchFamily="34" charset="0"/>
                <a:ea typeface="SimHei" panose="02010609060101010101" pitchFamily="49" charset="-122"/>
              </a:rPr>
              <a:t>Data</a:t>
            </a:r>
          </a:p>
        </p:txBody>
      </p:sp>
      <p:sp>
        <p:nvSpPr>
          <p:cNvPr id="267" name="Line 92">
            <a:extLst>
              <a:ext uri="{FF2B5EF4-FFF2-40B4-BE49-F238E27FC236}">
                <a16:creationId xmlns:a16="http://schemas.microsoft.com/office/drawing/2014/main" id="{47146AD7-1A85-469F-8920-AA5ADD6E6A9E}"/>
              </a:ext>
            </a:extLst>
          </p:cNvPr>
          <p:cNvSpPr>
            <a:spLocks noChangeShapeType="1"/>
          </p:cNvSpPr>
          <p:nvPr/>
        </p:nvSpPr>
        <p:spPr bwMode="auto">
          <a:xfrm>
            <a:off x="6422438" y="4728607"/>
            <a:ext cx="227940" cy="0"/>
          </a:xfrm>
          <a:prstGeom prst="line">
            <a:avLst/>
          </a:prstGeom>
          <a:noFill/>
          <a:ln w="19050">
            <a:solidFill>
              <a:sysClr val="windowText" lastClr="00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</a:endParaRPr>
          </a:p>
        </p:txBody>
      </p:sp>
      <p:sp>
        <p:nvSpPr>
          <p:cNvPr id="268" name="Line 93">
            <a:extLst>
              <a:ext uri="{FF2B5EF4-FFF2-40B4-BE49-F238E27FC236}">
                <a16:creationId xmlns:a16="http://schemas.microsoft.com/office/drawing/2014/main" id="{E37DF822-81D1-44D4-9C08-1EC2F6FE6947}"/>
              </a:ext>
            </a:extLst>
          </p:cNvPr>
          <p:cNvSpPr>
            <a:spLocks noChangeShapeType="1"/>
          </p:cNvSpPr>
          <p:nvPr/>
        </p:nvSpPr>
        <p:spPr bwMode="auto">
          <a:xfrm>
            <a:off x="8245957" y="4728607"/>
            <a:ext cx="227940" cy="1447"/>
          </a:xfrm>
          <a:prstGeom prst="line">
            <a:avLst/>
          </a:prstGeom>
          <a:noFill/>
          <a:ln w="19050">
            <a:solidFill>
              <a:sysClr val="windowText" lastClr="00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</a:endParaRPr>
          </a:p>
        </p:txBody>
      </p:sp>
      <p:sp>
        <p:nvSpPr>
          <p:cNvPr id="269" name="AutoShape 94">
            <a:extLst>
              <a:ext uri="{FF2B5EF4-FFF2-40B4-BE49-F238E27FC236}">
                <a16:creationId xmlns:a16="http://schemas.microsoft.com/office/drawing/2014/main" id="{67AE692D-AB05-4E60-AF36-9A1D5018E05C}"/>
              </a:ext>
            </a:extLst>
          </p:cNvPr>
          <p:cNvSpPr>
            <a:spLocks noChangeArrowheads="1"/>
          </p:cNvSpPr>
          <p:nvPr/>
        </p:nvSpPr>
        <p:spPr bwMode="auto">
          <a:xfrm rot="16200000">
            <a:off x="8275387" y="4441038"/>
            <a:ext cx="624959" cy="227940"/>
          </a:xfrm>
          <a:custGeom>
            <a:avLst/>
            <a:gdLst>
              <a:gd name="T0" fmla="*/ 8 w 21600"/>
              <a:gd name="T1" fmla="*/ 0 h 21600"/>
              <a:gd name="T2" fmla="*/ 4 w 21600"/>
              <a:gd name="T3" fmla="*/ 1 h 21600"/>
              <a:gd name="T4" fmla="*/ 1 w 21600"/>
              <a:gd name="T5" fmla="*/ 0 h 21600"/>
              <a:gd name="T6" fmla="*/ 4 w 21600"/>
              <a:gd name="T7" fmla="*/ 0 h 21600"/>
              <a:gd name="T8" fmla="*/ 0 60000 65536"/>
              <a:gd name="T9" fmla="*/ 0 60000 65536"/>
              <a:gd name="T10" fmla="*/ 0 60000 65536"/>
              <a:gd name="T11" fmla="*/ 0 60000 65536"/>
              <a:gd name="T12" fmla="*/ 4500 w 21600"/>
              <a:gd name="T13" fmla="*/ 4500 h 21600"/>
              <a:gd name="T14" fmla="*/ 17100 w 21600"/>
              <a:gd name="T15" fmla="*/ 17100 h 21600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21600" h="21600">
                <a:moveTo>
                  <a:pt x="0" y="0"/>
                </a:moveTo>
                <a:lnTo>
                  <a:pt x="5400" y="21600"/>
                </a:lnTo>
                <a:lnTo>
                  <a:pt x="16200" y="21600"/>
                </a:lnTo>
                <a:lnTo>
                  <a:pt x="21600" y="0"/>
                </a:lnTo>
                <a:lnTo>
                  <a:pt x="0" y="0"/>
                </a:lnTo>
                <a:close/>
              </a:path>
            </a:pathLst>
          </a:custGeom>
          <a:noFill/>
          <a:ln w="19050">
            <a:solidFill>
              <a:sysClr val="windowText" lastClr="000000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</a:endParaRPr>
          </a:p>
        </p:txBody>
      </p:sp>
      <p:sp>
        <p:nvSpPr>
          <p:cNvPr id="270" name="Line 98">
            <a:extLst>
              <a:ext uri="{FF2B5EF4-FFF2-40B4-BE49-F238E27FC236}">
                <a16:creationId xmlns:a16="http://schemas.microsoft.com/office/drawing/2014/main" id="{9E57D2C0-C42C-41F0-983F-714A22859415}"/>
              </a:ext>
            </a:extLst>
          </p:cNvPr>
          <p:cNvSpPr>
            <a:spLocks noChangeShapeType="1"/>
          </p:cNvSpPr>
          <p:nvPr/>
        </p:nvSpPr>
        <p:spPr bwMode="auto">
          <a:xfrm>
            <a:off x="4446960" y="3964769"/>
            <a:ext cx="151960" cy="0"/>
          </a:xfrm>
          <a:prstGeom prst="line">
            <a:avLst/>
          </a:prstGeom>
          <a:noFill/>
          <a:ln w="19050">
            <a:solidFill>
              <a:sysClr val="windowText" lastClr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</a:endParaRPr>
          </a:p>
        </p:txBody>
      </p:sp>
      <p:sp>
        <p:nvSpPr>
          <p:cNvPr id="271" name="Line 99">
            <a:extLst>
              <a:ext uri="{FF2B5EF4-FFF2-40B4-BE49-F238E27FC236}">
                <a16:creationId xmlns:a16="http://schemas.microsoft.com/office/drawing/2014/main" id="{603FF71F-C4D7-4B08-A46F-3D915BDA8817}"/>
              </a:ext>
            </a:extLst>
          </p:cNvPr>
          <p:cNvSpPr>
            <a:spLocks noChangeShapeType="1"/>
          </p:cNvSpPr>
          <p:nvPr/>
        </p:nvSpPr>
        <p:spPr bwMode="auto">
          <a:xfrm>
            <a:off x="2927362" y="4798047"/>
            <a:ext cx="0" cy="1525123"/>
          </a:xfrm>
          <a:prstGeom prst="line">
            <a:avLst/>
          </a:prstGeom>
          <a:noFill/>
          <a:ln w="19050">
            <a:solidFill>
              <a:sysClr val="windowText" lastClr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</a:endParaRPr>
          </a:p>
        </p:txBody>
      </p:sp>
      <p:sp>
        <p:nvSpPr>
          <p:cNvPr id="272" name="Line 100">
            <a:extLst>
              <a:ext uri="{FF2B5EF4-FFF2-40B4-BE49-F238E27FC236}">
                <a16:creationId xmlns:a16="http://schemas.microsoft.com/office/drawing/2014/main" id="{8AC64C28-1342-47B9-8283-F784684505B8}"/>
              </a:ext>
            </a:extLst>
          </p:cNvPr>
          <p:cNvSpPr>
            <a:spLocks noChangeShapeType="1"/>
          </p:cNvSpPr>
          <p:nvPr/>
        </p:nvSpPr>
        <p:spPr bwMode="auto">
          <a:xfrm>
            <a:off x="2167562" y="3131491"/>
            <a:ext cx="227940" cy="0"/>
          </a:xfrm>
          <a:prstGeom prst="line">
            <a:avLst/>
          </a:prstGeom>
          <a:noFill/>
          <a:ln w="19050">
            <a:solidFill>
              <a:sysClr val="windowText" lastClr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</a:endParaRPr>
          </a:p>
        </p:txBody>
      </p:sp>
      <p:sp>
        <p:nvSpPr>
          <p:cNvPr id="273" name="Line 101">
            <a:extLst>
              <a:ext uri="{FF2B5EF4-FFF2-40B4-BE49-F238E27FC236}">
                <a16:creationId xmlns:a16="http://schemas.microsoft.com/office/drawing/2014/main" id="{B21A2EC4-4231-4516-BB71-80880A0716FE}"/>
              </a:ext>
            </a:extLst>
          </p:cNvPr>
          <p:cNvSpPr>
            <a:spLocks noChangeShapeType="1"/>
          </p:cNvSpPr>
          <p:nvPr/>
        </p:nvSpPr>
        <p:spPr bwMode="auto">
          <a:xfrm>
            <a:off x="1407763" y="2228773"/>
            <a:ext cx="911759" cy="0"/>
          </a:xfrm>
          <a:prstGeom prst="line">
            <a:avLst/>
          </a:prstGeom>
          <a:noFill/>
          <a:ln w="19050">
            <a:solidFill>
              <a:sysClr val="windowText" lastClr="000000"/>
            </a:solidFill>
            <a:round/>
            <a:headEnd type="triangle" w="med" len="med"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</a:endParaRPr>
          </a:p>
        </p:txBody>
      </p:sp>
      <p:sp>
        <p:nvSpPr>
          <p:cNvPr id="274" name="Line 102">
            <a:extLst>
              <a:ext uri="{FF2B5EF4-FFF2-40B4-BE49-F238E27FC236}">
                <a16:creationId xmlns:a16="http://schemas.microsoft.com/office/drawing/2014/main" id="{250F0FE9-C914-42B8-A479-DA67EF89FA4F}"/>
              </a:ext>
            </a:extLst>
          </p:cNvPr>
          <p:cNvSpPr>
            <a:spLocks noChangeShapeType="1"/>
          </p:cNvSpPr>
          <p:nvPr/>
        </p:nvSpPr>
        <p:spPr bwMode="auto">
          <a:xfrm>
            <a:off x="2699422" y="4311968"/>
            <a:ext cx="151960" cy="0"/>
          </a:xfrm>
          <a:prstGeom prst="line">
            <a:avLst/>
          </a:prstGeom>
          <a:noFill/>
          <a:ln w="19050">
            <a:solidFill>
              <a:sysClr val="windowText" lastClr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</a:endParaRPr>
          </a:p>
        </p:txBody>
      </p:sp>
      <p:sp>
        <p:nvSpPr>
          <p:cNvPr id="275" name="Line 103">
            <a:extLst>
              <a:ext uri="{FF2B5EF4-FFF2-40B4-BE49-F238E27FC236}">
                <a16:creationId xmlns:a16="http://schemas.microsoft.com/office/drawing/2014/main" id="{91C168B4-3855-47A9-B1B7-D698D3792DAD}"/>
              </a:ext>
            </a:extLst>
          </p:cNvPr>
          <p:cNvSpPr>
            <a:spLocks noChangeShapeType="1"/>
          </p:cNvSpPr>
          <p:nvPr/>
        </p:nvSpPr>
        <p:spPr bwMode="auto">
          <a:xfrm>
            <a:off x="7942037" y="4381408"/>
            <a:ext cx="151609" cy="0"/>
          </a:xfrm>
          <a:prstGeom prst="line">
            <a:avLst/>
          </a:prstGeom>
          <a:noFill/>
          <a:ln w="19050">
            <a:solidFill>
              <a:sysClr val="windowText" lastClr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</a:endParaRPr>
          </a:p>
        </p:txBody>
      </p:sp>
      <p:sp>
        <p:nvSpPr>
          <p:cNvPr id="276" name="Rectangle 104">
            <a:extLst>
              <a:ext uri="{FF2B5EF4-FFF2-40B4-BE49-F238E27FC236}">
                <a16:creationId xmlns:a16="http://schemas.microsoft.com/office/drawing/2014/main" id="{ACFBAD57-C30C-4C08-A369-F29579512195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47462" y="2923171"/>
            <a:ext cx="151960" cy="2013755"/>
          </a:xfrm>
          <a:prstGeom prst="rect">
            <a:avLst/>
          </a:prstGeom>
          <a:pattFill prst="wdUpDiag">
            <a:fgClr>
              <a:sysClr val="window" lastClr="FFFFFF">
                <a:lumMod val="75000"/>
              </a:sysClr>
            </a:fgClr>
            <a:bgClr>
              <a:sysClr val="window" lastClr="FFFFFF"/>
            </a:bgClr>
          </a:pattFill>
          <a:ln w="19050">
            <a:solidFill>
              <a:sysClr val="windowText" lastClr="000000"/>
            </a:solidFill>
            <a:miter lim="800000"/>
            <a:headEnd/>
            <a:tailEnd/>
          </a:ln>
          <a:effectLst/>
        </p:spPr>
        <p:txBody>
          <a:bodyPr wrap="none" anchor="ctr"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</a:endParaRPr>
          </a:p>
        </p:txBody>
      </p:sp>
      <p:sp>
        <p:nvSpPr>
          <p:cNvPr id="277" name="Rectangle 105">
            <a:extLst>
              <a:ext uri="{FF2B5EF4-FFF2-40B4-BE49-F238E27FC236}">
                <a16:creationId xmlns:a16="http://schemas.microsoft.com/office/drawing/2014/main" id="{6B2A9624-3CFD-459D-98D2-7ACF4C532513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98919" y="2923171"/>
            <a:ext cx="158319" cy="3133028"/>
          </a:xfrm>
          <a:prstGeom prst="rect">
            <a:avLst/>
          </a:prstGeom>
          <a:pattFill prst="wdUpDiag">
            <a:fgClr>
              <a:sysClr val="window" lastClr="FFFFFF">
                <a:lumMod val="75000"/>
              </a:sysClr>
            </a:fgClr>
            <a:bgClr>
              <a:sysClr val="window" lastClr="FFFFFF"/>
            </a:bgClr>
          </a:pattFill>
          <a:ln w="19050">
            <a:solidFill>
              <a:sysClr val="windowText" lastClr="000000"/>
            </a:solidFill>
            <a:miter lim="800000"/>
            <a:headEnd/>
            <a:tailEnd/>
          </a:ln>
          <a:effectLst/>
        </p:spPr>
        <p:txBody>
          <a:bodyPr wrap="none" anchor="ctr"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</a:endParaRPr>
          </a:p>
        </p:txBody>
      </p:sp>
      <p:sp>
        <p:nvSpPr>
          <p:cNvPr id="278" name="Line 106">
            <a:extLst>
              <a:ext uri="{FF2B5EF4-FFF2-40B4-BE49-F238E27FC236}">
                <a16:creationId xmlns:a16="http://schemas.microsoft.com/office/drawing/2014/main" id="{C48AABFF-AF65-47FC-B238-76F1EA9B745B}"/>
              </a:ext>
            </a:extLst>
          </p:cNvPr>
          <p:cNvSpPr>
            <a:spLocks noChangeShapeType="1"/>
          </p:cNvSpPr>
          <p:nvPr/>
        </p:nvSpPr>
        <p:spPr bwMode="auto">
          <a:xfrm>
            <a:off x="2319522" y="3131491"/>
            <a:ext cx="227940" cy="0"/>
          </a:xfrm>
          <a:prstGeom prst="line">
            <a:avLst/>
          </a:prstGeom>
          <a:noFill/>
          <a:ln w="19050">
            <a:solidFill>
              <a:sysClr val="windowText" lastClr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</a:endParaRPr>
          </a:p>
        </p:txBody>
      </p:sp>
      <p:sp>
        <p:nvSpPr>
          <p:cNvPr id="279" name="Line 107">
            <a:extLst>
              <a:ext uri="{FF2B5EF4-FFF2-40B4-BE49-F238E27FC236}">
                <a16:creationId xmlns:a16="http://schemas.microsoft.com/office/drawing/2014/main" id="{88860D7D-8908-4178-ABBE-11A9B39B536F}"/>
              </a:ext>
            </a:extLst>
          </p:cNvPr>
          <p:cNvSpPr>
            <a:spLocks noChangeShapeType="1"/>
          </p:cNvSpPr>
          <p:nvPr/>
        </p:nvSpPr>
        <p:spPr bwMode="auto">
          <a:xfrm>
            <a:off x="2699422" y="3131491"/>
            <a:ext cx="1899498" cy="0"/>
          </a:xfrm>
          <a:prstGeom prst="line">
            <a:avLst/>
          </a:prstGeom>
          <a:noFill/>
          <a:ln w="19050">
            <a:solidFill>
              <a:sysClr val="windowText" lastClr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</a:endParaRPr>
          </a:p>
        </p:txBody>
      </p:sp>
      <p:sp>
        <p:nvSpPr>
          <p:cNvPr id="280" name="Line 108">
            <a:extLst>
              <a:ext uri="{FF2B5EF4-FFF2-40B4-BE49-F238E27FC236}">
                <a16:creationId xmlns:a16="http://schemas.microsoft.com/office/drawing/2014/main" id="{076B7316-7381-4475-BE6C-2F7C323134C7}"/>
              </a:ext>
            </a:extLst>
          </p:cNvPr>
          <p:cNvSpPr>
            <a:spLocks noChangeShapeType="1"/>
          </p:cNvSpPr>
          <p:nvPr/>
        </p:nvSpPr>
        <p:spPr bwMode="auto">
          <a:xfrm>
            <a:off x="6170755" y="3339810"/>
            <a:ext cx="99724" cy="0"/>
          </a:xfrm>
          <a:prstGeom prst="line">
            <a:avLst/>
          </a:prstGeom>
          <a:noFill/>
          <a:ln w="19050">
            <a:solidFill>
              <a:sysClr val="windowText" lastClr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</a:endParaRPr>
          </a:p>
        </p:txBody>
      </p:sp>
      <p:sp>
        <p:nvSpPr>
          <p:cNvPr id="281" name="Line 109">
            <a:extLst>
              <a:ext uri="{FF2B5EF4-FFF2-40B4-BE49-F238E27FC236}">
                <a16:creationId xmlns:a16="http://schemas.microsoft.com/office/drawing/2014/main" id="{703A648A-C31E-4A87-9704-65CA74D33BD9}"/>
              </a:ext>
            </a:extLst>
          </p:cNvPr>
          <p:cNvSpPr>
            <a:spLocks noChangeShapeType="1"/>
          </p:cNvSpPr>
          <p:nvPr/>
        </p:nvSpPr>
        <p:spPr bwMode="auto">
          <a:xfrm>
            <a:off x="4750880" y="5423005"/>
            <a:ext cx="107510" cy="0"/>
          </a:xfrm>
          <a:prstGeom prst="line">
            <a:avLst/>
          </a:prstGeom>
          <a:noFill/>
          <a:ln w="19050">
            <a:solidFill>
              <a:sysClr val="windowText" lastClr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</a:endParaRPr>
          </a:p>
        </p:txBody>
      </p:sp>
      <p:sp>
        <p:nvSpPr>
          <p:cNvPr id="282" name="Line 110">
            <a:extLst>
              <a:ext uri="{FF2B5EF4-FFF2-40B4-BE49-F238E27FC236}">
                <a16:creationId xmlns:a16="http://schemas.microsoft.com/office/drawing/2014/main" id="{37B0E857-515A-418B-B6DC-7F9F2027C2DF}"/>
              </a:ext>
            </a:extLst>
          </p:cNvPr>
          <p:cNvSpPr>
            <a:spLocks noChangeShapeType="1"/>
          </p:cNvSpPr>
          <p:nvPr/>
        </p:nvSpPr>
        <p:spPr bwMode="auto">
          <a:xfrm>
            <a:off x="4978820" y="4589727"/>
            <a:ext cx="0" cy="833278"/>
          </a:xfrm>
          <a:prstGeom prst="line">
            <a:avLst/>
          </a:prstGeom>
          <a:noFill/>
          <a:ln w="19050">
            <a:solidFill>
              <a:sysClr val="windowText" lastClr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</a:endParaRPr>
          </a:p>
        </p:txBody>
      </p:sp>
      <p:sp>
        <p:nvSpPr>
          <p:cNvPr id="283" name="Line 111">
            <a:extLst>
              <a:ext uri="{FF2B5EF4-FFF2-40B4-BE49-F238E27FC236}">
                <a16:creationId xmlns:a16="http://schemas.microsoft.com/office/drawing/2014/main" id="{A630E005-A775-4684-A1DD-82BAA9622B45}"/>
              </a:ext>
            </a:extLst>
          </p:cNvPr>
          <p:cNvSpPr>
            <a:spLocks noChangeShapeType="1"/>
          </p:cNvSpPr>
          <p:nvPr/>
        </p:nvSpPr>
        <p:spPr bwMode="auto">
          <a:xfrm>
            <a:off x="4978820" y="5423005"/>
            <a:ext cx="1291659" cy="0"/>
          </a:xfrm>
          <a:prstGeom prst="line">
            <a:avLst/>
          </a:prstGeom>
          <a:noFill/>
          <a:ln w="19050">
            <a:solidFill>
              <a:sysClr val="windowText" lastClr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</a:endParaRPr>
          </a:p>
        </p:txBody>
      </p:sp>
      <p:sp>
        <p:nvSpPr>
          <p:cNvPr id="284" name="Rectangle 112">
            <a:extLst>
              <a:ext uri="{FF2B5EF4-FFF2-40B4-BE49-F238E27FC236}">
                <a16:creationId xmlns:a16="http://schemas.microsoft.com/office/drawing/2014/main" id="{B6B8B441-177C-40C5-BF94-2D1131B4C4E5}"/>
              </a:ext>
            </a:extLst>
          </p:cNvPr>
          <p:cNvSpPr>
            <a:spLocks noChangeArrowheads="1"/>
          </p:cNvSpPr>
          <p:nvPr/>
        </p:nvSpPr>
        <p:spPr bwMode="auto">
          <a:xfrm>
            <a:off x="8093997" y="3478690"/>
            <a:ext cx="151960" cy="2360954"/>
          </a:xfrm>
          <a:prstGeom prst="rect">
            <a:avLst/>
          </a:prstGeom>
          <a:pattFill prst="wdUpDiag">
            <a:fgClr>
              <a:sysClr val="window" lastClr="FFFFFF">
                <a:lumMod val="75000"/>
              </a:sysClr>
            </a:fgClr>
            <a:bgClr>
              <a:sysClr val="window" lastClr="FFFFFF"/>
            </a:bgClr>
          </a:pattFill>
          <a:ln w="19050">
            <a:solidFill>
              <a:sysClr val="windowText" lastClr="000000"/>
            </a:solidFill>
            <a:miter lim="800000"/>
            <a:headEnd/>
            <a:tailEnd/>
          </a:ln>
          <a:effectLst/>
        </p:spPr>
        <p:txBody>
          <a:bodyPr wrap="none" anchor="ctr"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</a:endParaRPr>
          </a:p>
        </p:txBody>
      </p:sp>
      <p:sp>
        <p:nvSpPr>
          <p:cNvPr id="285" name="Line 113">
            <a:extLst>
              <a:ext uri="{FF2B5EF4-FFF2-40B4-BE49-F238E27FC236}">
                <a16:creationId xmlns:a16="http://schemas.microsoft.com/office/drawing/2014/main" id="{6088CE26-7741-4B3D-81B1-2F680C697FEB}"/>
              </a:ext>
            </a:extLst>
          </p:cNvPr>
          <p:cNvSpPr>
            <a:spLocks noChangeShapeType="1"/>
          </p:cNvSpPr>
          <p:nvPr/>
        </p:nvSpPr>
        <p:spPr bwMode="auto">
          <a:xfrm>
            <a:off x="6498418" y="5423005"/>
            <a:ext cx="1595579" cy="0"/>
          </a:xfrm>
          <a:prstGeom prst="line">
            <a:avLst/>
          </a:prstGeom>
          <a:noFill/>
          <a:ln w="19050">
            <a:solidFill>
              <a:sysClr val="windowText" lastClr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</a:endParaRPr>
          </a:p>
        </p:txBody>
      </p:sp>
      <p:sp>
        <p:nvSpPr>
          <p:cNvPr id="286" name="Line 114">
            <a:extLst>
              <a:ext uri="{FF2B5EF4-FFF2-40B4-BE49-F238E27FC236}">
                <a16:creationId xmlns:a16="http://schemas.microsoft.com/office/drawing/2014/main" id="{BE2E4D06-8A1A-41BD-B174-808338874662}"/>
              </a:ext>
            </a:extLst>
          </p:cNvPr>
          <p:cNvSpPr>
            <a:spLocks noChangeShapeType="1"/>
          </p:cNvSpPr>
          <p:nvPr/>
        </p:nvSpPr>
        <p:spPr bwMode="auto">
          <a:xfrm>
            <a:off x="8245957" y="4381408"/>
            <a:ext cx="227940" cy="1447"/>
          </a:xfrm>
          <a:prstGeom prst="line">
            <a:avLst/>
          </a:prstGeom>
          <a:noFill/>
          <a:ln w="19050">
            <a:solidFill>
              <a:sysClr val="windowText" lastClr="00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</a:endParaRPr>
          </a:p>
        </p:txBody>
      </p:sp>
      <p:sp>
        <p:nvSpPr>
          <p:cNvPr id="287" name="Line 115">
            <a:extLst>
              <a:ext uri="{FF2B5EF4-FFF2-40B4-BE49-F238E27FC236}">
                <a16:creationId xmlns:a16="http://schemas.microsoft.com/office/drawing/2014/main" id="{D2AF7FE4-29AF-4AA7-9149-5282F44548EA}"/>
              </a:ext>
            </a:extLst>
          </p:cNvPr>
          <p:cNvSpPr>
            <a:spLocks noChangeShapeType="1"/>
          </p:cNvSpPr>
          <p:nvPr/>
        </p:nvSpPr>
        <p:spPr bwMode="auto">
          <a:xfrm>
            <a:off x="8853796" y="4520287"/>
            <a:ext cx="0" cy="1802883"/>
          </a:xfrm>
          <a:prstGeom prst="line">
            <a:avLst/>
          </a:prstGeom>
          <a:noFill/>
          <a:ln w="19050">
            <a:solidFill>
              <a:sysClr val="windowText" lastClr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</a:endParaRPr>
          </a:p>
        </p:txBody>
      </p:sp>
      <p:sp>
        <p:nvSpPr>
          <p:cNvPr id="288" name="Line 116">
            <a:extLst>
              <a:ext uri="{FF2B5EF4-FFF2-40B4-BE49-F238E27FC236}">
                <a16:creationId xmlns:a16="http://schemas.microsoft.com/office/drawing/2014/main" id="{4FCA1E5A-5EA5-4F02-A7DF-9EA165C7BDE7}"/>
              </a:ext>
            </a:extLst>
          </p:cNvPr>
          <p:cNvSpPr>
            <a:spLocks noChangeShapeType="1"/>
          </p:cNvSpPr>
          <p:nvPr/>
        </p:nvSpPr>
        <p:spPr bwMode="auto">
          <a:xfrm>
            <a:off x="6650378" y="1951014"/>
            <a:ext cx="0" cy="1388797"/>
          </a:xfrm>
          <a:prstGeom prst="line">
            <a:avLst/>
          </a:prstGeom>
          <a:noFill/>
          <a:ln w="19050">
            <a:solidFill>
              <a:sysClr val="windowText" lastClr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</a:endParaRPr>
          </a:p>
        </p:txBody>
      </p:sp>
      <p:sp>
        <p:nvSpPr>
          <p:cNvPr id="289" name="Line 117">
            <a:extLst>
              <a:ext uri="{FF2B5EF4-FFF2-40B4-BE49-F238E27FC236}">
                <a16:creationId xmlns:a16="http://schemas.microsoft.com/office/drawing/2014/main" id="{252FDC22-4C2A-4647-BA8E-883122565B62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270478" y="4728607"/>
            <a:ext cx="151960" cy="694398"/>
          </a:xfrm>
          <a:prstGeom prst="line">
            <a:avLst/>
          </a:prstGeom>
          <a:noFill/>
          <a:ln w="28575" cap="rnd">
            <a:solidFill>
              <a:srgbClr val="ED7D31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</a:endParaRPr>
          </a:p>
        </p:txBody>
      </p:sp>
      <p:sp>
        <p:nvSpPr>
          <p:cNvPr id="290" name="Line 118">
            <a:extLst>
              <a:ext uri="{FF2B5EF4-FFF2-40B4-BE49-F238E27FC236}">
                <a16:creationId xmlns:a16="http://schemas.microsoft.com/office/drawing/2014/main" id="{D293E8E3-87B0-42D8-A2C7-937D4AFB0A0D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8093997" y="4728607"/>
            <a:ext cx="151960" cy="694398"/>
          </a:xfrm>
          <a:prstGeom prst="line">
            <a:avLst/>
          </a:prstGeom>
          <a:noFill/>
          <a:ln w="28575" cap="rnd">
            <a:solidFill>
              <a:sysClr val="windowText" lastClr="000000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</a:endParaRPr>
          </a:p>
        </p:txBody>
      </p:sp>
      <p:sp>
        <p:nvSpPr>
          <p:cNvPr id="291" name="Text Box 119">
            <a:extLst>
              <a:ext uri="{FF2B5EF4-FFF2-40B4-BE49-F238E27FC236}">
                <a16:creationId xmlns:a16="http://schemas.microsoft.com/office/drawing/2014/main" id="{920846AC-4FD2-4F8D-B6D8-00BFEC6D60D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395502" y="2645412"/>
            <a:ext cx="519664" cy="27698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1425" tIns="45713" rIns="91425" bIns="45713">
            <a:spAutoFit/>
          </a:bodyPr>
          <a:lstStyle>
            <a:lvl1pPr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1pPr>
            <a:lvl2pPr marL="742950" indent="-28575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2pPr>
            <a:lvl3pPr marL="11430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3pPr>
            <a:lvl4pPr marL="16002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4pPr>
            <a:lvl5pPr marL="20574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9pPr>
          </a:lstStyle>
          <a:p>
            <a:pPr fontAlgn="auto">
              <a:spcBef>
                <a:spcPts val="0"/>
              </a:spcBef>
              <a:spcAft>
                <a:spcPts val="0"/>
              </a:spcAft>
            </a:pPr>
            <a:r>
              <a:rPr lang="en-US" altLang="zh-CN" sz="1200" b="0" dirty="0">
                <a:solidFill>
                  <a:prstClr val="black"/>
                </a:solidFill>
                <a:latin typeface="Arial" pitchFamily="34" charset="0"/>
                <a:ea typeface="SimHei" panose="02010609060101010101" pitchFamily="49" charset="-122"/>
              </a:rPr>
              <a:t>IF/ID</a:t>
            </a:r>
          </a:p>
        </p:txBody>
      </p:sp>
      <p:sp>
        <p:nvSpPr>
          <p:cNvPr id="292" name="Line 120">
            <a:extLst>
              <a:ext uri="{FF2B5EF4-FFF2-40B4-BE49-F238E27FC236}">
                <a16:creationId xmlns:a16="http://schemas.microsoft.com/office/drawing/2014/main" id="{97FB96AD-CE95-4959-9DF4-D3400618A664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858390" y="3548130"/>
            <a:ext cx="0" cy="1388797"/>
          </a:xfrm>
          <a:prstGeom prst="line">
            <a:avLst/>
          </a:prstGeom>
          <a:noFill/>
          <a:ln w="19050">
            <a:solidFill>
              <a:sysClr val="windowText" lastClr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</a:endParaRPr>
          </a:p>
        </p:txBody>
      </p:sp>
      <p:sp>
        <p:nvSpPr>
          <p:cNvPr id="293" name="Line 121">
            <a:extLst>
              <a:ext uri="{FF2B5EF4-FFF2-40B4-BE49-F238E27FC236}">
                <a16:creationId xmlns:a16="http://schemas.microsoft.com/office/drawing/2014/main" id="{9B1A26D0-0F04-4A95-A095-5980E53FEC51}"/>
              </a:ext>
            </a:extLst>
          </p:cNvPr>
          <p:cNvSpPr>
            <a:spLocks noChangeShapeType="1"/>
          </p:cNvSpPr>
          <p:nvPr/>
        </p:nvSpPr>
        <p:spPr bwMode="auto">
          <a:xfrm>
            <a:off x="4028510" y="5423005"/>
            <a:ext cx="570411" cy="0"/>
          </a:xfrm>
          <a:prstGeom prst="line">
            <a:avLst/>
          </a:prstGeom>
          <a:noFill/>
          <a:ln w="19050">
            <a:solidFill>
              <a:sysClr val="windowText" lastClr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</a:endParaRPr>
          </a:p>
        </p:txBody>
      </p:sp>
      <p:sp>
        <p:nvSpPr>
          <p:cNvPr id="294" name="Line 122">
            <a:extLst>
              <a:ext uri="{FF2B5EF4-FFF2-40B4-BE49-F238E27FC236}">
                <a16:creationId xmlns:a16="http://schemas.microsoft.com/office/drawing/2014/main" id="{E75BD10C-2E12-42B2-9C4F-CCF0E27241FB}"/>
              </a:ext>
            </a:extLst>
          </p:cNvPr>
          <p:cNvSpPr>
            <a:spLocks noChangeShapeType="1"/>
          </p:cNvSpPr>
          <p:nvPr/>
        </p:nvSpPr>
        <p:spPr bwMode="auto">
          <a:xfrm>
            <a:off x="4750880" y="3131491"/>
            <a:ext cx="1063719" cy="0"/>
          </a:xfrm>
          <a:prstGeom prst="line">
            <a:avLst/>
          </a:prstGeom>
          <a:noFill/>
          <a:ln w="19050">
            <a:solidFill>
              <a:sysClr val="windowText" lastClr="00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</a:endParaRPr>
          </a:p>
        </p:txBody>
      </p:sp>
      <p:sp>
        <p:nvSpPr>
          <p:cNvPr id="295" name="Line 123">
            <a:extLst>
              <a:ext uri="{FF2B5EF4-FFF2-40B4-BE49-F238E27FC236}">
                <a16:creationId xmlns:a16="http://schemas.microsoft.com/office/drawing/2014/main" id="{E5481E8C-8107-4C56-9E99-FE84A55EF238}"/>
              </a:ext>
            </a:extLst>
          </p:cNvPr>
          <p:cNvSpPr>
            <a:spLocks noChangeShapeType="1"/>
          </p:cNvSpPr>
          <p:nvPr/>
        </p:nvSpPr>
        <p:spPr bwMode="auto">
          <a:xfrm>
            <a:off x="2319522" y="2228773"/>
            <a:ext cx="0" cy="902718"/>
          </a:xfrm>
          <a:prstGeom prst="line">
            <a:avLst/>
          </a:prstGeom>
          <a:noFill/>
          <a:ln w="19050">
            <a:solidFill>
              <a:sysClr val="windowText" lastClr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</a:endParaRPr>
          </a:p>
        </p:txBody>
      </p:sp>
      <p:sp>
        <p:nvSpPr>
          <p:cNvPr id="296" name="Line 124">
            <a:extLst>
              <a:ext uri="{FF2B5EF4-FFF2-40B4-BE49-F238E27FC236}">
                <a16:creationId xmlns:a16="http://schemas.microsoft.com/office/drawing/2014/main" id="{FC27CCDF-0659-4693-82AA-825941FAE3BC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042539" y="3644379"/>
            <a:ext cx="0" cy="389829"/>
          </a:xfrm>
          <a:prstGeom prst="line">
            <a:avLst/>
          </a:prstGeom>
          <a:noFill/>
          <a:ln w="19050">
            <a:solidFill>
              <a:sysClr val="windowText" lastClr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</a:endParaRPr>
          </a:p>
        </p:txBody>
      </p:sp>
      <p:sp>
        <p:nvSpPr>
          <p:cNvPr id="297" name="Line 125">
            <a:extLst>
              <a:ext uri="{FF2B5EF4-FFF2-40B4-BE49-F238E27FC236}">
                <a16:creationId xmlns:a16="http://schemas.microsoft.com/office/drawing/2014/main" id="{786C77FE-A9DA-40F7-B7AF-550095A68C67}"/>
              </a:ext>
            </a:extLst>
          </p:cNvPr>
          <p:cNvSpPr>
            <a:spLocks noChangeShapeType="1"/>
          </p:cNvSpPr>
          <p:nvPr/>
        </p:nvSpPr>
        <p:spPr bwMode="auto">
          <a:xfrm>
            <a:off x="875904" y="2853732"/>
            <a:ext cx="0" cy="1458237"/>
          </a:xfrm>
          <a:prstGeom prst="line">
            <a:avLst/>
          </a:prstGeom>
          <a:noFill/>
          <a:ln w="19050">
            <a:solidFill>
              <a:sysClr val="windowText" lastClr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</a:endParaRPr>
          </a:p>
        </p:txBody>
      </p:sp>
      <p:sp>
        <p:nvSpPr>
          <p:cNvPr id="298" name="Rectangle 126">
            <a:extLst>
              <a:ext uri="{FF2B5EF4-FFF2-40B4-BE49-F238E27FC236}">
                <a16:creationId xmlns:a16="http://schemas.microsoft.com/office/drawing/2014/main" id="{E0480960-4587-4E8B-A71D-2C19F64286E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70478" y="2923171"/>
            <a:ext cx="151960" cy="2916473"/>
          </a:xfrm>
          <a:prstGeom prst="rect">
            <a:avLst/>
          </a:prstGeom>
          <a:pattFill prst="wdUpDiag">
            <a:fgClr>
              <a:sysClr val="window" lastClr="FFFFFF">
                <a:lumMod val="75000"/>
              </a:sysClr>
            </a:fgClr>
            <a:bgClr>
              <a:sysClr val="window" lastClr="FFFFFF"/>
            </a:bgClr>
          </a:pattFill>
          <a:ln w="19050">
            <a:solidFill>
              <a:sysClr val="windowText" lastClr="000000"/>
            </a:solidFill>
            <a:miter lim="800000"/>
            <a:headEnd/>
            <a:tailEnd/>
          </a:ln>
          <a:effectLst/>
        </p:spPr>
        <p:txBody>
          <a:bodyPr wrap="none" anchor="ctr"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</a:endParaRPr>
          </a:p>
        </p:txBody>
      </p:sp>
      <p:sp>
        <p:nvSpPr>
          <p:cNvPr id="299" name="Oval 127">
            <a:extLst>
              <a:ext uri="{FF2B5EF4-FFF2-40B4-BE49-F238E27FC236}">
                <a16:creationId xmlns:a16="http://schemas.microsoft.com/office/drawing/2014/main" id="{B771039B-7B4A-456C-AFB9-A49537C0E03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1281" y="5214686"/>
            <a:ext cx="810453" cy="416639"/>
          </a:xfrm>
          <a:prstGeom prst="ellipse">
            <a:avLst/>
          </a:prstGeom>
          <a:solidFill>
            <a:sysClr val="window" lastClr="FFFFFF"/>
          </a:solidFill>
          <a:ln w="19050">
            <a:solidFill>
              <a:sysClr val="windowText" lastClr="00000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</a:endParaRPr>
          </a:p>
        </p:txBody>
      </p:sp>
      <p:sp>
        <p:nvSpPr>
          <p:cNvPr id="300" name="Rectangle 128">
            <a:extLst>
              <a:ext uri="{FF2B5EF4-FFF2-40B4-BE49-F238E27FC236}">
                <a16:creationId xmlns:a16="http://schemas.microsoft.com/office/drawing/2014/main" id="{9FC63E11-29A5-48ED-9CAB-2C032A4EC72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3241" y="5214686"/>
            <a:ext cx="531860" cy="41663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19047" tIns="26984" rIns="19047" bIns="26984"/>
          <a:lstStyle/>
          <a:p>
            <a:pPr algn="ctr" eaLnBrk="0" fontAlgn="auto" hangingPunct="0">
              <a:spcBef>
                <a:spcPts val="0"/>
              </a:spcBef>
              <a:spcAft>
                <a:spcPts val="0"/>
              </a:spcAft>
            </a:pPr>
            <a:r>
              <a:rPr lang="en-US" altLang="zh-CN" sz="1200" dirty="0" err="1">
                <a:solidFill>
                  <a:srgbClr val="000000"/>
                </a:solidFill>
                <a:latin typeface="Arial" pitchFamily="34" charset="0"/>
                <a:ea typeface="等线" panose="02010600030101010101" pitchFamily="2" charset="-122"/>
              </a:rPr>
              <a:t>Imm</a:t>
            </a:r>
            <a:endParaRPr lang="en-US" altLang="zh-CN" sz="1200" dirty="0">
              <a:solidFill>
                <a:srgbClr val="000000"/>
              </a:solidFill>
              <a:latin typeface="Arial" pitchFamily="34" charset="0"/>
              <a:ea typeface="等线" panose="02010600030101010101" pitchFamily="2" charset="-122"/>
            </a:endParaRPr>
          </a:p>
          <a:p>
            <a:pPr algn="ctr" eaLnBrk="0" fontAlgn="auto" hangingPunct="0">
              <a:spcBef>
                <a:spcPts val="0"/>
              </a:spcBef>
              <a:spcAft>
                <a:spcPts val="0"/>
              </a:spcAft>
            </a:pPr>
            <a:r>
              <a:rPr lang="en-US" altLang="zh-CN" sz="1200" dirty="0">
                <a:solidFill>
                  <a:srgbClr val="000000"/>
                </a:solidFill>
                <a:latin typeface="Arial" pitchFamily="34" charset="0"/>
                <a:ea typeface="等线" panose="02010600030101010101" pitchFamily="2" charset="-122"/>
              </a:rPr>
              <a:t>Extend</a:t>
            </a:r>
          </a:p>
        </p:txBody>
      </p:sp>
      <p:sp>
        <p:nvSpPr>
          <p:cNvPr id="301" name="Line 129">
            <a:extLst>
              <a:ext uri="{FF2B5EF4-FFF2-40B4-BE49-F238E27FC236}">
                <a16:creationId xmlns:a16="http://schemas.microsoft.com/office/drawing/2014/main" id="{AA33D66F-FD76-420E-B5F2-5EB147D4EBEF}"/>
              </a:ext>
            </a:extLst>
          </p:cNvPr>
          <p:cNvSpPr>
            <a:spLocks noChangeShapeType="1"/>
          </p:cNvSpPr>
          <p:nvPr/>
        </p:nvSpPr>
        <p:spPr bwMode="auto">
          <a:xfrm>
            <a:off x="6422438" y="3339810"/>
            <a:ext cx="227940" cy="0"/>
          </a:xfrm>
          <a:prstGeom prst="line">
            <a:avLst/>
          </a:prstGeom>
          <a:noFill/>
          <a:ln w="19050">
            <a:solidFill>
              <a:sysClr val="windowText" lastClr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</a:endParaRPr>
          </a:p>
        </p:txBody>
      </p:sp>
      <p:sp>
        <p:nvSpPr>
          <p:cNvPr id="302" name="Line 130">
            <a:extLst>
              <a:ext uri="{FF2B5EF4-FFF2-40B4-BE49-F238E27FC236}">
                <a16:creationId xmlns:a16="http://schemas.microsoft.com/office/drawing/2014/main" id="{E3528EA5-89E7-4D05-88E8-01611333F01F}"/>
              </a:ext>
            </a:extLst>
          </p:cNvPr>
          <p:cNvSpPr>
            <a:spLocks noChangeShapeType="1"/>
          </p:cNvSpPr>
          <p:nvPr/>
        </p:nvSpPr>
        <p:spPr bwMode="auto">
          <a:xfrm>
            <a:off x="6042539" y="3644380"/>
            <a:ext cx="227940" cy="0"/>
          </a:xfrm>
          <a:prstGeom prst="line">
            <a:avLst/>
          </a:prstGeom>
          <a:noFill/>
          <a:ln w="19050">
            <a:solidFill>
              <a:sysClr val="windowText" lastClr="00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</a:endParaRPr>
          </a:p>
        </p:txBody>
      </p:sp>
      <p:sp>
        <p:nvSpPr>
          <p:cNvPr id="303" name="Line 131">
            <a:extLst>
              <a:ext uri="{FF2B5EF4-FFF2-40B4-BE49-F238E27FC236}">
                <a16:creationId xmlns:a16="http://schemas.microsoft.com/office/drawing/2014/main" id="{9DA21208-BA78-40BF-817C-BF536C63756B}"/>
              </a:ext>
            </a:extLst>
          </p:cNvPr>
          <p:cNvSpPr>
            <a:spLocks noChangeShapeType="1"/>
          </p:cNvSpPr>
          <p:nvPr/>
        </p:nvSpPr>
        <p:spPr bwMode="auto">
          <a:xfrm>
            <a:off x="6422437" y="3644380"/>
            <a:ext cx="713024" cy="0"/>
          </a:xfrm>
          <a:prstGeom prst="line">
            <a:avLst/>
          </a:prstGeom>
          <a:noFill/>
          <a:ln w="19050">
            <a:solidFill>
              <a:sysClr val="windowText" lastClr="000000"/>
            </a:solidFill>
            <a:round/>
            <a:headEnd type="none" w="med" len="med"/>
            <a:tailEnd type="non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</a:endParaRPr>
          </a:p>
        </p:txBody>
      </p:sp>
      <p:sp>
        <p:nvSpPr>
          <p:cNvPr id="304" name="Line 132">
            <a:extLst>
              <a:ext uri="{FF2B5EF4-FFF2-40B4-BE49-F238E27FC236}">
                <a16:creationId xmlns:a16="http://schemas.microsoft.com/office/drawing/2014/main" id="{727EFEBA-392E-4161-B7DD-F4B4E413CCC0}"/>
              </a:ext>
            </a:extLst>
          </p:cNvPr>
          <p:cNvSpPr>
            <a:spLocks noChangeShapeType="1"/>
          </p:cNvSpPr>
          <p:nvPr/>
        </p:nvSpPr>
        <p:spPr bwMode="auto">
          <a:xfrm>
            <a:off x="6498418" y="4381408"/>
            <a:ext cx="0" cy="1041598"/>
          </a:xfrm>
          <a:prstGeom prst="line">
            <a:avLst/>
          </a:prstGeom>
          <a:noFill/>
          <a:ln w="19050">
            <a:solidFill>
              <a:sysClr val="windowText" lastClr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</a:endParaRPr>
          </a:p>
        </p:txBody>
      </p:sp>
      <p:sp>
        <p:nvSpPr>
          <p:cNvPr id="305" name="Text Box 133">
            <a:extLst>
              <a:ext uri="{FF2B5EF4-FFF2-40B4-BE49-F238E27FC236}">
                <a16:creationId xmlns:a16="http://schemas.microsoft.com/office/drawing/2014/main" id="{D0F914CE-5418-4B90-8CCE-AAA57399816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370980" y="2089893"/>
            <a:ext cx="586990" cy="27698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1425" tIns="45713" rIns="91425" bIns="45713">
            <a:spAutoFit/>
          </a:bodyPr>
          <a:lstStyle>
            <a:lvl1pPr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1pPr>
            <a:lvl2pPr marL="742950" indent="-28575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2pPr>
            <a:lvl3pPr marL="11430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3pPr>
            <a:lvl4pPr marL="16002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4pPr>
            <a:lvl5pPr marL="20574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9pPr>
          </a:lstStyle>
          <a:p>
            <a:pPr fontAlgn="auto">
              <a:spcBef>
                <a:spcPts val="0"/>
              </a:spcBef>
              <a:spcAft>
                <a:spcPts val="0"/>
              </a:spcAft>
            </a:pPr>
            <a:r>
              <a:rPr lang="en-US" altLang="zh-CN" sz="1200" b="0" dirty="0">
                <a:solidFill>
                  <a:prstClr val="black"/>
                </a:solidFill>
                <a:latin typeface="Arial" pitchFamily="34" charset="0"/>
                <a:ea typeface="SimHei" panose="02010609060101010101" pitchFamily="49" charset="-122"/>
              </a:rPr>
              <a:t>ID/EX</a:t>
            </a:r>
          </a:p>
        </p:txBody>
      </p:sp>
      <p:sp>
        <p:nvSpPr>
          <p:cNvPr id="306" name="Text Box 134">
            <a:extLst>
              <a:ext uri="{FF2B5EF4-FFF2-40B4-BE49-F238E27FC236}">
                <a16:creationId xmlns:a16="http://schemas.microsoft.com/office/drawing/2014/main" id="{DB03418E-3C9E-44B2-89D7-E782B9D015E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90579" y="2256260"/>
            <a:ext cx="792174" cy="27698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1425" tIns="45713" rIns="91425" bIns="45713">
            <a:spAutoFit/>
          </a:bodyPr>
          <a:lstStyle>
            <a:lvl1pPr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1pPr>
            <a:lvl2pPr marL="742950" indent="-28575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2pPr>
            <a:lvl3pPr marL="11430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3pPr>
            <a:lvl4pPr marL="16002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4pPr>
            <a:lvl5pPr marL="20574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9pPr>
          </a:lstStyle>
          <a:p>
            <a:pPr fontAlgn="auto">
              <a:spcBef>
                <a:spcPts val="0"/>
              </a:spcBef>
              <a:spcAft>
                <a:spcPts val="0"/>
              </a:spcAft>
            </a:pPr>
            <a:r>
              <a:rPr lang="en-US" altLang="zh-CN" sz="1200" b="0" dirty="0">
                <a:solidFill>
                  <a:prstClr val="black"/>
                </a:solidFill>
                <a:latin typeface="Arial" pitchFamily="34" charset="0"/>
                <a:ea typeface="SimHei" panose="02010609060101010101" pitchFamily="49" charset="-122"/>
              </a:rPr>
              <a:t>EX/MEM</a:t>
            </a:r>
          </a:p>
        </p:txBody>
      </p:sp>
      <p:sp>
        <p:nvSpPr>
          <p:cNvPr id="307" name="Text Box 135">
            <a:extLst>
              <a:ext uri="{FF2B5EF4-FFF2-40B4-BE49-F238E27FC236}">
                <a16:creationId xmlns:a16="http://schemas.microsoft.com/office/drawing/2014/main" id="{984BA883-6677-4710-8FA2-EB7DCABE28C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90077" y="3001291"/>
            <a:ext cx="843470" cy="27698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1425" tIns="45713" rIns="91425" bIns="45713">
            <a:spAutoFit/>
          </a:bodyPr>
          <a:lstStyle>
            <a:lvl1pPr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1pPr>
            <a:lvl2pPr marL="742950" indent="-28575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2pPr>
            <a:lvl3pPr marL="11430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3pPr>
            <a:lvl4pPr marL="16002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4pPr>
            <a:lvl5pPr marL="20574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9pPr>
          </a:lstStyle>
          <a:p>
            <a:pPr fontAlgn="auto">
              <a:spcBef>
                <a:spcPts val="0"/>
              </a:spcBef>
              <a:spcAft>
                <a:spcPts val="0"/>
              </a:spcAft>
            </a:pPr>
            <a:r>
              <a:rPr lang="en-US" altLang="zh-CN" sz="1200" b="0" dirty="0">
                <a:solidFill>
                  <a:prstClr val="black"/>
                </a:solidFill>
                <a:latin typeface="Arial" pitchFamily="34" charset="0"/>
                <a:ea typeface="SimHei" panose="02010609060101010101" pitchFamily="49" charset="-122"/>
              </a:rPr>
              <a:t>MEM/WB</a:t>
            </a:r>
          </a:p>
        </p:txBody>
      </p:sp>
      <p:sp>
        <p:nvSpPr>
          <p:cNvPr id="308" name="Rectangle 137">
            <a:extLst>
              <a:ext uri="{FF2B5EF4-FFF2-40B4-BE49-F238E27FC236}">
                <a16:creationId xmlns:a16="http://schemas.microsoft.com/office/drawing/2014/main" id="{3E84426F-0CAD-46EF-9E02-3295B2EF2B6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02038" y="2711486"/>
            <a:ext cx="151968" cy="208332"/>
          </a:xfrm>
          <a:prstGeom prst="rect">
            <a:avLst/>
          </a:prstGeom>
          <a:pattFill prst="wdUpDiag">
            <a:fgClr>
              <a:srgbClr val="70AD47">
                <a:lumMod val="40000"/>
                <a:lumOff val="60000"/>
              </a:srgbClr>
            </a:fgClr>
            <a:bgClr>
              <a:sysClr val="window" lastClr="FFFFFF"/>
            </a:bgClr>
          </a:pattFill>
          <a:ln w="19050">
            <a:solidFill>
              <a:srgbClr val="00B050"/>
            </a:solidFill>
            <a:miter lim="800000"/>
            <a:headEnd/>
            <a:tailEnd/>
          </a:ln>
          <a:effectLst/>
        </p:spPr>
        <p:txBody>
          <a:bodyPr wrap="none" anchor="ctr"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</a:endParaRPr>
          </a:p>
        </p:txBody>
      </p:sp>
      <p:sp>
        <p:nvSpPr>
          <p:cNvPr id="309" name="Rectangle 138">
            <a:extLst>
              <a:ext uri="{FF2B5EF4-FFF2-40B4-BE49-F238E27FC236}">
                <a16:creationId xmlns:a16="http://schemas.microsoft.com/office/drawing/2014/main" id="{6AA3516B-616A-44FE-AD97-CEDE234DABD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02038" y="2503153"/>
            <a:ext cx="151968" cy="208332"/>
          </a:xfrm>
          <a:prstGeom prst="rect">
            <a:avLst/>
          </a:prstGeom>
          <a:pattFill prst="wdUpDiag">
            <a:fgClr>
              <a:srgbClr val="70AD47">
                <a:lumMod val="40000"/>
                <a:lumOff val="60000"/>
              </a:srgbClr>
            </a:fgClr>
            <a:bgClr>
              <a:sysClr val="window" lastClr="FFFFFF"/>
            </a:bgClr>
          </a:pattFill>
          <a:ln w="19050">
            <a:solidFill>
              <a:srgbClr val="00B050"/>
            </a:solidFill>
            <a:miter lim="800000"/>
            <a:headEnd/>
            <a:tailEnd/>
          </a:ln>
          <a:effectLst/>
        </p:spPr>
        <p:txBody>
          <a:bodyPr wrap="none" anchor="ctr"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</a:endParaRPr>
          </a:p>
        </p:txBody>
      </p:sp>
      <p:sp>
        <p:nvSpPr>
          <p:cNvPr id="310" name="Rectangle 139">
            <a:extLst>
              <a:ext uri="{FF2B5EF4-FFF2-40B4-BE49-F238E27FC236}">
                <a16:creationId xmlns:a16="http://schemas.microsoft.com/office/drawing/2014/main" id="{9892F0CC-2D44-401E-8EC8-B47A4222873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02038" y="2294821"/>
            <a:ext cx="151968" cy="208332"/>
          </a:xfrm>
          <a:prstGeom prst="rect">
            <a:avLst/>
          </a:prstGeom>
          <a:pattFill prst="wdUpDiag">
            <a:fgClr>
              <a:srgbClr val="70AD47">
                <a:lumMod val="40000"/>
                <a:lumOff val="60000"/>
              </a:srgbClr>
            </a:fgClr>
            <a:bgClr>
              <a:sysClr val="window" lastClr="FFFFFF"/>
            </a:bgClr>
          </a:pattFill>
          <a:ln w="19050">
            <a:solidFill>
              <a:srgbClr val="00B050"/>
            </a:solidFill>
            <a:miter lim="800000"/>
            <a:headEnd/>
            <a:tailEnd/>
          </a:ln>
          <a:effectLst/>
        </p:spPr>
        <p:txBody>
          <a:bodyPr wrap="none" anchor="ctr"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</a:endParaRPr>
          </a:p>
        </p:txBody>
      </p:sp>
      <p:sp>
        <p:nvSpPr>
          <p:cNvPr id="311" name="Rectangle 140">
            <a:extLst>
              <a:ext uri="{FF2B5EF4-FFF2-40B4-BE49-F238E27FC236}">
                <a16:creationId xmlns:a16="http://schemas.microsoft.com/office/drawing/2014/main" id="{AA2CA386-CD2E-47E4-9D6C-37419519967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70033" y="2706884"/>
            <a:ext cx="151968" cy="208332"/>
          </a:xfrm>
          <a:prstGeom prst="rect">
            <a:avLst/>
          </a:prstGeom>
          <a:pattFill prst="wdUpDiag">
            <a:fgClr>
              <a:srgbClr val="70AD47">
                <a:lumMod val="40000"/>
                <a:lumOff val="60000"/>
              </a:srgbClr>
            </a:fgClr>
            <a:bgClr>
              <a:sysClr val="window" lastClr="FFFFFF"/>
            </a:bgClr>
          </a:pattFill>
          <a:ln w="19050">
            <a:solidFill>
              <a:srgbClr val="00B050"/>
            </a:solidFill>
            <a:miter lim="800000"/>
            <a:headEnd/>
            <a:tailEnd/>
          </a:ln>
          <a:effectLst/>
        </p:spPr>
        <p:txBody>
          <a:bodyPr wrap="none" anchor="ctr"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</a:endParaRPr>
          </a:p>
        </p:txBody>
      </p:sp>
      <p:sp>
        <p:nvSpPr>
          <p:cNvPr id="312" name="Rectangle 141">
            <a:extLst>
              <a:ext uri="{FF2B5EF4-FFF2-40B4-BE49-F238E27FC236}">
                <a16:creationId xmlns:a16="http://schemas.microsoft.com/office/drawing/2014/main" id="{A09990F6-4C8B-4E0D-83EB-548AC1F431F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70033" y="2498551"/>
            <a:ext cx="151968" cy="208332"/>
          </a:xfrm>
          <a:prstGeom prst="rect">
            <a:avLst/>
          </a:prstGeom>
          <a:pattFill prst="wdUpDiag">
            <a:fgClr>
              <a:srgbClr val="70AD47">
                <a:lumMod val="40000"/>
                <a:lumOff val="60000"/>
              </a:srgbClr>
            </a:fgClr>
            <a:bgClr>
              <a:sysClr val="window" lastClr="FFFFFF"/>
            </a:bgClr>
          </a:pattFill>
          <a:ln w="19050">
            <a:solidFill>
              <a:srgbClr val="00B050"/>
            </a:solidFill>
            <a:miter lim="800000"/>
            <a:headEnd/>
            <a:tailEnd/>
          </a:ln>
          <a:effectLst/>
        </p:spPr>
        <p:txBody>
          <a:bodyPr wrap="none" anchor="ctr"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</a:endParaRPr>
          </a:p>
        </p:txBody>
      </p:sp>
      <p:sp>
        <p:nvSpPr>
          <p:cNvPr id="313" name="Rectangle 142">
            <a:extLst>
              <a:ext uri="{FF2B5EF4-FFF2-40B4-BE49-F238E27FC236}">
                <a16:creationId xmlns:a16="http://schemas.microsoft.com/office/drawing/2014/main" id="{100D5FFE-D731-42FD-B9B0-584CB5A48ECE}"/>
              </a:ext>
            </a:extLst>
          </p:cNvPr>
          <p:cNvSpPr>
            <a:spLocks noChangeArrowheads="1"/>
          </p:cNvSpPr>
          <p:nvPr/>
        </p:nvSpPr>
        <p:spPr bwMode="auto">
          <a:xfrm>
            <a:off x="8093646" y="3262640"/>
            <a:ext cx="151968" cy="208332"/>
          </a:xfrm>
          <a:prstGeom prst="rect">
            <a:avLst/>
          </a:prstGeom>
          <a:pattFill prst="wdUpDiag">
            <a:fgClr>
              <a:srgbClr val="70AD47">
                <a:lumMod val="40000"/>
                <a:lumOff val="60000"/>
              </a:srgbClr>
            </a:fgClr>
            <a:bgClr>
              <a:sysClr val="window" lastClr="FFFFFF"/>
            </a:bgClr>
          </a:pattFill>
          <a:ln w="19050">
            <a:solidFill>
              <a:srgbClr val="00B050"/>
            </a:solidFill>
            <a:miter lim="800000"/>
            <a:headEnd/>
            <a:tailEnd/>
          </a:ln>
          <a:effectLst/>
        </p:spPr>
        <p:txBody>
          <a:bodyPr wrap="none" anchor="ctr"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</a:endParaRPr>
          </a:p>
        </p:txBody>
      </p:sp>
      <p:sp>
        <p:nvSpPr>
          <p:cNvPr id="314" name="Rectangle 143">
            <a:extLst>
              <a:ext uri="{FF2B5EF4-FFF2-40B4-BE49-F238E27FC236}">
                <a16:creationId xmlns:a16="http://schemas.microsoft.com/office/drawing/2014/main" id="{8C333B28-140C-48E0-AF09-9EEF92B0761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92716" y="2541236"/>
            <a:ext cx="531887" cy="27777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19047" tIns="26984" rIns="19047" bIns="26984"/>
          <a:lstStyle/>
          <a:p>
            <a:pPr algn="ctr" eaLnBrk="0" fontAlgn="auto" hangingPunct="0">
              <a:spcBef>
                <a:spcPts val="0"/>
              </a:spcBef>
              <a:spcAft>
                <a:spcPts val="0"/>
              </a:spcAft>
            </a:pPr>
            <a:r>
              <a:rPr lang="en-US" altLang="zh-CN" sz="1200" dirty="0">
                <a:solidFill>
                  <a:srgbClr val="00B050"/>
                </a:solidFill>
                <a:latin typeface="Arial" pitchFamily="34" charset="0"/>
                <a:ea typeface="等线" panose="02010600030101010101" pitchFamily="2" charset="-122"/>
              </a:rPr>
              <a:t>Control</a:t>
            </a:r>
          </a:p>
        </p:txBody>
      </p:sp>
      <p:sp>
        <p:nvSpPr>
          <p:cNvPr id="315" name="Oval 144">
            <a:extLst>
              <a:ext uri="{FF2B5EF4-FFF2-40B4-BE49-F238E27FC236}">
                <a16:creationId xmlns:a16="http://schemas.microsoft.com/office/drawing/2014/main" id="{C7EB955E-7E19-4D4F-A3E5-84E3459BB92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2647" y="2255498"/>
            <a:ext cx="759839" cy="813075"/>
          </a:xfrm>
          <a:prstGeom prst="ellipse">
            <a:avLst/>
          </a:prstGeom>
          <a:noFill/>
          <a:ln w="19050">
            <a:solidFill>
              <a:srgbClr val="00B05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fontAlgn="auto">
              <a:spcBef>
                <a:spcPts val="0"/>
              </a:spcBef>
              <a:spcAft>
                <a:spcPts val="0"/>
              </a:spcAft>
            </a:pPr>
            <a:endParaRPr lang="zh-CN" altLang="en-US">
              <a:solidFill>
                <a:prstClr val="black"/>
              </a:solidFill>
              <a:latin typeface="等线" panose="020F0502020204030204"/>
              <a:ea typeface="等线" panose="02010600030101010101" pitchFamily="2" charset="-122"/>
            </a:endParaRPr>
          </a:p>
        </p:txBody>
      </p:sp>
      <p:sp>
        <p:nvSpPr>
          <p:cNvPr id="316" name="Line 145">
            <a:extLst>
              <a:ext uri="{FF2B5EF4-FFF2-40B4-BE49-F238E27FC236}">
                <a16:creationId xmlns:a16="http://schemas.microsoft.com/office/drawing/2014/main" id="{37589E95-0A88-41D7-B59E-8717CD0DE204}"/>
              </a:ext>
            </a:extLst>
          </p:cNvPr>
          <p:cNvSpPr>
            <a:spLocks noChangeShapeType="1"/>
          </p:cNvSpPr>
          <p:nvPr/>
        </p:nvSpPr>
        <p:spPr bwMode="auto">
          <a:xfrm>
            <a:off x="2850760" y="2864391"/>
            <a:ext cx="0" cy="902773"/>
          </a:xfrm>
          <a:prstGeom prst="line">
            <a:avLst/>
          </a:prstGeom>
          <a:noFill/>
          <a:ln w="19050">
            <a:solidFill>
              <a:sysClr val="windowText" lastClr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</a:endParaRPr>
          </a:p>
        </p:txBody>
      </p:sp>
      <p:sp>
        <p:nvSpPr>
          <p:cNvPr id="317" name="Line 146">
            <a:extLst>
              <a:ext uri="{FF2B5EF4-FFF2-40B4-BE49-F238E27FC236}">
                <a16:creationId xmlns:a16="http://schemas.microsoft.com/office/drawing/2014/main" id="{2CF4EC29-2DD8-4C37-8F99-AE9F2EF76F4B}"/>
              </a:ext>
            </a:extLst>
          </p:cNvPr>
          <p:cNvSpPr>
            <a:spLocks noChangeShapeType="1"/>
          </p:cNvSpPr>
          <p:nvPr/>
        </p:nvSpPr>
        <p:spPr bwMode="auto">
          <a:xfrm>
            <a:off x="2850760" y="2864391"/>
            <a:ext cx="592457" cy="0"/>
          </a:xfrm>
          <a:prstGeom prst="line">
            <a:avLst/>
          </a:prstGeom>
          <a:noFill/>
          <a:ln w="19050">
            <a:solidFill>
              <a:sysClr val="windowText" lastClr="00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</a:endParaRPr>
          </a:p>
        </p:txBody>
      </p:sp>
      <p:sp>
        <p:nvSpPr>
          <p:cNvPr id="318" name="Line 147">
            <a:extLst>
              <a:ext uri="{FF2B5EF4-FFF2-40B4-BE49-F238E27FC236}">
                <a16:creationId xmlns:a16="http://schemas.microsoft.com/office/drawing/2014/main" id="{A7565F90-2386-4CB9-A0C7-B28864E2CCFC}"/>
              </a:ext>
            </a:extLst>
          </p:cNvPr>
          <p:cNvSpPr>
            <a:spLocks noChangeShapeType="1"/>
          </p:cNvSpPr>
          <p:nvPr/>
        </p:nvSpPr>
        <p:spPr bwMode="auto">
          <a:xfrm>
            <a:off x="4041174" y="2394386"/>
            <a:ext cx="557215" cy="0"/>
          </a:xfrm>
          <a:prstGeom prst="line">
            <a:avLst/>
          </a:prstGeom>
          <a:noFill/>
          <a:ln w="12700">
            <a:solidFill>
              <a:srgbClr val="00B05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fontAlgn="auto">
              <a:spcBef>
                <a:spcPts val="0"/>
              </a:spcBef>
              <a:spcAft>
                <a:spcPts val="0"/>
              </a:spcAft>
            </a:pPr>
            <a:endParaRPr lang="zh-CN" altLang="en-US">
              <a:solidFill>
                <a:prstClr val="black"/>
              </a:solidFill>
              <a:latin typeface="等线" panose="020F0502020204030204"/>
              <a:ea typeface="等线" panose="02010600030101010101" pitchFamily="2" charset="-122"/>
            </a:endParaRPr>
          </a:p>
        </p:txBody>
      </p:sp>
      <p:sp>
        <p:nvSpPr>
          <p:cNvPr id="319" name="Line 148">
            <a:extLst>
              <a:ext uri="{FF2B5EF4-FFF2-40B4-BE49-F238E27FC236}">
                <a16:creationId xmlns:a16="http://schemas.microsoft.com/office/drawing/2014/main" id="{4CB511B1-1171-4016-A954-4B02C46EE47C}"/>
              </a:ext>
            </a:extLst>
          </p:cNvPr>
          <p:cNvSpPr>
            <a:spLocks noChangeShapeType="1"/>
          </p:cNvSpPr>
          <p:nvPr/>
        </p:nvSpPr>
        <p:spPr bwMode="auto">
          <a:xfrm>
            <a:off x="4142486" y="2602718"/>
            <a:ext cx="455903" cy="0"/>
          </a:xfrm>
          <a:prstGeom prst="line">
            <a:avLst/>
          </a:prstGeom>
          <a:noFill/>
          <a:ln w="12700">
            <a:solidFill>
              <a:srgbClr val="00B05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fontAlgn="auto">
              <a:spcBef>
                <a:spcPts val="0"/>
              </a:spcBef>
              <a:spcAft>
                <a:spcPts val="0"/>
              </a:spcAft>
            </a:pPr>
            <a:endParaRPr lang="zh-CN" altLang="en-US">
              <a:solidFill>
                <a:prstClr val="black"/>
              </a:solidFill>
              <a:latin typeface="等线" panose="020F0502020204030204"/>
              <a:ea typeface="等线" panose="02010600030101010101" pitchFamily="2" charset="-122"/>
            </a:endParaRPr>
          </a:p>
        </p:txBody>
      </p:sp>
      <p:sp>
        <p:nvSpPr>
          <p:cNvPr id="320" name="Line 149">
            <a:extLst>
              <a:ext uri="{FF2B5EF4-FFF2-40B4-BE49-F238E27FC236}">
                <a16:creationId xmlns:a16="http://schemas.microsoft.com/office/drawing/2014/main" id="{0250B53C-F9B4-47AA-8054-93C6B984E4A9}"/>
              </a:ext>
            </a:extLst>
          </p:cNvPr>
          <p:cNvSpPr>
            <a:spLocks noChangeShapeType="1"/>
          </p:cNvSpPr>
          <p:nvPr/>
        </p:nvSpPr>
        <p:spPr bwMode="auto">
          <a:xfrm>
            <a:off x="4104494" y="2811051"/>
            <a:ext cx="493895" cy="0"/>
          </a:xfrm>
          <a:prstGeom prst="line">
            <a:avLst/>
          </a:prstGeom>
          <a:noFill/>
          <a:ln w="12700">
            <a:solidFill>
              <a:srgbClr val="00B05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fontAlgn="auto">
              <a:spcBef>
                <a:spcPts val="0"/>
              </a:spcBef>
              <a:spcAft>
                <a:spcPts val="0"/>
              </a:spcAft>
            </a:pPr>
            <a:endParaRPr lang="zh-CN" altLang="en-US">
              <a:solidFill>
                <a:prstClr val="black"/>
              </a:solidFill>
              <a:latin typeface="等线" panose="020F0502020204030204"/>
              <a:ea typeface="等线" panose="02010600030101010101" pitchFamily="2" charset="-122"/>
            </a:endParaRPr>
          </a:p>
        </p:txBody>
      </p:sp>
      <p:sp>
        <p:nvSpPr>
          <p:cNvPr id="321" name="Line 150">
            <a:extLst>
              <a:ext uri="{FF2B5EF4-FFF2-40B4-BE49-F238E27FC236}">
                <a16:creationId xmlns:a16="http://schemas.microsoft.com/office/drawing/2014/main" id="{17DC7BEA-7B74-4B73-804C-DF001119E231}"/>
              </a:ext>
            </a:extLst>
          </p:cNvPr>
          <p:cNvSpPr>
            <a:spLocks noChangeShapeType="1"/>
          </p:cNvSpPr>
          <p:nvPr/>
        </p:nvSpPr>
        <p:spPr bwMode="auto">
          <a:xfrm>
            <a:off x="6422001" y="2811051"/>
            <a:ext cx="1671645" cy="486109"/>
          </a:xfrm>
          <a:prstGeom prst="line">
            <a:avLst/>
          </a:prstGeom>
          <a:noFill/>
          <a:ln w="12700">
            <a:solidFill>
              <a:srgbClr val="00B05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fontAlgn="auto">
              <a:spcBef>
                <a:spcPts val="0"/>
              </a:spcBef>
              <a:spcAft>
                <a:spcPts val="0"/>
              </a:spcAft>
            </a:pPr>
            <a:endParaRPr lang="zh-CN" altLang="en-US">
              <a:solidFill>
                <a:prstClr val="black"/>
              </a:solidFill>
              <a:latin typeface="等线" panose="020F0502020204030204"/>
              <a:ea typeface="等线" panose="02010600030101010101" pitchFamily="2" charset="-122"/>
            </a:endParaRPr>
          </a:p>
        </p:txBody>
      </p:sp>
      <p:sp>
        <p:nvSpPr>
          <p:cNvPr id="322" name="Line 151">
            <a:extLst>
              <a:ext uri="{FF2B5EF4-FFF2-40B4-BE49-F238E27FC236}">
                <a16:creationId xmlns:a16="http://schemas.microsoft.com/office/drawing/2014/main" id="{C1BB9DFC-670F-4DE6-BAD7-04D228DFB8E3}"/>
              </a:ext>
            </a:extLst>
          </p:cNvPr>
          <p:cNvSpPr>
            <a:spLocks noChangeShapeType="1"/>
          </p:cNvSpPr>
          <p:nvPr/>
        </p:nvSpPr>
        <p:spPr bwMode="auto">
          <a:xfrm>
            <a:off x="4750356" y="2811051"/>
            <a:ext cx="1519677" cy="0"/>
          </a:xfrm>
          <a:prstGeom prst="line">
            <a:avLst/>
          </a:prstGeom>
          <a:noFill/>
          <a:ln w="12700">
            <a:solidFill>
              <a:srgbClr val="00B05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fontAlgn="auto">
              <a:spcBef>
                <a:spcPts val="0"/>
              </a:spcBef>
              <a:spcAft>
                <a:spcPts val="0"/>
              </a:spcAft>
            </a:pPr>
            <a:endParaRPr lang="zh-CN" altLang="en-US">
              <a:solidFill>
                <a:prstClr val="black"/>
              </a:solidFill>
              <a:latin typeface="等线" panose="020F0502020204030204"/>
              <a:ea typeface="等线" panose="02010600030101010101" pitchFamily="2" charset="-122"/>
            </a:endParaRPr>
          </a:p>
        </p:txBody>
      </p:sp>
      <p:sp>
        <p:nvSpPr>
          <p:cNvPr id="323" name="Line 152">
            <a:extLst>
              <a:ext uri="{FF2B5EF4-FFF2-40B4-BE49-F238E27FC236}">
                <a16:creationId xmlns:a16="http://schemas.microsoft.com/office/drawing/2014/main" id="{6C00E20B-C17E-4F3A-AAE5-586E98B97EF8}"/>
              </a:ext>
            </a:extLst>
          </p:cNvPr>
          <p:cNvSpPr>
            <a:spLocks noChangeShapeType="1"/>
          </p:cNvSpPr>
          <p:nvPr/>
        </p:nvSpPr>
        <p:spPr bwMode="auto">
          <a:xfrm>
            <a:off x="4750356" y="2602718"/>
            <a:ext cx="1519677" cy="0"/>
          </a:xfrm>
          <a:prstGeom prst="line">
            <a:avLst/>
          </a:prstGeom>
          <a:noFill/>
          <a:ln w="12700">
            <a:solidFill>
              <a:srgbClr val="00B05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fontAlgn="auto">
              <a:spcBef>
                <a:spcPts val="0"/>
              </a:spcBef>
              <a:spcAft>
                <a:spcPts val="0"/>
              </a:spcAft>
            </a:pPr>
            <a:endParaRPr lang="zh-CN" altLang="en-US">
              <a:solidFill>
                <a:prstClr val="black"/>
              </a:solidFill>
              <a:latin typeface="等线" panose="020F0502020204030204"/>
              <a:ea typeface="等线" panose="02010600030101010101" pitchFamily="2" charset="-122"/>
            </a:endParaRPr>
          </a:p>
        </p:txBody>
      </p:sp>
      <p:sp>
        <p:nvSpPr>
          <p:cNvPr id="324" name="Line 154">
            <a:extLst>
              <a:ext uri="{FF2B5EF4-FFF2-40B4-BE49-F238E27FC236}">
                <a16:creationId xmlns:a16="http://schemas.microsoft.com/office/drawing/2014/main" id="{9553E1DF-2ECB-4E5E-BCC2-0C475C5B099C}"/>
              </a:ext>
            </a:extLst>
          </p:cNvPr>
          <p:cNvSpPr>
            <a:spLocks noChangeShapeType="1"/>
          </p:cNvSpPr>
          <p:nvPr/>
        </p:nvSpPr>
        <p:spPr bwMode="auto">
          <a:xfrm>
            <a:off x="8625533" y="3366604"/>
            <a:ext cx="0" cy="277776"/>
          </a:xfrm>
          <a:prstGeom prst="line">
            <a:avLst/>
          </a:prstGeom>
          <a:noFill/>
          <a:ln w="12700">
            <a:solidFill>
              <a:srgbClr val="00B05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fontAlgn="auto">
              <a:spcBef>
                <a:spcPts val="0"/>
              </a:spcBef>
              <a:spcAft>
                <a:spcPts val="0"/>
              </a:spcAft>
            </a:pPr>
            <a:endParaRPr lang="zh-CN" altLang="en-US">
              <a:solidFill>
                <a:prstClr val="black"/>
              </a:solidFill>
              <a:latin typeface="等线" panose="020F0502020204030204"/>
              <a:ea typeface="等线" panose="02010600030101010101" pitchFamily="2" charset="-122"/>
            </a:endParaRPr>
          </a:p>
        </p:txBody>
      </p:sp>
      <p:sp>
        <p:nvSpPr>
          <p:cNvPr id="325" name="Line 155">
            <a:extLst>
              <a:ext uri="{FF2B5EF4-FFF2-40B4-BE49-F238E27FC236}">
                <a16:creationId xmlns:a16="http://schemas.microsoft.com/office/drawing/2014/main" id="{7ED19B85-09A0-454C-80A4-E51336F52EB0}"/>
              </a:ext>
            </a:extLst>
          </p:cNvPr>
          <p:cNvSpPr>
            <a:spLocks noChangeShapeType="1"/>
          </p:cNvSpPr>
          <p:nvPr/>
        </p:nvSpPr>
        <p:spPr bwMode="auto">
          <a:xfrm>
            <a:off x="6422002" y="2602718"/>
            <a:ext cx="346972" cy="0"/>
          </a:xfrm>
          <a:prstGeom prst="line">
            <a:avLst/>
          </a:prstGeom>
          <a:noFill/>
          <a:ln w="12700">
            <a:solidFill>
              <a:srgbClr val="00B05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fontAlgn="auto">
              <a:spcBef>
                <a:spcPts val="0"/>
              </a:spcBef>
              <a:spcAft>
                <a:spcPts val="0"/>
              </a:spcAft>
            </a:pPr>
            <a:endParaRPr lang="zh-CN" altLang="en-US">
              <a:solidFill>
                <a:prstClr val="black"/>
              </a:solidFill>
              <a:latin typeface="等线" panose="020F0502020204030204"/>
              <a:ea typeface="等线" panose="02010600030101010101" pitchFamily="2" charset="-122"/>
            </a:endParaRPr>
          </a:p>
        </p:txBody>
      </p:sp>
      <p:sp>
        <p:nvSpPr>
          <p:cNvPr id="326" name="Line 156">
            <a:extLst>
              <a:ext uri="{FF2B5EF4-FFF2-40B4-BE49-F238E27FC236}">
                <a16:creationId xmlns:a16="http://schemas.microsoft.com/office/drawing/2014/main" id="{4FB8FC20-B77A-4C29-8E41-4E464EB968FD}"/>
              </a:ext>
            </a:extLst>
          </p:cNvPr>
          <p:cNvSpPr>
            <a:spLocks noChangeShapeType="1"/>
          </p:cNvSpPr>
          <p:nvPr/>
        </p:nvSpPr>
        <p:spPr bwMode="auto">
          <a:xfrm>
            <a:off x="8245614" y="3366604"/>
            <a:ext cx="379919" cy="0"/>
          </a:xfrm>
          <a:prstGeom prst="line">
            <a:avLst/>
          </a:prstGeom>
          <a:noFill/>
          <a:ln w="12700">
            <a:solidFill>
              <a:srgbClr val="00B05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fontAlgn="auto">
              <a:spcBef>
                <a:spcPts val="0"/>
              </a:spcBef>
              <a:spcAft>
                <a:spcPts val="0"/>
              </a:spcAft>
            </a:pPr>
            <a:endParaRPr lang="zh-CN" altLang="en-US">
              <a:solidFill>
                <a:prstClr val="black"/>
              </a:solidFill>
              <a:latin typeface="等线" panose="020F0502020204030204"/>
              <a:ea typeface="等线" panose="02010600030101010101" pitchFamily="2" charset="-122"/>
            </a:endParaRPr>
          </a:p>
        </p:txBody>
      </p:sp>
      <p:sp>
        <p:nvSpPr>
          <p:cNvPr id="327" name="Line 157">
            <a:extLst>
              <a:ext uri="{FF2B5EF4-FFF2-40B4-BE49-F238E27FC236}">
                <a16:creationId xmlns:a16="http://schemas.microsoft.com/office/drawing/2014/main" id="{B8B8F2E5-520A-4B5A-B8A9-9244436111C2}"/>
              </a:ext>
            </a:extLst>
          </p:cNvPr>
          <p:cNvSpPr>
            <a:spLocks noChangeShapeType="1"/>
          </p:cNvSpPr>
          <p:nvPr/>
        </p:nvSpPr>
        <p:spPr bwMode="auto">
          <a:xfrm>
            <a:off x="6768973" y="2602717"/>
            <a:ext cx="0" cy="138888"/>
          </a:xfrm>
          <a:prstGeom prst="line">
            <a:avLst/>
          </a:prstGeom>
          <a:noFill/>
          <a:ln w="12700">
            <a:solidFill>
              <a:srgbClr val="00B05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fontAlgn="auto">
              <a:spcBef>
                <a:spcPts val="0"/>
              </a:spcBef>
              <a:spcAft>
                <a:spcPts val="0"/>
              </a:spcAft>
            </a:pPr>
            <a:endParaRPr lang="zh-CN" altLang="en-US">
              <a:solidFill>
                <a:prstClr val="black"/>
              </a:solidFill>
              <a:latin typeface="等线" panose="020F0502020204030204"/>
              <a:ea typeface="等线" panose="02010600030101010101" pitchFamily="2" charset="-122"/>
            </a:endParaRPr>
          </a:p>
        </p:txBody>
      </p:sp>
      <p:sp>
        <p:nvSpPr>
          <p:cNvPr id="328" name="Rectangle 40">
            <a:extLst>
              <a:ext uri="{FF2B5EF4-FFF2-40B4-BE49-F238E27FC236}">
                <a16:creationId xmlns:a16="http://schemas.microsoft.com/office/drawing/2014/main" id="{099B3FB9-2BF9-448A-B59D-E059C0C35255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8488164" y="4277248"/>
            <a:ext cx="159080" cy="61318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19047" tIns="26984" rIns="19047" bIns="26984"/>
          <a:lstStyle/>
          <a:p>
            <a:pPr eaLnBrk="0" fontAlgn="auto" hangingPunct="0">
              <a:spcBef>
                <a:spcPts val="600"/>
              </a:spcBef>
              <a:spcAft>
                <a:spcPts val="600"/>
              </a:spcAft>
            </a:pPr>
            <a:r>
              <a:rPr lang="en-US" altLang="zh-CN" sz="1200" dirty="0">
                <a:solidFill>
                  <a:prstClr val="black"/>
                </a:solidFill>
                <a:latin typeface="Arial" pitchFamily="34" charset="0"/>
                <a:ea typeface="等线" panose="02010600030101010101" pitchFamily="2" charset="-122"/>
              </a:rPr>
              <a:t>1</a:t>
            </a:r>
          </a:p>
          <a:p>
            <a:pPr eaLnBrk="0" fontAlgn="auto" hangingPunct="0">
              <a:spcBef>
                <a:spcPts val="600"/>
              </a:spcBef>
              <a:spcAft>
                <a:spcPts val="600"/>
              </a:spcAft>
            </a:pPr>
            <a:r>
              <a:rPr lang="en-US" altLang="zh-CN" sz="1200" dirty="0">
                <a:solidFill>
                  <a:prstClr val="black"/>
                </a:solidFill>
                <a:latin typeface="Arial" pitchFamily="34" charset="0"/>
                <a:ea typeface="等线" panose="02010600030101010101" pitchFamily="2" charset="-122"/>
              </a:rPr>
              <a:t>0</a:t>
            </a:r>
          </a:p>
        </p:txBody>
      </p:sp>
      <p:sp>
        <p:nvSpPr>
          <p:cNvPr id="329" name="Line 118">
            <a:extLst>
              <a:ext uri="{FF2B5EF4-FFF2-40B4-BE49-F238E27FC236}">
                <a16:creationId xmlns:a16="http://schemas.microsoft.com/office/drawing/2014/main" id="{3FE14FA2-0433-4E75-AA60-048D0C0499A3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283106" y="4751082"/>
            <a:ext cx="118182" cy="694398"/>
          </a:xfrm>
          <a:prstGeom prst="line">
            <a:avLst/>
          </a:prstGeom>
          <a:noFill/>
          <a:ln w="28575" cap="rnd">
            <a:solidFill>
              <a:sysClr val="windowText" lastClr="000000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</a:endParaRPr>
          </a:p>
        </p:txBody>
      </p:sp>
      <p:sp>
        <p:nvSpPr>
          <p:cNvPr id="330" name="Line 13">
            <a:extLst>
              <a:ext uri="{FF2B5EF4-FFF2-40B4-BE49-F238E27FC236}">
                <a16:creationId xmlns:a16="http://schemas.microsoft.com/office/drawing/2014/main" id="{BCF78658-E1FC-4A4D-B21E-4020FFB9841A}"/>
              </a:ext>
            </a:extLst>
          </p:cNvPr>
          <p:cNvSpPr>
            <a:spLocks noChangeShapeType="1"/>
          </p:cNvSpPr>
          <p:nvPr/>
        </p:nvSpPr>
        <p:spPr bwMode="auto">
          <a:xfrm>
            <a:off x="8701836" y="4520288"/>
            <a:ext cx="151960" cy="0"/>
          </a:xfrm>
          <a:prstGeom prst="line">
            <a:avLst/>
          </a:prstGeom>
          <a:noFill/>
          <a:ln w="19050">
            <a:solidFill>
              <a:sysClr val="windowText" lastClr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</a:endParaRPr>
          </a:p>
        </p:txBody>
      </p:sp>
      <p:sp>
        <p:nvSpPr>
          <p:cNvPr id="331" name="Line 110">
            <a:extLst>
              <a:ext uri="{FF2B5EF4-FFF2-40B4-BE49-F238E27FC236}">
                <a16:creationId xmlns:a16="http://schemas.microsoft.com/office/drawing/2014/main" id="{32CFB060-9780-4799-BF2A-82A40D3E12FF}"/>
              </a:ext>
            </a:extLst>
          </p:cNvPr>
          <p:cNvSpPr>
            <a:spLocks noChangeShapeType="1"/>
          </p:cNvSpPr>
          <p:nvPr/>
        </p:nvSpPr>
        <p:spPr bwMode="auto">
          <a:xfrm>
            <a:off x="2850760" y="5700764"/>
            <a:ext cx="0" cy="236873"/>
          </a:xfrm>
          <a:prstGeom prst="line">
            <a:avLst/>
          </a:prstGeom>
          <a:noFill/>
          <a:ln w="19050">
            <a:solidFill>
              <a:sysClr val="windowText" lastClr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</a:endParaRPr>
          </a:p>
        </p:txBody>
      </p:sp>
      <p:sp>
        <p:nvSpPr>
          <p:cNvPr id="332" name="Line 8">
            <a:extLst>
              <a:ext uri="{FF2B5EF4-FFF2-40B4-BE49-F238E27FC236}">
                <a16:creationId xmlns:a16="http://schemas.microsoft.com/office/drawing/2014/main" id="{6287563E-A38F-4378-9E62-0888149DAEA4}"/>
              </a:ext>
            </a:extLst>
          </p:cNvPr>
          <p:cNvSpPr>
            <a:spLocks noChangeShapeType="1"/>
          </p:cNvSpPr>
          <p:nvPr/>
        </p:nvSpPr>
        <p:spPr bwMode="auto">
          <a:xfrm>
            <a:off x="2850760" y="5934127"/>
            <a:ext cx="1747538" cy="0"/>
          </a:xfrm>
          <a:prstGeom prst="line">
            <a:avLst/>
          </a:prstGeom>
          <a:noFill/>
          <a:ln w="19050">
            <a:solidFill>
              <a:sysClr val="windowText" lastClr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</a:endParaRPr>
          </a:p>
        </p:txBody>
      </p:sp>
      <p:sp>
        <p:nvSpPr>
          <p:cNvPr id="333" name="Line 9">
            <a:extLst>
              <a:ext uri="{FF2B5EF4-FFF2-40B4-BE49-F238E27FC236}">
                <a16:creationId xmlns:a16="http://schemas.microsoft.com/office/drawing/2014/main" id="{D9B8584B-CD68-4A03-96BA-1693128C0BD5}"/>
              </a:ext>
            </a:extLst>
          </p:cNvPr>
          <p:cNvSpPr>
            <a:spLocks noChangeShapeType="1"/>
          </p:cNvSpPr>
          <p:nvPr/>
        </p:nvSpPr>
        <p:spPr bwMode="auto">
          <a:xfrm>
            <a:off x="4757238" y="5934127"/>
            <a:ext cx="262057" cy="0"/>
          </a:xfrm>
          <a:prstGeom prst="line">
            <a:avLst/>
          </a:prstGeom>
          <a:noFill/>
          <a:ln w="19050">
            <a:solidFill>
              <a:sysClr val="windowText" lastClr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</a:endParaRPr>
          </a:p>
        </p:txBody>
      </p:sp>
      <p:sp>
        <p:nvSpPr>
          <p:cNvPr id="334" name="AutoShape 67">
            <a:extLst>
              <a:ext uri="{FF2B5EF4-FFF2-40B4-BE49-F238E27FC236}">
                <a16:creationId xmlns:a16="http://schemas.microsoft.com/office/drawing/2014/main" id="{302EEA6B-F163-4193-A237-8863E75263AF}"/>
              </a:ext>
            </a:extLst>
          </p:cNvPr>
          <p:cNvSpPr>
            <a:spLocks noChangeArrowheads="1"/>
          </p:cNvSpPr>
          <p:nvPr/>
        </p:nvSpPr>
        <p:spPr bwMode="auto">
          <a:xfrm rot="16200000">
            <a:off x="4855535" y="5632019"/>
            <a:ext cx="565593" cy="236773"/>
          </a:xfrm>
          <a:custGeom>
            <a:avLst/>
            <a:gdLst>
              <a:gd name="T0" fmla="*/ 9 w 21600"/>
              <a:gd name="T1" fmla="*/ 0 h 21600"/>
              <a:gd name="T2" fmla="*/ 5 w 21600"/>
              <a:gd name="T3" fmla="*/ 1 h 21600"/>
              <a:gd name="T4" fmla="*/ 1 w 21600"/>
              <a:gd name="T5" fmla="*/ 0 h 21600"/>
              <a:gd name="T6" fmla="*/ 5 w 21600"/>
              <a:gd name="T7" fmla="*/ 0 h 21600"/>
              <a:gd name="T8" fmla="*/ 0 60000 65536"/>
              <a:gd name="T9" fmla="*/ 0 60000 65536"/>
              <a:gd name="T10" fmla="*/ 0 60000 65536"/>
              <a:gd name="T11" fmla="*/ 0 60000 65536"/>
              <a:gd name="T12" fmla="*/ 4500 w 21600"/>
              <a:gd name="T13" fmla="*/ 4500 h 21600"/>
              <a:gd name="T14" fmla="*/ 17100 w 21600"/>
              <a:gd name="T15" fmla="*/ 17100 h 21600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21600" h="21600">
                <a:moveTo>
                  <a:pt x="0" y="0"/>
                </a:moveTo>
                <a:lnTo>
                  <a:pt x="5400" y="21600"/>
                </a:lnTo>
                <a:lnTo>
                  <a:pt x="16200" y="21600"/>
                </a:lnTo>
                <a:lnTo>
                  <a:pt x="21600" y="0"/>
                </a:lnTo>
                <a:lnTo>
                  <a:pt x="0" y="0"/>
                </a:lnTo>
                <a:close/>
              </a:path>
            </a:pathLst>
          </a:custGeom>
          <a:noFill/>
          <a:ln w="19050">
            <a:solidFill>
              <a:sysClr val="windowText" lastClr="000000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</a:endParaRPr>
          </a:p>
        </p:txBody>
      </p:sp>
      <p:sp>
        <p:nvSpPr>
          <p:cNvPr id="335" name="Rectangle 70">
            <a:extLst>
              <a:ext uri="{FF2B5EF4-FFF2-40B4-BE49-F238E27FC236}">
                <a16:creationId xmlns:a16="http://schemas.microsoft.com/office/drawing/2014/main" id="{B2B188D1-E2E6-46B4-9DBF-81A71B9EFA12}"/>
              </a:ext>
            </a:extLst>
          </p:cNvPr>
          <p:cNvSpPr>
            <a:spLocks noChangeArrowheads="1"/>
          </p:cNvSpPr>
          <p:nvPr/>
        </p:nvSpPr>
        <p:spPr bwMode="auto">
          <a:xfrm>
            <a:off x="5014595" y="5457966"/>
            <a:ext cx="118669" cy="60569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19047" tIns="26984" rIns="19047" bIns="26984"/>
          <a:lstStyle/>
          <a:p>
            <a:pPr eaLnBrk="0" fontAlgn="auto" hangingPunct="0">
              <a:spcBef>
                <a:spcPts val="600"/>
              </a:spcBef>
              <a:spcAft>
                <a:spcPts val="600"/>
              </a:spcAft>
            </a:pPr>
            <a:r>
              <a:rPr lang="en-US" altLang="zh-CN" sz="1200" dirty="0">
                <a:solidFill>
                  <a:prstClr val="black"/>
                </a:solidFill>
                <a:latin typeface="Arial" pitchFamily="34" charset="0"/>
                <a:ea typeface="等线" panose="02010600030101010101" pitchFamily="2" charset="-122"/>
              </a:rPr>
              <a:t>0</a:t>
            </a:r>
          </a:p>
          <a:p>
            <a:pPr eaLnBrk="0" fontAlgn="auto" hangingPunct="0">
              <a:spcBef>
                <a:spcPts val="600"/>
              </a:spcBef>
              <a:spcAft>
                <a:spcPts val="600"/>
              </a:spcAft>
            </a:pPr>
            <a:r>
              <a:rPr lang="en-US" altLang="zh-CN" sz="1200" dirty="0">
                <a:solidFill>
                  <a:prstClr val="black"/>
                </a:solidFill>
                <a:latin typeface="Arial" pitchFamily="34" charset="0"/>
                <a:ea typeface="等线" panose="02010600030101010101" pitchFamily="2" charset="-122"/>
              </a:rPr>
              <a:t>1</a:t>
            </a:r>
          </a:p>
        </p:txBody>
      </p:sp>
      <p:sp>
        <p:nvSpPr>
          <p:cNvPr id="336" name="Line 10">
            <a:extLst>
              <a:ext uri="{FF2B5EF4-FFF2-40B4-BE49-F238E27FC236}">
                <a16:creationId xmlns:a16="http://schemas.microsoft.com/office/drawing/2014/main" id="{C4C69CA7-3DDB-401E-A77C-9ED576ADF4CC}"/>
              </a:ext>
            </a:extLst>
          </p:cNvPr>
          <p:cNvSpPr>
            <a:spLocks noChangeShapeType="1"/>
          </p:cNvSpPr>
          <p:nvPr/>
        </p:nvSpPr>
        <p:spPr bwMode="auto">
          <a:xfrm>
            <a:off x="5249790" y="5700764"/>
            <a:ext cx="1008061" cy="0"/>
          </a:xfrm>
          <a:prstGeom prst="line">
            <a:avLst/>
          </a:prstGeom>
          <a:noFill/>
          <a:ln w="19050">
            <a:solidFill>
              <a:sysClr val="windowText" lastClr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</a:endParaRPr>
          </a:p>
        </p:txBody>
      </p:sp>
      <p:sp>
        <p:nvSpPr>
          <p:cNvPr id="337" name="Line 153">
            <a:extLst>
              <a:ext uri="{FF2B5EF4-FFF2-40B4-BE49-F238E27FC236}">
                <a16:creationId xmlns:a16="http://schemas.microsoft.com/office/drawing/2014/main" id="{0546787E-8EA1-40F4-86FD-E0FA96E07320}"/>
              </a:ext>
            </a:extLst>
          </p:cNvPr>
          <p:cNvSpPr>
            <a:spLocks noChangeShapeType="1"/>
          </p:cNvSpPr>
          <p:nvPr/>
        </p:nvSpPr>
        <p:spPr bwMode="auto">
          <a:xfrm>
            <a:off x="4057205" y="2922397"/>
            <a:ext cx="258460" cy="0"/>
          </a:xfrm>
          <a:prstGeom prst="line">
            <a:avLst/>
          </a:prstGeom>
          <a:noFill/>
          <a:ln w="12700">
            <a:solidFill>
              <a:srgbClr val="00B05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fontAlgn="auto">
              <a:spcBef>
                <a:spcPts val="0"/>
              </a:spcBef>
              <a:spcAft>
                <a:spcPts val="0"/>
              </a:spcAft>
            </a:pPr>
            <a:endParaRPr lang="zh-CN" altLang="en-US">
              <a:solidFill>
                <a:prstClr val="black"/>
              </a:solidFill>
              <a:latin typeface="等线" panose="020F0502020204030204"/>
              <a:ea typeface="等线" panose="02010600030101010101" pitchFamily="2" charset="-122"/>
            </a:endParaRPr>
          </a:p>
        </p:txBody>
      </p:sp>
      <p:sp>
        <p:nvSpPr>
          <p:cNvPr id="338" name="Line 158">
            <a:extLst>
              <a:ext uri="{FF2B5EF4-FFF2-40B4-BE49-F238E27FC236}">
                <a16:creationId xmlns:a16="http://schemas.microsoft.com/office/drawing/2014/main" id="{0A5DD0B4-7483-48B0-9AC9-434145EBA85B}"/>
              </a:ext>
            </a:extLst>
          </p:cNvPr>
          <p:cNvSpPr>
            <a:spLocks noChangeShapeType="1"/>
          </p:cNvSpPr>
          <p:nvPr/>
        </p:nvSpPr>
        <p:spPr bwMode="auto">
          <a:xfrm>
            <a:off x="4311663" y="2920880"/>
            <a:ext cx="0" cy="117757"/>
          </a:xfrm>
          <a:prstGeom prst="line">
            <a:avLst/>
          </a:prstGeom>
          <a:noFill/>
          <a:ln w="12700">
            <a:solidFill>
              <a:srgbClr val="00B05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fontAlgn="auto">
              <a:spcBef>
                <a:spcPts val="0"/>
              </a:spcBef>
              <a:spcAft>
                <a:spcPts val="0"/>
              </a:spcAft>
            </a:pPr>
            <a:endParaRPr lang="zh-CN" altLang="en-US">
              <a:solidFill>
                <a:prstClr val="black"/>
              </a:solidFill>
              <a:latin typeface="等线" panose="020F0502020204030204"/>
              <a:ea typeface="等线" panose="02010600030101010101" pitchFamily="2" charset="-122"/>
            </a:endParaRPr>
          </a:p>
        </p:txBody>
      </p:sp>
      <p:sp>
        <p:nvSpPr>
          <p:cNvPr id="339" name="Text Box 30">
            <a:extLst>
              <a:ext uri="{FF2B5EF4-FFF2-40B4-BE49-F238E27FC236}">
                <a16:creationId xmlns:a16="http://schemas.microsoft.com/office/drawing/2014/main" id="{51DDC3AB-867B-4941-B42D-5CFD2EB53C8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442597" y="3423138"/>
            <a:ext cx="500428" cy="27698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1425" tIns="45713" rIns="91425" bIns="45713">
            <a:spAutoFit/>
          </a:bodyPr>
          <a:lstStyle>
            <a:lvl1pPr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1pPr>
            <a:lvl2pPr marL="742950" indent="-28575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2pPr>
            <a:lvl3pPr marL="11430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3pPr>
            <a:lvl4pPr marL="16002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4pPr>
            <a:lvl5pPr marL="20574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9pPr>
          </a:lstStyle>
          <a:p>
            <a:pPr fontAlgn="auto">
              <a:spcBef>
                <a:spcPts val="0"/>
              </a:spcBef>
              <a:spcAft>
                <a:spcPts val="0"/>
              </a:spcAft>
            </a:pPr>
            <a:r>
              <a:rPr lang="en-US" altLang="zh-CN" sz="1200" b="0" dirty="0">
                <a:solidFill>
                  <a:prstClr val="black"/>
                </a:solidFill>
                <a:latin typeface="Arial" pitchFamily="34" charset="0"/>
                <a:ea typeface="SimHei" panose="02010609060101010101" pitchFamily="49" charset="-122"/>
              </a:rPr>
              <a:t>Zero</a:t>
            </a:r>
          </a:p>
        </p:txBody>
      </p:sp>
      <p:sp>
        <p:nvSpPr>
          <p:cNvPr id="340" name="流程图: 延期 339">
            <a:extLst>
              <a:ext uri="{FF2B5EF4-FFF2-40B4-BE49-F238E27FC236}">
                <a16:creationId xmlns:a16="http://schemas.microsoft.com/office/drawing/2014/main" id="{B3B10378-7CB7-4C97-9971-9514AF3E6C2E}"/>
              </a:ext>
            </a:extLst>
          </p:cNvPr>
          <p:cNvSpPr/>
          <p:nvPr/>
        </p:nvSpPr>
        <p:spPr>
          <a:xfrm rot="16200000">
            <a:off x="7034014" y="2006787"/>
            <a:ext cx="413006" cy="381758"/>
          </a:xfrm>
          <a:prstGeom prst="flowChartDelay">
            <a:avLst/>
          </a:prstGeom>
          <a:noFill/>
          <a:ln w="19050" cap="flat" cmpd="sng" algn="ctr">
            <a:solidFill>
              <a:srgbClr val="00B050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341" name="Line 124">
            <a:extLst>
              <a:ext uri="{FF2B5EF4-FFF2-40B4-BE49-F238E27FC236}">
                <a16:creationId xmlns:a16="http://schemas.microsoft.com/office/drawing/2014/main" id="{C61274C3-9AF1-4448-8CB7-81FB5C803ABA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7135461" y="2407801"/>
            <a:ext cx="0" cy="1236577"/>
          </a:xfrm>
          <a:prstGeom prst="line">
            <a:avLst/>
          </a:prstGeom>
          <a:noFill/>
          <a:ln w="19050">
            <a:solidFill>
              <a:sysClr val="windowText" lastClr="000000"/>
            </a:solidFill>
            <a:round/>
            <a:headEnd type="none" w="med" len="med"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</a:endParaRPr>
          </a:p>
        </p:txBody>
      </p:sp>
      <p:sp>
        <p:nvSpPr>
          <p:cNvPr id="342" name="Line 124">
            <a:extLst>
              <a:ext uri="{FF2B5EF4-FFF2-40B4-BE49-F238E27FC236}">
                <a16:creationId xmlns:a16="http://schemas.microsoft.com/office/drawing/2014/main" id="{4624F3EE-5D8E-427E-BF5D-02AA93D5DFE8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7321593" y="2403455"/>
            <a:ext cx="0" cy="268705"/>
          </a:xfrm>
          <a:prstGeom prst="line">
            <a:avLst/>
          </a:prstGeom>
          <a:noFill/>
          <a:ln w="12700">
            <a:solidFill>
              <a:srgbClr val="00B050"/>
            </a:solidFill>
            <a:round/>
            <a:headEnd type="none" w="med" len="med"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fontAlgn="auto">
              <a:spcBef>
                <a:spcPts val="0"/>
              </a:spcBef>
              <a:spcAft>
                <a:spcPts val="0"/>
              </a:spcAft>
            </a:pPr>
            <a:endParaRPr lang="zh-CN" altLang="en-US">
              <a:solidFill>
                <a:prstClr val="black"/>
              </a:solidFill>
              <a:latin typeface="等线" panose="020F0502020204030204"/>
              <a:ea typeface="等线" panose="02010600030101010101" pitchFamily="2" charset="-122"/>
            </a:endParaRPr>
          </a:p>
        </p:txBody>
      </p:sp>
      <p:sp>
        <p:nvSpPr>
          <p:cNvPr id="343" name="Text Box 30">
            <a:extLst>
              <a:ext uri="{FF2B5EF4-FFF2-40B4-BE49-F238E27FC236}">
                <a16:creationId xmlns:a16="http://schemas.microsoft.com/office/drawing/2014/main" id="{6B9F51A6-11F6-4867-B70E-7DC367684CC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263795" y="2541236"/>
            <a:ext cx="670346" cy="27698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1425" tIns="45713" rIns="91425" bIns="45713">
            <a:spAutoFit/>
          </a:bodyPr>
          <a:lstStyle>
            <a:lvl1pPr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1pPr>
            <a:lvl2pPr marL="742950" indent="-28575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2pPr>
            <a:lvl3pPr marL="11430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3pPr>
            <a:lvl4pPr marL="16002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4pPr>
            <a:lvl5pPr marL="20574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9pPr>
          </a:lstStyle>
          <a:p>
            <a:pPr fontAlgn="auto">
              <a:spcBef>
                <a:spcPts val="0"/>
              </a:spcBef>
              <a:spcAft>
                <a:spcPts val="0"/>
              </a:spcAft>
            </a:pPr>
            <a:r>
              <a:rPr lang="en-US" altLang="zh-CN" sz="1200" b="0" dirty="0">
                <a:solidFill>
                  <a:srgbClr val="00B050"/>
                </a:solidFill>
                <a:latin typeface="Arial" pitchFamily="34" charset="0"/>
                <a:ea typeface="SimHei" panose="02010609060101010101" pitchFamily="49" charset="-122"/>
              </a:rPr>
              <a:t>Branch</a:t>
            </a:r>
          </a:p>
        </p:txBody>
      </p:sp>
      <p:sp>
        <p:nvSpPr>
          <p:cNvPr id="344" name="Line 153">
            <a:extLst>
              <a:ext uri="{FF2B5EF4-FFF2-40B4-BE49-F238E27FC236}">
                <a16:creationId xmlns:a16="http://schemas.microsoft.com/office/drawing/2014/main" id="{D42172A3-577C-42BC-898E-389753F2683A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782822" y="3366604"/>
            <a:ext cx="0" cy="248294"/>
          </a:xfrm>
          <a:prstGeom prst="line">
            <a:avLst/>
          </a:prstGeom>
          <a:noFill/>
          <a:ln w="12700">
            <a:solidFill>
              <a:srgbClr val="00B05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fontAlgn="auto">
              <a:spcBef>
                <a:spcPts val="0"/>
              </a:spcBef>
              <a:spcAft>
                <a:spcPts val="0"/>
              </a:spcAft>
            </a:pPr>
            <a:endParaRPr lang="zh-CN" altLang="en-US">
              <a:solidFill>
                <a:prstClr val="black"/>
              </a:solidFill>
              <a:latin typeface="等线" panose="020F0502020204030204"/>
              <a:ea typeface="等线" panose="02010600030101010101" pitchFamily="2" charset="-122"/>
            </a:endParaRPr>
          </a:p>
        </p:txBody>
      </p:sp>
      <p:sp>
        <p:nvSpPr>
          <p:cNvPr id="345" name="Text Box 30">
            <a:extLst>
              <a:ext uri="{FF2B5EF4-FFF2-40B4-BE49-F238E27FC236}">
                <a16:creationId xmlns:a16="http://schemas.microsoft.com/office/drawing/2014/main" id="{C11A06F7-6D89-4CE5-9EB3-6F01B9FEF0E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199728" y="3217562"/>
            <a:ext cx="659574" cy="27698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1425" tIns="45713" rIns="91425" bIns="45713">
            <a:spAutoFit/>
          </a:bodyPr>
          <a:lstStyle>
            <a:lvl1pPr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1pPr>
            <a:lvl2pPr marL="742950" indent="-28575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2pPr>
            <a:lvl3pPr marL="11430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3pPr>
            <a:lvl4pPr marL="16002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4pPr>
            <a:lvl5pPr marL="20574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9pPr>
          </a:lstStyle>
          <a:p>
            <a:pPr fontAlgn="auto">
              <a:spcBef>
                <a:spcPts val="0"/>
              </a:spcBef>
              <a:spcAft>
                <a:spcPts val="0"/>
              </a:spcAft>
            </a:pPr>
            <a:r>
              <a:rPr lang="en-US" altLang="zh-CN" sz="1200" b="0" dirty="0" err="1">
                <a:solidFill>
                  <a:srgbClr val="00B050"/>
                </a:solidFill>
                <a:latin typeface="Arial" pitchFamily="34" charset="0"/>
                <a:ea typeface="SimHei" panose="02010609060101010101" pitchFamily="49" charset="-122"/>
              </a:rPr>
              <a:t>RegWr</a:t>
            </a:r>
            <a:endParaRPr lang="en-US" altLang="zh-CN" sz="1200" b="0" dirty="0">
              <a:solidFill>
                <a:srgbClr val="00B050"/>
              </a:solidFill>
              <a:latin typeface="Arial" pitchFamily="34" charset="0"/>
              <a:ea typeface="SimHei" panose="02010609060101010101" pitchFamily="49" charset="-122"/>
            </a:endParaRPr>
          </a:p>
        </p:txBody>
      </p:sp>
      <p:sp>
        <p:nvSpPr>
          <p:cNvPr id="346" name="Line 153">
            <a:extLst>
              <a:ext uri="{FF2B5EF4-FFF2-40B4-BE49-F238E27FC236}">
                <a16:creationId xmlns:a16="http://schemas.microsoft.com/office/drawing/2014/main" id="{F0729A0B-FCCC-4CF0-BBCC-77F87A862B61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7242364" y="1737111"/>
            <a:ext cx="0" cy="254051"/>
          </a:xfrm>
          <a:prstGeom prst="line">
            <a:avLst/>
          </a:prstGeom>
          <a:noFill/>
          <a:ln w="12700">
            <a:solidFill>
              <a:srgbClr val="00B05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fontAlgn="auto">
              <a:spcBef>
                <a:spcPts val="0"/>
              </a:spcBef>
              <a:spcAft>
                <a:spcPts val="0"/>
              </a:spcAft>
            </a:pPr>
            <a:endParaRPr lang="zh-CN" altLang="en-US">
              <a:solidFill>
                <a:prstClr val="black"/>
              </a:solidFill>
              <a:latin typeface="等线" panose="020F0502020204030204"/>
              <a:ea typeface="等线" panose="02010600030101010101" pitchFamily="2" charset="-122"/>
            </a:endParaRPr>
          </a:p>
        </p:txBody>
      </p:sp>
      <p:sp>
        <p:nvSpPr>
          <p:cNvPr id="347" name="Line 153">
            <a:extLst>
              <a:ext uri="{FF2B5EF4-FFF2-40B4-BE49-F238E27FC236}">
                <a16:creationId xmlns:a16="http://schemas.microsoft.com/office/drawing/2014/main" id="{B624A04B-43A1-4027-BB37-BC710598600B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1258133" y="1737109"/>
            <a:ext cx="5984231" cy="0"/>
          </a:xfrm>
          <a:prstGeom prst="line">
            <a:avLst/>
          </a:prstGeom>
          <a:noFill/>
          <a:ln w="12700">
            <a:solidFill>
              <a:srgbClr val="00B05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fontAlgn="auto">
              <a:spcBef>
                <a:spcPts val="0"/>
              </a:spcBef>
              <a:spcAft>
                <a:spcPts val="0"/>
              </a:spcAft>
            </a:pPr>
            <a:endParaRPr lang="zh-CN" altLang="en-US">
              <a:solidFill>
                <a:prstClr val="black"/>
              </a:solidFill>
              <a:latin typeface="等线" panose="020F0502020204030204"/>
              <a:ea typeface="等线" panose="02010600030101010101" pitchFamily="2" charset="-122"/>
            </a:endParaRPr>
          </a:p>
        </p:txBody>
      </p:sp>
      <p:sp>
        <p:nvSpPr>
          <p:cNvPr id="348" name="Line 153">
            <a:extLst>
              <a:ext uri="{FF2B5EF4-FFF2-40B4-BE49-F238E27FC236}">
                <a16:creationId xmlns:a16="http://schemas.microsoft.com/office/drawing/2014/main" id="{D0D076AA-BFE8-4CC4-A9F2-714227058BAF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1258133" y="1737108"/>
            <a:ext cx="0" cy="173886"/>
          </a:xfrm>
          <a:prstGeom prst="line">
            <a:avLst/>
          </a:prstGeom>
          <a:noFill/>
          <a:ln w="12700">
            <a:solidFill>
              <a:srgbClr val="00B05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fontAlgn="auto">
              <a:spcBef>
                <a:spcPts val="0"/>
              </a:spcBef>
              <a:spcAft>
                <a:spcPts val="0"/>
              </a:spcAft>
            </a:pPr>
            <a:endParaRPr lang="zh-CN" altLang="en-US">
              <a:solidFill>
                <a:prstClr val="black"/>
              </a:solidFill>
              <a:latin typeface="等线" panose="020F0502020204030204"/>
              <a:ea typeface="等线" panose="02010600030101010101" pitchFamily="2" charset="-122"/>
            </a:endParaRPr>
          </a:p>
        </p:txBody>
      </p:sp>
      <p:sp>
        <p:nvSpPr>
          <p:cNvPr id="349" name="Text Box 30">
            <a:extLst>
              <a:ext uri="{FF2B5EF4-FFF2-40B4-BE49-F238E27FC236}">
                <a16:creationId xmlns:a16="http://schemas.microsoft.com/office/drawing/2014/main" id="{634CBD4B-5F1E-48C0-98D8-0ED4F31472A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45160" y="1502794"/>
            <a:ext cx="628668" cy="27698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1425" tIns="45713" rIns="91425" bIns="45713">
            <a:spAutoFit/>
          </a:bodyPr>
          <a:lstStyle>
            <a:lvl1pPr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1pPr>
            <a:lvl2pPr marL="742950" indent="-28575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2pPr>
            <a:lvl3pPr marL="11430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3pPr>
            <a:lvl4pPr marL="16002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4pPr>
            <a:lvl5pPr marL="20574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9pPr>
          </a:lstStyle>
          <a:p>
            <a:pPr fontAlgn="auto">
              <a:spcBef>
                <a:spcPts val="0"/>
              </a:spcBef>
              <a:spcAft>
                <a:spcPts val="0"/>
              </a:spcAft>
            </a:pPr>
            <a:r>
              <a:rPr lang="en-US" altLang="zh-CN" sz="1200" b="0" dirty="0" err="1">
                <a:solidFill>
                  <a:srgbClr val="00B050"/>
                </a:solidFill>
                <a:latin typeface="Arial" pitchFamily="34" charset="0"/>
                <a:ea typeface="SimHei" panose="02010609060101010101" pitchFamily="49" charset="-122"/>
              </a:rPr>
              <a:t>PCSrc</a:t>
            </a:r>
            <a:endParaRPr lang="en-US" altLang="zh-CN" sz="1200" b="0" dirty="0">
              <a:solidFill>
                <a:srgbClr val="00B050"/>
              </a:solidFill>
              <a:latin typeface="Arial" pitchFamily="34" charset="0"/>
              <a:ea typeface="SimHei" panose="02010609060101010101" pitchFamily="49" charset="-122"/>
            </a:endParaRPr>
          </a:p>
        </p:txBody>
      </p:sp>
      <p:sp>
        <p:nvSpPr>
          <p:cNvPr id="350" name="Line 153">
            <a:extLst>
              <a:ext uri="{FF2B5EF4-FFF2-40B4-BE49-F238E27FC236}">
                <a16:creationId xmlns:a16="http://schemas.microsoft.com/office/drawing/2014/main" id="{B9B3F9E6-BB57-45AA-A680-89C948ABF846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144491" y="5958559"/>
            <a:ext cx="0" cy="619634"/>
          </a:xfrm>
          <a:prstGeom prst="line">
            <a:avLst/>
          </a:prstGeom>
          <a:noFill/>
          <a:ln w="12700">
            <a:solidFill>
              <a:srgbClr val="00B05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fontAlgn="auto">
              <a:spcBef>
                <a:spcPts val="0"/>
              </a:spcBef>
              <a:spcAft>
                <a:spcPts val="0"/>
              </a:spcAft>
            </a:pPr>
            <a:endParaRPr lang="zh-CN" altLang="en-US">
              <a:solidFill>
                <a:prstClr val="black"/>
              </a:solidFill>
              <a:latin typeface="等线" panose="020F0502020204030204"/>
              <a:ea typeface="等线" panose="02010600030101010101" pitchFamily="2" charset="-122"/>
            </a:endParaRPr>
          </a:p>
        </p:txBody>
      </p:sp>
      <p:sp>
        <p:nvSpPr>
          <p:cNvPr id="351" name="Text Box 30">
            <a:extLst>
              <a:ext uri="{FF2B5EF4-FFF2-40B4-BE49-F238E27FC236}">
                <a16:creationId xmlns:a16="http://schemas.microsoft.com/office/drawing/2014/main" id="{C8D83603-25F0-48F7-B0DA-140577551D9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095180" y="6430434"/>
            <a:ext cx="695994" cy="27698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1425" tIns="45713" rIns="91425" bIns="45713">
            <a:spAutoFit/>
          </a:bodyPr>
          <a:lstStyle>
            <a:lvl1pPr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1pPr>
            <a:lvl2pPr marL="742950" indent="-28575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2pPr>
            <a:lvl3pPr marL="11430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3pPr>
            <a:lvl4pPr marL="16002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4pPr>
            <a:lvl5pPr marL="20574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9pPr>
          </a:lstStyle>
          <a:p>
            <a:pPr fontAlgn="auto">
              <a:spcBef>
                <a:spcPts val="0"/>
              </a:spcBef>
              <a:spcAft>
                <a:spcPts val="0"/>
              </a:spcAft>
            </a:pPr>
            <a:r>
              <a:rPr lang="en-US" altLang="zh-CN" sz="1200" b="0" dirty="0" err="1">
                <a:solidFill>
                  <a:srgbClr val="00B050"/>
                </a:solidFill>
                <a:latin typeface="Arial" pitchFamily="34" charset="0"/>
                <a:ea typeface="SimHei" panose="02010609060101010101" pitchFamily="49" charset="-122"/>
              </a:rPr>
              <a:t>RegDst</a:t>
            </a:r>
            <a:endParaRPr lang="en-US" altLang="zh-CN" sz="1200" b="0" dirty="0">
              <a:solidFill>
                <a:srgbClr val="00B050"/>
              </a:solidFill>
              <a:latin typeface="Arial" pitchFamily="34" charset="0"/>
              <a:ea typeface="SimHei" panose="02010609060101010101" pitchFamily="49" charset="-122"/>
            </a:endParaRPr>
          </a:p>
        </p:txBody>
      </p:sp>
      <p:sp>
        <p:nvSpPr>
          <p:cNvPr id="352" name="Line 153">
            <a:extLst>
              <a:ext uri="{FF2B5EF4-FFF2-40B4-BE49-F238E27FC236}">
                <a16:creationId xmlns:a16="http://schemas.microsoft.com/office/drawing/2014/main" id="{51A06DDF-C40C-4AF6-AEAD-41DFF4BD8825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857698" y="4904869"/>
            <a:ext cx="0" cy="309817"/>
          </a:xfrm>
          <a:prstGeom prst="line">
            <a:avLst/>
          </a:prstGeom>
          <a:noFill/>
          <a:ln w="12700">
            <a:solidFill>
              <a:srgbClr val="00B05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fontAlgn="auto">
              <a:spcBef>
                <a:spcPts val="0"/>
              </a:spcBef>
              <a:spcAft>
                <a:spcPts val="0"/>
              </a:spcAft>
            </a:pPr>
            <a:endParaRPr lang="zh-CN" altLang="en-US">
              <a:solidFill>
                <a:prstClr val="black"/>
              </a:solidFill>
              <a:latin typeface="等线" panose="020F0502020204030204"/>
              <a:ea typeface="等线" panose="02010600030101010101" pitchFamily="2" charset="-122"/>
            </a:endParaRPr>
          </a:p>
        </p:txBody>
      </p:sp>
      <p:sp>
        <p:nvSpPr>
          <p:cNvPr id="353" name="Line 153">
            <a:extLst>
              <a:ext uri="{FF2B5EF4-FFF2-40B4-BE49-F238E27FC236}">
                <a16:creationId xmlns:a16="http://schemas.microsoft.com/office/drawing/2014/main" id="{DA517909-001C-48C8-9E82-7D084C68AF63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7774288" y="4919451"/>
            <a:ext cx="0" cy="309817"/>
          </a:xfrm>
          <a:prstGeom prst="line">
            <a:avLst/>
          </a:prstGeom>
          <a:noFill/>
          <a:ln w="12700">
            <a:solidFill>
              <a:srgbClr val="00B05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fontAlgn="auto">
              <a:spcBef>
                <a:spcPts val="0"/>
              </a:spcBef>
              <a:spcAft>
                <a:spcPts val="0"/>
              </a:spcAft>
            </a:pPr>
            <a:endParaRPr lang="zh-CN" altLang="en-US">
              <a:solidFill>
                <a:prstClr val="black"/>
              </a:solidFill>
              <a:latin typeface="等线" panose="020F0502020204030204"/>
              <a:ea typeface="等线" panose="02010600030101010101" pitchFamily="2" charset="-122"/>
            </a:endParaRPr>
          </a:p>
        </p:txBody>
      </p:sp>
      <p:sp>
        <p:nvSpPr>
          <p:cNvPr id="354" name="Text Box 30">
            <a:extLst>
              <a:ext uri="{FF2B5EF4-FFF2-40B4-BE49-F238E27FC236}">
                <a16:creationId xmlns:a16="http://schemas.microsoft.com/office/drawing/2014/main" id="{C1079CD0-AA8D-452D-8DE3-489124199A5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442597" y="5127528"/>
            <a:ext cx="891560" cy="27698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1425" tIns="45713" rIns="91425" bIns="45713">
            <a:spAutoFit/>
          </a:bodyPr>
          <a:lstStyle>
            <a:lvl1pPr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1pPr>
            <a:lvl2pPr marL="742950" indent="-28575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2pPr>
            <a:lvl3pPr marL="11430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3pPr>
            <a:lvl4pPr marL="16002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4pPr>
            <a:lvl5pPr marL="20574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9pPr>
          </a:lstStyle>
          <a:p>
            <a:pPr fontAlgn="auto">
              <a:spcBef>
                <a:spcPts val="0"/>
              </a:spcBef>
              <a:spcAft>
                <a:spcPts val="0"/>
              </a:spcAft>
            </a:pPr>
            <a:r>
              <a:rPr lang="en-US" altLang="zh-CN" sz="1200" b="0" dirty="0" err="1">
                <a:solidFill>
                  <a:srgbClr val="00B050"/>
                </a:solidFill>
                <a:latin typeface="Arial" pitchFamily="34" charset="0"/>
                <a:ea typeface="SimHei" panose="02010609060101010101" pitchFamily="49" charset="-122"/>
              </a:rPr>
              <a:t>MemRead</a:t>
            </a:r>
            <a:endParaRPr lang="en-US" altLang="zh-CN" sz="1200" b="0" dirty="0">
              <a:solidFill>
                <a:srgbClr val="00B050"/>
              </a:solidFill>
              <a:latin typeface="Arial" pitchFamily="34" charset="0"/>
              <a:ea typeface="SimHei" panose="02010609060101010101" pitchFamily="49" charset="-122"/>
            </a:endParaRPr>
          </a:p>
        </p:txBody>
      </p:sp>
      <p:sp>
        <p:nvSpPr>
          <p:cNvPr id="355" name="Text Box 30">
            <a:extLst>
              <a:ext uri="{FF2B5EF4-FFF2-40B4-BE49-F238E27FC236}">
                <a16:creationId xmlns:a16="http://schemas.microsoft.com/office/drawing/2014/main" id="{62DAFF2E-015C-482B-AD03-14D16A09F11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73158" y="5129251"/>
            <a:ext cx="720488" cy="27698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1425" tIns="45713" rIns="91425" bIns="45713">
            <a:spAutoFit/>
          </a:bodyPr>
          <a:lstStyle>
            <a:lvl1pPr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1pPr>
            <a:lvl2pPr marL="742950" indent="-28575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2pPr>
            <a:lvl3pPr marL="11430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3pPr>
            <a:lvl4pPr marL="16002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4pPr>
            <a:lvl5pPr marL="20574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9pPr>
          </a:lstStyle>
          <a:p>
            <a:pPr fontAlgn="auto">
              <a:spcBef>
                <a:spcPts val="0"/>
              </a:spcBef>
              <a:spcAft>
                <a:spcPts val="0"/>
              </a:spcAft>
            </a:pPr>
            <a:r>
              <a:rPr lang="en-US" altLang="zh-CN" sz="1200" b="0" dirty="0" err="1">
                <a:solidFill>
                  <a:srgbClr val="00B050"/>
                </a:solidFill>
                <a:latin typeface="Arial" pitchFamily="34" charset="0"/>
                <a:ea typeface="SimHei" panose="02010609060101010101" pitchFamily="49" charset="-122"/>
              </a:rPr>
              <a:t>MemWr</a:t>
            </a:r>
            <a:endParaRPr lang="en-US" altLang="zh-CN" sz="1200" b="0" dirty="0">
              <a:solidFill>
                <a:srgbClr val="00B050"/>
              </a:solidFill>
              <a:latin typeface="Arial" pitchFamily="34" charset="0"/>
              <a:ea typeface="SimHei" panose="02010609060101010101" pitchFamily="49" charset="-122"/>
            </a:endParaRPr>
          </a:p>
        </p:txBody>
      </p:sp>
      <p:sp>
        <p:nvSpPr>
          <p:cNvPr id="356" name="Line 153">
            <a:extLst>
              <a:ext uri="{FF2B5EF4-FFF2-40B4-BE49-F238E27FC236}">
                <a16:creationId xmlns:a16="http://schemas.microsoft.com/office/drawing/2014/main" id="{5EC29184-80CF-4AE3-81CB-6B6AFE681555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8587866" y="4006024"/>
            <a:ext cx="0" cy="309817"/>
          </a:xfrm>
          <a:prstGeom prst="line">
            <a:avLst/>
          </a:prstGeom>
          <a:noFill/>
          <a:ln w="12700">
            <a:solidFill>
              <a:srgbClr val="00B05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fontAlgn="auto">
              <a:spcBef>
                <a:spcPts val="0"/>
              </a:spcBef>
              <a:spcAft>
                <a:spcPts val="0"/>
              </a:spcAft>
            </a:pPr>
            <a:endParaRPr lang="zh-CN" altLang="en-US">
              <a:solidFill>
                <a:prstClr val="black"/>
              </a:solidFill>
              <a:latin typeface="等线" panose="020F0502020204030204"/>
              <a:ea typeface="等线" panose="02010600030101010101" pitchFamily="2" charset="-122"/>
            </a:endParaRPr>
          </a:p>
        </p:txBody>
      </p:sp>
      <p:sp>
        <p:nvSpPr>
          <p:cNvPr id="357" name="Text Box 30">
            <a:extLst>
              <a:ext uri="{FF2B5EF4-FFF2-40B4-BE49-F238E27FC236}">
                <a16:creationId xmlns:a16="http://schemas.microsoft.com/office/drawing/2014/main" id="{314E3D46-DE19-4EC7-9392-E608EBE0232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265289" y="3819207"/>
            <a:ext cx="934841" cy="27698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1425" tIns="45713" rIns="91425" bIns="45713">
            <a:spAutoFit/>
          </a:bodyPr>
          <a:lstStyle>
            <a:lvl1pPr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1pPr>
            <a:lvl2pPr marL="742950" indent="-28575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2pPr>
            <a:lvl3pPr marL="11430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3pPr>
            <a:lvl4pPr marL="16002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4pPr>
            <a:lvl5pPr marL="20574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9pPr>
          </a:lstStyle>
          <a:p>
            <a:pPr fontAlgn="auto">
              <a:spcBef>
                <a:spcPts val="0"/>
              </a:spcBef>
              <a:spcAft>
                <a:spcPts val="0"/>
              </a:spcAft>
            </a:pPr>
            <a:r>
              <a:rPr lang="en-US" altLang="zh-CN" sz="1200" b="0" dirty="0" err="1">
                <a:solidFill>
                  <a:srgbClr val="00B050"/>
                </a:solidFill>
                <a:latin typeface="Arial" pitchFamily="34" charset="0"/>
                <a:ea typeface="SimHei" panose="02010609060101010101" pitchFamily="49" charset="-122"/>
              </a:rPr>
              <a:t>MemtoReg</a:t>
            </a:r>
            <a:endParaRPr lang="en-US" altLang="zh-CN" sz="1200" b="0" dirty="0">
              <a:solidFill>
                <a:srgbClr val="00B050"/>
              </a:solidFill>
              <a:latin typeface="Arial" pitchFamily="34" charset="0"/>
              <a:ea typeface="SimHei" panose="02010609060101010101" pitchFamily="49" charset="-122"/>
            </a:endParaRPr>
          </a:p>
        </p:txBody>
      </p:sp>
      <p:sp>
        <p:nvSpPr>
          <p:cNvPr id="358" name="Line 153">
            <a:extLst>
              <a:ext uri="{FF2B5EF4-FFF2-40B4-BE49-F238E27FC236}">
                <a16:creationId xmlns:a16="http://schemas.microsoft.com/office/drawing/2014/main" id="{A1237317-8947-4514-8DEB-73F7FAF9F5D7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876083" y="4772238"/>
            <a:ext cx="0" cy="302121"/>
          </a:xfrm>
          <a:prstGeom prst="line">
            <a:avLst/>
          </a:prstGeom>
          <a:noFill/>
          <a:ln w="12700">
            <a:solidFill>
              <a:srgbClr val="00B05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fontAlgn="auto">
              <a:spcBef>
                <a:spcPts val="0"/>
              </a:spcBef>
              <a:spcAft>
                <a:spcPts val="0"/>
              </a:spcAft>
            </a:pPr>
            <a:endParaRPr lang="zh-CN" altLang="en-US">
              <a:solidFill>
                <a:prstClr val="black"/>
              </a:solidFill>
              <a:latin typeface="等线" panose="020F0502020204030204"/>
              <a:ea typeface="等线" panose="02010600030101010101" pitchFamily="2" charset="-122"/>
            </a:endParaRPr>
          </a:p>
        </p:txBody>
      </p:sp>
      <p:sp>
        <p:nvSpPr>
          <p:cNvPr id="359" name="Text Box 30">
            <a:extLst>
              <a:ext uri="{FF2B5EF4-FFF2-40B4-BE49-F238E27FC236}">
                <a16:creationId xmlns:a16="http://schemas.microsoft.com/office/drawing/2014/main" id="{FE5EF1E9-D122-4BCA-A88C-600EC0F771E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494978" y="5006253"/>
            <a:ext cx="687979" cy="27698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1425" tIns="45713" rIns="91425" bIns="45713">
            <a:spAutoFit/>
          </a:bodyPr>
          <a:lstStyle>
            <a:lvl1pPr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1pPr>
            <a:lvl2pPr marL="742950" indent="-28575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2pPr>
            <a:lvl3pPr marL="11430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3pPr>
            <a:lvl4pPr marL="16002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4pPr>
            <a:lvl5pPr marL="20574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9pPr>
          </a:lstStyle>
          <a:p>
            <a:pPr fontAlgn="auto">
              <a:spcBef>
                <a:spcPts val="0"/>
              </a:spcBef>
              <a:spcAft>
                <a:spcPts val="0"/>
              </a:spcAft>
            </a:pPr>
            <a:r>
              <a:rPr lang="en-US" altLang="zh-CN" sz="1200" b="0" dirty="0" err="1">
                <a:solidFill>
                  <a:srgbClr val="00B050"/>
                </a:solidFill>
                <a:latin typeface="Arial" pitchFamily="34" charset="0"/>
                <a:ea typeface="SimHei" panose="02010609060101010101" pitchFamily="49" charset="-122"/>
              </a:rPr>
              <a:t>ALUOp</a:t>
            </a:r>
            <a:endParaRPr lang="en-US" altLang="zh-CN" sz="1200" b="0" dirty="0">
              <a:solidFill>
                <a:srgbClr val="00B050"/>
              </a:solidFill>
              <a:latin typeface="Arial" pitchFamily="34" charset="0"/>
              <a:ea typeface="SimHei" panose="02010609060101010101" pitchFamily="49" charset="-122"/>
            </a:endParaRPr>
          </a:p>
        </p:txBody>
      </p:sp>
      <p:sp>
        <p:nvSpPr>
          <p:cNvPr id="360" name="Line 153">
            <a:extLst>
              <a:ext uri="{FF2B5EF4-FFF2-40B4-BE49-F238E27FC236}">
                <a16:creationId xmlns:a16="http://schemas.microsoft.com/office/drawing/2014/main" id="{1CA78C1F-D65C-4950-84FA-2D2052B27E44}"/>
              </a:ext>
            </a:extLst>
          </p:cNvPr>
          <p:cNvSpPr>
            <a:spLocks noChangeShapeType="1"/>
          </p:cNvSpPr>
          <p:nvPr/>
        </p:nvSpPr>
        <p:spPr bwMode="auto">
          <a:xfrm>
            <a:off x="4750356" y="2388442"/>
            <a:ext cx="607871" cy="0"/>
          </a:xfrm>
          <a:prstGeom prst="line">
            <a:avLst/>
          </a:prstGeom>
          <a:noFill/>
          <a:ln w="12700">
            <a:solidFill>
              <a:srgbClr val="00B05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fontAlgn="auto">
              <a:spcBef>
                <a:spcPts val="0"/>
              </a:spcBef>
              <a:spcAft>
                <a:spcPts val="0"/>
              </a:spcAft>
            </a:pPr>
            <a:endParaRPr lang="zh-CN" altLang="en-US">
              <a:solidFill>
                <a:prstClr val="black"/>
              </a:solidFill>
              <a:latin typeface="等线" panose="020F0502020204030204"/>
              <a:ea typeface="等线" panose="02010600030101010101" pitchFamily="2" charset="-122"/>
            </a:endParaRPr>
          </a:p>
        </p:txBody>
      </p:sp>
      <p:sp>
        <p:nvSpPr>
          <p:cNvPr id="361" name="Line 158">
            <a:extLst>
              <a:ext uri="{FF2B5EF4-FFF2-40B4-BE49-F238E27FC236}">
                <a16:creationId xmlns:a16="http://schemas.microsoft.com/office/drawing/2014/main" id="{238B78BE-5844-40A6-A66D-702C3996962B}"/>
              </a:ext>
            </a:extLst>
          </p:cNvPr>
          <p:cNvSpPr>
            <a:spLocks noChangeShapeType="1"/>
          </p:cNvSpPr>
          <p:nvPr/>
        </p:nvSpPr>
        <p:spPr bwMode="auto">
          <a:xfrm>
            <a:off x="5358227" y="2388442"/>
            <a:ext cx="0" cy="110109"/>
          </a:xfrm>
          <a:prstGeom prst="line">
            <a:avLst/>
          </a:prstGeom>
          <a:noFill/>
          <a:ln w="12700">
            <a:solidFill>
              <a:srgbClr val="00B05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fontAlgn="auto">
              <a:spcBef>
                <a:spcPts val="0"/>
              </a:spcBef>
              <a:spcAft>
                <a:spcPts val="0"/>
              </a:spcAft>
            </a:pPr>
            <a:endParaRPr lang="zh-CN" altLang="en-US">
              <a:solidFill>
                <a:prstClr val="black"/>
              </a:solidFill>
              <a:latin typeface="等线" panose="020F0502020204030204"/>
              <a:ea typeface="等线" panose="02010600030101010101" pitchFamily="2" charset="-122"/>
            </a:endParaRPr>
          </a:p>
        </p:txBody>
      </p:sp>
      <p:graphicFrame>
        <p:nvGraphicFramePr>
          <p:cNvPr id="183" name="Group 3">
            <a:extLst>
              <a:ext uri="{FF2B5EF4-FFF2-40B4-BE49-F238E27FC236}">
                <a16:creationId xmlns:a16="http://schemas.microsoft.com/office/drawing/2014/main" id="{F3354BC8-4A82-4B82-9D2C-B0792B7B4FE8}"/>
              </a:ext>
            </a:extLst>
          </p:cNvPr>
          <p:cNvGraphicFramePr>
            <a:graphicFrameLocks/>
          </p:cNvGraphicFramePr>
          <p:nvPr/>
        </p:nvGraphicFramePr>
        <p:xfrm>
          <a:off x="60300" y="4982153"/>
          <a:ext cx="2617000" cy="1838767"/>
        </p:xfrm>
        <a:graphic>
          <a:graphicData uri="http://schemas.openxmlformats.org/drawingml/2006/table">
            <a:tbl>
              <a:tblPr/>
              <a:tblGrid>
                <a:gridCol w="24278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98781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4828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270786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70720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335983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266440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249193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334029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</a:tblGrid>
              <a:tr h="350702">
                <a:tc rowSpan="2">
                  <a:txBody>
                    <a:bodyPr/>
                    <a:lstStyle/>
                    <a:p>
                      <a:pPr marL="0" marR="0" lvl="0" indent="0" algn="ctr" defTabSz="100965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endParaRPr kumimoji="0" lang="zh-CN" altLang="en-US" sz="105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j-lt"/>
                        <a:ea typeface="SimHei" panose="02010609060101010101" pitchFamily="49" charset="-122"/>
                        <a:cs typeface="Arial" panose="020B0604020202020204" pitchFamily="34" charset="0"/>
                      </a:endParaRPr>
                    </a:p>
                  </a:txBody>
                  <a:tcPr marL="0" marR="0" marT="0" marB="0" anchor="ctr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gridSpan="3">
                  <a:txBody>
                    <a:bodyPr/>
                    <a:lstStyle/>
                    <a:p>
                      <a:pPr marL="0" marR="0" lvl="0" indent="0" algn="ctr" defTabSz="100965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altLang="zh-CN" sz="105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j-lt"/>
                          <a:ea typeface="SimHei" panose="02010609060101010101" pitchFamily="49" charset="-122"/>
                          <a:cs typeface="Arial" panose="020B0604020202020204" pitchFamily="34" charset="0"/>
                        </a:rPr>
                        <a:t>EX Stage</a:t>
                      </a:r>
                    </a:p>
                  </a:txBody>
                  <a:tcPr marL="0" marR="0" marT="0" marB="0" anchor="ctr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B4C6E7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CN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zh-CN" altLang="en-US"/>
                    </a:p>
                  </a:txBody>
                  <a:tcPr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gridSpan="3">
                  <a:txBody>
                    <a:bodyPr/>
                    <a:lstStyle/>
                    <a:p>
                      <a:pPr marL="0" marR="0" lvl="0" indent="0" algn="ctr" defTabSz="100965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altLang="zh-CN" sz="105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j-lt"/>
                          <a:ea typeface="SimHei" panose="02010609060101010101" pitchFamily="49" charset="-122"/>
                          <a:cs typeface="Arial" panose="020B0604020202020204" pitchFamily="34" charset="0"/>
                        </a:rPr>
                        <a:t>MEM Stage</a:t>
                      </a:r>
                    </a:p>
                  </a:txBody>
                  <a:tcPr marL="0" marR="0" marT="0" marB="0" anchor="ctr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B4C6E7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CN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zh-CN" altLang="en-US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marL="0" marR="0" lvl="0" indent="0" algn="ctr" defTabSz="100965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altLang="zh-CN" sz="105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j-lt"/>
                          <a:ea typeface="SimHei" panose="02010609060101010101" pitchFamily="49" charset="-122"/>
                          <a:cs typeface="Arial" panose="020B0604020202020204" pitchFamily="34" charset="0"/>
                        </a:rPr>
                        <a:t>WB Stage</a:t>
                      </a:r>
                    </a:p>
                  </a:txBody>
                  <a:tcPr marL="0" marR="0" marT="0" marB="0" anchor="ctr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B4C6E7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CN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05815">
                <a:tc vMerge="1">
                  <a:txBody>
                    <a:bodyPr/>
                    <a:lstStyle/>
                    <a:p>
                      <a:endParaRPr lang="zh-CN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ctr" defTabSz="100965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altLang="zh-CN" sz="9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j-lt"/>
                          <a:ea typeface="SimHei" panose="02010609060101010101" pitchFamily="49" charset="-122"/>
                          <a:cs typeface="Arial" panose="020B0604020202020204" pitchFamily="34" charset="0"/>
                        </a:rPr>
                        <a:t>RegDst</a:t>
                      </a:r>
                      <a:endParaRPr kumimoji="0" lang="en-US" altLang="zh-CN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j-lt"/>
                        <a:ea typeface="SimHei" panose="02010609060101010101" pitchFamily="49" charset="-122"/>
                        <a:cs typeface="Arial" panose="020B0604020202020204" pitchFamily="34" charset="0"/>
                      </a:endParaRPr>
                    </a:p>
                  </a:txBody>
                  <a:tcPr marL="0" marR="0" marT="0" marB="0" anchor="ctr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0965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altLang="zh-CN" sz="9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j-lt"/>
                          <a:ea typeface="SimHei" panose="02010609060101010101" pitchFamily="49" charset="-122"/>
                          <a:cs typeface="Arial" panose="020B0604020202020204" pitchFamily="34" charset="0"/>
                        </a:rPr>
                        <a:t>ALUOp</a:t>
                      </a:r>
                      <a:r>
                        <a:rPr kumimoji="0" lang="en-US" altLang="zh-CN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j-lt"/>
                          <a:ea typeface="SimHei" panose="02010609060101010101" pitchFamily="49" charset="-122"/>
                          <a:cs typeface="Arial" panose="020B0604020202020204" pitchFamily="34" charset="0"/>
                        </a:rPr>
                        <a:t>[1:0]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0965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altLang="zh-CN" sz="9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j-lt"/>
                          <a:ea typeface="SimHei" panose="02010609060101010101" pitchFamily="49" charset="-122"/>
                          <a:cs typeface="Arial" panose="020B0604020202020204" pitchFamily="34" charset="0"/>
                        </a:rPr>
                        <a:t>ALUSrc</a:t>
                      </a:r>
                      <a:endParaRPr kumimoji="0" lang="en-US" altLang="zh-CN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j-lt"/>
                        <a:ea typeface="SimHei" panose="02010609060101010101" pitchFamily="49" charset="-122"/>
                        <a:cs typeface="Arial" panose="020B0604020202020204" pitchFamily="34" charset="0"/>
                      </a:endParaRP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0965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altLang="zh-CN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j-lt"/>
                          <a:ea typeface="SimHei" panose="02010609060101010101" pitchFamily="49" charset="-122"/>
                          <a:cs typeface="Arial" panose="020B0604020202020204" pitchFamily="34" charset="0"/>
                        </a:rPr>
                        <a:t>Branch</a:t>
                      </a:r>
                    </a:p>
                  </a:txBody>
                  <a:tcPr marL="0" marR="0" marT="0" marB="0" anchor="ctr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0965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altLang="zh-CN" sz="9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j-lt"/>
                          <a:ea typeface="SimHei" panose="02010609060101010101" pitchFamily="49" charset="-122"/>
                          <a:cs typeface="Arial" panose="020B0604020202020204" pitchFamily="34" charset="0"/>
                        </a:rPr>
                        <a:t>MemRead</a:t>
                      </a:r>
                      <a:endParaRPr kumimoji="0" lang="en-US" altLang="zh-CN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j-lt"/>
                        <a:ea typeface="SimHei" panose="02010609060101010101" pitchFamily="49" charset="-122"/>
                        <a:cs typeface="Arial" panose="020B0604020202020204" pitchFamily="34" charset="0"/>
                      </a:endParaRP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0965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altLang="zh-CN" sz="9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j-lt"/>
                          <a:ea typeface="SimHei" panose="02010609060101010101" pitchFamily="49" charset="-122"/>
                          <a:cs typeface="Arial" panose="020B0604020202020204" pitchFamily="34" charset="0"/>
                        </a:rPr>
                        <a:t>MemWr</a:t>
                      </a:r>
                      <a:endParaRPr kumimoji="0" lang="en-US" altLang="zh-CN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j-lt"/>
                        <a:ea typeface="SimHei" panose="02010609060101010101" pitchFamily="49" charset="-122"/>
                        <a:cs typeface="Arial" panose="020B0604020202020204" pitchFamily="34" charset="0"/>
                      </a:endParaRP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0965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altLang="zh-CN" sz="9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j-lt"/>
                          <a:ea typeface="SimHei" panose="02010609060101010101" pitchFamily="49" charset="-122"/>
                          <a:cs typeface="Arial" panose="020B0604020202020204" pitchFamily="34" charset="0"/>
                        </a:rPr>
                        <a:t>RegWr</a:t>
                      </a:r>
                      <a:endParaRPr kumimoji="0" lang="en-US" altLang="zh-CN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j-lt"/>
                        <a:ea typeface="SimHei" panose="02010609060101010101" pitchFamily="49" charset="-122"/>
                        <a:cs typeface="Arial" panose="020B0604020202020204" pitchFamily="34" charset="0"/>
                      </a:endParaRPr>
                    </a:p>
                  </a:txBody>
                  <a:tcPr marL="0" marR="0" marT="0" marB="0" anchor="ctr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0965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altLang="zh-CN" sz="9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j-lt"/>
                          <a:ea typeface="SimHei" panose="02010609060101010101" pitchFamily="49" charset="-122"/>
                          <a:cs typeface="Arial" panose="020B0604020202020204" pitchFamily="34" charset="0"/>
                        </a:rPr>
                        <a:t>MemtoReg</a:t>
                      </a:r>
                      <a:endParaRPr kumimoji="0" lang="en-US" altLang="zh-CN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j-lt"/>
                        <a:ea typeface="SimHei" panose="02010609060101010101" pitchFamily="49" charset="-122"/>
                        <a:cs typeface="Arial" panose="020B0604020202020204" pitchFamily="34" charset="0"/>
                      </a:endParaRP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67624">
                <a:tc>
                  <a:txBody>
                    <a:bodyPr/>
                    <a:lstStyle/>
                    <a:p>
                      <a:pPr marL="0" marR="0" lvl="0" indent="0" algn="ctr" defTabSz="100965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altLang="zh-CN" sz="105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j-lt"/>
                          <a:ea typeface="SimHei" panose="02010609060101010101" pitchFamily="49" charset="-122"/>
                          <a:cs typeface="Arial" panose="020B0604020202020204" pitchFamily="34" charset="0"/>
                        </a:rPr>
                        <a:t>R</a:t>
                      </a:r>
                    </a:p>
                  </a:txBody>
                  <a:tcPr marL="0" marR="0" marT="0" marB="0" anchor="ctr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0965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altLang="zh-CN" sz="105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j-lt"/>
                          <a:ea typeface="SimHei" panose="02010609060101010101" pitchFamily="49" charset="-122"/>
                          <a:cs typeface="Arial" panose="020B0604020202020204" pitchFamily="34" charset="0"/>
                        </a:rPr>
                        <a:t>1</a:t>
                      </a:r>
                    </a:p>
                  </a:txBody>
                  <a:tcPr marL="0" marR="0" marT="0" marB="0" anchor="ctr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0965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altLang="zh-CN" sz="105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j-lt"/>
                          <a:ea typeface="SimHei" panose="02010609060101010101" pitchFamily="49" charset="-122"/>
                          <a:cs typeface="Arial" panose="020B0604020202020204" pitchFamily="34" charset="0"/>
                        </a:rPr>
                        <a:t>10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0965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altLang="zh-CN" sz="105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j-lt"/>
                          <a:ea typeface="SimHei" panose="02010609060101010101" pitchFamily="49" charset="-122"/>
                          <a:cs typeface="Arial" panose="020B0604020202020204" pitchFamily="34" charset="0"/>
                        </a:rPr>
                        <a:t>0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0965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altLang="zh-CN" sz="105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j-lt"/>
                          <a:ea typeface="SimHei" panose="02010609060101010101" pitchFamily="49" charset="-122"/>
                          <a:cs typeface="Arial" panose="020B0604020202020204" pitchFamily="34" charset="0"/>
                        </a:rPr>
                        <a:t>0</a:t>
                      </a:r>
                    </a:p>
                  </a:txBody>
                  <a:tcPr marL="0" marR="0" marT="0" marB="0" anchor="ctr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0965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altLang="zh-CN" sz="105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j-lt"/>
                          <a:ea typeface="SimHei" panose="02010609060101010101" pitchFamily="49" charset="-122"/>
                          <a:cs typeface="Arial" panose="020B0604020202020204" pitchFamily="34" charset="0"/>
                        </a:rPr>
                        <a:t>0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0965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altLang="zh-CN" sz="105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j-lt"/>
                          <a:ea typeface="SimHei" panose="02010609060101010101" pitchFamily="49" charset="-122"/>
                          <a:cs typeface="Arial" panose="020B0604020202020204" pitchFamily="34" charset="0"/>
                        </a:rPr>
                        <a:t>0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0965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altLang="zh-CN" sz="105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j-lt"/>
                          <a:ea typeface="SimHei" panose="02010609060101010101" pitchFamily="49" charset="-122"/>
                          <a:cs typeface="Arial" panose="020B0604020202020204" pitchFamily="34" charset="0"/>
                        </a:rPr>
                        <a:t>1</a:t>
                      </a:r>
                    </a:p>
                  </a:txBody>
                  <a:tcPr marL="0" marR="0" marT="0" marB="0" anchor="ctr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0965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altLang="zh-CN" sz="105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j-lt"/>
                          <a:ea typeface="SimHei" panose="02010609060101010101" pitchFamily="49" charset="-122"/>
                          <a:cs typeface="Arial" panose="020B0604020202020204" pitchFamily="34" charset="0"/>
                        </a:rPr>
                        <a:t>0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82493">
                <a:tc>
                  <a:txBody>
                    <a:bodyPr/>
                    <a:lstStyle/>
                    <a:p>
                      <a:pPr marL="0" marR="0" lvl="0" indent="0" algn="ctr" defTabSz="100965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altLang="zh-CN" sz="105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j-lt"/>
                          <a:ea typeface="SimHei" panose="02010609060101010101" pitchFamily="49" charset="-122"/>
                          <a:cs typeface="Arial" panose="020B0604020202020204" pitchFamily="34" charset="0"/>
                        </a:rPr>
                        <a:t>lw</a:t>
                      </a:r>
                      <a:endParaRPr kumimoji="0" lang="en-US" altLang="zh-CN" sz="105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j-lt"/>
                        <a:ea typeface="SimHei" panose="02010609060101010101" pitchFamily="49" charset="-122"/>
                        <a:cs typeface="Arial" panose="020B0604020202020204" pitchFamily="34" charset="0"/>
                      </a:endParaRPr>
                    </a:p>
                  </a:txBody>
                  <a:tcPr marL="0" marR="0" marT="0" marB="0" anchor="ctr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0965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altLang="zh-CN" sz="105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j-lt"/>
                          <a:ea typeface="SimHei" panose="02010609060101010101" pitchFamily="49" charset="-122"/>
                          <a:cs typeface="Arial" panose="020B0604020202020204" pitchFamily="34" charset="0"/>
                        </a:rPr>
                        <a:t>0</a:t>
                      </a:r>
                    </a:p>
                  </a:txBody>
                  <a:tcPr marL="0" marR="0" marT="0" marB="0" anchor="ctr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0965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altLang="zh-CN" sz="105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j-lt"/>
                          <a:ea typeface="SimHei" panose="02010609060101010101" pitchFamily="49" charset="-122"/>
                          <a:cs typeface="Arial" panose="020B0604020202020204" pitchFamily="34" charset="0"/>
                        </a:rPr>
                        <a:t>00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0965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altLang="zh-CN" sz="105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j-lt"/>
                          <a:ea typeface="SimHei" panose="02010609060101010101" pitchFamily="49" charset="-122"/>
                          <a:cs typeface="Arial" panose="020B0604020202020204" pitchFamily="34" charset="0"/>
                        </a:rPr>
                        <a:t>1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0965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altLang="zh-CN" sz="105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j-lt"/>
                          <a:ea typeface="SimHei" panose="02010609060101010101" pitchFamily="49" charset="-122"/>
                          <a:cs typeface="Arial" panose="020B0604020202020204" pitchFamily="34" charset="0"/>
                        </a:rPr>
                        <a:t>0</a:t>
                      </a:r>
                    </a:p>
                  </a:txBody>
                  <a:tcPr marL="0" marR="0" marT="0" marB="0" anchor="ctr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0965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altLang="zh-CN" sz="105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j-lt"/>
                          <a:ea typeface="SimHei" panose="02010609060101010101" pitchFamily="49" charset="-122"/>
                          <a:cs typeface="Arial" panose="020B0604020202020204" pitchFamily="34" charset="0"/>
                        </a:rPr>
                        <a:t>1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0965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altLang="zh-CN" sz="105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j-lt"/>
                          <a:ea typeface="SimHei" panose="02010609060101010101" pitchFamily="49" charset="-122"/>
                          <a:cs typeface="Arial" panose="020B0604020202020204" pitchFamily="34" charset="0"/>
                        </a:rPr>
                        <a:t>0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0965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altLang="zh-CN" sz="105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j-lt"/>
                          <a:ea typeface="SimHei" panose="02010609060101010101" pitchFamily="49" charset="-122"/>
                          <a:cs typeface="Arial" panose="020B0604020202020204" pitchFamily="34" charset="0"/>
                        </a:rPr>
                        <a:t>1</a:t>
                      </a:r>
                    </a:p>
                  </a:txBody>
                  <a:tcPr marL="0" marR="0" marT="0" marB="0" anchor="ctr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0965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altLang="zh-CN" sz="105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j-lt"/>
                          <a:ea typeface="SimHei" panose="02010609060101010101" pitchFamily="49" charset="-122"/>
                          <a:cs typeface="Arial" panose="020B0604020202020204" pitchFamily="34" charset="0"/>
                        </a:rPr>
                        <a:t>1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81431">
                <a:tc>
                  <a:txBody>
                    <a:bodyPr/>
                    <a:lstStyle/>
                    <a:p>
                      <a:pPr marL="0" marR="0" lvl="0" indent="0" algn="ctr" defTabSz="100965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altLang="zh-CN" sz="105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j-lt"/>
                          <a:ea typeface="SimHei" panose="02010609060101010101" pitchFamily="49" charset="-122"/>
                          <a:cs typeface="Arial" panose="020B0604020202020204" pitchFamily="34" charset="0"/>
                        </a:rPr>
                        <a:t>sw</a:t>
                      </a:r>
                      <a:endParaRPr kumimoji="0" lang="en-US" altLang="zh-CN" sz="105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j-lt"/>
                        <a:ea typeface="SimHei" panose="02010609060101010101" pitchFamily="49" charset="-122"/>
                        <a:cs typeface="Arial" panose="020B0604020202020204" pitchFamily="34" charset="0"/>
                      </a:endParaRPr>
                    </a:p>
                  </a:txBody>
                  <a:tcPr marL="0" marR="0" marT="0" marB="0" anchor="ctr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0965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altLang="zh-CN" sz="105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j-lt"/>
                          <a:ea typeface="SimHei" panose="02010609060101010101" pitchFamily="49" charset="-122"/>
                          <a:cs typeface="Arial" panose="020B0604020202020204" pitchFamily="34" charset="0"/>
                        </a:rPr>
                        <a:t>X</a:t>
                      </a:r>
                    </a:p>
                  </a:txBody>
                  <a:tcPr marL="0" marR="0" marT="0" marB="0" anchor="ctr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0965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altLang="zh-CN" sz="105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j-lt"/>
                          <a:ea typeface="SimHei" panose="02010609060101010101" pitchFamily="49" charset="-122"/>
                          <a:cs typeface="Arial" panose="020B0604020202020204" pitchFamily="34" charset="0"/>
                        </a:rPr>
                        <a:t>00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0965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altLang="zh-CN" sz="105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j-lt"/>
                          <a:ea typeface="SimHei" panose="02010609060101010101" pitchFamily="49" charset="-122"/>
                          <a:cs typeface="Arial" panose="020B0604020202020204" pitchFamily="34" charset="0"/>
                        </a:rPr>
                        <a:t>1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0965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altLang="zh-CN" sz="105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j-lt"/>
                          <a:ea typeface="SimHei" panose="02010609060101010101" pitchFamily="49" charset="-122"/>
                          <a:cs typeface="Arial" panose="020B0604020202020204" pitchFamily="34" charset="0"/>
                        </a:rPr>
                        <a:t>0</a:t>
                      </a:r>
                    </a:p>
                  </a:txBody>
                  <a:tcPr marL="0" marR="0" marT="0" marB="0" anchor="ctr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0965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altLang="zh-CN" sz="105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j-lt"/>
                          <a:ea typeface="SimHei" panose="02010609060101010101" pitchFamily="49" charset="-122"/>
                          <a:cs typeface="Arial" panose="020B0604020202020204" pitchFamily="34" charset="0"/>
                        </a:rPr>
                        <a:t>0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0965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altLang="zh-CN" sz="105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j-lt"/>
                          <a:ea typeface="SimHei" panose="02010609060101010101" pitchFamily="49" charset="-122"/>
                          <a:cs typeface="Arial" panose="020B0604020202020204" pitchFamily="34" charset="0"/>
                        </a:rPr>
                        <a:t>1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0965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altLang="zh-CN" sz="105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j-lt"/>
                          <a:ea typeface="SimHei" panose="02010609060101010101" pitchFamily="49" charset="-122"/>
                          <a:cs typeface="Arial" panose="020B0604020202020204" pitchFamily="34" charset="0"/>
                        </a:rPr>
                        <a:t>0</a:t>
                      </a:r>
                    </a:p>
                  </a:txBody>
                  <a:tcPr marL="0" marR="0" marT="0" marB="0" anchor="ctr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0965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altLang="zh-CN" sz="105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j-lt"/>
                          <a:ea typeface="SimHei" panose="02010609060101010101" pitchFamily="49" charset="-122"/>
                          <a:cs typeface="Arial" panose="020B0604020202020204" pitchFamily="34" charset="0"/>
                        </a:rPr>
                        <a:t>X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50702">
                <a:tc>
                  <a:txBody>
                    <a:bodyPr/>
                    <a:lstStyle/>
                    <a:p>
                      <a:pPr marL="0" marR="0" lvl="0" indent="0" algn="ctr" defTabSz="100965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altLang="zh-CN" sz="105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j-lt"/>
                          <a:ea typeface="SimHei" panose="02010609060101010101" pitchFamily="49" charset="-122"/>
                          <a:cs typeface="Arial" panose="020B0604020202020204" pitchFamily="34" charset="0"/>
                        </a:rPr>
                        <a:t>beq</a:t>
                      </a:r>
                      <a:endParaRPr kumimoji="0" lang="en-US" altLang="zh-CN" sz="105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j-lt"/>
                        <a:ea typeface="SimHei" panose="02010609060101010101" pitchFamily="49" charset="-122"/>
                        <a:cs typeface="Arial" panose="020B0604020202020204" pitchFamily="34" charset="0"/>
                      </a:endParaRPr>
                    </a:p>
                  </a:txBody>
                  <a:tcPr marL="0" marR="0" marT="0" marB="0" anchor="ctr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0965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altLang="zh-CN" sz="105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j-lt"/>
                          <a:ea typeface="SimHei" panose="02010609060101010101" pitchFamily="49" charset="-122"/>
                          <a:cs typeface="Arial" panose="020B0604020202020204" pitchFamily="34" charset="0"/>
                        </a:rPr>
                        <a:t>X</a:t>
                      </a:r>
                    </a:p>
                  </a:txBody>
                  <a:tcPr marL="0" marR="0" marT="0" marB="0" anchor="ctr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0965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altLang="zh-CN" sz="105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j-lt"/>
                          <a:ea typeface="SimHei" panose="02010609060101010101" pitchFamily="49" charset="-122"/>
                          <a:cs typeface="Arial" panose="020B0604020202020204" pitchFamily="34" charset="0"/>
                        </a:rPr>
                        <a:t>01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0965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altLang="zh-CN" sz="105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j-lt"/>
                          <a:ea typeface="SimHei" panose="02010609060101010101" pitchFamily="49" charset="-122"/>
                          <a:cs typeface="Arial" panose="020B0604020202020204" pitchFamily="34" charset="0"/>
                        </a:rPr>
                        <a:t>0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0965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altLang="zh-CN" sz="105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j-lt"/>
                          <a:ea typeface="SimHei" panose="02010609060101010101" pitchFamily="49" charset="-122"/>
                          <a:cs typeface="Arial" panose="020B0604020202020204" pitchFamily="34" charset="0"/>
                        </a:rPr>
                        <a:t>1</a:t>
                      </a:r>
                    </a:p>
                  </a:txBody>
                  <a:tcPr marL="0" marR="0" marT="0" marB="0" anchor="ctr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0965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altLang="zh-CN" sz="105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j-lt"/>
                          <a:ea typeface="SimHei" panose="02010609060101010101" pitchFamily="49" charset="-122"/>
                          <a:cs typeface="Arial" panose="020B0604020202020204" pitchFamily="34" charset="0"/>
                        </a:rPr>
                        <a:t>0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0965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altLang="zh-CN" sz="105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j-lt"/>
                          <a:ea typeface="SimHei" panose="02010609060101010101" pitchFamily="49" charset="-122"/>
                          <a:cs typeface="Arial" panose="020B0604020202020204" pitchFamily="34" charset="0"/>
                        </a:rPr>
                        <a:t>0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0965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altLang="zh-CN" sz="105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j-lt"/>
                          <a:ea typeface="SimHei" panose="02010609060101010101" pitchFamily="49" charset="-122"/>
                          <a:cs typeface="Arial" panose="020B0604020202020204" pitchFamily="34" charset="0"/>
                        </a:rPr>
                        <a:t>0</a:t>
                      </a:r>
                    </a:p>
                  </a:txBody>
                  <a:tcPr marL="0" marR="0" marT="0" marB="0" anchor="ctr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0965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altLang="zh-CN" sz="105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j-lt"/>
                          <a:ea typeface="SimHei" panose="02010609060101010101" pitchFamily="49" charset="-122"/>
                          <a:cs typeface="Arial" panose="020B0604020202020204" pitchFamily="34" charset="0"/>
                        </a:rPr>
                        <a:t>X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714029555"/>
      </p:ext>
    </p:extLst>
  </p:cSld>
  <p:clrMapOvr>
    <a:masterClrMapping/>
  </p:clrMapOvr>
</p:sld>
</file>

<file path=ppt/slides/slide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>
            <a:extLst>
              <a:ext uri="{FF2B5EF4-FFF2-40B4-BE49-F238E27FC236}">
                <a16:creationId xmlns:a16="http://schemas.microsoft.com/office/drawing/2014/main" id="{B82E29C9-FB83-45C3-AA1C-C4F1D839B1D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dirty="0"/>
              <a:t>流水线数据通路的实现（考虑冒险）</a:t>
            </a:r>
          </a:p>
        </p:txBody>
      </p:sp>
      <p:sp>
        <p:nvSpPr>
          <p:cNvPr id="3" name="内容占位符 2">
            <a:extLst>
              <a:ext uri="{FF2B5EF4-FFF2-40B4-BE49-F238E27FC236}">
                <a16:creationId xmlns:a16="http://schemas.microsoft.com/office/drawing/2014/main" id="{22A22B86-4F53-48D1-9991-A0E7D8741491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r>
              <a:rPr lang="zh-CN" altLang="en-US" dirty="0"/>
              <a:t>需要能够检测和处理冒险问题</a:t>
            </a:r>
          </a:p>
          <a:p>
            <a:pPr lvl="1"/>
            <a:r>
              <a:rPr lang="zh-CN" altLang="en-US" dirty="0">
                <a:solidFill>
                  <a:srgbClr val="3333FF"/>
                </a:solidFill>
              </a:rPr>
              <a:t>结构冒险</a:t>
            </a:r>
            <a:r>
              <a:rPr lang="en-US" altLang="zh-CN" dirty="0"/>
              <a:t>—</a:t>
            </a:r>
            <a:r>
              <a:rPr lang="zh-CN" altLang="en-US" dirty="0"/>
              <a:t>硬件资源使用冲突</a:t>
            </a:r>
          </a:p>
          <a:p>
            <a:pPr lvl="1"/>
            <a:r>
              <a:rPr lang="zh-CN" altLang="en-US" dirty="0">
                <a:solidFill>
                  <a:srgbClr val="3333FF"/>
                </a:solidFill>
              </a:rPr>
              <a:t>数据冒险</a:t>
            </a:r>
            <a:r>
              <a:rPr lang="en-US" altLang="zh-CN" dirty="0"/>
              <a:t>—</a:t>
            </a:r>
            <a:r>
              <a:rPr lang="zh-CN" altLang="en-US" dirty="0"/>
              <a:t>数据存储器或者寄存器内容因指令关联而不可获得</a:t>
            </a:r>
            <a:r>
              <a:rPr lang="en-US" altLang="zh-CN" dirty="0"/>
              <a:t>RAW</a:t>
            </a:r>
            <a:r>
              <a:rPr lang="zh-CN" altLang="en-US" dirty="0"/>
              <a:t>（写后读），</a:t>
            </a:r>
            <a:r>
              <a:rPr lang="en-US" altLang="zh-CN" dirty="0"/>
              <a:t>load-use</a:t>
            </a:r>
          </a:p>
          <a:p>
            <a:pPr lvl="1"/>
            <a:r>
              <a:rPr lang="zh-CN" altLang="en-US" dirty="0">
                <a:solidFill>
                  <a:srgbClr val="3333FF"/>
                </a:solidFill>
              </a:rPr>
              <a:t>控制冒险</a:t>
            </a:r>
            <a:r>
              <a:rPr lang="en-US" altLang="zh-CN" dirty="0"/>
              <a:t>—</a:t>
            </a:r>
            <a:r>
              <a:rPr lang="zh-CN" altLang="en-US" dirty="0"/>
              <a:t>因跳转分支指令使得</a:t>
            </a:r>
            <a:r>
              <a:rPr lang="en-US" altLang="zh-CN" dirty="0"/>
              <a:t>PC</a:t>
            </a:r>
            <a:r>
              <a:rPr lang="zh-CN" altLang="en-US" dirty="0"/>
              <a:t>无法及时确定</a:t>
            </a:r>
          </a:p>
          <a:p>
            <a:endParaRPr lang="zh-CN" altLang="en-US" dirty="0"/>
          </a:p>
        </p:txBody>
      </p:sp>
      <p:sp>
        <p:nvSpPr>
          <p:cNvPr id="4" name="灯片编号占位符 3">
            <a:extLst>
              <a:ext uri="{FF2B5EF4-FFF2-40B4-BE49-F238E27FC236}">
                <a16:creationId xmlns:a16="http://schemas.microsoft.com/office/drawing/2014/main" id="{41D83E59-D2BF-4D6F-A9A2-9F609593FE6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1806CE5-282B-4233-8654-09F35EA875E2}" type="slidenum">
              <a:rPr lang="zh-CN" altLang="en-US" smtClean="0"/>
              <a:t>79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2276126480"/>
      </p:ext>
    </p:extLst>
  </p:cSld>
  <p:clrMapOvr>
    <a:masterClrMapping/>
  </p:clrMapOvr>
</p:sld>
</file>

<file path=ppt/slides/slide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>
            <a:extLst>
              <a:ext uri="{FF2B5EF4-FFF2-40B4-BE49-F238E27FC236}">
                <a16:creationId xmlns:a16="http://schemas.microsoft.com/office/drawing/2014/main" id="{139FBCD3-34CF-41A4-A7B1-35EBF4327D1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dirty="0"/>
              <a:t>流水线数据通路的实现（考虑冒险）</a:t>
            </a:r>
          </a:p>
        </p:txBody>
      </p:sp>
      <p:sp>
        <p:nvSpPr>
          <p:cNvPr id="3" name="内容占位符 2">
            <a:extLst>
              <a:ext uri="{FF2B5EF4-FFF2-40B4-BE49-F238E27FC236}">
                <a16:creationId xmlns:a16="http://schemas.microsoft.com/office/drawing/2014/main" id="{18C494F8-F1C0-4629-8AE2-37D8A7A619AF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457200" y="1166020"/>
            <a:ext cx="8575964" cy="4866645"/>
          </a:xfrm>
        </p:spPr>
        <p:txBody>
          <a:bodyPr/>
          <a:lstStyle/>
          <a:p>
            <a:pPr marL="0" indent="0">
              <a:buNone/>
            </a:pPr>
            <a:r>
              <a:rPr lang="zh-CN" altLang="en-US" dirty="0"/>
              <a:t>关键：数据通路和控制信号的设计</a:t>
            </a:r>
            <a:endParaRPr lang="en-US" altLang="zh-CN" dirty="0"/>
          </a:p>
          <a:p>
            <a:r>
              <a:rPr lang="zh-CN" altLang="en-US" dirty="0"/>
              <a:t>控制信号如何随流水线运行？</a:t>
            </a:r>
          </a:p>
          <a:p>
            <a:pPr lvl="1"/>
            <a:r>
              <a:rPr lang="zh-CN" altLang="en-US" dirty="0"/>
              <a:t>在各个流水级之间增加控制信号的寄存器</a:t>
            </a:r>
          </a:p>
          <a:p>
            <a:pPr lvl="1"/>
            <a:r>
              <a:rPr lang="zh-CN" altLang="en-US" dirty="0"/>
              <a:t>对应级用对应控制信号</a:t>
            </a:r>
          </a:p>
          <a:p>
            <a:pPr lvl="1"/>
            <a:r>
              <a:rPr lang="zh-CN" altLang="en-US" dirty="0"/>
              <a:t>不再使用的控制信号可不再传递</a:t>
            </a:r>
          </a:p>
          <a:p>
            <a:r>
              <a:rPr lang="zh-CN" altLang="en-US" dirty="0">
                <a:solidFill>
                  <a:srgbClr val="3333FF"/>
                </a:solidFill>
              </a:rPr>
              <a:t>将各个资源和状态</a:t>
            </a:r>
            <a:r>
              <a:rPr lang="en-US" altLang="zh-CN" dirty="0">
                <a:solidFill>
                  <a:srgbClr val="3333FF"/>
                </a:solidFill>
              </a:rPr>
              <a:t>(</a:t>
            </a:r>
            <a:r>
              <a:rPr lang="zh-CN" altLang="en-US" dirty="0">
                <a:solidFill>
                  <a:srgbClr val="3333FF"/>
                </a:solidFill>
              </a:rPr>
              <a:t>流水级</a:t>
            </a:r>
            <a:r>
              <a:rPr lang="en-US" altLang="zh-CN" dirty="0">
                <a:solidFill>
                  <a:srgbClr val="3333FF"/>
                </a:solidFill>
              </a:rPr>
              <a:t>)</a:t>
            </a:r>
            <a:r>
              <a:rPr lang="zh-CN" altLang="en-US" dirty="0">
                <a:solidFill>
                  <a:srgbClr val="3333FF"/>
                </a:solidFill>
              </a:rPr>
              <a:t>联系起来</a:t>
            </a:r>
          </a:p>
          <a:p>
            <a:pPr lvl="1"/>
            <a:r>
              <a:rPr lang="zh-CN" altLang="en-US" dirty="0">
                <a:solidFill>
                  <a:srgbClr val="3333FF"/>
                </a:solidFill>
              </a:rPr>
              <a:t>从设计上要避免结构冒险的出现</a:t>
            </a:r>
            <a:r>
              <a:rPr lang="en-US" altLang="zh-CN" dirty="0">
                <a:solidFill>
                  <a:srgbClr val="3333FF"/>
                </a:solidFill>
              </a:rPr>
              <a:t>: </a:t>
            </a:r>
            <a:r>
              <a:rPr lang="zh-CN" altLang="en-US" dirty="0">
                <a:solidFill>
                  <a:srgbClr val="3333FF"/>
                </a:solidFill>
              </a:rPr>
              <a:t>保证资源是够用的</a:t>
            </a:r>
          </a:p>
          <a:p>
            <a:r>
              <a:rPr lang="zh-CN" altLang="en-US" dirty="0"/>
              <a:t>找到所有的数据冒险和控制冒险问题</a:t>
            </a:r>
          </a:p>
          <a:p>
            <a:pPr lvl="1"/>
            <a:r>
              <a:rPr lang="zh-CN" altLang="en-US" dirty="0"/>
              <a:t>如果是寄存器关联引起的</a:t>
            </a:r>
            <a:r>
              <a:rPr lang="en-US" altLang="zh-CN" dirty="0"/>
              <a:t>=&gt; data hazard: forward/stall</a:t>
            </a:r>
          </a:p>
          <a:p>
            <a:pPr lvl="1"/>
            <a:r>
              <a:rPr lang="zh-CN" altLang="en-US" dirty="0"/>
              <a:t>如果是和</a:t>
            </a:r>
            <a:r>
              <a:rPr lang="en-US" altLang="zh-CN" dirty="0"/>
              <a:t>PC</a:t>
            </a:r>
            <a:r>
              <a:rPr lang="zh-CN" altLang="en-US" dirty="0"/>
              <a:t>有关的竞争</a:t>
            </a:r>
            <a:r>
              <a:rPr lang="en-US" altLang="zh-CN" dirty="0"/>
              <a:t>=&gt; control hazard</a:t>
            </a:r>
          </a:p>
        </p:txBody>
      </p:sp>
      <p:sp>
        <p:nvSpPr>
          <p:cNvPr id="4" name="灯片编号占位符 3">
            <a:extLst>
              <a:ext uri="{FF2B5EF4-FFF2-40B4-BE49-F238E27FC236}">
                <a16:creationId xmlns:a16="http://schemas.microsoft.com/office/drawing/2014/main" id="{27CA197E-1236-497D-969F-1E334E5F5D8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1806CE5-282B-4233-8654-09F35EA875E2}" type="slidenum">
              <a:rPr lang="zh-CN" altLang="en-US" smtClean="0"/>
              <a:t>80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380098794"/>
      </p:ext>
    </p:extLst>
  </p:cSld>
  <p:clrMapOvr>
    <a:masterClrMapping/>
  </p:clrMapOvr>
</p:sld>
</file>

<file path=ppt/slides/slide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灯片编号占位符 3">
            <a:extLst>
              <a:ext uri="{FF2B5EF4-FFF2-40B4-BE49-F238E27FC236}">
                <a16:creationId xmlns:a16="http://schemas.microsoft.com/office/drawing/2014/main" id="{A4BE88F7-4CE4-42B1-B447-8DA41D4A4C6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0626FCE3-5FF9-430D-BA0B-DE80AAE71673}" type="slidenum">
              <a:rPr lang="zh-CN" altLang="en-US" smtClean="0"/>
              <a:t>81</a:t>
            </a:fld>
            <a:endParaRPr lang="zh-CN" altLang="en-US"/>
          </a:p>
        </p:txBody>
      </p:sp>
      <p:sp>
        <p:nvSpPr>
          <p:cNvPr id="7" name="AutoShape 3">
            <a:extLst>
              <a:ext uri="{FF2B5EF4-FFF2-40B4-BE49-F238E27FC236}">
                <a16:creationId xmlns:a16="http://schemas.microsoft.com/office/drawing/2014/main" id="{3A179BF2-9B6D-4D77-B5A3-AB7CC317378D}"/>
              </a:ext>
            </a:extLst>
          </p:cNvPr>
          <p:cNvSpPr>
            <a:spLocks noChangeAspect="1" noChangeArrowheads="1" noTextEdit="1"/>
          </p:cNvSpPr>
          <p:nvPr/>
        </p:nvSpPr>
        <p:spPr bwMode="auto">
          <a:xfrm>
            <a:off x="1595437" y="1519646"/>
            <a:ext cx="7091363" cy="44481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8" name="Rectangle 5">
            <a:extLst>
              <a:ext uri="{FF2B5EF4-FFF2-40B4-BE49-F238E27FC236}">
                <a16:creationId xmlns:a16="http://schemas.microsoft.com/office/drawing/2014/main" id="{594B1346-4088-42A2-AE37-318559985030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68598" y="4811137"/>
            <a:ext cx="411163" cy="398463"/>
          </a:xfrm>
          <a:prstGeom prst="rect">
            <a:avLst/>
          </a:prstGeom>
          <a:solidFill>
            <a:srgbClr val="DE250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9" name="Rectangle 6">
            <a:extLst>
              <a:ext uri="{FF2B5EF4-FFF2-40B4-BE49-F238E27FC236}">
                <a16:creationId xmlns:a16="http://schemas.microsoft.com/office/drawing/2014/main" id="{C2CE083A-8F5D-42F8-93DC-466FCD3DA6E6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68598" y="4811137"/>
            <a:ext cx="411163" cy="398463"/>
          </a:xfrm>
          <a:prstGeom prst="rect">
            <a:avLst/>
          </a:prstGeom>
          <a:noFill/>
          <a:ln w="11113" cap="flat">
            <a:solidFill>
              <a:srgbClr val="000000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10" name="Rectangle 7">
            <a:extLst>
              <a:ext uri="{FF2B5EF4-FFF2-40B4-BE49-F238E27FC236}">
                <a16:creationId xmlns:a16="http://schemas.microsoft.com/office/drawing/2014/main" id="{865E31EF-D7B0-4F2E-A6B2-5FFD11756D17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68598" y="2625150"/>
            <a:ext cx="411163" cy="396875"/>
          </a:xfrm>
          <a:prstGeom prst="rect">
            <a:avLst/>
          </a:prstGeom>
          <a:solidFill>
            <a:srgbClr val="DE250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11" name="Rectangle 8">
            <a:extLst>
              <a:ext uri="{FF2B5EF4-FFF2-40B4-BE49-F238E27FC236}">
                <a16:creationId xmlns:a16="http://schemas.microsoft.com/office/drawing/2014/main" id="{C28ABAF2-4915-4B0E-A253-A5DA55FE95AB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68598" y="2625150"/>
            <a:ext cx="411163" cy="396875"/>
          </a:xfrm>
          <a:prstGeom prst="rect">
            <a:avLst/>
          </a:prstGeom>
          <a:noFill/>
          <a:ln w="11113" cap="flat">
            <a:solidFill>
              <a:srgbClr val="000000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12" name="Rectangle 9">
            <a:extLst>
              <a:ext uri="{FF2B5EF4-FFF2-40B4-BE49-F238E27FC236}">
                <a16:creationId xmlns:a16="http://schemas.microsoft.com/office/drawing/2014/main" id="{698FC754-B871-4A98-9EF9-53CD13BD2F8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04205" y="2742625"/>
            <a:ext cx="57708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zh-CN" altLang="zh-CN" sz="1600" i="1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rPr>
              <a:t>I</a:t>
            </a:r>
            <a:endParaRPr kumimoji="0" lang="zh-CN" altLang="zh-CN" sz="1800" i="1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  <a:ea typeface="SimHei" panose="02010609060101010101" pitchFamily="49" charset="-122"/>
            </a:endParaRPr>
          </a:p>
        </p:txBody>
      </p:sp>
      <p:sp>
        <p:nvSpPr>
          <p:cNvPr id="13" name="Rectangle 10">
            <a:extLst>
              <a:ext uri="{FF2B5EF4-FFF2-40B4-BE49-F238E27FC236}">
                <a16:creationId xmlns:a16="http://schemas.microsoft.com/office/drawing/2014/main" id="{1B536A9D-0594-466A-9260-49955AD8BD20}"/>
              </a:ext>
            </a:extLst>
          </p:cNvPr>
          <p:cNvSpPr>
            <a:spLocks noChangeArrowheads="1"/>
          </p:cNvSpPr>
          <p:nvPr/>
        </p:nvSpPr>
        <p:spPr bwMode="auto">
          <a:xfrm>
            <a:off x="978805" y="2982337"/>
            <a:ext cx="113814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zh-CN" altLang="zh-CN" sz="1600" i="1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rPr>
              <a:t>n</a:t>
            </a:r>
            <a:endParaRPr kumimoji="0" lang="zh-CN" altLang="zh-CN" sz="1800" i="1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  <a:ea typeface="SimHei" panose="02010609060101010101" pitchFamily="49" charset="-122"/>
            </a:endParaRPr>
          </a:p>
        </p:txBody>
      </p:sp>
      <p:sp>
        <p:nvSpPr>
          <p:cNvPr id="14" name="Rectangle 11">
            <a:extLst>
              <a:ext uri="{FF2B5EF4-FFF2-40B4-BE49-F238E27FC236}">
                <a16:creationId xmlns:a16="http://schemas.microsoft.com/office/drawing/2014/main" id="{8D107DC1-7AF8-4F2F-AA2A-32ABC8E36FBF}"/>
              </a:ext>
            </a:extLst>
          </p:cNvPr>
          <p:cNvSpPr>
            <a:spLocks noChangeArrowheads="1"/>
          </p:cNvSpPr>
          <p:nvPr/>
        </p:nvSpPr>
        <p:spPr bwMode="auto">
          <a:xfrm>
            <a:off x="978805" y="3225225"/>
            <a:ext cx="102592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zh-CN" altLang="zh-CN" sz="1600" i="1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rPr>
              <a:t>s</a:t>
            </a:r>
            <a:endParaRPr kumimoji="0" lang="zh-CN" altLang="zh-CN" sz="1800" i="1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  <a:ea typeface="SimHei" panose="02010609060101010101" pitchFamily="49" charset="-122"/>
            </a:endParaRPr>
          </a:p>
        </p:txBody>
      </p:sp>
      <p:sp>
        <p:nvSpPr>
          <p:cNvPr id="15" name="Rectangle 12">
            <a:extLst>
              <a:ext uri="{FF2B5EF4-FFF2-40B4-BE49-F238E27FC236}">
                <a16:creationId xmlns:a16="http://schemas.microsoft.com/office/drawing/2014/main" id="{16BC128B-72E5-45F4-8DB9-709BCEBD72E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04205" y="3463350"/>
            <a:ext cx="57708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zh-CN" altLang="zh-CN" sz="1600" i="1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rPr>
              <a:t>t</a:t>
            </a:r>
            <a:endParaRPr kumimoji="0" lang="zh-CN" altLang="zh-CN" sz="1800" i="1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  <a:ea typeface="SimHei" panose="02010609060101010101" pitchFamily="49" charset="-122"/>
            </a:endParaRPr>
          </a:p>
        </p:txBody>
      </p:sp>
      <p:sp>
        <p:nvSpPr>
          <p:cNvPr id="16" name="Rectangle 13">
            <a:extLst>
              <a:ext uri="{FF2B5EF4-FFF2-40B4-BE49-F238E27FC236}">
                <a16:creationId xmlns:a16="http://schemas.microsoft.com/office/drawing/2014/main" id="{73F28E8A-22CF-44CB-9C6B-721490BD0F61}"/>
              </a:ext>
            </a:extLst>
          </p:cNvPr>
          <p:cNvSpPr>
            <a:spLocks noChangeArrowheads="1"/>
          </p:cNvSpPr>
          <p:nvPr/>
        </p:nvSpPr>
        <p:spPr bwMode="auto">
          <a:xfrm>
            <a:off x="970868" y="3703062"/>
            <a:ext cx="119007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zh-CN" altLang="zh-CN" sz="1600" i="1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rPr>
              <a:t>r.</a:t>
            </a:r>
            <a:endParaRPr kumimoji="0" lang="zh-CN" altLang="zh-CN" sz="1800" i="1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  <a:ea typeface="SimHei" panose="02010609060101010101" pitchFamily="49" charset="-122"/>
            </a:endParaRPr>
          </a:p>
        </p:txBody>
      </p:sp>
      <p:sp>
        <p:nvSpPr>
          <p:cNvPr id="17" name="Rectangle 14">
            <a:extLst>
              <a:ext uri="{FF2B5EF4-FFF2-40B4-BE49-F238E27FC236}">
                <a16:creationId xmlns:a16="http://schemas.microsoft.com/office/drawing/2014/main" id="{A60634C6-95D7-4655-85A8-55050532F542}"/>
              </a:ext>
            </a:extLst>
          </p:cNvPr>
          <p:cNvSpPr>
            <a:spLocks noChangeArrowheads="1"/>
          </p:cNvSpPr>
          <p:nvPr/>
        </p:nvSpPr>
        <p:spPr bwMode="auto">
          <a:xfrm>
            <a:off x="953405" y="4177725"/>
            <a:ext cx="160300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zh-CN" altLang="zh-CN" sz="1600" i="1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rPr>
              <a:t>O</a:t>
            </a:r>
            <a:endParaRPr kumimoji="0" lang="zh-CN" altLang="zh-CN" sz="1800" i="1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  <a:ea typeface="SimHei" panose="02010609060101010101" pitchFamily="49" charset="-122"/>
            </a:endParaRPr>
          </a:p>
        </p:txBody>
      </p:sp>
      <p:sp>
        <p:nvSpPr>
          <p:cNvPr id="18" name="Rectangle 15">
            <a:extLst>
              <a:ext uri="{FF2B5EF4-FFF2-40B4-BE49-F238E27FC236}">
                <a16:creationId xmlns:a16="http://schemas.microsoft.com/office/drawing/2014/main" id="{2BB9F313-1D82-4A41-8C4F-34373DD364D0}"/>
              </a:ext>
            </a:extLst>
          </p:cNvPr>
          <p:cNvSpPr>
            <a:spLocks noChangeArrowheads="1"/>
          </p:cNvSpPr>
          <p:nvPr/>
        </p:nvSpPr>
        <p:spPr bwMode="auto">
          <a:xfrm>
            <a:off x="996268" y="4415850"/>
            <a:ext cx="68930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zh-CN" altLang="zh-CN" sz="1600" i="1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rPr>
              <a:t>r</a:t>
            </a:r>
            <a:endParaRPr kumimoji="0" lang="zh-CN" altLang="zh-CN" sz="1800" i="1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  <a:ea typeface="SimHei" panose="02010609060101010101" pitchFamily="49" charset="-122"/>
            </a:endParaRPr>
          </a:p>
        </p:txBody>
      </p:sp>
      <p:sp>
        <p:nvSpPr>
          <p:cNvPr id="19" name="Rectangle 16">
            <a:extLst>
              <a:ext uri="{FF2B5EF4-FFF2-40B4-BE49-F238E27FC236}">
                <a16:creationId xmlns:a16="http://schemas.microsoft.com/office/drawing/2014/main" id="{A6FAAF1B-46AF-4890-BDD6-477DC0A2DF59}"/>
              </a:ext>
            </a:extLst>
          </p:cNvPr>
          <p:cNvSpPr>
            <a:spLocks noChangeArrowheads="1"/>
          </p:cNvSpPr>
          <p:nvPr/>
        </p:nvSpPr>
        <p:spPr bwMode="auto">
          <a:xfrm>
            <a:off x="978805" y="4655562"/>
            <a:ext cx="113814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zh-CN" altLang="zh-CN" sz="1600" i="1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rPr>
              <a:t>d</a:t>
            </a:r>
            <a:endParaRPr kumimoji="0" lang="zh-CN" altLang="zh-CN" sz="1800" i="1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  <a:ea typeface="SimHei" panose="02010609060101010101" pitchFamily="49" charset="-122"/>
            </a:endParaRPr>
          </a:p>
        </p:txBody>
      </p:sp>
      <p:sp>
        <p:nvSpPr>
          <p:cNvPr id="20" name="Rectangle 17">
            <a:extLst>
              <a:ext uri="{FF2B5EF4-FFF2-40B4-BE49-F238E27FC236}">
                <a16:creationId xmlns:a16="http://schemas.microsoft.com/office/drawing/2014/main" id="{3CE7DDA1-18A0-4ECC-BD45-F3883A1EE408}"/>
              </a:ext>
            </a:extLst>
          </p:cNvPr>
          <p:cNvSpPr>
            <a:spLocks noChangeArrowheads="1"/>
          </p:cNvSpPr>
          <p:nvPr/>
        </p:nvSpPr>
        <p:spPr bwMode="auto">
          <a:xfrm>
            <a:off x="978805" y="4898450"/>
            <a:ext cx="113814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zh-CN" altLang="zh-CN" sz="1600" i="1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rPr>
              <a:t>e</a:t>
            </a:r>
            <a:endParaRPr kumimoji="0" lang="zh-CN" altLang="zh-CN" sz="1800" i="1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  <a:ea typeface="SimHei" panose="02010609060101010101" pitchFamily="49" charset="-122"/>
            </a:endParaRPr>
          </a:p>
        </p:txBody>
      </p:sp>
      <p:sp>
        <p:nvSpPr>
          <p:cNvPr id="21" name="Rectangle 18">
            <a:extLst>
              <a:ext uri="{FF2B5EF4-FFF2-40B4-BE49-F238E27FC236}">
                <a16:creationId xmlns:a16="http://schemas.microsoft.com/office/drawing/2014/main" id="{294AEB72-C43F-45F1-B3E7-137D85CD4754}"/>
              </a:ext>
            </a:extLst>
          </p:cNvPr>
          <p:cNvSpPr>
            <a:spLocks noChangeArrowheads="1"/>
          </p:cNvSpPr>
          <p:nvPr/>
        </p:nvSpPr>
        <p:spPr bwMode="auto">
          <a:xfrm>
            <a:off x="996268" y="5130225"/>
            <a:ext cx="68930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zh-CN" altLang="zh-CN" sz="1600" i="1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rPr>
              <a:t>r</a:t>
            </a:r>
            <a:endParaRPr kumimoji="0" lang="zh-CN" altLang="zh-CN" sz="1800" i="1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  <a:ea typeface="SimHei" panose="02010609060101010101" pitchFamily="49" charset="-122"/>
            </a:endParaRPr>
          </a:p>
        </p:txBody>
      </p:sp>
      <p:sp>
        <p:nvSpPr>
          <p:cNvPr id="22" name="Freeform 19">
            <a:extLst>
              <a:ext uri="{FF2B5EF4-FFF2-40B4-BE49-F238E27FC236}">
                <a16:creationId xmlns:a16="http://schemas.microsoft.com/office/drawing/2014/main" id="{7F69B967-582E-44C0-8876-9BA921C08C38}"/>
              </a:ext>
            </a:extLst>
          </p:cNvPr>
          <p:cNvSpPr>
            <a:spLocks noEditPoints="1"/>
          </p:cNvSpPr>
          <p:nvPr/>
        </p:nvSpPr>
        <p:spPr bwMode="auto">
          <a:xfrm>
            <a:off x="2593610" y="2128262"/>
            <a:ext cx="5664200" cy="65088"/>
          </a:xfrm>
          <a:custGeom>
            <a:avLst/>
            <a:gdLst>
              <a:gd name="T0" fmla="*/ 0 w 3568"/>
              <a:gd name="T1" fmla="*/ 14 h 41"/>
              <a:gd name="T2" fmla="*/ 3532 w 3568"/>
              <a:gd name="T3" fmla="*/ 14 h 41"/>
              <a:gd name="T4" fmla="*/ 3532 w 3568"/>
              <a:gd name="T5" fmla="*/ 28 h 41"/>
              <a:gd name="T6" fmla="*/ 0 w 3568"/>
              <a:gd name="T7" fmla="*/ 28 h 41"/>
              <a:gd name="T8" fmla="*/ 0 w 3568"/>
              <a:gd name="T9" fmla="*/ 14 h 41"/>
              <a:gd name="T10" fmla="*/ 3525 w 3568"/>
              <a:gd name="T11" fmla="*/ 0 h 41"/>
              <a:gd name="T12" fmla="*/ 3568 w 3568"/>
              <a:gd name="T13" fmla="*/ 21 h 41"/>
              <a:gd name="T14" fmla="*/ 3525 w 3568"/>
              <a:gd name="T15" fmla="*/ 41 h 41"/>
              <a:gd name="T16" fmla="*/ 3525 w 3568"/>
              <a:gd name="T17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3568" h="41">
                <a:moveTo>
                  <a:pt x="0" y="14"/>
                </a:moveTo>
                <a:lnTo>
                  <a:pt x="3532" y="14"/>
                </a:lnTo>
                <a:lnTo>
                  <a:pt x="3532" y="28"/>
                </a:lnTo>
                <a:lnTo>
                  <a:pt x="0" y="28"/>
                </a:lnTo>
                <a:lnTo>
                  <a:pt x="0" y="14"/>
                </a:lnTo>
                <a:close/>
                <a:moveTo>
                  <a:pt x="3525" y="0"/>
                </a:moveTo>
                <a:lnTo>
                  <a:pt x="3568" y="21"/>
                </a:lnTo>
                <a:lnTo>
                  <a:pt x="3525" y="41"/>
                </a:lnTo>
                <a:lnTo>
                  <a:pt x="3525" y="0"/>
                </a:lnTo>
                <a:close/>
              </a:path>
            </a:pathLst>
          </a:custGeom>
          <a:solidFill>
            <a:srgbClr val="000000"/>
          </a:solidFill>
          <a:ln w="0" cap="flat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23" name="Rectangle 20">
            <a:extLst>
              <a:ext uri="{FF2B5EF4-FFF2-40B4-BE49-F238E27FC236}">
                <a16:creationId xmlns:a16="http://schemas.microsoft.com/office/drawing/2014/main" id="{55F67915-B95E-4E85-A09D-46DE9241DDE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89098" y="1815525"/>
            <a:ext cx="1736437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zh-CN" altLang="zh-CN" sz="1600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rPr>
              <a:t>Time (clock cycles)</a:t>
            </a:r>
            <a:endParaRPr kumimoji="0" lang="zh-CN" altLang="zh-CN" sz="180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  <a:ea typeface="SimHei" panose="02010609060101010101" pitchFamily="49" charset="-122"/>
            </a:endParaRPr>
          </a:p>
        </p:txBody>
      </p:sp>
      <p:sp>
        <p:nvSpPr>
          <p:cNvPr id="24" name="Rectangle 21">
            <a:extLst>
              <a:ext uri="{FF2B5EF4-FFF2-40B4-BE49-F238E27FC236}">
                <a16:creationId xmlns:a16="http://schemas.microsoft.com/office/drawing/2014/main" id="{02015472-8991-44AF-8847-B9E75A1FC393}"/>
              </a:ext>
            </a:extLst>
          </p:cNvPr>
          <p:cNvSpPr>
            <a:spLocks noChangeArrowheads="1"/>
          </p:cNvSpPr>
          <p:nvPr/>
        </p:nvSpPr>
        <p:spPr bwMode="auto">
          <a:xfrm>
            <a:off x="1343930" y="2610862"/>
            <a:ext cx="522579" cy="3231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zh-CN" altLang="zh-CN" sz="2100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rPr>
              <a:t>add </a:t>
            </a:r>
            <a:endParaRPr kumimoji="0" lang="zh-CN" altLang="zh-CN" sz="180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  <a:ea typeface="SimHei" panose="02010609060101010101" pitchFamily="49" charset="-122"/>
            </a:endParaRPr>
          </a:p>
        </p:txBody>
      </p:sp>
      <p:sp>
        <p:nvSpPr>
          <p:cNvPr id="25" name="Rectangle 22">
            <a:extLst>
              <a:ext uri="{FF2B5EF4-FFF2-40B4-BE49-F238E27FC236}">
                <a16:creationId xmlns:a16="http://schemas.microsoft.com/office/drawing/2014/main" id="{620B5EFC-D7D8-4419-9A92-14A63223ADD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72568" y="2610862"/>
            <a:ext cx="238848" cy="3231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zh-CN" altLang="zh-CN" sz="2100" u="none" strike="noStrike" cap="none" normalizeH="0" baseline="0" dirty="0">
                <a:ln>
                  <a:noFill/>
                </a:ln>
                <a:solidFill>
                  <a:srgbClr val="DE2506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rPr>
              <a:t>r1</a:t>
            </a:r>
            <a:endParaRPr kumimoji="0" lang="zh-CN" altLang="zh-CN" sz="180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  <a:ea typeface="SimHei" panose="02010609060101010101" pitchFamily="49" charset="-122"/>
            </a:endParaRPr>
          </a:p>
        </p:txBody>
      </p:sp>
      <p:sp>
        <p:nvSpPr>
          <p:cNvPr id="26" name="Rectangle 23">
            <a:extLst>
              <a:ext uri="{FF2B5EF4-FFF2-40B4-BE49-F238E27FC236}">
                <a16:creationId xmlns:a16="http://schemas.microsoft.com/office/drawing/2014/main" id="{24CAB11D-00FF-4BC0-B001-203E5BCAC85B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20218" y="2610862"/>
            <a:ext cx="779059" cy="3231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zh-CN" altLang="zh-CN" sz="2100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rPr>
              <a:t>,</a:t>
            </a:r>
            <a:r>
              <a:rPr kumimoji="0" lang="en-US" altLang="zh-CN" sz="2100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rPr>
              <a:t> r2, r3</a:t>
            </a:r>
            <a:endParaRPr kumimoji="0" lang="zh-CN" altLang="zh-CN" sz="180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  <a:ea typeface="SimHei" panose="02010609060101010101" pitchFamily="49" charset="-122"/>
            </a:endParaRPr>
          </a:p>
        </p:txBody>
      </p:sp>
      <p:sp>
        <p:nvSpPr>
          <p:cNvPr id="27" name="Rectangle 24">
            <a:extLst>
              <a:ext uri="{FF2B5EF4-FFF2-40B4-BE49-F238E27FC236}">
                <a16:creationId xmlns:a16="http://schemas.microsoft.com/office/drawing/2014/main" id="{096C3CE1-C7CD-49A8-B4D2-B9AAF81EEB34}"/>
              </a:ext>
            </a:extLst>
          </p:cNvPr>
          <p:cNvSpPr>
            <a:spLocks noChangeArrowheads="1"/>
          </p:cNvSpPr>
          <p:nvPr/>
        </p:nvSpPr>
        <p:spPr bwMode="auto">
          <a:xfrm>
            <a:off x="1343930" y="3339525"/>
            <a:ext cx="658835" cy="3231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zh-CN" altLang="zh-CN" sz="2100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rPr>
              <a:t>Inst 1</a:t>
            </a:r>
            <a:endParaRPr kumimoji="0" lang="zh-CN" altLang="zh-CN" sz="180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  <a:ea typeface="SimHei" panose="02010609060101010101" pitchFamily="49" charset="-122"/>
            </a:endParaRPr>
          </a:p>
        </p:txBody>
      </p:sp>
      <p:sp>
        <p:nvSpPr>
          <p:cNvPr id="28" name="Rectangle 25">
            <a:extLst>
              <a:ext uri="{FF2B5EF4-FFF2-40B4-BE49-F238E27FC236}">
                <a16:creationId xmlns:a16="http://schemas.microsoft.com/office/drawing/2014/main" id="{AE30804E-89E2-4972-B38B-89150749A2D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343930" y="4103112"/>
            <a:ext cx="658835" cy="3231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zh-CN" altLang="zh-CN" sz="2100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rPr>
              <a:t>Inst 2</a:t>
            </a:r>
            <a:endParaRPr kumimoji="0" lang="zh-CN" altLang="zh-CN" sz="180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  <a:ea typeface="SimHei" panose="02010609060101010101" pitchFamily="49" charset="-122"/>
            </a:endParaRPr>
          </a:p>
        </p:txBody>
      </p:sp>
      <p:sp>
        <p:nvSpPr>
          <p:cNvPr id="29" name="Rectangle 26">
            <a:extLst>
              <a:ext uri="{FF2B5EF4-FFF2-40B4-BE49-F238E27FC236}">
                <a16:creationId xmlns:a16="http://schemas.microsoft.com/office/drawing/2014/main" id="{02853D1B-282D-41C2-A24E-682FE84AEFF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343930" y="5592187"/>
            <a:ext cx="658835" cy="3231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zh-CN" altLang="zh-CN" sz="2100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rPr>
              <a:t>Inst 4</a:t>
            </a:r>
            <a:endParaRPr kumimoji="0" lang="zh-CN" altLang="zh-CN" sz="180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  <a:ea typeface="SimHei" panose="02010609060101010101" pitchFamily="49" charset="-122"/>
            </a:endParaRPr>
          </a:p>
        </p:txBody>
      </p:sp>
      <p:sp>
        <p:nvSpPr>
          <p:cNvPr id="30" name="Freeform 27">
            <a:extLst>
              <a:ext uri="{FF2B5EF4-FFF2-40B4-BE49-F238E27FC236}">
                <a16:creationId xmlns:a16="http://schemas.microsoft.com/office/drawing/2014/main" id="{F0EE03E9-5BD3-4A92-8E61-47D40BE3FF85}"/>
              </a:ext>
            </a:extLst>
          </p:cNvPr>
          <p:cNvSpPr>
            <a:spLocks noEditPoints="1"/>
          </p:cNvSpPr>
          <p:nvPr/>
        </p:nvSpPr>
        <p:spPr bwMode="auto">
          <a:xfrm>
            <a:off x="3641360" y="2267962"/>
            <a:ext cx="23813" cy="3894138"/>
          </a:xfrm>
          <a:custGeom>
            <a:avLst/>
            <a:gdLst>
              <a:gd name="T0" fmla="*/ 15 w 15"/>
              <a:gd name="T1" fmla="*/ 42 h 2453"/>
              <a:gd name="T2" fmla="*/ 0 w 15"/>
              <a:gd name="T3" fmla="*/ 56 h 2453"/>
              <a:gd name="T4" fmla="*/ 15 w 15"/>
              <a:gd name="T5" fmla="*/ 112 h 2453"/>
              <a:gd name="T6" fmla="*/ 0 w 15"/>
              <a:gd name="T7" fmla="*/ 154 h 2453"/>
              <a:gd name="T8" fmla="*/ 15 w 15"/>
              <a:gd name="T9" fmla="*/ 167 h 2453"/>
              <a:gd name="T10" fmla="*/ 15 w 15"/>
              <a:gd name="T11" fmla="*/ 237 h 2453"/>
              <a:gd name="T12" fmla="*/ 0 w 15"/>
              <a:gd name="T13" fmla="*/ 251 h 2453"/>
              <a:gd name="T14" fmla="*/ 15 w 15"/>
              <a:gd name="T15" fmla="*/ 307 h 2453"/>
              <a:gd name="T16" fmla="*/ 0 w 15"/>
              <a:gd name="T17" fmla="*/ 348 h 2453"/>
              <a:gd name="T18" fmla="*/ 15 w 15"/>
              <a:gd name="T19" fmla="*/ 362 h 2453"/>
              <a:gd name="T20" fmla="*/ 15 w 15"/>
              <a:gd name="T21" fmla="*/ 432 h 2453"/>
              <a:gd name="T22" fmla="*/ 0 w 15"/>
              <a:gd name="T23" fmla="*/ 446 h 2453"/>
              <a:gd name="T24" fmla="*/ 15 w 15"/>
              <a:gd name="T25" fmla="*/ 501 h 2453"/>
              <a:gd name="T26" fmla="*/ 0 w 15"/>
              <a:gd name="T27" fmla="*/ 543 h 2453"/>
              <a:gd name="T28" fmla="*/ 15 w 15"/>
              <a:gd name="T29" fmla="*/ 557 h 2453"/>
              <a:gd name="T30" fmla="*/ 15 w 15"/>
              <a:gd name="T31" fmla="*/ 627 h 2453"/>
              <a:gd name="T32" fmla="*/ 0 w 15"/>
              <a:gd name="T33" fmla="*/ 641 h 2453"/>
              <a:gd name="T34" fmla="*/ 15 w 15"/>
              <a:gd name="T35" fmla="*/ 696 h 2453"/>
              <a:gd name="T36" fmla="*/ 0 w 15"/>
              <a:gd name="T37" fmla="*/ 738 h 2453"/>
              <a:gd name="T38" fmla="*/ 15 w 15"/>
              <a:gd name="T39" fmla="*/ 752 h 2453"/>
              <a:gd name="T40" fmla="*/ 15 w 15"/>
              <a:gd name="T41" fmla="*/ 822 h 2453"/>
              <a:gd name="T42" fmla="*/ 0 w 15"/>
              <a:gd name="T43" fmla="*/ 835 h 2453"/>
              <a:gd name="T44" fmla="*/ 15 w 15"/>
              <a:gd name="T45" fmla="*/ 891 h 2453"/>
              <a:gd name="T46" fmla="*/ 0 w 15"/>
              <a:gd name="T47" fmla="*/ 933 h 2453"/>
              <a:gd name="T48" fmla="*/ 15 w 15"/>
              <a:gd name="T49" fmla="*/ 947 h 2453"/>
              <a:gd name="T50" fmla="*/ 15 w 15"/>
              <a:gd name="T51" fmla="*/ 1016 h 2453"/>
              <a:gd name="T52" fmla="*/ 0 w 15"/>
              <a:gd name="T53" fmla="*/ 1030 h 2453"/>
              <a:gd name="T54" fmla="*/ 15 w 15"/>
              <a:gd name="T55" fmla="*/ 1086 h 2453"/>
              <a:gd name="T56" fmla="*/ 0 w 15"/>
              <a:gd name="T57" fmla="*/ 1127 h 2453"/>
              <a:gd name="T58" fmla="*/ 15 w 15"/>
              <a:gd name="T59" fmla="*/ 1141 h 2453"/>
              <a:gd name="T60" fmla="*/ 15 w 15"/>
              <a:gd name="T61" fmla="*/ 1211 h 2453"/>
              <a:gd name="T62" fmla="*/ 0 w 15"/>
              <a:gd name="T63" fmla="*/ 1225 h 2453"/>
              <a:gd name="T64" fmla="*/ 15 w 15"/>
              <a:gd name="T65" fmla="*/ 1281 h 2453"/>
              <a:gd name="T66" fmla="*/ 0 w 15"/>
              <a:gd name="T67" fmla="*/ 1322 h 2453"/>
              <a:gd name="T68" fmla="*/ 15 w 15"/>
              <a:gd name="T69" fmla="*/ 1336 h 2453"/>
              <a:gd name="T70" fmla="*/ 15 w 15"/>
              <a:gd name="T71" fmla="*/ 1406 h 2453"/>
              <a:gd name="T72" fmla="*/ 0 w 15"/>
              <a:gd name="T73" fmla="*/ 1420 h 2453"/>
              <a:gd name="T74" fmla="*/ 15 w 15"/>
              <a:gd name="T75" fmla="*/ 1475 h 2453"/>
              <a:gd name="T76" fmla="*/ 0 w 15"/>
              <a:gd name="T77" fmla="*/ 1517 h 2453"/>
              <a:gd name="T78" fmla="*/ 15 w 15"/>
              <a:gd name="T79" fmla="*/ 1531 h 2453"/>
              <a:gd name="T80" fmla="*/ 15 w 15"/>
              <a:gd name="T81" fmla="*/ 1601 h 2453"/>
              <a:gd name="T82" fmla="*/ 0 w 15"/>
              <a:gd name="T83" fmla="*/ 1615 h 2453"/>
              <a:gd name="T84" fmla="*/ 15 w 15"/>
              <a:gd name="T85" fmla="*/ 1670 h 2453"/>
              <a:gd name="T86" fmla="*/ 0 w 15"/>
              <a:gd name="T87" fmla="*/ 1712 h 2453"/>
              <a:gd name="T88" fmla="*/ 15 w 15"/>
              <a:gd name="T89" fmla="*/ 1726 h 2453"/>
              <a:gd name="T90" fmla="*/ 15 w 15"/>
              <a:gd name="T91" fmla="*/ 1795 h 2453"/>
              <a:gd name="T92" fmla="*/ 0 w 15"/>
              <a:gd name="T93" fmla="*/ 1809 h 2453"/>
              <a:gd name="T94" fmla="*/ 15 w 15"/>
              <a:gd name="T95" fmla="*/ 1865 h 2453"/>
              <a:gd name="T96" fmla="*/ 0 w 15"/>
              <a:gd name="T97" fmla="*/ 1907 h 2453"/>
              <a:gd name="T98" fmla="*/ 15 w 15"/>
              <a:gd name="T99" fmla="*/ 1921 h 2453"/>
              <a:gd name="T100" fmla="*/ 15 w 15"/>
              <a:gd name="T101" fmla="*/ 1990 h 2453"/>
              <a:gd name="T102" fmla="*/ 0 w 15"/>
              <a:gd name="T103" fmla="*/ 2004 h 2453"/>
              <a:gd name="T104" fmla="*/ 15 w 15"/>
              <a:gd name="T105" fmla="*/ 2060 h 2453"/>
              <a:gd name="T106" fmla="*/ 0 w 15"/>
              <a:gd name="T107" fmla="*/ 2102 h 2453"/>
              <a:gd name="T108" fmla="*/ 15 w 15"/>
              <a:gd name="T109" fmla="*/ 2116 h 2453"/>
              <a:gd name="T110" fmla="*/ 15 w 15"/>
              <a:gd name="T111" fmla="*/ 2185 h 2453"/>
              <a:gd name="T112" fmla="*/ 0 w 15"/>
              <a:gd name="T113" fmla="*/ 2199 h 2453"/>
              <a:gd name="T114" fmla="*/ 15 w 15"/>
              <a:gd name="T115" fmla="*/ 2254 h 2453"/>
              <a:gd name="T116" fmla="*/ 0 w 15"/>
              <a:gd name="T117" fmla="*/ 2296 h 2453"/>
              <a:gd name="T118" fmla="*/ 15 w 15"/>
              <a:gd name="T119" fmla="*/ 2310 h 2453"/>
              <a:gd name="T120" fmla="*/ 15 w 15"/>
              <a:gd name="T121" fmla="*/ 2380 h 2453"/>
              <a:gd name="T122" fmla="*/ 0 w 15"/>
              <a:gd name="T123" fmla="*/ 2394 h 2453"/>
              <a:gd name="T124" fmla="*/ 15 w 15"/>
              <a:gd name="T125" fmla="*/ 2449 h 24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15" h="2453">
                <a:moveTo>
                  <a:pt x="15" y="0"/>
                </a:moveTo>
                <a:lnTo>
                  <a:pt x="15" y="14"/>
                </a:lnTo>
                <a:lnTo>
                  <a:pt x="0" y="14"/>
                </a:lnTo>
                <a:lnTo>
                  <a:pt x="0" y="0"/>
                </a:lnTo>
                <a:lnTo>
                  <a:pt x="15" y="0"/>
                </a:lnTo>
                <a:close/>
                <a:moveTo>
                  <a:pt x="15" y="28"/>
                </a:moveTo>
                <a:lnTo>
                  <a:pt x="15" y="42"/>
                </a:lnTo>
                <a:lnTo>
                  <a:pt x="0" y="42"/>
                </a:lnTo>
                <a:lnTo>
                  <a:pt x="0" y="28"/>
                </a:lnTo>
                <a:lnTo>
                  <a:pt x="15" y="28"/>
                </a:lnTo>
                <a:close/>
                <a:moveTo>
                  <a:pt x="15" y="56"/>
                </a:moveTo>
                <a:lnTo>
                  <a:pt x="15" y="70"/>
                </a:lnTo>
                <a:lnTo>
                  <a:pt x="0" y="70"/>
                </a:lnTo>
                <a:lnTo>
                  <a:pt x="0" y="56"/>
                </a:lnTo>
                <a:lnTo>
                  <a:pt x="15" y="56"/>
                </a:lnTo>
                <a:close/>
                <a:moveTo>
                  <a:pt x="15" y="84"/>
                </a:moveTo>
                <a:lnTo>
                  <a:pt x="15" y="98"/>
                </a:lnTo>
                <a:lnTo>
                  <a:pt x="0" y="98"/>
                </a:lnTo>
                <a:lnTo>
                  <a:pt x="0" y="84"/>
                </a:lnTo>
                <a:lnTo>
                  <a:pt x="15" y="84"/>
                </a:lnTo>
                <a:close/>
                <a:moveTo>
                  <a:pt x="15" y="112"/>
                </a:moveTo>
                <a:lnTo>
                  <a:pt x="15" y="126"/>
                </a:lnTo>
                <a:lnTo>
                  <a:pt x="0" y="126"/>
                </a:lnTo>
                <a:lnTo>
                  <a:pt x="0" y="112"/>
                </a:lnTo>
                <a:lnTo>
                  <a:pt x="15" y="112"/>
                </a:lnTo>
                <a:close/>
                <a:moveTo>
                  <a:pt x="15" y="140"/>
                </a:moveTo>
                <a:lnTo>
                  <a:pt x="15" y="154"/>
                </a:lnTo>
                <a:lnTo>
                  <a:pt x="0" y="154"/>
                </a:lnTo>
                <a:lnTo>
                  <a:pt x="0" y="140"/>
                </a:lnTo>
                <a:lnTo>
                  <a:pt x="15" y="140"/>
                </a:lnTo>
                <a:close/>
                <a:moveTo>
                  <a:pt x="15" y="167"/>
                </a:moveTo>
                <a:lnTo>
                  <a:pt x="15" y="181"/>
                </a:lnTo>
                <a:lnTo>
                  <a:pt x="0" y="181"/>
                </a:lnTo>
                <a:lnTo>
                  <a:pt x="0" y="167"/>
                </a:lnTo>
                <a:lnTo>
                  <a:pt x="15" y="167"/>
                </a:lnTo>
                <a:close/>
                <a:moveTo>
                  <a:pt x="15" y="195"/>
                </a:moveTo>
                <a:lnTo>
                  <a:pt x="15" y="209"/>
                </a:lnTo>
                <a:lnTo>
                  <a:pt x="0" y="209"/>
                </a:lnTo>
                <a:lnTo>
                  <a:pt x="0" y="195"/>
                </a:lnTo>
                <a:lnTo>
                  <a:pt x="15" y="195"/>
                </a:lnTo>
                <a:close/>
                <a:moveTo>
                  <a:pt x="15" y="223"/>
                </a:moveTo>
                <a:lnTo>
                  <a:pt x="15" y="237"/>
                </a:lnTo>
                <a:lnTo>
                  <a:pt x="0" y="237"/>
                </a:lnTo>
                <a:lnTo>
                  <a:pt x="0" y="223"/>
                </a:lnTo>
                <a:lnTo>
                  <a:pt x="15" y="223"/>
                </a:lnTo>
                <a:close/>
                <a:moveTo>
                  <a:pt x="15" y="251"/>
                </a:moveTo>
                <a:lnTo>
                  <a:pt x="15" y="265"/>
                </a:lnTo>
                <a:lnTo>
                  <a:pt x="0" y="265"/>
                </a:lnTo>
                <a:lnTo>
                  <a:pt x="0" y="251"/>
                </a:lnTo>
                <a:lnTo>
                  <a:pt x="15" y="251"/>
                </a:lnTo>
                <a:close/>
                <a:moveTo>
                  <a:pt x="15" y="279"/>
                </a:moveTo>
                <a:lnTo>
                  <a:pt x="15" y="293"/>
                </a:lnTo>
                <a:lnTo>
                  <a:pt x="0" y="293"/>
                </a:lnTo>
                <a:lnTo>
                  <a:pt x="0" y="279"/>
                </a:lnTo>
                <a:lnTo>
                  <a:pt x="15" y="279"/>
                </a:lnTo>
                <a:close/>
                <a:moveTo>
                  <a:pt x="15" y="307"/>
                </a:moveTo>
                <a:lnTo>
                  <a:pt x="15" y="321"/>
                </a:lnTo>
                <a:lnTo>
                  <a:pt x="0" y="321"/>
                </a:lnTo>
                <a:lnTo>
                  <a:pt x="0" y="307"/>
                </a:lnTo>
                <a:lnTo>
                  <a:pt x="15" y="307"/>
                </a:lnTo>
                <a:close/>
                <a:moveTo>
                  <a:pt x="15" y="334"/>
                </a:moveTo>
                <a:lnTo>
                  <a:pt x="15" y="348"/>
                </a:lnTo>
                <a:lnTo>
                  <a:pt x="0" y="348"/>
                </a:lnTo>
                <a:lnTo>
                  <a:pt x="0" y="334"/>
                </a:lnTo>
                <a:lnTo>
                  <a:pt x="15" y="334"/>
                </a:lnTo>
                <a:close/>
                <a:moveTo>
                  <a:pt x="15" y="362"/>
                </a:moveTo>
                <a:lnTo>
                  <a:pt x="15" y="376"/>
                </a:lnTo>
                <a:lnTo>
                  <a:pt x="0" y="376"/>
                </a:lnTo>
                <a:lnTo>
                  <a:pt x="0" y="362"/>
                </a:lnTo>
                <a:lnTo>
                  <a:pt x="15" y="362"/>
                </a:lnTo>
                <a:close/>
                <a:moveTo>
                  <a:pt x="15" y="390"/>
                </a:moveTo>
                <a:lnTo>
                  <a:pt x="15" y="404"/>
                </a:lnTo>
                <a:lnTo>
                  <a:pt x="0" y="404"/>
                </a:lnTo>
                <a:lnTo>
                  <a:pt x="0" y="390"/>
                </a:lnTo>
                <a:lnTo>
                  <a:pt x="15" y="390"/>
                </a:lnTo>
                <a:close/>
                <a:moveTo>
                  <a:pt x="15" y="418"/>
                </a:moveTo>
                <a:lnTo>
                  <a:pt x="15" y="432"/>
                </a:lnTo>
                <a:lnTo>
                  <a:pt x="0" y="432"/>
                </a:lnTo>
                <a:lnTo>
                  <a:pt x="0" y="418"/>
                </a:lnTo>
                <a:lnTo>
                  <a:pt x="15" y="418"/>
                </a:lnTo>
                <a:close/>
                <a:moveTo>
                  <a:pt x="15" y="446"/>
                </a:moveTo>
                <a:lnTo>
                  <a:pt x="15" y="460"/>
                </a:lnTo>
                <a:lnTo>
                  <a:pt x="0" y="460"/>
                </a:lnTo>
                <a:lnTo>
                  <a:pt x="0" y="446"/>
                </a:lnTo>
                <a:lnTo>
                  <a:pt x="15" y="446"/>
                </a:lnTo>
                <a:close/>
                <a:moveTo>
                  <a:pt x="15" y="474"/>
                </a:moveTo>
                <a:lnTo>
                  <a:pt x="15" y="488"/>
                </a:lnTo>
                <a:lnTo>
                  <a:pt x="0" y="488"/>
                </a:lnTo>
                <a:lnTo>
                  <a:pt x="0" y="474"/>
                </a:lnTo>
                <a:lnTo>
                  <a:pt x="15" y="474"/>
                </a:lnTo>
                <a:close/>
                <a:moveTo>
                  <a:pt x="15" y="501"/>
                </a:moveTo>
                <a:lnTo>
                  <a:pt x="15" y="515"/>
                </a:lnTo>
                <a:lnTo>
                  <a:pt x="0" y="515"/>
                </a:lnTo>
                <a:lnTo>
                  <a:pt x="0" y="501"/>
                </a:lnTo>
                <a:lnTo>
                  <a:pt x="15" y="501"/>
                </a:lnTo>
                <a:close/>
                <a:moveTo>
                  <a:pt x="15" y="529"/>
                </a:moveTo>
                <a:lnTo>
                  <a:pt x="15" y="543"/>
                </a:lnTo>
                <a:lnTo>
                  <a:pt x="0" y="543"/>
                </a:lnTo>
                <a:lnTo>
                  <a:pt x="0" y="529"/>
                </a:lnTo>
                <a:lnTo>
                  <a:pt x="15" y="529"/>
                </a:lnTo>
                <a:close/>
                <a:moveTo>
                  <a:pt x="15" y="557"/>
                </a:moveTo>
                <a:lnTo>
                  <a:pt x="15" y="571"/>
                </a:lnTo>
                <a:lnTo>
                  <a:pt x="0" y="571"/>
                </a:lnTo>
                <a:lnTo>
                  <a:pt x="0" y="557"/>
                </a:lnTo>
                <a:lnTo>
                  <a:pt x="15" y="557"/>
                </a:lnTo>
                <a:close/>
                <a:moveTo>
                  <a:pt x="15" y="585"/>
                </a:moveTo>
                <a:lnTo>
                  <a:pt x="15" y="599"/>
                </a:lnTo>
                <a:lnTo>
                  <a:pt x="0" y="599"/>
                </a:lnTo>
                <a:lnTo>
                  <a:pt x="0" y="585"/>
                </a:lnTo>
                <a:lnTo>
                  <a:pt x="15" y="585"/>
                </a:lnTo>
                <a:close/>
                <a:moveTo>
                  <a:pt x="15" y="613"/>
                </a:moveTo>
                <a:lnTo>
                  <a:pt x="15" y="627"/>
                </a:lnTo>
                <a:lnTo>
                  <a:pt x="0" y="627"/>
                </a:lnTo>
                <a:lnTo>
                  <a:pt x="0" y="613"/>
                </a:lnTo>
                <a:lnTo>
                  <a:pt x="15" y="613"/>
                </a:lnTo>
                <a:close/>
                <a:moveTo>
                  <a:pt x="15" y="641"/>
                </a:moveTo>
                <a:lnTo>
                  <a:pt x="15" y="655"/>
                </a:lnTo>
                <a:lnTo>
                  <a:pt x="0" y="655"/>
                </a:lnTo>
                <a:lnTo>
                  <a:pt x="0" y="641"/>
                </a:lnTo>
                <a:lnTo>
                  <a:pt x="15" y="641"/>
                </a:lnTo>
                <a:close/>
                <a:moveTo>
                  <a:pt x="15" y="668"/>
                </a:moveTo>
                <a:lnTo>
                  <a:pt x="15" y="682"/>
                </a:lnTo>
                <a:lnTo>
                  <a:pt x="0" y="682"/>
                </a:lnTo>
                <a:lnTo>
                  <a:pt x="0" y="668"/>
                </a:lnTo>
                <a:lnTo>
                  <a:pt x="15" y="668"/>
                </a:lnTo>
                <a:close/>
                <a:moveTo>
                  <a:pt x="15" y="696"/>
                </a:moveTo>
                <a:lnTo>
                  <a:pt x="15" y="710"/>
                </a:lnTo>
                <a:lnTo>
                  <a:pt x="0" y="710"/>
                </a:lnTo>
                <a:lnTo>
                  <a:pt x="0" y="696"/>
                </a:lnTo>
                <a:lnTo>
                  <a:pt x="15" y="696"/>
                </a:lnTo>
                <a:close/>
                <a:moveTo>
                  <a:pt x="15" y="724"/>
                </a:moveTo>
                <a:lnTo>
                  <a:pt x="15" y="738"/>
                </a:lnTo>
                <a:lnTo>
                  <a:pt x="0" y="738"/>
                </a:lnTo>
                <a:lnTo>
                  <a:pt x="0" y="724"/>
                </a:lnTo>
                <a:lnTo>
                  <a:pt x="15" y="724"/>
                </a:lnTo>
                <a:close/>
                <a:moveTo>
                  <a:pt x="15" y="752"/>
                </a:moveTo>
                <a:lnTo>
                  <a:pt x="15" y="766"/>
                </a:lnTo>
                <a:lnTo>
                  <a:pt x="0" y="766"/>
                </a:lnTo>
                <a:lnTo>
                  <a:pt x="0" y="752"/>
                </a:lnTo>
                <a:lnTo>
                  <a:pt x="15" y="752"/>
                </a:lnTo>
                <a:close/>
                <a:moveTo>
                  <a:pt x="15" y="780"/>
                </a:moveTo>
                <a:lnTo>
                  <a:pt x="15" y="793"/>
                </a:lnTo>
                <a:lnTo>
                  <a:pt x="0" y="793"/>
                </a:lnTo>
                <a:lnTo>
                  <a:pt x="0" y="780"/>
                </a:lnTo>
                <a:lnTo>
                  <a:pt x="15" y="780"/>
                </a:lnTo>
                <a:close/>
                <a:moveTo>
                  <a:pt x="15" y="808"/>
                </a:moveTo>
                <a:lnTo>
                  <a:pt x="15" y="822"/>
                </a:lnTo>
                <a:lnTo>
                  <a:pt x="0" y="822"/>
                </a:lnTo>
                <a:lnTo>
                  <a:pt x="0" y="808"/>
                </a:lnTo>
                <a:lnTo>
                  <a:pt x="15" y="808"/>
                </a:lnTo>
                <a:close/>
                <a:moveTo>
                  <a:pt x="15" y="835"/>
                </a:moveTo>
                <a:lnTo>
                  <a:pt x="15" y="849"/>
                </a:lnTo>
                <a:lnTo>
                  <a:pt x="0" y="849"/>
                </a:lnTo>
                <a:lnTo>
                  <a:pt x="0" y="835"/>
                </a:lnTo>
                <a:lnTo>
                  <a:pt x="15" y="835"/>
                </a:lnTo>
                <a:close/>
                <a:moveTo>
                  <a:pt x="15" y="863"/>
                </a:moveTo>
                <a:lnTo>
                  <a:pt x="15" y="877"/>
                </a:lnTo>
                <a:lnTo>
                  <a:pt x="0" y="877"/>
                </a:lnTo>
                <a:lnTo>
                  <a:pt x="0" y="863"/>
                </a:lnTo>
                <a:lnTo>
                  <a:pt x="15" y="863"/>
                </a:lnTo>
                <a:close/>
                <a:moveTo>
                  <a:pt x="15" y="891"/>
                </a:moveTo>
                <a:lnTo>
                  <a:pt x="15" y="905"/>
                </a:lnTo>
                <a:lnTo>
                  <a:pt x="0" y="905"/>
                </a:lnTo>
                <a:lnTo>
                  <a:pt x="0" y="891"/>
                </a:lnTo>
                <a:lnTo>
                  <a:pt x="15" y="891"/>
                </a:lnTo>
                <a:close/>
                <a:moveTo>
                  <a:pt x="15" y="919"/>
                </a:moveTo>
                <a:lnTo>
                  <a:pt x="15" y="933"/>
                </a:lnTo>
                <a:lnTo>
                  <a:pt x="0" y="933"/>
                </a:lnTo>
                <a:lnTo>
                  <a:pt x="0" y="919"/>
                </a:lnTo>
                <a:lnTo>
                  <a:pt x="15" y="919"/>
                </a:lnTo>
                <a:close/>
                <a:moveTo>
                  <a:pt x="15" y="947"/>
                </a:moveTo>
                <a:lnTo>
                  <a:pt x="15" y="960"/>
                </a:lnTo>
                <a:lnTo>
                  <a:pt x="0" y="960"/>
                </a:lnTo>
                <a:lnTo>
                  <a:pt x="0" y="947"/>
                </a:lnTo>
                <a:lnTo>
                  <a:pt x="15" y="947"/>
                </a:lnTo>
                <a:close/>
                <a:moveTo>
                  <a:pt x="15" y="974"/>
                </a:moveTo>
                <a:lnTo>
                  <a:pt x="15" y="988"/>
                </a:lnTo>
                <a:lnTo>
                  <a:pt x="0" y="988"/>
                </a:lnTo>
                <a:lnTo>
                  <a:pt x="0" y="974"/>
                </a:lnTo>
                <a:lnTo>
                  <a:pt x="15" y="974"/>
                </a:lnTo>
                <a:close/>
                <a:moveTo>
                  <a:pt x="15" y="1002"/>
                </a:moveTo>
                <a:lnTo>
                  <a:pt x="15" y="1016"/>
                </a:lnTo>
                <a:lnTo>
                  <a:pt x="0" y="1016"/>
                </a:lnTo>
                <a:lnTo>
                  <a:pt x="0" y="1002"/>
                </a:lnTo>
                <a:lnTo>
                  <a:pt x="15" y="1002"/>
                </a:lnTo>
                <a:close/>
                <a:moveTo>
                  <a:pt x="15" y="1030"/>
                </a:moveTo>
                <a:lnTo>
                  <a:pt x="15" y="1044"/>
                </a:lnTo>
                <a:lnTo>
                  <a:pt x="0" y="1044"/>
                </a:lnTo>
                <a:lnTo>
                  <a:pt x="0" y="1030"/>
                </a:lnTo>
                <a:lnTo>
                  <a:pt x="15" y="1030"/>
                </a:lnTo>
                <a:close/>
                <a:moveTo>
                  <a:pt x="15" y="1058"/>
                </a:moveTo>
                <a:lnTo>
                  <a:pt x="15" y="1072"/>
                </a:lnTo>
                <a:lnTo>
                  <a:pt x="0" y="1072"/>
                </a:lnTo>
                <a:lnTo>
                  <a:pt x="0" y="1058"/>
                </a:lnTo>
                <a:lnTo>
                  <a:pt x="15" y="1058"/>
                </a:lnTo>
                <a:close/>
                <a:moveTo>
                  <a:pt x="15" y="1086"/>
                </a:moveTo>
                <a:lnTo>
                  <a:pt x="15" y="1100"/>
                </a:lnTo>
                <a:lnTo>
                  <a:pt x="0" y="1100"/>
                </a:lnTo>
                <a:lnTo>
                  <a:pt x="0" y="1086"/>
                </a:lnTo>
                <a:lnTo>
                  <a:pt x="15" y="1086"/>
                </a:lnTo>
                <a:close/>
                <a:moveTo>
                  <a:pt x="15" y="1114"/>
                </a:moveTo>
                <a:lnTo>
                  <a:pt x="15" y="1127"/>
                </a:lnTo>
                <a:lnTo>
                  <a:pt x="0" y="1127"/>
                </a:lnTo>
                <a:lnTo>
                  <a:pt x="0" y="1114"/>
                </a:lnTo>
                <a:lnTo>
                  <a:pt x="15" y="1114"/>
                </a:lnTo>
                <a:close/>
                <a:moveTo>
                  <a:pt x="15" y="1141"/>
                </a:moveTo>
                <a:lnTo>
                  <a:pt x="15" y="1155"/>
                </a:lnTo>
                <a:lnTo>
                  <a:pt x="0" y="1155"/>
                </a:lnTo>
                <a:lnTo>
                  <a:pt x="0" y="1141"/>
                </a:lnTo>
                <a:lnTo>
                  <a:pt x="15" y="1141"/>
                </a:lnTo>
                <a:close/>
                <a:moveTo>
                  <a:pt x="15" y="1169"/>
                </a:moveTo>
                <a:lnTo>
                  <a:pt x="15" y="1183"/>
                </a:lnTo>
                <a:lnTo>
                  <a:pt x="0" y="1183"/>
                </a:lnTo>
                <a:lnTo>
                  <a:pt x="0" y="1169"/>
                </a:lnTo>
                <a:lnTo>
                  <a:pt x="15" y="1169"/>
                </a:lnTo>
                <a:close/>
                <a:moveTo>
                  <a:pt x="15" y="1197"/>
                </a:moveTo>
                <a:lnTo>
                  <a:pt x="15" y="1211"/>
                </a:lnTo>
                <a:lnTo>
                  <a:pt x="0" y="1211"/>
                </a:lnTo>
                <a:lnTo>
                  <a:pt x="0" y="1197"/>
                </a:lnTo>
                <a:lnTo>
                  <a:pt x="15" y="1197"/>
                </a:lnTo>
                <a:close/>
                <a:moveTo>
                  <a:pt x="15" y="1225"/>
                </a:moveTo>
                <a:lnTo>
                  <a:pt x="15" y="1239"/>
                </a:lnTo>
                <a:lnTo>
                  <a:pt x="0" y="1239"/>
                </a:lnTo>
                <a:lnTo>
                  <a:pt x="0" y="1225"/>
                </a:lnTo>
                <a:lnTo>
                  <a:pt x="15" y="1225"/>
                </a:lnTo>
                <a:close/>
                <a:moveTo>
                  <a:pt x="15" y="1253"/>
                </a:moveTo>
                <a:lnTo>
                  <a:pt x="15" y="1267"/>
                </a:lnTo>
                <a:lnTo>
                  <a:pt x="0" y="1267"/>
                </a:lnTo>
                <a:lnTo>
                  <a:pt x="0" y="1253"/>
                </a:lnTo>
                <a:lnTo>
                  <a:pt x="15" y="1253"/>
                </a:lnTo>
                <a:close/>
                <a:moveTo>
                  <a:pt x="15" y="1281"/>
                </a:moveTo>
                <a:lnTo>
                  <a:pt x="15" y="1294"/>
                </a:lnTo>
                <a:lnTo>
                  <a:pt x="0" y="1294"/>
                </a:lnTo>
                <a:lnTo>
                  <a:pt x="0" y="1281"/>
                </a:lnTo>
                <a:lnTo>
                  <a:pt x="15" y="1281"/>
                </a:lnTo>
                <a:close/>
                <a:moveTo>
                  <a:pt x="15" y="1308"/>
                </a:moveTo>
                <a:lnTo>
                  <a:pt x="15" y="1322"/>
                </a:lnTo>
                <a:lnTo>
                  <a:pt x="0" y="1322"/>
                </a:lnTo>
                <a:lnTo>
                  <a:pt x="0" y="1308"/>
                </a:lnTo>
                <a:lnTo>
                  <a:pt x="15" y="1308"/>
                </a:lnTo>
                <a:close/>
                <a:moveTo>
                  <a:pt x="15" y="1336"/>
                </a:moveTo>
                <a:lnTo>
                  <a:pt x="15" y="1350"/>
                </a:lnTo>
                <a:lnTo>
                  <a:pt x="0" y="1350"/>
                </a:lnTo>
                <a:lnTo>
                  <a:pt x="0" y="1336"/>
                </a:lnTo>
                <a:lnTo>
                  <a:pt x="15" y="1336"/>
                </a:lnTo>
                <a:close/>
                <a:moveTo>
                  <a:pt x="15" y="1364"/>
                </a:moveTo>
                <a:lnTo>
                  <a:pt x="15" y="1378"/>
                </a:lnTo>
                <a:lnTo>
                  <a:pt x="0" y="1378"/>
                </a:lnTo>
                <a:lnTo>
                  <a:pt x="0" y="1364"/>
                </a:lnTo>
                <a:lnTo>
                  <a:pt x="15" y="1364"/>
                </a:lnTo>
                <a:close/>
                <a:moveTo>
                  <a:pt x="15" y="1392"/>
                </a:moveTo>
                <a:lnTo>
                  <a:pt x="15" y="1406"/>
                </a:lnTo>
                <a:lnTo>
                  <a:pt x="0" y="1406"/>
                </a:lnTo>
                <a:lnTo>
                  <a:pt x="0" y="1392"/>
                </a:lnTo>
                <a:lnTo>
                  <a:pt x="15" y="1392"/>
                </a:lnTo>
                <a:close/>
                <a:moveTo>
                  <a:pt x="15" y="1420"/>
                </a:moveTo>
                <a:lnTo>
                  <a:pt x="15" y="1434"/>
                </a:lnTo>
                <a:lnTo>
                  <a:pt x="0" y="1434"/>
                </a:lnTo>
                <a:lnTo>
                  <a:pt x="0" y="1420"/>
                </a:lnTo>
                <a:lnTo>
                  <a:pt x="15" y="1420"/>
                </a:lnTo>
                <a:close/>
                <a:moveTo>
                  <a:pt x="15" y="1448"/>
                </a:moveTo>
                <a:lnTo>
                  <a:pt x="15" y="1461"/>
                </a:lnTo>
                <a:lnTo>
                  <a:pt x="0" y="1461"/>
                </a:lnTo>
                <a:lnTo>
                  <a:pt x="0" y="1448"/>
                </a:lnTo>
                <a:lnTo>
                  <a:pt x="15" y="1448"/>
                </a:lnTo>
                <a:close/>
                <a:moveTo>
                  <a:pt x="15" y="1475"/>
                </a:moveTo>
                <a:lnTo>
                  <a:pt x="15" y="1489"/>
                </a:lnTo>
                <a:lnTo>
                  <a:pt x="0" y="1489"/>
                </a:lnTo>
                <a:lnTo>
                  <a:pt x="0" y="1475"/>
                </a:lnTo>
                <a:lnTo>
                  <a:pt x="15" y="1475"/>
                </a:lnTo>
                <a:close/>
                <a:moveTo>
                  <a:pt x="15" y="1503"/>
                </a:moveTo>
                <a:lnTo>
                  <a:pt x="15" y="1517"/>
                </a:lnTo>
                <a:lnTo>
                  <a:pt x="0" y="1517"/>
                </a:lnTo>
                <a:lnTo>
                  <a:pt x="0" y="1503"/>
                </a:lnTo>
                <a:lnTo>
                  <a:pt x="15" y="1503"/>
                </a:lnTo>
                <a:close/>
                <a:moveTo>
                  <a:pt x="15" y="1531"/>
                </a:moveTo>
                <a:lnTo>
                  <a:pt x="15" y="1545"/>
                </a:lnTo>
                <a:lnTo>
                  <a:pt x="0" y="1545"/>
                </a:lnTo>
                <a:lnTo>
                  <a:pt x="0" y="1531"/>
                </a:lnTo>
                <a:lnTo>
                  <a:pt x="15" y="1531"/>
                </a:lnTo>
                <a:close/>
                <a:moveTo>
                  <a:pt x="15" y="1559"/>
                </a:moveTo>
                <a:lnTo>
                  <a:pt x="15" y="1573"/>
                </a:lnTo>
                <a:lnTo>
                  <a:pt x="0" y="1573"/>
                </a:lnTo>
                <a:lnTo>
                  <a:pt x="0" y="1559"/>
                </a:lnTo>
                <a:lnTo>
                  <a:pt x="15" y="1559"/>
                </a:lnTo>
                <a:close/>
                <a:moveTo>
                  <a:pt x="15" y="1587"/>
                </a:moveTo>
                <a:lnTo>
                  <a:pt x="15" y="1601"/>
                </a:lnTo>
                <a:lnTo>
                  <a:pt x="0" y="1601"/>
                </a:lnTo>
                <a:lnTo>
                  <a:pt x="0" y="1587"/>
                </a:lnTo>
                <a:lnTo>
                  <a:pt x="15" y="1587"/>
                </a:lnTo>
                <a:close/>
                <a:moveTo>
                  <a:pt x="15" y="1615"/>
                </a:moveTo>
                <a:lnTo>
                  <a:pt x="15" y="1628"/>
                </a:lnTo>
                <a:lnTo>
                  <a:pt x="0" y="1628"/>
                </a:lnTo>
                <a:lnTo>
                  <a:pt x="0" y="1615"/>
                </a:lnTo>
                <a:lnTo>
                  <a:pt x="15" y="1615"/>
                </a:lnTo>
                <a:close/>
                <a:moveTo>
                  <a:pt x="15" y="1642"/>
                </a:moveTo>
                <a:lnTo>
                  <a:pt x="15" y="1656"/>
                </a:lnTo>
                <a:lnTo>
                  <a:pt x="0" y="1656"/>
                </a:lnTo>
                <a:lnTo>
                  <a:pt x="0" y="1642"/>
                </a:lnTo>
                <a:lnTo>
                  <a:pt x="15" y="1642"/>
                </a:lnTo>
                <a:close/>
                <a:moveTo>
                  <a:pt x="15" y="1670"/>
                </a:moveTo>
                <a:lnTo>
                  <a:pt x="15" y="1684"/>
                </a:lnTo>
                <a:lnTo>
                  <a:pt x="0" y="1684"/>
                </a:lnTo>
                <a:lnTo>
                  <a:pt x="0" y="1670"/>
                </a:lnTo>
                <a:lnTo>
                  <a:pt x="15" y="1670"/>
                </a:lnTo>
                <a:close/>
                <a:moveTo>
                  <a:pt x="15" y="1698"/>
                </a:moveTo>
                <a:lnTo>
                  <a:pt x="15" y="1712"/>
                </a:lnTo>
                <a:lnTo>
                  <a:pt x="0" y="1712"/>
                </a:lnTo>
                <a:lnTo>
                  <a:pt x="0" y="1698"/>
                </a:lnTo>
                <a:lnTo>
                  <a:pt x="15" y="1698"/>
                </a:lnTo>
                <a:close/>
                <a:moveTo>
                  <a:pt x="15" y="1726"/>
                </a:moveTo>
                <a:lnTo>
                  <a:pt x="15" y="1740"/>
                </a:lnTo>
                <a:lnTo>
                  <a:pt x="0" y="1740"/>
                </a:lnTo>
                <a:lnTo>
                  <a:pt x="0" y="1726"/>
                </a:lnTo>
                <a:lnTo>
                  <a:pt x="15" y="1726"/>
                </a:lnTo>
                <a:close/>
                <a:moveTo>
                  <a:pt x="15" y="1754"/>
                </a:moveTo>
                <a:lnTo>
                  <a:pt x="15" y="1768"/>
                </a:lnTo>
                <a:lnTo>
                  <a:pt x="0" y="1768"/>
                </a:lnTo>
                <a:lnTo>
                  <a:pt x="0" y="1754"/>
                </a:lnTo>
                <a:lnTo>
                  <a:pt x="15" y="1754"/>
                </a:lnTo>
                <a:close/>
                <a:moveTo>
                  <a:pt x="15" y="1782"/>
                </a:moveTo>
                <a:lnTo>
                  <a:pt x="15" y="1795"/>
                </a:lnTo>
                <a:lnTo>
                  <a:pt x="0" y="1795"/>
                </a:lnTo>
                <a:lnTo>
                  <a:pt x="0" y="1782"/>
                </a:lnTo>
                <a:lnTo>
                  <a:pt x="15" y="1782"/>
                </a:lnTo>
                <a:close/>
                <a:moveTo>
                  <a:pt x="15" y="1809"/>
                </a:moveTo>
                <a:lnTo>
                  <a:pt x="15" y="1823"/>
                </a:lnTo>
                <a:lnTo>
                  <a:pt x="0" y="1823"/>
                </a:lnTo>
                <a:lnTo>
                  <a:pt x="0" y="1809"/>
                </a:lnTo>
                <a:lnTo>
                  <a:pt x="15" y="1809"/>
                </a:lnTo>
                <a:close/>
                <a:moveTo>
                  <a:pt x="15" y="1837"/>
                </a:moveTo>
                <a:lnTo>
                  <a:pt x="15" y="1851"/>
                </a:lnTo>
                <a:lnTo>
                  <a:pt x="0" y="1851"/>
                </a:lnTo>
                <a:lnTo>
                  <a:pt x="0" y="1837"/>
                </a:lnTo>
                <a:lnTo>
                  <a:pt x="15" y="1837"/>
                </a:lnTo>
                <a:close/>
                <a:moveTo>
                  <a:pt x="15" y="1865"/>
                </a:moveTo>
                <a:lnTo>
                  <a:pt x="15" y="1879"/>
                </a:lnTo>
                <a:lnTo>
                  <a:pt x="0" y="1879"/>
                </a:lnTo>
                <a:lnTo>
                  <a:pt x="0" y="1865"/>
                </a:lnTo>
                <a:lnTo>
                  <a:pt x="15" y="1865"/>
                </a:lnTo>
                <a:close/>
                <a:moveTo>
                  <a:pt x="15" y="1893"/>
                </a:moveTo>
                <a:lnTo>
                  <a:pt x="15" y="1907"/>
                </a:lnTo>
                <a:lnTo>
                  <a:pt x="0" y="1907"/>
                </a:lnTo>
                <a:lnTo>
                  <a:pt x="0" y="1893"/>
                </a:lnTo>
                <a:lnTo>
                  <a:pt x="15" y="1893"/>
                </a:lnTo>
                <a:close/>
                <a:moveTo>
                  <a:pt x="15" y="1921"/>
                </a:moveTo>
                <a:lnTo>
                  <a:pt x="15" y="1935"/>
                </a:lnTo>
                <a:lnTo>
                  <a:pt x="0" y="1935"/>
                </a:lnTo>
                <a:lnTo>
                  <a:pt x="0" y="1921"/>
                </a:lnTo>
                <a:lnTo>
                  <a:pt x="15" y="1921"/>
                </a:lnTo>
                <a:close/>
                <a:moveTo>
                  <a:pt x="15" y="1949"/>
                </a:moveTo>
                <a:lnTo>
                  <a:pt x="15" y="1962"/>
                </a:lnTo>
                <a:lnTo>
                  <a:pt x="0" y="1962"/>
                </a:lnTo>
                <a:lnTo>
                  <a:pt x="0" y="1949"/>
                </a:lnTo>
                <a:lnTo>
                  <a:pt x="15" y="1949"/>
                </a:lnTo>
                <a:close/>
                <a:moveTo>
                  <a:pt x="15" y="1976"/>
                </a:moveTo>
                <a:lnTo>
                  <a:pt x="15" y="1990"/>
                </a:lnTo>
                <a:lnTo>
                  <a:pt x="0" y="1990"/>
                </a:lnTo>
                <a:lnTo>
                  <a:pt x="0" y="1976"/>
                </a:lnTo>
                <a:lnTo>
                  <a:pt x="15" y="1976"/>
                </a:lnTo>
                <a:close/>
                <a:moveTo>
                  <a:pt x="15" y="2004"/>
                </a:moveTo>
                <a:lnTo>
                  <a:pt x="15" y="2018"/>
                </a:lnTo>
                <a:lnTo>
                  <a:pt x="0" y="2018"/>
                </a:lnTo>
                <a:lnTo>
                  <a:pt x="0" y="2004"/>
                </a:lnTo>
                <a:lnTo>
                  <a:pt x="15" y="2004"/>
                </a:lnTo>
                <a:close/>
                <a:moveTo>
                  <a:pt x="15" y="2032"/>
                </a:moveTo>
                <a:lnTo>
                  <a:pt x="15" y="2046"/>
                </a:lnTo>
                <a:lnTo>
                  <a:pt x="0" y="2046"/>
                </a:lnTo>
                <a:lnTo>
                  <a:pt x="0" y="2032"/>
                </a:lnTo>
                <a:lnTo>
                  <a:pt x="15" y="2032"/>
                </a:lnTo>
                <a:close/>
                <a:moveTo>
                  <a:pt x="15" y="2060"/>
                </a:moveTo>
                <a:lnTo>
                  <a:pt x="15" y="2074"/>
                </a:lnTo>
                <a:lnTo>
                  <a:pt x="0" y="2074"/>
                </a:lnTo>
                <a:lnTo>
                  <a:pt x="0" y="2060"/>
                </a:lnTo>
                <a:lnTo>
                  <a:pt x="15" y="2060"/>
                </a:lnTo>
                <a:close/>
                <a:moveTo>
                  <a:pt x="15" y="2087"/>
                </a:moveTo>
                <a:lnTo>
                  <a:pt x="15" y="2102"/>
                </a:lnTo>
                <a:lnTo>
                  <a:pt x="0" y="2102"/>
                </a:lnTo>
                <a:lnTo>
                  <a:pt x="0" y="2087"/>
                </a:lnTo>
                <a:lnTo>
                  <a:pt x="15" y="2087"/>
                </a:lnTo>
                <a:close/>
                <a:moveTo>
                  <a:pt x="15" y="2116"/>
                </a:moveTo>
                <a:lnTo>
                  <a:pt x="15" y="2129"/>
                </a:lnTo>
                <a:lnTo>
                  <a:pt x="0" y="2129"/>
                </a:lnTo>
                <a:lnTo>
                  <a:pt x="0" y="2116"/>
                </a:lnTo>
                <a:lnTo>
                  <a:pt x="15" y="2116"/>
                </a:lnTo>
                <a:close/>
                <a:moveTo>
                  <a:pt x="15" y="2143"/>
                </a:moveTo>
                <a:lnTo>
                  <a:pt x="15" y="2157"/>
                </a:lnTo>
                <a:lnTo>
                  <a:pt x="0" y="2157"/>
                </a:lnTo>
                <a:lnTo>
                  <a:pt x="0" y="2143"/>
                </a:lnTo>
                <a:lnTo>
                  <a:pt x="15" y="2143"/>
                </a:lnTo>
                <a:close/>
                <a:moveTo>
                  <a:pt x="15" y="2171"/>
                </a:moveTo>
                <a:lnTo>
                  <a:pt x="15" y="2185"/>
                </a:lnTo>
                <a:lnTo>
                  <a:pt x="0" y="2185"/>
                </a:lnTo>
                <a:lnTo>
                  <a:pt x="0" y="2171"/>
                </a:lnTo>
                <a:lnTo>
                  <a:pt x="15" y="2171"/>
                </a:lnTo>
                <a:close/>
                <a:moveTo>
                  <a:pt x="15" y="2199"/>
                </a:moveTo>
                <a:lnTo>
                  <a:pt x="15" y="2213"/>
                </a:lnTo>
                <a:lnTo>
                  <a:pt x="0" y="2213"/>
                </a:lnTo>
                <a:lnTo>
                  <a:pt x="0" y="2199"/>
                </a:lnTo>
                <a:lnTo>
                  <a:pt x="15" y="2199"/>
                </a:lnTo>
                <a:close/>
                <a:moveTo>
                  <a:pt x="15" y="2227"/>
                </a:moveTo>
                <a:lnTo>
                  <a:pt x="15" y="2241"/>
                </a:lnTo>
                <a:lnTo>
                  <a:pt x="0" y="2241"/>
                </a:lnTo>
                <a:lnTo>
                  <a:pt x="0" y="2227"/>
                </a:lnTo>
                <a:lnTo>
                  <a:pt x="15" y="2227"/>
                </a:lnTo>
                <a:close/>
                <a:moveTo>
                  <a:pt x="15" y="2254"/>
                </a:moveTo>
                <a:lnTo>
                  <a:pt x="15" y="2268"/>
                </a:lnTo>
                <a:lnTo>
                  <a:pt x="0" y="2268"/>
                </a:lnTo>
                <a:lnTo>
                  <a:pt x="0" y="2254"/>
                </a:lnTo>
                <a:lnTo>
                  <a:pt x="15" y="2254"/>
                </a:lnTo>
                <a:close/>
                <a:moveTo>
                  <a:pt x="15" y="2283"/>
                </a:moveTo>
                <a:lnTo>
                  <a:pt x="15" y="2296"/>
                </a:lnTo>
                <a:lnTo>
                  <a:pt x="0" y="2296"/>
                </a:lnTo>
                <a:lnTo>
                  <a:pt x="0" y="2283"/>
                </a:lnTo>
                <a:lnTo>
                  <a:pt x="15" y="2283"/>
                </a:lnTo>
                <a:close/>
                <a:moveTo>
                  <a:pt x="15" y="2310"/>
                </a:moveTo>
                <a:lnTo>
                  <a:pt x="15" y="2324"/>
                </a:lnTo>
                <a:lnTo>
                  <a:pt x="0" y="2324"/>
                </a:lnTo>
                <a:lnTo>
                  <a:pt x="0" y="2310"/>
                </a:lnTo>
                <a:lnTo>
                  <a:pt x="15" y="2310"/>
                </a:lnTo>
                <a:close/>
                <a:moveTo>
                  <a:pt x="15" y="2338"/>
                </a:moveTo>
                <a:lnTo>
                  <a:pt x="15" y="2352"/>
                </a:lnTo>
                <a:lnTo>
                  <a:pt x="0" y="2352"/>
                </a:lnTo>
                <a:lnTo>
                  <a:pt x="0" y="2338"/>
                </a:lnTo>
                <a:lnTo>
                  <a:pt x="15" y="2338"/>
                </a:lnTo>
                <a:close/>
                <a:moveTo>
                  <a:pt x="15" y="2366"/>
                </a:moveTo>
                <a:lnTo>
                  <a:pt x="15" y="2380"/>
                </a:lnTo>
                <a:lnTo>
                  <a:pt x="0" y="2380"/>
                </a:lnTo>
                <a:lnTo>
                  <a:pt x="0" y="2366"/>
                </a:lnTo>
                <a:lnTo>
                  <a:pt x="15" y="2366"/>
                </a:lnTo>
                <a:close/>
                <a:moveTo>
                  <a:pt x="15" y="2394"/>
                </a:moveTo>
                <a:lnTo>
                  <a:pt x="15" y="2408"/>
                </a:lnTo>
                <a:lnTo>
                  <a:pt x="0" y="2408"/>
                </a:lnTo>
                <a:lnTo>
                  <a:pt x="0" y="2394"/>
                </a:lnTo>
                <a:lnTo>
                  <a:pt x="15" y="2394"/>
                </a:lnTo>
                <a:close/>
                <a:moveTo>
                  <a:pt x="15" y="2421"/>
                </a:moveTo>
                <a:lnTo>
                  <a:pt x="15" y="2435"/>
                </a:lnTo>
                <a:lnTo>
                  <a:pt x="0" y="2435"/>
                </a:lnTo>
                <a:lnTo>
                  <a:pt x="0" y="2421"/>
                </a:lnTo>
                <a:lnTo>
                  <a:pt x="15" y="2421"/>
                </a:lnTo>
                <a:close/>
                <a:moveTo>
                  <a:pt x="15" y="2449"/>
                </a:moveTo>
                <a:lnTo>
                  <a:pt x="15" y="2453"/>
                </a:lnTo>
                <a:lnTo>
                  <a:pt x="0" y="2453"/>
                </a:lnTo>
                <a:lnTo>
                  <a:pt x="0" y="2449"/>
                </a:lnTo>
                <a:lnTo>
                  <a:pt x="15" y="2449"/>
                </a:lnTo>
                <a:close/>
              </a:path>
            </a:pathLst>
          </a:custGeom>
          <a:solidFill>
            <a:srgbClr val="000000"/>
          </a:solidFill>
          <a:ln w="0" cap="flat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31" name="Freeform 28">
            <a:extLst>
              <a:ext uri="{FF2B5EF4-FFF2-40B4-BE49-F238E27FC236}">
                <a16:creationId xmlns:a16="http://schemas.microsoft.com/office/drawing/2014/main" id="{42A301AE-F035-4404-B66F-35DC5D26CF8D}"/>
              </a:ext>
            </a:extLst>
          </p:cNvPr>
          <p:cNvSpPr>
            <a:spLocks noEditPoints="1"/>
          </p:cNvSpPr>
          <p:nvPr/>
        </p:nvSpPr>
        <p:spPr bwMode="auto">
          <a:xfrm>
            <a:off x="4257310" y="2267962"/>
            <a:ext cx="22225" cy="3894138"/>
          </a:xfrm>
          <a:custGeom>
            <a:avLst/>
            <a:gdLst>
              <a:gd name="T0" fmla="*/ 14 w 14"/>
              <a:gd name="T1" fmla="*/ 42 h 2453"/>
              <a:gd name="T2" fmla="*/ 0 w 14"/>
              <a:gd name="T3" fmla="*/ 56 h 2453"/>
              <a:gd name="T4" fmla="*/ 14 w 14"/>
              <a:gd name="T5" fmla="*/ 112 h 2453"/>
              <a:gd name="T6" fmla="*/ 0 w 14"/>
              <a:gd name="T7" fmla="*/ 154 h 2453"/>
              <a:gd name="T8" fmla="*/ 14 w 14"/>
              <a:gd name="T9" fmla="*/ 167 h 2453"/>
              <a:gd name="T10" fmla="*/ 14 w 14"/>
              <a:gd name="T11" fmla="*/ 237 h 2453"/>
              <a:gd name="T12" fmla="*/ 0 w 14"/>
              <a:gd name="T13" fmla="*/ 251 h 2453"/>
              <a:gd name="T14" fmla="*/ 14 w 14"/>
              <a:gd name="T15" fmla="*/ 307 h 2453"/>
              <a:gd name="T16" fmla="*/ 0 w 14"/>
              <a:gd name="T17" fmla="*/ 348 h 2453"/>
              <a:gd name="T18" fmla="*/ 14 w 14"/>
              <a:gd name="T19" fmla="*/ 362 h 2453"/>
              <a:gd name="T20" fmla="*/ 14 w 14"/>
              <a:gd name="T21" fmla="*/ 432 h 2453"/>
              <a:gd name="T22" fmla="*/ 0 w 14"/>
              <a:gd name="T23" fmla="*/ 446 h 2453"/>
              <a:gd name="T24" fmla="*/ 14 w 14"/>
              <a:gd name="T25" fmla="*/ 501 h 2453"/>
              <a:gd name="T26" fmla="*/ 0 w 14"/>
              <a:gd name="T27" fmla="*/ 543 h 2453"/>
              <a:gd name="T28" fmla="*/ 14 w 14"/>
              <a:gd name="T29" fmla="*/ 557 h 2453"/>
              <a:gd name="T30" fmla="*/ 14 w 14"/>
              <a:gd name="T31" fmla="*/ 627 h 2453"/>
              <a:gd name="T32" fmla="*/ 0 w 14"/>
              <a:gd name="T33" fmla="*/ 641 h 2453"/>
              <a:gd name="T34" fmla="*/ 14 w 14"/>
              <a:gd name="T35" fmla="*/ 696 h 2453"/>
              <a:gd name="T36" fmla="*/ 0 w 14"/>
              <a:gd name="T37" fmla="*/ 738 h 2453"/>
              <a:gd name="T38" fmla="*/ 14 w 14"/>
              <a:gd name="T39" fmla="*/ 752 h 2453"/>
              <a:gd name="T40" fmla="*/ 14 w 14"/>
              <a:gd name="T41" fmla="*/ 822 h 2453"/>
              <a:gd name="T42" fmla="*/ 0 w 14"/>
              <a:gd name="T43" fmla="*/ 835 h 2453"/>
              <a:gd name="T44" fmla="*/ 14 w 14"/>
              <a:gd name="T45" fmla="*/ 891 h 2453"/>
              <a:gd name="T46" fmla="*/ 0 w 14"/>
              <a:gd name="T47" fmla="*/ 933 h 2453"/>
              <a:gd name="T48" fmla="*/ 14 w 14"/>
              <a:gd name="T49" fmla="*/ 947 h 2453"/>
              <a:gd name="T50" fmla="*/ 14 w 14"/>
              <a:gd name="T51" fmla="*/ 1016 h 2453"/>
              <a:gd name="T52" fmla="*/ 0 w 14"/>
              <a:gd name="T53" fmla="*/ 1030 h 2453"/>
              <a:gd name="T54" fmla="*/ 14 w 14"/>
              <a:gd name="T55" fmla="*/ 1086 h 2453"/>
              <a:gd name="T56" fmla="*/ 0 w 14"/>
              <a:gd name="T57" fmla="*/ 1127 h 2453"/>
              <a:gd name="T58" fmla="*/ 14 w 14"/>
              <a:gd name="T59" fmla="*/ 1141 h 2453"/>
              <a:gd name="T60" fmla="*/ 14 w 14"/>
              <a:gd name="T61" fmla="*/ 1211 h 2453"/>
              <a:gd name="T62" fmla="*/ 0 w 14"/>
              <a:gd name="T63" fmla="*/ 1225 h 2453"/>
              <a:gd name="T64" fmla="*/ 14 w 14"/>
              <a:gd name="T65" fmla="*/ 1281 h 2453"/>
              <a:gd name="T66" fmla="*/ 0 w 14"/>
              <a:gd name="T67" fmla="*/ 1322 h 2453"/>
              <a:gd name="T68" fmla="*/ 14 w 14"/>
              <a:gd name="T69" fmla="*/ 1336 h 2453"/>
              <a:gd name="T70" fmla="*/ 14 w 14"/>
              <a:gd name="T71" fmla="*/ 1406 h 2453"/>
              <a:gd name="T72" fmla="*/ 0 w 14"/>
              <a:gd name="T73" fmla="*/ 1420 h 2453"/>
              <a:gd name="T74" fmla="*/ 14 w 14"/>
              <a:gd name="T75" fmla="*/ 1475 h 2453"/>
              <a:gd name="T76" fmla="*/ 0 w 14"/>
              <a:gd name="T77" fmla="*/ 1517 h 2453"/>
              <a:gd name="T78" fmla="*/ 14 w 14"/>
              <a:gd name="T79" fmla="*/ 1531 h 2453"/>
              <a:gd name="T80" fmla="*/ 14 w 14"/>
              <a:gd name="T81" fmla="*/ 1601 h 2453"/>
              <a:gd name="T82" fmla="*/ 0 w 14"/>
              <a:gd name="T83" fmla="*/ 1615 h 2453"/>
              <a:gd name="T84" fmla="*/ 14 w 14"/>
              <a:gd name="T85" fmla="*/ 1670 h 2453"/>
              <a:gd name="T86" fmla="*/ 0 w 14"/>
              <a:gd name="T87" fmla="*/ 1712 h 2453"/>
              <a:gd name="T88" fmla="*/ 14 w 14"/>
              <a:gd name="T89" fmla="*/ 1726 h 2453"/>
              <a:gd name="T90" fmla="*/ 14 w 14"/>
              <a:gd name="T91" fmla="*/ 1795 h 2453"/>
              <a:gd name="T92" fmla="*/ 0 w 14"/>
              <a:gd name="T93" fmla="*/ 1809 h 2453"/>
              <a:gd name="T94" fmla="*/ 14 w 14"/>
              <a:gd name="T95" fmla="*/ 1865 h 2453"/>
              <a:gd name="T96" fmla="*/ 0 w 14"/>
              <a:gd name="T97" fmla="*/ 1907 h 2453"/>
              <a:gd name="T98" fmla="*/ 14 w 14"/>
              <a:gd name="T99" fmla="*/ 1921 h 2453"/>
              <a:gd name="T100" fmla="*/ 14 w 14"/>
              <a:gd name="T101" fmla="*/ 1990 h 2453"/>
              <a:gd name="T102" fmla="*/ 0 w 14"/>
              <a:gd name="T103" fmla="*/ 2004 h 2453"/>
              <a:gd name="T104" fmla="*/ 14 w 14"/>
              <a:gd name="T105" fmla="*/ 2060 h 2453"/>
              <a:gd name="T106" fmla="*/ 0 w 14"/>
              <a:gd name="T107" fmla="*/ 2102 h 2453"/>
              <a:gd name="T108" fmla="*/ 14 w 14"/>
              <a:gd name="T109" fmla="*/ 2116 h 2453"/>
              <a:gd name="T110" fmla="*/ 14 w 14"/>
              <a:gd name="T111" fmla="*/ 2185 h 2453"/>
              <a:gd name="T112" fmla="*/ 0 w 14"/>
              <a:gd name="T113" fmla="*/ 2199 h 2453"/>
              <a:gd name="T114" fmla="*/ 14 w 14"/>
              <a:gd name="T115" fmla="*/ 2254 h 2453"/>
              <a:gd name="T116" fmla="*/ 0 w 14"/>
              <a:gd name="T117" fmla="*/ 2296 h 2453"/>
              <a:gd name="T118" fmla="*/ 14 w 14"/>
              <a:gd name="T119" fmla="*/ 2310 h 2453"/>
              <a:gd name="T120" fmla="*/ 14 w 14"/>
              <a:gd name="T121" fmla="*/ 2380 h 2453"/>
              <a:gd name="T122" fmla="*/ 0 w 14"/>
              <a:gd name="T123" fmla="*/ 2394 h 2453"/>
              <a:gd name="T124" fmla="*/ 14 w 14"/>
              <a:gd name="T125" fmla="*/ 2449 h 24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14" h="2453">
                <a:moveTo>
                  <a:pt x="14" y="0"/>
                </a:moveTo>
                <a:lnTo>
                  <a:pt x="14" y="14"/>
                </a:lnTo>
                <a:lnTo>
                  <a:pt x="0" y="14"/>
                </a:lnTo>
                <a:lnTo>
                  <a:pt x="0" y="0"/>
                </a:lnTo>
                <a:lnTo>
                  <a:pt x="14" y="0"/>
                </a:lnTo>
                <a:close/>
                <a:moveTo>
                  <a:pt x="14" y="28"/>
                </a:moveTo>
                <a:lnTo>
                  <a:pt x="14" y="42"/>
                </a:lnTo>
                <a:lnTo>
                  <a:pt x="0" y="42"/>
                </a:lnTo>
                <a:lnTo>
                  <a:pt x="0" y="28"/>
                </a:lnTo>
                <a:lnTo>
                  <a:pt x="14" y="28"/>
                </a:lnTo>
                <a:close/>
                <a:moveTo>
                  <a:pt x="14" y="56"/>
                </a:moveTo>
                <a:lnTo>
                  <a:pt x="14" y="70"/>
                </a:lnTo>
                <a:lnTo>
                  <a:pt x="0" y="70"/>
                </a:lnTo>
                <a:lnTo>
                  <a:pt x="0" y="56"/>
                </a:lnTo>
                <a:lnTo>
                  <a:pt x="14" y="56"/>
                </a:lnTo>
                <a:close/>
                <a:moveTo>
                  <a:pt x="14" y="84"/>
                </a:moveTo>
                <a:lnTo>
                  <a:pt x="14" y="98"/>
                </a:lnTo>
                <a:lnTo>
                  <a:pt x="0" y="98"/>
                </a:lnTo>
                <a:lnTo>
                  <a:pt x="0" y="84"/>
                </a:lnTo>
                <a:lnTo>
                  <a:pt x="14" y="84"/>
                </a:lnTo>
                <a:close/>
                <a:moveTo>
                  <a:pt x="14" y="112"/>
                </a:moveTo>
                <a:lnTo>
                  <a:pt x="14" y="126"/>
                </a:lnTo>
                <a:lnTo>
                  <a:pt x="0" y="126"/>
                </a:lnTo>
                <a:lnTo>
                  <a:pt x="0" y="112"/>
                </a:lnTo>
                <a:lnTo>
                  <a:pt x="14" y="112"/>
                </a:lnTo>
                <a:close/>
                <a:moveTo>
                  <a:pt x="14" y="140"/>
                </a:moveTo>
                <a:lnTo>
                  <a:pt x="14" y="154"/>
                </a:lnTo>
                <a:lnTo>
                  <a:pt x="0" y="154"/>
                </a:lnTo>
                <a:lnTo>
                  <a:pt x="0" y="140"/>
                </a:lnTo>
                <a:lnTo>
                  <a:pt x="14" y="140"/>
                </a:lnTo>
                <a:close/>
                <a:moveTo>
                  <a:pt x="14" y="167"/>
                </a:moveTo>
                <a:lnTo>
                  <a:pt x="14" y="181"/>
                </a:lnTo>
                <a:lnTo>
                  <a:pt x="0" y="181"/>
                </a:lnTo>
                <a:lnTo>
                  <a:pt x="0" y="167"/>
                </a:lnTo>
                <a:lnTo>
                  <a:pt x="14" y="167"/>
                </a:lnTo>
                <a:close/>
                <a:moveTo>
                  <a:pt x="14" y="195"/>
                </a:moveTo>
                <a:lnTo>
                  <a:pt x="14" y="209"/>
                </a:lnTo>
                <a:lnTo>
                  <a:pt x="0" y="209"/>
                </a:lnTo>
                <a:lnTo>
                  <a:pt x="0" y="195"/>
                </a:lnTo>
                <a:lnTo>
                  <a:pt x="14" y="195"/>
                </a:lnTo>
                <a:close/>
                <a:moveTo>
                  <a:pt x="14" y="223"/>
                </a:moveTo>
                <a:lnTo>
                  <a:pt x="14" y="237"/>
                </a:lnTo>
                <a:lnTo>
                  <a:pt x="0" y="237"/>
                </a:lnTo>
                <a:lnTo>
                  <a:pt x="0" y="223"/>
                </a:lnTo>
                <a:lnTo>
                  <a:pt x="14" y="223"/>
                </a:lnTo>
                <a:close/>
                <a:moveTo>
                  <a:pt x="14" y="251"/>
                </a:moveTo>
                <a:lnTo>
                  <a:pt x="14" y="265"/>
                </a:lnTo>
                <a:lnTo>
                  <a:pt x="0" y="265"/>
                </a:lnTo>
                <a:lnTo>
                  <a:pt x="0" y="251"/>
                </a:lnTo>
                <a:lnTo>
                  <a:pt x="14" y="251"/>
                </a:lnTo>
                <a:close/>
                <a:moveTo>
                  <a:pt x="14" y="279"/>
                </a:moveTo>
                <a:lnTo>
                  <a:pt x="14" y="293"/>
                </a:lnTo>
                <a:lnTo>
                  <a:pt x="0" y="293"/>
                </a:lnTo>
                <a:lnTo>
                  <a:pt x="0" y="279"/>
                </a:lnTo>
                <a:lnTo>
                  <a:pt x="14" y="279"/>
                </a:lnTo>
                <a:close/>
                <a:moveTo>
                  <a:pt x="14" y="307"/>
                </a:moveTo>
                <a:lnTo>
                  <a:pt x="14" y="321"/>
                </a:lnTo>
                <a:lnTo>
                  <a:pt x="0" y="321"/>
                </a:lnTo>
                <a:lnTo>
                  <a:pt x="0" y="307"/>
                </a:lnTo>
                <a:lnTo>
                  <a:pt x="14" y="307"/>
                </a:lnTo>
                <a:close/>
                <a:moveTo>
                  <a:pt x="14" y="334"/>
                </a:moveTo>
                <a:lnTo>
                  <a:pt x="14" y="348"/>
                </a:lnTo>
                <a:lnTo>
                  <a:pt x="0" y="348"/>
                </a:lnTo>
                <a:lnTo>
                  <a:pt x="0" y="334"/>
                </a:lnTo>
                <a:lnTo>
                  <a:pt x="14" y="334"/>
                </a:lnTo>
                <a:close/>
                <a:moveTo>
                  <a:pt x="14" y="362"/>
                </a:moveTo>
                <a:lnTo>
                  <a:pt x="14" y="376"/>
                </a:lnTo>
                <a:lnTo>
                  <a:pt x="0" y="376"/>
                </a:lnTo>
                <a:lnTo>
                  <a:pt x="0" y="362"/>
                </a:lnTo>
                <a:lnTo>
                  <a:pt x="14" y="362"/>
                </a:lnTo>
                <a:close/>
                <a:moveTo>
                  <a:pt x="14" y="390"/>
                </a:moveTo>
                <a:lnTo>
                  <a:pt x="14" y="404"/>
                </a:lnTo>
                <a:lnTo>
                  <a:pt x="0" y="404"/>
                </a:lnTo>
                <a:lnTo>
                  <a:pt x="0" y="390"/>
                </a:lnTo>
                <a:lnTo>
                  <a:pt x="14" y="390"/>
                </a:lnTo>
                <a:close/>
                <a:moveTo>
                  <a:pt x="14" y="418"/>
                </a:moveTo>
                <a:lnTo>
                  <a:pt x="14" y="432"/>
                </a:lnTo>
                <a:lnTo>
                  <a:pt x="0" y="432"/>
                </a:lnTo>
                <a:lnTo>
                  <a:pt x="0" y="418"/>
                </a:lnTo>
                <a:lnTo>
                  <a:pt x="14" y="418"/>
                </a:lnTo>
                <a:close/>
                <a:moveTo>
                  <a:pt x="14" y="446"/>
                </a:moveTo>
                <a:lnTo>
                  <a:pt x="14" y="460"/>
                </a:lnTo>
                <a:lnTo>
                  <a:pt x="0" y="460"/>
                </a:lnTo>
                <a:lnTo>
                  <a:pt x="0" y="446"/>
                </a:lnTo>
                <a:lnTo>
                  <a:pt x="14" y="446"/>
                </a:lnTo>
                <a:close/>
                <a:moveTo>
                  <a:pt x="14" y="474"/>
                </a:moveTo>
                <a:lnTo>
                  <a:pt x="14" y="488"/>
                </a:lnTo>
                <a:lnTo>
                  <a:pt x="0" y="488"/>
                </a:lnTo>
                <a:lnTo>
                  <a:pt x="0" y="474"/>
                </a:lnTo>
                <a:lnTo>
                  <a:pt x="14" y="474"/>
                </a:lnTo>
                <a:close/>
                <a:moveTo>
                  <a:pt x="14" y="501"/>
                </a:moveTo>
                <a:lnTo>
                  <a:pt x="14" y="515"/>
                </a:lnTo>
                <a:lnTo>
                  <a:pt x="0" y="515"/>
                </a:lnTo>
                <a:lnTo>
                  <a:pt x="0" y="501"/>
                </a:lnTo>
                <a:lnTo>
                  <a:pt x="14" y="501"/>
                </a:lnTo>
                <a:close/>
                <a:moveTo>
                  <a:pt x="14" y="529"/>
                </a:moveTo>
                <a:lnTo>
                  <a:pt x="14" y="543"/>
                </a:lnTo>
                <a:lnTo>
                  <a:pt x="0" y="543"/>
                </a:lnTo>
                <a:lnTo>
                  <a:pt x="0" y="529"/>
                </a:lnTo>
                <a:lnTo>
                  <a:pt x="14" y="529"/>
                </a:lnTo>
                <a:close/>
                <a:moveTo>
                  <a:pt x="14" y="557"/>
                </a:moveTo>
                <a:lnTo>
                  <a:pt x="14" y="571"/>
                </a:lnTo>
                <a:lnTo>
                  <a:pt x="0" y="571"/>
                </a:lnTo>
                <a:lnTo>
                  <a:pt x="0" y="557"/>
                </a:lnTo>
                <a:lnTo>
                  <a:pt x="14" y="557"/>
                </a:lnTo>
                <a:close/>
                <a:moveTo>
                  <a:pt x="14" y="585"/>
                </a:moveTo>
                <a:lnTo>
                  <a:pt x="14" y="599"/>
                </a:lnTo>
                <a:lnTo>
                  <a:pt x="0" y="599"/>
                </a:lnTo>
                <a:lnTo>
                  <a:pt x="0" y="585"/>
                </a:lnTo>
                <a:lnTo>
                  <a:pt x="14" y="585"/>
                </a:lnTo>
                <a:close/>
                <a:moveTo>
                  <a:pt x="14" y="613"/>
                </a:moveTo>
                <a:lnTo>
                  <a:pt x="14" y="627"/>
                </a:lnTo>
                <a:lnTo>
                  <a:pt x="0" y="627"/>
                </a:lnTo>
                <a:lnTo>
                  <a:pt x="0" y="613"/>
                </a:lnTo>
                <a:lnTo>
                  <a:pt x="14" y="613"/>
                </a:lnTo>
                <a:close/>
                <a:moveTo>
                  <a:pt x="14" y="641"/>
                </a:moveTo>
                <a:lnTo>
                  <a:pt x="14" y="655"/>
                </a:lnTo>
                <a:lnTo>
                  <a:pt x="0" y="655"/>
                </a:lnTo>
                <a:lnTo>
                  <a:pt x="0" y="641"/>
                </a:lnTo>
                <a:lnTo>
                  <a:pt x="14" y="641"/>
                </a:lnTo>
                <a:close/>
                <a:moveTo>
                  <a:pt x="14" y="668"/>
                </a:moveTo>
                <a:lnTo>
                  <a:pt x="14" y="682"/>
                </a:lnTo>
                <a:lnTo>
                  <a:pt x="0" y="682"/>
                </a:lnTo>
                <a:lnTo>
                  <a:pt x="0" y="668"/>
                </a:lnTo>
                <a:lnTo>
                  <a:pt x="14" y="668"/>
                </a:lnTo>
                <a:close/>
                <a:moveTo>
                  <a:pt x="14" y="696"/>
                </a:moveTo>
                <a:lnTo>
                  <a:pt x="14" y="710"/>
                </a:lnTo>
                <a:lnTo>
                  <a:pt x="0" y="710"/>
                </a:lnTo>
                <a:lnTo>
                  <a:pt x="0" y="696"/>
                </a:lnTo>
                <a:lnTo>
                  <a:pt x="14" y="696"/>
                </a:lnTo>
                <a:close/>
                <a:moveTo>
                  <a:pt x="14" y="724"/>
                </a:moveTo>
                <a:lnTo>
                  <a:pt x="14" y="738"/>
                </a:lnTo>
                <a:lnTo>
                  <a:pt x="0" y="738"/>
                </a:lnTo>
                <a:lnTo>
                  <a:pt x="0" y="724"/>
                </a:lnTo>
                <a:lnTo>
                  <a:pt x="14" y="724"/>
                </a:lnTo>
                <a:close/>
                <a:moveTo>
                  <a:pt x="14" y="752"/>
                </a:moveTo>
                <a:lnTo>
                  <a:pt x="14" y="766"/>
                </a:lnTo>
                <a:lnTo>
                  <a:pt x="0" y="766"/>
                </a:lnTo>
                <a:lnTo>
                  <a:pt x="0" y="752"/>
                </a:lnTo>
                <a:lnTo>
                  <a:pt x="14" y="752"/>
                </a:lnTo>
                <a:close/>
                <a:moveTo>
                  <a:pt x="14" y="780"/>
                </a:moveTo>
                <a:lnTo>
                  <a:pt x="14" y="793"/>
                </a:lnTo>
                <a:lnTo>
                  <a:pt x="0" y="793"/>
                </a:lnTo>
                <a:lnTo>
                  <a:pt x="0" y="780"/>
                </a:lnTo>
                <a:lnTo>
                  <a:pt x="14" y="780"/>
                </a:lnTo>
                <a:close/>
                <a:moveTo>
                  <a:pt x="14" y="808"/>
                </a:moveTo>
                <a:lnTo>
                  <a:pt x="14" y="822"/>
                </a:lnTo>
                <a:lnTo>
                  <a:pt x="0" y="822"/>
                </a:lnTo>
                <a:lnTo>
                  <a:pt x="0" y="808"/>
                </a:lnTo>
                <a:lnTo>
                  <a:pt x="14" y="808"/>
                </a:lnTo>
                <a:close/>
                <a:moveTo>
                  <a:pt x="14" y="835"/>
                </a:moveTo>
                <a:lnTo>
                  <a:pt x="14" y="849"/>
                </a:lnTo>
                <a:lnTo>
                  <a:pt x="0" y="849"/>
                </a:lnTo>
                <a:lnTo>
                  <a:pt x="0" y="835"/>
                </a:lnTo>
                <a:lnTo>
                  <a:pt x="14" y="835"/>
                </a:lnTo>
                <a:close/>
                <a:moveTo>
                  <a:pt x="14" y="863"/>
                </a:moveTo>
                <a:lnTo>
                  <a:pt x="14" y="877"/>
                </a:lnTo>
                <a:lnTo>
                  <a:pt x="0" y="877"/>
                </a:lnTo>
                <a:lnTo>
                  <a:pt x="0" y="863"/>
                </a:lnTo>
                <a:lnTo>
                  <a:pt x="14" y="863"/>
                </a:lnTo>
                <a:close/>
                <a:moveTo>
                  <a:pt x="14" y="891"/>
                </a:moveTo>
                <a:lnTo>
                  <a:pt x="14" y="905"/>
                </a:lnTo>
                <a:lnTo>
                  <a:pt x="0" y="905"/>
                </a:lnTo>
                <a:lnTo>
                  <a:pt x="0" y="891"/>
                </a:lnTo>
                <a:lnTo>
                  <a:pt x="14" y="891"/>
                </a:lnTo>
                <a:close/>
                <a:moveTo>
                  <a:pt x="14" y="919"/>
                </a:moveTo>
                <a:lnTo>
                  <a:pt x="14" y="933"/>
                </a:lnTo>
                <a:lnTo>
                  <a:pt x="0" y="933"/>
                </a:lnTo>
                <a:lnTo>
                  <a:pt x="0" y="919"/>
                </a:lnTo>
                <a:lnTo>
                  <a:pt x="14" y="919"/>
                </a:lnTo>
                <a:close/>
                <a:moveTo>
                  <a:pt x="14" y="947"/>
                </a:moveTo>
                <a:lnTo>
                  <a:pt x="14" y="960"/>
                </a:lnTo>
                <a:lnTo>
                  <a:pt x="0" y="960"/>
                </a:lnTo>
                <a:lnTo>
                  <a:pt x="0" y="947"/>
                </a:lnTo>
                <a:lnTo>
                  <a:pt x="14" y="947"/>
                </a:lnTo>
                <a:close/>
                <a:moveTo>
                  <a:pt x="14" y="974"/>
                </a:moveTo>
                <a:lnTo>
                  <a:pt x="14" y="988"/>
                </a:lnTo>
                <a:lnTo>
                  <a:pt x="0" y="988"/>
                </a:lnTo>
                <a:lnTo>
                  <a:pt x="0" y="974"/>
                </a:lnTo>
                <a:lnTo>
                  <a:pt x="14" y="974"/>
                </a:lnTo>
                <a:close/>
                <a:moveTo>
                  <a:pt x="14" y="1002"/>
                </a:moveTo>
                <a:lnTo>
                  <a:pt x="14" y="1016"/>
                </a:lnTo>
                <a:lnTo>
                  <a:pt x="0" y="1016"/>
                </a:lnTo>
                <a:lnTo>
                  <a:pt x="0" y="1002"/>
                </a:lnTo>
                <a:lnTo>
                  <a:pt x="14" y="1002"/>
                </a:lnTo>
                <a:close/>
                <a:moveTo>
                  <a:pt x="14" y="1030"/>
                </a:moveTo>
                <a:lnTo>
                  <a:pt x="14" y="1044"/>
                </a:lnTo>
                <a:lnTo>
                  <a:pt x="0" y="1044"/>
                </a:lnTo>
                <a:lnTo>
                  <a:pt x="0" y="1030"/>
                </a:lnTo>
                <a:lnTo>
                  <a:pt x="14" y="1030"/>
                </a:lnTo>
                <a:close/>
                <a:moveTo>
                  <a:pt x="14" y="1058"/>
                </a:moveTo>
                <a:lnTo>
                  <a:pt x="14" y="1072"/>
                </a:lnTo>
                <a:lnTo>
                  <a:pt x="0" y="1072"/>
                </a:lnTo>
                <a:lnTo>
                  <a:pt x="0" y="1058"/>
                </a:lnTo>
                <a:lnTo>
                  <a:pt x="14" y="1058"/>
                </a:lnTo>
                <a:close/>
                <a:moveTo>
                  <a:pt x="14" y="1086"/>
                </a:moveTo>
                <a:lnTo>
                  <a:pt x="14" y="1100"/>
                </a:lnTo>
                <a:lnTo>
                  <a:pt x="0" y="1100"/>
                </a:lnTo>
                <a:lnTo>
                  <a:pt x="0" y="1086"/>
                </a:lnTo>
                <a:lnTo>
                  <a:pt x="14" y="1086"/>
                </a:lnTo>
                <a:close/>
                <a:moveTo>
                  <a:pt x="14" y="1114"/>
                </a:moveTo>
                <a:lnTo>
                  <a:pt x="14" y="1127"/>
                </a:lnTo>
                <a:lnTo>
                  <a:pt x="0" y="1127"/>
                </a:lnTo>
                <a:lnTo>
                  <a:pt x="0" y="1114"/>
                </a:lnTo>
                <a:lnTo>
                  <a:pt x="14" y="1114"/>
                </a:lnTo>
                <a:close/>
                <a:moveTo>
                  <a:pt x="14" y="1141"/>
                </a:moveTo>
                <a:lnTo>
                  <a:pt x="14" y="1155"/>
                </a:lnTo>
                <a:lnTo>
                  <a:pt x="0" y="1155"/>
                </a:lnTo>
                <a:lnTo>
                  <a:pt x="0" y="1141"/>
                </a:lnTo>
                <a:lnTo>
                  <a:pt x="14" y="1141"/>
                </a:lnTo>
                <a:close/>
                <a:moveTo>
                  <a:pt x="14" y="1169"/>
                </a:moveTo>
                <a:lnTo>
                  <a:pt x="14" y="1183"/>
                </a:lnTo>
                <a:lnTo>
                  <a:pt x="0" y="1183"/>
                </a:lnTo>
                <a:lnTo>
                  <a:pt x="0" y="1169"/>
                </a:lnTo>
                <a:lnTo>
                  <a:pt x="14" y="1169"/>
                </a:lnTo>
                <a:close/>
                <a:moveTo>
                  <a:pt x="14" y="1197"/>
                </a:moveTo>
                <a:lnTo>
                  <a:pt x="14" y="1211"/>
                </a:lnTo>
                <a:lnTo>
                  <a:pt x="0" y="1211"/>
                </a:lnTo>
                <a:lnTo>
                  <a:pt x="0" y="1197"/>
                </a:lnTo>
                <a:lnTo>
                  <a:pt x="14" y="1197"/>
                </a:lnTo>
                <a:close/>
                <a:moveTo>
                  <a:pt x="14" y="1225"/>
                </a:moveTo>
                <a:lnTo>
                  <a:pt x="14" y="1239"/>
                </a:lnTo>
                <a:lnTo>
                  <a:pt x="0" y="1239"/>
                </a:lnTo>
                <a:lnTo>
                  <a:pt x="0" y="1225"/>
                </a:lnTo>
                <a:lnTo>
                  <a:pt x="14" y="1225"/>
                </a:lnTo>
                <a:close/>
                <a:moveTo>
                  <a:pt x="14" y="1253"/>
                </a:moveTo>
                <a:lnTo>
                  <a:pt x="14" y="1267"/>
                </a:lnTo>
                <a:lnTo>
                  <a:pt x="0" y="1267"/>
                </a:lnTo>
                <a:lnTo>
                  <a:pt x="0" y="1253"/>
                </a:lnTo>
                <a:lnTo>
                  <a:pt x="14" y="1253"/>
                </a:lnTo>
                <a:close/>
                <a:moveTo>
                  <a:pt x="14" y="1281"/>
                </a:moveTo>
                <a:lnTo>
                  <a:pt x="14" y="1294"/>
                </a:lnTo>
                <a:lnTo>
                  <a:pt x="0" y="1294"/>
                </a:lnTo>
                <a:lnTo>
                  <a:pt x="0" y="1281"/>
                </a:lnTo>
                <a:lnTo>
                  <a:pt x="14" y="1281"/>
                </a:lnTo>
                <a:close/>
                <a:moveTo>
                  <a:pt x="14" y="1308"/>
                </a:moveTo>
                <a:lnTo>
                  <a:pt x="14" y="1322"/>
                </a:lnTo>
                <a:lnTo>
                  <a:pt x="0" y="1322"/>
                </a:lnTo>
                <a:lnTo>
                  <a:pt x="0" y="1308"/>
                </a:lnTo>
                <a:lnTo>
                  <a:pt x="14" y="1308"/>
                </a:lnTo>
                <a:close/>
                <a:moveTo>
                  <a:pt x="14" y="1336"/>
                </a:moveTo>
                <a:lnTo>
                  <a:pt x="14" y="1350"/>
                </a:lnTo>
                <a:lnTo>
                  <a:pt x="0" y="1350"/>
                </a:lnTo>
                <a:lnTo>
                  <a:pt x="0" y="1336"/>
                </a:lnTo>
                <a:lnTo>
                  <a:pt x="14" y="1336"/>
                </a:lnTo>
                <a:close/>
                <a:moveTo>
                  <a:pt x="14" y="1364"/>
                </a:moveTo>
                <a:lnTo>
                  <a:pt x="14" y="1378"/>
                </a:lnTo>
                <a:lnTo>
                  <a:pt x="0" y="1378"/>
                </a:lnTo>
                <a:lnTo>
                  <a:pt x="0" y="1364"/>
                </a:lnTo>
                <a:lnTo>
                  <a:pt x="14" y="1364"/>
                </a:lnTo>
                <a:close/>
                <a:moveTo>
                  <a:pt x="14" y="1392"/>
                </a:moveTo>
                <a:lnTo>
                  <a:pt x="14" y="1406"/>
                </a:lnTo>
                <a:lnTo>
                  <a:pt x="0" y="1406"/>
                </a:lnTo>
                <a:lnTo>
                  <a:pt x="0" y="1392"/>
                </a:lnTo>
                <a:lnTo>
                  <a:pt x="14" y="1392"/>
                </a:lnTo>
                <a:close/>
                <a:moveTo>
                  <a:pt x="14" y="1420"/>
                </a:moveTo>
                <a:lnTo>
                  <a:pt x="14" y="1434"/>
                </a:lnTo>
                <a:lnTo>
                  <a:pt x="0" y="1434"/>
                </a:lnTo>
                <a:lnTo>
                  <a:pt x="0" y="1420"/>
                </a:lnTo>
                <a:lnTo>
                  <a:pt x="14" y="1420"/>
                </a:lnTo>
                <a:close/>
                <a:moveTo>
                  <a:pt x="14" y="1448"/>
                </a:moveTo>
                <a:lnTo>
                  <a:pt x="14" y="1461"/>
                </a:lnTo>
                <a:lnTo>
                  <a:pt x="0" y="1461"/>
                </a:lnTo>
                <a:lnTo>
                  <a:pt x="0" y="1448"/>
                </a:lnTo>
                <a:lnTo>
                  <a:pt x="14" y="1448"/>
                </a:lnTo>
                <a:close/>
                <a:moveTo>
                  <a:pt x="14" y="1475"/>
                </a:moveTo>
                <a:lnTo>
                  <a:pt x="14" y="1489"/>
                </a:lnTo>
                <a:lnTo>
                  <a:pt x="0" y="1489"/>
                </a:lnTo>
                <a:lnTo>
                  <a:pt x="0" y="1475"/>
                </a:lnTo>
                <a:lnTo>
                  <a:pt x="14" y="1475"/>
                </a:lnTo>
                <a:close/>
                <a:moveTo>
                  <a:pt x="14" y="1503"/>
                </a:moveTo>
                <a:lnTo>
                  <a:pt x="14" y="1517"/>
                </a:lnTo>
                <a:lnTo>
                  <a:pt x="0" y="1517"/>
                </a:lnTo>
                <a:lnTo>
                  <a:pt x="0" y="1503"/>
                </a:lnTo>
                <a:lnTo>
                  <a:pt x="14" y="1503"/>
                </a:lnTo>
                <a:close/>
                <a:moveTo>
                  <a:pt x="14" y="1531"/>
                </a:moveTo>
                <a:lnTo>
                  <a:pt x="14" y="1545"/>
                </a:lnTo>
                <a:lnTo>
                  <a:pt x="0" y="1545"/>
                </a:lnTo>
                <a:lnTo>
                  <a:pt x="0" y="1531"/>
                </a:lnTo>
                <a:lnTo>
                  <a:pt x="14" y="1531"/>
                </a:lnTo>
                <a:close/>
                <a:moveTo>
                  <a:pt x="14" y="1559"/>
                </a:moveTo>
                <a:lnTo>
                  <a:pt x="14" y="1573"/>
                </a:lnTo>
                <a:lnTo>
                  <a:pt x="0" y="1573"/>
                </a:lnTo>
                <a:lnTo>
                  <a:pt x="0" y="1559"/>
                </a:lnTo>
                <a:lnTo>
                  <a:pt x="14" y="1559"/>
                </a:lnTo>
                <a:close/>
                <a:moveTo>
                  <a:pt x="14" y="1587"/>
                </a:moveTo>
                <a:lnTo>
                  <a:pt x="14" y="1601"/>
                </a:lnTo>
                <a:lnTo>
                  <a:pt x="0" y="1601"/>
                </a:lnTo>
                <a:lnTo>
                  <a:pt x="0" y="1587"/>
                </a:lnTo>
                <a:lnTo>
                  <a:pt x="14" y="1587"/>
                </a:lnTo>
                <a:close/>
                <a:moveTo>
                  <a:pt x="14" y="1615"/>
                </a:moveTo>
                <a:lnTo>
                  <a:pt x="14" y="1628"/>
                </a:lnTo>
                <a:lnTo>
                  <a:pt x="0" y="1628"/>
                </a:lnTo>
                <a:lnTo>
                  <a:pt x="0" y="1615"/>
                </a:lnTo>
                <a:lnTo>
                  <a:pt x="14" y="1615"/>
                </a:lnTo>
                <a:close/>
                <a:moveTo>
                  <a:pt x="14" y="1642"/>
                </a:moveTo>
                <a:lnTo>
                  <a:pt x="14" y="1656"/>
                </a:lnTo>
                <a:lnTo>
                  <a:pt x="0" y="1656"/>
                </a:lnTo>
                <a:lnTo>
                  <a:pt x="0" y="1642"/>
                </a:lnTo>
                <a:lnTo>
                  <a:pt x="14" y="1642"/>
                </a:lnTo>
                <a:close/>
                <a:moveTo>
                  <a:pt x="14" y="1670"/>
                </a:moveTo>
                <a:lnTo>
                  <a:pt x="14" y="1684"/>
                </a:lnTo>
                <a:lnTo>
                  <a:pt x="0" y="1684"/>
                </a:lnTo>
                <a:lnTo>
                  <a:pt x="0" y="1670"/>
                </a:lnTo>
                <a:lnTo>
                  <a:pt x="14" y="1670"/>
                </a:lnTo>
                <a:close/>
                <a:moveTo>
                  <a:pt x="14" y="1698"/>
                </a:moveTo>
                <a:lnTo>
                  <a:pt x="14" y="1712"/>
                </a:lnTo>
                <a:lnTo>
                  <a:pt x="0" y="1712"/>
                </a:lnTo>
                <a:lnTo>
                  <a:pt x="0" y="1698"/>
                </a:lnTo>
                <a:lnTo>
                  <a:pt x="14" y="1698"/>
                </a:lnTo>
                <a:close/>
                <a:moveTo>
                  <a:pt x="14" y="1726"/>
                </a:moveTo>
                <a:lnTo>
                  <a:pt x="14" y="1740"/>
                </a:lnTo>
                <a:lnTo>
                  <a:pt x="0" y="1740"/>
                </a:lnTo>
                <a:lnTo>
                  <a:pt x="0" y="1726"/>
                </a:lnTo>
                <a:lnTo>
                  <a:pt x="14" y="1726"/>
                </a:lnTo>
                <a:close/>
                <a:moveTo>
                  <a:pt x="14" y="1754"/>
                </a:moveTo>
                <a:lnTo>
                  <a:pt x="14" y="1768"/>
                </a:lnTo>
                <a:lnTo>
                  <a:pt x="0" y="1768"/>
                </a:lnTo>
                <a:lnTo>
                  <a:pt x="0" y="1754"/>
                </a:lnTo>
                <a:lnTo>
                  <a:pt x="14" y="1754"/>
                </a:lnTo>
                <a:close/>
                <a:moveTo>
                  <a:pt x="14" y="1782"/>
                </a:moveTo>
                <a:lnTo>
                  <a:pt x="14" y="1795"/>
                </a:lnTo>
                <a:lnTo>
                  <a:pt x="0" y="1795"/>
                </a:lnTo>
                <a:lnTo>
                  <a:pt x="0" y="1782"/>
                </a:lnTo>
                <a:lnTo>
                  <a:pt x="14" y="1782"/>
                </a:lnTo>
                <a:close/>
                <a:moveTo>
                  <a:pt x="14" y="1809"/>
                </a:moveTo>
                <a:lnTo>
                  <a:pt x="14" y="1823"/>
                </a:lnTo>
                <a:lnTo>
                  <a:pt x="0" y="1823"/>
                </a:lnTo>
                <a:lnTo>
                  <a:pt x="0" y="1809"/>
                </a:lnTo>
                <a:lnTo>
                  <a:pt x="14" y="1809"/>
                </a:lnTo>
                <a:close/>
                <a:moveTo>
                  <a:pt x="14" y="1837"/>
                </a:moveTo>
                <a:lnTo>
                  <a:pt x="14" y="1851"/>
                </a:lnTo>
                <a:lnTo>
                  <a:pt x="0" y="1851"/>
                </a:lnTo>
                <a:lnTo>
                  <a:pt x="0" y="1837"/>
                </a:lnTo>
                <a:lnTo>
                  <a:pt x="14" y="1837"/>
                </a:lnTo>
                <a:close/>
                <a:moveTo>
                  <a:pt x="14" y="1865"/>
                </a:moveTo>
                <a:lnTo>
                  <a:pt x="14" y="1879"/>
                </a:lnTo>
                <a:lnTo>
                  <a:pt x="0" y="1879"/>
                </a:lnTo>
                <a:lnTo>
                  <a:pt x="0" y="1865"/>
                </a:lnTo>
                <a:lnTo>
                  <a:pt x="14" y="1865"/>
                </a:lnTo>
                <a:close/>
                <a:moveTo>
                  <a:pt x="14" y="1893"/>
                </a:moveTo>
                <a:lnTo>
                  <a:pt x="14" y="1907"/>
                </a:lnTo>
                <a:lnTo>
                  <a:pt x="0" y="1907"/>
                </a:lnTo>
                <a:lnTo>
                  <a:pt x="0" y="1893"/>
                </a:lnTo>
                <a:lnTo>
                  <a:pt x="14" y="1893"/>
                </a:lnTo>
                <a:close/>
                <a:moveTo>
                  <a:pt x="14" y="1921"/>
                </a:moveTo>
                <a:lnTo>
                  <a:pt x="14" y="1935"/>
                </a:lnTo>
                <a:lnTo>
                  <a:pt x="0" y="1935"/>
                </a:lnTo>
                <a:lnTo>
                  <a:pt x="0" y="1921"/>
                </a:lnTo>
                <a:lnTo>
                  <a:pt x="14" y="1921"/>
                </a:lnTo>
                <a:close/>
                <a:moveTo>
                  <a:pt x="14" y="1949"/>
                </a:moveTo>
                <a:lnTo>
                  <a:pt x="14" y="1962"/>
                </a:lnTo>
                <a:lnTo>
                  <a:pt x="0" y="1962"/>
                </a:lnTo>
                <a:lnTo>
                  <a:pt x="0" y="1949"/>
                </a:lnTo>
                <a:lnTo>
                  <a:pt x="14" y="1949"/>
                </a:lnTo>
                <a:close/>
                <a:moveTo>
                  <a:pt x="14" y="1976"/>
                </a:moveTo>
                <a:lnTo>
                  <a:pt x="14" y="1990"/>
                </a:lnTo>
                <a:lnTo>
                  <a:pt x="0" y="1990"/>
                </a:lnTo>
                <a:lnTo>
                  <a:pt x="0" y="1976"/>
                </a:lnTo>
                <a:lnTo>
                  <a:pt x="14" y="1976"/>
                </a:lnTo>
                <a:close/>
                <a:moveTo>
                  <a:pt x="14" y="2004"/>
                </a:moveTo>
                <a:lnTo>
                  <a:pt x="14" y="2018"/>
                </a:lnTo>
                <a:lnTo>
                  <a:pt x="0" y="2018"/>
                </a:lnTo>
                <a:lnTo>
                  <a:pt x="0" y="2004"/>
                </a:lnTo>
                <a:lnTo>
                  <a:pt x="14" y="2004"/>
                </a:lnTo>
                <a:close/>
                <a:moveTo>
                  <a:pt x="14" y="2032"/>
                </a:moveTo>
                <a:lnTo>
                  <a:pt x="14" y="2046"/>
                </a:lnTo>
                <a:lnTo>
                  <a:pt x="0" y="2046"/>
                </a:lnTo>
                <a:lnTo>
                  <a:pt x="0" y="2032"/>
                </a:lnTo>
                <a:lnTo>
                  <a:pt x="14" y="2032"/>
                </a:lnTo>
                <a:close/>
                <a:moveTo>
                  <a:pt x="14" y="2060"/>
                </a:moveTo>
                <a:lnTo>
                  <a:pt x="14" y="2074"/>
                </a:lnTo>
                <a:lnTo>
                  <a:pt x="0" y="2074"/>
                </a:lnTo>
                <a:lnTo>
                  <a:pt x="0" y="2060"/>
                </a:lnTo>
                <a:lnTo>
                  <a:pt x="14" y="2060"/>
                </a:lnTo>
                <a:close/>
                <a:moveTo>
                  <a:pt x="14" y="2087"/>
                </a:moveTo>
                <a:lnTo>
                  <a:pt x="14" y="2102"/>
                </a:lnTo>
                <a:lnTo>
                  <a:pt x="0" y="2102"/>
                </a:lnTo>
                <a:lnTo>
                  <a:pt x="0" y="2087"/>
                </a:lnTo>
                <a:lnTo>
                  <a:pt x="14" y="2087"/>
                </a:lnTo>
                <a:close/>
                <a:moveTo>
                  <a:pt x="14" y="2116"/>
                </a:moveTo>
                <a:lnTo>
                  <a:pt x="14" y="2129"/>
                </a:lnTo>
                <a:lnTo>
                  <a:pt x="0" y="2129"/>
                </a:lnTo>
                <a:lnTo>
                  <a:pt x="0" y="2116"/>
                </a:lnTo>
                <a:lnTo>
                  <a:pt x="14" y="2116"/>
                </a:lnTo>
                <a:close/>
                <a:moveTo>
                  <a:pt x="14" y="2143"/>
                </a:moveTo>
                <a:lnTo>
                  <a:pt x="14" y="2157"/>
                </a:lnTo>
                <a:lnTo>
                  <a:pt x="0" y="2157"/>
                </a:lnTo>
                <a:lnTo>
                  <a:pt x="0" y="2143"/>
                </a:lnTo>
                <a:lnTo>
                  <a:pt x="14" y="2143"/>
                </a:lnTo>
                <a:close/>
                <a:moveTo>
                  <a:pt x="14" y="2171"/>
                </a:moveTo>
                <a:lnTo>
                  <a:pt x="14" y="2185"/>
                </a:lnTo>
                <a:lnTo>
                  <a:pt x="0" y="2185"/>
                </a:lnTo>
                <a:lnTo>
                  <a:pt x="0" y="2171"/>
                </a:lnTo>
                <a:lnTo>
                  <a:pt x="14" y="2171"/>
                </a:lnTo>
                <a:close/>
                <a:moveTo>
                  <a:pt x="14" y="2199"/>
                </a:moveTo>
                <a:lnTo>
                  <a:pt x="14" y="2213"/>
                </a:lnTo>
                <a:lnTo>
                  <a:pt x="0" y="2213"/>
                </a:lnTo>
                <a:lnTo>
                  <a:pt x="0" y="2199"/>
                </a:lnTo>
                <a:lnTo>
                  <a:pt x="14" y="2199"/>
                </a:lnTo>
                <a:close/>
                <a:moveTo>
                  <a:pt x="14" y="2227"/>
                </a:moveTo>
                <a:lnTo>
                  <a:pt x="14" y="2241"/>
                </a:lnTo>
                <a:lnTo>
                  <a:pt x="0" y="2241"/>
                </a:lnTo>
                <a:lnTo>
                  <a:pt x="0" y="2227"/>
                </a:lnTo>
                <a:lnTo>
                  <a:pt x="14" y="2227"/>
                </a:lnTo>
                <a:close/>
                <a:moveTo>
                  <a:pt x="14" y="2254"/>
                </a:moveTo>
                <a:lnTo>
                  <a:pt x="14" y="2268"/>
                </a:lnTo>
                <a:lnTo>
                  <a:pt x="0" y="2268"/>
                </a:lnTo>
                <a:lnTo>
                  <a:pt x="0" y="2254"/>
                </a:lnTo>
                <a:lnTo>
                  <a:pt x="14" y="2254"/>
                </a:lnTo>
                <a:close/>
                <a:moveTo>
                  <a:pt x="14" y="2283"/>
                </a:moveTo>
                <a:lnTo>
                  <a:pt x="14" y="2296"/>
                </a:lnTo>
                <a:lnTo>
                  <a:pt x="0" y="2296"/>
                </a:lnTo>
                <a:lnTo>
                  <a:pt x="0" y="2283"/>
                </a:lnTo>
                <a:lnTo>
                  <a:pt x="14" y="2283"/>
                </a:lnTo>
                <a:close/>
                <a:moveTo>
                  <a:pt x="14" y="2310"/>
                </a:moveTo>
                <a:lnTo>
                  <a:pt x="14" y="2324"/>
                </a:lnTo>
                <a:lnTo>
                  <a:pt x="0" y="2324"/>
                </a:lnTo>
                <a:lnTo>
                  <a:pt x="0" y="2310"/>
                </a:lnTo>
                <a:lnTo>
                  <a:pt x="14" y="2310"/>
                </a:lnTo>
                <a:close/>
                <a:moveTo>
                  <a:pt x="14" y="2338"/>
                </a:moveTo>
                <a:lnTo>
                  <a:pt x="14" y="2352"/>
                </a:lnTo>
                <a:lnTo>
                  <a:pt x="0" y="2352"/>
                </a:lnTo>
                <a:lnTo>
                  <a:pt x="0" y="2338"/>
                </a:lnTo>
                <a:lnTo>
                  <a:pt x="14" y="2338"/>
                </a:lnTo>
                <a:close/>
                <a:moveTo>
                  <a:pt x="14" y="2366"/>
                </a:moveTo>
                <a:lnTo>
                  <a:pt x="14" y="2380"/>
                </a:lnTo>
                <a:lnTo>
                  <a:pt x="0" y="2380"/>
                </a:lnTo>
                <a:lnTo>
                  <a:pt x="0" y="2366"/>
                </a:lnTo>
                <a:lnTo>
                  <a:pt x="14" y="2366"/>
                </a:lnTo>
                <a:close/>
                <a:moveTo>
                  <a:pt x="14" y="2394"/>
                </a:moveTo>
                <a:lnTo>
                  <a:pt x="14" y="2408"/>
                </a:lnTo>
                <a:lnTo>
                  <a:pt x="0" y="2408"/>
                </a:lnTo>
                <a:lnTo>
                  <a:pt x="0" y="2394"/>
                </a:lnTo>
                <a:lnTo>
                  <a:pt x="14" y="2394"/>
                </a:lnTo>
                <a:close/>
                <a:moveTo>
                  <a:pt x="14" y="2421"/>
                </a:moveTo>
                <a:lnTo>
                  <a:pt x="14" y="2435"/>
                </a:lnTo>
                <a:lnTo>
                  <a:pt x="0" y="2435"/>
                </a:lnTo>
                <a:lnTo>
                  <a:pt x="0" y="2421"/>
                </a:lnTo>
                <a:lnTo>
                  <a:pt x="14" y="2421"/>
                </a:lnTo>
                <a:close/>
                <a:moveTo>
                  <a:pt x="14" y="2449"/>
                </a:moveTo>
                <a:lnTo>
                  <a:pt x="14" y="2453"/>
                </a:lnTo>
                <a:lnTo>
                  <a:pt x="0" y="2453"/>
                </a:lnTo>
                <a:lnTo>
                  <a:pt x="0" y="2449"/>
                </a:lnTo>
                <a:lnTo>
                  <a:pt x="14" y="2449"/>
                </a:lnTo>
                <a:close/>
              </a:path>
            </a:pathLst>
          </a:custGeom>
          <a:solidFill>
            <a:srgbClr val="000000"/>
          </a:solidFill>
          <a:ln w="0" cap="flat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32" name="Freeform 29">
            <a:extLst>
              <a:ext uri="{FF2B5EF4-FFF2-40B4-BE49-F238E27FC236}">
                <a16:creationId xmlns:a16="http://schemas.microsoft.com/office/drawing/2014/main" id="{CD1A6A61-3A6B-48BF-8531-EB12B88EAD20}"/>
              </a:ext>
            </a:extLst>
          </p:cNvPr>
          <p:cNvSpPr>
            <a:spLocks noEditPoints="1"/>
          </p:cNvSpPr>
          <p:nvPr/>
        </p:nvSpPr>
        <p:spPr bwMode="auto">
          <a:xfrm>
            <a:off x="4871673" y="2267962"/>
            <a:ext cx="23813" cy="3894138"/>
          </a:xfrm>
          <a:custGeom>
            <a:avLst/>
            <a:gdLst>
              <a:gd name="T0" fmla="*/ 15 w 15"/>
              <a:gd name="T1" fmla="*/ 42 h 2453"/>
              <a:gd name="T2" fmla="*/ 0 w 15"/>
              <a:gd name="T3" fmla="*/ 56 h 2453"/>
              <a:gd name="T4" fmla="*/ 15 w 15"/>
              <a:gd name="T5" fmla="*/ 112 h 2453"/>
              <a:gd name="T6" fmla="*/ 0 w 15"/>
              <a:gd name="T7" fmla="*/ 154 h 2453"/>
              <a:gd name="T8" fmla="*/ 15 w 15"/>
              <a:gd name="T9" fmla="*/ 167 h 2453"/>
              <a:gd name="T10" fmla="*/ 15 w 15"/>
              <a:gd name="T11" fmla="*/ 237 h 2453"/>
              <a:gd name="T12" fmla="*/ 0 w 15"/>
              <a:gd name="T13" fmla="*/ 251 h 2453"/>
              <a:gd name="T14" fmla="*/ 15 w 15"/>
              <a:gd name="T15" fmla="*/ 307 h 2453"/>
              <a:gd name="T16" fmla="*/ 0 w 15"/>
              <a:gd name="T17" fmla="*/ 348 h 2453"/>
              <a:gd name="T18" fmla="*/ 15 w 15"/>
              <a:gd name="T19" fmla="*/ 362 h 2453"/>
              <a:gd name="T20" fmla="*/ 15 w 15"/>
              <a:gd name="T21" fmla="*/ 432 h 2453"/>
              <a:gd name="T22" fmla="*/ 0 w 15"/>
              <a:gd name="T23" fmla="*/ 446 h 2453"/>
              <a:gd name="T24" fmla="*/ 15 w 15"/>
              <a:gd name="T25" fmla="*/ 501 h 2453"/>
              <a:gd name="T26" fmla="*/ 0 w 15"/>
              <a:gd name="T27" fmla="*/ 543 h 2453"/>
              <a:gd name="T28" fmla="*/ 15 w 15"/>
              <a:gd name="T29" fmla="*/ 557 h 2453"/>
              <a:gd name="T30" fmla="*/ 15 w 15"/>
              <a:gd name="T31" fmla="*/ 627 h 2453"/>
              <a:gd name="T32" fmla="*/ 0 w 15"/>
              <a:gd name="T33" fmla="*/ 641 h 2453"/>
              <a:gd name="T34" fmla="*/ 15 w 15"/>
              <a:gd name="T35" fmla="*/ 696 h 2453"/>
              <a:gd name="T36" fmla="*/ 0 w 15"/>
              <a:gd name="T37" fmla="*/ 738 h 2453"/>
              <a:gd name="T38" fmla="*/ 15 w 15"/>
              <a:gd name="T39" fmla="*/ 752 h 2453"/>
              <a:gd name="T40" fmla="*/ 15 w 15"/>
              <a:gd name="T41" fmla="*/ 822 h 2453"/>
              <a:gd name="T42" fmla="*/ 0 w 15"/>
              <a:gd name="T43" fmla="*/ 835 h 2453"/>
              <a:gd name="T44" fmla="*/ 15 w 15"/>
              <a:gd name="T45" fmla="*/ 891 h 2453"/>
              <a:gd name="T46" fmla="*/ 0 w 15"/>
              <a:gd name="T47" fmla="*/ 933 h 2453"/>
              <a:gd name="T48" fmla="*/ 15 w 15"/>
              <a:gd name="T49" fmla="*/ 947 h 2453"/>
              <a:gd name="T50" fmla="*/ 15 w 15"/>
              <a:gd name="T51" fmla="*/ 1016 h 2453"/>
              <a:gd name="T52" fmla="*/ 0 w 15"/>
              <a:gd name="T53" fmla="*/ 1030 h 2453"/>
              <a:gd name="T54" fmla="*/ 15 w 15"/>
              <a:gd name="T55" fmla="*/ 1086 h 2453"/>
              <a:gd name="T56" fmla="*/ 0 w 15"/>
              <a:gd name="T57" fmla="*/ 1127 h 2453"/>
              <a:gd name="T58" fmla="*/ 15 w 15"/>
              <a:gd name="T59" fmla="*/ 1141 h 2453"/>
              <a:gd name="T60" fmla="*/ 15 w 15"/>
              <a:gd name="T61" fmla="*/ 1211 h 2453"/>
              <a:gd name="T62" fmla="*/ 0 w 15"/>
              <a:gd name="T63" fmla="*/ 1225 h 2453"/>
              <a:gd name="T64" fmla="*/ 15 w 15"/>
              <a:gd name="T65" fmla="*/ 1281 h 2453"/>
              <a:gd name="T66" fmla="*/ 0 w 15"/>
              <a:gd name="T67" fmla="*/ 1322 h 2453"/>
              <a:gd name="T68" fmla="*/ 15 w 15"/>
              <a:gd name="T69" fmla="*/ 1336 h 2453"/>
              <a:gd name="T70" fmla="*/ 15 w 15"/>
              <a:gd name="T71" fmla="*/ 1406 h 2453"/>
              <a:gd name="T72" fmla="*/ 0 w 15"/>
              <a:gd name="T73" fmla="*/ 1420 h 2453"/>
              <a:gd name="T74" fmla="*/ 15 w 15"/>
              <a:gd name="T75" fmla="*/ 1475 h 2453"/>
              <a:gd name="T76" fmla="*/ 0 w 15"/>
              <a:gd name="T77" fmla="*/ 1517 h 2453"/>
              <a:gd name="T78" fmla="*/ 15 w 15"/>
              <a:gd name="T79" fmla="*/ 1531 h 2453"/>
              <a:gd name="T80" fmla="*/ 15 w 15"/>
              <a:gd name="T81" fmla="*/ 1601 h 2453"/>
              <a:gd name="T82" fmla="*/ 0 w 15"/>
              <a:gd name="T83" fmla="*/ 1615 h 2453"/>
              <a:gd name="T84" fmla="*/ 15 w 15"/>
              <a:gd name="T85" fmla="*/ 1670 h 2453"/>
              <a:gd name="T86" fmla="*/ 0 w 15"/>
              <a:gd name="T87" fmla="*/ 1712 h 2453"/>
              <a:gd name="T88" fmla="*/ 15 w 15"/>
              <a:gd name="T89" fmla="*/ 1726 h 2453"/>
              <a:gd name="T90" fmla="*/ 15 w 15"/>
              <a:gd name="T91" fmla="*/ 1795 h 2453"/>
              <a:gd name="T92" fmla="*/ 0 w 15"/>
              <a:gd name="T93" fmla="*/ 1809 h 2453"/>
              <a:gd name="T94" fmla="*/ 15 w 15"/>
              <a:gd name="T95" fmla="*/ 1865 h 2453"/>
              <a:gd name="T96" fmla="*/ 0 w 15"/>
              <a:gd name="T97" fmla="*/ 1907 h 2453"/>
              <a:gd name="T98" fmla="*/ 15 w 15"/>
              <a:gd name="T99" fmla="*/ 1921 h 2453"/>
              <a:gd name="T100" fmla="*/ 15 w 15"/>
              <a:gd name="T101" fmla="*/ 1990 h 2453"/>
              <a:gd name="T102" fmla="*/ 0 w 15"/>
              <a:gd name="T103" fmla="*/ 2004 h 2453"/>
              <a:gd name="T104" fmla="*/ 15 w 15"/>
              <a:gd name="T105" fmla="*/ 2060 h 2453"/>
              <a:gd name="T106" fmla="*/ 0 w 15"/>
              <a:gd name="T107" fmla="*/ 2102 h 2453"/>
              <a:gd name="T108" fmla="*/ 15 w 15"/>
              <a:gd name="T109" fmla="*/ 2116 h 2453"/>
              <a:gd name="T110" fmla="*/ 15 w 15"/>
              <a:gd name="T111" fmla="*/ 2185 h 2453"/>
              <a:gd name="T112" fmla="*/ 0 w 15"/>
              <a:gd name="T113" fmla="*/ 2199 h 2453"/>
              <a:gd name="T114" fmla="*/ 15 w 15"/>
              <a:gd name="T115" fmla="*/ 2254 h 2453"/>
              <a:gd name="T116" fmla="*/ 0 w 15"/>
              <a:gd name="T117" fmla="*/ 2296 h 2453"/>
              <a:gd name="T118" fmla="*/ 15 w 15"/>
              <a:gd name="T119" fmla="*/ 2310 h 2453"/>
              <a:gd name="T120" fmla="*/ 15 w 15"/>
              <a:gd name="T121" fmla="*/ 2380 h 2453"/>
              <a:gd name="T122" fmla="*/ 0 w 15"/>
              <a:gd name="T123" fmla="*/ 2394 h 2453"/>
              <a:gd name="T124" fmla="*/ 15 w 15"/>
              <a:gd name="T125" fmla="*/ 2449 h 24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15" h="2453">
                <a:moveTo>
                  <a:pt x="15" y="0"/>
                </a:moveTo>
                <a:lnTo>
                  <a:pt x="15" y="14"/>
                </a:lnTo>
                <a:lnTo>
                  <a:pt x="0" y="14"/>
                </a:lnTo>
                <a:lnTo>
                  <a:pt x="0" y="0"/>
                </a:lnTo>
                <a:lnTo>
                  <a:pt x="15" y="0"/>
                </a:lnTo>
                <a:close/>
                <a:moveTo>
                  <a:pt x="15" y="28"/>
                </a:moveTo>
                <a:lnTo>
                  <a:pt x="15" y="42"/>
                </a:lnTo>
                <a:lnTo>
                  <a:pt x="0" y="42"/>
                </a:lnTo>
                <a:lnTo>
                  <a:pt x="0" y="28"/>
                </a:lnTo>
                <a:lnTo>
                  <a:pt x="15" y="28"/>
                </a:lnTo>
                <a:close/>
                <a:moveTo>
                  <a:pt x="15" y="56"/>
                </a:moveTo>
                <a:lnTo>
                  <a:pt x="15" y="70"/>
                </a:lnTo>
                <a:lnTo>
                  <a:pt x="0" y="70"/>
                </a:lnTo>
                <a:lnTo>
                  <a:pt x="0" y="56"/>
                </a:lnTo>
                <a:lnTo>
                  <a:pt x="15" y="56"/>
                </a:lnTo>
                <a:close/>
                <a:moveTo>
                  <a:pt x="15" y="84"/>
                </a:moveTo>
                <a:lnTo>
                  <a:pt x="15" y="98"/>
                </a:lnTo>
                <a:lnTo>
                  <a:pt x="0" y="98"/>
                </a:lnTo>
                <a:lnTo>
                  <a:pt x="0" y="84"/>
                </a:lnTo>
                <a:lnTo>
                  <a:pt x="15" y="84"/>
                </a:lnTo>
                <a:close/>
                <a:moveTo>
                  <a:pt x="15" y="112"/>
                </a:moveTo>
                <a:lnTo>
                  <a:pt x="15" y="126"/>
                </a:lnTo>
                <a:lnTo>
                  <a:pt x="0" y="126"/>
                </a:lnTo>
                <a:lnTo>
                  <a:pt x="0" y="112"/>
                </a:lnTo>
                <a:lnTo>
                  <a:pt x="15" y="112"/>
                </a:lnTo>
                <a:close/>
                <a:moveTo>
                  <a:pt x="15" y="140"/>
                </a:moveTo>
                <a:lnTo>
                  <a:pt x="15" y="154"/>
                </a:lnTo>
                <a:lnTo>
                  <a:pt x="0" y="154"/>
                </a:lnTo>
                <a:lnTo>
                  <a:pt x="0" y="140"/>
                </a:lnTo>
                <a:lnTo>
                  <a:pt x="15" y="140"/>
                </a:lnTo>
                <a:close/>
                <a:moveTo>
                  <a:pt x="15" y="167"/>
                </a:moveTo>
                <a:lnTo>
                  <a:pt x="15" y="181"/>
                </a:lnTo>
                <a:lnTo>
                  <a:pt x="0" y="181"/>
                </a:lnTo>
                <a:lnTo>
                  <a:pt x="0" y="167"/>
                </a:lnTo>
                <a:lnTo>
                  <a:pt x="15" y="167"/>
                </a:lnTo>
                <a:close/>
                <a:moveTo>
                  <a:pt x="15" y="195"/>
                </a:moveTo>
                <a:lnTo>
                  <a:pt x="15" y="209"/>
                </a:lnTo>
                <a:lnTo>
                  <a:pt x="0" y="209"/>
                </a:lnTo>
                <a:lnTo>
                  <a:pt x="0" y="195"/>
                </a:lnTo>
                <a:lnTo>
                  <a:pt x="15" y="195"/>
                </a:lnTo>
                <a:close/>
                <a:moveTo>
                  <a:pt x="15" y="223"/>
                </a:moveTo>
                <a:lnTo>
                  <a:pt x="15" y="237"/>
                </a:lnTo>
                <a:lnTo>
                  <a:pt x="0" y="237"/>
                </a:lnTo>
                <a:lnTo>
                  <a:pt x="0" y="223"/>
                </a:lnTo>
                <a:lnTo>
                  <a:pt x="15" y="223"/>
                </a:lnTo>
                <a:close/>
                <a:moveTo>
                  <a:pt x="15" y="251"/>
                </a:moveTo>
                <a:lnTo>
                  <a:pt x="15" y="265"/>
                </a:lnTo>
                <a:lnTo>
                  <a:pt x="0" y="265"/>
                </a:lnTo>
                <a:lnTo>
                  <a:pt x="0" y="251"/>
                </a:lnTo>
                <a:lnTo>
                  <a:pt x="15" y="251"/>
                </a:lnTo>
                <a:close/>
                <a:moveTo>
                  <a:pt x="15" y="279"/>
                </a:moveTo>
                <a:lnTo>
                  <a:pt x="15" y="293"/>
                </a:lnTo>
                <a:lnTo>
                  <a:pt x="0" y="293"/>
                </a:lnTo>
                <a:lnTo>
                  <a:pt x="0" y="279"/>
                </a:lnTo>
                <a:lnTo>
                  <a:pt x="15" y="279"/>
                </a:lnTo>
                <a:close/>
                <a:moveTo>
                  <a:pt x="15" y="307"/>
                </a:moveTo>
                <a:lnTo>
                  <a:pt x="15" y="321"/>
                </a:lnTo>
                <a:lnTo>
                  <a:pt x="0" y="321"/>
                </a:lnTo>
                <a:lnTo>
                  <a:pt x="0" y="307"/>
                </a:lnTo>
                <a:lnTo>
                  <a:pt x="15" y="307"/>
                </a:lnTo>
                <a:close/>
                <a:moveTo>
                  <a:pt x="15" y="334"/>
                </a:moveTo>
                <a:lnTo>
                  <a:pt x="15" y="348"/>
                </a:lnTo>
                <a:lnTo>
                  <a:pt x="0" y="348"/>
                </a:lnTo>
                <a:lnTo>
                  <a:pt x="0" y="334"/>
                </a:lnTo>
                <a:lnTo>
                  <a:pt x="15" y="334"/>
                </a:lnTo>
                <a:close/>
                <a:moveTo>
                  <a:pt x="15" y="362"/>
                </a:moveTo>
                <a:lnTo>
                  <a:pt x="15" y="376"/>
                </a:lnTo>
                <a:lnTo>
                  <a:pt x="0" y="376"/>
                </a:lnTo>
                <a:lnTo>
                  <a:pt x="0" y="362"/>
                </a:lnTo>
                <a:lnTo>
                  <a:pt x="15" y="362"/>
                </a:lnTo>
                <a:close/>
                <a:moveTo>
                  <a:pt x="15" y="390"/>
                </a:moveTo>
                <a:lnTo>
                  <a:pt x="15" y="404"/>
                </a:lnTo>
                <a:lnTo>
                  <a:pt x="0" y="404"/>
                </a:lnTo>
                <a:lnTo>
                  <a:pt x="0" y="390"/>
                </a:lnTo>
                <a:lnTo>
                  <a:pt x="15" y="390"/>
                </a:lnTo>
                <a:close/>
                <a:moveTo>
                  <a:pt x="15" y="418"/>
                </a:moveTo>
                <a:lnTo>
                  <a:pt x="15" y="432"/>
                </a:lnTo>
                <a:lnTo>
                  <a:pt x="0" y="432"/>
                </a:lnTo>
                <a:lnTo>
                  <a:pt x="0" y="418"/>
                </a:lnTo>
                <a:lnTo>
                  <a:pt x="15" y="418"/>
                </a:lnTo>
                <a:close/>
                <a:moveTo>
                  <a:pt x="15" y="446"/>
                </a:moveTo>
                <a:lnTo>
                  <a:pt x="15" y="460"/>
                </a:lnTo>
                <a:lnTo>
                  <a:pt x="0" y="460"/>
                </a:lnTo>
                <a:lnTo>
                  <a:pt x="0" y="446"/>
                </a:lnTo>
                <a:lnTo>
                  <a:pt x="15" y="446"/>
                </a:lnTo>
                <a:close/>
                <a:moveTo>
                  <a:pt x="15" y="474"/>
                </a:moveTo>
                <a:lnTo>
                  <a:pt x="15" y="488"/>
                </a:lnTo>
                <a:lnTo>
                  <a:pt x="0" y="488"/>
                </a:lnTo>
                <a:lnTo>
                  <a:pt x="0" y="474"/>
                </a:lnTo>
                <a:lnTo>
                  <a:pt x="15" y="474"/>
                </a:lnTo>
                <a:close/>
                <a:moveTo>
                  <a:pt x="15" y="501"/>
                </a:moveTo>
                <a:lnTo>
                  <a:pt x="15" y="515"/>
                </a:lnTo>
                <a:lnTo>
                  <a:pt x="0" y="515"/>
                </a:lnTo>
                <a:lnTo>
                  <a:pt x="0" y="501"/>
                </a:lnTo>
                <a:lnTo>
                  <a:pt x="15" y="501"/>
                </a:lnTo>
                <a:close/>
                <a:moveTo>
                  <a:pt x="15" y="529"/>
                </a:moveTo>
                <a:lnTo>
                  <a:pt x="15" y="543"/>
                </a:lnTo>
                <a:lnTo>
                  <a:pt x="0" y="543"/>
                </a:lnTo>
                <a:lnTo>
                  <a:pt x="0" y="529"/>
                </a:lnTo>
                <a:lnTo>
                  <a:pt x="15" y="529"/>
                </a:lnTo>
                <a:close/>
                <a:moveTo>
                  <a:pt x="15" y="557"/>
                </a:moveTo>
                <a:lnTo>
                  <a:pt x="15" y="571"/>
                </a:lnTo>
                <a:lnTo>
                  <a:pt x="0" y="571"/>
                </a:lnTo>
                <a:lnTo>
                  <a:pt x="0" y="557"/>
                </a:lnTo>
                <a:lnTo>
                  <a:pt x="15" y="557"/>
                </a:lnTo>
                <a:close/>
                <a:moveTo>
                  <a:pt x="15" y="585"/>
                </a:moveTo>
                <a:lnTo>
                  <a:pt x="15" y="599"/>
                </a:lnTo>
                <a:lnTo>
                  <a:pt x="0" y="599"/>
                </a:lnTo>
                <a:lnTo>
                  <a:pt x="0" y="585"/>
                </a:lnTo>
                <a:lnTo>
                  <a:pt x="15" y="585"/>
                </a:lnTo>
                <a:close/>
                <a:moveTo>
                  <a:pt x="15" y="613"/>
                </a:moveTo>
                <a:lnTo>
                  <a:pt x="15" y="627"/>
                </a:lnTo>
                <a:lnTo>
                  <a:pt x="0" y="627"/>
                </a:lnTo>
                <a:lnTo>
                  <a:pt x="0" y="613"/>
                </a:lnTo>
                <a:lnTo>
                  <a:pt x="15" y="613"/>
                </a:lnTo>
                <a:close/>
                <a:moveTo>
                  <a:pt x="15" y="641"/>
                </a:moveTo>
                <a:lnTo>
                  <a:pt x="15" y="655"/>
                </a:lnTo>
                <a:lnTo>
                  <a:pt x="0" y="655"/>
                </a:lnTo>
                <a:lnTo>
                  <a:pt x="0" y="641"/>
                </a:lnTo>
                <a:lnTo>
                  <a:pt x="15" y="641"/>
                </a:lnTo>
                <a:close/>
                <a:moveTo>
                  <a:pt x="15" y="668"/>
                </a:moveTo>
                <a:lnTo>
                  <a:pt x="15" y="682"/>
                </a:lnTo>
                <a:lnTo>
                  <a:pt x="0" y="682"/>
                </a:lnTo>
                <a:lnTo>
                  <a:pt x="0" y="668"/>
                </a:lnTo>
                <a:lnTo>
                  <a:pt x="15" y="668"/>
                </a:lnTo>
                <a:close/>
                <a:moveTo>
                  <a:pt x="15" y="696"/>
                </a:moveTo>
                <a:lnTo>
                  <a:pt x="15" y="710"/>
                </a:lnTo>
                <a:lnTo>
                  <a:pt x="0" y="710"/>
                </a:lnTo>
                <a:lnTo>
                  <a:pt x="0" y="696"/>
                </a:lnTo>
                <a:lnTo>
                  <a:pt x="15" y="696"/>
                </a:lnTo>
                <a:close/>
                <a:moveTo>
                  <a:pt x="15" y="724"/>
                </a:moveTo>
                <a:lnTo>
                  <a:pt x="15" y="738"/>
                </a:lnTo>
                <a:lnTo>
                  <a:pt x="0" y="738"/>
                </a:lnTo>
                <a:lnTo>
                  <a:pt x="0" y="724"/>
                </a:lnTo>
                <a:lnTo>
                  <a:pt x="15" y="724"/>
                </a:lnTo>
                <a:close/>
                <a:moveTo>
                  <a:pt x="15" y="752"/>
                </a:moveTo>
                <a:lnTo>
                  <a:pt x="15" y="766"/>
                </a:lnTo>
                <a:lnTo>
                  <a:pt x="0" y="766"/>
                </a:lnTo>
                <a:lnTo>
                  <a:pt x="0" y="752"/>
                </a:lnTo>
                <a:lnTo>
                  <a:pt x="15" y="752"/>
                </a:lnTo>
                <a:close/>
                <a:moveTo>
                  <a:pt x="15" y="780"/>
                </a:moveTo>
                <a:lnTo>
                  <a:pt x="15" y="793"/>
                </a:lnTo>
                <a:lnTo>
                  <a:pt x="0" y="793"/>
                </a:lnTo>
                <a:lnTo>
                  <a:pt x="0" y="780"/>
                </a:lnTo>
                <a:lnTo>
                  <a:pt x="15" y="780"/>
                </a:lnTo>
                <a:close/>
                <a:moveTo>
                  <a:pt x="15" y="808"/>
                </a:moveTo>
                <a:lnTo>
                  <a:pt x="15" y="822"/>
                </a:lnTo>
                <a:lnTo>
                  <a:pt x="0" y="822"/>
                </a:lnTo>
                <a:lnTo>
                  <a:pt x="0" y="808"/>
                </a:lnTo>
                <a:lnTo>
                  <a:pt x="15" y="808"/>
                </a:lnTo>
                <a:close/>
                <a:moveTo>
                  <a:pt x="15" y="835"/>
                </a:moveTo>
                <a:lnTo>
                  <a:pt x="15" y="849"/>
                </a:lnTo>
                <a:lnTo>
                  <a:pt x="0" y="849"/>
                </a:lnTo>
                <a:lnTo>
                  <a:pt x="0" y="835"/>
                </a:lnTo>
                <a:lnTo>
                  <a:pt x="15" y="835"/>
                </a:lnTo>
                <a:close/>
                <a:moveTo>
                  <a:pt x="15" y="863"/>
                </a:moveTo>
                <a:lnTo>
                  <a:pt x="15" y="877"/>
                </a:lnTo>
                <a:lnTo>
                  <a:pt x="0" y="877"/>
                </a:lnTo>
                <a:lnTo>
                  <a:pt x="0" y="863"/>
                </a:lnTo>
                <a:lnTo>
                  <a:pt x="15" y="863"/>
                </a:lnTo>
                <a:close/>
                <a:moveTo>
                  <a:pt x="15" y="891"/>
                </a:moveTo>
                <a:lnTo>
                  <a:pt x="15" y="905"/>
                </a:lnTo>
                <a:lnTo>
                  <a:pt x="0" y="905"/>
                </a:lnTo>
                <a:lnTo>
                  <a:pt x="0" y="891"/>
                </a:lnTo>
                <a:lnTo>
                  <a:pt x="15" y="891"/>
                </a:lnTo>
                <a:close/>
                <a:moveTo>
                  <a:pt x="15" y="919"/>
                </a:moveTo>
                <a:lnTo>
                  <a:pt x="15" y="933"/>
                </a:lnTo>
                <a:lnTo>
                  <a:pt x="0" y="933"/>
                </a:lnTo>
                <a:lnTo>
                  <a:pt x="0" y="919"/>
                </a:lnTo>
                <a:lnTo>
                  <a:pt x="15" y="919"/>
                </a:lnTo>
                <a:close/>
                <a:moveTo>
                  <a:pt x="15" y="947"/>
                </a:moveTo>
                <a:lnTo>
                  <a:pt x="15" y="960"/>
                </a:lnTo>
                <a:lnTo>
                  <a:pt x="0" y="960"/>
                </a:lnTo>
                <a:lnTo>
                  <a:pt x="0" y="947"/>
                </a:lnTo>
                <a:lnTo>
                  <a:pt x="15" y="947"/>
                </a:lnTo>
                <a:close/>
                <a:moveTo>
                  <a:pt x="15" y="974"/>
                </a:moveTo>
                <a:lnTo>
                  <a:pt x="15" y="988"/>
                </a:lnTo>
                <a:lnTo>
                  <a:pt x="0" y="988"/>
                </a:lnTo>
                <a:lnTo>
                  <a:pt x="0" y="974"/>
                </a:lnTo>
                <a:lnTo>
                  <a:pt x="15" y="974"/>
                </a:lnTo>
                <a:close/>
                <a:moveTo>
                  <a:pt x="15" y="1002"/>
                </a:moveTo>
                <a:lnTo>
                  <a:pt x="15" y="1016"/>
                </a:lnTo>
                <a:lnTo>
                  <a:pt x="0" y="1016"/>
                </a:lnTo>
                <a:lnTo>
                  <a:pt x="0" y="1002"/>
                </a:lnTo>
                <a:lnTo>
                  <a:pt x="15" y="1002"/>
                </a:lnTo>
                <a:close/>
                <a:moveTo>
                  <a:pt x="15" y="1030"/>
                </a:moveTo>
                <a:lnTo>
                  <a:pt x="15" y="1044"/>
                </a:lnTo>
                <a:lnTo>
                  <a:pt x="0" y="1044"/>
                </a:lnTo>
                <a:lnTo>
                  <a:pt x="0" y="1030"/>
                </a:lnTo>
                <a:lnTo>
                  <a:pt x="15" y="1030"/>
                </a:lnTo>
                <a:close/>
                <a:moveTo>
                  <a:pt x="15" y="1058"/>
                </a:moveTo>
                <a:lnTo>
                  <a:pt x="15" y="1072"/>
                </a:lnTo>
                <a:lnTo>
                  <a:pt x="0" y="1072"/>
                </a:lnTo>
                <a:lnTo>
                  <a:pt x="0" y="1058"/>
                </a:lnTo>
                <a:lnTo>
                  <a:pt x="15" y="1058"/>
                </a:lnTo>
                <a:close/>
                <a:moveTo>
                  <a:pt x="15" y="1086"/>
                </a:moveTo>
                <a:lnTo>
                  <a:pt x="15" y="1100"/>
                </a:lnTo>
                <a:lnTo>
                  <a:pt x="0" y="1100"/>
                </a:lnTo>
                <a:lnTo>
                  <a:pt x="0" y="1086"/>
                </a:lnTo>
                <a:lnTo>
                  <a:pt x="15" y="1086"/>
                </a:lnTo>
                <a:close/>
                <a:moveTo>
                  <a:pt x="15" y="1114"/>
                </a:moveTo>
                <a:lnTo>
                  <a:pt x="15" y="1127"/>
                </a:lnTo>
                <a:lnTo>
                  <a:pt x="0" y="1127"/>
                </a:lnTo>
                <a:lnTo>
                  <a:pt x="0" y="1114"/>
                </a:lnTo>
                <a:lnTo>
                  <a:pt x="15" y="1114"/>
                </a:lnTo>
                <a:close/>
                <a:moveTo>
                  <a:pt x="15" y="1141"/>
                </a:moveTo>
                <a:lnTo>
                  <a:pt x="15" y="1155"/>
                </a:lnTo>
                <a:lnTo>
                  <a:pt x="0" y="1155"/>
                </a:lnTo>
                <a:lnTo>
                  <a:pt x="0" y="1141"/>
                </a:lnTo>
                <a:lnTo>
                  <a:pt x="15" y="1141"/>
                </a:lnTo>
                <a:close/>
                <a:moveTo>
                  <a:pt x="15" y="1169"/>
                </a:moveTo>
                <a:lnTo>
                  <a:pt x="15" y="1183"/>
                </a:lnTo>
                <a:lnTo>
                  <a:pt x="0" y="1183"/>
                </a:lnTo>
                <a:lnTo>
                  <a:pt x="0" y="1169"/>
                </a:lnTo>
                <a:lnTo>
                  <a:pt x="15" y="1169"/>
                </a:lnTo>
                <a:close/>
                <a:moveTo>
                  <a:pt x="15" y="1197"/>
                </a:moveTo>
                <a:lnTo>
                  <a:pt x="15" y="1211"/>
                </a:lnTo>
                <a:lnTo>
                  <a:pt x="0" y="1211"/>
                </a:lnTo>
                <a:lnTo>
                  <a:pt x="0" y="1197"/>
                </a:lnTo>
                <a:lnTo>
                  <a:pt x="15" y="1197"/>
                </a:lnTo>
                <a:close/>
                <a:moveTo>
                  <a:pt x="15" y="1225"/>
                </a:moveTo>
                <a:lnTo>
                  <a:pt x="15" y="1239"/>
                </a:lnTo>
                <a:lnTo>
                  <a:pt x="0" y="1239"/>
                </a:lnTo>
                <a:lnTo>
                  <a:pt x="0" y="1225"/>
                </a:lnTo>
                <a:lnTo>
                  <a:pt x="15" y="1225"/>
                </a:lnTo>
                <a:close/>
                <a:moveTo>
                  <a:pt x="15" y="1253"/>
                </a:moveTo>
                <a:lnTo>
                  <a:pt x="15" y="1267"/>
                </a:lnTo>
                <a:lnTo>
                  <a:pt x="0" y="1267"/>
                </a:lnTo>
                <a:lnTo>
                  <a:pt x="0" y="1253"/>
                </a:lnTo>
                <a:lnTo>
                  <a:pt x="15" y="1253"/>
                </a:lnTo>
                <a:close/>
                <a:moveTo>
                  <a:pt x="15" y="1281"/>
                </a:moveTo>
                <a:lnTo>
                  <a:pt x="15" y="1294"/>
                </a:lnTo>
                <a:lnTo>
                  <a:pt x="0" y="1294"/>
                </a:lnTo>
                <a:lnTo>
                  <a:pt x="0" y="1281"/>
                </a:lnTo>
                <a:lnTo>
                  <a:pt x="15" y="1281"/>
                </a:lnTo>
                <a:close/>
                <a:moveTo>
                  <a:pt x="15" y="1308"/>
                </a:moveTo>
                <a:lnTo>
                  <a:pt x="15" y="1322"/>
                </a:lnTo>
                <a:lnTo>
                  <a:pt x="0" y="1322"/>
                </a:lnTo>
                <a:lnTo>
                  <a:pt x="0" y="1308"/>
                </a:lnTo>
                <a:lnTo>
                  <a:pt x="15" y="1308"/>
                </a:lnTo>
                <a:close/>
                <a:moveTo>
                  <a:pt x="15" y="1336"/>
                </a:moveTo>
                <a:lnTo>
                  <a:pt x="15" y="1350"/>
                </a:lnTo>
                <a:lnTo>
                  <a:pt x="0" y="1350"/>
                </a:lnTo>
                <a:lnTo>
                  <a:pt x="0" y="1336"/>
                </a:lnTo>
                <a:lnTo>
                  <a:pt x="15" y="1336"/>
                </a:lnTo>
                <a:close/>
                <a:moveTo>
                  <a:pt x="15" y="1364"/>
                </a:moveTo>
                <a:lnTo>
                  <a:pt x="15" y="1378"/>
                </a:lnTo>
                <a:lnTo>
                  <a:pt x="0" y="1378"/>
                </a:lnTo>
                <a:lnTo>
                  <a:pt x="0" y="1364"/>
                </a:lnTo>
                <a:lnTo>
                  <a:pt x="15" y="1364"/>
                </a:lnTo>
                <a:close/>
                <a:moveTo>
                  <a:pt x="15" y="1392"/>
                </a:moveTo>
                <a:lnTo>
                  <a:pt x="15" y="1406"/>
                </a:lnTo>
                <a:lnTo>
                  <a:pt x="0" y="1406"/>
                </a:lnTo>
                <a:lnTo>
                  <a:pt x="0" y="1392"/>
                </a:lnTo>
                <a:lnTo>
                  <a:pt x="15" y="1392"/>
                </a:lnTo>
                <a:close/>
                <a:moveTo>
                  <a:pt x="15" y="1420"/>
                </a:moveTo>
                <a:lnTo>
                  <a:pt x="15" y="1434"/>
                </a:lnTo>
                <a:lnTo>
                  <a:pt x="0" y="1434"/>
                </a:lnTo>
                <a:lnTo>
                  <a:pt x="0" y="1420"/>
                </a:lnTo>
                <a:lnTo>
                  <a:pt x="15" y="1420"/>
                </a:lnTo>
                <a:close/>
                <a:moveTo>
                  <a:pt x="15" y="1448"/>
                </a:moveTo>
                <a:lnTo>
                  <a:pt x="15" y="1461"/>
                </a:lnTo>
                <a:lnTo>
                  <a:pt x="0" y="1461"/>
                </a:lnTo>
                <a:lnTo>
                  <a:pt x="0" y="1448"/>
                </a:lnTo>
                <a:lnTo>
                  <a:pt x="15" y="1448"/>
                </a:lnTo>
                <a:close/>
                <a:moveTo>
                  <a:pt x="15" y="1475"/>
                </a:moveTo>
                <a:lnTo>
                  <a:pt x="15" y="1489"/>
                </a:lnTo>
                <a:lnTo>
                  <a:pt x="0" y="1489"/>
                </a:lnTo>
                <a:lnTo>
                  <a:pt x="0" y="1475"/>
                </a:lnTo>
                <a:lnTo>
                  <a:pt x="15" y="1475"/>
                </a:lnTo>
                <a:close/>
                <a:moveTo>
                  <a:pt x="15" y="1503"/>
                </a:moveTo>
                <a:lnTo>
                  <a:pt x="15" y="1517"/>
                </a:lnTo>
                <a:lnTo>
                  <a:pt x="0" y="1517"/>
                </a:lnTo>
                <a:lnTo>
                  <a:pt x="0" y="1503"/>
                </a:lnTo>
                <a:lnTo>
                  <a:pt x="15" y="1503"/>
                </a:lnTo>
                <a:close/>
                <a:moveTo>
                  <a:pt x="15" y="1531"/>
                </a:moveTo>
                <a:lnTo>
                  <a:pt x="15" y="1545"/>
                </a:lnTo>
                <a:lnTo>
                  <a:pt x="0" y="1545"/>
                </a:lnTo>
                <a:lnTo>
                  <a:pt x="0" y="1531"/>
                </a:lnTo>
                <a:lnTo>
                  <a:pt x="15" y="1531"/>
                </a:lnTo>
                <a:close/>
                <a:moveTo>
                  <a:pt x="15" y="1559"/>
                </a:moveTo>
                <a:lnTo>
                  <a:pt x="15" y="1573"/>
                </a:lnTo>
                <a:lnTo>
                  <a:pt x="0" y="1573"/>
                </a:lnTo>
                <a:lnTo>
                  <a:pt x="0" y="1559"/>
                </a:lnTo>
                <a:lnTo>
                  <a:pt x="15" y="1559"/>
                </a:lnTo>
                <a:close/>
                <a:moveTo>
                  <a:pt x="15" y="1587"/>
                </a:moveTo>
                <a:lnTo>
                  <a:pt x="15" y="1601"/>
                </a:lnTo>
                <a:lnTo>
                  <a:pt x="0" y="1601"/>
                </a:lnTo>
                <a:lnTo>
                  <a:pt x="0" y="1587"/>
                </a:lnTo>
                <a:lnTo>
                  <a:pt x="15" y="1587"/>
                </a:lnTo>
                <a:close/>
                <a:moveTo>
                  <a:pt x="15" y="1615"/>
                </a:moveTo>
                <a:lnTo>
                  <a:pt x="15" y="1628"/>
                </a:lnTo>
                <a:lnTo>
                  <a:pt x="0" y="1628"/>
                </a:lnTo>
                <a:lnTo>
                  <a:pt x="0" y="1615"/>
                </a:lnTo>
                <a:lnTo>
                  <a:pt x="15" y="1615"/>
                </a:lnTo>
                <a:close/>
                <a:moveTo>
                  <a:pt x="15" y="1642"/>
                </a:moveTo>
                <a:lnTo>
                  <a:pt x="15" y="1656"/>
                </a:lnTo>
                <a:lnTo>
                  <a:pt x="0" y="1656"/>
                </a:lnTo>
                <a:lnTo>
                  <a:pt x="0" y="1642"/>
                </a:lnTo>
                <a:lnTo>
                  <a:pt x="15" y="1642"/>
                </a:lnTo>
                <a:close/>
                <a:moveTo>
                  <a:pt x="15" y="1670"/>
                </a:moveTo>
                <a:lnTo>
                  <a:pt x="15" y="1684"/>
                </a:lnTo>
                <a:lnTo>
                  <a:pt x="0" y="1684"/>
                </a:lnTo>
                <a:lnTo>
                  <a:pt x="0" y="1670"/>
                </a:lnTo>
                <a:lnTo>
                  <a:pt x="15" y="1670"/>
                </a:lnTo>
                <a:close/>
                <a:moveTo>
                  <a:pt x="15" y="1698"/>
                </a:moveTo>
                <a:lnTo>
                  <a:pt x="15" y="1712"/>
                </a:lnTo>
                <a:lnTo>
                  <a:pt x="0" y="1712"/>
                </a:lnTo>
                <a:lnTo>
                  <a:pt x="0" y="1698"/>
                </a:lnTo>
                <a:lnTo>
                  <a:pt x="15" y="1698"/>
                </a:lnTo>
                <a:close/>
                <a:moveTo>
                  <a:pt x="15" y="1726"/>
                </a:moveTo>
                <a:lnTo>
                  <a:pt x="15" y="1740"/>
                </a:lnTo>
                <a:lnTo>
                  <a:pt x="0" y="1740"/>
                </a:lnTo>
                <a:lnTo>
                  <a:pt x="0" y="1726"/>
                </a:lnTo>
                <a:lnTo>
                  <a:pt x="15" y="1726"/>
                </a:lnTo>
                <a:close/>
                <a:moveTo>
                  <a:pt x="15" y="1754"/>
                </a:moveTo>
                <a:lnTo>
                  <a:pt x="15" y="1768"/>
                </a:lnTo>
                <a:lnTo>
                  <a:pt x="0" y="1768"/>
                </a:lnTo>
                <a:lnTo>
                  <a:pt x="0" y="1754"/>
                </a:lnTo>
                <a:lnTo>
                  <a:pt x="15" y="1754"/>
                </a:lnTo>
                <a:close/>
                <a:moveTo>
                  <a:pt x="15" y="1782"/>
                </a:moveTo>
                <a:lnTo>
                  <a:pt x="15" y="1795"/>
                </a:lnTo>
                <a:lnTo>
                  <a:pt x="0" y="1795"/>
                </a:lnTo>
                <a:lnTo>
                  <a:pt x="0" y="1782"/>
                </a:lnTo>
                <a:lnTo>
                  <a:pt x="15" y="1782"/>
                </a:lnTo>
                <a:close/>
                <a:moveTo>
                  <a:pt x="15" y="1809"/>
                </a:moveTo>
                <a:lnTo>
                  <a:pt x="15" y="1823"/>
                </a:lnTo>
                <a:lnTo>
                  <a:pt x="0" y="1823"/>
                </a:lnTo>
                <a:lnTo>
                  <a:pt x="0" y="1809"/>
                </a:lnTo>
                <a:lnTo>
                  <a:pt x="15" y="1809"/>
                </a:lnTo>
                <a:close/>
                <a:moveTo>
                  <a:pt x="15" y="1837"/>
                </a:moveTo>
                <a:lnTo>
                  <a:pt x="15" y="1851"/>
                </a:lnTo>
                <a:lnTo>
                  <a:pt x="0" y="1851"/>
                </a:lnTo>
                <a:lnTo>
                  <a:pt x="0" y="1837"/>
                </a:lnTo>
                <a:lnTo>
                  <a:pt x="15" y="1837"/>
                </a:lnTo>
                <a:close/>
                <a:moveTo>
                  <a:pt x="15" y="1865"/>
                </a:moveTo>
                <a:lnTo>
                  <a:pt x="15" y="1879"/>
                </a:lnTo>
                <a:lnTo>
                  <a:pt x="0" y="1879"/>
                </a:lnTo>
                <a:lnTo>
                  <a:pt x="0" y="1865"/>
                </a:lnTo>
                <a:lnTo>
                  <a:pt x="15" y="1865"/>
                </a:lnTo>
                <a:close/>
                <a:moveTo>
                  <a:pt x="15" y="1893"/>
                </a:moveTo>
                <a:lnTo>
                  <a:pt x="15" y="1907"/>
                </a:lnTo>
                <a:lnTo>
                  <a:pt x="0" y="1907"/>
                </a:lnTo>
                <a:lnTo>
                  <a:pt x="0" y="1893"/>
                </a:lnTo>
                <a:lnTo>
                  <a:pt x="15" y="1893"/>
                </a:lnTo>
                <a:close/>
                <a:moveTo>
                  <a:pt x="15" y="1921"/>
                </a:moveTo>
                <a:lnTo>
                  <a:pt x="15" y="1935"/>
                </a:lnTo>
                <a:lnTo>
                  <a:pt x="0" y="1935"/>
                </a:lnTo>
                <a:lnTo>
                  <a:pt x="0" y="1921"/>
                </a:lnTo>
                <a:lnTo>
                  <a:pt x="15" y="1921"/>
                </a:lnTo>
                <a:close/>
                <a:moveTo>
                  <a:pt x="15" y="1949"/>
                </a:moveTo>
                <a:lnTo>
                  <a:pt x="15" y="1962"/>
                </a:lnTo>
                <a:lnTo>
                  <a:pt x="0" y="1962"/>
                </a:lnTo>
                <a:lnTo>
                  <a:pt x="0" y="1949"/>
                </a:lnTo>
                <a:lnTo>
                  <a:pt x="15" y="1949"/>
                </a:lnTo>
                <a:close/>
                <a:moveTo>
                  <a:pt x="15" y="1976"/>
                </a:moveTo>
                <a:lnTo>
                  <a:pt x="15" y="1990"/>
                </a:lnTo>
                <a:lnTo>
                  <a:pt x="0" y="1990"/>
                </a:lnTo>
                <a:lnTo>
                  <a:pt x="0" y="1976"/>
                </a:lnTo>
                <a:lnTo>
                  <a:pt x="15" y="1976"/>
                </a:lnTo>
                <a:close/>
                <a:moveTo>
                  <a:pt x="15" y="2004"/>
                </a:moveTo>
                <a:lnTo>
                  <a:pt x="15" y="2018"/>
                </a:lnTo>
                <a:lnTo>
                  <a:pt x="0" y="2018"/>
                </a:lnTo>
                <a:lnTo>
                  <a:pt x="0" y="2004"/>
                </a:lnTo>
                <a:lnTo>
                  <a:pt x="15" y="2004"/>
                </a:lnTo>
                <a:close/>
                <a:moveTo>
                  <a:pt x="15" y="2032"/>
                </a:moveTo>
                <a:lnTo>
                  <a:pt x="15" y="2046"/>
                </a:lnTo>
                <a:lnTo>
                  <a:pt x="0" y="2046"/>
                </a:lnTo>
                <a:lnTo>
                  <a:pt x="0" y="2032"/>
                </a:lnTo>
                <a:lnTo>
                  <a:pt x="15" y="2032"/>
                </a:lnTo>
                <a:close/>
                <a:moveTo>
                  <a:pt x="15" y="2060"/>
                </a:moveTo>
                <a:lnTo>
                  <a:pt x="15" y="2074"/>
                </a:lnTo>
                <a:lnTo>
                  <a:pt x="0" y="2074"/>
                </a:lnTo>
                <a:lnTo>
                  <a:pt x="0" y="2060"/>
                </a:lnTo>
                <a:lnTo>
                  <a:pt x="15" y="2060"/>
                </a:lnTo>
                <a:close/>
                <a:moveTo>
                  <a:pt x="15" y="2087"/>
                </a:moveTo>
                <a:lnTo>
                  <a:pt x="15" y="2102"/>
                </a:lnTo>
                <a:lnTo>
                  <a:pt x="0" y="2102"/>
                </a:lnTo>
                <a:lnTo>
                  <a:pt x="0" y="2087"/>
                </a:lnTo>
                <a:lnTo>
                  <a:pt x="15" y="2087"/>
                </a:lnTo>
                <a:close/>
                <a:moveTo>
                  <a:pt x="15" y="2116"/>
                </a:moveTo>
                <a:lnTo>
                  <a:pt x="15" y="2129"/>
                </a:lnTo>
                <a:lnTo>
                  <a:pt x="0" y="2129"/>
                </a:lnTo>
                <a:lnTo>
                  <a:pt x="0" y="2116"/>
                </a:lnTo>
                <a:lnTo>
                  <a:pt x="15" y="2116"/>
                </a:lnTo>
                <a:close/>
                <a:moveTo>
                  <a:pt x="15" y="2143"/>
                </a:moveTo>
                <a:lnTo>
                  <a:pt x="15" y="2157"/>
                </a:lnTo>
                <a:lnTo>
                  <a:pt x="0" y="2157"/>
                </a:lnTo>
                <a:lnTo>
                  <a:pt x="0" y="2143"/>
                </a:lnTo>
                <a:lnTo>
                  <a:pt x="15" y="2143"/>
                </a:lnTo>
                <a:close/>
                <a:moveTo>
                  <a:pt x="15" y="2171"/>
                </a:moveTo>
                <a:lnTo>
                  <a:pt x="15" y="2185"/>
                </a:lnTo>
                <a:lnTo>
                  <a:pt x="0" y="2185"/>
                </a:lnTo>
                <a:lnTo>
                  <a:pt x="0" y="2171"/>
                </a:lnTo>
                <a:lnTo>
                  <a:pt x="15" y="2171"/>
                </a:lnTo>
                <a:close/>
                <a:moveTo>
                  <a:pt x="15" y="2199"/>
                </a:moveTo>
                <a:lnTo>
                  <a:pt x="15" y="2213"/>
                </a:lnTo>
                <a:lnTo>
                  <a:pt x="0" y="2213"/>
                </a:lnTo>
                <a:lnTo>
                  <a:pt x="0" y="2199"/>
                </a:lnTo>
                <a:lnTo>
                  <a:pt x="15" y="2199"/>
                </a:lnTo>
                <a:close/>
                <a:moveTo>
                  <a:pt x="15" y="2227"/>
                </a:moveTo>
                <a:lnTo>
                  <a:pt x="15" y="2241"/>
                </a:lnTo>
                <a:lnTo>
                  <a:pt x="0" y="2241"/>
                </a:lnTo>
                <a:lnTo>
                  <a:pt x="0" y="2227"/>
                </a:lnTo>
                <a:lnTo>
                  <a:pt x="15" y="2227"/>
                </a:lnTo>
                <a:close/>
                <a:moveTo>
                  <a:pt x="15" y="2254"/>
                </a:moveTo>
                <a:lnTo>
                  <a:pt x="15" y="2268"/>
                </a:lnTo>
                <a:lnTo>
                  <a:pt x="0" y="2268"/>
                </a:lnTo>
                <a:lnTo>
                  <a:pt x="0" y="2254"/>
                </a:lnTo>
                <a:lnTo>
                  <a:pt x="15" y="2254"/>
                </a:lnTo>
                <a:close/>
                <a:moveTo>
                  <a:pt x="15" y="2283"/>
                </a:moveTo>
                <a:lnTo>
                  <a:pt x="15" y="2296"/>
                </a:lnTo>
                <a:lnTo>
                  <a:pt x="0" y="2296"/>
                </a:lnTo>
                <a:lnTo>
                  <a:pt x="0" y="2283"/>
                </a:lnTo>
                <a:lnTo>
                  <a:pt x="15" y="2283"/>
                </a:lnTo>
                <a:close/>
                <a:moveTo>
                  <a:pt x="15" y="2310"/>
                </a:moveTo>
                <a:lnTo>
                  <a:pt x="15" y="2324"/>
                </a:lnTo>
                <a:lnTo>
                  <a:pt x="0" y="2324"/>
                </a:lnTo>
                <a:lnTo>
                  <a:pt x="0" y="2310"/>
                </a:lnTo>
                <a:lnTo>
                  <a:pt x="15" y="2310"/>
                </a:lnTo>
                <a:close/>
                <a:moveTo>
                  <a:pt x="15" y="2338"/>
                </a:moveTo>
                <a:lnTo>
                  <a:pt x="15" y="2352"/>
                </a:lnTo>
                <a:lnTo>
                  <a:pt x="0" y="2352"/>
                </a:lnTo>
                <a:lnTo>
                  <a:pt x="0" y="2338"/>
                </a:lnTo>
                <a:lnTo>
                  <a:pt x="15" y="2338"/>
                </a:lnTo>
                <a:close/>
                <a:moveTo>
                  <a:pt x="15" y="2366"/>
                </a:moveTo>
                <a:lnTo>
                  <a:pt x="15" y="2380"/>
                </a:lnTo>
                <a:lnTo>
                  <a:pt x="0" y="2380"/>
                </a:lnTo>
                <a:lnTo>
                  <a:pt x="0" y="2366"/>
                </a:lnTo>
                <a:lnTo>
                  <a:pt x="15" y="2366"/>
                </a:lnTo>
                <a:close/>
                <a:moveTo>
                  <a:pt x="15" y="2394"/>
                </a:moveTo>
                <a:lnTo>
                  <a:pt x="15" y="2408"/>
                </a:lnTo>
                <a:lnTo>
                  <a:pt x="0" y="2408"/>
                </a:lnTo>
                <a:lnTo>
                  <a:pt x="0" y="2394"/>
                </a:lnTo>
                <a:lnTo>
                  <a:pt x="15" y="2394"/>
                </a:lnTo>
                <a:close/>
                <a:moveTo>
                  <a:pt x="15" y="2421"/>
                </a:moveTo>
                <a:lnTo>
                  <a:pt x="15" y="2435"/>
                </a:lnTo>
                <a:lnTo>
                  <a:pt x="0" y="2435"/>
                </a:lnTo>
                <a:lnTo>
                  <a:pt x="0" y="2421"/>
                </a:lnTo>
                <a:lnTo>
                  <a:pt x="15" y="2421"/>
                </a:lnTo>
                <a:close/>
                <a:moveTo>
                  <a:pt x="15" y="2449"/>
                </a:moveTo>
                <a:lnTo>
                  <a:pt x="15" y="2453"/>
                </a:lnTo>
                <a:lnTo>
                  <a:pt x="0" y="2453"/>
                </a:lnTo>
                <a:lnTo>
                  <a:pt x="0" y="2449"/>
                </a:lnTo>
                <a:lnTo>
                  <a:pt x="15" y="2449"/>
                </a:lnTo>
                <a:close/>
              </a:path>
            </a:pathLst>
          </a:custGeom>
          <a:solidFill>
            <a:srgbClr val="000000"/>
          </a:solidFill>
          <a:ln w="0" cap="flat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33" name="Freeform 30">
            <a:extLst>
              <a:ext uri="{FF2B5EF4-FFF2-40B4-BE49-F238E27FC236}">
                <a16:creationId xmlns:a16="http://schemas.microsoft.com/office/drawing/2014/main" id="{AF26D3F0-30D6-4288-87B0-F45A593C5871}"/>
              </a:ext>
            </a:extLst>
          </p:cNvPr>
          <p:cNvSpPr>
            <a:spLocks noEditPoints="1"/>
          </p:cNvSpPr>
          <p:nvPr/>
        </p:nvSpPr>
        <p:spPr bwMode="auto">
          <a:xfrm>
            <a:off x="5487623" y="2267962"/>
            <a:ext cx="22225" cy="3894138"/>
          </a:xfrm>
          <a:custGeom>
            <a:avLst/>
            <a:gdLst>
              <a:gd name="T0" fmla="*/ 14 w 14"/>
              <a:gd name="T1" fmla="*/ 42 h 2453"/>
              <a:gd name="T2" fmla="*/ 0 w 14"/>
              <a:gd name="T3" fmla="*/ 56 h 2453"/>
              <a:gd name="T4" fmla="*/ 14 w 14"/>
              <a:gd name="T5" fmla="*/ 112 h 2453"/>
              <a:gd name="T6" fmla="*/ 0 w 14"/>
              <a:gd name="T7" fmla="*/ 154 h 2453"/>
              <a:gd name="T8" fmla="*/ 14 w 14"/>
              <a:gd name="T9" fmla="*/ 167 h 2453"/>
              <a:gd name="T10" fmla="*/ 14 w 14"/>
              <a:gd name="T11" fmla="*/ 237 h 2453"/>
              <a:gd name="T12" fmla="*/ 0 w 14"/>
              <a:gd name="T13" fmla="*/ 251 h 2453"/>
              <a:gd name="T14" fmla="*/ 14 w 14"/>
              <a:gd name="T15" fmla="*/ 307 h 2453"/>
              <a:gd name="T16" fmla="*/ 0 w 14"/>
              <a:gd name="T17" fmla="*/ 348 h 2453"/>
              <a:gd name="T18" fmla="*/ 14 w 14"/>
              <a:gd name="T19" fmla="*/ 362 h 2453"/>
              <a:gd name="T20" fmla="*/ 14 w 14"/>
              <a:gd name="T21" fmla="*/ 432 h 2453"/>
              <a:gd name="T22" fmla="*/ 0 w 14"/>
              <a:gd name="T23" fmla="*/ 446 h 2453"/>
              <a:gd name="T24" fmla="*/ 14 w 14"/>
              <a:gd name="T25" fmla="*/ 501 h 2453"/>
              <a:gd name="T26" fmla="*/ 0 w 14"/>
              <a:gd name="T27" fmla="*/ 543 h 2453"/>
              <a:gd name="T28" fmla="*/ 14 w 14"/>
              <a:gd name="T29" fmla="*/ 557 h 2453"/>
              <a:gd name="T30" fmla="*/ 14 w 14"/>
              <a:gd name="T31" fmla="*/ 627 h 2453"/>
              <a:gd name="T32" fmla="*/ 0 w 14"/>
              <a:gd name="T33" fmla="*/ 641 h 2453"/>
              <a:gd name="T34" fmla="*/ 14 w 14"/>
              <a:gd name="T35" fmla="*/ 696 h 2453"/>
              <a:gd name="T36" fmla="*/ 0 w 14"/>
              <a:gd name="T37" fmla="*/ 738 h 2453"/>
              <a:gd name="T38" fmla="*/ 14 w 14"/>
              <a:gd name="T39" fmla="*/ 752 h 2453"/>
              <a:gd name="T40" fmla="*/ 14 w 14"/>
              <a:gd name="T41" fmla="*/ 822 h 2453"/>
              <a:gd name="T42" fmla="*/ 0 w 14"/>
              <a:gd name="T43" fmla="*/ 835 h 2453"/>
              <a:gd name="T44" fmla="*/ 14 w 14"/>
              <a:gd name="T45" fmla="*/ 891 h 2453"/>
              <a:gd name="T46" fmla="*/ 0 w 14"/>
              <a:gd name="T47" fmla="*/ 933 h 2453"/>
              <a:gd name="T48" fmla="*/ 14 w 14"/>
              <a:gd name="T49" fmla="*/ 947 h 2453"/>
              <a:gd name="T50" fmla="*/ 14 w 14"/>
              <a:gd name="T51" fmla="*/ 1016 h 2453"/>
              <a:gd name="T52" fmla="*/ 0 w 14"/>
              <a:gd name="T53" fmla="*/ 1030 h 2453"/>
              <a:gd name="T54" fmla="*/ 14 w 14"/>
              <a:gd name="T55" fmla="*/ 1086 h 2453"/>
              <a:gd name="T56" fmla="*/ 0 w 14"/>
              <a:gd name="T57" fmla="*/ 1127 h 2453"/>
              <a:gd name="T58" fmla="*/ 14 w 14"/>
              <a:gd name="T59" fmla="*/ 1141 h 2453"/>
              <a:gd name="T60" fmla="*/ 14 w 14"/>
              <a:gd name="T61" fmla="*/ 1211 h 2453"/>
              <a:gd name="T62" fmla="*/ 0 w 14"/>
              <a:gd name="T63" fmla="*/ 1225 h 2453"/>
              <a:gd name="T64" fmla="*/ 14 w 14"/>
              <a:gd name="T65" fmla="*/ 1281 h 2453"/>
              <a:gd name="T66" fmla="*/ 0 w 14"/>
              <a:gd name="T67" fmla="*/ 1322 h 2453"/>
              <a:gd name="T68" fmla="*/ 14 w 14"/>
              <a:gd name="T69" fmla="*/ 1336 h 2453"/>
              <a:gd name="T70" fmla="*/ 14 w 14"/>
              <a:gd name="T71" fmla="*/ 1406 h 2453"/>
              <a:gd name="T72" fmla="*/ 0 w 14"/>
              <a:gd name="T73" fmla="*/ 1420 h 2453"/>
              <a:gd name="T74" fmla="*/ 14 w 14"/>
              <a:gd name="T75" fmla="*/ 1475 h 2453"/>
              <a:gd name="T76" fmla="*/ 0 w 14"/>
              <a:gd name="T77" fmla="*/ 1517 h 2453"/>
              <a:gd name="T78" fmla="*/ 14 w 14"/>
              <a:gd name="T79" fmla="*/ 1531 h 2453"/>
              <a:gd name="T80" fmla="*/ 14 w 14"/>
              <a:gd name="T81" fmla="*/ 1601 h 2453"/>
              <a:gd name="T82" fmla="*/ 0 w 14"/>
              <a:gd name="T83" fmla="*/ 1615 h 2453"/>
              <a:gd name="T84" fmla="*/ 14 w 14"/>
              <a:gd name="T85" fmla="*/ 1670 h 2453"/>
              <a:gd name="T86" fmla="*/ 0 w 14"/>
              <a:gd name="T87" fmla="*/ 1712 h 2453"/>
              <a:gd name="T88" fmla="*/ 14 w 14"/>
              <a:gd name="T89" fmla="*/ 1726 h 2453"/>
              <a:gd name="T90" fmla="*/ 14 w 14"/>
              <a:gd name="T91" fmla="*/ 1795 h 2453"/>
              <a:gd name="T92" fmla="*/ 0 w 14"/>
              <a:gd name="T93" fmla="*/ 1809 h 2453"/>
              <a:gd name="T94" fmla="*/ 14 w 14"/>
              <a:gd name="T95" fmla="*/ 1865 h 2453"/>
              <a:gd name="T96" fmla="*/ 0 w 14"/>
              <a:gd name="T97" fmla="*/ 1907 h 2453"/>
              <a:gd name="T98" fmla="*/ 14 w 14"/>
              <a:gd name="T99" fmla="*/ 1921 h 2453"/>
              <a:gd name="T100" fmla="*/ 14 w 14"/>
              <a:gd name="T101" fmla="*/ 1990 h 2453"/>
              <a:gd name="T102" fmla="*/ 0 w 14"/>
              <a:gd name="T103" fmla="*/ 2004 h 2453"/>
              <a:gd name="T104" fmla="*/ 14 w 14"/>
              <a:gd name="T105" fmla="*/ 2060 h 2453"/>
              <a:gd name="T106" fmla="*/ 0 w 14"/>
              <a:gd name="T107" fmla="*/ 2102 h 2453"/>
              <a:gd name="T108" fmla="*/ 14 w 14"/>
              <a:gd name="T109" fmla="*/ 2116 h 2453"/>
              <a:gd name="T110" fmla="*/ 14 w 14"/>
              <a:gd name="T111" fmla="*/ 2185 h 2453"/>
              <a:gd name="T112" fmla="*/ 0 w 14"/>
              <a:gd name="T113" fmla="*/ 2199 h 2453"/>
              <a:gd name="T114" fmla="*/ 14 w 14"/>
              <a:gd name="T115" fmla="*/ 2254 h 2453"/>
              <a:gd name="T116" fmla="*/ 0 w 14"/>
              <a:gd name="T117" fmla="*/ 2296 h 2453"/>
              <a:gd name="T118" fmla="*/ 14 w 14"/>
              <a:gd name="T119" fmla="*/ 2310 h 2453"/>
              <a:gd name="T120" fmla="*/ 14 w 14"/>
              <a:gd name="T121" fmla="*/ 2380 h 2453"/>
              <a:gd name="T122" fmla="*/ 0 w 14"/>
              <a:gd name="T123" fmla="*/ 2394 h 2453"/>
              <a:gd name="T124" fmla="*/ 14 w 14"/>
              <a:gd name="T125" fmla="*/ 2449 h 24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14" h="2453">
                <a:moveTo>
                  <a:pt x="14" y="0"/>
                </a:moveTo>
                <a:lnTo>
                  <a:pt x="14" y="14"/>
                </a:lnTo>
                <a:lnTo>
                  <a:pt x="0" y="14"/>
                </a:lnTo>
                <a:lnTo>
                  <a:pt x="0" y="0"/>
                </a:lnTo>
                <a:lnTo>
                  <a:pt x="14" y="0"/>
                </a:lnTo>
                <a:close/>
                <a:moveTo>
                  <a:pt x="14" y="28"/>
                </a:moveTo>
                <a:lnTo>
                  <a:pt x="14" y="42"/>
                </a:lnTo>
                <a:lnTo>
                  <a:pt x="0" y="42"/>
                </a:lnTo>
                <a:lnTo>
                  <a:pt x="0" y="28"/>
                </a:lnTo>
                <a:lnTo>
                  <a:pt x="14" y="28"/>
                </a:lnTo>
                <a:close/>
                <a:moveTo>
                  <a:pt x="14" y="56"/>
                </a:moveTo>
                <a:lnTo>
                  <a:pt x="14" y="70"/>
                </a:lnTo>
                <a:lnTo>
                  <a:pt x="0" y="70"/>
                </a:lnTo>
                <a:lnTo>
                  <a:pt x="0" y="56"/>
                </a:lnTo>
                <a:lnTo>
                  <a:pt x="14" y="56"/>
                </a:lnTo>
                <a:close/>
                <a:moveTo>
                  <a:pt x="14" y="84"/>
                </a:moveTo>
                <a:lnTo>
                  <a:pt x="14" y="98"/>
                </a:lnTo>
                <a:lnTo>
                  <a:pt x="0" y="98"/>
                </a:lnTo>
                <a:lnTo>
                  <a:pt x="0" y="84"/>
                </a:lnTo>
                <a:lnTo>
                  <a:pt x="14" y="84"/>
                </a:lnTo>
                <a:close/>
                <a:moveTo>
                  <a:pt x="14" y="112"/>
                </a:moveTo>
                <a:lnTo>
                  <a:pt x="14" y="126"/>
                </a:lnTo>
                <a:lnTo>
                  <a:pt x="0" y="126"/>
                </a:lnTo>
                <a:lnTo>
                  <a:pt x="0" y="112"/>
                </a:lnTo>
                <a:lnTo>
                  <a:pt x="14" y="112"/>
                </a:lnTo>
                <a:close/>
                <a:moveTo>
                  <a:pt x="14" y="140"/>
                </a:moveTo>
                <a:lnTo>
                  <a:pt x="14" y="154"/>
                </a:lnTo>
                <a:lnTo>
                  <a:pt x="0" y="154"/>
                </a:lnTo>
                <a:lnTo>
                  <a:pt x="0" y="140"/>
                </a:lnTo>
                <a:lnTo>
                  <a:pt x="14" y="140"/>
                </a:lnTo>
                <a:close/>
                <a:moveTo>
                  <a:pt x="14" y="167"/>
                </a:moveTo>
                <a:lnTo>
                  <a:pt x="14" y="181"/>
                </a:lnTo>
                <a:lnTo>
                  <a:pt x="0" y="181"/>
                </a:lnTo>
                <a:lnTo>
                  <a:pt x="0" y="167"/>
                </a:lnTo>
                <a:lnTo>
                  <a:pt x="14" y="167"/>
                </a:lnTo>
                <a:close/>
                <a:moveTo>
                  <a:pt x="14" y="195"/>
                </a:moveTo>
                <a:lnTo>
                  <a:pt x="14" y="209"/>
                </a:lnTo>
                <a:lnTo>
                  <a:pt x="0" y="209"/>
                </a:lnTo>
                <a:lnTo>
                  <a:pt x="0" y="195"/>
                </a:lnTo>
                <a:lnTo>
                  <a:pt x="14" y="195"/>
                </a:lnTo>
                <a:close/>
                <a:moveTo>
                  <a:pt x="14" y="223"/>
                </a:moveTo>
                <a:lnTo>
                  <a:pt x="14" y="237"/>
                </a:lnTo>
                <a:lnTo>
                  <a:pt x="0" y="237"/>
                </a:lnTo>
                <a:lnTo>
                  <a:pt x="0" y="223"/>
                </a:lnTo>
                <a:lnTo>
                  <a:pt x="14" y="223"/>
                </a:lnTo>
                <a:close/>
                <a:moveTo>
                  <a:pt x="14" y="251"/>
                </a:moveTo>
                <a:lnTo>
                  <a:pt x="14" y="265"/>
                </a:lnTo>
                <a:lnTo>
                  <a:pt x="0" y="265"/>
                </a:lnTo>
                <a:lnTo>
                  <a:pt x="0" y="251"/>
                </a:lnTo>
                <a:lnTo>
                  <a:pt x="14" y="251"/>
                </a:lnTo>
                <a:close/>
                <a:moveTo>
                  <a:pt x="14" y="279"/>
                </a:moveTo>
                <a:lnTo>
                  <a:pt x="14" y="293"/>
                </a:lnTo>
                <a:lnTo>
                  <a:pt x="0" y="293"/>
                </a:lnTo>
                <a:lnTo>
                  <a:pt x="0" y="279"/>
                </a:lnTo>
                <a:lnTo>
                  <a:pt x="14" y="279"/>
                </a:lnTo>
                <a:close/>
                <a:moveTo>
                  <a:pt x="14" y="307"/>
                </a:moveTo>
                <a:lnTo>
                  <a:pt x="14" y="321"/>
                </a:lnTo>
                <a:lnTo>
                  <a:pt x="0" y="321"/>
                </a:lnTo>
                <a:lnTo>
                  <a:pt x="0" y="307"/>
                </a:lnTo>
                <a:lnTo>
                  <a:pt x="14" y="307"/>
                </a:lnTo>
                <a:close/>
                <a:moveTo>
                  <a:pt x="14" y="334"/>
                </a:moveTo>
                <a:lnTo>
                  <a:pt x="14" y="348"/>
                </a:lnTo>
                <a:lnTo>
                  <a:pt x="0" y="348"/>
                </a:lnTo>
                <a:lnTo>
                  <a:pt x="0" y="334"/>
                </a:lnTo>
                <a:lnTo>
                  <a:pt x="14" y="334"/>
                </a:lnTo>
                <a:close/>
                <a:moveTo>
                  <a:pt x="14" y="362"/>
                </a:moveTo>
                <a:lnTo>
                  <a:pt x="14" y="376"/>
                </a:lnTo>
                <a:lnTo>
                  <a:pt x="0" y="376"/>
                </a:lnTo>
                <a:lnTo>
                  <a:pt x="0" y="362"/>
                </a:lnTo>
                <a:lnTo>
                  <a:pt x="14" y="362"/>
                </a:lnTo>
                <a:close/>
                <a:moveTo>
                  <a:pt x="14" y="390"/>
                </a:moveTo>
                <a:lnTo>
                  <a:pt x="14" y="404"/>
                </a:lnTo>
                <a:lnTo>
                  <a:pt x="0" y="404"/>
                </a:lnTo>
                <a:lnTo>
                  <a:pt x="0" y="390"/>
                </a:lnTo>
                <a:lnTo>
                  <a:pt x="14" y="390"/>
                </a:lnTo>
                <a:close/>
                <a:moveTo>
                  <a:pt x="14" y="418"/>
                </a:moveTo>
                <a:lnTo>
                  <a:pt x="14" y="432"/>
                </a:lnTo>
                <a:lnTo>
                  <a:pt x="0" y="432"/>
                </a:lnTo>
                <a:lnTo>
                  <a:pt x="0" y="418"/>
                </a:lnTo>
                <a:lnTo>
                  <a:pt x="14" y="418"/>
                </a:lnTo>
                <a:close/>
                <a:moveTo>
                  <a:pt x="14" y="446"/>
                </a:moveTo>
                <a:lnTo>
                  <a:pt x="14" y="460"/>
                </a:lnTo>
                <a:lnTo>
                  <a:pt x="0" y="460"/>
                </a:lnTo>
                <a:lnTo>
                  <a:pt x="0" y="446"/>
                </a:lnTo>
                <a:lnTo>
                  <a:pt x="14" y="446"/>
                </a:lnTo>
                <a:close/>
                <a:moveTo>
                  <a:pt x="14" y="474"/>
                </a:moveTo>
                <a:lnTo>
                  <a:pt x="14" y="488"/>
                </a:lnTo>
                <a:lnTo>
                  <a:pt x="0" y="488"/>
                </a:lnTo>
                <a:lnTo>
                  <a:pt x="0" y="474"/>
                </a:lnTo>
                <a:lnTo>
                  <a:pt x="14" y="474"/>
                </a:lnTo>
                <a:close/>
                <a:moveTo>
                  <a:pt x="14" y="501"/>
                </a:moveTo>
                <a:lnTo>
                  <a:pt x="14" y="515"/>
                </a:lnTo>
                <a:lnTo>
                  <a:pt x="0" y="515"/>
                </a:lnTo>
                <a:lnTo>
                  <a:pt x="0" y="501"/>
                </a:lnTo>
                <a:lnTo>
                  <a:pt x="14" y="501"/>
                </a:lnTo>
                <a:close/>
                <a:moveTo>
                  <a:pt x="14" y="529"/>
                </a:moveTo>
                <a:lnTo>
                  <a:pt x="14" y="543"/>
                </a:lnTo>
                <a:lnTo>
                  <a:pt x="0" y="543"/>
                </a:lnTo>
                <a:lnTo>
                  <a:pt x="0" y="529"/>
                </a:lnTo>
                <a:lnTo>
                  <a:pt x="14" y="529"/>
                </a:lnTo>
                <a:close/>
                <a:moveTo>
                  <a:pt x="14" y="557"/>
                </a:moveTo>
                <a:lnTo>
                  <a:pt x="14" y="571"/>
                </a:lnTo>
                <a:lnTo>
                  <a:pt x="0" y="571"/>
                </a:lnTo>
                <a:lnTo>
                  <a:pt x="0" y="557"/>
                </a:lnTo>
                <a:lnTo>
                  <a:pt x="14" y="557"/>
                </a:lnTo>
                <a:close/>
                <a:moveTo>
                  <a:pt x="14" y="585"/>
                </a:moveTo>
                <a:lnTo>
                  <a:pt x="14" y="599"/>
                </a:lnTo>
                <a:lnTo>
                  <a:pt x="0" y="599"/>
                </a:lnTo>
                <a:lnTo>
                  <a:pt x="0" y="585"/>
                </a:lnTo>
                <a:lnTo>
                  <a:pt x="14" y="585"/>
                </a:lnTo>
                <a:close/>
                <a:moveTo>
                  <a:pt x="14" y="613"/>
                </a:moveTo>
                <a:lnTo>
                  <a:pt x="14" y="627"/>
                </a:lnTo>
                <a:lnTo>
                  <a:pt x="0" y="627"/>
                </a:lnTo>
                <a:lnTo>
                  <a:pt x="0" y="613"/>
                </a:lnTo>
                <a:lnTo>
                  <a:pt x="14" y="613"/>
                </a:lnTo>
                <a:close/>
                <a:moveTo>
                  <a:pt x="14" y="641"/>
                </a:moveTo>
                <a:lnTo>
                  <a:pt x="14" y="655"/>
                </a:lnTo>
                <a:lnTo>
                  <a:pt x="0" y="655"/>
                </a:lnTo>
                <a:lnTo>
                  <a:pt x="0" y="641"/>
                </a:lnTo>
                <a:lnTo>
                  <a:pt x="14" y="641"/>
                </a:lnTo>
                <a:close/>
                <a:moveTo>
                  <a:pt x="14" y="668"/>
                </a:moveTo>
                <a:lnTo>
                  <a:pt x="14" y="682"/>
                </a:lnTo>
                <a:lnTo>
                  <a:pt x="0" y="682"/>
                </a:lnTo>
                <a:lnTo>
                  <a:pt x="0" y="668"/>
                </a:lnTo>
                <a:lnTo>
                  <a:pt x="14" y="668"/>
                </a:lnTo>
                <a:close/>
                <a:moveTo>
                  <a:pt x="14" y="696"/>
                </a:moveTo>
                <a:lnTo>
                  <a:pt x="14" y="710"/>
                </a:lnTo>
                <a:lnTo>
                  <a:pt x="0" y="710"/>
                </a:lnTo>
                <a:lnTo>
                  <a:pt x="0" y="696"/>
                </a:lnTo>
                <a:lnTo>
                  <a:pt x="14" y="696"/>
                </a:lnTo>
                <a:close/>
                <a:moveTo>
                  <a:pt x="14" y="724"/>
                </a:moveTo>
                <a:lnTo>
                  <a:pt x="14" y="738"/>
                </a:lnTo>
                <a:lnTo>
                  <a:pt x="0" y="738"/>
                </a:lnTo>
                <a:lnTo>
                  <a:pt x="0" y="724"/>
                </a:lnTo>
                <a:lnTo>
                  <a:pt x="14" y="724"/>
                </a:lnTo>
                <a:close/>
                <a:moveTo>
                  <a:pt x="14" y="752"/>
                </a:moveTo>
                <a:lnTo>
                  <a:pt x="14" y="766"/>
                </a:lnTo>
                <a:lnTo>
                  <a:pt x="0" y="766"/>
                </a:lnTo>
                <a:lnTo>
                  <a:pt x="0" y="752"/>
                </a:lnTo>
                <a:lnTo>
                  <a:pt x="14" y="752"/>
                </a:lnTo>
                <a:close/>
                <a:moveTo>
                  <a:pt x="14" y="780"/>
                </a:moveTo>
                <a:lnTo>
                  <a:pt x="14" y="793"/>
                </a:lnTo>
                <a:lnTo>
                  <a:pt x="0" y="793"/>
                </a:lnTo>
                <a:lnTo>
                  <a:pt x="0" y="780"/>
                </a:lnTo>
                <a:lnTo>
                  <a:pt x="14" y="780"/>
                </a:lnTo>
                <a:close/>
                <a:moveTo>
                  <a:pt x="14" y="808"/>
                </a:moveTo>
                <a:lnTo>
                  <a:pt x="14" y="822"/>
                </a:lnTo>
                <a:lnTo>
                  <a:pt x="0" y="822"/>
                </a:lnTo>
                <a:lnTo>
                  <a:pt x="0" y="808"/>
                </a:lnTo>
                <a:lnTo>
                  <a:pt x="14" y="808"/>
                </a:lnTo>
                <a:close/>
                <a:moveTo>
                  <a:pt x="14" y="835"/>
                </a:moveTo>
                <a:lnTo>
                  <a:pt x="14" y="849"/>
                </a:lnTo>
                <a:lnTo>
                  <a:pt x="0" y="849"/>
                </a:lnTo>
                <a:lnTo>
                  <a:pt x="0" y="835"/>
                </a:lnTo>
                <a:lnTo>
                  <a:pt x="14" y="835"/>
                </a:lnTo>
                <a:close/>
                <a:moveTo>
                  <a:pt x="14" y="863"/>
                </a:moveTo>
                <a:lnTo>
                  <a:pt x="14" y="877"/>
                </a:lnTo>
                <a:lnTo>
                  <a:pt x="0" y="877"/>
                </a:lnTo>
                <a:lnTo>
                  <a:pt x="0" y="863"/>
                </a:lnTo>
                <a:lnTo>
                  <a:pt x="14" y="863"/>
                </a:lnTo>
                <a:close/>
                <a:moveTo>
                  <a:pt x="14" y="891"/>
                </a:moveTo>
                <a:lnTo>
                  <a:pt x="14" y="905"/>
                </a:lnTo>
                <a:lnTo>
                  <a:pt x="0" y="905"/>
                </a:lnTo>
                <a:lnTo>
                  <a:pt x="0" y="891"/>
                </a:lnTo>
                <a:lnTo>
                  <a:pt x="14" y="891"/>
                </a:lnTo>
                <a:close/>
                <a:moveTo>
                  <a:pt x="14" y="919"/>
                </a:moveTo>
                <a:lnTo>
                  <a:pt x="14" y="933"/>
                </a:lnTo>
                <a:lnTo>
                  <a:pt x="0" y="933"/>
                </a:lnTo>
                <a:lnTo>
                  <a:pt x="0" y="919"/>
                </a:lnTo>
                <a:lnTo>
                  <a:pt x="14" y="919"/>
                </a:lnTo>
                <a:close/>
                <a:moveTo>
                  <a:pt x="14" y="947"/>
                </a:moveTo>
                <a:lnTo>
                  <a:pt x="14" y="960"/>
                </a:lnTo>
                <a:lnTo>
                  <a:pt x="0" y="960"/>
                </a:lnTo>
                <a:lnTo>
                  <a:pt x="0" y="947"/>
                </a:lnTo>
                <a:lnTo>
                  <a:pt x="14" y="947"/>
                </a:lnTo>
                <a:close/>
                <a:moveTo>
                  <a:pt x="14" y="974"/>
                </a:moveTo>
                <a:lnTo>
                  <a:pt x="14" y="988"/>
                </a:lnTo>
                <a:lnTo>
                  <a:pt x="0" y="988"/>
                </a:lnTo>
                <a:lnTo>
                  <a:pt x="0" y="974"/>
                </a:lnTo>
                <a:lnTo>
                  <a:pt x="14" y="974"/>
                </a:lnTo>
                <a:close/>
                <a:moveTo>
                  <a:pt x="14" y="1002"/>
                </a:moveTo>
                <a:lnTo>
                  <a:pt x="14" y="1016"/>
                </a:lnTo>
                <a:lnTo>
                  <a:pt x="0" y="1016"/>
                </a:lnTo>
                <a:lnTo>
                  <a:pt x="0" y="1002"/>
                </a:lnTo>
                <a:lnTo>
                  <a:pt x="14" y="1002"/>
                </a:lnTo>
                <a:close/>
                <a:moveTo>
                  <a:pt x="14" y="1030"/>
                </a:moveTo>
                <a:lnTo>
                  <a:pt x="14" y="1044"/>
                </a:lnTo>
                <a:lnTo>
                  <a:pt x="0" y="1044"/>
                </a:lnTo>
                <a:lnTo>
                  <a:pt x="0" y="1030"/>
                </a:lnTo>
                <a:lnTo>
                  <a:pt x="14" y="1030"/>
                </a:lnTo>
                <a:close/>
                <a:moveTo>
                  <a:pt x="14" y="1058"/>
                </a:moveTo>
                <a:lnTo>
                  <a:pt x="14" y="1072"/>
                </a:lnTo>
                <a:lnTo>
                  <a:pt x="0" y="1072"/>
                </a:lnTo>
                <a:lnTo>
                  <a:pt x="0" y="1058"/>
                </a:lnTo>
                <a:lnTo>
                  <a:pt x="14" y="1058"/>
                </a:lnTo>
                <a:close/>
                <a:moveTo>
                  <a:pt x="14" y="1086"/>
                </a:moveTo>
                <a:lnTo>
                  <a:pt x="14" y="1100"/>
                </a:lnTo>
                <a:lnTo>
                  <a:pt x="0" y="1100"/>
                </a:lnTo>
                <a:lnTo>
                  <a:pt x="0" y="1086"/>
                </a:lnTo>
                <a:lnTo>
                  <a:pt x="14" y="1086"/>
                </a:lnTo>
                <a:close/>
                <a:moveTo>
                  <a:pt x="14" y="1114"/>
                </a:moveTo>
                <a:lnTo>
                  <a:pt x="14" y="1127"/>
                </a:lnTo>
                <a:lnTo>
                  <a:pt x="0" y="1127"/>
                </a:lnTo>
                <a:lnTo>
                  <a:pt x="0" y="1114"/>
                </a:lnTo>
                <a:lnTo>
                  <a:pt x="14" y="1114"/>
                </a:lnTo>
                <a:close/>
                <a:moveTo>
                  <a:pt x="14" y="1141"/>
                </a:moveTo>
                <a:lnTo>
                  <a:pt x="14" y="1155"/>
                </a:lnTo>
                <a:lnTo>
                  <a:pt x="0" y="1155"/>
                </a:lnTo>
                <a:lnTo>
                  <a:pt x="0" y="1141"/>
                </a:lnTo>
                <a:lnTo>
                  <a:pt x="14" y="1141"/>
                </a:lnTo>
                <a:close/>
                <a:moveTo>
                  <a:pt x="14" y="1169"/>
                </a:moveTo>
                <a:lnTo>
                  <a:pt x="14" y="1183"/>
                </a:lnTo>
                <a:lnTo>
                  <a:pt x="0" y="1183"/>
                </a:lnTo>
                <a:lnTo>
                  <a:pt x="0" y="1169"/>
                </a:lnTo>
                <a:lnTo>
                  <a:pt x="14" y="1169"/>
                </a:lnTo>
                <a:close/>
                <a:moveTo>
                  <a:pt x="14" y="1197"/>
                </a:moveTo>
                <a:lnTo>
                  <a:pt x="14" y="1211"/>
                </a:lnTo>
                <a:lnTo>
                  <a:pt x="0" y="1211"/>
                </a:lnTo>
                <a:lnTo>
                  <a:pt x="0" y="1197"/>
                </a:lnTo>
                <a:lnTo>
                  <a:pt x="14" y="1197"/>
                </a:lnTo>
                <a:close/>
                <a:moveTo>
                  <a:pt x="14" y="1225"/>
                </a:moveTo>
                <a:lnTo>
                  <a:pt x="14" y="1239"/>
                </a:lnTo>
                <a:lnTo>
                  <a:pt x="0" y="1239"/>
                </a:lnTo>
                <a:lnTo>
                  <a:pt x="0" y="1225"/>
                </a:lnTo>
                <a:lnTo>
                  <a:pt x="14" y="1225"/>
                </a:lnTo>
                <a:close/>
                <a:moveTo>
                  <a:pt x="14" y="1253"/>
                </a:moveTo>
                <a:lnTo>
                  <a:pt x="14" y="1267"/>
                </a:lnTo>
                <a:lnTo>
                  <a:pt x="0" y="1267"/>
                </a:lnTo>
                <a:lnTo>
                  <a:pt x="0" y="1253"/>
                </a:lnTo>
                <a:lnTo>
                  <a:pt x="14" y="1253"/>
                </a:lnTo>
                <a:close/>
                <a:moveTo>
                  <a:pt x="14" y="1281"/>
                </a:moveTo>
                <a:lnTo>
                  <a:pt x="14" y="1294"/>
                </a:lnTo>
                <a:lnTo>
                  <a:pt x="0" y="1294"/>
                </a:lnTo>
                <a:lnTo>
                  <a:pt x="0" y="1281"/>
                </a:lnTo>
                <a:lnTo>
                  <a:pt x="14" y="1281"/>
                </a:lnTo>
                <a:close/>
                <a:moveTo>
                  <a:pt x="14" y="1308"/>
                </a:moveTo>
                <a:lnTo>
                  <a:pt x="14" y="1322"/>
                </a:lnTo>
                <a:lnTo>
                  <a:pt x="0" y="1322"/>
                </a:lnTo>
                <a:lnTo>
                  <a:pt x="0" y="1308"/>
                </a:lnTo>
                <a:lnTo>
                  <a:pt x="14" y="1308"/>
                </a:lnTo>
                <a:close/>
                <a:moveTo>
                  <a:pt x="14" y="1336"/>
                </a:moveTo>
                <a:lnTo>
                  <a:pt x="14" y="1350"/>
                </a:lnTo>
                <a:lnTo>
                  <a:pt x="0" y="1350"/>
                </a:lnTo>
                <a:lnTo>
                  <a:pt x="0" y="1336"/>
                </a:lnTo>
                <a:lnTo>
                  <a:pt x="14" y="1336"/>
                </a:lnTo>
                <a:close/>
                <a:moveTo>
                  <a:pt x="14" y="1364"/>
                </a:moveTo>
                <a:lnTo>
                  <a:pt x="14" y="1378"/>
                </a:lnTo>
                <a:lnTo>
                  <a:pt x="0" y="1378"/>
                </a:lnTo>
                <a:lnTo>
                  <a:pt x="0" y="1364"/>
                </a:lnTo>
                <a:lnTo>
                  <a:pt x="14" y="1364"/>
                </a:lnTo>
                <a:close/>
                <a:moveTo>
                  <a:pt x="14" y="1392"/>
                </a:moveTo>
                <a:lnTo>
                  <a:pt x="14" y="1406"/>
                </a:lnTo>
                <a:lnTo>
                  <a:pt x="0" y="1406"/>
                </a:lnTo>
                <a:lnTo>
                  <a:pt x="0" y="1392"/>
                </a:lnTo>
                <a:lnTo>
                  <a:pt x="14" y="1392"/>
                </a:lnTo>
                <a:close/>
                <a:moveTo>
                  <a:pt x="14" y="1420"/>
                </a:moveTo>
                <a:lnTo>
                  <a:pt x="14" y="1434"/>
                </a:lnTo>
                <a:lnTo>
                  <a:pt x="0" y="1434"/>
                </a:lnTo>
                <a:lnTo>
                  <a:pt x="0" y="1420"/>
                </a:lnTo>
                <a:lnTo>
                  <a:pt x="14" y="1420"/>
                </a:lnTo>
                <a:close/>
                <a:moveTo>
                  <a:pt x="14" y="1448"/>
                </a:moveTo>
                <a:lnTo>
                  <a:pt x="14" y="1461"/>
                </a:lnTo>
                <a:lnTo>
                  <a:pt x="0" y="1461"/>
                </a:lnTo>
                <a:lnTo>
                  <a:pt x="0" y="1448"/>
                </a:lnTo>
                <a:lnTo>
                  <a:pt x="14" y="1448"/>
                </a:lnTo>
                <a:close/>
                <a:moveTo>
                  <a:pt x="14" y="1475"/>
                </a:moveTo>
                <a:lnTo>
                  <a:pt x="14" y="1489"/>
                </a:lnTo>
                <a:lnTo>
                  <a:pt x="0" y="1489"/>
                </a:lnTo>
                <a:lnTo>
                  <a:pt x="0" y="1475"/>
                </a:lnTo>
                <a:lnTo>
                  <a:pt x="14" y="1475"/>
                </a:lnTo>
                <a:close/>
                <a:moveTo>
                  <a:pt x="14" y="1503"/>
                </a:moveTo>
                <a:lnTo>
                  <a:pt x="14" y="1517"/>
                </a:lnTo>
                <a:lnTo>
                  <a:pt x="0" y="1517"/>
                </a:lnTo>
                <a:lnTo>
                  <a:pt x="0" y="1503"/>
                </a:lnTo>
                <a:lnTo>
                  <a:pt x="14" y="1503"/>
                </a:lnTo>
                <a:close/>
                <a:moveTo>
                  <a:pt x="14" y="1531"/>
                </a:moveTo>
                <a:lnTo>
                  <a:pt x="14" y="1545"/>
                </a:lnTo>
                <a:lnTo>
                  <a:pt x="0" y="1545"/>
                </a:lnTo>
                <a:lnTo>
                  <a:pt x="0" y="1531"/>
                </a:lnTo>
                <a:lnTo>
                  <a:pt x="14" y="1531"/>
                </a:lnTo>
                <a:close/>
                <a:moveTo>
                  <a:pt x="14" y="1559"/>
                </a:moveTo>
                <a:lnTo>
                  <a:pt x="14" y="1573"/>
                </a:lnTo>
                <a:lnTo>
                  <a:pt x="0" y="1573"/>
                </a:lnTo>
                <a:lnTo>
                  <a:pt x="0" y="1559"/>
                </a:lnTo>
                <a:lnTo>
                  <a:pt x="14" y="1559"/>
                </a:lnTo>
                <a:close/>
                <a:moveTo>
                  <a:pt x="14" y="1587"/>
                </a:moveTo>
                <a:lnTo>
                  <a:pt x="14" y="1601"/>
                </a:lnTo>
                <a:lnTo>
                  <a:pt x="0" y="1601"/>
                </a:lnTo>
                <a:lnTo>
                  <a:pt x="0" y="1587"/>
                </a:lnTo>
                <a:lnTo>
                  <a:pt x="14" y="1587"/>
                </a:lnTo>
                <a:close/>
                <a:moveTo>
                  <a:pt x="14" y="1615"/>
                </a:moveTo>
                <a:lnTo>
                  <a:pt x="14" y="1628"/>
                </a:lnTo>
                <a:lnTo>
                  <a:pt x="0" y="1628"/>
                </a:lnTo>
                <a:lnTo>
                  <a:pt x="0" y="1615"/>
                </a:lnTo>
                <a:lnTo>
                  <a:pt x="14" y="1615"/>
                </a:lnTo>
                <a:close/>
                <a:moveTo>
                  <a:pt x="14" y="1642"/>
                </a:moveTo>
                <a:lnTo>
                  <a:pt x="14" y="1656"/>
                </a:lnTo>
                <a:lnTo>
                  <a:pt x="0" y="1656"/>
                </a:lnTo>
                <a:lnTo>
                  <a:pt x="0" y="1642"/>
                </a:lnTo>
                <a:lnTo>
                  <a:pt x="14" y="1642"/>
                </a:lnTo>
                <a:close/>
                <a:moveTo>
                  <a:pt x="14" y="1670"/>
                </a:moveTo>
                <a:lnTo>
                  <a:pt x="14" y="1684"/>
                </a:lnTo>
                <a:lnTo>
                  <a:pt x="0" y="1684"/>
                </a:lnTo>
                <a:lnTo>
                  <a:pt x="0" y="1670"/>
                </a:lnTo>
                <a:lnTo>
                  <a:pt x="14" y="1670"/>
                </a:lnTo>
                <a:close/>
                <a:moveTo>
                  <a:pt x="14" y="1698"/>
                </a:moveTo>
                <a:lnTo>
                  <a:pt x="14" y="1712"/>
                </a:lnTo>
                <a:lnTo>
                  <a:pt x="0" y="1712"/>
                </a:lnTo>
                <a:lnTo>
                  <a:pt x="0" y="1698"/>
                </a:lnTo>
                <a:lnTo>
                  <a:pt x="14" y="1698"/>
                </a:lnTo>
                <a:close/>
                <a:moveTo>
                  <a:pt x="14" y="1726"/>
                </a:moveTo>
                <a:lnTo>
                  <a:pt x="14" y="1740"/>
                </a:lnTo>
                <a:lnTo>
                  <a:pt x="0" y="1740"/>
                </a:lnTo>
                <a:lnTo>
                  <a:pt x="0" y="1726"/>
                </a:lnTo>
                <a:lnTo>
                  <a:pt x="14" y="1726"/>
                </a:lnTo>
                <a:close/>
                <a:moveTo>
                  <a:pt x="14" y="1754"/>
                </a:moveTo>
                <a:lnTo>
                  <a:pt x="14" y="1768"/>
                </a:lnTo>
                <a:lnTo>
                  <a:pt x="0" y="1768"/>
                </a:lnTo>
                <a:lnTo>
                  <a:pt x="0" y="1754"/>
                </a:lnTo>
                <a:lnTo>
                  <a:pt x="14" y="1754"/>
                </a:lnTo>
                <a:close/>
                <a:moveTo>
                  <a:pt x="14" y="1782"/>
                </a:moveTo>
                <a:lnTo>
                  <a:pt x="14" y="1795"/>
                </a:lnTo>
                <a:lnTo>
                  <a:pt x="0" y="1795"/>
                </a:lnTo>
                <a:lnTo>
                  <a:pt x="0" y="1782"/>
                </a:lnTo>
                <a:lnTo>
                  <a:pt x="14" y="1782"/>
                </a:lnTo>
                <a:close/>
                <a:moveTo>
                  <a:pt x="14" y="1809"/>
                </a:moveTo>
                <a:lnTo>
                  <a:pt x="14" y="1823"/>
                </a:lnTo>
                <a:lnTo>
                  <a:pt x="0" y="1823"/>
                </a:lnTo>
                <a:lnTo>
                  <a:pt x="0" y="1809"/>
                </a:lnTo>
                <a:lnTo>
                  <a:pt x="14" y="1809"/>
                </a:lnTo>
                <a:close/>
                <a:moveTo>
                  <a:pt x="14" y="1837"/>
                </a:moveTo>
                <a:lnTo>
                  <a:pt x="14" y="1851"/>
                </a:lnTo>
                <a:lnTo>
                  <a:pt x="0" y="1851"/>
                </a:lnTo>
                <a:lnTo>
                  <a:pt x="0" y="1837"/>
                </a:lnTo>
                <a:lnTo>
                  <a:pt x="14" y="1837"/>
                </a:lnTo>
                <a:close/>
                <a:moveTo>
                  <a:pt x="14" y="1865"/>
                </a:moveTo>
                <a:lnTo>
                  <a:pt x="14" y="1879"/>
                </a:lnTo>
                <a:lnTo>
                  <a:pt x="0" y="1879"/>
                </a:lnTo>
                <a:lnTo>
                  <a:pt x="0" y="1865"/>
                </a:lnTo>
                <a:lnTo>
                  <a:pt x="14" y="1865"/>
                </a:lnTo>
                <a:close/>
                <a:moveTo>
                  <a:pt x="14" y="1893"/>
                </a:moveTo>
                <a:lnTo>
                  <a:pt x="14" y="1907"/>
                </a:lnTo>
                <a:lnTo>
                  <a:pt x="0" y="1907"/>
                </a:lnTo>
                <a:lnTo>
                  <a:pt x="0" y="1893"/>
                </a:lnTo>
                <a:lnTo>
                  <a:pt x="14" y="1893"/>
                </a:lnTo>
                <a:close/>
                <a:moveTo>
                  <a:pt x="14" y="1921"/>
                </a:moveTo>
                <a:lnTo>
                  <a:pt x="14" y="1935"/>
                </a:lnTo>
                <a:lnTo>
                  <a:pt x="0" y="1935"/>
                </a:lnTo>
                <a:lnTo>
                  <a:pt x="0" y="1921"/>
                </a:lnTo>
                <a:lnTo>
                  <a:pt x="14" y="1921"/>
                </a:lnTo>
                <a:close/>
                <a:moveTo>
                  <a:pt x="14" y="1949"/>
                </a:moveTo>
                <a:lnTo>
                  <a:pt x="14" y="1962"/>
                </a:lnTo>
                <a:lnTo>
                  <a:pt x="0" y="1962"/>
                </a:lnTo>
                <a:lnTo>
                  <a:pt x="0" y="1949"/>
                </a:lnTo>
                <a:lnTo>
                  <a:pt x="14" y="1949"/>
                </a:lnTo>
                <a:close/>
                <a:moveTo>
                  <a:pt x="14" y="1976"/>
                </a:moveTo>
                <a:lnTo>
                  <a:pt x="14" y="1990"/>
                </a:lnTo>
                <a:lnTo>
                  <a:pt x="0" y="1990"/>
                </a:lnTo>
                <a:lnTo>
                  <a:pt x="0" y="1976"/>
                </a:lnTo>
                <a:lnTo>
                  <a:pt x="14" y="1976"/>
                </a:lnTo>
                <a:close/>
                <a:moveTo>
                  <a:pt x="14" y="2004"/>
                </a:moveTo>
                <a:lnTo>
                  <a:pt x="14" y="2018"/>
                </a:lnTo>
                <a:lnTo>
                  <a:pt x="0" y="2018"/>
                </a:lnTo>
                <a:lnTo>
                  <a:pt x="0" y="2004"/>
                </a:lnTo>
                <a:lnTo>
                  <a:pt x="14" y="2004"/>
                </a:lnTo>
                <a:close/>
                <a:moveTo>
                  <a:pt x="14" y="2032"/>
                </a:moveTo>
                <a:lnTo>
                  <a:pt x="14" y="2046"/>
                </a:lnTo>
                <a:lnTo>
                  <a:pt x="0" y="2046"/>
                </a:lnTo>
                <a:lnTo>
                  <a:pt x="0" y="2032"/>
                </a:lnTo>
                <a:lnTo>
                  <a:pt x="14" y="2032"/>
                </a:lnTo>
                <a:close/>
                <a:moveTo>
                  <a:pt x="14" y="2060"/>
                </a:moveTo>
                <a:lnTo>
                  <a:pt x="14" y="2074"/>
                </a:lnTo>
                <a:lnTo>
                  <a:pt x="0" y="2074"/>
                </a:lnTo>
                <a:lnTo>
                  <a:pt x="0" y="2060"/>
                </a:lnTo>
                <a:lnTo>
                  <a:pt x="14" y="2060"/>
                </a:lnTo>
                <a:close/>
                <a:moveTo>
                  <a:pt x="14" y="2087"/>
                </a:moveTo>
                <a:lnTo>
                  <a:pt x="14" y="2102"/>
                </a:lnTo>
                <a:lnTo>
                  <a:pt x="0" y="2102"/>
                </a:lnTo>
                <a:lnTo>
                  <a:pt x="0" y="2087"/>
                </a:lnTo>
                <a:lnTo>
                  <a:pt x="14" y="2087"/>
                </a:lnTo>
                <a:close/>
                <a:moveTo>
                  <a:pt x="14" y="2116"/>
                </a:moveTo>
                <a:lnTo>
                  <a:pt x="14" y="2129"/>
                </a:lnTo>
                <a:lnTo>
                  <a:pt x="0" y="2129"/>
                </a:lnTo>
                <a:lnTo>
                  <a:pt x="0" y="2116"/>
                </a:lnTo>
                <a:lnTo>
                  <a:pt x="14" y="2116"/>
                </a:lnTo>
                <a:close/>
                <a:moveTo>
                  <a:pt x="14" y="2143"/>
                </a:moveTo>
                <a:lnTo>
                  <a:pt x="14" y="2157"/>
                </a:lnTo>
                <a:lnTo>
                  <a:pt x="0" y="2157"/>
                </a:lnTo>
                <a:lnTo>
                  <a:pt x="0" y="2143"/>
                </a:lnTo>
                <a:lnTo>
                  <a:pt x="14" y="2143"/>
                </a:lnTo>
                <a:close/>
                <a:moveTo>
                  <a:pt x="14" y="2171"/>
                </a:moveTo>
                <a:lnTo>
                  <a:pt x="14" y="2185"/>
                </a:lnTo>
                <a:lnTo>
                  <a:pt x="0" y="2185"/>
                </a:lnTo>
                <a:lnTo>
                  <a:pt x="0" y="2171"/>
                </a:lnTo>
                <a:lnTo>
                  <a:pt x="14" y="2171"/>
                </a:lnTo>
                <a:close/>
                <a:moveTo>
                  <a:pt x="14" y="2199"/>
                </a:moveTo>
                <a:lnTo>
                  <a:pt x="14" y="2213"/>
                </a:lnTo>
                <a:lnTo>
                  <a:pt x="0" y="2213"/>
                </a:lnTo>
                <a:lnTo>
                  <a:pt x="0" y="2199"/>
                </a:lnTo>
                <a:lnTo>
                  <a:pt x="14" y="2199"/>
                </a:lnTo>
                <a:close/>
                <a:moveTo>
                  <a:pt x="14" y="2227"/>
                </a:moveTo>
                <a:lnTo>
                  <a:pt x="14" y="2241"/>
                </a:lnTo>
                <a:lnTo>
                  <a:pt x="0" y="2241"/>
                </a:lnTo>
                <a:lnTo>
                  <a:pt x="0" y="2227"/>
                </a:lnTo>
                <a:lnTo>
                  <a:pt x="14" y="2227"/>
                </a:lnTo>
                <a:close/>
                <a:moveTo>
                  <a:pt x="14" y="2254"/>
                </a:moveTo>
                <a:lnTo>
                  <a:pt x="14" y="2268"/>
                </a:lnTo>
                <a:lnTo>
                  <a:pt x="0" y="2268"/>
                </a:lnTo>
                <a:lnTo>
                  <a:pt x="0" y="2254"/>
                </a:lnTo>
                <a:lnTo>
                  <a:pt x="14" y="2254"/>
                </a:lnTo>
                <a:close/>
                <a:moveTo>
                  <a:pt x="14" y="2283"/>
                </a:moveTo>
                <a:lnTo>
                  <a:pt x="14" y="2296"/>
                </a:lnTo>
                <a:lnTo>
                  <a:pt x="0" y="2296"/>
                </a:lnTo>
                <a:lnTo>
                  <a:pt x="0" y="2283"/>
                </a:lnTo>
                <a:lnTo>
                  <a:pt x="14" y="2283"/>
                </a:lnTo>
                <a:close/>
                <a:moveTo>
                  <a:pt x="14" y="2310"/>
                </a:moveTo>
                <a:lnTo>
                  <a:pt x="14" y="2324"/>
                </a:lnTo>
                <a:lnTo>
                  <a:pt x="0" y="2324"/>
                </a:lnTo>
                <a:lnTo>
                  <a:pt x="0" y="2310"/>
                </a:lnTo>
                <a:lnTo>
                  <a:pt x="14" y="2310"/>
                </a:lnTo>
                <a:close/>
                <a:moveTo>
                  <a:pt x="14" y="2338"/>
                </a:moveTo>
                <a:lnTo>
                  <a:pt x="14" y="2352"/>
                </a:lnTo>
                <a:lnTo>
                  <a:pt x="0" y="2352"/>
                </a:lnTo>
                <a:lnTo>
                  <a:pt x="0" y="2338"/>
                </a:lnTo>
                <a:lnTo>
                  <a:pt x="14" y="2338"/>
                </a:lnTo>
                <a:close/>
                <a:moveTo>
                  <a:pt x="14" y="2366"/>
                </a:moveTo>
                <a:lnTo>
                  <a:pt x="14" y="2380"/>
                </a:lnTo>
                <a:lnTo>
                  <a:pt x="0" y="2380"/>
                </a:lnTo>
                <a:lnTo>
                  <a:pt x="0" y="2366"/>
                </a:lnTo>
                <a:lnTo>
                  <a:pt x="14" y="2366"/>
                </a:lnTo>
                <a:close/>
                <a:moveTo>
                  <a:pt x="14" y="2394"/>
                </a:moveTo>
                <a:lnTo>
                  <a:pt x="14" y="2408"/>
                </a:lnTo>
                <a:lnTo>
                  <a:pt x="0" y="2408"/>
                </a:lnTo>
                <a:lnTo>
                  <a:pt x="0" y="2394"/>
                </a:lnTo>
                <a:lnTo>
                  <a:pt x="14" y="2394"/>
                </a:lnTo>
                <a:close/>
                <a:moveTo>
                  <a:pt x="14" y="2421"/>
                </a:moveTo>
                <a:lnTo>
                  <a:pt x="14" y="2435"/>
                </a:lnTo>
                <a:lnTo>
                  <a:pt x="0" y="2435"/>
                </a:lnTo>
                <a:lnTo>
                  <a:pt x="0" y="2421"/>
                </a:lnTo>
                <a:lnTo>
                  <a:pt x="14" y="2421"/>
                </a:lnTo>
                <a:close/>
                <a:moveTo>
                  <a:pt x="14" y="2449"/>
                </a:moveTo>
                <a:lnTo>
                  <a:pt x="14" y="2453"/>
                </a:lnTo>
                <a:lnTo>
                  <a:pt x="0" y="2453"/>
                </a:lnTo>
                <a:lnTo>
                  <a:pt x="0" y="2449"/>
                </a:lnTo>
                <a:lnTo>
                  <a:pt x="14" y="2449"/>
                </a:lnTo>
                <a:close/>
              </a:path>
            </a:pathLst>
          </a:custGeom>
          <a:solidFill>
            <a:srgbClr val="000000"/>
          </a:solidFill>
          <a:ln w="0" cap="flat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34" name="Freeform 31">
            <a:extLst>
              <a:ext uri="{FF2B5EF4-FFF2-40B4-BE49-F238E27FC236}">
                <a16:creationId xmlns:a16="http://schemas.microsoft.com/office/drawing/2014/main" id="{F3D6C65C-FA03-4A46-94E2-A50DA960335E}"/>
              </a:ext>
            </a:extLst>
          </p:cNvPr>
          <p:cNvSpPr>
            <a:spLocks noEditPoints="1"/>
          </p:cNvSpPr>
          <p:nvPr/>
        </p:nvSpPr>
        <p:spPr bwMode="auto">
          <a:xfrm>
            <a:off x="6101985" y="2267962"/>
            <a:ext cx="23813" cy="3894138"/>
          </a:xfrm>
          <a:custGeom>
            <a:avLst/>
            <a:gdLst>
              <a:gd name="T0" fmla="*/ 15 w 15"/>
              <a:gd name="T1" fmla="*/ 42 h 2453"/>
              <a:gd name="T2" fmla="*/ 0 w 15"/>
              <a:gd name="T3" fmla="*/ 56 h 2453"/>
              <a:gd name="T4" fmla="*/ 15 w 15"/>
              <a:gd name="T5" fmla="*/ 112 h 2453"/>
              <a:gd name="T6" fmla="*/ 0 w 15"/>
              <a:gd name="T7" fmla="*/ 154 h 2453"/>
              <a:gd name="T8" fmla="*/ 15 w 15"/>
              <a:gd name="T9" fmla="*/ 167 h 2453"/>
              <a:gd name="T10" fmla="*/ 15 w 15"/>
              <a:gd name="T11" fmla="*/ 237 h 2453"/>
              <a:gd name="T12" fmla="*/ 0 w 15"/>
              <a:gd name="T13" fmla="*/ 251 h 2453"/>
              <a:gd name="T14" fmla="*/ 15 w 15"/>
              <a:gd name="T15" fmla="*/ 307 h 2453"/>
              <a:gd name="T16" fmla="*/ 0 w 15"/>
              <a:gd name="T17" fmla="*/ 348 h 2453"/>
              <a:gd name="T18" fmla="*/ 15 w 15"/>
              <a:gd name="T19" fmla="*/ 362 h 2453"/>
              <a:gd name="T20" fmla="*/ 15 w 15"/>
              <a:gd name="T21" fmla="*/ 432 h 2453"/>
              <a:gd name="T22" fmla="*/ 0 w 15"/>
              <a:gd name="T23" fmla="*/ 446 h 2453"/>
              <a:gd name="T24" fmla="*/ 15 w 15"/>
              <a:gd name="T25" fmla="*/ 501 h 2453"/>
              <a:gd name="T26" fmla="*/ 0 w 15"/>
              <a:gd name="T27" fmla="*/ 543 h 2453"/>
              <a:gd name="T28" fmla="*/ 15 w 15"/>
              <a:gd name="T29" fmla="*/ 557 h 2453"/>
              <a:gd name="T30" fmla="*/ 15 w 15"/>
              <a:gd name="T31" fmla="*/ 627 h 2453"/>
              <a:gd name="T32" fmla="*/ 0 w 15"/>
              <a:gd name="T33" fmla="*/ 641 h 2453"/>
              <a:gd name="T34" fmla="*/ 15 w 15"/>
              <a:gd name="T35" fmla="*/ 696 h 2453"/>
              <a:gd name="T36" fmla="*/ 0 w 15"/>
              <a:gd name="T37" fmla="*/ 738 h 2453"/>
              <a:gd name="T38" fmla="*/ 15 w 15"/>
              <a:gd name="T39" fmla="*/ 752 h 2453"/>
              <a:gd name="T40" fmla="*/ 15 w 15"/>
              <a:gd name="T41" fmla="*/ 822 h 2453"/>
              <a:gd name="T42" fmla="*/ 0 w 15"/>
              <a:gd name="T43" fmla="*/ 835 h 2453"/>
              <a:gd name="T44" fmla="*/ 15 w 15"/>
              <a:gd name="T45" fmla="*/ 891 h 2453"/>
              <a:gd name="T46" fmla="*/ 0 w 15"/>
              <a:gd name="T47" fmla="*/ 933 h 2453"/>
              <a:gd name="T48" fmla="*/ 15 w 15"/>
              <a:gd name="T49" fmla="*/ 947 h 2453"/>
              <a:gd name="T50" fmla="*/ 15 w 15"/>
              <a:gd name="T51" fmla="*/ 1016 h 2453"/>
              <a:gd name="T52" fmla="*/ 0 w 15"/>
              <a:gd name="T53" fmla="*/ 1030 h 2453"/>
              <a:gd name="T54" fmla="*/ 15 w 15"/>
              <a:gd name="T55" fmla="*/ 1086 h 2453"/>
              <a:gd name="T56" fmla="*/ 0 w 15"/>
              <a:gd name="T57" fmla="*/ 1127 h 2453"/>
              <a:gd name="T58" fmla="*/ 15 w 15"/>
              <a:gd name="T59" fmla="*/ 1141 h 2453"/>
              <a:gd name="T60" fmla="*/ 15 w 15"/>
              <a:gd name="T61" fmla="*/ 1211 h 2453"/>
              <a:gd name="T62" fmla="*/ 0 w 15"/>
              <a:gd name="T63" fmla="*/ 1225 h 2453"/>
              <a:gd name="T64" fmla="*/ 15 w 15"/>
              <a:gd name="T65" fmla="*/ 1281 h 2453"/>
              <a:gd name="T66" fmla="*/ 0 w 15"/>
              <a:gd name="T67" fmla="*/ 1322 h 2453"/>
              <a:gd name="T68" fmla="*/ 15 w 15"/>
              <a:gd name="T69" fmla="*/ 1336 h 2453"/>
              <a:gd name="T70" fmla="*/ 15 w 15"/>
              <a:gd name="T71" fmla="*/ 1406 h 2453"/>
              <a:gd name="T72" fmla="*/ 0 w 15"/>
              <a:gd name="T73" fmla="*/ 1420 h 2453"/>
              <a:gd name="T74" fmla="*/ 15 w 15"/>
              <a:gd name="T75" fmla="*/ 1475 h 2453"/>
              <a:gd name="T76" fmla="*/ 0 w 15"/>
              <a:gd name="T77" fmla="*/ 1517 h 2453"/>
              <a:gd name="T78" fmla="*/ 15 w 15"/>
              <a:gd name="T79" fmla="*/ 1531 h 2453"/>
              <a:gd name="T80" fmla="*/ 15 w 15"/>
              <a:gd name="T81" fmla="*/ 1601 h 2453"/>
              <a:gd name="T82" fmla="*/ 0 w 15"/>
              <a:gd name="T83" fmla="*/ 1615 h 2453"/>
              <a:gd name="T84" fmla="*/ 15 w 15"/>
              <a:gd name="T85" fmla="*/ 1670 h 2453"/>
              <a:gd name="T86" fmla="*/ 0 w 15"/>
              <a:gd name="T87" fmla="*/ 1712 h 2453"/>
              <a:gd name="T88" fmla="*/ 15 w 15"/>
              <a:gd name="T89" fmla="*/ 1726 h 2453"/>
              <a:gd name="T90" fmla="*/ 15 w 15"/>
              <a:gd name="T91" fmla="*/ 1795 h 2453"/>
              <a:gd name="T92" fmla="*/ 0 w 15"/>
              <a:gd name="T93" fmla="*/ 1809 h 2453"/>
              <a:gd name="T94" fmla="*/ 15 w 15"/>
              <a:gd name="T95" fmla="*/ 1865 h 2453"/>
              <a:gd name="T96" fmla="*/ 0 w 15"/>
              <a:gd name="T97" fmla="*/ 1907 h 2453"/>
              <a:gd name="T98" fmla="*/ 15 w 15"/>
              <a:gd name="T99" fmla="*/ 1921 h 2453"/>
              <a:gd name="T100" fmla="*/ 15 w 15"/>
              <a:gd name="T101" fmla="*/ 1990 h 2453"/>
              <a:gd name="T102" fmla="*/ 0 w 15"/>
              <a:gd name="T103" fmla="*/ 2004 h 2453"/>
              <a:gd name="T104" fmla="*/ 15 w 15"/>
              <a:gd name="T105" fmla="*/ 2060 h 2453"/>
              <a:gd name="T106" fmla="*/ 0 w 15"/>
              <a:gd name="T107" fmla="*/ 2102 h 2453"/>
              <a:gd name="T108" fmla="*/ 15 w 15"/>
              <a:gd name="T109" fmla="*/ 2116 h 2453"/>
              <a:gd name="T110" fmla="*/ 15 w 15"/>
              <a:gd name="T111" fmla="*/ 2185 h 2453"/>
              <a:gd name="T112" fmla="*/ 0 w 15"/>
              <a:gd name="T113" fmla="*/ 2199 h 2453"/>
              <a:gd name="T114" fmla="*/ 15 w 15"/>
              <a:gd name="T115" fmla="*/ 2254 h 2453"/>
              <a:gd name="T116" fmla="*/ 0 w 15"/>
              <a:gd name="T117" fmla="*/ 2296 h 2453"/>
              <a:gd name="T118" fmla="*/ 15 w 15"/>
              <a:gd name="T119" fmla="*/ 2310 h 2453"/>
              <a:gd name="T120" fmla="*/ 15 w 15"/>
              <a:gd name="T121" fmla="*/ 2380 h 2453"/>
              <a:gd name="T122" fmla="*/ 0 w 15"/>
              <a:gd name="T123" fmla="*/ 2394 h 2453"/>
              <a:gd name="T124" fmla="*/ 15 w 15"/>
              <a:gd name="T125" fmla="*/ 2449 h 24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15" h="2453">
                <a:moveTo>
                  <a:pt x="15" y="0"/>
                </a:moveTo>
                <a:lnTo>
                  <a:pt x="15" y="14"/>
                </a:lnTo>
                <a:lnTo>
                  <a:pt x="0" y="14"/>
                </a:lnTo>
                <a:lnTo>
                  <a:pt x="0" y="0"/>
                </a:lnTo>
                <a:lnTo>
                  <a:pt x="15" y="0"/>
                </a:lnTo>
                <a:close/>
                <a:moveTo>
                  <a:pt x="15" y="28"/>
                </a:moveTo>
                <a:lnTo>
                  <a:pt x="15" y="42"/>
                </a:lnTo>
                <a:lnTo>
                  <a:pt x="0" y="42"/>
                </a:lnTo>
                <a:lnTo>
                  <a:pt x="0" y="28"/>
                </a:lnTo>
                <a:lnTo>
                  <a:pt x="15" y="28"/>
                </a:lnTo>
                <a:close/>
                <a:moveTo>
                  <a:pt x="15" y="56"/>
                </a:moveTo>
                <a:lnTo>
                  <a:pt x="15" y="70"/>
                </a:lnTo>
                <a:lnTo>
                  <a:pt x="0" y="70"/>
                </a:lnTo>
                <a:lnTo>
                  <a:pt x="0" y="56"/>
                </a:lnTo>
                <a:lnTo>
                  <a:pt x="15" y="56"/>
                </a:lnTo>
                <a:close/>
                <a:moveTo>
                  <a:pt x="15" y="84"/>
                </a:moveTo>
                <a:lnTo>
                  <a:pt x="15" y="98"/>
                </a:lnTo>
                <a:lnTo>
                  <a:pt x="0" y="98"/>
                </a:lnTo>
                <a:lnTo>
                  <a:pt x="0" y="84"/>
                </a:lnTo>
                <a:lnTo>
                  <a:pt x="15" y="84"/>
                </a:lnTo>
                <a:close/>
                <a:moveTo>
                  <a:pt x="15" y="112"/>
                </a:moveTo>
                <a:lnTo>
                  <a:pt x="15" y="126"/>
                </a:lnTo>
                <a:lnTo>
                  <a:pt x="0" y="126"/>
                </a:lnTo>
                <a:lnTo>
                  <a:pt x="0" y="112"/>
                </a:lnTo>
                <a:lnTo>
                  <a:pt x="15" y="112"/>
                </a:lnTo>
                <a:close/>
                <a:moveTo>
                  <a:pt x="15" y="140"/>
                </a:moveTo>
                <a:lnTo>
                  <a:pt x="15" y="154"/>
                </a:lnTo>
                <a:lnTo>
                  <a:pt x="0" y="154"/>
                </a:lnTo>
                <a:lnTo>
                  <a:pt x="0" y="140"/>
                </a:lnTo>
                <a:lnTo>
                  <a:pt x="15" y="140"/>
                </a:lnTo>
                <a:close/>
                <a:moveTo>
                  <a:pt x="15" y="167"/>
                </a:moveTo>
                <a:lnTo>
                  <a:pt x="15" y="181"/>
                </a:lnTo>
                <a:lnTo>
                  <a:pt x="0" y="181"/>
                </a:lnTo>
                <a:lnTo>
                  <a:pt x="0" y="167"/>
                </a:lnTo>
                <a:lnTo>
                  <a:pt x="15" y="167"/>
                </a:lnTo>
                <a:close/>
                <a:moveTo>
                  <a:pt x="15" y="195"/>
                </a:moveTo>
                <a:lnTo>
                  <a:pt x="15" y="209"/>
                </a:lnTo>
                <a:lnTo>
                  <a:pt x="0" y="209"/>
                </a:lnTo>
                <a:lnTo>
                  <a:pt x="0" y="195"/>
                </a:lnTo>
                <a:lnTo>
                  <a:pt x="15" y="195"/>
                </a:lnTo>
                <a:close/>
                <a:moveTo>
                  <a:pt x="15" y="223"/>
                </a:moveTo>
                <a:lnTo>
                  <a:pt x="15" y="237"/>
                </a:lnTo>
                <a:lnTo>
                  <a:pt x="0" y="237"/>
                </a:lnTo>
                <a:lnTo>
                  <a:pt x="0" y="223"/>
                </a:lnTo>
                <a:lnTo>
                  <a:pt x="15" y="223"/>
                </a:lnTo>
                <a:close/>
                <a:moveTo>
                  <a:pt x="15" y="251"/>
                </a:moveTo>
                <a:lnTo>
                  <a:pt x="15" y="265"/>
                </a:lnTo>
                <a:lnTo>
                  <a:pt x="0" y="265"/>
                </a:lnTo>
                <a:lnTo>
                  <a:pt x="0" y="251"/>
                </a:lnTo>
                <a:lnTo>
                  <a:pt x="15" y="251"/>
                </a:lnTo>
                <a:close/>
                <a:moveTo>
                  <a:pt x="15" y="279"/>
                </a:moveTo>
                <a:lnTo>
                  <a:pt x="15" y="293"/>
                </a:lnTo>
                <a:lnTo>
                  <a:pt x="0" y="293"/>
                </a:lnTo>
                <a:lnTo>
                  <a:pt x="0" y="279"/>
                </a:lnTo>
                <a:lnTo>
                  <a:pt x="15" y="279"/>
                </a:lnTo>
                <a:close/>
                <a:moveTo>
                  <a:pt x="15" y="307"/>
                </a:moveTo>
                <a:lnTo>
                  <a:pt x="15" y="321"/>
                </a:lnTo>
                <a:lnTo>
                  <a:pt x="0" y="321"/>
                </a:lnTo>
                <a:lnTo>
                  <a:pt x="0" y="307"/>
                </a:lnTo>
                <a:lnTo>
                  <a:pt x="15" y="307"/>
                </a:lnTo>
                <a:close/>
                <a:moveTo>
                  <a:pt x="15" y="334"/>
                </a:moveTo>
                <a:lnTo>
                  <a:pt x="15" y="348"/>
                </a:lnTo>
                <a:lnTo>
                  <a:pt x="0" y="348"/>
                </a:lnTo>
                <a:lnTo>
                  <a:pt x="0" y="334"/>
                </a:lnTo>
                <a:lnTo>
                  <a:pt x="15" y="334"/>
                </a:lnTo>
                <a:close/>
                <a:moveTo>
                  <a:pt x="15" y="362"/>
                </a:moveTo>
                <a:lnTo>
                  <a:pt x="15" y="376"/>
                </a:lnTo>
                <a:lnTo>
                  <a:pt x="0" y="376"/>
                </a:lnTo>
                <a:lnTo>
                  <a:pt x="0" y="362"/>
                </a:lnTo>
                <a:lnTo>
                  <a:pt x="15" y="362"/>
                </a:lnTo>
                <a:close/>
                <a:moveTo>
                  <a:pt x="15" y="390"/>
                </a:moveTo>
                <a:lnTo>
                  <a:pt x="15" y="404"/>
                </a:lnTo>
                <a:lnTo>
                  <a:pt x="0" y="404"/>
                </a:lnTo>
                <a:lnTo>
                  <a:pt x="0" y="390"/>
                </a:lnTo>
                <a:lnTo>
                  <a:pt x="15" y="390"/>
                </a:lnTo>
                <a:close/>
                <a:moveTo>
                  <a:pt x="15" y="418"/>
                </a:moveTo>
                <a:lnTo>
                  <a:pt x="15" y="432"/>
                </a:lnTo>
                <a:lnTo>
                  <a:pt x="0" y="432"/>
                </a:lnTo>
                <a:lnTo>
                  <a:pt x="0" y="418"/>
                </a:lnTo>
                <a:lnTo>
                  <a:pt x="15" y="418"/>
                </a:lnTo>
                <a:close/>
                <a:moveTo>
                  <a:pt x="15" y="446"/>
                </a:moveTo>
                <a:lnTo>
                  <a:pt x="15" y="460"/>
                </a:lnTo>
                <a:lnTo>
                  <a:pt x="0" y="460"/>
                </a:lnTo>
                <a:lnTo>
                  <a:pt x="0" y="446"/>
                </a:lnTo>
                <a:lnTo>
                  <a:pt x="15" y="446"/>
                </a:lnTo>
                <a:close/>
                <a:moveTo>
                  <a:pt x="15" y="474"/>
                </a:moveTo>
                <a:lnTo>
                  <a:pt x="15" y="488"/>
                </a:lnTo>
                <a:lnTo>
                  <a:pt x="0" y="488"/>
                </a:lnTo>
                <a:lnTo>
                  <a:pt x="0" y="474"/>
                </a:lnTo>
                <a:lnTo>
                  <a:pt x="15" y="474"/>
                </a:lnTo>
                <a:close/>
                <a:moveTo>
                  <a:pt x="15" y="501"/>
                </a:moveTo>
                <a:lnTo>
                  <a:pt x="15" y="515"/>
                </a:lnTo>
                <a:lnTo>
                  <a:pt x="0" y="515"/>
                </a:lnTo>
                <a:lnTo>
                  <a:pt x="0" y="501"/>
                </a:lnTo>
                <a:lnTo>
                  <a:pt x="15" y="501"/>
                </a:lnTo>
                <a:close/>
                <a:moveTo>
                  <a:pt x="15" y="529"/>
                </a:moveTo>
                <a:lnTo>
                  <a:pt x="15" y="543"/>
                </a:lnTo>
                <a:lnTo>
                  <a:pt x="0" y="543"/>
                </a:lnTo>
                <a:lnTo>
                  <a:pt x="0" y="529"/>
                </a:lnTo>
                <a:lnTo>
                  <a:pt x="15" y="529"/>
                </a:lnTo>
                <a:close/>
                <a:moveTo>
                  <a:pt x="15" y="557"/>
                </a:moveTo>
                <a:lnTo>
                  <a:pt x="15" y="571"/>
                </a:lnTo>
                <a:lnTo>
                  <a:pt x="0" y="571"/>
                </a:lnTo>
                <a:lnTo>
                  <a:pt x="0" y="557"/>
                </a:lnTo>
                <a:lnTo>
                  <a:pt x="15" y="557"/>
                </a:lnTo>
                <a:close/>
                <a:moveTo>
                  <a:pt x="15" y="585"/>
                </a:moveTo>
                <a:lnTo>
                  <a:pt x="15" y="599"/>
                </a:lnTo>
                <a:lnTo>
                  <a:pt x="0" y="599"/>
                </a:lnTo>
                <a:lnTo>
                  <a:pt x="0" y="585"/>
                </a:lnTo>
                <a:lnTo>
                  <a:pt x="15" y="585"/>
                </a:lnTo>
                <a:close/>
                <a:moveTo>
                  <a:pt x="15" y="613"/>
                </a:moveTo>
                <a:lnTo>
                  <a:pt x="15" y="627"/>
                </a:lnTo>
                <a:lnTo>
                  <a:pt x="0" y="627"/>
                </a:lnTo>
                <a:lnTo>
                  <a:pt x="0" y="613"/>
                </a:lnTo>
                <a:lnTo>
                  <a:pt x="15" y="613"/>
                </a:lnTo>
                <a:close/>
                <a:moveTo>
                  <a:pt x="15" y="641"/>
                </a:moveTo>
                <a:lnTo>
                  <a:pt x="15" y="655"/>
                </a:lnTo>
                <a:lnTo>
                  <a:pt x="0" y="655"/>
                </a:lnTo>
                <a:lnTo>
                  <a:pt x="0" y="641"/>
                </a:lnTo>
                <a:lnTo>
                  <a:pt x="15" y="641"/>
                </a:lnTo>
                <a:close/>
                <a:moveTo>
                  <a:pt x="15" y="668"/>
                </a:moveTo>
                <a:lnTo>
                  <a:pt x="15" y="682"/>
                </a:lnTo>
                <a:lnTo>
                  <a:pt x="0" y="682"/>
                </a:lnTo>
                <a:lnTo>
                  <a:pt x="0" y="668"/>
                </a:lnTo>
                <a:lnTo>
                  <a:pt x="15" y="668"/>
                </a:lnTo>
                <a:close/>
                <a:moveTo>
                  <a:pt x="15" y="696"/>
                </a:moveTo>
                <a:lnTo>
                  <a:pt x="15" y="710"/>
                </a:lnTo>
                <a:lnTo>
                  <a:pt x="0" y="710"/>
                </a:lnTo>
                <a:lnTo>
                  <a:pt x="0" y="696"/>
                </a:lnTo>
                <a:lnTo>
                  <a:pt x="15" y="696"/>
                </a:lnTo>
                <a:close/>
                <a:moveTo>
                  <a:pt x="15" y="724"/>
                </a:moveTo>
                <a:lnTo>
                  <a:pt x="15" y="738"/>
                </a:lnTo>
                <a:lnTo>
                  <a:pt x="0" y="738"/>
                </a:lnTo>
                <a:lnTo>
                  <a:pt x="0" y="724"/>
                </a:lnTo>
                <a:lnTo>
                  <a:pt x="15" y="724"/>
                </a:lnTo>
                <a:close/>
                <a:moveTo>
                  <a:pt x="15" y="752"/>
                </a:moveTo>
                <a:lnTo>
                  <a:pt x="15" y="766"/>
                </a:lnTo>
                <a:lnTo>
                  <a:pt x="0" y="766"/>
                </a:lnTo>
                <a:lnTo>
                  <a:pt x="0" y="752"/>
                </a:lnTo>
                <a:lnTo>
                  <a:pt x="15" y="752"/>
                </a:lnTo>
                <a:close/>
                <a:moveTo>
                  <a:pt x="15" y="780"/>
                </a:moveTo>
                <a:lnTo>
                  <a:pt x="15" y="793"/>
                </a:lnTo>
                <a:lnTo>
                  <a:pt x="0" y="793"/>
                </a:lnTo>
                <a:lnTo>
                  <a:pt x="0" y="780"/>
                </a:lnTo>
                <a:lnTo>
                  <a:pt x="15" y="780"/>
                </a:lnTo>
                <a:close/>
                <a:moveTo>
                  <a:pt x="15" y="808"/>
                </a:moveTo>
                <a:lnTo>
                  <a:pt x="15" y="822"/>
                </a:lnTo>
                <a:lnTo>
                  <a:pt x="0" y="822"/>
                </a:lnTo>
                <a:lnTo>
                  <a:pt x="0" y="808"/>
                </a:lnTo>
                <a:lnTo>
                  <a:pt x="15" y="808"/>
                </a:lnTo>
                <a:close/>
                <a:moveTo>
                  <a:pt x="15" y="835"/>
                </a:moveTo>
                <a:lnTo>
                  <a:pt x="15" y="849"/>
                </a:lnTo>
                <a:lnTo>
                  <a:pt x="0" y="849"/>
                </a:lnTo>
                <a:lnTo>
                  <a:pt x="0" y="835"/>
                </a:lnTo>
                <a:lnTo>
                  <a:pt x="15" y="835"/>
                </a:lnTo>
                <a:close/>
                <a:moveTo>
                  <a:pt x="15" y="863"/>
                </a:moveTo>
                <a:lnTo>
                  <a:pt x="15" y="877"/>
                </a:lnTo>
                <a:lnTo>
                  <a:pt x="0" y="877"/>
                </a:lnTo>
                <a:lnTo>
                  <a:pt x="0" y="863"/>
                </a:lnTo>
                <a:lnTo>
                  <a:pt x="15" y="863"/>
                </a:lnTo>
                <a:close/>
                <a:moveTo>
                  <a:pt x="15" y="891"/>
                </a:moveTo>
                <a:lnTo>
                  <a:pt x="15" y="905"/>
                </a:lnTo>
                <a:lnTo>
                  <a:pt x="0" y="905"/>
                </a:lnTo>
                <a:lnTo>
                  <a:pt x="0" y="891"/>
                </a:lnTo>
                <a:lnTo>
                  <a:pt x="15" y="891"/>
                </a:lnTo>
                <a:close/>
                <a:moveTo>
                  <a:pt x="15" y="919"/>
                </a:moveTo>
                <a:lnTo>
                  <a:pt x="15" y="933"/>
                </a:lnTo>
                <a:lnTo>
                  <a:pt x="0" y="933"/>
                </a:lnTo>
                <a:lnTo>
                  <a:pt x="0" y="919"/>
                </a:lnTo>
                <a:lnTo>
                  <a:pt x="15" y="919"/>
                </a:lnTo>
                <a:close/>
                <a:moveTo>
                  <a:pt x="15" y="947"/>
                </a:moveTo>
                <a:lnTo>
                  <a:pt x="15" y="960"/>
                </a:lnTo>
                <a:lnTo>
                  <a:pt x="0" y="960"/>
                </a:lnTo>
                <a:lnTo>
                  <a:pt x="0" y="947"/>
                </a:lnTo>
                <a:lnTo>
                  <a:pt x="15" y="947"/>
                </a:lnTo>
                <a:close/>
                <a:moveTo>
                  <a:pt x="15" y="974"/>
                </a:moveTo>
                <a:lnTo>
                  <a:pt x="15" y="988"/>
                </a:lnTo>
                <a:lnTo>
                  <a:pt x="0" y="988"/>
                </a:lnTo>
                <a:lnTo>
                  <a:pt x="0" y="974"/>
                </a:lnTo>
                <a:lnTo>
                  <a:pt x="15" y="974"/>
                </a:lnTo>
                <a:close/>
                <a:moveTo>
                  <a:pt x="15" y="1002"/>
                </a:moveTo>
                <a:lnTo>
                  <a:pt x="15" y="1016"/>
                </a:lnTo>
                <a:lnTo>
                  <a:pt x="0" y="1016"/>
                </a:lnTo>
                <a:lnTo>
                  <a:pt x="0" y="1002"/>
                </a:lnTo>
                <a:lnTo>
                  <a:pt x="15" y="1002"/>
                </a:lnTo>
                <a:close/>
                <a:moveTo>
                  <a:pt x="15" y="1030"/>
                </a:moveTo>
                <a:lnTo>
                  <a:pt x="15" y="1044"/>
                </a:lnTo>
                <a:lnTo>
                  <a:pt x="0" y="1044"/>
                </a:lnTo>
                <a:lnTo>
                  <a:pt x="0" y="1030"/>
                </a:lnTo>
                <a:lnTo>
                  <a:pt x="15" y="1030"/>
                </a:lnTo>
                <a:close/>
                <a:moveTo>
                  <a:pt x="15" y="1058"/>
                </a:moveTo>
                <a:lnTo>
                  <a:pt x="15" y="1072"/>
                </a:lnTo>
                <a:lnTo>
                  <a:pt x="0" y="1072"/>
                </a:lnTo>
                <a:lnTo>
                  <a:pt x="0" y="1058"/>
                </a:lnTo>
                <a:lnTo>
                  <a:pt x="15" y="1058"/>
                </a:lnTo>
                <a:close/>
                <a:moveTo>
                  <a:pt x="15" y="1086"/>
                </a:moveTo>
                <a:lnTo>
                  <a:pt x="15" y="1100"/>
                </a:lnTo>
                <a:lnTo>
                  <a:pt x="0" y="1100"/>
                </a:lnTo>
                <a:lnTo>
                  <a:pt x="0" y="1086"/>
                </a:lnTo>
                <a:lnTo>
                  <a:pt x="15" y="1086"/>
                </a:lnTo>
                <a:close/>
                <a:moveTo>
                  <a:pt x="15" y="1114"/>
                </a:moveTo>
                <a:lnTo>
                  <a:pt x="15" y="1127"/>
                </a:lnTo>
                <a:lnTo>
                  <a:pt x="0" y="1127"/>
                </a:lnTo>
                <a:lnTo>
                  <a:pt x="0" y="1114"/>
                </a:lnTo>
                <a:lnTo>
                  <a:pt x="15" y="1114"/>
                </a:lnTo>
                <a:close/>
                <a:moveTo>
                  <a:pt x="15" y="1141"/>
                </a:moveTo>
                <a:lnTo>
                  <a:pt x="15" y="1155"/>
                </a:lnTo>
                <a:lnTo>
                  <a:pt x="0" y="1155"/>
                </a:lnTo>
                <a:lnTo>
                  <a:pt x="0" y="1141"/>
                </a:lnTo>
                <a:lnTo>
                  <a:pt x="15" y="1141"/>
                </a:lnTo>
                <a:close/>
                <a:moveTo>
                  <a:pt x="15" y="1169"/>
                </a:moveTo>
                <a:lnTo>
                  <a:pt x="15" y="1183"/>
                </a:lnTo>
                <a:lnTo>
                  <a:pt x="0" y="1183"/>
                </a:lnTo>
                <a:lnTo>
                  <a:pt x="0" y="1169"/>
                </a:lnTo>
                <a:lnTo>
                  <a:pt x="15" y="1169"/>
                </a:lnTo>
                <a:close/>
                <a:moveTo>
                  <a:pt x="15" y="1197"/>
                </a:moveTo>
                <a:lnTo>
                  <a:pt x="15" y="1211"/>
                </a:lnTo>
                <a:lnTo>
                  <a:pt x="0" y="1211"/>
                </a:lnTo>
                <a:lnTo>
                  <a:pt x="0" y="1197"/>
                </a:lnTo>
                <a:lnTo>
                  <a:pt x="15" y="1197"/>
                </a:lnTo>
                <a:close/>
                <a:moveTo>
                  <a:pt x="15" y="1225"/>
                </a:moveTo>
                <a:lnTo>
                  <a:pt x="15" y="1239"/>
                </a:lnTo>
                <a:lnTo>
                  <a:pt x="0" y="1239"/>
                </a:lnTo>
                <a:lnTo>
                  <a:pt x="0" y="1225"/>
                </a:lnTo>
                <a:lnTo>
                  <a:pt x="15" y="1225"/>
                </a:lnTo>
                <a:close/>
                <a:moveTo>
                  <a:pt x="15" y="1253"/>
                </a:moveTo>
                <a:lnTo>
                  <a:pt x="15" y="1267"/>
                </a:lnTo>
                <a:lnTo>
                  <a:pt x="0" y="1267"/>
                </a:lnTo>
                <a:lnTo>
                  <a:pt x="0" y="1253"/>
                </a:lnTo>
                <a:lnTo>
                  <a:pt x="15" y="1253"/>
                </a:lnTo>
                <a:close/>
                <a:moveTo>
                  <a:pt x="15" y="1281"/>
                </a:moveTo>
                <a:lnTo>
                  <a:pt x="15" y="1294"/>
                </a:lnTo>
                <a:lnTo>
                  <a:pt x="0" y="1294"/>
                </a:lnTo>
                <a:lnTo>
                  <a:pt x="0" y="1281"/>
                </a:lnTo>
                <a:lnTo>
                  <a:pt x="15" y="1281"/>
                </a:lnTo>
                <a:close/>
                <a:moveTo>
                  <a:pt x="15" y="1308"/>
                </a:moveTo>
                <a:lnTo>
                  <a:pt x="15" y="1322"/>
                </a:lnTo>
                <a:lnTo>
                  <a:pt x="0" y="1322"/>
                </a:lnTo>
                <a:lnTo>
                  <a:pt x="0" y="1308"/>
                </a:lnTo>
                <a:lnTo>
                  <a:pt x="15" y="1308"/>
                </a:lnTo>
                <a:close/>
                <a:moveTo>
                  <a:pt x="15" y="1336"/>
                </a:moveTo>
                <a:lnTo>
                  <a:pt x="15" y="1350"/>
                </a:lnTo>
                <a:lnTo>
                  <a:pt x="0" y="1350"/>
                </a:lnTo>
                <a:lnTo>
                  <a:pt x="0" y="1336"/>
                </a:lnTo>
                <a:lnTo>
                  <a:pt x="15" y="1336"/>
                </a:lnTo>
                <a:close/>
                <a:moveTo>
                  <a:pt x="15" y="1364"/>
                </a:moveTo>
                <a:lnTo>
                  <a:pt x="15" y="1378"/>
                </a:lnTo>
                <a:lnTo>
                  <a:pt x="0" y="1378"/>
                </a:lnTo>
                <a:lnTo>
                  <a:pt x="0" y="1364"/>
                </a:lnTo>
                <a:lnTo>
                  <a:pt x="15" y="1364"/>
                </a:lnTo>
                <a:close/>
                <a:moveTo>
                  <a:pt x="15" y="1392"/>
                </a:moveTo>
                <a:lnTo>
                  <a:pt x="15" y="1406"/>
                </a:lnTo>
                <a:lnTo>
                  <a:pt x="0" y="1406"/>
                </a:lnTo>
                <a:lnTo>
                  <a:pt x="0" y="1392"/>
                </a:lnTo>
                <a:lnTo>
                  <a:pt x="15" y="1392"/>
                </a:lnTo>
                <a:close/>
                <a:moveTo>
                  <a:pt x="15" y="1420"/>
                </a:moveTo>
                <a:lnTo>
                  <a:pt x="15" y="1434"/>
                </a:lnTo>
                <a:lnTo>
                  <a:pt x="0" y="1434"/>
                </a:lnTo>
                <a:lnTo>
                  <a:pt x="0" y="1420"/>
                </a:lnTo>
                <a:lnTo>
                  <a:pt x="15" y="1420"/>
                </a:lnTo>
                <a:close/>
                <a:moveTo>
                  <a:pt x="15" y="1448"/>
                </a:moveTo>
                <a:lnTo>
                  <a:pt x="15" y="1461"/>
                </a:lnTo>
                <a:lnTo>
                  <a:pt x="0" y="1461"/>
                </a:lnTo>
                <a:lnTo>
                  <a:pt x="0" y="1448"/>
                </a:lnTo>
                <a:lnTo>
                  <a:pt x="15" y="1448"/>
                </a:lnTo>
                <a:close/>
                <a:moveTo>
                  <a:pt x="15" y="1475"/>
                </a:moveTo>
                <a:lnTo>
                  <a:pt x="15" y="1489"/>
                </a:lnTo>
                <a:lnTo>
                  <a:pt x="0" y="1489"/>
                </a:lnTo>
                <a:lnTo>
                  <a:pt x="0" y="1475"/>
                </a:lnTo>
                <a:lnTo>
                  <a:pt x="15" y="1475"/>
                </a:lnTo>
                <a:close/>
                <a:moveTo>
                  <a:pt x="15" y="1503"/>
                </a:moveTo>
                <a:lnTo>
                  <a:pt x="15" y="1517"/>
                </a:lnTo>
                <a:lnTo>
                  <a:pt x="0" y="1517"/>
                </a:lnTo>
                <a:lnTo>
                  <a:pt x="0" y="1503"/>
                </a:lnTo>
                <a:lnTo>
                  <a:pt x="15" y="1503"/>
                </a:lnTo>
                <a:close/>
                <a:moveTo>
                  <a:pt x="15" y="1531"/>
                </a:moveTo>
                <a:lnTo>
                  <a:pt x="15" y="1545"/>
                </a:lnTo>
                <a:lnTo>
                  <a:pt x="0" y="1545"/>
                </a:lnTo>
                <a:lnTo>
                  <a:pt x="0" y="1531"/>
                </a:lnTo>
                <a:lnTo>
                  <a:pt x="15" y="1531"/>
                </a:lnTo>
                <a:close/>
                <a:moveTo>
                  <a:pt x="15" y="1559"/>
                </a:moveTo>
                <a:lnTo>
                  <a:pt x="15" y="1573"/>
                </a:lnTo>
                <a:lnTo>
                  <a:pt x="0" y="1573"/>
                </a:lnTo>
                <a:lnTo>
                  <a:pt x="0" y="1559"/>
                </a:lnTo>
                <a:lnTo>
                  <a:pt x="15" y="1559"/>
                </a:lnTo>
                <a:close/>
                <a:moveTo>
                  <a:pt x="15" y="1587"/>
                </a:moveTo>
                <a:lnTo>
                  <a:pt x="15" y="1601"/>
                </a:lnTo>
                <a:lnTo>
                  <a:pt x="0" y="1601"/>
                </a:lnTo>
                <a:lnTo>
                  <a:pt x="0" y="1587"/>
                </a:lnTo>
                <a:lnTo>
                  <a:pt x="15" y="1587"/>
                </a:lnTo>
                <a:close/>
                <a:moveTo>
                  <a:pt x="15" y="1615"/>
                </a:moveTo>
                <a:lnTo>
                  <a:pt x="15" y="1628"/>
                </a:lnTo>
                <a:lnTo>
                  <a:pt x="0" y="1628"/>
                </a:lnTo>
                <a:lnTo>
                  <a:pt x="0" y="1615"/>
                </a:lnTo>
                <a:lnTo>
                  <a:pt x="15" y="1615"/>
                </a:lnTo>
                <a:close/>
                <a:moveTo>
                  <a:pt x="15" y="1642"/>
                </a:moveTo>
                <a:lnTo>
                  <a:pt x="15" y="1656"/>
                </a:lnTo>
                <a:lnTo>
                  <a:pt x="0" y="1656"/>
                </a:lnTo>
                <a:lnTo>
                  <a:pt x="0" y="1642"/>
                </a:lnTo>
                <a:lnTo>
                  <a:pt x="15" y="1642"/>
                </a:lnTo>
                <a:close/>
                <a:moveTo>
                  <a:pt x="15" y="1670"/>
                </a:moveTo>
                <a:lnTo>
                  <a:pt x="15" y="1684"/>
                </a:lnTo>
                <a:lnTo>
                  <a:pt x="0" y="1684"/>
                </a:lnTo>
                <a:lnTo>
                  <a:pt x="0" y="1670"/>
                </a:lnTo>
                <a:lnTo>
                  <a:pt x="15" y="1670"/>
                </a:lnTo>
                <a:close/>
                <a:moveTo>
                  <a:pt x="15" y="1698"/>
                </a:moveTo>
                <a:lnTo>
                  <a:pt x="15" y="1712"/>
                </a:lnTo>
                <a:lnTo>
                  <a:pt x="0" y="1712"/>
                </a:lnTo>
                <a:lnTo>
                  <a:pt x="0" y="1698"/>
                </a:lnTo>
                <a:lnTo>
                  <a:pt x="15" y="1698"/>
                </a:lnTo>
                <a:close/>
                <a:moveTo>
                  <a:pt x="15" y="1726"/>
                </a:moveTo>
                <a:lnTo>
                  <a:pt x="15" y="1740"/>
                </a:lnTo>
                <a:lnTo>
                  <a:pt x="0" y="1740"/>
                </a:lnTo>
                <a:lnTo>
                  <a:pt x="0" y="1726"/>
                </a:lnTo>
                <a:lnTo>
                  <a:pt x="15" y="1726"/>
                </a:lnTo>
                <a:close/>
                <a:moveTo>
                  <a:pt x="15" y="1754"/>
                </a:moveTo>
                <a:lnTo>
                  <a:pt x="15" y="1768"/>
                </a:lnTo>
                <a:lnTo>
                  <a:pt x="0" y="1768"/>
                </a:lnTo>
                <a:lnTo>
                  <a:pt x="0" y="1754"/>
                </a:lnTo>
                <a:lnTo>
                  <a:pt x="15" y="1754"/>
                </a:lnTo>
                <a:close/>
                <a:moveTo>
                  <a:pt x="15" y="1782"/>
                </a:moveTo>
                <a:lnTo>
                  <a:pt x="15" y="1795"/>
                </a:lnTo>
                <a:lnTo>
                  <a:pt x="0" y="1795"/>
                </a:lnTo>
                <a:lnTo>
                  <a:pt x="0" y="1782"/>
                </a:lnTo>
                <a:lnTo>
                  <a:pt x="15" y="1782"/>
                </a:lnTo>
                <a:close/>
                <a:moveTo>
                  <a:pt x="15" y="1809"/>
                </a:moveTo>
                <a:lnTo>
                  <a:pt x="15" y="1823"/>
                </a:lnTo>
                <a:lnTo>
                  <a:pt x="0" y="1823"/>
                </a:lnTo>
                <a:lnTo>
                  <a:pt x="0" y="1809"/>
                </a:lnTo>
                <a:lnTo>
                  <a:pt x="15" y="1809"/>
                </a:lnTo>
                <a:close/>
                <a:moveTo>
                  <a:pt x="15" y="1837"/>
                </a:moveTo>
                <a:lnTo>
                  <a:pt x="15" y="1851"/>
                </a:lnTo>
                <a:lnTo>
                  <a:pt x="0" y="1851"/>
                </a:lnTo>
                <a:lnTo>
                  <a:pt x="0" y="1837"/>
                </a:lnTo>
                <a:lnTo>
                  <a:pt x="15" y="1837"/>
                </a:lnTo>
                <a:close/>
                <a:moveTo>
                  <a:pt x="15" y="1865"/>
                </a:moveTo>
                <a:lnTo>
                  <a:pt x="15" y="1879"/>
                </a:lnTo>
                <a:lnTo>
                  <a:pt x="0" y="1879"/>
                </a:lnTo>
                <a:lnTo>
                  <a:pt x="0" y="1865"/>
                </a:lnTo>
                <a:lnTo>
                  <a:pt x="15" y="1865"/>
                </a:lnTo>
                <a:close/>
                <a:moveTo>
                  <a:pt x="15" y="1893"/>
                </a:moveTo>
                <a:lnTo>
                  <a:pt x="15" y="1907"/>
                </a:lnTo>
                <a:lnTo>
                  <a:pt x="0" y="1907"/>
                </a:lnTo>
                <a:lnTo>
                  <a:pt x="0" y="1893"/>
                </a:lnTo>
                <a:lnTo>
                  <a:pt x="15" y="1893"/>
                </a:lnTo>
                <a:close/>
                <a:moveTo>
                  <a:pt x="15" y="1921"/>
                </a:moveTo>
                <a:lnTo>
                  <a:pt x="15" y="1935"/>
                </a:lnTo>
                <a:lnTo>
                  <a:pt x="0" y="1935"/>
                </a:lnTo>
                <a:lnTo>
                  <a:pt x="0" y="1921"/>
                </a:lnTo>
                <a:lnTo>
                  <a:pt x="15" y="1921"/>
                </a:lnTo>
                <a:close/>
                <a:moveTo>
                  <a:pt x="15" y="1949"/>
                </a:moveTo>
                <a:lnTo>
                  <a:pt x="15" y="1962"/>
                </a:lnTo>
                <a:lnTo>
                  <a:pt x="0" y="1962"/>
                </a:lnTo>
                <a:lnTo>
                  <a:pt x="0" y="1949"/>
                </a:lnTo>
                <a:lnTo>
                  <a:pt x="15" y="1949"/>
                </a:lnTo>
                <a:close/>
                <a:moveTo>
                  <a:pt x="15" y="1976"/>
                </a:moveTo>
                <a:lnTo>
                  <a:pt x="15" y="1990"/>
                </a:lnTo>
                <a:lnTo>
                  <a:pt x="0" y="1990"/>
                </a:lnTo>
                <a:lnTo>
                  <a:pt x="0" y="1976"/>
                </a:lnTo>
                <a:lnTo>
                  <a:pt x="15" y="1976"/>
                </a:lnTo>
                <a:close/>
                <a:moveTo>
                  <a:pt x="15" y="2004"/>
                </a:moveTo>
                <a:lnTo>
                  <a:pt x="15" y="2018"/>
                </a:lnTo>
                <a:lnTo>
                  <a:pt x="0" y="2018"/>
                </a:lnTo>
                <a:lnTo>
                  <a:pt x="0" y="2004"/>
                </a:lnTo>
                <a:lnTo>
                  <a:pt x="15" y="2004"/>
                </a:lnTo>
                <a:close/>
                <a:moveTo>
                  <a:pt x="15" y="2032"/>
                </a:moveTo>
                <a:lnTo>
                  <a:pt x="15" y="2046"/>
                </a:lnTo>
                <a:lnTo>
                  <a:pt x="0" y="2046"/>
                </a:lnTo>
                <a:lnTo>
                  <a:pt x="0" y="2032"/>
                </a:lnTo>
                <a:lnTo>
                  <a:pt x="15" y="2032"/>
                </a:lnTo>
                <a:close/>
                <a:moveTo>
                  <a:pt x="15" y="2060"/>
                </a:moveTo>
                <a:lnTo>
                  <a:pt x="15" y="2074"/>
                </a:lnTo>
                <a:lnTo>
                  <a:pt x="0" y="2074"/>
                </a:lnTo>
                <a:lnTo>
                  <a:pt x="0" y="2060"/>
                </a:lnTo>
                <a:lnTo>
                  <a:pt x="15" y="2060"/>
                </a:lnTo>
                <a:close/>
                <a:moveTo>
                  <a:pt x="15" y="2087"/>
                </a:moveTo>
                <a:lnTo>
                  <a:pt x="15" y="2102"/>
                </a:lnTo>
                <a:lnTo>
                  <a:pt x="0" y="2102"/>
                </a:lnTo>
                <a:lnTo>
                  <a:pt x="0" y="2087"/>
                </a:lnTo>
                <a:lnTo>
                  <a:pt x="15" y="2087"/>
                </a:lnTo>
                <a:close/>
                <a:moveTo>
                  <a:pt x="15" y="2116"/>
                </a:moveTo>
                <a:lnTo>
                  <a:pt x="15" y="2129"/>
                </a:lnTo>
                <a:lnTo>
                  <a:pt x="0" y="2129"/>
                </a:lnTo>
                <a:lnTo>
                  <a:pt x="0" y="2116"/>
                </a:lnTo>
                <a:lnTo>
                  <a:pt x="15" y="2116"/>
                </a:lnTo>
                <a:close/>
                <a:moveTo>
                  <a:pt x="15" y="2143"/>
                </a:moveTo>
                <a:lnTo>
                  <a:pt x="15" y="2157"/>
                </a:lnTo>
                <a:lnTo>
                  <a:pt x="0" y="2157"/>
                </a:lnTo>
                <a:lnTo>
                  <a:pt x="0" y="2143"/>
                </a:lnTo>
                <a:lnTo>
                  <a:pt x="15" y="2143"/>
                </a:lnTo>
                <a:close/>
                <a:moveTo>
                  <a:pt x="15" y="2171"/>
                </a:moveTo>
                <a:lnTo>
                  <a:pt x="15" y="2185"/>
                </a:lnTo>
                <a:lnTo>
                  <a:pt x="0" y="2185"/>
                </a:lnTo>
                <a:lnTo>
                  <a:pt x="0" y="2171"/>
                </a:lnTo>
                <a:lnTo>
                  <a:pt x="15" y="2171"/>
                </a:lnTo>
                <a:close/>
                <a:moveTo>
                  <a:pt x="15" y="2199"/>
                </a:moveTo>
                <a:lnTo>
                  <a:pt x="15" y="2213"/>
                </a:lnTo>
                <a:lnTo>
                  <a:pt x="0" y="2213"/>
                </a:lnTo>
                <a:lnTo>
                  <a:pt x="0" y="2199"/>
                </a:lnTo>
                <a:lnTo>
                  <a:pt x="15" y="2199"/>
                </a:lnTo>
                <a:close/>
                <a:moveTo>
                  <a:pt x="15" y="2227"/>
                </a:moveTo>
                <a:lnTo>
                  <a:pt x="15" y="2241"/>
                </a:lnTo>
                <a:lnTo>
                  <a:pt x="0" y="2241"/>
                </a:lnTo>
                <a:lnTo>
                  <a:pt x="0" y="2227"/>
                </a:lnTo>
                <a:lnTo>
                  <a:pt x="15" y="2227"/>
                </a:lnTo>
                <a:close/>
                <a:moveTo>
                  <a:pt x="15" y="2254"/>
                </a:moveTo>
                <a:lnTo>
                  <a:pt x="15" y="2268"/>
                </a:lnTo>
                <a:lnTo>
                  <a:pt x="0" y="2268"/>
                </a:lnTo>
                <a:lnTo>
                  <a:pt x="0" y="2254"/>
                </a:lnTo>
                <a:lnTo>
                  <a:pt x="15" y="2254"/>
                </a:lnTo>
                <a:close/>
                <a:moveTo>
                  <a:pt x="15" y="2283"/>
                </a:moveTo>
                <a:lnTo>
                  <a:pt x="15" y="2296"/>
                </a:lnTo>
                <a:lnTo>
                  <a:pt x="0" y="2296"/>
                </a:lnTo>
                <a:lnTo>
                  <a:pt x="0" y="2283"/>
                </a:lnTo>
                <a:lnTo>
                  <a:pt x="15" y="2283"/>
                </a:lnTo>
                <a:close/>
                <a:moveTo>
                  <a:pt x="15" y="2310"/>
                </a:moveTo>
                <a:lnTo>
                  <a:pt x="15" y="2324"/>
                </a:lnTo>
                <a:lnTo>
                  <a:pt x="0" y="2324"/>
                </a:lnTo>
                <a:lnTo>
                  <a:pt x="0" y="2310"/>
                </a:lnTo>
                <a:lnTo>
                  <a:pt x="15" y="2310"/>
                </a:lnTo>
                <a:close/>
                <a:moveTo>
                  <a:pt x="15" y="2338"/>
                </a:moveTo>
                <a:lnTo>
                  <a:pt x="15" y="2352"/>
                </a:lnTo>
                <a:lnTo>
                  <a:pt x="0" y="2352"/>
                </a:lnTo>
                <a:lnTo>
                  <a:pt x="0" y="2338"/>
                </a:lnTo>
                <a:lnTo>
                  <a:pt x="15" y="2338"/>
                </a:lnTo>
                <a:close/>
                <a:moveTo>
                  <a:pt x="15" y="2366"/>
                </a:moveTo>
                <a:lnTo>
                  <a:pt x="15" y="2380"/>
                </a:lnTo>
                <a:lnTo>
                  <a:pt x="0" y="2380"/>
                </a:lnTo>
                <a:lnTo>
                  <a:pt x="0" y="2366"/>
                </a:lnTo>
                <a:lnTo>
                  <a:pt x="15" y="2366"/>
                </a:lnTo>
                <a:close/>
                <a:moveTo>
                  <a:pt x="15" y="2394"/>
                </a:moveTo>
                <a:lnTo>
                  <a:pt x="15" y="2408"/>
                </a:lnTo>
                <a:lnTo>
                  <a:pt x="0" y="2408"/>
                </a:lnTo>
                <a:lnTo>
                  <a:pt x="0" y="2394"/>
                </a:lnTo>
                <a:lnTo>
                  <a:pt x="15" y="2394"/>
                </a:lnTo>
                <a:close/>
                <a:moveTo>
                  <a:pt x="15" y="2421"/>
                </a:moveTo>
                <a:lnTo>
                  <a:pt x="15" y="2435"/>
                </a:lnTo>
                <a:lnTo>
                  <a:pt x="0" y="2435"/>
                </a:lnTo>
                <a:lnTo>
                  <a:pt x="0" y="2421"/>
                </a:lnTo>
                <a:lnTo>
                  <a:pt x="15" y="2421"/>
                </a:lnTo>
                <a:close/>
                <a:moveTo>
                  <a:pt x="15" y="2449"/>
                </a:moveTo>
                <a:lnTo>
                  <a:pt x="15" y="2453"/>
                </a:lnTo>
                <a:lnTo>
                  <a:pt x="0" y="2453"/>
                </a:lnTo>
                <a:lnTo>
                  <a:pt x="0" y="2449"/>
                </a:lnTo>
                <a:lnTo>
                  <a:pt x="15" y="2449"/>
                </a:lnTo>
                <a:close/>
              </a:path>
            </a:pathLst>
          </a:custGeom>
          <a:solidFill>
            <a:srgbClr val="000000"/>
          </a:solidFill>
          <a:ln w="0" cap="flat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35" name="Freeform 32">
            <a:extLst>
              <a:ext uri="{FF2B5EF4-FFF2-40B4-BE49-F238E27FC236}">
                <a16:creationId xmlns:a16="http://schemas.microsoft.com/office/drawing/2014/main" id="{AB5DCA3C-1A8A-4FA1-8457-1943B9A98F9D}"/>
              </a:ext>
            </a:extLst>
          </p:cNvPr>
          <p:cNvSpPr>
            <a:spLocks noEditPoints="1"/>
          </p:cNvSpPr>
          <p:nvPr/>
        </p:nvSpPr>
        <p:spPr bwMode="auto">
          <a:xfrm>
            <a:off x="6717935" y="2267962"/>
            <a:ext cx="22225" cy="3894138"/>
          </a:xfrm>
          <a:custGeom>
            <a:avLst/>
            <a:gdLst>
              <a:gd name="T0" fmla="*/ 14 w 14"/>
              <a:gd name="T1" fmla="*/ 42 h 2453"/>
              <a:gd name="T2" fmla="*/ 0 w 14"/>
              <a:gd name="T3" fmla="*/ 56 h 2453"/>
              <a:gd name="T4" fmla="*/ 14 w 14"/>
              <a:gd name="T5" fmla="*/ 112 h 2453"/>
              <a:gd name="T6" fmla="*/ 0 w 14"/>
              <a:gd name="T7" fmla="*/ 154 h 2453"/>
              <a:gd name="T8" fmla="*/ 14 w 14"/>
              <a:gd name="T9" fmla="*/ 167 h 2453"/>
              <a:gd name="T10" fmla="*/ 14 w 14"/>
              <a:gd name="T11" fmla="*/ 237 h 2453"/>
              <a:gd name="T12" fmla="*/ 0 w 14"/>
              <a:gd name="T13" fmla="*/ 251 h 2453"/>
              <a:gd name="T14" fmla="*/ 14 w 14"/>
              <a:gd name="T15" fmla="*/ 307 h 2453"/>
              <a:gd name="T16" fmla="*/ 0 w 14"/>
              <a:gd name="T17" fmla="*/ 348 h 2453"/>
              <a:gd name="T18" fmla="*/ 14 w 14"/>
              <a:gd name="T19" fmla="*/ 362 h 2453"/>
              <a:gd name="T20" fmla="*/ 14 w 14"/>
              <a:gd name="T21" fmla="*/ 432 h 2453"/>
              <a:gd name="T22" fmla="*/ 0 w 14"/>
              <a:gd name="T23" fmla="*/ 446 h 2453"/>
              <a:gd name="T24" fmla="*/ 14 w 14"/>
              <a:gd name="T25" fmla="*/ 501 h 2453"/>
              <a:gd name="T26" fmla="*/ 0 w 14"/>
              <a:gd name="T27" fmla="*/ 543 h 2453"/>
              <a:gd name="T28" fmla="*/ 14 w 14"/>
              <a:gd name="T29" fmla="*/ 557 h 2453"/>
              <a:gd name="T30" fmla="*/ 14 w 14"/>
              <a:gd name="T31" fmla="*/ 627 h 2453"/>
              <a:gd name="T32" fmla="*/ 0 w 14"/>
              <a:gd name="T33" fmla="*/ 641 h 2453"/>
              <a:gd name="T34" fmla="*/ 14 w 14"/>
              <a:gd name="T35" fmla="*/ 696 h 2453"/>
              <a:gd name="T36" fmla="*/ 0 w 14"/>
              <a:gd name="T37" fmla="*/ 738 h 2453"/>
              <a:gd name="T38" fmla="*/ 14 w 14"/>
              <a:gd name="T39" fmla="*/ 752 h 2453"/>
              <a:gd name="T40" fmla="*/ 14 w 14"/>
              <a:gd name="T41" fmla="*/ 822 h 2453"/>
              <a:gd name="T42" fmla="*/ 0 w 14"/>
              <a:gd name="T43" fmla="*/ 835 h 2453"/>
              <a:gd name="T44" fmla="*/ 14 w 14"/>
              <a:gd name="T45" fmla="*/ 891 h 2453"/>
              <a:gd name="T46" fmla="*/ 0 w 14"/>
              <a:gd name="T47" fmla="*/ 933 h 2453"/>
              <a:gd name="T48" fmla="*/ 14 w 14"/>
              <a:gd name="T49" fmla="*/ 947 h 2453"/>
              <a:gd name="T50" fmla="*/ 14 w 14"/>
              <a:gd name="T51" fmla="*/ 1016 h 2453"/>
              <a:gd name="T52" fmla="*/ 0 w 14"/>
              <a:gd name="T53" fmla="*/ 1030 h 2453"/>
              <a:gd name="T54" fmla="*/ 14 w 14"/>
              <a:gd name="T55" fmla="*/ 1086 h 2453"/>
              <a:gd name="T56" fmla="*/ 0 w 14"/>
              <a:gd name="T57" fmla="*/ 1127 h 2453"/>
              <a:gd name="T58" fmla="*/ 14 w 14"/>
              <a:gd name="T59" fmla="*/ 1141 h 2453"/>
              <a:gd name="T60" fmla="*/ 14 w 14"/>
              <a:gd name="T61" fmla="*/ 1211 h 2453"/>
              <a:gd name="T62" fmla="*/ 0 w 14"/>
              <a:gd name="T63" fmla="*/ 1225 h 2453"/>
              <a:gd name="T64" fmla="*/ 14 w 14"/>
              <a:gd name="T65" fmla="*/ 1281 h 2453"/>
              <a:gd name="T66" fmla="*/ 0 w 14"/>
              <a:gd name="T67" fmla="*/ 1322 h 2453"/>
              <a:gd name="T68" fmla="*/ 14 w 14"/>
              <a:gd name="T69" fmla="*/ 1336 h 2453"/>
              <a:gd name="T70" fmla="*/ 14 w 14"/>
              <a:gd name="T71" fmla="*/ 1406 h 2453"/>
              <a:gd name="T72" fmla="*/ 0 w 14"/>
              <a:gd name="T73" fmla="*/ 1420 h 2453"/>
              <a:gd name="T74" fmla="*/ 14 w 14"/>
              <a:gd name="T75" fmla="*/ 1475 h 2453"/>
              <a:gd name="T76" fmla="*/ 0 w 14"/>
              <a:gd name="T77" fmla="*/ 1517 h 2453"/>
              <a:gd name="T78" fmla="*/ 14 w 14"/>
              <a:gd name="T79" fmla="*/ 1531 h 2453"/>
              <a:gd name="T80" fmla="*/ 14 w 14"/>
              <a:gd name="T81" fmla="*/ 1601 h 2453"/>
              <a:gd name="T82" fmla="*/ 0 w 14"/>
              <a:gd name="T83" fmla="*/ 1615 h 2453"/>
              <a:gd name="T84" fmla="*/ 14 w 14"/>
              <a:gd name="T85" fmla="*/ 1670 h 2453"/>
              <a:gd name="T86" fmla="*/ 0 w 14"/>
              <a:gd name="T87" fmla="*/ 1712 h 2453"/>
              <a:gd name="T88" fmla="*/ 14 w 14"/>
              <a:gd name="T89" fmla="*/ 1726 h 2453"/>
              <a:gd name="T90" fmla="*/ 14 w 14"/>
              <a:gd name="T91" fmla="*/ 1795 h 2453"/>
              <a:gd name="T92" fmla="*/ 0 w 14"/>
              <a:gd name="T93" fmla="*/ 1809 h 2453"/>
              <a:gd name="T94" fmla="*/ 14 w 14"/>
              <a:gd name="T95" fmla="*/ 1865 h 2453"/>
              <a:gd name="T96" fmla="*/ 0 w 14"/>
              <a:gd name="T97" fmla="*/ 1907 h 2453"/>
              <a:gd name="T98" fmla="*/ 14 w 14"/>
              <a:gd name="T99" fmla="*/ 1921 h 2453"/>
              <a:gd name="T100" fmla="*/ 14 w 14"/>
              <a:gd name="T101" fmla="*/ 1990 h 2453"/>
              <a:gd name="T102" fmla="*/ 0 w 14"/>
              <a:gd name="T103" fmla="*/ 2004 h 2453"/>
              <a:gd name="T104" fmla="*/ 14 w 14"/>
              <a:gd name="T105" fmla="*/ 2060 h 2453"/>
              <a:gd name="T106" fmla="*/ 0 w 14"/>
              <a:gd name="T107" fmla="*/ 2102 h 2453"/>
              <a:gd name="T108" fmla="*/ 14 w 14"/>
              <a:gd name="T109" fmla="*/ 2116 h 2453"/>
              <a:gd name="T110" fmla="*/ 14 w 14"/>
              <a:gd name="T111" fmla="*/ 2185 h 2453"/>
              <a:gd name="T112" fmla="*/ 0 w 14"/>
              <a:gd name="T113" fmla="*/ 2199 h 2453"/>
              <a:gd name="T114" fmla="*/ 14 w 14"/>
              <a:gd name="T115" fmla="*/ 2254 h 2453"/>
              <a:gd name="T116" fmla="*/ 0 w 14"/>
              <a:gd name="T117" fmla="*/ 2296 h 2453"/>
              <a:gd name="T118" fmla="*/ 14 w 14"/>
              <a:gd name="T119" fmla="*/ 2310 h 2453"/>
              <a:gd name="T120" fmla="*/ 14 w 14"/>
              <a:gd name="T121" fmla="*/ 2380 h 2453"/>
              <a:gd name="T122" fmla="*/ 0 w 14"/>
              <a:gd name="T123" fmla="*/ 2394 h 2453"/>
              <a:gd name="T124" fmla="*/ 14 w 14"/>
              <a:gd name="T125" fmla="*/ 2449 h 24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14" h="2453">
                <a:moveTo>
                  <a:pt x="14" y="0"/>
                </a:moveTo>
                <a:lnTo>
                  <a:pt x="14" y="14"/>
                </a:lnTo>
                <a:lnTo>
                  <a:pt x="0" y="14"/>
                </a:lnTo>
                <a:lnTo>
                  <a:pt x="0" y="0"/>
                </a:lnTo>
                <a:lnTo>
                  <a:pt x="14" y="0"/>
                </a:lnTo>
                <a:close/>
                <a:moveTo>
                  <a:pt x="14" y="28"/>
                </a:moveTo>
                <a:lnTo>
                  <a:pt x="14" y="42"/>
                </a:lnTo>
                <a:lnTo>
                  <a:pt x="0" y="42"/>
                </a:lnTo>
                <a:lnTo>
                  <a:pt x="0" y="28"/>
                </a:lnTo>
                <a:lnTo>
                  <a:pt x="14" y="28"/>
                </a:lnTo>
                <a:close/>
                <a:moveTo>
                  <a:pt x="14" y="56"/>
                </a:moveTo>
                <a:lnTo>
                  <a:pt x="14" y="70"/>
                </a:lnTo>
                <a:lnTo>
                  <a:pt x="0" y="70"/>
                </a:lnTo>
                <a:lnTo>
                  <a:pt x="0" y="56"/>
                </a:lnTo>
                <a:lnTo>
                  <a:pt x="14" y="56"/>
                </a:lnTo>
                <a:close/>
                <a:moveTo>
                  <a:pt x="14" y="84"/>
                </a:moveTo>
                <a:lnTo>
                  <a:pt x="14" y="98"/>
                </a:lnTo>
                <a:lnTo>
                  <a:pt x="0" y="98"/>
                </a:lnTo>
                <a:lnTo>
                  <a:pt x="0" y="84"/>
                </a:lnTo>
                <a:lnTo>
                  <a:pt x="14" y="84"/>
                </a:lnTo>
                <a:close/>
                <a:moveTo>
                  <a:pt x="14" y="112"/>
                </a:moveTo>
                <a:lnTo>
                  <a:pt x="14" y="126"/>
                </a:lnTo>
                <a:lnTo>
                  <a:pt x="0" y="126"/>
                </a:lnTo>
                <a:lnTo>
                  <a:pt x="0" y="112"/>
                </a:lnTo>
                <a:lnTo>
                  <a:pt x="14" y="112"/>
                </a:lnTo>
                <a:close/>
                <a:moveTo>
                  <a:pt x="14" y="140"/>
                </a:moveTo>
                <a:lnTo>
                  <a:pt x="14" y="154"/>
                </a:lnTo>
                <a:lnTo>
                  <a:pt x="0" y="154"/>
                </a:lnTo>
                <a:lnTo>
                  <a:pt x="0" y="140"/>
                </a:lnTo>
                <a:lnTo>
                  <a:pt x="14" y="140"/>
                </a:lnTo>
                <a:close/>
                <a:moveTo>
                  <a:pt x="14" y="167"/>
                </a:moveTo>
                <a:lnTo>
                  <a:pt x="14" y="181"/>
                </a:lnTo>
                <a:lnTo>
                  <a:pt x="0" y="181"/>
                </a:lnTo>
                <a:lnTo>
                  <a:pt x="0" y="167"/>
                </a:lnTo>
                <a:lnTo>
                  <a:pt x="14" y="167"/>
                </a:lnTo>
                <a:close/>
                <a:moveTo>
                  <a:pt x="14" y="195"/>
                </a:moveTo>
                <a:lnTo>
                  <a:pt x="14" y="209"/>
                </a:lnTo>
                <a:lnTo>
                  <a:pt x="0" y="209"/>
                </a:lnTo>
                <a:lnTo>
                  <a:pt x="0" y="195"/>
                </a:lnTo>
                <a:lnTo>
                  <a:pt x="14" y="195"/>
                </a:lnTo>
                <a:close/>
                <a:moveTo>
                  <a:pt x="14" y="223"/>
                </a:moveTo>
                <a:lnTo>
                  <a:pt x="14" y="237"/>
                </a:lnTo>
                <a:lnTo>
                  <a:pt x="0" y="237"/>
                </a:lnTo>
                <a:lnTo>
                  <a:pt x="0" y="223"/>
                </a:lnTo>
                <a:lnTo>
                  <a:pt x="14" y="223"/>
                </a:lnTo>
                <a:close/>
                <a:moveTo>
                  <a:pt x="14" y="251"/>
                </a:moveTo>
                <a:lnTo>
                  <a:pt x="14" y="265"/>
                </a:lnTo>
                <a:lnTo>
                  <a:pt x="0" y="265"/>
                </a:lnTo>
                <a:lnTo>
                  <a:pt x="0" y="251"/>
                </a:lnTo>
                <a:lnTo>
                  <a:pt x="14" y="251"/>
                </a:lnTo>
                <a:close/>
                <a:moveTo>
                  <a:pt x="14" y="279"/>
                </a:moveTo>
                <a:lnTo>
                  <a:pt x="14" y="293"/>
                </a:lnTo>
                <a:lnTo>
                  <a:pt x="0" y="293"/>
                </a:lnTo>
                <a:lnTo>
                  <a:pt x="0" y="279"/>
                </a:lnTo>
                <a:lnTo>
                  <a:pt x="14" y="279"/>
                </a:lnTo>
                <a:close/>
                <a:moveTo>
                  <a:pt x="14" y="307"/>
                </a:moveTo>
                <a:lnTo>
                  <a:pt x="14" y="321"/>
                </a:lnTo>
                <a:lnTo>
                  <a:pt x="0" y="321"/>
                </a:lnTo>
                <a:lnTo>
                  <a:pt x="0" y="307"/>
                </a:lnTo>
                <a:lnTo>
                  <a:pt x="14" y="307"/>
                </a:lnTo>
                <a:close/>
                <a:moveTo>
                  <a:pt x="14" y="334"/>
                </a:moveTo>
                <a:lnTo>
                  <a:pt x="14" y="348"/>
                </a:lnTo>
                <a:lnTo>
                  <a:pt x="0" y="348"/>
                </a:lnTo>
                <a:lnTo>
                  <a:pt x="0" y="334"/>
                </a:lnTo>
                <a:lnTo>
                  <a:pt x="14" y="334"/>
                </a:lnTo>
                <a:close/>
                <a:moveTo>
                  <a:pt x="14" y="362"/>
                </a:moveTo>
                <a:lnTo>
                  <a:pt x="14" y="376"/>
                </a:lnTo>
                <a:lnTo>
                  <a:pt x="0" y="376"/>
                </a:lnTo>
                <a:lnTo>
                  <a:pt x="0" y="362"/>
                </a:lnTo>
                <a:lnTo>
                  <a:pt x="14" y="362"/>
                </a:lnTo>
                <a:close/>
                <a:moveTo>
                  <a:pt x="14" y="390"/>
                </a:moveTo>
                <a:lnTo>
                  <a:pt x="14" y="404"/>
                </a:lnTo>
                <a:lnTo>
                  <a:pt x="0" y="404"/>
                </a:lnTo>
                <a:lnTo>
                  <a:pt x="0" y="390"/>
                </a:lnTo>
                <a:lnTo>
                  <a:pt x="14" y="390"/>
                </a:lnTo>
                <a:close/>
                <a:moveTo>
                  <a:pt x="14" y="418"/>
                </a:moveTo>
                <a:lnTo>
                  <a:pt x="14" y="432"/>
                </a:lnTo>
                <a:lnTo>
                  <a:pt x="0" y="432"/>
                </a:lnTo>
                <a:lnTo>
                  <a:pt x="0" y="418"/>
                </a:lnTo>
                <a:lnTo>
                  <a:pt x="14" y="418"/>
                </a:lnTo>
                <a:close/>
                <a:moveTo>
                  <a:pt x="14" y="446"/>
                </a:moveTo>
                <a:lnTo>
                  <a:pt x="14" y="460"/>
                </a:lnTo>
                <a:lnTo>
                  <a:pt x="0" y="460"/>
                </a:lnTo>
                <a:lnTo>
                  <a:pt x="0" y="446"/>
                </a:lnTo>
                <a:lnTo>
                  <a:pt x="14" y="446"/>
                </a:lnTo>
                <a:close/>
                <a:moveTo>
                  <a:pt x="14" y="474"/>
                </a:moveTo>
                <a:lnTo>
                  <a:pt x="14" y="488"/>
                </a:lnTo>
                <a:lnTo>
                  <a:pt x="0" y="488"/>
                </a:lnTo>
                <a:lnTo>
                  <a:pt x="0" y="474"/>
                </a:lnTo>
                <a:lnTo>
                  <a:pt x="14" y="474"/>
                </a:lnTo>
                <a:close/>
                <a:moveTo>
                  <a:pt x="14" y="501"/>
                </a:moveTo>
                <a:lnTo>
                  <a:pt x="14" y="515"/>
                </a:lnTo>
                <a:lnTo>
                  <a:pt x="0" y="515"/>
                </a:lnTo>
                <a:lnTo>
                  <a:pt x="0" y="501"/>
                </a:lnTo>
                <a:lnTo>
                  <a:pt x="14" y="501"/>
                </a:lnTo>
                <a:close/>
                <a:moveTo>
                  <a:pt x="14" y="529"/>
                </a:moveTo>
                <a:lnTo>
                  <a:pt x="14" y="543"/>
                </a:lnTo>
                <a:lnTo>
                  <a:pt x="0" y="543"/>
                </a:lnTo>
                <a:lnTo>
                  <a:pt x="0" y="529"/>
                </a:lnTo>
                <a:lnTo>
                  <a:pt x="14" y="529"/>
                </a:lnTo>
                <a:close/>
                <a:moveTo>
                  <a:pt x="14" y="557"/>
                </a:moveTo>
                <a:lnTo>
                  <a:pt x="14" y="571"/>
                </a:lnTo>
                <a:lnTo>
                  <a:pt x="0" y="571"/>
                </a:lnTo>
                <a:lnTo>
                  <a:pt x="0" y="557"/>
                </a:lnTo>
                <a:lnTo>
                  <a:pt x="14" y="557"/>
                </a:lnTo>
                <a:close/>
                <a:moveTo>
                  <a:pt x="14" y="585"/>
                </a:moveTo>
                <a:lnTo>
                  <a:pt x="14" y="599"/>
                </a:lnTo>
                <a:lnTo>
                  <a:pt x="0" y="599"/>
                </a:lnTo>
                <a:lnTo>
                  <a:pt x="0" y="585"/>
                </a:lnTo>
                <a:lnTo>
                  <a:pt x="14" y="585"/>
                </a:lnTo>
                <a:close/>
                <a:moveTo>
                  <a:pt x="14" y="613"/>
                </a:moveTo>
                <a:lnTo>
                  <a:pt x="14" y="627"/>
                </a:lnTo>
                <a:lnTo>
                  <a:pt x="0" y="627"/>
                </a:lnTo>
                <a:lnTo>
                  <a:pt x="0" y="613"/>
                </a:lnTo>
                <a:lnTo>
                  <a:pt x="14" y="613"/>
                </a:lnTo>
                <a:close/>
                <a:moveTo>
                  <a:pt x="14" y="641"/>
                </a:moveTo>
                <a:lnTo>
                  <a:pt x="14" y="655"/>
                </a:lnTo>
                <a:lnTo>
                  <a:pt x="0" y="655"/>
                </a:lnTo>
                <a:lnTo>
                  <a:pt x="0" y="641"/>
                </a:lnTo>
                <a:lnTo>
                  <a:pt x="14" y="641"/>
                </a:lnTo>
                <a:close/>
                <a:moveTo>
                  <a:pt x="14" y="668"/>
                </a:moveTo>
                <a:lnTo>
                  <a:pt x="14" y="682"/>
                </a:lnTo>
                <a:lnTo>
                  <a:pt x="0" y="682"/>
                </a:lnTo>
                <a:lnTo>
                  <a:pt x="0" y="668"/>
                </a:lnTo>
                <a:lnTo>
                  <a:pt x="14" y="668"/>
                </a:lnTo>
                <a:close/>
                <a:moveTo>
                  <a:pt x="14" y="696"/>
                </a:moveTo>
                <a:lnTo>
                  <a:pt x="14" y="710"/>
                </a:lnTo>
                <a:lnTo>
                  <a:pt x="0" y="710"/>
                </a:lnTo>
                <a:lnTo>
                  <a:pt x="0" y="696"/>
                </a:lnTo>
                <a:lnTo>
                  <a:pt x="14" y="696"/>
                </a:lnTo>
                <a:close/>
                <a:moveTo>
                  <a:pt x="14" y="724"/>
                </a:moveTo>
                <a:lnTo>
                  <a:pt x="14" y="738"/>
                </a:lnTo>
                <a:lnTo>
                  <a:pt x="0" y="738"/>
                </a:lnTo>
                <a:lnTo>
                  <a:pt x="0" y="724"/>
                </a:lnTo>
                <a:lnTo>
                  <a:pt x="14" y="724"/>
                </a:lnTo>
                <a:close/>
                <a:moveTo>
                  <a:pt x="14" y="752"/>
                </a:moveTo>
                <a:lnTo>
                  <a:pt x="14" y="766"/>
                </a:lnTo>
                <a:lnTo>
                  <a:pt x="0" y="766"/>
                </a:lnTo>
                <a:lnTo>
                  <a:pt x="0" y="752"/>
                </a:lnTo>
                <a:lnTo>
                  <a:pt x="14" y="752"/>
                </a:lnTo>
                <a:close/>
                <a:moveTo>
                  <a:pt x="14" y="780"/>
                </a:moveTo>
                <a:lnTo>
                  <a:pt x="14" y="793"/>
                </a:lnTo>
                <a:lnTo>
                  <a:pt x="0" y="793"/>
                </a:lnTo>
                <a:lnTo>
                  <a:pt x="0" y="780"/>
                </a:lnTo>
                <a:lnTo>
                  <a:pt x="14" y="780"/>
                </a:lnTo>
                <a:close/>
                <a:moveTo>
                  <a:pt x="14" y="808"/>
                </a:moveTo>
                <a:lnTo>
                  <a:pt x="14" y="822"/>
                </a:lnTo>
                <a:lnTo>
                  <a:pt x="0" y="822"/>
                </a:lnTo>
                <a:lnTo>
                  <a:pt x="0" y="808"/>
                </a:lnTo>
                <a:lnTo>
                  <a:pt x="14" y="808"/>
                </a:lnTo>
                <a:close/>
                <a:moveTo>
                  <a:pt x="14" y="835"/>
                </a:moveTo>
                <a:lnTo>
                  <a:pt x="14" y="849"/>
                </a:lnTo>
                <a:lnTo>
                  <a:pt x="0" y="849"/>
                </a:lnTo>
                <a:lnTo>
                  <a:pt x="0" y="835"/>
                </a:lnTo>
                <a:lnTo>
                  <a:pt x="14" y="835"/>
                </a:lnTo>
                <a:close/>
                <a:moveTo>
                  <a:pt x="14" y="863"/>
                </a:moveTo>
                <a:lnTo>
                  <a:pt x="14" y="877"/>
                </a:lnTo>
                <a:lnTo>
                  <a:pt x="0" y="877"/>
                </a:lnTo>
                <a:lnTo>
                  <a:pt x="0" y="863"/>
                </a:lnTo>
                <a:lnTo>
                  <a:pt x="14" y="863"/>
                </a:lnTo>
                <a:close/>
                <a:moveTo>
                  <a:pt x="14" y="891"/>
                </a:moveTo>
                <a:lnTo>
                  <a:pt x="14" y="905"/>
                </a:lnTo>
                <a:lnTo>
                  <a:pt x="0" y="905"/>
                </a:lnTo>
                <a:lnTo>
                  <a:pt x="0" y="891"/>
                </a:lnTo>
                <a:lnTo>
                  <a:pt x="14" y="891"/>
                </a:lnTo>
                <a:close/>
                <a:moveTo>
                  <a:pt x="14" y="919"/>
                </a:moveTo>
                <a:lnTo>
                  <a:pt x="14" y="933"/>
                </a:lnTo>
                <a:lnTo>
                  <a:pt x="0" y="933"/>
                </a:lnTo>
                <a:lnTo>
                  <a:pt x="0" y="919"/>
                </a:lnTo>
                <a:lnTo>
                  <a:pt x="14" y="919"/>
                </a:lnTo>
                <a:close/>
                <a:moveTo>
                  <a:pt x="14" y="947"/>
                </a:moveTo>
                <a:lnTo>
                  <a:pt x="14" y="960"/>
                </a:lnTo>
                <a:lnTo>
                  <a:pt x="0" y="960"/>
                </a:lnTo>
                <a:lnTo>
                  <a:pt x="0" y="947"/>
                </a:lnTo>
                <a:lnTo>
                  <a:pt x="14" y="947"/>
                </a:lnTo>
                <a:close/>
                <a:moveTo>
                  <a:pt x="14" y="974"/>
                </a:moveTo>
                <a:lnTo>
                  <a:pt x="14" y="988"/>
                </a:lnTo>
                <a:lnTo>
                  <a:pt x="0" y="988"/>
                </a:lnTo>
                <a:lnTo>
                  <a:pt x="0" y="974"/>
                </a:lnTo>
                <a:lnTo>
                  <a:pt x="14" y="974"/>
                </a:lnTo>
                <a:close/>
                <a:moveTo>
                  <a:pt x="14" y="1002"/>
                </a:moveTo>
                <a:lnTo>
                  <a:pt x="14" y="1016"/>
                </a:lnTo>
                <a:lnTo>
                  <a:pt x="0" y="1016"/>
                </a:lnTo>
                <a:lnTo>
                  <a:pt x="0" y="1002"/>
                </a:lnTo>
                <a:lnTo>
                  <a:pt x="14" y="1002"/>
                </a:lnTo>
                <a:close/>
                <a:moveTo>
                  <a:pt x="14" y="1030"/>
                </a:moveTo>
                <a:lnTo>
                  <a:pt x="14" y="1044"/>
                </a:lnTo>
                <a:lnTo>
                  <a:pt x="0" y="1044"/>
                </a:lnTo>
                <a:lnTo>
                  <a:pt x="0" y="1030"/>
                </a:lnTo>
                <a:lnTo>
                  <a:pt x="14" y="1030"/>
                </a:lnTo>
                <a:close/>
                <a:moveTo>
                  <a:pt x="14" y="1058"/>
                </a:moveTo>
                <a:lnTo>
                  <a:pt x="14" y="1072"/>
                </a:lnTo>
                <a:lnTo>
                  <a:pt x="0" y="1072"/>
                </a:lnTo>
                <a:lnTo>
                  <a:pt x="0" y="1058"/>
                </a:lnTo>
                <a:lnTo>
                  <a:pt x="14" y="1058"/>
                </a:lnTo>
                <a:close/>
                <a:moveTo>
                  <a:pt x="14" y="1086"/>
                </a:moveTo>
                <a:lnTo>
                  <a:pt x="14" y="1100"/>
                </a:lnTo>
                <a:lnTo>
                  <a:pt x="0" y="1100"/>
                </a:lnTo>
                <a:lnTo>
                  <a:pt x="0" y="1086"/>
                </a:lnTo>
                <a:lnTo>
                  <a:pt x="14" y="1086"/>
                </a:lnTo>
                <a:close/>
                <a:moveTo>
                  <a:pt x="14" y="1114"/>
                </a:moveTo>
                <a:lnTo>
                  <a:pt x="14" y="1127"/>
                </a:lnTo>
                <a:lnTo>
                  <a:pt x="0" y="1127"/>
                </a:lnTo>
                <a:lnTo>
                  <a:pt x="0" y="1114"/>
                </a:lnTo>
                <a:lnTo>
                  <a:pt x="14" y="1114"/>
                </a:lnTo>
                <a:close/>
                <a:moveTo>
                  <a:pt x="14" y="1141"/>
                </a:moveTo>
                <a:lnTo>
                  <a:pt x="14" y="1155"/>
                </a:lnTo>
                <a:lnTo>
                  <a:pt x="0" y="1155"/>
                </a:lnTo>
                <a:lnTo>
                  <a:pt x="0" y="1141"/>
                </a:lnTo>
                <a:lnTo>
                  <a:pt x="14" y="1141"/>
                </a:lnTo>
                <a:close/>
                <a:moveTo>
                  <a:pt x="14" y="1169"/>
                </a:moveTo>
                <a:lnTo>
                  <a:pt x="14" y="1183"/>
                </a:lnTo>
                <a:lnTo>
                  <a:pt x="0" y="1183"/>
                </a:lnTo>
                <a:lnTo>
                  <a:pt x="0" y="1169"/>
                </a:lnTo>
                <a:lnTo>
                  <a:pt x="14" y="1169"/>
                </a:lnTo>
                <a:close/>
                <a:moveTo>
                  <a:pt x="14" y="1197"/>
                </a:moveTo>
                <a:lnTo>
                  <a:pt x="14" y="1211"/>
                </a:lnTo>
                <a:lnTo>
                  <a:pt x="0" y="1211"/>
                </a:lnTo>
                <a:lnTo>
                  <a:pt x="0" y="1197"/>
                </a:lnTo>
                <a:lnTo>
                  <a:pt x="14" y="1197"/>
                </a:lnTo>
                <a:close/>
                <a:moveTo>
                  <a:pt x="14" y="1225"/>
                </a:moveTo>
                <a:lnTo>
                  <a:pt x="14" y="1239"/>
                </a:lnTo>
                <a:lnTo>
                  <a:pt x="0" y="1239"/>
                </a:lnTo>
                <a:lnTo>
                  <a:pt x="0" y="1225"/>
                </a:lnTo>
                <a:lnTo>
                  <a:pt x="14" y="1225"/>
                </a:lnTo>
                <a:close/>
                <a:moveTo>
                  <a:pt x="14" y="1253"/>
                </a:moveTo>
                <a:lnTo>
                  <a:pt x="14" y="1267"/>
                </a:lnTo>
                <a:lnTo>
                  <a:pt x="0" y="1267"/>
                </a:lnTo>
                <a:lnTo>
                  <a:pt x="0" y="1253"/>
                </a:lnTo>
                <a:lnTo>
                  <a:pt x="14" y="1253"/>
                </a:lnTo>
                <a:close/>
                <a:moveTo>
                  <a:pt x="14" y="1281"/>
                </a:moveTo>
                <a:lnTo>
                  <a:pt x="14" y="1294"/>
                </a:lnTo>
                <a:lnTo>
                  <a:pt x="0" y="1294"/>
                </a:lnTo>
                <a:lnTo>
                  <a:pt x="0" y="1281"/>
                </a:lnTo>
                <a:lnTo>
                  <a:pt x="14" y="1281"/>
                </a:lnTo>
                <a:close/>
                <a:moveTo>
                  <a:pt x="14" y="1308"/>
                </a:moveTo>
                <a:lnTo>
                  <a:pt x="14" y="1322"/>
                </a:lnTo>
                <a:lnTo>
                  <a:pt x="0" y="1322"/>
                </a:lnTo>
                <a:lnTo>
                  <a:pt x="0" y="1308"/>
                </a:lnTo>
                <a:lnTo>
                  <a:pt x="14" y="1308"/>
                </a:lnTo>
                <a:close/>
                <a:moveTo>
                  <a:pt x="14" y="1336"/>
                </a:moveTo>
                <a:lnTo>
                  <a:pt x="14" y="1350"/>
                </a:lnTo>
                <a:lnTo>
                  <a:pt x="0" y="1350"/>
                </a:lnTo>
                <a:lnTo>
                  <a:pt x="0" y="1336"/>
                </a:lnTo>
                <a:lnTo>
                  <a:pt x="14" y="1336"/>
                </a:lnTo>
                <a:close/>
                <a:moveTo>
                  <a:pt x="14" y="1364"/>
                </a:moveTo>
                <a:lnTo>
                  <a:pt x="14" y="1378"/>
                </a:lnTo>
                <a:lnTo>
                  <a:pt x="0" y="1378"/>
                </a:lnTo>
                <a:lnTo>
                  <a:pt x="0" y="1364"/>
                </a:lnTo>
                <a:lnTo>
                  <a:pt x="14" y="1364"/>
                </a:lnTo>
                <a:close/>
                <a:moveTo>
                  <a:pt x="14" y="1392"/>
                </a:moveTo>
                <a:lnTo>
                  <a:pt x="14" y="1406"/>
                </a:lnTo>
                <a:lnTo>
                  <a:pt x="0" y="1406"/>
                </a:lnTo>
                <a:lnTo>
                  <a:pt x="0" y="1392"/>
                </a:lnTo>
                <a:lnTo>
                  <a:pt x="14" y="1392"/>
                </a:lnTo>
                <a:close/>
                <a:moveTo>
                  <a:pt x="14" y="1420"/>
                </a:moveTo>
                <a:lnTo>
                  <a:pt x="14" y="1434"/>
                </a:lnTo>
                <a:lnTo>
                  <a:pt x="0" y="1434"/>
                </a:lnTo>
                <a:lnTo>
                  <a:pt x="0" y="1420"/>
                </a:lnTo>
                <a:lnTo>
                  <a:pt x="14" y="1420"/>
                </a:lnTo>
                <a:close/>
                <a:moveTo>
                  <a:pt x="14" y="1448"/>
                </a:moveTo>
                <a:lnTo>
                  <a:pt x="14" y="1461"/>
                </a:lnTo>
                <a:lnTo>
                  <a:pt x="0" y="1461"/>
                </a:lnTo>
                <a:lnTo>
                  <a:pt x="0" y="1448"/>
                </a:lnTo>
                <a:lnTo>
                  <a:pt x="14" y="1448"/>
                </a:lnTo>
                <a:close/>
                <a:moveTo>
                  <a:pt x="14" y="1475"/>
                </a:moveTo>
                <a:lnTo>
                  <a:pt x="14" y="1489"/>
                </a:lnTo>
                <a:lnTo>
                  <a:pt x="0" y="1489"/>
                </a:lnTo>
                <a:lnTo>
                  <a:pt x="0" y="1475"/>
                </a:lnTo>
                <a:lnTo>
                  <a:pt x="14" y="1475"/>
                </a:lnTo>
                <a:close/>
                <a:moveTo>
                  <a:pt x="14" y="1503"/>
                </a:moveTo>
                <a:lnTo>
                  <a:pt x="14" y="1517"/>
                </a:lnTo>
                <a:lnTo>
                  <a:pt x="0" y="1517"/>
                </a:lnTo>
                <a:lnTo>
                  <a:pt x="0" y="1503"/>
                </a:lnTo>
                <a:lnTo>
                  <a:pt x="14" y="1503"/>
                </a:lnTo>
                <a:close/>
                <a:moveTo>
                  <a:pt x="14" y="1531"/>
                </a:moveTo>
                <a:lnTo>
                  <a:pt x="14" y="1545"/>
                </a:lnTo>
                <a:lnTo>
                  <a:pt x="0" y="1545"/>
                </a:lnTo>
                <a:lnTo>
                  <a:pt x="0" y="1531"/>
                </a:lnTo>
                <a:lnTo>
                  <a:pt x="14" y="1531"/>
                </a:lnTo>
                <a:close/>
                <a:moveTo>
                  <a:pt x="14" y="1559"/>
                </a:moveTo>
                <a:lnTo>
                  <a:pt x="14" y="1573"/>
                </a:lnTo>
                <a:lnTo>
                  <a:pt x="0" y="1573"/>
                </a:lnTo>
                <a:lnTo>
                  <a:pt x="0" y="1559"/>
                </a:lnTo>
                <a:lnTo>
                  <a:pt x="14" y="1559"/>
                </a:lnTo>
                <a:close/>
                <a:moveTo>
                  <a:pt x="14" y="1587"/>
                </a:moveTo>
                <a:lnTo>
                  <a:pt x="14" y="1601"/>
                </a:lnTo>
                <a:lnTo>
                  <a:pt x="0" y="1601"/>
                </a:lnTo>
                <a:lnTo>
                  <a:pt x="0" y="1587"/>
                </a:lnTo>
                <a:lnTo>
                  <a:pt x="14" y="1587"/>
                </a:lnTo>
                <a:close/>
                <a:moveTo>
                  <a:pt x="14" y="1615"/>
                </a:moveTo>
                <a:lnTo>
                  <a:pt x="14" y="1628"/>
                </a:lnTo>
                <a:lnTo>
                  <a:pt x="0" y="1628"/>
                </a:lnTo>
                <a:lnTo>
                  <a:pt x="0" y="1615"/>
                </a:lnTo>
                <a:lnTo>
                  <a:pt x="14" y="1615"/>
                </a:lnTo>
                <a:close/>
                <a:moveTo>
                  <a:pt x="14" y="1642"/>
                </a:moveTo>
                <a:lnTo>
                  <a:pt x="14" y="1656"/>
                </a:lnTo>
                <a:lnTo>
                  <a:pt x="0" y="1656"/>
                </a:lnTo>
                <a:lnTo>
                  <a:pt x="0" y="1642"/>
                </a:lnTo>
                <a:lnTo>
                  <a:pt x="14" y="1642"/>
                </a:lnTo>
                <a:close/>
                <a:moveTo>
                  <a:pt x="14" y="1670"/>
                </a:moveTo>
                <a:lnTo>
                  <a:pt x="14" y="1684"/>
                </a:lnTo>
                <a:lnTo>
                  <a:pt x="0" y="1684"/>
                </a:lnTo>
                <a:lnTo>
                  <a:pt x="0" y="1670"/>
                </a:lnTo>
                <a:lnTo>
                  <a:pt x="14" y="1670"/>
                </a:lnTo>
                <a:close/>
                <a:moveTo>
                  <a:pt x="14" y="1698"/>
                </a:moveTo>
                <a:lnTo>
                  <a:pt x="14" y="1712"/>
                </a:lnTo>
                <a:lnTo>
                  <a:pt x="0" y="1712"/>
                </a:lnTo>
                <a:lnTo>
                  <a:pt x="0" y="1698"/>
                </a:lnTo>
                <a:lnTo>
                  <a:pt x="14" y="1698"/>
                </a:lnTo>
                <a:close/>
                <a:moveTo>
                  <a:pt x="14" y="1726"/>
                </a:moveTo>
                <a:lnTo>
                  <a:pt x="14" y="1740"/>
                </a:lnTo>
                <a:lnTo>
                  <a:pt x="0" y="1740"/>
                </a:lnTo>
                <a:lnTo>
                  <a:pt x="0" y="1726"/>
                </a:lnTo>
                <a:lnTo>
                  <a:pt x="14" y="1726"/>
                </a:lnTo>
                <a:close/>
                <a:moveTo>
                  <a:pt x="14" y="1754"/>
                </a:moveTo>
                <a:lnTo>
                  <a:pt x="14" y="1768"/>
                </a:lnTo>
                <a:lnTo>
                  <a:pt x="0" y="1768"/>
                </a:lnTo>
                <a:lnTo>
                  <a:pt x="0" y="1754"/>
                </a:lnTo>
                <a:lnTo>
                  <a:pt x="14" y="1754"/>
                </a:lnTo>
                <a:close/>
                <a:moveTo>
                  <a:pt x="14" y="1782"/>
                </a:moveTo>
                <a:lnTo>
                  <a:pt x="14" y="1795"/>
                </a:lnTo>
                <a:lnTo>
                  <a:pt x="0" y="1795"/>
                </a:lnTo>
                <a:lnTo>
                  <a:pt x="0" y="1782"/>
                </a:lnTo>
                <a:lnTo>
                  <a:pt x="14" y="1782"/>
                </a:lnTo>
                <a:close/>
                <a:moveTo>
                  <a:pt x="14" y="1809"/>
                </a:moveTo>
                <a:lnTo>
                  <a:pt x="14" y="1823"/>
                </a:lnTo>
                <a:lnTo>
                  <a:pt x="0" y="1823"/>
                </a:lnTo>
                <a:lnTo>
                  <a:pt x="0" y="1809"/>
                </a:lnTo>
                <a:lnTo>
                  <a:pt x="14" y="1809"/>
                </a:lnTo>
                <a:close/>
                <a:moveTo>
                  <a:pt x="14" y="1837"/>
                </a:moveTo>
                <a:lnTo>
                  <a:pt x="14" y="1851"/>
                </a:lnTo>
                <a:lnTo>
                  <a:pt x="0" y="1851"/>
                </a:lnTo>
                <a:lnTo>
                  <a:pt x="0" y="1837"/>
                </a:lnTo>
                <a:lnTo>
                  <a:pt x="14" y="1837"/>
                </a:lnTo>
                <a:close/>
                <a:moveTo>
                  <a:pt x="14" y="1865"/>
                </a:moveTo>
                <a:lnTo>
                  <a:pt x="14" y="1879"/>
                </a:lnTo>
                <a:lnTo>
                  <a:pt x="0" y="1879"/>
                </a:lnTo>
                <a:lnTo>
                  <a:pt x="0" y="1865"/>
                </a:lnTo>
                <a:lnTo>
                  <a:pt x="14" y="1865"/>
                </a:lnTo>
                <a:close/>
                <a:moveTo>
                  <a:pt x="14" y="1893"/>
                </a:moveTo>
                <a:lnTo>
                  <a:pt x="14" y="1907"/>
                </a:lnTo>
                <a:lnTo>
                  <a:pt x="0" y="1907"/>
                </a:lnTo>
                <a:lnTo>
                  <a:pt x="0" y="1893"/>
                </a:lnTo>
                <a:lnTo>
                  <a:pt x="14" y="1893"/>
                </a:lnTo>
                <a:close/>
                <a:moveTo>
                  <a:pt x="14" y="1921"/>
                </a:moveTo>
                <a:lnTo>
                  <a:pt x="14" y="1935"/>
                </a:lnTo>
                <a:lnTo>
                  <a:pt x="0" y="1935"/>
                </a:lnTo>
                <a:lnTo>
                  <a:pt x="0" y="1921"/>
                </a:lnTo>
                <a:lnTo>
                  <a:pt x="14" y="1921"/>
                </a:lnTo>
                <a:close/>
                <a:moveTo>
                  <a:pt x="14" y="1949"/>
                </a:moveTo>
                <a:lnTo>
                  <a:pt x="14" y="1962"/>
                </a:lnTo>
                <a:lnTo>
                  <a:pt x="0" y="1962"/>
                </a:lnTo>
                <a:lnTo>
                  <a:pt x="0" y="1949"/>
                </a:lnTo>
                <a:lnTo>
                  <a:pt x="14" y="1949"/>
                </a:lnTo>
                <a:close/>
                <a:moveTo>
                  <a:pt x="14" y="1976"/>
                </a:moveTo>
                <a:lnTo>
                  <a:pt x="14" y="1990"/>
                </a:lnTo>
                <a:lnTo>
                  <a:pt x="0" y="1990"/>
                </a:lnTo>
                <a:lnTo>
                  <a:pt x="0" y="1976"/>
                </a:lnTo>
                <a:lnTo>
                  <a:pt x="14" y="1976"/>
                </a:lnTo>
                <a:close/>
                <a:moveTo>
                  <a:pt x="14" y="2004"/>
                </a:moveTo>
                <a:lnTo>
                  <a:pt x="14" y="2018"/>
                </a:lnTo>
                <a:lnTo>
                  <a:pt x="0" y="2018"/>
                </a:lnTo>
                <a:lnTo>
                  <a:pt x="0" y="2004"/>
                </a:lnTo>
                <a:lnTo>
                  <a:pt x="14" y="2004"/>
                </a:lnTo>
                <a:close/>
                <a:moveTo>
                  <a:pt x="14" y="2032"/>
                </a:moveTo>
                <a:lnTo>
                  <a:pt x="14" y="2046"/>
                </a:lnTo>
                <a:lnTo>
                  <a:pt x="0" y="2046"/>
                </a:lnTo>
                <a:lnTo>
                  <a:pt x="0" y="2032"/>
                </a:lnTo>
                <a:lnTo>
                  <a:pt x="14" y="2032"/>
                </a:lnTo>
                <a:close/>
                <a:moveTo>
                  <a:pt x="14" y="2060"/>
                </a:moveTo>
                <a:lnTo>
                  <a:pt x="14" y="2074"/>
                </a:lnTo>
                <a:lnTo>
                  <a:pt x="0" y="2074"/>
                </a:lnTo>
                <a:lnTo>
                  <a:pt x="0" y="2060"/>
                </a:lnTo>
                <a:lnTo>
                  <a:pt x="14" y="2060"/>
                </a:lnTo>
                <a:close/>
                <a:moveTo>
                  <a:pt x="14" y="2087"/>
                </a:moveTo>
                <a:lnTo>
                  <a:pt x="14" y="2102"/>
                </a:lnTo>
                <a:lnTo>
                  <a:pt x="0" y="2102"/>
                </a:lnTo>
                <a:lnTo>
                  <a:pt x="0" y="2087"/>
                </a:lnTo>
                <a:lnTo>
                  <a:pt x="14" y="2087"/>
                </a:lnTo>
                <a:close/>
                <a:moveTo>
                  <a:pt x="14" y="2116"/>
                </a:moveTo>
                <a:lnTo>
                  <a:pt x="14" y="2129"/>
                </a:lnTo>
                <a:lnTo>
                  <a:pt x="0" y="2129"/>
                </a:lnTo>
                <a:lnTo>
                  <a:pt x="0" y="2116"/>
                </a:lnTo>
                <a:lnTo>
                  <a:pt x="14" y="2116"/>
                </a:lnTo>
                <a:close/>
                <a:moveTo>
                  <a:pt x="14" y="2143"/>
                </a:moveTo>
                <a:lnTo>
                  <a:pt x="14" y="2157"/>
                </a:lnTo>
                <a:lnTo>
                  <a:pt x="0" y="2157"/>
                </a:lnTo>
                <a:lnTo>
                  <a:pt x="0" y="2143"/>
                </a:lnTo>
                <a:lnTo>
                  <a:pt x="14" y="2143"/>
                </a:lnTo>
                <a:close/>
                <a:moveTo>
                  <a:pt x="14" y="2171"/>
                </a:moveTo>
                <a:lnTo>
                  <a:pt x="14" y="2185"/>
                </a:lnTo>
                <a:lnTo>
                  <a:pt x="0" y="2185"/>
                </a:lnTo>
                <a:lnTo>
                  <a:pt x="0" y="2171"/>
                </a:lnTo>
                <a:lnTo>
                  <a:pt x="14" y="2171"/>
                </a:lnTo>
                <a:close/>
                <a:moveTo>
                  <a:pt x="14" y="2199"/>
                </a:moveTo>
                <a:lnTo>
                  <a:pt x="14" y="2213"/>
                </a:lnTo>
                <a:lnTo>
                  <a:pt x="0" y="2213"/>
                </a:lnTo>
                <a:lnTo>
                  <a:pt x="0" y="2199"/>
                </a:lnTo>
                <a:lnTo>
                  <a:pt x="14" y="2199"/>
                </a:lnTo>
                <a:close/>
                <a:moveTo>
                  <a:pt x="14" y="2227"/>
                </a:moveTo>
                <a:lnTo>
                  <a:pt x="14" y="2241"/>
                </a:lnTo>
                <a:lnTo>
                  <a:pt x="0" y="2241"/>
                </a:lnTo>
                <a:lnTo>
                  <a:pt x="0" y="2227"/>
                </a:lnTo>
                <a:lnTo>
                  <a:pt x="14" y="2227"/>
                </a:lnTo>
                <a:close/>
                <a:moveTo>
                  <a:pt x="14" y="2254"/>
                </a:moveTo>
                <a:lnTo>
                  <a:pt x="14" y="2268"/>
                </a:lnTo>
                <a:lnTo>
                  <a:pt x="0" y="2268"/>
                </a:lnTo>
                <a:lnTo>
                  <a:pt x="0" y="2254"/>
                </a:lnTo>
                <a:lnTo>
                  <a:pt x="14" y="2254"/>
                </a:lnTo>
                <a:close/>
                <a:moveTo>
                  <a:pt x="14" y="2283"/>
                </a:moveTo>
                <a:lnTo>
                  <a:pt x="14" y="2296"/>
                </a:lnTo>
                <a:lnTo>
                  <a:pt x="0" y="2296"/>
                </a:lnTo>
                <a:lnTo>
                  <a:pt x="0" y="2283"/>
                </a:lnTo>
                <a:lnTo>
                  <a:pt x="14" y="2283"/>
                </a:lnTo>
                <a:close/>
                <a:moveTo>
                  <a:pt x="14" y="2310"/>
                </a:moveTo>
                <a:lnTo>
                  <a:pt x="14" y="2324"/>
                </a:lnTo>
                <a:lnTo>
                  <a:pt x="0" y="2324"/>
                </a:lnTo>
                <a:lnTo>
                  <a:pt x="0" y="2310"/>
                </a:lnTo>
                <a:lnTo>
                  <a:pt x="14" y="2310"/>
                </a:lnTo>
                <a:close/>
                <a:moveTo>
                  <a:pt x="14" y="2338"/>
                </a:moveTo>
                <a:lnTo>
                  <a:pt x="14" y="2352"/>
                </a:lnTo>
                <a:lnTo>
                  <a:pt x="0" y="2352"/>
                </a:lnTo>
                <a:lnTo>
                  <a:pt x="0" y="2338"/>
                </a:lnTo>
                <a:lnTo>
                  <a:pt x="14" y="2338"/>
                </a:lnTo>
                <a:close/>
                <a:moveTo>
                  <a:pt x="14" y="2366"/>
                </a:moveTo>
                <a:lnTo>
                  <a:pt x="14" y="2380"/>
                </a:lnTo>
                <a:lnTo>
                  <a:pt x="0" y="2380"/>
                </a:lnTo>
                <a:lnTo>
                  <a:pt x="0" y="2366"/>
                </a:lnTo>
                <a:lnTo>
                  <a:pt x="14" y="2366"/>
                </a:lnTo>
                <a:close/>
                <a:moveTo>
                  <a:pt x="14" y="2394"/>
                </a:moveTo>
                <a:lnTo>
                  <a:pt x="14" y="2408"/>
                </a:lnTo>
                <a:lnTo>
                  <a:pt x="0" y="2408"/>
                </a:lnTo>
                <a:lnTo>
                  <a:pt x="0" y="2394"/>
                </a:lnTo>
                <a:lnTo>
                  <a:pt x="14" y="2394"/>
                </a:lnTo>
                <a:close/>
                <a:moveTo>
                  <a:pt x="14" y="2421"/>
                </a:moveTo>
                <a:lnTo>
                  <a:pt x="14" y="2435"/>
                </a:lnTo>
                <a:lnTo>
                  <a:pt x="0" y="2435"/>
                </a:lnTo>
                <a:lnTo>
                  <a:pt x="0" y="2421"/>
                </a:lnTo>
                <a:lnTo>
                  <a:pt x="14" y="2421"/>
                </a:lnTo>
                <a:close/>
                <a:moveTo>
                  <a:pt x="14" y="2449"/>
                </a:moveTo>
                <a:lnTo>
                  <a:pt x="14" y="2453"/>
                </a:lnTo>
                <a:lnTo>
                  <a:pt x="0" y="2453"/>
                </a:lnTo>
                <a:lnTo>
                  <a:pt x="0" y="2449"/>
                </a:lnTo>
                <a:lnTo>
                  <a:pt x="14" y="2449"/>
                </a:lnTo>
                <a:close/>
              </a:path>
            </a:pathLst>
          </a:custGeom>
          <a:solidFill>
            <a:srgbClr val="000000"/>
          </a:solidFill>
          <a:ln w="0" cap="flat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36" name="Freeform 33">
            <a:extLst>
              <a:ext uri="{FF2B5EF4-FFF2-40B4-BE49-F238E27FC236}">
                <a16:creationId xmlns:a16="http://schemas.microsoft.com/office/drawing/2014/main" id="{0A6E15CA-913F-4662-A8AB-774BA846C596}"/>
              </a:ext>
            </a:extLst>
          </p:cNvPr>
          <p:cNvSpPr>
            <a:spLocks noEditPoints="1"/>
          </p:cNvSpPr>
          <p:nvPr/>
        </p:nvSpPr>
        <p:spPr bwMode="auto">
          <a:xfrm>
            <a:off x="7332298" y="2267962"/>
            <a:ext cx="23813" cy="3894138"/>
          </a:xfrm>
          <a:custGeom>
            <a:avLst/>
            <a:gdLst>
              <a:gd name="T0" fmla="*/ 15 w 15"/>
              <a:gd name="T1" fmla="*/ 42 h 2453"/>
              <a:gd name="T2" fmla="*/ 0 w 15"/>
              <a:gd name="T3" fmla="*/ 56 h 2453"/>
              <a:gd name="T4" fmla="*/ 15 w 15"/>
              <a:gd name="T5" fmla="*/ 112 h 2453"/>
              <a:gd name="T6" fmla="*/ 0 w 15"/>
              <a:gd name="T7" fmla="*/ 154 h 2453"/>
              <a:gd name="T8" fmla="*/ 15 w 15"/>
              <a:gd name="T9" fmla="*/ 167 h 2453"/>
              <a:gd name="T10" fmla="*/ 15 w 15"/>
              <a:gd name="T11" fmla="*/ 237 h 2453"/>
              <a:gd name="T12" fmla="*/ 0 w 15"/>
              <a:gd name="T13" fmla="*/ 251 h 2453"/>
              <a:gd name="T14" fmla="*/ 15 w 15"/>
              <a:gd name="T15" fmla="*/ 307 h 2453"/>
              <a:gd name="T16" fmla="*/ 0 w 15"/>
              <a:gd name="T17" fmla="*/ 348 h 2453"/>
              <a:gd name="T18" fmla="*/ 15 w 15"/>
              <a:gd name="T19" fmla="*/ 362 h 2453"/>
              <a:gd name="T20" fmla="*/ 15 w 15"/>
              <a:gd name="T21" fmla="*/ 432 h 2453"/>
              <a:gd name="T22" fmla="*/ 0 w 15"/>
              <a:gd name="T23" fmla="*/ 446 h 2453"/>
              <a:gd name="T24" fmla="*/ 15 w 15"/>
              <a:gd name="T25" fmla="*/ 501 h 2453"/>
              <a:gd name="T26" fmla="*/ 0 w 15"/>
              <a:gd name="T27" fmla="*/ 543 h 2453"/>
              <a:gd name="T28" fmla="*/ 15 w 15"/>
              <a:gd name="T29" fmla="*/ 557 h 2453"/>
              <a:gd name="T30" fmla="*/ 15 w 15"/>
              <a:gd name="T31" fmla="*/ 627 h 2453"/>
              <a:gd name="T32" fmla="*/ 0 w 15"/>
              <a:gd name="T33" fmla="*/ 641 h 2453"/>
              <a:gd name="T34" fmla="*/ 15 w 15"/>
              <a:gd name="T35" fmla="*/ 696 h 2453"/>
              <a:gd name="T36" fmla="*/ 0 w 15"/>
              <a:gd name="T37" fmla="*/ 738 h 2453"/>
              <a:gd name="T38" fmla="*/ 15 w 15"/>
              <a:gd name="T39" fmla="*/ 752 h 2453"/>
              <a:gd name="T40" fmla="*/ 15 w 15"/>
              <a:gd name="T41" fmla="*/ 822 h 2453"/>
              <a:gd name="T42" fmla="*/ 0 w 15"/>
              <a:gd name="T43" fmla="*/ 835 h 2453"/>
              <a:gd name="T44" fmla="*/ 15 w 15"/>
              <a:gd name="T45" fmla="*/ 891 h 2453"/>
              <a:gd name="T46" fmla="*/ 0 w 15"/>
              <a:gd name="T47" fmla="*/ 933 h 2453"/>
              <a:gd name="T48" fmla="*/ 15 w 15"/>
              <a:gd name="T49" fmla="*/ 947 h 2453"/>
              <a:gd name="T50" fmla="*/ 15 w 15"/>
              <a:gd name="T51" fmla="*/ 1016 h 2453"/>
              <a:gd name="T52" fmla="*/ 0 w 15"/>
              <a:gd name="T53" fmla="*/ 1030 h 2453"/>
              <a:gd name="T54" fmla="*/ 15 w 15"/>
              <a:gd name="T55" fmla="*/ 1086 h 2453"/>
              <a:gd name="T56" fmla="*/ 0 w 15"/>
              <a:gd name="T57" fmla="*/ 1127 h 2453"/>
              <a:gd name="T58" fmla="*/ 15 w 15"/>
              <a:gd name="T59" fmla="*/ 1141 h 2453"/>
              <a:gd name="T60" fmla="*/ 15 w 15"/>
              <a:gd name="T61" fmla="*/ 1211 h 2453"/>
              <a:gd name="T62" fmla="*/ 0 w 15"/>
              <a:gd name="T63" fmla="*/ 1225 h 2453"/>
              <a:gd name="T64" fmla="*/ 15 w 15"/>
              <a:gd name="T65" fmla="*/ 1281 h 2453"/>
              <a:gd name="T66" fmla="*/ 0 w 15"/>
              <a:gd name="T67" fmla="*/ 1322 h 2453"/>
              <a:gd name="T68" fmla="*/ 15 w 15"/>
              <a:gd name="T69" fmla="*/ 1336 h 2453"/>
              <a:gd name="T70" fmla="*/ 15 w 15"/>
              <a:gd name="T71" fmla="*/ 1406 h 2453"/>
              <a:gd name="T72" fmla="*/ 0 w 15"/>
              <a:gd name="T73" fmla="*/ 1420 h 2453"/>
              <a:gd name="T74" fmla="*/ 15 w 15"/>
              <a:gd name="T75" fmla="*/ 1475 h 2453"/>
              <a:gd name="T76" fmla="*/ 0 w 15"/>
              <a:gd name="T77" fmla="*/ 1517 h 2453"/>
              <a:gd name="T78" fmla="*/ 15 w 15"/>
              <a:gd name="T79" fmla="*/ 1531 h 2453"/>
              <a:gd name="T80" fmla="*/ 15 w 15"/>
              <a:gd name="T81" fmla="*/ 1601 h 2453"/>
              <a:gd name="T82" fmla="*/ 0 w 15"/>
              <a:gd name="T83" fmla="*/ 1615 h 2453"/>
              <a:gd name="T84" fmla="*/ 15 w 15"/>
              <a:gd name="T85" fmla="*/ 1670 h 2453"/>
              <a:gd name="T86" fmla="*/ 0 w 15"/>
              <a:gd name="T87" fmla="*/ 1712 h 2453"/>
              <a:gd name="T88" fmla="*/ 15 w 15"/>
              <a:gd name="T89" fmla="*/ 1726 h 2453"/>
              <a:gd name="T90" fmla="*/ 15 w 15"/>
              <a:gd name="T91" fmla="*/ 1795 h 2453"/>
              <a:gd name="T92" fmla="*/ 0 w 15"/>
              <a:gd name="T93" fmla="*/ 1809 h 2453"/>
              <a:gd name="T94" fmla="*/ 15 w 15"/>
              <a:gd name="T95" fmla="*/ 1865 h 2453"/>
              <a:gd name="T96" fmla="*/ 0 w 15"/>
              <a:gd name="T97" fmla="*/ 1907 h 2453"/>
              <a:gd name="T98" fmla="*/ 15 w 15"/>
              <a:gd name="T99" fmla="*/ 1921 h 2453"/>
              <a:gd name="T100" fmla="*/ 15 w 15"/>
              <a:gd name="T101" fmla="*/ 1990 h 2453"/>
              <a:gd name="T102" fmla="*/ 0 w 15"/>
              <a:gd name="T103" fmla="*/ 2004 h 2453"/>
              <a:gd name="T104" fmla="*/ 15 w 15"/>
              <a:gd name="T105" fmla="*/ 2060 h 2453"/>
              <a:gd name="T106" fmla="*/ 0 w 15"/>
              <a:gd name="T107" fmla="*/ 2102 h 2453"/>
              <a:gd name="T108" fmla="*/ 15 w 15"/>
              <a:gd name="T109" fmla="*/ 2116 h 2453"/>
              <a:gd name="T110" fmla="*/ 15 w 15"/>
              <a:gd name="T111" fmla="*/ 2185 h 2453"/>
              <a:gd name="T112" fmla="*/ 0 w 15"/>
              <a:gd name="T113" fmla="*/ 2199 h 2453"/>
              <a:gd name="T114" fmla="*/ 15 w 15"/>
              <a:gd name="T115" fmla="*/ 2254 h 2453"/>
              <a:gd name="T116" fmla="*/ 0 w 15"/>
              <a:gd name="T117" fmla="*/ 2296 h 2453"/>
              <a:gd name="T118" fmla="*/ 15 w 15"/>
              <a:gd name="T119" fmla="*/ 2310 h 2453"/>
              <a:gd name="T120" fmla="*/ 15 w 15"/>
              <a:gd name="T121" fmla="*/ 2380 h 2453"/>
              <a:gd name="T122" fmla="*/ 0 w 15"/>
              <a:gd name="T123" fmla="*/ 2394 h 2453"/>
              <a:gd name="T124" fmla="*/ 15 w 15"/>
              <a:gd name="T125" fmla="*/ 2449 h 24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15" h="2453">
                <a:moveTo>
                  <a:pt x="15" y="0"/>
                </a:moveTo>
                <a:lnTo>
                  <a:pt x="15" y="14"/>
                </a:lnTo>
                <a:lnTo>
                  <a:pt x="0" y="14"/>
                </a:lnTo>
                <a:lnTo>
                  <a:pt x="0" y="0"/>
                </a:lnTo>
                <a:lnTo>
                  <a:pt x="15" y="0"/>
                </a:lnTo>
                <a:close/>
                <a:moveTo>
                  <a:pt x="15" y="28"/>
                </a:moveTo>
                <a:lnTo>
                  <a:pt x="15" y="42"/>
                </a:lnTo>
                <a:lnTo>
                  <a:pt x="0" y="42"/>
                </a:lnTo>
                <a:lnTo>
                  <a:pt x="0" y="28"/>
                </a:lnTo>
                <a:lnTo>
                  <a:pt x="15" y="28"/>
                </a:lnTo>
                <a:close/>
                <a:moveTo>
                  <a:pt x="15" y="56"/>
                </a:moveTo>
                <a:lnTo>
                  <a:pt x="15" y="70"/>
                </a:lnTo>
                <a:lnTo>
                  <a:pt x="0" y="70"/>
                </a:lnTo>
                <a:lnTo>
                  <a:pt x="0" y="56"/>
                </a:lnTo>
                <a:lnTo>
                  <a:pt x="15" y="56"/>
                </a:lnTo>
                <a:close/>
                <a:moveTo>
                  <a:pt x="15" y="84"/>
                </a:moveTo>
                <a:lnTo>
                  <a:pt x="15" y="98"/>
                </a:lnTo>
                <a:lnTo>
                  <a:pt x="0" y="98"/>
                </a:lnTo>
                <a:lnTo>
                  <a:pt x="0" y="84"/>
                </a:lnTo>
                <a:lnTo>
                  <a:pt x="15" y="84"/>
                </a:lnTo>
                <a:close/>
                <a:moveTo>
                  <a:pt x="15" y="112"/>
                </a:moveTo>
                <a:lnTo>
                  <a:pt x="15" y="126"/>
                </a:lnTo>
                <a:lnTo>
                  <a:pt x="0" y="126"/>
                </a:lnTo>
                <a:lnTo>
                  <a:pt x="0" y="112"/>
                </a:lnTo>
                <a:lnTo>
                  <a:pt x="15" y="112"/>
                </a:lnTo>
                <a:close/>
                <a:moveTo>
                  <a:pt x="15" y="140"/>
                </a:moveTo>
                <a:lnTo>
                  <a:pt x="15" y="154"/>
                </a:lnTo>
                <a:lnTo>
                  <a:pt x="0" y="154"/>
                </a:lnTo>
                <a:lnTo>
                  <a:pt x="0" y="140"/>
                </a:lnTo>
                <a:lnTo>
                  <a:pt x="15" y="140"/>
                </a:lnTo>
                <a:close/>
                <a:moveTo>
                  <a:pt x="15" y="167"/>
                </a:moveTo>
                <a:lnTo>
                  <a:pt x="15" y="181"/>
                </a:lnTo>
                <a:lnTo>
                  <a:pt x="0" y="181"/>
                </a:lnTo>
                <a:lnTo>
                  <a:pt x="0" y="167"/>
                </a:lnTo>
                <a:lnTo>
                  <a:pt x="15" y="167"/>
                </a:lnTo>
                <a:close/>
                <a:moveTo>
                  <a:pt x="15" y="195"/>
                </a:moveTo>
                <a:lnTo>
                  <a:pt x="15" y="209"/>
                </a:lnTo>
                <a:lnTo>
                  <a:pt x="0" y="209"/>
                </a:lnTo>
                <a:lnTo>
                  <a:pt x="0" y="195"/>
                </a:lnTo>
                <a:lnTo>
                  <a:pt x="15" y="195"/>
                </a:lnTo>
                <a:close/>
                <a:moveTo>
                  <a:pt x="15" y="223"/>
                </a:moveTo>
                <a:lnTo>
                  <a:pt x="15" y="237"/>
                </a:lnTo>
                <a:lnTo>
                  <a:pt x="0" y="237"/>
                </a:lnTo>
                <a:lnTo>
                  <a:pt x="0" y="223"/>
                </a:lnTo>
                <a:lnTo>
                  <a:pt x="15" y="223"/>
                </a:lnTo>
                <a:close/>
                <a:moveTo>
                  <a:pt x="15" y="251"/>
                </a:moveTo>
                <a:lnTo>
                  <a:pt x="15" y="265"/>
                </a:lnTo>
                <a:lnTo>
                  <a:pt x="0" y="265"/>
                </a:lnTo>
                <a:lnTo>
                  <a:pt x="0" y="251"/>
                </a:lnTo>
                <a:lnTo>
                  <a:pt x="15" y="251"/>
                </a:lnTo>
                <a:close/>
                <a:moveTo>
                  <a:pt x="15" y="279"/>
                </a:moveTo>
                <a:lnTo>
                  <a:pt x="15" y="293"/>
                </a:lnTo>
                <a:lnTo>
                  <a:pt x="0" y="293"/>
                </a:lnTo>
                <a:lnTo>
                  <a:pt x="0" y="279"/>
                </a:lnTo>
                <a:lnTo>
                  <a:pt x="15" y="279"/>
                </a:lnTo>
                <a:close/>
                <a:moveTo>
                  <a:pt x="15" y="307"/>
                </a:moveTo>
                <a:lnTo>
                  <a:pt x="15" y="321"/>
                </a:lnTo>
                <a:lnTo>
                  <a:pt x="0" y="321"/>
                </a:lnTo>
                <a:lnTo>
                  <a:pt x="0" y="307"/>
                </a:lnTo>
                <a:lnTo>
                  <a:pt x="15" y="307"/>
                </a:lnTo>
                <a:close/>
                <a:moveTo>
                  <a:pt x="15" y="334"/>
                </a:moveTo>
                <a:lnTo>
                  <a:pt x="15" y="348"/>
                </a:lnTo>
                <a:lnTo>
                  <a:pt x="0" y="348"/>
                </a:lnTo>
                <a:lnTo>
                  <a:pt x="0" y="334"/>
                </a:lnTo>
                <a:lnTo>
                  <a:pt x="15" y="334"/>
                </a:lnTo>
                <a:close/>
                <a:moveTo>
                  <a:pt x="15" y="362"/>
                </a:moveTo>
                <a:lnTo>
                  <a:pt x="15" y="376"/>
                </a:lnTo>
                <a:lnTo>
                  <a:pt x="0" y="376"/>
                </a:lnTo>
                <a:lnTo>
                  <a:pt x="0" y="362"/>
                </a:lnTo>
                <a:lnTo>
                  <a:pt x="15" y="362"/>
                </a:lnTo>
                <a:close/>
                <a:moveTo>
                  <a:pt x="15" y="390"/>
                </a:moveTo>
                <a:lnTo>
                  <a:pt x="15" y="404"/>
                </a:lnTo>
                <a:lnTo>
                  <a:pt x="0" y="404"/>
                </a:lnTo>
                <a:lnTo>
                  <a:pt x="0" y="390"/>
                </a:lnTo>
                <a:lnTo>
                  <a:pt x="15" y="390"/>
                </a:lnTo>
                <a:close/>
                <a:moveTo>
                  <a:pt x="15" y="418"/>
                </a:moveTo>
                <a:lnTo>
                  <a:pt x="15" y="432"/>
                </a:lnTo>
                <a:lnTo>
                  <a:pt x="0" y="432"/>
                </a:lnTo>
                <a:lnTo>
                  <a:pt x="0" y="418"/>
                </a:lnTo>
                <a:lnTo>
                  <a:pt x="15" y="418"/>
                </a:lnTo>
                <a:close/>
                <a:moveTo>
                  <a:pt x="15" y="446"/>
                </a:moveTo>
                <a:lnTo>
                  <a:pt x="15" y="460"/>
                </a:lnTo>
                <a:lnTo>
                  <a:pt x="0" y="460"/>
                </a:lnTo>
                <a:lnTo>
                  <a:pt x="0" y="446"/>
                </a:lnTo>
                <a:lnTo>
                  <a:pt x="15" y="446"/>
                </a:lnTo>
                <a:close/>
                <a:moveTo>
                  <a:pt x="15" y="474"/>
                </a:moveTo>
                <a:lnTo>
                  <a:pt x="15" y="488"/>
                </a:lnTo>
                <a:lnTo>
                  <a:pt x="0" y="488"/>
                </a:lnTo>
                <a:lnTo>
                  <a:pt x="0" y="474"/>
                </a:lnTo>
                <a:lnTo>
                  <a:pt x="15" y="474"/>
                </a:lnTo>
                <a:close/>
                <a:moveTo>
                  <a:pt x="15" y="501"/>
                </a:moveTo>
                <a:lnTo>
                  <a:pt x="15" y="515"/>
                </a:lnTo>
                <a:lnTo>
                  <a:pt x="0" y="515"/>
                </a:lnTo>
                <a:lnTo>
                  <a:pt x="0" y="501"/>
                </a:lnTo>
                <a:lnTo>
                  <a:pt x="15" y="501"/>
                </a:lnTo>
                <a:close/>
                <a:moveTo>
                  <a:pt x="15" y="529"/>
                </a:moveTo>
                <a:lnTo>
                  <a:pt x="15" y="543"/>
                </a:lnTo>
                <a:lnTo>
                  <a:pt x="0" y="543"/>
                </a:lnTo>
                <a:lnTo>
                  <a:pt x="0" y="529"/>
                </a:lnTo>
                <a:lnTo>
                  <a:pt x="15" y="529"/>
                </a:lnTo>
                <a:close/>
                <a:moveTo>
                  <a:pt x="15" y="557"/>
                </a:moveTo>
                <a:lnTo>
                  <a:pt x="15" y="571"/>
                </a:lnTo>
                <a:lnTo>
                  <a:pt x="0" y="571"/>
                </a:lnTo>
                <a:lnTo>
                  <a:pt x="0" y="557"/>
                </a:lnTo>
                <a:lnTo>
                  <a:pt x="15" y="557"/>
                </a:lnTo>
                <a:close/>
                <a:moveTo>
                  <a:pt x="15" y="585"/>
                </a:moveTo>
                <a:lnTo>
                  <a:pt x="15" y="599"/>
                </a:lnTo>
                <a:lnTo>
                  <a:pt x="0" y="599"/>
                </a:lnTo>
                <a:lnTo>
                  <a:pt x="0" y="585"/>
                </a:lnTo>
                <a:lnTo>
                  <a:pt x="15" y="585"/>
                </a:lnTo>
                <a:close/>
                <a:moveTo>
                  <a:pt x="15" y="613"/>
                </a:moveTo>
                <a:lnTo>
                  <a:pt x="15" y="627"/>
                </a:lnTo>
                <a:lnTo>
                  <a:pt x="0" y="627"/>
                </a:lnTo>
                <a:lnTo>
                  <a:pt x="0" y="613"/>
                </a:lnTo>
                <a:lnTo>
                  <a:pt x="15" y="613"/>
                </a:lnTo>
                <a:close/>
                <a:moveTo>
                  <a:pt x="15" y="641"/>
                </a:moveTo>
                <a:lnTo>
                  <a:pt x="15" y="655"/>
                </a:lnTo>
                <a:lnTo>
                  <a:pt x="0" y="655"/>
                </a:lnTo>
                <a:lnTo>
                  <a:pt x="0" y="641"/>
                </a:lnTo>
                <a:lnTo>
                  <a:pt x="15" y="641"/>
                </a:lnTo>
                <a:close/>
                <a:moveTo>
                  <a:pt x="15" y="668"/>
                </a:moveTo>
                <a:lnTo>
                  <a:pt x="15" y="682"/>
                </a:lnTo>
                <a:lnTo>
                  <a:pt x="0" y="682"/>
                </a:lnTo>
                <a:lnTo>
                  <a:pt x="0" y="668"/>
                </a:lnTo>
                <a:lnTo>
                  <a:pt x="15" y="668"/>
                </a:lnTo>
                <a:close/>
                <a:moveTo>
                  <a:pt x="15" y="696"/>
                </a:moveTo>
                <a:lnTo>
                  <a:pt x="15" y="710"/>
                </a:lnTo>
                <a:lnTo>
                  <a:pt x="0" y="710"/>
                </a:lnTo>
                <a:lnTo>
                  <a:pt x="0" y="696"/>
                </a:lnTo>
                <a:lnTo>
                  <a:pt x="15" y="696"/>
                </a:lnTo>
                <a:close/>
                <a:moveTo>
                  <a:pt x="15" y="724"/>
                </a:moveTo>
                <a:lnTo>
                  <a:pt x="15" y="738"/>
                </a:lnTo>
                <a:lnTo>
                  <a:pt x="0" y="738"/>
                </a:lnTo>
                <a:lnTo>
                  <a:pt x="0" y="724"/>
                </a:lnTo>
                <a:lnTo>
                  <a:pt x="15" y="724"/>
                </a:lnTo>
                <a:close/>
                <a:moveTo>
                  <a:pt x="15" y="752"/>
                </a:moveTo>
                <a:lnTo>
                  <a:pt x="15" y="766"/>
                </a:lnTo>
                <a:lnTo>
                  <a:pt x="0" y="766"/>
                </a:lnTo>
                <a:lnTo>
                  <a:pt x="0" y="752"/>
                </a:lnTo>
                <a:lnTo>
                  <a:pt x="15" y="752"/>
                </a:lnTo>
                <a:close/>
                <a:moveTo>
                  <a:pt x="15" y="780"/>
                </a:moveTo>
                <a:lnTo>
                  <a:pt x="15" y="793"/>
                </a:lnTo>
                <a:lnTo>
                  <a:pt x="0" y="793"/>
                </a:lnTo>
                <a:lnTo>
                  <a:pt x="0" y="780"/>
                </a:lnTo>
                <a:lnTo>
                  <a:pt x="15" y="780"/>
                </a:lnTo>
                <a:close/>
                <a:moveTo>
                  <a:pt x="15" y="808"/>
                </a:moveTo>
                <a:lnTo>
                  <a:pt x="15" y="822"/>
                </a:lnTo>
                <a:lnTo>
                  <a:pt x="0" y="822"/>
                </a:lnTo>
                <a:lnTo>
                  <a:pt x="0" y="808"/>
                </a:lnTo>
                <a:lnTo>
                  <a:pt x="15" y="808"/>
                </a:lnTo>
                <a:close/>
                <a:moveTo>
                  <a:pt x="15" y="835"/>
                </a:moveTo>
                <a:lnTo>
                  <a:pt x="15" y="849"/>
                </a:lnTo>
                <a:lnTo>
                  <a:pt x="0" y="849"/>
                </a:lnTo>
                <a:lnTo>
                  <a:pt x="0" y="835"/>
                </a:lnTo>
                <a:lnTo>
                  <a:pt x="15" y="835"/>
                </a:lnTo>
                <a:close/>
                <a:moveTo>
                  <a:pt x="15" y="863"/>
                </a:moveTo>
                <a:lnTo>
                  <a:pt x="15" y="877"/>
                </a:lnTo>
                <a:lnTo>
                  <a:pt x="0" y="877"/>
                </a:lnTo>
                <a:lnTo>
                  <a:pt x="0" y="863"/>
                </a:lnTo>
                <a:lnTo>
                  <a:pt x="15" y="863"/>
                </a:lnTo>
                <a:close/>
                <a:moveTo>
                  <a:pt x="15" y="891"/>
                </a:moveTo>
                <a:lnTo>
                  <a:pt x="15" y="905"/>
                </a:lnTo>
                <a:lnTo>
                  <a:pt x="0" y="905"/>
                </a:lnTo>
                <a:lnTo>
                  <a:pt x="0" y="891"/>
                </a:lnTo>
                <a:lnTo>
                  <a:pt x="15" y="891"/>
                </a:lnTo>
                <a:close/>
                <a:moveTo>
                  <a:pt x="15" y="919"/>
                </a:moveTo>
                <a:lnTo>
                  <a:pt x="15" y="933"/>
                </a:lnTo>
                <a:lnTo>
                  <a:pt x="0" y="933"/>
                </a:lnTo>
                <a:lnTo>
                  <a:pt x="0" y="919"/>
                </a:lnTo>
                <a:lnTo>
                  <a:pt x="15" y="919"/>
                </a:lnTo>
                <a:close/>
                <a:moveTo>
                  <a:pt x="15" y="947"/>
                </a:moveTo>
                <a:lnTo>
                  <a:pt x="15" y="960"/>
                </a:lnTo>
                <a:lnTo>
                  <a:pt x="0" y="960"/>
                </a:lnTo>
                <a:lnTo>
                  <a:pt x="0" y="947"/>
                </a:lnTo>
                <a:lnTo>
                  <a:pt x="15" y="947"/>
                </a:lnTo>
                <a:close/>
                <a:moveTo>
                  <a:pt x="15" y="974"/>
                </a:moveTo>
                <a:lnTo>
                  <a:pt x="15" y="988"/>
                </a:lnTo>
                <a:lnTo>
                  <a:pt x="0" y="988"/>
                </a:lnTo>
                <a:lnTo>
                  <a:pt x="0" y="974"/>
                </a:lnTo>
                <a:lnTo>
                  <a:pt x="15" y="974"/>
                </a:lnTo>
                <a:close/>
                <a:moveTo>
                  <a:pt x="15" y="1002"/>
                </a:moveTo>
                <a:lnTo>
                  <a:pt x="15" y="1016"/>
                </a:lnTo>
                <a:lnTo>
                  <a:pt x="0" y="1016"/>
                </a:lnTo>
                <a:lnTo>
                  <a:pt x="0" y="1002"/>
                </a:lnTo>
                <a:lnTo>
                  <a:pt x="15" y="1002"/>
                </a:lnTo>
                <a:close/>
                <a:moveTo>
                  <a:pt x="15" y="1030"/>
                </a:moveTo>
                <a:lnTo>
                  <a:pt x="15" y="1044"/>
                </a:lnTo>
                <a:lnTo>
                  <a:pt x="0" y="1044"/>
                </a:lnTo>
                <a:lnTo>
                  <a:pt x="0" y="1030"/>
                </a:lnTo>
                <a:lnTo>
                  <a:pt x="15" y="1030"/>
                </a:lnTo>
                <a:close/>
                <a:moveTo>
                  <a:pt x="15" y="1058"/>
                </a:moveTo>
                <a:lnTo>
                  <a:pt x="15" y="1072"/>
                </a:lnTo>
                <a:lnTo>
                  <a:pt x="0" y="1072"/>
                </a:lnTo>
                <a:lnTo>
                  <a:pt x="0" y="1058"/>
                </a:lnTo>
                <a:lnTo>
                  <a:pt x="15" y="1058"/>
                </a:lnTo>
                <a:close/>
                <a:moveTo>
                  <a:pt x="15" y="1086"/>
                </a:moveTo>
                <a:lnTo>
                  <a:pt x="15" y="1100"/>
                </a:lnTo>
                <a:lnTo>
                  <a:pt x="0" y="1100"/>
                </a:lnTo>
                <a:lnTo>
                  <a:pt x="0" y="1086"/>
                </a:lnTo>
                <a:lnTo>
                  <a:pt x="15" y="1086"/>
                </a:lnTo>
                <a:close/>
                <a:moveTo>
                  <a:pt x="15" y="1114"/>
                </a:moveTo>
                <a:lnTo>
                  <a:pt x="15" y="1127"/>
                </a:lnTo>
                <a:lnTo>
                  <a:pt x="0" y="1127"/>
                </a:lnTo>
                <a:lnTo>
                  <a:pt x="0" y="1114"/>
                </a:lnTo>
                <a:lnTo>
                  <a:pt x="15" y="1114"/>
                </a:lnTo>
                <a:close/>
                <a:moveTo>
                  <a:pt x="15" y="1141"/>
                </a:moveTo>
                <a:lnTo>
                  <a:pt x="15" y="1155"/>
                </a:lnTo>
                <a:lnTo>
                  <a:pt x="0" y="1155"/>
                </a:lnTo>
                <a:lnTo>
                  <a:pt x="0" y="1141"/>
                </a:lnTo>
                <a:lnTo>
                  <a:pt x="15" y="1141"/>
                </a:lnTo>
                <a:close/>
                <a:moveTo>
                  <a:pt x="15" y="1169"/>
                </a:moveTo>
                <a:lnTo>
                  <a:pt x="15" y="1183"/>
                </a:lnTo>
                <a:lnTo>
                  <a:pt x="0" y="1183"/>
                </a:lnTo>
                <a:lnTo>
                  <a:pt x="0" y="1169"/>
                </a:lnTo>
                <a:lnTo>
                  <a:pt x="15" y="1169"/>
                </a:lnTo>
                <a:close/>
                <a:moveTo>
                  <a:pt x="15" y="1197"/>
                </a:moveTo>
                <a:lnTo>
                  <a:pt x="15" y="1211"/>
                </a:lnTo>
                <a:lnTo>
                  <a:pt x="0" y="1211"/>
                </a:lnTo>
                <a:lnTo>
                  <a:pt x="0" y="1197"/>
                </a:lnTo>
                <a:lnTo>
                  <a:pt x="15" y="1197"/>
                </a:lnTo>
                <a:close/>
                <a:moveTo>
                  <a:pt x="15" y="1225"/>
                </a:moveTo>
                <a:lnTo>
                  <a:pt x="15" y="1239"/>
                </a:lnTo>
                <a:lnTo>
                  <a:pt x="0" y="1239"/>
                </a:lnTo>
                <a:lnTo>
                  <a:pt x="0" y="1225"/>
                </a:lnTo>
                <a:lnTo>
                  <a:pt x="15" y="1225"/>
                </a:lnTo>
                <a:close/>
                <a:moveTo>
                  <a:pt x="15" y="1253"/>
                </a:moveTo>
                <a:lnTo>
                  <a:pt x="15" y="1267"/>
                </a:lnTo>
                <a:lnTo>
                  <a:pt x="0" y="1267"/>
                </a:lnTo>
                <a:lnTo>
                  <a:pt x="0" y="1253"/>
                </a:lnTo>
                <a:lnTo>
                  <a:pt x="15" y="1253"/>
                </a:lnTo>
                <a:close/>
                <a:moveTo>
                  <a:pt x="15" y="1281"/>
                </a:moveTo>
                <a:lnTo>
                  <a:pt x="15" y="1294"/>
                </a:lnTo>
                <a:lnTo>
                  <a:pt x="0" y="1294"/>
                </a:lnTo>
                <a:lnTo>
                  <a:pt x="0" y="1281"/>
                </a:lnTo>
                <a:lnTo>
                  <a:pt x="15" y="1281"/>
                </a:lnTo>
                <a:close/>
                <a:moveTo>
                  <a:pt x="15" y="1308"/>
                </a:moveTo>
                <a:lnTo>
                  <a:pt x="15" y="1322"/>
                </a:lnTo>
                <a:lnTo>
                  <a:pt x="0" y="1322"/>
                </a:lnTo>
                <a:lnTo>
                  <a:pt x="0" y="1308"/>
                </a:lnTo>
                <a:lnTo>
                  <a:pt x="15" y="1308"/>
                </a:lnTo>
                <a:close/>
                <a:moveTo>
                  <a:pt x="15" y="1336"/>
                </a:moveTo>
                <a:lnTo>
                  <a:pt x="15" y="1350"/>
                </a:lnTo>
                <a:lnTo>
                  <a:pt x="0" y="1350"/>
                </a:lnTo>
                <a:lnTo>
                  <a:pt x="0" y="1336"/>
                </a:lnTo>
                <a:lnTo>
                  <a:pt x="15" y="1336"/>
                </a:lnTo>
                <a:close/>
                <a:moveTo>
                  <a:pt x="15" y="1364"/>
                </a:moveTo>
                <a:lnTo>
                  <a:pt x="15" y="1378"/>
                </a:lnTo>
                <a:lnTo>
                  <a:pt x="0" y="1378"/>
                </a:lnTo>
                <a:lnTo>
                  <a:pt x="0" y="1364"/>
                </a:lnTo>
                <a:lnTo>
                  <a:pt x="15" y="1364"/>
                </a:lnTo>
                <a:close/>
                <a:moveTo>
                  <a:pt x="15" y="1392"/>
                </a:moveTo>
                <a:lnTo>
                  <a:pt x="15" y="1406"/>
                </a:lnTo>
                <a:lnTo>
                  <a:pt x="0" y="1406"/>
                </a:lnTo>
                <a:lnTo>
                  <a:pt x="0" y="1392"/>
                </a:lnTo>
                <a:lnTo>
                  <a:pt x="15" y="1392"/>
                </a:lnTo>
                <a:close/>
                <a:moveTo>
                  <a:pt x="15" y="1420"/>
                </a:moveTo>
                <a:lnTo>
                  <a:pt x="15" y="1434"/>
                </a:lnTo>
                <a:lnTo>
                  <a:pt x="0" y="1434"/>
                </a:lnTo>
                <a:lnTo>
                  <a:pt x="0" y="1420"/>
                </a:lnTo>
                <a:lnTo>
                  <a:pt x="15" y="1420"/>
                </a:lnTo>
                <a:close/>
                <a:moveTo>
                  <a:pt x="15" y="1448"/>
                </a:moveTo>
                <a:lnTo>
                  <a:pt x="15" y="1461"/>
                </a:lnTo>
                <a:lnTo>
                  <a:pt x="0" y="1461"/>
                </a:lnTo>
                <a:lnTo>
                  <a:pt x="0" y="1448"/>
                </a:lnTo>
                <a:lnTo>
                  <a:pt x="15" y="1448"/>
                </a:lnTo>
                <a:close/>
                <a:moveTo>
                  <a:pt x="15" y="1475"/>
                </a:moveTo>
                <a:lnTo>
                  <a:pt x="15" y="1489"/>
                </a:lnTo>
                <a:lnTo>
                  <a:pt x="0" y="1489"/>
                </a:lnTo>
                <a:lnTo>
                  <a:pt x="0" y="1475"/>
                </a:lnTo>
                <a:lnTo>
                  <a:pt x="15" y="1475"/>
                </a:lnTo>
                <a:close/>
                <a:moveTo>
                  <a:pt x="15" y="1503"/>
                </a:moveTo>
                <a:lnTo>
                  <a:pt x="15" y="1517"/>
                </a:lnTo>
                <a:lnTo>
                  <a:pt x="0" y="1517"/>
                </a:lnTo>
                <a:lnTo>
                  <a:pt x="0" y="1503"/>
                </a:lnTo>
                <a:lnTo>
                  <a:pt x="15" y="1503"/>
                </a:lnTo>
                <a:close/>
                <a:moveTo>
                  <a:pt x="15" y="1531"/>
                </a:moveTo>
                <a:lnTo>
                  <a:pt x="15" y="1545"/>
                </a:lnTo>
                <a:lnTo>
                  <a:pt x="0" y="1545"/>
                </a:lnTo>
                <a:lnTo>
                  <a:pt x="0" y="1531"/>
                </a:lnTo>
                <a:lnTo>
                  <a:pt x="15" y="1531"/>
                </a:lnTo>
                <a:close/>
                <a:moveTo>
                  <a:pt x="15" y="1559"/>
                </a:moveTo>
                <a:lnTo>
                  <a:pt x="15" y="1573"/>
                </a:lnTo>
                <a:lnTo>
                  <a:pt x="0" y="1573"/>
                </a:lnTo>
                <a:lnTo>
                  <a:pt x="0" y="1559"/>
                </a:lnTo>
                <a:lnTo>
                  <a:pt x="15" y="1559"/>
                </a:lnTo>
                <a:close/>
                <a:moveTo>
                  <a:pt x="15" y="1587"/>
                </a:moveTo>
                <a:lnTo>
                  <a:pt x="15" y="1601"/>
                </a:lnTo>
                <a:lnTo>
                  <a:pt x="0" y="1601"/>
                </a:lnTo>
                <a:lnTo>
                  <a:pt x="0" y="1587"/>
                </a:lnTo>
                <a:lnTo>
                  <a:pt x="15" y="1587"/>
                </a:lnTo>
                <a:close/>
                <a:moveTo>
                  <a:pt x="15" y="1615"/>
                </a:moveTo>
                <a:lnTo>
                  <a:pt x="15" y="1628"/>
                </a:lnTo>
                <a:lnTo>
                  <a:pt x="0" y="1628"/>
                </a:lnTo>
                <a:lnTo>
                  <a:pt x="0" y="1615"/>
                </a:lnTo>
                <a:lnTo>
                  <a:pt x="15" y="1615"/>
                </a:lnTo>
                <a:close/>
                <a:moveTo>
                  <a:pt x="15" y="1642"/>
                </a:moveTo>
                <a:lnTo>
                  <a:pt x="15" y="1656"/>
                </a:lnTo>
                <a:lnTo>
                  <a:pt x="0" y="1656"/>
                </a:lnTo>
                <a:lnTo>
                  <a:pt x="0" y="1642"/>
                </a:lnTo>
                <a:lnTo>
                  <a:pt x="15" y="1642"/>
                </a:lnTo>
                <a:close/>
                <a:moveTo>
                  <a:pt x="15" y="1670"/>
                </a:moveTo>
                <a:lnTo>
                  <a:pt x="15" y="1684"/>
                </a:lnTo>
                <a:lnTo>
                  <a:pt x="0" y="1684"/>
                </a:lnTo>
                <a:lnTo>
                  <a:pt x="0" y="1670"/>
                </a:lnTo>
                <a:lnTo>
                  <a:pt x="15" y="1670"/>
                </a:lnTo>
                <a:close/>
                <a:moveTo>
                  <a:pt x="15" y="1698"/>
                </a:moveTo>
                <a:lnTo>
                  <a:pt x="15" y="1712"/>
                </a:lnTo>
                <a:lnTo>
                  <a:pt x="0" y="1712"/>
                </a:lnTo>
                <a:lnTo>
                  <a:pt x="0" y="1698"/>
                </a:lnTo>
                <a:lnTo>
                  <a:pt x="15" y="1698"/>
                </a:lnTo>
                <a:close/>
                <a:moveTo>
                  <a:pt x="15" y="1726"/>
                </a:moveTo>
                <a:lnTo>
                  <a:pt x="15" y="1740"/>
                </a:lnTo>
                <a:lnTo>
                  <a:pt x="0" y="1740"/>
                </a:lnTo>
                <a:lnTo>
                  <a:pt x="0" y="1726"/>
                </a:lnTo>
                <a:lnTo>
                  <a:pt x="15" y="1726"/>
                </a:lnTo>
                <a:close/>
                <a:moveTo>
                  <a:pt x="15" y="1754"/>
                </a:moveTo>
                <a:lnTo>
                  <a:pt x="15" y="1768"/>
                </a:lnTo>
                <a:lnTo>
                  <a:pt x="0" y="1768"/>
                </a:lnTo>
                <a:lnTo>
                  <a:pt x="0" y="1754"/>
                </a:lnTo>
                <a:lnTo>
                  <a:pt x="15" y="1754"/>
                </a:lnTo>
                <a:close/>
                <a:moveTo>
                  <a:pt x="15" y="1782"/>
                </a:moveTo>
                <a:lnTo>
                  <a:pt x="15" y="1795"/>
                </a:lnTo>
                <a:lnTo>
                  <a:pt x="0" y="1795"/>
                </a:lnTo>
                <a:lnTo>
                  <a:pt x="0" y="1782"/>
                </a:lnTo>
                <a:lnTo>
                  <a:pt x="15" y="1782"/>
                </a:lnTo>
                <a:close/>
                <a:moveTo>
                  <a:pt x="15" y="1809"/>
                </a:moveTo>
                <a:lnTo>
                  <a:pt x="15" y="1823"/>
                </a:lnTo>
                <a:lnTo>
                  <a:pt x="0" y="1823"/>
                </a:lnTo>
                <a:lnTo>
                  <a:pt x="0" y="1809"/>
                </a:lnTo>
                <a:lnTo>
                  <a:pt x="15" y="1809"/>
                </a:lnTo>
                <a:close/>
                <a:moveTo>
                  <a:pt x="15" y="1837"/>
                </a:moveTo>
                <a:lnTo>
                  <a:pt x="15" y="1851"/>
                </a:lnTo>
                <a:lnTo>
                  <a:pt x="0" y="1851"/>
                </a:lnTo>
                <a:lnTo>
                  <a:pt x="0" y="1837"/>
                </a:lnTo>
                <a:lnTo>
                  <a:pt x="15" y="1837"/>
                </a:lnTo>
                <a:close/>
                <a:moveTo>
                  <a:pt x="15" y="1865"/>
                </a:moveTo>
                <a:lnTo>
                  <a:pt x="15" y="1879"/>
                </a:lnTo>
                <a:lnTo>
                  <a:pt x="0" y="1879"/>
                </a:lnTo>
                <a:lnTo>
                  <a:pt x="0" y="1865"/>
                </a:lnTo>
                <a:lnTo>
                  <a:pt x="15" y="1865"/>
                </a:lnTo>
                <a:close/>
                <a:moveTo>
                  <a:pt x="15" y="1893"/>
                </a:moveTo>
                <a:lnTo>
                  <a:pt x="15" y="1907"/>
                </a:lnTo>
                <a:lnTo>
                  <a:pt x="0" y="1907"/>
                </a:lnTo>
                <a:lnTo>
                  <a:pt x="0" y="1893"/>
                </a:lnTo>
                <a:lnTo>
                  <a:pt x="15" y="1893"/>
                </a:lnTo>
                <a:close/>
                <a:moveTo>
                  <a:pt x="15" y="1921"/>
                </a:moveTo>
                <a:lnTo>
                  <a:pt x="15" y="1935"/>
                </a:lnTo>
                <a:lnTo>
                  <a:pt x="0" y="1935"/>
                </a:lnTo>
                <a:lnTo>
                  <a:pt x="0" y="1921"/>
                </a:lnTo>
                <a:lnTo>
                  <a:pt x="15" y="1921"/>
                </a:lnTo>
                <a:close/>
                <a:moveTo>
                  <a:pt x="15" y="1949"/>
                </a:moveTo>
                <a:lnTo>
                  <a:pt x="15" y="1962"/>
                </a:lnTo>
                <a:lnTo>
                  <a:pt x="0" y="1962"/>
                </a:lnTo>
                <a:lnTo>
                  <a:pt x="0" y="1949"/>
                </a:lnTo>
                <a:lnTo>
                  <a:pt x="15" y="1949"/>
                </a:lnTo>
                <a:close/>
                <a:moveTo>
                  <a:pt x="15" y="1976"/>
                </a:moveTo>
                <a:lnTo>
                  <a:pt x="15" y="1990"/>
                </a:lnTo>
                <a:lnTo>
                  <a:pt x="0" y="1990"/>
                </a:lnTo>
                <a:lnTo>
                  <a:pt x="0" y="1976"/>
                </a:lnTo>
                <a:lnTo>
                  <a:pt x="15" y="1976"/>
                </a:lnTo>
                <a:close/>
                <a:moveTo>
                  <a:pt x="15" y="2004"/>
                </a:moveTo>
                <a:lnTo>
                  <a:pt x="15" y="2018"/>
                </a:lnTo>
                <a:lnTo>
                  <a:pt x="0" y="2018"/>
                </a:lnTo>
                <a:lnTo>
                  <a:pt x="0" y="2004"/>
                </a:lnTo>
                <a:lnTo>
                  <a:pt x="15" y="2004"/>
                </a:lnTo>
                <a:close/>
                <a:moveTo>
                  <a:pt x="15" y="2032"/>
                </a:moveTo>
                <a:lnTo>
                  <a:pt x="15" y="2046"/>
                </a:lnTo>
                <a:lnTo>
                  <a:pt x="0" y="2046"/>
                </a:lnTo>
                <a:lnTo>
                  <a:pt x="0" y="2032"/>
                </a:lnTo>
                <a:lnTo>
                  <a:pt x="15" y="2032"/>
                </a:lnTo>
                <a:close/>
                <a:moveTo>
                  <a:pt x="15" y="2060"/>
                </a:moveTo>
                <a:lnTo>
                  <a:pt x="15" y="2074"/>
                </a:lnTo>
                <a:lnTo>
                  <a:pt x="0" y="2074"/>
                </a:lnTo>
                <a:lnTo>
                  <a:pt x="0" y="2060"/>
                </a:lnTo>
                <a:lnTo>
                  <a:pt x="15" y="2060"/>
                </a:lnTo>
                <a:close/>
                <a:moveTo>
                  <a:pt x="15" y="2087"/>
                </a:moveTo>
                <a:lnTo>
                  <a:pt x="15" y="2102"/>
                </a:lnTo>
                <a:lnTo>
                  <a:pt x="0" y="2102"/>
                </a:lnTo>
                <a:lnTo>
                  <a:pt x="0" y="2087"/>
                </a:lnTo>
                <a:lnTo>
                  <a:pt x="15" y="2087"/>
                </a:lnTo>
                <a:close/>
                <a:moveTo>
                  <a:pt x="15" y="2116"/>
                </a:moveTo>
                <a:lnTo>
                  <a:pt x="15" y="2129"/>
                </a:lnTo>
                <a:lnTo>
                  <a:pt x="0" y="2129"/>
                </a:lnTo>
                <a:lnTo>
                  <a:pt x="0" y="2116"/>
                </a:lnTo>
                <a:lnTo>
                  <a:pt x="15" y="2116"/>
                </a:lnTo>
                <a:close/>
                <a:moveTo>
                  <a:pt x="15" y="2143"/>
                </a:moveTo>
                <a:lnTo>
                  <a:pt x="15" y="2157"/>
                </a:lnTo>
                <a:lnTo>
                  <a:pt x="0" y="2157"/>
                </a:lnTo>
                <a:lnTo>
                  <a:pt x="0" y="2143"/>
                </a:lnTo>
                <a:lnTo>
                  <a:pt x="15" y="2143"/>
                </a:lnTo>
                <a:close/>
                <a:moveTo>
                  <a:pt x="15" y="2171"/>
                </a:moveTo>
                <a:lnTo>
                  <a:pt x="15" y="2185"/>
                </a:lnTo>
                <a:lnTo>
                  <a:pt x="0" y="2185"/>
                </a:lnTo>
                <a:lnTo>
                  <a:pt x="0" y="2171"/>
                </a:lnTo>
                <a:lnTo>
                  <a:pt x="15" y="2171"/>
                </a:lnTo>
                <a:close/>
                <a:moveTo>
                  <a:pt x="15" y="2199"/>
                </a:moveTo>
                <a:lnTo>
                  <a:pt x="15" y="2213"/>
                </a:lnTo>
                <a:lnTo>
                  <a:pt x="0" y="2213"/>
                </a:lnTo>
                <a:lnTo>
                  <a:pt x="0" y="2199"/>
                </a:lnTo>
                <a:lnTo>
                  <a:pt x="15" y="2199"/>
                </a:lnTo>
                <a:close/>
                <a:moveTo>
                  <a:pt x="15" y="2227"/>
                </a:moveTo>
                <a:lnTo>
                  <a:pt x="15" y="2241"/>
                </a:lnTo>
                <a:lnTo>
                  <a:pt x="0" y="2241"/>
                </a:lnTo>
                <a:lnTo>
                  <a:pt x="0" y="2227"/>
                </a:lnTo>
                <a:lnTo>
                  <a:pt x="15" y="2227"/>
                </a:lnTo>
                <a:close/>
                <a:moveTo>
                  <a:pt x="15" y="2254"/>
                </a:moveTo>
                <a:lnTo>
                  <a:pt x="15" y="2268"/>
                </a:lnTo>
                <a:lnTo>
                  <a:pt x="0" y="2268"/>
                </a:lnTo>
                <a:lnTo>
                  <a:pt x="0" y="2254"/>
                </a:lnTo>
                <a:lnTo>
                  <a:pt x="15" y="2254"/>
                </a:lnTo>
                <a:close/>
                <a:moveTo>
                  <a:pt x="15" y="2283"/>
                </a:moveTo>
                <a:lnTo>
                  <a:pt x="15" y="2296"/>
                </a:lnTo>
                <a:lnTo>
                  <a:pt x="0" y="2296"/>
                </a:lnTo>
                <a:lnTo>
                  <a:pt x="0" y="2283"/>
                </a:lnTo>
                <a:lnTo>
                  <a:pt x="15" y="2283"/>
                </a:lnTo>
                <a:close/>
                <a:moveTo>
                  <a:pt x="15" y="2310"/>
                </a:moveTo>
                <a:lnTo>
                  <a:pt x="15" y="2324"/>
                </a:lnTo>
                <a:lnTo>
                  <a:pt x="0" y="2324"/>
                </a:lnTo>
                <a:lnTo>
                  <a:pt x="0" y="2310"/>
                </a:lnTo>
                <a:lnTo>
                  <a:pt x="15" y="2310"/>
                </a:lnTo>
                <a:close/>
                <a:moveTo>
                  <a:pt x="15" y="2338"/>
                </a:moveTo>
                <a:lnTo>
                  <a:pt x="15" y="2352"/>
                </a:lnTo>
                <a:lnTo>
                  <a:pt x="0" y="2352"/>
                </a:lnTo>
                <a:lnTo>
                  <a:pt x="0" y="2338"/>
                </a:lnTo>
                <a:lnTo>
                  <a:pt x="15" y="2338"/>
                </a:lnTo>
                <a:close/>
                <a:moveTo>
                  <a:pt x="15" y="2366"/>
                </a:moveTo>
                <a:lnTo>
                  <a:pt x="15" y="2380"/>
                </a:lnTo>
                <a:lnTo>
                  <a:pt x="0" y="2380"/>
                </a:lnTo>
                <a:lnTo>
                  <a:pt x="0" y="2366"/>
                </a:lnTo>
                <a:lnTo>
                  <a:pt x="15" y="2366"/>
                </a:lnTo>
                <a:close/>
                <a:moveTo>
                  <a:pt x="15" y="2394"/>
                </a:moveTo>
                <a:lnTo>
                  <a:pt x="15" y="2408"/>
                </a:lnTo>
                <a:lnTo>
                  <a:pt x="0" y="2408"/>
                </a:lnTo>
                <a:lnTo>
                  <a:pt x="0" y="2394"/>
                </a:lnTo>
                <a:lnTo>
                  <a:pt x="15" y="2394"/>
                </a:lnTo>
                <a:close/>
                <a:moveTo>
                  <a:pt x="15" y="2421"/>
                </a:moveTo>
                <a:lnTo>
                  <a:pt x="15" y="2435"/>
                </a:lnTo>
                <a:lnTo>
                  <a:pt x="0" y="2435"/>
                </a:lnTo>
                <a:lnTo>
                  <a:pt x="0" y="2421"/>
                </a:lnTo>
                <a:lnTo>
                  <a:pt x="15" y="2421"/>
                </a:lnTo>
                <a:close/>
                <a:moveTo>
                  <a:pt x="15" y="2449"/>
                </a:moveTo>
                <a:lnTo>
                  <a:pt x="15" y="2453"/>
                </a:lnTo>
                <a:lnTo>
                  <a:pt x="0" y="2453"/>
                </a:lnTo>
                <a:lnTo>
                  <a:pt x="0" y="2449"/>
                </a:lnTo>
                <a:lnTo>
                  <a:pt x="15" y="2449"/>
                </a:lnTo>
                <a:close/>
              </a:path>
            </a:pathLst>
          </a:custGeom>
          <a:solidFill>
            <a:srgbClr val="000000"/>
          </a:solidFill>
          <a:ln w="0" cap="flat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37" name="Freeform 34">
            <a:extLst>
              <a:ext uri="{FF2B5EF4-FFF2-40B4-BE49-F238E27FC236}">
                <a16:creationId xmlns:a16="http://schemas.microsoft.com/office/drawing/2014/main" id="{83364B50-8CA4-4A01-9F54-D16D2D730202}"/>
              </a:ext>
            </a:extLst>
          </p:cNvPr>
          <p:cNvSpPr>
            <a:spLocks noEditPoints="1"/>
          </p:cNvSpPr>
          <p:nvPr/>
        </p:nvSpPr>
        <p:spPr bwMode="auto">
          <a:xfrm>
            <a:off x="7948248" y="2267962"/>
            <a:ext cx="22225" cy="3894138"/>
          </a:xfrm>
          <a:custGeom>
            <a:avLst/>
            <a:gdLst>
              <a:gd name="T0" fmla="*/ 14 w 14"/>
              <a:gd name="T1" fmla="*/ 42 h 2453"/>
              <a:gd name="T2" fmla="*/ 0 w 14"/>
              <a:gd name="T3" fmla="*/ 56 h 2453"/>
              <a:gd name="T4" fmla="*/ 14 w 14"/>
              <a:gd name="T5" fmla="*/ 112 h 2453"/>
              <a:gd name="T6" fmla="*/ 0 w 14"/>
              <a:gd name="T7" fmla="*/ 154 h 2453"/>
              <a:gd name="T8" fmla="*/ 14 w 14"/>
              <a:gd name="T9" fmla="*/ 167 h 2453"/>
              <a:gd name="T10" fmla="*/ 14 w 14"/>
              <a:gd name="T11" fmla="*/ 237 h 2453"/>
              <a:gd name="T12" fmla="*/ 0 w 14"/>
              <a:gd name="T13" fmla="*/ 251 h 2453"/>
              <a:gd name="T14" fmla="*/ 14 w 14"/>
              <a:gd name="T15" fmla="*/ 307 h 2453"/>
              <a:gd name="T16" fmla="*/ 0 w 14"/>
              <a:gd name="T17" fmla="*/ 348 h 2453"/>
              <a:gd name="T18" fmla="*/ 14 w 14"/>
              <a:gd name="T19" fmla="*/ 362 h 2453"/>
              <a:gd name="T20" fmla="*/ 14 w 14"/>
              <a:gd name="T21" fmla="*/ 432 h 2453"/>
              <a:gd name="T22" fmla="*/ 0 w 14"/>
              <a:gd name="T23" fmla="*/ 446 h 2453"/>
              <a:gd name="T24" fmla="*/ 14 w 14"/>
              <a:gd name="T25" fmla="*/ 501 h 2453"/>
              <a:gd name="T26" fmla="*/ 0 w 14"/>
              <a:gd name="T27" fmla="*/ 543 h 2453"/>
              <a:gd name="T28" fmla="*/ 14 w 14"/>
              <a:gd name="T29" fmla="*/ 557 h 2453"/>
              <a:gd name="T30" fmla="*/ 14 w 14"/>
              <a:gd name="T31" fmla="*/ 627 h 2453"/>
              <a:gd name="T32" fmla="*/ 0 w 14"/>
              <a:gd name="T33" fmla="*/ 641 h 2453"/>
              <a:gd name="T34" fmla="*/ 14 w 14"/>
              <a:gd name="T35" fmla="*/ 696 h 2453"/>
              <a:gd name="T36" fmla="*/ 0 w 14"/>
              <a:gd name="T37" fmla="*/ 738 h 2453"/>
              <a:gd name="T38" fmla="*/ 14 w 14"/>
              <a:gd name="T39" fmla="*/ 752 h 2453"/>
              <a:gd name="T40" fmla="*/ 14 w 14"/>
              <a:gd name="T41" fmla="*/ 822 h 2453"/>
              <a:gd name="T42" fmla="*/ 0 w 14"/>
              <a:gd name="T43" fmla="*/ 835 h 2453"/>
              <a:gd name="T44" fmla="*/ 14 w 14"/>
              <a:gd name="T45" fmla="*/ 891 h 2453"/>
              <a:gd name="T46" fmla="*/ 0 w 14"/>
              <a:gd name="T47" fmla="*/ 933 h 2453"/>
              <a:gd name="T48" fmla="*/ 14 w 14"/>
              <a:gd name="T49" fmla="*/ 947 h 2453"/>
              <a:gd name="T50" fmla="*/ 14 w 14"/>
              <a:gd name="T51" fmla="*/ 1016 h 2453"/>
              <a:gd name="T52" fmla="*/ 0 w 14"/>
              <a:gd name="T53" fmla="*/ 1030 h 2453"/>
              <a:gd name="T54" fmla="*/ 14 w 14"/>
              <a:gd name="T55" fmla="*/ 1086 h 2453"/>
              <a:gd name="T56" fmla="*/ 0 w 14"/>
              <a:gd name="T57" fmla="*/ 1127 h 2453"/>
              <a:gd name="T58" fmla="*/ 14 w 14"/>
              <a:gd name="T59" fmla="*/ 1141 h 2453"/>
              <a:gd name="T60" fmla="*/ 14 w 14"/>
              <a:gd name="T61" fmla="*/ 1211 h 2453"/>
              <a:gd name="T62" fmla="*/ 0 w 14"/>
              <a:gd name="T63" fmla="*/ 1225 h 2453"/>
              <a:gd name="T64" fmla="*/ 14 w 14"/>
              <a:gd name="T65" fmla="*/ 1281 h 2453"/>
              <a:gd name="T66" fmla="*/ 0 w 14"/>
              <a:gd name="T67" fmla="*/ 1322 h 2453"/>
              <a:gd name="T68" fmla="*/ 14 w 14"/>
              <a:gd name="T69" fmla="*/ 1336 h 2453"/>
              <a:gd name="T70" fmla="*/ 14 w 14"/>
              <a:gd name="T71" fmla="*/ 1406 h 2453"/>
              <a:gd name="T72" fmla="*/ 0 w 14"/>
              <a:gd name="T73" fmla="*/ 1420 h 2453"/>
              <a:gd name="T74" fmla="*/ 14 w 14"/>
              <a:gd name="T75" fmla="*/ 1475 h 2453"/>
              <a:gd name="T76" fmla="*/ 0 w 14"/>
              <a:gd name="T77" fmla="*/ 1517 h 2453"/>
              <a:gd name="T78" fmla="*/ 14 w 14"/>
              <a:gd name="T79" fmla="*/ 1531 h 2453"/>
              <a:gd name="T80" fmla="*/ 14 w 14"/>
              <a:gd name="T81" fmla="*/ 1601 h 2453"/>
              <a:gd name="T82" fmla="*/ 0 w 14"/>
              <a:gd name="T83" fmla="*/ 1615 h 2453"/>
              <a:gd name="T84" fmla="*/ 14 w 14"/>
              <a:gd name="T85" fmla="*/ 1670 h 2453"/>
              <a:gd name="T86" fmla="*/ 0 w 14"/>
              <a:gd name="T87" fmla="*/ 1712 h 2453"/>
              <a:gd name="T88" fmla="*/ 14 w 14"/>
              <a:gd name="T89" fmla="*/ 1726 h 2453"/>
              <a:gd name="T90" fmla="*/ 14 w 14"/>
              <a:gd name="T91" fmla="*/ 1795 h 2453"/>
              <a:gd name="T92" fmla="*/ 0 w 14"/>
              <a:gd name="T93" fmla="*/ 1809 h 2453"/>
              <a:gd name="T94" fmla="*/ 14 w 14"/>
              <a:gd name="T95" fmla="*/ 1865 h 2453"/>
              <a:gd name="T96" fmla="*/ 0 w 14"/>
              <a:gd name="T97" fmla="*/ 1907 h 2453"/>
              <a:gd name="T98" fmla="*/ 14 w 14"/>
              <a:gd name="T99" fmla="*/ 1921 h 2453"/>
              <a:gd name="T100" fmla="*/ 14 w 14"/>
              <a:gd name="T101" fmla="*/ 1990 h 2453"/>
              <a:gd name="T102" fmla="*/ 0 w 14"/>
              <a:gd name="T103" fmla="*/ 2004 h 2453"/>
              <a:gd name="T104" fmla="*/ 14 w 14"/>
              <a:gd name="T105" fmla="*/ 2060 h 2453"/>
              <a:gd name="T106" fmla="*/ 0 w 14"/>
              <a:gd name="T107" fmla="*/ 2102 h 2453"/>
              <a:gd name="T108" fmla="*/ 14 w 14"/>
              <a:gd name="T109" fmla="*/ 2116 h 2453"/>
              <a:gd name="T110" fmla="*/ 14 w 14"/>
              <a:gd name="T111" fmla="*/ 2185 h 2453"/>
              <a:gd name="T112" fmla="*/ 0 w 14"/>
              <a:gd name="T113" fmla="*/ 2199 h 2453"/>
              <a:gd name="T114" fmla="*/ 14 w 14"/>
              <a:gd name="T115" fmla="*/ 2254 h 2453"/>
              <a:gd name="T116" fmla="*/ 0 w 14"/>
              <a:gd name="T117" fmla="*/ 2296 h 2453"/>
              <a:gd name="T118" fmla="*/ 14 w 14"/>
              <a:gd name="T119" fmla="*/ 2310 h 2453"/>
              <a:gd name="T120" fmla="*/ 14 w 14"/>
              <a:gd name="T121" fmla="*/ 2380 h 2453"/>
              <a:gd name="T122" fmla="*/ 0 w 14"/>
              <a:gd name="T123" fmla="*/ 2394 h 2453"/>
              <a:gd name="T124" fmla="*/ 14 w 14"/>
              <a:gd name="T125" fmla="*/ 2449 h 24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14" h="2453">
                <a:moveTo>
                  <a:pt x="14" y="0"/>
                </a:moveTo>
                <a:lnTo>
                  <a:pt x="14" y="14"/>
                </a:lnTo>
                <a:lnTo>
                  <a:pt x="0" y="14"/>
                </a:lnTo>
                <a:lnTo>
                  <a:pt x="0" y="0"/>
                </a:lnTo>
                <a:lnTo>
                  <a:pt x="14" y="0"/>
                </a:lnTo>
                <a:close/>
                <a:moveTo>
                  <a:pt x="14" y="28"/>
                </a:moveTo>
                <a:lnTo>
                  <a:pt x="14" y="42"/>
                </a:lnTo>
                <a:lnTo>
                  <a:pt x="0" y="42"/>
                </a:lnTo>
                <a:lnTo>
                  <a:pt x="0" y="28"/>
                </a:lnTo>
                <a:lnTo>
                  <a:pt x="14" y="28"/>
                </a:lnTo>
                <a:close/>
                <a:moveTo>
                  <a:pt x="14" y="56"/>
                </a:moveTo>
                <a:lnTo>
                  <a:pt x="14" y="70"/>
                </a:lnTo>
                <a:lnTo>
                  <a:pt x="0" y="70"/>
                </a:lnTo>
                <a:lnTo>
                  <a:pt x="0" y="56"/>
                </a:lnTo>
                <a:lnTo>
                  <a:pt x="14" y="56"/>
                </a:lnTo>
                <a:close/>
                <a:moveTo>
                  <a:pt x="14" y="84"/>
                </a:moveTo>
                <a:lnTo>
                  <a:pt x="14" y="98"/>
                </a:lnTo>
                <a:lnTo>
                  <a:pt x="0" y="98"/>
                </a:lnTo>
                <a:lnTo>
                  <a:pt x="0" y="84"/>
                </a:lnTo>
                <a:lnTo>
                  <a:pt x="14" y="84"/>
                </a:lnTo>
                <a:close/>
                <a:moveTo>
                  <a:pt x="14" y="112"/>
                </a:moveTo>
                <a:lnTo>
                  <a:pt x="14" y="126"/>
                </a:lnTo>
                <a:lnTo>
                  <a:pt x="0" y="126"/>
                </a:lnTo>
                <a:lnTo>
                  <a:pt x="0" y="112"/>
                </a:lnTo>
                <a:lnTo>
                  <a:pt x="14" y="112"/>
                </a:lnTo>
                <a:close/>
                <a:moveTo>
                  <a:pt x="14" y="140"/>
                </a:moveTo>
                <a:lnTo>
                  <a:pt x="14" y="154"/>
                </a:lnTo>
                <a:lnTo>
                  <a:pt x="0" y="154"/>
                </a:lnTo>
                <a:lnTo>
                  <a:pt x="0" y="140"/>
                </a:lnTo>
                <a:lnTo>
                  <a:pt x="14" y="140"/>
                </a:lnTo>
                <a:close/>
                <a:moveTo>
                  <a:pt x="14" y="167"/>
                </a:moveTo>
                <a:lnTo>
                  <a:pt x="14" y="181"/>
                </a:lnTo>
                <a:lnTo>
                  <a:pt x="0" y="181"/>
                </a:lnTo>
                <a:lnTo>
                  <a:pt x="0" y="167"/>
                </a:lnTo>
                <a:lnTo>
                  <a:pt x="14" y="167"/>
                </a:lnTo>
                <a:close/>
                <a:moveTo>
                  <a:pt x="14" y="195"/>
                </a:moveTo>
                <a:lnTo>
                  <a:pt x="14" y="209"/>
                </a:lnTo>
                <a:lnTo>
                  <a:pt x="0" y="209"/>
                </a:lnTo>
                <a:lnTo>
                  <a:pt x="0" y="195"/>
                </a:lnTo>
                <a:lnTo>
                  <a:pt x="14" y="195"/>
                </a:lnTo>
                <a:close/>
                <a:moveTo>
                  <a:pt x="14" y="223"/>
                </a:moveTo>
                <a:lnTo>
                  <a:pt x="14" y="237"/>
                </a:lnTo>
                <a:lnTo>
                  <a:pt x="0" y="237"/>
                </a:lnTo>
                <a:lnTo>
                  <a:pt x="0" y="223"/>
                </a:lnTo>
                <a:lnTo>
                  <a:pt x="14" y="223"/>
                </a:lnTo>
                <a:close/>
                <a:moveTo>
                  <a:pt x="14" y="251"/>
                </a:moveTo>
                <a:lnTo>
                  <a:pt x="14" y="265"/>
                </a:lnTo>
                <a:lnTo>
                  <a:pt x="0" y="265"/>
                </a:lnTo>
                <a:lnTo>
                  <a:pt x="0" y="251"/>
                </a:lnTo>
                <a:lnTo>
                  <a:pt x="14" y="251"/>
                </a:lnTo>
                <a:close/>
                <a:moveTo>
                  <a:pt x="14" y="279"/>
                </a:moveTo>
                <a:lnTo>
                  <a:pt x="14" y="293"/>
                </a:lnTo>
                <a:lnTo>
                  <a:pt x="0" y="293"/>
                </a:lnTo>
                <a:lnTo>
                  <a:pt x="0" y="279"/>
                </a:lnTo>
                <a:lnTo>
                  <a:pt x="14" y="279"/>
                </a:lnTo>
                <a:close/>
                <a:moveTo>
                  <a:pt x="14" y="307"/>
                </a:moveTo>
                <a:lnTo>
                  <a:pt x="14" y="321"/>
                </a:lnTo>
                <a:lnTo>
                  <a:pt x="0" y="321"/>
                </a:lnTo>
                <a:lnTo>
                  <a:pt x="0" y="307"/>
                </a:lnTo>
                <a:lnTo>
                  <a:pt x="14" y="307"/>
                </a:lnTo>
                <a:close/>
                <a:moveTo>
                  <a:pt x="14" y="334"/>
                </a:moveTo>
                <a:lnTo>
                  <a:pt x="14" y="348"/>
                </a:lnTo>
                <a:lnTo>
                  <a:pt x="0" y="348"/>
                </a:lnTo>
                <a:lnTo>
                  <a:pt x="0" y="334"/>
                </a:lnTo>
                <a:lnTo>
                  <a:pt x="14" y="334"/>
                </a:lnTo>
                <a:close/>
                <a:moveTo>
                  <a:pt x="14" y="362"/>
                </a:moveTo>
                <a:lnTo>
                  <a:pt x="14" y="376"/>
                </a:lnTo>
                <a:lnTo>
                  <a:pt x="0" y="376"/>
                </a:lnTo>
                <a:lnTo>
                  <a:pt x="0" y="362"/>
                </a:lnTo>
                <a:lnTo>
                  <a:pt x="14" y="362"/>
                </a:lnTo>
                <a:close/>
                <a:moveTo>
                  <a:pt x="14" y="390"/>
                </a:moveTo>
                <a:lnTo>
                  <a:pt x="14" y="404"/>
                </a:lnTo>
                <a:lnTo>
                  <a:pt x="0" y="404"/>
                </a:lnTo>
                <a:lnTo>
                  <a:pt x="0" y="390"/>
                </a:lnTo>
                <a:lnTo>
                  <a:pt x="14" y="390"/>
                </a:lnTo>
                <a:close/>
                <a:moveTo>
                  <a:pt x="14" y="418"/>
                </a:moveTo>
                <a:lnTo>
                  <a:pt x="14" y="432"/>
                </a:lnTo>
                <a:lnTo>
                  <a:pt x="0" y="432"/>
                </a:lnTo>
                <a:lnTo>
                  <a:pt x="0" y="418"/>
                </a:lnTo>
                <a:lnTo>
                  <a:pt x="14" y="418"/>
                </a:lnTo>
                <a:close/>
                <a:moveTo>
                  <a:pt x="14" y="446"/>
                </a:moveTo>
                <a:lnTo>
                  <a:pt x="14" y="460"/>
                </a:lnTo>
                <a:lnTo>
                  <a:pt x="0" y="460"/>
                </a:lnTo>
                <a:lnTo>
                  <a:pt x="0" y="446"/>
                </a:lnTo>
                <a:lnTo>
                  <a:pt x="14" y="446"/>
                </a:lnTo>
                <a:close/>
                <a:moveTo>
                  <a:pt x="14" y="474"/>
                </a:moveTo>
                <a:lnTo>
                  <a:pt x="14" y="488"/>
                </a:lnTo>
                <a:lnTo>
                  <a:pt x="0" y="488"/>
                </a:lnTo>
                <a:lnTo>
                  <a:pt x="0" y="474"/>
                </a:lnTo>
                <a:lnTo>
                  <a:pt x="14" y="474"/>
                </a:lnTo>
                <a:close/>
                <a:moveTo>
                  <a:pt x="14" y="501"/>
                </a:moveTo>
                <a:lnTo>
                  <a:pt x="14" y="515"/>
                </a:lnTo>
                <a:lnTo>
                  <a:pt x="0" y="515"/>
                </a:lnTo>
                <a:lnTo>
                  <a:pt x="0" y="501"/>
                </a:lnTo>
                <a:lnTo>
                  <a:pt x="14" y="501"/>
                </a:lnTo>
                <a:close/>
                <a:moveTo>
                  <a:pt x="14" y="529"/>
                </a:moveTo>
                <a:lnTo>
                  <a:pt x="14" y="543"/>
                </a:lnTo>
                <a:lnTo>
                  <a:pt x="0" y="543"/>
                </a:lnTo>
                <a:lnTo>
                  <a:pt x="0" y="529"/>
                </a:lnTo>
                <a:lnTo>
                  <a:pt x="14" y="529"/>
                </a:lnTo>
                <a:close/>
                <a:moveTo>
                  <a:pt x="14" y="557"/>
                </a:moveTo>
                <a:lnTo>
                  <a:pt x="14" y="571"/>
                </a:lnTo>
                <a:lnTo>
                  <a:pt x="0" y="571"/>
                </a:lnTo>
                <a:lnTo>
                  <a:pt x="0" y="557"/>
                </a:lnTo>
                <a:lnTo>
                  <a:pt x="14" y="557"/>
                </a:lnTo>
                <a:close/>
                <a:moveTo>
                  <a:pt x="14" y="585"/>
                </a:moveTo>
                <a:lnTo>
                  <a:pt x="14" y="599"/>
                </a:lnTo>
                <a:lnTo>
                  <a:pt x="0" y="599"/>
                </a:lnTo>
                <a:lnTo>
                  <a:pt x="0" y="585"/>
                </a:lnTo>
                <a:lnTo>
                  <a:pt x="14" y="585"/>
                </a:lnTo>
                <a:close/>
                <a:moveTo>
                  <a:pt x="14" y="613"/>
                </a:moveTo>
                <a:lnTo>
                  <a:pt x="14" y="627"/>
                </a:lnTo>
                <a:lnTo>
                  <a:pt x="0" y="627"/>
                </a:lnTo>
                <a:lnTo>
                  <a:pt x="0" y="613"/>
                </a:lnTo>
                <a:lnTo>
                  <a:pt x="14" y="613"/>
                </a:lnTo>
                <a:close/>
                <a:moveTo>
                  <a:pt x="14" y="641"/>
                </a:moveTo>
                <a:lnTo>
                  <a:pt x="14" y="655"/>
                </a:lnTo>
                <a:lnTo>
                  <a:pt x="0" y="655"/>
                </a:lnTo>
                <a:lnTo>
                  <a:pt x="0" y="641"/>
                </a:lnTo>
                <a:lnTo>
                  <a:pt x="14" y="641"/>
                </a:lnTo>
                <a:close/>
                <a:moveTo>
                  <a:pt x="14" y="668"/>
                </a:moveTo>
                <a:lnTo>
                  <a:pt x="14" y="682"/>
                </a:lnTo>
                <a:lnTo>
                  <a:pt x="0" y="682"/>
                </a:lnTo>
                <a:lnTo>
                  <a:pt x="0" y="668"/>
                </a:lnTo>
                <a:lnTo>
                  <a:pt x="14" y="668"/>
                </a:lnTo>
                <a:close/>
                <a:moveTo>
                  <a:pt x="14" y="696"/>
                </a:moveTo>
                <a:lnTo>
                  <a:pt x="14" y="710"/>
                </a:lnTo>
                <a:lnTo>
                  <a:pt x="0" y="710"/>
                </a:lnTo>
                <a:lnTo>
                  <a:pt x="0" y="696"/>
                </a:lnTo>
                <a:lnTo>
                  <a:pt x="14" y="696"/>
                </a:lnTo>
                <a:close/>
                <a:moveTo>
                  <a:pt x="14" y="724"/>
                </a:moveTo>
                <a:lnTo>
                  <a:pt x="14" y="738"/>
                </a:lnTo>
                <a:lnTo>
                  <a:pt x="0" y="738"/>
                </a:lnTo>
                <a:lnTo>
                  <a:pt x="0" y="724"/>
                </a:lnTo>
                <a:lnTo>
                  <a:pt x="14" y="724"/>
                </a:lnTo>
                <a:close/>
                <a:moveTo>
                  <a:pt x="14" y="752"/>
                </a:moveTo>
                <a:lnTo>
                  <a:pt x="14" y="766"/>
                </a:lnTo>
                <a:lnTo>
                  <a:pt x="0" y="766"/>
                </a:lnTo>
                <a:lnTo>
                  <a:pt x="0" y="752"/>
                </a:lnTo>
                <a:lnTo>
                  <a:pt x="14" y="752"/>
                </a:lnTo>
                <a:close/>
                <a:moveTo>
                  <a:pt x="14" y="780"/>
                </a:moveTo>
                <a:lnTo>
                  <a:pt x="14" y="793"/>
                </a:lnTo>
                <a:lnTo>
                  <a:pt x="0" y="793"/>
                </a:lnTo>
                <a:lnTo>
                  <a:pt x="0" y="780"/>
                </a:lnTo>
                <a:lnTo>
                  <a:pt x="14" y="780"/>
                </a:lnTo>
                <a:close/>
                <a:moveTo>
                  <a:pt x="14" y="808"/>
                </a:moveTo>
                <a:lnTo>
                  <a:pt x="14" y="822"/>
                </a:lnTo>
                <a:lnTo>
                  <a:pt x="0" y="822"/>
                </a:lnTo>
                <a:lnTo>
                  <a:pt x="0" y="808"/>
                </a:lnTo>
                <a:lnTo>
                  <a:pt x="14" y="808"/>
                </a:lnTo>
                <a:close/>
                <a:moveTo>
                  <a:pt x="14" y="835"/>
                </a:moveTo>
                <a:lnTo>
                  <a:pt x="14" y="849"/>
                </a:lnTo>
                <a:lnTo>
                  <a:pt x="0" y="849"/>
                </a:lnTo>
                <a:lnTo>
                  <a:pt x="0" y="835"/>
                </a:lnTo>
                <a:lnTo>
                  <a:pt x="14" y="835"/>
                </a:lnTo>
                <a:close/>
                <a:moveTo>
                  <a:pt x="14" y="863"/>
                </a:moveTo>
                <a:lnTo>
                  <a:pt x="14" y="877"/>
                </a:lnTo>
                <a:lnTo>
                  <a:pt x="0" y="877"/>
                </a:lnTo>
                <a:lnTo>
                  <a:pt x="0" y="863"/>
                </a:lnTo>
                <a:lnTo>
                  <a:pt x="14" y="863"/>
                </a:lnTo>
                <a:close/>
                <a:moveTo>
                  <a:pt x="14" y="891"/>
                </a:moveTo>
                <a:lnTo>
                  <a:pt x="14" y="905"/>
                </a:lnTo>
                <a:lnTo>
                  <a:pt x="0" y="905"/>
                </a:lnTo>
                <a:lnTo>
                  <a:pt x="0" y="891"/>
                </a:lnTo>
                <a:lnTo>
                  <a:pt x="14" y="891"/>
                </a:lnTo>
                <a:close/>
                <a:moveTo>
                  <a:pt x="14" y="919"/>
                </a:moveTo>
                <a:lnTo>
                  <a:pt x="14" y="933"/>
                </a:lnTo>
                <a:lnTo>
                  <a:pt x="0" y="933"/>
                </a:lnTo>
                <a:lnTo>
                  <a:pt x="0" y="919"/>
                </a:lnTo>
                <a:lnTo>
                  <a:pt x="14" y="919"/>
                </a:lnTo>
                <a:close/>
                <a:moveTo>
                  <a:pt x="14" y="947"/>
                </a:moveTo>
                <a:lnTo>
                  <a:pt x="14" y="960"/>
                </a:lnTo>
                <a:lnTo>
                  <a:pt x="0" y="960"/>
                </a:lnTo>
                <a:lnTo>
                  <a:pt x="0" y="947"/>
                </a:lnTo>
                <a:lnTo>
                  <a:pt x="14" y="947"/>
                </a:lnTo>
                <a:close/>
                <a:moveTo>
                  <a:pt x="14" y="974"/>
                </a:moveTo>
                <a:lnTo>
                  <a:pt x="14" y="988"/>
                </a:lnTo>
                <a:lnTo>
                  <a:pt x="0" y="988"/>
                </a:lnTo>
                <a:lnTo>
                  <a:pt x="0" y="974"/>
                </a:lnTo>
                <a:lnTo>
                  <a:pt x="14" y="974"/>
                </a:lnTo>
                <a:close/>
                <a:moveTo>
                  <a:pt x="14" y="1002"/>
                </a:moveTo>
                <a:lnTo>
                  <a:pt x="14" y="1016"/>
                </a:lnTo>
                <a:lnTo>
                  <a:pt x="0" y="1016"/>
                </a:lnTo>
                <a:lnTo>
                  <a:pt x="0" y="1002"/>
                </a:lnTo>
                <a:lnTo>
                  <a:pt x="14" y="1002"/>
                </a:lnTo>
                <a:close/>
                <a:moveTo>
                  <a:pt x="14" y="1030"/>
                </a:moveTo>
                <a:lnTo>
                  <a:pt x="14" y="1044"/>
                </a:lnTo>
                <a:lnTo>
                  <a:pt x="0" y="1044"/>
                </a:lnTo>
                <a:lnTo>
                  <a:pt x="0" y="1030"/>
                </a:lnTo>
                <a:lnTo>
                  <a:pt x="14" y="1030"/>
                </a:lnTo>
                <a:close/>
                <a:moveTo>
                  <a:pt x="14" y="1058"/>
                </a:moveTo>
                <a:lnTo>
                  <a:pt x="14" y="1072"/>
                </a:lnTo>
                <a:lnTo>
                  <a:pt x="0" y="1072"/>
                </a:lnTo>
                <a:lnTo>
                  <a:pt x="0" y="1058"/>
                </a:lnTo>
                <a:lnTo>
                  <a:pt x="14" y="1058"/>
                </a:lnTo>
                <a:close/>
                <a:moveTo>
                  <a:pt x="14" y="1086"/>
                </a:moveTo>
                <a:lnTo>
                  <a:pt x="14" y="1100"/>
                </a:lnTo>
                <a:lnTo>
                  <a:pt x="0" y="1100"/>
                </a:lnTo>
                <a:lnTo>
                  <a:pt x="0" y="1086"/>
                </a:lnTo>
                <a:lnTo>
                  <a:pt x="14" y="1086"/>
                </a:lnTo>
                <a:close/>
                <a:moveTo>
                  <a:pt x="14" y="1114"/>
                </a:moveTo>
                <a:lnTo>
                  <a:pt x="14" y="1127"/>
                </a:lnTo>
                <a:lnTo>
                  <a:pt x="0" y="1127"/>
                </a:lnTo>
                <a:lnTo>
                  <a:pt x="0" y="1114"/>
                </a:lnTo>
                <a:lnTo>
                  <a:pt x="14" y="1114"/>
                </a:lnTo>
                <a:close/>
                <a:moveTo>
                  <a:pt x="14" y="1141"/>
                </a:moveTo>
                <a:lnTo>
                  <a:pt x="14" y="1155"/>
                </a:lnTo>
                <a:lnTo>
                  <a:pt x="0" y="1155"/>
                </a:lnTo>
                <a:lnTo>
                  <a:pt x="0" y="1141"/>
                </a:lnTo>
                <a:lnTo>
                  <a:pt x="14" y="1141"/>
                </a:lnTo>
                <a:close/>
                <a:moveTo>
                  <a:pt x="14" y="1169"/>
                </a:moveTo>
                <a:lnTo>
                  <a:pt x="14" y="1183"/>
                </a:lnTo>
                <a:lnTo>
                  <a:pt x="0" y="1183"/>
                </a:lnTo>
                <a:lnTo>
                  <a:pt x="0" y="1169"/>
                </a:lnTo>
                <a:lnTo>
                  <a:pt x="14" y="1169"/>
                </a:lnTo>
                <a:close/>
                <a:moveTo>
                  <a:pt x="14" y="1197"/>
                </a:moveTo>
                <a:lnTo>
                  <a:pt x="14" y="1211"/>
                </a:lnTo>
                <a:lnTo>
                  <a:pt x="0" y="1211"/>
                </a:lnTo>
                <a:lnTo>
                  <a:pt x="0" y="1197"/>
                </a:lnTo>
                <a:lnTo>
                  <a:pt x="14" y="1197"/>
                </a:lnTo>
                <a:close/>
                <a:moveTo>
                  <a:pt x="14" y="1225"/>
                </a:moveTo>
                <a:lnTo>
                  <a:pt x="14" y="1239"/>
                </a:lnTo>
                <a:lnTo>
                  <a:pt x="0" y="1239"/>
                </a:lnTo>
                <a:lnTo>
                  <a:pt x="0" y="1225"/>
                </a:lnTo>
                <a:lnTo>
                  <a:pt x="14" y="1225"/>
                </a:lnTo>
                <a:close/>
                <a:moveTo>
                  <a:pt x="14" y="1253"/>
                </a:moveTo>
                <a:lnTo>
                  <a:pt x="14" y="1267"/>
                </a:lnTo>
                <a:lnTo>
                  <a:pt x="0" y="1267"/>
                </a:lnTo>
                <a:lnTo>
                  <a:pt x="0" y="1253"/>
                </a:lnTo>
                <a:lnTo>
                  <a:pt x="14" y="1253"/>
                </a:lnTo>
                <a:close/>
                <a:moveTo>
                  <a:pt x="14" y="1281"/>
                </a:moveTo>
                <a:lnTo>
                  <a:pt x="14" y="1294"/>
                </a:lnTo>
                <a:lnTo>
                  <a:pt x="0" y="1294"/>
                </a:lnTo>
                <a:lnTo>
                  <a:pt x="0" y="1281"/>
                </a:lnTo>
                <a:lnTo>
                  <a:pt x="14" y="1281"/>
                </a:lnTo>
                <a:close/>
                <a:moveTo>
                  <a:pt x="14" y="1308"/>
                </a:moveTo>
                <a:lnTo>
                  <a:pt x="14" y="1322"/>
                </a:lnTo>
                <a:lnTo>
                  <a:pt x="0" y="1322"/>
                </a:lnTo>
                <a:lnTo>
                  <a:pt x="0" y="1308"/>
                </a:lnTo>
                <a:lnTo>
                  <a:pt x="14" y="1308"/>
                </a:lnTo>
                <a:close/>
                <a:moveTo>
                  <a:pt x="14" y="1336"/>
                </a:moveTo>
                <a:lnTo>
                  <a:pt x="14" y="1350"/>
                </a:lnTo>
                <a:lnTo>
                  <a:pt x="0" y="1350"/>
                </a:lnTo>
                <a:lnTo>
                  <a:pt x="0" y="1336"/>
                </a:lnTo>
                <a:lnTo>
                  <a:pt x="14" y="1336"/>
                </a:lnTo>
                <a:close/>
                <a:moveTo>
                  <a:pt x="14" y="1364"/>
                </a:moveTo>
                <a:lnTo>
                  <a:pt x="14" y="1378"/>
                </a:lnTo>
                <a:lnTo>
                  <a:pt x="0" y="1378"/>
                </a:lnTo>
                <a:lnTo>
                  <a:pt x="0" y="1364"/>
                </a:lnTo>
                <a:lnTo>
                  <a:pt x="14" y="1364"/>
                </a:lnTo>
                <a:close/>
                <a:moveTo>
                  <a:pt x="14" y="1392"/>
                </a:moveTo>
                <a:lnTo>
                  <a:pt x="14" y="1406"/>
                </a:lnTo>
                <a:lnTo>
                  <a:pt x="0" y="1406"/>
                </a:lnTo>
                <a:lnTo>
                  <a:pt x="0" y="1392"/>
                </a:lnTo>
                <a:lnTo>
                  <a:pt x="14" y="1392"/>
                </a:lnTo>
                <a:close/>
                <a:moveTo>
                  <a:pt x="14" y="1420"/>
                </a:moveTo>
                <a:lnTo>
                  <a:pt x="14" y="1434"/>
                </a:lnTo>
                <a:lnTo>
                  <a:pt x="0" y="1434"/>
                </a:lnTo>
                <a:lnTo>
                  <a:pt x="0" y="1420"/>
                </a:lnTo>
                <a:lnTo>
                  <a:pt x="14" y="1420"/>
                </a:lnTo>
                <a:close/>
                <a:moveTo>
                  <a:pt x="14" y="1448"/>
                </a:moveTo>
                <a:lnTo>
                  <a:pt x="14" y="1461"/>
                </a:lnTo>
                <a:lnTo>
                  <a:pt x="0" y="1461"/>
                </a:lnTo>
                <a:lnTo>
                  <a:pt x="0" y="1448"/>
                </a:lnTo>
                <a:lnTo>
                  <a:pt x="14" y="1448"/>
                </a:lnTo>
                <a:close/>
                <a:moveTo>
                  <a:pt x="14" y="1475"/>
                </a:moveTo>
                <a:lnTo>
                  <a:pt x="14" y="1489"/>
                </a:lnTo>
                <a:lnTo>
                  <a:pt x="0" y="1489"/>
                </a:lnTo>
                <a:lnTo>
                  <a:pt x="0" y="1475"/>
                </a:lnTo>
                <a:lnTo>
                  <a:pt x="14" y="1475"/>
                </a:lnTo>
                <a:close/>
                <a:moveTo>
                  <a:pt x="14" y="1503"/>
                </a:moveTo>
                <a:lnTo>
                  <a:pt x="14" y="1517"/>
                </a:lnTo>
                <a:lnTo>
                  <a:pt x="0" y="1517"/>
                </a:lnTo>
                <a:lnTo>
                  <a:pt x="0" y="1503"/>
                </a:lnTo>
                <a:lnTo>
                  <a:pt x="14" y="1503"/>
                </a:lnTo>
                <a:close/>
                <a:moveTo>
                  <a:pt x="14" y="1531"/>
                </a:moveTo>
                <a:lnTo>
                  <a:pt x="14" y="1545"/>
                </a:lnTo>
                <a:lnTo>
                  <a:pt x="0" y="1545"/>
                </a:lnTo>
                <a:lnTo>
                  <a:pt x="0" y="1531"/>
                </a:lnTo>
                <a:lnTo>
                  <a:pt x="14" y="1531"/>
                </a:lnTo>
                <a:close/>
                <a:moveTo>
                  <a:pt x="14" y="1559"/>
                </a:moveTo>
                <a:lnTo>
                  <a:pt x="14" y="1573"/>
                </a:lnTo>
                <a:lnTo>
                  <a:pt x="0" y="1573"/>
                </a:lnTo>
                <a:lnTo>
                  <a:pt x="0" y="1559"/>
                </a:lnTo>
                <a:lnTo>
                  <a:pt x="14" y="1559"/>
                </a:lnTo>
                <a:close/>
                <a:moveTo>
                  <a:pt x="14" y="1587"/>
                </a:moveTo>
                <a:lnTo>
                  <a:pt x="14" y="1601"/>
                </a:lnTo>
                <a:lnTo>
                  <a:pt x="0" y="1601"/>
                </a:lnTo>
                <a:lnTo>
                  <a:pt x="0" y="1587"/>
                </a:lnTo>
                <a:lnTo>
                  <a:pt x="14" y="1587"/>
                </a:lnTo>
                <a:close/>
                <a:moveTo>
                  <a:pt x="14" y="1615"/>
                </a:moveTo>
                <a:lnTo>
                  <a:pt x="14" y="1628"/>
                </a:lnTo>
                <a:lnTo>
                  <a:pt x="0" y="1628"/>
                </a:lnTo>
                <a:lnTo>
                  <a:pt x="0" y="1615"/>
                </a:lnTo>
                <a:lnTo>
                  <a:pt x="14" y="1615"/>
                </a:lnTo>
                <a:close/>
                <a:moveTo>
                  <a:pt x="14" y="1642"/>
                </a:moveTo>
                <a:lnTo>
                  <a:pt x="14" y="1656"/>
                </a:lnTo>
                <a:lnTo>
                  <a:pt x="0" y="1656"/>
                </a:lnTo>
                <a:lnTo>
                  <a:pt x="0" y="1642"/>
                </a:lnTo>
                <a:lnTo>
                  <a:pt x="14" y="1642"/>
                </a:lnTo>
                <a:close/>
                <a:moveTo>
                  <a:pt x="14" y="1670"/>
                </a:moveTo>
                <a:lnTo>
                  <a:pt x="14" y="1684"/>
                </a:lnTo>
                <a:lnTo>
                  <a:pt x="0" y="1684"/>
                </a:lnTo>
                <a:lnTo>
                  <a:pt x="0" y="1670"/>
                </a:lnTo>
                <a:lnTo>
                  <a:pt x="14" y="1670"/>
                </a:lnTo>
                <a:close/>
                <a:moveTo>
                  <a:pt x="14" y="1698"/>
                </a:moveTo>
                <a:lnTo>
                  <a:pt x="14" y="1712"/>
                </a:lnTo>
                <a:lnTo>
                  <a:pt x="0" y="1712"/>
                </a:lnTo>
                <a:lnTo>
                  <a:pt x="0" y="1698"/>
                </a:lnTo>
                <a:lnTo>
                  <a:pt x="14" y="1698"/>
                </a:lnTo>
                <a:close/>
                <a:moveTo>
                  <a:pt x="14" y="1726"/>
                </a:moveTo>
                <a:lnTo>
                  <a:pt x="14" y="1740"/>
                </a:lnTo>
                <a:lnTo>
                  <a:pt x="0" y="1740"/>
                </a:lnTo>
                <a:lnTo>
                  <a:pt x="0" y="1726"/>
                </a:lnTo>
                <a:lnTo>
                  <a:pt x="14" y="1726"/>
                </a:lnTo>
                <a:close/>
                <a:moveTo>
                  <a:pt x="14" y="1754"/>
                </a:moveTo>
                <a:lnTo>
                  <a:pt x="14" y="1768"/>
                </a:lnTo>
                <a:lnTo>
                  <a:pt x="0" y="1768"/>
                </a:lnTo>
                <a:lnTo>
                  <a:pt x="0" y="1754"/>
                </a:lnTo>
                <a:lnTo>
                  <a:pt x="14" y="1754"/>
                </a:lnTo>
                <a:close/>
                <a:moveTo>
                  <a:pt x="14" y="1782"/>
                </a:moveTo>
                <a:lnTo>
                  <a:pt x="14" y="1795"/>
                </a:lnTo>
                <a:lnTo>
                  <a:pt x="0" y="1795"/>
                </a:lnTo>
                <a:lnTo>
                  <a:pt x="0" y="1782"/>
                </a:lnTo>
                <a:lnTo>
                  <a:pt x="14" y="1782"/>
                </a:lnTo>
                <a:close/>
                <a:moveTo>
                  <a:pt x="14" y="1809"/>
                </a:moveTo>
                <a:lnTo>
                  <a:pt x="14" y="1823"/>
                </a:lnTo>
                <a:lnTo>
                  <a:pt x="0" y="1823"/>
                </a:lnTo>
                <a:lnTo>
                  <a:pt x="0" y="1809"/>
                </a:lnTo>
                <a:lnTo>
                  <a:pt x="14" y="1809"/>
                </a:lnTo>
                <a:close/>
                <a:moveTo>
                  <a:pt x="14" y="1837"/>
                </a:moveTo>
                <a:lnTo>
                  <a:pt x="14" y="1851"/>
                </a:lnTo>
                <a:lnTo>
                  <a:pt x="0" y="1851"/>
                </a:lnTo>
                <a:lnTo>
                  <a:pt x="0" y="1837"/>
                </a:lnTo>
                <a:lnTo>
                  <a:pt x="14" y="1837"/>
                </a:lnTo>
                <a:close/>
                <a:moveTo>
                  <a:pt x="14" y="1865"/>
                </a:moveTo>
                <a:lnTo>
                  <a:pt x="14" y="1879"/>
                </a:lnTo>
                <a:lnTo>
                  <a:pt x="0" y="1879"/>
                </a:lnTo>
                <a:lnTo>
                  <a:pt x="0" y="1865"/>
                </a:lnTo>
                <a:lnTo>
                  <a:pt x="14" y="1865"/>
                </a:lnTo>
                <a:close/>
                <a:moveTo>
                  <a:pt x="14" y="1893"/>
                </a:moveTo>
                <a:lnTo>
                  <a:pt x="14" y="1907"/>
                </a:lnTo>
                <a:lnTo>
                  <a:pt x="0" y="1907"/>
                </a:lnTo>
                <a:lnTo>
                  <a:pt x="0" y="1893"/>
                </a:lnTo>
                <a:lnTo>
                  <a:pt x="14" y="1893"/>
                </a:lnTo>
                <a:close/>
                <a:moveTo>
                  <a:pt x="14" y="1921"/>
                </a:moveTo>
                <a:lnTo>
                  <a:pt x="14" y="1935"/>
                </a:lnTo>
                <a:lnTo>
                  <a:pt x="0" y="1935"/>
                </a:lnTo>
                <a:lnTo>
                  <a:pt x="0" y="1921"/>
                </a:lnTo>
                <a:lnTo>
                  <a:pt x="14" y="1921"/>
                </a:lnTo>
                <a:close/>
                <a:moveTo>
                  <a:pt x="14" y="1949"/>
                </a:moveTo>
                <a:lnTo>
                  <a:pt x="14" y="1962"/>
                </a:lnTo>
                <a:lnTo>
                  <a:pt x="0" y="1962"/>
                </a:lnTo>
                <a:lnTo>
                  <a:pt x="0" y="1949"/>
                </a:lnTo>
                <a:lnTo>
                  <a:pt x="14" y="1949"/>
                </a:lnTo>
                <a:close/>
                <a:moveTo>
                  <a:pt x="14" y="1976"/>
                </a:moveTo>
                <a:lnTo>
                  <a:pt x="14" y="1990"/>
                </a:lnTo>
                <a:lnTo>
                  <a:pt x="0" y="1990"/>
                </a:lnTo>
                <a:lnTo>
                  <a:pt x="0" y="1976"/>
                </a:lnTo>
                <a:lnTo>
                  <a:pt x="14" y="1976"/>
                </a:lnTo>
                <a:close/>
                <a:moveTo>
                  <a:pt x="14" y="2004"/>
                </a:moveTo>
                <a:lnTo>
                  <a:pt x="14" y="2018"/>
                </a:lnTo>
                <a:lnTo>
                  <a:pt x="0" y="2018"/>
                </a:lnTo>
                <a:lnTo>
                  <a:pt x="0" y="2004"/>
                </a:lnTo>
                <a:lnTo>
                  <a:pt x="14" y="2004"/>
                </a:lnTo>
                <a:close/>
                <a:moveTo>
                  <a:pt x="14" y="2032"/>
                </a:moveTo>
                <a:lnTo>
                  <a:pt x="14" y="2046"/>
                </a:lnTo>
                <a:lnTo>
                  <a:pt x="0" y="2046"/>
                </a:lnTo>
                <a:lnTo>
                  <a:pt x="0" y="2032"/>
                </a:lnTo>
                <a:lnTo>
                  <a:pt x="14" y="2032"/>
                </a:lnTo>
                <a:close/>
                <a:moveTo>
                  <a:pt x="14" y="2060"/>
                </a:moveTo>
                <a:lnTo>
                  <a:pt x="14" y="2074"/>
                </a:lnTo>
                <a:lnTo>
                  <a:pt x="0" y="2074"/>
                </a:lnTo>
                <a:lnTo>
                  <a:pt x="0" y="2060"/>
                </a:lnTo>
                <a:lnTo>
                  <a:pt x="14" y="2060"/>
                </a:lnTo>
                <a:close/>
                <a:moveTo>
                  <a:pt x="14" y="2087"/>
                </a:moveTo>
                <a:lnTo>
                  <a:pt x="14" y="2102"/>
                </a:lnTo>
                <a:lnTo>
                  <a:pt x="0" y="2102"/>
                </a:lnTo>
                <a:lnTo>
                  <a:pt x="0" y="2087"/>
                </a:lnTo>
                <a:lnTo>
                  <a:pt x="14" y="2087"/>
                </a:lnTo>
                <a:close/>
                <a:moveTo>
                  <a:pt x="14" y="2116"/>
                </a:moveTo>
                <a:lnTo>
                  <a:pt x="14" y="2129"/>
                </a:lnTo>
                <a:lnTo>
                  <a:pt x="0" y="2129"/>
                </a:lnTo>
                <a:lnTo>
                  <a:pt x="0" y="2116"/>
                </a:lnTo>
                <a:lnTo>
                  <a:pt x="14" y="2116"/>
                </a:lnTo>
                <a:close/>
                <a:moveTo>
                  <a:pt x="14" y="2143"/>
                </a:moveTo>
                <a:lnTo>
                  <a:pt x="14" y="2157"/>
                </a:lnTo>
                <a:lnTo>
                  <a:pt x="0" y="2157"/>
                </a:lnTo>
                <a:lnTo>
                  <a:pt x="0" y="2143"/>
                </a:lnTo>
                <a:lnTo>
                  <a:pt x="14" y="2143"/>
                </a:lnTo>
                <a:close/>
                <a:moveTo>
                  <a:pt x="14" y="2171"/>
                </a:moveTo>
                <a:lnTo>
                  <a:pt x="14" y="2185"/>
                </a:lnTo>
                <a:lnTo>
                  <a:pt x="0" y="2185"/>
                </a:lnTo>
                <a:lnTo>
                  <a:pt x="0" y="2171"/>
                </a:lnTo>
                <a:lnTo>
                  <a:pt x="14" y="2171"/>
                </a:lnTo>
                <a:close/>
                <a:moveTo>
                  <a:pt x="14" y="2199"/>
                </a:moveTo>
                <a:lnTo>
                  <a:pt x="14" y="2213"/>
                </a:lnTo>
                <a:lnTo>
                  <a:pt x="0" y="2213"/>
                </a:lnTo>
                <a:lnTo>
                  <a:pt x="0" y="2199"/>
                </a:lnTo>
                <a:lnTo>
                  <a:pt x="14" y="2199"/>
                </a:lnTo>
                <a:close/>
                <a:moveTo>
                  <a:pt x="14" y="2227"/>
                </a:moveTo>
                <a:lnTo>
                  <a:pt x="14" y="2241"/>
                </a:lnTo>
                <a:lnTo>
                  <a:pt x="0" y="2241"/>
                </a:lnTo>
                <a:lnTo>
                  <a:pt x="0" y="2227"/>
                </a:lnTo>
                <a:lnTo>
                  <a:pt x="14" y="2227"/>
                </a:lnTo>
                <a:close/>
                <a:moveTo>
                  <a:pt x="14" y="2254"/>
                </a:moveTo>
                <a:lnTo>
                  <a:pt x="14" y="2268"/>
                </a:lnTo>
                <a:lnTo>
                  <a:pt x="0" y="2268"/>
                </a:lnTo>
                <a:lnTo>
                  <a:pt x="0" y="2254"/>
                </a:lnTo>
                <a:lnTo>
                  <a:pt x="14" y="2254"/>
                </a:lnTo>
                <a:close/>
                <a:moveTo>
                  <a:pt x="14" y="2283"/>
                </a:moveTo>
                <a:lnTo>
                  <a:pt x="14" y="2296"/>
                </a:lnTo>
                <a:lnTo>
                  <a:pt x="0" y="2296"/>
                </a:lnTo>
                <a:lnTo>
                  <a:pt x="0" y="2283"/>
                </a:lnTo>
                <a:lnTo>
                  <a:pt x="14" y="2283"/>
                </a:lnTo>
                <a:close/>
                <a:moveTo>
                  <a:pt x="14" y="2310"/>
                </a:moveTo>
                <a:lnTo>
                  <a:pt x="14" y="2324"/>
                </a:lnTo>
                <a:lnTo>
                  <a:pt x="0" y="2324"/>
                </a:lnTo>
                <a:lnTo>
                  <a:pt x="0" y="2310"/>
                </a:lnTo>
                <a:lnTo>
                  <a:pt x="14" y="2310"/>
                </a:lnTo>
                <a:close/>
                <a:moveTo>
                  <a:pt x="14" y="2338"/>
                </a:moveTo>
                <a:lnTo>
                  <a:pt x="14" y="2352"/>
                </a:lnTo>
                <a:lnTo>
                  <a:pt x="0" y="2352"/>
                </a:lnTo>
                <a:lnTo>
                  <a:pt x="0" y="2338"/>
                </a:lnTo>
                <a:lnTo>
                  <a:pt x="14" y="2338"/>
                </a:lnTo>
                <a:close/>
                <a:moveTo>
                  <a:pt x="14" y="2366"/>
                </a:moveTo>
                <a:lnTo>
                  <a:pt x="14" y="2380"/>
                </a:lnTo>
                <a:lnTo>
                  <a:pt x="0" y="2380"/>
                </a:lnTo>
                <a:lnTo>
                  <a:pt x="0" y="2366"/>
                </a:lnTo>
                <a:lnTo>
                  <a:pt x="14" y="2366"/>
                </a:lnTo>
                <a:close/>
                <a:moveTo>
                  <a:pt x="14" y="2394"/>
                </a:moveTo>
                <a:lnTo>
                  <a:pt x="14" y="2408"/>
                </a:lnTo>
                <a:lnTo>
                  <a:pt x="0" y="2408"/>
                </a:lnTo>
                <a:lnTo>
                  <a:pt x="0" y="2394"/>
                </a:lnTo>
                <a:lnTo>
                  <a:pt x="14" y="2394"/>
                </a:lnTo>
                <a:close/>
                <a:moveTo>
                  <a:pt x="14" y="2421"/>
                </a:moveTo>
                <a:lnTo>
                  <a:pt x="14" y="2435"/>
                </a:lnTo>
                <a:lnTo>
                  <a:pt x="0" y="2435"/>
                </a:lnTo>
                <a:lnTo>
                  <a:pt x="0" y="2421"/>
                </a:lnTo>
                <a:lnTo>
                  <a:pt x="14" y="2421"/>
                </a:lnTo>
                <a:close/>
                <a:moveTo>
                  <a:pt x="14" y="2449"/>
                </a:moveTo>
                <a:lnTo>
                  <a:pt x="14" y="2453"/>
                </a:lnTo>
                <a:lnTo>
                  <a:pt x="0" y="2453"/>
                </a:lnTo>
                <a:lnTo>
                  <a:pt x="0" y="2449"/>
                </a:lnTo>
                <a:lnTo>
                  <a:pt x="14" y="2449"/>
                </a:lnTo>
                <a:close/>
              </a:path>
            </a:pathLst>
          </a:custGeom>
          <a:solidFill>
            <a:srgbClr val="000000"/>
          </a:solidFill>
          <a:ln w="0" cap="flat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38" name="Rectangle 35">
            <a:extLst>
              <a:ext uri="{FF2B5EF4-FFF2-40B4-BE49-F238E27FC236}">
                <a16:creationId xmlns:a16="http://schemas.microsoft.com/office/drawing/2014/main" id="{032D98E6-4151-4489-89F9-63561EAB30E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343930" y="4831775"/>
            <a:ext cx="912109" cy="3231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zh-CN" altLang="zh-CN" sz="2100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rPr>
              <a:t>add  r2,</a:t>
            </a:r>
            <a:endParaRPr kumimoji="0" lang="zh-CN" altLang="zh-CN" sz="180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  <a:ea typeface="SimHei" panose="02010609060101010101" pitchFamily="49" charset="-122"/>
            </a:endParaRPr>
          </a:p>
        </p:txBody>
      </p:sp>
      <p:sp>
        <p:nvSpPr>
          <p:cNvPr id="39" name="Rectangle 36">
            <a:extLst>
              <a:ext uri="{FF2B5EF4-FFF2-40B4-BE49-F238E27FC236}">
                <a16:creationId xmlns:a16="http://schemas.microsoft.com/office/drawing/2014/main" id="{1C95CF6D-5F9D-4FBA-98DB-71A0FF69461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74205" y="4831775"/>
            <a:ext cx="238848" cy="3231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zh-CN" altLang="zh-CN" sz="2100" u="none" strike="noStrike" cap="none" normalizeH="0" baseline="0" dirty="0">
                <a:ln>
                  <a:noFill/>
                </a:ln>
                <a:solidFill>
                  <a:srgbClr val="DE2506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rPr>
              <a:t>r1</a:t>
            </a:r>
            <a:endParaRPr kumimoji="0" lang="zh-CN" altLang="zh-CN" sz="180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  <a:ea typeface="SimHei" panose="02010609060101010101" pitchFamily="49" charset="-122"/>
            </a:endParaRPr>
          </a:p>
        </p:txBody>
      </p:sp>
      <p:sp>
        <p:nvSpPr>
          <p:cNvPr id="40" name="Rectangle 37">
            <a:extLst>
              <a:ext uri="{FF2B5EF4-FFF2-40B4-BE49-F238E27FC236}">
                <a16:creationId xmlns:a16="http://schemas.microsoft.com/office/drawing/2014/main" id="{D0D1ACA0-BA2B-4A87-AE1F-FC72096AF59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21855" y="4831775"/>
            <a:ext cx="314189" cy="3231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zh-CN" altLang="zh-CN" sz="2100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rPr>
              <a:t>,</a:t>
            </a:r>
            <a:r>
              <a:rPr lang="en-US" altLang="zh-CN" sz="2100" dirty="0">
                <a:solidFill>
                  <a:srgbClr val="000000"/>
                </a:solidFill>
                <a:ea typeface="SimHei" panose="02010609060101010101" pitchFamily="49" charset="-122"/>
              </a:rPr>
              <a:t>r3</a:t>
            </a:r>
            <a:endParaRPr kumimoji="0" lang="zh-CN" altLang="zh-CN" sz="180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  <a:ea typeface="SimHei" panose="02010609060101010101" pitchFamily="49" charset="-122"/>
            </a:endParaRPr>
          </a:p>
        </p:txBody>
      </p:sp>
      <p:sp>
        <p:nvSpPr>
          <p:cNvPr id="41" name="Freeform 38">
            <a:extLst>
              <a:ext uri="{FF2B5EF4-FFF2-40B4-BE49-F238E27FC236}">
                <a16:creationId xmlns:a16="http://schemas.microsoft.com/office/drawing/2014/main" id="{6D0CBAEF-E083-4B13-82A5-2C2CC82D098A}"/>
              </a:ext>
            </a:extLst>
          </p:cNvPr>
          <p:cNvSpPr>
            <a:spLocks noEditPoints="1"/>
          </p:cNvSpPr>
          <p:nvPr/>
        </p:nvSpPr>
        <p:spPr bwMode="auto">
          <a:xfrm>
            <a:off x="1155018" y="2625150"/>
            <a:ext cx="77788" cy="3379788"/>
          </a:xfrm>
          <a:custGeom>
            <a:avLst/>
            <a:gdLst>
              <a:gd name="T0" fmla="*/ 32 w 49"/>
              <a:gd name="T1" fmla="*/ 0 h 2129"/>
              <a:gd name="T2" fmla="*/ 32 w 49"/>
              <a:gd name="T3" fmla="*/ 2089 h 2129"/>
              <a:gd name="T4" fmla="*/ 16 w 49"/>
              <a:gd name="T5" fmla="*/ 2089 h 2129"/>
              <a:gd name="T6" fmla="*/ 16 w 49"/>
              <a:gd name="T7" fmla="*/ 0 h 2129"/>
              <a:gd name="T8" fmla="*/ 32 w 49"/>
              <a:gd name="T9" fmla="*/ 0 h 2129"/>
              <a:gd name="T10" fmla="*/ 49 w 49"/>
              <a:gd name="T11" fmla="*/ 2082 h 2129"/>
              <a:gd name="T12" fmla="*/ 24 w 49"/>
              <a:gd name="T13" fmla="*/ 2129 h 2129"/>
              <a:gd name="T14" fmla="*/ 0 w 49"/>
              <a:gd name="T15" fmla="*/ 2082 h 2129"/>
              <a:gd name="T16" fmla="*/ 49 w 49"/>
              <a:gd name="T17" fmla="*/ 2082 h 21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49" h="2129">
                <a:moveTo>
                  <a:pt x="32" y="0"/>
                </a:moveTo>
                <a:lnTo>
                  <a:pt x="32" y="2089"/>
                </a:lnTo>
                <a:lnTo>
                  <a:pt x="16" y="2089"/>
                </a:lnTo>
                <a:lnTo>
                  <a:pt x="16" y="0"/>
                </a:lnTo>
                <a:lnTo>
                  <a:pt x="32" y="0"/>
                </a:lnTo>
                <a:close/>
                <a:moveTo>
                  <a:pt x="49" y="2082"/>
                </a:moveTo>
                <a:lnTo>
                  <a:pt x="24" y="2129"/>
                </a:lnTo>
                <a:lnTo>
                  <a:pt x="0" y="2082"/>
                </a:lnTo>
                <a:lnTo>
                  <a:pt x="49" y="2082"/>
                </a:lnTo>
                <a:close/>
              </a:path>
            </a:pathLst>
          </a:custGeom>
          <a:solidFill>
            <a:srgbClr val="000000"/>
          </a:solidFill>
          <a:ln w="0" cap="flat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i="1" dirty="0">
              <a:ea typeface="SimHei" panose="02010609060101010101" pitchFamily="49" charset="-122"/>
            </a:endParaRPr>
          </a:p>
        </p:txBody>
      </p:sp>
      <p:sp>
        <p:nvSpPr>
          <p:cNvPr id="42" name="Freeform 39">
            <a:extLst>
              <a:ext uri="{FF2B5EF4-FFF2-40B4-BE49-F238E27FC236}">
                <a16:creationId xmlns:a16="http://schemas.microsoft.com/office/drawing/2014/main" id="{44B3BFDA-0CEF-4CB3-A372-879A1A0CB5B5}"/>
              </a:ext>
            </a:extLst>
          </p:cNvPr>
          <p:cNvSpPr>
            <a:spLocks/>
          </p:cNvSpPr>
          <p:nvPr/>
        </p:nvSpPr>
        <p:spPr bwMode="auto">
          <a:xfrm>
            <a:off x="4473210" y="2491800"/>
            <a:ext cx="298450" cy="661988"/>
          </a:xfrm>
          <a:custGeom>
            <a:avLst/>
            <a:gdLst>
              <a:gd name="T0" fmla="*/ 0 w 188"/>
              <a:gd name="T1" fmla="*/ 278 h 417"/>
              <a:gd name="T2" fmla="*/ 63 w 188"/>
              <a:gd name="T3" fmla="*/ 209 h 417"/>
              <a:gd name="T4" fmla="*/ 0 w 188"/>
              <a:gd name="T5" fmla="*/ 139 h 417"/>
              <a:gd name="T6" fmla="*/ 0 w 188"/>
              <a:gd name="T7" fmla="*/ 0 h 417"/>
              <a:gd name="T8" fmla="*/ 188 w 188"/>
              <a:gd name="T9" fmla="*/ 139 h 417"/>
              <a:gd name="T10" fmla="*/ 188 w 188"/>
              <a:gd name="T11" fmla="*/ 278 h 417"/>
              <a:gd name="T12" fmla="*/ 0 w 188"/>
              <a:gd name="T13" fmla="*/ 417 h 417"/>
              <a:gd name="T14" fmla="*/ 0 w 188"/>
              <a:gd name="T15" fmla="*/ 278 h 41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188" h="417">
                <a:moveTo>
                  <a:pt x="0" y="278"/>
                </a:moveTo>
                <a:lnTo>
                  <a:pt x="63" y="209"/>
                </a:lnTo>
                <a:lnTo>
                  <a:pt x="0" y="139"/>
                </a:lnTo>
                <a:lnTo>
                  <a:pt x="0" y="0"/>
                </a:lnTo>
                <a:lnTo>
                  <a:pt x="188" y="139"/>
                </a:lnTo>
                <a:lnTo>
                  <a:pt x="188" y="278"/>
                </a:lnTo>
                <a:lnTo>
                  <a:pt x="0" y="417"/>
                </a:lnTo>
                <a:lnTo>
                  <a:pt x="0" y="278"/>
                </a:lnTo>
              </a:path>
            </a:pathLst>
          </a:custGeom>
          <a:noFill/>
          <a:ln w="22225" cap="rnd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43" name="Rectangle 40">
            <a:extLst>
              <a:ext uri="{FF2B5EF4-FFF2-40B4-BE49-F238E27FC236}">
                <a16:creationId xmlns:a16="http://schemas.microsoft.com/office/drawing/2014/main" id="{C8DF0093-180D-4C42-82C8-39C96A02460F}"/>
              </a:ext>
            </a:extLst>
          </p:cNvPr>
          <p:cNvSpPr>
            <a:spLocks noChangeArrowheads="1"/>
          </p:cNvSpPr>
          <p:nvPr/>
        </p:nvSpPr>
        <p:spPr bwMode="auto">
          <a:xfrm rot="5400000">
            <a:off x="4307396" y="2698890"/>
            <a:ext cx="663574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zh-CN" altLang="zh-CN" sz="1600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rPr>
              <a:t>ALU</a:t>
            </a:r>
            <a:endParaRPr kumimoji="0" lang="zh-CN" altLang="zh-CN" sz="160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  <a:ea typeface="SimHei" panose="02010609060101010101" pitchFamily="49" charset="-122"/>
            </a:endParaRPr>
          </a:p>
        </p:txBody>
      </p:sp>
      <p:sp>
        <p:nvSpPr>
          <p:cNvPr id="44" name="Rectangle 41">
            <a:extLst>
              <a:ext uri="{FF2B5EF4-FFF2-40B4-BE49-F238E27FC236}">
                <a16:creationId xmlns:a16="http://schemas.microsoft.com/office/drawing/2014/main" id="{7C4CBD87-BBAE-4288-A437-E470A5E842F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0198" y="2671187"/>
            <a:ext cx="198772" cy="2154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zh-CN" altLang="zh-CN" sz="1400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rPr>
              <a:t>IM</a:t>
            </a:r>
            <a:endParaRPr kumimoji="0" lang="zh-CN" altLang="zh-CN" sz="180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  <a:ea typeface="SimHei" panose="02010609060101010101" pitchFamily="49" charset="-122"/>
            </a:endParaRPr>
          </a:p>
        </p:txBody>
      </p:sp>
      <p:sp>
        <p:nvSpPr>
          <p:cNvPr id="45" name="Freeform 42">
            <a:extLst>
              <a:ext uri="{FF2B5EF4-FFF2-40B4-BE49-F238E27FC236}">
                <a16:creationId xmlns:a16="http://schemas.microsoft.com/office/drawing/2014/main" id="{17C17742-0D98-4FCC-8283-D8BE676A44C9}"/>
              </a:ext>
            </a:extLst>
          </p:cNvPr>
          <p:cNvSpPr>
            <a:spLocks/>
          </p:cNvSpPr>
          <p:nvPr/>
        </p:nvSpPr>
        <p:spPr bwMode="auto">
          <a:xfrm>
            <a:off x="3149235" y="2625150"/>
            <a:ext cx="246063" cy="396875"/>
          </a:xfrm>
          <a:custGeom>
            <a:avLst/>
            <a:gdLst>
              <a:gd name="T0" fmla="*/ 155 w 155"/>
              <a:gd name="T1" fmla="*/ 0 h 250"/>
              <a:gd name="T2" fmla="*/ 0 w 155"/>
              <a:gd name="T3" fmla="*/ 0 h 250"/>
              <a:gd name="T4" fmla="*/ 0 w 155"/>
              <a:gd name="T5" fmla="*/ 250 h 250"/>
              <a:gd name="T6" fmla="*/ 155 w 155"/>
              <a:gd name="T7" fmla="*/ 250 h 2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155" h="250">
                <a:moveTo>
                  <a:pt x="155" y="0"/>
                </a:moveTo>
                <a:lnTo>
                  <a:pt x="0" y="0"/>
                </a:lnTo>
                <a:lnTo>
                  <a:pt x="0" y="250"/>
                </a:lnTo>
                <a:lnTo>
                  <a:pt x="155" y="250"/>
                </a:lnTo>
              </a:path>
            </a:pathLst>
          </a:custGeom>
          <a:noFill/>
          <a:ln w="22225" cap="rnd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46" name="Freeform 43">
            <a:extLst>
              <a:ext uri="{FF2B5EF4-FFF2-40B4-BE49-F238E27FC236}">
                <a16:creationId xmlns:a16="http://schemas.microsoft.com/office/drawing/2014/main" id="{D7262424-F6AB-4B3F-A873-2F8B5C56ACFE}"/>
              </a:ext>
            </a:extLst>
          </p:cNvPr>
          <p:cNvSpPr>
            <a:spLocks/>
          </p:cNvSpPr>
          <p:nvPr/>
        </p:nvSpPr>
        <p:spPr bwMode="auto">
          <a:xfrm>
            <a:off x="3396885" y="2625150"/>
            <a:ext cx="238125" cy="396875"/>
          </a:xfrm>
          <a:custGeom>
            <a:avLst/>
            <a:gdLst>
              <a:gd name="T0" fmla="*/ 0 w 150"/>
              <a:gd name="T1" fmla="*/ 0 h 250"/>
              <a:gd name="T2" fmla="*/ 150 w 150"/>
              <a:gd name="T3" fmla="*/ 0 h 250"/>
              <a:gd name="T4" fmla="*/ 150 w 150"/>
              <a:gd name="T5" fmla="*/ 250 h 250"/>
              <a:gd name="T6" fmla="*/ 0 w 150"/>
              <a:gd name="T7" fmla="*/ 250 h 2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150" h="250">
                <a:moveTo>
                  <a:pt x="0" y="0"/>
                </a:moveTo>
                <a:lnTo>
                  <a:pt x="150" y="0"/>
                </a:lnTo>
                <a:lnTo>
                  <a:pt x="150" y="250"/>
                </a:lnTo>
                <a:lnTo>
                  <a:pt x="0" y="250"/>
                </a:lnTo>
              </a:path>
            </a:pathLst>
          </a:custGeom>
          <a:noFill/>
          <a:ln w="22225" cap="rnd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47" name="Rectangle 44">
            <a:extLst>
              <a:ext uri="{FF2B5EF4-FFF2-40B4-BE49-F238E27FC236}">
                <a16:creationId xmlns:a16="http://schemas.microsoft.com/office/drawing/2014/main" id="{37156D61-B13D-4788-AFE5-94580C785A6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62023" y="2677537"/>
            <a:ext cx="328616" cy="2154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zh-CN" altLang="zh-CN" sz="1400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rPr>
              <a:t>Reg</a:t>
            </a:r>
            <a:endParaRPr kumimoji="0" lang="zh-CN" altLang="zh-CN" sz="180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  <a:ea typeface="SimHei" panose="02010609060101010101" pitchFamily="49" charset="-122"/>
            </a:endParaRPr>
          </a:p>
        </p:txBody>
      </p:sp>
      <p:sp>
        <p:nvSpPr>
          <p:cNvPr id="48" name="Freeform 45">
            <a:extLst>
              <a:ext uri="{FF2B5EF4-FFF2-40B4-BE49-F238E27FC236}">
                <a16:creationId xmlns:a16="http://schemas.microsoft.com/office/drawing/2014/main" id="{E886716A-462E-478B-8086-774985C6F870}"/>
              </a:ext>
            </a:extLst>
          </p:cNvPr>
          <p:cNvSpPr>
            <a:spLocks/>
          </p:cNvSpPr>
          <p:nvPr/>
        </p:nvSpPr>
        <p:spPr bwMode="auto">
          <a:xfrm>
            <a:off x="3806460" y="2625150"/>
            <a:ext cx="212725" cy="396875"/>
          </a:xfrm>
          <a:custGeom>
            <a:avLst/>
            <a:gdLst>
              <a:gd name="T0" fmla="*/ 134 w 134"/>
              <a:gd name="T1" fmla="*/ 0 h 250"/>
              <a:gd name="T2" fmla="*/ 0 w 134"/>
              <a:gd name="T3" fmla="*/ 0 h 250"/>
              <a:gd name="T4" fmla="*/ 0 w 134"/>
              <a:gd name="T5" fmla="*/ 250 h 250"/>
              <a:gd name="T6" fmla="*/ 134 w 134"/>
              <a:gd name="T7" fmla="*/ 250 h 2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134" h="250">
                <a:moveTo>
                  <a:pt x="134" y="0"/>
                </a:moveTo>
                <a:lnTo>
                  <a:pt x="0" y="0"/>
                </a:lnTo>
                <a:lnTo>
                  <a:pt x="0" y="250"/>
                </a:lnTo>
                <a:lnTo>
                  <a:pt x="134" y="250"/>
                </a:lnTo>
              </a:path>
            </a:pathLst>
          </a:custGeom>
          <a:noFill/>
          <a:ln w="22225" cap="rnd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49" name="Freeform 46">
            <a:extLst>
              <a:ext uri="{FF2B5EF4-FFF2-40B4-BE49-F238E27FC236}">
                <a16:creationId xmlns:a16="http://schemas.microsoft.com/office/drawing/2014/main" id="{7FBA7C65-B063-426A-AFD7-D383BF7ED230}"/>
              </a:ext>
            </a:extLst>
          </p:cNvPr>
          <p:cNvSpPr>
            <a:spLocks/>
          </p:cNvSpPr>
          <p:nvPr/>
        </p:nvSpPr>
        <p:spPr bwMode="auto">
          <a:xfrm>
            <a:off x="4020773" y="2625150"/>
            <a:ext cx="203200" cy="396875"/>
          </a:xfrm>
          <a:custGeom>
            <a:avLst/>
            <a:gdLst>
              <a:gd name="T0" fmla="*/ 0 w 128"/>
              <a:gd name="T1" fmla="*/ 0 h 250"/>
              <a:gd name="T2" fmla="*/ 128 w 128"/>
              <a:gd name="T3" fmla="*/ 0 h 250"/>
              <a:gd name="T4" fmla="*/ 128 w 128"/>
              <a:gd name="T5" fmla="*/ 250 h 250"/>
              <a:gd name="T6" fmla="*/ 0 w 128"/>
              <a:gd name="T7" fmla="*/ 250 h 2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128" h="250">
                <a:moveTo>
                  <a:pt x="0" y="0"/>
                </a:moveTo>
                <a:lnTo>
                  <a:pt x="128" y="0"/>
                </a:lnTo>
                <a:lnTo>
                  <a:pt x="128" y="250"/>
                </a:lnTo>
                <a:lnTo>
                  <a:pt x="0" y="250"/>
                </a:lnTo>
              </a:path>
            </a:pathLst>
          </a:custGeom>
          <a:noFill/>
          <a:ln w="22225" cap="rnd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50" name="Line 47">
            <a:extLst>
              <a:ext uri="{FF2B5EF4-FFF2-40B4-BE49-F238E27FC236}">
                <a16:creationId xmlns:a16="http://schemas.microsoft.com/office/drawing/2014/main" id="{6E3612D7-BE79-4998-9455-2238C8A280C7}"/>
              </a:ext>
            </a:extLst>
          </p:cNvPr>
          <p:cNvSpPr>
            <a:spLocks noChangeShapeType="1"/>
          </p:cNvSpPr>
          <p:nvPr/>
        </p:nvSpPr>
        <p:spPr bwMode="auto">
          <a:xfrm>
            <a:off x="3644535" y="2823587"/>
            <a:ext cx="161925" cy="0"/>
          </a:xfrm>
          <a:prstGeom prst="line">
            <a:avLst/>
          </a:prstGeom>
          <a:noFill/>
          <a:ln w="22225" cap="flat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51" name="Freeform 48">
            <a:extLst>
              <a:ext uri="{FF2B5EF4-FFF2-40B4-BE49-F238E27FC236}">
                <a16:creationId xmlns:a16="http://schemas.microsoft.com/office/drawing/2014/main" id="{73FC0C1F-E257-4619-995C-0C6292E0B1F9}"/>
              </a:ext>
            </a:extLst>
          </p:cNvPr>
          <p:cNvSpPr>
            <a:spLocks/>
          </p:cNvSpPr>
          <p:nvPr/>
        </p:nvSpPr>
        <p:spPr bwMode="auto">
          <a:xfrm>
            <a:off x="3738198" y="2690237"/>
            <a:ext cx="68263" cy="131763"/>
          </a:xfrm>
          <a:custGeom>
            <a:avLst/>
            <a:gdLst>
              <a:gd name="T0" fmla="*/ 0 w 43"/>
              <a:gd name="T1" fmla="*/ 83 h 83"/>
              <a:gd name="T2" fmla="*/ 0 w 43"/>
              <a:gd name="T3" fmla="*/ 0 h 83"/>
              <a:gd name="T4" fmla="*/ 43 w 43"/>
              <a:gd name="T5" fmla="*/ 0 h 8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43" h="83">
                <a:moveTo>
                  <a:pt x="0" y="83"/>
                </a:moveTo>
                <a:lnTo>
                  <a:pt x="0" y="0"/>
                </a:lnTo>
                <a:lnTo>
                  <a:pt x="43" y="0"/>
                </a:lnTo>
              </a:path>
            </a:pathLst>
          </a:custGeom>
          <a:noFill/>
          <a:ln w="22225" cap="rnd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52" name="Line 49">
            <a:extLst>
              <a:ext uri="{FF2B5EF4-FFF2-40B4-BE49-F238E27FC236}">
                <a16:creationId xmlns:a16="http://schemas.microsoft.com/office/drawing/2014/main" id="{0A43A060-25BF-412D-8F05-58498572D7CF}"/>
              </a:ext>
            </a:extLst>
          </p:cNvPr>
          <p:cNvSpPr>
            <a:spLocks noChangeShapeType="1"/>
          </p:cNvSpPr>
          <p:nvPr/>
        </p:nvSpPr>
        <p:spPr bwMode="auto">
          <a:xfrm>
            <a:off x="4233498" y="2690237"/>
            <a:ext cx="222250" cy="0"/>
          </a:xfrm>
          <a:prstGeom prst="line">
            <a:avLst/>
          </a:prstGeom>
          <a:noFill/>
          <a:ln w="22225" cap="flat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53" name="Rectangle 50">
            <a:extLst>
              <a:ext uri="{FF2B5EF4-FFF2-40B4-BE49-F238E27FC236}">
                <a16:creationId xmlns:a16="http://schemas.microsoft.com/office/drawing/2014/main" id="{D8E2C188-3833-4EA4-A4B3-7A58A1E231FB}"/>
              </a:ext>
            </a:extLst>
          </p:cNvPr>
          <p:cNvSpPr>
            <a:spLocks noChangeArrowheads="1"/>
          </p:cNvSpPr>
          <p:nvPr/>
        </p:nvSpPr>
        <p:spPr bwMode="auto">
          <a:xfrm>
            <a:off x="5024073" y="2671187"/>
            <a:ext cx="278923" cy="2154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zh-CN" altLang="zh-CN" sz="1400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rPr>
              <a:t>DM</a:t>
            </a:r>
            <a:endParaRPr kumimoji="0" lang="zh-CN" altLang="zh-CN" sz="180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  <a:ea typeface="SimHei" panose="02010609060101010101" pitchFamily="49" charset="-122"/>
            </a:endParaRPr>
          </a:p>
        </p:txBody>
      </p:sp>
      <p:sp>
        <p:nvSpPr>
          <p:cNvPr id="54" name="Freeform 51">
            <a:extLst>
              <a:ext uri="{FF2B5EF4-FFF2-40B4-BE49-F238E27FC236}">
                <a16:creationId xmlns:a16="http://schemas.microsoft.com/office/drawing/2014/main" id="{B69B2AD7-4F52-4F8F-B31F-6F4FC29FBEBA}"/>
              </a:ext>
            </a:extLst>
          </p:cNvPr>
          <p:cNvSpPr>
            <a:spLocks/>
          </p:cNvSpPr>
          <p:nvPr/>
        </p:nvSpPr>
        <p:spPr bwMode="auto">
          <a:xfrm>
            <a:off x="5019310" y="2625150"/>
            <a:ext cx="230188" cy="396875"/>
          </a:xfrm>
          <a:custGeom>
            <a:avLst/>
            <a:gdLst>
              <a:gd name="T0" fmla="*/ 145 w 145"/>
              <a:gd name="T1" fmla="*/ 0 h 250"/>
              <a:gd name="T2" fmla="*/ 0 w 145"/>
              <a:gd name="T3" fmla="*/ 0 h 250"/>
              <a:gd name="T4" fmla="*/ 0 w 145"/>
              <a:gd name="T5" fmla="*/ 250 h 250"/>
              <a:gd name="T6" fmla="*/ 145 w 145"/>
              <a:gd name="T7" fmla="*/ 250 h 2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145" h="250">
                <a:moveTo>
                  <a:pt x="145" y="0"/>
                </a:moveTo>
                <a:lnTo>
                  <a:pt x="0" y="0"/>
                </a:lnTo>
                <a:lnTo>
                  <a:pt x="0" y="250"/>
                </a:lnTo>
                <a:lnTo>
                  <a:pt x="145" y="250"/>
                </a:lnTo>
              </a:path>
            </a:pathLst>
          </a:custGeom>
          <a:noFill/>
          <a:ln w="22225" cap="rnd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55" name="Freeform 52">
            <a:extLst>
              <a:ext uri="{FF2B5EF4-FFF2-40B4-BE49-F238E27FC236}">
                <a16:creationId xmlns:a16="http://schemas.microsoft.com/office/drawing/2014/main" id="{ABF6A284-8FA2-467A-8F6B-A0DCD0A587AC}"/>
              </a:ext>
            </a:extLst>
          </p:cNvPr>
          <p:cNvSpPr>
            <a:spLocks/>
          </p:cNvSpPr>
          <p:nvPr/>
        </p:nvSpPr>
        <p:spPr bwMode="auto">
          <a:xfrm>
            <a:off x="5241560" y="2625150"/>
            <a:ext cx="238125" cy="396875"/>
          </a:xfrm>
          <a:custGeom>
            <a:avLst/>
            <a:gdLst>
              <a:gd name="T0" fmla="*/ 0 w 150"/>
              <a:gd name="T1" fmla="*/ 0 h 250"/>
              <a:gd name="T2" fmla="*/ 150 w 150"/>
              <a:gd name="T3" fmla="*/ 0 h 250"/>
              <a:gd name="T4" fmla="*/ 150 w 150"/>
              <a:gd name="T5" fmla="*/ 250 h 250"/>
              <a:gd name="T6" fmla="*/ 0 w 150"/>
              <a:gd name="T7" fmla="*/ 250 h 2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150" h="250">
                <a:moveTo>
                  <a:pt x="0" y="0"/>
                </a:moveTo>
                <a:lnTo>
                  <a:pt x="150" y="0"/>
                </a:lnTo>
                <a:lnTo>
                  <a:pt x="150" y="250"/>
                </a:lnTo>
                <a:lnTo>
                  <a:pt x="0" y="250"/>
                </a:lnTo>
              </a:path>
            </a:pathLst>
          </a:custGeom>
          <a:noFill/>
          <a:ln w="22225" cap="rnd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56" name="Rectangle 53">
            <a:extLst>
              <a:ext uri="{FF2B5EF4-FFF2-40B4-BE49-F238E27FC236}">
                <a16:creationId xmlns:a16="http://schemas.microsoft.com/office/drawing/2014/main" id="{8FC1E681-A5C3-432B-9F72-E46D80B6F178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25748" y="2671187"/>
            <a:ext cx="328616" cy="2154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zh-CN" altLang="zh-CN" sz="1400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rPr>
              <a:t>Reg</a:t>
            </a:r>
            <a:endParaRPr kumimoji="0" lang="zh-CN" altLang="zh-CN" sz="180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  <a:ea typeface="SimHei" panose="02010609060101010101" pitchFamily="49" charset="-122"/>
            </a:endParaRPr>
          </a:p>
        </p:txBody>
      </p:sp>
      <p:sp>
        <p:nvSpPr>
          <p:cNvPr id="57" name="Freeform 54">
            <a:extLst>
              <a:ext uri="{FF2B5EF4-FFF2-40B4-BE49-F238E27FC236}">
                <a16:creationId xmlns:a16="http://schemas.microsoft.com/office/drawing/2014/main" id="{4205DDD4-770A-44FC-A319-7417BB4917EC}"/>
              </a:ext>
            </a:extLst>
          </p:cNvPr>
          <p:cNvSpPr>
            <a:spLocks/>
          </p:cNvSpPr>
          <p:nvPr/>
        </p:nvSpPr>
        <p:spPr bwMode="auto">
          <a:xfrm>
            <a:off x="5686060" y="2625150"/>
            <a:ext cx="195263" cy="396875"/>
          </a:xfrm>
          <a:custGeom>
            <a:avLst/>
            <a:gdLst>
              <a:gd name="T0" fmla="*/ 123 w 123"/>
              <a:gd name="T1" fmla="*/ 0 h 250"/>
              <a:gd name="T2" fmla="*/ 0 w 123"/>
              <a:gd name="T3" fmla="*/ 0 h 250"/>
              <a:gd name="T4" fmla="*/ 0 w 123"/>
              <a:gd name="T5" fmla="*/ 250 h 250"/>
              <a:gd name="T6" fmla="*/ 123 w 123"/>
              <a:gd name="T7" fmla="*/ 250 h 2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123" h="250">
                <a:moveTo>
                  <a:pt x="123" y="0"/>
                </a:moveTo>
                <a:lnTo>
                  <a:pt x="0" y="0"/>
                </a:lnTo>
                <a:lnTo>
                  <a:pt x="0" y="250"/>
                </a:lnTo>
                <a:lnTo>
                  <a:pt x="123" y="250"/>
                </a:lnTo>
              </a:path>
            </a:pathLst>
          </a:custGeom>
          <a:noFill/>
          <a:ln w="22225" cap="rnd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58" name="Freeform 55">
            <a:extLst>
              <a:ext uri="{FF2B5EF4-FFF2-40B4-BE49-F238E27FC236}">
                <a16:creationId xmlns:a16="http://schemas.microsoft.com/office/drawing/2014/main" id="{80D532C1-2CC6-48E4-BDA7-FD1C5E22B2BC}"/>
              </a:ext>
            </a:extLst>
          </p:cNvPr>
          <p:cNvSpPr>
            <a:spLocks/>
          </p:cNvSpPr>
          <p:nvPr/>
        </p:nvSpPr>
        <p:spPr bwMode="auto">
          <a:xfrm>
            <a:off x="5882910" y="2625150"/>
            <a:ext cx="203200" cy="396875"/>
          </a:xfrm>
          <a:custGeom>
            <a:avLst/>
            <a:gdLst>
              <a:gd name="T0" fmla="*/ 0 w 128"/>
              <a:gd name="T1" fmla="*/ 0 h 250"/>
              <a:gd name="T2" fmla="*/ 128 w 128"/>
              <a:gd name="T3" fmla="*/ 0 h 250"/>
              <a:gd name="T4" fmla="*/ 128 w 128"/>
              <a:gd name="T5" fmla="*/ 250 h 250"/>
              <a:gd name="T6" fmla="*/ 0 w 128"/>
              <a:gd name="T7" fmla="*/ 250 h 2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128" h="250">
                <a:moveTo>
                  <a:pt x="0" y="0"/>
                </a:moveTo>
                <a:lnTo>
                  <a:pt x="128" y="0"/>
                </a:lnTo>
                <a:lnTo>
                  <a:pt x="128" y="250"/>
                </a:lnTo>
                <a:lnTo>
                  <a:pt x="0" y="250"/>
                </a:lnTo>
              </a:path>
            </a:pathLst>
          </a:custGeom>
          <a:noFill/>
          <a:ln w="22225" cap="rnd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59" name="Line 56">
            <a:extLst>
              <a:ext uri="{FF2B5EF4-FFF2-40B4-BE49-F238E27FC236}">
                <a16:creationId xmlns:a16="http://schemas.microsoft.com/office/drawing/2014/main" id="{CE2A096D-9B77-404D-BB84-6F179984AAAF}"/>
              </a:ext>
            </a:extLst>
          </p:cNvPr>
          <p:cNvSpPr>
            <a:spLocks noChangeShapeType="1"/>
          </p:cNvSpPr>
          <p:nvPr/>
        </p:nvSpPr>
        <p:spPr bwMode="auto">
          <a:xfrm>
            <a:off x="5473335" y="2823587"/>
            <a:ext cx="195263" cy="0"/>
          </a:xfrm>
          <a:prstGeom prst="line">
            <a:avLst/>
          </a:prstGeom>
          <a:noFill/>
          <a:ln w="22225" cap="flat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60" name="Line 57">
            <a:extLst>
              <a:ext uri="{FF2B5EF4-FFF2-40B4-BE49-F238E27FC236}">
                <a16:creationId xmlns:a16="http://schemas.microsoft.com/office/drawing/2014/main" id="{23C9518C-C425-49D0-8A9C-BBFC4F380E5C}"/>
              </a:ext>
            </a:extLst>
          </p:cNvPr>
          <p:cNvSpPr>
            <a:spLocks noChangeShapeType="1"/>
          </p:cNvSpPr>
          <p:nvPr/>
        </p:nvSpPr>
        <p:spPr bwMode="auto">
          <a:xfrm>
            <a:off x="4781185" y="2823587"/>
            <a:ext cx="222250" cy="0"/>
          </a:xfrm>
          <a:prstGeom prst="line">
            <a:avLst/>
          </a:prstGeom>
          <a:noFill/>
          <a:ln w="22225" cap="flat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61" name="Line 58">
            <a:extLst>
              <a:ext uri="{FF2B5EF4-FFF2-40B4-BE49-F238E27FC236}">
                <a16:creationId xmlns:a16="http://schemas.microsoft.com/office/drawing/2014/main" id="{4961D95E-19D9-4103-AB9A-838E0EEF5B1F}"/>
              </a:ext>
            </a:extLst>
          </p:cNvPr>
          <p:cNvSpPr>
            <a:spLocks noChangeShapeType="1"/>
          </p:cNvSpPr>
          <p:nvPr/>
        </p:nvSpPr>
        <p:spPr bwMode="auto">
          <a:xfrm>
            <a:off x="4233498" y="2955350"/>
            <a:ext cx="222250" cy="0"/>
          </a:xfrm>
          <a:prstGeom prst="line">
            <a:avLst/>
          </a:prstGeom>
          <a:noFill/>
          <a:ln w="22225" cap="flat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62" name="Line 59">
            <a:extLst>
              <a:ext uri="{FF2B5EF4-FFF2-40B4-BE49-F238E27FC236}">
                <a16:creationId xmlns:a16="http://schemas.microsoft.com/office/drawing/2014/main" id="{7EE913F9-EFEB-4B79-883A-0C490BE0C073}"/>
              </a:ext>
            </a:extLst>
          </p:cNvPr>
          <p:cNvSpPr>
            <a:spLocks noChangeShapeType="1"/>
          </p:cNvSpPr>
          <p:nvPr/>
        </p:nvSpPr>
        <p:spPr bwMode="auto">
          <a:xfrm>
            <a:off x="4354148" y="2955350"/>
            <a:ext cx="0" cy="265113"/>
          </a:xfrm>
          <a:prstGeom prst="line">
            <a:avLst/>
          </a:prstGeom>
          <a:noFill/>
          <a:ln w="25400" cap="flat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63" name="Line 60">
            <a:extLst>
              <a:ext uri="{FF2B5EF4-FFF2-40B4-BE49-F238E27FC236}">
                <a16:creationId xmlns:a16="http://schemas.microsoft.com/office/drawing/2014/main" id="{1FF10F42-213D-4D2F-856F-A9CCEA08C9BC}"/>
              </a:ext>
            </a:extLst>
          </p:cNvPr>
          <p:cNvSpPr>
            <a:spLocks noChangeShapeType="1"/>
          </p:cNvSpPr>
          <p:nvPr/>
        </p:nvSpPr>
        <p:spPr bwMode="auto">
          <a:xfrm>
            <a:off x="4354148" y="3220462"/>
            <a:ext cx="477838" cy="0"/>
          </a:xfrm>
          <a:prstGeom prst="line">
            <a:avLst/>
          </a:prstGeom>
          <a:noFill/>
          <a:ln w="25400" cap="flat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64" name="Line 61">
            <a:extLst>
              <a:ext uri="{FF2B5EF4-FFF2-40B4-BE49-F238E27FC236}">
                <a16:creationId xmlns:a16="http://schemas.microsoft.com/office/drawing/2014/main" id="{4900FC44-EBC2-4BA9-B3C5-06EB0262C6FC}"/>
              </a:ext>
            </a:extLst>
          </p:cNvPr>
          <p:cNvSpPr>
            <a:spLocks noChangeShapeType="1"/>
          </p:cNvSpPr>
          <p:nvPr/>
        </p:nvSpPr>
        <p:spPr bwMode="auto">
          <a:xfrm>
            <a:off x="4831985" y="2823587"/>
            <a:ext cx="0" cy="396875"/>
          </a:xfrm>
          <a:prstGeom prst="line">
            <a:avLst/>
          </a:prstGeom>
          <a:noFill/>
          <a:ln w="25400" cap="flat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65" name="Line 62">
            <a:extLst>
              <a:ext uri="{FF2B5EF4-FFF2-40B4-BE49-F238E27FC236}">
                <a16:creationId xmlns:a16="http://schemas.microsoft.com/office/drawing/2014/main" id="{FD64B2FC-8B65-45F4-AEFF-9862EA44EFE8}"/>
              </a:ext>
            </a:extLst>
          </p:cNvPr>
          <p:cNvSpPr>
            <a:spLocks noChangeShapeType="1"/>
          </p:cNvSpPr>
          <p:nvPr/>
        </p:nvSpPr>
        <p:spPr bwMode="auto">
          <a:xfrm>
            <a:off x="4951048" y="2823587"/>
            <a:ext cx="0" cy="331788"/>
          </a:xfrm>
          <a:prstGeom prst="line">
            <a:avLst/>
          </a:prstGeom>
          <a:noFill/>
          <a:ln w="25400" cap="flat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66" name="Line 63">
            <a:extLst>
              <a:ext uri="{FF2B5EF4-FFF2-40B4-BE49-F238E27FC236}">
                <a16:creationId xmlns:a16="http://schemas.microsoft.com/office/drawing/2014/main" id="{908E9B8F-F282-4968-A91C-8FBE117F767F}"/>
              </a:ext>
            </a:extLst>
          </p:cNvPr>
          <p:cNvSpPr>
            <a:spLocks noChangeShapeType="1"/>
          </p:cNvSpPr>
          <p:nvPr/>
        </p:nvSpPr>
        <p:spPr bwMode="auto">
          <a:xfrm>
            <a:off x="4951048" y="3155375"/>
            <a:ext cx="615950" cy="0"/>
          </a:xfrm>
          <a:prstGeom prst="line">
            <a:avLst/>
          </a:prstGeom>
          <a:noFill/>
          <a:ln w="25400" cap="flat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67" name="Line 64">
            <a:extLst>
              <a:ext uri="{FF2B5EF4-FFF2-40B4-BE49-F238E27FC236}">
                <a16:creationId xmlns:a16="http://schemas.microsoft.com/office/drawing/2014/main" id="{9D352A6E-ED08-464B-8497-DDDAEEAF912D}"/>
              </a:ext>
            </a:extLst>
          </p:cNvPr>
          <p:cNvSpPr>
            <a:spLocks noChangeShapeType="1"/>
          </p:cNvSpPr>
          <p:nvPr/>
        </p:nvSpPr>
        <p:spPr bwMode="auto">
          <a:xfrm>
            <a:off x="5566998" y="2823587"/>
            <a:ext cx="0" cy="331788"/>
          </a:xfrm>
          <a:prstGeom prst="line">
            <a:avLst/>
          </a:prstGeom>
          <a:noFill/>
          <a:ln w="25400" cap="flat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68" name="Freeform 65">
            <a:extLst>
              <a:ext uri="{FF2B5EF4-FFF2-40B4-BE49-F238E27FC236}">
                <a16:creationId xmlns:a16="http://schemas.microsoft.com/office/drawing/2014/main" id="{BD975E73-9270-46BE-B891-95BD9DBE7783}"/>
              </a:ext>
            </a:extLst>
          </p:cNvPr>
          <p:cNvSpPr>
            <a:spLocks/>
          </p:cNvSpPr>
          <p:nvPr/>
        </p:nvSpPr>
        <p:spPr bwMode="auto">
          <a:xfrm>
            <a:off x="5087573" y="3220462"/>
            <a:ext cx="298450" cy="661988"/>
          </a:xfrm>
          <a:custGeom>
            <a:avLst/>
            <a:gdLst>
              <a:gd name="T0" fmla="*/ 0 w 188"/>
              <a:gd name="T1" fmla="*/ 278 h 417"/>
              <a:gd name="T2" fmla="*/ 63 w 188"/>
              <a:gd name="T3" fmla="*/ 209 h 417"/>
              <a:gd name="T4" fmla="*/ 0 w 188"/>
              <a:gd name="T5" fmla="*/ 139 h 417"/>
              <a:gd name="T6" fmla="*/ 0 w 188"/>
              <a:gd name="T7" fmla="*/ 0 h 417"/>
              <a:gd name="T8" fmla="*/ 188 w 188"/>
              <a:gd name="T9" fmla="*/ 139 h 417"/>
              <a:gd name="T10" fmla="*/ 188 w 188"/>
              <a:gd name="T11" fmla="*/ 278 h 417"/>
              <a:gd name="T12" fmla="*/ 0 w 188"/>
              <a:gd name="T13" fmla="*/ 417 h 417"/>
              <a:gd name="T14" fmla="*/ 0 w 188"/>
              <a:gd name="T15" fmla="*/ 278 h 41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188" h="417">
                <a:moveTo>
                  <a:pt x="0" y="278"/>
                </a:moveTo>
                <a:lnTo>
                  <a:pt x="63" y="209"/>
                </a:lnTo>
                <a:lnTo>
                  <a:pt x="0" y="139"/>
                </a:lnTo>
                <a:lnTo>
                  <a:pt x="0" y="0"/>
                </a:lnTo>
                <a:lnTo>
                  <a:pt x="188" y="139"/>
                </a:lnTo>
                <a:lnTo>
                  <a:pt x="188" y="278"/>
                </a:lnTo>
                <a:lnTo>
                  <a:pt x="0" y="417"/>
                </a:lnTo>
                <a:lnTo>
                  <a:pt x="0" y="278"/>
                </a:lnTo>
              </a:path>
            </a:pathLst>
          </a:custGeom>
          <a:noFill/>
          <a:ln w="22225" cap="rnd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69" name="Rectangle 66">
            <a:extLst>
              <a:ext uri="{FF2B5EF4-FFF2-40B4-BE49-F238E27FC236}">
                <a16:creationId xmlns:a16="http://schemas.microsoft.com/office/drawing/2014/main" id="{714C9756-9123-4FF6-8E93-61FFD087645B}"/>
              </a:ext>
            </a:extLst>
          </p:cNvPr>
          <p:cNvSpPr>
            <a:spLocks noChangeArrowheads="1"/>
          </p:cNvSpPr>
          <p:nvPr/>
        </p:nvSpPr>
        <p:spPr bwMode="auto">
          <a:xfrm rot="5400000">
            <a:off x="4923346" y="3427553"/>
            <a:ext cx="663574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zh-CN" altLang="zh-CN" sz="1600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rPr>
              <a:t>ALU</a:t>
            </a:r>
            <a:endParaRPr kumimoji="0" lang="zh-CN" altLang="zh-CN" sz="160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  <a:ea typeface="SimHei" panose="02010609060101010101" pitchFamily="49" charset="-122"/>
            </a:endParaRPr>
          </a:p>
        </p:txBody>
      </p:sp>
      <p:sp>
        <p:nvSpPr>
          <p:cNvPr id="70" name="Rectangle 67">
            <a:extLst>
              <a:ext uri="{FF2B5EF4-FFF2-40B4-BE49-F238E27FC236}">
                <a16:creationId xmlns:a16="http://schemas.microsoft.com/office/drawing/2014/main" id="{2CC9872B-0ACB-4E2B-9E09-76219600C69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44560" y="3399850"/>
            <a:ext cx="198772" cy="2154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zh-CN" altLang="zh-CN" sz="1400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rPr>
              <a:t>IM</a:t>
            </a:r>
            <a:endParaRPr kumimoji="0" lang="zh-CN" altLang="zh-CN" sz="180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  <a:ea typeface="SimHei" panose="02010609060101010101" pitchFamily="49" charset="-122"/>
            </a:endParaRPr>
          </a:p>
        </p:txBody>
      </p:sp>
      <p:sp>
        <p:nvSpPr>
          <p:cNvPr id="71" name="Freeform 68">
            <a:extLst>
              <a:ext uri="{FF2B5EF4-FFF2-40B4-BE49-F238E27FC236}">
                <a16:creationId xmlns:a16="http://schemas.microsoft.com/office/drawing/2014/main" id="{BD2FF889-8066-4D44-8B63-BD29AD7F7945}"/>
              </a:ext>
            </a:extLst>
          </p:cNvPr>
          <p:cNvSpPr>
            <a:spLocks/>
          </p:cNvSpPr>
          <p:nvPr/>
        </p:nvSpPr>
        <p:spPr bwMode="auto">
          <a:xfrm>
            <a:off x="3763598" y="3353812"/>
            <a:ext cx="247650" cy="396875"/>
          </a:xfrm>
          <a:custGeom>
            <a:avLst/>
            <a:gdLst>
              <a:gd name="T0" fmla="*/ 156 w 156"/>
              <a:gd name="T1" fmla="*/ 0 h 250"/>
              <a:gd name="T2" fmla="*/ 0 w 156"/>
              <a:gd name="T3" fmla="*/ 0 h 250"/>
              <a:gd name="T4" fmla="*/ 0 w 156"/>
              <a:gd name="T5" fmla="*/ 250 h 250"/>
              <a:gd name="T6" fmla="*/ 156 w 156"/>
              <a:gd name="T7" fmla="*/ 250 h 2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156" h="250">
                <a:moveTo>
                  <a:pt x="156" y="0"/>
                </a:moveTo>
                <a:lnTo>
                  <a:pt x="0" y="0"/>
                </a:lnTo>
                <a:lnTo>
                  <a:pt x="0" y="250"/>
                </a:lnTo>
                <a:lnTo>
                  <a:pt x="156" y="250"/>
                </a:lnTo>
              </a:path>
            </a:pathLst>
          </a:custGeom>
          <a:noFill/>
          <a:ln w="22225" cap="rnd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72" name="Freeform 69">
            <a:extLst>
              <a:ext uri="{FF2B5EF4-FFF2-40B4-BE49-F238E27FC236}">
                <a16:creationId xmlns:a16="http://schemas.microsoft.com/office/drawing/2014/main" id="{98A9DB8E-7094-44D9-84B8-54A2E928E7F4}"/>
              </a:ext>
            </a:extLst>
          </p:cNvPr>
          <p:cNvSpPr>
            <a:spLocks/>
          </p:cNvSpPr>
          <p:nvPr/>
        </p:nvSpPr>
        <p:spPr bwMode="auto">
          <a:xfrm>
            <a:off x="4011248" y="3353812"/>
            <a:ext cx="238125" cy="396875"/>
          </a:xfrm>
          <a:custGeom>
            <a:avLst/>
            <a:gdLst>
              <a:gd name="T0" fmla="*/ 0 w 150"/>
              <a:gd name="T1" fmla="*/ 0 h 250"/>
              <a:gd name="T2" fmla="*/ 150 w 150"/>
              <a:gd name="T3" fmla="*/ 0 h 250"/>
              <a:gd name="T4" fmla="*/ 150 w 150"/>
              <a:gd name="T5" fmla="*/ 250 h 250"/>
              <a:gd name="T6" fmla="*/ 0 w 150"/>
              <a:gd name="T7" fmla="*/ 250 h 2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150" h="250">
                <a:moveTo>
                  <a:pt x="0" y="0"/>
                </a:moveTo>
                <a:lnTo>
                  <a:pt x="150" y="0"/>
                </a:lnTo>
                <a:lnTo>
                  <a:pt x="150" y="250"/>
                </a:lnTo>
                <a:lnTo>
                  <a:pt x="0" y="250"/>
                </a:lnTo>
              </a:path>
            </a:pathLst>
          </a:custGeom>
          <a:noFill/>
          <a:ln w="22225" cap="rnd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73" name="Rectangle 70">
            <a:extLst>
              <a:ext uri="{FF2B5EF4-FFF2-40B4-BE49-F238E27FC236}">
                <a16:creationId xmlns:a16="http://schemas.microsoft.com/office/drawing/2014/main" id="{4A004BD7-F2D8-42A3-A85E-CCF5F78E3B1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76385" y="3404612"/>
            <a:ext cx="328616" cy="2154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zh-CN" altLang="zh-CN" sz="1400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rPr>
              <a:t>Reg</a:t>
            </a:r>
            <a:endParaRPr kumimoji="0" lang="zh-CN" altLang="zh-CN" sz="180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  <a:ea typeface="SimHei" panose="02010609060101010101" pitchFamily="49" charset="-122"/>
            </a:endParaRPr>
          </a:p>
        </p:txBody>
      </p:sp>
      <p:sp>
        <p:nvSpPr>
          <p:cNvPr id="74" name="Freeform 71">
            <a:extLst>
              <a:ext uri="{FF2B5EF4-FFF2-40B4-BE49-F238E27FC236}">
                <a16:creationId xmlns:a16="http://schemas.microsoft.com/office/drawing/2014/main" id="{80D4B4FF-F995-4C13-9755-3FF6A88F81F8}"/>
              </a:ext>
            </a:extLst>
          </p:cNvPr>
          <p:cNvSpPr>
            <a:spLocks/>
          </p:cNvSpPr>
          <p:nvPr/>
        </p:nvSpPr>
        <p:spPr bwMode="auto">
          <a:xfrm>
            <a:off x="4422410" y="3353812"/>
            <a:ext cx="212725" cy="396875"/>
          </a:xfrm>
          <a:custGeom>
            <a:avLst/>
            <a:gdLst>
              <a:gd name="T0" fmla="*/ 134 w 134"/>
              <a:gd name="T1" fmla="*/ 0 h 250"/>
              <a:gd name="T2" fmla="*/ 0 w 134"/>
              <a:gd name="T3" fmla="*/ 0 h 250"/>
              <a:gd name="T4" fmla="*/ 0 w 134"/>
              <a:gd name="T5" fmla="*/ 250 h 250"/>
              <a:gd name="T6" fmla="*/ 134 w 134"/>
              <a:gd name="T7" fmla="*/ 250 h 2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134" h="250">
                <a:moveTo>
                  <a:pt x="134" y="0"/>
                </a:moveTo>
                <a:lnTo>
                  <a:pt x="0" y="0"/>
                </a:lnTo>
                <a:lnTo>
                  <a:pt x="0" y="250"/>
                </a:lnTo>
                <a:lnTo>
                  <a:pt x="134" y="250"/>
                </a:lnTo>
              </a:path>
            </a:pathLst>
          </a:custGeom>
          <a:noFill/>
          <a:ln w="22225" cap="rnd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75" name="Freeform 72">
            <a:extLst>
              <a:ext uri="{FF2B5EF4-FFF2-40B4-BE49-F238E27FC236}">
                <a16:creationId xmlns:a16="http://schemas.microsoft.com/office/drawing/2014/main" id="{D8F34387-D0C8-436A-BC2C-1790A7943043}"/>
              </a:ext>
            </a:extLst>
          </p:cNvPr>
          <p:cNvSpPr>
            <a:spLocks/>
          </p:cNvSpPr>
          <p:nvPr/>
        </p:nvSpPr>
        <p:spPr bwMode="auto">
          <a:xfrm>
            <a:off x="4635135" y="3353812"/>
            <a:ext cx="204788" cy="396875"/>
          </a:xfrm>
          <a:custGeom>
            <a:avLst/>
            <a:gdLst>
              <a:gd name="T0" fmla="*/ 0 w 129"/>
              <a:gd name="T1" fmla="*/ 0 h 250"/>
              <a:gd name="T2" fmla="*/ 129 w 129"/>
              <a:gd name="T3" fmla="*/ 0 h 250"/>
              <a:gd name="T4" fmla="*/ 129 w 129"/>
              <a:gd name="T5" fmla="*/ 250 h 250"/>
              <a:gd name="T6" fmla="*/ 0 w 129"/>
              <a:gd name="T7" fmla="*/ 250 h 2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129" h="250">
                <a:moveTo>
                  <a:pt x="0" y="0"/>
                </a:moveTo>
                <a:lnTo>
                  <a:pt x="129" y="0"/>
                </a:lnTo>
                <a:lnTo>
                  <a:pt x="129" y="250"/>
                </a:lnTo>
                <a:lnTo>
                  <a:pt x="0" y="250"/>
                </a:lnTo>
              </a:path>
            </a:pathLst>
          </a:custGeom>
          <a:noFill/>
          <a:ln w="22225" cap="rnd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76" name="Line 73">
            <a:extLst>
              <a:ext uri="{FF2B5EF4-FFF2-40B4-BE49-F238E27FC236}">
                <a16:creationId xmlns:a16="http://schemas.microsoft.com/office/drawing/2014/main" id="{4C634425-F256-4CB1-AF47-3796EF424F51}"/>
              </a:ext>
            </a:extLst>
          </p:cNvPr>
          <p:cNvSpPr>
            <a:spLocks noChangeShapeType="1"/>
          </p:cNvSpPr>
          <p:nvPr/>
        </p:nvSpPr>
        <p:spPr bwMode="auto">
          <a:xfrm>
            <a:off x="4258898" y="3552250"/>
            <a:ext cx="163513" cy="0"/>
          </a:xfrm>
          <a:prstGeom prst="line">
            <a:avLst/>
          </a:prstGeom>
          <a:noFill/>
          <a:ln w="22225" cap="flat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77" name="Freeform 74">
            <a:extLst>
              <a:ext uri="{FF2B5EF4-FFF2-40B4-BE49-F238E27FC236}">
                <a16:creationId xmlns:a16="http://schemas.microsoft.com/office/drawing/2014/main" id="{8863B175-B0DB-4E12-9CF7-A33DF79EA2BE}"/>
              </a:ext>
            </a:extLst>
          </p:cNvPr>
          <p:cNvSpPr>
            <a:spLocks/>
          </p:cNvSpPr>
          <p:nvPr/>
        </p:nvSpPr>
        <p:spPr bwMode="auto">
          <a:xfrm>
            <a:off x="4354148" y="3420487"/>
            <a:ext cx="66675" cy="130175"/>
          </a:xfrm>
          <a:custGeom>
            <a:avLst/>
            <a:gdLst>
              <a:gd name="T0" fmla="*/ 0 w 42"/>
              <a:gd name="T1" fmla="*/ 82 h 82"/>
              <a:gd name="T2" fmla="*/ 0 w 42"/>
              <a:gd name="T3" fmla="*/ 0 h 82"/>
              <a:gd name="T4" fmla="*/ 42 w 42"/>
              <a:gd name="T5" fmla="*/ 0 h 8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42" h="82">
                <a:moveTo>
                  <a:pt x="0" y="82"/>
                </a:moveTo>
                <a:lnTo>
                  <a:pt x="0" y="0"/>
                </a:lnTo>
                <a:lnTo>
                  <a:pt x="42" y="0"/>
                </a:lnTo>
              </a:path>
            </a:pathLst>
          </a:custGeom>
          <a:noFill/>
          <a:ln w="22225" cap="rnd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78" name="Line 75">
            <a:extLst>
              <a:ext uri="{FF2B5EF4-FFF2-40B4-BE49-F238E27FC236}">
                <a16:creationId xmlns:a16="http://schemas.microsoft.com/office/drawing/2014/main" id="{10E3B503-BA94-4356-BB42-08C1D756A84B}"/>
              </a:ext>
            </a:extLst>
          </p:cNvPr>
          <p:cNvSpPr>
            <a:spLocks noChangeShapeType="1"/>
          </p:cNvSpPr>
          <p:nvPr/>
        </p:nvSpPr>
        <p:spPr bwMode="auto">
          <a:xfrm>
            <a:off x="4849448" y="3420487"/>
            <a:ext cx="222250" cy="0"/>
          </a:xfrm>
          <a:prstGeom prst="line">
            <a:avLst/>
          </a:prstGeom>
          <a:noFill/>
          <a:ln w="22225" cap="flat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79" name="Rectangle 76">
            <a:extLst>
              <a:ext uri="{FF2B5EF4-FFF2-40B4-BE49-F238E27FC236}">
                <a16:creationId xmlns:a16="http://schemas.microsoft.com/office/drawing/2014/main" id="{45C1DA2A-22AD-46E2-AE00-9DB57850EDA9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40023" y="3399850"/>
            <a:ext cx="278923" cy="2154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zh-CN" altLang="zh-CN" sz="1400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rPr>
              <a:t>DM</a:t>
            </a:r>
            <a:endParaRPr kumimoji="0" lang="zh-CN" altLang="zh-CN" sz="180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  <a:ea typeface="SimHei" panose="02010609060101010101" pitchFamily="49" charset="-122"/>
            </a:endParaRPr>
          </a:p>
        </p:txBody>
      </p:sp>
      <p:sp>
        <p:nvSpPr>
          <p:cNvPr id="80" name="Freeform 77">
            <a:extLst>
              <a:ext uri="{FF2B5EF4-FFF2-40B4-BE49-F238E27FC236}">
                <a16:creationId xmlns:a16="http://schemas.microsoft.com/office/drawing/2014/main" id="{07FD56DD-770E-4D0C-8941-4D22F891FB79}"/>
              </a:ext>
            </a:extLst>
          </p:cNvPr>
          <p:cNvSpPr>
            <a:spLocks/>
          </p:cNvSpPr>
          <p:nvPr/>
        </p:nvSpPr>
        <p:spPr bwMode="auto">
          <a:xfrm>
            <a:off x="5635260" y="3353812"/>
            <a:ext cx="230188" cy="396875"/>
          </a:xfrm>
          <a:custGeom>
            <a:avLst/>
            <a:gdLst>
              <a:gd name="T0" fmla="*/ 145 w 145"/>
              <a:gd name="T1" fmla="*/ 0 h 250"/>
              <a:gd name="T2" fmla="*/ 0 w 145"/>
              <a:gd name="T3" fmla="*/ 0 h 250"/>
              <a:gd name="T4" fmla="*/ 0 w 145"/>
              <a:gd name="T5" fmla="*/ 250 h 250"/>
              <a:gd name="T6" fmla="*/ 145 w 145"/>
              <a:gd name="T7" fmla="*/ 250 h 2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145" h="250">
                <a:moveTo>
                  <a:pt x="145" y="0"/>
                </a:moveTo>
                <a:lnTo>
                  <a:pt x="0" y="0"/>
                </a:lnTo>
                <a:lnTo>
                  <a:pt x="0" y="250"/>
                </a:lnTo>
                <a:lnTo>
                  <a:pt x="145" y="250"/>
                </a:lnTo>
              </a:path>
            </a:pathLst>
          </a:custGeom>
          <a:noFill/>
          <a:ln w="22225" cap="rnd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81" name="Freeform 78">
            <a:extLst>
              <a:ext uri="{FF2B5EF4-FFF2-40B4-BE49-F238E27FC236}">
                <a16:creationId xmlns:a16="http://schemas.microsoft.com/office/drawing/2014/main" id="{8C3A1687-02BD-40D8-A52B-4BA4FF1AF1D6}"/>
              </a:ext>
            </a:extLst>
          </p:cNvPr>
          <p:cNvSpPr>
            <a:spLocks/>
          </p:cNvSpPr>
          <p:nvPr/>
        </p:nvSpPr>
        <p:spPr bwMode="auto">
          <a:xfrm>
            <a:off x="5857510" y="3353812"/>
            <a:ext cx="238125" cy="396875"/>
          </a:xfrm>
          <a:custGeom>
            <a:avLst/>
            <a:gdLst>
              <a:gd name="T0" fmla="*/ 0 w 150"/>
              <a:gd name="T1" fmla="*/ 0 h 250"/>
              <a:gd name="T2" fmla="*/ 150 w 150"/>
              <a:gd name="T3" fmla="*/ 0 h 250"/>
              <a:gd name="T4" fmla="*/ 150 w 150"/>
              <a:gd name="T5" fmla="*/ 250 h 250"/>
              <a:gd name="T6" fmla="*/ 0 w 150"/>
              <a:gd name="T7" fmla="*/ 250 h 2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150" h="250">
                <a:moveTo>
                  <a:pt x="0" y="0"/>
                </a:moveTo>
                <a:lnTo>
                  <a:pt x="150" y="0"/>
                </a:lnTo>
                <a:lnTo>
                  <a:pt x="150" y="250"/>
                </a:lnTo>
                <a:lnTo>
                  <a:pt x="0" y="250"/>
                </a:lnTo>
              </a:path>
            </a:pathLst>
          </a:custGeom>
          <a:noFill/>
          <a:ln w="22225" cap="rnd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82" name="Rectangle 79">
            <a:extLst>
              <a:ext uri="{FF2B5EF4-FFF2-40B4-BE49-F238E27FC236}">
                <a16:creationId xmlns:a16="http://schemas.microsoft.com/office/drawing/2014/main" id="{C56C0885-1EC7-45AD-820D-EA795E9194E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41698" y="3399850"/>
            <a:ext cx="328616" cy="2154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zh-CN" altLang="zh-CN" sz="1400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rPr>
              <a:t>Reg</a:t>
            </a:r>
            <a:endParaRPr kumimoji="0" lang="zh-CN" altLang="zh-CN" sz="180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  <a:ea typeface="SimHei" panose="02010609060101010101" pitchFamily="49" charset="-122"/>
            </a:endParaRPr>
          </a:p>
        </p:txBody>
      </p:sp>
      <p:sp>
        <p:nvSpPr>
          <p:cNvPr id="83" name="Freeform 80">
            <a:extLst>
              <a:ext uri="{FF2B5EF4-FFF2-40B4-BE49-F238E27FC236}">
                <a16:creationId xmlns:a16="http://schemas.microsoft.com/office/drawing/2014/main" id="{84AD3094-1AFC-4BFF-A8A4-DA47967D68E5}"/>
              </a:ext>
            </a:extLst>
          </p:cNvPr>
          <p:cNvSpPr>
            <a:spLocks/>
          </p:cNvSpPr>
          <p:nvPr/>
        </p:nvSpPr>
        <p:spPr bwMode="auto">
          <a:xfrm>
            <a:off x="6302010" y="3353812"/>
            <a:ext cx="195263" cy="396875"/>
          </a:xfrm>
          <a:custGeom>
            <a:avLst/>
            <a:gdLst>
              <a:gd name="T0" fmla="*/ 123 w 123"/>
              <a:gd name="T1" fmla="*/ 0 h 250"/>
              <a:gd name="T2" fmla="*/ 0 w 123"/>
              <a:gd name="T3" fmla="*/ 0 h 250"/>
              <a:gd name="T4" fmla="*/ 0 w 123"/>
              <a:gd name="T5" fmla="*/ 250 h 250"/>
              <a:gd name="T6" fmla="*/ 123 w 123"/>
              <a:gd name="T7" fmla="*/ 250 h 2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123" h="250">
                <a:moveTo>
                  <a:pt x="123" y="0"/>
                </a:moveTo>
                <a:lnTo>
                  <a:pt x="0" y="0"/>
                </a:lnTo>
                <a:lnTo>
                  <a:pt x="0" y="250"/>
                </a:lnTo>
                <a:lnTo>
                  <a:pt x="123" y="250"/>
                </a:lnTo>
              </a:path>
            </a:pathLst>
          </a:custGeom>
          <a:noFill/>
          <a:ln w="22225" cap="rnd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84" name="Freeform 81">
            <a:extLst>
              <a:ext uri="{FF2B5EF4-FFF2-40B4-BE49-F238E27FC236}">
                <a16:creationId xmlns:a16="http://schemas.microsoft.com/office/drawing/2014/main" id="{58898946-423D-4348-BA46-683AC39CE58C}"/>
              </a:ext>
            </a:extLst>
          </p:cNvPr>
          <p:cNvSpPr>
            <a:spLocks/>
          </p:cNvSpPr>
          <p:nvPr/>
        </p:nvSpPr>
        <p:spPr bwMode="auto">
          <a:xfrm>
            <a:off x="6497273" y="3353812"/>
            <a:ext cx="204788" cy="396875"/>
          </a:xfrm>
          <a:custGeom>
            <a:avLst/>
            <a:gdLst>
              <a:gd name="T0" fmla="*/ 0 w 129"/>
              <a:gd name="T1" fmla="*/ 0 h 250"/>
              <a:gd name="T2" fmla="*/ 129 w 129"/>
              <a:gd name="T3" fmla="*/ 0 h 250"/>
              <a:gd name="T4" fmla="*/ 129 w 129"/>
              <a:gd name="T5" fmla="*/ 250 h 250"/>
              <a:gd name="T6" fmla="*/ 0 w 129"/>
              <a:gd name="T7" fmla="*/ 250 h 2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129" h="250">
                <a:moveTo>
                  <a:pt x="0" y="0"/>
                </a:moveTo>
                <a:lnTo>
                  <a:pt x="129" y="0"/>
                </a:lnTo>
                <a:lnTo>
                  <a:pt x="129" y="250"/>
                </a:lnTo>
                <a:lnTo>
                  <a:pt x="0" y="250"/>
                </a:lnTo>
              </a:path>
            </a:pathLst>
          </a:custGeom>
          <a:noFill/>
          <a:ln w="22225" cap="rnd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85" name="Line 82">
            <a:extLst>
              <a:ext uri="{FF2B5EF4-FFF2-40B4-BE49-F238E27FC236}">
                <a16:creationId xmlns:a16="http://schemas.microsoft.com/office/drawing/2014/main" id="{E0F06C1D-D5D7-4068-B212-39561FE997A1}"/>
              </a:ext>
            </a:extLst>
          </p:cNvPr>
          <p:cNvSpPr>
            <a:spLocks noChangeShapeType="1"/>
          </p:cNvSpPr>
          <p:nvPr/>
        </p:nvSpPr>
        <p:spPr bwMode="auto">
          <a:xfrm>
            <a:off x="6087698" y="3552250"/>
            <a:ext cx="196850" cy="0"/>
          </a:xfrm>
          <a:prstGeom prst="line">
            <a:avLst/>
          </a:prstGeom>
          <a:noFill/>
          <a:ln w="22225" cap="flat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86" name="Line 83">
            <a:extLst>
              <a:ext uri="{FF2B5EF4-FFF2-40B4-BE49-F238E27FC236}">
                <a16:creationId xmlns:a16="http://schemas.microsoft.com/office/drawing/2014/main" id="{9BA7FEBB-94EB-41A5-A6B0-DD42E6761FBB}"/>
              </a:ext>
            </a:extLst>
          </p:cNvPr>
          <p:cNvSpPr>
            <a:spLocks noChangeShapeType="1"/>
          </p:cNvSpPr>
          <p:nvPr/>
        </p:nvSpPr>
        <p:spPr bwMode="auto">
          <a:xfrm>
            <a:off x="5395548" y="3552250"/>
            <a:ext cx="222250" cy="0"/>
          </a:xfrm>
          <a:prstGeom prst="line">
            <a:avLst/>
          </a:prstGeom>
          <a:noFill/>
          <a:ln w="22225" cap="flat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87" name="Line 84">
            <a:extLst>
              <a:ext uri="{FF2B5EF4-FFF2-40B4-BE49-F238E27FC236}">
                <a16:creationId xmlns:a16="http://schemas.microsoft.com/office/drawing/2014/main" id="{751B69AB-45E8-4350-8BF4-0E6043B55329}"/>
              </a:ext>
            </a:extLst>
          </p:cNvPr>
          <p:cNvSpPr>
            <a:spLocks noChangeShapeType="1"/>
          </p:cNvSpPr>
          <p:nvPr/>
        </p:nvSpPr>
        <p:spPr bwMode="auto">
          <a:xfrm>
            <a:off x="4849448" y="3685600"/>
            <a:ext cx="222250" cy="0"/>
          </a:xfrm>
          <a:prstGeom prst="line">
            <a:avLst/>
          </a:prstGeom>
          <a:noFill/>
          <a:ln w="22225" cap="flat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88" name="Line 85">
            <a:extLst>
              <a:ext uri="{FF2B5EF4-FFF2-40B4-BE49-F238E27FC236}">
                <a16:creationId xmlns:a16="http://schemas.microsoft.com/office/drawing/2014/main" id="{5358BA5E-C495-450B-A8D2-FF26C49FCA80}"/>
              </a:ext>
            </a:extLst>
          </p:cNvPr>
          <p:cNvSpPr>
            <a:spLocks noChangeShapeType="1"/>
          </p:cNvSpPr>
          <p:nvPr/>
        </p:nvSpPr>
        <p:spPr bwMode="auto">
          <a:xfrm>
            <a:off x="4968510" y="3685600"/>
            <a:ext cx="0" cy="265113"/>
          </a:xfrm>
          <a:prstGeom prst="line">
            <a:avLst/>
          </a:prstGeom>
          <a:noFill/>
          <a:ln w="25400" cap="flat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89" name="Line 86">
            <a:extLst>
              <a:ext uri="{FF2B5EF4-FFF2-40B4-BE49-F238E27FC236}">
                <a16:creationId xmlns:a16="http://schemas.microsoft.com/office/drawing/2014/main" id="{A3771B64-64AB-40FF-A1A9-307F5A5A6E8C}"/>
              </a:ext>
            </a:extLst>
          </p:cNvPr>
          <p:cNvSpPr>
            <a:spLocks noChangeShapeType="1"/>
          </p:cNvSpPr>
          <p:nvPr/>
        </p:nvSpPr>
        <p:spPr bwMode="auto">
          <a:xfrm>
            <a:off x="4968510" y="3950712"/>
            <a:ext cx="479425" cy="0"/>
          </a:xfrm>
          <a:prstGeom prst="line">
            <a:avLst/>
          </a:prstGeom>
          <a:noFill/>
          <a:ln w="25400" cap="flat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90" name="Line 87">
            <a:extLst>
              <a:ext uri="{FF2B5EF4-FFF2-40B4-BE49-F238E27FC236}">
                <a16:creationId xmlns:a16="http://schemas.microsoft.com/office/drawing/2014/main" id="{94CC1847-ABCB-4391-AD2F-B00C20B96B3D}"/>
              </a:ext>
            </a:extLst>
          </p:cNvPr>
          <p:cNvSpPr>
            <a:spLocks noChangeShapeType="1"/>
          </p:cNvSpPr>
          <p:nvPr/>
        </p:nvSpPr>
        <p:spPr bwMode="auto">
          <a:xfrm>
            <a:off x="5447935" y="3552250"/>
            <a:ext cx="0" cy="398463"/>
          </a:xfrm>
          <a:prstGeom prst="line">
            <a:avLst/>
          </a:prstGeom>
          <a:noFill/>
          <a:ln w="25400" cap="flat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91" name="Line 88">
            <a:extLst>
              <a:ext uri="{FF2B5EF4-FFF2-40B4-BE49-F238E27FC236}">
                <a16:creationId xmlns:a16="http://schemas.microsoft.com/office/drawing/2014/main" id="{819115B3-DBEF-4583-825A-B2F4544C7811}"/>
              </a:ext>
            </a:extLst>
          </p:cNvPr>
          <p:cNvSpPr>
            <a:spLocks noChangeShapeType="1"/>
          </p:cNvSpPr>
          <p:nvPr/>
        </p:nvSpPr>
        <p:spPr bwMode="auto">
          <a:xfrm>
            <a:off x="5566998" y="3552250"/>
            <a:ext cx="0" cy="331788"/>
          </a:xfrm>
          <a:prstGeom prst="line">
            <a:avLst/>
          </a:prstGeom>
          <a:noFill/>
          <a:ln w="25400" cap="flat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92" name="Line 89">
            <a:extLst>
              <a:ext uri="{FF2B5EF4-FFF2-40B4-BE49-F238E27FC236}">
                <a16:creationId xmlns:a16="http://schemas.microsoft.com/office/drawing/2014/main" id="{C7FC1A57-E14B-4723-953E-F9DB3606CC05}"/>
              </a:ext>
            </a:extLst>
          </p:cNvPr>
          <p:cNvSpPr>
            <a:spLocks noChangeShapeType="1"/>
          </p:cNvSpPr>
          <p:nvPr/>
        </p:nvSpPr>
        <p:spPr bwMode="auto">
          <a:xfrm>
            <a:off x="5566998" y="3884037"/>
            <a:ext cx="614363" cy="0"/>
          </a:xfrm>
          <a:prstGeom prst="line">
            <a:avLst/>
          </a:prstGeom>
          <a:noFill/>
          <a:ln w="25400" cap="flat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93" name="Line 90">
            <a:extLst>
              <a:ext uri="{FF2B5EF4-FFF2-40B4-BE49-F238E27FC236}">
                <a16:creationId xmlns:a16="http://schemas.microsoft.com/office/drawing/2014/main" id="{7DFD4D70-1A74-4675-8426-5D503C111EB5}"/>
              </a:ext>
            </a:extLst>
          </p:cNvPr>
          <p:cNvSpPr>
            <a:spLocks noChangeShapeType="1"/>
          </p:cNvSpPr>
          <p:nvPr/>
        </p:nvSpPr>
        <p:spPr bwMode="auto">
          <a:xfrm>
            <a:off x="6181360" y="3552250"/>
            <a:ext cx="0" cy="331788"/>
          </a:xfrm>
          <a:prstGeom prst="line">
            <a:avLst/>
          </a:prstGeom>
          <a:noFill/>
          <a:ln w="25400" cap="flat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94" name="Freeform 91">
            <a:extLst>
              <a:ext uri="{FF2B5EF4-FFF2-40B4-BE49-F238E27FC236}">
                <a16:creationId xmlns:a16="http://schemas.microsoft.com/office/drawing/2014/main" id="{13C175AA-8AA6-4330-8542-595BD7B6F532}"/>
              </a:ext>
            </a:extLst>
          </p:cNvPr>
          <p:cNvSpPr>
            <a:spLocks/>
          </p:cNvSpPr>
          <p:nvPr/>
        </p:nvSpPr>
        <p:spPr bwMode="auto">
          <a:xfrm>
            <a:off x="5703523" y="3950712"/>
            <a:ext cx="298450" cy="660400"/>
          </a:xfrm>
          <a:custGeom>
            <a:avLst/>
            <a:gdLst>
              <a:gd name="T0" fmla="*/ 0 w 188"/>
              <a:gd name="T1" fmla="*/ 277 h 416"/>
              <a:gd name="T2" fmla="*/ 63 w 188"/>
              <a:gd name="T3" fmla="*/ 208 h 416"/>
              <a:gd name="T4" fmla="*/ 0 w 188"/>
              <a:gd name="T5" fmla="*/ 139 h 416"/>
              <a:gd name="T6" fmla="*/ 0 w 188"/>
              <a:gd name="T7" fmla="*/ 0 h 416"/>
              <a:gd name="T8" fmla="*/ 188 w 188"/>
              <a:gd name="T9" fmla="*/ 139 h 416"/>
              <a:gd name="T10" fmla="*/ 188 w 188"/>
              <a:gd name="T11" fmla="*/ 277 h 416"/>
              <a:gd name="T12" fmla="*/ 0 w 188"/>
              <a:gd name="T13" fmla="*/ 416 h 416"/>
              <a:gd name="T14" fmla="*/ 0 w 188"/>
              <a:gd name="T15" fmla="*/ 277 h 4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188" h="416">
                <a:moveTo>
                  <a:pt x="0" y="277"/>
                </a:moveTo>
                <a:lnTo>
                  <a:pt x="63" y="208"/>
                </a:lnTo>
                <a:lnTo>
                  <a:pt x="0" y="139"/>
                </a:lnTo>
                <a:lnTo>
                  <a:pt x="0" y="0"/>
                </a:lnTo>
                <a:lnTo>
                  <a:pt x="188" y="139"/>
                </a:lnTo>
                <a:lnTo>
                  <a:pt x="188" y="277"/>
                </a:lnTo>
                <a:lnTo>
                  <a:pt x="0" y="416"/>
                </a:lnTo>
                <a:lnTo>
                  <a:pt x="0" y="277"/>
                </a:lnTo>
              </a:path>
            </a:pathLst>
          </a:custGeom>
          <a:noFill/>
          <a:ln w="22225" cap="rnd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95" name="Rectangle 92">
            <a:extLst>
              <a:ext uri="{FF2B5EF4-FFF2-40B4-BE49-F238E27FC236}">
                <a16:creationId xmlns:a16="http://schemas.microsoft.com/office/drawing/2014/main" id="{F14E221B-0D5F-4BD8-85D1-25066631F744}"/>
              </a:ext>
            </a:extLst>
          </p:cNvPr>
          <p:cNvSpPr>
            <a:spLocks noChangeArrowheads="1"/>
          </p:cNvSpPr>
          <p:nvPr/>
        </p:nvSpPr>
        <p:spPr bwMode="auto">
          <a:xfrm rot="5400000">
            <a:off x="5537709" y="4157803"/>
            <a:ext cx="663574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zh-CN" altLang="zh-CN" sz="1600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rPr>
              <a:t>ALU</a:t>
            </a:r>
            <a:endParaRPr kumimoji="0" lang="zh-CN" altLang="zh-CN" sz="160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  <a:ea typeface="SimHei" panose="02010609060101010101" pitchFamily="49" charset="-122"/>
            </a:endParaRPr>
          </a:p>
        </p:txBody>
      </p:sp>
      <p:sp>
        <p:nvSpPr>
          <p:cNvPr id="96" name="Rectangle 93">
            <a:extLst>
              <a:ext uri="{FF2B5EF4-FFF2-40B4-BE49-F238E27FC236}">
                <a16:creationId xmlns:a16="http://schemas.microsoft.com/office/drawing/2014/main" id="{37F1AD0F-CF34-4FA0-B07A-9E7CCAD8CE9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60510" y="4128512"/>
            <a:ext cx="198772" cy="2154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zh-CN" altLang="zh-CN" sz="1400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rPr>
              <a:t>IM</a:t>
            </a:r>
            <a:endParaRPr kumimoji="0" lang="zh-CN" altLang="zh-CN" sz="180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  <a:ea typeface="SimHei" panose="02010609060101010101" pitchFamily="49" charset="-122"/>
            </a:endParaRPr>
          </a:p>
        </p:txBody>
      </p:sp>
      <p:sp>
        <p:nvSpPr>
          <p:cNvPr id="97" name="Freeform 94">
            <a:extLst>
              <a:ext uri="{FF2B5EF4-FFF2-40B4-BE49-F238E27FC236}">
                <a16:creationId xmlns:a16="http://schemas.microsoft.com/office/drawing/2014/main" id="{A2449FCD-3840-4C45-BB74-B1DCC5ABDCE5}"/>
              </a:ext>
            </a:extLst>
          </p:cNvPr>
          <p:cNvSpPr>
            <a:spLocks/>
          </p:cNvSpPr>
          <p:nvPr/>
        </p:nvSpPr>
        <p:spPr bwMode="auto">
          <a:xfrm>
            <a:off x="4387485" y="4082475"/>
            <a:ext cx="238125" cy="396875"/>
          </a:xfrm>
          <a:custGeom>
            <a:avLst/>
            <a:gdLst>
              <a:gd name="T0" fmla="*/ 150 w 150"/>
              <a:gd name="T1" fmla="*/ 0 h 250"/>
              <a:gd name="T2" fmla="*/ 0 w 150"/>
              <a:gd name="T3" fmla="*/ 0 h 250"/>
              <a:gd name="T4" fmla="*/ 0 w 150"/>
              <a:gd name="T5" fmla="*/ 250 h 250"/>
              <a:gd name="T6" fmla="*/ 150 w 150"/>
              <a:gd name="T7" fmla="*/ 250 h 2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150" h="250">
                <a:moveTo>
                  <a:pt x="150" y="0"/>
                </a:moveTo>
                <a:lnTo>
                  <a:pt x="0" y="0"/>
                </a:lnTo>
                <a:lnTo>
                  <a:pt x="0" y="250"/>
                </a:lnTo>
                <a:lnTo>
                  <a:pt x="150" y="250"/>
                </a:lnTo>
              </a:path>
            </a:pathLst>
          </a:custGeom>
          <a:noFill/>
          <a:ln w="22225" cap="rnd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98" name="Freeform 95">
            <a:extLst>
              <a:ext uri="{FF2B5EF4-FFF2-40B4-BE49-F238E27FC236}">
                <a16:creationId xmlns:a16="http://schemas.microsoft.com/office/drawing/2014/main" id="{1F44C007-37A9-415A-B393-08C464169FEC}"/>
              </a:ext>
            </a:extLst>
          </p:cNvPr>
          <p:cNvSpPr>
            <a:spLocks/>
          </p:cNvSpPr>
          <p:nvPr/>
        </p:nvSpPr>
        <p:spPr bwMode="auto">
          <a:xfrm>
            <a:off x="4627198" y="4082475"/>
            <a:ext cx="238125" cy="396875"/>
          </a:xfrm>
          <a:custGeom>
            <a:avLst/>
            <a:gdLst>
              <a:gd name="T0" fmla="*/ 0 w 150"/>
              <a:gd name="T1" fmla="*/ 0 h 250"/>
              <a:gd name="T2" fmla="*/ 150 w 150"/>
              <a:gd name="T3" fmla="*/ 0 h 250"/>
              <a:gd name="T4" fmla="*/ 150 w 150"/>
              <a:gd name="T5" fmla="*/ 250 h 250"/>
              <a:gd name="T6" fmla="*/ 0 w 150"/>
              <a:gd name="T7" fmla="*/ 250 h 2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150" h="250">
                <a:moveTo>
                  <a:pt x="0" y="0"/>
                </a:moveTo>
                <a:lnTo>
                  <a:pt x="150" y="0"/>
                </a:lnTo>
                <a:lnTo>
                  <a:pt x="150" y="250"/>
                </a:lnTo>
                <a:lnTo>
                  <a:pt x="0" y="250"/>
                </a:lnTo>
              </a:path>
            </a:pathLst>
          </a:custGeom>
          <a:noFill/>
          <a:ln w="22225" cap="rnd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99" name="Rectangle 96">
            <a:extLst>
              <a:ext uri="{FF2B5EF4-FFF2-40B4-BE49-F238E27FC236}">
                <a16:creationId xmlns:a16="http://schemas.microsoft.com/office/drawing/2014/main" id="{6C73E4F6-C373-4029-A938-3FF8591EC9D4}"/>
              </a:ext>
            </a:extLst>
          </p:cNvPr>
          <p:cNvSpPr>
            <a:spLocks noChangeArrowheads="1"/>
          </p:cNvSpPr>
          <p:nvPr/>
        </p:nvSpPr>
        <p:spPr bwMode="auto">
          <a:xfrm>
            <a:off x="5092335" y="4136450"/>
            <a:ext cx="328616" cy="2154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zh-CN" altLang="zh-CN" sz="1400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rPr>
              <a:t>Reg</a:t>
            </a:r>
            <a:endParaRPr kumimoji="0" lang="zh-CN" altLang="zh-CN" sz="180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  <a:ea typeface="SimHei" panose="02010609060101010101" pitchFamily="49" charset="-122"/>
            </a:endParaRPr>
          </a:p>
        </p:txBody>
      </p:sp>
      <p:sp>
        <p:nvSpPr>
          <p:cNvPr id="100" name="Freeform 97">
            <a:extLst>
              <a:ext uri="{FF2B5EF4-FFF2-40B4-BE49-F238E27FC236}">
                <a16:creationId xmlns:a16="http://schemas.microsoft.com/office/drawing/2014/main" id="{6B637AF5-9301-41CB-881B-014ED83F510D}"/>
              </a:ext>
            </a:extLst>
          </p:cNvPr>
          <p:cNvSpPr>
            <a:spLocks/>
          </p:cNvSpPr>
          <p:nvPr/>
        </p:nvSpPr>
        <p:spPr bwMode="auto">
          <a:xfrm>
            <a:off x="5036773" y="4082475"/>
            <a:ext cx="212725" cy="396875"/>
          </a:xfrm>
          <a:custGeom>
            <a:avLst/>
            <a:gdLst>
              <a:gd name="T0" fmla="*/ 134 w 134"/>
              <a:gd name="T1" fmla="*/ 0 h 250"/>
              <a:gd name="T2" fmla="*/ 0 w 134"/>
              <a:gd name="T3" fmla="*/ 0 h 250"/>
              <a:gd name="T4" fmla="*/ 0 w 134"/>
              <a:gd name="T5" fmla="*/ 250 h 250"/>
              <a:gd name="T6" fmla="*/ 134 w 134"/>
              <a:gd name="T7" fmla="*/ 250 h 2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134" h="250">
                <a:moveTo>
                  <a:pt x="134" y="0"/>
                </a:moveTo>
                <a:lnTo>
                  <a:pt x="0" y="0"/>
                </a:lnTo>
                <a:lnTo>
                  <a:pt x="0" y="250"/>
                </a:lnTo>
                <a:lnTo>
                  <a:pt x="134" y="250"/>
                </a:lnTo>
              </a:path>
            </a:pathLst>
          </a:custGeom>
          <a:noFill/>
          <a:ln w="22225" cap="rnd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101" name="Freeform 98">
            <a:extLst>
              <a:ext uri="{FF2B5EF4-FFF2-40B4-BE49-F238E27FC236}">
                <a16:creationId xmlns:a16="http://schemas.microsoft.com/office/drawing/2014/main" id="{4327E6DF-F384-491B-AAA8-80D3690C41FD}"/>
              </a:ext>
            </a:extLst>
          </p:cNvPr>
          <p:cNvSpPr>
            <a:spLocks/>
          </p:cNvSpPr>
          <p:nvPr/>
        </p:nvSpPr>
        <p:spPr bwMode="auto">
          <a:xfrm>
            <a:off x="5251085" y="4082475"/>
            <a:ext cx="212725" cy="396875"/>
          </a:xfrm>
          <a:custGeom>
            <a:avLst/>
            <a:gdLst>
              <a:gd name="T0" fmla="*/ 0 w 134"/>
              <a:gd name="T1" fmla="*/ 0 h 250"/>
              <a:gd name="T2" fmla="*/ 134 w 134"/>
              <a:gd name="T3" fmla="*/ 0 h 250"/>
              <a:gd name="T4" fmla="*/ 134 w 134"/>
              <a:gd name="T5" fmla="*/ 250 h 250"/>
              <a:gd name="T6" fmla="*/ 0 w 134"/>
              <a:gd name="T7" fmla="*/ 250 h 2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134" h="250">
                <a:moveTo>
                  <a:pt x="0" y="0"/>
                </a:moveTo>
                <a:lnTo>
                  <a:pt x="134" y="0"/>
                </a:lnTo>
                <a:lnTo>
                  <a:pt x="134" y="250"/>
                </a:lnTo>
                <a:lnTo>
                  <a:pt x="0" y="250"/>
                </a:lnTo>
              </a:path>
            </a:pathLst>
          </a:custGeom>
          <a:noFill/>
          <a:ln w="22225" cap="rnd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102" name="Line 99">
            <a:extLst>
              <a:ext uri="{FF2B5EF4-FFF2-40B4-BE49-F238E27FC236}">
                <a16:creationId xmlns:a16="http://schemas.microsoft.com/office/drawing/2014/main" id="{C432A9A1-CCD0-45F9-BCDB-40668648CEA2}"/>
              </a:ext>
            </a:extLst>
          </p:cNvPr>
          <p:cNvSpPr>
            <a:spLocks noChangeShapeType="1"/>
          </p:cNvSpPr>
          <p:nvPr/>
        </p:nvSpPr>
        <p:spPr bwMode="auto">
          <a:xfrm>
            <a:off x="4874848" y="4280912"/>
            <a:ext cx="161925" cy="0"/>
          </a:xfrm>
          <a:prstGeom prst="line">
            <a:avLst/>
          </a:prstGeom>
          <a:noFill/>
          <a:ln w="22225" cap="flat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103" name="Freeform 100">
            <a:extLst>
              <a:ext uri="{FF2B5EF4-FFF2-40B4-BE49-F238E27FC236}">
                <a16:creationId xmlns:a16="http://schemas.microsoft.com/office/drawing/2014/main" id="{291FC112-CB08-44F4-BE72-182EB4BDC2B6}"/>
              </a:ext>
            </a:extLst>
          </p:cNvPr>
          <p:cNvSpPr>
            <a:spLocks/>
          </p:cNvSpPr>
          <p:nvPr/>
        </p:nvSpPr>
        <p:spPr bwMode="auto">
          <a:xfrm>
            <a:off x="4968510" y="4149150"/>
            <a:ext cx="68263" cy="131763"/>
          </a:xfrm>
          <a:custGeom>
            <a:avLst/>
            <a:gdLst>
              <a:gd name="T0" fmla="*/ 0 w 43"/>
              <a:gd name="T1" fmla="*/ 83 h 83"/>
              <a:gd name="T2" fmla="*/ 0 w 43"/>
              <a:gd name="T3" fmla="*/ 0 h 83"/>
              <a:gd name="T4" fmla="*/ 43 w 43"/>
              <a:gd name="T5" fmla="*/ 0 h 8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43" h="83">
                <a:moveTo>
                  <a:pt x="0" y="83"/>
                </a:moveTo>
                <a:lnTo>
                  <a:pt x="0" y="0"/>
                </a:lnTo>
                <a:lnTo>
                  <a:pt x="43" y="0"/>
                </a:lnTo>
              </a:path>
            </a:pathLst>
          </a:custGeom>
          <a:noFill/>
          <a:ln w="22225" cap="rnd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104" name="Line 101">
            <a:extLst>
              <a:ext uri="{FF2B5EF4-FFF2-40B4-BE49-F238E27FC236}">
                <a16:creationId xmlns:a16="http://schemas.microsoft.com/office/drawing/2014/main" id="{E0DF47BA-A32E-4282-8CC2-835A0EB25B11}"/>
              </a:ext>
            </a:extLst>
          </p:cNvPr>
          <p:cNvSpPr>
            <a:spLocks noChangeShapeType="1"/>
          </p:cNvSpPr>
          <p:nvPr/>
        </p:nvSpPr>
        <p:spPr bwMode="auto">
          <a:xfrm>
            <a:off x="5463810" y="4149150"/>
            <a:ext cx="231775" cy="0"/>
          </a:xfrm>
          <a:prstGeom prst="line">
            <a:avLst/>
          </a:prstGeom>
          <a:noFill/>
          <a:ln w="22225" cap="flat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105" name="Rectangle 102">
            <a:extLst>
              <a:ext uri="{FF2B5EF4-FFF2-40B4-BE49-F238E27FC236}">
                <a16:creationId xmlns:a16="http://schemas.microsoft.com/office/drawing/2014/main" id="{028BDBEE-8199-4F2B-AD1B-ED99E7CACE4D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55973" y="4128512"/>
            <a:ext cx="278923" cy="2154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zh-CN" altLang="zh-CN" sz="1400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rPr>
              <a:t>DM</a:t>
            </a:r>
            <a:endParaRPr kumimoji="0" lang="zh-CN" altLang="zh-CN" sz="180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  <a:ea typeface="SimHei" panose="02010609060101010101" pitchFamily="49" charset="-122"/>
            </a:endParaRPr>
          </a:p>
        </p:txBody>
      </p:sp>
      <p:sp>
        <p:nvSpPr>
          <p:cNvPr id="106" name="Freeform 103">
            <a:extLst>
              <a:ext uri="{FF2B5EF4-FFF2-40B4-BE49-F238E27FC236}">
                <a16:creationId xmlns:a16="http://schemas.microsoft.com/office/drawing/2014/main" id="{7D5D0C3A-ED04-4F73-85B4-74D9B57C6D8C}"/>
              </a:ext>
            </a:extLst>
          </p:cNvPr>
          <p:cNvSpPr>
            <a:spLocks/>
          </p:cNvSpPr>
          <p:nvPr/>
        </p:nvSpPr>
        <p:spPr bwMode="auto">
          <a:xfrm>
            <a:off x="6249623" y="4082475"/>
            <a:ext cx="230188" cy="396875"/>
          </a:xfrm>
          <a:custGeom>
            <a:avLst/>
            <a:gdLst>
              <a:gd name="T0" fmla="*/ 145 w 145"/>
              <a:gd name="T1" fmla="*/ 0 h 250"/>
              <a:gd name="T2" fmla="*/ 0 w 145"/>
              <a:gd name="T3" fmla="*/ 0 h 250"/>
              <a:gd name="T4" fmla="*/ 0 w 145"/>
              <a:gd name="T5" fmla="*/ 250 h 250"/>
              <a:gd name="T6" fmla="*/ 145 w 145"/>
              <a:gd name="T7" fmla="*/ 250 h 2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145" h="250">
                <a:moveTo>
                  <a:pt x="145" y="0"/>
                </a:moveTo>
                <a:lnTo>
                  <a:pt x="0" y="0"/>
                </a:lnTo>
                <a:lnTo>
                  <a:pt x="0" y="250"/>
                </a:lnTo>
                <a:lnTo>
                  <a:pt x="145" y="250"/>
                </a:lnTo>
              </a:path>
            </a:pathLst>
          </a:custGeom>
          <a:noFill/>
          <a:ln w="22225" cap="rnd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107" name="Freeform 104">
            <a:extLst>
              <a:ext uri="{FF2B5EF4-FFF2-40B4-BE49-F238E27FC236}">
                <a16:creationId xmlns:a16="http://schemas.microsoft.com/office/drawing/2014/main" id="{55717B83-5EE0-48C8-871A-BC2BEBE42EF3}"/>
              </a:ext>
            </a:extLst>
          </p:cNvPr>
          <p:cNvSpPr>
            <a:spLocks/>
          </p:cNvSpPr>
          <p:nvPr/>
        </p:nvSpPr>
        <p:spPr bwMode="auto">
          <a:xfrm>
            <a:off x="6481398" y="4082475"/>
            <a:ext cx="228600" cy="396875"/>
          </a:xfrm>
          <a:custGeom>
            <a:avLst/>
            <a:gdLst>
              <a:gd name="T0" fmla="*/ 0 w 144"/>
              <a:gd name="T1" fmla="*/ 0 h 250"/>
              <a:gd name="T2" fmla="*/ 144 w 144"/>
              <a:gd name="T3" fmla="*/ 0 h 250"/>
              <a:gd name="T4" fmla="*/ 144 w 144"/>
              <a:gd name="T5" fmla="*/ 250 h 250"/>
              <a:gd name="T6" fmla="*/ 0 w 144"/>
              <a:gd name="T7" fmla="*/ 250 h 2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144" h="250">
                <a:moveTo>
                  <a:pt x="0" y="0"/>
                </a:moveTo>
                <a:lnTo>
                  <a:pt x="144" y="0"/>
                </a:lnTo>
                <a:lnTo>
                  <a:pt x="144" y="250"/>
                </a:lnTo>
                <a:lnTo>
                  <a:pt x="0" y="250"/>
                </a:lnTo>
              </a:path>
            </a:pathLst>
          </a:custGeom>
          <a:noFill/>
          <a:ln w="22225" cap="rnd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108" name="Rectangle 105">
            <a:extLst>
              <a:ext uri="{FF2B5EF4-FFF2-40B4-BE49-F238E27FC236}">
                <a16:creationId xmlns:a16="http://schemas.microsoft.com/office/drawing/2014/main" id="{23441D16-1EE5-4A9D-B754-6CF9E1638F8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956060" y="4128512"/>
            <a:ext cx="328616" cy="2154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zh-CN" altLang="zh-CN" sz="1400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rPr>
              <a:t>Reg</a:t>
            </a:r>
            <a:endParaRPr kumimoji="0" lang="zh-CN" altLang="zh-CN" sz="180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  <a:ea typeface="SimHei" panose="02010609060101010101" pitchFamily="49" charset="-122"/>
            </a:endParaRPr>
          </a:p>
        </p:txBody>
      </p:sp>
      <p:sp>
        <p:nvSpPr>
          <p:cNvPr id="109" name="Freeform 106">
            <a:extLst>
              <a:ext uri="{FF2B5EF4-FFF2-40B4-BE49-F238E27FC236}">
                <a16:creationId xmlns:a16="http://schemas.microsoft.com/office/drawing/2014/main" id="{9F6FDC9F-6D6D-4E55-93F2-D9ED1FF18F77}"/>
              </a:ext>
            </a:extLst>
          </p:cNvPr>
          <p:cNvSpPr>
            <a:spLocks/>
          </p:cNvSpPr>
          <p:nvPr/>
        </p:nvSpPr>
        <p:spPr bwMode="auto">
          <a:xfrm>
            <a:off x="6916373" y="4082475"/>
            <a:ext cx="195263" cy="396875"/>
          </a:xfrm>
          <a:custGeom>
            <a:avLst/>
            <a:gdLst>
              <a:gd name="T0" fmla="*/ 123 w 123"/>
              <a:gd name="T1" fmla="*/ 0 h 250"/>
              <a:gd name="T2" fmla="*/ 0 w 123"/>
              <a:gd name="T3" fmla="*/ 0 h 250"/>
              <a:gd name="T4" fmla="*/ 0 w 123"/>
              <a:gd name="T5" fmla="*/ 250 h 250"/>
              <a:gd name="T6" fmla="*/ 123 w 123"/>
              <a:gd name="T7" fmla="*/ 250 h 2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123" h="250">
                <a:moveTo>
                  <a:pt x="123" y="0"/>
                </a:moveTo>
                <a:lnTo>
                  <a:pt x="0" y="0"/>
                </a:lnTo>
                <a:lnTo>
                  <a:pt x="0" y="250"/>
                </a:lnTo>
                <a:lnTo>
                  <a:pt x="123" y="250"/>
                </a:lnTo>
              </a:path>
            </a:pathLst>
          </a:custGeom>
          <a:noFill/>
          <a:ln w="22225" cap="rnd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110" name="Freeform 107">
            <a:extLst>
              <a:ext uri="{FF2B5EF4-FFF2-40B4-BE49-F238E27FC236}">
                <a16:creationId xmlns:a16="http://schemas.microsoft.com/office/drawing/2014/main" id="{4F02CE88-7795-4ADD-88CD-5FCD29ED6A87}"/>
              </a:ext>
            </a:extLst>
          </p:cNvPr>
          <p:cNvSpPr>
            <a:spLocks/>
          </p:cNvSpPr>
          <p:nvPr/>
        </p:nvSpPr>
        <p:spPr bwMode="auto">
          <a:xfrm>
            <a:off x="7113223" y="4082475"/>
            <a:ext cx="203200" cy="396875"/>
          </a:xfrm>
          <a:custGeom>
            <a:avLst/>
            <a:gdLst>
              <a:gd name="T0" fmla="*/ 0 w 128"/>
              <a:gd name="T1" fmla="*/ 0 h 250"/>
              <a:gd name="T2" fmla="*/ 128 w 128"/>
              <a:gd name="T3" fmla="*/ 0 h 250"/>
              <a:gd name="T4" fmla="*/ 128 w 128"/>
              <a:gd name="T5" fmla="*/ 250 h 250"/>
              <a:gd name="T6" fmla="*/ 0 w 128"/>
              <a:gd name="T7" fmla="*/ 250 h 2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128" h="250">
                <a:moveTo>
                  <a:pt x="0" y="0"/>
                </a:moveTo>
                <a:lnTo>
                  <a:pt x="128" y="0"/>
                </a:lnTo>
                <a:lnTo>
                  <a:pt x="128" y="250"/>
                </a:lnTo>
                <a:lnTo>
                  <a:pt x="0" y="250"/>
                </a:lnTo>
              </a:path>
            </a:pathLst>
          </a:custGeom>
          <a:noFill/>
          <a:ln w="22225" cap="rnd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111" name="Line 108">
            <a:extLst>
              <a:ext uri="{FF2B5EF4-FFF2-40B4-BE49-F238E27FC236}">
                <a16:creationId xmlns:a16="http://schemas.microsoft.com/office/drawing/2014/main" id="{81800D60-8852-4963-8208-EDCB6E53C785}"/>
              </a:ext>
            </a:extLst>
          </p:cNvPr>
          <p:cNvSpPr>
            <a:spLocks noChangeShapeType="1"/>
          </p:cNvSpPr>
          <p:nvPr/>
        </p:nvSpPr>
        <p:spPr bwMode="auto">
          <a:xfrm>
            <a:off x="6703648" y="4280912"/>
            <a:ext cx="195263" cy="0"/>
          </a:xfrm>
          <a:prstGeom prst="line">
            <a:avLst/>
          </a:prstGeom>
          <a:noFill/>
          <a:ln w="22225" cap="flat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112" name="Line 109">
            <a:extLst>
              <a:ext uri="{FF2B5EF4-FFF2-40B4-BE49-F238E27FC236}">
                <a16:creationId xmlns:a16="http://schemas.microsoft.com/office/drawing/2014/main" id="{3EDF1A3C-B6A4-4221-B6B9-CAC276F50DFB}"/>
              </a:ext>
            </a:extLst>
          </p:cNvPr>
          <p:cNvSpPr>
            <a:spLocks noChangeShapeType="1"/>
          </p:cNvSpPr>
          <p:nvPr/>
        </p:nvSpPr>
        <p:spPr bwMode="auto">
          <a:xfrm>
            <a:off x="6019435" y="4280912"/>
            <a:ext cx="214313" cy="0"/>
          </a:xfrm>
          <a:prstGeom prst="line">
            <a:avLst/>
          </a:prstGeom>
          <a:noFill/>
          <a:ln w="22225" cap="flat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113" name="Line 110">
            <a:extLst>
              <a:ext uri="{FF2B5EF4-FFF2-40B4-BE49-F238E27FC236}">
                <a16:creationId xmlns:a16="http://schemas.microsoft.com/office/drawing/2014/main" id="{5C719B8D-40AA-46AF-8EFB-3C5B8AC3F6C6}"/>
              </a:ext>
            </a:extLst>
          </p:cNvPr>
          <p:cNvSpPr>
            <a:spLocks noChangeShapeType="1"/>
          </p:cNvSpPr>
          <p:nvPr/>
        </p:nvSpPr>
        <p:spPr bwMode="auto">
          <a:xfrm>
            <a:off x="5463810" y="4414262"/>
            <a:ext cx="231775" cy="0"/>
          </a:xfrm>
          <a:prstGeom prst="line">
            <a:avLst/>
          </a:prstGeom>
          <a:noFill/>
          <a:ln w="22225" cap="flat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114" name="Line 111">
            <a:extLst>
              <a:ext uri="{FF2B5EF4-FFF2-40B4-BE49-F238E27FC236}">
                <a16:creationId xmlns:a16="http://schemas.microsoft.com/office/drawing/2014/main" id="{8B9BC091-0985-4751-A992-4FC1F4B4A48F}"/>
              </a:ext>
            </a:extLst>
          </p:cNvPr>
          <p:cNvSpPr>
            <a:spLocks noChangeShapeType="1"/>
          </p:cNvSpPr>
          <p:nvPr/>
        </p:nvSpPr>
        <p:spPr bwMode="auto">
          <a:xfrm>
            <a:off x="5584460" y="4414262"/>
            <a:ext cx="0" cy="265113"/>
          </a:xfrm>
          <a:prstGeom prst="line">
            <a:avLst/>
          </a:prstGeom>
          <a:noFill/>
          <a:ln w="25400" cap="flat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115" name="Line 112">
            <a:extLst>
              <a:ext uri="{FF2B5EF4-FFF2-40B4-BE49-F238E27FC236}">
                <a16:creationId xmlns:a16="http://schemas.microsoft.com/office/drawing/2014/main" id="{8C04E4F3-9DAB-4743-8FF2-72CF0D35A1F6}"/>
              </a:ext>
            </a:extLst>
          </p:cNvPr>
          <p:cNvSpPr>
            <a:spLocks noChangeShapeType="1"/>
          </p:cNvSpPr>
          <p:nvPr/>
        </p:nvSpPr>
        <p:spPr bwMode="auto">
          <a:xfrm>
            <a:off x="5584460" y="4679375"/>
            <a:ext cx="477838" cy="0"/>
          </a:xfrm>
          <a:prstGeom prst="line">
            <a:avLst/>
          </a:prstGeom>
          <a:noFill/>
          <a:ln w="25400" cap="flat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116" name="Line 113">
            <a:extLst>
              <a:ext uri="{FF2B5EF4-FFF2-40B4-BE49-F238E27FC236}">
                <a16:creationId xmlns:a16="http://schemas.microsoft.com/office/drawing/2014/main" id="{5054608B-5C61-476B-A8CB-703832F7D11D}"/>
              </a:ext>
            </a:extLst>
          </p:cNvPr>
          <p:cNvSpPr>
            <a:spLocks noChangeShapeType="1"/>
          </p:cNvSpPr>
          <p:nvPr/>
        </p:nvSpPr>
        <p:spPr bwMode="auto">
          <a:xfrm>
            <a:off x="6062298" y="4280912"/>
            <a:ext cx="0" cy="398463"/>
          </a:xfrm>
          <a:prstGeom prst="line">
            <a:avLst/>
          </a:prstGeom>
          <a:noFill/>
          <a:ln w="25400" cap="flat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117" name="Line 114">
            <a:extLst>
              <a:ext uri="{FF2B5EF4-FFF2-40B4-BE49-F238E27FC236}">
                <a16:creationId xmlns:a16="http://schemas.microsoft.com/office/drawing/2014/main" id="{9AF4039C-9A21-4AF7-A6B8-2471068CB901}"/>
              </a:ext>
            </a:extLst>
          </p:cNvPr>
          <p:cNvSpPr>
            <a:spLocks noChangeShapeType="1"/>
          </p:cNvSpPr>
          <p:nvPr/>
        </p:nvSpPr>
        <p:spPr bwMode="auto">
          <a:xfrm>
            <a:off x="6181360" y="4280912"/>
            <a:ext cx="0" cy="331788"/>
          </a:xfrm>
          <a:prstGeom prst="line">
            <a:avLst/>
          </a:prstGeom>
          <a:noFill/>
          <a:ln w="25400" cap="flat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118" name="Line 115">
            <a:extLst>
              <a:ext uri="{FF2B5EF4-FFF2-40B4-BE49-F238E27FC236}">
                <a16:creationId xmlns:a16="http://schemas.microsoft.com/office/drawing/2014/main" id="{FCAF8CBB-677D-49D9-9741-9A73D5263419}"/>
              </a:ext>
            </a:extLst>
          </p:cNvPr>
          <p:cNvSpPr>
            <a:spLocks noChangeShapeType="1"/>
          </p:cNvSpPr>
          <p:nvPr/>
        </p:nvSpPr>
        <p:spPr bwMode="auto">
          <a:xfrm>
            <a:off x="6181360" y="4612700"/>
            <a:ext cx="615950" cy="0"/>
          </a:xfrm>
          <a:prstGeom prst="line">
            <a:avLst/>
          </a:prstGeom>
          <a:noFill/>
          <a:ln w="25400" cap="flat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119" name="Line 116">
            <a:extLst>
              <a:ext uri="{FF2B5EF4-FFF2-40B4-BE49-F238E27FC236}">
                <a16:creationId xmlns:a16="http://schemas.microsoft.com/office/drawing/2014/main" id="{674157D6-0F7C-46E3-A4DB-6A1324A2380D}"/>
              </a:ext>
            </a:extLst>
          </p:cNvPr>
          <p:cNvSpPr>
            <a:spLocks noChangeShapeType="1"/>
          </p:cNvSpPr>
          <p:nvPr/>
        </p:nvSpPr>
        <p:spPr bwMode="auto">
          <a:xfrm>
            <a:off x="6797310" y="4280912"/>
            <a:ext cx="0" cy="331788"/>
          </a:xfrm>
          <a:prstGeom prst="line">
            <a:avLst/>
          </a:prstGeom>
          <a:noFill/>
          <a:ln w="25400" cap="flat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120" name="Freeform 117">
            <a:extLst>
              <a:ext uri="{FF2B5EF4-FFF2-40B4-BE49-F238E27FC236}">
                <a16:creationId xmlns:a16="http://schemas.microsoft.com/office/drawing/2014/main" id="{4D0C4E01-421A-49AB-9A24-14F9E49DBF1E}"/>
              </a:ext>
            </a:extLst>
          </p:cNvPr>
          <p:cNvSpPr>
            <a:spLocks/>
          </p:cNvSpPr>
          <p:nvPr/>
        </p:nvSpPr>
        <p:spPr bwMode="auto">
          <a:xfrm>
            <a:off x="6317885" y="4679375"/>
            <a:ext cx="298450" cy="661988"/>
          </a:xfrm>
          <a:custGeom>
            <a:avLst/>
            <a:gdLst>
              <a:gd name="T0" fmla="*/ 0 w 188"/>
              <a:gd name="T1" fmla="*/ 278 h 417"/>
              <a:gd name="T2" fmla="*/ 63 w 188"/>
              <a:gd name="T3" fmla="*/ 208 h 417"/>
              <a:gd name="T4" fmla="*/ 0 w 188"/>
              <a:gd name="T5" fmla="*/ 139 h 417"/>
              <a:gd name="T6" fmla="*/ 0 w 188"/>
              <a:gd name="T7" fmla="*/ 0 h 417"/>
              <a:gd name="T8" fmla="*/ 188 w 188"/>
              <a:gd name="T9" fmla="*/ 139 h 417"/>
              <a:gd name="T10" fmla="*/ 188 w 188"/>
              <a:gd name="T11" fmla="*/ 278 h 417"/>
              <a:gd name="T12" fmla="*/ 0 w 188"/>
              <a:gd name="T13" fmla="*/ 417 h 417"/>
              <a:gd name="T14" fmla="*/ 0 w 188"/>
              <a:gd name="T15" fmla="*/ 278 h 41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188" h="417">
                <a:moveTo>
                  <a:pt x="0" y="278"/>
                </a:moveTo>
                <a:lnTo>
                  <a:pt x="63" y="208"/>
                </a:lnTo>
                <a:lnTo>
                  <a:pt x="0" y="139"/>
                </a:lnTo>
                <a:lnTo>
                  <a:pt x="0" y="0"/>
                </a:lnTo>
                <a:lnTo>
                  <a:pt x="188" y="139"/>
                </a:lnTo>
                <a:lnTo>
                  <a:pt x="188" y="278"/>
                </a:lnTo>
                <a:lnTo>
                  <a:pt x="0" y="417"/>
                </a:lnTo>
                <a:lnTo>
                  <a:pt x="0" y="278"/>
                </a:lnTo>
              </a:path>
            </a:pathLst>
          </a:custGeom>
          <a:noFill/>
          <a:ln w="22225" cap="rnd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121" name="Rectangle 118">
            <a:extLst>
              <a:ext uri="{FF2B5EF4-FFF2-40B4-BE49-F238E27FC236}">
                <a16:creationId xmlns:a16="http://schemas.microsoft.com/office/drawing/2014/main" id="{15B2225A-2FA5-4FC4-82FF-8149DE769741}"/>
              </a:ext>
            </a:extLst>
          </p:cNvPr>
          <p:cNvSpPr>
            <a:spLocks noChangeArrowheads="1"/>
          </p:cNvSpPr>
          <p:nvPr/>
        </p:nvSpPr>
        <p:spPr bwMode="auto">
          <a:xfrm rot="5400000">
            <a:off x="6153659" y="4884878"/>
            <a:ext cx="663574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zh-CN" altLang="zh-CN" sz="1600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rPr>
              <a:t>ALU</a:t>
            </a:r>
            <a:endParaRPr kumimoji="0" lang="zh-CN" altLang="zh-CN" sz="160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  <a:ea typeface="SimHei" panose="02010609060101010101" pitchFamily="49" charset="-122"/>
            </a:endParaRPr>
          </a:p>
        </p:txBody>
      </p:sp>
      <p:sp>
        <p:nvSpPr>
          <p:cNvPr id="122" name="Rectangle 119">
            <a:extLst>
              <a:ext uri="{FF2B5EF4-FFF2-40B4-BE49-F238E27FC236}">
                <a16:creationId xmlns:a16="http://schemas.microsoft.com/office/drawing/2014/main" id="{DB35E561-01B1-4AF8-B7D9-A6F4AE3E736E}"/>
              </a:ext>
            </a:extLst>
          </p:cNvPr>
          <p:cNvSpPr>
            <a:spLocks noChangeArrowheads="1"/>
          </p:cNvSpPr>
          <p:nvPr/>
        </p:nvSpPr>
        <p:spPr bwMode="auto">
          <a:xfrm>
            <a:off x="5076460" y="4855587"/>
            <a:ext cx="198772" cy="2154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zh-CN" altLang="zh-CN" sz="1400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rPr>
              <a:t>IM</a:t>
            </a:r>
            <a:endParaRPr kumimoji="0" lang="zh-CN" altLang="zh-CN" sz="180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  <a:ea typeface="SimHei" panose="02010609060101010101" pitchFamily="49" charset="-122"/>
            </a:endParaRPr>
          </a:p>
        </p:txBody>
      </p:sp>
      <p:sp>
        <p:nvSpPr>
          <p:cNvPr id="123" name="Freeform 120">
            <a:extLst>
              <a:ext uri="{FF2B5EF4-FFF2-40B4-BE49-F238E27FC236}">
                <a16:creationId xmlns:a16="http://schemas.microsoft.com/office/drawing/2014/main" id="{45803962-9F7B-40B5-B7D2-0F20F2982379}"/>
              </a:ext>
            </a:extLst>
          </p:cNvPr>
          <p:cNvSpPr>
            <a:spLocks/>
          </p:cNvSpPr>
          <p:nvPr/>
        </p:nvSpPr>
        <p:spPr bwMode="auto">
          <a:xfrm>
            <a:off x="4993910" y="4811137"/>
            <a:ext cx="247650" cy="396875"/>
          </a:xfrm>
          <a:custGeom>
            <a:avLst/>
            <a:gdLst>
              <a:gd name="T0" fmla="*/ 156 w 156"/>
              <a:gd name="T1" fmla="*/ 0 h 250"/>
              <a:gd name="T2" fmla="*/ 0 w 156"/>
              <a:gd name="T3" fmla="*/ 0 h 250"/>
              <a:gd name="T4" fmla="*/ 0 w 156"/>
              <a:gd name="T5" fmla="*/ 250 h 250"/>
              <a:gd name="T6" fmla="*/ 156 w 156"/>
              <a:gd name="T7" fmla="*/ 250 h 2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156" h="250">
                <a:moveTo>
                  <a:pt x="156" y="0"/>
                </a:moveTo>
                <a:lnTo>
                  <a:pt x="0" y="0"/>
                </a:lnTo>
                <a:lnTo>
                  <a:pt x="0" y="250"/>
                </a:lnTo>
                <a:lnTo>
                  <a:pt x="156" y="250"/>
                </a:lnTo>
              </a:path>
            </a:pathLst>
          </a:custGeom>
          <a:noFill/>
          <a:ln w="22225" cap="rnd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124" name="Freeform 121">
            <a:extLst>
              <a:ext uri="{FF2B5EF4-FFF2-40B4-BE49-F238E27FC236}">
                <a16:creationId xmlns:a16="http://schemas.microsoft.com/office/drawing/2014/main" id="{332B01D7-7FB0-4AA1-AD6F-793156AADCDE}"/>
              </a:ext>
            </a:extLst>
          </p:cNvPr>
          <p:cNvSpPr>
            <a:spLocks/>
          </p:cNvSpPr>
          <p:nvPr/>
        </p:nvSpPr>
        <p:spPr bwMode="auto">
          <a:xfrm>
            <a:off x="5241560" y="4811137"/>
            <a:ext cx="238125" cy="396875"/>
          </a:xfrm>
          <a:custGeom>
            <a:avLst/>
            <a:gdLst>
              <a:gd name="T0" fmla="*/ 0 w 150"/>
              <a:gd name="T1" fmla="*/ 0 h 250"/>
              <a:gd name="T2" fmla="*/ 150 w 150"/>
              <a:gd name="T3" fmla="*/ 0 h 250"/>
              <a:gd name="T4" fmla="*/ 150 w 150"/>
              <a:gd name="T5" fmla="*/ 250 h 250"/>
              <a:gd name="T6" fmla="*/ 0 w 150"/>
              <a:gd name="T7" fmla="*/ 250 h 2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150" h="250">
                <a:moveTo>
                  <a:pt x="0" y="0"/>
                </a:moveTo>
                <a:lnTo>
                  <a:pt x="150" y="0"/>
                </a:lnTo>
                <a:lnTo>
                  <a:pt x="150" y="250"/>
                </a:lnTo>
                <a:lnTo>
                  <a:pt x="0" y="250"/>
                </a:lnTo>
              </a:path>
            </a:pathLst>
          </a:custGeom>
          <a:noFill/>
          <a:ln w="22225" cap="rnd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125" name="Rectangle 122">
            <a:extLst>
              <a:ext uri="{FF2B5EF4-FFF2-40B4-BE49-F238E27FC236}">
                <a16:creationId xmlns:a16="http://schemas.microsoft.com/office/drawing/2014/main" id="{B8E7E2E7-7598-4F36-BE41-4EC74E876BA7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06698" y="4865112"/>
            <a:ext cx="328616" cy="2154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zh-CN" altLang="zh-CN" sz="1400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rPr>
              <a:t>Reg</a:t>
            </a:r>
            <a:endParaRPr kumimoji="0" lang="zh-CN" altLang="zh-CN" sz="180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  <a:ea typeface="SimHei" panose="02010609060101010101" pitchFamily="49" charset="-122"/>
            </a:endParaRPr>
          </a:p>
        </p:txBody>
      </p:sp>
      <p:sp>
        <p:nvSpPr>
          <p:cNvPr id="126" name="Freeform 123">
            <a:extLst>
              <a:ext uri="{FF2B5EF4-FFF2-40B4-BE49-F238E27FC236}">
                <a16:creationId xmlns:a16="http://schemas.microsoft.com/office/drawing/2014/main" id="{61A8A14A-1341-4087-B04C-C5EEFA4AA36F}"/>
              </a:ext>
            </a:extLst>
          </p:cNvPr>
          <p:cNvSpPr>
            <a:spLocks/>
          </p:cNvSpPr>
          <p:nvPr/>
        </p:nvSpPr>
        <p:spPr bwMode="auto">
          <a:xfrm>
            <a:off x="5652723" y="4811137"/>
            <a:ext cx="212725" cy="396875"/>
          </a:xfrm>
          <a:custGeom>
            <a:avLst/>
            <a:gdLst>
              <a:gd name="T0" fmla="*/ 134 w 134"/>
              <a:gd name="T1" fmla="*/ 0 h 250"/>
              <a:gd name="T2" fmla="*/ 0 w 134"/>
              <a:gd name="T3" fmla="*/ 0 h 250"/>
              <a:gd name="T4" fmla="*/ 0 w 134"/>
              <a:gd name="T5" fmla="*/ 250 h 250"/>
              <a:gd name="T6" fmla="*/ 134 w 134"/>
              <a:gd name="T7" fmla="*/ 250 h 2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134" h="250">
                <a:moveTo>
                  <a:pt x="134" y="0"/>
                </a:moveTo>
                <a:lnTo>
                  <a:pt x="0" y="0"/>
                </a:lnTo>
                <a:lnTo>
                  <a:pt x="0" y="250"/>
                </a:lnTo>
                <a:lnTo>
                  <a:pt x="134" y="250"/>
                </a:lnTo>
              </a:path>
            </a:pathLst>
          </a:custGeom>
          <a:noFill/>
          <a:ln w="22225" cap="rnd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127" name="Freeform 124">
            <a:extLst>
              <a:ext uri="{FF2B5EF4-FFF2-40B4-BE49-F238E27FC236}">
                <a16:creationId xmlns:a16="http://schemas.microsoft.com/office/drawing/2014/main" id="{EB2EF4F3-29D7-4EB6-9E36-A663B3189379}"/>
              </a:ext>
            </a:extLst>
          </p:cNvPr>
          <p:cNvSpPr>
            <a:spLocks/>
          </p:cNvSpPr>
          <p:nvPr/>
        </p:nvSpPr>
        <p:spPr bwMode="auto">
          <a:xfrm>
            <a:off x="5865448" y="4811137"/>
            <a:ext cx="204788" cy="396875"/>
          </a:xfrm>
          <a:custGeom>
            <a:avLst/>
            <a:gdLst>
              <a:gd name="T0" fmla="*/ 0 w 129"/>
              <a:gd name="T1" fmla="*/ 0 h 250"/>
              <a:gd name="T2" fmla="*/ 129 w 129"/>
              <a:gd name="T3" fmla="*/ 0 h 250"/>
              <a:gd name="T4" fmla="*/ 129 w 129"/>
              <a:gd name="T5" fmla="*/ 250 h 250"/>
              <a:gd name="T6" fmla="*/ 0 w 129"/>
              <a:gd name="T7" fmla="*/ 250 h 2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129" h="250">
                <a:moveTo>
                  <a:pt x="0" y="0"/>
                </a:moveTo>
                <a:lnTo>
                  <a:pt x="129" y="0"/>
                </a:lnTo>
                <a:lnTo>
                  <a:pt x="129" y="250"/>
                </a:lnTo>
                <a:lnTo>
                  <a:pt x="0" y="250"/>
                </a:lnTo>
              </a:path>
            </a:pathLst>
          </a:custGeom>
          <a:noFill/>
          <a:ln w="22225" cap="rnd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128" name="Line 125">
            <a:extLst>
              <a:ext uri="{FF2B5EF4-FFF2-40B4-BE49-F238E27FC236}">
                <a16:creationId xmlns:a16="http://schemas.microsoft.com/office/drawing/2014/main" id="{072C9581-A3A3-4C8B-860C-B82A3AEDE799}"/>
              </a:ext>
            </a:extLst>
          </p:cNvPr>
          <p:cNvSpPr>
            <a:spLocks noChangeShapeType="1"/>
          </p:cNvSpPr>
          <p:nvPr/>
        </p:nvSpPr>
        <p:spPr bwMode="auto">
          <a:xfrm>
            <a:off x="5489210" y="5009575"/>
            <a:ext cx="163513" cy="0"/>
          </a:xfrm>
          <a:prstGeom prst="line">
            <a:avLst/>
          </a:prstGeom>
          <a:noFill/>
          <a:ln w="22225" cap="flat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129" name="Freeform 126">
            <a:extLst>
              <a:ext uri="{FF2B5EF4-FFF2-40B4-BE49-F238E27FC236}">
                <a16:creationId xmlns:a16="http://schemas.microsoft.com/office/drawing/2014/main" id="{6446340B-98E5-424E-9E3D-CCCACCC6194C}"/>
              </a:ext>
            </a:extLst>
          </p:cNvPr>
          <p:cNvSpPr>
            <a:spLocks/>
          </p:cNvSpPr>
          <p:nvPr/>
        </p:nvSpPr>
        <p:spPr bwMode="auto">
          <a:xfrm>
            <a:off x="5584460" y="4877812"/>
            <a:ext cx="66675" cy="131763"/>
          </a:xfrm>
          <a:custGeom>
            <a:avLst/>
            <a:gdLst>
              <a:gd name="T0" fmla="*/ 0 w 42"/>
              <a:gd name="T1" fmla="*/ 83 h 83"/>
              <a:gd name="T2" fmla="*/ 0 w 42"/>
              <a:gd name="T3" fmla="*/ 0 h 83"/>
              <a:gd name="T4" fmla="*/ 42 w 42"/>
              <a:gd name="T5" fmla="*/ 0 h 8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42" h="83">
                <a:moveTo>
                  <a:pt x="0" y="83"/>
                </a:moveTo>
                <a:lnTo>
                  <a:pt x="0" y="0"/>
                </a:lnTo>
                <a:lnTo>
                  <a:pt x="42" y="0"/>
                </a:lnTo>
              </a:path>
            </a:pathLst>
          </a:custGeom>
          <a:noFill/>
          <a:ln w="22225" cap="rnd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130" name="Line 127">
            <a:extLst>
              <a:ext uri="{FF2B5EF4-FFF2-40B4-BE49-F238E27FC236}">
                <a16:creationId xmlns:a16="http://schemas.microsoft.com/office/drawing/2014/main" id="{3476FA29-0593-411C-8578-BE16E23DF202}"/>
              </a:ext>
            </a:extLst>
          </p:cNvPr>
          <p:cNvSpPr>
            <a:spLocks noChangeShapeType="1"/>
          </p:cNvSpPr>
          <p:nvPr/>
        </p:nvSpPr>
        <p:spPr bwMode="auto">
          <a:xfrm>
            <a:off x="6079760" y="4877812"/>
            <a:ext cx="222250" cy="0"/>
          </a:xfrm>
          <a:prstGeom prst="line">
            <a:avLst/>
          </a:prstGeom>
          <a:noFill/>
          <a:ln w="22225" cap="flat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131" name="Rectangle 128">
            <a:extLst>
              <a:ext uri="{FF2B5EF4-FFF2-40B4-BE49-F238E27FC236}">
                <a16:creationId xmlns:a16="http://schemas.microsoft.com/office/drawing/2014/main" id="{8E518340-4B95-41BC-B921-864043FF749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70335" y="4855587"/>
            <a:ext cx="278923" cy="2154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zh-CN" altLang="zh-CN" sz="1400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rPr>
              <a:t>DM</a:t>
            </a:r>
            <a:endParaRPr kumimoji="0" lang="zh-CN" altLang="zh-CN" sz="180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  <a:ea typeface="SimHei" panose="02010609060101010101" pitchFamily="49" charset="-122"/>
            </a:endParaRPr>
          </a:p>
        </p:txBody>
      </p:sp>
      <p:sp>
        <p:nvSpPr>
          <p:cNvPr id="132" name="Freeform 129">
            <a:extLst>
              <a:ext uri="{FF2B5EF4-FFF2-40B4-BE49-F238E27FC236}">
                <a16:creationId xmlns:a16="http://schemas.microsoft.com/office/drawing/2014/main" id="{FFE3EAED-E459-49F8-A5B1-AB2500564730}"/>
              </a:ext>
            </a:extLst>
          </p:cNvPr>
          <p:cNvSpPr>
            <a:spLocks/>
          </p:cNvSpPr>
          <p:nvPr/>
        </p:nvSpPr>
        <p:spPr bwMode="auto">
          <a:xfrm>
            <a:off x="6865573" y="4811137"/>
            <a:ext cx="230188" cy="396875"/>
          </a:xfrm>
          <a:custGeom>
            <a:avLst/>
            <a:gdLst>
              <a:gd name="T0" fmla="*/ 145 w 145"/>
              <a:gd name="T1" fmla="*/ 0 h 250"/>
              <a:gd name="T2" fmla="*/ 0 w 145"/>
              <a:gd name="T3" fmla="*/ 0 h 250"/>
              <a:gd name="T4" fmla="*/ 0 w 145"/>
              <a:gd name="T5" fmla="*/ 250 h 250"/>
              <a:gd name="T6" fmla="*/ 145 w 145"/>
              <a:gd name="T7" fmla="*/ 250 h 2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145" h="250">
                <a:moveTo>
                  <a:pt x="145" y="0"/>
                </a:moveTo>
                <a:lnTo>
                  <a:pt x="0" y="0"/>
                </a:lnTo>
                <a:lnTo>
                  <a:pt x="0" y="250"/>
                </a:lnTo>
                <a:lnTo>
                  <a:pt x="145" y="250"/>
                </a:lnTo>
              </a:path>
            </a:pathLst>
          </a:custGeom>
          <a:noFill/>
          <a:ln w="22225" cap="rnd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133" name="Freeform 130">
            <a:extLst>
              <a:ext uri="{FF2B5EF4-FFF2-40B4-BE49-F238E27FC236}">
                <a16:creationId xmlns:a16="http://schemas.microsoft.com/office/drawing/2014/main" id="{B863A00C-5151-4BE0-99B0-8014100B0A4F}"/>
              </a:ext>
            </a:extLst>
          </p:cNvPr>
          <p:cNvSpPr>
            <a:spLocks/>
          </p:cNvSpPr>
          <p:nvPr/>
        </p:nvSpPr>
        <p:spPr bwMode="auto">
          <a:xfrm>
            <a:off x="7087823" y="4811137"/>
            <a:ext cx="238125" cy="396875"/>
          </a:xfrm>
          <a:custGeom>
            <a:avLst/>
            <a:gdLst>
              <a:gd name="T0" fmla="*/ 0 w 150"/>
              <a:gd name="T1" fmla="*/ 0 h 250"/>
              <a:gd name="T2" fmla="*/ 150 w 150"/>
              <a:gd name="T3" fmla="*/ 0 h 250"/>
              <a:gd name="T4" fmla="*/ 150 w 150"/>
              <a:gd name="T5" fmla="*/ 250 h 250"/>
              <a:gd name="T6" fmla="*/ 0 w 150"/>
              <a:gd name="T7" fmla="*/ 250 h 2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150" h="250">
                <a:moveTo>
                  <a:pt x="0" y="0"/>
                </a:moveTo>
                <a:lnTo>
                  <a:pt x="150" y="0"/>
                </a:lnTo>
                <a:lnTo>
                  <a:pt x="150" y="250"/>
                </a:lnTo>
                <a:lnTo>
                  <a:pt x="0" y="250"/>
                </a:lnTo>
              </a:path>
            </a:pathLst>
          </a:custGeom>
          <a:noFill/>
          <a:ln w="22225" cap="rnd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134" name="Rectangle 131">
            <a:extLst>
              <a:ext uri="{FF2B5EF4-FFF2-40B4-BE49-F238E27FC236}">
                <a16:creationId xmlns:a16="http://schemas.microsoft.com/office/drawing/2014/main" id="{6E2A6CD1-F920-44F1-B291-C519729F295A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70423" y="4855587"/>
            <a:ext cx="328616" cy="2154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zh-CN" altLang="zh-CN" sz="1400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rPr>
              <a:t>Reg</a:t>
            </a:r>
            <a:endParaRPr kumimoji="0" lang="zh-CN" altLang="zh-CN" sz="180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  <a:ea typeface="SimHei" panose="02010609060101010101" pitchFamily="49" charset="-122"/>
            </a:endParaRPr>
          </a:p>
        </p:txBody>
      </p:sp>
      <p:sp>
        <p:nvSpPr>
          <p:cNvPr id="135" name="Freeform 132">
            <a:extLst>
              <a:ext uri="{FF2B5EF4-FFF2-40B4-BE49-F238E27FC236}">
                <a16:creationId xmlns:a16="http://schemas.microsoft.com/office/drawing/2014/main" id="{28FCE5AB-15B2-42B2-B900-3FA97E6B645E}"/>
              </a:ext>
            </a:extLst>
          </p:cNvPr>
          <p:cNvSpPr>
            <a:spLocks/>
          </p:cNvSpPr>
          <p:nvPr/>
        </p:nvSpPr>
        <p:spPr bwMode="auto">
          <a:xfrm>
            <a:off x="7532323" y="4811137"/>
            <a:ext cx="195263" cy="396875"/>
          </a:xfrm>
          <a:custGeom>
            <a:avLst/>
            <a:gdLst>
              <a:gd name="T0" fmla="*/ 123 w 123"/>
              <a:gd name="T1" fmla="*/ 0 h 250"/>
              <a:gd name="T2" fmla="*/ 0 w 123"/>
              <a:gd name="T3" fmla="*/ 0 h 250"/>
              <a:gd name="T4" fmla="*/ 0 w 123"/>
              <a:gd name="T5" fmla="*/ 250 h 250"/>
              <a:gd name="T6" fmla="*/ 123 w 123"/>
              <a:gd name="T7" fmla="*/ 250 h 2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123" h="250">
                <a:moveTo>
                  <a:pt x="123" y="0"/>
                </a:moveTo>
                <a:lnTo>
                  <a:pt x="0" y="0"/>
                </a:lnTo>
                <a:lnTo>
                  <a:pt x="0" y="250"/>
                </a:lnTo>
                <a:lnTo>
                  <a:pt x="123" y="250"/>
                </a:lnTo>
              </a:path>
            </a:pathLst>
          </a:custGeom>
          <a:noFill/>
          <a:ln w="22225" cap="rnd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136" name="Freeform 133">
            <a:extLst>
              <a:ext uri="{FF2B5EF4-FFF2-40B4-BE49-F238E27FC236}">
                <a16:creationId xmlns:a16="http://schemas.microsoft.com/office/drawing/2014/main" id="{45E7FDED-D46B-4C40-840C-DA25E7AE5241}"/>
              </a:ext>
            </a:extLst>
          </p:cNvPr>
          <p:cNvSpPr>
            <a:spLocks/>
          </p:cNvSpPr>
          <p:nvPr/>
        </p:nvSpPr>
        <p:spPr bwMode="auto">
          <a:xfrm>
            <a:off x="7727585" y="4811137"/>
            <a:ext cx="204788" cy="396875"/>
          </a:xfrm>
          <a:custGeom>
            <a:avLst/>
            <a:gdLst>
              <a:gd name="T0" fmla="*/ 0 w 129"/>
              <a:gd name="T1" fmla="*/ 0 h 250"/>
              <a:gd name="T2" fmla="*/ 129 w 129"/>
              <a:gd name="T3" fmla="*/ 0 h 250"/>
              <a:gd name="T4" fmla="*/ 129 w 129"/>
              <a:gd name="T5" fmla="*/ 250 h 250"/>
              <a:gd name="T6" fmla="*/ 0 w 129"/>
              <a:gd name="T7" fmla="*/ 250 h 2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129" h="250">
                <a:moveTo>
                  <a:pt x="0" y="0"/>
                </a:moveTo>
                <a:lnTo>
                  <a:pt x="129" y="0"/>
                </a:lnTo>
                <a:lnTo>
                  <a:pt x="129" y="250"/>
                </a:lnTo>
                <a:lnTo>
                  <a:pt x="0" y="250"/>
                </a:lnTo>
              </a:path>
            </a:pathLst>
          </a:custGeom>
          <a:noFill/>
          <a:ln w="22225" cap="rnd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137" name="Line 134">
            <a:extLst>
              <a:ext uri="{FF2B5EF4-FFF2-40B4-BE49-F238E27FC236}">
                <a16:creationId xmlns:a16="http://schemas.microsoft.com/office/drawing/2014/main" id="{FA970CF7-19C9-40EC-A6CE-FAA828B0E8CD}"/>
              </a:ext>
            </a:extLst>
          </p:cNvPr>
          <p:cNvSpPr>
            <a:spLocks noChangeShapeType="1"/>
          </p:cNvSpPr>
          <p:nvPr/>
        </p:nvSpPr>
        <p:spPr bwMode="auto">
          <a:xfrm>
            <a:off x="7318010" y="5009575"/>
            <a:ext cx="196850" cy="0"/>
          </a:xfrm>
          <a:prstGeom prst="line">
            <a:avLst/>
          </a:prstGeom>
          <a:noFill/>
          <a:ln w="22225" cap="flat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138" name="Line 135">
            <a:extLst>
              <a:ext uri="{FF2B5EF4-FFF2-40B4-BE49-F238E27FC236}">
                <a16:creationId xmlns:a16="http://schemas.microsoft.com/office/drawing/2014/main" id="{23453F5F-1BB0-46AD-8013-7F21A1624C97}"/>
              </a:ext>
            </a:extLst>
          </p:cNvPr>
          <p:cNvSpPr>
            <a:spLocks noChangeShapeType="1"/>
          </p:cNvSpPr>
          <p:nvPr/>
        </p:nvSpPr>
        <p:spPr bwMode="auto">
          <a:xfrm>
            <a:off x="6625860" y="5009575"/>
            <a:ext cx="222250" cy="0"/>
          </a:xfrm>
          <a:prstGeom prst="line">
            <a:avLst/>
          </a:prstGeom>
          <a:noFill/>
          <a:ln w="22225" cap="flat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139" name="Line 136">
            <a:extLst>
              <a:ext uri="{FF2B5EF4-FFF2-40B4-BE49-F238E27FC236}">
                <a16:creationId xmlns:a16="http://schemas.microsoft.com/office/drawing/2014/main" id="{A21B974D-8C71-48B4-A5EA-8F8A07137C22}"/>
              </a:ext>
            </a:extLst>
          </p:cNvPr>
          <p:cNvSpPr>
            <a:spLocks noChangeShapeType="1"/>
          </p:cNvSpPr>
          <p:nvPr/>
        </p:nvSpPr>
        <p:spPr bwMode="auto">
          <a:xfrm>
            <a:off x="6079760" y="5142925"/>
            <a:ext cx="222250" cy="0"/>
          </a:xfrm>
          <a:prstGeom prst="line">
            <a:avLst/>
          </a:prstGeom>
          <a:noFill/>
          <a:ln w="22225" cap="flat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140" name="Line 137">
            <a:extLst>
              <a:ext uri="{FF2B5EF4-FFF2-40B4-BE49-F238E27FC236}">
                <a16:creationId xmlns:a16="http://schemas.microsoft.com/office/drawing/2014/main" id="{141BEF74-9297-4220-BDF5-27098D851EA1}"/>
              </a:ext>
            </a:extLst>
          </p:cNvPr>
          <p:cNvSpPr>
            <a:spLocks noChangeShapeType="1"/>
          </p:cNvSpPr>
          <p:nvPr/>
        </p:nvSpPr>
        <p:spPr bwMode="auto">
          <a:xfrm>
            <a:off x="6198823" y="5142925"/>
            <a:ext cx="0" cy="265113"/>
          </a:xfrm>
          <a:prstGeom prst="line">
            <a:avLst/>
          </a:prstGeom>
          <a:noFill/>
          <a:ln w="25400" cap="flat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141" name="Line 138">
            <a:extLst>
              <a:ext uri="{FF2B5EF4-FFF2-40B4-BE49-F238E27FC236}">
                <a16:creationId xmlns:a16="http://schemas.microsoft.com/office/drawing/2014/main" id="{BCBD3309-6A9C-4F22-A4FD-A4C91C169781}"/>
              </a:ext>
            </a:extLst>
          </p:cNvPr>
          <p:cNvSpPr>
            <a:spLocks noChangeShapeType="1"/>
          </p:cNvSpPr>
          <p:nvPr/>
        </p:nvSpPr>
        <p:spPr bwMode="auto">
          <a:xfrm>
            <a:off x="6198823" y="5408037"/>
            <a:ext cx="479425" cy="0"/>
          </a:xfrm>
          <a:prstGeom prst="line">
            <a:avLst/>
          </a:prstGeom>
          <a:noFill/>
          <a:ln w="25400" cap="flat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142" name="Line 139">
            <a:extLst>
              <a:ext uri="{FF2B5EF4-FFF2-40B4-BE49-F238E27FC236}">
                <a16:creationId xmlns:a16="http://schemas.microsoft.com/office/drawing/2014/main" id="{B66A434B-A228-4BC9-A357-417731D1B3F2}"/>
              </a:ext>
            </a:extLst>
          </p:cNvPr>
          <p:cNvSpPr>
            <a:spLocks noChangeShapeType="1"/>
          </p:cNvSpPr>
          <p:nvPr/>
        </p:nvSpPr>
        <p:spPr bwMode="auto">
          <a:xfrm>
            <a:off x="6678248" y="5009575"/>
            <a:ext cx="0" cy="398463"/>
          </a:xfrm>
          <a:prstGeom prst="line">
            <a:avLst/>
          </a:prstGeom>
          <a:noFill/>
          <a:ln w="25400" cap="flat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143" name="Line 140">
            <a:extLst>
              <a:ext uri="{FF2B5EF4-FFF2-40B4-BE49-F238E27FC236}">
                <a16:creationId xmlns:a16="http://schemas.microsoft.com/office/drawing/2014/main" id="{3E29AEFD-9E3A-4C12-A5A9-9912646BA4A1}"/>
              </a:ext>
            </a:extLst>
          </p:cNvPr>
          <p:cNvSpPr>
            <a:spLocks noChangeShapeType="1"/>
          </p:cNvSpPr>
          <p:nvPr/>
        </p:nvSpPr>
        <p:spPr bwMode="auto">
          <a:xfrm>
            <a:off x="6797310" y="5009575"/>
            <a:ext cx="0" cy="331788"/>
          </a:xfrm>
          <a:prstGeom prst="line">
            <a:avLst/>
          </a:prstGeom>
          <a:noFill/>
          <a:ln w="25400" cap="flat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144" name="Line 141">
            <a:extLst>
              <a:ext uri="{FF2B5EF4-FFF2-40B4-BE49-F238E27FC236}">
                <a16:creationId xmlns:a16="http://schemas.microsoft.com/office/drawing/2014/main" id="{9100AF99-B3C7-4942-8725-F4FE439A5EBB}"/>
              </a:ext>
            </a:extLst>
          </p:cNvPr>
          <p:cNvSpPr>
            <a:spLocks noChangeShapeType="1"/>
          </p:cNvSpPr>
          <p:nvPr/>
        </p:nvSpPr>
        <p:spPr bwMode="auto">
          <a:xfrm>
            <a:off x="6797310" y="5341362"/>
            <a:ext cx="614363" cy="0"/>
          </a:xfrm>
          <a:prstGeom prst="line">
            <a:avLst/>
          </a:prstGeom>
          <a:noFill/>
          <a:ln w="25400" cap="flat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145" name="Line 142">
            <a:extLst>
              <a:ext uri="{FF2B5EF4-FFF2-40B4-BE49-F238E27FC236}">
                <a16:creationId xmlns:a16="http://schemas.microsoft.com/office/drawing/2014/main" id="{F2F0FC6D-D71A-443C-9C4C-1B26E1BB1A12}"/>
              </a:ext>
            </a:extLst>
          </p:cNvPr>
          <p:cNvSpPr>
            <a:spLocks noChangeShapeType="1"/>
          </p:cNvSpPr>
          <p:nvPr/>
        </p:nvSpPr>
        <p:spPr bwMode="auto">
          <a:xfrm>
            <a:off x="7411673" y="5009575"/>
            <a:ext cx="0" cy="331788"/>
          </a:xfrm>
          <a:prstGeom prst="line">
            <a:avLst/>
          </a:prstGeom>
          <a:noFill/>
          <a:ln w="25400" cap="flat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146" name="Freeform 143">
            <a:extLst>
              <a:ext uri="{FF2B5EF4-FFF2-40B4-BE49-F238E27FC236}">
                <a16:creationId xmlns:a16="http://schemas.microsoft.com/office/drawing/2014/main" id="{AF005A00-F6F3-4BF3-9E0A-32F29BB6264D}"/>
              </a:ext>
            </a:extLst>
          </p:cNvPr>
          <p:cNvSpPr>
            <a:spLocks/>
          </p:cNvSpPr>
          <p:nvPr/>
        </p:nvSpPr>
        <p:spPr bwMode="auto">
          <a:xfrm>
            <a:off x="6933835" y="5408037"/>
            <a:ext cx="298450" cy="661988"/>
          </a:xfrm>
          <a:custGeom>
            <a:avLst/>
            <a:gdLst>
              <a:gd name="T0" fmla="*/ 0 w 188"/>
              <a:gd name="T1" fmla="*/ 278 h 417"/>
              <a:gd name="T2" fmla="*/ 63 w 188"/>
              <a:gd name="T3" fmla="*/ 208 h 417"/>
              <a:gd name="T4" fmla="*/ 0 w 188"/>
              <a:gd name="T5" fmla="*/ 139 h 417"/>
              <a:gd name="T6" fmla="*/ 0 w 188"/>
              <a:gd name="T7" fmla="*/ 0 h 417"/>
              <a:gd name="T8" fmla="*/ 188 w 188"/>
              <a:gd name="T9" fmla="*/ 139 h 417"/>
              <a:gd name="T10" fmla="*/ 188 w 188"/>
              <a:gd name="T11" fmla="*/ 278 h 417"/>
              <a:gd name="T12" fmla="*/ 0 w 188"/>
              <a:gd name="T13" fmla="*/ 417 h 417"/>
              <a:gd name="T14" fmla="*/ 0 w 188"/>
              <a:gd name="T15" fmla="*/ 278 h 41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188" h="417">
                <a:moveTo>
                  <a:pt x="0" y="278"/>
                </a:moveTo>
                <a:lnTo>
                  <a:pt x="63" y="208"/>
                </a:lnTo>
                <a:lnTo>
                  <a:pt x="0" y="139"/>
                </a:lnTo>
                <a:lnTo>
                  <a:pt x="0" y="0"/>
                </a:lnTo>
                <a:lnTo>
                  <a:pt x="188" y="139"/>
                </a:lnTo>
                <a:lnTo>
                  <a:pt x="188" y="278"/>
                </a:lnTo>
                <a:lnTo>
                  <a:pt x="0" y="417"/>
                </a:lnTo>
                <a:lnTo>
                  <a:pt x="0" y="278"/>
                </a:lnTo>
              </a:path>
            </a:pathLst>
          </a:custGeom>
          <a:noFill/>
          <a:ln w="22225" cap="rnd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147" name="Rectangle 144">
            <a:extLst>
              <a:ext uri="{FF2B5EF4-FFF2-40B4-BE49-F238E27FC236}">
                <a16:creationId xmlns:a16="http://schemas.microsoft.com/office/drawing/2014/main" id="{2B6866B1-AC9A-4842-B610-31B1EA302F55}"/>
              </a:ext>
            </a:extLst>
          </p:cNvPr>
          <p:cNvSpPr>
            <a:spLocks noChangeArrowheads="1"/>
          </p:cNvSpPr>
          <p:nvPr/>
        </p:nvSpPr>
        <p:spPr bwMode="auto">
          <a:xfrm rot="5400000">
            <a:off x="6768021" y="5613540"/>
            <a:ext cx="638990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zh-CN" altLang="zh-CN" sz="1600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rPr>
              <a:t>ALU</a:t>
            </a:r>
            <a:endParaRPr kumimoji="0" lang="zh-CN" altLang="zh-CN" sz="160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  <a:ea typeface="SimHei" panose="02010609060101010101" pitchFamily="49" charset="-122"/>
            </a:endParaRPr>
          </a:p>
        </p:txBody>
      </p:sp>
      <p:sp>
        <p:nvSpPr>
          <p:cNvPr id="148" name="Rectangle 145">
            <a:extLst>
              <a:ext uri="{FF2B5EF4-FFF2-40B4-BE49-F238E27FC236}">
                <a16:creationId xmlns:a16="http://schemas.microsoft.com/office/drawing/2014/main" id="{31B479C3-EBE4-475D-9342-700DBDB8D282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89235" y="5584250"/>
            <a:ext cx="198772" cy="2154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zh-CN" altLang="zh-CN" sz="1400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rPr>
              <a:t>IM</a:t>
            </a:r>
            <a:endParaRPr kumimoji="0" lang="zh-CN" altLang="zh-CN" sz="180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  <a:ea typeface="SimHei" panose="02010609060101010101" pitchFamily="49" charset="-122"/>
            </a:endParaRPr>
          </a:p>
        </p:txBody>
      </p:sp>
      <p:sp>
        <p:nvSpPr>
          <p:cNvPr id="149" name="Freeform 146">
            <a:extLst>
              <a:ext uri="{FF2B5EF4-FFF2-40B4-BE49-F238E27FC236}">
                <a16:creationId xmlns:a16="http://schemas.microsoft.com/office/drawing/2014/main" id="{B97A1A58-8F77-491C-BC48-7BF3E4B3A53C}"/>
              </a:ext>
            </a:extLst>
          </p:cNvPr>
          <p:cNvSpPr>
            <a:spLocks/>
          </p:cNvSpPr>
          <p:nvPr/>
        </p:nvSpPr>
        <p:spPr bwMode="auto">
          <a:xfrm>
            <a:off x="5609860" y="5539800"/>
            <a:ext cx="246063" cy="396875"/>
          </a:xfrm>
          <a:custGeom>
            <a:avLst/>
            <a:gdLst>
              <a:gd name="T0" fmla="*/ 155 w 155"/>
              <a:gd name="T1" fmla="*/ 0 h 250"/>
              <a:gd name="T2" fmla="*/ 0 w 155"/>
              <a:gd name="T3" fmla="*/ 0 h 250"/>
              <a:gd name="T4" fmla="*/ 0 w 155"/>
              <a:gd name="T5" fmla="*/ 250 h 250"/>
              <a:gd name="T6" fmla="*/ 155 w 155"/>
              <a:gd name="T7" fmla="*/ 250 h 2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155" h="250">
                <a:moveTo>
                  <a:pt x="155" y="0"/>
                </a:moveTo>
                <a:lnTo>
                  <a:pt x="0" y="0"/>
                </a:lnTo>
                <a:lnTo>
                  <a:pt x="0" y="250"/>
                </a:lnTo>
                <a:lnTo>
                  <a:pt x="155" y="250"/>
                </a:lnTo>
              </a:path>
            </a:pathLst>
          </a:custGeom>
          <a:noFill/>
          <a:ln w="22225" cap="rnd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150" name="Freeform 147">
            <a:extLst>
              <a:ext uri="{FF2B5EF4-FFF2-40B4-BE49-F238E27FC236}">
                <a16:creationId xmlns:a16="http://schemas.microsoft.com/office/drawing/2014/main" id="{C7525D68-39BC-45A9-924F-85E849CF7A02}"/>
              </a:ext>
            </a:extLst>
          </p:cNvPr>
          <p:cNvSpPr>
            <a:spLocks/>
          </p:cNvSpPr>
          <p:nvPr/>
        </p:nvSpPr>
        <p:spPr bwMode="auto">
          <a:xfrm>
            <a:off x="5857510" y="5539800"/>
            <a:ext cx="238125" cy="396875"/>
          </a:xfrm>
          <a:custGeom>
            <a:avLst/>
            <a:gdLst>
              <a:gd name="T0" fmla="*/ 0 w 150"/>
              <a:gd name="T1" fmla="*/ 0 h 250"/>
              <a:gd name="T2" fmla="*/ 150 w 150"/>
              <a:gd name="T3" fmla="*/ 0 h 250"/>
              <a:gd name="T4" fmla="*/ 150 w 150"/>
              <a:gd name="T5" fmla="*/ 250 h 250"/>
              <a:gd name="T6" fmla="*/ 0 w 150"/>
              <a:gd name="T7" fmla="*/ 250 h 2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150" h="250">
                <a:moveTo>
                  <a:pt x="0" y="0"/>
                </a:moveTo>
                <a:lnTo>
                  <a:pt x="150" y="0"/>
                </a:lnTo>
                <a:lnTo>
                  <a:pt x="150" y="250"/>
                </a:lnTo>
                <a:lnTo>
                  <a:pt x="0" y="250"/>
                </a:lnTo>
              </a:path>
            </a:pathLst>
          </a:custGeom>
          <a:noFill/>
          <a:ln w="22225" cap="rnd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151" name="Rectangle 148">
            <a:extLst>
              <a:ext uri="{FF2B5EF4-FFF2-40B4-BE49-F238E27FC236}">
                <a16:creationId xmlns:a16="http://schemas.microsoft.com/office/drawing/2014/main" id="{CE2460B7-378F-4B1C-B476-35998FB9B3E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21060" y="5593775"/>
            <a:ext cx="328616" cy="2154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zh-CN" altLang="zh-CN" sz="1400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rPr>
              <a:t>Reg</a:t>
            </a:r>
            <a:endParaRPr kumimoji="0" lang="zh-CN" altLang="zh-CN" sz="180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  <a:ea typeface="SimHei" panose="02010609060101010101" pitchFamily="49" charset="-122"/>
            </a:endParaRPr>
          </a:p>
        </p:txBody>
      </p:sp>
      <p:sp>
        <p:nvSpPr>
          <p:cNvPr id="152" name="Freeform 149">
            <a:extLst>
              <a:ext uri="{FF2B5EF4-FFF2-40B4-BE49-F238E27FC236}">
                <a16:creationId xmlns:a16="http://schemas.microsoft.com/office/drawing/2014/main" id="{F40C4A68-9901-4C23-B263-CE235374B2C7}"/>
              </a:ext>
            </a:extLst>
          </p:cNvPr>
          <p:cNvSpPr>
            <a:spLocks/>
          </p:cNvSpPr>
          <p:nvPr/>
        </p:nvSpPr>
        <p:spPr bwMode="auto">
          <a:xfrm>
            <a:off x="6267085" y="5539800"/>
            <a:ext cx="212725" cy="396875"/>
          </a:xfrm>
          <a:custGeom>
            <a:avLst/>
            <a:gdLst>
              <a:gd name="T0" fmla="*/ 134 w 134"/>
              <a:gd name="T1" fmla="*/ 0 h 250"/>
              <a:gd name="T2" fmla="*/ 0 w 134"/>
              <a:gd name="T3" fmla="*/ 0 h 250"/>
              <a:gd name="T4" fmla="*/ 0 w 134"/>
              <a:gd name="T5" fmla="*/ 250 h 250"/>
              <a:gd name="T6" fmla="*/ 134 w 134"/>
              <a:gd name="T7" fmla="*/ 250 h 2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134" h="250">
                <a:moveTo>
                  <a:pt x="134" y="0"/>
                </a:moveTo>
                <a:lnTo>
                  <a:pt x="0" y="0"/>
                </a:lnTo>
                <a:lnTo>
                  <a:pt x="0" y="250"/>
                </a:lnTo>
                <a:lnTo>
                  <a:pt x="134" y="250"/>
                </a:lnTo>
              </a:path>
            </a:pathLst>
          </a:custGeom>
          <a:noFill/>
          <a:ln w="22225" cap="rnd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153" name="Freeform 150">
            <a:extLst>
              <a:ext uri="{FF2B5EF4-FFF2-40B4-BE49-F238E27FC236}">
                <a16:creationId xmlns:a16="http://schemas.microsoft.com/office/drawing/2014/main" id="{C481B853-2F23-4934-B482-27617E081F6F}"/>
              </a:ext>
            </a:extLst>
          </p:cNvPr>
          <p:cNvSpPr>
            <a:spLocks/>
          </p:cNvSpPr>
          <p:nvPr/>
        </p:nvSpPr>
        <p:spPr bwMode="auto">
          <a:xfrm>
            <a:off x="6481398" y="5539800"/>
            <a:ext cx="203200" cy="396875"/>
          </a:xfrm>
          <a:custGeom>
            <a:avLst/>
            <a:gdLst>
              <a:gd name="T0" fmla="*/ 0 w 128"/>
              <a:gd name="T1" fmla="*/ 0 h 250"/>
              <a:gd name="T2" fmla="*/ 128 w 128"/>
              <a:gd name="T3" fmla="*/ 0 h 250"/>
              <a:gd name="T4" fmla="*/ 128 w 128"/>
              <a:gd name="T5" fmla="*/ 250 h 250"/>
              <a:gd name="T6" fmla="*/ 0 w 128"/>
              <a:gd name="T7" fmla="*/ 250 h 2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128" h="250">
                <a:moveTo>
                  <a:pt x="0" y="0"/>
                </a:moveTo>
                <a:lnTo>
                  <a:pt x="128" y="0"/>
                </a:lnTo>
                <a:lnTo>
                  <a:pt x="128" y="250"/>
                </a:lnTo>
                <a:lnTo>
                  <a:pt x="0" y="250"/>
                </a:lnTo>
              </a:path>
            </a:pathLst>
          </a:custGeom>
          <a:noFill/>
          <a:ln w="22225" cap="rnd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154" name="Line 151">
            <a:extLst>
              <a:ext uri="{FF2B5EF4-FFF2-40B4-BE49-F238E27FC236}">
                <a16:creationId xmlns:a16="http://schemas.microsoft.com/office/drawing/2014/main" id="{0786A325-BB41-4703-BB32-BDFF9CE4998B}"/>
              </a:ext>
            </a:extLst>
          </p:cNvPr>
          <p:cNvSpPr>
            <a:spLocks noChangeShapeType="1"/>
          </p:cNvSpPr>
          <p:nvPr/>
        </p:nvSpPr>
        <p:spPr bwMode="auto">
          <a:xfrm>
            <a:off x="6105160" y="5739825"/>
            <a:ext cx="161925" cy="0"/>
          </a:xfrm>
          <a:prstGeom prst="line">
            <a:avLst/>
          </a:prstGeom>
          <a:noFill/>
          <a:ln w="22225" cap="flat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155" name="Freeform 152">
            <a:extLst>
              <a:ext uri="{FF2B5EF4-FFF2-40B4-BE49-F238E27FC236}">
                <a16:creationId xmlns:a16="http://schemas.microsoft.com/office/drawing/2014/main" id="{E248D9E1-F27B-47C1-8032-894E2BCAD1C5}"/>
              </a:ext>
            </a:extLst>
          </p:cNvPr>
          <p:cNvSpPr>
            <a:spLocks/>
          </p:cNvSpPr>
          <p:nvPr/>
        </p:nvSpPr>
        <p:spPr bwMode="auto">
          <a:xfrm>
            <a:off x="6198823" y="5606475"/>
            <a:ext cx="68263" cy="131763"/>
          </a:xfrm>
          <a:custGeom>
            <a:avLst/>
            <a:gdLst>
              <a:gd name="T0" fmla="*/ 0 w 43"/>
              <a:gd name="T1" fmla="*/ 83 h 83"/>
              <a:gd name="T2" fmla="*/ 0 w 43"/>
              <a:gd name="T3" fmla="*/ 0 h 83"/>
              <a:gd name="T4" fmla="*/ 43 w 43"/>
              <a:gd name="T5" fmla="*/ 0 h 8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43" h="83">
                <a:moveTo>
                  <a:pt x="0" y="83"/>
                </a:moveTo>
                <a:lnTo>
                  <a:pt x="0" y="0"/>
                </a:lnTo>
                <a:lnTo>
                  <a:pt x="43" y="0"/>
                </a:lnTo>
              </a:path>
            </a:pathLst>
          </a:custGeom>
          <a:noFill/>
          <a:ln w="22225" cap="rnd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156" name="Line 153">
            <a:extLst>
              <a:ext uri="{FF2B5EF4-FFF2-40B4-BE49-F238E27FC236}">
                <a16:creationId xmlns:a16="http://schemas.microsoft.com/office/drawing/2014/main" id="{9E20A099-BB7D-48E3-BA6B-92272FC11EBF}"/>
              </a:ext>
            </a:extLst>
          </p:cNvPr>
          <p:cNvSpPr>
            <a:spLocks noChangeShapeType="1"/>
          </p:cNvSpPr>
          <p:nvPr/>
        </p:nvSpPr>
        <p:spPr bwMode="auto">
          <a:xfrm>
            <a:off x="6694123" y="5606475"/>
            <a:ext cx="222250" cy="0"/>
          </a:xfrm>
          <a:prstGeom prst="line">
            <a:avLst/>
          </a:prstGeom>
          <a:noFill/>
          <a:ln w="22225" cap="flat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157" name="Rectangle 154">
            <a:extLst>
              <a:ext uri="{FF2B5EF4-FFF2-40B4-BE49-F238E27FC236}">
                <a16:creationId xmlns:a16="http://schemas.microsoft.com/office/drawing/2014/main" id="{E91380FA-A9CD-4BBC-89AF-C808F0FB1860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86285" y="5584250"/>
            <a:ext cx="278923" cy="2154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zh-CN" altLang="zh-CN" sz="1400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rPr>
              <a:t>DM</a:t>
            </a:r>
            <a:endParaRPr kumimoji="0" lang="zh-CN" altLang="zh-CN" sz="180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  <a:ea typeface="SimHei" panose="02010609060101010101" pitchFamily="49" charset="-122"/>
            </a:endParaRPr>
          </a:p>
        </p:txBody>
      </p:sp>
      <p:sp>
        <p:nvSpPr>
          <p:cNvPr id="158" name="Freeform 155">
            <a:extLst>
              <a:ext uri="{FF2B5EF4-FFF2-40B4-BE49-F238E27FC236}">
                <a16:creationId xmlns:a16="http://schemas.microsoft.com/office/drawing/2014/main" id="{D223FC35-C0EE-49D0-8416-9D8CF2E6EDBD}"/>
              </a:ext>
            </a:extLst>
          </p:cNvPr>
          <p:cNvSpPr>
            <a:spLocks/>
          </p:cNvSpPr>
          <p:nvPr/>
        </p:nvSpPr>
        <p:spPr bwMode="auto">
          <a:xfrm>
            <a:off x="7479935" y="5539800"/>
            <a:ext cx="230188" cy="396875"/>
          </a:xfrm>
          <a:custGeom>
            <a:avLst/>
            <a:gdLst>
              <a:gd name="T0" fmla="*/ 145 w 145"/>
              <a:gd name="T1" fmla="*/ 0 h 250"/>
              <a:gd name="T2" fmla="*/ 0 w 145"/>
              <a:gd name="T3" fmla="*/ 0 h 250"/>
              <a:gd name="T4" fmla="*/ 0 w 145"/>
              <a:gd name="T5" fmla="*/ 250 h 250"/>
              <a:gd name="T6" fmla="*/ 145 w 145"/>
              <a:gd name="T7" fmla="*/ 250 h 2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145" h="250">
                <a:moveTo>
                  <a:pt x="145" y="0"/>
                </a:moveTo>
                <a:lnTo>
                  <a:pt x="0" y="0"/>
                </a:lnTo>
                <a:lnTo>
                  <a:pt x="0" y="250"/>
                </a:lnTo>
                <a:lnTo>
                  <a:pt x="145" y="250"/>
                </a:lnTo>
              </a:path>
            </a:pathLst>
          </a:custGeom>
          <a:noFill/>
          <a:ln w="22225" cap="rnd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159" name="Freeform 156">
            <a:extLst>
              <a:ext uri="{FF2B5EF4-FFF2-40B4-BE49-F238E27FC236}">
                <a16:creationId xmlns:a16="http://schemas.microsoft.com/office/drawing/2014/main" id="{6928928E-35D9-4115-9DF9-3AC8914064D4}"/>
              </a:ext>
            </a:extLst>
          </p:cNvPr>
          <p:cNvSpPr>
            <a:spLocks/>
          </p:cNvSpPr>
          <p:nvPr/>
        </p:nvSpPr>
        <p:spPr bwMode="auto">
          <a:xfrm>
            <a:off x="7702185" y="5539800"/>
            <a:ext cx="238125" cy="396875"/>
          </a:xfrm>
          <a:custGeom>
            <a:avLst/>
            <a:gdLst>
              <a:gd name="T0" fmla="*/ 0 w 150"/>
              <a:gd name="T1" fmla="*/ 0 h 250"/>
              <a:gd name="T2" fmla="*/ 150 w 150"/>
              <a:gd name="T3" fmla="*/ 0 h 250"/>
              <a:gd name="T4" fmla="*/ 150 w 150"/>
              <a:gd name="T5" fmla="*/ 250 h 250"/>
              <a:gd name="T6" fmla="*/ 0 w 150"/>
              <a:gd name="T7" fmla="*/ 250 h 2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150" h="250">
                <a:moveTo>
                  <a:pt x="0" y="0"/>
                </a:moveTo>
                <a:lnTo>
                  <a:pt x="150" y="0"/>
                </a:lnTo>
                <a:lnTo>
                  <a:pt x="150" y="250"/>
                </a:lnTo>
                <a:lnTo>
                  <a:pt x="0" y="250"/>
                </a:lnTo>
              </a:path>
            </a:pathLst>
          </a:custGeom>
          <a:noFill/>
          <a:ln w="22225" cap="rnd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160" name="Rectangle 157">
            <a:extLst>
              <a:ext uri="{FF2B5EF4-FFF2-40B4-BE49-F238E27FC236}">
                <a16:creationId xmlns:a16="http://schemas.microsoft.com/office/drawing/2014/main" id="{F2DE6E3C-61D9-418D-B742-4D37E188AE25}"/>
              </a:ext>
            </a:extLst>
          </p:cNvPr>
          <p:cNvSpPr>
            <a:spLocks noChangeArrowheads="1"/>
          </p:cNvSpPr>
          <p:nvPr/>
        </p:nvSpPr>
        <p:spPr bwMode="auto">
          <a:xfrm>
            <a:off x="8186373" y="5584250"/>
            <a:ext cx="328616" cy="2154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zh-CN" altLang="zh-CN" sz="1400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rPr>
              <a:t>Reg</a:t>
            </a:r>
            <a:endParaRPr kumimoji="0" lang="zh-CN" altLang="zh-CN" sz="180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  <a:ea typeface="SimHei" panose="02010609060101010101" pitchFamily="49" charset="-122"/>
            </a:endParaRPr>
          </a:p>
        </p:txBody>
      </p:sp>
      <p:sp>
        <p:nvSpPr>
          <p:cNvPr id="161" name="Freeform 158">
            <a:extLst>
              <a:ext uri="{FF2B5EF4-FFF2-40B4-BE49-F238E27FC236}">
                <a16:creationId xmlns:a16="http://schemas.microsoft.com/office/drawing/2014/main" id="{69D87B03-4769-4C6A-91B7-845B72A1BD9D}"/>
              </a:ext>
            </a:extLst>
          </p:cNvPr>
          <p:cNvSpPr>
            <a:spLocks/>
          </p:cNvSpPr>
          <p:nvPr/>
        </p:nvSpPr>
        <p:spPr bwMode="auto">
          <a:xfrm>
            <a:off x="8146685" y="5539800"/>
            <a:ext cx="195263" cy="396875"/>
          </a:xfrm>
          <a:custGeom>
            <a:avLst/>
            <a:gdLst>
              <a:gd name="T0" fmla="*/ 123 w 123"/>
              <a:gd name="T1" fmla="*/ 0 h 250"/>
              <a:gd name="T2" fmla="*/ 0 w 123"/>
              <a:gd name="T3" fmla="*/ 0 h 250"/>
              <a:gd name="T4" fmla="*/ 0 w 123"/>
              <a:gd name="T5" fmla="*/ 250 h 250"/>
              <a:gd name="T6" fmla="*/ 123 w 123"/>
              <a:gd name="T7" fmla="*/ 250 h 2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123" h="250">
                <a:moveTo>
                  <a:pt x="123" y="0"/>
                </a:moveTo>
                <a:lnTo>
                  <a:pt x="0" y="0"/>
                </a:lnTo>
                <a:lnTo>
                  <a:pt x="0" y="250"/>
                </a:lnTo>
                <a:lnTo>
                  <a:pt x="123" y="250"/>
                </a:lnTo>
              </a:path>
            </a:pathLst>
          </a:custGeom>
          <a:noFill/>
          <a:ln w="22225" cap="rnd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162" name="Freeform 159">
            <a:extLst>
              <a:ext uri="{FF2B5EF4-FFF2-40B4-BE49-F238E27FC236}">
                <a16:creationId xmlns:a16="http://schemas.microsoft.com/office/drawing/2014/main" id="{E53FA45C-F3DD-4836-93A4-9237AEA5B87B}"/>
              </a:ext>
            </a:extLst>
          </p:cNvPr>
          <p:cNvSpPr>
            <a:spLocks/>
          </p:cNvSpPr>
          <p:nvPr/>
        </p:nvSpPr>
        <p:spPr bwMode="auto">
          <a:xfrm>
            <a:off x="8343535" y="5539800"/>
            <a:ext cx="203200" cy="396875"/>
          </a:xfrm>
          <a:custGeom>
            <a:avLst/>
            <a:gdLst>
              <a:gd name="T0" fmla="*/ 0 w 128"/>
              <a:gd name="T1" fmla="*/ 0 h 250"/>
              <a:gd name="T2" fmla="*/ 128 w 128"/>
              <a:gd name="T3" fmla="*/ 0 h 250"/>
              <a:gd name="T4" fmla="*/ 128 w 128"/>
              <a:gd name="T5" fmla="*/ 250 h 250"/>
              <a:gd name="T6" fmla="*/ 0 w 128"/>
              <a:gd name="T7" fmla="*/ 250 h 2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128" h="250">
                <a:moveTo>
                  <a:pt x="0" y="0"/>
                </a:moveTo>
                <a:lnTo>
                  <a:pt x="128" y="0"/>
                </a:lnTo>
                <a:lnTo>
                  <a:pt x="128" y="250"/>
                </a:lnTo>
                <a:lnTo>
                  <a:pt x="0" y="250"/>
                </a:lnTo>
              </a:path>
            </a:pathLst>
          </a:custGeom>
          <a:noFill/>
          <a:ln w="22225" cap="rnd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163" name="Line 160">
            <a:extLst>
              <a:ext uri="{FF2B5EF4-FFF2-40B4-BE49-F238E27FC236}">
                <a16:creationId xmlns:a16="http://schemas.microsoft.com/office/drawing/2014/main" id="{B3C64ED3-D093-47C7-84F5-AFE135853E26}"/>
              </a:ext>
            </a:extLst>
          </p:cNvPr>
          <p:cNvSpPr>
            <a:spLocks noChangeShapeType="1"/>
          </p:cNvSpPr>
          <p:nvPr/>
        </p:nvSpPr>
        <p:spPr bwMode="auto">
          <a:xfrm>
            <a:off x="7933960" y="5739825"/>
            <a:ext cx="195263" cy="0"/>
          </a:xfrm>
          <a:prstGeom prst="line">
            <a:avLst/>
          </a:prstGeom>
          <a:noFill/>
          <a:ln w="22225" cap="flat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164" name="Line 161">
            <a:extLst>
              <a:ext uri="{FF2B5EF4-FFF2-40B4-BE49-F238E27FC236}">
                <a16:creationId xmlns:a16="http://schemas.microsoft.com/office/drawing/2014/main" id="{754B66D8-2C5B-4145-B96E-E109BD9AEA80}"/>
              </a:ext>
            </a:extLst>
          </p:cNvPr>
          <p:cNvSpPr>
            <a:spLocks noChangeShapeType="1"/>
          </p:cNvSpPr>
          <p:nvPr/>
        </p:nvSpPr>
        <p:spPr bwMode="auto">
          <a:xfrm>
            <a:off x="7241810" y="5739825"/>
            <a:ext cx="222250" cy="0"/>
          </a:xfrm>
          <a:prstGeom prst="line">
            <a:avLst/>
          </a:prstGeom>
          <a:noFill/>
          <a:ln w="22225" cap="flat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165" name="Line 162">
            <a:extLst>
              <a:ext uri="{FF2B5EF4-FFF2-40B4-BE49-F238E27FC236}">
                <a16:creationId xmlns:a16="http://schemas.microsoft.com/office/drawing/2014/main" id="{85DFDA28-BEC1-4587-823E-C78EABF4D6A0}"/>
              </a:ext>
            </a:extLst>
          </p:cNvPr>
          <p:cNvSpPr>
            <a:spLocks noChangeShapeType="1"/>
          </p:cNvSpPr>
          <p:nvPr/>
        </p:nvSpPr>
        <p:spPr bwMode="auto">
          <a:xfrm>
            <a:off x="6694123" y="5871587"/>
            <a:ext cx="222250" cy="0"/>
          </a:xfrm>
          <a:prstGeom prst="line">
            <a:avLst/>
          </a:prstGeom>
          <a:noFill/>
          <a:ln w="22225" cap="flat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166" name="Line 163">
            <a:extLst>
              <a:ext uri="{FF2B5EF4-FFF2-40B4-BE49-F238E27FC236}">
                <a16:creationId xmlns:a16="http://schemas.microsoft.com/office/drawing/2014/main" id="{E0D07174-C1D0-46F6-B66C-094EBA1534AD}"/>
              </a:ext>
            </a:extLst>
          </p:cNvPr>
          <p:cNvSpPr>
            <a:spLocks noChangeShapeType="1"/>
          </p:cNvSpPr>
          <p:nvPr/>
        </p:nvSpPr>
        <p:spPr bwMode="auto">
          <a:xfrm>
            <a:off x="6814773" y="5871587"/>
            <a:ext cx="0" cy="265113"/>
          </a:xfrm>
          <a:prstGeom prst="line">
            <a:avLst/>
          </a:prstGeom>
          <a:noFill/>
          <a:ln w="25400" cap="flat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167" name="Line 164">
            <a:extLst>
              <a:ext uri="{FF2B5EF4-FFF2-40B4-BE49-F238E27FC236}">
                <a16:creationId xmlns:a16="http://schemas.microsoft.com/office/drawing/2014/main" id="{CD19EBCE-AB24-4B10-9DAC-9E3DDA9EEE94}"/>
              </a:ext>
            </a:extLst>
          </p:cNvPr>
          <p:cNvSpPr>
            <a:spLocks noChangeShapeType="1"/>
          </p:cNvSpPr>
          <p:nvPr/>
        </p:nvSpPr>
        <p:spPr bwMode="auto">
          <a:xfrm>
            <a:off x="6814773" y="6136700"/>
            <a:ext cx="477838" cy="0"/>
          </a:xfrm>
          <a:prstGeom prst="line">
            <a:avLst/>
          </a:prstGeom>
          <a:noFill/>
          <a:ln w="25400" cap="flat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168" name="Line 165">
            <a:extLst>
              <a:ext uri="{FF2B5EF4-FFF2-40B4-BE49-F238E27FC236}">
                <a16:creationId xmlns:a16="http://schemas.microsoft.com/office/drawing/2014/main" id="{52C50BB8-725D-424C-A508-D2B5F179915A}"/>
              </a:ext>
            </a:extLst>
          </p:cNvPr>
          <p:cNvSpPr>
            <a:spLocks noChangeShapeType="1"/>
          </p:cNvSpPr>
          <p:nvPr/>
        </p:nvSpPr>
        <p:spPr bwMode="auto">
          <a:xfrm>
            <a:off x="7292610" y="5739825"/>
            <a:ext cx="0" cy="396875"/>
          </a:xfrm>
          <a:prstGeom prst="line">
            <a:avLst/>
          </a:prstGeom>
          <a:noFill/>
          <a:ln w="25400" cap="flat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169" name="Line 166">
            <a:extLst>
              <a:ext uri="{FF2B5EF4-FFF2-40B4-BE49-F238E27FC236}">
                <a16:creationId xmlns:a16="http://schemas.microsoft.com/office/drawing/2014/main" id="{6119EE45-DE5B-4BE4-8014-90C7704148C9}"/>
              </a:ext>
            </a:extLst>
          </p:cNvPr>
          <p:cNvSpPr>
            <a:spLocks noChangeShapeType="1"/>
          </p:cNvSpPr>
          <p:nvPr/>
        </p:nvSpPr>
        <p:spPr bwMode="auto">
          <a:xfrm>
            <a:off x="7411673" y="5739825"/>
            <a:ext cx="0" cy="330200"/>
          </a:xfrm>
          <a:prstGeom prst="line">
            <a:avLst/>
          </a:prstGeom>
          <a:noFill/>
          <a:ln w="25400" cap="flat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170" name="Line 167">
            <a:extLst>
              <a:ext uri="{FF2B5EF4-FFF2-40B4-BE49-F238E27FC236}">
                <a16:creationId xmlns:a16="http://schemas.microsoft.com/office/drawing/2014/main" id="{94CA29C0-D6AA-4F78-ACEE-BF835C69ABE1}"/>
              </a:ext>
            </a:extLst>
          </p:cNvPr>
          <p:cNvSpPr>
            <a:spLocks noChangeShapeType="1"/>
          </p:cNvSpPr>
          <p:nvPr/>
        </p:nvSpPr>
        <p:spPr bwMode="auto">
          <a:xfrm>
            <a:off x="7411673" y="6070025"/>
            <a:ext cx="615950" cy="0"/>
          </a:xfrm>
          <a:prstGeom prst="line">
            <a:avLst/>
          </a:prstGeom>
          <a:noFill/>
          <a:ln w="25400" cap="flat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171" name="Line 168">
            <a:extLst>
              <a:ext uri="{FF2B5EF4-FFF2-40B4-BE49-F238E27FC236}">
                <a16:creationId xmlns:a16="http://schemas.microsoft.com/office/drawing/2014/main" id="{52594E14-099C-41DF-8C50-4B10B9A80576}"/>
              </a:ext>
            </a:extLst>
          </p:cNvPr>
          <p:cNvSpPr>
            <a:spLocks noChangeShapeType="1"/>
          </p:cNvSpPr>
          <p:nvPr/>
        </p:nvSpPr>
        <p:spPr bwMode="auto">
          <a:xfrm>
            <a:off x="8027623" y="5739825"/>
            <a:ext cx="0" cy="330200"/>
          </a:xfrm>
          <a:prstGeom prst="line">
            <a:avLst/>
          </a:prstGeom>
          <a:noFill/>
          <a:ln w="25400" cap="flat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172" name="Freeform 169">
            <a:extLst>
              <a:ext uri="{FF2B5EF4-FFF2-40B4-BE49-F238E27FC236}">
                <a16:creationId xmlns:a16="http://schemas.microsoft.com/office/drawing/2014/main" id="{466B9CC5-1DA2-4982-8A88-F373C1A8454E}"/>
              </a:ext>
            </a:extLst>
          </p:cNvPr>
          <p:cNvSpPr>
            <a:spLocks noEditPoints="1"/>
          </p:cNvSpPr>
          <p:nvPr/>
        </p:nvSpPr>
        <p:spPr bwMode="auto">
          <a:xfrm>
            <a:off x="2077355" y="2888675"/>
            <a:ext cx="369888" cy="1922463"/>
          </a:xfrm>
          <a:custGeom>
            <a:avLst/>
            <a:gdLst>
              <a:gd name="T0" fmla="*/ 7 w 233"/>
              <a:gd name="T1" fmla="*/ 0 h 1211"/>
              <a:gd name="T2" fmla="*/ 216 w 233"/>
              <a:gd name="T3" fmla="*/ 1177 h 1211"/>
              <a:gd name="T4" fmla="*/ 209 w 233"/>
              <a:gd name="T5" fmla="*/ 1178 h 1211"/>
              <a:gd name="T6" fmla="*/ 0 w 233"/>
              <a:gd name="T7" fmla="*/ 1 h 1211"/>
              <a:gd name="T8" fmla="*/ 7 w 233"/>
              <a:gd name="T9" fmla="*/ 0 h 1211"/>
              <a:gd name="T10" fmla="*/ 233 w 233"/>
              <a:gd name="T11" fmla="*/ 1167 h 1211"/>
              <a:gd name="T12" fmla="*/ 218 w 233"/>
              <a:gd name="T13" fmla="*/ 1211 h 1211"/>
              <a:gd name="T14" fmla="*/ 190 w 233"/>
              <a:gd name="T15" fmla="*/ 1174 h 1211"/>
              <a:gd name="T16" fmla="*/ 233 w 233"/>
              <a:gd name="T17" fmla="*/ 1167 h 12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233" h="1211">
                <a:moveTo>
                  <a:pt x="7" y="0"/>
                </a:moveTo>
                <a:lnTo>
                  <a:pt x="216" y="1177"/>
                </a:lnTo>
                <a:lnTo>
                  <a:pt x="209" y="1178"/>
                </a:lnTo>
                <a:lnTo>
                  <a:pt x="0" y="1"/>
                </a:lnTo>
                <a:lnTo>
                  <a:pt x="7" y="0"/>
                </a:lnTo>
                <a:close/>
                <a:moveTo>
                  <a:pt x="233" y="1167"/>
                </a:moveTo>
                <a:lnTo>
                  <a:pt x="218" y="1211"/>
                </a:lnTo>
                <a:lnTo>
                  <a:pt x="190" y="1174"/>
                </a:lnTo>
                <a:lnTo>
                  <a:pt x="233" y="1167"/>
                </a:lnTo>
                <a:close/>
              </a:path>
            </a:pathLst>
          </a:custGeom>
          <a:solidFill>
            <a:srgbClr val="DE2506"/>
          </a:solidFill>
          <a:ln w="0" cap="flat">
            <a:solidFill>
              <a:srgbClr val="DE2506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174" name="内容占位符 173">
            <a:extLst>
              <a:ext uri="{FF2B5EF4-FFF2-40B4-BE49-F238E27FC236}">
                <a16:creationId xmlns:a16="http://schemas.microsoft.com/office/drawing/2014/main" id="{68E2897B-B7B7-EF7E-3154-9144337738F9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457200" y="1166020"/>
            <a:ext cx="8515350" cy="4525963"/>
          </a:xfrm>
        </p:spPr>
        <p:txBody>
          <a:bodyPr/>
          <a:lstStyle/>
          <a:p>
            <a:r>
              <a:rPr lang="zh-CN" altLang="en-US" dirty="0"/>
              <a:t>同一周期读取和写入寄存器堆：依靠硬件解决冲突</a:t>
            </a:r>
          </a:p>
          <a:p>
            <a:endParaRPr lang="zh-CN" altLang="en-US" dirty="0"/>
          </a:p>
        </p:txBody>
      </p:sp>
      <p:sp>
        <p:nvSpPr>
          <p:cNvPr id="176" name="标题 175">
            <a:extLst>
              <a:ext uri="{FF2B5EF4-FFF2-40B4-BE49-F238E27FC236}">
                <a16:creationId xmlns:a16="http://schemas.microsoft.com/office/drawing/2014/main" id="{B504FAAB-780B-8A5E-C62D-FD1916B46B5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dirty="0"/>
              <a:t>寄存器堆的访问</a:t>
            </a:r>
          </a:p>
        </p:txBody>
      </p:sp>
    </p:spTree>
    <p:extLst>
      <p:ext uri="{BB962C8B-B14F-4D97-AF65-F5344CB8AC3E}">
        <p14:creationId xmlns:p14="http://schemas.microsoft.com/office/powerpoint/2010/main" val="3401464647"/>
      </p:ext>
    </p:extLst>
  </p:cSld>
  <p:clrMapOvr>
    <a:masterClrMapping/>
  </p:clrMapOvr>
</p:sld>
</file>

<file path=ppt/slides/slide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178" name="直接箭头连接符 177">
            <a:extLst>
              <a:ext uri="{FF2B5EF4-FFF2-40B4-BE49-F238E27FC236}">
                <a16:creationId xmlns:a16="http://schemas.microsoft.com/office/drawing/2014/main" id="{385C35E0-3A7D-FBD0-C1F0-6D6CE34B37B8}"/>
              </a:ext>
            </a:extLst>
          </p:cNvPr>
          <p:cNvCxnSpPr>
            <a:stCxn id="57" idx="3"/>
            <a:endCxn id="126" idx="0"/>
          </p:cNvCxnSpPr>
          <p:nvPr/>
        </p:nvCxnSpPr>
        <p:spPr>
          <a:xfrm flipH="1">
            <a:off x="5865448" y="3022025"/>
            <a:ext cx="15875" cy="1789112"/>
          </a:xfrm>
          <a:prstGeom prst="straightConnector1">
            <a:avLst/>
          </a:prstGeom>
          <a:ln w="28575">
            <a:solidFill>
              <a:srgbClr val="00B05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" name="灯片编号占位符 3">
            <a:extLst>
              <a:ext uri="{FF2B5EF4-FFF2-40B4-BE49-F238E27FC236}">
                <a16:creationId xmlns:a16="http://schemas.microsoft.com/office/drawing/2014/main" id="{A4BE88F7-4CE4-42B1-B447-8DA41D4A4C6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0626FCE3-5FF9-430D-BA0B-DE80AAE71673}" type="slidenum">
              <a:rPr lang="zh-CN" altLang="en-US" smtClean="0"/>
              <a:t>82</a:t>
            </a:fld>
            <a:endParaRPr lang="zh-CN" altLang="en-US"/>
          </a:p>
        </p:txBody>
      </p:sp>
      <p:sp>
        <p:nvSpPr>
          <p:cNvPr id="7" name="AutoShape 3">
            <a:extLst>
              <a:ext uri="{FF2B5EF4-FFF2-40B4-BE49-F238E27FC236}">
                <a16:creationId xmlns:a16="http://schemas.microsoft.com/office/drawing/2014/main" id="{3A179BF2-9B6D-4D77-B5A3-AB7CC317378D}"/>
              </a:ext>
            </a:extLst>
          </p:cNvPr>
          <p:cNvSpPr>
            <a:spLocks noChangeAspect="1" noChangeArrowheads="1" noTextEdit="1"/>
          </p:cNvSpPr>
          <p:nvPr/>
        </p:nvSpPr>
        <p:spPr bwMode="auto">
          <a:xfrm>
            <a:off x="1595437" y="1519646"/>
            <a:ext cx="7091363" cy="44481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8" name="Rectangle 5">
            <a:extLst>
              <a:ext uri="{FF2B5EF4-FFF2-40B4-BE49-F238E27FC236}">
                <a16:creationId xmlns:a16="http://schemas.microsoft.com/office/drawing/2014/main" id="{594B1346-4088-42A2-AE37-318559985030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55923" y="4811137"/>
            <a:ext cx="223838" cy="398463"/>
          </a:xfrm>
          <a:prstGeom prst="rect">
            <a:avLst/>
          </a:prstGeom>
          <a:solidFill>
            <a:srgbClr val="00B050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9" name="Rectangle 6">
            <a:extLst>
              <a:ext uri="{FF2B5EF4-FFF2-40B4-BE49-F238E27FC236}">
                <a16:creationId xmlns:a16="http://schemas.microsoft.com/office/drawing/2014/main" id="{C2CE083A-8F5D-42F8-93DC-466FCD3DA6E6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68598" y="4811137"/>
            <a:ext cx="411163" cy="398463"/>
          </a:xfrm>
          <a:prstGeom prst="rect">
            <a:avLst/>
          </a:prstGeom>
          <a:noFill/>
          <a:ln w="11113" cap="flat">
            <a:solidFill>
              <a:srgbClr val="000000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10" name="Rectangle 7">
            <a:extLst>
              <a:ext uri="{FF2B5EF4-FFF2-40B4-BE49-F238E27FC236}">
                <a16:creationId xmlns:a16="http://schemas.microsoft.com/office/drawing/2014/main" id="{865E31EF-D7B0-4F2E-A6B2-5FFD11756D17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68598" y="2625150"/>
            <a:ext cx="246063" cy="396875"/>
          </a:xfrm>
          <a:prstGeom prst="rect">
            <a:avLst/>
          </a:prstGeom>
          <a:solidFill>
            <a:srgbClr val="DE250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11" name="Rectangle 8">
            <a:extLst>
              <a:ext uri="{FF2B5EF4-FFF2-40B4-BE49-F238E27FC236}">
                <a16:creationId xmlns:a16="http://schemas.microsoft.com/office/drawing/2014/main" id="{C28ABAF2-4915-4B0E-A253-A5DA55FE95AB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68598" y="2625150"/>
            <a:ext cx="411163" cy="396875"/>
          </a:xfrm>
          <a:prstGeom prst="rect">
            <a:avLst/>
          </a:prstGeom>
          <a:noFill/>
          <a:ln w="11113" cap="flat">
            <a:solidFill>
              <a:srgbClr val="000000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12" name="Rectangle 9">
            <a:extLst>
              <a:ext uri="{FF2B5EF4-FFF2-40B4-BE49-F238E27FC236}">
                <a16:creationId xmlns:a16="http://schemas.microsoft.com/office/drawing/2014/main" id="{698FC754-B871-4A98-9EF9-53CD13BD2F8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04205" y="2742625"/>
            <a:ext cx="57708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zh-CN" altLang="zh-CN" sz="1600" i="1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rPr>
              <a:t>I</a:t>
            </a:r>
            <a:endParaRPr kumimoji="0" lang="zh-CN" altLang="zh-CN" sz="1800" i="1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  <a:ea typeface="SimHei" panose="02010609060101010101" pitchFamily="49" charset="-122"/>
            </a:endParaRPr>
          </a:p>
        </p:txBody>
      </p:sp>
      <p:sp>
        <p:nvSpPr>
          <p:cNvPr id="13" name="Rectangle 10">
            <a:extLst>
              <a:ext uri="{FF2B5EF4-FFF2-40B4-BE49-F238E27FC236}">
                <a16:creationId xmlns:a16="http://schemas.microsoft.com/office/drawing/2014/main" id="{1B536A9D-0594-466A-9260-49955AD8BD20}"/>
              </a:ext>
            </a:extLst>
          </p:cNvPr>
          <p:cNvSpPr>
            <a:spLocks noChangeArrowheads="1"/>
          </p:cNvSpPr>
          <p:nvPr/>
        </p:nvSpPr>
        <p:spPr bwMode="auto">
          <a:xfrm>
            <a:off x="978805" y="2982337"/>
            <a:ext cx="113814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zh-CN" altLang="zh-CN" sz="1600" i="1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rPr>
              <a:t>n</a:t>
            </a:r>
            <a:endParaRPr kumimoji="0" lang="zh-CN" altLang="zh-CN" sz="1800" i="1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  <a:ea typeface="SimHei" panose="02010609060101010101" pitchFamily="49" charset="-122"/>
            </a:endParaRPr>
          </a:p>
        </p:txBody>
      </p:sp>
      <p:sp>
        <p:nvSpPr>
          <p:cNvPr id="14" name="Rectangle 11">
            <a:extLst>
              <a:ext uri="{FF2B5EF4-FFF2-40B4-BE49-F238E27FC236}">
                <a16:creationId xmlns:a16="http://schemas.microsoft.com/office/drawing/2014/main" id="{8D107DC1-7AF8-4F2F-AA2A-32ABC8E36FBF}"/>
              </a:ext>
            </a:extLst>
          </p:cNvPr>
          <p:cNvSpPr>
            <a:spLocks noChangeArrowheads="1"/>
          </p:cNvSpPr>
          <p:nvPr/>
        </p:nvSpPr>
        <p:spPr bwMode="auto">
          <a:xfrm>
            <a:off x="978805" y="3225225"/>
            <a:ext cx="102592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zh-CN" altLang="zh-CN" sz="1600" i="1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rPr>
              <a:t>s</a:t>
            </a:r>
            <a:endParaRPr kumimoji="0" lang="zh-CN" altLang="zh-CN" sz="1800" i="1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  <a:ea typeface="SimHei" panose="02010609060101010101" pitchFamily="49" charset="-122"/>
            </a:endParaRPr>
          </a:p>
        </p:txBody>
      </p:sp>
      <p:sp>
        <p:nvSpPr>
          <p:cNvPr id="15" name="Rectangle 12">
            <a:extLst>
              <a:ext uri="{FF2B5EF4-FFF2-40B4-BE49-F238E27FC236}">
                <a16:creationId xmlns:a16="http://schemas.microsoft.com/office/drawing/2014/main" id="{16BC128B-72E5-45F4-8DB9-709BCEBD72E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04205" y="3463350"/>
            <a:ext cx="57708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zh-CN" altLang="zh-CN" sz="1600" i="1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rPr>
              <a:t>t</a:t>
            </a:r>
            <a:endParaRPr kumimoji="0" lang="zh-CN" altLang="zh-CN" sz="1800" i="1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  <a:ea typeface="SimHei" panose="02010609060101010101" pitchFamily="49" charset="-122"/>
            </a:endParaRPr>
          </a:p>
        </p:txBody>
      </p:sp>
      <p:sp>
        <p:nvSpPr>
          <p:cNvPr id="16" name="Rectangle 13">
            <a:extLst>
              <a:ext uri="{FF2B5EF4-FFF2-40B4-BE49-F238E27FC236}">
                <a16:creationId xmlns:a16="http://schemas.microsoft.com/office/drawing/2014/main" id="{73F28E8A-22CF-44CB-9C6B-721490BD0F61}"/>
              </a:ext>
            </a:extLst>
          </p:cNvPr>
          <p:cNvSpPr>
            <a:spLocks noChangeArrowheads="1"/>
          </p:cNvSpPr>
          <p:nvPr/>
        </p:nvSpPr>
        <p:spPr bwMode="auto">
          <a:xfrm>
            <a:off x="970868" y="3703062"/>
            <a:ext cx="119007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zh-CN" altLang="zh-CN" sz="1600" i="1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rPr>
              <a:t>r.</a:t>
            </a:r>
            <a:endParaRPr kumimoji="0" lang="zh-CN" altLang="zh-CN" sz="1800" i="1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  <a:ea typeface="SimHei" panose="02010609060101010101" pitchFamily="49" charset="-122"/>
            </a:endParaRPr>
          </a:p>
        </p:txBody>
      </p:sp>
      <p:sp>
        <p:nvSpPr>
          <p:cNvPr id="17" name="Rectangle 14">
            <a:extLst>
              <a:ext uri="{FF2B5EF4-FFF2-40B4-BE49-F238E27FC236}">
                <a16:creationId xmlns:a16="http://schemas.microsoft.com/office/drawing/2014/main" id="{A60634C6-95D7-4655-85A8-55050532F542}"/>
              </a:ext>
            </a:extLst>
          </p:cNvPr>
          <p:cNvSpPr>
            <a:spLocks noChangeArrowheads="1"/>
          </p:cNvSpPr>
          <p:nvPr/>
        </p:nvSpPr>
        <p:spPr bwMode="auto">
          <a:xfrm>
            <a:off x="953405" y="4177725"/>
            <a:ext cx="160300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zh-CN" altLang="zh-CN" sz="1600" i="1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rPr>
              <a:t>O</a:t>
            </a:r>
            <a:endParaRPr kumimoji="0" lang="zh-CN" altLang="zh-CN" sz="1800" i="1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  <a:ea typeface="SimHei" panose="02010609060101010101" pitchFamily="49" charset="-122"/>
            </a:endParaRPr>
          </a:p>
        </p:txBody>
      </p:sp>
      <p:sp>
        <p:nvSpPr>
          <p:cNvPr id="18" name="Rectangle 15">
            <a:extLst>
              <a:ext uri="{FF2B5EF4-FFF2-40B4-BE49-F238E27FC236}">
                <a16:creationId xmlns:a16="http://schemas.microsoft.com/office/drawing/2014/main" id="{2BB9F313-1D82-4A41-8C4F-34373DD364D0}"/>
              </a:ext>
            </a:extLst>
          </p:cNvPr>
          <p:cNvSpPr>
            <a:spLocks noChangeArrowheads="1"/>
          </p:cNvSpPr>
          <p:nvPr/>
        </p:nvSpPr>
        <p:spPr bwMode="auto">
          <a:xfrm>
            <a:off x="996268" y="4415850"/>
            <a:ext cx="68930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zh-CN" altLang="zh-CN" sz="1600" i="1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rPr>
              <a:t>r</a:t>
            </a:r>
            <a:endParaRPr kumimoji="0" lang="zh-CN" altLang="zh-CN" sz="1800" i="1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  <a:ea typeface="SimHei" panose="02010609060101010101" pitchFamily="49" charset="-122"/>
            </a:endParaRPr>
          </a:p>
        </p:txBody>
      </p:sp>
      <p:sp>
        <p:nvSpPr>
          <p:cNvPr id="19" name="Rectangle 16">
            <a:extLst>
              <a:ext uri="{FF2B5EF4-FFF2-40B4-BE49-F238E27FC236}">
                <a16:creationId xmlns:a16="http://schemas.microsoft.com/office/drawing/2014/main" id="{A6FAAF1B-46AF-4890-BDD6-477DC0A2DF59}"/>
              </a:ext>
            </a:extLst>
          </p:cNvPr>
          <p:cNvSpPr>
            <a:spLocks noChangeArrowheads="1"/>
          </p:cNvSpPr>
          <p:nvPr/>
        </p:nvSpPr>
        <p:spPr bwMode="auto">
          <a:xfrm>
            <a:off x="978805" y="4655562"/>
            <a:ext cx="113814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zh-CN" altLang="zh-CN" sz="1600" i="1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rPr>
              <a:t>d</a:t>
            </a:r>
            <a:endParaRPr kumimoji="0" lang="zh-CN" altLang="zh-CN" sz="1800" i="1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  <a:ea typeface="SimHei" panose="02010609060101010101" pitchFamily="49" charset="-122"/>
            </a:endParaRPr>
          </a:p>
        </p:txBody>
      </p:sp>
      <p:sp>
        <p:nvSpPr>
          <p:cNvPr id="20" name="Rectangle 17">
            <a:extLst>
              <a:ext uri="{FF2B5EF4-FFF2-40B4-BE49-F238E27FC236}">
                <a16:creationId xmlns:a16="http://schemas.microsoft.com/office/drawing/2014/main" id="{3CE7DDA1-18A0-4ECC-BD45-F3883A1EE408}"/>
              </a:ext>
            </a:extLst>
          </p:cNvPr>
          <p:cNvSpPr>
            <a:spLocks noChangeArrowheads="1"/>
          </p:cNvSpPr>
          <p:nvPr/>
        </p:nvSpPr>
        <p:spPr bwMode="auto">
          <a:xfrm>
            <a:off x="978805" y="4898450"/>
            <a:ext cx="113814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zh-CN" altLang="zh-CN" sz="1600" i="1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rPr>
              <a:t>e</a:t>
            </a:r>
            <a:endParaRPr kumimoji="0" lang="zh-CN" altLang="zh-CN" sz="1800" i="1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  <a:ea typeface="SimHei" panose="02010609060101010101" pitchFamily="49" charset="-122"/>
            </a:endParaRPr>
          </a:p>
        </p:txBody>
      </p:sp>
      <p:sp>
        <p:nvSpPr>
          <p:cNvPr id="21" name="Rectangle 18">
            <a:extLst>
              <a:ext uri="{FF2B5EF4-FFF2-40B4-BE49-F238E27FC236}">
                <a16:creationId xmlns:a16="http://schemas.microsoft.com/office/drawing/2014/main" id="{294AEB72-C43F-45F1-B3E7-137D85CD4754}"/>
              </a:ext>
            </a:extLst>
          </p:cNvPr>
          <p:cNvSpPr>
            <a:spLocks noChangeArrowheads="1"/>
          </p:cNvSpPr>
          <p:nvPr/>
        </p:nvSpPr>
        <p:spPr bwMode="auto">
          <a:xfrm>
            <a:off x="996268" y="5130225"/>
            <a:ext cx="68930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zh-CN" altLang="zh-CN" sz="1600" i="1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rPr>
              <a:t>r</a:t>
            </a:r>
            <a:endParaRPr kumimoji="0" lang="zh-CN" altLang="zh-CN" sz="1800" i="1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  <a:ea typeface="SimHei" panose="02010609060101010101" pitchFamily="49" charset="-122"/>
            </a:endParaRPr>
          </a:p>
        </p:txBody>
      </p:sp>
      <p:sp>
        <p:nvSpPr>
          <p:cNvPr id="22" name="Freeform 19">
            <a:extLst>
              <a:ext uri="{FF2B5EF4-FFF2-40B4-BE49-F238E27FC236}">
                <a16:creationId xmlns:a16="http://schemas.microsoft.com/office/drawing/2014/main" id="{7F69B967-582E-44C0-8876-9BA921C08C38}"/>
              </a:ext>
            </a:extLst>
          </p:cNvPr>
          <p:cNvSpPr>
            <a:spLocks noEditPoints="1"/>
          </p:cNvSpPr>
          <p:nvPr/>
        </p:nvSpPr>
        <p:spPr bwMode="auto">
          <a:xfrm>
            <a:off x="2593610" y="2128262"/>
            <a:ext cx="5664200" cy="65088"/>
          </a:xfrm>
          <a:custGeom>
            <a:avLst/>
            <a:gdLst>
              <a:gd name="T0" fmla="*/ 0 w 3568"/>
              <a:gd name="T1" fmla="*/ 14 h 41"/>
              <a:gd name="T2" fmla="*/ 3532 w 3568"/>
              <a:gd name="T3" fmla="*/ 14 h 41"/>
              <a:gd name="T4" fmla="*/ 3532 w 3568"/>
              <a:gd name="T5" fmla="*/ 28 h 41"/>
              <a:gd name="T6" fmla="*/ 0 w 3568"/>
              <a:gd name="T7" fmla="*/ 28 h 41"/>
              <a:gd name="T8" fmla="*/ 0 w 3568"/>
              <a:gd name="T9" fmla="*/ 14 h 41"/>
              <a:gd name="T10" fmla="*/ 3525 w 3568"/>
              <a:gd name="T11" fmla="*/ 0 h 41"/>
              <a:gd name="T12" fmla="*/ 3568 w 3568"/>
              <a:gd name="T13" fmla="*/ 21 h 41"/>
              <a:gd name="T14" fmla="*/ 3525 w 3568"/>
              <a:gd name="T15" fmla="*/ 41 h 41"/>
              <a:gd name="T16" fmla="*/ 3525 w 3568"/>
              <a:gd name="T17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3568" h="41">
                <a:moveTo>
                  <a:pt x="0" y="14"/>
                </a:moveTo>
                <a:lnTo>
                  <a:pt x="3532" y="14"/>
                </a:lnTo>
                <a:lnTo>
                  <a:pt x="3532" y="28"/>
                </a:lnTo>
                <a:lnTo>
                  <a:pt x="0" y="28"/>
                </a:lnTo>
                <a:lnTo>
                  <a:pt x="0" y="14"/>
                </a:lnTo>
                <a:close/>
                <a:moveTo>
                  <a:pt x="3525" y="0"/>
                </a:moveTo>
                <a:lnTo>
                  <a:pt x="3568" y="21"/>
                </a:lnTo>
                <a:lnTo>
                  <a:pt x="3525" y="41"/>
                </a:lnTo>
                <a:lnTo>
                  <a:pt x="3525" y="0"/>
                </a:lnTo>
                <a:close/>
              </a:path>
            </a:pathLst>
          </a:custGeom>
          <a:solidFill>
            <a:srgbClr val="000000"/>
          </a:solidFill>
          <a:ln w="0" cap="flat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23" name="Rectangle 20">
            <a:extLst>
              <a:ext uri="{FF2B5EF4-FFF2-40B4-BE49-F238E27FC236}">
                <a16:creationId xmlns:a16="http://schemas.microsoft.com/office/drawing/2014/main" id="{55F67915-B95E-4E85-A09D-46DE9241DDE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89098" y="1815525"/>
            <a:ext cx="1736437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zh-CN" altLang="zh-CN" sz="1600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rPr>
              <a:t>Time (clock cycles)</a:t>
            </a:r>
            <a:endParaRPr kumimoji="0" lang="zh-CN" altLang="zh-CN" sz="180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  <a:ea typeface="SimHei" panose="02010609060101010101" pitchFamily="49" charset="-122"/>
            </a:endParaRPr>
          </a:p>
        </p:txBody>
      </p:sp>
      <p:sp>
        <p:nvSpPr>
          <p:cNvPr id="24" name="Rectangle 21">
            <a:extLst>
              <a:ext uri="{FF2B5EF4-FFF2-40B4-BE49-F238E27FC236}">
                <a16:creationId xmlns:a16="http://schemas.microsoft.com/office/drawing/2014/main" id="{02015472-8991-44AF-8847-B9E75A1FC393}"/>
              </a:ext>
            </a:extLst>
          </p:cNvPr>
          <p:cNvSpPr>
            <a:spLocks noChangeArrowheads="1"/>
          </p:cNvSpPr>
          <p:nvPr/>
        </p:nvSpPr>
        <p:spPr bwMode="auto">
          <a:xfrm>
            <a:off x="1343930" y="2610862"/>
            <a:ext cx="522579" cy="3231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zh-CN" altLang="zh-CN" sz="2100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rPr>
              <a:t>add </a:t>
            </a:r>
            <a:endParaRPr kumimoji="0" lang="zh-CN" altLang="zh-CN" sz="180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  <a:ea typeface="SimHei" panose="02010609060101010101" pitchFamily="49" charset="-122"/>
            </a:endParaRPr>
          </a:p>
        </p:txBody>
      </p:sp>
      <p:sp>
        <p:nvSpPr>
          <p:cNvPr id="25" name="Rectangle 22">
            <a:extLst>
              <a:ext uri="{FF2B5EF4-FFF2-40B4-BE49-F238E27FC236}">
                <a16:creationId xmlns:a16="http://schemas.microsoft.com/office/drawing/2014/main" id="{620B5EFC-D7D8-4419-9A92-14A63223ADD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72568" y="2610862"/>
            <a:ext cx="238848" cy="3231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zh-CN" altLang="zh-CN" sz="2100" u="none" strike="noStrike" cap="none" normalizeH="0" baseline="0" dirty="0">
                <a:ln>
                  <a:noFill/>
                </a:ln>
                <a:solidFill>
                  <a:srgbClr val="DE2506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rPr>
              <a:t>r1</a:t>
            </a:r>
            <a:endParaRPr kumimoji="0" lang="zh-CN" altLang="zh-CN" sz="180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  <a:ea typeface="SimHei" panose="02010609060101010101" pitchFamily="49" charset="-122"/>
            </a:endParaRPr>
          </a:p>
        </p:txBody>
      </p:sp>
      <p:sp>
        <p:nvSpPr>
          <p:cNvPr id="26" name="Rectangle 23">
            <a:extLst>
              <a:ext uri="{FF2B5EF4-FFF2-40B4-BE49-F238E27FC236}">
                <a16:creationId xmlns:a16="http://schemas.microsoft.com/office/drawing/2014/main" id="{24CAB11D-00FF-4BC0-B001-203E5BCAC85B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20218" y="2610862"/>
            <a:ext cx="779059" cy="3231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zh-CN" altLang="zh-CN" sz="2100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rPr>
              <a:t>,</a:t>
            </a:r>
            <a:r>
              <a:rPr kumimoji="0" lang="en-US" altLang="zh-CN" sz="2100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rPr>
              <a:t> r2, r3</a:t>
            </a:r>
            <a:endParaRPr kumimoji="0" lang="zh-CN" altLang="zh-CN" sz="180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  <a:ea typeface="SimHei" panose="02010609060101010101" pitchFamily="49" charset="-122"/>
            </a:endParaRPr>
          </a:p>
        </p:txBody>
      </p:sp>
      <p:sp>
        <p:nvSpPr>
          <p:cNvPr id="27" name="Rectangle 24">
            <a:extLst>
              <a:ext uri="{FF2B5EF4-FFF2-40B4-BE49-F238E27FC236}">
                <a16:creationId xmlns:a16="http://schemas.microsoft.com/office/drawing/2014/main" id="{096C3CE1-C7CD-49A8-B4D2-B9AAF81EEB34}"/>
              </a:ext>
            </a:extLst>
          </p:cNvPr>
          <p:cNvSpPr>
            <a:spLocks noChangeArrowheads="1"/>
          </p:cNvSpPr>
          <p:nvPr/>
        </p:nvSpPr>
        <p:spPr bwMode="auto">
          <a:xfrm>
            <a:off x="1343930" y="3339525"/>
            <a:ext cx="658835" cy="3231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zh-CN" altLang="zh-CN" sz="2100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rPr>
              <a:t>Inst 1</a:t>
            </a:r>
            <a:endParaRPr kumimoji="0" lang="zh-CN" altLang="zh-CN" sz="180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  <a:ea typeface="SimHei" panose="02010609060101010101" pitchFamily="49" charset="-122"/>
            </a:endParaRPr>
          </a:p>
        </p:txBody>
      </p:sp>
      <p:sp>
        <p:nvSpPr>
          <p:cNvPr id="28" name="Rectangle 25">
            <a:extLst>
              <a:ext uri="{FF2B5EF4-FFF2-40B4-BE49-F238E27FC236}">
                <a16:creationId xmlns:a16="http://schemas.microsoft.com/office/drawing/2014/main" id="{AE30804E-89E2-4972-B38B-89150749A2D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343930" y="4103112"/>
            <a:ext cx="658835" cy="3231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zh-CN" altLang="zh-CN" sz="2100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rPr>
              <a:t>Inst 2</a:t>
            </a:r>
            <a:endParaRPr kumimoji="0" lang="zh-CN" altLang="zh-CN" sz="180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  <a:ea typeface="SimHei" panose="02010609060101010101" pitchFamily="49" charset="-122"/>
            </a:endParaRPr>
          </a:p>
        </p:txBody>
      </p:sp>
      <p:sp>
        <p:nvSpPr>
          <p:cNvPr id="29" name="Rectangle 26">
            <a:extLst>
              <a:ext uri="{FF2B5EF4-FFF2-40B4-BE49-F238E27FC236}">
                <a16:creationId xmlns:a16="http://schemas.microsoft.com/office/drawing/2014/main" id="{02853D1B-282D-41C2-A24E-682FE84AEFF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343930" y="5592187"/>
            <a:ext cx="658835" cy="3231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zh-CN" altLang="zh-CN" sz="2100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rPr>
              <a:t>Inst 4</a:t>
            </a:r>
            <a:endParaRPr kumimoji="0" lang="zh-CN" altLang="zh-CN" sz="180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  <a:ea typeface="SimHei" panose="02010609060101010101" pitchFamily="49" charset="-122"/>
            </a:endParaRPr>
          </a:p>
        </p:txBody>
      </p:sp>
      <p:sp>
        <p:nvSpPr>
          <p:cNvPr id="30" name="Freeform 27">
            <a:extLst>
              <a:ext uri="{FF2B5EF4-FFF2-40B4-BE49-F238E27FC236}">
                <a16:creationId xmlns:a16="http://schemas.microsoft.com/office/drawing/2014/main" id="{F0EE03E9-5BD3-4A92-8E61-47D40BE3FF85}"/>
              </a:ext>
            </a:extLst>
          </p:cNvPr>
          <p:cNvSpPr>
            <a:spLocks noEditPoints="1"/>
          </p:cNvSpPr>
          <p:nvPr/>
        </p:nvSpPr>
        <p:spPr bwMode="auto">
          <a:xfrm>
            <a:off x="3641360" y="2267962"/>
            <a:ext cx="23813" cy="3894138"/>
          </a:xfrm>
          <a:custGeom>
            <a:avLst/>
            <a:gdLst>
              <a:gd name="T0" fmla="*/ 15 w 15"/>
              <a:gd name="T1" fmla="*/ 42 h 2453"/>
              <a:gd name="T2" fmla="*/ 0 w 15"/>
              <a:gd name="T3" fmla="*/ 56 h 2453"/>
              <a:gd name="T4" fmla="*/ 15 w 15"/>
              <a:gd name="T5" fmla="*/ 112 h 2453"/>
              <a:gd name="T6" fmla="*/ 0 w 15"/>
              <a:gd name="T7" fmla="*/ 154 h 2453"/>
              <a:gd name="T8" fmla="*/ 15 w 15"/>
              <a:gd name="T9" fmla="*/ 167 h 2453"/>
              <a:gd name="T10" fmla="*/ 15 w 15"/>
              <a:gd name="T11" fmla="*/ 237 h 2453"/>
              <a:gd name="T12" fmla="*/ 0 w 15"/>
              <a:gd name="T13" fmla="*/ 251 h 2453"/>
              <a:gd name="T14" fmla="*/ 15 w 15"/>
              <a:gd name="T15" fmla="*/ 307 h 2453"/>
              <a:gd name="T16" fmla="*/ 0 w 15"/>
              <a:gd name="T17" fmla="*/ 348 h 2453"/>
              <a:gd name="T18" fmla="*/ 15 w 15"/>
              <a:gd name="T19" fmla="*/ 362 h 2453"/>
              <a:gd name="T20" fmla="*/ 15 w 15"/>
              <a:gd name="T21" fmla="*/ 432 h 2453"/>
              <a:gd name="T22" fmla="*/ 0 w 15"/>
              <a:gd name="T23" fmla="*/ 446 h 2453"/>
              <a:gd name="T24" fmla="*/ 15 w 15"/>
              <a:gd name="T25" fmla="*/ 501 h 2453"/>
              <a:gd name="T26" fmla="*/ 0 w 15"/>
              <a:gd name="T27" fmla="*/ 543 h 2453"/>
              <a:gd name="T28" fmla="*/ 15 w 15"/>
              <a:gd name="T29" fmla="*/ 557 h 2453"/>
              <a:gd name="T30" fmla="*/ 15 w 15"/>
              <a:gd name="T31" fmla="*/ 627 h 2453"/>
              <a:gd name="T32" fmla="*/ 0 w 15"/>
              <a:gd name="T33" fmla="*/ 641 h 2453"/>
              <a:gd name="T34" fmla="*/ 15 w 15"/>
              <a:gd name="T35" fmla="*/ 696 h 2453"/>
              <a:gd name="T36" fmla="*/ 0 w 15"/>
              <a:gd name="T37" fmla="*/ 738 h 2453"/>
              <a:gd name="T38" fmla="*/ 15 w 15"/>
              <a:gd name="T39" fmla="*/ 752 h 2453"/>
              <a:gd name="T40" fmla="*/ 15 w 15"/>
              <a:gd name="T41" fmla="*/ 822 h 2453"/>
              <a:gd name="T42" fmla="*/ 0 w 15"/>
              <a:gd name="T43" fmla="*/ 835 h 2453"/>
              <a:gd name="T44" fmla="*/ 15 w 15"/>
              <a:gd name="T45" fmla="*/ 891 h 2453"/>
              <a:gd name="T46" fmla="*/ 0 w 15"/>
              <a:gd name="T47" fmla="*/ 933 h 2453"/>
              <a:gd name="T48" fmla="*/ 15 w 15"/>
              <a:gd name="T49" fmla="*/ 947 h 2453"/>
              <a:gd name="T50" fmla="*/ 15 w 15"/>
              <a:gd name="T51" fmla="*/ 1016 h 2453"/>
              <a:gd name="T52" fmla="*/ 0 w 15"/>
              <a:gd name="T53" fmla="*/ 1030 h 2453"/>
              <a:gd name="T54" fmla="*/ 15 w 15"/>
              <a:gd name="T55" fmla="*/ 1086 h 2453"/>
              <a:gd name="T56" fmla="*/ 0 w 15"/>
              <a:gd name="T57" fmla="*/ 1127 h 2453"/>
              <a:gd name="T58" fmla="*/ 15 w 15"/>
              <a:gd name="T59" fmla="*/ 1141 h 2453"/>
              <a:gd name="T60" fmla="*/ 15 w 15"/>
              <a:gd name="T61" fmla="*/ 1211 h 2453"/>
              <a:gd name="T62" fmla="*/ 0 w 15"/>
              <a:gd name="T63" fmla="*/ 1225 h 2453"/>
              <a:gd name="T64" fmla="*/ 15 w 15"/>
              <a:gd name="T65" fmla="*/ 1281 h 2453"/>
              <a:gd name="T66" fmla="*/ 0 w 15"/>
              <a:gd name="T67" fmla="*/ 1322 h 2453"/>
              <a:gd name="T68" fmla="*/ 15 w 15"/>
              <a:gd name="T69" fmla="*/ 1336 h 2453"/>
              <a:gd name="T70" fmla="*/ 15 w 15"/>
              <a:gd name="T71" fmla="*/ 1406 h 2453"/>
              <a:gd name="T72" fmla="*/ 0 w 15"/>
              <a:gd name="T73" fmla="*/ 1420 h 2453"/>
              <a:gd name="T74" fmla="*/ 15 w 15"/>
              <a:gd name="T75" fmla="*/ 1475 h 2453"/>
              <a:gd name="T76" fmla="*/ 0 w 15"/>
              <a:gd name="T77" fmla="*/ 1517 h 2453"/>
              <a:gd name="T78" fmla="*/ 15 w 15"/>
              <a:gd name="T79" fmla="*/ 1531 h 2453"/>
              <a:gd name="T80" fmla="*/ 15 w 15"/>
              <a:gd name="T81" fmla="*/ 1601 h 2453"/>
              <a:gd name="T82" fmla="*/ 0 w 15"/>
              <a:gd name="T83" fmla="*/ 1615 h 2453"/>
              <a:gd name="T84" fmla="*/ 15 w 15"/>
              <a:gd name="T85" fmla="*/ 1670 h 2453"/>
              <a:gd name="T86" fmla="*/ 0 w 15"/>
              <a:gd name="T87" fmla="*/ 1712 h 2453"/>
              <a:gd name="T88" fmla="*/ 15 w 15"/>
              <a:gd name="T89" fmla="*/ 1726 h 2453"/>
              <a:gd name="T90" fmla="*/ 15 w 15"/>
              <a:gd name="T91" fmla="*/ 1795 h 2453"/>
              <a:gd name="T92" fmla="*/ 0 w 15"/>
              <a:gd name="T93" fmla="*/ 1809 h 2453"/>
              <a:gd name="T94" fmla="*/ 15 w 15"/>
              <a:gd name="T95" fmla="*/ 1865 h 2453"/>
              <a:gd name="T96" fmla="*/ 0 w 15"/>
              <a:gd name="T97" fmla="*/ 1907 h 2453"/>
              <a:gd name="T98" fmla="*/ 15 w 15"/>
              <a:gd name="T99" fmla="*/ 1921 h 2453"/>
              <a:gd name="T100" fmla="*/ 15 w 15"/>
              <a:gd name="T101" fmla="*/ 1990 h 2453"/>
              <a:gd name="T102" fmla="*/ 0 w 15"/>
              <a:gd name="T103" fmla="*/ 2004 h 2453"/>
              <a:gd name="T104" fmla="*/ 15 w 15"/>
              <a:gd name="T105" fmla="*/ 2060 h 2453"/>
              <a:gd name="T106" fmla="*/ 0 w 15"/>
              <a:gd name="T107" fmla="*/ 2102 h 2453"/>
              <a:gd name="T108" fmla="*/ 15 w 15"/>
              <a:gd name="T109" fmla="*/ 2116 h 2453"/>
              <a:gd name="T110" fmla="*/ 15 w 15"/>
              <a:gd name="T111" fmla="*/ 2185 h 2453"/>
              <a:gd name="T112" fmla="*/ 0 w 15"/>
              <a:gd name="T113" fmla="*/ 2199 h 2453"/>
              <a:gd name="T114" fmla="*/ 15 w 15"/>
              <a:gd name="T115" fmla="*/ 2254 h 2453"/>
              <a:gd name="T116" fmla="*/ 0 w 15"/>
              <a:gd name="T117" fmla="*/ 2296 h 2453"/>
              <a:gd name="T118" fmla="*/ 15 w 15"/>
              <a:gd name="T119" fmla="*/ 2310 h 2453"/>
              <a:gd name="T120" fmla="*/ 15 w 15"/>
              <a:gd name="T121" fmla="*/ 2380 h 2453"/>
              <a:gd name="T122" fmla="*/ 0 w 15"/>
              <a:gd name="T123" fmla="*/ 2394 h 2453"/>
              <a:gd name="T124" fmla="*/ 15 w 15"/>
              <a:gd name="T125" fmla="*/ 2449 h 24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15" h="2453">
                <a:moveTo>
                  <a:pt x="15" y="0"/>
                </a:moveTo>
                <a:lnTo>
                  <a:pt x="15" y="14"/>
                </a:lnTo>
                <a:lnTo>
                  <a:pt x="0" y="14"/>
                </a:lnTo>
                <a:lnTo>
                  <a:pt x="0" y="0"/>
                </a:lnTo>
                <a:lnTo>
                  <a:pt x="15" y="0"/>
                </a:lnTo>
                <a:close/>
                <a:moveTo>
                  <a:pt x="15" y="28"/>
                </a:moveTo>
                <a:lnTo>
                  <a:pt x="15" y="42"/>
                </a:lnTo>
                <a:lnTo>
                  <a:pt x="0" y="42"/>
                </a:lnTo>
                <a:lnTo>
                  <a:pt x="0" y="28"/>
                </a:lnTo>
                <a:lnTo>
                  <a:pt x="15" y="28"/>
                </a:lnTo>
                <a:close/>
                <a:moveTo>
                  <a:pt x="15" y="56"/>
                </a:moveTo>
                <a:lnTo>
                  <a:pt x="15" y="70"/>
                </a:lnTo>
                <a:lnTo>
                  <a:pt x="0" y="70"/>
                </a:lnTo>
                <a:lnTo>
                  <a:pt x="0" y="56"/>
                </a:lnTo>
                <a:lnTo>
                  <a:pt x="15" y="56"/>
                </a:lnTo>
                <a:close/>
                <a:moveTo>
                  <a:pt x="15" y="84"/>
                </a:moveTo>
                <a:lnTo>
                  <a:pt x="15" y="98"/>
                </a:lnTo>
                <a:lnTo>
                  <a:pt x="0" y="98"/>
                </a:lnTo>
                <a:lnTo>
                  <a:pt x="0" y="84"/>
                </a:lnTo>
                <a:lnTo>
                  <a:pt x="15" y="84"/>
                </a:lnTo>
                <a:close/>
                <a:moveTo>
                  <a:pt x="15" y="112"/>
                </a:moveTo>
                <a:lnTo>
                  <a:pt x="15" y="126"/>
                </a:lnTo>
                <a:lnTo>
                  <a:pt x="0" y="126"/>
                </a:lnTo>
                <a:lnTo>
                  <a:pt x="0" y="112"/>
                </a:lnTo>
                <a:lnTo>
                  <a:pt x="15" y="112"/>
                </a:lnTo>
                <a:close/>
                <a:moveTo>
                  <a:pt x="15" y="140"/>
                </a:moveTo>
                <a:lnTo>
                  <a:pt x="15" y="154"/>
                </a:lnTo>
                <a:lnTo>
                  <a:pt x="0" y="154"/>
                </a:lnTo>
                <a:lnTo>
                  <a:pt x="0" y="140"/>
                </a:lnTo>
                <a:lnTo>
                  <a:pt x="15" y="140"/>
                </a:lnTo>
                <a:close/>
                <a:moveTo>
                  <a:pt x="15" y="167"/>
                </a:moveTo>
                <a:lnTo>
                  <a:pt x="15" y="181"/>
                </a:lnTo>
                <a:lnTo>
                  <a:pt x="0" y="181"/>
                </a:lnTo>
                <a:lnTo>
                  <a:pt x="0" y="167"/>
                </a:lnTo>
                <a:lnTo>
                  <a:pt x="15" y="167"/>
                </a:lnTo>
                <a:close/>
                <a:moveTo>
                  <a:pt x="15" y="195"/>
                </a:moveTo>
                <a:lnTo>
                  <a:pt x="15" y="209"/>
                </a:lnTo>
                <a:lnTo>
                  <a:pt x="0" y="209"/>
                </a:lnTo>
                <a:lnTo>
                  <a:pt x="0" y="195"/>
                </a:lnTo>
                <a:lnTo>
                  <a:pt x="15" y="195"/>
                </a:lnTo>
                <a:close/>
                <a:moveTo>
                  <a:pt x="15" y="223"/>
                </a:moveTo>
                <a:lnTo>
                  <a:pt x="15" y="237"/>
                </a:lnTo>
                <a:lnTo>
                  <a:pt x="0" y="237"/>
                </a:lnTo>
                <a:lnTo>
                  <a:pt x="0" y="223"/>
                </a:lnTo>
                <a:lnTo>
                  <a:pt x="15" y="223"/>
                </a:lnTo>
                <a:close/>
                <a:moveTo>
                  <a:pt x="15" y="251"/>
                </a:moveTo>
                <a:lnTo>
                  <a:pt x="15" y="265"/>
                </a:lnTo>
                <a:lnTo>
                  <a:pt x="0" y="265"/>
                </a:lnTo>
                <a:lnTo>
                  <a:pt x="0" y="251"/>
                </a:lnTo>
                <a:lnTo>
                  <a:pt x="15" y="251"/>
                </a:lnTo>
                <a:close/>
                <a:moveTo>
                  <a:pt x="15" y="279"/>
                </a:moveTo>
                <a:lnTo>
                  <a:pt x="15" y="293"/>
                </a:lnTo>
                <a:lnTo>
                  <a:pt x="0" y="293"/>
                </a:lnTo>
                <a:lnTo>
                  <a:pt x="0" y="279"/>
                </a:lnTo>
                <a:lnTo>
                  <a:pt x="15" y="279"/>
                </a:lnTo>
                <a:close/>
                <a:moveTo>
                  <a:pt x="15" y="307"/>
                </a:moveTo>
                <a:lnTo>
                  <a:pt x="15" y="321"/>
                </a:lnTo>
                <a:lnTo>
                  <a:pt x="0" y="321"/>
                </a:lnTo>
                <a:lnTo>
                  <a:pt x="0" y="307"/>
                </a:lnTo>
                <a:lnTo>
                  <a:pt x="15" y="307"/>
                </a:lnTo>
                <a:close/>
                <a:moveTo>
                  <a:pt x="15" y="334"/>
                </a:moveTo>
                <a:lnTo>
                  <a:pt x="15" y="348"/>
                </a:lnTo>
                <a:lnTo>
                  <a:pt x="0" y="348"/>
                </a:lnTo>
                <a:lnTo>
                  <a:pt x="0" y="334"/>
                </a:lnTo>
                <a:lnTo>
                  <a:pt x="15" y="334"/>
                </a:lnTo>
                <a:close/>
                <a:moveTo>
                  <a:pt x="15" y="362"/>
                </a:moveTo>
                <a:lnTo>
                  <a:pt x="15" y="376"/>
                </a:lnTo>
                <a:lnTo>
                  <a:pt x="0" y="376"/>
                </a:lnTo>
                <a:lnTo>
                  <a:pt x="0" y="362"/>
                </a:lnTo>
                <a:lnTo>
                  <a:pt x="15" y="362"/>
                </a:lnTo>
                <a:close/>
                <a:moveTo>
                  <a:pt x="15" y="390"/>
                </a:moveTo>
                <a:lnTo>
                  <a:pt x="15" y="404"/>
                </a:lnTo>
                <a:lnTo>
                  <a:pt x="0" y="404"/>
                </a:lnTo>
                <a:lnTo>
                  <a:pt x="0" y="390"/>
                </a:lnTo>
                <a:lnTo>
                  <a:pt x="15" y="390"/>
                </a:lnTo>
                <a:close/>
                <a:moveTo>
                  <a:pt x="15" y="418"/>
                </a:moveTo>
                <a:lnTo>
                  <a:pt x="15" y="432"/>
                </a:lnTo>
                <a:lnTo>
                  <a:pt x="0" y="432"/>
                </a:lnTo>
                <a:lnTo>
                  <a:pt x="0" y="418"/>
                </a:lnTo>
                <a:lnTo>
                  <a:pt x="15" y="418"/>
                </a:lnTo>
                <a:close/>
                <a:moveTo>
                  <a:pt x="15" y="446"/>
                </a:moveTo>
                <a:lnTo>
                  <a:pt x="15" y="460"/>
                </a:lnTo>
                <a:lnTo>
                  <a:pt x="0" y="460"/>
                </a:lnTo>
                <a:lnTo>
                  <a:pt x="0" y="446"/>
                </a:lnTo>
                <a:lnTo>
                  <a:pt x="15" y="446"/>
                </a:lnTo>
                <a:close/>
                <a:moveTo>
                  <a:pt x="15" y="474"/>
                </a:moveTo>
                <a:lnTo>
                  <a:pt x="15" y="488"/>
                </a:lnTo>
                <a:lnTo>
                  <a:pt x="0" y="488"/>
                </a:lnTo>
                <a:lnTo>
                  <a:pt x="0" y="474"/>
                </a:lnTo>
                <a:lnTo>
                  <a:pt x="15" y="474"/>
                </a:lnTo>
                <a:close/>
                <a:moveTo>
                  <a:pt x="15" y="501"/>
                </a:moveTo>
                <a:lnTo>
                  <a:pt x="15" y="515"/>
                </a:lnTo>
                <a:lnTo>
                  <a:pt x="0" y="515"/>
                </a:lnTo>
                <a:lnTo>
                  <a:pt x="0" y="501"/>
                </a:lnTo>
                <a:lnTo>
                  <a:pt x="15" y="501"/>
                </a:lnTo>
                <a:close/>
                <a:moveTo>
                  <a:pt x="15" y="529"/>
                </a:moveTo>
                <a:lnTo>
                  <a:pt x="15" y="543"/>
                </a:lnTo>
                <a:lnTo>
                  <a:pt x="0" y="543"/>
                </a:lnTo>
                <a:lnTo>
                  <a:pt x="0" y="529"/>
                </a:lnTo>
                <a:lnTo>
                  <a:pt x="15" y="529"/>
                </a:lnTo>
                <a:close/>
                <a:moveTo>
                  <a:pt x="15" y="557"/>
                </a:moveTo>
                <a:lnTo>
                  <a:pt x="15" y="571"/>
                </a:lnTo>
                <a:lnTo>
                  <a:pt x="0" y="571"/>
                </a:lnTo>
                <a:lnTo>
                  <a:pt x="0" y="557"/>
                </a:lnTo>
                <a:lnTo>
                  <a:pt x="15" y="557"/>
                </a:lnTo>
                <a:close/>
                <a:moveTo>
                  <a:pt x="15" y="585"/>
                </a:moveTo>
                <a:lnTo>
                  <a:pt x="15" y="599"/>
                </a:lnTo>
                <a:lnTo>
                  <a:pt x="0" y="599"/>
                </a:lnTo>
                <a:lnTo>
                  <a:pt x="0" y="585"/>
                </a:lnTo>
                <a:lnTo>
                  <a:pt x="15" y="585"/>
                </a:lnTo>
                <a:close/>
                <a:moveTo>
                  <a:pt x="15" y="613"/>
                </a:moveTo>
                <a:lnTo>
                  <a:pt x="15" y="627"/>
                </a:lnTo>
                <a:lnTo>
                  <a:pt x="0" y="627"/>
                </a:lnTo>
                <a:lnTo>
                  <a:pt x="0" y="613"/>
                </a:lnTo>
                <a:lnTo>
                  <a:pt x="15" y="613"/>
                </a:lnTo>
                <a:close/>
                <a:moveTo>
                  <a:pt x="15" y="641"/>
                </a:moveTo>
                <a:lnTo>
                  <a:pt x="15" y="655"/>
                </a:lnTo>
                <a:lnTo>
                  <a:pt x="0" y="655"/>
                </a:lnTo>
                <a:lnTo>
                  <a:pt x="0" y="641"/>
                </a:lnTo>
                <a:lnTo>
                  <a:pt x="15" y="641"/>
                </a:lnTo>
                <a:close/>
                <a:moveTo>
                  <a:pt x="15" y="668"/>
                </a:moveTo>
                <a:lnTo>
                  <a:pt x="15" y="682"/>
                </a:lnTo>
                <a:lnTo>
                  <a:pt x="0" y="682"/>
                </a:lnTo>
                <a:lnTo>
                  <a:pt x="0" y="668"/>
                </a:lnTo>
                <a:lnTo>
                  <a:pt x="15" y="668"/>
                </a:lnTo>
                <a:close/>
                <a:moveTo>
                  <a:pt x="15" y="696"/>
                </a:moveTo>
                <a:lnTo>
                  <a:pt x="15" y="710"/>
                </a:lnTo>
                <a:lnTo>
                  <a:pt x="0" y="710"/>
                </a:lnTo>
                <a:lnTo>
                  <a:pt x="0" y="696"/>
                </a:lnTo>
                <a:lnTo>
                  <a:pt x="15" y="696"/>
                </a:lnTo>
                <a:close/>
                <a:moveTo>
                  <a:pt x="15" y="724"/>
                </a:moveTo>
                <a:lnTo>
                  <a:pt x="15" y="738"/>
                </a:lnTo>
                <a:lnTo>
                  <a:pt x="0" y="738"/>
                </a:lnTo>
                <a:lnTo>
                  <a:pt x="0" y="724"/>
                </a:lnTo>
                <a:lnTo>
                  <a:pt x="15" y="724"/>
                </a:lnTo>
                <a:close/>
                <a:moveTo>
                  <a:pt x="15" y="752"/>
                </a:moveTo>
                <a:lnTo>
                  <a:pt x="15" y="766"/>
                </a:lnTo>
                <a:lnTo>
                  <a:pt x="0" y="766"/>
                </a:lnTo>
                <a:lnTo>
                  <a:pt x="0" y="752"/>
                </a:lnTo>
                <a:lnTo>
                  <a:pt x="15" y="752"/>
                </a:lnTo>
                <a:close/>
                <a:moveTo>
                  <a:pt x="15" y="780"/>
                </a:moveTo>
                <a:lnTo>
                  <a:pt x="15" y="793"/>
                </a:lnTo>
                <a:lnTo>
                  <a:pt x="0" y="793"/>
                </a:lnTo>
                <a:lnTo>
                  <a:pt x="0" y="780"/>
                </a:lnTo>
                <a:lnTo>
                  <a:pt x="15" y="780"/>
                </a:lnTo>
                <a:close/>
                <a:moveTo>
                  <a:pt x="15" y="808"/>
                </a:moveTo>
                <a:lnTo>
                  <a:pt x="15" y="822"/>
                </a:lnTo>
                <a:lnTo>
                  <a:pt x="0" y="822"/>
                </a:lnTo>
                <a:lnTo>
                  <a:pt x="0" y="808"/>
                </a:lnTo>
                <a:lnTo>
                  <a:pt x="15" y="808"/>
                </a:lnTo>
                <a:close/>
                <a:moveTo>
                  <a:pt x="15" y="835"/>
                </a:moveTo>
                <a:lnTo>
                  <a:pt x="15" y="849"/>
                </a:lnTo>
                <a:lnTo>
                  <a:pt x="0" y="849"/>
                </a:lnTo>
                <a:lnTo>
                  <a:pt x="0" y="835"/>
                </a:lnTo>
                <a:lnTo>
                  <a:pt x="15" y="835"/>
                </a:lnTo>
                <a:close/>
                <a:moveTo>
                  <a:pt x="15" y="863"/>
                </a:moveTo>
                <a:lnTo>
                  <a:pt x="15" y="877"/>
                </a:lnTo>
                <a:lnTo>
                  <a:pt x="0" y="877"/>
                </a:lnTo>
                <a:lnTo>
                  <a:pt x="0" y="863"/>
                </a:lnTo>
                <a:lnTo>
                  <a:pt x="15" y="863"/>
                </a:lnTo>
                <a:close/>
                <a:moveTo>
                  <a:pt x="15" y="891"/>
                </a:moveTo>
                <a:lnTo>
                  <a:pt x="15" y="905"/>
                </a:lnTo>
                <a:lnTo>
                  <a:pt x="0" y="905"/>
                </a:lnTo>
                <a:lnTo>
                  <a:pt x="0" y="891"/>
                </a:lnTo>
                <a:lnTo>
                  <a:pt x="15" y="891"/>
                </a:lnTo>
                <a:close/>
                <a:moveTo>
                  <a:pt x="15" y="919"/>
                </a:moveTo>
                <a:lnTo>
                  <a:pt x="15" y="933"/>
                </a:lnTo>
                <a:lnTo>
                  <a:pt x="0" y="933"/>
                </a:lnTo>
                <a:lnTo>
                  <a:pt x="0" y="919"/>
                </a:lnTo>
                <a:lnTo>
                  <a:pt x="15" y="919"/>
                </a:lnTo>
                <a:close/>
                <a:moveTo>
                  <a:pt x="15" y="947"/>
                </a:moveTo>
                <a:lnTo>
                  <a:pt x="15" y="960"/>
                </a:lnTo>
                <a:lnTo>
                  <a:pt x="0" y="960"/>
                </a:lnTo>
                <a:lnTo>
                  <a:pt x="0" y="947"/>
                </a:lnTo>
                <a:lnTo>
                  <a:pt x="15" y="947"/>
                </a:lnTo>
                <a:close/>
                <a:moveTo>
                  <a:pt x="15" y="974"/>
                </a:moveTo>
                <a:lnTo>
                  <a:pt x="15" y="988"/>
                </a:lnTo>
                <a:lnTo>
                  <a:pt x="0" y="988"/>
                </a:lnTo>
                <a:lnTo>
                  <a:pt x="0" y="974"/>
                </a:lnTo>
                <a:lnTo>
                  <a:pt x="15" y="974"/>
                </a:lnTo>
                <a:close/>
                <a:moveTo>
                  <a:pt x="15" y="1002"/>
                </a:moveTo>
                <a:lnTo>
                  <a:pt x="15" y="1016"/>
                </a:lnTo>
                <a:lnTo>
                  <a:pt x="0" y="1016"/>
                </a:lnTo>
                <a:lnTo>
                  <a:pt x="0" y="1002"/>
                </a:lnTo>
                <a:lnTo>
                  <a:pt x="15" y="1002"/>
                </a:lnTo>
                <a:close/>
                <a:moveTo>
                  <a:pt x="15" y="1030"/>
                </a:moveTo>
                <a:lnTo>
                  <a:pt x="15" y="1044"/>
                </a:lnTo>
                <a:lnTo>
                  <a:pt x="0" y="1044"/>
                </a:lnTo>
                <a:lnTo>
                  <a:pt x="0" y="1030"/>
                </a:lnTo>
                <a:lnTo>
                  <a:pt x="15" y="1030"/>
                </a:lnTo>
                <a:close/>
                <a:moveTo>
                  <a:pt x="15" y="1058"/>
                </a:moveTo>
                <a:lnTo>
                  <a:pt x="15" y="1072"/>
                </a:lnTo>
                <a:lnTo>
                  <a:pt x="0" y="1072"/>
                </a:lnTo>
                <a:lnTo>
                  <a:pt x="0" y="1058"/>
                </a:lnTo>
                <a:lnTo>
                  <a:pt x="15" y="1058"/>
                </a:lnTo>
                <a:close/>
                <a:moveTo>
                  <a:pt x="15" y="1086"/>
                </a:moveTo>
                <a:lnTo>
                  <a:pt x="15" y="1100"/>
                </a:lnTo>
                <a:lnTo>
                  <a:pt x="0" y="1100"/>
                </a:lnTo>
                <a:lnTo>
                  <a:pt x="0" y="1086"/>
                </a:lnTo>
                <a:lnTo>
                  <a:pt x="15" y="1086"/>
                </a:lnTo>
                <a:close/>
                <a:moveTo>
                  <a:pt x="15" y="1114"/>
                </a:moveTo>
                <a:lnTo>
                  <a:pt x="15" y="1127"/>
                </a:lnTo>
                <a:lnTo>
                  <a:pt x="0" y="1127"/>
                </a:lnTo>
                <a:lnTo>
                  <a:pt x="0" y="1114"/>
                </a:lnTo>
                <a:lnTo>
                  <a:pt x="15" y="1114"/>
                </a:lnTo>
                <a:close/>
                <a:moveTo>
                  <a:pt x="15" y="1141"/>
                </a:moveTo>
                <a:lnTo>
                  <a:pt x="15" y="1155"/>
                </a:lnTo>
                <a:lnTo>
                  <a:pt x="0" y="1155"/>
                </a:lnTo>
                <a:lnTo>
                  <a:pt x="0" y="1141"/>
                </a:lnTo>
                <a:lnTo>
                  <a:pt x="15" y="1141"/>
                </a:lnTo>
                <a:close/>
                <a:moveTo>
                  <a:pt x="15" y="1169"/>
                </a:moveTo>
                <a:lnTo>
                  <a:pt x="15" y="1183"/>
                </a:lnTo>
                <a:lnTo>
                  <a:pt x="0" y="1183"/>
                </a:lnTo>
                <a:lnTo>
                  <a:pt x="0" y="1169"/>
                </a:lnTo>
                <a:lnTo>
                  <a:pt x="15" y="1169"/>
                </a:lnTo>
                <a:close/>
                <a:moveTo>
                  <a:pt x="15" y="1197"/>
                </a:moveTo>
                <a:lnTo>
                  <a:pt x="15" y="1211"/>
                </a:lnTo>
                <a:lnTo>
                  <a:pt x="0" y="1211"/>
                </a:lnTo>
                <a:lnTo>
                  <a:pt x="0" y="1197"/>
                </a:lnTo>
                <a:lnTo>
                  <a:pt x="15" y="1197"/>
                </a:lnTo>
                <a:close/>
                <a:moveTo>
                  <a:pt x="15" y="1225"/>
                </a:moveTo>
                <a:lnTo>
                  <a:pt x="15" y="1239"/>
                </a:lnTo>
                <a:lnTo>
                  <a:pt x="0" y="1239"/>
                </a:lnTo>
                <a:lnTo>
                  <a:pt x="0" y="1225"/>
                </a:lnTo>
                <a:lnTo>
                  <a:pt x="15" y="1225"/>
                </a:lnTo>
                <a:close/>
                <a:moveTo>
                  <a:pt x="15" y="1253"/>
                </a:moveTo>
                <a:lnTo>
                  <a:pt x="15" y="1267"/>
                </a:lnTo>
                <a:lnTo>
                  <a:pt x="0" y="1267"/>
                </a:lnTo>
                <a:lnTo>
                  <a:pt x="0" y="1253"/>
                </a:lnTo>
                <a:lnTo>
                  <a:pt x="15" y="1253"/>
                </a:lnTo>
                <a:close/>
                <a:moveTo>
                  <a:pt x="15" y="1281"/>
                </a:moveTo>
                <a:lnTo>
                  <a:pt x="15" y="1294"/>
                </a:lnTo>
                <a:lnTo>
                  <a:pt x="0" y="1294"/>
                </a:lnTo>
                <a:lnTo>
                  <a:pt x="0" y="1281"/>
                </a:lnTo>
                <a:lnTo>
                  <a:pt x="15" y="1281"/>
                </a:lnTo>
                <a:close/>
                <a:moveTo>
                  <a:pt x="15" y="1308"/>
                </a:moveTo>
                <a:lnTo>
                  <a:pt x="15" y="1322"/>
                </a:lnTo>
                <a:lnTo>
                  <a:pt x="0" y="1322"/>
                </a:lnTo>
                <a:lnTo>
                  <a:pt x="0" y="1308"/>
                </a:lnTo>
                <a:lnTo>
                  <a:pt x="15" y="1308"/>
                </a:lnTo>
                <a:close/>
                <a:moveTo>
                  <a:pt x="15" y="1336"/>
                </a:moveTo>
                <a:lnTo>
                  <a:pt x="15" y="1350"/>
                </a:lnTo>
                <a:lnTo>
                  <a:pt x="0" y="1350"/>
                </a:lnTo>
                <a:lnTo>
                  <a:pt x="0" y="1336"/>
                </a:lnTo>
                <a:lnTo>
                  <a:pt x="15" y="1336"/>
                </a:lnTo>
                <a:close/>
                <a:moveTo>
                  <a:pt x="15" y="1364"/>
                </a:moveTo>
                <a:lnTo>
                  <a:pt x="15" y="1378"/>
                </a:lnTo>
                <a:lnTo>
                  <a:pt x="0" y="1378"/>
                </a:lnTo>
                <a:lnTo>
                  <a:pt x="0" y="1364"/>
                </a:lnTo>
                <a:lnTo>
                  <a:pt x="15" y="1364"/>
                </a:lnTo>
                <a:close/>
                <a:moveTo>
                  <a:pt x="15" y="1392"/>
                </a:moveTo>
                <a:lnTo>
                  <a:pt x="15" y="1406"/>
                </a:lnTo>
                <a:lnTo>
                  <a:pt x="0" y="1406"/>
                </a:lnTo>
                <a:lnTo>
                  <a:pt x="0" y="1392"/>
                </a:lnTo>
                <a:lnTo>
                  <a:pt x="15" y="1392"/>
                </a:lnTo>
                <a:close/>
                <a:moveTo>
                  <a:pt x="15" y="1420"/>
                </a:moveTo>
                <a:lnTo>
                  <a:pt x="15" y="1434"/>
                </a:lnTo>
                <a:lnTo>
                  <a:pt x="0" y="1434"/>
                </a:lnTo>
                <a:lnTo>
                  <a:pt x="0" y="1420"/>
                </a:lnTo>
                <a:lnTo>
                  <a:pt x="15" y="1420"/>
                </a:lnTo>
                <a:close/>
                <a:moveTo>
                  <a:pt x="15" y="1448"/>
                </a:moveTo>
                <a:lnTo>
                  <a:pt x="15" y="1461"/>
                </a:lnTo>
                <a:lnTo>
                  <a:pt x="0" y="1461"/>
                </a:lnTo>
                <a:lnTo>
                  <a:pt x="0" y="1448"/>
                </a:lnTo>
                <a:lnTo>
                  <a:pt x="15" y="1448"/>
                </a:lnTo>
                <a:close/>
                <a:moveTo>
                  <a:pt x="15" y="1475"/>
                </a:moveTo>
                <a:lnTo>
                  <a:pt x="15" y="1489"/>
                </a:lnTo>
                <a:lnTo>
                  <a:pt x="0" y="1489"/>
                </a:lnTo>
                <a:lnTo>
                  <a:pt x="0" y="1475"/>
                </a:lnTo>
                <a:lnTo>
                  <a:pt x="15" y="1475"/>
                </a:lnTo>
                <a:close/>
                <a:moveTo>
                  <a:pt x="15" y="1503"/>
                </a:moveTo>
                <a:lnTo>
                  <a:pt x="15" y="1517"/>
                </a:lnTo>
                <a:lnTo>
                  <a:pt x="0" y="1517"/>
                </a:lnTo>
                <a:lnTo>
                  <a:pt x="0" y="1503"/>
                </a:lnTo>
                <a:lnTo>
                  <a:pt x="15" y="1503"/>
                </a:lnTo>
                <a:close/>
                <a:moveTo>
                  <a:pt x="15" y="1531"/>
                </a:moveTo>
                <a:lnTo>
                  <a:pt x="15" y="1545"/>
                </a:lnTo>
                <a:lnTo>
                  <a:pt x="0" y="1545"/>
                </a:lnTo>
                <a:lnTo>
                  <a:pt x="0" y="1531"/>
                </a:lnTo>
                <a:lnTo>
                  <a:pt x="15" y="1531"/>
                </a:lnTo>
                <a:close/>
                <a:moveTo>
                  <a:pt x="15" y="1559"/>
                </a:moveTo>
                <a:lnTo>
                  <a:pt x="15" y="1573"/>
                </a:lnTo>
                <a:lnTo>
                  <a:pt x="0" y="1573"/>
                </a:lnTo>
                <a:lnTo>
                  <a:pt x="0" y="1559"/>
                </a:lnTo>
                <a:lnTo>
                  <a:pt x="15" y="1559"/>
                </a:lnTo>
                <a:close/>
                <a:moveTo>
                  <a:pt x="15" y="1587"/>
                </a:moveTo>
                <a:lnTo>
                  <a:pt x="15" y="1601"/>
                </a:lnTo>
                <a:lnTo>
                  <a:pt x="0" y="1601"/>
                </a:lnTo>
                <a:lnTo>
                  <a:pt x="0" y="1587"/>
                </a:lnTo>
                <a:lnTo>
                  <a:pt x="15" y="1587"/>
                </a:lnTo>
                <a:close/>
                <a:moveTo>
                  <a:pt x="15" y="1615"/>
                </a:moveTo>
                <a:lnTo>
                  <a:pt x="15" y="1628"/>
                </a:lnTo>
                <a:lnTo>
                  <a:pt x="0" y="1628"/>
                </a:lnTo>
                <a:lnTo>
                  <a:pt x="0" y="1615"/>
                </a:lnTo>
                <a:lnTo>
                  <a:pt x="15" y="1615"/>
                </a:lnTo>
                <a:close/>
                <a:moveTo>
                  <a:pt x="15" y="1642"/>
                </a:moveTo>
                <a:lnTo>
                  <a:pt x="15" y="1656"/>
                </a:lnTo>
                <a:lnTo>
                  <a:pt x="0" y="1656"/>
                </a:lnTo>
                <a:lnTo>
                  <a:pt x="0" y="1642"/>
                </a:lnTo>
                <a:lnTo>
                  <a:pt x="15" y="1642"/>
                </a:lnTo>
                <a:close/>
                <a:moveTo>
                  <a:pt x="15" y="1670"/>
                </a:moveTo>
                <a:lnTo>
                  <a:pt x="15" y="1684"/>
                </a:lnTo>
                <a:lnTo>
                  <a:pt x="0" y="1684"/>
                </a:lnTo>
                <a:lnTo>
                  <a:pt x="0" y="1670"/>
                </a:lnTo>
                <a:lnTo>
                  <a:pt x="15" y="1670"/>
                </a:lnTo>
                <a:close/>
                <a:moveTo>
                  <a:pt x="15" y="1698"/>
                </a:moveTo>
                <a:lnTo>
                  <a:pt x="15" y="1712"/>
                </a:lnTo>
                <a:lnTo>
                  <a:pt x="0" y="1712"/>
                </a:lnTo>
                <a:lnTo>
                  <a:pt x="0" y="1698"/>
                </a:lnTo>
                <a:lnTo>
                  <a:pt x="15" y="1698"/>
                </a:lnTo>
                <a:close/>
                <a:moveTo>
                  <a:pt x="15" y="1726"/>
                </a:moveTo>
                <a:lnTo>
                  <a:pt x="15" y="1740"/>
                </a:lnTo>
                <a:lnTo>
                  <a:pt x="0" y="1740"/>
                </a:lnTo>
                <a:lnTo>
                  <a:pt x="0" y="1726"/>
                </a:lnTo>
                <a:lnTo>
                  <a:pt x="15" y="1726"/>
                </a:lnTo>
                <a:close/>
                <a:moveTo>
                  <a:pt x="15" y="1754"/>
                </a:moveTo>
                <a:lnTo>
                  <a:pt x="15" y="1768"/>
                </a:lnTo>
                <a:lnTo>
                  <a:pt x="0" y="1768"/>
                </a:lnTo>
                <a:lnTo>
                  <a:pt x="0" y="1754"/>
                </a:lnTo>
                <a:lnTo>
                  <a:pt x="15" y="1754"/>
                </a:lnTo>
                <a:close/>
                <a:moveTo>
                  <a:pt x="15" y="1782"/>
                </a:moveTo>
                <a:lnTo>
                  <a:pt x="15" y="1795"/>
                </a:lnTo>
                <a:lnTo>
                  <a:pt x="0" y="1795"/>
                </a:lnTo>
                <a:lnTo>
                  <a:pt x="0" y="1782"/>
                </a:lnTo>
                <a:lnTo>
                  <a:pt x="15" y="1782"/>
                </a:lnTo>
                <a:close/>
                <a:moveTo>
                  <a:pt x="15" y="1809"/>
                </a:moveTo>
                <a:lnTo>
                  <a:pt x="15" y="1823"/>
                </a:lnTo>
                <a:lnTo>
                  <a:pt x="0" y="1823"/>
                </a:lnTo>
                <a:lnTo>
                  <a:pt x="0" y="1809"/>
                </a:lnTo>
                <a:lnTo>
                  <a:pt x="15" y="1809"/>
                </a:lnTo>
                <a:close/>
                <a:moveTo>
                  <a:pt x="15" y="1837"/>
                </a:moveTo>
                <a:lnTo>
                  <a:pt x="15" y="1851"/>
                </a:lnTo>
                <a:lnTo>
                  <a:pt x="0" y="1851"/>
                </a:lnTo>
                <a:lnTo>
                  <a:pt x="0" y="1837"/>
                </a:lnTo>
                <a:lnTo>
                  <a:pt x="15" y="1837"/>
                </a:lnTo>
                <a:close/>
                <a:moveTo>
                  <a:pt x="15" y="1865"/>
                </a:moveTo>
                <a:lnTo>
                  <a:pt x="15" y="1879"/>
                </a:lnTo>
                <a:lnTo>
                  <a:pt x="0" y="1879"/>
                </a:lnTo>
                <a:lnTo>
                  <a:pt x="0" y="1865"/>
                </a:lnTo>
                <a:lnTo>
                  <a:pt x="15" y="1865"/>
                </a:lnTo>
                <a:close/>
                <a:moveTo>
                  <a:pt x="15" y="1893"/>
                </a:moveTo>
                <a:lnTo>
                  <a:pt x="15" y="1907"/>
                </a:lnTo>
                <a:lnTo>
                  <a:pt x="0" y="1907"/>
                </a:lnTo>
                <a:lnTo>
                  <a:pt x="0" y="1893"/>
                </a:lnTo>
                <a:lnTo>
                  <a:pt x="15" y="1893"/>
                </a:lnTo>
                <a:close/>
                <a:moveTo>
                  <a:pt x="15" y="1921"/>
                </a:moveTo>
                <a:lnTo>
                  <a:pt x="15" y="1935"/>
                </a:lnTo>
                <a:lnTo>
                  <a:pt x="0" y="1935"/>
                </a:lnTo>
                <a:lnTo>
                  <a:pt x="0" y="1921"/>
                </a:lnTo>
                <a:lnTo>
                  <a:pt x="15" y="1921"/>
                </a:lnTo>
                <a:close/>
                <a:moveTo>
                  <a:pt x="15" y="1949"/>
                </a:moveTo>
                <a:lnTo>
                  <a:pt x="15" y="1962"/>
                </a:lnTo>
                <a:lnTo>
                  <a:pt x="0" y="1962"/>
                </a:lnTo>
                <a:lnTo>
                  <a:pt x="0" y="1949"/>
                </a:lnTo>
                <a:lnTo>
                  <a:pt x="15" y="1949"/>
                </a:lnTo>
                <a:close/>
                <a:moveTo>
                  <a:pt x="15" y="1976"/>
                </a:moveTo>
                <a:lnTo>
                  <a:pt x="15" y="1990"/>
                </a:lnTo>
                <a:lnTo>
                  <a:pt x="0" y="1990"/>
                </a:lnTo>
                <a:lnTo>
                  <a:pt x="0" y="1976"/>
                </a:lnTo>
                <a:lnTo>
                  <a:pt x="15" y="1976"/>
                </a:lnTo>
                <a:close/>
                <a:moveTo>
                  <a:pt x="15" y="2004"/>
                </a:moveTo>
                <a:lnTo>
                  <a:pt x="15" y="2018"/>
                </a:lnTo>
                <a:lnTo>
                  <a:pt x="0" y="2018"/>
                </a:lnTo>
                <a:lnTo>
                  <a:pt x="0" y="2004"/>
                </a:lnTo>
                <a:lnTo>
                  <a:pt x="15" y="2004"/>
                </a:lnTo>
                <a:close/>
                <a:moveTo>
                  <a:pt x="15" y="2032"/>
                </a:moveTo>
                <a:lnTo>
                  <a:pt x="15" y="2046"/>
                </a:lnTo>
                <a:lnTo>
                  <a:pt x="0" y="2046"/>
                </a:lnTo>
                <a:lnTo>
                  <a:pt x="0" y="2032"/>
                </a:lnTo>
                <a:lnTo>
                  <a:pt x="15" y="2032"/>
                </a:lnTo>
                <a:close/>
                <a:moveTo>
                  <a:pt x="15" y="2060"/>
                </a:moveTo>
                <a:lnTo>
                  <a:pt x="15" y="2074"/>
                </a:lnTo>
                <a:lnTo>
                  <a:pt x="0" y="2074"/>
                </a:lnTo>
                <a:lnTo>
                  <a:pt x="0" y="2060"/>
                </a:lnTo>
                <a:lnTo>
                  <a:pt x="15" y="2060"/>
                </a:lnTo>
                <a:close/>
                <a:moveTo>
                  <a:pt x="15" y="2087"/>
                </a:moveTo>
                <a:lnTo>
                  <a:pt x="15" y="2102"/>
                </a:lnTo>
                <a:lnTo>
                  <a:pt x="0" y="2102"/>
                </a:lnTo>
                <a:lnTo>
                  <a:pt x="0" y="2087"/>
                </a:lnTo>
                <a:lnTo>
                  <a:pt x="15" y="2087"/>
                </a:lnTo>
                <a:close/>
                <a:moveTo>
                  <a:pt x="15" y="2116"/>
                </a:moveTo>
                <a:lnTo>
                  <a:pt x="15" y="2129"/>
                </a:lnTo>
                <a:lnTo>
                  <a:pt x="0" y="2129"/>
                </a:lnTo>
                <a:lnTo>
                  <a:pt x="0" y="2116"/>
                </a:lnTo>
                <a:lnTo>
                  <a:pt x="15" y="2116"/>
                </a:lnTo>
                <a:close/>
                <a:moveTo>
                  <a:pt x="15" y="2143"/>
                </a:moveTo>
                <a:lnTo>
                  <a:pt x="15" y="2157"/>
                </a:lnTo>
                <a:lnTo>
                  <a:pt x="0" y="2157"/>
                </a:lnTo>
                <a:lnTo>
                  <a:pt x="0" y="2143"/>
                </a:lnTo>
                <a:lnTo>
                  <a:pt x="15" y="2143"/>
                </a:lnTo>
                <a:close/>
                <a:moveTo>
                  <a:pt x="15" y="2171"/>
                </a:moveTo>
                <a:lnTo>
                  <a:pt x="15" y="2185"/>
                </a:lnTo>
                <a:lnTo>
                  <a:pt x="0" y="2185"/>
                </a:lnTo>
                <a:lnTo>
                  <a:pt x="0" y="2171"/>
                </a:lnTo>
                <a:lnTo>
                  <a:pt x="15" y="2171"/>
                </a:lnTo>
                <a:close/>
                <a:moveTo>
                  <a:pt x="15" y="2199"/>
                </a:moveTo>
                <a:lnTo>
                  <a:pt x="15" y="2213"/>
                </a:lnTo>
                <a:lnTo>
                  <a:pt x="0" y="2213"/>
                </a:lnTo>
                <a:lnTo>
                  <a:pt x="0" y="2199"/>
                </a:lnTo>
                <a:lnTo>
                  <a:pt x="15" y="2199"/>
                </a:lnTo>
                <a:close/>
                <a:moveTo>
                  <a:pt x="15" y="2227"/>
                </a:moveTo>
                <a:lnTo>
                  <a:pt x="15" y="2241"/>
                </a:lnTo>
                <a:lnTo>
                  <a:pt x="0" y="2241"/>
                </a:lnTo>
                <a:lnTo>
                  <a:pt x="0" y="2227"/>
                </a:lnTo>
                <a:lnTo>
                  <a:pt x="15" y="2227"/>
                </a:lnTo>
                <a:close/>
                <a:moveTo>
                  <a:pt x="15" y="2254"/>
                </a:moveTo>
                <a:lnTo>
                  <a:pt x="15" y="2268"/>
                </a:lnTo>
                <a:lnTo>
                  <a:pt x="0" y="2268"/>
                </a:lnTo>
                <a:lnTo>
                  <a:pt x="0" y="2254"/>
                </a:lnTo>
                <a:lnTo>
                  <a:pt x="15" y="2254"/>
                </a:lnTo>
                <a:close/>
                <a:moveTo>
                  <a:pt x="15" y="2283"/>
                </a:moveTo>
                <a:lnTo>
                  <a:pt x="15" y="2296"/>
                </a:lnTo>
                <a:lnTo>
                  <a:pt x="0" y="2296"/>
                </a:lnTo>
                <a:lnTo>
                  <a:pt x="0" y="2283"/>
                </a:lnTo>
                <a:lnTo>
                  <a:pt x="15" y="2283"/>
                </a:lnTo>
                <a:close/>
                <a:moveTo>
                  <a:pt x="15" y="2310"/>
                </a:moveTo>
                <a:lnTo>
                  <a:pt x="15" y="2324"/>
                </a:lnTo>
                <a:lnTo>
                  <a:pt x="0" y="2324"/>
                </a:lnTo>
                <a:lnTo>
                  <a:pt x="0" y="2310"/>
                </a:lnTo>
                <a:lnTo>
                  <a:pt x="15" y="2310"/>
                </a:lnTo>
                <a:close/>
                <a:moveTo>
                  <a:pt x="15" y="2338"/>
                </a:moveTo>
                <a:lnTo>
                  <a:pt x="15" y="2352"/>
                </a:lnTo>
                <a:lnTo>
                  <a:pt x="0" y="2352"/>
                </a:lnTo>
                <a:lnTo>
                  <a:pt x="0" y="2338"/>
                </a:lnTo>
                <a:lnTo>
                  <a:pt x="15" y="2338"/>
                </a:lnTo>
                <a:close/>
                <a:moveTo>
                  <a:pt x="15" y="2366"/>
                </a:moveTo>
                <a:lnTo>
                  <a:pt x="15" y="2380"/>
                </a:lnTo>
                <a:lnTo>
                  <a:pt x="0" y="2380"/>
                </a:lnTo>
                <a:lnTo>
                  <a:pt x="0" y="2366"/>
                </a:lnTo>
                <a:lnTo>
                  <a:pt x="15" y="2366"/>
                </a:lnTo>
                <a:close/>
                <a:moveTo>
                  <a:pt x="15" y="2394"/>
                </a:moveTo>
                <a:lnTo>
                  <a:pt x="15" y="2408"/>
                </a:lnTo>
                <a:lnTo>
                  <a:pt x="0" y="2408"/>
                </a:lnTo>
                <a:lnTo>
                  <a:pt x="0" y="2394"/>
                </a:lnTo>
                <a:lnTo>
                  <a:pt x="15" y="2394"/>
                </a:lnTo>
                <a:close/>
                <a:moveTo>
                  <a:pt x="15" y="2421"/>
                </a:moveTo>
                <a:lnTo>
                  <a:pt x="15" y="2435"/>
                </a:lnTo>
                <a:lnTo>
                  <a:pt x="0" y="2435"/>
                </a:lnTo>
                <a:lnTo>
                  <a:pt x="0" y="2421"/>
                </a:lnTo>
                <a:lnTo>
                  <a:pt x="15" y="2421"/>
                </a:lnTo>
                <a:close/>
                <a:moveTo>
                  <a:pt x="15" y="2449"/>
                </a:moveTo>
                <a:lnTo>
                  <a:pt x="15" y="2453"/>
                </a:lnTo>
                <a:lnTo>
                  <a:pt x="0" y="2453"/>
                </a:lnTo>
                <a:lnTo>
                  <a:pt x="0" y="2449"/>
                </a:lnTo>
                <a:lnTo>
                  <a:pt x="15" y="2449"/>
                </a:lnTo>
                <a:close/>
              </a:path>
            </a:pathLst>
          </a:custGeom>
          <a:solidFill>
            <a:srgbClr val="000000"/>
          </a:solidFill>
          <a:ln w="0" cap="flat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31" name="Freeform 28">
            <a:extLst>
              <a:ext uri="{FF2B5EF4-FFF2-40B4-BE49-F238E27FC236}">
                <a16:creationId xmlns:a16="http://schemas.microsoft.com/office/drawing/2014/main" id="{42A301AE-F035-4404-B66F-35DC5D26CF8D}"/>
              </a:ext>
            </a:extLst>
          </p:cNvPr>
          <p:cNvSpPr>
            <a:spLocks noEditPoints="1"/>
          </p:cNvSpPr>
          <p:nvPr/>
        </p:nvSpPr>
        <p:spPr bwMode="auto">
          <a:xfrm>
            <a:off x="4257310" y="2267962"/>
            <a:ext cx="22225" cy="3894138"/>
          </a:xfrm>
          <a:custGeom>
            <a:avLst/>
            <a:gdLst>
              <a:gd name="T0" fmla="*/ 14 w 14"/>
              <a:gd name="T1" fmla="*/ 42 h 2453"/>
              <a:gd name="T2" fmla="*/ 0 w 14"/>
              <a:gd name="T3" fmla="*/ 56 h 2453"/>
              <a:gd name="T4" fmla="*/ 14 w 14"/>
              <a:gd name="T5" fmla="*/ 112 h 2453"/>
              <a:gd name="T6" fmla="*/ 0 w 14"/>
              <a:gd name="T7" fmla="*/ 154 h 2453"/>
              <a:gd name="T8" fmla="*/ 14 w 14"/>
              <a:gd name="T9" fmla="*/ 167 h 2453"/>
              <a:gd name="T10" fmla="*/ 14 w 14"/>
              <a:gd name="T11" fmla="*/ 237 h 2453"/>
              <a:gd name="T12" fmla="*/ 0 w 14"/>
              <a:gd name="T13" fmla="*/ 251 h 2453"/>
              <a:gd name="T14" fmla="*/ 14 w 14"/>
              <a:gd name="T15" fmla="*/ 307 h 2453"/>
              <a:gd name="T16" fmla="*/ 0 w 14"/>
              <a:gd name="T17" fmla="*/ 348 h 2453"/>
              <a:gd name="T18" fmla="*/ 14 w 14"/>
              <a:gd name="T19" fmla="*/ 362 h 2453"/>
              <a:gd name="T20" fmla="*/ 14 w 14"/>
              <a:gd name="T21" fmla="*/ 432 h 2453"/>
              <a:gd name="T22" fmla="*/ 0 w 14"/>
              <a:gd name="T23" fmla="*/ 446 h 2453"/>
              <a:gd name="T24" fmla="*/ 14 w 14"/>
              <a:gd name="T25" fmla="*/ 501 h 2453"/>
              <a:gd name="T26" fmla="*/ 0 w 14"/>
              <a:gd name="T27" fmla="*/ 543 h 2453"/>
              <a:gd name="T28" fmla="*/ 14 w 14"/>
              <a:gd name="T29" fmla="*/ 557 h 2453"/>
              <a:gd name="T30" fmla="*/ 14 w 14"/>
              <a:gd name="T31" fmla="*/ 627 h 2453"/>
              <a:gd name="T32" fmla="*/ 0 w 14"/>
              <a:gd name="T33" fmla="*/ 641 h 2453"/>
              <a:gd name="T34" fmla="*/ 14 w 14"/>
              <a:gd name="T35" fmla="*/ 696 h 2453"/>
              <a:gd name="T36" fmla="*/ 0 w 14"/>
              <a:gd name="T37" fmla="*/ 738 h 2453"/>
              <a:gd name="T38" fmla="*/ 14 w 14"/>
              <a:gd name="T39" fmla="*/ 752 h 2453"/>
              <a:gd name="T40" fmla="*/ 14 w 14"/>
              <a:gd name="T41" fmla="*/ 822 h 2453"/>
              <a:gd name="T42" fmla="*/ 0 w 14"/>
              <a:gd name="T43" fmla="*/ 835 h 2453"/>
              <a:gd name="T44" fmla="*/ 14 w 14"/>
              <a:gd name="T45" fmla="*/ 891 h 2453"/>
              <a:gd name="T46" fmla="*/ 0 w 14"/>
              <a:gd name="T47" fmla="*/ 933 h 2453"/>
              <a:gd name="T48" fmla="*/ 14 w 14"/>
              <a:gd name="T49" fmla="*/ 947 h 2453"/>
              <a:gd name="T50" fmla="*/ 14 w 14"/>
              <a:gd name="T51" fmla="*/ 1016 h 2453"/>
              <a:gd name="T52" fmla="*/ 0 w 14"/>
              <a:gd name="T53" fmla="*/ 1030 h 2453"/>
              <a:gd name="T54" fmla="*/ 14 w 14"/>
              <a:gd name="T55" fmla="*/ 1086 h 2453"/>
              <a:gd name="T56" fmla="*/ 0 w 14"/>
              <a:gd name="T57" fmla="*/ 1127 h 2453"/>
              <a:gd name="T58" fmla="*/ 14 w 14"/>
              <a:gd name="T59" fmla="*/ 1141 h 2453"/>
              <a:gd name="T60" fmla="*/ 14 w 14"/>
              <a:gd name="T61" fmla="*/ 1211 h 2453"/>
              <a:gd name="T62" fmla="*/ 0 w 14"/>
              <a:gd name="T63" fmla="*/ 1225 h 2453"/>
              <a:gd name="T64" fmla="*/ 14 w 14"/>
              <a:gd name="T65" fmla="*/ 1281 h 2453"/>
              <a:gd name="T66" fmla="*/ 0 w 14"/>
              <a:gd name="T67" fmla="*/ 1322 h 2453"/>
              <a:gd name="T68" fmla="*/ 14 w 14"/>
              <a:gd name="T69" fmla="*/ 1336 h 2453"/>
              <a:gd name="T70" fmla="*/ 14 w 14"/>
              <a:gd name="T71" fmla="*/ 1406 h 2453"/>
              <a:gd name="T72" fmla="*/ 0 w 14"/>
              <a:gd name="T73" fmla="*/ 1420 h 2453"/>
              <a:gd name="T74" fmla="*/ 14 w 14"/>
              <a:gd name="T75" fmla="*/ 1475 h 2453"/>
              <a:gd name="T76" fmla="*/ 0 w 14"/>
              <a:gd name="T77" fmla="*/ 1517 h 2453"/>
              <a:gd name="T78" fmla="*/ 14 w 14"/>
              <a:gd name="T79" fmla="*/ 1531 h 2453"/>
              <a:gd name="T80" fmla="*/ 14 w 14"/>
              <a:gd name="T81" fmla="*/ 1601 h 2453"/>
              <a:gd name="T82" fmla="*/ 0 w 14"/>
              <a:gd name="T83" fmla="*/ 1615 h 2453"/>
              <a:gd name="T84" fmla="*/ 14 w 14"/>
              <a:gd name="T85" fmla="*/ 1670 h 2453"/>
              <a:gd name="T86" fmla="*/ 0 w 14"/>
              <a:gd name="T87" fmla="*/ 1712 h 2453"/>
              <a:gd name="T88" fmla="*/ 14 w 14"/>
              <a:gd name="T89" fmla="*/ 1726 h 2453"/>
              <a:gd name="T90" fmla="*/ 14 w 14"/>
              <a:gd name="T91" fmla="*/ 1795 h 2453"/>
              <a:gd name="T92" fmla="*/ 0 w 14"/>
              <a:gd name="T93" fmla="*/ 1809 h 2453"/>
              <a:gd name="T94" fmla="*/ 14 w 14"/>
              <a:gd name="T95" fmla="*/ 1865 h 2453"/>
              <a:gd name="T96" fmla="*/ 0 w 14"/>
              <a:gd name="T97" fmla="*/ 1907 h 2453"/>
              <a:gd name="T98" fmla="*/ 14 w 14"/>
              <a:gd name="T99" fmla="*/ 1921 h 2453"/>
              <a:gd name="T100" fmla="*/ 14 w 14"/>
              <a:gd name="T101" fmla="*/ 1990 h 2453"/>
              <a:gd name="T102" fmla="*/ 0 w 14"/>
              <a:gd name="T103" fmla="*/ 2004 h 2453"/>
              <a:gd name="T104" fmla="*/ 14 w 14"/>
              <a:gd name="T105" fmla="*/ 2060 h 2453"/>
              <a:gd name="T106" fmla="*/ 0 w 14"/>
              <a:gd name="T107" fmla="*/ 2102 h 2453"/>
              <a:gd name="T108" fmla="*/ 14 w 14"/>
              <a:gd name="T109" fmla="*/ 2116 h 2453"/>
              <a:gd name="T110" fmla="*/ 14 w 14"/>
              <a:gd name="T111" fmla="*/ 2185 h 2453"/>
              <a:gd name="T112" fmla="*/ 0 w 14"/>
              <a:gd name="T113" fmla="*/ 2199 h 2453"/>
              <a:gd name="T114" fmla="*/ 14 w 14"/>
              <a:gd name="T115" fmla="*/ 2254 h 2453"/>
              <a:gd name="T116" fmla="*/ 0 w 14"/>
              <a:gd name="T117" fmla="*/ 2296 h 2453"/>
              <a:gd name="T118" fmla="*/ 14 w 14"/>
              <a:gd name="T119" fmla="*/ 2310 h 2453"/>
              <a:gd name="T120" fmla="*/ 14 w 14"/>
              <a:gd name="T121" fmla="*/ 2380 h 2453"/>
              <a:gd name="T122" fmla="*/ 0 w 14"/>
              <a:gd name="T123" fmla="*/ 2394 h 2453"/>
              <a:gd name="T124" fmla="*/ 14 w 14"/>
              <a:gd name="T125" fmla="*/ 2449 h 24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14" h="2453">
                <a:moveTo>
                  <a:pt x="14" y="0"/>
                </a:moveTo>
                <a:lnTo>
                  <a:pt x="14" y="14"/>
                </a:lnTo>
                <a:lnTo>
                  <a:pt x="0" y="14"/>
                </a:lnTo>
                <a:lnTo>
                  <a:pt x="0" y="0"/>
                </a:lnTo>
                <a:lnTo>
                  <a:pt x="14" y="0"/>
                </a:lnTo>
                <a:close/>
                <a:moveTo>
                  <a:pt x="14" y="28"/>
                </a:moveTo>
                <a:lnTo>
                  <a:pt x="14" y="42"/>
                </a:lnTo>
                <a:lnTo>
                  <a:pt x="0" y="42"/>
                </a:lnTo>
                <a:lnTo>
                  <a:pt x="0" y="28"/>
                </a:lnTo>
                <a:lnTo>
                  <a:pt x="14" y="28"/>
                </a:lnTo>
                <a:close/>
                <a:moveTo>
                  <a:pt x="14" y="56"/>
                </a:moveTo>
                <a:lnTo>
                  <a:pt x="14" y="70"/>
                </a:lnTo>
                <a:lnTo>
                  <a:pt x="0" y="70"/>
                </a:lnTo>
                <a:lnTo>
                  <a:pt x="0" y="56"/>
                </a:lnTo>
                <a:lnTo>
                  <a:pt x="14" y="56"/>
                </a:lnTo>
                <a:close/>
                <a:moveTo>
                  <a:pt x="14" y="84"/>
                </a:moveTo>
                <a:lnTo>
                  <a:pt x="14" y="98"/>
                </a:lnTo>
                <a:lnTo>
                  <a:pt x="0" y="98"/>
                </a:lnTo>
                <a:lnTo>
                  <a:pt x="0" y="84"/>
                </a:lnTo>
                <a:lnTo>
                  <a:pt x="14" y="84"/>
                </a:lnTo>
                <a:close/>
                <a:moveTo>
                  <a:pt x="14" y="112"/>
                </a:moveTo>
                <a:lnTo>
                  <a:pt x="14" y="126"/>
                </a:lnTo>
                <a:lnTo>
                  <a:pt x="0" y="126"/>
                </a:lnTo>
                <a:lnTo>
                  <a:pt x="0" y="112"/>
                </a:lnTo>
                <a:lnTo>
                  <a:pt x="14" y="112"/>
                </a:lnTo>
                <a:close/>
                <a:moveTo>
                  <a:pt x="14" y="140"/>
                </a:moveTo>
                <a:lnTo>
                  <a:pt x="14" y="154"/>
                </a:lnTo>
                <a:lnTo>
                  <a:pt x="0" y="154"/>
                </a:lnTo>
                <a:lnTo>
                  <a:pt x="0" y="140"/>
                </a:lnTo>
                <a:lnTo>
                  <a:pt x="14" y="140"/>
                </a:lnTo>
                <a:close/>
                <a:moveTo>
                  <a:pt x="14" y="167"/>
                </a:moveTo>
                <a:lnTo>
                  <a:pt x="14" y="181"/>
                </a:lnTo>
                <a:lnTo>
                  <a:pt x="0" y="181"/>
                </a:lnTo>
                <a:lnTo>
                  <a:pt x="0" y="167"/>
                </a:lnTo>
                <a:lnTo>
                  <a:pt x="14" y="167"/>
                </a:lnTo>
                <a:close/>
                <a:moveTo>
                  <a:pt x="14" y="195"/>
                </a:moveTo>
                <a:lnTo>
                  <a:pt x="14" y="209"/>
                </a:lnTo>
                <a:lnTo>
                  <a:pt x="0" y="209"/>
                </a:lnTo>
                <a:lnTo>
                  <a:pt x="0" y="195"/>
                </a:lnTo>
                <a:lnTo>
                  <a:pt x="14" y="195"/>
                </a:lnTo>
                <a:close/>
                <a:moveTo>
                  <a:pt x="14" y="223"/>
                </a:moveTo>
                <a:lnTo>
                  <a:pt x="14" y="237"/>
                </a:lnTo>
                <a:lnTo>
                  <a:pt x="0" y="237"/>
                </a:lnTo>
                <a:lnTo>
                  <a:pt x="0" y="223"/>
                </a:lnTo>
                <a:lnTo>
                  <a:pt x="14" y="223"/>
                </a:lnTo>
                <a:close/>
                <a:moveTo>
                  <a:pt x="14" y="251"/>
                </a:moveTo>
                <a:lnTo>
                  <a:pt x="14" y="265"/>
                </a:lnTo>
                <a:lnTo>
                  <a:pt x="0" y="265"/>
                </a:lnTo>
                <a:lnTo>
                  <a:pt x="0" y="251"/>
                </a:lnTo>
                <a:lnTo>
                  <a:pt x="14" y="251"/>
                </a:lnTo>
                <a:close/>
                <a:moveTo>
                  <a:pt x="14" y="279"/>
                </a:moveTo>
                <a:lnTo>
                  <a:pt x="14" y="293"/>
                </a:lnTo>
                <a:lnTo>
                  <a:pt x="0" y="293"/>
                </a:lnTo>
                <a:lnTo>
                  <a:pt x="0" y="279"/>
                </a:lnTo>
                <a:lnTo>
                  <a:pt x="14" y="279"/>
                </a:lnTo>
                <a:close/>
                <a:moveTo>
                  <a:pt x="14" y="307"/>
                </a:moveTo>
                <a:lnTo>
                  <a:pt x="14" y="321"/>
                </a:lnTo>
                <a:lnTo>
                  <a:pt x="0" y="321"/>
                </a:lnTo>
                <a:lnTo>
                  <a:pt x="0" y="307"/>
                </a:lnTo>
                <a:lnTo>
                  <a:pt x="14" y="307"/>
                </a:lnTo>
                <a:close/>
                <a:moveTo>
                  <a:pt x="14" y="334"/>
                </a:moveTo>
                <a:lnTo>
                  <a:pt x="14" y="348"/>
                </a:lnTo>
                <a:lnTo>
                  <a:pt x="0" y="348"/>
                </a:lnTo>
                <a:lnTo>
                  <a:pt x="0" y="334"/>
                </a:lnTo>
                <a:lnTo>
                  <a:pt x="14" y="334"/>
                </a:lnTo>
                <a:close/>
                <a:moveTo>
                  <a:pt x="14" y="362"/>
                </a:moveTo>
                <a:lnTo>
                  <a:pt x="14" y="376"/>
                </a:lnTo>
                <a:lnTo>
                  <a:pt x="0" y="376"/>
                </a:lnTo>
                <a:lnTo>
                  <a:pt x="0" y="362"/>
                </a:lnTo>
                <a:lnTo>
                  <a:pt x="14" y="362"/>
                </a:lnTo>
                <a:close/>
                <a:moveTo>
                  <a:pt x="14" y="390"/>
                </a:moveTo>
                <a:lnTo>
                  <a:pt x="14" y="404"/>
                </a:lnTo>
                <a:lnTo>
                  <a:pt x="0" y="404"/>
                </a:lnTo>
                <a:lnTo>
                  <a:pt x="0" y="390"/>
                </a:lnTo>
                <a:lnTo>
                  <a:pt x="14" y="390"/>
                </a:lnTo>
                <a:close/>
                <a:moveTo>
                  <a:pt x="14" y="418"/>
                </a:moveTo>
                <a:lnTo>
                  <a:pt x="14" y="432"/>
                </a:lnTo>
                <a:lnTo>
                  <a:pt x="0" y="432"/>
                </a:lnTo>
                <a:lnTo>
                  <a:pt x="0" y="418"/>
                </a:lnTo>
                <a:lnTo>
                  <a:pt x="14" y="418"/>
                </a:lnTo>
                <a:close/>
                <a:moveTo>
                  <a:pt x="14" y="446"/>
                </a:moveTo>
                <a:lnTo>
                  <a:pt x="14" y="460"/>
                </a:lnTo>
                <a:lnTo>
                  <a:pt x="0" y="460"/>
                </a:lnTo>
                <a:lnTo>
                  <a:pt x="0" y="446"/>
                </a:lnTo>
                <a:lnTo>
                  <a:pt x="14" y="446"/>
                </a:lnTo>
                <a:close/>
                <a:moveTo>
                  <a:pt x="14" y="474"/>
                </a:moveTo>
                <a:lnTo>
                  <a:pt x="14" y="488"/>
                </a:lnTo>
                <a:lnTo>
                  <a:pt x="0" y="488"/>
                </a:lnTo>
                <a:lnTo>
                  <a:pt x="0" y="474"/>
                </a:lnTo>
                <a:lnTo>
                  <a:pt x="14" y="474"/>
                </a:lnTo>
                <a:close/>
                <a:moveTo>
                  <a:pt x="14" y="501"/>
                </a:moveTo>
                <a:lnTo>
                  <a:pt x="14" y="515"/>
                </a:lnTo>
                <a:lnTo>
                  <a:pt x="0" y="515"/>
                </a:lnTo>
                <a:lnTo>
                  <a:pt x="0" y="501"/>
                </a:lnTo>
                <a:lnTo>
                  <a:pt x="14" y="501"/>
                </a:lnTo>
                <a:close/>
                <a:moveTo>
                  <a:pt x="14" y="529"/>
                </a:moveTo>
                <a:lnTo>
                  <a:pt x="14" y="543"/>
                </a:lnTo>
                <a:lnTo>
                  <a:pt x="0" y="543"/>
                </a:lnTo>
                <a:lnTo>
                  <a:pt x="0" y="529"/>
                </a:lnTo>
                <a:lnTo>
                  <a:pt x="14" y="529"/>
                </a:lnTo>
                <a:close/>
                <a:moveTo>
                  <a:pt x="14" y="557"/>
                </a:moveTo>
                <a:lnTo>
                  <a:pt x="14" y="571"/>
                </a:lnTo>
                <a:lnTo>
                  <a:pt x="0" y="571"/>
                </a:lnTo>
                <a:lnTo>
                  <a:pt x="0" y="557"/>
                </a:lnTo>
                <a:lnTo>
                  <a:pt x="14" y="557"/>
                </a:lnTo>
                <a:close/>
                <a:moveTo>
                  <a:pt x="14" y="585"/>
                </a:moveTo>
                <a:lnTo>
                  <a:pt x="14" y="599"/>
                </a:lnTo>
                <a:lnTo>
                  <a:pt x="0" y="599"/>
                </a:lnTo>
                <a:lnTo>
                  <a:pt x="0" y="585"/>
                </a:lnTo>
                <a:lnTo>
                  <a:pt x="14" y="585"/>
                </a:lnTo>
                <a:close/>
                <a:moveTo>
                  <a:pt x="14" y="613"/>
                </a:moveTo>
                <a:lnTo>
                  <a:pt x="14" y="627"/>
                </a:lnTo>
                <a:lnTo>
                  <a:pt x="0" y="627"/>
                </a:lnTo>
                <a:lnTo>
                  <a:pt x="0" y="613"/>
                </a:lnTo>
                <a:lnTo>
                  <a:pt x="14" y="613"/>
                </a:lnTo>
                <a:close/>
                <a:moveTo>
                  <a:pt x="14" y="641"/>
                </a:moveTo>
                <a:lnTo>
                  <a:pt x="14" y="655"/>
                </a:lnTo>
                <a:lnTo>
                  <a:pt x="0" y="655"/>
                </a:lnTo>
                <a:lnTo>
                  <a:pt x="0" y="641"/>
                </a:lnTo>
                <a:lnTo>
                  <a:pt x="14" y="641"/>
                </a:lnTo>
                <a:close/>
                <a:moveTo>
                  <a:pt x="14" y="668"/>
                </a:moveTo>
                <a:lnTo>
                  <a:pt x="14" y="682"/>
                </a:lnTo>
                <a:lnTo>
                  <a:pt x="0" y="682"/>
                </a:lnTo>
                <a:lnTo>
                  <a:pt x="0" y="668"/>
                </a:lnTo>
                <a:lnTo>
                  <a:pt x="14" y="668"/>
                </a:lnTo>
                <a:close/>
                <a:moveTo>
                  <a:pt x="14" y="696"/>
                </a:moveTo>
                <a:lnTo>
                  <a:pt x="14" y="710"/>
                </a:lnTo>
                <a:lnTo>
                  <a:pt x="0" y="710"/>
                </a:lnTo>
                <a:lnTo>
                  <a:pt x="0" y="696"/>
                </a:lnTo>
                <a:lnTo>
                  <a:pt x="14" y="696"/>
                </a:lnTo>
                <a:close/>
                <a:moveTo>
                  <a:pt x="14" y="724"/>
                </a:moveTo>
                <a:lnTo>
                  <a:pt x="14" y="738"/>
                </a:lnTo>
                <a:lnTo>
                  <a:pt x="0" y="738"/>
                </a:lnTo>
                <a:lnTo>
                  <a:pt x="0" y="724"/>
                </a:lnTo>
                <a:lnTo>
                  <a:pt x="14" y="724"/>
                </a:lnTo>
                <a:close/>
                <a:moveTo>
                  <a:pt x="14" y="752"/>
                </a:moveTo>
                <a:lnTo>
                  <a:pt x="14" y="766"/>
                </a:lnTo>
                <a:lnTo>
                  <a:pt x="0" y="766"/>
                </a:lnTo>
                <a:lnTo>
                  <a:pt x="0" y="752"/>
                </a:lnTo>
                <a:lnTo>
                  <a:pt x="14" y="752"/>
                </a:lnTo>
                <a:close/>
                <a:moveTo>
                  <a:pt x="14" y="780"/>
                </a:moveTo>
                <a:lnTo>
                  <a:pt x="14" y="793"/>
                </a:lnTo>
                <a:lnTo>
                  <a:pt x="0" y="793"/>
                </a:lnTo>
                <a:lnTo>
                  <a:pt x="0" y="780"/>
                </a:lnTo>
                <a:lnTo>
                  <a:pt x="14" y="780"/>
                </a:lnTo>
                <a:close/>
                <a:moveTo>
                  <a:pt x="14" y="808"/>
                </a:moveTo>
                <a:lnTo>
                  <a:pt x="14" y="822"/>
                </a:lnTo>
                <a:lnTo>
                  <a:pt x="0" y="822"/>
                </a:lnTo>
                <a:lnTo>
                  <a:pt x="0" y="808"/>
                </a:lnTo>
                <a:lnTo>
                  <a:pt x="14" y="808"/>
                </a:lnTo>
                <a:close/>
                <a:moveTo>
                  <a:pt x="14" y="835"/>
                </a:moveTo>
                <a:lnTo>
                  <a:pt x="14" y="849"/>
                </a:lnTo>
                <a:lnTo>
                  <a:pt x="0" y="849"/>
                </a:lnTo>
                <a:lnTo>
                  <a:pt x="0" y="835"/>
                </a:lnTo>
                <a:lnTo>
                  <a:pt x="14" y="835"/>
                </a:lnTo>
                <a:close/>
                <a:moveTo>
                  <a:pt x="14" y="863"/>
                </a:moveTo>
                <a:lnTo>
                  <a:pt x="14" y="877"/>
                </a:lnTo>
                <a:lnTo>
                  <a:pt x="0" y="877"/>
                </a:lnTo>
                <a:lnTo>
                  <a:pt x="0" y="863"/>
                </a:lnTo>
                <a:lnTo>
                  <a:pt x="14" y="863"/>
                </a:lnTo>
                <a:close/>
                <a:moveTo>
                  <a:pt x="14" y="891"/>
                </a:moveTo>
                <a:lnTo>
                  <a:pt x="14" y="905"/>
                </a:lnTo>
                <a:lnTo>
                  <a:pt x="0" y="905"/>
                </a:lnTo>
                <a:lnTo>
                  <a:pt x="0" y="891"/>
                </a:lnTo>
                <a:lnTo>
                  <a:pt x="14" y="891"/>
                </a:lnTo>
                <a:close/>
                <a:moveTo>
                  <a:pt x="14" y="919"/>
                </a:moveTo>
                <a:lnTo>
                  <a:pt x="14" y="933"/>
                </a:lnTo>
                <a:lnTo>
                  <a:pt x="0" y="933"/>
                </a:lnTo>
                <a:lnTo>
                  <a:pt x="0" y="919"/>
                </a:lnTo>
                <a:lnTo>
                  <a:pt x="14" y="919"/>
                </a:lnTo>
                <a:close/>
                <a:moveTo>
                  <a:pt x="14" y="947"/>
                </a:moveTo>
                <a:lnTo>
                  <a:pt x="14" y="960"/>
                </a:lnTo>
                <a:lnTo>
                  <a:pt x="0" y="960"/>
                </a:lnTo>
                <a:lnTo>
                  <a:pt x="0" y="947"/>
                </a:lnTo>
                <a:lnTo>
                  <a:pt x="14" y="947"/>
                </a:lnTo>
                <a:close/>
                <a:moveTo>
                  <a:pt x="14" y="974"/>
                </a:moveTo>
                <a:lnTo>
                  <a:pt x="14" y="988"/>
                </a:lnTo>
                <a:lnTo>
                  <a:pt x="0" y="988"/>
                </a:lnTo>
                <a:lnTo>
                  <a:pt x="0" y="974"/>
                </a:lnTo>
                <a:lnTo>
                  <a:pt x="14" y="974"/>
                </a:lnTo>
                <a:close/>
                <a:moveTo>
                  <a:pt x="14" y="1002"/>
                </a:moveTo>
                <a:lnTo>
                  <a:pt x="14" y="1016"/>
                </a:lnTo>
                <a:lnTo>
                  <a:pt x="0" y="1016"/>
                </a:lnTo>
                <a:lnTo>
                  <a:pt x="0" y="1002"/>
                </a:lnTo>
                <a:lnTo>
                  <a:pt x="14" y="1002"/>
                </a:lnTo>
                <a:close/>
                <a:moveTo>
                  <a:pt x="14" y="1030"/>
                </a:moveTo>
                <a:lnTo>
                  <a:pt x="14" y="1044"/>
                </a:lnTo>
                <a:lnTo>
                  <a:pt x="0" y="1044"/>
                </a:lnTo>
                <a:lnTo>
                  <a:pt x="0" y="1030"/>
                </a:lnTo>
                <a:lnTo>
                  <a:pt x="14" y="1030"/>
                </a:lnTo>
                <a:close/>
                <a:moveTo>
                  <a:pt x="14" y="1058"/>
                </a:moveTo>
                <a:lnTo>
                  <a:pt x="14" y="1072"/>
                </a:lnTo>
                <a:lnTo>
                  <a:pt x="0" y="1072"/>
                </a:lnTo>
                <a:lnTo>
                  <a:pt x="0" y="1058"/>
                </a:lnTo>
                <a:lnTo>
                  <a:pt x="14" y="1058"/>
                </a:lnTo>
                <a:close/>
                <a:moveTo>
                  <a:pt x="14" y="1086"/>
                </a:moveTo>
                <a:lnTo>
                  <a:pt x="14" y="1100"/>
                </a:lnTo>
                <a:lnTo>
                  <a:pt x="0" y="1100"/>
                </a:lnTo>
                <a:lnTo>
                  <a:pt x="0" y="1086"/>
                </a:lnTo>
                <a:lnTo>
                  <a:pt x="14" y="1086"/>
                </a:lnTo>
                <a:close/>
                <a:moveTo>
                  <a:pt x="14" y="1114"/>
                </a:moveTo>
                <a:lnTo>
                  <a:pt x="14" y="1127"/>
                </a:lnTo>
                <a:lnTo>
                  <a:pt x="0" y="1127"/>
                </a:lnTo>
                <a:lnTo>
                  <a:pt x="0" y="1114"/>
                </a:lnTo>
                <a:lnTo>
                  <a:pt x="14" y="1114"/>
                </a:lnTo>
                <a:close/>
                <a:moveTo>
                  <a:pt x="14" y="1141"/>
                </a:moveTo>
                <a:lnTo>
                  <a:pt x="14" y="1155"/>
                </a:lnTo>
                <a:lnTo>
                  <a:pt x="0" y="1155"/>
                </a:lnTo>
                <a:lnTo>
                  <a:pt x="0" y="1141"/>
                </a:lnTo>
                <a:lnTo>
                  <a:pt x="14" y="1141"/>
                </a:lnTo>
                <a:close/>
                <a:moveTo>
                  <a:pt x="14" y="1169"/>
                </a:moveTo>
                <a:lnTo>
                  <a:pt x="14" y="1183"/>
                </a:lnTo>
                <a:lnTo>
                  <a:pt x="0" y="1183"/>
                </a:lnTo>
                <a:lnTo>
                  <a:pt x="0" y="1169"/>
                </a:lnTo>
                <a:lnTo>
                  <a:pt x="14" y="1169"/>
                </a:lnTo>
                <a:close/>
                <a:moveTo>
                  <a:pt x="14" y="1197"/>
                </a:moveTo>
                <a:lnTo>
                  <a:pt x="14" y="1211"/>
                </a:lnTo>
                <a:lnTo>
                  <a:pt x="0" y="1211"/>
                </a:lnTo>
                <a:lnTo>
                  <a:pt x="0" y="1197"/>
                </a:lnTo>
                <a:lnTo>
                  <a:pt x="14" y="1197"/>
                </a:lnTo>
                <a:close/>
                <a:moveTo>
                  <a:pt x="14" y="1225"/>
                </a:moveTo>
                <a:lnTo>
                  <a:pt x="14" y="1239"/>
                </a:lnTo>
                <a:lnTo>
                  <a:pt x="0" y="1239"/>
                </a:lnTo>
                <a:lnTo>
                  <a:pt x="0" y="1225"/>
                </a:lnTo>
                <a:lnTo>
                  <a:pt x="14" y="1225"/>
                </a:lnTo>
                <a:close/>
                <a:moveTo>
                  <a:pt x="14" y="1253"/>
                </a:moveTo>
                <a:lnTo>
                  <a:pt x="14" y="1267"/>
                </a:lnTo>
                <a:lnTo>
                  <a:pt x="0" y="1267"/>
                </a:lnTo>
                <a:lnTo>
                  <a:pt x="0" y="1253"/>
                </a:lnTo>
                <a:lnTo>
                  <a:pt x="14" y="1253"/>
                </a:lnTo>
                <a:close/>
                <a:moveTo>
                  <a:pt x="14" y="1281"/>
                </a:moveTo>
                <a:lnTo>
                  <a:pt x="14" y="1294"/>
                </a:lnTo>
                <a:lnTo>
                  <a:pt x="0" y="1294"/>
                </a:lnTo>
                <a:lnTo>
                  <a:pt x="0" y="1281"/>
                </a:lnTo>
                <a:lnTo>
                  <a:pt x="14" y="1281"/>
                </a:lnTo>
                <a:close/>
                <a:moveTo>
                  <a:pt x="14" y="1308"/>
                </a:moveTo>
                <a:lnTo>
                  <a:pt x="14" y="1322"/>
                </a:lnTo>
                <a:lnTo>
                  <a:pt x="0" y="1322"/>
                </a:lnTo>
                <a:lnTo>
                  <a:pt x="0" y="1308"/>
                </a:lnTo>
                <a:lnTo>
                  <a:pt x="14" y="1308"/>
                </a:lnTo>
                <a:close/>
                <a:moveTo>
                  <a:pt x="14" y="1336"/>
                </a:moveTo>
                <a:lnTo>
                  <a:pt x="14" y="1350"/>
                </a:lnTo>
                <a:lnTo>
                  <a:pt x="0" y="1350"/>
                </a:lnTo>
                <a:lnTo>
                  <a:pt x="0" y="1336"/>
                </a:lnTo>
                <a:lnTo>
                  <a:pt x="14" y="1336"/>
                </a:lnTo>
                <a:close/>
                <a:moveTo>
                  <a:pt x="14" y="1364"/>
                </a:moveTo>
                <a:lnTo>
                  <a:pt x="14" y="1378"/>
                </a:lnTo>
                <a:lnTo>
                  <a:pt x="0" y="1378"/>
                </a:lnTo>
                <a:lnTo>
                  <a:pt x="0" y="1364"/>
                </a:lnTo>
                <a:lnTo>
                  <a:pt x="14" y="1364"/>
                </a:lnTo>
                <a:close/>
                <a:moveTo>
                  <a:pt x="14" y="1392"/>
                </a:moveTo>
                <a:lnTo>
                  <a:pt x="14" y="1406"/>
                </a:lnTo>
                <a:lnTo>
                  <a:pt x="0" y="1406"/>
                </a:lnTo>
                <a:lnTo>
                  <a:pt x="0" y="1392"/>
                </a:lnTo>
                <a:lnTo>
                  <a:pt x="14" y="1392"/>
                </a:lnTo>
                <a:close/>
                <a:moveTo>
                  <a:pt x="14" y="1420"/>
                </a:moveTo>
                <a:lnTo>
                  <a:pt x="14" y="1434"/>
                </a:lnTo>
                <a:lnTo>
                  <a:pt x="0" y="1434"/>
                </a:lnTo>
                <a:lnTo>
                  <a:pt x="0" y="1420"/>
                </a:lnTo>
                <a:lnTo>
                  <a:pt x="14" y="1420"/>
                </a:lnTo>
                <a:close/>
                <a:moveTo>
                  <a:pt x="14" y="1448"/>
                </a:moveTo>
                <a:lnTo>
                  <a:pt x="14" y="1461"/>
                </a:lnTo>
                <a:lnTo>
                  <a:pt x="0" y="1461"/>
                </a:lnTo>
                <a:lnTo>
                  <a:pt x="0" y="1448"/>
                </a:lnTo>
                <a:lnTo>
                  <a:pt x="14" y="1448"/>
                </a:lnTo>
                <a:close/>
                <a:moveTo>
                  <a:pt x="14" y="1475"/>
                </a:moveTo>
                <a:lnTo>
                  <a:pt x="14" y="1489"/>
                </a:lnTo>
                <a:lnTo>
                  <a:pt x="0" y="1489"/>
                </a:lnTo>
                <a:lnTo>
                  <a:pt x="0" y="1475"/>
                </a:lnTo>
                <a:lnTo>
                  <a:pt x="14" y="1475"/>
                </a:lnTo>
                <a:close/>
                <a:moveTo>
                  <a:pt x="14" y="1503"/>
                </a:moveTo>
                <a:lnTo>
                  <a:pt x="14" y="1517"/>
                </a:lnTo>
                <a:lnTo>
                  <a:pt x="0" y="1517"/>
                </a:lnTo>
                <a:lnTo>
                  <a:pt x="0" y="1503"/>
                </a:lnTo>
                <a:lnTo>
                  <a:pt x="14" y="1503"/>
                </a:lnTo>
                <a:close/>
                <a:moveTo>
                  <a:pt x="14" y="1531"/>
                </a:moveTo>
                <a:lnTo>
                  <a:pt x="14" y="1545"/>
                </a:lnTo>
                <a:lnTo>
                  <a:pt x="0" y="1545"/>
                </a:lnTo>
                <a:lnTo>
                  <a:pt x="0" y="1531"/>
                </a:lnTo>
                <a:lnTo>
                  <a:pt x="14" y="1531"/>
                </a:lnTo>
                <a:close/>
                <a:moveTo>
                  <a:pt x="14" y="1559"/>
                </a:moveTo>
                <a:lnTo>
                  <a:pt x="14" y="1573"/>
                </a:lnTo>
                <a:lnTo>
                  <a:pt x="0" y="1573"/>
                </a:lnTo>
                <a:lnTo>
                  <a:pt x="0" y="1559"/>
                </a:lnTo>
                <a:lnTo>
                  <a:pt x="14" y="1559"/>
                </a:lnTo>
                <a:close/>
                <a:moveTo>
                  <a:pt x="14" y="1587"/>
                </a:moveTo>
                <a:lnTo>
                  <a:pt x="14" y="1601"/>
                </a:lnTo>
                <a:lnTo>
                  <a:pt x="0" y="1601"/>
                </a:lnTo>
                <a:lnTo>
                  <a:pt x="0" y="1587"/>
                </a:lnTo>
                <a:lnTo>
                  <a:pt x="14" y="1587"/>
                </a:lnTo>
                <a:close/>
                <a:moveTo>
                  <a:pt x="14" y="1615"/>
                </a:moveTo>
                <a:lnTo>
                  <a:pt x="14" y="1628"/>
                </a:lnTo>
                <a:lnTo>
                  <a:pt x="0" y="1628"/>
                </a:lnTo>
                <a:lnTo>
                  <a:pt x="0" y="1615"/>
                </a:lnTo>
                <a:lnTo>
                  <a:pt x="14" y="1615"/>
                </a:lnTo>
                <a:close/>
                <a:moveTo>
                  <a:pt x="14" y="1642"/>
                </a:moveTo>
                <a:lnTo>
                  <a:pt x="14" y="1656"/>
                </a:lnTo>
                <a:lnTo>
                  <a:pt x="0" y="1656"/>
                </a:lnTo>
                <a:lnTo>
                  <a:pt x="0" y="1642"/>
                </a:lnTo>
                <a:lnTo>
                  <a:pt x="14" y="1642"/>
                </a:lnTo>
                <a:close/>
                <a:moveTo>
                  <a:pt x="14" y="1670"/>
                </a:moveTo>
                <a:lnTo>
                  <a:pt x="14" y="1684"/>
                </a:lnTo>
                <a:lnTo>
                  <a:pt x="0" y="1684"/>
                </a:lnTo>
                <a:lnTo>
                  <a:pt x="0" y="1670"/>
                </a:lnTo>
                <a:lnTo>
                  <a:pt x="14" y="1670"/>
                </a:lnTo>
                <a:close/>
                <a:moveTo>
                  <a:pt x="14" y="1698"/>
                </a:moveTo>
                <a:lnTo>
                  <a:pt x="14" y="1712"/>
                </a:lnTo>
                <a:lnTo>
                  <a:pt x="0" y="1712"/>
                </a:lnTo>
                <a:lnTo>
                  <a:pt x="0" y="1698"/>
                </a:lnTo>
                <a:lnTo>
                  <a:pt x="14" y="1698"/>
                </a:lnTo>
                <a:close/>
                <a:moveTo>
                  <a:pt x="14" y="1726"/>
                </a:moveTo>
                <a:lnTo>
                  <a:pt x="14" y="1740"/>
                </a:lnTo>
                <a:lnTo>
                  <a:pt x="0" y="1740"/>
                </a:lnTo>
                <a:lnTo>
                  <a:pt x="0" y="1726"/>
                </a:lnTo>
                <a:lnTo>
                  <a:pt x="14" y="1726"/>
                </a:lnTo>
                <a:close/>
                <a:moveTo>
                  <a:pt x="14" y="1754"/>
                </a:moveTo>
                <a:lnTo>
                  <a:pt x="14" y="1768"/>
                </a:lnTo>
                <a:lnTo>
                  <a:pt x="0" y="1768"/>
                </a:lnTo>
                <a:lnTo>
                  <a:pt x="0" y="1754"/>
                </a:lnTo>
                <a:lnTo>
                  <a:pt x="14" y="1754"/>
                </a:lnTo>
                <a:close/>
                <a:moveTo>
                  <a:pt x="14" y="1782"/>
                </a:moveTo>
                <a:lnTo>
                  <a:pt x="14" y="1795"/>
                </a:lnTo>
                <a:lnTo>
                  <a:pt x="0" y="1795"/>
                </a:lnTo>
                <a:lnTo>
                  <a:pt x="0" y="1782"/>
                </a:lnTo>
                <a:lnTo>
                  <a:pt x="14" y="1782"/>
                </a:lnTo>
                <a:close/>
                <a:moveTo>
                  <a:pt x="14" y="1809"/>
                </a:moveTo>
                <a:lnTo>
                  <a:pt x="14" y="1823"/>
                </a:lnTo>
                <a:lnTo>
                  <a:pt x="0" y="1823"/>
                </a:lnTo>
                <a:lnTo>
                  <a:pt x="0" y="1809"/>
                </a:lnTo>
                <a:lnTo>
                  <a:pt x="14" y="1809"/>
                </a:lnTo>
                <a:close/>
                <a:moveTo>
                  <a:pt x="14" y="1837"/>
                </a:moveTo>
                <a:lnTo>
                  <a:pt x="14" y="1851"/>
                </a:lnTo>
                <a:lnTo>
                  <a:pt x="0" y="1851"/>
                </a:lnTo>
                <a:lnTo>
                  <a:pt x="0" y="1837"/>
                </a:lnTo>
                <a:lnTo>
                  <a:pt x="14" y="1837"/>
                </a:lnTo>
                <a:close/>
                <a:moveTo>
                  <a:pt x="14" y="1865"/>
                </a:moveTo>
                <a:lnTo>
                  <a:pt x="14" y="1879"/>
                </a:lnTo>
                <a:lnTo>
                  <a:pt x="0" y="1879"/>
                </a:lnTo>
                <a:lnTo>
                  <a:pt x="0" y="1865"/>
                </a:lnTo>
                <a:lnTo>
                  <a:pt x="14" y="1865"/>
                </a:lnTo>
                <a:close/>
                <a:moveTo>
                  <a:pt x="14" y="1893"/>
                </a:moveTo>
                <a:lnTo>
                  <a:pt x="14" y="1907"/>
                </a:lnTo>
                <a:lnTo>
                  <a:pt x="0" y="1907"/>
                </a:lnTo>
                <a:lnTo>
                  <a:pt x="0" y="1893"/>
                </a:lnTo>
                <a:lnTo>
                  <a:pt x="14" y="1893"/>
                </a:lnTo>
                <a:close/>
                <a:moveTo>
                  <a:pt x="14" y="1921"/>
                </a:moveTo>
                <a:lnTo>
                  <a:pt x="14" y="1935"/>
                </a:lnTo>
                <a:lnTo>
                  <a:pt x="0" y="1935"/>
                </a:lnTo>
                <a:lnTo>
                  <a:pt x="0" y="1921"/>
                </a:lnTo>
                <a:lnTo>
                  <a:pt x="14" y="1921"/>
                </a:lnTo>
                <a:close/>
                <a:moveTo>
                  <a:pt x="14" y="1949"/>
                </a:moveTo>
                <a:lnTo>
                  <a:pt x="14" y="1962"/>
                </a:lnTo>
                <a:lnTo>
                  <a:pt x="0" y="1962"/>
                </a:lnTo>
                <a:lnTo>
                  <a:pt x="0" y="1949"/>
                </a:lnTo>
                <a:lnTo>
                  <a:pt x="14" y="1949"/>
                </a:lnTo>
                <a:close/>
                <a:moveTo>
                  <a:pt x="14" y="1976"/>
                </a:moveTo>
                <a:lnTo>
                  <a:pt x="14" y="1990"/>
                </a:lnTo>
                <a:lnTo>
                  <a:pt x="0" y="1990"/>
                </a:lnTo>
                <a:lnTo>
                  <a:pt x="0" y="1976"/>
                </a:lnTo>
                <a:lnTo>
                  <a:pt x="14" y="1976"/>
                </a:lnTo>
                <a:close/>
                <a:moveTo>
                  <a:pt x="14" y="2004"/>
                </a:moveTo>
                <a:lnTo>
                  <a:pt x="14" y="2018"/>
                </a:lnTo>
                <a:lnTo>
                  <a:pt x="0" y="2018"/>
                </a:lnTo>
                <a:lnTo>
                  <a:pt x="0" y="2004"/>
                </a:lnTo>
                <a:lnTo>
                  <a:pt x="14" y="2004"/>
                </a:lnTo>
                <a:close/>
                <a:moveTo>
                  <a:pt x="14" y="2032"/>
                </a:moveTo>
                <a:lnTo>
                  <a:pt x="14" y="2046"/>
                </a:lnTo>
                <a:lnTo>
                  <a:pt x="0" y="2046"/>
                </a:lnTo>
                <a:lnTo>
                  <a:pt x="0" y="2032"/>
                </a:lnTo>
                <a:lnTo>
                  <a:pt x="14" y="2032"/>
                </a:lnTo>
                <a:close/>
                <a:moveTo>
                  <a:pt x="14" y="2060"/>
                </a:moveTo>
                <a:lnTo>
                  <a:pt x="14" y="2074"/>
                </a:lnTo>
                <a:lnTo>
                  <a:pt x="0" y="2074"/>
                </a:lnTo>
                <a:lnTo>
                  <a:pt x="0" y="2060"/>
                </a:lnTo>
                <a:lnTo>
                  <a:pt x="14" y="2060"/>
                </a:lnTo>
                <a:close/>
                <a:moveTo>
                  <a:pt x="14" y="2087"/>
                </a:moveTo>
                <a:lnTo>
                  <a:pt x="14" y="2102"/>
                </a:lnTo>
                <a:lnTo>
                  <a:pt x="0" y="2102"/>
                </a:lnTo>
                <a:lnTo>
                  <a:pt x="0" y="2087"/>
                </a:lnTo>
                <a:lnTo>
                  <a:pt x="14" y="2087"/>
                </a:lnTo>
                <a:close/>
                <a:moveTo>
                  <a:pt x="14" y="2116"/>
                </a:moveTo>
                <a:lnTo>
                  <a:pt x="14" y="2129"/>
                </a:lnTo>
                <a:lnTo>
                  <a:pt x="0" y="2129"/>
                </a:lnTo>
                <a:lnTo>
                  <a:pt x="0" y="2116"/>
                </a:lnTo>
                <a:lnTo>
                  <a:pt x="14" y="2116"/>
                </a:lnTo>
                <a:close/>
                <a:moveTo>
                  <a:pt x="14" y="2143"/>
                </a:moveTo>
                <a:lnTo>
                  <a:pt x="14" y="2157"/>
                </a:lnTo>
                <a:lnTo>
                  <a:pt x="0" y="2157"/>
                </a:lnTo>
                <a:lnTo>
                  <a:pt x="0" y="2143"/>
                </a:lnTo>
                <a:lnTo>
                  <a:pt x="14" y="2143"/>
                </a:lnTo>
                <a:close/>
                <a:moveTo>
                  <a:pt x="14" y="2171"/>
                </a:moveTo>
                <a:lnTo>
                  <a:pt x="14" y="2185"/>
                </a:lnTo>
                <a:lnTo>
                  <a:pt x="0" y="2185"/>
                </a:lnTo>
                <a:lnTo>
                  <a:pt x="0" y="2171"/>
                </a:lnTo>
                <a:lnTo>
                  <a:pt x="14" y="2171"/>
                </a:lnTo>
                <a:close/>
                <a:moveTo>
                  <a:pt x="14" y="2199"/>
                </a:moveTo>
                <a:lnTo>
                  <a:pt x="14" y="2213"/>
                </a:lnTo>
                <a:lnTo>
                  <a:pt x="0" y="2213"/>
                </a:lnTo>
                <a:lnTo>
                  <a:pt x="0" y="2199"/>
                </a:lnTo>
                <a:lnTo>
                  <a:pt x="14" y="2199"/>
                </a:lnTo>
                <a:close/>
                <a:moveTo>
                  <a:pt x="14" y="2227"/>
                </a:moveTo>
                <a:lnTo>
                  <a:pt x="14" y="2241"/>
                </a:lnTo>
                <a:lnTo>
                  <a:pt x="0" y="2241"/>
                </a:lnTo>
                <a:lnTo>
                  <a:pt x="0" y="2227"/>
                </a:lnTo>
                <a:lnTo>
                  <a:pt x="14" y="2227"/>
                </a:lnTo>
                <a:close/>
                <a:moveTo>
                  <a:pt x="14" y="2254"/>
                </a:moveTo>
                <a:lnTo>
                  <a:pt x="14" y="2268"/>
                </a:lnTo>
                <a:lnTo>
                  <a:pt x="0" y="2268"/>
                </a:lnTo>
                <a:lnTo>
                  <a:pt x="0" y="2254"/>
                </a:lnTo>
                <a:lnTo>
                  <a:pt x="14" y="2254"/>
                </a:lnTo>
                <a:close/>
                <a:moveTo>
                  <a:pt x="14" y="2283"/>
                </a:moveTo>
                <a:lnTo>
                  <a:pt x="14" y="2296"/>
                </a:lnTo>
                <a:lnTo>
                  <a:pt x="0" y="2296"/>
                </a:lnTo>
                <a:lnTo>
                  <a:pt x="0" y="2283"/>
                </a:lnTo>
                <a:lnTo>
                  <a:pt x="14" y="2283"/>
                </a:lnTo>
                <a:close/>
                <a:moveTo>
                  <a:pt x="14" y="2310"/>
                </a:moveTo>
                <a:lnTo>
                  <a:pt x="14" y="2324"/>
                </a:lnTo>
                <a:lnTo>
                  <a:pt x="0" y="2324"/>
                </a:lnTo>
                <a:lnTo>
                  <a:pt x="0" y="2310"/>
                </a:lnTo>
                <a:lnTo>
                  <a:pt x="14" y="2310"/>
                </a:lnTo>
                <a:close/>
                <a:moveTo>
                  <a:pt x="14" y="2338"/>
                </a:moveTo>
                <a:lnTo>
                  <a:pt x="14" y="2352"/>
                </a:lnTo>
                <a:lnTo>
                  <a:pt x="0" y="2352"/>
                </a:lnTo>
                <a:lnTo>
                  <a:pt x="0" y="2338"/>
                </a:lnTo>
                <a:lnTo>
                  <a:pt x="14" y="2338"/>
                </a:lnTo>
                <a:close/>
                <a:moveTo>
                  <a:pt x="14" y="2366"/>
                </a:moveTo>
                <a:lnTo>
                  <a:pt x="14" y="2380"/>
                </a:lnTo>
                <a:lnTo>
                  <a:pt x="0" y="2380"/>
                </a:lnTo>
                <a:lnTo>
                  <a:pt x="0" y="2366"/>
                </a:lnTo>
                <a:lnTo>
                  <a:pt x="14" y="2366"/>
                </a:lnTo>
                <a:close/>
                <a:moveTo>
                  <a:pt x="14" y="2394"/>
                </a:moveTo>
                <a:lnTo>
                  <a:pt x="14" y="2408"/>
                </a:lnTo>
                <a:lnTo>
                  <a:pt x="0" y="2408"/>
                </a:lnTo>
                <a:lnTo>
                  <a:pt x="0" y="2394"/>
                </a:lnTo>
                <a:lnTo>
                  <a:pt x="14" y="2394"/>
                </a:lnTo>
                <a:close/>
                <a:moveTo>
                  <a:pt x="14" y="2421"/>
                </a:moveTo>
                <a:lnTo>
                  <a:pt x="14" y="2435"/>
                </a:lnTo>
                <a:lnTo>
                  <a:pt x="0" y="2435"/>
                </a:lnTo>
                <a:lnTo>
                  <a:pt x="0" y="2421"/>
                </a:lnTo>
                <a:lnTo>
                  <a:pt x="14" y="2421"/>
                </a:lnTo>
                <a:close/>
                <a:moveTo>
                  <a:pt x="14" y="2449"/>
                </a:moveTo>
                <a:lnTo>
                  <a:pt x="14" y="2453"/>
                </a:lnTo>
                <a:lnTo>
                  <a:pt x="0" y="2453"/>
                </a:lnTo>
                <a:lnTo>
                  <a:pt x="0" y="2449"/>
                </a:lnTo>
                <a:lnTo>
                  <a:pt x="14" y="2449"/>
                </a:lnTo>
                <a:close/>
              </a:path>
            </a:pathLst>
          </a:custGeom>
          <a:solidFill>
            <a:srgbClr val="000000"/>
          </a:solidFill>
          <a:ln w="0" cap="flat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32" name="Freeform 29">
            <a:extLst>
              <a:ext uri="{FF2B5EF4-FFF2-40B4-BE49-F238E27FC236}">
                <a16:creationId xmlns:a16="http://schemas.microsoft.com/office/drawing/2014/main" id="{CD1A6A61-3A6B-48BF-8531-EB12B88EAD20}"/>
              </a:ext>
            </a:extLst>
          </p:cNvPr>
          <p:cNvSpPr>
            <a:spLocks noEditPoints="1"/>
          </p:cNvSpPr>
          <p:nvPr/>
        </p:nvSpPr>
        <p:spPr bwMode="auto">
          <a:xfrm>
            <a:off x="4871673" y="2267962"/>
            <a:ext cx="23813" cy="3894138"/>
          </a:xfrm>
          <a:custGeom>
            <a:avLst/>
            <a:gdLst>
              <a:gd name="T0" fmla="*/ 15 w 15"/>
              <a:gd name="T1" fmla="*/ 42 h 2453"/>
              <a:gd name="T2" fmla="*/ 0 w 15"/>
              <a:gd name="T3" fmla="*/ 56 h 2453"/>
              <a:gd name="T4" fmla="*/ 15 w 15"/>
              <a:gd name="T5" fmla="*/ 112 h 2453"/>
              <a:gd name="T6" fmla="*/ 0 w 15"/>
              <a:gd name="T7" fmla="*/ 154 h 2453"/>
              <a:gd name="T8" fmla="*/ 15 w 15"/>
              <a:gd name="T9" fmla="*/ 167 h 2453"/>
              <a:gd name="T10" fmla="*/ 15 w 15"/>
              <a:gd name="T11" fmla="*/ 237 h 2453"/>
              <a:gd name="T12" fmla="*/ 0 w 15"/>
              <a:gd name="T13" fmla="*/ 251 h 2453"/>
              <a:gd name="T14" fmla="*/ 15 w 15"/>
              <a:gd name="T15" fmla="*/ 307 h 2453"/>
              <a:gd name="T16" fmla="*/ 0 w 15"/>
              <a:gd name="T17" fmla="*/ 348 h 2453"/>
              <a:gd name="T18" fmla="*/ 15 w 15"/>
              <a:gd name="T19" fmla="*/ 362 h 2453"/>
              <a:gd name="T20" fmla="*/ 15 w 15"/>
              <a:gd name="T21" fmla="*/ 432 h 2453"/>
              <a:gd name="T22" fmla="*/ 0 w 15"/>
              <a:gd name="T23" fmla="*/ 446 h 2453"/>
              <a:gd name="T24" fmla="*/ 15 w 15"/>
              <a:gd name="T25" fmla="*/ 501 h 2453"/>
              <a:gd name="T26" fmla="*/ 0 w 15"/>
              <a:gd name="T27" fmla="*/ 543 h 2453"/>
              <a:gd name="T28" fmla="*/ 15 w 15"/>
              <a:gd name="T29" fmla="*/ 557 h 2453"/>
              <a:gd name="T30" fmla="*/ 15 w 15"/>
              <a:gd name="T31" fmla="*/ 627 h 2453"/>
              <a:gd name="T32" fmla="*/ 0 w 15"/>
              <a:gd name="T33" fmla="*/ 641 h 2453"/>
              <a:gd name="T34" fmla="*/ 15 w 15"/>
              <a:gd name="T35" fmla="*/ 696 h 2453"/>
              <a:gd name="T36" fmla="*/ 0 w 15"/>
              <a:gd name="T37" fmla="*/ 738 h 2453"/>
              <a:gd name="T38" fmla="*/ 15 w 15"/>
              <a:gd name="T39" fmla="*/ 752 h 2453"/>
              <a:gd name="T40" fmla="*/ 15 w 15"/>
              <a:gd name="T41" fmla="*/ 822 h 2453"/>
              <a:gd name="T42" fmla="*/ 0 w 15"/>
              <a:gd name="T43" fmla="*/ 835 h 2453"/>
              <a:gd name="T44" fmla="*/ 15 w 15"/>
              <a:gd name="T45" fmla="*/ 891 h 2453"/>
              <a:gd name="T46" fmla="*/ 0 w 15"/>
              <a:gd name="T47" fmla="*/ 933 h 2453"/>
              <a:gd name="T48" fmla="*/ 15 w 15"/>
              <a:gd name="T49" fmla="*/ 947 h 2453"/>
              <a:gd name="T50" fmla="*/ 15 w 15"/>
              <a:gd name="T51" fmla="*/ 1016 h 2453"/>
              <a:gd name="T52" fmla="*/ 0 w 15"/>
              <a:gd name="T53" fmla="*/ 1030 h 2453"/>
              <a:gd name="T54" fmla="*/ 15 w 15"/>
              <a:gd name="T55" fmla="*/ 1086 h 2453"/>
              <a:gd name="T56" fmla="*/ 0 w 15"/>
              <a:gd name="T57" fmla="*/ 1127 h 2453"/>
              <a:gd name="T58" fmla="*/ 15 w 15"/>
              <a:gd name="T59" fmla="*/ 1141 h 2453"/>
              <a:gd name="T60" fmla="*/ 15 w 15"/>
              <a:gd name="T61" fmla="*/ 1211 h 2453"/>
              <a:gd name="T62" fmla="*/ 0 w 15"/>
              <a:gd name="T63" fmla="*/ 1225 h 2453"/>
              <a:gd name="T64" fmla="*/ 15 w 15"/>
              <a:gd name="T65" fmla="*/ 1281 h 2453"/>
              <a:gd name="T66" fmla="*/ 0 w 15"/>
              <a:gd name="T67" fmla="*/ 1322 h 2453"/>
              <a:gd name="T68" fmla="*/ 15 w 15"/>
              <a:gd name="T69" fmla="*/ 1336 h 2453"/>
              <a:gd name="T70" fmla="*/ 15 w 15"/>
              <a:gd name="T71" fmla="*/ 1406 h 2453"/>
              <a:gd name="T72" fmla="*/ 0 w 15"/>
              <a:gd name="T73" fmla="*/ 1420 h 2453"/>
              <a:gd name="T74" fmla="*/ 15 w 15"/>
              <a:gd name="T75" fmla="*/ 1475 h 2453"/>
              <a:gd name="T76" fmla="*/ 0 w 15"/>
              <a:gd name="T77" fmla="*/ 1517 h 2453"/>
              <a:gd name="T78" fmla="*/ 15 w 15"/>
              <a:gd name="T79" fmla="*/ 1531 h 2453"/>
              <a:gd name="T80" fmla="*/ 15 w 15"/>
              <a:gd name="T81" fmla="*/ 1601 h 2453"/>
              <a:gd name="T82" fmla="*/ 0 w 15"/>
              <a:gd name="T83" fmla="*/ 1615 h 2453"/>
              <a:gd name="T84" fmla="*/ 15 w 15"/>
              <a:gd name="T85" fmla="*/ 1670 h 2453"/>
              <a:gd name="T86" fmla="*/ 0 w 15"/>
              <a:gd name="T87" fmla="*/ 1712 h 2453"/>
              <a:gd name="T88" fmla="*/ 15 w 15"/>
              <a:gd name="T89" fmla="*/ 1726 h 2453"/>
              <a:gd name="T90" fmla="*/ 15 w 15"/>
              <a:gd name="T91" fmla="*/ 1795 h 2453"/>
              <a:gd name="T92" fmla="*/ 0 w 15"/>
              <a:gd name="T93" fmla="*/ 1809 h 2453"/>
              <a:gd name="T94" fmla="*/ 15 w 15"/>
              <a:gd name="T95" fmla="*/ 1865 h 2453"/>
              <a:gd name="T96" fmla="*/ 0 w 15"/>
              <a:gd name="T97" fmla="*/ 1907 h 2453"/>
              <a:gd name="T98" fmla="*/ 15 w 15"/>
              <a:gd name="T99" fmla="*/ 1921 h 2453"/>
              <a:gd name="T100" fmla="*/ 15 w 15"/>
              <a:gd name="T101" fmla="*/ 1990 h 2453"/>
              <a:gd name="T102" fmla="*/ 0 w 15"/>
              <a:gd name="T103" fmla="*/ 2004 h 2453"/>
              <a:gd name="T104" fmla="*/ 15 w 15"/>
              <a:gd name="T105" fmla="*/ 2060 h 2453"/>
              <a:gd name="T106" fmla="*/ 0 w 15"/>
              <a:gd name="T107" fmla="*/ 2102 h 2453"/>
              <a:gd name="T108" fmla="*/ 15 w 15"/>
              <a:gd name="T109" fmla="*/ 2116 h 2453"/>
              <a:gd name="T110" fmla="*/ 15 w 15"/>
              <a:gd name="T111" fmla="*/ 2185 h 2453"/>
              <a:gd name="T112" fmla="*/ 0 w 15"/>
              <a:gd name="T113" fmla="*/ 2199 h 2453"/>
              <a:gd name="T114" fmla="*/ 15 w 15"/>
              <a:gd name="T115" fmla="*/ 2254 h 2453"/>
              <a:gd name="T116" fmla="*/ 0 w 15"/>
              <a:gd name="T117" fmla="*/ 2296 h 2453"/>
              <a:gd name="T118" fmla="*/ 15 w 15"/>
              <a:gd name="T119" fmla="*/ 2310 h 2453"/>
              <a:gd name="T120" fmla="*/ 15 w 15"/>
              <a:gd name="T121" fmla="*/ 2380 h 2453"/>
              <a:gd name="T122" fmla="*/ 0 w 15"/>
              <a:gd name="T123" fmla="*/ 2394 h 2453"/>
              <a:gd name="T124" fmla="*/ 15 w 15"/>
              <a:gd name="T125" fmla="*/ 2449 h 24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15" h="2453">
                <a:moveTo>
                  <a:pt x="15" y="0"/>
                </a:moveTo>
                <a:lnTo>
                  <a:pt x="15" y="14"/>
                </a:lnTo>
                <a:lnTo>
                  <a:pt x="0" y="14"/>
                </a:lnTo>
                <a:lnTo>
                  <a:pt x="0" y="0"/>
                </a:lnTo>
                <a:lnTo>
                  <a:pt x="15" y="0"/>
                </a:lnTo>
                <a:close/>
                <a:moveTo>
                  <a:pt x="15" y="28"/>
                </a:moveTo>
                <a:lnTo>
                  <a:pt x="15" y="42"/>
                </a:lnTo>
                <a:lnTo>
                  <a:pt x="0" y="42"/>
                </a:lnTo>
                <a:lnTo>
                  <a:pt x="0" y="28"/>
                </a:lnTo>
                <a:lnTo>
                  <a:pt x="15" y="28"/>
                </a:lnTo>
                <a:close/>
                <a:moveTo>
                  <a:pt x="15" y="56"/>
                </a:moveTo>
                <a:lnTo>
                  <a:pt x="15" y="70"/>
                </a:lnTo>
                <a:lnTo>
                  <a:pt x="0" y="70"/>
                </a:lnTo>
                <a:lnTo>
                  <a:pt x="0" y="56"/>
                </a:lnTo>
                <a:lnTo>
                  <a:pt x="15" y="56"/>
                </a:lnTo>
                <a:close/>
                <a:moveTo>
                  <a:pt x="15" y="84"/>
                </a:moveTo>
                <a:lnTo>
                  <a:pt x="15" y="98"/>
                </a:lnTo>
                <a:lnTo>
                  <a:pt x="0" y="98"/>
                </a:lnTo>
                <a:lnTo>
                  <a:pt x="0" y="84"/>
                </a:lnTo>
                <a:lnTo>
                  <a:pt x="15" y="84"/>
                </a:lnTo>
                <a:close/>
                <a:moveTo>
                  <a:pt x="15" y="112"/>
                </a:moveTo>
                <a:lnTo>
                  <a:pt x="15" y="126"/>
                </a:lnTo>
                <a:lnTo>
                  <a:pt x="0" y="126"/>
                </a:lnTo>
                <a:lnTo>
                  <a:pt x="0" y="112"/>
                </a:lnTo>
                <a:lnTo>
                  <a:pt x="15" y="112"/>
                </a:lnTo>
                <a:close/>
                <a:moveTo>
                  <a:pt x="15" y="140"/>
                </a:moveTo>
                <a:lnTo>
                  <a:pt x="15" y="154"/>
                </a:lnTo>
                <a:lnTo>
                  <a:pt x="0" y="154"/>
                </a:lnTo>
                <a:lnTo>
                  <a:pt x="0" y="140"/>
                </a:lnTo>
                <a:lnTo>
                  <a:pt x="15" y="140"/>
                </a:lnTo>
                <a:close/>
                <a:moveTo>
                  <a:pt x="15" y="167"/>
                </a:moveTo>
                <a:lnTo>
                  <a:pt x="15" y="181"/>
                </a:lnTo>
                <a:lnTo>
                  <a:pt x="0" y="181"/>
                </a:lnTo>
                <a:lnTo>
                  <a:pt x="0" y="167"/>
                </a:lnTo>
                <a:lnTo>
                  <a:pt x="15" y="167"/>
                </a:lnTo>
                <a:close/>
                <a:moveTo>
                  <a:pt x="15" y="195"/>
                </a:moveTo>
                <a:lnTo>
                  <a:pt x="15" y="209"/>
                </a:lnTo>
                <a:lnTo>
                  <a:pt x="0" y="209"/>
                </a:lnTo>
                <a:lnTo>
                  <a:pt x="0" y="195"/>
                </a:lnTo>
                <a:lnTo>
                  <a:pt x="15" y="195"/>
                </a:lnTo>
                <a:close/>
                <a:moveTo>
                  <a:pt x="15" y="223"/>
                </a:moveTo>
                <a:lnTo>
                  <a:pt x="15" y="237"/>
                </a:lnTo>
                <a:lnTo>
                  <a:pt x="0" y="237"/>
                </a:lnTo>
                <a:lnTo>
                  <a:pt x="0" y="223"/>
                </a:lnTo>
                <a:lnTo>
                  <a:pt x="15" y="223"/>
                </a:lnTo>
                <a:close/>
                <a:moveTo>
                  <a:pt x="15" y="251"/>
                </a:moveTo>
                <a:lnTo>
                  <a:pt x="15" y="265"/>
                </a:lnTo>
                <a:lnTo>
                  <a:pt x="0" y="265"/>
                </a:lnTo>
                <a:lnTo>
                  <a:pt x="0" y="251"/>
                </a:lnTo>
                <a:lnTo>
                  <a:pt x="15" y="251"/>
                </a:lnTo>
                <a:close/>
                <a:moveTo>
                  <a:pt x="15" y="279"/>
                </a:moveTo>
                <a:lnTo>
                  <a:pt x="15" y="293"/>
                </a:lnTo>
                <a:lnTo>
                  <a:pt x="0" y="293"/>
                </a:lnTo>
                <a:lnTo>
                  <a:pt x="0" y="279"/>
                </a:lnTo>
                <a:lnTo>
                  <a:pt x="15" y="279"/>
                </a:lnTo>
                <a:close/>
                <a:moveTo>
                  <a:pt x="15" y="307"/>
                </a:moveTo>
                <a:lnTo>
                  <a:pt x="15" y="321"/>
                </a:lnTo>
                <a:lnTo>
                  <a:pt x="0" y="321"/>
                </a:lnTo>
                <a:lnTo>
                  <a:pt x="0" y="307"/>
                </a:lnTo>
                <a:lnTo>
                  <a:pt x="15" y="307"/>
                </a:lnTo>
                <a:close/>
                <a:moveTo>
                  <a:pt x="15" y="334"/>
                </a:moveTo>
                <a:lnTo>
                  <a:pt x="15" y="348"/>
                </a:lnTo>
                <a:lnTo>
                  <a:pt x="0" y="348"/>
                </a:lnTo>
                <a:lnTo>
                  <a:pt x="0" y="334"/>
                </a:lnTo>
                <a:lnTo>
                  <a:pt x="15" y="334"/>
                </a:lnTo>
                <a:close/>
                <a:moveTo>
                  <a:pt x="15" y="362"/>
                </a:moveTo>
                <a:lnTo>
                  <a:pt x="15" y="376"/>
                </a:lnTo>
                <a:lnTo>
                  <a:pt x="0" y="376"/>
                </a:lnTo>
                <a:lnTo>
                  <a:pt x="0" y="362"/>
                </a:lnTo>
                <a:lnTo>
                  <a:pt x="15" y="362"/>
                </a:lnTo>
                <a:close/>
                <a:moveTo>
                  <a:pt x="15" y="390"/>
                </a:moveTo>
                <a:lnTo>
                  <a:pt x="15" y="404"/>
                </a:lnTo>
                <a:lnTo>
                  <a:pt x="0" y="404"/>
                </a:lnTo>
                <a:lnTo>
                  <a:pt x="0" y="390"/>
                </a:lnTo>
                <a:lnTo>
                  <a:pt x="15" y="390"/>
                </a:lnTo>
                <a:close/>
                <a:moveTo>
                  <a:pt x="15" y="418"/>
                </a:moveTo>
                <a:lnTo>
                  <a:pt x="15" y="432"/>
                </a:lnTo>
                <a:lnTo>
                  <a:pt x="0" y="432"/>
                </a:lnTo>
                <a:lnTo>
                  <a:pt x="0" y="418"/>
                </a:lnTo>
                <a:lnTo>
                  <a:pt x="15" y="418"/>
                </a:lnTo>
                <a:close/>
                <a:moveTo>
                  <a:pt x="15" y="446"/>
                </a:moveTo>
                <a:lnTo>
                  <a:pt x="15" y="460"/>
                </a:lnTo>
                <a:lnTo>
                  <a:pt x="0" y="460"/>
                </a:lnTo>
                <a:lnTo>
                  <a:pt x="0" y="446"/>
                </a:lnTo>
                <a:lnTo>
                  <a:pt x="15" y="446"/>
                </a:lnTo>
                <a:close/>
                <a:moveTo>
                  <a:pt x="15" y="474"/>
                </a:moveTo>
                <a:lnTo>
                  <a:pt x="15" y="488"/>
                </a:lnTo>
                <a:lnTo>
                  <a:pt x="0" y="488"/>
                </a:lnTo>
                <a:lnTo>
                  <a:pt x="0" y="474"/>
                </a:lnTo>
                <a:lnTo>
                  <a:pt x="15" y="474"/>
                </a:lnTo>
                <a:close/>
                <a:moveTo>
                  <a:pt x="15" y="501"/>
                </a:moveTo>
                <a:lnTo>
                  <a:pt x="15" y="515"/>
                </a:lnTo>
                <a:lnTo>
                  <a:pt x="0" y="515"/>
                </a:lnTo>
                <a:lnTo>
                  <a:pt x="0" y="501"/>
                </a:lnTo>
                <a:lnTo>
                  <a:pt x="15" y="501"/>
                </a:lnTo>
                <a:close/>
                <a:moveTo>
                  <a:pt x="15" y="529"/>
                </a:moveTo>
                <a:lnTo>
                  <a:pt x="15" y="543"/>
                </a:lnTo>
                <a:lnTo>
                  <a:pt x="0" y="543"/>
                </a:lnTo>
                <a:lnTo>
                  <a:pt x="0" y="529"/>
                </a:lnTo>
                <a:lnTo>
                  <a:pt x="15" y="529"/>
                </a:lnTo>
                <a:close/>
                <a:moveTo>
                  <a:pt x="15" y="557"/>
                </a:moveTo>
                <a:lnTo>
                  <a:pt x="15" y="571"/>
                </a:lnTo>
                <a:lnTo>
                  <a:pt x="0" y="571"/>
                </a:lnTo>
                <a:lnTo>
                  <a:pt x="0" y="557"/>
                </a:lnTo>
                <a:lnTo>
                  <a:pt x="15" y="557"/>
                </a:lnTo>
                <a:close/>
                <a:moveTo>
                  <a:pt x="15" y="585"/>
                </a:moveTo>
                <a:lnTo>
                  <a:pt x="15" y="599"/>
                </a:lnTo>
                <a:lnTo>
                  <a:pt x="0" y="599"/>
                </a:lnTo>
                <a:lnTo>
                  <a:pt x="0" y="585"/>
                </a:lnTo>
                <a:lnTo>
                  <a:pt x="15" y="585"/>
                </a:lnTo>
                <a:close/>
                <a:moveTo>
                  <a:pt x="15" y="613"/>
                </a:moveTo>
                <a:lnTo>
                  <a:pt x="15" y="627"/>
                </a:lnTo>
                <a:lnTo>
                  <a:pt x="0" y="627"/>
                </a:lnTo>
                <a:lnTo>
                  <a:pt x="0" y="613"/>
                </a:lnTo>
                <a:lnTo>
                  <a:pt x="15" y="613"/>
                </a:lnTo>
                <a:close/>
                <a:moveTo>
                  <a:pt x="15" y="641"/>
                </a:moveTo>
                <a:lnTo>
                  <a:pt x="15" y="655"/>
                </a:lnTo>
                <a:lnTo>
                  <a:pt x="0" y="655"/>
                </a:lnTo>
                <a:lnTo>
                  <a:pt x="0" y="641"/>
                </a:lnTo>
                <a:lnTo>
                  <a:pt x="15" y="641"/>
                </a:lnTo>
                <a:close/>
                <a:moveTo>
                  <a:pt x="15" y="668"/>
                </a:moveTo>
                <a:lnTo>
                  <a:pt x="15" y="682"/>
                </a:lnTo>
                <a:lnTo>
                  <a:pt x="0" y="682"/>
                </a:lnTo>
                <a:lnTo>
                  <a:pt x="0" y="668"/>
                </a:lnTo>
                <a:lnTo>
                  <a:pt x="15" y="668"/>
                </a:lnTo>
                <a:close/>
                <a:moveTo>
                  <a:pt x="15" y="696"/>
                </a:moveTo>
                <a:lnTo>
                  <a:pt x="15" y="710"/>
                </a:lnTo>
                <a:lnTo>
                  <a:pt x="0" y="710"/>
                </a:lnTo>
                <a:lnTo>
                  <a:pt x="0" y="696"/>
                </a:lnTo>
                <a:lnTo>
                  <a:pt x="15" y="696"/>
                </a:lnTo>
                <a:close/>
                <a:moveTo>
                  <a:pt x="15" y="724"/>
                </a:moveTo>
                <a:lnTo>
                  <a:pt x="15" y="738"/>
                </a:lnTo>
                <a:lnTo>
                  <a:pt x="0" y="738"/>
                </a:lnTo>
                <a:lnTo>
                  <a:pt x="0" y="724"/>
                </a:lnTo>
                <a:lnTo>
                  <a:pt x="15" y="724"/>
                </a:lnTo>
                <a:close/>
                <a:moveTo>
                  <a:pt x="15" y="752"/>
                </a:moveTo>
                <a:lnTo>
                  <a:pt x="15" y="766"/>
                </a:lnTo>
                <a:lnTo>
                  <a:pt x="0" y="766"/>
                </a:lnTo>
                <a:lnTo>
                  <a:pt x="0" y="752"/>
                </a:lnTo>
                <a:lnTo>
                  <a:pt x="15" y="752"/>
                </a:lnTo>
                <a:close/>
                <a:moveTo>
                  <a:pt x="15" y="780"/>
                </a:moveTo>
                <a:lnTo>
                  <a:pt x="15" y="793"/>
                </a:lnTo>
                <a:lnTo>
                  <a:pt x="0" y="793"/>
                </a:lnTo>
                <a:lnTo>
                  <a:pt x="0" y="780"/>
                </a:lnTo>
                <a:lnTo>
                  <a:pt x="15" y="780"/>
                </a:lnTo>
                <a:close/>
                <a:moveTo>
                  <a:pt x="15" y="808"/>
                </a:moveTo>
                <a:lnTo>
                  <a:pt x="15" y="822"/>
                </a:lnTo>
                <a:lnTo>
                  <a:pt x="0" y="822"/>
                </a:lnTo>
                <a:lnTo>
                  <a:pt x="0" y="808"/>
                </a:lnTo>
                <a:lnTo>
                  <a:pt x="15" y="808"/>
                </a:lnTo>
                <a:close/>
                <a:moveTo>
                  <a:pt x="15" y="835"/>
                </a:moveTo>
                <a:lnTo>
                  <a:pt x="15" y="849"/>
                </a:lnTo>
                <a:lnTo>
                  <a:pt x="0" y="849"/>
                </a:lnTo>
                <a:lnTo>
                  <a:pt x="0" y="835"/>
                </a:lnTo>
                <a:lnTo>
                  <a:pt x="15" y="835"/>
                </a:lnTo>
                <a:close/>
                <a:moveTo>
                  <a:pt x="15" y="863"/>
                </a:moveTo>
                <a:lnTo>
                  <a:pt x="15" y="877"/>
                </a:lnTo>
                <a:lnTo>
                  <a:pt x="0" y="877"/>
                </a:lnTo>
                <a:lnTo>
                  <a:pt x="0" y="863"/>
                </a:lnTo>
                <a:lnTo>
                  <a:pt x="15" y="863"/>
                </a:lnTo>
                <a:close/>
                <a:moveTo>
                  <a:pt x="15" y="891"/>
                </a:moveTo>
                <a:lnTo>
                  <a:pt x="15" y="905"/>
                </a:lnTo>
                <a:lnTo>
                  <a:pt x="0" y="905"/>
                </a:lnTo>
                <a:lnTo>
                  <a:pt x="0" y="891"/>
                </a:lnTo>
                <a:lnTo>
                  <a:pt x="15" y="891"/>
                </a:lnTo>
                <a:close/>
                <a:moveTo>
                  <a:pt x="15" y="919"/>
                </a:moveTo>
                <a:lnTo>
                  <a:pt x="15" y="933"/>
                </a:lnTo>
                <a:lnTo>
                  <a:pt x="0" y="933"/>
                </a:lnTo>
                <a:lnTo>
                  <a:pt x="0" y="919"/>
                </a:lnTo>
                <a:lnTo>
                  <a:pt x="15" y="919"/>
                </a:lnTo>
                <a:close/>
                <a:moveTo>
                  <a:pt x="15" y="947"/>
                </a:moveTo>
                <a:lnTo>
                  <a:pt x="15" y="960"/>
                </a:lnTo>
                <a:lnTo>
                  <a:pt x="0" y="960"/>
                </a:lnTo>
                <a:lnTo>
                  <a:pt x="0" y="947"/>
                </a:lnTo>
                <a:lnTo>
                  <a:pt x="15" y="947"/>
                </a:lnTo>
                <a:close/>
                <a:moveTo>
                  <a:pt x="15" y="974"/>
                </a:moveTo>
                <a:lnTo>
                  <a:pt x="15" y="988"/>
                </a:lnTo>
                <a:lnTo>
                  <a:pt x="0" y="988"/>
                </a:lnTo>
                <a:lnTo>
                  <a:pt x="0" y="974"/>
                </a:lnTo>
                <a:lnTo>
                  <a:pt x="15" y="974"/>
                </a:lnTo>
                <a:close/>
                <a:moveTo>
                  <a:pt x="15" y="1002"/>
                </a:moveTo>
                <a:lnTo>
                  <a:pt x="15" y="1016"/>
                </a:lnTo>
                <a:lnTo>
                  <a:pt x="0" y="1016"/>
                </a:lnTo>
                <a:lnTo>
                  <a:pt x="0" y="1002"/>
                </a:lnTo>
                <a:lnTo>
                  <a:pt x="15" y="1002"/>
                </a:lnTo>
                <a:close/>
                <a:moveTo>
                  <a:pt x="15" y="1030"/>
                </a:moveTo>
                <a:lnTo>
                  <a:pt x="15" y="1044"/>
                </a:lnTo>
                <a:lnTo>
                  <a:pt x="0" y="1044"/>
                </a:lnTo>
                <a:lnTo>
                  <a:pt x="0" y="1030"/>
                </a:lnTo>
                <a:lnTo>
                  <a:pt x="15" y="1030"/>
                </a:lnTo>
                <a:close/>
                <a:moveTo>
                  <a:pt x="15" y="1058"/>
                </a:moveTo>
                <a:lnTo>
                  <a:pt x="15" y="1072"/>
                </a:lnTo>
                <a:lnTo>
                  <a:pt x="0" y="1072"/>
                </a:lnTo>
                <a:lnTo>
                  <a:pt x="0" y="1058"/>
                </a:lnTo>
                <a:lnTo>
                  <a:pt x="15" y="1058"/>
                </a:lnTo>
                <a:close/>
                <a:moveTo>
                  <a:pt x="15" y="1086"/>
                </a:moveTo>
                <a:lnTo>
                  <a:pt x="15" y="1100"/>
                </a:lnTo>
                <a:lnTo>
                  <a:pt x="0" y="1100"/>
                </a:lnTo>
                <a:lnTo>
                  <a:pt x="0" y="1086"/>
                </a:lnTo>
                <a:lnTo>
                  <a:pt x="15" y="1086"/>
                </a:lnTo>
                <a:close/>
                <a:moveTo>
                  <a:pt x="15" y="1114"/>
                </a:moveTo>
                <a:lnTo>
                  <a:pt x="15" y="1127"/>
                </a:lnTo>
                <a:lnTo>
                  <a:pt x="0" y="1127"/>
                </a:lnTo>
                <a:lnTo>
                  <a:pt x="0" y="1114"/>
                </a:lnTo>
                <a:lnTo>
                  <a:pt x="15" y="1114"/>
                </a:lnTo>
                <a:close/>
                <a:moveTo>
                  <a:pt x="15" y="1141"/>
                </a:moveTo>
                <a:lnTo>
                  <a:pt x="15" y="1155"/>
                </a:lnTo>
                <a:lnTo>
                  <a:pt x="0" y="1155"/>
                </a:lnTo>
                <a:lnTo>
                  <a:pt x="0" y="1141"/>
                </a:lnTo>
                <a:lnTo>
                  <a:pt x="15" y="1141"/>
                </a:lnTo>
                <a:close/>
                <a:moveTo>
                  <a:pt x="15" y="1169"/>
                </a:moveTo>
                <a:lnTo>
                  <a:pt x="15" y="1183"/>
                </a:lnTo>
                <a:lnTo>
                  <a:pt x="0" y="1183"/>
                </a:lnTo>
                <a:lnTo>
                  <a:pt x="0" y="1169"/>
                </a:lnTo>
                <a:lnTo>
                  <a:pt x="15" y="1169"/>
                </a:lnTo>
                <a:close/>
                <a:moveTo>
                  <a:pt x="15" y="1197"/>
                </a:moveTo>
                <a:lnTo>
                  <a:pt x="15" y="1211"/>
                </a:lnTo>
                <a:lnTo>
                  <a:pt x="0" y="1211"/>
                </a:lnTo>
                <a:lnTo>
                  <a:pt x="0" y="1197"/>
                </a:lnTo>
                <a:lnTo>
                  <a:pt x="15" y="1197"/>
                </a:lnTo>
                <a:close/>
                <a:moveTo>
                  <a:pt x="15" y="1225"/>
                </a:moveTo>
                <a:lnTo>
                  <a:pt x="15" y="1239"/>
                </a:lnTo>
                <a:lnTo>
                  <a:pt x="0" y="1239"/>
                </a:lnTo>
                <a:lnTo>
                  <a:pt x="0" y="1225"/>
                </a:lnTo>
                <a:lnTo>
                  <a:pt x="15" y="1225"/>
                </a:lnTo>
                <a:close/>
                <a:moveTo>
                  <a:pt x="15" y="1253"/>
                </a:moveTo>
                <a:lnTo>
                  <a:pt x="15" y="1267"/>
                </a:lnTo>
                <a:lnTo>
                  <a:pt x="0" y="1267"/>
                </a:lnTo>
                <a:lnTo>
                  <a:pt x="0" y="1253"/>
                </a:lnTo>
                <a:lnTo>
                  <a:pt x="15" y="1253"/>
                </a:lnTo>
                <a:close/>
                <a:moveTo>
                  <a:pt x="15" y="1281"/>
                </a:moveTo>
                <a:lnTo>
                  <a:pt x="15" y="1294"/>
                </a:lnTo>
                <a:lnTo>
                  <a:pt x="0" y="1294"/>
                </a:lnTo>
                <a:lnTo>
                  <a:pt x="0" y="1281"/>
                </a:lnTo>
                <a:lnTo>
                  <a:pt x="15" y="1281"/>
                </a:lnTo>
                <a:close/>
                <a:moveTo>
                  <a:pt x="15" y="1308"/>
                </a:moveTo>
                <a:lnTo>
                  <a:pt x="15" y="1322"/>
                </a:lnTo>
                <a:lnTo>
                  <a:pt x="0" y="1322"/>
                </a:lnTo>
                <a:lnTo>
                  <a:pt x="0" y="1308"/>
                </a:lnTo>
                <a:lnTo>
                  <a:pt x="15" y="1308"/>
                </a:lnTo>
                <a:close/>
                <a:moveTo>
                  <a:pt x="15" y="1336"/>
                </a:moveTo>
                <a:lnTo>
                  <a:pt x="15" y="1350"/>
                </a:lnTo>
                <a:lnTo>
                  <a:pt x="0" y="1350"/>
                </a:lnTo>
                <a:lnTo>
                  <a:pt x="0" y="1336"/>
                </a:lnTo>
                <a:lnTo>
                  <a:pt x="15" y="1336"/>
                </a:lnTo>
                <a:close/>
                <a:moveTo>
                  <a:pt x="15" y="1364"/>
                </a:moveTo>
                <a:lnTo>
                  <a:pt x="15" y="1378"/>
                </a:lnTo>
                <a:lnTo>
                  <a:pt x="0" y="1378"/>
                </a:lnTo>
                <a:lnTo>
                  <a:pt x="0" y="1364"/>
                </a:lnTo>
                <a:lnTo>
                  <a:pt x="15" y="1364"/>
                </a:lnTo>
                <a:close/>
                <a:moveTo>
                  <a:pt x="15" y="1392"/>
                </a:moveTo>
                <a:lnTo>
                  <a:pt x="15" y="1406"/>
                </a:lnTo>
                <a:lnTo>
                  <a:pt x="0" y="1406"/>
                </a:lnTo>
                <a:lnTo>
                  <a:pt x="0" y="1392"/>
                </a:lnTo>
                <a:lnTo>
                  <a:pt x="15" y="1392"/>
                </a:lnTo>
                <a:close/>
                <a:moveTo>
                  <a:pt x="15" y="1420"/>
                </a:moveTo>
                <a:lnTo>
                  <a:pt x="15" y="1434"/>
                </a:lnTo>
                <a:lnTo>
                  <a:pt x="0" y="1434"/>
                </a:lnTo>
                <a:lnTo>
                  <a:pt x="0" y="1420"/>
                </a:lnTo>
                <a:lnTo>
                  <a:pt x="15" y="1420"/>
                </a:lnTo>
                <a:close/>
                <a:moveTo>
                  <a:pt x="15" y="1448"/>
                </a:moveTo>
                <a:lnTo>
                  <a:pt x="15" y="1461"/>
                </a:lnTo>
                <a:lnTo>
                  <a:pt x="0" y="1461"/>
                </a:lnTo>
                <a:lnTo>
                  <a:pt x="0" y="1448"/>
                </a:lnTo>
                <a:lnTo>
                  <a:pt x="15" y="1448"/>
                </a:lnTo>
                <a:close/>
                <a:moveTo>
                  <a:pt x="15" y="1475"/>
                </a:moveTo>
                <a:lnTo>
                  <a:pt x="15" y="1489"/>
                </a:lnTo>
                <a:lnTo>
                  <a:pt x="0" y="1489"/>
                </a:lnTo>
                <a:lnTo>
                  <a:pt x="0" y="1475"/>
                </a:lnTo>
                <a:lnTo>
                  <a:pt x="15" y="1475"/>
                </a:lnTo>
                <a:close/>
                <a:moveTo>
                  <a:pt x="15" y="1503"/>
                </a:moveTo>
                <a:lnTo>
                  <a:pt x="15" y="1517"/>
                </a:lnTo>
                <a:lnTo>
                  <a:pt x="0" y="1517"/>
                </a:lnTo>
                <a:lnTo>
                  <a:pt x="0" y="1503"/>
                </a:lnTo>
                <a:lnTo>
                  <a:pt x="15" y="1503"/>
                </a:lnTo>
                <a:close/>
                <a:moveTo>
                  <a:pt x="15" y="1531"/>
                </a:moveTo>
                <a:lnTo>
                  <a:pt x="15" y="1545"/>
                </a:lnTo>
                <a:lnTo>
                  <a:pt x="0" y="1545"/>
                </a:lnTo>
                <a:lnTo>
                  <a:pt x="0" y="1531"/>
                </a:lnTo>
                <a:lnTo>
                  <a:pt x="15" y="1531"/>
                </a:lnTo>
                <a:close/>
                <a:moveTo>
                  <a:pt x="15" y="1559"/>
                </a:moveTo>
                <a:lnTo>
                  <a:pt x="15" y="1573"/>
                </a:lnTo>
                <a:lnTo>
                  <a:pt x="0" y="1573"/>
                </a:lnTo>
                <a:lnTo>
                  <a:pt x="0" y="1559"/>
                </a:lnTo>
                <a:lnTo>
                  <a:pt x="15" y="1559"/>
                </a:lnTo>
                <a:close/>
                <a:moveTo>
                  <a:pt x="15" y="1587"/>
                </a:moveTo>
                <a:lnTo>
                  <a:pt x="15" y="1601"/>
                </a:lnTo>
                <a:lnTo>
                  <a:pt x="0" y="1601"/>
                </a:lnTo>
                <a:lnTo>
                  <a:pt x="0" y="1587"/>
                </a:lnTo>
                <a:lnTo>
                  <a:pt x="15" y="1587"/>
                </a:lnTo>
                <a:close/>
                <a:moveTo>
                  <a:pt x="15" y="1615"/>
                </a:moveTo>
                <a:lnTo>
                  <a:pt x="15" y="1628"/>
                </a:lnTo>
                <a:lnTo>
                  <a:pt x="0" y="1628"/>
                </a:lnTo>
                <a:lnTo>
                  <a:pt x="0" y="1615"/>
                </a:lnTo>
                <a:lnTo>
                  <a:pt x="15" y="1615"/>
                </a:lnTo>
                <a:close/>
                <a:moveTo>
                  <a:pt x="15" y="1642"/>
                </a:moveTo>
                <a:lnTo>
                  <a:pt x="15" y="1656"/>
                </a:lnTo>
                <a:lnTo>
                  <a:pt x="0" y="1656"/>
                </a:lnTo>
                <a:lnTo>
                  <a:pt x="0" y="1642"/>
                </a:lnTo>
                <a:lnTo>
                  <a:pt x="15" y="1642"/>
                </a:lnTo>
                <a:close/>
                <a:moveTo>
                  <a:pt x="15" y="1670"/>
                </a:moveTo>
                <a:lnTo>
                  <a:pt x="15" y="1684"/>
                </a:lnTo>
                <a:lnTo>
                  <a:pt x="0" y="1684"/>
                </a:lnTo>
                <a:lnTo>
                  <a:pt x="0" y="1670"/>
                </a:lnTo>
                <a:lnTo>
                  <a:pt x="15" y="1670"/>
                </a:lnTo>
                <a:close/>
                <a:moveTo>
                  <a:pt x="15" y="1698"/>
                </a:moveTo>
                <a:lnTo>
                  <a:pt x="15" y="1712"/>
                </a:lnTo>
                <a:lnTo>
                  <a:pt x="0" y="1712"/>
                </a:lnTo>
                <a:lnTo>
                  <a:pt x="0" y="1698"/>
                </a:lnTo>
                <a:lnTo>
                  <a:pt x="15" y="1698"/>
                </a:lnTo>
                <a:close/>
                <a:moveTo>
                  <a:pt x="15" y="1726"/>
                </a:moveTo>
                <a:lnTo>
                  <a:pt x="15" y="1740"/>
                </a:lnTo>
                <a:lnTo>
                  <a:pt x="0" y="1740"/>
                </a:lnTo>
                <a:lnTo>
                  <a:pt x="0" y="1726"/>
                </a:lnTo>
                <a:lnTo>
                  <a:pt x="15" y="1726"/>
                </a:lnTo>
                <a:close/>
                <a:moveTo>
                  <a:pt x="15" y="1754"/>
                </a:moveTo>
                <a:lnTo>
                  <a:pt x="15" y="1768"/>
                </a:lnTo>
                <a:lnTo>
                  <a:pt x="0" y="1768"/>
                </a:lnTo>
                <a:lnTo>
                  <a:pt x="0" y="1754"/>
                </a:lnTo>
                <a:lnTo>
                  <a:pt x="15" y="1754"/>
                </a:lnTo>
                <a:close/>
                <a:moveTo>
                  <a:pt x="15" y="1782"/>
                </a:moveTo>
                <a:lnTo>
                  <a:pt x="15" y="1795"/>
                </a:lnTo>
                <a:lnTo>
                  <a:pt x="0" y="1795"/>
                </a:lnTo>
                <a:lnTo>
                  <a:pt x="0" y="1782"/>
                </a:lnTo>
                <a:lnTo>
                  <a:pt x="15" y="1782"/>
                </a:lnTo>
                <a:close/>
                <a:moveTo>
                  <a:pt x="15" y="1809"/>
                </a:moveTo>
                <a:lnTo>
                  <a:pt x="15" y="1823"/>
                </a:lnTo>
                <a:lnTo>
                  <a:pt x="0" y="1823"/>
                </a:lnTo>
                <a:lnTo>
                  <a:pt x="0" y="1809"/>
                </a:lnTo>
                <a:lnTo>
                  <a:pt x="15" y="1809"/>
                </a:lnTo>
                <a:close/>
                <a:moveTo>
                  <a:pt x="15" y="1837"/>
                </a:moveTo>
                <a:lnTo>
                  <a:pt x="15" y="1851"/>
                </a:lnTo>
                <a:lnTo>
                  <a:pt x="0" y="1851"/>
                </a:lnTo>
                <a:lnTo>
                  <a:pt x="0" y="1837"/>
                </a:lnTo>
                <a:lnTo>
                  <a:pt x="15" y="1837"/>
                </a:lnTo>
                <a:close/>
                <a:moveTo>
                  <a:pt x="15" y="1865"/>
                </a:moveTo>
                <a:lnTo>
                  <a:pt x="15" y="1879"/>
                </a:lnTo>
                <a:lnTo>
                  <a:pt x="0" y="1879"/>
                </a:lnTo>
                <a:lnTo>
                  <a:pt x="0" y="1865"/>
                </a:lnTo>
                <a:lnTo>
                  <a:pt x="15" y="1865"/>
                </a:lnTo>
                <a:close/>
                <a:moveTo>
                  <a:pt x="15" y="1893"/>
                </a:moveTo>
                <a:lnTo>
                  <a:pt x="15" y="1907"/>
                </a:lnTo>
                <a:lnTo>
                  <a:pt x="0" y="1907"/>
                </a:lnTo>
                <a:lnTo>
                  <a:pt x="0" y="1893"/>
                </a:lnTo>
                <a:lnTo>
                  <a:pt x="15" y="1893"/>
                </a:lnTo>
                <a:close/>
                <a:moveTo>
                  <a:pt x="15" y="1921"/>
                </a:moveTo>
                <a:lnTo>
                  <a:pt x="15" y="1935"/>
                </a:lnTo>
                <a:lnTo>
                  <a:pt x="0" y="1935"/>
                </a:lnTo>
                <a:lnTo>
                  <a:pt x="0" y="1921"/>
                </a:lnTo>
                <a:lnTo>
                  <a:pt x="15" y="1921"/>
                </a:lnTo>
                <a:close/>
                <a:moveTo>
                  <a:pt x="15" y="1949"/>
                </a:moveTo>
                <a:lnTo>
                  <a:pt x="15" y="1962"/>
                </a:lnTo>
                <a:lnTo>
                  <a:pt x="0" y="1962"/>
                </a:lnTo>
                <a:lnTo>
                  <a:pt x="0" y="1949"/>
                </a:lnTo>
                <a:lnTo>
                  <a:pt x="15" y="1949"/>
                </a:lnTo>
                <a:close/>
                <a:moveTo>
                  <a:pt x="15" y="1976"/>
                </a:moveTo>
                <a:lnTo>
                  <a:pt x="15" y="1990"/>
                </a:lnTo>
                <a:lnTo>
                  <a:pt x="0" y="1990"/>
                </a:lnTo>
                <a:lnTo>
                  <a:pt x="0" y="1976"/>
                </a:lnTo>
                <a:lnTo>
                  <a:pt x="15" y="1976"/>
                </a:lnTo>
                <a:close/>
                <a:moveTo>
                  <a:pt x="15" y="2004"/>
                </a:moveTo>
                <a:lnTo>
                  <a:pt x="15" y="2018"/>
                </a:lnTo>
                <a:lnTo>
                  <a:pt x="0" y="2018"/>
                </a:lnTo>
                <a:lnTo>
                  <a:pt x="0" y="2004"/>
                </a:lnTo>
                <a:lnTo>
                  <a:pt x="15" y="2004"/>
                </a:lnTo>
                <a:close/>
                <a:moveTo>
                  <a:pt x="15" y="2032"/>
                </a:moveTo>
                <a:lnTo>
                  <a:pt x="15" y="2046"/>
                </a:lnTo>
                <a:lnTo>
                  <a:pt x="0" y="2046"/>
                </a:lnTo>
                <a:lnTo>
                  <a:pt x="0" y="2032"/>
                </a:lnTo>
                <a:lnTo>
                  <a:pt x="15" y="2032"/>
                </a:lnTo>
                <a:close/>
                <a:moveTo>
                  <a:pt x="15" y="2060"/>
                </a:moveTo>
                <a:lnTo>
                  <a:pt x="15" y="2074"/>
                </a:lnTo>
                <a:lnTo>
                  <a:pt x="0" y="2074"/>
                </a:lnTo>
                <a:lnTo>
                  <a:pt x="0" y="2060"/>
                </a:lnTo>
                <a:lnTo>
                  <a:pt x="15" y="2060"/>
                </a:lnTo>
                <a:close/>
                <a:moveTo>
                  <a:pt x="15" y="2087"/>
                </a:moveTo>
                <a:lnTo>
                  <a:pt x="15" y="2102"/>
                </a:lnTo>
                <a:lnTo>
                  <a:pt x="0" y="2102"/>
                </a:lnTo>
                <a:lnTo>
                  <a:pt x="0" y="2087"/>
                </a:lnTo>
                <a:lnTo>
                  <a:pt x="15" y="2087"/>
                </a:lnTo>
                <a:close/>
                <a:moveTo>
                  <a:pt x="15" y="2116"/>
                </a:moveTo>
                <a:lnTo>
                  <a:pt x="15" y="2129"/>
                </a:lnTo>
                <a:lnTo>
                  <a:pt x="0" y="2129"/>
                </a:lnTo>
                <a:lnTo>
                  <a:pt x="0" y="2116"/>
                </a:lnTo>
                <a:lnTo>
                  <a:pt x="15" y="2116"/>
                </a:lnTo>
                <a:close/>
                <a:moveTo>
                  <a:pt x="15" y="2143"/>
                </a:moveTo>
                <a:lnTo>
                  <a:pt x="15" y="2157"/>
                </a:lnTo>
                <a:lnTo>
                  <a:pt x="0" y="2157"/>
                </a:lnTo>
                <a:lnTo>
                  <a:pt x="0" y="2143"/>
                </a:lnTo>
                <a:lnTo>
                  <a:pt x="15" y="2143"/>
                </a:lnTo>
                <a:close/>
                <a:moveTo>
                  <a:pt x="15" y="2171"/>
                </a:moveTo>
                <a:lnTo>
                  <a:pt x="15" y="2185"/>
                </a:lnTo>
                <a:lnTo>
                  <a:pt x="0" y="2185"/>
                </a:lnTo>
                <a:lnTo>
                  <a:pt x="0" y="2171"/>
                </a:lnTo>
                <a:lnTo>
                  <a:pt x="15" y="2171"/>
                </a:lnTo>
                <a:close/>
                <a:moveTo>
                  <a:pt x="15" y="2199"/>
                </a:moveTo>
                <a:lnTo>
                  <a:pt x="15" y="2213"/>
                </a:lnTo>
                <a:lnTo>
                  <a:pt x="0" y="2213"/>
                </a:lnTo>
                <a:lnTo>
                  <a:pt x="0" y="2199"/>
                </a:lnTo>
                <a:lnTo>
                  <a:pt x="15" y="2199"/>
                </a:lnTo>
                <a:close/>
                <a:moveTo>
                  <a:pt x="15" y="2227"/>
                </a:moveTo>
                <a:lnTo>
                  <a:pt x="15" y="2241"/>
                </a:lnTo>
                <a:lnTo>
                  <a:pt x="0" y="2241"/>
                </a:lnTo>
                <a:lnTo>
                  <a:pt x="0" y="2227"/>
                </a:lnTo>
                <a:lnTo>
                  <a:pt x="15" y="2227"/>
                </a:lnTo>
                <a:close/>
                <a:moveTo>
                  <a:pt x="15" y="2254"/>
                </a:moveTo>
                <a:lnTo>
                  <a:pt x="15" y="2268"/>
                </a:lnTo>
                <a:lnTo>
                  <a:pt x="0" y="2268"/>
                </a:lnTo>
                <a:lnTo>
                  <a:pt x="0" y="2254"/>
                </a:lnTo>
                <a:lnTo>
                  <a:pt x="15" y="2254"/>
                </a:lnTo>
                <a:close/>
                <a:moveTo>
                  <a:pt x="15" y="2283"/>
                </a:moveTo>
                <a:lnTo>
                  <a:pt x="15" y="2296"/>
                </a:lnTo>
                <a:lnTo>
                  <a:pt x="0" y="2296"/>
                </a:lnTo>
                <a:lnTo>
                  <a:pt x="0" y="2283"/>
                </a:lnTo>
                <a:lnTo>
                  <a:pt x="15" y="2283"/>
                </a:lnTo>
                <a:close/>
                <a:moveTo>
                  <a:pt x="15" y="2310"/>
                </a:moveTo>
                <a:lnTo>
                  <a:pt x="15" y="2324"/>
                </a:lnTo>
                <a:lnTo>
                  <a:pt x="0" y="2324"/>
                </a:lnTo>
                <a:lnTo>
                  <a:pt x="0" y="2310"/>
                </a:lnTo>
                <a:lnTo>
                  <a:pt x="15" y="2310"/>
                </a:lnTo>
                <a:close/>
                <a:moveTo>
                  <a:pt x="15" y="2338"/>
                </a:moveTo>
                <a:lnTo>
                  <a:pt x="15" y="2352"/>
                </a:lnTo>
                <a:lnTo>
                  <a:pt x="0" y="2352"/>
                </a:lnTo>
                <a:lnTo>
                  <a:pt x="0" y="2338"/>
                </a:lnTo>
                <a:lnTo>
                  <a:pt x="15" y="2338"/>
                </a:lnTo>
                <a:close/>
                <a:moveTo>
                  <a:pt x="15" y="2366"/>
                </a:moveTo>
                <a:lnTo>
                  <a:pt x="15" y="2380"/>
                </a:lnTo>
                <a:lnTo>
                  <a:pt x="0" y="2380"/>
                </a:lnTo>
                <a:lnTo>
                  <a:pt x="0" y="2366"/>
                </a:lnTo>
                <a:lnTo>
                  <a:pt x="15" y="2366"/>
                </a:lnTo>
                <a:close/>
                <a:moveTo>
                  <a:pt x="15" y="2394"/>
                </a:moveTo>
                <a:lnTo>
                  <a:pt x="15" y="2408"/>
                </a:lnTo>
                <a:lnTo>
                  <a:pt x="0" y="2408"/>
                </a:lnTo>
                <a:lnTo>
                  <a:pt x="0" y="2394"/>
                </a:lnTo>
                <a:lnTo>
                  <a:pt x="15" y="2394"/>
                </a:lnTo>
                <a:close/>
                <a:moveTo>
                  <a:pt x="15" y="2421"/>
                </a:moveTo>
                <a:lnTo>
                  <a:pt x="15" y="2435"/>
                </a:lnTo>
                <a:lnTo>
                  <a:pt x="0" y="2435"/>
                </a:lnTo>
                <a:lnTo>
                  <a:pt x="0" y="2421"/>
                </a:lnTo>
                <a:lnTo>
                  <a:pt x="15" y="2421"/>
                </a:lnTo>
                <a:close/>
                <a:moveTo>
                  <a:pt x="15" y="2449"/>
                </a:moveTo>
                <a:lnTo>
                  <a:pt x="15" y="2453"/>
                </a:lnTo>
                <a:lnTo>
                  <a:pt x="0" y="2453"/>
                </a:lnTo>
                <a:lnTo>
                  <a:pt x="0" y="2449"/>
                </a:lnTo>
                <a:lnTo>
                  <a:pt x="15" y="2449"/>
                </a:lnTo>
                <a:close/>
              </a:path>
            </a:pathLst>
          </a:custGeom>
          <a:solidFill>
            <a:srgbClr val="000000"/>
          </a:solidFill>
          <a:ln w="0" cap="flat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33" name="Freeform 30">
            <a:extLst>
              <a:ext uri="{FF2B5EF4-FFF2-40B4-BE49-F238E27FC236}">
                <a16:creationId xmlns:a16="http://schemas.microsoft.com/office/drawing/2014/main" id="{AF26D3F0-30D6-4288-87B0-F45A593C5871}"/>
              </a:ext>
            </a:extLst>
          </p:cNvPr>
          <p:cNvSpPr>
            <a:spLocks noEditPoints="1"/>
          </p:cNvSpPr>
          <p:nvPr/>
        </p:nvSpPr>
        <p:spPr bwMode="auto">
          <a:xfrm>
            <a:off x="5487623" y="2267962"/>
            <a:ext cx="22225" cy="3894138"/>
          </a:xfrm>
          <a:custGeom>
            <a:avLst/>
            <a:gdLst>
              <a:gd name="T0" fmla="*/ 14 w 14"/>
              <a:gd name="T1" fmla="*/ 42 h 2453"/>
              <a:gd name="T2" fmla="*/ 0 w 14"/>
              <a:gd name="T3" fmla="*/ 56 h 2453"/>
              <a:gd name="T4" fmla="*/ 14 w 14"/>
              <a:gd name="T5" fmla="*/ 112 h 2453"/>
              <a:gd name="T6" fmla="*/ 0 w 14"/>
              <a:gd name="T7" fmla="*/ 154 h 2453"/>
              <a:gd name="T8" fmla="*/ 14 w 14"/>
              <a:gd name="T9" fmla="*/ 167 h 2453"/>
              <a:gd name="T10" fmla="*/ 14 w 14"/>
              <a:gd name="T11" fmla="*/ 237 h 2453"/>
              <a:gd name="T12" fmla="*/ 0 w 14"/>
              <a:gd name="T13" fmla="*/ 251 h 2453"/>
              <a:gd name="T14" fmla="*/ 14 w 14"/>
              <a:gd name="T15" fmla="*/ 307 h 2453"/>
              <a:gd name="T16" fmla="*/ 0 w 14"/>
              <a:gd name="T17" fmla="*/ 348 h 2453"/>
              <a:gd name="T18" fmla="*/ 14 w 14"/>
              <a:gd name="T19" fmla="*/ 362 h 2453"/>
              <a:gd name="T20" fmla="*/ 14 w 14"/>
              <a:gd name="T21" fmla="*/ 432 h 2453"/>
              <a:gd name="T22" fmla="*/ 0 w 14"/>
              <a:gd name="T23" fmla="*/ 446 h 2453"/>
              <a:gd name="T24" fmla="*/ 14 w 14"/>
              <a:gd name="T25" fmla="*/ 501 h 2453"/>
              <a:gd name="T26" fmla="*/ 0 w 14"/>
              <a:gd name="T27" fmla="*/ 543 h 2453"/>
              <a:gd name="T28" fmla="*/ 14 w 14"/>
              <a:gd name="T29" fmla="*/ 557 h 2453"/>
              <a:gd name="T30" fmla="*/ 14 w 14"/>
              <a:gd name="T31" fmla="*/ 627 h 2453"/>
              <a:gd name="T32" fmla="*/ 0 w 14"/>
              <a:gd name="T33" fmla="*/ 641 h 2453"/>
              <a:gd name="T34" fmla="*/ 14 w 14"/>
              <a:gd name="T35" fmla="*/ 696 h 2453"/>
              <a:gd name="T36" fmla="*/ 0 w 14"/>
              <a:gd name="T37" fmla="*/ 738 h 2453"/>
              <a:gd name="T38" fmla="*/ 14 w 14"/>
              <a:gd name="T39" fmla="*/ 752 h 2453"/>
              <a:gd name="T40" fmla="*/ 14 w 14"/>
              <a:gd name="T41" fmla="*/ 822 h 2453"/>
              <a:gd name="T42" fmla="*/ 0 w 14"/>
              <a:gd name="T43" fmla="*/ 835 h 2453"/>
              <a:gd name="T44" fmla="*/ 14 w 14"/>
              <a:gd name="T45" fmla="*/ 891 h 2453"/>
              <a:gd name="T46" fmla="*/ 0 w 14"/>
              <a:gd name="T47" fmla="*/ 933 h 2453"/>
              <a:gd name="T48" fmla="*/ 14 w 14"/>
              <a:gd name="T49" fmla="*/ 947 h 2453"/>
              <a:gd name="T50" fmla="*/ 14 w 14"/>
              <a:gd name="T51" fmla="*/ 1016 h 2453"/>
              <a:gd name="T52" fmla="*/ 0 w 14"/>
              <a:gd name="T53" fmla="*/ 1030 h 2453"/>
              <a:gd name="T54" fmla="*/ 14 w 14"/>
              <a:gd name="T55" fmla="*/ 1086 h 2453"/>
              <a:gd name="T56" fmla="*/ 0 w 14"/>
              <a:gd name="T57" fmla="*/ 1127 h 2453"/>
              <a:gd name="T58" fmla="*/ 14 w 14"/>
              <a:gd name="T59" fmla="*/ 1141 h 2453"/>
              <a:gd name="T60" fmla="*/ 14 w 14"/>
              <a:gd name="T61" fmla="*/ 1211 h 2453"/>
              <a:gd name="T62" fmla="*/ 0 w 14"/>
              <a:gd name="T63" fmla="*/ 1225 h 2453"/>
              <a:gd name="T64" fmla="*/ 14 w 14"/>
              <a:gd name="T65" fmla="*/ 1281 h 2453"/>
              <a:gd name="T66" fmla="*/ 0 w 14"/>
              <a:gd name="T67" fmla="*/ 1322 h 2453"/>
              <a:gd name="T68" fmla="*/ 14 w 14"/>
              <a:gd name="T69" fmla="*/ 1336 h 2453"/>
              <a:gd name="T70" fmla="*/ 14 w 14"/>
              <a:gd name="T71" fmla="*/ 1406 h 2453"/>
              <a:gd name="T72" fmla="*/ 0 w 14"/>
              <a:gd name="T73" fmla="*/ 1420 h 2453"/>
              <a:gd name="T74" fmla="*/ 14 w 14"/>
              <a:gd name="T75" fmla="*/ 1475 h 2453"/>
              <a:gd name="T76" fmla="*/ 0 w 14"/>
              <a:gd name="T77" fmla="*/ 1517 h 2453"/>
              <a:gd name="T78" fmla="*/ 14 w 14"/>
              <a:gd name="T79" fmla="*/ 1531 h 2453"/>
              <a:gd name="T80" fmla="*/ 14 w 14"/>
              <a:gd name="T81" fmla="*/ 1601 h 2453"/>
              <a:gd name="T82" fmla="*/ 0 w 14"/>
              <a:gd name="T83" fmla="*/ 1615 h 2453"/>
              <a:gd name="T84" fmla="*/ 14 w 14"/>
              <a:gd name="T85" fmla="*/ 1670 h 2453"/>
              <a:gd name="T86" fmla="*/ 0 w 14"/>
              <a:gd name="T87" fmla="*/ 1712 h 2453"/>
              <a:gd name="T88" fmla="*/ 14 w 14"/>
              <a:gd name="T89" fmla="*/ 1726 h 2453"/>
              <a:gd name="T90" fmla="*/ 14 w 14"/>
              <a:gd name="T91" fmla="*/ 1795 h 2453"/>
              <a:gd name="T92" fmla="*/ 0 w 14"/>
              <a:gd name="T93" fmla="*/ 1809 h 2453"/>
              <a:gd name="T94" fmla="*/ 14 w 14"/>
              <a:gd name="T95" fmla="*/ 1865 h 2453"/>
              <a:gd name="T96" fmla="*/ 0 w 14"/>
              <a:gd name="T97" fmla="*/ 1907 h 2453"/>
              <a:gd name="T98" fmla="*/ 14 w 14"/>
              <a:gd name="T99" fmla="*/ 1921 h 2453"/>
              <a:gd name="T100" fmla="*/ 14 w 14"/>
              <a:gd name="T101" fmla="*/ 1990 h 2453"/>
              <a:gd name="T102" fmla="*/ 0 w 14"/>
              <a:gd name="T103" fmla="*/ 2004 h 2453"/>
              <a:gd name="T104" fmla="*/ 14 w 14"/>
              <a:gd name="T105" fmla="*/ 2060 h 2453"/>
              <a:gd name="T106" fmla="*/ 0 w 14"/>
              <a:gd name="T107" fmla="*/ 2102 h 2453"/>
              <a:gd name="T108" fmla="*/ 14 w 14"/>
              <a:gd name="T109" fmla="*/ 2116 h 2453"/>
              <a:gd name="T110" fmla="*/ 14 w 14"/>
              <a:gd name="T111" fmla="*/ 2185 h 2453"/>
              <a:gd name="T112" fmla="*/ 0 w 14"/>
              <a:gd name="T113" fmla="*/ 2199 h 2453"/>
              <a:gd name="T114" fmla="*/ 14 w 14"/>
              <a:gd name="T115" fmla="*/ 2254 h 2453"/>
              <a:gd name="T116" fmla="*/ 0 w 14"/>
              <a:gd name="T117" fmla="*/ 2296 h 2453"/>
              <a:gd name="T118" fmla="*/ 14 w 14"/>
              <a:gd name="T119" fmla="*/ 2310 h 2453"/>
              <a:gd name="T120" fmla="*/ 14 w 14"/>
              <a:gd name="T121" fmla="*/ 2380 h 2453"/>
              <a:gd name="T122" fmla="*/ 0 w 14"/>
              <a:gd name="T123" fmla="*/ 2394 h 2453"/>
              <a:gd name="T124" fmla="*/ 14 w 14"/>
              <a:gd name="T125" fmla="*/ 2449 h 24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14" h="2453">
                <a:moveTo>
                  <a:pt x="14" y="0"/>
                </a:moveTo>
                <a:lnTo>
                  <a:pt x="14" y="14"/>
                </a:lnTo>
                <a:lnTo>
                  <a:pt x="0" y="14"/>
                </a:lnTo>
                <a:lnTo>
                  <a:pt x="0" y="0"/>
                </a:lnTo>
                <a:lnTo>
                  <a:pt x="14" y="0"/>
                </a:lnTo>
                <a:close/>
                <a:moveTo>
                  <a:pt x="14" y="28"/>
                </a:moveTo>
                <a:lnTo>
                  <a:pt x="14" y="42"/>
                </a:lnTo>
                <a:lnTo>
                  <a:pt x="0" y="42"/>
                </a:lnTo>
                <a:lnTo>
                  <a:pt x="0" y="28"/>
                </a:lnTo>
                <a:lnTo>
                  <a:pt x="14" y="28"/>
                </a:lnTo>
                <a:close/>
                <a:moveTo>
                  <a:pt x="14" y="56"/>
                </a:moveTo>
                <a:lnTo>
                  <a:pt x="14" y="70"/>
                </a:lnTo>
                <a:lnTo>
                  <a:pt x="0" y="70"/>
                </a:lnTo>
                <a:lnTo>
                  <a:pt x="0" y="56"/>
                </a:lnTo>
                <a:lnTo>
                  <a:pt x="14" y="56"/>
                </a:lnTo>
                <a:close/>
                <a:moveTo>
                  <a:pt x="14" y="84"/>
                </a:moveTo>
                <a:lnTo>
                  <a:pt x="14" y="98"/>
                </a:lnTo>
                <a:lnTo>
                  <a:pt x="0" y="98"/>
                </a:lnTo>
                <a:lnTo>
                  <a:pt x="0" y="84"/>
                </a:lnTo>
                <a:lnTo>
                  <a:pt x="14" y="84"/>
                </a:lnTo>
                <a:close/>
                <a:moveTo>
                  <a:pt x="14" y="112"/>
                </a:moveTo>
                <a:lnTo>
                  <a:pt x="14" y="126"/>
                </a:lnTo>
                <a:lnTo>
                  <a:pt x="0" y="126"/>
                </a:lnTo>
                <a:lnTo>
                  <a:pt x="0" y="112"/>
                </a:lnTo>
                <a:lnTo>
                  <a:pt x="14" y="112"/>
                </a:lnTo>
                <a:close/>
                <a:moveTo>
                  <a:pt x="14" y="140"/>
                </a:moveTo>
                <a:lnTo>
                  <a:pt x="14" y="154"/>
                </a:lnTo>
                <a:lnTo>
                  <a:pt x="0" y="154"/>
                </a:lnTo>
                <a:lnTo>
                  <a:pt x="0" y="140"/>
                </a:lnTo>
                <a:lnTo>
                  <a:pt x="14" y="140"/>
                </a:lnTo>
                <a:close/>
                <a:moveTo>
                  <a:pt x="14" y="167"/>
                </a:moveTo>
                <a:lnTo>
                  <a:pt x="14" y="181"/>
                </a:lnTo>
                <a:lnTo>
                  <a:pt x="0" y="181"/>
                </a:lnTo>
                <a:lnTo>
                  <a:pt x="0" y="167"/>
                </a:lnTo>
                <a:lnTo>
                  <a:pt x="14" y="167"/>
                </a:lnTo>
                <a:close/>
                <a:moveTo>
                  <a:pt x="14" y="195"/>
                </a:moveTo>
                <a:lnTo>
                  <a:pt x="14" y="209"/>
                </a:lnTo>
                <a:lnTo>
                  <a:pt x="0" y="209"/>
                </a:lnTo>
                <a:lnTo>
                  <a:pt x="0" y="195"/>
                </a:lnTo>
                <a:lnTo>
                  <a:pt x="14" y="195"/>
                </a:lnTo>
                <a:close/>
                <a:moveTo>
                  <a:pt x="14" y="223"/>
                </a:moveTo>
                <a:lnTo>
                  <a:pt x="14" y="237"/>
                </a:lnTo>
                <a:lnTo>
                  <a:pt x="0" y="237"/>
                </a:lnTo>
                <a:lnTo>
                  <a:pt x="0" y="223"/>
                </a:lnTo>
                <a:lnTo>
                  <a:pt x="14" y="223"/>
                </a:lnTo>
                <a:close/>
                <a:moveTo>
                  <a:pt x="14" y="251"/>
                </a:moveTo>
                <a:lnTo>
                  <a:pt x="14" y="265"/>
                </a:lnTo>
                <a:lnTo>
                  <a:pt x="0" y="265"/>
                </a:lnTo>
                <a:lnTo>
                  <a:pt x="0" y="251"/>
                </a:lnTo>
                <a:lnTo>
                  <a:pt x="14" y="251"/>
                </a:lnTo>
                <a:close/>
                <a:moveTo>
                  <a:pt x="14" y="279"/>
                </a:moveTo>
                <a:lnTo>
                  <a:pt x="14" y="293"/>
                </a:lnTo>
                <a:lnTo>
                  <a:pt x="0" y="293"/>
                </a:lnTo>
                <a:lnTo>
                  <a:pt x="0" y="279"/>
                </a:lnTo>
                <a:lnTo>
                  <a:pt x="14" y="279"/>
                </a:lnTo>
                <a:close/>
                <a:moveTo>
                  <a:pt x="14" y="307"/>
                </a:moveTo>
                <a:lnTo>
                  <a:pt x="14" y="321"/>
                </a:lnTo>
                <a:lnTo>
                  <a:pt x="0" y="321"/>
                </a:lnTo>
                <a:lnTo>
                  <a:pt x="0" y="307"/>
                </a:lnTo>
                <a:lnTo>
                  <a:pt x="14" y="307"/>
                </a:lnTo>
                <a:close/>
                <a:moveTo>
                  <a:pt x="14" y="334"/>
                </a:moveTo>
                <a:lnTo>
                  <a:pt x="14" y="348"/>
                </a:lnTo>
                <a:lnTo>
                  <a:pt x="0" y="348"/>
                </a:lnTo>
                <a:lnTo>
                  <a:pt x="0" y="334"/>
                </a:lnTo>
                <a:lnTo>
                  <a:pt x="14" y="334"/>
                </a:lnTo>
                <a:close/>
                <a:moveTo>
                  <a:pt x="14" y="362"/>
                </a:moveTo>
                <a:lnTo>
                  <a:pt x="14" y="376"/>
                </a:lnTo>
                <a:lnTo>
                  <a:pt x="0" y="376"/>
                </a:lnTo>
                <a:lnTo>
                  <a:pt x="0" y="362"/>
                </a:lnTo>
                <a:lnTo>
                  <a:pt x="14" y="362"/>
                </a:lnTo>
                <a:close/>
                <a:moveTo>
                  <a:pt x="14" y="390"/>
                </a:moveTo>
                <a:lnTo>
                  <a:pt x="14" y="404"/>
                </a:lnTo>
                <a:lnTo>
                  <a:pt x="0" y="404"/>
                </a:lnTo>
                <a:lnTo>
                  <a:pt x="0" y="390"/>
                </a:lnTo>
                <a:lnTo>
                  <a:pt x="14" y="390"/>
                </a:lnTo>
                <a:close/>
                <a:moveTo>
                  <a:pt x="14" y="418"/>
                </a:moveTo>
                <a:lnTo>
                  <a:pt x="14" y="432"/>
                </a:lnTo>
                <a:lnTo>
                  <a:pt x="0" y="432"/>
                </a:lnTo>
                <a:lnTo>
                  <a:pt x="0" y="418"/>
                </a:lnTo>
                <a:lnTo>
                  <a:pt x="14" y="418"/>
                </a:lnTo>
                <a:close/>
                <a:moveTo>
                  <a:pt x="14" y="446"/>
                </a:moveTo>
                <a:lnTo>
                  <a:pt x="14" y="460"/>
                </a:lnTo>
                <a:lnTo>
                  <a:pt x="0" y="460"/>
                </a:lnTo>
                <a:lnTo>
                  <a:pt x="0" y="446"/>
                </a:lnTo>
                <a:lnTo>
                  <a:pt x="14" y="446"/>
                </a:lnTo>
                <a:close/>
                <a:moveTo>
                  <a:pt x="14" y="474"/>
                </a:moveTo>
                <a:lnTo>
                  <a:pt x="14" y="488"/>
                </a:lnTo>
                <a:lnTo>
                  <a:pt x="0" y="488"/>
                </a:lnTo>
                <a:lnTo>
                  <a:pt x="0" y="474"/>
                </a:lnTo>
                <a:lnTo>
                  <a:pt x="14" y="474"/>
                </a:lnTo>
                <a:close/>
                <a:moveTo>
                  <a:pt x="14" y="501"/>
                </a:moveTo>
                <a:lnTo>
                  <a:pt x="14" y="515"/>
                </a:lnTo>
                <a:lnTo>
                  <a:pt x="0" y="515"/>
                </a:lnTo>
                <a:lnTo>
                  <a:pt x="0" y="501"/>
                </a:lnTo>
                <a:lnTo>
                  <a:pt x="14" y="501"/>
                </a:lnTo>
                <a:close/>
                <a:moveTo>
                  <a:pt x="14" y="529"/>
                </a:moveTo>
                <a:lnTo>
                  <a:pt x="14" y="543"/>
                </a:lnTo>
                <a:lnTo>
                  <a:pt x="0" y="543"/>
                </a:lnTo>
                <a:lnTo>
                  <a:pt x="0" y="529"/>
                </a:lnTo>
                <a:lnTo>
                  <a:pt x="14" y="529"/>
                </a:lnTo>
                <a:close/>
                <a:moveTo>
                  <a:pt x="14" y="557"/>
                </a:moveTo>
                <a:lnTo>
                  <a:pt x="14" y="571"/>
                </a:lnTo>
                <a:lnTo>
                  <a:pt x="0" y="571"/>
                </a:lnTo>
                <a:lnTo>
                  <a:pt x="0" y="557"/>
                </a:lnTo>
                <a:lnTo>
                  <a:pt x="14" y="557"/>
                </a:lnTo>
                <a:close/>
                <a:moveTo>
                  <a:pt x="14" y="585"/>
                </a:moveTo>
                <a:lnTo>
                  <a:pt x="14" y="599"/>
                </a:lnTo>
                <a:lnTo>
                  <a:pt x="0" y="599"/>
                </a:lnTo>
                <a:lnTo>
                  <a:pt x="0" y="585"/>
                </a:lnTo>
                <a:lnTo>
                  <a:pt x="14" y="585"/>
                </a:lnTo>
                <a:close/>
                <a:moveTo>
                  <a:pt x="14" y="613"/>
                </a:moveTo>
                <a:lnTo>
                  <a:pt x="14" y="627"/>
                </a:lnTo>
                <a:lnTo>
                  <a:pt x="0" y="627"/>
                </a:lnTo>
                <a:lnTo>
                  <a:pt x="0" y="613"/>
                </a:lnTo>
                <a:lnTo>
                  <a:pt x="14" y="613"/>
                </a:lnTo>
                <a:close/>
                <a:moveTo>
                  <a:pt x="14" y="641"/>
                </a:moveTo>
                <a:lnTo>
                  <a:pt x="14" y="655"/>
                </a:lnTo>
                <a:lnTo>
                  <a:pt x="0" y="655"/>
                </a:lnTo>
                <a:lnTo>
                  <a:pt x="0" y="641"/>
                </a:lnTo>
                <a:lnTo>
                  <a:pt x="14" y="641"/>
                </a:lnTo>
                <a:close/>
                <a:moveTo>
                  <a:pt x="14" y="668"/>
                </a:moveTo>
                <a:lnTo>
                  <a:pt x="14" y="682"/>
                </a:lnTo>
                <a:lnTo>
                  <a:pt x="0" y="682"/>
                </a:lnTo>
                <a:lnTo>
                  <a:pt x="0" y="668"/>
                </a:lnTo>
                <a:lnTo>
                  <a:pt x="14" y="668"/>
                </a:lnTo>
                <a:close/>
                <a:moveTo>
                  <a:pt x="14" y="696"/>
                </a:moveTo>
                <a:lnTo>
                  <a:pt x="14" y="710"/>
                </a:lnTo>
                <a:lnTo>
                  <a:pt x="0" y="710"/>
                </a:lnTo>
                <a:lnTo>
                  <a:pt x="0" y="696"/>
                </a:lnTo>
                <a:lnTo>
                  <a:pt x="14" y="696"/>
                </a:lnTo>
                <a:close/>
                <a:moveTo>
                  <a:pt x="14" y="724"/>
                </a:moveTo>
                <a:lnTo>
                  <a:pt x="14" y="738"/>
                </a:lnTo>
                <a:lnTo>
                  <a:pt x="0" y="738"/>
                </a:lnTo>
                <a:lnTo>
                  <a:pt x="0" y="724"/>
                </a:lnTo>
                <a:lnTo>
                  <a:pt x="14" y="724"/>
                </a:lnTo>
                <a:close/>
                <a:moveTo>
                  <a:pt x="14" y="752"/>
                </a:moveTo>
                <a:lnTo>
                  <a:pt x="14" y="766"/>
                </a:lnTo>
                <a:lnTo>
                  <a:pt x="0" y="766"/>
                </a:lnTo>
                <a:lnTo>
                  <a:pt x="0" y="752"/>
                </a:lnTo>
                <a:lnTo>
                  <a:pt x="14" y="752"/>
                </a:lnTo>
                <a:close/>
                <a:moveTo>
                  <a:pt x="14" y="780"/>
                </a:moveTo>
                <a:lnTo>
                  <a:pt x="14" y="793"/>
                </a:lnTo>
                <a:lnTo>
                  <a:pt x="0" y="793"/>
                </a:lnTo>
                <a:lnTo>
                  <a:pt x="0" y="780"/>
                </a:lnTo>
                <a:lnTo>
                  <a:pt x="14" y="780"/>
                </a:lnTo>
                <a:close/>
                <a:moveTo>
                  <a:pt x="14" y="808"/>
                </a:moveTo>
                <a:lnTo>
                  <a:pt x="14" y="822"/>
                </a:lnTo>
                <a:lnTo>
                  <a:pt x="0" y="822"/>
                </a:lnTo>
                <a:lnTo>
                  <a:pt x="0" y="808"/>
                </a:lnTo>
                <a:lnTo>
                  <a:pt x="14" y="808"/>
                </a:lnTo>
                <a:close/>
                <a:moveTo>
                  <a:pt x="14" y="835"/>
                </a:moveTo>
                <a:lnTo>
                  <a:pt x="14" y="849"/>
                </a:lnTo>
                <a:lnTo>
                  <a:pt x="0" y="849"/>
                </a:lnTo>
                <a:lnTo>
                  <a:pt x="0" y="835"/>
                </a:lnTo>
                <a:lnTo>
                  <a:pt x="14" y="835"/>
                </a:lnTo>
                <a:close/>
                <a:moveTo>
                  <a:pt x="14" y="863"/>
                </a:moveTo>
                <a:lnTo>
                  <a:pt x="14" y="877"/>
                </a:lnTo>
                <a:lnTo>
                  <a:pt x="0" y="877"/>
                </a:lnTo>
                <a:lnTo>
                  <a:pt x="0" y="863"/>
                </a:lnTo>
                <a:lnTo>
                  <a:pt x="14" y="863"/>
                </a:lnTo>
                <a:close/>
                <a:moveTo>
                  <a:pt x="14" y="891"/>
                </a:moveTo>
                <a:lnTo>
                  <a:pt x="14" y="905"/>
                </a:lnTo>
                <a:lnTo>
                  <a:pt x="0" y="905"/>
                </a:lnTo>
                <a:lnTo>
                  <a:pt x="0" y="891"/>
                </a:lnTo>
                <a:lnTo>
                  <a:pt x="14" y="891"/>
                </a:lnTo>
                <a:close/>
                <a:moveTo>
                  <a:pt x="14" y="919"/>
                </a:moveTo>
                <a:lnTo>
                  <a:pt x="14" y="933"/>
                </a:lnTo>
                <a:lnTo>
                  <a:pt x="0" y="933"/>
                </a:lnTo>
                <a:lnTo>
                  <a:pt x="0" y="919"/>
                </a:lnTo>
                <a:lnTo>
                  <a:pt x="14" y="919"/>
                </a:lnTo>
                <a:close/>
                <a:moveTo>
                  <a:pt x="14" y="947"/>
                </a:moveTo>
                <a:lnTo>
                  <a:pt x="14" y="960"/>
                </a:lnTo>
                <a:lnTo>
                  <a:pt x="0" y="960"/>
                </a:lnTo>
                <a:lnTo>
                  <a:pt x="0" y="947"/>
                </a:lnTo>
                <a:lnTo>
                  <a:pt x="14" y="947"/>
                </a:lnTo>
                <a:close/>
                <a:moveTo>
                  <a:pt x="14" y="974"/>
                </a:moveTo>
                <a:lnTo>
                  <a:pt x="14" y="988"/>
                </a:lnTo>
                <a:lnTo>
                  <a:pt x="0" y="988"/>
                </a:lnTo>
                <a:lnTo>
                  <a:pt x="0" y="974"/>
                </a:lnTo>
                <a:lnTo>
                  <a:pt x="14" y="974"/>
                </a:lnTo>
                <a:close/>
                <a:moveTo>
                  <a:pt x="14" y="1002"/>
                </a:moveTo>
                <a:lnTo>
                  <a:pt x="14" y="1016"/>
                </a:lnTo>
                <a:lnTo>
                  <a:pt x="0" y="1016"/>
                </a:lnTo>
                <a:lnTo>
                  <a:pt x="0" y="1002"/>
                </a:lnTo>
                <a:lnTo>
                  <a:pt x="14" y="1002"/>
                </a:lnTo>
                <a:close/>
                <a:moveTo>
                  <a:pt x="14" y="1030"/>
                </a:moveTo>
                <a:lnTo>
                  <a:pt x="14" y="1044"/>
                </a:lnTo>
                <a:lnTo>
                  <a:pt x="0" y="1044"/>
                </a:lnTo>
                <a:lnTo>
                  <a:pt x="0" y="1030"/>
                </a:lnTo>
                <a:lnTo>
                  <a:pt x="14" y="1030"/>
                </a:lnTo>
                <a:close/>
                <a:moveTo>
                  <a:pt x="14" y="1058"/>
                </a:moveTo>
                <a:lnTo>
                  <a:pt x="14" y="1072"/>
                </a:lnTo>
                <a:lnTo>
                  <a:pt x="0" y="1072"/>
                </a:lnTo>
                <a:lnTo>
                  <a:pt x="0" y="1058"/>
                </a:lnTo>
                <a:lnTo>
                  <a:pt x="14" y="1058"/>
                </a:lnTo>
                <a:close/>
                <a:moveTo>
                  <a:pt x="14" y="1086"/>
                </a:moveTo>
                <a:lnTo>
                  <a:pt x="14" y="1100"/>
                </a:lnTo>
                <a:lnTo>
                  <a:pt x="0" y="1100"/>
                </a:lnTo>
                <a:lnTo>
                  <a:pt x="0" y="1086"/>
                </a:lnTo>
                <a:lnTo>
                  <a:pt x="14" y="1086"/>
                </a:lnTo>
                <a:close/>
                <a:moveTo>
                  <a:pt x="14" y="1114"/>
                </a:moveTo>
                <a:lnTo>
                  <a:pt x="14" y="1127"/>
                </a:lnTo>
                <a:lnTo>
                  <a:pt x="0" y="1127"/>
                </a:lnTo>
                <a:lnTo>
                  <a:pt x="0" y="1114"/>
                </a:lnTo>
                <a:lnTo>
                  <a:pt x="14" y="1114"/>
                </a:lnTo>
                <a:close/>
                <a:moveTo>
                  <a:pt x="14" y="1141"/>
                </a:moveTo>
                <a:lnTo>
                  <a:pt x="14" y="1155"/>
                </a:lnTo>
                <a:lnTo>
                  <a:pt x="0" y="1155"/>
                </a:lnTo>
                <a:lnTo>
                  <a:pt x="0" y="1141"/>
                </a:lnTo>
                <a:lnTo>
                  <a:pt x="14" y="1141"/>
                </a:lnTo>
                <a:close/>
                <a:moveTo>
                  <a:pt x="14" y="1169"/>
                </a:moveTo>
                <a:lnTo>
                  <a:pt x="14" y="1183"/>
                </a:lnTo>
                <a:lnTo>
                  <a:pt x="0" y="1183"/>
                </a:lnTo>
                <a:lnTo>
                  <a:pt x="0" y="1169"/>
                </a:lnTo>
                <a:lnTo>
                  <a:pt x="14" y="1169"/>
                </a:lnTo>
                <a:close/>
                <a:moveTo>
                  <a:pt x="14" y="1197"/>
                </a:moveTo>
                <a:lnTo>
                  <a:pt x="14" y="1211"/>
                </a:lnTo>
                <a:lnTo>
                  <a:pt x="0" y="1211"/>
                </a:lnTo>
                <a:lnTo>
                  <a:pt x="0" y="1197"/>
                </a:lnTo>
                <a:lnTo>
                  <a:pt x="14" y="1197"/>
                </a:lnTo>
                <a:close/>
                <a:moveTo>
                  <a:pt x="14" y="1225"/>
                </a:moveTo>
                <a:lnTo>
                  <a:pt x="14" y="1239"/>
                </a:lnTo>
                <a:lnTo>
                  <a:pt x="0" y="1239"/>
                </a:lnTo>
                <a:lnTo>
                  <a:pt x="0" y="1225"/>
                </a:lnTo>
                <a:lnTo>
                  <a:pt x="14" y="1225"/>
                </a:lnTo>
                <a:close/>
                <a:moveTo>
                  <a:pt x="14" y="1253"/>
                </a:moveTo>
                <a:lnTo>
                  <a:pt x="14" y="1267"/>
                </a:lnTo>
                <a:lnTo>
                  <a:pt x="0" y="1267"/>
                </a:lnTo>
                <a:lnTo>
                  <a:pt x="0" y="1253"/>
                </a:lnTo>
                <a:lnTo>
                  <a:pt x="14" y="1253"/>
                </a:lnTo>
                <a:close/>
                <a:moveTo>
                  <a:pt x="14" y="1281"/>
                </a:moveTo>
                <a:lnTo>
                  <a:pt x="14" y="1294"/>
                </a:lnTo>
                <a:lnTo>
                  <a:pt x="0" y="1294"/>
                </a:lnTo>
                <a:lnTo>
                  <a:pt x="0" y="1281"/>
                </a:lnTo>
                <a:lnTo>
                  <a:pt x="14" y="1281"/>
                </a:lnTo>
                <a:close/>
                <a:moveTo>
                  <a:pt x="14" y="1308"/>
                </a:moveTo>
                <a:lnTo>
                  <a:pt x="14" y="1322"/>
                </a:lnTo>
                <a:lnTo>
                  <a:pt x="0" y="1322"/>
                </a:lnTo>
                <a:lnTo>
                  <a:pt x="0" y="1308"/>
                </a:lnTo>
                <a:lnTo>
                  <a:pt x="14" y="1308"/>
                </a:lnTo>
                <a:close/>
                <a:moveTo>
                  <a:pt x="14" y="1336"/>
                </a:moveTo>
                <a:lnTo>
                  <a:pt x="14" y="1350"/>
                </a:lnTo>
                <a:lnTo>
                  <a:pt x="0" y="1350"/>
                </a:lnTo>
                <a:lnTo>
                  <a:pt x="0" y="1336"/>
                </a:lnTo>
                <a:lnTo>
                  <a:pt x="14" y="1336"/>
                </a:lnTo>
                <a:close/>
                <a:moveTo>
                  <a:pt x="14" y="1364"/>
                </a:moveTo>
                <a:lnTo>
                  <a:pt x="14" y="1378"/>
                </a:lnTo>
                <a:lnTo>
                  <a:pt x="0" y="1378"/>
                </a:lnTo>
                <a:lnTo>
                  <a:pt x="0" y="1364"/>
                </a:lnTo>
                <a:lnTo>
                  <a:pt x="14" y="1364"/>
                </a:lnTo>
                <a:close/>
                <a:moveTo>
                  <a:pt x="14" y="1392"/>
                </a:moveTo>
                <a:lnTo>
                  <a:pt x="14" y="1406"/>
                </a:lnTo>
                <a:lnTo>
                  <a:pt x="0" y="1406"/>
                </a:lnTo>
                <a:lnTo>
                  <a:pt x="0" y="1392"/>
                </a:lnTo>
                <a:lnTo>
                  <a:pt x="14" y="1392"/>
                </a:lnTo>
                <a:close/>
                <a:moveTo>
                  <a:pt x="14" y="1420"/>
                </a:moveTo>
                <a:lnTo>
                  <a:pt x="14" y="1434"/>
                </a:lnTo>
                <a:lnTo>
                  <a:pt x="0" y="1434"/>
                </a:lnTo>
                <a:lnTo>
                  <a:pt x="0" y="1420"/>
                </a:lnTo>
                <a:lnTo>
                  <a:pt x="14" y="1420"/>
                </a:lnTo>
                <a:close/>
                <a:moveTo>
                  <a:pt x="14" y="1448"/>
                </a:moveTo>
                <a:lnTo>
                  <a:pt x="14" y="1461"/>
                </a:lnTo>
                <a:lnTo>
                  <a:pt x="0" y="1461"/>
                </a:lnTo>
                <a:lnTo>
                  <a:pt x="0" y="1448"/>
                </a:lnTo>
                <a:lnTo>
                  <a:pt x="14" y="1448"/>
                </a:lnTo>
                <a:close/>
                <a:moveTo>
                  <a:pt x="14" y="1475"/>
                </a:moveTo>
                <a:lnTo>
                  <a:pt x="14" y="1489"/>
                </a:lnTo>
                <a:lnTo>
                  <a:pt x="0" y="1489"/>
                </a:lnTo>
                <a:lnTo>
                  <a:pt x="0" y="1475"/>
                </a:lnTo>
                <a:lnTo>
                  <a:pt x="14" y="1475"/>
                </a:lnTo>
                <a:close/>
                <a:moveTo>
                  <a:pt x="14" y="1503"/>
                </a:moveTo>
                <a:lnTo>
                  <a:pt x="14" y="1517"/>
                </a:lnTo>
                <a:lnTo>
                  <a:pt x="0" y="1517"/>
                </a:lnTo>
                <a:lnTo>
                  <a:pt x="0" y="1503"/>
                </a:lnTo>
                <a:lnTo>
                  <a:pt x="14" y="1503"/>
                </a:lnTo>
                <a:close/>
                <a:moveTo>
                  <a:pt x="14" y="1531"/>
                </a:moveTo>
                <a:lnTo>
                  <a:pt x="14" y="1545"/>
                </a:lnTo>
                <a:lnTo>
                  <a:pt x="0" y="1545"/>
                </a:lnTo>
                <a:lnTo>
                  <a:pt x="0" y="1531"/>
                </a:lnTo>
                <a:lnTo>
                  <a:pt x="14" y="1531"/>
                </a:lnTo>
                <a:close/>
                <a:moveTo>
                  <a:pt x="14" y="1559"/>
                </a:moveTo>
                <a:lnTo>
                  <a:pt x="14" y="1573"/>
                </a:lnTo>
                <a:lnTo>
                  <a:pt x="0" y="1573"/>
                </a:lnTo>
                <a:lnTo>
                  <a:pt x="0" y="1559"/>
                </a:lnTo>
                <a:lnTo>
                  <a:pt x="14" y="1559"/>
                </a:lnTo>
                <a:close/>
                <a:moveTo>
                  <a:pt x="14" y="1587"/>
                </a:moveTo>
                <a:lnTo>
                  <a:pt x="14" y="1601"/>
                </a:lnTo>
                <a:lnTo>
                  <a:pt x="0" y="1601"/>
                </a:lnTo>
                <a:lnTo>
                  <a:pt x="0" y="1587"/>
                </a:lnTo>
                <a:lnTo>
                  <a:pt x="14" y="1587"/>
                </a:lnTo>
                <a:close/>
                <a:moveTo>
                  <a:pt x="14" y="1615"/>
                </a:moveTo>
                <a:lnTo>
                  <a:pt x="14" y="1628"/>
                </a:lnTo>
                <a:lnTo>
                  <a:pt x="0" y="1628"/>
                </a:lnTo>
                <a:lnTo>
                  <a:pt x="0" y="1615"/>
                </a:lnTo>
                <a:lnTo>
                  <a:pt x="14" y="1615"/>
                </a:lnTo>
                <a:close/>
                <a:moveTo>
                  <a:pt x="14" y="1642"/>
                </a:moveTo>
                <a:lnTo>
                  <a:pt x="14" y="1656"/>
                </a:lnTo>
                <a:lnTo>
                  <a:pt x="0" y="1656"/>
                </a:lnTo>
                <a:lnTo>
                  <a:pt x="0" y="1642"/>
                </a:lnTo>
                <a:lnTo>
                  <a:pt x="14" y="1642"/>
                </a:lnTo>
                <a:close/>
                <a:moveTo>
                  <a:pt x="14" y="1670"/>
                </a:moveTo>
                <a:lnTo>
                  <a:pt x="14" y="1684"/>
                </a:lnTo>
                <a:lnTo>
                  <a:pt x="0" y="1684"/>
                </a:lnTo>
                <a:lnTo>
                  <a:pt x="0" y="1670"/>
                </a:lnTo>
                <a:lnTo>
                  <a:pt x="14" y="1670"/>
                </a:lnTo>
                <a:close/>
                <a:moveTo>
                  <a:pt x="14" y="1698"/>
                </a:moveTo>
                <a:lnTo>
                  <a:pt x="14" y="1712"/>
                </a:lnTo>
                <a:lnTo>
                  <a:pt x="0" y="1712"/>
                </a:lnTo>
                <a:lnTo>
                  <a:pt x="0" y="1698"/>
                </a:lnTo>
                <a:lnTo>
                  <a:pt x="14" y="1698"/>
                </a:lnTo>
                <a:close/>
                <a:moveTo>
                  <a:pt x="14" y="1726"/>
                </a:moveTo>
                <a:lnTo>
                  <a:pt x="14" y="1740"/>
                </a:lnTo>
                <a:lnTo>
                  <a:pt x="0" y="1740"/>
                </a:lnTo>
                <a:lnTo>
                  <a:pt x="0" y="1726"/>
                </a:lnTo>
                <a:lnTo>
                  <a:pt x="14" y="1726"/>
                </a:lnTo>
                <a:close/>
                <a:moveTo>
                  <a:pt x="14" y="1754"/>
                </a:moveTo>
                <a:lnTo>
                  <a:pt x="14" y="1768"/>
                </a:lnTo>
                <a:lnTo>
                  <a:pt x="0" y="1768"/>
                </a:lnTo>
                <a:lnTo>
                  <a:pt x="0" y="1754"/>
                </a:lnTo>
                <a:lnTo>
                  <a:pt x="14" y="1754"/>
                </a:lnTo>
                <a:close/>
                <a:moveTo>
                  <a:pt x="14" y="1782"/>
                </a:moveTo>
                <a:lnTo>
                  <a:pt x="14" y="1795"/>
                </a:lnTo>
                <a:lnTo>
                  <a:pt x="0" y="1795"/>
                </a:lnTo>
                <a:lnTo>
                  <a:pt x="0" y="1782"/>
                </a:lnTo>
                <a:lnTo>
                  <a:pt x="14" y="1782"/>
                </a:lnTo>
                <a:close/>
                <a:moveTo>
                  <a:pt x="14" y="1809"/>
                </a:moveTo>
                <a:lnTo>
                  <a:pt x="14" y="1823"/>
                </a:lnTo>
                <a:lnTo>
                  <a:pt x="0" y="1823"/>
                </a:lnTo>
                <a:lnTo>
                  <a:pt x="0" y="1809"/>
                </a:lnTo>
                <a:lnTo>
                  <a:pt x="14" y="1809"/>
                </a:lnTo>
                <a:close/>
                <a:moveTo>
                  <a:pt x="14" y="1837"/>
                </a:moveTo>
                <a:lnTo>
                  <a:pt x="14" y="1851"/>
                </a:lnTo>
                <a:lnTo>
                  <a:pt x="0" y="1851"/>
                </a:lnTo>
                <a:lnTo>
                  <a:pt x="0" y="1837"/>
                </a:lnTo>
                <a:lnTo>
                  <a:pt x="14" y="1837"/>
                </a:lnTo>
                <a:close/>
                <a:moveTo>
                  <a:pt x="14" y="1865"/>
                </a:moveTo>
                <a:lnTo>
                  <a:pt x="14" y="1879"/>
                </a:lnTo>
                <a:lnTo>
                  <a:pt x="0" y="1879"/>
                </a:lnTo>
                <a:lnTo>
                  <a:pt x="0" y="1865"/>
                </a:lnTo>
                <a:lnTo>
                  <a:pt x="14" y="1865"/>
                </a:lnTo>
                <a:close/>
                <a:moveTo>
                  <a:pt x="14" y="1893"/>
                </a:moveTo>
                <a:lnTo>
                  <a:pt x="14" y="1907"/>
                </a:lnTo>
                <a:lnTo>
                  <a:pt x="0" y="1907"/>
                </a:lnTo>
                <a:lnTo>
                  <a:pt x="0" y="1893"/>
                </a:lnTo>
                <a:lnTo>
                  <a:pt x="14" y="1893"/>
                </a:lnTo>
                <a:close/>
                <a:moveTo>
                  <a:pt x="14" y="1921"/>
                </a:moveTo>
                <a:lnTo>
                  <a:pt x="14" y="1935"/>
                </a:lnTo>
                <a:lnTo>
                  <a:pt x="0" y="1935"/>
                </a:lnTo>
                <a:lnTo>
                  <a:pt x="0" y="1921"/>
                </a:lnTo>
                <a:lnTo>
                  <a:pt x="14" y="1921"/>
                </a:lnTo>
                <a:close/>
                <a:moveTo>
                  <a:pt x="14" y="1949"/>
                </a:moveTo>
                <a:lnTo>
                  <a:pt x="14" y="1962"/>
                </a:lnTo>
                <a:lnTo>
                  <a:pt x="0" y="1962"/>
                </a:lnTo>
                <a:lnTo>
                  <a:pt x="0" y="1949"/>
                </a:lnTo>
                <a:lnTo>
                  <a:pt x="14" y="1949"/>
                </a:lnTo>
                <a:close/>
                <a:moveTo>
                  <a:pt x="14" y="1976"/>
                </a:moveTo>
                <a:lnTo>
                  <a:pt x="14" y="1990"/>
                </a:lnTo>
                <a:lnTo>
                  <a:pt x="0" y="1990"/>
                </a:lnTo>
                <a:lnTo>
                  <a:pt x="0" y="1976"/>
                </a:lnTo>
                <a:lnTo>
                  <a:pt x="14" y="1976"/>
                </a:lnTo>
                <a:close/>
                <a:moveTo>
                  <a:pt x="14" y="2004"/>
                </a:moveTo>
                <a:lnTo>
                  <a:pt x="14" y="2018"/>
                </a:lnTo>
                <a:lnTo>
                  <a:pt x="0" y="2018"/>
                </a:lnTo>
                <a:lnTo>
                  <a:pt x="0" y="2004"/>
                </a:lnTo>
                <a:lnTo>
                  <a:pt x="14" y="2004"/>
                </a:lnTo>
                <a:close/>
                <a:moveTo>
                  <a:pt x="14" y="2032"/>
                </a:moveTo>
                <a:lnTo>
                  <a:pt x="14" y="2046"/>
                </a:lnTo>
                <a:lnTo>
                  <a:pt x="0" y="2046"/>
                </a:lnTo>
                <a:lnTo>
                  <a:pt x="0" y="2032"/>
                </a:lnTo>
                <a:lnTo>
                  <a:pt x="14" y="2032"/>
                </a:lnTo>
                <a:close/>
                <a:moveTo>
                  <a:pt x="14" y="2060"/>
                </a:moveTo>
                <a:lnTo>
                  <a:pt x="14" y="2074"/>
                </a:lnTo>
                <a:lnTo>
                  <a:pt x="0" y="2074"/>
                </a:lnTo>
                <a:lnTo>
                  <a:pt x="0" y="2060"/>
                </a:lnTo>
                <a:lnTo>
                  <a:pt x="14" y="2060"/>
                </a:lnTo>
                <a:close/>
                <a:moveTo>
                  <a:pt x="14" y="2087"/>
                </a:moveTo>
                <a:lnTo>
                  <a:pt x="14" y="2102"/>
                </a:lnTo>
                <a:lnTo>
                  <a:pt x="0" y="2102"/>
                </a:lnTo>
                <a:lnTo>
                  <a:pt x="0" y="2087"/>
                </a:lnTo>
                <a:lnTo>
                  <a:pt x="14" y="2087"/>
                </a:lnTo>
                <a:close/>
                <a:moveTo>
                  <a:pt x="14" y="2116"/>
                </a:moveTo>
                <a:lnTo>
                  <a:pt x="14" y="2129"/>
                </a:lnTo>
                <a:lnTo>
                  <a:pt x="0" y="2129"/>
                </a:lnTo>
                <a:lnTo>
                  <a:pt x="0" y="2116"/>
                </a:lnTo>
                <a:lnTo>
                  <a:pt x="14" y="2116"/>
                </a:lnTo>
                <a:close/>
                <a:moveTo>
                  <a:pt x="14" y="2143"/>
                </a:moveTo>
                <a:lnTo>
                  <a:pt x="14" y="2157"/>
                </a:lnTo>
                <a:lnTo>
                  <a:pt x="0" y="2157"/>
                </a:lnTo>
                <a:lnTo>
                  <a:pt x="0" y="2143"/>
                </a:lnTo>
                <a:lnTo>
                  <a:pt x="14" y="2143"/>
                </a:lnTo>
                <a:close/>
                <a:moveTo>
                  <a:pt x="14" y="2171"/>
                </a:moveTo>
                <a:lnTo>
                  <a:pt x="14" y="2185"/>
                </a:lnTo>
                <a:lnTo>
                  <a:pt x="0" y="2185"/>
                </a:lnTo>
                <a:lnTo>
                  <a:pt x="0" y="2171"/>
                </a:lnTo>
                <a:lnTo>
                  <a:pt x="14" y="2171"/>
                </a:lnTo>
                <a:close/>
                <a:moveTo>
                  <a:pt x="14" y="2199"/>
                </a:moveTo>
                <a:lnTo>
                  <a:pt x="14" y="2213"/>
                </a:lnTo>
                <a:lnTo>
                  <a:pt x="0" y="2213"/>
                </a:lnTo>
                <a:lnTo>
                  <a:pt x="0" y="2199"/>
                </a:lnTo>
                <a:lnTo>
                  <a:pt x="14" y="2199"/>
                </a:lnTo>
                <a:close/>
                <a:moveTo>
                  <a:pt x="14" y="2227"/>
                </a:moveTo>
                <a:lnTo>
                  <a:pt x="14" y="2241"/>
                </a:lnTo>
                <a:lnTo>
                  <a:pt x="0" y="2241"/>
                </a:lnTo>
                <a:lnTo>
                  <a:pt x="0" y="2227"/>
                </a:lnTo>
                <a:lnTo>
                  <a:pt x="14" y="2227"/>
                </a:lnTo>
                <a:close/>
                <a:moveTo>
                  <a:pt x="14" y="2254"/>
                </a:moveTo>
                <a:lnTo>
                  <a:pt x="14" y="2268"/>
                </a:lnTo>
                <a:lnTo>
                  <a:pt x="0" y="2268"/>
                </a:lnTo>
                <a:lnTo>
                  <a:pt x="0" y="2254"/>
                </a:lnTo>
                <a:lnTo>
                  <a:pt x="14" y="2254"/>
                </a:lnTo>
                <a:close/>
                <a:moveTo>
                  <a:pt x="14" y="2283"/>
                </a:moveTo>
                <a:lnTo>
                  <a:pt x="14" y="2296"/>
                </a:lnTo>
                <a:lnTo>
                  <a:pt x="0" y="2296"/>
                </a:lnTo>
                <a:lnTo>
                  <a:pt x="0" y="2283"/>
                </a:lnTo>
                <a:lnTo>
                  <a:pt x="14" y="2283"/>
                </a:lnTo>
                <a:close/>
                <a:moveTo>
                  <a:pt x="14" y="2310"/>
                </a:moveTo>
                <a:lnTo>
                  <a:pt x="14" y="2324"/>
                </a:lnTo>
                <a:lnTo>
                  <a:pt x="0" y="2324"/>
                </a:lnTo>
                <a:lnTo>
                  <a:pt x="0" y="2310"/>
                </a:lnTo>
                <a:lnTo>
                  <a:pt x="14" y="2310"/>
                </a:lnTo>
                <a:close/>
                <a:moveTo>
                  <a:pt x="14" y="2338"/>
                </a:moveTo>
                <a:lnTo>
                  <a:pt x="14" y="2352"/>
                </a:lnTo>
                <a:lnTo>
                  <a:pt x="0" y="2352"/>
                </a:lnTo>
                <a:lnTo>
                  <a:pt x="0" y="2338"/>
                </a:lnTo>
                <a:lnTo>
                  <a:pt x="14" y="2338"/>
                </a:lnTo>
                <a:close/>
                <a:moveTo>
                  <a:pt x="14" y="2366"/>
                </a:moveTo>
                <a:lnTo>
                  <a:pt x="14" y="2380"/>
                </a:lnTo>
                <a:lnTo>
                  <a:pt x="0" y="2380"/>
                </a:lnTo>
                <a:lnTo>
                  <a:pt x="0" y="2366"/>
                </a:lnTo>
                <a:lnTo>
                  <a:pt x="14" y="2366"/>
                </a:lnTo>
                <a:close/>
                <a:moveTo>
                  <a:pt x="14" y="2394"/>
                </a:moveTo>
                <a:lnTo>
                  <a:pt x="14" y="2408"/>
                </a:lnTo>
                <a:lnTo>
                  <a:pt x="0" y="2408"/>
                </a:lnTo>
                <a:lnTo>
                  <a:pt x="0" y="2394"/>
                </a:lnTo>
                <a:lnTo>
                  <a:pt x="14" y="2394"/>
                </a:lnTo>
                <a:close/>
                <a:moveTo>
                  <a:pt x="14" y="2421"/>
                </a:moveTo>
                <a:lnTo>
                  <a:pt x="14" y="2435"/>
                </a:lnTo>
                <a:lnTo>
                  <a:pt x="0" y="2435"/>
                </a:lnTo>
                <a:lnTo>
                  <a:pt x="0" y="2421"/>
                </a:lnTo>
                <a:lnTo>
                  <a:pt x="14" y="2421"/>
                </a:lnTo>
                <a:close/>
                <a:moveTo>
                  <a:pt x="14" y="2449"/>
                </a:moveTo>
                <a:lnTo>
                  <a:pt x="14" y="2453"/>
                </a:lnTo>
                <a:lnTo>
                  <a:pt x="0" y="2453"/>
                </a:lnTo>
                <a:lnTo>
                  <a:pt x="0" y="2449"/>
                </a:lnTo>
                <a:lnTo>
                  <a:pt x="14" y="2449"/>
                </a:lnTo>
                <a:close/>
              </a:path>
            </a:pathLst>
          </a:custGeom>
          <a:solidFill>
            <a:srgbClr val="000000"/>
          </a:solidFill>
          <a:ln w="0" cap="flat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34" name="Freeform 31">
            <a:extLst>
              <a:ext uri="{FF2B5EF4-FFF2-40B4-BE49-F238E27FC236}">
                <a16:creationId xmlns:a16="http://schemas.microsoft.com/office/drawing/2014/main" id="{F3D6C65C-FA03-4A46-94E2-A50DA960335E}"/>
              </a:ext>
            </a:extLst>
          </p:cNvPr>
          <p:cNvSpPr>
            <a:spLocks noEditPoints="1"/>
          </p:cNvSpPr>
          <p:nvPr/>
        </p:nvSpPr>
        <p:spPr bwMode="auto">
          <a:xfrm>
            <a:off x="6101985" y="2267962"/>
            <a:ext cx="23813" cy="3894138"/>
          </a:xfrm>
          <a:custGeom>
            <a:avLst/>
            <a:gdLst>
              <a:gd name="T0" fmla="*/ 15 w 15"/>
              <a:gd name="T1" fmla="*/ 42 h 2453"/>
              <a:gd name="T2" fmla="*/ 0 w 15"/>
              <a:gd name="T3" fmla="*/ 56 h 2453"/>
              <a:gd name="T4" fmla="*/ 15 w 15"/>
              <a:gd name="T5" fmla="*/ 112 h 2453"/>
              <a:gd name="T6" fmla="*/ 0 w 15"/>
              <a:gd name="T7" fmla="*/ 154 h 2453"/>
              <a:gd name="T8" fmla="*/ 15 w 15"/>
              <a:gd name="T9" fmla="*/ 167 h 2453"/>
              <a:gd name="T10" fmla="*/ 15 w 15"/>
              <a:gd name="T11" fmla="*/ 237 h 2453"/>
              <a:gd name="T12" fmla="*/ 0 w 15"/>
              <a:gd name="T13" fmla="*/ 251 h 2453"/>
              <a:gd name="T14" fmla="*/ 15 w 15"/>
              <a:gd name="T15" fmla="*/ 307 h 2453"/>
              <a:gd name="T16" fmla="*/ 0 w 15"/>
              <a:gd name="T17" fmla="*/ 348 h 2453"/>
              <a:gd name="T18" fmla="*/ 15 w 15"/>
              <a:gd name="T19" fmla="*/ 362 h 2453"/>
              <a:gd name="T20" fmla="*/ 15 w 15"/>
              <a:gd name="T21" fmla="*/ 432 h 2453"/>
              <a:gd name="T22" fmla="*/ 0 w 15"/>
              <a:gd name="T23" fmla="*/ 446 h 2453"/>
              <a:gd name="T24" fmla="*/ 15 w 15"/>
              <a:gd name="T25" fmla="*/ 501 h 2453"/>
              <a:gd name="T26" fmla="*/ 0 w 15"/>
              <a:gd name="T27" fmla="*/ 543 h 2453"/>
              <a:gd name="T28" fmla="*/ 15 w 15"/>
              <a:gd name="T29" fmla="*/ 557 h 2453"/>
              <a:gd name="T30" fmla="*/ 15 w 15"/>
              <a:gd name="T31" fmla="*/ 627 h 2453"/>
              <a:gd name="T32" fmla="*/ 0 w 15"/>
              <a:gd name="T33" fmla="*/ 641 h 2453"/>
              <a:gd name="T34" fmla="*/ 15 w 15"/>
              <a:gd name="T35" fmla="*/ 696 h 2453"/>
              <a:gd name="T36" fmla="*/ 0 w 15"/>
              <a:gd name="T37" fmla="*/ 738 h 2453"/>
              <a:gd name="T38" fmla="*/ 15 w 15"/>
              <a:gd name="T39" fmla="*/ 752 h 2453"/>
              <a:gd name="T40" fmla="*/ 15 w 15"/>
              <a:gd name="T41" fmla="*/ 822 h 2453"/>
              <a:gd name="T42" fmla="*/ 0 w 15"/>
              <a:gd name="T43" fmla="*/ 835 h 2453"/>
              <a:gd name="T44" fmla="*/ 15 w 15"/>
              <a:gd name="T45" fmla="*/ 891 h 2453"/>
              <a:gd name="T46" fmla="*/ 0 w 15"/>
              <a:gd name="T47" fmla="*/ 933 h 2453"/>
              <a:gd name="T48" fmla="*/ 15 w 15"/>
              <a:gd name="T49" fmla="*/ 947 h 2453"/>
              <a:gd name="T50" fmla="*/ 15 w 15"/>
              <a:gd name="T51" fmla="*/ 1016 h 2453"/>
              <a:gd name="T52" fmla="*/ 0 w 15"/>
              <a:gd name="T53" fmla="*/ 1030 h 2453"/>
              <a:gd name="T54" fmla="*/ 15 w 15"/>
              <a:gd name="T55" fmla="*/ 1086 h 2453"/>
              <a:gd name="T56" fmla="*/ 0 w 15"/>
              <a:gd name="T57" fmla="*/ 1127 h 2453"/>
              <a:gd name="T58" fmla="*/ 15 w 15"/>
              <a:gd name="T59" fmla="*/ 1141 h 2453"/>
              <a:gd name="T60" fmla="*/ 15 w 15"/>
              <a:gd name="T61" fmla="*/ 1211 h 2453"/>
              <a:gd name="T62" fmla="*/ 0 w 15"/>
              <a:gd name="T63" fmla="*/ 1225 h 2453"/>
              <a:gd name="T64" fmla="*/ 15 w 15"/>
              <a:gd name="T65" fmla="*/ 1281 h 2453"/>
              <a:gd name="T66" fmla="*/ 0 w 15"/>
              <a:gd name="T67" fmla="*/ 1322 h 2453"/>
              <a:gd name="T68" fmla="*/ 15 w 15"/>
              <a:gd name="T69" fmla="*/ 1336 h 2453"/>
              <a:gd name="T70" fmla="*/ 15 w 15"/>
              <a:gd name="T71" fmla="*/ 1406 h 2453"/>
              <a:gd name="T72" fmla="*/ 0 w 15"/>
              <a:gd name="T73" fmla="*/ 1420 h 2453"/>
              <a:gd name="T74" fmla="*/ 15 w 15"/>
              <a:gd name="T75" fmla="*/ 1475 h 2453"/>
              <a:gd name="T76" fmla="*/ 0 w 15"/>
              <a:gd name="T77" fmla="*/ 1517 h 2453"/>
              <a:gd name="T78" fmla="*/ 15 w 15"/>
              <a:gd name="T79" fmla="*/ 1531 h 2453"/>
              <a:gd name="T80" fmla="*/ 15 w 15"/>
              <a:gd name="T81" fmla="*/ 1601 h 2453"/>
              <a:gd name="T82" fmla="*/ 0 w 15"/>
              <a:gd name="T83" fmla="*/ 1615 h 2453"/>
              <a:gd name="T84" fmla="*/ 15 w 15"/>
              <a:gd name="T85" fmla="*/ 1670 h 2453"/>
              <a:gd name="T86" fmla="*/ 0 w 15"/>
              <a:gd name="T87" fmla="*/ 1712 h 2453"/>
              <a:gd name="T88" fmla="*/ 15 w 15"/>
              <a:gd name="T89" fmla="*/ 1726 h 2453"/>
              <a:gd name="T90" fmla="*/ 15 w 15"/>
              <a:gd name="T91" fmla="*/ 1795 h 2453"/>
              <a:gd name="T92" fmla="*/ 0 w 15"/>
              <a:gd name="T93" fmla="*/ 1809 h 2453"/>
              <a:gd name="T94" fmla="*/ 15 w 15"/>
              <a:gd name="T95" fmla="*/ 1865 h 2453"/>
              <a:gd name="T96" fmla="*/ 0 w 15"/>
              <a:gd name="T97" fmla="*/ 1907 h 2453"/>
              <a:gd name="T98" fmla="*/ 15 w 15"/>
              <a:gd name="T99" fmla="*/ 1921 h 2453"/>
              <a:gd name="T100" fmla="*/ 15 w 15"/>
              <a:gd name="T101" fmla="*/ 1990 h 2453"/>
              <a:gd name="T102" fmla="*/ 0 w 15"/>
              <a:gd name="T103" fmla="*/ 2004 h 2453"/>
              <a:gd name="T104" fmla="*/ 15 w 15"/>
              <a:gd name="T105" fmla="*/ 2060 h 2453"/>
              <a:gd name="T106" fmla="*/ 0 w 15"/>
              <a:gd name="T107" fmla="*/ 2102 h 2453"/>
              <a:gd name="T108" fmla="*/ 15 w 15"/>
              <a:gd name="T109" fmla="*/ 2116 h 2453"/>
              <a:gd name="T110" fmla="*/ 15 w 15"/>
              <a:gd name="T111" fmla="*/ 2185 h 2453"/>
              <a:gd name="T112" fmla="*/ 0 w 15"/>
              <a:gd name="T113" fmla="*/ 2199 h 2453"/>
              <a:gd name="T114" fmla="*/ 15 w 15"/>
              <a:gd name="T115" fmla="*/ 2254 h 2453"/>
              <a:gd name="T116" fmla="*/ 0 w 15"/>
              <a:gd name="T117" fmla="*/ 2296 h 2453"/>
              <a:gd name="T118" fmla="*/ 15 w 15"/>
              <a:gd name="T119" fmla="*/ 2310 h 2453"/>
              <a:gd name="T120" fmla="*/ 15 w 15"/>
              <a:gd name="T121" fmla="*/ 2380 h 2453"/>
              <a:gd name="T122" fmla="*/ 0 w 15"/>
              <a:gd name="T123" fmla="*/ 2394 h 2453"/>
              <a:gd name="T124" fmla="*/ 15 w 15"/>
              <a:gd name="T125" fmla="*/ 2449 h 24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15" h="2453">
                <a:moveTo>
                  <a:pt x="15" y="0"/>
                </a:moveTo>
                <a:lnTo>
                  <a:pt x="15" y="14"/>
                </a:lnTo>
                <a:lnTo>
                  <a:pt x="0" y="14"/>
                </a:lnTo>
                <a:lnTo>
                  <a:pt x="0" y="0"/>
                </a:lnTo>
                <a:lnTo>
                  <a:pt x="15" y="0"/>
                </a:lnTo>
                <a:close/>
                <a:moveTo>
                  <a:pt x="15" y="28"/>
                </a:moveTo>
                <a:lnTo>
                  <a:pt x="15" y="42"/>
                </a:lnTo>
                <a:lnTo>
                  <a:pt x="0" y="42"/>
                </a:lnTo>
                <a:lnTo>
                  <a:pt x="0" y="28"/>
                </a:lnTo>
                <a:lnTo>
                  <a:pt x="15" y="28"/>
                </a:lnTo>
                <a:close/>
                <a:moveTo>
                  <a:pt x="15" y="56"/>
                </a:moveTo>
                <a:lnTo>
                  <a:pt x="15" y="70"/>
                </a:lnTo>
                <a:lnTo>
                  <a:pt x="0" y="70"/>
                </a:lnTo>
                <a:lnTo>
                  <a:pt x="0" y="56"/>
                </a:lnTo>
                <a:lnTo>
                  <a:pt x="15" y="56"/>
                </a:lnTo>
                <a:close/>
                <a:moveTo>
                  <a:pt x="15" y="84"/>
                </a:moveTo>
                <a:lnTo>
                  <a:pt x="15" y="98"/>
                </a:lnTo>
                <a:lnTo>
                  <a:pt x="0" y="98"/>
                </a:lnTo>
                <a:lnTo>
                  <a:pt x="0" y="84"/>
                </a:lnTo>
                <a:lnTo>
                  <a:pt x="15" y="84"/>
                </a:lnTo>
                <a:close/>
                <a:moveTo>
                  <a:pt x="15" y="112"/>
                </a:moveTo>
                <a:lnTo>
                  <a:pt x="15" y="126"/>
                </a:lnTo>
                <a:lnTo>
                  <a:pt x="0" y="126"/>
                </a:lnTo>
                <a:lnTo>
                  <a:pt x="0" y="112"/>
                </a:lnTo>
                <a:lnTo>
                  <a:pt x="15" y="112"/>
                </a:lnTo>
                <a:close/>
                <a:moveTo>
                  <a:pt x="15" y="140"/>
                </a:moveTo>
                <a:lnTo>
                  <a:pt x="15" y="154"/>
                </a:lnTo>
                <a:lnTo>
                  <a:pt x="0" y="154"/>
                </a:lnTo>
                <a:lnTo>
                  <a:pt x="0" y="140"/>
                </a:lnTo>
                <a:lnTo>
                  <a:pt x="15" y="140"/>
                </a:lnTo>
                <a:close/>
                <a:moveTo>
                  <a:pt x="15" y="167"/>
                </a:moveTo>
                <a:lnTo>
                  <a:pt x="15" y="181"/>
                </a:lnTo>
                <a:lnTo>
                  <a:pt x="0" y="181"/>
                </a:lnTo>
                <a:lnTo>
                  <a:pt x="0" y="167"/>
                </a:lnTo>
                <a:lnTo>
                  <a:pt x="15" y="167"/>
                </a:lnTo>
                <a:close/>
                <a:moveTo>
                  <a:pt x="15" y="195"/>
                </a:moveTo>
                <a:lnTo>
                  <a:pt x="15" y="209"/>
                </a:lnTo>
                <a:lnTo>
                  <a:pt x="0" y="209"/>
                </a:lnTo>
                <a:lnTo>
                  <a:pt x="0" y="195"/>
                </a:lnTo>
                <a:lnTo>
                  <a:pt x="15" y="195"/>
                </a:lnTo>
                <a:close/>
                <a:moveTo>
                  <a:pt x="15" y="223"/>
                </a:moveTo>
                <a:lnTo>
                  <a:pt x="15" y="237"/>
                </a:lnTo>
                <a:lnTo>
                  <a:pt x="0" y="237"/>
                </a:lnTo>
                <a:lnTo>
                  <a:pt x="0" y="223"/>
                </a:lnTo>
                <a:lnTo>
                  <a:pt x="15" y="223"/>
                </a:lnTo>
                <a:close/>
                <a:moveTo>
                  <a:pt x="15" y="251"/>
                </a:moveTo>
                <a:lnTo>
                  <a:pt x="15" y="265"/>
                </a:lnTo>
                <a:lnTo>
                  <a:pt x="0" y="265"/>
                </a:lnTo>
                <a:lnTo>
                  <a:pt x="0" y="251"/>
                </a:lnTo>
                <a:lnTo>
                  <a:pt x="15" y="251"/>
                </a:lnTo>
                <a:close/>
                <a:moveTo>
                  <a:pt x="15" y="279"/>
                </a:moveTo>
                <a:lnTo>
                  <a:pt x="15" y="293"/>
                </a:lnTo>
                <a:lnTo>
                  <a:pt x="0" y="293"/>
                </a:lnTo>
                <a:lnTo>
                  <a:pt x="0" y="279"/>
                </a:lnTo>
                <a:lnTo>
                  <a:pt x="15" y="279"/>
                </a:lnTo>
                <a:close/>
                <a:moveTo>
                  <a:pt x="15" y="307"/>
                </a:moveTo>
                <a:lnTo>
                  <a:pt x="15" y="321"/>
                </a:lnTo>
                <a:lnTo>
                  <a:pt x="0" y="321"/>
                </a:lnTo>
                <a:lnTo>
                  <a:pt x="0" y="307"/>
                </a:lnTo>
                <a:lnTo>
                  <a:pt x="15" y="307"/>
                </a:lnTo>
                <a:close/>
                <a:moveTo>
                  <a:pt x="15" y="334"/>
                </a:moveTo>
                <a:lnTo>
                  <a:pt x="15" y="348"/>
                </a:lnTo>
                <a:lnTo>
                  <a:pt x="0" y="348"/>
                </a:lnTo>
                <a:lnTo>
                  <a:pt x="0" y="334"/>
                </a:lnTo>
                <a:lnTo>
                  <a:pt x="15" y="334"/>
                </a:lnTo>
                <a:close/>
                <a:moveTo>
                  <a:pt x="15" y="362"/>
                </a:moveTo>
                <a:lnTo>
                  <a:pt x="15" y="376"/>
                </a:lnTo>
                <a:lnTo>
                  <a:pt x="0" y="376"/>
                </a:lnTo>
                <a:lnTo>
                  <a:pt x="0" y="362"/>
                </a:lnTo>
                <a:lnTo>
                  <a:pt x="15" y="362"/>
                </a:lnTo>
                <a:close/>
                <a:moveTo>
                  <a:pt x="15" y="390"/>
                </a:moveTo>
                <a:lnTo>
                  <a:pt x="15" y="404"/>
                </a:lnTo>
                <a:lnTo>
                  <a:pt x="0" y="404"/>
                </a:lnTo>
                <a:lnTo>
                  <a:pt x="0" y="390"/>
                </a:lnTo>
                <a:lnTo>
                  <a:pt x="15" y="390"/>
                </a:lnTo>
                <a:close/>
                <a:moveTo>
                  <a:pt x="15" y="418"/>
                </a:moveTo>
                <a:lnTo>
                  <a:pt x="15" y="432"/>
                </a:lnTo>
                <a:lnTo>
                  <a:pt x="0" y="432"/>
                </a:lnTo>
                <a:lnTo>
                  <a:pt x="0" y="418"/>
                </a:lnTo>
                <a:lnTo>
                  <a:pt x="15" y="418"/>
                </a:lnTo>
                <a:close/>
                <a:moveTo>
                  <a:pt x="15" y="446"/>
                </a:moveTo>
                <a:lnTo>
                  <a:pt x="15" y="460"/>
                </a:lnTo>
                <a:lnTo>
                  <a:pt x="0" y="460"/>
                </a:lnTo>
                <a:lnTo>
                  <a:pt x="0" y="446"/>
                </a:lnTo>
                <a:lnTo>
                  <a:pt x="15" y="446"/>
                </a:lnTo>
                <a:close/>
                <a:moveTo>
                  <a:pt x="15" y="474"/>
                </a:moveTo>
                <a:lnTo>
                  <a:pt x="15" y="488"/>
                </a:lnTo>
                <a:lnTo>
                  <a:pt x="0" y="488"/>
                </a:lnTo>
                <a:lnTo>
                  <a:pt x="0" y="474"/>
                </a:lnTo>
                <a:lnTo>
                  <a:pt x="15" y="474"/>
                </a:lnTo>
                <a:close/>
                <a:moveTo>
                  <a:pt x="15" y="501"/>
                </a:moveTo>
                <a:lnTo>
                  <a:pt x="15" y="515"/>
                </a:lnTo>
                <a:lnTo>
                  <a:pt x="0" y="515"/>
                </a:lnTo>
                <a:lnTo>
                  <a:pt x="0" y="501"/>
                </a:lnTo>
                <a:lnTo>
                  <a:pt x="15" y="501"/>
                </a:lnTo>
                <a:close/>
                <a:moveTo>
                  <a:pt x="15" y="529"/>
                </a:moveTo>
                <a:lnTo>
                  <a:pt x="15" y="543"/>
                </a:lnTo>
                <a:lnTo>
                  <a:pt x="0" y="543"/>
                </a:lnTo>
                <a:lnTo>
                  <a:pt x="0" y="529"/>
                </a:lnTo>
                <a:lnTo>
                  <a:pt x="15" y="529"/>
                </a:lnTo>
                <a:close/>
                <a:moveTo>
                  <a:pt x="15" y="557"/>
                </a:moveTo>
                <a:lnTo>
                  <a:pt x="15" y="571"/>
                </a:lnTo>
                <a:lnTo>
                  <a:pt x="0" y="571"/>
                </a:lnTo>
                <a:lnTo>
                  <a:pt x="0" y="557"/>
                </a:lnTo>
                <a:lnTo>
                  <a:pt x="15" y="557"/>
                </a:lnTo>
                <a:close/>
                <a:moveTo>
                  <a:pt x="15" y="585"/>
                </a:moveTo>
                <a:lnTo>
                  <a:pt x="15" y="599"/>
                </a:lnTo>
                <a:lnTo>
                  <a:pt x="0" y="599"/>
                </a:lnTo>
                <a:lnTo>
                  <a:pt x="0" y="585"/>
                </a:lnTo>
                <a:lnTo>
                  <a:pt x="15" y="585"/>
                </a:lnTo>
                <a:close/>
                <a:moveTo>
                  <a:pt x="15" y="613"/>
                </a:moveTo>
                <a:lnTo>
                  <a:pt x="15" y="627"/>
                </a:lnTo>
                <a:lnTo>
                  <a:pt x="0" y="627"/>
                </a:lnTo>
                <a:lnTo>
                  <a:pt x="0" y="613"/>
                </a:lnTo>
                <a:lnTo>
                  <a:pt x="15" y="613"/>
                </a:lnTo>
                <a:close/>
                <a:moveTo>
                  <a:pt x="15" y="641"/>
                </a:moveTo>
                <a:lnTo>
                  <a:pt x="15" y="655"/>
                </a:lnTo>
                <a:lnTo>
                  <a:pt x="0" y="655"/>
                </a:lnTo>
                <a:lnTo>
                  <a:pt x="0" y="641"/>
                </a:lnTo>
                <a:lnTo>
                  <a:pt x="15" y="641"/>
                </a:lnTo>
                <a:close/>
                <a:moveTo>
                  <a:pt x="15" y="668"/>
                </a:moveTo>
                <a:lnTo>
                  <a:pt x="15" y="682"/>
                </a:lnTo>
                <a:lnTo>
                  <a:pt x="0" y="682"/>
                </a:lnTo>
                <a:lnTo>
                  <a:pt x="0" y="668"/>
                </a:lnTo>
                <a:lnTo>
                  <a:pt x="15" y="668"/>
                </a:lnTo>
                <a:close/>
                <a:moveTo>
                  <a:pt x="15" y="696"/>
                </a:moveTo>
                <a:lnTo>
                  <a:pt x="15" y="710"/>
                </a:lnTo>
                <a:lnTo>
                  <a:pt x="0" y="710"/>
                </a:lnTo>
                <a:lnTo>
                  <a:pt x="0" y="696"/>
                </a:lnTo>
                <a:lnTo>
                  <a:pt x="15" y="696"/>
                </a:lnTo>
                <a:close/>
                <a:moveTo>
                  <a:pt x="15" y="724"/>
                </a:moveTo>
                <a:lnTo>
                  <a:pt x="15" y="738"/>
                </a:lnTo>
                <a:lnTo>
                  <a:pt x="0" y="738"/>
                </a:lnTo>
                <a:lnTo>
                  <a:pt x="0" y="724"/>
                </a:lnTo>
                <a:lnTo>
                  <a:pt x="15" y="724"/>
                </a:lnTo>
                <a:close/>
                <a:moveTo>
                  <a:pt x="15" y="752"/>
                </a:moveTo>
                <a:lnTo>
                  <a:pt x="15" y="766"/>
                </a:lnTo>
                <a:lnTo>
                  <a:pt x="0" y="766"/>
                </a:lnTo>
                <a:lnTo>
                  <a:pt x="0" y="752"/>
                </a:lnTo>
                <a:lnTo>
                  <a:pt x="15" y="752"/>
                </a:lnTo>
                <a:close/>
                <a:moveTo>
                  <a:pt x="15" y="780"/>
                </a:moveTo>
                <a:lnTo>
                  <a:pt x="15" y="793"/>
                </a:lnTo>
                <a:lnTo>
                  <a:pt x="0" y="793"/>
                </a:lnTo>
                <a:lnTo>
                  <a:pt x="0" y="780"/>
                </a:lnTo>
                <a:lnTo>
                  <a:pt x="15" y="780"/>
                </a:lnTo>
                <a:close/>
                <a:moveTo>
                  <a:pt x="15" y="808"/>
                </a:moveTo>
                <a:lnTo>
                  <a:pt x="15" y="822"/>
                </a:lnTo>
                <a:lnTo>
                  <a:pt x="0" y="822"/>
                </a:lnTo>
                <a:lnTo>
                  <a:pt x="0" y="808"/>
                </a:lnTo>
                <a:lnTo>
                  <a:pt x="15" y="808"/>
                </a:lnTo>
                <a:close/>
                <a:moveTo>
                  <a:pt x="15" y="835"/>
                </a:moveTo>
                <a:lnTo>
                  <a:pt x="15" y="849"/>
                </a:lnTo>
                <a:lnTo>
                  <a:pt x="0" y="849"/>
                </a:lnTo>
                <a:lnTo>
                  <a:pt x="0" y="835"/>
                </a:lnTo>
                <a:lnTo>
                  <a:pt x="15" y="835"/>
                </a:lnTo>
                <a:close/>
                <a:moveTo>
                  <a:pt x="15" y="863"/>
                </a:moveTo>
                <a:lnTo>
                  <a:pt x="15" y="877"/>
                </a:lnTo>
                <a:lnTo>
                  <a:pt x="0" y="877"/>
                </a:lnTo>
                <a:lnTo>
                  <a:pt x="0" y="863"/>
                </a:lnTo>
                <a:lnTo>
                  <a:pt x="15" y="863"/>
                </a:lnTo>
                <a:close/>
                <a:moveTo>
                  <a:pt x="15" y="891"/>
                </a:moveTo>
                <a:lnTo>
                  <a:pt x="15" y="905"/>
                </a:lnTo>
                <a:lnTo>
                  <a:pt x="0" y="905"/>
                </a:lnTo>
                <a:lnTo>
                  <a:pt x="0" y="891"/>
                </a:lnTo>
                <a:lnTo>
                  <a:pt x="15" y="891"/>
                </a:lnTo>
                <a:close/>
                <a:moveTo>
                  <a:pt x="15" y="919"/>
                </a:moveTo>
                <a:lnTo>
                  <a:pt x="15" y="933"/>
                </a:lnTo>
                <a:lnTo>
                  <a:pt x="0" y="933"/>
                </a:lnTo>
                <a:lnTo>
                  <a:pt x="0" y="919"/>
                </a:lnTo>
                <a:lnTo>
                  <a:pt x="15" y="919"/>
                </a:lnTo>
                <a:close/>
                <a:moveTo>
                  <a:pt x="15" y="947"/>
                </a:moveTo>
                <a:lnTo>
                  <a:pt x="15" y="960"/>
                </a:lnTo>
                <a:lnTo>
                  <a:pt x="0" y="960"/>
                </a:lnTo>
                <a:lnTo>
                  <a:pt x="0" y="947"/>
                </a:lnTo>
                <a:lnTo>
                  <a:pt x="15" y="947"/>
                </a:lnTo>
                <a:close/>
                <a:moveTo>
                  <a:pt x="15" y="974"/>
                </a:moveTo>
                <a:lnTo>
                  <a:pt x="15" y="988"/>
                </a:lnTo>
                <a:lnTo>
                  <a:pt x="0" y="988"/>
                </a:lnTo>
                <a:lnTo>
                  <a:pt x="0" y="974"/>
                </a:lnTo>
                <a:lnTo>
                  <a:pt x="15" y="974"/>
                </a:lnTo>
                <a:close/>
                <a:moveTo>
                  <a:pt x="15" y="1002"/>
                </a:moveTo>
                <a:lnTo>
                  <a:pt x="15" y="1016"/>
                </a:lnTo>
                <a:lnTo>
                  <a:pt x="0" y="1016"/>
                </a:lnTo>
                <a:lnTo>
                  <a:pt x="0" y="1002"/>
                </a:lnTo>
                <a:lnTo>
                  <a:pt x="15" y="1002"/>
                </a:lnTo>
                <a:close/>
                <a:moveTo>
                  <a:pt x="15" y="1030"/>
                </a:moveTo>
                <a:lnTo>
                  <a:pt x="15" y="1044"/>
                </a:lnTo>
                <a:lnTo>
                  <a:pt x="0" y="1044"/>
                </a:lnTo>
                <a:lnTo>
                  <a:pt x="0" y="1030"/>
                </a:lnTo>
                <a:lnTo>
                  <a:pt x="15" y="1030"/>
                </a:lnTo>
                <a:close/>
                <a:moveTo>
                  <a:pt x="15" y="1058"/>
                </a:moveTo>
                <a:lnTo>
                  <a:pt x="15" y="1072"/>
                </a:lnTo>
                <a:lnTo>
                  <a:pt x="0" y="1072"/>
                </a:lnTo>
                <a:lnTo>
                  <a:pt x="0" y="1058"/>
                </a:lnTo>
                <a:lnTo>
                  <a:pt x="15" y="1058"/>
                </a:lnTo>
                <a:close/>
                <a:moveTo>
                  <a:pt x="15" y="1086"/>
                </a:moveTo>
                <a:lnTo>
                  <a:pt x="15" y="1100"/>
                </a:lnTo>
                <a:lnTo>
                  <a:pt x="0" y="1100"/>
                </a:lnTo>
                <a:lnTo>
                  <a:pt x="0" y="1086"/>
                </a:lnTo>
                <a:lnTo>
                  <a:pt x="15" y="1086"/>
                </a:lnTo>
                <a:close/>
                <a:moveTo>
                  <a:pt x="15" y="1114"/>
                </a:moveTo>
                <a:lnTo>
                  <a:pt x="15" y="1127"/>
                </a:lnTo>
                <a:lnTo>
                  <a:pt x="0" y="1127"/>
                </a:lnTo>
                <a:lnTo>
                  <a:pt x="0" y="1114"/>
                </a:lnTo>
                <a:lnTo>
                  <a:pt x="15" y="1114"/>
                </a:lnTo>
                <a:close/>
                <a:moveTo>
                  <a:pt x="15" y="1141"/>
                </a:moveTo>
                <a:lnTo>
                  <a:pt x="15" y="1155"/>
                </a:lnTo>
                <a:lnTo>
                  <a:pt x="0" y="1155"/>
                </a:lnTo>
                <a:lnTo>
                  <a:pt x="0" y="1141"/>
                </a:lnTo>
                <a:lnTo>
                  <a:pt x="15" y="1141"/>
                </a:lnTo>
                <a:close/>
                <a:moveTo>
                  <a:pt x="15" y="1169"/>
                </a:moveTo>
                <a:lnTo>
                  <a:pt x="15" y="1183"/>
                </a:lnTo>
                <a:lnTo>
                  <a:pt x="0" y="1183"/>
                </a:lnTo>
                <a:lnTo>
                  <a:pt x="0" y="1169"/>
                </a:lnTo>
                <a:lnTo>
                  <a:pt x="15" y="1169"/>
                </a:lnTo>
                <a:close/>
                <a:moveTo>
                  <a:pt x="15" y="1197"/>
                </a:moveTo>
                <a:lnTo>
                  <a:pt x="15" y="1211"/>
                </a:lnTo>
                <a:lnTo>
                  <a:pt x="0" y="1211"/>
                </a:lnTo>
                <a:lnTo>
                  <a:pt x="0" y="1197"/>
                </a:lnTo>
                <a:lnTo>
                  <a:pt x="15" y="1197"/>
                </a:lnTo>
                <a:close/>
                <a:moveTo>
                  <a:pt x="15" y="1225"/>
                </a:moveTo>
                <a:lnTo>
                  <a:pt x="15" y="1239"/>
                </a:lnTo>
                <a:lnTo>
                  <a:pt x="0" y="1239"/>
                </a:lnTo>
                <a:lnTo>
                  <a:pt x="0" y="1225"/>
                </a:lnTo>
                <a:lnTo>
                  <a:pt x="15" y="1225"/>
                </a:lnTo>
                <a:close/>
                <a:moveTo>
                  <a:pt x="15" y="1253"/>
                </a:moveTo>
                <a:lnTo>
                  <a:pt x="15" y="1267"/>
                </a:lnTo>
                <a:lnTo>
                  <a:pt x="0" y="1267"/>
                </a:lnTo>
                <a:lnTo>
                  <a:pt x="0" y="1253"/>
                </a:lnTo>
                <a:lnTo>
                  <a:pt x="15" y="1253"/>
                </a:lnTo>
                <a:close/>
                <a:moveTo>
                  <a:pt x="15" y="1281"/>
                </a:moveTo>
                <a:lnTo>
                  <a:pt x="15" y="1294"/>
                </a:lnTo>
                <a:lnTo>
                  <a:pt x="0" y="1294"/>
                </a:lnTo>
                <a:lnTo>
                  <a:pt x="0" y="1281"/>
                </a:lnTo>
                <a:lnTo>
                  <a:pt x="15" y="1281"/>
                </a:lnTo>
                <a:close/>
                <a:moveTo>
                  <a:pt x="15" y="1308"/>
                </a:moveTo>
                <a:lnTo>
                  <a:pt x="15" y="1322"/>
                </a:lnTo>
                <a:lnTo>
                  <a:pt x="0" y="1322"/>
                </a:lnTo>
                <a:lnTo>
                  <a:pt x="0" y="1308"/>
                </a:lnTo>
                <a:lnTo>
                  <a:pt x="15" y="1308"/>
                </a:lnTo>
                <a:close/>
                <a:moveTo>
                  <a:pt x="15" y="1336"/>
                </a:moveTo>
                <a:lnTo>
                  <a:pt x="15" y="1350"/>
                </a:lnTo>
                <a:lnTo>
                  <a:pt x="0" y="1350"/>
                </a:lnTo>
                <a:lnTo>
                  <a:pt x="0" y="1336"/>
                </a:lnTo>
                <a:lnTo>
                  <a:pt x="15" y="1336"/>
                </a:lnTo>
                <a:close/>
                <a:moveTo>
                  <a:pt x="15" y="1364"/>
                </a:moveTo>
                <a:lnTo>
                  <a:pt x="15" y="1378"/>
                </a:lnTo>
                <a:lnTo>
                  <a:pt x="0" y="1378"/>
                </a:lnTo>
                <a:lnTo>
                  <a:pt x="0" y="1364"/>
                </a:lnTo>
                <a:lnTo>
                  <a:pt x="15" y="1364"/>
                </a:lnTo>
                <a:close/>
                <a:moveTo>
                  <a:pt x="15" y="1392"/>
                </a:moveTo>
                <a:lnTo>
                  <a:pt x="15" y="1406"/>
                </a:lnTo>
                <a:lnTo>
                  <a:pt x="0" y="1406"/>
                </a:lnTo>
                <a:lnTo>
                  <a:pt x="0" y="1392"/>
                </a:lnTo>
                <a:lnTo>
                  <a:pt x="15" y="1392"/>
                </a:lnTo>
                <a:close/>
                <a:moveTo>
                  <a:pt x="15" y="1420"/>
                </a:moveTo>
                <a:lnTo>
                  <a:pt x="15" y="1434"/>
                </a:lnTo>
                <a:lnTo>
                  <a:pt x="0" y="1434"/>
                </a:lnTo>
                <a:lnTo>
                  <a:pt x="0" y="1420"/>
                </a:lnTo>
                <a:lnTo>
                  <a:pt x="15" y="1420"/>
                </a:lnTo>
                <a:close/>
                <a:moveTo>
                  <a:pt x="15" y="1448"/>
                </a:moveTo>
                <a:lnTo>
                  <a:pt x="15" y="1461"/>
                </a:lnTo>
                <a:lnTo>
                  <a:pt x="0" y="1461"/>
                </a:lnTo>
                <a:lnTo>
                  <a:pt x="0" y="1448"/>
                </a:lnTo>
                <a:lnTo>
                  <a:pt x="15" y="1448"/>
                </a:lnTo>
                <a:close/>
                <a:moveTo>
                  <a:pt x="15" y="1475"/>
                </a:moveTo>
                <a:lnTo>
                  <a:pt x="15" y="1489"/>
                </a:lnTo>
                <a:lnTo>
                  <a:pt x="0" y="1489"/>
                </a:lnTo>
                <a:lnTo>
                  <a:pt x="0" y="1475"/>
                </a:lnTo>
                <a:lnTo>
                  <a:pt x="15" y="1475"/>
                </a:lnTo>
                <a:close/>
                <a:moveTo>
                  <a:pt x="15" y="1503"/>
                </a:moveTo>
                <a:lnTo>
                  <a:pt x="15" y="1517"/>
                </a:lnTo>
                <a:lnTo>
                  <a:pt x="0" y="1517"/>
                </a:lnTo>
                <a:lnTo>
                  <a:pt x="0" y="1503"/>
                </a:lnTo>
                <a:lnTo>
                  <a:pt x="15" y="1503"/>
                </a:lnTo>
                <a:close/>
                <a:moveTo>
                  <a:pt x="15" y="1531"/>
                </a:moveTo>
                <a:lnTo>
                  <a:pt x="15" y="1545"/>
                </a:lnTo>
                <a:lnTo>
                  <a:pt x="0" y="1545"/>
                </a:lnTo>
                <a:lnTo>
                  <a:pt x="0" y="1531"/>
                </a:lnTo>
                <a:lnTo>
                  <a:pt x="15" y="1531"/>
                </a:lnTo>
                <a:close/>
                <a:moveTo>
                  <a:pt x="15" y="1559"/>
                </a:moveTo>
                <a:lnTo>
                  <a:pt x="15" y="1573"/>
                </a:lnTo>
                <a:lnTo>
                  <a:pt x="0" y="1573"/>
                </a:lnTo>
                <a:lnTo>
                  <a:pt x="0" y="1559"/>
                </a:lnTo>
                <a:lnTo>
                  <a:pt x="15" y="1559"/>
                </a:lnTo>
                <a:close/>
                <a:moveTo>
                  <a:pt x="15" y="1587"/>
                </a:moveTo>
                <a:lnTo>
                  <a:pt x="15" y="1601"/>
                </a:lnTo>
                <a:lnTo>
                  <a:pt x="0" y="1601"/>
                </a:lnTo>
                <a:lnTo>
                  <a:pt x="0" y="1587"/>
                </a:lnTo>
                <a:lnTo>
                  <a:pt x="15" y="1587"/>
                </a:lnTo>
                <a:close/>
                <a:moveTo>
                  <a:pt x="15" y="1615"/>
                </a:moveTo>
                <a:lnTo>
                  <a:pt x="15" y="1628"/>
                </a:lnTo>
                <a:lnTo>
                  <a:pt x="0" y="1628"/>
                </a:lnTo>
                <a:lnTo>
                  <a:pt x="0" y="1615"/>
                </a:lnTo>
                <a:lnTo>
                  <a:pt x="15" y="1615"/>
                </a:lnTo>
                <a:close/>
                <a:moveTo>
                  <a:pt x="15" y="1642"/>
                </a:moveTo>
                <a:lnTo>
                  <a:pt x="15" y="1656"/>
                </a:lnTo>
                <a:lnTo>
                  <a:pt x="0" y="1656"/>
                </a:lnTo>
                <a:lnTo>
                  <a:pt x="0" y="1642"/>
                </a:lnTo>
                <a:lnTo>
                  <a:pt x="15" y="1642"/>
                </a:lnTo>
                <a:close/>
                <a:moveTo>
                  <a:pt x="15" y="1670"/>
                </a:moveTo>
                <a:lnTo>
                  <a:pt x="15" y="1684"/>
                </a:lnTo>
                <a:lnTo>
                  <a:pt x="0" y="1684"/>
                </a:lnTo>
                <a:lnTo>
                  <a:pt x="0" y="1670"/>
                </a:lnTo>
                <a:lnTo>
                  <a:pt x="15" y="1670"/>
                </a:lnTo>
                <a:close/>
                <a:moveTo>
                  <a:pt x="15" y="1698"/>
                </a:moveTo>
                <a:lnTo>
                  <a:pt x="15" y="1712"/>
                </a:lnTo>
                <a:lnTo>
                  <a:pt x="0" y="1712"/>
                </a:lnTo>
                <a:lnTo>
                  <a:pt x="0" y="1698"/>
                </a:lnTo>
                <a:lnTo>
                  <a:pt x="15" y="1698"/>
                </a:lnTo>
                <a:close/>
                <a:moveTo>
                  <a:pt x="15" y="1726"/>
                </a:moveTo>
                <a:lnTo>
                  <a:pt x="15" y="1740"/>
                </a:lnTo>
                <a:lnTo>
                  <a:pt x="0" y="1740"/>
                </a:lnTo>
                <a:lnTo>
                  <a:pt x="0" y="1726"/>
                </a:lnTo>
                <a:lnTo>
                  <a:pt x="15" y="1726"/>
                </a:lnTo>
                <a:close/>
                <a:moveTo>
                  <a:pt x="15" y="1754"/>
                </a:moveTo>
                <a:lnTo>
                  <a:pt x="15" y="1768"/>
                </a:lnTo>
                <a:lnTo>
                  <a:pt x="0" y="1768"/>
                </a:lnTo>
                <a:lnTo>
                  <a:pt x="0" y="1754"/>
                </a:lnTo>
                <a:lnTo>
                  <a:pt x="15" y="1754"/>
                </a:lnTo>
                <a:close/>
                <a:moveTo>
                  <a:pt x="15" y="1782"/>
                </a:moveTo>
                <a:lnTo>
                  <a:pt x="15" y="1795"/>
                </a:lnTo>
                <a:lnTo>
                  <a:pt x="0" y="1795"/>
                </a:lnTo>
                <a:lnTo>
                  <a:pt x="0" y="1782"/>
                </a:lnTo>
                <a:lnTo>
                  <a:pt x="15" y="1782"/>
                </a:lnTo>
                <a:close/>
                <a:moveTo>
                  <a:pt x="15" y="1809"/>
                </a:moveTo>
                <a:lnTo>
                  <a:pt x="15" y="1823"/>
                </a:lnTo>
                <a:lnTo>
                  <a:pt x="0" y="1823"/>
                </a:lnTo>
                <a:lnTo>
                  <a:pt x="0" y="1809"/>
                </a:lnTo>
                <a:lnTo>
                  <a:pt x="15" y="1809"/>
                </a:lnTo>
                <a:close/>
                <a:moveTo>
                  <a:pt x="15" y="1837"/>
                </a:moveTo>
                <a:lnTo>
                  <a:pt x="15" y="1851"/>
                </a:lnTo>
                <a:lnTo>
                  <a:pt x="0" y="1851"/>
                </a:lnTo>
                <a:lnTo>
                  <a:pt x="0" y="1837"/>
                </a:lnTo>
                <a:lnTo>
                  <a:pt x="15" y="1837"/>
                </a:lnTo>
                <a:close/>
                <a:moveTo>
                  <a:pt x="15" y="1865"/>
                </a:moveTo>
                <a:lnTo>
                  <a:pt x="15" y="1879"/>
                </a:lnTo>
                <a:lnTo>
                  <a:pt x="0" y="1879"/>
                </a:lnTo>
                <a:lnTo>
                  <a:pt x="0" y="1865"/>
                </a:lnTo>
                <a:lnTo>
                  <a:pt x="15" y="1865"/>
                </a:lnTo>
                <a:close/>
                <a:moveTo>
                  <a:pt x="15" y="1893"/>
                </a:moveTo>
                <a:lnTo>
                  <a:pt x="15" y="1907"/>
                </a:lnTo>
                <a:lnTo>
                  <a:pt x="0" y="1907"/>
                </a:lnTo>
                <a:lnTo>
                  <a:pt x="0" y="1893"/>
                </a:lnTo>
                <a:lnTo>
                  <a:pt x="15" y="1893"/>
                </a:lnTo>
                <a:close/>
                <a:moveTo>
                  <a:pt x="15" y="1921"/>
                </a:moveTo>
                <a:lnTo>
                  <a:pt x="15" y="1935"/>
                </a:lnTo>
                <a:lnTo>
                  <a:pt x="0" y="1935"/>
                </a:lnTo>
                <a:lnTo>
                  <a:pt x="0" y="1921"/>
                </a:lnTo>
                <a:lnTo>
                  <a:pt x="15" y="1921"/>
                </a:lnTo>
                <a:close/>
                <a:moveTo>
                  <a:pt x="15" y="1949"/>
                </a:moveTo>
                <a:lnTo>
                  <a:pt x="15" y="1962"/>
                </a:lnTo>
                <a:lnTo>
                  <a:pt x="0" y="1962"/>
                </a:lnTo>
                <a:lnTo>
                  <a:pt x="0" y="1949"/>
                </a:lnTo>
                <a:lnTo>
                  <a:pt x="15" y="1949"/>
                </a:lnTo>
                <a:close/>
                <a:moveTo>
                  <a:pt x="15" y="1976"/>
                </a:moveTo>
                <a:lnTo>
                  <a:pt x="15" y="1990"/>
                </a:lnTo>
                <a:lnTo>
                  <a:pt x="0" y="1990"/>
                </a:lnTo>
                <a:lnTo>
                  <a:pt x="0" y="1976"/>
                </a:lnTo>
                <a:lnTo>
                  <a:pt x="15" y="1976"/>
                </a:lnTo>
                <a:close/>
                <a:moveTo>
                  <a:pt x="15" y="2004"/>
                </a:moveTo>
                <a:lnTo>
                  <a:pt x="15" y="2018"/>
                </a:lnTo>
                <a:lnTo>
                  <a:pt x="0" y="2018"/>
                </a:lnTo>
                <a:lnTo>
                  <a:pt x="0" y="2004"/>
                </a:lnTo>
                <a:lnTo>
                  <a:pt x="15" y="2004"/>
                </a:lnTo>
                <a:close/>
                <a:moveTo>
                  <a:pt x="15" y="2032"/>
                </a:moveTo>
                <a:lnTo>
                  <a:pt x="15" y="2046"/>
                </a:lnTo>
                <a:lnTo>
                  <a:pt x="0" y="2046"/>
                </a:lnTo>
                <a:lnTo>
                  <a:pt x="0" y="2032"/>
                </a:lnTo>
                <a:lnTo>
                  <a:pt x="15" y="2032"/>
                </a:lnTo>
                <a:close/>
                <a:moveTo>
                  <a:pt x="15" y="2060"/>
                </a:moveTo>
                <a:lnTo>
                  <a:pt x="15" y="2074"/>
                </a:lnTo>
                <a:lnTo>
                  <a:pt x="0" y="2074"/>
                </a:lnTo>
                <a:lnTo>
                  <a:pt x="0" y="2060"/>
                </a:lnTo>
                <a:lnTo>
                  <a:pt x="15" y="2060"/>
                </a:lnTo>
                <a:close/>
                <a:moveTo>
                  <a:pt x="15" y="2087"/>
                </a:moveTo>
                <a:lnTo>
                  <a:pt x="15" y="2102"/>
                </a:lnTo>
                <a:lnTo>
                  <a:pt x="0" y="2102"/>
                </a:lnTo>
                <a:lnTo>
                  <a:pt x="0" y="2087"/>
                </a:lnTo>
                <a:lnTo>
                  <a:pt x="15" y="2087"/>
                </a:lnTo>
                <a:close/>
                <a:moveTo>
                  <a:pt x="15" y="2116"/>
                </a:moveTo>
                <a:lnTo>
                  <a:pt x="15" y="2129"/>
                </a:lnTo>
                <a:lnTo>
                  <a:pt x="0" y="2129"/>
                </a:lnTo>
                <a:lnTo>
                  <a:pt x="0" y="2116"/>
                </a:lnTo>
                <a:lnTo>
                  <a:pt x="15" y="2116"/>
                </a:lnTo>
                <a:close/>
                <a:moveTo>
                  <a:pt x="15" y="2143"/>
                </a:moveTo>
                <a:lnTo>
                  <a:pt x="15" y="2157"/>
                </a:lnTo>
                <a:lnTo>
                  <a:pt x="0" y="2157"/>
                </a:lnTo>
                <a:lnTo>
                  <a:pt x="0" y="2143"/>
                </a:lnTo>
                <a:lnTo>
                  <a:pt x="15" y="2143"/>
                </a:lnTo>
                <a:close/>
                <a:moveTo>
                  <a:pt x="15" y="2171"/>
                </a:moveTo>
                <a:lnTo>
                  <a:pt x="15" y="2185"/>
                </a:lnTo>
                <a:lnTo>
                  <a:pt x="0" y="2185"/>
                </a:lnTo>
                <a:lnTo>
                  <a:pt x="0" y="2171"/>
                </a:lnTo>
                <a:lnTo>
                  <a:pt x="15" y="2171"/>
                </a:lnTo>
                <a:close/>
                <a:moveTo>
                  <a:pt x="15" y="2199"/>
                </a:moveTo>
                <a:lnTo>
                  <a:pt x="15" y="2213"/>
                </a:lnTo>
                <a:lnTo>
                  <a:pt x="0" y="2213"/>
                </a:lnTo>
                <a:lnTo>
                  <a:pt x="0" y="2199"/>
                </a:lnTo>
                <a:lnTo>
                  <a:pt x="15" y="2199"/>
                </a:lnTo>
                <a:close/>
                <a:moveTo>
                  <a:pt x="15" y="2227"/>
                </a:moveTo>
                <a:lnTo>
                  <a:pt x="15" y="2241"/>
                </a:lnTo>
                <a:lnTo>
                  <a:pt x="0" y="2241"/>
                </a:lnTo>
                <a:lnTo>
                  <a:pt x="0" y="2227"/>
                </a:lnTo>
                <a:lnTo>
                  <a:pt x="15" y="2227"/>
                </a:lnTo>
                <a:close/>
                <a:moveTo>
                  <a:pt x="15" y="2254"/>
                </a:moveTo>
                <a:lnTo>
                  <a:pt x="15" y="2268"/>
                </a:lnTo>
                <a:lnTo>
                  <a:pt x="0" y="2268"/>
                </a:lnTo>
                <a:lnTo>
                  <a:pt x="0" y="2254"/>
                </a:lnTo>
                <a:lnTo>
                  <a:pt x="15" y="2254"/>
                </a:lnTo>
                <a:close/>
                <a:moveTo>
                  <a:pt x="15" y="2283"/>
                </a:moveTo>
                <a:lnTo>
                  <a:pt x="15" y="2296"/>
                </a:lnTo>
                <a:lnTo>
                  <a:pt x="0" y="2296"/>
                </a:lnTo>
                <a:lnTo>
                  <a:pt x="0" y="2283"/>
                </a:lnTo>
                <a:lnTo>
                  <a:pt x="15" y="2283"/>
                </a:lnTo>
                <a:close/>
                <a:moveTo>
                  <a:pt x="15" y="2310"/>
                </a:moveTo>
                <a:lnTo>
                  <a:pt x="15" y="2324"/>
                </a:lnTo>
                <a:lnTo>
                  <a:pt x="0" y="2324"/>
                </a:lnTo>
                <a:lnTo>
                  <a:pt x="0" y="2310"/>
                </a:lnTo>
                <a:lnTo>
                  <a:pt x="15" y="2310"/>
                </a:lnTo>
                <a:close/>
                <a:moveTo>
                  <a:pt x="15" y="2338"/>
                </a:moveTo>
                <a:lnTo>
                  <a:pt x="15" y="2352"/>
                </a:lnTo>
                <a:lnTo>
                  <a:pt x="0" y="2352"/>
                </a:lnTo>
                <a:lnTo>
                  <a:pt x="0" y="2338"/>
                </a:lnTo>
                <a:lnTo>
                  <a:pt x="15" y="2338"/>
                </a:lnTo>
                <a:close/>
                <a:moveTo>
                  <a:pt x="15" y="2366"/>
                </a:moveTo>
                <a:lnTo>
                  <a:pt x="15" y="2380"/>
                </a:lnTo>
                <a:lnTo>
                  <a:pt x="0" y="2380"/>
                </a:lnTo>
                <a:lnTo>
                  <a:pt x="0" y="2366"/>
                </a:lnTo>
                <a:lnTo>
                  <a:pt x="15" y="2366"/>
                </a:lnTo>
                <a:close/>
                <a:moveTo>
                  <a:pt x="15" y="2394"/>
                </a:moveTo>
                <a:lnTo>
                  <a:pt x="15" y="2408"/>
                </a:lnTo>
                <a:lnTo>
                  <a:pt x="0" y="2408"/>
                </a:lnTo>
                <a:lnTo>
                  <a:pt x="0" y="2394"/>
                </a:lnTo>
                <a:lnTo>
                  <a:pt x="15" y="2394"/>
                </a:lnTo>
                <a:close/>
                <a:moveTo>
                  <a:pt x="15" y="2421"/>
                </a:moveTo>
                <a:lnTo>
                  <a:pt x="15" y="2435"/>
                </a:lnTo>
                <a:lnTo>
                  <a:pt x="0" y="2435"/>
                </a:lnTo>
                <a:lnTo>
                  <a:pt x="0" y="2421"/>
                </a:lnTo>
                <a:lnTo>
                  <a:pt x="15" y="2421"/>
                </a:lnTo>
                <a:close/>
                <a:moveTo>
                  <a:pt x="15" y="2449"/>
                </a:moveTo>
                <a:lnTo>
                  <a:pt x="15" y="2453"/>
                </a:lnTo>
                <a:lnTo>
                  <a:pt x="0" y="2453"/>
                </a:lnTo>
                <a:lnTo>
                  <a:pt x="0" y="2449"/>
                </a:lnTo>
                <a:lnTo>
                  <a:pt x="15" y="2449"/>
                </a:lnTo>
                <a:close/>
              </a:path>
            </a:pathLst>
          </a:custGeom>
          <a:solidFill>
            <a:srgbClr val="000000"/>
          </a:solidFill>
          <a:ln w="0" cap="flat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35" name="Freeform 32">
            <a:extLst>
              <a:ext uri="{FF2B5EF4-FFF2-40B4-BE49-F238E27FC236}">
                <a16:creationId xmlns:a16="http://schemas.microsoft.com/office/drawing/2014/main" id="{AB5DCA3C-1A8A-4FA1-8457-1943B9A98F9D}"/>
              </a:ext>
            </a:extLst>
          </p:cNvPr>
          <p:cNvSpPr>
            <a:spLocks noEditPoints="1"/>
          </p:cNvSpPr>
          <p:nvPr/>
        </p:nvSpPr>
        <p:spPr bwMode="auto">
          <a:xfrm>
            <a:off x="6717935" y="2267962"/>
            <a:ext cx="22225" cy="3894138"/>
          </a:xfrm>
          <a:custGeom>
            <a:avLst/>
            <a:gdLst>
              <a:gd name="T0" fmla="*/ 14 w 14"/>
              <a:gd name="T1" fmla="*/ 42 h 2453"/>
              <a:gd name="T2" fmla="*/ 0 w 14"/>
              <a:gd name="T3" fmla="*/ 56 h 2453"/>
              <a:gd name="T4" fmla="*/ 14 w 14"/>
              <a:gd name="T5" fmla="*/ 112 h 2453"/>
              <a:gd name="T6" fmla="*/ 0 w 14"/>
              <a:gd name="T7" fmla="*/ 154 h 2453"/>
              <a:gd name="T8" fmla="*/ 14 w 14"/>
              <a:gd name="T9" fmla="*/ 167 h 2453"/>
              <a:gd name="T10" fmla="*/ 14 w 14"/>
              <a:gd name="T11" fmla="*/ 237 h 2453"/>
              <a:gd name="T12" fmla="*/ 0 w 14"/>
              <a:gd name="T13" fmla="*/ 251 h 2453"/>
              <a:gd name="T14" fmla="*/ 14 w 14"/>
              <a:gd name="T15" fmla="*/ 307 h 2453"/>
              <a:gd name="T16" fmla="*/ 0 w 14"/>
              <a:gd name="T17" fmla="*/ 348 h 2453"/>
              <a:gd name="T18" fmla="*/ 14 w 14"/>
              <a:gd name="T19" fmla="*/ 362 h 2453"/>
              <a:gd name="T20" fmla="*/ 14 w 14"/>
              <a:gd name="T21" fmla="*/ 432 h 2453"/>
              <a:gd name="T22" fmla="*/ 0 w 14"/>
              <a:gd name="T23" fmla="*/ 446 h 2453"/>
              <a:gd name="T24" fmla="*/ 14 w 14"/>
              <a:gd name="T25" fmla="*/ 501 h 2453"/>
              <a:gd name="T26" fmla="*/ 0 w 14"/>
              <a:gd name="T27" fmla="*/ 543 h 2453"/>
              <a:gd name="T28" fmla="*/ 14 w 14"/>
              <a:gd name="T29" fmla="*/ 557 h 2453"/>
              <a:gd name="T30" fmla="*/ 14 w 14"/>
              <a:gd name="T31" fmla="*/ 627 h 2453"/>
              <a:gd name="T32" fmla="*/ 0 w 14"/>
              <a:gd name="T33" fmla="*/ 641 h 2453"/>
              <a:gd name="T34" fmla="*/ 14 w 14"/>
              <a:gd name="T35" fmla="*/ 696 h 2453"/>
              <a:gd name="T36" fmla="*/ 0 w 14"/>
              <a:gd name="T37" fmla="*/ 738 h 2453"/>
              <a:gd name="T38" fmla="*/ 14 w 14"/>
              <a:gd name="T39" fmla="*/ 752 h 2453"/>
              <a:gd name="T40" fmla="*/ 14 w 14"/>
              <a:gd name="T41" fmla="*/ 822 h 2453"/>
              <a:gd name="T42" fmla="*/ 0 w 14"/>
              <a:gd name="T43" fmla="*/ 835 h 2453"/>
              <a:gd name="T44" fmla="*/ 14 w 14"/>
              <a:gd name="T45" fmla="*/ 891 h 2453"/>
              <a:gd name="T46" fmla="*/ 0 w 14"/>
              <a:gd name="T47" fmla="*/ 933 h 2453"/>
              <a:gd name="T48" fmla="*/ 14 w 14"/>
              <a:gd name="T49" fmla="*/ 947 h 2453"/>
              <a:gd name="T50" fmla="*/ 14 w 14"/>
              <a:gd name="T51" fmla="*/ 1016 h 2453"/>
              <a:gd name="T52" fmla="*/ 0 w 14"/>
              <a:gd name="T53" fmla="*/ 1030 h 2453"/>
              <a:gd name="T54" fmla="*/ 14 w 14"/>
              <a:gd name="T55" fmla="*/ 1086 h 2453"/>
              <a:gd name="T56" fmla="*/ 0 w 14"/>
              <a:gd name="T57" fmla="*/ 1127 h 2453"/>
              <a:gd name="T58" fmla="*/ 14 w 14"/>
              <a:gd name="T59" fmla="*/ 1141 h 2453"/>
              <a:gd name="T60" fmla="*/ 14 w 14"/>
              <a:gd name="T61" fmla="*/ 1211 h 2453"/>
              <a:gd name="T62" fmla="*/ 0 w 14"/>
              <a:gd name="T63" fmla="*/ 1225 h 2453"/>
              <a:gd name="T64" fmla="*/ 14 w 14"/>
              <a:gd name="T65" fmla="*/ 1281 h 2453"/>
              <a:gd name="T66" fmla="*/ 0 w 14"/>
              <a:gd name="T67" fmla="*/ 1322 h 2453"/>
              <a:gd name="T68" fmla="*/ 14 w 14"/>
              <a:gd name="T69" fmla="*/ 1336 h 2453"/>
              <a:gd name="T70" fmla="*/ 14 w 14"/>
              <a:gd name="T71" fmla="*/ 1406 h 2453"/>
              <a:gd name="T72" fmla="*/ 0 w 14"/>
              <a:gd name="T73" fmla="*/ 1420 h 2453"/>
              <a:gd name="T74" fmla="*/ 14 w 14"/>
              <a:gd name="T75" fmla="*/ 1475 h 2453"/>
              <a:gd name="T76" fmla="*/ 0 w 14"/>
              <a:gd name="T77" fmla="*/ 1517 h 2453"/>
              <a:gd name="T78" fmla="*/ 14 w 14"/>
              <a:gd name="T79" fmla="*/ 1531 h 2453"/>
              <a:gd name="T80" fmla="*/ 14 w 14"/>
              <a:gd name="T81" fmla="*/ 1601 h 2453"/>
              <a:gd name="T82" fmla="*/ 0 w 14"/>
              <a:gd name="T83" fmla="*/ 1615 h 2453"/>
              <a:gd name="T84" fmla="*/ 14 w 14"/>
              <a:gd name="T85" fmla="*/ 1670 h 2453"/>
              <a:gd name="T86" fmla="*/ 0 w 14"/>
              <a:gd name="T87" fmla="*/ 1712 h 2453"/>
              <a:gd name="T88" fmla="*/ 14 w 14"/>
              <a:gd name="T89" fmla="*/ 1726 h 2453"/>
              <a:gd name="T90" fmla="*/ 14 w 14"/>
              <a:gd name="T91" fmla="*/ 1795 h 2453"/>
              <a:gd name="T92" fmla="*/ 0 w 14"/>
              <a:gd name="T93" fmla="*/ 1809 h 2453"/>
              <a:gd name="T94" fmla="*/ 14 w 14"/>
              <a:gd name="T95" fmla="*/ 1865 h 2453"/>
              <a:gd name="T96" fmla="*/ 0 w 14"/>
              <a:gd name="T97" fmla="*/ 1907 h 2453"/>
              <a:gd name="T98" fmla="*/ 14 w 14"/>
              <a:gd name="T99" fmla="*/ 1921 h 2453"/>
              <a:gd name="T100" fmla="*/ 14 w 14"/>
              <a:gd name="T101" fmla="*/ 1990 h 2453"/>
              <a:gd name="T102" fmla="*/ 0 w 14"/>
              <a:gd name="T103" fmla="*/ 2004 h 2453"/>
              <a:gd name="T104" fmla="*/ 14 w 14"/>
              <a:gd name="T105" fmla="*/ 2060 h 2453"/>
              <a:gd name="T106" fmla="*/ 0 w 14"/>
              <a:gd name="T107" fmla="*/ 2102 h 2453"/>
              <a:gd name="T108" fmla="*/ 14 w 14"/>
              <a:gd name="T109" fmla="*/ 2116 h 2453"/>
              <a:gd name="T110" fmla="*/ 14 w 14"/>
              <a:gd name="T111" fmla="*/ 2185 h 2453"/>
              <a:gd name="T112" fmla="*/ 0 w 14"/>
              <a:gd name="T113" fmla="*/ 2199 h 2453"/>
              <a:gd name="T114" fmla="*/ 14 w 14"/>
              <a:gd name="T115" fmla="*/ 2254 h 2453"/>
              <a:gd name="T116" fmla="*/ 0 w 14"/>
              <a:gd name="T117" fmla="*/ 2296 h 2453"/>
              <a:gd name="T118" fmla="*/ 14 w 14"/>
              <a:gd name="T119" fmla="*/ 2310 h 2453"/>
              <a:gd name="T120" fmla="*/ 14 w 14"/>
              <a:gd name="T121" fmla="*/ 2380 h 2453"/>
              <a:gd name="T122" fmla="*/ 0 w 14"/>
              <a:gd name="T123" fmla="*/ 2394 h 2453"/>
              <a:gd name="T124" fmla="*/ 14 w 14"/>
              <a:gd name="T125" fmla="*/ 2449 h 24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14" h="2453">
                <a:moveTo>
                  <a:pt x="14" y="0"/>
                </a:moveTo>
                <a:lnTo>
                  <a:pt x="14" y="14"/>
                </a:lnTo>
                <a:lnTo>
                  <a:pt x="0" y="14"/>
                </a:lnTo>
                <a:lnTo>
                  <a:pt x="0" y="0"/>
                </a:lnTo>
                <a:lnTo>
                  <a:pt x="14" y="0"/>
                </a:lnTo>
                <a:close/>
                <a:moveTo>
                  <a:pt x="14" y="28"/>
                </a:moveTo>
                <a:lnTo>
                  <a:pt x="14" y="42"/>
                </a:lnTo>
                <a:lnTo>
                  <a:pt x="0" y="42"/>
                </a:lnTo>
                <a:lnTo>
                  <a:pt x="0" y="28"/>
                </a:lnTo>
                <a:lnTo>
                  <a:pt x="14" y="28"/>
                </a:lnTo>
                <a:close/>
                <a:moveTo>
                  <a:pt x="14" y="56"/>
                </a:moveTo>
                <a:lnTo>
                  <a:pt x="14" y="70"/>
                </a:lnTo>
                <a:lnTo>
                  <a:pt x="0" y="70"/>
                </a:lnTo>
                <a:lnTo>
                  <a:pt x="0" y="56"/>
                </a:lnTo>
                <a:lnTo>
                  <a:pt x="14" y="56"/>
                </a:lnTo>
                <a:close/>
                <a:moveTo>
                  <a:pt x="14" y="84"/>
                </a:moveTo>
                <a:lnTo>
                  <a:pt x="14" y="98"/>
                </a:lnTo>
                <a:lnTo>
                  <a:pt x="0" y="98"/>
                </a:lnTo>
                <a:lnTo>
                  <a:pt x="0" y="84"/>
                </a:lnTo>
                <a:lnTo>
                  <a:pt x="14" y="84"/>
                </a:lnTo>
                <a:close/>
                <a:moveTo>
                  <a:pt x="14" y="112"/>
                </a:moveTo>
                <a:lnTo>
                  <a:pt x="14" y="126"/>
                </a:lnTo>
                <a:lnTo>
                  <a:pt x="0" y="126"/>
                </a:lnTo>
                <a:lnTo>
                  <a:pt x="0" y="112"/>
                </a:lnTo>
                <a:lnTo>
                  <a:pt x="14" y="112"/>
                </a:lnTo>
                <a:close/>
                <a:moveTo>
                  <a:pt x="14" y="140"/>
                </a:moveTo>
                <a:lnTo>
                  <a:pt x="14" y="154"/>
                </a:lnTo>
                <a:lnTo>
                  <a:pt x="0" y="154"/>
                </a:lnTo>
                <a:lnTo>
                  <a:pt x="0" y="140"/>
                </a:lnTo>
                <a:lnTo>
                  <a:pt x="14" y="140"/>
                </a:lnTo>
                <a:close/>
                <a:moveTo>
                  <a:pt x="14" y="167"/>
                </a:moveTo>
                <a:lnTo>
                  <a:pt x="14" y="181"/>
                </a:lnTo>
                <a:lnTo>
                  <a:pt x="0" y="181"/>
                </a:lnTo>
                <a:lnTo>
                  <a:pt x="0" y="167"/>
                </a:lnTo>
                <a:lnTo>
                  <a:pt x="14" y="167"/>
                </a:lnTo>
                <a:close/>
                <a:moveTo>
                  <a:pt x="14" y="195"/>
                </a:moveTo>
                <a:lnTo>
                  <a:pt x="14" y="209"/>
                </a:lnTo>
                <a:lnTo>
                  <a:pt x="0" y="209"/>
                </a:lnTo>
                <a:lnTo>
                  <a:pt x="0" y="195"/>
                </a:lnTo>
                <a:lnTo>
                  <a:pt x="14" y="195"/>
                </a:lnTo>
                <a:close/>
                <a:moveTo>
                  <a:pt x="14" y="223"/>
                </a:moveTo>
                <a:lnTo>
                  <a:pt x="14" y="237"/>
                </a:lnTo>
                <a:lnTo>
                  <a:pt x="0" y="237"/>
                </a:lnTo>
                <a:lnTo>
                  <a:pt x="0" y="223"/>
                </a:lnTo>
                <a:lnTo>
                  <a:pt x="14" y="223"/>
                </a:lnTo>
                <a:close/>
                <a:moveTo>
                  <a:pt x="14" y="251"/>
                </a:moveTo>
                <a:lnTo>
                  <a:pt x="14" y="265"/>
                </a:lnTo>
                <a:lnTo>
                  <a:pt x="0" y="265"/>
                </a:lnTo>
                <a:lnTo>
                  <a:pt x="0" y="251"/>
                </a:lnTo>
                <a:lnTo>
                  <a:pt x="14" y="251"/>
                </a:lnTo>
                <a:close/>
                <a:moveTo>
                  <a:pt x="14" y="279"/>
                </a:moveTo>
                <a:lnTo>
                  <a:pt x="14" y="293"/>
                </a:lnTo>
                <a:lnTo>
                  <a:pt x="0" y="293"/>
                </a:lnTo>
                <a:lnTo>
                  <a:pt x="0" y="279"/>
                </a:lnTo>
                <a:lnTo>
                  <a:pt x="14" y="279"/>
                </a:lnTo>
                <a:close/>
                <a:moveTo>
                  <a:pt x="14" y="307"/>
                </a:moveTo>
                <a:lnTo>
                  <a:pt x="14" y="321"/>
                </a:lnTo>
                <a:lnTo>
                  <a:pt x="0" y="321"/>
                </a:lnTo>
                <a:lnTo>
                  <a:pt x="0" y="307"/>
                </a:lnTo>
                <a:lnTo>
                  <a:pt x="14" y="307"/>
                </a:lnTo>
                <a:close/>
                <a:moveTo>
                  <a:pt x="14" y="334"/>
                </a:moveTo>
                <a:lnTo>
                  <a:pt x="14" y="348"/>
                </a:lnTo>
                <a:lnTo>
                  <a:pt x="0" y="348"/>
                </a:lnTo>
                <a:lnTo>
                  <a:pt x="0" y="334"/>
                </a:lnTo>
                <a:lnTo>
                  <a:pt x="14" y="334"/>
                </a:lnTo>
                <a:close/>
                <a:moveTo>
                  <a:pt x="14" y="362"/>
                </a:moveTo>
                <a:lnTo>
                  <a:pt x="14" y="376"/>
                </a:lnTo>
                <a:lnTo>
                  <a:pt x="0" y="376"/>
                </a:lnTo>
                <a:lnTo>
                  <a:pt x="0" y="362"/>
                </a:lnTo>
                <a:lnTo>
                  <a:pt x="14" y="362"/>
                </a:lnTo>
                <a:close/>
                <a:moveTo>
                  <a:pt x="14" y="390"/>
                </a:moveTo>
                <a:lnTo>
                  <a:pt x="14" y="404"/>
                </a:lnTo>
                <a:lnTo>
                  <a:pt x="0" y="404"/>
                </a:lnTo>
                <a:lnTo>
                  <a:pt x="0" y="390"/>
                </a:lnTo>
                <a:lnTo>
                  <a:pt x="14" y="390"/>
                </a:lnTo>
                <a:close/>
                <a:moveTo>
                  <a:pt x="14" y="418"/>
                </a:moveTo>
                <a:lnTo>
                  <a:pt x="14" y="432"/>
                </a:lnTo>
                <a:lnTo>
                  <a:pt x="0" y="432"/>
                </a:lnTo>
                <a:lnTo>
                  <a:pt x="0" y="418"/>
                </a:lnTo>
                <a:lnTo>
                  <a:pt x="14" y="418"/>
                </a:lnTo>
                <a:close/>
                <a:moveTo>
                  <a:pt x="14" y="446"/>
                </a:moveTo>
                <a:lnTo>
                  <a:pt x="14" y="460"/>
                </a:lnTo>
                <a:lnTo>
                  <a:pt x="0" y="460"/>
                </a:lnTo>
                <a:lnTo>
                  <a:pt x="0" y="446"/>
                </a:lnTo>
                <a:lnTo>
                  <a:pt x="14" y="446"/>
                </a:lnTo>
                <a:close/>
                <a:moveTo>
                  <a:pt x="14" y="474"/>
                </a:moveTo>
                <a:lnTo>
                  <a:pt x="14" y="488"/>
                </a:lnTo>
                <a:lnTo>
                  <a:pt x="0" y="488"/>
                </a:lnTo>
                <a:lnTo>
                  <a:pt x="0" y="474"/>
                </a:lnTo>
                <a:lnTo>
                  <a:pt x="14" y="474"/>
                </a:lnTo>
                <a:close/>
                <a:moveTo>
                  <a:pt x="14" y="501"/>
                </a:moveTo>
                <a:lnTo>
                  <a:pt x="14" y="515"/>
                </a:lnTo>
                <a:lnTo>
                  <a:pt x="0" y="515"/>
                </a:lnTo>
                <a:lnTo>
                  <a:pt x="0" y="501"/>
                </a:lnTo>
                <a:lnTo>
                  <a:pt x="14" y="501"/>
                </a:lnTo>
                <a:close/>
                <a:moveTo>
                  <a:pt x="14" y="529"/>
                </a:moveTo>
                <a:lnTo>
                  <a:pt x="14" y="543"/>
                </a:lnTo>
                <a:lnTo>
                  <a:pt x="0" y="543"/>
                </a:lnTo>
                <a:lnTo>
                  <a:pt x="0" y="529"/>
                </a:lnTo>
                <a:lnTo>
                  <a:pt x="14" y="529"/>
                </a:lnTo>
                <a:close/>
                <a:moveTo>
                  <a:pt x="14" y="557"/>
                </a:moveTo>
                <a:lnTo>
                  <a:pt x="14" y="571"/>
                </a:lnTo>
                <a:lnTo>
                  <a:pt x="0" y="571"/>
                </a:lnTo>
                <a:lnTo>
                  <a:pt x="0" y="557"/>
                </a:lnTo>
                <a:lnTo>
                  <a:pt x="14" y="557"/>
                </a:lnTo>
                <a:close/>
                <a:moveTo>
                  <a:pt x="14" y="585"/>
                </a:moveTo>
                <a:lnTo>
                  <a:pt x="14" y="599"/>
                </a:lnTo>
                <a:lnTo>
                  <a:pt x="0" y="599"/>
                </a:lnTo>
                <a:lnTo>
                  <a:pt x="0" y="585"/>
                </a:lnTo>
                <a:lnTo>
                  <a:pt x="14" y="585"/>
                </a:lnTo>
                <a:close/>
                <a:moveTo>
                  <a:pt x="14" y="613"/>
                </a:moveTo>
                <a:lnTo>
                  <a:pt x="14" y="627"/>
                </a:lnTo>
                <a:lnTo>
                  <a:pt x="0" y="627"/>
                </a:lnTo>
                <a:lnTo>
                  <a:pt x="0" y="613"/>
                </a:lnTo>
                <a:lnTo>
                  <a:pt x="14" y="613"/>
                </a:lnTo>
                <a:close/>
                <a:moveTo>
                  <a:pt x="14" y="641"/>
                </a:moveTo>
                <a:lnTo>
                  <a:pt x="14" y="655"/>
                </a:lnTo>
                <a:lnTo>
                  <a:pt x="0" y="655"/>
                </a:lnTo>
                <a:lnTo>
                  <a:pt x="0" y="641"/>
                </a:lnTo>
                <a:lnTo>
                  <a:pt x="14" y="641"/>
                </a:lnTo>
                <a:close/>
                <a:moveTo>
                  <a:pt x="14" y="668"/>
                </a:moveTo>
                <a:lnTo>
                  <a:pt x="14" y="682"/>
                </a:lnTo>
                <a:lnTo>
                  <a:pt x="0" y="682"/>
                </a:lnTo>
                <a:lnTo>
                  <a:pt x="0" y="668"/>
                </a:lnTo>
                <a:lnTo>
                  <a:pt x="14" y="668"/>
                </a:lnTo>
                <a:close/>
                <a:moveTo>
                  <a:pt x="14" y="696"/>
                </a:moveTo>
                <a:lnTo>
                  <a:pt x="14" y="710"/>
                </a:lnTo>
                <a:lnTo>
                  <a:pt x="0" y="710"/>
                </a:lnTo>
                <a:lnTo>
                  <a:pt x="0" y="696"/>
                </a:lnTo>
                <a:lnTo>
                  <a:pt x="14" y="696"/>
                </a:lnTo>
                <a:close/>
                <a:moveTo>
                  <a:pt x="14" y="724"/>
                </a:moveTo>
                <a:lnTo>
                  <a:pt x="14" y="738"/>
                </a:lnTo>
                <a:lnTo>
                  <a:pt x="0" y="738"/>
                </a:lnTo>
                <a:lnTo>
                  <a:pt x="0" y="724"/>
                </a:lnTo>
                <a:lnTo>
                  <a:pt x="14" y="724"/>
                </a:lnTo>
                <a:close/>
                <a:moveTo>
                  <a:pt x="14" y="752"/>
                </a:moveTo>
                <a:lnTo>
                  <a:pt x="14" y="766"/>
                </a:lnTo>
                <a:lnTo>
                  <a:pt x="0" y="766"/>
                </a:lnTo>
                <a:lnTo>
                  <a:pt x="0" y="752"/>
                </a:lnTo>
                <a:lnTo>
                  <a:pt x="14" y="752"/>
                </a:lnTo>
                <a:close/>
                <a:moveTo>
                  <a:pt x="14" y="780"/>
                </a:moveTo>
                <a:lnTo>
                  <a:pt x="14" y="793"/>
                </a:lnTo>
                <a:lnTo>
                  <a:pt x="0" y="793"/>
                </a:lnTo>
                <a:lnTo>
                  <a:pt x="0" y="780"/>
                </a:lnTo>
                <a:lnTo>
                  <a:pt x="14" y="780"/>
                </a:lnTo>
                <a:close/>
                <a:moveTo>
                  <a:pt x="14" y="808"/>
                </a:moveTo>
                <a:lnTo>
                  <a:pt x="14" y="822"/>
                </a:lnTo>
                <a:lnTo>
                  <a:pt x="0" y="822"/>
                </a:lnTo>
                <a:lnTo>
                  <a:pt x="0" y="808"/>
                </a:lnTo>
                <a:lnTo>
                  <a:pt x="14" y="808"/>
                </a:lnTo>
                <a:close/>
                <a:moveTo>
                  <a:pt x="14" y="835"/>
                </a:moveTo>
                <a:lnTo>
                  <a:pt x="14" y="849"/>
                </a:lnTo>
                <a:lnTo>
                  <a:pt x="0" y="849"/>
                </a:lnTo>
                <a:lnTo>
                  <a:pt x="0" y="835"/>
                </a:lnTo>
                <a:lnTo>
                  <a:pt x="14" y="835"/>
                </a:lnTo>
                <a:close/>
                <a:moveTo>
                  <a:pt x="14" y="863"/>
                </a:moveTo>
                <a:lnTo>
                  <a:pt x="14" y="877"/>
                </a:lnTo>
                <a:lnTo>
                  <a:pt x="0" y="877"/>
                </a:lnTo>
                <a:lnTo>
                  <a:pt x="0" y="863"/>
                </a:lnTo>
                <a:lnTo>
                  <a:pt x="14" y="863"/>
                </a:lnTo>
                <a:close/>
                <a:moveTo>
                  <a:pt x="14" y="891"/>
                </a:moveTo>
                <a:lnTo>
                  <a:pt x="14" y="905"/>
                </a:lnTo>
                <a:lnTo>
                  <a:pt x="0" y="905"/>
                </a:lnTo>
                <a:lnTo>
                  <a:pt x="0" y="891"/>
                </a:lnTo>
                <a:lnTo>
                  <a:pt x="14" y="891"/>
                </a:lnTo>
                <a:close/>
                <a:moveTo>
                  <a:pt x="14" y="919"/>
                </a:moveTo>
                <a:lnTo>
                  <a:pt x="14" y="933"/>
                </a:lnTo>
                <a:lnTo>
                  <a:pt x="0" y="933"/>
                </a:lnTo>
                <a:lnTo>
                  <a:pt x="0" y="919"/>
                </a:lnTo>
                <a:lnTo>
                  <a:pt x="14" y="919"/>
                </a:lnTo>
                <a:close/>
                <a:moveTo>
                  <a:pt x="14" y="947"/>
                </a:moveTo>
                <a:lnTo>
                  <a:pt x="14" y="960"/>
                </a:lnTo>
                <a:lnTo>
                  <a:pt x="0" y="960"/>
                </a:lnTo>
                <a:lnTo>
                  <a:pt x="0" y="947"/>
                </a:lnTo>
                <a:lnTo>
                  <a:pt x="14" y="947"/>
                </a:lnTo>
                <a:close/>
                <a:moveTo>
                  <a:pt x="14" y="974"/>
                </a:moveTo>
                <a:lnTo>
                  <a:pt x="14" y="988"/>
                </a:lnTo>
                <a:lnTo>
                  <a:pt x="0" y="988"/>
                </a:lnTo>
                <a:lnTo>
                  <a:pt x="0" y="974"/>
                </a:lnTo>
                <a:lnTo>
                  <a:pt x="14" y="974"/>
                </a:lnTo>
                <a:close/>
                <a:moveTo>
                  <a:pt x="14" y="1002"/>
                </a:moveTo>
                <a:lnTo>
                  <a:pt x="14" y="1016"/>
                </a:lnTo>
                <a:lnTo>
                  <a:pt x="0" y="1016"/>
                </a:lnTo>
                <a:lnTo>
                  <a:pt x="0" y="1002"/>
                </a:lnTo>
                <a:lnTo>
                  <a:pt x="14" y="1002"/>
                </a:lnTo>
                <a:close/>
                <a:moveTo>
                  <a:pt x="14" y="1030"/>
                </a:moveTo>
                <a:lnTo>
                  <a:pt x="14" y="1044"/>
                </a:lnTo>
                <a:lnTo>
                  <a:pt x="0" y="1044"/>
                </a:lnTo>
                <a:lnTo>
                  <a:pt x="0" y="1030"/>
                </a:lnTo>
                <a:lnTo>
                  <a:pt x="14" y="1030"/>
                </a:lnTo>
                <a:close/>
                <a:moveTo>
                  <a:pt x="14" y="1058"/>
                </a:moveTo>
                <a:lnTo>
                  <a:pt x="14" y="1072"/>
                </a:lnTo>
                <a:lnTo>
                  <a:pt x="0" y="1072"/>
                </a:lnTo>
                <a:lnTo>
                  <a:pt x="0" y="1058"/>
                </a:lnTo>
                <a:lnTo>
                  <a:pt x="14" y="1058"/>
                </a:lnTo>
                <a:close/>
                <a:moveTo>
                  <a:pt x="14" y="1086"/>
                </a:moveTo>
                <a:lnTo>
                  <a:pt x="14" y="1100"/>
                </a:lnTo>
                <a:lnTo>
                  <a:pt x="0" y="1100"/>
                </a:lnTo>
                <a:lnTo>
                  <a:pt x="0" y="1086"/>
                </a:lnTo>
                <a:lnTo>
                  <a:pt x="14" y="1086"/>
                </a:lnTo>
                <a:close/>
                <a:moveTo>
                  <a:pt x="14" y="1114"/>
                </a:moveTo>
                <a:lnTo>
                  <a:pt x="14" y="1127"/>
                </a:lnTo>
                <a:lnTo>
                  <a:pt x="0" y="1127"/>
                </a:lnTo>
                <a:lnTo>
                  <a:pt x="0" y="1114"/>
                </a:lnTo>
                <a:lnTo>
                  <a:pt x="14" y="1114"/>
                </a:lnTo>
                <a:close/>
                <a:moveTo>
                  <a:pt x="14" y="1141"/>
                </a:moveTo>
                <a:lnTo>
                  <a:pt x="14" y="1155"/>
                </a:lnTo>
                <a:lnTo>
                  <a:pt x="0" y="1155"/>
                </a:lnTo>
                <a:lnTo>
                  <a:pt x="0" y="1141"/>
                </a:lnTo>
                <a:lnTo>
                  <a:pt x="14" y="1141"/>
                </a:lnTo>
                <a:close/>
                <a:moveTo>
                  <a:pt x="14" y="1169"/>
                </a:moveTo>
                <a:lnTo>
                  <a:pt x="14" y="1183"/>
                </a:lnTo>
                <a:lnTo>
                  <a:pt x="0" y="1183"/>
                </a:lnTo>
                <a:lnTo>
                  <a:pt x="0" y="1169"/>
                </a:lnTo>
                <a:lnTo>
                  <a:pt x="14" y="1169"/>
                </a:lnTo>
                <a:close/>
                <a:moveTo>
                  <a:pt x="14" y="1197"/>
                </a:moveTo>
                <a:lnTo>
                  <a:pt x="14" y="1211"/>
                </a:lnTo>
                <a:lnTo>
                  <a:pt x="0" y="1211"/>
                </a:lnTo>
                <a:lnTo>
                  <a:pt x="0" y="1197"/>
                </a:lnTo>
                <a:lnTo>
                  <a:pt x="14" y="1197"/>
                </a:lnTo>
                <a:close/>
                <a:moveTo>
                  <a:pt x="14" y="1225"/>
                </a:moveTo>
                <a:lnTo>
                  <a:pt x="14" y="1239"/>
                </a:lnTo>
                <a:lnTo>
                  <a:pt x="0" y="1239"/>
                </a:lnTo>
                <a:lnTo>
                  <a:pt x="0" y="1225"/>
                </a:lnTo>
                <a:lnTo>
                  <a:pt x="14" y="1225"/>
                </a:lnTo>
                <a:close/>
                <a:moveTo>
                  <a:pt x="14" y="1253"/>
                </a:moveTo>
                <a:lnTo>
                  <a:pt x="14" y="1267"/>
                </a:lnTo>
                <a:lnTo>
                  <a:pt x="0" y="1267"/>
                </a:lnTo>
                <a:lnTo>
                  <a:pt x="0" y="1253"/>
                </a:lnTo>
                <a:lnTo>
                  <a:pt x="14" y="1253"/>
                </a:lnTo>
                <a:close/>
                <a:moveTo>
                  <a:pt x="14" y="1281"/>
                </a:moveTo>
                <a:lnTo>
                  <a:pt x="14" y="1294"/>
                </a:lnTo>
                <a:lnTo>
                  <a:pt x="0" y="1294"/>
                </a:lnTo>
                <a:lnTo>
                  <a:pt x="0" y="1281"/>
                </a:lnTo>
                <a:lnTo>
                  <a:pt x="14" y="1281"/>
                </a:lnTo>
                <a:close/>
                <a:moveTo>
                  <a:pt x="14" y="1308"/>
                </a:moveTo>
                <a:lnTo>
                  <a:pt x="14" y="1322"/>
                </a:lnTo>
                <a:lnTo>
                  <a:pt x="0" y="1322"/>
                </a:lnTo>
                <a:lnTo>
                  <a:pt x="0" y="1308"/>
                </a:lnTo>
                <a:lnTo>
                  <a:pt x="14" y="1308"/>
                </a:lnTo>
                <a:close/>
                <a:moveTo>
                  <a:pt x="14" y="1336"/>
                </a:moveTo>
                <a:lnTo>
                  <a:pt x="14" y="1350"/>
                </a:lnTo>
                <a:lnTo>
                  <a:pt x="0" y="1350"/>
                </a:lnTo>
                <a:lnTo>
                  <a:pt x="0" y="1336"/>
                </a:lnTo>
                <a:lnTo>
                  <a:pt x="14" y="1336"/>
                </a:lnTo>
                <a:close/>
                <a:moveTo>
                  <a:pt x="14" y="1364"/>
                </a:moveTo>
                <a:lnTo>
                  <a:pt x="14" y="1378"/>
                </a:lnTo>
                <a:lnTo>
                  <a:pt x="0" y="1378"/>
                </a:lnTo>
                <a:lnTo>
                  <a:pt x="0" y="1364"/>
                </a:lnTo>
                <a:lnTo>
                  <a:pt x="14" y="1364"/>
                </a:lnTo>
                <a:close/>
                <a:moveTo>
                  <a:pt x="14" y="1392"/>
                </a:moveTo>
                <a:lnTo>
                  <a:pt x="14" y="1406"/>
                </a:lnTo>
                <a:lnTo>
                  <a:pt x="0" y="1406"/>
                </a:lnTo>
                <a:lnTo>
                  <a:pt x="0" y="1392"/>
                </a:lnTo>
                <a:lnTo>
                  <a:pt x="14" y="1392"/>
                </a:lnTo>
                <a:close/>
                <a:moveTo>
                  <a:pt x="14" y="1420"/>
                </a:moveTo>
                <a:lnTo>
                  <a:pt x="14" y="1434"/>
                </a:lnTo>
                <a:lnTo>
                  <a:pt x="0" y="1434"/>
                </a:lnTo>
                <a:lnTo>
                  <a:pt x="0" y="1420"/>
                </a:lnTo>
                <a:lnTo>
                  <a:pt x="14" y="1420"/>
                </a:lnTo>
                <a:close/>
                <a:moveTo>
                  <a:pt x="14" y="1448"/>
                </a:moveTo>
                <a:lnTo>
                  <a:pt x="14" y="1461"/>
                </a:lnTo>
                <a:lnTo>
                  <a:pt x="0" y="1461"/>
                </a:lnTo>
                <a:lnTo>
                  <a:pt x="0" y="1448"/>
                </a:lnTo>
                <a:lnTo>
                  <a:pt x="14" y="1448"/>
                </a:lnTo>
                <a:close/>
                <a:moveTo>
                  <a:pt x="14" y="1475"/>
                </a:moveTo>
                <a:lnTo>
                  <a:pt x="14" y="1489"/>
                </a:lnTo>
                <a:lnTo>
                  <a:pt x="0" y="1489"/>
                </a:lnTo>
                <a:lnTo>
                  <a:pt x="0" y="1475"/>
                </a:lnTo>
                <a:lnTo>
                  <a:pt x="14" y="1475"/>
                </a:lnTo>
                <a:close/>
                <a:moveTo>
                  <a:pt x="14" y="1503"/>
                </a:moveTo>
                <a:lnTo>
                  <a:pt x="14" y="1517"/>
                </a:lnTo>
                <a:lnTo>
                  <a:pt x="0" y="1517"/>
                </a:lnTo>
                <a:lnTo>
                  <a:pt x="0" y="1503"/>
                </a:lnTo>
                <a:lnTo>
                  <a:pt x="14" y="1503"/>
                </a:lnTo>
                <a:close/>
                <a:moveTo>
                  <a:pt x="14" y="1531"/>
                </a:moveTo>
                <a:lnTo>
                  <a:pt x="14" y="1545"/>
                </a:lnTo>
                <a:lnTo>
                  <a:pt x="0" y="1545"/>
                </a:lnTo>
                <a:lnTo>
                  <a:pt x="0" y="1531"/>
                </a:lnTo>
                <a:lnTo>
                  <a:pt x="14" y="1531"/>
                </a:lnTo>
                <a:close/>
                <a:moveTo>
                  <a:pt x="14" y="1559"/>
                </a:moveTo>
                <a:lnTo>
                  <a:pt x="14" y="1573"/>
                </a:lnTo>
                <a:lnTo>
                  <a:pt x="0" y="1573"/>
                </a:lnTo>
                <a:lnTo>
                  <a:pt x="0" y="1559"/>
                </a:lnTo>
                <a:lnTo>
                  <a:pt x="14" y="1559"/>
                </a:lnTo>
                <a:close/>
                <a:moveTo>
                  <a:pt x="14" y="1587"/>
                </a:moveTo>
                <a:lnTo>
                  <a:pt x="14" y="1601"/>
                </a:lnTo>
                <a:lnTo>
                  <a:pt x="0" y="1601"/>
                </a:lnTo>
                <a:lnTo>
                  <a:pt x="0" y="1587"/>
                </a:lnTo>
                <a:lnTo>
                  <a:pt x="14" y="1587"/>
                </a:lnTo>
                <a:close/>
                <a:moveTo>
                  <a:pt x="14" y="1615"/>
                </a:moveTo>
                <a:lnTo>
                  <a:pt x="14" y="1628"/>
                </a:lnTo>
                <a:lnTo>
                  <a:pt x="0" y="1628"/>
                </a:lnTo>
                <a:lnTo>
                  <a:pt x="0" y="1615"/>
                </a:lnTo>
                <a:lnTo>
                  <a:pt x="14" y="1615"/>
                </a:lnTo>
                <a:close/>
                <a:moveTo>
                  <a:pt x="14" y="1642"/>
                </a:moveTo>
                <a:lnTo>
                  <a:pt x="14" y="1656"/>
                </a:lnTo>
                <a:lnTo>
                  <a:pt x="0" y="1656"/>
                </a:lnTo>
                <a:lnTo>
                  <a:pt x="0" y="1642"/>
                </a:lnTo>
                <a:lnTo>
                  <a:pt x="14" y="1642"/>
                </a:lnTo>
                <a:close/>
                <a:moveTo>
                  <a:pt x="14" y="1670"/>
                </a:moveTo>
                <a:lnTo>
                  <a:pt x="14" y="1684"/>
                </a:lnTo>
                <a:lnTo>
                  <a:pt x="0" y="1684"/>
                </a:lnTo>
                <a:lnTo>
                  <a:pt x="0" y="1670"/>
                </a:lnTo>
                <a:lnTo>
                  <a:pt x="14" y="1670"/>
                </a:lnTo>
                <a:close/>
                <a:moveTo>
                  <a:pt x="14" y="1698"/>
                </a:moveTo>
                <a:lnTo>
                  <a:pt x="14" y="1712"/>
                </a:lnTo>
                <a:lnTo>
                  <a:pt x="0" y="1712"/>
                </a:lnTo>
                <a:lnTo>
                  <a:pt x="0" y="1698"/>
                </a:lnTo>
                <a:lnTo>
                  <a:pt x="14" y="1698"/>
                </a:lnTo>
                <a:close/>
                <a:moveTo>
                  <a:pt x="14" y="1726"/>
                </a:moveTo>
                <a:lnTo>
                  <a:pt x="14" y="1740"/>
                </a:lnTo>
                <a:lnTo>
                  <a:pt x="0" y="1740"/>
                </a:lnTo>
                <a:lnTo>
                  <a:pt x="0" y="1726"/>
                </a:lnTo>
                <a:lnTo>
                  <a:pt x="14" y="1726"/>
                </a:lnTo>
                <a:close/>
                <a:moveTo>
                  <a:pt x="14" y="1754"/>
                </a:moveTo>
                <a:lnTo>
                  <a:pt x="14" y="1768"/>
                </a:lnTo>
                <a:lnTo>
                  <a:pt x="0" y="1768"/>
                </a:lnTo>
                <a:lnTo>
                  <a:pt x="0" y="1754"/>
                </a:lnTo>
                <a:lnTo>
                  <a:pt x="14" y="1754"/>
                </a:lnTo>
                <a:close/>
                <a:moveTo>
                  <a:pt x="14" y="1782"/>
                </a:moveTo>
                <a:lnTo>
                  <a:pt x="14" y="1795"/>
                </a:lnTo>
                <a:lnTo>
                  <a:pt x="0" y="1795"/>
                </a:lnTo>
                <a:lnTo>
                  <a:pt x="0" y="1782"/>
                </a:lnTo>
                <a:lnTo>
                  <a:pt x="14" y="1782"/>
                </a:lnTo>
                <a:close/>
                <a:moveTo>
                  <a:pt x="14" y="1809"/>
                </a:moveTo>
                <a:lnTo>
                  <a:pt x="14" y="1823"/>
                </a:lnTo>
                <a:lnTo>
                  <a:pt x="0" y="1823"/>
                </a:lnTo>
                <a:lnTo>
                  <a:pt x="0" y="1809"/>
                </a:lnTo>
                <a:lnTo>
                  <a:pt x="14" y="1809"/>
                </a:lnTo>
                <a:close/>
                <a:moveTo>
                  <a:pt x="14" y="1837"/>
                </a:moveTo>
                <a:lnTo>
                  <a:pt x="14" y="1851"/>
                </a:lnTo>
                <a:lnTo>
                  <a:pt x="0" y="1851"/>
                </a:lnTo>
                <a:lnTo>
                  <a:pt x="0" y="1837"/>
                </a:lnTo>
                <a:lnTo>
                  <a:pt x="14" y="1837"/>
                </a:lnTo>
                <a:close/>
                <a:moveTo>
                  <a:pt x="14" y="1865"/>
                </a:moveTo>
                <a:lnTo>
                  <a:pt x="14" y="1879"/>
                </a:lnTo>
                <a:lnTo>
                  <a:pt x="0" y="1879"/>
                </a:lnTo>
                <a:lnTo>
                  <a:pt x="0" y="1865"/>
                </a:lnTo>
                <a:lnTo>
                  <a:pt x="14" y="1865"/>
                </a:lnTo>
                <a:close/>
                <a:moveTo>
                  <a:pt x="14" y="1893"/>
                </a:moveTo>
                <a:lnTo>
                  <a:pt x="14" y="1907"/>
                </a:lnTo>
                <a:lnTo>
                  <a:pt x="0" y="1907"/>
                </a:lnTo>
                <a:lnTo>
                  <a:pt x="0" y="1893"/>
                </a:lnTo>
                <a:lnTo>
                  <a:pt x="14" y="1893"/>
                </a:lnTo>
                <a:close/>
                <a:moveTo>
                  <a:pt x="14" y="1921"/>
                </a:moveTo>
                <a:lnTo>
                  <a:pt x="14" y="1935"/>
                </a:lnTo>
                <a:lnTo>
                  <a:pt x="0" y="1935"/>
                </a:lnTo>
                <a:lnTo>
                  <a:pt x="0" y="1921"/>
                </a:lnTo>
                <a:lnTo>
                  <a:pt x="14" y="1921"/>
                </a:lnTo>
                <a:close/>
                <a:moveTo>
                  <a:pt x="14" y="1949"/>
                </a:moveTo>
                <a:lnTo>
                  <a:pt x="14" y="1962"/>
                </a:lnTo>
                <a:lnTo>
                  <a:pt x="0" y="1962"/>
                </a:lnTo>
                <a:lnTo>
                  <a:pt x="0" y="1949"/>
                </a:lnTo>
                <a:lnTo>
                  <a:pt x="14" y="1949"/>
                </a:lnTo>
                <a:close/>
                <a:moveTo>
                  <a:pt x="14" y="1976"/>
                </a:moveTo>
                <a:lnTo>
                  <a:pt x="14" y="1990"/>
                </a:lnTo>
                <a:lnTo>
                  <a:pt x="0" y="1990"/>
                </a:lnTo>
                <a:lnTo>
                  <a:pt x="0" y="1976"/>
                </a:lnTo>
                <a:lnTo>
                  <a:pt x="14" y="1976"/>
                </a:lnTo>
                <a:close/>
                <a:moveTo>
                  <a:pt x="14" y="2004"/>
                </a:moveTo>
                <a:lnTo>
                  <a:pt x="14" y="2018"/>
                </a:lnTo>
                <a:lnTo>
                  <a:pt x="0" y="2018"/>
                </a:lnTo>
                <a:lnTo>
                  <a:pt x="0" y="2004"/>
                </a:lnTo>
                <a:lnTo>
                  <a:pt x="14" y="2004"/>
                </a:lnTo>
                <a:close/>
                <a:moveTo>
                  <a:pt x="14" y="2032"/>
                </a:moveTo>
                <a:lnTo>
                  <a:pt x="14" y="2046"/>
                </a:lnTo>
                <a:lnTo>
                  <a:pt x="0" y="2046"/>
                </a:lnTo>
                <a:lnTo>
                  <a:pt x="0" y="2032"/>
                </a:lnTo>
                <a:lnTo>
                  <a:pt x="14" y="2032"/>
                </a:lnTo>
                <a:close/>
                <a:moveTo>
                  <a:pt x="14" y="2060"/>
                </a:moveTo>
                <a:lnTo>
                  <a:pt x="14" y="2074"/>
                </a:lnTo>
                <a:lnTo>
                  <a:pt x="0" y="2074"/>
                </a:lnTo>
                <a:lnTo>
                  <a:pt x="0" y="2060"/>
                </a:lnTo>
                <a:lnTo>
                  <a:pt x="14" y="2060"/>
                </a:lnTo>
                <a:close/>
                <a:moveTo>
                  <a:pt x="14" y="2087"/>
                </a:moveTo>
                <a:lnTo>
                  <a:pt x="14" y="2102"/>
                </a:lnTo>
                <a:lnTo>
                  <a:pt x="0" y="2102"/>
                </a:lnTo>
                <a:lnTo>
                  <a:pt x="0" y="2087"/>
                </a:lnTo>
                <a:lnTo>
                  <a:pt x="14" y="2087"/>
                </a:lnTo>
                <a:close/>
                <a:moveTo>
                  <a:pt x="14" y="2116"/>
                </a:moveTo>
                <a:lnTo>
                  <a:pt x="14" y="2129"/>
                </a:lnTo>
                <a:lnTo>
                  <a:pt x="0" y="2129"/>
                </a:lnTo>
                <a:lnTo>
                  <a:pt x="0" y="2116"/>
                </a:lnTo>
                <a:lnTo>
                  <a:pt x="14" y="2116"/>
                </a:lnTo>
                <a:close/>
                <a:moveTo>
                  <a:pt x="14" y="2143"/>
                </a:moveTo>
                <a:lnTo>
                  <a:pt x="14" y="2157"/>
                </a:lnTo>
                <a:lnTo>
                  <a:pt x="0" y="2157"/>
                </a:lnTo>
                <a:lnTo>
                  <a:pt x="0" y="2143"/>
                </a:lnTo>
                <a:lnTo>
                  <a:pt x="14" y="2143"/>
                </a:lnTo>
                <a:close/>
                <a:moveTo>
                  <a:pt x="14" y="2171"/>
                </a:moveTo>
                <a:lnTo>
                  <a:pt x="14" y="2185"/>
                </a:lnTo>
                <a:lnTo>
                  <a:pt x="0" y="2185"/>
                </a:lnTo>
                <a:lnTo>
                  <a:pt x="0" y="2171"/>
                </a:lnTo>
                <a:lnTo>
                  <a:pt x="14" y="2171"/>
                </a:lnTo>
                <a:close/>
                <a:moveTo>
                  <a:pt x="14" y="2199"/>
                </a:moveTo>
                <a:lnTo>
                  <a:pt x="14" y="2213"/>
                </a:lnTo>
                <a:lnTo>
                  <a:pt x="0" y="2213"/>
                </a:lnTo>
                <a:lnTo>
                  <a:pt x="0" y="2199"/>
                </a:lnTo>
                <a:lnTo>
                  <a:pt x="14" y="2199"/>
                </a:lnTo>
                <a:close/>
                <a:moveTo>
                  <a:pt x="14" y="2227"/>
                </a:moveTo>
                <a:lnTo>
                  <a:pt x="14" y="2241"/>
                </a:lnTo>
                <a:lnTo>
                  <a:pt x="0" y="2241"/>
                </a:lnTo>
                <a:lnTo>
                  <a:pt x="0" y="2227"/>
                </a:lnTo>
                <a:lnTo>
                  <a:pt x="14" y="2227"/>
                </a:lnTo>
                <a:close/>
                <a:moveTo>
                  <a:pt x="14" y="2254"/>
                </a:moveTo>
                <a:lnTo>
                  <a:pt x="14" y="2268"/>
                </a:lnTo>
                <a:lnTo>
                  <a:pt x="0" y="2268"/>
                </a:lnTo>
                <a:lnTo>
                  <a:pt x="0" y="2254"/>
                </a:lnTo>
                <a:lnTo>
                  <a:pt x="14" y="2254"/>
                </a:lnTo>
                <a:close/>
                <a:moveTo>
                  <a:pt x="14" y="2283"/>
                </a:moveTo>
                <a:lnTo>
                  <a:pt x="14" y="2296"/>
                </a:lnTo>
                <a:lnTo>
                  <a:pt x="0" y="2296"/>
                </a:lnTo>
                <a:lnTo>
                  <a:pt x="0" y="2283"/>
                </a:lnTo>
                <a:lnTo>
                  <a:pt x="14" y="2283"/>
                </a:lnTo>
                <a:close/>
                <a:moveTo>
                  <a:pt x="14" y="2310"/>
                </a:moveTo>
                <a:lnTo>
                  <a:pt x="14" y="2324"/>
                </a:lnTo>
                <a:lnTo>
                  <a:pt x="0" y="2324"/>
                </a:lnTo>
                <a:lnTo>
                  <a:pt x="0" y="2310"/>
                </a:lnTo>
                <a:lnTo>
                  <a:pt x="14" y="2310"/>
                </a:lnTo>
                <a:close/>
                <a:moveTo>
                  <a:pt x="14" y="2338"/>
                </a:moveTo>
                <a:lnTo>
                  <a:pt x="14" y="2352"/>
                </a:lnTo>
                <a:lnTo>
                  <a:pt x="0" y="2352"/>
                </a:lnTo>
                <a:lnTo>
                  <a:pt x="0" y="2338"/>
                </a:lnTo>
                <a:lnTo>
                  <a:pt x="14" y="2338"/>
                </a:lnTo>
                <a:close/>
                <a:moveTo>
                  <a:pt x="14" y="2366"/>
                </a:moveTo>
                <a:lnTo>
                  <a:pt x="14" y="2380"/>
                </a:lnTo>
                <a:lnTo>
                  <a:pt x="0" y="2380"/>
                </a:lnTo>
                <a:lnTo>
                  <a:pt x="0" y="2366"/>
                </a:lnTo>
                <a:lnTo>
                  <a:pt x="14" y="2366"/>
                </a:lnTo>
                <a:close/>
                <a:moveTo>
                  <a:pt x="14" y="2394"/>
                </a:moveTo>
                <a:lnTo>
                  <a:pt x="14" y="2408"/>
                </a:lnTo>
                <a:lnTo>
                  <a:pt x="0" y="2408"/>
                </a:lnTo>
                <a:lnTo>
                  <a:pt x="0" y="2394"/>
                </a:lnTo>
                <a:lnTo>
                  <a:pt x="14" y="2394"/>
                </a:lnTo>
                <a:close/>
                <a:moveTo>
                  <a:pt x="14" y="2421"/>
                </a:moveTo>
                <a:lnTo>
                  <a:pt x="14" y="2435"/>
                </a:lnTo>
                <a:lnTo>
                  <a:pt x="0" y="2435"/>
                </a:lnTo>
                <a:lnTo>
                  <a:pt x="0" y="2421"/>
                </a:lnTo>
                <a:lnTo>
                  <a:pt x="14" y="2421"/>
                </a:lnTo>
                <a:close/>
                <a:moveTo>
                  <a:pt x="14" y="2449"/>
                </a:moveTo>
                <a:lnTo>
                  <a:pt x="14" y="2453"/>
                </a:lnTo>
                <a:lnTo>
                  <a:pt x="0" y="2453"/>
                </a:lnTo>
                <a:lnTo>
                  <a:pt x="0" y="2449"/>
                </a:lnTo>
                <a:lnTo>
                  <a:pt x="14" y="2449"/>
                </a:lnTo>
                <a:close/>
              </a:path>
            </a:pathLst>
          </a:custGeom>
          <a:solidFill>
            <a:srgbClr val="000000"/>
          </a:solidFill>
          <a:ln w="0" cap="flat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36" name="Freeform 33">
            <a:extLst>
              <a:ext uri="{FF2B5EF4-FFF2-40B4-BE49-F238E27FC236}">
                <a16:creationId xmlns:a16="http://schemas.microsoft.com/office/drawing/2014/main" id="{0A6E15CA-913F-4662-A8AB-774BA846C596}"/>
              </a:ext>
            </a:extLst>
          </p:cNvPr>
          <p:cNvSpPr>
            <a:spLocks noEditPoints="1"/>
          </p:cNvSpPr>
          <p:nvPr/>
        </p:nvSpPr>
        <p:spPr bwMode="auto">
          <a:xfrm>
            <a:off x="7332298" y="2267962"/>
            <a:ext cx="23813" cy="3894138"/>
          </a:xfrm>
          <a:custGeom>
            <a:avLst/>
            <a:gdLst>
              <a:gd name="T0" fmla="*/ 15 w 15"/>
              <a:gd name="T1" fmla="*/ 42 h 2453"/>
              <a:gd name="T2" fmla="*/ 0 w 15"/>
              <a:gd name="T3" fmla="*/ 56 h 2453"/>
              <a:gd name="T4" fmla="*/ 15 w 15"/>
              <a:gd name="T5" fmla="*/ 112 h 2453"/>
              <a:gd name="T6" fmla="*/ 0 w 15"/>
              <a:gd name="T7" fmla="*/ 154 h 2453"/>
              <a:gd name="T8" fmla="*/ 15 w 15"/>
              <a:gd name="T9" fmla="*/ 167 h 2453"/>
              <a:gd name="T10" fmla="*/ 15 w 15"/>
              <a:gd name="T11" fmla="*/ 237 h 2453"/>
              <a:gd name="T12" fmla="*/ 0 w 15"/>
              <a:gd name="T13" fmla="*/ 251 h 2453"/>
              <a:gd name="T14" fmla="*/ 15 w 15"/>
              <a:gd name="T15" fmla="*/ 307 h 2453"/>
              <a:gd name="T16" fmla="*/ 0 w 15"/>
              <a:gd name="T17" fmla="*/ 348 h 2453"/>
              <a:gd name="T18" fmla="*/ 15 w 15"/>
              <a:gd name="T19" fmla="*/ 362 h 2453"/>
              <a:gd name="T20" fmla="*/ 15 w 15"/>
              <a:gd name="T21" fmla="*/ 432 h 2453"/>
              <a:gd name="T22" fmla="*/ 0 w 15"/>
              <a:gd name="T23" fmla="*/ 446 h 2453"/>
              <a:gd name="T24" fmla="*/ 15 w 15"/>
              <a:gd name="T25" fmla="*/ 501 h 2453"/>
              <a:gd name="T26" fmla="*/ 0 w 15"/>
              <a:gd name="T27" fmla="*/ 543 h 2453"/>
              <a:gd name="T28" fmla="*/ 15 w 15"/>
              <a:gd name="T29" fmla="*/ 557 h 2453"/>
              <a:gd name="T30" fmla="*/ 15 w 15"/>
              <a:gd name="T31" fmla="*/ 627 h 2453"/>
              <a:gd name="T32" fmla="*/ 0 w 15"/>
              <a:gd name="T33" fmla="*/ 641 h 2453"/>
              <a:gd name="T34" fmla="*/ 15 w 15"/>
              <a:gd name="T35" fmla="*/ 696 h 2453"/>
              <a:gd name="T36" fmla="*/ 0 w 15"/>
              <a:gd name="T37" fmla="*/ 738 h 2453"/>
              <a:gd name="T38" fmla="*/ 15 w 15"/>
              <a:gd name="T39" fmla="*/ 752 h 2453"/>
              <a:gd name="T40" fmla="*/ 15 w 15"/>
              <a:gd name="T41" fmla="*/ 822 h 2453"/>
              <a:gd name="T42" fmla="*/ 0 w 15"/>
              <a:gd name="T43" fmla="*/ 835 h 2453"/>
              <a:gd name="T44" fmla="*/ 15 w 15"/>
              <a:gd name="T45" fmla="*/ 891 h 2453"/>
              <a:gd name="T46" fmla="*/ 0 w 15"/>
              <a:gd name="T47" fmla="*/ 933 h 2453"/>
              <a:gd name="T48" fmla="*/ 15 w 15"/>
              <a:gd name="T49" fmla="*/ 947 h 2453"/>
              <a:gd name="T50" fmla="*/ 15 w 15"/>
              <a:gd name="T51" fmla="*/ 1016 h 2453"/>
              <a:gd name="T52" fmla="*/ 0 w 15"/>
              <a:gd name="T53" fmla="*/ 1030 h 2453"/>
              <a:gd name="T54" fmla="*/ 15 w 15"/>
              <a:gd name="T55" fmla="*/ 1086 h 2453"/>
              <a:gd name="T56" fmla="*/ 0 w 15"/>
              <a:gd name="T57" fmla="*/ 1127 h 2453"/>
              <a:gd name="T58" fmla="*/ 15 w 15"/>
              <a:gd name="T59" fmla="*/ 1141 h 2453"/>
              <a:gd name="T60" fmla="*/ 15 w 15"/>
              <a:gd name="T61" fmla="*/ 1211 h 2453"/>
              <a:gd name="T62" fmla="*/ 0 w 15"/>
              <a:gd name="T63" fmla="*/ 1225 h 2453"/>
              <a:gd name="T64" fmla="*/ 15 w 15"/>
              <a:gd name="T65" fmla="*/ 1281 h 2453"/>
              <a:gd name="T66" fmla="*/ 0 w 15"/>
              <a:gd name="T67" fmla="*/ 1322 h 2453"/>
              <a:gd name="T68" fmla="*/ 15 w 15"/>
              <a:gd name="T69" fmla="*/ 1336 h 2453"/>
              <a:gd name="T70" fmla="*/ 15 w 15"/>
              <a:gd name="T71" fmla="*/ 1406 h 2453"/>
              <a:gd name="T72" fmla="*/ 0 w 15"/>
              <a:gd name="T73" fmla="*/ 1420 h 2453"/>
              <a:gd name="T74" fmla="*/ 15 w 15"/>
              <a:gd name="T75" fmla="*/ 1475 h 2453"/>
              <a:gd name="T76" fmla="*/ 0 w 15"/>
              <a:gd name="T77" fmla="*/ 1517 h 2453"/>
              <a:gd name="T78" fmla="*/ 15 w 15"/>
              <a:gd name="T79" fmla="*/ 1531 h 2453"/>
              <a:gd name="T80" fmla="*/ 15 w 15"/>
              <a:gd name="T81" fmla="*/ 1601 h 2453"/>
              <a:gd name="T82" fmla="*/ 0 w 15"/>
              <a:gd name="T83" fmla="*/ 1615 h 2453"/>
              <a:gd name="T84" fmla="*/ 15 w 15"/>
              <a:gd name="T85" fmla="*/ 1670 h 2453"/>
              <a:gd name="T86" fmla="*/ 0 w 15"/>
              <a:gd name="T87" fmla="*/ 1712 h 2453"/>
              <a:gd name="T88" fmla="*/ 15 w 15"/>
              <a:gd name="T89" fmla="*/ 1726 h 2453"/>
              <a:gd name="T90" fmla="*/ 15 w 15"/>
              <a:gd name="T91" fmla="*/ 1795 h 2453"/>
              <a:gd name="T92" fmla="*/ 0 w 15"/>
              <a:gd name="T93" fmla="*/ 1809 h 2453"/>
              <a:gd name="T94" fmla="*/ 15 w 15"/>
              <a:gd name="T95" fmla="*/ 1865 h 2453"/>
              <a:gd name="T96" fmla="*/ 0 w 15"/>
              <a:gd name="T97" fmla="*/ 1907 h 2453"/>
              <a:gd name="T98" fmla="*/ 15 w 15"/>
              <a:gd name="T99" fmla="*/ 1921 h 2453"/>
              <a:gd name="T100" fmla="*/ 15 w 15"/>
              <a:gd name="T101" fmla="*/ 1990 h 2453"/>
              <a:gd name="T102" fmla="*/ 0 w 15"/>
              <a:gd name="T103" fmla="*/ 2004 h 2453"/>
              <a:gd name="T104" fmla="*/ 15 w 15"/>
              <a:gd name="T105" fmla="*/ 2060 h 2453"/>
              <a:gd name="T106" fmla="*/ 0 w 15"/>
              <a:gd name="T107" fmla="*/ 2102 h 2453"/>
              <a:gd name="T108" fmla="*/ 15 w 15"/>
              <a:gd name="T109" fmla="*/ 2116 h 2453"/>
              <a:gd name="T110" fmla="*/ 15 w 15"/>
              <a:gd name="T111" fmla="*/ 2185 h 2453"/>
              <a:gd name="T112" fmla="*/ 0 w 15"/>
              <a:gd name="T113" fmla="*/ 2199 h 2453"/>
              <a:gd name="T114" fmla="*/ 15 w 15"/>
              <a:gd name="T115" fmla="*/ 2254 h 2453"/>
              <a:gd name="T116" fmla="*/ 0 w 15"/>
              <a:gd name="T117" fmla="*/ 2296 h 2453"/>
              <a:gd name="T118" fmla="*/ 15 w 15"/>
              <a:gd name="T119" fmla="*/ 2310 h 2453"/>
              <a:gd name="T120" fmla="*/ 15 w 15"/>
              <a:gd name="T121" fmla="*/ 2380 h 2453"/>
              <a:gd name="T122" fmla="*/ 0 w 15"/>
              <a:gd name="T123" fmla="*/ 2394 h 2453"/>
              <a:gd name="T124" fmla="*/ 15 w 15"/>
              <a:gd name="T125" fmla="*/ 2449 h 24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15" h="2453">
                <a:moveTo>
                  <a:pt x="15" y="0"/>
                </a:moveTo>
                <a:lnTo>
                  <a:pt x="15" y="14"/>
                </a:lnTo>
                <a:lnTo>
                  <a:pt x="0" y="14"/>
                </a:lnTo>
                <a:lnTo>
                  <a:pt x="0" y="0"/>
                </a:lnTo>
                <a:lnTo>
                  <a:pt x="15" y="0"/>
                </a:lnTo>
                <a:close/>
                <a:moveTo>
                  <a:pt x="15" y="28"/>
                </a:moveTo>
                <a:lnTo>
                  <a:pt x="15" y="42"/>
                </a:lnTo>
                <a:lnTo>
                  <a:pt x="0" y="42"/>
                </a:lnTo>
                <a:lnTo>
                  <a:pt x="0" y="28"/>
                </a:lnTo>
                <a:lnTo>
                  <a:pt x="15" y="28"/>
                </a:lnTo>
                <a:close/>
                <a:moveTo>
                  <a:pt x="15" y="56"/>
                </a:moveTo>
                <a:lnTo>
                  <a:pt x="15" y="70"/>
                </a:lnTo>
                <a:lnTo>
                  <a:pt x="0" y="70"/>
                </a:lnTo>
                <a:lnTo>
                  <a:pt x="0" y="56"/>
                </a:lnTo>
                <a:lnTo>
                  <a:pt x="15" y="56"/>
                </a:lnTo>
                <a:close/>
                <a:moveTo>
                  <a:pt x="15" y="84"/>
                </a:moveTo>
                <a:lnTo>
                  <a:pt x="15" y="98"/>
                </a:lnTo>
                <a:lnTo>
                  <a:pt x="0" y="98"/>
                </a:lnTo>
                <a:lnTo>
                  <a:pt x="0" y="84"/>
                </a:lnTo>
                <a:lnTo>
                  <a:pt x="15" y="84"/>
                </a:lnTo>
                <a:close/>
                <a:moveTo>
                  <a:pt x="15" y="112"/>
                </a:moveTo>
                <a:lnTo>
                  <a:pt x="15" y="126"/>
                </a:lnTo>
                <a:lnTo>
                  <a:pt x="0" y="126"/>
                </a:lnTo>
                <a:lnTo>
                  <a:pt x="0" y="112"/>
                </a:lnTo>
                <a:lnTo>
                  <a:pt x="15" y="112"/>
                </a:lnTo>
                <a:close/>
                <a:moveTo>
                  <a:pt x="15" y="140"/>
                </a:moveTo>
                <a:lnTo>
                  <a:pt x="15" y="154"/>
                </a:lnTo>
                <a:lnTo>
                  <a:pt x="0" y="154"/>
                </a:lnTo>
                <a:lnTo>
                  <a:pt x="0" y="140"/>
                </a:lnTo>
                <a:lnTo>
                  <a:pt x="15" y="140"/>
                </a:lnTo>
                <a:close/>
                <a:moveTo>
                  <a:pt x="15" y="167"/>
                </a:moveTo>
                <a:lnTo>
                  <a:pt x="15" y="181"/>
                </a:lnTo>
                <a:lnTo>
                  <a:pt x="0" y="181"/>
                </a:lnTo>
                <a:lnTo>
                  <a:pt x="0" y="167"/>
                </a:lnTo>
                <a:lnTo>
                  <a:pt x="15" y="167"/>
                </a:lnTo>
                <a:close/>
                <a:moveTo>
                  <a:pt x="15" y="195"/>
                </a:moveTo>
                <a:lnTo>
                  <a:pt x="15" y="209"/>
                </a:lnTo>
                <a:lnTo>
                  <a:pt x="0" y="209"/>
                </a:lnTo>
                <a:lnTo>
                  <a:pt x="0" y="195"/>
                </a:lnTo>
                <a:lnTo>
                  <a:pt x="15" y="195"/>
                </a:lnTo>
                <a:close/>
                <a:moveTo>
                  <a:pt x="15" y="223"/>
                </a:moveTo>
                <a:lnTo>
                  <a:pt x="15" y="237"/>
                </a:lnTo>
                <a:lnTo>
                  <a:pt x="0" y="237"/>
                </a:lnTo>
                <a:lnTo>
                  <a:pt x="0" y="223"/>
                </a:lnTo>
                <a:lnTo>
                  <a:pt x="15" y="223"/>
                </a:lnTo>
                <a:close/>
                <a:moveTo>
                  <a:pt x="15" y="251"/>
                </a:moveTo>
                <a:lnTo>
                  <a:pt x="15" y="265"/>
                </a:lnTo>
                <a:lnTo>
                  <a:pt x="0" y="265"/>
                </a:lnTo>
                <a:lnTo>
                  <a:pt x="0" y="251"/>
                </a:lnTo>
                <a:lnTo>
                  <a:pt x="15" y="251"/>
                </a:lnTo>
                <a:close/>
                <a:moveTo>
                  <a:pt x="15" y="279"/>
                </a:moveTo>
                <a:lnTo>
                  <a:pt x="15" y="293"/>
                </a:lnTo>
                <a:lnTo>
                  <a:pt x="0" y="293"/>
                </a:lnTo>
                <a:lnTo>
                  <a:pt x="0" y="279"/>
                </a:lnTo>
                <a:lnTo>
                  <a:pt x="15" y="279"/>
                </a:lnTo>
                <a:close/>
                <a:moveTo>
                  <a:pt x="15" y="307"/>
                </a:moveTo>
                <a:lnTo>
                  <a:pt x="15" y="321"/>
                </a:lnTo>
                <a:lnTo>
                  <a:pt x="0" y="321"/>
                </a:lnTo>
                <a:lnTo>
                  <a:pt x="0" y="307"/>
                </a:lnTo>
                <a:lnTo>
                  <a:pt x="15" y="307"/>
                </a:lnTo>
                <a:close/>
                <a:moveTo>
                  <a:pt x="15" y="334"/>
                </a:moveTo>
                <a:lnTo>
                  <a:pt x="15" y="348"/>
                </a:lnTo>
                <a:lnTo>
                  <a:pt x="0" y="348"/>
                </a:lnTo>
                <a:lnTo>
                  <a:pt x="0" y="334"/>
                </a:lnTo>
                <a:lnTo>
                  <a:pt x="15" y="334"/>
                </a:lnTo>
                <a:close/>
                <a:moveTo>
                  <a:pt x="15" y="362"/>
                </a:moveTo>
                <a:lnTo>
                  <a:pt x="15" y="376"/>
                </a:lnTo>
                <a:lnTo>
                  <a:pt x="0" y="376"/>
                </a:lnTo>
                <a:lnTo>
                  <a:pt x="0" y="362"/>
                </a:lnTo>
                <a:lnTo>
                  <a:pt x="15" y="362"/>
                </a:lnTo>
                <a:close/>
                <a:moveTo>
                  <a:pt x="15" y="390"/>
                </a:moveTo>
                <a:lnTo>
                  <a:pt x="15" y="404"/>
                </a:lnTo>
                <a:lnTo>
                  <a:pt x="0" y="404"/>
                </a:lnTo>
                <a:lnTo>
                  <a:pt x="0" y="390"/>
                </a:lnTo>
                <a:lnTo>
                  <a:pt x="15" y="390"/>
                </a:lnTo>
                <a:close/>
                <a:moveTo>
                  <a:pt x="15" y="418"/>
                </a:moveTo>
                <a:lnTo>
                  <a:pt x="15" y="432"/>
                </a:lnTo>
                <a:lnTo>
                  <a:pt x="0" y="432"/>
                </a:lnTo>
                <a:lnTo>
                  <a:pt x="0" y="418"/>
                </a:lnTo>
                <a:lnTo>
                  <a:pt x="15" y="418"/>
                </a:lnTo>
                <a:close/>
                <a:moveTo>
                  <a:pt x="15" y="446"/>
                </a:moveTo>
                <a:lnTo>
                  <a:pt x="15" y="460"/>
                </a:lnTo>
                <a:lnTo>
                  <a:pt x="0" y="460"/>
                </a:lnTo>
                <a:lnTo>
                  <a:pt x="0" y="446"/>
                </a:lnTo>
                <a:lnTo>
                  <a:pt x="15" y="446"/>
                </a:lnTo>
                <a:close/>
                <a:moveTo>
                  <a:pt x="15" y="474"/>
                </a:moveTo>
                <a:lnTo>
                  <a:pt x="15" y="488"/>
                </a:lnTo>
                <a:lnTo>
                  <a:pt x="0" y="488"/>
                </a:lnTo>
                <a:lnTo>
                  <a:pt x="0" y="474"/>
                </a:lnTo>
                <a:lnTo>
                  <a:pt x="15" y="474"/>
                </a:lnTo>
                <a:close/>
                <a:moveTo>
                  <a:pt x="15" y="501"/>
                </a:moveTo>
                <a:lnTo>
                  <a:pt x="15" y="515"/>
                </a:lnTo>
                <a:lnTo>
                  <a:pt x="0" y="515"/>
                </a:lnTo>
                <a:lnTo>
                  <a:pt x="0" y="501"/>
                </a:lnTo>
                <a:lnTo>
                  <a:pt x="15" y="501"/>
                </a:lnTo>
                <a:close/>
                <a:moveTo>
                  <a:pt x="15" y="529"/>
                </a:moveTo>
                <a:lnTo>
                  <a:pt x="15" y="543"/>
                </a:lnTo>
                <a:lnTo>
                  <a:pt x="0" y="543"/>
                </a:lnTo>
                <a:lnTo>
                  <a:pt x="0" y="529"/>
                </a:lnTo>
                <a:lnTo>
                  <a:pt x="15" y="529"/>
                </a:lnTo>
                <a:close/>
                <a:moveTo>
                  <a:pt x="15" y="557"/>
                </a:moveTo>
                <a:lnTo>
                  <a:pt x="15" y="571"/>
                </a:lnTo>
                <a:lnTo>
                  <a:pt x="0" y="571"/>
                </a:lnTo>
                <a:lnTo>
                  <a:pt x="0" y="557"/>
                </a:lnTo>
                <a:lnTo>
                  <a:pt x="15" y="557"/>
                </a:lnTo>
                <a:close/>
                <a:moveTo>
                  <a:pt x="15" y="585"/>
                </a:moveTo>
                <a:lnTo>
                  <a:pt x="15" y="599"/>
                </a:lnTo>
                <a:lnTo>
                  <a:pt x="0" y="599"/>
                </a:lnTo>
                <a:lnTo>
                  <a:pt x="0" y="585"/>
                </a:lnTo>
                <a:lnTo>
                  <a:pt x="15" y="585"/>
                </a:lnTo>
                <a:close/>
                <a:moveTo>
                  <a:pt x="15" y="613"/>
                </a:moveTo>
                <a:lnTo>
                  <a:pt x="15" y="627"/>
                </a:lnTo>
                <a:lnTo>
                  <a:pt x="0" y="627"/>
                </a:lnTo>
                <a:lnTo>
                  <a:pt x="0" y="613"/>
                </a:lnTo>
                <a:lnTo>
                  <a:pt x="15" y="613"/>
                </a:lnTo>
                <a:close/>
                <a:moveTo>
                  <a:pt x="15" y="641"/>
                </a:moveTo>
                <a:lnTo>
                  <a:pt x="15" y="655"/>
                </a:lnTo>
                <a:lnTo>
                  <a:pt x="0" y="655"/>
                </a:lnTo>
                <a:lnTo>
                  <a:pt x="0" y="641"/>
                </a:lnTo>
                <a:lnTo>
                  <a:pt x="15" y="641"/>
                </a:lnTo>
                <a:close/>
                <a:moveTo>
                  <a:pt x="15" y="668"/>
                </a:moveTo>
                <a:lnTo>
                  <a:pt x="15" y="682"/>
                </a:lnTo>
                <a:lnTo>
                  <a:pt x="0" y="682"/>
                </a:lnTo>
                <a:lnTo>
                  <a:pt x="0" y="668"/>
                </a:lnTo>
                <a:lnTo>
                  <a:pt x="15" y="668"/>
                </a:lnTo>
                <a:close/>
                <a:moveTo>
                  <a:pt x="15" y="696"/>
                </a:moveTo>
                <a:lnTo>
                  <a:pt x="15" y="710"/>
                </a:lnTo>
                <a:lnTo>
                  <a:pt x="0" y="710"/>
                </a:lnTo>
                <a:lnTo>
                  <a:pt x="0" y="696"/>
                </a:lnTo>
                <a:lnTo>
                  <a:pt x="15" y="696"/>
                </a:lnTo>
                <a:close/>
                <a:moveTo>
                  <a:pt x="15" y="724"/>
                </a:moveTo>
                <a:lnTo>
                  <a:pt x="15" y="738"/>
                </a:lnTo>
                <a:lnTo>
                  <a:pt x="0" y="738"/>
                </a:lnTo>
                <a:lnTo>
                  <a:pt x="0" y="724"/>
                </a:lnTo>
                <a:lnTo>
                  <a:pt x="15" y="724"/>
                </a:lnTo>
                <a:close/>
                <a:moveTo>
                  <a:pt x="15" y="752"/>
                </a:moveTo>
                <a:lnTo>
                  <a:pt x="15" y="766"/>
                </a:lnTo>
                <a:lnTo>
                  <a:pt x="0" y="766"/>
                </a:lnTo>
                <a:lnTo>
                  <a:pt x="0" y="752"/>
                </a:lnTo>
                <a:lnTo>
                  <a:pt x="15" y="752"/>
                </a:lnTo>
                <a:close/>
                <a:moveTo>
                  <a:pt x="15" y="780"/>
                </a:moveTo>
                <a:lnTo>
                  <a:pt x="15" y="793"/>
                </a:lnTo>
                <a:lnTo>
                  <a:pt x="0" y="793"/>
                </a:lnTo>
                <a:lnTo>
                  <a:pt x="0" y="780"/>
                </a:lnTo>
                <a:lnTo>
                  <a:pt x="15" y="780"/>
                </a:lnTo>
                <a:close/>
                <a:moveTo>
                  <a:pt x="15" y="808"/>
                </a:moveTo>
                <a:lnTo>
                  <a:pt x="15" y="822"/>
                </a:lnTo>
                <a:lnTo>
                  <a:pt x="0" y="822"/>
                </a:lnTo>
                <a:lnTo>
                  <a:pt x="0" y="808"/>
                </a:lnTo>
                <a:lnTo>
                  <a:pt x="15" y="808"/>
                </a:lnTo>
                <a:close/>
                <a:moveTo>
                  <a:pt x="15" y="835"/>
                </a:moveTo>
                <a:lnTo>
                  <a:pt x="15" y="849"/>
                </a:lnTo>
                <a:lnTo>
                  <a:pt x="0" y="849"/>
                </a:lnTo>
                <a:lnTo>
                  <a:pt x="0" y="835"/>
                </a:lnTo>
                <a:lnTo>
                  <a:pt x="15" y="835"/>
                </a:lnTo>
                <a:close/>
                <a:moveTo>
                  <a:pt x="15" y="863"/>
                </a:moveTo>
                <a:lnTo>
                  <a:pt x="15" y="877"/>
                </a:lnTo>
                <a:lnTo>
                  <a:pt x="0" y="877"/>
                </a:lnTo>
                <a:lnTo>
                  <a:pt x="0" y="863"/>
                </a:lnTo>
                <a:lnTo>
                  <a:pt x="15" y="863"/>
                </a:lnTo>
                <a:close/>
                <a:moveTo>
                  <a:pt x="15" y="891"/>
                </a:moveTo>
                <a:lnTo>
                  <a:pt x="15" y="905"/>
                </a:lnTo>
                <a:lnTo>
                  <a:pt x="0" y="905"/>
                </a:lnTo>
                <a:lnTo>
                  <a:pt x="0" y="891"/>
                </a:lnTo>
                <a:lnTo>
                  <a:pt x="15" y="891"/>
                </a:lnTo>
                <a:close/>
                <a:moveTo>
                  <a:pt x="15" y="919"/>
                </a:moveTo>
                <a:lnTo>
                  <a:pt x="15" y="933"/>
                </a:lnTo>
                <a:lnTo>
                  <a:pt x="0" y="933"/>
                </a:lnTo>
                <a:lnTo>
                  <a:pt x="0" y="919"/>
                </a:lnTo>
                <a:lnTo>
                  <a:pt x="15" y="919"/>
                </a:lnTo>
                <a:close/>
                <a:moveTo>
                  <a:pt x="15" y="947"/>
                </a:moveTo>
                <a:lnTo>
                  <a:pt x="15" y="960"/>
                </a:lnTo>
                <a:lnTo>
                  <a:pt x="0" y="960"/>
                </a:lnTo>
                <a:lnTo>
                  <a:pt x="0" y="947"/>
                </a:lnTo>
                <a:lnTo>
                  <a:pt x="15" y="947"/>
                </a:lnTo>
                <a:close/>
                <a:moveTo>
                  <a:pt x="15" y="974"/>
                </a:moveTo>
                <a:lnTo>
                  <a:pt x="15" y="988"/>
                </a:lnTo>
                <a:lnTo>
                  <a:pt x="0" y="988"/>
                </a:lnTo>
                <a:lnTo>
                  <a:pt x="0" y="974"/>
                </a:lnTo>
                <a:lnTo>
                  <a:pt x="15" y="974"/>
                </a:lnTo>
                <a:close/>
                <a:moveTo>
                  <a:pt x="15" y="1002"/>
                </a:moveTo>
                <a:lnTo>
                  <a:pt x="15" y="1016"/>
                </a:lnTo>
                <a:lnTo>
                  <a:pt x="0" y="1016"/>
                </a:lnTo>
                <a:lnTo>
                  <a:pt x="0" y="1002"/>
                </a:lnTo>
                <a:lnTo>
                  <a:pt x="15" y="1002"/>
                </a:lnTo>
                <a:close/>
                <a:moveTo>
                  <a:pt x="15" y="1030"/>
                </a:moveTo>
                <a:lnTo>
                  <a:pt x="15" y="1044"/>
                </a:lnTo>
                <a:lnTo>
                  <a:pt x="0" y="1044"/>
                </a:lnTo>
                <a:lnTo>
                  <a:pt x="0" y="1030"/>
                </a:lnTo>
                <a:lnTo>
                  <a:pt x="15" y="1030"/>
                </a:lnTo>
                <a:close/>
                <a:moveTo>
                  <a:pt x="15" y="1058"/>
                </a:moveTo>
                <a:lnTo>
                  <a:pt x="15" y="1072"/>
                </a:lnTo>
                <a:lnTo>
                  <a:pt x="0" y="1072"/>
                </a:lnTo>
                <a:lnTo>
                  <a:pt x="0" y="1058"/>
                </a:lnTo>
                <a:lnTo>
                  <a:pt x="15" y="1058"/>
                </a:lnTo>
                <a:close/>
                <a:moveTo>
                  <a:pt x="15" y="1086"/>
                </a:moveTo>
                <a:lnTo>
                  <a:pt x="15" y="1100"/>
                </a:lnTo>
                <a:lnTo>
                  <a:pt x="0" y="1100"/>
                </a:lnTo>
                <a:lnTo>
                  <a:pt x="0" y="1086"/>
                </a:lnTo>
                <a:lnTo>
                  <a:pt x="15" y="1086"/>
                </a:lnTo>
                <a:close/>
                <a:moveTo>
                  <a:pt x="15" y="1114"/>
                </a:moveTo>
                <a:lnTo>
                  <a:pt x="15" y="1127"/>
                </a:lnTo>
                <a:lnTo>
                  <a:pt x="0" y="1127"/>
                </a:lnTo>
                <a:lnTo>
                  <a:pt x="0" y="1114"/>
                </a:lnTo>
                <a:lnTo>
                  <a:pt x="15" y="1114"/>
                </a:lnTo>
                <a:close/>
                <a:moveTo>
                  <a:pt x="15" y="1141"/>
                </a:moveTo>
                <a:lnTo>
                  <a:pt x="15" y="1155"/>
                </a:lnTo>
                <a:lnTo>
                  <a:pt x="0" y="1155"/>
                </a:lnTo>
                <a:lnTo>
                  <a:pt x="0" y="1141"/>
                </a:lnTo>
                <a:lnTo>
                  <a:pt x="15" y="1141"/>
                </a:lnTo>
                <a:close/>
                <a:moveTo>
                  <a:pt x="15" y="1169"/>
                </a:moveTo>
                <a:lnTo>
                  <a:pt x="15" y="1183"/>
                </a:lnTo>
                <a:lnTo>
                  <a:pt x="0" y="1183"/>
                </a:lnTo>
                <a:lnTo>
                  <a:pt x="0" y="1169"/>
                </a:lnTo>
                <a:lnTo>
                  <a:pt x="15" y="1169"/>
                </a:lnTo>
                <a:close/>
                <a:moveTo>
                  <a:pt x="15" y="1197"/>
                </a:moveTo>
                <a:lnTo>
                  <a:pt x="15" y="1211"/>
                </a:lnTo>
                <a:lnTo>
                  <a:pt x="0" y="1211"/>
                </a:lnTo>
                <a:lnTo>
                  <a:pt x="0" y="1197"/>
                </a:lnTo>
                <a:lnTo>
                  <a:pt x="15" y="1197"/>
                </a:lnTo>
                <a:close/>
                <a:moveTo>
                  <a:pt x="15" y="1225"/>
                </a:moveTo>
                <a:lnTo>
                  <a:pt x="15" y="1239"/>
                </a:lnTo>
                <a:lnTo>
                  <a:pt x="0" y="1239"/>
                </a:lnTo>
                <a:lnTo>
                  <a:pt x="0" y="1225"/>
                </a:lnTo>
                <a:lnTo>
                  <a:pt x="15" y="1225"/>
                </a:lnTo>
                <a:close/>
                <a:moveTo>
                  <a:pt x="15" y="1253"/>
                </a:moveTo>
                <a:lnTo>
                  <a:pt x="15" y="1267"/>
                </a:lnTo>
                <a:lnTo>
                  <a:pt x="0" y="1267"/>
                </a:lnTo>
                <a:lnTo>
                  <a:pt x="0" y="1253"/>
                </a:lnTo>
                <a:lnTo>
                  <a:pt x="15" y="1253"/>
                </a:lnTo>
                <a:close/>
                <a:moveTo>
                  <a:pt x="15" y="1281"/>
                </a:moveTo>
                <a:lnTo>
                  <a:pt x="15" y="1294"/>
                </a:lnTo>
                <a:lnTo>
                  <a:pt x="0" y="1294"/>
                </a:lnTo>
                <a:lnTo>
                  <a:pt x="0" y="1281"/>
                </a:lnTo>
                <a:lnTo>
                  <a:pt x="15" y="1281"/>
                </a:lnTo>
                <a:close/>
                <a:moveTo>
                  <a:pt x="15" y="1308"/>
                </a:moveTo>
                <a:lnTo>
                  <a:pt x="15" y="1322"/>
                </a:lnTo>
                <a:lnTo>
                  <a:pt x="0" y="1322"/>
                </a:lnTo>
                <a:lnTo>
                  <a:pt x="0" y="1308"/>
                </a:lnTo>
                <a:lnTo>
                  <a:pt x="15" y="1308"/>
                </a:lnTo>
                <a:close/>
                <a:moveTo>
                  <a:pt x="15" y="1336"/>
                </a:moveTo>
                <a:lnTo>
                  <a:pt x="15" y="1350"/>
                </a:lnTo>
                <a:lnTo>
                  <a:pt x="0" y="1350"/>
                </a:lnTo>
                <a:lnTo>
                  <a:pt x="0" y="1336"/>
                </a:lnTo>
                <a:lnTo>
                  <a:pt x="15" y="1336"/>
                </a:lnTo>
                <a:close/>
                <a:moveTo>
                  <a:pt x="15" y="1364"/>
                </a:moveTo>
                <a:lnTo>
                  <a:pt x="15" y="1378"/>
                </a:lnTo>
                <a:lnTo>
                  <a:pt x="0" y="1378"/>
                </a:lnTo>
                <a:lnTo>
                  <a:pt x="0" y="1364"/>
                </a:lnTo>
                <a:lnTo>
                  <a:pt x="15" y="1364"/>
                </a:lnTo>
                <a:close/>
                <a:moveTo>
                  <a:pt x="15" y="1392"/>
                </a:moveTo>
                <a:lnTo>
                  <a:pt x="15" y="1406"/>
                </a:lnTo>
                <a:lnTo>
                  <a:pt x="0" y="1406"/>
                </a:lnTo>
                <a:lnTo>
                  <a:pt x="0" y="1392"/>
                </a:lnTo>
                <a:lnTo>
                  <a:pt x="15" y="1392"/>
                </a:lnTo>
                <a:close/>
                <a:moveTo>
                  <a:pt x="15" y="1420"/>
                </a:moveTo>
                <a:lnTo>
                  <a:pt x="15" y="1434"/>
                </a:lnTo>
                <a:lnTo>
                  <a:pt x="0" y="1434"/>
                </a:lnTo>
                <a:lnTo>
                  <a:pt x="0" y="1420"/>
                </a:lnTo>
                <a:lnTo>
                  <a:pt x="15" y="1420"/>
                </a:lnTo>
                <a:close/>
                <a:moveTo>
                  <a:pt x="15" y="1448"/>
                </a:moveTo>
                <a:lnTo>
                  <a:pt x="15" y="1461"/>
                </a:lnTo>
                <a:lnTo>
                  <a:pt x="0" y="1461"/>
                </a:lnTo>
                <a:lnTo>
                  <a:pt x="0" y="1448"/>
                </a:lnTo>
                <a:lnTo>
                  <a:pt x="15" y="1448"/>
                </a:lnTo>
                <a:close/>
                <a:moveTo>
                  <a:pt x="15" y="1475"/>
                </a:moveTo>
                <a:lnTo>
                  <a:pt x="15" y="1489"/>
                </a:lnTo>
                <a:lnTo>
                  <a:pt x="0" y="1489"/>
                </a:lnTo>
                <a:lnTo>
                  <a:pt x="0" y="1475"/>
                </a:lnTo>
                <a:lnTo>
                  <a:pt x="15" y="1475"/>
                </a:lnTo>
                <a:close/>
                <a:moveTo>
                  <a:pt x="15" y="1503"/>
                </a:moveTo>
                <a:lnTo>
                  <a:pt x="15" y="1517"/>
                </a:lnTo>
                <a:lnTo>
                  <a:pt x="0" y="1517"/>
                </a:lnTo>
                <a:lnTo>
                  <a:pt x="0" y="1503"/>
                </a:lnTo>
                <a:lnTo>
                  <a:pt x="15" y="1503"/>
                </a:lnTo>
                <a:close/>
                <a:moveTo>
                  <a:pt x="15" y="1531"/>
                </a:moveTo>
                <a:lnTo>
                  <a:pt x="15" y="1545"/>
                </a:lnTo>
                <a:lnTo>
                  <a:pt x="0" y="1545"/>
                </a:lnTo>
                <a:lnTo>
                  <a:pt x="0" y="1531"/>
                </a:lnTo>
                <a:lnTo>
                  <a:pt x="15" y="1531"/>
                </a:lnTo>
                <a:close/>
                <a:moveTo>
                  <a:pt x="15" y="1559"/>
                </a:moveTo>
                <a:lnTo>
                  <a:pt x="15" y="1573"/>
                </a:lnTo>
                <a:lnTo>
                  <a:pt x="0" y="1573"/>
                </a:lnTo>
                <a:lnTo>
                  <a:pt x="0" y="1559"/>
                </a:lnTo>
                <a:lnTo>
                  <a:pt x="15" y="1559"/>
                </a:lnTo>
                <a:close/>
                <a:moveTo>
                  <a:pt x="15" y="1587"/>
                </a:moveTo>
                <a:lnTo>
                  <a:pt x="15" y="1601"/>
                </a:lnTo>
                <a:lnTo>
                  <a:pt x="0" y="1601"/>
                </a:lnTo>
                <a:lnTo>
                  <a:pt x="0" y="1587"/>
                </a:lnTo>
                <a:lnTo>
                  <a:pt x="15" y="1587"/>
                </a:lnTo>
                <a:close/>
                <a:moveTo>
                  <a:pt x="15" y="1615"/>
                </a:moveTo>
                <a:lnTo>
                  <a:pt x="15" y="1628"/>
                </a:lnTo>
                <a:lnTo>
                  <a:pt x="0" y="1628"/>
                </a:lnTo>
                <a:lnTo>
                  <a:pt x="0" y="1615"/>
                </a:lnTo>
                <a:lnTo>
                  <a:pt x="15" y="1615"/>
                </a:lnTo>
                <a:close/>
                <a:moveTo>
                  <a:pt x="15" y="1642"/>
                </a:moveTo>
                <a:lnTo>
                  <a:pt x="15" y="1656"/>
                </a:lnTo>
                <a:lnTo>
                  <a:pt x="0" y="1656"/>
                </a:lnTo>
                <a:lnTo>
                  <a:pt x="0" y="1642"/>
                </a:lnTo>
                <a:lnTo>
                  <a:pt x="15" y="1642"/>
                </a:lnTo>
                <a:close/>
                <a:moveTo>
                  <a:pt x="15" y="1670"/>
                </a:moveTo>
                <a:lnTo>
                  <a:pt x="15" y="1684"/>
                </a:lnTo>
                <a:lnTo>
                  <a:pt x="0" y="1684"/>
                </a:lnTo>
                <a:lnTo>
                  <a:pt x="0" y="1670"/>
                </a:lnTo>
                <a:lnTo>
                  <a:pt x="15" y="1670"/>
                </a:lnTo>
                <a:close/>
                <a:moveTo>
                  <a:pt x="15" y="1698"/>
                </a:moveTo>
                <a:lnTo>
                  <a:pt x="15" y="1712"/>
                </a:lnTo>
                <a:lnTo>
                  <a:pt x="0" y="1712"/>
                </a:lnTo>
                <a:lnTo>
                  <a:pt x="0" y="1698"/>
                </a:lnTo>
                <a:lnTo>
                  <a:pt x="15" y="1698"/>
                </a:lnTo>
                <a:close/>
                <a:moveTo>
                  <a:pt x="15" y="1726"/>
                </a:moveTo>
                <a:lnTo>
                  <a:pt x="15" y="1740"/>
                </a:lnTo>
                <a:lnTo>
                  <a:pt x="0" y="1740"/>
                </a:lnTo>
                <a:lnTo>
                  <a:pt x="0" y="1726"/>
                </a:lnTo>
                <a:lnTo>
                  <a:pt x="15" y="1726"/>
                </a:lnTo>
                <a:close/>
                <a:moveTo>
                  <a:pt x="15" y="1754"/>
                </a:moveTo>
                <a:lnTo>
                  <a:pt x="15" y="1768"/>
                </a:lnTo>
                <a:lnTo>
                  <a:pt x="0" y="1768"/>
                </a:lnTo>
                <a:lnTo>
                  <a:pt x="0" y="1754"/>
                </a:lnTo>
                <a:lnTo>
                  <a:pt x="15" y="1754"/>
                </a:lnTo>
                <a:close/>
                <a:moveTo>
                  <a:pt x="15" y="1782"/>
                </a:moveTo>
                <a:lnTo>
                  <a:pt x="15" y="1795"/>
                </a:lnTo>
                <a:lnTo>
                  <a:pt x="0" y="1795"/>
                </a:lnTo>
                <a:lnTo>
                  <a:pt x="0" y="1782"/>
                </a:lnTo>
                <a:lnTo>
                  <a:pt x="15" y="1782"/>
                </a:lnTo>
                <a:close/>
                <a:moveTo>
                  <a:pt x="15" y="1809"/>
                </a:moveTo>
                <a:lnTo>
                  <a:pt x="15" y="1823"/>
                </a:lnTo>
                <a:lnTo>
                  <a:pt x="0" y="1823"/>
                </a:lnTo>
                <a:lnTo>
                  <a:pt x="0" y="1809"/>
                </a:lnTo>
                <a:lnTo>
                  <a:pt x="15" y="1809"/>
                </a:lnTo>
                <a:close/>
                <a:moveTo>
                  <a:pt x="15" y="1837"/>
                </a:moveTo>
                <a:lnTo>
                  <a:pt x="15" y="1851"/>
                </a:lnTo>
                <a:lnTo>
                  <a:pt x="0" y="1851"/>
                </a:lnTo>
                <a:lnTo>
                  <a:pt x="0" y="1837"/>
                </a:lnTo>
                <a:lnTo>
                  <a:pt x="15" y="1837"/>
                </a:lnTo>
                <a:close/>
                <a:moveTo>
                  <a:pt x="15" y="1865"/>
                </a:moveTo>
                <a:lnTo>
                  <a:pt x="15" y="1879"/>
                </a:lnTo>
                <a:lnTo>
                  <a:pt x="0" y="1879"/>
                </a:lnTo>
                <a:lnTo>
                  <a:pt x="0" y="1865"/>
                </a:lnTo>
                <a:lnTo>
                  <a:pt x="15" y="1865"/>
                </a:lnTo>
                <a:close/>
                <a:moveTo>
                  <a:pt x="15" y="1893"/>
                </a:moveTo>
                <a:lnTo>
                  <a:pt x="15" y="1907"/>
                </a:lnTo>
                <a:lnTo>
                  <a:pt x="0" y="1907"/>
                </a:lnTo>
                <a:lnTo>
                  <a:pt x="0" y="1893"/>
                </a:lnTo>
                <a:lnTo>
                  <a:pt x="15" y="1893"/>
                </a:lnTo>
                <a:close/>
                <a:moveTo>
                  <a:pt x="15" y="1921"/>
                </a:moveTo>
                <a:lnTo>
                  <a:pt x="15" y="1935"/>
                </a:lnTo>
                <a:lnTo>
                  <a:pt x="0" y="1935"/>
                </a:lnTo>
                <a:lnTo>
                  <a:pt x="0" y="1921"/>
                </a:lnTo>
                <a:lnTo>
                  <a:pt x="15" y="1921"/>
                </a:lnTo>
                <a:close/>
                <a:moveTo>
                  <a:pt x="15" y="1949"/>
                </a:moveTo>
                <a:lnTo>
                  <a:pt x="15" y="1962"/>
                </a:lnTo>
                <a:lnTo>
                  <a:pt x="0" y="1962"/>
                </a:lnTo>
                <a:lnTo>
                  <a:pt x="0" y="1949"/>
                </a:lnTo>
                <a:lnTo>
                  <a:pt x="15" y="1949"/>
                </a:lnTo>
                <a:close/>
                <a:moveTo>
                  <a:pt x="15" y="1976"/>
                </a:moveTo>
                <a:lnTo>
                  <a:pt x="15" y="1990"/>
                </a:lnTo>
                <a:lnTo>
                  <a:pt x="0" y="1990"/>
                </a:lnTo>
                <a:lnTo>
                  <a:pt x="0" y="1976"/>
                </a:lnTo>
                <a:lnTo>
                  <a:pt x="15" y="1976"/>
                </a:lnTo>
                <a:close/>
                <a:moveTo>
                  <a:pt x="15" y="2004"/>
                </a:moveTo>
                <a:lnTo>
                  <a:pt x="15" y="2018"/>
                </a:lnTo>
                <a:lnTo>
                  <a:pt x="0" y="2018"/>
                </a:lnTo>
                <a:lnTo>
                  <a:pt x="0" y="2004"/>
                </a:lnTo>
                <a:lnTo>
                  <a:pt x="15" y="2004"/>
                </a:lnTo>
                <a:close/>
                <a:moveTo>
                  <a:pt x="15" y="2032"/>
                </a:moveTo>
                <a:lnTo>
                  <a:pt x="15" y="2046"/>
                </a:lnTo>
                <a:lnTo>
                  <a:pt x="0" y="2046"/>
                </a:lnTo>
                <a:lnTo>
                  <a:pt x="0" y="2032"/>
                </a:lnTo>
                <a:lnTo>
                  <a:pt x="15" y="2032"/>
                </a:lnTo>
                <a:close/>
                <a:moveTo>
                  <a:pt x="15" y="2060"/>
                </a:moveTo>
                <a:lnTo>
                  <a:pt x="15" y="2074"/>
                </a:lnTo>
                <a:lnTo>
                  <a:pt x="0" y="2074"/>
                </a:lnTo>
                <a:lnTo>
                  <a:pt x="0" y="2060"/>
                </a:lnTo>
                <a:lnTo>
                  <a:pt x="15" y="2060"/>
                </a:lnTo>
                <a:close/>
                <a:moveTo>
                  <a:pt x="15" y="2087"/>
                </a:moveTo>
                <a:lnTo>
                  <a:pt x="15" y="2102"/>
                </a:lnTo>
                <a:lnTo>
                  <a:pt x="0" y="2102"/>
                </a:lnTo>
                <a:lnTo>
                  <a:pt x="0" y="2087"/>
                </a:lnTo>
                <a:lnTo>
                  <a:pt x="15" y="2087"/>
                </a:lnTo>
                <a:close/>
                <a:moveTo>
                  <a:pt x="15" y="2116"/>
                </a:moveTo>
                <a:lnTo>
                  <a:pt x="15" y="2129"/>
                </a:lnTo>
                <a:lnTo>
                  <a:pt x="0" y="2129"/>
                </a:lnTo>
                <a:lnTo>
                  <a:pt x="0" y="2116"/>
                </a:lnTo>
                <a:lnTo>
                  <a:pt x="15" y="2116"/>
                </a:lnTo>
                <a:close/>
                <a:moveTo>
                  <a:pt x="15" y="2143"/>
                </a:moveTo>
                <a:lnTo>
                  <a:pt x="15" y="2157"/>
                </a:lnTo>
                <a:lnTo>
                  <a:pt x="0" y="2157"/>
                </a:lnTo>
                <a:lnTo>
                  <a:pt x="0" y="2143"/>
                </a:lnTo>
                <a:lnTo>
                  <a:pt x="15" y="2143"/>
                </a:lnTo>
                <a:close/>
                <a:moveTo>
                  <a:pt x="15" y="2171"/>
                </a:moveTo>
                <a:lnTo>
                  <a:pt x="15" y="2185"/>
                </a:lnTo>
                <a:lnTo>
                  <a:pt x="0" y="2185"/>
                </a:lnTo>
                <a:lnTo>
                  <a:pt x="0" y="2171"/>
                </a:lnTo>
                <a:lnTo>
                  <a:pt x="15" y="2171"/>
                </a:lnTo>
                <a:close/>
                <a:moveTo>
                  <a:pt x="15" y="2199"/>
                </a:moveTo>
                <a:lnTo>
                  <a:pt x="15" y="2213"/>
                </a:lnTo>
                <a:lnTo>
                  <a:pt x="0" y="2213"/>
                </a:lnTo>
                <a:lnTo>
                  <a:pt x="0" y="2199"/>
                </a:lnTo>
                <a:lnTo>
                  <a:pt x="15" y="2199"/>
                </a:lnTo>
                <a:close/>
                <a:moveTo>
                  <a:pt x="15" y="2227"/>
                </a:moveTo>
                <a:lnTo>
                  <a:pt x="15" y="2241"/>
                </a:lnTo>
                <a:lnTo>
                  <a:pt x="0" y="2241"/>
                </a:lnTo>
                <a:lnTo>
                  <a:pt x="0" y="2227"/>
                </a:lnTo>
                <a:lnTo>
                  <a:pt x="15" y="2227"/>
                </a:lnTo>
                <a:close/>
                <a:moveTo>
                  <a:pt x="15" y="2254"/>
                </a:moveTo>
                <a:lnTo>
                  <a:pt x="15" y="2268"/>
                </a:lnTo>
                <a:lnTo>
                  <a:pt x="0" y="2268"/>
                </a:lnTo>
                <a:lnTo>
                  <a:pt x="0" y="2254"/>
                </a:lnTo>
                <a:lnTo>
                  <a:pt x="15" y="2254"/>
                </a:lnTo>
                <a:close/>
                <a:moveTo>
                  <a:pt x="15" y="2283"/>
                </a:moveTo>
                <a:lnTo>
                  <a:pt x="15" y="2296"/>
                </a:lnTo>
                <a:lnTo>
                  <a:pt x="0" y="2296"/>
                </a:lnTo>
                <a:lnTo>
                  <a:pt x="0" y="2283"/>
                </a:lnTo>
                <a:lnTo>
                  <a:pt x="15" y="2283"/>
                </a:lnTo>
                <a:close/>
                <a:moveTo>
                  <a:pt x="15" y="2310"/>
                </a:moveTo>
                <a:lnTo>
                  <a:pt x="15" y="2324"/>
                </a:lnTo>
                <a:lnTo>
                  <a:pt x="0" y="2324"/>
                </a:lnTo>
                <a:lnTo>
                  <a:pt x="0" y="2310"/>
                </a:lnTo>
                <a:lnTo>
                  <a:pt x="15" y="2310"/>
                </a:lnTo>
                <a:close/>
                <a:moveTo>
                  <a:pt x="15" y="2338"/>
                </a:moveTo>
                <a:lnTo>
                  <a:pt x="15" y="2352"/>
                </a:lnTo>
                <a:lnTo>
                  <a:pt x="0" y="2352"/>
                </a:lnTo>
                <a:lnTo>
                  <a:pt x="0" y="2338"/>
                </a:lnTo>
                <a:lnTo>
                  <a:pt x="15" y="2338"/>
                </a:lnTo>
                <a:close/>
                <a:moveTo>
                  <a:pt x="15" y="2366"/>
                </a:moveTo>
                <a:lnTo>
                  <a:pt x="15" y="2380"/>
                </a:lnTo>
                <a:lnTo>
                  <a:pt x="0" y="2380"/>
                </a:lnTo>
                <a:lnTo>
                  <a:pt x="0" y="2366"/>
                </a:lnTo>
                <a:lnTo>
                  <a:pt x="15" y="2366"/>
                </a:lnTo>
                <a:close/>
                <a:moveTo>
                  <a:pt x="15" y="2394"/>
                </a:moveTo>
                <a:lnTo>
                  <a:pt x="15" y="2408"/>
                </a:lnTo>
                <a:lnTo>
                  <a:pt x="0" y="2408"/>
                </a:lnTo>
                <a:lnTo>
                  <a:pt x="0" y="2394"/>
                </a:lnTo>
                <a:lnTo>
                  <a:pt x="15" y="2394"/>
                </a:lnTo>
                <a:close/>
                <a:moveTo>
                  <a:pt x="15" y="2421"/>
                </a:moveTo>
                <a:lnTo>
                  <a:pt x="15" y="2435"/>
                </a:lnTo>
                <a:lnTo>
                  <a:pt x="0" y="2435"/>
                </a:lnTo>
                <a:lnTo>
                  <a:pt x="0" y="2421"/>
                </a:lnTo>
                <a:lnTo>
                  <a:pt x="15" y="2421"/>
                </a:lnTo>
                <a:close/>
                <a:moveTo>
                  <a:pt x="15" y="2449"/>
                </a:moveTo>
                <a:lnTo>
                  <a:pt x="15" y="2453"/>
                </a:lnTo>
                <a:lnTo>
                  <a:pt x="0" y="2453"/>
                </a:lnTo>
                <a:lnTo>
                  <a:pt x="0" y="2449"/>
                </a:lnTo>
                <a:lnTo>
                  <a:pt x="15" y="2449"/>
                </a:lnTo>
                <a:close/>
              </a:path>
            </a:pathLst>
          </a:custGeom>
          <a:solidFill>
            <a:srgbClr val="000000"/>
          </a:solidFill>
          <a:ln w="0" cap="flat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37" name="Freeform 34">
            <a:extLst>
              <a:ext uri="{FF2B5EF4-FFF2-40B4-BE49-F238E27FC236}">
                <a16:creationId xmlns:a16="http://schemas.microsoft.com/office/drawing/2014/main" id="{83364B50-8CA4-4A01-9F54-D16D2D730202}"/>
              </a:ext>
            </a:extLst>
          </p:cNvPr>
          <p:cNvSpPr>
            <a:spLocks noEditPoints="1"/>
          </p:cNvSpPr>
          <p:nvPr/>
        </p:nvSpPr>
        <p:spPr bwMode="auto">
          <a:xfrm>
            <a:off x="7948248" y="2267962"/>
            <a:ext cx="22225" cy="3894138"/>
          </a:xfrm>
          <a:custGeom>
            <a:avLst/>
            <a:gdLst>
              <a:gd name="T0" fmla="*/ 14 w 14"/>
              <a:gd name="T1" fmla="*/ 42 h 2453"/>
              <a:gd name="T2" fmla="*/ 0 w 14"/>
              <a:gd name="T3" fmla="*/ 56 h 2453"/>
              <a:gd name="T4" fmla="*/ 14 w 14"/>
              <a:gd name="T5" fmla="*/ 112 h 2453"/>
              <a:gd name="T6" fmla="*/ 0 w 14"/>
              <a:gd name="T7" fmla="*/ 154 h 2453"/>
              <a:gd name="T8" fmla="*/ 14 w 14"/>
              <a:gd name="T9" fmla="*/ 167 h 2453"/>
              <a:gd name="T10" fmla="*/ 14 w 14"/>
              <a:gd name="T11" fmla="*/ 237 h 2453"/>
              <a:gd name="T12" fmla="*/ 0 w 14"/>
              <a:gd name="T13" fmla="*/ 251 h 2453"/>
              <a:gd name="T14" fmla="*/ 14 w 14"/>
              <a:gd name="T15" fmla="*/ 307 h 2453"/>
              <a:gd name="T16" fmla="*/ 0 w 14"/>
              <a:gd name="T17" fmla="*/ 348 h 2453"/>
              <a:gd name="T18" fmla="*/ 14 w 14"/>
              <a:gd name="T19" fmla="*/ 362 h 2453"/>
              <a:gd name="T20" fmla="*/ 14 w 14"/>
              <a:gd name="T21" fmla="*/ 432 h 2453"/>
              <a:gd name="T22" fmla="*/ 0 w 14"/>
              <a:gd name="T23" fmla="*/ 446 h 2453"/>
              <a:gd name="T24" fmla="*/ 14 w 14"/>
              <a:gd name="T25" fmla="*/ 501 h 2453"/>
              <a:gd name="T26" fmla="*/ 0 w 14"/>
              <a:gd name="T27" fmla="*/ 543 h 2453"/>
              <a:gd name="T28" fmla="*/ 14 w 14"/>
              <a:gd name="T29" fmla="*/ 557 h 2453"/>
              <a:gd name="T30" fmla="*/ 14 w 14"/>
              <a:gd name="T31" fmla="*/ 627 h 2453"/>
              <a:gd name="T32" fmla="*/ 0 w 14"/>
              <a:gd name="T33" fmla="*/ 641 h 2453"/>
              <a:gd name="T34" fmla="*/ 14 w 14"/>
              <a:gd name="T35" fmla="*/ 696 h 2453"/>
              <a:gd name="T36" fmla="*/ 0 w 14"/>
              <a:gd name="T37" fmla="*/ 738 h 2453"/>
              <a:gd name="T38" fmla="*/ 14 w 14"/>
              <a:gd name="T39" fmla="*/ 752 h 2453"/>
              <a:gd name="T40" fmla="*/ 14 w 14"/>
              <a:gd name="T41" fmla="*/ 822 h 2453"/>
              <a:gd name="T42" fmla="*/ 0 w 14"/>
              <a:gd name="T43" fmla="*/ 835 h 2453"/>
              <a:gd name="T44" fmla="*/ 14 w 14"/>
              <a:gd name="T45" fmla="*/ 891 h 2453"/>
              <a:gd name="T46" fmla="*/ 0 w 14"/>
              <a:gd name="T47" fmla="*/ 933 h 2453"/>
              <a:gd name="T48" fmla="*/ 14 w 14"/>
              <a:gd name="T49" fmla="*/ 947 h 2453"/>
              <a:gd name="T50" fmla="*/ 14 w 14"/>
              <a:gd name="T51" fmla="*/ 1016 h 2453"/>
              <a:gd name="T52" fmla="*/ 0 w 14"/>
              <a:gd name="T53" fmla="*/ 1030 h 2453"/>
              <a:gd name="T54" fmla="*/ 14 w 14"/>
              <a:gd name="T55" fmla="*/ 1086 h 2453"/>
              <a:gd name="T56" fmla="*/ 0 w 14"/>
              <a:gd name="T57" fmla="*/ 1127 h 2453"/>
              <a:gd name="T58" fmla="*/ 14 w 14"/>
              <a:gd name="T59" fmla="*/ 1141 h 2453"/>
              <a:gd name="T60" fmla="*/ 14 w 14"/>
              <a:gd name="T61" fmla="*/ 1211 h 2453"/>
              <a:gd name="T62" fmla="*/ 0 w 14"/>
              <a:gd name="T63" fmla="*/ 1225 h 2453"/>
              <a:gd name="T64" fmla="*/ 14 w 14"/>
              <a:gd name="T65" fmla="*/ 1281 h 2453"/>
              <a:gd name="T66" fmla="*/ 0 w 14"/>
              <a:gd name="T67" fmla="*/ 1322 h 2453"/>
              <a:gd name="T68" fmla="*/ 14 w 14"/>
              <a:gd name="T69" fmla="*/ 1336 h 2453"/>
              <a:gd name="T70" fmla="*/ 14 w 14"/>
              <a:gd name="T71" fmla="*/ 1406 h 2453"/>
              <a:gd name="T72" fmla="*/ 0 w 14"/>
              <a:gd name="T73" fmla="*/ 1420 h 2453"/>
              <a:gd name="T74" fmla="*/ 14 w 14"/>
              <a:gd name="T75" fmla="*/ 1475 h 2453"/>
              <a:gd name="T76" fmla="*/ 0 w 14"/>
              <a:gd name="T77" fmla="*/ 1517 h 2453"/>
              <a:gd name="T78" fmla="*/ 14 w 14"/>
              <a:gd name="T79" fmla="*/ 1531 h 2453"/>
              <a:gd name="T80" fmla="*/ 14 w 14"/>
              <a:gd name="T81" fmla="*/ 1601 h 2453"/>
              <a:gd name="T82" fmla="*/ 0 w 14"/>
              <a:gd name="T83" fmla="*/ 1615 h 2453"/>
              <a:gd name="T84" fmla="*/ 14 w 14"/>
              <a:gd name="T85" fmla="*/ 1670 h 2453"/>
              <a:gd name="T86" fmla="*/ 0 w 14"/>
              <a:gd name="T87" fmla="*/ 1712 h 2453"/>
              <a:gd name="T88" fmla="*/ 14 w 14"/>
              <a:gd name="T89" fmla="*/ 1726 h 2453"/>
              <a:gd name="T90" fmla="*/ 14 w 14"/>
              <a:gd name="T91" fmla="*/ 1795 h 2453"/>
              <a:gd name="T92" fmla="*/ 0 w 14"/>
              <a:gd name="T93" fmla="*/ 1809 h 2453"/>
              <a:gd name="T94" fmla="*/ 14 w 14"/>
              <a:gd name="T95" fmla="*/ 1865 h 2453"/>
              <a:gd name="T96" fmla="*/ 0 w 14"/>
              <a:gd name="T97" fmla="*/ 1907 h 2453"/>
              <a:gd name="T98" fmla="*/ 14 w 14"/>
              <a:gd name="T99" fmla="*/ 1921 h 2453"/>
              <a:gd name="T100" fmla="*/ 14 w 14"/>
              <a:gd name="T101" fmla="*/ 1990 h 2453"/>
              <a:gd name="T102" fmla="*/ 0 w 14"/>
              <a:gd name="T103" fmla="*/ 2004 h 2453"/>
              <a:gd name="T104" fmla="*/ 14 w 14"/>
              <a:gd name="T105" fmla="*/ 2060 h 2453"/>
              <a:gd name="T106" fmla="*/ 0 w 14"/>
              <a:gd name="T107" fmla="*/ 2102 h 2453"/>
              <a:gd name="T108" fmla="*/ 14 w 14"/>
              <a:gd name="T109" fmla="*/ 2116 h 2453"/>
              <a:gd name="T110" fmla="*/ 14 w 14"/>
              <a:gd name="T111" fmla="*/ 2185 h 2453"/>
              <a:gd name="T112" fmla="*/ 0 w 14"/>
              <a:gd name="T113" fmla="*/ 2199 h 2453"/>
              <a:gd name="T114" fmla="*/ 14 w 14"/>
              <a:gd name="T115" fmla="*/ 2254 h 2453"/>
              <a:gd name="T116" fmla="*/ 0 w 14"/>
              <a:gd name="T117" fmla="*/ 2296 h 2453"/>
              <a:gd name="T118" fmla="*/ 14 w 14"/>
              <a:gd name="T119" fmla="*/ 2310 h 2453"/>
              <a:gd name="T120" fmla="*/ 14 w 14"/>
              <a:gd name="T121" fmla="*/ 2380 h 2453"/>
              <a:gd name="T122" fmla="*/ 0 w 14"/>
              <a:gd name="T123" fmla="*/ 2394 h 2453"/>
              <a:gd name="T124" fmla="*/ 14 w 14"/>
              <a:gd name="T125" fmla="*/ 2449 h 24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14" h="2453">
                <a:moveTo>
                  <a:pt x="14" y="0"/>
                </a:moveTo>
                <a:lnTo>
                  <a:pt x="14" y="14"/>
                </a:lnTo>
                <a:lnTo>
                  <a:pt x="0" y="14"/>
                </a:lnTo>
                <a:lnTo>
                  <a:pt x="0" y="0"/>
                </a:lnTo>
                <a:lnTo>
                  <a:pt x="14" y="0"/>
                </a:lnTo>
                <a:close/>
                <a:moveTo>
                  <a:pt x="14" y="28"/>
                </a:moveTo>
                <a:lnTo>
                  <a:pt x="14" y="42"/>
                </a:lnTo>
                <a:lnTo>
                  <a:pt x="0" y="42"/>
                </a:lnTo>
                <a:lnTo>
                  <a:pt x="0" y="28"/>
                </a:lnTo>
                <a:lnTo>
                  <a:pt x="14" y="28"/>
                </a:lnTo>
                <a:close/>
                <a:moveTo>
                  <a:pt x="14" y="56"/>
                </a:moveTo>
                <a:lnTo>
                  <a:pt x="14" y="70"/>
                </a:lnTo>
                <a:lnTo>
                  <a:pt x="0" y="70"/>
                </a:lnTo>
                <a:lnTo>
                  <a:pt x="0" y="56"/>
                </a:lnTo>
                <a:lnTo>
                  <a:pt x="14" y="56"/>
                </a:lnTo>
                <a:close/>
                <a:moveTo>
                  <a:pt x="14" y="84"/>
                </a:moveTo>
                <a:lnTo>
                  <a:pt x="14" y="98"/>
                </a:lnTo>
                <a:lnTo>
                  <a:pt x="0" y="98"/>
                </a:lnTo>
                <a:lnTo>
                  <a:pt x="0" y="84"/>
                </a:lnTo>
                <a:lnTo>
                  <a:pt x="14" y="84"/>
                </a:lnTo>
                <a:close/>
                <a:moveTo>
                  <a:pt x="14" y="112"/>
                </a:moveTo>
                <a:lnTo>
                  <a:pt x="14" y="126"/>
                </a:lnTo>
                <a:lnTo>
                  <a:pt x="0" y="126"/>
                </a:lnTo>
                <a:lnTo>
                  <a:pt x="0" y="112"/>
                </a:lnTo>
                <a:lnTo>
                  <a:pt x="14" y="112"/>
                </a:lnTo>
                <a:close/>
                <a:moveTo>
                  <a:pt x="14" y="140"/>
                </a:moveTo>
                <a:lnTo>
                  <a:pt x="14" y="154"/>
                </a:lnTo>
                <a:lnTo>
                  <a:pt x="0" y="154"/>
                </a:lnTo>
                <a:lnTo>
                  <a:pt x="0" y="140"/>
                </a:lnTo>
                <a:lnTo>
                  <a:pt x="14" y="140"/>
                </a:lnTo>
                <a:close/>
                <a:moveTo>
                  <a:pt x="14" y="167"/>
                </a:moveTo>
                <a:lnTo>
                  <a:pt x="14" y="181"/>
                </a:lnTo>
                <a:lnTo>
                  <a:pt x="0" y="181"/>
                </a:lnTo>
                <a:lnTo>
                  <a:pt x="0" y="167"/>
                </a:lnTo>
                <a:lnTo>
                  <a:pt x="14" y="167"/>
                </a:lnTo>
                <a:close/>
                <a:moveTo>
                  <a:pt x="14" y="195"/>
                </a:moveTo>
                <a:lnTo>
                  <a:pt x="14" y="209"/>
                </a:lnTo>
                <a:lnTo>
                  <a:pt x="0" y="209"/>
                </a:lnTo>
                <a:lnTo>
                  <a:pt x="0" y="195"/>
                </a:lnTo>
                <a:lnTo>
                  <a:pt x="14" y="195"/>
                </a:lnTo>
                <a:close/>
                <a:moveTo>
                  <a:pt x="14" y="223"/>
                </a:moveTo>
                <a:lnTo>
                  <a:pt x="14" y="237"/>
                </a:lnTo>
                <a:lnTo>
                  <a:pt x="0" y="237"/>
                </a:lnTo>
                <a:lnTo>
                  <a:pt x="0" y="223"/>
                </a:lnTo>
                <a:lnTo>
                  <a:pt x="14" y="223"/>
                </a:lnTo>
                <a:close/>
                <a:moveTo>
                  <a:pt x="14" y="251"/>
                </a:moveTo>
                <a:lnTo>
                  <a:pt x="14" y="265"/>
                </a:lnTo>
                <a:lnTo>
                  <a:pt x="0" y="265"/>
                </a:lnTo>
                <a:lnTo>
                  <a:pt x="0" y="251"/>
                </a:lnTo>
                <a:lnTo>
                  <a:pt x="14" y="251"/>
                </a:lnTo>
                <a:close/>
                <a:moveTo>
                  <a:pt x="14" y="279"/>
                </a:moveTo>
                <a:lnTo>
                  <a:pt x="14" y="293"/>
                </a:lnTo>
                <a:lnTo>
                  <a:pt x="0" y="293"/>
                </a:lnTo>
                <a:lnTo>
                  <a:pt x="0" y="279"/>
                </a:lnTo>
                <a:lnTo>
                  <a:pt x="14" y="279"/>
                </a:lnTo>
                <a:close/>
                <a:moveTo>
                  <a:pt x="14" y="307"/>
                </a:moveTo>
                <a:lnTo>
                  <a:pt x="14" y="321"/>
                </a:lnTo>
                <a:lnTo>
                  <a:pt x="0" y="321"/>
                </a:lnTo>
                <a:lnTo>
                  <a:pt x="0" y="307"/>
                </a:lnTo>
                <a:lnTo>
                  <a:pt x="14" y="307"/>
                </a:lnTo>
                <a:close/>
                <a:moveTo>
                  <a:pt x="14" y="334"/>
                </a:moveTo>
                <a:lnTo>
                  <a:pt x="14" y="348"/>
                </a:lnTo>
                <a:lnTo>
                  <a:pt x="0" y="348"/>
                </a:lnTo>
                <a:lnTo>
                  <a:pt x="0" y="334"/>
                </a:lnTo>
                <a:lnTo>
                  <a:pt x="14" y="334"/>
                </a:lnTo>
                <a:close/>
                <a:moveTo>
                  <a:pt x="14" y="362"/>
                </a:moveTo>
                <a:lnTo>
                  <a:pt x="14" y="376"/>
                </a:lnTo>
                <a:lnTo>
                  <a:pt x="0" y="376"/>
                </a:lnTo>
                <a:lnTo>
                  <a:pt x="0" y="362"/>
                </a:lnTo>
                <a:lnTo>
                  <a:pt x="14" y="362"/>
                </a:lnTo>
                <a:close/>
                <a:moveTo>
                  <a:pt x="14" y="390"/>
                </a:moveTo>
                <a:lnTo>
                  <a:pt x="14" y="404"/>
                </a:lnTo>
                <a:lnTo>
                  <a:pt x="0" y="404"/>
                </a:lnTo>
                <a:lnTo>
                  <a:pt x="0" y="390"/>
                </a:lnTo>
                <a:lnTo>
                  <a:pt x="14" y="390"/>
                </a:lnTo>
                <a:close/>
                <a:moveTo>
                  <a:pt x="14" y="418"/>
                </a:moveTo>
                <a:lnTo>
                  <a:pt x="14" y="432"/>
                </a:lnTo>
                <a:lnTo>
                  <a:pt x="0" y="432"/>
                </a:lnTo>
                <a:lnTo>
                  <a:pt x="0" y="418"/>
                </a:lnTo>
                <a:lnTo>
                  <a:pt x="14" y="418"/>
                </a:lnTo>
                <a:close/>
                <a:moveTo>
                  <a:pt x="14" y="446"/>
                </a:moveTo>
                <a:lnTo>
                  <a:pt x="14" y="460"/>
                </a:lnTo>
                <a:lnTo>
                  <a:pt x="0" y="460"/>
                </a:lnTo>
                <a:lnTo>
                  <a:pt x="0" y="446"/>
                </a:lnTo>
                <a:lnTo>
                  <a:pt x="14" y="446"/>
                </a:lnTo>
                <a:close/>
                <a:moveTo>
                  <a:pt x="14" y="474"/>
                </a:moveTo>
                <a:lnTo>
                  <a:pt x="14" y="488"/>
                </a:lnTo>
                <a:lnTo>
                  <a:pt x="0" y="488"/>
                </a:lnTo>
                <a:lnTo>
                  <a:pt x="0" y="474"/>
                </a:lnTo>
                <a:lnTo>
                  <a:pt x="14" y="474"/>
                </a:lnTo>
                <a:close/>
                <a:moveTo>
                  <a:pt x="14" y="501"/>
                </a:moveTo>
                <a:lnTo>
                  <a:pt x="14" y="515"/>
                </a:lnTo>
                <a:lnTo>
                  <a:pt x="0" y="515"/>
                </a:lnTo>
                <a:lnTo>
                  <a:pt x="0" y="501"/>
                </a:lnTo>
                <a:lnTo>
                  <a:pt x="14" y="501"/>
                </a:lnTo>
                <a:close/>
                <a:moveTo>
                  <a:pt x="14" y="529"/>
                </a:moveTo>
                <a:lnTo>
                  <a:pt x="14" y="543"/>
                </a:lnTo>
                <a:lnTo>
                  <a:pt x="0" y="543"/>
                </a:lnTo>
                <a:lnTo>
                  <a:pt x="0" y="529"/>
                </a:lnTo>
                <a:lnTo>
                  <a:pt x="14" y="529"/>
                </a:lnTo>
                <a:close/>
                <a:moveTo>
                  <a:pt x="14" y="557"/>
                </a:moveTo>
                <a:lnTo>
                  <a:pt x="14" y="571"/>
                </a:lnTo>
                <a:lnTo>
                  <a:pt x="0" y="571"/>
                </a:lnTo>
                <a:lnTo>
                  <a:pt x="0" y="557"/>
                </a:lnTo>
                <a:lnTo>
                  <a:pt x="14" y="557"/>
                </a:lnTo>
                <a:close/>
                <a:moveTo>
                  <a:pt x="14" y="585"/>
                </a:moveTo>
                <a:lnTo>
                  <a:pt x="14" y="599"/>
                </a:lnTo>
                <a:lnTo>
                  <a:pt x="0" y="599"/>
                </a:lnTo>
                <a:lnTo>
                  <a:pt x="0" y="585"/>
                </a:lnTo>
                <a:lnTo>
                  <a:pt x="14" y="585"/>
                </a:lnTo>
                <a:close/>
                <a:moveTo>
                  <a:pt x="14" y="613"/>
                </a:moveTo>
                <a:lnTo>
                  <a:pt x="14" y="627"/>
                </a:lnTo>
                <a:lnTo>
                  <a:pt x="0" y="627"/>
                </a:lnTo>
                <a:lnTo>
                  <a:pt x="0" y="613"/>
                </a:lnTo>
                <a:lnTo>
                  <a:pt x="14" y="613"/>
                </a:lnTo>
                <a:close/>
                <a:moveTo>
                  <a:pt x="14" y="641"/>
                </a:moveTo>
                <a:lnTo>
                  <a:pt x="14" y="655"/>
                </a:lnTo>
                <a:lnTo>
                  <a:pt x="0" y="655"/>
                </a:lnTo>
                <a:lnTo>
                  <a:pt x="0" y="641"/>
                </a:lnTo>
                <a:lnTo>
                  <a:pt x="14" y="641"/>
                </a:lnTo>
                <a:close/>
                <a:moveTo>
                  <a:pt x="14" y="668"/>
                </a:moveTo>
                <a:lnTo>
                  <a:pt x="14" y="682"/>
                </a:lnTo>
                <a:lnTo>
                  <a:pt x="0" y="682"/>
                </a:lnTo>
                <a:lnTo>
                  <a:pt x="0" y="668"/>
                </a:lnTo>
                <a:lnTo>
                  <a:pt x="14" y="668"/>
                </a:lnTo>
                <a:close/>
                <a:moveTo>
                  <a:pt x="14" y="696"/>
                </a:moveTo>
                <a:lnTo>
                  <a:pt x="14" y="710"/>
                </a:lnTo>
                <a:lnTo>
                  <a:pt x="0" y="710"/>
                </a:lnTo>
                <a:lnTo>
                  <a:pt x="0" y="696"/>
                </a:lnTo>
                <a:lnTo>
                  <a:pt x="14" y="696"/>
                </a:lnTo>
                <a:close/>
                <a:moveTo>
                  <a:pt x="14" y="724"/>
                </a:moveTo>
                <a:lnTo>
                  <a:pt x="14" y="738"/>
                </a:lnTo>
                <a:lnTo>
                  <a:pt x="0" y="738"/>
                </a:lnTo>
                <a:lnTo>
                  <a:pt x="0" y="724"/>
                </a:lnTo>
                <a:lnTo>
                  <a:pt x="14" y="724"/>
                </a:lnTo>
                <a:close/>
                <a:moveTo>
                  <a:pt x="14" y="752"/>
                </a:moveTo>
                <a:lnTo>
                  <a:pt x="14" y="766"/>
                </a:lnTo>
                <a:lnTo>
                  <a:pt x="0" y="766"/>
                </a:lnTo>
                <a:lnTo>
                  <a:pt x="0" y="752"/>
                </a:lnTo>
                <a:lnTo>
                  <a:pt x="14" y="752"/>
                </a:lnTo>
                <a:close/>
                <a:moveTo>
                  <a:pt x="14" y="780"/>
                </a:moveTo>
                <a:lnTo>
                  <a:pt x="14" y="793"/>
                </a:lnTo>
                <a:lnTo>
                  <a:pt x="0" y="793"/>
                </a:lnTo>
                <a:lnTo>
                  <a:pt x="0" y="780"/>
                </a:lnTo>
                <a:lnTo>
                  <a:pt x="14" y="780"/>
                </a:lnTo>
                <a:close/>
                <a:moveTo>
                  <a:pt x="14" y="808"/>
                </a:moveTo>
                <a:lnTo>
                  <a:pt x="14" y="822"/>
                </a:lnTo>
                <a:lnTo>
                  <a:pt x="0" y="822"/>
                </a:lnTo>
                <a:lnTo>
                  <a:pt x="0" y="808"/>
                </a:lnTo>
                <a:lnTo>
                  <a:pt x="14" y="808"/>
                </a:lnTo>
                <a:close/>
                <a:moveTo>
                  <a:pt x="14" y="835"/>
                </a:moveTo>
                <a:lnTo>
                  <a:pt x="14" y="849"/>
                </a:lnTo>
                <a:lnTo>
                  <a:pt x="0" y="849"/>
                </a:lnTo>
                <a:lnTo>
                  <a:pt x="0" y="835"/>
                </a:lnTo>
                <a:lnTo>
                  <a:pt x="14" y="835"/>
                </a:lnTo>
                <a:close/>
                <a:moveTo>
                  <a:pt x="14" y="863"/>
                </a:moveTo>
                <a:lnTo>
                  <a:pt x="14" y="877"/>
                </a:lnTo>
                <a:lnTo>
                  <a:pt x="0" y="877"/>
                </a:lnTo>
                <a:lnTo>
                  <a:pt x="0" y="863"/>
                </a:lnTo>
                <a:lnTo>
                  <a:pt x="14" y="863"/>
                </a:lnTo>
                <a:close/>
                <a:moveTo>
                  <a:pt x="14" y="891"/>
                </a:moveTo>
                <a:lnTo>
                  <a:pt x="14" y="905"/>
                </a:lnTo>
                <a:lnTo>
                  <a:pt x="0" y="905"/>
                </a:lnTo>
                <a:lnTo>
                  <a:pt x="0" y="891"/>
                </a:lnTo>
                <a:lnTo>
                  <a:pt x="14" y="891"/>
                </a:lnTo>
                <a:close/>
                <a:moveTo>
                  <a:pt x="14" y="919"/>
                </a:moveTo>
                <a:lnTo>
                  <a:pt x="14" y="933"/>
                </a:lnTo>
                <a:lnTo>
                  <a:pt x="0" y="933"/>
                </a:lnTo>
                <a:lnTo>
                  <a:pt x="0" y="919"/>
                </a:lnTo>
                <a:lnTo>
                  <a:pt x="14" y="919"/>
                </a:lnTo>
                <a:close/>
                <a:moveTo>
                  <a:pt x="14" y="947"/>
                </a:moveTo>
                <a:lnTo>
                  <a:pt x="14" y="960"/>
                </a:lnTo>
                <a:lnTo>
                  <a:pt x="0" y="960"/>
                </a:lnTo>
                <a:lnTo>
                  <a:pt x="0" y="947"/>
                </a:lnTo>
                <a:lnTo>
                  <a:pt x="14" y="947"/>
                </a:lnTo>
                <a:close/>
                <a:moveTo>
                  <a:pt x="14" y="974"/>
                </a:moveTo>
                <a:lnTo>
                  <a:pt x="14" y="988"/>
                </a:lnTo>
                <a:lnTo>
                  <a:pt x="0" y="988"/>
                </a:lnTo>
                <a:lnTo>
                  <a:pt x="0" y="974"/>
                </a:lnTo>
                <a:lnTo>
                  <a:pt x="14" y="974"/>
                </a:lnTo>
                <a:close/>
                <a:moveTo>
                  <a:pt x="14" y="1002"/>
                </a:moveTo>
                <a:lnTo>
                  <a:pt x="14" y="1016"/>
                </a:lnTo>
                <a:lnTo>
                  <a:pt x="0" y="1016"/>
                </a:lnTo>
                <a:lnTo>
                  <a:pt x="0" y="1002"/>
                </a:lnTo>
                <a:lnTo>
                  <a:pt x="14" y="1002"/>
                </a:lnTo>
                <a:close/>
                <a:moveTo>
                  <a:pt x="14" y="1030"/>
                </a:moveTo>
                <a:lnTo>
                  <a:pt x="14" y="1044"/>
                </a:lnTo>
                <a:lnTo>
                  <a:pt x="0" y="1044"/>
                </a:lnTo>
                <a:lnTo>
                  <a:pt x="0" y="1030"/>
                </a:lnTo>
                <a:lnTo>
                  <a:pt x="14" y="1030"/>
                </a:lnTo>
                <a:close/>
                <a:moveTo>
                  <a:pt x="14" y="1058"/>
                </a:moveTo>
                <a:lnTo>
                  <a:pt x="14" y="1072"/>
                </a:lnTo>
                <a:lnTo>
                  <a:pt x="0" y="1072"/>
                </a:lnTo>
                <a:lnTo>
                  <a:pt x="0" y="1058"/>
                </a:lnTo>
                <a:lnTo>
                  <a:pt x="14" y="1058"/>
                </a:lnTo>
                <a:close/>
                <a:moveTo>
                  <a:pt x="14" y="1086"/>
                </a:moveTo>
                <a:lnTo>
                  <a:pt x="14" y="1100"/>
                </a:lnTo>
                <a:lnTo>
                  <a:pt x="0" y="1100"/>
                </a:lnTo>
                <a:lnTo>
                  <a:pt x="0" y="1086"/>
                </a:lnTo>
                <a:lnTo>
                  <a:pt x="14" y="1086"/>
                </a:lnTo>
                <a:close/>
                <a:moveTo>
                  <a:pt x="14" y="1114"/>
                </a:moveTo>
                <a:lnTo>
                  <a:pt x="14" y="1127"/>
                </a:lnTo>
                <a:lnTo>
                  <a:pt x="0" y="1127"/>
                </a:lnTo>
                <a:lnTo>
                  <a:pt x="0" y="1114"/>
                </a:lnTo>
                <a:lnTo>
                  <a:pt x="14" y="1114"/>
                </a:lnTo>
                <a:close/>
                <a:moveTo>
                  <a:pt x="14" y="1141"/>
                </a:moveTo>
                <a:lnTo>
                  <a:pt x="14" y="1155"/>
                </a:lnTo>
                <a:lnTo>
                  <a:pt x="0" y="1155"/>
                </a:lnTo>
                <a:lnTo>
                  <a:pt x="0" y="1141"/>
                </a:lnTo>
                <a:lnTo>
                  <a:pt x="14" y="1141"/>
                </a:lnTo>
                <a:close/>
                <a:moveTo>
                  <a:pt x="14" y="1169"/>
                </a:moveTo>
                <a:lnTo>
                  <a:pt x="14" y="1183"/>
                </a:lnTo>
                <a:lnTo>
                  <a:pt x="0" y="1183"/>
                </a:lnTo>
                <a:lnTo>
                  <a:pt x="0" y="1169"/>
                </a:lnTo>
                <a:lnTo>
                  <a:pt x="14" y="1169"/>
                </a:lnTo>
                <a:close/>
                <a:moveTo>
                  <a:pt x="14" y="1197"/>
                </a:moveTo>
                <a:lnTo>
                  <a:pt x="14" y="1211"/>
                </a:lnTo>
                <a:lnTo>
                  <a:pt x="0" y="1211"/>
                </a:lnTo>
                <a:lnTo>
                  <a:pt x="0" y="1197"/>
                </a:lnTo>
                <a:lnTo>
                  <a:pt x="14" y="1197"/>
                </a:lnTo>
                <a:close/>
                <a:moveTo>
                  <a:pt x="14" y="1225"/>
                </a:moveTo>
                <a:lnTo>
                  <a:pt x="14" y="1239"/>
                </a:lnTo>
                <a:lnTo>
                  <a:pt x="0" y="1239"/>
                </a:lnTo>
                <a:lnTo>
                  <a:pt x="0" y="1225"/>
                </a:lnTo>
                <a:lnTo>
                  <a:pt x="14" y="1225"/>
                </a:lnTo>
                <a:close/>
                <a:moveTo>
                  <a:pt x="14" y="1253"/>
                </a:moveTo>
                <a:lnTo>
                  <a:pt x="14" y="1267"/>
                </a:lnTo>
                <a:lnTo>
                  <a:pt x="0" y="1267"/>
                </a:lnTo>
                <a:lnTo>
                  <a:pt x="0" y="1253"/>
                </a:lnTo>
                <a:lnTo>
                  <a:pt x="14" y="1253"/>
                </a:lnTo>
                <a:close/>
                <a:moveTo>
                  <a:pt x="14" y="1281"/>
                </a:moveTo>
                <a:lnTo>
                  <a:pt x="14" y="1294"/>
                </a:lnTo>
                <a:lnTo>
                  <a:pt x="0" y="1294"/>
                </a:lnTo>
                <a:lnTo>
                  <a:pt x="0" y="1281"/>
                </a:lnTo>
                <a:lnTo>
                  <a:pt x="14" y="1281"/>
                </a:lnTo>
                <a:close/>
                <a:moveTo>
                  <a:pt x="14" y="1308"/>
                </a:moveTo>
                <a:lnTo>
                  <a:pt x="14" y="1322"/>
                </a:lnTo>
                <a:lnTo>
                  <a:pt x="0" y="1322"/>
                </a:lnTo>
                <a:lnTo>
                  <a:pt x="0" y="1308"/>
                </a:lnTo>
                <a:lnTo>
                  <a:pt x="14" y="1308"/>
                </a:lnTo>
                <a:close/>
                <a:moveTo>
                  <a:pt x="14" y="1336"/>
                </a:moveTo>
                <a:lnTo>
                  <a:pt x="14" y="1350"/>
                </a:lnTo>
                <a:lnTo>
                  <a:pt x="0" y="1350"/>
                </a:lnTo>
                <a:lnTo>
                  <a:pt x="0" y="1336"/>
                </a:lnTo>
                <a:lnTo>
                  <a:pt x="14" y="1336"/>
                </a:lnTo>
                <a:close/>
                <a:moveTo>
                  <a:pt x="14" y="1364"/>
                </a:moveTo>
                <a:lnTo>
                  <a:pt x="14" y="1378"/>
                </a:lnTo>
                <a:lnTo>
                  <a:pt x="0" y="1378"/>
                </a:lnTo>
                <a:lnTo>
                  <a:pt x="0" y="1364"/>
                </a:lnTo>
                <a:lnTo>
                  <a:pt x="14" y="1364"/>
                </a:lnTo>
                <a:close/>
                <a:moveTo>
                  <a:pt x="14" y="1392"/>
                </a:moveTo>
                <a:lnTo>
                  <a:pt x="14" y="1406"/>
                </a:lnTo>
                <a:lnTo>
                  <a:pt x="0" y="1406"/>
                </a:lnTo>
                <a:lnTo>
                  <a:pt x="0" y="1392"/>
                </a:lnTo>
                <a:lnTo>
                  <a:pt x="14" y="1392"/>
                </a:lnTo>
                <a:close/>
                <a:moveTo>
                  <a:pt x="14" y="1420"/>
                </a:moveTo>
                <a:lnTo>
                  <a:pt x="14" y="1434"/>
                </a:lnTo>
                <a:lnTo>
                  <a:pt x="0" y="1434"/>
                </a:lnTo>
                <a:lnTo>
                  <a:pt x="0" y="1420"/>
                </a:lnTo>
                <a:lnTo>
                  <a:pt x="14" y="1420"/>
                </a:lnTo>
                <a:close/>
                <a:moveTo>
                  <a:pt x="14" y="1448"/>
                </a:moveTo>
                <a:lnTo>
                  <a:pt x="14" y="1461"/>
                </a:lnTo>
                <a:lnTo>
                  <a:pt x="0" y="1461"/>
                </a:lnTo>
                <a:lnTo>
                  <a:pt x="0" y="1448"/>
                </a:lnTo>
                <a:lnTo>
                  <a:pt x="14" y="1448"/>
                </a:lnTo>
                <a:close/>
                <a:moveTo>
                  <a:pt x="14" y="1475"/>
                </a:moveTo>
                <a:lnTo>
                  <a:pt x="14" y="1489"/>
                </a:lnTo>
                <a:lnTo>
                  <a:pt x="0" y="1489"/>
                </a:lnTo>
                <a:lnTo>
                  <a:pt x="0" y="1475"/>
                </a:lnTo>
                <a:lnTo>
                  <a:pt x="14" y="1475"/>
                </a:lnTo>
                <a:close/>
                <a:moveTo>
                  <a:pt x="14" y="1503"/>
                </a:moveTo>
                <a:lnTo>
                  <a:pt x="14" y="1517"/>
                </a:lnTo>
                <a:lnTo>
                  <a:pt x="0" y="1517"/>
                </a:lnTo>
                <a:lnTo>
                  <a:pt x="0" y="1503"/>
                </a:lnTo>
                <a:lnTo>
                  <a:pt x="14" y="1503"/>
                </a:lnTo>
                <a:close/>
                <a:moveTo>
                  <a:pt x="14" y="1531"/>
                </a:moveTo>
                <a:lnTo>
                  <a:pt x="14" y="1545"/>
                </a:lnTo>
                <a:lnTo>
                  <a:pt x="0" y="1545"/>
                </a:lnTo>
                <a:lnTo>
                  <a:pt x="0" y="1531"/>
                </a:lnTo>
                <a:lnTo>
                  <a:pt x="14" y="1531"/>
                </a:lnTo>
                <a:close/>
                <a:moveTo>
                  <a:pt x="14" y="1559"/>
                </a:moveTo>
                <a:lnTo>
                  <a:pt x="14" y="1573"/>
                </a:lnTo>
                <a:lnTo>
                  <a:pt x="0" y="1573"/>
                </a:lnTo>
                <a:lnTo>
                  <a:pt x="0" y="1559"/>
                </a:lnTo>
                <a:lnTo>
                  <a:pt x="14" y="1559"/>
                </a:lnTo>
                <a:close/>
                <a:moveTo>
                  <a:pt x="14" y="1587"/>
                </a:moveTo>
                <a:lnTo>
                  <a:pt x="14" y="1601"/>
                </a:lnTo>
                <a:lnTo>
                  <a:pt x="0" y="1601"/>
                </a:lnTo>
                <a:lnTo>
                  <a:pt x="0" y="1587"/>
                </a:lnTo>
                <a:lnTo>
                  <a:pt x="14" y="1587"/>
                </a:lnTo>
                <a:close/>
                <a:moveTo>
                  <a:pt x="14" y="1615"/>
                </a:moveTo>
                <a:lnTo>
                  <a:pt x="14" y="1628"/>
                </a:lnTo>
                <a:lnTo>
                  <a:pt x="0" y="1628"/>
                </a:lnTo>
                <a:lnTo>
                  <a:pt x="0" y="1615"/>
                </a:lnTo>
                <a:lnTo>
                  <a:pt x="14" y="1615"/>
                </a:lnTo>
                <a:close/>
                <a:moveTo>
                  <a:pt x="14" y="1642"/>
                </a:moveTo>
                <a:lnTo>
                  <a:pt x="14" y="1656"/>
                </a:lnTo>
                <a:lnTo>
                  <a:pt x="0" y="1656"/>
                </a:lnTo>
                <a:lnTo>
                  <a:pt x="0" y="1642"/>
                </a:lnTo>
                <a:lnTo>
                  <a:pt x="14" y="1642"/>
                </a:lnTo>
                <a:close/>
                <a:moveTo>
                  <a:pt x="14" y="1670"/>
                </a:moveTo>
                <a:lnTo>
                  <a:pt x="14" y="1684"/>
                </a:lnTo>
                <a:lnTo>
                  <a:pt x="0" y="1684"/>
                </a:lnTo>
                <a:lnTo>
                  <a:pt x="0" y="1670"/>
                </a:lnTo>
                <a:lnTo>
                  <a:pt x="14" y="1670"/>
                </a:lnTo>
                <a:close/>
                <a:moveTo>
                  <a:pt x="14" y="1698"/>
                </a:moveTo>
                <a:lnTo>
                  <a:pt x="14" y="1712"/>
                </a:lnTo>
                <a:lnTo>
                  <a:pt x="0" y="1712"/>
                </a:lnTo>
                <a:lnTo>
                  <a:pt x="0" y="1698"/>
                </a:lnTo>
                <a:lnTo>
                  <a:pt x="14" y="1698"/>
                </a:lnTo>
                <a:close/>
                <a:moveTo>
                  <a:pt x="14" y="1726"/>
                </a:moveTo>
                <a:lnTo>
                  <a:pt x="14" y="1740"/>
                </a:lnTo>
                <a:lnTo>
                  <a:pt x="0" y="1740"/>
                </a:lnTo>
                <a:lnTo>
                  <a:pt x="0" y="1726"/>
                </a:lnTo>
                <a:lnTo>
                  <a:pt x="14" y="1726"/>
                </a:lnTo>
                <a:close/>
                <a:moveTo>
                  <a:pt x="14" y="1754"/>
                </a:moveTo>
                <a:lnTo>
                  <a:pt x="14" y="1768"/>
                </a:lnTo>
                <a:lnTo>
                  <a:pt x="0" y="1768"/>
                </a:lnTo>
                <a:lnTo>
                  <a:pt x="0" y="1754"/>
                </a:lnTo>
                <a:lnTo>
                  <a:pt x="14" y="1754"/>
                </a:lnTo>
                <a:close/>
                <a:moveTo>
                  <a:pt x="14" y="1782"/>
                </a:moveTo>
                <a:lnTo>
                  <a:pt x="14" y="1795"/>
                </a:lnTo>
                <a:lnTo>
                  <a:pt x="0" y="1795"/>
                </a:lnTo>
                <a:lnTo>
                  <a:pt x="0" y="1782"/>
                </a:lnTo>
                <a:lnTo>
                  <a:pt x="14" y="1782"/>
                </a:lnTo>
                <a:close/>
                <a:moveTo>
                  <a:pt x="14" y="1809"/>
                </a:moveTo>
                <a:lnTo>
                  <a:pt x="14" y="1823"/>
                </a:lnTo>
                <a:lnTo>
                  <a:pt x="0" y="1823"/>
                </a:lnTo>
                <a:lnTo>
                  <a:pt x="0" y="1809"/>
                </a:lnTo>
                <a:lnTo>
                  <a:pt x="14" y="1809"/>
                </a:lnTo>
                <a:close/>
                <a:moveTo>
                  <a:pt x="14" y="1837"/>
                </a:moveTo>
                <a:lnTo>
                  <a:pt x="14" y="1851"/>
                </a:lnTo>
                <a:lnTo>
                  <a:pt x="0" y="1851"/>
                </a:lnTo>
                <a:lnTo>
                  <a:pt x="0" y="1837"/>
                </a:lnTo>
                <a:lnTo>
                  <a:pt x="14" y="1837"/>
                </a:lnTo>
                <a:close/>
                <a:moveTo>
                  <a:pt x="14" y="1865"/>
                </a:moveTo>
                <a:lnTo>
                  <a:pt x="14" y="1879"/>
                </a:lnTo>
                <a:lnTo>
                  <a:pt x="0" y="1879"/>
                </a:lnTo>
                <a:lnTo>
                  <a:pt x="0" y="1865"/>
                </a:lnTo>
                <a:lnTo>
                  <a:pt x="14" y="1865"/>
                </a:lnTo>
                <a:close/>
                <a:moveTo>
                  <a:pt x="14" y="1893"/>
                </a:moveTo>
                <a:lnTo>
                  <a:pt x="14" y="1907"/>
                </a:lnTo>
                <a:lnTo>
                  <a:pt x="0" y="1907"/>
                </a:lnTo>
                <a:lnTo>
                  <a:pt x="0" y="1893"/>
                </a:lnTo>
                <a:lnTo>
                  <a:pt x="14" y="1893"/>
                </a:lnTo>
                <a:close/>
                <a:moveTo>
                  <a:pt x="14" y="1921"/>
                </a:moveTo>
                <a:lnTo>
                  <a:pt x="14" y="1935"/>
                </a:lnTo>
                <a:lnTo>
                  <a:pt x="0" y="1935"/>
                </a:lnTo>
                <a:lnTo>
                  <a:pt x="0" y="1921"/>
                </a:lnTo>
                <a:lnTo>
                  <a:pt x="14" y="1921"/>
                </a:lnTo>
                <a:close/>
                <a:moveTo>
                  <a:pt x="14" y="1949"/>
                </a:moveTo>
                <a:lnTo>
                  <a:pt x="14" y="1962"/>
                </a:lnTo>
                <a:lnTo>
                  <a:pt x="0" y="1962"/>
                </a:lnTo>
                <a:lnTo>
                  <a:pt x="0" y="1949"/>
                </a:lnTo>
                <a:lnTo>
                  <a:pt x="14" y="1949"/>
                </a:lnTo>
                <a:close/>
                <a:moveTo>
                  <a:pt x="14" y="1976"/>
                </a:moveTo>
                <a:lnTo>
                  <a:pt x="14" y="1990"/>
                </a:lnTo>
                <a:lnTo>
                  <a:pt x="0" y="1990"/>
                </a:lnTo>
                <a:lnTo>
                  <a:pt x="0" y="1976"/>
                </a:lnTo>
                <a:lnTo>
                  <a:pt x="14" y="1976"/>
                </a:lnTo>
                <a:close/>
                <a:moveTo>
                  <a:pt x="14" y="2004"/>
                </a:moveTo>
                <a:lnTo>
                  <a:pt x="14" y="2018"/>
                </a:lnTo>
                <a:lnTo>
                  <a:pt x="0" y="2018"/>
                </a:lnTo>
                <a:lnTo>
                  <a:pt x="0" y="2004"/>
                </a:lnTo>
                <a:lnTo>
                  <a:pt x="14" y="2004"/>
                </a:lnTo>
                <a:close/>
                <a:moveTo>
                  <a:pt x="14" y="2032"/>
                </a:moveTo>
                <a:lnTo>
                  <a:pt x="14" y="2046"/>
                </a:lnTo>
                <a:lnTo>
                  <a:pt x="0" y="2046"/>
                </a:lnTo>
                <a:lnTo>
                  <a:pt x="0" y="2032"/>
                </a:lnTo>
                <a:lnTo>
                  <a:pt x="14" y="2032"/>
                </a:lnTo>
                <a:close/>
                <a:moveTo>
                  <a:pt x="14" y="2060"/>
                </a:moveTo>
                <a:lnTo>
                  <a:pt x="14" y="2074"/>
                </a:lnTo>
                <a:lnTo>
                  <a:pt x="0" y="2074"/>
                </a:lnTo>
                <a:lnTo>
                  <a:pt x="0" y="2060"/>
                </a:lnTo>
                <a:lnTo>
                  <a:pt x="14" y="2060"/>
                </a:lnTo>
                <a:close/>
                <a:moveTo>
                  <a:pt x="14" y="2087"/>
                </a:moveTo>
                <a:lnTo>
                  <a:pt x="14" y="2102"/>
                </a:lnTo>
                <a:lnTo>
                  <a:pt x="0" y="2102"/>
                </a:lnTo>
                <a:lnTo>
                  <a:pt x="0" y="2087"/>
                </a:lnTo>
                <a:lnTo>
                  <a:pt x="14" y="2087"/>
                </a:lnTo>
                <a:close/>
                <a:moveTo>
                  <a:pt x="14" y="2116"/>
                </a:moveTo>
                <a:lnTo>
                  <a:pt x="14" y="2129"/>
                </a:lnTo>
                <a:lnTo>
                  <a:pt x="0" y="2129"/>
                </a:lnTo>
                <a:lnTo>
                  <a:pt x="0" y="2116"/>
                </a:lnTo>
                <a:lnTo>
                  <a:pt x="14" y="2116"/>
                </a:lnTo>
                <a:close/>
                <a:moveTo>
                  <a:pt x="14" y="2143"/>
                </a:moveTo>
                <a:lnTo>
                  <a:pt x="14" y="2157"/>
                </a:lnTo>
                <a:lnTo>
                  <a:pt x="0" y="2157"/>
                </a:lnTo>
                <a:lnTo>
                  <a:pt x="0" y="2143"/>
                </a:lnTo>
                <a:lnTo>
                  <a:pt x="14" y="2143"/>
                </a:lnTo>
                <a:close/>
                <a:moveTo>
                  <a:pt x="14" y="2171"/>
                </a:moveTo>
                <a:lnTo>
                  <a:pt x="14" y="2185"/>
                </a:lnTo>
                <a:lnTo>
                  <a:pt x="0" y="2185"/>
                </a:lnTo>
                <a:lnTo>
                  <a:pt x="0" y="2171"/>
                </a:lnTo>
                <a:lnTo>
                  <a:pt x="14" y="2171"/>
                </a:lnTo>
                <a:close/>
                <a:moveTo>
                  <a:pt x="14" y="2199"/>
                </a:moveTo>
                <a:lnTo>
                  <a:pt x="14" y="2213"/>
                </a:lnTo>
                <a:lnTo>
                  <a:pt x="0" y="2213"/>
                </a:lnTo>
                <a:lnTo>
                  <a:pt x="0" y="2199"/>
                </a:lnTo>
                <a:lnTo>
                  <a:pt x="14" y="2199"/>
                </a:lnTo>
                <a:close/>
                <a:moveTo>
                  <a:pt x="14" y="2227"/>
                </a:moveTo>
                <a:lnTo>
                  <a:pt x="14" y="2241"/>
                </a:lnTo>
                <a:lnTo>
                  <a:pt x="0" y="2241"/>
                </a:lnTo>
                <a:lnTo>
                  <a:pt x="0" y="2227"/>
                </a:lnTo>
                <a:lnTo>
                  <a:pt x="14" y="2227"/>
                </a:lnTo>
                <a:close/>
                <a:moveTo>
                  <a:pt x="14" y="2254"/>
                </a:moveTo>
                <a:lnTo>
                  <a:pt x="14" y="2268"/>
                </a:lnTo>
                <a:lnTo>
                  <a:pt x="0" y="2268"/>
                </a:lnTo>
                <a:lnTo>
                  <a:pt x="0" y="2254"/>
                </a:lnTo>
                <a:lnTo>
                  <a:pt x="14" y="2254"/>
                </a:lnTo>
                <a:close/>
                <a:moveTo>
                  <a:pt x="14" y="2283"/>
                </a:moveTo>
                <a:lnTo>
                  <a:pt x="14" y="2296"/>
                </a:lnTo>
                <a:lnTo>
                  <a:pt x="0" y="2296"/>
                </a:lnTo>
                <a:lnTo>
                  <a:pt x="0" y="2283"/>
                </a:lnTo>
                <a:lnTo>
                  <a:pt x="14" y="2283"/>
                </a:lnTo>
                <a:close/>
                <a:moveTo>
                  <a:pt x="14" y="2310"/>
                </a:moveTo>
                <a:lnTo>
                  <a:pt x="14" y="2324"/>
                </a:lnTo>
                <a:lnTo>
                  <a:pt x="0" y="2324"/>
                </a:lnTo>
                <a:lnTo>
                  <a:pt x="0" y="2310"/>
                </a:lnTo>
                <a:lnTo>
                  <a:pt x="14" y="2310"/>
                </a:lnTo>
                <a:close/>
                <a:moveTo>
                  <a:pt x="14" y="2338"/>
                </a:moveTo>
                <a:lnTo>
                  <a:pt x="14" y="2352"/>
                </a:lnTo>
                <a:lnTo>
                  <a:pt x="0" y="2352"/>
                </a:lnTo>
                <a:lnTo>
                  <a:pt x="0" y="2338"/>
                </a:lnTo>
                <a:lnTo>
                  <a:pt x="14" y="2338"/>
                </a:lnTo>
                <a:close/>
                <a:moveTo>
                  <a:pt x="14" y="2366"/>
                </a:moveTo>
                <a:lnTo>
                  <a:pt x="14" y="2380"/>
                </a:lnTo>
                <a:lnTo>
                  <a:pt x="0" y="2380"/>
                </a:lnTo>
                <a:lnTo>
                  <a:pt x="0" y="2366"/>
                </a:lnTo>
                <a:lnTo>
                  <a:pt x="14" y="2366"/>
                </a:lnTo>
                <a:close/>
                <a:moveTo>
                  <a:pt x="14" y="2394"/>
                </a:moveTo>
                <a:lnTo>
                  <a:pt x="14" y="2408"/>
                </a:lnTo>
                <a:lnTo>
                  <a:pt x="0" y="2408"/>
                </a:lnTo>
                <a:lnTo>
                  <a:pt x="0" y="2394"/>
                </a:lnTo>
                <a:lnTo>
                  <a:pt x="14" y="2394"/>
                </a:lnTo>
                <a:close/>
                <a:moveTo>
                  <a:pt x="14" y="2421"/>
                </a:moveTo>
                <a:lnTo>
                  <a:pt x="14" y="2435"/>
                </a:lnTo>
                <a:lnTo>
                  <a:pt x="0" y="2435"/>
                </a:lnTo>
                <a:lnTo>
                  <a:pt x="0" y="2421"/>
                </a:lnTo>
                <a:lnTo>
                  <a:pt x="14" y="2421"/>
                </a:lnTo>
                <a:close/>
                <a:moveTo>
                  <a:pt x="14" y="2449"/>
                </a:moveTo>
                <a:lnTo>
                  <a:pt x="14" y="2453"/>
                </a:lnTo>
                <a:lnTo>
                  <a:pt x="0" y="2453"/>
                </a:lnTo>
                <a:lnTo>
                  <a:pt x="0" y="2449"/>
                </a:lnTo>
                <a:lnTo>
                  <a:pt x="14" y="2449"/>
                </a:lnTo>
                <a:close/>
              </a:path>
            </a:pathLst>
          </a:custGeom>
          <a:solidFill>
            <a:srgbClr val="000000"/>
          </a:solidFill>
          <a:ln w="0" cap="flat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38" name="Rectangle 35">
            <a:extLst>
              <a:ext uri="{FF2B5EF4-FFF2-40B4-BE49-F238E27FC236}">
                <a16:creationId xmlns:a16="http://schemas.microsoft.com/office/drawing/2014/main" id="{032D98E6-4151-4489-89F9-63561EAB30E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343930" y="4831775"/>
            <a:ext cx="912109" cy="3231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zh-CN" altLang="zh-CN" sz="2100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rPr>
              <a:t>add  r2,</a:t>
            </a:r>
            <a:endParaRPr kumimoji="0" lang="zh-CN" altLang="zh-CN" sz="180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  <a:ea typeface="SimHei" panose="02010609060101010101" pitchFamily="49" charset="-122"/>
            </a:endParaRPr>
          </a:p>
        </p:txBody>
      </p:sp>
      <p:sp>
        <p:nvSpPr>
          <p:cNvPr id="39" name="Rectangle 36">
            <a:extLst>
              <a:ext uri="{FF2B5EF4-FFF2-40B4-BE49-F238E27FC236}">
                <a16:creationId xmlns:a16="http://schemas.microsoft.com/office/drawing/2014/main" id="{1C95CF6D-5F9D-4FBA-98DB-71A0FF69461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74205" y="4831775"/>
            <a:ext cx="238848" cy="3231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zh-CN" altLang="zh-CN" sz="2100" u="none" strike="noStrike" cap="none" normalizeH="0" baseline="0" dirty="0">
                <a:ln>
                  <a:noFill/>
                </a:ln>
                <a:solidFill>
                  <a:srgbClr val="DE2506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rPr>
              <a:t>r1</a:t>
            </a:r>
            <a:endParaRPr kumimoji="0" lang="zh-CN" altLang="zh-CN" sz="180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  <a:ea typeface="SimHei" panose="02010609060101010101" pitchFamily="49" charset="-122"/>
            </a:endParaRPr>
          </a:p>
        </p:txBody>
      </p:sp>
      <p:sp>
        <p:nvSpPr>
          <p:cNvPr id="40" name="Rectangle 37">
            <a:extLst>
              <a:ext uri="{FF2B5EF4-FFF2-40B4-BE49-F238E27FC236}">
                <a16:creationId xmlns:a16="http://schemas.microsoft.com/office/drawing/2014/main" id="{D0D1ACA0-BA2B-4A87-AE1F-FC72096AF59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21855" y="4831775"/>
            <a:ext cx="314189" cy="3231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zh-CN" altLang="zh-CN" sz="2100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rPr>
              <a:t>,</a:t>
            </a:r>
            <a:r>
              <a:rPr lang="en-US" altLang="zh-CN" sz="2100" dirty="0">
                <a:solidFill>
                  <a:srgbClr val="000000"/>
                </a:solidFill>
                <a:ea typeface="SimHei" panose="02010609060101010101" pitchFamily="49" charset="-122"/>
              </a:rPr>
              <a:t>r3</a:t>
            </a:r>
            <a:endParaRPr kumimoji="0" lang="zh-CN" altLang="zh-CN" sz="180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  <a:ea typeface="SimHei" panose="02010609060101010101" pitchFamily="49" charset="-122"/>
            </a:endParaRPr>
          </a:p>
        </p:txBody>
      </p:sp>
      <p:sp>
        <p:nvSpPr>
          <p:cNvPr id="41" name="Freeform 38">
            <a:extLst>
              <a:ext uri="{FF2B5EF4-FFF2-40B4-BE49-F238E27FC236}">
                <a16:creationId xmlns:a16="http://schemas.microsoft.com/office/drawing/2014/main" id="{6D0CBAEF-E083-4B13-82A5-2C2CC82D098A}"/>
              </a:ext>
            </a:extLst>
          </p:cNvPr>
          <p:cNvSpPr>
            <a:spLocks noEditPoints="1"/>
          </p:cNvSpPr>
          <p:nvPr/>
        </p:nvSpPr>
        <p:spPr bwMode="auto">
          <a:xfrm>
            <a:off x="1155018" y="2625150"/>
            <a:ext cx="77788" cy="3379788"/>
          </a:xfrm>
          <a:custGeom>
            <a:avLst/>
            <a:gdLst>
              <a:gd name="T0" fmla="*/ 32 w 49"/>
              <a:gd name="T1" fmla="*/ 0 h 2129"/>
              <a:gd name="T2" fmla="*/ 32 w 49"/>
              <a:gd name="T3" fmla="*/ 2089 h 2129"/>
              <a:gd name="T4" fmla="*/ 16 w 49"/>
              <a:gd name="T5" fmla="*/ 2089 h 2129"/>
              <a:gd name="T6" fmla="*/ 16 w 49"/>
              <a:gd name="T7" fmla="*/ 0 h 2129"/>
              <a:gd name="T8" fmla="*/ 32 w 49"/>
              <a:gd name="T9" fmla="*/ 0 h 2129"/>
              <a:gd name="T10" fmla="*/ 49 w 49"/>
              <a:gd name="T11" fmla="*/ 2082 h 2129"/>
              <a:gd name="T12" fmla="*/ 24 w 49"/>
              <a:gd name="T13" fmla="*/ 2129 h 2129"/>
              <a:gd name="T14" fmla="*/ 0 w 49"/>
              <a:gd name="T15" fmla="*/ 2082 h 2129"/>
              <a:gd name="T16" fmla="*/ 49 w 49"/>
              <a:gd name="T17" fmla="*/ 2082 h 21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49" h="2129">
                <a:moveTo>
                  <a:pt x="32" y="0"/>
                </a:moveTo>
                <a:lnTo>
                  <a:pt x="32" y="2089"/>
                </a:lnTo>
                <a:lnTo>
                  <a:pt x="16" y="2089"/>
                </a:lnTo>
                <a:lnTo>
                  <a:pt x="16" y="0"/>
                </a:lnTo>
                <a:lnTo>
                  <a:pt x="32" y="0"/>
                </a:lnTo>
                <a:close/>
                <a:moveTo>
                  <a:pt x="49" y="2082"/>
                </a:moveTo>
                <a:lnTo>
                  <a:pt x="24" y="2129"/>
                </a:lnTo>
                <a:lnTo>
                  <a:pt x="0" y="2082"/>
                </a:lnTo>
                <a:lnTo>
                  <a:pt x="49" y="2082"/>
                </a:lnTo>
                <a:close/>
              </a:path>
            </a:pathLst>
          </a:custGeom>
          <a:solidFill>
            <a:srgbClr val="000000"/>
          </a:solidFill>
          <a:ln w="0" cap="flat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i="1" dirty="0">
              <a:ea typeface="SimHei" panose="02010609060101010101" pitchFamily="49" charset="-122"/>
            </a:endParaRPr>
          </a:p>
        </p:txBody>
      </p:sp>
      <p:sp>
        <p:nvSpPr>
          <p:cNvPr id="42" name="Freeform 39">
            <a:extLst>
              <a:ext uri="{FF2B5EF4-FFF2-40B4-BE49-F238E27FC236}">
                <a16:creationId xmlns:a16="http://schemas.microsoft.com/office/drawing/2014/main" id="{44B3BFDA-0CEF-4CB3-A372-879A1A0CB5B5}"/>
              </a:ext>
            </a:extLst>
          </p:cNvPr>
          <p:cNvSpPr>
            <a:spLocks/>
          </p:cNvSpPr>
          <p:nvPr/>
        </p:nvSpPr>
        <p:spPr bwMode="auto">
          <a:xfrm>
            <a:off x="4473210" y="2491800"/>
            <a:ext cx="298450" cy="661988"/>
          </a:xfrm>
          <a:custGeom>
            <a:avLst/>
            <a:gdLst>
              <a:gd name="T0" fmla="*/ 0 w 188"/>
              <a:gd name="T1" fmla="*/ 278 h 417"/>
              <a:gd name="T2" fmla="*/ 63 w 188"/>
              <a:gd name="T3" fmla="*/ 209 h 417"/>
              <a:gd name="T4" fmla="*/ 0 w 188"/>
              <a:gd name="T5" fmla="*/ 139 h 417"/>
              <a:gd name="T6" fmla="*/ 0 w 188"/>
              <a:gd name="T7" fmla="*/ 0 h 417"/>
              <a:gd name="T8" fmla="*/ 188 w 188"/>
              <a:gd name="T9" fmla="*/ 139 h 417"/>
              <a:gd name="T10" fmla="*/ 188 w 188"/>
              <a:gd name="T11" fmla="*/ 278 h 417"/>
              <a:gd name="T12" fmla="*/ 0 w 188"/>
              <a:gd name="T13" fmla="*/ 417 h 417"/>
              <a:gd name="T14" fmla="*/ 0 w 188"/>
              <a:gd name="T15" fmla="*/ 278 h 41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188" h="417">
                <a:moveTo>
                  <a:pt x="0" y="278"/>
                </a:moveTo>
                <a:lnTo>
                  <a:pt x="63" y="209"/>
                </a:lnTo>
                <a:lnTo>
                  <a:pt x="0" y="139"/>
                </a:lnTo>
                <a:lnTo>
                  <a:pt x="0" y="0"/>
                </a:lnTo>
                <a:lnTo>
                  <a:pt x="188" y="139"/>
                </a:lnTo>
                <a:lnTo>
                  <a:pt x="188" y="278"/>
                </a:lnTo>
                <a:lnTo>
                  <a:pt x="0" y="417"/>
                </a:lnTo>
                <a:lnTo>
                  <a:pt x="0" y="278"/>
                </a:lnTo>
              </a:path>
            </a:pathLst>
          </a:custGeom>
          <a:noFill/>
          <a:ln w="22225" cap="rnd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43" name="Rectangle 40">
            <a:extLst>
              <a:ext uri="{FF2B5EF4-FFF2-40B4-BE49-F238E27FC236}">
                <a16:creationId xmlns:a16="http://schemas.microsoft.com/office/drawing/2014/main" id="{C8DF0093-180D-4C42-82C8-39C96A02460F}"/>
              </a:ext>
            </a:extLst>
          </p:cNvPr>
          <p:cNvSpPr>
            <a:spLocks noChangeArrowheads="1"/>
          </p:cNvSpPr>
          <p:nvPr/>
        </p:nvSpPr>
        <p:spPr bwMode="auto">
          <a:xfrm rot="5400000">
            <a:off x="4307396" y="2698890"/>
            <a:ext cx="663574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zh-CN" altLang="zh-CN" sz="1600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rPr>
              <a:t>ALU</a:t>
            </a:r>
            <a:endParaRPr kumimoji="0" lang="zh-CN" altLang="zh-CN" sz="160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  <a:ea typeface="SimHei" panose="02010609060101010101" pitchFamily="49" charset="-122"/>
            </a:endParaRPr>
          </a:p>
        </p:txBody>
      </p:sp>
      <p:sp>
        <p:nvSpPr>
          <p:cNvPr id="44" name="Rectangle 41">
            <a:extLst>
              <a:ext uri="{FF2B5EF4-FFF2-40B4-BE49-F238E27FC236}">
                <a16:creationId xmlns:a16="http://schemas.microsoft.com/office/drawing/2014/main" id="{7C4CBD87-BBAE-4288-A437-E470A5E842F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0198" y="2671187"/>
            <a:ext cx="198772" cy="2154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zh-CN" altLang="zh-CN" sz="1400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rPr>
              <a:t>IM</a:t>
            </a:r>
            <a:endParaRPr kumimoji="0" lang="zh-CN" altLang="zh-CN" sz="180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  <a:ea typeface="SimHei" panose="02010609060101010101" pitchFamily="49" charset="-122"/>
            </a:endParaRPr>
          </a:p>
        </p:txBody>
      </p:sp>
      <p:sp>
        <p:nvSpPr>
          <p:cNvPr id="45" name="Freeform 42">
            <a:extLst>
              <a:ext uri="{FF2B5EF4-FFF2-40B4-BE49-F238E27FC236}">
                <a16:creationId xmlns:a16="http://schemas.microsoft.com/office/drawing/2014/main" id="{17C17742-0D98-4FCC-8283-D8BE676A44C9}"/>
              </a:ext>
            </a:extLst>
          </p:cNvPr>
          <p:cNvSpPr>
            <a:spLocks/>
          </p:cNvSpPr>
          <p:nvPr/>
        </p:nvSpPr>
        <p:spPr bwMode="auto">
          <a:xfrm>
            <a:off x="3149235" y="2625150"/>
            <a:ext cx="246063" cy="396875"/>
          </a:xfrm>
          <a:custGeom>
            <a:avLst/>
            <a:gdLst>
              <a:gd name="T0" fmla="*/ 155 w 155"/>
              <a:gd name="T1" fmla="*/ 0 h 250"/>
              <a:gd name="T2" fmla="*/ 0 w 155"/>
              <a:gd name="T3" fmla="*/ 0 h 250"/>
              <a:gd name="T4" fmla="*/ 0 w 155"/>
              <a:gd name="T5" fmla="*/ 250 h 250"/>
              <a:gd name="T6" fmla="*/ 155 w 155"/>
              <a:gd name="T7" fmla="*/ 250 h 2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155" h="250">
                <a:moveTo>
                  <a:pt x="155" y="0"/>
                </a:moveTo>
                <a:lnTo>
                  <a:pt x="0" y="0"/>
                </a:lnTo>
                <a:lnTo>
                  <a:pt x="0" y="250"/>
                </a:lnTo>
                <a:lnTo>
                  <a:pt x="155" y="250"/>
                </a:lnTo>
              </a:path>
            </a:pathLst>
          </a:custGeom>
          <a:noFill/>
          <a:ln w="22225" cap="rnd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46" name="Freeform 43">
            <a:extLst>
              <a:ext uri="{FF2B5EF4-FFF2-40B4-BE49-F238E27FC236}">
                <a16:creationId xmlns:a16="http://schemas.microsoft.com/office/drawing/2014/main" id="{D7262424-F6AB-4B3F-A873-2F8B5C56ACFE}"/>
              </a:ext>
            </a:extLst>
          </p:cNvPr>
          <p:cNvSpPr>
            <a:spLocks/>
          </p:cNvSpPr>
          <p:nvPr/>
        </p:nvSpPr>
        <p:spPr bwMode="auto">
          <a:xfrm>
            <a:off x="3396885" y="2625150"/>
            <a:ext cx="238125" cy="396875"/>
          </a:xfrm>
          <a:custGeom>
            <a:avLst/>
            <a:gdLst>
              <a:gd name="T0" fmla="*/ 0 w 150"/>
              <a:gd name="T1" fmla="*/ 0 h 250"/>
              <a:gd name="T2" fmla="*/ 150 w 150"/>
              <a:gd name="T3" fmla="*/ 0 h 250"/>
              <a:gd name="T4" fmla="*/ 150 w 150"/>
              <a:gd name="T5" fmla="*/ 250 h 250"/>
              <a:gd name="T6" fmla="*/ 0 w 150"/>
              <a:gd name="T7" fmla="*/ 250 h 2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150" h="250">
                <a:moveTo>
                  <a:pt x="0" y="0"/>
                </a:moveTo>
                <a:lnTo>
                  <a:pt x="150" y="0"/>
                </a:lnTo>
                <a:lnTo>
                  <a:pt x="150" y="250"/>
                </a:lnTo>
                <a:lnTo>
                  <a:pt x="0" y="250"/>
                </a:lnTo>
              </a:path>
            </a:pathLst>
          </a:custGeom>
          <a:noFill/>
          <a:ln w="22225" cap="rnd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47" name="Rectangle 44">
            <a:extLst>
              <a:ext uri="{FF2B5EF4-FFF2-40B4-BE49-F238E27FC236}">
                <a16:creationId xmlns:a16="http://schemas.microsoft.com/office/drawing/2014/main" id="{37156D61-B13D-4788-AFE5-94580C785A6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62023" y="2677537"/>
            <a:ext cx="328616" cy="2154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zh-CN" altLang="zh-CN" sz="1400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rPr>
              <a:t>Reg</a:t>
            </a:r>
            <a:endParaRPr kumimoji="0" lang="zh-CN" altLang="zh-CN" sz="180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  <a:ea typeface="SimHei" panose="02010609060101010101" pitchFamily="49" charset="-122"/>
            </a:endParaRPr>
          </a:p>
        </p:txBody>
      </p:sp>
      <p:sp>
        <p:nvSpPr>
          <p:cNvPr id="48" name="Freeform 45">
            <a:extLst>
              <a:ext uri="{FF2B5EF4-FFF2-40B4-BE49-F238E27FC236}">
                <a16:creationId xmlns:a16="http://schemas.microsoft.com/office/drawing/2014/main" id="{E886716A-462E-478B-8086-774985C6F870}"/>
              </a:ext>
            </a:extLst>
          </p:cNvPr>
          <p:cNvSpPr>
            <a:spLocks/>
          </p:cNvSpPr>
          <p:nvPr/>
        </p:nvSpPr>
        <p:spPr bwMode="auto">
          <a:xfrm>
            <a:off x="3806460" y="2625150"/>
            <a:ext cx="212725" cy="396875"/>
          </a:xfrm>
          <a:custGeom>
            <a:avLst/>
            <a:gdLst>
              <a:gd name="T0" fmla="*/ 134 w 134"/>
              <a:gd name="T1" fmla="*/ 0 h 250"/>
              <a:gd name="T2" fmla="*/ 0 w 134"/>
              <a:gd name="T3" fmla="*/ 0 h 250"/>
              <a:gd name="T4" fmla="*/ 0 w 134"/>
              <a:gd name="T5" fmla="*/ 250 h 250"/>
              <a:gd name="T6" fmla="*/ 134 w 134"/>
              <a:gd name="T7" fmla="*/ 250 h 2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134" h="250">
                <a:moveTo>
                  <a:pt x="134" y="0"/>
                </a:moveTo>
                <a:lnTo>
                  <a:pt x="0" y="0"/>
                </a:lnTo>
                <a:lnTo>
                  <a:pt x="0" y="250"/>
                </a:lnTo>
                <a:lnTo>
                  <a:pt x="134" y="250"/>
                </a:lnTo>
              </a:path>
            </a:pathLst>
          </a:custGeom>
          <a:noFill/>
          <a:ln w="22225" cap="rnd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49" name="Freeform 46">
            <a:extLst>
              <a:ext uri="{FF2B5EF4-FFF2-40B4-BE49-F238E27FC236}">
                <a16:creationId xmlns:a16="http://schemas.microsoft.com/office/drawing/2014/main" id="{7FBA7C65-B063-426A-AFD7-D383BF7ED230}"/>
              </a:ext>
            </a:extLst>
          </p:cNvPr>
          <p:cNvSpPr>
            <a:spLocks/>
          </p:cNvSpPr>
          <p:nvPr/>
        </p:nvSpPr>
        <p:spPr bwMode="auto">
          <a:xfrm>
            <a:off x="4020773" y="2625150"/>
            <a:ext cx="203200" cy="396875"/>
          </a:xfrm>
          <a:custGeom>
            <a:avLst/>
            <a:gdLst>
              <a:gd name="T0" fmla="*/ 0 w 128"/>
              <a:gd name="T1" fmla="*/ 0 h 250"/>
              <a:gd name="T2" fmla="*/ 128 w 128"/>
              <a:gd name="T3" fmla="*/ 0 h 250"/>
              <a:gd name="T4" fmla="*/ 128 w 128"/>
              <a:gd name="T5" fmla="*/ 250 h 250"/>
              <a:gd name="T6" fmla="*/ 0 w 128"/>
              <a:gd name="T7" fmla="*/ 250 h 2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128" h="250">
                <a:moveTo>
                  <a:pt x="0" y="0"/>
                </a:moveTo>
                <a:lnTo>
                  <a:pt x="128" y="0"/>
                </a:lnTo>
                <a:lnTo>
                  <a:pt x="128" y="250"/>
                </a:lnTo>
                <a:lnTo>
                  <a:pt x="0" y="250"/>
                </a:lnTo>
              </a:path>
            </a:pathLst>
          </a:custGeom>
          <a:noFill/>
          <a:ln w="22225" cap="rnd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50" name="Line 47">
            <a:extLst>
              <a:ext uri="{FF2B5EF4-FFF2-40B4-BE49-F238E27FC236}">
                <a16:creationId xmlns:a16="http://schemas.microsoft.com/office/drawing/2014/main" id="{6E3612D7-BE79-4998-9455-2238C8A280C7}"/>
              </a:ext>
            </a:extLst>
          </p:cNvPr>
          <p:cNvSpPr>
            <a:spLocks noChangeShapeType="1"/>
          </p:cNvSpPr>
          <p:nvPr/>
        </p:nvSpPr>
        <p:spPr bwMode="auto">
          <a:xfrm>
            <a:off x="3644535" y="2823587"/>
            <a:ext cx="161925" cy="0"/>
          </a:xfrm>
          <a:prstGeom prst="line">
            <a:avLst/>
          </a:prstGeom>
          <a:noFill/>
          <a:ln w="22225" cap="flat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51" name="Freeform 48">
            <a:extLst>
              <a:ext uri="{FF2B5EF4-FFF2-40B4-BE49-F238E27FC236}">
                <a16:creationId xmlns:a16="http://schemas.microsoft.com/office/drawing/2014/main" id="{73FC0C1F-E257-4619-995C-0C6292E0B1F9}"/>
              </a:ext>
            </a:extLst>
          </p:cNvPr>
          <p:cNvSpPr>
            <a:spLocks/>
          </p:cNvSpPr>
          <p:nvPr/>
        </p:nvSpPr>
        <p:spPr bwMode="auto">
          <a:xfrm>
            <a:off x="3738198" y="2690237"/>
            <a:ext cx="68263" cy="131763"/>
          </a:xfrm>
          <a:custGeom>
            <a:avLst/>
            <a:gdLst>
              <a:gd name="T0" fmla="*/ 0 w 43"/>
              <a:gd name="T1" fmla="*/ 83 h 83"/>
              <a:gd name="T2" fmla="*/ 0 w 43"/>
              <a:gd name="T3" fmla="*/ 0 h 83"/>
              <a:gd name="T4" fmla="*/ 43 w 43"/>
              <a:gd name="T5" fmla="*/ 0 h 8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43" h="83">
                <a:moveTo>
                  <a:pt x="0" y="83"/>
                </a:moveTo>
                <a:lnTo>
                  <a:pt x="0" y="0"/>
                </a:lnTo>
                <a:lnTo>
                  <a:pt x="43" y="0"/>
                </a:lnTo>
              </a:path>
            </a:pathLst>
          </a:custGeom>
          <a:noFill/>
          <a:ln w="22225" cap="rnd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52" name="Line 49">
            <a:extLst>
              <a:ext uri="{FF2B5EF4-FFF2-40B4-BE49-F238E27FC236}">
                <a16:creationId xmlns:a16="http://schemas.microsoft.com/office/drawing/2014/main" id="{0A43A060-25BF-412D-8F05-58498572D7CF}"/>
              </a:ext>
            </a:extLst>
          </p:cNvPr>
          <p:cNvSpPr>
            <a:spLocks noChangeShapeType="1"/>
          </p:cNvSpPr>
          <p:nvPr/>
        </p:nvSpPr>
        <p:spPr bwMode="auto">
          <a:xfrm>
            <a:off x="4233498" y="2690237"/>
            <a:ext cx="222250" cy="0"/>
          </a:xfrm>
          <a:prstGeom prst="line">
            <a:avLst/>
          </a:prstGeom>
          <a:noFill/>
          <a:ln w="22225" cap="flat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53" name="Rectangle 50">
            <a:extLst>
              <a:ext uri="{FF2B5EF4-FFF2-40B4-BE49-F238E27FC236}">
                <a16:creationId xmlns:a16="http://schemas.microsoft.com/office/drawing/2014/main" id="{D8E2C188-3833-4EA4-A4B3-7A58A1E231FB}"/>
              </a:ext>
            </a:extLst>
          </p:cNvPr>
          <p:cNvSpPr>
            <a:spLocks noChangeArrowheads="1"/>
          </p:cNvSpPr>
          <p:nvPr/>
        </p:nvSpPr>
        <p:spPr bwMode="auto">
          <a:xfrm>
            <a:off x="5024073" y="2671187"/>
            <a:ext cx="278923" cy="2154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zh-CN" altLang="zh-CN" sz="1400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rPr>
              <a:t>DM</a:t>
            </a:r>
            <a:endParaRPr kumimoji="0" lang="zh-CN" altLang="zh-CN" sz="180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  <a:ea typeface="SimHei" panose="02010609060101010101" pitchFamily="49" charset="-122"/>
            </a:endParaRPr>
          </a:p>
        </p:txBody>
      </p:sp>
      <p:sp>
        <p:nvSpPr>
          <p:cNvPr id="54" name="Freeform 51">
            <a:extLst>
              <a:ext uri="{FF2B5EF4-FFF2-40B4-BE49-F238E27FC236}">
                <a16:creationId xmlns:a16="http://schemas.microsoft.com/office/drawing/2014/main" id="{B69B2AD7-4F52-4F8F-B31F-6F4FC29FBEBA}"/>
              </a:ext>
            </a:extLst>
          </p:cNvPr>
          <p:cNvSpPr>
            <a:spLocks/>
          </p:cNvSpPr>
          <p:nvPr/>
        </p:nvSpPr>
        <p:spPr bwMode="auto">
          <a:xfrm>
            <a:off x="5019310" y="2625150"/>
            <a:ext cx="230188" cy="396875"/>
          </a:xfrm>
          <a:custGeom>
            <a:avLst/>
            <a:gdLst>
              <a:gd name="T0" fmla="*/ 145 w 145"/>
              <a:gd name="T1" fmla="*/ 0 h 250"/>
              <a:gd name="T2" fmla="*/ 0 w 145"/>
              <a:gd name="T3" fmla="*/ 0 h 250"/>
              <a:gd name="T4" fmla="*/ 0 w 145"/>
              <a:gd name="T5" fmla="*/ 250 h 250"/>
              <a:gd name="T6" fmla="*/ 145 w 145"/>
              <a:gd name="T7" fmla="*/ 250 h 2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145" h="250">
                <a:moveTo>
                  <a:pt x="145" y="0"/>
                </a:moveTo>
                <a:lnTo>
                  <a:pt x="0" y="0"/>
                </a:lnTo>
                <a:lnTo>
                  <a:pt x="0" y="250"/>
                </a:lnTo>
                <a:lnTo>
                  <a:pt x="145" y="250"/>
                </a:lnTo>
              </a:path>
            </a:pathLst>
          </a:custGeom>
          <a:noFill/>
          <a:ln w="22225" cap="rnd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55" name="Freeform 52">
            <a:extLst>
              <a:ext uri="{FF2B5EF4-FFF2-40B4-BE49-F238E27FC236}">
                <a16:creationId xmlns:a16="http://schemas.microsoft.com/office/drawing/2014/main" id="{ABF6A284-8FA2-467A-8F6B-A0DCD0A587AC}"/>
              </a:ext>
            </a:extLst>
          </p:cNvPr>
          <p:cNvSpPr>
            <a:spLocks/>
          </p:cNvSpPr>
          <p:nvPr/>
        </p:nvSpPr>
        <p:spPr bwMode="auto">
          <a:xfrm>
            <a:off x="5241560" y="2625150"/>
            <a:ext cx="238125" cy="396875"/>
          </a:xfrm>
          <a:custGeom>
            <a:avLst/>
            <a:gdLst>
              <a:gd name="T0" fmla="*/ 0 w 150"/>
              <a:gd name="T1" fmla="*/ 0 h 250"/>
              <a:gd name="T2" fmla="*/ 150 w 150"/>
              <a:gd name="T3" fmla="*/ 0 h 250"/>
              <a:gd name="T4" fmla="*/ 150 w 150"/>
              <a:gd name="T5" fmla="*/ 250 h 250"/>
              <a:gd name="T6" fmla="*/ 0 w 150"/>
              <a:gd name="T7" fmla="*/ 250 h 2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150" h="250">
                <a:moveTo>
                  <a:pt x="0" y="0"/>
                </a:moveTo>
                <a:lnTo>
                  <a:pt x="150" y="0"/>
                </a:lnTo>
                <a:lnTo>
                  <a:pt x="150" y="250"/>
                </a:lnTo>
                <a:lnTo>
                  <a:pt x="0" y="250"/>
                </a:lnTo>
              </a:path>
            </a:pathLst>
          </a:custGeom>
          <a:noFill/>
          <a:ln w="22225" cap="rnd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56" name="Rectangle 53">
            <a:extLst>
              <a:ext uri="{FF2B5EF4-FFF2-40B4-BE49-F238E27FC236}">
                <a16:creationId xmlns:a16="http://schemas.microsoft.com/office/drawing/2014/main" id="{8FC1E681-A5C3-432B-9F72-E46D80B6F178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25748" y="2671187"/>
            <a:ext cx="328616" cy="2154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zh-CN" altLang="zh-CN" sz="1400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rPr>
              <a:t>Reg</a:t>
            </a:r>
            <a:endParaRPr kumimoji="0" lang="zh-CN" altLang="zh-CN" sz="180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  <a:ea typeface="SimHei" panose="02010609060101010101" pitchFamily="49" charset="-122"/>
            </a:endParaRPr>
          </a:p>
        </p:txBody>
      </p:sp>
      <p:sp>
        <p:nvSpPr>
          <p:cNvPr id="57" name="Freeform 54">
            <a:extLst>
              <a:ext uri="{FF2B5EF4-FFF2-40B4-BE49-F238E27FC236}">
                <a16:creationId xmlns:a16="http://schemas.microsoft.com/office/drawing/2014/main" id="{4205DDD4-770A-44FC-A319-7417BB4917EC}"/>
              </a:ext>
            </a:extLst>
          </p:cNvPr>
          <p:cNvSpPr>
            <a:spLocks/>
          </p:cNvSpPr>
          <p:nvPr/>
        </p:nvSpPr>
        <p:spPr bwMode="auto">
          <a:xfrm>
            <a:off x="5686060" y="2625150"/>
            <a:ext cx="195263" cy="396875"/>
          </a:xfrm>
          <a:custGeom>
            <a:avLst/>
            <a:gdLst>
              <a:gd name="T0" fmla="*/ 123 w 123"/>
              <a:gd name="T1" fmla="*/ 0 h 250"/>
              <a:gd name="T2" fmla="*/ 0 w 123"/>
              <a:gd name="T3" fmla="*/ 0 h 250"/>
              <a:gd name="T4" fmla="*/ 0 w 123"/>
              <a:gd name="T5" fmla="*/ 250 h 250"/>
              <a:gd name="T6" fmla="*/ 123 w 123"/>
              <a:gd name="T7" fmla="*/ 250 h 2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123" h="250">
                <a:moveTo>
                  <a:pt x="123" y="0"/>
                </a:moveTo>
                <a:lnTo>
                  <a:pt x="0" y="0"/>
                </a:lnTo>
                <a:lnTo>
                  <a:pt x="0" y="250"/>
                </a:lnTo>
                <a:lnTo>
                  <a:pt x="123" y="250"/>
                </a:lnTo>
              </a:path>
            </a:pathLst>
          </a:custGeom>
          <a:noFill/>
          <a:ln w="22225" cap="rnd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58" name="Freeform 55">
            <a:extLst>
              <a:ext uri="{FF2B5EF4-FFF2-40B4-BE49-F238E27FC236}">
                <a16:creationId xmlns:a16="http://schemas.microsoft.com/office/drawing/2014/main" id="{80D532C1-2CC6-48E4-BDA7-FD1C5E22B2BC}"/>
              </a:ext>
            </a:extLst>
          </p:cNvPr>
          <p:cNvSpPr>
            <a:spLocks/>
          </p:cNvSpPr>
          <p:nvPr/>
        </p:nvSpPr>
        <p:spPr bwMode="auto">
          <a:xfrm>
            <a:off x="5882910" y="2625150"/>
            <a:ext cx="203200" cy="396875"/>
          </a:xfrm>
          <a:custGeom>
            <a:avLst/>
            <a:gdLst>
              <a:gd name="T0" fmla="*/ 0 w 128"/>
              <a:gd name="T1" fmla="*/ 0 h 250"/>
              <a:gd name="T2" fmla="*/ 128 w 128"/>
              <a:gd name="T3" fmla="*/ 0 h 250"/>
              <a:gd name="T4" fmla="*/ 128 w 128"/>
              <a:gd name="T5" fmla="*/ 250 h 250"/>
              <a:gd name="T6" fmla="*/ 0 w 128"/>
              <a:gd name="T7" fmla="*/ 250 h 2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128" h="250">
                <a:moveTo>
                  <a:pt x="0" y="0"/>
                </a:moveTo>
                <a:lnTo>
                  <a:pt x="128" y="0"/>
                </a:lnTo>
                <a:lnTo>
                  <a:pt x="128" y="250"/>
                </a:lnTo>
                <a:lnTo>
                  <a:pt x="0" y="250"/>
                </a:lnTo>
              </a:path>
            </a:pathLst>
          </a:custGeom>
          <a:noFill/>
          <a:ln w="22225" cap="rnd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59" name="Line 56">
            <a:extLst>
              <a:ext uri="{FF2B5EF4-FFF2-40B4-BE49-F238E27FC236}">
                <a16:creationId xmlns:a16="http://schemas.microsoft.com/office/drawing/2014/main" id="{CE2A096D-9B77-404D-BB84-6F179984AAAF}"/>
              </a:ext>
            </a:extLst>
          </p:cNvPr>
          <p:cNvSpPr>
            <a:spLocks noChangeShapeType="1"/>
          </p:cNvSpPr>
          <p:nvPr/>
        </p:nvSpPr>
        <p:spPr bwMode="auto">
          <a:xfrm>
            <a:off x="5473335" y="2823587"/>
            <a:ext cx="195263" cy="0"/>
          </a:xfrm>
          <a:prstGeom prst="line">
            <a:avLst/>
          </a:prstGeom>
          <a:noFill/>
          <a:ln w="22225" cap="flat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60" name="Line 57">
            <a:extLst>
              <a:ext uri="{FF2B5EF4-FFF2-40B4-BE49-F238E27FC236}">
                <a16:creationId xmlns:a16="http://schemas.microsoft.com/office/drawing/2014/main" id="{23C9518C-C425-49D0-8A9C-BBFC4F380E5C}"/>
              </a:ext>
            </a:extLst>
          </p:cNvPr>
          <p:cNvSpPr>
            <a:spLocks noChangeShapeType="1"/>
          </p:cNvSpPr>
          <p:nvPr/>
        </p:nvSpPr>
        <p:spPr bwMode="auto">
          <a:xfrm>
            <a:off x="4781185" y="2823587"/>
            <a:ext cx="222250" cy="0"/>
          </a:xfrm>
          <a:prstGeom prst="line">
            <a:avLst/>
          </a:prstGeom>
          <a:noFill/>
          <a:ln w="22225" cap="flat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61" name="Line 58">
            <a:extLst>
              <a:ext uri="{FF2B5EF4-FFF2-40B4-BE49-F238E27FC236}">
                <a16:creationId xmlns:a16="http://schemas.microsoft.com/office/drawing/2014/main" id="{4961D95E-19D9-4103-AB9A-838E0EEF5B1F}"/>
              </a:ext>
            </a:extLst>
          </p:cNvPr>
          <p:cNvSpPr>
            <a:spLocks noChangeShapeType="1"/>
          </p:cNvSpPr>
          <p:nvPr/>
        </p:nvSpPr>
        <p:spPr bwMode="auto">
          <a:xfrm>
            <a:off x="4233498" y="2955350"/>
            <a:ext cx="222250" cy="0"/>
          </a:xfrm>
          <a:prstGeom prst="line">
            <a:avLst/>
          </a:prstGeom>
          <a:noFill/>
          <a:ln w="22225" cap="flat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62" name="Line 59">
            <a:extLst>
              <a:ext uri="{FF2B5EF4-FFF2-40B4-BE49-F238E27FC236}">
                <a16:creationId xmlns:a16="http://schemas.microsoft.com/office/drawing/2014/main" id="{7EE913F9-EFEB-4B79-883A-0C490BE0C073}"/>
              </a:ext>
            </a:extLst>
          </p:cNvPr>
          <p:cNvSpPr>
            <a:spLocks noChangeShapeType="1"/>
          </p:cNvSpPr>
          <p:nvPr/>
        </p:nvSpPr>
        <p:spPr bwMode="auto">
          <a:xfrm>
            <a:off x="4354148" y="2955350"/>
            <a:ext cx="0" cy="265113"/>
          </a:xfrm>
          <a:prstGeom prst="line">
            <a:avLst/>
          </a:prstGeom>
          <a:noFill/>
          <a:ln w="25400" cap="flat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63" name="Line 60">
            <a:extLst>
              <a:ext uri="{FF2B5EF4-FFF2-40B4-BE49-F238E27FC236}">
                <a16:creationId xmlns:a16="http://schemas.microsoft.com/office/drawing/2014/main" id="{1FF10F42-213D-4D2F-856F-A9CCEA08C9BC}"/>
              </a:ext>
            </a:extLst>
          </p:cNvPr>
          <p:cNvSpPr>
            <a:spLocks noChangeShapeType="1"/>
          </p:cNvSpPr>
          <p:nvPr/>
        </p:nvSpPr>
        <p:spPr bwMode="auto">
          <a:xfrm>
            <a:off x="4354148" y="3220462"/>
            <a:ext cx="477838" cy="0"/>
          </a:xfrm>
          <a:prstGeom prst="line">
            <a:avLst/>
          </a:prstGeom>
          <a:noFill/>
          <a:ln w="25400" cap="flat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64" name="Line 61">
            <a:extLst>
              <a:ext uri="{FF2B5EF4-FFF2-40B4-BE49-F238E27FC236}">
                <a16:creationId xmlns:a16="http://schemas.microsoft.com/office/drawing/2014/main" id="{4900FC44-EBC2-4BA9-B3C5-06EB0262C6FC}"/>
              </a:ext>
            </a:extLst>
          </p:cNvPr>
          <p:cNvSpPr>
            <a:spLocks noChangeShapeType="1"/>
          </p:cNvSpPr>
          <p:nvPr/>
        </p:nvSpPr>
        <p:spPr bwMode="auto">
          <a:xfrm>
            <a:off x="4831985" y="2823587"/>
            <a:ext cx="0" cy="396875"/>
          </a:xfrm>
          <a:prstGeom prst="line">
            <a:avLst/>
          </a:prstGeom>
          <a:noFill/>
          <a:ln w="25400" cap="flat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65" name="Line 62">
            <a:extLst>
              <a:ext uri="{FF2B5EF4-FFF2-40B4-BE49-F238E27FC236}">
                <a16:creationId xmlns:a16="http://schemas.microsoft.com/office/drawing/2014/main" id="{FD64B2FC-8B65-45F4-AEFF-9862EA44EFE8}"/>
              </a:ext>
            </a:extLst>
          </p:cNvPr>
          <p:cNvSpPr>
            <a:spLocks noChangeShapeType="1"/>
          </p:cNvSpPr>
          <p:nvPr/>
        </p:nvSpPr>
        <p:spPr bwMode="auto">
          <a:xfrm>
            <a:off x="4951048" y="2823587"/>
            <a:ext cx="0" cy="331788"/>
          </a:xfrm>
          <a:prstGeom prst="line">
            <a:avLst/>
          </a:prstGeom>
          <a:noFill/>
          <a:ln w="25400" cap="flat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66" name="Line 63">
            <a:extLst>
              <a:ext uri="{FF2B5EF4-FFF2-40B4-BE49-F238E27FC236}">
                <a16:creationId xmlns:a16="http://schemas.microsoft.com/office/drawing/2014/main" id="{908E9B8F-F282-4968-A91C-8FBE117F767F}"/>
              </a:ext>
            </a:extLst>
          </p:cNvPr>
          <p:cNvSpPr>
            <a:spLocks noChangeShapeType="1"/>
          </p:cNvSpPr>
          <p:nvPr/>
        </p:nvSpPr>
        <p:spPr bwMode="auto">
          <a:xfrm>
            <a:off x="4951048" y="3155375"/>
            <a:ext cx="615950" cy="0"/>
          </a:xfrm>
          <a:prstGeom prst="line">
            <a:avLst/>
          </a:prstGeom>
          <a:noFill/>
          <a:ln w="25400" cap="flat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67" name="Line 64">
            <a:extLst>
              <a:ext uri="{FF2B5EF4-FFF2-40B4-BE49-F238E27FC236}">
                <a16:creationId xmlns:a16="http://schemas.microsoft.com/office/drawing/2014/main" id="{9D352A6E-ED08-464B-8497-DDDAEEAF912D}"/>
              </a:ext>
            </a:extLst>
          </p:cNvPr>
          <p:cNvSpPr>
            <a:spLocks noChangeShapeType="1"/>
          </p:cNvSpPr>
          <p:nvPr/>
        </p:nvSpPr>
        <p:spPr bwMode="auto">
          <a:xfrm>
            <a:off x="5566998" y="2823587"/>
            <a:ext cx="0" cy="331788"/>
          </a:xfrm>
          <a:prstGeom prst="line">
            <a:avLst/>
          </a:prstGeom>
          <a:noFill/>
          <a:ln w="25400" cap="flat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68" name="Freeform 65">
            <a:extLst>
              <a:ext uri="{FF2B5EF4-FFF2-40B4-BE49-F238E27FC236}">
                <a16:creationId xmlns:a16="http://schemas.microsoft.com/office/drawing/2014/main" id="{BD975E73-9270-46BE-B891-95BD9DBE7783}"/>
              </a:ext>
            </a:extLst>
          </p:cNvPr>
          <p:cNvSpPr>
            <a:spLocks/>
          </p:cNvSpPr>
          <p:nvPr/>
        </p:nvSpPr>
        <p:spPr bwMode="auto">
          <a:xfrm>
            <a:off x="5087573" y="3220462"/>
            <a:ext cx="298450" cy="661988"/>
          </a:xfrm>
          <a:custGeom>
            <a:avLst/>
            <a:gdLst>
              <a:gd name="T0" fmla="*/ 0 w 188"/>
              <a:gd name="T1" fmla="*/ 278 h 417"/>
              <a:gd name="T2" fmla="*/ 63 w 188"/>
              <a:gd name="T3" fmla="*/ 209 h 417"/>
              <a:gd name="T4" fmla="*/ 0 w 188"/>
              <a:gd name="T5" fmla="*/ 139 h 417"/>
              <a:gd name="T6" fmla="*/ 0 w 188"/>
              <a:gd name="T7" fmla="*/ 0 h 417"/>
              <a:gd name="T8" fmla="*/ 188 w 188"/>
              <a:gd name="T9" fmla="*/ 139 h 417"/>
              <a:gd name="T10" fmla="*/ 188 w 188"/>
              <a:gd name="T11" fmla="*/ 278 h 417"/>
              <a:gd name="T12" fmla="*/ 0 w 188"/>
              <a:gd name="T13" fmla="*/ 417 h 417"/>
              <a:gd name="T14" fmla="*/ 0 w 188"/>
              <a:gd name="T15" fmla="*/ 278 h 41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188" h="417">
                <a:moveTo>
                  <a:pt x="0" y="278"/>
                </a:moveTo>
                <a:lnTo>
                  <a:pt x="63" y="209"/>
                </a:lnTo>
                <a:lnTo>
                  <a:pt x="0" y="139"/>
                </a:lnTo>
                <a:lnTo>
                  <a:pt x="0" y="0"/>
                </a:lnTo>
                <a:lnTo>
                  <a:pt x="188" y="139"/>
                </a:lnTo>
                <a:lnTo>
                  <a:pt x="188" y="278"/>
                </a:lnTo>
                <a:lnTo>
                  <a:pt x="0" y="417"/>
                </a:lnTo>
                <a:lnTo>
                  <a:pt x="0" y="278"/>
                </a:lnTo>
              </a:path>
            </a:pathLst>
          </a:custGeom>
          <a:noFill/>
          <a:ln w="22225" cap="rnd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69" name="Rectangle 66">
            <a:extLst>
              <a:ext uri="{FF2B5EF4-FFF2-40B4-BE49-F238E27FC236}">
                <a16:creationId xmlns:a16="http://schemas.microsoft.com/office/drawing/2014/main" id="{714C9756-9123-4FF6-8E93-61FFD087645B}"/>
              </a:ext>
            </a:extLst>
          </p:cNvPr>
          <p:cNvSpPr>
            <a:spLocks noChangeArrowheads="1"/>
          </p:cNvSpPr>
          <p:nvPr/>
        </p:nvSpPr>
        <p:spPr bwMode="auto">
          <a:xfrm rot="5400000">
            <a:off x="4923346" y="3427553"/>
            <a:ext cx="663574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zh-CN" altLang="zh-CN" sz="1600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rPr>
              <a:t>ALU</a:t>
            </a:r>
            <a:endParaRPr kumimoji="0" lang="zh-CN" altLang="zh-CN" sz="160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  <a:ea typeface="SimHei" panose="02010609060101010101" pitchFamily="49" charset="-122"/>
            </a:endParaRPr>
          </a:p>
        </p:txBody>
      </p:sp>
      <p:sp>
        <p:nvSpPr>
          <p:cNvPr id="70" name="Rectangle 67">
            <a:extLst>
              <a:ext uri="{FF2B5EF4-FFF2-40B4-BE49-F238E27FC236}">
                <a16:creationId xmlns:a16="http://schemas.microsoft.com/office/drawing/2014/main" id="{2CC9872B-0ACB-4E2B-9E09-76219600C69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44560" y="3399850"/>
            <a:ext cx="198772" cy="2154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zh-CN" altLang="zh-CN" sz="1400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rPr>
              <a:t>IM</a:t>
            </a:r>
            <a:endParaRPr kumimoji="0" lang="zh-CN" altLang="zh-CN" sz="180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  <a:ea typeface="SimHei" panose="02010609060101010101" pitchFamily="49" charset="-122"/>
            </a:endParaRPr>
          </a:p>
        </p:txBody>
      </p:sp>
      <p:sp>
        <p:nvSpPr>
          <p:cNvPr id="71" name="Freeform 68">
            <a:extLst>
              <a:ext uri="{FF2B5EF4-FFF2-40B4-BE49-F238E27FC236}">
                <a16:creationId xmlns:a16="http://schemas.microsoft.com/office/drawing/2014/main" id="{BD2FF889-8066-4D44-8B63-BD29AD7F7945}"/>
              </a:ext>
            </a:extLst>
          </p:cNvPr>
          <p:cNvSpPr>
            <a:spLocks/>
          </p:cNvSpPr>
          <p:nvPr/>
        </p:nvSpPr>
        <p:spPr bwMode="auto">
          <a:xfrm>
            <a:off x="3763598" y="3353812"/>
            <a:ext cx="247650" cy="396875"/>
          </a:xfrm>
          <a:custGeom>
            <a:avLst/>
            <a:gdLst>
              <a:gd name="T0" fmla="*/ 156 w 156"/>
              <a:gd name="T1" fmla="*/ 0 h 250"/>
              <a:gd name="T2" fmla="*/ 0 w 156"/>
              <a:gd name="T3" fmla="*/ 0 h 250"/>
              <a:gd name="T4" fmla="*/ 0 w 156"/>
              <a:gd name="T5" fmla="*/ 250 h 250"/>
              <a:gd name="T6" fmla="*/ 156 w 156"/>
              <a:gd name="T7" fmla="*/ 250 h 2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156" h="250">
                <a:moveTo>
                  <a:pt x="156" y="0"/>
                </a:moveTo>
                <a:lnTo>
                  <a:pt x="0" y="0"/>
                </a:lnTo>
                <a:lnTo>
                  <a:pt x="0" y="250"/>
                </a:lnTo>
                <a:lnTo>
                  <a:pt x="156" y="250"/>
                </a:lnTo>
              </a:path>
            </a:pathLst>
          </a:custGeom>
          <a:noFill/>
          <a:ln w="22225" cap="rnd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72" name="Freeform 69">
            <a:extLst>
              <a:ext uri="{FF2B5EF4-FFF2-40B4-BE49-F238E27FC236}">
                <a16:creationId xmlns:a16="http://schemas.microsoft.com/office/drawing/2014/main" id="{98A9DB8E-7094-44D9-84B8-54A2E928E7F4}"/>
              </a:ext>
            </a:extLst>
          </p:cNvPr>
          <p:cNvSpPr>
            <a:spLocks/>
          </p:cNvSpPr>
          <p:nvPr/>
        </p:nvSpPr>
        <p:spPr bwMode="auto">
          <a:xfrm>
            <a:off x="4011248" y="3353812"/>
            <a:ext cx="238125" cy="396875"/>
          </a:xfrm>
          <a:custGeom>
            <a:avLst/>
            <a:gdLst>
              <a:gd name="T0" fmla="*/ 0 w 150"/>
              <a:gd name="T1" fmla="*/ 0 h 250"/>
              <a:gd name="T2" fmla="*/ 150 w 150"/>
              <a:gd name="T3" fmla="*/ 0 h 250"/>
              <a:gd name="T4" fmla="*/ 150 w 150"/>
              <a:gd name="T5" fmla="*/ 250 h 250"/>
              <a:gd name="T6" fmla="*/ 0 w 150"/>
              <a:gd name="T7" fmla="*/ 250 h 2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150" h="250">
                <a:moveTo>
                  <a:pt x="0" y="0"/>
                </a:moveTo>
                <a:lnTo>
                  <a:pt x="150" y="0"/>
                </a:lnTo>
                <a:lnTo>
                  <a:pt x="150" y="250"/>
                </a:lnTo>
                <a:lnTo>
                  <a:pt x="0" y="250"/>
                </a:lnTo>
              </a:path>
            </a:pathLst>
          </a:custGeom>
          <a:noFill/>
          <a:ln w="22225" cap="rnd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73" name="Rectangle 70">
            <a:extLst>
              <a:ext uri="{FF2B5EF4-FFF2-40B4-BE49-F238E27FC236}">
                <a16:creationId xmlns:a16="http://schemas.microsoft.com/office/drawing/2014/main" id="{4A004BD7-F2D8-42A3-A85E-CCF5F78E3B1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76385" y="3404612"/>
            <a:ext cx="328616" cy="2154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zh-CN" altLang="zh-CN" sz="1400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rPr>
              <a:t>Reg</a:t>
            </a:r>
            <a:endParaRPr kumimoji="0" lang="zh-CN" altLang="zh-CN" sz="180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  <a:ea typeface="SimHei" panose="02010609060101010101" pitchFamily="49" charset="-122"/>
            </a:endParaRPr>
          </a:p>
        </p:txBody>
      </p:sp>
      <p:sp>
        <p:nvSpPr>
          <p:cNvPr id="74" name="Freeform 71">
            <a:extLst>
              <a:ext uri="{FF2B5EF4-FFF2-40B4-BE49-F238E27FC236}">
                <a16:creationId xmlns:a16="http://schemas.microsoft.com/office/drawing/2014/main" id="{80D4B4FF-F995-4C13-9755-3FF6A88F81F8}"/>
              </a:ext>
            </a:extLst>
          </p:cNvPr>
          <p:cNvSpPr>
            <a:spLocks/>
          </p:cNvSpPr>
          <p:nvPr/>
        </p:nvSpPr>
        <p:spPr bwMode="auto">
          <a:xfrm>
            <a:off x="4422410" y="3353812"/>
            <a:ext cx="212725" cy="396875"/>
          </a:xfrm>
          <a:custGeom>
            <a:avLst/>
            <a:gdLst>
              <a:gd name="T0" fmla="*/ 134 w 134"/>
              <a:gd name="T1" fmla="*/ 0 h 250"/>
              <a:gd name="T2" fmla="*/ 0 w 134"/>
              <a:gd name="T3" fmla="*/ 0 h 250"/>
              <a:gd name="T4" fmla="*/ 0 w 134"/>
              <a:gd name="T5" fmla="*/ 250 h 250"/>
              <a:gd name="T6" fmla="*/ 134 w 134"/>
              <a:gd name="T7" fmla="*/ 250 h 2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134" h="250">
                <a:moveTo>
                  <a:pt x="134" y="0"/>
                </a:moveTo>
                <a:lnTo>
                  <a:pt x="0" y="0"/>
                </a:lnTo>
                <a:lnTo>
                  <a:pt x="0" y="250"/>
                </a:lnTo>
                <a:lnTo>
                  <a:pt x="134" y="250"/>
                </a:lnTo>
              </a:path>
            </a:pathLst>
          </a:custGeom>
          <a:noFill/>
          <a:ln w="22225" cap="rnd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75" name="Freeform 72">
            <a:extLst>
              <a:ext uri="{FF2B5EF4-FFF2-40B4-BE49-F238E27FC236}">
                <a16:creationId xmlns:a16="http://schemas.microsoft.com/office/drawing/2014/main" id="{D8F34387-D0C8-436A-BC2C-1790A7943043}"/>
              </a:ext>
            </a:extLst>
          </p:cNvPr>
          <p:cNvSpPr>
            <a:spLocks/>
          </p:cNvSpPr>
          <p:nvPr/>
        </p:nvSpPr>
        <p:spPr bwMode="auto">
          <a:xfrm>
            <a:off x="4635135" y="3353812"/>
            <a:ext cx="204788" cy="396875"/>
          </a:xfrm>
          <a:custGeom>
            <a:avLst/>
            <a:gdLst>
              <a:gd name="T0" fmla="*/ 0 w 129"/>
              <a:gd name="T1" fmla="*/ 0 h 250"/>
              <a:gd name="T2" fmla="*/ 129 w 129"/>
              <a:gd name="T3" fmla="*/ 0 h 250"/>
              <a:gd name="T4" fmla="*/ 129 w 129"/>
              <a:gd name="T5" fmla="*/ 250 h 250"/>
              <a:gd name="T6" fmla="*/ 0 w 129"/>
              <a:gd name="T7" fmla="*/ 250 h 2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129" h="250">
                <a:moveTo>
                  <a:pt x="0" y="0"/>
                </a:moveTo>
                <a:lnTo>
                  <a:pt x="129" y="0"/>
                </a:lnTo>
                <a:lnTo>
                  <a:pt x="129" y="250"/>
                </a:lnTo>
                <a:lnTo>
                  <a:pt x="0" y="250"/>
                </a:lnTo>
              </a:path>
            </a:pathLst>
          </a:custGeom>
          <a:noFill/>
          <a:ln w="22225" cap="rnd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76" name="Line 73">
            <a:extLst>
              <a:ext uri="{FF2B5EF4-FFF2-40B4-BE49-F238E27FC236}">
                <a16:creationId xmlns:a16="http://schemas.microsoft.com/office/drawing/2014/main" id="{4C634425-F256-4CB1-AF47-3796EF424F51}"/>
              </a:ext>
            </a:extLst>
          </p:cNvPr>
          <p:cNvSpPr>
            <a:spLocks noChangeShapeType="1"/>
          </p:cNvSpPr>
          <p:nvPr/>
        </p:nvSpPr>
        <p:spPr bwMode="auto">
          <a:xfrm>
            <a:off x="4258898" y="3552250"/>
            <a:ext cx="163513" cy="0"/>
          </a:xfrm>
          <a:prstGeom prst="line">
            <a:avLst/>
          </a:prstGeom>
          <a:noFill/>
          <a:ln w="22225" cap="flat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77" name="Freeform 74">
            <a:extLst>
              <a:ext uri="{FF2B5EF4-FFF2-40B4-BE49-F238E27FC236}">
                <a16:creationId xmlns:a16="http://schemas.microsoft.com/office/drawing/2014/main" id="{8863B175-B0DB-4E12-9CF7-A33DF79EA2BE}"/>
              </a:ext>
            </a:extLst>
          </p:cNvPr>
          <p:cNvSpPr>
            <a:spLocks/>
          </p:cNvSpPr>
          <p:nvPr/>
        </p:nvSpPr>
        <p:spPr bwMode="auto">
          <a:xfrm>
            <a:off x="4354148" y="3420487"/>
            <a:ext cx="66675" cy="130175"/>
          </a:xfrm>
          <a:custGeom>
            <a:avLst/>
            <a:gdLst>
              <a:gd name="T0" fmla="*/ 0 w 42"/>
              <a:gd name="T1" fmla="*/ 82 h 82"/>
              <a:gd name="T2" fmla="*/ 0 w 42"/>
              <a:gd name="T3" fmla="*/ 0 h 82"/>
              <a:gd name="T4" fmla="*/ 42 w 42"/>
              <a:gd name="T5" fmla="*/ 0 h 8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42" h="82">
                <a:moveTo>
                  <a:pt x="0" y="82"/>
                </a:moveTo>
                <a:lnTo>
                  <a:pt x="0" y="0"/>
                </a:lnTo>
                <a:lnTo>
                  <a:pt x="42" y="0"/>
                </a:lnTo>
              </a:path>
            </a:pathLst>
          </a:custGeom>
          <a:noFill/>
          <a:ln w="22225" cap="rnd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78" name="Line 75">
            <a:extLst>
              <a:ext uri="{FF2B5EF4-FFF2-40B4-BE49-F238E27FC236}">
                <a16:creationId xmlns:a16="http://schemas.microsoft.com/office/drawing/2014/main" id="{10E3B503-BA94-4356-BB42-08C1D756A84B}"/>
              </a:ext>
            </a:extLst>
          </p:cNvPr>
          <p:cNvSpPr>
            <a:spLocks noChangeShapeType="1"/>
          </p:cNvSpPr>
          <p:nvPr/>
        </p:nvSpPr>
        <p:spPr bwMode="auto">
          <a:xfrm>
            <a:off x="4849448" y="3420487"/>
            <a:ext cx="222250" cy="0"/>
          </a:xfrm>
          <a:prstGeom prst="line">
            <a:avLst/>
          </a:prstGeom>
          <a:noFill/>
          <a:ln w="22225" cap="flat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79" name="Rectangle 76">
            <a:extLst>
              <a:ext uri="{FF2B5EF4-FFF2-40B4-BE49-F238E27FC236}">
                <a16:creationId xmlns:a16="http://schemas.microsoft.com/office/drawing/2014/main" id="{45C1DA2A-22AD-46E2-AE00-9DB57850EDA9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40023" y="3399850"/>
            <a:ext cx="278923" cy="2154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zh-CN" altLang="zh-CN" sz="1400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rPr>
              <a:t>DM</a:t>
            </a:r>
            <a:endParaRPr kumimoji="0" lang="zh-CN" altLang="zh-CN" sz="180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  <a:ea typeface="SimHei" panose="02010609060101010101" pitchFamily="49" charset="-122"/>
            </a:endParaRPr>
          </a:p>
        </p:txBody>
      </p:sp>
      <p:sp>
        <p:nvSpPr>
          <p:cNvPr id="80" name="Freeform 77">
            <a:extLst>
              <a:ext uri="{FF2B5EF4-FFF2-40B4-BE49-F238E27FC236}">
                <a16:creationId xmlns:a16="http://schemas.microsoft.com/office/drawing/2014/main" id="{07FD56DD-770E-4D0C-8941-4D22F891FB79}"/>
              </a:ext>
            </a:extLst>
          </p:cNvPr>
          <p:cNvSpPr>
            <a:spLocks/>
          </p:cNvSpPr>
          <p:nvPr/>
        </p:nvSpPr>
        <p:spPr bwMode="auto">
          <a:xfrm>
            <a:off x="5635260" y="3353812"/>
            <a:ext cx="230188" cy="396875"/>
          </a:xfrm>
          <a:custGeom>
            <a:avLst/>
            <a:gdLst>
              <a:gd name="T0" fmla="*/ 145 w 145"/>
              <a:gd name="T1" fmla="*/ 0 h 250"/>
              <a:gd name="T2" fmla="*/ 0 w 145"/>
              <a:gd name="T3" fmla="*/ 0 h 250"/>
              <a:gd name="T4" fmla="*/ 0 w 145"/>
              <a:gd name="T5" fmla="*/ 250 h 250"/>
              <a:gd name="T6" fmla="*/ 145 w 145"/>
              <a:gd name="T7" fmla="*/ 250 h 2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145" h="250">
                <a:moveTo>
                  <a:pt x="145" y="0"/>
                </a:moveTo>
                <a:lnTo>
                  <a:pt x="0" y="0"/>
                </a:lnTo>
                <a:lnTo>
                  <a:pt x="0" y="250"/>
                </a:lnTo>
                <a:lnTo>
                  <a:pt x="145" y="250"/>
                </a:lnTo>
              </a:path>
            </a:pathLst>
          </a:custGeom>
          <a:noFill/>
          <a:ln w="22225" cap="rnd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81" name="Freeform 78">
            <a:extLst>
              <a:ext uri="{FF2B5EF4-FFF2-40B4-BE49-F238E27FC236}">
                <a16:creationId xmlns:a16="http://schemas.microsoft.com/office/drawing/2014/main" id="{8C3A1687-02BD-40D8-A52B-4BA4FF1AF1D6}"/>
              </a:ext>
            </a:extLst>
          </p:cNvPr>
          <p:cNvSpPr>
            <a:spLocks/>
          </p:cNvSpPr>
          <p:nvPr/>
        </p:nvSpPr>
        <p:spPr bwMode="auto">
          <a:xfrm>
            <a:off x="5857510" y="3353812"/>
            <a:ext cx="238125" cy="396875"/>
          </a:xfrm>
          <a:custGeom>
            <a:avLst/>
            <a:gdLst>
              <a:gd name="T0" fmla="*/ 0 w 150"/>
              <a:gd name="T1" fmla="*/ 0 h 250"/>
              <a:gd name="T2" fmla="*/ 150 w 150"/>
              <a:gd name="T3" fmla="*/ 0 h 250"/>
              <a:gd name="T4" fmla="*/ 150 w 150"/>
              <a:gd name="T5" fmla="*/ 250 h 250"/>
              <a:gd name="T6" fmla="*/ 0 w 150"/>
              <a:gd name="T7" fmla="*/ 250 h 2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150" h="250">
                <a:moveTo>
                  <a:pt x="0" y="0"/>
                </a:moveTo>
                <a:lnTo>
                  <a:pt x="150" y="0"/>
                </a:lnTo>
                <a:lnTo>
                  <a:pt x="150" y="250"/>
                </a:lnTo>
                <a:lnTo>
                  <a:pt x="0" y="250"/>
                </a:lnTo>
              </a:path>
            </a:pathLst>
          </a:custGeom>
          <a:noFill/>
          <a:ln w="22225" cap="rnd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82" name="Rectangle 79">
            <a:extLst>
              <a:ext uri="{FF2B5EF4-FFF2-40B4-BE49-F238E27FC236}">
                <a16:creationId xmlns:a16="http://schemas.microsoft.com/office/drawing/2014/main" id="{C56C0885-1EC7-45AD-820D-EA795E9194E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41698" y="3399850"/>
            <a:ext cx="328616" cy="2154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zh-CN" altLang="zh-CN" sz="1400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rPr>
              <a:t>Reg</a:t>
            </a:r>
            <a:endParaRPr kumimoji="0" lang="zh-CN" altLang="zh-CN" sz="180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  <a:ea typeface="SimHei" panose="02010609060101010101" pitchFamily="49" charset="-122"/>
            </a:endParaRPr>
          </a:p>
        </p:txBody>
      </p:sp>
      <p:sp>
        <p:nvSpPr>
          <p:cNvPr id="83" name="Freeform 80">
            <a:extLst>
              <a:ext uri="{FF2B5EF4-FFF2-40B4-BE49-F238E27FC236}">
                <a16:creationId xmlns:a16="http://schemas.microsoft.com/office/drawing/2014/main" id="{84AD3094-1AFC-4BFF-A8A4-DA47967D68E5}"/>
              </a:ext>
            </a:extLst>
          </p:cNvPr>
          <p:cNvSpPr>
            <a:spLocks/>
          </p:cNvSpPr>
          <p:nvPr/>
        </p:nvSpPr>
        <p:spPr bwMode="auto">
          <a:xfrm>
            <a:off x="6302010" y="3353812"/>
            <a:ext cx="195263" cy="396875"/>
          </a:xfrm>
          <a:custGeom>
            <a:avLst/>
            <a:gdLst>
              <a:gd name="T0" fmla="*/ 123 w 123"/>
              <a:gd name="T1" fmla="*/ 0 h 250"/>
              <a:gd name="T2" fmla="*/ 0 w 123"/>
              <a:gd name="T3" fmla="*/ 0 h 250"/>
              <a:gd name="T4" fmla="*/ 0 w 123"/>
              <a:gd name="T5" fmla="*/ 250 h 250"/>
              <a:gd name="T6" fmla="*/ 123 w 123"/>
              <a:gd name="T7" fmla="*/ 250 h 2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123" h="250">
                <a:moveTo>
                  <a:pt x="123" y="0"/>
                </a:moveTo>
                <a:lnTo>
                  <a:pt x="0" y="0"/>
                </a:lnTo>
                <a:lnTo>
                  <a:pt x="0" y="250"/>
                </a:lnTo>
                <a:lnTo>
                  <a:pt x="123" y="250"/>
                </a:lnTo>
              </a:path>
            </a:pathLst>
          </a:custGeom>
          <a:noFill/>
          <a:ln w="22225" cap="rnd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84" name="Freeform 81">
            <a:extLst>
              <a:ext uri="{FF2B5EF4-FFF2-40B4-BE49-F238E27FC236}">
                <a16:creationId xmlns:a16="http://schemas.microsoft.com/office/drawing/2014/main" id="{58898946-423D-4348-BA46-683AC39CE58C}"/>
              </a:ext>
            </a:extLst>
          </p:cNvPr>
          <p:cNvSpPr>
            <a:spLocks/>
          </p:cNvSpPr>
          <p:nvPr/>
        </p:nvSpPr>
        <p:spPr bwMode="auto">
          <a:xfrm>
            <a:off x="6497273" y="3353812"/>
            <a:ext cx="204788" cy="396875"/>
          </a:xfrm>
          <a:custGeom>
            <a:avLst/>
            <a:gdLst>
              <a:gd name="T0" fmla="*/ 0 w 129"/>
              <a:gd name="T1" fmla="*/ 0 h 250"/>
              <a:gd name="T2" fmla="*/ 129 w 129"/>
              <a:gd name="T3" fmla="*/ 0 h 250"/>
              <a:gd name="T4" fmla="*/ 129 w 129"/>
              <a:gd name="T5" fmla="*/ 250 h 250"/>
              <a:gd name="T6" fmla="*/ 0 w 129"/>
              <a:gd name="T7" fmla="*/ 250 h 2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129" h="250">
                <a:moveTo>
                  <a:pt x="0" y="0"/>
                </a:moveTo>
                <a:lnTo>
                  <a:pt x="129" y="0"/>
                </a:lnTo>
                <a:lnTo>
                  <a:pt x="129" y="250"/>
                </a:lnTo>
                <a:lnTo>
                  <a:pt x="0" y="250"/>
                </a:lnTo>
              </a:path>
            </a:pathLst>
          </a:custGeom>
          <a:noFill/>
          <a:ln w="22225" cap="rnd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85" name="Line 82">
            <a:extLst>
              <a:ext uri="{FF2B5EF4-FFF2-40B4-BE49-F238E27FC236}">
                <a16:creationId xmlns:a16="http://schemas.microsoft.com/office/drawing/2014/main" id="{E0F06C1D-D5D7-4068-B212-39561FE997A1}"/>
              </a:ext>
            </a:extLst>
          </p:cNvPr>
          <p:cNvSpPr>
            <a:spLocks noChangeShapeType="1"/>
          </p:cNvSpPr>
          <p:nvPr/>
        </p:nvSpPr>
        <p:spPr bwMode="auto">
          <a:xfrm>
            <a:off x="6087698" y="3552250"/>
            <a:ext cx="196850" cy="0"/>
          </a:xfrm>
          <a:prstGeom prst="line">
            <a:avLst/>
          </a:prstGeom>
          <a:noFill/>
          <a:ln w="22225" cap="flat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86" name="Line 83">
            <a:extLst>
              <a:ext uri="{FF2B5EF4-FFF2-40B4-BE49-F238E27FC236}">
                <a16:creationId xmlns:a16="http://schemas.microsoft.com/office/drawing/2014/main" id="{9BA7FEBB-94EB-41A5-A6B0-DD42E6761FBB}"/>
              </a:ext>
            </a:extLst>
          </p:cNvPr>
          <p:cNvSpPr>
            <a:spLocks noChangeShapeType="1"/>
          </p:cNvSpPr>
          <p:nvPr/>
        </p:nvSpPr>
        <p:spPr bwMode="auto">
          <a:xfrm>
            <a:off x="5395548" y="3552250"/>
            <a:ext cx="222250" cy="0"/>
          </a:xfrm>
          <a:prstGeom prst="line">
            <a:avLst/>
          </a:prstGeom>
          <a:noFill/>
          <a:ln w="22225" cap="flat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87" name="Line 84">
            <a:extLst>
              <a:ext uri="{FF2B5EF4-FFF2-40B4-BE49-F238E27FC236}">
                <a16:creationId xmlns:a16="http://schemas.microsoft.com/office/drawing/2014/main" id="{751B69AB-45E8-4350-8BF4-0E6043B55329}"/>
              </a:ext>
            </a:extLst>
          </p:cNvPr>
          <p:cNvSpPr>
            <a:spLocks noChangeShapeType="1"/>
          </p:cNvSpPr>
          <p:nvPr/>
        </p:nvSpPr>
        <p:spPr bwMode="auto">
          <a:xfrm>
            <a:off x="4849448" y="3685600"/>
            <a:ext cx="222250" cy="0"/>
          </a:xfrm>
          <a:prstGeom prst="line">
            <a:avLst/>
          </a:prstGeom>
          <a:noFill/>
          <a:ln w="22225" cap="flat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88" name="Line 85">
            <a:extLst>
              <a:ext uri="{FF2B5EF4-FFF2-40B4-BE49-F238E27FC236}">
                <a16:creationId xmlns:a16="http://schemas.microsoft.com/office/drawing/2014/main" id="{5358BA5E-C495-450B-A8D2-FF26C49FCA80}"/>
              </a:ext>
            </a:extLst>
          </p:cNvPr>
          <p:cNvSpPr>
            <a:spLocks noChangeShapeType="1"/>
          </p:cNvSpPr>
          <p:nvPr/>
        </p:nvSpPr>
        <p:spPr bwMode="auto">
          <a:xfrm>
            <a:off x="4968510" y="3685600"/>
            <a:ext cx="0" cy="265113"/>
          </a:xfrm>
          <a:prstGeom prst="line">
            <a:avLst/>
          </a:prstGeom>
          <a:noFill/>
          <a:ln w="25400" cap="flat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89" name="Line 86">
            <a:extLst>
              <a:ext uri="{FF2B5EF4-FFF2-40B4-BE49-F238E27FC236}">
                <a16:creationId xmlns:a16="http://schemas.microsoft.com/office/drawing/2014/main" id="{A3771B64-64AB-40FF-A1A9-307F5A5A6E8C}"/>
              </a:ext>
            </a:extLst>
          </p:cNvPr>
          <p:cNvSpPr>
            <a:spLocks noChangeShapeType="1"/>
          </p:cNvSpPr>
          <p:nvPr/>
        </p:nvSpPr>
        <p:spPr bwMode="auto">
          <a:xfrm>
            <a:off x="4968510" y="3950712"/>
            <a:ext cx="479425" cy="0"/>
          </a:xfrm>
          <a:prstGeom prst="line">
            <a:avLst/>
          </a:prstGeom>
          <a:noFill/>
          <a:ln w="25400" cap="flat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90" name="Line 87">
            <a:extLst>
              <a:ext uri="{FF2B5EF4-FFF2-40B4-BE49-F238E27FC236}">
                <a16:creationId xmlns:a16="http://schemas.microsoft.com/office/drawing/2014/main" id="{94CC1847-ABCB-4391-AD2F-B00C20B96B3D}"/>
              </a:ext>
            </a:extLst>
          </p:cNvPr>
          <p:cNvSpPr>
            <a:spLocks noChangeShapeType="1"/>
          </p:cNvSpPr>
          <p:nvPr/>
        </p:nvSpPr>
        <p:spPr bwMode="auto">
          <a:xfrm>
            <a:off x="5447935" y="3552250"/>
            <a:ext cx="0" cy="398463"/>
          </a:xfrm>
          <a:prstGeom prst="line">
            <a:avLst/>
          </a:prstGeom>
          <a:noFill/>
          <a:ln w="25400" cap="flat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91" name="Line 88">
            <a:extLst>
              <a:ext uri="{FF2B5EF4-FFF2-40B4-BE49-F238E27FC236}">
                <a16:creationId xmlns:a16="http://schemas.microsoft.com/office/drawing/2014/main" id="{819115B3-DBEF-4583-825A-B2F4544C7811}"/>
              </a:ext>
            </a:extLst>
          </p:cNvPr>
          <p:cNvSpPr>
            <a:spLocks noChangeShapeType="1"/>
          </p:cNvSpPr>
          <p:nvPr/>
        </p:nvSpPr>
        <p:spPr bwMode="auto">
          <a:xfrm>
            <a:off x="5566998" y="3552250"/>
            <a:ext cx="0" cy="331788"/>
          </a:xfrm>
          <a:prstGeom prst="line">
            <a:avLst/>
          </a:prstGeom>
          <a:noFill/>
          <a:ln w="25400" cap="flat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92" name="Line 89">
            <a:extLst>
              <a:ext uri="{FF2B5EF4-FFF2-40B4-BE49-F238E27FC236}">
                <a16:creationId xmlns:a16="http://schemas.microsoft.com/office/drawing/2014/main" id="{C7FC1A57-E14B-4723-953E-F9DB3606CC05}"/>
              </a:ext>
            </a:extLst>
          </p:cNvPr>
          <p:cNvSpPr>
            <a:spLocks noChangeShapeType="1"/>
          </p:cNvSpPr>
          <p:nvPr/>
        </p:nvSpPr>
        <p:spPr bwMode="auto">
          <a:xfrm>
            <a:off x="5566998" y="3884037"/>
            <a:ext cx="614363" cy="0"/>
          </a:xfrm>
          <a:prstGeom prst="line">
            <a:avLst/>
          </a:prstGeom>
          <a:noFill/>
          <a:ln w="25400" cap="flat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93" name="Line 90">
            <a:extLst>
              <a:ext uri="{FF2B5EF4-FFF2-40B4-BE49-F238E27FC236}">
                <a16:creationId xmlns:a16="http://schemas.microsoft.com/office/drawing/2014/main" id="{7DFD4D70-1A74-4675-8426-5D503C111EB5}"/>
              </a:ext>
            </a:extLst>
          </p:cNvPr>
          <p:cNvSpPr>
            <a:spLocks noChangeShapeType="1"/>
          </p:cNvSpPr>
          <p:nvPr/>
        </p:nvSpPr>
        <p:spPr bwMode="auto">
          <a:xfrm>
            <a:off x="6181360" y="3552250"/>
            <a:ext cx="0" cy="331788"/>
          </a:xfrm>
          <a:prstGeom prst="line">
            <a:avLst/>
          </a:prstGeom>
          <a:noFill/>
          <a:ln w="25400" cap="flat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94" name="Freeform 91">
            <a:extLst>
              <a:ext uri="{FF2B5EF4-FFF2-40B4-BE49-F238E27FC236}">
                <a16:creationId xmlns:a16="http://schemas.microsoft.com/office/drawing/2014/main" id="{13C175AA-8AA6-4330-8542-595BD7B6F532}"/>
              </a:ext>
            </a:extLst>
          </p:cNvPr>
          <p:cNvSpPr>
            <a:spLocks/>
          </p:cNvSpPr>
          <p:nvPr/>
        </p:nvSpPr>
        <p:spPr bwMode="auto">
          <a:xfrm>
            <a:off x="5703523" y="3950712"/>
            <a:ext cx="298450" cy="660400"/>
          </a:xfrm>
          <a:custGeom>
            <a:avLst/>
            <a:gdLst>
              <a:gd name="T0" fmla="*/ 0 w 188"/>
              <a:gd name="T1" fmla="*/ 277 h 416"/>
              <a:gd name="T2" fmla="*/ 63 w 188"/>
              <a:gd name="T3" fmla="*/ 208 h 416"/>
              <a:gd name="T4" fmla="*/ 0 w 188"/>
              <a:gd name="T5" fmla="*/ 139 h 416"/>
              <a:gd name="T6" fmla="*/ 0 w 188"/>
              <a:gd name="T7" fmla="*/ 0 h 416"/>
              <a:gd name="T8" fmla="*/ 188 w 188"/>
              <a:gd name="T9" fmla="*/ 139 h 416"/>
              <a:gd name="T10" fmla="*/ 188 w 188"/>
              <a:gd name="T11" fmla="*/ 277 h 416"/>
              <a:gd name="T12" fmla="*/ 0 w 188"/>
              <a:gd name="T13" fmla="*/ 416 h 416"/>
              <a:gd name="T14" fmla="*/ 0 w 188"/>
              <a:gd name="T15" fmla="*/ 277 h 4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188" h="416">
                <a:moveTo>
                  <a:pt x="0" y="277"/>
                </a:moveTo>
                <a:lnTo>
                  <a:pt x="63" y="208"/>
                </a:lnTo>
                <a:lnTo>
                  <a:pt x="0" y="139"/>
                </a:lnTo>
                <a:lnTo>
                  <a:pt x="0" y="0"/>
                </a:lnTo>
                <a:lnTo>
                  <a:pt x="188" y="139"/>
                </a:lnTo>
                <a:lnTo>
                  <a:pt x="188" y="277"/>
                </a:lnTo>
                <a:lnTo>
                  <a:pt x="0" y="416"/>
                </a:lnTo>
                <a:lnTo>
                  <a:pt x="0" y="277"/>
                </a:lnTo>
              </a:path>
            </a:pathLst>
          </a:custGeom>
          <a:noFill/>
          <a:ln w="22225" cap="rnd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95" name="Rectangle 92">
            <a:extLst>
              <a:ext uri="{FF2B5EF4-FFF2-40B4-BE49-F238E27FC236}">
                <a16:creationId xmlns:a16="http://schemas.microsoft.com/office/drawing/2014/main" id="{F14E221B-0D5F-4BD8-85D1-25066631F744}"/>
              </a:ext>
            </a:extLst>
          </p:cNvPr>
          <p:cNvSpPr>
            <a:spLocks noChangeArrowheads="1"/>
          </p:cNvSpPr>
          <p:nvPr/>
        </p:nvSpPr>
        <p:spPr bwMode="auto">
          <a:xfrm rot="5400000">
            <a:off x="5537709" y="4157803"/>
            <a:ext cx="663574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zh-CN" altLang="zh-CN" sz="1600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rPr>
              <a:t>ALU</a:t>
            </a:r>
            <a:endParaRPr kumimoji="0" lang="zh-CN" altLang="zh-CN" sz="160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  <a:ea typeface="SimHei" panose="02010609060101010101" pitchFamily="49" charset="-122"/>
            </a:endParaRPr>
          </a:p>
        </p:txBody>
      </p:sp>
      <p:sp>
        <p:nvSpPr>
          <p:cNvPr id="96" name="Rectangle 93">
            <a:extLst>
              <a:ext uri="{FF2B5EF4-FFF2-40B4-BE49-F238E27FC236}">
                <a16:creationId xmlns:a16="http://schemas.microsoft.com/office/drawing/2014/main" id="{37F1AD0F-CF34-4FA0-B07A-9E7CCAD8CE9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60510" y="4128512"/>
            <a:ext cx="198772" cy="2154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zh-CN" altLang="zh-CN" sz="1400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rPr>
              <a:t>IM</a:t>
            </a:r>
            <a:endParaRPr kumimoji="0" lang="zh-CN" altLang="zh-CN" sz="180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  <a:ea typeface="SimHei" panose="02010609060101010101" pitchFamily="49" charset="-122"/>
            </a:endParaRPr>
          </a:p>
        </p:txBody>
      </p:sp>
      <p:sp>
        <p:nvSpPr>
          <p:cNvPr id="97" name="Freeform 94">
            <a:extLst>
              <a:ext uri="{FF2B5EF4-FFF2-40B4-BE49-F238E27FC236}">
                <a16:creationId xmlns:a16="http://schemas.microsoft.com/office/drawing/2014/main" id="{A2449FCD-3840-4C45-BB74-B1DCC5ABDCE5}"/>
              </a:ext>
            </a:extLst>
          </p:cNvPr>
          <p:cNvSpPr>
            <a:spLocks/>
          </p:cNvSpPr>
          <p:nvPr/>
        </p:nvSpPr>
        <p:spPr bwMode="auto">
          <a:xfrm>
            <a:off x="4387485" y="4082475"/>
            <a:ext cx="238125" cy="396875"/>
          </a:xfrm>
          <a:custGeom>
            <a:avLst/>
            <a:gdLst>
              <a:gd name="T0" fmla="*/ 150 w 150"/>
              <a:gd name="T1" fmla="*/ 0 h 250"/>
              <a:gd name="T2" fmla="*/ 0 w 150"/>
              <a:gd name="T3" fmla="*/ 0 h 250"/>
              <a:gd name="T4" fmla="*/ 0 w 150"/>
              <a:gd name="T5" fmla="*/ 250 h 250"/>
              <a:gd name="T6" fmla="*/ 150 w 150"/>
              <a:gd name="T7" fmla="*/ 250 h 2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150" h="250">
                <a:moveTo>
                  <a:pt x="150" y="0"/>
                </a:moveTo>
                <a:lnTo>
                  <a:pt x="0" y="0"/>
                </a:lnTo>
                <a:lnTo>
                  <a:pt x="0" y="250"/>
                </a:lnTo>
                <a:lnTo>
                  <a:pt x="150" y="250"/>
                </a:lnTo>
              </a:path>
            </a:pathLst>
          </a:custGeom>
          <a:noFill/>
          <a:ln w="22225" cap="rnd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98" name="Freeform 95">
            <a:extLst>
              <a:ext uri="{FF2B5EF4-FFF2-40B4-BE49-F238E27FC236}">
                <a16:creationId xmlns:a16="http://schemas.microsoft.com/office/drawing/2014/main" id="{1F44C007-37A9-415A-B393-08C464169FEC}"/>
              </a:ext>
            </a:extLst>
          </p:cNvPr>
          <p:cNvSpPr>
            <a:spLocks/>
          </p:cNvSpPr>
          <p:nvPr/>
        </p:nvSpPr>
        <p:spPr bwMode="auto">
          <a:xfrm>
            <a:off x="4627198" y="4082475"/>
            <a:ext cx="238125" cy="396875"/>
          </a:xfrm>
          <a:custGeom>
            <a:avLst/>
            <a:gdLst>
              <a:gd name="T0" fmla="*/ 0 w 150"/>
              <a:gd name="T1" fmla="*/ 0 h 250"/>
              <a:gd name="T2" fmla="*/ 150 w 150"/>
              <a:gd name="T3" fmla="*/ 0 h 250"/>
              <a:gd name="T4" fmla="*/ 150 w 150"/>
              <a:gd name="T5" fmla="*/ 250 h 250"/>
              <a:gd name="T6" fmla="*/ 0 w 150"/>
              <a:gd name="T7" fmla="*/ 250 h 2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150" h="250">
                <a:moveTo>
                  <a:pt x="0" y="0"/>
                </a:moveTo>
                <a:lnTo>
                  <a:pt x="150" y="0"/>
                </a:lnTo>
                <a:lnTo>
                  <a:pt x="150" y="250"/>
                </a:lnTo>
                <a:lnTo>
                  <a:pt x="0" y="250"/>
                </a:lnTo>
              </a:path>
            </a:pathLst>
          </a:custGeom>
          <a:noFill/>
          <a:ln w="22225" cap="rnd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99" name="Rectangle 96">
            <a:extLst>
              <a:ext uri="{FF2B5EF4-FFF2-40B4-BE49-F238E27FC236}">
                <a16:creationId xmlns:a16="http://schemas.microsoft.com/office/drawing/2014/main" id="{6C73E4F6-C373-4029-A938-3FF8591EC9D4}"/>
              </a:ext>
            </a:extLst>
          </p:cNvPr>
          <p:cNvSpPr>
            <a:spLocks noChangeArrowheads="1"/>
          </p:cNvSpPr>
          <p:nvPr/>
        </p:nvSpPr>
        <p:spPr bwMode="auto">
          <a:xfrm>
            <a:off x="5092335" y="4136450"/>
            <a:ext cx="328616" cy="2154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zh-CN" altLang="zh-CN" sz="1400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rPr>
              <a:t>Reg</a:t>
            </a:r>
            <a:endParaRPr kumimoji="0" lang="zh-CN" altLang="zh-CN" sz="180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  <a:ea typeface="SimHei" panose="02010609060101010101" pitchFamily="49" charset="-122"/>
            </a:endParaRPr>
          </a:p>
        </p:txBody>
      </p:sp>
      <p:sp>
        <p:nvSpPr>
          <p:cNvPr id="100" name="Freeform 97">
            <a:extLst>
              <a:ext uri="{FF2B5EF4-FFF2-40B4-BE49-F238E27FC236}">
                <a16:creationId xmlns:a16="http://schemas.microsoft.com/office/drawing/2014/main" id="{6B637AF5-9301-41CB-881B-014ED83F510D}"/>
              </a:ext>
            </a:extLst>
          </p:cNvPr>
          <p:cNvSpPr>
            <a:spLocks/>
          </p:cNvSpPr>
          <p:nvPr/>
        </p:nvSpPr>
        <p:spPr bwMode="auto">
          <a:xfrm>
            <a:off x="5036773" y="4082475"/>
            <a:ext cx="212725" cy="396875"/>
          </a:xfrm>
          <a:custGeom>
            <a:avLst/>
            <a:gdLst>
              <a:gd name="T0" fmla="*/ 134 w 134"/>
              <a:gd name="T1" fmla="*/ 0 h 250"/>
              <a:gd name="T2" fmla="*/ 0 w 134"/>
              <a:gd name="T3" fmla="*/ 0 h 250"/>
              <a:gd name="T4" fmla="*/ 0 w 134"/>
              <a:gd name="T5" fmla="*/ 250 h 250"/>
              <a:gd name="T6" fmla="*/ 134 w 134"/>
              <a:gd name="T7" fmla="*/ 250 h 2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134" h="250">
                <a:moveTo>
                  <a:pt x="134" y="0"/>
                </a:moveTo>
                <a:lnTo>
                  <a:pt x="0" y="0"/>
                </a:lnTo>
                <a:lnTo>
                  <a:pt x="0" y="250"/>
                </a:lnTo>
                <a:lnTo>
                  <a:pt x="134" y="250"/>
                </a:lnTo>
              </a:path>
            </a:pathLst>
          </a:custGeom>
          <a:noFill/>
          <a:ln w="22225" cap="rnd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101" name="Freeform 98">
            <a:extLst>
              <a:ext uri="{FF2B5EF4-FFF2-40B4-BE49-F238E27FC236}">
                <a16:creationId xmlns:a16="http://schemas.microsoft.com/office/drawing/2014/main" id="{4327E6DF-F384-491B-AAA8-80D3690C41FD}"/>
              </a:ext>
            </a:extLst>
          </p:cNvPr>
          <p:cNvSpPr>
            <a:spLocks/>
          </p:cNvSpPr>
          <p:nvPr/>
        </p:nvSpPr>
        <p:spPr bwMode="auto">
          <a:xfrm>
            <a:off x="5251085" y="4082475"/>
            <a:ext cx="212725" cy="396875"/>
          </a:xfrm>
          <a:custGeom>
            <a:avLst/>
            <a:gdLst>
              <a:gd name="T0" fmla="*/ 0 w 134"/>
              <a:gd name="T1" fmla="*/ 0 h 250"/>
              <a:gd name="T2" fmla="*/ 134 w 134"/>
              <a:gd name="T3" fmla="*/ 0 h 250"/>
              <a:gd name="T4" fmla="*/ 134 w 134"/>
              <a:gd name="T5" fmla="*/ 250 h 250"/>
              <a:gd name="T6" fmla="*/ 0 w 134"/>
              <a:gd name="T7" fmla="*/ 250 h 2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134" h="250">
                <a:moveTo>
                  <a:pt x="0" y="0"/>
                </a:moveTo>
                <a:lnTo>
                  <a:pt x="134" y="0"/>
                </a:lnTo>
                <a:lnTo>
                  <a:pt x="134" y="250"/>
                </a:lnTo>
                <a:lnTo>
                  <a:pt x="0" y="250"/>
                </a:lnTo>
              </a:path>
            </a:pathLst>
          </a:custGeom>
          <a:noFill/>
          <a:ln w="22225" cap="rnd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102" name="Line 99">
            <a:extLst>
              <a:ext uri="{FF2B5EF4-FFF2-40B4-BE49-F238E27FC236}">
                <a16:creationId xmlns:a16="http://schemas.microsoft.com/office/drawing/2014/main" id="{C432A9A1-CCD0-45F9-BCDB-40668648CEA2}"/>
              </a:ext>
            </a:extLst>
          </p:cNvPr>
          <p:cNvSpPr>
            <a:spLocks noChangeShapeType="1"/>
          </p:cNvSpPr>
          <p:nvPr/>
        </p:nvSpPr>
        <p:spPr bwMode="auto">
          <a:xfrm>
            <a:off x="4874848" y="4280912"/>
            <a:ext cx="161925" cy="0"/>
          </a:xfrm>
          <a:prstGeom prst="line">
            <a:avLst/>
          </a:prstGeom>
          <a:noFill/>
          <a:ln w="22225" cap="flat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103" name="Freeform 100">
            <a:extLst>
              <a:ext uri="{FF2B5EF4-FFF2-40B4-BE49-F238E27FC236}">
                <a16:creationId xmlns:a16="http://schemas.microsoft.com/office/drawing/2014/main" id="{291FC112-CB08-44F4-BE72-182EB4BDC2B6}"/>
              </a:ext>
            </a:extLst>
          </p:cNvPr>
          <p:cNvSpPr>
            <a:spLocks/>
          </p:cNvSpPr>
          <p:nvPr/>
        </p:nvSpPr>
        <p:spPr bwMode="auto">
          <a:xfrm>
            <a:off x="4968510" y="4149150"/>
            <a:ext cx="68263" cy="131763"/>
          </a:xfrm>
          <a:custGeom>
            <a:avLst/>
            <a:gdLst>
              <a:gd name="T0" fmla="*/ 0 w 43"/>
              <a:gd name="T1" fmla="*/ 83 h 83"/>
              <a:gd name="T2" fmla="*/ 0 w 43"/>
              <a:gd name="T3" fmla="*/ 0 h 83"/>
              <a:gd name="T4" fmla="*/ 43 w 43"/>
              <a:gd name="T5" fmla="*/ 0 h 8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43" h="83">
                <a:moveTo>
                  <a:pt x="0" y="83"/>
                </a:moveTo>
                <a:lnTo>
                  <a:pt x="0" y="0"/>
                </a:lnTo>
                <a:lnTo>
                  <a:pt x="43" y="0"/>
                </a:lnTo>
              </a:path>
            </a:pathLst>
          </a:custGeom>
          <a:noFill/>
          <a:ln w="22225" cap="rnd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104" name="Line 101">
            <a:extLst>
              <a:ext uri="{FF2B5EF4-FFF2-40B4-BE49-F238E27FC236}">
                <a16:creationId xmlns:a16="http://schemas.microsoft.com/office/drawing/2014/main" id="{E0DF47BA-A32E-4282-8CC2-835A0EB25B11}"/>
              </a:ext>
            </a:extLst>
          </p:cNvPr>
          <p:cNvSpPr>
            <a:spLocks noChangeShapeType="1"/>
          </p:cNvSpPr>
          <p:nvPr/>
        </p:nvSpPr>
        <p:spPr bwMode="auto">
          <a:xfrm>
            <a:off x="5463810" y="4149150"/>
            <a:ext cx="231775" cy="0"/>
          </a:xfrm>
          <a:prstGeom prst="line">
            <a:avLst/>
          </a:prstGeom>
          <a:noFill/>
          <a:ln w="22225" cap="flat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105" name="Rectangle 102">
            <a:extLst>
              <a:ext uri="{FF2B5EF4-FFF2-40B4-BE49-F238E27FC236}">
                <a16:creationId xmlns:a16="http://schemas.microsoft.com/office/drawing/2014/main" id="{028BDBEE-8199-4F2B-AD1B-ED99E7CACE4D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55973" y="4128512"/>
            <a:ext cx="278923" cy="2154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zh-CN" altLang="zh-CN" sz="1400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rPr>
              <a:t>DM</a:t>
            </a:r>
            <a:endParaRPr kumimoji="0" lang="zh-CN" altLang="zh-CN" sz="180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  <a:ea typeface="SimHei" panose="02010609060101010101" pitchFamily="49" charset="-122"/>
            </a:endParaRPr>
          </a:p>
        </p:txBody>
      </p:sp>
      <p:sp>
        <p:nvSpPr>
          <p:cNvPr id="106" name="Freeform 103">
            <a:extLst>
              <a:ext uri="{FF2B5EF4-FFF2-40B4-BE49-F238E27FC236}">
                <a16:creationId xmlns:a16="http://schemas.microsoft.com/office/drawing/2014/main" id="{7D5D0C3A-ED04-4F73-85B4-74D9B57C6D8C}"/>
              </a:ext>
            </a:extLst>
          </p:cNvPr>
          <p:cNvSpPr>
            <a:spLocks/>
          </p:cNvSpPr>
          <p:nvPr/>
        </p:nvSpPr>
        <p:spPr bwMode="auto">
          <a:xfrm>
            <a:off x="6249623" y="4082475"/>
            <a:ext cx="230188" cy="396875"/>
          </a:xfrm>
          <a:custGeom>
            <a:avLst/>
            <a:gdLst>
              <a:gd name="T0" fmla="*/ 145 w 145"/>
              <a:gd name="T1" fmla="*/ 0 h 250"/>
              <a:gd name="T2" fmla="*/ 0 w 145"/>
              <a:gd name="T3" fmla="*/ 0 h 250"/>
              <a:gd name="T4" fmla="*/ 0 w 145"/>
              <a:gd name="T5" fmla="*/ 250 h 250"/>
              <a:gd name="T6" fmla="*/ 145 w 145"/>
              <a:gd name="T7" fmla="*/ 250 h 2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145" h="250">
                <a:moveTo>
                  <a:pt x="145" y="0"/>
                </a:moveTo>
                <a:lnTo>
                  <a:pt x="0" y="0"/>
                </a:lnTo>
                <a:lnTo>
                  <a:pt x="0" y="250"/>
                </a:lnTo>
                <a:lnTo>
                  <a:pt x="145" y="250"/>
                </a:lnTo>
              </a:path>
            </a:pathLst>
          </a:custGeom>
          <a:noFill/>
          <a:ln w="22225" cap="rnd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107" name="Freeform 104">
            <a:extLst>
              <a:ext uri="{FF2B5EF4-FFF2-40B4-BE49-F238E27FC236}">
                <a16:creationId xmlns:a16="http://schemas.microsoft.com/office/drawing/2014/main" id="{55717B83-5EE0-48C8-871A-BC2BEBE42EF3}"/>
              </a:ext>
            </a:extLst>
          </p:cNvPr>
          <p:cNvSpPr>
            <a:spLocks/>
          </p:cNvSpPr>
          <p:nvPr/>
        </p:nvSpPr>
        <p:spPr bwMode="auto">
          <a:xfrm>
            <a:off x="6481398" y="4082475"/>
            <a:ext cx="228600" cy="396875"/>
          </a:xfrm>
          <a:custGeom>
            <a:avLst/>
            <a:gdLst>
              <a:gd name="T0" fmla="*/ 0 w 144"/>
              <a:gd name="T1" fmla="*/ 0 h 250"/>
              <a:gd name="T2" fmla="*/ 144 w 144"/>
              <a:gd name="T3" fmla="*/ 0 h 250"/>
              <a:gd name="T4" fmla="*/ 144 w 144"/>
              <a:gd name="T5" fmla="*/ 250 h 250"/>
              <a:gd name="T6" fmla="*/ 0 w 144"/>
              <a:gd name="T7" fmla="*/ 250 h 2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144" h="250">
                <a:moveTo>
                  <a:pt x="0" y="0"/>
                </a:moveTo>
                <a:lnTo>
                  <a:pt x="144" y="0"/>
                </a:lnTo>
                <a:lnTo>
                  <a:pt x="144" y="250"/>
                </a:lnTo>
                <a:lnTo>
                  <a:pt x="0" y="250"/>
                </a:lnTo>
              </a:path>
            </a:pathLst>
          </a:custGeom>
          <a:noFill/>
          <a:ln w="22225" cap="rnd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108" name="Rectangle 105">
            <a:extLst>
              <a:ext uri="{FF2B5EF4-FFF2-40B4-BE49-F238E27FC236}">
                <a16:creationId xmlns:a16="http://schemas.microsoft.com/office/drawing/2014/main" id="{23441D16-1EE5-4A9D-B754-6CF9E1638F8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956060" y="4128512"/>
            <a:ext cx="328616" cy="2154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zh-CN" altLang="zh-CN" sz="1400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rPr>
              <a:t>Reg</a:t>
            </a:r>
            <a:endParaRPr kumimoji="0" lang="zh-CN" altLang="zh-CN" sz="180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  <a:ea typeface="SimHei" panose="02010609060101010101" pitchFamily="49" charset="-122"/>
            </a:endParaRPr>
          </a:p>
        </p:txBody>
      </p:sp>
      <p:sp>
        <p:nvSpPr>
          <p:cNvPr id="109" name="Freeform 106">
            <a:extLst>
              <a:ext uri="{FF2B5EF4-FFF2-40B4-BE49-F238E27FC236}">
                <a16:creationId xmlns:a16="http://schemas.microsoft.com/office/drawing/2014/main" id="{9F6FDC9F-6D6D-4E55-93F2-D9ED1FF18F77}"/>
              </a:ext>
            </a:extLst>
          </p:cNvPr>
          <p:cNvSpPr>
            <a:spLocks/>
          </p:cNvSpPr>
          <p:nvPr/>
        </p:nvSpPr>
        <p:spPr bwMode="auto">
          <a:xfrm>
            <a:off x="6916373" y="4082475"/>
            <a:ext cx="195263" cy="396875"/>
          </a:xfrm>
          <a:custGeom>
            <a:avLst/>
            <a:gdLst>
              <a:gd name="T0" fmla="*/ 123 w 123"/>
              <a:gd name="T1" fmla="*/ 0 h 250"/>
              <a:gd name="T2" fmla="*/ 0 w 123"/>
              <a:gd name="T3" fmla="*/ 0 h 250"/>
              <a:gd name="T4" fmla="*/ 0 w 123"/>
              <a:gd name="T5" fmla="*/ 250 h 250"/>
              <a:gd name="T6" fmla="*/ 123 w 123"/>
              <a:gd name="T7" fmla="*/ 250 h 2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123" h="250">
                <a:moveTo>
                  <a:pt x="123" y="0"/>
                </a:moveTo>
                <a:lnTo>
                  <a:pt x="0" y="0"/>
                </a:lnTo>
                <a:lnTo>
                  <a:pt x="0" y="250"/>
                </a:lnTo>
                <a:lnTo>
                  <a:pt x="123" y="250"/>
                </a:lnTo>
              </a:path>
            </a:pathLst>
          </a:custGeom>
          <a:noFill/>
          <a:ln w="22225" cap="rnd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110" name="Freeform 107">
            <a:extLst>
              <a:ext uri="{FF2B5EF4-FFF2-40B4-BE49-F238E27FC236}">
                <a16:creationId xmlns:a16="http://schemas.microsoft.com/office/drawing/2014/main" id="{4F02CE88-7795-4ADD-88CD-5FCD29ED6A87}"/>
              </a:ext>
            </a:extLst>
          </p:cNvPr>
          <p:cNvSpPr>
            <a:spLocks/>
          </p:cNvSpPr>
          <p:nvPr/>
        </p:nvSpPr>
        <p:spPr bwMode="auto">
          <a:xfrm>
            <a:off x="7113223" y="4082475"/>
            <a:ext cx="203200" cy="396875"/>
          </a:xfrm>
          <a:custGeom>
            <a:avLst/>
            <a:gdLst>
              <a:gd name="T0" fmla="*/ 0 w 128"/>
              <a:gd name="T1" fmla="*/ 0 h 250"/>
              <a:gd name="T2" fmla="*/ 128 w 128"/>
              <a:gd name="T3" fmla="*/ 0 h 250"/>
              <a:gd name="T4" fmla="*/ 128 w 128"/>
              <a:gd name="T5" fmla="*/ 250 h 250"/>
              <a:gd name="T6" fmla="*/ 0 w 128"/>
              <a:gd name="T7" fmla="*/ 250 h 2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128" h="250">
                <a:moveTo>
                  <a:pt x="0" y="0"/>
                </a:moveTo>
                <a:lnTo>
                  <a:pt x="128" y="0"/>
                </a:lnTo>
                <a:lnTo>
                  <a:pt x="128" y="250"/>
                </a:lnTo>
                <a:lnTo>
                  <a:pt x="0" y="250"/>
                </a:lnTo>
              </a:path>
            </a:pathLst>
          </a:custGeom>
          <a:noFill/>
          <a:ln w="22225" cap="rnd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111" name="Line 108">
            <a:extLst>
              <a:ext uri="{FF2B5EF4-FFF2-40B4-BE49-F238E27FC236}">
                <a16:creationId xmlns:a16="http://schemas.microsoft.com/office/drawing/2014/main" id="{81800D60-8852-4963-8208-EDCB6E53C785}"/>
              </a:ext>
            </a:extLst>
          </p:cNvPr>
          <p:cNvSpPr>
            <a:spLocks noChangeShapeType="1"/>
          </p:cNvSpPr>
          <p:nvPr/>
        </p:nvSpPr>
        <p:spPr bwMode="auto">
          <a:xfrm>
            <a:off x="6703648" y="4280912"/>
            <a:ext cx="195263" cy="0"/>
          </a:xfrm>
          <a:prstGeom prst="line">
            <a:avLst/>
          </a:prstGeom>
          <a:noFill/>
          <a:ln w="22225" cap="flat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112" name="Line 109">
            <a:extLst>
              <a:ext uri="{FF2B5EF4-FFF2-40B4-BE49-F238E27FC236}">
                <a16:creationId xmlns:a16="http://schemas.microsoft.com/office/drawing/2014/main" id="{3EDF1A3C-B6A4-4221-B6B9-CAC276F50DFB}"/>
              </a:ext>
            </a:extLst>
          </p:cNvPr>
          <p:cNvSpPr>
            <a:spLocks noChangeShapeType="1"/>
          </p:cNvSpPr>
          <p:nvPr/>
        </p:nvSpPr>
        <p:spPr bwMode="auto">
          <a:xfrm>
            <a:off x="6019435" y="4280912"/>
            <a:ext cx="214313" cy="0"/>
          </a:xfrm>
          <a:prstGeom prst="line">
            <a:avLst/>
          </a:prstGeom>
          <a:noFill/>
          <a:ln w="22225" cap="flat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113" name="Line 110">
            <a:extLst>
              <a:ext uri="{FF2B5EF4-FFF2-40B4-BE49-F238E27FC236}">
                <a16:creationId xmlns:a16="http://schemas.microsoft.com/office/drawing/2014/main" id="{5C719B8D-40AA-46AF-8EFB-3C5B8AC3F6C6}"/>
              </a:ext>
            </a:extLst>
          </p:cNvPr>
          <p:cNvSpPr>
            <a:spLocks noChangeShapeType="1"/>
          </p:cNvSpPr>
          <p:nvPr/>
        </p:nvSpPr>
        <p:spPr bwMode="auto">
          <a:xfrm>
            <a:off x="5463810" y="4414262"/>
            <a:ext cx="231775" cy="0"/>
          </a:xfrm>
          <a:prstGeom prst="line">
            <a:avLst/>
          </a:prstGeom>
          <a:noFill/>
          <a:ln w="22225" cap="flat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114" name="Line 111">
            <a:extLst>
              <a:ext uri="{FF2B5EF4-FFF2-40B4-BE49-F238E27FC236}">
                <a16:creationId xmlns:a16="http://schemas.microsoft.com/office/drawing/2014/main" id="{8B9BC091-0985-4751-A992-4FC1F4B4A48F}"/>
              </a:ext>
            </a:extLst>
          </p:cNvPr>
          <p:cNvSpPr>
            <a:spLocks noChangeShapeType="1"/>
          </p:cNvSpPr>
          <p:nvPr/>
        </p:nvSpPr>
        <p:spPr bwMode="auto">
          <a:xfrm>
            <a:off x="5584460" y="4414262"/>
            <a:ext cx="0" cy="265113"/>
          </a:xfrm>
          <a:prstGeom prst="line">
            <a:avLst/>
          </a:prstGeom>
          <a:noFill/>
          <a:ln w="25400" cap="flat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115" name="Line 112">
            <a:extLst>
              <a:ext uri="{FF2B5EF4-FFF2-40B4-BE49-F238E27FC236}">
                <a16:creationId xmlns:a16="http://schemas.microsoft.com/office/drawing/2014/main" id="{8C04E4F3-9DAB-4743-8FF2-72CF0D35A1F6}"/>
              </a:ext>
            </a:extLst>
          </p:cNvPr>
          <p:cNvSpPr>
            <a:spLocks noChangeShapeType="1"/>
          </p:cNvSpPr>
          <p:nvPr/>
        </p:nvSpPr>
        <p:spPr bwMode="auto">
          <a:xfrm>
            <a:off x="5584460" y="4679375"/>
            <a:ext cx="477838" cy="0"/>
          </a:xfrm>
          <a:prstGeom prst="line">
            <a:avLst/>
          </a:prstGeom>
          <a:noFill/>
          <a:ln w="25400" cap="flat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116" name="Line 113">
            <a:extLst>
              <a:ext uri="{FF2B5EF4-FFF2-40B4-BE49-F238E27FC236}">
                <a16:creationId xmlns:a16="http://schemas.microsoft.com/office/drawing/2014/main" id="{5054608B-5C61-476B-A8CB-703832F7D11D}"/>
              </a:ext>
            </a:extLst>
          </p:cNvPr>
          <p:cNvSpPr>
            <a:spLocks noChangeShapeType="1"/>
          </p:cNvSpPr>
          <p:nvPr/>
        </p:nvSpPr>
        <p:spPr bwMode="auto">
          <a:xfrm>
            <a:off x="6062298" y="4280912"/>
            <a:ext cx="0" cy="398463"/>
          </a:xfrm>
          <a:prstGeom prst="line">
            <a:avLst/>
          </a:prstGeom>
          <a:noFill/>
          <a:ln w="25400" cap="flat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117" name="Line 114">
            <a:extLst>
              <a:ext uri="{FF2B5EF4-FFF2-40B4-BE49-F238E27FC236}">
                <a16:creationId xmlns:a16="http://schemas.microsoft.com/office/drawing/2014/main" id="{9AF4039C-9A21-4AF7-A6B8-2471068CB901}"/>
              </a:ext>
            </a:extLst>
          </p:cNvPr>
          <p:cNvSpPr>
            <a:spLocks noChangeShapeType="1"/>
          </p:cNvSpPr>
          <p:nvPr/>
        </p:nvSpPr>
        <p:spPr bwMode="auto">
          <a:xfrm>
            <a:off x="6181360" y="4280912"/>
            <a:ext cx="0" cy="331788"/>
          </a:xfrm>
          <a:prstGeom prst="line">
            <a:avLst/>
          </a:prstGeom>
          <a:noFill/>
          <a:ln w="25400" cap="flat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118" name="Line 115">
            <a:extLst>
              <a:ext uri="{FF2B5EF4-FFF2-40B4-BE49-F238E27FC236}">
                <a16:creationId xmlns:a16="http://schemas.microsoft.com/office/drawing/2014/main" id="{FCAF8CBB-677D-49D9-9741-9A73D5263419}"/>
              </a:ext>
            </a:extLst>
          </p:cNvPr>
          <p:cNvSpPr>
            <a:spLocks noChangeShapeType="1"/>
          </p:cNvSpPr>
          <p:nvPr/>
        </p:nvSpPr>
        <p:spPr bwMode="auto">
          <a:xfrm>
            <a:off x="6181360" y="4612700"/>
            <a:ext cx="615950" cy="0"/>
          </a:xfrm>
          <a:prstGeom prst="line">
            <a:avLst/>
          </a:prstGeom>
          <a:noFill/>
          <a:ln w="25400" cap="flat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119" name="Line 116">
            <a:extLst>
              <a:ext uri="{FF2B5EF4-FFF2-40B4-BE49-F238E27FC236}">
                <a16:creationId xmlns:a16="http://schemas.microsoft.com/office/drawing/2014/main" id="{674157D6-0F7C-46E3-A4DB-6A1324A2380D}"/>
              </a:ext>
            </a:extLst>
          </p:cNvPr>
          <p:cNvSpPr>
            <a:spLocks noChangeShapeType="1"/>
          </p:cNvSpPr>
          <p:nvPr/>
        </p:nvSpPr>
        <p:spPr bwMode="auto">
          <a:xfrm>
            <a:off x="6797310" y="4280912"/>
            <a:ext cx="0" cy="331788"/>
          </a:xfrm>
          <a:prstGeom prst="line">
            <a:avLst/>
          </a:prstGeom>
          <a:noFill/>
          <a:ln w="25400" cap="flat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120" name="Freeform 117">
            <a:extLst>
              <a:ext uri="{FF2B5EF4-FFF2-40B4-BE49-F238E27FC236}">
                <a16:creationId xmlns:a16="http://schemas.microsoft.com/office/drawing/2014/main" id="{4D0C4E01-421A-49AB-9A24-14F9E49DBF1E}"/>
              </a:ext>
            </a:extLst>
          </p:cNvPr>
          <p:cNvSpPr>
            <a:spLocks/>
          </p:cNvSpPr>
          <p:nvPr/>
        </p:nvSpPr>
        <p:spPr bwMode="auto">
          <a:xfrm>
            <a:off x="6317885" y="4679375"/>
            <a:ext cx="298450" cy="661988"/>
          </a:xfrm>
          <a:custGeom>
            <a:avLst/>
            <a:gdLst>
              <a:gd name="T0" fmla="*/ 0 w 188"/>
              <a:gd name="T1" fmla="*/ 278 h 417"/>
              <a:gd name="T2" fmla="*/ 63 w 188"/>
              <a:gd name="T3" fmla="*/ 208 h 417"/>
              <a:gd name="T4" fmla="*/ 0 w 188"/>
              <a:gd name="T5" fmla="*/ 139 h 417"/>
              <a:gd name="T6" fmla="*/ 0 w 188"/>
              <a:gd name="T7" fmla="*/ 0 h 417"/>
              <a:gd name="T8" fmla="*/ 188 w 188"/>
              <a:gd name="T9" fmla="*/ 139 h 417"/>
              <a:gd name="T10" fmla="*/ 188 w 188"/>
              <a:gd name="T11" fmla="*/ 278 h 417"/>
              <a:gd name="T12" fmla="*/ 0 w 188"/>
              <a:gd name="T13" fmla="*/ 417 h 417"/>
              <a:gd name="T14" fmla="*/ 0 w 188"/>
              <a:gd name="T15" fmla="*/ 278 h 41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188" h="417">
                <a:moveTo>
                  <a:pt x="0" y="278"/>
                </a:moveTo>
                <a:lnTo>
                  <a:pt x="63" y="208"/>
                </a:lnTo>
                <a:lnTo>
                  <a:pt x="0" y="139"/>
                </a:lnTo>
                <a:lnTo>
                  <a:pt x="0" y="0"/>
                </a:lnTo>
                <a:lnTo>
                  <a:pt x="188" y="139"/>
                </a:lnTo>
                <a:lnTo>
                  <a:pt x="188" y="278"/>
                </a:lnTo>
                <a:lnTo>
                  <a:pt x="0" y="417"/>
                </a:lnTo>
                <a:lnTo>
                  <a:pt x="0" y="278"/>
                </a:lnTo>
              </a:path>
            </a:pathLst>
          </a:custGeom>
          <a:noFill/>
          <a:ln w="22225" cap="rnd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121" name="Rectangle 118">
            <a:extLst>
              <a:ext uri="{FF2B5EF4-FFF2-40B4-BE49-F238E27FC236}">
                <a16:creationId xmlns:a16="http://schemas.microsoft.com/office/drawing/2014/main" id="{15B2225A-2FA5-4FC4-82FF-8149DE769741}"/>
              </a:ext>
            </a:extLst>
          </p:cNvPr>
          <p:cNvSpPr>
            <a:spLocks noChangeArrowheads="1"/>
          </p:cNvSpPr>
          <p:nvPr/>
        </p:nvSpPr>
        <p:spPr bwMode="auto">
          <a:xfrm rot="5400000">
            <a:off x="6153659" y="4884878"/>
            <a:ext cx="663574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zh-CN" altLang="zh-CN" sz="1600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rPr>
              <a:t>ALU</a:t>
            </a:r>
            <a:endParaRPr kumimoji="0" lang="zh-CN" altLang="zh-CN" sz="160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  <a:ea typeface="SimHei" panose="02010609060101010101" pitchFamily="49" charset="-122"/>
            </a:endParaRPr>
          </a:p>
        </p:txBody>
      </p:sp>
      <p:sp>
        <p:nvSpPr>
          <p:cNvPr id="122" name="Rectangle 119">
            <a:extLst>
              <a:ext uri="{FF2B5EF4-FFF2-40B4-BE49-F238E27FC236}">
                <a16:creationId xmlns:a16="http://schemas.microsoft.com/office/drawing/2014/main" id="{DB35E561-01B1-4AF8-B7D9-A6F4AE3E736E}"/>
              </a:ext>
            </a:extLst>
          </p:cNvPr>
          <p:cNvSpPr>
            <a:spLocks noChangeArrowheads="1"/>
          </p:cNvSpPr>
          <p:nvPr/>
        </p:nvSpPr>
        <p:spPr bwMode="auto">
          <a:xfrm>
            <a:off x="5076460" y="4855587"/>
            <a:ext cx="198772" cy="2154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zh-CN" altLang="zh-CN" sz="1400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rPr>
              <a:t>IM</a:t>
            </a:r>
            <a:endParaRPr kumimoji="0" lang="zh-CN" altLang="zh-CN" sz="180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  <a:ea typeface="SimHei" panose="02010609060101010101" pitchFamily="49" charset="-122"/>
            </a:endParaRPr>
          </a:p>
        </p:txBody>
      </p:sp>
      <p:sp>
        <p:nvSpPr>
          <p:cNvPr id="123" name="Freeform 120">
            <a:extLst>
              <a:ext uri="{FF2B5EF4-FFF2-40B4-BE49-F238E27FC236}">
                <a16:creationId xmlns:a16="http://schemas.microsoft.com/office/drawing/2014/main" id="{45803962-9F7B-40B5-B7D2-0F20F2982379}"/>
              </a:ext>
            </a:extLst>
          </p:cNvPr>
          <p:cNvSpPr>
            <a:spLocks/>
          </p:cNvSpPr>
          <p:nvPr/>
        </p:nvSpPr>
        <p:spPr bwMode="auto">
          <a:xfrm>
            <a:off x="4993910" y="4811137"/>
            <a:ext cx="247650" cy="396875"/>
          </a:xfrm>
          <a:custGeom>
            <a:avLst/>
            <a:gdLst>
              <a:gd name="T0" fmla="*/ 156 w 156"/>
              <a:gd name="T1" fmla="*/ 0 h 250"/>
              <a:gd name="T2" fmla="*/ 0 w 156"/>
              <a:gd name="T3" fmla="*/ 0 h 250"/>
              <a:gd name="T4" fmla="*/ 0 w 156"/>
              <a:gd name="T5" fmla="*/ 250 h 250"/>
              <a:gd name="T6" fmla="*/ 156 w 156"/>
              <a:gd name="T7" fmla="*/ 250 h 2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156" h="250">
                <a:moveTo>
                  <a:pt x="156" y="0"/>
                </a:moveTo>
                <a:lnTo>
                  <a:pt x="0" y="0"/>
                </a:lnTo>
                <a:lnTo>
                  <a:pt x="0" y="250"/>
                </a:lnTo>
                <a:lnTo>
                  <a:pt x="156" y="250"/>
                </a:lnTo>
              </a:path>
            </a:pathLst>
          </a:custGeom>
          <a:noFill/>
          <a:ln w="22225" cap="rnd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124" name="Freeform 121">
            <a:extLst>
              <a:ext uri="{FF2B5EF4-FFF2-40B4-BE49-F238E27FC236}">
                <a16:creationId xmlns:a16="http://schemas.microsoft.com/office/drawing/2014/main" id="{332B01D7-7FB0-4AA1-AD6F-793156AADCDE}"/>
              </a:ext>
            </a:extLst>
          </p:cNvPr>
          <p:cNvSpPr>
            <a:spLocks/>
          </p:cNvSpPr>
          <p:nvPr/>
        </p:nvSpPr>
        <p:spPr bwMode="auto">
          <a:xfrm>
            <a:off x="5241560" y="4811137"/>
            <a:ext cx="238125" cy="396875"/>
          </a:xfrm>
          <a:custGeom>
            <a:avLst/>
            <a:gdLst>
              <a:gd name="T0" fmla="*/ 0 w 150"/>
              <a:gd name="T1" fmla="*/ 0 h 250"/>
              <a:gd name="T2" fmla="*/ 150 w 150"/>
              <a:gd name="T3" fmla="*/ 0 h 250"/>
              <a:gd name="T4" fmla="*/ 150 w 150"/>
              <a:gd name="T5" fmla="*/ 250 h 250"/>
              <a:gd name="T6" fmla="*/ 0 w 150"/>
              <a:gd name="T7" fmla="*/ 250 h 2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150" h="250">
                <a:moveTo>
                  <a:pt x="0" y="0"/>
                </a:moveTo>
                <a:lnTo>
                  <a:pt x="150" y="0"/>
                </a:lnTo>
                <a:lnTo>
                  <a:pt x="150" y="250"/>
                </a:lnTo>
                <a:lnTo>
                  <a:pt x="0" y="250"/>
                </a:lnTo>
              </a:path>
            </a:pathLst>
          </a:custGeom>
          <a:noFill/>
          <a:ln w="22225" cap="rnd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125" name="Rectangle 122">
            <a:extLst>
              <a:ext uri="{FF2B5EF4-FFF2-40B4-BE49-F238E27FC236}">
                <a16:creationId xmlns:a16="http://schemas.microsoft.com/office/drawing/2014/main" id="{B8E7E2E7-7598-4F36-BE41-4EC74E876BA7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06698" y="4865112"/>
            <a:ext cx="328616" cy="2154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zh-CN" altLang="zh-CN" sz="1400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rPr>
              <a:t>Reg</a:t>
            </a:r>
            <a:endParaRPr kumimoji="0" lang="zh-CN" altLang="zh-CN" sz="180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  <a:ea typeface="SimHei" panose="02010609060101010101" pitchFamily="49" charset="-122"/>
            </a:endParaRPr>
          </a:p>
        </p:txBody>
      </p:sp>
      <p:sp>
        <p:nvSpPr>
          <p:cNvPr id="126" name="Freeform 123">
            <a:extLst>
              <a:ext uri="{FF2B5EF4-FFF2-40B4-BE49-F238E27FC236}">
                <a16:creationId xmlns:a16="http://schemas.microsoft.com/office/drawing/2014/main" id="{61A8A14A-1341-4087-B04C-C5EEFA4AA36F}"/>
              </a:ext>
            </a:extLst>
          </p:cNvPr>
          <p:cNvSpPr>
            <a:spLocks/>
          </p:cNvSpPr>
          <p:nvPr/>
        </p:nvSpPr>
        <p:spPr bwMode="auto">
          <a:xfrm>
            <a:off x="5652723" y="4811137"/>
            <a:ext cx="212725" cy="396875"/>
          </a:xfrm>
          <a:custGeom>
            <a:avLst/>
            <a:gdLst>
              <a:gd name="T0" fmla="*/ 134 w 134"/>
              <a:gd name="T1" fmla="*/ 0 h 250"/>
              <a:gd name="T2" fmla="*/ 0 w 134"/>
              <a:gd name="T3" fmla="*/ 0 h 250"/>
              <a:gd name="T4" fmla="*/ 0 w 134"/>
              <a:gd name="T5" fmla="*/ 250 h 250"/>
              <a:gd name="T6" fmla="*/ 134 w 134"/>
              <a:gd name="T7" fmla="*/ 250 h 2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134" h="250">
                <a:moveTo>
                  <a:pt x="134" y="0"/>
                </a:moveTo>
                <a:lnTo>
                  <a:pt x="0" y="0"/>
                </a:lnTo>
                <a:lnTo>
                  <a:pt x="0" y="250"/>
                </a:lnTo>
                <a:lnTo>
                  <a:pt x="134" y="250"/>
                </a:lnTo>
              </a:path>
            </a:pathLst>
          </a:custGeom>
          <a:noFill/>
          <a:ln w="22225" cap="rnd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127" name="Freeform 124">
            <a:extLst>
              <a:ext uri="{FF2B5EF4-FFF2-40B4-BE49-F238E27FC236}">
                <a16:creationId xmlns:a16="http://schemas.microsoft.com/office/drawing/2014/main" id="{EB2EF4F3-29D7-4EB6-9E36-A663B3189379}"/>
              </a:ext>
            </a:extLst>
          </p:cNvPr>
          <p:cNvSpPr>
            <a:spLocks/>
          </p:cNvSpPr>
          <p:nvPr/>
        </p:nvSpPr>
        <p:spPr bwMode="auto">
          <a:xfrm>
            <a:off x="5865448" y="4811137"/>
            <a:ext cx="204788" cy="396875"/>
          </a:xfrm>
          <a:custGeom>
            <a:avLst/>
            <a:gdLst>
              <a:gd name="T0" fmla="*/ 0 w 129"/>
              <a:gd name="T1" fmla="*/ 0 h 250"/>
              <a:gd name="T2" fmla="*/ 129 w 129"/>
              <a:gd name="T3" fmla="*/ 0 h 250"/>
              <a:gd name="T4" fmla="*/ 129 w 129"/>
              <a:gd name="T5" fmla="*/ 250 h 250"/>
              <a:gd name="T6" fmla="*/ 0 w 129"/>
              <a:gd name="T7" fmla="*/ 250 h 2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129" h="250">
                <a:moveTo>
                  <a:pt x="0" y="0"/>
                </a:moveTo>
                <a:lnTo>
                  <a:pt x="129" y="0"/>
                </a:lnTo>
                <a:lnTo>
                  <a:pt x="129" y="250"/>
                </a:lnTo>
                <a:lnTo>
                  <a:pt x="0" y="250"/>
                </a:lnTo>
              </a:path>
            </a:pathLst>
          </a:custGeom>
          <a:noFill/>
          <a:ln w="22225" cap="rnd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128" name="Line 125">
            <a:extLst>
              <a:ext uri="{FF2B5EF4-FFF2-40B4-BE49-F238E27FC236}">
                <a16:creationId xmlns:a16="http://schemas.microsoft.com/office/drawing/2014/main" id="{072C9581-A3A3-4C8B-860C-B82A3AEDE799}"/>
              </a:ext>
            </a:extLst>
          </p:cNvPr>
          <p:cNvSpPr>
            <a:spLocks noChangeShapeType="1"/>
          </p:cNvSpPr>
          <p:nvPr/>
        </p:nvSpPr>
        <p:spPr bwMode="auto">
          <a:xfrm>
            <a:off x="5489210" y="5009575"/>
            <a:ext cx="163513" cy="0"/>
          </a:xfrm>
          <a:prstGeom prst="line">
            <a:avLst/>
          </a:prstGeom>
          <a:noFill/>
          <a:ln w="22225" cap="flat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129" name="Freeform 126">
            <a:extLst>
              <a:ext uri="{FF2B5EF4-FFF2-40B4-BE49-F238E27FC236}">
                <a16:creationId xmlns:a16="http://schemas.microsoft.com/office/drawing/2014/main" id="{6446340B-98E5-424E-9E3D-CCCACCC6194C}"/>
              </a:ext>
            </a:extLst>
          </p:cNvPr>
          <p:cNvSpPr>
            <a:spLocks/>
          </p:cNvSpPr>
          <p:nvPr/>
        </p:nvSpPr>
        <p:spPr bwMode="auto">
          <a:xfrm>
            <a:off x="5584460" y="4877812"/>
            <a:ext cx="66675" cy="131763"/>
          </a:xfrm>
          <a:custGeom>
            <a:avLst/>
            <a:gdLst>
              <a:gd name="T0" fmla="*/ 0 w 42"/>
              <a:gd name="T1" fmla="*/ 83 h 83"/>
              <a:gd name="T2" fmla="*/ 0 w 42"/>
              <a:gd name="T3" fmla="*/ 0 h 83"/>
              <a:gd name="T4" fmla="*/ 42 w 42"/>
              <a:gd name="T5" fmla="*/ 0 h 8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42" h="83">
                <a:moveTo>
                  <a:pt x="0" y="83"/>
                </a:moveTo>
                <a:lnTo>
                  <a:pt x="0" y="0"/>
                </a:lnTo>
                <a:lnTo>
                  <a:pt x="42" y="0"/>
                </a:lnTo>
              </a:path>
            </a:pathLst>
          </a:custGeom>
          <a:noFill/>
          <a:ln w="22225" cap="rnd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130" name="Line 127">
            <a:extLst>
              <a:ext uri="{FF2B5EF4-FFF2-40B4-BE49-F238E27FC236}">
                <a16:creationId xmlns:a16="http://schemas.microsoft.com/office/drawing/2014/main" id="{3476FA29-0593-411C-8578-BE16E23DF202}"/>
              </a:ext>
            </a:extLst>
          </p:cNvPr>
          <p:cNvSpPr>
            <a:spLocks noChangeShapeType="1"/>
          </p:cNvSpPr>
          <p:nvPr/>
        </p:nvSpPr>
        <p:spPr bwMode="auto">
          <a:xfrm>
            <a:off x="6079760" y="4877812"/>
            <a:ext cx="222250" cy="0"/>
          </a:xfrm>
          <a:prstGeom prst="line">
            <a:avLst/>
          </a:prstGeom>
          <a:noFill/>
          <a:ln w="22225" cap="flat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131" name="Rectangle 128">
            <a:extLst>
              <a:ext uri="{FF2B5EF4-FFF2-40B4-BE49-F238E27FC236}">
                <a16:creationId xmlns:a16="http://schemas.microsoft.com/office/drawing/2014/main" id="{8E518340-4B95-41BC-B921-864043FF749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70335" y="4855587"/>
            <a:ext cx="278923" cy="2154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zh-CN" altLang="zh-CN" sz="1400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rPr>
              <a:t>DM</a:t>
            </a:r>
            <a:endParaRPr kumimoji="0" lang="zh-CN" altLang="zh-CN" sz="180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  <a:ea typeface="SimHei" panose="02010609060101010101" pitchFamily="49" charset="-122"/>
            </a:endParaRPr>
          </a:p>
        </p:txBody>
      </p:sp>
      <p:sp>
        <p:nvSpPr>
          <p:cNvPr id="132" name="Freeform 129">
            <a:extLst>
              <a:ext uri="{FF2B5EF4-FFF2-40B4-BE49-F238E27FC236}">
                <a16:creationId xmlns:a16="http://schemas.microsoft.com/office/drawing/2014/main" id="{FFE3EAED-E459-49F8-A5B1-AB2500564730}"/>
              </a:ext>
            </a:extLst>
          </p:cNvPr>
          <p:cNvSpPr>
            <a:spLocks/>
          </p:cNvSpPr>
          <p:nvPr/>
        </p:nvSpPr>
        <p:spPr bwMode="auto">
          <a:xfrm>
            <a:off x="6865573" y="4811137"/>
            <a:ext cx="230188" cy="396875"/>
          </a:xfrm>
          <a:custGeom>
            <a:avLst/>
            <a:gdLst>
              <a:gd name="T0" fmla="*/ 145 w 145"/>
              <a:gd name="T1" fmla="*/ 0 h 250"/>
              <a:gd name="T2" fmla="*/ 0 w 145"/>
              <a:gd name="T3" fmla="*/ 0 h 250"/>
              <a:gd name="T4" fmla="*/ 0 w 145"/>
              <a:gd name="T5" fmla="*/ 250 h 250"/>
              <a:gd name="T6" fmla="*/ 145 w 145"/>
              <a:gd name="T7" fmla="*/ 250 h 2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145" h="250">
                <a:moveTo>
                  <a:pt x="145" y="0"/>
                </a:moveTo>
                <a:lnTo>
                  <a:pt x="0" y="0"/>
                </a:lnTo>
                <a:lnTo>
                  <a:pt x="0" y="250"/>
                </a:lnTo>
                <a:lnTo>
                  <a:pt x="145" y="250"/>
                </a:lnTo>
              </a:path>
            </a:pathLst>
          </a:custGeom>
          <a:noFill/>
          <a:ln w="22225" cap="rnd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133" name="Freeform 130">
            <a:extLst>
              <a:ext uri="{FF2B5EF4-FFF2-40B4-BE49-F238E27FC236}">
                <a16:creationId xmlns:a16="http://schemas.microsoft.com/office/drawing/2014/main" id="{B863A00C-5151-4BE0-99B0-8014100B0A4F}"/>
              </a:ext>
            </a:extLst>
          </p:cNvPr>
          <p:cNvSpPr>
            <a:spLocks/>
          </p:cNvSpPr>
          <p:nvPr/>
        </p:nvSpPr>
        <p:spPr bwMode="auto">
          <a:xfrm>
            <a:off x="7087823" y="4811137"/>
            <a:ext cx="238125" cy="396875"/>
          </a:xfrm>
          <a:custGeom>
            <a:avLst/>
            <a:gdLst>
              <a:gd name="T0" fmla="*/ 0 w 150"/>
              <a:gd name="T1" fmla="*/ 0 h 250"/>
              <a:gd name="T2" fmla="*/ 150 w 150"/>
              <a:gd name="T3" fmla="*/ 0 h 250"/>
              <a:gd name="T4" fmla="*/ 150 w 150"/>
              <a:gd name="T5" fmla="*/ 250 h 250"/>
              <a:gd name="T6" fmla="*/ 0 w 150"/>
              <a:gd name="T7" fmla="*/ 250 h 2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150" h="250">
                <a:moveTo>
                  <a:pt x="0" y="0"/>
                </a:moveTo>
                <a:lnTo>
                  <a:pt x="150" y="0"/>
                </a:lnTo>
                <a:lnTo>
                  <a:pt x="150" y="250"/>
                </a:lnTo>
                <a:lnTo>
                  <a:pt x="0" y="250"/>
                </a:lnTo>
              </a:path>
            </a:pathLst>
          </a:custGeom>
          <a:noFill/>
          <a:ln w="22225" cap="rnd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134" name="Rectangle 131">
            <a:extLst>
              <a:ext uri="{FF2B5EF4-FFF2-40B4-BE49-F238E27FC236}">
                <a16:creationId xmlns:a16="http://schemas.microsoft.com/office/drawing/2014/main" id="{6E2A6CD1-F920-44F1-B291-C519729F295A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70423" y="4855587"/>
            <a:ext cx="328616" cy="2154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zh-CN" altLang="zh-CN" sz="1400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rPr>
              <a:t>Reg</a:t>
            </a:r>
            <a:endParaRPr kumimoji="0" lang="zh-CN" altLang="zh-CN" sz="180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  <a:ea typeface="SimHei" panose="02010609060101010101" pitchFamily="49" charset="-122"/>
            </a:endParaRPr>
          </a:p>
        </p:txBody>
      </p:sp>
      <p:sp>
        <p:nvSpPr>
          <p:cNvPr id="135" name="Freeform 132">
            <a:extLst>
              <a:ext uri="{FF2B5EF4-FFF2-40B4-BE49-F238E27FC236}">
                <a16:creationId xmlns:a16="http://schemas.microsoft.com/office/drawing/2014/main" id="{28FCE5AB-15B2-42B2-B900-3FA97E6B645E}"/>
              </a:ext>
            </a:extLst>
          </p:cNvPr>
          <p:cNvSpPr>
            <a:spLocks/>
          </p:cNvSpPr>
          <p:nvPr/>
        </p:nvSpPr>
        <p:spPr bwMode="auto">
          <a:xfrm>
            <a:off x="7532323" y="4811137"/>
            <a:ext cx="195263" cy="396875"/>
          </a:xfrm>
          <a:custGeom>
            <a:avLst/>
            <a:gdLst>
              <a:gd name="T0" fmla="*/ 123 w 123"/>
              <a:gd name="T1" fmla="*/ 0 h 250"/>
              <a:gd name="T2" fmla="*/ 0 w 123"/>
              <a:gd name="T3" fmla="*/ 0 h 250"/>
              <a:gd name="T4" fmla="*/ 0 w 123"/>
              <a:gd name="T5" fmla="*/ 250 h 250"/>
              <a:gd name="T6" fmla="*/ 123 w 123"/>
              <a:gd name="T7" fmla="*/ 250 h 2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123" h="250">
                <a:moveTo>
                  <a:pt x="123" y="0"/>
                </a:moveTo>
                <a:lnTo>
                  <a:pt x="0" y="0"/>
                </a:lnTo>
                <a:lnTo>
                  <a:pt x="0" y="250"/>
                </a:lnTo>
                <a:lnTo>
                  <a:pt x="123" y="250"/>
                </a:lnTo>
              </a:path>
            </a:pathLst>
          </a:custGeom>
          <a:noFill/>
          <a:ln w="22225" cap="rnd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136" name="Freeform 133">
            <a:extLst>
              <a:ext uri="{FF2B5EF4-FFF2-40B4-BE49-F238E27FC236}">
                <a16:creationId xmlns:a16="http://schemas.microsoft.com/office/drawing/2014/main" id="{45E7FDED-D46B-4C40-840C-DA25E7AE5241}"/>
              </a:ext>
            </a:extLst>
          </p:cNvPr>
          <p:cNvSpPr>
            <a:spLocks/>
          </p:cNvSpPr>
          <p:nvPr/>
        </p:nvSpPr>
        <p:spPr bwMode="auto">
          <a:xfrm>
            <a:off x="7727585" y="4811137"/>
            <a:ext cx="204788" cy="396875"/>
          </a:xfrm>
          <a:custGeom>
            <a:avLst/>
            <a:gdLst>
              <a:gd name="T0" fmla="*/ 0 w 129"/>
              <a:gd name="T1" fmla="*/ 0 h 250"/>
              <a:gd name="T2" fmla="*/ 129 w 129"/>
              <a:gd name="T3" fmla="*/ 0 h 250"/>
              <a:gd name="T4" fmla="*/ 129 w 129"/>
              <a:gd name="T5" fmla="*/ 250 h 250"/>
              <a:gd name="T6" fmla="*/ 0 w 129"/>
              <a:gd name="T7" fmla="*/ 250 h 2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129" h="250">
                <a:moveTo>
                  <a:pt x="0" y="0"/>
                </a:moveTo>
                <a:lnTo>
                  <a:pt x="129" y="0"/>
                </a:lnTo>
                <a:lnTo>
                  <a:pt x="129" y="250"/>
                </a:lnTo>
                <a:lnTo>
                  <a:pt x="0" y="250"/>
                </a:lnTo>
              </a:path>
            </a:pathLst>
          </a:custGeom>
          <a:noFill/>
          <a:ln w="22225" cap="rnd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137" name="Line 134">
            <a:extLst>
              <a:ext uri="{FF2B5EF4-FFF2-40B4-BE49-F238E27FC236}">
                <a16:creationId xmlns:a16="http://schemas.microsoft.com/office/drawing/2014/main" id="{FA970CF7-19C9-40EC-A6CE-FAA828B0E8CD}"/>
              </a:ext>
            </a:extLst>
          </p:cNvPr>
          <p:cNvSpPr>
            <a:spLocks noChangeShapeType="1"/>
          </p:cNvSpPr>
          <p:nvPr/>
        </p:nvSpPr>
        <p:spPr bwMode="auto">
          <a:xfrm>
            <a:off x="7318010" y="5009575"/>
            <a:ext cx="196850" cy="0"/>
          </a:xfrm>
          <a:prstGeom prst="line">
            <a:avLst/>
          </a:prstGeom>
          <a:noFill/>
          <a:ln w="22225" cap="flat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138" name="Line 135">
            <a:extLst>
              <a:ext uri="{FF2B5EF4-FFF2-40B4-BE49-F238E27FC236}">
                <a16:creationId xmlns:a16="http://schemas.microsoft.com/office/drawing/2014/main" id="{23453F5F-1BB0-46AD-8013-7F21A1624C97}"/>
              </a:ext>
            </a:extLst>
          </p:cNvPr>
          <p:cNvSpPr>
            <a:spLocks noChangeShapeType="1"/>
          </p:cNvSpPr>
          <p:nvPr/>
        </p:nvSpPr>
        <p:spPr bwMode="auto">
          <a:xfrm>
            <a:off x="6625860" y="5009575"/>
            <a:ext cx="222250" cy="0"/>
          </a:xfrm>
          <a:prstGeom prst="line">
            <a:avLst/>
          </a:prstGeom>
          <a:noFill/>
          <a:ln w="22225" cap="flat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139" name="Line 136">
            <a:extLst>
              <a:ext uri="{FF2B5EF4-FFF2-40B4-BE49-F238E27FC236}">
                <a16:creationId xmlns:a16="http://schemas.microsoft.com/office/drawing/2014/main" id="{A21B974D-8C71-48B4-A5EA-8F8A07137C22}"/>
              </a:ext>
            </a:extLst>
          </p:cNvPr>
          <p:cNvSpPr>
            <a:spLocks noChangeShapeType="1"/>
          </p:cNvSpPr>
          <p:nvPr/>
        </p:nvSpPr>
        <p:spPr bwMode="auto">
          <a:xfrm>
            <a:off x="6079760" y="5142925"/>
            <a:ext cx="222250" cy="0"/>
          </a:xfrm>
          <a:prstGeom prst="line">
            <a:avLst/>
          </a:prstGeom>
          <a:noFill/>
          <a:ln w="22225" cap="flat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140" name="Line 137">
            <a:extLst>
              <a:ext uri="{FF2B5EF4-FFF2-40B4-BE49-F238E27FC236}">
                <a16:creationId xmlns:a16="http://schemas.microsoft.com/office/drawing/2014/main" id="{141BEF74-9297-4220-BDF5-27098D851EA1}"/>
              </a:ext>
            </a:extLst>
          </p:cNvPr>
          <p:cNvSpPr>
            <a:spLocks noChangeShapeType="1"/>
          </p:cNvSpPr>
          <p:nvPr/>
        </p:nvSpPr>
        <p:spPr bwMode="auto">
          <a:xfrm>
            <a:off x="6198823" y="5142925"/>
            <a:ext cx="0" cy="265113"/>
          </a:xfrm>
          <a:prstGeom prst="line">
            <a:avLst/>
          </a:prstGeom>
          <a:noFill/>
          <a:ln w="25400" cap="flat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141" name="Line 138">
            <a:extLst>
              <a:ext uri="{FF2B5EF4-FFF2-40B4-BE49-F238E27FC236}">
                <a16:creationId xmlns:a16="http://schemas.microsoft.com/office/drawing/2014/main" id="{BCBD3309-6A9C-4F22-A4FD-A4C91C169781}"/>
              </a:ext>
            </a:extLst>
          </p:cNvPr>
          <p:cNvSpPr>
            <a:spLocks noChangeShapeType="1"/>
          </p:cNvSpPr>
          <p:nvPr/>
        </p:nvSpPr>
        <p:spPr bwMode="auto">
          <a:xfrm>
            <a:off x="6198823" y="5408037"/>
            <a:ext cx="479425" cy="0"/>
          </a:xfrm>
          <a:prstGeom prst="line">
            <a:avLst/>
          </a:prstGeom>
          <a:noFill/>
          <a:ln w="25400" cap="flat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142" name="Line 139">
            <a:extLst>
              <a:ext uri="{FF2B5EF4-FFF2-40B4-BE49-F238E27FC236}">
                <a16:creationId xmlns:a16="http://schemas.microsoft.com/office/drawing/2014/main" id="{B66A434B-A228-4BC9-A357-417731D1B3F2}"/>
              </a:ext>
            </a:extLst>
          </p:cNvPr>
          <p:cNvSpPr>
            <a:spLocks noChangeShapeType="1"/>
          </p:cNvSpPr>
          <p:nvPr/>
        </p:nvSpPr>
        <p:spPr bwMode="auto">
          <a:xfrm>
            <a:off x="6678248" y="5009575"/>
            <a:ext cx="0" cy="398463"/>
          </a:xfrm>
          <a:prstGeom prst="line">
            <a:avLst/>
          </a:prstGeom>
          <a:noFill/>
          <a:ln w="25400" cap="flat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143" name="Line 140">
            <a:extLst>
              <a:ext uri="{FF2B5EF4-FFF2-40B4-BE49-F238E27FC236}">
                <a16:creationId xmlns:a16="http://schemas.microsoft.com/office/drawing/2014/main" id="{3E29AEFD-9E3A-4C12-A5A9-9912646BA4A1}"/>
              </a:ext>
            </a:extLst>
          </p:cNvPr>
          <p:cNvSpPr>
            <a:spLocks noChangeShapeType="1"/>
          </p:cNvSpPr>
          <p:nvPr/>
        </p:nvSpPr>
        <p:spPr bwMode="auto">
          <a:xfrm>
            <a:off x="6797310" y="5009575"/>
            <a:ext cx="0" cy="331788"/>
          </a:xfrm>
          <a:prstGeom prst="line">
            <a:avLst/>
          </a:prstGeom>
          <a:noFill/>
          <a:ln w="25400" cap="flat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144" name="Line 141">
            <a:extLst>
              <a:ext uri="{FF2B5EF4-FFF2-40B4-BE49-F238E27FC236}">
                <a16:creationId xmlns:a16="http://schemas.microsoft.com/office/drawing/2014/main" id="{9100AF99-B3C7-4942-8725-F4FE439A5EBB}"/>
              </a:ext>
            </a:extLst>
          </p:cNvPr>
          <p:cNvSpPr>
            <a:spLocks noChangeShapeType="1"/>
          </p:cNvSpPr>
          <p:nvPr/>
        </p:nvSpPr>
        <p:spPr bwMode="auto">
          <a:xfrm>
            <a:off x="6797310" y="5341362"/>
            <a:ext cx="614363" cy="0"/>
          </a:xfrm>
          <a:prstGeom prst="line">
            <a:avLst/>
          </a:prstGeom>
          <a:noFill/>
          <a:ln w="25400" cap="flat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145" name="Line 142">
            <a:extLst>
              <a:ext uri="{FF2B5EF4-FFF2-40B4-BE49-F238E27FC236}">
                <a16:creationId xmlns:a16="http://schemas.microsoft.com/office/drawing/2014/main" id="{F2F0FC6D-D71A-443C-9C4C-1B26E1BB1A12}"/>
              </a:ext>
            </a:extLst>
          </p:cNvPr>
          <p:cNvSpPr>
            <a:spLocks noChangeShapeType="1"/>
          </p:cNvSpPr>
          <p:nvPr/>
        </p:nvSpPr>
        <p:spPr bwMode="auto">
          <a:xfrm>
            <a:off x="7411673" y="5009575"/>
            <a:ext cx="0" cy="331788"/>
          </a:xfrm>
          <a:prstGeom prst="line">
            <a:avLst/>
          </a:prstGeom>
          <a:noFill/>
          <a:ln w="25400" cap="flat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146" name="Freeform 143">
            <a:extLst>
              <a:ext uri="{FF2B5EF4-FFF2-40B4-BE49-F238E27FC236}">
                <a16:creationId xmlns:a16="http://schemas.microsoft.com/office/drawing/2014/main" id="{AF005A00-F6F3-4BF3-9E0A-32F29BB6264D}"/>
              </a:ext>
            </a:extLst>
          </p:cNvPr>
          <p:cNvSpPr>
            <a:spLocks/>
          </p:cNvSpPr>
          <p:nvPr/>
        </p:nvSpPr>
        <p:spPr bwMode="auto">
          <a:xfrm>
            <a:off x="6933835" y="5408037"/>
            <a:ext cx="298450" cy="661988"/>
          </a:xfrm>
          <a:custGeom>
            <a:avLst/>
            <a:gdLst>
              <a:gd name="T0" fmla="*/ 0 w 188"/>
              <a:gd name="T1" fmla="*/ 278 h 417"/>
              <a:gd name="T2" fmla="*/ 63 w 188"/>
              <a:gd name="T3" fmla="*/ 208 h 417"/>
              <a:gd name="T4" fmla="*/ 0 w 188"/>
              <a:gd name="T5" fmla="*/ 139 h 417"/>
              <a:gd name="T6" fmla="*/ 0 w 188"/>
              <a:gd name="T7" fmla="*/ 0 h 417"/>
              <a:gd name="T8" fmla="*/ 188 w 188"/>
              <a:gd name="T9" fmla="*/ 139 h 417"/>
              <a:gd name="T10" fmla="*/ 188 w 188"/>
              <a:gd name="T11" fmla="*/ 278 h 417"/>
              <a:gd name="T12" fmla="*/ 0 w 188"/>
              <a:gd name="T13" fmla="*/ 417 h 417"/>
              <a:gd name="T14" fmla="*/ 0 w 188"/>
              <a:gd name="T15" fmla="*/ 278 h 41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188" h="417">
                <a:moveTo>
                  <a:pt x="0" y="278"/>
                </a:moveTo>
                <a:lnTo>
                  <a:pt x="63" y="208"/>
                </a:lnTo>
                <a:lnTo>
                  <a:pt x="0" y="139"/>
                </a:lnTo>
                <a:lnTo>
                  <a:pt x="0" y="0"/>
                </a:lnTo>
                <a:lnTo>
                  <a:pt x="188" y="139"/>
                </a:lnTo>
                <a:lnTo>
                  <a:pt x="188" y="278"/>
                </a:lnTo>
                <a:lnTo>
                  <a:pt x="0" y="417"/>
                </a:lnTo>
                <a:lnTo>
                  <a:pt x="0" y="278"/>
                </a:lnTo>
              </a:path>
            </a:pathLst>
          </a:custGeom>
          <a:noFill/>
          <a:ln w="22225" cap="rnd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147" name="Rectangle 144">
            <a:extLst>
              <a:ext uri="{FF2B5EF4-FFF2-40B4-BE49-F238E27FC236}">
                <a16:creationId xmlns:a16="http://schemas.microsoft.com/office/drawing/2014/main" id="{2B6866B1-AC9A-4842-B610-31B1EA302F55}"/>
              </a:ext>
            </a:extLst>
          </p:cNvPr>
          <p:cNvSpPr>
            <a:spLocks noChangeArrowheads="1"/>
          </p:cNvSpPr>
          <p:nvPr/>
        </p:nvSpPr>
        <p:spPr bwMode="auto">
          <a:xfrm rot="5400000">
            <a:off x="6768021" y="5613540"/>
            <a:ext cx="638990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zh-CN" altLang="zh-CN" sz="1600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rPr>
              <a:t>ALU</a:t>
            </a:r>
            <a:endParaRPr kumimoji="0" lang="zh-CN" altLang="zh-CN" sz="160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  <a:ea typeface="SimHei" panose="02010609060101010101" pitchFamily="49" charset="-122"/>
            </a:endParaRPr>
          </a:p>
        </p:txBody>
      </p:sp>
      <p:sp>
        <p:nvSpPr>
          <p:cNvPr id="148" name="Rectangle 145">
            <a:extLst>
              <a:ext uri="{FF2B5EF4-FFF2-40B4-BE49-F238E27FC236}">
                <a16:creationId xmlns:a16="http://schemas.microsoft.com/office/drawing/2014/main" id="{31B479C3-EBE4-475D-9342-700DBDB8D282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89235" y="5584250"/>
            <a:ext cx="198772" cy="2154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zh-CN" altLang="zh-CN" sz="1400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rPr>
              <a:t>IM</a:t>
            </a:r>
            <a:endParaRPr kumimoji="0" lang="zh-CN" altLang="zh-CN" sz="180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  <a:ea typeface="SimHei" panose="02010609060101010101" pitchFamily="49" charset="-122"/>
            </a:endParaRPr>
          </a:p>
        </p:txBody>
      </p:sp>
      <p:sp>
        <p:nvSpPr>
          <p:cNvPr id="149" name="Freeform 146">
            <a:extLst>
              <a:ext uri="{FF2B5EF4-FFF2-40B4-BE49-F238E27FC236}">
                <a16:creationId xmlns:a16="http://schemas.microsoft.com/office/drawing/2014/main" id="{B97A1A58-8F77-491C-BC48-7BF3E4B3A53C}"/>
              </a:ext>
            </a:extLst>
          </p:cNvPr>
          <p:cNvSpPr>
            <a:spLocks/>
          </p:cNvSpPr>
          <p:nvPr/>
        </p:nvSpPr>
        <p:spPr bwMode="auto">
          <a:xfrm>
            <a:off x="5609860" y="5539800"/>
            <a:ext cx="246063" cy="396875"/>
          </a:xfrm>
          <a:custGeom>
            <a:avLst/>
            <a:gdLst>
              <a:gd name="T0" fmla="*/ 155 w 155"/>
              <a:gd name="T1" fmla="*/ 0 h 250"/>
              <a:gd name="T2" fmla="*/ 0 w 155"/>
              <a:gd name="T3" fmla="*/ 0 h 250"/>
              <a:gd name="T4" fmla="*/ 0 w 155"/>
              <a:gd name="T5" fmla="*/ 250 h 250"/>
              <a:gd name="T6" fmla="*/ 155 w 155"/>
              <a:gd name="T7" fmla="*/ 250 h 2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155" h="250">
                <a:moveTo>
                  <a:pt x="155" y="0"/>
                </a:moveTo>
                <a:lnTo>
                  <a:pt x="0" y="0"/>
                </a:lnTo>
                <a:lnTo>
                  <a:pt x="0" y="250"/>
                </a:lnTo>
                <a:lnTo>
                  <a:pt x="155" y="250"/>
                </a:lnTo>
              </a:path>
            </a:pathLst>
          </a:custGeom>
          <a:noFill/>
          <a:ln w="22225" cap="rnd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150" name="Freeform 147">
            <a:extLst>
              <a:ext uri="{FF2B5EF4-FFF2-40B4-BE49-F238E27FC236}">
                <a16:creationId xmlns:a16="http://schemas.microsoft.com/office/drawing/2014/main" id="{C7525D68-39BC-45A9-924F-85E849CF7A02}"/>
              </a:ext>
            </a:extLst>
          </p:cNvPr>
          <p:cNvSpPr>
            <a:spLocks/>
          </p:cNvSpPr>
          <p:nvPr/>
        </p:nvSpPr>
        <p:spPr bwMode="auto">
          <a:xfrm>
            <a:off x="5857510" y="5539800"/>
            <a:ext cx="238125" cy="396875"/>
          </a:xfrm>
          <a:custGeom>
            <a:avLst/>
            <a:gdLst>
              <a:gd name="T0" fmla="*/ 0 w 150"/>
              <a:gd name="T1" fmla="*/ 0 h 250"/>
              <a:gd name="T2" fmla="*/ 150 w 150"/>
              <a:gd name="T3" fmla="*/ 0 h 250"/>
              <a:gd name="T4" fmla="*/ 150 w 150"/>
              <a:gd name="T5" fmla="*/ 250 h 250"/>
              <a:gd name="T6" fmla="*/ 0 w 150"/>
              <a:gd name="T7" fmla="*/ 250 h 2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150" h="250">
                <a:moveTo>
                  <a:pt x="0" y="0"/>
                </a:moveTo>
                <a:lnTo>
                  <a:pt x="150" y="0"/>
                </a:lnTo>
                <a:lnTo>
                  <a:pt x="150" y="250"/>
                </a:lnTo>
                <a:lnTo>
                  <a:pt x="0" y="250"/>
                </a:lnTo>
              </a:path>
            </a:pathLst>
          </a:custGeom>
          <a:noFill/>
          <a:ln w="22225" cap="rnd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151" name="Rectangle 148">
            <a:extLst>
              <a:ext uri="{FF2B5EF4-FFF2-40B4-BE49-F238E27FC236}">
                <a16:creationId xmlns:a16="http://schemas.microsoft.com/office/drawing/2014/main" id="{CE2460B7-378F-4B1C-B476-35998FB9B3E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21060" y="5593775"/>
            <a:ext cx="328616" cy="2154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zh-CN" altLang="zh-CN" sz="1400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rPr>
              <a:t>Reg</a:t>
            </a:r>
            <a:endParaRPr kumimoji="0" lang="zh-CN" altLang="zh-CN" sz="180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  <a:ea typeface="SimHei" panose="02010609060101010101" pitchFamily="49" charset="-122"/>
            </a:endParaRPr>
          </a:p>
        </p:txBody>
      </p:sp>
      <p:sp>
        <p:nvSpPr>
          <p:cNvPr id="152" name="Freeform 149">
            <a:extLst>
              <a:ext uri="{FF2B5EF4-FFF2-40B4-BE49-F238E27FC236}">
                <a16:creationId xmlns:a16="http://schemas.microsoft.com/office/drawing/2014/main" id="{F40C4A68-9901-4C23-B263-CE235374B2C7}"/>
              </a:ext>
            </a:extLst>
          </p:cNvPr>
          <p:cNvSpPr>
            <a:spLocks/>
          </p:cNvSpPr>
          <p:nvPr/>
        </p:nvSpPr>
        <p:spPr bwMode="auto">
          <a:xfrm>
            <a:off x="6267085" y="5539800"/>
            <a:ext cx="212725" cy="396875"/>
          </a:xfrm>
          <a:custGeom>
            <a:avLst/>
            <a:gdLst>
              <a:gd name="T0" fmla="*/ 134 w 134"/>
              <a:gd name="T1" fmla="*/ 0 h 250"/>
              <a:gd name="T2" fmla="*/ 0 w 134"/>
              <a:gd name="T3" fmla="*/ 0 h 250"/>
              <a:gd name="T4" fmla="*/ 0 w 134"/>
              <a:gd name="T5" fmla="*/ 250 h 250"/>
              <a:gd name="T6" fmla="*/ 134 w 134"/>
              <a:gd name="T7" fmla="*/ 250 h 2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134" h="250">
                <a:moveTo>
                  <a:pt x="134" y="0"/>
                </a:moveTo>
                <a:lnTo>
                  <a:pt x="0" y="0"/>
                </a:lnTo>
                <a:lnTo>
                  <a:pt x="0" y="250"/>
                </a:lnTo>
                <a:lnTo>
                  <a:pt x="134" y="250"/>
                </a:lnTo>
              </a:path>
            </a:pathLst>
          </a:custGeom>
          <a:noFill/>
          <a:ln w="22225" cap="rnd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153" name="Freeform 150">
            <a:extLst>
              <a:ext uri="{FF2B5EF4-FFF2-40B4-BE49-F238E27FC236}">
                <a16:creationId xmlns:a16="http://schemas.microsoft.com/office/drawing/2014/main" id="{C481B853-2F23-4934-B482-27617E081F6F}"/>
              </a:ext>
            </a:extLst>
          </p:cNvPr>
          <p:cNvSpPr>
            <a:spLocks/>
          </p:cNvSpPr>
          <p:nvPr/>
        </p:nvSpPr>
        <p:spPr bwMode="auto">
          <a:xfrm>
            <a:off x="6481398" y="5539800"/>
            <a:ext cx="203200" cy="396875"/>
          </a:xfrm>
          <a:custGeom>
            <a:avLst/>
            <a:gdLst>
              <a:gd name="T0" fmla="*/ 0 w 128"/>
              <a:gd name="T1" fmla="*/ 0 h 250"/>
              <a:gd name="T2" fmla="*/ 128 w 128"/>
              <a:gd name="T3" fmla="*/ 0 h 250"/>
              <a:gd name="T4" fmla="*/ 128 w 128"/>
              <a:gd name="T5" fmla="*/ 250 h 250"/>
              <a:gd name="T6" fmla="*/ 0 w 128"/>
              <a:gd name="T7" fmla="*/ 250 h 2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128" h="250">
                <a:moveTo>
                  <a:pt x="0" y="0"/>
                </a:moveTo>
                <a:lnTo>
                  <a:pt x="128" y="0"/>
                </a:lnTo>
                <a:lnTo>
                  <a:pt x="128" y="250"/>
                </a:lnTo>
                <a:lnTo>
                  <a:pt x="0" y="250"/>
                </a:lnTo>
              </a:path>
            </a:pathLst>
          </a:custGeom>
          <a:noFill/>
          <a:ln w="22225" cap="rnd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154" name="Line 151">
            <a:extLst>
              <a:ext uri="{FF2B5EF4-FFF2-40B4-BE49-F238E27FC236}">
                <a16:creationId xmlns:a16="http://schemas.microsoft.com/office/drawing/2014/main" id="{0786A325-BB41-4703-BB32-BDFF9CE4998B}"/>
              </a:ext>
            </a:extLst>
          </p:cNvPr>
          <p:cNvSpPr>
            <a:spLocks noChangeShapeType="1"/>
          </p:cNvSpPr>
          <p:nvPr/>
        </p:nvSpPr>
        <p:spPr bwMode="auto">
          <a:xfrm>
            <a:off x="6105160" y="5739825"/>
            <a:ext cx="161925" cy="0"/>
          </a:xfrm>
          <a:prstGeom prst="line">
            <a:avLst/>
          </a:prstGeom>
          <a:noFill/>
          <a:ln w="22225" cap="flat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155" name="Freeform 152">
            <a:extLst>
              <a:ext uri="{FF2B5EF4-FFF2-40B4-BE49-F238E27FC236}">
                <a16:creationId xmlns:a16="http://schemas.microsoft.com/office/drawing/2014/main" id="{E248D9E1-F27B-47C1-8032-894E2BCAD1C5}"/>
              </a:ext>
            </a:extLst>
          </p:cNvPr>
          <p:cNvSpPr>
            <a:spLocks/>
          </p:cNvSpPr>
          <p:nvPr/>
        </p:nvSpPr>
        <p:spPr bwMode="auto">
          <a:xfrm>
            <a:off x="6198823" y="5606475"/>
            <a:ext cx="68263" cy="131763"/>
          </a:xfrm>
          <a:custGeom>
            <a:avLst/>
            <a:gdLst>
              <a:gd name="T0" fmla="*/ 0 w 43"/>
              <a:gd name="T1" fmla="*/ 83 h 83"/>
              <a:gd name="T2" fmla="*/ 0 w 43"/>
              <a:gd name="T3" fmla="*/ 0 h 83"/>
              <a:gd name="T4" fmla="*/ 43 w 43"/>
              <a:gd name="T5" fmla="*/ 0 h 8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43" h="83">
                <a:moveTo>
                  <a:pt x="0" y="83"/>
                </a:moveTo>
                <a:lnTo>
                  <a:pt x="0" y="0"/>
                </a:lnTo>
                <a:lnTo>
                  <a:pt x="43" y="0"/>
                </a:lnTo>
              </a:path>
            </a:pathLst>
          </a:custGeom>
          <a:noFill/>
          <a:ln w="22225" cap="rnd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156" name="Line 153">
            <a:extLst>
              <a:ext uri="{FF2B5EF4-FFF2-40B4-BE49-F238E27FC236}">
                <a16:creationId xmlns:a16="http://schemas.microsoft.com/office/drawing/2014/main" id="{9E20A099-BB7D-48E3-BA6B-92272FC11EBF}"/>
              </a:ext>
            </a:extLst>
          </p:cNvPr>
          <p:cNvSpPr>
            <a:spLocks noChangeShapeType="1"/>
          </p:cNvSpPr>
          <p:nvPr/>
        </p:nvSpPr>
        <p:spPr bwMode="auto">
          <a:xfrm>
            <a:off x="6694123" y="5606475"/>
            <a:ext cx="222250" cy="0"/>
          </a:xfrm>
          <a:prstGeom prst="line">
            <a:avLst/>
          </a:prstGeom>
          <a:noFill/>
          <a:ln w="22225" cap="flat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157" name="Rectangle 154">
            <a:extLst>
              <a:ext uri="{FF2B5EF4-FFF2-40B4-BE49-F238E27FC236}">
                <a16:creationId xmlns:a16="http://schemas.microsoft.com/office/drawing/2014/main" id="{E91380FA-A9CD-4BBC-89AF-C808F0FB1860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86285" y="5584250"/>
            <a:ext cx="278923" cy="2154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zh-CN" altLang="zh-CN" sz="1400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rPr>
              <a:t>DM</a:t>
            </a:r>
            <a:endParaRPr kumimoji="0" lang="zh-CN" altLang="zh-CN" sz="180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  <a:ea typeface="SimHei" panose="02010609060101010101" pitchFamily="49" charset="-122"/>
            </a:endParaRPr>
          </a:p>
        </p:txBody>
      </p:sp>
      <p:sp>
        <p:nvSpPr>
          <p:cNvPr id="158" name="Freeform 155">
            <a:extLst>
              <a:ext uri="{FF2B5EF4-FFF2-40B4-BE49-F238E27FC236}">
                <a16:creationId xmlns:a16="http://schemas.microsoft.com/office/drawing/2014/main" id="{D223FC35-C0EE-49D0-8416-9D8CF2E6EDBD}"/>
              </a:ext>
            </a:extLst>
          </p:cNvPr>
          <p:cNvSpPr>
            <a:spLocks/>
          </p:cNvSpPr>
          <p:nvPr/>
        </p:nvSpPr>
        <p:spPr bwMode="auto">
          <a:xfrm>
            <a:off x="7479935" y="5539800"/>
            <a:ext cx="230188" cy="396875"/>
          </a:xfrm>
          <a:custGeom>
            <a:avLst/>
            <a:gdLst>
              <a:gd name="T0" fmla="*/ 145 w 145"/>
              <a:gd name="T1" fmla="*/ 0 h 250"/>
              <a:gd name="T2" fmla="*/ 0 w 145"/>
              <a:gd name="T3" fmla="*/ 0 h 250"/>
              <a:gd name="T4" fmla="*/ 0 w 145"/>
              <a:gd name="T5" fmla="*/ 250 h 250"/>
              <a:gd name="T6" fmla="*/ 145 w 145"/>
              <a:gd name="T7" fmla="*/ 250 h 2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145" h="250">
                <a:moveTo>
                  <a:pt x="145" y="0"/>
                </a:moveTo>
                <a:lnTo>
                  <a:pt x="0" y="0"/>
                </a:lnTo>
                <a:lnTo>
                  <a:pt x="0" y="250"/>
                </a:lnTo>
                <a:lnTo>
                  <a:pt x="145" y="250"/>
                </a:lnTo>
              </a:path>
            </a:pathLst>
          </a:custGeom>
          <a:noFill/>
          <a:ln w="22225" cap="rnd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159" name="Freeform 156">
            <a:extLst>
              <a:ext uri="{FF2B5EF4-FFF2-40B4-BE49-F238E27FC236}">
                <a16:creationId xmlns:a16="http://schemas.microsoft.com/office/drawing/2014/main" id="{6928928E-35D9-4115-9DF9-3AC8914064D4}"/>
              </a:ext>
            </a:extLst>
          </p:cNvPr>
          <p:cNvSpPr>
            <a:spLocks/>
          </p:cNvSpPr>
          <p:nvPr/>
        </p:nvSpPr>
        <p:spPr bwMode="auto">
          <a:xfrm>
            <a:off x="7702185" y="5539800"/>
            <a:ext cx="238125" cy="396875"/>
          </a:xfrm>
          <a:custGeom>
            <a:avLst/>
            <a:gdLst>
              <a:gd name="T0" fmla="*/ 0 w 150"/>
              <a:gd name="T1" fmla="*/ 0 h 250"/>
              <a:gd name="T2" fmla="*/ 150 w 150"/>
              <a:gd name="T3" fmla="*/ 0 h 250"/>
              <a:gd name="T4" fmla="*/ 150 w 150"/>
              <a:gd name="T5" fmla="*/ 250 h 250"/>
              <a:gd name="T6" fmla="*/ 0 w 150"/>
              <a:gd name="T7" fmla="*/ 250 h 2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150" h="250">
                <a:moveTo>
                  <a:pt x="0" y="0"/>
                </a:moveTo>
                <a:lnTo>
                  <a:pt x="150" y="0"/>
                </a:lnTo>
                <a:lnTo>
                  <a:pt x="150" y="250"/>
                </a:lnTo>
                <a:lnTo>
                  <a:pt x="0" y="250"/>
                </a:lnTo>
              </a:path>
            </a:pathLst>
          </a:custGeom>
          <a:noFill/>
          <a:ln w="22225" cap="rnd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160" name="Rectangle 157">
            <a:extLst>
              <a:ext uri="{FF2B5EF4-FFF2-40B4-BE49-F238E27FC236}">
                <a16:creationId xmlns:a16="http://schemas.microsoft.com/office/drawing/2014/main" id="{F2DE6E3C-61D9-418D-B742-4D37E188AE25}"/>
              </a:ext>
            </a:extLst>
          </p:cNvPr>
          <p:cNvSpPr>
            <a:spLocks noChangeArrowheads="1"/>
          </p:cNvSpPr>
          <p:nvPr/>
        </p:nvSpPr>
        <p:spPr bwMode="auto">
          <a:xfrm>
            <a:off x="8186373" y="5584250"/>
            <a:ext cx="328616" cy="2154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zh-CN" altLang="zh-CN" sz="1400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  <a:ea typeface="SimHei" panose="02010609060101010101" pitchFamily="49" charset="-122"/>
              </a:rPr>
              <a:t>Reg</a:t>
            </a:r>
            <a:endParaRPr kumimoji="0" lang="zh-CN" altLang="zh-CN" sz="180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  <a:ea typeface="SimHei" panose="02010609060101010101" pitchFamily="49" charset="-122"/>
            </a:endParaRPr>
          </a:p>
        </p:txBody>
      </p:sp>
      <p:sp>
        <p:nvSpPr>
          <p:cNvPr id="161" name="Freeform 158">
            <a:extLst>
              <a:ext uri="{FF2B5EF4-FFF2-40B4-BE49-F238E27FC236}">
                <a16:creationId xmlns:a16="http://schemas.microsoft.com/office/drawing/2014/main" id="{69D87B03-4769-4C6A-91B7-845B72A1BD9D}"/>
              </a:ext>
            </a:extLst>
          </p:cNvPr>
          <p:cNvSpPr>
            <a:spLocks/>
          </p:cNvSpPr>
          <p:nvPr/>
        </p:nvSpPr>
        <p:spPr bwMode="auto">
          <a:xfrm>
            <a:off x="8146685" y="5539800"/>
            <a:ext cx="195263" cy="396875"/>
          </a:xfrm>
          <a:custGeom>
            <a:avLst/>
            <a:gdLst>
              <a:gd name="T0" fmla="*/ 123 w 123"/>
              <a:gd name="T1" fmla="*/ 0 h 250"/>
              <a:gd name="T2" fmla="*/ 0 w 123"/>
              <a:gd name="T3" fmla="*/ 0 h 250"/>
              <a:gd name="T4" fmla="*/ 0 w 123"/>
              <a:gd name="T5" fmla="*/ 250 h 250"/>
              <a:gd name="T6" fmla="*/ 123 w 123"/>
              <a:gd name="T7" fmla="*/ 250 h 2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123" h="250">
                <a:moveTo>
                  <a:pt x="123" y="0"/>
                </a:moveTo>
                <a:lnTo>
                  <a:pt x="0" y="0"/>
                </a:lnTo>
                <a:lnTo>
                  <a:pt x="0" y="250"/>
                </a:lnTo>
                <a:lnTo>
                  <a:pt x="123" y="250"/>
                </a:lnTo>
              </a:path>
            </a:pathLst>
          </a:custGeom>
          <a:noFill/>
          <a:ln w="22225" cap="rnd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162" name="Freeform 159">
            <a:extLst>
              <a:ext uri="{FF2B5EF4-FFF2-40B4-BE49-F238E27FC236}">
                <a16:creationId xmlns:a16="http://schemas.microsoft.com/office/drawing/2014/main" id="{E53FA45C-F3DD-4836-93A4-9237AEA5B87B}"/>
              </a:ext>
            </a:extLst>
          </p:cNvPr>
          <p:cNvSpPr>
            <a:spLocks/>
          </p:cNvSpPr>
          <p:nvPr/>
        </p:nvSpPr>
        <p:spPr bwMode="auto">
          <a:xfrm>
            <a:off x="8343535" y="5539800"/>
            <a:ext cx="203200" cy="396875"/>
          </a:xfrm>
          <a:custGeom>
            <a:avLst/>
            <a:gdLst>
              <a:gd name="T0" fmla="*/ 0 w 128"/>
              <a:gd name="T1" fmla="*/ 0 h 250"/>
              <a:gd name="T2" fmla="*/ 128 w 128"/>
              <a:gd name="T3" fmla="*/ 0 h 250"/>
              <a:gd name="T4" fmla="*/ 128 w 128"/>
              <a:gd name="T5" fmla="*/ 250 h 250"/>
              <a:gd name="T6" fmla="*/ 0 w 128"/>
              <a:gd name="T7" fmla="*/ 250 h 2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128" h="250">
                <a:moveTo>
                  <a:pt x="0" y="0"/>
                </a:moveTo>
                <a:lnTo>
                  <a:pt x="128" y="0"/>
                </a:lnTo>
                <a:lnTo>
                  <a:pt x="128" y="250"/>
                </a:lnTo>
                <a:lnTo>
                  <a:pt x="0" y="250"/>
                </a:lnTo>
              </a:path>
            </a:pathLst>
          </a:custGeom>
          <a:noFill/>
          <a:ln w="22225" cap="rnd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163" name="Line 160">
            <a:extLst>
              <a:ext uri="{FF2B5EF4-FFF2-40B4-BE49-F238E27FC236}">
                <a16:creationId xmlns:a16="http://schemas.microsoft.com/office/drawing/2014/main" id="{B3C64ED3-D093-47C7-84F5-AFE135853E26}"/>
              </a:ext>
            </a:extLst>
          </p:cNvPr>
          <p:cNvSpPr>
            <a:spLocks noChangeShapeType="1"/>
          </p:cNvSpPr>
          <p:nvPr/>
        </p:nvSpPr>
        <p:spPr bwMode="auto">
          <a:xfrm>
            <a:off x="7933960" y="5739825"/>
            <a:ext cx="195263" cy="0"/>
          </a:xfrm>
          <a:prstGeom prst="line">
            <a:avLst/>
          </a:prstGeom>
          <a:noFill/>
          <a:ln w="22225" cap="flat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164" name="Line 161">
            <a:extLst>
              <a:ext uri="{FF2B5EF4-FFF2-40B4-BE49-F238E27FC236}">
                <a16:creationId xmlns:a16="http://schemas.microsoft.com/office/drawing/2014/main" id="{754B66D8-2C5B-4145-B96E-E109BD9AEA80}"/>
              </a:ext>
            </a:extLst>
          </p:cNvPr>
          <p:cNvSpPr>
            <a:spLocks noChangeShapeType="1"/>
          </p:cNvSpPr>
          <p:nvPr/>
        </p:nvSpPr>
        <p:spPr bwMode="auto">
          <a:xfrm>
            <a:off x="7241810" y="5739825"/>
            <a:ext cx="222250" cy="0"/>
          </a:xfrm>
          <a:prstGeom prst="line">
            <a:avLst/>
          </a:prstGeom>
          <a:noFill/>
          <a:ln w="22225" cap="flat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165" name="Line 162">
            <a:extLst>
              <a:ext uri="{FF2B5EF4-FFF2-40B4-BE49-F238E27FC236}">
                <a16:creationId xmlns:a16="http://schemas.microsoft.com/office/drawing/2014/main" id="{85DFDA28-BEC1-4587-823E-C78EABF4D6A0}"/>
              </a:ext>
            </a:extLst>
          </p:cNvPr>
          <p:cNvSpPr>
            <a:spLocks noChangeShapeType="1"/>
          </p:cNvSpPr>
          <p:nvPr/>
        </p:nvSpPr>
        <p:spPr bwMode="auto">
          <a:xfrm>
            <a:off x="6694123" y="5871587"/>
            <a:ext cx="222250" cy="0"/>
          </a:xfrm>
          <a:prstGeom prst="line">
            <a:avLst/>
          </a:prstGeom>
          <a:noFill/>
          <a:ln w="22225" cap="flat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166" name="Line 163">
            <a:extLst>
              <a:ext uri="{FF2B5EF4-FFF2-40B4-BE49-F238E27FC236}">
                <a16:creationId xmlns:a16="http://schemas.microsoft.com/office/drawing/2014/main" id="{E0D07174-C1D0-46F6-B66C-094EBA1534AD}"/>
              </a:ext>
            </a:extLst>
          </p:cNvPr>
          <p:cNvSpPr>
            <a:spLocks noChangeShapeType="1"/>
          </p:cNvSpPr>
          <p:nvPr/>
        </p:nvSpPr>
        <p:spPr bwMode="auto">
          <a:xfrm>
            <a:off x="6814773" y="5871587"/>
            <a:ext cx="0" cy="265113"/>
          </a:xfrm>
          <a:prstGeom prst="line">
            <a:avLst/>
          </a:prstGeom>
          <a:noFill/>
          <a:ln w="25400" cap="flat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167" name="Line 164">
            <a:extLst>
              <a:ext uri="{FF2B5EF4-FFF2-40B4-BE49-F238E27FC236}">
                <a16:creationId xmlns:a16="http://schemas.microsoft.com/office/drawing/2014/main" id="{CD19EBCE-AB24-4B10-9DAC-9E3DDA9EEE94}"/>
              </a:ext>
            </a:extLst>
          </p:cNvPr>
          <p:cNvSpPr>
            <a:spLocks noChangeShapeType="1"/>
          </p:cNvSpPr>
          <p:nvPr/>
        </p:nvSpPr>
        <p:spPr bwMode="auto">
          <a:xfrm>
            <a:off x="6814773" y="6136700"/>
            <a:ext cx="477838" cy="0"/>
          </a:xfrm>
          <a:prstGeom prst="line">
            <a:avLst/>
          </a:prstGeom>
          <a:noFill/>
          <a:ln w="25400" cap="flat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168" name="Line 165">
            <a:extLst>
              <a:ext uri="{FF2B5EF4-FFF2-40B4-BE49-F238E27FC236}">
                <a16:creationId xmlns:a16="http://schemas.microsoft.com/office/drawing/2014/main" id="{52C50BB8-725D-424C-A508-D2B5F179915A}"/>
              </a:ext>
            </a:extLst>
          </p:cNvPr>
          <p:cNvSpPr>
            <a:spLocks noChangeShapeType="1"/>
          </p:cNvSpPr>
          <p:nvPr/>
        </p:nvSpPr>
        <p:spPr bwMode="auto">
          <a:xfrm>
            <a:off x="7292610" y="5739825"/>
            <a:ext cx="0" cy="396875"/>
          </a:xfrm>
          <a:prstGeom prst="line">
            <a:avLst/>
          </a:prstGeom>
          <a:noFill/>
          <a:ln w="25400" cap="flat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169" name="Line 166">
            <a:extLst>
              <a:ext uri="{FF2B5EF4-FFF2-40B4-BE49-F238E27FC236}">
                <a16:creationId xmlns:a16="http://schemas.microsoft.com/office/drawing/2014/main" id="{6119EE45-DE5B-4BE4-8014-90C7704148C9}"/>
              </a:ext>
            </a:extLst>
          </p:cNvPr>
          <p:cNvSpPr>
            <a:spLocks noChangeShapeType="1"/>
          </p:cNvSpPr>
          <p:nvPr/>
        </p:nvSpPr>
        <p:spPr bwMode="auto">
          <a:xfrm>
            <a:off x="7411673" y="5739825"/>
            <a:ext cx="0" cy="330200"/>
          </a:xfrm>
          <a:prstGeom prst="line">
            <a:avLst/>
          </a:prstGeom>
          <a:noFill/>
          <a:ln w="25400" cap="flat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170" name="Line 167">
            <a:extLst>
              <a:ext uri="{FF2B5EF4-FFF2-40B4-BE49-F238E27FC236}">
                <a16:creationId xmlns:a16="http://schemas.microsoft.com/office/drawing/2014/main" id="{94CA29C0-D6AA-4F78-ACEE-BF835C69ABE1}"/>
              </a:ext>
            </a:extLst>
          </p:cNvPr>
          <p:cNvSpPr>
            <a:spLocks noChangeShapeType="1"/>
          </p:cNvSpPr>
          <p:nvPr/>
        </p:nvSpPr>
        <p:spPr bwMode="auto">
          <a:xfrm>
            <a:off x="7411673" y="6070025"/>
            <a:ext cx="615950" cy="0"/>
          </a:xfrm>
          <a:prstGeom prst="line">
            <a:avLst/>
          </a:prstGeom>
          <a:noFill/>
          <a:ln w="25400" cap="flat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171" name="Line 168">
            <a:extLst>
              <a:ext uri="{FF2B5EF4-FFF2-40B4-BE49-F238E27FC236}">
                <a16:creationId xmlns:a16="http://schemas.microsoft.com/office/drawing/2014/main" id="{52594E14-099C-41DF-8C50-4B10B9A80576}"/>
              </a:ext>
            </a:extLst>
          </p:cNvPr>
          <p:cNvSpPr>
            <a:spLocks noChangeShapeType="1"/>
          </p:cNvSpPr>
          <p:nvPr/>
        </p:nvSpPr>
        <p:spPr bwMode="auto">
          <a:xfrm>
            <a:off x="8027623" y="5739825"/>
            <a:ext cx="0" cy="330200"/>
          </a:xfrm>
          <a:prstGeom prst="line">
            <a:avLst/>
          </a:prstGeom>
          <a:noFill/>
          <a:ln w="25400" cap="flat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172" name="Freeform 169">
            <a:extLst>
              <a:ext uri="{FF2B5EF4-FFF2-40B4-BE49-F238E27FC236}">
                <a16:creationId xmlns:a16="http://schemas.microsoft.com/office/drawing/2014/main" id="{466B9CC5-1DA2-4982-8A88-F373C1A8454E}"/>
              </a:ext>
            </a:extLst>
          </p:cNvPr>
          <p:cNvSpPr>
            <a:spLocks noEditPoints="1"/>
          </p:cNvSpPr>
          <p:nvPr/>
        </p:nvSpPr>
        <p:spPr bwMode="auto">
          <a:xfrm>
            <a:off x="2077355" y="2888675"/>
            <a:ext cx="369888" cy="1922463"/>
          </a:xfrm>
          <a:custGeom>
            <a:avLst/>
            <a:gdLst>
              <a:gd name="T0" fmla="*/ 7 w 233"/>
              <a:gd name="T1" fmla="*/ 0 h 1211"/>
              <a:gd name="T2" fmla="*/ 216 w 233"/>
              <a:gd name="T3" fmla="*/ 1177 h 1211"/>
              <a:gd name="T4" fmla="*/ 209 w 233"/>
              <a:gd name="T5" fmla="*/ 1178 h 1211"/>
              <a:gd name="T6" fmla="*/ 0 w 233"/>
              <a:gd name="T7" fmla="*/ 1 h 1211"/>
              <a:gd name="T8" fmla="*/ 7 w 233"/>
              <a:gd name="T9" fmla="*/ 0 h 1211"/>
              <a:gd name="T10" fmla="*/ 233 w 233"/>
              <a:gd name="T11" fmla="*/ 1167 h 1211"/>
              <a:gd name="T12" fmla="*/ 218 w 233"/>
              <a:gd name="T13" fmla="*/ 1211 h 1211"/>
              <a:gd name="T14" fmla="*/ 190 w 233"/>
              <a:gd name="T15" fmla="*/ 1174 h 1211"/>
              <a:gd name="T16" fmla="*/ 233 w 233"/>
              <a:gd name="T17" fmla="*/ 1167 h 12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233" h="1211">
                <a:moveTo>
                  <a:pt x="7" y="0"/>
                </a:moveTo>
                <a:lnTo>
                  <a:pt x="216" y="1177"/>
                </a:lnTo>
                <a:lnTo>
                  <a:pt x="209" y="1178"/>
                </a:lnTo>
                <a:lnTo>
                  <a:pt x="0" y="1"/>
                </a:lnTo>
                <a:lnTo>
                  <a:pt x="7" y="0"/>
                </a:lnTo>
                <a:close/>
                <a:moveTo>
                  <a:pt x="233" y="1167"/>
                </a:moveTo>
                <a:lnTo>
                  <a:pt x="218" y="1211"/>
                </a:lnTo>
                <a:lnTo>
                  <a:pt x="190" y="1174"/>
                </a:lnTo>
                <a:lnTo>
                  <a:pt x="233" y="1167"/>
                </a:lnTo>
                <a:close/>
              </a:path>
            </a:pathLst>
          </a:custGeom>
          <a:solidFill>
            <a:srgbClr val="DE2506"/>
          </a:solidFill>
          <a:ln w="0" cap="flat">
            <a:solidFill>
              <a:srgbClr val="DE2506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175" name="内容占位符 174">
            <a:extLst>
              <a:ext uri="{FF2B5EF4-FFF2-40B4-BE49-F238E27FC236}">
                <a16:creationId xmlns:a16="http://schemas.microsoft.com/office/drawing/2014/main" id="{CC389244-E27C-62F5-8998-36DB6214D784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457200" y="1166020"/>
            <a:ext cx="8610600" cy="4525963"/>
          </a:xfrm>
        </p:spPr>
        <p:txBody>
          <a:bodyPr/>
          <a:lstStyle/>
          <a:p>
            <a:r>
              <a:rPr lang="zh-CN" altLang="en-US" dirty="0"/>
              <a:t>同一周期读取和写入寄存器堆：依靠硬件解决冲突</a:t>
            </a:r>
          </a:p>
          <a:p>
            <a:endParaRPr lang="zh-CN" altLang="en-US" dirty="0"/>
          </a:p>
        </p:txBody>
      </p:sp>
      <p:sp>
        <p:nvSpPr>
          <p:cNvPr id="176" name="标题 175">
            <a:extLst>
              <a:ext uri="{FF2B5EF4-FFF2-40B4-BE49-F238E27FC236}">
                <a16:creationId xmlns:a16="http://schemas.microsoft.com/office/drawing/2014/main" id="{48A60C01-63E4-8F3D-D90D-6E79E73E4F2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54000" y="136525"/>
            <a:ext cx="8648700" cy="826958"/>
          </a:xfrm>
        </p:spPr>
        <p:txBody>
          <a:bodyPr/>
          <a:lstStyle/>
          <a:p>
            <a:r>
              <a:rPr lang="zh-CN" altLang="en-US" dirty="0"/>
              <a:t>寄存器堆的访问</a:t>
            </a:r>
          </a:p>
        </p:txBody>
      </p:sp>
    </p:spTree>
    <p:extLst>
      <p:ext uri="{BB962C8B-B14F-4D97-AF65-F5344CB8AC3E}">
        <p14:creationId xmlns:p14="http://schemas.microsoft.com/office/powerpoint/2010/main" val="1049924039"/>
      </p:ext>
    </p:extLst>
  </p:cSld>
  <p:clrMapOvr>
    <a:masterClrMapping/>
  </p:clrMapOvr>
</p:sld>
</file>

<file path=ppt/slides/slide83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>
            <a:extLst>
              <a:ext uri="{FF2B5EF4-FFF2-40B4-BE49-F238E27FC236}">
                <a16:creationId xmlns:a16="http://schemas.microsoft.com/office/drawing/2014/main" id="{7666AE00-ED87-4D07-BB67-7C3EFBD11F94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dirty="0"/>
              <a:t>数据转发检测和控制</a:t>
            </a:r>
            <a:r>
              <a:rPr lang="en-US" altLang="zh-CN" dirty="0"/>
              <a:t>-0</a:t>
            </a:r>
            <a:endParaRPr lang="zh-CN" altLang="en-US" dirty="0"/>
          </a:p>
        </p:txBody>
      </p:sp>
      <p:sp>
        <p:nvSpPr>
          <p:cNvPr id="3" name="内容占位符 2">
            <a:extLst>
              <a:ext uri="{FF2B5EF4-FFF2-40B4-BE49-F238E27FC236}">
                <a16:creationId xmlns:a16="http://schemas.microsoft.com/office/drawing/2014/main" id="{8CD2425F-6A7F-4484-BFA8-ED7FEBFAEEAD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457199" y="1166020"/>
            <a:ext cx="8557491" cy="4525963"/>
          </a:xfrm>
        </p:spPr>
        <p:txBody>
          <a:bodyPr/>
          <a:lstStyle/>
          <a:p>
            <a:r>
              <a:rPr lang="zh-CN" altLang="en-US" dirty="0"/>
              <a:t>寄存器堆的先写后读</a:t>
            </a:r>
            <a:endParaRPr lang="en-US" altLang="zh-CN" dirty="0"/>
          </a:p>
          <a:p>
            <a:pPr lvl="1"/>
            <a:r>
              <a:rPr lang="zh-CN" altLang="en-US" dirty="0"/>
              <a:t>同一周期写入的数据可以被同一周期读取</a:t>
            </a:r>
            <a:endParaRPr lang="en-US" altLang="zh-CN" dirty="0"/>
          </a:p>
          <a:p>
            <a:pPr lvl="1"/>
            <a:r>
              <a:rPr lang="zh-CN" altLang="en-US" dirty="0"/>
              <a:t>触发沿写入并随后读取，在一定延迟后数据就绪（例如</a:t>
            </a:r>
            <a:r>
              <a:rPr lang="en-US" altLang="zh-CN" dirty="0" err="1"/>
              <a:t>t</a:t>
            </a:r>
            <a:r>
              <a:rPr lang="en-US" altLang="zh-CN" baseline="-25000" dirty="0" err="1"/>
              <a:t>cq</a:t>
            </a:r>
            <a:r>
              <a:rPr lang="zh-CN" altLang="en-US" dirty="0"/>
              <a:t>）</a:t>
            </a:r>
          </a:p>
          <a:p>
            <a:endParaRPr lang="zh-CN" altLang="en-US" dirty="0"/>
          </a:p>
        </p:txBody>
      </p:sp>
      <p:sp>
        <p:nvSpPr>
          <p:cNvPr id="4" name="灯片编号占位符 3">
            <a:extLst>
              <a:ext uri="{FF2B5EF4-FFF2-40B4-BE49-F238E27FC236}">
                <a16:creationId xmlns:a16="http://schemas.microsoft.com/office/drawing/2014/main" id="{E96522AC-4C04-4A27-AA11-1DBA77AB18A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0626FCE3-5FF9-430D-BA0B-DE80AAE71673}" type="slidenum">
              <a:rPr lang="zh-CN" altLang="en-US" smtClean="0"/>
              <a:t>83</a:t>
            </a:fld>
            <a:endParaRPr lang="zh-CN" altLang="en-US"/>
          </a:p>
        </p:txBody>
      </p:sp>
      <p:sp>
        <p:nvSpPr>
          <p:cNvPr id="7" name="AutoShape 3">
            <a:extLst>
              <a:ext uri="{FF2B5EF4-FFF2-40B4-BE49-F238E27FC236}">
                <a16:creationId xmlns:a16="http://schemas.microsoft.com/office/drawing/2014/main" id="{EAF10E9A-57F6-4E7B-864E-219DCF0C1AA7}"/>
              </a:ext>
            </a:extLst>
          </p:cNvPr>
          <p:cNvSpPr>
            <a:spLocks noChangeAspect="1" noChangeArrowheads="1" noTextEdit="1"/>
          </p:cNvSpPr>
          <p:nvPr/>
        </p:nvSpPr>
        <p:spPr bwMode="auto">
          <a:xfrm>
            <a:off x="1036638" y="2600325"/>
            <a:ext cx="6583362" cy="42576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5" name="矩形: 圆角 4">
            <a:extLst>
              <a:ext uri="{FF2B5EF4-FFF2-40B4-BE49-F238E27FC236}">
                <a16:creationId xmlns:a16="http://schemas.microsoft.com/office/drawing/2014/main" id="{9ECDF59E-158C-4D46-9A37-29EBCC95EB8C}"/>
              </a:ext>
            </a:extLst>
          </p:cNvPr>
          <p:cNvSpPr/>
          <p:nvPr/>
        </p:nvSpPr>
        <p:spPr>
          <a:xfrm>
            <a:off x="254000" y="2752854"/>
            <a:ext cx="926307" cy="2552571"/>
          </a:xfrm>
          <a:prstGeom prst="roundRect">
            <a:avLst/>
          </a:prstGeom>
          <a:solidFill>
            <a:srgbClr val="B4C6E7"/>
          </a:solidFill>
          <a:ln>
            <a:solidFill>
              <a:srgbClr val="B4C6E7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zh-CN" altLang="en-US" sz="3600" b="1" dirty="0">
                <a:solidFill>
                  <a:schemeClr val="tx1"/>
                </a:solidFill>
              </a:rPr>
              <a:t>时序逻辑</a:t>
            </a:r>
            <a:endParaRPr lang="zh-CN" altLang="en-US" sz="1600" b="1" dirty="0">
              <a:solidFill>
                <a:schemeClr val="tx1"/>
              </a:solidFill>
            </a:endParaRPr>
          </a:p>
        </p:txBody>
      </p:sp>
      <p:sp>
        <p:nvSpPr>
          <p:cNvPr id="175" name="矩形: 圆角 174">
            <a:extLst>
              <a:ext uri="{FF2B5EF4-FFF2-40B4-BE49-F238E27FC236}">
                <a16:creationId xmlns:a16="http://schemas.microsoft.com/office/drawing/2014/main" id="{0A9BEBFA-30BF-4593-9D76-2476DA52A25B}"/>
              </a:ext>
            </a:extLst>
          </p:cNvPr>
          <p:cNvSpPr/>
          <p:nvPr/>
        </p:nvSpPr>
        <p:spPr>
          <a:xfrm>
            <a:off x="7846614" y="2752856"/>
            <a:ext cx="705647" cy="2552570"/>
          </a:xfrm>
          <a:prstGeom prst="roundRect">
            <a:avLst/>
          </a:prstGeom>
          <a:solidFill>
            <a:srgbClr val="B4C6E7"/>
          </a:solidFill>
          <a:ln>
            <a:solidFill>
              <a:srgbClr val="B4C6E7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zh-CN" altLang="en-US" sz="3600" b="1" dirty="0">
                <a:solidFill>
                  <a:schemeClr val="tx1"/>
                </a:solidFill>
              </a:rPr>
              <a:t>时序逻辑</a:t>
            </a:r>
            <a:endParaRPr lang="zh-CN" altLang="en-US" sz="1600" b="1" dirty="0">
              <a:solidFill>
                <a:schemeClr val="tx1"/>
              </a:solidFill>
            </a:endParaRPr>
          </a:p>
        </p:txBody>
      </p:sp>
      <p:sp>
        <p:nvSpPr>
          <p:cNvPr id="177" name="云形 176">
            <a:extLst>
              <a:ext uri="{FF2B5EF4-FFF2-40B4-BE49-F238E27FC236}">
                <a16:creationId xmlns:a16="http://schemas.microsoft.com/office/drawing/2014/main" id="{FEE8E09A-BBDC-4516-AD87-6EDEFF7B315A}"/>
              </a:ext>
            </a:extLst>
          </p:cNvPr>
          <p:cNvSpPr/>
          <p:nvPr/>
        </p:nvSpPr>
        <p:spPr>
          <a:xfrm>
            <a:off x="2914663" y="3709988"/>
            <a:ext cx="3271054" cy="1797778"/>
          </a:xfrm>
          <a:prstGeom prst="cloud">
            <a:avLst/>
          </a:prstGeom>
          <a:solidFill>
            <a:schemeClr val="bg1">
              <a:lumMod val="85000"/>
            </a:schemeClr>
          </a:soli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zh-CN" altLang="en-US" sz="3600" b="1" dirty="0">
                <a:solidFill>
                  <a:schemeClr val="tx1"/>
                </a:solidFill>
              </a:rPr>
              <a:t>组合逻辑</a:t>
            </a:r>
          </a:p>
        </p:txBody>
      </p:sp>
      <p:sp>
        <p:nvSpPr>
          <p:cNvPr id="178" name="箭头: 右 177">
            <a:extLst>
              <a:ext uri="{FF2B5EF4-FFF2-40B4-BE49-F238E27FC236}">
                <a16:creationId xmlns:a16="http://schemas.microsoft.com/office/drawing/2014/main" id="{47888C16-750A-46F1-9416-1B2BEAB6153D}"/>
              </a:ext>
            </a:extLst>
          </p:cNvPr>
          <p:cNvSpPr/>
          <p:nvPr/>
        </p:nvSpPr>
        <p:spPr>
          <a:xfrm>
            <a:off x="1217416" y="3733800"/>
            <a:ext cx="1782261" cy="1104900"/>
          </a:xfrm>
          <a:prstGeom prst="rightArrow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zh-CN" altLang="en-US" sz="2000" b="1" dirty="0">
                <a:solidFill>
                  <a:schemeClr val="tx1"/>
                </a:solidFill>
              </a:rPr>
              <a:t>读取：现态</a:t>
            </a:r>
            <a:endParaRPr lang="zh-CN" altLang="en-US" sz="1600" b="1" dirty="0">
              <a:solidFill>
                <a:schemeClr val="tx1"/>
              </a:solidFill>
            </a:endParaRPr>
          </a:p>
        </p:txBody>
      </p:sp>
      <p:sp>
        <p:nvSpPr>
          <p:cNvPr id="179" name="箭头: 右 178">
            <a:extLst>
              <a:ext uri="{FF2B5EF4-FFF2-40B4-BE49-F238E27FC236}">
                <a16:creationId xmlns:a16="http://schemas.microsoft.com/office/drawing/2014/main" id="{53EA2451-7300-40A5-AC25-82863F61F713}"/>
              </a:ext>
            </a:extLst>
          </p:cNvPr>
          <p:cNvSpPr/>
          <p:nvPr/>
        </p:nvSpPr>
        <p:spPr>
          <a:xfrm>
            <a:off x="6201177" y="3709988"/>
            <a:ext cx="1616469" cy="1019174"/>
          </a:xfrm>
          <a:prstGeom prst="rightArrow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zh-CN" altLang="en-US" b="1" dirty="0">
                <a:solidFill>
                  <a:schemeClr val="tx1"/>
                </a:solidFill>
              </a:rPr>
              <a:t>写入：次态</a:t>
            </a:r>
          </a:p>
        </p:txBody>
      </p:sp>
      <p:sp>
        <p:nvSpPr>
          <p:cNvPr id="180" name="箭头: 右 179">
            <a:extLst>
              <a:ext uri="{FF2B5EF4-FFF2-40B4-BE49-F238E27FC236}">
                <a16:creationId xmlns:a16="http://schemas.microsoft.com/office/drawing/2014/main" id="{229BCD06-EDB7-4DAA-B32A-37A231C600C1}"/>
              </a:ext>
            </a:extLst>
          </p:cNvPr>
          <p:cNvSpPr/>
          <p:nvPr/>
        </p:nvSpPr>
        <p:spPr>
          <a:xfrm rot="16200000">
            <a:off x="4046736" y="2814964"/>
            <a:ext cx="1050528" cy="926308"/>
          </a:xfrm>
          <a:prstGeom prst="rightArrow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zh-CN" altLang="en-US" b="1" dirty="0">
                <a:solidFill>
                  <a:schemeClr val="tx1"/>
                </a:solidFill>
              </a:rPr>
              <a:t>输出</a:t>
            </a:r>
          </a:p>
        </p:txBody>
      </p:sp>
      <p:cxnSp>
        <p:nvCxnSpPr>
          <p:cNvPr id="182" name="连接符: 肘形 181">
            <a:extLst>
              <a:ext uri="{FF2B5EF4-FFF2-40B4-BE49-F238E27FC236}">
                <a16:creationId xmlns:a16="http://schemas.microsoft.com/office/drawing/2014/main" id="{4AA660FC-6480-4601-AEE9-257FF144CDAA}"/>
              </a:ext>
            </a:extLst>
          </p:cNvPr>
          <p:cNvCxnSpPr>
            <a:cxnSpLocks/>
          </p:cNvCxnSpPr>
          <p:nvPr/>
        </p:nvCxnSpPr>
        <p:spPr>
          <a:xfrm flipV="1">
            <a:off x="337146" y="5452993"/>
            <a:ext cx="843161" cy="214742"/>
          </a:xfrm>
          <a:prstGeom prst="bentConnector3">
            <a:avLst/>
          </a:prstGeom>
          <a:ln w="38100"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184" name="文本框 183">
            <a:extLst>
              <a:ext uri="{FF2B5EF4-FFF2-40B4-BE49-F238E27FC236}">
                <a16:creationId xmlns:a16="http://schemas.microsoft.com/office/drawing/2014/main" id="{35BC29AE-2656-4F67-AE69-3C14D0112F59}"/>
              </a:ext>
            </a:extLst>
          </p:cNvPr>
          <p:cNvSpPr txBox="1"/>
          <p:nvPr/>
        </p:nvSpPr>
        <p:spPr>
          <a:xfrm>
            <a:off x="254000" y="5692775"/>
            <a:ext cx="926308" cy="3693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zh-CN" altLang="en-US" dirty="0">
                <a:ea typeface="SimHei" panose="02010609060101010101" pitchFamily="49" charset="-122"/>
              </a:rPr>
              <a:t>触发沿</a:t>
            </a:r>
          </a:p>
        </p:txBody>
      </p:sp>
      <p:cxnSp>
        <p:nvCxnSpPr>
          <p:cNvPr id="186" name="连接符: 肘形 185">
            <a:extLst>
              <a:ext uri="{FF2B5EF4-FFF2-40B4-BE49-F238E27FC236}">
                <a16:creationId xmlns:a16="http://schemas.microsoft.com/office/drawing/2014/main" id="{FC2A51E7-5B43-4B12-933D-BB5AE921F80C}"/>
              </a:ext>
            </a:extLst>
          </p:cNvPr>
          <p:cNvCxnSpPr>
            <a:cxnSpLocks/>
          </p:cNvCxnSpPr>
          <p:nvPr/>
        </p:nvCxnSpPr>
        <p:spPr>
          <a:xfrm flipV="1">
            <a:off x="7709099" y="5470862"/>
            <a:ext cx="843161" cy="214742"/>
          </a:xfrm>
          <a:prstGeom prst="bentConnector3">
            <a:avLst/>
          </a:prstGeom>
          <a:ln w="38100"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187" name="文本框 186">
            <a:extLst>
              <a:ext uri="{FF2B5EF4-FFF2-40B4-BE49-F238E27FC236}">
                <a16:creationId xmlns:a16="http://schemas.microsoft.com/office/drawing/2014/main" id="{356B3B30-9825-4C12-885E-F45135749B8D}"/>
              </a:ext>
            </a:extLst>
          </p:cNvPr>
          <p:cNvSpPr txBox="1"/>
          <p:nvPr/>
        </p:nvSpPr>
        <p:spPr>
          <a:xfrm>
            <a:off x="7403102" y="5653158"/>
            <a:ext cx="926308" cy="3693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zh-CN" altLang="en-US" dirty="0">
                <a:ea typeface="SimHei" panose="02010609060101010101" pitchFamily="49" charset="-122"/>
              </a:rPr>
              <a:t>触发沿</a:t>
            </a:r>
          </a:p>
        </p:txBody>
      </p:sp>
      <p:cxnSp>
        <p:nvCxnSpPr>
          <p:cNvPr id="189" name="直接箭头连接符 188">
            <a:extLst>
              <a:ext uri="{FF2B5EF4-FFF2-40B4-BE49-F238E27FC236}">
                <a16:creationId xmlns:a16="http://schemas.microsoft.com/office/drawing/2014/main" id="{DCD730F1-1679-4564-B7F9-0C8A992423AC}"/>
              </a:ext>
            </a:extLst>
          </p:cNvPr>
          <p:cNvCxnSpPr/>
          <p:nvPr/>
        </p:nvCxnSpPr>
        <p:spPr>
          <a:xfrm>
            <a:off x="762000" y="5553075"/>
            <a:ext cx="7343775" cy="0"/>
          </a:xfrm>
          <a:prstGeom prst="straightConnector1">
            <a:avLst/>
          </a:prstGeom>
          <a:ln w="19050">
            <a:prstDash val="lgDash"/>
            <a:headEnd type="triangle"/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190" name="文本框 189">
            <a:extLst>
              <a:ext uri="{FF2B5EF4-FFF2-40B4-BE49-F238E27FC236}">
                <a16:creationId xmlns:a16="http://schemas.microsoft.com/office/drawing/2014/main" id="{4BD59D52-53C6-48A3-A292-4AD879DA99BC}"/>
              </a:ext>
            </a:extLst>
          </p:cNvPr>
          <p:cNvSpPr txBox="1"/>
          <p:nvPr/>
        </p:nvSpPr>
        <p:spPr>
          <a:xfrm>
            <a:off x="3544887" y="5585520"/>
            <a:ext cx="2054226" cy="3693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US" altLang="zh-CN" dirty="0">
                <a:ea typeface="SimHei" panose="02010609060101010101" pitchFamily="49" charset="-122"/>
              </a:rPr>
              <a:t>1 Clock Cycle</a:t>
            </a:r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192" name="文本框 191">
            <a:extLst>
              <a:ext uri="{FF2B5EF4-FFF2-40B4-BE49-F238E27FC236}">
                <a16:creationId xmlns:a16="http://schemas.microsoft.com/office/drawing/2014/main" id="{D675919C-E76C-4BD6-AF1B-97F41250E032}"/>
              </a:ext>
            </a:extLst>
          </p:cNvPr>
          <p:cNvSpPr txBox="1"/>
          <p:nvPr/>
        </p:nvSpPr>
        <p:spPr>
          <a:xfrm>
            <a:off x="1868091" y="6054934"/>
            <a:ext cx="5237560" cy="923330"/>
          </a:xfrm>
          <a:prstGeom prst="rect">
            <a:avLst/>
          </a:prstGeom>
          <a:noFill/>
        </p:spPr>
        <p:txBody>
          <a:bodyPr wrap="square" lIns="0" tIns="0" rIns="0" bIns="0">
            <a:spAutoFit/>
          </a:bodyPr>
          <a:lstStyle/>
          <a:p>
            <a:pPr algn="ctr"/>
            <a:r>
              <a:rPr lang="zh-CN" altLang="en-US" sz="2000" dirty="0">
                <a:solidFill>
                  <a:srgbClr val="3333FF"/>
                </a:solidFill>
                <a:ea typeface="SimHei" panose="02010609060101010101" pitchFamily="49" charset="-122"/>
              </a:rPr>
              <a:t>请思考图中“时序逻辑”、“组合逻辑”在单周期、多周期和流水线处理器中分别对应什么</a:t>
            </a:r>
            <a:br>
              <a:rPr lang="en-US" altLang="zh-CN" sz="2000" dirty="0">
                <a:solidFill>
                  <a:srgbClr val="3333FF"/>
                </a:solidFill>
                <a:ea typeface="SimHei" panose="02010609060101010101" pitchFamily="49" charset="-122"/>
              </a:rPr>
            </a:br>
            <a:endParaRPr lang="zh-CN" altLang="en-US" sz="2000" dirty="0">
              <a:solidFill>
                <a:srgbClr val="3333FF"/>
              </a:solidFill>
              <a:ea typeface="SimHei" panose="02010609060101010101" pitchFamily="49" charset="-122"/>
            </a:endParaRPr>
          </a:p>
        </p:txBody>
      </p:sp>
    </p:spTree>
    <p:extLst>
      <p:ext uri="{BB962C8B-B14F-4D97-AF65-F5344CB8AC3E}">
        <p14:creationId xmlns:p14="http://schemas.microsoft.com/office/powerpoint/2010/main" val="674554364"/>
      </p:ext>
    </p:extLst>
  </p:cSld>
  <p:clrMapOvr>
    <a:masterClrMapping/>
  </p:clrMapOvr>
</p:sld>
</file>

<file path=ppt/slides/slide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>
            <a:extLst>
              <a:ext uri="{FF2B5EF4-FFF2-40B4-BE49-F238E27FC236}">
                <a16:creationId xmlns:a16="http://schemas.microsoft.com/office/drawing/2014/main" id="{7666AE00-ED87-4D07-BB67-7C3EFBD11F94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dirty="0"/>
              <a:t>数据转发检测和控制</a:t>
            </a:r>
            <a:r>
              <a:rPr lang="en-US" altLang="zh-CN" dirty="0"/>
              <a:t>-0</a:t>
            </a:r>
            <a:endParaRPr lang="zh-CN" altLang="en-US" dirty="0"/>
          </a:p>
        </p:txBody>
      </p:sp>
      <p:sp>
        <p:nvSpPr>
          <p:cNvPr id="3" name="内容占位符 2">
            <a:extLst>
              <a:ext uri="{FF2B5EF4-FFF2-40B4-BE49-F238E27FC236}">
                <a16:creationId xmlns:a16="http://schemas.microsoft.com/office/drawing/2014/main" id="{8CD2425F-6A7F-4484-BFA8-ED7FEBFAEEAD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457200" y="1210270"/>
            <a:ext cx="8601740" cy="1818381"/>
          </a:xfrm>
        </p:spPr>
        <p:txBody>
          <a:bodyPr/>
          <a:lstStyle/>
          <a:p>
            <a:r>
              <a:rPr lang="zh-CN" altLang="en-US" sz="2800" dirty="0">
                <a:latin typeface="+mj-ea"/>
                <a:ea typeface="+mj-ea"/>
              </a:rPr>
              <a:t>时钟触发边沿写入，且支持</a:t>
            </a:r>
            <a:r>
              <a:rPr lang="en-US" altLang="zh-CN" sz="2800" dirty="0">
                <a:latin typeface="+mj-ea"/>
                <a:ea typeface="+mj-ea"/>
              </a:rPr>
              <a:t>“</a:t>
            </a:r>
            <a:r>
              <a:rPr lang="zh-CN" altLang="en-US" sz="2800" dirty="0">
                <a:solidFill>
                  <a:srgbClr val="0432FF"/>
                </a:solidFill>
                <a:latin typeface="+mj-ea"/>
                <a:ea typeface="+mj-ea"/>
              </a:rPr>
              <a:t>先写后读</a:t>
            </a:r>
            <a:r>
              <a:rPr lang="en-US" altLang="zh-CN" sz="2800" dirty="0">
                <a:latin typeface="+mj-ea"/>
                <a:ea typeface="+mj-ea"/>
              </a:rPr>
              <a:t>”</a:t>
            </a:r>
          </a:p>
          <a:p>
            <a:pPr lvl="1"/>
            <a:r>
              <a:rPr lang="zh-CN" altLang="en-US" sz="2000" dirty="0">
                <a:latin typeface="+mj-ea"/>
                <a:ea typeface="+mj-ea"/>
              </a:rPr>
              <a:t>写入到</a:t>
            </a:r>
            <a:r>
              <a:rPr lang="en-US" altLang="zh-CN" sz="2000" dirty="0">
                <a:latin typeface="+mj-ea"/>
                <a:ea typeface="+mj-ea"/>
              </a:rPr>
              <a:t>RF</a:t>
            </a:r>
            <a:r>
              <a:rPr lang="zh-CN" altLang="en-US" sz="2000" dirty="0">
                <a:latin typeface="+mj-ea"/>
                <a:ea typeface="+mj-ea"/>
              </a:rPr>
              <a:t>的数据在同周期内可以直接被访问</a:t>
            </a:r>
            <a:endParaRPr lang="en-US" altLang="zh-CN" sz="2000" dirty="0">
              <a:latin typeface="+mj-ea"/>
              <a:ea typeface="+mj-ea"/>
            </a:endParaRPr>
          </a:p>
          <a:p>
            <a:pPr lvl="1"/>
            <a:r>
              <a:rPr lang="en-US" altLang="zh-CN" sz="2000" dirty="0">
                <a:latin typeface="+mj-ea"/>
                <a:ea typeface="+mj-ea"/>
              </a:rPr>
              <a:t>RF/Memory</a:t>
            </a:r>
            <a:r>
              <a:rPr lang="zh-CN" altLang="en-US" sz="2000" dirty="0">
                <a:latin typeface="+mj-ea"/>
                <a:ea typeface="+mj-ea"/>
              </a:rPr>
              <a:t>阵列大，“写</a:t>
            </a:r>
            <a:r>
              <a:rPr lang="en-US" altLang="zh-CN" sz="2000" dirty="0">
                <a:latin typeface="+mj-ea"/>
                <a:ea typeface="+mj-ea"/>
              </a:rPr>
              <a:t>+</a:t>
            </a:r>
            <a:r>
              <a:rPr lang="zh-CN" altLang="en-US" sz="2000" dirty="0">
                <a:latin typeface="+mj-ea"/>
                <a:ea typeface="+mj-ea"/>
              </a:rPr>
              <a:t>读”较慢</a:t>
            </a:r>
            <a:endParaRPr lang="en-US" altLang="zh-CN" sz="2000" dirty="0">
              <a:latin typeface="+mj-ea"/>
              <a:ea typeface="+mj-ea"/>
            </a:endParaRPr>
          </a:p>
          <a:p>
            <a:r>
              <a:rPr lang="zh-CN" altLang="en-US" sz="2800" dirty="0">
                <a:latin typeface="+mj-ea"/>
                <a:ea typeface="+mj-ea"/>
              </a:rPr>
              <a:t>可使用</a:t>
            </a:r>
            <a:r>
              <a:rPr lang="zh-CN" altLang="en-US" sz="2800" dirty="0">
                <a:solidFill>
                  <a:srgbClr val="3333FF"/>
                </a:solidFill>
                <a:latin typeface="+mj-ea"/>
                <a:ea typeface="+mj-ea"/>
              </a:rPr>
              <a:t>辅助旁路，</a:t>
            </a:r>
            <a:r>
              <a:rPr lang="zh-CN" altLang="en-US" sz="2800" dirty="0">
                <a:latin typeface="+mj-ea"/>
                <a:ea typeface="+mj-ea"/>
              </a:rPr>
              <a:t>减少“先更新</a:t>
            </a:r>
            <a:r>
              <a:rPr lang="zh-CN" altLang="en-CN" sz="2800" dirty="0">
                <a:latin typeface="+mj-ea"/>
                <a:ea typeface="+mj-ea"/>
              </a:rPr>
              <a:t>再读出</a:t>
            </a:r>
            <a:r>
              <a:rPr lang="zh-CN" altLang="en-US" sz="2800" dirty="0">
                <a:latin typeface="+mj-ea"/>
                <a:ea typeface="+mj-ea"/>
              </a:rPr>
              <a:t>”的延时</a:t>
            </a:r>
            <a:endParaRPr lang="en-US" altLang="zh-CN" sz="2800" dirty="0">
              <a:latin typeface="+mj-ea"/>
              <a:ea typeface="+mj-ea"/>
            </a:endParaRPr>
          </a:p>
          <a:p>
            <a:pPr lvl="1"/>
            <a:r>
              <a:rPr lang="zh-CN" altLang="en-US" sz="2000" dirty="0">
                <a:latin typeface="+mj-ea"/>
                <a:ea typeface="+mj-ea"/>
              </a:rPr>
              <a:t>如果为刚写入的数据，从旁路读取</a:t>
            </a:r>
          </a:p>
        </p:txBody>
      </p:sp>
      <p:sp>
        <p:nvSpPr>
          <p:cNvPr id="4" name="灯片编号占位符 3">
            <a:extLst>
              <a:ext uri="{FF2B5EF4-FFF2-40B4-BE49-F238E27FC236}">
                <a16:creationId xmlns:a16="http://schemas.microsoft.com/office/drawing/2014/main" id="{E96522AC-4C04-4A27-AA11-1DBA77AB18A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0626FCE3-5FF9-430D-BA0B-DE80AAE71673}" type="slidenum">
              <a:rPr kumimoji="0" lang="zh-CN" altLang="en-US" sz="140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cs typeface="+mn-cs"/>
              </a:rPr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84</a:t>
            </a:fld>
            <a:endParaRPr kumimoji="0" lang="zh-CN" altLang="en-US" sz="140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cs typeface="+mn-cs"/>
            </a:endParaRPr>
          </a:p>
        </p:txBody>
      </p:sp>
      <p:sp>
        <p:nvSpPr>
          <p:cNvPr id="7" name="AutoShape 3">
            <a:extLst>
              <a:ext uri="{FF2B5EF4-FFF2-40B4-BE49-F238E27FC236}">
                <a16:creationId xmlns:a16="http://schemas.microsoft.com/office/drawing/2014/main" id="{EAF10E9A-57F6-4E7B-864E-219DCF0C1AA7}"/>
              </a:ext>
            </a:extLst>
          </p:cNvPr>
          <p:cNvSpPr>
            <a:spLocks noChangeAspect="1" noChangeArrowheads="1" noTextEdit="1"/>
          </p:cNvSpPr>
          <p:nvPr/>
        </p:nvSpPr>
        <p:spPr bwMode="auto">
          <a:xfrm>
            <a:off x="2103438" y="2600325"/>
            <a:ext cx="6583362" cy="42576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SimHei" panose="02010609060101010101" pitchFamily="49" charset="-122"/>
              <a:cs typeface="+mn-cs"/>
            </a:endParaRPr>
          </a:p>
        </p:txBody>
      </p:sp>
      <p:grpSp>
        <p:nvGrpSpPr>
          <p:cNvPr id="133" name="Group 219">
            <a:extLst>
              <a:ext uri="{FF2B5EF4-FFF2-40B4-BE49-F238E27FC236}">
                <a16:creationId xmlns:a16="http://schemas.microsoft.com/office/drawing/2014/main" id="{ABFE84AB-1BA3-3EBF-76E9-C1A59B5F95CF}"/>
              </a:ext>
            </a:extLst>
          </p:cNvPr>
          <p:cNvGrpSpPr/>
          <p:nvPr/>
        </p:nvGrpSpPr>
        <p:grpSpPr>
          <a:xfrm>
            <a:off x="1073868" y="3633722"/>
            <a:ext cx="2698448" cy="2605883"/>
            <a:chOff x="553688" y="3455585"/>
            <a:chExt cx="2698448" cy="2605883"/>
          </a:xfrm>
        </p:grpSpPr>
        <p:sp>
          <p:nvSpPr>
            <p:cNvPr id="239" name="Rectangle 167">
              <a:extLst>
                <a:ext uri="{FF2B5EF4-FFF2-40B4-BE49-F238E27FC236}">
                  <a16:creationId xmlns:a16="http://schemas.microsoft.com/office/drawing/2014/main" id="{0DFD4198-1BF1-9C36-907B-29D045494EDD}"/>
                </a:ext>
              </a:extLst>
            </p:cNvPr>
            <p:cNvSpPr/>
            <p:nvPr/>
          </p:nvSpPr>
          <p:spPr>
            <a:xfrm>
              <a:off x="1540879" y="3927304"/>
              <a:ext cx="1122699" cy="1035104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6350">
              <a:solidFill>
                <a:schemeClr val="accent6">
                  <a:lumMod val="60000"/>
                  <a:lumOff val="4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zh-CN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N" sz="180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SimHei" panose="02010609060101010101" pitchFamily="49" charset="-122"/>
                <a:cs typeface="+mn-cs"/>
              </a:endParaRPr>
            </a:p>
          </p:txBody>
        </p:sp>
        <p:sp>
          <p:nvSpPr>
            <p:cNvPr id="240" name="Rectangle 168">
              <a:extLst>
                <a:ext uri="{FF2B5EF4-FFF2-40B4-BE49-F238E27FC236}">
                  <a16:creationId xmlns:a16="http://schemas.microsoft.com/office/drawing/2014/main" id="{16AAE81D-4A83-E577-999E-65468B16A432}"/>
                </a:ext>
              </a:extLst>
            </p:cNvPr>
            <p:cNvSpPr/>
            <p:nvPr/>
          </p:nvSpPr>
          <p:spPr>
            <a:xfrm>
              <a:off x="1505281" y="3894503"/>
              <a:ext cx="1122699" cy="1035104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6350">
              <a:solidFill>
                <a:schemeClr val="accent6">
                  <a:lumMod val="60000"/>
                  <a:lumOff val="4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zh-CN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N" sz="180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SimHei" panose="02010609060101010101" pitchFamily="49" charset="-122"/>
                <a:cs typeface="+mn-cs"/>
              </a:endParaRPr>
            </a:p>
          </p:txBody>
        </p:sp>
        <p:sp>
          <p:nvSpPr>
            <p:cNvPr id="241" name="Rectangle 169">
              <a:extLst>
                <a:ext uri="{FF2B5EF4-FFF2-40B4-BE49-F238E27FC236}">
                  <a16:creationId xmlns:a16="http://schemas.microsoft.com/office/drawing/2014/main" id="{A53E7047-1538-19F1-AEB0-F6D5DEAF89BE}"/>
                </a:ext>
              </a:extLst>
            </p:cNvPr>
            <p:cNvSpPr/>
            <p:nvPr/>
          </p:nvSpPr>
          <p:spPr>
            <a:xfrm>
              <a:off x="1469683" y="3861702"/>
              <a:ext cx="1122699" cy="1035104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6350">
              <a:solidFill>
                <a:schemeClr val="accent6">
                  <a:lumMod val="60000"/>
                  <a:lumOff val="4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zh-CN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N" sz="180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SimHei" panose="02010609060101010101" pitchFamily="49" charset="-122"/>
                <a:cs typeface="+mn-cs"/>
              </a:endParaRPr>
            </a:p>
          </p:txBody>
        </p:sp>
        <p:sp>
          <p:nvSpPr>
            <p:cNvPr id="242" name="Rectangle 170">
              <a:extLst>
                <a:ext uri="{FF2B5EF4-FFF2-40B4-BE49-F238E27FC236}">
                  <a16:creationId xmlns:a16="http://schemas.microsoft.com/office/drawing/2014/main" id="{4C198C9E-BE91-EEA7-8C41-3C70A714A6F9}"/>
                </a:ext>
              </a:extLst>
            </p:cNvPr>
            <p:cNvSpPr/>
            <p:nvPr/>
          </p:nvSpPr>
          <p:spPr>
            <a:xfrm>
              <a:off x="1434085" y="3828901"/>
              <a:ext cx="1122699" cy="1035104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6350">
              <a:solidFill>
                <a:schemeClr val="accent6">
                  <a:lumMod val="60000"/>
                  <a:lumOff val="4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zh-CN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N" sz="180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SimHei" panose="02010609060101010101" pitchFamily="49" charset="-122"/>
                <a:cs typeface="+mn-cs"/>
              </a:endParaRPr>
            </a:p>
          </p:txBody>
        </p:sp>
        <p:sp>
          <p:nvSpPr>
            <p:cNvPr id="243" name="Rectangle 171">
              <a:extLst>
                <a:ext uri="{FF2B5EF4-FFF2-40B4-BE49-F238E27FC236}">
                  <a16:creationId xmlns:a16="http://schemas.microsoft.com/office/drawing/2014/main" id="{9C0967D4-2887-1CCC-F47A-F5B6DB8EDE15}"/>
                </a:ext>
              </a:extLst>
            </p:cNvPr>
            <p:cNvSpPr/>
            <p:nvPr/>
          </p:nvSpPr>
          <p:spPr>
            <a:xfrm>
              <a:off x="1398487" y="3796100"/>
              <a:ext cx="1122699" cy="1035104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6350">
              <a:solidFill>
                <a:schemeClr val="accent6">
                  <a:lumMod val="60000"/>
                  <a:lumOff val="4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zh-CN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N" sz="180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SimHei" panose="02010609060101010101" pitchFamily="49" charset="-122"/>
                <a:cs typeface="+mn-cs"/>
              </a:endParaRPr>
            </a:p>
          </p:txBody>
        </p:sp>
        <p:sp>
          <p:nvSpPr>
            <p:cNvPr id="244" name="Rectangle 173">
              <a:extLst>
                <a:ext uri="{FF2B5EF4-FFF2-40B4-BE49-F238E27FC236}">
                  <a16:creationId xmlns:a16="http://schemas.microsoft.com/office/drawing/2014/main" id="{DBADBC30-C682-C280-582C-4E50DBD1873C}"/>
                </a:ext>
              </a:extLst>
            </p:cNvPr>
            <p:cNvSpPr/>
            <p:nvPr/>
          </p:nvSpPr>
          <p:spPr>
            <a:xfrm>
              <a:off x="1364198" y="3756484"/>
              <a:ext cx="1122699" cy="1035104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6350">
              <a:solidFill>
                <a:schemeClr val="accent6">
                  <a:lumMod val="60000"/>
                  <a:lumOff val="4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zh-CN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N" sz="180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SimHei" panose="02010609060101010101" pitchFamily="49" charset="-122"/>
                <a:cs typeface="+mn-cs"/>
              </a:endParaRPr>
            </a:p>
          </p:txBody>
        </p:sp>
        <p:sp>
          <p:nvSpPr>
            <p:cNvPr id="245" name="Rectangle 174">
              <a:extLst>
                <a:ext uri="{FF2B5EF4-FFF2-40B4-BE49-F238E27FC236}">
                  <a16:creationId xmlns:a16="http://schemas.microsoft.com/office/drawing/2014/main" id="{7EEC11BB-F57F-942C-0C14-A8A90EBD8398}"/>
                </a:ext>
              </a:extLst>
            </p:cNvPr>
            <p:cNvSpPr/>
            <p:nvPr/>
          </p:nvSpPr>
          <p:spPr>
            <a:xfrm>
              <a:off x="1959912" y="4113601"/>
              <a:ext cx="424272" cy="618126"/>
            </a:xfrm>
            <a:prstGeom prst="rect">
              <a:avLst/>
            </a:prstGeom>
            <a:noFill/>
            <a:ln>
              <a:solidFill>
                <a:srgbClr val="7030A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zh-CN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N" sz="180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SimHei" panose="02010609060101010101" pitchFamily="49" charset="-122"/>
                <a:cs typeface="+mn-cs"/>
              </a:endParaRPr>
            </a:p>
          </p:txBody>
        </p:sp>
        <p:sp>
          <p:nvSpPr>
            <p:cNvPr id="246" name="Freeform 175">
              <a:extLst>
                <a:ext uri="{FF2B5EF4-FFF2-40B4-BE49-F238E27FC236}">
                  <a16:creationId xmlns:a16="http://schemas.microsoft.com/office/drawing/2014/main" id="{63D7E747-A0EA-7BC8-C1C0-C9518BB8AD1C}"/>
                </a:ext>
              </a:extLst>
            </p:cNvPr>
            <p:cNvSpPr/>
            <p:nvPr/>
          </p:nvSpPr>
          <p:spPr>
            <a:xfrm>
              <a:off x="1964918" y="4513002"/>
              <a:ext cx="94268" cy="179109"/>
            </a:xfrm>
            <a:custGeom>
              <a:avLst/>
              <a:gdLst>
                <a:gd name="connsiteX0" fmla="*/ 0 w 94268"/>
                <a:gd name="connsiteY0" fmla="*/ 0 h 179109"/>
                <a:gd name="connsiteX1" fmla="*/ 94268 w 94268"/>
                <a:gd name="connsiteY1" fmla="*/ 94268 h 179109"/>
                <a:gd name="connsiteX2" fmla="*/ 9427 w 94268"/>
                <a:gd name="connsiteY2" fmla="*/ 179109 h 1791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4268" h="179109">
                  <a:moveTo>
                    <a:pt x="0" y="0"/>
                  </a:moveTo>
                  <a:lnTo>
                    <a:pt x="94268" y="94268"/>
                  </a:lnTo>
                  <a:lnTo>
                    <a:pt x="9427" y="179109"/>
                  </a:lnTo>
                </a:path>
              </a:pathLst>
            </a:custGeom>
            <a:ln w="19050">
              <a:solidFill>
                <a:srgbClr val="7030A0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  <p:txBody>
            <a:bodyPr rtlCol="0" anchor="ctr"/>
            <a:lstStyle>
              <a:defPPr>
                <a:defRPr lang="zh-CN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N" sz="180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SimHei" panose="02010609060101010101" pitchFamily="49" charset="-122"/>
                <a:cs typeface="+mn-cs"/>
              </a:endParaRPr>
            </a:p>
          </p:txBody>
        </p:sp>
        <p:sp>
          <p:nvSpPr>
            <p:cNvPr id="247" name="文本框 8">
              <a:extLst>
                <a:ext uri="{FF2B5EF4-FFF2-40B4-BE49-F238E27FC236}">
                  <a16:creationId xmlns:a16="http://schemas.microsoft.com/office/drawing/2014/main" id="{C721E225-84FF-4711-06BF-18485F808F72}"/>
                </a:ext>
              </a:extLst>
            </p:cNvPr>
            <p:cNvSpPr txBox="1"/>
            <p:nvPr/>
          </p:nvSpPr>
          <p:spPr>
            <a:xfrm>
              <a:off x="1847253" y="4090771"/>
              <a:ext cx="414465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>
              <a:defPPr>
                <a:defRPr lang="zh-CN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5pPr>
              <a:lvl6pPr marL="22860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6pPr>
              <a:lvl7pPr marL="27432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7pPr>
              <a:lvl8pPr marL="32004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8pPr>
              <a:lvl9pPr marL="36576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1400" u="none" strike="noStrike" kern="1200" cap="none" spc="0" normalizeH="0" baseline="0" noProof="0" dirty="0">
                  <a:ln>
                    <a:noFill/>
                  </a:ln>
                  <a:solidFill>
                    <a:srgbClr val="7030A0"/>
                  </a:solidFill>
                  <a:effectLst/>
                  <a:uLnTx/>
                  <a:uFillTx/>
                  <a:latin typeface="Arial" panose="020B0604020202020204" pitchFamily="34" charset="0"/>
                  <a:ea typeface="SimHei" panose="02010609060101010101" pitchFamily="49" charset="-122"/>
                  <a:cs typeface="Arial" panose="020B0604020202020204" pitchFamily="34" charset="0"/>
                </a:rPr>
                <a:t>D</a:t>
              </a:r>
              <a:endParaRPr kumimoji="0" lang="zh-CN" altLang="en-US" sz="1200" u="none" strike="noStrike" kern="1200" cap="none" spc="0" normalizeH="0" baseline="0" noProof="0" dirty="0">
                <a:ln>
                  <a:noFill/>
                </a:ln>
                <a:solidFill>
                  <a:srgbClr val="7030A0"/>
                </a:solidFill>
                <a:effectLst/>
                <a:uLnTx/>
                <a:uFillTx/>
                <a:latin typeface="Arial" panose="020B0604020202020204" pitchFamily="34" charset="0"/>
                <a:ea typeface="SimHei" panose="02010609060101010101" pitchFamily="49" charset="-122"/>
                <a:cs typeface="Arial" panose="020B0604020202020204" pitchFamily="34" charset="0"/>
              </a:endParaRPr>
            </a:p>
          </p:txBody>
        </p:sp>
        <p:sp>
          <p:nvSpPr>
            <p:cNvPr id="248" name="文本框 8">
              <a:extLst>
                <a:ext uri="{FF2B5EF4-FFF2-40B4-BE49-F238E27FC236}">
                  <a16:creationId xmlns:a16="http://schemas.microsoft.com/office/drawing/2014/main" id="{D3FD1DDA-7FB2-22DF-5173-464FBE408D74}"/>
                </a:ext>
              </a:extLst>
            </p:cNvPr>
            <p:cNvSpPr txBox="1"/>
            <p:nvPr/>
          </p:nvSpPr>
          <p:spPr>
            <a:xfrm>
              <a:off x="2080341" y="4146700"/>
              <a:ext cx="414465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>
              <a:defPPr>
                <a:defRPr lang="zh-CN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5pPr>
              <a:lvl6pPr marL="22860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6pPr>
              <a:lvl7pPr marL="27432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7pPr>
              <a:lvl8pPr marL="32004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8pPr>
              <a:lvl9pPr marL="36576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1400" u="none" strike="noStrike" kern="1200" cap="none" spc="0" normalizeH="0" baseline="0" noProof="0" dirty="0">
                  <a:ln>
                    <a:noFill/>
                  </a:ln>
                  <a:solidFill>
                    <a:srgbClr val="7030A0"/>
                  </a:solidFill>
                  <a:effectLst/>
                  <a:uLnTx/>
                  <a:uFillTx/>
                  <a:latin typeface="Arial" panose="020B0604020202020204" pitchFamily="34" charset="0"/>
                  <a:ea typeface="SimHei" panose="02010609060101010101" pitchFamily="49" charset="-122"/>
                  <a:cs typeface="Arial" panose="020B0604020202020204" pitchFamily="34" charset="0"/>
                </a:rPr>
                <a:t>Q</a:t>
              </a:r>
              <a:endParaRPr kumimoji="0" lang="zh-CN" altLang="en-US" sz="1200" u="none" strike="noStrike" kern="1200" cap="none" spc="0" normalizeH="0" baseline="0" noProof="0" dirty="0">
                <a:ln>
                  <a:noFill/>
                </a:ln>
                <a:solidFill>
                  <a:srgbClr val="7030A0"/>
                </a:solidFill>
                <a:effectLst/>
                <a:uLnTx/>
                <a:uFillTx/>
                <a:latin typeface="Arial" panose="020B0604020202020204" pitchFamily="34" charset="0"/>
                <a:ea typeface="SimHei" panose="02010609060101010101" pitchFamily="49" charset="-122"/>
                <a:cs typeface="Arial" panose="020B0604020202020204" pitchFamily="34" charset="0"/>
              </a:endParaRPr>
            </a:p>
          </p:txBody>
        </p:sp>
        <p:sp>
          <p:nvSpPr>
            <p:cNvPr id="249" name="AutoShape 67">
              <a:extLst>
                <a:ext uri="{FF2B5EF4-FFF2-40B4-BE49-F238E27FC236}">
                  <a16:creationId xmlns:a16="http://schemas.microsoft.com/office/drawing/2014/main" id="{53BB72F7-C077-BF33-D388-F00D7BD600EA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6200000">
              <a:off x="1464545" y="4144058"/>
              <a:ext cx="331146" cy="98268"/>
            </a:xfrm>
            <a:custGeom>
              <a:avLst/>
              <a:gdLst>
                <a:gd name="T0" fmla="*/ 9 w 21600"/>
                <a:gd name="T1" fmla="*/ 0 h 21600"/>
                <a:gd name="T2" fmla="*/ 5 w 21600"/>
                <a:gd name="T3" fmla="*/ 1 h 21600"/>
                <a:gd name="T4" fmla="*/ 1 w 21600"/>
                <a:gd name="T5" fmla="*/ 0 h 21600"/>
                <a:gd name="T6" fmla="*/ 5 w 21600"/>
                <a:gd name="T7" fmla="*/ 0 h 21600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4500 w 21600"/>
                <a:gd name="T13" fmla="*/ 4500 h 21600"/>
                <a:gd name="T14" fmla="*/ 17100 w 21600"/>
                <a:gd name="T15" fmla="*/ 17100 h 2160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600" h="21600">
                  <a:moveTo>
                    <a:pt x="0" y="0"/>
                  </a:moveTo>
                  <a:lnTo>
                    <a:pt x="5400" y="21600"/>
                  </a:lnTo>
                  <a:lnTo>
                    <a:pt x="16200" y="21600"/>
                  </a:lnTo>
                  <a:lnTo>
                    <a:pt x="21600" y="0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9050">
              <a:solidFill>
                <a:srgbClr val="7030A0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defPPr>
                <a:defRPr lang="zh-CN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5pPr>
              <a:lvl6pPr marL="22860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6pPr>
              <a:lvl7pPr marL="27432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7pPr>
              <a:lvl8pPr marL="32004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8pPr>
              <a:lvl9pPr marL="36576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SimHei" panose="02010609060101010101" pitchFamily="49" charset="-122"/>
                <a:cs typeface="+mn-cs"/>
              </a:endParaRPr>
            </a:p>
          </p:txBody>
        </p:sp>
        <p:sp>
          <p:nvSpPr>
            <p:cNvPr id="250" name="Freeform 179">
              <a:extLst>
                <a:ext uri="{FF2B5EF4-FFF2-40B4-BE49-F238E27FC236}">
                  <a16:creationId xmlns:a16="http://schemas.microsoft.com/office/drawing/2014/main" id="{24E6997F-E848-5C1D-A18D-9EA07BE99957}"/>
                </a:ext>
              </a:extLst>
            </p:cNvPr>
            <p:cNvSpPr/>
            <p:nvPr/>
          </p:nvSpPr>
          <p:spPr>
            <a:xfrm>
              <a:off x="1478532" y="3885833"/>
              <a:ext cx="978921" cy="394010"/>
            </a:xfrm>
            <a:custGeom>
              <a:avLst/>
              <a:gdLst>
                <a:gd name="connsiteX0" fmla="*/ 1018478 w 1018478"/>
                <a:gd name="connsiteY0" fmla="*/ 394010 h 394010"/>
                <a:gd name="connsiteX1" fmla="*/ 1018478 w 1018478"/>
                <a:gd name="connsiteY1" fmla="*/ 0 h 394010"/>
                <a:gd name="connsiteX2" fmla="*/ 0 w 1018478"/>
                <a:gd name="connsiteY2" fmla="*/ 0 h 394010"/>
                <a:gd name="connsiteX3" fmla="*/ 0 w 1018478"/>
                <a:gd name="connsiteY3" fmla="*/ 230459 h 394010"/>
                <a:gd name="connsiteX4" fmla="*/ 104078 w 1018478"/>
                <a:gd name="connsiteY4" fmla="*/ 230459 h 3940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18478" h="394010">
                  <a:moveTo>
                    <a:pt x="1018478" y="394010"/>
                  </a:moveTo>
                  <a:lnTo>
                    <a:pt x="1018478" y="0"/>
                  </a:lnTo>
                  <a:lnTo>
                    <a:pt x="0" y="0"/>
                  </a:lnTo>
                  <a:lnTo>
                    <a:pt x="0" y="230459"/>
                  </a:lnTo>
                  <a:lnTo>
                    <a:pt x="104078" y="230459"/>
                  </a:lnTo>
                </a:path>
              </a:pathLst>
            </a:custGeom>
            <a:noFill/>
            <a:ln>
              <a:solidFill>
                <a:srgbClr val="7030A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zh-CN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N" sz="180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SimHei" panose="02010609060101010101" pitchFamily="49" charset="-122"/>
                <a:cs typeface="+mn-cs"/>
              </a:endParaRPr>
            </a:p>
          </p:txBody>
        </p:sp>
        <p:cxnSp>
          <p:nvCxnSpPr>
            <p:cNvPr id="251" name="Straight Connector 180">
              <a:extLst>
                <a:ext uri="{FF2B5EF4-FFF2-40B4-BE49-F238E27FC236}">
                  <a16:creationId xmlns:a16="http://schemas.microsoft.com/office/drawing/2014/main" id="{FBACAD7D-8E64-6C99-29D0-F23C3BD408AE}"/>
                </a:ext>
              </a:extLst>
            </p:cNvPr>
            <p:cNvCxnSpPr>
              <a:cxnSpLocks/>
            </p:cNvCxnSpPr>
            <p:nvPr/>
          </p:nvCxnSpPr>
          <p:spPr>
            <a:xfrm>
              <a:off x="1679252" y="4189752"/>
              <a:ext cx="280111" cy="0"/>
            </a:xfrm>
            <a:prstGeom prst="line">
              <a:avLst/>
            </a:prstGeom>
            <a:ln w="19050">
              <a:solidFill>
                <a:srgbClr val="7030A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52" name="Freeform 181">
              <a:extLst>
                <a:ext uri="{FF2B5EF4-FFF2-40B4-BE49-F238E27FC236}">
                  <a16:creationId xmlns:a16="http://schemas.microsoft.com/office/drawing/2014/main" id="{72024C64-6145-8C10-897D-2759BA34F3FD}"/>
                </a:ext>
              </a:extLst>
            </p:cNvPr>
            <p:cNvSpPr/>
            <p:nvPr/>
          </p:nvSpPr>
          <p:spPr>
            <a:xfrm>
              <a:off x="1205114" y="4324747"/>
              <a:ext cx="428587" cy="202518"/>
            </a:xfrm>
            <a:custGeom>
              <a:avLst/>
              <a:gdLst>
                <a:gd name="connsiteX0" fmla="*/ 0 w 251613"/>
                <a:gd name="connsiteY0" fmla="*/ 202518 h 202518"/>
                <a:gd name="connsiteX1" fmla="*/ 251613 w 251613"/>
                <a:gd name="connsiteY1" fmla="*/ 202518 h 202518"/>
                <a:gd name="connsiteX2" fmla="*/ 251613 w 251613"/>
                <a:gd name="connsiteY2" fmla="*/ 0 h 2025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51613" h="202518">
                  <a:moveTo>
                    <a:pt x="0" y="202518"/>
                  </a:moveTo>
                  <a:lnTo>
                    <a:pt x="251613" y="202518"/>
                  </a:lnTo>
                  <a:lnTo>
                    <a:pt x="251613" y="0"/>
                  </a:lnTo>
                </a:path>
              </a:pathLst>
            </a:custGeom>
            <a:noFill/>
            <a:ln>
              <a:solidFill>
                <a:srgbClr val="7030A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zh-CN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N" sz="180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SimHei" panose="02010609060101010101" pitchFamily="49" charset="-122"/>
                <a:cs typeface="+mn-cs"/>
              </a:endParaRPr>
            </a:p>
          </p:txBody>
        </p:sp>
        <p:sp>
          <p:nvSpPr>
            <p:cNvPr id="253" name="Freeform 182">
              <a:extLst>
                <a:ext uri="{FF2B5EF4-FFF2-40B4-BE49-F238E27FC236}">
                  <a16:creationId xmlns:a16="http://schemas.microsoft.com/office/drawing/2014/main" id="{DAA1FE38-C27D-3958-DEB6-F53B31DE8E2F}"/>
                </a:ext>
              </a:extLst>
            </p:cNvPr>
            <p:cNvSpPr/>
            <p:nvPr/>
          </p:nvSpPr>
          <p:spPr>
            <a:xfrm>
              <a:off x="1469370" y="4269515"/>
              <a:ext cx="105054" cy="969806"/>
            </a:xfrm>
            <a:custGeom>
              <a:avLst/>
              <a:gdLst>
                <a:gd name="connsiteX0" fmla="*/ 104327 w 104327"/>
                <a:gd name="connsiteY0" fmla="*/ 0 h 803935"/>
                <a:gd name="connsiteX1" fmla="*/ 0 w 104327"/>
                <a:gd name="connsiteY1" fmla="*/ 0 h 803935"/>
                <a:gd name="connsiteX2" fmla="*/ 0 w 104327"/>
                <a:gd name="connsiteY2" fmla="*/ 803935 h 8039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4327" h="803935">
                  <a:moveTo>
                    <a:pt x="104327" y="0"/>
                  </a:moveTo>
                  <a:lnTo>
                    <a:pt x="0" y="0"/>
                  </a:lnTo>
                  <a:lnTo>
                    <a:pt x="0" y="803935"/>
                  </a:lnTo>
                </a:path>
              </a:pathLst>
            </a:custGeom>
            <a:ln w="19050"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>
              <a:defPPr>
                <a:defRPr lang="zh-CN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N" sz="180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SimHei" panose="02010609060101010101" pitchFamily="49" charset="-122"/>
                <a:cs typeface="+mn-cs"/>
              </a:endParaRPr>
            </a:p>
          </p:txBody>
        </p:sp>
        <p:sp>
          <p:nvSpPr>
            <p:cNvPr id="254" name="Rectangle 183">
              <a:extLst>
                <a:ext uri="{FF2B5EF4-FFF2-40B4-BE49-F238E27FC236}">
                  <a16:creationId xmlns:a16="http://schemas.microsoft.com/office/drawing/2014/main" id="{35C646E5-D818-104C-0F67-381B559A002D}"/>
                </a:ext>
              </a:extLst>
            </p:cNvPr>
            <p:cNvSpPr/>
            <p:nvPr/>
          </p:nvSpPr>
          <p:spPr>
            <a:xfrm>
              <a:off x="1526305" y="4442908"/>
              <a:ext cx="234545" cy="156603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19050">
              <a:solidFill>
                <a:srgbClr val="7030A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zh-CN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N" sz="180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SimHei" panose="02010609060101010101" pitchFamily="49" charset="-122"/>
                <a:cs typeface="+mn-cs"/>
              </a:endParaRPr>
            </a:p>
          </p:txBody>
        </p:sp>
        <p:sp>
          <p:nvSpPr>
            <p:cNvPr id="255" name="AutoShape 67">
              <a:extLst>
                <a:ext uri="{FF2B5EF4-FFF2-40B4-BE49-F238E27FC236}">
                  <a16:creationId xmlns:a16="http://schemas.microsoft.com/office/drawing/2014/main" id="{FA74181D-891A-B33A-90DA-A821F793116F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6200000">
              <a:off x="2663962" y="4222208"/>
              <a:ext cx="666390" cy="127762"/>
            </a:xfrm>
            <a:custGeom>
              <a:avLst/>
              <a:gdLst>
                <a:gd name="T0" fmla="*/ 9 w 21600"/>
                <a:gd name="T1" fmla="*/ 0 h 21600"/>
                <a:gd name="T2" fmla="*/ 5 w 21600"/>
                <a:gd name="T3" fmla="*/ 1 h 21600"/>
                <a:gd name="T4" fmla="*/ 1 w 21600"/>
                <a:gd name="T5" fmla="*/ 0 h 21600"/>
                <a:gd name="T6" fmla="*/ 5 w 21600"/>
                <a:gd name="T7" fmla="*/ 0 h 21600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4500 w 21600"/>
                <a:gd name="T13" fmla="*/ 4500 h 21600"/>
                <a:gd name="T14" fmla="*/ 17100 w 21600"/>
                <a:gd name="T15" fmla="*/ 17100 h 2160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600" h="21600">
                  <a:moveTo>
                    <a:pt x="0" y="0"/>
                  </a:moveTo>
                  <a:lnTo>
                    <a:pt x="5400" y="21600"/>
                  </a:lnTo>
                  <a:lnTo>
                    <a:pt x="16200" y="21600"/>
                  </a:lnTo>
                  <a:lnTo>
                    <a:pt x="21600" y="0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9050">
              <a:solidFill>
                <a:srgbClr val="F28032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defPPr>
                <a:defRPr lang="zh-CN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5pPr>
              <a:lvl6pPr marL="22860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6pPr>
              <a:lvl7pPr marL="27432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7pPr>
              <a:lvl8pPr marL="32004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8pPr>
              <a:lvl9pPr marL="36576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SimHei" panose="02010609060101010101" pitchFamily="49" charset="-122"/>
                <a:cs typeface="+mn-cs"/>
              </a:endParaRPr>
            </a:p>
          </p:txBody>
        </p:sp>
        <p:cxnSp>
          <p:nvCxnSpPr>
            <p:cNvPr id="256" name="直接箭头连接符 255">
              <a:extLst>
                <a:ext uri="{FF2B5EF4-FFF2-40B4-BE49-F238E27FC236}">
                  <a16:creationId xmlns:a16="http://schemas.microsoft.com/office/drawing/2014/main" id="{49E65F35-CB8F-5D41-D704-BBBA39FB7A5D}"/>
                </a:ext>
              </a:extLst>
            </p:cNvPr>
            <p:cNvCxnSpPr>
              <a:cxnSpLocks/>
            </p:cNvCxnSpPr>
            <p:nvPr/>
          </p:nvCxnSpPr>
          <p:spPr>
            <a:xfrm>
              <a:off x="2389791" y="4279843"/>
              <a:ext cx="406538" cy="0"/>
            </a:xfrm>
            <a:prstGeom prst="straightConnector1">
              <a:avLst/>
            </a:prstGeom>
            <a:ln w="38100">
              <a:solidFill>
                <a:srgbClr val="7030A0"/>
              </a:solidFill>
              <a:headEnd type="none" w="med" len="med"/>
              <a:tailEnd type="none" w="med" len="med"/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sp>
          <p:nvSpPr>
            <p:cNvPr id="257" name="文本框 8">
              <a:extLst>
                <a:ext uri="{FF2B5EF4-FFF2-40B4-BE49-F238E27FC236}">
                  <a16:creationId xmlns:a16="http://schemas.microsoft.com/office/drawing/2014/main" id="{1D65E361-2963-8059-185B-4B71133A59B6}"/>
                </a:ext>
              </a:extLst>
            </p:cNvPr>
            <p:cNvSpPr txBox="1"/>
            <p:nvPr/>
          </p:nvSpPr>
          <p:spPr>
            <a:xfrm>
              <a:off x="2580301" y="3455585"/>
              <a:ext cx="414465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>
              <a:defPPr>
                <a:defRPr lang="zh-CN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5pPr>
              <a:lvl6pPr marL="22860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6pPr>
              <a:lvl7pPr marL="27432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7pPr>
              <a:lvl8pPr marL="32004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8pPr>
              <a:lvl9pPr marL="36576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1400" u="none" strike="noStrike" kern="1200" cap="none" spc="0" normalizeH="0" baseline="0" noProof="0" dirty="0" err="1">
                  <a:ln>
                    <a:noFill/>
                  </a:ln>
                  <a:solidFill>
                    <a:srgbClr val="EC7B2F"/>
                  </a:solidFill>
                  <a:effectLst/>
                  <a:uLnTx/>
                  <a:uFillTx/>
                  <a:latin typeface="Arial" panose="020B0604020202020204" pitchFamily="34" charset="0"/>
                  <a:ea typeface="SimHei" panose="02010609060101010101" pitchFamily="49" charset="-122"/>
                  <a:cs typeface="Arial" panose="020B0604020202020204" pitchFamily="34" charset="0"/>
                </a:rPr>
                <a:t>rs</a:t>
              </a:r>
              <a:endParaRPr kumimoji="0" lang="zh-CN" altLang="en-US" sz="1200" u="none" strike="noStrike" kern="1200" cap="none" spc="0" normalizeH="0" baseline="0" noProof="0" dirty="0">
                <a:ln>
                  <a:noFill/>
                </a:ln>
                <a:solidFill>
                  <a:srgbClr val="EC7B2F"/>
                </a:solidFill>
                <a:effectLst/>
                <a:uLnTx/>
                <a:uFillTx/>
                <a:latin typeface="Arial" panose="020B0604020202020204" pitchFamily="34" charset="0"/>
                <a:ea typeface="SimHei" panose="02010609060101010101" pitchFamily="49" charset="-122"/>
                <a:cs typeface="Arial" panose="020B0604020202020204" pitchFamily="34" charset="0"/>
              </a:endParaRPr>
            </a:p>
          </p:txBody>
        </p:sp>
        <p:sp>
          <p:nvSpPr>
            <p:cNvPr id="258" name="文本框 15">
              <a:extLst>
                <a:ext uri="{FF2B5EF4-FFF2-40B4-BE49-F238E27FC236}">
                  <a16:creationId xmlns:a16="http://schemas.microsoft.com/office/drawing/2014/main" id="{CC274846-5740-2F17-B85F-46372397673A}"/>
                </a:ext>
              </a:extLst>
            </p:cNvPr>
            <p:cNvSpPr txBox="1"/>
            <p:nvPr/>
          </p:nvSpPr>
          <p:spPr>
            <a:xfrm>
              <a:off x="1999220" y="4914344"/>
              <a:ext cx="893239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>
              <a:defPPr>
                <a:defRPr lang="zh-CN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5pPr>
              <a:lvl6pPr marL="22860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6pPr>
              <a:lvl7pPr marL="27432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7pPr>
              <a:lvl8pPr marL="32004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8pPr>
              <a:lvl9pPr marL="36576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9pPr>
            </a:lstStyle>
            <a:p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1400" u="none" strike="noStrike" kern="1200" cap="none" spc="0" normalizeH="0" baseline="0" noProof="0" dirty="0">
                  <a:ln>
                    <a:noFill/>
                  </a:ln>
                  <a:solidFill>
                    <a:srgbClr val="000099"/>
                  </a:solidFill>
                  <a:effectLst/>
                  <a:uLnTx/>
                  <a:uFillTx/>
                  <a:latin typeface="Arial" panose="020B0604020202020204" pitchFamily="34" charset="0"/>
                  <a:ea typeface="SimHei" panose="02010609060101010101" pitchFamily="49" charset="-122"/>
                  <a:cs typeface="Arial" panose="020B0604020202020204" pitchFamily="34" charset="0"/>
                </a:rPr>
                <a:t>32 Regs</a:t>
              </a:r>
            </a:p>
          </p:txBody>
        </p:sp>
        <p:sp>
          <p:nvSpPr>
            <p:cNvPr id="259" name="文本框 11">
              <a:extLst>
                <a:ext uri="{FF2B5EF4-FFF2-40B4-BE49-F238E27FC236}">
                  <a16:creationId xmlns:a16="http://schemas.microsoft.com/office/drawing/2014/main" id="{445CEB32-A949-06E4-2B0E-4E8BB7813A81}"/>
                </a:ext>
              </a:extLst>
            </p:cNvPr>
            <p:cNvSpPr txBox="1"/>
            <p:nvPr/>
          </p:nvSpPr>
          <p:spPr>
            <a:xfrm>
              <a:off x="778148" y="4864005"/>
              <a:ext cx="654047" cy="52322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>
              <a:defPPr>
                <a:defRPr lang="zh-CN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5pPr>
              <a:lvl6pPr marL="22860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6pPr>
              <a:lvl7pPr marL="27432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7pPr>
              <a:lvl8pPr marL="32004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8pPr>
              <a:lvl9pPr marL="36576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140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SimHei" panose="02010609060101010101" pitchFamily="49" charset="-122"/>
                  <a:cs typeface="Arial" panose="020B0604020202020204" pitchFamily="34" charset="0"/>
                </a:rPr>
                <a:t>Write Data</a:t>
              </a:r>
              <a:endParaRPr kumimoji="0" lang="zh-CN" altLang="en-US" sz="120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SimHei" panose="02010609060101010101" pitchFamily="49" charset="-122"/>
                <a:cs typeface="Arial" panose="020B0604020202020204" pitchFamily="34" charset="0"/>
              </a:endParaRPr>
            </a:p>
          </p:txBody>
        </p:sp>
        <p:sp>
          <p:nvSpPr>
            <p:cNvPr id="260" name="文本框 12">
              <a:extLst>
                <a:ext uri="{FF2B5EF4-FFF2-40B4-BE49-F238E27FC236}">
                  <a16:creationId xmlns:a16="http://schemas.microsoft.com/office/drawing/2014/main" id="{3D046A6E-96B4-947A-8D5D-92801E244CB9}"/>
                </a:ext>
              </a:extLst>
            </p:cNvPr>
            <p:cNvSpPr txBox="1"/>
            <p:nvPr/>
          </p:nvSpPr>
          <p:spPr>
            <a:xfrm>
              <a:off x="553688" y="4376051"/>
              <a:ext cx="713214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>
              <a:defPPr>
                <a:defRPr lang="zh-CN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5pPr>
              <a:lvl6pPr marL="22860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6pPr>
              <a:lvl7pPr marL="27432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7pPr>
              <a:lvl8pPr marL="32004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8pPr>
              <a:lvl9pPr marL="36576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9pPr>
            </a:lstStyle>
            <a:p>
              <a:pPr marL="0" marR="0" lvl="0" indent="0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altLang="zh-CN" sz="1400" dirty="0">
                  <a:solidFill>
                    <a:srgbClr val="7030A0"/>
                  </a:solidFill>
                  <a:latin typeface="Arial" panose="020B0604020202020204" pitchFamily="34" charset="0"/>
                  <a:ea typeface="SimHei" panose="02010609060101010101" pitchFamily="49" charset="-122"/>
                  <a:cs typeface="Arial" panose="020B0604020202020204" pitchFamily="34" charset="0"/>
                </a:rPr>
                <a:t>r</a:t>
              </a:r>
              <a:r>
                <a:rPr kumimoji="0" lang="en-US" altLang="zh-CN" sz="1400" u="none" strike="noStrike" kern="1200" cap="none" spc="0" normalizeH="0" baseline="0" noProof="0" dirty="0">
                  <a:ln>
                    <a:noFill/>
                  </a:ln>
                  <a:solidFill>
                    <a:srgbClr val="7030A0"/>
                  </a:solidFill>
                  <a:effectLst/>
                  <a:uLnTx/>
                  <a:uFillTx/>
                  <a:latin typeface="Arial" panose="020B0604020202020204" pitchFamily="34" charset="0"/>
                  <a:ea typeface="SimHei" panose="02010609060101010101" pitchFamily="49" charset="-122"/>
                  <a:cs typeface="Arial" panose="020B0604020202020204" pitchFamily="34" charset="0"/>
                </a:rPr>
                <a:t>t, RW</a:t>
              </a:r>
              <a:endParaRPr kumimoji="0" lang="zh-CN" altLang="en-US" sz="1200" u="none" strike="noStrike" kern="1200" cap="none" spc="0" normalizeH="0" baseline="0" noProof="0" dirty="0">
                <a:ln>
                  <a:noFill/>
                </a:ln>
                <a:solidFill>
                  <a:srgbClr val="7030A0"/>
                </a:solidFill>
                <a:effectLst/>
                <a:uLnTx/>
                <a:uFillTx/>
                <a:latin typeface="Arial" panose="020B0604020202020204" pitchFamily="34" charset="0"/>
                <a:ea typeface="SimHei" panose="02010609060101010101" pitchFamily="49" charset="-122"/>
                <a:cs typeface="Arial" panose="020B0604020202020204" pitchFamily="34" charset="0"/>
              </a:endParaRPr>
            </a:p>
          </p:txBody>
        </p:sp>
        <p:cxnSp>
          <p:nvCxnSpPr>
            <p:cNvPr id="261" name="Straight Connector 196">
              <a:extLst>
                <a:ext uri="{FF2B5EF4-FFF2-40B4-BE49-F238E27FC236}">
                  <a16:creationId xmlns:a16="http://schemas.microsoft.com/office/drawing/2014/main" id="{B85BA367-ED2F-A0E4-E3F0-00D2687D4360}"/>
                </a:ext>
              </a:extLst>
            </p:cNvPr>
            <p:cNvCxnSpPr>
              <a:cxnSpLocks/>
            </p:cNvCxnSpPr>
            <p:nvPr/>
          </p:nvCxnSpPr>
          <p:spPr>
            <a:xfrm>
              <a:off x="3061038" y="4298998"/>
              <a:ext cx="191098" cy="0"/>
            </a:xfrm>
            <a:prstGeom prst="line">
              <a:avLst/>
            </a:prstGeom>
            <a:ln w="19050">
              <a:solidFill>
                <a:srgbClr val="EC7B2F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62" name="文本框 15">
              <a:extLst>
                <a:ext uri="{FF2B5EF4-FFF2-40B4-BE49-F238E27FC236}">
                  <a16:creationId xmlns:a16="http://schemas.microsoft.com/office/drawing/2014/main" id="{55CA8EE9-0F69-5282-6165-C03B72DEAFAA}"/>
                </a:ext>
              </a:extLst>
            </p:cNvPr>
            <p:cNvSpPr txBox="1"/>
            <p:nvPr/>
          </p:nvSpPr>
          <p:spPr>
            <a:xfrm>
              <a:off x="1845743" y="4338773"/>
              <a:ext cx="592916" cy="43088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>
              <a:defPPr>
                <a:defRPr lang="zh-CN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5pPr>
              <a:lvl6pPr marL="22860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6pPr>
              <a:lvl7pPr marL="27432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7pPr>
              <a:lvl8pPr marL="32004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8pPr>
              <a:lvl9pPr marL="36576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9pPr>
            </a:lstStyle>
            <a:p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1100" u="none" strike="noStrike" kern="1200" cap="none" spc="0" normalizeH="0" baseline="0" noProof="0" dirty="0">
                  <a:ln>
                    <a:noFill/>
                  </a:ln>
                  <a:solidFill>
                    <a:srgbClr val="7030A0"/>
                  </a:solidFill>
                  <a:effectLst/>
                  <a:uLnTx/>
                  <a:uFillTx/>
                  <a:latin typeface="Arial" panose="020B0604020202020204" pitchFamily="34" charset="0"/>
                  <a:ea typeface="SimHei" panose="02010609060101010101" pitchFamily="49" charset="-122"/>
                  <a:cs typeface="Arial" panose="020B0604020202020204" pitchFamily="34" charset="0"/>
                </a:rPr>
                <a:t>N-bit</a:t>
              </a:r>
            </a:p>
            <a:p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altLang="zh-CN" sz="1100" dirty="0">
                  <a:solidFill>
                    <a:srgbClr val="7030A0"/>
                  </a:solidFill>
                  <a:latin typeface="Arial" panose="020B0604020202020204" pitchFamily="34" charset="0"/>
                  <a:ea typeface="SimHei" panose="02010609060101010101" pitchFamily="49" charset="-122"/>
                  <a:cs typeface="Arial" panose="020B0604020202020204" pitchFamily="34" charset="0"/>
                </a:rPr>
                <a:t>Reg</a:t>
              </a:r>
              <a:endParaRPr kumimoji="0" lang="en-US" altLang="zh-CN" sz="1100" u="none" strike="noStrike" kern="1200" cap="none" spc="0" normalizeH="0" baseline="0" noProof="0" dirty="0">
                <a:ln>
                  <a:noFill/>
                </a:ln>
                <a:solidFill>
                  <a:srgbClr val="7030A0"/>
                </a:solidFill>
                <a:effectLst/>
                <a:uLnTx/>
                <a:uFillTx/>
                <a:latin typeface="Arial" panose="020B0604020202020204" pitchFamily="34" charset="0"/>
                <a:ea typeface="SimHei" panose="02010609060101010101" pitchFamily="49" charset="-122"/>
                <a:cs typeface="Arial" panose="020B0604020202020204" pitchFamily="34" charset="0"/>
              </a:endParaRPr>
            </a:p>
          </p:txBody>
        </p:sp>
        <p:cxnSp>
          <p:nvCxnSpPr>
            <p:cNvPr id="263" name="直接箭头连接符 262">
              <a:extLst>
                <a:ext uri="{FF2B5EF4-FFF2-40B4-BE49-F238E27FC236}">
                  <a16:creationId xmlns:a16="http://schemas.microsoft.com/office/drawing/2014/main" id="{E86D5532-E125-DEFD-846D-312195CF7ADA}"/>
                </a:ext>
              </a:extLst>
            </p:cNvPr>
            <p:cNvCxnSpPr>
              <a:cxnSpLocks/>
            </p:cNvCxnSpPr>
            <p:nvPr/>
          </p:nvCxnSpPr>
          <p:spPr>
            <a:xfrm>
              <a:off x="2780842" y="4101787"/>
              <a:ext cx="152434" cy="0"/>
            </a:xfrm>
            <a:prstGeom prst="straightConnector1">
              <a:avLst/>
            </a:prstGeom>
            <a:ln w="19050">
              <a:solidFill>
                <a:srgbClr val="7030A0"/>
              </a:solidFill>
              <a:headEnd type="none" w="med" len="med"/>
              <a:tailEnd type="none" w="med" len="med"/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64" name="直接箭头连接符 263">
              <a:extLst>
                <a:ext uri="{FF2B5EF4-FFF2-40B4-BE49-F238E27FC236}">
                  <a16:creationId xmlns:a16="http://schemas.microsoft.com/office/drawing/2014/main" id="{A8415FA4-574A-39DA-AB19-093938316949}"/>
                </a:ext>
              </a:extLst>
            </p:cNvPr>
            <p:cNvCxnSpPr>
              <a:cxnSpLocks/>
            </p:cNvCxnSpPr>
            <p:nvPr/>
          </p:nvCxnSpPr>
          <p:spPr>
            <a:xfrm>
              <a:off x="2780842" y="4178364"/>
              <a:ext cx="152434" cy="0"/>
            </a:xfrm>
            <a:prstGeom prst="straightConnector1">
              <a:avLst/>
            </a:prstGeom>
            <a:ln w="19050">
              <a:solidFill>
                <a:srgbClr val="7030A0"/>
              </a:solidFill>
              <a:headEnd type="none" w="med" len="med"/>
              <a:tailEnd type="none" w="med" len="med"/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65" name="直接箭头连接符 264">
              <a:extLst>
                <a:ext uri="{FF2B5EF4-FFF2-40B4-BE49-F238E27FC236}">
                  <a16:creationId xmlns:a16="http://schemas.microsoft.com/office/drawing/2014/main" id="{5BF338EE-A1B4-5453-5201-1ED816DCABDD}"/>
                </a:ext>
              </a:extLst>
            </p:cNvPr>
            <p:cNvCxnSpPr>
              <a:cxnSpLocks/>
            </p:cNvCxnSpPr>
            <p:nvPr/>
          </p:nvCxnSpPr>
          <p:spPr>
            <a:xfrm>
              <a:off x="2780842" y="4254941"/>
              <a:ext cx="152434" cy="0"/>
            </a:xfrm>
            <a:prstGeom prst="straightConnector1">
              <a:avLst/>
            </a:prstGeom>
            <a:ln w="19050">
              <a:solidFill>
                <a:srgbClr val="7030A0"/>
              </a:solidFill>
              <a:headEnd type="none" w="med" len="med"/>
              <a:tailEnd type="none" w="med" len="med"/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66" name="直接箭头连接符 265">
              <a:extLst>
                <a:ext uri="{FF2B5EF4-FFF2-40B4-BE49-F238E27FC236}">
                  <a16:creationId xmlns:a16="http://schemas.microsoft.com/office/drawing/2014/main" id="{E7BD942C-9237-CF22-8BE4-2F99C0E13B41}"/>
                </a:ext>
              </a:extLst>
            </p:cNvPr>
            <p:cNvCxnSpPr>
              <a:cxnSpLocks/>
            </p:cNvCxnSpPr>
            <p:nvPr/>
          </p:nvCxnSpPr>
          <p:spPr>
            <a:xfrm>
              <a:off x="2780842" y="4484672"/>
              <a:ext cx="152434" cy="0"/>
            </a:xfrm>
            <a:prstGeom prst="straightConnector1">
              <a:avLst/>
            </a:prstGeom>
            <a:ln w="19050">
              <a:solidFill>
                <a:srgbClr val="7030A0"/>
              </a:solidFill>
              <a:headEnd type="none" w="med" len="med"/>
              <a:tailEnd type="none" w="med" len="med"/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67" name="直接箭头连接符 266">
              <a:extLst>
                <a:ext uri="{FF2B5EF4-FFF2-40B4-BE49-F238E27FC236}">
                  <a16:creationId xmlns:a16="http://schemas.microsoft.com/office/drawing/2014/main" id="{5D08911E-C494-26E5-1FD1-75E907C750AB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2857059" y="4313652"/>
              <a:ext cx="0" cy="108000"/>
            </a:xfrm>
            <a:prstGeom prst="straightConnector1">
              <a:avLst/>
            </a:prstGeom>
            <a:ln w="19050">
              <a:solidFill>
                <a:srgbClr val="7030A0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68" name="Straight Connector 210">
              <a:extLst>
                <a:ext uri="{FF2B5EF4-FFF2-40B4-BE49-F238E27FC236}">
                  <a16:creationId xmlns:a16="http://schemas.microsoft.com/office/drawing/2014/main" id="{94469B60-3349-5290-3DF3-CE79C835B665}"/>
                </a:ext>
              </a:extLst>
            </p:cNvPr>
            <p:cNvCxnSpPr>
              <a:cxnSpLocks/>
            </p:cNvCxnSpPr>
            <p:nvPr/>
          </p:nvCxnSpPr>
          <p:spPr>
            <a:xfrm>
              <a:off x="2769826" y="4090771"/>
              <a:ext cx="0" cy="415920"/>
            </a:xfrm>
            <a:prstGeom prst="line">
              <a:avLst/>
            </a:prstGeom>
            <a:ln w="63500">
              <a:solidFill>
                <a:srgbClr val="7030A0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sp>
          <p:nvSpPr>
            <p:cNvPr id="269" name="Freeform 214">
              <a:extLst>
                <a:ext uri="{FF2B5EF4-FFF2-40B4-BE49-F238E27FC236}">
                  <a16:creationId xmlns:a16="http://schemas.microsoft.com/office/drawing/2014/main" id="{DAA4B638-4D9C-D1A7-4728-F89F5809370E}"/>
                </a:ext>
              </a:extLst>
            </p:cNvPr>
            <p:cNvSpPr/>
            <p:nvPr/>
          </p:nvSpPr>
          <p:spPr>
            <a:xfrm>
              <a:off x="2683337" y="3725349"/>
              <a:ext cx="333213" cy="325464"/>
            </a:xfrm>
            <a:custGeom>
              <a:avLst/>
              <a:gdLst>
                <a:gd name="connsiteX0" fmla="*/ 0 w 333213"/>
                <a:gd name="connsiteY0" fmla="*/ 0 h 325464"/>
                <a:gd name="connsiteX1" fmla="*/ 333213 w 333213"/>
                <a:gd name="connsiteY1" fmla="*/ 0 h 325464"/>
                <a:gd name="connsiteX2" fmla="*/ 333213 w 333213"/>
                <a:gd name="connsiteY2" fmla="*/ 325464 h 3254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33213" h="325464">
                  <a:moveTo>
                    <a:pt x="0" y="0"/>
                  </a:moveTo>
                  <a:lnTo>
                    <a:pt x="333213" y="0"/>
                  </a:lnTo>
                  <a:lnTo>
                    <a:pt x="333213" y="325464"/>
                  </a:lnTo>
                </a:path>
              </a:pathLst>
            </a:custGeom>
            <a:noFill/>
            <a:ln w="19050">
              <a:solidFill>
                <a:srgbClr val="EC7B2F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zh-CN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CN"/>
            </a:p>
          </p:txBody>
        </p:sp>
        <p:sp>
          <p:nvSpPr>
            <p:cNvPr id="270" name="Rectangle 215">
              <a:extLst>
                <a:ext uri="{FF2B5EF4-FFF2-40B4-BE49-F238E27FC236}">
                  <a16:creationId xmlns:a16="http://schemas.microsoft.com/office/drawing/2014/main" id="{E3EBC5CC-B443-9850-5551-B41FD02168E5}"/>
                </a:ext>
              </a:extLst>
            </p:cNvPr>
            <p:cNvSpPr/>
            <p:nvPr/>
          </p:nvSpPr>
          <p:spPr>
            <a:xfrm>
              <a:off x="1261153" y="5599803"/>
              <a:ext cx="1441420" cy="461665"/>
            </a:xfrm>
            <a:prstGeom prst="rect">
              <a:avLst/>
            </a:prstGeom>
          </p:spPr>
          <p:txBody>
            <a:bodyPr wrap="none">
              <a:spAutoFit/>
            </a:bodyPr>
            <a:lstStyle>
              <a:defPPr>
                <a:defRPr lang="zh-CN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5pPr>
              <a:lvl6pPr marL="22860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6pPr>
              <a:lvl7pPr marL="27432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7pPr>
              <a:lvl8pPr marL="32004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8pPr>
              <a:lvl9pPr marL="36576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9pPr>
            </a:lstStyle>
            <a:p>
              <a:r>
                <a:rPr lang="zh-CN" altLang="en-US" sz="2400" b="1" dirty="0">
                  <a:solidFill>
                    <a:srgbClr val="0432FF"/>
                  </a:solidFill>
                  <a:latin typeface="+mj-ea"/>
                  <a:ea typeface="+mj-ea"/>
                </a:rPr>
                <a:t>先写后读</a:t>
              </a:r>
              <a:endParaRPr lang="en-CN" dirty="0">
                <a:latin typeface="SimHei" panose="02010609060101010101" pitchFamily="49" charset="-122"/>
                <a:ea typeface="SimHei" panose="02010609060101010101" pitchFamily="49" charset="-122"/>
              </a:endParaRPr>
            </a:p>
          </p:txBody>
        </p:sp>
        <p:sp>
          <p:nvSpPr>
            <p:cNvPr id="271" name="Freeform 217">
              <a:extLst>
                <a:ext uri="{FF2B5EF4-FFF2-40B4-BE49-F238E27FC236}">
                  <a16:creationId xmlns:a16="http://schemas.microsoft.com/office/drawing/2014/main" id="{AA5C0C95-9E19-4275-57B5-05BD658E5DE1}"/>
                </a:ext>
              </a:extLst>
            </p:cNvPr>
            <p:cNvSpPr/>
            <p:nvPr/>
          </p:nvSpPr>
          <p:spPr>
            <a:xfrm>
              <a:off x="1850309" y="4621369"/>
              <a:ext cx="105054" cy="828153"/>
            </a:xfrm>
            <a:custGeom>
              <a:avLst/>
              <a:gdLst>
                <a:gd name="connsiteX0" fmla="*/ 104327 w 104327"/>
                <a:gd name="connsiteY0" fmla="*/ 0 h 803935"/>
                <a:gd name="connsiteX1" fmla="*/ 0 w 104327"/>
                <a:gd name="connsiteY1" fmla="*/ 0 h 803935"/>
                <a:gd name="connsiteX2" fmla="*/ 0 w 104327"/>
                <a:gd name="connsiteY2" fmla="*/ 803935 h 8039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4327" h="803935">
                  <a:moveTo>
                    <a:pt x="104327" y="0"/>
                  </a:moveTo>
                  <a:lnTo>
                    <a:pt x="0" y="0"/>
                  </a:lnTo>
                  <a:lnTo>
                    <a:pt x="0" y="803935"/>
                  </a:lnTo>
                </a:path>
              </a:pathLst>
            </a:custGeom>
            <a:ln w="19050">
              <a:solidFill>
                <a:srgbClr val="7030A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>
              <a:defPPr>
                <a:defRPr lang="zh-CN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N" sz="180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SimHei" panose="02010609060101010101" pitchFamily="49" charset="-122"/>
                <a:cs typeface="+mn-cs"/>
              </a:endParaRPr>
            </a:p>
          </p:txBody>
        </p:sp>
        <p:sp>
          <p:nvSpPr>
            <p:cNvPr id="272" name="文本框 11">
              <a:extLst>
                <a:ext uri="{FF2B5EF4-FFF2-40B4-BE49-F238E27FC236}">
                  <a16:creationId xmlns:a16="http://schemas.microsoft.com/office/drawing/2014/main" id="{282498E9-A788-5ACE-B42B-4B61A47AB953}"/>
                </a:ext>
              </a:extLst>
            </p:cNvPr>
            <p:cNvSpPr txBox="1"/>
            <p:nvPr/>
          </p:nvSpPr>
          <p:spPr>
            <a:xfrm>
              <a:off x="1313945" y="5229731"/>
              <a:ext cx="654047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>
              <a:defPPr>
                <a:defRPr lang="zh-CN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5pPr>
              <a:lvl6pPr marL="22860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6pPr>
              <a:lvl7pPr marL="27432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7pPr>
              <a:lvl8pPr marL="32004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8pPr>
              <a:lvl9pPr marL="36576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1400" u="none" strike="noStrike" kern="1200" cap="none" spc="0" normalizeH="0" baseline="0" noProof="0" dirty="0">
                  <a:ln>
                    <a:noFill/>
                  </a:ln>
                  <a:solidFill>
                    <a:srgbClr val="7030A0"/>
                  </a:solidFill>
                  <a:effectLst/>
                  <a:uLnTx/>
                  <a:uFillTx/>
                  <a:latin typeface="Arial" panose="020B0604020202020204" pitchFamily="34" charset="0"/>
                  <a:ea typeface="SimHei" panose="02010609060101010101" pitchFamily="49" charset="-122"/>
                  <a:cs typeface="Arial" panose="020B0604020202020204" pitchFamily="34" charset="0"/>
                </a:rPr>
                <a:t>CLK</a:t>
              </a:r>
              <a:endParaRPr kumimoji="0" lang="zh-CN" altLang="en-US" sz="1200" u="none" strike="noStrike" kern="1200" cap="none" spc="0" normalizeH="0" baseline="0" noProof="0" dirty="0">
                <a:ln>
                  <a:noFill/>
                </a:ln>
                <a:solidFill>
                  <a:srgbClr val="7030A0"/>
                </a:solidFill>
                <a:effectLst/>
                <a:uLnTx/>
                <a:uFillTx/>
                <a:latin typeface="Arial" panose="020B0604020202020204" pitchFamily="34" charset="0"/>
                <a:ea typeface="SimHei" panose="02010609060101010101" pitchFamily="49" charset="-122"/>
                <a:cs typeface="Arial" panose="020B0604020202020204" pitchFamily="34" charset="0"/>
              </a:endParaRPr>
            </a:p>
          </p:txBody>
        </p:sp>
      </p:grpSp>
      <p:grpSp>
        <p:nvGrpSpPr>
          <p:cNvPr id="134" name="组合 133">
            <a:extLst>
              <a:ext uri="{FF2B5EF4-FFF2-40B4-BE49-F238E27FC236}">
                <a16:creationId xmlns:a16="http://schemas.microsoft.com/office/drawing/2014/main" id="{B2211380-0E45-C60C-243D-DD7AD9D08C68}"/>
              </a:ext>
            </a:extLst>
          </p:cNvPr>
          <p:cNvGrpSpPr/>
          <p:nvPr/>
        </p:nvGrpSpPr>
        <p:grpSpPr>
          <a:xfrm>
            <a:off x="4379705" y="3288256"/>
            <a:ext cx="3823777" cy="2956969"/>
            <a:chOff x="4243949" y="3539002"/>
            <a:chExt cx="3823777" cy="2956969"/>
          </a:xfrm>
        </p:grpSpPr>
        <p:sp>
          <p:nvSpPr>
            <p:cNvPr id="135" name="Rectangle 139">
              <a:extLst>
                <a:ext uri="{FF2B5EF4-FFF2-40B4-BE49-F238E27FC236}">
                  <a16:creationId xmlns:a16="http://schemas.microsoft.com/office/drawing/2014/main" id="{E60ECE38-7C57-2ACB-FBB1-9A507E98E94A}"/>
                </a:ext>
              </a:extLst>
            </p:cNvPr>
            <p:cNvSpPr/>
            <p:nvPr/>
          </p:nvSpPr>
          <p:spPr>
            <a:xfrm>
              <a:off x="5226316" y="4703772"/>
              <a:ext cx="1122699" cy="1035104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6350">
              <a:solidFill>
                <a:schemeClr val="accent6">
                  <a:lumMod val="60000"/>
                  <a:lumOff val="4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zh-CN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N" sz="180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SimHei" panose="02010609060101010101" pitchFamily="49" charset="-122"/>
                <a:cs typeface="+mn-cs"/>
              </a:endParaRPr>
            </a:p>
          </p:txBody>
        </p:sp>
        <p:sp>
          <p:nvSpPr>
            <p:cNvPr id="142" name="Rectangle 138">
              <a:extLst>
                <a:ext uri="{FF2B5EF4-FFF2-40B4-BE49-F238E27FC236}">
                  <a16:creationId xmlns:a16="http://schemas.microsoft.com/office/drawing/2014/main" id="{374B25A1-2017-F377-FCE4-BC94306C46D3}"/>
                </a:ext>
              </a:extLst>
            </p:cNvPr>
            <p:cNvSpPr/>
            <p:nvPr/>
          </p:nvSpPr>
          <p:spPr>
            <a:xfrm>
              <a:off x="5190718" y="4670971"/>
              <a:ext cx="1122699" cy="1035104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6350">
              <a:solidFill>
                <a:schemeClr val="accent6">
                  <a:lumMod val="60000"/>
                  <a:lumOff val="4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zh-CN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N" sz="180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SimHei" panose="02010609060101010101" pitchFamily="49" charset="-122"/>
                <a:cs typeface="+mn-cs"/>
              </a:endParaRPr>
            </a:p>
          </p:txBody>
        </p:sp>
        <p:sp>
          <p:nvSpPr>
            <p:cNvPr id="143" name="Rectangle 137">
              <a:extLst>
                <a:ext uri="{FF2B5EF4-FFF2-40B4-BE49-F238E27FC236}">
                  <a16:creationId xmlns:a16="http://schemas.microsoft.com/office/drawing/2014/main" id="{B142BB74-A6D9-97C3-807A-F596E69C6237}"/>
                </a:ext>
              </a:extLst>
            </p:cNvPr>
            <p:cNvSpPr/>
            <p:nvPr/>
          </p:nvSpPr>
          <p:spPr>
            <a:xfrm>
              <a:off x="5155120" y="4638170"/>
              <a:ext cx="1122699" cy="1035104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6350">
              <a:solidFill>
                <a:schemeClr val="accent6">
                  <a:lumMod val="60000"/>
                  <a:lumOff val="4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zh-CN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N" sz="180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SimHei" panose="02010609060101010101" pitchFamily="49" charset="-122"/>
                <a:cs typeface="+mn-cs"/>
              </a:endParaRPr>
            </a:p>
          </p:txBody>
        </p:sp>
        <p:sp>
          <p:nvSpPr>
            <p:cNvPr id="144" name="Rectangle 136">
              <a:extLst>
                <a:ext uri="{FF2B5EF4-FFF2-40B4-BE49-F238E27FC236}">
                  <a16:creationId xmlns:a16="http://schemas.microsoft.com/office/drawing/2014/main" id="{1722DF22-A265-3CCF-B543-6800D35F64EF}"/>
                </a:ext>
              </a:extLst>
            </p:cNvPr>
            <p:cNvSpPr/>
            <p:nvPr/>
          </p:nvSpPr>
          <p:spPr>
            <a:xfrm>
              <a:off x="5119522" y="4605369"/>
              <a:ext cx="1122699" cy="1035104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6350">
              <a:solidFill>
                <a:schemeClr val="accent6">
                  <a:lumMod val="60000"/>
                  <a:lumOff val="4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zh-CN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N" sz="180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SimHei" panose="02010609060101010101" pitchFamily="49" charset="-122"/>
                <a:cs typeface="+mn-cs"/>
              </a:endParaRPr>
            </a:p>
          </p:txBody>
        </p:sp>
        <p:sp>
          <p:nvSpPr>
            <p:cNvPr id="145" name="Rectangle 135">
              <a:extLst>
                <a:ext uri="{FF2B5EF4-FFF2-40B4-BE49-F238E27FC236}">
                  <a16:creationId xmlns:a16="http://schemas.microsoft.com/office/drawing/2014/main" id="{FB0A8AF1-E6AF-9CAB-C077-F064FB862772}"/>
                </a:ext>
              </a:extLst>
            </p:cNvPr>
            <p:cNvSpPr/>
            <p:nvPr/>
          </p:nvSpPr>
          <p:spPr>
            <a:xfrm>
              <a:off x="5083924" y="4572568"/>
              <a:ext cx="1122699" cy="1035104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6350">
              <a:solidFill>
                <a:schemeClr val="accent6">
                  <a:lumMod val="60000"/>
                  <a:lumOff val="4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zh-CN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N" sz="180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SimHei" panose="02010609060101010101" pitchFamily="49" charset="-122"/>
                <a:cs typeface="+mn-cs"/>
              </a:endParaRPr>
            </a:p>
          </p:txBody>
        </p:sp>
        <p:sp>
          <p:nvSpPr>
            <p:cNvPr id="146" name="Freeform 10">
              <a:extLst>
                <a:ext uri="{FF2B5EF4-FFF2-40B4-BE49-F238E27FC236}">
                  <a16:creationId xmlns:a16="http://schemas.microsoft.com/office/drawing/2014/main" id="{9DC8FD93-9689-0C0D-5E2A-5EF0681A04C9}"/>
                </a:ext>
              </a:extLst>
            </p:cNvPr>
            <p:cNvSpPr/>
            <p:nvPr/>
          </p:nvSpPr>
          <p:spPr>
            <a:xfrm>
              <a:off x="4967705" y="4000070"/>
              <a:ext cx="1495176" cy="1303020"/>
            </a:xfrm>
            <a:custGeom>
              <a:avLst/>
              <a:gdLst>
                <a:gd name="connsiteX0" fmla="*/ 674370 w 674370"/>
                <a:gd name="connsiteY0" fmla="*/ 0 h 1303020"/>
                <a:gd name="connsiteX1" fmla="*/ 0 w 674370"/>
                <a:gd name="connsiteY1" fmla="*/ 0 h 1303020"/>
                <a:gd name="connsiteX2" fmla="*/ 0 w 674370"/>
                <a:gd name="connsiteY2" fmla="*/ 1303020 h 13030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74370" h="1303020">
                  <a:moveTo>
                    <a:pt x="674370" y="0"/>
                  </a:moveTo>
                  <a:lnTo>
                    <a:pt x="0" y="0"/>
                  </a:lnTo>
                  <a:lnTo>
                    <a:pt x="0" y="1303020"/>
                  </a:lnTo>
                </a:path>
              </a:pathLst>
            </a:custGeom>
            <a:noFill/>
            <a:ln>
              <a:solidFill>
                <a:srgbClr val="7030A0"/>
              </a:solidFill>
              <a:headEnd type="triangle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zh-CN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CN"/>
            </a:p>
          </p:txBody>
        </p:sp>
        <p:sp>
          <p:nvSpPr>
            <p:cNvPr id="147" name="Rectangle 97">
              <a:extLst>
                <a:ext uri="{FF2B5EF4-FFF2-40B4-BE49-F238E27FC236}">
                  <a16:creationId xmlns:a16="http://schemas.microsoft.com/office/drawing/2014/main" id="{09BCD473-6E08-84E0-B76B-778B047507F1}"/>
                </a:ext>
              </a:extLst>
            </p:cNvPr>
            <p:cNvSpPr/>
            <p:nvPr/>
          </p:nvSpPr>
          <p:spPr>
            <a:xfrm>
              <a:off x="5049635" y="4532952"/>
              <a:ext cx="1122699" cy="1035104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6350">
              <a:solidFill>
                <a:schemeClr val="accent6">
                  <a:lumMod val="60000"/>
                  <a:lumOff val="4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zh-CN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N" sz="180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SimHei" panose="02010609060101010101" pitchFamily="49" charset="-122"/>
                <a:cs typeface="+mn-cs"/>
              </a:endParaRPr>
            </a:p>
          </p:txBody>
        </p:sp>
        <p:sp>
          <p:nvSpPr>
            <p:cNvPr id="149" name="Rectangle 98">
              <a:extLst>
                <a:ext uri="{FF2B5EF4-FFF2-40B4-BE49-F238E27FC236}">
                  <a16:creationId xmlns:a16="http://schemas.microsoft.com/office/drawing/2014/main" id="{DD805E0C-6F91-1146-F368-225EB4DBFABD}"/>
                </a:ext>
              </a:extLst>
            </p:cNvPr>
            <p:cNvSpPr/>
            <p:nvPr/>
          </p:nvSpPr>
          <p:spPr>
            <a:xfrm>
              <a:off x="5645349" y="4890069"/>
              <a:ext cx="424272" cy="618126"/>
            </a:xfrm>
            <a:prstGeom prst="rect">
              <a:avLst/>
            </a:prstGeom>
            <a:noFill/>
            <a:ln>
              <a:solidFill>
                <a:srgbClr val="7030A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zh-CN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N" sz="180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SimHei" panose="02010609060101010101" pitchFamily="49" charset="-122"/>
                <a:cs typeface="+mn-cs"/>
              </a:endParaRPr>
            </a:p>
          </p:txBody>
        </p:sp>
        <p:sp>
          <p:nvSpPr>
            <p:cNvPr id="152" name="Freeform 99">
              <a:extLst>
                <a:ext uri="{FF2B5EF4-FFF2-40B4-BE49-F238E27FC236}">
                  <a16:creationId xmlns:a16="http://schemas.microsoft.com/office/drawing/2014/main" id="{508313BE-4A1E-7C9E-BDD8-3940F89DB6BB}"/>
                </a:ext>
              </a:extLst>
            </p:cNvPr>
            <p:cNvSpPr/>
            <p:nvPr/>
          </p:nvSpPr>
          <p:spPr>
            <a:xfrm>
              <a:off x="5650355" y="5289470"/>
              <a:ext cx="94268" cy="179109"/>
            </a:xfrm>
            <a:custGeom>
              <a:avLst/>
              <a:gdLst>
                <a:gd name="connsiteX0" fmla="*/ 0 w 94268"/>
                <a:gd name="connsiteY0" fmla="*/ 0 h 179109"/>
                <a:gd name="connsiteX1" fmla="*/ 94268 w 94268"/>
                <a:gd name="connsiteY1" fmla="*/ 94268 h 179109"/>
                <a:gd name="connsiteX2" fmla="*/ 9427 w 94268"/>
                <a:gd name="connsiteY2" fmla="*/ 179109 h 1791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4268" h="179109">
                  <a:moveTo>
                    <a:pt x="0" y="0"/>
                  </a:moveTo>
                  <a:lnTo>
                    <a:pt x="94268" y="94268"/>
                  </a:lnTo>
                  <a:lnTo>
                    <a:pt x="9427" y="179109"/>
                  </a:lnTo>
                </a:path>
              </a:pathLst>
            </a:custGeom>
            <a:ln w="19050">
              <a:solidFill>
                <a:srgbClr val="7030A0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  <p:txBody>
            <a:bodyPr rtlCol="0" anchor="ctr"/>
            <a:lstStyle>
              <a:defPPr>
                <a:defRPr lang="zh-CN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N" sz="180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SimHei" panose="02010609060101010101" pitchFamily="49" charset="-122"/>
                <a:cs typeface="+mn-cs"/>
              </a:endParaRPr>
            </a:p>
          </p:txBody>
        </p:sp>
        <p:sp>
          <p:nvSpPr>
            <p:cNvPr id="153" name="文本框 8">
              <a:extLst>
                <a:ext uri="{FF2B5EF4-FFF2-40B4-BE49-F238E27FC236}">
                  <a16:creationId xmlns:a16="http://schemas.microsoft.com/office/drawing/2014/main" id="{28560331-9F75-D71F-7266-87491131B4AA}"/>
                </a:ext>
              </a:extLst>
            </p:cNvPr>
            <p:cNvSpPr txBox="1"/>
            <p:nvPr/>
          </p:nvSpPr>
          <p:spPr>
            <a:xfrm>
              <a:off x="5532690" y="4867239"/>
              <a:ext cx="414465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>
              <a:defPPr>
                <a:defRPr lang="zh-CN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5pPr>
              <a:lvl6pPr marL="22860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6pPr>
              <a:lvl7pPr marL="27432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7pPr>
              <a:lvl8pPr marL="32004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8pPr>
              <a:lvl9pPr marL="36576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1400" u="none" strike="noStrike" kern="1200" cap="none" spc="0" normalizeH="0" baseline="0" noProof="0" dirty="0">
                  <a:ln>
                    <a:noFill/>
                  </a:ln>
                  <a:solidFill>
                    <a:srgbClr val="7030A0"/>
                  </a:solidFill>
                  <a:effectLst/>
                  <a:uLnTx/>
                  <a:uFillTx/>
                  <a:latin typeface="Arial" panose="020B0604020202020204" pitchFamily="34" charset="0"/>
                  <a:ea typeface="SimHei" panose="02010609060101010101" pitchFamily="49" charset="-122"/>
                  <a:cs typeface="Arial" panose="020B0604020202020204" pitchFamily="34" charset="0"/>
                </a:rPr>
                <a:t>D</a:t>
              </a:r>
              <a:endParaRPr kumimoji="0" lang="zh-CN" altLang="en-US" sz="1200" u="none" strike="noStrike" kern="1200" cap="none" spc="0" normalizeH="0" baseline="0" noProof="0" dirty="0">
                <a:ln>
                  <a:noFill/>
                </a:ln>
                <a:solidFill>
                  <a:srgbClr val="7030A0"/>
                </a:solidFill>
                <a:effectLst/>
                <a:uLnTx/>
                <a:uFillTx/>
                <a:latin typeface="Arial" panose="020B0604020202020204" pitchFamily="34" charset="0"/>
                <a:ea typeface="SimHei" panose="02010609060101010101" pitchFamily="49" charset="-122"/>
                <a:cs typeface="Arial" panose="020B0604020202020204" pitchFamily="34" charset="0"/>
              </a:endParaRPr>
            </a:p>
          </p:txBody>
        </p:sp>
        <p:sp>
          <p:nvSpPr>
            <p:cNvPr id="155" name="文本框 8">
              <a:extLst>
                <a:ext uri="{FF2B5EF4-FFF2-40B4-BE49-F238E27FC236}">
                  <a16:creationId xmlns:a16="http://schemas.microsoft.com/office/drawing/2014/main" id="{0FFEA872-BD59-C557-5DA2-04770F62DCD3}"/>
                </a:ext>
              </a:extLst>
            </p:cNvPr>
            <p:cNvSpPr txBox="1"/>
            <p:nvPr/>
          </p:nvSpPr>
          <p:spPr>
            <a:xfrm>
              <a:off x="5765778" y="4923168"/>
              <a:ext cx="414465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>
              <a:defPPr>
                <a:defRPr lang="zh-CN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5pPr>
              <a:lvl6pPr marL="22860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6pPr>
              <a:lvl7pPr marL="27432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7pPr>
              <a:lvl8pPr marL="32004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8pPr>
              <a:lvl9pPr marL="36576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1400" u="none" strike="noStrike" kern="1200" cap="none" spc="0" normalizeH="0" baseline="0" noProof="0" dirty="0">
                  <a:ln>
                    <a:noFill/>
                  </a:ln>
                  <a:solidFill>
                    <a:srgbClr val="7030A0"/>
                  </a:solidFill>
                  <a:effectLst/>
                  <a:uLnTx/>
                  <a:uFillTx/>
                  <a:latin typeface="Arial" panose="020B0604020202020204" pitchFamily="34" charset="0"/>
                  <a:ea typeface="SimHei" panose="02010609060101010101" pitchFamily="49" charset="-122"/>
                  <a:cs typeface="Arial" panose="020B0604020202020204" pitchFamily="34" charset="0"/>
                </a:rPr>
                <a:t>Q</a:t>
              </a:r>
              <a:endParaRPr kumimoji="0" lang="zh-CN" altLang="en-US" sz="1200" u="none" strike="noStrike" kern="1200" cap="none" spc="0" normalizeH="0" baseline="0" noProof="0" dirty="0">
                <a:ln>
                  <a:noFill/>
                </a:ln>
                <a:solidFill>
                  <a:srgbClr val="7030A0"/>
                </a:solidFill>
                <a:effectLst/>
                <a:uLnTx/>
                <a:uFillTx/>
                <a:latin typeface="Arial" panose="020B0604020202020204" pitchFamily="34" charset="0"/>
                <a:ea typeface="SimHei" panose="02010609060101010101" pitchFamily="49" charset="-122"/>
                <a:cs typeface="Arial" panose="020B0604020202020204" pitchFamily="34" charset="0"/>
              </a:endParaRPr>
            </a:p>
          </p:txBody>
        </p:sp>
        <p:sp>
          <p:nvSpPr>
            <p:cNvPr id="157" name="AutoShape 67">
              <a:extLst>
                <a:ext uri="{FF2B5EF4-FFF2-40B4-BE49-F238E27FC236}">
                  <a16:creationId xmlns:a16="http://schemas.microsoft.com/office/drawing/2014/main" id="{BFCC3C8B-B819-E937-049E-A106F193051E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6200000">
              <a:off x="5149982" y="4920526"/>
              <a:ext cx="331146" cy="98268"/>
            </a:xfrm>
            <a:custGeom>
              <a:avLst/>
              <a:gdLst>
                <a:gd name="T0" fmla="*/ 9 w 21600"/>
                <a:gd name="T1" fmla="*/ 0 h 21600"/>
                <a:gd name="T2" fmla="*/ 5 w 21600"/>
                <a:gd name="T3" fmla="*/ 1 h 21600"/>
                <a:gd name="T4" fmla="*/ 1 w 21600"/>
                <a:gd name="T5" fmla="*/ 0 h 21600"/>
                <a:gd name="T6" fmla="*/ 5 w 21600"/>
                <a:gd name="T7" fmla="*/ 0 h 21600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4500 w 21600"/>
                <a:gd name="T13" fmla="*/ 4500 h 21600"/>
                <a:gd name="T14" fmla="*/ 17100 w 21600"/>
                <a:gd name="T15" fmla="*/ 17100 h 2160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600" h="21600">
                  <a:moveTo>
                    <a:pt x="0" y="0"/>
                  </a:moveTo>
                  <a:lnTo>
                    <a:pt x="5400" y="21600"/>
                  </a:lnTo>
                  <a:lnTo>
                    <a:pt x="16200" y="21600"/>
                  </a:lnTo>
                  <a:lnTo>
                    <a:pt x="21600" y="0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9050">
              <a:solidFill>
                <a:srgbClr val="7030A0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defPPr>
                <a:defRPr lang="zh-CN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5pPr>
              <a:lvl6pPr marL="22860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6pPr>
              <a:lvl7pPr marL="27432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7pPr>
              <a:lvl8pPr marL="32004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8pPr>
              <a:lvl9pPr marL="36576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SimHei" panose="02010609060101010101" pitchFamily="49" charset="-122"/>
                <a:cs typeface="+mn-cs"/>
              </a:endParaRPr>
            </a:p>
          </p:txBody>
        </p:sp>
        <p:sp>
          <p:nvSpPr>
            <p:cNvPr id="158" name="Freeform 103">
              <a:extLst>
                <a:ext uri="{FF2B5EF4-FFF2-40B4-BE49-F238E27FC236}">
                  <a16:creationId xmlns:a16="http://schemas.microsoft.com/office/drawing/2014/main" id="{96D78192-63AD-AFED-35EC-562622C8E7EB}"/>
                </a:ext>
              </a:extLst>
            </p:cNvPr>
            <p:cNvSpPr/>
            <p:nvPr/>
          </p:nvSpPr>
          <p:spPr>
            <a:xfrm>
              <a:off x="5163969" y="4662301"/>
              <a:ext cx="978921" cy="394010"/>
            </a:xfrm>
            <a:custGeom>
              <a:avLst/>
              <a:gdLst>
                <a:gd name="connsiteX0" fmla="*/ 1018478 w 1018478"/>
                <a:gd name="connsiteY0" fmla="*/ 394010 h 394010"/>
                <a:gd name="connsiteX1" fmla="*/ 1018478 w 1018478"/>
                <a:gd name="connsiteY1" fmla="*/ 0 h 394010"/>
                <a:gd name="connsiteX2" fmla="*/ 0 w 1018478"/>
                <a:gd name="connsiteY2" fmla="*/ 0 h 394010"/>
                <a:gd name="connsiteX3" fmla="*/ 0 w 1018478"/>
                <a:gd name="connsiteY3" fmla="*/ 230459 h 394010"/>
                <a:gd name="connsiteX4" fmla="*/ 104078 w 1018478"/>
                <a:gd name="connsiteY4" fmla="*/ 230459 h 3940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18478" h="394010">
                  <a:moveTo>
                    <a:pt x="1018478" y="394010"/>
                  </a:moveTo>
                  <a:lnTo>
                    <a:pt x="1018478" y="0"/>
                  </a:lnTo>
                  <a:lnTo>
                    <a:pt x="0" y="0"/>
                  </a:lnTo>
                  <a:lnTo>
                    <a:pt x="0" y="230459"/>
                  </a:lnTo>
                  <a:lnTo>
                    <a:pt x="104078" y="230459"/>
                  </a:lnTo>
                </a:path>
              </a:pathLst>
            </a:custGeom>
            <a:noFill/>
            <a:ln>
              <a:solidFill>
                <a:srgbClr val="7030A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zh-CN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N" sz="180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SimHei" panose="02010609060101010101" pitchFamily="49" charset="-122"/>
                <a:cs typeface="+mn-cs"/>
              </a:endParaRPr>
            </a:p>
          </p:txBody>
        </p:sp>
        <p:cxnSp>
          <p:nvCxnSpPr>
            <p:cNvPr id="159" name="Straight Connector 104">
              <a:extLst>
                <a:ext uri="{FF2B5EF4-FFF2-40B4-BE49-F238E27FC236}">
                  <a16:creationId xmlns:a16="http://schemas.microsoft.com/office/drawing/2014/main" id="{946C0D34-444F-D48B-2F11-F5EC1A5924A6}"/>
                </a:ext>
              </a:extLst>
            </p:cNvPr>
            <p:cNvCxnSpPr>
              <a:cxnSpLocks/>
            </p:cNvCxnSpPr>
            <p:nvPr/>
          </p:nvCxnSpPr>
          <p:spPr>
            <a:xfrm>
              <a:off x="5364689" y="4966220"/>
              <a:ext cx="280111" cy="0"/>
            </a:xfrm>
            <a:prstGeom prst="line">
              <a:avLst/>
            </a:prstGeom>
            <a:ln w="19050">
              <a:solidFill>
                <a:srgbClr val="7030A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61" name="Freeform 105">
              <a:extLst>
                <a:ext uri="{FF2B5EF4-FFF2-40B4-BE49-F238E27FC236}">
                  <a16:creationId xmlns:a16="http://schemas.microsoft.com/office/drawing/2014/main" id="{15BA8237-431A-3BAD-E6A4-57F84E723F27}"/>
                </a:ext>
              </a:extLst>
            </p:cNvPr>
            <p:cNvSpPr/>
            <p:nvPr/>
          </p:nvSpPr>
          <p:spPr>
            <a:xfrm>
              <a:off x="4890551" y="5101215"/>
              <a:ext cx="428587" cy="202518"/>
            </a:xfrm>
            <a:custGeom>
              <a:avLst/>
              <a:gdLst>
                <a:gd name="connsiteX0" fmla="*/ 0 w 251613"/>
                <a:gd name="connsiteY0" fmla="*/ 202518 h 202518"/>
                <a:gd name="connsiteX1" fmla="*/ 251613 w 251613"/>
                <a:gd name="connsiteY1" fmla="*/ 202518 h 202518"/>
                <a:gd name="connsiteX2" fmla="*/ 251613 w 251613"/>
                <a:gd name="connsiteY2" fmla="*/ 0 h 2025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51613" h="202518">
                  <a:moveTo>
                    <a:pt x="0" y="202518"/>
                  </a:moveTo>
                  <a:lnTo>
                    <a:pt x="251613" y="202518"/>
                  </a:lnTo>
                  <a:lnTo>
                    <a:pt x="251613" y="0"/>
                  </a:lnTo>
                </a:path>
              </a:pathLst>
            </a:custGeom>
            <a:noFill/>
            <a:ln>
              <a:solidFill>
                <a:srgbClr val="7030A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zh-CN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N" sz="180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SimHei" panose="02010609060101010101" pitchFamily="49" charset="-122"/>
                <a:cs typeface="+mn-cs"/>
              </a:endParaRPr>
            </a:p>
          </p:txBody>
        </p:sp>
        <p:sp>
          <p:nvSpPr>
            <p:cNvPr id="162" name="Freeform 106">
              <a:extLst>
                <a:ext uri="{FF2B5EF4-FFF2-40B4-BE49-F238E27FC236}">
                  <a16:creationId xmlns:a16="http://schemas.microsoft.com/office/drawing/2014/main" id="{D2A9D1E3-7D00-8C05-8F67-5D0EBC6C20D1}"/>
                </a:ext>
              </a:extLst>
            </p:cNvPr>
            <p:cNvSpPr/>
            <p:nvPr/>
          </p:nvSpPr>
          <p:spPr>
            <a:xfrm>
              <a:off x="5154807" y="5045983"/>
              <a:ext cx="105054" cy="969806"/>
            </a:xfrm>
            <a:custGeom>
              <a:avLst/>
              <a:gdLst>
                <a:gd name="connsiteX0" fmla="*/ 104327 w 104327"/>
                <a:gd name="connsiteY0" fmla="*/ 0 h 803935"/>
                <a:gd name="connsiteX1" fmla="*/ 0 w 104327"/>
                <a:gd name="connsiteY1" fmla="*/ 0 h 803935"/>
                <a:gd name="connsiteX2" fmla="*/ 0 w 104327"/>
                <a:gd name="connsiteY2" fmla="*/ 803935 h 8039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4327" h="803935">
                  <a:moveTo>
                    <a:pt x="104327" y="0"/>
                  </a:moveTo>
                  <a:lnTo>
                    <a:pt x="0" y="0"/>
                  </a:lnTo>
                  <a:lnTo>
                    <a:pt x="0" y="803935"/>
                  </a:lnTo>
                </a:path>
              </a:pathLst>
            </a:custGeom>
            <a:ln w="19050"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>
              <a:defPPr>
                <a:defRPr lang="zh-CN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N" sz="180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SimHei" panose="02010609060101010101" pitchFamily="49" charset="-122"/>
                <a:cs typeface="+mn-cs"/>
              </a:endParaRPr>
            </a:p>
          </p:txBody>
        </p:sp>
        <p:sp>
          <p:nvSpPr>
            <p:cNvPr id="165" name="Rectangle 107">
              <a:extLst>
                <a:ext uri="{FF2B5EF4-FFF2-40B4-BE49-F238E27FC236}">
                  <a16:creationId xmlns:a16="http://schemas.microsoft.com/office/drawing/2014/main" id="{DE5E73FF-B5CB-FE1C-139B-6DCB9CD6E9A1}"/>
                </a:ext>
              </a:extLst>
            </p:cNvPr>
            <p:cNvSpPr/>
            <p:nvPr/>
          </p:nvSpPr>
          <p:spPr>
            <a:xfrm>
              <a:off x="5211742" y="5219376"/>
              <a:ext cx="234545" cy="156603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19050">
              <a:solidFill>
                <a:srgbClr val="7030A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zh-CN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N" sz="180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SimHei" panose="02010609060101010101" pitchFamily="49" charset="-122"/>
                <a:cs typeface="+mn-cs"/>
              </a:endParaRPr>
            </a:p>
          </p:txBody>
        </p:sp>
        <p:sp>
          <p:nvSpPr>
            <p:cNvPr id="166" name="AutoShape 67">
              <a:extLst>
                <a:ext uri="{FF2B5EF4-FFF2-40B4-BE49-F238E27FC236}">
                  <a16:creationId xmlns:a16="http://schemas.microsoft.com/office/drawing/2014/main" id="{0390A995-B94B-4F9A-6052-BA159449606F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6200000">
              <a:off x="6349399" y="4998676"/>
              <a:ext cx="666390" cy="127762"/>
            </a:xfrm>
            <a:custGeom>
              <a:avLst/>
              <a:gdLst>
                <a:gd name="T0" fmla="*/ 9 w 21600"/>
                <a:gd name="T1" fmla="*/ 0 h 21600"/>
                <a:gd name="T2" fmla="*/ 5 w 21600"/>
                <a:gd name="T3" fmla="*/ 1 h 21600"/>
                <a:gd name="T4" fmla="*/ 1 w 21600"/>
                <a:gd name="T5" fmla="*/ 0 h 21600"/>
                <a:gd name="T6" fmla="*/ 5 w 21600"/>
                <a:gd name="T7" fmla="*/ 0 h 21600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4500 w 21600"/>
                <a:gd name="T13" fmla="*/ 4500 h 21600"/>
                <a:gd name="T14" fmla="*/ 17100 w 21600"/>
                <a:gd name="T15" fmla="*/ 17100 h 2160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600" h="21600">
                  <a:moveTo>
                    <a:pt x="0" y="0"/>
                  </a:moveTo>
                  <a:lnTo>
                    <a:pt x="5400" y="21600"/>
                  </a:lnTo>
                  <a:lnTo>
                    <a:pt x="16200" y="21600"/>
                  </a:lnTo>
                  <a:lnTo>
                    <a:pt x="21600" y="0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9050">
              <a:solidFill>
                <a:srgbClr val="F28032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defPPr>
                <a:defRPr lang="zh-CN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5pPr>
              <a:lvl6pPr marL="22860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6pPr>
              <a:lvl7pPr marL="27432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7pPr>
              <a:lvl8pPr marL="32004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8pPr>
              <a:lvl9pPr marL="36576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SimHei" panose="02010609060101010101" pitchFamily="49" charset="-122"/>
                <a:cs typeface="+mn-cs"/>
              </a:endParaRPr>
            </a:p>
          </p:txBody>
        </p:sp>
        <p:cxnSp>
          <p:nvCxnSpPr>
            <p:cNvPr id="173" name="直接箭头连接符 172">
              <a:extLst>
                <a:ext uri="{FF2B5EF4-FFF2-40B4-BE49-F238E27FC236}">
                  <a16:creationId xmlns:a16="http://schemas.microsoft.com/office/drawing/2014/main" id="{209415C3-2D3D-361C-E644-1F47A577538E}"/>
                </a:ext>
              </a:extLst>
            </p:cNvPr>
            <p:cNvCxnSpPr>
              <a:cxnSpLocks/>
            </p:cNvCxnSpPr>
            <p:nvPr/>
          </p:nvCxnSpPr>
          <p:spPr>
            <a:xfrm>
              <a:off x="6075228" y="5056311"/>
              <a:ext cx="406538" cy="0"/>
            </a:xfrm>
            <a:prstGeom prst="straightConnector1">
              <a:avLst/>
            </a:prstGeom>
            <a:ln w="38100">
              <a:solidFill>
                <a:srgbClr val="7030A0"/>
              </a:solidFill>
              <a:headEnd type="none" w="med" len="med"/>
              <a:tailEnd type="none" w="med" len="med"/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sp>
          <p:nvSpPr>
            <p:cNvPr id="188" name="文本框 8">
              <a:extLst>
                <a:ext uri="{FF2B5EF4-FFF2-40B4-BE49-F238E27FC236}">
                  <a16:creationId xmlns:a16="http://schemas.microsoft.com/office/drawing/2014/main" id="{E0904481-986E-0913-B5D4-D40687064111}"/>
                </a:ext>
              </a:extLst>
            </p:cNvPr>
            <p:cNvSpPr txBox="1"/>
            <p:nvPr/>
          </p:nvSpPr>
          <p:spPr>
            <a:xfrm>
              <a:off x="6265738" y="4232053"/>
              <a:ext cx="414465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>
              <a:defPPr>
                <a:defRPr lang="zh-CN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5pPr>
              <a:lvl6pPr marL="22860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6pPr>
              <a:lvl7pPr marL="27432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7pPr>
              <a:lvl8pPr marL="32004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8pPr>
              <a:lvl9pPr marL="36576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1400" u="none" strike="noStrike" kern="1200" cap="none" spc="0" normalizeH="0" baseline="0" noProof="0" dirty="0" err="1">
                  <a:ln>
                    <a:noFill/>
                  </a:ln>
                  <a:solidFill>
                    <a:srgbClr val="EC7B2F"/>
                  </a:solidFill>
                  <a:effectLst/>
                  <a:uLnTx/>
                  <a:uFillTx/>
                  <a:latin typeface="Arial" panose="020B0604020202020204" pitchFamily="34" charset="0"/>
                  <a:ea typeface="SimHei" panose="02010609060101010101" pitchFamily="49" charset="-122"/>
                  <a:cs typeface="Arial" panose="020B0604020202020204" pitchFamily="34" charset="0"/>
                </a:rPr>
                <a:t>rs</a:t>
              </a:r>
              <a:endParaRPr kumimoji="0" lang="zh-CN" altLang="en-US" sz="1200" u="none" strike="noStrike" kern="1200" cap="none" spc="0" normalizeH="0" baseline="0" noProof="0" dirty="0">
                <a:ln>
                  <a:noFill/>
                </a:ln>
                <a:solidFill>
                  <a:srgbClr val="EC7B2F"/>
                </a:solidFill>
                <a:effectLst/>
                <a:uLnTx/>
                <a:uFillTx/>
                <a:latin typeface="Arial" panose="020B0604020202020204" pitchFamily="34" charset="0"/>
                <a:ea typeface="SimHei" panose="02010609060101010101" pitchFamily="49" charset="-122"/>
                <a:cs typeface="Arial" panose="020B0604020202020204" pitchFamily="34" charset="0"/>
              </a:endParaRPr>
            </a:p>
          </p:txBody>
        </p:sp>
        <p:cxnSp>
          <p:nvCxnSpPr>
            <p:cNvPr id="192" name="Straight Connector 112">
              <a:extLst>
                <a:ext uri="{FF2B5EF4-FFF2-40B4-BE49-F238E27FC236}">
                  <a16:creationId xmlns:a16="http://schemas.microsoft.com/office/drawing/2014/main" id="{7D87625C-4F94-E126-85EA-919C43D88892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700757" y="4182756"/>
              <a:ext cx="0" cy="644469"/>
            </a:xfrm>
            <a:prstGeom prst="line">
              <a:avLst/>
            </a:prstGeom>
            <a:ln w="19050">
              <a:solidFill>
                <a:srgbClr val="EC7B2F"/>
              </a:solidFill>
              <a:headEnd type="triangl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93" name="文本框 15">
              <a:extLst>
                <a:ext uri="{FF2B5EF4-FFF2-40B4-BE49-F238E27FC236}">
                  <a16:creationId xmlns:a16="http://schemas.microsoft.com/office/drawing/2014/main" id="{B129DC41-2207-9A0F-D477-3474BD49B077}"/>
                </a:ext>
              </a:extLst>
            </p:cNvPr>
            <p:cNvSpPr txBox="1"/>
            <p:nvPr/>
          </p:nvSpPr>
          <p:spPr>
            <a:xfrm>
              <a:off x="5856106" y="5482113"/>
              <a:ext cx="520964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>
              <a:defPPr>
                <a:defRPr lang="zh-CN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5pPr>
              <a:lvl6pPr marL="22860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6pPr>
              <a:lvl7pPr marL="27432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7pPr>
              <a:lvl8pPr marL="32004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8pPr>
              <a:lvl9pPr marL="36576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9pPr>
            </a:lstStyle>
            <a:p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1400" u="none" strike="noStrike" kern="1200" cap="none" spc="0" normalizeH="0" baseline="0" noProof="0" dirty="0">
                  <a:ln>
                    <a:noFill/>
                  </a:ln>
                  <a:solidFill>
                    <a:srgbClr val="7030A0"/>
                  </a:solidFill>
                  <a:effectLst/>
                  <a:uLnTx/>
                  <a:uFillTx/>
                  <a:latin typeface="Arial" panose="020B0604020202020204" pitchFamily="34" charset="0"/>
                  <a:ea typeface="SimHei" panose="02010609060101010101" pitchFamily="49" charset="-122"/>
                  <a:cs typeface="Arial" panose="020B0604020202020204" pitchFamily="34" charset="0"/>
                </a:rPr>
                <a:t>32x</a:t>
              </a:r>
            </a:p>
          </p:txBody>
        </p:sp>
        <p:sp>
          <p:nvSpPr>
            <p:cNvPr id="194" name="文本框 11">
              <a:extLst>
                <a:ext uri="{FF2B5EF4-FFF2-40B4-BE49-F238E27FC236}">
                  <a16:creationId xmlns:a16="http://schemas.microsoft.com/office/drawing/2014/main" id="{B2A73190-668A-CC8A-4F4C-0282705C5948}"/>
                </a:ext>
              </a:extLst>
            </p:cNvPr>
            <p:cNvSpPr txBox="1"/>
            <p:nvPr/>
          </p:nvSpPr>
          <p:spPr>
            <a:xfrm>
              <a:off x="4386955" y="5743212"/>
              <a:ext cx="654047" cy="52322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>
              <a:defPPr>
                <a:defRPr lang="zh-CN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5pPr>
              <a:lvl6pPr marL="22860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6pPr>
              <a:lvl7pPr marL="27432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7pPr>
              <a:lvl8pPr marL="32004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8pPr>
              <a:lvl9pPr marL="36576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140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SimHei" panose="02010609060101010101" pitchFamily="49" charset="-122"/>
                  <a:cs typeface="Arial" panose="020B0604020202020204" pitchFamily="34" charset="0"/>
                </a:rPr>
                <a:t>Write Data</a:t>
              </a:r>
              <a:endParaRPr kumimoji="0" lang="zh-CN" altLang="en-US" sz="120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SimHei" panose="02010609060101010101" pitchFamily="49" charset="-122"/>
                <a:cs typeface="Arial" panose="020B0604020202020204" pitchFamily="34" charset="0"/>
              </a:endParaRPr>
            </a:p>
          </p:txBody>
        </p:sp>
        <p:sp>
          <p:nvSpPr>
            <p:cNvPr id="195" name="文本框 12">
              <a:extLst>
                <a:ext uri="{FF2B5EF4-FFF2-40B4-BE49-F238E27FC236}">
                  <a16:creationId xmlns:a16="http://schemas.microsoft.com/office/drawing/2014/main" id="{D43CB299-ABF0-1119-CD07-2CB03A3C31B1}"/>
                </a:ext>
              </a:extLst>
            </p:cNvPr>
            <p:cNvSpPr txBox="1"/>
            <p:nvPr/>
          </p:nvSpPr>
          <p:spPr>
            <a:xfrm>
              <a:off x="4243949" y="5156551"/>
              <a:ext cx="731759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>
              <a:defPPr>
                <a:defRPr lang="zh-CN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5pPr>
              <a:lvl6pPr marL="22860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6pPr>
              <a:lvl7pPr marL="27432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7pPr>
              <a:lvl8pPr marL="32004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8pPr>
              <a:lvl9pPr marL="36576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9pPr>
            </a:lstStyle>
            <a:p>
              <a:pPr marL="0" marR="0" lvl="0" indent="0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altLang="zh-CN" sz="1400" dirty="0">
                  <a:solidFill>
                    <a:srgbClr val="7030A0"/>
                  </a:solidFill>
                  <a:latin typeface="Arial" panose="020B0604020202020204" pitchFamily="34" charset="0"/>
                  <a:ea typeface="SimHei" panose="02010609060101010101" pitchFamily="49" charset="-122"/>
                  <a:cs typeface="Arial" panose="020B0604020202020204" pitchFamily="34" charset="0"/>
                </a:rPr>
                <a:t>r</a:t>
              </a:r>
              <a:r>
                <a:rPr kumimoji="0" lang="en-US" altLang="zh-CN" sz="1400" u="none" strike="noStrike" kern="1200" cap="none" spc="0" normalizeH="0" baseline="0" noProof="0" dirty="0">
                  <a:ln>
                    <a:noFill/>
                  </a:ln>
                  <a:solidFill>
                    <a:srgbClr val="7030A0"/>
                  </a:solidFill>
                  <a:effectLst/>
                  <a:uLnTx/>
                  <a:uFillTx/>
                  <a:latin typeface="Arial" panose="020B0604020202020204" pitchFamily="34" charset="0"/>
                  <a:ea typeface="SimHei" panose="02010609060101010101" pitchFamily="49" charset="-122"/>
                  <a:cs typeface="Arial" panose="020B0604020202020204" pitchFamily="34" charset="0"/>
                </a:rPr>
                <a:t>t, RW</a:t>
              </a:r>
              <a:endParaRPr kumimoji="0" lang="zh-CN" altLang="en-US" sz="1200" u="none" strike="noStrike" kern="1200" cap="none" spc="0" normalizeH="0" baseline="0" noProof="0" dirty="0">
                <a:ln>
                  <a:noFill/>
                </a:ln>
                <a:solidFill>
                  <a:srgbClr val="7030A0"/>
                </a:solidFill>
                <a:effectLst/>
                <a:uLnTx/>
                <a:uFillTx/>
                <a:latin typeface="Arial" panose="020B0604020202020204" pitchFamily="34" charset="0"/>
                <a:ea typeface="SimHei" panose="02010609060101010101" pitchFamily="49" charset="-122"/>
                <a:cs typeface="Arial" panose="020B0604020202020204" pitchFamily="34" charset="0"/>
              </a:endParaRPr>
            </a:p>
          </p:txBody>
        </p:sp>
        <p:sp>
          <p:nvSpPr>
            <p:cNvPr id="196" name="Rectangle 117">
              <a:extLst>
                <a:ext uri="{FF2B5EF4-FFF2-40B4-BE49-F238E27FC236}">
                  <a16:creationId xmlns:a16="http://schemas.microsoft.com/office/drawing/2014/main" id="{23AA28BB-8F7E-EFEE-C8B2-4C6DE9F9125B}"/>
                </a:ext>
              </a:extLst>
            </p:cNvPr>
            <p:cNvSpPr/>
            <p:nvPr/>
          </p:nvSpPr>
          <p:spPr>
            <a:xfrm>
              <a:off x="5637442" y="3841880"/>
              <a:ext cx="424272" cy="618126"/>
            </a:xfrm>
            <a:prstGeom prst="rect">
              <a:avLst/>
            </a:prstGeom>
            <a:solidFill>
              <a:schemeClr val="bg1"/>
            </a:solidFill>
            <a:ln>
              <a:solidFill>
                <a:srgbClr val="7030A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zh-CN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N" sz="180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SimHei" panose="02010609060101010101" pitchFamily="49" charset="-122"/>
                <a:cs typeface="+mn-cs"/>
              </a:endParaRPr>
            </a:p>
          </p:txBody>
        </p:sp>
        <p:sp>
          <p:nvSpPr>
            <p:cNvPr id="198" name="Freeform 118">
              <a:extLst>
                <a:ext uri="{FF2B5EF4-FFF2-40B4-BE49-F238E27FC236}">
                  <a16:creationId xmlns:a16="http://schemas.microsoft.com/office/drawing/2014/main" id="{E7E71B79-557F-10CE-B181-4F6A823912AC}"/>
                </a:ext>
              </a:extLst>
            </p:cNvPr>
            <p:cNvSpPr/>
            <p:nvPr/>
          </p:nvSpPr>
          <p:spPr>
            <a:xfrm>
              <a:off x="5642448" y="4241281"/>
              <a:ext cx="94268" cy="179109"/>
            </a:xfrm>
            <a:custGeom>
              <a:avLst/>
              <a:gdLst>
                <a:gd name="connsiteX0" fmla="*/ 0 w 94268"/>
                <a:gd name="connsiteY0" fmla="*/ 0 h 179109"/>
                <a:gd name="connsiteX1" fmla="*/ 94268 w 94268"/>
                <a:gd name="connsiteY1" fmla="*/ 94268 h 179109"/>
                <a:gd name="connsiteX2" fmla="*/ 9427 w 94268"/>
                <a:gd name="connsiteY2" fmla="*/ 179109 h 1791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4268" h="179109">
                  <a:moveTo>
                    <a:pt x="0" y="0"/>
                  </a:moveTo>
                  <a:lnTo>
                    <a:pt x="94268" y="94268"/>
                  </a:lnTo>
                  <a:lnTo>
                    <a:pt x="9427" y="179109"/>
                  </a:lnTo>
                </a:path>
              </a:pathLst>
            </a:custGeom>
            <a:ln w="19050">
              <a:solidFill>
                <a:srgbClr val="7030A0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  <p:txBody>
            <a:bodyPr rtlCol="0" anchor="ctr"/>
            <a:lstStyle>
              <a:defPPr>
                <a:defRPr lang="zh-CN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N" sz="180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SimHei" panose="02010609060101010101" pitchFamily="49" charset="-122"/>
                <a:cs typeface="+mn-cs"/>
              </a:endParaRPr>
            </a:p>
          </p:txBody>
        </p:sp>
        <p:sp>
          <p:nvSpPr>
            <p:cNvPr id="199" name="文本框 8">
              <a:extLst>
                <a:ext uri="{FF2B5EF4-FFF2-40B4-BE49-F238E27FC236}">
                  <a16:creationId xmlns:a16="http://schemas.microsoft.com/office/drawing/2014/main" id="{76045E3C-BC19-E3AE-C524-7BFC7455B2D1}"/>
                </a:ext>
              </a:extLst>
            </p:cNvPr>
            <p:cNvSpPr txBox="1"/>
            <p:nvPr/>
          </p:nvSpPr>
          <p:spPr>
            <a:xfrm>
              <a:off x="5757871" y="3874979"/>
              <a:ext cx="414465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>
              <a:defPPr>
                <a:defRPr lang="zh-CN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5pPr>
              <a:lvl6pPr marL="22860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6pPr>
              <a:lvl7pPr marL="27432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7pPr>
              <a:lvl8pPr marL="32004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8pPr>
              <a:lvl9pPr marL="36576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1400" u="none" strike="noStrike" kern="1200" cap="none" spc="0" normalizeH="0" baseline="0" noProof="0" dirty="0">
                  <a:ln>
                    <a:noFill/>
                  </a:ln>
                  <a:solidFill>
                    <a:srgbClr val="7030A0"/>
                  </a:solidFill>
                  <a:effectLst/>
                  <a:uLnTx/>
                  <a:uFillTx/>
                  <a:latin typeface="Arial" panose="020B0604020202020204" pitchFamily="34" charset="0"/>
                  <a:ea typeface="SimHei" panose="02010609060101010101" pitchFamily="49" charset="-122"/>
                  <a:cs typeface="Arial" panose="020B0604020202020204" pitchFamily="34" charset="0"/>
                </a:rPr>
                <a:t>Q</a:t>
              </a:r>
              <a:endParaRPr kumimoji="0" lang="zh-CN" altLang="en-US" sz="1200" u="none" strike="noStrike" kern="1200" cap="none" spc="0" normalizeH="0" baseline="0" noProof="0" dirty="0">
                <a:ln>
                  <a:noFill/>
                </a:ln>
                <a:solidFill>
                  <a:srgbClr val="7030A0"/>
                </a:solidFill>
                <a:effectLst/>
                <a:uLnTx/>
                <a:uFillTx/>
                <a:latin typeface="Arial" panose="020B0604020202020204" pitchFamily="34" charset="0"/>
                <a:ea typeface="SimHei" panose="02010609060101010101" pitchFamily="49" charset="-122"/>
                <a:cs typeface="Arial" panose="020B0604020202020204" pitchFamily="34" charset="0"/>
              </a:endParaRPr>
            </a:p>
          </p:txBody>
        </p:sp>
        <p:sp>
          <p:nvSpPr>
            <p:cNvPr id="200" name="文本框 8">
              <a:extLst>
                <a:ext uri="{FF2B5EF4-FFF2-40B4-BE49-F238E27FC236}">
                  <a16:creationId xmlns:a16="http://schemas.microsoft.com/office/drawing/2014/main" id="{13C916E1-30B7-ABB1-479A-F7994A916BEF}"/>
                </a:ext>
              </a:extLst>
            </p:cNvPr>
            <p:cNvSpPr txBox="1"/>
            <p:nvPr/>
          </p:nvSpPr>
          <p:spPr>
            <a:xfrm>
              <a:off x="5526820" y="3876021"/>
              <a:ext cx="414465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>
              <a:defPPr>
                <a:defRPr lang="zh-CN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5pPr>
              <a:lvl6pPr marL="22860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6pPr>
              <a:lvl7pPr marL="27432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7pPr>
              <a:lvl8pPr marL="32004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8pPr>
              <a:lvl9pPr marL="36576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1400" u="none" strike="noStrike" kern="1200" cap="none" spc="0" normalizeH="0" baseline="0" noProof="0" dirty="0">
                  <a:ln>
                    <a:noFill/>
                  </a:ln>
                  <a:solidFill>
                    <a:srgbClr val="7030A0"/>
                  </a:solidFill>
                  <a:effectLst/>
                  <a:uLnTx/>
                  <a:uFillTx/>
                  <a:latin typeface="Arial" panose="020B0604020202020204" pitchFamily="34" charset="0"/>
                  <a:ea typeface="SimHei" panose="02010609060101010101" pitchFamily="49" charset="-122"/>
                  <a:cs typeface="Arial" panose="020B0604020202020204" pitchFamily="34" charset="0"/>
                </a:rPr>
                <a:t>D</a:t>
              </a:r>
              <a:endParaRPr kumimoji="0" lang="zh-CN" altLang="en-US" sz="1200" u="none" strike="noStrike" kern="1200" cap="none" spc="0" normalizeH="0" baseline="0" noProof="0" dirty="0">
                <a:ln>
                  <a:noFill/>
                </a:ln>
                <a:solidFill>
                  <a:srgbClr val="7030A0"/>
                </a:solidFill>
                <a:effectLst/>
                <a:uLnTx/>
                <a:uFillTx/>
                <a:latin typeface="Arial" panose="020B0604020202020204" pitchFamily="34" charset="0"/>
                <a:ea typeface="SimHei" panose="02010609060101010101" pitchFamily="49" charset="-122"/>
                <a:cs typeface="Arial" panose="020B0604020202020204" pitchFamily="34" charset="0"/>
              </a:endParaRPr>
            </a:p>
          </p:txBody>
        </p:sp>
        <p:sp>
          <p:nvSpPr>
            <p:cNvPr id="201" name="AutoShape 67">
              <a:extLst>
                <a:ext uri="{FF2B5EF4-FFF2-40B4-BE49-F238E27FC236}">
                  <a16:creationId xmlns:a16="http://schemas.microsoft.com/office/drawing/2014/main" id="{C18DACF5-5EF9-8ED4-E744-6ADF4A22C3D3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6200000">
              <a:off x="7215046" y="5140418"/>
              <a:ext cx="666390" cy="127762"/>
            </a:xfrm>
            <a:custGeom>
              <a:avLst/>
              <a:gdLst>
                <a:gd name="T0" fmla="*/ 9 w 21600"/>
                <a:gd name="T1" fmla="*/ 0 h 21600"/>
                <a:gd name="T2" fmla="*/ 5 w 21600"/>
                <a:gd name="T3" fmla="*/ 1 h 21600"/>
                <a:gd name="T4" fmla="*/ 1 w 21600"/>
                <a:gd name="T5" fmla="*/ 0 h 21600"/>
                <a:gd name="T6" fmla="*/ 5 w 21600"/>
                <a:gd name="T7" fmla="*/ 0 h 21600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4500 w 21600"/>
                <a:gd name="T13" fmla="*/ 4500 h 21600"/>
                <a:gd name="T14" fmla="*/ 17100 w 21600"/>
                <a:gd name="T15" fmla="*/ 17100 h 2160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600" h="21600">
                  <a:moveTo>
                    <a:pt x="0" y="0"/>
                  </a:moveTo>
                  <a:lnTo>
                    <a:pt x="5400" y="21600"/>
                  </a:lnTo>
                  <a:lnTo>
                    <a:pt x="16200" y="21600"/>
                  </a:lnTo>
                  <a:lnTo>
                    <a:pt x="21600" y="0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9050">
              <a:solidFill>
                <a:srgbClr val="F28032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defPPr>
                <a:defRPr lang="zh-CN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5pPr>
              <a:lvl6pPr marL="22860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6pPr>
              <a:lvl7pPr marL="27432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7pPr>
              <a:lvl8pPr marL="32004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8pPr>
              <a:lvl9pPr marL="36576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SimHei" panose="02010609060101010101" pitchFamily="49" charset="-122"/>
                <a:cs typeface="+mn-cs"/>
              </a:endParaRPr>
            </a:p>
          </p:txBody>
        </p:sp>
        <p:cxnSp>
          <p:nvCxnSpPr>
            <p:cNvPr id="202" name="Straight Connector 122">
              <a:extLst>
                <a:ext uri="{FF2B5EF4-FFF2-40B4-BE49-F238E27FC236}">
                  <a16:creationId xmlns:a16="http://schemas.microsoft.com/office/drawing/2014/main" id="{E6C450BD-9579-C16E-0D77-62D9A6B5F4DF}"/>
                </a:ext>
              </a:extLst>
            </p:cNvPr>
            <p:cNvCxnSpPr>
              <a:cxnSpLocks/>
            </p:cNvCxnSpPr>
            <p:nvPr/>
          </p:nvCxnSpPr>
          <p:spPr>
            <a:xfrm>
              <a:off x="6746475" y="5075466"/>
              <a:ext cx="737884" cy="0"/>
            </a:xfrm>
            <a:prstGeom prst="line">
              <a:avLst/>
            </a:prstGeom>
            <a:ln w="19050">
              <a:solidFill>
                <a:srgbClr val="EC7B2F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3" name="Freeform 15">
              <a:extLst>
                <a:ext uri="{FF2B5EF4-FFF2-40B4-BE49-F238E27FC236}">
                  <a16:creationId xmlns:a16="http://schemas.microsoft.com/office/drawing/2014/main" id="{D6EB09ED-8B44-3F19-F24E-C3837A5A1DBC}"/>
                </a:ext>
              </a:extLst>
            </p:cNvPr>
            <p:cNvSpPr/>
            <p:nvPr/>
          </p:nvSpPr>
          <p:spPr>
            <a:xfrm>
              <a:off x="4855042" y="5376756"/>
              <a:ext cx="2628849" cy="644470"/>
            </a:xfrm>
            <a:custGeom>
              <a:avLst/>
              <a:gdLst>
                <a:gd name="connsiteX0" fmla="*/ 2080260 w 2080260"/>
                <a:gd name="connsiteY0" fmla="*/ 0 h 628650"/>
                <a:gd name="connsiteX1" fmla="*/ 2000250 w 2080260"/>
                <a:gd name="connsiteY1" fmla="*/ 0 h 628650"/>
                <a:gd name="connsiteX2" fmla="*/ 2000250 w 2080260"/>
                <a:gd name="connsiteY2" fmla="*/ 628650 h 628650"/>
                <a:gd name="connsiteX3" fmla="*/ 0 w 2080260"/>
                <a:gd name="connsiteY3" fmla="*/ 628650 h 6286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080260" h="628650">
                  <a:moveTo>
                    <a:pt x="2080260" y="0"/>
                  </a:moveTo>
                  <a:lnTo>
                    <a:pt x="2000250" y="0"/>
                  </a:lnTo>
                  <a:lnTo>
                    <a:pt x="2000250" y="628650"/>
                  </a:lnTo>
                  <a:lnTo>
                    <a:pt x="0" y="628650"/>
                  </a:lnTo>
                </a:path>
              </a:pathLst>
            </a:custGeom>
            <a:noFill/>
            <a:ln w="19050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zh-CN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CN"/>
            </a:p>
          </p:txBody>
        </p:sp>
        <p:sp>
          <p:nvSpPr>
            <p:cNvPr id="204" name="Freeform 16">
              <a:extLst>
                <a:ext uri="{FF2B5EF4-FFF2-40B4-BE49-F238E27FC236}">
                  <a16:creationId xmlns:a16="http://schemas.microsoft.com/office/drawing/2014/main" id="{A9A29460-6076-83AB-76F6-1AC3E881236A}"/>
                </a:ext>
              </a:extLst>
            </p:cNvPr>
            <p:cNvSpPr/>
            <p:nvPr/>
          </p:nvSpPr>
          <p:spPr>
            <a:xfrm>
              <a:off x="7395378" y="3843745"/>
              <a:ext cx="167014" cy="1122475"/>
            </a:xfrm>
            <a:custGeom>
              <a:avLst/>
              <a:gdLst>
                <a:gd name="connsiteX0" fmla="*/ 0 w 223024"/>
                <a:gd name="connsiteY0" fmla="*/ 0 h 966439"/>
                <a:gd name="connsiteX1" fmla="*/ 223024 w 223024"/>
                <a:gd name="connsiteY1" fmla="*/ 0 h 966439"/>
                <a:gd name="connsiteX2" fmla="*/ 223024 w 223024"/>
                <a:gd name="connsiteY2" fmla="*/ 966439 h 9664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23024" h="966439">
                  <a:moveTo>
                    <a:pt x="0" y="0"/>
                  </a:moveTo>
                  <a:lnTo>
                    <a:pt x="223024" y="0"/>
                  </a:lnTo>
                  <a:lnTo>
                    <a:pt x="223024" y="966439"/>
                  </a:lnTo>
                </a:path>
              </a:pathLst>
            </a:custGeom>
            <a:noFill/>
            <a:ln w="19050">
              <a:solidFill>
                <a:srgbClr val="EC7B2F"/>
              </a:solidFill>
              <a:tailEnd type="triangle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zh-CN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CN"/>
            </a:p>
          </p:txBody>
        </p:sp>
        <p:sp>
          <p:nvSpPr>
            <p:cNvPr id="212" name="Rectangle 125">
              <a:extLst>
                <a:ext uri="{FF2B5EF4-FFF2-40B4-BE49-F238E27FC236}">
                  <a16:creationId xmlns:a16="http://schemas.microsoft.com/office/drawing/2014/main" id="{1B5D1504-3210-8D7F-F908-20E0D9A88BA7}"/>
                </a:ext>
              </a:extLst>
            </p:cNvPr>
            <p:cNvSpPr/>
            <p:nvPr/>
          </p:nvSpPr>
          <p:spPr>
            <a:xfrm>
              <a:off x="5654739" y="5845306"/>
              <a:ext cx="424272" cy="618126"/>
            </a:xfrm>
            <a:prstGeom prst="rect">
              <a:avLst/>
            </a:prstGeom>
            <a:solidFill>
              <a:schemeClr val="bg1"/>
            </a:solidFill>
            <a:ln>
              <a:solidFill>
                <a:srgbClr val="7030A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zh-CN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N" sz="180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SimHei" panose="02010609060101010101" pitchFamily="49" charset="-122"/>
                <a:cs typeface="+mn-cs"/>
              </a:endParaRPr>
            </a:p>
          </p:txBody>
        </p:sp>
        <p:sp>
          <p:nvSpPr>
            <p:cNvPr id="213" name="Freeform 126">
              <a:extLst>
                <a:ext uri="{FF2B5EF4-FFF2-40B4-BE49-F238E27FC236}">
                  <a16:creationId xmlns:a16="http://schemas.microsoft.com/office/drawing/2014/main" id="{1EFDA007-8AB0-BD76-649D-4A1D69C8A4D0}"/>
                </a:ext>
              </a:extLst>
            </p:cNvPr>
            <p:cNvSpPr/>
            <p:nvPr/>
          </p:nvSpPr>
          <p:spPr>
            <a:xfrm>
              <a:off x="5659745" y="6244707"/>
              <a:ext cx="94268" cy="179109"/>
            </a:xfrm>
            <a:custGeom>
              <a:avLst/>
              <a:gdLst>
                <a:gd name="connsiteX0" fmla="*/ 0 w 94268"/>
                <a:gd name="connsiteY0" fmla="*/ 0 h 179109"/>
                <a:gd name="connsiteX1" fmla="*/ 94268 w 94268"/>
                <a:gd name="connsiteY1" fmla="*/ 94268 h 179109"/>
                <a:gd name="connsiteX2" fmla="*/ 9427 w 94268"/>
                <a:gd name="connsiteY2" fmla="*/ 179109 h 1791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4268" h="179109">
                  <a:moveTo>
                    <a:pt x="0" y="0"/>
                  </a:moveTo>
                  <a:lnTo>
                    <a:pt x="94268" y="94268"/>
                  </a:lnTo>
                  <a:lnTo>
                    <a:pt x="9427" y="179109"/>
                  </a:lnTo>
                </a:path>
              </a:pathLst>
            </a:custGeom>
            <a:ln w="19050">
              <a:solidFill>
                <a:srgbClr val="7030A0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  <p:txBody>
            <a:bodyPr rtlCol="0" anchor="ctr"/>
            <a:lstStyle>
              <a:defPPr>
                <a:defRPr lang="zh-CN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N" sz="180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SimHei" panose="02010609060101010101" pitchFamily="49" charset="-122"/>
                <a:cs typeface="+mn-cs"/>
              </a:endParaRPr>
            </a:p>
          </p:txBody>
        </p:sp>
        <p:sp>
          <p:nvSpPr>
            <p:cNvPr id="214" name="文本框 8">
              <a:extLst>
                <a:ext uri="{FF2B5EF4-FFF2-40B4-BE49-F238E27FC236}">
                  <a16:creationId xmlns:a16="http://schemas.microsoft.com/office/drawing/2014/main" id="{C505A66B-490E-8595-1D5E-3050B490601B}"/>
                </a:ext>
              </a:extLst>
            </p:cNvPr>
            <p:cNvSpPr txBox="1"/>
            <p:nvPr/>
          </p:nvSpPr>
          <p:spPr>
            <a:xfrm>
              <a:off x="5775168" y="5878405"/>
              <a:ext cx="414465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>
              <a:defPPr>
                <a:defRPr lang="zh-CN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5pPr>
              <a:lvl6pPr marL="22860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6pPr>
              <a:lvl7pPr marL="27432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7pPr>
              <a:lvl8pPr marL="32004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8pPr>
              <a:lvl9pPr marL="36576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1400" u="none" strike="noStrike" kern="1200" cap="none" spc="0" normalizeH="0" baseline="0" noProof="0" dirty="0">
                  <a:ln>
                    <a:noFill/>
                  </a:ln>
                  <a:solidFill>
                    <a:srgbClr val="7030A0"/>
                  </a:solidFill>
                  <a:effectLst/>
                  <a:uLnTx/>
                  <a:uFillTx/>
                  <a:latin typeface="Arial" panose="020B0604020202020204" pitchFamily="34" charset="0"/>
                  <a:ea typeface="SimHei" panose="02010609060101010101" pitchFamily="49" charset="-122"/>
                  <a:cs typeface="Arial" panose="020B0604020202020204" pitchFamily="34" charset="0"/>
                </a:rPr>
                <a:t>Q</a:t>
              </a:r>
              <a:endParaRPr kumimoji="0" lang="zh-CN" altLang="en-US" sz="1200" u="none" strike="noStrike" kern="1200" cap="none" spc="0" normalizeH="0" baseline="0" noProof="0" dirty="0">
                <a:ln>
                  <a:noFill/>
                </a:ln>
                <a:solidFill>
                  <a:srgbClr val="7030A0"/>
                </a:solidFill>
                <a:effectLst/>
                <a:uLnTx/>
                <a:uFillTx/>
                <a:latin typeface="Arial" panose="020B0604020202020204" pitchFamily="34" charset="0"/>
                <a:ea typeface="SimHei" panose="02010609060101010101" pitchFamily="49" charset="-122"/>
                <a:cs typeface="Arial" panose="020B0604020202020204" pitchFamily="34" charset="0"/>
              </a:endParaRPr>
            </a:p>
          </p:txBody>
        </p:sp>
        <p:sp>
          <p:nvSpPr>
            <p:cNvPr id="221" name="文本框 8">
              <a:extLst>
                <a:ext uri="{FF2B5EF4-FFF2-40B4-BE49-F238E27FC236}">
                  <a16:creationId xmlns:a16="http://schemas.microsoft.com/office/drawing/2014/main" id="{9E4BA829-4722-64B5-2DE9-5FF8DE6A1E75}"/>
                </a:ext>
              </a:extLst>
            </p:cNvPr>
            <p:cNvSpPr txBox="1"/>
            <p:nvPr/>
          </p:nvSpPr>
          <p:spPr>
            <a:xfrm>
              <a:off x="5544117" y="5879447"/>
              <a:ext cx="414465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>
              <a:defPPr>
                <a:defRPr lang="zh-CN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5pPr>
              <a:lvl6pPr marL="22860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6pPr>
              <a:lvl7pPr marL="27432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7pPr>
              <a:lvl8pPr marL="32004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8pPr>
              <a:lvl9pPr marL="36576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1400" u="none" strike="noStrike" kern="1200" cap="none" spc="0" normalizeH="0" baseline="0" noProof="0" dirty="0">
                  <a:ln>
                    <a:noFill/>
                  </a:ln>
                  <a:solidFill>
                    <a:srgbClr val="7030A0"/>
                  </a:solidFill>
                  <a:effectLst/>
                  <a:uLnTx/>
                  <a:uFillTx/>
                  <a:latin typeface="Arial" panose="020B0604020202020204" pitchFamily="34" charset="0"/>
                  <a:ea typeface="SimHei" panose="02010609060101010101" pitchFamily="49" charset="-122"/>
                  <a:cs typeface="Arial" panose="020B0604020202020204" pitchFamily="34" charset="0"/>
                </a:rPr>
                <a:t>D</a:t>
              </a:r>
              <a:endParaRPr kumimoji="0" lang="zh-CN" altLang="en-US" sz="1200" u="none" strike="noStrike" kern="1200" cap="none" spc="0" normalizeH="0" baseline="0" noProof="0" dirty="0">
                <a:ln>
                  <a:noFill/>
                </a:ln>
                <a:solidFill>
                  <a:srgbClr val="7030A0"/>
                </a:solidFill>
                <a:effectLst/>
                <a:uLnTx/>
                <a:uFillTx/>
                <a:latin typeface="Arial" panose="020B0604020202020204" pitchFamily="34" charset="0"/>
                <a:ea typeface="SimHei" panose="02010609060101010101" pitchFamily="49" charset="-122"/>
                <a:cs typeface="Arial" panose="020B0604020202020204" pitchFamily="34" charset="0"/>
              </a:endParaRPr>
            </a:p>
          </p:txBody>
        </p:sp>
        <p:cxnSp>
          <p:nvCxnSpPr>
            <p:cNvPr id="222" name="Straight Connector 129">
              <a:extLst>
                <a:ext uri="{FF2B5EF4-FFF2-40B4-BE49-F238E27FC236}">
                  <a16:creationId xmlns:a16="http://schemas.microsoft.com/office/drawing/2014/main" id="{BDEA508A-1211-E127-56F3-A49E5B4F1CF8}"/>
                </a:ext>
              </a:extLst>
            </p:cNvPr>
            <p:cNvCxnSpPr>
              <a:cxnSpLocks/>
            </p:cNvCxnSpPr>
            <p:nvPr/>
          </p:nvCxnSpPr>
          <p:spPr>
            <a:xfrm>
              <a:off x="6363707" y="4504990"/>
              <a:ext cx="341979" cy="0"/>
            </a:xfrm>
            <a:prstGeom prst="line">
              <a:avLst/>
            </a:prstGeom>
            <a:ln w="19050">
              <a:solidFill>
                <a:srgbClr val="EC7B2F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23" name="文本框 15">
              <a:extLst>
                <a:ext uri="{FF2B5EF4-FFF2-40B4-BE49-F238E27FC236}">
                  <a16:creationId xmlns:a16="http://schemas.microsoft.com/office/drawing/2014/main" id="{B8E42503-718F-2AE3-E202-E5B35397F111}"/>
                </a:ext>
              </a:extLst>
            </p:cNvPr>
            <p:cNvSpPr txBox="1"/>
            <p:nvPr/>
          </p:nvSpPr>
          <p:spPr>
            <a:xfrm>
              <a:off x="5527510" y="5112711"/>
              <a:ext cx="592916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>
              <a:defPPr>
                <a:defRPr lang="zh-CN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5pPr>
              <a:lvl6pPr marL="22860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6pPr>
              <a:lvl7pPr marL="27432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7pPr>
              <a:lvl8pPr marL="32004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8pPr>
              <a:lvl9pPr marL="36576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9pPr>
            </a:lstStyle>
            <a:p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1200" u="none" strike="noStrike" kern="1200" cap="none" spc="0" normalizeH="0" baseline="0" noProof="0" dirty="0">
                  <a:ln>
                    <a:noFill/>
                  </a:ln>
                  <a:solidFill>
                    <a:srgbClr val="7030A0"/>
                  </a:solidFill>
                  <a:effectLst/>
                  <a:uLnTx/>
                  <a:uFillTx/>
                  <a:latin typeface="Arial" panose="020B0604020202020204" pitchFamily="34" charset="0"/>
                  <a:ea typeface="SimHei" panose="02010609060101010101" pitchFamily="49" charset="-122"/>
                  <a:cs typeface="Arial" panose="020B0604020202020204" pitchFamily="34" charset="0"/>
                </a:rPr>
                <a:t>N-bit</a:t>
              </a:r>
            </a:p>
          </p:txBody>
        </p:sp>
        <p:cxnSp>
          <p:nvCxnSpPr>
            <p:cNvPr id="224" name="直接箭头连接符 223">
              <a:extLst>
                <a:ext uri="{FF2B5EF4-FFF2-40B4-BE49-F238E27FC236}">
                  <a16:creationId xmlns:a16="http://schemas.microsoft.com/office/drawing/2014/main" id="{CA8BA815-FE02-1B3F-054F-71B501201F5A}"/>
                </a:ext>
              </a:extLst>
            </p:cNvPr>
            <p:cNvCxnSpPr>
              <a:cxnSpLocks/>
            </p:cNvCxnSpPr>
            <p:nvPr/>
          </p:nvCxnSpPr>
          <p:spPr>
            <a:xfrm>
              <a:off x="6466279" y="4878255"/>
              <a:ext cx="152434" cy="0"/>
            </a:xfrm>
            <a:prstGeom prst="straightConnector1">
              <a:avLst/>
            </a:prstGeom>
            <a:ln w="19050">
              <a:solidFill>
                <a:srgbClr val="7030A0"/>
              </a:solidFill>
              <a:headEnd type="none" w="med" len="med"/>
              <a:tailEnd type="none" w="med" len="med"/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25" name="直接箭头连接符 224">
              <a:extLst>
                <a:ext uri="{FF2B5EF4-FFF2-40B4-BE49-F238E27FC236}">
                  <a16:creationId xmlns:a16="http://schemas.microsoft.com/office/drawing/2014/main" id="{1D6CC5CE-6F2E-A958-A686-AEDEBBC4CCB8}"/>
                </a:ext>
              </a:extLst>
            </p:cNvPr>
            <p:cNvCxnSpPr>
              <a:cxnSpLocks/>
            </p:cNvCxnSpPr>
            <p:nvPr/>
          </p:nvCxnSpPr>
          <p:spPr>
            <a:xfrm>
              <a:off x="6466279" y="4954832"/>
              <a:ext cx="152434" cy="0"/>
            </a:xfrm>
            <a:prstGeom prst="straightConnector1">
              <a:avLst/>
            </a:prstGeom>
            <a:ln w="19050">
              <a:solidFill>
                <a:srgbClr val="7030A0"/>
              </a:solidFill>
              <a:headEnd type="none" w="med" len="med"/>
              <a:tailEnd type="none" w="med" len="med"/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26" name="直接箭头连接符 225">
              <a:extLst>
                <a:ext uri="{FF2B5EF4-FFF2-40B4-BE49-F238E27FC236}">
                  <a16:creationId xmlns:a16="http://schemas.microsoft.com/office/drawing/2014/main" id="{79AF41E1-D17C-19F4-BDA2-58B72E89CFDB}"/>
                </a:ext>
              </a:extLst>
            </p:cNvPr>
            <p:cNvCxnSpPr>
              <a:cxnSpLocks/>
            </p:cNvCxnSpPr>
            <p:nvPr/>
          </p:nvCxnSpPr>
          <p:spPr>
            <a:xfrm>
              <a:off x="6466279" y="5031409"/>
              <a:ext cx="152434" cy="0"/>
            </a:xfrm>
            <a:prstGeom prst="straightConnector1">
              <a:avLst/>
            </a:prstGeom>
            <a:ln w="19050">
              <a:solidFill>
                <a:srgbClr val="7030A0"/>
              </a:solidFill>
              <a:headEnd type="none" w="med" len="med"/>
              <a:tailEnd type="none" w="med" len="med"/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27" name="直接箭头连接符 226">
              <a:extLst>
                <a:ext uri="{FF2B5EF4-FFF2-40B4-BE49-F238E27FC236}">
                  <a16:creationId xmlns:a16="http://schemas.microsoft.com/office/drawing/2014/main" id="{BD38F448-FC72-1F93-9545-69B535F5F864}"/>
                </a:ext>
              </a:extLst>
            </p:cNvPr>
            <p:cNvCxnSpPr>
              <a:cxnSpLocks/>
            </p:cNvCxnSpPr>
            <p:nvPr/>
          </p:nvCxnSpPr>
          <p:spPr>
            <a:xfrm>
              <a:off x="6466279" y="5261140"/>
              <a:ext cx="152434" cy="0"/>
            </a:xfrm>
            <a:prstGeom prst="straightConnector1">
              <a:avLst/>
            </a:prstGeom>
            <a:ln w="19050">
              <a:solidFill>
                <a:srgbClr val="7030A0"/>
              </a:solidFill>
              <a:headEnd type="none" w="med" len="med"/>
              <a:tailEnd type="none" w="med" len="med"/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28" name="直接箭头连接符 227">
              <a:extLst>
                <a:ext uri="{FF2B5EF4-FFF2-40B4-BE49-F238E27FC236}">
                  <a16:creationId xmlns:a16="http://schemas.microsoft.com/office/drawing/2014/main" id="{E1B53952-7040-26A9-5B09-44F769DE3BA2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542496" y="5090120"/>
              <a:ext cx="0" cy="108000"/>
            </a:xfrm>
            <a:prstGeom prst="straightConnector1">
              <a:avLst/>
            </a:prstGeom>
            <a:ln w="19050">
              <a:solidFill>
                <a:srgbClr val="7030A0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29" name="Straight Connector 159">
              <a:extLst>
                <a:ext uri="{FF2B5EF4-FFF2-40B4-BE49-F238E27FC236}">
                  <a16:creationId xmlns:a16="http://schemas.microsoft.com/office/drawing/2014/main" id="{A0EE480D-3324-57BA-ECB4-24FB03D19707}"/>
                </a:ext>
              </a:extLst>
            </p:cNvPr>
            <p:cNvCxnSpPr>
              <a:cxnSpLocks/>
            </p:cNvCxnSpPr>
            <p:nvPr/>
          </p:nvCxnSpPr>
          <p:spPr>
            <a:xfrm>
              <a:off x="6455263" y="4867239"/>
              <a:ext cx="0" cy="415920"/>
            </a:xfrm>
            <a:prstGeom prst="line">
              <a:avLst/>
            </a:prstGeom>
            <a:ln w="63500">
              <a:solidFill>
                <a:srgbClr val="7030A0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30" name="Straight Connector 162">
              <a:extLst>
                <a:ext uri="{FF2B5EF4-FFF2-40B4-BE49-F238E27FC236}">
                  <a16:creationId xmlns:a16="http://schemas.microsoft.com/office/drawing/2014/main" id="{DEA8F44A-45C0-E811-85DF-4042A2555535}"/>
                </a:ext>
              </a:extLst>
            </p:cNvPr>
            <p:cNvCxnSpPr>
              <a:cxnSpLocks/>
            </p:cNvCxnSpPr>
            <p:nvPr/>
          </p:nvCxnSpPr>
          <p:spPr>
            <a:xfrm>
              <a:off x="7612586" y="5209437"/>
              <a:ext cx="400658" cy="0"/>
            </a:xfrm>
            <a:prstGeom prst="line">
              <a:avLst/>
            </a:prstGeom>
            <a:ln w="19050">
              <a:solidFill>
                <a:srgbClr val="EC7B2F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31" name="文本框 8">
              <a:extLst>
                <a:ext uri="{FF2B5EF4-FFF2-40B4-BE49-F238E27FC236}">
                  <a16:creationId xmlns:a16="http://schemas.microsoft.com/office/drawing/2014/main" id="{46AC5A4D-7626-F506-691D-58DA051FD010}"/>
                </a:ext>
              </a:extLst>
            </p:cNvPr>
            <p:cNvSpPr txBox="1"/>
            <p:nvPr/>
          </p:nvSpPr>
          <p:spPr>
            <a:xfrm>
              <a:off x="7653261" y="5171464"/>
              <a:ext cx="414465" cy="307777"/>
            </a:xfrm>
            <a:prstGeom prst="rect">
              <a:avLst/>
            </a:prstGeom>
            <a:noFill/>
          </p:spPr>
          <p:txBody>
            <a:bodyPr wrap="square" lIns="0" rIns="0" rtlCol="0">
              <a:spAutoFit/>
            </a:bodyPr>
            <a:lstStyle>
              <a:defPPr>
                <a:defRPr lang="zh-CN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5pPr>
              <a:lvl6pPr marL="22860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6pPr>
              <a:lvl7pPr marL="27432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7pPr>
              <a:lvl8pPr marL="32004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8pPr>
              <a:lvl9pPr marL="36576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1400" u="none" strike="noStrike" kern="1200" cap="none" spc="0" normalizeH="0" baseline="0" noProof="0" dirty="0">
                  <a:ln>
                    <a:noFill/>
                  </a:ln>
                  <a:solidFill>
                    <a:srgbClr val="EC7B2F"/>
                  </a:solidFill>
                  <a:effectLst/>
                  <a:uLnTx/>
                  <a:uFillTx/>
                  <a:latin typeface="Arial" panose="020B0604020202020204" pitchFamily="34" charset="0"/>
                  <a:ea typeface="SimHei" panose="02010609060101010101" pitchFamily="49" charset="-122"/>
                  <a:cs typeface="Arial" panose="020B0604020202020204" pitchFamily="34" charset="0"/>
                </a:rPr>
                <a:t>R[</a:t>
              </a:r>
              <a:r>
                <a:rPr kumimoji="0" lang="en-US" altLang="zh-CN" sz="1400" u="none" strike="noStrike" kern="1200" cap="none" spc="0" normalizeH="0" baseline="0" noProof="0" dirty="0" err="1">
                  <a:ln>
                    <a:noFill/>
                  </a:ln>
                  <a:solidFill>
                    <a:srgbClr val="EC7B2F"/>
                  </a:solidFill>
                  <a:effectLst/>
                  <a:uLnTx/>
                  <a:uFillTx/>
                  <a:latin typeface="Arial" panose="020B0604020202020204" pitchFamily="34" charset="0"/>
                  <a:ea typeface="SimHei" panose="02010609060101010101" pitchFamily="49" charset="-122"/>
                  <a:cs typeface="Arial" panose="020B0604020202020204" pitchFamily="34" charset="0"/>
                </a:rPr>
                <a:t>rs</a:t>
              </a:r>
              <a:r>
                <a:rPr kumimoji="0" lang="en-US" altLang="zh-CN" sz="1400" u="none" strike="noStrike" kern="1200" cap="none" spc="0" normalizeH="0" baseline="0" noProof="0" dirty="0">
                  <a:ln>
                    <a:noFill/>
                  </a:ln>
                  <a:solidFill>
                    <a:srgbClr val="EC7B2F"/>
                  </a:solidFill>
                  <a:effectLst/>
                  <a:uLnTx/>
                  <a:uFillTx/>
                  <a:latin typeface="Arial" panose="020B0604020202020204" pitchFamily="34" charset="0"/>
                  <a:ea typeface="SimHei" panose="02010609060101010101" pitchFamily="49" charset="-122"/>
                  <a:cs typeface="Arial" panose="020B0604020202020204" pitchFamily="34" charset="0"/>
                </a:rPr>
                <a:t>]</a:t>
              </a:r>
              <a:endParaRPr kumimoji="0" lang="zh-CN" altLang="en-US" sz="1200" u="none" strike="noStrike" kern="1200" cap="none" spc="0" normalizeH="0" baseline="0" noProof="0" dirty="0">
                <a:ln>
                  <a:noFill/>
                </a:ln>
                <a:solidFill>
                  <a:srgbClr val="EC7B2F"/>
                </a:solidFill>
                <a:effectLst/>
                <a:uLnTx/>
                <a:uFillTx/>
                <a:latin typeface="Arial" panose="020B0604020202020204" pitchFamily="34" charset="0"/>
                <a:ea typeface="SimHei" panose="02010609060101010101" pitchFamily="49" charset="-122"/>
                <a:cs typeface="Arial" panose="020B0604020202020204" pitchFamily="34" charset="0"/>
              </a:endParaRPr>
            </a:p>
          </p:txBody>
        </p:sp>
        <p:sp>
          <p:nvSpPr>
            <p:cNvPr id="232" name="Oval 166">
              <a:extLst>
                <a:ext uri="{FF2B5EF4-FFF2-40B4-BE49-F238E27FC236}">
                  <a16:creationId xmlns:a16="http://schemas.microsoft.com/office/drawing/2014/main" id="{7E53AEF9-0E39-B6C2-7836-373B809495C6}"/>
                </a:ext>
              </a:extLst>
            </p:cNvPr>
            <p:cNvSpPr/>
            <p:nvPr/>
          </p:nvSpPr>
          <p:spPr>
            <a:xfrm>
              <a:off x="6475621" y="3815952"/>
              <a:ext cx="441343" cy="370712"/>
            </a:xfrm>
            <a:prstGeom prst="ellipse">
              <a:avLst/>
            </a:prstGeom>
          </p:spPr>
          <p:style>
            <a:lnRef idx="2">
              <a:schemeClr val="accent6"/>
            </a:lnRef>
            <a:fillRef idx="1">
              <a:schemeClr val="lt1"/>
            </a:fillRef>
            <a:effectRef idx="0">
              <a:schemeClr val="accent6"/>
            </a:effectRef>
            <a:fontRef idx="minor">
              <a:schemeClr val="dk1"/>
            </a:fontRef>
          </p:style>
          <p:txBody>
            <a:bodyPr lIns="0" rIns="0" rtlCol="0" anchor="ctr"/>
            <a:lstStyle>
              <a:defPPr>
                <a:defRPr lang="zh-CN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dk1"/>
                  </a:solidFill>
                  <a:latin typeface="+mn-lt"/>
                  <a:ea typeface="+mn-ea"/>
                  <a:cs typeface="+mn-cs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dk1"/>
                  </a:solidFill>
                  <a:latin typeface="+mn-lt"/>
                  <a:ea typeface="+mn-ea"/>
                  <a:cs typeface="+mn-cs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dk1"/>
                  </a:solidFill>
                  <a:latin typeface="+mn-lt"/>
                  <a:ea typeface="+mn-ea"/>
                  <a:cs typeface="+mn-cs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dk1"/>
                  </a:solidFill>
                  <a:latin typeface="+mn-lt"/>
                  <a:ea typeface="+mn-ea"/>
                  <a:cs typeface="+mn-cs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dk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kern="1200">
                  <a:solidFill>
                    <a:schemeClr val="dk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kern="1200">
                  <a:solidFill>
                    <a:schemeClr val="dk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kern="1200">
                  <a:solidFill>
                    <a:schemeClr val="dk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kern="1200">
                  <a:solidFill>
                    <a:schemeClr val="dk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en-US" sz="1400" dirty="0">
                  <a:solidFill>
                    <a:srgbClr val="2D2D8A"/>
                  </a:solidFill>
                </a:rPr>
                <a:t>=</a:t>
              </a:r>
              <a:r>
                <a:rPr lang="en-CN" sz="1400" dirty="0">
                  <a:solidFill>
                    <a:srgbClr val="2D2D8A"/>
                  </a:solidFill>
                </a:rPr>
                <a:t>=?</a:t>
              </a:r>
            </a:p>
          </p:txBody>
        </p:sp>
        <p:sp>
          <p:nvSpPr>
            <p:cNvPr id="233" name="Rectangle 216">
              <a:extLst>
                <a:ext uri="{FF2B5EF4-FFF2-40B4-BE49-F238E27FC236}">
                  <a16:creationId xmlns:a16="http://schemas.microsoft.com/office/drawing/2014/main" id="{2E72D52C-8A91-1D78-766A-B470C05331BA}"/>
                </a:ext>
              </a:extLst>
            </p:cNvPr>
            <p:cNvSpPr/>
            <p:nvPr/>
          </p:nvSpPr>
          <p:spPr>
            <a:xfrm>
              <a:off x="6180243" y="6034306"/>
              <a:ext cx="1755609" cy="461665"/>
            </a:xfrm>
            <a:prstGeom prst="rect">
              <a:avLst/>
            </a:prstGeom>
          </p:spPr>
          <p:txBody>
            <a:bodyPr wrap="none">
              <a:spAutoFit/>
            </a:bodyPr>
            <a:lstStyle>
              <a:defPPr>
                <a:defRPr lang="zh-CN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5pPr>
              <a:lvl6pPr marL="22860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6pPr>
              <a:lvl7pPr marL="27432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7pPr>
              <a:lvl8pPr marL="32004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8pPr>
              <a:lvl9pPr marL="36576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9pPr>
            </a:lstStyle>
            <a:p>
              <a:r>
                <a:rPr lang="zh-CN" altLang="en-US" sz="2400" b="1" kern="0" dirty="0">
                  <a:solidFill>
                    <a:srgbClr val="0432FF"/>
                  </a:solidFill>
                  <a:latin typeface="+mj-ea"/>
                  <a:ea typeface="+mj-ea"/>
                </a:rPr>
                <a:t>旁路辅助读</a:t>
              </a:r>
              <a:endParaRPr lang="en-CN" dirty="0">
                <a:latin typeface="SimHei" panose="02010609060101010101" pitchFamily="49" charset="-122"/>
                <a:ea typeface="SimHei" panose="02010609060101010101" pitchFamily="49" charset="-122"/>
              </a:endParaRPr>
            </a:p>
          </p:txBody>
        </p:sp>
        <p:sp>
          <p:nvSpPr>
            <p:cNvPr id="234" name="文本框 12">
              <a:extLst>
                <a:ext uri="{FF2B5EF4-FFF2-40B4-BE49-F238E27FC236}">
                  <a16:creationId xmlns:a16="http://schemas.microsoft.com/office/drawing/2014/main" id="{ABE3289F-5CF5-A909-A3CA-9727122C542F}"/>
                </a:ext>
              </a:extLst>
            </p:cNvPr>
            <p:cNvSpPr txBox="1"/>
            <p:nvPr/>
          </p:nvSpPr>
          <p:spPr>
            <a:xfrm>
              <a:off x="5261865" y="3956128"/>
              <a:ext cx="388490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>
              <a:defPPr>
                <a:defRPr lang="zh-CN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5pPr>
              <a:lvl6pPr marL="22860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6pPr>
              <a:lvl7pPr marL="27432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7pPr>
              <a:lvl8pPr marL="32004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8pPr>
              <a:lvl9pPr marL="36576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9pPr>
            </a:lstStyle>
            <a:p>
              <a:pPr marL="0" marR="0" lvl="0" indent="0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altLang="zh-CN" sz="1400" dirty="0">
                  <a:solidFill>
                    <a:srgbClr val="7030A0"/>
                  </a:solidFill>
                  <a:latin typeface="Arial" panose="020B0604020202020204" pitchFamily="34" charset="0"/>
                  <a:ea typeface="SimHei" panose="02010609060101010101" pitchFamily="49" charset="-122"/>
                  <a:cs typeface="Arial" panose="020B0604020202020204" pitchFamily="34" charset="0"/>
                </a:rPr>
                <a:t>r</a:t>
              </a:r>
              <a:r>
                <a:rPr kumimoji="0" lang="en-US" altLang="zh-CN" sz="1400" u="none" strike="noStrike" kern="1200" cap="none" spc="0" normalizeH="0" baseline="0" noProof="0" dirty="0">
                  <a:ln>
                    <a:noFill/>
                  </a:ln>
                  <a:solidFill>
                    <a:srgbClr val="7030A0"/>
                  </a:solidFill>
                  <a:effectLst/>
                  <a:uLnTx/>
                  <a:uFillTx/>
                  <a:latin typeface="Arial" panose="020B0604020202020204" pitchFamily="34" charset="0"/>
                  <a:ea typeface="SimHei" panose="02010609060101010101" pitchFamily="49" charset="-122"/>
                  <a:cs typeface="Arial" panose="020B0604020202020204" pitchFamily="34" charset="0"/>
                </a:rPr>
                <a:t>t</a:t>
              </a:r>
              <a:endParaRPr kumimoji="0" lang="zh-CN" altLang="en-US" sz="1200" u="none" strike="noStrike" kern="1200" cap="none" spc="0" normalizeH="0" baseline="0" noProof="0" dirty="0">
                <a:ln>
                  <a:noFill/>
                </a:ln>
                <a:solidFill>
                  <a:srgbClr val="7030A0"/>
                </a:solidFill>
                <a:effectLst/>
                <a:uLnTx/>
                <a:uFillTx/>
                <a:latin typeface="Arial" panose="020B0604020202020204" pitchFamily="34" charset="0"/>
                <a:ea typeface="SimHei" panose="02010609060101010101" pitchFamily="49" charset="-122"/>
                <a:cs typeface="Arial" panose="020B0604020202020204" pitchFamily="34" charset="0"/>
              </a:endParaRPr>
            </a:p>
          </p:txBody>
        </p:sp>
        <p:sp>
          <p:nvSpPr>
            <p:cNvPr id="235" name="流程图: 延期 234">
              <a:extLst>
                <a:ext uri="{FF2B5EF4-FFF2-40B4-BE49-F238E27FC236}">
                  <a16:creationId xmlns:a16="http://schemas.microsoft.com/office/drawing/2014/main" id="{3F578DE6-900B-9C00-CA13-5C8295F4A11F}"/>
                </a:ext>
              </a:extLst>
            </p:cNvPr>
            <p:cNvSpPr/>
            <p:nvPr/>
          </p:nvSpPr>
          <p:spPr>
            <a:xfrm>
              <a:off x="7027586" y="3614196"/>
              <a:ext cx="358596" cy="461666"/>
            </a:xfrm>
            <a:prstGeom prst="flowChartDelay">
              <a:avLst/>
            </a:prstGeom>
            <a:noFill/>
            <a:ln w="28575" cap="flat" cmpd="sng" algn="ctr">
              <a:solidFill>
                <a:srgbClr val="2D2D8A"/>
              </a:solidFill>
              <a:prstDash val="solid"/>
              <a:miter lim="800000"/>
            </a:ln>
            <a:effectLst/>
          </p:spPr>
          <p:txBody>
            <a:bodyPr rtlCol="0" anchor="ctr"/>
            <a:lstStyle>
              <a:defPPr>
                <a:defRPr lang="zh-CN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5pPr>
              <a:lvl6pPr marL="22860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6pPr>
              <a:lvl7pPr marL="27432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7pPr>
              <a:lvl8pPr marL="32004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8pPr>
              <a:lvl9pPr marL="36576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9pPr>
            </a:lstStyle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等线" panose="020F0502020204030204"/>
                <a:ea typeface="等线" panose="02010600030101010101" pitchFamily="2" charset="-122"/>
                <a:cs typeface="+mn-cs"/>
              </a:endParaRPr>
            </a:p>
          </p:txBody>
        </p:sp>
        <p:sp>
          <p:nvSpPr>
            <p:cNvPr id="236" name="文本框 8">
              <a:extLst>
                <a:ext uri="{FF2B5EF4-FFF2-40B4-BE49-F238E27FC236}">
                  <a16:creationId xmlns:a16="http://schemas.microsoft.com/office/drawing/2014/main" id="{67FE5A39-84FA-3560-06CB-54737FB85BDC}"/>
                </a:ext>
              </a:extLst>
            </p:cNvPr>
            <p:cNvSpPr txBox="1"/>
            <p:nvPr/>
          </p:nvSpPr>
          <p:spPr>
            <a:xfrm>
              <a:off x="6110833" y="3539002"/>
              <a:ext cx="861442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>
              <a:defPPr>
                <a:defRPr lang="zh-CN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5pPr>
              <a:lvl6pPr marL="22860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6pPr>
              <a:lvl7pPr marL="27432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7pPr>
              <a:lvl8pPr marL="32004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8pPr>
              <a:lvl9pPr marL="36576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1400" u="none" strike="noStrike" kern="1200" cap="none" spc="0" normalizeH="0" baseline="0" noProof="0" dirty="0">
                  <a:ln>
                    <a:noFill/>
                  </a:ln>
                  <a:solidFill>
                    <a:srgbClr val="7030A0"/>
                  </a:solidFill>
                  <a:effectLst/>
                  <a:uLnTx/>
                  <a:uFillTx/>
                  <a:latin typeface="Arial" panose="020B0604020202020204" pitchFamily="34" charset="0"/>
                  <a:ea typeface="SimHei" panose="02010609060101010101" pitchFamily="49" charset="-122"/>
                  <a:cs typeface="Arial" panose="020B0604020202020204" pitchFamily="34" charset="0"/>
                </a:rPr>
                <a:t>RW==1</a:t>
              </a:r>
              <a:endParaRPr kumimoji="0" lang="zh-CN" altLang="en-US" sz="1200" u="none" strike="noStrike" kern="1200" cap="none" spc="0" normalizeH="0" baseline="0" noProof="0" dirty="0">
                <a:ln>
                  <a:noFill/>
                </a:ln>
                <a:solidFill>
                  <a:srgbClr val="EC7B2F"/>
                </a:solidFill>
                <a:effectLst/>
                <a:uLnTx/>
                <a:uFillTx/>
                <a:latin typeface="Arial" panose="020B0604020202020204" pitchFamily="34" charset="0"/>
                <a:ea typeface="SimHei" panose="02010609060101010101" pitchFamily="49" charset="-122"/>
                <a:cs typeface="Arial" panose="020B0604020202020204" pitchFamily="34" charset="0"/>
              </a:endParaRPr>
            </a:p>
          </p:txBody>
        </p:sp>
        <p:cxnSp>
          <p:nvCxnSpPr>
            <p:cNvPr id="237" name="Straight Connector 104">
              <a:extLst>
                <a:ext uri="{FF2B5EF4-FFF2-40B4-BE49-F238E27FC236}">
                  <a16:creationId xmlns:a16="http://schemas.microsoft.com/office/drawing/2014/main" id="{2A483A55-1262-3140-83E6-E585E8A72201}"/>
                </a:ext>
              </a:extLst>
            </p:cNvPr>
            <p:cNvCxnSpPr>
              <a:cxnSpLocks/>
            </p:cNvCxnSpPr>
            <p:nvPr/>
          </p:nvCxnSpPr>
          <p:spPr>
            <a:xfrm>
              <a:off x="6842024" y="3703832"/>
              <a:ext cx="184562" cy="0"/>
            </a:xfrm>
            <a:prstGeom prst="line">
              <a:avLst/>
            </a:prstGeom>
            <a:ln w="28575">
              <a:solidFill>
                <a:srgbClr val="2D2D8A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8" name="Straight Connector 104">
              <a:extLst>
                <a:ext uri="{FF2B5EF4-FFF2-40B4-BE49-F238E27FC236}">
                  <a16:creationId xmlns:a16="http://schemas.microsoft.com/office/drawing/2014/main" id="{651C2B75-FC25-7263-E36C-84087771EB44}"/>
                </a:ext>
              </a:extLst>
            </p:cNvPr>
            <p:cNvCxnSpPr>
              <a:cxnSpLocks/>
            </p:cNvCxnSpPr>
            <p:nvPr/>
          </p:nvCxnSpPr>
          <p:spPr>
            <a:xfrm>
              <a:off x="6920362" y="3989581"/>
              <a:ext cx="94233" cy="0"/>
            </a:xfrm>
            <a:prstGeom prst="line">
              <a:avLst/>
            </a:prstGeom>
            <a:ln w="28575">
              <a:solidFill>
                <a:srgbClr val="2D2D8A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2700684511"/>
      </p:ext>
    </p:extLst>
  </p:cSld>
  <p:clrMapOvr>
    <a:masterClrMapping/>
  </p:clrMapOvr>
</p:sld>
</file>

<file path=ppt/slides/slide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内容占位符 2"/>
          <p:cNvSpPr>
            <a:spLocks noGrp="1"/>
          </p:cNvSpPr>
          <p:nvPr>
            <p:ph idx="1"/>
          </p:nvPr>
        </p:nvSpPr>
        <p:spPr>
          <a:xfrm>
            <a:off x="457200" y="1600200"/>
            <a:ext cx="8229600" cy="4732506"/>
          </a:xfrm>
        </p:spPr>
        <p:txBody>
          <a:bodyPr/>
          <a:lstStyle/>
          <a:p>
            <a:r>
              <a:rPr lang="zh-CN" altLang="en-US" sz="3200" dirty="0">
                <a:solidFill>
                  <a:schemeClr val="bg1">
                    <a:lumMod val="65000"/>
                  </a:schemeClr>
                </a:solidFill>
              </a:rPr>
              <a:t>复习与回顾</a:t>
            </a:r>
            <a:endParaRPr lang="en-US" altLang="zh-CN" sz="3200" dirty="0">
              <a:solidFill>
                <a:schemeClr val="bg1">
                  <a:lumMod val="65000"/>
                </a:schemeClr>
              </a:solidFill>
            </a:endParaRPr>
          </a:p>
          <a:p>
            <a:r>
              <a:rPr lang="zh-CN" altLang="en-US" sz="3200" dirty="0">
                <a:solidFill>
                  <a:schemeClr val="bg1">
                    <a:lumMod val="65000"/>
                  </a:schemeClr>
                </a:solidFill>
                <a:cs typeface="+mn-cs"/>
              </a:rPr>
              <a:t>流水线基本概念</a:t>
            </a:r>
            <a:r>
              <a:rPr lang="en-US" altLang="zh-CN" sz="3200" dirty="0">
                <a:solidFill>
                  <a:schemeClr val="bg1">
                    <a:lumMod val="65000"/>
                  </a:schemeClr>
                </a:solidFill>
                <a:cs typeface="+mn-cs"/>
              </a:rPr>
              <a:t> P4</a:t>
            </a:r>
            <a:endParaRPr lang="en-US" altLang="zh-CN" sz="3200" dirty="0">
              <a:solidFill>
                <a:schemeClr val="bg1">
                  <a:lumMod val="65000"/>
                </a:schemeClr>
              </a:solidFill>
            </a:endParaRPr>
          </a:p>
          <a:p>
            <a:r>
              <a:rPr lang="zh-CN" altLang="en-US" sz="3200" dirty="0">
                <a:solidFill>
                  <a:schemeClr val="bg1">
                    <a:lumMod val="65000"/>
                  </a:schemeClr>
                </a:solidFill>
                <a:cs typeface="+mn-cs"/>
              </a:rPr>
              <a:t>流水线数据通路</a:t>
            </a:r>
            <a:r>
              <a:rPr lang="en-US" altLang="zh-CN" sz="3200" dirty="0">
                <a:solidFill>
                  <a:schemeClr val="bg1">
                    <a:lumMod val="65000"/>
                  </a:schemeClr>
                </a:solidFill>
                <a:cs typeface="+mn-cs"/>
              </a:rPr>
              <a:t> P6</a:t>
            </a:r>
            <a:endParaRPr lang="en-US" altLang="zh-CN" sz="3200" dirty="0">
              <a:solidFill>
                <a:schemeClr val="bg1">
                  <a:lumMod val="65000"/>
                </a:schemeClr>
              </a:solidFill>
            </a:endParaRPr>
          </a:p>
          <a:p>
            <a:r>
              <a:rPr lang="zh-CN" altLang="en-US" sz="3200" dirty="0">
                <a:solidFill>
                  <a:schemeClr val="bg1">
                    <a:lumMod val="65000"/>
                  </a:schemeClr>
                </a:solidFill>
                <a:cs typeface="+mn-cs"/>
              </a:rPr>
              <a:t>流水线的冒险</a:t>
            </a:r>
            <a:r>
              <a:rPr lang="en-US" altLang="zh-CN" sz="3200" dirty="0">
                <a:solidFill>
                  <a:schemeClr val="bg1">
                    <a:lumMod val="65000"/>
                  </a:schemeClr>
                </a:solidFill>
                <a:cs typeface="+mn-cs"/>
              </a:rPr>
              <a:t> P10</a:t>
            </a:r>
          </a:p>
          <a:p>
            <a:pPr lvl="1"/>
            <a:r>
              <a:rPr lang="zh-CN" altLang="en-US" sz="2800" dirty="0"/>
              <a:t>数据通路的实现（考虑冒险）</a:t>
            </a:r>
            <a:endParaRPr lang="en-US" altLang="zh-CN" sz="2800" dirty="0"/>
          </a:p>
          <a:p>
            <a:pPr lvl="1"/>
            <a:r>
              <a:rPr lang="zh-CN" altLang="en-US" sz="2800" dirty="0">
                <a:solidFill>
                  <a:schemeClr val="bg1">
                    <a:lumMod val="65000"/>
                  </a:schemeClr>
                </a:solidFill>
              </a:rPr>
              <a:t>结构冒险</a:t>
            </a:r>
            <a:r>
              <a:rPr lang="en-US" altLang="zh-CN" sz="2800" dirty="0">
                <a:solidFill>
                  <a:schemeClr val="bg1">
                    <a:lumMod val="65000"/>
                  </a:schemeClr>
                </a:solidFill>
              </a:rPr>
              <a:t> P56</a:t>
            </a:r>
          </a:p>
          <a:p>
            <a:pPr lvl="1"/>
            <a:r>
              <a:rPr lang="zh-CN" altLang="en-US" sz="2800" dirty="0"/>
              <a:t>数据冒险</a:t>
            </a:r>
            <a:r>
              <a:rPr lang="en-US" altLang="zh-CN" sz="2800" dirty="0"/>
              <a:t> P85</a:t>
            </a:r>
          </a:p>
          <a:p>
            <a:pPr lvl="1"/>
            <a:r>
              <a:rPr lang="zh-CN" altLang="en-US" sz="2800" dirty="0">
                <a:solidFill>
                  <a:schemeClr val="bg1">
                    <a:lumMod val="65000"/>
                  </a:schemeClr>
                </a:solidFill>
              </a:rPr>
              <a:t>控制冒险</a:t>
            </a:r>
            <a:endParaRPr lang="en-US" altLang="zh-CN" sz="2800" dirty="0">
              <a:solidFill>
                <a:schemeClr val="bg1">
                  <a:lumMod val="65000"/>
                </a:schemeClr>
              </a:solidFill>
            </a:endParaRPr>
          </a:p>
          <a:p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4659731-6BD7-46E7-8D3C-2F3AC07E20B1}" type="slidenum">
              <a:rPr lang="en-US" altLang="zh-CN" smtClean="0"/>
              <a:pPr/>
              <a:t>85</a:t>
            </a:fld>
            <a:endParaRPr lang="en-US" altLang="zh-CN"/>
          </a:p>
        </p:txBody>
      </p:sp>
      <p:sp>
        <p:nvSpPr>
          <p:cNvPr id="8" name="标题 7">
            <a:extLst>
              <a:ext uri="{FF2B5EF4-FFF2-40B4-BE49-F238E27FC236}">
                <a16:creationId xmlns:a16="http://schemas.microsoft.com/office/drawing/2014/main" id="{A4AFA0D0-3ABC-9E4B-A473-CF0D454A0F5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dirty="0"/>
              <a:t>本节课目录</a:t>
            </a:r>
          </a:p>
        </p:txBody>
      </p:sp>
    </p:spTree>
    <p:extLst>
      <p:ext uri="{BB962C8B-B14F-4D97-AF65-F5344CB8AC3E}">
        <p14:creationId xmlns:p14="http://schemas.microsoft.com/office/powerpoint/2010/main" val="247193074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"/>
    </mc:Choice>
    <mc:Fallback xmlns="">
      <p:transition/>
    </mc:Fallback>
  </mc:AlternateContent>
</p:sld>
</file>

<file path=ppt/slides/slide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>
            <a:extLst>
              <a:ext uri="{FF2B5EF4-FFF2-40B4-BE49-F238E27FC236}">
                <a16:creationId xmlns:a16="http://schemas.microsoft.com/office/drawing/2014/main" id="{139FBCD3-34CF-41A4-A7B1-35EBF4327D1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dirty="0"/>
              <a:t>流水线数据通路的实现（考虑冒险）</a:t>
            </a:r>
          </a:p>
        </p:txBody>
      </p:sp>
      <p:sp>
        <p:nvSpPr>
          <p:cNvPr id="3" name="内容占位符 2">
            <a:extLst>
              <a:ext uri="{FF2B5EF4-FFF2-40B4-BE49-F238E27FC236}">
                <a16:creationId xmlns:a16="http://schemas.microsoft.com/office/drawing/2014/main" id="{18C494F8-F1C0-4629-8AE2-37D8A7A619AF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457200" y="1166020"/>
            <a:ext cx="8575964" cy="4866645"/>
          </a:xfrm>
        </p:spPr>
        <p:txBody>
          <a:bodyPr/>
          <a:lstStyle/>
          <a:p>
            <a:pPr marL="0" indent="0">
              <a:buNone/>
            </a:pPr>
            <a:r>
              <a:rPr lang="zh-CN" altLang="en-US" dirty="0"/>
              <a:t>关键：数据通路和控制信号的设计</a:t>
            </a:r>
          </a:p>
          <a:p>
            <a:r>
              <a:rPr lang="zh-CN" altLang="en-US" dirty="0"/>
              <a:t>控制信号如何随流水线运行？</a:t>
            </a:r>
          </a:p>
          <a:p>
            <a:pPr lvl="1"/>
            <a:r>
              <a:rPr lang="zh-CN" altLang="en-US" dirty="0"/>
              <a:t>在各个流水级之间增加控制信号的寄存器</a:t>
            </a:r>
          </a:p>
          <a:p>
            <a:pPr lvl="1"/>
            <a:r>
              <a:rPr lang="zh-CN" altLang="en-US" dirty="0"/>
              <a:t>对应级用对应控制信号</a:t>
            </a:r>
          </a:p>
          <a:p>
            <a:pPr lvl="1"/>
            <a:r>
              <a:rPr lang="zh-CN" altLang="en-US" dirty="0"/>
              <a:t>不再使用的控制信号可不再传递</a:t>
            </a:r>
          </a:p>
          <a:p>
            <a:r>
              <a:rPr lang="zh-CN" altLang="en-US" dirty="0"/>
              <a:t>将各个资源和状态</a:t>
            </a:r>
            <a:r>
              <a:rPr lang="en-US" altLang="zh-CN" dirty="0"/>
              <a:t>(</a:t>
            </a:r>
            <a:r>
              <a:rPr lang="zh-CN" altLang="en-US" dirty="0"/>
              <a:t>流水级</a:t>
            </a:r>
            <a:r>
              <a:rPr lang="en-US" altLang="zh-CN" dirty="0"/>
              <a:t>)</a:t>
            </a:r>
            <a:r>
              <a:rPr lang="zh-CN" altLang="en-US" dirty="0"/>
              <a:t>联系起来</a:t>
            </a:r>
          </a:p>
          <a:p>
            <a:pPr lvl="1"/>
            <a:r>
              <a:rPr lang="zh-CN" altLang="en-US" dirty="0"/>
              <a:t>从设计上要避免结构冒险的出现</a:t>
            </a:r>
            <a:r>
              <a:rPr lang="en-US" altLang="zh-CN" dirty="0"/>
              <a:t>: </a:t>
            </a:r>
            <a:r>
              <a:rPr lang="zh-CN" altLang="en-US" dirty="0"/>
              <a:t>保证资源是够用的</a:t>
            </a:r>
          </a:p>
          <a:p>
            <a:r>
              <a:rPr lang="zh-CN" altLang="en-US" dirty="0">
                <a:solidFill>
                  <a:srgbClr val="3333FF"/>
                </a:solidFill>
              </a:rPr>
              <a:t>找到所有的数据冒险和控制冒险问题</a:t>
            </a:r>
          </a:p>
          <a:p>
            <a:pPr lvl="1"/>
            <a:r>
              <a:rPr lang="zh-CN" altLang="en-US" dirty="0">
                <a:solidFill>
                  <a:srgbClr val="3333FF"/>
                </a:solidFill>
              </a:rPr>
              <a:t>如果是寄存器关联引起的 →</a:t>
            </a:r>
            <a:r>
              <a:rPr lang="en-US" altLang="zh-CN" dirty="0">
                <a:solidFill>
                  <a:srgbClr val="3333FF"/>
                </a:solidFill>
              </a:rPr>
              <a:t> data hazard: forward/stall</a:t>
            </a:r>
          </a:p>
          <a:p>
            <a:pPr lvl="1"/>
            <a:r>
              <a:rPr lang="zh-CN" altLang="en-US" dirty="0"/>
              <a:t>如果是和</a:t>
            </a:r>
            <a:r>
              <a:rPr lang="en-US" altLang="zh-CN" dirty="0"/>
              <a:t>PC</a:t>
            </a:r>
            <a:r>
              <a:rPr lang="zh-CN" altLang="en-US" dirty="0"/>
              <a:t>有关的竞争</a:t>
            </a:r>
            <a:r>
              <a:rPr lang="en-US" altLang="zh-CN" dirty="0"/>
              <a:t> </a:t>
            </a:r>
            <a:r>
              <a:rPr lang="zh-CN" altLang="en-US" dirty="0"/>
              <a:t>→</a:t>
            </a:r>
            <a:r>
              <a:rPr lang="en-US" altLang="zh-CN" dirty="0"/>
              <a:t> control hazard</a:t>
            </a:r>
          </a:p>
          <a:p>
            <a:pPr marL="0" indent="0">
              <a:buNone/>
            </a:pPr>
            <a:endParaRPr lang="en-US" altLang="zh-CN" dirty="0"/>
          </a:p>
        </p:txBody>
      </p:sp>
      <p:sp>
        <p:nvSpPr>
          <p:cNvPr id="4" name="灯片编号占位符 3">
            <a:extLst>
              <a:ext uri="{FF2B5EF4-FFF2-40B4-BE49-F238E27FC236}">
                <a16:creationId xmlns:a16="http://schemas.microsoft.com/office/drawing/2014/main" id="{27CA197E-1236-497D-969F-1E334E5F5D8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1806CE5-282B-4233-8654-09F35EA875E2}" type="slidenum">
              <a:rPr lang="zh-CN" altLang="en-US" smtClean="0"/>
              <a:t>86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2543022807"/>
      </p:ext>
    </p:extLst>
  </p:cSld>
  <p:clrMapOvr>
    <a:masterClrMapping/>
  </p:clrMapOvr>
</p:sld>
</file>

<file path=ppt/slides/slide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>
            <a:extLst>
              <a:ext uri="{FF2B5EF4-FFF2-40B4-BE49-F238E27FC236}">
                <a16:creationId xmlns:a16="http://schemas.microsoft.com/office/drawing/2014/main" id="{F109404F-6506-43D7-A872-B5C51E78169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dirty="0"/>
              <a:t>数据转发</a:t>
            </a:r>
            <a:r>
              <a:rPr lang="en-US" altLang="zh-CN" dirty="0"/>
              <a:t>: Datapath</a:t>
            </a:r>
            <a:endParaRPr lang="zh-CN" altLang="en-US" dirty="0"/>
          </a:p>
        </p:txBody>
      </p:sp>
      <p:sp>
        <p:nvSpPr>
          <p:cNvPr id="3" name="内容占位符 2">
            <a:extLst>
              <a:ext uri="{FF2B5EF4-FFF2-40B4-BE49-F238E27FC236}">
                <a16:creationId xmlns:a16="http://schemas.microsoft.com/office/drawing/2014/main" id="{CB08FFC5-58F7-4870-ADFA-73117937556E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r>
              <a:rPr lang="zh-CN" altLang="en-US" sz="2400" dirty="0"/>
              <a:t>数据关联时提前提供数据</a:t>
            </a:r>
          </a:p>
          <a:p>
            <a:pPr lvl="1"/>
            <a:r>
              <a:rPr lang="en-US" altLang="zh-CN" sz="2000" dirty="0"/>
              <a:t>EX</a:t>
            </a:r>
            <a:r>
              <a:rPr lang="zh-CN" altLang="en-US" sz="2000" dirty="0"/>
              <a:t>阶段结束前，</a:t>
            </a:r>
            <a:r>
              <a:rPr lang="en-US" altLang="zh-CN" sz="2000" dirty="0"/>
              <a:t>ALU </a:t>
            </a:r>
            <a:r>
              <a:rPr lang="zh-CN" altLang="en-US" sz="2000" dirty="0"/>
              <a:t>运算结果已经就绪</a:t>
            </a:r>
          </a:p>
          <a:p>
            <a:pPr lvl="1"/>
            <a:r>
              <a:rPr lang="en-US" altLang="zh-CN" sz="2000" dirty="0"/>
              <a:t>MEM</a:t>
            </a:r>
            <a:r>
              <a:rPr lang="zh-CN" altLang="en-US" sz="2000" dirty="0"/>
              <a:t>阶段结束前，</a:t>
            </a:r>
            <a:r>
              <a:rPr lang="en-US" altLang="zh-CN" sz="2000" dirty="0"/>
              <a:t>LW</a:t>
            </a:r>
            <a:r>
              <a:rPr lang="zh-CN" altLang="en-US" sz="2000" dirty="0"/>
              <a:t>指令读取的数据已经就绪</a:t>
            </a:r>
          </a:p>
          <a:p>
            <a:endParaRPr lang="zh-CN" altLang="en-US" sz="2400" dirty="0"/>
          </a:p>
        </p:txBody>
      </p:sp>
      <p:sp>
        <p:nvSpPr>
          <p:cNvPr id="4" name="灯片编号占位符 3">
            <a:extLst>
              <a:ext uri="{FF2B5EF4-FFF2-40B4-BE49-F238E27FC236}">
                <a16:creationId xmlns:a16="http://schemas.microsoft.com/office/drawing/2014/main" id="{321C9724-A0DD-4632-A901-545EFD147CC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1806CE5-282B-4233-8654-09F35EA875E2}" type="slidenum">
              <a:rPr lang="zh-CN" altLang="en-US" smtClean="0"/>
              <a:t>87</a:t>
            </a:fld>
            <a:endParaRPr lang="zh-CN" altLang="en-US"/>
          </a:p>
        </p:txBody>
      </p:sp>
      <p:pic>
        <p:nvPicPr>
          <p:cNvPr id="366" name="图片 365">
            <a:extLst>
              <a:ext uri="{FF2B5EF4-FFF2-40B4-BE49-F238E27FC236}">
                <a16:creationId xmlns:a16="http://schemas.microsoft.com/office/drawing/2014/main" id="{65694B6E-1853-4EF8-8EEA-092CF2A0DB24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378176" y="3016913"/>
            <a:ext cx="4696632" cy="2567780"/>
          </a:xfrm>
          <a:prstGeom prst="rect">
            <a:avLst/>
          </a:prstGeom>
        </p:spPr>
      </p:pic>
      <p:pic>
        <p:nvPicPr>
          <p:cNvPr id="5" name="图片 4">
            <a:extLst>
              <a:ext uri="{FF2B5EF4-FFF2-40B4-BE49-F238E27FC236}">
                <a16:creationId xmlns:a16="http://schemas.microsoft.com/office/drawing/2014/main" id="{4581350E-06C1-4C57-B002-102F3E9D5FDE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83398" y="3016913"/>
            <a:ext cx="4242110" cy="256778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58322286"/>
      </p:ext>
    </p:extLst>
  </p:cSld>
  <p:clrMapOvr>
    <a:masterClrMapping/>
  </p:clrMapOvr>
</p:sld>
</file>

<file path=ppt/slides/slide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>
            <a:extLst>
              <a:ext uri="{FF2B5EF4-FFF2-40B4-BE49-F238E27FC236}">
                <a16:creationId xmlns:a16="http://schemas.microsoft.com/office/drawing/2014/main" id="{F109404F-6506-43D7-A872-B5C51E78169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dirty="0"/>
              <a:t>数据转发</a:t>
            </a:r>
            <a:r>
              <a:rPr lang="en-US" altLang="zh-CN" dirty="0"/>
              <a:t>: Datapath</a:t>
            </a:r>
            <a:endParaRPr lang="zh-CN" altLang="en-US" dirty="0"/>
          </a:p>
        </p:txBody>
      </p:sp>
      <p:sp>
        <p:nvSpPr>
          <p:cNvPr id="3" name="内容占位符 2">
            <a:extLst>
              <a:ext uri="{FF2B5EF4-FFF2-40B4-BE49-F238E27FC236}">
                <a16:creationId xmlns:a16="http://schemas.microsoft.com/office/drawing/2014/main" id="{CB08FFC5-58F7-4870-ADFA-73117937556E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r>
              <a:rPr lang="zh-CN" altLang="en-US" sz="2400" dirty="0"/>
              <a:t>数据关联时提前提供数据</a:t>
            </a:r>
          </a:p>
          <a:p>
            <a:pPr lvl="1"/>
            <a:r>
              <a:rPr lang="en-US" altLang="zh-CN" sz="2000" dirty="0"/>
              <a:t>EX</a:t>
            </a:r>
            <a:r>
              <a:rPr lang="zh-CN" altLang="en-US" sz="2000" dirty="0"/>
              <a:t>阶段结束前，可给出</a:t>
            </a:r>
            <a:r>
              <a:rPr lang="en-US" altLang="zh-CN" sz="2000" dirty="0"/>
              <a:t>ALU </a:t>
            </a:r>
            <a:r>
              <a:rPr lang="zh-CN" altLang="en-US" sz="2000" dirty="0"/>
              <a:t>运行结果或者地址访问时的有效地址</a:t>
            </a:r>
          </a:p>
          <a:p>
            <a:pPr lvl="1"/>
            <a:r>
              <a:rPr lang="en-US" altLang="zh-CN" sz="2000" dirty="0"/>
              <a:t>MEM</a:t>
            </a:r>
            <a:r>
              <a:rPr lang="zh-CN" altLang="en-US" sz="2000" dirty="0"/>
              <a:t>阶段结束前，可提前给出</a:t>
            </a:r>
            <a:r>
              <a:rPr lang="en-US" altLang="zh-CN" sz="2000" dirty="0"/>
              <a:t>LW</a:t>
            </a:r>
            <a:r>
              <a:rPr lang="zh-CN" altLang="en-US" sz="2000" dirty="0"/>
              <a:t>指令的结果数据</a:t>
            </a:r>
            <a:endParaRPr lang="en-US" altLang="zh-CN" sz="2000" dirty="0"/>
          </a:p>
          <a:p>
            <a:pPr marL="342900" lvl="1" indent="0">
              <a:buNone/>
            </a:pPr>
            <a:endParaRPr lang="zh-CN" altLang="en-US" sz="2000" dirty="0"/>
          </a:p>
          <a:p>
            <a:r>
              <a:rPr lang="zh-CN" altLang="en-US" sz="2400" dirty="0"/>
              <a:t>实现：</a:t>
            </a:r>
            <a:r>
              <a:rPr lang="en-US" altLang="zh-CN" sz="2400" dirty="0"/>
              <a:t>ALU</a:t>
            </a:r>
            <a:r>
              <a:rPr lang="zh-CN" altLang="en-US" sz="2400" dirty="0"/>
              <a:t>的输入可以直接从后面一级或者两级电路获得，通过在</a:t>
            </a:r>
            <a:r>
              <a:rPr lang="en-US" altLang="zh-CN" sz="2400" dirty="0"/>
              <a:t>ALU</a:t>
            </a:r>
            <a:r>
              <a:rPr lang="zh-CN" altLang="en-US" sz="2400" dirty="0"/>
              <a:t>输入端加多路选择器方式</a:t>
            </a:r>
          </a:p>
          <a:p>
            <a:pPr lvl="1"/>
            <a:r>
              <a:rPr lang="zh-CN" altLang="en-US" sz="2000" dirty="0"/>
              <a:t>在前向 </a:t>
            </a:r>
            <a:r>
              <a:rPr lang="en-US" altLang="zh-CN" sz="2000" dirty="0"/>
              <a:t>A/B </a:t>
            </a:r>
            <a:r>
              <a:rPr lang="zh-CN" altLang="en-US" sz="2000" dirty="0"/>
              <a:t>的控制下，</a:t>
            </a:r>
            <a:r>
              <a:rPr lang="en-US" altLang="zh-CN" sz="2000" dirty="0"/>
              <a:t>ALU </a:t>
            </a:r>
            <a:r>
              <a:rPr lang="zh-CN" altLang="en-US" sz="2000" dirty="0"/>
              <a:t>输入端有 </a:t>
            </a:r>
            <a:r>
              <a:rPr lang="en-US" altLang="zh-CN" sz="2000" dirty="0"/>
              <a:t>MUX</a:t>
            </a:r>
            <a:r>
              <a:rPr lang="zh-CN" altLang="en-US" sz="2000" dirty="0"/>
              <a:t>，</a:t>
            </a:r>
            <a:r>
              <a:rPr lang="en-US" altLang="zh-CN" sz="2000" dirty="0"/>
              <a:t>ALU </a:t>
            </a:r>
            <a:r>
              <a:rPr lang="zh-CN" altLang="en-US" sz="2000" dirty="0"/>
              <a:t>输出端可作为 </a:t>
            </a:r>
            <a:r>
              <a:rPr lang="en-US" altLang="zh-CN" sz="2000" dirty="0"/>
              <a:t>EX </a:t>
            </a:r>
            <a:r>
              <a:rPr lang="zh-CN" altLang="en-US" sz="2000" dirty="0"/>
              <a:t>阶段后续指令的 </a:t>
            </a:r>
            <a:r>
              <a:rPr lang="en-US" altLang="zh-CN" sz="2000" dirty="0"/>
              <a:t>ALU </a:t>
            </a:r>
            <a:r>
              <a:rPr lang="zh-CN" altLang="en-US" sz="2000" dirty="0"/>
              <a:t>输入端（</a:t>
            </a:r>
            <a:r>
              <a:rPr lang="en-US" altLang="zh-CN" sz="2000" dirty="0"/>
              <a:t>Rs</a:t>
            </a:r>
            <a:r>
              <a:rPr lang="zh-CN" altLang="en-US" sz="2000" dirty="0"/>
              <a:t>、</a:t>
            </a:r>
            <a:r>
              <a:rPr lang="en-US" altLang="zh-CN" sz="2000" dirty="0"/>
              <a:t>Rt</a:t>
            </a:r>
            <a:r>
              <a:rPr lang="zh-CN" altLang="en-US" sz="2000" dirty="0"/>
              <a:t>）进行前向处理</a:t>
            </a:r>
          </a:p>
          <a:p>
            <a:pPr lvl="2"/>
            <a:r>
              <a:rPr lang="en-US" altLang="zh-CN" sz="1600" dirty="0"/>
              <a:t>00: </a:t>
            </a:r>
            <a:r>
              <a:rPr lang="zh-CN" altLang="en-US" sz="1600" dirty="0"/>
              <a:t>正常数据流 </a:t>
            </a:r>
            <a:r>
              <a:rPr lang="en-US" altLang="zh-CN" sz="1600" dirty="0"/>
              <a:t>(ID/EX pipeline registers)</a:t>
            </a:r>
          </a:p>
          <a:p>
            <a:pPr lvl="2"/>
            <a:r>
              <a:rPr lang="en-US" altLang="zh-CN" sz="1600" dirty="0"/>
              <a:t>10: </a:t>
            </a:r>
            <a:r>
              <a:rPr lang="zh-CN" altLang="en-US" sz="1600" dirty="0"/>
              <a:t>从</a:t>
            </a:r>
            <a:r>
              <a:rPr lang="en-US" altLang="zh-CN" sz="1600" dirty="0"/>
              <a:t>(EX/MEM pipeline registers)</a:t>
            </a:r>
            <a:r>
              <a:rPr lang="zh-CN" altLang="en-US" sz="1600" dirty="0"/>
              <a:t>前一条指令</a:t>
            </a:r>
            <a:r>
              <a:rPr lang="en-US" altLang="zh-CN" sz="1600" dirty="0"/>
              <a:t>forward</a:t>
            </a:r>
          </a:p>
          <a:p>
            <a:pPr lvl="2"/>
            <a:r>
              <a:rPr lang="en-US" altLang="zh-CN" sz="1600" dirty="0"/>
              <a:t>01: </a:t>
            </a:r>
            <a:r>
              <a:rPr lang="zh-CN" altLang="en-US" sz="1600" dirty="0"/>
              <a:t>从</a:t>
            </a:r>
            <a:r>
              <a:rPr lang="en-US" altLang="zh-CN" sz="1600" dirty="0"/>
              <a:t>(MEM/WB pipeline registers)</a:t>
            </a:r>
            <a:r>
              <a:rPr lang="zh-CN" altLang="en-US" sz="1600" dirty="0"/>
              <a:t>前两条指令</a:t>
            </a:r>
            <a:r>
              <a:rPr lang="en-US" altLang="zh-CN" sz="1600" dirty="0"/>
              <a:t>forward</a:t>
            </a:r>
          </a:p>
          <a:p>
            <a:endParaRPr lang="en-US" altLang="zh-CN" sz="2400" dirty="0"/>
          </a:p>
          <a:p>
            <a:r>
              <a:rPr lang="zh-CN" altLang="en-US" sz="2400" dirty="0"/>
              <a:t>上面的</a:t>
            </a:r>
            <a:r>
              <a:rPr lang="en-US" altLang="zh-CN" sz="2400" dirty="0"/>
              <a:t>forward</a:t>
            </a:r>
            <a:r>
              <a:rPr lang="zh-CN" altLang="en-US" sz="2400" dirty="0"/>
              <a:t>设计免除大多数数据关联的影响</a:t>
            </a:r>
          </a:p>
          <a:p>
            <a:endParaRPr lang="zh-CN" altLang="en-US" sz="2400" dirty="0"/>
          </a:p>
        </p:txBody>
      </p:sp>
      <p:sp>
        <p:nvSpPr>
          <p:cNvPr id="4" name="灯片编号占位符 3">
            <a:extLst>
              <a:ext uri="{FF2B5EF4-FFF2-40B4-BE49-F238E27FC236}">
                <a16:creationId xmlns:a16="http://schemas.microsoft.com/office/drawing/2014/main" id="{321C9724-A0DD-4632-A901-545EFD147CC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1806CE5-282B-4233-8654-09F35EA875E2}" type="slidenum">
              <a:rPr lang="zh-CN" altLang="en-US" smtClean="0"/>
              <a:t>88</a:t>
            </a:fld>
            <a:endParaRPr lang="zh-CN" altLang="en-US"/>
          </a:p>
        </p:txBody>
      </p:sp>
      <mc:AlternateContent xmlns:mc="http://schemas.openxmlformats.org/markup-compatibility/2006">
        <mc:Choice xmlns:p14="http://schemas.microsoft.com/office/powerpoint/2010/main" Requires="p14">
          <p:contentPart p14:bwMode="auto" r:id="rId3">
            <p14:nvContentPartPr>
              <p14:cNvPr id="5" name="墨迹 4">
                <a:extLst>
                  <a:ext uri="{FF2B5EF4-FFF2-40B4-BE49-F238E27FC236}">
                    <a16:creationId xmlns:a16="http://schemas.microsoft.com/office/drawing/2014/main" id="{ECBF4B20-C4CE-ECD0-DA0F-CC8D0BB28643}"/>
                  </a:ext>
                </a:extLst>
              </p14:cNvPr>
              <p14:cNvContentPartPr/>
              <p14:nvPr/>
            </p14:nvContentPartPr>
            <p14:xfrm>
              <a:off x="1005660" y="4117861"/>
              <a:ext cx="1828800" cy="1713240"/>
            </p14:xfrm>
          </p:contentPart>
        </mc:Choice>
        <mc:Fallback>
          <p:pic>
            <p:nvPicPr>
              <p:cNvPr id="5" name="墨迹 4">
                <a:extLst>
                  <a:ext uri="{FF2B5EF4-FFF2-40B4-BE49-F238E27FC236}">
                    <a16:creationId xmlns:a16="http://schemas.microsoft.com/office/drawing/2014/main" id="{ECBF4B20-C4CE-ECD0-DA0F-CC8D0BB28643}"/>
                  </a:ext>
                </a:extLst>
              </p:cNvPr>
              <p:cNvPicPr/>
              <p:nvPr/>
            </p:nvPicPr>
            <p:blipFill>
              <a:blip r:embed="rId4"/>
              <a:stretch>
                <a:fillRect/>
              </a:stretch>
            </p:blipFill>
            <p:spPr>
              <a:xfrm>
                <a:off x="996300" y="4108501"/>
                <a:ext cx="1847520" cy="173196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1503515659"/>
      </p:ext>
    </p:extLst>
  </p:cSld>
  <p:clrMapOvr>
    <a:masterClrMapping/>
  </p:clrMapOvr>
</p:sld>
</file>

<file path=ppt/slides/slide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灯片编号占位符 3">
            <a:extLst>
              <a:ext uri="{FF2B5EF4-FFF2-40B4-BE49-F238E27FC236}">
                <a16:creationId xmlns:a16="http://schemas.microsoft.com/office/drawing/2014/main" id="{176B08E7-C6AF-43AD-AE8E-9FF3ADDB264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1806CE5-282B-4233-8654-09F35EA875E2}" type="slidenum">
              <a:rPr lang="zh-CN" altLang="en-US" smtClean="0"/>
              <a:t>89</a:t>
            </a:fld>
            <a:endParaRPr lang="zh-CN" altLang="en-US"/>
          </a:p>
        </p:txBody>
      </p:sp>
      <p:sp>
        <p:nvSpPr>
          <p:cNvPr id="658" name="文本框 657">
            <a:extLst>
              <a:ext uri="{FF2B5EF4-FFF2-40B4-BE49-F238E27FC236}">
                <a16:creationId xmlns:a16="http://schemas.microsoft.com/office/drawing/2014/main" id="{28C334D9-3EA7-476A-847D-DA60C4344AA7}"/>
              </a:ext>
            </a:extLst>
          </p:cNvPr>
          <p:cNvSpPr txBox="1"/>
          <p:nvPr/>
        </p:nvSpPr>
        <p:spPr>
          <a:xfrm>
            <a:off x="60960" y="5885129"/>
            <a:ext cx="2469267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zh-CN" dirty="0">
                <a:solidFill>
                  <a:srgbClr val="00B0F0"/>
                </a:solidFill>
                <a:ea typeface="SimHei" panose="02010609060101010101" pitchFamily="49" charset="-122"/>
              </a:rPr>
              <a:t>Forwarding</a:t>
            </a:r>
            <a:r>
              <a:rPr lang="zh-CN" altLang="en-US" dirty="0">
                <a:solidFill>
                  <a:srgbClr val="00B0F0"/>
                </a:solidFill>
                <a:ea typeface="SimHei" panose="02010609060101010101" pitchFamily="49" charset="-122"/>
              </a:rPr>
              <a:t>数据通路</a:t>
            </a:r>
          </a:p>
        </p:txBody>
      </p:sp>
      <p:sp>
        <p:nvSpPr>
          <p:cNvPr id="46" name="标题 45">
            <a:extLst>
              <a:ext uri="{FF2B5EF4-FFF2-40B4-BE49-F238E27FC236}">
                <a16:creationId xmlns:a16="http://schemas.microsoft.com/office/drawing/2014/main" id="{ECE3A6E0-3D2D-CFB3-6A2C-692992AD6ACF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dirty="0"/>
              <a:t>包含转发的流水线通路</a:t>
            </a:r>
          </a:p>
        </p:txBody>
      </p:sp>
      <p:sp>
        <p:nvSpPr>
          <p:cNvPr id="2" name="Line 8">
            <a:extLst>
              <a:ext uri="{FF2B5EF4-FFF2-40B4-BE49-F238E27FC236}">
                <a16:creationId xmlns:a16="http://schemas.microsoft.com/office/drawing/2014/main" id="{0A66F5FC-FB48-8210-50B4-653D54BF9290}"/>
              </a:ext>
            </a:extLst>
          </p:cNvPr>
          <p:cNvSpPr>
            <a:spLocks noChangeShapeType="1"/>
          </p:cNvSpPr>
          <p:nvPr/>
        </p:nvSpPr>
        <p:spPr bwMode="auto">
          <a:xfrm>
            <a:off x="2554865" y="5051122"/>
            <a:ext cx="1628334" cy="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3" name="Line 9">
            <a:extLst>
              <a:ext uri="{FF2B5EF4-FFF2-40B4-BE49-F238E27FC236}">
                <a16:creationId xmlns:a16="http://schemas.microsoft.com/office/drawing/2014/main" id="{D7F421E8-FAEF-C5B0-DC03-D430302940F7}"/>
              </a:ext>
            </a:extLst>
          </p:cNvPr>
          <p:cNvSpPr>
            <a:spLocks noChangeShapeType="1"/>
          </p:cNvSpPr>
          <p:nvPr/>
        </p:nvSpPr>
        <p:spPr bwMode="auto">
          <a:xfrm>
            <a:off x="4324793" y="5051122"/>
            <a:ext cx="1598492" cy="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5" name="Line 10">
            <a:extLst>
              <a:ext uri="{FF2B5EF4-FFF2-40B4-BE49-F238E27FC236}">
                <a16:creationId xmlns:a16="http://schemas.microsoft.com/office/drawing/2014/main" id="{C5738A16-DD0D-4DEF-C93D-9792DC300A20}"/>
              </a:ext>
            </a:extLst>
          </p:cNvPr>
          <p:cNvSpPr>
            <a:spLocks noChangeShapeType="1"/>
          </p:cNvSpPr>
          <p:nvPr/>
        </p:nvSpPr>
        <p:spPr bwMode="auto">
          <a:xfrm>
            <a:off x="6503599" y="5051122"/>
            <a:ext cx="1557537" cy="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6" name="Line 11">
            <a:extLst>
              <a:ext uri="{FF2B5EF4-FFF2-40B4-BE49-F238E27FC236}">
                <a16:creationId xmlns:a16="http://schemas.microsoft.com/office/drawing/2014/main" id="{E7971CA2-F156-6C27-BC6D-9C0DBD0FAD33}"/>
              </a:ext>
            </a:extLst>
          </p:cNvPr>
          <p:cNvSpPr>
            <a:spLocks noChangeShapeType="1"/>
          </p:cNvSpPr>
          <p:nvPr/>
        </p:nvSpPr>
        <p:spPr bwMode="auto">
          <a:xfrm>
            <a:off x="2554865" y="4792309"/>
            <a:ext cx="0" cy="258812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7" name="Line 12">
            <a:extLst>
              <a:ext uri="{FF2B5EF4-FFF2-40B4-BE49-F238E27FC236}">
                <a16:creationId xmlns:a16="http://schemas.microsoft.com/office/drawing/2014/main" id="{29F86756-D3C0-EE93-BAA8-873AEB5544A4}"/>
              </a:ext>
            </a:extLst>
          </p:cNvPr>
          <p:cNvSpPr>
            <a:spLocks noChangeShapeType="1"/>
          </p:cNvSpPr>
          <p:nvPr/>
        </p:nvSpPr>
        <p:spPr bwMode="auto">
          <a:xfrm>
            <a:off x="2484068" y="5709987"/>
            <a:ext cx="5860257" cy="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8" name="Line 13">
            <a:extLst>
              <a:ext uri="{FF2B5EF4-FFF2-40B4-BE49-F238E27FC236}">
                <a16:creationId xmlns:a16="http://schemas.microsoft.com/office/drawing/2014/main" id="{1CFF20CE-E90E-8B44-5923-9284AB0A0E78}"/>
              </a:ext>
            </a:extLst>
          </p:cNvPr>
          <p:cNvSpPr>
            <a:spLocks noChangeShapeType="1"/>
          </p:cNvSpPr>
          <p:nvPr/>
        </p:nvSpPr>
        <p:spPr bwMode="auto">
          <a:xfrm>
            <a:off x="8202731" y="5051122"/>
            <a:ext cx="141594" cy="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9" name="Line 14">
            <a:extLst>
              <a:ext uri="{FF2B5EF4-FFF2-40B4-BE49-F238E27FC236}">
                <a16:creationId xmlns:a16="http://schemas.microsoft.com/office/drawing/2014/main" id="{70C04433-52C1-D409-A00C-CDBA69A12329}"/>
              </a:ext>
            </a:extLst>
          </p:cNvPr>
          <p:cNvSpPr>
            <a:spLocks noChangeShapeType="1"/>
          </p:cNvSpPr>
          <p:nvPr/>
        </p:nvSpPr>
        <p:spPr bwMode="auto">
          <a:xfrm>
            <a:off x="8344324" y="5051122"/>
            <a:ext cx="0" cy="658865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10" name="Line 15">
            <a:extLst>
              <a:ext uri="{FF2B5EF4-FFF2-40B4-BE49-F238E27FC236}">
                <a16:creationId xmlns:a16="http://schemas.microsoft.com/office/drawing/2014/main" id="{DACB60AD-39A6-6065-B1EC-4992D2AFACFC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484068" y="3938359"/>
            <a:ext cx="0" cy="177162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11" name="Line 16">
            <a:extLst>
              <a:ext uri="{FF2B5EF4-FFF2-40B4-BE49-F238E27FC236}">
                <a16:creationId xmlns:a16="http://schemas.microsoft.com/office/drawing/2014/main" id="{BF8B487F-5A0C-0950-366A-7CED9BA1AFB4}"/>
              </a:ext>
            </a:extLst>
          </p:cNvPr>
          <p:cNvSpPr>
            <a:spLocks noChangeShapeType="1"/>
          </p:cNvSpPr>
          <p:nvPr/>
        </p:nvSpPr>
        <p:spPr bwMode="auto">
          <a:xfrm>
            <a:off x="2484068" y="3943450"/>
            <a:ext cx="353986" cy="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grpSp>
        <p:nvGrpSpPr>
          <p:cNvPr id="12" name="Group 17">
            <a:extLst>
              <a:ext uri="{FF2B5EF4-FFF2-40B4-BE49-F238E27FC236}">
                <a16:creationId xmlns:a16="http://schemas.microsoft.com/office/drawing/2014/main" id="{6691046F-BD41-8145-1556-2FF9BE6B58B5}"/>
              </a:ext>
            </a:extLst>
          </p:cNvPr>
          <p:cNvGrpSpPr>
            <a:grpSpLocks/>
          </p:cNvGrpSpPr>
          <p:nvPr/>
        </p:nvGrpSpPr>
        <p:grpSpPr bwMode="auto">
          <a:xfrm>
            <a:off x="1563705" y="2268886"/>
            <a:ext cx="353986" cy="776438"/>
            <a:chOff x="1392" y="2880"/>
            <a:chExt cx="288" cy="480"/>
          </a:xfrm>
        </p:grpSpPr>
        <p:sp>
          <p:nvSpPr>
            <p:cNvPr id="13" name="Line 18">
              <a:extLst>
                <a:ext uri="{FF2B5EF4-FFF2-40B4-BE49-F238E27FC236}">
                  <a16:creationId xmlns:a16="http://schemas.microsoft.com/office/drawing/2014/main" id="{727ED90B-C156-BAA4-BC69-791A653C178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92" y="3072"/>
              <a:ext cx="48" cy="48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14" name="Line 19">
              <a:extLst>
                <a:ext uri="{FF2B5EF4-FFF2-40B4-BE49-F238E27FC236}">
                  <a16:creationId xmlns:a16="http://schemas.microsoft.com/office/drawing/2014/main" id="{0C6FC7FD-E0CA-F18F-B947-3F34742FFA3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392" y="3120"/>
              <a:ext cx="48" cy="48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15" name="Line 20">
              <a:extLst>
                <a:ext uri="{FF2B5EF4-FFF2-40B4-BE49-F238E27FC236}">
                  <a16:creationId xmlns:a16="http://schemas.microsoft.com/office/drawing/2014/main" id="{675274A5-43FE-DE93-DD67-D90F0F429F2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392" y="2880"/>
              <a:ext cx="0" cy="19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16" name="Line 21">
              <a:extLst>
                <a:ext uri="{FF2B5EF4-FFF2-40B4-BE49-F238E27FC236}">
                  <a16:creationId xmlns:a16="http://schemas.microsoft.com/office/drawing/2014/main" id="{CC69FC79-6DB7-3234-39D6-6D561902F7C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392" y="3168"/>
              <a:ext cx="0" cy="19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17" name="Line 22">
              <a:extLst>
                <a:ext uri="{FF2B5EF4-FFF2-40B4-BE49-F238E27FC236}">
                  <a16:creationId xmlns:a16="http://schemas.microsoft.com/office/drawing/2014/main" id="{D530A6C2-57FA-0922-8C16-C998E4FA677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392" y="3216"/>
              <a:ext cx="288" cy="144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18" name="Line 23">
              <a:extLst>
                <a:ext uri="{FF2B5EF4-FFF2-40B4-BE49-F238E27FC236}">
                  <a16:creationId xmlns:a16="http://schemas.microsoft.com/office/drawing/2014/main" id="{DA21057B-FFBD-7AA9-B8A1-6A82EDB230F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680" y="3024"/>
              <a:ext cx="0" cy="19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19" name="Line 24">
              <a:extLst>
                <a:ext uri="{FF2B5EF4-FFF2-40B4-BE49-F238E27FC236}">
                  <a16:creationId xmlns:a16="http://schemas.microsoft.com/office/drawing/2014/main" id="{DC591A72-63A5-021C-D4DA-84473594DBC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92" y="2880"/>
              <a:ext cx="288" cy="144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</p:grpSp>
      <p:sp>
        <p:nvSpPr>
          <p:cNvPr id="20" name="Rectangle 25">
            <a:extLst>
              <a:ext uri="{FF2B5EF4-FFF2-40B4-BE49-F238E27FC236}">
                <a16:creationId xmlns:a16="http://schemas.microsoft.com/office/drawing/2014/main" id="{B4191A4E-62BB-99CD-499B-91E332F9ECD3}"/>
              </a:ext>
            </a:extLst>
          </p:cNvPr>
          <p:cNvSpPr>
            <a:spLocks noChangeArrowheads="1"/>
          </p:cNvSpPr>
          <p:nvPr/>
        </p:nvSpPr>
        <p:spPr bwMode="auto">
          <a:xfrm>
            <a:off x="926530" y="3110028"/>
            <a:ext cx="1203552" cy="1229360"/>
          </a:xfrm>
          <a:prstGeom prst="rect">
            <a:avLst/>
          </a:prstGeom>
          <a:noFill/>
          <a:ln w="19050">
            <a:solidFill>
              <a:schemeClr val="tx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21" name="Rectangle 26">
            <a:extLst>
              <a:ext uri="{FF2B5EF4-FFF2-40B4-BE49-F238E27FC236}">
                <a16:creationId xmlns:a16="http://schemas.microsoft.com/office/drawing/2014/main" id="{E683642B-784F-C4B0-2850-4B162C8CE45A}"/>
              </a:ext>
            </a:extLst>
          </p:cNvPr>
          <p:cNvSpPr>
            <a:spLocks noChangeArrowheads="1"/>
          </p:cNvSpPr>
          <p:nvPr/>
        </p:nvSpPr>
        <p:spPr bwMode="auto">
          <a:xfrm>
            <a:off x="501748" y="3433543"/>
            <a:ext cx="141594" cy="711735"/>
          </a:xfrm>
          <a:prstGeom prst="rect">
            <a:avLst/>
          </a:prstGeom>
          <a:noFill/>
          <a:ln w="19050">
            <a:solidFill>
              <a:schemeClr val="tx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22" name="Line 27">
            <a:extLst>
              <a:ext uri="{FF2B5EF4-FFF2-40B4-BE49-F238E27FC236}">
                <a16:creationId xmlns:a16="http://schemas.microsoft.com/office/drawing/2014/main" id="{F0C15E16-F506-1822-6FF8-43A79885A185}"/>
              </a:ext>
            </a:extLst>
          </p:cNvPr>
          <p:cNvSpPr>
            <a:spLocks noChangeShapeType="1"/>
          </p:cNvSpPr>
          <p:nvPr/>
        </p:nvSpPr>
        <p:spPr bwMode="auto">
          <a:xfrm>
            <a:off x="643342" y="3757059"/>
            <a:ext cx="283189" cy="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23" name="Line 28">
            <a:extLst>
              <a:ext uri="{FF2B5EF4-FFF2-40B4-BE49-F238E27FC236}">
                <a16:creationId xmlns:a16="http://schemas.microsoft.com/office/drawing/2014/main" id="{32D90860-5909-9902-EB31-51F303D191E0}"/>
              </a:ext>
            </a:extLst>
          </p:cNvPr>
          <p:cNvSpPr>
            <a:spLocks noChangeShapeType="1"/>
          </p:cNvSpPr>
          <p:nvPr/>
        </p:nvSpPr>
        <p:spPr bwMode="auto">
          <a:xfrm>
            <a:off x="714139" y="2398293"/>
            <a:ext cx="849565" cy="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24" name="Line 29">
            <a:extLst>
              <a:ext uri="{FF2B5EF4-FFF2-40B4-BE49-F238E27FC236}">
                <a16:creationId xmlns:a16="http://schemas.microsoft.com/office/drawing/2014/main" id="{ED12D4E9-CA3F-FAE1-9198-A904ABBAEA0E}"/>
              </a:ext>
            </a:extLst>
          </p:cNvPr>
          <p:cNvSpPr>
            <a:spLocks noChangeShapeType="1"/>
          </p:cNvSpPr>
          <p:nvPr/>
        </p:nvSpPr>
        <p:spPr bwMode="auto">
          <a:xfrm>
            <a:off x="1209719" y="2915918"/>
            <a:ext cx="353986" cy="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25" name="Text Box 30">
            <a:extLst>
              <a:ext uri="{FF2B5EF4-FFF2-40B4-BE49-F238E27FC236}">
                <a16:creationId xmlns:a16="http://schemas.microsoft.com/office/drawing/2014/main" id="{4A0A60C8-72F4-9B12-5F91-F445783F445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55733" y="3562950"/>
            <a:ext cx="747290" cy="46165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1425" tIns="45713" rIns="91425" bIns="45713">
            <a:spAutoFit/>
          </a:bodyPr>
          <a:lstStyle>
            <a:lvl1pPr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1pPr>
            <a:lvl2pPr marL="742950" indent="-28575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2pPr>
            <a:lvl3pPr marL="11430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3pPr>
            <a:lvl4pPr marL="16002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4pPr>
            <a:lvl5pPr marL="20574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9pPr>
          </a:lstStyle>
          <a:p>
            <a:r>
              <a:rPr lang="en-US" altLang="zh-CN" sz="1200" b="0" dirty="0">
                <a:latin typeface="Arial" pitchFamily="34" charset="0"/>
                <a:ea typeface="SimHei" panose="02010609060101010101" pitchFamily="49" charset="-122"/>
              </a:rPr>
              <a:t>Read</a:t>
            </a:r>
          </a:p>
          <a:p>
            <a:r>
              <a:rPr lang="en-US" altLang="zh-CN" sz="1200" b="0" dirty="0">
                <a:latin typeface="Arial" pitchFamily="34" charset="0"/>
                <a:ea typeface="SimHei" panose="02010609060101010101" pitchFamily="49" charset="-122"/>
              </a:rPr>
              <a:t>Address</a:t>
            </a:r>
          </a:p>
        </p:txBody>
      </p:sp>
      <p:sp>
        <p:nvSpPr>
          <p:cNvPr id="26" name="Text Box 31">
            <a:extLst>
              <a:ext uri="{FF2B5EF4-FFF2-40B4-BE49-F238E27FC236}">
                <a16:creationId xmlns:a16="http://schemas.microsoft.com/office/drawing/2014/main" id="{77C7C088-6727-2FA8-B486-2B49B28A210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108760" y="3121247"/>
            <a:ext cx="1010183" cy="52320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1425" tIns="45713" rIns="91425" bIns="45713">
            <a:spAutoFit/>
          </a:bodyPr>
          <a:lstStyle>
            <a:lvl1pPr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1pPr>
            <a:lvl2pPr marL="742950" indent="-28575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2pPr>
            <a:lvl3pPr marL="11430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3pPr>
            <a:lvl4pPr marL="16002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4pPr>
            <a:lvl5pPr marL="20574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9pPr>
          </a:lstStyle>
          <a:p>
            <a:pPr algn="ctr"/>
            <a:r>
              <a:rPr lang="en-US" altLang="zh-CN" sz="1400" b="0" dirty="0">
                <a:latin typeface="Arial" pitchFamily="34" charset="0"/>
                <a:ea typeface="SimHei" panose="02010609060101010101" pitchFamily="49" charset="-122"/>
              </a:rPr>
              <a:t>Instruction</a:t>
            </a:r>
          </a:p>
          <a:p>
            <a:pPr algn="ctr"/>
            <a:r>
              <a:rPr lang="en-US" altLang="zh-CN" sz="1400" b="0" dirty="0">
                <a:latin typeface="Arial" pitchFamily="34" charset="0"/>
                <a:ea typeface="SimHei" panose="02010609060101010101" pitchFamily="49" charset="-122"/>
              </a:rPr>
              <a:t>Memory</a:t>
            </a:r>
          </a:p>
        </p:txBody>
      </p:sp>
      <p:sp>
        <p:nvSpPr>
          <p:cNvPr id="27" name="Text Box 32">
            <a:extLst>
              <a:ext uri="{FF2B5EF4-FFF2-40B4-BE49-F238E27FC236}">
                <a16:creationId xmlns:a16="http://schemas.microsoft.com/office/drawing/2014/main" id="{0534F10D-819D-893B-6D70-78929C04047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40106" y="2527564"/>
            <a:ext cx="457146" cy="27698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1425" tIns="45713" rIns="91425" bIns="45713">
            <a:spAutoFit/>
          </a:bodyPr>
          <a:lstStyle>
            <a:lvl1pPr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1pPr>
            <a:lvl2pPr marL="742950" indent="-28575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2pPr>
            <a:lvl3pPr marL="11430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3pPr>
            <a:lvl4pPr marL="16002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4pPr>
            <a:lvl5pPr marL="20574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9pPr>
          </a:lstStyle>
          <a:p>
            <a:r>
              <a:rPr lang="en-US" altLang="zh-CN" sz="1200" b="0" dirty="0">
                <a:latin typeface="Arial" pitchFamily="34" charset="0"/>
                <a:ea typeface="SimHei" panose="02010609060101010101" pitchFamily="49" charset="-122"/>
              </a:rPr>
              <a:t>Add</a:t>
            </a:r>
          </a:p>
        </p:txBody>
      </p:sp>
      <p:sp>
        <p:nvSpPr>
          <p:cNvPr id="28" name="Text Box 33">
            <a:extLst>
              <a:ext uri="{FF2B5EF4-FFF2-40B4-BE49-F238E27FC236}">
                <a16:creationId xmlns:a16="http://schemas.microsoft.com/office/drawing/2014/main" id="{68377E33-D986-76A5-0A52-8720F39231F6}"/>
              </a:ext>
            </a:extLst>
          </p:cNvPr>
          <p:cNvSpPr txBox="1">
            <a:spLocks noChangeArrowheads="1"/>
          </p:cNvSpPr>
          <p:nvPr/>
        </p:nvSpPr>
        <p:spPr bwMode="auto">
          <a:xfrm rot="16200000">
            <a:off x="375842" y="3670463"/>
            <a:ext cx="397836" cy="27698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1425" tIns="45713" rIns="91425" bIns="45713">
            <a:spAutoFit/>
          </a:bodyPr>
          <a:lstStyle>
            <a:lvl1pPr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1pPr>
            <a:lvl2pPr marL="742950" indent="-28575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2pPr>
            <a:lvl3pPr marL="11430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3pPr>
            <a:lvl4pPr marL="16002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4pPr>
            <a:lvl5pPr marL="20574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9pPr>
          </a:lstStyle>
          <a:p>
            <a:r>
              <a:rPr lang="en-US" altLang="zh-CN" sz="1200" b="0" dirty="0">
                <a:latin typeface="Arial" pitchFamily="34" charset="0"/>
                <a:ea typeface="SimHei" panose="02010609060101010101" pitchFamily="49" charset="-122"/>
              </a:rPr>
              <a:t>PC</a:t>
            </a:r>
          </a:p>
        </p:txBody>
      </p:sp>
      <p:sp>
        <p:nvSpPr>
          <p:cNvPr id="29" name="Line 34">
            <a:extLst>
              <a:ext uri="{FF2B5EF4-FFF2-40B4-BE49-F238E27FC236}">
                <a16:creationId xmlns:a16="http://schemas.microsoft.com/office/drawing/2014/main" id="{A07AA5F0-7410-9FD0-A3BE-CD39E3CA40A9}"/>
              </a:ext>
            </a:extLst>
          </p:cNvPr>
          <p:cNvSpPr>
            <a:spLocks noChangeShapeType="1"/>
          </p:cNvSpPr>
          <p:nvPr/>
        </p:nvSpPr>
        <p:spPr bwMode="auto">
          <a:xfrm>
            <a:off x="218559" y="3757059"/>
            <a:ext cx="283189" cy="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30" name="Text Box 35">
            <a:extLst>
              <a:ext uri="{FF2B5EF4-FFF2-40B4-BE49-F238E27FC236}">
                <a16:creationId xmlns:a16="http://schemas.microsoft.com/office/drawing/2014/main" id="{9B6C3E8C-E100-0AC3-BB65-E11C1B77C05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97327" y="2786512"/>
            <a:ext cx="269595" cy="27698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1425" tIns="45713" rIns="91425" bIns="45713">
            <a:spAutoFit/>
          </a:bodyPr>
          <a:lstStyle>
            <a:lvl1pPr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1pPr>
            <a:lvl2pPr marL="742950" indent="-28575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2pPr>
            <a:lvl3pPr marL="11430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3pPr>
            <a:lvl4pPr marL="16002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4pPr>
            <a:lvl5pPr marL="20574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9pPr>
          </a:lstStyle>
          <a:p>
            <a:r>
              <a:rPr lang="en-US" altLang="zh-CN" sz="1200" b="0" dirty="0">
                <a:latin typeface="Arial" pitchFamily="34" charset="0"/>
                <a:ea typeface="SimHei" panose="02010609060101010101" pitchFamily="49" charset="-122"/>
              </a:rPr>
              <a:t>4</a:t>
            </a:r>
          </a:p>
        </p:txBody>
      </p:sp>
      <p:sp>
        <p:nvSpPr>
          <p:cNvPr id="31" name="Line 36">
            <a:extLst>
              <a:ext uri="{FF2B5EF4-FFF2-40B4-BE49-F238E27FC236}">
                <a16:creationId xmlns:a16="http://schemas.microsoft.com/office/drawing/2014/main" id="{8C77CB79-4362-4BEB-7810-BFB71618682B}"/>
              </a:ext>
            </a:extLst>
          </p:cNvPr>
          <p:cNvSpPr>
            <a:spLocks noChangeShapeType="1"/>
          </p:cNvSpPr>
          <p:nvPr/>
        </p:nvSpPr>
        <p:spPr bwMode="auto">
          <a:xfrm>
            <a:off x="218559" y="1686557"/>
            <a:ext cx="0" cy="2070501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32" name="AutoShape 37">
            <a:extLst>
              <a:ext uri="{FF2B5EF4-FFF2-40B4-BE49-F238E27FC236}">
                <a16:creationId xmlns:a16="http://schemas.microsoft.com/office/drawing/2014/main" id="{42AA3AE2-08A8-0271-FF53-A2E055239CCB}"/>
              </a:ext>
            </a:extLst>
          </p:cNvPr>
          <p:cNvSpPr>
            <a:spLocks noChangeArrowheads="1"/>
          </p:cNvSpPr>
          <p:nvPr/>
        </p:nvSpPr>
        <p:spPr bwMode="auto">
          <a:xfrm rot="5400000" flipH="1">
            <a:off x="812359" y="1612713"/>
            <a:ext cx="582329" cy="212392"/>
          </a:xfrm>
          <a:custGeom>
            <a:avLst/>
            <a:gdLst>
              <a:gd name="T0" fmla="*/ 8 w 21600"/>
              <a:gd name="T1" fmla="*/ 0 h 21600"/>
              <a:gd name="T2" fmla="*/ 4 w 21600"/>
              <a:gd name="T3" fmla="*/ 1 h 21600"/>
              <a:gd name="T4" fmla="*/ 1 w 21600"/>
              <a:gd name="T5" fmla="*/ 0 h 21600"/>
              <a:gd name="T6" fmla="*/ 4 w 21600"/>
              <a:gd name="T7" fmla="*/ 0 h 21600"/>
              <a:gd name="T8" fmla="*/ 0 60000 65536"/>
              <a:gd name="T9" fmla="*/ 0 60000 65536"/>
              <a:gd name="T10" fmla="*/ 0 60000 65536"/>
              <a:gd name="T11" fmla="*/ 0 60000 65536"/>
              <a:gd name="T12" fmla="*/ 4500 w 21600"/>
              <a:gd name="T13" fmla="*/ 4500 h 21600"/>
              <a:gd name="T14" fmla="*/ 17100 w 21600"/>
              <a:gd name="T15" fmla="*/ 17100 h 21600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21600" h="21600">
                <a:moveTo>
                  <a:pt x="0" y="0"/>
                </a:moveTo>
                <a:lnTo>
                  <a:pt x="5400" y="21600"/>
                </a:lnTo>
                <a:lnTo>
                  <a:pt x="16200" y="21600"/>
                </a:lnTo>
                <a:lnTo>
                  <a:pt x="21600" y="0"/>
                </a:lnTo>
                <a:lnTo>
                  <a:pt x="0" y="0"/>
                </a:lnTo>
                <a:close/>
              </a:path>
            </a:pathLst>
          </a:custGeom>
          <a:noFill/>
          <a:ln w="19050">
            <a:solidFill>
              <a:schemeClr val="tx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33" name="Line 38">
            <a:extLst>
              <a:ext uri="{FF2B5EF4-FFF2-40B4-BE49-F238E27FC236}">
                <a16:creationId xmlns:a16="http://schemas.microsoft.com/office/drawing/2014/main" id="{AD72425C-B160-F976-FBD5-3C05A514FDB7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18558" y="1686557"/>
            <a:ext cx="778768" cy="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34" name="Rectangle 40">
            <a:extLst>
              <a:ext uri="{FF2B5EF4-FFF2-40B4-BE49-F238E27FC236}">
                <a16:creationId xmlns:a16="http://schemas.microsoft.com/office/drawing/2014/main" id="{55F1E9A0-A739-7235-604B-8043049A59D7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1093425" y="1451795"/>
            <a:ext cx="148229" cy="57136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19047" tIns="26984" rIns="19047" bIns="26984"/>
          <a:lstStyle/>
          <a:p>
            <a:pPr eaLnBrk="0" hangingPunct="0">
              <a:spcBef>
                <a:spcPts val="600"/>
              </a:spcBef>
              <a:spcAft>
                <a:spcPts val="600"/>
              </a:spcAft>
            </a:pPr>
            <a:r>
              <a:rPr lang="en-US" altLang="zh-CN" sz="1200" dirty="0">
                <a:latin typeface="Arial" pitchFamily="34" charset="0"/>
                <a:ea typeface="SimHei" panose="02010609060101010101" pitchFamily="49" charset="-122"/>
              </a:rPr>
              <a:t>1</a:t>
            </a:r>
          </a:p>
          <a:p>
            <a:pPr eaLnBrk="0" hangingPunct="0">
              <a:spcBef>
                <a:spcPts val="600"/>
              </a:spcBef>
              <a:spcAft>
                <a:spcPts val="600"/>
              </a:spcAft>
            </a:pPr>
            <a:r>
              <a:rPr lang="en-US" altLang="zh-CN" sz="1200" dirty="0">
                <a:latin typeface="Arial" pitchFamily="34" charset="0"/>
                <a:ea typeface="SimHei" panose="02010609060101010101" pitchFamily="49" charset="-122"/>
              </a:rPr>
              <a:t>0</a:t>
            </a:r>
          </a:p>
        </p:txBody>
      </p:sp>
      <p:sp>
        <p:nvSpPr>
          <p:cNvPr id="35" name="Line 41">
            <a:extLst>
              <a:ext uri="{FF2B5EF4-FFF2-40B4-BE49-F238E27FC236}">
                <a16:creationId xmlns:a16="http://schemas.microsoft.com/office/drawing/2014/main" id="{ADE099E6-4642-B2BC-35C4-A2C3DED05325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209718" y="1557152"/>
            <a:ext cx="5506272" cy="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36" name="Line 42">
            <a:extLst>
              <a:ext uri="{FF2B5EF4-FFF2-40B4-BE49-F238E27FC236}">
                <a16:creationId xmlns:a16="http://schemas.microsoft.com/office/drawing/2014/main" id="{55F4C54A-C737-383C-0833-C731711DC0EA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625662" y="5500902"/>
            <a:ext cx="6143445" cy="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37" name="Rectangle 43">
            <a:extLst>
              <a:ext uri="{FF2B5EF4-FFF2-40B4-BE49-F238E27FC236}">
                <a16:creationId xmlns:a16="http://schemas.microsoft.com/office/drawing/2014/main" id="{E3743BA2-6D9F-2C4B-4EF2-055BA2F926D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38053" y="3110028"/>
            <a:ext cx="1203552" cy="1229360"/>
          </a:xfrm>
          <a:prstGeom prst="rect">
            <a:avLst/>
          </a:prstGeom>
          <a:noFill/>
          <a:ln w="19050">
            <a:solidFill>
              <a:schemeClr val="tx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38" name="Line 44">
            <a:extLst>
              <a:ext uri="{FF2B5EF4-FFF2-40B4-BE49-F238E27FC236}">
                <a16:creationId xmlns:a16="http://schemas.microsoft.com/office/drawing/2014/main" id="{A3244FCE-F0C4-4EA6-B82D-7E80C53E4708}"/>
              </a:ext>
            </a:extLst>
          </p:cNvPr>
          <p:cNvSpPr>
            <a:spLocks noChangeShapeType="1"/>
          </p:cNvSpPr>
          <p:nvPr/>
        </p:nvSpPr>
        <p:spPr bwMode="auto">
          <a:xfrm>
            <a:off x="2130082" y="3757059"/>
            <a:ext cx="141594" cy="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39" name="Line 45">
            <a:extLst>
              <a:ext uri="{FF2B5EF4-FFF2-40B4-BE49-F238E27FC236}">
                <a16:creationId xmlns:a16="http://schemas.microsoft.com/office/drawing/2014/main" id="{4D02CCEE-C5A4-8BB2-8C18-8B4588391189}"/>
              </a:ext>
            </a:extLst>
          </p:cNvPr>
          <p:cNvSpPr>
            <a:spLocks noChangeShapeType="1"/>
          </p:cNvSpPr>
          <p:nvPr/>
        </p:nvSpPr>
        <p:spPr bwMode="auto">
          <a:xfrm>
            <a:off x="2554865" y="3562950"/>
            <a:ext cx="283189" cy="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40" name="Text Box 46">
            <a:extLst>
              <a:ext uri="{FF2B5EF4-FFF2-40B4-BE49-F238E27FC236}">
                <a16:creationId xmlns:a16="http://schemas.microsoft.com/office/drawing/2014/main" id="{B6C9706C-976A-DA6F-EECD-F51E24AA22B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767255" y="4080574"/>
            <a:ext cx="908039" cy="27698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1425" tIns="45713" rIns="91425" bIns="45713">
            <a:spAutoFit/>
          </a:bodyPr>
          <a:lstStyle>
            <a:lvl1pPr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1pPr>
            <a:lvl2pPr marL="742950" indent="-28575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2pPr>
            <a:lvl3pPr marL="11430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3pPr>
            <a:lvl4pPr marL="16002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4pPr>
            <a:lvl5pPr marL="20574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9pPr>
          </a:lstStyle>
          <a:p>
            <a:r>
              <a:rPr lang="en-US" altLang="zh-CN" sz="1200" b="0" dirty="0">
                <a:latin typeface="Arial" pitchFamily="34" charset="0"/>
                <a:ea typeface="SimHei" panose="02010609060101010101" pitchFamily="49" charset="-122"/>
              </a:rPr>
              <a:t>Write Data</a:t>
            </a:r>
          </a:p>
        </p:txBody>
      </p:sp>
      <p:sp>
        <p:nvSpPr>
          <p:cNvPr id="41" name="Text Box 47">
            <a:extLst>
              <a:ext uri="{FF2B5EF4-FFF2-40B4-BE49-F238E27FC236}">
                <a16:creationId xmlns:a16="http://schemas.microsoft.com/office/drawing/2014/main" id="{E18BFBDB-6D90-2106-2C9D-1AAAAB149BD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780531" y="3057456"/>
            <a:ext cx="636682" cy="46165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1425" tIns="45713" rIns="91425" bIns="45713">
            <a:spAutoFit/>
          </a:bodyPr>
          <a:lstStyle>
            <a:lvl1pPr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1pPr>
            <a:lvl2pPr marL="742950" indent="-28575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2pPr>
            <a:lvl3pPr marL="11430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3pPr>
            <a:lvl4pPr marL="16002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4pPr>
            <a:lvl5pPr marL="20574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9pPr>
          </a:lstStyle>
          <a:p>
            <a:r>
              <a:rPr lang="en-US" altLang="zh-CN" sz="1200" b="0" dirty="0">
                <a:latin typeface="Arial" pitchFamily="34" charset="0"/>
                <a:ea typeface="SimHei" panose="02010609060101010101" pitchFamily="49" charset="-122"/>
              </a:rPr>
              <a:t>Read </a:t>
            </a:r>
          </a:p>
          <a:p>
            <a:r>
              <a:rPr lang="en-US" altLang="zh-CN" sz="1200" b="0" dirty="0" err="1">
                <a:latin typeface="Arial" pitchFamily="34" charset="0"/>
                <a:ea typeface="SimHei" panose="02010609060101010101" pitchFamily="49" charset="-122"/>
              </a:rPr>
              <a:t>Addr</a:t>
            </a:r>
            <a:r>
              <a:rPr lang="en-US" altLang="zh-CN" sz="1200" b="0" dirty="0">
                <a:latin typeface="Arial" pitchFamily="34" charset="0"/>
                <a:ea typeface="SimHei" panose="02010609060101010101" pitchFamily="49" charset="-122"/>
              </a:rPr>
              <a:t> 1</a:t>
            </a:r>
          </a:p>
        </p:txBody>
      </p:sp>
      <p:sp>
        <p:nvSpPr>
          <p:cNvPr id="42" name="Text Box 48">
            <a:extLst>
              <a:ext uri="{FF2B5EF4-FFF2-40B4-BE49-F238E27FC236}">
                <a16:creationId xmlns:a16="http://schemas.microsoft.com/office/drawing/2014/main" id="{D5BC1CEE-C0A8-F3A4-3D91-51FE78363B3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776106" y="3398496"/>
            <a:ext cx="636682" cy="46165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1425" tIns="45713" rIns="91425" bIns="45713">
            <a:spAutoFit/>
          </a:bodyPr>
          <a:lstStyle>
            <a:lvl1pPr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1pPr>
            <a:lvl2pPr marL="742950" indent="-28575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2pPr>
            <a:lvl3pPr marL="11430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3pPr>
            <a:lvl4pPr marL="16002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4pPr>
            <a:lvl5pPr marL="20574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9pPr>
          </a:lstStyle>
          <a:p>
            <a:r>
              <a:rPr lang="en-US" altLang="zh-CN" sz="1200" b="0" dirty="0">
                <a:latin typeface="Arial" pitchFamily="34" charset="0"/>
                <a:ea typeface="SimHei" panose="02010609060101010101" pitchFamily="49" charset="-122"/>
              </a:rPr>
              <a:t>Read </a:t>
            </a:r>
          </a:p>
          <a:p>
            <a:r>
              <a:rPr lang="en-US" altLang="zh-CN" sz="1200" b="0" dirty="0" err="1">
                <a:latin typeface="Arial" pitchFamily="34" charset="0"/>
                <a:ea typeface="SimHei" panose="02010609060101010101" pitchFamily="49" charset="-122"/>
              </a:rPr>
              <a:t>Addr</a:t>
            </a:r>
            <a:r>
              <a:rPr lang="en-US" altLang="zh-CN" sz="1200" b="0" dirty="0">
                <a:latin typeface="Arial" pitchFamily="34" charset="0"/>
                <a:ea typeface="SimHei" panose="02010609060101010101" pitchFamily="49" charset="-122"/>
              </a:rPr>
              <a:t> 2</a:t>
            </a:r>
          </a:p>
        </p:txBody>
      </p:sp>
      <p:sp>
        <p:nvSpPr>
          <p:cNvPr id="43" name="Text Box 49">
            <a:extLst>
              <a:ext uri="{FF2B5EF4-FFF2-40B4-BE49-F238E27FC236}">
                <a16:creationId xmlns:a16="http://schemas.microsoft.com/office/drawing/2014/main" id="{1CBD0B6B-AC31-61C0-07DC-1B8C9069908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781966" y="3821761"/>
            <a:ext cx="899575" cy="27698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1425" tIns="45713" rIns="91425" bIns="45713">
            <a:spAutoFit/>
          </a:bodyPr>
          <a:lstStyle>
            <a:lvl1pPr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1pPr>
            <a:lvl2pPr marL="742950" indent="-28575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2pPr>
            <a:lvl3pPr marL="11430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3pPr>
            <a:lvl4pPr marL="16002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4pPr>
            <a:lvl5pPr marL="20574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9pPr>
          </a:lstStyle>
          <a:p>
            <a:r>
              <a:rPr lang="en-US" altLang="zh-CN" sz="1200" b="0" dirty="0">
                <a:latin typeface="Arial" pitchFamily="34" charset="0"/>
                <a:ea typeface="SimHei" panose="02010609060101010101" pitchFamily="49" charset="-122"/>
              </a:rPr>
              <a:t>Write </a:t>
            </a:r>
            <a:r>
              <a:rPr lang="en-US" altLang="zh-CN" sz="1200" b="0" dirty="0" err="1">
                <a:latin typeface="Arial" pitchFamily="34" charset="0"/>
                <a:ea typeface="SimHei" panose="02010609060101010101" pitchFamily="49" charset="-122"/>
              </a:rPr>
              <a:t>Addr</a:t>
            </a:r>
            <a:endParaRPr lang="en-US" altLang="zh-CN" sz="1200" b="0" dirty="0">
              <a:latin typeface="Arial" pitchFamily="34" charset="0"/>
              <a:ea typeface="SimHei" panose="02010609060101010101" pitchFamily="49" charset="-122"/>
            </a:endParaRPr>
          </a:p>
        </p:txBody>
      </p:sp>
      <p:sp>
        <p:nvSpPr>
          <p:cNvPr id="44" name="Text Box 50">
            <a:extLst>
              <a:ext uri="{FF2B5EF4-FFF2-40B4-BE49-F238E27FC236}">
                <a16:creationId xmlns:a16="http://schemas.microsoft.com/office/drawing/2014/main" id="{7E20237E-4227-2B26-B2ED-76E18388A5F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313446" y="3538515"/>
            <a:ext cx="603020" cy="30776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1425" tIns="45713" rIns="91425" bIns="45713">
            <a:spAutoFit/>
          </a:bodyPr>
          <a:lstStyle>
            <a:lvl1pPr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1pPr>
            <a:lvl2pPr marL="742950" indent="-28575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2pPr>
            <a:lvl3pPr marL="11430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3pPr>
            <a:lvl4pPr marL="16002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4pPr>
            <a:lvl5pPr marL="20574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9pPr>
          </a:lstStyle>
          <a:p>
            <a:pPr algn="ctr"/>
            <a:r>
              <a:rPr lang="en-US" altLang="zh-CN" sz="1400" b="0" dirty="0">
                <a:latin typeface="Arial" pitchFamily="34" charset="0"/>
                <a:ea typeface="SimHei" panose="02010609060101010101" pitchFamily="49" charset="-122"/>
              </a:rPr>
              <a:t>Regs</a:t>
            </a:r>
          </a:p>
        </p:txBody>
      </p:sp>
      <p:sp>
        <p:nvSpPr>
          <p:cNvPr id="45" name="Text Box 51">
            <a:extLst>
              <a:ext uri="{FF2B5EF4-FFF2-40B4-BE49-F238E27FC236}">
                <a16:creationId xmlns:a16="http://schemas.microsoft.com/office/drawing/2014/main" id="{1E760683-4BAF-9012-23DF-CBC0C894177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434243" y="3132558"/>
            <a:ext cx="679964" cy="46165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1425" tIns="45713" rIns="91425" bIns="45713">
            <a:spAutoFit/>
          </a:bodyPr>
          <a:lstStyle>
            <a:lvl1pPr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1pPr>
            <a:lvl2pPr marL="742950" indent="-28575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2pPr>
            <a:lvl3pPr marL="11430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3pPr>
            <a:lvl4pPr marL="16002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4pPr>
            <a:lvl5pPr marL="20574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9pPr>
          </a:lstStyle>
          <a:p>
            <a:pPr algn="r"/>
            <a:r>
              <a:rPr lang="en-US" altLang="zh-CN" sz="1200" b="0" dirty="0">
                <a:latin typeface="Arial" pitchFamily="34" charset="0"/>
                <a:ea typeface="SimHei" panose="02010609060101010101" pitchFamily="49" charset="-122"/>
              </a:rPr>
              <a:t>Read</a:t>
            </a:r>
          </a:p>
          <a:p>
            <a:pPr algn="r"/>
            <a:r>
              <a:rPr lang="en-US" altLang="zh-CN" sz="1200" b="0" dirty="0">
                <a:latin typeface="Arial" pitchFamily="34" charset="0"/>
                <a:ea typeface="SimHei" panose="02010609060101010101" pitchFamily="49" charset="-122"/>
              </a:rPr>
              <a:t> Data 1</a:t>
            </a:r>
          </a:p>
        </p:txBody>
      </p:sp>
      <p:sp>
        <p:nvSpPr>
          <p:cNvPr id="47" name="Text Box 52">
            <a:extLst>
              <a:ext uri="{FF2B5EF4-FFF2-40B4-BE49-F238E27FC236}">
                <a16:creationId xmlns:a16="http://schemas.microsoft.com/office/drawing/2014/main" id="{8F4F403F-4ED8-AC28-F891-6D3D20FDA7B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422113" y="3821762"/>
            <a:ext cx="679964" cy="46165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1425" tIns="45713" rIns="91425" bIns="45713">
            <a:spAutoFit/>
          </a:bodyPr>
          <a:lstStyle>
            <a:lvl1pPr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1pPr>
            <a:lvl2pPr marL="742950" indent="-28575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2pPr>
            <a:lvl3pPr marL="11430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3pPr>
            <a:lvl4pPr marL="16002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4pPr>
            <a:lvl5pPr marL="20574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9pPr>
          </a:lstStyle>
          <a:p>
            <a:pPr algn="r"/>
            <a:r>
              <a:rPr lang="en-US" altLang="zh-CN" sz="1200" b="0" dirty="0">
                <a:latin typeface="Arial" pitchFamily="34" charset="0"/>
                <a:ea typeface="SimHei" panose="02010609060101010101" pitchFamily="49" charset="-122"/>
              </a:rPr>
              <a:t>Read</a:t>
            </a:r>
          </a:p>
          <a:p>
            <a:pPr algn="r"/>
            <a:r>
              <a:rPr lang="en-US" altLang="zh-CN" sz="1200" b="0" dirty="0">
                <a:latin typeface="Arial" pitchFamily="34" charset="0"/>
                <a:ea typeface="SimHei" panose="02010609060101010101" pitchFamily="49" charset="-122"/>
              </a:rPr>
              <a:t> Data 2</a:t>
            </a:r>
          </a:p>
        </p:txBody>
      </p:sp>
      <p:sp>
        <p:nvSpPr>
          <p:cNvPr id="48" name="Line 53">
            <a:extLst>
              <a:ext uri="{FF2B5EF4-FFF2-40B4-BE49-F238E27FC236}">
                <a16:creationId xmlns:a16="http://schemas.microsoft.com/office/drawing/2014/main" id="{651EB7DC-8F70-3BA6-E3E2-EE3A3117A11D}"/>
              </a:ext>
            </a:extLst>
          </p:cNvPr>
          <p:cNvSpPr>
            <a:spLocks noChangeShapeType="1"/>
          </p:cNvSpPr>
          <p:nvPr/>
        </p:nvSpPr>
        <p:spPr bwMode="auto">
          <a:xfrm>
            <a:off x="2554865" y="4792309"/>
            <a:ext cx="353986" cy="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49" name="Line 54">
            <a:extLst>
              <a:ext uri="{FF2B5EF4-FFF2-40B4-BE49-F238E27FC236}">
                <a16:creationId xmlns:a16="http://schemas.microsoft.com/office/drawing/2014/main" id="{7C679C2D-603B-832A-CED5-51ECDCA9E483}"/>
              </a:ext>
            </a:extLst>
          </p:cNvPr>
          <p:cNvSpPr>
            <a:spLocks noChangeShapeType="1"/>
          </p:cNvSpPr>
          <p:nvPr/>
        </p:nvSpPr>
        <p:spPr bwMode="auto">
          <a:xfrm>
            <a:off x="2727430" y="4730576"/>
            <a:ext cx="70797" cy="129407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50" name="Line 55">
            <a:extLst>
              <a:ext uri="{FF2B5EF4-FFF2-40B4-BE49-F238E27FC236}">
                <a16:creationId xmlns:a16="http://schemas.microsoft.com/office/drawing/2014/main" id="{95C49D6A-3F07-D120-EB57-EA621369F685}"/>
              </a:ext>
            </a:extLst>
          </p:cNvPr>
          <p:cNvSpPr>
            <a:spLocks noChangeShapeType="1"/>
          </p:cNvSpPr>
          <p:nvPr/>
        </p:nvSpPr>
        <p:spPr bwMode="auto">
          <a:xfrm>
            <a:off x="3857232" y="4715974"/>
            <a:ext cx="70797" cy="129407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51" name="Text Box 56">
            <a:extLst>
              <a:ext uri="{FF2B5EF4-FFF2-40B4-BE49-F238E27FC236}">
                <a16:creationId xmlns:a16="http://schemas.microsoft.com/office/drawing/2014/main" id="{3C3978EB-5378-4EF6-7B8B-82346F62F72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616816" y="4813251"/>
            <a:ext cx="353976" cy="27698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1425" tIns="45713" rIns="91425" bIns="45713">
            <a:spAutoFit/>
          </a:bodyPr>
          <a:lstStyle>
            <a:lvl1pPr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1pPr>
            <a:lvl2pPr marL="742950" indent="-28575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2pPr>
            <a:lvl3pPr marL="11430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3pPr>
            <a:lvl4pPr marL="16002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4pPr>
            <a:lvl5pPr marL="20574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9pPr>
          </a:lstStyle>
          <a:p>
            <a:r>
              <a:rPr lang="en-US" altLang="zh-CN" sz="1200" b="0" dirty="0">
                <a:latin typeface="Arial" pitchFamily="34" charset="0"/>
                <a:ea typeface="SimHei" panose="02010609060101010101" pitchFamily="49" charset="-122"/>
              </a:rPr>
              <a:t>16</a:t>
            </a:r>
          </a:p>
        </p:txBody>
      </p:sp>
      <p:sp>
        <p:nvSpPr>
          <p:cNvPr id="52" name="Text Box 57">
            <a:extLst>
              <a:ext uri="{FF2B5EF4-FFF2-40B4-BE49-F238E27FC236}">
                <a16:creationId xmlns:a16="http://schemas.microsoft.com/office/drawing/2014/main" id="{94DD593D-E71B-1307-5AE8-1BC07481F20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758415" y="4792309"/>
            <a:ext cx="354554" cy="27698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1425" tIns="45713" rIns="91425" bIns="45713">
            <a:spAutoFit/>
          </a:bodyPr>
          <a:lstStyle>
            <a:lvl1pPr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1pPr>
            <a:lvl2pPr marL="742950" indent="-28575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2pPr>
            <a:lvl3pPr marL="11430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3pPr>
            <a:lvl4pPr marL="16002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4pPr>
            <a:lvl5pPr marL="20574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9pPr>
          </a:lstStyle>
          <a:p>
            <a:r>
              <a:rPr lang="en-US" altLang="zh-CN" sz="1200" b="0" dirty="0">
                <a:latin typeface="Arial" pitchFamily="34" charset="0"/>
                <a:ea typeface="SimHei" panose="02010609060101010101" pitchFamily="49" charset="-122"/>
              </a:rPr>
              <a:t>32</a:t>
            </a:r>
          </a:p>
        </p:txBody>
      </p:sp>
      <p:sp>
        <p:nvSpPr>
          <p:cNvPr id="53" name="Line 58">
            <a:extLst>
              <a:ext uri="{FF2B5EF4-FFF2-40B4-BE49-F238E27FC236}">
                <a16:creationId xmlns:a16="http://schemas.microsoft.com/office/drawing/2014/main" id="{A42A7ABB-E70B-295F-A8D7-D17E510597E9}"/>
              </a:ext>
            </a:extLst>
          </p:cNvPr>
          <p:cNvSpPr>
            <a:spLocks noChangeShapeType="1"/>
          </p:cNvSpPr>
          <p:nvPr/>
        </p:nvSpPr>
        <p:spPr bwMode="auto">
          <a:xfrm>
            <a:off x="2625662" y="4209981"/>
            <a:ext cx="212391" cy="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54" name="Line 59">
            <a:extLst>
              <a:ext uri="{FF2B5EF4-FFF2-40B4-BE49-F238E27FC236}">
                <a16:creationId xmlns:a16="http://schemas.microsoft.com/office/drawing/2014/main" id="{87BAD6BA-CEAD-03E4-8A57-F27AE6E77FD1}"/>
              </a:ext>
            </a:extLst>
          </p:cNvPr>
          <p:cNvSpPr>
            <a:spLocks noChangeShapeType="1"/>
          </p:cNvSpPr>
          <p:nvPr/>
        </p:nvSpPr>
        <p:spPr bwMode="auto">
          <a:xfrm>
            <a:off x="4424969" y="4339388"/>
            <a:ext cx="0" cy="452922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55" name="Line 60">
            <a:extLst>
              <a:ext uri="{FF2B5EF4-FFF2-40B4-BE49-F238E27FC236}">
                <a16:creationId xmlns:a16="http://schemas.microsoft.com/office/drawing/2014/main" id="{9A661E44-0DF2-3102-AAA7-88A458E872B7}"/>
              </a:ext>
            </a:extLst>
          </p:cNvPr>
          <p:cNvSpPr>
            <a:spLocks noChangeShapeType="1"/>
          </p:cNvSpPr>
          <p:nvPr/>
        </p:nvSpPr>
        <p:spPr bwMode="auto">
          <a:xfrm>
            <a:off x="4041604" y="4015871"/>
            <a:ext cx="141594" cy="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56" name="Line 61">
            <a:extLst>
              <a:ext uri="{FF2B5EF4-FFF2-40B4-BE49-F238E27FC236}">
                <a16:creationId xmlns:a16="http://schemas.microsoft.com/office/drawing/2014/main" id="{69621268-5E83-F30B-80D1-B2DECB9C0A5F}"/>
              </a:ext>
            </a:extLst>
          </p:cNvPr>
          <p:cNvSpPr>
            <a:spLocks noChangeShapeType="1"/>
          </p:cNvSpPr>
          <p:nvPr/>
        </p:nvSpPr>
        <p:spPr bwMode="auto">
          <a:xfrm>
            <a:off x="2554865" y="3239433"/>
            <a:ext cx="0" cy="1552876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57" name="Line 62">
            <a:extLst>
              <a:ext uri="{FF2B5EF4-FFF2-40B4-BE49-F238E27FC236}">
                <a16:creationId xmlns:a16="http://schemas.microsoft.com/office/drawing/2014/main" id="{E8CEE1DE-9E27-8379-B0AD-1368CDE9F3BF}"/>
              </a:ext>
            </a:extLst>
          </p:cNvPr>
          <p:cNvSpPr>
            <a:spLocks noChangeShapeType="1"/>
          </p:cNvSpPr>
          <p:nvPr/>
        </p:nvSpPr>
        <p:spPr bwMode="auto">
          <a:xfrm>
            <a:off x="2554865" y="3239433"/>
            <a:ext cx="283189" cy="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58" name="Line 63">
            <a:extLst>
              <a:ext uri="{FF2B5EF4-FFF2-40B4-BE49-F238E27FC236}">
                <a16:creationId xmlns:a16="http://schemas.microsoft.com/office/drawing/2014/main" id="{99D18729-A981-8370-FC3D-0FB95A10D8CF}"/>
              </a:ext>
            </a:extLst>
          </p:cNvPr>
          <p:cNvSpPr>
            <a:spLocks noChangeShapeType="1"/>
          </p:cNvSpPr>
          <p:nvPr/>
        </p:nvSpPr>
        <p:spPr bwMode="auto">
          <a:xfrm>
            <a:off x="4324793" y="4015871"/>
            <a:ext cx="615015" cy="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59" name="Line 64">
            <a:extLst>
              <a:ext uri="{FF2B5EF4-FFF2-40B4-BE49-F238E27FC236}">
                <a16:creationId xmlns:a16="http://schemas.microsoft.com/office/drawing/2014/main" id="{F2E0EA9B-457B-EA4C-800F-937EBE6494F8}"/>
              </a:ext>
            </a:extLst>
          </p:cNvPr>
          <p:cNvSpPr>
            <a:spLocks noChangeShapeType="1"/>
          </p:cNvSpPr>
          <p:nvPr/>
        </p:nvSpPr>
        <p:spPr bwMode="auto">
          <a:xfrm>
            <a:off x="6220412" y="3821762"/>
            <a:ext cx="141179" cy="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60" name="Freeform 65">
            <a:extLst>
              <a:ext uri="{FF2B5EF4-FFF2-40B4-BE49-F238E27FC236}">
                <a16:creationId xmlns:a16="http://schemas.microsoft.com/office/drawing/2014/main" id="{770FE124-1CEF-87B2-D4EA-F2726C152E24}"/>
              </a:ext>
            </a:extLst>
          </p:cNvPr>
          <p:cNvSpPr>
            <a:spLocks/>
          </p:cNvSpPr>
          <p:nvPr/>
        </p:nvSpPr>
        <p:spPr bwMode="auto">
          <a:xfrm>
            <a:off x="5724830" y="3239433"/>
            <a:ext cx="495580" cy="1099954"/>
          </a:xfrm>
          <a:custGeom>
            <a:avLst/>
            <a:gdLst>
              <a:gd name="T0" fmla="*/ 0 w 388"/>
              <a:gd name="T1" fmla="*/ 0 h 1099"/>
              <a:gd name="T2" fmla="*/ 0 w 388"/>
              <a:gd name="T3" fmla="*/ 235 h 1099"/>
              <a:gd name="T4" fmla="*/ 83 w 388"/>
              <a:gd name="T5" fmla="*/ 305 h 1099"/>
              <a:gd name="T6" fmla="*/ 0 w 388"/>
              <a:gd name="T7" fmla="*/ 370 h 1099"/>
              <a:gd name="T8" fmla="*/ 0 w 388"/>
              <a:gd name="T9" fmla="*/ 605 h 1099"/>
              <a:gd name="T10" fmla="*/ 290 w 388"/>
              <a:gd name="T11" fmla="*/ 436 h 1099"/>
              <a:gd name="T12" fmla="*/ 290 w 388"/>
              <a:gd name="T13" fmla="*/ 170 h 1099"/>
              <a:gd name="T14" fmla="*/ 0 w 388"/>
              <a:gd name="T15" fmla="*/ 0 h 1099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0" t="0" r="r" b="b"/>
            <a:pathLst>
              <a:path w="388" h="1099">
                <a:moveTo>
                  <a:pt x="0" y="0"/>
                </a:moveTo>
                <a:lnTo>
                  <a:pt x="0" y="427"/>
                </a:lnTo>
                <a:lnTo>
                  <a:pt x="111" y="553"/>
                </a:lnTo>
                <a:lnTo>
                  <a:pt x="0" y="671"/>
                </a:lnTo>
                <a:lnTo>
                  <a:pt x="0" y="1098"/>
                </a:lnTo>
                <a:lnTo>
                  <a:pt x="387" y="790"/>
                </a:lnTo>
                <a:lnTo>
                  <a:pt x="387" y="308"/>
                </a:lnTo>
                <a:lnTo>
                  <a:pt x="0" y="0"/>
                </a:lnTo>
              </a:path>
            </a:pathLst>
          </a:custGeom>
          <a:noFill/>
          <a:ln w="19050" cap="rnd" cmpd="sng">
            <a:solidFill>
              <a:srgbClr val="000000"/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61" name="Rectangle 66">
            <a:extLst>
              <a:ext uri="{FF2B5EF4-FFF2-40B4-BE49-F238E27FC236}">
                <a16:creationId xmlns:a16="http://schemas.microsoft.com/office/drawing/2014/main" id="{7E0E7400-AD88-2795-41E9-1D00DD701E79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14802" y="3684524"/>
            <a:ext cx="441007" cy="18496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19047" tIns="26984" rIns="19047" bIns="26984"/>
          <a:lstStyle/>
          <a:p>
            <a:pPr algn="ctr" defTabSz="903288" eaLnBrk="0" hangingPunct="0">
              <a:lnSpc>
                <a:spcPts val="1600"/>
              </a:lnSpc>
              <a:tabLst>
                <a:tab pos="452438" algn="l"/>
                <a:tab pos="903288" algn="l"/>
                <a:tab pos="1357313" algn="l"/>
              </a:tabLst>
            </a:pPr>
            <a:r>
              <a:rPr lang="en-US" altLang="zh-CN" sz="1400" dirty="0">
                <a:solidFill>
                  <a:srgbClr val="000000"/>
                </a:solidFill>
                <a:latin typeface="Arial" pitchFamily="34" charset="0"/>
                <a:ea typeface="SimHei" panose="02010609060101010101" pitchFamily="49" charset="-122"/>
              </a:rPr>
              <a:t>ALU</a:t>
            </a:r>
          </a:p>
        </p:txBody>
      </p:sp>
      <p:sp>
        <p:nvSpPr>
          <p:cNvPr id="62" name="AutoShape 67">
            <a:extLst>
              <a:ext uri="{FF2B5EF4-FFF2-40B4-BE49-F238E27FC236}">
                <a16:creationId xmlns:a16="http://schemas.microsoft.com/office/drawing/2014/main" id="{4EDD23EB-64A8-C955-92A4-6C17A407446F}"/>
              </a:ext>
            </a:extLst>
          </p:cNvPr>
          <p:cNvSpPr>
            <a:spLocks noChangeArrowheads="1"/>
          </p:cNvSpPr>
          <p:nvPr/>
        </p:nvSpPr>
        <p:spPr bwMode="auto">
          <a:xfrm rot="16200000">
            <a:off x="5177430" y="4077678"/>
            <a:ext cx="647031" cy="212392"/>
          </a:xfrm>
          <a:custGeom>
            <a:avLst/>
            <a:gdLst>
              <a:gd name="T0" fmla="*/ 9 w 21600"/>
              <a:gd name="T1" fmla="*/ 0 h 21600"/>
              <a:gd name="T2" fmla="*/ 5 w 21600"/>
              <a:gd name="T3" fmla="*/ 1 h 21600"/>
              <a:gd name="T4" fmla="*/ 1 w 21600"/>
              <a:gd name="T5" fmla="*/ 0 h 21600"/>
              <a:gd name="T6" fmla="*/ 5 w 21600"/>
              <a:gd name="T7" fmla="*/ 0 h 21600"/>
              <a:gd name="T8" fmla="*/ 0 60000 65536"/>
              <a:gd name="T9" fmla="*/ 0 60000 65536"/>
              <a:gd name="T10" fmla="*/ 0 60000 65536"/>
              <a:gd name="T11" fmla="*/ 0 60000 65536"/>
              <a:gd name="T12" fmla="*/ 4500 w 21600"/>
              <a:gd name="T13" fmla="*/ 4500 h 21600"/>
              <a:gd name="T14" fmla="*/ 17100 w 21600"/>
              <a:gd name="T15" fmla="*/ 17100 h 21600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21600" h="21600">
                <a:moveTo>
                  <a:pt x="0" y="0"/>
                </a:moveTo>
                <a:lnTo>
                  <a:pt x="5400" y="21600"/>
                </a:lnTo>
                <a:lnTo>
                  <a:pt x="16200" y="21600"/>
                </a:lnTo>
                <a:lnTo>
                  <a:pt x="21600" y="0"/>
                </a:lnTo>
                <a:lnTo>
                  <a:pt x="0" y="0"/>
                </a:lnTo>
                <a:close/>
              </a:path>
            </a:pathLst>
          </a:custGeom>
          <a:noFill/>
          <a:ln w="19050">
            <a:solidFill>
              <a:schemeClr val="tx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63" name="Line 68">
            <a:extLst>
              <a:ext uri="{FF2B5EF4-FFF2-40B4-BE49-F238E27FC236}">
                <a16:creationId xmlns:a16="http://schemas.microsoft.com/office/drawing/2014/main" id="{76E88D0D-3C59-5457-57A2-86391CB8F457}"/>
              </a:ext>
            </a:extLst>
          </p:cNvPr>
          <p:cNvSpPr>
            <a:spLocks noChangeShapeType="1"/>
          </p:cNvSpPr>
          <p:nvPr/>
        </p:nvSpPr>
        <p:spPr bwMode="auto">
          <a:xfrm>
            <a:off x="5611830" y="4145278"/>
            <a:ext cx="121886" cy="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640" name="Rectangle 70">
            <a:extLst>
              <a:ext uri="{FF2B5EF4-FFF2-40B4-BE49-F238E27FC236}">
                <a16:creationId xmlns:a16="http://schemas.microsoft.com/office/drawing/2014/main" id="{0F717F13-37C6-5A3E-1CE1-9CE6DB215B74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19826" y="3908088"/>
            <a:ext cx="112094" cy="6355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19047" tIns="26984" rIns="19047" bIns="26984"/>
          <a:lstStyle/>
          <a:p>
            <a:pPr eaLnBrk="0" hangingPunct="0">
              <a:spcBef>
                <a:spcPts val="600"/>
              </a:spcBef>
              <a:spcAft>
                <a:spcPts val="600"/>
              </a:spcAft>
            </a:pPr>
            <a:r>
              <a:rPr lang="en-US" altLang="zh-CN" sz="1200" dirty="0">
                <a:latin typeface="Arial" pitchFamily="34" charset="0"/>
                <a:ea typeface="SimHei" panose="02010609060101010101" pitchFamily="49" charset="-122"/>
              </a:rPr>
              <a:t>1</a:t>
            </a:r>
          </a:p>
          <a:p>
            <a:pPr eaLnBrk="0" hangingPunct="0">
              <a:spcBef>
                <a:spcPts val="600"/>
              </a:spcBef>
              <a:spcAft>
                <a:spcPts val="600"/>
              </a:spcAft>
            </a:pPr>
            <a:r>
              <a:rPr lang="en-US" altLang="zh-CN" sz="1200" dirty="0">
                <a:latin typeface="Arial" pitchFamily="34" charset="0"/>
                <a:ea typeface="SimHei" panose="02010609060101010101" pitchFamily="49" charset="-122"/>
              </a:rPr>
              <a:t>0</a:t>
            </a:r>
          </a:p>
        </p:txBody>
      </p:sp>
      <p:sp>
        <p:nvSpPr>
          <p:cNvPr id="641" name="Line 71">
            <a:extLst>
              <a:ext uri="{FF2B5EF4-FFF2-40B4-BE49-F238E27FC236}">
                <a16:creationId xmlns:a16="http://schemas.microsoft.com/office/drawing/2014/main" id="{092B1AB9-C095-2B58-D306-995827EB9FB0}"/>
              </a:ext>
            </a:extLst>
          </p:cNvPr>
          <p:cNvSpPr>
            <a:spLocks noChangeShapeType="1"/>
          </p:cNvSpPr>
          <p:nvPr/>
        </p:nvSpPr>
        <p:spPr bwMode="auto">
          <a:xfrm>
            <a:off x="5278995" y="4409473"/>
            <a:ext cx="115753" cy="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642" name="Line 72">
            <a:extLst>
              <a:ext uri="{FF2B5EF4-FFF2-40B4-BE49-F238E27FC236}">
                <a16:creationId xmlns:a16="http://schemas.microsoft.com/office/drawing/2014/main" id="{10641539-80BD-8651-AD70-54709C7D4538}"/>
              </a:ext>
            </a:extLst>
          </p:cNvPr>
          <p:cNvSpPr>
            <a:spLocks noChangeShapeType="1"/>
          </p:cNvSpPr>
          <p:nvPr/>
        </p:nvSpPr>
        <p:spPr bwMode="auto">
          <a:xfrm>
            <a:off x="4324793" y="3309289"/>
            <a:ext cx="615012" cy="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643" name="Oval 73">
            <a:extLst>
              <a:ext uri="{FF2B5EF4-FFF2-40B4-BE49-F238E27FC236}">
                <a16:creationId xmlns:a16="http://schemas.microsoft.com/office/drawing/2014/main" id="{4315D8F3-7A54-0FA3-613C-D279A0A92C7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13797" y="2732034"/>
            <a:ext cx="375559" cy="400437"/>
          </a:xfrm>
          <a:prstGeom prst="ellips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644" name="Rectangle 74">
            <a:extLst>
              <a:ext uri="{FF2B5EF4-FFF2-40B4-BE49-F238E27FC236}">
                <a16:creationId xmlns:a16="http://schemas.microsoft.com/office/drawing/2014/main" id="{1875918D-47B5-A927-BDB4-040C5044D66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85575" y="2818386"/>
            <a:ext cx="411790" cy="223213"/>
          </a:xfrm>
          <a:prstGeom prst="rect">
            <a:avLst/>
          </a:prstGeom>
          <a:noFill/>
          <a:ln w="12700">
            <a:noFill/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19047" tIns="26984" rIns="19047" bIns="26984"/>
          <a:lstStyle/>
          <a:p>
            <a:pPr algn="ctr" defTabSz="903288" eaLnBrk="0" hangingPunct="0">
              <a:lnSpc>
                <a:spcPts val="1600"/>
              </a:lnSpc>
              <a:tabLst>
                <a:tab pos="452438" algn="l"/>
                <a:tab pos="903288" algn="l"/>
                <a:tab pos="1357313" algn="l"/>
              </a:tabLst>
            </a:pPr>
            <a:r>
              <a:rPr lang="en-US" altLang="zh-CN" sz="1400" dirty="0">
                <a:solidFill>
                  <a:srgbClr val="000000"/>
                </a:solidFill>
                <a:latin typeface="Arial" pitchFamily="34" charset="0"/>
                <a:ea typeface="SimHei" panose="02010609060101010101" pitchFamily="49" charset="-122"/>
              </a:rPr>
              <a:t>&lt;&lt;2</a:t>
            </a:r>
          </a:p>
        </p:txBody>
      </p:sp>
      <p:sp>
        <p:nvSpPr>
          <p:cNvPr id="645" name="Line 75">
            <a:extLst>
              <a:ext uri="{FF2B5EF4-FFF2-40B4-BE49-F238E27FC236}">
                <a16:creationId xmlns:a16="http://schemas.microsoft.com/office/drawing/2014/main" id="{BB63AB5D-48A8-BB09-5190-A740F0CA7B4C}"/>
              </a:ext>
            </a:extLst>
          </p:cNvPr>
          <p:cNvSpPr>
            <a:spLocks noChangeShapeType="1"/>
          </p:cNvSpPr>
          <p:nvPr/>
        </p:nvSpPr>
        <p:spPr bwMode="auto">
          <a:xfrm>
            <a:off x="4424969" y="2969666"/>
            <a:ext cx="287192" cy="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grpSp>
        <p:nvGrpSpPr>
          <p:cNvPr id="646" name="Group 76">
            <a:extLst>
              <a:ext uri="{FF2B5EF4-FFF2-40B4-BE49-F238E27FC236}">
                <a16:creationId xmlns:a16="http://schemas.microsoft.com/office/drawing/2014/main" id="{F0349595-48A3-DC92-EA9D-927A3335EC67}"/>
              </a:ext>
            </a:extLst>
          </p:cNvPr>
          <p:cNvGrpSpPr>
            <a:grpSpLocks/>
          </p:cNvGrpSpPr>
          <p:nvPr/>
        </p:nvGrpSpPr>
        <p:grpSpPr bwMode="auto">
          <a:xfrm>
            <a:off x="5933566" y="2405815"/>
            <a:ext cx="331862" cy="776438"/>
            <a:chOff x="1392" y="2880"/>
            <a:chExt cx="288" cy="480"/>
          </a:xfrm>
        </p:grpSpPr>
        <p:sp>
          <p:nvSpPr>
            <p:cNvPr id="647" name="Line 77">
              <a:extLst>
                <a:ext uri="{FF2B5EF4-FFF2-40B4-BE49-F238E27FC236}">
                  <a16:creationId xmlns:a16="http://schemas.microsoft.com/office/drawing/2014/main" id="{94D3B5BB-0AD2-B9CE-4F27-2181ADAE37B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92" y="3072"/>
              <a:ext cx="48" cy="48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648" name="Line 78">
              <a:extLst>
                <a:ext uri="{FF2B5EF4-FFF2-40B4-BE49-F238E27FC236}">
                  <a16:creationId xmlns:a16="http://schemas.microsoft.com/office/drawing/2014/main" id="{C69305EB-B1F1-719B-6469-4EB5BF6B28E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392" y="3120"/>
              <a:ext cx="48" cy="48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649" name="Line 79">
              <a:extLst>
                <a:ext uri="{FF2B5EF4-FFF2-40B4-BE49-F238E27FC236}">
                  <a16:creationId xmlns:a16="http://schemas.microsoft.com/office/drawing/2014/main" id="{36C56C25-D8D1-4183-3358-F1FF7138B1D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392" y="2880"/>
              <a:ext cx="0" cy="19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650" name="Line 80">
              <a:extLst>
                <a:ext uri="{FF2B5EF4-FFF2-40B4-BE49-F238E27FC236}">
                  <a16:creationId xmlns:a16="http://schemas.microsoft.com/office/drawing/2014/main" id="{4E8A39A4-448A-A932-2587-CD95D6D6A24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392" y="3168"/>
              <a:ext cx="0" cy="19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651" name="Line 81">
              <a:extLst>
                <a:ext uri="{FF2B5EF4-FFF2-40B4-BE49-F238E27FC236}">
                  <a16:creationId xmlns:a16="http://schemas.microsoft.com/office/drawing/2014/main" id="{3587D8A9-0D4D-AC99-7D89-EBB3CCC1C2E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392" y="3216"/>
              <a:ext cx="288" cy="144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652" name="Line 82">
              <a:extLst>
                <a:ext uri="{FF2B5EF4-FFF2-40B4-BE49-F238E27FC236}">
                  <a16:creationId xmlns:a16="http://schemas.microsoft.com/office/drawing/2014/main" id="{C534A9B7-FCBA-7EB6-C7F5-3DC5A250659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680" y="3024"/>
              <a:ext cx="0" cy="19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653" name="Line 83">
              <a:extLst>
                <a:ext uri="{FF2B5EF4-FFF2-40B4-BE49-F238E27FC236}">
                  <a16:creationId xmlns:a16="http://schemas.microsoft.com/office/drawing/2014/main" id="{E35E4FDC-272E-59C8-4D19-EF5D9EC8F1C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92" y="2880"/>
              <a:ext cx="288" cy="144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</p:grpSp>
      <p:sp>
        <p:nvSpPr>
          <p:cNvPr id="654" name="Text Box 84">
            <a:extLst>
              <a:ext uri="{FF2B5EF4-FFF2-40B4-BE49-F238E27FC236}">
                <a16:creationId xmlns:a16="http://schemas.microsoft.com/office/drawing/2014/main" id="{39ACD51F-B686-D506-C07A-CA40A9037B8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99676" y="2669721"/>
            <a:ext cx="457146" cy="27698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1425" tIns="45713" rIns="91425" bIns="45713">
            <a:spAutoFit/>
          </a:bodyPr>
          <a:lstStyle>
            <a:lvl1pPr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1pPr>
            <a:lvl2pPr marL="742950" indent="-28575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2pPr>
            <a:lvl3pPr marL="11430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3pPr>
            <a:lvl4pPr marL="16002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4pPr>
            <a:lvl5pPr marL="20574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9pPr>
          </a:lstStyle>
          <a:p>
            <a:r>
              <a:rPr lang="en-US" altLang="zh-CN" sz="1200" b="0" dirty="0">
                <a:latin typeface="Arial" pitchFamily="34" charset="0"/>
                <a:ea typeface="SimHei" panose="02010609060101010101" pitchFamily="49" charset="-122"/>
              </a:rPr>
              <a:t>Add</a:t>
            </a:r>
          </a:p>
        </p:txBody>
      </p:sp>
      <p:sp>
        <p:nvSpPr>
          <p:cNvPr id="655" name="Line 85">
            <a:extLst>
              <a:ext uri="{FF2B5EF4-FFF2-40B4-BE49-F238E27FC236}">
                <a16:creationId xmlns:a16="http://schemas.microsoft.com/office/drawing/2014/main" id="{89308A1A-ED32-1135-F940-CDBE72D2DABD}"/>
              </a:ext>
            </a:extLst>
          </p:cNvPr>
          <p:cNvSpPr>
            <a:spLocks noChangeShapeType="1"/>
          </p:cNvSpPr>
          <p:nvPr/>
        </p:nvSpPr>
        <p:spPr bwMode="auto">
          <a:xfrm>
            <a:off x="5093828" y="2969880"/>
            <a:ext cx="850184" cy="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656" name="Rectangle 86">
            <a:extLst>
              <a:ext uri="{FF2B5EF4-FFF2-40B4-BE49-F238E27FC236}">
                <a16:creationId xmlns:a16="http://schemas.microsoft.com/office/drawing/2014/main" id="{F695CE64-F9C5-755E-96CA-903471ED7A2D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15990" y="3272776"/>
            <a:ext cx="1203552" cy="1040999"/>
          </a:xfrm>
          <a:prstGeom prst="rect">
            <a:avLst/>
          </a:prstGeom>
          <a:noFill/>
          <a:ln w="19050">
            <a:solidFill>
              <a:schemeClr val="tx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657" name="Line 87">
            <a:extLst>
              <a:ext uri="{FF2B5EF4-FFF2-40B4-BE49-F238E27FC236}">
                <a16:creationId xmlns:a16="http://schemas.microsoft.com/office/drawing/2014/main" id="{C5F14A29-8E79-2842-A2D4-C2184D373106}"/>
              </a:ext>
            </a:extLst>
          </p:cNvPr>
          <p:cNvSpPr>
            <a:spLocks noChangeShapeType="1"/>
          </p:cNvSpPr>
          <p:nvPr/>
        </p:nvSpPr>
        <p:spPr bwMode="auto">
          <a:xfrm>
            <a:off x="6503600" y="3821762"/>
            <a:ext cx="212392" cy="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659" name="Text Box 88">
            <a:extLst>
              <a:ext uri="{FF2B5EF4-FFF2-40B4-BE49-F238E27FC236}">
                <a16:creationId xmlns:a16="http://schemas.microsoft.com/office/drawing/2014/main" id="{D863E5D4-6127-3DEE-E91E-3B6D95CCCF7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712177" y="3272777"/>
            <a:ext cx="830645" cy="52320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1425" tIns="45713" rIns="91425" bIns="45713">
            <a:spAutoFit/>
          </a:bodyPr>
          <a:lstStyle>
            <a:lvl1pPr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1pPr>
            <a:lvl2pPr marL="742950" indent="-28575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2pPr>
            <a:lvl3pPr marL="11430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3pPr>
            <a:lvl4pPr marL="16002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4pPr>
            <a:lvl5pPr marL="20574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9pPr>
          </a:lstStyle>
          <a:p>
            <a:pPr algn="ctr"/>
            <a:r>
              <a:rPr lang="en-US" altLang="zh-CN" sz="1400" b="0" dirty="0">
                <a:latin typeface="Arial" pitchFamily="34" charset="0"/>
                <a:ea typeface="SimHei" panose="02010609060101010101" pitchFamily="49" charset="-122"/>
              </a:rPr>
              <a:t>Data</a:t>
            </a:r>
          </a:p>
          <a:p>
            <a:pPr algn="ctr"/>
            <a:r>
              <a:rPr lang="en-US" altLang="zh-CN" sz="1400" b="0" dirty="0">
                <a:latin typeface="Arial" pitchFamily="34" charset="0"/>
                <a:ea typeface="SimHei" panose="02010609060101010101" pitchFamily="49" charset="-122"/>
              </a:rPr>
              <a:t>Memory</a:t>
            </a:r>
          </a:p>
        </p:txBody>
      </p:sp>
      <p:sp>
        <p:nvSpPr>
          <p:cNvPr id="661" name="Text Box 89">
            <a:extLst>
              <a:ext uri="{FF2B5EF4-FFF2-40B4-BE49-F238E27FC236}">
                <a16:creationId xmlns:a16="http://schemas.microsoft.com/office/drawing/2014/main" id="{B1DD13F7-A254-DC6C-E6EE-7D7C202AF46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645193" y="3692355"/>
            <a:ext cx="747290" cy="27698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1425" tIns="45713" rIns="91425" bIns="45713">
            <a:spAutoFit/>
          </a:bodyPr>
          <a:lstStyle>
            <a:lvl1pPr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1pPr>
            <a:lvl2pPr marL="742950" indent="-28575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2pPr>
            <a:lvl3pPr marL="11430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3pPr>
            <a:lvl4pPr marL="16002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4pPr>
            <a:lvl5pPr marL="20574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9pPr>
          </a:lstStyle>
          <a:p>
            <a:r>
              <a:rPr lang="en-US" altLang="zh-CN" sz="1200" b="0" dirty="0">
                <a:latin typeface="Arial" pitchFamily="34" charset="0"/>
                <a:ea typeface="SimHei" panose="02010609060101010101" pitchFamily="49" charset="-122"/>
              </a:rPr>
              <a:t>Address</a:t>
            </a:r>
          </a:p>
        </p:txBody>
      </p:sp>
      <p:sp>
        <p:nvSpPr>
          <p:cNvPr id="662" name="Text Box 90">
            <a:extLst>
              <a:ext uri="{FF2B5EF4-FFF2-40B4-BE49-F238E27FC236}">
                <a16:creationId xmlns:a16="http://schemas.microsoft.com/office/drawing/2014/main" id="{C3CE26A7-AED5-D82F-20DE-6A523123D68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645193" y="4015871"/>
            <a:ext cx="908039" cy="27698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1425" tIns="45713" rIns="91425" bIns="45713">
            <a:spAutoFit/>
          </a:bodyPr>
          <a:lstStyle>
            <a:lvl1pPr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1pPr>
            <a:lvl2pPr marL="742950" indent="-28575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2pPr>
            <a:lvl3pPr marL="11430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3pPr>
            <a:lvl4pPr marL="16002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4pPr>
            <a:lvl5pPr marL="20574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9pPr>
          </a:lstStyle>
          <a:p>
            <a:r>
              <a:rPr lang="en-US" altLang="zh-CN" sz="1200" b="0" dirty="0">
                <a:latin typeface="Arial" pitchFamily="34" charset="0"/>
                <a:ea typeface="SimHei" panose="02010609060101010101" pitchFamily="49" charset="-122"/>
              </a:rPr>
              <a:t>Write Data</a:t>
            </a:r>
          </a:p>
        </p:txBody>
      </p:sp>
      <p:sp>
        <p:nvSpPr>
          <p:cNvPr id="663" name="Text Box 91">
            <a:extLst>
              <a:ext uri="{FF2B5EF4-FFF2-40B4-BE49-F238E27FC236}">
                <a16:creationId xmlns:a16="http://schemas.microsoft.com/office/drawing/2014/main" id="{732395BD-778F-297B-9E5A-4E60E7E1484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423961" y="3627652"/>
            <a:ext cx="550120" cy="46165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1425" tIns="45713" rIns="91425" bIns="45713">
            <a:spAutoFit/>
          </a:bodyPr>
          <a:lstStyle>
            <a:lvl1pPr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1pPr>
            <a:lvl2pPr marL="742950" indent="-28575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2pPr>
            <a:lvl3pPr marL="11430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3pPr>
            <a:lvl4pPr marL="16002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4pPr>
            <a:lvl5pPr marL="20574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9pPr>
          </a:lstStyle>
          <a:p>
            <a:r>
              <a:rPr lang="en-US" altLang="zh-CN" sz="1200" b="0" dirty="0">
                <a:latin typeface="Arial" pitchFamily="34" charset="0"/>
                <a:ea typeface="SimHei" panose="02010609060101010101" pitchFamily="49" charset="-122"/>
              </a:rPr>
              <a:t>Read</a:t>
            </a:r>
          </a:p>
          <a:p>
            <a:r>
              <a:rPr lang="en-US" altLang="zh-CN" sz="1200" b="0" dirty="0">
                <a:latin typeface="Arial" pitchFamily="34" charset="0"/>
                <a:ea typeface="SimHei" panose="02010609060101010101" pitchFamily="49" charset="-122"/>
              </a:rPr>
              <a:t>Data</a:t>
            </a:r>
          </a:p>
        </p:txBody>
      </p:sp>
      <p:sp>
        <p:nvSpPr>
          <p:cNvPr id="664" name="Line 92">
            <a:extLst>
              <a:ext uri="{FF2B5EF4-FFF2-40B4-BE49-F238E27FC236}">
                <a16:creationId xmlns:a16="http://schemas.microsoft.com/office/drawing/2014/main" id="{8DE15854-C4A1-86FC-D081-4E16DC795963}"/>
              </a:ext>
            </a:extLst>
          </p:cNvPr>
          <p:cNvSpPr>
            <a:spLocks noChangeShapeType="1"/>
          </p:cNvSpPr>
          <p:nvPr/>
        </p:nvSpPr>
        <p:spPr bwMode="auto">
          <a:xfrm>
            <a:off x="6500292" y="4145278"/>
            <a:ext cx="215699" cy="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665" name="Line 93">
            <a:extLst>
              <a:ext uri="{FF2B5EF4-FFF2-40B4-BE49-F238E27FC236}">
                <a16:creationId xmlns:a16="http://schemas.microsoft.com/office/drawing/2014/main" id="{E662BE9A-A9CC-A8C0-9770-58F901316352}"/>
              </a:ext>
            </a:extLst>
          </p:cNvPr>
          <p:cNvSpPr>
            <a:spLocks noChangeShapeType="1"/>
          </p:cNvSpPr>
          <p:nvPr/>
        </p:nvSpPr>
        <p:spPr bwMode="auto">
          <a:xfrm>
            <a:off x="8202731" y="4145278"/>
            <a:ext cx="212392" cy="134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666" name="AutoShape 94">
            <a:extLst>
              <a:ext uri="{FF2B5EF4-FFF2-40B4-BE49-F238E27FC236}">
                <a16:creationId xmlns:a16="http://schemas.microsoft.com/office/drawing/2014/main" id="{509AF00B-F592-7869-51D3-7007212C762A}"/>
              </a:ext>
            </a:extLst>
          </p:cNvPr>
          <p:cNvSpPr>
            <a:spLocks noChangeArrowheads="1"/>
          </p:cNvSpPr>
          <p:nvPr/>
        </p:nvSpPr>
        <p:spPr bwMode="auto">
          <a:xfrm rot="16200000">
            <a:off x="8230153" y="3877325"/>
            <a:ext cx="582329" cy="212392"/>
          </a:xfrm>
          <a:custGeom>
            <a:avLst/>
            <a:gdLst>
              <a:gd name="T0" fmla="*/ 8 w 21600"/>
              <a:gd name="T1" fmla="*/ 0 h 21600"/>
              <a:gd name="T2" fmla="*/ 4 w 21600"/>
              <a:gd name="T3" fmla="*/ 1 h 21600"/>
              <a:gd name="T4" fmla="*/ 1 w 21600"/>
              <a:gd name="T5" fmla="*/ 0 h 21600"/>
              <a:gd name="T6" fmla="*/ 4 w 21600"/>
              <a:gd name="T7" fmla="*/ 0 h 21600"/>
              <a:gd name="T8" fmla="*/ 0 60000 65536"/>
              <a:gd name="T9" fmla="*/ 0 60000 65536"/>
              <a:gd name="T10" fmla="*/ 0 60000 65536"/>
              <a:gd name="T11" fmla="*/ 0 60000 65536"/>
              <a:gd name="T12" fmla="*/ 4500 w 21600"/>
              <a:gd name="T13" fmla="*/ 4500 h 21600"/>
              <a:gd name="T14" fmla="*/ 17100 w 21600"/>
              <a:gd name="T15" fmla="*/ 17100 h 21600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21600" h="21600">
                <a:moveTo>
                  <a:pt x="0" y="0"/>
                </a:moveTo>
                <a:lnTo>
                  <a:pt x="5400" y="21600"/>
                </a:lnTo>
                <a:lnTo>
                  <a:pt x="16200" y="21600"/>
                </a:lnTo>
                <a:lnTo>
                  <a:pt x="21600" y="0"/>
                </a:lnTo>
                <a:lnTo>
                  <a:pt x="0" y="0"/>
                </a:lnTo>
                <a:close/>
              </a:path>
            </a:pathLst>
          </a:custGeom>
          <a:noFill/>
          <a:ln w="19050">
            <a:solidFill>
              <a:schemeClr val="tx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667" name="Line 98">
            <a:extLst>
              <a:ext uri="{FF2B5EF4-FFF2-40B4-BE49-F238E27FC236}">
                <a16:creationId xmlns:a16="http://schemas.microsoft.com/office/drawing/2014/main" id="{ED63882B-A01F-87DA-3984-F2F490838181}"/>
              </a:ext>
            </a:extLst>
          </p:cNvPr>
          <p:cNvSpPr>
            <a:spLocks noChangeShapeType="1"/>
          </p:cNvSpPr>
          <p:nvPr/>
        </p:nvSpPr>
        <p:spPr bwMode="auto">
          <a:xfrm>
            <a:off x="4041604" y="3309289"/>
            <a:ext cx="141594" cy="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668" name="Line 99">
            <a:extLst>
              <a:ext uri="{FF2B5EF4-FFF2-40B4-BE49-F238E27FC236}">
                <a16:creationId xmlns:a16="http://schemas.microsoft.com/office/drawing/2014/main" id="{471F8516-F931-374D-7439-FBAAAAA8996D}"/>
              </a:ext>
            </a:extLst>
          </p:cNvPr>
          <p:cNvSpPr>
            <a:spLocks noChangeShapeType="1"/>
          </p:cNvSpPr>
          <p:nvPr/>
        </p:nvSpPr>
        <p:spPr bwMode="auto">
          <a:xfrm>
            <a:off x="2625662" y="4209982"/>
            <a:ext cx="0" cy="1290921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669" name="Line 100">
            <a:extLst>
              <a:ext uri="{FF2B5EF4-FFF2-40B4-BE49-F238E27FC236}">
                <a16:creationId xmlns:a16="http://schemas.microsoft.com/office/drawing/2014/main" id="{3AD158CB-A32A-4C9C-BB40-470EF1EEDCE2}"/>
              </a:ext>
            </a:extLst>
          </p:cNvPr>
          <p:cNvSpPr>
            <a:spLocks noChangeShapeType="1"/>
          </p:cNvSpPr>
          <p:nvPr/>
        </p:nvSpPr>
        <p:spPr bwMode="auto">
          <a:xfrm>
            <a:off x="1917690" y="2657105"/>
            <a:ext cx="212392" cy="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670" name="Line 101">
            <a:extLst>
              <a:ext uri="{FF2B5EF4-FFF2-40B4-BE49-F238E27FC236}">
                <a16:creationId xmlns:a16="http://schemas.microsoft.com/office/drawing/2014/main" id="{B638F306-E65F-C521-36ED-D7E62AEEA5AC}"/>
              </a:ext>
            </a:extLst>
          </p:cNvPr>
          <p:cNvSpPr>
            <a:spLocks noChangeShapeType="1"/>
          </p:cNvSpPr>
          <p:nvPr/>
        </p:nvSpPr>
        <p:spPr bwMode="auto">
          <a:xfrm>
            <a:off x="1209719" y="1815964"/>
            <a:ext cx="849565" cy="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 type="triangle" w="med" len="med"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671" name="Line 102">
            <a:extLst>
              <a:ext uri="{FF2B5EF4-FFF2-40B4-BE49-F238E27FC236}">
                <a16:creationId xmlns:a16="http://schemas.microsoft.com/office/drawing/2014/main" id="{D9B6C964-C63A-93B2-18AD-834733BDD900}"/>
              </a:ext>
            </a:extLst>
          </p:cNvPr>
          <p:cNvSpPr>
            <a:spLocks noChangeShapeType="1"/>
          </p:cNvSpPr>
          <p:nvPr/>
        </p:nvSpPr>
        <p:spPr bwMode="auto">
          <a:xfrm>
            <a:off x="2413270" y="3757059"/>
            <a:ext cx="141594" cy="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672" name="Line 103">
            <a:extLst>
              <a:ext uri="{FF2B5EF4-FFF2-40B4-BE49-F238E27FC236}">
                <a16:creationId xmlns:a16="http://schemas.microsoft.com/office/drawing/2014/main" id="{79E4FB8F-245B-48DB-087E-751B232EB44F}"/>
              </a:ext>
            </a:extLst>
          </p:cNvPr>
          <p:cNvSpPr>
            <a:spLocks noChangeShapeType="1"/>
          </p:cNvSpPr>
          <p:nvPr/>
        </p:nvSpPr>
        <p:spPr bwMode="auto">
          <a:xfrm>
            <a:off x="7919542" y="3821762"/>
            <a:ext cx="141267" cy="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673" name="Rectangle 104">
            <a:extLst>
              <a:ext uri="{FF2B5EF4-FFF2-40B4-BE49-F238E27FC236}">
                <a16:creationId xmlns:a16="http://schemas.microsoft.com/office/drawing/2014/main" id="{B4C15EE5-DD63-3E98-68A8-CE05B3DF7B9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71676" y="2462995"/>
            <a:ext cx="141594" cy="1876391"/>
          </a:xfrm>
          <a:prstGeom prst="rect">
            <a:avLst/>
          </a:prstGeom>
          <a:pattFill prst="wdUpDiag">
            <a:fgClr>
              <a:schemeClr val="bg1">
                <a:lumMod val="75000"/>
              </a:schemeClr>
            </a:fgClr>
            <a:bgClr>
              <a:schemeClr val="bg1"/>
            </a:bgClr>
          </a:pattFill>
          <a:ln w="19050">
            <a:solidFill>
              <a:schemeClr val="tx1"/>
            </a:solidFill>
            <a:miter lim="800000"/>
            <a:headEnd/>
            <a:tailEnd/>
          </a:ln>
          <a:effectLst/>
        </p:spPr>
        <p:txBody>
          <a:bodyPr wrap="none" anchor="ctr"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674" name="Rectangle 105">
            <a:extLst>
              <a:ext uri="{FF2B5EF4-FFF2-40B4-BE49-F238E27FC236}">
                <a16:creationId xmlns:a16="http://schemas.microsoft.com/office/drawing/2014/main" id="{C0BB7D9D-6A1B-454B-F7A6-9706B8C5883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83198" y="2462994"/>
            <a:ext cx="147520" cy="2983021"/>
          </a:xfrm>
          <a:prstGeom prst="rect">
            <a:avLst/>
          </a:prstGeom>
          <a:pattFill prst="wdUpDiag">
            <a:fgClr>
              <a:schemeClr val="bg1">
                <a:lumMod val="75000"/>
              </a:schemeClr>
            </a:fgClr>
            <a:bgClr>
              <a:schemeClr val="bg1"/>
            </a:bgClr>
          </a:pattFill>
          <a:ln w="19050">
            <a:solidFill>
              <a:schemeClr val="tx1"/>
            </a:solidFill>
            <a:miter lim="800000"/>
            <a:headEnd/>
            <a:tailEnd/>
          </a:ln>
          <a:effectLst/>
        </p:spPr>
        <p:txBody>
          <a:bodyPr wrap="none" anchor="ctr"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675" name="Line 106">
            <a:extLst>
              <a:ext uri="{FF2B5EF4-FFF2-40B4-BE49-F238E27FC236}">
                <a16:creationId xmlns:a16="http://schemas.microsoft.com/office/drawing/2014/main" id="{DB17B0FB-374C-88FE-449E-CD564414179E}"/>
              </a:ext>
            </a:extLst>
          </p:cNvPr>
          <p:cNvSpPr>
            <a:spLocks noChangeShapeType="1"/>
          </p:cNvSpPr>
          <p:nvPr/>
        </p:nvSpPr>
        <p:spPr bwMode="auto">
          <a:xfrm>
            <a:off x="2059284" y="2657105"/>
            <a:ext cx="212392" cy="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676" name="Line 107">
            <a:extLst>
              <a:ext uri="{FF2B5EF4-FFF2-40B4-BE49-F238E27FC236}">
                <a16:creationId xmlns:a16="http://schemas.microsoft.com/office/drawing/2014/main" id="{0E30FBCC-C11F-2111-0D64-890EEC580279}"/>
              </a:ext>
            </a:extLst>
          </p:cNvPr>
          <p:cNvSpPr>
            <a:spLocks noChangeShapeType="1"/>
          </p:cNvSpPr>
          <p:nvPr/>
        </p:nvSpPr>
        <p:spPr bwMode="auto">
          <a:xfrm>
            <a:off x="2413270" y="2657105"/>
            <a:ext cx="1769928" cy="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677" name="Line 108">
            <a:extLst>
              <a:ext uri="{FF2B5EF4-FFF2-40B4-BE49-F238E27FC236}">
                <a16:creationId xmlns:a16="http://schemas.microsoft.com/office/drawing/2014/main" id="{31E9B2D3-31F2-56E3-5D54-3CD13A321046}"/>
              </a:ext>
            </a:extLst>
          </p:cNvPr>
          <p:cNvSpPr>
            <a:spLocks noChangeShapeType="1"/>
          </p:cNvSpPr>
          <p:nvPr/>
        </p:nvSpPr>
        <p:spPr bwMode="auto">
          <a:xfrm>
            <a:off x="6269084" y="2811271"/>
            <a:ext cx="92922" cy="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678" name="Line 109">
            <a:extLst>
              <a:ext uri="{FF2B5EF4-FFF2-40B4-BE49-F238E27FC236}">
                <a16:creationId xmlns:a16="http://schemas.microsoft.com/office/drawing/2014/main" id="{364D1D62-6A68-485B-C522-73C2CB32F3B5}"/>
              </a:ext>
            </a:extLst>
          </p:cNvPr>
          <p:cNvSpPr>
            <a:spLocks noChangeShapeType="1"/>
          </p:cNvSpPr>
          <p:nvPr/>
        </p:nvSpPr>
        <p:spPr bwMode="auto">
          <a:xfrm>
            <a:off x="4324793" y="4792309"/>
            <a:ext cx="100176" cy="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679" name="Line 110">
            <a:extLst>
              <a:ext uri="{FF2B5EF4-FFF2-40B4-BE49-F238E27FC236}">
                <a16:creationId xmlns:a16="http://schemas.microsoft.com/office/drawing/2014/main" id="{F5E613FA-2C01-B4C3-34D4-45EF10975A4D}"/>
              </a:ext>
            </a:extLst>
          </p:cNvPr>
          <p:cNvSpPr>
            <a:spLocks noChangeShapeType="1"/>
          </p:cNvSpPr>
          <p:nvPr/>
        </p:nvSpPr>
        <p:spPr bwMode="auto">
          <a:xfrm>
            <a:off x="4744617" y="4014681"/>
            <a:ext cx="0" cy="665275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680" name="Line 111">
            <a:extLst>
              <a:ext uri="{FF2B5EF4-FFF2-40B4-BE49-F238E27FC236}">
                <a16:creationId xmlns:a16="http://schemas.microsoft.com/office/drawing/2014/main" id="{E1249B57-6988-9F66-0BF4-FA661E811032}"/>
              </a:ext>
            </a:extLst>
          </p:cNvPr>
          <p:cNvSpPr>
            <a:spLocks noChangeShapeType="1"/>
          </p:cNvSpPr>
          <p:nvPr/>
        </p:nvSpPr>
        <p:spPr bwMode="auto">
          <a:xfrm>
            <a:off x="4744616" y="4679956"/>
            <a:ext cx="1616973" cy="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681" name="Rectangle 112">
            <a:extLst>
              <a:ext uri="{FF2B5EF4-FFF2-40B4-BE49-F238E27FC236}">
                <a16:creationId xmlns:a16="http://schemas.microsoft.com/office/drawing/2014/main" id="{15585846-E24D-637C-D3AA-AC561DE8063F}"/>
              </a:ext>
            </a:extLst>
          </p:cNvPr>
          <p:cNvSpPr>
            <a:spLocks noChangeArrowheads="1"/>
          </p:cNvSpPr>
          <p:nvPr/>
        </p:nvSpPr>
        <p:spPr bwMode="auto">
          <a:xfrm>
            <a:off x="8061136" y="2980621"/>
            <a:ext cx="141594" cy="2199907"/>
          </a:xfrm>
          <a:prstGeom prst="rect">
            <a:avLst/>
          </a:prstGeom>
          <a:pattFill prst="wdUpDiag">
            <a:fgClr>
              <a:schemeClr val="bg1">
                <a:lumMod val="75000"/>
              </a:schemeClr>
            </a:fgClr>
            <a:bgClr>
              <a:schemeClr val="bg1"/>
            </a:bgClr>
          </a:pattFill>
          <a:ln w="19050">
            <a:solidFill>
              <a:schemeClr val="tx1"/>
            </a:solidFill>
            <a:miter lim="800000"/>
            <a:headEnd/>
            <a:tailEnd/>
          </a:ln>
          <a:effectLst/>
        </p:spPr>
        <p:txBody>
          <a:bodyPr wrap="none" anchor="ctr"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682" name="Line 113">
            <a:extLst>
              <a:ext uri="{FF2B5EF4-FFF2-40B4-BE49-F238E27FC236}">
                <a16:creationId xmlns:a16="http://schemas.microsoft.com/office/drawing/2014/main" id="{1C395EE3-BA05-5808-7D9A-49F5802F6102}"/>
              </a:ext>
            </a:extLst>
          </p:cNvPr>
          <p:cNvSpPr>
            <a:spLocks noChangeShapeType="1"/>
          </p:cNvSpPr>
          <p:nvPr/>
        </p:nvSpPr>
        <p:spPr bwMode="auto">
          <a:xfrm>
            <a:off x="6574396" y="4792309"/>
            <a:ext cx="1486740" cy="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683" name="Line 114">
            <a:extLst>
              <a:ext uri="{FF2B5EF4-FFF2-40B4-BE49-F238E27FC236}">
                <a16:creationId xmlns:a16="http://schemas.microsoft.com/office/drawing/2014/main" id="{702A3E23-F442-1DF8-1693-5DBDA6D6AB28}"/>
              </a:ext>
            </a:extLst>
          </p:cNvPr>
          <p:cNvSpPr>
            <a:spLocks noChangeShapeType="1"/>
          </p:cNvSpPr>
          <p:nvPr/>
        </p:nvSpPr>
        <p:spPr bwMode="auto">
          <a:xfrm>
            <a:off x="8202731" y="3821762"/>
            <a:ext cx="212392" cy="134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684" name="Line 115">
            <a:extLst>
              <a:ext uri="{FF2B5EF4-FFF2-40B4-BE49-F238E27FC236}">
                <a16:creationId xmlns:a16="http://schemas.microsoft.com/office/drawing/2014/main" id="{8BC5DB49-B563-7A30-63FF-E174968D7A5C}"/>
              </a:ext>
            </a:extLst>
          </p:cNvPr>
          <p:cNvSpPr>
            <a:spLocks noChangeShapeType="1"/>
          </p:cNvSpPr>
          <p:nvPr/>
        </p:nvSpPr>
        <p:spPr bwMode="auto">
          <a:xfrm>
            <a:off x="8769107" y="3951169"/>
            <a:ext cx="0" cy="1549734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685" name="Line 116">
            <a:extLst>
              <a:ext uri="{FF2B5EF4-FFF2-40B4-BE49-F238E27FC236}">
                <a16:creationId xmlns:a16="http://schemas.microsoft.com/office/drawing/2014/main" id="{F9E4D99C-FD59-CC30-DC2F-B1E5290649B6}"/>
              </a:ext>
            </a:extLst>
          </p:cNvPr>
          <p:cNvSpPr>
            <a:spLocks noChangeShapeType="1"/>
          </p:cNvSpPr>
          <p:nvPr/>
        </p:nvSpPr>
        <p:spPr bwMode="auto">
          <a:xfrm>
            <a:off x="6715990" y="1557153"/>
            <a:ext cx="0" cy="1263435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686" name="Line 117">
            <a:extLst>
              <a:ext uri="{FF2B5EF4-FFF2-40B4-BE49-F238E27FC236}">
                <a16:creationId xmlns:a16="http://schemas.microsoft.com/office/drawing/2014/main" id="{3644C8AA-88B0-9A1D-D6FC-9679BD37E290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362004" y="4145278"/>
            <a:ext cx="141594" cy="647031"/>
          </a:xfrm>
          <a:prstGeom prst="line">
            <a:avLst/>
          </a:prstGeom>
          <a:noFill/>
          <a:ln w="28575" cap="rnd">
            <a:solidFill>
              <a:schemeClr val="accent2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687" name="Line 118">
            <a:extLst>
              <a:ext uri="{FF2B5EF4-FFF2-40B4-BE49-F238E27FC236}">
                <a16:creationId xmlns:a16="http://schemas.microsoft.com/office/drawing/2014/main" id="{7A4281AA-C849-89FF-F2DF-7DD00190E322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8061136" y="4145278"/>
            <a:ext cx="141594" cy="647031"/>
          </a:xfrm>
          <a:prstGeom prst="line">
            <a:avLst/>
          </a:prstGeom>
          <a:noFill/>
          <a:ln w="28575" cap="rnd">
            <a:solidFill>
              <a:schemeClr val="tx1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688" name="Text Box 119">
            <a:extLst>
              <a:ext uri="{FF2B5EF4-FFF2-40B4-BE49-F238E27FC236}">
                <a16:creationId xmlns:a16="http://schemas.microsoft.com/office/drawing/2014/main" id="{74A337F7-ED4A-0C5A-FB0B-CA00ADD767C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130082" y="2204183"/>
            <a:ext cx="519664" cy="27698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1425" tIns="45713" rIns="91425" bIns="45713">
            <a:spAutoFit/>
          </a:bodyPr>
          <a:lstStyle>
            <a:lvl1pPr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1pPr>
            <a:lvl2pPr marL="742950" indent="-28575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2pPr>
            <a:lvl3pPr marL="11430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3pPr>
            <a:lvl4pPr marL="16002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4pPr>
            <a:lvl5pPr marL="20574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9pPr>
          </a:lstStyle>
          <a:p>
            <a:r>
              <a:rPr lang="en-US" altLang="zh-CN" sz="1200" b="0" dirty="0">
                <a:latin typeface="Arial" pitchFamily="34" charset="0"/>
                <a:ea typeface="SimHei" panose="02010609060101010101" pitchFamily="49" charset="-122"/>
              </a:rPr>
              <a:t>IF/ID</a:t>
            </a:r>
          </a:p>
        </p:txBody>
      </p:sp>
      <p:sp>
        <p:nvSpPr>
          <p:cNvPr id="689" name="Line 120">
            <a:extLst>
              <a:ext uri="{FF2B5EF4-FFF2-40B4-BE49-F238E27FC236}">
                <a16:creationId xmlns:a16="http://schemas.microsoft.com/office/drawing/2014/main" id="{8FBD16C0-C2A1-8305-0344-67A78062EC94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424969" y="2973428"/>
            <a:ext cx="0" cy="136595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690" name="Line 121">
            <a:extLst>
              <a:ext uri="{FF2B5EF4-FFF2-40B4-BE49-F238E27FC236}">
                <a16:creationId xmlns:a16="http://schemas.microsoft.com/office/drawing/2014/main" id="{1808C48B-4262-CDA0-3204-D8D719268EF6}"/>
              </a:ext>
            </a:extLst>
          </p:cNvPr>
          <p:cNvSpPr>
            <a:spLocks noChangeShapeType="1"/>
          </p:cNvSpPr>
          <p:nvPr/>
        </p:nvSpPr>
        <p:spPr bwMode="auto">
          <a:xfrm>
            <a:off x="3651698" y="4792309"/>
            <a:ext cx="531502" cy="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691" name="Line 122">
            <a:extLst>
              <a:ext uri="{FF2B5EF4-FFF2-40B4-BE49-F238E27FC236}">
                <a16:creationId xmlns:a16="http://schemas.microsoft.com/office/drawing/2014/main" id="{3A6F841E-D4FA-3A70-5981-0F06D378E6A3}"/>
              </a:ext>
            </a:extLst>
          </p:cNvPr>
          <p:cNvSpPr>
            <a:spLocks noChangeShapeType="1"/>
          </p:cNvSpPr>
          <p:nvPr/>
        </p:nvSpPr>
        <p:spPr bwMode="auto">
          <a:xfrm>
            <a:off x="4324793" y="2657105"/>
            <a:ext cx="1608030" cy="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692" name="Line 123">
            <a:extLst>
              <a:ext uri="{FF2B5EF4-FFF2-40B4-BE49-F238E27FC236}">
                <a16:creationId xmlns:a16="http://schemas.microsoft.com/office/drawing/2014/main" id="{874C0F9A-287C-8A3A-D7D0-5964E9276986}"/>
              </a:ext>
            </a:extLst>
          </p:cNvPr>
          <p:cNvSpPr>
            <a:spLocks noChangeShapeType="1"/>
          </p:cNvSpPr>
          <p:nvPr/>
        </p:nvSpPr>
        <p:spPr bwMode="auto">
          <a:xfrm>
            <a:off x="2059284" y="1815964"/>
            <a:ext cx="0" cy="841141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693" name="Line 124">
            <a:extLst>
              <a:ext uri="{FF2B5EF4-FFF2-40B4-BE49-F238E27FC236}">
                <a16:creationId xmlns:a16="http://schemas.microsoft.com/office/drawing/2014/main" id="{29B3758F-BA00-F6EA-11DD-34AE203C808E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149614" y="3135008"/>
            <a:ext cx="0" cy="36323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694" name="Line 125">
            <a:extLst>
              <a:ext uri="{FF2B5EF4-FFF2-40B4-BE49-F238E27FC236}">
                <a16:creationId xmlns:a16="http://schemas.microsoft.com/office/drawing/2014/main" id="{7050E329-CA55-5369-2B6F-D858DBD569B0}"/>
              </a:ext>
            </a:extLst>
          </p:cNvPr>
          <p:cNvSpPr>
            <a:spLocks noChangeShapeType="1"/>
          </p:cNvSpPr>
          <p:nvPr/>
        </p:nvSpPr>
        <p:spPr bwMode="auto">
          <a:xfrm>
            <a:off x="714139" y="2398293"/>
            <a:ext cx="0" cy="135876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695" name="Rectangle 126">
            <a:extLst>
              <a:ext uri="{FF2B5EF4-FFF2-40B4-BE49-F238E27FC236}">
                <a16:creationId xmlns:a16="http://schemas.microsoft.com/office/drawing/2014/main" id="{8994312E-156F-280D-459C-A7FC40AA5AB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62004" y="2462995"/>
            <a:ext cx="141594" cy="2717533"/>
          </a:xfrm>
          <a:prstGeom prst="rect">
            <a:avLst/>
          </a:prstGeom>
          <a:pattFill prst="wdUpDiag">
            <a:fgClr>
              <a:schemeClr val="bg1">
                <a:lumMod val="75000"/>
              </a:schemeClr>
            </a:fgClr>
            <a:bgClr>
              <a:schemeClr val="bg1"/>
            </a:bgClr>
          </a:pattFill>
          <a:ln w="19050">
            <a:solidFill>
              <a:schemeClr val="tx1"/>
            </a:solidFill>
            <a:miter lim="800000"/>
            <a:headEnd/>
            <a:tailEnd/>
          </a:ln>
          <a:effectLst/>
        </p:spPr>
        <p:txBody>
          <a:bodyPr wrap="none" anchor="ctr"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696" name="Oval 127">
            <a:extLst>
              <a:ext uri="{FF2B5EF4-FFF2-40B4-BE49-F238E27FC236}">
                <a16:creationId xmlns:a16="http://schemas.microsoft.com/office/drawing/2014/main" id="{D9976912-D4DB-0737-12A9-2D3F005B5D2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08850" y="4598200"/>
            <a:ext cx="755170" cy="388219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697" name="Rectangle 128">
            <a:extLst>
              <a:ext uri="{FF2B5EF4-FFF2-40B4-BE49-F238E27FC236}">
                <a16:creationId xmlns:a16="http://schemas.microsoft.com/office/drawing/2014/main" id="{2DC6BCBD-8289-9E74-41D5-8FD190D9A3B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50444" y="4598200"/>
            <a:ext cx="495580" cy="38821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19047" tIns="26984" rIns="19047" bIns="26984"/>
          <a:lstStyle/>
          <a:p>
            <a:pPr algn="ctr" eaLnBrk="0" hangingPunct="0"/>
            <a:r>
              <a:rPr lang="en-US" altLang="zh-CN" sz="1200" dirty="0" err="1">
                <a:solidFill>
                  <a:srgbClr val="000000"/>
                </a:solidFill>
                <a:latin typeface="Arial" pitchFamily="34" charset="0"/>
                <a:ea typeface="SimHei" panose="02010609060101010101" pitchFamily="49" charset="-122"/>
              </a:rPr>
              <a:t>Imm</a:t>
            </a:r>
            <a:endParaRPr lang="en-US" altLang="zh-CN" sz="1200" dirty="0">
              <a:solidFill>
                <a:srgbClr val="000000"/>
              </a:solidFill>
              <a:latin typeface="Arial" pitchFamily="34" charset="0"/>
              <a:ea typeface="SimHei" panose="02010609060101010101" pitchFamily="49" charset="-122"/>
            </a:endParaRPr>
          </a:p>
          <a:p>
            <a:pPr algn="ctr" eaLnBrk="0" hangingPunct="0"/>
            <a:r>
              <a:rPr lang="en-US" altLang="zh-CN" sz="1200" dirty="0">
                <a:solidFill>
                  <a:srgbClr val="000000"/>
                </a:solidFill>
                <a:latin typeface="Arial" pitchFamily="34" charset="0"/>
                <a:ea typeface="SimHei" panose="02010609060101010101" pitchFamily="49" charset="-122"/>
              </a:rPr>
              <a:t>Extend</a:t>
            </a:r>
          </a:p>
        </p:txBody>
      </p:sp>
      <p:sp>
        <p:nvSpPr>
          <p:cNvPr id="698" name="Line 129">
            <a:extLst>
              <a:ext uri="{FF2B5EF4-FFF2-40B4-BE49-F238E27FC236}">
                <a16:creationId xmlns:a16="http://schemas.microsoft.com/office/drawing/2014/main" id="{6A9F5B03-C5C0-4E3B-D45D-498573CBD434}"/>
              </a:ext>
            </a:extLst>
          </p:cNvPr>
          <p:cNvSpPr>
            <a:spLocks noChangeShapeType="1"/>
          </p:cNvSpPr>
          <p:nvPr/>
        </p:nvSpPr>
        <p:spPr bwMode="auto">
          <a:xfrm>
            <a:off x="6503599" y="2811271"/>
            <a:ext cx="212392" cy="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699" name="Line 130">
            <a:extLst>
              <a:ext uri="{FF2B5EF4-FFF2-40B4-BE49-F238E27FC236}">
                <a16:creationId xmlns:a16="http://schemas.microsoft.com/office/drawing/2014/main" id="{2D3D899E-7E4F-5625-7467-2E1B18160E5E}"/>
              </a:ext>
            </a:extLst>
          </p:cNvPr>
          <p:cNvSpPr>
            <a:spLocks noChangeShapeType="1"/>
          </p:cNvSpPr>
          <p:nvPr/>
        </p:nvSpPr>
        <p:spPr bwMode="auto">
          <a:xfrm>
            <a:off x="6149614" y="3135009"/>
            <a:ext cx="212392" cy="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700" name="Line 131">
            <a:extLst>
              <a:ext uri="{FF2B5EF4-FFF2-40B4-BE49-F238E27FC236}">
                <a16:creationId xmlns:a16="http://schemas.microsoft.com/office/drawing/2014/main" id="{3314F7D7-C93F-1E5A-0141-C7E00E5493B7}"/>
              </a:ext>
            </a:extLst>
          </p:cNvPr>
          <p:cNvSpPr>
            <a:spLocks noChangeShapeType="1"/>
          </p:cNvSpPr>
          <p:nvPr/>
        </p:nvSpPr>
        <p:spPr bwMode="auto">
          <a:xfrm>
            <a:off x="6503598" y="3135009"/>
            <a:ext cx="664387" cy="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 type="none" w="med" len="med"/>
            <a:tailEnd type="non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701" name="Line 132">
            <a:extLst>
              <a:ext uri="{FF2B5EF4-FFF2-40B4-BE49-F238E27FC236}">
                <a16:creationId xmlns:a16="http://schemas.microsoft.com/office/drawing/2014/main" id="{63527DDA-627E-57A0-60C5-783D3D6A8892}"/>
              </a:ext>
            </a:extLst>
          </p:cNvPr>
          <p:cNvSpPr>
            <a:spLocks noChangeShapeType="1"/>
          </p:cNvSpPr>
          <p:nvPr/>
        </p:nvSpPr>
        <p:spPr bwMode="auto">
          <a:xfrm>
            <a:off x="6574396" y="3821762"/>
            <a:ext cx="0" cy="97054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702" name="Text Box 133">
            <a:extLst>
              <a:ext uri="{FF2B5EF4-FFF2-40B4-BE49-F238E27FC236}">
                <a16:creationId xmlns:a16="http://schemas.microsoft.com/office/drawing/2014/main" id="{FFD4B6DE-506D-16A5-BF23-3AD39CB560E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70807" y="1686557"/>
            <a:ext cx="586990" cy="27698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1425" tIns="45713" rIns="91425" bIns="45713">
            <a:spAutoFit/>
          </a:bodyPr>
          <a:lstStyle>
            <a:lvl1pPr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1pPr>
            <a:lvl2pPr marL="742950" indent="-28575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2pPr>
            <a:lvl3pPr marL="11430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3pPr>
            <a:lvl4pPr marL="16002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4pPr>
            <a:lvl5pPr marL="20574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9pPr>
          </a:lstStyle>
          <a:p>
            <a:r>
              <a:rPr lang="en-US" altLang="zh-CN" sz="1200" b="0" dirty="0">
                <a:latin typeface="Arial" pitchFamily="34" charset="0"/>
                <a:ea typeface="SimHei" panose="02010609060101010101" pitchFamily="49" charset="-122"/>
              </a:rPr>
              <a:t>ID/EX</a:t>
            </a:r>
          </a:p>
        </p:txBody>
      </p:sp>
      <p:sp>
        <p:nvSpPr>
          <p:cNvPr id="703" name="Text Box 134">
            <a:extLst>
              <a:ext uri="{FF2B5EF4-FFF2-40B4-BE49-F238E27FC236}">
                <a16:creationId xmlns:a16="http://schemas.microsoft.com/office/drawing/2014/main" id="{0C39A121-9BF5-0288-4C35-BEB6BD89B6A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008019" y="1841576"/>
            <a:ext cx="792174" cy="27698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1425" tIns="45713" rIns="91425" bIns="45713">
            <a:spAutoFit/>
          </a:bodyPr>
          <a:lstStyle>
            <a:lvl1pPr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1pPr>
            <a:lvl2pPr marL="742950" indent="-28575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2pPr>
            <a:lvl3pPr marL="11430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3pPr>
            <a:lvl4pPr marL="16002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4pPr>
            <a:lvl5pPr marL="20574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9pPr>
          </a:lstStyle>
          <a:p>
            <a:r>
              <a:rPr lang="en-US" altLang="zh-CN" sz="1200" b="0" dirty="0">
                <a:latin typeface="Arial" pitchFamily="34" charset="0"/>
                <a:ea typeface="SimHei" panose="02010609060101010101" pitchFamily="49" charset="-122"/>
              </a:rPr>
              <a:t>EX/MEM</a:t>
            </a:r>
          </a:p>
        </p:txBody>
      </p:sp>
      <p:sp>
        <p:nvSpPr>
          <p:cNvPr id="704" name="Text Box 135">
            <a:extLst>
              <a:ext uri="{FF2B5EF4-FFF2-40B4-BE49-F238E27FC236}">
                <a16:creationId xmlns:a16="http://schemas.microsoft.com/office/drawing/2014/main" id="{6E4EE236-7F48-933A-05B6-FE3E1DB2BE7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77947" y="2535787"/>
            <a:ext cx="835455" cy="27698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1425" tIns="45713" rIns="91425" bIns="45713">
            <a:spAutoFit/>
          </a:bodyPr>
          <a:lstStyle>
            <a:lvl1pPr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1pPr>
            <a:lvl2pPr marL="742950" indent="-28575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2pPr>
            <a:lvl3pPr marL="11430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3pPr>
            <a:lvl4pPr marL="16002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4pPr>
            <a:lvl5pPr marL="20574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9pPr>
          </a:lstStyle>
          <a:p>
            <a:r>
              <a:rPr lang="en-US" altLang="zh-CN" sz="1200" b="0" dirty="0">
                <a:latin typeface="Arial" pitchFamily="34" charset="0"/>
                <a:ea typeface="SimHei" panose="02010609060101010101" pitchFamily="49" charset="-122"/>
              </a:rPr>
              <a:t>MEM/WB</a:t>
            </a:r>
          </a:p>
        </p:txBody>
      </p:sp>
      <p:sp>
        <p:nvSpPr>
          <p:cNvPr id="705" name="Rectangle 137">
            <a:extLst>
              <a:ext uri="{FF2B5EF4-FFF2-40B4-BE49-F238E27FC236}">
                <a16:creationId xmlns:a16="http://schemas.microsoft.com/office/drawing/2014/main" id="{87ACEEC7-C140-34E6-F993-147CCEF64ED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86104" y="2265750"/>
            <a:ext cx="141602" cy="194121"/>
          </a:xfrm>
          <a:prstGeom prst="rect">
            <a:avLst/>
          </a:prstGeom>
          <a:pattFill prst="wdUpDiag">
            <a:fgClr>
              <a:schemeClr val="accent6">
                <a:lumMod val="40000"/>
                <a:lumOff val="60000"/>
              </a:schemeClr>
            </a:fgClr>
            <a:bgClr>
              <a:schemeClr val="bg1"/>
            </a:bgClr>
          </a:pattFill>
          <a:ln w="19050">
            <a:solidFill>
              <a:srgbClr val="00B050"/>
            </a:solidFill>
            <a:miter lim="800000"/>
            <a:headEnd/>
            <a:tailEnd/>
          </a:ln>
          <a:effectLst/>
        </p:spPr>
        <p:txBody>
          <a:bodyPr wrap="none" anchor="ctr"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706" name="Rectangle 138">
            <a:extLst>
              <a:ext uri="{FF2B5EF4-FFF2-40B4-BE49-F238E27FC236}">
                <a16:creationId xmlns:a16="http://schemas.microsoft.com/office/drawing/2014/main" id="{88FEC8BE-16A8-36A6-C516-96CF89BCBF2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86104" y="2071628"/>
            <a:ext cx="141602" cy="194121"/>
          </a:xfrm>
          <a:prstGeom prst="rect">
            <a:avLst/>
          </a:prstGeom>
          <a:pattFill prst="wdUpDiag">
            <a:fgClr>
              <a:schemeClr val="accent6">
                <a:lumMod val="40000"/>
                <a:lumOff val="60000"/>
              </a:schemeClr>
            </a:fgClr>
            <a:bgClr>
              <a:schemeClr val="bg1"/>
            </a:bgClr>
          </a:pattFill>
          <a:ln w="19050">
            <a:solidFill>
              <a:srgbClr val="00B050"/>
            </a:solidFill>
            <a:miter lim="800000"/>
            <a:headEnd/>
            <a:tailEnd/>
          </a:ln>
          <a:effectLst/>
        </p:spPr>
        <p:txBody>
          <a:bodyPr wrap="none" anchor="ctr"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707" name="Rectangle 139">
            <a:extLst>
              <a:ext uri="{FF2B5EF4-FFF2-40B4-BE49-F238E27FC236}">
                <a16:creationId xmlns:a16="http://schemas.microsoft.com/office/drawing/2014/main" id="{5CA72C19-DB39-3473-062F-C7B65126B528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86104" y="1877507"/>
            <a:ext cx="141602" cy="194121"/>
          </a:xfrm>
          <a:prstGeom prst="rect">
            <a:avLst/>
          </a:prstGeom>
          <a:pattFill prst="wdUpDiag">
            <a:fgClr>
              <a:schemeClr val="accent6">
                <a:lumMod val="40000"/>
                <a:lumOff val="60000"/>
              </a:schemeClr>
            </a:fgClr>
            <a:bgClr>
              <a:schemeClr val="bg1"/>
            </a:bgClr>
          </a:pattFill>
          <a:ln w="19050">
            <a:solidFill>
              <a:srgbClr val="00B050"/>
            </a:solidFill>
            <a:miter lim="800000"/>
            <a:headEnd/>
            <a:tailEnd/>
          </a:ln>
          <a:effectLst/>
        </p:spPr>
        <p:txBody>
          <a:bodyPr wrap="none" anchor="ctr"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708" name="Rectangle 140">
            <a:extLst>
              <a:ext uri="{FF2B5EF4-FFF2-40B4-BE49-F238E27FC236}">
                <a16:creationId xmlns:a16="http://schemas.microsoft.com/office/drawing/2014/main" id="{41F5928D-5856-ED05-EACD-2D0DB6C9141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61590" y="2261462"/>
            <a:ext cx="141602" cy="194121"/>
          </a:xfrm>
          <a:prstGeom prst="rect">
            <a:avLst/>
          </a:prstGeom>
          <a:pattFill prst="wdUpDiag">
            <a:fgClr>
              <a:schemeClr val="accent6">
                <a:lumMod val="40000"/>
                <a:lumOff val="60000"/>
              </a:schemeClr>
            </a:fgClr>
            <a:bgClr>
              <a:schemeClr val="bg1"/>
            </a:bgClr>
          </a:pattFill>
          <a:ln w="19050">
            <a:solidFill>
              <a:srgbClr val="00B050"/>
            </a:solidFill>
            <a:miter lim="800000"/>
            <a:headEnd/>
            <a:tailEnd/>
          </a:ln>
          <a:effectLst/>
        </p:spPr>
        <p:txBody>
          <a:bodyPr wrap="none" anchor="ctr"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709" name="Rectangle 141">
            <a:extLst>
              <a:ext uri="{FF2B5EF4-FFF2-40B4-BE49-F238E27FC236}">
                <a16:creationId xmlns:a16="http://schemas.microsoft.com/office/drawing/2014/main" id="{9CBB3341-C50E-2968-1E60-1AFC9D1E9D7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61590" y="2067340"/>
            <a:ext cx="141602" cy="194121"/>
          </a:xfrm>
          <a:prstGeom prst="rect">
            <a:avLst/>
          </a:prstGeom>
          <a:pattFill prst="wdUpDiag">
            <a:fgClr>
              <a:schemeClr val="accent6">
                <a:lumMod val="40000"/>
                <a:lumOff val="60000"/>
              </a:schemeClr>
            </a:fgClr>
            <a:bgClr>
              <a:schemeClr val="bg1"/>
            </a:bgClr>
          </a:pattFill>
          <a:ln w="19050">
            <a:solidFill>
              <a:srgbClr val="00B050"/>
            </a:solidFill>
            <a:miter lim="800000"/>
            <a:headEnd/>
            <a:tailEnd/>
          </a:ln>
          <a:effectLst/>
        </p:spPr>
        <p:txBody>
          <a:bodyPr wrap="none" anchor="ctr"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710" name="Rectangle 142">
            <a:extLst>
              <a:ext uri="{FF2B5EF4-FFF2-40B4-BE49-F238E27FC236}">
                <a16:creationId xmlns:a16="http://schemas.microsoft.com/office/drawing/2014/main" id="{F1461632-8CEB-C617-AA28-1E50B2954862}"/>
              </a:ext>
            </a:extLst>
          </p:cNvPr>
          <p:cNvSpPr>
            <a:spLocks noChangeArrowheads="1"/>
          </p:cNvSpPr>
          <p:nvPr/>
        </p:nvSpPr>
        <p:spPr bwMode="auto">
          <a:xfrm>
            <a:off x="8060809" y="2779308"/>
            <a:ext cx="141602" cy="194121"/>
          </a:xfrm>
          <a:prstGeom prst="rect">
            <a:avLst/>
          </a:prstGeom>
          <a:pattFill prst="wdUpDiag">
            <a:fgClr>
              <a:schemeClr val="accent6">
                <a:lumMod val="40000"/>
                <a:lumOff val="60000"/>
              </a:schemeClr>
            </a:fgClr>
            <a:bgClr>
              <a:schemeClr val="bg1"/>
            </a:bgClr>
          </a:pattFill>
          <a:ln w="19050">
            <a:solidFill>
              <a:srgbClr val="00B050"/>
            </a:solidFill>
            <a:miter lim="800000"/>
            <a:headEnd/>
            <a:tailEnd/>
          </a:ln>
          <a:effectLst/>
        </p:spPr>
        <p:txBody>
          <a:bodyPr wrap="none" anchor="ctr"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711" name="Rectangle 143">
            <a:extLst>
              <a:ext uri="{FF2B5EF4-FFF2-40B4-BE49-F238E27FC236}">
                <a16:creationId xmlns:a16="http://schemas.microsoft.com/office/drawing/2014/main" id="{7B4D152A-0D98-404B-CB59-F69BB8D0DBA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08790" y="2083503"/>
            <a:ext cx="495606" cy="25882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19047" tIns="26984" rIns="19047" bIns="26984"/>
          <a:lstStyle/>
          <a:p>
            <a:pPr algn="ctr" eaLnBrk="0" hangingPunct="0"/>
            <a:r>
              <a:rPr lang="en-US" altLang="zh-CN" sz="1200" dirty="0">
                <a:solidFill>
                  <a:srgbClr val="00B050"/>
                </a:solidFill>
                <a:latin typeface="Arial" pitchFamily="34" charset="0"/>
                <a:ea typeface="SimHei" panose="02010609060101010101" pitchFamily="49" charset="-122"/>
              </a:rPr>
              <a:t>Control</a:t>
            </a:r>
          </a:p>
        </p:txBody>
      </p:sp>
      <p:sp>
        <p:nvSpPr>
          <p:cNvPr id="712" name="Oval 144">
            <a:extLst>
              <a:ext uri="{FF2B5EF4-FFF2-40B4-BE49-F238E27FC236}">
                <a16:creationId xmlns:a16="http://schemas.microsoft.com/office/drawing/2014/main" id="{CD42DD1D-5B85-1E57-A67D-110475D5603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72705" y="1925080"/>
            <a:ext cx="583741" cy="587588"/>
          </a:xfrm>
          <a:prstGeom prst="ellipse">
            <a:avLst/>
          </a:prstGeom>
          <a:noFill/>
          <a:ln w="19050">
            <a:solidFill>
              <a:srgbClr val="00B05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713" name="Line 145">
            <a:extLst>
              <a:ext uri="{FF2B5EF4-FFF2-40B4-BE49-F238E27FC236}">
                <a16:creationId xmlns:a16="http://schemas.microsoft.com/office/drawing/2014/main" id="{BA6788D5-FAAC-D946-294C-2E808E2A0B91}"/>
              </a:ext>
            </a:extLst>
          </p:cNvPr>
          <p:cNvSpPr>
            <a:spLocks noChangeShapeType="1"/>
          </p:cNvSpPr>
          <p:nvPr/>
        </p:nvSpPr>
        <p:spPr bwMode="auto">
          <a:xfrm>
            <a:off x="2554285" y="2408225"/>
            <a:ext cx="0" cy="841192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714" name="Line 146">
            <a:extLst>
              <a:ext uri="{FF2B5EF4-FFF2-40B4-BE49-F238E27FC236}">
                <a16:creationId xmlns:a16="http://schemas.microsoft.com/office/drawing/2014/main" id="{6A4895CE-E361-CE1A-EAD2-12495741A0DC}"/>
              </a:ext>
            </a:extLst>
          </p:cNvPr>
          <p:cNvSpPr>
            <a:spLocks noChangeShapeType="1"/>
          </p:cNvSpPr>
          <p:nvPr/>
        </p:nvSpPr>
        <p:spPr bwMode="auto">
          <a:xfrm>
            <a:off x="2554285" y="2408225"/>
            <a:ext cx="687836" cy="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715" name="Line 147">
            <a:extLst>
              <a:ext uri="{FF2B5EF4-FFF2-40B4-BE49-F238E27FC236}">
                <a16:creationId xmlns:a16="http://schemas.microsoft.com/office/drawing/2014/main" id="{1C3F677B-28E3-6F0B-FB3B-ED5360117D41}"/>
              </a:ext>
            </a:extLst>
          </p:cNvPr>
          <p:cNvSpPr>
            <a:spLocks noChangeShapeType="1"/>
          </p:cNvSpPr>
          <p:nvPr/>
        </p:nvSpPr>
        <p:spPr bwMode="auto">
          <a:xfrm>
            <a:off x="3617590" y="1970280"/>
            <a:ext cx="565114" cy="0"/>
          </a:xfrm>
          <a:prstGeom prst="line">
            <a:avLst/>
          </a:prstGeom>
          <a:noFill/>
          <a:ln w="12700">
            <a:solidFill>
              <a:srgbClr val="00B05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716" name="Line 148">
            <a:extLst>
              <a:ext uri="{FF2B5EF4-FFF2-40B4-BE49-F238E27FC236}">
                <a16:creationId xmlns:a16="http://schemas.microsoft.com/office/drawing/2014/main" id="{F192D298-46AF-DE40-5462-5F68F85156D4}"/>
              </a:ext>
            </a:extLst>
          </p:cNvPr>
          <p:cNvSpPr>
            <a:spLocks noChangeShapeType="1"/>
          </p:cNvSpPr>
          <p:nvPr/>
        </p:nvSpPr>
        <p:spPr bwMode="auto">
          <a:xfrm>
            <a:off x="3757899" y="2164401"/>
            <a:ext cx="424805" cy="0"/>
          </a:xfrm>
          <a:prstGeom prst="line">
            <a:avLst/>
          </a:prstGeom>
          <a:noFill/>
          <a:ln w="12700">
            <a:solidFill>
              <a:srgbClr val="00B05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717" name="Line 149">
            <a:extLst>
              <a:ext uri="{FF2B5EF4-FFF2-40B4-BE49-F238E27FC236}">
                <a16:creationId xmlns:a16="http://schemas.microsoft.com/office/drawing/2014/main" id="{DFF3CA6C-D26C-2990-3A06-5AB73642B304}"/>
              </a:ext>
            </a:extLst>
          </p:cNvPr>
          <p:cNvSpPr>
            <a:spLocks noChangeShapeType="1"/>
          </p:cNvSpPr>
          <p:nvPr/>
        </p:nvSpPr>
        <p:spPr bwMode="auto">
          <a:xfrm>
            <a:off x="3722499" y="2358523"/>
            <a:ext cx="460205" cy="0"/>
          </a:xfrm>
          <a:prstGeom prst="line">
            <a:avLst/>
          </a:prstGeom>
          <a:noFill/>
          <a:ln w="12700">
            <a:solidFill>
              <a:srgbClr val="00B05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718" name="Line 150">
            <a:extLst>
              <a:ext uri="{FF2B5EF4-FFF2-40B4-BE49-F238E27FC236}">
                <a16:creationId xmlns:a16="http://schemas.microsoft.com/office/drawing/2014/main" id="{023B5BDC-6208-F45B-60D0-DB2596543E71}"/>
              </a:ext>
            </a:extLst>
          </p:cNvPr>
          <p:cNvSpPr>
            <a:spLocks noChangeShapeType="1"/>
          </p:cNvSpPr>
          <p:nvPr/>
        </p:nvSpPr>
        <p:spPr bwMode="auto">
          <a:xfrm>
            <a:off x="6503192" y="2358523"/>
            <a:ext cx="1557618" cy="452950"/>
          </a:xfrm>
          <a:prstGeom prst="line">
            <a:avLst/>
          </a:prstGeom>
          <a:noFill/>
          <a:ln w="12700">
            <a:solidFill>
              <a:srgbClr val="00B05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719" name="Line 151">
            <a:extLst>
              <a:ext uri="{FF2B5EF4-FFF2-40B4-BE49-F238E27FC236}">
                <a16:creationId xmlns:a16="http://schemas.microsoft.com/office/drawing/2014/main" id="{518DDCA2-4B84-381D-067D-DE2BC18BF32D}"/>
              </a:ext>
            </a:extLst>
          </p:cNvPr>
          <p:cNvSpPr>
            <a:spLocks noChangeShapeType="1"/>
          </p:cNvSpPr>
          <p:nvPr/>
        </p:nvSpPr>
        <p:spPr bwMode="auto">
          <a:xfrm>
            <a:off x="4324305" y="2358523"/>
            <a:ext cx="2049466" cy="0"/>
          </a:xfrm>
          <a:prstGeom prst="line">
            <a:avLst/>
          </a:prstGeom>
          <a:noFill/>
          <a:ln w="12700">
            <a:solidFill>
              <a:srgbClr val="00B05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720" name="Line 152">
            <a:extLst>
              <a:ext uri="{FF2B5EF4-FFF2-40B4-BE49-F238E27FC236}">
                <a16:creationId xmlns:a16="http://schemas.microsoft.com/office/drawing/2014/main" id="{F4C68953-5E32-3E4F-9FFB-D832A01522F3}"/>
              </a:ext>
            </a:extLst>
          </p:cNvPr>
          <p:cNvSpPr>
            <a:spLocks noChangeShapeType="1"/>
          </p:cNvSpPr>
          <p:nvPr/>
        </p:nvSpPr>
        <p:spPr bwMode="auto">
          <a:xfrm>
            <a:off x="4324305" y="2164401"/>
            <a:ext cx="2037285" cy="0"/>
          </a:xfrm>
          <a:prstGeom prst="line">
            <a:avLst/>
          </a:prstGeom>
          <a:noFill/>
          <a:ln w="12700">
            <a:solidFill>
              <a:srgbClr val="00B05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721" name="Line 154">
            <a:extLst>
              <a:ext uri="{FF2B5EF4-FFF2-40B4-BE49-F238E27FC236}">
                <a16:creationId xmlns:a16="http://schemas.microsoft.com/office/drawing/2014/main" id="{DD3E6531-6468-8959-D76D-B86A6B4B6F58}"/>
              </a:ext>
            </a:extLst>
          </p:cNvPr>
          <p:cNvSpPr>
            <a:spLocks noChangeShapeType="1"/>
          </p:cNvSpPr>
          <p:nvPr/>
        </p:nvSpPr>
        <p:spPr bwMode="auto">
          <a:xfrm>
            <a:off x="8556415" y="2876181"/>
            <a:ext cx="0" cy="258828"/>
          </a:xfrm>
          <a:prstGeom prst="line">
            <a:avLst/>
          </a:prstGeom>
          <a:noFill/>
          <a:ln w="12700">
            <a:solidFill>
              <a:srgbClr val="00B05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722" name="Line 155">
            <a:extLst>
              <a:ext uri="{FF2B5EF4-FFF2-40B4-BE49-F238E27FC236}">
                <a16:creationId xmlns:a16="http://schemas.microsoft.com/office/drawing/2014/main" id="{E29ED9AB-71C6-9F15-3557-C7745BE7E3CC}"/>
              </a:ext>
            </a:extLst>
          </p:cNvPr>
          <p:cNvSpPr>
            <a:spLocks noChangeShapeType="1"/>
          </p:cNvSpPr>
          <p:nvPr/>
        </p:nvSpPr>
        <p:spPr bwMode="auto">
          <a:xfrm>
            <a:off x="6503192" y="2164401"/>
            <a:ext cx="323304" cy="0"/>
          </a:xfrm>
          <a:prstGeom prst="line">
            <a:avLst/>
          </a:prstGeom>
          <a:noFill/>
          <a:ln w="12700">
            <a:solidFill>
              <a:srgbClr val="00B05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723" name="Line 156">
            <a:extLst>
              <a:ext uri="{FF2B5EF4-FFF2-40B4-BE49-F238E27FC236}">
                <a16:creationId xmlns:a16="http://schemas.microsoft.com/office/drawing/2014/main" id="{0703D524-6D90-2818-6490-AC5A7B59959E}"/>
              </a:ext>
            </a:extLst>
          </p:cNvPr>
          <p:cNvSpPr>
            <a:spLocks noChangeShapeType="1"/>
          </p:cNvSpPr>
          <p:nvPr/>
        </p:nvSpPr>
        <p:spPr bwMode="auto">
          <a:xfrm>
            <a:off x="8202411" y="2876181"/>
            <a:ext cx="354004" cy="0"/>
          </a:xfrm>
          <a:prstGeom prst="line">
            <a:avLst/>
          </a:prstGeom>
          <a:noFill/>
          <a:ln w="12700">
            <a:solidFill>
              <a:srgbClr val="00B05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724" name="Line 157">
            <a:extLst>
              <a:ext uri="{FF2B5EF4-FFF2-40B4-BE49-F238E27FC236}">
                <a16:creationId xmlns:a16="http://schemas.microsoft.com/office/drawing/2014/main" id="{69448EC2-A50C-2BFC-13EE-869CFE0C8AC9}"/>
              </a:ext>
            </a:extLst>
          </p:cNvPr>
          <p:cNvSpPr>
            <a:spLocks noChangeShapeType="1"/>
          </p:cNvSpPr>
          <p:nvPr/>
        </p:nvSpPr>
        <p:spPr bwMode="auto">
          <a:xfrm>
            <a:off x="6826496" y="2164400"/>
            <a:ext cx="0" cy="129414"/>
          </a:xfrm>
          <a:prstGeom prst="line">
            <a:avLst/>
          </a:prstGeom>
          <a:noFill/>
          <a:ln w="12700">
            <a:solidFill>
              <a:srgbClr val="00B05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725" name="Rectangle 40">
            <a:extLst>
              <a:ext uri="{FF2B5EF4-FFF2-40B4-BE49-F238E27FC236}">
                <a16:creationId xmlns:a16="http://schemas.microsoft.com/office/drawing/2014/main" id="{8070B8A3-AB7C-3545-08D8-087D0F753BEA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8428416" y="3724707"/>
            <a:ext cx="148229" cy="57136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19047" tIns="26984" rIns="19047" bIns="26984"/>
          <a:lstStyle/>
          <a:p>
            <a:pPr eaLnBrk="0" hangingPunct="0">
              <a:spcBef>
                <a:spcPts val="600"/>
              </a:spcBef>
              <a:spcAft>
                <a:spcPts val="600"/>
              </a:spcAft>
            </a:pPr>
            <a:r>
              <a:rPr lang="en-US" altLang="zh-CN" sz="1200" dirty="0">
                <a:latin typeface="Arial" pitchFamily="34" charset="0"/>
                <a:ea typeface="SimHei" panose="02010609060101010101" pitchFamily="49" charset="-122"/>
              </a:rPr>
              <a:t>1</a:t>
            </a:r>
          </a:p>
          <a:p>
            <a:pPr eaLnBrk="0" hangingPunct="0">
              <a:spcBef>
                <a:spcPts val="600"/>
              </a:spcBef>
              <a:spcAft>
                <a:spcPts val="600"/>
              </a:spcAft>
            </a:pPr>
            <a:r>
              <a:rPr lang="en-US" altLang="zh-CN" sz="1200" dirty="0">
                <a:latin typeface="Arial" pitchFamily="34" charset="0"/>
                <a:ea typeface="SimHei" panose="02010609060101010101" pitchFamily="49" charset="-122"/>
              </a:rPr>
              <a:t>0</a:t>
            </a:r>
          </a:p>
        </p:txBody>
      </p:sp>
      <p:sp>
        <p:nvSpPr>
          <p:cNvPr id="726" name="Line 118">
            <a:extLst>
              <a:ext uri="{FF2B5EF4-FFF2-40B4-BE49-F238E27FC236}">
                <a16:creationId xmlns:a16="http://schemas.microsoft.com/office/drawing/2014/main" id="{D46C3B9F-ED54-A460-7689-D3BF1E464522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368281" y="4166220"/>
            <a:ext cx="115611" cy="525875"/>
          </a:xfrm>
          <a:prstGeom prst="line">
            <a:avLst/>
          </a:prstGeom>
          <a:noFill/>
          <a:ln w="28575" cap="rnd">
            <a:solidFill>
              <a:schemeClr val="tx1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727" name="Line 13">
            <a:extLst>
              <a:ext uri="{FF2B5EF4-FFF2-40B4-BE49-F238E27FC236}">
                <a16:creationId xmlns:a16="http://schemas.microsoft.com/office/drawing/2014/main" id="{0242FC56-104C-1E13-331B-44B5773DC8A3}"/>
              </a:ext>
            </a:extLst>
          </p:cNvPr>
          <p:cNvSpPr>
            <a:spLocks noChangeShapeType="1"/>
          </p:cNvSpPr>
          <p:nvPr/>
        </p:nvSpPr>
        <p:spPr bwMode="auto">
          <a:xfrm>
            <a:off x="8627513" y="3951169"/>
            <a:ext cx="141594" cy="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728" name="Line 110">
            <a:extLst>
              <a:ext uri="{FF2B5EF4-FFF2-40B4-BE49-F238E27FC236}">
                <a16:creationId xmlns:a16="http://schemas.microsoft.com/office/drawing/2014/main" id="{F2F0F471-8F55-96A4-7616-ACBB46488CEC}"/>
              </a:ext>
            </a:extLst>
          </p:cNvPr>
          <p:cNvSpPr>
            <a:spLocks noChangeShapeType="1"/>
          </p:cNvSpPr>
          <p:nvPr/>
        </p:nvSpPr>
        <p:spPr bwMode="auto">
          <a:xfrm>
            <a:off x="2554285" y="5051121"/>
            <a:ext cx="0" cy="220715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729" name="Line 8">
            <a:extLst>
              <a:ext uri="{FF2B5EF4-FFF2-40B4-BE49-F238E27FC236}">
                <a16:creationId xmlns:a16="http://schemas.microsoft.com/office/drawing/2014/main" id="{E64B83FB-3914-5874-457B-0919D307AFFE}"/>
              </a:ext>
            </a:extLst>
          </p:cNvPr>
          <p:cNvSpPr>
            <a:spLocks noChangeShapeType="1"/>
          </p:cNvSpPr>
          <p:nvPr/>
        </p:nvSpPr>
        <p:spPr bwMode="auto">
          <a:xfrm>
            <a:off x="2554285" y="5268566"/>
            <a:ext cx="1628334" cy="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730" name="Line 9">
            <a:extLst>
              <a:ext uri="{FF2B5EF4-FFF2-40B4-BE49-F238E27FC236}">
                <a16:creationId xmlns:a16="http://schemas.microsoft.com/office/drawing/2014/main" id="{1FF87EBA-4B0C-58B2-8DD3-C891C2BDBC14}"/>
              </a:ext>
            </a:extLst>
          </p:cNvPr>
          <p:cNvSpPr>
            <a:spLocks noChangeShapeType="1"/>
          </p:cNvSpPr>
          <p:nvPr/>
        </p:nvSpPr>
        <p:spPr bwMode="auto">
          <a:xfrm>
            <a:off x="4330717" y="5268566"/>
            <a:ext cx="1602106" cy="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731" name="AutoShape 67">
            <a:extLst>
              <a:ext uri="{FF2B5EF4-FFF2-40B4-BE49-F238E27FC236}">
                <a16:creationId xmlns:a16="http://schemas.microsoft.com/office/drawing/2014/main" id="{60CF2A1E-3E92-07BA-87EF-228136EF5AE1}"/>
              </a:ext>
            </a:extLst>
          </p:cNvPr>
          <p:cNvSpPr>
            <a:spLocks noChangeArrowheads="1"/>
          </p:cNvSpPr>
          <p:nvPr/>
        </p:nvSpPr>
        <p:spPr bwMode="auto">
          <a:xfrm rot="16200000">
            <a:off x="5775075" y="5004310"/>
            <a:ext cx="527012" cy="220622"/>
          </a:xfrm>
          <a:custGeom>
            <a:avLst/>
            <a:gdLst>
              <a:gd name="T0" fmla="*/ 9 w 21600"/>
              <a:gd name="T1" fmla="*/ 0 h 21600"/>
              <a:gd name="T2" fmla="*/ 5 w 21600"/>
              <a:gd name="T3" fmla="*/ 1 h 21600"/>
              <a:gd name="T4" fmla="*/ 1 w 21600"/>
              <a:gd name="T5" fmla="*/ 0 h 21600"/>
              <a:gd name="T6" fmla="*/ 5 w 21600"/>
              <a:gd name="T7" fmla="*/ 0 h 21600"/>
              <a:gd name="T8" fmla="*/ 0 60000 65536"/>
              <a:gd name="T9" fmla="*/ 0 60000 65536"/>
              <a:gd name="T10" fmla="*/ 0 60000 65536"/>
              <a:gd name="T11" fmla="*/ 0 60000 65536"/>
              <a:gd name="T12" fmla="*/ 4500 w 21600"/>
              <a:gd name="T13" fmla="*/ 4500 h 21600"/>
              <a:gd name="T14" fmla="*/ 17100 w 21600"/>
              <a:gd name="T15" fmla="*/ 17100 h 21600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21600" h="21600">
                <a:moveTo>
                  <a:pt x="0" y="0"/>
                </a:moveTo>
                <a:lnTo>
                  <a:pt x="5400" y="21600"/>
                </a:lnTo>
                <a:lnTo>
                  <a:pt x="16200" y="21600"/>
                </a:lnTo>
                <a:lnTo>
                  <a:pt x="21600" y="0"/>
                </a:lnTo>
                <a:lnTo>
                  <a:pt x="0" y="0"/>
                </a:lnTo>
                <a:close/>
              </a:path>
            </a:pathLst>
          </a:custGeom>
          <a:noFill/>
          <a:ln w="19050">
            <a:solidFill>
              <a:schemeClr val="tx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732" name="Rectangle 70">
            <a:extLst>
              <a:ext uri="{FF2B5EF4-FFF2-40B4-BE49-F238E27FC236}">
                <a16:creationId xmlns:a16="http://schemas.microsoft.com/office/drawing/2014/main" id="{4C4DA5D1-E003-0461-2059-F3FA070D25CB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23285" y="4842130"/>
            <a:ext cx="110574" cy="56437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19047" tIns="26984" rIns="19047" bIns="26984"/>
          <a:lstStyle/>
          <a:p>
            <a:pPr eaLnBrk="0" hangingPunct="0">
              <a:spcBef>
                <a:spcPts val="600"/>
              </a:spcBef>
              <a:spcAft>
                <a:spcPts val="600"/>
              </a:spcAft>
            </a:pPr>
            <a:r>
              <a:rPr lang="en-US" altLang="zh-CN" sz="1200" dirty="0">
                <a:latin typeface="Arial" pitchFamily="34" charset="0"/>
                <a:ea typeface="SimHei" panose="02010609060101010101" pitchFamily="49" charset="-122"/>
              </a:rPr>
              <a:t>0</a:t>
            </a:r>
          </a:p>
          <a:p>
            <a:pPr eaLnBrk="0" hangingPunct="0">
              <a:spcBef>
                <a:spcPts val="600"/>
              </a:spcBef>
              <a:spcAft>
                <a:spcPts val="600"/>
              </a:spcAft>
            </a:pPr>
            <a:r>
              <a:rPr lang="en-US" altLang="zh-CN" sz="1200" dirty="0">
                <a:latin typeface="Arial" pitchFamily="34" charset="0"/>
                <a:ea typeface="SimHei" panose="02010609060101010101" pitchFamily="49" charset="-122"/>
              </a:rPr>
              <a:t>1</a:t>
            </a:r>
          </a:p>
        </p:txBody>
      </p:sp>
      <p:sp>
        <p:nvSpPr>
          <p:cNvPr id="733" name="Line 10">
            <a:extLst>
              <a:ext uri="{FF2B5EF4-FFF2-40B4-BE49-F238E27FC236}">
                <a16:creationId xmlns:a16="http://schemas.microsoft.com/office/drawing/2014/main" id="{9DBA6BB2-7BAD-33C3-2F79-066112F30F03}"/>
              </a:ext>
            </a:extLst>
          </p:cNvPr>
          <p:cNvSpPr>
            <a:spLocks noChangeShapeType="1"/>
          </p:cNvSpPr>
          <p:nvPr/>
        </p:nvSpPr>
        <p:spPr bwMode="auto">
          <a:xfrm>
            <a:off x="6155497" y="5051121"/>
            <a:ext cx="200625" cy="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734" name="Line 153">
            <a:extLst>
              <a:ext uri="{FF2B5EF4-FFF2-40B4-BE49-F238E27FC236}">
                <a16:creationId xmlns:a16="http://schemas.microsoft.com/office/drawing/2014/main" id="{AF511566-E49D-CB50-43BD-C86E71E9AF5D}"/>
              </a:ext>
            </a:extLst>
          </p:cNvPr>
          <p:cNvSpPr>
            <a:spLocks noChangeShapeType="1"/>
          </p:cNvSpPr>
          <p:nvPr/>
        </p:nvSpPr>
        <p:spPr bwMode="auto">
          <a:xfrm>
            <a:off x="3617590" y="2462274"/>
            <a:ext cx="312768" cy="0"/>
          </a:xfrm>
          <a:prstGeom prst="line">
            <a:avLst/>
          </a:prstGeom>
          <a:noFill/>
          <a:ln w="12700">
            <a:solidFill>
              <a:srgbClr val="00B05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735" name="Line 158">
            <a:extLst>
              <a:ext uri="{FF2B5EF4-FFF2-40B4-BE49-F238E27FC236}">
                <a16:creationId xmlns:a16="http://schemas.microsoft.com/office/drawing/2014/main" id="{D1578A39-D4B8-5447-238D-CA0AD204068C}"/>
              </a:ext>
            </a:extLst>
          </p:cNvPr>
          <p:cNvSpPr>
            <a:spLocks noChangeShapeType="1"/>
          </p:cNvSpPr>
          <p:nvPr/>
        </p:nvSpPr>
        <p:spPr bwMode="auto">
          <a:xfrm>
            <a:off x="3926629" y="2460861"/>
            <a:ext cx="0" cy="109724"/>
          </a:xfrm>
          <a:prstGeom prst="line">
            <a:avLst/>
          </a:prstGeom>
          <a:noFill/>
          <a:ln w="12700">
            <a:solidFill>
              <a:srgbClr val="00B05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736" name="Text Box 30">
            <a:extLst>
              <a:ext uri="{FF2B5EF4-FFF2-40B4-BE49-F238E27FC236}">
                <a16:creationId xmlns:a16="http://schemas.microsoft.com/office/drawing/2014/main" id="{E57FB7A2-0A26-652C-2BFA-2802D8D6635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22383" y="2928858"/>
            <a:ext cx="500428" cy="27698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1425" tIns="45713" rIns="91425" bIns="45713">
            <a:spAutoFit/>
          </a:bodyPr>
          <a:lstStyle>
            <a:lvl1pPr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1pPr>
            <a:lvl2pPr marL="742950" indent="-28575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2pPr>
            <a:lvl3pPr marL="11430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3pPr>
            <a:lvl4pPr marL="16002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4pPr>
            <a:lvl5pPr marL="20574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9pPr>
          </a:lstStyle>
          <a:p>
            <a:r>
              <a:rPr lang="en-US" altLang="zh-CN" sz="1200" b="0" dirty="0">
                <a:latin typeface="Arial" pitchFamily="34" charset="0"/>
                <a:ea typeface="SimHei" panose="02010609060101010101" pitchFamily="49" charset="-122"/>
              </a:rPr>
              <a:t>Zero</a:t>
            </a:r>
          </a:p>
        </p:txBody>
      </p:sp>
      <p:sp>
        <p:nvSpPr>
          <p:cNvPr id="737" name="流程图: 延期 736">
            <a:extLst>
              <a:ext uri="{FF2B5EF4-FFF2-40B4-BE49-F238E27FC236}">
                <a16:creationId xmlns:a16="http://schemas.microsoft.com/office/drawing/2014/main" id="{E42BC312-92F8-4775-C82C-8F21DD2D8646}"/>
              </a:ext>
            </a:extLst>
          </p:cNvPr>
          <p:cNvSpPr/>
          <p:nvPr/>
        </p:nvSpPr>
        <p:spPr>
          <a:xfrm rot="16200000">
            <a:off x="7073458" y="1609120"/>
            <a:ext cx="384834" cy="355717"/>
          </a:xfrm>
          <a:prstGeom prst="flowChartDelay">
            <a:avLst/>
          </a:prstGeom>
          <a:noFill/>
          <a:ln w="19050"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738" name="Line 124">
            <a:extLst>
              <a:ext uri="{FF2B5EF4-FFF2-40B4-BE49-F238E27FC236}">
                <a16:creationId xmlns:a16="http://schemas.microsoft.com/office/drawing/2014/main" id="{FCC9D89B-6A86-9065-D7EE-6EB14079B9A8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7167985" y="1982780"/>
            <a:ext cx="0" cy="115222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 type="none" w="med" len="med"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739" name="Line 124">
            <a:extLst>
              <a:ext uri="{FF2B5EF4-FFF2-40B4-BE49-F238E27FC236}">
                <a16:creationId xmlns:a16="http://schemas.microsoft.com/office/drawing/2014/main" id="{B6389300-F0BF-9994-3579-FD4505023FEF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7341420" y="1978731"/>
            <a:ext cx="0" cy="250376"/>
          </a:xfrm>
          <a:prstGeom prst="line">
            <a:avLst/>
          </a:prstGeom>
          <a:noFill/>
          <a:ln w="12700">
            <a:solidFill>
              <a:srgbClr val="00B050"/>
            </a:solidFill>
            <a:round/>
            <a:headEnd type="none" w="med" len="med"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740" name="Text Box 30">
            <a:extLst>
              <a:ext uri="{FF2B5EF4-FFF2-40B4-BE49-F238E27FC236}">
                <a16:creationId xmlns:a16="http://schemas.microsoft.com/office/drawing/2014/main" id="{2D30BCDC-C237-140E-36CF-9816AA406C9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287565" y="2107113"/>
            <a:ext cx="670346" cy="27698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1425" tIns="45713" rIns="91425" bIns="45713">
            <a:spAutoFit/>
          </a:bodyPr>
          <a:lstStyle>
            <a:lvl1pPr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1pPr>
            <a:lvl2pPr marL="742950" indent="-28575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2pPr>
            <a:lvl3pPr marL="11430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3pPr>
            <a:lvl4pPr marL="16002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4pPr>
            <a:lvl5pPr marL="20574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9pPr>
          </a:lstStyle>
          <a:p>
            <a:r>
              <a:rPr lang="en-US" altLang="zh-CN" sz="1200" b="0" dirty="0">
                <a:solidFill>
                  <a:srgbClr val="00B050"/>
                </a:solidFill>
                <a:latin typeface="Arial" pitchFamily="34" charset="0"/>
                <a:ea typeface="SimHei" panose="02010609060101010101" pitchFamily="49" charset="-122"/>
              </a:rPr>
              <a:t>Branch</a:t>
            </a:r>
          </a:p>
        </p:txBody>
      </p:sp>
      <p:sp>
        <p:nvSpPr>
          <p:cNvPr id="741" name="Line 153">
            <a:extLst>
              <a:ext uri="{FF2B5EF4-FFF2-40B4-BE49-F238E27FC236}">
                <a16:creationId xmlns:a16="http://schemas.microsoft.com/office/drawing/2014/main" id="{4D3B7AD9-2513-EAB7-55D6-3D3965C182EC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422769" y="2876181"/>
            <a:ext cx="0" cy="231357"/>
          </a:xfrm>
          <a:prstGeom prst="line">
            <a:avLst/>
          </a:prstGeom>
          <a:noFill/>
          <a:ln w="12700">
            <a:solidFill>
              <a:srgbClr val="00B05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742" name="Text Box 30">
            <a:extLst>
              <a:ext uri="{FF2B5EF4-FFF2-40B4-BE49-F238E27FC236}">
                <a16:creationId xmlns:a16="http://schemas.microsoft.com/office/drawing/2014/main" id="{FAFC8022-3846-37B5-CF5D-15CC0103DA4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79449" y="2737305"/>
            <a:ext cx="659574" cy="27698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1425" tIns="45713" rIns="91425" bIns="45713">
            <a:spAutoFit/>
          </a:bodyPr>
          <a:lstStyle>
            <a:lvl1pPr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1pPr>
            <a:lvl2pPr marL="742950" indent="-28575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2pPr>
            <a:lvl3pPr marL="11430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3pPr>
            <a:lvl4pPr marL="16002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4pPr>
            <a:lvl5pPr marL="20574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9pPr>
          </a:lstStyle>
          <a:p>
            <a:r>
              <a:rPr lang="en-US" altLang="zh-CN" sz="1200" b="0" dirty="0" err="1">
                <a:solidFill>
                  <a:srgbClr val="00B050"/>
                </a:solidFill>
                <a:latin typeface="Arial" pitchFamily="34" charset="0"/>
                <a:ea typeface="SimHei" panose="02010609060101010101" pitchFamily="49" charset="-122"/>
              </a:rPr>
              <a:t>RegWr</a:t>
            </a:r>
            <a:endParaRPr lang="en-US" altLang="zh-CN" sz="1200" b="0" dirty="0">
              <a:solidFill>
                <a:srgbClr val="00B050"/>
              </a:solidFill>
              <a:latin typeface="Arial" pitchFamily="34" charset="0"/>
              <a:ea typeface="SimHei" panose="02010609060101010101" pitchFamily="49" charset="-122"/>
            </a:endParaRPr>
          </a:p>
        </p:txBody>
      </p:sp>
      <p:sp>
        <p:nvSpPr>
          <p:cNvPr id="743" name="Line 153">
            <a:extLst>
              <a:ext uri="{FF2B5EF4-FFF2-40B4-BE49-F238E27FC236}">
                <a16:creationId xmlns:a16="http://schemas.microsoft.com/office/drawing/2014/main" id="{EF0B7AB1-1480-FB54-23E0-5DC09D76A81A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7267595" y="1357840"/>
            <a:ext cx="0" cy="236722"/>
          </a:xfrm>
          <a:prstGeom prst="line">
            <a:avLst/>
          </a:prstGeom>
          <a:noFill/>
          <a:ln w="12700">
            <a:solidFill>
              <a:srgbClr val="00B05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744" name="Line 153">
            <a:extLst>
              <a:ext uri="{FF2B5EF4-FFF2-40B4-BE49-F238E27FC236}">
                <a16:creationId xmlns:a16="http://schemas.microsoft.com/office/drawing/2014/main" id="{65E2E24E-F625-6FD6-B9B3-86673EE1FB60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1070295" y="1357838"/>
            <a:ext cx="6195579" cy="0"/>
          </a:xfrm>
          <a:prstGeom prst="line">
            <a:avLst/>
          </a:prstGeom>
          <a:noFill/>
          <a:ln w="12700">
            <a:solidFill>
              <a:srgbClr val="00B05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745" name="Line 153">
            <a:extLst>
              <a:ext uri="{FF2B5EF4-FFF2-40B4-BE49-F238E27FC236}">
                <a16:creationId xmlns:a16="http://schemas.microsoft.com/office/drawing/2014/main" id="{5AB62462-1E2C-DCCF-286B-DA07533BEBFA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1070295" y="1357837"/>
            <a:ext cx="0" cy="162025"/>
          </a:xfrm>
          <a:prstGeom prst="line">
            <a:avLst/>
          </a:prstGeom>
          <a:noFill/>
          <a:ln w="12700">
            <a:solidFill>
              <a:srgbClr val="00B05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746" name="Text Box 30">
            <a:extLst>
              <a:ext uri="{FF2B5EF4-FFF2-40B4-BE49-F238E27FC236}">
                <a16:creationId xmlns:a16="http://schemas.microsoft.com/office/drawing/2014/main" id="{2EF8C161-044F-96DA-8577-F420F0B67FC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617950" y="1139506"/>
            <a:ext cx="628668" cy="27698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1425" tIns="45713" rIns="91425" bIns="45713">
            <a:spAutoFit/>
          </a:bodyPr>
          <a:lstStyle>
            <a:lvl1pPr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1pPr>
            <a:lvl2pPr marL="742950" indent="-28575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2pPr>
            <a:lvl3pPr marL="11430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3pPr>
            <a:lvl4pPr marL="16002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4pPr>
            <a:lvl5pPr marL="20574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9pPr>
          </a:lstStyle>
          <a:p>
            <a:r>
              <a:rPr lang="en-US" altLang="zh-CN" sz="1200" b="0" dirty="0" err="1">
                <a:solidFill>
                  <a:srgbClr val="00B050"/>
                </a:solidFill>
                <a:latin typeface="Arial" pitchFamily="34" charset="0"/>
                <a:ea typeface="SimHei" panose="02010609060101010101" pitchFamily="49" charset="-122"/>
              </a:rPr>
              <a:t>PCSrc</a:t>
            </a:r>
            <a:endParaRPr lang="en-US" altLang="zh-CN" sz="1200" b="0" dirty="0">
              <a:solidFill>
                <a:srgbClr val="00B050"/>
              </a:solidFill>
              <a:latin typeface="Arial" pitchFamily="34" charset="0"/>
              <a:ea typeface="SimHei" panose="02010609060101010101" pitchFamily="49" charset="-122"/>
            </a:endParaRPr>
          </a:p>
        </p:txBody>
      </p:sp>
      <p:sp>
        <p:nvSpPr>
          <p:cNvPr id="747" name="Line 153">
            <a:extLst>
              <a:ext uri="{FF2B5EF4-FFF2-40B4-BE49-F238E27FC236}">
                <a16:creationId xmlns:a16="http://schemas.microsoft.com/office/drawing/2014/main" id="{55508319-13E1-8B74-0CB0-C43EAB34A7C8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054193" y="4842130"/>
            <a:ext cx="0" cy="84457"/>
          </a:xfrm>
          <a:prstGeom prst="line">
            <a:avLst/>
          </a:prstGeom>
          <a:noFill/>
          <a:ln w="12700">
            <a:solidFill>
              <a:srgbClr val="00B05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748" name="Text Box 30">
            <a:extLst>
              <a:ext uri="{FF2B5EF4-FFF2-40B4-BE49-F238E27FC236}">
                <a16:creationId xmlns:a16="http://schemas.microsoft.com/office/drawing/2014/main" id="{8F1E5842-71C7-7E9E-055D-C496F9F4997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702976" y="4646032"/>
            <a:ext cx="695994" cy="27698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1425" tIns="45713" rIns="91425" bIns="45713">
            <a:spAutoFit/>
          </a:bodyPr>
          <a:lstStyle>
            <a:lvl1pPr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1pPr>
            <a:lvl2pPr marL="742950" indent="-28575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2pPr>
            <a:lvl3pPr marL="11430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3pPr>
            <a:lvl4pPr marL="16002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4pPr>
            <a:lvl5pPr marL="20574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9pPr>
          </a:lstStyle>
          <a:p>
            <a:r>
              <a:rPr lang="en-US" altLang="zh-CN" sz="1200" b="0" dirty="0" err="1">
                <a:solidFill>
                  <a:srgbClr val="00B050"/>
                </a:solidFill>
                <a:latin typeface="Arial" pitchFamily="34" charset="0"/>
                <a:ea typeface="SimHei" panose="02010609060101010101" pitchFamily="49" charset="-122"/>
              </a:rPr>
              <a:t>RegDst</a:t>
            </a:r>
            <a:endParaRPr lang="en-US" altLang="zh-CN" sz="1200" b="0" dirty="0">
              <a:solidFill>
                <a:srgbClr val="00B050"/>
              </a:solidFill>
              <a:latin typeface="Arial" pitchFamily="34" charset="0"/>
              <a:ea typeface="SimHei" panose="02010609060101010101" pitchFamily="49" charset="-122"/>
            </a:endParaRPr>
          </a:p>
        </p:txBody>
      </p:sp>
      <p:sp>
        <p:nvSpPr>
          <p:cNvPr id="749" name="Line 153">
            <a:extLst>
              <a:ext uri="{FF2B5EF4-FFF2-40B4-BE49-F238E27FC236}">
                <a16:creationId xmlns:a16="http://schemas.microsoft.com/office/drawing/2014/main" id="{6094DF94-E543-A817-8CEE-D753A2FAE451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909169" y="4309516"/>
            <a:ext cx="0" cy="288684"/>
          </a:xfrm>
          <a:prstGeom prst="line">
            <a:avLst/>
          </a:prstGeom>
          <a:noFill/>
          <a:ln w="12700">
            <a:solidFill>
              <a:srgbClr val="00B05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750" name="Line 153">
            <a:extLst>
              <a:ext uri="{FF2B5EF4-FFF2-40B4-BE49-F238E27FC236}">
                <a16:creationId xmlns:a16="http://schemas.microsoft.com/office/drawing/2014/main" id="{CBC2225C-DBDF-3CE2-4D46-837754D58F39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7763235" y="4323104"/>
            <a:ext cx="0" cy="288684"/>
          </a:xfrm>
          <a:prstGeom prst="line">
            <a:avLst/>
          </a:prstGeom>
          <a:noFill/>
          <a:ln w="12700">
            <a:solidFill>
              <a:srgbClr val="00B05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751" name="Text Box 30">
            <a:extLst>
              <a:ext uri="{FF2B5EF4-FFF2-40B4-BE49-F238E27FC236}">
                <a16:creationId xmlns:a16="http://schemas.microsoft.com/office/drawing/2014/main" id="{31B4F7A9-D709-B479-F7BB-54EE6B04804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22383" y="4516987"/>
            <a:ext cx="891560" cy="27698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1425" tIns="45713" rIns="91425" bIns="45713">
            <a:spAutoFit/>
          </a:bodyPr>
          <a:lstStyle>
            <a:lvl1pPr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1pPr>
            <a:lvl2pPr marL="742950" indent="-28575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2pPr>
            <a:lvl3pPr marL="11430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3pPr>
            <a:lvl4pPr marL="16002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4pPr>
            <a:lvl5pPr marL="20574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9pPr>
          </a:lstStyle>
          <a:p>
            <a:r>
              <a:rPr lang="en-US" altLang="zh-CN" sz="1200" b="0" dirty="0" err="1">
                <a:solidFill>
                  <a:srgbClr val="00B050"/>
                </a:solidFill>
                <a:latin typeface="Arial" pitchFamily="34" charset="0"/>
                <a:ea typeface="SimHei" panose="02010609060101010101" pitchFamily="49" charset="-122"/>
              </a:rPr>
              <a:t>MemRead</a:t>
            </a:r>
            <a:endParaRPr lang="en-US" altLang="zh-CN" sz="1200" b="0" dirty="0">
              <a:solidFill>
                <a:srgbClr val="00B050"/>
              </a:solidFill>
              <a:latin typeface="Arial" pitchFamily="34" charset="0"/>
              <a:ea typeface="SimHei" panose="02010609060101010101" pitchFamily="49" charset="-122"/>
            </a:endParaRPr>
          </a:p>
        </p:txBody>
      </p:sp>
      <p:sp>
        <p:nvSpPr>
          <p:cNvPr id="752" name="Text Box 30">
            <a:extLst>
              <a:ext uri="{FF2B5EF4-FFF2-40B4-BE49-F238E27FC236}">
                <a16:creationId xmlns:a16="http://schemas.microsoft.com/office/drawing/2014/main" id="{6EFD36AE-0F68-0CEF-EBED-40CF1890EC7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89468" y="4518593"/>
            <a:ext cx="720488" cy="27698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1425" tIns="45713" rIns="91425" bIns="45713">
            <a:spAutoFit/>
          </a:bodyPr>
          <a:lstStyle>
            <a:lvl1pPr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1pPr>
            <a:lvl2pPr marL="742950" indent="-28575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2pPr>
            <a:lvl3pPr marL="11430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3pPr>
            <a:lvl4pPr marL="16002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4pPr>
            <a:lvl5pPr marL="20574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9pPr>
          </a:lstStyle>
          <a:p>
            <a:r>
              <a:rPr lang="en-US" altLang="zh-CN" sz="1200" b="0" dirty="0" err="1">
                <a:solidFill>
                  <a:srgbClr val="00B050"/>
                </a:solidFill>
                <a:latin typeface="Arial" pitchFamily="34" charset="0"/>
                <a:ea typeface="SimHei" panose="02010609060101010101" pitchFamily="49" charset="-122"/>
              </a:rPr>
              <a:t>MemWr</a:t>
            </a:r>
            <a:endParaRPr lang="en-US" altLang="zh-CN" sz="1200" b="0" dirty="0">
              <a:solidFill>
                <a:srgbClr val="00B050"/>
              </a:solidFill>
              <a:latin typeface="Arial" pitchFamily="34" charset="0"/>
              <a:ea typeface="SimHei" panose="02010609060101010101" pitchFamily="49" charset="-122"/>
            </a:endParaRPr>
          </a:p>
        </p:txBody>
      </p:sp>
      <p:sp>
        <p:nvSpPr>
          <p:cNvPr id="753" name="Line 153">
            <a:extLst>
              <a:ext uri="{FF2B5EF4-FFF2-40B4-BE49-F238E27FC236}">
                <a16:creationId xmlns:a16="http://schemas.microsoft.com/office/drawing/2014/main" id="{973F305F-42D4-84DE-1837-38C87B178E1C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8521317" y="3471984"/>
            <a:ext cx="0" cy="288684"/>
          </a:xfrm>
          <a:prstGeom prst="line">
            <a:avLst/>
          </a:prstGeom>
          <a:noFill/>
          <a:ln w="12700">
            <a:solidFill>
              <a:srgbClr val="00B05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754" name="Text Box 30">
            <a:extLst>
              <a:ext uri="{FF2B5EF4-FFF2-40B4-BE49-F238E27FC236}">
                <a16:creationId xmlns:a16="http://schemas.microsoft.com/office/drawing/2014/main" id="{4E1B0DCA-63D7-38E7-DB17-718B9B4D6AA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220744" y="3297910"/>
            <a:ext cx="934841" cy="27698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1425" tIns="45713" rIns="91425" bIns="45713">
            <a:spAutoFit/>
          </a:bodyPr>
          <a:lstStyle>
            <a:lvl1pPr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1pPr>
            <a:lvl2pPr marL="742950" indent="-28575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2pPr>
            <a:lvl3pPr marL="11430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3pPr>
            <a:lvl4pPr marL="16002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4pPr>
            <a:lvl5pPr marL="20574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9pPr>
          </a:lstStyle>
          <a:p>
            <a:r>
              <a:rPr lang="en-US" altLang="zh-CN" sz="1200" b="0" dirty="0" err="1">
                <a:solidFill>
                  <a:srgbClr val="00B050"/>
                </a:solidFill>
                <a:latin typeface="Arial" pitchFamily="34" charset="0"/>
                <a:ea typeface="SimHei" panose="02010609060101010101" pitchFamily="49" charset="-122"/>
              </a:rPr>
              <a:t>MemtoReg</a:t>
            </a:r>
            <a:endParaRPr lang="en-US" altLang="zh-CN" sz="1200" b="0" dirty="0">
              <a:solidFill>
                <a:srgbClr val="00B050"/>
              </a:solidFill>
              <a:latin typeface="Arial" pitchFamily="34" charset="0"/>
              <a:ea typeface="SimHei" panose="02010609060101010101" pitchFamily="49" charset="-122"/>
            </a:endParaRPr>
          </a:p>
        </p:txBody>
      </p:sp>
      <p:sp>
        <p:nvSpPr>
          <p:cNvPr id="755" name="Line 153">
            <a:extLst>
              <a:ext uri="{FF2B5EF4-FFF2-40B4-BE49-F238E27FC236}">
                <a16:creationId xmlns:a16="http://schemas.microsoft.com/office/drawing/2014/main" id="{614E8F06-5A12-78FA-6C11-56530B9856AA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005520" y="4155311"/>
            <a:ext cx="0" cy="167792"/>
          </a:xfrm>
          <a:prstGeom prst="line">
            <a:avLst/>
          </a:prstGeom>
          <a:noFill/>
          <a:ln w="12700">
            <a:solidFill>
              <a:srgbClr val="00B05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756" name="Text Box 30">
            <a:extLst>
              <a:ext uri="{FF2B5EF4-FFF2-40B4-BE49-F238E27FC236}">
                <a16:creationId xmlns:a16="http://schemas.microsoft.com/office/drawing/2014/main" id="{A6797C4C-2F16-7D10-5090-48B01C2CD54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701658" y="4272203"/>
            <a:ext cx="687979" cy="27698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1425" tIns="45713" rIns="91425" bIns="45713">
            <a:spAutoFit/>
          </a:bodyPr>
          <a:lstStyle>
            <a:lvl1pPr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1pPr>
            <a:lvl2pPr marL="742950" indent="-28575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2pPr>
            <a:lvl3pPr marL="11430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3pPr>
            <a:lvl4pPr marL="16002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4pPr>
            <a:lvl5pPr marL="20574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9pPr>
          </a:lstStyle>
          <a:p>
            <a:r>
              <a:rPr lang="en-US" altLang="zh-CN" sz="1200" b="0" dirty="0" err="1">
                <a:solidFill>
                  <a:srgbClr val="00B050"/>
                </a:solidFill>
                <a:latin typeface="Arial" pitchFamily="34" charset="0"/>
                <a:ea typeface="SimHei" panose="02010609060101010101" pitchFamily="49" charset="-122"/>
              </a:rPr>
              <a:t>ALUOp</a:t>
            </a:r>
            <a:endParaRPr lang="en-US" altLang="zh-CN" sz="1200" b="0" dirty="0">
              <a:solidFill>
                <a:srgbClr val="00B050"/>
              </a:solidFill>
              <a:latin typeface="Arial" pitchFamily="34" charset="0"/>
              <a:ea typeface="SimHei" panose="02010609060101010101" pitchFamily="49" charset="-122"/>
            </a:endParaRPr>
          </a:p>
        </p:txBody>
      </p:sp>
      <p:sp>
        <p:nvSpPr>
          <p:cNvPr id="757" name="Line 153">
            <a:extLst>
              <a:ext uri="{FF2B5EF4-FFF2-40B4-BE49-F238E27FC236}">
                <a16:creationId xmlns:a16="http://schemas.microsoft.com/office/drawing/2014/main" id="{4EF1AA93-35FF-53BC-5DF4-BA98B52B5452}"/>
              </a:ext>
            </a:extLst>
          </p:cNvPr>
          <p:cNvSpPr>
            <a:spLocks noChangeShapeType="1"/>
          </p:cNvSpPr>
          <p:nvPr/>
        </p:nvSpPr>
        <p:spPr bwMode="auto">
          <a:xfrm>
            <a:off x="4324305" y="1964742"/>
            <a:ext cx="566407" cy="0"/>
          </a:xfrm>
          <a:prstGeom prst="line">
            <a:avLst/>
          </a:prstGeom>
          <a:noFill/>
          <a:ln w="12700">
            <a:solidFill>
              <a:srgbClr val="00B05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758" name="Line 158">
            <a:extLst>
              <a:ext uri="{FF2B5EF4-FFF2-40B4-BE49-F238E27FC236}">
                <a16:creationId xmlns:a16="http://schemas.microsoft.com/office/drawing/2014/main" id="{93899765-2997-3DE9-83B9-4E9BDE8C0A29}"/>
              </a:ext>
            </a:extLst>
          </p:cNvPr>
          <p:cNvSpPr>
            <a:spLocks noChangeShapeType="1"/>
          </p:cNvSpPr>
          <p:nvPr/>
        </p:nvSpPr>
        <p:spPr bwMode="auto">
          <a:xfrm>
            <a:off x="4890711" y="1964742"/>
            <a:ext cx="0" cy="102598"/>
          </a:xfrm>
          <a:prstGeom prst="line">
            <a:avLst/>
          </a:prstGeom>
          <a:noFill/>
          <a:ln w="12700">
            <a:solidFill>
              <a:srgbClr val="00B05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759" name="AutoShape 67">
            <a:extLst>
              <a:ext uri="{FF2B5EF4-FFF2-40B4-BE49-F238E27FC236}">
                <a16:creationId xmlns:a16="http://schemas.microsoft.com/office/drawing/2014/main" id="{3A3D2E41-8628-BD90-B134-D21F5371406B}"/>
              </a:ext>
            </a:extLst>
          </p:cNvPr>
          <p:cNvSpPr>
            <a:spLocks noChangeArrowheads="1"/>
          </p:cNvSpPr>
          <p:nvPr/>
        </p:nvSpPr>
        <p:spPr bwMode="auto">
          <a:xfrm rot="16200000">
            <a:off x="4725086" y="3395572"/>
            <a:ext cx="647031" cy="212392"/>
          </a:xfrm>
          <a:custGeom>
            <a:avLst/>
            <a:gdLst>
              <a:gd name="T0" fmla="*/ 9 w 21600"/>
              <a:gd name="T1" fmla="*/ 0 h 21600"/>
              <a:gd name="T2" fmla="*/ 5 w 21600"/>
              <a:gd name="T3" fmla="*/ 1 h 21600"/>
              <a:gd name="T4" fmla="*/ 1 w 21600"/>
              <a:gd name="T5" fmla="*/ 0 h 21600"/>
              <a:gd name="T6" fmla="*/ 5 w 21600"/>
              <a:gd name="T7" fmla="*/ 0 h 21600"/>
              <a:gd name="T8" fmla="*/ 0 60000 65536"/>
              <a:gd name="T9" fmla="*/ 0 60000 65536"/>
              <a:gd name="T10" fmla="*/ 0 60000 65536"/>
              <a:gd name="T11" fmla="*/ 0 60000 65536"/>
              <a:gd name="T12" fmla="*/ 4500 w 21600"/>
              <a:gd name="T13" fmla="*/ 4500 h 21600"/>
              <a:gd name="T14" fmla="*/ 17100 w 21600"/>
              <a:gd name="T15" fmla="*/ 17100 h 21600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21600" h="21600">
                <a:moveTo>
                  <a:pt x="0" y="0"/>
                </a:moveTo>
                <a:lnTo>
                  <a:pt x="5400" y="21600"/>
                </a:lnTo>
                <a:lnTo>
                  <a:pt x="16200" y="21600"/>
                </a:lnTo>
                <a:lnTo>
                  <a:pt x="21600" y="0"/>
                </a:lnTo>
                <a:lnTo>
                  <a:pt x="0" y="0"/>
                </a:lnTo>
                <a:close/>
              </a:path>
            </a:pathLst>
          </a:custGeom>
          <a:noFill/>
          <a:ln w="38100">
            <a:solidFill>
              <a:srgbClr val="00B0F0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760" name="Line 109">
            <a:extLst>
              <a:ext uri="{FF2B5EF4-FFF2-40B4-BE49-F238E27FC236}">
                <a16:creationId xmlns:a16="http://schemas.microsoft.com/office/drawing/2014/main" id="{DF4ABE0D-B05D-E079-8878-7DEBC4216795}"/>
              </a:ext>
            </a:extLst>
          </p:cNvPr>
          <p:cNvSpPr>
            <a:spLocks noChangeShapeType="1"/>
          </p:cNvSpPr>
          <p:nvPr/>
        </p:nvSpPr>
        <p:spPr bwMode="auto">
          <a:xfrm>
            <a:off x="4424969" y="4792309"/>
            <a:ext cx="854026" cy="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761" name="Line 110">
            <a:extLst>
              <a:ext uri="{FF2B5EF4-FFF2-40B4-BE49-F238E27FC236}">
                <a16:creationId xmlns:a16="http://schemas.microsoft.com/office/drawing/2014/main" id="{B4B61B33-5174-029A-6F70-E4573625DF2B}"/>
              </a:ext>
            </a:extLst>
          </p:cNvPr>
          <p:cNvSpPr>
            <a:spLocks noChangeShapeType="1"/>
          </p:cNvSpPr>
          <p:nvPr/>
        </p:nvSpPr>
        <p:spPr bwMode="auto">
          <a:xfrm>
            <a:off x="5278995" y="4409473"/>
            <a:ext cx="0" cy="390609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762" name="AutoShape 67">
            <a:extLst>
              <a:ext uri="{FF2B5EF4-FFF2-40B4-BE49-F238E27FC236}">
                <a16:creationId xmlns:a16="http://schemas.microsoft.com/office/drawing/2014/main" id="{D6AE2504-C0C7-25CA-5843-A9BCECCB0761}"/>
              </a:ext>
            </a:extLst>
          </p:cNvPr>
          <p:cNvSpPr>
            <a:spLocks noChangeArrowheads="1"/>
          </p:cNvSpPr>
          <p:nvPr/>
        </p:nvSpPr>
        <p:spPr bwMode="auto">
          <a:xfrm rot="16200000">
            <a:off x="4727404" y="4105318"/>
            <a:ext cx="647031" cy="212392"/>
          </a:xfrm>
          <a:custGeom>
            <a:avLst/>
            <a:gdLst>
              <a:gd name="T0" fmla="*/ 9 w 21600"/>
              <a:gd name="T1" fmla="*/ 0 h 21600"/>
              <a:gd name="T2" fmla="*/ 5 w 21600"/>
              <a:gd name="T3" fmla="*/ 1 h 21600"/>
              <a:gd name="T4" fmla="*/ 1 w 21600"/>
              <a:gd name="T5" fmla="*/ 0 h 21600"/>
              <a:gd name="T6" fmla="*/ 5 w 21600"/>
              <a:gd name="T7" fmla="*/ 0 h 21600"/>
              <a:gd name="T8" fmla="*/ 0 60000 65536"/>
              <a:gd name="T9" fmla="*/ 0 60000 65536"/>
              <a:gd name="T10" fmla="*/ 0 60000 65536"/>
              <a:gd name="T11" fmla="*/ 0 60000 65536"/>
              <a:gd name="T12" fmla="*/ 4500 w 21600"/>
              <a:gd name="T13" fmla="*/ 4500 h 21600"/>
              <a:gd name="T14" fmla="*/ 17100 w 21600"/>
              <a:gd name="T15" fmla="*/ 17100 h 21600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21600" h="21600">
                <a:moveTo>
                  <a:pt x="0" y="0"/>
                </a:moveTo>
                <a:lnTo>
                  <a:pt x="5400" y="21600"/>
                </a:lnTo>
                <a:lnTo>
                  <a:pt x="16200" y="21600"/>
                </a:lnTo>
                <a:lnTo>
                  <a:pt x="21600" y="0"/>
                </a:lnTo>
                <a:lnTo>
                  <a:pt x="0" y="0"/>
                </a:lnTo>
                <a:close/>
              </a:path>
            </a:pathLst>
          </a:custGeom>
          <a:noFill/>
          <a:ln w="38100">
            <a:solidFill>
              <a:srgbClr val="00B0F0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763" name="Line 115">
            <a:extLst>
              <a:ext uri="{FF2B5EF4-FFF2-40B4-BE49-F238E27FC236}">
                <a16:creationId xmlns:a16="http://schemas.microsoft.com/office/drawing/2014/main" id="{BBF7F658-4FD2-536B-D2C1-6D6F41C1DAE5}"/>
              </a:ext>
            </a:extLst>
          </p:cNvPr>
          <p:cNvSpPr>
            <a:spLocks noChangeShapeType="1"/>
          </p:cNvSpPr>
          <p:nvPr/>
        </p:nvSpPr>
        <p:spPr bwMode="auto">
          <a:xfrm>
            <a:off x="6574396" y="4742553"/>
            <a:ext cx="0" cy="856297"/>
          </a:xfrm>
          <a:prstGeom prst="line">
            <a:avLst/>
          </a:prstGeom>
          <a:noFill/>
          <a:ln w="38100">
            <a:solidFill>
              <a:srgbClr val="00B0F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764" name="Line 113">
            <a:extLst>
              <a:ext uri="{FF2B5EF4-FFF2-40B4-BE49-F238E27FC236}">
                <a16:creationId xmlns:a16="http://schemas.microsoft.com/office/drawing/2014/main" id="{3A643BD7-7EC5-F0A3-1A8B-E748A17C07CC}"/>
              </a:ext>
            </a:extLst>
          </p:cNvPr>
          <p:cNvSpPr>
            <a:spLocks noChangeShapeType="1"/>
          </p:cNvSpPr>
          <p:nvPr/>
        </p:nvSpPr>
        <p:spPr bwMode="auto">
          <a:xfrm>
            <a:off x="4505330" y="5598850"/>
            <a:ext cx="2072880" cy="0"/>
          </a:xfrm>
          <a:prstGeom prst="line">
            <a:avLst/>
          </a:prstGeom>
          <a:noFill/>
          <a:ln w="38100">
            <a:solidFill>
              <a:srgbClr val="00B0F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765" name="Line 115">
            <a:extLst>
              <a:ext uri="{FF2B5EF4-FFF2-40B4-BE49-F238E27FC236}">
                <a16:creationId xmlns:a16="http://schemas.microsoft.com/office/drawing/2014/main" id="{0D4212F2-7CFC-0ACB-78B4-80E1B0D526A8}"/>
              </a:ext>
            </a:extLst>
          </p:cNvPr>
          <p:cNvSpPr>
            <a:spLocks noChangeShapeType="1"/>
          </p:cNvSpPr>
          <p:nvPr/>
        </p:nvSpPr>
        <p:spPr bwMode="auto">
          <a:xfrm>
            <a:off x="4511226" y="3471984"/>
            <a:ext cx="0" cy="2126866"/>
          </a:xfrm>
          <a:prstGeom prst="line">
            <a:avLst/>
          </a:prstGeom>
          <a:noFill/>
          <a:ln w="38100">
            <a:solidFill>
              <a:srgbClr val="00B0F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766" name="Line 115">
            <a:extLst>
              <a:ext uri="{FF2B5EF4-FFF2-40B4-BE49-F238E27FC236}">
                <a16:creationId xmlns:a16="http://schemas.microsoft.com/office/drawing/2014/main" id="{EDF82BCC-7C0E-E8CA-E70C-F8FF8DD21E85}"/>
              </a:ext>
            </a:extLst>
          </p:cNvPr>
          <p:cNvSpPr>
            <a:spLocks noChangeShapeType="1"/>
          </p:cNvSpPr>
          <p:nvPr/>
        </p:nvSpPr>
        <p:spPr bwMode="auto">
          <a:xfrm>
            <a:off x="4677528" y="3686336"/>
            <a:ext cx="0" cy="1814565"/>
          </a:xfrm>
          <a:prstGeom prst="line">
            <a:avLst/>
          </a:prstGeom>
          <a:noFill/>
          <a:ln w="38100">
            <a:solidFill>
              <a:srgbClr val="00B0F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767" name="Line 113">
            <a:extLst>
              <a:ext uri="{FF2B5EF4-FFF2-40B4-BE49-F238E27FC236}">
                <a16:creationId xmlns:a16="http://schemas.microsoft.com/office/drawing/2014/main" id="{2677D587-FA15-4F4A-EC62-1B5209DC2C55}"/>
              </a:ext>
            </a:extLst>
          </p:cNvPr>
          <p:cNvSpPr>
            <a:spLocks noChangeShapeType="1"/>
          </p:cNvSpPr>
          <p:nvPr/>
        </p:nvSpPr>
        <p:spPr bwMode="auto">
          <a:xfrm>
            <a:off x="4509756" y="3472062"/>
            <a:ext cx="430050" cy="0"/>
          </a:xfrm>
          <a:prstGeom prst="line">
            <a:avLst/>
          </a:prstGeom>
          <a:noFill/>
          <a:ln w="38100">
            <a:solidFill>
              <a:srgbClr val="00B0F0"/>
            </a:solidFill>
            <a:round/>
            <a:headEnd type="none" w="med" len="med"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768" name="Line 113">
            <a:extLst>
              <a:ext uri="{FF2B5EF4-FFF2-40B4-BE49-F238E27FC236}">
                <a16:creationId xmlns:a16="http://schemas.microsoft.com/office/drawing/2014/main" id="{3154B79E-9C20-7760-7230-5B8B41D36505}"/>
              </a:ext>
            </a:extLst>
          </p:cNvPr>
          <p:cNvSpPr>
            <a:spLocks noChangeShapeType="1"/>
          </p:cNvSpPr>
          <p:nvPr/>
        </p:nvSpPr>
        <p:spPr bwMode="auto">
          <a:xfrm>
            <a:off x="4671683" y="3692355"/>
            <a:ext cx="268121" cy="0"/>
          </a:xfrm>
          <a:prstGeom prst="line">
            <a:avLst/>
          </a:prstGeom>
          <a:noFill/>
          <a:ln w="38100">
            <a:solidFill>
              <a:srgbClr val="00B0F0"/>
            </a:solidFill>
            <a:round/>
            <a:headEnd type="none" w="med" len="med"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769" name="Line 113">
            <a:extLst>
              <a:ext uri="{FF2B5EF4-FFF2-40B4-BE49-F238E27FC236}">
                <a16:creationId xmlns:a16="http://schemas.microsoft.com/office/drawing/2014/main" id="{C7824259-F01A-084F-C412-556955A26517}"/>
              </a:ext>
            </a:extLst>
          </p:cNvPr>
          <p:cNvSpPr>
            <a:spLocks noChangeShapeType="1"/>
          </p:cNvSpPr>
          <p:nvPr/>
        </p:nvSpPr>
        <p:spPr bwMode="auto">
          <a:xfrm>
            <a:off x="4517757" y="4238320"/>
            <a:ext cx="422050" cy="0"/>
          </a:xfrm>
          <a:prstGeom prst="line">
            <a:avLst/>
          </a:prstGeom>
          <a:noFill/>
          <a:ln w="38100">
            <a:solidFill>
              <a:srgbClr val="00B0F0"/>
            </a:solidFill>
            <a:round/>
            <a:headEnd type="none" w="med" len="med"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770" name="Line 113">
            <a:extLst>
              <a:ext uri="{FF2B5EF4-FFF2-40B4-BE49-F238E27FC236}">
                <a16:creationId xmlns:a16="http://schemas.microsoft.com/office/drawing/2014/main" id="{9872FE63-B027-D192-FD22-FC04307D2F3D}"/>
              </a:ext>
            </a:extLst>
          </p:cNvPr>
          <p:cNvSpPr>
            <a:spLocks noChangeShapeType="1"/>
          </p:cNvSpPr>
          <p:nvPr/>
        </p:nvSpPr>
        <p:spPr bwMode="auto">
          <a:xfrm>
            <a:off x="4685574" y="4458613"/>
            <a:ext cx="254232" cy="0"/>
          </a:xfrm>
          <a:prstGeom prst="line">
            <a:avLst/>
          </a:prstGeom>
          <a:noFill/>
          <a:ln w="38100">
            <a:solidFill>
              <a:srgbClr val="00B0F0"/>
            </a:solidFill>
            <a:round/>
            <a:headEnd type="none" w="med" len="med"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771" name="Line 113">
            <a:extLst>
              <a:ext uri="{FF2B5EF4-FFF2-40B4-BE49-F238E27FC236}">
                <a16:creationId xmlns:a16="http://schemas.microsoft.com/office/drawing/2014/main" id="{0A57B79B-2EF2-11A8-54D7-3D5D4490CB98}"/>
              </a:ext>
            </a:extLst>
          </p:cNvPr>
          <p:cNvSpPr>
            <a:spLocks noChangeShapeType="1"/>
          </p:cNvSpPr>
          <p:nvPr/>
        </p:nvSpPr>
        <p:spPr bwMode="auto">
          <a:xfrm>
            <a:off x="5157116" y="4132471"/>
            <a:ext cx="230672" cy="0"/>
          </a:xfrm>
          <a:prstGeom prst="line">
            <a:avLst/>
          </a:prstGeom>
          <a:noFill/>
          <a:ln w="38100">
            <a:solidFill>
              <a:srgbClr val="00B0F0"/>
            </a:solidFill>
            <a:round/>
            <a:headEnd type="none" w="med" len="med"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772" name="Line 113">
            <a:extLst>
              <a:ext uri="{FF2B5EF4-FFF2-40B4-BE49-F238E27FC236}">
                <a16:creationId xmlns:a16="http://schemas.microsoft.com/office/drawing/2014/main" id="{89AE7583-D2F3-CB83-2291-0F18F28BC617}"/>
              </a:ext>
            </a:extLst>
          </p:cNvPr>
          <p:cNvSpPr>
            <a:spLocks noChangeShapeType="1"/>
          </p:cNvSpPr>
          <p:nvPr/>
        </p:nvSpPr>
        <p:spPr bwMode="auto">
          <a:xfrm>
            <a:off x="5154797" y="3478808"/>
            <a:ext cx="566172" cy="0"/>
          </a:xfrm>
          <a:prstGeom prst="line">
            <a:avLst/>
          </a:prstGeom>
          <a:noFill/>
          <a:ln w="38100">
            <a:solidFill>
              <a:srgbClr val="00B0F0"/>
            </a:solidFill>
            <a:round/>
            <a:headEnd type="none" w="med" len="med"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773" name="椭圆 772">
            <a:extLst>
              <a:ext uri="{FF2B5EF4-FFF2-40B4-BE49-F238E27FC236}">
                <a16:creationId xmlns:a16="http://schemas.microsoft.com/office/drawing/2014/main" id="{F83141C9-AB54-F7BD-5E62-F82BC04C65B0}"/>
              </a:ext>
            </a:extLst>
          </p:cNvPr>
          <p:cNvSpPr/>
          <p:nvPr/>
        </p:nvSpPr>
        <p:spPr>
          <a:xfrm>
            <a:off x="6542279" y="4758188"/>
            <a:ext cx="65862" cy="65862"/>
          </a:xfrm>
          <a:prstGeom prst="ellipse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774" name="椭圆 773">
            <a:extLst>
              <a:ext uri="{FF2B5EF4-FFF2-40B4-BE49-F238E27FC236}">
                <a16:creationId xmlns:a16="http://schemas.microsoft.com/office/drawing/2014/main" id="{2B0CF87D-EAD9-7E95-7EF6-999ABFC6A254}"/>
              </a:ext>
            </a:extLst>
          </p:cNvPr>
          <p:cNvSpPr/>
          <p:nvPr/>
        </p:nvSpPr>
        <p:spPr>
          <a:xfrm>
            <a:off x="4640613" y="5473990"/>
            <a:ext cx="65862" cy="65862"/>
          </a:xfrm>
          <a:prstGeom prst="ellipse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775" name="椭圆 774">
            <a:extLst>
              <a:ext uri="{FF2B5EF4-FFF2-40B4-BE49-F238E27FC236}">
                <a16:creationId xmlns:a16="http://schemas.microsoft.com/office/drawing/2014/main" id="{3F54F97B-3D71-1CF5-B8D1-A6F6804E417E}"/>
              </a:ext>
            </a:extLst>
          </p:cNvPr>
          <p:cNvSpPr/>
          <p:nvPr/>
        </p:nvSpPr>
        <p:spPr>
          <a:xfrm>
            <a:off x="4390629" y="4758188"/>
            <a:ext cx="65862" cy="65862"/>
          </a:xfrm>
          <a:prstGeom prst="ellipse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776" name="椭圆 775">
            <a:extLst>
              <a:ext uri="{FF2B5EF4-FFF2-40B4-BE49-F238E27FC236}">
                <a16:creationId xmlns:a16="http://schemas.microsoft.com/office/drawing/2014/main" id="{4C59F17F-89CA-AF49-897B-94F1EC2CBCB4}"/>
              </a:ext>
            </a:extLst>
          </p:cNvPr>
          <p:cNvSpPr/>
          <p:nvPr/>
        </p:nvSpPr>
        <p:spPr>
          <a:xfrm>
            <a:off x="2025481" y="2624173"/>
            <a:ext cx="65862" cy="65862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777" name="椭圆 776">
            <a:extLst>
              <a:ext uri="{FF2B5EF4-FFF2-40B4-BE49-F238E27FC236}">
                <a16:creationId xmlns:a16="http://schemas.microsoft.com/office/drawing/2014/main" id="{31256DFA-EBC0-4AAB-5880-E46571BA8AF3}"/>
              </a:ext>
            </a:extLst>
          </p:cNvPr>
          <p:cNvSpPr/>
          <p:nvPr/>
        </p:nvSpPr>
        <p:spPr>
          <a:xfrm>
            <a:off x="682399" y="3724129"/>
            <a:ext cx="65862" cy="65862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785" name="椭圆 784">
            <a:extLst>
              <a:ext uri="{FF2B5EF4-FFF2-40B4-BE49-F238E27FC236}">
                <a16:creationId xmlns:a16="http://schemas.microsoft.com/office/drawing/2014/main" id="{86F6DCF0-C9D3-1927-86C5-DCDE8F847C90}"/>
              </a:ext>
            </a:extLst>
          </p:cNvPr>
          <p:cNvSpPr/>
          <p:nvPr/>
        </p:nvSpPr>
        <p:spPr>
          <a:xfrm>
            <a:off x="4476798" y="4208823"/>
            <a:ext cx="65862" cy="65862"/>
          </a:xfrm>
          <a:prstGeom prst="ellipse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786" name="椭圆 785">
            <a:extLst>
              <a:ext uri="{FF2B5EF4-FFF2-40B4-BE49-F238E27FC236}">
                <a16:creationId xmlns:a16="http://schemas.microsoft.com/office/drawing/2014/main" id="{64A1AC84-B364-90D4-8D61-02E58E3D6796}"/>
              </a:ext>
            </a:extLst>
          </p:cNvPr>
          <p:cNvSpPr/>
          <p:nvPr/>
        </p:nvSpPr>
        <p:spPr>
          <a:xfrm>
            <a:off x="4641272" y="4431271"/>
            <a:ext cx="65862" cy="65862"/>
          </a:xfrm>
          <a:prstGeom prst="ellipse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789" name="Line 8">
            <a:extLst>
              <a:ext uri="{FF2B5EF4-FFF2-40B4-BE49-F238E27FC236}">
                <a16:creationId xmlns:a16="http://schemas.microsoft.com/office/drawing/2014/main" id="{D1F3173B-3DBC-7831-CC87-59310B6BB123}"/>
              </a:ext>
            </a:extLst>
          </p:cNvPr>
          <p:cNvSpPr>
            <a:spLocks noChangeShapeType="1"/>
          </p:cNvSpPr>
          <p:nvPr/>
        </p:nvSpPr>
        <p:spPr bwMode="auto">
          <a:xfrm>
            <a:off x="2544747" y="5390808"/>
            <a:ext cx="1637872" cy="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791" name="Line 110">
            <a:extLst>
              <a:ext uri="{FF2B5EF4-FFF2-40B4-BE49-F238E27FC236}">
                <a16:creationId xmlns:a16="http://schemas.microsoft.com/office/drawing/2014/main" id="{304186A3-5DEA-37E4-0554-62C69E3D2312}"/>
              </a:ext>
            </a:extLst>
          </p:cNvPr>
          <p:cNvSpPr>
            <a:spLocks noChangeShapeType="1"/>
          </p:cNvSpPr>
          <p:nvPr/>
        </p:nvSpPr>
        <p:spPr bwMode="auto">
          <a:xfrm>
            <a:off x="2554285" y="5268566"/>
            <a:ext cx="0" cy="122242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801" name="Text Box 119">
            <a:extLst>
              <a:ext uri="{FF2B5EF4-FFF2-40B4-BE49-F238E27FC236}">
                <a16:creationId xmlns:a16="http://schemas.microsoft.com/office/drawing/2014/main" id="{6A7EAC84-5A20-B304-16E8-672A3E02044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908678" y="3349036"/>
            <a:ext cx="287228" cy="27698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1425" tIns="45713" rIns="91425" bIns="45713">
            <a:spAutoFit/>
          </a:bodyPr>
          <a:lstStyle>
            <a:lvl1pPr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1pPr>
            <a:lvl2pPr marL="742950" indent="-28575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2pPr>
            <a:lvl3pPr marL="11430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3pPr>
            <a:lvl4pPr marL="16002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4pPr>
            <a:lvl5pPr marL="20574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9pPr>
          </a:lstStyle>
          <a:p>
            <a:r>
              <a:rPr lang="en-US" altLang="zh-CN" sz="1200" b="0" dirty="0">
                <a:solidFill>
                  <a:srgbClr val="00B0F0"/>
                </a:solidFill>
                <a:latin typeface="Arial" pitchFamily="34" charset="0"/>
                <a:ea typeface="SimHei" panose="02010609060101010101" pitchFamily="49" charset="-122"/>
              </a:rPr>
              <a:t>A</a:t>
            </a:r>
          </a:p>
        </p:txBody>
      </p:sp>
      <p:sp>
        <p:nvSpPr>
          <p:cNvPr id="802" name="Text Box 119">
            <a:extLst>
              <a:ext uri="{FF2B5EF4-FFF2-40B4-BE49-F238E27FC236}">
                <a16:creationId xmlns:a16="http://schemas.microsoft.com/office/drawing/2014/main" id="{4CCB1217-09EF-57B1-1673-92F12C409FB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907827" y="4076708"/>
            <a:ext cx="287228" cy="27698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1425" tIns="45713" rIns="91425" bIns="45713">
            <a:spAutoFit/>
          </a:bodyPr>
          <a:lstStyle>
            <a:lvl1pPr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1pPr>
            <a:lvl2pPr marL="742950" indent="-28575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2pPr>
            <a:lvl3pPr marL="11430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3pPr>
            <a:lvl4pPr marL="16002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4pPr>
            <a:lvl5pPr marL="20574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9pPr>
          </a:lstStyle>
          <a:p>
            <a:r>
              <a:rPr lang="en-US" altLang="zh-CN" sz="1200" b="0" dirty="0">
                <a:solidFill>
                  <a:srgbClr val="00B0F0"/>
                </a:solidFill>
                <a:latin typeface="Arial" pitchFamily="34" charset="0"/>
                <a:ea typeface="SimHei" panose="02010609060101010101" pitchFamily="49" charset="-122"/>
              </a:rPr>
              <a:t>B</a:t>
            </a:r>
          </a:p>
        </p:txBody>
      </p:sp>
    </p:spTree>
    <p:extLst>
      <p:ext uri="{BB962C8B-B14F-4D97-AF65-F5344CB8AC3E}">
        <p14:creationId xmlns:p14="http://schemas.microsoft.com/office/powerpoint/2010/main" val="2578811862"/>
      </p:ext>
    </p:extLst>
  </p:cSld>
  <p:clrMapOvr>
    <a:masterClrMapping/>
  </p:clrMapOvr>
</p:sld>
</file>

<file path=ppt/slides/slide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>
            <a:extLst>
              <a:ext uri="{FF2B5EF4-FFF2-40B4-BE49-F238E27FC236}">
                <a16:creationId xmlns:a16="http://schemas.microsoft.com/office/drawing/2014/main" id="{68316852-0A03-4176-B7D6-5F7FF4E67CB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54000" y="141214"/>
            <a:ext cx="8648700" cy="826958"/>
          </a:xfrm>
        </p:spPr>
        <p:txBody>
          <a:bodyPr/>
          <a:lstStyle/>
          <a:p>
            <a:r>
              <a:rPr lang="zh-CN" altLang="en-US" dirty="0"/>
              <a:t>数据转发检测和控制</a:t>
            </a:r>
            <a:r>
              <a:rPr lang="en-US" altLang="zh-CN" dirty="0"/>
              <a:t>-1</a:t>
            </a:r>
            <a:endParaRPr lang="zh-CN" altLang="en-US" dirty="0"/>
          </a:p>
        </p:txBody>
      </p:sp>
      <p:sp>
        <p:nvSpPr>
          <p:cNvPr id="3" name="内容占位符 2">
            <a:extLst>
              <a:ext uri="{FF2B5EF4-FFF2-40B4-BE49-F238E27FC236}">
                <a16:creationId xmlns:a16="http://schemas.microsoft.com/office/drawing/2014/main" id="{38ABC2E0-A034-4AE1-A5C4-FA0C7DE0A8C5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457200" y="1077120"/>
            <a:ext cx="8229600" cy="4567311"/>
          </a:xfrm>
        </p:spPr>
        <p:txBody>
          <a:bodyPr/>
          <a:lstStyle/>
          <a:p>
            <a:pPr marL="504825" indent="-504825" defTabSz="1009650">
              <a:spcBef>
                <a:spcPct val="50000"/>
              </a:spcBef>
              <a:buFont typeface="Wingdings" pitchFamily="2" charset="2"/>
              <a:buAutoNum type="arabicPeriod"/>
            </a:pPr>
            <a:r>
              <a:rPr lang="en-US" altLang="zh-CN" sz="2000" dirty="0">
                <a:solidFill>
                  <a:srgbClr val="3333CC"/>
                </a:solidFill>
                <a:latin typeface="+mj-lt"/>
              </a:rPr>
              <a:t>EX/MEM hazard:</a:t>
            </a:r>
            <a:r>
              <a:rPr lang="en-US" altLang="zh-CN" sz="2000" dirty="0">
                <a:latin typeface="+mj-lt"/>
              </a:rPr>
              <a:t> </a:t>
            </a:r>
          </a:p>
          <a:p>
            <a:pPr marL="504825" indent="-504825" defTabSz="1009650">
              <a:spcBef>
                <a:spcPct val="50000"/>
              </a:spcBef>
              <a:buNone/>
            </a:pPr>
            <a:r>
              <a:rPr lang="en-US" altLang="zh-CN" sz="2000" dirty="0">
                <a:latin typeface="+mj-lt"/>
              </a:rPr>
              <a:t>if (</a:t>
            </a:r>
            <a:r>
              <a:rPr lang="en-US" altLang="zh-CN" sz="2000" dirty="0">
                <a:solidFill>
                  <a:srgbClr val="3C09F7"/>
                </a:solidFill>
                <a:latin typeface="+mj-lt"/>
              </a:rPr>
              <a:t>EX/</a:t>
            </a:r>
            <a:r>
              <a:rPr lang="en-US" altLang="zh-CN" sz="2000" dirty="0" err="1">
                <a:solidFill>
                  <a:srgbClr val="3C09F7"/>
                </a:solidFill>
                <a:latin typeface="+mj-lt"/>
              </a:rPr>
              <a:t>MEM</a:t>
            </a:r>
            <a:r>
              <a:rPr lang="en-US" altLang="zh-CN" sz="2000" dirty="0" err="1">
                <a:latin typeface="+mj-lt"/>
              </a:rPr>
              <a:t>.RegWrAddr</a:t>
            </a:r>
            <a:r>
              <a:rPr lang="en-US" altLang="zh-CN" sz="2000" dirty="0">
                <a:latin typeface="+mj-lt"/>
              </a:rPr>
              <a:t> == ID/</a:t>
            </a:r>
            <a:r>
              <a:rPr lang="en-US" altLang="zh-CN" sz="2000" dirty="0" err="1">
                <a:latin typeface="+mj-lt"/>
              </a:rPr>
              <a:t>EX.RegisterRs</a:t>
            </a:r>
            <a:r>
              <a:rPr lang="en-US" altLang="zh-CN" sz="2000" dirty="0">
                <a:latin typeface="+mj-lt"/>
              </a:rPr>
              <a:t>))</a:t>
            </a:r>
          </a:p>
          <a:p>
            <a:pPr marL="504825" indent="-504825" defTabSz="1009650">
              <a:buNone/>
            </a:pPr>
            <a:r>
              <a:rPr lang="en-US" altLang="zh-CN" sz="2000" dirty="0">
                <a:latin typeface="+mj-lt"/>
              </a:rPr>
              <a:t>		</a:t>
            </a:r>
            <a:r>
              <a:rPr lang="en-US" altLang="zh-CN" sz="2000" dirty="0" err="1">
                <a:latin typeface="+mj-lt"/>
              </a:rPr>
              <a:t>ForwardA</a:t>
            </a:r>
            <a:r>
              <a:rPr lang="en-US" altLang="zh-CN" sz="2000" dirty="0">
                <a:latin typeface="+mj-lt"/>
              </a:rPr>
              <a:t> = </a:t>
            </a:r>
            <a:r>
              <a:rPr lang="en-US" altLang="zh-CN" sz="2000" dirty="0">
                <a:solidFill>
                  <a:srgbClr val="3C09F7"/>
                </a:solidFill>
                <a:latin typeface="+mj-lt"/>
              </a:rPr>
              <a:t>10</a:t>
            </a:r>
          </a:p>
          <a:p>
            <a:pPr marL="504825" indent="-504825" defTabSz="1009650">
              <a:spcBef>
                <a:spcPct val="50000"/>
              </a:spcBef>
              <a:buNone/>
            </a:pPr>
            <a:r>
              <a:rPr lang="en-US" altLang="zh-CN" sz="2000" dirty="0">
                <a:latin typeface="+mj-lt"/>
              </a:rPr>
              <a:t>if (</a:t>
            </a:r>
            <a:r>
              <a:rPr lang="en-US" altLang="zh-CN" sz="2000" dirty="0">
                <a:solidFill>
                  <a:srgbClr val="3C09F7"/>
                </a:solidFill>
                <a:latin typeface="+mj-lt"/>
              </a:rPr>
              <a:t>EX/</a:t>
            </a:r>
            <a:r>
              <a:rPr lang="en-US" altLang="zh-CN" sz="2000" dirty="0" err="1">
                <a:solidFill>
                  <a:srgbClr val="3C09F7"/>
                </a:solidFill>
                <a:latin typeface="+mj-lt"/>
              </a:rPr>
              <a:t>MEM</a:t>
            </a:r>
            <a:r>
              <a:rPr lang="en-US" altLang="zh-CN" sz="2000" dirty="0" err="1">
                <a:latin typeface="+mj-lt"/>
              </a:rPr>
              <a:t>.RegWrAddr</a:t>
            </a:r>
            <a:r>
              <a:rPr lang="en-US" altLang="zh-CN" sz="2000" dirty="0">
                <a:latin typeface="+mj-lt"/>
              </a:rPr>
              <a:t> == ID/</a:t>
            </a:r>
            <a:r>
              <a:rPr lang="en-US" altLang="zh-CN" sz="2000" dirty="0" err="1">
                <a:latin typeface="+mj-lt"/>
              </a:rPr>
              <a:t>EX.RegisterRt</a:t>
            </a:r>
            <a:r>
              <a:rPr lang="en-US" altLang="zh-CN" sz="2000" dirty="0">
                <a:latin typeface="+mj-lt"/>
              </a:rPr>
              <a:t>))</a:t>
            </a:r>
          </a:p>
          <a:p>
            <a:pPr marL="504825" indent="-504825" defTabSz="1009650">
              <a:buNone/>
            </a:pPr>
            <a:r>
              <a:rPr lang="en-US" altLang="zh-CN" sz="2000" dirty="0">
                <a:latin typeface="+mj-lt"/>
              </a:rPr>
              <a:t>		</a:t>
            </a:r>
            <a:r>
              <a:rPr lang="en-US" altLang="zh-CN" sz="2000" dirty="0" err="1">
                <a:latin typeface="+mj-lt"/>
              </a:rPr>
              <a:t>ForwardB</a:t>
            </a:r>
            <a:r>
              <a:rPr lang="en-US" altLang="zh-CN" sz="2000" dirty="0">
                <a:latin typeface="+mj-lt"/>
              </a:rPr>
              <a:t> = </a:t>
            </a:r>
            <a:r>
              <a:rPr lang="en-US" altLang="zh-CN" sz="2000" dirty="0">
                <a:solidFill>
                  <a:srgbClr val="3C09F7"/>
                </a:solidFill>
                <a:latin typeface="+mj-lt"/>
              </a:rPr>
              <a:t>10</a:t>
            </a:r>
          </a:p>
          <a:p>
            <a:pPr marL="504825" indent="-504825" defTabSz="1009650">
              <a:buNone/>
            </a:pPr>
            <a:endParaRPr lang="en-US" altLang="zh-CN" sz="2000" dirty="0">
              <a:latin typeface="+mj-lt"/>
            </a:endParaRPr>
          </a:p>
          <a:p>
            <a:endParaRPr lang="zh-CN" altLang="en-US" sz="2000" dirty="0">
              <a:latin typeface="+mj-lt"/>
            </a:endParaRPr>
          </a:p>
        </p:txBody>
      </p:sp>
      <p:sp>
        <p:nvSpPr>
          <p:cNvPr id="4" name="灯片编号占位符 3">
            <a:extLst>
              <a:ext uri="{FF2B5EF4-FFF2-40B4-BE49-F238E27FC236}">
                <a16:creationId xmlns:a16="http://schemas.microsoft.com/office/drawing/2014/main" id="{F2879866-9561-454E-A225-EEB3362D9FC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1806CE5-282B-4233-8654-09F35EA875E2}" type="slidenum">
              <a:rPr lang="zh-CN" altLang="en-US" smtClean="0"/>
              <a:t>90</a:t>
            </a:fld>
            <a:endParaRPr lang="zh-CN" altLang="en-US"/>
          </a:p>
        </p:txBody>
      </p:sp>
      <p:sp>
        <p:nvSpPr>
          <p:cNvPr id="5" name="Rectangle 11">
            <a:extLst>
              <a:ext uri="{FF2B5EF4-FFF2-40B4-BE49-F238E27FC236}">
                <a16:creationId xmlns:a16="http://schemas.microsoft.com/office/drawing/2014/main" id="{8B5D0E3F-961E-4341-A25B-8FDA901BAE6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00400" y="1156091"/>
            <a:ext cx="3429000" cy="396875"/>
          </a:xfrm>
          <a:prstGeom prst="rect">
            <a:avLst/>
          </a:prstGeom>
          <a:solidFill>
            <a:srgbClr val="D6FFC9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zh-CN" altLang="en-US" sz="2000" dirty="0">
                <a:latin typeface="Times New Roman" pitchFamily="18" charset="0"/>
                <a:ea typeface="SimHei" panose="02010609060101010101" pitchFamily="49" charset="-122"/>
              </a:rPr>
              <a:t>要写入的寄存器号</a:t>
            </a:r>
            <a:r>
              <a:rPr lang="en-US" altLang="zh-CN" sz="2000" dirty="0">
                <a:latin typeface="+mj-lt"/>
                <a:ea typeface="SimHei" panose="02010609060101010101" pitchFamily="49" charset="-122"/>
              </a:rPr>
              <a:t>(Rd or Rt)</a:t>
            </a:r>
          </a:p>
        </p:txBody>
      </p:sp>
      <p:sp>
        <p:nvSpPr>
          <p:cNvPr id="6" name="Line 15">
            <a:extLst>
              <a:ext uri="{FF2B5EF4-FFF2-40B4-BE49-F238E27FC236}">
                <a16:creationId xmlns:a16="http://schemas.microsoft.com/office/drawing/2014/main" id="{A611A958-7276-42B6-BA7B-AC44DC4A83D1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022898" y="1537091"/>
            <a:ext cx="177501" cy="85261"/>
          </a:xfrm>
          <a:prstGeom prst="line">
            <a:avLst/>
          </a:prstGeom>
          <a:noFill/>
          <a:ln w="12700">
            <a:solidFill>
              <a:srgbClr val="0099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7" name="Rectangle 12">
            <a:extLst>
              <a:ext uri="{FF2B5EF4-FFF2-40B4-BE49-F238E27FC236}">
                <a16:creationId xmlns:a16="http://schemas.microsoft.com/office/drawing/2014/main" id="{38F637B8-F9EE-45E8-9D6A-6FFE4EF9352B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75300" y="2000095"/>
            <a:ext cx="1524776" cy="400110"/>
          </a:xfrm>
          <a:prstGeom prst="rect">
            <a:avLst/>
          </a:prstGeom>
          <a:solidFill>
            <a:srgbClr val="D6FFC9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en-US" altLang="zh-CN" sz="2000" dirty="0">
                <a:latin typeface="+mj-lt"/>
                <a:ea typeface="SimHei" panose="02010609060101010101" pitchFamily="49" charset="-122"/>
              </a:rPr>
              <a:t>Rs</a:t>
            </a:r>
            <a:r>
              <a:rPr lang="zh-CN" altLang="en-US" sz="2000" dirty="0">
                <a:latin typeface="Times New Roman" pitchFamily="18" charset="0"/>
                <a:ea typeface="SimHei" panose="02010609060101010101" pitchFamily="49" charset="-122"/>
              </a:rPr>
              <a:t>寄存器号</a:t>
            </a:r>
          </a:p>
        </p:txBody>
      </p:sp>
      <p:sp>
        <p:nvSpPr>
          <p:cNvPr id="8" name="Line 16">
            <a:extLst>
              <a:ext uri="{FF2B5EF4-FFF2-40B4-BE49-F238E27FC236}">
                <a16:creationId xmlns:a16="http://schemas.microsoft.com/office/drawing/2014/main" id="{21BD08F5-F908-4FC0-8EDF-A06B2C35F18D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5029128" y="1885931"/>
            <a:ext cx="533400" cy="304800"/>
          </a:xfrm>
          <a:prstGeom prst="line">
            <a:avLst/>
          </a:prstGeom>
          <a:noFill/>
          <a:ln w="12700">
            <a:solidFill>
              <a:srgbClr val="0099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11" name="Rectangle 13">
            <a:extLst>
              <a:ext uri="{FF2B5EF4-FFF2-40B4-BE49-F238E27FC236}">
                <a16:creationId xmlns:a16="http://schemas.microsoft.com/office/drawing/2014/main" id="{FE87E551-3E73-45EA-9FE3-C04C10948DB4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81650" y="2693488"/>
            <a:ext cx="1467068" cy="400110"/>
          </a:xfrm>
          <a:prstGeom prst="rect">
            <a:avLst/>
          </a:prstGeom>
          <a:solidFill>
            <a:srgbClr val="D6FFC9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en-US" altLang="zh-CN" sz="2000" dirty="0">
                <a:ea typeface="SimHei" panose="02010609060101010101" pitchFamily="49" charset="-122"/>
              </a:rPr>
              <a:t>Rt</a:t>
            </a:r>
            <a:r>
              <a:rPr lang="zh-CN" altLang="en-US" sz="2000" dirty="0">
                <a:ea typeface="SimHei" panose="02010609060101010101" pitchFamily="49" charset="-122"/>
              </a:rPr>
              <a:t>寄存器号</a:t>
            </a:r>
          </a:p>
        </p:txBody>
      </p:sp>
      <p:sp>
        <p:nvSpPr>
          <p:cNvPr id="12" name="Line 18">
            <a:extLst>
              <a:ext uri="{FF2B5EF4-FFF2-40B4-BE49-F238E27FC236}">
                <a16:creationId xmlns:a16="http://schemas.microsoft.com/office/drawing/2014/main" id="{7AF14C1D-68E1-475C-975B-359AAEF1AE01}"/>
              </a:ext>
            </a:extLst>
          </p:cNvPr>
          <p:cNvSpPr>
            <a:spLocks noChangeShapeType="1"/>
          </p:cNvSpPr>
          <p:nvPr/>
        </p:nvSpPr>
        <p:spPr bwMode="auto">
          <a:xfrm>
            <a:off x="4057650" y="2731588"/>
            <a:ext cx="1524000" cy="0"/>
          </a:xfrm>
          <a:prstGeom prst="line">
            <a:avLst/>
          </a:prstGeom>
          <a:noFill/>
          <a:ln w="12700">
            <a:solidFill>
              <a:srgbClr val="0099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13" name="Rectangle 14">
            <a:extLst>
              <a:ext uri="{FF2B5EF4-FFF2-40B4-BE49-F238E27FC236}">
                <a16:creationId xmlns:a16="http://schemas.microsoft.com/office/drawing/2014/main" id="{BC3A738A-C88D-45D4-8A51-ADAF952B290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7027" y="3174120"/>
            <a:ext cx="5157438" cy="400110"/>
          </a:xfrm>
          <a:prstGeom prst="rect">
            <a:avLst/>
          </a:prstGeom>
          <a:solidFill>
            <a:srgbClr val="D6FFC9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zh-CN" altLang="en-US" sz="2000" dirty="0">
                <a:ea typeface="SimHei" panose="02010609060101010101" pitchFamily="49" charset="-122"/>
              </a:rPr>
              <a:t>控制</a:t>
            </a:r>
            <a:r>
              <a:rPr lang="en-US" altLang="zh-CN" sz="2000" dirty="0">
                <a:ea typeface="SimHei" panose="02010609060101010101" pitchFamily="49" charset="-122"/>
              </a:rPr>
              <a:t>forward</a:t>
            </a:r>
            <a:r>
              <a:rPr lang="zh-CN" altLang="en-US" sz="2000" dirty="0">
                <a:ea typeface="SimHei" panose="02010609060101010101" pitchFamily="49" charset="-122"/>
              </a:rPr>
              <a:t>多路选择器</a:t>
            </a:r>
            <a:r>
              <a:rPr lang="en-US" altLang="zh-CN" sz="2000" dirty="0">
                <a:ea typeface="SimHei" panose="02010609060101010101" pitchFamily="49" charset="-122"/>
              </a:rPr>
              <a:t>MUX A/B</a:t>
            </a:r>
            <a:r>
              <a:rPr lang="zh-CN" altLang="en-US" sz="2000" dirty="0">
                <a:ea typeface="SimHei" panose="02010609060101010101" pitchFamily="49" charset="-122"/>
              </a:rPr>
              <a:t>（见上页）</a:t>
            </a:r>
          </a:p>
        </p:txBody>
      </p:sp>
      <p:sp>
        <p:nvSpPr>
          <p:cNvPr id="14" name="Line 20">
            <a:extLst>
              <a:ext uri="{FF2B5EF4-FFF2-40B4-BE49-F238E27FC236}">
                <a16:creationId xmlns:a16="http://schemas.microsoft.com/office/drawing/2014/main" id="{51C0C3BB-1E59-4D1F-B3B8-692B330B5495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2739314" y="3107377"/>
            <a:ext cx="647713" cy="173566"/>
          </a:xfrm>
          <a:prstGeom prst="line">
            <a:avLst/>
          </a:prstGeom>
          <a:noFill/>
          <a:ln w="12700">
            <a:solidFill>
              <a:srgbClr val="0099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15" name="Line 21">
            <a:extLst>
              <a:ext uri="{FF2B5EF4-FFF2-40B4-BE49-F238E27FC236}">
                <a16:creationId xmlns:a16="http://schemas.microsoft.com/office/drawing/2014/main" id="{10447BB1-28A0-46CE-8424-DEEA9D91919F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3016300" y="2228690"/>
            <a:ext cx="1172234" cy="938616"/>
          </a:xfrm>
          <a:prstGeom prst="line">
            <a:avLst/>
          </a:prstGeom>
          <a:noFill/>
          <a:ln w="12700">
            <a:solidFill>
              <a:srgbClr val="0099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18" name="Text Box 7">
            <a:extLst>
              <a:ext uri="{FF2B5EF4-FFF2-40B4-BE49-F238E27FC236}">
                <a16:creationId xmlns:a16="http://schemas.microsoft.com/office/drawing/2014/main" id="{D92CBBAE-8ADF-4567-B43F-B12A4EA5367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71572" y="5644431"/>
            <a:ext cx="6962775" cy="101564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1425" tIns="45713" rIns="91425" bIns="45713">
            <a:spAutoFit/>
          </a:bodyPr>
          <a:lstStyle>
            <a:lvl1pPr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1pPr>
            <a:lvl2pPr marL="742950" indent="-28575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2pPr>
            <a:lvl3pPr marL="11430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3pPr>
            <a:lvl4pPr marL="16002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4pPr>
            <a:lvl5pPr marL="20574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9pPr>
          </a:lstStyle>
          <a:p>
            <a:r>
              <a:rPr lang="zh-CN" altLang="en-US" sz="2000" b="0" dirty="0">
                <a:solidFill>
                  <a:srgbClr val="C00000"/>
                </a:solidFill>
                <a:latin typeface="Arial" pitchFamily="34" charset="0"/>
                <a:ea typeface="SimHei" panose="02010609060101010101" pitchFamily="49" charset="-122"/>
              </a:rPr>
              <a:t>思考：上述条件完整吗？</a:t>
            </a:r>
          </a:p>
          <a:p>
            <a:pPr marL="342900" indent="-342900">
              <a:buFont typeface="Arial" panose="020B0604020202020204" pitchFamily="34" charset="0"/>
              <a:buChar char="•"/>
            </a:pPr>
            <a:r>
              <a:rPr lang="zh-CN" altLang="en-US" sz="2000" b="0" dirty="0">
                <a:solidFill>
                  <a:srgbClr val="C00000"/>
                </a:solidFill>
                <a:latin typeface="Arial" pitchFamily="34" charset="0"/>
                <a:ea typeface="SimHei" panose="02010609060101010101" pitchFamily="49" charset="-122"/>
              </a:rPr>
              <a:t>指令是否真的需要更新寄存器：检查</a:t>
            </a:r>
            <a:r>
              <a:rPr lang="en-US" altLang="zh-CN" sz="2000" b="0" dirty="0" err="1">
                <a:solidFill>
                  <a:srgbClr val="C00000"/>
                </a:solidFill>
                <a:latin typeface="Arial" pitchFamily="34" charset="0"/>
                <a:ea typeface="SimHei" panose="02010609060101010101" pitchFamily="49" charset="-122"/>
              </a:rPr>
              <a:t>xxx.RegWrite</a:t>
            </a:r>
            <a:endParaRPr lang="en-US" altLang="zh-CN" sz="2000" b="0" dirty="0">
              <a:solidFill>
                <a:srgbClr val="C00000"/>
              </a:solidFill>
              <a:latin typeface="Arial" pitchFamily="34" charset="0"/>
              <a:ea typeface="SimHei" panose="02010609060101010101" pitchFamily="49" charset="-122"/>
            </a:endParaRPr>
          </a:p>
          <a:p>
            <a:pPr marL="342900" indent="-342900">
              <a:buFont typeface="Arial" panose="020B0604020202020204" pitchFamily="34" charset="0"/>
              <a:buChar char="•"/>
            </a:pPr>
            <a:r>
              <a:rPr lang="zh-CN" altLang="en-US" sz="2000" b="0" dirty="0">
                <a:solidFill>
                  <a:srgbClr val="C00000"/>
                </a:solidFill>
                <a:latin typeface="Arial" pitchFamily="34" charset="0"/>
                <a:ea typeface="SimHei" panose="02010609060101010101" pitchFamily="49" charset="-122"/>
              </a:rPr>
              <a:t>有些寄存器不会被写入，例如</a:t>
            </a:r>
            <a:r>
              <a:rPr lang="en-US" altLang="zh-CN" sz="2000" b="0" dirty="0">
                <a:solidFill>
                  <a:srgbClr val="C00000"/>
                </a:solidFill>
                <a:latin typeface="Arial" pitchFamily="34" charset="0"/>
                <a:ea typeface="SimHei" panose="02010609060101010101" pitchFamily="49" charset="-122"/>
              </a:rPr>
              <a:t>$0</a:t>
            </a:r>
            <a:r>
              <a:rPr lang="zh-CN" altLang="en-US" sz="2000" b="0" dirty="0">
                <a:solidFill>
                  <a:srgbClr val="C00000"/>
                </a:solidFill>
                <a:latin typeface="Arial" pitchFamily="34" charset="0"/>
                <a:ea typeface="SimHei" panose="02010609060101010101" pitchFamily="49" charset="-122"/>
              </a:rPr>
              <a:t>：检查</a:t>
            </a:r>
            <a:r>
              <a:rPr lang="en-US" altLang="zh-CN" sz="2000" b="0" dirty="0" err="1">
                <a:solidFill>
                  <a:srgbClr val="C00000"/>
                </a:solidFill>
                <a:latin typeface="Arial" pitchFamily="34" charset="0"/>
                <a:ea typeface="SimHei" panose="02010609060101010101" pitchFamily="49" charset="-122"/>
              </a:rPr>
              <a:t>xxx.RegWrAddr</a:t>
            </a:r>
            <a:endParaRPr lang="en-US" altLang="zh-CN" sz="2000" b="0" dirty="0">
              <a:solidFill>
                <a:srgbClr val="C00000"/>
              </a:solidFill>
              <a:latin typeface="Arial" pitchFamily="34" charset="0"/>
              <a:ea typeface="SimHei" panose="02010609060101010101" pitchFamily="49" charset="-122"/>
            </a:endParaRPr>
          </a:p>
        </p:txBody>
      </p:sp>
      <p:sp>
        <p:nvSpPr>
          <p:cNvPr id="20" name="Rectangle 4">
            <a:extLst>
              <a:ext uri="{FF2B5EF4-FFF2-40B4-BE49-F238E27FC236}">
                <a16:creationId xmlns:a16="http://schemas.microsoft.com/office/drawing/2014/main" id="{637AE506-8EC3-42D1-8EA5-1664E387B41A}"/>
              </a:ext>
            </a:extLst>
          </p:cNvPr>
          <p:cNvSpPr>
            <a:spLocks noChangeArrowheads="1"/>
          </p:cNvSpPr>
          <p:nvPr/>
        </p:nvSpPr>
        <p:spPr bwMode="auto">
          <a:xfrm>
            <a:off x="7086600" y="1680406"/>
            <a:ext cx="2057400" cy="101308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0473" tIns="44442" rIns="90473" bIns="44442">
            <a:spAutoFit/>
          </a:bodyPr>
          <a:lstStyle/>
          <a:p>
            <a:pPr eaLnBrk="0" hangingPunct="0"/>
            <a:r>
              <a:rPr lang="zh-CN" altLang="en-US" sz="2000" dirty="0">
                <a:latin typeface="Arial" pitchFamily="34" charset="0"/>
                <a:ea typeface="SimHei" panose="02010609060101010101" pitchFamily="49" charset="-122"/>
              </a:rPr>
              <a:t>将结果</a:t>
            </a:r>
            <a:r>
              <a:rPr lang="zh-CN" altLang="en-US" sz="2000" dirty="0">
                <a:solidFill>
                  <a:srgbClr val="3333FF"/>
                </a:solidFill>
                <a:latin typeface="Arial" pitchFamily="34" charset="0"/>
                <a:ea typeface="SimHei" panose="02010609060101010101" pitchFamily="49" charset="-122"/>
              </a:rPr>
              <a:t>从前一条指</a:t>
            </a:r>
            <a:r>
              <a:rPr lang="zh-CN" altLang="en-US" sz="2000" dirty="0">
                <a:latin typeface="Arial" pitchFamily="34" charset="0"/>
                <a:ea typeface="SimHei" panose="02010609060101010101" pitchFamily="49" charset="-122"/>
              </a:rPr>
              <a:t>令回馈到</a:t>
            </a:r>
            <a:r>
              <a:rPr lang="en-US" altLang="zh-CN" sz="2000" dirty="0">
                <a:latin typeface="Arial" pitchFamily="34" charset="0"/>
                <a:ea typeface="SimHei" panose="02010609060101010101" pitchFamily="49" charset="-122"/>
              </a:rPr>
              <a:t>ALU</a:t>
            </a:r>
            <a:r>
              <a:rPr lang="zh-CN" altLang="en-US" sz="2000" dirty="0">
                <a:latin typeface="Arial" pitchFamily="34" charset="0"/>
                <a:ea typeface="SimHei" panose="02010609060101010101" pitchFamily="49" charset="-122"/>
              </a:rPr>
              <a:t>输入端</a:t>
            </a:r>
            <a:endParaRPr lang="en-US" altLang="zh-CN" sz="2000" dirty="0">
              <a:latin typeface="Arial" pitchFamily="34" charset="0"/>
              <a:ea typeface="SimHei" panose="02010609060101010101" pitchFamily="49" charset="-122"/>
            </a:endParaRPr>
          </a:p>
        </p:txBody>
      </p:sp>
      <p:grpSp>
        <p:nvGrpSpPr>
          <p:cNvPr id="16" name="组合 15">
            <a:extLst>
              <a:ext uri="{FF2B5EF4-FFF2-40B4-BE49-F238E27FC236}">
                <a16:creationId xmlns:a16="http://schemas.microsoft.com/office/drawing/2014/main" id="{6EDE7A55-9C65-9871-8248-2B6A890EED3D}"/>
              </a:ext>
            </a:extLst>
          </p:cNvPr>
          <p:cNvGrpSpPr/>
          <p:nvPr/>
        </p:nvGrpSpPr>
        <p:grpSpPr>
          <a:xfrm>
            <a:off x="457200" y="3574230"/>
            <a:ext cx="8686800" cy="2062103"/>
            <a:chOff x="457200" y="3574230"/>
            <a:chExt cx="8686800" cy="2062103"/>
          </a:xfrm>
        </p:grpSpPr>
        <p:sp>
          <p:nvSpPr>
            <p:cNvPr id="21" name="Rectangle 5">
              <a:extLst>
                <a:ext uri="{FF2B5EF4-FFF2-40B4-BE49-F238E27FC236}">
                  <a16:creationId xmlns:a16="http://schemas.microsoft.com/office/drawing/2014/main" id="{B2280BD3-ACA8-4C0C-854B-F95E7EA144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87358" y="4122035"/>
              <a:ext cx="2056642" cy="101308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90473" tIns="44442" rIns="90473" bIns="44442">
              <a:spAutoFit/>
            </a:bodyPr>
            <a:lstStyle/>
            <a:p>
              <a:pPr eaLnBrk="0" hangingPunct="0"/>
              <a:r>
                <a:rPr lang="zh-CN" altLang="en-US" sz="2000" dirty="0">
                  <a:latin typeface="Arial" pitchFamily="34" charset="0"/>
                  <a:ea typeface="SimHei" panose="02010609060101010101" pitchFamily="49" charset="-122"/>
                </a:rPr>
                <a:t>将结果</a:t>
              </a:r>
              <a:r>
                <a:rPr lang="zh-CN" altLang="en-US" sz="2000" dirty="0">
                  <a:solidFill>
                    <a:srgbClr val="3333FF"/>
                  </a:solidFill>
                  <a:latin typeface="Arial" pitchFamily="34" charset="0"/>
                  <a:ea typeface="SimHei" panose="02010609060101010101" pitchFamily="49" charset="-122"/>
                </a:rPr>
                <a:t>从前前条指令</a:t>
              </a:r>
              <a:r>
                <a:rPr lang="zh-CN" altLang="en-US" sz="2000" dirty="0">
                  <a:latin typeface="Arial" pitchFamily="34" charset="0"/>
                  <a:ea typeface="SimHei" panose="02010609060101010101" pitchFamily="49" charset="-122"/>
                </a:rPr>
                <a:t>回馈到</a:t>
              </a:r>
              <a:r>
                <a:rPr lang="en-US" altLang="zh-CN" sz="2000" dirty="0">
                  <a:latin typeface="Arial" pitchFamily="34" charset="0"/>
                  <a:ea typeface="SimHei" panose="02010609060101010101" pitchFamily="49" charset="-122"/>
                </a:rPr>
                <a:t>ALU</a:t>
              </a:r>
              <a:r>
                <a:rPr lang="zh-CN" altLang="en-US" sz="2000" dirty="0">
                  <a:latin typeface="Arial" pitchFamily="34" charset="0"/>
                  <a:ea typeface="SimHei" panose="02010609060101010101" pitchFamily="49" charset="-122"/>
                </a:rPr>
                <a:t>输入端</a:t>
              </a:r>
            </a:p>
          </p:txBody>
        </p:sp>
        <p:sp>
          <p:nvSpPr>
            <p:cNvPr id="10" name="文本框 9">
              <a:extLst>
                <a:ext uri="{FF2B5EF4-FFF2-40B4-BE49-F238E27FC236}">
                  <a16:creationId xmlns:a16="http://schemas.microsoft.com/office/drawing/2014/main" id="{01E23497-BCFF-1DAA-851B-5DA0271161CB}"/>
                </a:ext>
              </a:extLst>
            </p:cNvPr>
            <p:cNvSpPr txBox="1"/>
            <p:nvPr/>
          </p:nvSpPr>
          <p:spPr>
            <a:xfrm>
              <a:off x="457200" y="3574230"/>
              <a:ext cx="6100653" cy="2062103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marL="504825" marR="0" lvl="0" indent="-504825" algn="l" defTabSz="1009650" rtl="0" eaLnBrk="1" fontAlgn="base" latinLnBrk="0" hangingPunct="1">
                <a:lnSpc>
                  <a:spcPct val="100000"/>
                </a:lnSpc>
                <a:spcBef>
                  <a:spcPct val="85000"/>
                </a:spcBef>
                <a:spcAft>
                  <a:spcPct val="0"/>
                </a:spcAft>
                <a:buClrTx/>
                <a:buSzTx/>
                <a:buFont typeface="Wingdings" pitchFamily="2" charset="2"/>
                <a:buAutoNum type="arabicPeriod" startAt="2"/>
                <a:tabLst/>
                <a:defRPr/>
              </a:pPr>
              <a:r>
                <a:rPr kumimoji="0" lang="en-US" altLang="zh-CN" sz="2000" b="1" i="0" u="none" strike="noStrike" kern="0" cap="none" spc="0" normalizeH="0" baseline="0" noProof="0" dirty="0">
                  <a:ln>
                    <a:noFill/>
                  </a:ln>
                  <a:solidFill>
                    <a:srgbClr val="3333CC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rPr>
                <a:t>MEM/WB hazard:</a:t>
              </a:r>
            </a:p>
            <a:p>
              <a:pPr marL="504825" marR="0" lvl="0" indent="-504825" algn="l" defTabSz="100965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20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rPr>
                <a:t>if (</a:t>
              </a:r>
              <a:r>
                <a:rPr kumimoji="0" lang="en-US" altLang="zh-CN" sz="2000" b="1" i="0" u="none" strike="noStrike" kern="0" cap="none" spc="0" normalizeH="0" baseline="0" noProof="0" dirty="0">
                  <a:ln>
                    <a:noFill/>
                  </a:ln>
                  <a:solidFill>
                    <a:srgbClr val="3C09F7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rPr>
                <a:t>MEM/</a:t>
              </a:r>
              <a:r>
                <a:rPr kumimoji="0" lang="en-US" altLang="zh-CN" sz="2000" b="1" i="0" u="none" strike="noStrike" kern="0" cap="none" spc="0" normalizeH="0" baseline="0" noProof="0" dirty="0" err="1">
                  <a:ln>
                    <a:noFill/>
                  </a:ln>
                  <a:solidFill>
                    <a:srgbClr val="3C09F7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rPr>
                <a:t>WB</a:t>
              </a:r>
              <a:r>
                <a:rPr kumimoji="0" lang="en-US" altLang="zh-CN" sz="2000" b="1" i="0" u="none" strike="noStrike" kern="0" cap="none" spc="0" normalizeH="0" baseline="0" noProof="0" dirty="0" err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rPr>
                <a:t>.RegWrAddr</a:t>
              </a:r>
              <a:r>
                <a:rPr kumimoji="0" lang="en-US" altLang="zh-CN" sz="20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rPr>
                <a:t> == ID/</a:t>
              </a:r>
              <a:r>
                <a:rPr kumimoji="0" lang="en-US" altLang="zh-CN" sz="2000" b="1" i="0" u="none" strike="noStrike" kern="0" cap="none" spc="0" normalizeH="0" baseline="0" noProof="0" dirty="0" err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rPr>
                <a:t>EX.RegisterRs</a:t>
              </a:r>
              <a:r>
                <a:rPr kumimoji="0" lang="en-US" altLang="zh-CN" sz="20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rPr>
                <a:t>))</a:t>
              </a:r>
            </a:p>
            <a:p>
              <a:pPr marL="504825" marR="0" lvl="0" indent="-504825" algn="l" defTabSz="1009650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20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rPr>
                <a:t>		</a:t>
              </a:r>
              <a:r>
                <a:rPr kumimoji="0" lang="en-US" altLang="zh-CN" sz="2000" b="1" i="0" u="none" strike="noStrike" kern="0" cap="none" spc="0" normalizeH="0" baseline="0" noProof="0" dirty="0" err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rPr>
                <a:t>ForwardA</a:t>
              </a:r>
              <a:r>
                <a:rPr kumimoji="0" lang="en-US" altLang="zh-CN" sz="20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rPr>
                <a:t> = </a:t>
              </a:r>
              <a:r>
                <a:rPr kumimoji="0" lang="en-US" altLang="zh-CN" sz="2000" b="1" i="0" u="none" strike="noStrike" kern="0" cap="none" spc="0" normalizeH="0" baseline="0" noProof="0" dirty="0">
                  <a:ln>
                    <a:noFill/>
                  </a:ln>
                  <a:solidFill>
                    <a:srgbClr val="3C09F7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rPr>
                <a:t>01</a:t>
              </a:r>
            </a:p>
            <a:p>
              <a:pPr marL="504825" marR="0" lvl="0" indent="-504825" algn="l" defTabSz="100965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20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rPr>
                <a:t>if (</a:t>
              </a:r>
              <a:r>
                <a:rPr kumimoji="0" lang="en-US" altLang="zh-CN" sz="2000" b="1" i="0" u="none" strike="noStrike" kern="0" cap="none" spc="0" normalizeH="0" baseline="0" noProof="0" dirty="0">
                  <a:ln>
                    <a:noFill/>
                  </a:ln>
                  <a:solidFill>
                    <a:srgbClr val="3C09F7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rPr>
                <a:t>MEM/</a:t>
              </a:r>
              <a:r>
                <a:rPr kumimoji="0" lang="en-US" altLang="zh-CN" sz="2000" b="1" i="0" u="none" strike="noStrike" kern="0" cap="none" spc="0" normalizeH="0" baseline="0" noProof="0" dirty="0" err="1">
                  <a:ln>
                    <a:noFill/>
                  </a:ln>
                  <a:solidFill>
                    <a:srgbClr val="3C09F7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rPr>
                <a:t>WB</a:t>
              </a:r>
              <a:r>
                <a:rPr kumimoji="0" lang="en-US" altLang="zh-CN" sz="2000" b="1" i="0" u="none" strike="noStrike" kern="0" cap="none" spc="0" normalizeH="0" baseline="0" noProof="0" dirty="0" err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rPr>
                <a:t>.RegaWrAddr</a:t>
              </a:r>
              <a:r>
                <a:rPr kumimoji="0" lang="en-US" altLang="zh-CN" sz="20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rPr>
                <a:t> == ID/</a:t>
              </a:r>
              <a:r>
                <a:rPr kumimoji="0" lang="en-US" altLang="zh-CN" sz="2000" b="1" i="0" u="none" strike="noStrike" kern="0" cap="none" spc="0" normalizeH="0" baseline="0" noProof="0" dirty="0" err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rPr>
                <a:t>EX.RegisterRt</a:t>
              </a:r>
              <a:r>
                <a:rPr kumimoji="0" lang="en-US" altLang="zh-CN" sz="20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rPr>
                <a:t>))</a:t>
              </a:r>
            </a:p>
            <a:p>
              <a:pPr marL="504825" marR="0" lvl="0" indent="-504825" algn="l" defTabSz="1009650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20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rPr>
                <a:t>		</a:t>
              </a:r>
              <a:r>
                <a:rPr kumimoji="0" lang="en-US" altLang="zh-CN" sz="2000" b="1" i="0" u="none" strike="noStrike" kern="0" cap="none" spc="0" normalizeH="0" baseline="0" noProof="0" dirty="0" err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rPr>
                <a:t>ForwardB</a:t>
              </a:r>
              <a:r>
                <a:rPr kumimoji="0" lang="en-US" altLang="zh-CN" sz="20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rPr>
                <a:t> = 01</a:t>
              </a:r>
            </a:p>
          </p:txBody>
        </p:sp>
      </p:grpSp>
      <mc:AlternateContent xmlns:mc="http://schemas.openxmlformats.org/markup-compatibility/2006" xmlns:p14="http://schemas.microsoft.com/office/powerpoint/2010/main">
        <mc:Choice Requires="p14">
          <p:contentPart p14:bwMode="auto" r:id="rId3">
            <p14:nvContentPartPr>
              <p14:cNvPr id="9" name="墨迹 8">
                <a:extLst>
                  <a:ext uri="{FF2B5EF4-FFF2-40B4-BE49-F238E27FC236}">
                    <a16:creationId xmlns:a16="http://schemas.microsoft.com/office/drawing/2014/main" id="{61DD0EE8-5680-FAE2-CD4C-E03A164E74A1}"/>
                  </a:ext>
                </a:extLst>
              </p14:cNvPr>
              <p14:cNvContentPartPr/>
              <p14:nvPr/>
            </p14:nvContentPartPr>
            <p14:xfrm>
              <a:off x="3557160" y="1416600"/>
              <a:ext cx="3672360" cy="1118880"/>
            </p14:xfrm>
          </p:contentPart>
        </mc:Choice>
        <mc:Fallback xmlns="">
          <p:pic>
            <p:nvPicPr>
              <p:cNvPr id="9" name="墨迹 8">
                <a:extLst>
                  <a:ext uri="{FF2B5EF4-FFF2-40B4-BE49-F238E27FC236}">
                    <a16:creationId xmlns:a16="http://schemas.microsoft.com/office/drawing/2014/main" id="{61DD0EE8-5680-FAE2-CD4C-E03A164E74A1}"/>
                  </a:ext>
                </a:extLst>
              </p:cNvPr>
              <p:cNvPicPr/>
              <p:nvPr/>
            </p:nvPicPr>
            <p:blipFill>
              <a:blip r:embed="rId4"/>
              <a:stretch>
                <a:fillRect/>
              </a:stretch>
            </p:blipFill>
            <p:spPr>
              <a:xfrm>
                <a:off x="3547800" y="1407240"/>
                <a:ext cx="3691080" cy="113760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418556197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5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11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8" grpId="0"/>
    </p:bldLst>
  </p:timing>
</p:sld>
</file>

<file path=ppt/slides/slide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>
            <a:extLst>
              <a:ext uri="{FF2B5EF4-FFF2-40B4-BE49-F238E27FC236}">
                <a16:creationId xmlns:a16="http://schemas.microsoft.com/office/drawing/2014/main" id="{AF977A96-BFD9-4506-BCD4-F5E1DE2C386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dirty="0"/>
              <a:t>数据转发检测和控制</a:t>
            </a:r>
            <a:r>
              <a:rPr lang="en-US" altLang="zh-CN" dirty="0"/>
              <a:t>-2</a:t>
            </a:r>
            <a:endParaRPr lang="zh-CN" altLang="en-US" dirty="0"/>
          </a:p>
        </p:txBody>
      </p:sp>
      <p:sp>
        <p:nvSpPr>
          <p:cNvPr id="3" name="内容占位符 2">
            <a:extLst>
              <a:ext uri="{FF2B5EF4-FFF2-40B4-BE49-F238E27FC236}">
                <a16:creationId xmlns:a16="http://schemas.microsoft.com/office/drawing/2014/main" id="{3DDB8A33-E93A-45DC-8338-227C268BB50E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marL="504825" indent="-504825" defTabSz="1009650">
              <a:buFont typeface="Wingdings" pitchFamily="2" charset="2"/>
              <a:buAutoNum type="arabicPeriod"/>
            </a:pPr>
            <a:r>
              <a:rPr lang="en-US" altLang="zh-CN" sz="2000" dirty="0">
                <a:solidFill>
                  <a:srgbClr val="3333CC"/>
                </a:solidFill>
                <a:latin typeface="+mj-lt"/>
              </a:rPr>
              <a:t>EX/MEM hazard: </a:t>
            </a:r>
          </a:p>
          <a:p>
            <a:pPr marL="504825" indent="-504825" defTabSz="1009650">
              <a:spcBef>
                <a:spcPct val="0"/>
              </a:spcBef>
              <a:buNone/>
            </a:pPr>
            <a:r>
              <a:rPr lang="en-US" altLang="zh-CN" sz="2000" dirty="0">
                <a:latin typeface="+mj-lt"/>
              </a:rPr>
              <a:t>if (</a:t>
            </a:r>
            <a:r>
              <a:rPr lang="en-US" altLang="zh-CN" sz="2000" dirty="0">
                <a:solidFill>
                  <a:srgbClr val="009900"/>
                </a:solidFill>
                <a:latin typeface="+mj-lt"/>
              </a:rPr>
              <a:t>EX/</a:t>
            </a:r>
            <a:r>
              <a:rPr lang="en-US" altLang="zh-CN" sz="2000" dirty="0" err="1">
                <a:solidFill>
                  <a:srgbClr val="009900"/>
                </a:solidFill>
                <a:latin typeface="+mj-lt"/>
              </a:rPr>
              <a:t>MEM.RegWrite</a:t>
            </a:r>
            <a:endParaRPr lang="en-US" altLang="zh-CN" sz="2000" dirty="0">
              <a:solidFill>
                <a:srgbClr val="009900"/>
              </a:solidFill>
              <a:latin typeface="+mj-lt"/>
            </a:endParaRPr>
          </a:p>
          <a:p>
            <a:pPr marL="504825" indent="-504825" defTabSz="1009650">
              <a:spcBef>
                <a:spcPct val="0"/>
              </a:spcBef>
              <a:buNone/>
            </a:pPr>
            <a:r>
              <a:rPr lang="en-US" altLang="zh-CN" sz="2000" dirty="0">
                <a:latin typeface="+mj-lt"/>
              </a:rPr>
              <a:t>and (EX/</a:t>
            </a:r>
            <a:r>
              <a:rPr lang="en-US" altLang="zh-CN" sz="2000" dirty="0" err="1">
                <a:latin typeface="+mj-lt"/>
              </a:rPr>
              <a:t>MEM.RegWrAddr</a:t>
            </a:r>
            <a:r>
              <a:rPr lang="en-US" altLang="zh-CN" sz="2000" dirty="0">
                <a:latin typeface="+mj-lt"/>
              </a:rPr>
              <a:t> == ID/</a:t>
            </a:r>
            <a:r>
              <a:rPr lang="en-US" altLang="zh-CN" sz="2000" dirty="0" err="1">
                <a:latin typeface="+mj-lt"/>
              </a:rPr>
              <a:t>EX.RegisterRs</a:t>
            </a:r>
            <a:r>
              <a:rPr lang="en-US" altLang="zh-CN" sz="2000" dirty="0">
                <a:latin typeface="+mj-lt"/>
              </a:rPr>
              <a:t>))</a:t>
            </a:r>
          </a:p>
          <a:p>
            <a:pPr marL="504825" indent="-504825" defTabSz="1009650">
              <a:spcBef>
                <a:spcPct val="0"/>
              </a:spcBef>
              <a:buNone/>
            </a:pPr>
            <a:r>
              <a:rPr lang="en-US" altLang="zh-CN" sz="2000" dirty="0">
                <a:latin typeface="+mj-lt"/>
              </a:rPr>
              <a:t>		</a:t>
            </a:r>
            <a:r>
              <a:rPr lang="en-US" altLang="zh-CN" sz="2000" dirty="0" err="1">
                <a:latin typeface="+mj-lt"/>
              </a:rPr>
              <a:t>ForwardA</a:t>
            </a:r>
            <a:r>
              <a:rPr lang="en-US" altLang="zh-CN" sz="2000" dirty="0">
                <a:latin typeface="+mj-lt"/>
              </a:rPr>
              <a:t> = 10</a:t>
            </a:r>
          </a:p>
          <a:p>
            <a:pPr marL="504825" indent="-504825" defTabSz="1009650">
              <a:spcBef>
                <a:spcPct val="0"/>
              </a:spcBef>
              <a:buNone/>
            </a:pPr>
            <a:r>
              <a:rPr lang="en-US" altLang="zh-CN" sz="2000" dirty="0">
                <a:latin typeface="+mj-lt"/>
              </a:rPr>
              <a:t>if (</a:t>
            </a:r>
            <a:r>
              <a:rPr lang="en-US" altLang="zh-CN" sz="2000" dirty="0">
                <a:solidFill>
                  <a:srgbClr val="009900"/>
                </a:solidFill>
                <a:latin typeface="+mj-lt"/>
              </a:rPr>
              <a:t>EX/</a:t>
            </a:r>
            <a:r>
              <a:rPr lang="en-US" altLang="zh-CN" sz="2000" dirty="0" err="1">
                <a:solidFill>
                  <a:srgbClr val="009900"/>
                </a:solidFill>
                <a:latin typeface="+mj-lt"/>
              </a:rPr>
              <a:t>MEM.RegWrite</a:t>
            </a:r>
            <a:endParaRPr lang="en-US" altLang="zh-CN" sz="2000" dirty="0">
              <a:solidFill>
                <a:srgbClr val="009900"/>
              </a:solidFill>
              <a:latin typeface="+mj-lt"/>
            </a:endParaRPr>
          </a:p>
          <a:p>
            <a:pPr marL="504825" indent="-504825" defTabSz="1009650">
              <a:spcBef>
                <a:spcPct val="0"/>
              </a:spcBef>
              <a:buNone/>
            </a:pPr>
            <a:r>
              <a:rPr lang="en-US" altLang="zh-CN" sz="2000" dirty="0">
                <a:latin typeface="+mj-lt"/>
              </a:rPr>
              <a:t>and (EX/</a:t>
            </a:r>
            <a:r>
              <a:rPr lang="en-US" altLang="zh-CN" sz="2000" dirty="0" err="1">
                <a:latin typeface="+mj-lt"/>
              </a:rPr>
              <a:t>MEM.RegWrAddr</a:t>
            </a:r>
            <a:r>
              <a:rPr lang="en-US" altLang="zh-CN" sz="2000" dirty="0">
                <a:latin typeface="+mj-lt"/>
              </a:rPr>
              <a:t> == ID/</a:t>
            </a:r>
            <a:r>
              <a:rPr lang="en-US" altLang="zh-CN" sz="2000" dirty="0" err="1">
                <a:latin typeface="+mj-lt"/>
              </a:rPr>
              <a:t>EX.RegisterRt</a:t>
            </a:r>
            <a:r>
              <a:rPr lang="en-US" altLang="zh-CN" sz="2000" dirty="0">
                <a:latin typeface="+mj-lt"/>
              </a:rPr>
              <a:t>))</a:t>
            </a:r>
          </a:p>
          <a:p>
            <a:pPr marL="504825" indent="-504825" defTabSz="1009650">
              <a:spcBef>
                <a:spcPct val="0"/>
              </a:spcBef>
              <a:buNone/>
            </a:pPr>
            <a:r>
              <a:rPr lang="en-US" altLang="zh-CN" sz="2000" dirty="0">
                <a:latin typeface="+mj-lt"/>
              </a:rPr>
              <a:t>		</a:t>
            </a:r>
            <a:r>
              <a:rPr lang="en-US" altLang="zh-CN" sz="2000" dirty="0" err="1">
                <a:latin typeface="+mj-lt"/>
              </a:rPr>
              <a:t>ForwardB</a:t>
            </a:r>
            <a:r>
              <a:rPr lang="en-US" altLang="zh-CN" sz="2000" dirty="0">
                <a:latin typeface="+mj-lt"/>
              </a:rPr>
              <a:t> = 10</a:t>
            </a:r>
          </a:p>
          <a:p>
            <a:pPr marL="504825" indent="-504825" defTabSz="1009650">
              <a:spcBef>
                <a:spcPct val="75000"/>
              </a:spcBef>
              <a:buFont typeface="Wingdings" pitchFamily="2" charset="2"/>
              <a:buAutoNum type="arabicPeriod" startAt="2"/>
            </a:pPr>
            <a:r>
              <a:rPr lang="en-US" altLang="zh-CN" sz="2000" dirty="0">
                <a:solidFill>
                  <a:srgbClr val="3333CC"/>
                </a:solidFill>
                <a:latin typeface="+mj-lt"/>
              </a:rPr>
              <a:t>MEM/WB hazard:</a:t>
            </a:r>
          </a:p>
          <a:p>
            <a:pPr marL="504825" indent="-504825" defTabSz="1009650">
              <a:spcBef>
                <a:spcPct val="0"/>
              </a:spcBef>
              <a:buNone/>
            </a:pPr>
            <a:r>
              <a:rPr lang="en-US" altLang="zh-CN" sz="2000" dirty="0">
                <a:latin typeface="+mj-lt"/>
              </a:rPr>
              <a:t>if (</a:t>
            </a:r>
            <a:r>
              <a:rPr lang="en-US" altLang="zh-CN" sz="2000" dirty="0">
                <a:solidFill>
                  <a:srgbClr val="009900"/>
                </a:solidFill>
                <a:latin typeface="+mj-lt"/>
              </a:rPr>
              <a:t>MEM/</a:t>
            </a:r>
            <a:r>
              <a:rPr lang="en-US" altLang="zh-CN" sz="2000" dirty="0" err="1">
                <a:solidFill>
                  <a:srgbClr val="009900"/>
                </a:solidFill>
                <a:latin typeface="+mj-lt"/>
              </a:rPr>
              <a:t>WB.RegWrite</a:t>
            </a:r>
            <a:endParaRPr lang="en-US" altLang="zh-CN" sz="2000" dirty="0">
              <a:solidFill>
                <a:srgbClr val="009900"/>
              </a:solidFill>
              <a:latin typeface="+mj-lt"/>
            </a:endParaRPr>
          </a:p>
          <a:p>
            <a:pPr marL="504825" indent="-504825" defTabSz="1009650">
              <a:spcBef>
                <a:spcPct val="0"/>
              </a:spcBef>
              <a:buNone/>
            </a:pPr>
            <a:r>
              <a:rPr lang="en-US" altLang="zh-CN" sz="2000" dirty="0">
                <a:latin typeface="+mj-lt"/>
              </a:rPr>
              <a:t>and (MEM/</a:t>
            </a:r>
            <a:r>
              <a:rPr lang="en-US" altLang="zh-CN" sz="2000" dirty="0" err="1">
                <a:latin typeface="+mj-lt"/>
              </a:rPr>
              <a:t>WB.RegWrAddr</a:t>
            </a:r>
            <a:r>
              <a:rPr lang="en-US" altLang="zh-CN" sz="2000" dirty="0">
                <a:latin typeface="+mj-lt"/>
              </a:rPr>
              <a:t> == ID/</a:t>
            </a:r>
            <a:r>
              <a:rPr lang="en-US" altLang="zh-CN" sz="2000" dirty="0" err="1">
                <a:latin typeface="+mj-lt"/>
              </a:rPr>
              <a:t>EX.RegisterRs</a:t>
            </a:r>
            <a:r>
              <a:rPr lang="en-US" altLang="zh-CN" sz="2000" dirty="0">
                <a:latin typeface="+mj-lt"/>
              </a:rPr>
              <a:t>))</a:t>
            </a:r>
          </a:p>
          <a:p>
            <a:pPr marL="504825" indent="-504825" defTabSz="1009650">
              <a:spcBef>
                <a:spcPct val="0"/>
              </a:spcBef>
              <a:buNone/>
            </a:pPr>
            <a:r>
              <a:rPr lang="en-US" altLang="zh-CN" sz="2000" dirty="0">
                <a:latin typeface="+mj-lt"/>
              </a:rPr>
              <a:t>		</a:t>
            </a:r>
            <a:r>
              <a:rPr lang="en-US" altLang="zh-CN" sz="2000" dirty="0" err="1">
                <a:latin typeface="+mj-lt"/>
              </a:rPr>
              <a:t>ForwardA</a:t>
            </a:r>
            <a:r>
              <a:rPr lang="en-US" altLang="zh-CN" sz="2000" dirty="0">
                <a:latin typeface="+mj-lt"/>
              </a:rPr>
              <a:t> = 01</a:t>
            </a:r>
          </a:p>
          <a:p>
            <a:pPr marL="504825" indent="-504825" defTabSz="1009650">
              <a:spcBef>
                <a:spcPct val="0"/>
              </a:spcBef>
              <a:buNone/>
            </a:pPr>
            <a:r>
              <a:rPr lang="en-US" altLang="zh-CN" sz="2000" dirty="0">
                <a:latin typeface="+mj-lt"/>
              </a:rPr>
              <a:t>if (</a:t>
            </a:r>
            <a:r>
              <a:rPr lang="en-US" altLang="zh-CN" sz="2000" dirty="0">
                <a:solidFill>
                  <a:srgbClr val="009900"/>
                </a:solidFill>
                <a:latin typeface="+mj-lt"/>
              </a:rPr>
              <a:t>MEM/</a:t>
            </a:r>
            <a:r>
              <a:rPr lang="en-US" altLang="zh-CN" sz="2000" dirty="0" err="1">
                <a:solidFill>
                  <a:srgbClr val="009900"/>
                </a:solidFill>
                <a:latin typeface="+mj-lt"/>
              </a:rPr>
              <a:t>WB.RegWrite</a:t>
            </a:r>
            <a:endParaRPr lang="en-US" altLang="zh-CN" sz="2000" dirty="0">
              <a:solidFill>
                <a:srgbClr val="009900"/>
              </a:solidFill>
              <a:latin typeface="+mj-lt"/>
            </a:endParaRPr>
          </a:p>
          <a:p>
            <a:pPr marL="504825" indent="-504825" defTabSz="1009650">
              <a:spcBef>
                <a:spcPct val="0"/>
              </a:spcBef>
              <a:buNone/>
            </a:pPr>
            <a:r>
              <a:rPr lang="en-US" altLang="zh-CN" sz="2000" dirty="0">
                <a:latin typeface="+mj-lt"/>
              </a:rPr>
              <a:t>and (MEM/</a:t>
            </a:r>
            <a:r>
              <a:rPr lang="en-US" altLang="zh-CN" sz="2000" dirty="0" err="1">
                <a:latin typeface="+mj-lt"/>
              </a:rPr>
              <a:t>WB.RegWrAddr</a:t>
            </a:r>
            <a:r>
              <a:rPr lang="en-US" altLang="zh-CN" sz="2000" dirty="0">
                <a:latin typeface="+mj-lt"/>
              </a:rPr>
              <a:t> == ID/</a:t>
            </a:r>
            <a:r>
              <a:rPr lang="en-US" altLang="zh-CN" sz="2000" dirty="0" err="1">
                <a:latin typeface="+mj-lt"/>
              </a:rPr>
              <a:t>EX.RegisterRt</a:t>
            </a:r>
            <a:r>
              <a:rPr lang="en-US" altLang="zh-CN" sz="2000" dirty="0">
                <a:latin typeface="+mj-lt"/>
              </a:rPr>
              <a:t>))</a:t>
            </a:r>
          </a:p>
          <a:p>
            <a:pPr marL="504825" indent="-504825" defTabSz="1009650">
              <a:spcBef>
                <a:spcPct val="0"/>
              </a:spcBef>
              <a:buNone/>
            </a:pPr>
            <a:r>
              <a:rPr lang="en-US" altLang="zh-CN" sz="2000" dirty="0">
                <a:latin typeface="+mj-lt"/>
              </a:rPr>
              <a:t>		</a:t>
            </a:r>
            <a:r>
              <a:rPr lang="en-US" altLang="zh-CN" sz="2000" dirty="0" err="1">
                <a:latin typeface="+mj-lt"/>
              </a:rPr>
              <a:t>ForwardB</a:t>
            </a:r>
            <a:r>
              <a:rPr lang="en-US" altLang="zh-CN" sz="2000" dirty="0">
                <a:latin typeface="+mj-lt"/>
              </a:rPr>
              <a:t> = 01</a:t>
            </a:r>
          </a:p>
          <a:p>
            <a:endParaRPr lang="zh-CN" altLang="en-US" sz="2000" dirty="0">
              <a:latin typeface="+mj-lt"/>
            </a:endParaRPr>
          </a:p>
        </p:txBody>
      </p:sp>
      <p:sp>
        <p:nvSpPr>
          <p:cNvPr id="4" name="灯片编号占位符 3">
            <a:extLst>
              <a:ext uri="{FF2B5EF4-FFF2-40B4-BE49-F238E27FC236}">
                <a16:creationId xmlns:a16="http://schemas.microsoft.com/office/drawing/2014/main" id="{E6406A9B-DAFC-4F74-BA38-C156BD5C4EB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1806CE5-282B-4233-8654-09F35EA875E2}" type="slidenum">
              <a:rPr lang="zh-CN" altLang="en-US" smtClean="0"/>
              <a:t>91</a:t>
            </a:fld>
            <a:endParaRPr lang="zh-CN" altLang="en-US"/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29995C5A-CC7E-423D-BE31-A99DDFBAEED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04648" y="1925587"/>
            <a:ext cx="2298052" cy="101308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0473" tIns="44442" rIns="90473" bIns="44442">
            <a:spAutoFit/>
          </a:bodyPr>
          <a:lstStyle/>
          <a:p>
            <a:pPr eaLnBrk="0" hangingPunct="0"/>
            <a:r>
              <a:rPr lang="zh-CN" altLang="en-US" sz="2000" dirty="0">
                <a:latin typeface="Arial" pitchFamily="34" charset="0"/>
                <a:ea typeface="SimHei" panose="02010609060101010101" pitchFamily="49" charset="-122"/>
              </a:rPr>
              <a:t>将结果从前一条</a:t>
            </a:r>
            <a:r>
              <a:rPr lang="zh-CN" altLang="en-US" sz="2000" b="1" dirty="0">
                <a:solidFill>
                  <a:srgbClr val="009900"/>
                </a:solidFill>
                <a:latin typeface="Arial" pitchFamily="34" charset="0"/>
                <a:ea typeface="SimHei" panose="02010609060101010101" pitchFamily="49" charset="-122"/>
              </a:rPr>
              <a:t>更新寄存器</a:t>
            </a:r>
            <a:r>
              <a:rPr lang="zh-CN" altLang="en-US" sz="2000" dirty="0">
                <a:solidFill>
                  <a:srgbClr val="3333FF"/>
                </a:solidFill>
                <a:latin typeface="Arial" pitchFamily="34" charset="0"/>
                <a:ea typeface="SimHei" panose="02010609060101010101" pitchFamily="49" charset="-122"/>
              </a:rPr>
              <a:t>的指令</a:t>
            </a:r>
            <a:r>
              <a:rPr lang="zh-CN" altLang="en-US" sz="2000" dirty="0">
                <a:latin typeface="Arial" pitchFamily="34" charset="0"/>
                <a:ea typeface="SimHei" panose="02010609060101010101" pitchFamily="49" charset="-122"/>
              </a:rPr>
              <a:t>回馈到</a:t>
            </a:r>
            <a:r>
              <a:rPr lang="en-US" altLang="zh-CN" sz="2000" dirty="0">
                <a:latin typeface="Arial" pitchFamily="34" charset="0"/>
                <a:ea typeface="SimHei" panose="02010609060101010101" pitchFamily="49" charset="-122"/>
              </a:rPr>
              <a:t>ALU</a:t>
            </a:r>
            <a:r>
              <a:rPr lang="zh-CN" altLang="en-US" sz="2000" dirty="0">
                <a:latin typeface="Arial" pitchFamily="34" charset="0"/>
                <a:ea typeface="SimHei" panose="02010609060101010101" pitchFamily="49" charset="-122"/>
              </a:rPr>
              <a:t>输入端</a:t>
            </a:r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88DAEF27-A794-40D1-A952-C728570C9A5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03998" y="4335702"/>
            <a:ext cx="2298052" cy="101308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0473" tIns="44442" rIns="90473" bIns="44442">
            <a:spAutoFit/>
          </a:bodyPr>
          <a:lstStyle/>
          <a:p>
            <a:pPr eaLnBrk="0" hangingPunct="0"/>
            <a:r>
              <a:rPr lang="zh-CN" altLang="en-US" sz="2000" dirty="0">
                <a:latin typeface="Arial" pitchFamily="34" charset="0"/>
                <a:ea typeface="SimHei" panose="02010609060101010101" pitchFamily="49" charset="-122"/>
              </a:rPr>
              <a:t>将结果从前前条</a:t>
            </a:r>
            <a:r>
              <a:rPr lang="zh-CN" altLang="en-US" sz="2000" b="1" dirty="0">
                <a:solidFill>
                  <a:srgbClr val="009900"/>
                </a:solidFill>
                <a:latin typeface="Arial" pitchFamily="34" charset="0"/>
                <a:ea typeface="SimHei" panose="02010609060101010101" pitchFamily="49" charset="-122"/>
              </a:rPr>
              <a:t>更新寄存器</a:t>
            </a:r>
            <a:r>
              <a:rPr lang="zh-CN" altLang="en-US" sz="2000" dirty="0">
                <a:solidFill>
                  <a:srgbClr val="3333FF"/>
                </a:solidFill>
                <a:latin typeface="Arial" pitchFamily="34" charset="0"/>
                <a:ea typeface="SimHei" panose="02010609060101010101" pitchFamily="49" charset="-122"/>
              </a:rPr>
              <a:t>的指令</a:t>
            </a:r>
            <a:r>
              <a:rPr lang="zh-CN" altLang="en-US" sz="2000" dirty="0">
                <a:latin typeface="Arial" pitchFamily="34" charset="0"/>
                <a:ea typeface="SimHei" panose="02010609060101010101" pitchFamily="49" charset="-122"/>
              </a:rPr>
              <a:t>回馈到</a:t>
            </a:r>
            <a:r>
              <a:rPr lang="en-US" altLang="zh-CN" sz="2000" dirty="0">
                <a:latin typeface="Arial" pitchFamily="34" charset="0"/>
                <a:ea typeface="SimHei" panose="02010609060101010101" pitchFamily="49" charset="-122"/>
              </a:rPr>
              <a:t>ALU</a:t>
            </a:r>
            <a:r>
              <a:rPr lang="zh-CN" altLang="en-US" sz="2000" dirty="0">
                <a:latin typeface="Arial" pitchFamily="34" charset="0"/>
                <a:ea typeface="SimHei" panose="02010609060101010101" pitchFamily="49" charset="-122"/>
              </a:rPr>
              <a:t>输入端</a:t>
            </a:r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55ED2BB9-2268-43D3-AD96-A5CD3AC30E9C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8200" y="6691312"/>
            <a:ext cx="2438400" cy="152400"/>
          </a:xfrm>
          <a:prstGeom prst="rect">
            <a:avLst/>
          </a:prstGeom>
          <a:solidFill>
            <a:schemeClr val="bg1"/>
          </a:solidFill>
          <a:ln w="12700">
            <a:solidFill>
              <a:schemeClr val="bg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600" dirty="0">
              <a:ea typeface="SimHei" panose="02010609060101010101" pitchFamily="49" charset="-122"/>
            </a:endParaRPr>
          </a:p>
        </p:txBody>
      </p:sp>
    </p:spTree>
    <p:extLst>
      <p:ext uri="{BB962C8B-B14F-4D97-AF65-F5344CB8AC3E}">
        <p14:creationId xmlns:p14="http://schemas.microsoft.com/office/powerpoint/2010/main" val="3053081152"/>
      </p:ext>
    </p:extLst>
  </p:cSld>
  <p:clrMapOvr>
    <a:masterClrMapping/>
  </p:clrMapOvr>
</p:sld>
</file>

<file path=ppt/slides/slide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Oval 215">
            <a:extLst>
              <a:ext uri="{FF2B5EF4-FFF2-40B4-BE49-F238E27FC236}">
                <a16:creationId xmlns:a16="http://schemas.microsoft.com/office/drawing/2014/main" id="{6EC2E5C5-9C32-495D-9B00-2F7D63335743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35682" y="1881983"/>
            <a:ext cx="1108075" cy="517956"/>
          </a:xfrm>
          <a:prstGeom prst="ellipse">
            <a:avLst/>
          </a:prstGeom>
          <a:solidFill>
            <a:srgbClr val="BBE0E3"/>
          </a:solidFill>
          <a:ln w="12700">
            <a:solidFill>
              <a:srgbClr val="00000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ahoma" pitchFamily="34" charset="0"/>
              <a:ea typeface="SimHei" panose="02010609060101010101" pitchFamily="49" charset="-122"/>
            </a:endParaRPr>
          </a:p>
        </p:txBody>
      </p:sp>
      <p:graphicFrame>
        <p:nvGraphicFramePr>
          <p:cNvPr id="15" name="Group 23">
            <a:extLst>
              <a:ext uri="{FF2B5EF4-FFF2-40B4-BE49-F238E27FC236}">
                <a16:creationId xmlns:a16="http://schemas.microsoft.com/office/drawing/2014/main" id="{FDDBB0DD-C89D-4060-86CB-5D8F2DD36196}"/>
              </a:ext>
            </a:extLst>
          </p:cNvPr>
          <p:cNvGraphicFramePr>
            <a:graphicFrameLocks/>
          </p:cNvGraphicFramePr>
          <p:nvPr/>
        </p:nvGraphicFramePr>
        <p:xfrm>
          <a:off x="673100" y="1881983"/>
          <a:ext cx="8229600" cy="517956"/>
        </p:xfrm>
        <a:graphic>
          <a:graphicData uri="http://schemas.openxmlformats.org/drawingml/2006/table">
            <a:tbl>
              <a:tblPr/>
              <a:tblGrid>
                <a:gridCol w="13716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3716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3716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37160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37160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371600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517525">
                <a:tc>
                  <a:txBody>
                    <a:bodyPr/>
                    <a:lstStyle>
                      <a:lvl1pPr marL="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ea typeface="宋体"/>
                        </a:defRPr>
                      </a:lvl1pPr>
                      <a:lvl2pPr marL="3429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ea typeface="宋体"/>
                        </a:defRPr>
                      </a:lvl2pPr>
                      <a:lvl3pPr marL="6858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ea typeface="宋体"/>
                        </a:defRPr>
                      </a:lvl3pPr>
                      <a:lvl4pPr marL="10287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ea typeface="宋体"/>
                        </a:defRPr>
                      </a:lvl4pPr>
                      <a:lvl5pPr marL="13716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ea typeface="宋体"/>
                        </a:defRPr>
                      </a:lvl5pPr>
                      <a:lvl6pPr marL="17145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ea typeface="宋体"/>
                        </a:defRPr>
                      </a:lvl6pPr>
                      <a:lvl7pPr marL="20574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ea typeface="宋体"/>
                        </a:defRPr>
                      </a:lvl7pPr>
                      <a:lvl8pPr marL="24003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ea typeface="宋体"/>
                        </a:defRPr>
                      </a:lvl8pPr>
                      <a:lvl9pPr marL="27432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ea typeface="宋体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CN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SimHei" panose="02010609060101010101" pitchFamily="49" charset="-122"/>
                        </a:rPr>
                        <a:t>6’b0</a:t>
                      </a:r>
                    </a:p>
                  </a:txBody>
                  <a:tcPr marT="45618" marB="45618" horzOverflow="overflow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ea typeface="宋体"/>
                        </a:defRPr>
                      </a:lvl1pPr>
                      <a:lvl2pPr marL="3429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ea typeface="宋体"/>
                        </a:defRPr>
                      </a:lvl2pPr>
                      <a:lvl3pPr marL="6858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ea typeface="宋体"/>
                        </a:defRPr>
                      </a:lvl3pPr>
                      <a:lvl4pPr marL="10287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ea typeface="宋体"/>
                        </a:defRPr>
                      </a:lvl4pPr>
                      <a:lvl5pPr marL="13716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ea typeface="宋体"/>
                        </a:defRPr>
                      </a:lvl5pPr>
                      <a:lvl6pPr marL="17145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ea typeface="宋体"/>
                        </a:defRPr>
                      </a:lvl6pPr>
                      <a:lvl7pPr marL="20574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ea typeface="宋体"/>
                        </a:defRPr>
                      </a:lvl7pPr>
                      <a:lvl8pPr marL="24003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ea typeface="宋体"/>
                        </a:defRPr>
                      </a:lvl8pPr>
                      <a:lvl9pPr marL="27432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ea typeface="宋体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CN" sz="2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SimHei" panose="02010609060101010101" pitchFamily="49" charset="-122"/>
                        </a:rPr>
                        <a:t>rs</a:t>
                      </a:r>
                      <a:endParaRPr kumimoji="0" lang="en-US" altLang="zh-CN" sz="2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SimHei" panose="02010609060101010101" pitchFamily="49" charset="-122"/>
                      </a:endParaRPr>
                    </a:p>
                  </a:txBody>
                  <a:tcPr marT="45618" marB="45618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ea typeface="宋体"/>
                        </a:defRPr>
                      </a:lvl1pPr>
                      <a:lvl2pPr marL="3429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ea typeface="宋体"/>
                        </a:defRPr>
                      </a:lvl2pPr>
                      <a:lvl3pPr marL="6858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ea typeface="宋体"/>
                        </a:defRPr>
                      </a:lvl3pPr>
                      <a:lvl4pPr marL="10287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ea typeface="宋体"/>
                        </a:defRPr>
                      </a:lvl4pPr>
                      <a:lvl5pPr marL="13716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ea typeface="宋体"/>
                        </a:defRPr>
                      </a:lvl5pPr>
                      <a:lvl6pPr marL="17145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ea typeface="宋体"/>
                        </a:defRPr>
                      </a:lvl6pPr>
                      <a:lvl7pPr marL="20574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ea typeface="宋体"/>
                        </a:defRPr>
                      </a:lvl7pPr>
                      <a:lvl8pPr marL="24003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ea typeface="宋体"/>
                        </a:defRPr>
                      </a:lvl8pPr>
                      <a:lvl9pPr marL="27432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ea typeface="宋体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CN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SimHei" panose="02010609060101010101" pitchFamily="49" charset="-122"/>
                        </a:rPr>
                        <a:t>rt </a:t>
                      </a:r>
                    </a:p>
                  </a:txBody>
                  <a:tcPr marT="45618" marB="45618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ea typeface="宋体"/>
                        </a:defRPr>
                      </a:lvl1pPr>
                      <a:lvl2pPr marL="3429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ea typeface="宋体"/>
                        </a:defRPr>
                      </a:lvl2pPr>
                      <a:lvl3pPr marL="6858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ea typeface="宋体"/>
                        </a:defRPr>
                      </a:lvl3pPr>
                      <a:lvl4pPr marL="10287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ea typeface="宋体"/>
                        </a:defRPr>
                      </a:lvl4pPr>
                      <a:lvl5pPr marL="13716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ea typeface="宋体"/>
                        </a:defRPr>
                      </a:lvl5pPr>
                      <a:lvl6pPr marL="17145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ea typeface="宋体"/>
                        </a:defRPr>
                      </a:lvl6pPr>
                      <a:lvl7pPr marL="20574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ea typeface="宋体"/>
                        </a:defRPr>
                      </a:lvl7pPr>
                      <a:lvl8pPr marL="24003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ea typeface="宋体"/>
                        </a:defRPr>
                      </a:lvl8pPr>
                      <a:lvl9pPr marL="27432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ea typeface="宋体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CN" sz="2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SimHei" panose="02010609060101010101" pitchFamily="49" charset="-122"/>
                        </a:rPr>
                        <a:t>rd</a:t>
                      </a:r>
                      <a:r>
                        <a:rPr kumimoji="0" lang="en-US" altLang="zh-CN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SimHei" panose="02010609060101010101" pitchFamily="49" charset="-122"/>
                        </a:rPr>
                        <a:t>=0</a:t>
                      </a:r>
                    </a:p>
                  </a:txBody>
                  <a:tcPr marT="45618" marB="45618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ea typeface="宋体"/>
                        </a:defRPr>
                      </a:lvl1pPr>
                      <a:lvl2pPr marL="3429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ea typeface="宋体"/>
                        </a:defRPr>
                      </a:lvl2pPr>
                      <a:lvl3pPr marL="6858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ea typeface="宋体"/>
                        </a:defRPr>
                      </a:lvl3pPr>
                      <a:lvl4pPr marL="10287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ea typeface="宋体"/>
                        </a:defRPr>
                      </a:lvl4pPr>
                      <a:lvl5pPr marL="13716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ea typeface="宋体"/>
                        </a:defRPr>
                      </a:lvl5pPr>
                      <a:lvl6pPr marL="17145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ea typeface="宋体"/>
                        </a:defRPr>
                      </a:lvl6pPr>
                      <a:lvl7pPr marL="20574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ea typeface="宋体"/>
                        </a:defRPr>
                      </a:lvl7pPr>
                      <a:lvl8pPr marL="24003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ea typeface="宋体"/>
                        </a:defRPr>
                      </a:lvl8pPr>
                      <a:lvl9pPr marL="27432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ea typeface="宋体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CN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SimHei" panose="02010609060101010101" pitchFamily="49" charset="-122"/>
                        </a:rPr>
                        <a:t>5’b0</a:t>
                      </a:r>
                    </a:p>
                  </a:txBody>
                  <a:tcPr marT="45618" marB="45618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ea typeface="宋体"/>
                        </a:defRPr>
                      </a:lvl1pPr>
                      <a:lvl2pPr marL="3429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ea typeface="宋体"/>
                        </a:defRPr>
                      </a:lvl2pPr>
                      <a:lvl3pPr marL="6858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ea typeface="宋体"/>
                        </a:defRPr>
                      </a:lvl3pPr>
                      <a:lvl4pPr marL="10287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ea typeface="宋体"/>
                        </a:defRPr>
                      </a:lvl4pPr>
                      <a:lvl5pPr marL="13716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ea typeface="宋体"/>
                        </a:defRPr>
                      </a:lvl5pPr>
                      <a:lvl6pPr marL="17145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ea typeface="宋体"/>
                        </a:defRPr>
                      </a:lvl6pPr>
                      <a:lvl7pPr marL="20574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ea typeface="宋体"/>
                        </a:defRPr>
                      </a:lvl7pPr>
                      <a:lvl8pPr marL="24003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ea typeface="宋体"/>
                        </a:defRPr>
                      </a:lvl8pPr>
                      <a:lvl9pPr marL="27432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ea typeface="宋体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CN" sz="24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SimHei" panose="02010609060101010101" pitchFamily="49" charset="-122"/>
                        </a:rPr>
                        <a:t>000100</a:t>
                      </a:r>
                      <a:endParaRPr kumimoji="0" lang="en-US" altLang="zh-CN" sz="2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SimHei" panose="02010609060101010101" pitchFamily="49" charset="-122"/>
                      </a:endParaRPr>
                    </a:p>
                  </a:txBody>
                  <a:tcPr marT="45618" marB="45618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2" name="标题 1">
            <a:extLst>
              <a:ext uri="{FF2B5EF4-FFF2-40B4-BE49-F238E27FC236}">
                <a16:creationId xmlns:a16="http://schemas.microsoft.com/office/drawing/2014/main" id="{3120A60C-F193-4144-B4C9-3E73F5BF6518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dirty="0"/>
              <a:t>数据转发检测和控制</a:t>
            </a:r>
            <a:r>
              <a:rPr lang="en-US" altLang="zh-CN" dirty="0"/>
              <a:t>-2</a:t>
            </a:r>
            <a:endParaRPr lang="zh-CN" altLang="en-US" dirty="0"/>
          </a:p>
        </p:txBody>
      </p:sp>
      <p:sp>
        <p:nvSpPr>
          <p:cNvPr id="3" name="内容占位符 2">
            <a:extLst>
              <a:ext uri="{FF2B5EF4-FFF2-40B4-BE49-F238E27FC236}">
                <a16:creationId xmlns:a16="http://schemas.microsoft.com/office/drawing/2014/main" id="{54CD511C-8702-4A58-99B2-2A503F9E4FC4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r>
              <a:rPr lang="en-US" altLang="zh-CN" dirty="0"/>
              <a:t>$0</a:t>
            </a:r>
            <a:r>
              <a:rPr lang="zh-CN" altLang="en-US" dirty="0"/>
              <a:t>寄存器为常量，一直为</a:t>
            </a:r>
            <a:r>
              <a:rPr lang="en-US" altLang="zh-CN" dirty="0"/>
              <a:t>0</a:t>
            </a:r>
            <a:r>
              <a:rPr lang="zh-CN" altLang="en-US" dirty="0"/>
              <a:t>：</a:t>
            </a:r>
            <a:r>
              <a:rPr lang="en-US" altLang="zh-CN" b="0" dirty="0" err="1">
                <a:solidFill>
                  <a:srgbClr val="000000"/>
                </a:solidFill>
              </a:rPr>
              <a:t>sllv</a:t>
            </a:r>
            <a:r>
              <a:rPr lang="en-US" altLang="zh-CN" b="0" dirty="0">
                <a:solidFill>
                  <a:srgbClr val="000000"/>
                </a:solidFill>
              </a:rPr>
              <a:t>  $0, $1, $2     </a:t>
            </a:r>
          </a:p>
          <a:p>
            <a:endParaRPr lang="en-US" altLang="zh-CN" dirty="0"/>
          </a:p>
          <a:p>
            <a:endParaRPr lang="zh-CN" altLang="en-US" dirty="0"/>
          </a:p>
        </p:txBody>
      </p:sp>
      <p:sp>
        <p:nvSpPr>
          <p:cNvPr id="4" name="灯片编号占位符 3">
            <a:extLst>
              <a:ext uri="{FF2B5EF4-FFF2-40B4-BE49-F238E27FC236}">
                <a16:creationId xmlns:a16="http://schemas.microsoft.com/office/drawing/2014/main" id="{7062F8D0-E478-4248-8A6E-4193DFC20A0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1806CE5-282B-4233-8654-09F35EA875E2}" type="slidenum">
              <a:rPr lang="zh-CN" altLang="en-US" smtClean="0"/>
              <a:t>92</a:t>
            </a:fld>
            <a:endParaRPr lang="zh-CN" altLang="en-US"/>
          </a:p>
        </p:txBody>
      </p:sp>
      <p:pic>
        <p:nvPicPr>
          <p:cNvPr id="5" name="图片 4">
            <a:extLst>
              <a:ext uri="{FF2B5EF4-FFF2-40B4-BE49-F238E27FC236}">
                <a16:creationId xmlns:a16="http://schemas.microsoft.com/office/drawing/2014/main" id="{04675FD6-82C4-416A-8F2C-BDBDABB460B0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023937" y="2429648"/>
            <a:ext cx="7527925" cy="447019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90648624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3" grpId="0" animBg="1"/>
    </p:bldLst>
  </p:timing>
</p:sld>
</file>

<file path=ppt/slides/slide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>
            <a:extLst>
              <a:ext uri="{FF2B5EF4-FFF2-40B4-BE49-F238E27FC236}">
                <a16:creationId xmlns:a16="http://schemas.microsoft.com/office/drawing/2014/main" id="{2D6BF95F-72D0-4944-A075-7826C92D28E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dirty="0"/>
              <a:t>数据转发检测和控制</a:t>
            </a:r>
            <a:r>
              <a:rPr lang="en-US" altLang="zh-CN" dirty="0"/>
              <a:t>-3</a:t>
            </a:r>
            <a:endParaRPr lang="zh-CN" altLang="en-US" dirty="0"/>
          </a:p>
        </p:txBody>
      </p:sp>
      <p:sp>
        <p:nvSpPr>
          <p:cNvPr id="3" name="内容占位符 2">
            <a:extLst>
              <a:ext uri="{FF2B5EF4-FFF2-40B4-BE49-F238E27FC236}">
                <a16:creationId xmlns:a16="http://schemas.microsoft.com/office/drawing/2014/main" id="{36875FE9-843C-4410-AFAF-1E77BE72DE55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marL="504825" indent="-504825" defTabSz="1009650">
              <a:buFont typeface="Wingdings" pitchFamily="2" charset="2"/>
              <a:buAutoNum type="arabicPeriod"/>
            </a:pPr>
            <a:r>
              <a:rPr lang="en-US" altLang="zh-CN" sz="2000" dirty="0">
                <a:solidFill>
                  <a:srgbClr val="3333CC"/>
                </a:solidFill>
                <a:latin typeface="+mj-lt"/>
              </a:rPr>
              <a:t>EX/MEM hazard:</a:t>
            </a:r>
            <a:r>
              <a:rPr lang="en-US" altLang="zh-CN" sz="2000" dirty="0">
                <a:latin typeface="+mj-lt"/>
              </a:rPr>
              <a:t> </a:t>
            </a:r>
          </a:p>
          <a:p>
            <a:pPr marL="504825" indent="-504825" defTabSz="1009650">
              <a:spcBef>
                <a:spcPct val="0"/>
              </a:spcBef>
              <a:buNone/>
            </a:pPr>
            <a:r>
              <a:rPr lang="en-US" altLang="zh-CN" sz="1800" dirty="0">
                <a:latin typeface="+mj-lt"/>
              </a:rPr>
              <a:t>if (EX/</a:t>
            </a:r>
            <a:r>
              <a:rPr lang="en-US" altLang="zh-CN" sz="1800" dirty="0" err="1">
                <a:latin typeface="+mj-lt"/>
              </a:rPr>
              <a:t>MEM.RegWrite</a:t>
            </a:r>
            <a:endParaRPr lang="en-US" altLang="zh-CN" sz="1800" dirty="0">
              <a:latin typeface="+mj-lt"/>
            </a:endParaRPr>
          </a:p>
          <a:p>
            <a:pPr marL="504825" indent="-504825" defTabSz="1009650">
              <a:spcBef>
                <a:spcPct val="0"/>
              </a:spcBef>
              <a:buNone/>
            </a:pPr>
            <a:r>
              <a:rPr lang="en-US" altLang="zh-CN" sz="1800" dirty="0">
                <a:solidFill>
                  <a:srgbClr val="009900"/>
                </a:solidFill>
                <a:latin typeface="+mj-lt"/>
              </a:rPr>
              <a:t>and (EX/</a:t>
            </a:r>
            <a:r>
              <a:rPr lang="en-US" altLang="zh-CN" sz="1800" dirty="0" err="1">
                <a:solidFill>
                  <a:srgbClr val="009900"/>
                </a:solidFill>
                <a:latin typeface="+mj-lt"/>
              </a:rPr>
              <a:t>MEM.RegWrAddr</a:t>
            </a:r>
            <a:r>
              <a:rPr lang="en-US" altLang="zh-CN" sz="1800" dirty="0">
                <a:solidFill>
                  <a:srgbClr val="009900"/>
                </a:solidFill>
                <a:latin typeface="+mj-lt"/>
              </a:rPr>
              <a:t> != 0)</a:t>
            </a:r>
          </a:p>
          <a:p>
            <a:pPr marL="504825" indent="-504825" defTabSz="1009650">
              <a:spcBef>
                <a:spcPct val="0"/>
              </a:spcBef>
              <a:buNone/>
            </a:pPr>
            <a:r>
              <a:rPr lang="en-US" altLang="zh-CN" sz="1800" dirty="0">
                <a:latin typeface="+mj-lt"/>
              </a:rPr>
              <a:t>and (EX/</a:t>
            </a:r>
            <a:r>
              <a:rPr lang="en-US" altLang="zh-CN" sz="1800" dirty="0" err="1">
                <a:latin typeface="+mj-lt"/>
              </a:rPr>
              <a:t>MEM.RegWrAddr</a:t>
            </a:r>
            <a:r>
              <a:rPr lang="en-US" altLang="zh-CN" sz="1800" dirty="0">
                <a:latin typeface="+mj-lt"/>
              </a:rPr>
              <a:t> == ID/</a:t>
            </a:r>
            <a:r>
              <a:rPr lang="en-US" altLang="zh-CN" sz="1800" dirty="0" err="1">
                <a:latin typeface="+mj-lt"/>
              </a:rPr>
              <a:t>EX.RegisterRs</a:t>
            </a:r>
            <a:r>
              <a:rPr lang="en-US" altLang="zh-CN" sz="1800" dirty="0">
                <a:latin typeface="+mj-lt"/>
              </a:rPr>
              <a:t>))</a:t>
            </a:r>
          </a:p>
          <a:p>
            <a:pPr marL="504825" indent="-504825" defTabSz="1009650">
              <a:spcBef>
                <a:spcPct val="0"/>
              </a:spcBef>
              <a:buNone/>
            </a:pPr>
            <a:r>
              <a:rPr lang="en-US" altLang="zh-CN" sz="1800" dirty="0">
                <a:latin typeface="+mj-lt"/>
              </a:rPr>
              <a:t>		</a:t>
            </a:r>
            <a:r>
              <a:rPr lang="en-US" altLang="zh-CN" sz="1800" dirty="0" err="1">
                <a:latin typeface="+mj-lt"/>
              </a:rPr>
              <a:t>ForwardA</a:t>
            </a:r>
            <a:r>
              <a:rPr lang="en-US" altLang="zh-CN" sz="1800" dirty="0">
                <a:latin typeface="+mj-lt"/>
              </a:rPr>
              <a:t> = 10</a:t>
            </a:r>
          </a:p>
          <a:p>
            <a:pPr marL="504825" indent="-504825" defTabSz="1009650">
              <a:spcBef>
                <a:spcPct val="0"/>
              </a:spcBef>
              <a:buNone/>
            </a:pPr>
            <a:r>
              <a:rPr lang="en-US" altLang="zh-CN" sz="1800" dirty="0">
                <a:latin typeface="+mj-lt"/>
              </a:rPr>
              <a:t>if (EX/</a:t>
            </a:r>
            <a:r>
              <a:rPr lang="en-US" altLang="zh-CN" sz="1800" dirty="0" err="1">
                <a:latin typeface="+mj-lt"/>
              </a:rPr>
              <a:t>MEM.RegWrite</a:t>
            </a:r>
            <a:endParaRPr lang="en-US" altLang="zh-CN" sz="1800" dirty="0">
              <a:latin typeface="+mj-lt"/>
            </a:endParaRPr>
          </a:p>
          <a:p>
            <a:pPr marL="504825" indent="-504825" defTabSz="1009650">
              <a:spcBef>
                <a:spcPct val="0"/>
              </a:spcBef>
              <a:buNone/>
            </a:pPr>
            <a:r>
              <a:rPr lang="en-US" altLang="zh-CN" sz="1800" dirty="0">
                <a:solidFill>
                  <a:srgbClr val="009900"/>
                </a:solidFill>
                <a:latin typeface="+mj-lt"/>
              </a:rPr>
              <a:t>and (EX/</a:t>
            </a:r>
            <a:r>
              <a:rPr lang="en-US" altLang="zh-CN" sz="1800" dirty="0" err="1">
                <a:solidFill>
                  <a:srgbClr val="009900"/>
                </a:solidFill>
                <a:latin typeface="+mj-lt"/>
              </a:rPr>
              <a:t>MEM.RegWrAddr</a:t>
            </a:r>
            <a:r>
              <a:rPr lang="en-US" altLang="zh-CN" sz="1800" dirty="0">
                <a:solidFill>
                  <a:srgbClr val="009900"/>
                </a:solidFill>
                <a:latin typeface="+mj-lt"/>
              </a:rPr>
              <a:t> != 0)</a:t>
            </a:r>
          </a:p>
          <a:p>
            <a:pPr marL="504825" indent="-504825" defTabSz="1009650">
              <a:spcBef>
                <a:spcPct val="0"/>
              </a:spcBef>
              <a:buNone/>
            </a:pPr>
            <a:r>
              <a:rPr lang="en-US" altLang="zh-CN" sz="1800" dirty="0">
                <a:latin typeface="+mj-lt"/>
              </a:rPr>
              <a:t>and (EX/</a:t>
            </a:r>
            <a:r>
              <a:rPr lang="en-US" altLang="zh-CN" sz="1800" dirty="0" err="1">
                <a:latin typeface="+mj-lt"/>
              </a:rPr>
              <a:t>MEM.RegWrAddr</a:t>
            </a:r>
            <a:r>
              <a:rPr lang="en-US" altLang="zh-CN" sz="1800" dirty="0">
                <a:latin typeface="+mj-lt"/>
              </a:rPr>
              <a:t> == ID/</a:t>
            </a:r>
            <a:r>
              <a:rPr lang="en-US" altLang="zh-CN" sz="1800" dirty="0" err="1">
                <a:latin typeface="+mj-lt"/>
              </a:rPr>
              <a:t>EX.RegisterRt</a:t>
            </a:r>
            <a:r>
              <a:rPr lang="en-US" altLang="zh-CN" sz="1800" dirty="0">
                <a:latin typeface="+mj-lt"/>
              </a:rPr>
              <a:t>))</a:t>
            </a:r>
          </a:p>
          <a:p>
            <a:pPr marL="504825" indent="-504825" defTabSz="1009650">
              <a:spcBef>
                <a:spcPct val="0"/>
              </a:spcBef>
              <a:buNone/>
            </a:pPr>
            <a:r>
              <a:rPr lang="en-US" altLang="zh-CN" sz="1800" dirty="0">
                <a:latin typeface="+mj-lt"/>
              </a:rPr>
              <a:t>		</a:t>
            </a:r>
            <a:r>
              <a:rPr lang="en-US" altLang="zh-CN" sz="1800" dirty="0" err="1">
                <a:latin typeface="+mj-lt"/>
              </a:rPr>
              <a:t>ForwardB</a:t>
            </a:r>
            <a:r>
              <a:rPr lang="en-US" altLang="zh-CN" sz="1800" dirty="0">
                <a:latin typeface="+mj-lt"/>
              </a:rPr>
              <a:t> = 10</a:t>
            </a:r>
          </a:p>
          <a:p>
            <a:pPr marL="504825" indent="-504825" defTabSz="1009650">
              <a:buFont typeface="Wingdings" pitchFamily="2" charset="2"/>
              <a:buAutoNum type="arabicPeriod" startAt="2"/>
            </a:pPr>
            <a:r>
              <a:rPr lang="en-US" altLang="zh-CN" sz="2000" dirty="0">
                <a:solidFill>
                  <a:srgbClr val="3333CC"/>
                </a:solidFill>
                <a:latin typeface="+mj-lt"/>
              </a:rPr>
              <a:t>MEM/WB hazard:</a:t>
            </a:r>
          </a:p>
          <a:p>
            <a:pPr marL="504825" indent="-504825" defTabSz="1009650">
              <a:spcBef>
                <a:spcPct val="0"/>
              </a:spcBef>
              <a:buNone/>
            </a:pPr>
            <a:r>
              <a:rPr lang="en-US" altLang="zh-CN" sz="1800" dirty="0">
                <a:latin typeface="+mj-lt"/>
              </a:rPr>
              <a:t>if (MEM/</a:t>
            </a:r>
            <a:r>
              <a:rPr lang="en-US" altLang="zh-CN" sz="1800" dirty="0" err="1">
                <a:latin typeface="+mj-lt"/>
              </a:rPr>
              <a:t>WB.RegWrite</a:t>
            </a:r>
            <a:endParaRPr lang="en-US" altLang="zh-CN" sz="1800" dirty="0">
              <a:latin typeface="+mj-lt"/>
            </a:endParaRPr>
          </a:p>
          <a:p>
            <a:pPr marL="504825" indent="-504825" defTabSz="1009650">
              <a:spcBef>
                <a:spcPct val="0"/>
              </a:spcBef>
              <a:buNone/>
            </a:pPr>
            <a:r>
              <a:rPr lang="en-US" altLang="zh-CN" sz="1800" dirty="0">
                <a:solidFill>
                  <a:srgbClr val="009900"/>
                </a:solidFill>
                <a:latin typeface="+mj-lt"/>
              </a:rPr>
              <a:t>and (MEM/</a:t>
            </a:r>
            <a:r>
              <a:rPr lang="en-US" altLang="zh-CN" sz="1800" dirty="0" err="1">
                <a:solidFill>
                  <a:srgbClr val="009900"/>
                </a:solidFill>
                <a:latin typeface="+mj-lt"/>
              </a:rPr>
              <a:t>WB.RegWrAddr</a:t>
            </a:r>
            <a:r>
              <a:rPr lang="en-US" altLang="zh-CN" sz="1800" dirty="0">
                <a:solidFill>
                  <a:srgbClr val="009900"/>
                </a:solidFill>
                <a:latin typeface="+mj-lt"/>
              </a:rPr>
              <a:t> != 0)</a:t>
            </a:r>
          </a:p>
          <a:p>
            <a:pPr marL="504825" indent="-504825" defTabSz="1009650">
              <a:spcBef>
                <a:spcPct val="0"/>
              </a:spcBef>
              <a:buNone/>
            </a:pPr>
            <a:r>
              <a:rPr lang="en-US" altLang="zh-CN" sz="1800" dirty="0">
                <a:latin typeface="+mj-lt"/>
              </a:rPr>
              <a:t>and (MEM/</a:t>
            </a:r>
            <a:r>
              <a:rPr lang="en-US" altLang="zh-CN" sz="1800" dirty="0" err="1">
                <a:latin typeface="+mj-lt"/>
              </a:rPr>
              <a:t>WB.RegWrAddr</a:t>
            </a:r>
            <a:r>
              <a:rPr lang="en-US" altLang="zh-CN" sz="1800" dirty="0">
                <a:latin typeface="+mj-lt"/>
              </a:rPr>
              <a:t> == ID/</a:t>
            </a:r>
            <a:r>
              <a:rPr lang="en-US" altLang="zh-CN" sz="1800" dirty="0" err="1">
                <a:latin typeface="+mj-lt"/>
              </a:rPr>
              <a:t>EX.RegisterRs</a:t>
            </a:r>
            <a:r>
              <a:rPr lang="en-US" altLang="zh-CN" sz="1800" dirty="0">
                <a:latin typeface="+mj-lt"/>
              </a:rPr>
              <a:t>))</a:t>
            </a:r>
          </a:p>
          <a:p>
            <a:pPr marL="504825" indent="-504825" defTabSz="1009650">
              <a:spcBef>
                <a:spcPct val="0"/>
              </a:spcBef>
              <a:buNone/>
            </a:pPr>
            <a:r>
              <a:rPr lang="en-US" altLang="zh-CN" sz="1800" dirty="0">
                <a:latin typeface="+mj-lt"/>
              </a:rPr>
              <a:t>		</a:t>
            </a:r>
            <a:r>
              <a:rPr lang="en-US" altLang="zh-CN" sz="1800" dirty="0" err="1">
                <a:latin typeface="+mj-lt"/>
              </a:rPr>
              <a:t>ForwardA</a:t>
            </a:r>
            <a:r>
              <a:rPr lang="en-US" altLang="zh-CN" sz="1800" dirty="0">
                <a:latin typeface="+mj-lt"/>
              </a:rPr>
              <a:t> = 01</a:t>
            </a:r>
          </a:p>
          <a:p>
            <a:pPr marL="504825" indent="-504825" defTabSz="1009650">
              <a:spcBef>
                <a:spcPct val="0"/>
              </a:spcBef>
              <a:buNone/>
            </a:pPr>
            <a:r>
              <a:rPr lang="en-US" altLang="zh-CN" sz="1800" dirty="0">
                <a:latin typeface="+mj-lt"/>
              </a:rPr>
              <a:t>if (MEM/</a:t>
            </a:r>
            <a:r>
              <a:rPr lang="en-US" altLang="zh-CN" sz="1800" dirty="0" err="1">
                <a:latin typeface="+mj-lt"/>
              </a:rPr>
              <a:t>WB.RegWrite</a:t>
            </a:r>
            <a:endParaRPr lang="en-US" altLang="zh-CN" sz="1800" dirty="0">
              <a:latin typeface="+mj-lt"/>
            </a:endParaRPr>
          </a:p>
          <a:p>
            <a:pPr marL="504825" indent="-504825" defTabSz="1009650">
              <a:spcBef>
                <a:spcPct val="0"/>
              </a:spcBef>
              <a:buNone/>
            </a:pPr>
            <a:r>
              <a:rPr lang="en-US" altLang="zh-CN" sz="1800" dirty="0">
                <a:solidFill>
                  <a:srgbClr val="009900"/>
                </a:solidFill>
                <a:latin typeface="+mj-lt"/>
              </a:rPr>
              <a:t>and (MEM/</a:t>
            </a:r>
            <a:r>
              <a:rPr lang="en-US" altLang="zh-CN" sz="1800" dirty="0" err="1">
                <a:solidFill>
                  <a:srgbClr val="009900"/>
                </a:solidFill>
                <a:latin typeface="+mj-lt"/>
              </a:rPr>
              <a:t>WB.RegWrAddr</a:t>
            </a:r>
            <a:r>
              <a:rPr lang="en-US" altLang="zh-CN" sz="1800" dirty="0">
                <a:solidFill>
                  <a:srgbClr val="009900"/>
                </a:solidFill>
                <a:latin typeface="+mj-lt"/>
              </a:rPr>
              <a:t> != 0)</a:t>
            </a:r>
          </a:p>
          <a:p>
            <a:pPr marL="504825" indent="-504825" defTabSz="1009650">
              <a:spcBef>
                <a:spcPct val="0"/>
              </a:spcBef>
              <a:buNone/>
            </a:pPr>
            <a:r>
              <a:rPr lang="en-US" altLang="zh-CN" sz="1800" dirty="0">
                <a:latin typeface="+mj-lt"/>
              </a:rPr>
              <a:t>and (MEM/</a:t>
            </a:r>
            <a:r>
              <a:rPr lang="en-US" altLang="zh-CN" sz="1800" dirty="0" err="1">
                <a:latin typeface="+mj-lt"/>
              </a:rPr>
              <a:t>WB.RegWrAddr</a:t>
            </a:r>
            <a:r>
              <a:rPr lang="en-US" altLang="zh-CN" sz="1800" dirty="0">
                <a:latin typeface="+mj-lt"/>
              </a:rPr>
              <a:t> == ID/</a:t>
            </a:r>
            <a:r>
              <a:rPr lang="en-US" altLang="zh-CN" sz="1800" dirty="0" err="1">
                <a:latin typeface="+mj-lt"/>
              </a:rPr>
              <a:t>EX.RegisterRt</a:t>
            </a:r>
            <a:r>
              <a:rPr lang="en-US" altLang="zh-CN" sz="1800" dirty="0">
                <a:latin typeface="+mj-lt"/>
              </a:rPr>
              <a:t>))</a:t>
            </a:r>
          </a:p>
          <a:p>
            <a:pPr marL="504825" indent="-504825" defTabSz="1009650">
              <a:spcBef>
                <a:spcPct val="0"/>
              </a:spcBef>
              <a:buNone/>
            </a:pPr>
            <a:r>
              <a:rPr lang="en-US" altLang="zh-CN" sz="1800" dirty="0">
                <a:latin typeface="+mj-lt"/>
              </a:rPr>
              <a:t>		</a:t>
            </a:r>
            <a:r>
              <a:rPr lang="en-US" altLang="zh-CN" sz="1800" dirty="0" err="1">
                <a:latin typeface="+mj-lt"/>
              </a:rPr>
              <a:t>ForwardB</a:t>
            </a:r>
            <a:r>
              <a:rPr lang="en-US" altLang="zh-CN" sz="1800" dirty="0">
                <a:latin typeface="+mj-lt"/>
              </a:rPr>
              <a:t> = 01</a:t>
            </a:r>
          </a:p>
          <a:p>
            <a:endParaRPr lang="zh-CN" altLang="en-US" sz="1800" dirty="0">
              <a:latin typeface="+mj-lt"/>
            </a:endParaRPr>
          </a:p>
        </p:txBody>
      </p:sp>
      <p:sp>
        <p:nvSpPr>
          <p:cNvPr id="4" name="灯片编号占位符 3">
            <a:extLst>
              <a:ext uri="{FF2B5EF4-FFF2-40B4-BE49-F238E27FC236}">
                <a16:creationId xmlns:a16="http://schemas.microsoft.com/office/drawing/2014/main" id="{047DB1E4-A529-40D4-AAC7-FCE564B4975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1806CE5-282B-4233-8654-09F35EA875E2}" type="slidenum">
              <a:rPr lang="zh-CN" altLang="en-US" smtClean="0"/>
              <a:t>93</a:t>
            </a:fld>
            <a:endParaRPr lang="zh-CN" altLang="en-US"/>
          </a:p>
        </p:txBody>
      </p:sp>
      <p:sp>
        <p:nvSpPr>
          <p:cNvPr id="5" name="Rectangle 5">
            <a:extLst>
              <a:ext uri="{FF2B5EF4-FFF2-40B4-BE49-F238E27FC236}">
                <a16:creationId xmlns:a16="http://schemas.microsoft.com/office/drawing/2014/main" id="{A8720C22-B577-4CF6-89A8-388457F05855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65091" y="1837676"/>
            <a:ext cx="3190009" cy="101308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0473" tIns="44442" rIns="90473" bIns="44442">
            <a:spAutoFit/>
          </a:bodyPr>
          <a:lstStyle/>
          <a:p>
            <a:pPr eaLnBrk="0" hangingPunct="0"/>
            <a:r>
              <a:rPr lang="zh-CN" altLang="en-US" sz="2000" dirty="0">
                <a:latin typeface="Arial" pitchFamily="34" charset="0"/>
                <a:ea typeface="SimHei" panose="02010609060101010101" pitchFamily="49" charset="-122"/>
              </a:rPr>
              <a:t>将结果从前一条</a:t>
            </a:r>
            <a:r>
              <a:rPr lang="zh-CN" altLang="en-US" sz="2000" dirty="0">
                <a:solidFill>
                  <a:srgbClr val="0070C0"/>
                </a:solidFill>
                <a:latin typeface="Arial" pitchFamily="34" charset="0"/>
                <a:ea typeface="SimHei" panose="02010609060101010101" pitchFamily="49" charset="-122"/>
              </a:rPr>
              <a:t>更新寄存器</a:t>
            </a:r>
            <a:r>
              <a:rPr lang="zh-CN" altLang="en-US" sz="2000" b="1" dirty="0">
                <a:solidFill>
                  <a:srgbClr val="009900"/>
                </a:solidFill>
                <a:latin typeface="Arial" pitchFamily="34" charset="0"/>
                <a:ea typeface="SimHei" panose="02010609060101010101" pitchFamily="49" charset="-122"/>
              </a:rPr>
              <a:t>（且不是</a:t>
            </a:r>
            <a:r>
              <a:rPr lang="en-US" altLang="zh-CN" sz="2000" b="1" dirty="0">
                <a:solidFill>
                  <a:srgbClr val="009900"/>
                </a:solidFill>
                <a:latin typeface="Arial" pitchFamily="34" charset="0"/>
                <a:ea typeface="SimHei" panose="02010609060101010101" pitchFamily="49" charset="-122"/>
              </a:rPr>
              <a:t>$0</a:t>
            </a:r>
            <a:r>
              <a:rPr lang="zh-CN" altLang="en-US" sz="2000" b="1" dirty="0">
                <a:solidFill>
                  <a:srgbClr val="009900"/>
                </a:solidFill>
                <a:latin typeface="Arial" pitchFamily="34" charset="0"/>
                <a:ea typeface="SimHei" panose="02010609060101010101" pitchFamily="49" charset="-122"/>
              </a:rPr>
              <a:t>）</a:t>
            </a:r>
            <a:r>
              <a:rPr lang="zh-CN" altLang="en-US" sz="2000" dirty="0">
                <a:solidFill>
                  <a:srgbClr val="0070C0"/>
                </a:solidFill>
                <a:latin typeface="Arial" pitchFamily="34" charset="0"/>
                <a:ea typeface="SimHei" panose="02010609060101010101" pitchFamily="49" charset="-122"/>
              </a:rPr>
              <a:t>的指令</a:t>
            </a:r>
            <a:r>
              <a:rPr lang="zh-CN" altLang="en-US" sz="2000" dirty="0">
                <a:latin typeface="Arial" pitchFamily="34" charset="0"/>
                <a:ea typeface="SimHei" panose="02010609060101010101" pitchFamily="49" charset="-122"/>
              </a:rPr>
              <a:t>回馈到</a:t>
            </a:r>
            <a:r>
              <a:rPr lang="en-US" altLang="zh-CN" sz="2000" dirty="0">
                <a:latin typeface="Arial" pitchFamily="34" charset="0"/>
                <a:ea typeface="SimHei" panose="02010609060101010101" pitchFamily="49" charset="-122"/>
              </a:rPr>
              <a:t>ALU</a:t>
            </a:r>
            <a:r>
              <a:rPr lang="zh-CN" altLang="en-US" sz="2000" dirty="0">
                <a:latin typeface="Arial" pitchFamily="34" charset="0"/>
                <a:ea typeface="SimHei" panose="02010609060101010101" pitchFamily="49" charset="-122"/>
              </a:rPr>
              <a:t>输入端</a:t>
            </a:r>
          </a:p>
        </p:txBody>
      </p:sp>
      <p:sp>
        <p:nvSpPr>
          <p:cNvPr id="6" name="Rectangle 6">
            <a:extLst>
              <a:ext uri="{FF2B5EF4-FFF2-40B4-BE49-F238E27FC236}">
                <a16:creationId xmlns:a16="http://schemas.microsoft.com/office/drawing/2014/main" id="{FB54F6FE-9EB2-4111-8699-23DF321B8CC7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65091" y="4755355"/>
            <a:ext cx="3190009" cy="101308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0473" tIns="44442" rIns="90473" bIns="44442">
            <a:spAutoFit/>
          </a:bodyPr>
          <a:lstStyle/>
          <a:p>
            <a:pPr eaLnBrk="0" hangingPunct="0"/>
            <a:r>
              <a:rPr lang="zh-CN" altLang="en-US" sz="2000" dirty="0">
                <a:latin typeface="Arial" pitchFamily="34" charset="0"/>
                <a:ea typeface="SimHei" panose="02010609060101010101" pitchFamily="49" charset="-122"/>
              </a:rPr>
              <a:t>将结果从前前条</a:t>
            </a:r>
            <a:r>
              <a:rPr lang="zh-CN" altLang="en-US" sz="2000" dirty="0">
                <a:solidFill>
                  <a:srgbClr val="0070C0"/>
                </a:solidFill>
                <a:latin typeface="Arial" pitchFamily="34" charset="0"/>
                <a:ea typeface="SimHei" panose="02010609060101010101" pitchFamily="49" charset="-122"/>
              </a:rPr>
              <a:t>更新寄存器</a:t>
            </a:r>
            <a:r>
              <a:rPr lang="zh-CN" altLang="en-US" sz="2000" b="1" dirty="0">
                <a:solidFill>
                  <a:srgbClr val="009900"/>
                </a:solidFill>
                <a:latin typeface="Arial" pitchFamily="34" charset="0"/>
                <a:ea typeface="SimHei" panose="02010609060101010101" pitchFamily="49" charset="-122"/>
              </a:rPr>
              <a:t>（且不是</a:t>
            </a:r>
            <a:r>
              <a:rPr lang="en-US" altLang="zh-CN" sz="2000" b="1" dirty="0">
                <a:solidFill>
                  <a:srgbClr val="009900"/>
                </a:solidFill>
                <a:latin typeface="Arial" pitchFamily="34" charset="0"/>
                <a:ea typeface="SimHei" panose="02010609060101010101" pitchFamily="49" charset="-122"/>
              </a:rPr>
              <a:t>$0</a:t>
            </a:r>
            <a:r>
              <a:rPr lang="zh-CN" altLang="en-US" sz="2000" b="1" dirty="0">
                <a:solidFill>
                  <a:srgbClr val="009900"/>
                </a:solidFill>
                <a:latin typeface="Arial" pitchFamily="34" charset="0"/>
                <a:ea typeface="SimHei" panose="02010609060101010101" pitchFamily="49" charset="-122"/>
              </a:rPr>
              <a:t>）</a:t>
            </a:r>
            <a:r>
              <a:rPr lang="zh-CN" altLang="en-US" sz="2000" dirty="0">
                <a:solidFill>
                  <a:srgbClr val="0070C0"/>
                </a:solidFill>
                <a:latin typeface="Arial" pitchFamily="34" charset="0"/>
                <a:ea typeface="SimHei" panose="02010609060101010101" pitchFamily="49" charset="-122"/>
              </a:rPr>
              <a:t>的指令</a:t>
            </a:r>
            <a:r>
              <a:rPr lang="zh-CN" altLang="en-US" sz="2000" dirty="0">
                <a:latin typeface="Arial" pitchFamily="34" charset="0"/>
                <a:ea typeface="SimHei" panose="02010609060101010101" pitchFamily="49" charset="-122"/>
              </a:rPr>
              <a:t>回馈到</a:t>
            </a:r>
            <a:r>
              <a:rPr lang="en-US" altLang="zh-CN" sz="2000" dirty="0">
                <a:latin typeface="Arial" pitchFamily="34" charset="0"/>
                <a:ea typeface="SimHei" panose="02010609060101010101" pitchFamily="49" charset="-122"/>
              </a:rPr>
              <a:t>ALU</a:t>
            </a:r>
            <a:r>
              <a:rPr lang="zh-CN" altLang="en-US" sz="2000" dirty="0">
                <a:latin typeface="Arial" pitchFamily="34" charset="0"/>
                <a:ea typeface="SimHei" panose="02010609060101010101" pitchFamily="49" charset="-122"/>
              </a:rPr>
              <a:t>输入端</a:t>
            </a:r>
          </a:p>
        </p:txBody>
      </p:sp>
      <p:sp>
        <p:nvSpPr>
          <p:cNvPr id="7" name="Text Box 4">
            <a:extLst>
              <a:ext uri="{FF2B5EF4-FFF2-40B4-BE49-F238E27FC236}">
                <a16:creationId xmlns:a16="http://schemas.microsoft.com/office/drawing/2014/main" id="{BB44FAA1-F7E3-4D3F-B802-A693C0B71FC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318000" y="6245225"/>
            <a:ext cx="2847224" cy="46165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1425" tIns="45713" rIns="91425" bIns="45713">
            <a:spAutoFit/>
          </a:bodyPr>
          <a:lstStyle>
            <a:lvl1pPr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1pPr>
            <a:lvl2pPr marL="742950" indent="-28575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2pPr>
            <a:lvl3pPr marL="11430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3pPr>
            <a:lvl4pPr marL="16002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4pPr>
            <a:lvl5pPr marL="20574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9pPr>
          </a:lstStyle>
          <a:p>
            <a:r>
              <a:rPr lang="zh-CN" altLang="en-US" sz="2400" b="0" dirty="0">
                <a:solidFill>
                  <a:srgbClr val="3333CC"/>
                </a:solidFill>
                <a:latin typeface="Arial" pitchFamily="34" charset="0"/>
                <a:ea typeface="SimHei" panose="02010609060101010101" pitchFamily="49" charset="-122"/>
              </a:rPr>
              <a:t>是否存在其他问题</a:t>
            </a:r>
            <a:r>
              <a:rPr lang="en-US" altLang="zh-CN" sz="2400" b="0" dirty="0">
                <a:solidFill>
                  <a:srgbClr val="3333CC"/>
                </a:solidFill>
                <a:latin typeface="Arial" pitchFamily="34" charset="0"/>
                <a:ea typeface="SimHei" panose="02010609060101010101" pitchFamily="49" charset="-122"/>
              </a:rPr>
              <a:t>?</a:t>
            </a:r>
          </a:p>
        </p:txBody>
      </p:sp>
    </p:spTree>
    <p:extLst>
      <p:ext uri="{BB962C8B-B14F-4D97-AF65-F5344CB8AC3E}">
        <p14:creationId xmlns:p14="http://schemas.microsoft.com/office/powerpoint/2010/main" val="118028450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/>
    </p:bldLst>
  </p:timing>
</p:sld>
</file>

<file path=ppt/slides/slide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>
            <a:extLst>
              <a:ext uri="{FF2B5EF4-FFF2-40B4-BE49-F238E27FC236}">
                <a16:creationId xmlns:a16="http://schemas.microsoft.com/office/drawing/2014/main" id="{40A6A486-C2D1-4922-B837-98527025860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dirty="0"/>
              <a:t>数据转发检测和控制</a:t>
            </a:r>
            <a:r>
              <a:rPr lang="en-US" altLang="zh-CN" dirty="0"/>
              <a:t>-3</a:t>
            </a:r>
            <a:endParaRPr lang="zh-CN" altLang="en-US" dirty="0"/>
          </a:p>
        </p:txBody>
      </p:sp>
      <p:sp>
        <p:nvSpPr>
          <p:cNvPr id="3" name="内容占位符 2">
            <a:extLst>
              <a:ext uri="{FF2B5EF4-FFF2-40B4-BE49-F238E27FC236}">
                <a16:creationId xmlns:a16="http://schemas.microsoft.com/office/drawing/2014/main" id="{D7C93570-CCA2-4ED3-A839-01B299110E2F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457199" y="1166020"/>
            <a:ext cx="8315689" cy="4525963"/>
          </a:xfrm>
        </p:spPr>
        <p:txBody>
          <a:bodyPr/>
          <a:lstStyle/>
          <a:p>
            <a:r>
              <a:rPr lang="zh-CN" altLang="en-US" sz="2400" dirty="0"/>
              <a:t>如果存在两条转发路径？</a:t>
            </a:r>
          </a:p>
          <a:p>
            <a:pPr lvl="1"/>
            <a:r>
              <a:rPr lang="zh-CN" altLang="en-US" sz="2000" dirty="0"/>
              <a:t>连续三条指令都有关联：前两条指令都是以关联寄存器为目的寄存器</a:t>
            </a:r>
            <a:r>
              <a:rPr lang="en-US" altLang="zh-CN" sz="2000" dirty="0"/>
              <a:t>Rd</a:t>
            </a:r>
            <a:r>
              <a:rPr lang="zh-CN" altLang="en-US" sz="2000" dirty="0"/>
              <a:t>的时候</a:t>
            </a:r>
          </a:p>
          <a:p>
            <a:pPr lvl="1"/>
            <a:r>
              <a:rPr lang="zh-CN" altLang="en-US" sz="2000" dirty="0">
                <a:solidFill>
                  <a:srgbClr val="3333FF"/>
                </a:solidFill>
              </a:rPr>
              <a:t>转发最新的数据：如果转发</a:t>
            </a:r>
            <a:r>
              <a:rPr lang="en-US" altLang="zh-CN" sz="2000" dirty="0">
                <a:solidFill>
                  <a:srgbClr val="3333FF"/>
                </a:solidFill>
              </a:rPr>
              <a:t>EXE/</a:t>
            </a:r>
            <a:r>
              <a:rPr lang="en-US" altLang="zh-CN" sz="2000" dirty="0" err="1">
                <a:solidFill>
                  <a:srgbClr val="3333FF"/>
                </a:solidFill>
              </a:rPr>
              <a:t>MEM.ALUOut</a:t>
            </a:r>
            <a:r>
              <a:rPr lang="zh-CN" altLang="en-US" sz="2000" dirty="0">
                <a:solidFill>
                  <a:srgbClr val="3333FF"/>
                </a:solidFill>
              </a:rPr>
              <a:t>数据，那就是最新的</a:t>
            </a:r>
          </a:p>
          <a:p>
            <a:endParaRPr lang="zh-CN" altLang="en-US" sz="2400" dirty="0"/>
          </a:p>
        </p:txBody>
      </p:sp>
      <p:sp>
        <p:nvSpPr>
          <p:cNvPr id="4" name="灯片编号占位符 3">
            <a:extLst>
              <a:ext uri="{FF2B5EF4-FFF2-40B4-BE49-F238E27FC236}">
                <a16:creationId xmlns:a16="http://schemas.microsoft.com/office/drawing/2014/main" id="{0D45980F-D4D3-42AC-BA2C-2E79087784C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1806CE5-282B-4233-8654-09F35EA875E2}" type="slidenum">
              <a:rPr lang="zh-CN" altLang="en-US" smtClean="0"/>
              <a:t>94</a:t>
            </a:fld>
            <a:endParaRPr lang="zh-CN" altLang="en-US"/>
          </a:p>
        </p:txBody>
      </p:sp>
      <p:grpSp>
        <p:nvGrpSpPr>
          <p:cNvPr id="6" name="Group 2">
            <a:extLst>
              <a:ext uri="{FF2B5EF4-FFF2-40B4-BE49-F238E27FC236}">
                <a16:creationId xmlns:a16="http://schemas.microsoft.com/office/drawing/2014/main" id="{79B6C1D6-265D-4449-B289-E9872285860B}"/>
              </a:ext>
            </a:extLst>
          </p:cNvPr>
          <p:cNvGrpSpPr>
            <a:grpSpLocks/>
          </p:cNvGrpSpPr>
          <p:nvPr/>
        </p:nvGrpSpPr>
        <p:grpSpPr bwMode="auto">
          <a:xfrm>
            <a:off x="5291138" y="3449638"/>
            <a:ext cx="450850" cy="2506663"/>
            <a:chOff x="3268" y="1829"/>
            <a:chExt cx="284" cy="1579"/>
          </a:xfrm>
        </p:grpSpPr>
        <p:sp>
          <p:nvSpPr>
            <p:cNvPr id="7" name="Rectangle 3">
              <a:extLst>
                <a:ext uri="{FF2B5EF4-FFF2-40B4-BE49-F238E27FC236}">
                  <a16:creationId xmlns:a16="http://schemas.microsoft.com/office/drawing/2014/main" id="{BE48202F-0634-4A0A-A629-C4F3311E855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68" y="1829"/>
              <a:ext cx="96" cy="288"/>
            </a:xfrm>
            <a:prstGeom prst="rect">
              <a:avLst/>
            </a:prstGeom>
            <a:solidFill>
              <a:schemeClr val="accent1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8" name="Line 4">
              <a:extLst>
                <a:ext uri="{FF2B5EF4-FFF2-40B4-BE49-F238E27FC236}">
                  <a16:creationId xmlns:a16="http://schemas.microsoft.com/office/drawing/2014/main" id="{98383070-F008-4255-86A4-C405614C3CA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60" y="2112"/>
              <a:ext cx="144" cy="1008"/>
            </a:xfrm>
            <a:prstGeom prst="line">
              <a:avLst/>
            </a:prstGeom>
            <a:noFill/>
            <a:ln w="28575">
              <a:solidFill>
                <a:srgbClr val="009900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9" name="Rectangle 5">
              <a:extLst>
                <a:ext uri="{FF2B5EF4-FFF2-40B4-BE49-F238E27FC236}">
                  <a16:creationId xmlns:a16="http://schemas.microsoft.com/office/drawing/2014/main" id="{8407BF20-522F-435E-8953-B423EB851C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56" y="3120"/>
              <a:ext cx="96" cy="288"/>
            </a:xfrm>
            <a:prstGeom prst="rect">
              <a:avLst/>
            </a:prstGeom>
            <a:solidFill>
              <a:srgbClr val="009900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</p:grpSp>
      <p:grpSp>
        <p:nvGrpSpPr>
          <p:cNvPr id="10" name="Group 6">
            <a:extLst>
              <a:ext uri="{FF2B5EF4-FFF2-40B4-BE49-F238E27FC236}">
                <a16:creationId xmlns:a16="http://schemas.microsoft.com/office/drawing/2014/main" id="{AEC9960E-A9FF-4CBE-A22F-329F0B5B1CCA}"/>
              </a:ext>
            </a:extLst>
          </p:cNvPr>
          <p:cNvGrpSpPr>
            <a:grpSpLocks/>
          </p:cNvGrpSpPr>
          <p:nvPr/>
        </p:nvGrpSpPr>
        <p:grpSpPr bwMode="auto">
          <a:xfrm>
            <a:off x="5360988" y="4508500"/>
            <a:ext cx="384175" cy="1447800"/>
            <a:chOff x="3312" y="2496"/>
            <a:chExt cx="242" cy="912"/>
          </a:xfrm>
        </p:grpSpPr>
        <p:sp>
          <p:nvSpPr>
            <p:cNvPr id="11" name="Rectangle 7">
              <a:extLst>
                <a:ext uri="{FF2B5EF4-FFF2-40B4-BE49-F238E27FC236}">
                  <a16:creationId xmlns:a16="http://schemas.microsoft.com/office/drawing/2014/main" id="{0A6B807A-BCE7-41EA-A3CC-850C1ADCAD2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12" y="2496"/>
              <a:ext cx="96" cy="288"/>
            </a:xfrm>
            <a:prstGeom prst="rect">
              <a:avLst/>
            </a:prstGeom>
            <a:solidFill>
              <a:schemeClr val="accent1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12" name="Rectangle 8">
              <a:extLst>
                <a:ext uri="{FF2B5EF4-FFF2-40B4-BE49-F238E27FC236}">
                  <a16:creationId xmlns:a16="http://schemas.microsoft.com/office/drawing/2014/main" id="{D28F7238-852F-4662-B647-392B0A3041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58" y="3120"/>
              <a:ext cx="96" cy="288"/>
            </a:xfrm>
            <a:prstGeom prst="rect">
              <a:avLst/>
            </a:prstGeom>
            <a:solidFill>
              <a:srgbClr val="009900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13" name="Line 9">
              <a:extLst>
                <a:ext uri="{FF2B5EF4-FFF2-40B4-BE49-F238E27FC236}">
                  <a16:creationId xmlns:a16="http://schemas.microsoft.com/office/drawing/2014/main" id="{799C973E-6C18-40BB-9B1F-31F1DAF196C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60" y="2784"/>
              <a:ext cx="96" cy="336"/>
            </a:xfrm>
            <a:prstGeom prst="line">
              <a:avLst/>
            </a:prstGeom>
            <a:noFill/>
            <a:ln w="28575">
              <a:solidFill>
                <a:srgbClr val="009900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</p:grpSp>
      <p:grpSp>
        <p:nvGrpSpPr>
          <p:cNvPr id="14" name="Group 10">
            <a:extLst>
              <a:ext uri="{FF2B5EF4-FFF2-40B4-BE49-F238E27FC236}">
                <a16:creationId xmlns:a16="http://schemas.microsoft.com/office/drawing/2014/main" id="{CCD180C7-5703-46E9-8668-08AEDBCDA1BF}"/>
              </a:ext>
            </a:extLst>
          </p:cNvPr>
          <p:cNvGrpSpPr>
            <a:grpSpLocks/>
          </p:cNvGrpSpPr>
          <p:nvPr/>
        </p:nvGrpSpPr>
        <p:grpSpPr bwMode="auto">
          <a:xfrm>
            <a:off x="4675188" y="3441700"/>
            <a:ext cx="381000" cy="1524000"/>
            <a:chOff x="2880" y="1824"/>
            <a:chExt cx="240" cy="960"/>
          </a:xfrm>
        </p:grpSpPr>
        <p:sp>
          <p:nvSpPr>
            <p:cNvPr id="15" name="Rectangle 11">
              <a:extLst>
                <a:ext uri="{FF2B5EF4-FFF2-40B4-BE49-F238E27FC236}">
                  <a16:creationId xmlns:a16="http://schemas.microsoft.com/office/drawing/2014/main" id="{655566AF-5E39-4D7C-9880-A6CD34051C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24" y="2496"/>
              <a:ext cx="96" cy="288"/>
            </a:xfrm>
            <a:prstGeom prst="rect">
              <a:avLst/>
            </a:prstGeom>
            <a:solidFill>
              <a:srgbClr val="009900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16" name="Rectangle 12">
              <a:extLst>
                <a:ext uri="{FF2B5EF4-FFF2-40B4-BE49-F238E27FC236}">
                  <a16:creationId xmlns:a16="http://schemas.microsoft.com/office/drawing/2014/main" id="{82067EE2-F5BD-4966-B039-D9BFF0B8F7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80" y="1824"/>
              <a:ext cx="96" cy="288"/>
            </a:xfrm>
            <a:prstGeom prst="rect">
              <a:avLst/>
            </a:prstGeom>
            <a:solidFill>
              <a:schemeClr val="accent1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17" name="Line 13">
              <a:extLst>
                <a:ext uri="{FF2B5EF4-FFF2-40B4-BE49-F238E27FC236}">
                  <a16:creationId xmlns:a16="http://schemas.microsoft.com/office/drawing/2014/main" id="{1C16DE72-9BEA-434E-8BEC-5B32D902F26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28" y="2112"/>
              <a:ext cx="96" cy="384"/>
            </a:xfrm>
            <a:prstGeom prst="line">
              <a:avLst/>
            </a:prstGeom>
            <a:noFill/>
            <a:ln w="28575">
              <a:solidFill>
                <a:srgbClr val="009900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</p:grpSp>
      <p:sp>
        <p:nvSpPr>
          <p:cNvPr id="18" name="Rectangle 15">
            <a:extLst>
              <a:ext uri="{FF2B5EF4-FFF2-40B4-BE49-F238E27FC236}">
                <a16:creationId xmlns:a16="http://schemas.microsoft.com/office/drawing/2014/main" id="{DC4FF3C0-0A26-41D5-BEB5-B0275E7AA09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0213" y="3289300"/>
            <a:ext cx="358775" cy="31099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73" tIns="44442" rIns="90473" bIns="44442">
            <a:spAutoFit/>
          </a:bodyPr>
          <a:lstStyle/>
          <a:p>
            <a:pPr algn="ctr" eaLnBrk="0" hangingPunct="0"/>
            <a:r>
              <a:rPr lang="en-US" altLang="zh-CN" i="1" dirty="0">
                <a:latin typeface="Arial" pitchFamily="34" charset="0"/>
                <a:ea typeface="SimHei" panose="02010609060101010101" pitchFamily="49" charset="-122"/>
              </a:rPr>
              <a:t>I</a:t>
            </a:r>
          </a:p>
          <a:p>
            <a:pPr algn="ctr" eaLnBrk="0" hangingPunct="0"/>
            <a:r>
              <a:rPr lang="en-US" altLang="zh-CN" i="1" dirty="0">
                <a:latin typeface="Arial" pitchFamily="34" charset="0"/>
                <a:ea typeface="SimHei" panose="02010609060101010101" pitchFamily="49" charset="-122"/>
              </a:rPr>
              <a:t>n</a:t>
            </a:r>
          </a:p>
          <a:p>
            <a:pPr algn="ctr" eaLnBrk="0" hangingPunct="0"/>
            <a:r>
              <a:rPr lang="en-US" altLang="zh-CN" i="1" dirty="0">
                <a:latin typeface="Arial" pitchFamily="34" charset="0"/>
                <a:ea typeface="SimHei" panose="02010609060101010101" pitchFamily="49" charset="-122"/>
              </a:rPr>
              <a:t>s</a:t>
            </a:r>
          </a:p>
          <a:p>
            <a:pPr algn="ctr" eaLnBrk="0" hangingPunct="0"/>
            <a:r>
              <a:rPr lang="en-US" altLang="zh-CN" i="1" dirty="0">
                <a:latin typeface="Arial" pitchFamily="34" charset="0"/>
                <a:ea typeface="SimHei" panose="02010609060101010101" pitchFamily="49" charset="-122"/>
              </a:rPr>
              <a:t>t</a:t>
            </a:r>
          </a:p>
          <a:p>
            <a:pPr algn="ctr" eaLnBrk="0" hangingPunct="0"/>
            <a:r>
              <a:rPr lang="en-US" altLang="zh-CN" i="1" dirty="0">
                <a:latin typeface="Arial" pitchFamily="34" charset="0"/>
                <a:ea typeface="SimHei" panose="02010609060101010101" pitchFamily="49" charset="-122"/>
              </a:rPr>
              <a:t>r.</a:t>
            </a:r>
          </a:p>
          <a:p>
            <a:pPr algn="ctr" eaLnBrk="0" hangingPunct="0"/>
            <a:endParaRPr lang="en-US" altLang="zh-CN" i="1" dirty="0">
              <a:latin typeface="Arial" pitchFamily="34" charset="0"/>
              <a:ea typeface="SimHei" panose="02010609060101010101" pitchFamily="49" charset="-122"/>
            </a:endParaRPr>
          </a:p>
          <a:p>
            <a:pPr algn="ctr" eaLnBrk="0" hangingPunct="0"/>
            <a:r>
              <a:rPr lang="en-US" altLang="zh-CN" i="1" dirty="0">
                <a:latin typeface="Arial" pitchFamily="34" charset="0"/>
                <a:ea typeface="SimHei" panose="02010609060101010101" pitchFamily="49" charset="-122"/>
              </a:rPr>
              <a:t>O</a:t>
            </a:r>
          </a:p>
          <a:p>
            <a:pPr algn="ctr" eaLnBrk="0" hangingPunct="0"/>
            <a:r>
              <a:rPr lang="en-US" altLang="zh-CN" i="1" dirty="0">
                <a:latin typeface="Arial" pitchFamily="34" charset="0"/>
                <a:ea typeface="SimHei" panose="02010609060101010101" pitchFamily="49" charset="-122"/>
              </a:rPr>
              <a:t>r</a:t>
            </a:r>
          </a:p>
          <a:p>
            <a:pPr algn="ctr" eaLnBrk="0" hangingPunct="0"/>
            <a:r>
              <a:rPr lang="en-US" altLang="zh-CN" i="1" dirty="0">
                <a:latin typeface="Arial" pitchFamily="34" charset="0"/>
                <a:ea typeface="SimHei" panose="02010609060101010101" pitchFamily="49" charset="-122"/>
              </a:rPr>
              <a:t>d</a:t>
            </a:r>
          </a:p>
          <a:p>
            <a:pPr algn="ctr" eaLnBrk="0" hangingPunct="0"/>
            <a:r>
              <a:rPr lang="en-US" altLang="zh-CN" i="1" dirty="0">
                <a:latin typeface="Arial" pitchFamily="34" charset="0"/>
                <a:ea typeface="SimHei" panose="02010609060101010101" pitchFamily="49" charset="-122"/>
              </a:rPr>
              <a:t>e</a:t>
            </a:r>
          </a:p>
          <a:p>
            <a:pPr algn="ctr" eaLnBrk="0" hangingPunct="0"/>
            <a:r>
              <a:rPr lang="en-US" altLang="zh-CN" i="1" dirty="0">
                <a:latin typeface="Arial" pitchFamily="34" charset="0"/>
                <a:ea typeface="SimHei" panose="02010609060101010101" pitchFamily="49" charset="-122"/>
              </a:rPr>
              <a:t>r</a:t>
            </a:r>
          </a:p>
        </p:txBody>
      </p:sp>
      <p:sp>
        <p:nvSpPr>
          <p:cNvPr id="19" name="Line 16">
            <a:extLst>
              <a:ext uri="{FF2B5EF4-FFF2-40B4-BE49-F238E27FC236}">
                <a16:creationId xmlns:a16="http://schemas.microsoft.com/office/drawing/2014/main" id="{CF339D6C-188B-4A62-8E17-C17E5CBDC19F}"/>
              </a:ext>
            </a:extLst>
          </p:cNvPr>
          <p:cNvSpPr>
            <a:spLocks noChangeShapeType="1"/>
          </p:cNvSpPr>
          <p:nvPr/>
        </p:nvSpPr>
        <p:spPr bwMode="auto">
          <a:xfrm>
            <a:off x="2236788" y="2913063"/>
            <a:ext cx="6311900" cy="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20" name="Rectangle 17">
            <a:extLst>
              <a:ext uri="{FF2B5EF4-FFF2-40B4-BE49-F238E27FC236}">
                <a16:creationId xmlns:a16="http://schemas.microsoft.com/office/drawing/2014/main" id="{E632DC39-A296-49BC-9406-2E18D35C0D62}"/>
              </a:ext>
            </a:extLst>
          </p:cNvPr>
          <p:cNvSpPr>
            <a:spLocks noChangeArrowheads="1"/>
          </p:cNvSpPr>
          <p:nvPr/>
        </p:nvSpPr>
        <p:spPr bwMode="auto">
          <a:xfrm>
            <a:off x="865188" y="3365500"/>
            <a:ext cx="1981282" cy="45908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73" tIns="44442" rIns="90473" bIns="44442">
            <a:spAutoFit/>
          </a:bodyPr>
          <a:lstStyle/>
          <a:p>
            <a:pPr eaLnBrk="0" hangingPunct="0"/>
            <a:r>
              <a:rPr lang="en-US" altLang="zh-CN" sz="2400" dirty="0">
                <a:latin typeface="Arial" pitchFamily="34" charset="0"/>
                <a:ea typeface="SimHei" panose="02010609060101010101" pitchFamily="49" charset="-122"/>
              </a:rPr>
              <a:t>add </a:t>
            </a:r>
            <a:r>
              <a:rPr lang="en-US" altLang="zh-CN" sz="2400" dirty="0">
                <a:solidFill>
                  <a:schemeClr val="accent1"/>
                </a:solidFill>
                <a:latin typeface="Arial" pitchFamily="34" charset="0"/>
                <a:ea typeface="SimHei" panose="02010609060101010101" pitchFamily="49" charset="-122"/>
              </a:rPr>
              <a:t>$1</a:t>
            </a:r>
            <a:r>
              <a:rPr lang="en-US" altLang="zh-CN" sz="2400" dirty="0">
                <a:latin typeface="Arial" pitchFamily="34" charset="0"/>
                <a:ea typeface="SimHei" panose="02010609060101010101" pitchFamily="49" charset="-122"/>
              </a:rPr>
              <a:t>,$1,$2</a:t>
            </a:r>
          </a:p>
        </p:txBody>
      </p:sp>
      <p:grpSp>
        <p:nvGrpSpPr>
          <p:cNvPr id="21" name="Group 18">
            <a:extLst>
              <a:ext uri="{FF2B5EF4-FFF2-40B4-BE49-F238E27FC236}">
                <a16:creationId xmlns:a16="http://schemas.microsoft.com/office/drawing/2014/main" id="{285E86C6-772A-4D42-9CFC-5C327E871B8F}"/>
              </a:ext>
            </a:extLst>
          </p:cNvPr>
          <p:cNvGrpSpPr>
            <a:grpSpLocks/>
          </p:cNvGrpSpPr>
          <p:nvPr/>
        </p:nvGrpSpPr>
        <p:grpSpPr bwMode="auto">
          <a:xfrm>
            <a:off x="3417888" y="3040063"/>
            <a:ext cx="4800600" cy="3449637"/>
            <a:chOff x="2088" y="659"/>
            <a:chExt cx="3024" cy="2816"/>
          </a:xfrm>
        </p:grpSpPr>
        <p:sp>
          <p:nvSpPr>
            <p:cNvPr id="22" name="Line 19">
              <a:extLst>
                <a:ext uri="{FF2B5EF4-FFF2-40B4-BE49-F238E27FC236}">
                  <a16:creationId xmlns:a16="http://schemas.microsoft.com/office/drawing/2014/main" id="{D3246DAD-9575-4FCC-9814-8B62C748D73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088" y="659"/>
              <a:ext cx="0" cy="2816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prstDash val="sysDot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23" name="Line 20">
              <a:extLst>
                <a:ext uri="{FF2B5EF4-FFF2-40B4-BE49-F238E27FC236}">
                  <a16:creationId xmlns:a16="http://schemas.microsoft.com/office/drawing/2014/main" id="{8821BD4C-9704-4F19-A826-7CDEBEFD4ED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520" y="659"/>
              <a:ext cx="0" cy="2816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prstDash val="sysDot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24" name="Line 21">
              <a:extLst>
                <a:ext uri="{FF2B5EF4-FFF2-40B4-BE49-F238E27FC236}">
                  <a16:creationId xmlns:a16="http://schemas.microsoft.com/office/drawing/2014/main" id="{F940D48E-A54B-4F93-9593-2846E9EF57E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52" y="659"/>
              <a:ext cx="0" cy="2816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prstDash val="sysDot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25" name="Line 22">
              <a:extLst>
                <a:ext uri="{FF2B5EF4-FFF2-40B4-BE49-F238E27FC236}">
                  <a16:creationId xmlns:a16="http://schemas.microsoft.com/office/drawing/2014/main" id="{315DB35B-2A68-4CC7-8E67-F997D3CA4C9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84" y="659"/>
              <a:ext cx="0" cy="2816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prstDash val="sysDot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26" name="Line 23">
              <a:extLst>
                <a:ext uri="{FF2B5EF4-FFF2-40B4-BE49-F238E27FC236}">
                  <a16:creationId xmlns:a16="http://schemas.microsoft.com/office/drawing/2014/main" id="{A63C4AA8-9C76-46F5-9975-489460E6E2D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16" y="659"/>
              <a:ext cx="0" cy="2816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prstDash val="sysDot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27" name="Line 24">
              <a:extLst>
                <a:ext uri="{FF2B5EF4-FFF2-40B4-BE49-F238E27FC236}">
                  <a16:creationId xmlns:a16="http://schemas.microsoft.com/office/drawing/2014/main" id="{68836BCA-DA31-4CA6-9AC8-7A6C77DEA50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48" y="659"/>
              <a:ext cx="0" cy="2816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prstDash val="sysDot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28" name="Line 25">
              <a:extLst>
                <a:ext uri="{FF2B5EF4-FFF2-40B4-BE49-F238E27FC236}">
                  <a16:creationId xmlns:a16="http://schemas.microsoft.com/office/drawing/2014/main" id="{A0C2596F-6DFD-4BA4-8719-41B346A2C99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80" y="659"/>
              <a:ext cx="0" cy="2816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prstDash val="sysDot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29" name="Line 26">
              <a:extLst>
                <a:ext uri="{FF2B5EF4-FFF2-40B4-BE49-F238E27FC236}">
                  <a16:creationId xmlns:a16="http://schemas.microsoft.com/office/drawing/2014/main" id="{746DEF94-4BB6-4496-9BC1-C9E65ABC9BA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12" y="659"/>
              <a:ext cx="0" cy="2816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prstDash val="sysDot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</p:grpSp>
      <p:sp>
        <p:nvSpPr>
          <p:cNvPr id="30" name="Line 27">
            <a:extLst>
              <a:ext uri="{FF2B5EF4-FFF2-40B4-BE49-F238E27FC236}">
                <a16:creationId xmlns:a16="http://schemas.microsoft.com/office/drawing/2014/main" id="{72F8E98E-A310-4BC8-8761-B1B8A36973E3}"/>
              </a:ext>
            </a:extLst>
          </p:cNvPr>
          <p:cNvSpPr>
            <a:spLocks noChangeShapeType="1"/>
          </p:cNvSpPr>
          <p:nvPr/>
        </p:nvSpPr>
        <p:spPr bwMode="auto">
          <a:xfrm>
            <a:off x="788988" y="3441700"/>
            <a:ext cx="0" cy="2514600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grpSp>
        <p:nvGrpSpPr>
          <p:cNvPr id="31" name="Group 28">
            <a:extLst>
              <a:ext uri="{FF2B5EF4-FFF2-40B4-BE49-F238E27FC236}">
                <a16:creationId xmlns:a16="http://schemas.microsoft.com/office/drawing/2014/main" id="{8DB95864-0F29-44F0-9440-334E6D50840C}"/>
              </a:ext>
            </a:extLst>
          </p:cNvPr>
          <p:cNvGrpSpPr>
            <a:grpSpLocks/>
          </p:cNvGrpSpPr>
          <p:nvPr/>
        </p:nvGrpSpPr>
        <p:grpSpPr bwMode="auto">
          <a:xfrm>
            <a:off x="2844801" y="3289300"/>
            <a:ext cx="3357562" cy="838200"/>
            <a:chOff x="1562" y="1152"/>
            <a:chExt cx="2114" cy="528"/>
          </a:xfrm>
        </p:grpSpPr>
        <p:grpSp>
          <p:nvGrpSpPr>
            <p:cNvPr id="32" name="Group 29">
              <a:extLst>
                <a:ext uri="{FF2B5EF4-FFF2-40B4-BE49-F238E27FC236}">
                  <a16:creationId xmlns:a16="http://schemas.microsoft.com/office/drawing/2014/main" id="{64B5107E-D14E-4A13-A5EB-BB09CA4F640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497" y="1152"/>
              <a:ext cx="223" cy="481"/>
              <a:chOff x="2217" y="1413"/>
              <a:chExt cx="223" cy="481"/>
            </a:xfrm>
          </p:grpSpPr>
          <p:sp>
            <p:nvSpPr>
              <p:cNvPr id="62" name="Freeform 30">
                <a:extLst>
                  <a:ext uri="{FF2B5EF4-FFF2-40B4-BE49-F238E27FC236}">
                    <a16:creationId xmlns:a16="http://schemas.microsoft.com/office/drawing/2014/main" id="{F8DFD33F-0AEB-4AE2-939A-8CABEA9AF9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7" y="1413"/>
                <a:ext cx="213" cy="481"/>
              </a:xfrm>
              <a:custGeom>
                <a:avLst/>
                <a:gdLst>
                  <a:gd name="T0" fmla="*/ 0 w 213"/>
                  <a:gd name="T1" fmla="*/ 320 h 481"/>
                  <a:gd name="T2" fmla="*/ 71 w 213"/>
                  <a:gd name="T3" fmla="*/ 240 h 481"/>
                  <a:gd name="T4" fmla="*/ 0 w 213"/>
                  <a:gd name="T5" fmla="*/ 160 h 481"/>
                  <a:gd name="T6" fmla="*/ 0 w 213"/>
                  <a:gd name="T7" fmla="*/ 0 h 481"/>
                  <a:gd name="T8" fmla="*/ 212 w 213"/>
                  <a:gd name="T9" fmla="*/ 160 h 481"/>
                  <a:gd name="T10" fmla="*/ 212 w 213"/>
                  <a:gd name="T11" fmla="*/ 320 h 481"/>
                  <a:gd name="T12" fmla="*/ 0 w 213"/>
                  <a:gd name="T13" fmla="*/ 480 h 481"/>
                  <a:gd name="T14" fmla="*/ 0 w 213"/>
                  <a:gd name="T15" fmla="*/ 320 h 48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13" h="481">
                    <a:moveTo>
                      <a:pt x="0" y="320"/>
                    </a:moveTo>
                    <a:lnTo>
                      <a:pt x="71" y="240"/>
                    </a:lnTo>
                    <a:lnTo>
                      <a:pt x="0" y="160"/>
                    </a:lnTo>
                    <a:lnTo>
                      <a:pt x="0" y="0"/>
                    </a:lnTo>
                    <a:lnTo>
                      <a:pt x="212" y="160"/>
                    </a:lnTo>
                    <a:lnTo>
                      <a:pt x="212" y="320"/>
                    </a:lnTo>
                    <a:lnTo>
                      <a:pt x="0" y="480"/>
                    </a:lnTo>
                    <a:lnTo>
                      <a:pt x="0" y="320"/>
                    </a:lnTo>
                  </a:path>
                </a:pathLst>
              </a:custGeom>
              <a:noFill/>
              <a:ln w="25400" cap="rnd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dirty="0">
                  <a:ea typeface="SimHei" panose="02010609060101010101" pitchFamily="49" charset="-122"/>
                </a:endParaRPr>
              </a:p>
            </p:txBody>
          </p:sp>
          <p:sp>
            <p:nvSpPr>
              <p:cNvPr id="63" name="Rectangle 31">
                <a:extLst>
                  <a:ext uri="{FF2B5EF4-FFF2-40B4-BE49-F238E27FC236}">
                    <a16:creationId xmlns:a16="http://schemas.microsoft.com/office/drawing/2014/main" id="{1D14C764-9527-4B5C-A374-01521B5D65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5400000">
                <a:off x="2151" y="1532"/>
                <a:ext cx="366" cy="21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12700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lIns="90473" tIns="44442" rIns="90473" bIns="44442">
                <a:spAutoFit/>
              </a:bodyPr>
              <a:lstStyle/>
              <a:p>
                <a:pPr eaLnBrk="0" hangingPunct="0"/>
                <a:r>
                  <a:rPr lang="en-US" altLang="zh-CN" sz="1600" dirty="0">
                    <a:latin typeface="Arial" pitchFamily="34" charset="0"/>
                    <a:ea typeface="SimHei" panose="02010609060101010101" pitchFamily="49" charset="-122"/>
                  </a:rPr>
                  <a:t>ALU</a:t>
                </a:r>
              </a:p>
            </p:txBody>
          </p:sp>
        </p:grpSp>
        <p:grpSp>
          <p:nvGrpSpPr>
            <p:cNvPr id="33" name="Group 32">
              <a:extLst>
                <a:ext uri="{FF2B5EF4-FFF2-40B4-BE49-F238E27FC236}">
                  <a16:creationId xmlns:a16="http://schemas.microsoft.com/office/drawing/2014/main" id="{15A938F1-4F63-4EFD-B541-44987CCE907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562" y="1248"/>
              <a:ext cx="349" cy="289"/>
              <a:chOff x="1282" y="1509"/>
              <a:chExt cx="349" cy="289"/>
            </a:xfrm>
          </p:grpSpPr>
          <p:sp>
            <p:nvSpPr>
              <p:cNvPr id="58" name="Rectangle 33">
                <a:extLst>
                  <a:ext uri="{FF2B5EF4-FFF2-40B4-BE49-F238E27FC236}">
                    <a16:creationId xmlns:a16="http://schemas.microsoft.com/office/drawing/2014/main" id="{5A64B15E-85D8-4493-8B55-F2650B9ADC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82" y="1511"/>
                <a:ext cx="257" cy="21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12700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lIns="90473" tIns="44442" rIns="90473" bIns="44442">
                <a:spAutoFit/>
              </a:bodyPr>
              <a:lstStyle/>
              <a:p>
                <a:pPr algn="ctr" eaLnBrk="0" hangingPunct="0"/>
                <a:r>
                  <a:rPr lang="en-US" altLang="zh-CN" sz="1600" dirty="0">
                    <a:latin typeface="Arial" pitchFamily="34" charset="0"/>
                    <a:ea typeface="SimHei" panose="02010609060101010101" pitchFamily="49" charset="-122"/>
                  </a:rPr>
                  <a:t>IM</a:t>
                </a:r>
              </a:p>
            </p:txBody>
          </p:sp>
          <p:grpSp>
            <p:nvGrpSpPr>
              <p:cNvPr id="59" name="Group 34">
                <a:extLst>
                  <a:ext uri="{FF2B5EF4-FFF2-40B4-BE49-F238E27FC236}">
                    <a16:creationId xmlns:a16="http://schemas.microsoft.com/office/drawing/2014/main" id="{0D34B238-370B-47C8-85A3-429CA15B568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291" y="1509"/>
                <a:ext cx="340" cy="289"/>
                <a:chOff x="1291" y="1509"/>
                <a:chExt cx="340" cy="289"/>
              </a:xfrm>
            </p:grpSpPr>
            <p:sp>
              <p:nvSpPr>
                <p:cNvPr id="60" name="Freeform 35">
                  <a:extLst>
                    <a:ext uri="{FF2B5EF4-FFF2-40B4-BE49-F238E27FC236}">
                      <a16:creationId xmlns:a16="http://schemas.microsoft.com/office/drawing/2014/main" id="{B534670D-579B-432C-BE66-B170B7C5337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291" y="1509"/>
                  <a:ext cx="170" cy="289"/>
                </a:xfrm>
                <a:custGeom>
                  <a:avLst/>
                  <a:gdLst>
                    <a:gd name="T0" fmla="*/ 169 w 170"/>
                    <a:gd name="T1" fmla="*/ 0 h 289"/>
                    <a:gd name="T2" fmla="*/ 0 w 170"/>
                    <a:gd name="T3" fmla="*/ 0 h 289"/>
                    <a:gd name="T4" fmla="*/ 0 w 170"/>
                    <a:gd name="T5" fmla="*/ 288 h 289"/>
                    <a:gd name="T6" fmla="*/ 169 w 170"/>
                    <a:gd name="T7" fmla="*/ 288 h 289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170" h="289">
                      <a:moveTo>
                        <a:pt x="169" y="0"/>
                      </a:moveTo>
                      <a:lnTo>
                        <a:pt x="0" y="0"/>
                      </a:lnTo>
                      <a:lnTo>
                        <a:pt x="0" y="288"/>
                      </a:lnTo>
                      <a:lnTo>
                        <a:pt x="169" y="288"/>
                      </a:lnTo>
                    </a:path>
                  </a:pathLst>
                </a:custGeom>
                <a:noFill/>
                <a:ln w="25400" cap="rnd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zh-CN" altLang="en-US" dirty="0">
                    <a:ea typeface="SimHei" panose="02010609060101010101" pitchFamily="49" charset="-122"/>
                  </a:endParaRPr>
                </a:p>
              </p:txBody>
            </p:sp>
            <p:sp>
              <p:nvSpPr>
                <p:cNvPr id="61" name="Freeform 36">
                  <a:extLst>
                    <a:ext uri="{FF2B5EF4-FFF2-40B4-BE49-F238E27FC236}">
                      <a16:creationId xmlns:a16="http://schemas.microsoft.com/office/drawing/2014/main" id="{23FCC0C5-2F5F-4733-AD59-5557E0D911F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460" y="1509"/>
                  <a:ext cx="171" cy="289"/>
                </a:xfrm>
                <a:custGeom>
                  <a:avLst/>
                  <a:gdLst>
                    <a:gd name="T0" fmla="*/ 0 w 171"/>
                    <a:gd name="T1" fmla="*/ 0 h 289"/>
                    <a:gd name="T2" fmla="*/ 170 w 171"/>
                    <a:gd name="T3" fmla="*/ 0 h 289"/>
                    <a:gd name="T4" fmla="*/ 170 w 171"/>
                    <a:gd name="T5" fmla="*/ 288 h 289"/>
                    <a:gd name="T6" fmla="*/ 0 w 171"/>
                    <a:gd name="T7" fmla="*/ 288 h 289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171" h="289">
                      <a:moveTo>
                        <a:pt x="0" y="0"/>
                      </a:moveTo>
                      <a:lnTo>
                        <a:pt x="170" y="0"/>
                      </a:lnTo>
                      <a:lnTo>
                        <a:pt x="170" y="288"/>
                      </a:lnTo>
                      <a:lnTo>
                        <a:pt x="0" y="288"/>
                      </a:lnTo>
                    </a:path>
                  </a:pathLst>
                </a:custGeom>
                <a:noFill/>
                <a:ln w="25400" cap="rnd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zh-CN" altLang="en-US" dirty="0">
                    <a:ea typeface="SimHei" panose="02010609060101010101" pitchFamily="49" charset="-122"/>
                  </a:endParaRPr>
                </a:p>
              </p:txBody>
            </p:sp>
          </p:grpSp>
        </p:grpSp>
        <p:sp>
          <p:nvSpPr>
            <p:cNvPr id="34" name="Rectangle 37">
              <a:extLst>
                <a:ext uri="{FF2B5EF4-FFF2-40B4-BE49-F238E27FC236}">
                  <a16:creationId xmlns:a16="http://schemas.microsoft.com/office/drawing/2014/main" id="{09078F53-7653-4E20-9ADD-27501E06E0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12" y="1255"/>
              <a:ext cx="355" cy="21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73" tIns="44442" rIns="90473" bIns="44442">
              <a:spAutoFit/>
            </a:bodyPr>
            <a:lstStyle/>
            <a:p>
              <a:pPr eaLnBrk="0" hangingPunct="0"/>
              <a:r>
                <a:rPr lang="en-US" altLang="zh-CN" sz="1600" dirty="0">
                  <a:latin typeface="Arial" pitchFamily="34" charset="0"/>
                  <a:ea typeface="SimHei" panose="02010609060101010101" pitchFamily="49" charset="-122"/>
                </a:rPr>
                <a:t>Reg</a:t>
              </a:r>
            </a:p>
          </p:txBody>
        </p:sp>
        <p:grpSp>
          <p:nvGrpSpPr>
            <p:cNvPr id="35" name="Group 38">
              <a:extLst>
                <a:ext uri="{FF2B5EF4-FFF2-40B4-BE49-F238E27FC236}">
                  <a16:creationId xmlns:a16="http://schemas.microsoft.com/office/drawing/2014/main" id="{1B532F32-C1AD-4873-B687-49757FA31F3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031" y="1248"/>
              <a:ext cx="296" cy="289"/>
              <a:chOff x="1751" y="1509"/>
              <a:chExt cx="296" cy="289"/>
            </a:xfrm>
          </p:grpSpPr>
          <p:sp>
            <p:nvSpPr>
              <p:cNvPr id="56" name="Freeform 39">
                <a:extLst>
                  <a:ext uri="{FF2B5EF4-FFF2-40B4-BE49-F238E27FC236}">
                    <a16:creationId xmlns:a16="http://schemas.microsoft.com/office/drawing/2014/main" id="{FF6F713F-1ADA-4866-A8F7-6D4B6A1885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1" y="1509"/>
                <a:ext cx="149" cy="289"/>
              </a:xfrm>
              <a:custGeom>
                <a:avLst/>
                <a:gdLst>
                  <a:gd name="T0" fmla="*/ 148 w 149"/>
                  <a:gd name="T1" fmla="*/ 0 h 289"/>
                  <a:gd name="T2" fmla="*/ 0 w 149"/>
                  <a:gd name="T3" fmla="*/ 0 h 289"/>
                  <a:gd name="T4" fmla="*/ 0 w 149"/>
                  <a:gd name="T5" fmla="*/ 288 h 289"/>
                  <a:gd name="T6" fmla="*/ 148 w 149"/>
                  <a:gd name="T7" fmla="*/ 288 h 28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9" h="289">
                    <a:moveTo>
                      <a:pt x="148" y="0"/>
                    </a:moveTo>
                    <a:lnTo>
                      <a:pt x="0" y="0"/>
                    </a:lnTo>
                    <a:lnTo>
                      <a:pt x="0" y="288"/>
                    </a:lnTo>
                    <a:lnTo>
                      <a:pt x="148" y="288"/>
                    </a:lnTo>
                  </a:path>
                </a:pathLst>
              </a:custGeom>
              <a:noFill/>
              <a:ln w="25400" cap="rnd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dirty="0">
                  <a:ea typeface="SimHei" panose="02010609060101010101" pitchFamily="49" charset="-122"/>
                </a:endParaRPr>
              </a:p>
            </p:txBody>
          </p:sp>
          <p:sp>
            <p:nvSpPr>
              <p:cNvPr id="57" name="Freeform 40">
                <a:extLst>
                  <a:ext uri="{FF2B5EF4-FFF2-40B4-BE49-F238E27FC236}">
                    <a16:creationId xmlns:a16="http://schemas.microsoft.com/office/drawing/2014/main" id="{CA7253CB-89F0-44F9-8F3A-35CFE66C0C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9" y="1509"/>
                <a:ext cx="148" cy="289"/>
              </a:xfrm>
              <a:custGeom>
                <a:avLst/>
                <a:gdLst>
                  <a:gd name="T0" fmla="*/ 0 w 148"/>
                  <a:gd name="T1" fmla="*/ 0 h 289"/>
                  <a:gd name="T2" fmla="*/ 147 w 148"/>
                  <a:gd name="T3" fmla="*/ 0 h 289"/>
                  <a:gd name="T4" fmla="*/ 147 w 148"/>
                  <a:gd name="T5" fmla="*/ 288 h 289"/>
                  <a:gd name="T6" fmla="*/ 0 w 148"/>
                  <a:gd name="T7" fmla="*/ 288 h 28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8" h="289">
                    <a:moveTo>
                      <a:pt x="0" y="0"/>
                    </a:moveTo>
                    <a:lnTo>
                      <a:pt x="147" y="0"/>
                    </a:lnTo>
                    <a:lnTo>
                      <a:pt x="147" y="288"/>
                    </a:lnTo>
                    <a:lnTo>
                      <a:pt x="0" y="288"/>
                    </a:lnTo>
                  </a:path>
                </a:pathLst>
              </a:custGeom>
              <a:noFill/>
              <a:ln w="25400" cap="rnd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dirty="0">
                  <a:ea typeface="SimHei" panose="02010609060101010101" pitchFamily="49" charset="-122"/>
                </a:endParaRPr>
              </a:p>
            </p:txBody>
          </p:sp>
        </p:grpSp>
        <p:sp>
          <p:nvSpPr>
            <p:cNvPr id="36" name="Line 41">
              <a:extLst>
                <a:ext uri="{FF2B5EF4-FFF2-40B4-BE49-F238E27FC236}">
                  <a16:creationId xmlns:a16="http://schemas.microsoft.com/office/drawing/2014/main" id="{0D80E284-2542-45E1-9706-433ADCF9935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916" y="1392"/>
              <a:ext cx="116" cy="0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37" name="Freeform 42">
              <a:extLst>
                <a:ext uri="{FF2B5EF4-FFF2-40B4-BE49-F238E27FC236}">
                  <a16:creationId xmlns:a16="http://schemas.microsoft.com/office/drawing/2014/main" id="{C101CF13-DF1C-471A-8D85-FA6FBA5DCDD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4" y="1296"/>
              <a:ext cx="48" cy="97"/>
            </a:xfrm>
            <a:custGeom>
              <a:avLst/>
              <a:gdLst>
                <a:gd name="T0" fmla="*/ 0 w 48"/>
                <a:gd name="T1" fmla="*/ 96 h 97"/>
                <a:gd name="T2" fmla="*/ 0 w 48"/>
                <a:gd name="T3" fmla="*/ 0 h 97"/>
                <a:gd name="T4" fmla="*/ 47 w 48"/>
                <a:gd name="T5" fmla="*/ 0 h 97"/>
                <a:gd name="T6" fmla="*/ 47 w 48"/>
                <a:gd name="T7" fmla="*/ 0 h 9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8" h="97">
                  <a:moveTo>
                    <a:pt x="0" y="96"/>
                  </a:moveTo>
                  <a:lnTo>
                    <a:pt x="0" y="0"/>
                  </a:lnTo>
                  <a:lnTo>
                    <a:pt x="47" y="0"/>
                  </a:lnTo>
                </a:path>
              </a:pathLst>
            </a:custGeom>
            <a:noFill/>
            <a:ln w="25400" cap="rnd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38" name="Line 43">
              <a:extLst>
                <a:ext uri="{FF2B5EF4-FFF2-40B4-BE49-F238E27FC236}">
                  <a16:creationId xmlns:a16="http://schemas.microsoft.com/office/drawing/2014/main" id="{24CE0346-DA19-44BB-A1A0-9C9BF976E49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332" y="1296"/>
              <a:ext cx="157" cy="0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39" name="Rectangle 44">
              <a:extLst>
                <a:ext uri="{FF2B5EF4-FFF2-40B4-BE49-F238E27FC236}">
                  <a16:creationId xmlns:a16="http://schemas.microsoft.com/office/drawing/2014/main" id="{E7F7BB6C-E030-4A15-8349-BAB9FDFC7C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29" y="1250"/>
              <a:ext cx="313" cy="21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73" tIns="44442" rIns="90473" bIns="44442">
              <a:spAutoFit/>
            </a:bodyPr>
            <a:lstStyle/>
            <a:p>
              <a:pPr eaLnBrk="0" hangingPunct="0"/>
              <a:r>
                <a:rPr lang="en-US" altLang="zh-CN" sz="1600" dirty="0">
                  <a:latin typeface="Arial" pitchFamily="34" charset="0"/>
                  <a:ea typeface="SimHei" panose="02010609060101010101" pitchFamily="49" charset="-122"/>
                </a:rPr>
                <a:t>DM</a:t>
              </a:r>
            </a:p>
          </p:txBody>
        </p:sp>
        <p:grpSp>
          <p:nvGrpSpPr>
            <p:cNvPr id="40" name="Group 45">
              <a:extLst>
                <a:ext uri="{FF2B5EF4-FFF2-40B4-BE49-F238E27FC236}">
                  <a16:creationId xmlns:a16="http://schemas.microsoft.com/office/drawing/2014/main" id="{8316514E-F41D-4E13-BA36-24631557C3C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880" y="1248"/>
              <a:ext cx="325" cy="289"/>
              <a:chOff x="2600" y="1509"/>
              <a:chExt cx="325" cy="289"/>
            </a:xfrm>
          </p:grpSpPr>
          <p:sp>
            <p:nvSpPr>
              <p:cNvPr id="54" name="Freeform 46">
                <a:extLst>
                  <a:ext uri="{FF2B5EF4-FFF2-40B4-BE49-F238E27FC236}">
                    <a16:creationId xmlns:a16="http://schemas.microsoft.com/office/drawing/2014/main" id="{4983CCC4-B28A-4F5C-B065-A7EB4FDFC0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0" y="1509"/>
                <a:ext cx="162" cy="289"/>
              </a:xfrm>
              <a:custGeom>
                <a:avLst/>
                <a:gdLst>
                  <a:gd name="T0" fmla="*/ 161 w 162"/>
                  <a:gd name="T1" fmla="*/ 0 h 289"/>
                  <a:gd name="T2" fmla="*/ 0 w 162"/>
                  <a:gd name="T3" fmla="*/ 0 h 289"/>
                  <a:gd name="T4" fmla="*/ 0 w 162"/>
                  <a:gd name="T5" fmla="*/ 288 h 289"/>
                  <a:gd name="T6" fmla="*/ 161 w 162"/>
                  <a:gd name="T7" fmla="*/ 288 h 28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2" h="289">
                    <a:moveTo>
                      <a:pt x="161" y="0"/>
                    </a:moveTo>
                    <a:lnTo>
                      <a:pt x="0" y="0"/>
                    </a:lnTo>
                    <a:lnTo>
                      <a:pt x="0" y="288"/>
                    </a:lnTo>
                    <a:lnTo>
                      <a:pt x="161" y="288"/>
                    </a:lnTo>
                  </a:path>
                </a:pathLst>
              </a:custGeom>
              <a:noFill/>
              <a:ln w="25400" cap="rnd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dirty="0">
                  <a:ea typeface="SimHei" panose="02010609060101010101" pitchFamily="49" charset="-122"/>
                </a:endParaRPr>
              </a:p>
            </p:txBody>
          </p:sp>
          <p:sp>
            <p:nvSpPr>
              <p:cNvPr id="55" name="Freeform 47">
                <a:extLst>
                  <a:ext uri="{FF2B5EF4-FFF2-40B4-BE49-F238E27FC236}">
                    <a16:creationId xmlns:a16="http://schemas.microsoft.com/office/drawing/2014/main" id="{15F13457-664B-4DAB-9D3B-60B5876055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1" y="1509"/>
                <a:ext cx="164" cy="289"/>
              </a:xfrm>
              <a:custGeom>
                <a:avLst/>
                <a:gdLst>
                  <a:gd name="T0" fmla="*/ 0 w 164"/>
                  <a:gd name="T1" fmla="*/ 0 h 289"/>
                  <a:gd name="T2" fmla="*/ 163 w 164"/>
                  <a:gd name="T3" fmla="*/ 0 h 289"/>
                  <a:gd name="T4" fmla="*/ 163 w 164"/>
                  <a:gd name="T5" fmla="*/ 288 h 289"/>
                  <a:gd name="T6" fmla="*/ 0 w 164"/>
                  <a:gd name="T7" fmla="*/ 288 h 28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4" h="289">
                    <a:moveTo>
                      <a:pt x="0" y="0"/>
                    </a:moveTo>
                    <a:lnTo>
                      <a:pt x="163" y="0"/>
                    </a:lnTo>
                    <a:lnTo>
                      <a:pt x="163" y="288"/>
                    </a:lnTo>
                    <a:lnTo>
                      <a:pt x="0" y="288"/>
                    </a:lnTo>
                  </a:path>
                </a:pathLst>
              </a:custGeom>
              <a:noFill/>
              <a:ln w="25400" cap="rnd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dirty="0">
                  <a:ea typeface="SimHei" panose="02010609060101010101" pitchFamily="49" charset="-122"/>
                </a:endParaRPr>
              </a:p>
            </p:txBody>
          </p:sp>
        </p:grpSp>
        <p:sp>
          <p:nvSpPr>
            <p:cNvPr id="41" name="Rectangle 48">
              <a:extLst>
                <a:ext uri="{FF2B5EF4-FFF2-40B4-BE49-F238E27FC236}">
                  <a16:creationId xmlns:a16="http://schemas.microsoft.com/office/drawing/2014/main" id="{95F55902-D933-4032-A0C5-4C316EB190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21" y="1250"/>
              <a:ext cx="355" cy="21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73" tIns="44442" rIns="90473" bIns="44442">
              <a:spAutoFit/>
            </a:bodyPr>
            <a:lstStyle/>
            <a:p>
              <a:pPr eaLnBrk="0" hangingPunct="0"/>
              <a:r>
                <a:rPr lang="en-US" altLang="zh-CN" sz="1600" dirty="0">
                  <a:latin typeface="Arial" pitchFamily="34" charset="0"/>
                  <a:ea typeface="SimHei" panose="02010609060101010101" pitchFamily="49" charset="-122"/>
                </a:rPr>
                <a:t>Reg</a:t>
              </a:r>
            </a:p>
          </p:txBody>
        </p:sp>
        <p:grpSp>
          <p:nvGrpSpPr>
            <p:cNvPr id="42" name="Group 49">
              <a:extLst>
                <a:ext uri="{FF2B5EF4-FFF2-40B4-BE49-F238E27FC236}">
                  <a16:creationId xmlns:a16="http://schemas.microsoft.com/office/drawing/2014/main" id="{3AB76FF0-FE15-46D8-AE00-381BA690FF5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348" y="1248"/>
              <a:ext cx="284" cy="289"/>
              <a:chOff x="3068" y="1509"/>
              <a:chExt cx="284" cy="289"/>
            </a:xfrm>
          </p:grpSpPr>
          <p:sp>
            <p:nvSpPr>
              <p:cNvPr id="52" name="Freeform 50">
                <a:extLst>
                  <a:ext uri="{FF2B5EF4-FFF2-40B4-BE49-F238E27FC236}">
                    <a16:creationId xmlns:a16="http://schemas.microsoft.com/office/drawing/2014/main" id="{352A5EE4-E1DC-4039-A891-01F7F1106E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8" y="1509"/>
                <a:ext cx="142" cy="289"/>
              </a:xfrm>
              <a:custGeom>
                <a:avLst/>
                <a:gdLst>
                  <a:gd name="T0" fmla="*/ 141 w 142"/>
                  <a:gd name="T1" fmla="*/ 0 h 289"/>
                  <a:gd name="T2" fmla="*/ 0 w 142"/>
                  <a:gd name="T3" fmla="*/ 0 h 289"/>
                  <a:gd name="T4" fmla="*/ 0 w 142"/>
                  <a:gd name="T5" fmla="*/ 288 h 289"/>
                  <a:gd name="T6" fmla="*/ 141 w 142"/>
                  <a:gd name="T7" fmla="*/ 288 h 28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2" h="289">
                    <a:moveTo>
                      <a:pt x="141" y="0"/>
                    </a:moveTo>
                    <a:lnTo>
                      <a:pt x="0" y="0"/>
                    </a:lnTo>
                    <a:lnTo>
                      <a:pt x="0" y="288"/>
                    </a:lnTo>
                    <a:lnTo>
                      <a:pt x="141" y="288"/>
                    </a:lnTo>
                  </a:path>
                </a:pathLst>
              </a:custGeom>
              <a:noFill/>
              <a:ln w="25400" cap="rnd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dirty="0">
                  <a:ea typeface="SimHei" panose="02010609060101010101" pitchFamily="49" charset="-122"/>
                </a:endParaRPr>
              </a:p>
            </p:txBody>
          </p:sp>
          <p:sp>
            <p:nvSpPr>
              <p:cNvPr id="53" name="Freeform 51">
                <a:extLst>
                  <a:ext uri="{FF2B5EF4-FFF2-40B4-BE49-F238E27FC236}">
                    <a16:creationId xmlns:a16="http://schemas.microsoft.com/office/drawing/2014/main" id="{7102DD93-5EC3-4E3A-A08C-C7DEB39B2A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9" y="1509"/>
                <a:ext cx="143" cy="289"/>
              </a:xfrm>
              <a:custGeom>
                <a:avLst/>
                <a:gdLst>
                  <a:gd name="T0" fmla="*/ 0 w 143"/>
                  <a:gd name="T1" fmla="*/ 0 h 289"/>
                  <a:gd name="T2" fmla="*/ 142 w 143"/>
                  <a:gd name="T3" fmla="*/ 0 h 289"/>
                  <a:gd name="T4" fmla="*/ 142 w 143"/>
                  <a:gd name="T5" fmla="*/ 288 h 289"/>
                  <a:gd name="T6" fmla="*/ 0 w 143"/>
                  <a:gd name="T7" fmla="*/ 288 h 28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3" h="289">
                    <a:moveTo>
                      <a:pt x="0" y="0"/>
                    </a:moveTo>
                    <a:lnTo>
                      <a:pt x="142" y="0"/>
                    </a:lnTo>
                    <a:lnTo>
                      <a:pt x="142" y="288"/>
                    </a:lnTo>
                    <a:lnTo>
                      <a:pt x="0" y="288"/>
                    </a:lnTo>
                  </a:path>
                </a:pathLst>
              </a:custGeom>
              <a:noFill/>
              <a:ln w="25400" cap="rnd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dirty="0">
                  <a:ea typeface="SimHei" panose="02010609060101010101" pitchFamily="49" charset="-122"/>
                </a:endParaRPr>
              </a:p>
            </p:txBody>
          </p:sp>
        </p:grpSp>
        <p:sp>
          <p:nvSpPr>
            <p:cNvPr id="43" name="Line 52">
              <a:extLst>
                <a:ext uri="{FF2B5EF4-FFF2-40B4-BE49-F238E27FC236}">
                  <a16:creationId xmlns:a16="http://schemas.microsoft.com/office/drawing/2014/main" id="{3D4A1F2A-A06B-452D-AC36-FA0080FF6C5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01" y="1392"/>
              <a:ext cx="139" cy="0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44" name="Line 53">
              <a:extLst>
                <a:ext uri="{FF2B5EF4-FFF2-40B4-BE49-F238E27FC236}">
                  <a16:creationId xmlns:a16="http://schemas.microsoft.com/office/drawing/2014/main" id="{718A8C27-7BE5-40F0-85C7-5C18696960D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717" y="1392"/>
              <a:ext cx="155" cy="0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45" name="Line 54">
              <a:extLst>
                <a:ext uri="{FF2B5EF4-FFF2-40B4-BE49-F238E27FC236}">
                  <a16:creationId xmlns:a16="http://schemas.microsoft.com/office/drawing/2014/main" id="{C7E3FE94-D2AF-4C69-AC4A-E7E1EAB4BDC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332" y="1488"/>
              <a:ext cx="157" cy="0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46" name="Line 55">
              <a:extLst>
                <a:ext uri="{FF2B5EF4-FFF2-40B4-BE49-F238E27FC236}">
                  <a16:creationId xmlns:a16="http://schemas.microsoft.com/office/drawing/2014/main" id="{626544A5-C9D0-477D-8673-B4277282DD8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416" y="1488"/>
              <a:ext cx="0" cy="192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47" name="Line 56">
              <a:extLst>
                <a:ext uri="{FF2B5EF4-FFF2-40B4-BE49-F238E27FC236}">
                  <a16:creationId xmlns:a16="http://schemas.microsoft.com/office/drawing/2014/main" id="{A462D616-4AC9-49D4-B18F-F55E55A7980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416" y="1680"/>
              <a:ext cx="336" cy="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48" name="Line 57">
              <a:extLst>
                <a:ext uri="{FF2B5EF4-FFF2-40B4-BE49-F238E27FC236}">
                  <a16:creationId xmlns:a16="http://schemas.microsoft.com/office/drawing/2014/main" id="{F239CA16-2CC6-421A-8550-2AB05FBF6C2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752" y="1392"/>
              <a:ext cx="0" cy="288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49" name="Line 58">
              <a:extLst>
                <a:ext uri="{FF2B5EF4-FFF2-40B4-BE49-F238E27FC236}">
                  <a16:creationId xmlns:a16="http://schemas.microsoft.com/office/drawing/2014/main" id="{B2EB8E0A-C128-47A6-88AD-3CEDF322E47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832" y="1392"/>
              <a:ext cx="0" cy="24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50" name="Line 59">
              <a:extLst>
                <a:ext uri="{FF2B5EF4-FFF2-40B4-BE49-F238E27FC236}">
                  <a16:creationId xmlns:a16="http://schemas.microsoft.com/office/drawing/2014/main" id="{7DD66753-BD16-4AB1-B3B4-B56F5E95761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32" y="1632"/>
              <a:ext cx="432" cy="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51" name="Line 60">
              <a:extLst>
                <a:ext uri="{FF2B5EF4-FFF2-40B4-BE49-F238E27FC236}">
                  <a16:creationId xmlns:a16="http://schemas.microsoft.com/office/drawing/2014/main" id="{576AF26C-0B90-47AD-80A0-DB0327F1721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64" y="1392"/>
              <a:ext cx="0" cy="24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</p:grpSp>
      <p:sp>
        <p:nvSpPr>
          <p:cNvPr id="64" name="Rectangle 61">
            <a:extLst>
              <a:ext uri="{FF2B5EF4-FFF2-40B4-BE49-F238E27FC236}">
                <a16:creationId xmlns:a16="http://schemas.microsoft.com/office/drawing/2014/main" id="{FA83D897-F4F3-4C02-94DF-87ABE1F4E970}"/>
              </a:ext>
            </a:extLst>
          </p:cNvPr>
          <p:cNvSpPr>
            <a:spLocks noChangeArrowheads="1"/>
          </p:cNvSpPr>
          <p:nvPr/>
        </p:nvSpPr>
        <p:spPr bwMode="auto">
          <a:xfrm>
            <a:off x="865188" y="4356100"/>
            <a:ext cx="2066242" cy="45908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73" tIns="44442" rIns="90473" bIns="44442">
            <a:spAutoFit/>
          </a:bodyPr>
          <a:lstStyle/>
          <a:p>
            <a:pPr eaLnBrk="0" hangingPunct="0"/>
            <a:r>
              <a:rPr lang="en-US" altLang="zh-CN" sz="2400" dirty="0">
                <a:latin typeface="Arial" pitchFamily="34" charset="0"/>
                <a:ea typeface="SimHei" panose="02010609060101010101" pitchFamily="49" charset="-122"/>
              </a:rPr>
              <a:t>add  </a:t>
            </a:r>
            <a:r>
              <a:rPr lang="en-US" altLang="zh-CN" sz="2400" dirty="0">
                <a:solidFill>
                  <a:schemeClr val="accent1"/>
                </a:solidFill>
                <a:latin typeface="Arial" pitchFamily="34" charset="0"/>
                <a:ea typeface="SimHei" panose="02010609060101010101" pitchFamily="49" charset="-122"/>
              </a:rPr>
              <a:t>$1</a:t>
            </a:r>
            <a:r>
              <a:rPr lang="en-US" altLang="zh-CN" sz="2400" dirty="0">
                <a:latin typeface="Arial" pitchFamily="34" charset="0"/>
                <a:ea typeface="SimHei" panose="02010609060101010101" pitchFamily="49" charset="-122"/>
              </a:rPr>
              <a:t>,</a:t>
            </a:r>
            <a:r>
              <a:rPr lang="en-US" altLang="zh-CN" sz="2400" dirty="0">
                <a:solidFill>
                  <a:srgbClr val="009900"/>
                </a:solidFill>
                <a:latin typeface="Arial" pitchFamily="34" charset="0"/>
                <a:ea typeface="SimHei" panose="02010609060101010101" pitchFamily="49" charset="-122"/>
              </a:rPr>
              <a:t>$1</a:t>
            </a:r>
            <a:r>
              <a:rPr lang="en-US" altLang="zh-CN" sz="2400" dirty="0">
                <a:latin typeface="Arial" pitchFamily="34" charset="0"/>
                <a:ea typeface="SimHei" panose="02010609060101010101" pitchFamily="49" charset="-122"/>
              </a:rPr>
              <a:t>,$3</a:t>
            </a:r>
          </a:p>
        </p:txBody>
      </p:sp>
      <p:sp>
        <p:nvSpPr>
          <p:cNvPr id="65" name="Rectangle 62">
            <a:extLst>
              <a:ext uri="{FF2B5EF4-FFF2-40B4-BE49-F238E27FC236}">
                <a16:creationId xmlns:a16="http://schemas.microsoft.com/office/drawing/2014/main" id="{94398FCD-286D-469F-A51E-E7EF0B393B8E}"/>
              </a:ext>
            </a:extLst>
          </p:cNvPr>
          <p:cNvSpPr>
            <a:spLocks noChangeArrowheads="1"/>
          </p:cNvSpPr>
          <p:nvPr/>
        </p:nvSpPr>
        <p:spPr bwMode="auto">
          <a:xfrm>
            <a:off x="865188" y="5422900"/>
            <a:ext cx="2066242" cy="45908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73" tIns="44442" rIns="90473" bIns="44442">
            <a:spAutoFit/>
          </a:bodyPr>
          <a:lstStyle/>
          <a:p>
            <a:pPr eaLnBrk="0" hangingPunct="0"/>
            <a:r>
              <a:rPr lang="en-US" altLang="zh-CN" sz="2400" dirty="0">
                <a:latin typeface="Arial" pitchFamily="34" charset="0"/>
                <a:ea typeface="SimHei" panose="02010609060101010101" pitchFamily="49" charset="-122"/>
              </a:rPr>
              <a:t>add  $1,</a:t>
            </a:r>
            <a:r>
              <a:rPr lang="en-US" altLang="zh-CN" sz="2400" dirty="0">
                <a:solidFill>
                  <a:srgbClr val="009900"/>
                </a:solidFill>
                <a:latin typeface="Arial" pitchFamily="34" charset="0"/>
                <a:ea typeface="SimHei" panose="02010609060101010101" pitchFamily="49" charset="-122"/>
              </a:rPr>
              <a:t>$1</a:t>
            </a:r>
            <a:r>
              <a:rPr lang="en-US" altLang="zh-CN" sz="2400" dirty="0">
                <a:latin typeface="Arial" pitchFamily="34" charset="0"/>
                <a:ea typeface="SimHei" panose="02010609060101010101" pitchFamily="49" charset="-122"/>
              </a:rPr>
              <a:t>,$4</a:t>
            </a:r>
          </a:p>
        </p:txBody>
      </p:sp>
      <p:grpSp>
        <p:nvGrpSpPr>
          <p:cNvPr id="66" name="Group 63">
            <a:extLst>
              <a:ext uri="{FF2B5EF4-FFF2-40B4-BE49-F238E27FC236}">
                <a16:creationId xmlns:a16="http://schemas.microsoft.com/office/drawing/2014/main" id="{883A8CC9-F7EC-4C6D-ADF2-09F8F46D40FD}"/>
              </a:ext>
            </a:extLst>
          </p:cNvPr>
          <p:cNvGrpSpPr>
            <a:grpSpLocks/>
          </p:cNvGrpSpPr>
          <p:nvPr/>
        </p:nvGrpSpPr>
        <p:grpSpPr bwMode="auto">
          <a:xfrm>
            <a:off x="3532188" y="4356100"/>
            <a:ext cx="3355975" cy="838200"/>
            <a:chOff x="1562" y="1152"/>
            <a:chExt cx="2114" cy="528"/>
          </a:xfrm>
        </p:grpSpPr>
        <p:grpSp>
          <p:nvGrpSpPr>
            <p:cNvPr id="67" name="Group 64">
              <a:extLst>
                <a:ext uri="{FF2B5EF4-FFF2-40B4-BE49-F238E27FC236}">
                  <a16:creationId xmlns:a16="http://schemas.microsoft.com/office/drawing/2014/main" id="{05B8A454-7AE0-460D-BDCB-38CA3084677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497" y="1152"/>
              <a:ext cx="216" cy="481"/>
              <a:chOff x="2217" y="1413"/>
              <a:chExt cx="216" cy="481"/>
            </a:xfrm>
          </p:grpSpPr>
          <p:sp>
            <p:nvSpPr>
              <p:cNvPr id="97" name="Freeform 65">
                <a:extLst>
                  <a:ext uri="{FF2B5EF4-FFF2-40B4-BE49-F238E27FC236}">
                    <a16:creationId xmlns:a16="http://schemas.microsoft.com/office/drawing/2014/main" id="{E31DDC6C-5F62-4D8A-9A10-82D9F397B1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7" y="1413"/>
                <a:ext cx="213" cy="481"/>
              </a:xfrm>
              <a:custGeom>
                <a:avLst/>
                <a:gdLst>
                  <a:gd name="T0" fmla="*/ 0 w 213"/>
                  <a:gd name="T1" fmla="*/ 320 h 481"/>
                  <a:gd name="T2" fmla="*/ 71 w 213"/>
                  <a:gd name="T3" fmla="*/ 240 h 481"/>
                  <a:gd name="T4" fmla="*/ 0 w 213"/>
                  <a:gd name="T5" fmla="*/ 160 h 481"/>
                  <a:gd name="T6" fmla="*/ 0 w 213"/>
                  <a:gd name="T7" fmla="*/ 0 h 481"/>
                  <a:gd name="T8" fmla="*/ 212 w 213"/>
                  <a:gd name="T9" fmla="*/ 160 h 481"/>
                  <a:gd name="T10" fmla="*/ 212 w 213"/>
                  <a:gd name="T11" fmla="*/ 320 h 481"/>
                  <a:gd name="T12" fmla="*/ 0 w 213"/>
                  <a:gd name="T13" fmla="*/ 480 h 481"/>
                  <a:gd name="T14" fmla="*/ 0 w 213"/>
                  <a:gd name="T15" fmla="*/ 320 h 48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13" h="481">
                    <a:moveTo>
                      <a:pt x="0" y="320"/>
                    </a:moveTo>
                    <a:lnTo>
                      <a:pt x="71" y="240"/>
                    </a:lnTo>
                    <a:lnTo>
                      <a:pt x="0" y="160"/>
                    </a:lnTo>
                    <a:lnTo>
                      <a:pt x="0" y="0"/>
                    </a:lnTo>
                    <a:lnTo>
                      <a:pt x="212" y="160"/>
                    </a:lnTo>
                    <a:lnTo>
                      <a:pt x="212" y="320"/>
                    </a:lnTo>
                    <a:lnTo>
                      <a:pt x="0" y="480"/>
                    </a:lnTo>
                    <a:lnTo>
                      <a:pt x="0" y="320"/>
                    </a:lnTo>
                  </a:path>
                </a:pathLst>
              </a:custGeom>
              <a:noFill/>
              <a:ln w="25400" cap="rnd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dirty="0">
                  <a:ea typeface="SimHei" panose="02010609060101010101" pitchFamily="49" charset="-122"/>
                </a:endParaRPr>
              </a:p>
            </p:txBody>
          </p:sp>
          <p:sp>
            <p:nvSpPr>
              <p:cNvPr id="98" name="Rectangle 66">
                <a:extLst>
                  <a:ext uri="{FF2B5EF4-FFF2-40B4-BE49-F238E27FC236}">
                    <a16:creationId xmlns:a16="http://schemas.microsoft.com/office/drawing/2014/main" id="{D63E27F4-516B-48A1-8B64-999E44653FB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5400000">
                <a:off x="2140" y="1533"/>
                <a:ext cx="376" cy="21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12700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lIns="90473" tIns="44442" rIns="90473" bIns="44442">
                <a:spAutoFit/>
              </a:bodyPr>
              <a:lstStyle/>
              <a:p>
                <a:pPr eaLnBrk="0" hangingPunct="0"/>
                <a:r>
                  <a:rPr lang="en-US" altLang="zh-CN" sz="1600" dirty="0">
                    <a:latin typeface="Arial" pitchFamily="34" charset="0"/>
                    <a:ea typeface="SimHei" panose="02010609060101010101" pitchFamily="49" charset="-122"/>
                  </a:rPr>
                  <a:t>ALU</a:t>
                </a:r>
              </a:p>
            </p:txBody>
          </p:sp>
        </p:grpSp>
        <p:grpSp>
          <p:nvGrpSpPr>
            <p:cNvPr id="68" name="Group 67">
              <a:extLst>
                <a:ext uri="{FF2B5EF4-FFF2-40B4-BE49-F238E27FC236}">
                  <a16:creationId xmlns:a16="http://schemas.microsoft.com/office/drawing/2014/main" id="{774D0D74-EF3C-42FC-9EC8-CB0E6F4EA05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562" y="1248"/>
              <a:ext cx="349" cy="289"/>
              <a:chOff x="1282" y="1509"/>
              <a:chExt cx="349" cy="289"/>
            </a:xfrm>
          </p:grpSpPr>
          <p:sp>
            <p:nvSpPr>
              <p:cNvPr id="93" name="Rectangle 68">
                <a:extLst>
                  <a:ext uri="{FF2B5EF4-FFF2-40B4-BE49-F238E27FC236}">
                    <a16:creationId xmlns:a16="http://schemas.microsoft.com/office/drawing/2014/main" id="{88AD0A91-6F85-49E1-8994-CD9ACDE368E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82" y="1511"/>
                <a:ext cx="257" cy="21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12700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lIns="90473" tIns="44442" rIns="90473" bIns="44442">
                <a:spAutoFit/>
              </a:bodyPr>
              <a:lstStyle/>
              <a:p>
                <a:pPr algn="ctr" eaLnBrk="0" hangingPunct="0"/>
                <a:r>
                  <a:rPr lang="en-US" altLang="zh-CN" sz="1600" dirty="0">
                    <a:latin typeface="Arial" pitchFamily="34" charset="0"/>
                    <a:ea typeface="SimHei" panose="02010609060101010101" pitchFamily="49" charset="-122"/>
                  </a:rPr>
                  <a:t>IM</a:t>
                </a:r>
              </a:p>
            </p:txBody>
          </p:sp>
          <p:grpSp>
            <p:nvGrpSpPr>
              <p:cNvPr id="94" name="Group 69">
                <a:extLst>
                  <a:ext uri="{FF2B5EF4-FFF2-40B4-BE49-F238E27FC236}">
                    <a16:creationId xmlns:a16="http://schemas.microsoft.com/office/drawing/2014/main" id="{8F06F845-BF76-41B2-A40F-9580613E9E2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291" y="1509"/>
                <a:ext cx="340" cy="289"/>
                <a:chOff x="1291" y="1509"/>
                <a:chExt cx="340" cy="289"/>
              </a:xfrm>
            </p:grpSpPr>
            <p:sp>
              <p:nvSpPr>
                <p:cNvPr id="95" name="Freeform 70">
                  <a:extLst>
                    <a:ext uri="{FF2B5EF4-FFF2-40B4-BE49-F238E27FC236}">
                      <a16:creationId xmlns:a16="http://schemas.microsoft.com/office/drawing/2014/main" id="{5883B927-3E34-4054-AC99-93727FEAFE4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291" y="1509"/>
                  <a:ext cx="170" cy="289"/>
                </a:xfrm>
                <a:custGeom>
                  <a:avLst/>
                  <a:gdLst>
                    <a:gd name="T0" fmla="*/ 169 w 170"/>
                    <a:gd name="T1" fmla="*/ 0 h 289"/>
                    <a:gd name="T2" fmla="*/ 0 w 170"/>
                    <a:gd name="T3" fmla="*/ 0 h 289"/>
                    <a:gd name="T4" fmla="*/ 0 w 170"/>
                    <a:gd name="T5" fmla="*/ 288 h 289"/>
                    <a:gd name="T6" fmla="*/ 169 w 170"/>
                    <a:gd name="T7" fmla="*/ 288 h 289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170" h="289">
                      <a:moveTo>
                        <a:pt x="169" y="0"/>
                      </a:moveTo>
                      <a:lnTo>
                        <a:pt x="0" y="0"/>
                      </a:lnTo>
                      <a:lnTo>
                        <a:pt x="0" y="288"/>
                      </a:lnTo>
                      <a:lnTo>
                        <a:pt x="169" y="288"/>
                      </a:lnTo>
                    </a:path>
                  </a:pathLst>
                </a:custGeom>
                <a:noFill/>
                <a:ln w="25400" cap="rnd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zh-CN" altLang="en-US" dirty="0">
                    <a:ea typeface="SimHei" panose="02010609060101010101" pitchFamily="49" charset="-122"/>
                  </a:endParaRPr>
                </a:p>
              </p:txBody>
            </p:sp>
            <p:sp>
              <p:nvSpPr>
                <p:cNvPr id="96" name="Freeform 71">
                  <a:extLst>
                    <a:ext uri="{FF2B5EF4-FFF2-40B4-BE49-F238E27FC236}">
                      <a16:creationId xmlns:a16="http://schemas.microsoft.com/office/drawing/2014/main" id="{3272AE01-B0DD-4A8A-A7BB-95118323933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460" y="1509"/>
                  <a:ext cx="171" cy="289"/>
                </a:xfrm>
                <a:custGeom>
                  <a:avLst/>
                  <a:gdLst>
                    <a:gd name="T0" fmla="*/ 0 w 171"/>
                    <a:gd name="T1" fmla="*/ 0 h 289"/>
                    <a:gd name="T2" fmla="*/ 170 w 171"/>
                    <a:gd name="T3" fmla="*/ 0 h 289"/>
                    <a:gd name="T4" fmla="*/ 170 w 171"/>
                    <a:gd name="T5" fmla="*/ 288 h 289"/>
                    <a:gd name="T6" fmla="*/ 0 w 171"/>
                    <a:gd name="T7" fmla="*/ 288 h 289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171" h="289">
                      <a:moveTo>
                        <a:pt x="0" y="0"/>
                      </a:moveTo>
                      <a:lnTo>
                        <a:pt x="170" y="0"/>
                      </a:lnTo>
                      <a:lnTo>
                        <a:pt x="170" y="288"/>
                      </a:lnTo>
                      <a:lnTo>
                        <a:pt x="0" y="288"/>
                      </a:lnTo>
                    </a:path>
                  </a:pathLst>
                </a:custGeom>
                <a:noFill/>
                <a:ln w="25400" cap="rnd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zh-CN" altLang="en-US" dirty="0">
                    <a:ea typeface="SimHei" panose="02010609060101010101" pitchFamily="49" charset="-122"/>
                  </a:endParaRPr>
                </a:p>
              </p:txBody>
            </p:sp>
          </p:grpSp>
        </p:grpSp>
        <p:sp>
          <p:nvSpPr>
            <p:cNvPr id="69" name="Rectangle 72">
              <a:extLst>
                <a:ext uri="{FF2B5EF4-FFF2-40B4-BE49-F238E27FC236}">
                  <a16:creationId xmlns:a16="http://schemas.microsoft.com/office/drawing/2014/main" id="{43802C5E-976A-46E2-874B-11FE1A080F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12" y="1255"/>
              <a:ext cx="355" cy="21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73" tIns="44442" rIns="90473" bIns="44442">
              <a:spAutoFit/>
            </a:bodyPr>
            <a:lstStyle/>
            <a:p>
              <a:pPr eaLnBrk="0" hangingPunct="0"/>
              <a:r>
                <a:rPr lang="en-US" altLang="zh-CN" sz="1600" dirty="0">
                  <a:latin typeface="Arial" pitchFamily="34" charset="0"/>
                  <a:ea typeface="SimHei" panose="02010609060101010101" pitchFamily="49" charset="-122"/>
                </a:rPr>
                <a:t>Reg</a:t>
              </a:r>
            </a:p>
          </p:txBody>
        </p:sp>
        <p:grpSp>
          <p:nvGrpSpPr>
            <p:cNvPr id="70" name="Group 73">
              <a:extLst>
                <a:ext uri="{FF2B5EF4-FFF2-40B4-BE49-F238E27FC236}">
                  <a16:creationId xmlns:a16="http://schemas.microsoft.com/office/drawing/2014/main" id="{9E714358-8C12-45D2-9C2C-F7DC0ED0C3B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031" y="1248"/>
              <a:ext cx="296" cy="289"/>
              <a:chOff x="1751" y="1509"/>
              <a:chExt cx="296" cy="289"/>
            </a:xfrm>
          </p:grpSpPr>
          <p:sp>
            <p:nvSpPr>
              <p:cNvPr id="91" name="Freeform 74">
                <a:extLst>
                  <a:ext uri="{FF2B5EF4-FFF2-40B4-BE49-F238E27FC236}">
                    <a16:creationId xmlns:a16="http://schemas.microsoft.com/office/drawing/2014/main" id="{B2E4BA2D-A029-4F4F-A259-3DEF9D294B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1" y="1509"/>
                <a:ext cx="149" cy="289"/>
              </a:xfrm>
              <a:custGeom>
                <a:avLst/>
                <a:gdLst>
                  <a:gd name="T0" fmla="*/ 148 w 149"/>
                  <a:gd name="T1" fmla="*/ 0 h 289"/>
                  <a:gd name="T2" fmla="*/ 0 w 149"/>
                  <a:gd name="T3" fmla="*/ 0 h 289"/>
                  <a:gd name="T4" fmla="*/ 0 w 149"/>
                  <a:gd name="T5" fmla="*/ 288 h 289"/>
                  <a:gd name="T6" fmla="*/ 148 w 149"/>
                  <a:gd name="T7" fmla="*/ 288 h 28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9" h="289">
                    <a:moveTo>
                      <a:pt x="148" y="0"/>
                    </a:moveTo>
                    <a:lnTo>
                      <a:pt x="0" y="0"/>
                    </a:lnTo>
                    <a:lnTo>
                      <a:pt x="0" y="288"/>
                    </a:lnTo>
                    <a:lnTo>
                      <a:pt x="148" y="288"/>
                    </a:lnTo>
                  </a:path>
                </a:pathLst>
              </a:custGeom>
              <a:noFill/>
              <a:ln w="25400" cap="rnd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dirty="0">
                  <a:ea typeface="SimHei" panose="02010609060101010101" pitchFamily="49" charset="-122"/>
                </a:endParaRPr>
              </a:p>
            </p:txBody>
          </p:sp>
          <p:sp>
            <p:nvSpPr>
              <p:cNvPr id="92" name="Freeform 75">
                <a:extLst>
                  <a:ext uri="{FF2B5EF4-FFF2-40B4-BE49-F238E27FC236}">
                    <a16:creationId xmlns:a16="http://schemas.microsoft.com/office/drawing/2014/main" id="{79C99B66-193C-4999-B8E9-59709DDA55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9" y="1509"/>
                <a:ext cx="148" cy="289"/>
              </a:xfrm>
              <a:custGeom>
                <a:avLst/>
                <a:gdLst>
                  <a:gd name="T0" fmla="*/ 0 w 148"/>
                  <a:gd name="T1" fmla="*/ 0 h 289"/>
                  <a:gd name="T2" fmla="*/ 147 w 148"/>
                  <a:gd name="T3" fmla="*/ 0 h 289"/>
                  <a:gd name="T4" fmla="*/ 147 w 148"/>
                  <a:gd name="T5" fmla="*/ 288 h 289"/>
                  <a:gd name="T6" fmla="*/ 0 w 148"/>
                  <a:gd name="T7" fmla="*/ 288 h 28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8" h="289">
                    <a:moveTo>
                      <a:pt x="0" y="0"/>
                    </a:moveTo>
                    <a:lnTo>
                      <a:pt x="147" y="0"/>
                    </a:lnTo>
                    <a:lnTo>
                      <a:pt x="147" y="288"/>
                    </a:lnTo>
                    <a:lnTo>
                      <a:pt x="0" y="288"/>
                    </a:lnTo>
                  </a:path>
                </a:pathLst>
              </a:custGeom>
              <a:noFill/>
              <a:ln w="25400" cap="rnd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dirty="0">
                  <a:ea typeface="SimHei" panose="02010609060101010101" pitchFamily="49" charset="-122"/>
                </a:endParaRPr>
              </a:p>
            </p:txBody>
          </p:sp>
        </p:grpSp>
        <p:sp>
          <p:nvSpPr>
            <p:cNvPr id="71" name="Line 76">
              <a:extLst>
                <a:ext uri="{FF2B5EF4-FFF2-40B4-BE49-F238E27FC236}">
                  <a16:creationId xmlns:a16="http://schemas.microsoft.com/office/drawing/2014/main" id="{6698B7C1-D3C2-44EF-BC2B-757BC731E64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916" y="1392"/>
              <a:ext cx="116" cy="0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72" name="Freeform 77">
              <a:extLst>
                <a:ext uri="{FF2B5EF4-FFF2-40B4-BE49-F238E27FC236}">
                  <a16:creationId xmlns:a16="http://schemas.microsoft.com/office/drawing/2014/main" id="{EC755B69-C11B-439C-A1C0-4530F6C0B94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4" y="1296"/>
              <a:ext cx="48" cy="97"/>
            </a:xfrm>
            <a:custGeom>
              <a:avLst/>
              <a:gdLst>
                <a:gd name="T0" fmla="*/ 0 w 48"/>
                <a:gd name="T1" fmla="*/ 96 h 97"/>
                <a:gd name="T2" fmla="*/ 0 w 48"/>
                <a:gd name="T3" fmla="*/ 0 h 97"/>
                <a:gd name="T4" fmla="*/ 47 w 48"/>
                <a:gd name="T5" fmla="*/ 0 h 97"/>
                <a:gd name="T6" fmla="*/ 47 w 48"/>
                <a:gd name="T7" fmla="*/ 0 h 9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8" h="97">
                  <a:moveTo>
                    <a:pt x="0" y="96"/>
                  </a:moveTo>
                  <a:lnTo>
                    <a:pt x="0" y="0"/>
                  </a:lnTo>
                  <a:lnTo>
                    <a:pt x="47" y="0"/>
                  </a:lnTo>
                </a:path>
              </a:pathLst>
            </a:custGeom>
            <a:noFill/>
            <a:ln w="25400" cap="rnd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73" name="Line 78">
              <a:extLst>
                <a:ext uri="{FF2B5EF4-FFF2-40B4-BE49-F238E27FC236}">
                  <a16:creationId xmlns:a16="http://schemas.microsoft.com/office/drawing/2014/main" id="{477D47E3-509B-42FC-B390-1500648D796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332" y="1296"/>
              <a:ext cx="157" cy="0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74" name="Rectangle 79">
              <a:extLst>
                <a:ext uri="{FF2B5EF4-FFF2-40B4-BE49-F238E27FC236}">
                  <a16:creationId xmlns:a16="http://schemas.microsoft.com/office/drawing/2014/main" id="{FF9C90AA-B311-46AA-9003-F0A5AFC6EC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29" y="1250"/>
              <a:ext cx="313" cy="21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73" tIns="44442" rIns="90473" bIns="44442">
              <a:spAutoFit/>
            </a:bodyPr>
            <a:lstStyle/>
            <a:p>
              <a:pPr eaLnBrk="0" hangingPunct="0"/>
              <a:r>
                <a:rPr lang="en-US" altLang="zh-CN" sz="1600" dirty="0">
                  <a:latin typeface="Arial" pitchFamily="34" charset="0"/>
                  <a:ea typeface="SimHei" panose="02010609060101010101" pitchFamily="49" charset="-122"/>
                </a:rPr>
                <a:t>DM</a:t>
              </a:r>
            </a:p>
          </p:txBody>
        </p:sp>
        <p:grpSp>
          <p:nvGrpSpPr>
            <p:cNvPr id="75" name="Group 80">
              <a:extLst>
                <a:ext uri="{FF2B5EF4-FFF2-40B4-BE49-F238E27FC236}">
                  <a16:creationId xmlns:a16="http://schemas.microsoft.com/office/drawing/2014/main" id="{542C1145-5753-4598-91EA-0A7CE8C7D06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880" y="1248"/>
              <a:ext cx="325" cy="289"/>
              <a:chOff x="2600" y="1509"/>
              <a:chExt cx="325" cy="289"/>
            </a:xfrm>
          </p:grpSpPr>
          <p:sp>
            <p:nvSpPr>
              <p:cNvPr id="89" name="Freeform 81">
                <a:extLst>
                  <a:ext uri="{FF2B5EF4-FFF2-40B4-BE49-F238E27FC236}">
                    <a16:creationId xmlns:a16="http://schemas.microsoft.com/office/drawing/2014/main" id="{B17F7CD8-F5CE-4942-AF42-E60DCE1B16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0" y="1509"/>
                <a:ext cx="162" cy="289"/>
              </a:xfrm>
              <a:custGeom>
                <a:avLst/>
                <a:gdLst>
                  <a:gd name="T0" fmla="*/ 161 w 162"/>
                  <a:gd name="T1" fmla="*/ 0 h 289"/>
                  <a:gd name="T2" fmla="*/ 0 w 162"/>
                  <a:gd name="T3" fmla="*/ 0 h 289"/>
                  <a:gd name="T4" fmla="*/ 0 w 162"/>
                  <a:gd name="T5" fmla="*/ 288 h 289"/>
                  <a:gd name="T6" fmla="*/ 161 w 162"/>
                  <a:gd name="T7" fmla="*/ 288 h 28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2" h="289">
                    <a:moveTo>
                      <a:pt x="161" y="0"/>
                    </a:moveTo>
                    <a:lnTo>
                      <a:pt x="0" y="0"/>
                    </a:lnTo>
                    <a:lnTo>
                      <a:pt x="0" y="288"/>
                    </a:lnTo>
                    <a:lnTo>
                      <a:pt x="161" y="288"/>
                    </a:lnTo>
                  </a:path>
                </a:pathLst>
              </a:custGeom>
              <a:noFill/>
              <a:ln w="25400" cap="rnd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dirty="0">
                  <a:ea typeface="SimHei" panose="02010609060101010101" pitchFamily="49" charset="-122"/>
                </a:endParaRPr>
              </a:p>
            </p:txBody>
          </p:sp>
          <p:sp>
            <p:nvSpPr>
              <p:cNvPr id="90" name="Freeform 82">
                <a:extLst>
                  <a:ext uri="{FF2B5EF4-FFF2-40B4-BE49-F238E27FC236}">
                    <a16:creationId xmlns:a16="http://schemas.microsoft.com/office/drawing/2014/main" id="{147A1DC8-0620-444C-BD1B-F0E426FC5B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1" y="1509"/>
                <a:ext cx="164" cy="289"/>
              </a:xfrm>
              <a:custGeom>
                <a:avLst/>
                <a:gdLst>
                  <a:gd name="T0" fmla="*/ 0 w 164"/>
                  <a:gd name="T1" fmla="*/ 0 h 289"/>
                  <a:gd name="T2" fmla="*/ 163 w 164"/>
                  <a:gd name="T3" fmla="*/ 0 h 289"/>
                  <a:gd name="T4" fmla="*/ 163 w 164"/>
                  <a:gd name="T5" fmla="*/ 288 h 289"/>
                  <a:gd name="T6" fmla="*/ 0 w 164"/>
                  <a:gd name="T7" fmla="*/ 288 h 28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4" h="289">
                    <a:moveTo>
                      <a:pt x="0" y="0"/>
                    </a:moveTo>
                    <a:lnTo>
                      <a:pt x="163" y="0"/>
                    </a:lnTo>
                    <a:lnTo>
                      <a:pt x="163" y="288"/>
                    </a:lnTo>
                    <a:lnTo>
                      <a:pt x="0" y="288"/>
                    </a:lnTo>
                  </a:path>
                </a:pathLst>
              </a:custGeom>
              <a:noFill/>
              <a:ln w="25400" cap="rnd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dirty="0">
                  <a:ea typeface="SimHei" panose="02010609060101010101" pitchFamily="49" charset="-122"/>
                </a:endParaRPr>
              </a:p>
            </p:txBody>
          </p:sp>
        </p:grpSp>
        <p:sp>
          <p:nvSpPr>
            <p:cNvPr id="76" name="Rectangle 83">
              <a:extLst>
                <a:ext uri="{FF2B5EF4-FFF2-40B4-BE49-F238E27FC236}">
                  <a16:creationId xmlns:a16="http://schemas.microsoft.com/office/drawing/2014/main" id="{D9BE677C-F987-47EC-98C6-E4FFC20D19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21" y="1250"/>
              <a:ext cx="355" cy="21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73" tIns="44442" rIns="90473" bIns="44442">
              <a:spAutoFit/>
            </a:bodyPr>
            <a:lstStyle/>
            <a:p>
              <a:pPr eaLnBrk="0" hangingPunct="0"/>
              <a:r>
                <a:rPr lang="en-US" altLang="zh-CN" sz="1600" dirty="0">
                  <a:latin typeface="Arial" pitchFamily="34" charset="0"/>
                  <a:ea typeface="SimHei" panose="02010609060101010101" pitchFamily="49" charset="-122"/>
                </a:rPr>
                <a:t>Reg</a:t>
              </a:r>
            </a:p>
          </p:txBody>
        </p:sp>
        <p:grpSp>
          <p:nvGrpSpPr>
            <p:cNvPr id="77" name="Group 84">
              <a:extLst>
                <a:ext uri="{FF2B5EF4-FFF2-40B4-BE49-F238E27FC236}">
                  <a16:creationId xmlns:a16="http://schemas.microsoft.com/office/drawing/2014/main" id="{7A5598E0-7DC7-4A50-A286-B4331EDE56C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348" y="1248"/>
              <a:ext cx="284" cy="289"/>
              <a:chOff x="3068" y="1509"/>
              <a:chExt cx="284" cy="289"/>
            </a:xfrm>
          </p:grpSpPr>
          <p:sp>
            <p:nvSpPr>
              <p:cNvPr id="87" name="Freeform 85">
                <a:extLst>
                  <a:ext uri="{FF2B5EF4-FFF2-40B4-BE49-F238E27FC236}">
                    <a16:creationId xmlns:a16="http://schemas.microsoft.com/office/drawing/2014/main" id="{6DA52862-A977-4094-AA82-07B4E2136F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8" y="1509"/>
                <a:ext cx="142" cy="289"/>
              </a:xfrm>
              <a:custGeom>
                <a:avLst/>
                <a:gdLst>
                  <a:gd name="T0" fmla="*/ 141 w 142"/>
                  <a:gd name="T1" fmla="*/ 0 h 289"/>
                  <a:gd name="T2" fmla="*/ 0 w 142"/>
                  <a:gd name="T3" fmla="*/ 0 h 289"/>
                  <a:gd name="T4" fmla="*/ 0 w 142"/>
                  <a:gd name="T5" fmla="*/ 288 h 289"/>
                  <a:gd name="T6" fmla="*/ 141 w 142"/>
                  <a:gd name="T7" fmla="*/ 288 h 28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2" h="289">
                    <a:moveTo>
                      <a:pt x="141" y="0"/>
                    </a:moveTo>
                    <a:lnTo>
                      <a:pt x="0" y="0"/>
                    </a:lnTo>
                    <a:lnTo>
                      <a:pt x="0" y="288"/>
                    </a:lnTo>
                    <a:lnTo>
                      <a:pt x="141" y="288"/>
                    </a:lnTo>
                  </a:path>
                </a:pathLst>
              </a:custGeom>
              <a:noFill/>
              <a:ln w="25400" cap="rnd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dirty="0">
                  <a:ea typeface="SimHei" panose="02010609060101010101" pitchFamily="49" charset="-122"/>
                </a:endParaRPr>
              </a:p>
            </p:txBody>
          </p:sp>
          <p:sp>
            <p:nvSpPr>
              <p:cNvPr id="88" name="Freeform 86">
                <a:extLst>
                  <a:ext uri="{FF2B5EF4-FFF2-40B4-BE49-F238E27FC236}">
                    <a16:creationId xmlns:a16="http://schemas.microsoft.com/office/drawing/2014/main" id="{028485F3-2800-4547-A17F-448A62A63E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9" y="1509"/>
                <a:ext cx="143" cy="289"/>
              </a:xfrm>
              <a:custGeom>
                <a:avLst/>
                <a:gdLst>
                  <a:gd name="T0" fmla="*/ 0 w 143"/>
                  <a:gd name="T1" fmla="*/ 0 h 289"/>
                  <a:gd name="T2" fmla="*/ 142 w 143"/>
                  <a:gd name="T3" fmla="*/ 0 h 289"/>
                  <a:gd name="T4" fmla="*/ 142 w 143"/>
                  <a:gd name="T5" fmla="*/ 288 h 289"/>
                  <a:gd name="T6" fmla="*/ 0 w 143"/>
                  <a:gd name="T7" fmla="*/ 288 h 28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3" h="289">
                    <a:moveTo>
                      <a:pt x="0" y="0"/>
                    </a:moveTo>
                    <a:lnTo>
                      <a:pt x="142" y="0"/>
                    </a:lnTo>
                    <a:lnTo>
                      <a:pt x="142" y="288"/>
                    </a:lnTo>
                    <a:lnTo>
                      <a:pt x="0" y="288"/>
                    </a:lnTo>
                  </a:path>
                </a:pathLst>
              </a:custGeom>
              <a:noFill/>
              <a:ln w="25400" cap="rnd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dirty="0">
                  <a:ea typeface="SimHei" panose="02010609060101010101" pitchFamily="49" charset="-122"/>
                </a:endParaRPr>
              </a:p>
            </p:txBody>
          </p:sp>
        </p:grpSp>
        <p:sp>
          <p:nvSpPr>
            <p:cNvPr id="78" name="Line 87">
              <a:extLst>
                <a:ext uri="{FF2B5EF4-FFF2-40B4-BE49-F238E27FC236}">
                  <a16:creationId xmlns:a16="http://schemas.microsoft.com/office/drawing/2014/main" id="{24DBAE1B-86F8-4339-9EE1-0E9CA5FFFB0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01" y="1392"/>
              <a:ext cx="139" cy="0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79" name="Line 88">
              <a:extLst>
                <a:ext uri="{FF2B5EF4-FFF2-40B4-BE49-F238E27FC236}">
                  <a16:creationId xmlns:a16="http://schemas.microsoft.com/office/drawing/2014/main" id="{3B1DA7E4-BE1A-4D62-8619-E130AE41514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717" y="1392"/>
              <a:ext cx="155" cy="0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80" name="Line 89">
              <a:extLst>
                <a:ext uri="{FF2B5EF4-FFF2-40B4-BE49-F238E27FC236}">
                  <a16:creationId xmlns:a16="http://schemas.microsoft.com/office/drawing/2014/main" id="{9E9B7A1B-DC94-4846-AB2E-4D3E10700CE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332" y="1488"/>
              <a:ext cx="157" cy="0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81" name="Line 90">
              <a:extLst>
                <a:ext uri="{FF2B5EF4-FFF2-40B4-BE49-F238E27FC236}">
                  <a16:creationId xmlns:a16="http://schemas.microsoft.com/office/drawing/2014/main" id="{2984F100-655D-44D0-A8B8-5F703CDCCE5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416" y="1488"/>
              <a:ext cx="0" cy="192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82" name="Line 91">
              <a:extLst>
                <a:ext uri="{FF2B5EF4-FFF2-40B4-BE49-F238E27FC236}">
                  <a16:creationId xmlns:a16="http://schemas.microsoft.com/office/drawing/2014/main" id="{6394E218-F260-4AEE-90F7-F0DB18A7719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416" y="1680"/>
              <a:ext cx="336" cy="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83" name="Line 92">
              <a:extLst>
                <a:ext uri="{FF2B5EF4-FFF2-40B4-BE49-F238E27FC236}">
                  <a16:creationId xmlns:a16="http://schemas.microsoft.com/office/drawing/2014/main" id="{87F67403-7A6B-40B6-9C4C-4DE078C6524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752" y="1392"/>
              <a:ext cx="0" cy="288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84" name="Line 93">
              <a:extLst>
                <a:ext uri="{FF2B5EF4-FFF2-40B4-BE49-F238E27FC236}">
                  <a16:creationId xmlns:a16="http://schemas.microsoft.com/office/drawing/2014/main" id="{FD94D2ED-6020-4471-B0C7-16378468957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832" y="1392"/>
              <a:ext cx="0" cy="24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85" name="Line 94">
              <a:extLst>
                <a:ext uri="{FF2B5EF4-FFF2-40B4-BE49-F238E27FC236}">
                  <a16:creationId xmlns:a16="http://schemas.microsoft.com/office/drawing/2014/main" id="{5E3224F5-625F-4DB1-908E-C7746E2E8A8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32" y="1632"/>
              <a:ext cx="432" cy="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86" name="Line 95">
              <a:extLst>
                <a:ext uri="{FF2B5EF4-FFF2-40B4-BE49-F238E27FC236}">
                  <a16:creationId xmlns:a16="http://schemas.microsoft.com/office/drawing/2014/main" id="{78E25BA5-7502-4E1D-B951-6E3187E6B44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64" y="1392"/>
              <a:ext cx="0" cy="24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</p:grpSp>
      <p:grpSp>
        <p:nvGrpSpPr>
          <p:cNvPr id="99" name="Group 96">
            <a:extLst>
              <a:ext uri="{FF2B5EF4-FFF2-40B4-BE49-F238E27FC236}">
                <a16:creationId xmlns:a16="http://schemas.microsoft.com/office/drawing/2014/main" id="{EA5724A5-0053-4682-ADC0-CADF519468E3}"/>
              </a:ext>
            </a:extLst>
          </p:cNvPr>
          <p:cNvGrpSpPr>
            <a:grpSpLocks/>
          </p:cNvGrpSpPr>
          <p:nvPr/>
        </p:nvGrpSpPr>
        <p:grpSpPr bwMode="auto">
          <a:xfrm>
            <a:off x="4216401" y="5346700"/>
            <a:ext cx="3355975" cy="838200"/>
            <a:chOff x="1561" y="1152"/>
            <a:chExt cx="2115" cy="528"/>
          </a:xfrm>
        </p:grpSpPr>
        <p:grpSp>
          <p:nvGrpSpPr>
            <p:cNvPr id="100" name="Group 97">
              <a:extLst>
                <a:ext uri="{FF2B5EF4-FFF2-40B4-BE49-F238E27FC236}">
                  <a16:creationId xmlns:a16="http://schemas.microsoft.com/office/drawing/2014/main" id="{D7D7D982-5E0A-4FFF-BF90-B343CE29AD0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494" y="1152"/>
              <a:ext cx="216" cy="481"/>
              <a:chOff x="2214" y="1413"/>
              <a:chExt cx="216" cy="481"/>
            </a:xfrm>
          </p:grpSpPr>
          <p:sp>
            <p:nvSpPr>
              <p:cNvPr id="130" name="Freeform 98">
                <a:extLst>
                  <a:ext uri="{FF2B5EF4-FFF2-40B4-BE49-F238E27FC236}">
                    <a16:creationId xmlns:a16="http://schemas.microsoft.com/office/drawing/2014/main" id="{4F85DA49-686F-4580-82D1-7A39CCD19A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7" y="1413"/>
                <a:ext cx="213" cy="481"/>
              </a:xfrm>
              <a:custGeom>
                <a:avLst/>
                <a:gdLst>
                  <a:gd name="T0" fmla="*/ 0 w 213"/>
                  <a:gd name="T1" fmla="*/ 320 h 481"/>
                  <a:gd name="T2" fmla="*/ 71 w 213"/>
                  <a:gd name="T3" fmla="*/ 240 h 481"/>
                  <a:gd name="T4" fmla="*/ 0 w 213"/>
                  <a:gd name="T5" fmla="*/ 160 h 481"/>
                  <a:gd name="T6" fmla="*/ 0 w 213"/>
                  <a:gd name="T7" fmla="*/ 0 h 481"/>
                  <a:gd name="T8" fmla="*/ 212 w 213"/>
                  <a:gd name="T9" fmla="*/ 160 h 481"/>
                  <a:gd name="T10" fmla="*/ 212 w 213"/>
                  <a:gd name="T11" fmla="*/ 320 h 481"/>
                  <a:gd name="T12" fmla="*/ 0 w 213"/>
                  <a:gd name="T13" fmla="*/ 480 h 481"/>
                  <a:gd name="T14" fmla="*/ 0 w 213"/>
                  <a:gd name="T15" fmla="*/ 320 h 48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13" h="481">
                    <a:moveTo>
                      <a:pt x="0" y="320"/>
                    </a:moveTo>
                    <a:lnTo>
                      <a:pt x="71" y="240"/>
                    </a:lnTo>
                    <a:lnTo>
                      <a:pt x="0" y="160"/>
                    </a:lnTo>
                    <a:lnTo>
                      <a:pt x="0" y="0"/>
                    </a:lnTo>
                    <a:lnTo>
                      <a:pt x="212" y="160"/>
                    </a:lnTo>
                    <a:lnTo>
                      <a:pt x="212" y="320"/>
                    </a:lnTo>
                    <a:lnTo>
                      <a:pt x="0" y="480"/>
                    </a:lnTo>
                    <a:lnTo>
                      <a:pt x="0" y="320"/>
                    </a:lnTo>
                  </a:path>
                </a:pathLst>
              </a:custGeom>
              <a:noFill/>
              <a:ln w="25400" cap="rnd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dirty="0">
                  <a:ea typeface="SimHei" panose="02010609060101010101" pitchFamily="49" charset="-122"/>
                </a:endParaRPr>
              </a:p>
            </p:txBody>
          </p:sp>
          <p:sp>
            <p:nvSpPr>
              <p:cNvPr id="131" name="Rectangle 99">
                <a:extLst>
                  <a:ext uri="{FF2B5EF4-FFF2-40B4-BE49-F238E27FC236}">
                    <a16:creationId xmlns:a16="http://schemas.microsoft.com/office/drawing/2014/main" id="{2A9698DA-34A0-48FE-95FF-85802821467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5400000">
                <a:off x="2132" y="1532"/>
                <a:ext cx="376" cy="211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12700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lIns="90473" tIns="44442" rIns="90473" bIns="44442">
                <a:spAutoFit/>
              </a:bodyPr>
              <a:lstStyle/>
              <a:p>
                <a:pPr eaLnBrk="0" hangingPunct="0"/>
                <a:r>
                  <a:rPr lang="en-US" altLang="zh-CN" sz="1600" dirty="0">
                    <a:latin typeface="Arial" pitchFamily="34" charset="0"/>
                    <a:ea typeface="SimHei" panose="02010609060101010101" pitchFamily="49" charset="-122"/>
                  </a:rPr>
                  <a:t>ALU</a:t>
                </a:r>
              </a:p>
            </p:txBody>
          </p:sp>
        </p:grpSp>
        <p:grpSp>
          <p:nvGrpSpPr>
            <p:cNvPr id="101" name="Group 100">
              <a:extLst>
                <a:ext uri="{FF2B5EF4-FFF2-40B4-BE49-F238E27FC236}">
                  <a16:creationId xmlns:a16="http://schemas.microsoft.com/office/drawing/2014/main" id="{62FFA50F-AE2D-442D-8919-8CB52516903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561" y="1248"/>
              <a:ext cx="350" cy="289"/>
              <a:chOff x="1281" y="1509"/>
              <a:chExt cx="350" cy="289"/>
            </a:xfrm>
          </p:grpSpPr>
          <p:sp>
            <p:nvSpPr>
              <p:cNvPr id="126" name="Rectangle 101">
                <a:extLst>
                  <a:ext uri="{FF2B5EF4-FFF2-40B4-BE49-F238E27FC236}">
                    <a16:creationId xmlns:a16="http://schemas.microsoft.com/office/drawing/2014/main" id="{A405D5C1-B70E-4B43-9B66-CB3D26F8D01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81" y="1511"/>
                <a:ext cx="260" cy="21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12700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lIns="90473" tIns="44442" rIns="90473" bIns="44442">
                <a:spAutoFit/>
              </a:bodyPr>
              <a:lstStyle/>
              <a:p>
                <a:pPr algn="ctr" eaLnBrk="0" hangingPunct="0"/>
                <a:r>
                  <a:rPr lang="en-US" altLang="zh-CN" sz="1600" dirty="0">
                    <a:latin typeface="Arial" pitchFamily="34" charset="0"/>
                    <a:ea typeface="SimHei" panose="02010609060101010101" pitchFamily="49" charset="-122"/>
                  </a:rPr>
                  <a:t>IM</a:t>
                </a:r>
              </a:p>
            </p:txBody>
          </p:sp>
          <p:grpSp>
            <p:nvGrpSpPr>
              <p:cNvPr id="127" name="Group 102">
                <a:extLst>
                  <a:ext uri="{FF2B5EF4-FFF2-40B4-BE49-F238E27FC236}">
                    <a16:creationId xmlns:a16="http://schemas.microsoft.com/office/drawing/2014/main" id="{0D04AE6D-3339-4547-A495-F71A2AF25F3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291" y="1509"/>
                <a:ext cx="340" cy="289"/>
                <a:chOff x="1291" y="1509"/>
                <a:chExt cx="340" cy="289"/>
              </a:xfrm>
            </p:grpSpPr>
            <p:sp>
              <p:nvSpPr>
                <p:cNvPr id="128" name="Freeform 103">
                  <a:extLst>
                    <a:ext uri="{FF2B5EF4-FFF2-40B4-BE49-F238E27FC236}">
                      <a16:creationId xmlns:a16="http://schemas.microsoft.com/office/drawing/2014/main" id="{A19A0DC2-ACA0-4A4C-9E41-DDE0DE26832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291" y="1509"/>
                  <a:ext cx="170" cy="289"/>
                </a:xfrm>
                <a:custGeom>
                  <a:avLst/>
                  <a:gdLst>
                    <a:gd name="T0" fmla="*/ 169 w 170"/>
                    <a:gd name="T1" fmla="*/ 0 h 289"/>
                    <a:gd name="T2" fmla="*/ 0 w 170"/>
                    <a:gd name="T3" fmla="*/ 0 h 289"/>
                    <a:gd name="T4" fmla="*/ 0 w 170"/>
                    <a:gd name="T5" fmla="*/ 288 h 289"/>
                    <a:gd name="T6" fmla="*/ 169 w 170"/>
                    <a:gd name="T7" fmla="*/ 288 h 289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170" h="289">
                      <a:moveTo>
                        <a:pt x="169" y="0"/>
                      </a:moveTo>
                      <a:lnTo>
                        <a:pt x="0" y="0"/>
                      </a:lnTo>
                      <a:lnTo>
                        <a:pt x="0" y="288"/>
                      </a:lnTo>
                      <a:lnTo>
                        <a:pt x="169" y="288"/>
                      </a:lnTo>
                    </a:path>
                  </a:pathLst>
                </a:custGeom>
                <a:noFill/>
                <a:ln w="25400" cap="rnd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zh-CN" altLang="en-US" dirty="0">
                    <a:ea typeface="SimHei" panose="02010609060101010101" pitchFamily="49" charset="-122"/>
                  </a:endParaRPr>
                </a:p>
              </p:txBody>
            </p:sp>
            <p:sp>
              <p:nvSpPr>
                <p:cNvPr id="129" name="Freeform 104">
                  <a:extLst>
                    <a:ext uri="{FF2B5EF4-FFF2-40B4-BE49-F238E27FC236}">
                      <a16:creationId xmlns:a16="http://schemas.microsoft.com/office/drawing/2014/main" id="{F18B8877-917F-4C47-9288-F3A6296D149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460" y="1509"/>
                  <a:ext cx="171" cy="289"/>
                </a:xfrm>
                <a:custGeom>
                  <a:avLst/>
                  <a:gdLst>
                    <a:gd name="T0" fmla="*/ 0 w 171"/>
                    <a:gd name="T1" fmla="*/ 0 h 289"/>
                    <a:gd name="T2" fmla="*/ 170 w 171"/>
                    <a:gd name="T3" fmla="*/ 0 h 289"/>
                    <a:gd name="T4" fmla="*/ 170 w 171"/>
                    <a:gd name="T5" fmla="*/ 288 h 289"/>
                    <a:gd name="T6" fmla="*/ 0 w 171"/>
                    <a:gd name="T7" fmla="*/ 288 h 289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171" h="289">
                      <a:moveTo>
                        <a:pt x="0" y="0"/>
                      </a:moveTo>
                      <a:lnTo>
                        <a:pt x="170" y="0"/>
                      </a:lnTo>
                      <a:lnTo>
                        <a:pt x="170" y="288"/>
                      </a:lnTo>
                      <a:lnTo>
                        <a:pt x="0" y="288"/>
                      </a:lnTo>
                    </a:path>
                  </a:pathLst>
                </a:custGeom>
                <a:noFill/>
                <a:ln w="25400" cap="rnd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zh-CN" altLang="en-US" dirty="0">
                    <a:ea typeface="SimHei" panose="02010609060101010101" pitchFamily="49" charset="-122"/>
                  </a:endParaRPr>
                </a:p>
              </p:txBody>
            </p:sp>
          </p:grpSp>
        </p:grpSp>
        <p:sp>
          <p:nvSpPr>
            <p:cNvPr id="102" name="Rectangle 105">
              <a:extLst>
                <a:ext uri="{FF2B5EF4-FFF2-40B4-BE49-F238E27FC236}">
                  <a16:creationId xmlns:a16="http://schemas.microsoft.com/office/drawing/2014/main" id="{E08DA6E1-0CEA-43CA-9067-221F142F0D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12" y="1255"/>
              <a:ext cx="355" cy="21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73" tIns="44442" rIns="90473" bIns="44442">
              <a:spAutoFit/>
            </a:bodyPr>
            <a:lstStyle/>
            <a:p>
              <a:pPr eaLnBrk="0" hangingPunct="0"/>
              <a:r>
                <a:rPr lang="en-US" altLang="zh-CN" sz="1600" dirty="0">
                  <a:latin typeface="Arial" pitchFamily="34" charset="0"/>
                  <a:ea typeface="SimHei" panose="02010609060101010101" pitchFamily="49" charset="-122"/>
                </a:rPr>
                <a:t>Reg</a:t>
              </a:r>
            </a:p>
          </p:txBody>
        </p:sp>
        <p:grpSp>
          <p:nvGrpSpPr>
            <p:cNvPr id="103" name="Group 106">
              <a:extLst>
                <a:ext uri="{FF2B5EF4-FFF2-40B4-BE49-F238E27FC236}">
                  <a16:creationId xmlns:a16="http://schemas.microsoft.com/office/drawing/2014/main" id="{645C9FBE-802A-4ABE-BCDA-9774DF97CF5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031" y="1248"/>
              <a:ext cx="296" cy="289"/>
              <a:chOff x="1751" y="1509"/>
              <a:chExt cx="296" cy="289"/>
            </a:xfrm>
          </p:grpSpPr>
          <p:sp>
            <p:nvSpPr>
              <p:cNvPr id="124" name="Freeform 107">
                <a:extLst>
                  <a:ext uri="{FF2B5EF4-FFF2-40B4-BE49-F238E27FC236}">
                    <a16:creationId xmlns:a16="http://schemas.microsoft.com/office/drawing/2014/main" id="{1509CF76-35C8-4191-95C8-8684BD937B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1" y="1509"/>
                <a:ext cx="149" cy="289"/>
              </a:xfrm>
              <a:custGeom>
                <a:avLst/>
                <a:gdLst>
                  <a:gd name="T0" fmla="*/ 148 w 149"/>
                  <a:gd name="T1" fmla="*/ 0 h 289"/>
                  <a:gd name="T2" fmla="*/ 0 w 149"/>
                  <a:gd name="T3" fmla="*/ 0 h 289"/>
                  <a:gd name="T4" fmla="*/ 0 w 149"/>
                  <a:gd name="T5" fmla="*/ 288 h 289"/>
                  <a:gd name="T6" fmla="*/ 148 w 149"/>
                  <a:gd name="T7" fmla="*/ 288 h 28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9" h="289">
                    <a:moveTo>
                      <a:pt x="148" y="0"/>
                    </a:moveTo>
                    <a:lnTo>
                      <a:pt x="0" y="0"/>
                    </a:lnTo>
                    <a:lnTo>
                      <a:pt x="0" y="288"/>
                    </a:lnTo>
                    <a:lnTo>
                      <a:pt x="148" y="288"/>
                    </a:lnTo>
                  </a:path>
                </a:pathLst>
              </a:custGeom>
              <a:noFill/>
              <a:ln w="25400" cap="rnd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dirty="0">
                  <a:ea typeface="SimHei" panose="02010609060101010101" pitchFamily="49" charset="-122"/>
                </a:endParaRPr>
              </a:p>
            </p:txBody>
          </p:sp>
          <p:sp>
            <p:nvSpPr>
              <p:cNvPr id="125" name="Freeform 108">
                <a:extLst>
                  <a:ext uri="{FF2B5EF4-FFF2-40B4-BE49-F238E27FC236}">
                    <a16:creationId xmlns:a16="http://schemas.microsoft.com/office/drawing/2014/main" id="{9103E100-25C4-4E56-AE42-CC85F6209E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9" y="1509"/>
                <a:ext cx="148" cy="289"/>
              </a:xfrm>
              <a:custGeom>
                <a:avLst/>
                <a:gdLst>
                  <a:gd name="T0" fmla="*/ 0 w 148"/>
                  <a:gd name="T1" fmla="*/ 0 h 289"/>
                  <a:gd name="T2" fmla="*/ 147 w 148"/>
                  <a:gd name="T3" fmla="*/ 0 h 289"/>
                  <a:gd name="T4" fmla="*/ 147 w 148"/>
                  <a:gd name="T5" fmla="*/ 288 h 289"/>
                  <a:gd name="T6" fmla="*/ 0 w 148"/>
                  <a:gd name="T7" fmla="*/ 288 h 28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8" h="289">
                    <a:moveTo>
                      <a:pt x="0" y="0"/>
                    </a:moveTo>
                    <a:lnTo>
                      <a:pt x="147" y="0"/>
                    </a:lnTo>
                    <a:lnTo>
                      <a:pt x="147" y="288"/>
                    </a:lnTo>
                    <a:lnTo>
                      <a:pt x="0" y="288"/>
                    </a:lnTo>
                  </a:path>
                </a:pathLst>
              </a:custGeom>
              <a:noFill/>
              <a:ln w="25400" cap="rnd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dirty="0">
                  <a:ea typeface="SimHei" panose="02010609060101010101" pitchFamily="49" charset="-122"/>
                </a:endParaRPr>
              </a:p>
            </p:txBody>
          </p:sp>
        </p:grpSp>
        <p:sp>
          <p:nvSpPr>
            <p:cNvPr id="104" name="Line 109">
              <a:extLst>
                <a:ext uri="{FF2B5EF4-FFF2-40B4-BE49-F238E27FC236}">
                  <a16:creationId xmlns:a16="http://schemas.microsoft.com/office/drawing/2014/main" id="{39A0921A-16BA-4345-88C1-36666016C35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916" y="1392"/>
              <a:ext cx="116" cy="0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105" name="Freeform 110">
              <a:extLst>
                <a:ext uri="{FF2B5EF4-FFF2-40B4-BE49-F238E27FC236}">
                  <a16:creationId xmlns:a16="http://schemas.microsoft.com/office/drawing/2014/main" id="{8C66A3A0-C1C7-480A-8D39-647CF2B394C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4" y="1296"/>
              <a:ext cx="48" cy="97"/>
            </a:xfrm>
            <a:custGeom>
              <a:avLst/>
              <a:gdLst>
                <a:gd name="T0" fmla="*/ 0 w 48"/>
                <a:gd name="T1" fmla="*/ 96 h 97"/>
                <a:gd name="T2" fmla="*/ 0 w 48"/>
                <a:gd name="T3" fmla="*/ 0 h 97"/>
                <a:gd name="T4" fmla="*/ 47 w 48"/>
                <a:gd name="T5" fmla="*/ 0 h 97"/>
                <a:gd name="T6" fmla="*/ 47 w 48"/>
                <a:gd name="T7" fmla="*/ 0 h 9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8" h="97">
                  <a:moveTo>
                    <a:pt x="0" y="96"/>
                  </a:moveTo>
                  <a:lnTo>
                    <a:pt x="0" y="0"/>
                  </a:lnTo>
                  <a:lnTo>
                    <a:pt x="47" y="0"/>
                  </a:lnTo>
                </a:path>
              </a:pathLst>
            </a:custGeom>
            <a:noFill/>
            <a:ln w="25400" cap="rnd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106" name="Line 111">
              <a:extLst>
                <a:ext uri="{FF2B5EF4-FFF2-40B4-BE49-F238E27FC236}">
                  <a16:creationId xmlns:a16="http://schemas.microsoft.com/office/drawing/2014/main" id="{D7710327-F097-417B-89FC-69BB4D0F94A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332" y="1296"/>
              <a:ext cx="157" cy="0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107" name="Rectangle 112">
              <a:extLst>
                <a:ext uri="{FF2B5EF4-FFF2-40B4-BE49-F238E27FC236}">
                  <a16:creationId xmlns:a16="http://schemas.microsoft.com/office/drawing/2014/main" id="{0B25CF67-C7DA-42F9-83B6-2765109F7F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29" y="1250"/>
              <a:ext cx="316" cy="2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73" tIns="44442" rIns="90473" bIns="44442">
              <a:spAutoFit/>
            </a:bodyPr>
            <a:lstStyle/>
            <a:p>
              <a:pPr eaLnBrk="0" hangingPunct="0"/>
              <a:r>
                <a:rPr lang="en-US" altLang="zh-CN" sz="1600" dirty="0">
                  <a:latin typeface="Arial" pitchFamily="34" charset="0"/>
                  <a:ea typeface="SimHei" panose="02010609060101010101" pitchFamily="49" charset="-122"/>
                </a:rPr>
                <a:t>DM</a:t>
              </a:r>
            </a:p>
          </p:txBody>
        </p:sp>
        <p:grpSp>
          <p:nvGrpSpPr>
            <p:cNvPr id="108" name="Group 113">
              <a:extLst>
                <a:ext uri="{FF2B5EF4-FFF2-40B4-BE49-F238E27FC236}">
                  <a16:creationId xmlns:a16="http://schemas.microsoft.com/office/drawing/2014/main" id="{54058013-7557-4B80-83EB-88F757CA7FC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880" y="1248"/>
              <a:ext cx="325" cy="289"/>
              <a:chOff x="2600" y="1509"/>
              <a:chExt cx="325" cy="289"/>
            </a:xfrm>
          </p:grpSpPr>
          <p:sp>
            <p:nvSpPr>
              <p:cNvPr id="122" name="Freeform 114">
                <a:extLst>
                  <a:ext uri="{FF2B5EF4-FFF2-40B4-BE49-F238E27FC236}">
                    <a16:creationId xmlns:a16="http://schemas.microsoft.com/office/drawing/2014/main" id="{66FEEA4B-D39D-4BB9-B919-2E7E05DB48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0" y="1509"/>
                <a:ext cx="162" cy="289"/>
              </a:xfrm>
              <a:custGeom>
                <a:avLst/>
                <a:gdLst>
                  <a:gd name="T0" fmla="*/ 161 w 162"/>
                  <a:gd name="T1" fmla="*/ 0 h 289"/>
                  <a:gd name="T2" fmla="*/ 0 w 162"/>
                  <a:gd name="T3" fmla="*/ 0 h 289"/>
                  <a:gd name="T4" fmla="*/ 0 w 162"/>
                  <a:gd name="T5" fmla="*/ 288 h 289"/>
                  <a:gd name="T6" fmla="*/ 161 w 162"/>
                  <a:gd name="T7" fmla="*/ 288 h 28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2" h="289">
                    <a:moveTo>
                      <a:pt x="161" y="0"/>
                    </a:moveTo>
                    <a:lnTo>
                      <a:pt x="0" y="0"/>
                    </a:lnTo>
                    <a:lnTo>
                      <a:pt x="0" y="288"/>
                    </a:lnTo>
                    <a:lnTo>
                      <a:pt x="161" y="288"/>
                    </a:lnTo>
                  </a:path>
                </a:pathLst>
              </a:custGeom>
              <a:noFill/>
              <a:ln w="25400" cap="rnd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dirty="0">
                  <a:ea typeface="SimHei" panose="02010609060101010101" pitchFamily="49" charset="-122"/>
                </a:endParaRPr>
              </a:p>
            </p:txBody>
          </p:sp>
          <p:sp>
            <p:nvSpPr>
              <p:cNvPr id="123" name="Freeform 115">
                <a:extLst>
                  <a:ext uri="{FF2B5EF4-FFF2-40B4-BE49-F238E27FC236}">
                    <a16:creationId xmlns:a16="http://schemas.microsoft.com/office/drawing/2014/main" id="{8D788B96-3A08-4CE3-ACAC-A7E4651384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1" y="1509"/>
                <a:ext cx="164" cy="289"/>
              </a:xfrm>
              <a:custGeom>
                <a:avLst/>
                <a:gdLst>
                  <a:gd name="T0" fmla="*/ 0 w 164"/>
                  <a:gd name="T1" fmla="*/ 0 h 289"/>
                  <a:gd name="T2" fmla="*/ 163 w 164"/>
                  <a:gd name="T3" fmla="*/ 0 h 289"/>
                  <a:gd name="T4" fmla="*/ 163 w 164"/>
                  <a:gd name="T5" fmla="*/ 288 h 289"/>
                  <a:gd name="T6" fmla="*/ 0 w 164"/>
                  <a:gd name="T7" fmla="*/ 288 h 28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4" h="289">
                    <a:moveTo>
                      <a:pt x="0" y="0"/>
                    </a:moveTo>
                    <a:lnTo>
                      <a:pt x="163" y="0"/>
                    </a:lnTo>
                    <a:lnTo>
                      <a:pt x="163" y="288"/>
                    </a:lnTo>
                    <a:lnTo>
                      <a:pt x="0" y="288"/>
                    </a:lnTo>
                  </a:path>
                </a:pathLst>
              </a:custGeom>
              <a:noFill/>
              <a:ln w="25400" cap="rnd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dirty="0">
                  <a:ea typeface="SimHei" panose="02010609060101010101" pitchFamily="49" charset="-122"/>
                </a:endParaRPr>
              </a:p>
            </p:txBody>
          </p:sp>
        </p:grpSp>
        <p:sp>
          <p:nvSpPr>
            <p:cNvPr id="109" name="Rectangle 116">
              <a:extLst>
                <a:ext uri="{FF2B5EF4-FFF2-40B4-BE49-F238E27FC236}">
                  <a16:creationId xmlns:a16="http://schemas.microsoft.com/office/drawing/2014/main" id="{E06BDF50-2033-4C1C-B060-0AD3317866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21" y="1250"/>
              <a:ext cx="355" cy="21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73" tIns="44442" rIns="90473" bIns="44442">
              <a:spAutoFit/>
            </a:bodyPr>
            <a:lstStyle/>
            <a:p>
              <a:pPr eaLnBrk="0" hangingPunct="0"/>
              <a:r>
                <a:rPr lang="en-US" altLang="zh-CN" sz="1600" dirty="0">
                  <a:latin typeface="Arial" pitchFamily="34" charset="0"/>
                  <a:ea typeface="SimHei" panose="02010609060101010101" pitchFamily="49" charset="-122"/>
                </a:rPr>
                <a:t>Reg</a:t>
              </a:r>
            </a:p>
          </p:txBody>
        </p:sp>
        <p:grpSp>
          <p:nvGrpSpPr>
            <p:cNvPr id="110" name="Group 117">
              <a:extLst>
                <a:ext uri="{FF2B5EF4-FFF2-40B4-BE49-F238E27FC236}">
                  <a16:creationId xmlns:a16="http://schemas.microsoft.com/office/drawing/2014/main" id="{531C15A8-7F7B-416F-B510-E6F1CF5C632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348" y="1248"/>
              <a:ext cx="284" cy="289"/>
              <a:chOff x="3068" y="1509"/>
              <a:chExt cx="284" cy="289"/>
            </a:xfrm>
          </p:grpSpPr>
          <p:sp>
            <p:nvSpPr>
              <p:cNvPr id="120" name="Freeform 118">
                <a:extLst>
                  <a:ext uri="{FF2B5EF4-FFF2-40B4-BE49-F238E27FC236}">
                    <a16:creationId xmlns:a16="http://schemas.microsoft.com/office/drawing/2014/main" id="{E4B7288E-A96D-450B-A9A6-F468820C85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8" y="1509"/>
                <a:ext cx="142" cy="289"/>
              </a:xfrm>
              <a:custGeom>
                <a:avLst/>
                <a:gdLst>
                  <a:gd name="T0" fmla="*/ 141 w 142"/>
                  <a:gd name="T1" fmla="*/ 0 h 289"/>
                  <a:gd name="T2" fmla="*/ 0 w 142"/>
                  <a:gd name="T3" fmla="*/ 0 h 289"/>
                  <a:gd name="T4" fmla="*/ 0 w 142"/>
                  <a:gd name="T5" fmla="*/ 288 h 289"/>
                  <a:gd name="T6" fmla="*/ 141 w 142"/>
                  <a:gd name="T7" fmla="*/ 288 h 28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2" h="289">
                    <a:moveTo>
                      <a:pt x="141" y="0"/>
                    </a:moveTo>
                    <a:lnTo>
                      <a:pt x="0" y="0"/>
                    </a:lnTo>
                    <a:lnTo>
                      <a:pt x="0" y="288"/>
                    </a:lnTo>
                    <a:lnTo>
                      <a:pt x="141" y="288"/>
                    </a:lnTo>
                  </a:path>
                </a:pathLst>
              </a:custGeom>
              <a:noFill/>
              <a:ln w="25400" cap="rnd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dirty="0">
                  <a:ea typeface="SimHei" panose="02010609060101010101" pitchFamily="49" charset="-122"/>
                </a:endParaRPr>
              </a:p>
            </p:txBody>
          </p:sp>
          <p:sp>
            <p:nvSpPr>
              <p:cNvPr id="121" name="Freeform 119">
                <a:extLst>
                  <a:ext uri="{FF2B5EF4-FFF2-40B4-BE49-F238E27FC236}">
                    <a16:creationId xmlns:a16="http://schemas.microsoft.com/office/drawing/2014/main" id="{BFCED2E1-3758-48FC-BA28-EDF4A3DE13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9" y="1509"/>
                <a:ext cx="143" cy="289"/>
              </a:xfrm>
              <a:custGeom>
                <a:avLst/>
                <a:gdLst>
                  <a:gd name="T0" fmla="*/ 0 w 143"/>
                  <a:gd name="T1" fmla="*/ 0 h 289"/>
                  <a:gd name="T2" fmla="*/ 142 w 143"/>
                  <a:gd name="T3" fmla="*/ 0 h 289"/>
                  <a:gd name="T4" fmla="*/ 142 w 143"/>
                  <a:gd name="T5" fmla="*/ 288 h 289"/>
                  <a:gd name="T6" fmla="*/ 0 w 143"/>
                  <a:gd name="T7" fmla="*/ 288 h 28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3" h="289">
                    <a:moveTo>
                      <a:pt x="0" y="0"/>
                    </a:moveTo>
                    <a:lnTo>
                      <a:pt x="142" y="0"/>
                    </a:lnTo>
                    <a:lnTo>
                      <a:pt x="142" y="288"/>
                    </a:lnTo>
                    <a:lnTo>
                      <a:pt x="0" y="288"/>
                    </a:lnTo>
                  </a:path>
                </a:pathLst>
              </a:custGeom>
              <a:noFill/>
              <a:ln w="25400" cap="rnd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dirty="0">
                  <a:ea typeface="SimHei" panose="02010609060101010101" pitchFamily="49" charset="-122"/>
                </a:endParaRPr>
              </a:p>
            </p:txBody>
          </p:sp>
        </p:grpSp>
        <p:sp>
          <p:nvSpPr>
            <p:cNvPr id="111" name="Line 120">
              <a:extLst>
                <a:ext uri="{FF2B5EF4-FFF2-40B4-BE49-F238E27FC236}">
                  <a16:creationId xmlns:a16="http://schemas.microsoft.com/office/drawing/2014/main" id="{C625990A-F854-4C36-930F-5364E185684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01" y="1392"/>
              <a:ext cx="139" cy="0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112" name="Line 121">
              <a:extLst>
                <a:ext uri="{FF2B5EF4-FFF2-40B4-BE49-F238E27FC236}">
                  <a16:creationId xmlns:a16="http://schemas.microsoft.com/office/drawing/2014/main" id="{C445B6D3-B297-473F-8A8D-F60A0AABC42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717" y="1392"/>
              <a:ext cx="155" cy="0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113" name="Line 122">
              <a:extLst>
                <a:ext uri="{FF2B5EF4-FFF2-40B4-BE49-F238E27FC236}">
                  <a16:creationId xmlns:a16="http://schemas.microsoft.com/office/drawing/2014/main" id="{8288BA89-5C23-44F8-98B5-E1F8F4D344A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332" y="1488"/>
              <a:ext cx="157" cy="0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114" name="Line 123">
              <a:extLst>
                <a:ext uri="{FF2B5EF4-FFF2-40B4-BE49-F238E27FC236}">
                  <a16:creationId xmlns:a16="http://schemas.microsoft.com/office/drawing/2014/main" id="{BFBEFE0B-B1D1-4DDA-AE13-EE093B6C54F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416" y="1488"/>
              <a:ext cx="0" cy="192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115" name="Line 124">
              <a:extLst>
                <a:ext uri="{FF2B5EF4-FFF2-40B4-BE49-F238E27FC236}">
                  <a16:creationId xmlns:a16="http://schemas.microsoft.com/office/drawing/2014/main" id="{F37A2BEF-5CCE-46B2-A3EA-85E2B94EE14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416" y="1680"/>
              <a:ext cx="336" cy="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116" name="Line 125">
              <a:extLst>
                <a:ext uri="{FF2B5EF4-FFF2-40B4-BE49-F238E27FC236}">
                  <a16:creationId xmlns:a16="http://schemas.microsoft.com/office/drawing/2014/main" id="{8B154BC6-846C-45FF-A7CF-E72ED63790C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752" y="1392"/>
              <a:ext cx="0" cy="288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117" name="Line 126">
              <a:extLst>
                <a:ext uri="{FF2B5EF4-FFF2-40B4-BE49-F238E27FC236}">
                  <a16:creationId xmlns:a16="http://schemas.microsoft.com/office/drawing/2014/main" id="{1F98B319-DECF-40F2-B133-2E83F554749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832" y="1392"/>
              <a:ext cx="0" cy="24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118" name="Line 127">
              <a:extLst>
                <a:ext uri="{FF2B5EF4-FFF2-40B4-BE49-F238E27FC236}">
                  <a16:creationId xmlns:a16="http://schemas.microsoft.com/office/drawing/2014/main" id="{87B87986-A264-4064-B554-91A15846106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32" y="1632"/>
              <a:ext cx="432" cy="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119" name="Line 128">
              <a:extLst>
                <a:ext uri="{FF2B5EF4-FFF2-40B4-BE49-F238E27FC236}">
                  <a16:creationId xmlns:a16="http://schemas.microsoft.com/office/drawing/2014/main" id="{83148602-E5F5-40E5-B212-D360C804F5B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64" y="1392"/>
              <a:ext cx="0" cy="24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</p:grpSp>
      <mc:AlternateContent xmlns:mc="http://schemas.openxmlformats.org/markup-compatibility/2006" xmlns:p14="http://schemas.microsoft.com/office/powerpoint/2010/main">
        <mc:Choice Requires="p14">
          <p:contentPart p14:bwMode="auto" r:id="rId3">
            <p14:nvContentPartPr>
              <p14:cNvPr id="5" name="墨迹 4">
                <a:extLst>
                  <a:ext uri="{FF2B5EF4-FFF2-40B4-BE49-F238E27FC236}">
                    <a16:creationId xmlns:a16="http://schemas.microsoft.com/office/drawing/2014/main" id="{7DCA96BD-5BA8-7315-0BF6-D3D481D1B87D}"/>
                  </a:ext>
                </a:extLst>
              </p14:cNvPr>
              <p14:cNvContentPartPr/>
              <p14:nvPr/>
            </p14:nvContentPartPr>
            <p14:xfrm>
              <a:off x="6489000" y="2803680"/>
              <a:ext cx="360" cy="360"/>
            </p14:xfrm>
          </p:contentPart>
        </mc:Choice>
        <mc:Fallback xmlns="">
          <p:pic>
            <p:nvPicPr>
              <p:cNvPr id="5" name="墨迹 4">
                <a:extLst>
                  <a:ext uri="{FF2B5EF4-FFF2-40B4-BE49-F238E27FC236}">
                    <a16:creationId xmlns:a16="http://schemas.microsoft.com/office/drawing/2014/main" id="{7DCA96BD-5BA8-7315-0BF6-D3D481D1B87D}"/>
                  </a:ext>
                </a:extLst>
              </p:cNvPr>
              <p:cNvPicPr/>
              <p:nvPr/>
            </p:nvPicPr>
            <p:blipFill>
              <a:blip r:embed="rId4"/>
              <a:stretch>
                <a:fillRect/>
              </a:stretch>
            </p:blipFill>
            <p:spPr>
              <a:xfrm>
                <a:off x="6479640" y="2794320"/>
                <a:ext cx="19080" cy="1908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216739899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nextClick" afterEffect="1"/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>
            <a:extLst>
              <a:ext uri="{FF2B5EF4-FFF2-40B4-BE49-F238E27FC236}">
                <a16:creationId xmlns:a16="http://schemas.microsoft.com/office/drawing/2014/main" id="{66246F00-C2A0-4454-A3DF-620A0889D09D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dirty="0"/>
              <a:t>数据转发检测和控制</a:t>
            </a:r>
            <a:r>
              <a:rPr lang="en-US" altLang="zh-CN" dirty="0"/>
              <a:t>-3</a:t>
            </a:r>
            <a:endParaRPr lang="zh-CN" altLang="en-US" dirty="0"/>
          </a:p>
        </p:txBody>
      </p:sp>
      <p:sp>
        <p:nvSpPr>
          <p:cNvPr id="3" name="内容占位符 2">
            <a:extLst>
              <a:ext uri="{FF2B5EF4-FFF2-40B4-BE49-F238E27FC236}">
                <a16:creationId xmlns:a16="http://schemas.microsoft.com/office/drawing/2014/main" id="{01F7FDBA-120E-481C-A6B9-BCC93AA4CFEF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457200" y="1228725"/>
            <a:ext cx="8686800" cy="4346295"/>
          </a:xfrm>
        </p:spPr>
        <p:txBody>
          <a:bodyPr/>
          <a:lstStyle/>
          <a:p>
            <a:pPr marL="504825" indent="-504825" defTabSz="1009650">
              <a:buNone/>
            </a:pPr>
            <a:r>
              <a:rPr lang="zh-CN" altLang="en-US" sz="2400" dirty="0">
                <a:solidFill>
                  <a:srgbClr val="3333CC"/>
                </a:solidFill>
                <a:latin typeface="+mj-lt"/>
              </a:rPr>
              <a:t>问题：</a:t>
            </a:r>
            <a:r>
              <a:rPr lang="en-US" altLang="zh-CN" sz="2400" dirty="0">
                <a:solidFill>
                  <a:srgbClr val="3333CC"/>
                </a:solidFill>
                <a:latin typeface="+mj-lt"/>
              </a:rPr>
              <a:t>MEM/</a:t>
            </a:r>
            <a:r>
              <a:rPr lang="en-US" altLang="zh-CN" sz="2400" dirty="0" err="1">
                <a:solidFill>
                  <a:srgbClr val="3333CC"/>
                </a:solidFill>
                <a:latin typeface="+mj-lt"/>
              </a:rPr>
              <a:t>WB.ALUOut</a:t>
            </a:r>
            <a:r>
              <a:rPr lang="zh-CN" altLang="en-US" sz="2400" dirty="0">
                <a:solidFill>
                  <a:srgbClr val="3333CC"/>
                </a:solidFill>
                <a:latin typeface="+mj-lt"/>
              </a:rPr>
              <a:t>数据的转发是否成立？</a:t>
            </a:r>
          </a:p>
          <a:p>
            <a:pPr marL="504825" indent="-504825" defTabSz="1009650">
              <a:buNone/>
            </a:pPr>
            <a:endParaRPr lang="en-US" altLang="zh-CN" sz="2000" dirty="0">
              <a:solidFill>
                <a:srgbClr val="3333CC"/>
              </a:solidFill>
              <a:latin typeface="+mj-lt"/>
            </a:endParaRPr>
          </a:p>
          <a:p>
            <a:pPr marL="504825" indent="-504825" defTabSz="1009650">
              <a:buNone/>
            </a:pPr>
            <a:r>
              <a:rPr lang="en-US" altLang="zh-CN" sz="2000" dirty="0">
                <a:solidFill>
                  <a:srgbClr val="3333CC"/>
                </a:solidFill>
                <a:latin typeface="+mj-lt"/>
              </a:rPr>
              <a:t>2.  MEM/WB hazard:</a:t>
            </a:r>
          </a:p>
          <a:p>
            <a:pPr marL="504825" indent="-504825" defTabSz="1009650">
              <a:spcBef>
                <a:spcPct val="0"/>
              </a:spcBef>
              <a:buNone/>
            </a:pPr>
            <a:r>
              <a:rPr lang="en-US" altLang="zh-CN" sz="2000" dirty="0">
                <a:latin typeface="+mj-lt"/>
              </a:rPr>
              <a:t>if (MEM/</a:t>
            </a:r>
            <a:r>
              <a:rPr lang="en-US" altLang="zh-CN" sz="2000" dirty="0" err="1">
                <a:latin typeface="+mj-lt"/>
              </a:rPr>
              <a:t>WB.RegWrite</a:t>
            </a:r>
            <a:endParaRPr lang="en-US" altLang="zh-CN" sz="2000" dirty="0">
              <a:latin typeface="+mj-lt"/>
            </a:endParaRPr>
          </a:p>
          <a:p>
            <a:pPr marL="504825" indent="-504825" defTabSz="1009650">
              <a:spcBef>
                <a:spcPct val="0"/>
              </a:spcBef>
              <a:buNone/>
            </a:pPr>
            <a:r>
              <a:rPr lang="en-US" altLang="zh-CN" sz="2000" dirty="0">
                <a:latin typeface="+mj-lt"/>
              </a:rPr>
              <a:t>and (MEM/</a:t>
            </a:r>
            <a:r>
              <a:rPr lang="en-US" altLang="zh-CN" sz="2000" dirty="0" err="1">
                <a:latin typeface="+mj-lt"/>
              </a:rPr>
              <a:t>WB.RegWrAddr</a:t>
            </a:r>
            <a:r>
              <a:rPr lang="en-US" altLang="zh-CN" sz="2000" dirty="0">
                <a:latin typeface="+mj-lt"/>
              </a:rPr>
              <a:t> != 0)</a:t>
            </a:r>
            <a:endParaRPr lang="en-US" altLang="zh-CN" sz="2000" dirty="0">
              <a:solidFill>
                <a:srgbClr val="009900"/>
              </a:solidFill>
              <a:latin typeface="+mj-lt"/>
            </a:endParaRPr>
          </a:p>
          <a:p>
            <a:pPr marL="504825" indent="-504825" defTabSz="1009650">
              <a:spcBef>
                <a:spcPct val="0"/>
              </a:spcBef>
              <a:buNone/>
            </a:pPr>
            <a:r>
              <a:rPr lang="en-US" altLang="zh-CN" sz="2000" dirty="0">
                <a:latin typeface="+mj-lt"/>
              </a:rPr>
              <a:t>and (MEM/</a:t>
            </a:r>
            <a:r>
              <a:rPr lang="en-US" altLang="zh-CN" sz="2000" dirty="0" err="1">
                <a:latin typeface="+mj-lt"/>
              </a:rPr>
              <a:t>WB.RegWrAddr</a:t>
            </a:r>
            <a:r>
              <a:rPr lang="en-US" altLang="zh-CN" sz="2000" dirty="0">
                <a:latin typeface="+mj-lt"/>
              </a:rPr>
              <a:t> == ID/</a:t>
            </a:r>
            <a:r>
              <a:rPr lang="en-US" altLang="zh-CN" sz="2000" dirty="0" err="1">
                <a:latin typeface="+mj-lt"/>
              </a:rPr>
              <a:t>EX.RegisterRs</a:t>
            </a:r>
            <a:r>
              <a:rPr lang="en-US" altLang="zh-CN" sz="2000" dirty="0">
                <a:latin typeface="+mj-lt"/>
              </a:rPr>
              <a:t>)</a:t>
            </a:r>
          </a:p>
          <a:p>
            <a:pPr marL="504825" indent="-504825" defTabSz="1009650">
              <a:spcBef>
                <a:spcPct val="0"/>
              </a:spcBef>
              <a:buNone/>
            </a:pPr>
            <a:r>
              <a:rPr lang="en-US" altLang="zh-CN" sz="2000" dirty="0">
                <a:solidFill>
                  <a:srgbClr val="009900"/>
                </a:solidFill>
                <a:latin typeface="+mj-lt"/>
              </a:rPr>
              <a:t>and (EX/</a:t>
            </a:r>
            <a:r>
              <a:rPr lang="en-US" altLang="zh-CN" sz="2000" dirty="0" err="1">
                <a:solidFill>
                  <a:srgbClr val="009900"/>
                </a:solidFill>
                <a:latin typeface="+mj-lt"/>
              </a:rPr>
              <a:t>MEM.RegWrAddr</a:t>
            </a:r>
            <a:r>
              <a:rPr lang="en-US" altLang="zh-CN" sz="2000" dirty="0">
                <a:solidFill>
                  <a:srgbClr val="009900"/>
                </a:solidFill>
                <a:latin typeface="+mj-lt"/>
              </a:rPr>
              <a:t> != ID/</a:t>
            </a:r>
            <a:r>
              <a:rPr lang="en-US" altLang="zh-CN" sz="2000" dirty="0" err="1">
                <a:solidFill>
                  <a:srgbClr val="009900"/>
                </a:solidFill>
                <a:latin typeface="+mj-lt"/>
              </a:rPr>
              <a:t>EX.RegisterRs</a:t>
            </a:r>
            <a:r>
              <a:rPr lang="en-US" altLang="zh-CN" sz="2000" dirty="0">
                <a:solidFill>
                  <a:srgbClr val="009900"/>
                </a:solidFill>
                <a:latin typeface="+mj-lt"/>
              </a:rPr>
              <a:t> || ~ EX/</a:t>
            </a:r>
            <a:r>
              <a:rPr lang="en-US" altLang="zh-CN" sz="2000" dirty="0" err="1">
                <a:solidFill>
                  <a:srgbClr val="009900"/>
                </a:solidFill>
                <a:latin typeface="+mj-lt"/>
              </a:rPr>
              <a:t>MEM.RegWrite</a:t>
            </a:r>
            <a:r>
              <a:rPr lang="en-US" altLang="zh-CN" sz="2000" dirty="0">
                <a:solidFill>
                  <a:srgbClr val="009900"/>
                </a:solidFill>
                <a:latin typeface="+mj-lt"/>
              </a:rPr>
              <a:t>)</a:t>
            </a:r>
          </a:p>
          <a:p>
            <a:pPr marL="504825" indent="-504825" defTabSz="1009650">
              <a:spcBef>
                <a:spcPct val="0"/>
              </a:spcBef>
              <a:buNone/>
            </a:pPr>
            <a:r>
              <a:rPr lang="en-US" altLang="zh-CN" sz="2000" dirty="0">
                <a:latin typeface="+mj-lt"/>
              </a:rPr>
              <a:t>)</a:t>
            </a:r>
          </a:p>
          <a:p>
            <a:pPr marL="504825" indent="-504825" defTabSz="1009650">
              <a:spcBef>
                <a:spcPct val="0"/>
              </a:spcBef>
              <a:buNone/>
            </a:pPr>
            <a:r>
              <a:rPr lang="en-US" altLang="zh-CN" sz="2000" dirty="0">
                <a:latin typeface="+mj-lt"/>
              </a:rPr>
              <a:t>		</a:t>
            </a:r>
            <a:r>
              <a:rPr lang="en-US" altLang="zh-CN" sz="2000" dirty="0" err="1">
                <a:latin typeface="+mj-lt"/>
              </a:rPr>
              <a:t>ForwardA</a:t>
            </a:r>
            <a:r>
              <a:rPr lang="en-US" altLang="zh-CN" sz="2000" dirty="0">
                <a:latin typeface="+mj-lt"/>
              </a:rPr>
              <a:t> = 01</a:t>
            </a:r>
          </a:p>
          <a:p>
            <a:pPr marL="504825" indent="-504825" defTabSz="1009650">
              <a:spcBef>
                <a:spcPct val="0"/>
              </a:spcBef>
              <a:buNone/>
            </a:pPr>
            <a:endParaRPr lang="en-US" altLang="zh-CN" sz="700" dirty="0">
              <a:latin typeface="+mj-lt"/>
            </a:endParaRPr>
          </a:p>
        </p:txBody>
      </p:sp>
      <p:sp>
        <p:nvSpPr>
          <p:cNvPr id="4" name="灯片编号占位符 3">
            <a:extLst>
              <a:ext uri="{FF2B5EF4-FFF2-40B4-BE49-F238E27FC236}">
                <a16:creationId xmlns:a16="http://schemas.microsoft.com/office/drawing/2014/main" id="{08F22251-0817-4067-9A09-D64D9A0D3E6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1806CE5-282B-4233-8654-09F35EA875E2}" type="slidenum">
              <a:rPr lang="zh-CN" altLang="en-US" smtClean="0"/>
              <a:t>95</a:t>
            </a:fld>
            <a:endParaRPr lang="zh-CN" altLang="en-US"/>
          </a:p>
        </p:txBody>
      </p:sp>
      <p:sp>
        <p:nvSpPr>
          <p:cNvPr id="6" name="Text Box 4">
            <a:extLst>
              <a:ext uri="{FF2B5EF4-FFF2-40B4-BE49-F238E27FC236}">
                <a16:creationId xmlns:a16="http://schemas.microsoft.com/office/drawing/2014/main" id="{F079E669-27A7-4F8A-B669-E4F863D15C9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908550" y="4273539"/>
            <a:ext cx="3994150" cy="1938978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  <a:effectLst/>
        </p:spPr>
        <p:txBody>
          <a:bodyPr wrap="square" lIns="91425" tIns="45713" rIns="91425" bIns="45713">
            <a:spAutoFit/>
          </a:bodyPr>
          <a:lstStyle>
            <a:lvl1pPr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1pPr>
            <a:lvl2pPr marL="742950" indent="-28575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2pPr>
            <a:lvl3pPr marL="11430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3pPr>
            <a:lvl4pPr marL="16002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4pPr>
            <a:lvl5pPr marL="20574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9pPr>
          </a:lstStyle>
          <a:p>
            <a:r>
              <a:rPr lang="zh-CN" altLang="en-US" sz="2000" b="0" dirty="0">
                <a:solidFill>
                  <a:srgbClr val="C00000"/>
                </a:solidFill>
                <a:latin typeface="Arial" pitchFamily="34" charset="0"/>
                <a:ea typeface="SimHei" panose="02010609060101010101" pitchFamily="49" charset="-122"/>
              </a:rPr>
              <a:t>前前条指令</a:t>
            </a:r>
            <a:r>
              <a:rPr lang="en-US" altLang="zh-CN" sz="2000" b="0" dirty="0">
                <a:solidFill>
                  <a:srgbClr val="C00000"/>
                </a:solidFill>
                <a:latin typeface="Arial" pitchFamily="34" charset="0"/>
                <a:ea typeface="SimHei" panose="02010609060101010101" pitchFamily="49" charset="-122"/>
              </a:rPr>
              <a:t>Forward (from MEM/WB)</a:t>
            </a:r>
            <a:r>
              <a:rPr lang="zh-CN" altLang="en-US" sz="2000" b="0" dirty="0">
                <a:solidFill>
                  <a:srgbClr val="C00000"/>
                </a:solidFill>
                <a:latin typeface="Arial" pitchFamily="34" charset="0"/>
                <a:ea typeface="SimHei" panose="02010609060101010101" pitchFamily="49" charset="-122"/>
              </a:rPr>
              <a:t>成立的条件</a:t>
            </a:r>
          </a:p>
          <a:p>
            <a:pPr marL="342900" indent="-342900">
              <a:buFont typeface="Wingdings" panose="05000000000000000000" pitchFamily="2" charset="2"/>
              <a:buChar char="ü"/>
            </a:pPr>
            <a:r>
              <a:rPr lang="zh-CN" altLang="en-US" sz="2000" b="0" dirty="0">
                <a:solidFill>
                  <a:srgbClr val="C00000"/>
                </a:solidFill>
                <a:latin typeface="Arial" pitchFamily="34" charset="0"/>
                <a:ea typeface="SimHei" panose="02010609060101010101" pitchFamily="49" charset="-122"/>
              </a:rPr>
              <a:t>这条指令要写入寄存器</a:t>
            </a:r>
          </a:p>
          <a:p>
            <a:pPr marL="342900" indent="-342900">
              <a:buFont typeface="Wingdings" panose="05000000000000000000" pitchFamily="2" charset="2"/>
              <a:buChar char="ü"/>
            </a:pPr>
            <a:r>
              <a:rPr lang="zh-CN" altLang="en-US" sz="2000" b="0" dirty="0">
                <a:solidFill>
                  <a:srgbClr val="C00000"/>
                </a:solidFill>
                <a:latin typeface="Arial" pitchFamily="34" charset="0"/>
                <a:ea typeface="SimHei" panose="02010609060101010101" pitchFamily="49" charset="-122"/>
              </a:rPr>
              <a:t>写入的不是</a:t>
            </a:r>
            <a:r>
              <a:rPr lang="en-US" altLang="zh-CN" sz="2000" b="0" dirty="0">
                <a:solidFill>
                  <a:srgbClr val="C00000"/>
                </a:solidFill>
                <a:latin typeface="Arial" pitchFamily="34" charset="0"/>
                <a:ea typeface="SimHei" panose="02010609060101010101" pitchFamily="49" charset="-122"/>
              </a:rPr>
              <a:t>Register $0</a:t>
            </a:r>
          </a:p>
          <a:p>
            <a:pPr marL="342900" indent="-342900">
              <a:buFont typeface="Wingdings" panose="05000000000000000000" pitchFamily="2" charset="2"/>
              <a:buChar char="ü"/>
            </a:pPr>
            <a:r>
              <a:rPr lang="zh-CN" altLang="en-US" sz="2000" b="0" dirty="0">
                <a:solidFill>
                  <a:srgbClr val="C00000"/>
                </a:solidFill>
                <a:latin typeface="Arial" pitchFamily="34" charset="0"/>
                <a:ea typeface="SimHei" panose="02010609060101010101" pitchFamily="49" charset="-122"/>
              </a:rPr>
              <a:t>目标寄存器号 </a:t>
            </a:r>
            <a:r>
              <a:rPr lang="en-US" altLang="zh-CN" sz="2000" b="0" dirty="0">
                <a:solidFill>
                  <a:srgbClr val="C00000"/>
                </a:solidFill>
                <a:latin typeface="Arial" pitchFamily="34" charset="0"/>
                <a:ea typeface="SimHei" panose="02010609060101010101" pitchFamily="49" charset="-122"/>
              </a:rPr>
              <a:t>== </a:t>
            </a:r>
            <a:r>
              <a:rPr lang="zh-CN" altLang="en-US" sz="2000" b="0" dirty="0">
                <a:solidFill>
                  <a:srgbClr val="C00000"/>
                </a:solidFill>
                <a:latin typeface="Arial" pitchFamily="34" charset="0"/>
                <a:ea typeface="SimHei" panose="02010609060101010101" pitchFamily="49" charset="-122"/>
              </a:rPr>
              <a:t>源寄存器号</a:t>
            </a:r>
          </a:p>
          <a:p>
            <a:pPr marL="342900" indent="-342900">
              <a:buFont typeface="Wingdings" panose="05000000000000000000" pitchFamily="2" charset="2"/>
              <a:buChar char="ü"/>
            </a:pPr>
            <a:r>
              <a:rPr lang="zh-CN" altLang="en-US" sz="2000" b="0" dirty="0">
                <a:solidFill>
                  <a:srgbClr val="C00000"/>
                </a:solidFill>
                <a:latin typeface="Arial" pitchFamily="34" charset="0"/>
                <a:ea typeface="SimHei" panose="02010609060101010101" pitchFamily="49" charset="-122"/>
              </a:rPr>
              <a:t>不从前一条指令</a:t>
            </a:r>
            <a:r>
              <a:rPr lang="en-US" altLang="zh-CN" sz="2000" b="0" dirty="0">
                <a:solidFill>
                  <a:srgbClr val="C00000"/>
                </a:solidFill>
                <a:latin typeface="Arial" pitchFamily="34" charset="0"/>
                <a:ea typeface="SimHei" panose="02010609060101010101" pitchFamily="49" charset="-122"/>
              </a:rPr>
              <a:t>EX/MEM</a:t>
            </a:r>
            <a:r>
              <a:rPr lang="zh-CN" altLang="en-US" sz="2000" b="0" dirty="0">
                <a:solidFill>
                  <a:srgbClr val="C00000"/>
                </a:solidFill>
                <a:latin typeface="Arial" pitchFamily="34" charset="0"/>
                <a:ea typeface="SimHei" panose="02010609060101010101" pitchFamily="49" charset="-122"/>
              </a:rPr>
              <a:t>转发</a:t>
            </a:r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7E9E39D8-0402-034B-A328-7EF24D99FBDE}"/>
              </a:ext>
            </a:extLst>
          </p:cNvPr>
          <p:cNvSpPr/>
          <p:nvPr/>
        </p:nvSpPr>
        <p:spPr>
          <a:xfrm>
            <a:off x="4571999" y="1972179"/>
            <a:ext cx="4431379" cy="70788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eaLnBrk="1" hangingPunct="1"/>
            <a:r>
              <a:rPr lang="en-US" altLang="zh-CN" sz="2000" dirty="0" err="1">
                <a:latin typeface="Arial" pitchFamily="34" charset="0"/>
                <a:ea typeface="SimHei" panose="02010609060101010101" pitchFamily="49" charset="-122"/>
              </a:rPr>
              <a:t>FowardA</a:t>
            </a:r>
            <a:r>
              <a:rPr lang="en-US" altLang="zh-CN" sz="2000" dirty="0">
                <a:latin typeface="Arial" pitchFamily="34" charset="0"/>
                <a:ea typeface="SimHei" panose="02010609060101010101" pitchFamily="49" charset="-122"/>
              </a:rPr>
              <a:t>/B = 01: </a:t>
            </a:r>
            <a:r>
              <a:rPr lang="zh-CN" altLang="en-US" sz="2000" dirty="0">
                <a:latin typeface="Arial" pitchFamily="34" charset="0"/>
                <a:ea typeface="SimHei" panose="02010609060101010101" pitchFamily="49" charset="-122"/>
              </a:rPr>
              <a:t>从</a:t>
            </a:r>
            <a:r>
              <a:rPr lang="en-US" altLang="zh-CN" sz="2000" dirty="0">
                <a:latin typeface="Arial" pitchFamily="34" charset="0"/>
                <a:ea typeface="SimHei" panose="02010609060101010101" pitchFamily="49" charset="-122"/>
              </a:rPr>
              <a:t>(MEM/WB pipeline registers)</a:t>
            </a:r>
            <a:r>
              <a:rPr lang="zh-CN" altLang="en-US" sz="2000" dirty="0">
                <a:latin typeface="Arial" pitchFamily="34" charset="0"/>
                <a:ea typeface="SimHei" panose="02010609060101010101" pitchFamily="49" charset="-122"/>
              </a:rPr>
              <a:t>前前条指令</a:t>
            </a:r>
            <a:r>
              <a:rPr lang="en-US" altLang="zh-CN" sz="2000" dirty="0">
                <a:latin typeface="Arial" pitchFamily="34" charset="0"/>
                <a:ea typeface="SimHei" panose="02010609060101010101" pitchFamily="49" charset="-122"/>
              </a:rPr>
              <a:t>forward</a:t>
            </a:r>
          </a:p>
        </p:txBody>
      </p:sp>
      <p:pic>
        <p:nvPicPr>
          <p:cNvPr id="5" name="图片 4">
            <a:extLst>
              <a:ext uri="{FF2B5EF4-FFF2-40B4-BE49-F238E27FC236}">
                <a16:creationId xmlns:a16="http://schemas.microsoft.com/office/drawing/2014/main" id="{C92AAFD8-32DA-42A3-9094-9F178E85190B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375111" y="4273539"/>
            <a:ext cx="4431379" cy="1971686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087512432"/>
      </p:ext>
    </p:extLst>
  </p:cSld>
  <p:clrMapOvr>
    <a:masterClrMapping/>
  </p:clrMapOvr>
</p:sld>
</file>

<file path=ppt/slides/slide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内容占位符 2">
            <a:extLst>
              <a:ext uri="{FF2B5EF4-FFF2-40B4-BE49-F238E27FC236}">
                <a16:creationId xmlns:a16="http://schemas.microsoft.com/office/drawing/2014/main" id="{32B4CC0A-D2DD-1F08-2C0B-9849EFCAC205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457200" y="1228725"/>
            <a:ext cx="8686800" cy="5492750"/>
          </a:xfrm>
        </p:spPr>
        <p:txBody>
          <a:bodyPr/>
          <a:lstStyle/>
          <a:p>
            <a:pPr marL="504825" indent="-504825" defTabSz="1009650">
              <a:buNone/>
            </a:pPr>
            <a:r>
              <a:rPr lang="zh-CN" altLang="en-US" sz="2400" dirty="0">
                <a:solidFill>
                  <a:srgbClr val="3333CC"/>
                </a:solidFill>
                <a:latin typeface="+mj-lt"/>
              </a:rPr>
              <a:t>问题：</a:t>
            </a:r>
            <a:r>
              <a:rPr lang="en-US" altLang="zh-CN" sz="2400" dirty="0">
                <a:solidFill>
                  <a:srgbClr val="3333CC"/>
                </a:solidFill>
                <a:latin typeface="+mj-lt"/>
              </a:rPr>
              <a:t>MEM/</a:t>
            </a:r>
            <a:r>
              <a:rPr lang="en-US" altLang="zh-CN" sz="2400" dirty="0" err="1">
                <a:solidFill>
                  <a:srgbClr val="3333CC"/>
                </a:solidFill>
                <a:latin typeface="+mj-lt"/>
              </a:rPr>
              <a:t>WB.ALUOut</a:t>
            </a:r>
            <a:r>
              <a:rPr lang="zh-CN" altLang="en-US" sz="2400" dirty="0">
                <a:solidFill>
                  <a:srgbClr val="3333CC"/>
                </a:solidFill>
                <a:latin typeface="+mj-lt"/>
              </a:rPr>
              <a:t>数据的转发是否成立？</a:t>
            </a:r>
          </a:p>
          <a:p>
            <a:pPr marL="504825" indent="-504825" defTabSz="1009650">
              <a:buNone/>
            </a:pPr>
            <a:endParaRPr lang="en-US" altLang="zh-CN" sz="2000" dirty="0">
              <a:solidFill>
                <a:srgbClr val="3333CC"/>
              </a:solidFill>
              <a:latin typeface="+mj-lt"/>
            </a:endParaRPr>
          </a:p>
          <a:p>
            <a:pPr marL="504825" indent="-504825" defTabSz="1009650">
              <a:buNone/>
            </a:pPr>
            <a:r>
              <a:rPr lang="en-US" altLang="zh-CN" sz="2000" dirty="0">
                <a:solidFill>
                  <a:srgbClr val="3333CC"/>
                </a:solidFill>
                <a:latin typeface="+mj-lt"/>
              </a:rPr>
              <a:t>2.  MEM/WB hazard:</a:t>
            </a:r>
          </a:p>
          <a:p>
            <a:pPr marL="504825" indent="-504825" defTabSz="1009650">
              <a:spcBef>
                <a:spcPct val="0"/>
              </a:spcBef>
              <a:buNone/>
            </a:pPr>
            <a:r>
              <a:rPr lang="en-US" altLang="zh-CN" sz="2000" dirty="0">
                <a:latin typeface="+mj-lt"/>
              </a:rPr>
              <a:t>if (MEM/</a:t>
            </a:r>
            <a:r>
              <a:rPr lang="en-US" altLang="zh-CN" sz="2000" dirty="0" err="1">
                <a:latin typeface="+mj-lt"/>
              </a:rPr>
              <a:t>WB.RegWrite</a:t>
            </a:r>
            <a:endParaRPr lang="en-US" altLang="zh-CN" sz="2000" dirty="0">
              <a:latin typeface="+mj-lt"/>
            </a:endParaRPr>
          </a:p>
          <a:p>
            <a:pPr marL="504825" indent="-504825" defTabSz="1009650">
              <a:spcBef>
                <a:spcPct val="0"/>
              </a:spcBef>
              <a:buNone/>
            </a:pPr>
            <a:r>
              <a:rPr lang="en-US" altLang="zh-CN" sz="2000" dirty="0">
                <a:latin typeface="+mj-lt"/>
              </a:rPr>
              <a:t>and (MEM/</a:t>
            </a:r>
            <a:r>
              <a:rPr lang="en-US" altLang="zh-CN" sz="2000" dirty="0" err="1">
                <a:latin typeface="+mj-lt"/>
              </a:rPr>
              <a:t>WB.RegWrAddr</a:t>
            </a:r>
            <a:r>
              <a:rPr lang="en-US" altLang="zh-CN" sz="2000" dirty="0">
                <a:latin typeface="+mj-lt"/>
              </a:rPr>
              <a:t> != 0)</a:t>
            </a:r>
            <a:endParaRPr lang="en-US" altLang="zh-CN" sz="2000" dirty="0">
              <a:solidFill>
                <a:srgbClr val="009900"/>
              </a:solidFill>
              <a:latin typeface="+mj-lt"/>
            </a:endParaRPr>
          </a:p>
          <a:p>
            <a:pPr marL="504825" indent="-504825" defTabSz="1009650">
              <a:spcBef>
                <a:spcPct val="0"/>
              </a:spcBef>
              <a:buNone/>
            </a:pPr>
            <a:r>
              <a:rPr lang="en-US" altLang="zh-CN" sz="2000" dirty="0">
                <a:latin typeface="+mj-lt"/>
              </a:rPr>
              <a:t>and (MEM/</a:t>
            </a:r>
            <a:r>
              <a:rPr lang="en-US" altLang="zh-CN" sz="2000" dirty="0" err="1">
                <a:latin typeface="+mj-lt"/>
              </a:rPr>
              <a:t>WB.RegWrAddr</a:t>
            </a:r>
            <a:r>
              <a:rPr lang="en-US" altLang="zh-CN" sz="2000" dirty="0">
                <a:latin typeface="+mj-lt"/>
              </a:rPr>
              <a:t> == ID/</a:t>
            </a:r>
            <a:r>
              <a:rPr lang="en-US" altLang="zh-CN" sz="2000" dirty="0" err="1">
                <a:latin typeface="+mj-lt"/>
              </a:rPr>
              <a:t>EX.RegisterRs</a:t>
            </a:r>
            <a:r>
              <a:rPr lang="en-US" altLang="zh-CN" sz="2000" dirty="0">
                <a:latin typeface="+mj-lt"/>
              </a:rPr>
              <a:t>)</a:t>
            </a:r>
          </a:p>
          <a:p>
            <a:pPr marL="504825" indent="-504825" defTabSz="1009650">
              <a:spcBef>
                <a:spcPct val="0"/>
              </a:spcBef>
              <a:buNone/>
            </a:pPr>
            <a:r>
              <a:rPr lang="en-US" altLang="zh-CN" sz="2000" dirty="0">
                <a:solidFill>
                  <a:srgbClr val="009900"/>
                </a:solidFill>
                <a:latin typeface="+mj-lt"/>
              </a:rPr>
              <a:t>and (EX/</a:t>
            </a:r>
            <a:r>
              <a:rPr lang="en-US" altLang="zh-CN" sz="2000" dirty="0" err="1">
                <a:solidFill>
                  <a:srgbClr val="009900"/>
                </a:solidFill>
                <a:latin typeface="+mj-lt"/>
              </a:rPr>
              <a:t>MEM.RegWrAddr</a:t>
            </a:r>
            <a:r>
              <a:rPr lang="en-US" altLang="zh-CN" sz="2000" dirty="0">
                <a:solidFill>
                  <a:srgbClr val="009900"/>
                </a:solidFill>
                <a:latin typeface="+mj-lt"/>
              </a:rPr>
              <a:t> != ID/</a:t>
            </a:r>
            <a:r>
              <a:rPr lang="en-US" altLang="zh-CN" sz="2000" dirty="0" err="1">
                <a:solidFill>
                  <a:srgbClr val="009900"/>
                </a:solidFill>
                <a:latin typeface="+mj-lt"/>
              </a:rPr>
              <a:t>EX.RegisterRs</a:t>
            </a:r>
            <a:r>
              <a:rPr lang="en-US" altLang="zh-CN" sz="2000" dirty="0">
                <a:solidFill>
                  <a:srgbClr val="009900"/>
                </a:solidFill>
                <a:latin typeface="+mj-lt"/>
              </a:rPr>
              <a:t> || ~ EX/</a:t>
            </a:r>
            <a:r>
              <a:rPr lang="en-US" altLang="zh-CN" sz="2000" dirty="0" err="1">
                <a:solidFill>
                  <a:srgbClr val="009900"/>
                </a:solidFill>
                <a:latin typeface="+mj-lt"/>
              </a:rPr>
              <a:t>MEM.RegWrite</a:t>
            </a:r>
            <a:r>
              <a:rPr lang="en-US" altLang="zh-CN" sz="2000" dirty="0">
                <a:solidFill>
                  <a:srgbClr val="009900"/>
                </a:solidFill>
                <a:latin typeface="+mj-lt"/>
              </a:rPr>
              <a:t>)</a:t>
            </a:r>
          </a:p>
          <a:p>
            <a:pPr marL="504825" indent="-504825" defTabSz="1009650">
              <a:spcBef>
                <a:spcPct val="0"/>
              </a:spcBef>
              <a:buNone/>
            </a:pPr>
            <a:r>
              <a:rPr lang="en-US" altLang="zh-CN" sz="2000" dirty="0">
                <a:latin typeface="+mj-lt"/>
              </a:rPr>
              <a:t>)</a:t>
            </a:r>
          </a:p>
          <a:p>
            <a:pPr marL="504825" indent="-504825" defTabSz="1009650">
              <a:spcBef>
                <a:spcPct val="0"/>
              </a:spcBef>
              <a:buNone/>
            </a:pPr>
            <a:r>
              <a:rPr lang="en-US" altLang="zh-CN" sz="2000" dirty="0">
                <a:latin typeface="+mj-lt"/>
              </a:rPr>
              <a:t>		</a:t>
            </a:r>
            <a:r>
              <a:rPr lang="en-US" altLang="zh-CN" sz="2000" dirty="0" err="1">
                <a:latin typeface="+mj-lt"/>
              </a:rPr>
              <a:t>ForwardA</a:t>
            </a:r>
            <a:r>
              <a:rPr lang="en-US" altLang="zh-CN" sz="2000" dirty="0">
                <a:latin typeface="+mj-lt"/>
              </a:rPr>
              <a:t> = 01</a:t>
            </a:r>
          </a:p>
          <a:p>
            <a:pPr marL="504825" indent="-504825" defTabSz="1009650">
              <a:spcBef>
                <a:spcPct val="0"/>
              </a:spcBef>
              <a:buNone/>
            </a:pPr>
            <a:endParaRPr lang="en-US" altLang="zh-CN" sz="700" dirty="0">
              <a:latin typeface="+mj-lt"/>
            </a:endParaRPr>
          </a:p>
          <a:p>
            <a:pPr marL="504825" indent="-504825" defTabSz="1009650">
              <a:spcBef>
                <a:spcPct val="0"/>
              </a:spcBef>
              <a:buNone/>
            </a:pPr>
            <a:r>
              <a:rPr lang="en-US" altLang="zh-CN" sz="2000" dirty="0">
                <a:latin typeface="+mj-lt"/>
              </a:rPr>
              <a:t>if (MEM/</a:t>
            </a:r>
            <a:r>
              <a:rPr lang="en-US" altLang="zh-CN" sz="2000" dirty="0" err="1">
                <a:latin typeface="+mj-lt"/>
              </a:rPr>
              <a:t>WB.RegWrite</a:t>
            </a:r>
            <a:endParaRPr lang="en-US" altLang="zh-CN" sz="2000" dirty="0">
              <a:latin typeface="+mj-lt"/>
            </a:endParaRPr>
          </a:p>
          <a:p>
            <a:pPr marL="504825" indent="-504825" defTabSz="1009650">
              <a:spcBef>
                <a:spcPct val="0"/>
              </a:spcBef>
              <a:buNone/>
            </a:pPr>
            <a:r>
              <a:rPr lang="en-US" altLang="zh-CN" sz="2000" dirty="0">
                <a:latin typeface="+mj-lt"/>
              </a:rPr>
              <a:t>and (MEM/</a:t>
            </a:r>
            <a:r>
              <a:rPr lang="en-US" altLang="zh-CN" sz="2000" dirty="0" err="1">
                <a:latin typeface="+mj-lt"/>
              </a:rPr>
              <a:t>WB.RegWrAddr</a:t>
            </a:r>
            <a:r>
              <a:rPr lang="en-US" altLang="zh-CN" sz="2000" dirty="0">
                <a:latin typeface="+mj-lt"/>
              </a:rPr>
              <a:t> != 0)</a:t>
            </a:r>
          </a:p>
          <a:p>
            <a:pPr marL="504825" indent="-504825" defTabSz="1009650">
              <a:spcBef>
                <a:spcPct val="0"/>
              </a:spcBef>
              <a:buNone/>
            </a:pPr>
            <a:r>
              <a:rPr lang="en-US" altLang="zh-CN" sz="2000" dirty="0">
                <a:latin typeface="+mj-lt"/>
              </a:rPr>
              <a:t>and (MEM/</a:t>
            </a:r>
            <a:r>
              <a:rPr lang="en-US" altLang="zh-CN" sz="2000" dirty="0" err="1">
                <a:latin typeface="+mj-lt"/>
              </a:rPr>
              <a:t>WB.RegWrAddr</a:t>
            </a:r>
            <a:r>
              <a:rPr lang="en-US" altLang="zh-CN" sz="2000" dirty="0">
                <a:latin typeface="+mj-lt"/>
              </a:rPr>
              <a:t> == ID/</a:t>
            </a:r>
            <a:r>
              <a:rPr lang="en-US" altLang="zh-CN" sz="2000" dirty="0" err="1">
                <a:latin typeface="+mj-lt"/>
              </a:rPr>
              <a:t>EX.RegisterRt</a:t>
            </a:r>
            <a:r>
              <a:rPr lang="en-US" altLang="zh-CN" sz="2000" dirty="0">
                <a:latin typeface="+mj-lt"/>
              </a:rPr>
              <a:t>)</a:t>
            </a:r>
          </a:p>
          <a:p>
            <a:pPr marL="504825" indent="-504825" defTabSz="1009650">
              <a:spcBef>
                <a:spcPct val="0"/>
              </a:spcBef>
              <a:buNone/>
            </a:pPr>
            <a:r>
              <a:rPr lang="en-US" altLang="zh-CN" sz="2000" dirty="0">
                <a:solidFill>
                  <a:srgbClr val="009900"/>
                </a:solidFill>
                <a:latin typeface="+mj-lt"/>
              </a:rPr>
              <a:t>and (EX/</a:t>
            </a:r>
            <a:r>
              <a:rPr lang="en-US" altLang="zh-CN" sz="2000" dirty="0" err="1">
                <a:solidFill>
                  <a:srgbClr val="009900"/>
                </a:solidFill>
                <a:latin typeface="+mj-lt"/>
              </a:rPr>
              <a:t>MEM.RegWrAddr</a:t>
            </a:r>
            <a:r>
              <a:rPr lang="en-US" altLang="zh-CN" sz="2000" dirty="0">
                <a:solidFill>
                  <a:srgbClr val="009900"/>
                </a:solidFill>
                <a:latin typeface="+mj-lt"/>
              </a:rPr>
              <a:t> != ID/</a:t>
            </a:r>
            <a:r>
              <a:rPr lang="en-US" altLang="zh-CN" sz="2000" dirty="0" err="1">
                <a:solidFill>
                  <a:srgbClr val="009900"/>
                </a:solidFill>
                <a:latin typeface="+mj-lt"/>
              </a:rPr>
              <a:t>EX.RegisterRt</a:t>
            </a:r>
            <a:r>
              <a:rPr lang="en-US" altLang="zh-CN" sz="2000" dirty="0">
                <a:solidFill>
                  <a:srgbClr val="009900"/>
                </a:solidFill>
                <a:latin typeface="+mj-lt"/>
              </a:rPr>
              <a:t> || ~ EX/</a:t>
            </a:r>
            <a:r>
              <a:rPr lang="en-US" altLang="zh-CN" sz="2000" dirty="0" err="1">
                <a:solidFill>
                  <a:srgbClr val="009900"/>
                </a:solidFill>
                <a:latin typeface="+mj-lt"/>
              </a:rPr>
              <a:t>MEM.RegWrite</a:t>
            </a:r>
            <a:r>
              <a:rPr lang="en-US" altLang="zh-CN" sz="2000" dirty="0">
                <a:solidFill>
                  <a:srgbClr val="009900"/>
                </a:solidFill>
                <a:latin typeface="+mj-lt"/>
              </a:rPr>
              <a:t>)</a:t>
            </a:r>
          </a:p>
          <a:p>
            <a:pPr marL="504825" indent="-504825" defTabSz="1009650">
              <a:spcBef>
                <a:spcPct val="0"/>
              </a:spcBef>
              <a:buNone/>
            </a:pPr>
            <a:r>
              <a:rPr lang="en-US" altLang="zh-CN" sz="2000" dirty="0">
                <a:latin typeface="+mj-lt"/>
              </a:rPr>
              <a:t>)</a:t>
            </a:r>
          </a:p>
          <a:p>
            <a:pPr marL="504825" indent="-504825" defTabSz="1009650">
              <a:spcBef>
                <a:spcPct val="0"/>
              </a:spcBef>
              <a:buNone/>
            </a:pPr>
            <a:r>
              <a:rPr lang="en-US" altLang="zh-CN" sz="2000" dirty="0">
                <a:latin typeface="+mj-lt"/>
              </a:rPr>
              <a:t>		</a:t>
            </a:r>
            <a:r>
              <a:rPr lang="en-US" altLang="zh-CN" sz="2000" dirty="0" err="1">
                <a:latin typeface="+mj-lt"/>
              </a:rPr>
              <a:t>ForwardB</a:t>
            </a:r>
            <a:r>
              <a:rPr lang="en-US" altLang="zh-CN" sz="2000" dirty="0">
                <a:latin typeface="+mj-lt"/>
              </a:rPr>
              <a:t> = 01</a:t>
            </a:r>
          </a:p>
          <a:p>
            <a:pPr marL="504825" indent="-504825" defTabSz="1009650">
              <a:spcBef>
                <a:spcPct val="0"/>
              </a:spcBef>
              <a:buNone/>
            </a:pPr>
            <a:endParaRPr lang="en-US" altLang="zh-CN" sz="700" dirty="0">
              <a:latin typeface="+mj-lt"/>
            </a:endParaRPr>
          </a:p>
        </p:txBody>
      </p:sp>
      <p:sp>
        <p:nvSpPr>
          <p:cNvPr id="2" name="标题 1">
            <a:extLst>
              <a:ext uri="{FF2B5EF4-FFF2-40B4-BE49-F238E27FC236}">
                <a16:creationId xmlns:a16="http://schemas.microsoft.com/office/drawing/2014/main" id="{66246F00-C2A0-4454-A3DF-620A0889D09D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dirty="0"/>
              <a:t>数据转发检测和控制</a:t>
            </a:r>
            <a:r>
              <a:rPr lang="en-US" altLang="zh-CN" dirty="0"/>
              <a:t>-3</a:t>
            </a:r>
            <a:endParaRPr lang="zh-CN" altLang="en-US" dirty="0"/>
          </a:p>
        </p:txBody>
      </p:sp>
      <p:sp>
        <p:nvSpPr>
          <p:cNvPr id="4" name="灯片编号占位符 3">
            <a:extLst>
              <a:ext uri="{FF2B5EF4-FFF2-40B4-BE49-F238E27FC236}">
                <a16:creationId xmlns:a16="http://schemas.microsoft.com/office/drawing/2014/main" id="{08F22251-0817-4067-9A09-D64D9A0D3E6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1806CE5-282B-4233-8654-09F35EA875E2}" type="slidenum">
              <a:rPr lang="zh-CN" altLang="en-US" smtClean="0"/>
              <a:t>96</a:t>
            </a:fld>
            <a:endParaRPr lang="zh-CN" altLang="en-US"/>
          </a:p>
        </p:txBody>
      </p:sp>
      <p:sp>
        <p:nvSpPr>
          <p:cNvPr id="12" name="Rectangle 6">
            <a:extLst>
              <a:ext uri="{FF2B5EF4-FFF2-40B4-BE49-F238E27FC236}">
                <a16:creationId xmlns:a16="http://schemas.microsoft.com/office/drawing/2014/main" id="{A5D72BB2-3879-5297-02BC-F563D00A448B}"/>
              </a:ext>
            </a:extLst>
          </p:cNvPr>
          <p:cNvSpPr/>
          <p:nvPr/>
        </p:nvSpPr>
        <p:spPr>
          <a:xfrm>
            <a:off x="4571999" y="1972179"/>
            <a:ext cx="4431379" cy="70788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eaLnBrk="1" hangingPunct="1"/>
            <a:r>
              <a:rPr lang="en-US" altLang="zh-CN" sz="2000" dirty="0" err="1">
                <a:latin typeface="Arial" pitchFamily="34" charset="0"/>
                <a:ea typeface="SimHei" panose="02010609060101010101" pitchFamily="49" charset="-122"/>
              </a:rPr>
              <a:t>FowardA</a:t>
            </a:r>
            <a:r>
              <a:rPr lang="en-US" altLang="zh-CN" sz="2000" dirty="0">
                <a:latin typeface="Arial" pitchFamily="34" charset="0"/>
                <a:ea typeface="SimHei" panose="02010609060101010101" pitchFamily="49" charset="-122"/>
              </a:rPr>
              <a:t>/B = 01: </a:t>
            </a:r>
            <a:r>
              <a:rPr lang="zh-CN" altLang="en-US" sz="2000" dirty="0">
                <a:latin typeface="Arial" pitchFamily="34" charset="0"/>
                <a:ea typeface="SimHei" panose="02010609060101010101" pitchFamily="49" charset="-122"/>
              </a:rPr>
              <a:t>从</a:t>
            </a:r>
            <a:r>
              <a:rPr lang="en-US" altLang="zh-CN" sz="2000" dirty="0">
                <a:latin typeface="Arial" pitchFamily="34" charset="0"/>
                <a:ea typeface="SimHei" panose="02010609060101010101" pitchFamily="49" charset="-122"/>
              </a:rPr>
              <a:t>(MEM/WB pipeline registers)</a:t>
            </a:r>
            <a:r>
              <a:rPr lang="zh-CN" altLang="en-US" sz="2000" dirty="0">
                <a:latin typeface="Arial" pitchFamily="34" charset="0"/>
                <a:ea typeface="SimHei" panose="02010609060101010101" pitchFamily="49" charset="-122"/>
              </a:rPr>
              <a:t>前前条指令</a:t>
            </a:r>
            <a:r>
              <a:rPr lang="en-US" altLang="zh-CN" sz="2000" dirty="0">
                <a:latin typeface="Arial" pitchFamily="34" charset="0"/>
                <a:ea typeface="SimHei" panose="02010609060101010101" pitchFamily="49" charset="-122"/>
              </a:rPr>
              <a:t>forward</a:t>
            </a:r>
          </a:p>
        </p:txBody>
      </p:sp>
    </p:spTree>
    <p:extLst>
      <p:ext uri="{BB962C8B-B14F-4D97-AF65-F5344CB8AC3E}">
        <p14:creationId xmlns:p14="http://schemas.microsoft.com/office/powerpoint/2010/main" val="1558837411"/>
      </p:ext>
    </p:extLst>
  </p:cSld>
  <p:clrMapOvr>
    <a:masterClrMapping/>
  </p:clrMapOvr>
</p:sld>
</file>

<file path=ppt/slides/slide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>
            <a:extLst>
              <a:ext uri="{FF2B5EF4-FFF2-40B4-BE49-F238E27FC236}">
                <a16:creationId xmlns:a16="http://schemas.microsoft.com/office/drawing/2014/main" id="{DD90B6EF-923D-4135-B334-D7C52BA1B4C4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dirty="0"/>
              <a:t>包含转发的流水线通路</a:t>
            </a:r>
          </a:p>
        </p:txBody>
      </p:sp>
      <p:sp>
        <p:nvSpPr>
          <p:cNvPr id="4" name="灯片编号占位符 3">
            <a:extLst>
              <a:ext uri="{FF2B5EF4-FFF2-40B4-BE49-F238E27FC236}">
                <a16:creationId xmlns:a16="http://schemas.microsoft.com/office/drawing/2014/main" id="{176B08E7-C6AF-43AD-AE8E-9FF3ADDB264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1806CE5-282B-4233-8654-09F35EA875E2}" type="slidenum">
              <a:rPr lang="zh-CN" altLang="en-US" smtClean="0"/>
              <a:t>97</a:t>
            </a:fld>
            <a:endParaRPr lang="zh-CN" altLang="en-US"/>
          </a:p>
        </p:txBody>
      </p:sp>
      <p:sp>
        <p:nvSpPr>
          <p:cNvPr id="657" name="文本框 656">
            <a:extLst>
              <a:ext uri="{FF2B5EF4-FFF2-40B4-BE49-F238E27FC236}">
                <a16:creationId xmlns:a16="http://schemas.microsoft.com/office/drawing/2014/main" id="{34E5839E-568A-435C-8B03-E559EF77CE5E}"/>
              </a:ext>
            </a:extLst>
          </p:cNvPr>
          <p:cNvSpPr txBox="1"/>
          <p:nvPr/>
        </p:nvSpPr>
        <p:spPr>
          <a:xfrm>
            <a:off x="121534" y="6189704"/>
            <a:ext cx="8565266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zh-CN" dirty="0">
                <a:solidFill>
                  <a:srgbClr val="C00000"/>
                </a:solidFill>
                <a:ea typeface="SimHei" panose="02010609060101010101" pitchFamily="49" charset="-122"/>
              </a:rPr>
              <a:t>Forwarding</a:t>
            </a:r>
            <a:r>
              <a:rPr lang="zh-CN" altLang="en-US" dirty="0">
                <a:solidFill>
                  <a:srgbClr val="C00000"/>
                </a:solidFill>
                <a:ea typeface="SimHei" panose="02010609060101010101" pitchFamily="49" charset="-122"/>
              </a:rPr>
              <a:t>控制通路：</a:t>
            </a:r>
            <a:endParaRPr lang="en-US" altLang="zh-CN" dirty="0">
              <a:solidFill>
                <a:srgbClr val="C00000"/>
              </a:solidFill>
              <a:ea typeface="SimHei" panose="02010609060101010101" pitchFamily="49" charset="-122"/>
            </a:endParaRPr>
          </a:p>
          <a:p>
            <a:r>
              <a:rPr lang="zh-CN" altLang="en-US" dirty="0">
                <a:solidFill>
                  <a:srgbClr val="C00000"/>
                </a:solidFill>
                <a:ea typeface="SimHei" panose="02010609060101010101" pitchFamily="49" charset="-122"/>
              </a:rPr>
              <a:t>输入：</a:t>
            </a:r>
            <a:r>
              <a:rPr lang="en-US" altLang="zh-CN" dirty="0">
                <a:solidFill>
                  <a:srgbClr val="C00000"/>
                </a:solidFill>
                <a:ea typeface="SimHei" panose="02010609060101010101" pitchFamily="49" charset="-122"/>
              </a:rPr>
              <a:t>ID/</a:t>
            </a:r>
            <a:r>
              <a:rPr lang="en-US" altLang="zh-CN" dirty="0" err="1">
                <a:solidFill>
                  <a:srgbClr val="C00000"/>
                </a:solidFill>
                <a:ea typeface="SimHei" panose="02010609060101010101" pitchFamily="49" charset="-122"/>
              </a:rPr>
              <a:t>EX.Rt</a:t>
            </a:r>
            <a:r>
              <a:rPr lang="en-US" altLang="zh-CN" dirty="0">
                <a:solidFill>
                  <a:srgbClr val="C00000"/>
                </a:solidFill>
                <a:ea typeface="SimHei" panose="02010609060101010101" pitchFamily="49" charset="-122"/>
              </a:rPr>
              <a:t>, ID/EX.Rs, EX/</a:t>
            </a:r>
            <a:r>
              <a:rPr lang="en-US" altLang="zh-CN" dirty="0" err="1">
                <a:solidFill>
                  <a:srgbClr val="C00000"/>
                </a:solidFill>
                <a:ea typeface="SimHei" panose="02010609060101010101" pitchFamily="49" charset="-122"/>
              </a:rPr>
              <a:t>MEM.RegWrAddr</a:t>
            </a:r>
            <a:r>
              <a:rPr lang="en-US" altLang="zh-CN" dirty="0">
                <a:solidFill>
                  <a:srgbClr val="C00000"/>
                </a:solidFill>
                <a:ea typeface="SimHei" panose="02010609060101010101" pitchFamily="49" charset="-122"/>
              </a:rPr>
              <a:t>, MEM/</a:t>
            </a:r>
            <a:r>
              <a:rPr lang="en-US" altLang="zh-CN" dirty="0" err="1">
                <a:solidFill>
                  <a:srgbClr val="C00000"/>
                </a:solidFill>
                <a:ea typeface="SimHei" panose="02010609060101010101" pitchFamily="49" charset="-122"/>
              </a:rPr>
              <a:t>WB.RegWrAddr</a:t>
            </a:r>
            <a:endParaRPr lang="zh-CN" altLang="en-US" dirty="0">
              <a:solidFill>
                <a:srgbClr val="C00000"/>
              </a:solidFill>
              <a:ea typeface="SimHei" panose="02010609060101010101" pitchFamily="49" charset="-122"/>
            </a:endParaRPr>
          </a:p>
        </p:txBody>
      </p:sp>
      <p:sp>
        <p:nvSpPr>
          <p:cNvPr id="658" name="文本框 657">
            <a:extLst>
              <a:ext uri="{FF2B5EF4-FFF2-40B4-BE49-F238E27FC236}">
                <a16:creationId xmlns:a16="http://schemas.microsoft.com/office/drawing/2014/main" id="{28C334D9-3EA7-476A-847D-DA60C4344AA7}"/>
              </a:ext>
            </a:extLst>
          </p:cNvPr>
          <p:cNvSpPr txBox="1"/>
          <p:nvPr/>
        </p:nvSpPr>
        <p:spPr>
          <a:xfrm>
            <a:off x="121534" y="5697936"/>
            <a:ext cx="2469267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zh-CN" dirty="0">
                <a:solidFill>
                  <a:srgbClr val="00B0F0"/>
                </a:solidFill>
                <a:ea typeface="SimHei" panose="02010609060101010101" pitchFamily="49" charset="-122"/>
              </a:rPr>
              <a:t>Forwarding</a:t>
            </a:r>
            <a:r>
              <a:rPr lang="zh-CN" altLang="en-US" dirty="0">
                <a:solidFill>
                  <a:srgbClr val="00B0F0"/>
                </a:solidFill>
                <a:ea typeface="SimHei" panose="02010609060101010101" pitchFamily="49" charset="-122"/>
              </a:rPr>
              <a:t>数据通路</a:t>
            </a:r>
          </a:p>
        </p:txBody>
      </p:sp>
      <p:sp>
        <p:nvSpPr>
          <p:cNvPr id="804" name="Line 8">
            <a:extLst>
              <a:ext uri="{FF2B5EF4-FFF2-40B4-BE49-F238E27FC236}">
                <a16:creationId xmlns:a16="http://schemas.microsoft.com/office/drawing/2014/main" id="{5253F997-7B26-C6FE-677C-135EC56A3D6A}"/>
              </a:ext>
            </a:extLst>
          </p:cNvPr>
          <p:cNvSpPr>
            <a:spLocks noChangeShapeType="1"/>
          </p:cNvSpPr>
          <p:nvPr/>
        </p:nvSpPr>
        <p:spPr bwMode="auto">
          <a:xfrm>
            <a:off x="2554865" y="5051122"/>
            <a:ext cx="1628334" cy="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805" name="Line 9">
            <a:extLst>
              <a:ext uri="{FF2B5EF4-FFF2-40B4-BE49-F238E27FC236}">
                <a16:creationId xmlns:a16="http://schemas.microsoft.com/office/drawing/2014/main" id="{34F3D858-8439-9CC9-A23F-A28078968B2A}"/>
              </a:ext>
            </a:extLst>
          </p:cNvPr>
          <p:cNvSpPr>
            <a:spLocks noChangeShapeType="1"/>
          </p:cNvSpPr>
          <p:nvPr/>
        </p:nvSpPr>
        <p:spPr bwMode="auto">
          <a:xfrm>
            <a:off x="4324793" y="5051122"/>
            <a:ext cx="1598492" cy="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806" name="Line 10">
            <a:extLst>
              <a:ext uri="{FF2B5EF4-FFF2-40B4-BE49-F238E27FC236}">
                <a16:creationId xmlns:a16="http://schemas.microsoft.com/office/drawing/2014/main" id="{50E21C17-F704-2728-A412-70CA0ED310D2}"/>
              </a:ext>
            </a:extLst>
          </p:cNvPr>
          <p:cNvSpPr>
            <a:spLocks noChangeShapeType="1"/>
          </p:cNvSpPr>
          <p:nvPr/>
        </p:nvSpPr>
        <p:spPr bwMode="auto">
          <a:xfrm>
            <a:off x="6503599" y="5051122"/>
            <a:ext cx="1557537" cy="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807" name="Line 11">
            <a:extLst>
              <a:ext uri="{FF2B5EF4-FFF2-40B4-BE49-F238E27FC236}">
                <a16:creationId xmlns:a16="http://schemas.microsoft.com/office/drawing/2014/main" id="{19C0272C-F43B-30BC-EA74-5AD12199A577}"/>
              </a:ext>
            </a:extLst>
          </p:cNvPr>
          <p:cNvSpPr>
            <a:spLocks noChangeShapeType="1"/>
          </p:cNvSpPr>
          <p:nvPr/>
        </p:nvSpPr>
        <p:spPr bwMode="auto">
          <a:xfrm>
            <a:off x="2554865" y="4792309"/>
            <a:ext cx="0" cy="258812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808" name="Line 12">
            <a:extLst>
              <a:ext uri="{FF2B5EF4-FFF2-40B4-BE49-F238E27FC236}">
                <a16:creationId xmlns:a16="http://schemas.microsoft.com/office/drawing/2014/main" id="{53128A03-2E89-D72A-EAE8-019925BD6DD9}"/>
              </a:ext>
            </a:extLst>
          </p:cNvPr>
          <p:cNvSpPr>
            <a:spLocks noChangeShapeType="1"/>
          </p:cNvSpPr>
          <p:nvPr/>
        </p:nvSpPr>
        <p:spPr bwMode="auto">
          <a:xfrm>
            <a:off x="2484068" y="5709987"/>
            <a:ext cx="5860257" cy="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809" name="Line 13">
            <a:extLst>
              <a:ext uri="{FF2B5EF4-FFF2-40B4-BE49-F238E27FC236}">
                <a16:creationId xmlns:a16="http://schemas.microsoft.com/office/drawing/2014/main" id="{4CF7F438-87B3-392D-5A86-6539250D2BDF}"/>
              </a:ext>
            </a:extLst>
          </p:cNvPr>
          <p:cNvSpPr>
            <a:spLocks noChangeShapeType="1"/>
          </p:cNvSpPr>
          <p:nvPr/>
        </p:nvSpPr>
        <p:spPr bwMode="auto">
          <a:xfrm>
            <a:off x="8202731" y="5051122"/>
            <a:ext cx="141594" cy="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810" name="Line 14">
            <a:extLst>
              <a:ext uri="{FF2B5EF4-FFF2-40B4-BE49-F238E27FC236}">
                <a16:creationId xmlns:a16="http://schemas.microsoft.com/office/drawing/2014/main" id="{06162ABB-ACE3-D503-53FB-FD7F16F097F8}"/>
              </a:ext>
            </a:extLst>
          </p:cNvPr>
          <p:cNvSpPr>
            <a:spLocks noChangeShapeType="1"/>
          </p:cNvSpPr>
          <p:nvPr/>
        </p:nvSpPr>
        <p:spPr bwMode="auto">
          <a:xfrm>
            <a:off x="8344324" y="5051122"/>
            <a:ext cx="0" cy="658865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811" name="Line 15">
            <a:extLst>
              <a:ext uri="{FF2B5EF4-FFF2-40B4-BE49-F238E27FC236}">
                <a16:creationId xmlns:a16="http://schemas.microsoft.com/office/drawing/2014/main" id="{77559D0A-E18D-AB40-E772-9EFA116213F1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484068" y="3938359"/>
            <a:ext cx="0" cy="177162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812" name="Line 16">
            <a:extLst>
              <a:ext uri="{FF2B5EF4-FFF2-40B4-BE49-F238E27FC236}">
                <a16:creationId xmlns:a16="http://schemas.microsoft.com/office/drawing/2014/main" id="{1B1B2CCC-DB80-0AA4-C92E-D77E3AF33591}"/>
              </a:ext>
            </a:extLst>
          </p:cNvPr>
          <p:cNvSpPr>
            <a:spLocks noChangeShapeType="1"/>
          </p:cNvSpPr>
          <p:nvPr/>
        </p:nvSpPr>
        <p:spPr bwMode="auto">
          <a:xfrm>
            <a:off x="2484068" y="3943450"/>
            <a:ext cx="353986" cy="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grpSp>
        <p:nvGrpSpPr>
          <p:cNvPr id="813" name="Group 17">
            <a:extLst>
              <a:ext uri="{FF2B5EF4-FFF2-40B4-BE49-F238E27FC236}">
                <a16:creationId xmlns:a16="http://schemas.microsoft.com/office/drawing/2014/main" id="{B4FE1902-1FEC-0F16-C99C-A969503AE25E}"/>
              </a:ext>
            </a:extLst>
          </p:cNvPr>
          <p:cNvGrpSpPr>
            <a:grpSpLocks/>
          </p:cNvGrpSpPr>
          <p:nvPr/>
        </p:nvGrpSpPr>
        <p:grpSpPr bwMode="auto">
          <a:xfrm>
            <a:off x="1563705" y="2268886"/>
            <a:ext cx="353986" cy="776438"/>
            <a:chOff x="1392" y="2880"/>
            <a:chExt cx="288" cy="480"/>
          </a:xfrm>
        </p:grpSpPr>
        <p:sp>
          <p:nvSpPr>
            <p:cNvPr id="814" name="Line 18">
              <a:extLst>
                <a:ext uri="{FF2B5EF4-FFF2-40B4-BE49-F238E27FC236}">
                  <a16:creationId xmlns:a16="http://schemas.microsoft.com/office/drawing/2014/main" id="{D71D933B-192D-6281-5B92-A8562FDE3EB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92" y="3072"/>
              <a:ext cx="48" cy="48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815" name="Line 19">
              <a:extLst>
                <a:ext uri="{FF2B5EF4-FFF2-40B4-BE49-F238E27FC236}">
                  <a16:creationId xmlns:a16="http://schemas.microsoft.com/office/drawing/2014/main" id="{0F29EBCA-717D-CF53-EE5C-8F524D67D72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392" y="3120"/>
              <a:ext cx="48" cy="48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816" name="Line 20">
              <a:extLst>
                <a:ext uri="{FF2B5EF4-FFF2-40B4-BE49-F238E27FC236}">
                  <a16:creationId xmlns:a16="http://schemas.microsoft.com/office/drawing/2014/main" id="{49949A4E-786A-FAA4-5515-0122E557C2E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392" y="2880"/>
              <a:ext cx="0" cy="19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817" name="Line 21">
              <a:extLst>
                <a:ext uri="{FF2B5EF4-FFF2-40B4-BE49-F238E27FC236}">
                  <a16:creationId xmlns:a16="http://schemas.microsoft.com/office/drawing/2014/main" id="{9B5EC2AB-5444-ECA6-7BE4-6A7C8ABA5B3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392" y="3168"/>
              <a:ext cx="0" cy="19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818" name="Line 22">
              <a:extLst>
                <a:ext uri="{FF2B5EF4-FFF2-40B4-BE49-F238E27FC236}">
                  <a16:creationId xmlns:a16="http://schemas.microsoft.com/office/drawing/2014/main" id="{32F34FC1-E0AD-C55B-C9F6-68B109BBEE4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392" y="3216"/>
              <a:ext cx="288" cy="144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819" name="Line 23">
              <a:extLst>
                <a:ext uri="{FF2B5EF4-FFF2-40B4-BE49-F238E27FC236}">
                  <a16:creationId xmlns:a16="http://schemas.microsoft.com/office/drawing/2014/main" id="{F5494ECE-8C93-7A36-8B60-73D81A8332C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680" y="3024"/>
              <a:ext cx="0" cy="19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820" name="Line 24">
              <a:extLst>
                <a:ext uri="{FF2B5EF4-FFF2-40B4-BE49-F238E27FC236}">
                  <a16:creationId xmlns:a16="http://schemas.microsoft.com/office/drawing/2014/main" id="{C7F38311-81CD-4258-A2A5-B6F74B82897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92" y="2880"/>
              <a:ext cx="288" cy="144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</p:grpSp>
      <p:sp>
        <p:nvSpPr>
          <p:cNvPr id="821" name="Rectangle 25">
            <a:extLst>
              <a:ext uri="{FF2B5EF4-FFF2-40B4-BE49-F238E27FC236}">
                <a16:creationId xmlns:a16="http://schemas.microsoft.com/office/drawing/2014/main" id="{E7550B0F-08B3-566C-DF25-2EDF60729BEF}"/>
              </a:ext>
            </a:extLst>
          </p:cNvPr>
          <p:cNvSpPr>
            <a:spLocks noChangeArrowheads="1"/>
          </p:cNvSpPr>
          <p:nvPr/>
        </p:nvSpPr>
        <p:spPr bwMode="auto">
          <a:xfrm>
            <a:off x="926530" y="3110028"/>
            <a:ext cx="1203552" cy="1229360"/>
          </a:xfrm>
          <a:prstGeom prst="rect">
            <a:avLst/>
          </a:prstGeom>
          <a:noFill/>
          <a:ln w="19050">
            <a:solidFill>
              <a:schemeClr val="tx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822" name="Rectangle 26">
            <a:extLst>
              <a:ext uri="{FF2B5EF4-FFF2-40B4-BE49-F238E27FC236}">
                <a16:creationId xmlns:a16="http://schemas.microsoft.com/office/drawing/2014/main" id="{39E5CDD3-6228-2620-BDD2-FEC71F47A098}"/>
              </a:ext>
            </a:extLst>
          </p:cNvPr>
          <p:cNvSpPr>
            <a:spLocks noChangeArrowheads="1"/>
          </p:cNvSpPr>
          <p:nvPr/>
        </p:nvSpPr>
        <p:spPr bwMode="auto">
          <a:xfrm>
            <a:off x="501748" y="3433543"/>
            <a:ext cx="141594" cy="711735"/>
          </a:xfrm>
          <a:prstGeom prst="rect">
            <a:avLst/>
          </a:prstGeom>
          <a:noFill/>
          <a:ln w="19050">
            <a:solidFill>
              <a:schemeClr val="tx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823" name="Line 27">
            <a:extLst>
              <a:ext uri="{FF2B5EF4-FFF2-40B4-BE49-F238E27FC236}">
                <a16:creationId xmlns:a16="http://schemas.microsoft.com/office/drawing/2014/main" id="{3A71C82F-BFFC-EF71-F114-C59F212A9352}"/>
              </a:ext>
            </a:extLst>
          </p:cNvPr>
          <p:cNvSpPr>
            <a:spLocks noChangeShapeType="1"/>
          </p:cNvSpPr>
          <p:nvPr/>
        </p:nvSpPr>
        <p:spPr bwMode="auto">
          <a:xfrm>
            <a:off x="643342" y="3757059"/>
            <a:ext cx="283189" cy="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824" name="Line 28">
            <a:extLst>
              <a:ext uri="{FF2B5EF4-FFF2-40B4-BE49-F238E27FC236}">
                <a16:creationId xmlns:a16="http://schemas.microsoft.com/office/drawing/2014/main" id="{E5C04A94-33AE-CE8A-113C-F0981D74ECF2}"/>
              </a:ext>
            </a:extLst>
          </p:cNvPr>
          <p:cNvSpPr>
            <a:spLocks noChangeShapeType="1"/>
          </p:cNvSpPr>
          <p:nvPr/>
        </p:nvSpPr>
        <p:spPr bwMode="auto">
          <a:xfrm>
            <a:off x="714139" y="2398293"/>
            <a:ext cx="849565" cy="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825" name="Line 29">
            <a:extLst>
              <a:ext uri="{FF2B5EF4-FFF2-40B4-BE49-F238E27FC236}">
                <a16:creationId xmlns:a16="http://schemas.microsoft.com/office/drawing/2014/main" id="{DE00584B-1ADC-5982-69B7-471563F88209}"/>
              </a:ext>
            </a:extLst>
          </p:cNvPr>
          <p:cNvSpPr>
            <a:spLocks noChangeShapeType="1"/>
          </p:cNvSpPr>
          <p:nvPr/>
        </p:nvSpPr>
        <p:spPr bwMode="auto">
          <a:xfrm>
            <a:off x="1209719" y="2915918"/>
            <a:ext cx="353986" cy="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826" name="Text Box 30">
            <a:extLst>
              <a:ext uri="{FF2B5EF4-FFF2-40B4-BE49-F238E27FC236}">
                <a16:creationId xmlns:a16="http://schemas.microsoft.com/office/drawing/2014/main" id="{F22A7535-21E8-93CF-C819-38103865571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55733" y="3562950"/>
            <a:ext cx="747290" cy="46165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1425" tIns="45713" rIns="91425" bIns="45713">
            <a:spAutoFit/>
          </a:bodyPr>
          <a:lstStyle>
            <a:lvl1pPr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1pPr>
            <a:lvl2pPr marL="742950" indent="-28575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2pPr>
            <a:lvl3pPr marL="11430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3pPr>
            <a:lvl4pPr marL="16002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4pPr>
            <a:lvl5pPr marL="20574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9pPr>
          </a:lstStyle>
          <a:p>
            <a:r>
              <a:rPr lang="en-US" altLang="zh-CN" sz="1200" b="0" dirty="0">
                <a:latin typeface="Arial" pitchFamily="34" charset="0"/>
                <a:ea typeface="SimHei" panose="02010609060101010101" pitchFamily="49" charset="-122"/>
              </a:rPr>
              <a:t>Read</a:t>
            </a:r>
          </a:p>
          <a:p>
            <a:r>
              <a:rPr lang="en-US" altLang="zh-CN" sz="1200" b="0" dirty="0">
                <a:latin typeface="Arial" pitchFamily="34" charset="0"/>
                <a:ea typeface="SimHei" panose="02010609060101010101" pitchFamily="49" charset="-122"/>
              </a:rPr>
              <a:t>Address</a:t>
            </a:r>
          </a:p>
        </p:txBody>
      </p:sp>
      <p:sp>
        <p:nvSpPr>
          <p:cNvPr id="827" name="Text Box 31">
            <a:extLst>
              <a:ext uri="{FF2B5EF4-FFF2-40B4-BE49-F238E27FC236}">
                <a16:creationId xmlns:a16="http://schemas.microsoft.com/office/drawing/2014/main" id="{DBE28F4C-B7CF-9CDC-7397-40427504BBB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108760" y="3121247"/>
            <a:ext cx="1010183" cy="52320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1425" tIns="45713" rIns="91425" bIns="45713">
            <a:spAutoFit/>
          </a:bodyPr>
          <a:lstStyle>
            <a:lvl1pPr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1pPr>
            <a:lvl2pPr marL="742950" indent="-28575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2pPr>
            <a:lvl3pPr marL="11430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3pPr>
            <a:lvl4pPr marL="16002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4pPr>
            <a:lvl5pPr marL="20574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9pPr>
          </a:lstStyle>
          <a:p>
            <a:pPr algn="ctr"/>
            <a:r>
              <a:rPr lang="en-US" altLang="zh-CN" sz="1400" b="0" dirty="0">
                <a:latin typeface="Arial" pitchFamily="34" charset="0"/>
                <a:ea typeface="SimHei" panose="02010609060101010101" pitchFamily="49" charset="-122"/>
              </a:rPr>
              <a:t>Instruction</a:t>
            </a:r>
          </a:p>
          <a:p>
            <a:pPr algn="ctr"/>
            <a:r>
              <a:rPr lang="en-US" altLang="zh-CN" sz="1400" b="0" dirty="0">
                <a:latin typeface="Arial" pitchFamily="34" charset="0"/>
                <a:ea typeface="SimHei" panose="02010609060101010101" pitchFamily="49" charset="-122"/>
              </a:rPr>
              <a:t>Memory</a:t>
            </a:r>
          </a:p>
        </p:txBody>
      </p:sp>
      <p:sp>
        <p:nvSpPr>
          <p:cNvPr id="828" name="Text Box 32">
            <a:extLst>
              <a:ext uri="{FF2B5EF4-FFF2-40B4-BE49-F238E27FC236}">
                <a16:creationId xmlns:a16="http://schemas.microsoft.com/office/drawing/2014/main" id="{10C35A2C-6E11-9855-2745-ACA59F3E22E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40106" y="2527564"/>
            <a:ext cx="457146" cy="27698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1425" tIns="45713" rIns="91425" bIns="45713">
            <a:spAutoFit/>
          </a:bodyPr>
          <a:lstStyle>
            <a:lvl1pPr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1pPr>
            <a:lvl2pPr marL="742950" indent="-28575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2pPr>
            <a:lvl3pPr marL="11430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3pPr>
            <a:lvl4pPr marL="16002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4pPr>
            <a:lvl5pPr marL="20574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9pPr>
          </a:lstStyle>
          <a:p>
            <a:r>
              <a:rPr lang="en-US" altLang="zh-CN" sz="1200" b="0" dirty="0">
                <a:latin typeface="Arial" pitchFamily="34" charset="0"/>
                <a:ea typeface="SimHei" panose="02010609060101010101" pitchFamily="49" charset="-122"/>
              </a:rPr>
              <a:t>Add</a:t>
            </a:r>
          </a:p>
        </p:txBody>
      </p:sp>
      <p:sp>
        <p:nvSpPr>
          <p:cNvPr id="829" name="Text Box 33">
            <a:extLst>
              <a:ext uri="{FF2B5EF4-FFF2-40B4-BE49-F238E27FC236}">
                <a16:creationId xmlns:a16="http://schemas.microsoft.com/office/drawing/2014/main" id="{646B6A98-1416-7A49-ACE8-0BB0FFBD820A}"/>
              </a:ext>
            </a:extLst>
          </p:cNvPr>
          <p:cNvSpPr txBox="1">
            <a:spLocks noChangeArrowheads="1"/>
          </p:cNvSpPr>
          <p:nvPr/>
        </p:nvSpPr>
        <p:spPr bwMode="auto">
          <a:xfrm rot="16200000">
            <a:off x="375842" y="3670463"/>
            <a:ext cx="397836" cy="27698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1425" tIns="45713" rIns="91425" bIns="45713">
            <a:spAutoFit/>
          </a:bodyPr>
          <a:lstStyle>
            <a:lvl1pPr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1pPr>
            <a:lvl2pPr marL="742950" indent="-28575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2pPr>
            <a:lvl3pPr marL="11430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3pPr>
            <a:lvl4pPr marL="16002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4pPr>
            <a:lvl5pPr marL="20574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9pPr>
          </a:lstStyle>
          <a:p>
            <a:r>
              <a:rPr lang="en-US" altLang="zh-CN" sz="1200" b="0" dirty="0">
                <a:latin typeface="Arial" pitchFamily="34" charset="0"/>
                <a:ea typeface="SimHei" panose="02010609060101010101" pitchFamily="49" charset="-122"/>
              </a:rPr>
              <a:t>PC</a:t>
            </a:r>
          </a:p>
        </p:txBody>
      </p:sp>
      <p:sp>
        <p:nvSpPr>
          <p:cNvPr id="830" name="Line 34">
            <a:extLst>
              <a:ext uri="{FF2B5EF4-FFF2-40B4-BE49-F238E27FC236}">
                <a16:creationId xmlns:a16="http://schemas.microsoft.com/office/drawing/2014/main" id="{5E9F8630-04F9-CBEB-ACE6-045A97547887}"/>
              </a:ext>
            </a:extLst>
          </p:cNvPr>
          <p:cNvSpPr>
            <a:spLocks noChangeShapeType="1"/>
          </p:cNvSpPr>
          <p:nvPr/>
        </p:nvSpPr>
        <p:spPr bwMode="auto">
          <a:xfrm>
            <a:off x="218559" y="3757059"/>
            <a:ext cx="283189" cy="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831" name="Text Box 35">
            <a:extLst>
              <a:ext uri="{FF2B5EF4-FFF2-40B4-BE49-F238E27FC236}">
                <a16:creationId xmlns:a16="http://schemas.microsoft.com/office/drawing/2014/main" id="{CB86EA45-E758-5C0A-FDA8-5400F6570CB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97327" y="2786512"/>
            <a:ext cx="269595" cy="27698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1425" tIns="45713" rIns="91425" bIns="45713">
            <a:spAutoFit/>
          </a:bodyPr>
          <a:lstStyle>
            <a:lvl1pPr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1pPr>
            <a:lvl2pPr marL="742950" indent="-28575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2pPr>
            <a:lvl3pPr marL="11430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3pPr>
            <a:lvl4pPr marL="16002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4pPr>
            <a:lvl5pPr marL="20574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9pPr>
          </a:lstStyle>
          <a:p>
            <a:r>
              <a:rPr lang="en-US" altLang="zh-CN" sz="1200" b="0" dirty="0">
                <a:latin typeface="Arial" pitchFamily="34" charset="0"/>
                <a:ea typeface="SimHei" panose="02010609060101010101" pitchFamily="49" charset="-122"/>
              </a:rPr>
              <a:t>4</a:t>
            </a:r>
          </a:p>
        </p:txBody>
      </p:sp>
      <p:sp>
        <p:nvSpPr>
          <p:cNvPr id="832" name="Line 36">
            <a:extLst>
              <a:ext uri="{FF2B5EF4-FFF2-40B4-BE49-F238E27FC236}">
                <a16:creationId xmlns:a16="http://schemas.microsoft.com/office/drawing/2014/main" id="{C7EC0F82-BE9B-40EC-4151-0D97D6F76214}"/>
              </a:ext>
            </a:extLst>
          </p:cNvPr>
          <p:cNvSpPr>
            <a:spLocks noChangeShapeType="1"/>
          </p:cNvSpPr>
          <p:nvPr/>
        </p:nvSpPr>
        <p:spPr bwMode="auto">
          <a:xfrm>
            <a:off x="218559" y="1686557"/>
            <a:ext cx="0" cy="2070501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833" name="AutoShape 37">
            <a:extLst>
              <a:ext uri="{FF2B5EF4-FFF2-40B4-BE49-F238E27FC236}">
                <a16:creationId xmlns:a16="http://schemas.microsoft.com/office/drawing/2014/main" id="{E8D443DB-30BE-7EC0-0987-7D4E249DD319}"/>
              </a:ext>
            </a:extLst>
          </p:cNvPr>
          <p:cNvSpPr>
            <a:spLocks noChangeArrowheads="1"/>
          </p:cNvSpPr>
          <p:nvPr/>
        </p:nvSpPr>
        <p:spPr bwMode="auto">
          <a:xfrm rot="5400000" flipH="1">
            <a:off x="812359" y="1612713"/>
            <a:ext cx="582329" cy="212392"/>
          </a:xfrm>
          <a:custGeom>
            <a:avLst/>
            <a:gdLst>
              <a:gd name="T0" fmla="*/ 8 w 21600"/>
              <a:gd name="T1" fmla="*/ 0 h 21600"/>
              <a:gd name="T2" fmla="*/ 4 w 21600"/>
              <a:gd name="T3" fmla="*/ 1 h 21600"/>
              <a:gd name="T4" fmla="*/ 1 w 21600"/>
              <a:gd name="T5" fmla="*/ 0 h 21600"/>
              <a:gd name="T6" fmla="*/ 4 w 21600"/>
              <a:gd name="T7" fmla="*/ 0 h 21600"/>
              <a:gd name="T8" fmla="*/ 0 60000 65536"/>
              <a:gd name="T9" fmla="*/ 0 60000 65536"/>
              <a:gd name="T10" fmla="*/ 0 60000 65536"/>
              <a:gd name="T11" fmla="*/ 0 60000 65536"/>
              <a:gd name="T12" fmla="*/ 4500 w 21600"/>
              <a:gd name="T13" fmla="*/ 4500 h 21600"/>
              <a:gd name="T14" fmla="*/ 17100 w 21600"/>
              <a:gd name="T15" fmla="*/ 17100 h 21600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21600" h="21600">
                <a:moveTo>
                  <a:pt x="0" y="0"/>
                </a:moveTo>
                <a:lnTo>
                  <a:pt x="5400" y="21600"/>
                </a:lnTo>
                <a:lnTo>
                  <a:pt x="16200" y="21600"/>
                </a:lnTo>
                <a:lnTo>
                  <a:pt x="21600" y="0"/>
                </a:lnTo>
                <a:lnTo>
                  <a:pt x="0" y="0"/>
                </a:lnTo>
                <a:close/>
              </a:path>
            </a:pathLst>
          </a:custGeom>
          <a:noFill/>
          <a:ln w="19050">
            <a:solidFill>
              <a:schemeClr val="tx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834" name="Line 38">
            <a:extLst>
              <a:ext uri="{FF2B5EF4-FFF2-40B4-BE49-F238E27FC236}">
                <a16:creationId xmlns:a16="http://schemas.microsoft.com/office/drawing/2014/main" id="{B5C224E3-0332-A86C-82F2-C72A18F14714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18558" y="1686557"/>
            <a:ext cx="778768" cy="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835" name="Rectangle 40">
            <a:extLst>
              <a:ext uri="{FF2B5EF4-FFF2-40B4-BE49-F238E27FC236}">
                <a16:creationId xmlns:a16="http://schemas.microsoft.com/office/drawing/2014/main" id="{56D97B1E-0BBC-44C2-049B-77CD5D3D4F86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1093425" y="1451795"/>
            <a:ext cx="148229" cy="57136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19047" tIns="26984" rIns="19047" bIns="26984"/>
          <a:lstStyle/>
          <a:p>
            <a:pPr eaLnBrk="0" hangingPunct="0">
              <a:spcBef>
                <a:spcPts val="600"/>
              </a:spcBef>
              <a:spcAft>
                <a:spcPts val="600"/>
              </a:spcAft>
            </a:pPr>
            <a:r>
              <a:rPr lang="en-US" altLang="zh-CN" sz="1200" dirty="0">
                <a:latin typeface="Arial" pitchFamily="34" charset="0"/>
                <a:ea typeface="SimHei" panose="02010609060101010101" pitchFamily="49" charset="-122"/>
              </a:rPr>
              <a:t>1</a:t>
            </a:r>
          </a:p>
          <a:p>
            <a:pPr eaLnBrk="0" hangingPunct="0">
              <a:spcBef>
                <a:spcPts val="600"/>
              </a:spcBef>
              <a:spcAft>
                <a:spcPts val="600"/>
              </a:spcAft>
            </a:pPr>
            <a:r>
              <a:rPr lang="en-US" altLang="zh-CN" sz="1200" dirty="0">
                <a:latin typeface="Arial" pitchFamily="34" charset="0"/>
                <a:ea typeface="SimHei" panose="02010609060101010101" pitchFamily="49" charset="-122"/>
              </a:rPr>
              <a:t>0</a:t>
            </a:r>
          </a:p>
        </p:txBody>
      </p:sp>
      <p:sp>
        <p:nvSpPr>
          <p:cNvPr id="836" name="Line 41">
            <a:extLst>
              <a:ext uri="{FF2B5EF4-FFF2-40B4-BE49-F238E27FC236}">
                <a16:creationId xmlns:a16="http://schemas.microsoft.com/office/drawing/2014/main" id="{3657B6A9-9778-2932-BF72-64905A175938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209718" y="1557152"/>
            <a:ext cx="5506272" cy="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837" name="Line 42">
            <a:extLst>
              <a:ext uri="{FF2B5EF4-FFF2-40B4-BE49-F238E27FC236}">
                <a16:creationId xmlns:a16="http://schemas.microsoft.com/office/drawing/2014/main" id="{55DF88C8-0B11-408C-8EFC-50E0DCBE4C0D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625662" y="5500902"/>
            <a:ext cx="6143445" cy="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838" name="Rectangle 43">
            <a:extLst>
              <a:ext uri="{FF2B5EF4-FFF2-40B4-BE49-F238E27FC236}">
                <a16:creationId xmlns:a16="http://schemas.microsoft.com/office/drawing/2014/main" id="{36ADD113-3941-F657-E843-D38D6AE50B6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38053" y="3110028"/>
            <a:ext cx="1203552" cy="1229360"/>
          </a:xfrm>
          <a:prstGeom prst="rect">
            <a:avLst/>
          </a:prstGeom>
          <a:noFill/>
          <a:ln w="19050">
            <a:solidFill>
              <a:schemeClr val="tx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839" name="Line 44">
            <a:extLst>
              <a:ext uri="{FF2B5EF4-FFF2-40B4-BE49-F238E27FC236}">
                <a16:creationId xmlns:a16="http://schemas.microsoft.com/office/drawing/2014/main" id="{9EE385F8-C34C-4E7E-E470-C25B438CB6B4}"/>
              </a:ext>
            </a:extLst>
          </p:cNvPr>
          <p:cNvSpPr>
            <a:spLocks noChangeShapeType="1"/>
          </p:cNvSpPr>
          <p:nvPr/>
        </p:nvSpPr>
        <p:spPr bwMode="auto">
          <a:xfrm>
            <a:off x="2130082" y="3757059"/>
            <a:ext cx="141594" cy="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840" name="Line 45">
            <a:extLst>
              <a:ext uri="{FF2B5EF4-FFF2-40B4-BE49-F238E27FC236}">
                <a16:creationId xmlns:a16="http://schemas.microsoft.com/office/drawing/2014/main" id="{EAC487FC-9B27-9E1B-199C-A2A44ED93FEE}"/>
              </a:ext>
            </a:extLst>
          </p:cNvPr>
          <p:cNvSpPr>
            <a:spLocks noChangeShapeType="1"/>
          </p:cNvSpPr>
          <p:nvPr/>
        </p:nvSpPr>
        <p:spPr bwMode="auto">
          <a:xfrm>
            <a:off x="2554865" y="3562950"/>
            <a:ext cx="283189" cy="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841" name="Text Box 46">
            <a:extLst>
              <a:ext uri="{FF2B5EF4-FFF2-40B4-BE49-F238E27FC236}">
                <a16:creationId xmlns:a16="http://schemas.microsoft.com/office/drawing/2014/main" id="{387663A6-652A-F5CF-0AD6-579BA3DE87A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767255" y="4080574"/>
            <a:ext cx="908039" cy="27698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1425" tIns="45713" rIns="91425" bIns="45713">
            <a:spAutoFit/>
          </a:bodyPr>
          <a:lstStyle>
            <a:lvl1pPr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1pPr>
            <a:lvl2pPr marL="742950" indent="-28575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2pPr>
            <a:lvl3pPr marL="11430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3pPr>
            <a:lvl4pPr marL="16002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4pPr>
            <a:lvl5pPr marL="20574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9pPr>
          </a:lstStyle>
          <a:p>
            <a:r>
              <a:rPr lang="en-US" altLang="zh-CN" sz="1200" b="0" dirty="0">
                <a:latin typeface="Arial" pitchFamily="34" charset="0"/>
                <a:ea typeface="SimHei" panose="02010609060101010101" pitchFamily="49" charset="-122"/>
              </a:rPr>
              <a:t>Write Data</a:t>
            </a:r>
          </a:p>
        </p:txBody>
      </p:sp>
      <p:sp>
        <p:nvSpPr>
          <p:cNvPr id="842" name="Text Box 47">
            <a:extLst>
              <a:ext uri="{FF2B5EF4-FFF2-40B4-BE49-F238E27FC236}">
                <a16:creationId xmlns:a16="http://schemas.microsoft.com/office/drawing/2014/main" id="{8B87A2D9-2C02-2921-A1F3-FC9772E0EFF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780531" y="3057456"/>
            <a:ext cx="636682" cy="46165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1425" tIns="45713" rIns="91425" bIns="45713">
            <a:spAutoFit/>
          </a:bodyPr>
          <a:lstStyle>
            <a:lvl1pPr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1pPr>
            <a:lvl2pPr marL="742950" indent="-28575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2pPr>
            <a:lvl3pPr marL="11430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3pPr>
            <a:lvl4pPr marL="16002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4pPr>
            <a:lvl5pPr marL="20574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9pPr>
          </a:lstStyle>
          <a:p>
            <a:r>
              <a:rPr lang="en-US" altLang="zh-CN" sz="1200" b="0" dirty="0">
                <a:latin typeface="Arial" pitchFamily="34" charset="0"/>
                <a:ea typeface="SimHei" panose="02010609060101010101" pitchFamily="49" charset="-122"/>
              </a:rPr>
              <a:t>Read </a:t>
            </a:r>
          </a:p>
          <a:p>
            <a:r>
              <a:rPr lang="en-US" altLang="zh-CN" sz="1200" b="0" dirty="0" err="1">
                <a:latin typeface="Arial" pitchFamily="34" charset="0"/>
                <a:ea typeface="SimHei" panose="02010609060101010101" pitchFamily="49" charset="-122"/>
              </a:rPr>
              <a:t>Addr</a:t>
            </a:r>
            <a:r>
              <a:rPr lang="en-US" altLang="zh-CN" sz="1200" b="0" dirty="0">
                <a:latin typeface="Arial" pitchFamily="34" charset="0"/>
                <a:ea typeface="SimHei" panose="02010609060101010101" pitchFamily="49" charset="-122"/>
              </a:rPr>
              <a:t> 1</a:t>
            </a:r>
          </a:p>
        </p:txBody>
      </p:sp>
      <p:sp>
        <p:nvSpPr>
          <p:cNvPr id="843" name="Text Box 48">
            <a:extLst>
              <a:ext uri="{FF2B5EF4-FFF2-40B4-BE49-F238E27FC236}">
                <a16:creationId xmlns:a16="http://schemas.microsoft.com/office/drawing/2014/main" id="{7BD2447A-D94C-490C-00D9-8095E1DCA9A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776106" y="3398496"/>
            <a:ext cx="636682" cy="46165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1425" tIns="45713" rIns="91425" bIns="45713">
            <a:spAutoFit/>
          </a:bodyPr>
          <a:lstStyle>
            <a:lvl1pPr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1pPr>
            <a:lvl2pPr marL="742950" indent="-28575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2pPr>
            <a:lvl3pPr marL="11430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3pPr>
            <a:lvl4pPr marL="16002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4pPr>
            <a:lvl5pPr marL="20574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9pPr>
          </a:lstStyle>
          <a:p>
            <a:r>
              <a:rPr lang="en-US" altLang="zh-CN" sz="1200" b="0" dirty="0">
                <a:latin typeface="Arial" pitchFamily="34" charset="0"/>
                <a:ea typeface="SimHei" panose="02010609060101010101" pitchFamily="49" charset="-122"/>
              </a:rPr>
              <a:t>Read </a:t>
            </a:r>
          </a:p>
          <a:p>
            <a:r>
              <a:rPr lang="en-US" altLang="zh-CN" sz="1200" b="0" dirty="0" err="1">
                <a:latin typeface="Arial" pitchFamily="34" charset="0"/>
                <a:ea typeface="SimHei" panose="02010609060101010101" pitchFamily="49" charset="-122"/>
              </a:rPr>
              <a:t>Addr</a:t>
            </a:r>
            <a:r>
              <a:rPr lang="en-US" altLang="zh-CN" sz="1200" b="0" dirty="0">
                <a:latin typeface="Arial" pitchFamily="34" charset="0"/>
                <a:ea typeface="SimHei" panose="02010609060101010101" pitchFamily="49" charset="-122"/>
              </a:rPr>
              <a:t> 2</a:t>
            </a:r>
          </a:p>
        </p:txBody>
      </p:sp>
      <p:sp>
        <p:nvSpPr>
          <p:cNvPr id="844" name="Text Box 49">
            <a:extLst>
              <a:ext uri="{FF2B5EF4-FFF2-40B4-BE49-F238E27FC236}">
                <a16:creationId xmlns:a16="http://schemas.microsoft.com/office/drawing/2014/main" id="{FD9414AA-FD13-3BAA-AEC1-C212B9FC7DB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781966" y="3821761"/>
            <a:ext cx="899575" cy="27698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1425" tIns="45713" rIns="91425" bIns="45713">
            <a:spAutoFit/>
          </a:bodyPr>
          <a:lstStyle>
            <a:lvl1pPr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1pPr>
            <a:lvl2pPr marL="742950" indent="-28575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2pPr>
            <a:lvl3pPr marL="11430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3pPr>
            <a:lvl4pPr marL="16002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4pPr>
            <a:lvl5pPr marL="20574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9pPr>
          </a:lstStyle>
          <a:p>
            <a:r>
              <a:rPr lang="en-US" altLang="zh-CN" sz="1200" b="0" dirty="0">
                <a:latin typeface="Arial" pitchFamily="34" charset="0"/>
                <a:ea typeface="SimHei" panose="02010609060101010101" pitchFamily="49" charset="-122"/>
              </a:rPr>
              <a:t>Write </a:t>
            </a:r>
            <a:r>
              <a:rPr lang="en-US" altLang="zh-CN" sz="1200" b="0" dirty="0" err="1">
                <a:latin typeface="Arial" pitchFamily="34" charset="0"/>
                <a:ea typeface="SimHei" panose="02010609060101010101" pitchFamily="49" charset="-122"/>
              </a:rPr>
              <a:t>Addr</a:t>
            </a:r>
            <a:endParaRPr lang="en-US" altLang="zh-CN" sz="1200" b="0" dirty="0">
              <a:latin typeface="Arial" pitchFamily="34" charset="0"/>
              <a:ea typeface="SimHei" panose="02010609060101010101" pitchFamily="49" charset="-122"/>
            </a:endParaRPr>
          </a:p>
        </p:txBody>
      </p:sp>
      <p:sp>
        <p:nvSpPr>
          <p:cNvPr id="845" name="Text Box 50">
            <a:extLst>
              <a:ext uri="{FF2B5EF4-FFF2-40B4-BE49-F238E27FC236}">
                <a16:creationId xmlns:a16="http://schemas.microsoft.com/office/drawing/2014/main" id="{113CB793-789F-2F77-AEEB-76FA39B49D9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313446" y="3538515"/>
            <a:ext cx="603020" cy="30776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1425" tIns="45713" rIns="91425" bIns="45713">
            <a:spAutoFit/>
          </a:bodyPr>
          <a:lstStyle>
            <a:lvl1pPr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1pPr>
            <a:lvl2pPr marL="742950" indent="-28575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2pPr>
            <a:lvl3pPr marL="11430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3pPr>
            <a:lvl4pPr marL="16002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4pPr>
            <a:lvl5pPr marL="20574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9pPr>
          </a:lstStyle>
          <a:p>
            <a:pPr algn="ctr"/>
            <a:r>
              <a:rPr lang="en-US" altLang="zh-CN" sz="1400" b="0" dirty="0">
                <a:latin typeface="Arial" pitchFamily="34" charset="0"/>
                <a:ea typeface="SimHei" panose="02010609060101010101" pitchFamily="49" charset="-122"/>
              </a:rPr>
              <a:t>Regs</a:t>
            </a:r>
          </a:p>
        </p:txBody>
      </p:sp>
      <p:sp>
        <p:nvSpPr>
          <p:cNvPr id="846" name="Text Box 51">
            <a:extLst>
              <a:ext uri="{FF2B5EF4-FFF2-40B4-BE49-F238E27FC236}">
                <a16:creationId xmlns:a16="http://schemas.microsoft.com/office/drawing/2014/main" id="{E9C02B24-EC1B-1E75-9EFB-B23C9015DC0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434243" y="3132558"/>
            <a:ext cx="679964" cy="46165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1425" tIns="45713" rIns="91425" bIns="45713">
            <a:spAutoFit/>
          </a:bodyPr>
          <a:lstStyle>
            <a:lvl1pPr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1pPr>
            <a:lvl2pPr marL="742950" indent="-28575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2pPr>
            <a:lvl3pPr marL="11430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3pPr>
            <a:lvl4pPr marL="16002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4pPr>
            <a:lvl5pPr marL="20574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9pPr>
          </a:lstStyle>
          <a:p>
            <a:pPr algn="r"/>
            <a:r>
              <a:rPr lang="en-US" altLang="zh-CN" sz="1200" b="0" dirty="0">
                <a:latin typeface="Arial" pitchFamily="34" charset="0"/>
                <a:ea typeface="SimHei" panose="02010609060101010101" pitchFamily="49" charset="-122"/>
              </a:rPr>
              <a:t>Read</a:t>
            </a:r>
          </a:p>
          <a:p>
            <a:pPr algn="r"/>
            <a:r>
              <a:rPr lang="en-US" altLang="zh-CN" sz="1200" b="0" dirty="0">
                <a:latin typeface="Arial" pitchFamily="34" charset="0"/>
                <a:ea typeface="SimHei" panose="02010609060101010101" pitchFamily="49" charset="-122"/>
              </a:rPr>
              <a:t> Data 1</a:t>
            </a:r>
          </a:p>
        </p:txBody>
      </p:sp>
      <p:sp>
        <p:nvSpPr>
          <p:cNvPr id="847" name="Text Box 52">
            <a:extLst>
              <a:ext uri="{FF2B5EF4-FFF2-40B4-BE49-F238E27FC236}">
                <a16:creationId xmlns:a16="http://schemas.microsoft.com/office/drawing/2014/main" id="{DDAFE32E-4376-FE01-4C82-FE8A7235F0D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422113" y="3821762"/>
            <a:ext cx="679964" cy="46165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1425" tIns="45713" rIns="91425" bIns="45713">
            <a:spAutoFit/>
          </a:bodyPr>
          <a:lstStyle>
            <a:lvl1pPr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1pPr>
            <a:lvl2pPr marL="742950" indent="-28575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2pPr>
            <a:lvl3pPr marL="11430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3pPr>
            <a:lvl4pPr marL="16002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4pPr>
            <a:lvl5pPr marL="20574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9pPr>
          </a:lstStyle>
          <a:p>
            <a:pPr algn="r"/>
            <a:r>
              <a:rPr lang="en-US" altLang="zh-CN" sz="1200" b="0" dirty="0">
                <a:latin typeface="Arial" pitchFamily="34" charset="0"/>
                <a:ea typeface="SimHei" panose="02010609060101010101" pitchFamily="49" charset="-122"/>
              </a:rPr>
              <a:t>Read</a:t>
            </a:r>
          </a:p>
          <a:p>
            <a:pPr algn="r"/>
            <a:r>
              <a:rPr lang="en-US" altLang="zh-CN" sz="1200" b="0" dirty="0">
                <a:latin typeface="Arial" pitchFamily="34" charset="0"/>
                <a:ea typeface="SimHei" panose="02010609060101010101" pitchFamily="49" charset="-122"/>
              </a:rPr>
              <a:t> Data 2</a:t>
            </a:r>
          </a:p>
        </p:txBody>
      </p:sp>
      <p:sp>
        <p:nvSpPr>
          <p:cNvPr id="848" name="Line 53">
            <a:extLst>
              <a:ext uri="{FF2B5EF4-FFF2-40B4-BE49-F238E27FC236}">
                <a16:creationId xmlns:a16="http://schemas.microsoft.com/office/drawing/2014/main" id="{6D28C41D-1EDA-0A42-F6E3-DB097B2FE3D2}"/>
              </a:ext>
            </a:extLst>
          </p:cNvPr>
          <p:cNvSpPr>
            <a:spLocks noChangeShapeType="1"/>
          </p:cNvSpPr>
          <p:nvPr/>
        </p:nvSpPr>
        <p:spPr bwMode="auto">
          <a:xfrm>
            <a:off x="2554865" y="4792309"/>
            <a:ext cx="353986" cy="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849" name="Line 54">
            <a:extLst>
              <a:ext uri="{FF2B5EF4-FFF2-40B4-BE49-F238E27FC236}">
                <a16:creationId xmlns:a16="http://schemas.microsoft.com/office/drawing/2014/main" id="{174DAF0B-6DBF-1DFF-ADFC-D9C4D4F53F9F}"/>
              </a:ext>
            </a:extLst>
          </p:cNvPr>
          <p:cNvSpPr>
            <a:spLocks noChangeShapeType="1"/>
          </p:cNvSpPr>
          <p:nvPr/>
        </p:nvSpPr>
        <p:spPr bwMode="auto">
          <a:xfrm>
            <a:off x="2727430" y="4730576"/>
            <a:ext cx="70797" cy="129407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850" name="Line 55">
            <a:extLst>
              <a:ext uri="{FF2B5EF4-FFF2-40B4-BE49-F238E27FC236}">
                <a16:creationId xmlns:a16="http://schemas.microsoft.com/office/drawing/2014/main" id="{72A26F14-6CE0-0B45-862C-7201BF102C12}"/>
              </a:ext>
            </a:extLst>
          </p:cNvPr>
          <p:cNvSpPr>
            <a:spLocks noChangeShapeType="1"/>
          </p:cNvSpPr>
          <p:nvPr/>
        </p:nvSpPr>
        <p:spPr bwMode="auto">
          <a:xfrm>
            <a:off x="3857232" y="4715974"/>
            <a:ext cx="70797" cy="129407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851" name="Text Box 56">
            <a:extLst>
              <a:ext uri="{FF2B5EF4-FFF2-40B4-BE49-F238E27FC236}">
                <a16:creationId xmlns:a16="http://schemas.microsoft.com/office/drawing/2014/main" id="{979AB0F0-ABC1-FAAC-D6BC-1AA80FFF48E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616816" y="4813251"/>
            <a:ext cx="353976" cy="27698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1425" tIns="45713" rIns="91425" bIns="45713">
            <a:spAutoFit/>
          </a:bodyPr>
          <a:lstStyle>
            <a:lvl1pPr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1pPr>
            <a:lvl2pPr marL="742950" indent="-28575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2pPr>
            <a:lvl3pPr marL="11430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3pPr>
            <a:lvl4pPr marL="16002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4pPr>
            <a:lvl5pPr marL="20574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9pPr>
          </a:lstStyle>
          <a:p>
            <a:r>
              <a:rPr lang="en-US" altLang="zh-CN" sz="1200" b="0" dirty="0">
                <a:latin typeface="Arial" pitchFamily="34" charset="0"/>
                <a:ea typeface="SimHei" panose="02010609060101010101" pitchFamily="49" charset="-122"/>
              </a:rPr>
              <a:t>16</a:t>
            </a:r>
          </a:p>
        </p:txBody>
      </p:sp>
      <p:sp>
        <p:nvSpPr>
          <p:cNvPr id="852" name="Text Box 57">
            <a:extLst>
              <a:ext uri="{FF2B5EF4-FFF2-40B4-BE49-F238E27FC236}">
                <a16:creationId xmlns:a16="http://schemas.microsoft.com/office/drawing/2014/main" id="{7217EB05-3C44-A99B-9E26-7DB2E3D38D5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758415" y="4792309"/>
            <a:ext cx="354554" cy="27698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1425" tIns="45713" rIns="91425" bIns="45713">
            <a:spAutoFit/>
          </a:bodyPr>
          <a:lstStyle>
            <a:lvl1pPr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1pPr>
            <a:lvl2pPr marL="742950" indent="-28575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2pPr>
            <a:lvl3pPr marL="11430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3pPr>
            <a:lvl4pPr marL="16002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4pPr>
            <a:lvl5pPr marL="20574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9pPr>
          </a:lstStyle>
          <a:p>
            <a:r>
              <a:rPr lang="en-US" altLang="zh-CN" sz="1200" b="0" dirty="0">
                <a:latin typeface="Arial" pitchFamily="34" charset="0"/>
                <a:ea typeface="SimHei" panose="02010609060101010101" pitchFamily="49" charset="-122"/>
              </a:rPr>
              <a:t>32</a:t>
            </a:r>
          </a:p>
        </p:txBody>
      </p:sp>
      <p:sp>
        <p:nvSpPr>
          <p:cNvPr id="853" name="Line 58">
            <a:extLst>
              <a:ext uri="{FF2B5EF4-FFF2-40B4-BE49-F238E27FC236}">
                <a16:creationId xmlns:a16="http://schemas.microsoft.com/office/drawing/2014/main" id="{B62C8FFA-AB45-BC3D-EFD6-A9C130B3559D}"/>
              </a:ext>
            </a:extLst>
          </p:cNvPr>
          <p:cNvSpPr>
            <a:spLocks noChangeShapeType="1"/>
          </p:cNvSpPr>
          <p:nvPr/>
        </p:nvSpPr>
        <p:spPr bwMode="auto">
          <a:xfrm>
            <a:off x="2625662" y="4209981"/>
            <a:ext cx="212391" cy="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854" name="Line 59">
            <a:extLst>
              <a:ext uri="{FF2B5EF4-FFF2-40B4-BE49-F238E27FC236}">
                <a16:creationId xmlns:a16="http://schemas.microsoft.com/office/drawing/2014/main" id="{4A41BF60-5173-758B-6686-029CBCF3BEF7}"/>
              </a:ext>
            </a:extLst>
          </p:cNvPr>
          <p:cNvSpPr>
            <a:spLocks noChangeShapeType="1"/>
          </p:cNvSpPr>
          <p:nvPr/>
        </p:nvSpPr>
        <p:spPr bwMode="auto">
          <a:xfrm>
            <a:off x="4424969" y="4339388"/>
            <a:ext cx="0" cy="452922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855" name="Line 60">
            <a:extLst>
              <a:ext uri="{FF2B5EF4-FFF2-40B4-BE49-F238E27FC236}">
                <a16:creationId xmlns:a16="http://schemas.microsoft.com/office/drawing/2014/main" id="{C292A238-4952-5984-BC0A-83B250CE1C27}"/>
              </a:ext>
            </a:extLst>
          </p:cNvPr>
          <p:cNvSpPr>
            <a:spLocks noChangeShapeType="1"/>
          </p:cNvSpPr>
          <p:nvPr/>
        </p:nvSpPr>
        <p:spPr bwMode="auto">
          <a:xfrm>
            <a:off x="4041604" y="4015871"/>
            <a:ext cx="141594" cy="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856" name="Line 61">
            <a:extLst>
              <a:ext uri="{FF2B5EF4-FFF2-40B4-BE49-F238E27FC236}">
                <a16:creationId xmlns:a16="http://schemas.microsoft.com/office/drawing/2014/main" id="{0FDD0D58-46C0-F9A6-E1F3-2E97CDA459D4}"/>
              </a:ext>
            </a:extLst>
          </p:cNvPr>
          <p:cNvSpPr>
            <a:spLocks noChangeShapeType="1"/>
          </p:cNvSpPr>
          <p:nvPr/>
        </p:nvSpPr>
        <p:spPr bwMode="auto">
          <a:xfrm>
            <a:off x="2554865" y="3239433"/>
            <a:ext cx="0" cy="1552876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857" name="Line 62">
            <a:extLst>
              <a:ext uri="{FF2B5EF4-FFF2-40B4-BE49-F238E27FC236}">
                <a16:creationId xmlns:a16="http://schemas.microsoft.com/office/drawing/2014/main" id="{22AE54E9-2321-198F-30BA-E8BE53DF1250}"/>
              </a:ext>
            </a:extLst>
          </p:cNvPr>
          <p:cNvSpPr>
            <a:spLocks noChangeShapeType="1"/>
          </p:cNvSpPr>
          <p:nvPr/>
        </p:nvSpPr>
        <p:spPr bwMode="auto">
          <a:xfrm>
            <a:off x="2554865" y="3239433"/>
            <a:ext cx="283189" cy="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858" name="Line 63">
            <a:extLst>
              <a:ext uri="{FF2B5EF4-FFF2-40B4-BE49-F238E27FC236}">
                <a16:creationId xmlns:a16="http://schemas.microsoft.com/office/drawing/2014/main" id="{04F5A702-EF2A-02DE-5DE7-DB1D15104AB3}"/>
              </a:ext>
            </a:extLst>
          </p:cNvPr>
          <p:cNvSpPr>
            <a:spLocks noChangeShapeType="1"/>
          </p:cNvSpPr>
          <p:nvPr/>
        </p:nvSpPr>
        <p:spPr bwMode="auto">
          <a:xfrm>
            <a:off x="4324793" y="4015871"/>
            <a:ext cx="615015" cy="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859" name="Line 64">
            <a:extLst>
              <a:ext uri="{FF2B5EF4-FFF2-40B4-BE49-F238E27FC236}">
                <a16:creationId xmlns:a16="http://schemas.microsoft.com/office/drawing/2014/main" id="{4FE5CFCC-41B9-2852-2619-A1389FAC5EAC}"/>
              </a:ext>
            </a:extLst>
          </p:cNvPr>
          <p:cNvSpPr>
            <a:spLocks noChangeShapeType="1"/>
          </p:cNvSpPr>
          <p:nvPr/>
        </p:nvSpPr>
        <p:spPr bwMode="auto">
          <a:xfrm>
            <a:off x="6220412" y="3821762"/>
            <a:ext cx="141179" cy="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860" name="Freeform 65">
            <a:extLst>
              <a:ext uri="{FF2B5EF4-FFF2-40B4-BE49-F238E27FC236}">
                <a16:creationId xmlns:a16="http://schemas.microsoft.com/office/drawing/2014/main" id="{1270A8D5-1734-ACE6-12A2-B0DC7405C858}"/>
              </a:ext>
            </a:extLst>
          </p:cNvPr>
          <p:cNvSpPr>
            <a:spLocks/>
          </p:cNvSpPr>
          <p:nvPr/>
        </p:nvSpPr>
        <p:spPr bwMode="auto">
          <a:xfrm>
            <a:off x="5724830" y="3239433"/>
            <a:ext cx="495580" cy="1099954"/>
          </a:xfrm>
          <a:custGeom>
            <a:avLst/>
            <a:gdLst>
              <a:gd name="T0" fmla="*/ 0 w 388"/>
              <a:gd name="T1" fmla="*/ 0 h 1099"/>
              <a:gd name="T2" fmla="*/ 0 w 388"/>
              <a:gd name="T3" fmla="*/ 235 h 1099"/>
              <a:gd name="T4" fmla="*/ 83 w 388"/>
              <a:gd name="T5" fmla="*/ 305 h 1099"/>
              <a:gd name="T6" fmla="*/ 0 w 388"/>
              <a:gd name="T7" fmla="*/ 370 h 1099"/>
              <a:gd name="T8" fmla="*/ 0 w 388"/>
              <a:gd name="T9" fmla="*/ 605 h 1099"/>
              <a:gd name="T10" fmla="*/ 290 w 388"/>
              <a:gd name="T11" fmla="*/ 436 h 1099"/>
              <a:gd name="T12" fmla="*/ 290 w 388"/>
              <a:gd name="T13" fmla="*/ 170 h 1099"/>
              <a:gd name="T14" fmla="*/ 0 w 388"/>
              <a:gd name="T15" fmla="*/ 0 h 1099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0" t="0" r="r" b="b"/>
            <a:pathLst>
              <a:path w="388" h="1099">
                <a:moveTo>
                  <a:pt x="0" y="0"/>
                </a:moveTo>
                <a:lnTo>
                  <a:pt x="0" y="427"/>
                </a:lnTo>
                <a:lnTo>
                  <a:pt x="111" y="553"/>
                </a:lnTo>
                <a:lnTo>
                  <a:pt x="0" y="671"/>
                </a:lnTo>
                <a:lnTo>
                  <a:pt x="0" y="1098"/>
                </a:lnTo>
                <a:lnTo>
                  <a:pt x="387" y="790"/>
                </a:lnTo>
                <a:lnTo>
                  <a:pt x="387" y="308"/>
                </a:lnTo>
                <a:lnTo>
                  <a:pt x="0" y="0"/>
                </a:lnTo>
              </a:path>
            </a:pathLst>
          </a:custGeom>
          <a:noFill/>
          <a:ln w="19050" cap="rnd" cmpd="sng">
            <a:solidFill>
              <a:srgbClr val="000000"/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861" name="Rectangle 66">
            <a:extLst>
              <a:ext uri="{FF2B5EF4-FFF2-40B4-BE49-F238E27FC236}">
                <a16:creationId xmlns:a16="http://schemas.microsoft.com/office/drawing/2014/main" id="{3E3AE453-12A2-09D7-E3A8-A2EC9102038C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14802" y="3684524"/>
            <a:ext cx="441007" cy="18496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19047" tIns="26984" rIns="19047" bIns="26984"/>
          <a:lstStyle/>
          <a:p>
            <a:pPr algn="ctr" defTabSz="903288" eaLnBrk="0" hangingPunct="0">
              <a:lnSpc>
                <a:spcPts val="1600"/>
              </a:lnSpc>
              <a:tabLst>
                <a:tab pos="452438" algn="l"/>
                <a:tab pos="903288" algn="l"/>
                <a:tab pos="1357313" algn="l"/>
              </a:tabLst>
            </a:pPr>
            <a:r>
              <a:rPr lang="en-US" altLang="zh-CN" sz="1400" dirty="0">
                <a:solidFill>
                  <a:srgbClr val="000000"/>
                </a:solidFill>
                <a:latin typeface="Arial" pitchFamily="34" charset="0"/>
                <a:ea typeface="SimHei" panose="02010609060101010101" pitchFamily="49" charset="-122"/>
              </a:rPr>
              <a:t>ALU</a:t>
            </a:r>
          </a:p>
        </p:txBody>
      </p:sp>
      <p:sp>
        <p:nvSpPr>
          <p:cNvPr id="862" name="AutoShape 67">
            <a:extLst>
              <a:ext uri="{FF2B5EF4-FFF2-40B4-BE49-F238E27FC236}">
                <a16:creationId xmlns:a16="http://schemas.microsoft.com/office/drawing/2014/main" id="{A19417EE-A38E-21EE-5586-59AE236C5603}"/>
              </a:ext>
            </a:extLst>
          </p:cNvPr>
          <p:cNvSpPr>
            <a:spLocks noChangeArrowheads="1"/>
          </p:cNvSpPr>
          <p:nvPr/>
        </p:nvSpPr>
        <p:spPr bwMode="auto">
          <a:xfrm rot="16200000">
            <a:off x="5177430" y="4077678"/>
            <a:ext cx="647031" cy="212392"/>
          </a:xfrm>
          <a:custGeom>
            <a:avLst/>
            <a:gdLst>
              <a:gd name="T0" fmla="*/ 9 w 21600"/>
              <a:gd name="T1" fmla="*/ 0 h 21600"/>
              <a:gd name="T2" fmla="*/ 5 w 21600"/>
              <a:gd name="T3" fmla="*/ 1 h 21600"/>
              <a:gd name="T4" fmla="*/ 1 w 21600"/>
              <a:gd name="T5" fmla="*/ 0 h 21600"/>
              <a:gd name="T6" fmla="*/ 5 w 21600"/>
              <a:gd name="T7" fmla="*/ 0 h 21600"/>
              <a:gd name="T8" fmla="*/ 0 60000 65536"/>
              <a:gd name="T9" fmla="*/ 0 60000 65536"/>
              <a:gd name="T10" fmla="*/ 0 60000 65536"/>
              <a:gd name="T11" fmla="*/ 0 60000 65536"/>
              <a:gd name="T12" fmla="*/ 4500 w 21600"/>
              <a:gd name="T13" fmla="*/ 4500 h 21600"/>
              <a:gd name="T14" fmla="*/ 17100 w 21600"/>
              <a:gd name="T15" fmla="*/ 17100 h 21600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21600" h="21600">
                <a:moveTo>
                  <a:pt x="0" y="0"/>
                </a:moveTo>
                <a:lnTo>
                  <a:pt x="5400" y="21600"/>
                </a:lnTo>
                <a:lnTo>
                  <a:pt x="16200" y="21600"/>
                </a:lnTo>
                <a:lnTo>
                  <a:pt x="21600" y="0"/>
                </a:lnTo>
                <a:lnTo>
                  <a:pt x="0" y="0"/>
                </a:lnTo>
                <a:close/>
              </a:path>
            </a:pathLst>
          </a:custGeom>
          <a:noFill/>
          <a:ln w="19050">
            <a:solidFill>
              <a:schemeClr val="tx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863" name="Line 68">
            <a:extLst>
              <a:ext uri="{FF2B5EF4-FFF2-40B4-BE49-F238E27FC236}">
                <a16:creationId xmlns:a16="http://schemas.microsoft.com/office/drawing/2014/main" id="{4524D9D2-9D9E-ED08-2EBE-745614272619}"/>
              </a:ext>
            </a:extLst>
          </p:cNvPr>
          <p:cNvSpPr>
            <a:spLocks noChangeShapeType="1"/>
          </p:cNvSpPr>
          <p:nvPr/>
        </p:nvSpPr>
        <p:spPr bwMode="auto">
          <a:xfrm>
            <a:off x="5611830" y="4145278"/>
            <a:ext cx="121886" cy="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864" name="Rectangle 70">
            <a:extLst>
              <a:ext uri="{FF2B5EF4-FFF2-40B4-BE49-F238E27FC236}">
                <a16:creationId xmlns:a16="http://schemas.microsoft.com/office/drawing/2014/main" id="{30AEDC10-C514-E6DF-0517-9FDA78F6C1B4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19826" y="3908088"/>
            <a:ext cx="112094" cy="6355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19047" tIns="26984" rIns="19047" bIns="26984"/>
          <a:lstStyle/>
          <a:p>
            <a:pPr eaLnBrk="0" hangingPunct="0">
              <a:spcBef>
                <a:spcPts val="600"/>
              </a:spcBef>
              <a:spcAft>
                <a:spcPts val="600"/>
              </a:spcAft>
            </a:pPr>
            <a:r>
              <a:rPr lang="en-US" altLang="zh-CN" sz="1200" dirty="0">
                <a:latin typeface="Arial" pitchFamily="34" charset="0"/>
                <a:ea typeface="SimHei" panose="02010609060101010101" pitchFamily="49" charset="-122"/>
              </a:rPr>
              <a:t>1</a:t>
            </a:r>
          </a:p>
          <a:p>
            <a:pPr eaLnBrk="0" hangingPunct="0">
              <a:spcBef>
                <a:spcPts val="600"/>
              </a:spcBef>
              <a:spcAft>
                <a:spcPts val="600"/>
              </a:spcAft>
            </a:pPr>
            <a:r>
              <a:rPr lang="en-US" altLang="zh-CN" sz="1200" dirty="0">
                <a:latin typeface="Arial" pitchFamily="34" charset="0"/>
                <a:ea typeface="SimHei" panose="02010609060101010101" pitchFamily="49" charset="-122"/>
              </a:rPr>
              <a:t>0</a:t>
            </a:r>
          </a:p>
        </p:txBody>
      </p:sp>
      <p:sp>
        <p:nvSpPr>
          <p:cNvPr id="865" name="Line 71">
            <a:extLst>
              <a:ext uri="{FF2B5EF4-FFF2-40B4-BE49-F238E27FC236}">
                <a16:creationId xmlns:a16="http://schemas.microsoft.com/office/drawing/2014/main" id="{663F5FED-FEDB-C20A-649E-8CD1F1C1EAC9}"/>
              </a:ext>
            </a:extLst>
          </p:cNvPr>
          <p:cNvSpPr>
            <a:spLocks noChangeShapeType="1"/>
          </p:cNvSpPr>
          <p:nvPr/>
        </p:nvSpPr>
        <p:spPr bwMode="auto">
          <a:xfrm>
            <a:off x="5278995" y="4409473"/>
            <a:ext cx="115753" cy="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866" name="Line 72">
            <a:extLst>
              <a:ext uri="{FF2B5EF4-FFF2-40B4-BE49-F238E27FC236}">
                <a16:creationId xmlns:a16="http://schemas.microsoft.com/office/drawing/2014/main" id="{9A0E388C-CEE2-7174-38E9-3A57EA85E1DF}"/>
              </a:ext>
            </a:extLst>
          </p:cNvPr>
          <p:cNvSpPr>
            <a:spLocks noChangeShapeType="1"/>
          </p:cNvSpPr>
          <p:nvPr/>
        </p:nvSpPr>
        <p:spPr bwMode="auto">
          <a:xfrm>
            <a:off x="4324793" y="3309289"/>
            <a:ext cx="615012" cy="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867" name="Oval 73">
            <a:extLst>
              <a:ext uri="{FF2B5EF4-FFF2-40B4-BE49-F238E27FC236}">
                <a16:creationId xmlns:a16="http://schemas.microsoft.com/office/drawing/2014/main" id="{5F4143B9-F934-DFC5-9D73-224866FAA29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13797" y="2732034"/>
            <a:ext cx="375559" cy="400437"/>
          </a:xfrm>
          <a:prstGeom prst="ellips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868" name="Rectangle 74">
            <a:extLst>
              <a:ext uri="{FF2B5EF4-FFF2-40B4-BE49-F238E27FC236}">
                <a16:creationId xmlns:a16="http://schemas.microsoft.com/office/drawing/2014/main" id="{798074DA-641F-B1BD-2D77-91814FBB848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85575" y="2818386"/>
            <a:ext cx="411790" cy="223213"/>
          </a:xfrm>
          <a:prstGeom prst="rect">
            <a:avLst/>
          </a:prstGeom>
          <a:noFill/>
          <a:ln w="12700">
            <a:noFill/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19047" tIns="26984" rIns="19047" bIns="26984"/>
          <a:lstStyle/>
          <a:p>
            <a:pPr algn="ctr" defTabSz="903288" eaLnBrk="0" hangingPunct="0">
              <a:lnSpc>
                <a:spcPts val="1600"/>
              </a:lnSpc>
              <a:tabLst>
                <a:tab pos="452438" algn="l"/>
                <a:tab pos="903288" algn="l"/>
                <a:tab pos="1357313" algn="l"/>
              </a:tabLst>
            </a:pPr>
            <a:r>
              <a:rPr lang="en-US" altLang="zh-CN" sz="1400" dirty="0">
                <a:solidFill>
                  <a:srgbClr val="000000"/>
                </a:solidFill>
                <a:latin typeface="Arial" pitchFamily="34" charset="0"/>
                <a:ea typeface="SimHei" panose="02010609060101010101" pitchFamily="49" charset="-122"/>
              </a:rPr>
              <a:t>&lt;&lt;2</a:t>
            </a:r>
          </a:p>
        </p:txBody>
      </p:sp>
      <p:sp>
        <p:nvSpPr>
          <p:cNvPr id="869" name="Line 75">
            <a:extLst>
              <a:ext uri="{FF2B5EF4-FFF2-40B4-BE49-F238E27FC236}">
                <a16:creationId xmlns:a16="http://schemas.microsoft.com/office/drawing/2014/main" id="{7C9FE6FF-CE8B-7C18-D34A-C50F6F4411F8}"/>
              </a:ext>
            </a:extLst>
          </p:cNvPr>
          <p:cNvSpPr>
            <a:spLocks noChangeShapeType="1"/>
          </p:cNvSpPr>
          <p:nvPr/>
        </p:nvSpPr>
        <p:spPr bwMode="auto">
          <a:xfrm>
            <a:off x="4424969" y="2969666"/>
            <a:ext cx="287192" cy="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grpSp>
        <p:nvGrpSpPr>
          <p:cNvPr id="870" name="Group 76">
            <a:extLst>
              <a:ext uri="{FF2B5EF4-FFF2-40B4-BE49-F238E27FC236}">
                <a16:creationId xmlns:a16="http://schemas.microsoft.com/office/drawing/2014/main" id="{CBCA763A-4FB1-EF9C-5883-7867606CAC7C}"/>
              </a:ext>
            </a:extLst>
          </p:cNvPr>
          <p:cNvGrpSpPr>
            <a:grpSpLocks/>
          </p:cNvGrpSpPr>
          <p:nvPr/>
        </p:nvGrpSpPr>
        <p:grpSpPr bwMode="auto">
          <a:xfrm>
            <a:off x="5933566" y="2405815"/>
            <a:ext cx="331862" cy="776438"/>
            <a:chOff x="1392" y="2880"/>
            <a:chExt cx="288" cy="480"/>
          </a:xfrm>
        </p:grpSpPr>
        <p:sp>
          <p:nvSpPr>
            <p:cNvPr id="871" name="Line 77">
              <a:extLst>
                <a:ext uri="{FF2B5EF4-FFF2-40B4-BE49-F238E27FC236}">
                  <a16:creationId xmlns:a16="http://schemas.microsoft.com/office/drawing/2014/main" id="{0B516B46-D414-F92B-9E3E-124A4D1881E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92" y="3072"/>
              <a:ext cx="48" cy="48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872" name="Line 78">
              <a:extLst>
                <a:ext uri="{FF2B5EF4-FFF2-40B4-BE49-F238E27FC236}">
                  <a16:creationId xmlns:a16="http://schemas.microsoft.com/office/drawing/2014/main" id="{79FB3464-2027-0AD1-FF06-0604E719355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392" y="3120"/>
              <a:ext cx="48" cy="48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873" name="Line 79">
              <a:extLst>
                <a:ext uri="{FF2B5EF4-FFF2-40B4-BE49-F238E27FC236}">
                  <a16:creationId xmlns:a16="http://schemas.microsoft.com/office/drawing/2014/main" id="{EAB36F43-2F65-5B5A-7766-28A4C8FBB1C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392" y="2880"/>
              <a:ext cx="0" cy="19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874" name="Line 80">
              <a:extLst>
                <a:ext uri="{FF2B5EF4-FFF2-40B4-BE49-F238E27FC236}">
                  <a16:creationId xmlns:a16="http://schemas.microsoft.com/office/drawing/2014/main" id="{43AEB61C-D010-755F-6BA9-63B4E08005C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392" y="3168"/>
              <a:ext cx="0" cy="19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875" name="Line 81">
              <a:extLst>
                <a:ext uri="{FF2B5EF4-FFF2-40B4-BE49-F238E27FC236}">
                  <a16:creationId xmlns:a16="http://schemas.microsoft.com/office/drawing/2014/main" id="{48734DD8-0CF0-0C79-A41C-CFC627F34CC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392" y="3216"/>
              <a:ext cx="288" cy="144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876" name="Line 82">
              <a:extLst>
                <a:ext uri="{FF2B5EF4-FFF2-40B4-BE49-F238E27FC236}">
                  <a16:creationId xmlns:a16="http://schemas.microsoft.com/office/drawing/2014/main" id="{1F02C4B7-A8C9-D78B-44FB-D03410C2A12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680" y="3024"/>
              <a:ext cx="0" cy="19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877" name="Line 83">
              <a:extLst>
                <a:ext uri="{FF2B5EF4-FFF2-40B4-BE49-F238E27FC236}">
                  <a16:creationId xmlns:a16="http://schemas.microsoft.com/office/drawing/2014/main" id="{6298473C-91DB-B35D-C326-0FEC66AE570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92" y="2880"/>
              <a:ext cx="288" cy="144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</p:grpSp>
      <p:sp>
        <p:nvSpPr>
          <p:cNvPr id="878" name="Text Box 84">
            <a:extLst>
              <a:ext uri="{FF2B5EF4-FFF2-40B4-BE49-F238E27FC236}">
                <a16:creationId xmlns:a16="http://schemas.microsoft.com/office/drawing/2014/main" id="{B24C3B05-76C6-A63F-29DD-4BEF7EAEB41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99676" y="2669721"/>
            <a:ext cx="457146" cy="27698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1425" tIns="45713" rIns="91425" bIns="45713">
            <a:spAutoFit/>
          </a:bodyPr>
          <a:lstStyle>
            <a:lvl1pPr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1pPr>
            <a:lvl2pPr marL="742950" indent="-28575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2pPr>
            <a:lvl3pPr marL="11430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3pPr>
            <a:lvl4pPr marL="16002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4pPr>
            <a:lvl5pPr marL="20574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9pPr>
          </a:lstStyle>
          <a:p>
            <a:r>
              <a:rPr lang="en-US" altLang="zh-CN" sz="1200" b="0" dirty="0">
                <a:latin typeface="Arial" pitchFamily="34" charset="0"/>
                <a:ea typeface="SimHei" panose="02010609060101010101" pitchFamily="49" charset="-122"/>
              </a:rPr>
              <a:t>Add</a:t>
            </a:r>
          </a:p>
        </p:txBody>
      </p:sp>
      <p:sp>
        <p:nvSpPr>
          <p:cNvPr id="879" name="Line 85">
            <a:extLst>
              <a:ext uri="{FF2B5EF4-FFF2-40B4-BE49-F238E27FC236}">
                <a16:creationId xmlns:a16="http://schemas.microsoft.com/office/drawing/2014/main" id="{F4D14E8D-69BB-D34B-F885-A3891C5B9B53}"/>
              </a:ext>
            </a:extLst>
          </p:cNvPr>
          <p:cNvSpPr>
            <a:spLocks noChangeShapeType="1"/>
          </p:cNvSpPr>
          <p:nvPr/>
        </p:nvSpPr>
        <p:spPr bwMode="auto">
          <a:xfrm>
            <a:off x="5093828" y="2969880"/>
            <a:ext cx="850184" cy="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880" name="Rectangle 86">
            <a:extLst>
              <a:ext uri="{FF2B5EF4-FFF2-40B4-BE49-F238E27FC236}">
                <a16:creationId xmlns:a16="http://schemas.microsoft.com/office/drawing/2014/main" id="{858AC2D5-B8E2-7CD0-6D6A-621BE2F5EBF3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15990" y="3272776"/>
            <a:ext cx="1203552" cy="1040999"/>
          </a:xfrm>
          <a:prstGeom prst="rect">
            <a:avLst/>
          </a:prstGeom>
          <a:noFill/>
          <a:ln w="19050">
            <a:solidFill>
              <a:schemeClr val="tx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881" name="Line 87">
            <a:extLst>
              <a:ext uri="{FF2B5EF4-FFF2-40B4-BE49-F238E27FC236}">
                <a16:creationId xmlns:a16="http://schemas.microsoft.com/office/drawing/2014/main" id="{5C4DAEF2-9625-AAED-C329-2C73BE5307C4}"/>
              </a:ext>
            </a:extLst>
          </p:cNvPr>
          <p:cNvSpPr>
            <a:spLocks noChangeShapeType="1"/>
          </p:cNvSpPr>
          <p:nvPr/>
        </p:nvSpPr>
        <p:spPr bwMode="auto">
          <a:xfrm>
            <a:off x="6503600" y="3821762"/>
            <a:ext cx="212392" cy="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882" name="Text Box 88">
            <a:extLst>
              <a:ext uri="{FF2B5EF4-FFF2-40B4-BE49-F238E27FC236}">
                <a16:creationId xmlns:a16="http://schemas.microsoft.com/office/drawing/2014/main" id="{3F979B24-9629-8CF1-2E26-31E2652C01C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712177" y="3272777"/>
            <a:ext cx="830645" cy="52320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1425" tIns="45713" rIns="91425" bIns="45713">
            <a:spAutoFit/>
          </a:bodyPr>
          <a:lstStyle>
            <a:lvl1pPr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1pPr>
            <a:lvl2pPr marL="742950" indent="-28575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2pPr>
            <a:lvl3pPr marL="11430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3pPr>
            <a:lvl4pPr marL="16002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4pPr>
            <a:lvl5pPr marL="20574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9pPr>
          </a:lstStyle>
          <a:p>
            <a:pPr algn="ctr"/>
            <a:r>
              <a:rPr lang="en-US" altLang="zh-CN" sz="1400" b="0" dirty="0">
                <a:latin typeface="Arial" pitchFamily="34" charset="0"/>
                <a:ea typeface="SimHei" panose="02010609060101010101" pitchFamily="49" charset="-122"/>
              </a:rPr>
              <a:t>Data</a:t>
            </a:r>
          </a:p>
          <a:p>
            <a:pPr algn="ctr"/>
            <a:r>
              <a:rPr lang="en-US" altLang="zh-CN" sz="1400" b="0" dirty="0">
                <a:latin typeface="Arial" pitchFamily="34" charset="0"/>
                <a:ea typeface="SimHei" panose="02010609060101010101" pitchFamily="49" charset="-122"/>
              </a:rPr>
              <a:t>Memory</a:t>
            </a:r>
          </a:p>
        </p:txBody>
      </p:sp>
      <p:sp>
        <p:nvSpPr>
          <p:cNvPr id="883" name="Text Box 89">
            <a:extLst>
              <a:ext uri="{FF2B5EF4-FFF2-40B4-BE49-F238E27FC236}">
                <a16:creationId xmlns:a16="http://schemas.microsoft.com/office/drawing/2014/main" id="{F7E1F985-835A-336E-5235-DB3407928BC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645193" y="3692355"/>
            <a:ext cx="747290" cy="27698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1425" tIns="45713" rIns="91425" bIns="45713">
            <a:spAutoFit/>
          </a:bodyPr>
          <a:lstStyle>
            <a:lvl1pPr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1pPr>
            <a:lvl2pPr marL="742950" indent="-28575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2pPr>
            <a:lvl3pPr marL="11430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3pPr>
            <a:lvl4pPr marL="16002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4pPr>
            <a:lvl5pPr marL="20574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9pPr>
          </a:lstStyle>
          <a:p>
            <a:r>
              <a:rPr lang="en-US" altLang="zh-CN" sz="1200" b="0" dirty="0">
                <a:latin typeface="Arial" pitchFamily="34" charset="0"/>
                <a:ea typeface="SimHei" panose="02010609060101010101" pitchFamily="49" charset="-122"/>
              </a:rPr>
              <a:t>Address</a:t>
            </a:r>
          </a:p>
        </p:txBody>
      </p:sp>
      <p:sp>
        <p:nvSpPr>
          <p:cNvPr id="884" name="Text Box 90">
            <a:extLst>
              <a:ext uri="{FF2B5EF4-FFF2-40B4-BE49-F238E27FC236}">
                <a16:creationId xmlns:a16="http://schemas.microsoft.com/office/drawing/2014/main" id="{26033D7E-8F4A-0326-6C78-3EE5ED21F89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645193" y="4015871"/>
            <a:ext cx="908039" cy="27698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1425" tIns="45713" rIns="91425" bIns="45713">
            <a:spAutoFit/>
          </a:bodyPr>
          <a:lstStyle>
            <a:lvl1pPr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1pPr>
            <a:lvl2pPr marL="742950" indent="-28575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2pPr>
            <a:lvl3pPr marL="11430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3pPr>
            <a:lvl4pPr marL="16002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4pPr>
            <a:lvl5pPr marL="20574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9pPr>
          </a:lstStyle>
          <a:p>
            <a:r>
              <a:rPr lang="en-US" altLang="zh-CN" sz="1200" b="0" dirty="0">
                <a:latin typeface="Arial" pitchFamily="34" charset="0"/>
                <a:ea typeface="SimHei" panose="02010609060101010101" pitchFamily="49" charset="-122"/>
              </a:rPr>
              <a:t>Write Data</a:t>
            </a:r>
          </a:p>
        </p:txBody>
      </p:sp>
      <p:sp>
        <p:nvSpPr>
          <p:cNvPr id="885" name="Text Box 91">
            <a:extLst>
              <a:ext uri="{FF2B5EF4-FFF2-40B4-BE49-F238E27FC236}">
                <a16:creationId xmlns:a16="http://schemas.microsoft.com/office/drawing/2014/main" id="{3C4B4C04-8C5D-7BAB-4B8C-97C6023D613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423961" y="3627652"/>
            <a:ext cx="550120" cy="46165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1425" tIns="45713" rIns="91425" bIns="45713">
            <a:spAutoFit/>
          </a:bodyPr>
          <a:lstStyle>
            <a:lvl1pPr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1pPr>
            <a:lvl2pPr marL="742950" indent="-28575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2pPr>
            <a:lvl3pPr marL="11430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3pPr>
            <a:lvl4pPr marL="16002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4pPr>
            <a:lvl5pPr marL="20574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9pPr>
          </a:lstStyle>
          <a:p>
            <a:r>
              <a:rPr lang="en-US" altLang="zh-CN" sz="1200" b="0" dirty="0">
                <a:latin typeface="Arial" pitchFamily="34" charset="0"/>
                <a:ea typeface="SimHei" panose="02010609060101010101" pitchFamily="49" charset="-122"/>
              </a:rPr>
              <a:t>Read</a:t>
            </a:r>
          </a:p>
          <a:p>
            <a:r>
              <a:rPr lang="en-US" altLang="zh-CN" sz="1200" b="0" dirty="0">
                <a:latin typeface="Arial" pitchFamily="34" charset="0"/>
                <a:ea typeface="SimHei" panose="02010609060101010101" pitchFamily="49" charset="-122"/>
              </a:rPr>
              <a:t>Data</a:t>
            </a:r>
          </a:p>
        </p:txBody>
      </p:sp>
      <p:sp>
        <p:nvSpPr>
          <p:cNvPr id="886" name="Line 92">
            <a:extLst>
              <a:ext uri="{FF2B5EF4-FFF2-40B4-BE49-F238E27FC236}">
                <a16:creationId xmlns:a16="http://schemas.microsoft.com/office/drawing/2014/main" id="{562C702D-88B0-F2CD-B8F1-C3F44075EB01}"/>
              </a:ext>
            </a:extLst>
          </p:cNvPr>
          <p:cNvSpPr>
            <a:spLocks noChangeShapeType="1"/>
          </p:cNvSpPr>
          <p:nvPr/>
        </p:nvSpPr>
        <p:spPr bwMode="auto">
          <a:xfrm>
            <a:off x="6500292" y="4145278"/>
            <a:ext cx="215699" cy="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887" name="Line 93">
            <a:extLst>
              <a:ext uri="{FF2B5EF4-FFF2-40B4-BE49-F238E27FC236}">
                <a16:creationId xmlns:a16="http://schemas.microsoft.com/office/drawing/2014/main" id="{AD16E898-0B7E-AE8F-0230-6A7CA08A8471}"/>
              </a:ext>
            </a:extLst>
          </p:cNvPr>
          <p:cNvSpPr>
            <a:spLocks noChangeShapeType="1"/>
          </p:cNvSpPr>
          <p:nvPr/>
        </p:nvSpPr>
        <p:spPr bwMode="auto">
          <a:xfrm>
            <a:off x="8202731" y="4145278"/>
            <a:ext cx="212392" cy="134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888" name="AutoShape 94">
            <a:extLst>
              <a:ext uri="{FF2B5EF4-FFF2-40B4-BE49-F238E27FC236}">
                <a16:creationId xmlns:a16="http://schemas.microsoft.com/office/drawing/2014/main" id="{B064775C-94D0-6D5E-31B5-D37AB8E0C828}"/>
              </a:ext>
            </a:extLst>
          </p:cNvPr>
          <p:cNvSpPr>
            <a:spLocks noChangeArrowheads="1"/>
          </p:cNvSpPr>
          <p:nvPr/>
        </p:nvSpPr>
        <p:spPr bwMode="auto">
          <a:xfrm rot="16200000">
            <a:off x="8230153" y="3877325"/>
            <a:ext cx="582329" cy="212392"/>
          </a:xfrm>
          <a:custGeom>
            <a:avLst/>
            <a:gdLst>
              <a:gd name="T0" fmla="*/ 8 w 21600"/>
              <a:gd name="T1" fmla="*/ 0 h 21600"/>
              <a:gd name="T2" fmla="*/ 4 w 21600"/>
              <a:gd name="T3" fmla="*/ 1 h 21600"/>
              <a:gd name="T4" fmla="*/ 1 w 21600"/>
              <a:gd name="T5" fmla="*/ 0 h 21600"/>
              <a:gd name="T6" fmla="*/ 4 w 21600"/>
              <a:gd name="T7" fmla="*/ 0 h 21600"/>
              <a:gd name="T8" fmla="*/ 0 60000 65536"/>
              <a:gd name="T9" fmla="*/ 0 60000 65536"/>
              <a:gd name="T10" fmla="*/ 0 60000 65536"/>
              <a:gd name="T11" fmla="*/ 0 60000 65536"/>
              <a:gd name="T12" fmla="*/ 4500 w 21600"/>
              <a:gd name="T13" fmla="*/ 4500 h 21600"/>
              <a:gd name="T14" fmla="*/ 17100 w 21600"/>
              <a:gd name="T15" fmla="*/ 17100 h 21600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21600" h="21600">
                <a:moveTo>
                  <a:pt x="0" y="0"/>
                </a:moveTo>
                <a:lnTo>
                  <a:pt x="5400" y="21600"/>
                </a:lnTo>
                <a:lnTo>
                  <a:pt x="16200" y="21600"/>
                </a:lnTo>
                <a:lnTo>
                  <a:pt x="21600" y="0"/>
                </a:lnTo>
                <a:lnTo>
                  <a:pt x="0" y="0"/>
                </a:lnTo>
                <a:close/>
              </a:path>
            </a:pathLst>
          </a:custGeom>
          <a:noFill/>
          <a:ln w="19050">
            <a:solidFill>
              <a:schemeClr val="tx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889" name="Line 98">
            <a:extLst>
              <a:ext uri="{FF2B5EF4-FFF2-40B4-BE49-F238E27FC236}">
                <a16:creationId xmlns:a16="http://schemas.microsoft.com/office/drawing/2014/main" id="{58960EAF-E378-4376-E45E-6AA03A61F64A}"/>
              </a:ext>
            </a:extLst>
          </p:cNvPr>
          <p:cNvSpPr>
            <a:spLocks noChangeShapeType="1"/>
          </p:cNvSpPr>
          <p:nvPr/>
        </p:nvSpPr>
        <p:spPr bwMode="auto">
          <a:xfrm>
            <a:off x="4041604" y="3309289"/>
            <a:ext cx="141594" cy="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890" name="Line 99">
            <a:extLst>
              <a:ext uri="{FF2B5EF4-FFF2-40B4-BE49-F238E27FC236}">
                <a16:creationId xmlns:a16="http://schemas.microsoft.com/office/drawing/2014/main" id="{D1D81F94-C7A1-B744-9C6E-EB9DB9CD1A33}"/>
              </a:ext>
            </a:extLst>
          </p:cNvPr>
          <p:cNvSpPr>
            <a:spLocks noChangeShapeType="1"/>
          </p:cNvSpPr>
          <p:nvPr/>
        </p:nvSpPr>
        <p:spPr bwMode="auto">
          <a:xfrm>
            <a:off x="2625662" y="4209982"/>
            <a:ext cx="0" cy="1290921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891" name="Line 100">
            <a:extLst>
              <a:ext uri="{FF2B5EF4-FFF2-40B4-BE49-F238E27FC236}">
                <a16:creationId xmlns:a16="http://schemas.microsoft.com/office/drawing/2014/main" id="{6C5BB928-781E-E305-E597-3A5BFE3DE9D3}"/>
              </a:ext>
            </a:extLst>
          </p:cNvPr>
          <p:cNvSpPr>
            <a:spLocks noChangeShapeType="1"/>
          </p:cNvSpPr>
          <p:nvPr/>
        </p:nvSpPr>
        <p:spPr bwMode="auto">
          <a:xfrm>
            <a:off x="1917690" y="2657105"/>
            <a:ext cx="212392" cy="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892" name="Line 101">
            <a:extLst>
              <a:ext uri="{FF2B5EF4-FFF2-40B4-BE49-F238E27FC236}">
                <a16:creationId xmlns:a16="http://schemas.microsoft.com/office/drawing/2014/main" id="{215FCCA2-4ECF-6FBF-584F-5229DEE58466}"/>
              </a:ext>
            </a:extLst>
          </p:cNvPr>
          <p:cNvSpPr>
            <a:spLocks noChangeShapeType="1"/>
          </p:cNvSpPr>
          <p:nvPr/>
        </p:nvSpPr>
        <p:spPr bwMode="auto">
          <a:xfrm>
            <a:off x="1209719" y="1815964"/>
            <a:ext cx="849565" cy="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 type="triangle" w="med" len="med"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893" name="Line 102">
            <a:extLst>
              <a:ext uri="{FF2B5EF4-FFF2-40B4-BE49-F238E27FC236}">
                <a16:creationId xmlns:a16="http://schemas.microsoft.com/office/drawing/2014/main" id="{1FD50696-C1E4-8A89-DD6A-C973A4EAE4CA}"/>
              </a:ext>
            </a:extLst>
          </p:cNvPr>
          <p:cNvSpPr>
            <a:spLocks noChangeShapeType="1"/>
          </p:cNvSpPr>
          <p:nvPr/>
        </p:nvSpPr>
        <p:spPr bwMode="auto">
          <a:xfrm>
            <a:off x="2413270" y="3757059"/>
            <a:ext cx="141594" cy="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894" name="Line 103">
            <a:extLst>
              <a:ext uri="{FF2B5EF4-FFF2-40B4-BE49-F238E27FC236}">
                <a16:creationId xmlns:a16="http://schemas.microsoft.com/office/drawing/2014/main" id="{759552DE-276B-71EE-0C2D-7197FA872A2C}"/>
              </a:ext>
            </a:extLst>
          </p:cNvPr>
          <p:cNvSpPr>
            <a:spLocks noChangeShapeType="1"/>
          </p:cNvSpPr>
          <p:nvPr/>
        </p:nvSpPr>
        <p:spPr bwMode="auto">
          <a:xfrm>
            <a:off x="7919542" y="3821762"/>
            <a:ext cx="141267" cy="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895" name="Rectangle 104">
            <a:extLst>
              <a:ext uri="{FF2B5EF4-FFF2-40B4-BE49-F238E27FC236}">
                <a16:creationId xmlns:a16="http://schemas.microsoft.com/office/drawing/2014/main" id="{9C78F10E-91FD-6FC5-680A-C976F86A792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71676" y="2462995"/>
            <a:ext cx="141594" cy="1876391"/>
          </a:xfrm>
          <a:prstGeom prst="rect">
            <a:avLst/>
          </a:prstGeom>
          <a:pattFill prst="wdUpDiag">
            <a:fgClr>
              <a:schemeClr val="bg1">
                <a:lumMod val="75000"/>
              </a:schemeClr>
            </a:fgClr>
            <a:bgClr>
              <a:schemeClr val="bg1"/>
            </a:bgClr>
          </a:pattFill>
          <a:ln w="19050">
            <a:solidFill>
              <a:schemeClr val="tx1"/>
            </a:solidFill>
            <a:miter lim="800000"/>
            <a:headEnd/>
            <a:tailEnd/>
          </a:ln>
          <a:effectLst/>
        </p:spPr>
        <p:txBody>
          <a:bodyPr wrap="none" anchor="ctr"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896" name="Rectangle 105">
            <a:extLst>
              <a:ext uri="{FF2B5EF4-FFF2-40B4-BE49-F238E27FC236}">
                <a16:creationId xmlns:a16="http://schemas.microsoft.com/office/drawing/2014/main" id="{28AA76FB-7CF3-7676-E3DF-F657919933A8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83198" y="2462994"/>
            <a:ext cx="147520" cy="2983021"/>
          </a:xfrm>
          <a:prstGeom prst="rect">
            <a:avLst/>
          </a:prstGeom>
          <a:pattFill prst="wdUpDiag">
            <a:fgClr>
              <a:schemeClr val="bg1">
                <a:lumMod val="75000"/>
              </a:schemeClr>
            </a:fgClr>
            <a:bgClr>
              <a:schemeClr val="bg1"/>
            </a:bgClr>
          </a:pattFill>
          <a:ln w="19050">
            <a:solidFill>
              <a:schemeClr val="tx1"/>
            </a:solidFill>
            <a:miter lim="800000"/>
            <a:headEnd/>
            <a:tailEnd/>
          </a:ln>
          <a:effectLst/>
        </p:spPr>
        <p:txBody>
          <a:bodyPr wrap="none" anchor="ctr"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897" name="Line 106">
            <a:extLst>
              <a:ext uri="{FF2B5EF4-FFF2-40B4-BE49-F238E27FC236}">
                <a16:creationId xmlns:a16="http://schemas.microsoft.com/office/drawing/2014/main" id="{BC6F2D15-4ADE-4C5F-B0AF-CEE321BC687F}"/>
              </a:ext>
            </a:extLst>
          </p:cNvPr>
          <p:cNvSpPr>
            <a:spLocks noChangeShapeType="1"/>
          </p:cNvSpPr>
          <p:nvPr/>
        </p:nvSpPr>
        <p:spPr bwMode="auto">
          <a:xfrm>
            <a:off x="2059284" y="2657105"/>
            <a:ext cx="212392" cy="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898" name="Line 107">
            <a:extLst>
              <a:ext uri="{FF2B5EF4-FFF2-40B4-BE49-F238E27FC236}">
                <a16:creationId xmlns:a16="http://schemas.microsoft.com/office/drawing/2014/main" id="{E73E2FD8-89F5-BBFB-014F-5C74739E1059}"/>
              </a:ext>
            </a:extLst>
          </p:cNvPr>
          <p:cNvSpPr>
            <a:spLocks noChangeShapeType="1"/>
          </p:cNvSpPr>
          <p:nvPr/>
        </p:nvSpPr>
        <p:spPr bwMode="auto">
          <a:xfrm>
            <a:off x="2413270" y="2657105"/>
            <a:ext cx="1769928" cy="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899" name="Line 108">
            <a:extLst>
              <a:ext uri="{FF2B5EF4-FFF2-40B4-BE49-F238E27FC236}">
                <a16:creationId xmlns:a16="http://schemas.microsoft.com/office/drawing/2014/main" id="{FC150673-3367-3A81-AC06-AE626FA4BE6C}"/>
              </a:ext>
            </a:extLst>
          </p:cNvPr>
          <p:cNvSpPr>
            <a:spLocks noChangeShapeType="1"/>
          </p:cNvSpPr>
          <p:nvPr/>
        </p:nvSpPr>
        <p:spPr bwMode="auto">
          <a:xfrm>
            <a:off x="6269084" y="2811271"/>
            <a:ext cx="92922" cy="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900" name="Line 109">
            <a:extLst>
              <a:ext uri="{FF2B5EF4-FFF2-40B4-BE49-F238E27FC236}">
                <a16:creationId xmlns:a16="http://schemas.microsoft.com/office/drawing/2014/main" id="{603FAEC5-5375-5B6F-0557-06CFB4B1AE34}"/>
              </a:ext>
            </a:extLst>
          </p:cNvPr>
          <p:cNvSpPr>
            <a:spLocks noChangeShapeType="1"/>
          </p:cNvSpPr>
          <p:nvPr/>
        </p:nvSpPr>
        <p:spPr bwMode="auto">
          <a:xfrm>
            <a:off x="4324793" y="4792309"/>
            <a:ext cx="100176" cy="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901" name="Line 110">
            <a:extLst>
              <a:ext uri="{FF2B5EF4-FFF2-40B4-BE49-F238E27FC236}">
                <a16:creationId xmlns:a16="http://schemas.microsoft.com/office/drawing/2014/main" id="{8145C1FC-ABB2-C060-0840-3803B17AE97B}"/>
              </a:ext>
            </a:extLst>
          </p:cNvPr>
          <p:cNvSpPr>
            <a:spLocks noChangeShapeType="1"/>
          </p:cNvSpPr>
          <p:nvPr/>
        </p:nvSpPr>
        <p:spPr bwMode="auto">
          <a:xfrm>
            <a:off x="4744617" y="4014681"/>
            <a:ext cx="0" cy="665275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902" name="Line 111">
            <a:extLst>
              <a:ext uri="{FF2B5EF4-FFF2-40B4-BE49-F238E27FC236}">
                <a16:creationId xmlns:a16="http://schemas.microsoft.com/office/drawing/2014/main" id="{73553EC0-FB06-2AF9-02E3-E13BEDE41D38}"/>
              </a:ext>
            </a:extLst>
          </p:cNvPr>
          <p:cNvSpPr>
            <a:spLocks noChangeShapeType="1"/>
          </p:cNvSpPr>
          <p:nvPr/>
        </p:nvSpPr>
        <p:spPr bwMode="auto">
          <a:xfrm>
            <a:off x="4744616" y="4679956"/>
            <a:ext cx="1616973" cy="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903" name="Rectangle 112">
            <a:extLst>
              <a:ext uri="{FF2B5EF4-FFF2-40B4-BE49-F238E27FC236}">
                <a16:creationId xmlns:a16="http://schemas.microsoft.com/office/drawing/2014/main" id="{51E0C661-76A7-A4F2-56CC-5E6D195F5053}"/>
              </a:ext>
            </a:extLst>
          </p:cNvPr>
          <p:cNvSpPr>
            <a:spLocks noChangeArrowheads="1"/>
          </p:cNvSpPr>
          <p:nvPr/>
        </p:nvSpPr>
        <p:spPr bwMode="auto">
          <a:xfrm>
            <a:off x="8061136" y="2980621"/>
            <a:ext cx="141594" cy="2199907"/>
          </a:xfrm>
          <a:prstGeom prst="rect">
            <a:avLst/>
          </a:prstGeom>
          <a:pattFill prst="wdUpDiag">
            <a:fgClr>
              <a:schemeClr val="bg1">
                <a:lumMod val="75000"/>
              </a:schemeClr>
            </a:fgClr>
            <a:bgClr>
              <a:schemeClr val="bg1"/>
            </a:bgClr>
          </a:pattFill>
          <a:ln w="19050">
            <a:solidFill>
              <a:schemeClr val="tx1"/>
            </a:solidFill>
            <a:miter lim="800000"/>
            <a:headEnd/>
            <a:tailEnd/>
          </a:ln>
          <a:effectLst/>
        </p:spPr>
        <p:txBody>
          <a:bodyPr wrap="none" anchor="ctr"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904" name="Line 113">
            <a:extLst>
              <a:ext uri="{FF2B5EF4-FFF2-40B4-BE49-F238E27FC236}">
                <a16:creationId xmlns:a16="http://schemas.microsoft.com/office/drawing/2014/main" id="{A6E1EEC6-726C-0146-3573-6EB2CCF0E20E}"/>
              </a:ext>
            </a:extLst>
          </p:cNvPr>
          <p:cNvSpPr>
            <a:spLocks noChangeShapeType="1"/>
          </p:cNvSpPr>
          <p:nvPr/>
        </p:nvSpPr>
        <p:spPr bwMode="auto">
          <a:xfrm>
            <a:off x="6574396" y="4792309"/>
            <a:ext cx="1486740" cy="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905" name="Line 114">
            <a:extLst>
              <a:ext uri="{FF2B5EF4-FFF2-40B4-BE49-F238E27FC236}">
                <a16:creationId xmlns:a16="http://schemas.microsoft.com/office/drawing/2014/main" id="{988D116C-3860-3935-7546-B80FD6AE2031}"/>
              </a:ext>
            </a:extLst>
          </p:cNvPr>
          <p:cNvSpPr>
            <a:spLocks noChangeShapeType="1"/>
          </p:cNvSpPr>
          <p:nvPr/>
        </p:nvSpPr>
        <p:spPr bwMode="auto">
          <a:xfrm>
            <a:off x="8202731" y="3821762"/>
            <a:ext cx="212392" cy="134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906" name="Line 115">
            <a:extLst>
              <a:ext uri="{FF2B5EF4-FFF2-40B4-BE49-F238E27FC236}">
                <a16:creationId xmlns:a16="http://schemas.microsoft.com/office/drawing/2014/main" id="{35997A91-E5FD-6E95-FAE1-ABF96923F9B0}"/>
              </a:ext>
            </a:extLst>
          </p:cNvPr>
          <p:cNvSpPr>
            <a:spLocks noChangeShapeType="1"/>
          </p:cNvSpPr>
          <p:nvPr/>
        </p:nvSpPr>
        <p:spPr bwMode="auto">
          <a:xfrm>
            <a:off x="8769107" y="3951169"/>
            <a:ext cx="0" cy="1549734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907" name="Line 116">
            <a:extLst>
              <a:ext uri="{FF2B5EF4-FFF2-40B4-BE49-F238E27FC236}">
                <a16:creationId xmlns:a16="http://schemas.microsoft.com/office/drawing/2014/main" id="{C5348E8B-0348-A5F9-FF0C-7C4884245676}"/>
              </a:ext>
            </a:extLst>
          </p:cNvPr>
          <p:cNvSpPr>
            <a:spLocks noChangeShapeType="1"/>
          </p:cNvSpPr>
          <p:nvPr/>
        </p:nvSpPr>
        <p:spPr bwMode="auto">
          <a:xfrm>
            <a:off x="6715990" y="1557153"/>
            <a:ext cx="0" cy="1263435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908" name="Line 117">
            <a:extLst>
              <a:ext uri="{FF2B5EF4-FFF2-40B4-BE49-F238E27FC236}">
                <a16:creationId xmlns:a16="http://schemas.microsoft.com/office/drawing/2014/main" id="{46D8A93F-2C4B-4CDC-0731-5D7B30435EA1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362004" y="4145278"/>
            <a:ext cx="141594" cy="647031"/>
          </a:xfrm>
          <a:prstGeom prst="line">
            <a:avLst/>
          </a:prstGeom>
          <a:noFill/>
          <a:ln w="28575" cap="rnd">
            <a:solidFill>
              <a:schemeClr val="accent2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909" name="Line 118">
            <a:extLst>
              <a:ext uri="{FF2B5EF4-FFF2-40B4-BE49-F238E27FC236}">
                <a16:creationId xmlns:a16="http://schemas.microsoft.com/office/drawing/2014/main" id="{6EE292C0-2CB4-AE1F-8C34-3E7EB4827690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8061136" y="4145278"/>
            <a:ext cx="141594" cy="647031"/>
          </a:xfrm>
          <a:prstGeom prst="line">
            <a:avLst/>
          </a:prstGeom>
          <a:noFill/>
          <a:ln w="28575" cap="rnd">
            <a:solidFill>
              <a:schemeClr val="tx1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910" name="Text Box 119">
            <a:extLst>
              <a:ext uri="{FF2B5EF4-FFF2-40B4-BE49-F238E27FC236}">
                <a16:creationId xmlns:a16="http://schemas.microsoft.com/office/drawing/2014/main" id="{2FC39E95-532B-9503-D1C9-EDF17D20B43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130082" y="2204183"/>
            <a:ext cx="519664" cy="27698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1425" tIns="45713" rIns="91425" bIns="45713">
            <a:spAutoFit/>
          </a:bodyPr>
          <a:lstStyle>
            <a:lvl1pPr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1pPr>
            <a:lvl2pPr marL="742950" indent="-28575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2pPr>
            <a:lvl3pPr marL="11430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3pPr>
            <a:lvl4pPr marL="16002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4pPr>
            <a:lvl5pPr marL="20574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9pPr>
          </a:lstStyle>
          <a:p>
            <a:r>
              <a:rPr lang="en-US" altLang="zh-CN" sz="1200" b="0" dirty="0">
                <a:latin typeface="Arial" pitchFamily="34" charset="0"/>
                <a:ea typeface="SimHei" panose="02010609060101010101" pitchFamily="49" charset="-122"/>
              </a:rPr>
              <a:t>IF/ID</a:t>
            </a:r>
          </a:p>
        </p:txBody>
      </p:sp>
      <p:sp>
        <p:nvSpPr>
          <p:cNvPr id="911" name="Line 120">
            <a:extLst>
              <a:ext uri="{FF2B5EF4-FFF2-40B4-BE49-F238E27FC236}">
                <a16:creationId xmlns:a16="http://schemas.microsoft.com/office/drawing/2014/main" id="{D69B5AAD-46BA-4EA1-633F-ECE7DDCF510D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424969" y="2973428"/>
            <a:ext cx="0" cy="136595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912" name="Line 121">
            <a:extLst>
              <a:ext uri="{FF2B5EF4-FFF2-40B4-BE49-F238E27FC236}">
                <a16:creationId xmlns:a16="http://schemas.microsoft.com/office/drawing/2014/main" id="{B9FD0495-3233-17D6-46AB-E3A4F14FA830}"/>
              </a:ext>
            </a:extLst>
          </p:cNvPr>
          <p:cNvSpPr>
            <a:spLocks noChangeShapeType="1"/>
          </p:cNvSpPr>
          <p:nvPr/>
        </p:nvSpPr>
        <p:spPr bwMode="auto">
          <a:xfrm>
            <a:off x="3651698" y="4792309"/>
            <a:ext cx="531502" cy="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913" name="Line 122">
            <a:extLst>
              <a:ext uri="{FF2B5EF4-FFF2-40B4-BE49-F238E27FC236}">
                <a16:creationId xmlns:a16="http://schemas.microsoft.com/office/drawing/2014/main" id="{69CA3836-6002-4323-7D81-3D995B8D8CC1}"/>
              </a:ext>
            </a:extLst>
          </p:cNvPr>
          <p:cNvSpPr>
            <a:spLocks noChangeShapeType="1"/>
          </p:cNvSpPr>
          <p:nvPr/>
        </p:nvSpPr>
        <p:spPr bwMode="auto">
          <a:xfrm>
            <a:off x="4324793" y="2657105"/>
            <a:ext cx="1608030" cy="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914" name="Line 123">
            <a:extLst>
              <a:ext uri="{FF2B5EF4-FFF2-40B4-BE49-F238E27FC236}">
                <a16:creationId xmlns:a16="http://schemas.microsoft.com/office/drawing/2014/main" id="{0531B367-14E4-9425-519A-87E50641BDCB}"/>
              </a:ext>
            </a:extLst>
          </p:cNvPr>
          <p:cNvSpPr>
            <a:spLocks noChangeShapeType="1"/>
          </p:cNvSpPr>
          <p:nvPr/>
        </p:nvSpPr>
        <p:spPr bwMode="auto">
          <a:xfrm>
            <a:off x="2059284" y="1815964"/>
            <a:ext cx="0" cy="841141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915" name="Line 124">
            <a:extLst>
              <a:ext uri="{FF2B5EF4-FFF2-40B4-BE49-F238E27FC236}">
                <a16:creationId xmlns:a16="http://schemas.microsoft.com/office/drawing/2014/main" id="{3CD65969-4F6A-0E2B-DE31-D09767701FB5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149614" y="3135008"/>
            <a:ext cx="0" cy="36323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916" name="Line 125">
            <a:extLst>
              <a:ext uri="{FF2B5EF4-FFF2-40B4-BE49-F238E27FC236}">
                <a16:creationId xmlns:a16="http://schemas.microsoft.com/office/drawing/2014/main" id="{8924828F-9CEB-E847-E22E-847C4DA57031}"/>
              </a:ext>
            </a:extLst>
          </p:cNvPr>
          <p:cNvSpPr>
            <a:spLocks noChangeShapeType="1"/>
          </p:cNvSpPr>
          <p:nvPr/>
        </p:nvSpPr>
        <p:spPr bwMode="auto">
          <a:xfrm>
            <a:off x="714139" y="2398293"/>
            <a:ext cx="0" cy="135876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917" name="Rectangle 126">
            <a:extLst>
              <a:ext uri="{FF2B5EF4-FFF2-40B4-BE49-F238E27FC236}">
                <a16:creationId xmlns:a16="http://schemas.microsoft.com/office/drawing/2014/main" id="{F275EAA1-A749-FF22-FF8C-8FBFD2521D0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62004" y="2462995"/>
            <a:ext cx="141594" cy="2717533"/>
          </a:xfrm>
          <a:prstGeom prst="rect">
            <a:avLst/>
          </a:prstGeom>
          <a:pattFill prst="wdUpDiag">
            <a:fgClr>
              <a:schemeClr val="bg1">
                <a:lumMod val="75000"/>
              </a:schemeClr>
            </a:fgClr>
            <a:bgClr>
              <a:schemeClr val="bg1"/>
            </a:bgClr>
          </a:pattFill>
          <a:ln w="19050">
            <a:solidFill>
              <a:schemeClr val="tx1"/>
            </a:solidFill>
            <a:miter lim="800000"/>
            <a:headEnd/>
            <a:tailEnd/>
          </a:ln>
          <a:effectLst/>
        </p:spPr>
        <p:txBody>
          <a:bodyPr wrap="none" anchor="ctr"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918" name="Oval 127">
            <a:extLst>
              <a:ext uri="{FF2B5EF4-FFF2-40B4-BE49-F238E27FC236}">
                <a16:creationId xmlns:a16="http://schemas.microsoft.com/office/drawing/2014/main" id="{EB0C10D3-B647-0308-3A25-312136AADDC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08850" y="4598200"/>
            <a:ext cx="755170" cy="388219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919" name="Rectangle 128">
            <a:extLst>
              <a:ext uri="{FF2B5EF4-FFF2-40B4-BE49-F238E27FC236}">
                <a16:creationId xmlns:a16="http://schemas.microsoft.com/office/drawing/2014/main" id="{F3658FC9-3326-4C93-2716-26E78D84C6C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50444" y="4598200"/>
            <a:ext cx="495580" cy="38821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19047" tIns="26984" rIns="19047" bIns="26984"/>
          <a:lstStyle/>
          <a:p>
            <a:pPr algn="ctr" eaLnBrk="0" hangingPunct="0"/>
            <a:r>
              <a:rPr lang="en-US" altLang="zh-CN" sz="1200" dirty="0" err="1">
                <a:solidFill>
                  <a:srgbClr val="000000"/>
                </a:solidFill>
                <a:latin typeface="Arial" pitchFamily="34" charset="0"/>
                <a:ea typeface="SimHei" panose="02010609060101010101" pitchFamily="49" charset="-122"/>
              </a:rPr>
              <a:t>Imm</a:t>
            </a:r>
            <a:endParaRPr lang="en-US" altLang="zh-CN" sz="1200" dirty="0">
              <a:solidFill>
                <a:srgbClr val="000000"/>
              </a:solidFill>
              <a:latin typeface="Arial" pitchFamily="34" charset="0"/>
              <a:ea typeface="SimHei" panose="02010609060101010101" pitchFamily="49" charset="-122"/>
            </a:endParaRPr>
          </a:p>
          <a:p>
            <a:pPr algn="ctr" eaLnBrk="0" hangingPunct="0"/>
            <a:r>
              <a:rPr lang="en-US" altLang="zh-CN" sz="1200" dirty="0">
                <a:solidFill>
                  <a:srgbClr val="000000"/>
                </a:solidFill>
                <a:latin typeface="Arial" pitchFamily="34" charset="0"/>
                <a:ea typeface="SimHei" panose="02010609060101010101" pitchFamily="49" charset="-122"/>
              </a:rPr>
              <a:t>Extend</a:t>
            </a:r>
          </a:p>
        </p:txBody>
      </p:sp>
      <p:sp>
        <p:nvSpPr>
          <p:cNvPr id="920" name="Line 129">
            <a:extLst>
              <a:ext uri="{FF2B5EF4-FFF2-40B4-BE49-F238E27FC236}">
                <a16:creationId xmlns:a16="http://schemas.microsoft.com/office/drawing/2014/main" id="{0B238B51-7A7F-723A-70C2-ABC584E0A3FB}"/>
              </a:ext>
            </a:extLst>
          </p:cNvPr>
          <p:cNvSpPr>
            <a:spLocks noChangeShapeType="1"/>
          </p:cNvSpPr>
          <p:nvPr/>
        </p:nvSpPr>
        <p:spPr bwMode="auto">
          <a:xfrm>
            <a:off x="6503599" y="2811271"/>
            <a:ext cx="212392" cy="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921" name="Line 130">
            <a:extLst>
              <a:ext uri="{FF2B5EF4-FFF2-40B4-BE49-F238E27FC236}">
                <a16:creationId xmlns:a16="http://schemas.microsoft.com/office/drawing/2014/main" id="{0AF72FA2-1ED8-989C-084E-E75998EAA43B}"/>
              </a:ext>
            </a:extLst>
          </p:cNvPr>
          <p:cNvSpPr>
            <a:spLocks noChangeShapeType="1"/>
          </p:cNvSpPr>
          <p:nvPr/>
        </p:nvSpPr>
        <p:spPr bwMode="auto">
          <a:xfrm>
            <a:off x="6149614" y="3135009"/>
            <a:ext cx="212392" cy="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922" name="Line 131">
            <a:extLst>
              <a:ext uri="{FF2B5EF4-FFF2-40B4-BE49-F238E27FC236}">
                <a16:creationId xmlns:a16="http://schemas.microsoft.com/office/drawing/2014/main" id="{A5ED0BD6-A61D-CC77-6728-8427D86BBD2A}"/>
              </a:ext>
            </a:extLst>
          </p:cNvPr>
          <p:cNvSpPr>
            <a:spLocks noChangeShapeType="1"/>
          </p:cNvSpPr>
          <p:nvPr/>
        </p:nvSpPr>
        <p:spPr bwMode="auto">
          <a:xfrm>
            <a:off x="6503598" y="3135009"/>
            <a:ext cx="664387" cy="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 type="none" w="med" len="med"/>
            <a:tailEnd type="non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923" name="Line 132">
            <a:extLst>
              <a:ext uri="{FF2B5EF4-FFF2-40B4-BE49-F238E27FC236}">
                <a16:creationId xmlns:a16="http://schemas.microsoft.com/office/drawing/2014/main" id="{1A0F9A0A-F2D7-20CF-AFF5-CD5007A80C46}"/>
              </a:ext>
            </a:extLst>
          </p:cNvPr>
          <p:cNvSpPr>
            <a:spLocks noChangeShapeType="1"/>
          </p:cNvSpPr>
          <p:nvPr/>
        </p:nvSpPr>
        <p:spPr bwMode="auto">
          <a:xfrm>
            <a:off x="6574396" y="3821762"/>
            <a:ext cx="0" cy="97054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924" name="Text Box 133">
            <a:extLst>
              <a:ext uri="{FF2B5EF4-FFF2-40B4-BE49-F238E27FC236}">
                <a16:creationId xmlns:a16="http://schemas.microsoft.com/office/drawing/2014/main" id="{97C26EE0-D6ED-C554-5078-A137712BAFE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70807" y="1686557"/>
            <a:ext cx="586990" cy="27698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1425" tIns="45713" rIns="91425" bIns="45713">
            <a:spAutoFit/>
          </a:bodyPr>
          <a:lstStyle>
            <a:lvl1pPr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1pPr>
            <a:lvl2pPr marL="742950" indent="-28575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2pPr>
            <a:lvl3pPr marL="11430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3pPr>
            <a:lvl4pPr marL="16002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4pPr>
            <a:lvl5pPr marL="20574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9pPr>
          </a:lstStyle>
          <a:p>
            <a:r>
              <a:rPr lang="en-US" altLang="zh-CN" sz="1200" b="0" dirty="0">
                <a:latin typeface="Arial" pitchFamily="34" charset="0"/>
                <a:ea typeface="SimHei" panose="02010609060101010101" pitchFamily="49" charset="-122"/>
              </a:rPr>
              <a:t>ID/EX</a:t>
            </a:r>
          </a:p>
        </p:txBody>
      </p:sp>
      <p:sp>
        <p:nvSpPr>
          <p:cNvPr id="925" name="Text Box 134">
            <a:extLst>
              <a:ext uri="{FF2B5EF4-FFF2-40B4-BE49-F238E27FC236}">
                <a16:creationId xmlns:a16="http://schemas.microsoft.com/office/drawing/2014/main" id="{FA6BC173-2BB8-FC00-16D0-E67F457B8B7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008019" y="1841576"/>
            <a:ext cx="792174" cy="27698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1425" tIns="45713" rIns="91425" bIns="45713">
            <a:spAutoFit/>
          </a:bodyPr>
          <a:lstStyle>
            <a:lvl1pPr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1pPr>
            <a:lvl2pPr marL="742950" indent="-28575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2pPr>
            <a:lvl3pPr marL="11430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3pPr>
            <a:lvl4pPr marL="16002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4pPr>
            <a:lvl5pPr marL="20574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9pPr>
          </a:lstStyle>
          <a:p>
            <a:r>
              <a:rPr lang="en-US" altLang="zh-CN" sz="1200" b="0" dirty="0">
                <a:latin typeface="Arial" pitchFamily="34" charset="0"/>
                <a:ea typeface="SimHei" panose="02010609060101010101" pitchFamily="49" charset="-122"/>
              </a:rPr>
              <a:t>EX/MEM</a:t>
            </a:r>
          </a:p>
        </p:txBody>
      </p:sp>
      <p:sp>
        <p:nvSpPr>
          <p:cNvPr id="926" name="Text Box 135">
            <a:extLst>
              <a:ext uri="{FF2B5EF4-FFF2-40B4-BE49-F238E27FC236}">
                <a16:creationId xmlns:a16="http://schemas.microsoft.com/office/drawing/2014/main" id="{0DA5F0E9-BDE3-34E4-F7EC-E5665625E67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77947" y="2535787"/>
            <a:ext cx="835455" cy="27698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1425" tIns="45713" rIns="91425" bIns="45713">
            <a:spAutoFit/>
          </a:bodyPr>
          <a:lstStyle>
            <a:lvl1pPr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1pPr>
            <a:lvl2pPr marL="742950" indent="-28575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2pPr>
            <a:lvl3pPr marL="11430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3pPr>
            <a:lvl4pPr marL="16002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4pPr>
            <a:lvl5pPr marL="20574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9pPr>
          </a:lstStyle>
          <a:p>
            <a:r>
              <a:rPr lang="en-US" altLang="zh-CN" sz="1200" b="0" dirty="0">
                <a:latin typeface="Arial" pitchFamily="34" charset="0"/>
                <a:ea typeface="SimHei" panose="02010609060101010101" pitchFamily="49" charset="-122"/>
              </a:rPr>
              <a:t>MEM/WB</a:t>
            </a:r>
          </a:p>
        </p:txBody>
      </p:sp>
      <p:sp>
        <p:nvSpPr>
          <p:cNvPr id="927" name="Rectangle 137">
            <a:extLst>
              <a:ext uri="{FF2B5EF4-FFF2-40B4-BE49-F238E27FC236}">
                <a16:creationId xmlns:a16="http://schemas.microsoft.com/office/drawing/2014/main" id="{887CC8DB-8FA3-A313-A068-C21894BD2B88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86104" y="2265750"/>
            <a:ext cx="141602" cy="194121"/>
          </a:xfrm>
          <a:prstGeom prst="rect">
            <a:avLst/>
          </a:prstGeom>
          <a:pattFill prst="wdUpDiag">
            <a:fgClr>
              <a:schemeClr val="accent6">
                <a:lumMod val="40000"/>
                <a:lumOff val="60000"/>
              </a:schemeClr>
            </a:fgClr>
            <a:bgClr>
              <a:schemeClr val="bg1"/>
            </a:bgClr>
          </a:pattFill>
          <a:ln w="19050">
            <a:solidFill>
              <a:srgbClr val="00B050"/>
            </a:solidFill>
            <a:miter lim="800000"/>
            <a:headEnd/>
            <a:tailEnd/>
          </a:ln>
          <a:effectLst/>
        </p:spPr>
        <p:txBody>
          <a:bodyPr wrap="none" anchor="ctr"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928" name="Rectangle 138">
            <a:extLst>
              <a:ext uri="{FF2B5EF4-FFF2-40B4-BE49-F238E27FC236}">
                <a16:creationId xmlns:a16="http://schemas.microsoft.com/office/drawing/2014/main" id="{E0EB03A5-3578-EC4E-FFAC-4F9294B537F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86104" y="2071628"/>
            <a:ext cx="141602" cy="194121"/>
          </a:xfrm>
          <a:prstGeom prst="rect">
            <a:avLst/>
          </a:prstGeom>
          <a:pattFill prst="wdUpDiag">
            <a:fgClr>
              <a:schemeClr val="accent6">
                <a:lumMod val="40000"/>
                <a:lumOff val="60000"/>
              </a:schemeClr>
            </a:fgClr>
            <a:bgClr>
              <a:schemeClr val="bg1"/>
            </a:bgClr>
          </a:pattFill>
          <a:ln w="19050">
            <a:solidFill>
              <a:srgbClr val="00B050"/>
            </a:solidFill>
            <a:miter lim="800000"/>
            <a:headEnd/>
            <a:tailEnd/>
          </a:ln>
          <a:effectLst/>
        </p:spPr>
        <p:txBody>
          <a:bodyPr wrap="none" anchor="ctr"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929" name="Rectangle 139">
            <a:extLst>
              <a:ext uri="{FF2B5EF4-FFF2-40B4-BE49-F238E27FC236}">
                <a16:creationId xmlns:a16="http://schemas.microsoft.com/office/drawing/2014/main" id="{362CEE8C-48CC-17DB-E966-7574BBB41E28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86104" y="1877507"/>
            <a:ext cx="141602" cy="194121"/>
          </a:xfrm>
          <a:prstGeom prst="rect">
            <a:avLst/>
          </a:prstGeom>
          <a:pattFill prst="wdUpDiag">
            <a:fgClr>
              <a:schemeClr val="accent6">
                <a:lumMod val="40000"/>
                <a:lumOff val="60000"/>
              </a:schemeClr>
            </a:fgClr>
            <a:bgClr>
              <a:schemeClr val="bg1"/>
            </a:bgClr>
          </a:pattFill>
          <a:ln w="19050">
            <a:solidFill>
              <a:srgbClr val="00B050"/>
            </a:solidFill>
            <a:miter lim="800000"/>
            <a:headEnd/>
            <a:tailEnd/>
          </a:ln>
          <a:effectLst/>
        </p:spPr>
        <p:txBody>
          <a:bodyPr wrap="none" anchor="ctr"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930" name="Rectangle 140">
            <a:extLst>
              <a:ext uri="{FF2B5EF4-FFF2-40B4-BE49-F238E27FC236}">
                <a16:creationId xmlns:a16="http://schemas.microsoft.com/office/drawing/2014/main" id="{8442A4CE-E886-2EAB-2FC5-F335350B76D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61590" y="2261462"/>
            <a:ext cx="141602" cy="194121"/>
          </a:xfrm>
          <a:prstGeom prst="rect">
            <a:avLst/>
          </a:prstGeom>
          <a:pattFill prst="wdUpDiag">
            <a:fgClr>
              <a:schemeClr val="accent6">
                <a:lumMod val="40000"/>
                <a:lumOff val="60000"/>
              </a:schemeClr>
            </a:fgClr>
            <a:bgClr>
              <a:schemeClr val="bg1"/>
            </a:bgClr>
          </a:pattFill>
          <a:ln w="19050">
            <a:solidFill>
              <a:srgbClr val="00B050"/>
            </a:solidFill>
            <a:miter lim="800000"/>
            <a:headEnd/>
            <a:tailEnd/>
          </a:ln>
          <a:effectLst/>
        </p:spPr>
        <p:txBody>
          <a:bodyPr wrap="none" anchor="ctr"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931" name="Rectangle 141">
            <a:extLst>
              <a:ext uri="{FF2B5EF4-FFF2-40B4-BE49-F238E27FC236}">
                <a16:creationId xmlns:a16="http://schemas.microsoft.com/office/drawing/2014/main" id="{26972028-8721-47DF-F258-05D955FE50E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61590" y="2067340"/>
            <a:ext cx="141602" cy="194121"/>
          </a:xfrm>
          <a:prstGeom prst="rect">
            <a:avLst/>
          </a:prstGeom>
          <a:pattFill prst="wdUpDiag">
            <a:fgClr>
              <a:schemeClr val="accent6">
                <a:lumMod val="40000"/>
                <a:lumOff val="60000"/>
              </a:schemeClr>
            </a:fgClr>
            <a:bgClr>
              <a:schemeClr val="bg1"/>
            </a:bgClr>
          </a:pattFill>
          <a:ln w="19050">
            <a:solidFill>
              <a:srgbClr val="00B050"/>
            </a:solidFill>
            <a:miter lim="800000"/>
            <a:headEnd/>
            <a:tailEnd/>
          </a:ln>
          <a:effectLst/>
        </p:spPr>
        <p:txBody>
          <a:bodyPr wrap="none" anchor="ctr"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932" name="Rectangle 142">
            <a:extLst>
              <a:ext uri="{FF2B5EF4-FFF2-40B4-BE49-F238E27FC236}">
                <a16:creationId xmlns:a16="http://schemas.microsoft.com/office/drawing/2014/main" id="{AB8A5638-6634-EC52-FE81-860527B0CC72}"/>
              </a:ext>
            </a:extLst>
          </p:cNvPr>
          <p:cNvSpPr>
            <a:spLocks noChangeArrowheads="1"/>
          </p:cNvSpPr>
          <p:nvPr/>
        </p:nvSpPr>
        <p:spPr bwMode="auto">
          <a:xfrm>
            <a:off x="8060809" y="2779308"/>
            <a:ext cx="141602" cy="194121"/>
          </a:xfrm>
          <a:prstGeom prst="rect">
            <a:avLst/>
          </a:prstGeom>
          <a:pattFill prst="wdUpDiag">
            <a:fgClr>
              <a:schemeClr val="accent6">
                <a:lumMod val="40000"/>
                <a:lumOff val="60000"/>
              </a:schemeClr>
            </a:fgClr>
            <a:bgClr>
              <a:schemeClr val="bg1"/>
            </a:bgClr>
          </a:pattFill>
          <a:ln w="19050">
            <a:solidFill>
              <a:srgbClr val="00B050"/>
            </a:solidFill>
            <a:miter lim="800000"/>
            <a:headEnd/>
            <a:tailEnd/>
          </a:ln>
          <a:effectLst/>
        </p:spPr>
        <p:txBody>
          <a:bodyPr wrap="none" anchor="ctr"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933" name="Rectangle 143">
            <a:extLst>
              <a:ext uri="{FF2B5EF4-FFF2-40B4-BE49-F238E27FC236}">
                <a16:creationId xmlns:a16="http://schemas.microsoft.com/office/drawing/2014/main" id="{9A8F9BB0-0BCE-482D-4916-28A327B024B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08790" y="2083503"/>
            <a:ext cx="495606" cy="25882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19047" tIns="26984" rIns="19047" bIns="26984"/>
          <a:lstStyle/>
          <a:p>
            <a:pPr algn="ctr" eaLnBrk="0" hangingPunct="0"/>
            <a:r>
              <a:rPr lang="en-US" altLang="zh-CN" sz="1200" dirty="0">
                <a:solidFill>
                  <a:srgbClr val="00B050"/>
                </a:solidFill>
                <a:latin typeface="Arial" pitchFamily="34" charset="0"/>
                <a:ea typeface="SimHei" panose="02010609060101010101" pitchFamily="49" charset="-122"/>
              </a:rPr>
              <a:t>Control</a:t>
            </a:r>
          </a:p>
        </p:txBody>
      </p:sp>
      <p:sp>
        <p:nvSpPr>
          <p:cNvPr id="934" name="Oval 144">
            <a:extLst>
              <a:ext uri="{FF2B5EF4-FFF2-40B4-BE49-F238E27FC236}">
                <a16:creationId xmlns:a16="http://schemas.microsoft.com/office/drawing/2014/main" id="{4E07C9DA-54EF-8FD2-3269-AB4026F114A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72705" y="1925080"/>
            <a:ext cx="583741" cy="587588"/>
          </a:xfrm>
          <a:prstGeom prst="ellipse">
            <a:avLst/>
          </a:prstGeom>
          <a:noFill/>
          <a:ln w="19050">
            <a:solidFill>
              <a:srgbClr val="00B05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935" name="Line 145">
            <a:extLst>
              <a:ext uri="{FF2B5EF4-FFF2-40B4-BE49-F238E27FC236}">
                <a16:creationId xmlns:a16="http://schemas.microsoft.com/office/drawing/2014/main" id="{4D165508-5866-9209-18A9-C4C5A6954CDE}"/>
              </a:ext>
            </a:extLst>
          </p:cNvPr>
          <p:cNvSpPr>
            <a:spLocks noChangeShapeType="1"/>
          </p:cNvSpPr>
          <p:nvPr/>
        </p:nvSpPr>
        <p:spPr bwMode="auto">
          <a:xfrm>
            <a:off x="2554285" y="2408225"/>
            <a:ext cx="0" cy="841192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936" name="Line 146">
            <a:extLst>
              <a:ext uri="{FF2B5EF4-FFF2-40B4-BE49-F238E27FC236}">
                <a16:creationId xmlns:a16="http://schemas.microsoft.com/office/drawing/2014/main" id="{EBCD2F84-B4AA-4B2D-FF65-69E7B1D40E56}"/>
              </a:ext>
            </a:extLst>
          </p:cNvPr>
          <p:cNvSpPr>
            <a:spLocks noChangeShapeType="1"/>
          </p:cNvSpPr>
          <p:nvPr/>
        </p:nvSpPr>
        <p:spPr bwMode="auto">
          <a:xfrm>
            <a:off x="2554285" y="2408225"/>
            <a:ext cx="687836" cy="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937" name="Line 147">
            <a:extLst>
              <a:ext uri="{FF2B5EF4-FFF2-40B4-BE49-F238E27FC236}">
                <a16:creationId xmlns:a16="http://schemas.microsoft.com/office/drawing/2014/main" id="{C6B5FBDC-BBBF-D850-FC34-B7E08FBAE06E}"/>
              </a:ext>
            </a:extLst>
          </p:cNvPr>
          <p:cNvSpPr>
            <a:spLocks noChangeShapeType="1"/>
          </p:cNvSpPr>
          <p:nvPr/>
        </p:nvSpPr>
        <p:spPr bwMode="auto">
          <a:xfrm>
            <a:off x="3617590" y="1970280"/>
            <a:ext cx="565114" cy="0"/>
          </a:xfrm>
          <a:prstGeom prst="line">
            <a:avLst/>
          </a:prstGeom>
          <a:noFill/>
          <a:ln w="12700">
            <a:solidFill>
              <a:srgbClr val="00B05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938" name="Line 148">
            <a:extLst>
              <a:ext uri="{FF2B5EF4-FFF2-40B4-BE49-F238E27FC236}">
                <a16:creationId xmlns:a16="http://schemas.microsoft.com/office/drawing/2014/main" id="{7F2BBF09-EA44-4B63-5427-CA8B974202B3}"/>
              </a:ext>
            </a:extLst>
          </p:cNvPr>
          <p:cNvSpPr>
            <a:spLocks noChangeShapeType="1"/>
          </p:cNvSpPr>
          <p:nvPr/>
        </p:nvSpPr>
        <p:spPr bwMode="auto">
          <a:xfrm>
            <a:off x="3757899" y="2164401"/>
            <a:ext cx="424805" cy="0"/>
          </a:xfrm>
          <a:prstGeom prst="line">
            <a:avLst/>
          </a:prstGeom>
          <a:noFill/>
          <a:ln w="12700">
            <a:solidFill>
              <a:srgbClr val="00B05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939" name="Line 149">
            <a:extLst>
              <a:ext uri="{FF2B5EF4-FFF2-40B4-BE49-F238E27FC236}">
                <a16:creationId xmlns:a16="http://schemas.microsoft.com/office/drawing/2014/main" id="{0C1227EB-896B-B3C5-F10C-08ABF9CC8B8B}"/>
              </a:ext>
            </a:extLst>
          </p:cNvPr>
          <p:cNvSpPr>
            <a:spLocks noChangeShapeType="1"/>
          </p:cNvSpPr>
          <p:nvPr/>
        </p:nvSpPr>
        <p:spPr bwMode="auto">
          <a:xfrm>
            <a:off x="3722499" y="2358523"/>
            <a:ext cx="460205" cy="0"/>
          </a:xfrm>
          <a:prstGeom prst="line">
            <a:avLst/>
          </a:prstGeom>
          <a:noFill/>
          <a:ln w="12700">
            <a:solidFill>
              <a:srgbClr val="00B05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940" name="Line 150">
            <a:extLst>
              <a:ext uri="{FF2B5EF4-FFF2-40B4-BE49-F238E27FC236}">
                <a16:creationId xmlns:a16="http://schemas.microsoft.com/office/drawing/2014/main" id="{DD2CF030-0B4B-D199-6605-62F21ABF5030}"/>
              </a:ext>
            </a:extLst>
          </p:cNvPr>
          <p:cNvSpPr>
            <a:spLocks noChangeShapeType="1"/>
          </p:cNvSpPr>
          <p:nvPr/>
        </p:nvSpPr>
        <p:spPr bwMode="auto">
          <a:xfrm>
            <a:off x="6503192" y="2358523"/>
            <a:ext cx="1557618" cy="452950"/>
          </a:xfrm>
          <a:prstGeom prst="line">
            <a:avLst/>
          </a:prstGeom>
          <a:noFill/>
          <a:ln w="12700">
            <a:solidFill>
              <a:srgbClr val="00B05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941" name="Line 151">
            <a:extLst>
              <a:ext uri="{FF2B5EF4-FFF2-40B4-BE49-F238E27FC236}">
                <a16:creationId xmlns:a16="http://schemas.microsoft.com/office/drawing/2014/main" id="{D763A0A0-E838-C312-F411-8EED04D79583}"/>
              </a:ext>
            </a:extLst>
          </p:cNvPr>
          <p:cNvSpPr>
            <a:spLocks noChangeShapeType="1"/>
          </p:cNvSpPr>
          <p:nvPr/>
        </p:nvSpPr>
        <p:spPr bwMode="auto">
          <a:xfrm>
            <a:off x="4324305" y="2358523"/>
            <a:ext cx="2049466" cy="0"/>
          </a:xfrm>
          <a:prstGeom prst="line">
            <a:avLst/>
          </a:prstGeom>
          <a:noFill/>
          <a:ln w="12700">
            <a:solidFill>
              <a:srgbClr val="00B05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942" name="Line 152">
            <a:extLst>
              <a:ext uri="{FF2B5EF4-FFF2-40B4-BE49-F238E27FC236}">
                <a16:creationId xmlns:a16="http://schemas.microsoft.com/office/drawing/2014/main" id="{52F42EAE-2726-FC7D-46E8-D2B4378814C2}"/>
              </a:ext>
            </a:extLst>
          </p:cNvPr>
          <p:cNvSpPr>
            <a:spLocks noChangeShapeType="1"/>
          </p:cNvSpPr>
          <p:nvPr/>
        </p:nvSpPr>
        <p:spPr bwMode="auto">
          <a:xfrm>
            <a:off x="4324305" y="2164401"/>
            <a:ext cx="2037285" cy="0"/>
          </a:xfrm>
          <a:prstGeom prst="line">
            <a:avLst/>
          </a:prstGeom>
          <a:noFill/>
          <a:ln w="12700">
            <a:solidFill>
              <a:srgbClr val="00B05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943" name="Line 154">
            <a:extLst>
              <a:ext uri="{FF2B5EF4-FFF2-40B4-BE49-F238E27FC236}">
                <a16:creationId xmlns:a16="http://schemas.microsoft.com/office/drawing/2014/main" id="{5C97A7CC-ECCF-A97C-A0EE-143F7D9BDF9D}"/>
              </a:ext>
            </a:extLst>
          </p:cNvPr>
          <p:cNvSpPr>
            <a:spLocks noChangeShapeType="1"/>
          </p:cNvSpPr>
          <p:nvPr/>
        </p:nvSpPr>
        <p:spPr bwMode="auto">
          <a:xfrm>
            <a:off x="8556415" y="2876181"/>
            <a:ext cx="0" cy="258828"/>
          </a:xfrm>
          <a:prstGeom prst="line">
            <a:avLst/>
          </a:prstGeom>
          <a:noFill/>
          <a:ln w="12700">
            <a:solidFill>
              <a:srgbClr val="00B05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944" name="Line 155">
            <a:extLst>
              <a:ext uri="{FF2B5EF4-FFF2-40B4-BE49-F238E27FC236}">
                <a16:creationId xmlns:a16="http://schemas.microsoft.com/office/drawing/2014/main" id="{2BE1EEF3-BDFA-8DF6-7A43-9EB646B8789A}"/>
              </a:ext>
            </a:extLst>
          </p:cNvPr>
          <p:cNvSpPr>
            <a:spLocks noChangeShapeType="1"/>
          </p:cNvSpPr>
          <p:nvPr/>
        </p:nvSpPr>
        <p:spPr bwMode="auto">
          <a:xfrm>
            <a:off x="6503192" y="2164401"/>
            <a:ext cx="323304" cy="0"/>
          </a:xfrm>
          <a:prstGeom prst="line">
            <a:avLst/>
          </a:prstGeom>
          <a:noFill/>
          <a:ln w="12700">
            <a:solidFill>
              <a:srgbClr val="00B05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945" name="Line 156">
            <a:extLst>
              <a:ext uri="{FF2B5EF4-FFF2-40B4-BE49-F238E27FC236}">
                <a16:creationId xmlns:a16="http://schemas.microsoft.com/office/drawing/2014/main" id="{29AE140C-6E3A-BBC3-A971-B5815E34F327}"/>
              </a:ext>
            </a:extLst>
          </p:cNvPr>
          <p:cNvSpPr>
            <a:spLocks noChangeShapeType="1"/>
          </p:cNvSpPr>
          <p:nvPr/>
        </p:nvSpPr>
        <p:spPr bwMode="auto">
          <a:xfrm>
            <a:off x="8202411" y="2876181"/>
            <a:ext cx="354004" cy="0"/>
          </a:xfrm>
          <a:prstGeom prst="line">
            <a:avLst/>
          </a:prstGeom>
          <a:noFill/>
          <a:ln w="12700">
            <a:solidFill>
              <a:srgbClr val="00B05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946" name="Line 157">
            <a:extLst>
              <a:ext uri="{FF2B5EF4-FFF2-40B4-BE49-F238E27FC236}">
                <a16:creationId xmlns:a16="http://schemas.microsoft.com/office/drawing/2014/main" id="{28A036D7-F307-716E-3975-805292C3ECF5}"/>
              </a:ext>
            </a:extLst>
          </p:cNvPr>
          <p:cNvSpPr>
            <a:spLocks noChangeShapeType="1"/>
          </p:cNvSpPr>
          <p:nvPr/>
        </p:nvSpPr>
        <p:spPr bwMode="auto">
          <a:xfrm>
            <a:off x="6826496" y="2164400"/>
            <a:ext cx="0" cy="129414"/>
          </a:xfrm>
          <a:prstGeom prst="line">
            <a:avLst/>
          </a:prstGeom>
          <a:noFill/>
          <a:ln w="12700">
            <a:solidFill>
              <a:srgbClr val="00B05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947" name="Rectangle 40">
            <a:extLst>
              <a:ext uri="{FF2B5EF4-FFF2-40B4-BE49-F238E27FC236}">
                <a16:creationId xmlns:a16="http://schemas.microsoft.com/office/drawing/2014/main" id="{6B860708-2555-7660-D7E9-69C6128284D3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8428416" y="3724707"/>
            <a:ext cx="148229" cy="57136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19047" tIns="26984" rIns="19047" bIns="26984"/>
          <a:lstStyle/>
          <a:p>
            <a:pPr eaLnBrk="0" hangingPunct="0">
              <a:spcBef>
                <a:spcPts val="600"/>
              </a:spcBef>
              <a:spcAft>
                <a:spcPts val="600"/>
              </a:spcAft>
            </a:pPr>
            <a:r>
              <a:rPr lang="en-US" altLang="zh-CN" sz="1200" dirty="0">
                <a:latin typeface="Arial" pitchFamily="34" charset="0"/>
                <a:ea typeface="SimHei" panose="02010609060101010101" pitchFamily="49" charset="-122"/>
              </a:rPr>
              <a:t>1</a:t>
            </a:r>
          </a:p>
          <a:p>
            <a:pPr eaLnBrk="0" hangingPunct="0">
              <a:spcBef>
                <a:spcPts val="600"/>
              </a:spcBef>
              <a:spcAft>
                <a:spcPts val="600"/>
              </a:spcAft>
            </a:pPr>
            <a:r>
              <a:rPr lang="en-US" altLang="zh-CN" sz="1200" dirty="0">
                <a:latin typeface="Arial" pitchFamily="34" charset="0"/>
                <a:ea typeface="SimHei" panose="02010609060101010101" pitchFamily="49" charset="-122"/>
              </a:rPr>
              <a:t>0</a:t>
            </a:r>
          </a:p>
        </p:txBody>
      </p:sp>
      <p:sp>
        <p:nvSpPr>
          <p:cNvPr id="948" name="Line 118">
            <a:extLst>
              <a:ext uri="{FF2B5EF4-FFF2-40B4-BE49-F238E27FC236}">
                <a16:creationId xmlns:a16="http://schemas.microsoft.com/office/drawing/2014/main" id="{7FB4ECA3-096E-C52C-8EA6-755FC46C9E1B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368281" y="4166220"/>
            <a:ext cx="115611" cy="525875"/>
          </a:xfrm>
          <a:prstGeom prst="line">
            <a:avLst/>
          </a:prstGeom>
          <a:noFill/>
          <a:ln w="28575" cap="rnd">
            <a:solidFill>
              <a:schemeClr val="tx1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949" name="Line 13">
            <a:extLst>
              <a:ext uri="{FF2B5EF4-FFF2-40B4-BE49-F238E27FC236}">
                <a16:creationId xmlns:a16="http://schemas.microsoft.com/office/drawing/2014/main" id="{1169BB41-B5C2-71BB-6BED-748E6F96B904}"/>
              </a:ext>
            </a:extLst>
          </p:cNvPr>
          <p:cNvSpPr>
            <a:spLocks noChangeShapeType="1"/>
          </p:cNvSpPr>
          <p:nvPr/>
        </p:nvSpPr>
        <p:spPr bwMode="auto">
          <a:xfrm>
            <a:off x="8627513" y="3951169"/>
            <a:ext cx="141594" cy="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950" name="Line 110">
            <a:extLst>
              <a:ext uri="{FF2B5EF4-FFF2-40B4-BE49-F238E27FC236}">
                <a16:creationId xmlns:a16="http://schemas.microsoft.com/office/drawing/2014/main" id="{574259D2-10AB-84BD-9FE9-7A5BC6ED3181}"/>
              </a:ext>
            </a:extLst>
          </p:cNvPr>
          <p:cNvSpPr>
            <a:spLocks noChangeShapeType="1"/>
          </p:cNvSpPr>
          <p:nvPr/>
        </p:nvSpPr>
        <p:spPr bwMode="auto">
          <a:xfrm>
            <a:off x="2554285" y="5051121"/>
            <a:ext cx="0" cy="220715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951" name="Line 8">
            <a:extLst>
              <a:ext uri="{FF2B5EF4-FFF2-40B4-BE49-F238E27FC236}">
                <a16:creationId xmlns:a16="http://schemas.microsoft.com/office/drawing/2014/main" id="{CC37153E-02AC-6951-85F5-B64385B7573E}"/>
              </a:ext>
            </a:extLst>
          </p:cNvPr>
          <p:cNvSpPr>
            <a:spLocks noChangeShapeType="1"/>
          </p:cNvSpPr>
          <p:nvPr/>
        </p:nvSpPr>
        <p:spPr bwMode="auto">
          <a:xfrm>
            <a:off x="2554285" y="5268566"/>
            <a:ext cx="1628334" cy="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952" name="Line 9">
            <a:extLst>
              <a:ext uri="{FF2B5EF4-FFF2-40B4-BE49-F238E27FC236}">
                <a16:creationId xmlns:a16="http://schemas.microsoft.com/office/drawing/2014/main" id="{318C1701-21AA-B4D9-DB70-1A7750B9EFA4}"/>
              </a:ext>
            </a:extLst>
          </p:cNvPr>
          <p:cNvSpPr>
            <a:spLocks noChangeShapeType="1"/>
          </p:cNvSpPr>
          <p:nvPr/>
        </p:nvSpPr>
        <p:spPr bwMode="auto">
          <a:xfrm>
            <a:off x="4330717" y="5268566"/>
            <a:ext cx="1602106" cy="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953" name="AutoShape 67">
            <a:extLst>
              <a:ext uri="{FF2B5EF4-FFF2-40B4-BE49-F238E27FC236}">
                <a16:creationId xmlns:a16="http://schemas.microsoft.com/office/drawing/2014/main" id="{02739A05-B4DB-C691-21A3-70DB72A06EDC}"/>
              </a:ext>
            </a:extLst>
          </p:cNvPr>
          <p:cNvSpPr>
            <a:spLocks noChangeArrowheads="1"/>
          </p:cNvSpPr>
          <p:nvPr/>
        </p:nvSpPr>
        <p:spPr bwMode="auto">
          <a:xfrm rot="16200000">
            <a:off x="5775075" y="5004310"/>
            <a:ext cx="527012" cy="220622"/>
          </a:xfrm>
          <a:custGeom>
            <a:avLst/>
            <a:gdLst>
              <a:gd name="T0" fmla="*/ 9 w 21600"/>
              <a:gd name="T1" fmla="*/ 0 h 21600"/>
              <a:gd name="T2" fmla="*/ 5 w 21600"/>
              <a:gd name="T3" fmla="*/ 1 h 21600"/>
              <a:gd name="T4" fmla="*/ 1 w 21600"/>
              <a:gd name="T5" fmla="*/ 0 h 21600"/>
              <a:gd name="T6" fmla="*/ 5 w 21600"/>
              <a:gd name="T7" fmla="*/ 0 h 21600"/>
              <a:gd name="T8" fmla="*/ 0 60000 65536"/>
              <a:gd name="T9" fmla="*/ 0 60000 65536"/>
              <a:gd name="T10" fmla="*/ 0 60000 65536"/>
              <a:gd name="T11" fmla="*/ 0 60000 65536"/>
              <a:gd name="T12" fmla="*/ 4500 w 21600"/>
              <a:gd name="T13" fmla="*/ 4500 h 21600"/>
              <a:gd name="T14" fmla="*/ 17100 w 21600"/>
              <a:gd name="T15" fmla="*/ 17100 h 21600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21600" h="21600">
                <a:moveTo>
                  <a:pt x="0" y="0"/>
                </a:moveTo>
                <a:lnTo>
                  <a:pt x="5400" y="21600"/>
                </a:lnTo>
                <a:lnTo>
                  <a:pt x="16200" y="21600"/>
                </a:lnTo>
                <a:lnTo>
                  <a:pt x="21600" y="0"/>
                </a:lnTo>
                <a:lnTo>
                  <a:pt x="0" y="0"/>
                </a:lnTo>
                <a:close/>
              </a:path>
            </a:pathLst>
          </a:custGeom>
          <a:noFill/>
          <a:ln w="19050">
            <a:solidFill>
              <a:schemeClr val="tx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954" name="Rectangle 70">
            <a:extLst>
              <a:ext uri="{FF2B5EF4-FFF2-40B4-BE49-F238E27FC236}">
                <a16:creationId xmlns:a16="http://schemas.microsoft.com/office/drawing/2014/main" id="{FBC5C126-E656-6460-F1CD-D36A33F50B69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23285" y="4842130"/>
            <a:ext cx="110574" cy="56437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19047" tIns="26984" rIns="19047" bIns="26984"/>
          <a:lstStyle/>
          <a:p>
            <a:pPr eaLnBrk="0" hangingPunct="0">
              <a:spcBef>
                <a:spcPts val="600"/>
              </a:spcBef>
              <a:spcAft>
                <a:spcPts val="600"/>
              </a:spcAft>
            </a:pPr>
            <a:r>
              <a:rPr lang="en-US" altLang="zh-CN" sz="1200" dirty="0">
                <a:latin typeface="Arial" pitchFamily="34" charset="0"/>
                <a:ea typeface="SimHei" panose="02010609060101010101" pitchFamily="49" charset="-122"/>
              </a:rPr>
              <a:t>0</a:t>
            </a:r>
          </a:p>
          <a:p>
            <a:pPr eaLnBrk="0" hangingPunct="0">
              <a:spcBef>
                <a:spcPts val="600"/>
              </a:spcBef>
              <a:spcAft>
                <a:spcPts val="600"/>
              </a:spcAft>
            </a:pPr>
            <a:r>
              <a:rPr lang="en-US" altLang="zh-CN" sz="1200" dirty="0">
                <a:latin typeface="Arial" pitchFamily="34" charset="0"/>
                <a:ea typeface="SimHei" panose="02010609060101010101" pitchFamily="49" charset="-122"/>
              </a:rPr>
              <a:t>1</a:t>
            </a:r>
          </a:p>
        </p:txBody>
      </p:sp>
      <p:sp>
        <p:nvSpPr>
          <p:cNvPr id="955" name="Line 10">
            <a:extLst>
              <a:ext uri="{FF2B5EF4-FFF2-40B4-BE49-F238E27FC236}">
                <a16:creationId xmlns:a16="http://schemas.microsoft.com/office/drawing/2014/main" id="{A5CC1169-C1F1-8B6E-259C-1FE2B7DD90F9}"/>
              </a:ext>
            </a:extLst>
          </p:cNvPr>
          <p:cNvSpPr>
            <a:spLocks noChangeShapeType="1"/>
          </p:cNvSpPr>
          <p:nvPr/>
        </p:nvSpPr>
        <p:spPr bwMode="auto">
          <a:xfrm>
            <a:off x="6155497" y="5051121"/>
            <a:ext cx="200625" cy="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956" name="Line 153">
            <a:extLst>
              <a:ext uri="{FF2B5EF4-FFF2-40B4-BE49-F238E27FC236}">
                <a16:creationId xmlns:a16="http://schemas.microsoft.com/office/drawing/2014/main" id="{D5C036C1-077C-8C46-2C43-287C7ED4058F}"/>
              </a:ext>
            </a:extLst>
          </p:cNvPr>
          <p:cNvSpPr>
            <a:spLocks noChangeShapeType="1"/>
          </p:cNvSpPr>
          <p:nvPr/>
        </p:nvSpPr>
        <p:spPr bwMode="auto">
          <a:xfrm>
            <a:off x="3617590" y="2462274"/>
            <a:ext cx="312768" cy="0"/>
          </a:xfrm>
          <a:prstGeom prst="line">
            <a:avLst/>
          </a:prstGeom>
          <a:noFill/>
          <a:ln w="12700">
            <a:solidFill>
              <a:srgbClr val="00B05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957" name="Line 158">
            <a:extLst>
              <a:ext uri="{FF2B5EF4-FFF2-40B4-BE49-F238E27FC236}">
                <a16:creationId xmlns:a16="http://schemas.microsoft.com/office/drawing/2014/main" id="{E983C4A4-AEA1-5D6C-0728-DB784DABE234}"/>
              </a:ext>
            </a:extLst>
          </p:cNvPr>
          <p:cNvSpPr>
            <a:spLocks noChangeShapeType="1"/>
          </p:cNvSpPr>
          <p:nvPr/>
        </p:nvSpPr>
        <p:spPr bwMode="auto">
          <a:xfrm>
            <a:off x="3926629" y="2460861"/>
            <a:ext cx="0" cy="109724"/>
          </a:xfrm>
          <a:prstGeom prst="line">
            <a:avLst/>
          </a:prstGeom>
          <a:noFill/>
          <a:ln w="12700">
            <a:solidFill>
              <a:srgbClr val="00B05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958" name="Text Box 30">
            <a:extLst>
              <a:ext uri="{FF2B5EF4-FFF2-40B4-BE49-F238E27FC236}">
                <a16:creationId xmlns:a16="http://schemas.microsoft.com/office/drawing/2014/main" id="{899829E5-ED18-65C9-1BF0-518B5E4684A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22383" y="2928858"/>
            <a:ext cx="500428" cy="27698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1425" tIns="45713" rIns="91425" bIns="45713">
            <a:spAutoFit/>
          </a:bodyPr>
          <a:lstStyle>
            <a:lvl1pPr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1pPr>
            <a:lvl2pPr marL="742950" indent="-28575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2pPr>
            <a:lvl3pPr marL="11430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3pPr>
            <a:lvl4pPr marL="16002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4pPr>
            <a:lvl5pPr marL="20574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9pPr>
          </a:lstStyle>
          <a:p>
            <a:r>
              <a:rPr lang="en-US" altLang="zh-CN" sz="1200" b="0" dirty="0">
                <a:latin typeface="Arial" pitchFamily="34" charset="0"/>
                <a:ea typeface="SimHei" panose="02010609060101010101" pitchFamily="49" charset="-122"/>
              </a:rPr>
              <a:t>Zero</a:t>
            </a:r>
          </a:p>
        </p:txBody>
      </p:sp>
      <p:sp>
        <p:nvSpPr>
          <p:cNvPr id="959" name="流程图: 延期 958">
            <a:extLst>
              <a:ext uri="{FF2B5EF4-FFF2-40B4-BE49-F238E27FC236}">
                <a16:creationId xmlns:a16="http://schemas.microsoft.com/office/drawing/2014/main" id="{91DEB91B-DC67-1BF6-73D2-68A893A33D06}"/>
              </a:ext>
            </a:extLst>
          </p:cNvPr>
          <p:cNvSpPr/>
          <p:nvPr/>
        </p:nvSpPr>
        <p:spPr>
          <a:xfrm rot="16200000">
            <a:off x="7073458" y="1609120"/>
            <a:ext cx="384834" cy="355717"/>
          </a:xfrm>
          <a:prstGeom prst="flowChartDelay">
            <a:avLst/>
          </a:prstGeom>
          <a:noFill/>
          <a:ln w="19050"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960" name="Line 124">
            <a:extLst>
              <a:ext uri="{FF2B5EF4-FFF2-40B4-BE49-F238E27FC236}">
                <a16:creationId xmlns:a16="http://schemas.microsoft.com/office/drawing/2014/main" id="{0F95764A-4271-58E2-897D-BF27D6D4AC4D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7167985" y="1982780"/>
            <a:ext cx="0" cy="115222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 type="none" w="med" len="med"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961" name="Line 124">
            <a:extLst>
              <a:ext uri="{FF2B5EF4-FFF2-40B4-BE49-F238E27FC236}">
                <a16:creationId xmlns:a16="http://schemas.microsoft.com/office/drawing/2014/main" id="{D4CD7477-E81A-8A7A-5FD3-948B33305387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7341420" y="1978731"/>
            <a:ext cx="0" cy="250376"/>
          </a:xfrm>
          <a:prstGeom prst="line">
            <a:avLst/>
          </a:prstGeom>
          <a:noFill/>
          <a:ln w="12700">
            <a:solidFill>
              <a:srgbClr val="00B050"/>
            </a:solidFill>
            <a:round/>
            <a:headEnd type="none" w="med" len="med"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962" name="Text Box 30">
            <a:extLst>
              <a:ext uri="{FF2B5EF4-FFF2-40B4-BE49-F238E27FC236}">
                <a16:creationId xmlns:a16="http://schemas.microsoft.com/office/drawing/2014/main" id="{7C0AB2D9-F417-61DC-C2D8-59D77FFEE0A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287565" y="2107113"/>
            <a:ext cx="670346" cy="27698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1425" tIns="45713" rIns="91425" bIns="45713">
            <a:spAutoFit/>
          </a:bodyPr>
          <a:lstStyle>
            <a:lvl1pPr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1pPr>
            <a:lvl2pPr marL="742950" indent="-28575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2pPr>
            <a:lvl3pPr marL="11430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3pPr>
            <a:lvl4pPr marL="16002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4pPr>
            <a:lvl5pPr marL="20574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9pPr>
          </a:lstStyle>
          <a:p>
            <a:r>
              <a:rPr lang="en-US" altLang="zh-CN" sz="1200" b="0" dirty="0">
                <a:solidFill>
                  <a:srgbClr val="00B050"/>
                </a:solidFill>
                <a:latin typeface="Arial" pitchFamily="34" charset="0"/>
                <a:ea typeface="SimHei" panose="02010609060101010101" pitchFamily="49" charset="-122"/>
              </a:rPr>
              <a:t>Branch</a:t>
            </a:r>
          </a:p>
        </p:txBody>
      </p:sp>
      <p:sp>
        <p:nvSpPr>
          <p:cNvPr id="963" name="Line 153">
            <a:extLst>
              <a:ext uri="{FF2B5EF4-FFF2-40B4-BE49-F238E27FC236}">
                <a16:creationId xmlns:a16="http://schemas.microsoft.com/office/drawing/2014/main" id="{0E391973-8D32-8A5C-B426-101AEE54312D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422769" y="2876181"/>
            <a:ext cx="0" cy="231357"/>
          </a:xfrm>
          <a:prstGeom prst="line">
            <a:avLst/>
          </a:prstGeom>
          <a:noFill/>
          <a:ln w="12700">
            <a:solidFill>
              <a:srgbClr val="00B05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964" name="Text Box 30">
            <a:extLst>
              <a:ext uri="{FF2B5EF4-FFF2-40B4-BE49-F238E27FC236}">
                <a16:creationId xmlns:a16="http://schemas.microsoft.com/office/drawing/2014/main" id="{45FF8B1D-5F1F-F6AD-E08C-4ED181B464A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79449" y="2737305"/>
            <a:ext cx="659574" cy="27698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1425" tIns="45713" rIns="91425" bIns="45713">
            <a:spAutoFit/>
          </a:bodyPr>
          <a:lstStyle>
            <a:lvl1pPr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1pPr>
            <a:lvl2pPr marL="742950" indent="-28575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2pPr>
            <a:lvl3pPr marL="11430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3pPr>
            <a:lvl4pPr marL="16002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4pPr>
            <a:lvl5pPr marL="20574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9pPr>
          </a:lstStyle>
          <a:p>
            <a:r>
              <a:rPr lang="en-US" altLang="zh-CN" sz="1200" b="0" dirty="0" err="1">
                <a:solidFill>
                  <a:srgbClr val="00B050"/>
                </a:solidFill>
                <a:latin typeface="Arial" pitchFamily="34" charset="0"/>
                <a:ea typeface="SimHei" panose="02010609060101010101" pitchFamily="49" charset="-122"/>
              </a:rPr>
              <a:t>RegWr</a:t>
            </a:r>
            <a:endParaRPr lang="en-US" altLang="zh-CN" sz="1200" b="0" dirty="0">
              <a:solidFill>
                <a:srgbClr val="00B050"/>
              </a:solidFill>
              <a:latin typeface="Arial" pitchFamily="34" charset="0"/>
              <a:ea typeface="SimHei" panose="02010609060101010101" pitchFamily="49" charset="-122"/>
            </a:endParaRPr>
          </a:p>
        </p:txBody>
      </p:sp>
      <p:sp>
        <p:nvSpPr>
          <p:cNvPr id="965" name="Line 153">
            <a:extLst>
              <a:ext uri="{FF2B5EF4-FFF2-40B4-BE49-F238E27FC236}">
                <a16:creationId xmlns:a16="http://schemas.microsoft.com/office/drawing/2014/main" id="{0C2A64CC-902C-EFEE-3A85-32BC341E43B3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7267595" y="1357840"/>
            <a:ext cx="0" cy="236722"/>
          </a:xfrm>
          <a:prstGeom prst="line">
            <a:avLst/>
          </a:prstGeom>
          <a:noFill/>
          <a:ln w="12700">
            <a:solidFill>
              <a:srgbClr val="00B05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966" name="Line 153">
            <a:extLst>
              <a:ext uri="{FF2B5EF4-FFF2-40B4-BE49-F238E27FC236}">
                <a16:creationId xmlns:a16="http://schemas.microsoft.com/office/drawing/2014/main" id="{1A251E86-DB25-3DDA-DA8F-633C01CE575F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1070295" y="1357838"/>
            <a:ext cx="6195579" cy="0"/>
          </a:xfrm>
          <a:prstGeom prst="line">
            <a:avLst/>
          </a:prstGeom>
          <a:noFill/>
          <a:ln w="12700">
            <a:solidFill>
              <a:srgbClr val="00B05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967" name="Line 153">
            <a:extLst>
              <a:ext uri="{FF2B5EF4-FFF2-40B4-BE49-F238E27FC236}">
                <a16:creationId xmlns:a16="http://schemas.microsoft.com/office/drawing/2014/main" id="{96CDE736-8F73-A7D7-3CA3-07A0737B5384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1070295" y="1357837"/>
            <a:ext cx="0" cy="162025"/>
          </a:xfrm>
          <a:prstGeom prst="line">
            <a:avLst/>
          </a:prstGeom>
          <a:noFill/>
          <a:ln w="12700">
            <a:solidFill>
              <a:srgbClr val="00B05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968" name="Text Box 30">
            <a:extLst>
              <a:ext uri="{FF2B5EF4-FFF2-40B4-BE49-F238E27FC236}">
                <a16:creationId xmlns:a16="http://schemas.microsoft.com/office/drawing/2014/main" id="{05FB3548-894A-AC45-1AE2-ED65420E5D3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617950" y="1139506"/>
            <a:ext cx="628668" cy="27698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1425" tIns="45713" rIns="91425" bIns="45713">
            <a:spAutoFit/>
          </a:bodyPr>
          <a:lstStyle>
            <a:lvl1pPr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1pPr>
            <a:lvl2pPr marL="742950" indent="-28575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2pPr>
            <a:lvl3pPr marL="11430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3pPr>
            <a:lvl4pPr marL="16002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4pPr>
            <a:lvl5pPr marL="20574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9pPr>
          </a:lstStyle>
          <a:p>
            <a:r>
              <a:rPr lang="en-US" altLang="zh-CN" sz="1200" b="0" dirty="0" err="1">
                <a:solidFill>
                  <a:srgbClr val="00B050"/>
                </a:solidFill>
                <a:latin typeface="Arial" pitchFamily="34" charset="0"/>
                <a:ea typeface="SimHei" panose="02010609060101010101" pitchFamily="49" charset="-122"/>
              </a:rPr>
              <a:t>PCSrc</a:t>
            </a:r>
            <a:endParaRPr lang="en-US" altLang="zh-CN" sz="1200" b="0" dirty="0">
              <a:solidFill>
                <a:srgbClr val="00B050"/>
              </a:solidFill>
              <a:latin typeface="Arial" pitchFamily="34" charset="0"/>
              <a:ea typeface="SimHei" panose="02010609060101010101" pitchFamily="49" charset="-122"/>
            </a:endParaRPr>
          </a:p>
        </p:txBody>
      </p:sp>
      <p:sp>
        <p:nvSpPr>
          <p:cNvPr id="969" name="Line 153">
            <a:extLst>
              <a:ext uri="{FF2B5EF4-FFF2-40B4-BE49-F238E27FC236}">
                <a16:creationId xmlns:a16="http://schemas.microsoft.com/office/drawing/2014/main" id="{915CC217-58A4-9E12-3018-68A8A33DEB77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054193" y="4842130"/>
            <a:ext cx="0" cy="84457"/>
          </a:xfrm>
          <a:prstGeom prst="line">
            <a:avLst/>
          </a:prstGeom>
          <a:noFill/>
          <a:ln w="12700">
            <a:solidFill>
              <a:srgbClr val="00B05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970" name="Text Box 30">
            <a:extLst>
              <a:ext uri="{FF2B5EF4-FFF2-40B4-BE49-F238E27FC236}">
                <a16:creationId xmlns:a16="http://schemas.microsoft.com/office/drawing/2014/main" id="{58612E64-C5BF-2A50-C6D7-7E91F35E985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702976" y="4646032"/>
            <a:ext cx="695994" cy="27698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1425" tIns="45713" rIns="91425" bIns="45713">
            <a:spAutoFit/>
          </a:bodyPr>
          <a:lstStyle>
            <a:lvl1pPr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1pPr>
            <a:lvl2pPr marL="742950" indent="-28575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2pPr>
            <a:lvl3pPr marL="11430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3pPr>
            <a:lvl4pPr marL="16002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4pPr>
            <a:lvl5pPr marL="20574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9pPr>
          </a:lstStyle>
          <a:p>
            <a:r>
              <a:rPr lang="en-US" altLang="zh-CN" sz="1200" b="0" dirty="0" err="1">
                <a:solidFill>
                  <a:srgbClr val="00B050"/>
                </a:solidFill>
                <a:latin typeface="Arial" pitchFamily="34" charset="0"/>
                <a:ea typeface="SimHei" panose="02010609060101010101" pitchFamily="49" charset="-122"/>
              </a:rPr>
              <a:t>RegDst</a:t>
            </a:r>
            <a:endParaRPr lang="en-US" altLang="zh-CN" sz="1200" b="0" dirty="0">
              <a:solidFill>
                <a:srgbClr val="00B050"/>
              </a:solidFill>
              <a:latin typeface="Arial" pitchFamily="34" charset="0"/>
              <a:ea typeface="SimHei" panose="02010609060101010101" pitchFamily="49" charset="-122"/>
            </a:endParaRPr>
          </a:p>
        </p:txBody>
      </p:sp>
      <p:sp>
        <p:nvSpPr>
          <p:cNvPr id="971" name="Line 153">
            <a:extLst>
              <a:ext uri="{FF2B5EF4-FFF2-40B4-BE49-F238E27FC236}">
                <a16:creationId xmlns:a16="http://schemas.microsoft.com/office/drawing/2014/main" id="{E4B07890-BFD9-5524-A721-AB38C0B09BB2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909169" y="4309516"/>
            <a:ext cx="0" cy="288684"/>
          </a:xfrm>
          <a:prstGeom prst="line">
            <a:avLst/>
          </a:prstGeom>
          <a:noFill/>
          <a:ln w="12700">
            <a:solidFill>
              <a:srgbClr val="00B05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972" name="Line 153">
            <a:extLst>
              <a:ext uri="{FF2B5EF4-FFF2-40B4-BE49-F238E27FC236}">
                <a16:creationId xmlns:a16="http://schemas.microsoft.com/office/drawing/2014/main" id="{E2367A4A-BEE4-E9B4-A5F8-2C263E0B0599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7763235" y="4323104"/>
            <a:ext cx="0" cy="288684"/>
          </a:xfrm>
          <a:prstGeom prst="line">
            <a:avLst/>
          </a:prstGeom>
          <a:noFill/>
          <a:ln w="12700">
            <a:solidFill>
              <a:srgbClr val="00B05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973" name="Text Box 30">
            <a:extLst>
              <a:ext uri="{FF2B5EF4-FFF2-40B4-BE49-F238E27FC236}">
                <a16:creationId xmlns:a16="http://schemas.microsoft.com/office/drawing/2014/main" id="{154A5962-1701-63AA-79B1-B4C24063302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22383" y="4516987"/>
            <a:ext cx="891560" cy="27698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1425" tIns="45713" rIns="91425" bIns="45713">
            <a:spAutoFit/>
          </a:bodyPr>
          <a:lstStyle>
            <a:lvl1pPr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1pPr>
            <a:lvl2pPr marL="742950" indent="-28575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2pPr>
            <a:lvl3pPr marL="11430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3pPr>
            <a:lvl4pPr marL="16002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4pPr>
            <a:lvl5pPr marL="20574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9pPr>
          </a:lstStyle>
          <a:p>
            <a:r>
              <a:rPr lang="en-US" altLang="zh-CN" sz="1200" b="0" dirty="0" err="1">
                <a:solidFill>
                  <a:srgbClr val="00B050"/>
                </a:solidFill>
                <a:latin typeface="Arial" pitchFamily="34" charset="0"/>
                <a:ea typeface="SimHei" panose="02010609060101010101" pitchFamily="49" charset="-122"/>
              </a:rPr>
              <a:t>MemRead</a:t>
            </a:r>
            <a:endParaRPr lang="en-US" altLang="zh-CN" sz="1200" b="0" dirty="0">
              <a:solidFill>
                <a:srgbClr val="00B050"/>
              </a:solidFill>
              <a:latin typeface="Arial" pitchFamily="34" charset="0"/>
              <a:ea typeface="SimHei" panose="02010609060101010101" pitchFamily="49" charset="-122"/>
            </a:endParaRPr>
          </a:p>
        </p:txBody>
      </p:sp>
      <p:sp>
        <p:nvSpPr>
          <p:cNvPr id="974" name="Text Box 30">
            <a:extLst>
              <a:ext uri="{FF2B5EF4-FFF2-40B4-BE49-F238E27FC236}">
                <a16:creationId xmlns:a16="http://schemas.microsoft.com/office/drawing/2014/main" id="{8D67F754-3C02-5194-11A2-E2313929670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89468" y="4518593"/>
            <a:ext cx="720488" cy="27698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1425" tIns="45713" rIns="91425" bIns="45713">
            <a:spAutoFit/>
          </a:bodyPr>
          <a:lstStyle>
            <a:lvl1pPr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1pPr>
            <a:lvl2pPr marL="742950" indent="-28575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2pPr>
            <a:lvl3pPr marL="11430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3pPr>
            <a:lvl4pPr marL="16002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4pPr>
            <a:lvl5pPr marL="20574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9pPr>
          </a:lstStyle>
          <a:p>
            <a:r>
              <a:rPr lang="en-US" altLang="zh-CN" sz="1200" b="0" dirty="0" err="1">
                <a:solidFill>
                  <a:srgbClr val="00B050"/>
                </a:solidFill>
                <a:latin typeface="Arial" pitchFamily="34" charset="0"/>
                <a:ea typeface="SimHei" panose="02010609060101010101" pitchFamily="49" charset="-122"/>
              </a:rPr>
              <a:t>MemWr</a:t>
            </a:r>
            <a:endParaRPr lang="en-US" altLang="zh-CN" sz="1200" b="0" dirty="0">
              <a:solidFill>
                <a:srgbClr val="00B050"/>
              </a:solidFill>
              <a:latin typeface="Arial" pitchFamily="34" charset="0"/>
              <a:ea typeface="SimHei" panose="02010609060101010101" pitchFamily="49" charset="-122"/>
            </a:endParaRPr>
          </a:p>
        </p:txBody>
      </p:sp>
      <p:sp>
        <p:nvSpPr>
          <p:cNvPr id="975" name="Line 153">
            <a:extLst>
              <a:ext uri="{FF2B5EF4-FFF2-40B4-BE49-F238E27FC236}">
                <a16:creationId xmlns:a16="http://schemas.microsoft.com/office/drawing/2014/main" id="{F6C30D4C-C82B-A09D-37B4-36C9BEB2D6AF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8521317" y="3471984"/>
            <a:ext cx="0" cy="288684"/>
          </a:xfrm>
          <a:prstGeom prst="line">
            <a:avLst/>
          </a:prstGeom>
          <a:noFill/>
          <a:ln w="12700">
            <a:solidFill>
              <a:srgbClr val="00B05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976" name="Text Box 30">
            <a:extLst>
              <a:ext uri="{FF2B5EF4-FFF2-40B4-BE49-F238E27FC236}">
                <a16:creationId xmlns:a16="http://schemas.microsoft.com/office/drawing/2014/main" id="{E030B68E-BDBD-4714-4DD5-FA07CCBAEBE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220744" y="3297910"/>
            <a:ext cx="934841" cy="27698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1425" tIns="45713" rIns="91425" bIns="45713">
            <a:spAutoFit/>
          </a:bodyPr>
          <a:lstStyle>
            <a:lvl1pPr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1pPr>
            <a:lvl2pPr marL="742950" indent="-28575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2pPr>
            <a:lvl3pPr marL="11430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3pPr>
            <a:lvl4pPr marL="16002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4pPr>
            <a:lvl5pPr marL="20574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9pPr>
          </a:lstStyle>
          <a:p>
            <a:r>
              <a:rPr lang="en-US" altLang="zh-CN" sz="1200" b="0" dirty="0" err="1">
                <a:solidFill>
                  <a:srgbClr val="00B050"/>
                </a:solidFill>
                <a:latin typeface="Arial" pitchFamily="34" charset="0"/>
                <a:ea typeface="SimHei" panose="02010609060101010101" pitchFamily="49" charset="-122"/>
              </a:rPr>
              <a:t>MemtoReg</a:t>
            </a:r>
            <a:endParaRPr lang="en-US" altLang="zh-CN" sz="1200" b="0" dirty="0">
              <a:solidFill>
                <a:srgbClr val="00B050"/>
              </a:solidFill>
              <a:latin typeface="Arial" pitchFamily="34" charset="0"/>
              <a:ea typeface="SimHei" panose="02010609060101010101" pitchFamily="49" charset="-122"/>
            </a:endParaRPr>
          </a:p>
        </p:txBody>
      </p:sp>
      <p:sp>
        <p:nvSpPr>
          <p:cNvPr id="977" name="Line 153">
            <a:extLst>
              <a:ext uri="{FF2B5EF4-FFF2-40B4-BE49-F238E27FC236}">
                <a16:creationId xmlns:a16="http://schemas.microsoft.com/office/drawing/2014/main" id="{D069CDA7-1450-B47C-A2E1-A675F9E013CA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005520" y="4155311"/>
            <a:ext cx="0" cy="167792"/>
          </a:xfrm>
          <a:prstGeom prst="line">
            <a:avLst/>
          </a:prstGeom>
          <a:noFill/>
          <a:ln w="12700">
            <a:solidFill>
              <a:srgbClr val="00B05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978" name="Text Box 30">
            <a:extLst>
              <a:ext uri="{FF2B5EF4-FFF2-40B4-BE49-F238E27FC236}">
                <a16:creationId xmlns:a16="http://schemas.microsoft.com/office/drawing/2014/main" id="{A6775A3B-3530-BF99-C6FE-31F48551DB0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701658" y="4272203"/>
            <a:ext cx="687979" cy="27698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1425" tIns="45713" rIns="91425" bIns="45713">
            <a:spAutoFit/>
          </a:bodyPr>
          <a:lstStyle>
            <a:lvl1pPr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1pPr>
            <a:lvl2pPr marL="742950" indent="-28575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2pPr>
            <a:lvl3pPr marL="11430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3pPr>
            <a:lvl4pPr marL="16002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4pPr>
            <a:lvl5pPr marL="20574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9pPr>
          </a:lstStyle>
          <a:p>
            <a:r>
              <a:rPr lang="en-US" altLang="zh-CN" sz="1200" b="0" dirty="0" err="1">
                <a:solidFill>
                  <a:srgbClr val="00B050"/>
                </a:solidFill>
                <a:latin typeface="Arial" pitchFamily="34" charset="0"/>
                <a:ea typeface="SimHei" panose="02010609060101010101" pitchFamily="49" charset="-122"/>
              </a:rPr>
              <a:t>ALUOp</a:t>
            </a:r>
            <a:endParaRPr lang="en-US" altLang="zh-CN" sz="1200" b="0" dirty="0">
              <a:solidFill>
                <a:srgbClr val="00B050"/>
              </a:solidFill>
              <a:latin typeface="Arial" pitchFamily="34" charset="0"/>
              <a:ea typeface="SimHei" panose="02010609060101010101" pitchFamily="49" charset="-122"/>
            </a:endParaRPr>
          </a:p>
        </p:txBody>
      </p:sp>
      <p:sp>
        <p:nvSpPr>
          <p:cNvPr id="979" name="Line 153">
            <a:extLst>
              <a:ext uri="{FF2B5EF4-FFF2-40B4-BE49-F238E27FC236}">
                <a16:creationId xmlns:a16="http://schemas.microsoft.com/office/drawing/2014/main" id="{AD7ECF62-F3A0-B7D8-3CBD-F557A9523EA5}"/>
              </a:ext>
            </a:extLst>
          </p:cNvPr>
          <p:cNvSpPr>
            <a:spLocks noChangeShapeType="1"/>
          </p:cNvSpPr>
          <p:nvPr/>
        </p:nvSpPr>
        <p:spPr bwMode="auto">
          <a:xfrm>
            <a:off x="4324305" y="1964742"/>
            <a:ext cx="566407" cy="0"/>
          </a:xfrm>
          <a:prstGeom prst="line">
            <a:avLst/>
          </a:prstGeom>
          <a:noFill/>
          <a:ln w="12700">
            <a:solidFill>
              <a:srgbClr val="00B05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980" name="Line 158">
            <a:extLst>
              <a:ext uri="{FF2B5EF4-FFF2-40B4-BE49-F238E27FC236}">
                <a16:creationId xmlns:a16="http://schemas.microsoft.com/office/drawing/2014/main" id="{67F184A8-24A1-35EA-2F5B-DA23C97DFB61}"/>
              </a:ext>
            </a:extLst>
          </p:cNvPr>
          <p:cNvSpPr>
            <a:spLocks noChangeShapeType="1"/>
          </p:cNvSpPr>
          <p:nvPr/>
        </p:nvSpPr>
        <p:spPr bwMode="auto">
          <a:xfrm>
            <a:off x="4890711" y="1964742"/>
            <a:ext cx="0" cy="102598"/>
          </a:xfrm>
          <a:prstGeom prst="line">
            <a:avLst/>
          </a:prstGeom>
          <a:noFill/>
          <a:ln w="12700">
            <a:solidFill>
              <a:srgbClr val="00B05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981" name="AutoShape 67">
            <a:extLst>
              <a:ext uri="{FF2B5EF4-FFF2-40B4-BE49-F238E27FC236}">
                <a16:creationId xmlns:a16="http://schemas.microsoft.com/office/drawing/2014/main" id="{01F04E83-46AF-9875-19D6-BAF627BE5C62}"/>
              </a:ext>
            </a:extLst>
          </p:cNvPr>
          <p:cNvSpPr>
            <a:spLocks noChangeArrowheads="1"/>
          </p:cNvSpPr>
          <p:nvPr/>
        </p:nvSpPr>
        <p:spPr bwMode="auto">
          <a:xfrm rot="16200000">
            <a:off x="4725086" y="3395572"/>
            <a:ext cx="647031" cy="212392"/>
          </a:xfrm>
          <a:custGeom>
            <a:avLst/>
            <a:gdLst>
              <a:gd name="T0" fmla="*/ 9 w 21600"/>
              <a:gd name="T1" fmla="*/ 0 h 21600"/>
              <a:gd name="T2" fmla="*/ 5 w 21600"/>
              <a:gd name="T3" fmla="*/ 1 h 21600"/>
              <a:gd name="T4" fmla="*/ 1 w 21600"/>
              <a:gd name="T5" fmla="*/ 0 h 21600"/>
              <a:gd name="T6" fmla="*/ 5 w 21600"/>
              <a:gd name="T7" fmla="*/ 0 h 21600"/>
              <a:gd name="T8" fmla="*/ 0 60000 65536"/>
              <a:gd name="T9" fmla="*/ 0 60000 65536"/>
              <a:gd name="T10" fmla="*/ 0 60000 65536"/>
              <a:gd name="T11" fmla="*/ 0 60000 65536"/>
              <a:gd name="T12" fmla="*/ 4500 w 21600"/>
              <a:gd name="T13" fmla="*/ 4500 h 21600"/>
              <a:gd name="T14" fmla="*/ 17100 w 21600"/>
              <a:gd name="T15" fmla="*/ 17100 h 21600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21600" h="21600">
                <a:moveTo>
                  <a:pt x="0" y="0"/>
                </a:moveTo>
                <a:lnTo>
                  <a:pt x="5400" y="21600"/>
                </a:lnTo>
                <a:lnTo>
                  <a:pt x="16200" y="21600"/>
                </a:lnTo>
                <a:lnTo>
                  <a:pt x="21600" y="0"/>
                </a:lnTo>
                <a:lnTo>
                  <a:pt x="0" y="0"/>
                </a:lnTo>
                <a:close/>
              </a:path>
            </a:pathLst>
          </a:custGeom>
          <a:noFill/>
          <a:ln w="19050">
            <a:solidFill>
              <a:srgbClr val="00B0F0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982" name="Line 109">
            <a:extLst>
              <a:ext uri="{FF2B5EF4-FFF2-40B4-BE49-F238E27FC236}">
                <a16:creationId xmlns:a16="http://schemas.microsoft.com/office/drawing/2014/main" id="{DCC7C3EE-BB2C-38C3-41DA-CAE1C3AD7D2F}"/>
              </a:ext>
            </a:extLst>
          </p:cNvPr>
          <p:cNvSpPr>
            <a:spLocks noChangeShapeType="1"/>
          </p:cNvSpPr>
          <p:nvPr/>
        </p:nvSpPr>
        <p:spPr bwMode="auto">
          <a:xfrm>
            <a:off x="4424969" y="4792309"/>
            <a:ext cx="854026" cy="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983" name="Line 110">
            <a:extLst>
              <a:ext uri="{FF2B5EF4-FFF2-40B4-BE49-F238E27FC236}">
                <a16:creationId xmlns:a16="http://schemas.microsoft.com/office/drawing/2014/main" id="{FBD1F2D7-B8E4-5520-F2B5-3A05CA2ACD12}"/>
              </a:ext>
            </a:extLst>
          </p:cNvPr>
          <p:cNvSpPr>
            <a:spLocks noChangeShapeType="1"/>
          </p:cNvSpPr>
          <p:nvPr/>
        </p:nvSpPr>
        <p:spPr bwMode="auto">
          <a:xfrm>
            <a:off x="5278995" y="4409473"/>
            <a:ext cx="0" cy="390609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984" name="AutoShape 67">
            <a:extLst>
              <a:ext uri="{FF2B5EF4-FFF2-40B4-BE49-F238E27FC236}">
                <a16:creationId xmlns:a16="http://schemas.microsoft.com/office/drawing/2014/main" id="{13228FF2-99E2-AB54-BB43-C83C820E988C}"/>
              </a:ext>
            </a:extLst>
          </p:cNvPr>
          <p:cNvSpPr>
            <a:spLocks noChangeArrowheads="1"/>
          </p:cNvSpPr>
          <p:nvPr/>
        </p:nvSpPr>
        <p:spPr bwMode="auto">
          <a:xfrm rot="16200000">
            <a:off x="4727404" y="4105318"/>
            <a:ext cx="647031" cy="212392"/>
          </a:xfrm>
          <a:custGeom>
            <a:avLst/>
            <a:gdLst>
              <a:gd name="T0" fmla="*/ 9 w 21600"/>
              <a:gd name="T1" fmla="*/ 0 h 21600"/>
              <a:gd name="T2" fmla="*/ 5 w 21600"/>
              <a:gd name="T3" fmla="*/ 1 h 21600"/>
              <a:gd name="T4" fmla="*/ 1 w 21600"/>
              <a:gd name="T5" fmla="*/ 0 h 21600"/>
              <a:gd name="T6" fmla="*/ 5 w 21600"/>
              <a:gd name="T7" fmla="*/ 0 h 21600"/>
              <a:gd name="T8" fmla="*/ 0 60000 65536"/>
              <a:gd name="T9" fmla="*/ 0 60000 65536"/>
              <a:gd name="T10" fmla="*/ 0 60000 65536"/>
              <a:gd name="T11" fmla="*/ 0 60000 65536"/>
              <a:gd name="T12" fmla="*/ 4500 w 21600"/>
              <a:gd name="T13" fmla="*/ 4500 h 21600"/>
              <a:gd name="T14" fmla="*/ 17100 w 21600"/>
              <a:gd name="T15" fmla="*/ 17100 h 21600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21600" h="21600">
                <a:moveTo>
                  <a:pt x="0" y="0"/>
                </a:moveTo>
                <a:lnTo>
                  <a:pt x="5400" y="21600"/>
                </a:lnTo>
                <a:lnTo>
                  <a:pt x="16200" y="21600"/>
                </a:lnTo>
                <a:lnTo>
                  <a:pt x="21600" y="0"/>
                </a:lnTo>
                <a:lnTo>
                  <a:pt x="0" y="0"/>
                </a:lnTo>
                <a:close/>
              </a:path>
            </a:pathLst>
          </a:custGeom>
          <a:noFill/>
          <a:ln w="19050">
            <a:solidFill>
              <a:srgbClr val="00B0F0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985" name="Line 115">
            <a:extLst>
              <a:ext uri="{FF2B5EF4-FFF2-40B4-BE49-F238E27FC236}">
                <a16:creationId xmlns:a16="http://schemas.microsoft.com/office/drawing/2014/main" id="{40ABC53E-087D-D3DA-0D2C-811722E1A500}"/>
              </a:ext>
            </a:extLst>
          </p:cNvPr>
          <p:cNvSpPr>
            <a:spLocks noChangeShapeType="1"/>
          </p:cNvSpPr>
          <p:nvPr/>
        </p:nvSpPr>
        <p:spPr bwMode="auto">
          <a:xfrm>
            <a:off x="6574396" y="4742553"/>
            <a:ext cx="0" cy="856297"/>
          </a:xfrm>
          <a:prstGeom prst="line">
            <a:avLst/>
          </a:prstGeom>
          <a:noFill/>
          <a:ln w="19050">
            <a:solidFill>
              <a:srgbClr val="00B0F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986" name="Line 113">
            <a:extLst>
              <a:ext uri="{FF2B5EF4-FFF2-40B4-BE49-F238E27FC236}">
                <a16:creationId xmlns:a16="http://schemas.microsoft.com/office/drawing/2014/main" id="{AE59B017-BCA5-F7CD-7D57-65891D811866}"/>
              </a:ext>
            </a:extLst>
          </p:cNvPr>
          <p:cNvSpPr>
            <a:spLocks noChangeShapeType="1"/>
          </p:cNvSpPr>
          <p:nvPr/>
        </p:nvSpPr>
        <p:spPr bwMode="auto">
          <a:xfrm>
            <a:off x="4505330" y="5598850"/>
            <a:ext cx="2072880" cy="0"/>
          </a:xfrm>
          <a:prstGeom prst="line">
            <a:avLst/>
          </a:prstGeom>
          <a:noFill/>
          <a:ln w="19050">
            <a:solidFill>
              <a:srgbClr val="00B0F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987" name="Line 115">
            <a:extLst>
              <a:ext uri="{FF2B5EF4-FFF2-40B4-BE49-F238E27FC236}">
                <a16:creationId xmlns:a16="http://schemas.microsoft.com/office/drawing/2014/main" id="{6926C575-FC11-DE09-5411-40C96E76BA96}"/>
              </a:ext>
            </a:extLst>
          </p:cNvPr>
          <p:cNvSpPr>
            <a:spLocks noChangeShapeType="1"/>
          </p:cNvSpPr>
          <p:nvPr/>
        </p:nvSpPr>
        <p:spPr bwMode="auto">
          <a:xfrm>
            <a:off x="4511226" y="3471984"/>
            <a:ext cx="0" cy="2126866"/>
          </a:xfrm>
          <a:prstGeom prst="line">
            <a:avLst/>
          </a:prstGeom>
          <a:noFill/>
          <a:ln w="19050">
            <a:solidFill>
              <a:srgbClr val="00B0F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988" name="Line 115">
            <a:extLst>
              <a:ext uri="{FF2B5EF4-FFF2-40B4-BE49-F238E27FC236}">
                <a16:creationId xmlns:a16="http://schemas.microsoft.com/office/drawing/2014/main" id="{F31E578C-F29A-2A80-7944-5D737BB714FD}"/>
              </a:ext>
            </a:extLst>
          </p:cNvPr>
          <p:cNvSpPr>
            <a:spLocks noChangeShapeType="1"/>
          </p:cNvSpPr>
          <p:nvPr/>
        </p:nvSpPr>
        <p:spPr bwMode="auto">
          <a:xfrm>
            <a:off x="4677528" y="3686336"/>
            <a:ext cx="0" cy="1814565"/>
          </a:xfrm>
          <a:prstGeom prst="line">
            <a:avLst/>
          </a:prstGeom>
          <a:noFill/>
          <a:ln w="19050">
            <a:solidFill>
              <a:srgbClr val="00B0F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989" name="Line 113">
            <a:extLst>
              <a:ext uri="{FF2B5EF4-FFF2-40B4-BE49-F238E27FC236}">
                <a16:creationId xmlns:a16="http://schemas.microsoft.com/office/drawing/2014/main" id="{8536BEE9-43D4-A347-E668-2C71BBC72ADF}"/>
              </a:ext>
            </a:extLst>
          </p:cNvPr>
          <p:cNvSpPr>
            <a:spLocks noChangeShapeType="1"/>
          </p:cNvSpPr>
          <p:nvPr/>
        </p:nvSpPr>
        <p:spPr bwMode="auto">
          <a:xfrm>
            <a:off x="4509756" y="3472062"/>
            <a:ext cx="430050" cy="0"/>
          </a:xfrm>
          <a:prstGeom prst="line">
            <a:avLst/>
          </a:prstGeom>
          <a:noFill/>
          <a:ln w="19050">
            <a:solidFill>
              <a:srgbClr val="00B0F0"/>
            </a:solidFill>
            <a:round/>
            <a:headEnd type="none" w="med" len="med"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990" name="Line 113">
            <a:extLst>
              <a:ext uri="{FF2B5EF4-FFF2-40B4-BE49-F238E27FC236}">
                <a16:creationId xmlns:a16="http://schemas.microsoft.com/office/drawing/2014/main" id="{5B5DB524-A8F9-E76F-869D-36E8B050F30D}"/>
              </a:ext>
            </a:extLst>
          </p:cNvPr>
          <p:cNvSpPr>
            <a:spLocks noChangeShapeType="1"/>
          </p:cNvSpPr>
          <p:nvPr/>
        </p:nvSpPr>
        <p:spPr bwMode="auto">
          <a:xfrm>
            <a:off x="4671683" y="3692355"/>
            <a:ext cx="268121" cy="0"/>
          </a:xfrm>
          <a:prstGeom prst="line">
            <a:avLst/>
          </a:prstGeom>
          <a:noFill/>
          <a:ln w="19050">
            <a:solidFill>
              <a:srgbClr val="00B0F0"/>
            </a:solidFill>
            <a:round/>
            <a:headEnd type="none" w="med" len="med"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991" name="Line 113">
            <a:extLst>
              <a:ext uri="{FF2B5EF4-FFF2-40B4-BE49-F238E27FC236}">
                <a16:creationId xmlns:a16="http://schemas.microsoft.com/office/drawing/2014/main" id="{58F3E0EC-ADEB-7D04-840B-DF7839243F07}"/>
              </a:ext>
            </a:extLst>
          </p:cNvPr>
          <p:cNvSpPr>
            <a:spLocks noChangeShapeType="1"/>
          </p:cNvSpPr>
          <p:nvPr/>
        </p:nvSpPr>
        <p:spPr bwMode="auto">
          <a:xfrm>
            <a:off x="4517757" y="4238320"/>
            <a:ext cx="422050" cy="0"/>
          </a:xfrm>
          <a:prstGeom prst="line">
            <a:avLst/>
          </a:prstGeom>
          <a:noFill/>
          <a:ln w="19050">
            <a:solidFill>
              <a:srgbClr val="00B0F0"/>
            </a:solidFill>
            <a:round/>
            <a:headEnd type="none" w="med" len="med"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992" name="Line 113">
            <a:extLst>
              <a:ext uri="{FF2B5EF4-FFF2-40B4-BE49-F238E27FC236}">
                <a16:creationId xmlns:a16="http://schemas.microsoft.com/office/drawing/2014/main" id="{47292D53-1680-B7D4-1E74-3E8036EF58CC}"/>
              </a:ext>
            </a:extLst>
          </p:cNvPr>
          <p:cNvSpPr>
            <a:spLocks noChangeShapeType="1"/>
          </p:cNvSpPr>
          <p:nvPr/>
        </p:nvSpPr>
        <p:spPr bwMode="auto">
          <a:xfrm>
            <a:off x="4685574" y="4458613"/>
            <a:ext cx="254232" cy="0"/>
          </a:xfrm>
          <a:prstGeom prst="line">
            <a:avLst/>
          </a:prstGeom>
          <a:noFill/>
          <a:ln w="19050">
            <a:solidFill>
              <a:srgbClr val="00B0F0"/>
            </a:solidFill>
            <a:round/>
            <a:headEnd type="none" w="med" len="med"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993" name="Line 113">
            <a:extLst>
              <a:ext uri="{FF2B5EF4-FFF2-40B4-BE49-F238E27FC236}">
                <a16:creationId xmlns:a16="http://schemas.microsoft.com/office/drawing/2014/main" id="{CE082DC9-325F-5F82-DAE8-C3C7C853F46B}"/>
              </a:ext>
            </a:extLst>
          </p:cNvPr>
          <p:cNvSpPr>
            <a:spLocks noChangeShapeType="1"/>
          </p:cNvSpPr>
          <p:nvPr/>
        </p:nvSpPr>
        <p:spPr bwMode="auto">
          <a:xfrm>
            <a:off x="5157116" y="4132471"/>
            <a:ext cx="230672" cy="0"/>
          </a:xfrm>
          <a:prstGeom prst="line">
            <a:avLst/>
          </a:prstGeom>
          <a:noFill/>
          <a:ln w="19050">
            <a:solidFill>
              <a:srgbClr val="00B0F0"/>
            </a:solidFill>
            <a:round/>
            <a:headEnd type="none" w="med" len="med"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994" name="Line 113">
            <a:extLst>
              <a:ext uri="{FF2B5EF4-FFF2-40B4-BE49-F238E27FC236}">
                <a16:creationId xmlns:a16="http://schemas.microsoft.com/office/drawing/2014/main" id="{36943864-04E9-A19C-82BD-E39F6DE3CC23}"/>
              </a:ext>
            </a:extLst>
          </p:cNvPr>
          <p:cNvSpPr>
            <a:spLocks noChangeShapeType="1"/>
          </p:cNvSpPr>
          <p:nvPr/>
        </p:nvSpPr>
        <p:spPr bwMode="auto">
          <a:xfrm>
            <a:off x="5154797" y="3478808"/>
            <a:ext cx="566172" cy="0"/>
          </a:xfrm>
          <a:prstGeom prst="line">
            <a:avLst/>
          </a:prstGeom>
          <a:noFill/>
          <a:ln w="19050">
            <a:solidFill>
              <a:srgbClr val="00B0F0"/>
            </a:solidFill>
            <a:round/>
            <a:headEnd type="none" w="med" len="med"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995" name="椭圆 994">
            <a:extLst>
              <a:ext uri="{FF2B5EF4-FFF2-40B4-BE49-F238E27FC236}">
                <a16:creationId xmlns:a16="http://schemas.microsoft.com/office/drawing/2014/main" id="{755A2270-2622-6FF9-F024-8F9DC9917F60}"/>
              </a:ext>
            </a:extLst>
          </p:cNvPr>
          <p:cNvSpPr/>
          <p:nvPr/>
        </p:nvSpPr>
        <p:spPr>
          <a:xfrm>
            <a:off x="6542279" y="4758188"/>
            <a:ext cx="65862" cy="65862"/>
          </a:xfrm>
          <a:prstGeom prst="ellipse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996" name="椭圆 995">
            <a:extLst>
              <a:ext uri="{FF2B5EF4-FFF2-40B4-BE49-F238E27FC236}">
                <a16:creationId xmlns:a16="http://schemas.microsoft.com/office/drawing/2014/main" id="{B4056E0F-E376-FB03-9E46-06749C638418}"/>
              </a:ext>
            </a:extLst>
          </p:cNvPr>
          <p:cNvSpPr/>
          <p:nvPr/>
        </p:nvSpPr>
        <p:spPr>
          <a:xfrm>
            <a:off x="4640613" y="5473990"/>
            <a:ext cx="65862" cy="65862"/>
          </a:xfrm>
          <a:prstGeom prst="ellipse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997" name="椭圆 996">
            <a:extLst>
              <a:ext uri="{FF2B5EF4-FFF2-40B4-BE49-F238E27FC236}">
                <a16:creationId xmlns:a16="http://schemas.microsoft.com/office/drawing/2014/main" id="{BD04EE7C-86DF-E5E2-1E1F-887217919213}"/>
              </a:ext>
            </a:extLst>
          </p:cNvPr>
          <p:cNvSpPr/>
          <p:nvPr/>
        </p:nvSpPr>
        <p:spPr>
          <a:xfrm>
            <a:off x="4390629" y="4758188"/>
            <a:ext cx="65862" cy="65862"/>
          </a:xfrm>
          <a:prstGeom prst="ellipse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998" name="椭圆 997">
            <a:extLst>
              <a:ext uri="{FF2B5EF4-FFF2-40B4-BE49-F238E27FC236}">
                <a16:creationId xmlns:a16="http://schemas.microsoft.com/office/drawing/2014/main" id="{CE95C0F1-3179-D122-A3F0-186B534C5FE3}"/>
              </a:ext>
            </a:extLst>
          </p:cNvPr>
          <p:cNvSpPr/>
          <p:nvPr/>
        </p:nvSpPr>
        <p:spPr>
          <a:xfrm>
            <a:off x="2025481" y="2624173"/>
            <a:ext cx="65862" cy="65862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999" name="椭圆 998">
            <a:extLst>
              <a:ext uri="{FF2B5EF4-FFF2-40B4-BE49-F238E27FC236}">
                <a16:creationId xmlns:a16="http://schemas.microsoft.com/office/drawing/2014/main" id="{13BD0C21-4EC8-4450-4BD3-E3060F229B3B}"/>
              </a:ext>
            </a:extLst>
          </p:cNvPr>
          <p:cNvSpPr/>
          <p:nvPr/>
        </p:nvSpPr>
        <p:spPr>
          <a:xfrm>
            <a:off x="682399" y="3724129"/>
            <a:ext cx="65862" cy="65862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1000" name="Oval 144">
            <a:extLst>
              <a:ext uri="{FF2B5EF4-FFF2-40B4-BE49-F238E27FC236}">
                <a16:creationId xmlns:a16="http://schemas.microsoft.com/office/drawing/2014/main" id="{7AD8FC00-C040-27E1-6D0A-D5039519AF28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38658" y="5778139"/>
            <a:ext cx="855341" cy="587588"/>
          </a:xfrm>
          <a:prstGeom prst="ellipse">
            <a:avLst/>
          </a:prstGeom>
          <a:noFill/>
          <a:ln w="19050">
            <a:solidFill>
              <a:srgbClr val="C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tIns="108000" anchor="ctr"/>
          <a:lstStyle/>
          <a:p>
            <a:pPr algn="ctr"/>
            <a:r>
              <a:rPr lang="en-US" altLang="zh-CN" sz="1200" dirty="0">
                <a:solidFill>
                  <a:srgbClr val="C00000"/>
                </a:solidFill>
                <a:latin typeface="Arial" panose="020B0604020202020204" pitchFamily="34" charset="0"/>
                <a:ea typeface="SimHei" panose="02010609060101010101" pitchFamily="49" charset="-122"/>
                <a:cs typeface="Arial" panose="020B0604020202020204" pitchFamily="34" charset="0"/>
              </a:rPr>
              <a:t>Forwarding</a:t>
            </a:r>
          </a:p>
          <a:p>
            <a:pPr algn="ctr"/>
            <a:r>
              <a:rPr lang="en-US" altLang="zh-CN" sz="1200" dirty="0">
                <a:solidFill>
                  <a:srgbClr val="C00000"/>
                </a:solidFill>
                <a:latin typeface="Arial" panose="020B0604020202020204" pitchFamily="34" charset="0"/>
                <a:ea typeface="SimHei" panose="02010609060101010101" pitchFamily="49" charset="-122"/>
                <a:cs typeface="Arial" panose="020B0604020202020204" pitchFamily="34" charset="0"/>
              </a:rPr>
              <a:t> Unit</a:t>
            </a:r>
            <a:endParaRPr lang="zh-CN" altLang="en-US" sz="1200" dirty="0">
              <a:solidFill>
                <a:srgbClr val="C00000"/>
              </a:solidFill>
              <a:latin typeface="Arial" panose="020B0604020202020204" pitchFamily="34" charset="0"/>
              <a:ea typeface="SimHei" panose="02010609060101010101" pitchFamily="49" charset="-122"/>
              <a:cs typeface="Arial" panose="020B0604020202020204" pitchFamily="34" charset="0"/>
            </a:endParaRPr>
          </a:p>
        </p:txBody>
      </p:sp>
      <p:sp>
        <p:nvSpPr>
          <p:cNvPr id="1001" name="Line 115">
            <a:extLst>
              <a:ext uri="{FF2B5EF4-FFF2-40B4-BE49-F238E27FC236}">
                <a16:creationId xmlns:a16="http://schemas.microsoft.com/office/drawing/2014/main" id="{863105CC-FAED-367B-2CDE-5715B9093D11}"/>
              </a:ext>
            </a:extLst>
          </p:cNvPr>
          <p:cNvSpPr>
            <a:spLocks noChangeShapeType="1"/>
          </p:cNvSpPr>
          <p:nvPr/>
        </p:nvSpPr>
        <p:spPr bwMode="auto">
          <a:xfrm>
            <a:off x="7892452" y="5051122"/>
            <a:ext cx="0" cy="865758"/>
          </a:xfrm>
          <a:prstGeom prst="line">
            <a:avLst/>
          </a:prstGeom>
          <a:noFill/>
          <a:ln w="19050">
            <a:solidFill>
              <a:srgbClr val="C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1002" name="Line 113">
            <a:extLst>
              <a:ext uri="{FF2B5EF4-FFF2-40B4-BE49-F238E27FC236}">
                <a16:creationId xmlns:a16="http://schemas.microsoft.com/office/drawing/2014/main" id="{1AD434F1-FAB8-5C9D-9A49-57D0D52A006C}"/>
              </a:ext>
            </a:extLst>
          </p:cNvPr>
          <p:cNvSpPr>
            <a:spLocks noChangeShapeType="1"/>
          </p:cNvSpPr>
          <p:nvPr/>
        </p:nvSpPr>
        <p:spPr bwMode="auto">
          <a:xfrm>
            <a:off x="6424645" y="5916880"/>
            <a:ext cx="1467806" cy="0"/>
          </a:xfrm>
          <a:prstGeom prst="line">
            <a:avLst/>
          </a:prstGeom>
          <a:noFill/>
          <a:ln w="19050">
            <a:solidFill>
              <a:srgbClr val="C00000"/>
            </a:solidFill>
            <a:round/>
            <a:headEnd type="triangle" w="med" len="med"/>
            <a:tailEnd type="non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1003" name="Line 115">
            <a:extLst>
              <a:ext uri="{FF2B5EF4-FFF2-40B4-BE49-F238E27FC236}">
                <a16:creationId xmlns:a16="http://schemas.microsoft.com/office/drawing/2014/main" id="{DFEBE6B9-89D4-4A1F-3355-A2986DDEC93F}"/>
              </a:ext>
            </a:extLst>
          </p:cNvPr>
          <p:cNvSpPr>
            <a:spLocks noChangeShapeType="1"/>
          </p:cNvSpPr>
          <p:nvPr/>
        </p:nvSpPr>
        <p:spPr bwMode="auto">
          <a:xfrm>
            <a:off x="8344324" y="5709985"/>
            <a:ext cx="0" cy="444478"/>
          </a:xfrm>
          <a:prstGeom prst="line">
            <a:avLst/>
          </a:prstGeom>
          <a:noFill/>
          <a:ln w="19050">
            <a:solidFill>
              <a:srgbClr val="C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1004" name="Line 113">
            <a:extLst>
              <a:ext uri="{FF2B5EF4-FFF2-40B4-BE49-F238E27FC236}">
                <a16:creationId xmlns:a16="http://schemas.microsoft.com/office/drawing/2014/main" id="{CD7F2D2A-BC8E-9E85-94D4-1BF33D3B98D5}"/>
              </a:ext>
            </a:extLst>
          </p:cNvPr>
          <p:cNvSpPr>
            <a:spLocks noChangeShapeType="1"/>
          </p:cNvSpPr>
          <p:nvPr/>
        </p:nvSpPr>
        <p:spPr bwMode="auto">
          <a:xfrm>
            <a:off x="6483892" y="6154465"/>
            <a:ext cx="1860433" cy="0"/>
          </a:xfrm>
          <a:prstGeom prst="line">
            <a:avLst/>
          </a:prstGeom>
          <a:noFill/>
          <a:ln w="19050">
            <a:solidFill>
              <a:srgbClr val="C00000"/>
            </a:solidFill>
            <a:round/>
            <a:headEnd type="triangle" w="med" len="med"/>
            <a:tailEnd type="non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1005" name="椭圆 1004">
            <a:extLst>
              <a:ext uri="{FF2B5EF4-FFF2-40B4-BE49-F238E27FC236}">
                <a16:creationId xmlns:a16="http://schemas.microsoft.com/office/drawing/2014/main" id="{9E33EE69-9B40-1547-A9F2-AAA31B4D1819}"/>
              </a:ext>
            </a:extLst>
          </p:cNvPr>
          <p:cNvSpPr/>
          <p:nvPr/>
        </p:nvSpPr>
        <p:spPr>
          <a:xfrm>
            <a:off x="8311905" y="5675960"/>
            <a:ext cx="65862" cy="65862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1006" name="椭圆 1005">
            <a:extLst>
              <a:ext uri="{FF2B5EF4-FFF2-40B4-BE49-F238E27FC236}">
                <a16:creationId xmlns:a16="http://schemas.microsoft.com/office/drawing/2014/main" id="{D24819EE-ED32-C971-EADF-DB72956D8AB9}"/>
              </a:ext>
            </a:extLst>
          </p:cNvPr>
          <p:cNvSpPr/>
          <p:nvPr/>
        </p:nvSpPr>
        <p:spPr>
          <a:xfrm>
            <a:off x="7859883" y="5018190"/>
            <a:ext cx="65862" cy="65862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1007" name="椭圆 1006">
            <a:extLst>
              <a:ext uri="{FF2B5EF4-FFF2-40B4-BE49-F238E27FC236}">
                <a16:creationId xmlns:a16="http://schemas.microsoft.com/office/drawing/2014/main" id="{11BA697D-BE56-EB78-3D99-7DCF07680DA7}"/>
              </a:ext>
            </a:extLst>
          </p:cNvPr>
          <p:cNvSpPr/>
          <p:nvPr/>
        </p:nvSpPr>
        <p:spPr>
          <a:xfrm>
            <a:off x="4476798" y="4208823"/>
            <a:ext cx="65862" cy="65862"/>
          </a:xfrm>
          <a:prstGeom prst="ellipse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1008" name="椭圆 1007">
            <a:extLst>
              <a:ext uri="{FF2B5EF4-FFF2-40B4-BE49-F238E27FC236}">
                <a16:creationId xmlns:a16="http://schemas.microsoft.com/office/drawing/2014/main" id="{AF3887B5-A481-604C-E412-A95083001F4C}"/>
              </a:ext>
            </a:extLst>
          </p:cNvPr>
          <p:cNvSpPr/>
          <p:nvPr/>
        </p:nvSpPr>
        <p:spPr>
          <a:xfrm>
            <a:off x="4641272" y="4431271"/>
            <a:ext cx="65862" cy="65862"/>
          </a:xfrm>
          <a:prstGeom prst="ellipse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1009" name="文本框 1008">
            <a:extLst>
              <a:ext uri="{FF2B5EF4-FFF2-40B4-BE49-F238E27FC236}">
                <a16:creationId xmlns:a16="http://schemas.microsoft.com/office/drawing/2014/main" id="{EDE2E148-5C31-5619-213A-5C008599ED08}"/>
              </a:ext>
            </a:extLst>
          </p:cNvPr>
          <p:cNvSpPr txBox="1"/>
          <p:nvPr/>
        </p:nvSpPr>
        <p:spPr>
          <a:xfrm>
            <a:off x="6415849" y="5740422"/>
            <a:ext cx="1393085" cy="1692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>
            <a:spAutoFit/>
          </a:bodyPr>
          <a:lstStyle/>
          <a:p>
            <a:pPr algn="ctr"/>
            <a:r>
              <a:rPr lang="en-US" altLang="zh-CN" sz="1100" dirty="0">
                <a:solidFill>
                  <a:srgbClr val="C00000"/>
                </a:solidFill>
                <a:latin typeface="Arial" panose="020B0604020202020204" pitchFamily="34" charset="0"/>
                <a:ea typeface="SimHei" panose="02010609060101010101" pitchFamily="49" charset="-122"/>
                <a:cs typeface="Arial" panose="020B0604020202020204" pitchFamily="34" charset="0"/>
              </a:rPr>
              <a:t>EX/</a:t>
            </a:r>
            <a:r>
              <a:rPr lang="en-US" altLang="zh-CN" sz="1100" dirty="0" err="1">
                <a:solidFill>
                  <a:srgbClr val="C00000"/>
                </a:solidFill>
                <a:latin typeface="Arial" panose="020B0604020202020204" pitchFamily="34" charset="0"/>
                <a:ea typeface="SimHei" panose="02010609060101010101" pitchFamily="49" charset="-122"/>
                <a:cs typeface="Arial" panose="020B0604020202020204" pitchFamily="34" charset="0"/>
              </a:rPr>
              <a:t>MEM.RegWrAddr</a:t>
            </a:r>
            <a:endParaRPr lang="zh-CN" altLang="en-US" sz="1100" dirty="0">
              <a:solidFill>
                <a:srgbClr val="C00000"/>
              </a:solidFill>
              <a:ea typeface="SimHei" panose="02010609060101010101" pitchFamily="49" charset="-122"/>
            </a:endParaRPr>
          </a:p>
        </p:txBody>
      </p:sp>
      <p:sp>
        <p:nvSpPr>
          <p:cNvPr id="1010" name="文本框 1009">
            <a:extLst>
              <a:ext uri="{FF2B5EF4-FFF2-40B4-BE49-F238E27FC236}">
                <a16:creationId xmlns:a16="http://schemas.microsoft.com/office/drawing/2014/main" id="{710450D5-7B21-EC1D-EC25-2F6624422C40}"/>
              </a:ext>
            </a:extLst>
          </p:cNvPr>
          <p:cNvSpPr txBox="1"/>
          <p:nvPr/>
        </p:nvSpPr>
        <p:spPr>
          <a:xfrm>
            <a:off x="6835791" y="5983381"/>
            <a:ext cx="1393085" cy="1692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>
            <a:spAutoFit/>
          </a:bodyPr>
          <a:lstStyle/>
          <a:p>
            <a:pPr algn="ctr"/>
            <a:r>
              <a:rPr lang="en-US" altLang="zh-CN" sz="1100" dirty="0">
                <a:solidFill>
                  <a:srgbClr val="C00000"/>
                </a:solidFill>
                <a:latin typeface="Arial" panose="020B0604020202020204" pitchFamily="34" charset="0"/>
                <a:ea typeface="SimHei" panose="02010609060101010101" pitchFamily="49" charset="-122"/>
                <a:cs typeface="Arial" panose="020B0604020202020204" pitchFamily="34" charset="0"/>
              </a:rPr>
              <a:t>MEM/</a:t>
            </a:r>
            <a:r>
              <a:rPr lang="en-US" altLang="zh-CN" sz="1100" dirty="0" err="1">
                <a:solidFill>
                  <a:srgbClr val="C00000"/>
                </a:solidFill>
                <a:latin typeface="Arial" panose="020B0604020202020204" pitchFamily="34" charset="0"/>
                <a:ea typeface="SimHei" panose="02010609060101010101" pitchFamily="49" charset="-122"/>
                <a:cs typeface="Arial" panose="020B0604020202020204" pitchFamily="34" charset="0"/>
              </a:rPr>
              <a:t>WB.RegWrAddr</a:t>
            </a:r>
            <a:endParaRPr lang="zh-CN" altLang="en-US" sz="1100" dirty="0">
              <a:solidFill>
                <a:srgbClr val="C00000"/>
              </a:solidFill>
              <a:ea typeface="SimHei" panose="02010609060101010101" pitchFamily="49" charset="-122"/>
            </a:endParaRPr>
          </a:p>
        </p:txBody>
      </p:sp>
      <p:sp>
        <p:nvSpPr>
          <p:cNvPr id="1011" name="Line 8">
            <a:extLst>
              <a:ext uri="{FF2B5EF4-FFF2-40B4-BE49-F238E27FC236}">
                <a16:creationId xmlns:a16="http://schemas.microsoft.com/office/drawing/2014/main" id="{219D182F-461B-3C9F-473D-446A8D379C1F}"/>
              </a:ext>
            </a:extLst>
          </p:cNvPr>
          <p:cNvSpPr>
            <a:spLocks noChangeShapeType="1"/>
          </p:cNvSpPr>
          <p:nvPr/>
        </p:nvSpPr>
        <p:spPr bwMode="auto">
          <a:xfrm>
            <a:off x="2544747" y="5390808"/>
            <a:ext cx="1637872" cy="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1012" name="Line 9">
            <a:extLst>
              <a:ext uri="{FF2B5EF4-FFF2-40B4-BE49-F238E27FC236}">
                <a16:creationId xmlns:a16="http://schemas.microsoft.com/office/drawing/2014/main" id="{8EDAF156-EB3E-5F84-EB11-BE7093B1B644}"/>
              </a:ext>
            </a:extLst>
          </p:cNvPr>
          <p:cNvSpPr>
            <a:spLocks noChangeShapeType="1"/>
          </p:cNvSpPr>
          <p:nvPr/>
        </p:nvSpPr>
        <p:spPr bwMode="auto">
          <a:xfrm>
            <a:off x="4321179" y="5390808"/>
            <a:ext cx="569532" cy="0"/>
          </a:xfrm>
          <a:prstGeom prst="line">
            <a:avLst/>
          </a:prstGeom>
          <a:noFill/>
          <a:ln w="19050">
            <a:solidFill>
              <a:srgbClr val="C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1013" name="Line 110">
            <a:extLst>
              <a:ext uri="{FF2B5EF4-FFF2-40B4-BE49-F238E27FC236}">
                <a16:creationId xmlns:a16="http://schemas.microsoft.com/office/drawing/2014/main" id="{CBE993B0-98EA-D1A2-A67E-08FA3A50D166}"/>
              </a:ext>
            </a:extLst>
          </p:cNvPr>
          <p:cNvSpPr>
            <a:spLocks noChangeShapeType="1"/>
          </p:cNvSpPr>
          <p:nvPr/>
        </p:nvSpPr>
        <p:spPr bwMode="auto">
          <a:xfrm>
            <a:off x="2554285" y="5268566"/>
            <a:ext cx="0" cy="122242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1014" name="Line 115">
            <a:extLst>
              <a:ext uri="{FF2B5EF4-FFF2-40B4-BE49-F238E27FC236}">
                <a16:creationId xmlns:a16="http://schemas.microsoft.com/office/drawing/2014/main" id="{05ED5F44-E1D6-263D-0B05-4E7112DD9D71}"/>
              </a:ext>
            </a:extLst>
          </p:cNvPr>
          <p:cNvSpPr>
            <a:spLocks noChangeShapeType="1"/>
          </p:cNvSpPr>
          <p:nvPr/>
        </p:nvSpPr>
        <p:spPr bwMode="auto">
          <a:xfrm>
            <a:off x="4890711" y="5390808"/>
            <a:ext cx="0" cy="853077"/>
          </a:xfrm>
          <a:prstGeom prst="line">
            <a:avLst/>
          </a:prstGeom>
          <a:noFill/>
          <a:ln w="19050">
            <a:solidFill>
              <a:srgbClr val="C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1015" name="Line 113">
            <a:extLst>
              <a:ext uri="{FF2B5EF4-FFF2-40B4-BE49-F238E27FC236}">
                <a16:creationId xmlns:a16="http://schemas.microsoft.com/office/drawing/2014/main" id="{6710710E-19D2-4DB3-67A1-542EC26687FF}"/>
              </a:ext>
            </a:extLst>
          </p:cNvPr>
          <p:cNvSpPr>
            <a:spLocks noChangeShapeType="1"/>
          </p:cNvSpPr>
          <p:nvPr/>
        </p:nvSpPr>
        <p:spPr bwMode="auto">
          <a:xfrm>
            <a:off x="4883688" y="6243886"/>
            <a:ext cx="837281" cy="0"/>
          </a:xfrm>
          <a:prstGeom prst="line">
            <a:avLst/>
          </a:prstGeom>
          <a:noFill/>
          <a:ln w="19050">
            <a:solidFill>
              <a:srgbClr val="C00000"/>
            </a:solidFill>
            <a:round/>
            <a:headEnd type="none" w="med" len="med"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1016" name="文本框 1015">
            <a:extLst>
              <a:ext uri="{FF2B5EF4-FFF2-40B4-BE49-F238E27FC236}">
                <a16:creationId xmlns:a16="http://schemas.microsoft.com/office/drawing/2014/main" id="{A519036A-77E1-7922-97C2-9C50104BA6CC}"/>
              </a:ext>
            </a:extLst>
          </p:cNvPr>
          <p:cNvSpPr txBox="1"/>
          <p:nvPr/>
        </p:nvSpPr>
        <p:spPr>
          <a:xfrm>
            <a:off x="4984752" y="6079976"/>
            <a:ext cx="660930" cy="1692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>
            <a:spAutoFit/>
          </a:bodyPr>
          <a:lstStyle/>
          <a:p>
            <a:pPr algn="ctr"/>
            <a:r>
              <a:rPr lang="en-US" altLang="zh-CN" sz="1100" dirty="0">
                <a:solidFill>
                  <a:srgbClr val="C00000"/>
                </a:solidFill>
                <a:latin typeface="Arial" panose="020B0604020202020204" pitchFamily="34" charset="0"/>
                <a:ea typeface="SimHei" panose="02010609060101010101" pitchFamily="49" charset="-122"/>
                <a:cs typeface="Arial" panose="020B0604020202020204" pitchFamily="34" charset="0"/>
              </a:rPr>
              <a:t>ID/EX.Rs</a:t>
            </a:r>
            <a:endParaRPr lang="zh-CN" altLang="en-US" sz="1100" dirty="0">
              <a:solidFill>
                <a:srgbClr val="C00000"/>
              </a:solidFill>
              <a:ea typeface="SimHei" panose="02010609060101010101" pitchFamily="49" charset="-122"/>
            </a:endParaRPr>
          </a:p>
        </p:txBody>
      </p:sp>
      <p:sp>
        <p:nvSpPr>
          <p:cNvPr id="1017" name="Line 115">
            <a:extLst>
              <a:ext uri="{FF2B5EF4-FFF2-40B4-BE49-F238E27FC236}">
                <a16:creationId xmlns:a16="http://schemas.microsoft.com/office/drawing/2014/main" id="{7187ACCC-0830-8E70-8070-C223D73B2A48}"/>
              </a:ext>
            </a:extLst>
          </p:cNvPr>
          <p:cNvSpPr>
            <a:spLocks noChangeShapeType="1"/>
          </p:cNvSpPr>
          <p:nvPr/>
        </p:nvSpPr>
        <p:spPr bwMode="auto">
          <a:xfrm>
            <a:off x="4965699" y="5047451"/>
            <a:ext cx="0" cy="853077"/>
          </a:xfrm>
          <a:prstGeom prst="line">
            <a:avLst/>
          </a:prstGeom>
          <a:noFill/>
          <a:ln w="19050">
            <a:solidFill>
              <a:srgbClr val="C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1018" name="Line 113">
            <a:extLst>
              <a:ext uri="{FF2B5EF4-FFF2-40B4-BE49-F238E27FC236}">
                <a16:creationId xmlns:a16="http://schemas.microsoft.com/office/drawing/2014/main" id="{7620F003-B609-E522-552D-8AF321E8D1DF}"/>
              </a:ext>
            </a:extLst>
          </p:cNvPr>
          <p:cNvSpPr>
            <a:spLocks noChangeShapeType="1"/>
          </p:cNvSpPr>
          <p:nvPr/>
        </p:nvSpPr>
        <p:spPr bwMode="auto">
          <a:xfrm>
            <a:off x="4957201" y="5898152"/>
            <a:ext cx="763769" cy="0"/>
          </a:xfrm>
          <a:prstGeom prst="line">
            <a:avLst/>
          </a:prstGeom>
          <a:noFill/>
          <a:ln w="19050">
            <a:solidFill>
              <a:srgbClr val="C00000"/>
            </a:solidFill>
            <a:round/>
            <a:headEnd type="none" w="med" len="med"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1019" name="文本框 1018">
            <a:extLst>
              <a:ext uri="{FF2B5EF4-FFF2-40B4-BE49-F238E27FC236}">
                <a16:creationId xmlns:a16="http://schemas.microsoft.com/office/drawing/2014/main" id="{05B56945-2A8F-B2B6-EF36-788CF8545D3E}"/>
              </a:ext>
            </a:extLst>
          </p:cNvPr>
          <p:cNvSpPr txBox="1"/>
          <p:nvPr/>
        </p:nvSpPr>
        <p:spPr>
          <a:xfrm>
            <a:off x="4977728" y="5749379"/>
            <a:ext cx="660930" cy="1692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>
            <a:spAutoFit/>
          </a:bodyPr>
          <a:lstStyle/>
          <a:p>
            <a:pPr algn="ctr"/>
            <a:r>
              <a:rPr lang="en-US" altLang="zh-CN" sz="1100" dirty="0">
                <a:solidFill>
                  <a:srgbClr val="C00000"/>
                </a:solidFill>
                <a:latin typeface="Arial" panose="020B0604020202020204" pitchFamily="34" charset="0"/>
                <a:ea typeface="SimHei" panose="02010609060101010101" pitchFamily="49" charset="-122"/>
                <a:cs typeface="Arial" panose="020B0604020202020204" pitchFamily="34" charset="0"/>
              </a:rPr>
              <a:t>ID/</a:t>
            </a:r>
            <a:r>
              <a:rPr lang="en-US" altLang="zh-CN" sz="1100" dirty="0" err="1">
                <a:solidFill>
                  <a:srgbClr val="C00000"/>
                </a:solidFill>
                <a:latin typeface="Arial" panose="020B0604020202020204" pitchFamily="34" charset="0"/>
                <a:ea typeface="SimHei" panose="02010609060101010101" pitchFamily="49" charset="-122"/>
                <a:cs typeface="Arial" panose="020B0604020202020204" pitchFamily="34" charset="0"/>
              </a:rPr>
              <a:t>EX.Rt</a:t>
            </a:r>
            <a:endParaRPr lang="zh-CN" altLang="en-US" sz="1100" dirty="0">
              <a:solidFill>
                <a:srgbClr val="C00000"/>
              </a:solidFill>
              <a:ea typeface="SimHei" panose="02010609060101010101" pitchFamily="49" charset="-122"/>
            </a:endParaRPr>
          </a:p>
        </p:txBody>
      </p:sp>
      <p:sp>
        <p:nvSpPr>
          <p:cNvPr id="1020" name="椭圆 1019">
            <a:extLst>
              <a:ext uri="{FF2B5EF4-FFF2-40B4-BE49-F238E27FC236}">
                <a16:creationId xmlns:a16="http://schemas.microsoft.com/office/drawing/2014/main" id="{1985FAD4-BED0-B69B-B6EC-2DC5FE6B60C3}"/>
              </a:ext>
            </a:extLst>
          </p:cNvPr>
          <p:cNvSpPr/>
          <p:nvPr/>
        </p:nvSpPr>
        <p:spPr>
          <a:xfrm>
            <a:off x="4932088" y="5020483"/>
            <a:ext cx="65862" cy="65862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1021" name="Line 113">
            <a:extLst>
              <a:ext uri="{FF2B5EF4-FFF2-40B4-BE49-F238E27FC236}">
                <a16:creationId xmlns:a16="http://schemas.microsoft.com/office/drawing/2014/main" id="{B6DD44E5-A226-53B0-1F8A-0AC8DEE567F7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5045327" y="4456279"/>
            <a:ext cx="801455" cy="1371966"/>
          </a:xfrm>
          <a:prstGeom prst="line">
            <a:avLst/>
          </a:prstGeom>
          <a:noFill/>
          <a:ln w="19050">
            <a:solidFill>
              <a:srgbClr val="C00000"/>
            </a:solidFill>
            <a:prstDash val="dashDot"/>
            <a:round/>
            <a:headEnd type="none" w="med" len="med"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1022" name="Line 113">
            <a:extLst>
              <a:ext uri="{FF2B5EF4-FFF2-40B4-BE49-F238E27FC236}">
                <a16:creationId xmlns:a16="http://schemas.microsoft.com/office/drawing/2014/main" id="{C0FE784C-B79F-8C53-71BD-55AE65F2CF15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5065036" y="3730443"/>
            <a:ext cx="971078" cy="2054069"/>
          </a:xfrm>
          <a:prstGeom prst="line">
            <a:avLst/>
          </a:prstGeom>
          <a:noFill/>
          <a:ln w="19050">
            <a:solidFill>
              <a:srgbClr val="C00000"/>
            </a:solidFill>
            <a:prstDash val="dashDot"/>
            <a:round/>
            <a:headEnd type="none" w="med" len="med"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1023" name="Text Box 119">
            <a:extLst>
              <a:ext uri="{FF2B5EF4-FFF2-40B4-BE49-F238E27FC236}">
                <a16:creationId xmlns:a16="http://schemas.microsoft.com/office/drawing/2014/main" id="{FE63BD6B-E891-A168-BD34-452841FA395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908678" y="3349036"/>
            <a:ext cx="287228" cy="27698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1425" tIns="45713" rIns="91425" bIns="45713">
            <a:spAutoFit/>
          </a:bodyPr>
          <a:lstStyle>
            <a:lvl1pPr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1pPr>
            <a:lvl2pPr marL="742950" indent="-28575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2pPr>
            <a:lvl3pPr marL="11430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3pPr>
            <a:lvl4pPr marL="16002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4pPr>
            <a:lvl5pPr marL="20574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9pPr>
          </a:lstStyle>
          <a:p>
            <a:r>
              <a:rPr lang="en-US" altLang="zh-CN" sz="1200" b="0" dirty="0">
                <a:solidFill>
                  <a:srgbClr val="00B0F0"/>
                </a:solidFill>
                <a:latin typeface="Arial" pitchFamily="34" charset="0"/>
                <a:ea typeface="SimHei" panose="02010609060101010101" pitchFamily="49" charset="-122"/>
              </a:rPr>
              <a:t>A</a:t>
            </a:r>
          </a:p>
        </p:txBody>
      </p:sp>
      <p:sp>
        <p:nvSpPr>
          <p:cNvPr id="1024" name="Text Box 119">
            <a:extLst>
              <a:ext uri="{FF2B5EF4-FFF2-40B4-BE49-F238E27FC236}">
                <a16:creationId xmlns:a16="http://schemas.microsoft.com/office/drawing/2014/main" id="{9BA89287-3E5A-9C5E-B208-6798F686578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907827" y="4076708"/>
            <a:ext cx="287228" cy="27698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1425" tIns="45713" rIns="91425" bIns="45713">
            <a:spAutoFit/>
          </a:bodyPr>
          <a:lstStyle>
            <a:lvl1pPr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1pPr>
            <a:lvl2pPr marL="742950" indent="-28575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2pPr>
            <a:lvl3pPr marL="11430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3pPr>
            <a:lvl4pPr marL="16002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4pPr>
            <a:lvl5pPr marL="20574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9pPr>
          </a:lstStyle>
          <a:p>
            <a:r>
              <a:rPr lang="en-US" altLang="zh-CN" sz="1200" b="0" dirty="0">
                <a:solidFill>
                  <a:srgbClr val="00B0F0"/>
                </a:solidFill>
                <a:latin typeface="Arial" pitchFamily="34" charset="0"/>
                <a:ea typeface="SimHei" panose="02010609060101010101" pitchFamily="49" charset="-122"/>
              </a:rPr>
              <a:t>B</a:t>
            </a:r>
          </a:p>
        </p:txBody>
      </p:sp>
    </p:spTree>
    <p:extLst>
      <p:ext uri="{BB962C8B-B14F-4D97-AF65-F5344CB8AC3E}">
        <p14:creationId xmlns:p14="http://schemas.microsoft.com/office/powerpoint/2010/main" val="2396698846"/>
      </p:ext>
    </p:extLst>
  </p:cSld>
  <p:clrMapOvr>
    <a:masterClrMapping/>
  </p:clrMapOvr>
</p:sld>
</file>

<file path=ppt/slides/slide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灯片编号占位符 3">
            <a:extLst>
              <a:ext uri="{FF2B5EF4-FFF2-40B4-BE49-F238E27FC236}">
                <a16:creationId xmlns:a16="http://schemas.microsoft.com/office/drawing/2014/main" id="{176B08E7-C6AF-43AD-AE8E-9FF3ADDB264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1806CE5-282B-4233-8654-09F35EA875E2}" type="slidenum">
              <a:rPr lang="zh-CN" altLang="en-US" smtClean="0"/>
              <a:t>98</a:t>
            </a:fld>
            <a:endParaRPr lang="zh-CN" altLang="en-US"/>
          </a:p>
        </p:txBody>
      </p:sp>
      <p:sp>
        <p:nvSpPr>
          <p:cNvPr id="7" name="标题 6">
            <a:extLst>
              <a:ext uri="{FF2B5EF4-FFF2-40B4-BE49-F238E27FC236}">
                <a16:creationId xmlns:a16="http://schemas.microsoft.com/office/drawing/2014/main" id="{7D17586B-ECB3-F6A9-F918-CEE0EC5905A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dirty="0"/>
              <a:t>包含转发的流水线通路：示例</a:t>
            </a:r>
          </a:p>
        </p:txBody>
      </p:sp>
      <p:sp>
        <p:nvSpPr>
          <p:cNvPr id="2" name="文本框 1">
            <a:extLst>
              <a:ext uri="{FF2B5EF4-FFF2-40B4-BE49-F238E27FC236}">
                <a16:creationId xmlns:a16="http://schemas.microsoft.com/office/drawing/2014/main" id="{089FE174-D2AA-FF69-7E8D-E19298062509}"/>
              </a:ext>
            </a:extLst>
          </p:cNvPr>
          <p:cNvSpPr txBox="1"/>
          <p:nvPr/>
        </p:nvSpPr>
        <p:spPr>
          <a:xfrm>
            <a:off x="17744" y="4905993"/>
            <a:ext cx="2469267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zh-CN" dirty="0">
                <a:ea typeface="SimHei" panose="02010609060101010101" pitchFamily="49" charset="-122"/>
              </a:rPr>
              <a:t>1. EX/MEM Hazard</a:t>
            </a:r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3" name="文本框 2">
            <a:extLst>
              <a:ext uri="{FF2B5EF4-FFF2-40B4-BE49-F238E27FC236}">
                <a16:creationId xmlns:a16="http://schemas.microsoft.com/office/drawing/2014/main" id="{0C66EFA2-2962-C74E-F726-35F8D1FD1014}"/>
              </a:ext>
            </a:extLst>
          </p:cNvPr>
          <p:cNvSpPr txBox="1"/>
          <p:nvPr/>
        </p:nvSpPr>
        <p:spPr>
          <a:xfrm>
            <a:off x="64197" y="5783882"/>
            <a:ext cx="4572000" cy="95410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altLang="zh-CN" sz="1400" dirty="0">
                <a:ea typeface="SimHei" panose="02010609060101010101" pitchFamily="49" charset="-122"/>
              </a:rPr>
              <a:t>if (EX/</a:t>
            </a:r>
            <a:r>
              <a:rPr lang="en-US" altLang="zh-CN" sz="1400" dirty="0" err="1">
                <a:ea typeface="SimHei" panose="02010609060101010101" pitchFamily="49" charset="-122"/>
              </a:rPr>
              <a:t>MEM.RegWrite</a:t>
            </a:r>
            <a:endParaRPr lang="en-US" altLang="zh-CN" sz="1400" dirty="0">
              <a:ea typeface="SimHei" panose="02010609060101010101" pitchFamily="49" charset="-122"/>
            </a:endParaRPr>
          </a:p>
          <a:p>
            <a:r>
              <a:rPr lang="en-US" altLang="zh-CN" sz="1400" dirty="0">
                <a:ea typeface="SimHei" panose="02010609060101010101" pitchFamily="49" charset="-122"/>
              </a:rPr>
              <a:t>and (EX/</a:t>
            </a:r>
            <a:r>
              <a:rPr lang="en-US" altLang="zh-CN" sz="1400" dirty="0" err="1">
                <a:ea typeface="SimHei" panose="02010609060101010101" pitchFamily="49" charset="-122"/>
              </a:rPr>
              <a:t>MEM.RegWrAddr</a:t>
            </a:r>
            <a:r>
              <a:rPr lang="en-US" altLang="zh-CN" sz="1400" dirty="0">
                <a:ea typeface="SimHei" panose="02010609060101010101" pitchFamily="49" charset="-122"/>
              </a:rPr>
              <a:t> != 0)</a:t>
            </a:r>
          </a:p>
          <a:p>
            <a:r>
              <a:rPr lang="en-US" altLang="zh-CN" sz="1400" dirty="0">
                <a:ea typeface="SimHei" panose="02010609060101010101" pitchFamily="49" charset="-122"/>
              </a:rPr>
              <a:t>and (EX/</a:t>
            </a:r>
            <a:r>
              <a:rPr lang="en-US" altLang="zh-CN" sz="1400" dirty="0" err="1">
                <a:ea typeface="SimHei" panose="02010609060101010101" pitchFamily="49" charset="-122"/>
              </a:rPr>
              <a:t>MEM.RegWrAddr</a:t>
            </a:r>
            <a:r>
              <a:rPr lang="en-US" altLang="zh-CN" sz="1400" dirty="0">
                <a:ea typeface="SimHei" panose="02010609060101010101" pitchFamily="49" charset="-122"/>
              </a:rPr>
              <a:t> == ID/</a:t>
            </a:r>
            <a:r>
              <a:rPr lang="en-US" altLang="zh-CN" sz="1400" dirty="0" err="1">
                <a:ea typeface="SimHei" panose="02010609060101010101" pitchFamily="49" charset="-122"/>
              </a:rPr>
              <a:t>EX.RegisterRs</a:t>
            </a:r>
            <a:r>
              <a:rPr lang="en-US" altLang="zh-CN" sz="1400" dirty="0">
                <a:ea typeface="SimHei" panose="02010609060101010101" pitchFamily="49" charset="-122"/>
              </a:rPr>
              <a:t>))</a:t>
            </a:r>
          </a:p>
          <a:p>
            <a:r>
              <a:rPr lang="en-US" altLang="zh-CN" sz="1400" dirty="0">
                <a:ea typeface="SimHei" panose="02010609060101010101" pitchFamily="49" charset="-122"/>
              </a:rPr>
              <a:t>	</a:t>
            </a:r>
            <a:r>
              <a:rPr lang="en-US" altLang="zh-CN" sz="1400" dirty="0" err="1">
                <a:ea typeface="SimHei" panose="02010609060101010101" pitchFamily="49" charset="-122"/>
              </a:rPr>
              <a:t>ForwardA</a:t>
            </a:r>
            <a:r>
              <a:rPr lang="en-US" altLang="zh-CN" sz="1400" dirty="0">
                <a:ea typeface="SimHei" panose="02010609060101010101" pitchFamily="49" charset="-122"/>
              </a:rPr>
              <a:t> = 10</a:t>
            </a:r>
          </a:p>
        </p:txBody>
      </p:sp>
      <p:sp>
        <p:nvSpPr>
          <p:cNvPr id="5" name="文本框 4">
            <a:extLst>
              <a:ext uri="{FF2B5EF4-FFF2-40B4-BE49-F238E27FC236}">
                <a16:creationId xmlns:a16="http://schemas.microsoft.com/office/drawing/2014/main" id="{3254ECD5-3273-69FB-1D07-22B1FB2591FA}"/>
              </a:ext>
            </a:extLst>
          </p:cNvPr>
          <p:cNvSpPr txBox="1"/>
          <p:nvPr/>
        </p:nvSpPr>
        <p:spPr>
          <a:xfrm>
            <a:off x="28198" y="5204182"/>
            <a:ext cx="2577694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zh-CN" dirty="0">
                <a:solidFill>
                  <a:srgbClr val="00B0F0"/>
                </a:solidFill>
                <a:ea typeface="SimHei" panose="02010609060101010101" pitchFamily="49" charset="-122"/>
              </a:rPr>
              <a:t>Forwarding datapath</a:t>
            </a:r>
          </a:p>
          <a:p>
            <a:r>
              <a:rPr lang="en-US" altLang="zh-CN" dirty="0">
                <a:solidFill>
                  <a:srgbClr val="C00000"/>
                </a:solidFill>
                <a:ea typeface="SimHei" panose="02010609060101010101" pitchFamily="49" charset="-122"/>
              </a:rPr>
              <a:t>Forwarding control unit</a:t>
            </a:r>
          </a:p>
        </p:txBody>
      </p:sp>
      <p:sp>
        <p:nvSpPr>
          <p:cNvPr id="6" name="Line 8">
            <a:extLst>
              <a:ext uri="{FF2B5EF4-FFF2-40B4-BE49-F238E27FC236}">
                <a16:creationId xmlns:a16="http://schemas.microsoft.com/office/drawing/2014/main" id="{9ACB761B-9634-4307-6126-C0A1AE5ABFBE}"/>
              </a:ext>
            </a:extLst>
          </p:cNvPr>
          <p:cNvSpPr>
            <a:spLocks noChangeShapeType="1"/>
          </p:cNvSpPr>
          <p:nvPr/>
        </p:nvSpPr>
        <p:spPr bwMode="auto">
          <a:xfrm>
            <a:off x="2554865" y="5051122"/>
            <a:ext cx="1628334" cy="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8" name="Line 9">
            <a:extLst>
              <a:ext uri="{FF2B5EF4-FFF2-40B4-BE49-F238E27FC236}">
                <a16:creationId xmlns:a16="http://schemas.microsoft.com/office/drawing/2014/main" id="{727BD2F0-FC7F-63AC-9763-2B0A9734AD89}"/>
              </a:ext>
            </a:extLst>
          </p:cNvPr>
          <p:cNvSpPr>
            <a:spLocks noChangeShapeType="1"/>
          </p:cNvSpPr>
          <p:nvPr/>
        </p:nvSpPr>
        <p:spPr bwMode="auto">
          <a:xfrm>
            <a:off x="4324793" y="5051122"/>
            <a:ext cx="1598492" cy="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9" name="Line 10">
            <a:extLst>
              <a:ext uri="{FF2B5EF4-FFF2-40B4-BE49-F238E27FC236}">
                <a16:creationId xmlns:a16="http://schemas.microsoft.com/office/drawing/2014/main" id="{5FFE2446-BBB7-9ABC-35CB-DA80AAAF91BC}"/>
              </a:ext>
            </a:extLst>
          </p:cNvPr>
          <p:cNvSpPr>
            <a:spLocks noChangeShapeType="1"/>
          </p:cNvSpPr>
          <p:nvPr/>
        </p:nvSpPr>
        <p:spPr bwMode="auto">
          <a:xfrm>
            <a:off x="6503599" y="5051122"/>
            <a:ext cx="1557537" cy="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10" name="Line 11">
            <a:extLst>
              <a:ext uri="{FF2B5EF4-FFF2-40B4-BE49-F238E27FC236}">
                <a16:creationId xmlns:a16="http://schemas.microsoft.com/office/drawing/2014/main" id="{8F35B638-EB22-2712-C1F1-00F4F8636E08}"/>
              </a:ext>
            </a:extLst>
          </p:cNvPr>
          <p:cNvSpPr>
            <a:spLocks noChangeShapeType="1"/>
          </p:cNvSpPr>
          <p:nvPr/>
        </p:nvSpPr>
        <p:spPr bwMode="auto">
          <a:xfrm>
            <a:off x="2554865" y="4792309"/>
            <a:ext cx="0" cy="258812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11" name="Line 12">
            <a:extLst>
              <a:ext uri="{FF2B5EF4-FFF2-40B4-BE49-F238E27FC236}">
                <a16:creationId xmlns:a16="http://schemas.microsoft.com/office/drawing/2014/main" id="{0EAD354E-9A24-1B87-60C5-8823D13A42AF}"/>
              </a:ext>
            </a:extLst>
          </p:cNvPr>
          <p:cNvSpPr>
            <a:spLocks noChangeShapeType="1"/>
          </p:cNvSpPr>
          <p:nvPr/>
        </p:nvSpPr>
        <p:spPr bwMode="auto">
          <a:xfrm>
            <a:off x="2484068" y="5709987"/>
            <a:ext cx="5860257" cy="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12" name="Line 13">
            <a:extLst>
              <a:ext uri="{FF2B5EF4-FFF2-40B4-BE49-F238E27FC236}">
                <a16:creationId xmlns:a16="http://schemas.microsoft.com/office/drawing/2014/main" id="{891AFE81-370F-CA67-B38B-1DF83BCDC99A}"/>
              </a:ext>
            </a:extLst>
          </p:cNvPr>
          <p:cNvSpPr>
            <a:spLocks noChangeShapeType="1"/>
          </p:cNvSpPr>
          <p:nvPr/>
        </p:nvSpPr>
        <p:spPr bwMode="auto">
          <a:xfrm>
            <a:off x="8202731" y="5051122"/>
            <a:ext cx="141594" cy="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13" name="Line 14">
            <a:extLst>
              <a:ext uri="{FF2B5EF4-FFF2-40B4-BE49-F238E27FC236}">
                <a16:creationId xmlns:a16="http://schemas.microsoft.com/office/drawing/2014/main" id="{2B593E5C-1D83-D3CE-1280-0066ACE20C6F}"/>
              </a:ext>
            </a:extLst>
          </p:cNvPr>
          <p:cNvSpPr>
            <a:spLocks noChangeShapeType="1"/>
          </p:cNvSpPr>
          <p:nvPr/>
        </p:nvSpPr>
        <p:spPr bwMode="auto">
          <a:xfrm>
            <a:off x="8344324" y="5051122"/>
            <a:ext cx="0" cy="658865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14" name="Line 15">
            <a:extLst>
              <a:ext uri="{FF2B5EF4-FFF2-40B4-BE49-F238E27FC236}">
                <a16:creationId xmlns:a16="http://schemas.microsoft.com/office/drawing/2014/main" id="{30A7E9E7-256F-247A-98E6-2C450308068C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484068" y="3938359"/>
            <a:ext cx="0" cy="177162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15" name="Line 16">
            <a:extLst>
              <a:ext uri="{FF2B5EF4-FFF2-40B4-BE49-F238E27FC236}">
                <a16:creationId xmlns:a16="http://schemas.microsoft.com/office/drawing/2014/main" id="{499CE7F1-8898-E695-3310-36260AE19217}"/>
              </a:ext>
            </a:extLst>
          </p:cNvPr>
          <p:cNvSpPr>
            <a:spLocks noChangeShapeType="1"/>
          </p:cNvSpPr>
          <p:nvPr/>
        </p:nvSpPr>
        <p:spPr bwMode="auto">
          <a:xfrm>
            <a:off x="2484068" y="3943450"/>
            <a:ext cx="353986" cy="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grpSp>
        <p:nvGrpSpPr>
          <p:cNvPr id="16" name="Group 17">
            <a:extLst>
              <a:ext uri="{FF2B5EF4-FFF2-40B4-BE49-F238E27FC236}">
                <a16:creationId xmlns:a16="http://schemas.microsoft.com/office/drawing/2014/main" id="{5D4D15B3-DE4C-E464-E903-1937A8D5A488}"/>
              </a:ext>
            </a:extLst>
          </p:cNvPr>
          <p:cNvGrpSpPr>
            <a:grpSpLocks/>
          </p:cNvGrpSpPr>
          <p:nvPr/>
        </p:nvGrpSpPr>
        <p:grpSpPr bwMode="auto">
          <a:xfrm>
            <a:off x="1563705" y="2268886"/>
            <a:ext cx="353986" cy="776438"/>
            <a:chOff x="1392" y="2880"/>
            <a:chExt cx="288" cy="480"/>
          </a:xfrm>
        </p:grpSpPr>
        <p:sp>
          <p:nvSpPr>
            <p:cNvPr id="17" name="Line 18">
              <a:extLst>
                <a:ext uri="{FF2B5EF4-FFF2-40B4-BE49-F238E27FC236}">
                  <a16:creationId xmlns:a16="http://schemas.microsoft.com/office/drawing/2014/main" id="{84E149FD-54E6-87EA-FF9C-0E2DF6AD0A6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92" y="3072"/>
              <a:ext cx="48" cy="48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18" name="Line 19">
              <a:extLst>
                <a:ext uri="{FF2B5EF4-FFF2-40B4-BE49-F238E27FC236}">
                  <a16:creationId xmlns:a16="http://schemas.microsoft.com/office/drawing/2014/main" id="{DCFBC701-6FF3-B746-F69D-D80AC64C44A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392" y="3120"/>
              <a:ext cx="48" cy="48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19" name="Line 20">
              <a:extLst>
                <a:ext uri="{FF2B5EF4-FFF2-40B4-BE49-F238E27FC236}">
                  <a16:creationId xmlns:a16="http://schemas.microsoft.com/office/drawing/2014/main" id="{112A7A02-C65F-B044-157E-F140F0A8B1A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392" y="2880"/>
              <a:ext cx="0" cy="19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20" name="Line 21">
              <a:extLst>
                <a:ext uri="{FF2B5EF4-FFF2-40B4-BE49-F238E27FC236}">
                  <a16:creationId xmlns:a16="http://schemas.microsoft.com/office/drawing/2014/main" id="{6F42C19E-A1D3-C305-587E-326145C9116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392" y="3168"/>
              <a:ext cx="0" cy="19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21" name="Line 22">
              <a:extLst>
                <a:ext uri="{FF2B5EF4-FFF2-40B4-BE49-F238E27FC236}">
                  <a16:creationId xmlns:a16="http://schemas.microsoft.com/office/drawing/2014/main" id="{4D04C041-65D0-6877-395B-9C42E372DE1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392" y="3216"/>
              <a:ext cx="288" cy="144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22" name="Line 23">
              <a:extLst>
                <a:ext uri="{FF2B5EF4-FFF2-40B4-BE49-F238E27FC236}">
                  <a16:creationId xmlns:a16="http://schemas.microsoft.com/office/drawing/2014/main" id="{A53E0938-939C-582E-572F-CFEBFDD367D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680" y="3024"/>
              <a:ext cx="0" cy="19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23" name="Line 24">
              <a:extLst>
                <a:ext uri="{FF2B5EF4-FFF2-40B4-BE49-F238E27FC236}">
                  <a16:creationId xmlns:a16="http://schemas.microsoft.com/office/drawing/2014/main" id="{E8A0EB45-8D4C-7823-0802-8F92C54FBB8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92" y="2880"/>
              <a:ext cx="288" cy="144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</p:grpSp>
      <p:sp>
        <p:nvSpPr>
          <p:cNvPr id="24" name="Rectangle 25">
            <a:extLst>
              <a:ext uri="{FF2B5EF4-FFF2-40B4-BE49-F238E27FC236}">
                <a16:creationId xmlns:a16="http://schemas.microsoft.com/office/drawing/2014/main" id="{129B280A-C88F-2CB5-78B0-F87A5E2A6B28}"/>
              </a:ext>
            </a:extLst>
          </p:cNvPr>
          <p:cNvSpPr>
            <a:spLocks noChangeArrowheads="1"/>
          </p:cNvSpPr>
          <p:nvPr/>
        </p:nvSpPr>
        <p:spPr bwMode="auto">
          <a:xfrm>
            <a:off x="926530" y="3110028"/>
            <a:ext cx="1203552" cy="1229360"/>
          </a:xfrm>
          <a:prstGeom prst="rect">
            <a:avLst/>
          </a:prstGeom>
          <a:noFill/>
          <a:ln w="19050">
            <a:solidFill>
              <a:schemeClr val="tx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25" name="Rectangle 26">
            <a:extLst>
              <a:ext uri="{FF2B5EF4-FFF2-40B4-BE49-F238E27FC236}">
                <a16:creationId xmlns:a16="http://schemas.microsoft.com/office/drawing/2014/main" id="{2141CB04-C29E-6132-7B9F-AB75C957DF05}"/>
              </a:ext>
            </a:extLst>
          </p:cNvPr>
          <p:cNvSpPr>
            <a:spLocks noChangeArrowheads="1"/>
          </p:cNvSpPr>
          <p:nvPr/>
        </p:nvSpPr>
        <p:spPr bwMode="auto">
          <a:xfrm>
            <a:off x="501748" y="3433543"/>
            <a:ext cx="141594" cy="711735"/>
          </a:xfrm>
          <a:prstGeom prst="rect">
            <a:avLst/>
          </a:prstGeom>
          <a:noFill/>
          <a:ln w="19050">
            <a:solidFill>
              <a:schemeClr val="tx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26" name="Line 27">
            <a:extLst>
              <a:ext uri="{FF2B5EF4-FFF2-40B4-BE49-F238E27FC236}">
                <a16:creationId xmlns:a16="http://schemas.microsoft.com/office/drawing/2014/main" id="{41996E78-F087-293D-BC16-EF4833137029}"/>
              </a:ext>
            </a:extLst>
          </p:cNvPr>
          <p:cNvSpPr>
            <a:spLocks noChangeShapeType="1"/>
          </p:cNvSpPr>
          <p:nvPr/>
        </p:nvSpPr>
        <p:spPr bwMode="auto">
          <a:xfrm>
            <a:off x="643342" y="3757059"/>
            <a:ext cx="283189" cy="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27" name="Line 28">
            <a:extLst>
              <a:ext uri="{FF2B5EF4-FFF2-40B4-BE49-F238E27FC236}">
                <a16:creationId xmlns:a16="http://schemas.microsoft.com/office/drawing/2014/main" id="{B124AB6D-0A53-61E3-D0A3-340E032A11E7}"/>
              </a:ext>
            </a:extLst>
          </p:cNvPr>
          <p:cNvSpPr>
            <a:spLocks noChangeShapeType="1"/>
          </p:cNvSpPr>
          <p:nvPr/>
        </p:nvSpPr>
        <p:spPr bwMode="auto">
          <a:xfrm>
            <a:off x="714139" y="2398293"/>
            <a:ext cx="849565" cy="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28" name="Line 29">
            <a:extLst>
              <a:ext uri="{FF2B5EF4-FFF2-40B4-BE49-F238E27FC236}">
                <a16:creationId xmlns:a16="http://schemas.microsoft.com/office/drawing/2014/main" id="{E7943AF4-B73D-5ADE-4215-22CE5333F3C8}"/>
              </a:ext>
            </a:extLst>
          </p:cNvPr>
          <p:cNvSpPr>
            <a:spLocks noChangeShapeType="1"/>
          </p:cNvSpPr>
          <p:nvPr/>
        </p:nvSpPr>
        <p:spPr bwMode="auto">
          <a:xfrm>
            <a:off x="1209719" y="2915918"/>
            <a:ext cx="353986" cy="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29" name="Text Box 30">
            <a:extLst>
              <a:ext uri="{FF2B5EF4-FFF2-40B4-BE49-F238E27FC236}">
                <a16:creationId xmlns:a16="http://schemas.microsoft.com/office/drawing/2014/main" id="{C703AF67-A4CB-44A1-FDC6-89A52EC33A5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55733" y="3562950"/>
            <a:ext cx="747290" cy="46165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1425" tIns="45713" rIns="91425" bIns="45713">
            <a:spAutoFit/>
          </a:bodyPr>
          <a:lstStyle>
            <a:lvl1pPr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1pPr>
            <a:lvl2pPr marL="742950" indent="-28575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2pPr>
            <a:lvl3pPr marL="11430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3pPr>
            <a:lvl4pPr marL="16002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4pPr>
            <a:lvl5pPr marL="20574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9pPr>
          </a:lstStyle>
          <a:p>
            <a:r>
              <a:rPr lang="en-US" altLang="zh-CN" sz="1200" b="0" dirty="0">
                <a:latin typeface="Arial" pitchFamily="34" charset="0"/>
                <a:ea typeface="SimHei" panose="02010609060101010101" pitchFamily="49" charset="-122"/>
              </a:rPr>
              <a:t>Read</a:t>
            </a:r>
          </a:p>
          <a:p>
            <a:r>
              <a:rPr lang="en-US" altLang="zh-CN" sz="1200" b="0" dirty="0">
                <a:latin typeface="Arial" pitchFamily="34" charset="0"/>
                <a:ea typeface="SimHei" panose="02010609060101010101" pitchFamily="49" charset="-122"/>
              </a:rPr>
              <a:t>Address</a:t>
            </a:r>
          </a:p>
        </p:txBody>
      </p:sp>
      <p:sp>
        <p:nvSpPr>
          <p:cNvPr id="30" name="Text Box 31">
            <a:extLst>
              <a:ext uri="{FF2B5EF4-FFF2-40B4-BE49-F238E27FC236}">
                <a16:creationId xmlns:a16="http://schemas.microsoft.com/office/drawing/2014/main" id="{5A9ADED9-A0A6-E7D8-D9D9-7A3378DA0F5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108760" y="3121247"/>
            <a:ext cx="1010183" cy="52320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1425" tIns="45713" rIns="91425" bIns="45713">
            <a:spAutoFit/>
          </a:bodyPr>
          <a:lstStyle>
            <a:lvl1pPr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1pPr>
            <a:lvl2pPr marL="742950" indent="-28575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2pPr>
            <a:lvl3pPr marL="11430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3pPr>
            <a:lvl4pPr marL="16002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4pPr>
            <a:lvl5pPr marL="20574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9pPr>
          </a:lstStyle>
          <a:p>
            <a:pPr algn="ctr"/>
            <a:r>
              <a:rPr lang="en-US" altLang="zh-CN" sz="1400" b="0" dirty="0">
                <a:latin typeface="Arial" pitchFamily="34" charset="0"/>
                <a:ea typeface="SimHei" panose="02010609060101010101" pitchFamily="49" charset="-122"/>
              </a:rPr>
              <a:t>Instruction</a:t>
            </a:r>
          </a:p>
          <a:p>
            <a:pPr algn="ctr"/>
            <a:r>
              <a:rPr lang="en-US" altLang="zh-CN" sz="1400" b="0" dirty="0">
                <a:latin typeface="Arial" pitchFamily="34" charset="0"/>
                <a:ea typeface="SimHei" panose="02010609060101010101" pitchFamily="49" charset="-122"/>
              </a:rPr>
              <a:t>Memory</a:t>
            </a:r>
          </a:p>
        </p:txBody>
      </p:sp>
      <p:sp>
        <p:nvSpPr>
          <p:cNvPr id="31" name="Text Box 32">
            <a:extLst>
              <a:ext uri="{FF2B5EF4-FFF2-40B4-BE49-F238E27FC236}">
                <a16:creationId xmlns:a16="http://schemas.microsoft.com/office/drawing/2014/main" id="{3F41FCF9-6119-6B2D-8CE7-00A13DE6C76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40106" y="2527564"/>
            <a:ext cx="457146" cy="27698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1425" tIns="45713" rIns="91425" bIns="45713">
            <a:spAutoFit/>
          </a:bodyPr>
          <a:lstStyle>
            <a:lvl1pPr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1pPr>
            <a:lvl2pPr marL="742950" indent="-28575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2pPr>
            <a:lvl3pPr marL="11430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3pPr>
            <a:lvl4pPr marL="16002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4pPr>
            <a:lvl5pPr marL="20574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9pPr>
          </a:lstStyle>
          <a:p>
            <a:r>
              <a:rPr lang="en-US" altLang="zh-CN" sz="1200" b="0" dirty="0">
                <a:latin typeface="Arial" pitchFamily="34" charset="0"/>
                <a:ea typeface="SimHei" panose="02010609060101010101" pitchFamily="49" charset="-122"/>
              </a:rPr>
              <a:t>Add</a:t>
            </a:r>
          </a:p>
        </p:txBody>
      </p:sp>
      <p:sp>
        <p:nvSpPr>
          <p:cNvPr id="32" name="Text Box 33">
            <a:extLst>
              <a:ext uri="{FF2B5EF4-FFF2-40B4-BE49-F238E27FC236}">
                <a16:creationId xmlns:a16="http://schemas.microsoft.com/office/drawing/2014/main" id="{2C530002-E0AF-7933-C860-CC39B1092535}"/>
              </a:ext>
            </a:extLst>
          </p:cNvPr>
          <p:cNvSpPr txBox="1">
            <a:spLocks noChangeArrowheads="1"/>
          </p:cNvSpPr>
          <p:nvPr/>
        </p:nvSpPr>
        <p:spPr bwMode="auto">
          <a:xfrm rot="16200000">
            <a:off x="375842" y="3670463"/>
            <a:ext cx="397836" cy="27698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1425" tIns="45713" rIns="91425" bIns="45713">
            <a:spAutoFit/>
          </a:bodyPr>
          <a:lstStyle>
            <a:lvl1pPr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1pPr>
            <a:lvl2pPr marL="742950" indent="-28575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2pPr>
            <a:lvl3pPr marL="11430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3pPr>
            <a:lvl4pPr marL="16002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4pPr>
            <a:lvl5pPr marL="20574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9pPr>
          </a:lstStyle>
          <a:p>
            <a:r>
              <a:rPr lang="en-US" altLang="zh-CN" sz="1200" b="0" dirty="0">
                <a:latin typeface="Arial" pitchFamily="34" charset="0"/>
                <a:ea typeface="SimHei" panose="02010609060101010101" pitchFamily="49" charset="-122"/>
              </a:rPr>
              <a:t>PC</a:t>
            </a:r>
          </a:p>
        </p:txBody>
      </p:sp>
      <p:sp>
        <p:nvSpPr>
          <p:cNvPr id="33" name="Line 34">
            <a:extLst>
              <a:ext uri="{FF2B5EF4-FFF2-40B4-BE49-F238E27FC236}">
                <a16:creationId xmlns:a16="http://schemas.microsoft.com/office/drawing/2014/main" id="{EBE86CEE-57CC-8D12-46CD-CF65CDDDBCC0}"/>
              </a:ext>
            </a:extLst>
          </p:cNvPr>
          <p:cNvSpPr>
            <a:spLocks noChangeShapeType="1"/>
          </p:cNvSpPr>
          <p:nvPr/>
        </p:nvSpPr>
        <p:spPr bwMode="auto">
          <a:xfrm>
            <a:off x="218559" y="3757059"/>
            <a:ext cx="283189" cy="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34" name="Text Box 35">
            <a:extLst>
              <a:ext uri="{FF2B5EF4-FFF2-40B4-BE49-F238E27FC236}">
                <a16:creationId xmlns:a16="http://schemas.microsoft.com/office/drawing/2014/main" id="{9CA65E29-A0B4-022F-92C5-09B27324C58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97327" y="2786512"/>
            <a:ext cx="269595" cy="27698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1425" tIns="45713" rIns="91425" bIns="45713">
            <a:spAutoFit/>
          </a:bodyPr>
          <a:lstStyle>
            <a:lvl1pPr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1pPr>
            <a:lvl2pPr marL="742950" indent="-28575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2pPr>
            <a:lvl3pPr marL="11430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3pPr>
            <a:lvl4pPr marL="16002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4pPr>
            <a:lvl5pPr marL="20574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9pPr>
          </a:lstStyle>
          <a:p>
            <a:r>
              <a:rPr lang="en-US" altLang="zh-CN" sz="1200" b="0" dirty="0">
                <a:latin typeface="Arial" pitchFamily="34" charset="0"/>
                <a:ea typeface="SimHei" panose="02010609060101010101" pitchFamily="49" charset="-122"/>
              </a:rPr>
              <a:t>4</a:t>
            </a:r>
          </a:p>
        </p:txBody>
      </p:sp>
      <p:sp>
        <p:nvSpPr>
          <p:cNvPr id="35" name="Line 36">
            <a:extLst>
              <a:ext uri="{FF2B5EF4-FFF2-40B4-BE49-F238E27FC236}">
                <a16:creationId xmlns:a16="http://schemas.microsoft.com/office/drawing/2014/main" id="{B358BE73-DE98-DE4E-EE60-D9A790130445}"/>
              </a:ext>
            </a:extLst>
          </p:cNvPr>
          <p:cNvSpPr>
            <a:spLocks noChangeShapeType="1"/>
          </p:cNvSpPr>
          <p:nvPr/>
        </p:nvSpPr>
        <p:spPr bwMode="auto">
          <a:xfrm>
            <a:off x="218559" y="1686557"/>
            <a:ext cx="0" cy="2070501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36" name="AutoShape 37">
            <a:extLst>
              <a:ext uri="{FF2B5EF4-FFF2-40B4-BE49-F238E27FC236}">
                <a16:creationId xmlns:a16="http://schemas.microsoft.com/office/drawing/2014/main" id="{62185C70-26E5-719A-A82C-6496B75D1B78}"/>
              </a:ext>
            </a:extLst>
          </p:cNvPr>
          <p:cNvSpPr>
            <a:spLocks noChangeArrowheads="1"/>
          </p:cNvSpPr>
          <p:nvPr/>
        </p:nvSpPr>
        <p:spPr bwMode="auto">
          <a:xfrm rot="5400000" flipH="1">
            <a:off x="812359" y="1612713"/>
            <a:ext cx="582329" cy="212392"/>
          </a:xfrm>
          <a:custGeom>
            <a:avLst/>
            <a:gdLst>
              <a:gd name="T0" fmla="*/ 8 w 21600"/>
              <a:gd name="T1" fmla="*/ 0 h 21600"/>
              <a:gd name="T2" fmla="*/ 4 w 21600"/>
              <a:gd name="T3" fmla="*/ 1 h 21600"/>
              <a:gd name="T4" fmla="*/ 1 w 21600"/>
              <a:gd name="T5" fmla="*/ 0 h 21600"/>
              <a:gd name="T6" fmla="*/ 4 w 21600"/>
              <a:gd name="T7" fmla="*/ 0 h 21600"/>
              <a:gd name="T8" fmla="*/ 0 60000 65536"/>
              <a:gd name="T9" fmla="*/ 0 60000 65536"/>
              <a:gd name="T10" fmla="*/ 0 60000 65536"/>
              <a:gd name="T11" fmla="*/ 0 60000 65536"/>
              <a:gd name="T12" fmla="*/ 4500 w 21600"/>
              <a:gd name="T13" fmla="*/ 4500 h 21600"/>
              <a:gd name="T14" fmla="*/ 17100 w 21600"/>
              <a:gd name="T15" fmla="*/ 17100 h 21600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21600" h="21600">
                <a:moveTo>
                  <a:pt x="0" y="0"/>
                </a:moveTo>
                <a:lnTo>
                  <a:pt x="5400" y="21600"/>
                </a:lnTo>
                <a:lnTo>
                  <a:pt x="16200" y="21600"/>
                </a:lnTo>
                <a:lnTo>
                  <a:pt x="21600" y="0"/>
                </a:lnTo>
                <a:lnTo>
                  <a:pt x="0" y="0"/>
                </a:lnTo>
                <a:close/>
              </a:path>
            </a:pathLst>
          </a:custGeom>
          <a:noFill/>
          <a:ln w="19050">
            <a:solidFill>
              <a:schemeClr val="tx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37" name="Line 38">
            <a:extLst>
              <a:ext uri="{FF2B5EF4-FFF2-40B4-BE49-F238E27FC236}">
                <a16:creationId xmlns:a16="http://schemas.microsoft.com/office/drawing/2014/main" id="{CB823B78-089E-6D17-003C-848728F7E4FC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18558" y="1686557"/>
            <a:ext cx="778768" cy="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39" name="Rectangle 40">
            <a:extLst>
              <a:ext uri="{FF2B5EF4-FFF2-40B4-BE49-F238E27FC236}">
                <a16:creationId xmlns:a16="http://schemas.microsoft.com/office/drawing/2014/main" id="{B2F98998-14E4-AA14-6AF3-F9173DB4227F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1093425" y="1451795"/>
            <a:ext cx="148229" cy="57136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19047" tIns="26984" rIns="19047" bIns="26984"/>
          <a:lstStyle/>
          <a:p>
            <a:pPr eaLnBrk="0" hangingPunct="0">
              <a:spcBef>
                <a:spcPts val="600"/>
              </a:spcBef>
              <a:spcAft>
                <a:spcPts val="600"/>
              </a:spcAft>
            </a:pPr>
            <a:r>
              <a:rPr lang="en-US" altLang="zh-CN" sz="1200" dirty="0">
                <a:latin typeface="Arial" pitchFamily="34" charset="0"/>
                <a:ea typeface="SimHei" panose="02010609060101010101" pitchFamily="49" charset="-122"/>
              </a:rPr>
              <a:t>1</a:t>
            </a:r>
          </a:p>
          <a:p>
            <a:pPr eaLnBrk="0" hangingPunct="0">
              <a:spcBef>
                <a:spcPts val="600"/>
              </a:spcBef>
              <a:spcAft>
                <a:spcPts val="600"/>
              </a:spcAft>
            </a:pPr>
            <a:r>
              <a:rPr lang="en-US" altLang="zh-CN" sz="1200" dirty="0">
                <a:latin typeface="Arial" pitchFamily="34" charset="0"/>
                <a:ea typeface="SimHei" panose="02010609060101010101" pitchFamily="49" charset="-122"/>
              </a:rPr>
              <a:t>0</a:t>
            </a:r>
          </a:p>
        </p:txBody>
      </p:sp>
      <p:sp>
        <p:nvSpPr>
          <p:cNvPr id="41" name="Line 41">
            <a:extLst>
              <a:ext uri="{FF2B5EF4-FFF2-40B4-BE49-F238E27FC236}">
                <a16:creationId xmlns:a16="http://schemas.microsoft.com/office/drawing/2014/main" id="{9CB17F65-AE04-99C4-E7AD-8E4A7C9194D5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209718" y="1557152"/>
            <a:ext cx="5506272" cy="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42" name="Line 42">
            <a:extLst>
              <a:ext uri="{FF2B5EF4-FFF2-40B4-BE49-F238E27FC236}">
                <a16:creationId xmlns:a16="http://schemas.microsoft.com/office/drawing/2014/main" id="{190F3667-E4E2-2C71-C572-DDAA30A8B90B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625662" y="5500902"/>
            <a:ext cx="6143445" cy="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43" name="Rectangle 43">
            <a:extLst>
              <a:ext uri="{FF2B5EF4-FFF2-40B4-BE49-F238E27FC236}">
                <a16:creationId xmlns:a16="http://schemas.microsoft.com/office/drawing/2014/main" id="{816F3BDF-1FF2-EAAF-7CB7-E8BE41685B2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38053" y="3110028"/>
            <a:ext cx="1203552" cy="1229360"/>
          </a:xfrm>
          <a:prstGeom prst="rect">
            <a:avLst/>
          </a:prstGeom>
          <a:noFill/>
          <a:ln w="19050">
            <a:solidFill>
              <a:schemeClr val="tx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44" name="Line 44">
            <a:extLst>
              <a:ext uri="{FF2B5EF4-FFF2-40B4-BE49-F238E27FC236}">
                <a16:creationId xmlns:a16="http://schemas.microsoft.com/office/drawing/2014/main" id="{A57F22E9-B7AA-85E4-C05C-940B0AA49BAE}"/>
              </a:ext>
            </a:extLst>
          </p:cNvPr>
          <p:cNvSpPr>
            <a:spLocks noChangeShapeType="1"/>
          </p:cNvSpPr>
          <p:nvPr/>
        </p:nvSpPr>
        <p:spPr bwMode="auto">
          <a:xfrm>
            <a:off x="2130082" y="3757059"/>
            <a:ext cx="141594" cy="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45" name="Line 45">
            <a:extLst>
              <a:ext uri="{FF2B5EF4-FFF2-40B4-BE49-F238E27FC236}">
                <a16:creationId xmlns:a16="http://schemas.microsoft.com/office/drawing/2014/main" id="{66E61ABE-A82A-F14A-7C97-304B2761D397}"/>
              </a:ext>
            </a:extLst>
          </p:cNvPr>
          <p:cNvSpPr>
            <a:spLocks noChangeShapeType="1"/>
          </p:cNvSpPr>
          <p:nvPr/>
        </p:nvSpPr>
        <p:spPr bwMode="auto">
          <a:xfrm>
            <a:off x="2554865" y="3562950"/>
            <a:ext cx="283189" cy="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46" name="Text Box 46">
            <a:extLst>
              <a:ext uri="{FF2B5EF4-FFF2-40B4-BE49-F238E27FC236}">
                <a16:creationId xmlns:a16="http://schemas.microsoft.com/office/drawing/2014/main" id="{B1742E39-A774-1DF0-7514-480E1CAF8D4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767255" y="4080574"/>
            <a:ext cx="908039" cy="27698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1425" tIns="45713" rIns="91425" bIns="45713">
            <a:spAutoFit/>
          </a:bodyPr>
          <a:lstStyle>
            <a:lvl1pPr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1pPr>
            <a:lvl2pPr marL="742950" indent="-28575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2pPr>
            <a:lvl3pPr marL="11430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3pPr>
            <a:lvl4pPr marL="16002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4pPr>
            <a:lvl5pPr marL="20574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9pPr>
          </a:lstStyle>
          <a:p>
            <a:r>
              <a:rPr lang="en-US" altLang="zh-CN" sz="1200" b="0" dirty="0">
                <a:latin typeface="Arial" pitchFamily="34" charset="0"/>
                <a:ea typeface="SimHei" panose="02010609060101010101" pitchFamily="49" charset="-122"/>
              </a:rPr>
              <a:t>Write Data</a:t>
            </a:r>
          </a:p>
        </p:txBody>
      </p:sp>
      <p:sp>
        <p:nvSpPr>
          <p:cNvPr id="47" name="Text Box 47">
            <a:extLst>
              <a:ext uri="{FF2B5EF4-FFF2-40B4-BE49-F238E27FC236}">
                <a16:creationId xmlns:a16="http://schemas.microsoft.com/office/drawing/2014/main" id="{CAAC93F3-26F3-3767-59E4-FD3A6910010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780531" y="3057456"/>
            <a:ext cx="636682" cy="46165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1425" tIns="45713" rIns="91425" bIns="45713">
            <a:spAutoFit/>
          </a:bodyPr>
          <a:lstStyle>
            <a:lvl1pPr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1pPr>
            <a:lvl2pPr marL="742950" indent="-28575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2pPr>
            <a:lvl3pPr marL="11430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3pPr>
            <a:lvl4pPr marL="16002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4pPr>
            <a:lvl5pPr marL="20574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9pPr>
          </a:lstStyle>
          <a:p>
            <a:r>
              <a:rPr lang="en-US" altLang="zh-CN" sz="1200" b="0" dirty="0">
                <a:latin typeface="Arial" pitchFamily="34" charset="0"/>
                <a:ea typeface="SimHei" panose="02010609060101010101" pitchFamily="49" charset="-122"/>
              </a:rPr>
              <a:t>Read </a:t>
            </a:r>
          </a:p>
          <a:p>
            <a:r>
              <a:rPr lang="en-US" altLang="zh-CN" sz="1200" b="0" dirty="0" err="1">
                <a:latin typeface="Arial" pitchFamily="34" charset="0"/>
                <a:ea typeface="SimHei" panose="02010609060101010101" pitchFamily="49" charset="-122"/>
              </a:rPr>
              <a:t>Addr</a:t>
            </a:r>
            <a:r>
              <a:rPr lang="en-US" altLang="zh-CN" sz="1200" b="0" dirty="0">
                <a:latin typeface="Arial" pitchFamily="34" charset="0"/>
                <a:ea typeface="SimHei" panose="02010609060101010101" pitchFamily="49" charset="-122"/>
              </a:rPr>
              <a:t> 1</a:t>
            </a:r>
          </a:p>
        </p:txBody>
      </p:sp>
      <p:sp>
        <p:nvSpPr>
          <p:cNvPr id="48" name="Text Box 48">
            <a:extLst>
              <a:ext uri="{FF2B5EF4-FFF2-40B4-BE49-F238E27FC236}">
                <a16:creationId xmlns:a16="http://schemas.microsoft.com/office/drawing/2014/main" id="{CBC1DC49-7352-540C-DC76-25C9F4351DD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776106" y="3398496"/>
            <a:ext cx="636682" cy="46165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1425" tIns="45713" rIns="91425" bIns="45713">
            <a:spAutoFit/>
          </a:bodyPr>
          <a:lstStyle>
            <a:lvl1pPr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1pPr>
            <a:lvl2pPr marL="742950" indent="-28575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2pPr>
            <a:lvl3pPr marL="11430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3pPr>
            <a:lvl4pPr marL="16002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4pPr>
            <a:lvl5pPr marL="20574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9pPr>
          </a:lstStyle>
          <a:p>
            <a:r>
              <a:rPr lang="en-US" altLang="zh-CN" sz="1200" b="0" dirty="0">
                <a:latin typeface="Arial" pitchFamily="34" charset="0"/>
                <a:ea typeface="SimHei" panose="02010609060101010101" pitchFamily="49" charset="-122"/>
              </a:rPr>
              <a:t>Read </a:t>
            </a:r>
          </a:p>
          <a:p>
            <a:r>
              <a:rPr lang="en-US" altLang="zh-CN" sz="1200" b="0" dirty="0" err="1">
                <a:latin typeface="Arial" pitchFamily="34" charset="0"/>
                <a:ea typeface="SimHei" panose="02010609060101010101" pitchFamily="49" charset="-122"/>
              </a:rPr>
              <a:t>Addr</a:t>
            </a:r>
            <a:r>
              <a:rPr lang="en-US" altLang="zh-CN" sz="1200" b="0" dirty="0">
                <a:latin typeface="Arial" pitchFamily="34" charset="0"/>
                <a:ea typeface="SimHei" panose="02010609060101010101" pitchFamily="49" charset="-122"/>
              </a:rPr>
              <a:t> 2</a:t>
            </a:r>
          </a:p>
        </p:txBody>
      </p:sp>
      <p:sp>
        <p:nvSpPr>
          <p:cNvPr id="49" name="Text Box 49">
            <a:extLst>
              <a:ext uri="{FF2B5EF4-FFF2-40B4-BE49-F238E27FC236}">
                <a16:creationId xmlns:a16="http://schemas.microsoft.com/office/drawing/2014/main" id="{DDDB1C81-70CF-9DEC-672E-53AE4E1282D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781966" y="3821761"/>
            <a:ext cx="899575" cy="27698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1425" tIns="45713" rIns="91425" bIns="45713">
            <a:spAutoFit/>
          </a:bodyPr>
          <a:lstStyle>
            <a:lvl1pPr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1pPr>
            <a:lvl2pPr marL="742950" indent="-28575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2pPr>
            <a:lvl3pPr marL="11430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3pPr>
            <a:lvl4pPr marL="16002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4pPr>
            <a:lvl5pPr marL="20574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9pPr>
          </a:lstStyle>
          <a:p>
            <a:r>
              <a:rPr lang="en-US" altLang="zh-CN" sz="1200" b="0" dirty="0">
                <a:latin typeface="Arial" pitchFamily="34" charset="0"/>
                <a:ea typeface="SimHei" panose="02010609060101010101" pitchFamily="49" charset="-122"/>
              </a:rPr>
              <a:t>Write </a:t>
            </a:r>
            <a:r>
              <a:rPr lang="en-US" altLang="zh-CN" sz="1200" b="0" dirty="0" err="1">
                <a:latin typeface="Arial" pitchFamily="34" charset="0"/>
                <a:ea typeface="SimHei" panose="02010609060101010101" pitchFamily="49" charset="-122"/>
              </a:rPr>
              <a:t>Addr</a:t>
            </a:r>
            <a:endParaRPr lang="en-US" altLang="zh-CN" sz="1200" b="0" dirty="0">
              <a:latin typeface="Arial" pitchFamily="34" charset="0"/>
              <a:ea typeface="SimHei" panose="02010609060101010101" pitchFamily="49" charset="-122"/>
            </a:endParaRPr>
          </a:p>
        </p:txBody>
      </p:sp>
      <p:sp>
        <p:nvSpPr>
          <p:cNvPr id="50" name="Text Box 50">
            <a:extLst>
              <a:ext uri="{FF2B5EF4-FFF2-40B4-BE49-F238E27FC236}">
                <a16:creationId xmlns:a16="http://schemas.microsoft.com/office/drawing/2014/main" id="{66329BDF-DD2C-4286-FFD3-BF5592C3EE0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313446" y="3538515"/>
            <a:ext cx="603020" cy="30776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1425" tIns="45713" rIns="91425" bIns="45713">
            <a:spAutoFit/>
          </a:bodyPr>
          <a:lstStyle>
            <a:lvl1pPr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1pPr>
            <a:lvl2pPr marL="742950" indent="-28575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2pPr>
            <a:lvl3pPr marL="11430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3pPr>
            <a:lvl4pPr marL="16002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4pPr>
            <a:lvl5pPr marL="20574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9pPr>
          </a:lstStyle>
          <a:p>
            <a:pPr algn="ctr"/>
            <a:r>
              <a:rPr lang="en-US" altLang="zh-CN" sz="1400" b="0" dirty="0">
                <a:latin typeface="Arial" pitchFamily="34" charset="0"/>
                <a:ea typeface="SimHei" panose="02010609060101010101" pitchFamily="49" charset="-122"/>
              </a:rPr>
              <a:t>Regs</a:t>
            </a:r>
          </a:p>
        </p:txBody>
      </p:sp>
      <p:sp>
        <p:nvSpPr>
          <p:cNvPr id="52" name="Text Box 51">
            <a:extLst>
              <a:ext uri="{FF2B5EF4-FFF2-40B4-BE49-F238E27FC236}">
                <a16:creationId xmlns:a16="http://schemas.microsoft.com/office/drawing/2014/main" id="{6A049AED-2A0E-3171-086C-7E72A0F8E95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434243" y="3132558"/>
            <a:ext cx="679964" cy="46165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1425" tIns="45713" rIns="91425" bIns="45713">
            <a:spAutoFit/>
          </a:bodyPr>
          <a:lstStyle>
            <a:lvl1pPr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1pPr>
            <a:lvl2pPr marL="742950" indent="-28575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2pPr>
            <a:lvl3pPr marL="11430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3pPr>
            <a:lvl4pPr marL="16002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4pPr>
            <a:lvl5pPr marL="20574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9pPr>
          </a:lstStyle>
          <a:p>
            <a:pPr algn="r"/>
            <a:r>
              <a:rPr lang="en-US" altLang="zh-CN" sz="1200" b="0" dirty="0">
                <a:latin typeface="Arial" pitchFamily="34" charset="0"/>
                <a:ea typeface="SimHei" panose="02010609060101010101" pitchFamily="49" charset="-122"/>
              </a:rPr>
              <a:t>Read</a:t>
            </a:r>
          </a:p>
          <a:p>
            <a:pPr algn="r"/>
            <a:r>
              <a:rPr lang="en-US" altLang="zh-CN" sz="1200" b="0" dirty="0">
                <a:latin typeface="Arial" pitchFamily="34" charset="0"/>
                <a:ea typeface="SimHei" panose="02010609060101010101" pitchFamily="49" charset="-122"/>
              </a:rPr>
              <a:t> Data 1</a:t>
            </a:r>
          </a:p>
        </p:txBody>
      </p:sp>
      <p:sp>
        <p:nvSpPr>
          <p:cNvPr id="53" name="Text Box 52">
            <a:extLst>
              <a:ext uri="{FF2B5EF4-FFF2-40B4-BE49-F238E27FC236}">
                <a16:creationId xmlns:a16="http://schemas.microsoft.com/office/drawing/2014/main" id="{21F8C7C0-B4C5-272B-3735-44AA11D1CBB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422113" y="3821762"/>
            <a:ext cx="679964" cy="46165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1425" tIns="45713" rIns="91425" bIns="45713">
            <a:spAutoFit/>
          </a:bodyPr>
          <a:lstStyle>
            <a:lvl1pPr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1pPr>
            <a:lvl2pPr marL="742950" indent="-28575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2pPr>
            <a:lvl3pPr marL="11430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3pPr>
            <a:lvl4pPr marL="16002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4pPr>
            <a:lvl5pPr marL="20574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9pPr>
          </a:lstStyle>
          <a:p>
            <a:pPr algn="r"/>
            <a:r>
              <a:rPr lang="en-US" altLang="zh-CN" sz="1200" b="0" dirty="0">
                <a:latin typeface="Arial" pitchFamily="34" charset="0"/>
                <a:ea typeface="SimHei" panose="02010609060101010101" pitchFamily="49" charset="-122"/>
              </a:rPr>
              <a:t>Read</a:t>
            </a:r>
          </a:p>
          <a:p>
            <a:pPr algn="r"/>
            <a:r>
              <a:rPr lang="en-US" altLang="zh-CN" sz="1200" b="0" dirty="0">
                <a:latin typeface="Arial" pitchFamily="34" charset="0"/>
                <a:ea typeface="SimHei" panose="02010609060101010101" pitchFamily="49" charset="-122"/>
              </a:rPr>
              <a:t> Data 2</a:t>
            </a:r>
          </a:p>
        </p:txBody>
      </p:sp>
      <p:sp>
        <p:nvSpPr>
          <p:cNvPr id="54" name="Line 53">
            <a:extLst>
              <a:ext uri="{FF2B5EF4-FFF2-40B4-BE49-F238E27FC236}">
                <a16:creationId xmlns:a16="http://schemas.microsoft.com/office/drawing/2014/main" id="{C34936D2-E6F8-E3D8-8486-44065D91985F}"/>
              </a:ext>
            </a:extLst>
          </p:cNvPr>
          <p:cNvSpPr>
            <a:spLocks noChangeShapeType="1"/>
          </p:cNvSpPr>
          <p:nvPr/>
        </p:nvSpPr>
        <p:spPr bwMode="auto">
          <a:xfrm>
            <a:off x="2554865" y="4792309"/>
            <a:ext cx="353986" cy="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55" name="Line 54">
            <a:extLst>
              <a:ext uri="{FF2B5EF4-FFF2-40B4-BE49-F238E27FC236}">
                <a16:creationId xmlns:a16="http://schemas.microsoft.com/office/drawing/2014/main" id="{F0E05AA7-552F-01CA-2DEA-9C0728AC7738}"/>
              </a:ext>
            </a:extLst>
          </p:cNvPr>
          <p:cNvSpPr>
            <a:spLocks noChangeShapeType="1"/>
          </p:cNvSpPr>
          <p:nvPr/>
        </p:nvSpPr>
        <p:spPr bwMode="auto">
          <a:xfrm>
            <a:off x="2727430" y="4730576"/>
            <a:ext cx="70797" cy="129407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56" name="Line 55">
            <a:extLst>
              <a:ext uri="{FF2B5EF4-FFF2-40B4-BE49-F238E27FC236}">
                <a16:creationId xmlns:a16="http://schemas.microsoft.com/office/drawing/2014/main" id="{4233766F-224C-E7F4-61F0-6509B5D563C4}"/>
              </a:ext>
            </a:extLst>
          </p:cNvPr>
          <p:cNvSpPr>
            <a:spLocks noChangeShapeType="1"/>
          </p:cNvSpPr>
          <p:nvPr/>
        </p:nvSpPr>
        <p:spPr bwMode="auto">
          <a:xfrm>
            <a:off x="3857232" y="4715974"/>
            <a:ext cx="70797" cy="129407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57" name="Text Box 56">
            <a:extLst>
              <a:ext uri="{FF2B5EF4-FFF2-40B4-BE49-F238E27FC236}">
                <a16:creationId xmlns:a16="http://schemas.microsoft.com/office/drawing/2014/main" id="{AAADD536-9244-706D-5370-1E47085A35B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616816" y="4813251"/>
            <a:ext cx="353976" cy="27698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1425" tIns="45713" rIns="91425" bIns="45713">
            <a:spAutoFit/>
          </a:bodyPr>
          <a:lstStyle>
            <a:lvl1pPr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1pPr>
            <a:lvl2pPr marL="742950" indent="-28575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2pPr>
            <a:lvl3pPr marL="11430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3pPr>
            <a:lvl4pPr marL="16002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4pPr>
            <a:lvl5pPr marL="20574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9pPr>
          </a:lstStyle>
          <a:p>
            <a:r>
              <a:rPr lang="en-US" altLang="zh-CN" sz="1200" b="0" dirty="0">
                <a:latin typeface="Arial" pitchFamily="34" charset="0"/>
                <a:ea typeface="SimHei" panose="02010609060101010101" pitchFamily="49" charset="-122"/>
              </a:rPr>
              <a:t>16</a:t>
            </a:r>
          </a:p>
        </p:txBody>
      </p:sp>
      <p:sp>
        <p:nvSpPr>
          <p:cNvPr id="58" name="Text Box 57">
            <a:extLst>
              <a:ext uri="{FF2B5EF4-FFF2-40B4-BE49-F238E27FC236}">
                <a16:creationId xmlns:a16="http://schemas.microsoft.com/office/drawing/2014/main" id="{2935D6A2-9D10-A47F-39B2-942C311D4DE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758415" y="4792309"/>
            <a:ext cx="354554" cy="27698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1425" tIns="45713" rIns="91425" bIns="45713">
            <a:spAutoFit/>
          </a:bodyPr>
          <a:lstStyle>
            <a:lvl1pPr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1pPr>
            <a:lvl2pPr marL="742950" indent="-28575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2pPr>
            <a:lvl3pPr marL="11430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3pPr>
            <a:lvl4pPr marL="16002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4pPr>
            <a:lvl5pPr marL="20574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9pPr>
          </a:lstStyle>
          <a:p>
            <a:r>
              <a:rPr lang="en-US" altLang="zh-CN" sz="1200" b="0" dirty="0">
                <a:latin typeface="Arial" pitchFamily="34" charset="0"/>
                <a:ea typeface="SimHei" panose="02010609060101010101" pitchFamily="49" charset="-122"/>
              </a:rPr>
              <a:t>32</a:t>
            </a:r>
          </a:p>
        </p:txBody>
      </p:sp>
      <p:sp>
        <p:nvSpPr>
          <p:cNvPr id="59" name="Line 58">
            <a:extLst>
              <a:ext uri="{FF2B5EF4-FFF2-40B4-BE49-F238E27FC236}">
                <a16:creationId xmlns:a16="http://schemas.microsoft.com/office/drawing/2014/main" id="{6BB81AF1-42CF-D03D-A021-4B11CDDA7BAE}"/>
              </a:ext>
            </a:extLst>
          </p:cNvPr>
          <p:cNvSpPr>
            <a:spLocks noChangeShapeType="1"/>
          </p:cNvSpPr>
          <p:nvPr/>
        </p:nvSpPr>
        <p:spPr bwMode="auto">
          <a:xfrm>
            <a:off x="2625662" y="4209981"/>
            <a:ext cx="212391" cy="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60" name="Line 59">
            <a:extLst>
              <a:ext uri="{FF2B5EF4-FFF2-40B4-BE49-F238E27FC236}">
                <a16:creationId xmlns:a16="http://schemas.microsoft.com/office/drawing/2014/main" id="{F8CCB036-4449-D8FA-1917-0BB513B73AB4}"/>
              </a:ext>
            </a:extLst>
          </p:cNvPr>
          <p:cNvSpPr>
            <a:spLocks noChangeShapeType="1"/>
          </p:cNvSpPr>
          <p:nvPr/>
        </p:nvSpPr>
        <p:spPr bwMode="auto">
          <a:xfrm>
            <a:off x="4424969" y="4339388"/>
            <a:ext cx="0" cy="452922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61" name="Line 60">
            <a:extLst>
              <a:ext uri="{FF2B5EF4-FFF2-40B4-BE49-F238E27FC236}">
                <a16:creationId xmlns:a16="http://schemas.microsoft.com/office/drawing/2014/main" id="{B9817F15-00A8-1E0C-81DD-5F9E65649419}"/>
              </a:ext>
            </a:extLst>
          </p:cNvPr>
          <p:cNvSpPr>
            <a:spLocks noChangeShapeType="1"/>
          </p:cNvSpPr>
          <p:nvPr/>
        </p:nvSpPr>
        <p:spPr bwMode="auto">
          <a:xfrm>
            <a:off x="4041604" y="4015871"/>
            <a:ext cx="141594" cy="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62" name="Line 61">
            <a:extLst>
              <a:ext uri="{FF2B5EF4-FFF2-40B4-BE49-F238E27FC236}">
                <a16:creationId xmlns:a16="http://schemas.microsoft.com/office/drawing/2014/main" id="{1EEA9156-210D-66CF-18EC-85137EB56A92}"/>
              </a:ext>
            </a:extLst>
          </p:cNvPr>
          <p:cNvSpPr>
            <a:spLocks noChangeShapeType="1"/>
          </p:cNvSpPr>
          <p:nvPr/>
        </p:nvSpPr>
        <p:spPr bwMode="auto">
          <a:xfrm>
            <a:off x="2554865" y="3239433"/>
            <a:ext cx="0" cy="1552876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63" name="Line 62">
            <a:extLst>
              <a:ext uri="{FF2B5EF4-FFF2-40B4-BE49-F238E27FC236}">
                <a16:creationId xmlns:a16="http://schemas.microsoft.com/office/drawing/2014/main" id="{52037432-5F99-D343-3890-9FDADA6CC371}"/>
              </a:ext>
            </a:extLst>
          </p:cNvPr>
          <p:cNvSpPr>
            <a:spLocks noChangeShapeType="1"/>
          </p:cNvSpPr>
          <p:nvPr/>
        </p:nvSpPr>
        <p:spPr bwMode="auto">
          <a:xfrm>
            <a:off x="2554865" y="3239433"/>
            <a:ext cx="283189" cy="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1041" name="Line 63">
            <a:extLst>
              <a:ext uri="{FF2B5EF4-FFF2-40B4-BE49-F238E27FC236}">
                <a16:creationId xmlns:a16="http://schemas.microsoft.com/office/drawing/2014/main" id="{894FB877-5726-21C9-4008-9C88EC0651A7}"/>
              </a:ext>
            </a:extLst>
          </p:cNvPr>
          <p:cNvSpPr>
            <a:spLocks noChangeShapeType="1"/>
          </p:cNvSpPr>
          <p:nvPr/>
        </p:nvSpPr>
        <p:spPr bwMode="auto">
          <a:xfrm>
            <a:off x="4324793" y="4015871"/>
            <a:ext cx="615015" cy="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1042" name="Line 64">
            <a:extLst>
              <a:ext uri="{FF2B5EF4-FFF2-40B4-BE49-F238E27FC236}">
                <a16:creationId xmlns:a16="http://schemas.microsoft.com/office/drawing/2014/main" id="{2F478E83-6054-5D45-9135-9D7EC6764165}"/>
              </a:ext>
            </a:extLst>
          </p:cNvPr>
          <p:cNvSpPr>
            <a:spLocks noChangeShapeType="1"/>
          </p:cNvSpPr>
          <p:nvPr/>
        </p:nvSpPr>
        <p:spPr bwMode="auto">
          <a:xfrm>
            <a:off x="6220412" y="3821762"/>
            <a:ext cx="141179" cy="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1043" name="Freeform 65">
            <a:extLst>
              <a:ext uri="{FF2B5EF4-FFF2-40B4-BE49-F238E27FC236}">
                <a16:creationId xmlns:a16="http://schemas.microsoft.com/office/drawing/2014/main" id="{70E04C49-4107-BE4E-F9AD-2BD22C586B6F}"/>
              </a:ext>
            </a:extLst>
          </p:cNvPr>
          <p:cNvSpPr>
            <a:spLocks/>
          </p:cNvSpPr>
          <p:nvPr/>
        </p:nvSpPr>
        <p:spPr bwMode="auto">
          <a:xfrm>
            <a:off x="5724830" y="3239433"/>
            <a:ext cx="495580" cy="1099954"/>
          </a:xfrm>
          <a:custGeom>
            <a:avLst/>
            <a:gdLst>
              <a:gd name="T0" fmla="*/ 0 w 388"/>
              <a:gd name="T1" fmla="*/ 0 h 1099"/>
              <a:gd name="T2" fmla="*/ 0 w 388"/>
              <a:gd name="T3" fmla="*/ 235 h 1099"/>
              <a:gd name="T4" fmla="*/ 83 w 388"/>
              <a:gd name="T5" fmla="*/ 305 h 1099"/>
              <a:gd name="T6" fmla="*/ 0 w 388"/>
              <a:gd name="T7" fmla="*/ 370 h 1099"/>
              <a:gd name="T8" fmla="*/ 0 w 388"/>
              <a:gd name="T9" fmla="*/ 605 h 1099"/>
              <a:gd name="T10" fmla="*/ 290 w 388"/>
              <a:gd name="T11" fmla="*/ 436 h 1099"/>
              <a:gd name="T12" fmla="*/ 290 w 388"/>
              <a:gd name="T13" fmla="*/ 170 h 1099"/>
              <a:gd name="T14" fmla="*/ 0 w 388"/>
              <a:gd name="T15" fmla="*/ 0 h 1099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0" t="0" r="r" b="b"/>
            <a:pathLst>
              <a:path w="388" h="1099">
                <a:moveTo>
                  <a:pt x="0" y="0"/>
                </a:moveTo>
                <a:lnTo>
                  <a:pt x="0" y="427"/>
                </a:lnTo>
                <a:lnTo>
                  <a:pt x="111" y="553"/>
                </a:lnTo>
                <a:lnTo>
                  <a:pt x="0" y="671"/>
                </a:lnTo>
                <a:lnTo>
                  <a:pt x="0" y="1098"/>
                </a:lnTo>
                <a:lnTo>
                  <a:pt x="387" y="790"/>
                </a:lnTo>
                <a:lnTo>
                  <a:pt x="387" y="308"/>
                </a:lnTo>
                <a:lnTo>
                  <a:pt x="0" y="0"/>
                </a:lnTo>
              </a:path>
            </a:pathLst>
          </a:custGeom>
          <a:noFill/>
          <a:ln w="19050" cap="rnd" cmpd="sng">
            <a:solidFill>
              <a:srgbClr val="000000"/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1044" name="Rectangle 66">
            <a:extLst>
              <a:ext uri="{FF2B5EF4-FFF2-40B4-BE49-F238E27FC236}">
                <a16:creationId xmlns:a16="http://schemas.microsoft.com/office/drawing/2014/main" id="{BA2CCD47-C3E8-F899-EAFE-C13BC4401BEB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14802" y="3684524"/>
            <a:ext cx="441007" cy="18496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19047" tIns="26984" rIns="19047" bIns="26984"/>
          <a:lstStyle/>
          <a:p>
            <a:pPr algn="ctr" defTabSz="903288" eaLnBrk="0" hangingPunct="0">
              <a:lnSpc>
                <a:spcPts val="1600"/>
              </a:lnSpc>
              <a:tabLst>
                <a:tab pos="452438" algn="l"/>
                <a:tab pos="903288" algn="l"/>
                <a:tab pos="1357313" algn="l"/>
              </a:tabLst>
            </a:pPr>
            <a:r>
              <a:rPr lang="en-US" altLang="zh-CN" sz="1400" dirty="0">
                <a:solidFill>
                  <a:srgbClr val="000000"/>
                </a:solidFill>
                <a:latin typeface="Arial" pitchFamily="34" charset="0"/>
                <a:ea typeface="SimHei" panose="02010609060101010101" pitchFamily="49" charset="-122"/>
              </a:rPr>
              <a:t>ALU</a:t>
            </a:r>
          </a:p>
        </p:txBody>
      </p:sp>
      <p:sp>
        <p:nvSpPr>
          <p:cNvPr id="1045" name="AutoShape 67">
            <a:extLst>
              <a:ext uri="{FF2B5EF4-FFF2-40B4-BE49-F238E27FC236}">
                <a16:creationId xmlns:a16="http://schemas.microsoft.com/office/drawing/2014/main" id="{4285DC2B-7FF2-D08C-4C34-46C279D8E807}"/>
              </a:ext>
            </a:extLst>
          </p:cNvPr>
          <p:cNvSpPr>
            <a:spLocks noChangeArrowheads="1"/>
          </p:cNvSpPr>
          <p:nvPr/>
        </p:nvSpPr>
        <p:spPr bwMode="auto">
          <a:xfrm rot="16200000">
            <a:off x="5177430" y="4077678"/>
            <a:ext cx="647031" cy="212392"/>
          </a:xfrm>
          <a:custGeom>
            <a:avLst/>
            <a:gdLst>
              <a:gd name="T0" fmla="*/ 9 w 21600"/>
              <a:gd name="T1" fmla="*/ 0 h 21600"/>
              <a:gd name="T2" fmla="*/ 5 w 21600"/>
              <a:gd name="T3" fmla="*/ 1 h 21600"/>
              <a:gd name="T4" fmla="*/ 1 w 21600"/>
              <a:gd name="T5" fmla="*/ 0 h 21600"/>
              <a:gd name="T6" fmla="*/ 5 w 21600"/>
              <a:gd name="T7" fmla="*/ 0 h 21600"/>
              <a:gd name="T8" fmla="*/ 0 60000 65536"/>
              <a:gd name="T9" fmla="*/ 0 60000 65536"/>
              <a:gd name="T10" fmla="*/ 0 60000 65536"/>
              <a:gd name="T11" fmla="*/ 0 60000 65536"/>
              <a:gd name="T12" fmla="*/ 4500 w 21600"/>
              <a:gd name="T13" fmla="*/ 4500 h 21600"/>
              <a:gd name="T14" fmla="*/ 17100 w 21600"/>
              <a:gd name="T15" fmla="*/ 17100 h 21600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21600" h="21600">
                <a:moveTo>
                  <a:pt x="0" y="0"/>
                </a:moveTo>
                <a:lnTo>
                  <a:pt x="5400" y="21600"/>
                </a:lnTo>
                <a:lnTo>
                  <a:pt x="16200" y="21600"/>
                </a:lnTo>
                <a:lnTo>
                  <a:pt x="21600" y="0"/>
                </a:lnTo>
                <a:lnTo>
                  <a:pt x="0" y="0"/>
                </a:lnTo>
                <a:close/>
              </a:path>
            </a:pathLst>
          </a:custGeom>
          <a:noFill/>
          <a:ln w="19050">
            <a:solidFill>
              <a:schemeClr val="tx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1046" name="Line 68">
            <a:extLst>
              <a:ext uri="{FF2B5EF4-FFF2-40B4-BE49-F238E27FC236}">
                <a16:creationId xmlns:a16="http://schemas.microsoft.com/office/drawing/2014/main" id="{1452773C-FC4C-4448-0429-884D41FA4D4A}"/>
              </a:ext>
            </a:extLst>
          </p:cNvPr>
          <p:cNvSpPr>
            <a:spLocks noChangeShapeType="1"/>
          </p:cNvSpPr>
          <p:nvPr/>
        </p:nvSpPr>
        <p:spPr bwMode="auto">
          <a:xfrm>
            <a:off x="5611830" y="4145278"/>
            <a:ext cx="121886" cy="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1047" name="Rectangle 70">
            <a:extLst>
              <a:ext uri="{FF2B5EF4-FFF2-40B4-BE49-F238E27FC236}">
                <a16:creationId xmlns:a16="http://schemas.microsoft.com/office/drawing/2014/main" id="{414908AB-2702-A0EB-4BC8-BA2DCD0E0035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19826" y="3908088"/>
            <a:ext cx="112094" cy="6355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19047" tIns="26984" rIns="19047" bIns="26984"/>
          <a:lstStyle/>
          <a:p>
            <a:pPr eaLnBrk="0" hangingPunct="0">
              <a:spcBef>
                <a:spcPts val="600"/>
              </a:spcBef>
              <a:spcAft>
                <a:spcPts val="600"/>
              </a:spcAft>
            </a:pPr>
            <a:r>
              <a:rPr lang="en-US" altLang="zh-CN" sz="1200" dirty="0">
                <a:latin typeface="Arial" pitchFamily="34" charset="0"/>
                <a:ea typeface="SimHei" panose="02010609060101010101" pitchFamily="49" charset="-122"/>
              </a:rPr>
              <a:t>1</a:t>
            </a:r>
          </a:p>
          <a:p>
            <a:pPr eaLnBrk="0" hangingPunct="0">
              <a:spcBef>
                <a:spcPts val="600"/>
              </a:spcBef>
              <a:spcAft>
                <a:spcPts val="600"/>
              </a:spcAft>
            </a:pPr>
            <a:r>
              <a:rPr lang="en-US" altLang="zh-CN" sz="1200" dirty="0">
                <a:latin typeface="Arial" pitchFamily="34" charset="0"/>
                <a:ea typeface="SimHei" panose="02010609060101010101" pitchFamily="49" charset="-122"/>
              </a:rPr>
              <a:t>0</a:t>
            </a:r>
          </a:p>
        </p:txBody>
      </p:sp>
      <p:sp>
        <p:nvSpPr>
          <p:cNvPr id="1048" name="Line 71">
            <a:extLst>
              <a:ext uri="{FF2B5EF4-FFF2-40B4-BE49-F238E27FC236}">
                <a16:creationId xmlns:a16="http://schemas.microsoft.com/office/drawing/2014/main" id="{8B692A54-81AF-D9D5-F4A4-41232E898367}"/>
              </a:ext>
            </a:extLst>
          </p:cNvPr>
          <p:cNvSpPr>
            <a:spLocks noChangeShapeType="1"/>
          </p:cNvSpPr>
          <p:nvPr/>
        </p:nvSpPr>
        <p:spPr bwMode="auto">
          <a:xfrm>
            <a:off x="5278995" y="4409473"/>
            <a:ext cx="115753" cy="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1049" name="Line 72">
            <a:extLst>
              <a:ext uri="{FF2B5EF4-FFF2-40B4-BE49-F238E27FC236}">
                <a16:creationId xmlns:a16="http://schemas.microsoft.com/office/drawing/2014/main" id="{AA009013-2607-46B7-373D-966AC5F4305F}"/>
              </a:ext>
            </a:extLst>
          </p:cNvPr>
          <p:cNvSpPr>
            <a:spLocks noChangeShapeType="1"/>
          </p:cNvSpPr>
          <p:nvPr/>
        </p:nvSpPr>
        <p:spPr bwMode="auto">
          <a:xfrm>
            <a:off x="4324793" y="3309289"/>
            <a:ext cx="615012" cy="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1050" name="Oval 73">
            <a:extLst>
              <a:ext uri="{FF2B5EF4-FFF2-40B4-BE49-F238E27FC236}">
                <a16:creationId xmlns:a16="http://schemas.microsoft.com/office/drawing/2014/main" id="{A1AA974C-EE12-4049-7BBF-DA1C0F8BB3F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13797" y="2732034"/>
            <a:ext cx="375559" cy="400437"/>
          </a:xfrm>
          <a:prstGeom prst="ellips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1051" name="Rectangle 74">
            <a:extLst>
              <a:ext uri="{FF2B5EF4-FFF2-40B4-BE49-F238E27FC236}">
                <a16:creationId xmlns:a16="http://schemas.microsoft.com/office/drawing/2014/main" id="{C8E930C6-5AF5-D66A-8771-732B2063997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85575" y="2818386"/>
            <a:ext cx="411790" cy="223213"/>
          </a:xfrm>
          <a:prstGeom prst="rect">
            <a:avLst/>
          </a:prstGeom>
          <a:noFill/>
          <a:ln w="12700">
            <a:noFill/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19047" tIns="26984" rIns="19047" bIns="26984"/>
          <a:lstStyle/>
          <a:p>
            <a:pPr algn="ctr" defTabSz="903288" eaLnBrk="0" hangingPunct="0">
              <a:lnSpc>
                <a:spcPts val="1600"/>
              </a:lnSpc>
              <a:tabLst>
                <a:tab pos="452438" algn="l"/>
                <a:tab pos="903288" algn="l"/>
                <a:tab pos="1357313" algn="l"/>
              </a:tabLst>
            </a:pPr>
            <a:r>
              <a:rPr lang="en-US" altLang="zh-CN" sz="1400" dirty="0">
                <a:solidFill>
                  <a:srgbClr val="000000"/>
                </a:solidFill>
                <a:latin typeface="Arial" pitchFamily="34" charset="0"/>
                <a:ea typeface="SimHei" panose="02010609060101010101" pitchFamily="49" charset="-122"/>
              </a:rPr>
              <a:t>&lt;&lt;2</a:t>
            </a:r>
          </a:p>
        </p:txBody>
      </p:sp>
      <p:sp>
        <p:nvSpPr>
          <p:cNvPr id="1052" name="Line 75">
            <a:extLst>
              <a:ext uri="{FF2B5EF4-FFF2-40B4-BE49-F238E27FC236}">
                <a16:creationId xmlns:a16="http://schemas.microsoft.com/office/drawing/2014/main" id="{372FEAB6-84E6-67FB-E255-5F7D385510BA}"/>
              </a:ext>
            </a:extLst>
          </p:cNvPr>
          <p:cNvSpPr>
            <a:spLocks noChangeShapeType="1"/>
          </p:cNvSpPr>
          <p:nvPr/>
        </p:nvSpPr>
        <p:spPr bwMode="auto">
          <a:xfrm>
            <a:off x="4424969" y="2969666"/>
            <a:ext cx="287192" cy="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grpSp>
        <p:nvGrpSpPr>
          <p:cNvPr id="1053" name="Group 76">
            <a:extLst>
              <a:ext uri="{FF2B5EF4-FFF2-40B4-BE49-F238E27FC236}">
                <a16:creationId xmlns:a16="http://schemas.microsoft.com/office/drawing/2014/main" id="{155AC1F1-12EE-5D2B-E0AD-7BF344FB3298}"/>
              </a:ext>
            </a:extLst>
          </p:cNvPr>
          <p:cNvGrpSpPr>
            <a:grpSpLocks/>
          </p:cNvGrpSpPr>
          <p:nvPr/>
        </p:nvGrpSpPr>
        <p:grpSpPr bwMode="auto">
          <a:xfrm>
            <a:off x="5933566" y="2405815"/>
            <a:ext cx="331862" cy="776438"/>
            <a:chOff x="1392" y="2880"/>
            <a:chExt cx="288" cy="480"/>
          </a:xfrm>
        </p:grpSpPr>
        <p:sp>
          <p:nvSpPr>
            <p:cNvPr id="1054" name="Line 77">
              <a:extLst>
                <a:ext uri="{FF2B5EF4-FFF2-40B4-BE49-F238E27FC236}">
                  <a16:creationId xmlns:a16="http://schemas.microsoft.com/office/drawing/2014/main" id="{4343EF83-B084-9C8E-36FC-3718C8B979D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92" y="3072"/>
              <a:ext cx="48" cy="48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1055" name="Line 78">
              <a:extLst>
                <a:ext uri="{FF2B5EF4-FFF2-40B4-BE49-F238E27FC236}">
                  <a16:creationId xmlns:a16="http://schemas.microsoft.com/office/drawing/2014/main" id="{2E2F1AE9-E084-B7F4-B864-84F156C1EB6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392" y="3120"/>
              <a:ext cx="48" cy="48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1056" name="Line 79">
              <a:extLst>
                <a:ext uri="{FF2B5EF4-FFF2-40B4-BE49-F238E27FC236}">
                  <a16:creationId xmlns:a16="http://schemas.microsoft.com/office/drawing/2014/main" id="{5E245421-A4CE-7C12-02DE-95077DC6BF9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392" y="2880"/>
              <a:ext cx="0" cy="19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1057" name="Line 80">
              <a:extLst>
                <a:ext uri="{FF2B5EF4-FFF2-40B4-BE49-F238E27FC236}">
                  <a16:creationId xmlns:a16="http://schemas.microsoft.com/office/drawing/2014/main" id="{88424864-E6EA-3ABA-3481-42773D15FAF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392" y="3168"/>
              <a:ext cx="0" cy="19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1058" name="Line 81">
              <a:extLst>
                <a:ext uri="{FF2B5EF4-FFF2-40B4-BE49-F238E27FC236}">
                  <a16:creationId xmlns:a16="http://schemas.microsoft.com/office/drawing/2014/main" id="{BEE0987C-F5BF-05C3-F1B7-DFC5163BE0B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392" y="3216"/>
              <a:ext cx="288" cy="144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1059" name="Line 82">
              <a:extLst>
                <a:ext uri="{FF2B5EF4-FFF2-40B4-BE49-F238E27FC236}">
                  <a16:creationId xmlns:a16="http://schemas.microsoft.com/office/drawing/2014/main" id="{7B28E7B2-38A8-37E6-3AAC-9BE9D7C5933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680" y="3024"/>
              <a:ext cx="0" cy="19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1060" name="Line 83">
              <a:extLst>
                <a:ext uri="{FF2B5EF4-FFF2-40B4-BE49-F238E27FC236}">
                  <a16:creationId xmlns:a16="http://schemas.microsoft.com/office/drawing/2014/main" id="{A858CBB4-3FB1-419F-41D0-02AA471E1E6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92" y="2880"/>
              <a:ext cx="288" cy="144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</p:grpSp>
      <p:sp>
        <p:nvSpPr>
          <p:cNvPr id="1061" name="Text Box 84">
            <a:extLst>
              <a:ext uri="{FF2B5EF4-FFF2-40B4-BE49-F238E27FC236}">
                <a16:creationId xmlns:a16="http://schemas.microsoft.com/office/drawing/2014/main" id="{61B8BC5A-B875-1C19-7B1F-4FF0F4FFEFE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99676" y="2669721"/>
            <a:ext cx="457146" cy="27698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1425" tIns="45713" rIns="91425" bIns="45713">
            <a:spAutoFit/>
          </a:bodyPr>
          <a:lstStyle>
            <a:lvl1pPr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1pPr>
            <a:lvl2pPr marL="742950" indent="-28575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2pPr>
            <a:lvl3pPr marL="11430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3pPr>
            <a:lvl4pPr marL="16002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4pPr>
            <a:lvl5pPr marL="20574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9pPr>
          </a:lstStyle>
          <a:p>
            <a:r>
              <a:rPr lang="en-US" altLang="zh-CN" sz="1200" b="0" dirty="0">
                <a:latin typeface="Arial" pitchFamily="34" charset="0"/>
                <a:ea typeface="SimHei" panose="02010609060101010101" pitchFamily="49" charset="-122"/>
              </a:rPr>
              <a:t>Add</a:t>
            </a:r>
          </a:p>
        </p:txBody>
      </p:sp>
      <p:sp>
        <p:nvSpPr>
          <p:cNvPr id="1062" name="Line 85">
            <a:extLst>
              <a:ext uri="{FF2B5EF4-FFF2-40B4-BE49-F238E27FC236}">
                <a16:creationId xmlns:a16="http://schemas.microsoft.com/office/drawing/2014/main" id="{A8DEACF8-14E3-979D-469E-A4B96B89DB75}"/>
              </a:ext>
            </a:extLst>
          </p:cNvPr>
          <p:cNvSpPr>
            <a:spLocks noChangeShapeType="1"/>
          </p:cNvSpPr>
          <p:nvPr/>
        </p:nvSpPr>
        <p:spPr bwMode="auto">
          <a:xfrm>
            <a:off x="5093828" y="2969880"/>
            <a:ext cx="850184" cy="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1063" name="Rectangle 86">
            <a:extLst>
              <a:ext uri="{FF2B5EF4-FFF2-40B4-BE49-F238E27FC236}">
                <a16:creationId xmlns:a16="http://schemas.microsoft.com/office/drawing/2014/main" id="{DAF3F25B-F473-E8D0-D01E-20D8E11F851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15990" y="3272776"/>
            <a:ext cx="1203552" cy="1040999"/>
          </a:xfrm>
          <a:prstGeom prst="rect">
            <a:avLst/>
          </a:prstGeom>
          <a:noFill/>
          <a:ln w="19050">
            <a:solidFill>
              <a:schemeClr val="tx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1064" name="Line 87">
            <a:extLst>
              <a:ext uri="{FF2B5EF4-FFF2-40B4-BE49-F238E27FC236}">
                <a16:creationId xmlns:a16="http://schemas.microsoft.com/office/drawing/2014/main" id="{74EF41E2-F895-90A9-FC8E-746A82EBC007}"/>
              </a:ext>
            </a:extLst>
          </p:cNvPr>
          <p:cNvSpPr>
            <a:spLocks noChangeShapeType="1"/>
          </p:cNvSpPr>
          <p:nvPr/>
        </p:nvSpPr>
        <p:spPr bwMode="auto">
          <a:xfrm>
            <a:off x="6503600" y="3821762"/>
            <a:ext cx="212392" cy="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1065" name="Text Box 88">
            <a:extLst>
              <a:ext uri="{FF2B5EF4-FFF2-40B4-BE49-F238E27FC236}">
                <a16:creationId xmlns:a16="http://schemas.microsoft.com/office/drawing/2014/main" id="{442985F3-3EA2-1E2F-3643-18E8B7E40BD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712177" y="3272777"/>
            <a:ext cx="830645" cy="52320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1425" tIns="45713" rIns="91425" bIns="45713">
            <a:spAutoFit/>
          </a:bodyPr>
          <a:lstStyle>
            <a:lvl1pPr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1pPr>
            <a:lvl2pPr marL="742950" indent="-28575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2pPr>
            <a:lvl3pPr marL="11430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3pPr>
            <a:lvl4pPr marL="16002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4pPr>
            <a:lvl5pPr marL="20574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9pPr>
          </a:lstStyle>
          <a:p>
            <a:pPr algn="ctr"/>
            <a:r>
              <a:rPr lang="en-US" altLang="zh-CN" sz="1400" b="0" dirty="0">
                <a:latin typeface="Arial" pitchFamily="34" charset="0"/>
                <a:ea typeface="SimHei" panose="02010609060101010101" pitchFamily="49" charset="-122"/>
              </a:rPr>
              <a:t>Data</a:t>
            </a:r>
          </a:p>
          <a:p>
            <a:pPr algn="ctr"/>
            <a:r>
              <a:rPr lang="en-US" altLang="zh-CN" sz="1400" b="0" dirty="0">
                <a:latin typeface="Arial" pitchFamily="34" charset="0"/>
                <a:ea typeface="SimHei" panose="02010609060101010101" pitchFamily="49" charset="-122"/>
              </a:rPr>
              <a:t>Memory</a:t>
            </a:r>
          </a:p>
        </p:txBody>
      </p:sp>
      <p:sp>
        <p:nvSpPr>
          <p:cNvPr id="1066" name="Text Box 89">
            <a:extLst>
              <a:ext uri="{FF2B5EF4-FFF2-40B4-BE49-F238E27FC236}">
                <a16:creationId xmlns:a16="http://schemas.microsoft.com/office/drawing/2014/main" id="{95D831E4-C9EC-DADB-D892-9E44C467D58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645193" y="3692355"/>
            <a:ext cx="747290" cy="27698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1425" tIns="45713" rIns="91425" bIns="45713">
            <a:spAutoFit/>
          </a:bodyPr>
          <a:lstStyle>
            <a:lvl1pPr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1pPr>
            <a:lvl2pPr marL="742950" indent="-28575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2pPr>
            <a:lvl3pPr marL="11430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3pPr>
            <a:lvl4pPr marL="16002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4pPr>
            <a:lvl5pPr marL="20574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9pPr>
          </a:lstStyle>
          <a:p>
            <a:r>
              <a:rPr lang="en-US" altLang="zh-CN" sz="1200" b="0" dirty="0">
                <a:latin typeface="Arial" pitchFamily="34" charset="0"/>
                <a:ea typeface="SimHei" panose="02010609060101010101" pitchFamily="49" charset="-122"/>
              </a:rPr>
              <a:t>Address</a:t>
            </a:r>
          </a:p>
        </p:txBody>
      </p:sp>
      <p:sp>
        <p:nvSpPr>
          <p:cNvPr id="1067" name="Text Box 90">
            <a:extLst>
              <a:ext uri="{FF2B5EF4-FFF2-40B4-BE49-F238E27FC236}">
                <a16:creationId xmlns:a16="http://schemas.microsoft.com/office/drawing/2014/main" id="{A6A41957-DE0A-0939-85C8-9921FDB0D21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645193" y="4015871"/>
            <a:ext cx="908039" cy="27698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1425" tIns="45713" rIns="91425" bIns="45713">
            <a:spAutoFit/>
          </a:bodyPr>
          <a:lstStyle>
            <a:lvl1pPr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1pPr>
            <a:lvl2pPr marL="742950" indent="-28575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2pPr>
            <a:lvl3pPr marL="11430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3pPr>
            <a:lvl4pPr marL="16002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4pPr>
            <a:lvl5pPr marL="20574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9pPr>
          </a:lstStyle>
          <a:p>
            <a:r>
              <a:rPr lang="en-US" altLang="zh-CN" sz="1200" b="0" dirty="0">
                <a:latin typeface="Arial" pitchFamily="34" charset="0"/>
                <a:ea typeface="SimHei" panose="02010609060101010101" pitchFamily="49" charset="-122"/>
              </a:rPr>
              <a:t>Write Data</a:t>
            </a:r>
          </a:p>
        </p:txBody>
      </p:sp>
      <p:sp>
        <p:nvSpPr>
          <p:cNvPr id="1068" name="Text Box 91">
            <a:extLst>
              <a:ext uri="{FF2B5EF4-FFF2-40B4-BE49-F238E27FC236}">
                <a16:creationId xmlns:a16="http://schemas.microsoft.com/office/drawing/2014/main" id="{900D46FB-36B4-CE68-4F21-3A54EB3B201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423961" y="3627652"/>
            <a:ext cx="550120" cy="46165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1425" tIns="45713" rIns="91425" bIns="45713">
            <a:spAutoFit/>
          </a:bodyPr>
          <a:lstStyle>
            <a:lvl1pPr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1pPr>
            <a:lvl2pPr marL="742950" indent="-28575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2pPr>
            <a:lvl3pPr marL="11430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3pPr>
            <a:lvl4pPr marL="16002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4pPr>
            <a:lvl5pPr marL="20574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9pPr>
          </a:lstStyle>
          <a:p>
            <a:r>
              <a:rPr lang="en-US" altLang="zh-CN" sz="1200" b="0" dirty="0">
                <a:latin typeface="Arial" pitchFamily="34" charset="0"/>
                <a:ea typeface="SimHei" panose="02010609060101010101" pitchFamily="49" charset="-122"/>
              </a:rPr>
              <a:t>Read</a:t>
            </a:r>
          </a:p>
          <a:p>
            <a:r>
              <a:rPr lang="en-US" altLang="zh-CN" sz="1200" b="0" dirty="0">
                <a:latin typeface="Arial" pitchFamily="34" charset="0"/>
                <a:ea typeface="SimHei" panose="02010609060101010101" pitchFamily="49" charset="-122"/>
              </a:rPr>
              <a:t>Data</a:t>
            </a:r>
          </a:p>
        </p:txBody>
      </p:sp>
      <p:sp>
        <p:nvSpPr>
          <p:cNvPr id="1069" name="Line 92">
            <a:extLst>
              <a:ext uri="{FF2B5EF4-FFF2-40B4-BE49-F238E27FC236}">
                <a16:creationId xmlns:a16="http://schemas.microsoft.com/office/drawing/2014/main" id="{848BCAC1-E343-55F5-AA4B-DC539D8DFFFE}"/>
              </a:ext>
            </a:extLst>
          </p:cNvPr>
          <p:cNvSpPr>
            <a:spLocks noChangeShapeType="1"/>
          </p:cNvSpPr>
          <p:nvPr/>
        </p:nvSpPr>
        <p:spPr bwMode="auto">
          <a:xfrm>
            <a:off x="6500292" y="4145278"/>
            <a:ext cx="215699" cy="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1070" name="Line 93">
            <a:extLst>
              <a:ext uri="{FF2B5EF4-FFF2-40B4-BE49-F238E27FC236}">
                <a16:creationId xmlns:a16="http://schemas.microsoft.com/office/drawing/2014/main" id="{C2A25A0B-3204-C76D-8CA1-3BB451A392C2}"/>
              </a:ext>
            </a:extLst>
          </p:cNvPr>
          <p:cNvSpPr>
            <a:spLocks noChangeShapeType="1"/>
          </p:cNvSpPr>
          <p:nvPr/>
        </p:nvSpPr>
        <p:spPr bwMode="auto">
          <a:xfrm>
            <a:off x="8202731" y="4145278"/>
            <a:ext cx="212392" cy="134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1071" name="AutoShape 94">
            <a:extLst>
              <a:ext uri="{FF2B5EF4-FFF2-40B4-BE49-F238E27FC236}">
                <a16:creationId xmlns:a16="http://schemas.microsoft.com/office/drawing/2014/main" id="{28B7FE8C-423F-89A4-294F-2D892326945A}"/>
              </a:ext>
            </a:extLst>
          </p:cNvPr>
          <p:cNvSpPr>
            <a:spLocks noChangeArrowheads="1"/>
          </p:cNvSpPr>
          <p:nvPr/>
        </p:nvSpPr>
        <p:spPr bwMode="auto">
          <a:xfrm rot="16200000">
            <a:off x="8230153" y="3877325"/>
            <a:ext cx="582329" cy="212392"/>
          </a:xfrm>
          <a:custGeom>
            <a:avLst/>
            <a:gdLst>
              <a:gd name="T0" fmla="*/ 8 w 21600"/>
              <a:gd name="T1" fmla="*/ 0 h 21600"/>
              <a:gd name="T2" fmla="*/ 4 w 21600"/>
              <a:gd name="T3" fmla="*/ 1 h 21600"/>
              <a:gd name="T4" fmla="*/ 1 w 21600"/>
              <a:gd name="T5" fmla="*/ 0 h 21600"/>
              <a:gd name="T6" fmla="*/ 4 w 21600"/>
              <a:gd name="T7" fmla="*/ 0 h 21600"/>
              <a:gd name="T8" fmla="*/ 0 60000 65536"/>
              <a:gd name="T9" fmla="*/ 0 60000 65536"/>
              <a:gd name="T10" fmla="*/ 0 60000 65536"/>
              <a:gd name="T11" fmla="*/ 0 60000 65536"/>
              <a:gd name="T12" fmla="*/ 4500 w 21600"/>
              <a:gd name="T13" fmla="*/ 4500 h 21600"/>
              <a:gd name="T14" fmla="*/ 17100 w 21600"/>
              <a:gd name="T15" fmla="*/ 17100 h 21600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21600" h="21600">
                <a:moveTo>
                  <a:pt x="0" y="0"/>
                </a:moveTo>
                <a:lnTo>
                  <a:pt x="5400" y="21600"/>
                </a:lnTo>
                <a:lnTo>
                  <a:pt x="16200" y="21600"/>
                </a:lnTo>
                <a:lnTo>
                  <a:pt x="21600" y="0"/>
                </a:lnTo>
                <a:lnTo>
                  <a:pt x="0" y="0"/>
                </a:lnTo>
                <a:close/>
              </a:path>
            </a:pathLst>
          </a:custGeom>
          <a:noFill/>
          <a:ln w="19050">
            <a:solidFill>
              <a:schemeClr val="tx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1072" name="Line 98">
            <a:extLst>
              <a:ext uri="{FF2B5EF4-FFF2-40B4-BE49-F238E27FC236}">
                <a16:creationId xmlns:a16="http://schemas.microsoft.com/office/drawing/2014/main" id="{C1BB3EBA-BCE1-BA77-05CB-0C6651A3770A}"/>
              </a:ext>
            </a:extLst>
          </p:cNvPr>
          <p:cNvSpPr>
            <a:spLocks noChangeShapeType="1"/>
          </p:cNvSpPr>
          <p:nvPr/>
        </p:nvSpPr>
        <p:spPr bwMode="auto">
          <a:xfrm>
            <a:off x="4041604" y="3309289"/>
            <a:ext cx="141594" cy="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1073" name="Line 99">
            <a:extLst>
              <a:ext uri="{FF2B5EF4-FFF2-40B4-BE49-F238E27FC236}">
                <a16:creationId xmlns:a16="http://schemas.microsoft.com/office/drawing/2014/main" id="{438EFBA8-40B9-A516-CD8C-3A0D21CC61B2}"/>
              </a:ext>
            </a:extLst>
          </p:cNvPr>
          <p:cNvSpPr>
            <a:spLocks noChangeShapeType="1"/>
          </p:cNvSpPr>
          <p:nvPr/>
        </p:nvSpPr>
        <p:spPr bwMode="auto">
          <a:xfrm>
            <a:off x="2625662" y="4209982"/>
            <a:ext cx="0" cy="1290921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1074" name="Line 100">
            <a:extLst>
              <a:ext uri="{FF2B5EF4-FFF2-40B4-BE49-F238E27FC236}">
                <a16:creationId xmlns:a16="http://schemas.microsoft.com/office/drawing/2014/main" id="{989F88B4-4D6A-9CDA-23CD-0DFAE5F49E66}"/>
              </a:ext>
            </a:extLst>
          </p:cNvPr>
          <p:cNvSpPr>
            <a:spLocks noChangeShapeType="1"/>
          </p:cNvSpPr>
          <p:nvPr/>
        </p:nvSpPr>
        <p:spPr bwMode="auto">
          <a:xfrm>
            <a:off x="1917690" y="2657105"/>
            <a:ext cx="212392" cy="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1075" name="Line 101">
            <a:extLst>
              <a:ext uri="{FF2B5EF4-FFF2-40B4-BE49-F238E27FC236}">
                <a16:creationId xmlns:a16="http://schemas.microsoft.com/office/drawing/2014/main" id="{9FADBB7D-88F8-80FD-2C34-B6E96A0E071B}"/>
              </a:ext>
            </a:extLst>
          </p:cNvPr>
          <p:cNvSpPr>
            <a:spLocks noChangeShapeType="1"/>
          </p:cNvSpPr>
          <p:nvPr/>
        </p:nvSpPr>
        <p:spPr bwMode="auto">
          <a:xfrm>
            <a:off x="1209719" y="1815964"/>
            <a:ext cx="849565" cy="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 type="triangle" w="med" len="med"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1076" name="Line 102">
            <a:extLst>
              <a:ext uri="{FF2B5EF4-FFF2-40B4-BE49-F238E27FC236}">
                <a16:creationId xmlns:a16="http://schemas.microsoft.com/office/drawing/2014/main" id="{1ED1B896-9701-743F-B233-A693FED6C1CF}"/>
              </a:ext>
            </a:extLst>
          </p:cNvPr>
          <p:cNvSpPr>
            <a:spLocks noChangeShapeType="1"/>
          </p:cNvSpPr>
          <p:nvPr/>
        </p:nvSpPr>
        <p:spPr bwMode="auto">
          <a:xfrm>
            <a:off x="2413270" y="3757059"/>
            <a:ext cx="141594" cy="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1077" name="Line 103">
            <a:extLst>
              <a:ext uri="{FF2B5EF4-FFF2-40B4-BE49-F238E27FC236}">
                <a16:creationId xmlns:a16="http://schemas.microsoft.com/office/drawing/2014/main" id="{F5B18A9C-575C-BA59-9C8A-A5589FE1C25B}"/>
              </a:ext>
            </a:extLst>
          </p:cNvPr>
          <p:cNvSpPr>
            <a:spLocks noChangeShapeType="1"/>
          </p:cNvSpPr>
          <p:nvPr/>
        </p:nvSpPr>
        <p:spPr bwMode="auto">
          <a:xfrm>
            <a:off x="7919542" y="3821762"/>
            <a:ext cx="141267" cy="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1078" name="Rectangle 104">
            <a:extLst>
              <a:ext uri="{FF2B5EF4-FFF2-40B4-BE49-F238E27FC236}">
                <a16:creationId xmlns:a16="http://schemas.microsoft.com/office/drawing/2014/main" id="{2EB9A0FC-83E4-B7EB-938E-2732C7C7CBAC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71676" y="2462995"/>
            <a:ext cx="141594" cy="1876391"/>
          </a:xfrm>
          <a:prstGeom prst="rect">
            <a:avLst/>
          </a:prstGeom>
          <a:pattFill prst="wdUpDiag">
            <a:fgClr>
              <a:schemeClr val="bg1">
                <a:lumMod val="75000"/>
              </a:schemeClr>
            </a:fgClr>
            <a:bgClr>
              <a:schemeClr val="bg1"/>
            </a:bgClr>
          </a:pattFill>
          <a:ln w="19050">
            <a:solidFill>
              <a:schemeClr val="tx1"/>
            </a:solidFill>
            <a:miter lim="800000"/>
            <a:headEnd/>
            <a:tailEnd/>
          </a:ln>
          <a:effectLst/>
        </p:spPr>
        <p:txBody>
          <a:bodyPr wrap="none" anchor="ctr"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1079" name="Rectangle 105">
            <a:extLst>
              <a:ext uri="{FF2B5EF4-FFF2-40B4-BE49-F238E27FC236}">
                <a16:creationId xmlns:a16="http://schemas.microsoft.com/office/drawing/2014/main" id="{B873E563-B024-539A-FEBA-636BAB8F4386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83198" y="2462994"/>
            <a:ext cx="147520" cy="2983021"/>
          </a:xfrm>
          <a:prstGeom prst="rect">
            <a:avLst/>
          </a:prstGeom>
          <a:pattFill prst="wdUpDiag">
            <a:fgClr>
              <a:schemeClr val="bg1">
                <a:lumMod val="75000"/>
              </a:schemeClr>
            </a:fgClr>
            <a:bgClr>
              <a:schemeClr val="bg1"/>
            </a:bgClr>
          </a:pattFill>
          <a:ln w="19050">
            <a:solidFill>
              <a:schemeClr val="tx1"/>
            </a:solidFill>
            <a:miter lim="800000"/>
            <a:headEnd/>
            <a:tailEnd/>
          </a:ln>
          <a:effectLst/>
        </p:spPr>
        <p:txBody>
          <a:bodyPr wrap="none" anchor="ctr"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1080" name="Line 106">
            <a:extLst>
              <a:ext uri="{FF2B5EF4-FFF2-40B4-BE49-F238E27FC236}">
                <a16:creationId xmlns:a16="http://schemas.microsoft.com/office/drawing/2014/main" id="{57466E4B-A0C8-3742-4689-698AD4623211}"/>
              </a:ext>
            </a:extLst>
          </p:cNvPr>
          <p:cNvSpPr>
            <a:spLocks noChangeShapeType="1"/>
          </p:cNvSpPr>
          <p:nvPr/>
        </p:nvSpPr>
        <p:spPr bwMode="auto">
          <a:xfrm>
            <a:off x="2059284" y="2657105"/>
            <a:ext cx="212392" cy="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1081" name="Line 107">
            <a:extLst>
              <a:ext uri="{FF2B5EF4-FFF2-40B4-BE49-F238E27FC236}">
                <a16:creationId xmlns:a16="http://schemas.microsoft.com/office/drawing/2014/main" id="{C652096E-80E9-895C-59D4-9B18F0494F67}"/>
              </a:ext>
            </a:extLst>
          </p:cNvPr>
          <p:cNvSpPr>
            <a:spLocks noChangeShapeType="1"/>
          </p:cNvSpPr>
          <p:nvPr/>
        </p:nvSpPr>
        <p:spPr bwMode="auto">
          <a:xfrm>
            <a:off x="2413270" y="2657105"/>
            <a:ext cx="1769928" cy="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1082" name="Line 108">
            <a:extLst>
              <a:ext uri="{FF2B5EF4-FFF2-40B4-BE49-F238E27FC236}">
                <a16:creationId xmlns:a16="http://schemas.microsoft.com/office/drawing/2014/main" id="{0748285F-8AF9-D874-F80C-0DFE6FDDFD03}"/>
              </a:ext>
            </a:extLst>
          </p:cNvPr>
          <p:cNvSpPr>
            <a:spLocks noChangeShapeType="1"/>
          </p:cNvSpPr>
          <p:nvPr/>
        </p:nvSpPr>
        <p:spPr bwMode="auto">
          <a:xfrm>
            <a:off x="6269084" y="2811271"/>
            <a:ext cx="92922" cy="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1083" name="Line 109">
            <a:extLst>
              <a:ext uri="{FF2B5EF4-FFF2-40B4-BE49-F238E27FC236}">
                <a16:creationId xmlns:a16="http://schemas.microsoft.com/office/drawing/2014/main" id="{1F312957-AA80-66B4-BCD8-0415F732B51B}"/>
              </a:ext>
            </a:extLst>
          </p:cNvPr>
          <p:cNvSpPr>
            <a:spLocks noChangeShapeType="1"/>
          </p:cNvSpPr>
          <p:nvPr/>
        </p:nvSpPr>
        <p:spPr bwMode="auto">
          <a:xfrm>
            <a:off x="4324793" y="4792309"/>
            <a:ext cx="100176" cy="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1084" name="Line 110">
            <a:extLst>
              <a:ext uri="{FF2B5EF4-FFF2-40B4-BE49-F238E27FC236}">
                <a16:creationId xmlns:a16="http://schemas.microsoft.com/office/drawing/2014/main" id="{5E5AC9EC-0A74-8DB7-D1B6-1AFD16390D8F}"/>
              </a:ext>
            </a:extLst>
          </p:cNvPr>
          <p:cNvSpPr>
            <a:spLocks noChangeShapeType="1"/>
          </p:cNvSpPr>
          <p:nvPr/>
        </p:nvSpPr>
        <p:spPr bwMode="auto">
          <a:xfrm>
            <a:off x="4744617" y="4014681"/>
            <a:ext cx="0" cy="665275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1085" name="Line 111">
            <a:extLst>
              <a:ext uri="{FF2B5EF4-FFF2-40B4-BE49-F238E27FC236}">
                <a16:creationId xmlns:a16="http://schemas.microsoft.com/office/drawing/2014/main" id="{E1AA4FC5-66CB-9AEA-FECE-76A6D6809C85}"/>
              </a:ext>
            </a:extLst>
          </p:cNvPr>
          <p:cNvSpPr>
            <a:spLocks noChangeShapeType="1"/>
          </p:cNvSpPr>
          <p:nvPr/>
        </p:nvSpPr>
        <p:spPr bwMode="auto">
          <a:xfrm>
            <a:off x="4744616" y="4679956"/>
            <a:ext cx="1616973" cy="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1086" name="Rectangle 112">
            <a:extLst>
              <a:ext uri="{FF2B5EF4-FFF2-40B4-BE49-F238E27FC236}">
                <a16:creationId xmlns:a16="http://schemas.microsoft.com/office/drawing/2014/main" id="{27909789-C389-68E9-891A-6CFE852D7033}"/>
              </a:ext>
            </a:extLst>
          </p:cNvPr>
          <p:cNvSpPr>
            <a:spLocks noChangeArrowheads="1"/>
          </p:cNvSpPr>
          <p:nvPr/>
        </p:nvSpPr>
        <p:spPr bwMode="auto">
          <a:xfrm>
            <a:off x="8061136" y="2980621"/>
            <a:ext cx="141594" cy="2199907"/>
          </a:xfrm>
          <a:prstGeom prst="rect">
            <a:avLst/>
          </a:prstGeom>
          <a:pattFill prst="wdUpDiag">
            <a:fgClr>
              <a:schemeClr val="bg1">
                <a:lumMod val="75000"/>
              </a:schemeClr>
            </a:fgClr>
            <a:bgClr>
              <a:schemeClr val="bg1"/>
            </a:bgClr>
          </a:pattFill>
          <a:ln w="19050">
            <a:solidFill>
              <a:schemeClr val="tx1"/>
            </a:solidFill>
            <a:miter lim="800000"/>
            <a:headEnd/>
            <a:tailEnd/>
          </a:ln>
          <a:effectLst/>
        </p:spPr>
        <p:txBody>
          <a:bodyPr wrap="none" anchor="ctr"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1087" name="Line 113">
            <a:extLst>
              <a:ext uri="{FF2B5EF4-FFF2-40B4-BE49-F238E27FC236}">
                <a16:creationId xmlns:a16="http://schemas.microsoft.com/office/drawing/2014/main" id="{EFED841B-7666-4CAD-552E-88C46F54B6C9}"/>
              </a:ext>
            </a:extLst>
          </p:cNvPr>
          <p:cNvSpPr>
            <a:spLocks noChangeShapeType="1"/>
          </p:cNvSpPr>
          <p:nvPr/>
        </p:nvSpPr>
        <p:spPr bwMode="auto">
          <a:xfrm>
            <a:off x="6574396" y="4792309"/>
            <a:ext cx="1486740" cy="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768" name="Line 114">
            <a:extLst>
              <a:ext uri="{FF2B5EF4-FFF2-40B4-BE49-F238E27FC236}">
                <a16:creationId xmlns:a16="http://schemas.microsoft.com/office/drawing/2014/main" id="{3D10A5CF-401E-156C-0087-F2687E9BBE63}"/>
              </a:ext>
            </a:extLst>
          </p:cNvPr>
          <p:cNvSpPr>
            <a:spLocks noChangeShapeType="1"/>
          </p:cNvSpPr>
          <p:nvPr/>
        </p:nvSpPr>
        <p:spPr bwMode="auto">
          <a:xfrm>
            <a:off x="8202731" y="3821762"/>
            <a:ext cx="212392" cy="134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769" name="Line 115">
            <a:extLst>
              <a:ext uri="{FF2B5EF4-FFF2-40B4-BE49-F238E27FC236}">
                <a16:creationId xmlns:a16="http://schemas.microsoft.com/office/drawing/2014/main" id="{6313AFCF-FEA2-509A-D55A-E0A6348A432A}"/>
              </a:ext>
            </a:extLst>
          </p:cNvPr>
          <p:cNvSpPr>
            <a:spLocks noChangeShapeType="1"/>
          </p:cNvSpPr>
          <p:nvPr/>
        </p:nvSpPr>
        <p:spPr bwMode="auto">
          <a:xfrm>
            <a:off x="8769107" y="3951169"/>
            <a:ext cx="0" cy="1549734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770" name="Line 116">
            <a:extLst>
              <a:ext uri="{FF2B5EF4-FFF2-40B4-BE49-F238E27FC236}">
                <a16:creationId xmlns:a16="http://schemas.microsoft.com/office/drawing/2014/main" id="{A9E69EFA-A383-A83B-B9AC-454E67A601C4}"/>
              </a:ext>
            </a:extLst>
          </p:cNvPr>
          <p:cNvSpPr>
            <a:spLocks noChangeShapeType="1"/>
          </p:cNvSpPr>
          <p:nvPr/>
        </p:nvSpPr>
        <p:spPr bwMode="auto">
          <a:xfrm>
            <a:off x="6715990" y="1557153"/>
            <a:ext cx="0" cy="1263435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771" name="Line 117">
            <a:extLst>
              <a:ext uri="{FF2B5EF4-FFF2-40B4-BE49-F238E27FC236}">
                <a16:creationId xmlns:a16="http://schemas.microsoft.com/office/drawing/2014/main" id="{488376C7-B804-75B2-4654-71C59265284C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362004" y="4145278"/>
            <a:ext cx="141594" cy="647031"/>
          </a:xfrm>
          <a:prstGeom prst="line">
            <a:avLst/>
          </a:prstGeom>
          <a:noFill/>
          <a:ln w="28575" cap="rnd">
            <a:solidFill>
              <a:schemeClr val="accent2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772" name="Line 118">
            <a:extLst>
              <a:ext uri="{FF2B5EF4-FFF2-40B4-BE49-F238E27FC236}">
                <a16:creationId xmlns:a16="http://schemas.microsoft.com/office/drawing/2014/main" id="{094B3D02-E216-A59D-9279-310C41F09FE7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8061136" y="4145278"/>
            <a:ext cx="141594" cy="647031"/>
          </a:xfrm>
          <a:prstGeom prst="line">
            <a:avLst/>
          </a:prstGeom>
          <a:noFill/>
          <a:ln w="28575" cap="rnd">
            <a:solidFill>
              <a:schemeClr val="tx1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773" name="Text Box 119">
            <a:extLst>
              <a:ext uri="{FF2B5EF4-FFF2-40B4-BE49-F238E27FC236}">
                <a16:creationId xmlns:a16="http://schemas.microsoft.com/office/drawing/2014/main" id="{C6620650-F901-175D-A08E-865290C7735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130082" y="2204183"/>
            <a:ext cx="519664" cy="27698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1425" tIns="45713" rIns="91425" bIns="45713">
            <a:spAutoFit/>
          </a:bodyPr>
          <a:lstStyle>
            <a:lvl1pPr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1pPr>
            <a:lvl2pPr marL="742950" indent="-28575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2pPr>
            <a:lvl3pPr marL="11430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3pPr>
            <a:lvl4pPr marL="16002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4pPr>
            <a:lvl5pPr marL="20574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9pPr>
          </a:lstStyle>
          <a:p>
            <a:r>
              <a:rPr lang="en-US" altLang="zh-CN" sz="1200" b="0" dirty="0">
                <a:latin typeface="Arial" pitchFamily="34" charset="0"/>
                <a:ea typeface="SimHei" panose="02010609060101010101" pitchFamily="49" charset="-122"/>
              </a:rPr>
              <a:t>IF/ID</a:t>
            </a:r>
          </a:p>
        </p:txBody>
      </p:sp>
      <p:sp>
        <p:nvSpPr>
          <p:cNvPr id="774" name="Line 120">
            <a:extLst>
              <a:ext uri="{FF2B5EF4-FFF2-40B4-BE49-F238E27FC236}">
                <a16:creationId xmlns:a16="http://schemas.microsoft.com/office/drawing/2014/main" id="{0E8C0495-1122-B634-7EF8-4245F4D6E0C6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424969" y="2973428"/>
            <a:ext cx="0" cy="136595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775" name="Line 121">
            <a:extLst>
              <a:ext uri="{FF2B5EF4-FFF2-40B4-BE49-F238E27FC236}">
                <a16:creationId xmlns:a16="http://schemas.microsoft.com/office/drawing/2014/main" id="{E4D6971D-D4A5-BE52-8D62-F1FEF9C55E3D}"/>
              </a:ext>
            </a:extLst>
          </p:cNvPr>
          <p:cNvSpPr>
            <a:spLocks noChangeShapeType="1"/>
          </p:cNvSpPr>
          <p:nvPr/>
        </p:nvSpPr>
        <p:spPr bwMode="auto">
          <a:xfrm>
            <a:off x="3651698" y="4792309"/>
            <a:ext cx="531502" cy="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776" name="Line 122">
            <a:extLst>
              <a:ext uri="{FF2B5EF4-FFF2-40B4-BE49-F238E27FC236}">
                <a16:creationId xmlns:a16="http://schemas.microsoft.com/office/drawing/2014/main" id="{547DB2AE-D3C0-FF93-36F4-8D6C77307EAA}"/>
              </a:ext>
            </a:extLst>
          </p:cNvPr>
          <p:cNvSpPr>
            <a:spLocks noChangeShapeType="1"/>
          </p:cNvSpPr>
          <p:nvPr/>
        </p:nvSpPr>
        <p:spPr bwMode="auto">
          <a:xfrm>
            <a:off x="4324793" y="2657105"/>
            <a:ext cx="1608030" cy="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777" name="Line 123">
            <a:extLst>
              <a:ext uri="{FF2B5EF4-FFF2-40B4-BE49-F238E27FC236}">
                <a16:creationId xmlns:a16="http://schemas.microsoft.com/office/drawing/2014/main" id="{7A7A9DF7-0CD3-E86C-1DDC-38F3462E49C5}"/>
              </a:ext>
            </a:extLst>
          </p:cNvPr>
          <p:cNvSpPr>
            <a:spLocks noChangeShapeType="1"/>
          </p:cNvSpPr>
          <p:nvPr/>
        </p:nvSpPr>
        <p:spPr bwMode="auto">
          <a:xfrm>
            <a:off x="2059284" y="1815964"/>
            <a:ext cx="0" cy="841141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778" name="Line 124">
            <a:extLst>
              <a:ext uri="{FF2B5EF4-FFF2-40B4-BE49-F238E27FC236}">
                <a16:creationId xmlns:a16="http://schemas.microsoft.com/office/drawing/2014/main" id="{F86A7F2D-39BF-2FA3-1273-FAF7CF317F01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149614" y="3135008"/>
            <a:ext cx="0" cy="36323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779" name="Line 125">
            <a:extLst>
              <a:ext uri="{FF2B5EF4-FFF2-40B4-BE49-F238E27FC236}">
                <a16:creationId xmlns:a16="http://schemas.microsoft.com/office/drawing/2014/main" id="{4CEE5D6F-694E-C951-75C0-9D57AF4F9AD9}"/>
              </a:ext>
            </a:extLst>
          </p:cNvPr>
          <p:cNvSpPr>
            <a:spLocks noChangeShapeType="1"/>
          </p:cNvSpPr>
          <p:nvPr/>
        </p:nvSpPr>
        <p:spPr bwMode="auto">
          <a:xfrm>
            <a:off x="714139" y="2398293"/>
            <a:ext cx="0" cy="135876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780" name="Rectangle 126">
            <a:extLst>
              <a:ext uri="{FF2B5EF4-FFF2-40B4-BE49-F238E27FC236}">
                <a16:creationId xmlns:a16="http://schemas.microsoft.com/office/drawing/2014/main" id="{006D4457-90B6-17F0-F950-11F50DDFADE3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62004" y="2462995"/>
            <a:ext cx="141594" cy="2717533"/>
          </a:xfrm>
          <a:prstGeom prst="rect">
            <a:avLst/>
          </a:prstGeom>
          <a:pattFill prst="wdUpDiag">
            <a:fgClr>
              <a:schemeClr val="bg1">
                <a:lumMod val="75000"/>
              </a:schemeClr>
            </a:fgClr>
            <a:bgClr>
              <a:schemeClr val="bg1"/>
            </a:bgClr>
          </a:pattFill>
          <a:ln w="19050">
            <a:solidFill>
              <a:schemeClr val="tx1"/>
            </a:solidFill>
            <a:miter lim="800000"/>
            <a:headEnd/>
            <a:tailEnd/>
          </a:ln>
          <a:effectLst/>
        </p:spPr>
        <p:txBody>
          <a:bodyPr wrap="none" anchor="ctr"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781" name="Oval 127">
            <a:extLst>
              <a:ext uri="{FF2B5EF4-FFF2-40B4-BE49-F238E27FC236}">
                <a16:creationId xmlns:a16="http://schemas.microsoft.com/office/drawing/2014/main" id="{E7573DE6-5CA6-4A78-BD11-0DADD7C72A1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08850" y="4598200"/>
            <a:ext cx="755170" cy="388219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782" name="Rectangle 128">
            <a:extLst>
              <a:ext uri="{FF2B5EF4-FFF2-40B4-BE49-F238E27FC236}">
                <a16:creationId xmlns:a16="http://schemas.microsoft.com/office/drawing/2014/main" id="{BD5637C8-A15E-5ED0-99A2-44E6AB6822F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50444" y="4598200"/>
            <a:ext cx="495580" cy="38821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19047" tIns="26984" rIns="19047" bIns="26984"/>
          <a:lstStyle/>
          <a:p>
            <a:pPr algn="ctr" eaLnBrk="0" hangingPunct="0"/>
            <a:r>
              <a:rPr lang="en-US" altLang="zh-CN" sz="1200" dirty="0" err="1">
                <a:solidFill>
                  <a:srgbClr val="000000"/>
                </a:solidFill>
                <a:latin typeface="Arial" pitchFamily="34" charset="0"/>
                <a:ea typeface="SimHei" panose="02010609060101010101" pitchFamily="49" charset="-122"/>
              </a:rPr>
              <a:t>Imm</a:t>
            </a:r>
            <a:endParaRPr lang="en-US" altLang="zh-CN" sz="1200" dirty="0">
              <a:solidFill>
                <a:srgbClr val="000000"/>
              </a:solidFill>
              <a:latin typeface="Arial" pitchFamily="34" charset="0"/>
              <a:ea typeface="SimHei" panose="02010609060101010101" pitchFamily="49" charset="-122"/>
            </a:endParaRPr>
          </a:p>
          <a:p>
            <a:pPr algn="ctr" eaLnBrk="0" hangingPunct="0"/>
            <a:r>
              <a:rPr lang="en-US" altLang="zh-CN" sz="1200" dirty="0">
                <a:solidFill>
                  <a:srgbClr val="000000"/>
                </a:solidFill>
                <a:latin typeface="Arial" pitchFamily="34" charset="0"/>
                <a:ea typeface="SimHei" panose="02010609060101010101" pitchFamily="49" charset="-122"/>
              </a:rPr>
              <a:t>Extend</a:t>
            </a:r>
          </a:p>
        </p:txBody>
      </p:sp>
      <p:sp>
        <p:nvSpPr>
          <p:cNvPr id="783" name="Line 129">
            <a:extLst>
              <a:ext uri="{FF2B5EF4-FFF2-40B4-BE49-F238E27FC236}">
                <a16:creationId xmlns:a16="http://schemas.microsoft.com/office/drawing/2014/main" id="{07736B4F-461A-6C14-46CE-F2763DFDC2CC}"/>
              </a:ext>
            </a:extLst>
          </p:cNvPr>
          <p:cNvSpPr>
            <a:spLocks noChangeShapeType="1"/>
          </p:cNvSpPr>
          <p:nvPr/>
        </p:nvSpPr>
        <p:spPr bwMode="auto">
          <a:xfrm>
            <a:off x="6503599" y="2811271"/>
            <a:ext cx="212392" cy="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784" name="Line 130">
            <a:extLst>
              <a:ext uri="{FF2B5EF4-FFF2-40B4-BE49-F238E27FC236}">
                <a16:creationId xmlns:a16="http://schemas.microsoft.com/office/drawing/2014/main" id="{EFA32F73-E5E8-B8CE-9B2D-189CD4C191AE}"/>
              </a:ext>
            </a:extLst>
          </p:cNvPr>
          <p:cNvSpPr>
            <a:spLocks noChangeShapeType="1"/>
          </p:cNvSpPr>
          <p:nvPr/>
        </p:nvSpPr>
        <p:spPr bwMode="auto">
          <a:xfrm>
            <a:off x="6149614" y="3135009"/>
            <a:ext cx="212392" cy="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785" name="Line 131">
            <a:extLst>
              <a:ext uri="{FF2B5EF4-FFF2-40B4-BE49-F238E27FC236}">
                <a16:creationId xmlns:a16="http://schemas.microsoft.com/office/drawing/2014/main" id="{FE84989D-BB5B-AB5C-04E1-D6FF32067B0E}"/>
              </a:ext>
            </a:extLst>
          </p:cNvPr>
          <p:cNvSpPr>
            <a:spLocks noChangeShapeType="1"/>
          </p:cNvSpPr>
          <p:nvPr/>
        </p:nvSpPr>
        <p:spPr bwMode="auto">
          <a:xfrm>
            <a:off x="6503598" y="3135009"/>
            <a:ext cx="664387" cy="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 type="none" w="med" len="med"/>
            <a:tailEnd type="non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786" name="Line 132">
            <a:extLst>
              <a:ext uri="{FF2B5EF4-FFF2-40B4-BE49-F238E27FC236}">
                <a16:creationId xmlns:a16="http://schemas.microsoft.com/office/drawing/2014/main" id="{D3DD0264-96D5-51E9-BFF3-A312A64D08DD}"/>
              </a:ext>
            </a:extLst>
          </p:cNvPr>
          <p:cNvSpPr>
            <a:spLocks noChangeShapeType="1"/>
          </p:cNvSpPr>
          <p:nvPr/>
        </p:nvSpPr>
        <p:spPr bwMode="auto">
          <a:xfrm>
            <a:off x="6574396" y="3821762"/>
            <a:ext cx="0" cy="97054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787" name="Text Box 133">
            <a:extLst>
              <a:ext uri="{FF2B5EF4-FFF2-40B4-BE49-F238E27FC236}">
                <a16:creationId xmlns:a16="http://schemas.microsoft.com/office/drawing/2014/main" id="{02284974-3FAB-C33F-092D-9C92FADAB7B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70807" y="1686557"/>
            <a:ext cx="586990" cy="27698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1425" tIns="45713" rIns="91425" bIns="45713">
            <a:spAutoFit/>
          </a:bodyPr>
          <a:lstStyle>
            <a:lvl1pPr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1pPr>
            <a:lvl2pPr marL="742950" indent="-28575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2pPr>
            <a:lvl3pPr marL="11430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3pPr>
            <a:lvl4pPr marL="16002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4pPr>
            <a:lvl5pPr marL="20574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9pPr>
          </a:lstStyle>
          <a:p>
            <a:r>
              <a:rPr lang="en-US" altLang="zh-CN" sz="1200" b="0" dirty="0">
                <a:latin typeface="Arial" pitchFamily="34" charset="0"/>
                <a:ea typeface="SimHei" panose="02010609060101010101" pitchFamily="49" charset="-122"/>
              </a:rPr>
              <a:t>ID/EX</a:t>
            </a:r>
          </a:p>
        </p:txBody>
      </p:sp>
      <p:sp>
        <p:nvSpPr>
          <p:cNvPr id="788" name="Text Box 134">
            <a:extLst>
              <a:ext uri="{FF2B5EF4-FFF2-40B4-BE49-F238E27FC236}">
                <a16:creationId xmlns:a16="http://schemas.microsoft.com/office/drawing/2014/main" id="{E19CB138-4DC4-3DA9-282E-6BE06D523C9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008019" y="1841576"/>
            <a:ext cx="792174" cy="27698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1425" tIns="45713" rIns="91425" bIns="45713">
            <a:spAutoFit/>
          </a:bodyPr>
          <a:lstStyle>
            <a:lvl1pPr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1pPr>
            <a:lvl2pPr marL="742950" indent="-28575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2pPr>
            <a:lvl3pPr marL="11430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3pPr>
            <a:lvl4pPr marL="16002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4pPr>
            <a:lvl5pPr marL="20574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9pPr>
          </a:lstStyle>
          <a:p>
            <a:r>
              <a:rPr lang="en-US" altLang="zh-CN" sz="1200" b="0" dirty="0">
                <a:latin typeface="Arial" pitchFamily="34" charset="0"/>
                <a:ea typeface="SimHei" panose="02010609060101010101" pitchFamily="49" charset="-122"/>
              </a:rPr>
              <a:t>EX/MEM</a:t>
            </a:r>
          </a:p>
        </p:txBody>
      </p:sp>
      <p:sp>
        <p:nvSpPr>
          <p:cNvPr id="789" name="Text Box 135">
            <a:extLst>
              <a:ext uri="{FF2B5EF4-FFF2-40B4-BE49-F238E27FC236}">
                <a16:creationId xmlns:a16="http://schemas.microsoft.com/office/drawing/2014/main" id="{AE90912E-55CC-CA5B-DA19-F3E67889D8E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77947" y="2535787"/>
            <a:ext cx="835455" cy="27698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1425" tIns="45713" rIns="91425" bIns="45713">
            <a:spAutoFit/>
          </a:bodyPr>
          <a:lstStyle>
            <a:lvl1pPr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1pPr>
            <a:lvl2pPr marL="742950" indent="-28575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2pPr>
            <a:lvl3pPr marL="11430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3pPr>
            <a:lvl4pPr marL="16002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4pPr>
            <a:lvl5pPr marL="20574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9pPr>
          </a:lstStyle>
          <a:p>
            <a:r>
              <a:rPr lang="en-US" altLang="zh-CN" sz="1200" b="0" dirty="0">
                <a:latin typeface="Arial" pitchFamily="34" charset="0"/>
                <a:ea typeface="SimHei" panose="02010609060101010101" pitchFamily="49" charset="-122"/>
              </a:rPr>
              <a:t>MEM/WB</a:t>
            </a:r>
          </a:p>
        </p:txBody>
      </p:sp>
      <p:sp>
        <p:nvSpPr>
          <p:cNvPr id="790" name="Rectangle 137">
            <a:extLst>
              <a:ext uri="{FF2B5EF4-FFF2-40B4-BE49-F238E27FC236}">
                <a16:creationId xmlns:a16="http://schemas.microsoft.com/office/drawing/2014/main" id="{8990C123-BC70-58BE-287C-EDBE8C4E0D13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86104" y="2265750"/>
            <a:ext cx="141602" cy="194121"/>
          </a:xfrm>
          <a:prstGeom prst="rect">
            <a:avLst/>
          </a:prstGeom>
          <a:pattFill prst="wdUpDiag">
            <a:fgClr>
              <a:schemeClr val="accent6">
                <a:lumMod val="40000"/>
                <a:lumOff val="60000"/>
              </a:schemeClr>
            </a:fgClr>
            <a:bgClr>
              <a:schemeClr val="bg1"/>
            </a:bgClr>
          </a:pattFill>
          <a:ln w="19050">
            <a:solidFill>
              <a:srgbClr val="00B050"/>
            </a:solidFill>
            <a:miter lim="800000"/>
            <a:headEnd/>
            <a:tailEnd/>
          </a:ln>
          <a:effectLst/>
        </p:spPr>
        <p:txBody>
          <a:bodyPr wrap="none" anchor="ctr"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791" name="Rectangle 138">
            <a:extLst>
              <a:ext uri="{FF2B5EF4-FFF2-40B4-BE49-F238E27FC236}">
                <a16:creationId xmlns:a16="http://schemas.microsoft.com/office/drawing/2014/main" id="{C8A7C40C-F1C2-1A1D-5BB8-3FC980C9708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86104" y="2071628"/>
            <a:ext cx="141602" cy="194121"/>
          </a:xfrm>
          <a:prstGeom prst="rect">
            <a:avLst/>
          </a:prstGeom>
          <a:pattFill prst="wdUpDiag">
            <a:fgClr>
              <a:schemeClr val="accent6">
                <a:lumMod val="40000"/>
                <a:lumOff val="60000"/>
              </a:schemeClr>
            </a:fgClr>
            <a:bgClr>
              <a:schemeClr val="bg1"/>
            </a:bgClr>
          </a:pattFill>
          <a:ln w="19050">
            <a:solidFill>
              <a:srgbClr val="00B050"/>
            </a:solidFill>
            <a:miter lim="800000"/>
            <a:headEnd/>
            <a:tailEnd/>
          </a:ln>
          <a:effectLst/>
        </p:spPr>
        <p:txBody>
          <a:bodyPr wrap="none" anchor="ctr"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792" name="Rectangle 139">
            <a:extLst>
              <a:ext uri="{FF2B5EF4-FFF2-40B4-BE49-F238E27FC236}">
                <a16:creationId xmlns:a16="http://schemas.microsoft.com/office/drawing/2014/main" id="{6299DC8C-5AF1-E939-63EB-BE7723D2A13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86104" y="1877507"/>
            <a:ext cx="141602" cy="194121"/>
          </a:xfrm>
          <a:prstGeom prst="rect">
            <a:avLst/>
          </a:prstGeom>
          <a:pattFill prst="wdUpDiag">
            <a:fgClr>
              <a:schemeClr val="accent6">
                <a:lumMod val="40000"/>
                <a:lumOff val="60000"/>
              </a:schemeClr>
            </a:fgClr>
            <a:bgClr>
              <a:schemeClr val="bg1"/>
            </a:bgClr>
          </a:pattFill>
          <a:ln w="19050">
            <a:solidFill>
              <a:srgbClr val="00B050"/>
            </a:solidFill>
            <a:miter lim="800000"/>
            <a:headEnd/>
            <a:tailEnd/>
          </a:ln>
          <a:effectLst/>
        </p:spPr>
        <p:txBody>
          <a:bodyPr wrap="none" anchor="ctr"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793" name="Rectangle 140">
            <a:extLst>
              <a:ext uri="{FF2B5EF4-FFF2-40B4-BE49-F238E27FC236}">
                <a16:creationId xmlns:a16="http://schemas.microsoft.com/office/drawing/2014/main" id="{E8F5E9DF-6AFE-99A3-99CD-9F83BC729DA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61590" y="2261462"/>
            <a:ext cx="141602" cy="194121"/>
          </a:xfrm>
          <a:prstGeom prst="rect">
            <a:avLst/>
          </a:prstGeom>
          <a:pattFill prst="wdUpDiag">
            <a:fgClr>
              <a:schemeClr val="accent6">
                <a:lumMod val="40000"/>
                <a:lumOff val="60000"/>
              </a:schemeClr>
            </a:fgClr>
            <a:bgClr>
              <a:schemeClr val="bg1"/>
            </a:bgClr>
          </a:pattFill>
          <a:ln w="19050">
            <a:solidFill>
              <a:srgbClr val="00B050"/>
            </a:solidFill>
            <a:miter lim="800000"/>
            <a:headEnd/>
            <a:tailEnd/>
          </a:ln>
          <a:effectLst/>
        </p:spPr>
        <p:txBody>
          <a:bodyPr wrap="none" anchor="ctr"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794" name="Rectangle 141">
            <a:extLst>
              <a:ext uri="{FF2B5EF4-FFF2-40B4-BE49-F238E27FC236}">
                <a16:creationId xmlns:a16="http://schemas.microsoft.com/office/drawing/2014/main" id="{C183FC1B-EBF4-0112-3C4F-845E8E2F40C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61590" y="2067340"/>
            <a:ext cx="141602" cy="194121"/>
          </a:xfrm>
          <a:prstGeom prst="rect">
            <a:avLst/>
          </a:prstGeom>
          <a:pattFill prst="wdUpDiag">
            <a:fgClr>
              <a:schemeClr val="accent6">
                <a:lumMod val="40000"/>
                <a:lumOff val="60000"/>
              </a:schemeClr>
            </a:fgClr>
            <a:bgClr>
              <a:schemeClr val="bg1"/>
            </a:bgClr>
          </a:pattFill>
          <a:ln w="19050">
            <a:solidFill>
              <a:srgbClr val="00B050"/>
            </a:solidFill>
            <a:miter lim="800000"/>
            <a:headEnd/>
            <a:tailEnd/>
          </a:ln>
          <a:effectLst/>
        </p:spPr>
        <p:txBody>
          <a:bodyPr wrap="none" anchor="ctr"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795" name="Rectangle 142">
            <a:extLst>
              <a:ext uri="{FF2B5EF4-FFF2-40B4-BE49-F238E27FC236}">
                <a16:creationId xmlns:a16="http://schemas.microsoft.com/office/drawing/2014/main" id="{2429F4F8-B5C4-C659-16F8-5D03612A370B}"/>
              </a:ext>
            </a:extLst>
          </p:cNvPr>
          <p:cNvSpPr>
            <a:spLocks noChangeArrowheads="1"/>
          </p:cNvSpPr>
          <p:nvPr/>
        </p:nvSpPr>
        <p:spPr bwMode="auto">
          <a:xfrm>
            <a:off x="8060809" y="2779308"/>
            <a:ext cx="141602" cy="194121"/>
          </a:xfrm>
          <a:prstGeom prst="rect">
            <a:avLst/>
          </a:prstGeom>
          <a:pattFill prst="wdUpDiag">
            <a:fgClr>
              <a:schemeClr val="accent6">
                <a:lumMod val="40000"/>
                <a:lumOff val="60000"/>
              </a:schemeClr>
            </a:fgClr>
            <a:bgClr>
              <a:schemeClr val="bg1"/>
            </a:bgClr>
          </a:pattFill>
          <a:ln w="19050">
            <a:solidFill>
              <a:srgbClr val="00B050"/>
            </a:solidFill>
            <a:miter lim="800000"/>
            <a:headEnd/>
            <a:tailEnd/>
          </a:ln>
          <a:effectLst/>
        </p:spPr>
        <p:txBody>
          <a:bodyPr wrap="none" anchor="ctr"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796" name="Rectangle 143">
            <a:extLst>
              <a:ext uri="{FF2B5EF4-FFF2-40B4-BE49-F238E27FC236}">
                <a16:creationId xmlns:a16="http://schemas.microsoft.com/office/drawing/2014/main" id="{A5A18B10-8E63-FDC7-6261-5F3606DC4A7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08790" y="2083503"/>
            <a:ext cx="495606" cy="25882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19047" tIns="26984" rIns="19047" bIns="26984"/>
          <a:lstStyle/>
          <a:p>
            <a:pPr algn="ctr" eaLnBrk="0" hangingPunct="0"/>
            <a:r>
              <a:rPr lang="en-US" altLang="zh-CN" sz="1200" dirty="0">
                <a:solidFill>
                  <a:srgbClr val="00B050"/>
                </a:solidFill>
                <a:latin typeface="Arial" pitchFamily="34" charset="0"/>
                <a:ea typeface="SimHei" panose="02010609060101010101" pitchFamily="49" charset="-122"/>
              </a:rPr>
              <a:t>Control</a:t>
            </a:r>
          </a:p>
        </p:txBody>
      </p:sp>
      <p:sp>
        <p:nvSpPr>
          <p:cNvPr id="797" name="Oval 144">
            <a:extLst>
              <a:ext uri="{FF2B5EF4-FFF2-40B4-BE49-F238E27FC236}">
                <a16:creationId xmlns:a16="http://schemas.microsoft.com/office/drawing/2014/main" id="{8A4B3483-C5B9-9921-3EE5-67E8D463777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72705" y="1925080"/>
            <a:ext cx="583741" cy="587588"/>
          </a:xfrm>
          <a:prstGeom prst="ellipse">
            <a:avLst/>
          </a:prstGeom>
          <a:noFill/>
          <a:ln w="19050">
            <a:solidFill>
              <a:srgbClr val="00B05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798" name="Line 145">
            <a:extLst>
              <a:ext uri="{FF2B5EF4-FFF2-40B4-BE49-F238E27FC236}">
                <a16:creationId xmlns:a16="http://schemas.microsoft.com/office/drawing/2014/main" id="{29063A80-1724-6E30-E510-D8C59FA5E6DA}"/>
              </a:ext>
            </a:extLst>
          </p:cNvPr>
          <p:cNvSpPr>
            <a:spLocks noChangeShapeType="1"/>
          </p:cNvSpPr>
          <p:nvPr/>
        </p:nvSpPr>
        <p:spPr bwMode="auto">
          <a:xfrm>
            <a:off x="2554285" y="2408225"/>
            <a:ext cx="0" cy="841192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799" name="Line 146">
            <a:extLst>
              <a:ext uri="{FF2B5EF4-FFF2-40B4-BE49-F238E27FC236}">
                <a16:creationId xmlns:a16="http://schemas.microsoft.com/office/drawing/2014/main" id="{52B5BE1C-34DC-E9F2-5F05-469293CD3CF8}"/>
              </a:ext>
            </a:extLst>
          </p:cNvPr>
          <p:cNvSpPr>
            <a:spLocks noChangeShapeType="1"/>
          </p:cNvSpPr>
          <p:nvPr/>
        </p:nvSpPr>
        <p:spPr bwMode="auto">
          <a:xfrm>
            <a:off x="2554285" y="2408225"/>
            <a:ext cx="687836" cy="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800" name="Line 147">
            <a:extLst>
              <a:ext uri="{FF2B5EF4-FFF2-40B4-BE49-F238E27FC236}">
                <a16:creationId xmlns:a16="http://schemas.microsoft.com/office/drawing/2014/main" id="{9CF81B3A-8233-CBC2-E4E5-AB0F9370D957}"/>
              </a:ext>
            </a:extLst>
          </p:cNvPr>
          <p:cNvSpPr>
            <a:spLocks noChangeShapeType="1"/>
          </p:cNvSpPr>
          <p:nvPr/>
        </p:nvSpPr>
        <p:spPr bwMode="auto">
          <a:xfrm>
            <a:off x="3617590" y="1970280"/>
            <a:ext cx="565114" cy="0"/>
          </a:xfrm>
          <a:prstGeom prst="line">
            <a:avLst/>
          </a:prstGeom>
          <a:noFill/>
          <a:ln w="12700">
            <a:solidFill>
              <a:srgbClr val="00B05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801" name="Line 148">
            <a:extLst>
              <a:ext uri="{FF2B5EF4-FFF2-40B4-BE49-F238E27FC236}">
                <a16:creationId xmlns:a16="http://schemas.microsoft.com/office/drawing/2014/main" id="{1AEF2091-155E-05E0-F09B-D8CC06C3DF10}"/>
              </a:ext>
            </a:extLst>
          </p:cNvPr>
          <p:cNvSpPr>
            <a:spLocks noChangeShapeType="1"/>
          </p:cNvSpPr>
          <p:nvPr/>
        </p:nvSpPr>
        <p:spPr bwMode="auto">
          <a:xfrm>
            <a:off x="3757899" y="2164401"/>
            <a:ext cx="424805" cy="0"/>
          </a:xfrm>
          <a:prstGeom prst="line">
            <a:avLst/>
          </a:prstGeom>
          <a:noFill/>
          <a:ln w="12700">
            <a:solidFill>
              <a:srgbClr val="00B05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802" name="Line 149">
            <a:extLst>
              <a:ext uri="{FF2B5EF4-FFF2-40B4-BE49-F238E27FC236}">
                <a16:creationId xmlns:a16="http://schemas.microsoft.com/office/drawing/2014/main" id="{0708327F-FE77-36BA-A032-7345706248C5}"/>
              </a:ext>
            </a:extLst>
          </p:cNvPr>
          <p:cNvSpPr>
            <a:spLocks noChangeShapeType="1"/>
          </p:cNvSpPr>
          <p:nvPr/>
        </p:nvSpPr>
        <p:spPr bwMode="auto">
          <a:xfrm>
            <a:off x="3722499" y="2358523"/>
            <a:ext cx="460205" cy="0"/>
          </a:xfrm>
          <a:prstGeom prst="line">
            <a:avLst/>
          </a:prstGeom>
          <a:noFill/>
          <a:ln w="12700">
            <a:solidFill>
              <a:srgbClr val="00B05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803" name="Line 150">
            <a:extLst>
              <a:ext uri="{FF2B5EF4-FFF2-40B4-BE49-F238E27FC236}">
                <a16:creationId xmlns:a16="http://schemas.microsoft.com/office/drawing/2014/main" id="{E97C3C2D-2320-7EEC-A25E-02A010E15252}"/>
              </a:ext>
            </a:extLst>
          </p:cNvPr>
          <p:cNvSpPr>
            <a:spLocks noChangeShapeType="1"/>
          </p:cNvSpPr>
          <p:nvPr/>
        </p:nvSpPr>
        <p:spPr bwMode="auto">
          <a:xfrm>
            <a:off x="6503192" y="2358523"/>
            <a:ext cx="1557618" cy="452950"/>
          </a:xfrm>
          <a:prstGeom prst="line">
            <a:avLst/>
          </a:prstGeom>
          <a:noFill/>
          <a:ln w="12700">
            <a:solidFill>
              <a:srgbClr val="00B05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804" name="Line 151">
            <a:extLst>
              <a:ext uri="{FF2B5EF4-FFF2-40B4-BE49-F238E27FC236}">
                <a16:creationId xmlns:a16="http://schemas.microsoft.com/office/drawing/2014/main" id="{06248847-A105-4447-DC2A-E315F8C05701}"/>
              </a:ext>
            </a:extLst>
          </p:cNvPr>
          <p:cNvSpPr>
            <a:spLocks noChangeShapeType="1"/>
          </p:cNvSpPr>
          <p:nvPr/>
        </p:nvSpPr>
        <p:spPr bwMode="auto">
          <a:xfrm>
            <a:off x="4324305" y="2358523"/>
            <a:ext cx="2049466" cy="0"/>
          </a:xfrm>
          <a:prstGeom prst="line">
            <a:avLst/>
          </a:prstGeom>
          <a:noFill/>
          <a:ln w="12700">
            <a:solidFill>
              <a:srgbClr val="00B05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805" name="Line 152">
            <a:extLst>
              <a:ext uri="{FF2B5EF4-FFF2-40B4-BE49-F238E27FC236}">
                <a16:creationId xmlns:a16="http://schemas.microsoft.com/office/drawing/2014/main" id="{2BBC3310-EA44-4D56-708A-87B7DCF41685}"/>
              </a:ext>
            </a:extLst>
          </p:cNvPr>
          <p:cNvSpPr>
            <a:spLocks noChangeShapeType="1"/>
          </p:cNvSpPr>
          <p:nvPr/>
        </p:nvSpPr>
        <p:spPr bwMode="auto">
          <a:xfrm>
            <a:off x="4324305" y="2164401"/>
            <a:ext cx="2037285" cy="0"/>
          </a:xfrm>
          <a:prstGeom prst="line">
            <a:avLst/>
          </a:prstGeom>
          <a:noFill/>
          <a:ln w="12700">
            <a:solidFill>
              <a:srgbClr val="00B05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806" name="Line 154">
            <a:extLst>
              <a:ext uri="{FF2B5EF4-FFF2-40B4-BE49-F238E27FC236}">
                <a16:creationId xmlns:a16="http://schemas.microsoft.com/office/drawing/2014/main" id="{311A4339-3219-8457-580E-54D11B224996}"/>
              </a:ext>
            </a:extLst>
          </p:cNvPr>
          <p:cNvSpPr>
            <a:spLocks noChangeShapeType="1"/>
          </p:cNvSpPr>
          <p:nvPr/>
        </p:nvSpPr>
        <p:spPr bwMode="auto">
          <a:xfrm>
            <a:off x="8556415" y="2876181"/>
            <a:ext cx="0" cy="258828"/>
          </a:xfrm>
          <a:prstGeom prst="line">
            <a:avLst/>
          </a:prstGeom>
          <a:noFill/>
          <a:ln w="12700">
            <a:solidFill>
              <a:srgbClr val="00B05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807" name="Line 155">
            <a:extLst>
              <a:ext uri="{FF2B5EF4-FFF2-40B4-BE49-F238E27FC236}">
                <a16:creationId xmlns:a16="http://schemas.microsoft.com/office/drawing/2014/main" id="{21AA8009-353D-90D3-A2BC-ED4DFFB18E53}"/>
              </a:ext>
            </a:extLst>
          </p:cNvPr>
          <p:cNvSpPr>
            <a:spLocks noChangeShapeType="1"/>
          </p:cNvSpPr>
          <p:nvPr/>
        </p:nvSpPr>
        <p:spPr bwMode="auto">
          <a:xfrm>
            <a:off x="6503192" y="2164401"/>
            <a:ext cx="323304" cy="0"/>
          </a:xfrm>
          <a:prstGeom prst="line">
            <a:avLst/>
          </a:prstGeom>
          <a:noFill/>
          <a:ln w="12700">
            <a:solidFill>
              <a:srgbClr val="00B05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808" name="Line 156">
            <a:extLst>
              <a:ext uri="{FF2B5EF4-FFF2-40B4-BE49-F238E27FC236}">
                <a16:creationId xmlns:a16="http://schemas.microsoft.com/office/drawing/2014/main" id="{04C0DC92-DE2E-5CF7-B804-BA470E2B9EF3}"/>
              </a:ext>
            </a:extLst>
          </p:cNvPr>
          <p:cNvSpPr>
            <a:spLocks noChangeShapeType="1"/>
          </p:cNvSpPr>
          <p:nvPr/>
        </p:nvSpPr>
        <p:spPr bwMode="auto">
          <a:xfrm>
            <a:off x="8202411" y="2876181"/>
            <a:ext cx="354004" cy="0"/>
          </a:xfrm>
          <a:prstGeom prst="line">
            <a:avLst/>
          </a:prstGeom>
          <a:noFill/>
          <a:ln w="12700">
            <a:solidFill>
              <a:srgbClr val="00B05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809" name="Line 157">
            <a:extLst>
              <a:ext uri="{FF2B5EF4-FFF2-40B4-BE49-F238E27FC236}">
                <a16:creationId xmlns:a16="http://schemas.microsoft.com/office/drawing/2014/main" id="{FB6AA6DF-1257-EF15-A145-46A7675833E9}"/>
              </a:ext>
            </a:extLst>
          </p:cNvPr>
          <p:cNvSpPr>
            <a:spLocks noChangeShapeType="1"/>
          </p:cNvSpPr>
          <p:nvPr/>
        </p:nvSpPr>
        <p:spPr bwMode="auto">
          <a:xfrm>
            <a:off x="6826496" y="2164400"/>
            <a:ext cx="0" cy="129414"/>
          </a:xfrm>
          <a:prstGeom prst="line">
            <a:avLst/>
          </a:prstGeom>
          <a:noFill/>
          <a:ln w="12700">
            <a:solidFill>
              <a:srgbClr val="00B05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810" name="Rectangle 40">
            <a:extLst>
              <a:ext uri="{FF2B5EF4-FFF2-40B4-BE49-F238E27FC236}">
                <a16:creationId xmlns:a16="http://schemas.microsoft.com/office/drawing/2014/main" id="{64DE69BE-7B90-9946-405A-9A159A158E27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8428416" y="3724707"/>
            <a:ext cx="148229" cy="57136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19047" tIns="26984" rIns="19047" bIns="26984"/>
          <a:lstStyle/>
          <a:p>
            <a:pPr eaLnBrk="0" hangingPunct="0">
              <a:spcBef>
                <a:spcPts val="600"/>
              </a:spcBef>
              <a:spcAft>
                <a:spcPts val="600"/>
              </a:spcAft>
            </a:pPr>
            <a:r>
              <a:rPr lang="en-US" altLang="zh-CN" sz="1200" dirty="0">
                <a:latin typeface="Arial" pitchFamily="34" charset="0"/>
                <a:ea typeface="SimHei" panose="02010609060101010101" pitchFamily="49" charset="-122"/>
              </a:rPr>
              <a:t>1</a:t>
            </a:r>
          </a:p>
          <a:p>
            <a:pPr eaLnBrk="0" hangingPunct="0">
              <a:spcBef>
                <a:spcPts val="600"/>
              </a:spcBef>
              <a:spcAft>
                <a:spcPts val="600"/>
              </a:spcAft>
            </a:pPr>
            <a:r>
              <a:rPr lang="en-US" altLang="zh-CN" sz="1200" dirty="0">
                <a:latin typeface="Arial" pitchFamily="34" charset="0"/>
                <a:ea typeface="SimHei" panose="02010609060101010101" pitchFamily="49" charset="-122"/>
              </a:rPr>
              <a:t>0</a:t>
            </a:r>
          </a:p>
        </p:txBody>
      </p:sp>
      <p:sp>
        <p:nvSpPr>
          <p:cNvPr id="811" name="Line 118">
            <a:extLst>
              <a:ext uri="{FF2B5EF4-FFF2-40B4-BE49-F238E27FC236}">
                <a16:creationId xmlns:a16="http://schemas.microsoft.com/office/drawing/2014/main" id="{DD5EF73C-8059-6A42-528C-5FAFD01C7DBA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368281" y="4166220"/>
            <a:ext cx="115611" cy="525875"/>
          </a:xfrm>
          <a:prstGeom prst="line">
            <a:avLst/>
          </a:prstGeom>
          <a:noFill/>
          <a:ln w="28575" cap="rnd">
            <a:solidFill>
              <a:schemeClr val="tx1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812" name="Line 13">
            <a:extLst>
              <a:ext uri="{FF2B5EF4-FFF2-40B4-BE49-F238E27FC236}">
                <a16:creationId xmlns:a16="http://schemas.microsoft.com/office/drawing/2014/main" id="{94F9DC72-BEB3-AC2E-CDD5-A040D9155157}"/>
              </a:ext>
            </a:extLst>
          </p:cNvPr>
          <p:cNvSpPr>
            <a:spLocks noChangeShapeType="1"/>
          </p:cNvSpPr>
          <p:nvPr/>
        </p:nvSpPr>
        <p:spPr bwMode="auto">
          <a:xfrm>
            <a:off x="8627513" y="3951169"/>
            <a:ext cx="141594" cy="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813" name="Line 110">
            <a:extLst>
              <a:ext uri="{FF2B5EF4-FFF2-40B4-BE49-F238E27FC236}">
                <a16:creationId xmlns:a16="http://schemas.microsoft.com/office/drawing/2014/main" id="{622B9400-87E1-0733-D930-BCEBE9537891}"/>
              </a:ext>
            </a:extLst>
          </p:cNvPr>
          <p:cNvSpPr>
            <a:spLocks noChangeShapeType="1"/>
          </p:cNvSpPr>
          <p:nvPr/>
        </p:nvSpPr>
        <p:spPr bwMode="auto">
          <a:xfrm>
            <a:off x="2554285" y="5051121"/>
            <a:ext cx="0" cy="220715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814" name="Line 8">
            <a:extLst>
              <a:ext uri="{FF2B5EF4-FFF2-40B4-BE49-F238E27FC236}">
                <a16:creationId xmlns:a16="http://schemas.microsoft.com/office/drawing/2014/main" id="{6858EC2C-96CE-7C26-78C3-AE64157A774E}"/>
              </a:ext>
            </a:extLst>
          </p:cNvPr>
          <p:cNvSpPr>
            <a:spLocks noChangeShapeType="1"/>
          </p:cNvSpPr>
          <p:nvPr/>
        </p:nvSpPr>
        <p:spPr bwMode="auto">
          <a:xfrm>
            <a:off x="2554285" y="5268566"/>
            <a:ext cx="1628334" cy="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815" name="Line 9">
            <a:extLst>
              <a:ext uri="{FF2B5EF4-FFF2-40B4-BE49-F238E27FC236}">
                <a16:creationId xmlns:a16="http://schemas.microsoft.com/office/drawing/2014/main" id="{63BC1D85-406A-39B1-FB15-4AF194216945}"/>
              </a:ext>
            </a:extLst>
          </p:cNvPr>
          <p:cNvSpPr>
            <a:spLocks noChangeShapeType="1"/>
          </p:cNvSpPr>
          <p:nvPr/>
        </p:nvSpPr>
        <p:spPr bwMode="auto">
          <a:xfrm>
            <a:off x="4330717" y="5268566"/>
            <a:ext cx="1602106" cy="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816" name="AutoShape 67">
            <a:extLst>
              <a:ext uri="{FF2B5EF4-FFF2-40B4-BE49-F238E27FC236}">
                <a16:creationId xmlns:a16="http://schemas.microsoft.com/office/drawing/2014/main" id="{BE759AD8-89B3-559F-662C-016CA33320E5}"/>
              </a:ext>
            </a:extLst>
          </p:cNvPr>
          <p:cNvSpPr>
            <a:spLocks noChangeArrowheads="1"/>
          </p:cNvSpPr>
          <p:nvPr/>
        </p:nvSpPr>
        <p:spPr bwMode="auto">
          <a:xfrm rot="16200000">
            <a:off x="5775075" y="5004310"/>
            <a:ext cx="527012" cy="220622"/>
          </a:xfrm>
          <a:custGeom>
            <a:avLst/>
            <a:gdLst>
              <a:gd name="T0" fmla="*/ 9 w 21600"/>
              <a:gd name="T1" fmla="*/ 0 h 21600"/>
              <a:gd name="T2" fmla="*/ 5 w 21600"/>
              <a:gd name="T3" fmla="*/ 1 h 21600"/>
              <a:gd name="T4" fmla="*/ 1 w 21600"/>
              <a:gd name="T5" fmla="*/ 0 h 21600"/>
              <a:gd name="T6" fmla="*/ 5 w 21600"/>
              <a:gd name="T7" fmla="*/ 0 h 21600"/>
              <a:gd name="T8" fmla="*/ 0 60000 65536"/>
              <a:gd name="T9" fmla="*/ 0 60000 65536"/>
              <a:gd name="T10" fmla="*/ 0 60000 65536"/>
              <a:gd name="T11" fmla="*/ 0 60000 65536"/>
              <a:gd name="T12" fmla="*/ 4500 w 21600"/>
              <a:gd name="T13" fmla="*/ 4500 h 21600"/>
              <a:gd name="T14" fmla="*/ 17100 w 21600"/>
              <a:gd name="T15" fmla="*/ 17100 h 21600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21600" h="21600">
                <a:moveTo>
                  <a:pt x="0" y="0"/>
                </a:moveTo>
                <a:lnTo>
                  <a:pt x="5400" y="21600"/>
                </a:lnTo>
                <a:lnTo>
                  <a:pt x="16200" y="21600"/>
                </a:lnTo>
                <a:lnTo>
                  <a:pt x="21600" y="0"/>
                </a:lnTo>
                <a:lnTo>
                  <a:pt x="0" y="0"/>
                </a:lnTo>
                <a:close/>
              </a:path>
            </a:pathLst>
          </a:custGeom>
          <a:noFill/>
          <a:ln w="19050">
            <a:solidFill>
              <a:schemeClr val="tx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817" name="Rectangle 70">
            <a:extLst>
              <a:ext uri="{FF2B5EF4-FFF2-40B4-BE49-F238E27FC236}">
                <a16:creationId xmlns:a16="http://schemas.microsoft.com/office/drawing/2014/main" id="{AAA66280-57DE-EBEF-C5F1-F91A409CF4DC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23285" y="4842130"/>
            <a:ext cx="110574" cy="56437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19047" tIns="26984" rIns="19047" bIns="26984"/>
          <a:lstStyle/>
          <a:p>
            <a:pPr eaLnBrk="0" hangingPunct="0">
              <a:spcBef>
                <a:spcPts val="600"/>
              </a:spcBef>
              <a:spcAft>
                <a:spcPts val="600"/>
              </a:spcAft>
            </a:pPr>
            <a:r>
              <a:rPr lang="en-US" altLang="zh-CN" sz="1200" dirty="0">
                <a:latin typeface="Arial" pitchFamily="34" charset="0"/>
                <a:ea typeface="SimHei" panose="02010609060101010101" pitchFamily="49" charset="-122"/>
              </a:rPr>
              <a:t>0</a:t>
            </a:r>
          </a:p>
          <a:p>
            <a:pPr eaLnBrk="0" hangingPunct="0">
              <a:spcBef>
                <a:spcPts val="600"/>
              </a:spcBef>
              <a:spcAft>
                <a:spcPts val="600"/>
              </a:spcAft>
            </a:pPr>
            <a:r>
              <a:rPr lang="en-US" altLang="zh-CN" sz="1200" dirty="0">
                <a:latin typeface="Arial" pitchFamily="34" charset="0"/>
                <a:ea typeface="SimHei" panose="02010609060101010101" pitchFamily="49" charset="-122"/>
              </a:rPr>
              <a:t>1</a:t>
            </a:r>
          </a:p>
        </p:txBody>
      </p:sp>
      <p:sp>
        <p:nvSpPr>
          <p:cNvPr id="818" name="Line 10">
            <a:extLst>
              <a:ext uri="{FF2B5EF4-FFF2-40B4-BE49-F238E27FC236}">
                <a16:creationId xmlns:a16="http://schemas.microsoft.com/office/drawing/2014/main" id="{592A45BA-5FFB-D3BA-1F69-1B72D4C00D3D}"/>
              </a:ext>
            </a:extLst>
          </p:cNvPr>
          <p:cNvSpPr>
            <a:spLocks noChangeShapeType="1"/>
          </p:cNvSpPr>
          <p:nvPr/>
        </p:nvSpPr>
        <p:spPr bwMode="auto">
          <a:xfrm>
            <a:off x="6155497" y="5051121"/>
            <a:ext cx="200625" cy="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819" name="Line 153">
            <a:extLst>
              <a:ext uri="{FF2B5EF4-FFF2-40B4-BE49-F238E27FC236}">
                <a16:creationId xmlns:a16="http://schemas.microsoft.com/office/drawing/2014/main" id="{A6CB5E49-3F90-B365-36DA-2FF29E982032}"/>
              </a:ext>
            </a:extLst>
          </p:cNvPr>
          <p:cNvSpPr>
            <a:spLocks noChangeShapeType="1"/>
          </p:cNvSpPr>
          <p:nvPr/>
        </p:nvSpPr>
        <p:spPr bwMode="auto">
          <a:xfrm>
            <a:off x="3617590" y="2462274"/>
            <a:ext cx="312768" cy="0"/>
          </a:xfrm>
          <a:prstGeom prst="line">
            <a:avLst/>
          </a:prstGeom>
          <a:noFill/>
          <a:ln w="12700">
            <a:solidFill>
              <a:srgbClr val="00B05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1088" name="Line 158">
            <a:extLst>
              <a:ext uri="{FF2B5EF4-FFF2-40B4-BE49-F238E27FC236}">
                <a16:creationId xmlns:a16="http://schemas.microsoft.com/office/drawing/2014/main" id="{947F9F0A-D6BD-C51E-98EA-43C962D65E54}"/>
              </a:ext>
            </a:extLst>
          </p:cNvPr>
          <p:cNvSpPr>
            <a:spLocks noChangeShapeType="1"/>
          </p:cNvSpPr>
          <p:nvPr/>
        </p:nvSpPr>
        <p:spPr bwMode="auto">
          <a:xfrm>
            <a:off x="3926629" y="2460861"/>
            <a:ext cx="0" cy="109724"/>
          </a:xfrm>
          <a:prstGeom prst="line">
            <a:avLst/>
          </a:prstGeom>
          <a:noFill/>
          <a:ln w="12700">
            <a:solidFill>
              <a:srgbClr val="00B05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1089" name="Text Box 30">
            <a:extLst>
              <a:ext uri="{FF2B5EF4-FFF2-40B4-BE49-F238E27FC236}">
                <a16:creationId xmlns:a16="http://schemas.microsoft.com/office/drawing/2014/main" id="{E7682266-6587-4BC5-1B10-438FB7DFFF8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22383" y="2928858"/>
            <a:ext cx="500428" cy="27698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1425" tIns="45713" rIns="91425" bIns="45713">
            <a:spAutoFit/>
          </a:bodyPr>
          <a:lstStyle>
            <a:lvl1pPr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1pPr>
            <a:lvl2pPr marL="742950" indent="-28575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2pPr>
            <a:lvl3pPr marL="11430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3pPr>
            <a:lvl4pPr marL="16002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4pPr>
            <a:lvl5pPr marL="20574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9pPr>
          </a:lstStyle>
          <a:p>
            <a:r>
              <a:rPr lang="en-US" altLang="zh-CN" sz="1200" b="0" dirty="0">
                <a:latin typeface="Arial" pitchFamily="34" charset="0"/>
                <a:ea typeface="SimHei" panose="02010609060101010101" pitchFamily="49" charset="-122"/>
              </a:rPr>
              <a:t>Zero</a:t>
            </a:r>
          </a:p>
        </p:txBody>
      </p:sp>
      <p:sp>
        <p:nvSpPr>
          <p:cNvPr id="1090" name="流程图: 延期 974">
            <a:extLst>
              <a:ext uri="{FF2B5EF4-FFF2-40B4-BE49-F238E27FC236}">
                <a16:creationId xmlns:a16="http://schemas.microsoft.com/office/drawing/2014/main" id="{2D3D1E48-9061-42E5-CDFA-5CCDCC026DB0}"/>
              </a:ext>
            </a:extLst>
          </p:cNvPr>
          <p:cNvSpPr/>
          <p:nvPr/>
        </p:nvSpPr>
        <p:spPr>
          <a:xfrm rot="16200000">
            <a:off x="7073458" y="1609120"/>
            <a:ext cx="384834" cy="355717"/>
          </a:xfrm>
          <a:prstGeom prst="flowChartDelay">
            <a:avLst/>
          </a:prstGeom>
          <a:noFill/>
          <a:ln w="19050"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091" name="Line 124">
            <a:extLst>
              <a:ext uri="{FF2B5EF4-FFF2-40B4-BE49-F238E27FC236}">
                <a16:creationId xmlns:a16="http://schemas.microsoft.com/office/drawing/2014/main" id="{C81B0489-879A-2578-2C7E-D58143A7FEE1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7167985" y="1982780"/>
            <a:ext cx="0" cy="115222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 type="none" w="med" len="med"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1092" name="Line 124">
            <a:extLst>
              <a:ext uri="{FF2B5EF4-FFF2-40B4-BE49-F238E27FC236}">
                <a16:creationId xmlns:a16="http://schemas.microsoft.com/office/drawing/2014/main" id="{665121D1-8393-66D9-C95E-0858361482F6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7341420" y="1978731"/>
            <a:ext cx="0" cy="250376"/>
          </a:xfrm>
          <a:prstGeom prst="line">
            <a:avLst/>
          </a:prstGeom>
          <a:noFill/>
          <a:ln w="12700">
            <a:solidFill>
              <a:srgbClr val="00B050"/>
            </a:solidFill>
            <a:round/>
            <a:headEnd type="none" w="med" len="med"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1093" name="Text Box 30">
            <a:extLst>
              <a:ext uri="{FF2B5EF4-FFF2-40B4-BE49-F238E27FC236}">
                <a16:creationId xmlns:a16="http://schemas.microsoft.com/office/drawing/2014/main" id="{483E4A01-8B1B-BC38-9F6B-483C3AA0647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287565" y="2107113"/>
            <a:ext cx="670346" cy="27698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1425" tIns="45713" rIns="91425" bIns="45713">
            <a:spAutoFit/>
          </a:bodyPr>
          <a:lstStyle>
            <a:lvl1pPr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1pPr>
            <a:lvl2pPr marL="742950" indent="-28575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2pPr>
            <a:lvl3pPr marL="11430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3pPr>
            <a:lvl4pPr marL="16002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4pPr>
            <a:lvl5pPr marL="20574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9pPr>
          </a:lstStyle>
          <a:p>
            <a:r>
              <a:rPr lang="en-US" altLang="zh-CN" sz="1200" b="0" dirty="0">
                <a:solidFill>
                  <a:srgbClr val="00B050"/>
                </a:solidFill>
                <a:latin typeface="Arial" pitchFamily="34" charset="0"/>
                <a:ea typeface="SimHei" panose="02010609060101010101" pitchFamily="49" charset="-122"/>
              </a:rPr>
              <a:t>Branch</a:t>
            </a:r>
          </a:p>
        </p:txBody>
      </p:sp>
      <p:sp>
        <p:nvSpPr>
          <p:cNvPr id="1094" name="Line 153">
            <a:extLst>
              <a:ext uri="{FF2B5EF4-FFF2-40B4-BE49-F238E27FC236}">
                <a16:creationId xmlns:a16="http://schemas.microsoft.com/office/drawing/2014/main" id="{10CCAAA2-7112-80BE-5F2E-332BBC467B63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422769" y="2876181"/>
            <a:ext cx="0" cy="231357"/>
          </a:xfrm>
          <a:prstGeom prst="line">
            <a:avLst/>
          </a:prstGeom>
          <a:noFill/>
          <a:ln w="12700">
            <a:solidFill>
              <a:srgbClr val="00B05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1095" name="Text Box 30">
            <a:extLst>
              <a:ext uri="{FF2B5EF4-FFF2-40B4-BE49-F238E27FC236}">
                <a16:creationId xmlns:a16="http://schemas.microsoft.com/office/drawing/2014/main" id="{A0D2FA84-A9DC-DACF-D963-7FA65CEE87F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79449" y="2737305"/>
            <a:ext cx="659574" cy="27698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1425" tIns="45713" rIns="91425" bIns="45713">
            <a:spAutoFit/>
          </a:bodyPr>
          <a:lstStyle>
            <a:lvl1pPr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1pPr>
            <a:lvl2pPr marL="742950" indent="-28575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2pPr>
            <a:lvl3pPr marL="11430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3pPr>
            <a:lvl4pPr marL="16002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4pPr>
            <a:lvl5pPr marL="20574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9pPr>
          </a:lstStyle>
          <a:p>
            <a:r>
              <a:rPr lang="en-US" altLang="zh-CN" sz="1200" b="0" dirty="0" err="1">
                <a:solidFill>
                  <a:srgbClr val="00B050"/>
                </a:solidFill>
                <a:latin typeface="Arial" pitchFamily="34" charset="0"/>
                <a:ea typeface="SimHei" panose="02010609060101010101" pitchFamily="49" charset="-122"/>
              </a:rPr>
              <a:t>RegWr</a:t>
            </a:r>
            <a:endParaRPr lang="en-US" altLang="zh-CN" sz="1200" b="0" dirty="0">
              <a:solidFill>
                <a:srgbClr val="00B050"/>
              </a:solidFill>
              <a:latin typeface="Arial" pitchFamily="34" charset="0"/>
              <a:ea typeface="SimHei" panose="02010609060101010101" pitchFamily="49" charset="-122"/>
            </a:endParaRPr>
          </a:p>
        </p:txBody>
      </p:sp>
      <p:sp>
        <p:nvSpPr>
          <p:cNvPr id="1096" name="Line 153">
            <a:extLst>
              <a:ext uri="{FF2B5EF4-FFF2-40B4-BE49-F238E27FC236}">
                <a16:creationId xmlns:a16="http://schemas.microsoft.com/office/drawing/2014/main" id="{137E40DD-3A11-52F7-AE09-1F96FF813139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7267595" y="1357840"/>
            <a:ext cx="0" cy="236722"/>
          </a:xfrm>
          <a:prstGeom prst="line">
            <a:avLst/>
          </a:prstGeom>
          <a:noFill/>
          <a:ln w="12700">
            <a:solidFill>
              <a:srgbClr val="00B05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1097" name="Line 153">
            <a:extLst>
              <a:ext uri="{FF2B5EF4-FFF2-40B4-BE49-F238E27FC236}">
                <a16:creationId xmlns:a16="http://schemas.microsoft.com/office/drawing/2014/main" id="{C3EBEDD1-AE3D-BA1C-1401-60651AC6B156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1070295" y="1357838"/>
            <a:ext cx="6195579" cy="0"/>
          </a:xfrm>
          <a:prstGeom prst="line">
            <a:avLst/>
          </a:prstGeom>
          <a:noFill/>
          <a:ln w="12700">
            <a:solidFill>
              <a:srgbClr val="00B05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1098" name="Line 153">
            <a:extLst>
              <a:ext uri="{FF2B5EF4-FFF2-40B4-BE49-F238E27FC236}">
                <a16:creationId xmlns:a16="http://schemas.microsoft.com/office/drawing/2014/main" id="{8C9FB974-49B6-7D59-0241-63C5DC539477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1070295" y="1357837"/>
            <a:ext cx="0" cy="162025"/>
          </a:xfrm>
          <a:prstGeom prst="line">
            <a:avLst/>
          </a:prstGeom>
          <a:noFill/>
          <a:ln w="12700">
            <a:solidFill>
              <a:srgbClr val="00B05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1099" name="Text Box 30">
            <a:extLst>
              <a:ext uri="{FF2B5EF4-FFF2-40B4-BE49-F238E27FC236}">
                <a16:creationId xmlns:a16="http://schemas.microsoft.com/office/drawing/2014/main" id="{BFBE7292-4887-B0E3-12E2-9E36C9783C7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617950" y="1139506"/>
            <a:ext cx="628668" cy="27698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1425" tIns="45713" rIns="91425" bIns="45713">
            <a:spAutoFit/>
          </a:bodyPr>
          <a:lstStyle>
            <a:lvl1pPr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1pPr>
            <a:lvl2pPr marL="742950" indent="-28575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2pPr>
            <a:lvl3pPr marL="11430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3pPr>
            <a:lvl4pPr marL="16002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4pPr>
            <a:lvl5pPr marL="20574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9pPr>
          </a:lstStyle>
          <a:p>
            <a:r>
              <a:rPr lang="en-US" altLang="zh-CN" sz="1200" b="0" dirty="0" err="1">
                <a:solidFill>
                  <a:srgbClr val="00B050"/>
                </a:solidFill>
                <a:latin typeface="Arial" pitchFamily="34" charset="0"/>
                <a:ea typeface="SimHei" panose="02010609060101010101" pitchFamily="49" charset="-122"/>
              </a:rPr>
              <a:t>PCSrc</a:t>
            </a:r>
            <a:endParaRPr lang="en-US" altLang="zh-CN" sz="1200" b="0" dirty="0">
              <a:solidFill>
                <a:srgbClr val="00B050"/>
              </a:solidFill>
              <a:latin typeface="Arial" pitchFamily="34" charset="0"/>
              <a:ea typeface="SimHei" panose="02010609060101010101" pitchFamily="49" charset="-122"/>
            </a:endParaRPr>
          </a:p>
        </p:txBody>
      </p:sp>
      <p:sp>
        <p:nvSpPr>
          <p:cNvPr id="1100" name="Line 153">
            <a:extLst>
              <a:ext uri="{FF2B5EF4-FFF2-40B4-BE49-F238E27FC236}">
                <a16:creationId xmlns:a16="http://schemas.microsoft.com/office/drawing/2014/main" id="{8DA3745F-0F87-0DE5-ED31-24FC3A381CC2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054193" y="4842130"/>
            <a:ext cx="0" cy="84457"/>
          </a:xfrm>
          <a:prstGeom prst="line">
            <a:avLst/>
          </a:prstGeom>
          <a:noFill/>
          <a:ln w="12700">
            <a:solidFill>
              <a:srgbClr val="00B05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1101" name="Text Box 30">
            <a:extLst>
              <a:ext uri="{FF2B5EF4-FFF2-40B4-BE49-F238E27FC236}">
                <a16:creationId xmlns:a16="http://schemas.microsoft.com/office/drawing/2014/main" id="{A73D0DD0-CB7C-C1D6-A94A-913F9AF1C48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702976" y="4646032"/>
            <a:ext cx="695994" cy="27698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1425" tIns="45713" rIns="91425" bIns="45713">
            <a:spAutoFit/>
          </a:bodyPr>
          <a:lstStyle>
            <a:lvl1pPr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1pPr>
            <a:lvl2pPr marL="742950" indent="-28575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2pPr>
            <a:lvl3pPr marL="11430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3pPr>
            <a:lvl4pPr marL="16002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4pPr>
            <a:lvl5pPr marL="20574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9pPr>
          </a:lstStyle>
          <a:p>
            <a:r>
              <a:rPr lang="en-US" altLang="zh-CN" sz="1200" b="0" dirty="0" err="1">
                <a:solidFill>
                  <a:srgbClr val="00B050"/>
                </a:solidFill>
                <a:latin typeface="Arial" pitchFamily="34" charset="0"/>
                <a:ea typeface="SimHei" panose="02010609060101010101" pitchFamily="49" charset="-122"/>
              </a:rPr>
              <a:t>RegDst</a:t>
            </a:r>
            <a:endParaRPr lang="en-US" altLang="zh-CN" sz="1200" b="0" dirty="0">
              <a:solidFill>
                <a:srgbClr val="00B050"/>
              </a:solidFill>
              <a:latin typeface="Arial" pitchFamily="34" charset="0"/>
              <a:ea typeface="SimHei" panose="02010609060101010101" pitchFamily="49" charset="-122"/>
            </a:endParaRPr>
          </a:p>
        </p:txBody>
      </p:sp>
      <p:sp>
        <p:nvSpPr>
          <p:cNvPr id="1102" name="Line 153">
            <a:extLst>
              <a:ext uri="{FF2B5EF4-FFF2-40B4-BE49-F238E27FC236}">
                <a16:creationId xmlns:a16="http://schemas.microsoft.com/office/drawing/2014/main" id="{C0039131-0831-C7D3-F317-E4BBB12787D6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909169" y="4309516"/>
            <a:ext cx="0" cy="288684"/>
          </a:xfrm>
          <a:prstGeom prst="line">
            <a:avLst/>
          </a:prstGeom>
          <a:noFill/>
          <a:ln w="12700">
            <a:solidFill>
              <a:srgbClr val="00B05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1103" name="Line 153">
            <a:extLst>
              <a:ext uri="{FF2B5EF4-FFF2-40B4-BE49-F238E27FC236}">
                <a16:creationId xmlns:a16="http://schemas.microsoft.com/office/drawing/2014/main" id="{EBA08992-C8AD-C3CE-D976-2E77BCF15417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7763235" y="4323104"/>
            <a:ext cx="0" cy="288684"/>
          </a:xfrm>
          <a:prstGeom prst="line">
            <a:avLst/>
          </a:prstGeom>
          <a:noFill/>
          <a:ln w="12700">
            <a:solidFill>
              <a:srgbClr val="00B05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1104" name="Text Box 30">
            <a:extLst>
              <a:ext uri="{FF2B5EF4-FFF2-40B4-BE49-F238E27FC236}">
                <a16:creationId xmlns:a16="http://schemas.microsoft.com/office/drawing/2014/main" id="{4F279E71-2D8E-6E81-7103-61F0CFD168E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22383" y="4516987"/>
            <a:ext cx="891560" cy="27698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1425" tIns="45713" rIns="91425" bIns="45713">
            <a:spAutoFit/>
          </a:bodyPr>
          <a:lstStyle>
            <a:lvl1pPr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1pPr>
            <a:lvl2pPr marL="742950" indent="-28575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2pPr>
            <a:lvl3pPr marL="11430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3pPr>
            <a:lvl4pPr marL="16002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4pPr>
            <a:lvl5pPr marL="20574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9pPr>
          </a:lstStyle>
          <a:p>
            <a:r>
              <a:rPr lang="en-US" altLang="zh-CN" sz="1200" b="0" dirty="0" err="1">
                <a:solidFill>
                  <a:srgbClr val="00B050"/>
                </a:solidFill>
                <a:latin typeface="Arial" pitchFamily="34" charset="0"/>
                <a:ea typeface="SimHei" panose="02010609060101010101" pitchFamily="49" charset="-122"/>
              </a:rPr>
              <a:t>MemRead</a:t>
            </a:r>
            <a:endParaRPr lang="en-US" altLang="zh-CN" sz="1200" b="0" dirty="0">
              <a:solidFill>
                <a:srgbClr val="00B050"/>
              </a:solidFill>
              <a:latin typeface="Arial" pitchFamily="34" charset="0"/>
              <a:ea typeface="SimHei" panose="02010609060101010101" pitchFamily="49" charset="-122"/>
            </a:endParaRPr>
          </a:p>
        </p:txBody>
      </p:sp>
      <p:sp>
        <p:nvSpPr>
          <p:cNvPr id="1105" name="Text Box 30">
            <a:extLst>
              <a:ext uri="{FF2B5EF4-FFF2-40B4-BE49-F238E27FC236}">
                <a16:creationId xmlns:a16="http://schemas.microsoft.com/office/drawing/2014/main" id="{4DC5EAD1-9E50-4E37-8E6B-E4D4A290E53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89468" y="4518593"/>
            <a:ext cx="720488" cy="27698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1425" tIns="45713" rIns="91425" bIns="45713">
            <a:spAutoFit/>
          </a:bodyPr>
          <a:lstStyle>
            <a:lvl1pPr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1pPr>
            <a:lvl2pPr marL="742950" indent="-28575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2pPr>
            <a:lvl3pPr marL="11430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3pPr>
            <a:lvl4pPr marL="16002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4pPr>
            <a:lvl5pPr marL="20574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9pPr>
          </a:lstStyle>
          <a:p>
            <a:r>
              <a:rPr lang="en-US" altLang="zh-CN" sz="1200" b="0" dirty="0" err="1">
                <a:solidFill>
                  <a:srgbClr val="00B050"/>
                </a:solidFill>
                <a:latin typeface="Arial" pitchFamily="34" charset="0"/>
                <a:ea typeface="SimHei" panose="02010609060101010101" pitchFamily="49" charset="-122"/>
              </a:rPr>
              <a:t>MemWr</a:t>
            </a:r>
            <a:endParaRPr lang="en-US" altLang="zh-CN" sz="1200" b="0" dirty="0">
              <a:solidFill>
                <a:srgbClr val="00B050"/>
              </a:solidFill>
              <a:latin typeface="Arial" pitchFamily="34" charset="0"/>
              <a:ea typeface="SimHei" panose="02010609060101010101" pitchFamily="49" charset="-122"/>
            </a:endParaRPr>
          </a:p>
        </p:txBody>
      </p:sp>
      <p:sp>
        <p:nvSpPr>
          <p:cNvPr id="1106" name="Line 153">
            <a:extLst>
              <a:ext uri="{FF2B5EF4-FFF2-40B4-BE49-F238E27FC236}">
                <a16:creationId xmlns:a16="http://schemas.microsoft.com/office/drawing/2014/main" id="{2282D166-3293-A963-75D1-D589C581CD24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8521317" y="3471984"/>
            <a:ext cx="0" cy="288684"/>
          </a:xfrm>
          <a:prstGeom prst="line">
            <a:avLst/>
          </a:prstGeom>
          <a:noFill/>
          <a:ln w="12700">
            <a:solidFill>
              <a:srgbClr val="00B05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1107" name="Text Box 30">
            <a:extLst>
              <a:ext uri="{FF2B5EF4-FFF2-40B4-BE49-F238E27FC236}">
                <a16:creationId xmlns:a16="http://schemas.microsoft.com/office/drawing/2014/main" id="{04F48062-6AB3-672F-BD31-7FD7035594F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220744" y="3297910"/>
            <a:ext cx="934841" cy="27698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1425" tIns="45713" rIns="91425" bIns="45713">
            <a:spAutoFit/>
          </a:bodyPr>
          <a:lstStyle>
            <a:lvl1pPr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1pPr>
            <a:lvl2pPr marL="742950" indent="-28575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2pPr>
            <a:lvl3pPr marL="11430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3pPr>
            <a:lvl4pPr marL="16002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4pPr>
            <a:lvl5pPr marL="20574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9pPr>
          </a:lstStyle>
          <a:p>
            <a:r>
              <a:rPr lang="en-US" altLang="zh-CN" sz="1200" b="0" dirty="0" err="1">
                <a:solidFill>
                  <a:srgbClr val="00B050"/>
                </a:solidFill>
                <a:latin typeface="Arial" pitchFamily="34" charset="0"/>
                <a:ea typeface="SimHei" panose="02010609060101010101" pitchFamily="49" charset="-122"/>
              </a:rPr>
              <a:t>MemtoReg</a:t>
            </a:r>
            <a:endParaRPr lang="en-US" altLang="zh-CN" sz="1200" b="0" dirty="0">
              <a:solidFill>
                <a:srgbClr val="00B050"/>
              </a:solidFill>
              <a:latin typeface="Arial" pitchFamily="34" charset="0"/>
              <a:ea typeface="SimHei" panose="02010609060101010101" pitchFamily="49" charset="-122"/>
            </a:endParaRPr>
          </a:p>
        </p:txBody>
      </p:sp>
      <p:sp>
        <p:nvSpPr>
          <p:cNvPr id="1108" name="Line 153">
            <a:extLst>
              <a:ext uri="{FF2B5EF4-FFF2-40B4-BE49-F238E27FC236}">
                <a16:creationId xmlns:a16="http://schemas.microsoft.com/office/drawing/2014/main" id="{58B97BA2-B916-681B-E233-8D9975823212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005520" y="4155311"/>
            <a:ext cx="0" cy="167792"/>
          </a:xfrm>
          <a:prstGeom prst="line">
            <a:avLst/>
          </a:prstGeom>
          <a:noFill/>
          <a:ln w="12700">
            <a:solidFill>
              <a:srgbClr val="00B05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1109" name="Text Box 30">
            <a:extLst>
              <a:ext uri="{FF2B5EF4-FFF2-40B4-BE49-F238E27FC236}">
                <a16:creationId xmlns:a16="http://schemas.microsoft.com/office/drawing/2014/main" id="{9EE04F9B-A738-29C2-6132-8AC860B4009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701658" y="4272203"/>
            <a:ext cx="687979" cy="27698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1425" tIns="45713" rIns="91425" bIns="45713">
            <a:spAutoFit/>
          </a:bodyPr>
          <a:lstStyle>
            <a:lvl1pPr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1pPr>
            <a:lvl2pPr marL="742950" indent="-28575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2pPr>
            <a:lvl3pPr marL="11430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3pPr>
            <a:lvl4pPr marL="16002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4pPr>
            <a:lvl5pPr marL="20574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9pPr>
          </a:lstStyle>
          <a:p>
            <a:r>
              <a:rPr lang="en-US" altLang="zh-CN" sz="1200" b="0" dirty="0" err="1">
                <a:solidFill>
                  <a:srgbClr val="00B050"/>
                </a:solidFill>
                <a:latin typeface="Arial" pitchFamily="34" charset="0"/>
                <a:ea typeface="SimHei" panose="02010609060101010101" pitchFamily="49" charset="-122"/>
              </a:rPr>
              <a:t>ALUOp</a:t>
            </a:r>
            <a:endParaRPr lang="en-US" altLang="zh-CN" sz="1200" b="0" dirty="0">
              <a:solidFill>
                <a:srgbClr val="00B050"/>
              </a:solidFill>
              <a:latin typeface="Arial" pitchFamily="34" charset="0"/>
              <a:ea typeface="SimHei" panose="02010609060101010101" pitchFamily="49" charset="-122"/>
            </a:endParaRPr>
          </a:p>
        </p:txBody>
      </p:sp>
      <p:sp>
        <p:nvSpPr>
          <p:cNvPr id="1110" name="Line 153">
            <a:extLst>
              <a:ext uri="{FF2B5EF4-FFF2-40B4-BE49-F238E27FC236}">
                <a16:creationId xmlns:a16="http://schemas.microsoft.com/office/drawing/2014/main" id="{95C697F4-F106-1D12-2317-57C54D71F20C}"/>
              </a:ext>
            </a:extLst>
          </p:cNvPr>
          <p:cNvSpPr>
            <a:spLocks noChangeShapeType="1"/>
          </p:cNvSpPr>
          <p:nvPr/>
        </p:nvSpPr>
        <p:spPr bwMode="auto">
          <a:xfrm>
            <a:off x="4324305" y="1964742"/>
            <a:ext cx="566407" cy="0"/>
          </a:xfrm>
          <a:prstGeom prst="line">
            <a:avLst/>
          </a:prstGeom>
          <a:noFill/>
          <a:ln w="12700">
            <a:solidFill>
              <a:srgbClr val="00B05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1111" name="Line 158">
            <a:extLst>
              <a:ext uri="{FF2B5EF4-FFF2-40B4-BE49-F238E27FC236}">
                <a16:creationId xmlns:a16="http://schemas.microsoft.com/office/drawing/2014/main" id="{3DD6443D-EC5A-D80C-5B2C-E459D6E17541}"/>
              </a:ext>
            </a:extLst>
          </p:cNvPr>
          <p:cNvSpPr>
            <a:spLocks noChangeShapeType="1"/>
          </p:cNvSpPr>
          <p:nvPr/>
        </p:nvSpPr>
        <p:spPr bwMode="auto">
          <a:xfrm>
            <a:off x="4890711" y="1964742"/>
            <a:ext cx="0" cy="102598"/>
          </a:xfrm>
          <a:prstGeom prst="line">
            <a:avLst/>
          </a:prstGeom>
          <a:noFill/>
          <a:ln w="12700">
            <a:solidFill>
              <a:srgbClr val="00B05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1112" name="AutoShape 67">
            <a:extLst>
              <a:ext uri="{FF2B5EF4-FFF2-40B4-BE49-F238E27FC236}">
                <a16:creationId xmlns:a16="http://schemas.microsoft.com/office/drawing/2014/main" id="{D4A42A43-9A1E-6FDD-789D-0A192E842835}"/>
              </a:ext>
            </a:extLst>
          </p:cNvPr>
          <p:cNvSpPr>
            <a:spLocks noChangeArrowheads="1"/>
          </p:cNvSpPr>
          <p:nvPr/>
        </p:nvSpPr>
        <p:spPr bwMode="auto">
          <a:xfrm rot="16200000">
            <a:off x="4725086" y="3395572"/>
            <a:ext cx="647031" cy="212392"/>
          </a:xfrm>
          <a:custGeom>
            <a:avLst/>
            <a:gdLst>
              <a:gd name="T0" fmla="*/ 9 w 21600"/>
              <a:gd name="T1" fmla="*/ 0 h 21600"/>
              <a:gd name="T2" fmla="*/ 5 w 21600"/>
              <a:gd name="T3" fmla="*/ 1 h 21600"/>
              <a:gd name="T4" fmla="*/ 1 w 21600"/>
              <a:gd name="T5" fmla="*/ 0 h 21600"/>
              <a:gd name="T6" fmla="*/ 5 w 21600"/>
              <a:gd name="T7" fmla="*/ 0 h 21600"/>
              <a:gd name="T8" fmla="*/ 0 60000 65536"/>
              <a:gd name="T9" fmla="*/ 0 60000 65536"/>
              <a:gd name="T10" fmla="*/ 0 60000 65536"/>
              <a:gd name="T11" fmla="*/ 0 60000 65536"/>
              <a:gd name="T12" fmla="*/ 4500 w 21600"/>
              <a:gd name="T13" fmla="*/ 4500 h 21600"/>
              <a:gd name="T14" fmla="*/ 17100 w 21600"/>
              <a:gd name="T15" fmla="*/ 17100 h 21600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21600" h="21600">
                <a:moveTo>
                  <a:pt x="0" y="0"/>
                </a:moveTo>
                <a:lnTo>
                  <a:pt x="5400" y="21600"/>
                </a:lnTo>
                <a:lnTo>
                  <a:pt x="16200" y="21600"/>
                </a:lnTo>
                <a:lnTo>
                  <a:pt x="21600" y="0"/>
                </a:lnTo>
                <a:lnTo>
                  <a:pt x="0" y="0"/>
                </a:lnTo>
                <a:close/>
              </a:path>
            </a:pathLst>
          </a:custGeom>
          <a:noFill/>
          <a:ln w="38100">
            <a:solidFill>
              <a:srgbClr val="00B0F0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1113" name="Line 109">
            <a:extLst>
              <a:ext uri="{FF2B5EF4-FFF2-40B4-BE49-F238E27FC236}">
                <a16:creationId xmlns:a16="http://schemas.microsoft.com/office/drawing/2014/main" id="{A22E23D5-306E-9585-89ED-2AB435C5D3E7}"/>
              </a:ext>
            </a:extLst>
          </p:cNvPr>
          <p:cNvSpPr>
            <a:spLocks noChangeShapeType="1"/>
          </p:cNvSpPr>
          <p:nvPr/>
        </p:nvSpPr>
        <p:spPr bwMode="auto">
          <a:xfrm>
            <a:off x="4424969" y="4792309"/>
            <a:ext cx="854026" cy="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1114" name="Line 110">
            <a:extLst>
              <a:ext uri="{FF2B5EF4-FFF2-40B4-BE49-F238E27FC236}">
                <a16:creationId xmlns:a16="http://schemas.microsoft.com/office/drawing/2014/main" id="{900B2B67-04C4-5FA6-C005-61DE9997C2BC}"/>
              </a:ext>
            </a:extLst>
          </p:cNvPr>
          <p:cNvSpPr>
            <a:spLocks noChangeShapeType="1"/>
          </p:cNvSpPr>
          <p:nvPr/>
        </p:nvSpPr>
        <p:spPr bwMode="auto">
          <a:xfrm>
            <a:off x="5278995" y="4409473"/>
            <a:ext cx="0" cy="390609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1115" name="AutoShape 67">
            <a:extLst>
              <a:ext uri="{FF2B5EF4-FFF2-40B4-BE49-F238E27FC236}">
                <a16:creationId xmlns:a16="http://schemas.microsoft.com/office/drawing/2014/main" id="{40E34B15-1650-8527-4DA8-7806AD30DBA3}"/>
              </a:ext>
            </a:extLst>
          </p:cNvPr>
          <p:cNvSpPr>
            <a:spLocks noChangeArrowheads="1"/>
          </p:cNvSpPr>
          <p:nvPr/>
        </p:nvSpPr>
        <p:spPr bwMode="auto">
          <a:xfrm rot="16200000">
            <a:off x="4727404" y="4105318"/>
            <a:ext cx="647031" cy="212392"/>
          </a:xfrm>
          <a:custGeom>
            <a:avLst/>
            <a:gdLst>
              <a:gd name="T0" fmla="*/ 9 w 21600"/>
              <a:gd name="T1" fmla="*/ 0 h 21600"/>
              <a:gd name="T2" fmla="*/ 5 w 21600"/>
              <a:gd name="T3" fmla="*/ 1 h 21600"/>
              <a:gd name="T4" fmla="*/ 1 w 21600"/>
              <a:gd name="T5" fmla="*/ 0 h 21600"/>
              <a:gd name="T6" fmla="*/ 5 w 21600"/>
              <a:gd name="T7" fmla="*/ 0 h 21600"/>
              <a:gd name="T8" fmla="*/ 0 60000 65536"/>
              <a:gd name="T9" fmla="*/ 0 60000 65536"/>
              <a:gd name="T10" fmla="*/ 0 60000 65536"/>
              <a:gd name="T11" fmla="*/ 0 60000 65536"/>
              <a:gd name="T12" fmla="*/ 4500 w 21600"/>
              <a:gd name="T13" fmla="*/ 4500 h 21600"/>
              <a:gd name="T14" fmla="*/ 17100 w 21600"/>
              <a:gd name="T15" fmla="*/ 17100 h 21600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21600" h="21600">
                <a:moveTo>
                  <a:pt x="0" y="0"/>
                </a:moveTo>
                <a:lnTo>
                  <a:pt x="5400" y="21600"/>
                </a:lnTo>
                <a:lnTo>
                  <a:pt x="16200" y="21600"/>
                </a:lnTo>
                <a:lnTo>
                  <a:pt x="21600" y="0"/>
                </a:lnTo>
                <a:lnTo>
                  <a:pt x="0" y="0"/>
                </a:lnTo>
                <a:close/>
              </a:path>
            </a:pathLst>
          </a:custGeom>
          <a:noFill/>
          <a:ln w="19050">
            <a:solidFill>
              <a:schemeClr val="bg1">
                <a:lumMod val="75000"/>
              </a:schemeClr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1116" name="Line 115">
            <a:extLst>
              <a:ext uri="{FF2B5EF4-FFF2-40B4-BE49-F238E27FC236}">
                <a16:creationId xmlns:a16="http://schemas.microsoft.com/office/drawing/2014/main" id="{462B6605-41F8-FBDD-D37E-13A85E054A0B}"/>
              </a:ext>
            </a:extLst>
          </p:cNvPr>
          <p:cNvSpPr>
            <a:spLocks noChangeShapeType="1"/>
          </p:cNvSpPr>
          <p:nvPr/>
        </p:nvSpPr>
        <p:spPr bwMode="auto">
          <a:xfrm>
            <a:off x="6574396" y="4742553"/>
            <a:ext cx="0" cy="856297"/>
          </a:xfrm>
          <a:prstGeom prst="line">
            <a:avLst/>
          </a:prstGeom>
          <a:noFill/>
          <a:ln w="38100">
            <a:solidFill>
              <a:srgbClr val="00B0F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1117" name="Line 113">
            <a:extLst>
              <a:ext uri="{FF2B5EF4-FFF2-40B4-BE49-F238E27FC236}">
                <a16:creationId xmlns:a16="http://schemas.microsoft.com/office/drawing/2014/main" id="{7B810C1F-CE83-ED65-EB4A-48DAC9BCF8D3}"/>
              </a:ext>
            </a:extLst>
          </p:cNvPr>
          <p:cNvSpPr>
            <a:spLocks noChangeShapeType="1"/>
          </p:cNvSpPr>
          <p:nvPr/>
        </p:nvSpPr>
        <p:spPr bwMode="auto">
          <a:xfrm>
            <a:off x="4505330" y="5598850"/>
            <a:ext cx="2072880" cy="0"/>
          </a:xfrm>
          <a:prstGeom prst="line">
            <a:avLst/>
          </a:prstGeom>
          <a:noFill/>
          <a:ln w="38100">
            <a:solidFill>
              <a:srgbClr val="00B0F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1118" name="Line 115">
            <a:extLst>
              <a:ext uri="{FF2B5EF4-FFF2-40B4-BE49-F238E27FC236}">
                <a16:creationId xmlns:a16="http://schemas.microsoft.com/office/drawing/2014/main" id="{7D3A01E2-0128-C147-2740-880EAC232BBD}"/>
              </a:ext>
            </a:extLst>
          </p:cNvPr>
          <p:cNvSpPr>
            <a:spLocks noChangeShapeType="1"/>
          </p:cNvSpPr>
          <p:nvPr/>
        </p:nvSpPr>
        <p:spPr bwMode="auto">
          <a:xfrm>
            <a:off x="4511226" y="3471984"/>
            <a:ext cx="0" cy="2126866"/>
          </a:xfrm>
          <a:prstGeom prst="line">
            <a:avLst/>
          </a:prstGeom>
          <a:noFill/>
          <a:ln w="38100">
            <a:solidFill>
              <a:srgbClr val="00B0F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1119" name="Line 115">
            <a:extLst>
              <a:ext uri="{FF2B5EF4-FFF2-40B4-BE49-F238E27FC236}">
                <a16:creationId xmlns:a16="http://schemas.microsoft.com/office/drawing/2014/main" id="{E2683D47-E91C-A4FB-7334-53ACE98C0A1D}"/>
              </a:ext>
            </a:extLst>
          </p:cNvPr>
          <p:cNvSpPr>
            <a:spLocks noChangeShapeType="1"/>
          </p:cNvSpPr>
          <p:nvPr/>
        </p:nvSpPr>
        <p:spPr bwMode="auto">
          <a:xfrm>
            <a:off x="4677528" y="3686336"/>
            <a:ext cx="0" cy="1814565"/>
          </a:xfrm>
          <a:prstGeom prst="line">
            <a:avLst/>
          </a:prstGeom>
          <a:noFill/>
          <a:ln w="19050">
            <a:solidFill>
              <a:schemeClr val="bg1">
                <a:lumMod val="75000"/>
              </a:schemeClr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1120" name="Line 113">
            <a:extLst>
              <a:ext uri="{FF2B5EF4-FFF2-40B4-BE49-F238E27FC236}">
                <a16:creationId xmlns:a16="http://schemas.microsoft.com/office/drawing/2014/main" id="{00781A22-E99A-127F-492A-06758BBC4802}"/>
              </a:ext>
            </a:extLst>
          </p:cNvPr>
          <p:cNvSpPr>
            <a:spLocks noChangeShapeType="1"/>
          </p:cNvSpPr>
          <p:nvPr/>
        </p:nvSpPr>
        <p:spPr bwMode="auto">
          <a:xfrm>
            <a:off x="4509756" y="3472062"/>
            <a:ext cx="430050" cy="0"/>
          </a:xfrm>
          <a:prstGeom prst="line">
            <a:avLst/>
          </a:prstGeom>
          <a:noFill/>
          <a:ln w="38100">
            <a:solidFill>
              <a:srgbClr val="00B0F0"/>
            </a:solidFill>
            <a:round/>
            <a:headEnd type="none" w="med" len="med"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1121" name="Line 113">
            <a:extLst>
              <a:ext uri="{FF2B5EF4-FFF2-40B4-BE49-F238E27FC236}">
                <a16:creationId xmlns:a16="http://schemas.microsoft.com/office/drawing/2014/main" id="{831B1C10-034C-EBA1-D699-16EF332027B9}"/>
              </a:ext>
            </a:extLst>
          </p:cNvPr>
          <p:cNvSpPr>
            <a:spLocks noChangeShapeType="1"/>
          </p:cNvSpPr>
          <p:nvPr/>
        </p:nvSpPr>
        <p:spPr bwMode="auto">
          <a:xfrm>
            <a:off x="4671683" y="3692355"/>
            <a:ext cx="268121" cy="0"/>
          </a:xfrm>
          <a:prstGeom prst="line">
            <a:avLst/>
          </a:prstGeom>
          <a:noFill/>
          <a:ln w="19050">
            <a:solidFill>
              <a:schemeClr val="bg1">
                <a:lumMod val="75000"/>
              </a:schemeClr>
            </a:solidFill>
            <a:round/>
            <a:headEnd type="none" w="med" len="med"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1122" name="Line 113">
            <a:extLst>
              <a:ext uri="{FF2B5EF4-FFF2-40B4-BE49-F238E27FC236}">
                <a16:creationId xmlns:a16="http://schemas.microsoft.com/office/drawing/2014/main" id="{1473A3F1-318E-13D1-FF41-E17A4DD714F4}"/>
              </a:ext>
            </a:extLst>
          </p:cNvPr>
          <p:cNvSpPr>
            <a:spLocks noChangeShapeType="1"/>
          </p:cNvSpPr>
          <p:nvPr/>
        </p:nvSpPr>
        <p:spPr bwMode="auto">
          <a:xfrm>
            <a:off x="4517757" y="4238320"/>
            <a:ext cx="422050" cy="0"/>
          </a:xfrm>
          <a:prstGeom prst="line">
            <a:avLst/>
          </a:prstGeom>
          <a:noFill/>
          <a:ln w="19050">
            <a:solidFill>
              <a:schemeClr val="bg1">
                <a:lumMod val="75000"/>
              </a:schemeClr>
            </a:solidFill>
            <a:round/>
            <a:headEnd type="none" w="med" len="med"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1123" name="Line 113">
            <a:extLst>
              <a:ext uri="{FF2B5EF4-FFF2-40B4-BE49-F238E27FC236}">
                <a16:creationId xmlns:a16="http://schemas.microsoft.com/office/drawing/2014/main" id="{26A234A8-38A7-33A0-76BE-BF4786F1CC00}"/>
              </a:ext>
            </a:extLst>
          </p:cNvPr>
          <p:cNvSpPr>
            <a:spLocks noChangeShapeType="1"/>
          </p:cNvSpPr>
          <p:nvPr/>
        </p:nvSpPr>
        <p:spPr bwMode="auto">
          <a:xfrm>
            <a:off x="4685574" y="4458613"/>
            <a:ext cx="254232" cy="0"/>
          </a:xfrm>
          <a:prstGeom prst="line">
            <a:avLst/>
          </a:prstGeom>
          <a:noFill/>
          <a:ln w="19050">
            <a:solidFill>
              <a:schemeClr val="bg1">
                <a:lumMod val="75000"/>
              </a:schemeClr>
            </a:solidFill>
            <a:round/>
            <a:headEnd type="none" w="med" len="med"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1124" name="Line 113">
            <a:extLst>
              <a:ext uri="{FF2B5EF4-FFF2-40B4-BE49-F238E27FC236}">
                <a16:creationId xmlns:a16="http://schemas.microsoft.com/office/drawing/2014/main" id="{D1B446CB-0267-FFA2-ECE6-1CCF76896584}"/>
              </a:ext>
            </a:extLst>
          </p:cNvPr>
          <p:cNvSpPr>
            <a:spLocks noChangeShapeType="1"/>
          </p:cNvSpPr>
          <p:nvPr/>
        </p:nvSpPr>
        <p:spPr bwMode="auto">
          <a:xfrm>
            <a:off x="5157116" y="4132471"/>
            <a:ext cx="230672" cy="0"/>
          </a:xfrm>
          <a:prstGeom prst="line">
            <a:avLst/>
          </a:prstGeom>
          <a:noFill/>
          <a:ln w="19050">
            <a:solidFill>
              <a:schemeClr val="bg1">
                <a:lumMod val="75000"/>
              </a:schemeClr>
            </a:solidFill>
            <a:round/>
            <a:headEnd type="none" w="med" len="med"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1125" name="Line 113">
            <a:extLst>
              <a:ext uri="{FF2B5EF4-FFF2-40B4-BE49-F238E27FC236}">
                <a16:creationId xmlns:a16="http://schemas.microsoft.com/office/drawing/2014/main" id="{EC05ECBB-C5DC-2E5D-DEA3-141E6BB4D83D}"/>
              </a:ext>
            </a:extLst>
          </p:cNvPr>
          <p:cNvSpPr>
            <a:spLocks noChangeShapeType="1"/>
          </p:cNvSpPr>
          <p:nvPr/>
        </p:nvSpPr>
        <p:spPr bwMode="auto">
          <a:xfrm>
            <a:off x="5154797" y="3478808"/>
            <a:ext cx="566172" cy="0"/>
          </a:xfrm>
          <a:prstGeom prst="line">
            <a:avLst/>
          </a:prstGeom>
          <a:noFill/>
          <a:ln w="38100">
            <a:solidFill>
              <a:srgbClr val="00B0F0"/>
            </a:solidFill>
            <a:round/>
            <a:headEnd type="none" w="med" len="med"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1126" name="椭圆 1125">
            <a:extLst>
              <a:ext uri="{FF2B5EF4-FFF2-40B4-BE49-F238E27FC236}">
                <a16:creationId xmlns:a16="http://schemas.microsoft.com/office/drawing/2014/main" id="{9DA10D9B-096E-FAA7-874C-B4CDE19E8817}"/>
              </a:ext>
            </a:extLst>
          </p:cNvPr>
          <p:cNvSpPr/>
          <p:nvPr/>
        </p:nvSpPr>
        <p:spPr>
          <a:xfrm>
            <a:off x="6542279" y="4758188"/>
            <a:ext cx="65862" cy="65862"/>
          </a:xfrm>
          <a:prstGeom prst="ellipse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1127" name="椭圆 1126">
            <a:extLst>
              <a:ext uri="{FF2B5EF4-FFF2-40B4-BE49-F238E27FC236}">
                <a16:creationId xmlns:a16="http://schemas.microsoft.com/office/drawing/2014/main" id="{39616A5C-568D-A6C3-2EAF-05B74A4719C1}"/>
              </a:ext>
            </a:extLst>
          </p:cNvPr>
          <p:cNvSpPr/>
          <p:nvPr/>
        </p:nvSpPr>
        <p:spPr>
          <a:xfrm>
            <a:off x="4640613" y="5473990"/>
            <a:ext cx="65862" cy="65862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1128" name="椭圆 1127">
            <a:extLst>
              <a:ext uri="{FF2B5EF4-FFF2-40B4-BE49-F238E27FC236}">
                <a16:creationId xmlns:a16="http://schemas.microsoft.com/office/drawing/2014/main" id="{4E31253E-866D-FE96-0FA3-595C5E375D87}"/>
              </a:ext>
            </a:extLst>
          </p:cNvPr>
          <p:cNvSpPr/>
          <p:nvPr/>
        </p:nvSpPr>
        <p:spPr>
          <a:xfrm>
            <a:off x="4390629" y="4758188"/>
            <a:ext cx="65862" cy="65862"/>
          </a:xfrm>
          <a:prstGeom prst="ellipse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1129" name="椭圆 1128">
            <a:extLst>
              <a:ext uri="{FF2B5EF4-FFF2-40B4-BE49-F238E27FC236}">
                <a16:creationId xmlns:a16="http://schemas.microsoft.com/office/drawing/2014/main" id="{D4155D2C-6CA5-4902-892F-E453ECA00E4C}"/>
              </a:ext>
            </a:extLst>
          </p:cNvPr>
          <p:cNvSpPr/>
          <p:nvPr/>
        </p:nvSpPr>
        <p:spPr>
          <a:xfrm>
            <a:off x="2025481" y="2624173"/>
            <a:ext cx="65862" cy="65862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1130" name="椭圆 1129">
            <a:extLst>
              <a:ext uri="{FF2B5EF4-FFF2-40B4-BE49-F238E27FC236}">
                <a16:creationId xmlns:a16="http://schemas.microsoft.com/office/drawing/2014/main" id="{DA472E79-7805-756B-D1D8-330AE464467D}"/>
              </a:ext>
            </a:extLst>
          </p:cNvPr>
          <p:cNvSpPr/>
          <p:nvPr/>
        </p:nvSpPr>
        <p:spPr>
          <a:xfrm>
            <a:off x="682399" y="3724129"/>
            <a:ext cx="65862" cy="65862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1131" name="Oval 144">
            <a:extLst>
              <a:ext uri="{FF2B5EF4-FFF2-40B4-BE49-F238E27FC236}">
                <a16:creationId xmlns:a16="http://schemas.microsoft.com/office/drawing/2014/main" id="{48BCCF6B-DBFC-4297-0C1B-502BE574BD53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38658" y="5778139"/>
            <a:ext cx="855341" cy="587588"/>
          </a:xfrm>
          <a:prstGeom prst="ellipse">
            <a:avLst/>
          </a:prstGeom>
          <a:noFill/>
          <a:ln w="38100">
            <a:solidFill>
              <a:srgbClr val="C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tIns="108000" anchor="ctr"/>
          <a:lstStyle/>
          <a:p>
            <a:pPr algn="ctr"/>
            <a:r>
              <a:rPr lang="en-US" altLang="zh-CN" sz="1200" dirty="0">
                <a:solidFill>
                  <a:srgbClr val="C00000"/>
                </a:solidFill>
                <a:latin typeface="Arial" panose="020B0604020202020204" pitchFamily="34" charset="0"/>
                <a:ea typeface="SimHei" panose="02010609060101010101" pitchFamily="49" charset="-122"/>
                <a:cs typeface="Arial" panose="020B0604020202020204" pitchFamily="34" charset="0"/>
              </a:rPr>
              <a:t>Forwarding</a:t>
            </a:r>
          </a:p>
          <a:p>
            <a:pPr algn="ctr"/>
            <a:r>
              <a:rPr lang="en-US" altLang="zh-CN" sz="1200" dirty="0">
                <a:solidFill>
                  <a:srgbClr val="C00000"/>
                </a:solidFill>
                <a:latin typeface="Arial" panose="020B0604020202020204" pitchFamily="34" charset="0"/>
                <a:ea typeface="SimHei" panose="02010609060101010101" pitchFamily="49" charset="-122"/>
                <a:cs typeface="Arial" panose="020B0604020202020204" pitchFamily="34" charset="0"/>
              </a:rPr>
              <a:t> Unit</a:t>
            </a:r>
            <a:endParaRPr lang="zh-CN" altLang="en-US" sz="1200" dirty="0">
              <a:solidFill>
                <a:srgbClr val="C00000"/>
              </a:solidFill>
              <a:latin typeface="Arial" panose="020B0604020202020204" pitchFamily="34" charset="0"/>
              <a:ea typeface="SimHei" panose="02010609060101010101" pitchFamily="49" charset="-122"/>
              <a:cs typeface="Arial" panose="020B0604020202020204" pitchFamily="34" charset="0"/>
            </a:endParaRPr>
          </a:p>
        </p:txBody>
      </p:sp>
      <p:sp>
        <p:nvSpPr>
          <p:cNvPr id="1132" name="Line 115">
            <a:extLst>
              <a:ext uri="{FF2B5EF4-FFF2-40B4-BE49-F238E27FC236}">
                <a16:creationId xmlns:a16="http://schemas.microsoft.com/office/drawing/2014/main" id="{865BD08C-FACD-C294-64C5-32592DF9DAB9}"/>
              </a:ext>
            </a:extLst>
          </p:cNvPr>
          <p:cNvSpPr>
            <a:spLocks noChangeShapeType="1"/>
          </p:cNvSpPr>
          <p:nvPr/>
        </p:nvSpPr>
        <p:spPr bwMode="auto">
          <a:xfrm>
            <a:off x="7892452" y="5051122"/>
            <a:ext cx="0" cy="865758"/>
          </a:xfrm>
          <a:prstGeom prst="line">
            <a:avLst/>
          </a:prstGeom>
          <a:noFill/>
          <a:ln w="38100">
            <a:solidFill>
              <a:schemeClr val="accent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1133" name="Line 113">
            <a:extLst>
              <a:ext uri="{FF2B5EF4-FFF2-40B4-BE49-F238E27FC236}">
                <a16:creationId xmlns:a16="http://schemas.microsoft.com/office/drawing/2014/main" id="{1D264F22-695B-0EF7-268C-B35976C1B48B}"/>
              </a:ext>
            </a:extLst>
          </p:cNvPr>
          <p:cNvSpPr>
            <a:spLocks noChangeShapeType="1"/>
          </p:cNvSpPr>
          <p:nvPr/>
        </p:nvSpPr>
        <p:spPr bwMode="auto">
          <a:xfrm>
            <a:off x="6424645" y="5916880"/>
            <a:ext cx="1467806" cy="0"/>
          </a:xfrm>
          <a:prstGeom prst="line">
            <a:avLst/>
          </a:prstGeom>
          <a:noFill/>
          <a:ln w="38100">
            <a:solidFill>
              <a:schemeClr val="accent1"/>
            </a:solidFill>
            <a:round/>
            <a:headEnd type="triangle" w="med" len="med"/>
            <a:tailEnd type="non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1134" name="Line 115">
            <a:extLst>
              <a:ext uri="{FF2B5EF4-FFF2-40B4-BE49-F238E27FC236}">
                <a16:creationId xmlns:a16="http://schemas.microsoft.com/office/drawing/2014/main" id="{507366A9-F6F4-68C1-B1A1-87258056D5CA}"/>
              </a:ext>
            </a:extLst>
          </p:cNvPr>
          <p:cNvSpPr>
            <a:spLocks noChangeShapeType="1"/>
          </p:cNvSpPr>
          <p:nvPr/>
        </p:nvSpPr>
        <p:spPr bwMode="auto">
          <a:xfrm>
            <a:off x="8344324" y="5709985"/>
            <a:ext cx="0" cy="444478"/>
          </a:xfrm>
          <a:prstGeom prst="line">
            <a:avLst/>
          </a:prstGeom>
          <a:noFill/>
          <a:ln w="12700">
            <a:solidFill>
              <a:schemeClr val="tx1">
                <a:lumMod val="50000"/>
                <a:lumOff val="50000"/>
              </a:schemeClr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1135" name="Line 113">
            <a:extLst>
              <a:ext uri="{FF2B5EF4-FFF2-40B4-BE49-F238E27FC236}">
                <a16:creationId xmlns:a16="http://schemas.microsoft.com/office/drawing/2014/main" id="{97479047-3982-9618-6B39-41837F3D1F6C}"/>
              </a:ext>
            </a:extLst>
          </p:cNvPr>
          <p:cNvSpPr>
            <a:spLocks noChangeShapeType="1"/>
          </p:cNvSpPr>
          <p:nvPr/>
        </p:nvSpPr>
        <p:spPr bwMode="auto">
          <a:xfrm>
            <a:off x="6483892" y="6154465"/>
            <a:ext cx="1860433" cy="0"/>
          </a:xfrm>
          <a:prstGeom prst="line">
            <a:avLst/>
          </a:prstGeom>
          <a:noFill/>
          <a:ln w="12700">
            <a:solidFill>
              <a:schemeClr val="tx1">
                <a:lumMod val="50000"/>
                <a:lumOff val="50000"/>
              </a:schemeClr>
            </a:solidFill>
            <a:round/>
            <a:headEnd type="triangle" w="med" len="med"/>
            <a:tailEnd type="non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1136" name="椭圆 1135">
            <a:extLst>
              <a:ext uri="{FF2B5EF4-FFF2-40B4-BE49-F238E27FC236}">
                <a16:creationId xmlns:a16="http://schemas.microsoft.com/office/drawing/2014/main" id="{E420D21A-D0EA-5A17-B160-3316D5253120}"/>
              </a:ext>
            </a:extLst>
          </p:cNvPr>
          <p:cNvSpPr/>
          <p:nvPr/>
        </p:nvSpPr>
        <p:spPr>
          <a:xfrm>
            <a:off x="8311905" y="5675960"/>
            <a:ext cx="65862" cy="65862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1137" name="椭圆 1136">
            <a:extLst>
              <a:ext uri="{FF2B5EF4-FFF2-40B4-BE49-F238E27FC236}">
                <a16:creationId xmlns:a16="http://schemas.microsoft.com/office/drawing/2014/main" id="{58518053-3F16-95D6-5D3B-69AC77F63274}"/>
              </a:ext>
            </a:extLst>
          </p:cNvPr>
          <p:cNvSpPr/>
          <p:nvPr/>
        </p:nvSpPr>
        <p:spPr>
          <a:xfrm>
            <a:off x="7859883" y="5018190"/>
            <a:ext cx="65862" cy="65862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1138" name="椭圆 1137">
            <a:extLst>
              <a:ext uri="{FF2B5EF4-FFF2-40B4-BE49-F238E27FC236}">
                <a16:creationId xmlns:a16="http://schemas.microsoft.com/office/drawing/2014/main" id="{1DFE0A75-53FB-9A29-E46F-606523C27F69}"/>
              </a:ext>
            </a:extLst>
          </p:cNvPr>
          <p:cNvSpPr/>
          <p:nvPr/>
        </p:nvSpPr>
        <p:spPr>
          <a:xfrm>
            <a:off x="4476798" y="4208823"/>
            <a:ext cx="65862" cy="65862"/>
          </a:xfrm>
          <a:prstGeom prst="ellipse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1139" name="椭圆 1138">
            <a:extLst>
              <a:ext uri="{FF2B5EF4-FFF2-40B4-BE49-F238E27FC236}">
                <a16:creationId xmlns:a16="http://schemas.microsoft.com/office/drawing/2014/main" id="{A19D6030-94E8-7D5D-1A78-32B293D6FCE9}"/>
              </a:ext>
            </a:extLst>
          </p:cNvPr>
          <p:cNvSpPr/>
          <p:nvPr/>
        </p:nvSpPr>
        <p:spPr>
          <a:xfrm>
            <a:off x="4641272" y="4431271"/>
            <a:ext cx="65862" cy="65862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1140" name="文本框 1139">
            <a:extLst>
              <a:ext uri="{FF2B5EF4-FFF2-40B4-BE49-F238E27FC236}">
                <a16:creationId xmlns:a16="http://schemas.microsoft.com/office/drawing/2014/main" id="{C9D83D5A-B3A3-571A-2A38-2111A1A81679}"/>
              </a:ext>
            </a:extLst>
          </p:cNvPr>
          <p:cNvSpPr txBox="1"/>
          <p:nvPr/>
        </p:nvSpPr>
        <p:spPr>
          <a:xfrm>
            <a:off x="6415849" y="5740422"/>
            <a:ext cx="1393085" cy="1692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>
            <a:spAutoFit/>
          </a:bodyPr>
          <a:lstStyle/>
          <a:p>
            <a:pPr algn="ctr"/>
            <a:r>
              <a:rPr lang="en-US" altLang="zh-CN" sz="1100" dirty="0">
                <a:solidFill>
                  <a:srgbClr val="C00000"/>
                </a:solidFill>
                <a:latin typeface="Arial" panose="020B0604020202020204" pitchFamily="34" charset="0"/>
                <a:ea typeface="SimHei" panose="02010609060101010101" pitchFamily="49" charset="-122"/>
                <a:cs typeface="Arial" panose="020B0604020202020204" pitchFamily="34" charset="0"/>
              </a:rPr>
              <a:t>EX/</a:t>
            </a:r>
            <a:r>
              <a:rPr lang="en-US" altLang="zh-CN" sz="1100" dirty="0" err="1">
                <a:solidFill>
                  <a:srgbClr val="C00000"/>
                </a:solidFill>
                <a:latin typeface="Arial" panose="020B0604020202020204" pitchFamily="34" charset="0"/>
                <a:ea typeface="SimHei" panose="02010609060101010101" pitchFamily="49" charset="-122"/>
                <a:cs typeface="Arial" panose="020B0604020202020204" pitchFamily="34" charset="0"/>
              </a:rPr>
              <a:t>MEM.RegWrAddr</a:t>
            </a:r>
            <a:endParaRPr lang="zh-CN" altLang="en-US" sz="1100" dirty="0">
              <a:solidFill>
                <a:srgbClr val="C00000"/>
              </a:solidFill>
              <a:latin typeface="Arial" panose="020B0604020202020204" pitchFamily="34" charset="0"/>
              <a:ea typeface="SimHei" panose="02010609060101010101" pitchFamily="49" charset="-122"/>
              <a:cs typeface="Arial" panose="020B0604020202020204" pitchFamily="34" charset="0"/>
            </a:endParaRPr>
          </a:p>
        </p:txBody>
      </p:sp>
      <p:sp>
        <p:nvSpPr>
          <p:cNvPr id="1141" name="文本框 1140">
            <a:extLst>
              <a:ext uri="{FF2B5EF4-FFF2-40B4-BE49-F238E27FC236}">
                <a16:creationId xmlns:a16="http://schemas.microsoft.com/office/drawing/2014/main" id="{0D876DC4-FFE6-16B6-7242-443CE94F217E}"/>
              </a:ext>
            </a:extLst>
          </p:cNvPr>
          <p:cNvSpPr txBox="1"/>
          <p:nvPr/>
        </p:nvSpPr>
        <p:spPr>
          <a:xfrm>
            <a:off x="6835791" y="5983381"/>
            <a:ext cx="1393085" cy="1692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>
            <a:spAutoFit/>
          </a:bodyPr>
          <a:lstStyle/>
          <a:p>
            <a:pPr algn="ctr"/>
            <a:r>
              <a:rPr lang="en-US" altLang="zh-CN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Arial" panose="020B0604020202020204" pitchFamily="34" charset="0"/>
                <a:ea typeface="SimHei" panose="02010609060101010101" pitchFamily="49" charset="-122"/>
                <a:cs typeface="Arial" panose="020B0604020202020204" pitchFamily="34" charset="0"/>
              </a:rPr>
              <a:t>MEM/</a:t>
            </a:r>
            <a:r>
              <a:rPr lang="en-US" altLang="zh-CN" sz="1100" dirty="0" err="1">
                <a:solidFill>
                  <a:schemeClr val="tx1">
                    <a:lumMod val="50000"/>
                    <a:lumOff val="50000"/>
                  </a:schemeClr>
                </a:solidFill>
                <a:latin typeface="Arial" panose="020B0604020202020204" pitchFamily="34" charset="0"/>
                <a:ea typeface="SimHei" panose="02010609060101010101" pitchFamily="49" charset="-122"/>
                <a:cs typeface="Arial" panose="020B0604020202020204" pitchFamily="34" charset="0"/>
              </a:rPr>
              <a:t>WB.RegWrAddr</a:t>
            </a:r>
            <a:endParaRPr lang="zh-CN" altLang="en-US" sz="1100" dirty="0">
              <a:solidFill>
                <a:schemeClr val="tx1">
                  <a:lumMod val="50000"/>
                  <a:lumOff val="50000"/>
                </a:schemeClr>
              </a:solidFill>
              <a:ea typeface="SimHei" panose="02010609060101010101" pitchFamily="49" charset="-122"/>
            </a:endParaRPr>
          </a:p>
        </p:txBody>
      </p:sp>
      <p:sp>
        <p:nvSpPr>
          <p:cNvPr id="1142" name="Line 8">
            <a:extLst>
              <a:ext uri="{FF2B5EF4-FFF2-40B4-BE49-F238E27FC236}">
                <a16:creationId xmlns:a16="http://schemas.microsoft.com/office/drawing/2014/main" id="{F6AC564D-403D-7B58-1D10-A61418D8FEB7}"/>
              </a:ext>
            </a:extLst>
          </p:cNvPr>
          <p:cNvSpPr>
            <a:spLocks noChangeShapeType="1"/>
          </p:cNvSpPr>
          <p:nvPr/>
        </p:nvSpPr>
        <p:spPr bwMode="auto">
          <a:xfrm>
            <a:off x="2544747" y="5390808"/>
            <a:ext cx="1637872" cy="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1143" name="Line 9">
            <a:extLst>
              <a:ext uri="{FF2B5EF4-FFF2-40B4-BE49-F238E27FC236}">
                <a16:creationId xmlns:a16="http://schemas.microsoft.com/office/drawing/2014/main" id="{DB04098F-001A-B772-6DD3-FD2CB7713C57}"/>
              </a:ext>
            </a:extLst>
          </p:cNvPr>
          <p:cNvSpPr>
            <a:spLocks noChangeShapeType="1"/>
          </p:cNvSpPr>
          <p:nvPr/>
        </p:nvSpPr>
        <p:spPr bwMode="auto">
          <a:xfrm>
            <a:off x="4321179" y="5390808"/>
            <a:ext cx="569532" cy="0"/>
          </a:xfrm>
          <a:prstGeom prst="line">
            <a:avLst/>
          </a:prstGeom>
          <a:noFill/>
          <a:ln w="38100">
            <a:solidFill>
              <a:srgbClr val="C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1144" name="Line 110">
            <a:extLst>
              <a:ext uri="{FF2B5EF4-FFF2-40B4-BE49-F238E27FC236}">
                <a16:creationId xmlns:a16="http://schemas.microsoft.com/office/drawing/2014/main" id="{603136A8-FDC2-360F-546E-2E15E3354827}"/>
              </a:ext>
            </a:extLst>
          </p:cNvPr>
          <p:cNvSpPr>
            <a:spLocks noChangeShapeType="1"/>
          </p:cNvSpPr>
          <p:nvPr/>
        </p:nvSpPr>
        <p:spPr bwMode="auto">
          <a:xfrm>
            <a:off x="2554285" y="5268566"/>
            <a:ext cx="0" cy="122242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1145" name="Line 115">
            <a:extLst>
              <a:ext uri="{FF2B5EF4-FFF2-40B4-BE49-F238E27FC236}">
                <a16:creationId xmlns:a16="http://schemas.microsoft.com/office/drawing/2014/main" id="{E09EE461-355D-70E5-D4CA-2A0EBBF34ABB}"/>
              </a:ext>
            </a:extLst>
          </p:cNvPr>
          <p:cNvSpPr>
            <a:spLocks noChangeShapeType="1"/>
          </p:cNvSpPr>
          <p:nvPr/>
        </p:nvSpPr>
        <p:spPr bwMode="auto">
          <a:xfrm>
            <a:off x="4890711" y="5390808"/>
            <a:ext cx="0" cy="853077"/>
          </a:xfrm>
          <a:prstGeom prst="line">
            <a:avLst/>
          </a:prstGeom>
          <a:noFill/>
          <a:ln w="38100">
            <a:solidFill>
              <a:srgbClr val="C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1146" name="Line 113">
            <a:extLst>
              <a:ext uri="{FF2B5EF4-FFF2-40B4-BE49-F238E27FC236}">
                <a16:creationId xmlns:a16="http://schemas.microsoft.com/office/drawing/2014/main" id="{827EFD8D-DA52-4468-5F69-B7098FE66406}"/>
              </a:ext>
            </a:extLst>
          </p:cNvPr>
          <p:cNvSpPr>
            <a:spLocks noChangeShapeType="1"/>
          </p:cNvSpPr>
          <p:nvPr/>
        </p:nvSpPr>
        <p:spPr bwMode="auto">
          <a:xfrm>
            <a:off x="4883688" y="6243886"/>
            <a:ext cx="837281" cy="0"/>
          </a:xfrm>
          <a:prstGeom prst="line">
            <a:avLst/>
          </a:prstGeom>
          <a:noFill/>
          <a:ln w="38100">
            <a:solidFill>
              <a:srgbClr val="C00000"/>
            </a:solidFill>
            <a:round/>
            <a:headEnd type="none" w="med" len="med"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1147" name="文本框 1146">
            <a:extLst>
              <a:ext uri="{FF2B5EF4-FFF2-40B4-BE49-F238E27FC236}">
                <a16:creationId xmlns:a16="http://schemas.microsoft.com/office/drawing/2014/main" id="{202B314A-A690-CC4E-CF5D-7AD0EB7544B1}"/>
              </a:ext>
            </a:extLst>
          </p:cNvPr>
          <p:cNvSpPr txBox="1"/>
          <p:nvPr/>
        </p:nvSpPr>
        <p:spPr>
          <a:xfrm>
            <a:off x="4984752" y="6079976"/>
            <a:ext cx="660930" cy="1692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>
            <a:spAutoFit/>
          </a:bodyPr>
          <a:lstStyle/>
          <a:p>
            <a:pPr algn="ctr"/>
            <a:r>
              <a:rPr lang="en-US" altLang="zh-CN" sz="1100" dirty="0">
                <a:solidFill>
                  <a:srgbClr val="C00000"/>
                </a:solidFill>
                <a:latin typeface="Arial" panose="020B0604020202020204" pitchFamily="34" charset="0"/>
                <a:ea typeface="SimHei" panose="02010609060101010101" pitchFamily="49" charset="-122"/>
                <a:cs typeface="Arial" panose="020B0604020202020204" pitchFamily="34" charset="0"/>
              </a:rPr>
              <a:t>ID/EX.Rs</a:t>
            </a:r>
            <a:endParaRPr lang="zh-CN" altLang="en-US" sz="1100" dirty="0">
              <a:solidFill>
                <a:srgbClr val="C00000"/>
              </a:solidFill>
              <a:ea typeface="SimHei" panose="02010609060101010101" pitchFamily="49" charset="-122"/>
            </a:endParaRPr>
          </a:p>
        </p:txBody>
      </p:sp>
      <p:sp>
        <p:nvSpPr>
          <p:cNvPr id="1148" name="Line 115">
            <a:extLst>
              <a:ext uri="{FF2B5EF4-FFF2-40B4-BE49-F238E27FC236}">
                <a16:creationId xmlns:a16="http://schemas.microsoft.com/office/drawing/2014/main" id="{F15B0A2C-3F2B-6876-1EE5-DC0547D5B234}"/>
              </a:ext>
            </a:extLst>
          </p:cNvPr>
          <p:cNvSpPr>
            <a:spLocks noChangeShapeType="1"/>
          </p:cNvSpPr>
          <p:nvPr/>
        </p:nvSpPr>
        <p:spPr bwMode="auto">
          <a:xfrm>
            <a:off x="4965699" y="5047451"/>
            <a:ext cx="0" cy="853077"/>
          </a:xfrm>
          <a:prstGeom prst="line">
            <a:avLst/>
          </a:prstGeom>
          <a:noFill/>
          <a:ln w="19050">
            <a:solidFill>
              <a:schemeClr val="bg1">
                <a:lumMod val="75000"/>
              </a:schemeClr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1149" name="Line 113">
            <a:extLst>
              <a:ext uri="{FF2B5EF4-FFF2-40B4-BE49-F238E27FC236}">
                <a16:creationId xmlns:a16="http://schemas.microsoft.com/office/drawing/2014/main" id="{311C65B8-A396-5C95-3BCC-7DFF4F941403}"/>
              </a:ext>
            </a:extLst>
          </p:cNvPr>
          <p:cNvSpPr>
            <a:spLocks noChangeShapeType="1"/>
          </p:cNvSpPr>
          <p:nvPr/>
        </p:nvSpPr>
        <p:spPr bwMode="auto">
          <a:xfrm>
            <a:off x="4957201" y="5898152"/>
            <a:ext cx="763769" cy="0"/>
          </a:xfrm>
          <a:prstGeom prst="line">
            <a:avLst/>
          </a:prstGeom>
          <a:noFill/>
          <a:ln w="19050">
            <a:solidFill>
              <a:schemeClr val="bg1">
                <a:lumMod val="75000"/>
              </a:schemeClr>
            </a:solidFill>
            <a:round/>
            <a:headEnd type="none" w="med" len="med"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1150" name="文本框 1149">
            <a:extLst>
              <a:ext uri="{FF2B5EF4-FFF2-40B4-BE49-F238E27FC236}">
                <a16:creationId xmlns:a16="http://schemas.microsoft.com/office/drawing/2014/main" id="{7D79B6DF-0833-E0F3-A560-2314FF0709F5}"/>
              </a:ext>
            </a:extLst>
          </p:cNvPr>
          <p:cNvSpPr txBox="1"/>
          <p:nvPr/>
        </p:nvSpPr>
        <p:spPr>
          <a:xfrm>
            <a:off x="4977728" y="5749379"/>
            <a:ext cx="660930" cy="1692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>
            <a:spAutoFit/>
          </a:bodyPr>
          <a:lstStyle/>
          <a:p>
            <a:pPr algn="ctr"/>
            <a:r>
              <a:rPr lang="en-US" altLang="zh-CN" sz="1100" dirty="0">
                <a:solidFill>
                  <a:schemeClr val="bg1">
                    <a:lumMod val="75000"/>
                  </a:schemeClr>
                </a:solidFill>
                <a:latin typeface="Arial" panose="020B0604020202020204" pitchFamily="34" charset="0"/>
                <a:ea typeface="SimHei" panose="02010609060101010101" pitchFamily="49" charset="-122"/>
                <a:cs typeface="Arial" panose="020B0604020202020204" pitchFamily="34" charset="0"/>
              </a:rPr>
              <a:t>ID/</a:t>
            </a:r>
            <a:r>
              <a:rPr lang="en-US" altLang="zh-CN" sz="1100" dirty="0" err="1">
                <a:solidFill>
                  <a:schemeClr val="bg1">
                    <a:lumMod val="75000"/>
                  </a:schemeClr>
                </a:solidFill>
                <a:latin typeface="Arial" panose="020B0604020202020204" pitchFamily="34" charset="0"/>
                <a:ea typeface="SimHei" panose="02010609060101010101" pitchFamily="49" charset="-122"/>
                <a:cs typeface="Arial" panose="020B0604020202020204" pitchFamily="34" charset="0"/>
              </a:rPr>
              <a:t>EX.Rt</a:t>
            </a:r>
            <a:endParaRPr lang="zh-CN" altLang="en-US" sz="1100" dirty="0">
              <a:solidFill>
                <a:schemeClr val="bg1">
                  <a:lumMod val="75000"/>
                </a:schemeClr>
              </a:solidFill>
              <a:ea typeface="SimHei" panose="02010609060101010101" pitchFamily="49" charset="-122"/>
            </a:endParaRPr>
          </a:p>
        </p:txBody>
      </p:sp>
      <p:sp>
        <p:nvSpPr>
          <p:cNvPr id="1151" name="椭圆 1150">
            <a:extLst>
              <a:ext uri="{FF2B5EF4-FFF2-40B4-BE49-F238E27FC236}">
                <a16:creationId xmlns:a16="http://schemas.microsoft.com/office/drawing/2014/main" id="{7358C0EC-7688-A181-FD79-C5A3E5715DA2}"/>
              </a:ext>
            </a:extLst>
          </p:cNvPr>
          <p:cNvSpPr/>
          <p:nvPr/>
        </p:nvSpPr>
        <p:spPr>
          <a:xfrm>
            <a:off x="4932088" y="5020483"/>
            <a:ext cx="65862" cy="65862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1152" name="Line 113">
            <a:extLst>
              <a:ext uri="{FF2B5EF4-FFF2-40B4-BE49-F238E27FC236}">
                <a16:creationId xmlns:a16="http://schemas.microsoft.com/office/drawing/2014/main" id="{0DEFFF28-9815-CBEB-B7BE-0108A2CBE0E7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5045327" y="4456279"/>
            <a:ext cx="801455" cy="1371966"/>
          </a:xfrm>
          <a:prstGeom prst="line">
            <a:avLst/>
          </a:prstGeom>
          <a:noFill/>
          <a:ln w="19050">
            <a:solidFill>
              <a:schemeClr val="bg1">
                <a:lumMod val="75000"/>
              </a:schemeClr>
            </a:solidFill>
            <a:prstDash val="dashDot"/>
            <a:round/>
            <a:headEnd type="none" w="med" len="med"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1153" name="Line 113">
            <a:extLst>
              <a:ext uri="{FF2B5EF4-FFF2-40B4-BE49-F238E27FC236}">
                <a16:creationId xmlns:a16="http://schemas.microsoft.com/office/drawing/2014/main" id="{76A1D3FC-DFBC-8301-2D57-393F8552F690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5065036" y="3730443"/>
            <a:ext cx="971078" cy="2054069"/>
          </a:xfrm>
          <a:prstGeom prst="line">
            <a:avLst/>
          </a:prstGeom>
          <a:noFill/>
          <a:ln w="38100">
            <a:solidFill>
              <a:srgbClr val="C00000"/>
            </a:solidFill>
            <a:prstDash val="dashDot"/>
            <a:round/>
            <a:headEnd type="none" w="med" len="med"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1154" name="Text Box 119">
            <a:extLst>
              <a:ext uri="{FF2B5EF4-FFF2-40B4-BE49-F238E27FC236}">
                <a16:creationId xmlns:a16="http://schemas.microsoft.com/office/drawing/2014/main" id="{4C03E9A1-5031-C944-187B-4E75298CC3A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908678" y="3349036"/>
            <a:ext cx="287228" cy="27698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1425" tIns="45713" rIns="91425" bIns="45713">
            <a:spAutoFit/>
          </a:bodyPr>
          <a:lstStyle>
            <a:lvl1pPr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1pPr>
            <a:lvl2pPr marL="742950" indent="-28575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2pPr>
            <a:lvl3pPr marL="11430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3pPr>
            <a:lvl4pPr marL="16002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4pPr>
            <a:lvl5pPr marL="20574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9pPr>
          </a:lstStyle>
          <a:p>
            <a:r>
              <a:rPr lang="en-US" altLang="zh-CN" sz="1200" b="0" dirty="0">
                <a:solidFill>
                  <a:srgbClr val="00B0F0"/>
                </a:solidFill>
                <a:latin typeface="Arial" pitchFamily="34" charset="0"/>
                <a:ea typeface="SimHei" panose="02010609060101010101" pitchFamily="49" charset="-122"/>
              </a:rPr>
              <a:t>A</a:t>
            </a:r>
          </a:p>
        </p:txBody>
      </p:sp>
      <p:sp>
        <p:nvSpPr>
          <p:cNvPr id="1155" name="Text Box 119">
            <a:extLst>
              <a:ext uri="{FF2B5EF4-FFF2-40B4-BE49-F238E27FC236}">
                <a16:creationId xmlns:a16="http://schemas.microsoft.com/office/drawing/2014/main" id="{28DE3710-F30D-7E65-1B22-12DE6DF5CB4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907827" y="4076708"/>
            <a:ext cx="295243" cy="27698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1425" tIns="45713" rIns="91425" bIns="45713">
            <a:spAutoFit/>
          </a:bodyPr>
          <a:lstStyle>
            <a:lvl1pPr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1pPr>
            <a:lvl2pPr marL="742950" indent="-28575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2pPr>
            <a:lvl3pPr marL="11430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3pPr>
            <a:lvl4pPr marL="16002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4pPr>
            <a:lvl5pPr marL="20574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9pPr>
          </a:lstStyle>
          <a:p>
            <a:r>
              <a:rPr lang="en-US" altLang="zh-CN" sz="1200" b="0" dirty="0">
                <a:solidFill>
                  <a:schemeClr val="bg1">
                    <a:lumMod val="75000"/>
                  </a:schemeClr>
                </a:solidFill>
                <a:latin typeface="Arial" pitchFamily="34" charset="0"/>
                <a:ea typeface="SimHei" panose="02010609060101010101" pitchFamily="49" charset="-122"/>
              </a:rPr>
              <a:t>B</a:t>
            </a:r>
          </a:p>
        </p:txBody>
      </p:sp>
    </p:spTree>
    <p:extLst>
      <p:ext uri="{BB962C8B-B14F-4D97-AF65-F5344CB8AC3E}">
        <p14:creationId xmlns:p14="http://schemas.microsoft.com/office/powerpoint/2010/main" val="2072008454"/>
      </p:ext>
    </p:extLst>
  </p:cSld>
  <p:clrMapOvr>
    <a:masterClrMapping/>
  </p:clrMapOvr>
</p:sld>
</file>

<file path=ppt/slides/slide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08" name="文本框 807">
            <a:extLst>
              <a:ext uri="{FF2B5EF4-FFF2-40B4-BE49-F238E27FC236}">
                <a16:creationId xmlns:a16="http://schemas.microsoft.com/office/drawing/2014/main" id="{7F46D0E3-11FA-FED5-1601-5B981B16090A}"/>
              </a:ext>
            </a:extLst>
          </p:cNvPr>
          <p:cNvSpPr txBox="1"/>
          <p:nvPr/>
        </p:nvSpPr>
        <p:spPr>
          <a:xfrm>
            <a:off x="6415849" y="5740422"/>
            <a:ext cx="1393085" cy="1692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>
            <a:spAutoFit/>
          </a:bodyPr>
          <a:lstStyle/>
          <a:p>
            <a:pPr algn="ctr"/>
            <a:r>
              <a:rPr lang="en-US" altLang="zh-CN" sz="1100" dirty="0">
                <a:solidFill>
                  <a:srgbClr val="C00000"/>
                </a:solidFill>
                <a:latin typeface="Arial" panose="020B0604020202020204" pitchFamily="34" charset="0"/>
                <a:ea typeface="SimHei" panose="02010609060101010101" pitchFamily="49" charset="-122"/>
                <a:cs typeface="Arial" panose="020B0604020202020204" pitchFamily="34" charset="0"/>
              </a:rPr>
              <a:t>EX/</a:t>
            </a:r>
            <a:r>
              <a:rPr lang="en-US" altLang="zh-CN" sz="1100" dirty="0" err="1">
                <a:solidFill>
                  <a:srgbClr val="C00000"/>
                </a:solidFill>
                <a:latin typeface="Arial" panose="020B0604020202020204" pitchFamily="34" charset="0"/>
                <a:ea typeface="SimHei" panose="02010609060101010101" pitchFamily="49" charset="-122"/>
                <a:cs typeface="Arial" panose="020B0604020202020204" pitchFamily="34" charset="0"/>
              </a:rPr>
              <a:t>MEM.RegWrAddr</a:t>
            </a:r>
            <a:endParaRPr lang="zh-CN" altLang="en-US" sz="1100" dirty="0">
              <a:solidFill>
                <a:srgbClr val="C00000"/>
              </a:solidFill>
              <a:ea typeface="SimHei" panose="02010609060101010101" pitchFamily="49" charset="-122"/>
            </a:endParaRPr>
          </a:p>
        </p:txBody>
      </p:sp>
      <p:sp>
        <p:nvSpPr>
          <p:cNvPr id="4" name="灯片编号占位符 3">
            <a:extLst>
              <a:ext uri="{FF2B5EF4-FFF2-40B4-BE49-F238E27FC236}">
                <a16:creationId xmlns:a16="http://schemas.microsoft.com/office/drawing/2014/main" id="{176B08E7-C6AF-43AD-AE8E-9FF3ADDB264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1806CE5-282B-4233-8654-09F35EA875E2}" type="slidenum">
              <a:rPr lang="zh-CN" altLang="en-US" smtClean="0"/>
              <a:t>99</a:t>
            </a:fld>
            <a:endParaRPr lang="zh-CN" altLang="en-US"/>
          </a:p>
        </p:txBody>
      </p:sp>
      <p:sp>
        <p:nvSpPr>
          <p:cNvPr id="7" name="标题 6">
            <a:extLst>
              <a:ext uri="{FF2B5EF4-FFF2-40B4-BE49-F238E27FC236}">
                <a16:creationId xmlns:a16="http://schemas.microsoft.com/office/drawing/2014/main" id="{7D17586B-ECB3-F6A9-F918-CEE0EC5905A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dirty="0"/>
              <a:t>包含转发的流水线通路：示例</a:t>
            </a:r>
          </a:p>
        </p:txBody>
      </p:sp>
      <p:sp>
        <p:nvSpPr>
          <p:cNvPr id="33" name="文本框 32">
            <a:extLst>
              <a:ext uri="{FF2B5EF4-FFF2-40B4-BE49-F238E27FC236}">
                <a16:creationId xmlns:a16="http://schemas.microsoft.com/office/drawing/2014/main" id="{37BBFC1B-98F8-A728-8218-E47E9A98049B}"/>
              </a:ext>
            </a:extLst>
          </p:cNvPr>
          <p:cNvSpPr txBox="1"/>
          <p:nvPr/>
        </p:nvSpPr>
        <p:spPr>
          <a:xfrm>
            <a:off x="69500" y="4662155"/>
            <a:ext cx="2469267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342900" indent="-342900">
              <a:buFont typeface="+mj-lt"/>
              <a:buAutoNum type="arabicPeriod" startAt="2"/>
            </a:pPr>
            <a:r>
              <a:rPr lang="en-US" altLang="zh-CN" dirty="0">
                <a:ea typeface="SimHei" panose="02010609060101010101" pitchFamily="49" charset="-122"/>
              </a:rPr>
              <a:t>MEM/WB Hazard</a:t>
            </a:r>
            <a:r>
              <a:rPr lang="zh-CN" altLang="en-US" dirty="0">
                <a:ea typeface="SimHei" panose="02010609060101010101" pitchFamily="49" charset="-122"/>
              </a:rPr>
              <a:t>：</a:t>
            </a:r>
            <a:endParaRPr lang="en-US" altLang="zh-CN" dirty="0">
              <a:ea typeface="SimHei" panose="02010609060101010101" pitchFamily="49" charset="-122"/>
            </a:endParaRPr>
          </a:p>
          <a:p>
            <a:pPr marL="342900" indent="-342900">
              <a:buAutoNum type="arabicPeriod" startAt="2"/>
            </a:pPr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40" name="文本框 39">
            <a:extLst>
              <a:ext uri="{FF2B5EF4-FFF2-40B4-BE49-F238E27FC236}">
                <a16:creationId xmlns:a16="http://schemas.microsoft.com/office/drawing/2014/main" id="{F18AF90B-71C7-0C2A-EC91-24BE819ABA6B}"/>
              </a:ext>
            </a:extLst>
          </p:cNvPr>
          <p:cNvSpPr txBox="1"/>
          <p:nvPr/>
        </p:nvSpPr>
        <p:spPr>
          <a:xfrm>
            <a:off x="30003" y="5536692"/>
            <a:ext cx="4091322" cy="138499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altLang="zh-CN" sz="1400" dirty="0">
                <a:ea typeface="SimHei" panose="02010609060101010101" pitchFamily="49" charset="-122"/>
              </a:rPr>
              <a:t>if (MEM/</a:t>
            </a:r>
            <a:r>
              <a:rPr lang="en-US" altLang="zh-CN" sz="1400" dirty="0" err="1">
                <a:ea typeface="SimHei" panose="02010609060101010101" pitchFamily="49" charset="-122"/>
              </a:rPr>
              <a:t>WB.RegWrite</a:t>
            </a:r>
            <a:endParaRPr lang="en-US" altLang="zh-CN" sz="1400" dirty="0">
              <a:ea typeface="SimHei" panose="02010609060101010101" pitchFamily="49" charset="-122"/>
            </a:endParaRPr>
          </a:p>
          <a:p>
            <a:r>
              <a:rPr lang="en-US" altLang="zh-CN" sz="1400" dirty="0">
                <a:ea typeface="SimHei" panose="02010609060101010101" pitchFamily="49" charset="-122"/>
              </a:rPr>
              <a:t>and (MEM/</a:t>
            </a:r>
            <a:r>
              <a:rPr lang="en-US" altLang="zh-CN" sz="1400" dirty="0" err="1">
                <a:ea typeface="SimHei" panose="02010609060101010101" pitchFamily="49" charset="-122"/>
              </a:rPr>
              <a:t>WB.RegWrAddr</a:t>
            </a:r>
            <a:r>
              <a:rPr lang="en-US" altLang="zh-CN" sz="1400" dirty="0">
                <a:ea typeface="SimHei" panose="02010609060101010101" pitchFamily="49" charset="-122"/>
              </a:rPr>
              <a:t> != 0)</a:t>
            </a:r>
          </a:p>
          <a:p>
            <a:r>
              <a:rPr lang="en-US" altLang="zh-CN" sz="1400" dirty="0">
                <a:ea typeface="SimHei" panose="02010609060101010101" pitchFamily="49" charset="-122"/>
              </a:rPr>
              <a:t>and (MEM/</a:t>
            </a:r>
            <a:r>
              <a:rPr lang="en-US" altLang="zh-CN" sz="1400" dirty="0" err="1">
                <a:ea typeface="SimHei" panose="02010609060101010101" pitchFamily="49" charset="-122"/>
              </a:rPr>
              <a:t>WB.RegWrAddr</a:t>
            </a:r>
            <a:r>
              <a:rPr lang="en-US" altLang="zh-CN" sz="1400" dirty="0">
                <a:ea typeface="SimHei" panose="02010609060101010101" pitchFamily="49" charset="-122"/>
              </a:rPr>
              <a:t> == ID/</a:t>
            </a:r>
            <a:r>
              <a:rPr lang="en-US" altLang="zh-CN" sz="1400" dirty="0" err="1">
                <a:ea typeface="SimHei" panose="02010609060101010101" pitchFamily="49" charset="-122"/>
              </a:rPr>
              <a:t>EX.RegisterRs</a:t>
            </a:r>
            <a:r>
              <a:rPr lang="en-US" altLang="zh-CN" sz="1400" dirty="0">
                <a:ea typeface="SimHei" panose="02010609060101010101" pitchFamily="49" charset="-122"/>
              </a:rPr>
              <a:t>)</a:t>
            </a:r>
          </a:p>
          <a:p>
            <a:r>
              <a:rPr lang="en-US" altLang="zh-CN" sz="1400" dirty="0">
                <a:ea typeface="SimHei" panose="02010609060101010101" pitchFamily="49" charset="-122"/>
              </a:rPr>
              <a:t>and (EX/</a:t>
            </a:r>
            <a:r>
              <a:rPr lang="en-US" altLang="zh-CN" sz="1400" dirty="0" err="1">
                <a:ea typeface="SimHei" panose="02010609060101010101" pitchFamily="49" charset="-122"/>
              </a:rPr>
              <a:t>MEM.RegWrAddr</a:t>
            </a:r>
            <a:r>
              <a:rPr lang="en-US" altLang="zh-CN" sz="1400" dirty="0">
                <a:ea typeface="SimHei" panose="02010609060101010101" pitchFamily="49" charset="-122"/>
              </a:rPr>
              <a:t> != ID/</a:t>
            </a:r>
            <a:r>
              <a:rPr lang="en-US" altLang="zh-CN" sz="1400" dirty="0" err="1">
                <a:ea typeface="SimHei" panose="02010609060101010101" pitchFamily="49" charset="-122"/>
              </a:rPr>
              <a:t>EX.RegisterRs</a:t>
            </a:r>
            <a:endParaRPr lang="en-US" altLang="zh-CN" sz="1400" dirty="0">
              <a:ea typeface="SimHei" panose="02010609060101010101" pitchFamily="49" charset="-122"/>
            </a:endParaRPr>
          </a:p>
          <a:p>
            <a:r>
              <a:rPr lang="en-US" altLang="zh-CN" sz="1400" dirty="0">
                <a:ea typeface="SimHei" panose="02010609060101010101" pitchFamily="49" charset="-122"/>
              </a:rPr>
              <a:t>|| ~ EX/</a:t>
            </a:r>
            <a:r>
              <a:rPr lang="en-US" altLang="zh-CN" sz="1400" dirty="0" err="1">
                <a:ea typeface="SimHei" panose="02010609060101010101" pitchFamily="49" charset="-122"/>
              </a:rPr>
              <a:t>MEM.RegWrite</a:t>
            </a:r>
            <a:r>
              <a:rPr lang="en-US" altLang="zh-CN" sz="1400" dirty="0">
                <a:ea typeface="SimHei" panose="02010609060101010101" pitchFamily="49" charset="-122"/>
              </a:rPr>
              <a:t>))</a:t>
            </a:r>
          </a:p>
          <a:p>
            <a:r>
              <a:rPr lang="en-US" altLang="zh-CN" sz="1400" dirty="0">
                <a:ea typeface="SimHei" panose="02010609060101010101" pitchFamily="49" charset="-122"/>
              </a:rPr>
              <a:t>	</a:t>
            </a:r>
            <a:r>
              <a:rPr lang="en-US" altLang="zh-CN" sz="1400" dirty="0" err="1">
                <a:ea typeface="SimHei" panose="02010609060101010101" pitchFamily="49" charset="-122"/>
              </a:rPr>
              <a:t>ForwardA</a:t>
            </a:r>
            <a:r>
              <a:rPr lang="en-US" altLang="zh-CN" sz="1400" dirty="0">
                <a:ea typeface="SimHei" panose="02010609060101010101" pitchFamily="49" charset="-122"/>
              </a:rPr>
              <a:t> = 01</a:t>
            </a:r>
          </a:p>
        </p:txBody>
      </p:sp>
      <p:sp>
        <p:nvSpPr>
          <p:cNvPr id="41" name="文本框 40">
            <a:extLst>
              <a:ext uri="{FF2B5EF4-FFF2-40B4-BE49-F238E27FC236}">
                <a16:creationId xmlns:a16="http://schemas.microsoft.com/office/drawing/2014/main" id="{F94F78DB-F04A-BD0C-87FF-7908929D892D}"/>
              </a:ext>
            </a:extLst>
          </p:cNvPr>
          <p:cNvSpPr txBox="1"/>
          <p:nvPr/>
        </p:nvSpPr>
        <p:spPr>
          <a:xfrm>
            <a:off x="114458" y="4960344"/>
            <a:ext cx="2469267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zh-CN" dirty="0">
                <a:solidFill>
                  <a:srgbClr val="00B0F0"/>
                </a:solidFill>
                <a:ea typeface="SimHei" panose="02010609060101010101" pitchFamily="49" charset="-122"/>
              </a:rPr>
              <a:t>Forwarding</a:t>
            </a:r>
            <a:r>
              <a:rPr lang="zh-CN" altLang="en-US" dirty="0">
                <a:solidFill>
                  <a:srgbClr val="00B0F0"/>
                </a:solidFill>
                <a:ea typeface="SimHei" panose="02010609060101010101" pitchFamily="49" charset="-122"/>
              </a:rPr>
              <a:t>数据通路</a:t>
            </a:r>
            <a:endParaRPr lang="en-US" altLang="zh-CN" dirty="0">
              <a:solidFill>
                <a:srgbClr val="00B0F0"/>
              </a:solidFill>
              <a:ea typeface="SimHei" panose="02010609060101010101" pitchFamily="49" charset="-122"/>
            </a:endParaRPr>
          </a:p>
          <a:p>
            <a:r>
              <a:rPr lang="en-US" altLang="zh-CN" dirty="0">
                <a:solidFill>
                  <a:srgbClr val="FF0000"/>
                </a:solidFill>
                <a:ea typeface="SimHei" panose="02010609060101010101" pitchFamily="49" charset="-122"/>
              </a:rPr>
              <a:t>Forwarding</a:t>
            </a:r>
            <a:r>
              <a:rPr lang="zh-CN" altLang="en-US" dirty="0">
                <a:solidFill>
                  <a:srgbClr val="FF0000"/>
                </a:solidFill>
                <a:ea typeface="SimHei" panose="02010609060101010101" pitchFamily="49" charset="-122"/>
              </a:rPr>
              <a:t>控制通路</a:t>
            </a:r>
            <a:endParaRPr lang="en-US" altLang="zh-CN" dirty="0">
              <a:solidFill>
                <a:srgbClr val="FF0000"/>
              </a:solidFill>
              <a:ea typeface="SimHei" panose="02010609060101010101" pitchFamily="49" charset="-122"/>
            </a:endParaRPr>
          </a:p>
        </p:txBody>
      </p:sp>
      <p:sp>
        <p:nvSpPr>
          <p:cNvPr id="2" name="Line 8">
            <a:extLst>
              <a:ext uri="{FF2B5EF4-FFF2-40B4-BE49-F238E27FC236}">
                <a16:creationId xmlns:a16="http://schemas.microsoft.com/office/drawing/2014/main" id="{6B44D032-EC7F-08E8-7A0F-A9BECE291730}"/>
              </a:ext>
            </a:extLst>
          </p:cNvPr>
          <p:cNvSpPr>
            <a:spLocks noChangeShapeType="1"/>
          </p:cNvSpPr>
          <p:nvPr/>
        </p:nvSpPr>
        <p:spPr bwMode="auto">
          <a:xfrm>
            <a:off x="2554865" y="5051122"/>
            <a:ext cx="1628334" cy="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3" name="Line 9">
            <a:extLst>
              <a:ext uri="{FF2B5EF4-FFF2-40B4-BE49-F238E27FC236}">
                <a16:creationId xmlns:a16="http://schemas.microsoft.com/office/drawing/2014/main" id="{02B62334-318E-08FB-AEEE-2E791CFA83A3}"/>
              </a:ext>
            </a:extLst>
          </p:cNvPr>
          <p:cNvSpPr>
            <a:spLocks noChangeShapeType="1"/>
          </p:cNvSpPr>
          <p:nvPr/>
        </p:nvSpPr>
        <p:spPr bwMode="auto">
          <a:xfrm>
            <a:off x="4324793" y="5051122"/>
            <a:ext cx="1598492" cy="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8" name="Line 10">
            <a:extLst>
              <a:ext uri="{FF2B5EF4-FFF2-40B4-BE49-F238E27FC236}">
                <a16:creationId xmlns:a16="http://schemas.microsoft.com/office/drawing/2014/main" id="{04E039D5-3F42-9DE9-A611-82CDFAE60BA2}"/>
              </a:ext>
            </a:extLst>
          </p:cNvPr>
          <p:cNvSpPr>
            <a:spLocks noChangeShapeType="1"/>
          </p:cNvSpPr>
          <p:nvPr/>
        </p:nvSpPr>
        <p:spPr bwMode="auto">
          <a:xfrm>
            <a:off x="6503599" y="5051122"/>
            <a:ext cx="1557537" cy="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9" name="Line 11">
            <a:extLst>
              <a:ext uri="{FF2B5EF4-FFF2-40B4-BE49-F238E27FC236}">
                <a16:creationId xmlns:a16="http://schemas.microsoft.com/office/drawing/2014/main" id="{A62CDE10-9603-ABDD-F87B-214E03BE209F}"/>
              </a:ext>
            </a:extLst>
          </p:cNvPr>
          <p:cNvSpPr>
            <a:spLocks noChangeShapeType="1"/>
          </p:cNvSpPr>
          <p:nvPr/>
        </p:nvSpPr>
        <p:spPr bwMode="auto">
          <a:xfrm>
            <a:off x="2554865" y="4792309"/>
            <a:ext cx="0" cy="258812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11" name="Line 12">
            <a:extLst>
              <a:ext uri="{FF2B5EF4-FFF2-40B4-BE49-F238E27FC236}">
                <a16:creationId xmlns:a16="http://schemas.microsoft.com/office/drawing/2014/main" id="{25DB35E2-3337-CDA1-8F78-A61191269B89}"/>
              </a:ext>
            </a:extLst>
          </p:cNvPr>
          <p:cNvSpPr>
            <a:spLocks noChangeShapeType="1"/>
          </p:cNvSpPr>
          <p:nvPr/>
        </p:nvSpPr>
        <p:spPr bwMode="auto">
          <a:xfrm>
            <a:off x="2484068" y="5709987"/>
            <a:ext cx="5860257" cy="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12" name="Line 13">
            <a:extLst>
              <a:ext uri="{FF2B5EF4-FFF2-40B4-BE49-F238E27FC236}">
                <a16:creationId xmlns:a16="http://schemas.microsoft.com/office/drawing/2014/main" id="{651415AF-1CC5-C108-5267-CD5B1C5E5CB1}"/>
              </a:ext>
            </a:extLst>
          </p:cNvPr>
          <p:cNvSpPr>
            <a:spLocks noChangeShapeType="1"/>
          </p:cNvSpPr>
          <p:nvPr/>
        </p:nvSpPr>
        <p:spPr bwMode="auto">
          <a:xfrm>
            <a:off x="8202731" y="5051122"/>
            <a:ext cx="141594" cy="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13" name="Line 14">
            <a:extLst>
              <a:ext uri="{FF2B5EF4-FFF2-40B4-BE49-F238E27FC236}">
                <a16:creationId xmlns:a16="http://schemas.microsoft.com/office/drawing/2014/main" id="{A0903E48-B648-F054-2AED-10054BFDD1FC}"/>
              </a:ext>
            </a:extLst>
          </p:cNvPr>
          <p:cNvSpPr>
            <a:spLocks noChangeShapeType="1"/>
          </p:cNvSpPr>
          <p:nvPr/>
        </p:nvSpPr>
        <p:spPr bwMode="auto">
          <a:xfrm>
            <a:off x="8344324" y="5051122"/>
            <a:ext cx="0" cy="658865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15" name="Line 15">
            <a:extLst>
              <a:ext uri="{FF2B5EF4-FFF2-40B4-BE49-F238E27FC236}">
                <a16:creationId xmlns:a16="http://schemas.microsoft.com/office/drawing/2014/main" id="{2263FF35-0DE6-47C3-5217-D86E81D718B7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484068" y="3938359"/>
            <a:ext cx="0" cy="177162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17" name="Line 16">
            <a:extLst>
              <a:ext uri="{FF2B5EF4-FFF2-40B4-BE49-F238E27FC236}">
                <a16:creationId xmlns:a16="http://schemas.microsoft.com/office/drawing/2014/main" id="{5D7D7344-1A50-A714-05FD-7184014AF40B}"/>
              </a:ext>
            </a:extLst>
          </p:cNvPr>
          <p:cNvSpPr>
            <a:spLocks noChangeShapeType="1"/>
          </p:cNvSpPr>
          <p:nvPr/>
        </p:nvSpPr>
        <p:spPr bwMode="auto">
          <a:xfrm>
            <a:off x="2484068" y="3943450"/>
            <a:ext cx="353986" cy="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grpSp>
        <p:nvGrpSpPr>
          <p:cNvPr id="18" name="Group 17">
            <a:extLst>
              <a:ext uri="{FF2B5EF4-FFF2-40B4-BE49-F238E27FC236}">
                <a16:creationId xmlns:a16="http://schemas.microsoft.com/office/drawing/2014/main" id="{0F5700E0-6F5F-68A4-BC64-96F4250BD857}"/>
              </a:ext>
            </a:extLst>
          </p:cNvPr>
          <p:cNvGrpSpPr>
            <a:grpSpLocks/>
          </p:cNvGrpSpPr>
          <p:nvPr/>
        </p:nvGrpSpPr>
        <p:grpSpPr bwMode="auto">
          <a:xfrm>
            <a:off x="1563705" y="2268886"/>
            <a:ext cx="353986" cy="776438"/>
            <a:chOff x="1392" y="2880"/>
            <a:chExt cx="288" cy="480"/>
          </a:xfrm>
        </p:grpSpPr>
        <p:sp>
          <p:nvSpPr>
            <p:cNvPr id="19" name="Line 18">
              <a:extLst>
                <a:ext uri="{FF2B5EF4-FFF2-40B4-BE49-F238E27FC236}">
                  <a16:creationId xmlns:a16="http://schemas.microsoft.com/office/drawing/2014/main" id="{CB776519-ED59-0BE6-F12B-133FC926F62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92" y="3072"/>
              <a:ext cx="48" cy="48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23" name="Line 19">
              <a:extLst>
                <a:ext uri="{FF2B5EF4-FFF2-40B4-BE49-F238E27FC236}">
                  <a16:creationId xmlns:a16="http://schemas.microsoft.com/office/drawing/2014/main" id="{1F6F0124-4D19-2ADC-9218-65BC8B7FB5D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392" y="3120"/>
              <a:ext cx="48" cy="48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24" name="Line 20">
              <a:extLst>
                <a:ext uri="{FF2B5EF4-FFF2-40B4-BE49-F238E27FC236}">
                  <a16:creationId xmlns:a16="http://schemas.microsoft.com/office/drawing/2014/main" id="{36BB97E3-7A8A-43F8-62CE-5A258EF3959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392" y="2880"/>
              <a:ext cx="0" cy="19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25" name="Line 21">
              <a:extLst>
                <a:ext uri="{FF2B5EF4-FFF2-40B4-BE49-F238E27FC236}">
                  <a16:creationId xmlns:a16="http://schemas.microsoft.com/office/drawing/2014/main" id="{753B6175-90F7-959B-4B17-DACFAAED1FC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392" y="3168"/>
              <a:ext cx="0" cy="19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26" name="Line 22">
              <a:extLst>
                <a:ext uri="{FF2B5EF4-FFF2-40B4-BE49-F238E27FC236}">
                  <a16:creationId xmlns:a16="http://schemas.microsoft.com/office/drawing/2014/main" id="{87C95D1C-5D4B-3CF1-0CC8-A6DFB0D7A57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392" y="3216"/>
              <a:ext cx="288" cy="144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27" name="Line 23">
              <a:extLst>
                <a:ext uri="{FF2B5EF4-FFF2-40B4-BE49-F238E27FC236}">
                  <a16:creationId xmlns:a16="http://schemas.microsoft.com/office/drawing/2014/main" id="{657D51BB-A588-0A9B-702C-D929C4BF1FD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680" y="3024"/>
              <a:ext cx="0" cy="19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28" name="Line 24">
              <a:extLst>
                <a:ext uri="{FF2B5EF4-FFF2-40B4-BE49-F238E27FC236}">
                  <a16:creationId xmlns:a16="http://schemas.microsoft.com/office/drawing/2014/main" id="{3E4694B6-8558-FEE6-C722-99192D8F4E6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92" y="2880"/>
              <a:ext cx="288" cy="144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</p:grpSp>
      <p:sp>
        <p:nvSpPr>
          <p:cNvPr id="29" name="Rectangle 25">
            <a:extLst>
              <a:ext uri="{FF2B5EF4-FFF2-40B4-BE49-F238E27FC236}">
                <a16:creationId xmlns:a16="http://schemas.microsoft.com/office/drawing/2014/main" id="{D4C2E08C-9B2B-1DBA-1D88-40F9FD885A9F}"/>
              </a:ext>
            </a:extLst>
          </p:cNvPr>
          <p:cNvSpPr>
            <a:spLocks noChangeArrowheads="1"/>
          </p:cNvSpPr>
          <p:nvPr/>
        </p:nvSpPr>
        <p:spPr bwMode="auto">
          <a:xfrm>
            <a:off x="926530" y="3110028"/>
            <a:ext cx="1203552" cy="1229360"/>
          </a:xfrm>
          <a:prstGeom prst="rect">
            <a:avLst/>
          </a:prstGeom>
          <a:noFill/>
          <a:ln w="19050">
            <a:solidFill>
              <a:schemeClr val="tx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30" name="Rectangle 26">
            <a:extLst>
              <a:ext uri="{FF2B5EF4-FFF2-40B4-BE49-F238E27FC236}">
                <a16:creationId xmlns:a16="http://schemas.microsoft.com/office/drawing/2014/main" id="{1B02F77E-F832-F38E-9F04-631AA612320D}"/>
              </a:ext>
            </a:extLst>
          </p:cNvPr>
          <p:cNvSpPr>
            <a:spLocks noChangeArrowheads="1"/>
          </p:cNvSpPr>
          <p:nvPr/>
        </p:nvSpPr>
        <p:spPr bwMode="auto">
          <a:xfrm>
            <a:off x="501748" y="3433543"/>
            <a:ext cx="141594" cy="711735"/>
          </a:xfrm>
          <a:prstGeom prst="rect">
            <a:avLst/>
          </a:prstGeom>
          <a:noFill/>
          <a:ln w="19050">
            <a:solidFill>
              <a:schemeClr val="tx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31" name="Line 27">
            <a:extLst>
              <a:ext uri="{FF2B5EF4-FFF2-40B4-BE49-F238E27FC236}">
                <a16:creationId xmlns:a16="http://schemas.microsoft.com/office/drawing/2014/main" id="{73B48A24-DB32-730E-2E50-88403D8632BF}"/>
              </a:ext>
            </a:extLst>
          </p:cNvPr>
          <p:cNvSpPr>
            <a:spLocks noChangeShapeType="1"/>
          </p:cNvSpPr>
          <p:nvPr/>
        </p:nvSpPr>
        <p:spPr bwMode="auto">
          <a:xfrm>
            <a:off x="643342" y="3757059"/>
            <a:ext cx="283189" cy="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35" name="Line 28">
            <a:extLst>
              <a:ext uri="{FF2B5EF4-FFF2-40B4-BE49-F238E27FC236}">
                <a16:creationId xmlns:a16="http://schemas.microsoft.com/office/drawing/2014/main" id="{47DD33C4-446C-24BA-5991-23067A12EC68}"/>
              </a:ext>
            </a:extLst>
          </p:cNvPr>
          <p:cNvSpPr>
            <a:spLocks noChangeShapeType="1"/>
          </p:cNvSpPr>
          <p:nvPr/>
        </p:nvSpPr>
        <p:spPr bwMode="auto">
          <a:xfrm>
            <a:off x="714139" y="2398293"/>
            <a:ext cx="849565" cy="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37" name="Line 29">
            <a:extLst>
              <a:ext uri="{FF2B5EF4-FFF2-40B4-BE49-F238E27FC236}">
                <a16:creationId xmlns:a16="http://schemas.microsoft.com/office/drawing/2014/main" id="{CF79EFF9-2408-8472-9E94-077C254F18E8}"/>
              </a:ext>
            </a:extLst>
          </p:cNvPr>
          <p:cNvSpPr>
            <a:spLocks noChangeShapeType="1"/>
          </p:cNvSpPr>
          <p:nvPr/>
        </p:nvSpPr>
        <p:spPr bwMode="auto">
          <a:xfrm>
            <a:off x="1209719" y="2915918"/>
            <a:ext cx="353986" cy="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38" name="Text Box 30">
            <a:extLst>
              <a:ext uri="{FF2B5EF4-FFF2-40B4-BE49-F238E27FC236}">
                <a16:creationId xmlns:a16="http://schemas.microsoft.com/office/drawing/2014/main" id="{1C13D8B1-1AF2-E5CF-FA8E-F7445FFFE23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55733" y="3562950"/>
            <a:ext cx="747290" cy="46165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1425" tIns="45713" rIns="91425" bIns="45713">
            <a:spAutoFit/>
          </a:bodyPr>
          <a:lstStyle>
            <a:lvl1pPr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1pPr>
            <a:lvl2pPr marL="742950" indent="-28575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2pPr>
            <a:lvl3pPr marL="11430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3pPr>
            <a:lvl4pPr marL="16002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4pPr>
            <a:lvl5pPr marL="20574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9pPr>
          </a:lstStyle>
          <a:p>
            <a:r>
              <a:rPr lang="en-US" altLang="zh-CN" sz="1200" b="0" dirty="0">
                <a:latin typeface="Arial" pitchFamily="34" charset="0"/>
                <a:ea typeface="SimHei" panose="02010609060101010101" pitchFamily="49" charset="-122"/>
              </a:rPr>
              <a:t>Read</a:t>
            </a:r>
          </a:p>
          <a:p>
            <a:r>
              <a:rPr lang="en-US" altLang="zh-CN" sz="1200" b="0" dirty="0">
                <a:latin typeface="Arial" pitchFamily="34" charset="0"/>
                <a:ea typeface="SimHei" panose="02010609060101010101" pitchFamily="49" charset="-122"/>
              </a:rPr>
              <a:t>Address</a:t>
            </a:r>
          </a:p>
        </p:txBody>
      </p:sp>
      <p:sp>
        <p:nvSpPr>
          <p:cNvPr id="46" name="Text Box 31">
            <a:extLst>
              <a:ext uri="{FF2B5EF4-FFF2-40B4-BE49-F238E27FC236}">
                <a16:creationId xmlns:a16="http://schemas.microsoft.com/office/drawing/2014/main" id="{A87B526D-B92B-A4F5-D3EC-F8724EB015F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108760" y="3121247"/>
            <a:ext cx="1010183" cy="52320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1425" tIns="45713" rIns="91425" bIns="45713">
            <a:spAutoFit/>
          </a:bodyPr>
          <a:lstStyle>
            <a:lvl1pPr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1pPr>
            <a:lvl2pPr marL="742950" indent="-28575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2pPr>
            <a:lvl3pPr marL="11430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3pPr>
            <a:lvl4pPr marL="16002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4pPr>
            <a:lvl5pPr marL="20574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9pPr>
          </a:lstStyle>
          <a:p>
            <a:pPr algn="ctr"/>
            <a:r>
              <a:rPr lang="en-US" altLang="zh-CN" sz="1400" b="0" dirty="0">
                <a:latin typeface="Arial" pitchFamily="34" charset="0"/>
                <a:ea typeface="SimHei" panose="02010609060101010101" pitchFamily="49" charset="-122"/>
              </a:rPr>
              <a:t>Instruction</a:t>
            </a:r>
          </a:p>
          <a:p>
            <a:pPr algn="ctr"/>
            <a:r>
              <a:rPr lang="en-US" altLang="zh-CN" sz="1400" b="0" dirty="0">
                <a:latin typeface="Arial" pitchFamily="34" charset="0"/>
                <a:ea typeface="SimHei" panose="02010609060101010101" pitchFamily="49" charset="-122"/>
              </a:rPr>
              <a:t>Memory</a:t>
            </a:r>
          </a:p>
        </p:txBody>
      </p:sp>
      <p:sp>
        <p:nvSpPr>
          <p:cNvPr id="50" name="Text Box 32">
            <a:extLst>
              <a:ext uri="{FF2B5EF4-FFF2-40B4-BE49-F238E27FC236}">
                <a16:creationId xmlns:a16="http://schemas.microsoft.com/office/drawing/2014/main" id="{52071CA5-8578-6730-C39F-9926F061CF0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40106" y="2527564"/>
            <a:ext cx="457146" cy="27698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1425" tIns="45713" rIns="91425" bIns="45713">
            <a:spAutoFit/>
          </a:bodyPr>
          <a:lstStyle>
            <a:lvl1pPr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1pPr>
            <a:lvl2pPr marL="742950" indent="-28575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2pPr>
            <a:lvl3pPr marL="11430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3pPr>
            <a:lvl4pPr marL="16002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4pPr>
            <a:lvl5pPr marL="20574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9pPr>
          </a:lstStyle>
          <a:p>
            <a:r>
              <a:rPr lang="en-US" altLang="zh-CN" sz="1200" b="0" dirty="0">
                <a:latin typeface="Arial" pitchFamily="34" charset="0"/>
                <a:ea typeface="SimHei" panose="02010609060101010101" pitchFamily="49" charset="-122"/>
              </a:rPr>
              <a:t>Add</a:t>
            </a:r>
          </a:p>
        </p:txBody>
      </p:sp>
      <p:sp>
        <p:nvSpPr>
          <p:cNvPr id="51" name="Text Box 33">
            <a:extLst>
              <a:ext uri="{FF2B5EF4-FFF2-40B4-BE49-F238E27FC236}">
                <a16:creationId xmlns:a16="http://schemas.microsoft.com/office/drawing/2014/main" id="{473C9CD4-01E1-7CEC-6192-AE3D3EE201F5}"/>
              </a:ext>
            </a:extLst>
          </p:cNvPr>
          <p:cNvSpPr txBox="1">
            <a:spLocks noChangeArrowheads="1"/>
          </p:cNvSpPr>
          <p:nvPr/>
        </p:nvSpPr>
        <p:spPr bwMode="auto">
          <a:xfrm rot="16200000">
            <a:off x="375842" y="3670463"/>
            <a:ext cx="397836" cy="27698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1425" tIns="45713" rIns="91425" bIns="45713">
            <a:spAutoFit/>
          </a:bodyPr>
          <a:lstStyle>
            <a:lvl1pPr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1pPr>
            <a:lvl2pPr marL="742950" indent="-28575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2pPr>
            <a:lvl3pPr marL="11430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3pPr>
            <a:lvl4pPr marL="16002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4pPr>
            <a:lvl5pPr marL="20574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9pPr>
          </a:lstStyle>
          <a:p>
            <a:r>
              <a:rPr lang="en-US" altLang="zh-CN" sz="1200" b="0" dirty="0">
                <a:latin typeface="Arial" pitchFamily="34" charset="0"/>
                <a:ea typeface="SimHei" panose="02010609060101010101" pitchFamily="49" charset="-122"/>
              </a:rPr>
              <a:t>PC</a:t>
            </a:r>
          </a:p>
        </p:txBody>
      </p:sp>
      <p:sp>
        <p:nvSpPr>
          <p:cNvPr id="52" name="Line 34">
            <a:extLst>
              <a:ext uri="{FF2B5EF4-FFF2-40B4-BE49-F238E27FC236}">
                <a16:creationId xmlns:a16="http://schemas.microsoft.com/office/drawing/2014/main" id="{13B9793E-48B2-F17E-4E41-F62A528A7B08}"/>
              </a:ext>
            </a:extLst>
          </p:cNvPr>
          <p:cNvSpPr>
            <a:spLocks noChangeShapeType="1"/>
          </p:cNvSpPr>
          <p:nvPr/>
        </p:nvSpPr>
        <p:spPr bwMode="auto">
          <a:xfrm>
            <a:off x="218559" y="3757059"/>
            <a:ext cx="283189" cy="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53" name="Text Box 35">
            <a:extLst>
              <a:ext uri="{FF2B5EF4-FFF2-40B4-BE49-F238E27FC236}">
                <a16:creationId xmlns:a16="http://schemas.microsoft.com/office/drawing/2014/main" id="{00CFBDE5-3A8D-F2D5-3765-13C5E086CC3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97327" y="2786512"/>
            <a:ext cx="269595" cy="27698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1425" tIns="45713" rIns="91425" bIns="45713">
            <a:spAutoFit/>
          </a:bodyPr>
          <a:lstStyle>
            <a:lvl1pPr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1pPr>
            <a:lvl2pPr marL="742950" indent="-28575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2pPr>
            <a:lvl3pPr marL="11430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3pPr>
            <a:lvl4pPr marL="16002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4pPr>
            <a:lvl5pPr marL="20574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9pPr>
          </a:lstStyle>
          <a:p>
            <a:r>
              <a:rPr lang="en-US" altLang="zh-CN" sz="1200" b="0" dirty="0">
                <a:latin typeface="Arial" pitchFamily="34" charset="0"/>
                <a:ea typeface="SimHei" panose="02010609060101010101" pitchFamily="49" charset="-122"/>
              </a:rPr>
              <a:t>4</a:t>
            </a:r>
          </a:p>
        </p:txBody>
      </p:sp>
      <p:sp>
        <p:nvSpPr>
          <p:cNvPr id="54" name="Line 36">
            <a:extLst>
              <a:ext uri="{FF2B5EF4-FFF2-40B4-BE49-F238E27FC236}">
                <a16:creationId xmlns:a16="http://schemas.microsoft.com/office/drawing/2014/main" id="{4596BD53-C03D-24CF-905F-31C118FDA734}"/>
              </a:ext>
            </a:extLst>
          </p:cNvPr>
          <p:cNvSpPr>
            <a:spLocks noChangeShapeType="1"/>
          </p:cNvSpPr>
          <p:nvPr/>
        </p:nvSpPr>
        <p:spPr bwMode="auto">
          <a:xfrm>
            <a:off x="218559" y="1686557"/>
            <a:ext cx="0" cy="2070501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55" name="AutoShape 37">
            <a:extLst>
              <a:ext uri="{FF2B5EF4-FFF2-40B4-BE49-F238E27FC236}">
                <a16:creationId xmlns:a16="http://schemas.microsoft.com/office/drawing/2014/main" id="{46902704-46FF-90CB-23D3-6F4464CDD128}"/>
              </a:ext>
            </a:extLst>
          </p:cNvPr>
          <p:cNvSpPr>
            <a:spLocks noChangeArrowheads="1"/>
          </p:cNvSpPr>
          <p:nvPr/>
        </p:nvSpPr>
        <p:spPr bwMode="auto">
          <a:xfrm rot="5400000" flipH="1">
            <a:off x="812359" y="1612713"/>
            <a:ext cx="582329" cy="212392"/>
          </a:xfrm>
          <a:custGeom>
            <a:avLst/>
            <a:gdLst>
              <a:gd name="T0" fmla="*/ 8 w 21600"/>
              <a:gd name="T1" fmla="*/ 0 h 21600"/>
              <a:gd name="T2" fmla="*/ 4 w 21600"/>
              <a:gd name="T3" fmla="*/ 1 h 21600"/>
              <a:gd name="T4" fmla="*/ 1 w 21600"/>
              <a:gd name="T5" fmla="*/ 0 h 21600"/>
              <a:gd name="T6" fmla="*/ 4 w 21600"/>
              <a:gd name="T7" fmla="*/ 0 h 21600"/>
              <a:gd name="T8" fmla="*/ 0 60000 65536"/>
              <a:gd name="T9" fmla="*/ 0 60000 65536"/>
              <a:gd name="T10" fmla="*/ 0 60000 65536"/>
              <a:gd name="T11" fmla="*/ 0 60000 65536"/>
              <a:gd name="T12" fmla="*/ 4500 w 21600"/>
              <a:gd name="T13" fmla="*/ 4500 h 21600"/>
              <a:gd name="T14" fmla="*/ 17100 w 21600"/>
              <a:gd name="T15" fmla="*/ 17100 h 21600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21600" h="21600">
                <a:moveTo>
                  <a:pt x="0" y="0"/>
                </a:moveTo>
                <a:lnTo>
                  <a:pt x="5400" y="21600"/>
                </a:lnTo>
                <a:lnTo>
                  <a:pt x="16200" y="21600"/>
                </a:lnTo>
                <a:lnTo>
                  <a:pt x="21600" y="0"/>
                </a:lnTo>
                <a:lnTo>
                  <a:pt x="0" y="0"/>
                </a:lnTo>
                <a:close/>
              </a:path>
            </a:pathLst>
          </a:custGeom>
          <a:noFill/>
          <a:ln w="19050">
            <a:solidFill>
              <a:schemeClr val="tx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56" name="Line 38">
            <a:extLst>
              <a:ext uri="{FF2B5EF4-FFF2-40B4-BE49-F238E27FC236}">
                <a16:creationId xmlns:a16="http://schemas.microsoft.com/office/drawing/2014/main" id="{824E1DC0-805B-3AA2-5836-E64631DFB110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18558" y="1686557"/>
            <a:ext cx="778768" cy="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57" name="Rectangle 40">
            <a:extLst>
              <a:ext uri="{FF2B5EF4-FFF2-40B4-BE49-F238E27FC236}">
                <a16:creationId xmlns:a16="http://schemas.microsoft.com/office/drawing/2014/main" id="{7E5BC5F9-5FFC-5EDF-8031-EA4BD116D032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1093425" y="1451795"/>
            <a:ext cx="148229" cy="57136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19047" tIns="26984" rIns="19047" bIns="26984"/>
          <a:lstStyle/>
          <a:p>
            <a:pPr eaLnBrk="0" hangingPunct="0">
              <a:spcBef>
                <a:spcPts val="600"/>
              </a:spcBef>
              <a:spcAft>
                <a:spcPts val="600"/>
              </a:spcAft>
            </a:pPr>
            <a:r>
              <a:rPr lang="en-US" altLang="zh-CN" sz="1200" dirty="0">
                <a:latin typeface="Arial" pitchFamily="34" charset="0"/>
                <a:ea typeface="SimHei" panose="02010609060101010101" pitchFamily="49" charset="-122"/>
              </a:rPr>
              <a:t>1</a:t>
            </a:r>
          </a:p>
          <a:p>
            <a:pPr eaLnBrk="0" hangingPunct="0">
              <a:spcBef>
                <a:spcPts val="600"/>
              </a:spcBef>
              <a:spcAft>
                <a:spcPts val="600"/>
              </a:spcAft>
            </a:pPr>
            <a:r>
              <a:rPr lang="en-US" altLang="zh-CN" sz="1200" dirty="0">
                <a:latin typeface="Arial" pitchFamily="34" charset="0"/>
                <a:ea typeface="SimHei" panose="02010609060101010101" pitchFamily="49" charset="-122"/>
              </a:rPr>
              <a:t>0</a:t>
            </a:r>
          </a:p>
        </p:txBody>
      </p:sp>
      <p:sp>
        <p:nvSpPr>
          <p:cNvPr id="58" name="Line 41">
            <a:extLst>
              <a:ext uri="{FF2B5EF4-FFF2-40B4-BE49-F238E27FC236}">
                <a16:creationId xmlns:a16="http://schemas.microsoft.com/office/drawing/2014/main" id="{08A4DA56-0BC8-32E6-9B1F-F5FC1777B687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209718" y="1557152"/>
            <a:ext cx="5506272" cy="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59" name="Line 42">
            <a:extLst>
              <a:ext uri="{FF2B5EF4-FFF2-40B4-BE49-F238E27FC236}">
                <a16:creationId xmlns:a16="http://schemas.microsoft.com/office/drawing/2014/main" id="{BFD74ED0-C139-C37E-13ED-78966DD5D3D4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625662" y="5500902"/>
            <a:ext cx="6143445" cy="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60" name="Rectangle 43">
            <a:extLst>
              <a:ext uri="{FF2B5EF4-FFF2-40B4-BE49-F238E27FC236}">
                <a16:creationId xmlns:a16="http://schemas.microsoft.com/office/drawing/2014/main" id="{8670D142-B9BC-1984-FC40-F3581D0715E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38053" y="3110028"/>
            <a:ext cx="1203552" cy="1229360"/>
          </a:xfrm>
          <a:prstGeom prst="rect">
            <a:avLst/>
          </a:prstGeom>
          <a:noFill/>
          <a:ln w="19050">
            <a:solidFill>
              <a:schemeClr val="tx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61" name="Line 44">
            <a:extLst>
              <a:ext uri="{FF2B5EF4-FFF2-40B4-BE49-F238E27FC236}">
                <a16:creationId xmlns:a16="http://schemas.microsoft.com/office/drawing/2014/main" id="{59DF7B46-2784-8A01-18CA-0972C1C70045}"/>
              </a:ext>
            </a:extLst>
          </p:cNvPr>
          <p:cNvSpPr>
            <a:spLocks noChangeShapeType="1"/>
          </p:cNvSpPr>
          <p:nvPr/>
        </p:nvSpPr>
        <p:spPr bwMode="auto">
          <a:xfrm>
            <a:off x="2130082" y="3757059"/>
            <a:ext cx="141594" cy="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62" name="Line 45">
            <a:extLst>
              <a:ext uri="{FF2B5EF4-FFF2-40B4-BE49-F238E27FC236}">
                <a16:creationId xmlns:a16="http://schemas.microsoft.com/office/drawing/2014/main" id="{8C9577F0-317D-BCC1-CAAA-EEFEE925CC36}"/>
              </a:ext>
            </a:extLst>
          </p:cNvPr>
          <p:cNvSpPr>
            <a:spLocks noChangeShapeType="1"/>
          </p:cNvSpPr>
          <p:nvPr/>
        </p:nvSpPr>
        <p:spPr bwMode="auto">
          <a:xfrm>
            <a:off x="2554865" y="3562950"/>
            <a:ext cx="283189" cy="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63" name="Text Box 46">
            <a:extLst>
              <a:ext uri="{FF2B5EF4-FFF2-40B4-BE49-F238E27FC236}">
                <a16:creationId xmlns:a16="http://schemas.microsoft.com/office/drawing/2014/main" id="{67A33F63-B0ED-845A-A0EB-B5C81764898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767255" y="4080574"/>
            <a:ext cx="908039" cy="27698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1425" tIns="45713" rIns="91425" bIns="45713">
            <a:spAutoFit/>
          </a:bodyPr>
          <a:lstStyle>
            <a:lvl1pPr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1pPr>
            <a:lvl2pPr marL="742950" indent="-28575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2pPr>
            <a:lvl3pPr marL="11430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3pPr>
            <a:lvl4pPr marL="16002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4pPr>
            <a:lvl5pPr marL="20574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9pPr>
          </a:lstStyle>
          <a:p>
            <a:r>
              <a:rPr lang="en-US" altLang="zh-CN" sz="1200" b="0" dirty="0">
                <a:latin typeface="Arial" pitchFamily="34" charset="0"/>
                <a:ea typeface="SimHei" panose="02010609060101010101" pitchFamily="49" charset="-122"/>
              </a:rPr>
              <a:t>Write Data</a:t>
            </a:r>
          </a:p>
        </p:txBody>
      </p:sp>
      <p:sp>
        <p:nvSpPr>
          <p:cNvPr id="640" name="Text Box 47">
            <a:extLst>
              <a:ext uri="{FF2B5EF4-FFF2-40B4-BE49-F238E27FC236}">
                <a16:creationId xmlns:a16="http://schemas.microsoft.com/office/drawing/2014/main" id="{B4F9DA3E-436C-4F91-B337-A951EACBB41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780531" y="3057456"/>
            <a:ext cx="636682" cy="46165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1425" tIns="45713" rIns="91425" bIns="45713">
            <a:spAutoFit/>
          </a:bodyPr>
          <a:lstStyle>
            <a:lvl1pPr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1pPr>
            <a:lvl2pPr marL="742950" indent="-28575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2pPr>
            <a:lvl3pPr marL="11430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3pPr>
            <a:lvl4pPr marL="16002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4pPr>
            <a:lvl5pPr marL="20574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9pPr>
          </a:lstStyle>
          <a:p>
            <a:r>
              <a:rPr lang="en-US" altLang="zh-CN" sz="1200" b="0" dirty="0">
                <a:latin typeface="Arial" pitchFamily="34" charset="0"/>
                <a:ea typeface="SimHei" panose="02010609060101010101" pitchFamily="49" charset="-122"/>
              </a:rPr>
              <a:t>Read </a:t>
            </a:r>
          </a:p>
          <a:p>
            <a:r>
              <a:rPr lang="en-US" altLang="zh-CN" sz="1200" b="0" dirty="0" err="1">
                <a:latin typeface="Arial" pitchFamily="34" charset="0"/>
                <a:ea typeface="SimHei" panose="02010609060101010101" pitchFamily="49" charset="-122"/>
              </a:rPr>
              <a:t>Addr</a:t>
            </a:r>
            <a:r>
              <a:rPr lang="en-US" altLang="zh-CN" sz="1200" b="0" dirty="0">
                <a:latin typeface="Arial" pitchFamily="34" charset="0"/>
                <a:ea typeface="SimHei" panose="02010609060101010101" pitchFamily="49" charset="-122"/>
              </a:rPr>
              <a:t> 1</a:t>
            </a:r>
          </a:p>
        </p:txBody>
      </p:sp>
      <p:sp>
        <p:nvSpPr>
          <p:cNvPr id="641" name="Text Box 48">
            <a:extLst>
              <a:ext uri="{FF2B5EF4-FFF2-40B4-BE49-F238E27FC236}">
                <a16:creationId xmlns:a16="http://schemas.microsoft.com/office/drawing/2014/main" id="{6D457224-00A9-2B53-7852-EBC3FB353AA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776106" y="3398496"/>
            <a:ext cx="636682" cy="46165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1425" tIns="45713" rIns="91425" bIns="45713">
            <a:spAutoFit/>
          </a:bodyPr>
          <a:lstStyle>
            <a:lvl1pPr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1pPr>
            <a:lvl2pPr marL="742950" indent="-28575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2pPr>
            <a:lvl3pPr marL="11430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3pPr>
            <a:lvl4pPr marL="16002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4pPr>
            <a:lvl5pPr marL="20574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9pPr>
          </a:lstStyle>
          <a:p>
            <a:r>
              <a:rPr lang="en-US" altLang="zh-CN" sz="1200" b="0" dirty="0">
                <a:latin typeface="Arial" pitchFamily="34" charset="0"/>
                <a:ea typeface="SimHei" panose="02010609060101010101" pitchFamily="49" charset="-122"/>
              </a:rPr>
              <a:t>Read </a:t>
            </a:r>
          </a:p>
          <a:p>
            <a:r>
              <a:rPr lang="en-US" altLang="zh-CN" sz="1200" b="0" dirty="0" err="1">
                <a:latin typeface="Arial" pitchFamily="34" charset="0"/>
                <a:ea typeface="SimHei" panose="02010609060101010101" pitchFamily="49" charset="-122"/>
              </a:rPr>
              <a:t>Addr</a:t>
            </a:r>
            <a:r>
              <a:rPr lang="en-US" altLang="zh-CN" sz="1200" b="0" dirty="0">
                <a:latin typeface="Arial" pitchFamily="34" charset="0"/>
                <a:ea typeface="SimHei" panose="02010609060101010101" pitchFamily="49" charset="-122"/>
              </a:rPr>
              <a:t> 2</a:t>
            </a:r>
          </a:p>
        </p:txBody>
      </p:sp>
      <p:sp>
        <p:nvSpPr>
          <p:cNvPr id="642" name="Text Box 49">
            <a:extLst>
              <a:ext uri="{FF2B5EF4-FFF2-40B4-BE49-F238E27FC236}">
                <a16:creationId xmlns:a16="http://schemas.microsoft.com/office/drawing/2014/main" id="{05609868-E5EA-0484-DC70-0CB7BF8DFF6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781966" y="3821761"/>
            <a:ext cx="899575" cy="27698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1425" tIns="45713" rIns="91425" bIns="45713">
            <a:spAutoFit/>
          </a:bodyPr>
          <a:lstStyle>
            <a:lvl1pPr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1pPr>
            <a:lvl2pPr marL="742950" indent="-28575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2pPr>
            <a:lvl3pPr marL="11430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3pPr>
            <a:lvl4pPr marL="16002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4pPr>
            <a:lvl5pPr marL="20574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9pPr>
          </a:lstStyle>
          <a:p>
            <a:r>
              <a:rPr lang="en-US" altLang="zh-CN" sz="1200" b="0" dirty="0">
                <a:latin typeface="Arial" pitchFamily="34" charset="0"/>
                <a:ea typeface="SimHei" panose="02010609060101010101" pitchFamily="49" charset="-122"/>
              </a:rPr>
              <a:t>Write </a:t>
            </a:r>
            <a:r>
              <a:rPr lang="en-US" altLang="zh-CN" sz="1200" b="0" dirty="0" err="1">
                <a:latin typeface="Arial" pitchFamily="34" charset="0"/>
                <a:ea typeface="SimHei" panose="02010609060101010101" pitchFamily="49" charset="-122"/>
              </a:rPr>
              <a:t>Addr</a:t>
            </a:r>
            <a:endParaRPr lang="en-US" altLang="zh-CN" sz="1200" b="0" dirty="0">
              <a:latin typeface="Arial" pitchFamily="34" charset="0"/>
              <a:ea typeface="SimHei" panose="02010609060101010101" pitchFamily="49" charset="-122"/>
            </a:endParaRPr>
          </a:p>
        </p:txBody>
      </p:sp>
      <p:sp>
        <p:nvSpPr>
          <p:cNvPr id="643" name="Text Box 50">
            <a:extLst>
              <a:ext uri="{FF2B5EF4-FFF2-40B4-BE49-F238E27FC236}">
                <a16:creationId xmlns:a16="http://schemas.microsoft.com/office/drawing/2014/main" id="{EB983496-1BA6-D336-BCB5-C17D5AAFF1E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313446" y="3538515"/>
            <a:ext cx="603020" cy="30776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1425" tIns="45713" rIns="91425" bIns="45713">
            <a:spAutoFit/>
          </a:bodyPr>
          <a:lstStyle>
            <a:lvl1pPr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1pPr>
            <a:lvl2pPr marL="742950" indent="-28575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2pPr>
            <a:lvl3pPr marL="11430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3pPr>
            <a:lvl4pPr marL="16002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4pPr>
            <a:lvl5pPr marL="20574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9pPr>
          </a:lstStyle>
          <a:p>
            <a:pPr algn="ctr"/>
            <a:r>
              <a:rPr lang="en-US" altLang="zh-CN" sz="1400" b="0" dirty="0">
                <a:latin typeface="Arial" pitchFamily="34" charset="0"/>
                <a:ea typeface="SimHei" panose="02010609060101010101" pitchFamily="49" charset="-122"/>
              </a:rPr>
              <a:t>Regs</a:t>
            </a:r>
          </a:p>
        </p:txBody>
      </p:sp>
      <p:sp>
        <p:nvSpPr>
          <p:cNvPr id="644" name="Text Box 51">
            <a:extLst>
              <a:ext uri="{FF2B5EF4-FFF2-40B4-BE49-F238E27FC236}">
                <a16:creationId xmlns:a16="http://schemas.microsoft.com/office/drawing/2014/main" id="{ED0D8720-F8ED-D902-11C6-021ADD20B43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434243" y="3132558"/>
            <a:ext cx="679964" cy="46165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1425" tIns="45713" rIns="91425" bIns="45713">
            <a:spAutoFit/>
          </a:bodyPr>
          <a:lstStyle>
            <a:lvl1pPr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1pPr>
            <a:lvl2pPr marL="742950" indent="-28575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2pPr>
            <a:lvl3pPr marL="11430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3pPr>
            <a:lvl4pPr marL="16002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4pPr>
            <a:lvl5pPr marL="20574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9pPr>
          </a:lstStyle>
          <a:p>
            <a:pPr algn="r"/>
            <a:r>
              <a:rPr lang="en-US" altLang="zh-CN" sz="1200" b="0" dirty="0">
                <a:latin typeface="Arial" pitchFamily="34" charset="0"/>
                <a:ea typeface="SimHei" panose="02010609060101010101" pitchFamily="49" charset="-122"/>
              </a:rPr>
              <a:t>Read</a:t>
            </a:r>
          </a:p>
          <a:p>
            <a:pPr algn="r"/>
            <a:r>
              <a:rPr lang="en-US" altLang="zh-CN" sz="1200" b="0" dirty="0">
                <a:latin typeface="Arial" pitchFamily="34" charset="0"/>
                <a:ea typeface="SimHei" panose="02010609060101010101" pitchFamily="49" charset="-122"/>
              </a:rPr>
              <a:t> Data 1</a:t>
            </a:r>
          </a:p>
        </p:txBody>
      </p:sp>
      <p:sp>
        <p:nvSpPr>
          <p:cNvPr id="645" name="Text Box 52">
            <a:extLst>
              <a:ext uri="{FF2B5EF4-FFF2-40B4-BE49-F238E27FC236}">
                <a16:creationId xmlns:a16="http://schemas.microsoft.com/office/drawing/2014/main" id="{C56B49E2-B323-3C0E-DE56-792EEA23C27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422113" y="3821762"/>
            <a:ext cx="679964" cy="46165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1425" tIns="45713" rIns="91425" bIns="45713">
            <a:spAutoFit/>
          </a:bodyPr>
          <a:lstStyle>
            <a:lvl1pPr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1pPr>
            <a:lvl2pPr marL="742950" indent="-28575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2pPr>
            <a:lvl3pPr marL="11430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3pPr>
            <a:lvl4pPr marL="16002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4pPr>
            <a:lvl5pPr marL="20574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9pPr>
          </a:lstStyle>
          <a:p>
            <a:pPr algn="r"/>
            <a:r>
              <a:rPr lang="en-US" altLang="zh-CN" sz="1200" b="0" dirty="0">
                <a:latin typeface="Arial" pitchFamily="34" charset="0"/>
                <a:ea typeface="SimHei" panose="02010609060101010101" pitchFamily="49" charset="-122"/>
              </a:rPr>
              <a:t>Read</a:t>
            </a:r>
          </a:p>
          <a:p>
            <a:pPr algn="r"/>
            <a:r>
              <a:rPr lang="en-US" altLang="zh-CN" sz="1200" b="0" dirty="0">
                <a:latin typeface="Arial" pitchFamily="34" charset="0"/>
                <a:ea typeface="SimHei" panose="02010609060101010101" pitchFamily="49" charset="-122"/>
              </a:rPr>
              <a:t> Data 2</a:t>
            </a:r>
          </a:p>
        </p:txBody>
      </p:sp>
      <p:sp>
        <p:nvSpPr>
          <p:cNvPr id="646" name="Line 53">
            <a:extLst>
              <a:ext uri="{FF2B5EF4-FFF2-40B4-BE49-F238E27FC236}">
                <a16:creationId xmlns:a16="http://schemas.microsoft.com/office/drawing/2014/main" id="{FB170175-B52D-32F3-2385-CEA21E3A7A40}"/>
              </a:ext>
            </a:extLst>
          </p:cNvPr>
          <p:cNvSpPr>
            <a:spLocks noChangeShapeType="1"/>
          </p:cNvSpPr>
          <p:nvPr/>
        </p:nvSpPr>
        <p:spPr bwMode="auto">
          <a:xfrm>
            <a:off x="2554865" y="4792309"/>
            <a:ext cx="353986" cy="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647" name="Line 54">
            <a:extLst>
              <a:ext uri="{FF2B5EF4-FFF2-40B4-BE49-F238E27FC236}">
                <a16:creationId xmlns:a16="http://schemas.microsoft.com/office/drawing/2014/main" id="{28C94693-18F3-AA3B-634B-B62885A896FC}"/>
              </a:ext>
            </a:extLst>
          </p:cNvPr>
          <p:cNvSpPr>
            <a:spLocks noChangeShapeType="1"/>
          </p:cNvSpPr>
          <p:nvPr/>
        </p:nvSpPr>
        <p:spPr bwMode="auto">
          <a:xfrm>
            <a:off x="2727430" y="4730576"/>
            <a:ext cx="70797" cy="129407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648" name="Line 55">
            <a:extLst>
              <a:ext uri="{FF2B5EF4-FFF2-40B4-BE49-F238E27FC236}">
                <a16:creationId xmlns:a16="http://schemas.microsoft.com/office/drawing/2014/main" id="{391C58A6-A1C3-5B7C-5C51-2A362A85E28D}"/>
              </a:ext>
            </a:extLst>
          </p:cNvPr>
          <p:cNvSpPr>
            <a:spLocks noChangeShapeType="1"/>
          </p:cNvSpPr>
          <p:nvPr/>
        </p:nvSpPr>
        <p:spPr bwMode="auto">
          <a:xfrm>
            <a:off x="3857232" y="4715974"/>
            <a:ext cx="70797" cy="129407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649" name="Text Box 56">
            <a:extLst>
              <a:ext uri="{FF2B5EF4-FFF2-40B4-BE49-F238E27FC236}">
                <a16:creationId xmlns:a16="http://schemas.microsoft.com/office/drawing/2014/main" id="{A1B39E5A-2261-0945-7D34-1B56917692C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616816" y="4813251"/>
            <a:ext cx="353976" cy="27698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1425" tIns="45713" rIns="91425" bIns="45713">
            <a:spAutoFit/>
          </a:bodyPr>
          <a:lstStyle>
            <a:lvl1pPr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1pPr>
            <a:lvl2pPr marL="742950" indent="-28575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2pPr>
            <a:lvl3pPr marL="11430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3pPr>
            <a:lvl4pPr marL="16002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4pPr>
            <a:lvl5pPr marL="20574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9pPr>
          </a:lstStyle>
          <a:p>
            <a:r>
              <a:rPr lang="en-US" altLang="zh-CN" sz="1200" b="0" dirty="0">
                <a:latin typeface="Arial" pitchFamily="34" charset="0"/>
                <a:ea typeface="SimHei" panose="02010609060101010101" pitchFamily="49" charset="-122"/>
              </a:rPr>
              <a:t>16</a:t>
            </a:r>
          </a:p>
        </p:txBody>
      </p:sp>
      <p:sp>
        <p:nvSpPr>
          <p:cNvPr id="650" name="Text Box 57">
            <a:extLst>
              <a:ext uri="{FF2B5EF4-FFF2-40B4-BE49-F238E27FC236}">
                <a16:creationId xmlns:a16="http://schemas.microsoft.com/office/drawing/2014/main" id="{95AD965F-A536-6B76-CBC5-DB716B0050A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758415" y="4792309"/>
            <a:ext cx="354554" cy="27698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1425" tIns="45713" rIns="91425" bIns="45713">
            <a:spAutoFit/>
          </a:bodyPr>
          <a:lstStyle>
            <a:lvl1pPr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1pPr>
            <a:lvl2pPr marL="742950" indent="-28575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2pPr>
            <a:lvl3pPr marL="11430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3pPr>
            <a:lvl4pPr marL="16002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4pPr>
            <a:lvl5pPr marL="20574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9pPr>
          </a:lstStyle>
          <a:p>
            <a:r>
              <a:rPr lang="en-US" altLang="zh-CN" sz="1200" b="0" dirty="0">
                <a:latin typeface="Arial" pitchFamily="34" charset="0"/>
                <a:ea typeface="SimHei" panose="02010609060101010101" pitchFamily="49" charset="-122"/>
              </a:rPr>
              <a:t>32</a:t>
            </a:r>
          </a:p>
        </p:txBody>
      </p:sp>
      <p:sp>
        <p:nvSpPr>
          <p:cNvPr id="651" name="Line 58">
            <a:extLst>
              <a:ext uri="{FF2B5EF4-FFF2-40B4-BE49-F238E27FC236}">
                <a16:creationId xmlns:a16="http://schemas.microsoft.com/office/drawing/2014/main" id="{3E61B6A4-412E-6041-5F36-897FA3C2A951}"/>
              </a:ext>
            </a:extLst>
          </p:cNvPr>
          <p:cNvSpPr>
            <a:spLocks noChangeShapeType="1"/>
          </p:cNvSpPr>
          <p:nvPr/>
        </p:nvSpPr>
        <p:spPr bwMode="auto">
          <a:xfrm>
            <a:off x="2625662" y="4209981"/>
            <a:ext cx="212391" cy="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652" name="Line 59">
            <a:extLst>
              <a:ext uri="{FF2B5EF4-FFF2-40B4-BE49-F238E27FC236}">
                <a16:creationId xmlns:a16="http://schemas.microsoft.com/office/drawing/2014/main" id="{63D5E6B6-F094-E5B0-2055-EB677729736F}"/>
              </a:ext>
            </a:extLst>
          </p:cNvPr>
          <p:cNvSpPr>
            <a:spLocks noChangeShapeType="1"/>
          </p:cNvSpPr>
          <p:nvPr/>
        </p:nvSpPr>
        <p:spPr bwMode="auto">
          <a:xfrm>
            <a:off x="4424969" y="4339388"/>
            <a:ext cx="0" cy="452922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653" name="Line 60">
            <a:extLst>
              <a:ext uri="{FF2B5EF4-FFF2-40B4-BE49-F238E27FC236}">
                <a16:creationId xmlns:a16="http://schemas.microsoft.com/office/drawing/2014/main" id="{7A773EF1-2BD9-BA04-EB00-A3E3E580A46C}"/>
              </a:ext>
            </a:extLst>
          </p:cNvPr>
          <p:cNvSpPr>
            <a:spLocks noChangeShapeType="1"/>
          </p:cNvSpPr>
          <p:nvPr/>
        </p:nvSpPr>
        <p:spPr bwMode="auto">
          <a:xfrm>
            <a:off x="4041604" y="4015871"/>
            <a:ext cx="141594" cy="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654" name="Line 61">
            <a:extLst>
              <a:ext uri="{FF2B5EF4-FFF2-40B4-BE49-F238E27FC236}">
                <a16:creationId xmlns:a16="http://schemas.microsoft.com/office/drawing/2014/main" id="{5942362E-1025-5AF9-DE50-47B54459ECD7}"/>
              </a:ext>
            </a:extLst>
          </p:cNvPr>
          <p:cNvSpPr>
            <a:spLocks noChangeShapeType="1"/>
          </p:cNvSpPr>
          <p:nvPr/>
        </p:nvSpPr>
        <p:spPr bwMode="auto">
          <a:xfrm>
            <a:off x="2554865" y="3239433"/>
            <a:ext cx="0" cy="1552876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655" name="Line 62">
            <a:extLst>
              <a:ext uri="{FF2B5EF4-FFF2-40B4-BE49-F238E27FC236}">
                <a16:creationId xmlns:a16="http://schemas.microsoft.com/office/drawing/2014/main" id="{1C248BAA-AE4C-87DD-53C3-4CB2D156ED9C}"/>
              </a:ext>
            </a:extLst>
          </p:cNvPr>
          <p:cNvSpPr>
            <a:spLocks noChangeShapeType="1"/>
          </p:cNvSpPr>
          <p:nvPr/>
        </p:nvSpPr>
        <p:spPr bwMode="auto">
          <a:xfrm>
            <a:off x="2554865" y="3239433"/>
            <a:ext cx="283189" cy="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656" name="Line 63">
            <a:extLst>
              <a:ext uri="{FF2B5EF4-FFF2-40B4-BE49-F238E27FC236}">
                <a16:creationId xmlns:a16="http://schemas.microsoft.com/office/drawing/2014/main" id="{8116F12C-498E-3DE7-8B48-F13174D84616}"/>
              </a:ext>
            </a:extLst>
          </p:cNvPr>
          <p:cNvSpPr>
            <a:spLocks noChangeShapeType="1"/>
          </p:cNvSpPr>
          <p:nvPr/>
        </p:nvSpPr>
        <p:spPr bwMode="auto">
          <a:xfrm>
            <a:off x="4324793" y="4015871"/>
            <a:ext cx="615015" cy="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657" name="Line 64">
            <a:extLst>
              <a:ext uri="{FF2B5EF4-FFF2-40B4-BE49-F238E27FC236}">
                <a16:creationId xmlns:a16="http://schemas.microsoft.com/office/drawing/2014/main" id="{34404B48-7E01-1003-2A02-728D45AE84B8}"/>
              </a:ext>
            </a:extLst>
          </p:cNvPr>
          <p:cNvSpPr>
            <a:spLocks noChangeShapeType="1"/>
          </p:cNvSpPr>
          <p:nvPr/>
        </p:nvSpPr>
        <p:spPr bwMode="auto">
          <a:xfrm>
            <a:off x="6220412" y="3821762"/>
            <a:ext cx="141179" cy="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658" name="Freeform 65">
            <a:extLst>
              <a:ext uri="{FF2B5EF4-FFF2-40B4-BE49-F238E27FC236}">
                <a16:creationId xmlns:a16="http://schemas.microsoft.com/office/drawing/2014/main" id="{107B057B-06C8-5AD8-45EB-43656029FA5A}"/>
              </a:ext>
            </a:extLst>
          </p:cNvPr>
          <p:cNvSpPr>
            <a:spLocks/>
          </p:cNvSpPr>
          <p:nvPr/>
        </p:nvSpPr>
        <p:spPr bwMode="auto">
          <a:xfrm>
            <a:off x="5724830" y="3239433"/>
            <a:ext cx="495580" cy="1099954"/>
          </a:xfrm>
          <a:custGeom>
            <a:avLst/>
            <a:gdLst>
              <a:gd name="T0" fmla="*/ 0 w 388"/>
              <a:gd name="T1" fmla="*/ 0 h 1099"/>
              <a:gd name="T2" fmla="*/ 0 w 388"/>
              <a:gd name="T3" fmla="*/ 235 h 1099"/>
              <a:gd name="T4" fmla="*/ 83 w 388"/>
              <a:gd name="T5" fmla="*/ 305 h 1099"/>
              <a:gd name="T6" fmla="*/ 0 w 388"/>
              <a:gd name="T7" fmla="*/ 370 h 1099"/>
              <a:gd name="T8" fmla="*/ 0 w 388"/>
              <a:gd name="T9" fmla="*/ 605 h 1099"/>
              <a:gd name="T10" fmla="*/ 290 w 388"/>
              <a:gd name="T11" fmla="*/ 436 h 1099"/>
              <a:gd name="T12" fmla="*/ 290 w 388"/>
              <a:gd name="T13" fmla="*/ 170 h 1099"/>
              <a:gd name="T14" fmla="*/ 0 w 388"/>
              <a:gd name="T15" fmla="*/ 0 h 1099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0" t="0" r="r" b="b"/>
            <a:pathLst>
              <a:path w="388" h="1099">
                <a:moveTo>
                  <a:pt x="0" y="0"/>
                </a:moveTo>
                <a:lnTo>
                  <a:pt x="0" y="427"/>
                </a:lnTo>
                <a:lnTo>
                  <a:pt x="111" y="553"/>
                </a:lnTo>
                <a:lnTo>
                  <a:pt x="0" y="671"/>
                </a:lnTo>
                <a:lnTo>
                  <a:pt x="0" y="1098"/>
                </a:lnTo>
                <a:lnTo>
                  <a:pt x="387" y="790"/>
                </a:lnTo>
                <a:lnTo>
                  <a:pt x="387" y="308"/>
                </a:lnTo>
                <a:lnTo>
                  <a:pt x="0" y="0"/>
                </a:lnTo>
              </a:path>
            </a:pathLst>
          </a:custGeom>
          <a:noFill/>
          <a:ln w="19050" cap="rnd" cmpd="sng">
            <a:solidFill>
              <a:srgbClr val="000000"/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659" name="Rectangle 66">
            <a:extLst>
              <a:ext uri="{FF2B5EF4-FFF2-40B4-BE49-F238E27FC236}">
                <a16:creationId xmlns:a16="http://schemas.microsoft.com/office/drawing/2014/main" id="{DF78BA94-81C8-0ED0-D3D6-26AC8DC26D18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14802" y="3684524"/>
            <a:ext cx="441007" cy="18496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19047" tIns="26984" rIns="19047" bIns="26984"/>
          <a:lstStyle/>
          <a:p>
            <a:pPr algn="ctr" defTabSz="903288" eaLnBrk="0" hangingPunct="0">
              <a:lnSpc>
                <a:spcPts val="1600"/>
              </a:lnSpc>
              <a:tabLst>
                <a:tab pos="452438" algn="l"/>
                <a:tab pos="903288" algn="l"/>
                <a:tab pos="1357313" algn="l"/>
              </a:tabLst>
            </a:pPr>
            <a:r>
              <a:rPr lang="en-US" altLang="zh-CN" sz="1400" dirty="0">
                <a:solidFill>
                  <a:srgbClr val="000000"/>
                </a:solidFill>
                <a:latin typeface="Arial" pitchFamily="34" charset="0"/>
                <a:ea typeface="SimHei" panose="02010609060101010101" pitchFamily="49" charset="-122"/>
              </a:rPr>
              <a:t>ALU</a:t>
            </a:r>
          </a:p>
        </p:txBody>
      </p:sp>
      <p:sp>
        <p:nvSpPr>
          <p:cNvPr id="661" name="AutoShape 67">
            <a:extLst>
              <a:ext uri="{FF2B5EF4-FFF2-40B4-BE49-F238E27FC236}">
                <a16:creationId xmlns:a16="http://schemas.microsoft.com/office/drawing/2014/main" id="{B014A29E-FCE4-44D3-2156-063BF43735E4}"/>
              </a:ext>
            </a:extLst>
          </p:cNvPr>
          <p:cNvSpPr>
            <a:spLocks noChangeArrowheads="1"/>
          </p:cNvSpPr>
          <p:nvPr/>
        </p:nvSpPr>
        <p:spPr bwMode="auto">
          <a:xfrm rot="16200000">
            <a:off x="5177430" y="4077678"/>
            <a:ext cx="647031" cy="212392"/>
          </a:xfrm>
          <a:custGeom>
            <a:avLst/>
            <a:gdLst>
              <a:gd name="T0" fmla="*/ 9 w 21600"/>
              <a:gd name="T1" fmla="*/ 0 h 21600"/>
              <a:gd name="T2" fmla="*/ 5 w 21600"/>
              <a:gd name="T3" fmla="*/ 1 h 21600"/>
              <a:gd name="T4" fmla="*/ 1 w 21600"/>
              <a:gd name="T5" fmla="*/ 0 h 21600"/>
              <a:gd name="T6" fmla="*/ 5 w 21600"/>
              <a:gd name="T7" fmla="*/ 0 h 21600"/>
              <a:gd name="T8" fmla="*/ 0 60000 65536"/>
              <a:gd name="T9" fmla="*/ 0 60000 65536"/>
              <a:gd name="T10" fmla="*/ 0 60000 65536"/>
              <a:gd name="T11" fmla="*/ 0 60000 65536"/>
              <a:gd name="T12" fmla="*/ 4500 w 21600"/>
              <a:gd name="T13" fmla="*/ 4500 h 21600"/>
              <a:gd name="T14" fmla="*/ 17100 w 21600"/>
              <a:gd name="T15" fmla="*/ 17100 h 21600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21600" h="21600">
                <a:moveTo>
                  <a:pt x="0" y="0"/>
                </a:moveTo>
                <a:lnTo>
                  <a:pt x="5400" y="21600"/>
                </a:lnTo>
                <a:lnTo>
                  <a:pt x="16200" y="21600"/>
                </a:lnTo>
                <a:lnTo>
                  <a:pt x="21600" y="0"/>
                </a:lnTo>
                <a:lnTo>
                  <a:pt x="0" y="0"/>
                </a:lnTo>
                <a:close/>
              </a:path>
            </a:pathLst>
          </a:custGeom>
          <a:noFill/>
          <a:ln w="19050">
            <a:solidFill>
              <a:schemeClr val="tx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662" name="Line 68">
            <a:extLst>
              <a:ext uri="{FF2B5EF4-FFF2-40B4-BE49-F238E27FC236}">
                <a16:creationId xmlns:a16="http://schemas.microsoft.com/office/drawing/2014/main" id="{A8CC4F34-3AF1-2FD6-E4E9-C0981600EC34}"/>
              </a:ext>
            </a:extLst>
          </p:cNvPr>
          <p:cNvSpPr>
            <a:spLocks noChangeShapeType="1"/>
          </p:cNvSpPr>
          <p:nvPr/>
        </p:nvSpPr>
        <p:spPr bwMode="auto">
          <a:xfrm>
            <a:off x="5611830" y="4145278"/>
            <a:ext cx="121886" cy="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663" name="Rectangle 70">
            <a:extLst>
              <a:ext uri="{FF2B5EF4-FFF2-40B4-BE49-F238E27FC236}">
                <a16:creationId xmlns:a16="http://schemas.microsoft.com/office/drawing/2014/main" id="{DAE4086C-1361-5759-0311-1B703EE174DF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19826" y="3908088"/>
            <a:ext cx="112094" cy="6355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19047" tIns="26984" rIns="19047" bIns="26984"/>
          <a:lstStyle/>
          <a:p>
            <a:pPr eaLnBrk="0" hangingPunct="0">
              <a:spcBef>
                <a:spcPts val="600"/>
              </a:spcBef>
              <a:spcAft>
                <a:spcPts val="600"/>
              </a:spcAft>
            </a:pPr>
            <a:r>
              <a:rPr lang="en-US" altLang="zh-CN" sz="1200" dirty="0">
                <a:latin typeface="Arial" pitchFamily="34" charset="0"/>
                <a:ea typeface="SimHei" panose="02010609060101010101" pitchFamily="49" charset="-122"/>
              </a:rPr>
              <a:t>1</a:t>
            </a:r>
          </a:p>
          <a:p>
            <a:pPr eaLnBrk="0" hangingPunct="0">
              <a:spcBef>
                <a:spcPts val="600"/>
              </a:spcBef>
              <a:spcAft>
                <a:spcPts val="600"/>
              </a:spcAft>
            </a:pPr>
            <a:r>
              <a:rPr lang="en-US" altLang="zh-CN" sz="1200" dirty="0">
                <a:latin typeface="Arial" pitchFamily="34" charset="0"/>
                <a:ea typeface="SimHei" panose="02010609060101010101" pitchFamily="49" charset="-122"/>
              </a:rPr>
              <a:t>0</a:t>
            </a:r>
          </a:p>
        </p:txBody>
      </p:sp>
      <p:sp>
        <p:nvSpPr>
          <p:cNvPr id="664" name="Line 71">
            <a:extLst>
              <a:ext uri="{FF2B5EF4-FFF2-40B4-BE49-F238E27FC236}">
                <a16:creationId xmlns:a16="http://schemas.microsoft.com/office/drawing/2014/main" id="{D6209FE5-DBC6-E94C-D408-28A205DA447C}"/>
              </a:ext>
            </a:extLst>
          </p:cNvPr>
          <p:cNvSpPr>
            <a:spLocks noChangeShapeType="1"/>
          </p:cNvSpPr>
          <p:nvPr/>
        </p:nvSpPr>
        <p:spPr bwMode="auto">
          <a:xfrm>
            <a:off x="5278995" y="4409473"/>
            <a:ext cx="115753" cy="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665" name="Line 72">
            <a:extLst>
              <a:ext uri="{FF2B5EF4-FFF2-40B4-BE49-F238E27FC236}">
                <a16:creationId xmlns:a16="http://schemas.microsoft.com/office/drawing/2014/main" id="{B81542E7-84F9-EB60-1903-5230F8F7C426}"/>
              </a:ext>
            </a:extLst>
          </p:cNvPr>
          <p:cNvSpPr>
            <a:spLocks noChangeShapeType="1"/>
          </p:cNvSpPr>
          <p:nvPr/>
        </p:nvSpPr>
        <p:spPr bwMode="auto">
          <a:xfrm>
            <a:off x="4324793" y="3309289"/>
            <a:ext cx="615012" cy="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666" name="Oval 73">
            <a:extLst>
              <a:ext uri="{FF2B5EF4-FFF2-40B4-BE49-F238E27FC236}">
                <a16:creationId xmlns:a16="http://schemas.microsoft.com/office/drawing/2014/main" id="{D8C3AD09-12E3-4A1C-04ED-09FF02D235D7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13797" y="2732034"/>
            <a:ext cx="375559" cy="400437"/>
          </a:xfrm>
          <a:prstGeom prst="ellips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667" name="Rectangle 74">
            <a:extLst>
              <a:ext uri="{FF2B5EF4-FFF2-40B4-BE49-F238E27FC236}">
                <a16:creationId xmlns:a16="http://schemas.microsoft.com/office/drawing/2014/main" id="{7695E216-FCFA-AAE5-6822-80F3BB19E93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85575" y="2818386"/>
            <a:ext cx="411790" cy="223213"/>
          </a:xfrm>
          <a:prstGeom prst="rect">
            <a:avLst/>
          </a:prstGeom>
          <a:noFill/>
          <a:ln w="12700">
            <a:noFill/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19047" tIns="26984" rIns="19047" bIns="26984"/>
          <a:lstStyle/>
          <a:p>
            <a:pPr algn="ctr" defTabSz="903288" eaLnBrk="0" hangingPunct="0">
              <a:lnSpc>
                <a:spcPts val="1600"/>
              </a:lnSpc>
              <a:tabLst>
                <a:tab pos="452438" algn="l"/>
                <a:tab pos="903288" algn="l"/>
                <a:tab pos="1357313" algn="l"/>
              </a:tabLst>
            </a:pPr>
            <a:r>
              <a:rPr lang="en-US" altLang="zh-CN" sz="1400" dirty="0">
                <a:solidFill>
                  <a:srgbClr val="000000"/>
                </a:solidFill>
                <a:latin typeface="Arial" pitchFamily="34" charset="0"/>
                <a:ea typeface="SimHei" panose="02010609060101010101" pitchFamily="49" charset="-122"/>
              </a:rPr>
              <a:t>&lt;&lt;2</a:t>
            </a:r>
          </a:p>
        </p:txBody>
      </p:sp>
      <p:sp>
        <p:nvSpPr>
          <p:cNvPr id="668" name="Line 75">
            <a:extLst>
              <a:ext uri="{FF2B5EF4-FFF2-40B4-BE49-F238E27FC236}">
                <a16:creationId xmlns:a16="http://schemas.microsoft.com/office/drawing/2014/main" id="{088788A6-E6F6-2531-AF2B-76C87776314A}"/>
              </a:ext>
            </a:extLst>
          </p:cNvPr>
          <p:cNvSpPr>
            <a:spLocks noChangeShapeType="1"/>
          </p:cNvSpPr>
          <p:nvPr/>
        </p:nvSpPr>
        <p:spPr bwMode="auto">
          <a:xfrm>
            <a:off x="4424969" y="2969666"/>
            <a:ext cx="287192" cy="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grpSp>
        <p:nvGrpSpPr>
          <p:cNvPr id="669" name="Group 76">
            <a:extLst>
              <a:ext uri="{FF2B5EF4-FFF2-40B4-BE49-F238E27FC236}">
                <a16:creationId xmlns:a16="http://schemas.microsoft.com/office/drawing/2014/main" id="{BA80B4CB-398F-D5EC-D73B-7A76071490BF}"/>
              </a:ext>
            </a:extLst>
          </p:cNvPr>
          <p:cNvGrpSpPr>
            <a:grpSpLocks/>
          </p:cNvGrpSpPr>
          <p:nvPr/>
        </p:nvGrpSpPr>
        <p:grpSpPr bwMode="auto">
          <a:xfrm>
            <a:off x="5933566" y="2405815"/>
            <a:ext cx="331862" cy="776438"/>
            <a:chOff x="1392" y="2880"/>
            <a:chExt cx="288" cy="480"/>
          </a:xfrm>
        </p:grpSpPr>
        <p:sp>
          <p:nvSpPr>
            <p:cNvPr id="670" name="Line 77">
              <a:extLst>
                <a:ext uri="{FF2B5EF4-FFF2-40B4-BE49-F238E27FC236}">
                  <a16:creationId xmlns:a16="http://schemas.microsoft.com/office/drawing/2014/main" id="{D3075ACE-6C35-3037-49AB-FEAE8782F24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92" y="3072"/>
              <a:ext cx="48" cy="48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671" name="Line 78">
              <a:extLst>
                <a:ext uri="{FF2B5EF4-FFF2-40B4-BE49-F238E27FC236}">
                  <a16:creationId xmlns:a16="http://schemas.microsoft.com/office/drawing/2014/main" id="{0ABB338E-B560-B2CC-C64C-B7BCD65A85C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392" y="3120"/>
              <a:ext cx="48" cy="48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672" name="Line 79">
              <a:extLst>
                <a:ext uri="{FF2B5EF4-FFF2-40B4-BE49-F238E27FC236}">
                  <a16:creationId xmlns:a16="http://schemas.microsoft.com/office/drawing/2014/main" id="{7EA77A86-262D-2B58-CD06-3D847825B8C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392" y="2880"/>
              <a:ext cx="0" cy="19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673" name="Line 80">
              <a:extLst>
                <a:ext uri="{FF2B5EF4-FFF2-40B4-BE49-F238E27FC236}">
                  <a16:creationId xmlns:a16="http://schemas.microsoft.com/office/drawing/2014/main" id="{D384B12A-50E0-3FFB-6B81-F14B6428688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392" y="3168"/>
              <a:ext cx="0" cy="19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674" name="Line 81">
              <a:extLst>
                <a:ext uri="{FF2B5EF4-FFF2-40B4-BE49-F238E27FC236}">
                  <a16:creationId xmlns:a16="http://schemas.microsoft.com/office/drawing/2014/main" id="{6C7F45EB-9029-C0A7-ABA9-2916F99F8E6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392" y="3216"/>
              <a:ext cx="288" cy="144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675" name="Line 82">
              <a:extLst>
                <a:ext uri="{FF2B5EF4-FFF2-40B4-BE49-F238E27FC236}">
                  <a16:creationId xmlns:a16="http://schemas.microsoft.com/office/drawing/2014/main" id="{5D90AFC5-BE21-37BA-4D36-3070D282127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680" y="3024"/>
              <a:ext cx="0" cy="19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676" name="Line 83">
              <a:extLst>
                <a:ext uri="{FF2B5EF4-FFF2-40B4-BE49-F238E27FC236}">
                  <a16:creationId xmlns:a16="http://schemas.microsoft.com/office/drawing/2014/main" id="{CAE9AC36-9C46-8F4D-E894-001A87972D8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92" y="2880"/>
              <a:ext cx="288" cy="144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</p:grpSp>
      <p:sp>
        <p:nvSpPr>
          <p:cNvPr id="677" name="Text Box 84">
            <a:extLst>
              <a:ext uri="{FF2B5EF4-FFF2-40B4-BE49-F238E27FC236}">
                <a16:creationId xmlns:a16="http://schemas.microsoft.com/office/drawing/2014/main" id="{81A43375-3B8E-9DF6-4387-9C60D3374CF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99676" y="2669721"/>
            <a:ext cx="457146" cy="27698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1425" tIns="45713" rIns="91425" bIns="45713">
            <a:spAutoFit/>
          </a:bodyPr>
          <a:lstStyle>
            <a:lvl1pPr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1pPr>
            <a:lvl2pPr marL="742950" indent="-28575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2pPr>
            <a:lvl3pPr marL="11430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3pPr>
            <a:lvl4pPr marL="16002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4pPr>
            <a:lvl5pPr marL="20574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9pPr>
          </a:lstStyle>
          <a:p>
            <a:r>
              <a:rPr lang="en-US" altLang="zh-CN" sz="1200" b="0" dirty="0">
                <a:latin typeface="Arial" pitchFamily="34" charset="0"/>
                <a:ea typeface="SimHei" panose="02010609060101010101" pitchFamily="49" charset="-122"/>
              </a:rPr>
              <a:t>Add</a:t>
            </a:r>
          </a:p>
        </p:txBody>
      </p:sp>
      <p:sp>
        <p:nvSpPr>
          <p:cNvPr id="678" name="Line 85">
            <a:extLst>
              <a:ext uri="{FF2B5EF4-FFF2-40B4-BE49-F238E27FC236}">
                <a16:creationId xmlns:a16="http://schemas.microsoft.com/office/drawing/2014/main" id="{FD353E23-41BD-99DC-CD4C-CE5A0B3AA6DF}"/>
              </a:ext>
            </a:extLst>
          </p:cNvPr>
          <p:cNvSpPr>
            <a:spLocks noChangeShapeType="1"/>
          </p:cNvSpPr>
          <p:nvPr/>
        </p:nvSpPr>
        <p:spPr bwMode="auto">
          <a:xfrm>
            <a:off x="5093828" y="2969880"/>
            <a:ext cx="850184" cy="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679" name="Rectangle 86">
            <a:extLst>
              <a:ext uri="{FF2B5EF4-FFF2-40B4-BE49-F238E27FC236}">
                <a16:creationId xmlns:a16="http://schemas.microsoft.com/office/drawing/2014/main" id="{F2AA2CE1-0935-2B12-EE78-B4C4D835FCB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15990" y="3272776"/>
            <a:ext cx="1203552" cy="1040999"/>
          </a:xfrm>
          <a:prstGeom prst="rect">
            <a:avLst/>
          </a:prstGeom>
          <a:noFill/>
          <a:ln w="19050">
            <a:solidFill>
              <a:schemeClr val="tx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680" name="Line 87">
            <a:extLst>
              <a:ext uri="{FF2B5EF4-FFF2-40B4-BE49-F238E27FC236}">
                <a16:creationId xmlns:a16="http://schemas.microsoft.com/office/drawing/2014/main" id="{6DAB76F7-58DF-A4BC-CEC7-25E267BEB493}"/>
              </a:ext>
            </a:extLst>
          </p:cNvPr>
          <p:cNvSpPr>
            <a:spLocks noChangeShapeType="1"/>
          </p:cNvSpPr>
          <p:nvPr/>
        </p:nvSpPr>
        <p:spPr bwMode="auto">
          <a:xfrm>
            <a:off x="6503600" y="3821762"/>
            <a:ext cx="212392" cy="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681" name="Text Box 88">
            <a:extLst>
              <a:ext uri="{FF2B5EF4-FFF2-40B4-BE49-F238E27FC236}">
                <a16:creationId xmlns:a16="http://schemas.microsoft.com/office/drawing/2014/main" id="{32CA0612-B624-B959-24F8-91DC02D5B48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712177" y="3272777"/>
            <a:ext cx="830645" cy="52320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1425" tIns="45713" rIns="91425" bIns="45713">
            <a:spAutoFit/>
          </a:bodyPr>
          <a:lstStyle>
            <a:lvl1pPr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1pPr>
            <a:lvl2pPr marL="742950" indent="-28575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2pPr>
            <a:lvl3pPr marL="11430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3pPr>
            <a:lvl4pPr marL="16002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4pPr>
            <a:lvl5pPr marL="20574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9pPr>
          </a:lstStyle>
          <a:p>
            <a:pPr algn="ctr"/>
            <a:r>
              <a:rPr lang="en-US" altLang="zh-CN" sz="1400" b="0" dirty="0">
                <a:latin typeface="Arial" pitchFamily="34" charset="0"/>
                <a:ea typeface="SimHei" panose="02010609060101010101" pitchFamily="49" charset="-122"/>
              </a:rPr>
              <a:t>Data</a:t>
            </a:r>
          </a:p>
          <a:p>
            <a:pPr algn="ctr"/>
            <a:r>
              <a:rPr lang="en-US" altLang="zh-CN" sz="1400" b="0" dirty="0">
                <a:latin typeface="Arial" pitchFamily="34" charset="0"/>
                <a:ea typeface="SimHei" panose="02010609060101010101" pitchFamily="49" charset="-122"/>
              </a:rPr>
              <a:t>Memory</a:t>
            </a:r>
          </a:p>
        </p:txBody>
      </p:sp>
      <p:sp>
        <p:nvSpPr>
          <p:cNvPr id="682" name="Text Box 89">
            <a:extLst>
              <a:ext uri="{FF2B5EF4-FFF2-40B4-BE49-F238E27FC236}">
                <a16:creationId xmlns:a16="http://schemas.microsoft.com/office/drawing/2014/main" id="{0912DE65-58CE-FEDE-83B1-E0BB8B4096B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645193" y="3692355"/>
            <a:ext cx="747290" cy="27698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1425" tIns="45713" rIns="91425" bIns="45713">
            <a:spAutoFit/>
          </a:bodyPr>
          <a:lstStyle>
            <a:lvl1pPr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1pPr>
            <a:lvl2pPr marL="742950" indent="-28575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2pPr>
            <a:lvl3pPr marL="11430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3pPr>
            <a:lvl4pPr marL="16002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4pPr>
            <a:lvl5pPr marL="20574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9pPr>
          </a:lstStyle>
          <a:p>
            <a:r>
              <a:rPr lang="en-US" altLang="zh-CN" sz="1200" b="0" dirty="0">
                <a:latin typeface="Arial" pitchFamily="34" charset="0"/>
                <a:ea typeface="SimHei" panose="02010609060101010101" pitchFamily="49" charset="-122"/>
              </a:rPr>
              <a:t>Address</a:t>
            </a:r>
          </a:p>
        </p:txBody>
      </p:sp>
      <p:sp>
        <p:nvSpPr>
          <p:cNvPr id="683" name="Text Box 90">
            <a:extLst>
              <a:ext uri="{FF2B5EF4-FFF2-40B4-BE49-F238E27FC236}">
                <a16:creationId xmlns:a16="http://schemas.microsoft.com/office/drawing/2014/main" id="{3F71FFD8-E43E-DFF0-7830-D27384425D2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645193" y="4015871"/>
            <a:ext cx="908039" cy="27698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1425" tIns="45713" rIns="91425" bIns="45713">
            <a:spAutoFit/>
          </a:bodyPr>
          <a:lstStyle>
            <a:lvl1pPr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1pPr>
            <a:lvl2pPr marL="742950" indent="-28575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2pPr>
            <a:lvl3pPr marL="11430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3pPr>
            <a:lvl4pPr marL="16002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4pPr>
            <a:lvl5pPr marL="20574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9pPr>
          </a:lstStyle>
          <a:p>
            <a:r>
              <a:rPr lang="en-US" altLang="zh-CN" sz="1200" b="0" dirty="0">
                <a:latin typeface="Arial" pitchFamily="34" charset="0"/>
                <a:ea typeface="SimHei" panose="02010609060101010101" pitchFamily="49" charset="-122"/>
              </a:rPr>
              <a:t>Write Data</a:t>
            </a:r>
          </a:p>
        </p:txBody>
      </p:sp>
      <p:sp>
        <p:nvSpPr>
          <p:cNvPr id="684" name="Text Box 91">
            <a:extLst>
              <a:ext uri="{FF2B5EF4-FFF2-40B4-BE49-F238E27FC236}">
                <a16:creationId xmlns:a16="http://schemas.microsoft.com/office/drawing/2014/main" id="{0326219F-BD89-2B48-5349-365017706E3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423961" y="3627652"/>
            <a:ext cx="550120" cy="46165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1425" tIns="45713" rIns="91425" bIns="45713">
            <a:spAutoFit/>
          </a:bodyPr>
          <a:lstStyle>
            <a:lvl1pPr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1pPr>
            <a:lvl2pPr marL="742950" indent="-28575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2pPr>
            <a:lvl3pPr marL="11430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3pPr>
            <a:lvl4pPr marL="16002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4pPr>
            <a:lvl5pPr marL="20574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9pPr>
          </a:lstStyle>
          <a:p>
            <a:r>
              <a:rPr lang="en-US" altLang="zh-CN" sz="1200" b="0" dirty="0">
                <a:latin typeface="Arial" pitchFamily="34" charset="0"/>
                <a:ea typeface="SimHei" panose="02010609060101010101" pitchFamily="49" charset="-122"/>
              </a:rPr>
              <a:t>Read</a:t>
            </a:r>
          </a:p>
          <a:p>
            <a:r>
              <a:rPr lang="en-US" altLang="zh-CN" sz="1200" b="0" dirty="0">
                <a:latin typeface="Arial" pitchFamily="34" charset="0"/>
                <a:ea typeface="SimHei" panose="02010609060101010101" pitchFamily="49" charset="-122"/>
              </a:rPr>
              <a:t>Data</a:t>
            </a:r>
          </a:p>
        </p:txBody>
      </p:sp>
      <p:sp>
        <p:nvSpPr>
          <p:cNvPr id="685" name="Line 92">
            <a:extLst>
              <a:ext uri="{FF2B5EF4-FFF2-40B4-BE49-F238E27FC236}">
                <a16:creationId xmlns:a16="http://schemas.microsoft.com/office/drawing/2014/main" id="{811384CE-B7EF-D2B0-B19E-175AA486DA9A}"/>
              </a:ext>
            </a:extLst>
          </p:cNvPr>
          <p:cNvSpPr>
            <a:spLocks noChangeShapeType="1"/>
          </p:cNvSpPr>
          <p:nvPr/>
        </p:nvSpPr>
        <p:spPr bwMode="auto">
          <a:xfrm>
            <a:off x="6500292" y="4145278"/>
            <a:ext cx="215699" cy="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686" name="Line 93">
            <a:extLst>
              <a:ext uri="{FF2B5EF4-FFF2-40B4-BE49-F238E27FC236}">
                <a16:creationId xmlns:a16="http://schemas.microsoft.com/office/drawing/2014/main" id="{1920DBA8-2C13-EF30-A0D2-A3D9BC1026B5}"/>
              </a:ext>
            </a:extLst>
          </p:cNvPr>
          <p:cNvSpPr>
            <a:spLocks noChangeShapeType="1"/>
          </p:cNvSpPr>
          <p:nvPr/>
        </p:nvSpPr>
        <p:spPr bwMode="auto">
          <a:xfrm>
            <a:off x="8202731" y="4145278"/>
            <a:ext cx="212392" cy="134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687" name="AutoShape 94">
            <a:extLst>
              <a:ext uri="{FF2B5EF4-FFF2-40B4-BE49-F238E27FC236}">
                <a16:creationId xmlns:a16="http://schemas.microsoft.com/office/drawing/2014/main" id="{C75CBEDE-6ABB-1A9D-B6B0-CF69F9E3C9FA}"/>
              </a:ext>
            </a:extLst>
          </p:cNvPr>
          <p:cNvSpPr>
            <a:spLocks noChangeArrowheads="1"/>
          </p:cNvSpPr>
          <p:nvPr/>
        </p:nvSpPr>
        <p:spPr bwMode="auto">
          <a:xfrm rot="16200000">
            <a:off x="8230153" y="3877325"/>
            <a:ext cx="582329" cy="212392"/>
          </a:xfrm>
          <a:custGeom>
            <a:avLst/>
            <a:gdLst>
              <a:gd name="T0" fmla="*/ 8 w 21600"/>
              <a:gd name="T1" fmla="*/ 0 h 21600"/>
              <a:gd name="T2" fmla="*/ 4 w 21600"/>
              <a:gd name="T3" fmla="*/ 1 h 21600"/>
              <a:gd name="T4" fmla="*/ 1 w 21600"/>
              <a:gd name="T5" fmla="*/ 0 h 21600"/>
              <a:gd name="T6" fmla="*/ 4 w 21600"/>
              <a:gd name="T7" fmla="*/ 0 h 21600"/>
              <a:gd name="T8" fmla="*/ 0 60000 65536"/>
              <a:gd name="T9" fmla="*/ 0 60000 65536"/>
              <a:gd name="T10" fmla="*/ 0 60000 65536"/>
              <a:gd name="T11" fmla="*/ 0 60000 65536"/>
              <a:gd name="T12" fmla="*/ 4500 w 21600"/>
              <a:gd name="T13" fmla="*/ 4500 h 21600"/>
              <a:gd name="T14" fmla="*/ 17100 w 21600"/>
              <a:gd name="T15" fmla="*/ 17100 h 21600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21600" h="21600">
                <a:moveTo>
                  <a:pt x="0" y="0"/>
                </a:moveTo>
                <a:lnTo>
                  <a:pt x="5400" y="21600"/>
                </a:lnTo>
                <a:lnTo>
                  <a:pt x="16200" y="21600"/>
                </a:lnTo>
                <a:lnTo>
                  <a:pt x="21600" y="0"/>
                </a:lnTo>
                <a:lnTo>
                  <a:pt x="0" y="0"/>
                </a:lnTo>
                <a:close/>
              </a:path>
            </a:pathLst>
          </a:custGeom>
          <a:noFill/>
          <a:ln w="19050">
            <a:solidFill>
              <a:schemeClr val="tx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688" name="Line 98">
            <a:extLst>
              <a:ext uri="{FF2B5EF4-FFF2-40B4-BE49-F238E27FC236}">
                <a16:creationId xmlns:a16="http://schemas.microsoft.com/office/drawing/2014/main" id="{815D24F5-A410-F2D0-BA24-9E4EB802E842}"/>
              </a:ext>
            </a:extLst>
          </p:cNvPr>
          <p:cNvSpPr>
            <a:spLocks noChangeShapeType="1"/>
          </p:cNvSpPr>
          <p:nvPr/>
        </p:nvSpPr>
        <p:spPr bwMode="auto">
          <a:xfrm>
            <a:off x="4041604" y="3309289"/>
            <a:ext cx="141594" cy="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689" name="Line 99">
            <a:extLst>
              <a:ext uri="{FF2B5EF4-FFF2-40B4-BE49-F238E27FC236}">
                <a16:creationId xmlns:a16="http://schemas.microsoft.com/office/drawing/2014/main" id="{A5F5D2C1-6135-B090-96A7-FB254BC1CD38}"/>
              </a:ext>
            </a:extLst>
          </p:cNvPr>
          <p:cNvSpPr>
            <a:spLocks noChangeShapeType="1"/>
          </p:cNvSpPr>
          <p:nvPr/>
        </p:nvSpPr>
        <p:spPr bwMode="auto">
          <a:xfrm>
            <a:off x="2625662" y="4209982"/>
            <a:ext cx="0" cy="1290921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690" name="Line 100">
            <a:extLst>
              <a:ext uri="{FF2B5EF4-FFF2-40B4-BE49-F238E27FC236}">
                <a16:creationId xmlns:a16="http://schemas.microsoft.com/office/drawing/2014/main" id="{23CA6CF9-707D-2142-2E5A-5409B0C4A3AD}"/>
              </a:ext>
            </a:extLst>
          </p:cNvPr>
          <p:cNvSpPr>
            <a:spLocks noChangeShapeType="1"/>
          </p:cNvSpPr>
          <p:nvPr/>
        </p:nvSpPr>
        <p:spPr bwMode="auto">
          <a:xfrm>
            <a:off x="1917690" y="2657105"/>
            <a:ext cx="212392" cy="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691" name="Line 101">
            <a:extLst>
              <a:ext uri="{FF2B5EF4-FFF2-40B4-BE49-F238E27FC236}">
                <a16:creationId xmlns:a16="http://schemas.microsoft.com/office/drawing/2014/main" id="{FAA835D8-FC61-761A-E6E2-0BF6F2EF7DFA}"/>
              </a:ext>
            </a:extLst>
          </p:cNvPr>
          <p:cNvSpPr>
            <a:spLocks noChangeShapeType="1"/>
          </p:cNvSpPr>
          <p:nvPr/>
        </p:nvSpPr>
        <p:spPr bwMode="auto">
          <a:xfrm>
            <a:off x="1209719" y="1815964"/>
            <a:ext cx="849565" cy="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 type="triangle" w="med" len="med"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692" name="Line 102">
            <a:extLst>
              <a:ext uri="{FF2B5EF4-FFF2-40B4-BE49-F238E27FC236}">
                <a16:creationId xmlns:a16="http://schemas.microsoft.com/office/drawing/2014/main" id="{CB79B15F-B940-0569-3431-ED740E7E2C76}"/>
              </a:ext>
            </a:extLst>
          </p:cNvPr>
          <p:cNvSpPr>
            <a:spLocks noChangeShapeType="1"/>
          </p:cNvSpPr>
          <p:nvPr/>
        </p:nvSpPr>
        <p:spPr bwMode="auto">
          <a:xfrm>
            <a:off x="2413270" y="3757059"/>
            <a:ext cx="141594" cy="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693" name="Line 103">
            <a:extLst>
              <a:ext uri="{FF2B5EF4-FFF2-40B4-BE49-F238E27FC236}">
                <a16:creationId xmlns:a16="http://schemas.microsoft.com/office/drawing/2014/main" id="{1D4C8C68-26D1-A6A5-49D4-C3C21F4F776D}"/>
              </a:ext>
            </a:extLst>
          </p:cNvPr>
          <p:cNvSpPr>
            <a:spLocks noChangeShapeType="1"/>
          </p:cNvSpPr>
          <p:nvPr/>
        </p:nvSpPr>
        <p:spPr bwMode="auto">
          <a:xfrm>
            <a:off x="7919542" y="3821762"/>
            <a:ext cx="141267" cy="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694" name="Rectangle 104">
            <a:extLst>
              <a:ext uri="{FF2B5EF4-FFF2-40B4-BE49-F238E27FC236}">
                <a16:creationId xmlns:a16="http://schemas.microsoft.com/office/drawing/2014/main" id="{66098CA0-13D0-75D2-5BB8-07521B89BE5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71676" y="2462995"/>
            <a:ext cx="141594" cy="1876391"/>
          </a:xfrm>
          <a:prstGeom prst="rect">
            <a:avLst/>
          </a:prstGeom>
          <a:pattFill prst="wdUpDiag">
            <a:fgClr>
              <a:schemeClr val="bg1">
                <a:lumMod val="75000"/>
              </a:schemeClr>
            </a:fgClr>
            <a:bgClr>
              <a:schemeClr val="bg1"/>
            </a:bgClr>
          </a:pattFill>
          <a:ln w="19050">
            <a:solidFill>
              <a:schemeClr val="tx1"/>
            </a:solidFill>
            <a:miter lim="800000"/>
            <a:headEnd/>
            <a:tailEnd/>
          </a:ln>
          <a:effectLst/>
        </p:spPr>
        <p:txBody>
          <a:bodyPr wrap="none" anchor="ctr"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695" name="Rectangle 105">
            <a:extLst>
              <a:ext uri="{FF2B5EF4-FFF2-40B4-BE49-F238E27FC236}">
                <a16:creationId xmlns:a16="http://schemas.microsoft.com/office/drawing/2014/main" id="{A378CEFB-20BD-A14B-DC96-227EC391071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83198" y="2462994"/>
            <a:ext cx="147520" cy="2983021"/>
          </a:xfrm>
          <a:prstGeom prst="rect">
            <a:avLst/>
          </a:prstGeom>
          <a:pattFill prst="wdUpDiag">
            <a:fgClr>
              <a:schemeClr val="bg1">
                <a:lumMod val="75000"/>
              </a:schemeClr>
            </a:fgClr>
            <a:bgClr>
              <a:schemeClr val="bg1"/>
            </a:bgClr>
          </a:pattFill>
          <a:ln w="19050">
            <a:solidFill>
              <a:schemeClr val="tx1"/>
            </a:solidFill>
            <a:miter lim="800000"/>
            <a:headEnd/>
            <a:tailEnd/>
          </a:ln>
          <a:effectLst/>
        </p:spPr>
        <p:txBody>
          <a:bodyPr wrap="none" anchor="ctr"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696" name="Line 106">
            <a:extLst>
              <a:ext uri="{FF2B5EF4-FFF2-40B4-BE49-F238E27FC236}">
                <a16:creationId xmlns:a16="http://schemas.microsoft.com/office/drawing/2014/main" id="{B842691F-A5A4-4B0A-714A-BC569DAF92CF}"/>
              </a:ext>
            </a:extLst>
          </p:cNvPr>
          <p:cNvSpPr>
            <a:spLocks noChangeShapeType="1"/>
          </p:cNvSpPr>
          <p:nvPr/>
        </p:nvSpPr>
        <p:spPr bwMode="auto">
          <a:xfrm>
            <a:off x="2059284" y="2657105"/>
            <a:ext cx="212392" cy="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697" name="Line 107">
            <a:extLst>
              <a:ext uri="{FF2B5EF4-FFF2-40B4-BE49-F238E27FC236}">
                <a16:creationId xmlns:a16="http://schemas.microsoft.com/office/drawing/2014/main" id="{859642A6-7841-63B6-AE09-05E391476F73}"/>
              </a:ext>
            </a:extLst>
          </p:cNvPr>
          <p:cNvSpPr>
            <a:spLocks noChangeShapeType="1"/>
          </p:cNvSpPr>
          <p:nvPr/>
        </p:nvSpPr>
        <p:spPr bwMode="auto">
          <a:xfrm>
            <a:off x="2413270" y="2657105"/>
            <a:ext cx="1769928" cy="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698" name="Line 108">
            <a:extLst>
              <a:ext uri="{FF2B5EF4-FFF2-40B4-BE49-F238E27FC236}">
                <a16:creationId xmlns:a16="http://schemas.microsoft.com/office/drawing/2014/main" id="{4B8F9A7C-908E-A7DA-4FCF-2CBC925FD7BD}"/>
              </a:ext>
            </a:extLst>
          </p:cNvPr>
          <p:cNvSpPr>
            <a:spLocks noChangeShapeType="1"/>
          </p:cNvSpPr>
          <p:nvPr/>
        </p:nvSpPr>
        <p:spPr bwMode="auto">
          <a:xfrm>
            <a:off x="6269084" y="2811271"/>
            <a:ext cx="92922" cy="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699" name="Line 109">
            <a:extLst>
              <a:ext uri="{FF2B5EF4-FFF2-40B4-BE49-F238E27FC236}">
                <a16:creationId xmlns:a16="http://schemas.microsoft.com/office/drawing/2014/main" id="{46773D5F-3BF3-CBC8-3F42-27CD5AD7299B}"/>
              </a:ext>
            </a:extLst>
          </p:cNvPr>
          <p:cNvSpPr>
            <a:spLocks noChangeShapeType="1"/>
          </p:cNvSpPr>
          <p:nvPr/>
        </p:nvSpPr>
        <p:spPr bwMode="auto">
          <a:xfrm>
            <a:off x="4324793" y="4792309"/>
            <a:ext cx="100176" cy="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700" name="Line 110">
            <a:extLst>
              <a:ext uri="{FF2B5EF4-FFF2-40B4-BE49-F238E27FC236}">
                <a16:creationId xmlns:a16="http://schemas.microsoft.com/office/drawing/2014/main" id="{94F9F825-61B1-B63B-0272-33A7F078EC90}"/>
              </a:ext>
            </a:extLst>
          </p:cNvPr>
          <p:cNvSpPr>
            <a:spLocks noChangeShapeType="1"/>
          </p:cNvSpPr>
          <p:nvPr/>
        </p:nvSpPr>
        <p:spPr bwMode="auto">
          <a:xfrm>
            <a:off x="4744617" y="4014681"/>
            <a:ext cx="0" cy="665275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701" name="Line 111">
            <a:extLst>
              <a:ext uri="{FF2B5EF4-FFF2-40B4-BE49-F238E27FC236}">
                <a16:creationId xmlns:a16="http://schemas.microsoft.com/office/drawing/2014/main" id="{0BB0F27E-C7A7-CC25-A197-FC0832D7C1F8}"/>
              </a:ext>
            </a:extLst>
          </p:cNvPr>
          <p:cNvSpPr>
            <a:spLocks noChangeShapeType="1"/>
          </p:cNvSpPr>
          <p:nvPr/>
        </p:nvSpPr>
        <p:spPr bwMode="auto">
          <a:xfrm>
            <a:off x="4744616" y="4679956"/>
            <a:ext cx="1616973" cy="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702" name="Rectangle 112">
            <a:extLst>
              <a:ext uri="{FF2B5EF4-FFF2-40B4-BE49-F238E27FC236}">
                <a16:creationId xmlns:a16="http://schemas.microsoft.com/office/drawing/2014/main" id="{5E5B603D-4450-2C7F-E2F6-8B4C4A616C82}"/>
              </a:ext>
            </a:extLst>
          </p:cNvPr>
          <p:cNvSpPr>
            <a:spLocks noChangeArrowheads="1"/>
          </p:cNvSpPr>
          <p:nvPr/>
        </p:nvSpPr>
        <p:spPr bwMode="auto">
          <a:xfrm>
            <a:off x="8061136" y="2980621"/>
            <a:ext cx="141594" cy="2199907"/>
          </a:xfrm>
          <a:prstGeom prst="rect">
            <a:avLst/>
          </a:prstGeom>
          <a:pattFill prst="wdUpDiag">
            <a:fgClr>
              <a:schemeClr val="bg1">
                <a:lumMod val="75000"/>
              </a:schemeClr>
            </a:fgClr>
            <a:bgClr>
              <a:schemeClr val="bg1"/>
            </a:bgClr>
          </a:pattFill>
          <a:ln w="19050">
            <a:solidFill>
              <a:schemeClr val="tx1"/>
            </a:solidFill>
            <a:miter lim="800000"/>
            <a:headEnd/>
            <a:tailEnd/>
          </a:ln>
          <a:effectLst/>
        </p:spPr>
        <p:txBody>
          <a:bodyPr wrap="none" anchor="ctr"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703" name="Line 113">
            <a:extLst>
              <a:ext uri="{FF2B5EF4-FFF2-40B4-BE49-F238E27FC236}">
                <a16:creationId xmlns:a16="http://schemas.microsoft.com/office/drawing/2014/main" id="{46609099-D974-C578-6D6A-62340897D1CC}"/>
              </a:ext>
            </a:extLst>
          </p:cNvPr>
          <p:cNvSpPr>
            <a:spLocks noChangeShapeType="1"/>
          </p:cNvSpPr>
          <p:nvPr/>
        </p:nvSpPr>
        <p:spPr bwMode="auto">
          <a:xfrm>
            <a:off x="6574396" y="4792309"/>
            <a:ext cx="1486740" cy="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704" name="Line 114">
            <a:extLst>
              <a:ext uri="{FF2B5EF4-FFF2-40B4-BE49-F238E27FC236}">
                <a16:creationId xmlns:a16="http://schemas.microsoft.com/office/drawing/2014/main" id="{4B635EE1-82CD-6DF0-315C-CC337F541A99}"/>
              </a:ext>
            </a:extLst>
          </p:cNvPr>
          <p:cNvSpPr>
            <a:spLocks noChangeShapeType="1"/>
          </p:cNvSpPr>
          <p:nvPr/>
        </p:nvSpPr>
        <p:spPr bwMode="auto">
          <a:xfrm>
            <a:off x="8202731" y="3821762"/>
            <a:ext cx="212392" cy="134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705" name="Line 115">
            <a:extLst>
              <a:ext uri="{FF2B5EF4-FFF2-40B4-BE49-F238E27FC236}">
                <a16:creationId xmlns:a16="http://schemas.microsoft.com/office/drawing/2014/main" id="{08309C8E-4343-BBF7-98E4-A93ADB234CBE}"/>
              </a:ext>
            </a:extLst>
          </p:cNvPr>
          <p:cNvSpPr>
            <a:spLocks noChangeShapeType="1"/>
          </p:cNvSpPr>
          <p:nvPr/>
        </p:nvSpPr>
        <p:spPr bwMode="auto">
          <a:xfrm>
            <a:off x="8769107" y="3951169"/>
            <a:ext cx="0" cy="1549734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706" name="Line 116">
            <a:extLst>
              <a:ext uri="{FF2B5EF4-FFF2-40B4-BE49-F238E27FC236}">
                <a16:creationId xmlns:a16="http://schemas.microsoft.com/office/drawing/2014/main" id="{C4596F61-02B5-FD74-EB9C-F7FDE164DC01}"/>
              </a:ext>
            </a:extLst>
          </p:cNvPr>
          <p:cNvSpPr>
            <a:spLocks noChangeShapeType="1"/>
          </p:cNvSpPr>
          <p:nvPr/>
        </p:nvSpPr>
        <p:spPr bwMode="auto">
          <a:xfrm>
            <a:off x="6715990" y="1557153"/>
            <a:ext cx="0" cy="1263435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707" name="Line 117">
            <a:extLst>
              <a:ext uri="{FF2B5EF4-FFF2-40B4-BE49-F238E27FC236}">
                <a16:creationId xmlns:a16="http://schemas.microsoft.com/office/drawing/2014/main" id="{766B00DF-8268-AB39-8D5A-9BB2B4AE626D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362004" y="4145278"/>
            <a:ext cx="141594" cy="647031"/>
          </a:xfrm>
          <a:prstGeom prst="line">
            <a:avLst/>
          </a:prstGeom>
          <a:noFill/>
          <a:ln w="28575" cap="rnd">
            <a:solidFill>
              <a:schemeClr val="accent2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708" name="Line 118">
            <a:extLst>
              <a:ext uri="{FF2B5EF4-FFF2-40B4-BE49-F238E27FC236}">
                <a16:creationId xmlns:a16="http://schemas.microsoft.com/office/drawing/2014/main" id="{B8D41677-D5F5-0DEA-023B-2F4366FA79E6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8061136" y="4145278"/>
            <a:ext cx="141594" cy="647031"/>
          </a:xfrm>
          <a:prstGeom prst="line">
            <a:avLst/>
          </a:prstGeom>
          <a:noFill/>
          <a:ln w="28575" cap="rnd">
            <a:solidFill>
              <a:schemeClr val="tx1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709" name="Text Box 119">
            <a:extLst>
              <a:ext uri="{FF2B5EF4-FFF2-40B4-BE49-F238E27FC236}">
                <a16:creationId xmlns:a16="http://schemas.microsoft.com/office/drawing/2014/main" id="{25DC9BCC-906F-13E0-F031-098155D933F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130082" y="2204183"/>
            <a:ext cx="519664" cy="27698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1425" tIns="45713" rIns="91425" bIns="45713">
            <a:spAutoFit/>
          </a:bodyPr>
          <a:lstStyle>
            <a:lvl1pPr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1pPr>
            <a:lvl2pPr marL="742950" indent="-28575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2pPr>
            <a:lvl3pPr marL="11430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3pPr>
            <a:lvl4pPr marL="16002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4pPr>
            <a:lvl5pPr marL="20574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9pPr>
          </a:lstStyle>
          <a:p>
            <a:r>
              <a:rPr lang="en-US" altLang="zh-CN" sz="1200" b="0" dirty="0">
                <a:latin typeface="Arial" pitchFamily="34" charset="0"/>
                <a:ea typeface="SimHei" panose="02010609060101010101" pitchFamily="49" charset="-122"/>
              </a:rPr>
              <a:t>IF/ID</a:t>
            </a:r>
          </a:p>
        </p:txBody>
      </p:sp>
      <p:sp>
        <p:nvSpPr>
          <p:cNvPr id="710" name="Line 120">
            <a:extLst>
              <a:ext uri="{FF2B5EF4-FFF2-40B4-BE49-F238E27FC236}">
                <a16:creationId xmlns:a16="http://schemas.microsoft.com/office/drawing/2014/main" id="{827D37FD-42CC-4A70-A2F4-B2358249E8B3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424969" y="2973428"/>
            <a:ext cx="0" cy="136595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711" name="Line 121">
            <a:extLst>
              <a:ext uri="{FF2B5EF4-FFF2-40B4-BE49-F238E27FC236}">
                <a16:creationId xmlns:a16="http://schemas.microsoft.com/office/drawing/2014/main" id="{8653FFA5-2500-630B-DC20-AEBF28596617}"/>
              </a:ext>
            </a:extLst>
          </p:cNvPr>
          <p:cNvSpPr>
            <a:spLocks noChangeShapeType="1"/>
          </p:cNvSpPr>
          <p:nvPr/>
        </p:nvSpPr>
        <p:spPr bwMode="auto">
          <a:xfrm>
            <a:off x="3651698" y="4792309"/>
            <a:ext cx="531502" cy="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712" name="Line 122">
            <a:extLst>
              <a:ext uri="{FF2B5EF4-FFF2-40B4-BE49-F238E27FC236}">
                <a16:creationId xmlns:a16="http://schemas.microsoft.com/office/drawing/2014/main" id="{310777BE-7F88-D6BA-95D0-8B1BBF12F666}"/>
              </a:ext>
            </a:extLst>
          </p:cNvPr>
          <p:cNvSpPr>
            <a:spLocks noChangeShapeType="1"/>
          </p:cNvSpPr>
          <p:nvPr/>
        </p:nvSpPr>
        <p:spPr bwMode="auto">
          <a:xfrm>
            <a:off x="4324793" y="2657105"/>
            <a:ext cx="1608030" cy="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713" name="Line 123">
            <a:extLst>
              <a:ext uri="{FF2B5EF4-FFF2-40B4-BE49-F238E27FC236}">
                <a16:creationId xmlns:a16="http://schemas.microsoft.com/office/drawing/2014/main" id="{EB039D52-8EFE-6221-62FE-DEADEAAAB828}"/>
              </a:ext>
            </a:extLst>
          </p:cNvPr>
          <p:cNvSpPr>
            <a:spLocks noChangeShapeType="1"/>
          </p:cNvSpPr>
          <p:nvPr/>
        </p:nvSpPr>
        <p:spPr bwMode="auto">
          <a:xfrm>
            <a:off x="2059284" y="1815964"/>
            <a:ext cx="0" cy="841141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714" name="Line 124">
            <a:extLst>
              <a:ext uri="{FF2B5EF4-FFF2-40B4-BE49-F238E27FC236}">
                <a16:creationId xmlns:a16="http://schemas.microsoft.com/office/drawing/2014/main" id="{8A2E951C-944C-AFE7-89B8-24D41D86FD07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149614" y="3135008"/>
            <a:ext cx="0" cy="36323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715" name="Line 125">
            <a:extLst>
              <a:ext uri="{FF2B5EF4-FFF2-40B4-BE49-F238E27FC236}">
                <a16:creationId xmlns:a16="http://schemas.microsoft.com/office/drawing/2014/main" id="{A0D9BEA0-D1DD-2B24-D234-F12E4E3A71FD}"/>
              </a:ext>
            </a:extLst>
          </p:cNvPr>
          <p:cNvSpPr>
            <a:spLocks noChangeShapeType="1"/>
          </p:cNvSpPr>
          <p:nvPr/>
        </p:nvSpPr>
        <p:spPr bwMode="auto">
          <a:xfrm>
            <a:off x="714139" y="2398293"/>
            <a:ext cx="0" cy="135876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716" name="Rectangle 126">
            <a:extLst>
              <a:ext uri="{FF2B5EF4-FFF2-40B4-BE49-F238E27FC236}">
                <a16:creationId xmlns:a16="http://schemas.microsoft.com/office/drawing/2014/main" id="{D9B50FDB-25C7-CDD1-AEB8-6177A2A8826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62004" y="2462995"/>
            <a:ext cx="141594" cy="2717533"/>
          </a:xfrm>
          <a:prstGeom prst="rect">
            <a:avLst/>
          </a:prstGeom>
          <a:pattFill prst="wdUpDiag">
            <a:fgClr>
              <a:schemeClr val="bg1">
                <a:lumMod val="75000"/>
              </a:schemeClr>
            </a:fgClr>
            <a:bgClr>
              <a:schemeClr val="bg1"/>
            </a:bgClr>
          </a:pattFill>
          <a:ln w="19050">
            <a:solidFill>
              <a:schemeClr val="tx1"/>
            </a:solidFill>
            <a:miter lim="800000"/>
            <a:headEnd/>
            <a:tailEnd/>
          </a:ln>
          <a:effectLst/>
        </p:spPr>
        <p:txBody>
          <a:bodyPr wrap="none" anchor="ctr"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717" name="Oval 127">
            <a:extLst>
              <a:ext uri="{FF2B5EF4-FFF2-40B4-BE49-F238E27FC236}">
                <a16:creationId xmlns:a16="http://schemas.microsoft.com/office/drawing/2014/main" id="{A60C1C97-88E2-BDE3-E3A3-5F6E07B8FAC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08850" y="4598200"/>
            <a:ext cx="755170" cy="388219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718" name="Rectangle 128">
            <a:extLst>
              <a:ext uri="{FF2B5EF4-FFF2-40B4-BE49-F238E27FC236}">
                <a16:creationId xmlns:a16="http://schemas.microsoft.com/office/drawing/2014/main" id="{4FA1AF38-62F2-AFEB-0BC9-25E2AF6DD9E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50444" y="4598200"/>
            <a:ext cx="495580" cy="38821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19047" tIns="26984" rIns="19047" bIns="26984"/>
          <a:lstStyle/>
          <a:p>
            <a:pPr algn="ctr" eaLnBrk="0" hangingPunct="0"/>
            <a:r>
              <a:rPr lang="en-US" altLang="zh-CN" sz="1200" dirty="0" err="1">
                <a:solidFill>
                  <a:srgbClr val="000000"/>
                </a:solidFill>
                <a:latin typeface="Arial" pitchFamily="34" charset="0"/>
                <a:ea typeface="SimHei" panose="02010609060101010101" pitchFamily="49" charset="-122"/>
              </a:rPr>
              <a:t>Imm</a:t>
            </a:r>
            <a:endParaRPr lang="en-US" altLang="zh-CN" sz="1200" dirty="0">
              <a:solidFill>
                <a:srgbClr val="000000"/>
              </a:solidFill>
              <a:latin typeface="Arial" pitchFamily="34" charset="0"/>
              <a:ea typeface="SimHei" panose="02010609060101010101" pitchFamily="49" charset="-122"/>
            </a:endParaRPr>
          </a:p>
          <a:p>
            <a:pPr algn="ctr" eaLnBrk="0" hangingPunct="0"/>
            <a:r>
              <a:rPr lang="en-US" altLang="zh-CN" sz="1200" dirty="0">
                <a:solidFill>
                  <a:srgbClr val="000000"/>
                </a:solidFill>
                <a:latin typeface="Arial" pitchFamily="34" charset="0"/>
                <a:ea typeface="SimHei" panose="02010609060101010101" pitchFamily="49" charset="-122"/>
              </a:rPr>
              <a:t>Extend</a:t>
            </a:r>
          </a:p>
        </p:txBody>
      </p:sp>
      <p:sp>
        <p:nvSpPr>
          <p:cNvPr id="719" name="Line 129">
            <a:extLst>
              <a:ext uri="{FF2B5EF4-FFF2-40B4-BE49-F238E27FC236}">
                <a16:creationId xmlns:a16="http://schemas.microsoft.com/office/drawing/2014/main" id="{1BF040FC-2D9F-FF3B-14E6-1051E4662C3D}"/>
              </a:ext>
            </a:extLst>
          </p:cNvPr>
          <p:cNvSpPr>
            <a:spLocks noChangeShapeType="1"/>
          </p:cNvSpPr>
          <p:nvPr/>
        </p:nvSpPr>
        <p:spPr bwMode="auto">
          <a:xfrm>
            <a:off x="6503599" y="2811271"/>
            <a:ext cx="212392" cy="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720" name="Line 130">
            <a:extLst>
              <a:ext uri="{FF2B5EF4-FFF2-40B4-BE49-F238E27FC236}">
                <a16:creationId xmlns:a16="http://schemas.microsoft.com/office/drawing/2014/main" id="{EC3B0EAD-3F9C-0AA4-4F8B-1EBBFF0D2AAA}"/>
              </a:ext>
            </a:extLst>
          </p:cNvPr>
          <p:cNvSpPr>
            <a:spLocks noChangeShapeType="1"/>
          </p:cNvSpPr>
          <p:nvPr/>
        </p:nvSpPr>
        <p:spPr bwMode="auto">
          <a:xfrm>
            <a:off x="6149614" y="3135009"/>
            <a:ext cx="212392" cy="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721" name="Line 131">
            <a:extLst>
              <a:ext uri="{FF2B5EF4-FFF2-40B4-BE49-F238E27FC236}">
                <a16:creationId xmlns:a16="http://schemas.microsoft.com/office/drawing/2014/main" id="{664F5E13-AD5A-A7D6-8060-E1950683DF5F}"/>
              </a:ext>
            </a:extLst>
          </p:cNvPr>
          <p:cNvSpPr>
            <a:spLocks noChangeShapeType="1"/>
          </p:cNvSpPr>
          <p:nvPr/>
        </p:nvSpPr>
        <p:spPr bwMode="auto">
          <a:xfrm>
            <a:off x="6503598" y="3135009"/>
            <a:ext cx="664387" cy="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 type="none" w="med" len="med"/>
            <a:tailEnd type="non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722" name="Line 132">
            <a:extLst>
              <a:ext uri="{FF2B5EF4-FFF2-40B4-BE49-F238E27FC236}">
                <a16:creationId xmlns:a16="http://schemas.microsoft.com/office/drawing/2014/main" id="{F61F9579-781E-E2EE-E535-12564A266FC0}"/>
              </a:ext>
            </a:extLst>
          </p:cNvPr>
          <p:cNvSpPr>
            <a:spLocks noChangeShapeType="1"/>
          </p:cNvSpPr>
          <p:nvPr/>
        </p:nvSpPr>
        <p:spPr bwMode="auto">
          <a:xfrm>
            <a:off x="6574396" y="3821762"/>
            <a:ext cx="0" cy="97054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723" name="Text Box 133">
            <a:extLst>
              <a:ext uri="{FF2B5EF4-FFF2-40B4-BE49-F238E27FC236}">
                <a16:creationId xmlns:a16="http://schemas.microsoft.com/office/drawing/2014/main" id="{1AC49AD6-950D-C4E8-8B2C-2318390EEF3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70807" y="1686557"/>
            <a:ext cx="586990" cy="27698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1425" tIns="45713" rIns="91425" bIns="45713">
            <a:spAutoFit/>
          </a:bodyPr>
          <a:lstStyle>
            <a:lvl1pPr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1pPr>
            <a:lvl2pPr marL="742950" indent="-28575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2pPr>
            <a:lvl3pPr marL="11430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3pPr>
            <a:lvl4pPr marL="16002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4pPr>
            <a:lvl5pPr marL="20574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9pPr>
          </a:lstStyle>
          <a:p>
            <a:r>
              <a:rPr lang="en-US" altLang="zh-CN" sz="1200" b="0" dirty="0">
                <a:latin typeface="Arial" pitchFamily="34" charset="0"/>
                <a:ea typeface="SimHei" panose="02010609060101010101" pitchFamily="49" charset="-122"/>
              </a:rPr>
              <a:t>ID/EX</a:t>
            </a:r>
          </a:p>
        </p:txBody>
      </p:sp>
      <p:sp>
        <p:nvSpPr>
          <p:cNvPr id="724" name="Text Box 134">
            <a:extLst>
              <a:ext uri="{FF2B5EF4-FFF2-40B4-BE49-F238E27FC236}">
                <a16:creationId xmlns:a16="http://schemas.microsoft.com/office/drawing/2014/main" id="{C8554D51-7492-DA05-CE99-91B83339374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008019" y="1841576"/>
            <a:ext cx="792174" cy="27698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1425" tIns="45713" rIns="91425" bIns="45713">
            <a:spAutoFit/>
          </a:bodyPr>
          <a:lstStyle>
            <a:lvl1pPr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1pPr>
            <a:lvl2pPr marL="742950" indent="-28575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2pPr>
            <a:lvl3pPr marL="11430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3pPr>
            <a:lvl4pPr marL="16002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4pPr>
            <a:lvl5pPr marL="20574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9pPr>
          </a:lstStyle>
          <a:p>
            <a:r>
              <a:rPr lang="en-US" altLang="zh-CN" sz="1200" b="0" dirty="0">
                <a:latin typeface="Arial" pitchFamily="34" charset="0"/>
                <a:ea typeface="SimHei" panose="02010609060101010101" pitchFamily="49" charset="-122"/>
              </a:rPr>
              <a:t>EX/MEM</a:t>
            </a:r>
          </a:p>
        </p:txBody>
      </p:sp>
      <p:sp>
        <p:nvSpPr>
          <p:cNvPr id="725" name="Text Box 135">
            <a:extLst>
              <a:ext uri="{FF2B5EF4-FFF2-40B4-BE49-F238E27FC236}">
                <a16:creationId xmlns:a16="http://schemas.microsoft.com/office/drawing/2014/main" id="{C1F8E0C7-07B4-F17B-4FC5-F6E15AE35BE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77947" y="2535787"/>
            <a:ext cx="835455" cy="27698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1425" tIns="45713" rIns="91425" bIns="45713">
            <a:spAutoFit/>
          </a:bodyPr>
          <a:lstStyle>
            <a:lvl1pPr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1pPr>
            <a:lvl2pPr marL="742950" indent="-28575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2pPr>
            <a:lvl3pPr marL="11430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3pPr>
            <a:lvl4pPr marL="16002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4pPr>
            <a:lvl5pPr marL="20574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9pPr>
          </a:lstStyle>
          <a:p>
            <a:r>
              <a:rPr lang="en-US" altLang="zh-CN" sz="1200" b="0" dirty="0">
                <a:latin typeface="Arial" pitchFamily="34" charset="0"/>
                <a:ea typeface="SimHei" panose="02010609060101010101" pitchFamily="49" charset="-122"/>
              </a:rPr>
              <a:t>MEM/WB</a:t>
            </a:r>
          </a:p>
        </p:txBody>
      </p:sp>
      <p:sp>
        <p:nvSpPr>
          <p:cNvPr id="726" name="Rectangle 137">
            <a:extLst>
              <a:ext uri="{FF2B5EF4-FFF2-40B4-BE49-F238E27FC236}">
                <a16:creationId xmlns:a16="http://schemas.microsoft.com/office/drawing/2014/main" id="{9E9A6B62-8461-A7F8-61F5-D696CF0F4C26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86104" y="2265750"/>
            <a:ext cx="141602" cy="194121"/>
          </a:xfrm>
          <a:prstGeom prst="rect">
            <a:avLst/>
          </a:prstGeom>
          <a:pattFill prst="wdUpDiag">
            <a:fgClr>
              <a:schemeClr val="accent6">
                <a:lumMod val="40000"/>
                <a:lumOff val="60000"/>
              </a:schemeClr>
            </a:fgClr>
            <a:bgClr>
              <a:schemeClr val="bg1"/>
            </a:bgClr>
          </a:pattFill>
          <a:ln w="19050">
            <a:solidFill>
              <a:srgbClr val="00B050"/>
            </a:solidFill>
            <a:miter lim="800000"/>
            <a:headEnd/>
            <a:tailEnd/>
          </a:ln>
          <a:effectLst/>
        </p:spPr>
        <p:txBody>
          <a:bodyPr wrap="none" anchor="ctr"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727" name="Rectangle 138">
            <a:extLst>
              <a:ext uri="{FF2B5EF4-FFF2-40B4-BE49-F238E27FC236}">
                <a16:creationId xmlns:a16="http://schemas.microsoft.com/office/drawing/2014/main" id="{7BDD0D7F-AD41-C422-DDDE-672B2AE0AF7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86104" y="2071628"/>
            <a:ext cx="141602" cy="194121"/>
          </a:xfrm>
          <a:prstGeom prst="rect">
            <a:avLst/>
          </a:prstGeom>
          <a:pattFill prst="wdUpDiag">
            <a:fgClr>
              <a:schemeClr val="accent6">
                <a:lumMod val="40000"/>
                <a:lumOff val="60000"/>
              </a:schemeClr>
            </a:fgClr>
            <a:bgClr>
              <a:schemeClr val="bg1"/>
            </a:bgClr>
          </a:pattFill>
          <a:ln w="19050">
            <a:solidFill>
              <a:srgbClr val="00B050"/>
            </a:solidFill>
            <a:miter lim="800000"/>
            <a:headEnd/>
            <a:tailEnd/>
          </a:ln>
          <a:effectLst/>
        </p:spPr>
        <p:txBody>
          <a:bodyPr wrap="none" anchor="ctr"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728" name="Rectangle 139">
            <a:extLst>
              <a:ext uri="{FF2B5EF4-FFF2-40B4-BE49-F238E27FC236}">
                <a16:creationId xmlns:a16="http://schemas.microsoft.com/office/drawing/2014/main" id="{23F40E0E-5FAC-17EF-52CC-3DCA2272F49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86104" y="1877507"/>
            <a:ext cx="141602" cy="194121"/>
          </a:xfrm>
          <a:prstGeom prst="rect">
            <a:avLst/>
          </a:prstGeom>
          <a:pattFill prst="wdUpDiag">
            <a:fgClr>
              <a:schemeClr val="accent6">
                <a:lumMod val="40000"/>
                <a:lumOff val="60000"/>
              </a:schemeClr>
            </a:fgClr>
            <a:bgClr>
              <a:schemeClr val="bg1"/>
            </a:bgClr>
          </a:pattFill>
          <a:ln w="19050">
            <a:solidFill>
              <a:srgbClr val="00B050"/>
            </a:solidFill>
            <a:miter lim="800000"/>
            <a:headEnd/>
            <a:tailEnd/>
          </a:ln>
          <a:effectLst/>
        </p:spPr>
        <p:txBody>
          <a:bodyPr wrap="none" anchor="ctr"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729" name="Rectangle 140">
            <a:extLst>
              <a:ext uri="{FF2B5EF4-FFF2-40B4-BE49-F238E27FC236}">
                <a16:creationId xmlns:a16="http://schemas.microsoft.com/office/drawing/2014/main" id="{52304159-4C63-9E5A-01D4-0A794421DFC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61590" y="2261462"/>
            <a:ext cx="141602" cy="194121"/>
          </a:xfrm>
          <a:prstGeom prst="rect">
            <a:avLst/>
          </a:prstGeom>
          <a:pattFill prst="wdUpDiag">
            <a:fgClr>
              <a:schemeClr val="accent6">
                <a:lumMod val="40000"/>
                <a:lumOff val="60000"/>
              </a:schemeClr>
            </a:fgClr>
            <a:bgClr>
              <a:schemeClr val="bg1"/>
            </a:bgClr>
          </a:pattFill>
          <a:ln w="19050">
            <a:solidFill>
              <a:srgbClr val="00B050"/>
            </a:solidFill>
            <a:miter lim="800000"/>
            <a:headEnd/>
            <a:tailEnd/>
          </a:ln>
          <a:effectLst/>
        </p:spPr>
        <p:txBody>
          <a:bodyPr wrap="none" anchor="ctr"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730" name="Rectangle 141">
            <a:extLst>
              <a:ext uri="{FF2B5EF4-FFF2-40B4-BE49-F238E27FC236}">
                <a16:creationId xmlns:a16="http://schemas.microsoft.com/office/drawing/2014/main" id="{636D0D1D-5CD3-3880-4B28-E2BBC3C76CB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61590" y="2067340"/>
            <a:ext cx="141602" cy="194121"/>
          </a:xfrm>
          <a:prstGeom prst="rect">
            <a:avLst/>
          </a:prstGeom>
          <a:pattFill prst="wdUpDiag">
            <a:fgClr>
              <a:schemeClr val="accent6">
                <a:lumMod val="40000"/>
                <a:lumOff val="60000"/>
              </a:schemeClr>
            </a:fgClr>
            <a:bgClr>
              <a:schemeClr val="bg1"/>
            </a:bgClr>
          </a:pattFill>
          <a:ln w="19050">
            <a:solidFill>
              <a:srgbClr val="00B050"/>
            </a:solidFill>
            <a:miter lim="800000"/>
            <a:headEnd/>
            <a:tailEnd/>
          </a:ln>
          <a:effectLst/>
        </p:spPr>
        <p:txBody>
          <a:bodyPr wrap="none" anchor="ctr"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731" name="Rectangle 142">
            <a:extLst>
              <a:ext uri="{FF2B5EF4-FFF2-40B4-BE49-F238E27FC236}">
                <a16:creationId xmlns:a16="http://schemas.microsoft.com/office/drawing/2014/main" id="{06D3E381-269C-8A06-8131-F619EAAA7FF9}"/>
              </a:ext>
            </a:extLst>
          </p:cNvPr>
          <p:cNvSpPr>
            <a:spLocks noChangeArrowheads="1"/>
          </p:cNvSpPr>
          <p:nvPr/>
        </p:nvSpPr>
        <p:spPr bwMode="auto">
          <a:xfrm>
            <a:off x="8060809" y="2779308"/>
            <a:ext cx="141602" cy="194121"/>
          </a:xfrm>
          <a:prstGeom prst="rect">
            <a:avLst/>
          </a:prstGeom>
          <a:pattFill prst="wdUpDiag">
            <a:fgClr>
              <a:schemeClr val="accent6">
                <a:lumMod val="40000"/>
                <a:lumOff val="60000"/>
              </a:schemeClr>
            </a:fgClr>
            <a:bgClr>
              <a:schemeClr val="bg1"/>
            </a:bgClr>
          </a:pattFill>
          <a:ln w="19050">
            <a:solidFill>
              <a:srgbClr val="00B050"/>
            </a:solidFill>
            <a:miter lim="800000"/>
            <a:headEnd/>
            <a:tailEnd/>
          </a:ln>
          <a:effectLst/>
        </p:spPr>
        <p:txBody>
          <a:bodyPr wrap="none" anchor="ctr"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732" name="Rectangle 143">
            <a:extLst>
              <a:ext uri="{FF2B5EF4-FFF2-40B4-BE49-F238E27FC236}">
                <a16:creationId xmlns:a16="http://schemas.microsoft.com/office/drawing/2014/main" id="{4C42FB5B-A62D-0933-46FE-D5986F33287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08790" y="2083503"/>
            <a:ext cx="495606" cy="25882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19047" tIns="26984" rIns="19047" bIns="26984"/>
          <a:lstStyle/>
          <a:p>
            <a:pPr algn="ctr" eaLnBrk="0" hangingPunct="0"/>
            <a:r>
              <a:rPr lang="en-US" altLang="zh-CN" sz="1200" dirty="0">
                <a:solidFill>
                  <a:srgbClr val="00B050"/>
                </a:solidFill>
                <a:latin typeface="Arial" pitchFamily="34" charset="0"/>
                <a:ea typeface="SimHei" panose="02010609060101010101" pitchFamily="49" charset="-122"/>
              </a:rPr>
              <a:t>Control</a:t>
            </a:r>
          </a:p>
        </p:txBody>
      </p:sp>
      <p:sp>
        <p:nvSpPr>
          <p:cNvPr id="733" name="Oval 144">
            <a:extLst>
              <a:ext uri="{FF2B5EF4-FFF2-40B4-BE49-F238E27FC236}">
                <a16:creationId xmlns:a16="http://schemas.microsoft.com/office/drawing/2014/main" id="{29E84C96-BCFD-A76F-AEA2-F3A864CC8DB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72705" y="1925080"/>
            <a:ext cx="583741" cy="587588"/>
          </a:xfrm>
          <a:prstGeom prst="ellipse">
            <a:avLst/>
          </a:prstGeom>
          <a:noFill/>
          <a:ln w="19050">
            <a:solidFill>
              <a:srgbClr val="00B05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734" name="Line 145">
            <a:extLst>
              <a:ext uri="{FF2B5EF4-FFF2-40B4-BE49-F238E27FC236}">
                <a16:creationId xmlns:a16="http://schemas.microsoft.com/office/drawing/2014/main" id="{C39E148A-B523-EE14-1EAC-A00AFF165AA8}"/>
              </a:ext>
            </a:extLst>
          </p:cNvPr>
          <p:cNvSpPr>
            <a:spLocks noChangeShapeType="1"/>
          </p:cNvSpPr>
          <p:nvPr/>
        </p:nvSpPr>
        <p:spPr bwMode="auto">
          <a:xfrm>
            <a:off x="2554285" y="2408225"/>
            <a:ext cx="0" cy="841192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735" name="Line 146">
            <a:extLst>
              <a:ext uri="{FF2B5EF4-FFF2-40B4-BE49-F238E27FC236}">
                <a16:creationId xmlns:a16="http://schemas.microsoft.com/office/drawing/2014/main" id="{217D7597-08CD-EAAC-FD83-53DAE57C393D}"/>
              </a:ext>
            </a:extLst>
          </p:cNvPr>
          <p:cNvSpPr>
            <a:spLocks noChangeShapeType="1"/>
          </p:cNvSpPr>
          <p:nvPr/>
        </p:nvSpPr>
        <p:spPr bwMode="auto">
          <a:xfrm>
            <a:off x="2554285" y="2408225"/>
            <a:ext cx="687836" cy="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736" name="Line 147">
            <a:extLst>
              <a:ext uri="{FF2B5EF4-FFF2-40B4-BE49-F238E27FC236}">
                <a16:creationId xmlns:a16="http://schemas.microsoft.com/office/drawing/2014/main" id="{3B3D7BE8-3ADE-4258-DA76-3B1A746DE8EE}"/>
              </a:ext>
            </a:extLst>
          </p:cNvPr>
          <p:cNvSpPr>
            <a:spLocks noChangeShapeType="1"/>
          </p:cNvSpPr>
          <p:nvPr/>
        </p:nvSpPr>
        <p:spPr bwMode="auto">
          <a:xfrm>
            <a:off x="3617590" y="1970280"/>
            <a:ext cx="565114" cy="0"/>
          </a:xfrm>
          <a:prstGeom prst="line">
            <a:avLst/>
          </a:prstGeom>
          <a:noFill/>
          <a:ln w="12700">
            <a:solidFill>
              <a:srgbClr val="00B05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737" name="Line 148">
            <a:extLst>
              <a:ext uri="{FF2B5EF4-FFF2-40B4-BE49-F238E27FC236}">
                <a16:creationId xmlns:a16="http://schemas.microsoft.com/office/drawing/2014/main" id="{537C262C-F1AC-BA61-060A-F82A00D917DE}"/>
              </a:ext>
            </a:extLst>
          </p:cNvPr>
          <p:cNvSpPr>
            <a:spLocks noChangeShapeType="1"/>
          </p:cNvSpPr>
          <p:nvPr/>
        </p:nvSpPr>
        <p:spPr bwMode="auto">
          <a:xfrm>
            <a:off x="3757899" y="2164401"/>
            <a:ext cx="424805" cy="0"/>
          </a:xfrm>
          <a:prstGeom prst="line">
            <a:avLst/>
          </a:prstGeom>
          <a:noFill/>
          <a:ln w="12700">
            <a:solidFill>
              <a:srgbClr val="00B05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738" name="Line 149">
            <a:extLst>
              <a:ext uri="{FF2B5EF4-FFF2-40B4-BE49-F238E27FC236}">
                <a16:creationId xmlns:a16="http://schemas.microsoft.com/office/drawing/2014/main" id="{321CFB62-AA5F-D6D0-A503-AF75C5EAB73F}"/>
              </a:ext>
            </a:extLst>
          </p:cNvPr>
          <p:cNvSpPr>
            <a:spLocks noChangeShapeType="1"/>
          </p:cNvSpPr>
          <p:nvPr/>
        </p:nvSpPr>
        <p:spPr bwMode="auto">
          <a:xfrm>
            <a:off x="3722499" y="2358523"/>
            <a:ext cx="460205" cy="0"/>
          </a:xfrm>
          <a:prstGeom prst="line">
            <a:avLst/>
          </a:prstGeom>
          <a:noFill/>
          <a:ln w="12700">
            <a:solidFill>
              <a:srgbClr val="00B05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739" name="Line 150">
            <a:extLst>
              <a:ext uri="{FF2B5EF4-FFF2-40B4-BE49-F238E27FC236}">
                <a16:creationId xmlns:a16="http://schemas.microsoft.com/office/drawing/2014/main" id="{FC8E3BB9-C5DA-B18B-C85E-5066770D4A0E}"/>
              </a:ext>
            </a:extLst>
          </p:cNvPr>
          <p:cNvSpPr>
            <a:spLocks noChangeShapeType="1"/>
          </p:cNvSpPr>
          <p:nvPr/>
        </p:nvSpPr>
        <p:spPr bwMode="auto">
          <a:xfrm>
            <a:off x="6503192" y="2358523"/>
            <a:ext cx="1557618" cy="452950"/>
          </a:xfrm>
          <a:prstGeom prst="line">
            <a:avLst/>
          </a:prstGeom>
          <a:noFill/>
          <a:ln w="12700">
            <a:solidFill>
              <a:srgbClr val="00B05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740" name="Line 151">
            <a:extLst>
              <a:ext uri="{FF2B5EF4-FFF2-40B4-BE49-F238E27FC236}">
                <a16:creationId xmlns:a16="http://schemas.microsoft.com/office/drawing/2014/main" id="{ACEB9A86-E87F-2264-64C9-CC64C88E92CE}"/>
              </a:ext>
            </a:extLst>
          </p:cNvPr>
          <p:cNvSpPr>
            <a:spLocks noChangeShapeType="1"/>
          </p:cNvSpPr>
          <p:nvPr/>
        </p:nvSpPr>
        <p:spPr bwMode="auto">
          <a:xfrm>
            <a:off x="4324305" y="2358523"/>
            <a:ext cx="2049466" cy="0"/>
          </a:xfrm>
          <a:prstGeom prst="line">
            <a:avLst/>
          </a:prstGeom>
          <a:noFill/>
          <a:ln w="12700">
            <a:solidFill>
              <a:srgbClr val="00B05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741" name="Line 152">
            <a:extLst>
              <a:ext uri="{FF2B5EF4-FFF2-40B4-BE49-F238E27FC236}">
                <a16:creationId xmlns:a16="http://schemas.microsoft.com/office/drawing/2014/main" id="{332F0657-B914-B793-A941-ED75670769A4}"/>
              </a:ext>
            </a:extLst>
          </p:cNvPr>
          <p:cNvSpPr>
            <a:spLocks noChangeShapeType="1"/>
          </p:cNvSpPr>
          <p:nvPr/>
        </p:nvSpPr>
        <p:spPr bwMode="auto">
          <a:xfrm>
            <a:off x="4324305" y="2164401"/>
            <a:ext cx="2037285" cy="0"/>
          </a:xfrm>
          <a:prstGeom prst="line">
            <a:avLst/>
          </a:prstGeom>
          <a:noFill/>
          <a:ln w="12700">
            <a:solidFill>
              <a:srgbClr val="00B05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742" name="Line 154">
            <a:extLst>
              <a:ext uri="{FF2B5EF4-FFF2-40B4-BE49-F238E27FC236}">
                <a16:creationId xmlns:a16="http://schemas.microsoft.com/office/drawing/2014/main" id="{7B862DE6-B30A-2BED-0D6C-E3635A479F31}"/>
              </a:ext>
            </a:extLst>
          </p:cNvPr>
          <p:cNvSpPr>
            <a:spLocks noChangeShapeType="1"/>
          </p:cNvSpPr>
          <p:nvPr/>
        </p:nvSpPr>
        <p:spPr bwMode="auto">
          <a:xfrm>
            <a:off x="8556415" y="2876181"/>
            <a:ext cx="0" cy="258828"/>
          </a:xfrm>
          <a:prstGeom prst="line">
            <a:avLst/>
          </a:prstGeom>
          <a:noFill/>
          <a:ln w="12700">
            <a:solidFill>
              <a:srgbClr val="00B05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743" name="Line 155">
            <a:extLst>
              <a:ext uri="{FF2B5EF4-FFF2-40B4-BE49-F238E27FC236}">
                <a16:creationId xmlns:a16="http://schemas.microsoft.com/office/drawing/2014/main" id="{73ED9594-181C-AADC-6681-FFAE779F4802}"/>
              </a:ext>
            </a:extLst>
          </p:cNvPr>
          <p:cNvSpPr>
            <a:spLocks noChangeShapeType="1"/>
          </p:cNvSpPr>
          <p:nvPr/>
        </p:nvSpPr>
        <p:spPr bwMode="auto">
          <a:xfrm>
            <a:off x="6503192" y="2164401"/>
            <a:ext cx="323304" cy="0"/>
          </a:xfrm>
          <a:prstGeom prst="line">
            <a:avLst/>
          </a:prstGeom>
          <a:noFill/>
          <a:ln w="12700">
            <a:solidFill>
              <a:srgbClr val="00B05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744" name="Line 156">
            <a:extLst>
              <a:ext uri="{FF2B5EF4-FFF2-40B4-BE49-F238E27FC236}">
                <a16:creationId xmlns:a16="http://schemas.microsoft.com/office/drawing/2014/main" id="{410F2C4B-4B3B-A586-3794-9BC6508336CB}"/>
              </a:ext>
            </a:extLst>
          </p:cNvPr>
          <p:cNvSpPr>
            <a:spLocks noChangeShapeType="1"/>
          </p:cNvSpPr>
          <p:nvPr/>
        </p:nvSpPr>
        <p:spPr bwMode="auto">
          <a:xfrm>
            <a:off x="8202411" y="2876181"/>
            <a:ext cx="354004" cy="0"/>
          </a:xfrm>
          <a:prstGeom prst="line">
            <a:avLst/>
          </a:prstGeom>
          <a:noFill/>
          <a:ln w="12700">
            <a:solidFill>
              <a:srgbClr val="00B05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745" name="Line 157">
            <a:extLst>
              <a:ext uri="{FF2B5EF4-FFF2-40B4-BE49-F238E27FC236}">
                <a16:creationId xmlns:a16="http://schemas.microsoft.com/office/drawing/2014/main" id="{9961F56C-6788-69F5-9D88-79A57ED8DF1E}"/>
              </a:ext>
            </a:extLst>
          </p:cNvPr>
          <p:cNvSpPr>
            <a:spLocks noChangeShapeType="1"/>
          </p:cNvSpPr>
          <p:nvPr/>
        </p:nvSpPr>
        <p:spPr bwMode="auto">
          <a:xfrm>
            <a:off x="6826496" y="2164400"/>
            <a:ext cx="0" cy="129414"/>
          </a:xfrm>
          <a:prstGeom prst="line">
            <a:avLst/>
          </a:prstGeom>
          <a:noFill/>
          <a:ln w="12700">
            <a:solidFill>
              <a:srgbClr val="00B05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746" name="Rectangle 40">
            <a:extLst>
              <a:ext uri="{FF2B5EF4-FFF2-40B4-BE49-F238E27FC236}">
                <a16:creationId xmlns:a16="http://schemas.microsoft.com/office/drawing/2014/main" id="{C05EDFAC-9F85-C565-815A-EAAE46C86538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8428416" y="3724707"/>
            <a:ext cx="148229" cy="57136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19047" tIns="26984" rIns="19047" bIns="26984"/>
          <a:lstStyle/>
          <a:p>
            <a:pPr eaLnBrk="0" hangingPunct="0">
              <a:spcBef>
                <a:spcPts val="600"/>
              </a:spcBef>
              <a:spcAft>
                <a:spcPts val="600"/>
              </a:spcAft>
            </a:pPr>
            <a:r>
              <a:rPr lang="en-US" altLang="zh-CN" sz="1200" dirty="0">
                <a:latin typeface="Arial" pitchFamily="34" charset="0"/>
                <a:ea typeface="SimHei" panose="02010609060101010101" pitchFamily="49" charset="-122"/>
              </a:rPr>
              <a:t>1</a:t>
            </a:r>
          </a:p>
          <a:p>
            <a:pPr eaLnBrk="0" hangingPunct="0">
              <a:spcBef>
                <a:spcPts val="600"/>
              </a:spcBef>
              <a:spcAft>
                <a:spcPts val="600"/>
              </a:spcAft>
            </a:pPr>
            <a:r>
              <a:rPr lang="en-US" altLang="zh-CN" sz="1200" dirty="0">
                <a:latin typeface="Arial" pitchFamily="34" charset="0"/>
                <a:ea typeface="SimHei" panose="02010609060101010101" pitchFamily="49" charset="-122"/>
              </a:rPr>
              <a:t>0</a:t>
            </a:r>
          </a:p>
        </p:txBody>
      </p:sp>
      <p:sp>
        <p:nvSpPr>
          <p:cNvPr id="747" name="Line 118">
            <a:extLst>
              <a:ext uri="{FF2B5EF4-FFF2-40B4-BE49-F238E27FC236}">
                <a16:creationId xmlns:a16="http://schemas.microsoft.com/office/drawing/2014/main" id="{68863DA1-1AC6-22B0-85D3-BD79F9A1EAAF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368281" y="4166220"/>
            <a:ext cx="115611" cy="525875"/>
          </a:xfrm>
          <a:prstGeom prst="line">
            <a:avLst/>
          </a:prstGeom>
          <a:noFill/>
          <a:ln w="28575" cap="rnd">
            <a:solidFill>
              <a:schemeClr val="tx1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748" name="Line 13">
            <a:extLst>
              <a:ext uri="{FF2B5EF4-FFF2-40B4-BE49-F238E27FC236}">
                <a16:creationId xmlns:a16="http://schemas.microsoft.com/office/drawing/2014/main" id="{14408200-E18E-3361-7314-9DCB73866B88}"/>
              </a:ext>
            </a:extLst>
          </p:cNvPr>
          <p:cNvSpPr>
            <a:spLocks noChangeShapeType="1"/>
          </p:cNvSpPr>
          <p:nvPr/>
        </p:nvSpPr>
        <p:spPr bwMode="auto">
          <a:xfrm>
            <a:off x="8627513" y="3951169"/>
            <a:ext cx="141594" cy="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749" name="Line 110">
            <a:extLst>
              <a:ext uri="{FF2B5EF4-FFF2-40B4-BE49-F238E27FC236}">
                <a16:creationId xmlns:a16="http://schemas.microsoft.com/office/drawing/2014/main" id="{57CF710E-BE2B-6903-6887-2EE5C819EB68}"/>
              </a:ext>
            </a:extLst>
          </p:cNvPr>
          <p:cNvSpPr>
            <a:spLocks noChangeShapeType="1"/>
          </p:cNvSpPr>
          <p:nvPr/>
        </p:nvSpPr>
        <p:spPr bwMode="auto">
          <a:xfrm>
            <a:off x="2554285" y="5051121"/>
            <a:ext cx="0" cy="220715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750" name="Line 8">
            <a:extLst>
              <a:ext uri="{FF2B5EF4-FFF2-40B4-BE49-F238E27FC236}">
                <a16:creationId xmlns:a16="http://schemas.microsoft.com/office/drawing/2014/main" id="{CDBF465F-0CFA-86DE-8041-55190EA0B5CB}"/>
              </a:ext>
            </a:extLst>
          </p:cNvPr>
          <p:cNvSpPr>
            <a:spLocks noChangeShapeType="1"/>
          </p:cNvSpPr>
          <p:nvPr/>
        </p:nvSpPr>
        <p:spPr bwMode="auto">
          <a:xfrm>
            <a:off x="2554285" y="5268566"/>
            <a:ext cx="1628334" cy="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751" name="Line 9">
            <a:extLst>
              <a:ext uri="{FF2B5EF4-FFF2-40B4-BE49-F238E27FC236}">
                <a16:creationId xmlns:a16="http://schemas.microsoft.com/office/drawing/2014/main" id="{6A3C526B-524B-A5B3-9166-00CF6077452E}"/>
              </a:ext>
            </a:extLst>
          </p:cNvPr>
          <p:cNvSpPr>
            <a:spLocks noChangeShapeType="1"/>
          </p:cNvSpPr>
          <p:nvPr/>
        </p:nvSpPr>
        <p:spPr bwMode="auto">
          <a:xfrm>
            <a:off x="4330717" y="5268566"/>
            <a:ext cx="1602106" cy="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752" name="AutoShape 67">
            <a:extLst>
              <a:ext uri="{FF2B5EF4-FFF2-40B4-BE49-F238E27FC236}">
                <a16:creationId xmlns:a16="http://schemas.microsoft.com/office/drawing/2014/main" id="{1775E214-FF4E-3F5B-EE54-69E23DF301BF}"/>
              </a:ext>
            </a:extLst>
          </p:cNvPr>
          <p:cNvSpPr>
            <a:spLocks noChangeArrowheads="1"/>
          </p:cNvSpPr>
          <p:nvPr/>
        </p:nvSpPr>
        <p:spPr bwMode="auto">
          <a:xfrm rot="16200000">
            <a:off x="5775075" y="5004310"/>
            <a:ext cx="527012" cy="220622"/>
          </a:xfrm>
          <a:custGeom>
            <a:avLst/>
            <a:gdLst>
              <a:gd name="T0" fmla="*/ 9 w 21600"/>
              <a:gd name="T1" fmla="*/ 0 h 21600"/>
              <a:gd name="T2" fmla="*/ 5 w 21600"/>
              <a:gd name="T3" fmla="*/ 1 h 21600"/>
              <a:gd name="T4" fmla="*/ 1 w 21600"/>
              <a:gd name="T5" fmla="*/ 0 h 21600"/>
              <a:gd name="T6" fmla="*/ 5 w 21600"/>
              <a:gd name="T7" fmla="*/ 0 h 21600"/>
              <a:gd name="T8" fmla="*/ 0 60000 65536"/>
              <a:gd name="T9" fmla="*/ 0 60000 65536"/>
              <a:gd name="T10" fmla="*/ 0 60000 65536"/>
              <a:gd name="T11" fmla="*/ 0 60000 65536"/>
              <a:gd name="T12" fmla="*/ 4500 w 21600"/>
              <a:gd name="T13" fmla="*/ 4500 h 21600"/>
              <a:gd name="T14" fmla="*/ 17100 w 21600"/>
              <a:gd name="T15" fmla="*/ 17100 h 21600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21600" h="21600">
                <a:moveTo>
                  <a:pt x="0" y="0"/>
                </a:moveTo>
                <a:lnTo>
                  <a:pt x="5400" y="21600"/>
                </a:lnTo>
                <a:lnTo>
                  <a:pt x="16200" y="21600"/>
                </a:lnTo>
                <a:lnTo>
                  <a:pt x="21600" y="0"/>
                </a:lnTo>
                <a:lnTo>
                  <a:pt x="0" y="0"/>
                </a:lnTo>
                <a:close/>
              </a:path>
            </a:pathLst>
          </a:custGeom>
          <a:noFill/>
          <a:ln w="19050">
            <a:solidFill>
              <a:schemeClr val="tx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753" name="Rectangle 70">
            <a:extLst>
              <a:ext uri="{FF2B5EF4-FFF2-40B4-BE49-F238E27FC236}">
                <a16:creationId xmlns:a16="http://schemas.microsoft.com/office/drawing/2014/main" id="{2AA0FA97-4DC5-3FA7-31CC-4C8E8BE58218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23285" y="4842130"/>
            <a:ext cx="110574" cy="56437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19047" tIns="26984" rIns="19047" bIns="26984"/>
          <a:lstStyle/>
          <a:p>
            <a:pPr eaLnBrk="0" hangingPunct="0">
              <a:spcBef>
                <a:spcPts val="600"/>
              </a:spcBef>
              <a:spcAft>
                <a:spcPts val="600"/>
              </a:spcAft>
            </a:pPr>
            <a:r>
              <a:rPr lang="en-US" altLang="zh-CN" sz="1200" dirty="0">
                <a:latin typeface="Arial" pitchFamily="34" charset="0"/>
                <a:ea typeface="SimHei" panose="02010609060101010101" pitchFamily="49" charset="-122"/>
              </a:rPr>
              <a:t>0</a:t>
            </a:r>
          </a:p>
          <a:p>
            <a:pPr eaLnBrk="0" hangingPunct="0">
              <a:spcBef>
                <a:spcPts val="600"/>
              </a:spcBef>
              <a:spcAft>
                <a:spcPts val="600"/>
              </a:spcAft>
            </a:pPr>
            <a:r>
              <a:rPr lang="en-US" altLang="zh-CN" sz="1200" dirty="0">
                <a:latin typeface="Arial" pitchFamily="34" charset="0"/>
                <a:ea typeface="SimHei" panose="02010609060101010101" pitchFamily="49" charset="-122"/>
              </a:rPr>
              <a:t>1</a:t>
            </a:r>
          </a:p>
        </p:txBody>
      </p:sp>
      <p:sp>
        <p:nvSpPr>
          <p:cNvPr id="754" name="Line 10">
            <a:extLst>
              <a:ext uri="{FF2B5EF4-FFF2-40B4-BE49-F238E27FC236}">
                <a16:creationId xmlns:a16="http://schemas.microsoft.com/office/drawing/2014/main" id="{5E10BC70-B987-459B-465E-11845A10AFF0}"/>
              </a:ext>
            </a:extLst>
          </p:cNvPr>
          <p:cNvSpPr>
            <a:spLocks noChangeShapeType="1"/>
          </p:cNvSpPr>
          <p:nvPr/>
        </p:nvSpPr>
        <p:spPr bwMode="auto">
          <a:xfrm>
            <a:off x="6155497" y="5051121"/>
            <a:ext cx="200625" cy="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755" name="Line 153">
            <a:extLst>
              <a:ext uri="{FF2B5EF4-FFF2-40B4-BE49-F238E27FC236}">
                <a16:creationId xmlns:a16="http://schemas.microsoft.com/office/drawing/2014/main" id="{D739DA4E-71E8-B7FF-60DC-DD01FC564B49}"/>
              </a:ext>
            </a:extLst>
          </p:cNvPr>
          <p:cNvSpPr>
            <a:spLocks noChangeShapeType="1"/>
          </p:cNvSpPr>
          <p:nvPr/>
        </p:nvSpPr>
        <p:spPr bwMode="auto">
          <a:xfrm>
            <a:off x="3617590" y="2462274"/>
            <a:ext cx="312768" cy="0"/>
          </a:xfrm>
          <a:prstGeom prst="line">
            <a:avLst/>
          </a:prstGeom>
          <a:noFill/>
          <a:ln w="12700">
            <a:solidFill>
              <a:srgbClr val="00B05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756" name="Line 158">
            <a:extLst>
              <a:ext uri="{FF2B5EF4-FFF2-40B4-BE49-F238E27FC236}">
                <a16:creationId xmlns:a16="http://schemas.microsoft.com/office/drawing/2014/main" id="{E3DCC74E-4525-FBCC-E8AC-8FDC98883F79}"/>
              </a:ext>
            </a:extLst>
          </p:cNvPr>
          <p:cNvSpPr>
            <a:spLocks noChangeShapeType="1"/>
          </p:cNvSpPr>
          <p:nvPr/>
        </p:nvSpPr>
        <p:spPr bwMode="auto">
          <a:xfrm>
            <a:off x="3926629" y="2460861"/>
            <a:ext cx="0" cy="109724"/>
          </a:xfrm>
          <a:prstGeom prst="line">
            <a:avLst/>
          </a:prstGeom>
          <a:noFill/>
          <a:ln w="12700">
            <a:solidFill>
              <a:srgbClr val="00B05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757" name="Text Box 30">
            <a:extLst>
              <a:ext uri="{FF2B5EF4-FFF2-40B4-BE49-F238E27FC236}">
                <a16:creationId xmlns:a16="http://schemas.microsoft.com/office/drawing/2014/main" id="{3466B516-2818-169A-155B-5BB41721D8A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22383" y="2928858"/>
            <a:ext cx="500428" cy="27698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1425" tIns="45713" rIns="91425" bIns="45713">
            <a:spAutoFit/>
          </a:bodyPr>
          <a:lstStyle>
            <a:lvl1pPr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1pPr>
            <a:lvl2pPr marL="742950" indent="-28575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2pPr>
            <a:lvl3pPr marL="11430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3pPr>
            <a:lvl4pPr marL="16002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4pPr>
            <a:lvl5pPr marL="20574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9pPr>
          </a:lstStyle>
          <a:p>
            <a:r>
              <a:rPr lang="en-US" altLang="zh-CN" sz="1200" b="0" dirty="0">
                <a:latin typeface="Arial" pitchFamily="34" charset="0"/>
                <a:ea typeface="SimHei" panose="02010609060101010101" pitchFamily="49" charset="-122"/>
              </a:rPr>
              <a:t>Zero</a:t>
            </a:r>
          </a:p>
        </p:txBody>
      </p:sp>
      <p:sp>
        <p:nvSpPr>
          <p:cNvPr id="758" name="流程图: 延期 757">
            <a:extLst>
              <a:ext uri="{FF2B5EF4-FFF2-40B4-BE49-F238E27FC236}">
                <a16:creationId xmlns:a16="http://schemas.microsoft.com/office/drawing/2014/main" id="{EC194CF6-7B0D-7398-4EAA-2D6D165E23B7}"/>
              </a:ext>
            </a:extLst>
          </p:cNvPr>
          <p:cNvSpPr/>
          <p:nvPr/>
        </p:nvSpPr>
        <p:spPr>
          <a:xfrm rot="16200000">
            <a:off x="7073458" y="1609120"/>
            <a:ext cx="384834" cy="355717"/>
          </a:xfrm>
          <a:prstGeom prst="flowChartDelay">
            <a:avLst/>
          </a:prstGeom>
          <a:noFill/>
          <a:ln w="19050"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759" name="Line 124">
            <a:extLst>
              <a:ext uri="{FF2B5EF4-FFF2-40B4-BE49-F238E27FC236}">
                <a16:creationId xmlns:a16="http://schemas.microsoft.com/office/drawing/2014/main" id="{A0A63586-7363-9CAF-C5D0-54BF08FBD506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7167985" y="1982780"/>
            <a:ext cx="0" cy="115222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 type="none" w="med" len="med"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760" name="Line 124">
            <a:extLst>
              <a:ext uri="{FF2B5EF4-FFF2-40B4-BE49-F238E27FC236}">
                <a16:creationId xmlns:a16="http://schemas.microsoft.com/office/drawing/2014/main" id="{0A7C0408-39E9-BA75-79BB-E56956B80BE9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7341420" y="1978731"/>
            <a:ext cx="0" cy="250376"/>
          </a:xfrm>
          <a:prstGeom prst="line">
            <a:avLst/>
          </a:prstGeom>
          <a:noFill/>
          <a:ln w="12700">
            <a:solidFill>
              <a:srgbClr val="00B050"/>
            </a:solidFill>
            <a:round/>
            <a:headEnd type="none" w="med" len="med"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761" name="Text Box 30">
            <a:extLst>
              <a:ext uri="{FF2B5EF4-FFF2-40B4-BE49-F238E27FC236}">
                <a16:creationId xmlns:a16="http://schemas.microsoft.com/office/drawing/2014/main" id="{79E89766-EE99-EB2E-763C-0BC23546C3B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287565" y="2107113"/>
            <a:ext cx="670346" cy="27698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1425" tIns="45713" rIns="91425" bIns="45713">
            <a:spAutoFit/>
          </a:bodyPr>
          <a:lstStyle>
            <a:lvl1pPr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1pPr>
            <a:lvl2pPr marL="742950" indent="-28575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2pPr>
            <a:lvl3pPr marL="11430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3pPr>
            <a:lvl4pPr marL="16002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4pPr>
            <a:lvl5pPr marL="20574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9pPr>
          </a:lstStyle>
          <a:p>
            <a:r>
              <a:rPr lang="en-US" altLang="zh-CN" sz="1200" b="0" dirty="0">
                <a:solidFill>
                  <a:srgbClr val="00B050"/>
                </a:solidFill>
                <a:latin typeface="Arial" pitchFamily="34" charset="0"/>
                <a:ea typeface="SimHei" panose="02010609060101010101" pitchFamily="49" charset="-122"/>
              </a:rPr>
              <a:t>Branch</a:t>
            </a:r>
          </a:p>
        </p:txBody>
      </p:sp>
      <p:sp>
        <p:nvSpPr>
          <p:cNvPr id="762" name="Line 153">
            <a:extLst>
              <a:ext uri="{FF2B5EF4-FFF2-40B4-BE49-F238E27FC236}">
                <a16:creationId xmlns:a16="http://schemas.microsoft.com/office/drawing/2014/main" id="{516E8746-EF71-F4A7-1C21-23F6D87BCB08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422769" y="2876181"/>
            <a:ext cx="0" cy="231357"/>
          </a:xfrm>
          <a:prstGeom prst="line">
            <a:avLst/>
          </a:prstGeom>
          <a:noFill/>
          <a:ln w="12700">
            <a:solidFill>
              <a:srgbClr val="00B05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763" name="Text Box 30">
            <a:extLst>
              <a:ext uri="{FF2B5EF4-FFF2-40B4-BE49-F238E27FC236}">
                <a16:creationId xmlns:a16="http://schemas.microsoft.com/office/drawing/2014/main" id="{671986FC-19E2-3FBC-5611-BB1F2F30CA0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79449" y="2737305"/>
            <a:ext cx="659574" cy="27698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1425" tIns="45713" rIns="91425" bIns="45713">
            <a:spAutoFit/>
          </a:bodyPr>
          <a:lstStyle>
            <a:lvl1pPr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1pPr>
            <a:lvl2pPr marL="742950" indent="-28575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2pPr>
            <a:lvl3pPr marL="11430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3pPr>
            <a:lvl4pPr marL="16002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4pPr>
            <a:lvl5pPr marL="20574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9pPr>
          </a:lstStyle>
          <a:p>
            <a:r>
              <a:rPr lang="en-US" altLang="zh-CN" sz="1200" b="0" dirty="0" err="1">
                <a:solidFill>
                  <a:srgbClr val="00B050"/>
                </a:solidFill>
                <a:latin typeface="Arial" pitchFamily="34" charset="0"/>
                <a:ea typeface="SimHei" panose="02010609060101010101" pitchFamily="49" charset="-122"/>
              </a:rPr>
              <a:t>RegWr</a:t>
            </a:r>
            <a:endParaRPr lang="en-US" altLang="zh-CN" sz="1200" b="0" dirty="0">
              <a:solidFill>
                <a:srgbClr val="00B050"/>
              </a:solidFill>
              <a:latin typeface="Arial" pitchFamily="34" charset="0"/>
              <a:ea typeface="SimHei" panose="02010609060101010101" pitchFamily="49" charset="-122"/>
            </a:endParaRPr>
          </a:p>
        </p:txBody>
      </p:sp>
      <p:sp>
        <p:nvSpPr>
          <p:cNvPr id="764" name="Line 153">
            <a:extLst>
              <a:ext uri="{FF2B5EF4-FFF2-40B4-BE49-F238E27FC236}">
                <a16:creationId xmlns:a16="http://schemas.microsoft.com/office/drawing/2014/main" id="{028A2CD4-15E5-9F17-BF9B-AE5D9F906206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7267595" y="1357840"/>
            <a:ext cx="0" cy="236722"/>
          </a:xfrm>
          <a:prstGeom prst="line">
            <a:avLst/>
          </a:prstGeom>
          <a:noFill/>
          <a:ln w="12700">
            <a:solidFill>
              <a:srgbClr val="00B05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765" name="Line 153">
            <a:extLst>
              <a:ext uri="{FF2B5EF4-FFF2-40B4-BE49-F238E27FC236}">
                <a16:creationId xmlns:a16="http://schemas.microsoft.com/office/drawing/2014/main" id="{050D25FC-5406-2326-5793-51C9C3BFE445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1070295" y="1357838"/>
            <a:ext cx="6195579" cy="0"/>
          </a:xfrm>
          <a:prstGeom prst="line">
            <a:avLst/>
          </a:prstGeom>
          <a:noFill/>
          <a:ln w="12700">
            <a:solidFill>
              <a:srgbClr val="00B05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766" name="Line 153">
            <a:extLst>
              <a:ext uri="{FF2B5EF4-FFF2-40B4-BE49-F238E27FC236}">
                <a16:creationId xmlns:a16="http://schemas.microsoft.com/office/drawing/2014/main" id="{26547F11-FC14-958E-7492-2E2691CA77C0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1070295" y="1357837"/>
            <a:ext cx="0" cy="162025"/>
          </a:xfrm>
          <a:prstGeom prst="line">
            <a:avLst/>
          </a:prstGeom>
          <a:noFill/>
          <a:ln w="12700">
            <a:solidFill>
              <a:srgbClr val="00B05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767" name="Text Box 30">
            <a:extLst>
              <a:ext uri="{FF2B5EF4-FFF2-40B4-BE49-F238E27FC236}">
                <a16:creationId xmlns:a16="http://schemas.microsoft.com/office/drawing/2014/main" id="{980A5A7E-44A6-695D-D467-A554AF06748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617950" y="1139506"/>
            <a:ext cx="628668" cy="27698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1425" tIns="45713" rIns="91425" bIns="45713">
            <a:spAutoFit/>
          </a:bodyPr>
          <a:lstStyle>
            <a:lvl1pPr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1pPr>
            <a:lvl2pPr marL="742950" indent="-28575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2pPr>
            <a:lvl3pPr marL="11430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3pPr>
            <a:lvl4pPr marL="16002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4pPr>
            <a:lvl5pPr marL="20574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9pPr>
          </a:lstStyle>
          <a:p>
            <a:r>
              <a:rPr lang="en-US" altLang="zh-CN" sz="1200" b="0" dirty="0" err="1">
                <a:solidFill>
                  <a:srgbClr val="00B050"/>
                </a:solidFill>
                <a:latin typeface="Arial" pitchFamily="34" charset="0"/>
                <a:ea typeface="SimHei" panose="02010609060101010101" pitchFamily="49" charset="-122"/>
              </a:rPr>
              <a:t>PCSrc</a:t>
            </a:r>
            <a:endParaRPr lang="en-US" altLang="zh-CN" sz="1200" b="0" dirty="0">
              <a:solidFill>
                <a:srgbClr val="00B050"/>
              </a:solidFill>
              <a:latin typeface="Arial" pitchFamily="34" charset="0"/>
              <a:ea typeface="SimHei" panose="02010609060101010101" pitchFamily="49" charset="-122"/>
            </a:endParaRPr>
          </a:p>
        </p:txBody>
      </p:sp>
      <p:sp>
        <p:nvSpPr>
          <p:cNvPr id="768" name="Line 153">
            <a:extLst>
              <a:ext uri="{FF2B5EF4-FFF2-40B4-BE49-F238E27FC236}">
                <a16:creationId xmlns:a16="http://schemas.microsoft.com/office/drawing/2014/main" id="{9D74BEF7-AF8C-F1FD-C7D3-B5CF28F436FF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054193" y="4842130"/>
            <a:ext cx="0" cy="84457"/>
          </a:xfrm>
          <a:prstGeom prst="line">
            <a:avLst/>
          </a:prstGeom>
          <a:noFill/>
          <a:ln w="12700">
            <a:solidFill>
              <a:srgbClr val="00B05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769" name="Text Box 30">
            <a:extLst>
              <a:ext uri="{FF2B5EF4-FFF2-40B4-BE49-F238E27FC236}">
                <a16:creationId xmlns:a16="http://schemas.microsoft.com/office/drawing/2014/main" id="{AF6EFBD1-B058-76C4-EB3C-2F29761AF7E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702976" y="4646032"/>
            <a:ext cx="695994" cy="27698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1425" tIns="45713" rIns="91425" bIns="45713">
            <a:spAutoFit/>
          </a:bodyPr>
          <a:lstStyle>
            <a:lvl1pPr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1pPr>
            <a:lvl2pPr marL="742950" indent="-28575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2pPr>
            <a:lvl3pPr marL="11430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3pPr>
            <a:lvl4pPr marL="16002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4pPr>
            <a:lvl5pPr marL="20574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9pPr>
          </a:lstStyle>
          <a:p>
            <a:r>
              <a:rPr lang="en-US" altLang="zh-CN" sz="1200" b="0" dirty="0" err="1">
                <a:solidFill>
                  <a:srgbClr val="00B050"/>
                </a:solidFill>
                <a:latin typeface="Arial" pitchFamily="34" charset="0"/>
                <a:ea typeface="SimHei" panose="02010609060101010101" pitchFamily="49" charset="-122"/>
              </a:rPr>
              <a:t>RegDst</a:t>
            </a:r>
            <a:endParaRPr lang="en-US" altLang="zh-CN" sz="1200" b="0" dirty="0">
              <a:solidFill>
                <a:srgbClr val="00B050"/>
              </a:solidFill>
              <a:latin typeface="Arial" pitchFamily="34" charset="0"/>
              <a:ea typeface="SimHei" panose="02010609060101010101" pitchFamily="49" charset="-122"/>
            </a:endParaRPr>
          </a:p>
        </p:txBody>
      </p:sp>
      <p:sp>
        <p:nvSpPr>
          <p:cNvPr id="770" name="Line 153">
            <a:extLst>
              <a:ext uri="{FF2B5EF4-FFF2-40B4-BE49-F238E27FC236}">
                <a16:creationId xmlns:a16="http://schemas.microsoft.com/office/drawing/2014/main" id="{C989D7A9-33DD-7BD6-DC1E-299F8D1F739E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909169" y="4309516"/>
            <a:ext cx="0" cy="288684"/>
          </a:xfrm>
          <a:prstGeom prst="line">
            <a:avLst/>
          </a:prstGeom>
          <a:noFill/>
          <a:ln w="12700">
            <a:solidFill>
              <a:srgbClr val="00B05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771" name="Line 153">
            <a:extLst>
              <a:ext uri="{FF2B5EF4-FFF2-40B4-BE49-F238E27FC236}">
                <a16:creationId xmlns:a16="http://schemas.microsoft.com/office/drawing/2014/main" id="{69F4588D-5A59-B710-19B2-541EB0651B9F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7763235" y="4323104"/>
            <a:ext cx="0" cy="288684"/>
          </a:xfrm>
          <a:prstGeom prst="line">
            <a:avLst/>
          </a:prstGeom>
          <a:noFill/>
          <a:ln w="12700">
            <a:solidFill>
              <a:srgbClr val="00B05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772" name="Text Box 30">
            <a:extLst>
              <a:ext uri="{FF2B5EF4-FFF2-40B4-BE49-F238E27FC236}">
                <a16:creationId xmlns:a16="http://schemas.microsoft.com/office/drawing/2014/main" id="{F0231D00-7E64-B0FA-CE8C-121547372A4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22383" y="4516987"/>
            <a:ext cx="891560" cy="27698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1425" tIns="45713" rIns="91425" bIns="45713">
            <a:spAutoFit/>
          </a:bodyPr>
          <a:lstStyle>
            <a:lvl1pPr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1pPr>
            <a:lvl2pPr marL="742950" indent="-28575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2pPr>
            <a:lvl3pPr marL="11430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3pPr>
            <a:lvl4pPr marL="16002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4pPr>
            <a:lvl5pPr marL="20574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9pPr>
          </a:lstStyle>
          <a:p>
            <a:r>
              <a:rPr lang="en-US" altLang="zh-CN" sz="1200" b="0" dirty="0" err="1">
                <a:solidFill>
                  <a:srgbClr val="00B050"/>
                </a:solidFill>
                <a:latin typeface="Arial" pitchFamily="34" charset="0"/>
                <a:ea typeface="SimHei" panose="02010609060101010101" pitchFamily="49" charset="-122"/>
              </a:rPr>
              <a:t>MemRead</a:t>
            </a:r>
            <a:endParaRPr lang="en-US" altLang="zh-CN" sz="1200" b="0" dirty="0">
              <a:solidFill>
                <a:srgbClr val="00B050"/>
              </a:solidFill>
              <a:latin typeface="Arial" pitchFamily="34" charset="0"/>
              <a:ea typeface="SimHei" panose="02010609060101010101" pitchFamily="49" charset="-122"/>
            </a:endParaRPr>
          </a:p>
        </p:txBody>
      </p:sp>
      <p:sp>
        <p:nvSpPr>
          <p:cNvPr id="773" name="Text Box 30">
            <a:extLst>
              <a:ext uri="{FF2B5EF4-FFF2-40B4-BE49-F238E27FC236}">
                <a16:creationId xmlns:a16="http://schemas.microsoft.com/office/drawing/2014/main" id="{B92DFF6F-C453-9411-44C7-26370449138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89468" y="4518593"/>
            <a:ext cx="720488" cy="27698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1425" tIns="45713" rIns="91425" bIns="45713">
            <a:spAutoFit/>
          </a:bodyPr>
          <a:lstStyle>
            <a:lvl1pPr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1pPr>
            <a:lvl2pPr marL="742950" indent="-28575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2pPr>
            <a:lvl3pPr marL="11430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3pPr>
            <a:lvl4pPr marL="16002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4pPr>
            <a:lvl5pPr marL="20574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9pPr>
          </a:lstStyle>
          <a:p>
            <a:r>
              <a:rPr lang="en-US" altLang="zh-CN" sz="1200" b="0" dirty="0" err="1">
                <a:solidFill>
                  <a:srgbClr val="00B050"/>
                </a:solidFill>
                <a:latin typeface="Arial" pitchFamily="34" charset="0"/>
                <a:ea typeface="SimHei" panose="02010609060101010101" pitchFamily="49" charset="-122"/>
              </a:rPr>
              <a:t>MemWr</a:t>
            </a:r>
            <a:endParaRPr lang="en-US" altLang="zh-CN" sz="1200" b="0" dirty="0">
              <a:solidFill>
                <a:srgbClr val="00B050"/>
              </a:solidFill>
              <a:latin typeface="Arial" pitchFamily="34" charset="0"/>
              <a:ea typeface="SimHei" panose="02010609060101010101" pitchFamily="49" charset="-122"/>
            </a:endParaRPr>
          </a:p>
        </p:txBody>
      </p:sp>
      <p:sp>
        <p:nvSpPr>
          <p:cNvPr id="774" name="Line 153">
            <a:extLst>
              <a:ext uri="{FF2B5EF4-FFF2-40B4-BE49-F238E27FC236}">
                <a16:creationId xmlns:a16="http://schemas.microsoft.com/office/drawing/2014/main" id="{64714E46-1691-F761-901B-49C3034B4F7D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8521317" y="3471984"/>
            <a:ext cx="0" cy="288684"/>
          </a:xfrm>
          <a:prstGeom prst="line">
            <a:avLst/>
          </a:prstGeom>
          <a:noFill/>
          <a:ln w="12700">
            <a:solidFill>
              <a:srgbClr val="00B05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775" name="Text Box 30">
            <a:extLst>
              <a:ext uri="{FF2B5EF4-FFF2-40B4-BE49-F238E27FC236}">
                <a16:creationId xmlns:a16="http://schemas.microsoft.com/office/drawing/2014/main" id="{F55DB8CC-606C-6BCB-D7C5-E6A448EB6FE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220744" y="3297910"/>
            <a:ext cx="934841" cy="27698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1425" tIns="45713" rIns="91425" bIns="45713">
            <a:spAutoFit/>
          </a:bodyPr>
          <a:lstStyle>
            <a:lvl1pPr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1pPr>
            <a:lvl2pPr marL="742950" indent="-28575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2pPr>
            <a:lvl3pPr marL="11430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3pPr>
            <a:lvl4pPr marL="16002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4pPr>
            <a:lvl5pPr marL="20574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9pPr>
          </a:lstStyle>
          <a:p>
            <a:r>
              <a:rPr lang="en-US" altLang="zh-CN" sz="1200" b="0" dirty="0" err="1">
                <a:solidFill>
                  <a:srgbClr val="00B050"/>
                </a:solidFill>
                <a:latin typeface="Arial" pitchFamily="34" charset="0"/>
                <a:ea typeface="SimHei" panose="02010609060101010101" pitchFamily="49" charset="-122"/>
              </a:rPr>
              <a:t>MemtoReg</a:t>
            </a:r>
            <a:endParaRPr lang="en-US" altLang="zh-CN" sz="1200" b="0" dirty="0">
              <a:solidFill>
                <a:srgbClr val="00B050"/>
              </a:solidFill>
              <a:latin typeface="Arial" pitchFamily="34" charset="0"/>
              <a:ea typeface="SimHei" panose="02010609060101010101" pitchFamily="49" charset="-122"/>
            </a:endParaRPr>
          </a:p>
        </p:txBody>
      </p:sp>
      <p:sp>
        <p:nvSpPr>
          <p:cNvPr id="776" name="Line 153">
            <a:extLst>
              <a:ext uri="{FF2B5EF4-FFF2-40B4-BE49-F238E27FC236}">
                <a16:creationId xmlns:a16="http://schemas.microsoft.com/office/drawing/2014/main" id="{2D972197-A8A8-9CB9-8867-C54029FD7825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005520" y="4155311"/>
            <a:ext cx="0" cy="167792"/>
          </a:xfrm>
          <a:prstGeom prst="line">
            <a:avLst/>
          </a:prstGeom>
          <a:noFill/>
          <a:ln w="12700">
            <a:solidFill>
              <a:srgbClr val="00B05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777" name="Text Box 30">
            <a:extLst>
              <a:ext uri="{FF2B5EF4-FFF2-40B4-BE49-F238E27FC236}">
                <a16:creationId xmlns:a16="http://schemas.microsoft.com/office/drawing/2014/main" id="{50D1893F-7CD9-7CDC-D123-9DAAC81E653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701658" y="4272203"/>
            <a:ext cx="687979" cy="27698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1425" tIns="45713" rIns="91425" bIns="45713">
            <a:spAutoFit/>
          </a:bodyPr>
          <a:lstStyle>
            <a:lvl1pPr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1pPr>
            <a:lvl2pPr marL="742950" indent="-28575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2pPr>
            <a:lvl3pPr marL="11430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3pPr>
            <a:lvl4pPr marL="16002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4pPr>
            <a:lvl5pPr marL="20574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9pPr>
          </a:lstStyle>
          <a:p>
            <a:r>
              <a:rPr lang="en-US" altLang="zh-CN" sz="1200" b="0" dirty="0" err="1">
                <a:solidFill>
                  <a:srgbClr val="00B050"/>
                </a:solidFill>
                <a:latin typeface="Arial" pitchFamily="34" charset="0"/>
                <a:ea typeface="SimHei" panose="02010609060101010101" pitchFamily="49" charset="-122"/>
              </a:rPr>
              <a:t>ALUOp</a:t>
            </a:r>
            <a:endParaRPr lang="en-US" altLang="zh-CN" sz="1200" b="0" dirty="0">
              <a:solidFill>
                <a:srgbClr val="00B050"/>
              </a:solidFill>
              <a:latin typeface="Arial" pitchFamily="34" charset="0"/>
              <a:ea typeface="SimHei" panose="02010609060101010101" pitchFamily="49" charset="-122"/>
            </a:endParaRPr>
          </a:p>
        </p:txBody>
      </p:sp>
      <p:sp>
        <p:nvSpPr>
          <p:cNvPr id="778" name="Line 153">
            <a:extLst>
              <a:ext uri="{FF2B5EF4-FFF2-40B4-BE49-F238E27FC236}">
                <a16:creationId xmlns:a16="http://schemas.microsoft.com/office/drawing/2014/main" id="{DCAB709A-F980-FE1E-91E8-040ED37A6174}"/>
              </a:ext>
            </a:extLst>
          </p:cNvPr>
          <p:cNvSpPr>
            <a:spLocks noChangeShapeType="1"/>
          </p:cNvSpPr>
          <p:nvPr/>
        </p:nvSpPr>
        <p:spPr bwMode="auto">
          <a:xfrm>
            <a:off x="4324305" y="1964742"/>
            <a:ext cx="566407" cy="0"/>
          </a:xfrm>
          <a:prstGeom prst="line">
            <a:avLst/>
          </a:prstGeom>
          <a:noFill/>
          <a:ln w="12700">
            <a:solidFill>
              <a:srgbClr val="00B05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779" name="Line 158">
            <a:extLst>
              <a:ext uri="{FF2B5EF4-FFF2-40B4-BE49-F238E27FC236}">
                <a16:creationId xmlns:a16="http://schemas.microsoft.com/office/drawing/2014/main" id="{159091B9-EBC1-2960-439A-3AC84FAAFE27}"/>
              </a:ext>
            </a:extLst>
          </p:cNvPr>
          <p:cNvSpPr>
            <a:spLocks noChangeShapeType="1"/>
          </p:cNvSpPr>
          <p:nvPr/>
        </p:nvSpPr>
        <p:spPr bwMode="auto">
          <a:xfrm>
            <a:off x="4890711" y="1964742"/>
            <a:ext cx="0" cy="102598"/>
          </a:xfrm>
          <a:prstGeom prst="line">
            <a:avLst/>
          </a:prstGeom>
          <a:noFill/>
          <a:ln w="12700">
            <a:solidFill>
              <a:srgbClr val="00B05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780" name="AutoShape 67">
            <a:extLst>
              <a:ext uri="{FF2B5EF4-FFF2-40B4-BE49-F238E27FC236}">
                <a16:creationId xmlns:a16="http://schemas.microsoft.com/office/drawing/2014/main" id="{564A8F84-13FA-E00C-109F-F3E470EA7E43}"/>
              </a:ext>
            </a:extLst>
          </p:cNvPr>
          <p:cNvSpPr>
            <a:spLocks noChangeArrowheads="1"/>
          </p:cNvSpPr>
          <p:nvPr/>
        </p:nvSpPr>
        <p:spPr bwMode="auto">
          <a:xfrm rot="16200000">
            <a:off x="4725086" y="3395572"/>
            <a:ext cx="647031" cy="212392"/>
          </a:xfrm>
          <a:custGeom>
            <a:avLst/>
            <a:gdLst>
              <a:gd name="T0" fmla="*/ 9 w 21600"/>
              <a:gd name="T1" fmla="*/ 0 h 21600"/>
              <a:gd name="T2" fmla="*/ 5 w 21600"/>
              <a:gd name="T3" fmla="*/ 1 h 21600"/>
              <a:gd name="T4" fmla="*/ 1 w 21600"/>
              <a:gd name="T5" fmla="*/ 0 h 21600"/>
              <a:gd name="T6" fmla="*/ 5 w 21600"/>
              <a:gd name="T7" fmla="*/ 0 h 21600"/>
              <a:gd name="T8" fmla="*/ 0 60000 65536"/>
              <a:gd name="T9" fmla="*/ 0 60000 65536"/>
              <a:gd name="T10" fmla="*/ 0 60000 65536"/>
              <a:gd name="T11" fmla="*/ 0 60000 65536"/>
              <a:gd name="T12" fmla="*/ 4500 w 21600"/>
              <a:gd name="T13" fmla="*/ 4500 h 21600"/>
              <a:gd name="T14" fmla="*/ 17100 w 21600"/>
              <a:gd name="T15" fmla="*/ 17100 h 21600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21600" h="21600">
                <a:moveTo>
                  <a:pt x="0" y="0"/>
                </a:moveTo>
                <a:lnTo>
                  <a:pt x="5400" y="21600"/>
                </a:lnTo>
                <a:lnTo>
                  <a:pt x="16200" y="21600"/>
                </a:lnTo>
                <a:lnTo>
                  <a:pt x="21600" y="0"/>
                </a:lnTo>
                <a:lnTo>
                  <a:pt x="0" y="0"/>
                </a:lnTo>
                <a:close/>
              </a:path>
            </a:pathLst>
          </a:custGeom>
          <a:noFill/>
          <a:ln w="38100">
            <a:solidFill>
              <a:srgbClr val="00B0F0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781" name="Line 109">
            <a:extLst>
              <a:ext uri="{FF2B5EF4-FFF2-40B4-BE49-F238E27FC236}">
                <a16:creationId xmlns:a16="http://schemas.microsoft.com/office/drawing/2014/main" id="{11D5BD76-97F0-1C77-844F-9F214C8F94EC}"/>
              </a:ext>
            </a:extLst>
          </p:cNvPr>
          <p:cNvSpPr>
            <a:spLocks noChangeShapeType="1"/>
          </p:cNvSpPr>
          <p:nvPr/>
        </p:nvSpPr>
        <p:spPr bwMode="auto">
          <a:xfrm>
            <a:off x="4424969" y="4792309"/>
            <a:ext cx="854026" cy="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782" name="Line 110">
            <a:extLst>
              <a:ext uri="{FF2B5EF4-FFF2-40B4-BE49-F238E27FC236}">
                <a16:creationId xmlns:a16="http://schemas.microsoft.com/office/drawing/2014/main" id="{CA41FDAC-C4B0-52BE-551D-B3949289DF20}"/>
              </a:ext>
            </a:extLst>
          </p:cNvPr>
          <p:cNvSpPr>
            <a:spLocks noChangeShapeType="1"/>
          </p:cNvSpPr>
          <p:nvPr/>
        </p:nvSpPr>
        <p:spPr bwMode="auto">
          <a:xfrm>
            <a:off x="5278995" y="4409473"/>
            <a:ext cx="0" cy="390609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783" name="AutoShape 67">
            <a:extLst>
              <a:ext uri="{FF2B5EF4-FFF2-40B4-BE49-F238E27FC236}">
                <a16:creationId xmlns:a16="http://schemas.microsoft.com/office/drawing/2014/main" id="{79B2B74A-3DA0-C023-7C79-4BB705B9DD70}"/>
              </a:ext>
            </a:extLst>
          </p:cNvPr>
          <p:cNvSpPr>
            <a:spLocks noChangeArrowheads="1"/>
          </p:cNvSpPr>
          <p:nvPr/>
        </p:nvSpPr>
        <p:spPr bwMode="auto">
          <a:xfrm rot="16200000">
            <a:off x="4727404" y="4105318"/>
            <a:ext cx="647031" cy="212392"/>
          </a:xfrm>
          <a:custGeom>
            <a:avLst/>
            <a:gdLst>
              <a:gd name="T0" fmla="*/ 9 w 21600"/>
              <a:gd name="T1" fmla="*/ 0 h 21600"/>
              <a:gd name="T2" fmla="*/ 5 w 21600"/>
              <a:gd name="T3" fmla="*/ 1 h 21600"/>
              <a:gd name="T4" fmla="*/ 1 w 21600"/>
              <a:gd name="T5" fmla="*/ 0 h 21600"/>
              <a:gd name="T6" fmla="*/ 5 w 21600"/>
              <a:gd name="T7" fmla="*/ 0 h 21600"/>
              <a:gd name="T8" fmla="*/ 0 60000 65536"/>
              <a:gd name="T9" fmla="*/ 0 60000 65536"/>
              <a:gd name="T10" fmla="*/ 0 60000 65536"/>
              <a:gd name="T11" fmla="*/ 0 60000 65536"/>
              <a:gd name="T12" fmla="*/ 4500 w 21600"/>
              <a:gd name="T13" fmla="*/ 4500 h 21600"/>
              <a:gd name="T14" fmla="*/ 17100 w 21600"/>
              <a:gd name="T15" fmla="*/ 17100 h 21600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21600" h="21600">
                <a:moveTo>
                  <a:pt x="0" y="0"/>
                </a:moveTo>
                <a:lnTo>
                  <a:pt x="5400" y="21600"/>
                </a:lnTo>
                <a:lnTo>
                  <a:pt x="16200" y="21600"/>
                </a:lnTo>
                <a:lnTo>
                  <a:pt x="21600" y="0"/>
                </a:lnTo>
                <a:lnTo>
                  <a:pt x="0" y="0"/>
                </a:lnTo>
                <a:close/>
              </a:path>
            </a:pathLst>
          </a:custGeom>
          <a:noFill/>
          <a:ln w="19050">
            <a:solidFill>
              <a:schemeClr val="bg1">
                <a:lumMod val="75000"/>
              </a:schemeClr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784" name="Line 115">
            <a:extLst>
              <a:ext uri="{FF2B5EF4-FFF2-40B4-BE49-F238E27FC236}">
                <a16:creationId xmlns:a16="http://schemas.microsoft.com/office/drawing/2014/main" id="{05629BF1-DF3F-3D09-48EB-C8F59C2A2D4D}"/>
              </a:ext>
            </a:extLst>
          </p:cNvPr>
          <p:cNvSpPr>
            <a:spLocks noChangeShapeType="1"/>
          </p:cNvSpPr>
          <p:nvPr/>
        </p:nvSpPr>
        <p:spPr bwMode="auto">
          <a:xfrm>
            <a:off x="6574396" y="4742553"/>
            <a:ext cx="0" cy="856297"/>
          </a:xfrm>
          <a:prstGeom prst="line">
            <a:avLst/>
          </a:prstGeom>
          <a:noFill/>
          <a:ln w="19050">
            <a:solidFill>
              <a:schemeClr val="bg1">
                <a:lumMod val="75000"/>
              </a:schemeClr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785" name="Line 113">
            <a:extLst>
              <a:ext uri="{FF2B5EF4-FFF2-40B4-BE49-F238E27FC236}">
                <a16:creationId xmlns:a16="http://schemas.microsoft.com/office/drawing/2014/main" id="{6D7044D4-E596-216A-F5F5-05A9EAD6F268}"/>
              </a:ext>
            </a:extLst>
          </p:cNvPr>
          <p:cNvSpPr>
            <a:spLocks noChangeShapeType="1"/>
          </p:cNvSpPr>
          <p:nvPr/>
        </p:nvSpPr>
        <p:spPr bwMode="auto">
          <a:xfrm>
            <a:off x="4505330" y="5598850"/>
            <a:ext cx="2072880" cy="0"/>
          </a:xfrm>
          <a:prstGeom prst="line">
            <a:avLst/>
          </a:prstGeom>
          <a:noFill/>
          <a:ln w="19050">
            <a:solidFill>
              <a:schemeClr val="bg1">
                <a:lumMod val="75000"/>
              </a:schemeClr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786" name="Line 115">
            <a:extLst>
              <a:ext uri="{FF2B5EF4-FFF2-40B4-BE49-F238E27FC236}">
                <a16:creationId xmlns:a16="http://schemas.microsoft.com/office/drawing/2014/main" id="{AFCBBE5E-682F-1E3B-BD27-3D0FA1EDBFF6}"/>
              </a:ext>
            </a:extLst>
          </p:cNvPr>
          <p:cNvSpPr>
            <a:spLocks noChangeShapeType="1"/>
          </p:cNvSpPr>
          <p:nvPr/>
        </p:nvSpPr>
        <p:spPr bwMode="auto">
          <a:xfrm>
            <a:off x="4511226" y="3471984"/>
            <a:ext cx="0" cy="2126866"/>
          </a:xfrm>
          <a:prstGeom prst="line">
            <a:avLst/>
          </a:prstGeom>
          <a:noFill/>
          <a:ln w="19050">
            <a:solidFill>
              <a:schemeClr val="bg1">
                <a:lumMod val="75000"/>
              </a:schemeClr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787" name="Line 115">
            <a:extLst>
              <a:ext uri="{FF2B5EF4-FFF2-40B4-BE49-F238E27FC236}">
                <a16:creationId xmlns:a16="http://schemas.microsoft.com/office/drawing/2014/main" id="{820AAEBF-0A3F-1B0A-A745-BB7C999AD2C3}"/>
              </a:ext>
            </a:extLst>
          </p:cNvPr>
          <p:cNvSpPr>
            <a:spLocks noChangeShapeType="1"/>
          </p:cNvSpPr>
          <p:nvPr/>
        </p:nvSpPr>
        <p:spPr bwMode="auto">
          <a:xfrm>
            <a:off x="4677528" y="3686336"/>
            <a:ext cx="0" cy="1814565"/>
          </a:xfrm>
          <a:prstGeom prst="line">
            <a:avLst/>
          </a:prstGeom>
          <a:noFill/>
          <a:ln w="38100">
            <a:solidFill>
              <a:srgbClr val="00B0F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788" name="Line 113">
            <a:extLst>
              <a:ext uri="{FF2B5EF4-FFF2-40B4-BE49-F238E27FC236}">
                <a16:creationId xmlns:a16="http://schemas.microsoft.com/office/drawing/2014/main" id="{687934DE-7C7F-5CA1-746F-79A9ED726DE1}"/>
              </a:ext>
            </a:extLst>
          </p:cNvPr>
          <p:cNvSpPr>
            <a:spLocks noChangeShapeType="1"/>
          </p:cNvSpPr>
          <p:nvPr/>
        </p:nvSpPr>
        <p:spPr bwMode="auto">
          <a:xfrm>
            <a:off x="4509756" y="3472062"/>
            <a:ext cx="430050" cy="0"/>
          </a:xfrm>
          <a:prstGeom prst="line">
            <a:avLst/>
          </a:prstGeom>
          <a:noFill/>
          <a:ln w="19050">
            <a:solidFill>
              <a:schemeClr val="bg1">
                <a:lumMod val="75000"/>
              </a:schemeClr>
            </a:solidFill>
            <a:round/>
            <a:headEnd type="none" w="med" len="med"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789" name="Line 113">
            <a:extLst>
              <a:ext uri="{FF2B5EF4-FFF2-40B4-BE49-F238E27FC236}">
                <a16:creationId xmlns:a16="http://schemas.microsoft.com/office/drawing/2014/main" id="{A66B19AA-56AD-3667-8564-808CB4926D67}"/>
              </a:ext>
            </a:extLst>
          </p:cNvPr>
          <p:cNvSpPr>
            <a:spLocks noChangeShapeType="1"/>
          </p:cNvSpPr>
          <p:nvPr/>
        </p:nvSpPr>
        <p:spPr bwMode="auto">
          <a:xfrm>
            <a:off x="4671683" y="3692355"/>
            <a:ext cx="268121" cy="0"/>
          </a:xfrm>
          <a:prstGeom prst="line">
            <a:avLst/>
          </a:prstGeom>
          <a:noFill/>
          <a:ln w="38100">
            <a:solidFill>
              <a:srgbClr val="00B0F0"/>
            </a:solidFill>
            <a:round/>
            <a:headEnd type="none" w="med" len="med"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790" name="Line 113">
            <a:extLst>
              <a:ext uri="{FF2B5EF4-FFF2-40B4-BE49-F238E27FC236}">
                <a16:creationId xmlns:a16="http://schemas.microsoft.com/office/drawing/2014/main" id="{FA010C11-71B8-8A41-6A81-82AF281E0F57}"/>
              </a:ext>
            </a:extLst>
          </p:cNvPr>
          <p:cNvSpPr>
            <a:spLocks noChangeShapeType="1"/>
          </p:cNvSpPr>
          <p:nvPr/>
        </p:nvSpPr>
        <p:spPr bwMode="auto">
          <a:xfrm>
            <a:off x="4517757" y="4238320"/>
            <a:ext cx="422050" cy="0"/>
          </a:xfrm>
          <a:prstGeom prst="line">
            <a:avLst/>
          </a:prstGeom>
          <a:noFill/>
          <a:ln w="19050">
            <a:solidFill>
              <a:schemeClr val="bg1">
                <a:lumMod val="75000"/>
              </a:schemeClr>
            </a:solidFill>
            <a:round/>
            <a:headEnd type="none" w="med" len="med"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791" name="Line 113">
            <a:extLst>
              <a:ext uri="{FF2B5EF4-FFF2-40B4-BE49-F238E27FC236}">
                <a16:creationId xmlns:a16="http://schemas.microsoft.com/office/drawing/2014/main" id="{CA5B294A-D787-7DD1-2D5C-DED00A656668}"/>
              </a:ext>
            </a:extLst>
          </p:cNvPr>
          <p:cNvSpPr>
            <a:spLocks noChangeShapeType="1"/>
          </p:cNvSpPr>
          <p:nvPr/>
        </p:nvSpPr>
        <p:spPr bwMode="auto">
          <a:xfrm>
            <a:off x="4685574" y="4458613"/>
            <a:ext cx="254232" cy="0"/>
          </a:xfrm>
          <a:prstGeom prst="line">
            <a:avLst/>
          </a:prstGeom>
          <a:noFill/>
          <a:ln w="19050">
            <a:solidFill>
              <a:schemeClr val="bg1">
                <a:lumMod val="75000"/>
              </a:schemeClr>
            </a:solidFill>
            <a:round/>
            <a:headEnd type="none" w="med" len="med"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792" name="Line 113">
            <a:extLst>
              <a:ext uri="{FF2B5EF4-FFF2-40B4-BE49-F238E27FC236}">
                <a16:creationId xmlns:a16="http://schemas.microsoft.com/office/drawing/2014/main" id="{A17C098E-D92E-7461-03A5-68C4A47576B9}"/>
              </a:ext>
            </a:extLst>
          </p:cNvPr>
          <p:cNvSpPr>
            <a:spLocks noChangeShapeType="1"/>
          </p:cNvSpPr>
          <p:nvPr/>
        </p:nvSpPr>
        <p:spPr bwMode="auto">
          <a:xfrm>
            <a:off x="5157116" y="4132471"/>
            <a:ext cx="230672" cy="0"/>
          </a:xfrm>
          <a:prstGeom prst="line">
            <a:avLst/>
          </a:prstGeom>
          <a:noFill/>
          <a:ln w="19050">
            <a:solidFill>
              <a:schemeClr val="bg1">
                <a:lumMod val="75000"/>
              </a:schemeClr>
            </a:solidFill>
            <a:round/>
            <a:headEnd type="none" w="med" len="med"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793" name="Line 113">
            <a:extLst>
              <a:ext uri="{FF2B5EF4-FFF2-40B4-BE49-F238E27FC236}">
                <a16:creationId xmlns:a16="http://schemas.microsoft.com/office/drawing/2014/main" id="{024EBCDA-90CD-047B-3BF4-4F6936FDD4D4}"/>
              </a:ext>
            </a:extLst>
          </p:cNvPr>
          <p:cNvSpPr>
            <a:spLocks noChangeShapeType="1"/>
          </p:cNvSpPr>
          <p:nvPr/>
        </p:nvSpPr>
        <p:spPr bwMode="auto">
          <a:xfrm>
            <a:off x="5154797" y="3478808"/>
            <a:ext cx="566172" cy="0"/>
          </a:xfrm>
          <a:prstGeom prst="line">
            <a:avLst/>
          </a:prstGeom>
          <a:noFill/>
          <a:ln w="38100">
            <a:solidFill>
              <a:srgbClr val="00B0F0"/>
            </a:solidFill>
            <a:round/>
            <a:headEnd type="none" w="med" len="med"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794" name="椭圆 793">
            <a:extLst>
              <a:ext uri="{FF2B5EF4-FFF2-40B4-BE49-F238E27FC236}">
                <a16:creationId xmlns:a16="http://schemas.microsoft.com/office/drawing/2014/main" id="{575E5AF5-3AEE-A38B-A426-4CFF525F8652}"/>
              </a:ext>
            </a:extLst>
          </p:cNvPr>
          <p:cNvSpPr/>
          <p:nvPr/>
        </p:nvSpPr>
        <p:spPr>
          <a:xfrm>
            <a:off x="6542279" y="4758188"/>
            <a:ext cx="65862" cy="65862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795" name="椭圆 794">
            <a:extLst>
              <a:ext uri="{FF2B5EF4-FFF2-40B4-BE49-F238E27FC236}">
                <a16:creationId xmlns:a16="http://schemas.microsoft.com/office/drawing/2014/main" id="{4988D5B0-8DDE-BB18-6B0A-2643256F16EE}"/>
              </a:ext>
            </a:extLst>
          </p:cNvPr>
          <p:cNvSpPr/>
          <p:nvPr/>
        </p:nvSpPr>
        <p:spPr>
          <a:xfrm>
            <a:off x="4640613" y="5473990"/>
            <a:ext cx="65862" cy="65862"/>
          </a:xfrm>
          <a:prstGeom prst="ellipse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796" name="椭圆 795">
            <a:extLst>
              <a:ext uri="{FF2B5EF4-FFF2-40B4-BE49-F238E27FC236}">
                <a16:creationId xmlns:a16="http://schemas.microsoft.com/office/drawing/2014/main" id="{6E538ED1-8EE9-6468-9048-84E5A9E799D1}"/>
              </a:ext>
            </a:extLst>
          </p:cNvPr>
          <p:cNvSpPr/>
          <p:nvPr/>
        </p:nvSpPr>
        <p:spPr>
          <a:xfrm>
            <a:off x="4390629" y="4758188"/>
            <a:ext cx="65862" cy="65862"/>
          </a:xfrm>
          <a:prstGeom prst="ellipse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797" name="椭圆 796">
            <a:extLst>
              <a:ext uri="{FF2B5EF4-FFF2-40B4-BE49-F238E27FC236}">
                <a16:creationId xmlns:a16="http://schemas.microsoft.com/office/drawing/2014/main" id="{22700C3F-2623-DFE7-01E8-BC965FAFB99E}"/>
              </a:ext>
            </a:extLst>
          </p:cNvPr>
          <p:cNvSpPr/>
          <p:nvPr/>
        </p:nvSpPr>
        <p:spPr>
          <a:xfrm>
            <a:off x="2025481" y="2624173"/>
            <a:ext cx="65862" cy="65862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798" name="椭圆 797">
            <a:extLst>
              <a:ext uri="{FF2B5EF4-FFF2-40B4-BE49-F238E27FC236}">
                <a16:creationId xmlns:a16="http://schemas.microsoft.com/office/drawing/2014/main" id="{BFAFC2B5-6328-0D87-0723-A777995791EA}"/>
              </a:ext>
            </a:extLst>
          </p:cNvPr>
          <p:cNvSpPr/>
          <p:nvPr/>
        </p:nvSpPr>
        <p:spPr>
          <a:xfrm>
            <a:off x="682399" y="3724129"/>
            <a:ext cx="65862" cy="65862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799" name="Oval 144">
            <a:extLst>
              <a:ext uri="{FF2B5EF4-FFF2-40B4-BE49-F238E27FC236}">
                <a16:creationId xmlns:a16="http://schemas.microsoft.com/office/drawing/2014/main" id="{64BC0ACC-5BAC-E579-807C-A0C32033462A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38658" y="5778139"/>
            <a:ext cx="855341" cy="587588"/>
          </a:xfrm>
          <a:prstGeom prst="ellipse">
            <a:avLst/>
          </a:prstGeom>
          <a:noFill/>
          <a:ln w="38100">
            <a:solidFill>
              <a:srgbClr val="C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tIns="108000" anchor="ctr"/>
          <a:lstStyle/>
          <a:p>
            <a:pPr algn="ctr"/>
            <a:r>
              <a:rPr lang="en-US" altLang="zh-CN" sz="1200" dirty="0">
                <a:solidFill>
                  <a:srgbClr val="C00000"/>
                </a:solidFill>
                <a:latin typeface="Arial" panose="020B0604020202020204" pitchFamily="34" charset="0"/>
                <a:ea typeface="SimHei" panose="02010609060101010101" pitchFamily="49" charset="-122"/>
                <a:cs typeface="Arial" panose="020B0604020202020204" pitchFamily="34" charset="0"/>
              </a:rPr>
              <a:t>Forwarding</a:t>
            </a:r>
          </a:p>
          <a:p>
            <a:pPr algn="ctr"/>
            <a:r>
              <a:rPr lang="en-US" altLang="zh-CN" sz="1200" dirty="0">
                <a:solidFill>
                  <a:srgbClr val="C00000"/>
                </a:solidFill>
                <a:latin typeface="Arial" panose="020B0604020202020204" pitchFamily="34" charset="0"/>
                <a:ea typeface="SimHei" panose="02010609060101010101" pitchFamily="49" charset="-122"/>
                <a:cs typeface="Arial" panose="020B0604020202020204" pitchFamily="34" charset="0"/>
              </a:rPr>
              <a:t> Unit</a:t>
            </a:r>
            <a:endParaRPr lang="zh-CN" altLang="en-US" sz="1200" dirty="0">
              <a:solidFill>
                <a:srgbClr val="C00000"/>
              </a:solidFill>
              <a:latin typeface="Arial" panose="020B0604020202020204" pitchFamily="34" charset="0"/>
              <a:ea typeface="SimHei" panose="02010609060101010101" pitchFamily="49" charset="-122"/>
              <a:cs typeface="Arial" panose="020B0604020202020204" pitchFamily="34" charset="0"/>
            </a:endParaRPr>
          </a:p>
        </p:txBody>
      </p:sp>
      <p:sp>
        <p:nvSpPr>
          <p:cNvPr id="800" name="Line 115">
            <a:extLst>
              <a:ext uri="{FF2B5EF4-FFF2-40B4-BE49-F238E27FC236}">
                <a16:creationId xmlns:a16="http://schemas.microsoft.com/office/drawing/2014/main" id="{6AC38FED-2961-9929-3CFB-8E9AEE11DBBF}"/>
              </a:ext>
            </a:extLst>
          </p:cNvPr>
          <p:cNvSpPr>
            <a:spLocks noChangeShapeType="1"/>
          </p:cNvSpPr>
          <p:nvPr/>
        </p:nvSpPr>
        <p:spPr bwMode="auto">
          <a:xfrm>
            <a:off x="7892452" y="5051122"/>
            <a:ext cx="0" cy="865758"/>
          </a:xfrm>
          <a:prstGeom prst="line">
            <a:avLst/>
          </a:prstGeom>
          <a:noFill/>
          <a:ln w="38100">
            <a:solidFill>
              <a:srgbClr val="C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801" name="Line 113">
            <a:extLst>
              <a:ext uri="{FF2B5EF4-FFF2-40B4-BE49-F238E27FC236}">
                <a16:creationId xmlns:a16="http://schemas.microsoft.com/office/drawing/2014/main" id="{A51D7037-62D1-9628-7404-90D32031A5AE}"/>
              </a:ext>
            </a:extLst>
          </p:cNvPr>
          <p:cNvSpPr>
            <a:spLocks noChangeShapeType="1"/>
          </p:cNvSpPr>
          <p:nvPr/>
        </p:nvSpPr>
        <p:spPr bwMode="auto">
          <a:xfrm>
            <a:off x="6424645" y="5916880"/>
            <a:ext cx="1467806" cy="0"/>
          </a:xfrm>
          <a:prstGeom prst="line">
            <a:avLst/>
          </a:prstGeom>
          <a:noFill/>
          <a:ln w="38100">
            <a:solidFill>
              <a:srgbClr val="C00000"/>
            </a:solidFill>
            <a:round/>
            <a:headEnd type="triangle" w="med" len="med"/>
            <a:tailEnd type="non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802" name="Line 115">
            <a:extLst>
              <a:ext uri="{FF2B5EF4-FFF2-40B4-BE49-F238E27FC236}">
                <a16:creationId xmlns:a16="http://schemas.microsoft.com/office/drawing/2014/main" id="{39C7F85D-4D52-CBA1-8E27-F35492DF8AD1}"/>
              </a:ext>
            </a:extLst>
          </p:cNvPr>
          <p:cNvSpPr>
            <a:spLocks noChangeShapeType="1"/>
          </p:cNvSpPr>
          <p:nvPr/>
        </p:nvSpPr>
        <p:spPr bwMode="auto">
          <a:xfrm>
            <a:off x="8344324" y="5709985"/>
            <a:ext cx="0" cy="444478"/>
          </a:xfrm>
          <a:prstGeom prst="line">
            <a:avLst/>
          </a:prstGeom>
          <a:noFill/>
          <a:ln w="38100">
            <a:solidFill>
              <a:srgbClr val="C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803" name="Line 113">
            <a:extLst>
              <a:ext uri="{FF2B5EF4-FFF2-40B4-BE49-F238E27FC236}">
                <a16:creationId xmlns:a16="http://schemas.microsoft.com/office/drawing/2014/main" id="{3D169A7F-6E67-C5AD-D59D-F7C03834B032}"/>
              </a:ext>
            </a:extLst>
          </p:cNvPr>
          <p:cNvSpPr>
            <a:spLocks noChangeShapeType="1"/>
          </p:cNvSpPr>
          <p:nvPr/>
        </p:nvSpPr>
        <p:spPr bwMode="auto">
          <a:xfrm>
            <a:off x="6483892" y="6154465"/>
            <a:ext cx="1860433" cy="0"/>
          </a:xfrm>
          <a:prstGeom prst="line">
            <a:avLst/>
          </a:prstGeom>
          <a:noFill/>
          <a:ln w="38100">
            <a:solidFill>
              <a:srgbClr val="C00000"/>
            </a:solidFill>
            <a:round/>
            <a:headEnd type="triangle" w="med" len="med"/>
            <a:tailEnd type="non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804" name="椭圆 803">
            <a:extLst>
              <a:ext uri="{FF2B5EF4-FFF2-40B4-BE49-F238E27FC236}">
                <a16:creationId xmlns:a16="http://schemas.microsoft.com/office/drawing/2014/main" id="{385DADF0-C20B-44AA-25DF-27C08EF9769B}"/>
              </a:ext>
            </a:extLst>
          </p:cNvPr>
          <p:cNvSpPr/>
          <p:nvPr/>
        </p:nvSpPr>
        <p:spPr>
          <a:xfrm>
            <a:off x="8311905" y="5675960"/>
            <a:ext cx="65862" cy="65862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805" name="椭圆 804">
            <a:extLst>
              <a:ext uri="{FF2B5EF4-FFF2-40B4-BE49-F238E27FC236}">
                <a16:creationId xmlns:a16="http://schemas.microsoft.com/office/drawing/2014/main" id="{8BB4A361-8085-3347-2593-2B2311D8258E}"/>
              </a:ext>
            </a:extLst>
          </p:cNvPr>
          <p:cNvSpPr/>
          <p:nvPr/>
        </p:nvSpPr>
        <p:spPr>
          <a:xfrm>
            <a:off x="7859883" y="5018190"/>
            <a:ext cx="65862" cy="65862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806" name="椭圆 805">
            <a:extLst>
              <a:ext uri="{FF2B5EF4-FFF2-40B4-BE49-F238E27FC236}">
                <a16:creationId xmlns:a16="http://schemas.microsoft.com/office/drawing/2014/main" id="{C1A71E0B-785D-058C-DBBF-6B6A62AC27CE}"/>
              </a:ext>
            </a:extLst>
          </p:cNvPr>
          <p:cNvSpPr/>
          <p:nvPr/>
        </p:nvSpPr>
        <p:spPr>
          <a:xfrm>
            <a:off x="4476798" y="4208823"/>
            <a:ext cx="65862" cy="65862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807" name="椭圆 806">
            <a:extLst>
              <a:ext uri="{FF2B5EF4-FFF2-40B4-BE49-F238E27FC236}">
                <a16:creationId xmlns:a16="http://schemas.microsoft.com/office/drawing/2014/main" id="{D0030C7B-303B-4D3B-3F7F-48621C948EA4}"/>
              </a:ext>
            </a:extLst>
          </p:cNvPr>
          <p:cNvSpPr/>
          <p:nvPr/>
        </p:nvSpPr>
        <p:spPr>
          <a:xfrm>
            <a:off x="4641272" y="4431271"/>
            <a:ext cx="65862" cy="65862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809" name="文本框 808">
            <a:extLst>
              <a:ext uri="{FF2B5EF4-FFF2-40B4-BE49-F238E27FC236}">
                <a16:creationId xmlns:a16="http://schemas.microsoft.com/office/drawing/2014/main" id="{B9638720-24C8-3107-EA47-8BDEDAA6750F}"/>
              </a:ext>
            </a:extLst>
          </p:cNvPr>
          <p:cNvSpPr txBox="1"/>
          <p:nvPr/>
        </p:nvSpPr>
        <p:spPr>
          <a:xfrm>
            <a:off x="6835791" y="5983381"/>
            <a:ext cx="1393085" cy="1692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>
            <a:spAutoFit/>
          </a:bodyPr>
          <a:lstStyle/>
          <a:p>
            <a:pPr algn="ctr"/>
            <a:r>
              <a:rPr lang="en-US" altLang="zh-CN" sz="1100" dirty="0">
                <a:solidFill>
                  <a:srgbClr val="C00000"/>
                </a:solidFill>
                <a:latin typeface="Arial" panose="020B0604020202020204" pitchFamily="34" charset="0"/>
                <a:ea typeface="SimHei" panose="02010609060101010101" pitchFamily="49" charset="-122"/>
                <a:cs typeface="Arial" panose="020B0604020202020204" pitchFamily="34" charset="0"/>
              </a:rPr>
              <a:t>MEM/</a:t>
            </a:r>
            <a:r>
              <a:rPr lang="en-US" altLang="zh-CN" sz="1100" dirty="0" err="1">
                <a:solidFill>
                  <a:srgbClr val="C00000"/>
                </a:solidFill>
                <a:latin typeface="Arial" panose="020B0604020202020204" pitchFamily="34" charset="0"/>
                <a:ea typeface="SimHei" panose="02010609060101010101" pitchFamily="49" charset="-122"/>
                <a:cs typeface="Arial" panose="020B0604020202020204" pitchFamily="34" charset="0"/>
              </a:rPr>
              <a:t>WB.RegWrAddr</a:t>
            </a:r>
            <a:endParaRPr lang="zh-CN" altLang="en-US" sz="1100" dirty="0">
              <a:solidFill>
                <a:srgbClr val="C00000"/>
              </a:solidFill>
              <a:ea typeface="SimHei" panose="02010609060101010101" pitchFamily="49" charset="-122"/>
            </a:endParaRPr>
          </a:p>
        </p:txBody>
      </p:sp>
      <p:sp>
        <p:nvSpPr>
          <p:cNvPr id="810" name="Line 8">
            <a:extLst>
              <a:ext uri="{FF2B5EF4-FFF2-40B4-BE49-F238E27FC236}">
                <a16:creationId xmlns:a16="http://schemas.microsoft.com/office/drawing/2014/main" id="{4BDE979F-A2EC-5349-F05F-6C2C14D49CF3}"/>
              </a:ext>
            </a:extLst>
          </p:cNvPr>
          <p:cNvSpPr>
            <a:spLocks noChangeShapeType="1"/>
          </p:cNvSpPr>
          <p:nvPr/>
        </p:nvSpPr>
        <p:spPr bwMode="auto">
          <a:xfrm>
            <a:off x="2544747" y="5390808"/>
            <a:ext cx="1637872" cy="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811" name="Line 9">
            <a:extLst>
              <a:ext uri="{FF2B5EF4-FFF2-40B4-BE49-F238E27FC236}">
                <a16:creationId xmlns:a16="http://schemas.microsoft.com/office/drawing/2014/main" id="{4B7853FA-82C4-2BEB-537E-44FC26AB5FDF}"/>
              </a:ext>
            </a:extLst>
          </p:cNvPr>
          <p:cNvSpPr>
            <a:spLocks noChangeShapeType="1"/>
          </p:cNvSpPr>
          <p:nvPr/>
        </p:nvSpPr>
        <p:spPr bwMode="auto">
          <a:xfrm>
            <a:off x="4321179" y="5390808"/>
            <a:ext cx="569532" cy="0"/>
          </a:xfrm>
          <a:prstGeom prst="line">
            <a:avLst/>
          </a:prstGeom>
          <a:noFill/>
          <a:ln w="38100">
            <a:solidFill>
              <a:srgbClr val="C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812" name="Line 110">
            <a:extLst>
              <a:ext uri="{FF2B5EF4-FFF2-40B4-BE49-F238E27FC236}">
                <a16:creationId xmlns:a16="http://schemas.microsoft.com/office/drawing/2014/main" id="{C2F639C5-8237-C89C-FF81-0457076E2F1F}"/>
              </a:ext>
            </a:extLst>
          </p:cNvPr>
          <p:cNvSpPr>
            <a:spLocks noChangeShapeType="1"/>
          </p:cNvSpPr>
          <p:nvPr/>
        </p:nvSpPr>
        <p:spPr bwMode="auto">
          <a:xfrm>
            <a:off x="2554285" y="5268566"/>
            <a:ext cx="0" cy="122242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813" name="Line 115">
            <a:extLst>
              <a:ext uri="{FF2B5EF4-FFF2-40B4-BE49-F238E27FC236}">
                <a16:creationId xmlns:a16="http://schemas.microsoft.com/office/drawing/2014/main" id="{8B9E5A4C-03E0-AA4B-36C4-E34B88BDA73B}"/>
              </a:ext>
            </a:extLst>
          </p:cNvPr>
          <p:cNvSpPr>
            <a:spLocks noChangeShapeType="1"/>
          </p:cNvSpPr>
          <p:nvPr/>
        </p:nvSpPr>
        <p:spPr bwMode="auto">
          <a:xfrm>
            <a:off x="4890711" y="5390808"/>
            <a:ext cx="0" cy="853077"/>
          </a:xfrm>
          <a:prstGeom prst="line">
            <a:avLst/>
          </a:prstGeom>
          <a:noFill/>
          <a:ln w="38100">
            <a:solidFill>
              <a:srgbClr val="C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814" name="Line 113">
            <a:extLst>
              <a:ext uri="{FF2B5EF4-FFF2-40B4-BE49-F238E27FC236}">
                <a16:creationId xmlns:a16="http://schemas.microsoft.com/office/drawing/2014/main" id="{9E6761E7-50F4-2225-ADFC-AE074D54CB87}"/>
              </a:ext>
            </a:extLst>
          </p:cNvPr>
          <p:cNvSpPr>
            <a:spLocks noChangeShapeType="1"/>
          </p:cNvSpPr>
          <p:nvPr/>
        </p:nvSpPr>
        <p:spPr bwMode="auto">
          <a:xfrm>
            <a:off x="4883688" y="6243886"/>
            <a:ext cx="837281" cy="0"/>
          </a:xfrm>
          <a:prstGeom prst="line">
            <a:avLst/>
          </a:prstGeom>
          <a:noFill/>
          <a:ln w="38100">
            <a:solidFill>
              <a:srgbClr val="C00000"/>
            </a:solidFill>
            <a:round/>
            <a:headEnd type="none" w="med" len="med"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815" name="文本框 814">
            <a:extLst>
              <a:ext uri="{FF2B5EF4-FFF2-40B4-BE49-F238E27FC236}">
                <a16:creationId xmlns:a16="http://schemas.microsoft.com/office/drawing/2014/main" id="{047A2947-DCCE-DA2C-C179-B2FB6D79FDF6}"/>
              </a:ext>
            </a:extLst>
          </p:cNvPr>
          <p:cNvSpPr txBox="1"/>
          <p:nvPr/>
        </p:nvSpPr>
        <p:spPr>
          <a:xfrm>
            <a:off x="4984752" y="6079976"/>
            <a:ext cx="660930" cy="1692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>
            <a:spAutoFit/>
          </a:bodyPr>
          <a:lstStyle/>
          <a:p>
            <a:pPr algn="ctr"/>
            <a:r>
              <a:rPr lang="en-US" altLang="zh-CN" sz="1100" dirty="0">
                <a:solidFill>
                  <a:srgbClr val="C00000"/>
                </a:solidFill>
                <a:latin typeface="Arial" panose="020B0604020202020204" pitchFamily="34" charset="0"/>
                <a:ea typeface="SimHei" panose="02010609060101010101" pitchFamily="49" charset="-122"/>
                <a:cs typeface="Arial" panose="020B0604020202020204" pitchFamily="34" charset="0"/>
              </a:rPr>
              <a:t>ID/EX.Rs</a:t>
            </a:r>
            <a:endParaRPr lang="zh-CN" altLang="en-US" sz="1100" dirty="0">
              <a:solidFill>
                <a:srgbClr val="C00000"/>
              </a:solidFill>
              <a:ea typeface="SimHei" panose="02010609060101010101" pitchFamily="49" charset="-122"/>
            </a:endParaRPr>
          </a:p>
        </p:txBody>
      </p:sp>
      <p:sp>
        <p:nvSpPr>
          <p:cNvPr id="816" name="Line 115">
            <a:extLst>
              <a:ext uri="{FF2B5EF4-FFF2-40B4-BE49-F238E27FC236}">
                <a16:creationId xmlns:a16="http://schemas.microsoft.com/office/drawing/2014/main" id="{EA2FE852-BE04-1F8A-783A-9B30D308B6DC}"/>
              </a:ext>
            </a:extLst>
          </p:cNvPr>
          <p:cNvSpPr>
            <a:spLocks noChangeShapeType="1"/>
          </p:cNvSpPr>
          <p:nvPr/>
        </p:nvSpPr>
        <p:spPr bwMode="auto">
          <a:xfrm>
            <a:off x="4965699" y="5047451"/>
            <a:ext cx="0" cy="853077"/>
          </a:xfrm>
          <a:prstGeom prst="line">
            <a:avLst/>
          </a:prstGeom>
          <a:noFill/>
          <a:ln w="19050">
            <a:solidFill>
              <a:schemeClr val="bg1">
                <a:lumMod val="75000"/>
              </a:schemeClr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817" name="Line 113">
            <a:extLst>
              <a:ext uri="{FF2B5EF4-FFF2-40B4-BE49-F238E27FC236}">
                <a16:creationId xmlns:a16="http://schemas.microsoft.com/office/drawing/2014/main" id="{8FDB217C-65DA-C2A6-6FEF-9C3E83051C29}"/>
              </a:ext>
            </a:extLst>
          </p:cNvPr>
          <p:cNvSpPr>
            <a:spLocks noChangeShapeType="1"/>
          </p:cNvSpPr>
          <p:nvPr/>
        </p:nvSpPr>
        <p:spPr bwMode="auto">
          <a:xfrm>
            <a:off x="4957201" y="5898152"/>
            <a:ext cx="763769" cy="0"/>
          </a:xfrm>
          <a:prstGeom prst="line">
            <a:avLst/>
          </a:prstGeom>
          <a:noFill/>
          <a:ln w="19050">
            <a:solidFill>
              <a:schemeClr val="bg1">
                <a:lumMod val="75000"/>
              </a:schemeClr>
            </a:solidFill>
            <a:round/>
            <a:headEnd type="none" w="med" len="med"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818" name="文本框 817">
            <a:extLst>
              <a:ext uri="{FF2B5EF4-FFF2-40B4-BE49-F238E27FC236}">
                <a16:creationId xmlns:a16="http://schemas.microsoft.com/office/drawing/2014/main" id="{A3A53A36-B13B-ED46-6367-E9AC7016BE7D}"/>
              </a:ext>
            </a:extLst>
          </p:cNvPr>
          <p:cNvSpPr txBox="1"/>
          <p:nvPr/>
        </p:nvSpPr>
        <p:spPr>
          <a:xfrm>
            <a:off x="4977728" y="5749379"/>
            <a:ext cx="660930" cy="1692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>
            <a:spAutoFit/>
          </a:bodyPr>
          <a:lstStyle/>
          <a:p>
            <a:pPr algn="ctr"/>
            <a:r>
              <a:rPr lang="en-US" altLang="zh-CN" sz="1100" dirty="0">
                <a:solidFill>
                  <a:schemeClr val="bg1">
                    <a:lumMod val="75000"/>
                  </a:schemeClr>
                </a:solidFill>
                <a:latin typeface="Arial" panose="020B0604020202020204" pitchFamily="34" charset="0"/>
                <a:ea typeface="SimHei" panose="02010609060101010101" pitchFamily="49" charset="-122"/>
                <a:cs typeface="Arial" panose="020B0604020202020204" pitchFamily="34" charset="0"/>
              </a:rPr>
              <a:t>ID/</a:t>
            </a:r>
            <a:r>
              <a:rPr lang="en-US" altLang="zh-CN" sz="1100" dirty="0" err="1">
                <a:solidFill>
                  <a:schemeClr val="bg1">
                    <a:lumMod val="75000"/>
                  </a:schemeClr>
                </a:solidFill>
                <a:latin typeface="Arial" panose="020B0604020202020204" pitchFamily="34" charset="0"/>
                <a:ea typeface="SimHei" panose="02010609060101010101" pitchFamily="49" charset="-122"/>
                <a:cs typeface="Arial" panose="020B0604020202020204" pitchFamily="34" charset="0"/>
              </a:rPr>
              <a:t>EX.Rt</a:t>
            </a:r>
            <a:endParaRPr lang="zh-CN" altLang="en-US" sz="1100" dirty="0">
              <a:solidFill>
                <a:schemeClr val="bg1">
                  <a:lumMod val="75000"/>
                </a:schemeClr>
              </a:solidFill>
              <a:ea typeface="SimHei" panose="02010609060101010101" pitchFamily="49" charset="-122"/>
            </a:endParaRPr>
          </a:p>
        </p:txBody>
      </p:sp>
      <p:sp>
        <p:nvSpPr>
          <p:cNvPr id="819" name="椭圆 818">
            <a:extLst>
              <a:ext uri="{FF2B5EF4-FFF2-40B4-BE49-F238E27FC236}">
                <a16:creationId xmlns:a16="http://schemas.microsoft.com/office/drawing/2014/main" id="{83E8B510-BF5D-24F3-D30B-EE4CDCB2E7E4}"/>
              </a:ext>
            </a:extLst>
          </p:cNvPr>
          <p:cNvSpPr/>
          <p:nvPr/>
        </p:nvSpPr>
        <p:spPr>
          <a:xfrm>
            <a:off x="4932088" y="5020483"/>
            <a:ext cx="65862" cy="65862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820" name="Line 113">
            <a:extLst>
              <a:ext uri="{FF2B5EF4-FFF2-40B4-BE49-F238E27FC236}">
                <a16:creationId xmlns:a16="http://schemas.microsoft.com/office/drawing/2014/main" id="{AB0CBAC9-3383-7783-A625-809248D1D3B3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5045327" y="4456279"/>
            <a:ext cx="801455" cy="1371966"/>
          </a:xfrm>
          <a:prstGeom prst="line">
            <a:avLst/>
          </a:prstGeom>
          <a:noFill/>
          <a:ln w="19050">
            <a:solidFill>
              <a:schemeClr val="bg1">
                <a:lumMod val="75000"/>
              </a:schemeClr>
            </a:solidFill>
            <a:prstDash val="dashDot"/>
            <a:round/>
            <a:headEnd type="none" w="med" len="med"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821" name="Line 113">
            <a:extLst>
              <a:ext uri="{FF2B5EF4-FFF2-40B4-BE49-F238E27FC236}">
                <a16:creationId xmlns:a16="http://schemas.microsoft.com/office/drawing/2014/main" id="{792FBF2C-AA6C-0B6A-A520-51D8352D14A4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5065036" y="3730443"/>
            <a:ext cx="971078" cy="2054069"/>
          </a:xfrm>
          <a:prstGeom prst="line">
            <a:avLst/>
          </a:prstGeom>
          <a:noFill/>
          <a:ln w="38100">
            <a:solidFill>
              <a:srgbClr val="C00000"/>
            </a:solidFill>
            <a:prstDash val="dashDot"/>
            <a:round/>
            <a:headEnd type="none" w="med" len="med"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822" name="Text Box 119">
            <a:extLst>
              <a:ext uri="{FF2B5EF4-FFF2-40B4-BE49-F238E27FC236}">
                <a16:creationId xmlns:a16="http://schemas.microsoft.com/office/drawing/2014/main" id="{B23CDA64-3C47-727B-503B-E2A671D0632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908678" y="3349036"/>
            <a:ext cx="287228" cy="27698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1425" tIns="45713" rIns="91425" bIns="45713">
            <a:spAutoFit/>
          </a:bodyPr>
          <a:lstStyle>
            <a:lvl1pPr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1pPr>
            <a:lvl2pPr marL="742950" indent="-28575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2pPr>
            <a:lvl3pPr marL="11430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3pPr>
            <a:lvl4pPr marL="16002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4pPr>
            <a:lvl5pPr marL="20574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9pPr>
          </a:lstStyle>
          <a:p>
            <a:r>
              <a:rPr lang="en-US" altLang="zh-CN" sz="1200" b="0" dirty="0">
                <a:solidFill>
                  <a:srgbClr val="00B0F0"/>
                </a:solidFill>
                <a:latin typeface="Arial" pitchFamily="34" charset="0"/>
                <a:ea typeface="SimHei" panose="02010609060101010101" pitchFamily="49" charset="-122"/>
              </a:rPr>
              <a:t>A</a:t>
            </a:r>
          </a:p>
        </p:txBody>
      </p:sp>
      <p:sp>
        <p:nvSpPr>
          <p:cNvPr id="823" name="Text Box 119">
            <a:extLst>
              <a:ext uri="{FF2B5EF4-FFF2-40B4-BE49-F238E27FC236}">
                <a16:creationId xmlns:a16="http://schemas.microsoft.com/office/drawing/2014/main" id="{C01E0DC9-7E41-0598-5257-09AF082A174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907827" y="4076708"/>
            <a:ext cx="295243" cy="27698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1425" tIns="45713" rIns="91425" bIns="45713">
            <a:spAutoFit/>
          </a:bodyPr>
          <a:lstStyle>
            <a:lvl1pPr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1pPr>
            <a:lvl2pPr marL="742950" indent="-28575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2pPr>
            <a:lvl3pPr marL="11430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3pPr>
            <a:lvl4pPr marL="16002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4pPr>
            <a:lvl5pPr marL="2057400" indent="-228600" eaLnBrk="0" hangingPunct="0"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ahoma" pitchFamily="34" charset="0"/>
                <a:ea typeface="宋体" pitchFamily="2" charset="-122"/>
              </a:defRPr>
            </a:lvl9pPr>
          </a:lstStyle>
          <a:p>
            <a:r>
              <a:rPr lang="en-US" altLang="zh-CN" sz="1200" b="0" dirty="0">
                <a:solidFill>
                  <a:schemeClr val="bg1">
                    <a:lumMod val="75000"/>
                  </a:schemeClr>
                </a:solidFill>
                <a:latin typeface="Arial" pitchFamily="34" charset="0"/>
                <a:ea typeface="SimHei" panose="02010609060101010101" pitchFamily="49" charset="-122"/>
              </a:rPr>
              <a:t>B</a:t>
            </a:r>
          </a:p>
        </p:txBody>
      </p:sp>
      <p:sp>
        <p:nvSpPr>
          <p:cNvPr id="824" name="Line 115">
            <a:extLst>
              <a:ext uri="{FF2B5EF4-FFF2-40B4-BE49-F238E27FC236}">
                <a16:creationId xmlns:a16="http://schemas.microsoft.com/office/drawing/2014/main" id="{5E7C4FC1-62AD-6093-0649-F6599C5295D6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652819" y="5504372"/>
            <a:ext cx="4125133" cy="0"/>
          </a:xfrm>
          <a:prstGeom prst="line">
            <a:avLst/>
          </a:prstGeom>
          <a:noFill/>
          <a:ln w="38100">
            <a:solidFill>
              <a:srgbClr val="00B0F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825" name="Line 115">
            <a:extLst>
              <a:ext uri="{FF2B5EF4-FFF2-40B4-BE49-F238E27FC236}">
                <a16:creationId xmlns:a16="http://schemas.microsoft.com/office/drawing/2014/main" id="{B11FC57B-6C1C-F99A-3EED-4908AF74E6F5}"/>
              </a:ext>
            </a:extLst>
          </p:cNvPr>
          <p:cNvSpPr>
            <a:spLocks noChangeShapeType="1"/>
          </p:cNvSpPr>
          <p:nvPr/>
        </p:nvSpPr>
        <p:spPr bwMode="auto">
          <a:xfrm>
            <a:off x="8769107" y="3938359"/>
            <a:ext cx="0" cy="1588425"/>
          </a:xfrm>
          <a:prstGeom prst="line">
            <a:avLst/>
          </a:prstGeom>
          <a:noFill/>
          <a:ln w="38100">
            <a:solidFill>
              <a:srgbClr val="00B0F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826" name="Line 115">
            <a:extLst>
              <a:ext uri="{FF2B5EF4-FFF2-40B4-BE49-F238E27FC236}">
                <a16:creationId xmlns:a16="http://schemas.microsoft.com/office/drawing/2014/main" id="{80C04021-5F60-E459-F1B5-D2A7208EA19C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8634624" y="3957265"/>
            <a:ext cx="138247" cy="0"/>
          </a:xfrm>
          <a:prstGeom prst="line">
            <a:avLst/>
          </a:prstGeom>
          <a:noFill/>
          <a:ln w="38100">
            <a:solidFill>
              <a:srgbClr val="00B0F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</p:spTree>
    <p:extLst>
      <p:ext uri="{BB962C8B-B14F-4D97-AF65-F5344CB8AC3E}">
        <p14:creationId xmlns:p14="http://schemas.microsoft.com/office/powerpoint/2010/main" val="3633396601"/>
      </p:ext>
    </p:extLst>
  </p:cSld>
  <p:clrMapOvr>
    <a:masterClrMapping/>
  </p:clrMapOvr>
</p:sld>
</file>

<file path=ppt/slides/slide1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>
            <a:extLst>
              <a:ext uri="{FF2B5EF4-FFF2-40B4-BE49-F238E27FC236}">
                <a16:creationId xmlns:a16="http://schemas.microsoft.com/office/drawing/2014/main" id="{0FD3E0F0-5952-4184-B584-AAFA53755AFD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dirty="0"/>
              <a:t>数据转发</a:t>
            </a:r>
            <a:r>
              <a:rPr lang="en-US" altLang="zh-CN" dirty="0"/>
              <a:t>: Load-use Hazards</a:t>
            </a:r>
            <a:endParaRPr lang="zh-CN" altLang="en-US" dirty="0"/>
          </a:p>
        </p:txBody>
      </p:sp>
      <p:sp>
        <p:nvSpPr>
          <p:cNvPr id="4" name="灯片编号占位符 3">
            <a:extLst>
              <a:ext uri="{FF2B5EF4-FFF2-40B4-BE49-F238E27FC236}">
                <a16:creationId xmlns:a16="http://schemas.microsoft.com/office/drawing/2014/main" id="{1DB06580-9ECC-4E29-81AA-74B149540F0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1806CE5-282B-4233-8654-09F35EA875E2}" type="slidenum">
              <a:rPr lang="zh-CN" altLang="en-US" smtClean="0"/>
              <a:t>100</a:t>
            </a:fld>
            <a:endParaRPr lang="zh-CN" altLang="en-US"/>
          </a:p>
        </p:txBody>
      </p:sp>
      <p:sp>
        <p:nvSpPr>
          <p:cNvPr id="242" name="Rectangle 22" descr=" 87049">
            <a:extLst>
              <a:ext uri="{FF2B5EF4-FFF2-40B4-BE49-F238E27FC236}">
                <a16:creationId xmlns:a16="http://schemas.microsoft.com/office/drawing/2014/main" id="{A7A4B390-022F-4B13-84AA-F71F86401EC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4000" y="1616329"/>
            <a:ext cx="358775" cy="31099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73" tIns="44442" rIns="90473" bIns="44442">
            <a:spAutoFit/>
          </a:bodyPr>
          <a:lstStyle/>
          <a:p>
            <a:pPr algn="ctr" eaLnBrk="0" hangingPunct="0"/>
            <a:r>
              <a:rPr lang="en-US" altLang="zh-CN" i="1" dirty="0">
                <a:latin typeface="Arial" pitchFamily="34" charset="0"/>
                <a:ea typeface="SimHei" panose="02010609060101010101" pitchFamily="49" charset="-122"/>
              </a:rPr>
              <a:t>I</a:t>
            </a:r>
          </a:p>
          <a:p>
            <a:pPr algn="ctr" eaLnBrk="0" hangingPunct="0"/>
            <a:r>
              <a:rPr lang="en-US" altLang="zh-CN" i="1" dirty="0">
                <a:latin typeface="Arial" pitchFamily="34" charset="0"/>
                <a:ea typeface="SimHei" panose="02010609060101010101" pitchFamily="49" charset="-122"/>
              </a:rPr>
              <a:t>n</a:t>
            </a:r>
          </a:p>
          <a:p>
            <a:pPr algn="ctr" eaLnBrk="0" hangingPunct="0"/>
            <a:r>
              <a:rPr lang="en-US" altLang="zh-CN" i="1" dirty="0">
                <a:latin typeface="Arial" pitchFamily="34" charset="0"/>
                <a:ea typeface="SimHei" panose="02010609060101010101" pitchFamily="49" charset="-122"/>
              </a:rPr>
              <a:t>s</a:t>
            </a:r>
          </a:p>
          <a:p>
            <a:pPr algn="ctr" eaLnBrk="0" hangingPunct="0"/>
            <a:r>
              <a:rPr lang="en-US" altLang="zh-CN" i="1" dirty="0">
                <a:latin typeface="Arial" pitchFamily="34" charset="0"/>
                <a:ea typeface="SimHei" panose="02010609060101010101" pitchFamily="49" charset="-122"/>
              </a:rPr>
              <a:t>t</a:t>
            </a:r>
          </a:p>
          <a:p>
            <a:pPr algn="ctr" eaLnBrk="0" hangingPunct="0"/>
            <a:r>
              <a:rPr lang="en-US" altLang="zh-CN" i="1" dirty="0">
                <a:latin typeface="Arial" pitchFamily="34" charset="0"/>
                <a:ea typeface="SimHei" panose="02010609060101010101" pitchFamily="49" charset="-122"/>
              </a:rPr>
              <a:t>r.</a:t>
            </a:r>
          </a:p>
          <a:p>
            <a:pPr algn="ctr" eaLnBrk="0" hangingPunct="0"/>
            <a:endParaRPr lang="en-US" altLang="zh-CN" i="1" dirty="0">
              <a:latin typeface="Arial" pitchFamily="34" charset="0"/>
              <a:ea typeface="SimHei" panose="02010609060101010101" pitchFamily="49" charset="-122"/>
            </a:endParaRPr>
          </a:p>
          <a:p>
            <a:pPr algn="ctr" eaLnBrk="0" hangingPunct="0"/>
            <a:r>
              <a:rPr lang="en-US" altLang="zh-CN" i="1" dirty="0">
                <a:latin typeface="Arial" pitchFamily="34" charset="0"/>
                <a:ea typeface="SimHei" panose="02010609060101010101" pitchFamily="49" charset="-122"/>
              </a:rPr>
              <a:t>O</a:t>
            </a:r>
          </a:p>
          <a:p>
            <a:pPr algn="ctr" eaLnBrk="0" hangingPunct="0"/>
            <a:r>
              <a:rPr lang="en-US" altLang="zh-CN" i="1" dirty="0">
                <a:latin typeface="Arial" pitchFamily="34" charset="0"/>
                <a:ea typeface="SimHei" panose="02010609060101010101" pitchFamily="49" charset="-122"/>
              </a:rPr>
              <a:t>r</a:t>
            </a:r>
          </a:p>
          <a:p>
            <a:pPr algn="ctr" eaLnBrk="0" hangingPunct="0"/>
            <a:r>
              <a:rPr lang="en-US" altLang="zh-CN" i="1" dirty="0">
                <a:latin typeface="Arial" pitchFamily="34" charset="0"/>
                <a:ea typeface="SimHei" panose="02010609060101010101" pitchFamily="49" charset="-122"/>
              </a:rPr>
              <a:t>d</a:t>
            </a:r>
          </a:p>
          <a:p>
            <a:pPr algn="ctr" eaLnBrk="0" hangingPunct="0"/>
            <a:r>
              <a:rPr lang="en-US" altLang="zh-CN" i="1" dirty="0">
                <a:latin typeface="Arial" pitchFamily="34" charset="0"/>
                <a:ea typeface="SimHei" panose="02010609060101010101" pitchFamily="49" charset="-122"/>
              </a:rPr>
              <a:t>e</a:t>
            </a:r>
          </a:p>
          <a:p>
            <a:pPr algn="ctr" eaLnBrk="0" hangingPunct="0"/>
            <a:r>
              <a:rPr lang="en-US" altLang="zh-CN" i="1" dirty="0">
                <a:latin typeface="Arial" pitchFamily="34" charset="0"/>
                <a:ea typeface="SimHei" panose="02010609060101010101" pitchFamily="49" charset="-122"/>
              </a:rPr>
              <a:t>r</a:t>
            </a:r>
          </a:p>
        </p:txBody>
      </p:sp>
      <p:sp>
        <p:nvSpPr>
          <p:cNvPr id="243" name="Line 23" descr=" 87050">
            <a:extLst>
              <a:ext uri="{FF2B5EF4-FFF2-40B4-BE49-F238E27FC236}">
                <a16:creationId xmlns:a16="http://schemas.microsoft.com/office/drawing/2014/main" id="{0B0A306D-8615-4309-9572-6FD908A85C1B}"/>
              </a:ext>
            </a:extLst>
          </p:cNvPr>
          <p:cNvSpPr>
            <a:spLocks noChangeShapeType="1"/>
          </p:cNvSpPr>
          <p:nvPr/>
        </p:nvSpPr>
        <p:spPr bwMode="auto">
          <a:xfrm>
            <a:off x="2060575" y="1136904"/>
            <a:ext cx="6311900" cy="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sp>
        <p:nvSpPr>
          <p:cNvPr id="244" name="Rectangle 24" descr=" 87051">
            <a:extLst>
              <a:ext uri="{FF2B5EF4-FFF2-40B4-BE49-F238E27FC236}">
                <a16:creationId xmlns:a16="http://schemas.microsoft.com/office/drawing/2014/main" id="{18A55A1B-15DC-41D0-B1F7-02EE755BFFD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8975" y="1543304"/>
            <a:ext cx="1912354" cy="45908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73" tIns="44442" rIns="90473" bIns="44442">
            <a:spAutoFit/>
          </a:bodyPr>
          <a:lstStyle/>
          <a:p>
            <a:pPr eaLnBrk="0" hangingPunct="0"/>
            <a:r>
              <a:rPr lang="en-US" altLang="zh-CN" sz="2400" dirty="0" err="1">
                <a:latin typeface="Arial" pitchFamily="34" charset="0"/>
                <a:ea typeface="SimHei" panose="02010609060101010101" pitchFamily="49" charset="-122"/>
              </a:rPr>
              <a:t>lw</a:t>
            </a:r>
            <a:r>
              <a:rPr lang="en-US" altLang="zh-CN" sz="2400" dirty="0">
                <a:latin typeface="Arial" pitchFamily="34" charset="0"/>
                <a:ea typeface="SimHei" panose="02010609060101010101" pitchFamily="49" charset="-122"/>
              </a:rPr>
              <a:t> </a:t>
            </a:r>
            <a:r>
              <a:rPr lang="en-US" altLang="zh-CN" sz="2400" dirty="0">
                <a:solidFill>
                  <a:schemeClr val="accent1"/>
                </a:solidFill>
                <a:latin typeface="Arial" pitchFamily="34" charset="0"/>
                <a:ea typeface="SimHei" panose="02010609060101010101" pitchFamily="49" charset="-122"/>
              </a:rPr>
              <a:t>r1</a:t>
            </a:r>
            <a:r>
              <a:rPr lang="en-US" altLang="zh-CN" sz="2400" dirty="0">
                <a:latin typeface="Arial" pitchFamily="34" charset="0"/>
                <a:ea typeface="SimHei" panose="02010609060101010101" pitchFamily="49" charset="-122"/>
              </a:rPr>
              <a:t>,100(r2)</a:t>
            </a:r>
          </a:p>
        </p:txBody>
      </p:sp>
      <p:grpSp>
        <p:nvGrpSpPr>
          <p:cNvPr id="245" name="Group 26" descr=" 87053">
            <a:extLst>
              <a:ext uri="{FF2B5EF4-FFF2-40B4-BE49-F238E27FC236}">
                <a16:creationId xmlns:a16="http://schemas.microsoft.com/office/drawing/2014/main" id="{B3D6A6DF-6083-43D7-8611-EBA7DA0224C7}"/>
              </a:ext>
            </a:extLst>
          </p:cNvPr>
          <p:cNvGrpSpPr>
            <a:grpSpLocks/>
          </p:cNvGrpSpPr>
          <p:nvPr/>
        </p:nvGrpSpPr>
        <p:grpSpPr bwMode="auto">
          <a:xfrm>
            <a:off x="3241675" y="1136904"/>
            <a:ext cx="4800600" cy="5207000"/>
            <a:chOff x="2088" y="656"/>
            <a:chExt cx="3024" cy="2816"/>
          </a:xfrm>
        </p:grpSpPr>
        <p:sp>
          <p:nvSpPr>
            <p:cNvPr id="246" name="Line 27">
              <a:extLst>
                <a:ext uri="{FF2B5EF4-FFF2-40B4-BE49-F238E27FC236}">
                  <a16:creationId xmlns:a16="http://schemas.microsoft.com/office/drawing/2014/main" id="{4BD0A200-9E22-42B6-86EC-DF682110B89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088" y="656"/>
              <a:ext cx="0" cy="2816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prstDash val="sysDot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247" name="Line 28">
              <a:extLst>
                <a:ext uri="{FF2B5EF4-FFF2-40B4-BE49-F238E27FC236}">
                  <a16:creationId xmlns:a16="http://schemas.microsoft.com/office/drawing/2014/main" id="{DC1CEE24-0A83-4249-B688-7BF06C91950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520" y="656"/>
              <a:ext cx="0" cy="2816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prstDash val="sysDot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248" name="Line 29">
              <a:extLst>
                <a:ext uri="{FF2B5EF4-FFF2-40B4-BE49-F238E27FC236}">
                  <a16:creationId xmlns:a16="http://schemas.microsoft.com/office/drawing/2014/main" id="{51C9D58C-0B74-44CC-A43D-0A3B8FFAA42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52" y="656"/>
              <a:ext cx="0" cy="2816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prstDash val="sysDot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249" name="Line 30">
              <a:extLst>
                <a:ext uri="{FF2B5EF4-FFF2-40B4-BE49-F238E27FC236}">
                  <a16:creationId xmlns:a16="http://schemas.microsoft.com/office/drawing/2014/main" id="{6F1A29B2-02BA-4BBF-A539-05279A7DAC6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84" y="656"/>
              <a:ext cx="0" cy="2816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prstDash val="sysDot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250" name="Line 31">
              <a:extLst>
                <a:ext uri="{FF2B5EF4-FFF2-40B4-BE49-F238E27FC236}">
                  <a16:creationId xmlns:a16="http://schemas.microsoft.com/office/drawing/2014/main" id="{92009FD7-559C-4D66-83F0-3FEC4A1C2CF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16" y="656"/>
              <a:ext cx="0" cy="2816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prstDash val="sysDot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251" name="Line 32">
              <a:extLst>
                <a:ext uri="{FF2B5EF4-FFF2-40B4-BE49-F238E27FC236}">
                  <a16:creationId xmlns:a16="http://schemas.microsoft.com/office/drawing/2014/main" id="{39C94721-3A32-4F7B-88B0-1F34192C4F7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48" y="656"/>
              <a:ext cx="0" cy="2816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prstDash val="sysDot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252" name="Line 33">
              <a:extLst>
                <a:ext uri="{FF2B5EF4-FFF2-40B4-BE49-F238E27FC236}">
                  <a16:creationId xmlns:a16="http://schemas.microsoft.com/office/drawing/2014/main" id="{C5239873-21E9-44D2-A0B0-6CB2274A0E5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80" y="656"/>
              <a:ext cx="0" cy="2816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prstDash val="sysDot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253" name="Line 34">
              <a:extLst>
                <a:ext uri="{FF2B5EF4-FFF2-40B4-BE49-F238E27FC236}">
                  <a16:creationId xmlns:a16="http://schemas.microsoft.com/office/drawing/2014/main" id="{13829EB6-0E7C-4E02-A602-116090C232E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12" y="656"/>
              <a:ext cx="0" cy="2816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prstDash val="sysDot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</p:grpSp>
      <p:sp>
        <p:nvSpPr>
          <p:cNvPr id="254" name="Line 39" descr=" 87055">
            <a:extLst>
              <a:ext uri="{FF2B5EF4-FFF2-40B4-BE49-F238E27FC236}">
                <a16:creationId xmlns:a16="http://schemas.microsoft.com/office/drawing/2014/main" id="{BB5B92E7-D0C6-4267-85D9-76B2A7C24DAD}"/>
              </a:ext>
            </a:extLst>
          </p:cNvPr>
          <p:cNvSpPr>
            <a:spLocks noChangeShapeType="1"/>
          </p:cNvSpPr>
          <p:nvPr/>
        </p:nvSpPr>
        <p:spPr bwMode="auto">
          <a:xfrm>
            <a:off x="612775" y="1538542"/>
            <a:ext cx="0" cy="4805362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dirty="0">
              <a:ea typeface="SimHei" panose="02010609060101010101" pitchFamily="49" charset="-122"/>
            </a:endParaRPr>
          </a:p>
        </p:txBody>
      </p:sp>
      <p:grpSp>
        <p:nvGrpSpPr>
          <p:cNvPr id="255" name="Group 40" descr=" 87056">
            <a:extLst>
              <a:ext uri="{FF2B5EF4-FFF2-40B4-BE49-F238E27FC236}">
                <a16:creationId xmlns:a16="http://schemas.microsoft.com/office/drawing/2014/main" id="{165FAAB9-E24C-45B9-BCD2-990716155EAD}"/>
              </a:ext>
            </a:extLst>
          </p:cNvPr>
          <p:cNvGrpSpPr>
            <a:grpSpLocks/>
          </p:cNvGrpSpPr>
          <p:nvPr/>
        </p:nvGrpSpPr>
        <p:grpSpPr bwMode="auto">
          <a:xfrm>
            <a:off x="2668588" y="1314704"/>
            <a:ext cx="3357562" cy="838200"/>
            <a:chOff x="1562" y="1152"/>
            <a:chExt cx="2114" cy="528"/>
          </a:xfrm>
        </p:grpSpPr>
        <p:grpSp>
          <p:nvGrpSpPr>
            <p:cNvPr id="256" name="Group 41">
              <a:extLst>
                <a:ext uri="{FF2B5EF4-FFF2-40B4-BE49-F238E27FC236}">
                  <a16:creationId xmlns:a16="http://schemas.microsoft.com/office/drawing/2014/main" id="{F1FF559B-6128-4705-9275-4685C999121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487" y="1152"/>
              <a:ext cx="223" cy="481"/>
              <a:chOff x="2207" y="1413"/>
              <a:chExt cx="223" cy="481"/>
            </a:xfrm>
          </p:grpSpPr>
          <p:sp>
            <p:nvSpPr>
              <p:cNvPr id="286" name="Freeform 42">
                <a:extLst>
                  <a:ext uri="{FF2B5EF4-FFF2-40B4-BE49-F238E27FC236}">
                    <a16:creationId xmlns:a16="http://schemas.microsoft.com/office/drawing/2014/main" id="{2016B26C-B342-49C3-AE28-28969B7879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7" y="1413"/>
                <a:ext cx="213" cy="481"/>
              </a:xfrm>
              <a:custGeom>
                <a:avLst/>
                <a:gdLst>
                  <a:gd name="T0" fmla="*/ 0 w 213"/>
                  <a:gd name="T1" fmla="*/ 320 h 481"/>
                  <a:gd name="T2" fmla="*/ 71 w 213"/>
                  <a:gd name="T3" fmla="*/ 240 h 481"/>
                  <a:gd name="T4" fmla="*/ 0 w 213"/>
                  <a:gd name="T5" fmla="*/ 160 h 481"/>
                  <a:gd name="T6" fmla="*/ 0 w 213"/>
                  <a:gd name="T7" fmla="*/ 0 h 481"/>
                  <a:gd name="T8" fmla="*/ 212 w 213"/>
                  <a:gd name="T9" fmla="*/ 160 h 481"/>
                  <a:gd name="T10" fmla="*/ 212 w 213"/>
                  <a:gd name="T11" fmla="*/ 320 h 481"/>
                  <a:gd name="T12" fmla="*/ 0 w 213"/>
                  <a:gd name="T13" fmla="*/ 480 h 481"/>
                  <a:gd name="T14" fmla="*/ 0 w 213"/>
                  <a:gd name="T15" fmla="*/ 320 h 48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13" h="481">
                    <a:moveTo>
                      <a:pt x="0" y="320"/>
                    </a:moveTo>
                    <a:lnTo>
                      <a:pt x="71" y="240"/>
                    </a:lnTo>
                    <a:lnTo>
                      <a:pt x="0" y="160"/>
                    </a:lnTo>
                    <a:lnTo>
                      <a:pt x="0" y="0"/>
                    </a:lnTo>
                    <a:lnTo>
                      <a:pt x="212" y="160"/>
                    </a:lnTo>
                    <a:lnTo>
                      <a:pt x="212" y="320"/>
                    </a:lnTo>
                    <a:lnTo>
                      <a:pt x="0" y="480"/>
                    </a:lnTo>
                    <a:lnTo>
                      <a:pt x="0" y="320"/>
                    </a:lnTo>
                  </a:path>
                </a:pathLst>
              </a:custGeom>
              <a:noFill/>
              <a:ln w="25400" cap="rnd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dirty="0">
                  <a:ea typeface="SimHei" panose="02010609060101010101" pitchFamily="49" charset="-122"/>
                </a:endParaRPr>
              </a:p>
            </p:txBody>
          </p:sp>
          <p:sp>
            <p:nvSpPr>
              <p:cNvPr id="287" name="Rectangle 43">
                <a:extLst>
                  <a:ext uri="{FF2B5EF4-FFF2-40B4-BE49-F238E27FC236}">
                    <a16:creationId xmlns:a16="http://schemas.microsoft.com/office/drawing/2014/main" id="{B4A6EDA5-65E0-467E-9A7E-4CAB0361351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5400000">
                <a:off x="2130" y="1532"/>
                <a:ext cx="366" cy="21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12700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lIns="90473" tIns="44442" rIns="90473" bIns="44442">
                <a:spAutoFit/>
              </a:bodyPr>
              <a:lstStyle/>
              <a:p>
                <a:pPr eaLnBrk="0" hangingPunct="0"/>
                <a:r>
                  <a:rPr lang="en-US" altLang="zh-CN" sz="1600" dirty="0">
                    <a:latin typeface="Arial" pitchFamily="34" charset="0"/>
                    <a:ea typeface="SimHei" panose="02010609060101010101" pitchFamily="49" charset="-122"/>
                  </a:rPr>
                  <a:t>ALU</a:t>
                </a:r>
              </a:p>
            </p:txBody>
          </p:sp>
        </p:grpSp>
        <p:grpSp>
          <p:nvGrpSpPr>
            <p:cNvPr id="257" name="Group 44">
              <a:extLst>
                <a:ext uri="{FF2B5EF4-FFF2-40B4-BE49-F238E27FC236}">
                  <a16:creationId xmlns:a16="http://schemas.microsoft.com/office/drawing/2014/main" id="{BF0202CF-D9DF-417F-8234-8380855B8DD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562" y="1248"/>
              <a:ext cx="349" cy="289"/>
              <a:chOff x="1282" y="1509"/>
              <a:chExt cx="349" cy="289"/>
            </a:xfrm>
          </p:grpSpPr>
          <p:sp>
            <p:nvSpPr>
              <p:cNvPr id="282" name="Rectangle 45">
                <a:extLst>
                  <a:ext uri="{FF2B5EF4-FFF2-40B4-BE49-F238E27FC236}">
                    <a16:creationId xmlns:a16="http://schemas.microsoft.com/office/drawing/2014/main" id="{4F8BE51E-947F-4A12-892B-7647C6DA1BD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82" y="1511"/>
                <a:ext cx="257" cy="21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12700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lIns="90473" tIns="44442" rIns="90473" bIns="44442">
                <a:spAutoFit/>
              </a:bodyPr>
              <a:lstStyle/>
              <a:p>
                <a:pPr algn="ctr" eaLnBrk="0" hangingPunct="0"/>
                <a:r>
                  <a:rPr lang="en-US" altLang="zh-CN" sz="1600" dirty="0">
                    <a:latin typeface="Arial" pitchFamily="34" charset="0"/>
                    <a:ea typeface="SimHei" panose="02010609060101010101" pitchFamily="49" charset="-122"/>
                  </a:rPr>
                  <a:t>IM</a:t>
                </a:r>
              </a:p>
            </p:txBody>
          </p:sp>
          <p:grpSp>
            <p:nvGrpSpPr>
              <p:cNvPr id="283" name="Group 46">
                <a:extLst>
                  <a:ext uri="{FF2B5EF4-FFF2-40B4-BE49-F238E27FC236}">
                    <a16:creationId xmlns:a16="http://schemas.microsoft.com/office/drawing/2014/main" id="{ADEF7149-36BD-43C0-93A6-F4A7F9F7003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291" y="1509"/>
                <a:ext cx="340" cy="289"/>
                <a:chOff x="1291" y="1509"/>
                <a:chExt cx="340" cy="289"/>
              </a:xfrm>
            </p:grpSpPr>
            <p:sp>
              <p:nvSpPr>
                <p:cNvPr id="284" name="Freeform 47">
                  <a:extLst>
                    <a:ext uri="{FF2B5EF4-FFF2-40B4-BE49-F238E27FC236}">
                      <a16:creationId xmlns:a16="http://schemas.microsoft.com/office/drawing/2014/main" id="{A0200C99-804B-48A4-B8F4-37E0C0E4BE7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291" y="1509"/>
                  <a:ext cx="170" cy="289"/>
                </a:xfrm>
                <a:custGeom>
                  <a:avLst/>
                  <a:gdLst>
                    <a:gd name="T0" fmla="*/ 169 w 170"/>
                    <a:gd name="T1" fmla="*/ 0 h 289"/>
                    <a:gd name="T2" fmla="*/ 0 w 170"/>
                    <a:gd name="T3" fmla="*/ 0 h 289"/>
                    <a:gd name="T4" fmla="*/ 0 w 170"/>
                    <a:gd name="T5" fmla="*/ 288 h 289"/>
                    <a:gd name="T6" fmla="*/ 169 w 170"/>
                    <a:gd name="T7" fmla="*/ 288 h 289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170" h="289">
                      <a:moveTo>
                        <a:pt x="169" y="0"/>
                      </a:moveTo>
                      <a:lnTo>
                        <a:pt x="0" y="0"/>
                      </a:lnTo>
                      <a:lnTo>
                        <a:pt x="0" y="288"/>
                      </a:lnTo>
                      <a:lnTo>
                        <a:pt x="169" y="288"/>
                      </a:lnTo>
                    </a:path>
                  </a:pathLst>
                </a:custGeom>
                <a:noFill/>
                <a:ln w="25400" cap="rnd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zh-CN" altLang="en-US" dirty="0">
                    <a:ea typeface="SimHei" panose="02010609060101010101" pitchFamily="49" charset="-122"/>
                  </a:endParaRPr>
                </a:p>
              </p:txBody>
            </p:sp>
            <p:sp>
              <p:nvSpPr>
                <p:cNvPr id="285" name="Freeform 48">
                  <a:extLst>
                    <a:ext uri="{FF2B5EF4-FFF2-40B4-BE49-F238E27FC236}">
                      <a16:creationId xmlns:a16="http://schemas.microsoft.com/office/drawing/2014/main" id="{28B749E4-8800-43CE-8FC9-5B39B6F44C6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460" y="1509"/>
                  <a:ext cx="171" cy="289"/>
                </a:xfrm>
                <a:custGeom>
                  <a:avLst/>
                  <a:gdLst>
                    <a:gd name="T0" fmla="*/ 0 w 171"/>
                    <a:gd name="T1" fmla="*/ 0 h 289"/>
                    <a:gd name="T2" fmla="*/ 170 w 171"/>
                    <a:gd name="T3" fmla="*/ 0 h 289"/>
                    <a:gd name="T4" fmla="*/ 170 w 171"/>
                    <a:gd name="T5" fmla="*/ 288 h 289"/>
                    <a:gd name="T6" fmla="*/ 0 w 171"/>
                    <a:gd name="T7" fmla="*/ 288 h 289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171" h="289">
                      <a:moveTo>
                        <a:pt x="0" y="0"/>
                      </a:moveTo>
                      <a:lnTo>
                        <a:pt x="170" y="0"/>
                      </a:lnTo>
                      <a:lnTo>
                        <a:pt x="170" y="288"/>
                      </a:lnTo>
                      <a:lnTo>
                        <a:pt x="0" y="288"/>
                      </a:lnTo>
                    </a:path>
                  </a:pathLst>
                </a:custGeom>
                <a:noFill/>
                <a:ln w="25400" cap="rnd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zh-CN" altLang="en-US" dirty="0">
                    <a:ea typeface="SimHei" panose="02010609060101010101" pitchFamily="49" charset="-122"/>
                  </a:endParaRPr>
                </a:p>
              </p:txBody>
            </p:sp>
          </p:grpSp>
        </p:grpSp>
        <p:sp>
          <p:nvSpPr>
            <p:cNvPr id="258" name="Rectangle 49">
              <a:extLst>
                <a:ext uri="{FF2B5EF4-FFF2-40B4-BE49-F238E27FC236}">
                  <a16:creationId xmlns:a16="http://schemas.microsoft.com/office/drawing/2014/main" id="{56204CEC-DE5D-401E-9FBC-44B0F7560B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12" y="1255"/>
              <a:ext cx="355" cy="21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73" tIns="44442" rIns="90473" bIns="44442">
              <a:spAutoFit/>
            </a:bodyPr>
            <a:lstStyle/>
            <a:p>
              <a:pPr eaLnBrk="0" hangingPunct="0"/>
              <a:r>
                <a:rPr lang="en-US" altLang="zh-CN" sz="1600" dirty="0">
                  <a:latin typeface="Arial" pitchFamily="34" charset="0"/>
                  <a:ea typeface="SimHei" panose="02010609060101010101" pitchFamily="49" charset="-122"/>
                </a:rPr>
                <a:t>Reg</a:t>
              </a:r>
            </a:p>
          </p:txBody>
        </p:sp>
        <p:grpSp>
          <p:nvGrpSpPr>
            <p:cNvPr id="259" name="Group 50">
              <a:extLst>
                <a:ext uri="{FF2B5EF4-FFF2-40B4-BE49-F238E27FC236}">
                  <a16:creationId xmlns:a16="http://schemas.microsoft.com/office/drawing/2014/main" id="{F5A3EEDA-0333-4BA6-916F-216AB585812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031" y="1248"/>
              <a:ext cx="296" cy="289"/>
              <a:chOff x="1751" y="1509"/>
              <a:chExt cx="296" cy="289"/>
            </a:xfrm>
          </p:grpSpPr>
          <p:sp>
            <p:nvSpPr>
              <p:cNvPr id="280" name="Freeform 51">
                <a:extLst>
                  <a:ext uri="{FF2B5EF4-FFF2-40B4-BE49-F238E27FC236}">
                    <a16:creationId xmlns:a16="http://schemas.microsoft.com/office/drawing/2014/main" id="{3A068854-4ABC-4FBA-9564-4A8BDB3C22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1" y="1509"/>
                <a:ext cx="149" cy="289"/>
              </a:xfrm>
              <a:custGeom>
                <a:avLst/>
                <a:gdLst>
                  <a:gd name="T0" fmla="*/ 148 w 149"/>
                  <a:gd name="T1" fmla="*/ 0 h 289"/>
                  <a:gd name="T2" fmla="*/ 0 w 149"/>
                  <a:gd name="T3" fmla="*/ 0 h 289"/>
                  <a:gd name="T4" fmla="*/ 0 w 149"/>
                  <a:gd name="T5" fmla="*/ 288 h 289"/>
                  <a:gd name="T6" fmla="*/ 148 w 149"/>
                  <a:gd name="T7" fmla="*/ 288 h 28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9" h="289">
                    <a:moveTo>
                      <a:pt x="148" y="0"/>
                    </a:moveTo>
                    <a:lnTo>
                      <a:pt x="0" y="0"/>
                    </a:lnTo>
                    <a:lnTo>
                      <a:pt x="0" y="288"/>
                    </a:lnTo>
                    <a:lnTo>
                      <a:pt x="148" y="288"/>
                    </a:lnTo>
                  </a:path>
                </a:pathLst>
              </a:custGeom>
              <a:noFill/>
              <a:ln w="25400" cap="rnd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dirty="0">
                  <a:ea typeface="SimHei" panose="02010609060101010101" pitchFamily="49" charset="-122"/>
                </a:endParaRPr>
              </a:p>
            </p:txBody>
          </p:sp>
          <p:sp>
            <p:nvSpPr>
              <p:cNvPr id="281" name="Freeform 52">
                <a:extLst>
                  <a:ext uri="{FF2B5EF4-FFF2-40B4-BE49-F238E27FC236}">
                    <a16:creationId xmlns:a16="http://schemas.microsoft.com/office/drawing/2014/main" id="{CE66C135-2627-41FB-9FBF-A3F1D99738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9" y="1509"/>
                <a:ext cx="148" cy="289"/>
              </a:xfrm>
              <a:custGeom>
                <a:avLst/>
                <a:gdLst>
                  <a:gd name="T0" fmla="*/ 0 w 148"/>
                  <a:gd name="T1" fmla="*/ 0 h 289"/>
                  <a:gd name="T2" fmla="*/ 147 w 148"/>
                  <a:gd name="T3" fmla="*/ 0 h 289"/>
                  <a:gd name="T4" fmla="*/ 147 w 148"/>
                  <a:gd name="T5" fmla="*/ 288 h 289"/>
                  <a:gd name="T6" fmla="*/ 0 w 148"/>
                  <a:gd name="T7" fmla="*/ 288 h 28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8" h="289">
                    <a:moveTo>
                      <a:pt x="0" y="0"/>
                    </a:moveTo>
                    <a:lnTo>
                      <a:pt x="147" y="0"/>
                    </a:lnTo>
                    <a:lnTo>
                      <a:pt x="147" y="288"/>
                    </a:lnTo>
                    <a:lnTo>
                      <a:pt x="0" y="288"/>
                    </a:lnTo>
                  </a:path>
                </a:pathLst>
              </a:custGeom>
              <a:noFill/>
              <a:ln w="25400" cap="rnd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dirty="0">
                  <a:ea typeface="SimHei" panose="02010609060101010101" pitchFamily="49" charset="-122"/>
                </a:endParaRPr>
              </a:p>
            </p:txBody>
          </p:sp>
        </p:grpSp>
        <p:sp>
          <p:nvSpPr>
            <p:cNvPr id="260" name="Line 53">
              <a:extLst>
                <a:ext uri="{FF2B5EF4-FFF2-40B4-BE49-F238E27FC236}">
                  <a16:creationId xmlns:a16="http://schemas.microsoft.com/office/drawing/2014/main" id="{495F38E2-6E0E-42C1-8621-DEC74BD9BF4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916" y="1392"/>
              <a:ext cx="116" cy="0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261" name="Freeform 54">
              <a:extLst>
                <a:ext uri="{FF2B5EF4-FFF2-40B4-BE49-F238E27FC236}">
                  <a16:creationId xmlns:a16="http://schemas.microsoft.com/office/drawing/2014/main" id="{1F94B0CF-DC77-45C4-90CA-FFFFFFCB1EA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4" y="1296"/>
              <a:ext cx="48" cy="97"/>
            </a:xfrm>
            <a:custGeom>
              <a:avLst/>
              <a:gdLst>
                <a:gd name="T0" fmla="*/ 0 w 48"/>
                <a:gd name="T1" fmla="*/ 96 h 97"/>
                <a:gd name="T2" fmla="*/ 0 w 48"/>
                <a:gd name="T3" fmla="*/ 0 h 97"/>
                <a:gd name="T4" fmla="*/ 47 w 48"/>
                <a:gd name="T5" fmla="*/ 0 h 97"/>
                <a:gd name="T6" fmla="*/ 47 w 48"/>
                <a:gd name="T7" fmla="*/ 0 h 9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8" h="97">
                  <a:moveTo>
                    <a:pt x="0" y="96"/>
                  </a:moveTo>
                  <a:lnTo>
                    <a:pt x="0" y="0"/>
                  </a:lnTo>
                  <a:lnTo>
                    <a:pt x="47" y="0"/>
                  </a:lnTo>
                </a:path>
              </a:pathLst>
            </a:custGeom>
            <a:noFill/>
            <a:ln w="25400" cap="rnd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262" name="Line 55">
              <a:extLst>
                <a:ext uri="{FF2B5EF4-FFF2-40B4-BE49-F238E27FC236}">
                  <a16:creationId xmlns:a16="http://schemas.microsoft.com/office/drawing/2014/main" id="{A19A36BA-03F1-4A23-B58D-8E300F9A660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332" y="1296"/>
              <a:ext cx="157" cy="0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263" name="Rectangle 56">
              <a:extLst>
                <a:ext uri="{FF2B5EF4-FFF2-40B4-BE49-F238E27FC236}">
                  <a16:creationId xmlns:a16="http://schemas.microsoft.com/office/drawing/2014/main" id="{98D85197-6EEA-42F9-A5C0-670286B6B2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29" y="1250"/>
              <a:ext cx="313" cy="21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73" tIns="44442" rIns="90473" bIns="44442">
              <a:spAutoFit/>
            </a:bodyPr>
            <a:lstStyle/>
            <a:p>
              <a:pPr eaLnBrk="0" hangingPunct="0"/>
              <a:r>
                <a:rPr lang="en-US" altLang="zh-CN" sz="1600" dirty="0">
                  <a:latin typeface="Arial" pitchFamily="34" charset="0"/>
                  <a:ea typeface="SimHei" panose="02010609060101010101" pitchFamily="49" charset="-122"/>
                </a:rPr>
                <a:t>DM</a:t>
              </a:r>
            </a:p>
          </p:txBody>
        </p:sp>
        <p:grpSp>
          <p:nvGrpSpPr>
            <p:cNvPr id="264" name="Group 57">
              <a:extLst>
                <a:ext uri="{FF2B5EF4-FFF2-40B4-BE49-F238E27FC236}">
                  <a16:creationId xmlns:a16="http://schemas.microsoft.com/office/drawing/2014/main" id="{DA0DB860-2A55-4EE4-9474-631F26920CC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880" y="1248"/>
              <a:ext cx="325" cy="289"/>
              <a:chOff x="2600" y="1509"/>
              <a:chExt cx="325" cy="289"/>
            </a:xfrm>
          </p:grpSpPr>
          <p:sp>
            <p:nvSpPr>
              <p:cNvPr id="278" name="Freeform 58">
                <a:extLst>
                  <a:ext uri="{FF2B5EF4-FFF2-40B4-BE49-F238E27FC236}">
                    <a16:creationId xmlns:a16="http://schemas.microsoft.com/office/drawing/2014/main" id="{4750E21C-254F-4712-BB5D-E23718E5D8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0" y="1509"/>
                <a:ext cx="162" cy="289"/>
              </a:xfrm>
              <a:custGeom>
                <a:avLst/>
                <a:gdLst>
                  <a:gd name="T0" fmla="*/ 161 w 162"/>
                  <a:gd name="T1" fmla="*/ 0 h 289"/>
                  <a:gd name="T2" fmla="*/ 0 w 162"/>
                  <a:gd name="T3" fmla="*/ 0 h 289"/>
                  <a:gd name="T4" fmla="*/ 0 w 162"/>
                  <a:gd name="T5" fmla="*/ 288 h 289"/>
                  <a:gd name="T6" fmla="*/ 161 w 162"/>
                  <a:gd name="T7" fmla="*/ 288 h 28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2" h="289">
                    <a:moveTo>
                      <a:pt x="161" y="0"/>
                    </a:moveTo>
                    <a:lnTo>
                      <a:pt x="0" y="0"/>
                    </a:lnTo>
                    <a:lnTo>
                      <a:pt x="0" y="288"/>
                    </a:lnTo>
                    <a:lnTo>
                      <a:pt x="161" y="288"/>
                    </a:lnTo>
                  </a:path>
                </a:pathLst>
              </a:custGeom>
              <a:noFill/>
              <a:ln w="25400" cap="rnd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dirty="0">
                  <a:ea typeface="SimHei" panose="02010609060101010101" pitchFamily="49" charset="-122"/>
                </a:endParaRPr>
              </a:p>
            </p:txBody>
          </p:sp>
          <p:sp>
            <p:nvSpPr>
              <p:cNvPr id="279" name="Freeform 59">
                <a:extLst>
                  <a:ext uri="{FF2B5EF4-FFF2-40B4-BE49-F238E27FC236}">
                    <a16:creationId xmlns:a16="http://schemas.microsoft.com/office/drawing/2014/main" id="{0BBA36F6-DE03-4DE3-BC44-6470B8CE09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1" y="1509"/>
                <a:ext cx="164" cy="289"/>
              </a:xfrm>
              <a:custGeom>
                <a:avLst/>
                <a:gdLst>
                  <a:gd name="T0" fmla="*/ 0 w 164"/>
                  <a:gd name="T1" fmla="*/ 0 h 289"/>
                  <a:gd name="T2" fmla="*/ 163 w 164"/>
                  <a:gd name="T3" fmla="*/ 0 h 289"/>
                  <a:gd name="T4" fmla="*/ 163 w 164"/>
                  <a:gd name="T5" fmla="*/ 288 h 289"/>
                  <a:gd name="T6" fmla="*/ 0 w 164"/>
                  <a:gd name="T7" fmla="*/ 288 h 28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4" h="289">
                    <a:moveTo>
                      <a:pt x="0" y="0"/>
                    </a:moveTo>
                    <a:lnTo>
                      <a:pt x="163" y="0"/>
                    </a:lnTo>
                    <a:lnTo>
                      <a:pt x="163" y="288"/>
                    </a:lnTo>
                    <a:lnTo>
                      <a:pt x="0" y="288"/>
                    </a:lnTo>
                  </a:path>
                </a:pathLst>
              </a:custGeom>
              <a:noFill/>
              <a:ln w="25400" cap="rnd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dirty="0">
                  <a:ea typeface="SimHei" panose="02010609060101010101" pitchFamily="49" charset="-122"/>
                </a:endParaRPr>
              </a:p>
            </p:txBody>
          </p:sp>
        </p:grpSp>
        <p:sp>
          <p:nvSpPr>
            <p:cNvPr id="265" name="Rectangle 60">
              <a:extLst>
                <a:ext uri="{FF2B5EF4-FFF2-40B4-BE49-F238E27FC236}">
                  <a16:creationId xmlns:a16="http://schemas.microsoft.com/office/drawing/2014/main" id="{36B42F43-78BB-4408-AACF-D4889171B7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21" y="1250"/>
              <a:ext cx="355" cy="21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73" tIns="44442" rIns="90473" bIns="44442">
              <a:spAutoFit/>
            </a:bodyPr>
            <a:lstStyle/>
            <a:p>
              <a:pPr eaLnBrk="0" hangingPunct="0"/>
              <a:r>
                <a:rPr lang="en-US" altLang="zh-CN" sz="1600" dirty="0">
                  <a:latin typeface="Arial" pitchFamily="34" charset="0"/>
                  <a:ea typeface="SimHei" panose="02010609060101010101" pitchFamily="49" charset="-122"/>
                </a:rPr>
                <a:t>Reg</a:t>
              </a:r>
            </a:p>
          </p:txBody>
        </p:sp>
        <p:grpSp>
          <p:nvGrpSpPr>
            <p:cNvPr id="266" name="Group 61">
              <a:extLst>
                <a:ext uri="{FF2B5EF4-FFF2-40B4-BE49-F238E27FC236}">
                  <a16:creationId xmlns:a16="http://schemas.microsoft.com/office/drawing/2014/main" id="{D02EFF8A-6324-4605-A6A4-8238C144097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348" y="1248"/>
              <a:ext cx="284" cy="289"/>
              <a:chOff x="3068" y="1509"/>
              <a:chExt cx="284" cy="289"/>
            </a:xfrm>
          </p:grpSpPr>
          <p:sp>
            <p:nvSpPr>
              <p:cNvPr id="276" name="Freeform 62">
                <a:extLst>
                  <a:ext uri="{FF2B5EF4-FFF2-40B4-BE49-F238E27FC236}">
                    <a16:creationId xmlns:a16="http://schemas.microsoft.com/office/drawing/2014/main" id="{600404F3-A098-44AC-BAE0-C2919A630B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8" y="1509"/>
                <a:ext cx="142" cy="289"/>
              </a:xfrm>
              <a:custGeom>
                <a:avLst/>
                <a:gdLst>
                  <a:gd name="T0" fmla="*/ 141 w 142"/>
                  <a:gd name="T1" fmla="*/ 0 h 289"/>
                  <a:gd name="T2" fmla="*/ 0 w 142"/>
                  <a:gd name="T3" fmla="*/ 0 h 289"/>
                  <a:gd name="T4" fmla="*/ 0 w 142"/>
                  <a:gd name="T5" fmla="*/ 288 h 289"/>
                  <a:gd name="T6" fmla="*/ 141 w 142"/>
                  <a:gd name="T7" fmla="*/ 288 h 28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2" h="289">
                    <a:moveTo>
                      <a:pt x="141" y="0"/>
                    </a:moveTo>
                    <a:lnTo>
                      <a:pt x="0" y="0"/>
                    </a:lnTo>
                    <a:lnTo>
                      <a:pt x="0" y="288"/>
                    </a:lnTo>
                    <a:lnTo>
                      <a:pt x="141" y="288"/>
                    </a:lnTo>
                  </a:path>
                </a:pathLst>
              </a:custGeom>
              <a:noFill/>
              <a:ln w="25400" cap="rnd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dirty="0">
                  <a:ea typeface="SimHei" panose="02010609060101010101" pitchFamily="49" charset="-122"/>
                </a:endParaRPr>
              </a:p>
            </p:txBody>
          </p:sp>
          <p:sp>
            <p:nvSpPr>
              <p:cNvPr id="277" name="Freeform 63">
                <a:extLst>
                  <a:ext uri="{FF2B5EF4-FFF2-40B4-BE49-F238E27FC236}">
                    <a16:creationId xmlns:a16="http://schemas.microsoft.com/office/drawing/2014/main" id="{E81B99CD-FF15-4122-8928-943E4B7F40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9" y="1509"/>
                <a:ext cx="143" cy="289"/>
              </a:xfrm>
              <a:custGeom>
                <a:avLst/>
                <a:gdLst>
                  <a:gd name="T0" fmla="*/ 0 w 143"/>
                  <a:gd name="T1" fmla="*/ 0 h 289"/>
                  <a:gd name="T2" fmla="*/ 142 w 143"/>
                  <a:gd name="T3" fmla="*/ 0 h 289"/>
                  <a:gd name="T4" fmla="*/ 142 w 143"/>
                  <a:gd name="T5" fmla="*/ 288 h 289"/>
                  <a:gd name="T6" fmla="*/ 0 w 143"/>
                  <a:gd name="T7" fmla="*/ 288 h 28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3" h="289">
                    <a:moveTo>
                      <a:pt x="0" y="0"/>
                    </a:moveTo>
                    <a:lnTo>
                      <a:pt x="142" y="0"/>
                    </a:lnTo>
                    <a:lnTo>
                      <a:pt x="142" y="288"/>
                    </a:lnTo>
                    <a:lnTo>
                      <a:pt x="0" y="288"/>
                    </a:lnTo>
                  </a:path>
                </a:pathLst>
              </a:custGeom>
              <a:noFill/>
              <a:ln w="25400" cap="rnd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dirty="0">
                  <a:ea typeface="SimHei" panose="02010609060101010101" pitchFamily="49" charset="-122"/>
                </a:endParaRPr>
              </a:p>
            </p:txBody>
          </p:sp>
        </p:grpSp>
        <p:sp>
          <p:nvSpPr>
            <p:cNvPr id="267" name="Line 64">
              <a:extLst>
                <a:ext uri="{FF2B5EF4-FFF2-40B4-BE49-F238E27FC236}">
                  <a16:creationId xmlns:a16="http://schemas.microsoft.com/office/drawing/2014/main" id="{7BF3C8A0-1D1C-4635-AE14-E507AA4232D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01" y="1392"/>
              <a:ext cx="139" cy="0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268" name="Line 65">
              <a:extLst>
                <a:ext uri="{FF2B5EF4-FFF2-40B4-BE49-F238E27FC236}">
                  <a16:creationId xmlns:a16="http://schemas.microsoft.com/office/drawing/2014/main" id="{55F0D8CD-7FBF-45B4-BD70-A2988AA1929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717" y="1392"/>
              <a:ext cx="155" cy="0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269" name="Line 66">
              <a:extLst>
                <a:ext uri="{FF2B5EF4-FFF2-40B4-BE49-F238E27FC236}">
                  <a16:creationId xmlns:a16="http://schemas.microsoft.com/office/drawing/2014/main" id="{34D0285B-AF78-48F5-8AF7-11A2C964390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332" y="1488"/>
              <a:ext cx="157" cy="0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270" name="Line 67">
              <a:extLst>
                <a:ext uri="{FF2B5EF4-FFF2-40B4-BE49-F238E27FC236}">
                  <a16:creationId xmlns:a16="http://schemas.microsoft.com/office/drawing/2014/main" id="{30FDDB7C-38A5-4581-9FDE-9E9E50210D7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416" y="1488"/>
              <a:ext cx="0" cy="192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271" name="Line 68">
              <a:extLst>
                <a:ext uri="{FF2B5EF4-FFF2-40B4-BE49-F238E27FC236}">
                  <a16:creationId xmlns:a16="http://schemas.microsoft.com/office/drawing/2014/main" id="{48A7E577-03CC-4979-A61C-A19CC47A27E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416" y="1680"/>
              <a:ext cx="336" cy="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272" name="Line 69">
              <a:extLst>
                <a:ext uri="{FF2B5EF4-FFF2-40B4-BE49-F238E27FC236}">
                  <a16:creationId xmlns:a16="http://schemas.microsoft.com/office/drawing/2014/main" id="{634019BD-3D0C-4253-B80C-36075F54B21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752" y="1392"/>
              <a:ext cx="0" cy="288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273" name="Line 70">
              <a:extLst>
                <a:ext uri="{FF2B5EF4-FFF2-40B4-BE49-F238E27FC236}">
                  <a16:creationId xmlns:a16="http://schemas.microsoft.com/office/drawing/2014/main" id="{1D26F643-EC61-42D3-ADB5-00EAA05064D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832" y="1392"/>
              <a:ext cx="0" cy="24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274" name="Line 71">
              <a:extLst>
                <a:ext uri="{FF2B5EF4-FFF2-40B4-BE49-F238E27FC236}">
                  <a16:creationId xmlns:a16="http://schemas.microsoft.com/office/drawing/2014/main" id="{0898814B-1676-4344-9323-87FA935A37F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32" y="1632"/>
              <a:ext cx="432" cy="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275" name="Line 72">
              <a:extLst>
                <a:ext uri="{FF2B5EF4-FFF2-40B4-BE49-F238E27FC236}">
                  <a16:creationId xmlns:a16="http://schemas.microsoft.com/office/drawing/2014/main" id="{FE35A76F-FF86-4A34-BB95-B82E296EF6A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64" y="1392"/>
              <a:ext cx="0" cy="24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</p:grpSp>
      <p:grpSp>
        <p:nvGrpSpPr>
          <p:cNvPr id="317" name="Group 102" descr=" 87058">
            <a:extLst>
              <a:ext uri="{FF2B5EF4-FFF2-40B4-BE49-F238E27FC236}">
                <a16:creationId xmlns:a16="http://schemas.microsoft.com/office/drawing/2014/main" id="{9467BD67-AE48-47CC-982B-57D9F32F7EC3}"/>
              </a:ext>
            </a:extLst>
          </p:cNvPr>
          <p:cNvGrpSpPr>
            <a:grpSpLocks/>
          </p:cNvGrpSpPr>
          <p:nvPr/>
        </p:nvGrpSpPr>
        <p:grpSpPr bwMode="auto">
          <a:xfrm>
            <a:off x="4040188" y="2889504"/>
            <a:ext cx="3355975" cy="838200"/>
            <a:chOff x="1561" y="1152"/>
            <a:chExt cx="2115" cy="528"/>
          </a:xfrm>
        </p:grpSpPr>
        <p:grpSp>
          <p:nvGrpSpPr>
            <p:cNvPr id="318" name="Group 103">
              <a:extLst>
                <a:ext uri="{FF2B5EF4-FFF2-40B4-BE49-F238E27FC236}">
                  <a16:creationId xmlns:a16="http://schemas.microsoft.com/office/drawing/2014/main" id="{527CA5DD-DE65-4C60-A845-DA4D7D386CE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486" y="1152"/>
              <a:ext cx="224" cy="481"/>
              <a:chOff x="2206" y="1413"/>
              <a:chExt cx="224" cy="481"/>
            </a:xfrm>
          </p:grpSpPr>
          <p:sp>
            <p:nvSpPr>
              <p:cNvPr id="348" name="Freeform 104">
                <a:extLst>
                  <a:ext uri="{FF2B5EF4-FFF2-40B4-BE49-F238E27FC236}">
                    <a16:creationId xmlns:a16="http://schemas.microsoft.com/office/drawing/2014/main" id="{2908274E-FC43-4611-8419-2745004FE2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7" y="1413"/>
                <a:ext cx="213" cy="481"/>
              </a:xfrm>
              <a:custGeom>
                <a:avLst/>
                <a:gdLst>
                  <a:gd name="T0" fmla="*/ 0 w 213"/>
                  <a:gd name="T1" fmla="*/ 320 h 481"/>
                  <a:gd name="T2" fmla="*/ 71 w 213"/>
                  <a:gd name="T3" fmla="*/ 240 h 481"/>
                  <a:gd name="T4" fmla="*/ 0 w 213"/>
                  <a:gd name="T5" fmla="*/ 160 h 481"/>
                  <a:gd name="T6" fmla="*/ 0 w 213"/>
                  <a:gd name="T7" fmla="*/ 0 h 481"/>
                  <a:gd name="T8" fmla="*/ 212 w 213"/>
                  <a:gd name="T9" fmla="*/ 160 h 481"/>
                  <a:gd name="T10" fmla="*/ 212 w 213"/>
                  <a:gd name="T11" fmla="*/ 320 h 481"/>
                  <a:gd name="T12" fmla="*/ 0 w 213"/>
                  <a:gd name="T13" fmla="*/ 480 h 481"/>
                  <a:gd name="T14" fmla="*/ 0 w 213"/>
                  <a:gd name="T15" fmla="*/ 320 h 48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13" h="481">
                    <a:moveTo>
                      <a:pt x="0" y="320"/>
                    </a:moveTo>
                    <a:lnTo>
                      <a:pt x="71" y="240"/>
                    </a:lnTo>
                    <a:lnTo>
                      <a:pt x="0" y="160"/>
                    </a:lnTo>
                    <a:lnTo>
                      <a:pt x="0" y="0"/>
                    </a:lnTo>
                    <a:lnTo>
                      <a:pt x="212" y="160"/>
                    </a:lnTo>
                    <a:lnTo>
                      <a:pt x="212" y="320"/>
                    </a:lnTo>
                    <a:lnTo>
                      <a:pt x="0" y="480"/>
                    </a:lnTo>
                    <a:lnTo>
                      <a:pt x="0" y="320"/>
                    </a:lnTo>
                  </a:path>
                </a:pathLst>
              </a:custGeom>
              <a:noFill/>
              <a:ln w="25400" cap="rnd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dirty="0">
                  <a:ea typeface="SimHei" panose="02010609060101010101" pitchFamily="49" charset="-122"/>
                </a:endParaRPr>
              </a:p>
            </p:txBody>
          </p:sp>
          <p:sp>
            <p:nvSpPr>
              <p:cNvPr id="349" name="Rectangle 105">
                <a:extLst>
                  <a:ext uri="{FF2B5EF4-FFF2-40B4-BE49-F238E27FC236}">
                    <a16:creationId xmlns:a16="http://schemas.microsoft.com/office/drawing/2014/main" id="{5C1AED42-B389-4D49-A3CC-E7BB91A2E7B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5400000">
                <a:off x="2124" y="1532"/>
                <a:ext cx="376" cy="211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12700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lIns="90473" tIns="44442" rIns="90473" bIns="44442">
                <a:spAutoFit/>
              </a:bodyPr>
              <a:lstStyle/>
              <a:p>
                <a:pPr eaLnBrk="0" hangingPunct="0"/>
                <a:r>
                  <a:rPr lang="en-US" altLang="zh-CN" sz="1600" dirty="0">
                    <a:latin typeface="Arial" pitchFamily="34" charset="0"/>
                    <a:ea typeface="SimHei" panose="02010609060101010101" pitchFamily="49" charset="-122"/>
                  </a:rPr>
                  <a:t>ALU</a:t>
                </a:r>
              </a:p>
            </p:txBody>
          </p:sp>
        </p:grpSp>
        <p:grpSp>
          <p:nvGrpSpPr>
            <p:cNvPr id="319" name="Group 106">
              <a:extLst>
                <a:ext uri="{FF2B5EF4-FFF2-40B4-BE49-F238E27FC236}">
                  <a16:creationId xmlns:a16="http://schemas.microsoft.com/office/drawing/2014/main" id="{F1F584B5-4EAB-4B4D-A7CE-37234E661C9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561" y="1248"/>
              <a:ext cx="350" cy="289"/>
              <a:chOff x="1281" y="1509"/>
              <a:chExt cx="350" cy="289"/>
            </a:xfrm>
          </p:grpSpPr>
          <p:sp>
            <p:nvSpPr>
              <p:cNvPr id="344" name="Rectangle 107">
                <a:extLst>
                  <a:ext uri="{FF2B5EF4-FFF2-40B4-BE49-F238E27FC236}">
                    <a16:creationId xmlns:a16="http://schemas.microsoft.com/office/drawing/2014/main" id="{234A374F-5C4B-4019-8410-58B612C8B74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81" y="1511"/>
                <a:ext cx="260" cy="21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12700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lIns="90473" tIns="44442" rIns="90473" bIns="44442">
                <a:spAutoFit/>
              </a:bodyPr>
              <a:lstStyle/>
              <a:p>
                <a:pPr algn="ctr" eaLnBrk="0" hangingPunct="0"/>
                <a:r>
                  <a:rPr lang="en-US" altLang="zh-CN" sz="1600" dirty="0">
                    <a:latin typeface="Arial" pitchFamily="34" charset="0"/>
                    <a:ea typeface="SimHei" panose="02010609060101010101" pitchFamily="49" charset="-122"/>
                  </a:rPr>
                  <a:t>IM</a:t>
                </a:r>
              </a:p>
            </p:txBody>
          </p:sp>
          <p:grpSp>
            <p:nvGrpSpPr>
              <p:cNvPr id="345" name="Group 108">
                <a:extLst>
                  <a:ext uri="{FF2B5EF4-FFF2-40B4-BE49-F238E27FC236}">
                    <a16:creationId xmlns:a16="http://schemas.microsoft.com/office/drawing/2014/main" id="{821DE095-38CF-4527-9F7D-52BCE3A9082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291" y="1509"/>
                <a:ext cx="340" cy="289"/>
                <a:chOff x="1291" y="1509"/>
                <a:chExt cx="340" cy="289"/>
              </a:xfrm>
            </p:grpSpPr>
            <p:sp>
              <p:nvSpPr>
                <p:cNvPr id="346" name="Freeform 109">
                  <a:extLst>
                    <a:ext uri="{FF2B5EF4-FFF2-40B4-BE49-F238E27FC236}">
                      <a16:creationId xmlns:a16="http://schemas.microsoft.com/office/drawing/2014/main" id="{EB8433FB-21D5-4FFF-8EE7-59888BBF4A8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291" y="1509"/>
                  <a:ext cx="170" cy="289"/>
                </a:xfrm>
                <a:custGeom>
                  <a:avLst/>
                  <a:gdLst>
                    <a:gd name="T0" fmla="*/ 169 w 170"/>
                    <a:gd name="T1" fmla="*/ 0 h 289"/>
                    <a:gd name="T2" fmla="*/ 0 w 170"/>
                    <a:gd name="T3" fmla="*/ 0 h 289"/>
                    <a:gd name="T4" fmla="*/ 0 w 170"/>
                    <a:gd name="T5" fmla="*/ 288 h 289"/>
                    <a:gd name="T6" fmla="*/ 169 w 170"/>
                    <a:gd name="T7" fmla="*/ 288 h 289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170" h="289">
                      <a:moveTo>
                        <a:pt x="169" y="0"/>
                      </a:moveTo>
                      <a:lnTo>
                        <a:pt x="0" y="0"/>
                      </a:lnTo>
                      <a:lnTo>
                        <a:pt x="0" y="288"/>
                      </a:lnTo>
                      <a:lnTo>
                        <a:pt x="169" y="288"/>
                      </a:lnTo>
                    </a:path>
                  </a:pathLst>
                </a:custGeom>
                <a:noFill/>
                <a:ln w="25400" cap="rnd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zh-CN" altLang="en-US" dirty="0">
                    <a:ea typeface="SimHei" panose="02010609060101010101" pitchFamily="49" charset="-122"/>
                  </a:endParaRPr>
                </a:p>
              </p:txBody>
            </p:sp>
            <p:sp>
              <p:nvSpPr>
                <p:cNvPr id="347" name="Freeform 110">
                  <a:extLst>
                    <a:ext uri="{FF2B5EF4-FFF2-40B4-BE49-F238E27FC236}">
                      <a16:creationId xmlns:a16="http://schemas.microsoft.com/office/drawing/2014/main" id="{ADC825F1-7BED-4F28-8249-C7FFF702703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460" y="1509"/>
                  <a:ext cx="171" cy="289"/>
                </a:xfrm>
                <a:custGeom>
                  <a:avLst/>
                  <a:gdLst>
                    <a:gd name="T0" fmla="*/ 0 w 171"/>
                    <a:gd name="T1" fmla="*/ 0 h 289"/>
                    <a:gd name="T2" fmla="*/ 170 w 171"/>
                    <a:gd name="T3" fmla="*/ 0 h 289"/>
                    <a:gd name="T4" fmla="*/ 170 w 171"/>
                    <a:gd name="T5" fmla="*/ 288 h 289"/>
                    <a:gd name="T6" fmla="*/ 0 w 171"/>
                    <a:gd name="T7" fmla="*/ 288 h 289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171" h="289">
                      <a:moveTo>
                        <a:pt x="0" y="0"/>
                      </a:moveTo>
                      <a:lnTo>
                        <a:pt x="170" y="0"/>
                      </a:lnTo>
                      <a:lnTo>
                        <a:pt x="170" y="288"/>
                      </a:lnTo>
                      <a:lnTo>
                        <a:pt x="0" y="288"/>
                      </a:lnTo>
                    </a:path>
                  </a:pathLst>
                </a:custGeom>
                <a:noFill/>
                <a:ln w="25400" cap="rnd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zh-CN" altLang="en-US" dirty="0">
                    <a:ea typeface="SimHei" panose="02010609060101010101" pitchFamily="49" charset="-122"/>
                  </a:endParaRPr>
                </a:p>
              </p:txBody>
            </p:sp>
          </p:grpSp>
        </p:grpSp>
        <p:sp>
          <p:nvSpPr>
            <p:cNvPr id="320" name="Rectangle 111">
              <a:extLst>
                <a:ext uri="{FF2B5EF4-FFF2-40B4-BE49-F238E27FC236}">
                  <a16:creationId xmlns:a16="http://schemas.microsoft.com/office/drawing/2014/main" id="{C7C9501C-1118-4AE4-8388-F4D1BC1986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12" y="1255"/>
              <a:ext cx="355" cy="21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73" tIns="44442" rIns="90473" bIns="44442">
              <a:spAutoFit/>
            </a:bodyPr>
            <a:lstStyle/>
            <a:p>
              <a:pPr eaLnBrk="0" hangingPunct="0"/>
              <a:r>
                <a:rPr lang="en-US" altLang="zh-CN" sz="1600" dirty="0">
                  <a:latin typeface="Arial" pitchFamily="34" charset="0"/>
                  <a:ea typeface="SimHei" panose="02010609060101010101" pitchFamily="49" charset="-122"/>
                </a:rPr>
                <a:t>Reg</a:t>
              </a:r>
            </a:p>
          </p:txBody>
        </p:sp>
        <p:grpSp>
          <p:nvGrpSpPr>
            <p:cNvPr id="321" name="Group 112">
              <a:extLst>
                <a:ext uri="{FF2B5EF4-FFF2-40B4-BE49-F238E27FC236}">
                  <a16:creationId xmlns:a16="http://schemas.microsoft.com/office/drawing/2014/main" id="{D83B0856-4EF9-4CB0-8A66-DC988328830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031" y="1248"/>
              <a:ext cx="296" cy="289"/>
              <a:chOff x="1751" y="1509"/>
              <a:chExt cx="296" cy="289"/>
            </a:xfrm>
          </p:grpSpPr>
          <p:sp>
            <p:nvSpPr>
              <p:cNvPr id="342" name="Freeform 113">
                <a:extLst>
                  <a:ext uri="{FF2B5EF4-FFF2-40B4-BE49-F238E27FC236}">
                    <a16:creationId xmlns:a16="http://schemas.microsoft.com/office/drawing/2014/main" id="{291E510D-F8A7-46C1-AC9F-DE6C172D79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1" y="1509"/>
                <a:ext cx="149" cy="289"/>
              </a:xfrm>
              <a:custGeom>
                <a:avLst/>
                <a:gdLst>
                  <a:gd name="T0" fmla="*/ 148 w 149"/>
                  <a:gd name="T1" fmla="*/ 0 h 289"/>
                  <a:gd name="T2" fmla="*/ 0 w 149"/>
                  <a:gd name="T3" fmla="*/ 0 h 289"/>
                  <a:gd name="T4" fmla="*/ 0 w 149"/>
                  <a:gd name="T5" fmla="*/ 288 h 289"/>
                  <a:gd name="T6" fmla="*/ 148 w 149"/>
                  <a:gd name="T7" fmla="*/ 288 h 28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9" h="289">
                    <a:moveTo>
                      <a:pt x="148" y="0"/>
                    </a:moveTo>
                    <a:lnTo>
                      <a:pt x="0" y="0"/>
                    </a:lnTo>
                    <a:lnTo>
                      <a:pt x="0" y="288"/>
                    </a:lnTo>
                    <a:lnTo>
                      <a:pt x="148" y="288"/>
                    </a:lnTo>
                  </a:path>
                </a:pathLst>
              </a:custGeom>
              <a:noFill/>
              <a:ln w="25400" cap="rnd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dirty="0">
                  <a:ea typeface="SimHei" panose="02010609060101010101" pitchFamily="49" charset="-122"/>
                </a:endParaRPr>
              </a:p>
            </p:txBody>
          </p:sp>
          <p:sp>
            <p:nvSpPr>
              <p:cNvPr id="343" name="Freeform 114">
                <a:extLst>
                  <a:ext uri="{FF2B5EF4-FFF2-40B4-BE49-F238E27FC236}">
                    <a16:creationId xmlns:a16="http://schemas.microsoft.com/office/drawing/2014/main" id="{8598B315-3B68-44C8-8E6D-1E06AA5051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9" y="1509"/>
                <a:ext cx="148" cy="289"/>
              </a:xfrm>
              <a:custGeom>
                <a:avLst/>
                <a:gdLst>
                  <a:gd name="T0" fmla="*/ 0 w 148"/>
                  <a:gd name="T1" fmla="*/ 0 h 289"/>
                  <a:gd name="T2" fmla="*/ 147 w 148"/>
                  <a:gd name="T3" fmla="*/ 0 h 289"/>
                  <a:gd name="T4" fmla="*/ 147 w 148"/>
                  <a:gd name="T5" fmla="*/ 288 h 289"/>
                  <a:gd name="T6" fmla="*/ 0 w 148"/>
                  <a:gd name="T7" fmla="*/ 288 h 28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8" h="289">
                    <a:moveTo>
                      <a:pt x="0" y="0"/>
                    </a:moveTo>
                    <a:lnTo>
                      <a:pt x="147" y="0"/>
                    </a:lnTo>
                    <a:lnTo>
                      <a:pt x="147" y="288"/>
                    </a:lnTo>
                    <a:lnTo>
                      <a:pt x="0" y="288"/>
                    </a:lnTo>
                  </a:path>
                </a:pathLst>
              </a:custGeom>
              <a:noFill/>
              <a:ln w="25400" cap="rnd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dirty="0">
                  <a:ea typeface="SimHei" panose="02010609060101010101" pitchFamily="49" charset="-122"/>
                </a:endParaRPr>
              </a:p>
            </p:txBody>
          </p:sp>
        </p:grpSp>
        <p:sp>
          <p:nvSpPr>
            <p:cNvPr id="322" name="Line 115">
              <a:extLst>
                <a:ext uri="{FF2B5EF4-FFF2-40B4-BE49-F238E27FC236}">
                  <a16:creationId xmlns:a16="http://schemas.microsoft.com/office/drawing/2014/main" id="{FF97D6AC-1B6A-4E8E-9265-8B18536A15D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916" y="1392"/>
              <a:ext cx="116" cy="0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323" name="Freeform 116">
              <a:extLst>
                <a:ext uri="{FF2B5EF4-FFF2-40B4-BE49-F238E27FC236}">
                  <a16:creationId xmlns:a16="http://schemas.microsoft.com/office/drawing/2014/main" id="{05D6E43C-4377-4AB0-801E-6EE332B7AEC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4" y="1296"/>
              <a:ext cx="48" cy="97"/>
            </a:xfrm>
            <a:custGeom>
              <a:avLst/>
              <a:gdLst>
                <a:gd name="T0" fmla="*/ 0 w 48"/>
                <a:gd name="T1" fmla="*/ 96 h 97"/>
                <a:gd name="T2" fmla="*/ 0 w 48"/>
                <a:gd name="T3" fmla="*/ 0 h 97"/>
                <a:gd name="T4" fmla="*/ 47 w 48"/>
                <a:gd name="T5" fmla="*/ 0 h 97"/>
                <a:gd name="T6" fmla="*/ 47 w 48"/>
                <a:gd name="T7" fmla="*/ 0 h 9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8" h="97">
                  <a:moveTo>
                    <a:pt x="0" y="96"/>
                  </a:moveTo>
                  <a:lnTo>
                    <a:pt x="0" y="0"/>
                  </a:lnTo>
                  <a:lnTo>
                    <a:pt x="47" y="0"/>
                  </a:lnTo>
                </a:path>
              </a:pathLst>
            </a:custGeom>
            <a:noFill/>
            <a:ln w="25400" cap="rnd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324" name="Line 117">
              <a:extLst>
                <a:ext uri="{FF2B5EF4-FFF2-40B4-BE49-F238E27FC236}">
                  <a16:creationId xmlns:a16="http://schemas.microsoft.com/office/drawing/2014/main" id="{25E46694-05EF-4D0F-8019-A78A86F7F1D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332" y="1296"/>
              <a:ext cx="157" cy="0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325" name="Rectangle 118">
              <a:extLst>
                <a:ext uri="{FF2B5EF4-FFF2-40B4-BE49-F238E27FC236}">
                  <a16:creationId xmlns:a16="http://schemas.microsoft.com/office/drawing/2014/main" id="{E847438B-6D31-4DEF-946C-0A9C1FFF52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29" y="1250"/>
              <a:ext cx="316" cy="2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73" tIns="44442" rIns="90473" bIns="44442">
              <a:spAutoFit/>
            </a:bodyPr>
            <a:lstStyle/>
            <a:p>
              <a:pPr eaLnBrk="0" hangingPunct="0"/>
              <a:r>
                <a:rPr lang="en-US" altLang="zh-CN" sz="1600" dirty="0">
                  <a:latin typeface="Arial" pitchFamily="34" charset="0"/>
                  <a:ea typeface="SimHei" panose="02010609060101010101" pitchFamily="49" charset="-122"/>
                </a:rPr>
                <a:t>DM</a:t>
              </a:r>
            </a:p>
          </p:txBody>
        </p:sp>
        <p:grpSp>
          <p:nvGrpSpPr>
            <p:cNvPr id="326" name="Group 119">
              <a:extLst>
                <a:ext uri="{FF2B5EF4-FFF2-40B4-BE49-F238E27FC236}">
                  <a16:creationId xmlns:a16="http://schemas.microsoft.com/office/drawing/2014/main" id="{402EEF63-33C3-4BCC-ABB0-3BD2A2D302B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880" y="1248"/>
              <a:ext cx="325" cy="289"/>
              <a:chOff x="2600" y="1509"/>
              <a:chExt cx="325" cy="289"/>
            </a:xfrm>
          </p:grpSpPr>
          <p:sp>
            <p:nvSpPr>
              <p:cNvPr id="340" name="Freeform 120">
                <a:extLst>
                  <a:ext uri="{FF2B5EF4-FFF2-40B4-BE49-F238E27FC236}">
                    <a16:creationId xmlns:a16="http://schemas.microsoft.com/office/drawing/2014/main" id="{2FB46340-F032-4720-BCB5-32E24A60B5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0" y="1509"/>
                <a:ext cx="162" cy="289"/>
              </a:xfrm>
              <a:custGeom>
                <a:avLst/>
                <a:gdLst>
                  <a:gd name="T0" fmla="*/ 161 w 162"/>
                  <a:gd name="T1" fmla="*/ 0 h 289"/>
                  <a:gd name="T2" fmla="*/ 0 w 162"/>
                  <a:gd name="T3" fmla="*/ 0 h 289"/>
                  <a:gd name="T4" fmla="*/ 0 w 162"/>
                  <a:gd name="T5" fmla="*/ 288 h 289"/>
                  <a:gd name="T6" fmla="*/ 161 w 162"/>
                  <a:gd name="T7" fmla="*/ 288 h 28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2" h="289">
                    <a:moveTo>
                      <a:pt x="161" y="0"/>
                    </a:moveTo>
                    <a:lnTo>
                      <a:pt x="0" y="0"/>
                    </a:lnTo>
                    <a:lnTo>
                      <a:pt x="0" y="288"/>
                    </a:lnTo>
                    <a:lnTo>
                      <a:pt x="161" y="288"/>
                    </a:lnTo>
                  </a:path>
                </a:pathLst>
              </a:custGeom>
              <a:noFill/>
              <a:ln w="25400" cap="rnd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dirty="0">
                  <a:ea typeface="SimHei" panose="02010609060101010101" pitchFamily="49" charset="-122"/>
                </a:endParaRPr>
              </a:p>
            </p:txBody>
          </p:sp>
          <p:sp>
            <p:nvSpPr>
              <p:cNvPr id="341" name="Freeform 121">
                <a:extLst>
                  <a:ext uri="{FF2B5EF4-FFF2-40B4-BE49-F238E27FC236}">
                    <a16:creationId xmlns:a16="http://schemas.microsoft.com/office/drawing/2014/main" id="{BE0FE9E4-751F-4332-AE01-334E4E4B31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1" y="1509"/>
                <a:ext cx="164" cy="289"/>
              </a:xfrm>
              <a:custGeom>
                <a:avLst/>
                <a:gdLst>
                  <a:gd name="T0" fmla="*/ 0 w 164"/>
                  <a:gd name="T1" fmla="*/ 0 h 289"/>
                  <a:gd name="T2" fmla="*/ 163 w 164"/>
                  <a:gd name="T3" fmla="*/ 0 h 289"/>
                  <a:gd name="T4" fmla="*/ 163 w 164"/>
                  <a:gd name="T5" fmla="*/ 288 h 289"/>
                  <a:gd name="T6" fmla="*/ 0 w 164"/>
                  <a:gd name="T7" fmla="*/ 288 h 28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4" h="289">
                    <a:moveTo>
                      <a:pt x="0" y="0"/>
                    </a:moveTo>
                    <a:lnTo>
                      <a:pt x="163" y="0"/>
                    </a:lnTo>
                    <a:lnTo>
                      <a:pt x="163" y="288"/>
                    </a:lnTo>
                    <a:lnTo>
                      <a:pt x="0" y="288"/>
                    </a:lnTo>
                  </a:path>
                </a:pathLst>
              </a:custGeom>
              <a:noFill/>
              <a:ln w="25400" cap="rnd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dirty="0">
                  <a:ea typeface="SimHei" panose="02010609060101010101" pitchFamily="49" charset="-122"/>
                </a:endParaRPr>
              </a:p>
            </p:txBody>
          </p:sp>
        </p:grpSp>
        <p:sp>
          <p:nvSpPr>
            <p:cNvPr id="327" name="Rectangle 122">
              <a:extLst>
                <a:ext uri="{FF2B5EF4-FFF2-40B4-BE49-F238E27FC236}">
                  <a16:creationId xmlns:a16="http://schemas.microsoft.com/office/drawing/2014/main" id="{353FCE5B-AC69-4909-BF39-E7A716F80B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21" y="1250"/>
              <a:ext cx="355" cy="21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73" tIns="44442" rIns="90473" bIns="44442">
              <a:spAutoFit/>
            </a:bodyPr>
            <a:lstStyle/>
            <a:p>
              <a:pPr eaLnBrk="0" hangingPunct="0"/>
              <a:r>
                <a:rPr lang="en-US" altLang="zh-CN" sz="1600" dirty="0">
                  <a:latin typeface="Arial" pitchFamily="34" charset="0"/>
                  <a:ea typeface="SimHei" panose="02010609060101010101" pitchFamily="49" charset="-122"/>
                </a:rPr>
                <a:t>Reg</a:t>
              </a:r>
            </a:p>
          </p:txBody>
        </p:sp>
        <p:grpSp>
          <p:nvGrpSpPr>
            <p:cNvPr id="328" name="Group 123">
              <a:extLst>
                <a:ext uri="{FF2B5EF4-FFF2-40B4-BE49-F238E27FC236}">
                  <a16:creationId xmlns:a16="http://schemas.microsoft.com/office/drawing/2014/main" id="{6FF9251D-2D69-434F-B701-CE0CDB28819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348" y="1248"/>
              <a:ext cx="284" cy="289"/>
              <a:chOff x="3068" y="1509"/>
              <a:chExt cx="284" cy="289"/>
            </a:xfrm>
          </p:grpSpPr>
          <p:sp>
            <p:nvSpPr>
              <p:cNvPr id="338" name="Freeform 124">
                <a:extLst>
                  <a:ext uri="{FF2B5EF4-FFF2-40B4-BE49-F238E27FC236}">
                    <a16:creationId xmlns:a16="http://schemas.microsoft.com/office/drawing/2014/main" id="{6D57226C-F82D-4552-B833-AEFAFF611B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8" y="1509"/>
                <a:ext cx="142" cy="289"/>
              </a:xfrm>
              <a:custGeom>
                <a:avLst/>
                <a:gdLst>
                  <a:gd name="T0" fmla="*/ 141 w 142"/>
                  <a:gd name="T1" fmla="*/ 0 h 289"/>
                  <a:gd name="T2" fmla="*/ 0 w 142"/>
                  <a:gd name="T3" fmla="*/ 0 h 289"/>
                  <a:gd name="T4" fmla="*/ 0 w 142"/>
                  <a:gd name="T5" fmla="*/ 288 h 289"/>
                  <a:gd name="T6" fmla="*/ 141 w 142"/>
                  <a:gd name="T7" fmla="*/ 288 h 28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2" h="289">
                    <a:moveTo>
                      <a:pt x="141" y="0"/>
                    </a:moveTo>
                    <a:lnTo>
                      <a:pt x="0" y="0"/>
                    </a:lnTo>
                    <a:lnTo>
                      <a:pt x="0" y="288"/>
                    </a:lnTo>
                    <a:lnTo>
                      <a:pt x="141" y="288"/>
                    </a:lnTo>
                  </a:path>
                </a:pathLst>
              </a:custGeom>
              <a:noFill/>
              <a:ln w="25400" cap="rnd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dirty="0">
                  <a:ea typeface="SimHei" panose="02010609060101010101" pitchFamily="49" charset="-122"/>
                </a:endParaRPr>
              </a:p>
            </p:txBody>
          </p:sp>
          <p:sp>
            <p:nvSpPr>
              <p:cNvPr id="339" name="Freeform 125">
                <a:extLst>
                  <a:ext uri="{FF2B5EF4-FFF2-40B4-BE49-F238E27FC236}">
                    <a16:creationId xmlns:a16="http://schemas.microsoft.com/office/drawing/2014/main" id="{10B09E96-C5D2-4368-8F6B-4D37EABAAD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9" y="1509"/>
                <a:ext cx="143" cy="289"/>
              </a:xfrm>
              <a:custGeom>
                <a:avLst/>
                <a:gdLst>
                  <a:gd name="T0" fmla="*/ 0 w 143"/>
                  <a:gd name="T1" fmla="*/ 0 h 289"/>
                  <a:gd name="T2" fmla="*/ 142 w 143"/>
                  <a:gd name="T3" fmla="*/ 0 h 289"/>
                  <a:gd name="T4" fmla="*/ 142 w 143"/>
                  <a:gd name="T5" fmla="*/ 288 h 289"/>
                  <a:gd name="T6" fmla="*/ 0 w 143"/>
                  <a:gd name="T7" fmla="*/ 288 h 28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3" h="289">
                    <a:moveTo>
                      <a:pt x="0" y="0"/>
                    </a:moveTo>
                    <a:lnTo>
                      <a:pt x="142" y="0"/>
                    </a:lnTo>
                    <a:lnTo>
                      <a:pt x="142" y="288"/>
                    </a:lnTo>
                    <a:lnTo>
                      <a:pt x="0" y="288"/>
                    </a:lnTo>
                  </a:path>
                </a:pathLst>
              </a:custGeom>
              <a:noFill/>
              <a:ln w="25400" cap="rnd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dirty="0">
                  <a:ea typeface="SimHei" panose="02010609060101010101" pitchFamily="49" charset="-122"/>
                </a:endParaRPr>
              </a:p>
            </p:txBody>
          </p:sp>
        </p:grpSp>
        <p:sp>
          <p:nvSpPr>
            <p:cNvPr id="329" name="Line 126">
              <a:extLst>
                <a:ext uri="{FF2B5EF4-FFF2-40B4-BE49-F238E27FC236}">
                  <a16:creationId xmlns:a16="http://schemas.microsoft.com/office/drawing/2014/main" id="{E2644682-E689-4C09-8EE1-076203A2254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01" y="1392"/>
              <a:ext cx="139" cy="0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330" name="Line 127">
              <a:extLst>
                <a:ext uri="{FF2B5EF4-FFF2-40B4-BE49-F238E27FC236}">
                  <a16:creationId xmlns:a16="http://schemas.microsoft.com/office/drawing/2014/main" id="{90EEF8AE-7E64-4288-905D-58D3A3DD40F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717" y="1392"/>
              <a:ext cx="155" cy="0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331" name="Line 128">
              <a:extLst>
                <a:ext uri="{FF2B5EF4-FFF2-40B4-BE49-F238E27FC236}">
                  <a16:creationId xmlns:a16="http://schemas.microsoft.com/office/drawing/2014/main" id="{B096BDB8-9DAC-4343-9586-E797031DDB5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332" y="1488"/>
              <a:ext cx="157" cy="0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332" name="Line 129">
              <a:extLst>
                <a:ext uri="{FF2B5EF4-FFF2-40B4-BE49-F238E27FC236}">
                  <a16:creationId xmlns:a16="http://schemas.microsoft.com/office/drawing/2014/main" id="{C2BE575A-00C9-41DA-BE0D-C210A9AC4F1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416" y="1488"/>
              <a:ext cx="0" cy="192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333" name="Line 130">
              <a:extLst>
                <a:ext uri="{FF2B5EF4-FFF2-40B4-BE49-F238E27FC236}">
                  <a16:creationId xmlns:a16="http://schemas.microsoft.com/office/drawing/2014/main" id="{D45C4358-6F4A-4666-ABEB-17363F4B87C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416" y="1680"/>
              <a:ext cx="336" cy="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334" name="Line 131">
              <a:extLst>
                <a:ext uri="{FF2B5EF4-FFF2-40B4-BE49-F238E27FC236}">
                  <a16:creationId xmlns:a16="http://schemas.microsoft.com/office/drawing/2014/main" id="{2BCC3CE9-E4D2-4C24-BC6B-A1D389D67A3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752" y="1392"/>
              <a:ext cx="0" cy="288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335" name="Line 132">
              <a:extLst>
                <a:ext uri="{FF2B5EF4-FFF2-40B4-BE49-F238E27FC236}">
                  <a16:creationId xmlns:a16="http://schemas.microsoft.com/office/drawing/2014/main" id="{3310A32A-E4EB-4899-8262-CD03A4F9A4A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832" y="1392"/>
              <a:ext cx="0" cy="24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336" name="Line 133">
              <a:extLst>
                <a:ext uri="{FF2B5EF4-FFF2-40B4-BE49-F238E27FC236}">
                  <a16:creationId xmlns:a16="http://schemas.microsoft.com/office/drawing/2014/main" id="{46E627C1-0598-4420-BD40-5EF3432B950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32" y="1632"/>
              <a:ext cx="432" cy="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337" name="Line 134">
              <a:extLst>
                <a:ext uri="{FF2B5EF4-FFF2-40B4-BE49-F238E27FC236}">
                  <a16:creationId xmlns:a16="http://schemas.microsoft.com/office/drawing/2014/main" id="{ECD8104C-545D-4CC7-9F4C-DB3FA838A4E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64" y="1392"/>
              <a:ext cx="0" cy="24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</p:grpSp>
      <p:grpSp>
        <p:nvGrpSpPr>
          <p:cNvPr id="350" name="Group 135" descr=" 87059">
            <a:extLst>
              <a:ext uri="{FF2B5EF4-FFF2-40B4-BE49-F238E27FC236}">
                <a16:creationId xmlns:a16="http://schemas.microsoft.com/office/drawing/2014/main" id="{BF5F1D89-04D1-4EF9-B22D-CB7A311BF67D}"/>
              </a:ext>
            </a:extLst>
          </p:cNvPr>
          <p:cNvGrpSpPr>
            <a:grpSpLocks/>
          </p:cNvGrpSpPr>
          <p:nvPr/>
        </p:nvGrpSpPr>
        <p:grpSpPr bwMode="auto">
          <a:xfrm>
            <a:off x="4725988" y="3727704"/>
            <a:ext cx="3357562" cy="838200"/>
            <a:chOff x="1562" y="1152"/>
            <a:chExt cx="2114" cy="528"/>
          </a:xfrm>
        </p:grpSpPr>
        <p:grpSp>
          <p:nvGrpSpPr>
            <p:cNvPr id="351" name="Group 136">
              <a:extLst>
                <a:ext uri="{FF2B5EF4-FFF2-40B4-BE49-F238E27FC236}">
                  <a16:creationId xmlns:a16="http://schemas.microsoft.com/office/drawing/2014/main" id="{0DEBE548-925A-40F0-B028-48EF1CCF139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487" y="1152"/>
              <a:ext cx="223" cy="481"/>
              <a:chOff x="2207" y="1413"/>
              <a:chExt cx="223" cy="481"/>
            </a:xfrm>
          </p:grpSpPr>
          <p:sp>
            <p:nvSpPr>
              <p:cNvPr id="381" name="Freeform 137">
                <a:extLst>
                  <a:ext uri="{FF2B5EF4-FFF2-40B4-BE49-F238E27FC236}">
                    <a16:creationId xmlns:a16="http://schemas.microsoft.com/office/drawing/2014/main" id="{1CC92BBD-8CA7-4C2D-B004-BF6CF5EBA4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7" y="1413"/>
                <a:ext cx="213" cy="481"/>
              </a:xfrm>
              <a:custGeom>
                <a:avLst/>
                <a:gdLst>
                  <a:gd name="T0" fmla="*/ 0 w 213"/>
                  <a:gd name="T1" fmla="*/ 320 h 481"/>
                  <a:gd name="T2" fmla="*/ 71 w 213"/>
                  <a:gd name="T3" fmla="*/ 240 h 481"/>
                  <a:gd name="T4" fmla="*/ 0 w 213"/>
                  <a:gd name="T5" fmla="*/ 160 h 481"/>
                  <a:gd name="T6" fmla="*/ 0 w 213"/>
                  <a:gd name="T7" fmla="*/ 0 h 481"/>
                  <a:gd name="T8" fmla="*/ 212 w 213"/>
                  <a:gd name="T9" fmla="*/ 160 h 481"/>
                  <a:gd name="T10" fmla="*/ 212 w 213"/>
                  <a:gd name="T11" fmla="*/ 320 h 481"/>
                  <a:gd name="T12" fmla="*/ 0 w 213"/>
                  <a:gd name="T13" fmla="*/ 480 h 481"/>
                  <a:gd name="T14" fmla="*/ 0 w 213"/>
                  <a:gd name="T15" fmla="*/ 320 h 48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13" h="481">
                    <a:moveTo>
                      <a:pt x="0" y="320"/>
                    </a:moveTo>
                    <a:lnTo>
                      <a:pt x="71" y="240"/>
                    </a:lnTo>
                    <a:lnTo>
                      <a:pt x="0" y="160"/>
                    </a:lnTo>
                    <a:lnTo>
                      <a:pt x="0" y="0"/>
                    </a:lnTo>
                    <a:lnTo>
                      <a:pt x="212" y="160"/>
                    </a:lnTo>
                    <a:lnTo>
                      <a:pt x="212" y="320"/>
                    </a:lnTo>
                    <a:lnTo>
                      <a:pt x="0" y="480"/>
                    </a:lnTo>
                    <a:lnTo>
                      <a:pt x="0" y="320"/>
                    </a:lnTo>
                  </a:path>
                </a:pathLst>
              </a:custGeom>
              <a:noFill/>
              <a:ln w="25400" cap="rnd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dirty="0">
                  <a:ea typeface="SimHei" panose="02010609060101010101" pitchFamily="49" charset="-122"/>
                </a:endParaRPr>
              </a:p>
            </p:txBody>
          </p:sp>
          <p:sp>
            <p:nvSpPr>
              <p:cNvPr id="382" name="Rectangle 138">
                <a:extLst>
                  <a:ext uri="{FF2B5EF4-FFF2-40B4-BE49-F238E27FC236}">
                    <a16:creationId xmlns:a16="http://schemas.microsoft.com/office/drawing/2014/main" id="{501B270D-AA9E-43FF-8D23-99477A94B8D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5400000">
                <a:off x="2130" y="1532"/>
                <a:ext cx="366" cy="21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12700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lIns="90473" tIns="44442" rIns="90473" bIns="44442">
                <a:spAutoFit/>
              </a:bodyPr>
              <a:lstStyle/>
              <a:p>
                <a:pPr eaLnBrk="0" hangingPunct="0"/>
                <a:r>
                  <a:rPr lang="en-US" altLang="zh-CN" sz="1600" dirty="0">
                    <a:latin typeface="Arial" pitchFamily="34" charset="0"/>
                    <a:ea typeface="SimHei" panose="02010609060101010101" pitchFamily="49" charset="-122"/>
                  </a:rPr>
                  <a:t>ALU</a:t>
                </a:r>
              </a:p>
            </p:txBody>
          </p:sp>
        </p:grpSp>
        <p:grpSp>
          <p:nvGrpSpPr>
            <p:cNvPr id="352" name="Group 139">
              <a:extLst>
                <a:ext uri="{FF2B5EF4-FFF2-40B4-BE49-F238E27FC236}">
                  <a16:creationId xmlns:a16="http://schemas.microsoft.com/office/drawing/2014/main" id="{B99CB1FF-CF8B-47F0-8767-AF60888C1C9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562" y="1248"/>
              <a:ext cx="349" cy="289"/>
              <a:chOff x="1282" y="1509"/>
              <a:chExt cx="349" cy="289"/>
            </a:xfrm>
          </p:grpSpPr>
          <p:sp>
            <p:nvSpPr>
              <p:cNvPr id="377" name="Rectangle 140">
                <a:extLst>
                  <a:ext uri="{FF2B5EF4-FFF2-40B4-BE49-F238E27FC236}">
                    <a16:creationId xmlns:a16="http://schemas.microsoft.com/office/drawing/2014/main" id="{6B637DE1-0C8B-4B08-8A44-B1B31F54A75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82" y="1511"/>
                <a:ext cx="257" cy="21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12700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lIns="90473" tIns="44442" rIns="90473" bIns="44442">
                <a:spAutoFit/>
              </a:bodyPr>
              <a:lstStyle/>
              <a:p>
                <a:pPr algn="ctr" eaLnBrk="0" hangingPunct="0"/>
                <a:r>
                  <a:rPr lang="en-US" altLang="zh-CN" sz="1600" dirty="0">
                    <a:latin typeface="Arial" pitchFamily="34" charset="0"/>
                    <a:ea typeface="SimHei" panose="02010609060101010101" pitchFamily="49" charset="-122"/>
                  </a:rPr>
                  <a:t>IM</a:t>
                </a:r>
              </a:p>
            </p:txBody>
          </p:sp>
          <p:grpSp>
            <p:nvGrpSpPr>
              <p:cNvPr id="378" name="Group 141">
                <a:extLst>
                  <a:ext uri="{FF2B5EF4-FFF2-40B4-BE49-F238E27FC236}">
                    <a16:creationId xmlns:a16="http://schemas.microsoft.com/office/drawing/2014/main" id="{F4916726-3AD0-4991-87A0-930E170083A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291" y="1509"/>
                <a:ext cx="340" cy="289"/>
                <a:chOff x="1291" y="1509"/>
                <a:chExt cx="340" cy="289"/>
              </a:xfrm>
            </p:grpSpPr>
            <p:sp>
              <p:nvSpPr>
                <p:cNvPr id="379" name="Freeform 142">
                  <a:extLst>
                    <a:ext uri="{FF2B5EF4-FFF2-40B4-BE49-F238E27FC236}">
                      <a16:creationId xmlns:a16="http://schemas.microsoft.com/office/drawing/2014/main" id="{8B0B8973-9781-4664-A589-5245FD05009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291" y="1509"/>
                  <a:ext cx="170" cy="289"/>
                </a:xfrm>
                <a:custGeom>
                  <a:avLst/>
                  <a:gdLst>
                    <a:gd name="T0" fmla="*/ 169 w 170"/>
                    <a:gd name="T1" fmla="*/ 0 h 289"/>
                    <a:gd name="T2" fmla="*/ 0 w 170"/>
                    <a:gd name="T3" fmla="*/ 0 h 289"/>
                    <a:gd name="T4" fmla="*/ 0 w 170"/>
                    <a:gd name="T5" fmla="*/ 288 h 289"/>
                    <a:gd name="T6" fmla="*/ 169 w 170"/>
                    <a:gd name="T7" fmla="*/ 288 h 289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170" h="289">
                      <a:moveTo>
                        <a:pt x="169" y="0"/>
                      </a:moveTo>
                      <a:lnTo>
                        <a:pt x="0" y="0"/>
                      </a:lnTo>
                      <a:lnTo>
                        <a:pt x="0" y="288"/>
                      </a:lnTo>
                      <a:lnTo>
                        <a:pt x="169" y="288"/>
                      </a:lnTo>
                    </a:path>
                  </a:pathLst>
                </a:custGeom>
                <a:noFill/>
                <a:ln w="25400" cap="rnd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zh-CN" altLang="en-US" dirty="0">
                    <a:ea typeface="SimHei" panose="02010609060101010101" pitchFamily="49" charset="-122"/>
                  </a:endParaRPr>
                </a:p>
              </p:txBody>
            </p:sp>
            <p:sp>
              <p:nvSpPr>
                <p:cNvPr id="380" name="Freeform 143">
                  <a:extLst>
                    <a:ext uri="{FF2B5EF4-FFF2-40B4-BE49-F238E27FC236}">
                      <a16:creationId xmlns:a16="http://schemas.microsoft.com/office/drawing/2014/main" id="{389DE4AA-5669-40C9-86CB-8D3640F4710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460" y="1509"/>
                  <a:ext cx="171" cy="289"/>
                </a:xfrm>
                <a:custGeom>
                  <a:avLst/>
                  <a:gdLst>
                    <a:gd name="T0" fmla="*/ 0 w 171"/>
                    <a:gd name="T1" fmla="*/ 0 h 289"/>
                    <a:gd name="T2" fmla="*/ 170 w 171"/>
                    <a:gd name="T3" fmla="*/ 0 h 289"/>
                    <a:gd name="T4" fmla="*/ 170 w 171"/>
                    <a:gd name="T5" fmla="*/ 288 h 289"/>
                    <a:gd name="T6" fmla="*/ 0 w 171"/>
                    <a:gd name="T7" fmla="*/ 288 h 289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171" h="289">
                      <a:moveTo>
                        <a:pt x="0" y="0"/>
                      </a:moveTo>
                      <a:lnTo>
                        <a:pt x="170" y="0"/>
                      </a:lnTo>
                      <a:lnTo>
                        <a:pt x="170" y="288"/>
                      </a:lnTo>
                      <a:lnTo>
                        <a:pt x="0" y="288"/>
                      </a:lnTo>
                    </a:path>
                  </a:pathLst>
                </a:custGeom>
                <a:noFill/>
                <a:ln w="25400" cap="rnd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zh-CN" altLang="en-US" dirty="0">
                    <a:ea typeface="SimHei" panose="02010609060101010101" pitchFamily="49" charset="-122"/>
                  </a:endParaRPr>
                </a:p>
              </p:txBody>
            </p:sp>
          </p:grpSp>
        </p:grpSp>
        <p:sp>
          <p:nvSpPr>
            <p:cNvPr id="353" name="Rectangle 144">
              <a:extLst>
                <a:ext uri="{FF2B5EF4-FFF2-40B4-BE49-F238E27FC236}">
                  <a16:creationId xmlns:a16="http://schemas.microsoft.com/office/drawing/2014/main" id="{6FE997E8-C396-47B7-A3D2-02DD089186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12" y="1255"/>
              <a:ext cx="355" cy="21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73" tIns="44442" rIns="90473" bIns="44442">
              <a:spAutoFit/>
            </a:bodyPr>
            <a:lstStyle/>
            <a:p>
              <a:pPr eaLnBrk="0" hangingPunct="0"/>
              <a:r>
                <a:rPr lang="en-US" altLang="zh-CN" sz="1600" dirty="0">
                  <a:latin typeface="Arial" pitchFamily="34" charset="0"/>
                  <a:ea typeface="SimHei" panose="02010609060101010101" pitchFamily="49" charset="-122"/>
                </a:rPr>
                <a:t>Reg</a:t>
              </a:r>
            </a:p>
          </p:txBody>
        </p:sp>
        <p:grpSp>
          <p:nvGrpSpPr>
            <p:cNvPr id="354" name="Group 145">
              <a:extLst>
                <a:ext uri="{FF2B5EF4-FFF2-40B4-BE49-F238E27FC236}">
                  <a16:creationId xmlns:a16="http://schemas.microsoft.com/office/drawing/2014/main" id="{E38F25DB-DBEF-4CAB-98F7-285029F9A1C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031" y="1248"/>
              <a:ext cx="296" cy="289"/>
              <a:chOff x="1751" y="1509"/>
              <a:chExt cx="296" cy="289"/>
            </a:xfrm>
          </p:grpSpPr>
          <p:sp>
            <p:nvSpPr>
              <p:cNvPr id="375" name="Freeform 146">
                <a:extLst>
                  <a:ext uri="{FF2B5EF4-FFF2-40B4-BE49-F238E27FC236}">
                    <a16:creationId xmlns:a16="http://schemas.microsoft.com/office/drawing/2014/main" id="{B1B48914-82BF-4A17-A0A2-DBE4B905CD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1" y="1509"/>
                <a:ext cx="149" cy="289"/>
              </a:xfrm>
              <a:custGeom>
                <a:avLst/>
                <a:gdLst>
                  <a:gd name="T0" fmla="*/ 148 w 149"/>
                  <a:gd name="T1" fmla="*/ 0 h 289"/>
                  <a:gd name="T2" fmla="*/ 0 w 149"/>
                  <a:gd name="T3" fmla="*/ 0 h 289"/>
                  <a:gd name="T4" fmla="*/ 0 w 149"/>
                  <a:gd name="T5" fmla="*/ 288 h 289"/>
                  <a:gd name="T6" fmla="*/ 148 w 149"/>
                  <a:gd name="T7" fmla="*/ 288 h 28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9" h="289">
                    <a:moveTo>
                      <a:pt x="148" y="0"/>
                    </a:moveTo>
                    <a:lnTo>
                      <a:pt x="0" y="0"/>
                    </a:lnTo>
                    <a:lnTo>
                      <a:pt x="0" y="288"/>
                    </a:lnTo>
                    <a:lnTo>
                      <a:pt x="148" y="288"/>
                    </a:lnTo>
                  </a:path>
                </a:pathLst>
              </a:custGeom>
              <a:noFill/>
              <a:ln w="25400" cap="rnd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dirty="0">
                  <a:ea typeface="SimHei" panose="02010609060101010101" pitchFamily="49" charset="-122"/>
                </a:endParaRPr>
              </a:p>
            </p:txBody>
          </p:sp>
          <p:sp>
            <p:nvSpPr>
              <p:cNvPr id="376" name="Freeform 147">
                <a:extLst>
                  <a:ext uri="{FF2B5EF4-FFF2-40B4-BE49-F238E27FC236}">
                    <a16:creationId xmlns:a16="http://schemas.microsoft.com/office/drawing/2014/main" id="{0C71B3DD-D8D3-486B-92E4-7D987316D8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9" y="1509"/>
                <a:ext cx="148" cy="289"/>
              </a:xfrm>
              <a:custGeom>
                <a:avLst/>
                <a:gdLst>
                  <a:gd name="T0" fmla="*/ 0 w 148"/>
                  <a:gd name="T1" fmla="*/ 0 h 289"/>
                  <a:gd name="T2" fmla="*/ 147 w 148"/>
                  <a:gd name="T3" fmla="*/ 0 h 289"/>
                  <a:gd name="T4" fmla="*/ 147 w 148"/>
                  <a:gd name="T5" fmla="*/ 288 h 289"/>
                  <a:gd name="T6" fmla="*/ 0 w 148"/>
                  <a:gd name="T7" fmla="*/ 288 h 28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8" h="289">
                    <a:moveTo>
                      <a:pt x="0" y="0"/>
                    </a:moveTo>
                    <a:lnTo>
                      <a:pt x="147" y="0"/>
                    </a:lnTo>
                    <a:lnTo>
                      <a:pt x="147" y="288"/>
                    </a:lnTo>
                    <a:lnTo>
                      <a:pt x="0" y="288"/>
                    </a:lnTo>
                  </a:path>
                </a:pathLst>
              </a:custGeom>
              <a:noFill/>
              <a:ln w="25400" cap="rnd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dirty="0">
                  <a:ea typeface="SimHei" panose="02010609060101010101" pitchFamily="49" charset="-122"/>
                </a:endParaRPr>
              </a:p>
            </p:txBody>
          </p:sp>
        </p:grpSp>
        <p:sp>
          <p:nvSpPr>
            <p:cNvPr id="355" name="Line 148">
              <a:extLst>
                <a:ext uri="{FF2B5EF4-FFF2-40B4-BE49-F238E27FC236}">
                  <a16:creationId xmlns:a16="http://schemas.microsoft.com/office/drawing/2014/main" id="{7EE5E7BD-C1B8-489C-A80F-26A442EE006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916" y="1392"/>
              <a:ext cx="116" cy="0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356" name="Freeform 149">
              <a:extLst>
                <a:ext uri="{FF2B5EF4-FFF2-40B4-BE49-F238E27FC236}">
                  <a16:creationId xmlns:a16="http://schemas.microsoft.com/office/drawing/2014/main" id="{B56FCA03-08AA-44E5-9497-246D0C7AA5B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4" y="1296"/>
              <a:ext cx="48" cy="97"/>
            </a:xfrm>
            <a:custGeom>
              <a:avLst/>
              <a:gdLst>
                <a:gd name="T0" fmla="*/ 0 w 48"/>
                <a:gd name="T1" fmla="*/ 96 h 97"/>
                <a:gd name="T2" fmla="*/ 0 w 48"/>
                <a:gd name="T3" fmla="*/ 0 h 97"/>
                <a:gd name="T4" fmla="*/ 47 w 48"/>
                <a:gd name="T5" fmla="*/ 0 h 97"/>
                <a:gd name="T6" fmla="*/ 47 w 48"/>
                <a:gd name="T7" fmla="*/ 0 h 9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8" h="97">
                  <a:moveTo>
                    <a:pt x="0" y="96"/>
                  </a:moveTo>
                  <a:lnTo>
                    <a:pt x="0" y="0"/>
                  </a:lnTo>
                  <a:lnTo>
                    <a:pt x="47" y="0"/>
                  </a:lnTo>
                </a:path>
              </a:pathLst>
            </a:custGeom>
            <a:noFill/>
            <a:ln w="25400" cap="rnd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357" name="Line 150">
              <a:extLst>
                <a:ext uri="{FF2B5EF4-FFF2-40B4-BE49-F238E27FC236}">
                  <a16:creationId xmlns:a16="http://schemas.microsoft.com/office/drawing/2014/main" id="{82DF9B41-4344-4EEF-BC5E-DB2DF51C121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332" y="1296"/>
              <a:ext cx="157" cy="0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358" name="Rectangle 151">
              <a:extLst>
                <a:ext uri="{FF2B5EF4-FFF2-40B4-BE49-F238E27FC236}">
                  <a16:creationId xmlns:a16="http://schemas.microsoft.com/office/drawing/2014/main" id="{DD735815-A79B-4965-8F5C-E4D4887FD0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29" y="1250"/>
              <a:ext cx="313" cy="21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73" tIns="44442" rIns="90473" bIns="44442">
              <a:spAutoFit/>
            </a:bodyPr>
            <a:lstStyle/>
            <a:p>
              <a:pPr eaLnBrk="0" hangingPunct="0"/>
              <a:r>
                <a:rPr lang="en-US" altLang="zh-CN" sz="1600" dirty="0">
                  <a:latin typeface="Arial" pitchFamily="34" charset="0"/>
                  <a:ea typeface="SimHei" panose="02010609060101010101" pitchFamily="49" charset="-122"/>
                </a:rPr>
                <a:t>DM</a:t>
              </a:r>
            </a:p>
          </p:txBody>
        </p:sp>
        <p:grpSp>
          <p:nvGrpSpPr>
            <p:cNvPr id="359" name="Group 152">
              <a:extLst>
                <a:ext uri="{FF2B5EF4-FFF2-40B4-BE49-F238E27FC236}">
                  <a16:creationId xmlns:a16="http://schemas.microsoft.com/office/drawing/2014/main" id="{725BEC90-CEF8-4EB8-B594-868996B6A1D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880" y="1248"/>
              <a:ext cx="325" cy="289"/>
              <a:chOff x="2600" y="1509"/>
              <a:chExt cx="325" cy="289"/>
            </a:xfrm>
          </p:grpSpPr>
          <p:sp>
            <p:nvSpPr>
              <p:cNvPr id="373" name="Freeform 153">
                <a:extLst>
                  <a:ext uri="{FF2B5EF4-FFF2-40B4-BE49-F238E27FC236}">
                    <a16:creationId xmlns:a16="http://schemas.microsoft.com/office/drawing/2014/main" id="{950E9A07-C84F-47C2-B858-DB1215B7FC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0" y="1509"/>
                <a:ext cx="162" cy="289"/>
              </a:xfrm>
              <a:custGeom>
                <a:avLst/>
                <a:gdLst>
                  <a:gd name="T0" fmla="*/ 161 w 162"/>
                  <a:gd name="T1" fmla="*/ 0 h 289"/>
                  <a:gd name="T2" fmla="*/ 0 w 162"/>
                  <a:gd name="T3" fmla="*/ 0 h 289"/>
                  <a:gd name="T4" fmla="*/ 0 w 162"/>
                  <a:gd name="T5" fmla="*/ 288 h 289"/>
                  <a:gd name="T6" fmla="*/ 161 w 162"/>
                  <a:gd name="T7" fmla="*/ 288 h 28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2" h="289">
                    <a:moveTo>
                      <a:pt x="161" y="0"/>
                    </a:moveTo>
                    <a:lnTo>
                      <a:pt x="0" y="0"/>
                    </a:lnTo>
                    <a:lnTo>
                      <a:pt x="0" y="288"/>
                    </a:lnTo>
                    <a:lnTo>
                      <a:pt x="161" y="288"/>
                    </a:lnTo>
                  </a:path>
                </a:pathLst>
              </a:custGeom>
              <a:noFill/>
              <a:ln w="25400" cap="rnd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dirty="0">
                  <a:ea typeface="SimHei" panose="02010609060101010101" pitchFamily="49" charset="-122"/>
                </a:endParaRPr>
              </a:p>
            </p:txBody>
          </p:sp>
          <p:sp>
            <p:nvSpPr>
              <p:cNvPr id="374" name="Freeform 154">
                <a:extLst>
                  <a:ext uri="{FF2B5EF4-FFF2-40B4-BE49-F238E27FC236}">
                    <a16:creationId xmlns:a16="http://schemas.microsoft.com/office/drawing/2014/main" id="{FDEA0FC5-2930-402C-8090-F1404A62D0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1" y="1509"/>
                <a:ext cx="164" cy="289"/>
              </a:xfrm>
              <a:custGeom>
                <a:avLst/>
                <a:gdLst>
                  <a:gd name="T0" fmla="*/ 0 w 164"/>
                  <a:gd name="T1" fmla="*/ 0 h 289"/>
                  <a:gd name="T2" fmla="*/ 163 w 164"/>
                  <a:gd name="T3" fmla="*/ 0 h 289"/>
                  <a:gd name="T4" fmla="*/ 163 w 164"/>
                  <a:gd name="T5" fmla="*/ 288 h 289"/>
                  <a:gd name="T6" fmla="*/ 0 w 164"/>
                  <a:gd name="T7" fmla="*/ 288 h 28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4" h="289">
                    <a:moveTo>
                      <a:pt x="0" y="0"/>
                    </a:moveTo>
                    <a:lnTo>
                      <a:pt x="163" y="0"/>
                    </a:lnTo>
                    <a:lnTo>
                      <a:pt x="163" y="288"/>
                    </a:lnTo>
                    <a:lnTo>
                      <a:pt x="0" y="288"/>
                    </a:lnTo>
                  </a:path>
                </a:pathLst>
              </a:custGeom>
              <a:noFill/>
              <a:ln w="25400" cap="rnd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dirty="0">
                  <a:ea typeface="SimHei" panose="02010609060101010101" pitchFamily="49" charset="-122"/>
                </a:endParaRPr>
              </a:p>
            </p:txBody>
          </p:sp>
        </p:grpSp>
        <p:sp>
          <p:nvSpPr>
            <p:cNvPr id="360" name="Rectangle 155">
              <a:extLst>
                <a:ext uri="{FF2B5EF4-FFF2-40B4-BE49-F238E27FC236}">
                  <a16:creationId xmlns:a16="http://schemas.microsoft.com/office/drawing/2014/main" id="{6372598C-4884-4BFC-8A11-EEF61A205F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21" y="1250"/>
              <a:ext cx="355" cy="21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73" tIns="44442" rIns="90473" bIns="44442">
              <a:spAutoFit/>
            </a:bodyPr>
            <a:lstStyle/>
            <a:p>
              <a:pPr eaLnBrk="0" hangingPunct="0"/>
              <a:r>
                <a:rPr lang="en-US" altLang="zh-CN" sz="1600" dirty="0">
                  <a:latin typeface="Arial" pitchFamily="34" charset="0"/>
                  <a:ea typeface="SimHei" panose="02010609060101010101" pitchFamily="49" charset="-122"/>
                </a:rPr>
                <a:t>Reg</a:t>
              </a:r>
            </a:p>
          </p:txBody>
        </p:sp>
        <p:grpSp>
          <p:nvGrpSpPr>
            <p:cNvPr id="361" name="Group 156">
              <a:extLst>
                <a:ext uri="{FF2B5EF4-FFF2-40B4-BE49-F238E27FC236}">
                  <a16:creationId xmlns:a16="http://schemas.microsoft.com/office/drawing/2014/main" id="{0BAFF36C-A2C1-4423-8742-01E3EF0414B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348" y="1248"/>
              <a:ext cx="284" cy="289"/>
              <a:chOff x="3068" y="1509"/>
              <a:chExt cx="284" cy="289"/>
            </a:xfrm>
          </p:grpSpPr>
          <p:sp>
            <p:nvSpPr>
              <p:cNvPr id="371" name="Freeform 157">
                <a:extLst>
                  <a:ext uri="{FF2B5EF4-FFF2-40B4-BE49-F238E27FC236}">
                    <a16:creationId xmlns:a16="http://schemas.microsoft.com/office/drawing/2014/main" id="{5A75D5AF-09D5-4FF6-9788-124A17D24D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8" y="1509"/>
                <a:ext cx="142" cy="289"/>
              </a:xfrm>
              <a:custGeom>
                <a:avLst/>
                <a:gdLst>
                  <a:gd name="T0" fmla="*/ 141 w 142"/>
                  <a:gd name="T1" fmla="*/ 0 h 289"/>
                  <a:gd name="T2" fmla="*/ 0 w 142"/>
                  <a:gd name="T3" fmla="*/ 0 h 289"/>
                  <a:gd name="T4" fmla="*/ 0 w 142"/>
                  <a:gd name="T5" fmla="*/ 288 h 289"/>
                  <a:gd name="T6" fmla="*/ 141 w 142"/>
                  <a:gd name="T7" fmla="*/ 288 h 28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2" h="289">
                    <a:moveTo>
                      <a:pt x="141" y="0"/>
                    </a:moveTo>
                    <a:lnTo>
                      <a:pt x="0" y="0"/>
                    </a:lnTo>
                    <a:lnTo>
                      <a:pt x="0" y="288"/>
                    </a:lnTo>
                    <a:lnTo>
                      <a:pt x="141" y="288"/>
                    </a:lnTo>
                  </a:path>
                </a:pathLst>
              </a:custGeom>
              <a:noFill/>
              <a:ln w="25400" cap="rnd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dirty="0">
                  <a:ea typeface="SimHei" panose="02010609060101010101" pitchFamily="49" charset="-122"/>
                </a:endParaRPr>
              </a:p>
            </p:txBody>
          </p:sp>
          <p:sp>
            <p:nvSpPr>
              <p:cNvPr id="372" name="Freeform 158">
                <a:extLst>
                  <a:ext uri="{FF2B5EF4-FFF2-40B4-BE49-F238E27FC236}">
                    <a16:creationId xmlns:a16="http://schemas.microsoft.com/office/drawing/2014/main" id="{8928703A-0CF5-4905-866E-0FDEF9F672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9" y="1509"/>
                <a:ext cx="143" cy="289"/>
              </a:xfrm>
              <a:custGeom>
                <a:avLst/>
                <a:gdLst>
                  <a:gd name="T0" fmla="*/ 0 w 143"/>
                  <a:gd name="T1" fmla="*/ 0 h 289"/>
                  <a:gd name="T2" fmla="*/ 142 w 143"/>
                  <a:gd name="T3" fmla="*/ 0 h 289"/>
                  <a:gd name="T4" fmla="*/ 142 w 143"/>
                  <a:gd name="T5" fmla="*/ 288 h 289"/>
                  <a:gd name="T6" fmla="*/ 0 w 143"/>
                  <a:gd name="T7" fmla="*/ 288 h 28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3" h="289">
                    <a:moveTo>
                      <a:pt x="0" y="0"/>
                    </a:moveTo>
                    <a:lnTo>
                      <a:pt x="142" y="0"/>
                    </a:lnTo>
                    <a:lnTo>
                      <a:pt x="142" y="288"/>
                    </a:lnTo>
                    <a:lnTo>
                      <a:pt x="0" y="288"/>
                    </a:lnTo>
                  </a:path>
                </a:pathLst>
              </a:custGeom>
              <a:noFill/>
              <a:ln w="25400" cap="rnd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dirty="0">
                  <a:ea typeface="SimHei" panose="02010609060101010101" pitchFamily="49" charset="-122"/>
                </a:endParaRPr>
              </a:p>
            </p:txBody>
          </p:sp>
        </p:grpSp>
        <p:sp>
          <p:nvSpPr>
            <p:cNvPr id="362" name="Line 159">
              <a:extLst>
                <a:ext uri="{FF2B5EF4-FFF2-40B4-BE49-F238E27FC236}">
                  <a16:creationId xmlns:a16="http://schemas.microsoft.com/office/drawing/2014/main" id="{AAD06C22-E535-402B-8B37-F9DE08BFB2B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01" y="1392"/>
              <a:ext cx="139" cy="0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363" name="Line 160">
              <a:extLst>
                <a:ext uri="{FF2B5EF4-FFF2-40B4-BE49-F238E27FC236}">
                  <a16:creationId xmlns:a16="http://schemas.microsoft.com/office/drawing/2014/main" id="{01D6A7FC-9B13-42D6-A152-68F67507BBC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717" y="1392"/>
              <a:ext cx="155" cy="0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364" name="Line 161">
              <a:extLst>
                <a:ext uri="{FF2B5EF4-FFF2-40B4-BE49-F238E27FC236}">
                  <a16:creationId xmlns:a16="http://schemas.microsoft.com/office/drawing/2014/main" id="{D3147A42-1112-4AE9-B10E-C22D1AF0D9B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332" y="1488"/>
              <a:ext cx="157" cy="0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365" name="Line 162">
              <a:extLst>
                <a:ext uri="{FF2B5EF4-FFF2-40B4-BE49-F238E27FC236}">
                  <a16:creationId xmlns:a16="http://schemas.microsoft.com/office/drawing/2014/main" id="{0BEF39BA-C243-4C65-B70B-E39A8D09F9E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416" y="1488"/>
              <a:ext cx="0" cy="192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366" name="Line 163">
              <a:extLst>
                <a:ext uri="{FF2B5EF4-FFF2-40B4-BE49-F238E27FC236}">
                  <a16:creationId xmlns:a16="http://schemas.microsoft.com/office/drawing/2014/main" id="{2DAC8A87-53B7-492B-9014-DD2EEF71B24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416" y="1680"/>
              <a:ext cx="336" cy="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367" name="Line 164">
              <a:extLst>
                <a:ext uri="{FF2B5EF4-FFF2-40B4-BE49-F238E27FC236}">
                  <a16:creationId xmlns:a16="http://schemas.microsoft.com/office/drawing/2014/main" id="{7EE9ADA0-37A6-4159-98AE-86127483F07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752" y="1392"/>
              <a:ext cx="0" cy="288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368" name="Line 165">
              <a:extLst>
                <a:ext uri="{FF2B5EF4-FFF2-40B4-BE49-F238E27FC236}">
                  <a16:creationId xmlns:a16="http://schemas.microsoft.com/office/drawing/2014/main" id="{41E60766-86A0-4EC5-A33E-45B89C46F97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832" y="1392"/>
              <a:ext cx="0" cy="24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369" name="Line 166">
              <a:extLst>
                <a:ext uri="{FF2B5EF4-FFF2-40B4-BE49-F238E27FC236}">
                  <a16:creationId xmlns:a16="http://schemas.microsoft.com/office/drawing/2014/main" id="{BD26CBAE-92B5-49F0-9C22-53FC93376B0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32" y="1632"/>
              <a:ext cx="432" cy="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370" name="Line 167">
              <a:extLst>
                <a:ext uri="{FF2B5EF4-FFF2-40B4-BE49-F238E27FC236}">
                  <a16:creationId xmlns:a16="http://schemas.microsoft.com/office/drawing/2014/main" id="{6263AE7E-893C-49B5-8879-DC7D1BA7544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64" y="1392"/>
              <a:ext cx="0" cy="24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</p:grpSp>
      <p:grpSp>
        <p:nvGrpSpPr>
          <p:cNvPr id="383" name="Group 168" descr=" 87060">
            <a:extLst>
              <a:ext uri="{FF2B5EF4-FFF2-40B4-BE49-F238E27FC236}">
                <a16:creationId xmlns:a16="http://schemas.microsoft.com/office/drawing/2014/main" id="{EAB2A457-2BCE-4004-A48C-E88D9DD2B976}"/>
              </a:ext>
            </a:extLst>
          </p:cNvPr>
          <p:cNvGrpSpPr>
            <a:grpSpLocks/>
          </p:cNvGrpSpPr>
          <p:nvPr/>
        </p:nvGrpSpPr>
        <p:grpSpPr bwMode="auto">
          <a:xfrm>
            <a:off x="5413375" y="4642104"/>
            <a:ext cx="3355975" cy="838200"/>
            <a:chOff x="1562" y="1152"/>
            <a:chExt cx="2114" cy="528"/>
          </a:xfrm>
        </p:grpSpPr>
        <p:grpSp>
          <p:nvGrpSpPr>
            <p:cNvPr id="384" name="Group 169">
              <a:extLst>
                <a:ext uri="{FF2B5EF4-FFF2-40B4-BE49-F238E27FC236}">
                  <a16:creationId xmlns:a16="http://schemas.microsoft.com/office/drawing/2014/main" id="{7756FE69-C20C-4742-8372-896667B00CC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487" y="1152"/>
              <a:ext cx="223" cy="481"/>
              <a:chOff x="2207" y="1413"/>
              <a:chExt cx="223" cy="481"/>
            </a:xfrm>
          </p:grpSpPr>
          <p:sp>
            <p:nvSpPr>
              <p:cNvPr id="414" name="Freeform 170">
                <a:extLst>
                  <a:ext uri="{FF2B5EF4-FFF2-40B4-BE49-F238E27FC236}">
                    <a16:creationId xmlns:a16="http://schemas.microsoft.com/office/drawing/2014/main" id="{37AD61C2-AA10-4DDA-A754-922DD17D8A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7" y="1413"/>
                <a:ext cx="213" cy="481"/>
              </a:xfrm>
              <a:custGeom>
                <a:avLst/>
                <a:gdLst>
                  <a:gd name="T0" fmla="*/ 0 w 213"/>
                  <a:gd name="T1" fmla="*/ 320 h 481"/>
                  <a:gd name="T2" fmla="*/ 71 w 213"/>
                  <a:gd name="T3" fmla="*/ 240 h 481"/>
                  <a:gd name="T4" fmla="*/ 0 w 213"/>
                  <a:gd name="T5" fmla="*/ 160 h 481"/>
                  <a:gd name="T6" fmla="*/ 0 w 213"/>
                  <a:gd name="T7" fmla="*/ 0 h 481"/>
                  <a:gd name="T8" fmla="*/ 212 w 213"/>
                  <a:gd name="T9" fmla="*/ 160 h 481"/>
                  <a:gd name="T10" fmla="*/ 212 w 213"/>
                  <a:gd name="T11" fmla="*/ 320 h 481"/>
                  <a:gd name="T12" fmla="*/ 0 w 213"/>
                  <a:gd name="T13" fmla="*/ 480 h 481"/>
                  <a:gd name="T14" fmla="*/ 0 w 213"/>
                  <a:gd name="T15" fmla="*/ 320 h 48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13" h="481">
                    <a:moveTo>
                      <a:pt x="0" y="320"/>
                    </a:moveTo>
                    <a:lnTo>
                      <a:pt x="71" y="240"/>
                    </a:lnTo>
                    <a:lnTo>
                      <a:pt x="0" y="160"/>
                    </a:lnTo>
                    <a:lnTo>
                      <a:pt x="0" y="0"/>
                    </a:lnTo>
                    <a:lnTo>
                      <a:pt x="212" y="160"/>
                    </a:lnTo>
                    <a:lnTo>
                      <a:pt x="212" y="320"/>
                    </a:lnTo>
                    <a:lnTo>
                      <a:pt x="0" y="480"/>
                    </a:lnTo>
                    <a:lnTo>
                      <a:pt x="0" y="320"/>
                    </a:lnTo>
                  </a:path>
                </a:pathLst>
              </a:custGeom>
              <a:noFill/>
              <a:ln w="25400" cap="rnd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dirty="0">
                  <a:ea typeface="SimHei" panose="02010609060101010101" pitchFamily="49" charset="-122"/>
                </a:endParaRPr>
              </a:p>
            </p:txBody>
          </p:sp>
          <p:sp>
            <p:nvSpPr>
              <p:cNvPr id="415" name="Rectangle 171">
                <a:extLst>
                  <a:ext uri="{FF2B5EF4-FFF2-40B4-BE49-F238E27FC236}">
                    <a16:creationId xmlns:a16="http://schemas.microsoft.com/office/drawing/2014/main" id="{EEB48663-FDFB-45A3-8AC8-F2362344488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5400000">
                <a:off x="2124" y="1533"/>
                <a:ext cx="376" cy="21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12700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lIns="90473" tIns="44442" rIns="90473" bIns="44442">
                <a:spAutoFit/>
              </a:bodyPr>
              <a:lstStyle/>
              <a:p>
                <a:pPr eaLnBrk="0" hangingPunct="0"/>
                <a:r>
                  <a:rPr lang="en-US" altLang="zh-CN" sz="1600" dirty="0">
                    <a:latin typeface="Arial" pitchFamily="34" charset="0"/>
                    <a:ea typeface="SimHei" panose="02010609060101010101" pitchFamily="49" charset="-122"/>
                  </a:rPr>
                  <a:t>ALU</a:t>
                </a:r>
              </a:p>
            </p:txBody>
          </p:sp>
        </p:grpSp>
        <p:grpSp>
          <p:nvGrpSpPr>
            <p:cNvPr id="385" name="Group 172">
              <a:extLst>
                <a:ext uri="{FF2B5EF4-FFF2-40B4-BE49-F238E27FC236}">
                  <a16:creationId xmlns:a16="http://schemas.microsoft.com/office/drawing/2014/main" id="{E27FD6BC-51CC-4E36-84F9-8F3778145A1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562" y="1248"/>
              <a:ext cx="349" cy="289"/>
              <a:chOff x="1282" y="1509"/>
              <a:chExt cx="349" cy="289"/>
            </a:xfrm>
          </p:grpSpPr>
          <p:sp>
            <p:nvSpPr>
              <p:cNvPr id="410" name="Rectangle 173">
                <a:extLst>
                  <a:ext uri="{FF2B5EF4-FFF2-40B4-BE49-F238E27FC236}">
                    <a16:creationId xmlns:a16="http://schemas.microsoft.com/office/drawing/2014/main" id="{CAAC211A-C000-4FE1-B93C-7D3F9C637F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82" y="1511"/>
                <a:ext cx="257" cy="21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12700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lIns="90473" tIns="44442" rIns="90473" bIns="44442">
                <a:spAutoFit/>
              </a:bodyPr>
              <a:lstStyle/>
              <a:p>
                <a:pPr algn="ctr" eaLnBrk="0" hangingPunct="0"/>
                <a:r>
                  <a:rPr lang="en-US" altLang="zh-CN" sz="1600" dirty="0">
                    <a:latin typeface="Arial" pitchFamily="34" charset="0"/>
                    <a:ea typeface="SimHei" panose="02010609060101010101" pitchFamily="49" charset="-122"/>
                  </a:rPr>
                  <a:t>IM</a:t>
                </a:r>
              </a:p>
            </p:txBody>
          </p:sp>
          <p:grpSp>
            <p:nvGrpSpPr>
              <p:cNvPr id="411" name="Group 174">
                <a:extLst>
                  <a:ext uri="{FF2B5EF4-FFF2-40B4-BE49-F238E27FC236}">
                    <a16:creationId xmlns:a16="http://schemas.microsoft.com/office/drawing/2014/main" id="{EB9CF4D6-A23F-460D-8A13-A63D2D77B80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291" y="1509"/>
                <a:ext cx="340" cy="289"/>
                <a:chOff x="1291" y="1509"/>
                <a:chExt cx="340" cy="289"/>
              </a:xfrm>
            </p:grpSpPr>
            <p:sp>
              <p:nvSpPr>
                <p:cNvPr id="412" name="Freeform 175">
                  <a:extLst>
                    <a:ext uri="{FF2B5EF4-FFF2-40B4-BE49-F238E27FC236}">
                      <a16:creationId xmlns:a16="http://schemas.microsoft.com/office/drawing/2014/main" id="{504C2AC7-1902-4901-8DA3-2E767BB8859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291" y="1509"/>
                  <a:ext cx="170" cy="289"/>
                </a:xfrm>
                <a:custGeom>
                  <a:avLst/>
                  <a:gdLst>
                    <a:gd name="T0" fmla="*/ 169 w 170"/>
                    <a:gd name="T1" fmla="*/ 0 h 289"/>
                    <a:gd name="T2" fmla="*/ 0 w 170"/>
                    <a:gd name="T3" fmla="*/ 0 h 289"/>
                    <a:gd name="T4" fmla="*/ 0 w 170"/>
                    <a:gd name="T5" fmla="*/ 288 h 289"/>
                    <a:gd name="T6" fmla="*/ 169 w 170"/>
                    <a:gd name="T7" fmla="*/ 288 h 289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170" h="289">
                      <a:moveTo>
                        <a:pt x="169" y="0"/>
                      </a:moveTo>
                      <a:lnTo>
                        <a:pt x="0" y="0"/>
                      </a:lnTo>
                      <a:lnTo>
                        <a:pt x="0" y="288"/>
                      </a:lnTo>
                      <a:lnTo>
                        <a:pt x="169" y="288"/>
                      </a:lnTo>
                    </a:path>
                  </a:pathLst>
                </a:custGeom>
                <a:noFill/>
                <a:ln w="25400" cap="rnd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zh-CN" altLang="en-US" dirty="0">
                    <a:ea typeface="SimHei" panose="02010609060101010101" pitchFamily="49" charset="-122"/>
                  </a:endParaRPr>
                </a:p>
              </p:txBody>
            </p:sp>
            <p:sp>
              <p:nvSpPr>
                <p:cNvPr id="413" name="Freeform 176">
                  <a:extLst>
                    <a:ext uri="{FF2B5EF4-FFF2-40B4-BE49-F238E27FC236}">
                      <a16:creationId xmlns:a16="http://schemas.microsoft.com/office/drawing/2014/main" id="{552D9392-A21A-4270-9565-0CA9E7F9C0F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460" y="1509"/>
                  <a:ext cx="171" cy="289"/>
                </a:xfrm>
                <a:custGeom>
                  <a:avLst/>
                  <a:gdLst>
                    <a:gd name="T0" fmla="*/ 0 w 171"/>
                    <a:gd name="T1" fmla="*/ 0 h 289"/>
                    <a:gd name="T2" fmla="*/ 170 w 171"/>
                    <a:gd name="T3" fmla="*/ 0 h 289"/>
                    <a:gd name="T4" fmla="*/ 170 w 171"/>
                    <a:gd name="T5" fmla="*/ 288 h 289"/>
                    <a:gd name="T6" fmla="*/ 0 w 171"/>
                    <a:gd name="T7" fmla="*/ 288 h 289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171" h="289">
                      <a:moveTo>
                        <a:pt x="0" y="0"/>
                      </a:moveTo>
                      <a:lnTo>
                        <a:pt x="170" y="0"/>
                      </a:lnTo>
                      <a:lnTo>
                        <a:pt x="170" y="288"/>
                      </a:lnTo>
                      <a:lnTo>
                        <a:pt x="0" y="288"/>
                      </a:lnTo>
                    </a:path>
                  </a:pathLst>
                </a:custGeom>
                <a:noFill/>
                <a:ln w="25400" cap="rnd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zh-CN" altLang="en-US" dirty="0">
                    <a:ea typeface="SimHei" panose="02010609060101010101" pitchFamily="49" charset="-122"/>
                  </a:endParaRPr>
                </a:p>
              </p:txBody>
            </p:sp>
          </p:grpSp>
        </p:grpSp>
        <p:sp>
          <p:nvSpPr>
            <p:cNvPr id="386" name="Rectangle 177">
              <a:extLst>
                <a:ext uri="{FF2B5EF4-FFF2-40B4-BE49-F238E27FC236}">
                  <a16:creationId xmlns:a16="http://schemas.microsoft.com/office/drawing/2014/main" id="{BB6135BC-33B5-46C0-8DA6-75435F4810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12" y="1255"/>
              <a:ext cx="355" cy="21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73" tIns="44442" rIns="90473" bIns="44442">
              <a:spAutoFit/>
            </a:bodyPr>
            <a:lstStyle/>
            <a:p>
              <a:pPr eaLnBrk="0" hangingPunct="0"/>
              <a:r>
                <a:rPr lang="en-US" altLang="zh-CN" sz="1600" dirty="0">
                  <a:latin typeface="Arial" pitchFamily="34" charset="0"/>
                  <a:ea typeface="SimHei" panose="02010609060101010101" pitchFamily="49" charset="-122"/>
                </a:rPr>
                <a:t>Reg</a:t>
              </a:r>
            </a:p>
          </p:txBody>
        </p:sp>
        <p:grpSp>
          <p:nvGrpSpPr>
            <p:cNvPr id="387" name="Group 178">
              <a:extLst>
                <a:ext uri="{FF2B5EF4-FFF2-40B4-BE49-F238E27FC236}">
                  <a16:creationId xmlns:a16="http://schemas.microsoft.com/office/drawing/2014/main" id="{DCFFB129-4A04-4653-80F6-0F13218EFA4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031" y="1248"/>
              <a:ext cx="296" cy="289"/>
              <a:chOff x="1751" y="1509"/>
              <a:chExt cx="296" cy="289"/>
            </a:xfrm>
          </p:grpSpPr>
          <p:sp>
            <p:nvSpPr>
              <p:cNvPr id="408" name="Freeform 179">
                <a:extLst>
                  <a:ext uri="{FF2B5EF4-FFF2-40B4-BE49-F238E27FC236}">
                    <a16:creationId xmlns:a16="http://schemas.microsoft.com/office/drawing/2014/main" id="{41D1BBE5-C4B0-4B38-91A5-60068E8572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1" y="1509"/>
                <a:ext cx="149" cy="289"/>
              </a:xfrm>
              <a:custGeom>
                <a:avLst/>
                <a:gdLst>
                  <a:gd name="T0" fmla="*/ 148 w 149"/>
                  <a:gd name="T1" fmla="*/ 0 h 289"/>
                  <a:gd name="T2" fmla="*/ 0 w 149"/>
                  <a:gd name="T3" fmla="*/ 0 h 289"/>
                  <a:gd name="T4" fmla="*/ 0 w 149"/>
                  <a:gd name="T5" fmla="*/ 288 h 289"/>
                  <a:gd name="T6" fmla="*/ 148 w 149"/>
                  <a:gd name="T7" fmla="*/ 288 h 28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9" h="289">
                    <a:moveTo>
                      <a:pt x="148" y="0"/>
                    </a:moveTo>
                    <a:lnTo>
                      <a:pt x="0" y="0"/>
                    </a:lnTo>
                    <a:lnTo>
                      <a:pt x="0" y="288"/>
                    </a:lnTo>
                    <a:lnTo>
                      <a:pt x="148" y="288"/>
                    </a:lnTo>
                  </a:path>
                </a:pathLst>
              </a:custGeom>
              <a:noFill/>
              <a:ln w="25400" cap="rnd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dirty="0">
                  <a:ea typeface="SimHei" panose="02010609060101010101" pitchFamily="49" charset="-122"/>
                </a:endParaRPr>
              </a:p>
            </p:txBody>
          </p:sp>
          <p:sp>
            <p:nvSpPr>
              <p:cNvPr id="409" name="Freeform 180">
                <a:extLst>
                  <a:ext uri="{FF2B5EF4-FFF2-40B4-BE49-F238E27FC236}">
                    <a16:creationId xmlns:a16="http://schemas.microsoft.com/office/drawing/2014/main" id="{F300D3C7-6DB0-4861-A94B-C4DF75D741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9" y="1509"/>
                <a:ext cx="148" cy="289"/>
              </a:xfrm>
              <a:custGeom>
                <a:avLst/>
                <a:gdLst>
                  <a:gd name="T0" fmla="*/ 0 w 148"/>
                  <a:gd name="T1" fmla="*/ 0 h 289"/>
                  <a:gd name="T2" fmla="*/ 147 w 148"/>
                  <a:gd name="T3" fmla="*/ 0 h 289"/>
                  <a:gd name="T4" fmla="*/ 147 w 148"/>
                  <a:gd name="T5" fmla="*/ 288 h 289"/>
                  <a:gd name="T6" fmla="*/ 0 w 148"/>
                  <a:gd name="T7" fmla="*/ 288 h 28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8" h="289">
                    <a:moveTo>
                      <a:pt x="0" y="0"/>
                    </a:moveTo>
                    <a:lnTo>
                      <a:pt x="147" y="0"/>
                    </a:lnTo>
                    <a:lnTo>
                      <a:pt x="147" y="288"/>
                    </a:lnTo>
                    <a:lnTo>
                      <a:pt x="0" y="288"/>
                    </a:lnTo>
                  </a:path>
                </a:pathLst>
              </a:custGeom>
              <a:noFill/>
              <a:ln w="25400" cap="rnd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dirty="0">
                  <a:ea typeface="SimHei" panose="02010609060101010101" pitchFamily="49" charset="-122"/>
                </a:endParaRPr>
              </a:p>
            </p:txBody>
          </p:sp>
        </p:grpSp>
        <p:sp>
          <p:nvSpPr>
            <p:cNvPr id="388" name="Line 181">
              <a:extLst>
                <a:ext uri="{FF2B5EF4-FFF2-40B4-BE49-F238E27FC236}">
                  <a16:creationId xmlns:a16="http://schemas.microsoft.com/office/drawing/2014/main" id="{7047C258-BE72-40D3-BE17-078F341EF70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916" y="1392"/>
              <a:ext cx="116" cy="0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389" name="Freeform 182">
              <a:extLst>
                <a:ext uri="{FF2B5EF4-FFF2-40B4-BE49-F238E27FC236}">
                  <a16:creationId xmlns:a16="http://schemas.microsoft.com/office/drawing/2014/main" id="{893049D7-DB54-46D3-B7F0-B77479D1157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4" y="1296"/>
              <a:ext cx="48" cy="97"/>
            </a:xfrm>
            <a:custGeom>
              <a:avLst/>
              <a:gdLst>
                <a:gd name="T0" fmla="*/ 0 w 48"/>
                <a:gd name="T1" fmla="*/ 96 h 97"/>
                <a:gd name="T2" fmla="*/ 0 w 48"/>
                <a:gd name="T3" fmla="*/ 0 h 97"/>
                <a:gd name="T4" fmla="*/ 47 w 48"/>
                <a:gd name="T5" fmla="*/ 0 h 97"/>
                <a:gd name="T6" fmla="*/ 47 w 48"/>
                <a:gd name="T7" fmla="*/ 0 h 9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8" h="97">
                  <a:moveTo>
                    <a:pt x="0" y="96"/>
                  </a:moveTo>
                  <a:lnTo>
                    <a:pt x="0" y="0"/>
                  </a:lnTo>
                  <a:lnTo>
                    <a:pt x="47" y="0"/>
                  </a:lnTo>
                </a:path>
              </a:pathLst>
            </a:custGeom>
            <a:noFill/>
            <a:ln w="25400" cap="rnd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390" name="Line 183">
              <a:extLst>
                <a:ext uri="{FF2B5EF4-FFF2-40B4-BE49-F238E27FC236}">
                  <a16:creationId xmlns:a16="http://schemas.microsoft.com/office/drawing/2014/main" id="{987C81A0-374E-4B70-A820-5400EEE7FE7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332" y="1296"/>
              <a:ext cx="157" cy="0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391" name="Rectangle 184">
              <a:extLst>
                <a:ext uri="{FF2B5EF4-FFF2-40B4-BE49-F238E27FC236}">
                  <a16:creationId xmlns:a16="http://schemas.microsoft.com/office/drawing/2014/main" id="{063E8AE4-7385-4534-B4AB-558165785D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29" y="1250"/>
              <a:ext cx="313" cy="21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73" tIns="44442" rIns="90473" bIns="44442">
              <a:spAutoFit/>
            </a:bodyPr>
            <a:lstStyle/>
            <a:p>
              <a:pPr eaLnBrk="0" hangingPunct="0"/>
              <a:r>
                <a:rPr lang="en-US" altLang="zh-CN" sz="1600" dirty="0">
                  <a:latin typeface="Arial" pitchFamily="34" charset="0"/>
                  <a:ea typeface="SimHei" panose="02010609060101010101" pitchFamily="49" charset="-122"/>
                </a:rPr>
                <a:t>DM</a:t>
              </a:r>
            </a:p>
          </p:txBody>
        </p:sp>
        <p:grpSp>
          <p:nvGrpSpPr>
            <p:cNvPr id="392" name="Group 185">
              <a:extLst>
                <a:ext uri="{FF2B5EF4-FFF2-40B4-BE49-F238E27FC236}">
                  <a16:creationId xmlns:a16="http://schemas.microsoft.com/office/drawing/2014/main" id="{7A37F7F1-424C-4A17-AF6F-86DE6C3E16E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880" y="1248"/>
              <a:ext cx="325" cy="289"/>
              <a:chOff x="2600" y="1509"/>
              <a:chExt cx="325" cy="289"/>
            </a:xfrm>
          </p:grpSpPr>
          <p:sp>
            <p:nvSpPr>
              <p:cNvPr id="406" name="Freeform 186">
                <a:extLst>
                  <a:ext uri="{FF2B5EF4-FFF2-40B4-BE49-F238E27FC236}">
                    <a16:creationId xmlns:a16="http://schemas.microsoft.com/office/drawing/2014/main" id="{B04929C6-9E7B-419E-9594-BE206CA6DE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0" y="1509"/>
                <a:ext cx="162" cy="289"/>
              </a:xfrm>
              <a:custGeom>
                <a:avLst/>
                <a:gdLst>
                  <a:gd name="T0" fmla="*/ 161 w 162"/>
                  <a:gd name="T1" fmla="*/ 0 h 289"/>
                  <a:gd name="T2" fmla="*/ 0 w 162"/>
                  <a:gd name="T3" fmla="*/ 0 h 289"/>
                  <a:gd name="T4" fmla="*/ 0 w 162"/>
                  <a:gd name="T5" fmla="*/ 288 h 289"/>
                  <a:gd name="T6" fmla="*/ 161 w 162"/>
                  <a:gd name="T7" fmla="*/ 288 h 28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2" h="289">
                    <a:moveTo>
                      <a:pt x="161" y="0"/>
                    </a:moveTo>
                    <a:lnTo>
                      <a:pt x="0" y="0"/>
                    </a:lnTo>
                    <a:lnTo>
                      <a:pt x="0" y="288"/>
                    </a:lnTo>
                    <a:lnTo>
                      <a:pt x="161" y="288"/>
                    </a:lnTo>
                  </a:path>
                </a:pathLst>
              </a:custGeom>
              <a:noFill/>
              <a:ln w="25400" cap="rnd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dirty="0">
                  <a:ea typeface="SimHei" panose="02010609060101010101" pitchFamily="49" charset="-122"/>
                </a:endParaRPr>
              </a:p>
            </p:txBody>
          </p:sp>
          <p:sp>
            <p:nvSpPr>
              <p:cNvPr id="407" name="Freeform 187">
                <a:extLst>
                  <a:ext uri="{FF2B5EF4-FFF2-40B4-BE49-F238E27FC236}">
                    <a16:creationId xmlns:a16="http://schemas.microsoft.com/office/drawing/2014/main" id="{3570F7A0-7890-4645-A5E8-FFBB49B43F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1" y="1509"/>
                <a:ext cx="164" cy="289"/>
              </a:xfrm>
              <a:custGeom>
                <a:avLst/>
                <a:gdLst>
                  <a:gd name="T0" fmla="*/ 0 w 164"/>
                  <a:gd name="T1" fmla="*/ 0 h 289"/>
                  <a:gd name="T2" fmla="*/ 163 w 164"/>
                  <a:gd name="T3" fmla="*/ 0 h 289"/>
                  <a:gd name="T4" fmla="*/ 163 w 164"/>
                  <a:gd name="T5" fmla="*/ 288 h 289"/>
                  <a:gd name="T6" fmla="*/ 0 w 164"/>
                  <a:gd name="T7" fmla="*/ 288 h 28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4" h="289">
                    <a:moveTo>
                      <a:pt x="0" y="0"/>
                    </a:moveTo>
                    <a:lnTo>
                      <a:pt x="163" y="0"/>
                    </a:lnTo>
                    <a:lnTo>
                      <a:pt x="163" y="288"/>
                    </a:lnTo>
                    <a:lnTo>
                      <a:pt x="0" y="288"/>
                    </a:lnTo>
                  </a:path>
                </a:pathLst>
              </a:custGeom>
              <a:noFill/>
              <a:ln w="25400" cap="rnd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dirty="0">
                  <a:ea typeface="SimHei" panose="02010609060101010101" pitchFamily="49" charset="-122"/>
                </a:endParaRPr>
              </a:p>
            </p:txBody>
          </p:sp>
        </p:grpSp>
        <p:sp>
          <p:nvSpPr>
            <p:cNvPr id="393" name="Rectangle 188">
              <a:extLst>
                <a:ext uri="{FF2B5EF4-FFF2-40B4-BE49-F238E27FC236}">
                  <a16:creationId xmlns:a16="http://schemas.microsoft.com/office/drawing/2014/main" id="{46A3FCB3-509E-4005-8FC3-7497796232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21" y="1250"/>
              <a:ext cx="355" cy="21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73" tIns="44442" rIns="90473" bIns="44442">
              <a:spAutoFit/>
            </a:bodyPr>
            <a:lstStyle/>
            <a:p>
              <a:pPr eaLnBrk="0" hangingPunct="0"/>
              <a:r>
                <a:rPr lang="en-US" altLang="zh-CN" sz="1600" dirty="0">
                  <a:latin typeface="Arial" pitchFamily="34" charset="0"/>
                  <a:ea typeface="SimHei" panose="02010609060101010101" pitchFamily="49" charset="-122"/>
                </a:rPr>
                <a:t>Reg</a:t>
              </a:r>
            </a:p>
          </p:txBody>
        </p:sp>
        <p:grpSp>
          <p:nvGrpSpPr>
            <p:cNvPr id="394" name="Group 189">
              <a:extLst>
                <a:ext uri="{FF2B5EF4-FFF2-40B4-BE49-F238E27FC236}">
                  <a16:creationId xmlns:a16="http://schemas.microsoft.com/office/drawing/2014/main" id="{C0209025-7E9F-4EB5-A7A5-1E909DA06EC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348" y="1248"/>
              <a:ext cx="284" cy="289"/>
              <a:chOff x="3068" y="1509"/>
              <a:chExt cx="284" cy="289"/>
            </a:xfrm>
          </p:grpSpPr>
          <p:sp>
            <p:nvSpPr>
              <p:cNvPr id="404" name="Freeform 190">
                <a:extLst>
                  <a:ext uri="{FF2B5EF4-FFF2-40B4-BE49-F238E27FC236}">
                    <a16:creationId xmlns:a16="http://schemas.microsoft.com/office/drawing/2014/main" id="{C90EC7CE-13C7-493F-964C-774ADBB5CC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8" y="1509"/>
                <a:ext cx="142" cy="289"/>
              </a:xfrm>
              <a:custGeom>
                <a:avLst/>
                <a:gdLst>
                  <a:gd name="T0" fmla="*/ 141 w 142"/>
                  <a:gd name="T1" fmla="*/ 0 h 289"/>
                  <a:gd name="T2" fmla="*/ 0 w 142"/>
                  <a:gd name="T3" fmla="*/ 0 h 289"/>
                  <a:gd name="T4" fmla="*/ 0 w 142"/>
                  <a:gd name="T5" fmla="*/ 288 h 289"/>
                  <a:gd name="T6" fmla="*/ 141 w 142"/>
                  <a:gd name="T7" fmla="*/ 288 h 28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2" h="289">
                    <a:moveTo>
                      <a:pt x="141" y="0"/>
                    </a:moveTo>
                    <a:lnTo>
                      <a:pt x="0" y="0"/>
                    </a:lnTo>
                    <a:lnTo>
                      <a:pt x="0" y="288"/>
                    </a:lnTo>
                    <a:lnTo>
                      <a:pt x="141" y="288"/>
                    </a:lnTo>
                  </a:path>
                </a:pathLst>
              </a:custGeom>
              <a:noFill/>
              <a:ln w="25400" cap="rnd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dirty="0">
                  <a:ea typeface="SimHei" panose="02010609060101010101" pitchFamily="49" charset="-122"/>
                </a:endParaRPr>
              </a:p>
            </p:txBody>
          </p:sp>
          <p:sp>
            <p:nvSpPr>
              <p:cNvPr id="405" name="Freeform 191">
                <a:extLst>
                  <a:ext uri="{FF2B5EF4-FFF2-40B4-BE49-F238E27FC236}">
                    <a16:creationId xmlns:a16="http://schemas.microsoft.com/office/drawing/2014/main" id="{974DC73F-AE50-4A1A-98CC-8815245A79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9" y="1509"/>
                <a:ext cx="143" cy="289"/>
              </a:xfrm>
              <a:custGeom>
                <a:avLst/>
                <a:gdLst>
                  <a:gd name="T0" fmla="*/ 0 w 143"/>
                  <a:gd name="T1" fmla="*/ 0 h 289"/>
                  <a:gd name="T2" fmla="*/ 142 w 143"/>
                  <a:gd name="T3" fmla="*/ 0 h 289"/>
                  <a:gd name="T4" fmla="*/ 142 w 143"/>
                  <a:gd name="T5" fmla="*/ 288 h 289"/>
                  <a:gd name="T6" fmla="*/ 0 w 143"/>
                  <a:gd name="T7" fmla="*/ 288 h 28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3" h="289">
                    <a:moveTo>
                      <a:pt x="0" y="0"/>
                    </a:moveTo>
                    <a:lnTo>
                      <a:pt x="142" y="0"/>
                    </a:lnTo>
                    <a:lnTo>
                      <a:pt x="142" y="288"/>
                    </a:lnTo>
                    <a:lnTo>
                      <a:pt x="0" y="288"/>
                    </a:lnTo>
                  </a:path>
                </a:pathLst>
              </a:custGeom>
              <a:noFill/>
              <a:ln w="25400" cap="rnd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dirty="0">
                  <a:ea typeface="SimHei" panose="02010609060101010101" pitchFamily="49" charset="-122"/>
                </a:endParaRPr>
              </a:p>
            </p:txBody>
          </p:sp>
        </p:grpSp>
        <p:sp>
          <p:nvSpPr>
            <p:cNvPr id="395" name="Line 192">
              <a:extLst>
                <a:ext uri="{FF2B5EF4-FFF2-40B4-BE49-F238E27FC236}">
                  <a16:creationId xmlns:a16="http://schemas.microsoft.com/office/drawing/2014/main" id="{FAD46CB1-B822-4438-983F-5C6C3B21224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01" y="1392"/>
              <a:ext cx="139" cy="0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396" name="Line 193">
              <a:extLst>
                <a:ext uri="{FF2B5EF4-FFF2-40B4-BE49-F238E27FC236}">
                  <a16:creationId xmlns:a16="http://schemas.microsoft.com/office/drawing/2014/main" id="{1F6157E3-FF9E-4E2E-B69C-D9666D495A7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717" y="1392"/>
              <a:ext cx="155" cy="0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397" name="Line 194">
              <a:extLst>
                <a:ext uri="{FF2B5EF4-FFF2-40B4-BE49-F238E27FC236}">
                  <a16:creationId xmlns:a16="http://schemas.microsoft.com/office/drawing/2014/main" id="{E74709F0-F1DB-4443-A8EE-5E82BE5CB82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332" y="1488"/>
              <a:ext cx="157" cy="0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398" name="Line 195">
              <a:extLst>
                <a:ext uri="{FF2B5EF4-FFF2-40B4-BE49-F238E27FC236}">
                  <a16:creationId xmlns:a16="http://schemas.microsoft.com/office/drawing/2014/main" id="{0EFB742B-1D55-47B4-89EB-BF6BDCD8D87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416" y="1488"/>
              <a:ext cx="0" cy="192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399" name="Line 196">
              <a:extLst>
                <a:ext uri="{FF2B5EF4-FFF2-40B4-BE49-F238E27FC236}">
                  <a16:creationId xmlns:a16="http://schemas.microsoft.com/office/drawing/2014/main" id="{53CFC687-C112-4A38-8E1F-6AD6E33A50F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416" y="1680"/>
              <a:ext cx="336" cy="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400" name="Line 197">
              <a:extLst>
                <a:ext uri="{FF2B5EF4-FFF2-40B4-BE49-F238E27FC236}">
                  <a16:creationId xmlns:a16="http://schemas.microsoft.com/office/drawing/2014/main" id="{0D20CE5B-562F-4BB2-A180-AC780FCC808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752" y="1392"/>
              <a:ext cx="0" cy="288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401" name="Line 198">
              <a:extLst>
                <a:ext uri="{FF2B5EF4-FFF2-40B4-BE49-F238E27FC236}">
                  <a16:creationId xmlns:a16="http://schemas.microsoft.com/office/drawing/2014/main" id="{EE2AC4A4-2E7C-4F74-9799-4DF072EBFD0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832" y="1392"/>
              <a:ext cx="0" cy="24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402" name="Line 199">
              <a:extLst>
                <a:ext uri="{FF2B5EF4-FFF2-40B4-BE49-F238E27FC236}">
                  <a16:creationId xmlns:a16="http://schemas.microsoft.com/office/drawing/2014/main" id="{9C7CD9CF-F9A4-449B-863E-80DAED78BA9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32" y="1632"/>
              <a:ext cx="432" cy="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403" name="Line 200">
              <a:extLst>
                <a:ext uri="{FF2B5EF4-FFF2-40B4-BE49-F238E27FC236}">
                  <a16:creationId xmlns:a16="http://schemas.microsoft.com/office/drawing/2014/main" id="{4C8DD104-5473-40C7-9A86-AD413989E8C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64" y="1392"/>
              <a:ext cx="0" cy="24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</p:grpSp>
      <p:grpSp>
        <p:nvGrpSpPr>
          <p:cNvPr id="416" name="Group 201" descr=" 87061">
            <a:extLst>
              <a:ext uri="{FF2B5EF4-FFF2-40B4-BE49-F238E27FC236}">
                <a16:creationId xmlns:a16="http://schemas.microsoft.com/office/drawing/2014/main" id="{790B888A-112B-4B61-B64C-E3C752C728ED}"/>
              </a:ext>
            </a:extLst>
          </p:cNvPr>
          <p:cNvGrpSpPr>
            <a:grpSpLocks/>
          </p:cNvGrpSpPr>
          <p:nvPr/>
        </p:nvGrpSpPr>
        <p:grpSpPr bwMode="auto">
          <a:xfrm>
            <a:off x="3355975" y="2127504"/>
            <a:ext cx="3355975" cy="838200"/>
            <a:chOff x="1562" y="1152"/>
            <a:chExt cx="2114" cy="528"/>
          </a:xfrm>
        </p:grpSpPr>
        <p:grpSp>
          <p:nvGrpSpPr>
            <p:cNvPr id="417" name="Group 202">
              <a:extLst>
                <a:ext uri="{FF2B5EF4-FFF2-40B4-BE49-F238E27FC236}">
                  <a16:creationId xmlns:a16="http://schemas.microsoft.com/office/drawing/2014/main" id="{C0972139-CA34-4466-85B5-A489417C888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487" y="1152"/>
              <a:ext cx="223" cy="481"/>
              <a:chOff x="2207" y="1413"/>
              <a:chExt cx="223" cy="481"/>
            </a:xfrm>
          </p:grpSpPr>
          <p:sp>
            <p:nvSpPr>
              <p:cNvPr id="447" name="Freeform 203">
                <a:extLst>
                  <a:ext uri="{FF2B5EF4-FFF2-40B4-BE49-F238E27FC236}">
                    <a16:creationId xmlns:a16="http://schemas.microsoft.com/office/drawing/2014/main" id="{82F92B39-045A-4A12-9666-C3301B6EF1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7" y="1413"/>
                <a:ext cx="213" cy="481"/>
              </a:xfrm>
              <a:custGeom>
                <a:avLst/>
                <a:gdLst>
                  <a:gd name="T0" fmla="*/ 0 w 213"/>
                  <a:gd name="T1" fmla="*/ 320 h 481"/>
                  <a:gd name="T2" fmla="*/ 71 w 213"/>
                  <a:gd name="T3" fmla="*/ 240 h 481"/>
                  <a:gd name="T4" fmla="*/ 0 w 213"/>
                  <a:gd name="T5" fmla="*/ 160 h 481"/>
                  <a:gd name="T6" fmla="*/ 0 w 213"/>
                  <a:gd name="T7" fmla="*/ 0 h 481"/>
                  <a:gd name="T8" fmla="*/ 212 w 213"/>
                  <a:gd name="T9" fmla="*/ 160 h 481"/>
                  <a:gd name="T10" fmla="*/ 212 w 213"/>
                  <a:gd name="T11" fmla="*/ 320 h 481"/>
                  <a:gd name="T12" fmla="*/ 0 w 213"/>
                  <a:gd name="T13" fmla="*/ 480 h 481"/>
                  <a:gd name="T14" fmla="*/ 0 w 213"/>
                  <a:gd name="T15" fmla="*/ 320 h 48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13" h="481">
                    <a:moveTo>
                      <a:pt x="0" y="320"/>
                    </a:moveTo>
                    <a:lnTo>
                      <a:pt x="71" y="240"/>
                    </a:lnTo>
                    <a:lnTo>
                      <a:pt x="0" y="160"/>
                    </a:lnTo>
                    <a:lnTo>
                      <a:pt x="0" y="0"/>
                    </a:lnTo>
                    <a:lnTo>
                      <a:pt x="212" y="160"/>
                    </a:lnTo>
                    <a:lnTo>
                      <a:pt x="212" y="320"/>
                    </a:lnTo>
                    <a:lnTo>
                      <a:pt x="0" y="480"/>
                    </a:lnTo>
                    <a:lnTo>
                      <a:pt x="0" y="320"/>
                    </a:lnTo>
                  </a:path>
                </a:pathLst>
              </a:custGeom>
              <a:noFill/>
              <a:ln w="25400" cap="rnd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dirty="0">
                  <a:ea typeface="SimHei" panose="02010609060101010101" pitchFamily="49" charset="-122"/>
                </a:endParaRPr>
              </a:p>
            </p:txBody>
          </p:sp>
          <p:sp>
            <p:nvSpPr>
              <p:cNvPr id="448" name="Rectangle 204">
                <a:extLst>
                  <a:ext uri="{FF2B5EF4-FFF2-40B4-BE49-F238E27FC236}">
                    <a16:creationId xmlns:a16="http://schemas.microsoft.com/office/drawing/2014/main" id="{27B083A5-E295-4F50-94F6-17477E970A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5400000">
                <a:off x="2124" y="1533"/>
                <a:ext cx="376" cy="21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12700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lIns="90473" tIns="44442" rIns="90473" bIns="44442">
                <a:spAutoFit/>
              </a:bodyPr>
              <a:lstStyle/>
              <a:p>
                <a:pPr eaLnBrk="0" hangingPunct="0"/>
                <a:r>
                  <a:rPr lang="en-US" altLang="zh-CN" sz="1600" dirty="0">
                    <a:latin typeface="Arial" pitchFamily="34" charset="0"/>
                    <a:ea typeface="SimHei" panose="02010609060101010101" pitchFamily="49" charset="-122"/>
                  </a:rPr>
                  <a:t>ALU</a:t>
                </a:r>
              </a:p>
            </p:txBody>
          </p:sp>
        </p:grpSp>
        <p:grpSp>
          <p:nvGrpSpPr>
            <p:cNvPr id="418" name="Group 205">
              <a:extLst>
                <a:ext uri="{FF2B5EF4-FFF2-40B4-BE49-F238E27FC236}">
                  <a16:creationId xmlns:a16="http://schemas.microsoft.com/office/drawing/2014/main" id="{6A74B843-B4CB-4C91-96DD-DEAB5B69B55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562" y="1248"/>
              <a:ext cx="349" cy="289"/>
              <a:chOff x="1282" y="1509"/>
              <a:chExt cx="349" cy="289"/>
            </a:xfrm>
          </p:grpSpPr>
          <p:sp>
            <p:nvSpPr>
              <p:cNvPr id="443" name="Rectangle 206">
                <a:extLst>
                  <a:ext uri="{FF2B5EF4-FFF2-40B4-BE49-F238E27FC236}">
                    <a16:creationId xmlns:a16="http://schemas.microsoft.com/office/drawing/2014/main" id="{586F06FC-9FC9-4DFB-91CA-0BAF809C2BB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82" y="1511"/>
                <a:ext cx="257" cy="21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12700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lIns="90473" tIns="44442" rIns="90473" bIns="44442">
                <a:spAutoFit/>
              </a:bodyPr>
              <a:lstStyle/>
              <a:p>
                <a:pPr algn="ctr" eaLnBrk="0" hangingPunct="0"/>
                <a:r>
                  <a:rPr lang="en-US" altLang="zh-CN" sz="1600" dirty="0">
                    <a:latin typeface="Arial" pitchFamily="34" charset="0"/>
                    <a:ea typeface="SimHei" panose="02010609060101010101" pitchFamily="49" charset="-122"/>
                  </a:rPr>
                  <a:t>IM</a:t>
                </a:r>
              </a:p>
            </p:txBody>
          </p:sp>
          <p:grpSp>
            <p:nvGrpSpPr>
              <p:cNvPr id="444" name="Group 207">
                <a:extLst>
                  <a:ext uri="{FF2B5EF4-FFF2-40B4-BE49-F238E27FC236}">
                    <a16:creationId xmlns:a16="http://schemas.microsoft.com/office/drawing/2014/main" id="{BED5DF47-6524-4F29-9EC5-3DF837C869D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291" y="1509"/>
                <a:ext cx="340" cy="289"/>
                <a:chOff x="1291" y="1509"/>
                <a:chExt cx="340" cy="289"/>
              </a:xfrm>
            </p:grpSpPr>
            <p:sp>
              <p:nvSpPr>
                <p:cNvPr id="445" name="Freeform 208">
                  <a:extLst>
                    <a:ext uri="{FF2B5EF4-FFF2-40B4-BE49-F238E27FC236}">
                      <a16:creationId xmlns:a16="http://schemas.microsoft.com/office/drawing/2014/main" id="{8AE87BAC-5463-47CE-B2F5-EB89EFACFB6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291" y="1509"/>
                  <a:ext cx="170" cy="289"/>
                </a:xfrm>
                <a:custGeom>
                  <a:avLst/>
                  <a:gdLst>
                    <a:gd name="T0" fmla="*/ 169 w 170"/>
                    <a:gd name="T1" fmla="*/ 0 h 289"/>
                    <a:gd name="T2" fmla="*/ 0 w 170"/>
                    <a:gd name="T3" fmla="*/ 0 h 289"/>
                    <a:gd name="T4" fmla="*/ 0 w 170"/>
                    <a:gd name="T5" fmla="*/ 288 h 289"/>
                    <a:gd name="T6" fmla="*/ 169 w 170"/>
                    <a:gd name="T7" fmla="*/ 288 h 289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170" h="289">
                      <a:moveTo>
                        <a:pt x="169" y="0"/>
                      </a:moveTo>
                      <a:lnTo>
                        <a:pt x="0" y="0"/>
                      </a:lnTo>
                      <a:lnTo>
                        <a:pt x="0" y="288"/>
                      </a:lnTo>
                      <a:lnTo>
                        <a:pt x="169" y="288"/>
                      </a:lnTo>
                    </a:path>
                  </a:pathLst>
                </a:custGeom>
                <a:noFill/>
                <a:ln w="25400" cap="rnd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zh-CN" altLang="en-US" dirty="0">
                    <a:ea typeface="SimHei" panose="02010609060101010101" pitchFamily="49" charset="-122"/>
                  </a:endParaRPr>
                </a:p>
              </p:txBody>
            </p:sp>
            <p:sp>
              <p:nvSpPr>
                <p:cNvPr id="446" name="Freeform 209">
                  <a:extLst>
                    <a:ext uri="{FF2B5EF4-FFF2-40B4-BE49-F238E27FC236}">
                      <a16:creationId xmlns:a16="http://schemas.microsoft.com/office/drawing/2014/main" id="{7B0E64E2-3517-4B22-A700-F39B44C6011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460" y="1509"/>
                  <a:ext cx="171" cy="289"/>
                </a:xfrm>
                <a:custGeom>
                  <a:avLst/>
                  <a:gdLst>
                    <a:gd name="T0" fmla="*/ 0 w 171"/>
                    <a:gd name="T1" fmla="*/ 0 h 289"/>
                    <a:gd name="T2" fmla="*/ 170 w 171"/>
                    <a:gd name="T3" fmla="*/ 0 h 289"/>
                    <a:gd name="T4" fmla="*/ 170 w 171"/>
                    <a:gd name="T5" fmla="*/ 288 h 289"/>
                    <a:gd name="T6" fmla="*/ 0 w 171"/>
                    <a:gd name="T7" fmla="*/ 288 h 289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171" h="289">
                      <a:moveTo>
                        <a:pt x="0" y="0"/>
                      </a:moveTo>
                      <a:lnTo>
                        <a:pt x="170" y="0"/>
                      </a:lnTo>
                      <a:lnTo>
                        <a:pt x="170" y="288"/>
                      </a:lnTo>
                      <a:lnTo>
                        <a:pt x="0" y="288"/>
                      </a:lnTo>
                    </a:path>
                  </a:pathLst>
                </a:custGeom>
                <a:noFill/>
                <a:ln w="25400" cap="rnd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zh-CN" altLang="en-US" dirty="0">
                    <a:ea typeface="SimHei" panose="02010609060101010101" pitchFamily="49" charset="-122"/>
                  </a:endParaRPr>
                </a:p>
              </p:txBody>
            </p:sp>
          </p:grpSp>
        </p:grpSp>
        <p:sp>
          <p:nvSpPr>
            <p:cNvPr id="419" name="Rectangle 210">
              <a:extLst>
                <a:ext uri="{FF2B5EF4-FFF2-40B4-BE49-F238E27FC236}">
                  <a16:creationId xmlns:a16="http://schemas.microsoft.com/office/drawing/2014/main" id="{17C73B40-24FA-4AAC-8308-30ADC8D7C2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12" y="1255"/>
              <a:ext cx="355" cy="21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73" tIns="44442" rIns="90473" bIns="44442">
              <a:spAutoFit/>
            </a:bodyPr>
            <a:lstStyle/>
            <a:p>
              <a:pPr eaLnBrk="0" hangingPunct="0"/>
              <a:r>
                <a:rPr lang="en-US" altLang="zh-CN" sz="1600" dirty="0">
                  <a:latin typeface="Arial" pitchFamily="34" charset="0"/>
                  <a:ea typeface="SimHei" panose="02010609060101010101" pitchFamily="49" charset="-122"/>
                </a:rPr>
                <a:t>Reg</a:t>
              </a:r>
            </a:p>
          </p:txBody>
        </p:sp>
        <p:grpSp>
          <p:nvGrpSpPr>
            <p:cNvPr id="420" name="Group 211">
              <a:extLst>
                <a:ext uri="{FF2B5EF4-FFF2-40B4-BE49-F238E27FC236}">
                  <a16:creationId xmlns:a16="http://schemas.microsoft.com/office/drawing/2014/main" id="{DF29BC78-1182-44CD-A363-1595737ADB0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031" y="1248"/>
              <a:ext cx="296" cy="289"/>
              <a:chOff x="1751" y="1509"/>
              <a:chExt cx="296" cy="289"/>
            </a:xfrm>
          </p:grpSpPr>
          <p:sp>
            <p:nvSpPr>
              <p:cNvPr id="441" name="Freeform 212">
                <a:extLst>
                  <a:ext uri="{FF2B5EF4-FFF2-40B4-BE49-F238E27FC236}">
                    <a16:creationId xmlns:a16="http://schemas.microsoft.com/office/drawing/2014/main" id="{8D15B064-786F-4011-99DA-D8A464E5CD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1" y="1509"/>
                <a:ext cx="149" cy="289"/>
              </a:xfrm>
              <a:custGeom>
                <a:avLst/>
                <a:gdLst>
                  <a:gd name="T0" fmla="*/ 148 w 149"/>
                  <a:gd name="T1" fmla="*/ 0 h 289"/>
                  <a:gd name="T2" fmla="*/ 0 w 149"/>
                  <a:gd name="T3" fmla="*/ 0 h 289"/>
                  <a:gd name="T4" fmla="*/ 0 w 149"/>
                  <a:gd name="T5" fmla="*/ 288 h 289"/>
                  <a:gd name="T6" fmla="*/ 148 w 149"/>
                  <a:gd name="T7" fmla="*/ 288 h 28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9" h="289">
                    <a:moveTo>
                      <a:pt x="148" y="0"/>
                    </a:moveTo>
                    <a:lnTo>
                      <a:pt x="0" y="0"/>
                    </a:lnTo>
                    <a:lnTo>
                      <a:pt x="0" y="288"/>
                    </a:lnTo>
                    <a:lnTo>
                      <a:pt x="148" y="288"/>
                    </a:lnTo>
                  </a:path>
                </a:pathLst>
              </a:custGeom>
              <a:noFill/>
              <a:ln w="25400" cap="rnd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dirty="0">
                  <a:ea typeface="SimHei" panose="02010609060101010101" pitchFamily="49" charset="-122"/>
                </a:endParaRPr>
              </a:p>
            </p:txBody>
          </p:sp>
          <p:sp>
            <p:nvSpPr>
              <p:cNvPr id="442" name="Freeform 213">
                <a:extLst>
                  <a:ext uri="{FF2B5EF4-FFF2-40B4-BE49-F238E27FC236}">
                    <a16:creationId xmlns:a16="http://schemas.microsoft.com/office/drawing/2014/main" id="{1FC65013-0E56-41D8-95B2-6C70F5C81E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9" y="1509"/>
                <a:ext cx="148" cy="289"/>
              </a:xfrm>
              <a:custGeom>
                <a:avLst/>
                <a:gdLst>
                  <a:gd name="T0" fmla="*/ 0 w 148"/>
                  <a:gd name="T1" fmla="*/ 0 h 289"/>
                  <a:gd name="T2" fmla="*/ 147 w 148"/>
                  <a:gd name="T3" fmla="*/ 0 h 289"/>
                  <a:gd name="T4" fmla="*/ 147 w 148"/>
                  <a:gd name="T5" fmla="*/ 288 h 289"/>
                  <a:gd name="T6" fmla="*/ 0 w 148"/>
                  <a:gd name="T7" fmla="*/ 288 h 28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8" h="289">
                    <a:moveTo>
                      <a:pt x="0" y="0"/>
                    </a:moveTo>
                    <a:lnTo>
                      <a:pt x="147" y="0"/>
                    </a:lnTo>
                    <a:lnTo>
                      <a:pt x="147" y="288"/>
                    </a:lnTo>
                    <a:lnTo>
                      <a:pt x="0" y="288"/>
                    </a:lnTo>
                  </a:path>
                </a:pathLst>
              </a:custGeom>
              <a:noFill/>
              <a:ln w="25400" cap="rnd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dirty="0">
                  <a:ea typeface="SimHei" panose="02010609060101010101" pitchFamily="49" charset="-122"/>
                </a:endParaRPr>
              </a:p>
            </p:txBody>
          </p:sp>
        </p:grpSp>
        <p:sp>
          <p:nvSpPr>
            <p:cNvPr id="421" name="Line 214">
              <a:extLst>
                <a:ext uri="{FF2B5EF4-FFF2-40B4-BE49-F238E27FC236}">
                  <a16:creationId xmlns:a16="http://schemas.microsoft.com/office/drawing/2014/main" id="{3EF3601D-85D2-4896-A8DE-5B5C66F62BF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916" y="1392"/>
              <a:ext cx="116" cy="0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422" name="Freeform 215">
              <a:extLst>
                <a:ext uri="{FF2B5EF4-FFF2-40B4-BE49-F238E27FC236}">
                  <a16:creationId xmlns:a16="http://schemas.microsoft.com/office/drawing/2014/main" id="{48893110-FDAC-4799-A9F8-14D94435A43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4" y="1296"/>
              <a:ext cx="48" cy="97"/>
            </a:xfrm>
            <a:custGeom>
              <a:avLst/>
              <a:gdLst>
                <a:gd name="T0" fmla="*/ 0 w 48"/>
                <a:gd name="T1" fmla="*/ 96 h 97"/>
                <a:gd name="T2" fmla="*/ 0 w 48"/>
                <a:gd name="T3" fmla="*/ 0 h 97"/>
                <a:gd name="T4" fmla="*/ 47 w 48"/>
                <a:gd name="T5" fmla="*/ 0 h 97"/>
                <a:gd name="T6" fmla="*/ 47 w 48"/>
                <a:gd name="T7" fmla="*/ 0 h 9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8" h="97">
                  <a:moveTo>
                    <a:pt x="0" y="96"/>
                  </a:moveTo>
                  <a:lnTo>
                    <a:pt x="0" y="0"/>
                  </a:lnTo>
                  <a:lnTo>
                    <a:pt x="47" y="0"/>
                  </a:lnTo>
                </a:path>
              </a:pathLst>
            </a:custGeom>
            <a:noFill/>
            <a:ln w="25400" cap="rnd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423" name="Line 216">
              <a:extLst>
                <a:ext uri="{FF2B5EF4-FFF2-40B4-BE49-F238E27FC236}">
                  <a16:creationId xmlns:a16="http://schemas.microsoft.com/office/drawing/2014/main" id="{A68A67CF-8169-49BE-8AB1-F24B2233960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332" y="1296"/>
              <a:ext cx="157" cy="0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424" name="Rectangle 217">
              <a:extLst>
                <a:ext uri="{FF2B5EF4-FFF2-40B4-BE49-F238E27FC236}">
                  <a16:creationId xmlns:a16="http://schemas.microsoft.com/office/drawing/2014/main" id="{0A5EBBDD-3626-49C8-BCE1-B63DE0F09A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29" y="1250"/>
              <a:ext cx="313" cy="21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73" tIns="44442" rIns="90473" bIns="44442">
              <a:spAutoFit/>
            </a:bodyPr>
            <a:lstStyle/>
            <a:p>
              <a:pPr eaLnBrk="0" hangingPunct="0"/>
              <a:r>
                <a:rPr lang="en-US" altLang="zh-CN" sz="1600" dirty="0">
                  <a:latin typeface="Arial" pitchFamily="34" charset="0"/>
                  <a:ea typeface="SimHei" panose="02010609060101010101" pitchFamily="49" charset="-122"/>
                </a:rPr>
                <a:t>DM</a:t>
              </a:r>
            </a:p>
          </p:txBody>
        </p:sp>
        <p:grpSp>
          <p:nvGrpSpPr>
            <p:cNvPr id="425" name="Group 218">
              <a:extLst>
                <a:ext uri="{FF2B5EF4-FFF2-40B4-BE49-F238E27FC236}">
                  <a16:creationId xmlns:a16="http://schemas.microsoft.com/office/drawing/2014/main" id="{3EE34B45-EE97-4D66-BBA2-3D1B1361F74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880" y="1248"/>
              <a:ext cx="325" cy="289"/>
              <a:chOff x="2600" y="1509"/>
              <a:chExt cx="325" cy="289"/>
            </a:xfrm>
          </p:grpSpPr>
          <p:sp>
            <p:nvSpPr>
              <p:cNvPr id="439" name="Freeform 219">
                <a:extLst>
                  <a:ext uri="{FF2B5EF4-FFF2-40B4-BE49-F238E27FC236}">
                    <a16:creationId xmlns:a16="http://schemas.microsoft.com/office/drawing/2014/main" id="{7CC6F5D9-1277-43B6-AF5F-A19E5D81C8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0" y="1509"/>
                <a:ext cx="162" cy="289"/>
              </a:xfrm>
              <a:custGeom>
                <a:avLst/>
                <a:gdLst>
                  <a:gd name="T0" fmla="*/ 161 w 162"/>
                  <a:gd name="T1" fmla="*/ 0 h 289"/>
                  <a:gd name="T2" fmla="*/ 0 w 162"/>
                  <a:gd name="T3" fmla="*/ 0 h 289"/>
                  <a:gd name="T4" fmla="*/ 0 w 162"/>
                  <a:gd name="T5" fmla="*/ 288 h 289"/>
                  <a:gd name="T6" fmla="*/ 161 w 162"/>
                  <a:gd name="T7" fmla="*/ 288 h 28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2" h="289">
                    <a:moveTo>
                      <a:pt x="161" y="0"/>
                    </a:moveTo>
                    <a:lnTo>
                      <a:pt x="0" y="0"/>
                    </a:lnTo>
                    <a:lnTo>
                      <a:pt x="0" y="288"/>
                    </a:lnTo>
                    <a:lnTo>
                      <a:pt x="161" y="288"/>
                    </a:lnTo>
                  </a:path>
                </a:pathLst>
              </a:custGeom>
              <a:noFill/>
              <a:ln w="25400" cap="rnd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dirty="0">
                  <a:ea typeface="SimHei" panose="02010609060101010101" pitchFamily="49" charset="-122"/>
                </a:endParaRPr>
              </a:p>
            </p:txBody>
          </p:sp>
          <p:sp>
            <p:nvSpPr>
              <p:cNvPr id="440" name="Freeform 220">
                <a:extLst>
                  <a:ext uri="{FF2B5EF4-FFF2-40B4-BE49-F238E27FC236}">
                    <a16:creationId xmlns:a16="http://schemas.microsoft.com/office/drawing/2014/main" id="{B95B333A-7498-4A9D-A9B6-67E3A7EE06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1" y="1509"/>
                <a:ext cx="164" cy="289"/>
              </a:xfrm>
              <a:custGeom>
                <a:avLst/>
                <a:gdLst>
                  <a:gd name="T0" fmla="*/ 0 w 164"/>
                  <a:gd name="T1" fmla="*/ 0 h 289"/>
                  <a:gd name="T2" fmla="*/ 163 w 164"/>
                  <a:gd name="T3" fmla="*/ 0 h 289"/>
                  <a:gd name="T4" fmla="*/ 163 w 164"/>
                  <a:gd name="T5" fmla="*/ 288 h 289"/>
                  <a:gd name="T6" fmla="*/ 0 w 164"/>
                  <a:gd name="T7" fmla="*/ 288 h 28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4" h="289">
                    <a:moveTo>
                      <a:pt x="0" y="0"/>
                    </a:moveTo>
                    <a:lnTo>
                      <a:pt x="163" y="0"/>
                    </a:lnTo>
                    <a:lnTo>
                      <a:pt x="163" y="288"/>
                    </a:lnTo>
                    <a:lnTo>
                      <a:pt x="0" y="288"/>
                    </a:lnTo>
                  </a:path>
                </a:pathLst>
              </a:custGeom>
              <a:noFill/>
              <a:ln w="25400" cap="rnd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dirty="0">
                  <a:ea typeface="SimHei" panose="02010609060101010101" pitchFamily="49" charset="-122"/>
                </a:endParaRPr>
              </a:p>
            </p:txBody>
          </p:sp>
        </p:grpSp>
        <p:sp>
          <p:nvSpPr>
            <p:cNvPr id="426" name="Rectangle 221">
              <a:extLst>
                <a:ext uri="{FF2B5EF4-FFF2-40B4-BE49-F238E27FC236}">
                  <a16:creationId xmlns:a16="http://schemas.microsoft.com/office/drawing/2014/main" id="{60BED6DB-2683-476A-8D07-946A48B1F1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21" y="1250"/>
              <a:ext cx="355" cy="21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73" tIns="44442" rIns="90473" bIns="44442">
              <a:spAutoFit/>
            </a:bodyPr>
            <a:lstStyle/>
            <a:p>
              <a:pPr eaLnBrk="0" hangingPunct="0"/>
              <a:r>
                <a:rPr lang="en-US" altLang="zh-CN" sz="1600" dirty="0">
                  <a:latin typeface="Arial" pitchFamily="34" charset="0"/>
                  <a:ea typeface="SimHei" panose="02010609060101010101" pitchFamily="49" charset="-122"/>
                </a:rPr>
                <a:t>Reg</a:t>
              </a:r>
            </a:p>
          </p:txBody>
        </p:sp>
        <p:grpSp>
          <p:nvGrpSpPr>
            <p:cNvPr id="427" name="Group 222">
              <a:extLst>
                <a:ext uri="{FF2B5EF4-FFF2-40B4-BE49-F238E27FC236}">
                  <a16:creationId xmlns:a16="http://schemas.microsoft.com/office/drawing/2014/main" id="{E21728B7-C3AE-4F59-A380-DC4DD7DFBB0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348" y="1248"/>
              <a:ext cx="284" cy="289"/>
              <a:chOff x="3068" y="1509"/>
              <a:chExt cx="284" cy="289"/>
            </a:xfrm>
          </p:grpSpPr>
          <p:sp>
            <p:nvSpPr>
              <p:cNvPr id="437" name="Freeform 223">
                <a:extLst>
                  <a:ext uri="{FF2B5EF4-FFF2-40B4-BE49-F238E27FC236}">
                    <a16:creationId xmlns:a16="http://schemas.microsoft.com/office/drawing/2014/main" id="{92BF0472-4AEF-4BC4-9F62-9ACA056ED5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8" y="1509"/>
                <a:ext cx="142" cy="289"/>
              </a:xfrm>
              <a:custGeom>
                <a:avLst/>
                <a:gdLst>
                  <a:gd name="T0" fmla="*/ 141 w 142"/>
                  <a:gd name="T1" fmla="*/ 0 h 289"/>
                  <a:gd name="T2" fmla="*/ 0 w 142"/>
                  <a:gd name="T3" fmla="*/ 0 h 289"/>
                  <a:gd name="T4" fmla="*/ 0 w 142"/>
                  <a:gd name="T5" fmla="*/ 288 h 289"/>
                  <a:gd name="T6" fmla="*/ 141 w 142"/>
                  <a:gd name="T7" fmla="*/ 288 h 28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2" h="289">
                    <a:moveTo>
                      <a:pt x="141" y="0"/>
                    </a:moveTo>
                    <a:lnTo>
                      <a:pt x="0" y="0"/>
                    </a:lnTo>
                    <a:lnTo>
                      <a:pt x="0" y="288"/>
                    </a:lnTo>
                    <a:lnTo>
                      <a:pt x="141" y="288"/>
                    </a:lnTo>
                  </a:path>
                </a:pathLst>
              </a:custGeom>
              <a:noFill/>
              <a:ln w="25400" cap="rnd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dirty="0">
                  <a:ea typeface="SimHei" panose="02010609060101010101" pitchFamily="49" charset="-122"/>
                </a:endParaRPr>
              </a:p>
            </p:txBody>
          </p:sp>
          <p:sp>
            <p:nvSpPr>
              <p:cNvPr id="438" name="Freeform 224">
                <a:extLst>
                  <a:ext uri="{FF2B5EF4-FFF2-40B4-BE49-F238E27FC236}">
                    <a16:creationId xmlns:a16="http://schemas.microsoft.com/office/drawing/2014/main" id="{6ED3E22C-4802-41AC-A653-10EC48C5C0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9" y="1509"/>
                <a:ext cx="143" cy="289"/>
              </a:xfrm>
              <a:custGeom>
                <a:avLst/>
                <a:gdLst>
                  <a:gd name="T0" fmla="*/ 0 w 143"/>
                  <a:gd name="T1" fmla="*/ 0 h 289"/>
                  <a:gd name="T2" fmla="*/ 142 w 143"/>
                  <a:gd name="T3" fmla="*/ 0 h 289"/>
                  <a:gd name="T4" fmla="*/ 142 w 143"/>
                  <a:gd name="T5" fmla="*/ 288 h 289"/>
                  <a:gd name="T6" fmla="*/ 0 w 143"/>
                  <a:gd name="T7" fmla="*/ 288 h 28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3" h="289">
                    <a:moveTo>
                      <a:pt x="0" y="0"/>
                    </a:moveTo>
                    <a:lnTo>
                      <a:pt x="142" y="0"/>
                    </a:lnTo>
                    <a:lnTo>
                      <a:pt x="142" y="288"/>
                    </a:lnTo>
                    <a:lnTo>
                      <a:pt x="0" y="288"/>
                    </a:lnTo>
                  </a:path>
                </a:pathLst>
              </a:custGeom>
              <a:noFill/>
              <a:ln w="25400" cap="rnd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dirty="0">
                  <a:ea typeface="SimHei" panose="02010609060101010101" pitchFamily="49" charset="-122"/>
                </a:endParaRPr>
              </a:p>
            </p:txBody>
          </p:sp>
        </p:grpSp>
        <p:sp>
          <p:nvSpPr>
            <p:cNvPr id="428" name="Line 225">
              <a:extLst>
                <a:ext uri="{FF2B5EF4-FFF2-40B4-BE49-F238E27FC236}">
                  <a16:creationId xmlns:a16="http://schemas.microsoft.com/office/drawing/2014/main" id="{2D95DF25-3D88-495E-BEB6-811665A0E77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01" y="1392"/>
              <a:ext cx="139" cy="0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429" name="Line 226">
              <a:extLst>
                <a:ext uri="{FF2B5EF4-FFF2-40B4-BE49-F238E27FC236}">
                  <a16:creationId xmlns:a16="http://schemas.microsoft.com/office/drawing/2014/main" id="{052912C9-CEF2-4281-B21D-857A4BA4F76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717" y="1392"/>
              <a:ext cx="155" cy="0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430" name="Line 227">
              <a:extLst>
                <a:ext uri="{FF2B5EF4-FFF2-40B4-BE49-F238E27FC236}">
                  <a16:creationId xmlns:a16="http://schemas.microsoft.com/office/drawing/2014/main" id="{C53C9869-6A34-4C91-ACC9-C1FBDBDA731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332" y="1488"/>
              <a:ext cx="157" cy="0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431" name="Line 228">
              <a:extLst>
                <a:ext uri="{FF2B5EF4-FFF2-40B4-BE49-F238E27FC236}">
                  <a16:creationId xmlns:a16="http://schemas.microsoft.com/office/drawing/2014/main" id="{136C1959-2621-4A39-9CE1-65CC10291B9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416" y="1488"/>
              <a:ext cx="0" cy="192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432" name="Line 229">
              <a:extLst>
                <a:ext uri="{FF2B5EF4-FFF2-40B4-BE49-F238E27FC236}">
                  <a16:creationId xmlns:a16="http://schemas.microsoft.com/office/drawing/2014/main" id="{5F8C28CB-974A-45B1-A2C4-095EC72AA22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416" y="1680"/>
              <a:ext cx="336" cy="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433" name="Line 230">
              <a:extLst>
                <a:ext uri="{FF2B5EF4-FFF2-40B4-BE49-F238E27FC236}">
                  <a16:creationId xmlns:a16="http://schemas.microsoft.com/office/drawing/2014/main" id="{C0B4F06A-A601-4421-AC05-BB40B1889D7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752" y="1392"/>
              <a:ext cx="0" cy="288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434" name="Line 231">
              <a:extLst>
                <a:ext uri="{FF2B5EF4-FFF2-40B4-BE49-F238E27FC236}">
                  <a16:creationId xmlns:a16="http://schemas.microsoft.com/office/drawing/2014/main" id="{C39FF704-43D0-4CA4-9445-EE337BF7616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832" y="1392"/>
              <a:ext cx="0" cy="24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435" name="Line 232">
              <a:extLst>
                <a:ext uri="{FF2B5EF4-FFF2-40B4-BE49-F238E27FC236}">
                  <a16:creationId xmlns:a16="http://schemas.microsoft.com/office/drawing/2014/main" id="{9D65F768-B2C9-47D6-83C8-B00C9019D1C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32" y="1632"/>
              <a:ext cx="432" cy="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  <p:sp>
          <p:nvSpPr>
            <p:cNvPr id="436" name="Line 233">
              <a:extLst>
                <a:ext uri="{FF2B5EF4-FFF2-40B4-BE49-F238E27FC236}">
                  <a16:creationId xmlns:a16="http://schemas.microsoft.com/office/drawing/2014/main" id="{D61BD6FA-A876-4AC5-886E-A95F89E96C7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64" y="1392"/>
              <a:ext cx="0" cy="24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dirty="0">
                <a:ea typeface="SimHei" panose="02010609060101010101" pitchFamily="49" charset="-122"/>
              </a:endParaRPr>
            </a:p>
          </p:txBody>
        </p:sp>
      </p:grpSp>
      <p:sp>
        <p:nvSpPr>
          <p:cNvPr id="449" name="Rectangle 234" descr=" 1702122">
            <a:extLst>
              <a:ext uri="{FF2B5EF4-FFF2-40B4-BE49-F238E27FC236}">
                <a16:creationId xmlns:a16="http://schemas.microsoft.com/office/drawing/2014/main" id="{7B065D34-B860-42E4-AEF9-CB73F8E6D39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8975" y="2279904"/>
            <a:ext cx="1756862" cy="45908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73" tIns="44442" rIns="90473" bIns="44442">
            <a:spAutoFit/>
          </a:bodyPr>
          <a:lstStyle/>
          <a:p>
            <a:pPr eaLnBrk="0" hangingPunct="0"/>
            <a:r>
              <a:rPr lang="en-US" altLang="zh-CN" sz="2400" dirty="0">
                <a:latin typeface="Arial" pitchFamily="34" charset="0"/>
                <a:ea typeface="SimHei" panose="02010609060101010101" pitchFamily="49" charset="-122"/>
              </a:rPr>
              <a:t>sub r4,</a:t>
            </a:r>
            <a:r>
              <a:rPr lang="en-US" altLang="zh-CN" sz="2400" dirty="0">
                <a:solidFill>
                  <a:schemeClr val="accent1"/>
                </a:solidFill>
                <a:latin typeface="Arial" pitchFamily="34" charset="0"/>
                <a:ea typeface="SimHei" panose="02010609060101010101" pitchFamily="49" charset="-122"/>
              </a:rPr>
              <a:t>r1</a:t>
            </a:r>
            <a:r>
              <a:rPr lang="en-US" altLang="zh-CN" sz="2400" dirty="0">
                <a:latin typeface="Arial" pitchFamily="34" charset="0"/>
                <a:ea typeface="SimHei" panose="02010609060101010101" pitchFamily="49" charset="-122"/>
              </a:rPr>
              <a:t>,r5</a:t>
            </a:r>
          </a:p>
        </p:txBody>
      </p:sp>
      <p:grpSp>
        <p:nvGrpSpPr>
          <p:cNvPr id="450" name="Group 236" descr=" 1702124">
            <a:extLst>
              <a:ext uri="{FF2B5EF4-FFF2-40B4-BE49-F238E27FC236}">
                <a16:creationId xmlns:a16="http://schemas.microsoft.com/office/drawing/2014/main" id="{30DE789F-C52A-47FF-A146-7F944C529A0E}"/>
              </a:ext>
            </a:extLst>
          </p:cNvPr>
          <p:cNvGrpSpPr>
            <a:grpSpLocks/>
          </p:cNvGrpSpPr>
          <p:nvPr/>
        </p:nvGrpSpPr>
        <p:grpSpPr bwMode="auto">
          <a:xfrm>
            <a:off x="688975" y="3016505"/>
            <a:ext cx="1789113" cy="2168526"/>
            <a:chOff x="480" y="2299"/>
            <a:chExt cx="1127" cy="1366"/>
          </a:xfrm>
        </p:grpSpPr>
        <p:sp>
          <p:nvSpPr>
            <p:cNvPr id="451" name="Rectangle 237">
              <a:extLst>
                <a:ext uri="{FF2B5EF4-FFF2-40B4-BE49-F238E27FC236}">
                  <a16:creationId xmlns:a16="http://schemas.microsoft.com/office/drawing/2014/main" id="{5A9AB4B6-3D32-4D66-8AC5-327FCE9C32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0" y="2299"/>
              <a:ext cx="1118" cy="28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73" tIns="44442" rIns="90473" bIns="44442">
              <a:spAutoFit/>
            </a:bodyPr>
            <a:lstStyle/>
            <a:p>
              <a:pPr eaLnBrk="0" hangingPunct="0"/>
              <a:r>
                <a:rPr lang="en-US" altLang="zh-CN" sz="2400" dirty="0">
                  <a:latin typeface="Arial" pitchFamily="34" charset="0"/>
                  <a:ea typeface="SimHei" panose="02010609060101010101" pitchFamily="49" charset="-122"/>
                </a:rPr>
                <a:t>and r6,</a:t>
              </a:r>
              <a:r>
                <a:rPr lang="en-US" altLang="zh-CN" sz="2400" dirty="0">
                  <a:solidFill>
                    <a:srgbClr val="009900"/>
                  </a:solidFill>
                  <a:latin typeface="Arial" pitchFamily="34" charset="0"/>
                  <a:ea typeface="SimHei" panose="02010609060101010101" pitchFamily="49" charset="-122"/>
                </a:rPr>
                <a:t>r1</a:t>
              </a:r>
              <a:r>
                <a:rPr lang="en-US" altLang="zh-CN" sz="2400" dirty="0">
                  <a:latin typeface="Arial" pitchFamily="34" charset="0"/>
                  <a:ea typeface="SimHei" panose="02010609060101010101" pitchFamily="49" charset="-122"/>
                </a:rPr>
                <a:t>,r7</a:t>
              </a:r>
            </a:p>
          </p:txBody>
        </p:sp>
        <p:sp>
          <p:nvSpPr>
            <p:cNvPr id="452" name="Rectangle 238">
              <a:extLst>
                <a:ext uri="{FF2B5EF4-FFF2-40B4-BE49-F238E27FC236}">
                  <a16:creationId xmlns:a16="http://schemas.microsoft.com/office/drawing/2014/main" id="{8C61710A-5EF5-4621-952C-8ADD06CDFA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0" y="3376"/>
              <a:ext cx="1063" cy="28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73" tIns="44442" rIns="90473" bIns="44442">
              <a:spAutoFit/>
            </a:bodyPr>
            <a:lstStyle/>
            <a:p>
              <a:pPr eaLnBrk="0" hangingPunct="0"/>
              <a:r>
                <a:rPr lang="en-US" altLang="zh-CN" sz="2400" dirty="0" err="1">
                  <a:latin typeface="Arial" pitchFamily="34" charset="0"/>
                  <a:ea typeface="SimHei" panose="02010609060101010101" pitchFamily="49" charset="-122"/>
                </a:rPr>
                <a:t>xor</a:t>
              </a:r>
              <a:r>
                <a:rPr lang="en-US" altLang="zh-CN" sz="2400" dirty="0">
                  <a:latin typeface="Arial" pitchFamily="34" charset="0"/>
                  <a:ea typeface="SimHei" panose="02010609060101010101" pitchFamily="49" charset="-122"/>
                </a:rPr>
                <a:t> r4,</a:t>
              </a:r>
              <a:r>
                <a:rPr lang="en-US" altLang="zh-CN" sz="2400" dirty="0">
                  <a:solidFill>
                    <a:srgbClr val="009900"/>
                  </a:solidFill>
                  <a:latin typeface="Arial" pitchFamily="34" charset="0"/>
                  <a:ea typeface="SimHei" panose="02010609060101010101" pitchFamily="49" charset="-122"/>
                </a:rPr>
                <a:t>r1</a:t>
              </a:r>
              <a:r>
                <a:rPr lang="en-US" altLang="zh-CN" sz="2400" dirty="0">
                  <a:latin typeface="Arial" pitchFamily="34" charset="0"/>
                  <a:ea typeface="SimHei" panose="02010609060101010101" pitchFamily="49" charset="-122"/>
                </a:rPr>
                <a:t>,r5</a:t>
              </a:r>
            </a:p>
          </p:txBody>
        </p:sp>
        <p:sp>
          <p:nvSpPr>
            <p:cNvPr id="453" name="Rectangle 239">
              <a:extLst>
                <a:ext uri="{FF2B5EF4-FFF2-40B4-BE49-F238E27FC236}">
                  <a16:creationId xmlns:a16="http://schemas.microsoft.com/office/drawing/2014/main" id="{BCDF9FF5-6D59-4DA4-9CD2-E79C08A579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0" y="2827"/>
              <a:ext cx="1127" cy="28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73" tIns="44442" rIns="90473" bIns="44442">
              <a:spAutoFit/>
            </a:bodyPr>
            <a:lstStyle/>
            <a:p>
              <a:pPr eaLnBrk="0" hangingPunct="0"/>
              <a:r>
                <a:rPr lang="en-US" altLang="zh-CN" sz="2400" dirty="0">
                  <a:latin typeface="Arial" pitchFamily="34" charset="0"/>
                  <a:ea typeface="SimHei" panose="02010609060101010101" pitchFamily="49" charset="-122"/>
                </a:rPr>
                <a:t>or  r8, </a:t>
              </a:r>
              <a:r>
                <a:rPr lang="en-US" altLang="zh-CN" sz="2400" dirty="0">
                  <a:solidFill>
                    <a:srgbClr val="009900"/>
                  </a:solidFill>
                  <a:latin typeface="Arial" pitchFamily="34" charset="0"/>
                  <a:ea typeface="SimHei" panose="02010609060101010101" pitchFamily="49" charset="-122"/>
                </a:rPr>
                <a:t>r1</a:t>
              </a:r>
              <a:r>
                <a:rPr lang="en-US" altLang="zh-CN" sz="2400" dirty="0">
                  <a:latin typeface="Arial" pitchFamily="34" charset="0"/>
                  <a:ea typeface="SimHei" panose="02010609060101010101" pitchFamily="49" charset="-122"/>
                </a:rPr>
                <a:t>, r9</a:t>
              </a:r>
            </a:p>
          </p:txBody>
        </p:sp>
      </p:grpSp>
      <p:sp>
        <p:nvSpPr>
          <p:cNvPr id="3" name="文本框 2">
            <a:extLst>
              <a:ext uri="{FF2B5EF4-FFF2-40B4-BE49-F238E27FC236}">
                <a16:creationId xmlns:a16="http://schemas.microsoft.com/office/drawing/2014/main" id="{F4F11593-E31C-47D2-D917-4C6E03BF5D63}"/>
              </a:ext>
            </a:extLst>
          </p:cNvPr>
          <p:cNvSpPr txBox="1"/>
          <p:nvPr/>
        </p:nvSpPr>
        <p:spPr>
          <a:xfrm>
            <a:off x="666750" y="5445275"/>
            <a:ext cx="2547284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zh-CN" altLang="en-US" sz="2400" dirty="0">
                <a:solidFill>
                  <a:srgbClr val="C00000"/>
                </a:solidFill>
                <a:ea typeface="SimHei" panose="02010609060101010101" pitchFamily="49" charset="-122"/>
              </a:rPr>
              <a:t>思考：还有什么问题？</a:t>
            </a:r>
          </a:p>
        </p:txBody>
      </p:sp>
      <p:sp>
        <p:nvSpPr>
          <p:cNvPr id="5" name="文本框 4">
            <a:extLst>
              <a:ext uri="{FF2B5EF4-FFF2-40B4-BE49-F238E27FC236}">
                <a16:creationId xmlns:a16="http://schemas.microsoft.com/office/drawing/2014/main" id="{A10A3E5A-2805-33FB-B8DA-D417B3F03A4F}"/>
              </a:ext>
            </a:extLst>
          </p:cNvPr>
          <p:cNvSpPr txBox="1"/>
          <p:nvPr/>
        </p:nvSpPr>
        <p:spPr>
          <a:xfrm>
            <a:off x="3026471" y="5783560"/>
            <a:ext cx="2781586" cy="92333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altLang="zh-CN" dirty="0">
                <a:highlight>
                  <a:srgbClr val="FFFF00"/>
                </a:highlight>
                <a:ea typeface="SimHei" panose="02010609060101010101" pitchFamily="49" charset="-122"/>
              </a:rPr>
              <a:t>If forwarding cannot resolve the hazard, stall or other action is needed</a:t>
            </a:r>
          </a:p>
        </p:txBody>
      </p:sp>
    </p:spTree>
    <p:extLst>
      <p:ext uri="{BB962C8B-B14F-4D97-AF65-F5344CB8AC3E}">
        <p14:creationId xmlns:p14="http://schemas.microsoft.com/office/powerpoint/2010/main" val="358608233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</p:bldLst>
  </p:timing>
</p:sld>
</file>

<file path=ppt/slides/slide1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>
            <a:extLst>
              <a:ext uri="{FF2B5EF4-FFF2-40B4-BE49-F238E27FC236}">
                <a16:creationId xmlns:a16="http://schemas.microsoft.com/office/drawing/2014/main" id="{04A53691-6B42-483D-B58E-5FCBCF29078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dirty="0"/>
              <a:t>小结</a:t>
            </a:r>
          </a:p>
        </p:txBody>
      </p:sp>
      <p:sp>
        <p:nvSpPr>
          <p:cNvPr id="3" name="内容占位符 2">
            <a:extLst>
              <a:ext uri="{FF2B5EF4-FFF2-40B4-BE49-F238E27FC236}">
                <a16:creationId xmlns:a16="http://schemas.microsoft.com/office/drawing/2014/main" id="{11492609-C025-4E3A-89F9-9039A8D592B3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>
              <a:lnSpc>
                <a:spcPct val="150000"/>
              </a:lnSpc>
              <a:spcBef>
                <a:spcPts val="0"/>
              </a:spcBef>
            </a:pPr>
            <a:r>
              <a:rPr lang="zh-CN" altLang="en-US" dirty="0">
                <a:solidFill>
                  <a:srgbClr val="3333FF"/>
                </a:solidFill>
              </a:rPr>
              <a:t>结构冒险</a:t>
            </a:r>
            <a:r>
              <a:rPr lang="en-US" altLang="zh-CN" dirty="0"/>
              <a:t>—</a:t>
            </a:r>
            <a:r>
              <a:rPr lang="zh-CN" altLang="en-US" dirty="0"/>
              <a:t>硬件资源使用冲突</a:t>
            </a:r>
          </a:p>
          <a:p>
            <a:pPr>
              <a:lnSpc>
                <a:spcPct val="150000"/>
              </a:lnSpc>
              <a:spcBef>
                <a:spcPts val="0"/>
              </a:spcBef>
            </a:pPr>
            <a:r>
              <a:rPr lang="zh-CN" altLang="en-US" dirty="0">
                <a:solidFill>
                  <a:srgbClr val="3333FF"/>
                </a:solidFill>
              </a:rPr>
              <a:t>数据冒险</a:t>
            </a:r>
            <a:r>
              <a:rPr lang="en-US" altLang="zh-CN" dirty="0"/>
              <a:t>—</a:t>
            </a:r>
            <a:r>
              <a:rPr lang="zh-CN" altLang="en-US" dirty="0"/>
              <a:t>数据存储器或者寄存器内容因指令关联而不可获得</a:t>
            </a:r>
            <a:r>
              <a:rPr lang="en-US" altLang="zh-CN" dirty="0"/>
              <a:t>RAW</a:t>
            </a:r>
            <a:r>
              <a:rPr lang="zh-CN" altLang="en-US" dirty="0"/>
              <a:t>（写后读），</a:t>
            </a:r>
            <a:r>
              <a:rPr lang="en-US" altLang="zh-CN" dirty="0"/>
              <a:t>load-use</a:t>
            </a:r>
          </a:p>
          <a:p>
            <a:pPr>
              <a:lnSpc>
                <a:spcPct val="150000"/>
              </a:lnSpc>
              <a:spcBef>
                <a:spcPts val="0"/>
              </a:spcBef>
            </a:pPr>
            <a:r>
              <a:rPr lang="zh-CN" altLang="en-US" dirty="0">
                <a:solidFill>
                  <a:srgbClr val="3333FF"/>
                </a:solidFill>
              </a:rPr>
              <a:t>控制冒险</a:t>
            </a:r>
            <a:r>
              <a:rPr lang="en-US" altLang="zh-CN" dirty="0"/>
              <a:t>—</a:t>
            </a:r>
            <a:r>
              <a:rPr lang="zh-CN" altLang="en-US" dirty="0"/>
              <a:t>因跳转分支指令使得</a:t>
            </a:r>
            <a:r>
              <a:rPr lang="en-US" altLang="zh-CN" dirty="0"/>
              <a:t>PC</a:t>
            </a:r>
            <a:r>
              <a:rPr lang="zh-CN" altLang="en-US" dirty="0"/>
              <a:t>无法及时确定</a:t>
            </a:r>
          </a:p>
        </p:txBody>
      </p:sp>
      <p:sp>
        <p:nvSpPr>
          <p:cNvPr id="4" name="灯片编号占位符 3">
            <a:extLst>
              <a:ext uri="{FF2B5EF4-FFF2-40B4-BE49-F238E27FC236}">
                <a16:creationId xmlns:a16="http://schemas.microsoft.com/office/drawing/2014/main" id="{DABAAFF6-A84E-4973-BCA7-246EE6A59F6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1806CE5-282B-4233-8654-09F35EA875E2}" type="slidenum">
              <a:rPr lang="zh-CN" altLang="en-US" smtClean="0"/>
              <a:t>101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681129374"/>
      </p:ext>
    </p:extLst>
  </p:cSld>
  <p:clrMapOvr>
    <a:masterClrMapping/>
  </p:clrMapOvr>
</p:sld>
</file>

<file path=ppt/slides/slide1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>
            <a:extLst>
              <a:ext uri="{FF2B5EF4-FFF2-40B4-BE49-F238E27FC236}">
                <a16:creationId xmlns:a16="http://schemas.microsoft.com/office/drawing/2014/main" id="{10F3E26D-8D28-1A43-92F0-BCA840D7BF0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zh-CN" altLang="en-US" dirty="0">
                <a:solidFill>
                  <a:schemeClr val="tx1"/>
                </a:solidFill>
              </a:rPr>
              <a:t>知识点框图</a:t>
            </a:r>
          </a:p>
        </p:txBody>
      </p:sp>
      <p:sp>
        <p:nvSpPr>
          <p:cNvPr id="57" name="圆角矩形 56">
            <a:extLst>
              <a:ext uri="{FF2B5EF4-FFF2-40B4-BE49-F238E27FC236}">
                <a16:creationId xmlns:a16="http://schemas.microsoft.com/office/drawing/2014/main" id="{53CE096C-0E94-ED43-B136-8711A063F66B}"/>
              </a:ext>
            </a:extLst>
          </p:cNvPr>
          <p:cNvSpPr/>
          <p:nvPr/>
        </p:nvSpPr>
        <p:spPr>
          <a:xfrm>
            <a:off x="230241" y="5363990"/>
            <a:ext cx="1168655" cy="742610"/>
          </a:xfrm>
          <a:prstGeom prst="roundRect">
            <a:avLst/>
          </a:prstGeom>
          <a:solidFill>
            <a:schemeClr val="bg1"/>
          </a:solidFill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kumimoji="1" lang="zh-CN" altLang="en-US" sz="1600" b="1" dirty="0">
                <a:solidFill>
                  <a:schemeClr val="tx1"/>
                </a:solidFill>
                <a:latin typeface="SimHei" panose="02010609060101010101" pitchFamily="49" charset="-122"/>
                <a:ea typeface="SimHei" panose="02010609060101010101" pitchFamily="49" charset="-122"/>
              </a:rPr>
              <a:t>优化</a:t>
            </a:r>
            <a:endParaRPr kumimoji="1" lang="en-US" altLang="zh-CN" sz="1600" b="1" dirty="0">
              <a:solidFill>
                <a:schemeClr val="tx1"/>
              </a:solidFill>
              <a:latin typeface="SimHei" panose="02010609060101010101" pitchFamily="49" charset="-122"/>
              <a:ea typeface="SimHei" panose="02010609060101010101" pitchFamily="49" charset="-122"/>
            </a:endParaRPr>
          </a:p>
          <a:p>
            <a:pPr algn="ctr"/>
            <a:r>
              <a:rPr kumimoji="1" lang="zh-CN" altLang="en-US" sz="1600" b="1" dirty="0">
                <a:solidFill>
                  <a:schemeClr val="tx1"/>
                </a:solidFill>
                <a:latin typeface="SimHei" panose="02010609060101010101" pitchFamily="49" charset="-122"/>
                <a:ea typeface="SimHei" panose="02010609060101010101" pitchFamily="49" charset="-122"/>
              </a:rPr>
              <a:t>流水线</a:t>
            </a:r>
          </a:p>
        </p:txBody>
      </p:sp>
      <p:cxnSp>
        <p:nvCxnSpPr>
          <p:cNvPr id="70" name="肘形连接符 69">
            <a:extLst>
              <a:ext uri="{FF2B5EF4-FFF2-40B4-BE49-F238E27FC236}">
                <a16:creationId xmlns:a16="http://schemas.microsoft.com/office/drawing/2014/main" id="{9501BC1B-CFB3-3844-8F46-6D984FE4A22A}"/>
              </a:ext>
            </a:extLst>
          </p:cNvPr>
          <p:cNvCxnSpPr>
            <a:cxnSpLocks/>
            <a:stCxn id="90" idx="3"/>
            <a:endCxn id="73" idx="1"/>
          </p:cNvCxnSpPr>
          <p:nvPr/>
        </p:nvCxnSpPr>
        <p:spPr>
          <a:xfrm flipV="1">
            <a:off x="1398896" y="1447681"/>
            <a:ext cx="574332" cy="629275"/>
          </a:xfrm>
          <a:prstGeom prst="bentConnector3">
            <a:avLst>
              <a:gd name="adj1" fmla="val 50000"/>
            </a:avLst>
          </a:prstGeom>
          <a:ln w="50800">
            <a:solidFill>
              <a:schemeClr val="bg1">
                <a:lumMod val="65000"/>
              </a:schemeClr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2" name="肘形连接符 71">
            <a:extLst>
              <a:ext uri="{FF2B5EF4-FFF2-40B4-BE49-F238E27FC236}">
                <a16:creationId xmlns:a16="http://schemas.microsoft.com/office/drawing/2014/main" id="{20D643A2-7B02-6947-A75E-F74E79D901E6}"/>
              </a:ext>
            </a:extLst>
          </p:cNvPr>
          <p:cNvCxnSpPr>
            <a:cxnSpLocks/>
            <a:stCxn id="90" idx="3"/>
            <a:endCxn id="74" idx="1"/>
          </p:cNvCxnSpPr>
          <p:nvPr/>
        </p:nvCxnSpPr>
        <p:spPr>
          <a:xfrm>
            <a:off x="1398896" y="2076956"/>
            <a:ext cx="574332" cy="1"/>
          </a:xfrm>
          <a:prstGeom prst="bentConnector3">
            <a:avLst>
              <a:gd name="adj1" fmla="val 50000"/>
            </a:avLst>
          </a:prstGeom>
          <a:ln w="50800">
            <a:solidFill>
              <a:schemeClr val="bg1">
                <a:lumMod val="65000"/>
              </a:schemeClr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3" name="圆角矩形 72">
            <a:extLst>
              <a:ext uri="{FF2B5EF4-FFF2-40B4-BE49-F238E27FC236}">
                <a16:creationId xmlns:a16="http://schemas.microsoft.com/office/drawing/2014/main" id="{9711818D-6401-E944-9F30-CEC8D9AB8CCA}"/>
              </a:ext>
            </a:extLst>
          </p:cNvPr>
          <p:cNvSpPr/>
          <p:nvPr/>
        </p:nvSpPr>
        <p:spPr>
          <a:xfrm>
            <a:off x="1973228" y="1229519"/>
            <a:ext cx="1080000" cy="436323"/>
          </a:xfrm>
          <a:prstGeom prst="roundRect">
            <a:avLst/>
          </a:prstGeom>
          <a:solidFill>
            <a:schemeClr val="bg1"/>
          </a:solidFill>
          <a:ln w="25400">
            <a:solidFill>
              <a:schemeClr val="bg1">
                <a:lumMod val="6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kumimoji="1" lang="zh-CN" altLang="en-US" sz="1400" b="1" dirty="0">
                <a:solidFill>
                  <a:schemeClr val="bg1">
                    <a:lumMod val="65000"/>
                  </a:schemeClr>
                </a:solidFill>
                <a:latin typeface="SimHei" panose="02010609060101010101" pitchFamily="49" charset="-122"/>
                <a:ea typeface="SimHei" panose="02010609060101010101" pitchFamily="49" charset="-122"/>
              </a:rPr>
              <a:t>基本概念</a:t>
            </a:r>
          </a:p>
        </p:txBody>
      </p:sp>
      <p:sp>
        <p:nvSpPr>
          <p:cNvPr id="74" name="圆角矩形 73">
            <a:extLst>
              <a:ext uri="{FF2B5EF4-FFF2-40B4-BE49-F238E27FC236}">
                <a16:creationId xmlns:a16="http://schemas.microsoft.com/office/drawing/2014/main" id="{EE97B7F1-46DD-814B-90E4-F4ECB447B22F}"/>
              </a:ext>
            </a:extLst>
          </p:cNvPr>
          <p:cNvSpPr/>
          <p:nvPr/>
        </p:nvSpPr>
        <p:spPr>
          <a:xfrm>
            <a:off x="1973228" y="1858795"/>
            <a:ext cx="1080000" cy="436323"/>
          </a:xfrm>
          <a:prstGeom prst="roundRect">
            <a:avLst/>
          </a:prstGeom>
          <a:solidFill>
            <a:schemeClr val="bg1"/>
          </a:solidFill>
          <a:ln w="25400">
            <a:solidFill>
              <a:schemeClr val="bg1">
                <a:lumMod val="6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kumimoji="1" lang="zh-CN" altLang="en-US" sz="1400" b="1" dirty="0">
                <a:solidFill>
                  <a:schemeClr val="bg1">
                    <a:lumMod val="65000"/>
                  </a:schemeClr>
                </a:solidFill>
                <a:latin typeface="SimHei" panose="02010609060101010101" pitchFamily="49" charset="-122"/>
                <a:ea typeface="SimHei" panose="02010609060101010101" pitchFamily="49" charset="-122"/>
              </a:rPr>
              <a:t>数据通路</a:t>
            </a:r>
          </a:p>
        </p:txBody>
      </p:sp>
      <p:cxnSp>
        <p:nvCxnSpPr>
          <p:cNvPr id="75" name="直线箭头连接符 74">
            <a:extLst>
              <a:ext uri="{FF2B5EF4-FFF2-40B4-BE49-F238E27FC236}">
                <a16:creationId xmlns:a16="http://schemas.microsoft.com/office/drawing/2014/main" id="{B966BB80-C56F-BA47-94E0-C06EE0209981}"/>
              </a:ext>
            </a:extLst>
          </p:cNvPr>
          <p:cNvCxnSpPr>
            <a:cxnSpLocks/>
            <a:stCxn id="73" idx="3"/>
            <a:endCxn id="76" idx="1"/>
          </p:cNvCxnSpPr>
          <p:nvPr/>
        </p:nvCxnSpPr>
        <p:spPr>
          <a:xfrm>
            <a:off x="3053228" y="1447681"/>
            <a:ext cx="483821" cy="0"/>
          </a:xfrm>
          <a:prstGeom prst="straightConnector1">
            <a:avLst/>
          </a:prstGeom>
          <a:ln w="50800">
            <a:solidFill>
              <a:schemeClr val="bg1">
                <a:lumMod val="65000"/>
              </a:schemeClr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6" name="圆角矩形 75">
            <a:extLst>
              <a:ext uri="{FF2B5EF4-FFF2-40B4-BE49-F238E27FC236}">
                <a16:creationId xmlns:a16="http://schemas.microsoft.com/office/drawing/2014/main" id="{1487E026-D224-2B4A-B9C1-D9FD192B0479}"/>
              </a:ext>
            </a:extLst>
          </p:cNvPr>
          <p:cNvSpPr/>
          <p:nvPr/>
        </p:nvSpPr>
        <p:spPr>
          <a:xfrm>
            <a:off x="3537049" y="1229519"/>
            <a:ext cx="1538315" cy="436323"/>
          </a:xfrm>
          <a:prstGeom prst="roundRect">
            <a:avLst/>
          </a:prstGeom>
          <a:solidFill>
            <a:schemeClr val="bg1"/>
          </a:solidFill>
          <a:ln w="25400">
            <a:solidFill>
              <a:schemeClr val="bg1">
                <a:lumMod val="6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kumimoji="1" lang="zh-CN" altLang="en-US" sz="1400" b="1" dirty="0">
                <a:solidFill>
                  <a:schemeClr val="bg1">
                    <a:lumMod val="65000"/>
                  </a:schemeClr>
                </a:solidFill>
                <a:latin typeface="Times New Roman" panose="02020603050405020304" pitchFamily="18" charset="0"/>
                <a:ea typeface="SimHei" panose="02010609060101010101" pitchFamily="49" charset="-122"/>
                <a:cs typeface="Times New Roman" panose="02020603050405020304" pitchFamily="18" charset="0"/>
              </a:rPr>
              <a:t>指令级并行处理</a:t>
            </a:r>
            <a:endParaRPr kumimoji="1" lang="zh-CN" altLang="en-US" sz="1400" b="1" dirty="0">
              <a:solidFill>
                <a:schemeClr val="bg1">
                  <a:lumMod val="65000"/>
                </a:schemeClr>
              </a:solidFill>
              <a:latin typeface="SimHei" panose="02010609060101010101" pitchFamily="49" charset="-122"/>
              <a:ea typeface="SimHei" panose="02010609060101010101" pitchFamily="49" charset="-122"/>
            </a:endParaRPr>
          </a:p>
        </p:txBody>
      </p:sp>
      <p:sp>
        <p:nvSpPr>
          <p:cNvPr id="77" name="圆角矩形 76">
            <a:extLst>
              <a:ext uri="{FF2B5EF4-FFF2-40B4-BE49-F238E27FC236}">
                <a16:creationId xmlns:a16="http://schemas.microsoft.com/office/drawing/2014/main" id="{127D94DA-54A5-5149-9FD8-998496129AB0}"/>
              </a:ext>
            </a:extLst>
          </p:cNvPr>
          <p:cNvSpPr/>
          <p:nvPr/>
        </p:nvSpPr>
        <p:spPr>
          <a:xfrm>
            <a:off x="5215785" y="1227143"/>
            <a:ext cx="972000" cy="436323"/>
          </a:xfrm>
          <a:prstGeom prst="roundRect">
            <a:avLst/>
          </a:prstGeom>
          <a:solidFill>
            <a:schemeClr val="bg1"/>
          </a:solidFill>
          <a:ln w="25400">
            <a:solidFill>
              <a:schemeClr val="bg1">
                <a:lumMod val="6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kumimoji="1" lang="zh-CN" altLang="en-US" sz="1400" b="1" dirty="0">
                <a:solidFill>
                  <a:schemeClr val="bg1">
                    <a:lumMod val="65000"/>
                  </a:schemeClr>
                </a:solidFill>
                <a:latin typeface="Times New Roman" panose="02020603050405020304" pitchFamily="18" charset="0"/>
                <a:ea typeface="SimHei" panose="02010609060101010101" pitchFamily="49" charset="-122"/>
                <a:cs typeface="Times New Roman" panose="02020603050405020304" pitchFamily="18" charset="0"/>
              </a:rPr>
              <a:t>延时</a:t>
            </a:r>
            <a:endParaRPr kumimoji="1" lang="zh-CN" altLang="en-US" sz="1400" b="1" dirty="0">
              <a:solidFill>
                <a:schemeClr val="bg1">
                  <a:lumMod val="65000"/>
                </a:schemeClr>
              </a:solidFill>
              <a:latin typeface="SimHei" panose="02010609060101010101" pitchFamily="49" charset="-122"/>
              <a:ea typeface="SimHei" panose="02010609060101010101" pitchFamily="49" charset="-122"/>
            </a:endParaRPr>
          </a:p>
        </p:txBody>
      </p:sp>
      <p:sp>
        <p:nvSpPr>
          <p:cNvPr id="78" name="圆角矩形 77">
            <a:extLst>
              <a:ext uri="{FF2B5EF4-FFF2-40B4-BE49-F238E27FC236}">
                <a16:creationId xmlns:a16="http://schemas.microsoft.com/office/drawing/2014/main" id="{02584BA7-59D1-4A4A-AFEA-09760E30244F}"/>
              </a:ext>
            </a:extLst>
          </p:cNvPr>
          <p:cNvSpPr/>
          <p:nvPr/>
        </p:nvSpPr>
        <p:spPr>
          <a:xfrm>
            <a:off x="7440627" y="1227143"/>
            <a:ext cx="972000" cy="436323"/>
          </a:xfrm>
          <a:prstGeom prst="roundRect">
            <a:avLst/>
          </a:prstGeom>
          <a:solidFill>
            <a:schemeClr val="bg1"/>
          </a:solidFill>
          <a:ln w="25400">
            <a:solidFill>
              <a:schemeClr val="bg1">
                <a:lumMod val="6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kumimoji="1" lang="zh-CN" altLang="en-US" sz="1400" b="1" dirty="0">
                <a:solidFill>
                  <a:schemeClr val="bg1">
                    <a:lumMod val="65000"/>
                  </a:schemeClr>
                </a:solidFill>
                <a:latin typeface="SimHei" panose="02010609060101010101" pitchFamily="49" charset="-122"/>
                <a:ea typeface="SimHei" panose="02010609060101010101" pitchFamily="49" charset="-122"/>
              </a:rPr>
              <a:t>流水级</a:t>
            </a:r>
          </a:p>
        </p:txBody>
      </p:sp>
      <p:cxnSp>
        <p:nvCxnSpPr>
          <p:cNvPr id="79" name="直线箭头连接符 78">
            <a:extLst>
              <a:ext uri="{FF2B5EF4-FFF2-40B4-BE49-F238E27FC236}">
                <a16:creationId xmlns:a16="http://schemas.microsoft.com/office/drawing/2014/main" id="{590F00DC-2743-8B4A-8B6E-06377D8E7648}"/>
              </a:ext>
            </a:extLst>
          </p:cNvPr>
          <p:cNvCxnSpPr>
            <a:cxnSpLocks/>
            <a:stCxn id="74" idx="3"/>
            <a:endCxn id="80" idx="1"/>
          </p:cNvCxnSpPr>
          <p:nvPr/>
        </p:nvCxnSpPr>
        <p:spPr>
          <a:xfrm>
            <a:off x="3053228" y="2076957"/>
            <a:ext cx="483821" cy="1686"/>
          </a:xfrm>
          <a:prstGeom prst="straightConnector1">
            <a:avLst/>
          </a:prstGeom>
          <a:ln w="50800">
            <a:solidFill>
              <a:schemeClr val="bg1">
                <a:lumMod val="65000"/>
              </a:schemeClr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0" name="圆角矩形 79">
            <a:extLst>
              <a:ext uri="{FF2B5EF4-FFF2-40B4-BE49-F238E27FC236}">
                <a16:creationId xmlns:a16="http://schemas.microsoft.com/office/drawing/2014/main" id="{AEE93EEA-98B1-3147-9649-4AB5B4229385}"/>
              </a:ext>
            </a:extLst>
          </p:cNvPr>
          <p:cNvSpPr/>
          <p:nvPr/>
        </p:nvSpPr>
        <p:spPr>
          <a:xfrm>
            <a:off x="3537049" y="1860481"/>
            <a:ext cx="2527601" cy="436323"/>
          </a:xfrm>
          <a:prstGeom prst="roundRect">
            <a:avLst/>
          </a:prstGeom>
          <a:solidFill>
            <a:schemeClr val="bg1"/>
          </a:solidFill>
          <a:ln w="25400">
            <a:solidFill>
              <a:schemeClr val="bg1">
                <a:lumMod val="6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kumimoji="1" lang="en-US" altLang="zh-CN" sz="1400" b="1" dirty="0">
                <a:solidFill>
                  <a:schemeClr val="bg1">
                    <a:lumMod val="65000"/>
                  </a:schemeClr>
                </a:solidFill>
                <a:latin typeface="Times New Roman" panose="02020603050405020304" pitchFamily="18" charset="0"/>
                <a:ea typeface="SimHei" panose="02010609060101010101" pitchFamily="49" charset="-122"/>
                <a:cs typeface="Times New Roman" panose="02020603050405020304" pitchFamily="18" charset="0"/>
              </a:rPr>
              <a:t>IF</a:t>
            </a:r>
            <a:r>
              <a:rPr kumimoji="1" lang="zh-CN" altLang="en-US" sz="1400" b="1" dirty="0">
                <a:solidFill>
                  <a:schemeClr val="bg1">
                    <a:lumMod val="65000"/>
                  </a:schemeClr>
                </a:solidFill>
                <a:latin typeface="Times New Roman" panose="02020603050405020304" pitchFamily="18" charset="0"/>
                <a:ea typeface="SimHei" panose="02010609060101010101" pitchFamily="49" charset="-122"/>
                <a:cs typeface="Times New Roman" panose="02020603050405020304" pitchFamily="18" charset="0"/>
              </a:rPr>
              <a:t>，</a:t>
            </a:r>
            <a:r>
              <a:rPr kumimoji="1" lang="en-US" altLang="zh-CN" sz="1400" b="1" dirty="0">
                <a:solidFill>
                  <a:schemeClr val="bg1">
                    <a:lumMod val="65000"/>
                  </a:schemeClr>
                </a:solidFill>
                <a:latin typeface="Times New Roman" panose="02020603050405020304" pitchFamily="18" charset="0"/>
                <a:ea typeface="SimHei" panose="02010609060101010101" pitchFamily="49" charset="-122"/>
                <a:cs typeface="Times New Roman" panose="02020603050405020304" pitchFamily="18" charset="0"/>
              </a:rPr>
              <a:t>ID</a:t>
            </a:r>
            <a:r>
              <a:rPr kumimoji="1" lang="zh-CN" altLang="en-US" sz="1400" b="1" dirty="0">
                <a:solidFill>
                  <a:schemeClr val="bg1">
                    <a:lumMod val="65000"/>
                  </a:schemeClr>
                </a:solidFill>
                <a:latin typeface="Times New Roman" panose="02020603050405020304" pitchFamily="18" charset="0"/>
                <a:ea typeface="SimHei" panose="02010609060101010101" pitchFamily="49" charset="-122"/>
                <a:cs typeface="Times New Roman" panose="02020603050405020304" pitchFamily="18" charset="0"/>
              </a:rPr>
              <a:t>，</a:t>
            </a:r>
            <a:r>
              <a:rPr kumimoji="1" lang="en-US" altLang="zh-CN" sz="1400" b="1" dirty="0">
                <a:solidFill>
                  <a:schemeClr val="bg1">
                    <a:lumMod val="65000"/>
                  </a:schemeClr>
                </a:solidFill>
                <a:latin typeface="Times New Roman" panose="02020603050405020304" pitchFamily="18" charset="0"/>
                <a:ea typeface="SimHei" panose="02010609060101010101" pitchFamily="49" charset="-122"/>
                <a:cs typeface="Times New Roman" panose="02020603050405020304" pitchFamily="18" charset="0"/>
              </a:rPr>
              <a:t>EX</a:t>
            </a:r>
            <a:r>
              <a:rPr kumimoji="1" lang="zh-CN" altLang="en-US" sz="1400" b="1" dirty="0">
                <a:solidFill>
                  <a:schemeClr val="bg1">
                    <a:lumMod val="65000"/>
                  </a:schemeClr>
                </a:solidFill>
                <a:latin typeface="Times New Roman" panose="02020603050405020304" pitchFamily="18" charset="0"/>
                <a:ea typeface="SimHei" panose="02010609060101010101" pitchFamily="49" charset="-122"/>
                <a:cs typeface="Times New Roman" panose="02020603050405020304" pitchFamily="18" charset="0"/>
              </a:rPr>
              <a:t>，</a:t>
            </a:r>
            <a:r>
              <a:rPr kumimoji="1" lang="en-US" altLang="zh-CN" sz="1400" b="1" dirty="0">
                <a:solidFill>
                  <a:schemeClr val="bg1">
                    <a:lumMod val="65000"/>
                  </a:schemeClr>
                </a:solidFill>
                <a:latin typeface="Times New Roman" panose="02020603050405020304" pitchFamily="18" charset="0"/>
                <a:ea typeface="SimHei" panose="02010609060101010101" pitchFamily="49" charset="-122"/>
                <a:cs typeface="Times New Roman" panose="02020603050405020304" pitchFamily="18" charset="0"/>
              </a:rPr>
              <a:t>MEM</a:t>
            </a:r>
            <a:r>
              <a:rPr kumimoji="1" lang="zh-CN" altLang="en-US" sz="1400" b="1" dirty="0">
                <a:solidFill>
                  <a:schemeClr val="bg1">
                    <a:lumMod val="65000"/>
                  </a:schemeClr>
                </a:solidFill>
                <a:latin typeface="Times New Roman" panose="02020603050405020304" pitchFamily="18" charset="0"/>
                <a:ea typeface="SimHei" panose="02010609060101010101" pitchFamily="49" charset="-122"/>
                <a:cs typeface="Times New Roman" panose="02020603050405020304" pitchFamily="18" charset="0"/>
              </a:rPr>
              <a:t>，</a:t>
            </a:r>
            <a:r>
              <a:rPr kumimoji="1" lang="en-US" altLang="zh-CN" sz="1400" b="1" dirty="0">
                <a:solidFill>
                  <a:schemeClr val="bg1">
                    <a:lumMod val="65000"/>
                  </a:schemeClr>
                </a:solidFill>
                <a:latin typeface="Times New Roman" panose="02020603050405020304" pitchFamily="18" charset="0"/>
                <a:ea typeface="SimHei" panose="02010609060101010101" pitchFamily="49" charset="-122"/>
                <a:cs typeface="Times New Roman" panose="02020603050405020304" pitchFamily="18" charset="0"/>
              </a:rPr>
              <a:t>WB</a:t>
            </a:r>
            <a:endParaRPr kumimoji="1" lang="zh-CN" altLang="en-US" sz="1400" b="1" dirty="0">
              <a:solidFill>
                <a:schemeClr val="bg1">
                  <a:lumMod val="65000"/>
                </a:schemeClr>
              </a:solidFill>
              <a:latin typeface="SimHei" panose="02010609060101010101" pitchFamily="49" charset="-122"/>
              <a:ea typeface="SimHei" panose="02010609060101010101" pitchFamily="49" charset="-122"/>
            </a:endParaRPr>
          </a:p>
        </p:txBody>
      </p:sp>
      <p:cxnSp>
        <p:nvCxnSpPr>
          <p:cNvPr id="84" name="肘形连接符 83">
            <a:extLst>
              <a:ext uri="{FF2B5EF4-FFF2-40B4-BE49-F238E27FC236}">
                <a16:creationId xmlns:a16="http://schemas.microsoft.com/office/drawing/2014/main" id="{CF581AF9-F891-F84F-9F64-152919E1C93C}"/>
              </a:ext>
            </a:extLst>
          </p:cNvPr>
          <p:cNvCxnSpPr>
            <a:cxnSpLocks/>
            <a:stCxn id="57" idx="3"/>
            <a:endCxn id="102" idx="1"/>
          </p:cNvCxnSpPr>
          <p:nvPr/>
        </p:nvCxnSpPr>
        <p:spPr>
          <a:xfrm flipV="1">
            <a:off x="1398896" y="4927571"/>
            <a:ext cx="574332" cy="807724"/>
          </a:xfrm>
          <a:prstGeom prst="bentConnector3">
            <a:avLst>
              <a:gd name="adj1" fmla="val 50000"/>
            </a:avLst>
          </a:prstGeom>
          <a:ln w="508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7" name="直线箭头连接符 86">
            <a:extLst>
              <a:ext uri="{FF2B5EF4-FFF2-40B4-BE49-F238E27FC236}">
                <a16:creationId xmlns:a16="http://schemas.microsoft.com/office/drawing/2014/main" id="{3537FAE0-553D-404E-9543-DA5F7DE350F4}"/>
              </a:ext>
            </a:extLst>
          </p:cNvPr>
          <p:cNvCxnSpPr>
            <a:cxnSpLocks/>
            <a:stCxn id="57" idx="3"/>
            <a:endCxn id="120" idx="1"/>
          </p:cNvCxnSpPr>
          <p:nvPr/>
        </p:nvCxnSpPr>
        <p:spPr>
          <a:xfrm flipV="1">
            <a:off x="1398896" y="5467491"/>
            <a:ext cx="584645" cy="267804"/>
          </a:xfrm>
          <a:prstGeom prst="bentConnector3">
            <a:avLst>
              <a:gd name="adj1" fmla="val 50000"/>
            </a:avLst>
          </a:prstGeom>
          <a:ln w="508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8" name="圆角矩形 87">
            <a:extLst>
              <a:ext uri="{FF2B5EF4-FFF2-40B4-BE49-F238E27FC236}">
                <a16:creationId xmlns:a16="http://schemas.microsoft.com/office/drawing/2014/main" id="{AF9DB471-7B0F-1F4A-874A-81CF58BE17B7}"/>
              </a:ext>
            </a:extLst>
          </p:cNvPr>
          <p:cNvSpPr/>
          <p:nvPr/>
        </p:nvSpPr>
        <p:spPr>
          <a:xfrm>
            <a:off x="1973228" y="2508407"/>
            <a:ext cx="1080000" cy="436323"/>
          </a:xfrm>
          <a:prstGeom prst="roundRect">
            <a:avLst/>
          </a:prstGeom>
          <a:solidFill>
            <a:schemeClr val="bg1"/>
          </a:solidFill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kumimoji="1" lang="zh-CN" altLang="en-US" sz="1400" b="1" dirty="0">
                <a:solidFill>
                  <a:schemeClr val="tx1"/>
                </a:solidFill>
                <a:latin typeface="SimHei" panose="02010609060101010101" pitchFamily="49" charset="-122"/>
                <a:ea typeface="SimHei" panose="02010609060101010101" pitchFamily="49" charset="-122"/>
              </a:rPr>
              <a:t>冒险</a:t>
            </a:r>
          </a:p>
        </p:txBody>
      </p:sp>
      <p:sp>
        <p:nvSpPr>
          <p:cNvPr id="90" name="圆角矩形 13">
            <a:extLst>
              <a:ext uri="{FF2B5EF4-FFF2-40B4-BE49-F238E27FC236}">
                <a16:creationId xmlns:a16="http://schemas.microsoft.com/office/drawing/2014/main" id="{5A4F1C54-DF56-DF43-B81C-7054F31A0725}"/>
              </a:ext>
            </a:extLst>
          </p:cNvPr>
          <p:cNvSpPr/>
          <p:nvPr/>
        </p:nvSpPr>
        <p:spPr>
          <a:xfrm>
            <a:off x="230242" y="1705651"/>
            <a:ext cx="1168654" cy="742610"/>
          </a:xfrm>
          <a:prstGeom prst="roundRect">
            <a:avLst/>
          </a:prstGeom>
          <a:solidFill>
            <a:schemeClr val="bg1"/>
          </a:solidFill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kumimoji="1" lang="zh-CN" altLang="en-US" sz="1600" b="1" dirty="0">
                <a:solidFill>
                  <a:schemeClr val="tx1"/>
                </a:solidFill>
                <a:latin typeface="Times New Roman" panose="02020603050405020304" pitchFamily="18" charset="0"/>
                <a:ea typeface="SimHei" panose="02010609060101010101" pitchFamily="49" charset="-122"/>
                <a:cs typeface="Times New Roman" panose="02020603050405020304" pitchFamily="18" charset="0"/>
              </a:rPr>
              <a:t>流水线</a:t>
            </a:r>
            <a:endParaRPr kumimoji="1" lang="en-US" altLang="zh-CN" sz="1600" b="1" dirty="0">
              <a:solidFill>
                <a:schemeClr val="tx1"/>
              </a:solidFill>
              <a:latin typeface="Times New Roman" panose="02020603050405020304" pitchFamily="18" charset="0"/>
              <a:ea typeface="SimHei" panose="02010609060101010101" pitchFamily="49" charset="-122"/>
              <a:cs typeface="Times New Roman" panose="02020603050405020304" pitchFamily="18" charset="0"/>
            </a:endParaRPr>
          </a:p>
          <a:p>
            <a:pPr algn="ctr"/>
            <a:r>
              <a:rPr kumimoji="1" lang="zh-CN" altLang="en-US" sz="1600" b="1" dirty="0">
                <a:solidFill>
                  <a:schemeClr val="tx1"/>
                </a:solidFill>
                <a:latin typeface="Times New Roman" panose="02020603050405020304" pitchFamily="18" charset="0"/>
                <a:ea typeface="SimHei" panose="02010609060101010101" pitchFamily="49" charset="-122"/>
                <a:cs typeface="Times New Roman" panose="02020603050405020304" pitchFamily="18" charset="0"/>
              </a:rPr>
              <a:t>处理器</a:t>
            </a:r>
            <a:endParaRPr kumimoji="1" lang="zh-CN" altLang="en-US" sz="1600" b="1" dirty="0">
              <a:solidFill>
                <a:schemeClr val="tx1"/>
              </a:solidFill>
              <a:latin typeface="SimHei" panose="02010609060101010101" pitchFamily="49" charset="-122"/>
              <a:ea typeface="SimHei" panose="02010609060101010101" pitchFamily="49" charset="-122"/>
            </a:endParaRPr>
          </a:p>
        </p:txBody>
      </p:sp>
      <p:sp>
        <p:nvSpPr>
          <p:cNvPr id="100" name="圆角矩形 36">
            <a:extLst>
              <a:ext uri="{FF2B5EF4-FFF2-40B4-BE49-F238E27FC236}">
                <a16:creationId xmlns:a16="http://schemas.microsoft.com/office/drawing/2014/main" id="{61519F0F-8C4C-424A-971F-B86C1197FCA7}"/>
              </a:ext>
            </a:extLst>
          </p:cNvPr>
          <p:cNvSpPr/>
          <p:nvPr/>
        </p:nvSpPr>
        <p:spPr>
          <a:xfrm>
            <a:off x="6328206" y="1227143"/>
            <a:ext cx="972000" cy="436323"/>
          </a:xfrm>
          <a:prstGeom prst="roundRect">
            <a:avLst/>
          </a:prstGeom>
          <a:solidFill>
            <a:schemeClr val="bg1"/>
          </a:solidFill>
          <a:ln w="25400">
            <a:solidFill>
              <a:schemeClr val="bg1">
                <a:lumMod val="6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kumimoji="1" lang="zh-CN" altLang="en-US" sz="1400" b="1" dirty="0">
                <a:solidFill>
                  <a:schemeClr val="bg1">
                    <a:lumMod val="65000"/>
                  </a:schemeClr>
                </a:solidFill>
                <a:latin typeface="Times New Roman" panose="02020603050405020304" pitchFamily="18" charset="0"/>
                <a:ea typeface="SimHei" panose="02010609060101010101" pitchFamily="49" charset="-122"/>
                <a:cs typeface="Times New Roman" panose="02020603050405020304" pitchFamily="18" charset="0"/>
              </a:rPr>
              <a:t>吞吐率</a:t>
            </a:r>
            <a:endParaRPr kumimoji="1" lang="zh-CN" altLang="en-US" sz="1400" b="1" dirty="0">
              <a:solidFill>
                <a:schemeClr val="bg1">
                  <a:lumMod val="65000"/>
                </a:schemeClr>
              </a:solidFill>
              <a:latin typeface="SimHei" panose="02010609060101010101" pitchFamily="49" charset="-122"/>
              <a:ea typeface="SimHei" panose="02010609060101010101" pitchFamily="49" charset="-122"/>
            </a:endParaRPr>
          </a:p>
        </p:txBody>
      </p:sp>
      <p:sp>
        <p:nvSpPr>
          <p:cNvPr id="102" name="圆角矩形 40">
            <a:extLst>
              <a:ext uri="{FF2B5EF4-FFF2-40B4-BE49-F238E27FC236}">
                <a16:creationId xmlns:a16="http://schemas.microsoft.com/office/drawing/2014/main" id="{A99BD314-F10C-5241-B44B-0217897362BD}"/>
              </a:ext>
            </a:extLst>
          </p:cNvPr>
          <p:cNvSpPr/>
          <p:nvPr/>
        </p:nvSpPr>
        <p:spPr>
          <a:xfrm>
            <a:off x="1973228" y="4709409"/>
            <a:ext cx="898721" cy="436323"/>
          </a:xfrm>
          <a:prstGeom prst="roundRect">
            <a:avLst/>
          </a:prstGeom>
          <a:solidFill>
            <a:schemeClr val="bg1"/>
          </a:solidFill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rIns="36000" rtlCol="0" anchor="ctr"/>
          <a:lstStyle/>
          <a:p>
            <a:pPr algn="ctr"/>
            <a:r>
              <a:rPr kumimoji="1" lang="zh-CN" altLang="en-US" sz="1400" b="1" dirty="0">
                <a:solidFill>
                  <a:schemeClr val="tx1"/>
                </a:solidFill>
                <a:latin typeface="Times New Roman" panose="02020603050405020304" pitchFamily="18" charset="0"/>
                <a:ea typeface="SimHei" panose="02010609060101010101" pitchFamily="49" charset="-122"/>
                <a:cs typeface="Times New Roman" panose="02020603050405020304" pitchFamily="18" charset="0"/>
              </a:rPr>
              <a:t>关键路径</a:t>
            </a:r>
            <a:endParaRPr kumimoji="1" lang="zh-CN" altLang="en-US" sz="1400" b="1" dirty="0">
              <a:solidFill>
                <a:schemeClr val="tx1"/>
              </a:solidFill>
              <a:latin typeface="SimHei" panose="02010609060101010101" pitchFamily="49" charset="-122"/>
              <a:ea typeface="SimHei" panose="02010609060101010101" pitchFamily="49" charset="-122"/>
            </a:endParaRPr>
          </a:p>
        </p:txBody>
      </p:sp>
      <p:sp>
        <p:nvSpPr>
          <p:cNvPr id="103" name="圆角矩形 41">
            <a:extLst>
              <a:ext uri="{FF2B5EF4-FFF2-40B4-BE49-F238E27FC236}">
                <a16:creationId xmlns:a16="http://schemas.microsoft.com/office/drawing/2014/main" id="{6D9EACEC-167E-4A4E-8B71-DB10C075AD0D}"/>
              </a:ext>
            </a:extLst>
          </p:cNvPr>
          <p:cNvSpPr/>
          <p:nvPr/>
        </p:nvSpPr>
        <p:spPr>
          <a:xfrm>
            <a:off x="2983238" y="4706331"/>
            <a:ext cx="898721" cy="436323"/>
          </a:xfrm>
          <a:prstGeom prst="roundRect">
            <a:avLst/>
          </a:prstGeom>
          <a:solidFill>
            <a:schemeClr val="bg1"/>
          </a:solidFill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rIns="36000" rtlCol="0" anchor="ctr"/>
          <a:lstStyle/>
          <a:p>
            <a:pPr algn="ctr"/>
            <a:r>
              <a:rPr kumimoji="1" lang="zh-CN" altLang="en-US" sz="1400" b="1" dirty="0">
                <a:solidFill>
                  <a:schemeClr val="tx1"/>
                </a:solidFill>
                <a:latin typeface="Times New Roman" panose="02020603050405020304" pitchFamily="18" charset="0"/>
                <a:ea typeface="SimHei" panose="02010609060101010101" pitchFamily="49" charset="-122"/>
                <a:cs typeface="Times New Roman" panose="02020603050405020304" pitchFamily="18" charset="0"/>
              </a:rPr>
              <a:t>性能瓶颈</a:t>
            </a:r>
            <a:endParaRPr kumimoji="1" lang="zh-CN" altLang="en-US" sz="1400" b="1" dirty="0">
              <a:solidFill>
                <a:schemeClr val="tx1"/>
              </a:solidFill>
              <a:latin typeface="SimHei" panose="02010609060101010101" pitchFamily="49" charset="-122"/>
              <a:ea typeface="SimHei" panose="02010609060101010101" pitchFamily="49" charset="-122"/>
            </a:endParaRPr>
          </a:p>
        </p:txBody>
      </p:sp>
      <p:cxnSp>
        <p:nvCxnSpPr>
          <p:cNvPr id="104" name="直线箭头连接符 39">
            <a:extLst>
              <a:ext uri="{FF2B5EF4-FFF2-40B4-BE49-F238E27FC236}">
                <a16:creationId xmlns:a16="http://schemas.microsoft.com/office/drawing/2014/main" id="{4E8A5E09-82D3-6446-A026-512FF4725EE6}"/>
              </a:ext>
            </a:extLst>
          </p:cNvPr>
          <p:cNvCxnSpPr>
            <a:cxnSpLocks/>
            <a:stCxn id="88" idx="3"/>
            <a:endCxn id="105" idx="1"/>
          </p:cNvCxnSpPr>
          <p:nvPr/>
        </p:nvCxnSpPr>
        <p:spPr>
          <a:xfrm>
            <a:off x="3053228" y="2726569"/>
            <a:ext cx="495277" cy="542997"/>
          </a:xfrm>
          <a:prstGeom prst="bentConnector3">
            <a:avLst>
              <a:gd name="adj1" fmla="val 50000"/>
            </a:avLst>
          </a:prstGeom>
          <a:ln w="508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5" name="圆角矩形 40">
            <a:extLst>
              <a:ext uri="{FF2B5EF4-FFF2-40B4-BE49-F238E27FC236}">
                <a16:creationId xmlns:a16="http://schemas.microsoft.com/office/drawing/2014/main" id="{F3F190E6-2E43-0D45-B7F0-16DD8E23A122}"/>
              </a:ext>
            </a:extLst>
          </p:cNvPr>
          <p:cNvSpPr/>
          <p:nvPr/>
        </p:nvSpPr>
        <p:spPr>
          <a:xfrm>
            <a:off x="3548505" y="3051404"/>
            <a:ext cx="1026237" cy="436323"/>
          </a:xfrm>
          <a:prstGeom prst="roundRect">
            <a:avLst/>
          </a:prstGeom>
          <a:solidFill>
            <a:schemeClr val="bg1"/>
          </a:solidFill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kumimoji="1" lang="zh-CN" altLang="en-US" sz="1400" b="1" dirty="0">
                <a:solidFill>
                  <a:schemeClr val="tx1"/>
                </a:solidFill>
                <a:latin typeface="Times New Roman" panose="02020603050405020304" pitchFamily="18" charset="0"/>
                <a:ea typeface="SimHei" panose="02010609060101010101" pitchFamily="49" charset="-122"/>
                <a:cs typeface="Times New Roman" panose="02020603050405020304" pitchFamily="18" charset="0"/>
              </a:rPr>
              <a:t>数据关联冒险</a:t>
            </a:r>
            <a:endParaRPr kumimoji="1" lang="zh-CN" altLang="en-US" sz="1400" b="1" dirty="0">
              <a:solidFill>
                <a:schemeClr val="tx1"/>
              </a:solidFill>
              <a:latin typeface="SimHei" panose="02010609060101010101" pitchFamily="49" charset="-122"/>
              <a:ea typeface="SimHei" panose="02010609060101010101" pitchFamily="49" charset="-122"/>
            </a:endParaRPr>
          </a:p>
        </p:txBody>
      </p:sp>
      <p:sp>
        <p:nvSpPr>
          <p:cNvPr id="106" name="圆角矩形 41">
            <a:extLst>
              <a:ext uri="{FF2B5EF4-FFF2-40B4-BE49-F238E27FC236}">
                <a16:creationId xmlns:a16="http://schemas.microsoft.com/office/drawing/2014/main" id="{9C07C575-BF83-C843-B66F-1D1AA2A3426D}"/>
              </a:ext>
            </a:extLst>
          </p:cNvPr>
          <p:cNvSpPr/>
          <p:nvPr/>
        </p:nvSpPr>
        <p:spPr>
          <a:xfrm>
            <a:off x="4696773" y="3051404"/>
            <a:ext cx="597792" cy="436323"/>
          </a:xfrm>
          <a:prstGeom prst="roundRect">
            <a:avLst/>
          </a:prstGeom>
          <a:solidFill>
            <a:schemeClr val="bg1"/>
          </a:solidFill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kumimoji="1" lang="zh-CN" altLang="en-US" sz="1400" b="1" dirty="0">
                <a:solidFill>
                  <a:schemeClr val="tx1"/>
                </a:solidFill>
                <a:latin typeface="SimHei" panose="02010609060101010101" pitchFamily="49" charset="-122"/>
                <a:ea typeface="SimHei" panose="02010609060101010101" pitchFamily="49" charset="-122"/>
              </a:rPr>
              <a:t>来源</a:t>
            </a:r>
          </a:p>
        </p:txBody>
      </p:sp>
      <p:cxnSp>
        <p:nvCxnSpPr>
          <p:cNvPr id="111" name="直线箭头连接符 39">
            <a:extLst>
              <a:ext uri="{FF2B5EF4-FFF2-40B4-BE49-F238E27FC236}">
                <a16:creationId xmlns:a16="http://schemas.microsoft.com/office/drawing/2014/main" id="{F46F010E-D7FE-2546-820C-37F4221C3F6D}"/>
              </a:ext>
            </a:extLst>
          </p:cNvPr>
          <p:cNvCxnSpPr>
            <a:cxnSpLocks/>
            <a:stCxn id="88" idx="3"/>
            <a:endCxn id="112" idx="1"/>
          </p:cNvCxnSpPr>
          <p:nvPr/>
        </p:nvCxnSpPr>
        <p:spPr>
          <a:xfrm>
            <a:off x="3053228" y="2726569"/>
            <a:ext cx="487649" cy="0"/>
          </a:xfrm>
          <a:prstGeom prst="straightConnector1">
            <a:avLst/>
          </a:prstGeom>
          <a:ln w="50800">
            <a:solidFill>
              <a:schemeClr val="bg1">
                <a:lumMod val="65000"/>
              </a:schemeClr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2" name="圆角矩形 40">
            <a:extLst>
              <a:ext uri="{FF2B5EF4-FFF2-40B4-BE49-F238E27FC236}">
                <a16:creationId xmlns:a16="http://schemas.microsoft.com/office/drawing/2014/main" id="{6FAF2D03-C48F-7D45-BF70-E8F40789A69F}"/>
              </a:ext>
            </a:extLst>
          </p:cNvPr>
          <p:cNvSpPr/>
          <p:nvPr/>
        </p:nvSpPr>
        <p:spPr>
          <a:xfrm>
            <a:off x="3540877" y="2508407"/>
            <a:ext cx="1026237" cy="436323"/>
          </a:xfrm>
          <a:prstGeom prst="roundRect">
            <a:avLst/>
          </a:prstGeom>
          <a:solidFill>
            <a:schemeClr val="bg1"/>
          </a:solidFill>
          <a:ln w="25400">
            <a:solidFill>
              <a:schemeClr val="bg1">
                <a:lumMod val="6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kumimoji="1" lang="zh-CN" altLang="en-US" sz="1400" b="1" dirty="0">
                <a:solidFill>
                  <a:schemeClr val="bg1">
                    <a:lumMod val="65000"/>
                  </a:schemeClr>
                </a:solidFill>
                <a:latin typeface="SimHei" panose="02010609060101010101" pitchFamily="49" charset="-122"/>
                <a:ea typeface="SimHei" panose="02010609060101010101" pitchFamily="49" charset="-122"/>
              </a:rPr>
              <a:t>结构冒险</a:t>
            </a:r>
          </a:p>
        </p:txBody>
      </p:sp>
      <p:sp>
        <p:nvSpPr>
          <p:cNvPr id="113" name="圆角矩形 41">
            <a:extLst>
              <a:ext uri="{FF2B5EF4-FFF2-40B4-BE49-F238E27FC236}">
                <a16:creationId xmlns:a16="http://schemas.microsoft.com/office/drawing/2014/main" id="{F5BAB15E-4EAA-0D47-96AA-347BF3551376}"/>
              </a:ext>
            </a:extLst>
          </p:cNvPr>
          <p:cNvSpPr/>
          <p:nvPr/>
        </p:nvSpPr>
        <p:spPr>
          <a:xfrm>
            <a:off x="4694839" y="2508297"/>
            <a:ext cx="599290" cy="436323"/>
          </a:xfrm>
          <a:prstGeom prst="roundRect">
            <a:avLst/>
          </a:prstGeom>
          <a:solidFill>
            <a:schemeClr val="bg1"/>
          </a:solidFill>
          <a:ln w="25400">
            <a:solidFill>
              <a:schemeClr val="bg1">
                <a:lumMod val="6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kumimoji="1" lang="zh-CN" altLang="en-US" sz="1400" b="1" dirty="0">
                <a:solidFill>
                  <a:schemeClr val="bg1">
                    <a:lumMod val="65000"/>
                  </a:schemeClr>
                </a:solidFill>
                <a:latin typeface="SimHei" panose="02010609060101010101" pitchFamily="49" charset="-122"/>
                <a:ea typeface="SimHei" panose="02010609060101010101" pitchFamily="49" charset="-122"/>
              </a:rPr>
              <a:t>来源</a:t>
            </a:r>
          </a:p>
        </p:txBody>
      </p:sp>
      <p:sp>
        <p:nvSpPr>
          <p:cNvPr id="114" name="圆角矩形 41">
            <a:extLst>
              <a:ext uri="{FF2B5EF4-FFF2-40B4-BE49-F238E27FC236}">
                <a16:creationId xmlns:a16="http://schemas.microsoft.com/office/drawing/2014/main" id="{E341BB64-3A7C-434E-9663-3EE9733A9399}"/>
              </a:ext>
            </a:extLst>
          </p:cNvPr>
          <p:cNvSpPr/>
          <p:nvPr/>
        </p:nvSpPr>
        <p:spPr>
          <a:xfrm>
            <a:off x="5438805" y="2508297"/>
            <a:ext cx="1371221" cy="436323"/>
          </a:xfrm>
          <a:prstGeom prst="roundRect">
            <a:avLst/>
          </a:prstGeom>
          <a:solidFill>
            <a:schemeClr val="bg1"/>
          </a:solidFill>
          <a:ln w="25400">
            <a:solidFill>
              <a:schemeClr val="bg1">
                <a:lumMod val="6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kumimoji="1" lang="zh-CN" altLang="en-US" sz="1400" b="1" dirty="0">
                <a:solidFill>
                  <a:schemeClr val="bg1">
                    <a:lumMod val="65000"/>
                  </a:schemeClr>
                </a:solidFill>
                <a:latin typeface="SimHei" panose="02010609060101010101" pitchFamily="49" charset="-122"/>
                <a:ea typeface="SimHei" panose="02010609060101010101" pitchFamily="49" charset="-122"/>
              </a:rPr>
              <a:t>增加硬件资源</a:t>
            </a:r>
          </a:p>
        </p:txBody>
      </p:sp>
      <p:cxnSp>
        <p:nvCxnSpPr>
          <p:cNvPr id="115" name="直线箭头连接符 39">
            <a:extLst>
              <a:ext uri="{FF2B5EF4-FFF2-40B4-BE49-F238E27FC236}">
                <a16:creationId xmlns:a16="http://schemas.microsoft.com/office/drawing/2014/main" id="{4173792F-429F-DB4A-9F5E-7A5B06FD3902}"/>
              </a:ext>
            </a:extLst>
          </p:cNvPr>
          <p:cNvCxnSpPr>
            <a:cxnSpLocks/>
            <a:stCxn id="88" idx="3"/>
            <a:endCxn id="116" idx="1"/>
          </p:cNvCxnSpPr>
          <p:nvPr/>
        </p:nvCxnSpPr>
        <p:spPr>
          <a:xfrm>
            <a:off x="3053228" y="2726569"/>
            <a:ext cx="495277" cy="1074125"/>
          </a:xfrm>
          <a:prstGeom prst="bentConnector3">
            <a:avLst>
              <a:gd name="adj1" fmla="val 50000"/>
            </a:avLst>
          </a:prstGeom>
          <a:ln w="508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6" name="圆角矩形 40">
            <a:extLst>
              <a:ext uri="{FF2B5EF4-FFF2-40B4-BE49-F238E27FC236}">
                <a16:creationId xmlns:a16="http://schemas.microsoft.com/office/drawing/2014/main" id="{FB722DBB-3D6C-B047-932B-FE0D6ADA92FB}"/>
              </a:ext>
            </a:extLst>
          </p:cNvPr>
          <p:cNvSpPr/>
          <p:nvPr/>
        </p:nvSpPr>
        <p:spPr>
          <a:xfrm>
            <a:off x="3548505" y="3582532"/>
            <a:ext cx="1026237" cy="436323"/>
          </a:xfrm>
          <a:prstGeom prst="roundRect">
            <a:avLst/>
          </a:prstGeom>
          <a:solidFill>
            <a:schemeClr val="bg1"/>
          </a:solidFill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kumimoji="1" lang="zh-CN" altLang="en-US" sz="1400" b="1" dirty="0">
                <a:solidFill>
                  <a:schemeClr val="tx1"/>
                </a:solidFill>
                <a:latin typeface="Times New Roman" panose="02020603050405020304" pitchFamily="18" charset="0"/>
                <a:ea typeface="SimHei" panose="02010609060101010101" pitchFamily="49" charset="-122"/>
                <a:cs typeface="Times New Roman" panose="02020603050405020304" pitchFamily="18" charset="0"/>
              </a:rPr>
              <a:t>控制冒险</a:t>
            </a:r>
            <a:endParaRPr kumimoji="1" lang="zh-CN" altLang="en-US" sz="1400" b="1" dirty="0">
              <a:solidFill>
                <a:schemeClr val="tx1"/>
              </a:solidFill>
              <a:latin typeface="SimHei" panose="02010609060101010101" pitchFamily="49" charset="-122"/>
              <a:ea typeface="SimHei" panose="02010609060101010101" pitchFamily="49" charset="-122"/>
            </a:endParaRPr>
          </a:p>
        </p:txBody>
      </p:sp>
      <p:sp>
        <p:nvSpPr>
          <p:cNvPr id="117" name="圆角矩形 41">
            <a:extLst>
              <a:ext uri="{FF2B5EF4-FFF2-40B4-BE49-F238E27FC236}">
                <a16:creationId xmlns:a16="http://schemas.microsoft.com/office/drawing/2014/main" id="{502F02CF-130E-7747-8CDE-C7D9189E3124}"/>
              </a:ext>
            </a:extLst>
          </p:cNvPr>
          <p:cNvSpPr/>
          <p:nvPr/>
        </p:nvSpPr>
        <p:spPr>
          <a:xfrm>
            <a:off x="4701477" y="3582532"/>
            <a:ext cx="594150" cy="436323"/>
          </a:xfrm>
          <a:prstGeom prst="roundRect">
            <a:avLst/>
          </a:prstGeom>
          <a:solidFill>
            <a:schemeClr val="bg1"/>
          </a:solidFill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kumimoji="1" lang="zh-CN" altLang="en-US" sz="1400" b="1" dirty="0">
                <a:solidFill>
                  <a:schemeClr val="tx1"/>
                </a:solidFill>
                <a:latin typeface="SimHei" panose="02010609060101010101" pitchFamily="49" charset="-122"/>
                <a:ea typeface="SimHei" panose="02010609060101010101" pitchFamily="49" charset="-122"/>
              </a:rPr>
              <a:t>来源</a:t>
            </a:r>
          </a:p>
        </p:txBody>
      </p:sp>
      <p:sp>
        <p:nvSpPr>
          <p:cNvPr id="118" name="圆角矩形 41">
            <a:extLst>
              <a:ext uri="{FF2B5EF4-FFF2-40B4-BE49-F238E27FC236}">
                <a16:creationId xmlns:a16="http://schemas.microsoft.com/office/drawing/2014/main" id="{AAE2C5D3-F42F-A74B-BB7B-B1D47346BD03}"/>
              </a:ext>
            </a:extLst>
          </p:cNvPr>
          <p:cNvSpPr/>
          <p:nvPr/>
        </p:nvSpPr>
        <p:spPr>
          <a:xfrm>
            <a:off x="5441729" y="3582155"/>
            <a:ext cx="972000" cy="436323"/>
          </a:xfrm>
          <a:prstGeom prst="roundRect">
            <a:avLst/>
          </a:prstGeom>
          <a:solidFill>
            <a:schemeClr val="bg1"/>
          </a:solidFill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kumimoji="1" lang="en-US" altLang="zh-CN" sz="1400" b="1" dirty="0">
                <a:solidFill>
                  <a:schemeClr val="tx1"/>
                </a:solidFill>
                <a:latin typeface="Times New Roman" panose="02020603050405020304" pitchFamily="18" charset="0"/>
                <a:ea typeface="SimHei" panose="02010609060101010101" pitchFamily="49" charset="-122"/>
                <a:cs typeface="Times New Roman" panose="02020603050405020304" pitchFamily="18" charset="0"/>
              </a:rPr>
              <a:t>Forward</a:t>
            </a:r>
            <a:endParaRPr kumimoji="1" lang="zh-CN" altLang="en-US" sz="1400" b="1" dirty="0">
              <a:solidFill>
                <a:schemeClr val="tx1"/>
              </a:solidFill>
              <a:latin typeface="SimHei" panose="02010609060101010101" pitchFamily="49" charset="-122"/>
              <a:ea typeface="SimHei" panose="02010609060101010101" pitchFamily="49" charset="-122"/>
            </a:endParaRPr>
          </a:p>
        </p:txBody>
      </p:sp>
      <p:sp>
        <p:nvSpPr>
          <p:cNvPr id="64" name="圆角矩形 82">
            <a:extLst>
              <a:ext uri="{FF2B5EF4-FFF2-40B4-BE49-F238E27FC236}">
                <a16:creationId xmlns:a16="http://schemas.microsoft.com/office/drawing/2014/main" id="{D0CC9ED5-2714-60DE-26BA-CF0A7ACDCAE8}"/>
              </a:ext>
            </a:extLst>
          </p:cNvPr>
          <p:cNvSpPr/>
          <p:nvPr/>
        </p:nvSpPr>
        <p:spPr>
          <a:xfrm>
            <a:off x="6198174" y="1860481"/>
            <a:ext cx="1156498" cy="436323"/>
          </a:xfrm>
          <a:prstGeom prst="roundRect">
            <a:avLst/>
          </a:prstGeom>
          <a:solidFill>
            <a:schemeClr val="bg1"/>
          </a:solidFill>
          <a:ln w="25400">
            <a:solidFill>
              <a:schemeClr val="bg1">
                <a:lumMod val="6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kumimoji="1" lang="zh-CN" altLang="en-US" sz="1400" b="1" dirty="0">
                <a:solidFill>
                  <a:schemeClr val="bg1">
                    <a:lumMod val="65000"/>
                  </a:schemeClr>
                </a:solidFill>
                <a:latin typeface="SimHei" panose="02010609060101010101" pitchFamily="49" charset="-122"/>
                <a:ea typeface="SimHei" panose="02010609060101010101" pitchFamily="49" charset="-122"/>
              </a:rPr>
              <a:t>级间寄存器</a:t>
            </a:r>
          </a:p>
        </p:txBody>
      </p:sp>
      <p:sp>
        <p:nvSpPr>
          <p:cNvPr id="65" name="圆角矩形 82">
            <a:extLst>
              <a:ext uri="{FF2B5EF4-FFF2-40B4-BE49-F238E27FC236}">
                <a16:creationId xmlns:a16="http://schemas.microsoft.com/office/drawing/2014/main" id="{D0B51225-5F8C-4A29-0502-3BA4476B86A6}"/>
              </a:ext>
            </a:extLst>
          </p:cNvPr>
          <p:cNvSpPr/>
          <p:nvPr/>
        </p:nvSpPr>
        <p:spPr>
          <a:xfrm>
            <a:off x="7483755" y="1858795"/>
            <a:ext cx="972000" cy="436323"/>
          </a:xfrm>
          <a:prstGeom prst="roundRect">
            <a:avLst/>
          </a:prstGeom>
          <a:solidFill>
            <a:schemeClr val="bg1"/>
          </a:solidFill>
          <a:ln w="25400">
            <a:solidFill>
              <a:schemeClr val="bg1">
                <a:lumMod val="6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kumimoji="1" lang="zh-CN" altLang="en-US" sz="1400" b="1" dirty="0">
                <a:solidFill>
                  <a:schemeClr val="bg1">
                    <a:lumMod val="65000"/>
                  </a:schemeClr>
                </a:solidFill>
                <a:latin typeface="SimHei" panose="02010609060101010101" pitchFamily="49" charset="-122"/>
                <a:ea typeface="SimHei" panose="02010609060101010101" pitchFamily="49" charset="-122"/>
              </a:rPr>
              <a:t>控制信号</a:t>
            </a:r>
          </a:p>
        </p:txBody>
      </p:sp>
      <p:sp>
        <p:nvSpPr>
          <p:cNvPr id="66" name="圆角矩形 41">
            <a:extLst>
              <a:ext uri="{FF2B5EF4-FFF2-40B4-BE49-F238E27FC236}">
                <a16:creationId xmlns:a16="http://schemas.microsoft.com/office/drawing/2014/main" id="{3148C602-811B-6E1D-C2ED-1BBDDBE3B88B}"/>
              </a:ext>
            </a:extLst>
          </p:cNvPr>
          <p:cNvSpPr/>
          <p:nvPr/>
        </p:nvSpPr>
        <p:spPr>
          <a:xfrm>
            <a:off x="5439052" y="3060732"/>
            <a:ext cx="972000" cy="436323"/>
          </a:xfrm>
          <a:prstGeom prst="roundRect">
            <a:avLst/>
          </a:prstGeom>
          <a:solidFill>
            <a:schemeClr val="bg1"/>
          </a:solidFill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kumimoji="1" lang="en-US" altLang="zh-CN" sz="1400" b="1" dirty="0">
                <a:solidFill>
                  <a:schemeClr val="tx1"/>
                </a:solidFill>
                <a:latin typeface="Times New Roman" panose="02020603050405020304" pitchFamily="18" charset="0"/>
                <a:ea typeface="SimHei" panose="02010609060101010101" pitchFamily="49" charset="-122"/>
                <a:cs typeface="Times New Roman" panose="02020603050405020304" pitchFamily="18" charset="0"/>
              </a:rPr>
              <a:t>Forward</a:t>
            </a:r>
            <a:endParaRPr kumimoji="1" lang="zh-CN" altLang="en-US" sz="1400" b="1" dirty="0">
              <a:solidFill>
                <a:schemeClr val="tx1"/>
              </a:solidFill>
              <a:latin typeface="SimHei" panose="02010609060101010101" pitchFamily="49" charset="-122"/>
              <a:ea typeface="SimHei" panose="02010609060101010101" pitchFamily="49" charset="-122"/>
            </a:endParaRPr>
          </a:p>
        </p:txBody>
      </p:sp>
      <p:sp>
        <p:nvSpPr>
          <p:cNvPr id="67" name="圆角矩形 41">
            <a:extLst>
              <a:ext uri="{FF2B5EF4-FFF2-40B4-BE49-F238E27FC236}">
                <a16:creationId xmlns:a16="http://schemas.microsoft.com/office/drawing/2014/main" id="{E458330A-B1A4-57CD-4DC5-9B315A7707CA}"/>
              </a:ext>
            </a:extLst>
          </p:cNvPr>
          <p:cNvSpPr/>
          <p:nvPr/>
        </p:nvSpPr>
        <p:spPr>
          <a:xfrm>
            <a:off x="6539023" y="3051404"/>
            <a:ext cx="655980" cy="436323"/>
          </a:xfrm>
          <a:prstGeom prst="roundRect">
            <a:avLst/>
          </a:prstGeom>
          <a:solidFill>
            <a:schemeClr val="bg1"/>
          </a:solidFill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kumimoji="1" lang="en-US" altLang="zh-CN" sz="1400" b="1" dirty="0">
                <a:solidFill>
                  <a:schemeClr val="tx1"/>
                </a:solidFill>
                <a:latin typeface="Times New Roman" panose="02020603050405020304" pitchFamily="18" charset="0"/>
                <a:ea typeface="SimHei" panose="02010609060101010101" pitchFamily="49" charset="-122"/>
                <a:cs typeface="Times New Roman" panose="02020603050405020304" pitchFamily="18" charset="0"/>
              </a:rPr>
              <a:t>Stall</a:t>
            </a:r>
            <a:endParaRPr kumimoji="1" lang="zh-CN" altLang="en-US" sz="1400" b="1" dirty="0">
              <a:solidFill>
                <a:schemeClr val="tx1"/>
              </a:solidFill>
              <a:latin typeface="SimHei" panose="02010609060101010101" pitchFamily="49" charset="-122"/>
              <a:ea typeface="SimHei" panose="02010609060101010101" pitchFamily="49" charset="-122"/>
            </a:endParaRPr>
          </a:p>
        </p:txBody>
      </p:sp>
      <p:sp>
        <p:nvSpPr>
          <p:cNvPr id="68" name="圆角矩形 41">
            <a:extLst>
              <a:ext uri="{FF2B5EF4-FFF2-40B4-BE49-F238E27FC236}">
                <a16:creationId xmlns:a16="http://schemas.microsoft.com/office/drawing/2014/main" id="{5C122375-B135-2D57-CA2C-A4501A62ACDF}"/>
              </a:ext>
            </a:extLst>
          </p:cNvPr>
          <p:cNvSpPr/>
          <p:nvPr/>
        </p:nvSpPr>
        <p:spPr>
          <a:xfrm>
            <a:off x="7319331" y="3051404"/>
            <a:ext cx="972000" cy="436323"/>
          </a:xfrm>
          <a:prstGeom prst="roundRect">
            <a:avLst/>
          </a:prstGeom>
          <a:solidFill>
            <a:schemeClr val="bg1"/>
          </a:solidFill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kumimoji="1" lang="zh-CN" altLang="en-US" sz="1400" b="1" dirty="0">
                <a:solidFill>
                  <a:schemeClr val="tx1"/>
                </a:solidFill>
                <a:latin typeface="Times New Roman" panose="02020603050405020304" pitchFamily="18" charset="0"/>
                <a:ea typeface="SimHei" panose="02010609060101010101" pitchFamily="49" charset="-122"/>
                <a:cs typeface="Times New Roman" panose="02020603050405020304" pitchFamily="18" charset="0"/>
              </a:rPr>
              <a:t>编译调度</a:t>
            </a:r>
            <a:endParaRPr kumimoji="1" lang="zh-CN" altLang="en-US" sz="1400" b="1" dirty="0">
              <a:solidFill>
                <a:schemeClr val="tx1"/>
              </a:solidFill>
              <a:latin typeface="SimHei" panose="02010609060101010101" pitchFamily="49" charset="-122"/>
              <a:ea typeface="SimHei" panose="02010609060101010101" pitchFamily="49" charset="-122"/>
            </a:endParaRPr>
          </a:p>
        </p:txBody>
      </p:sp>
      <p:sp>
        <p:nvSpPr>
          <p:cNvPr id="69" name="圆角矩形 41">
            <a:extLst>
              <a:ext uri="{FF2B5EF4-FFF2-40B4-BE49-F238E27FC236}">
                <a16:creationId xmlns:a16="http://schemas.microsoft.com/office/drawing/2014/main" id="{53F141D4-E229-C837-4398-94073CF493AB}"/>
              </a:ext>
            </a:extLst>
          </p:cNvPr>
          <p:cNvSpPr/>
          <p:nvPr/>
        </p:nvSpPr>
        <p:spPr>
          <a:xfrm>
            <a:off x="6532871" y="3582155"/>
            <a:ext cx="655980" cy="436323"/>
          </a:xfrm>
          <a:prstGeom prst="roundRect">
            <a:avLst/>
          </a:prstGeom>
          <a:solidFill>
            <a:schemeClr val="bg1"/>
          </a:solidFill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kumimoji="1" lang="en-US" altLang="zh-CN" sz="1400" b="1" dirty="0">
                <a:solidFill>
                  <a:schemeClr val="tx1"/>
                </a:solidFill>
                <a:latin typeface="Times New Roman" panose="02020603050405020304" pitchFamily="18" charset="0"/>
                <a:ea typeface="SimHei" panose="02010609060101010101" pitchFamily="49" charset="-122"/>
                <a:cs typeface="Times New Roman" panose="02020603050405020304" pitchFamily="18" charset="0"/>
              </a:rPr>
              <a:t>Stall</a:t>
            </a:r>
            <a:endParaRPr kumimoji="1" lang="zh-CN" altLang="en-US" sz="1400" b="1" dirty="0">
              <a:solidFill>
                <a:schemeClr val="tx1"/>
              </a:solidFill>
              <a:latin typeface="SimHei" panose="02010609060101010101" pitchFamily="49" charset="-122"/>
              <a:ea typeface="SimHei" panose="02010609060101010101" pitchFamily="49" charset="-122"/>
            </a:endParaRPr>
          </a:p>
        </p:txBody>
      </p:sp>
      <p:sp>
        <p:nvSpPr>
          <p:cNvPr id="71" name="圆角矩形 41">
            <a:extLst>
              <a:ext uri="{FF2B5EF4-FFF2-40B4-BE49-F238E27FC236}">
                <a16:creationId xmlns:a16="http://schemas.microsoft.com/office/drawing/2014/main" id="{493B59AF-F707-C78D-3740-17BDC14030F2}"/>
              </a:ext>
            </a:extLst>
          </p:cNvPr>
          <p:cNvSpPr/>
          <p:nvPr/>
        </p:nvSpPr>
        <p:spPr>
          <a:xfrm>
            <a:off x="8130683" y="3582155"/>
            <a:ext cx="655980" cy="436323"/>
          </a:xfrm>
          <a:prstGeom prst="roundRect">
            <a:avLst/>
          </a:prstGeom>
          <a:solidFill>
            <a:schemeClr val="bg1"/>
          </a:solidFill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kumimoji="1" lang="zh-CN" altLang="en-US" sz="1400" b="1" dirty="0">
                <a:solidFill>
                  <a:schemeClr val="tx1"/>
                </a:solidFill>
                <a:latin typeface="Times New Roman" panose="02020603050405020304" pitchFamily="18" charset="0"/>
                <a:ea typeface="SimHei" panose="02010609060101010101" pitchFamily="49" charset="-122"/>
                <a:cs typeface="Times New Roman" panose="02020603050405020304" pitchFamily="18" charset="0"/>
              </a:rPr>
              <a:t>延迟槽</a:t>
            </a:r>
            <a:endParaRPr kumimoji="1" lang="zh-CN" altLang="en-US" sz="1400" b="1" dirty="0">
              <a:solidFill>
                <a:schemeClr val="tx1"/>
              </a:solidFill>
              <a:latin typeface="SimHei" panose="02010609060101010101" pitchFamily="49" charset="-122"/>
              <a:ea typeface="SimHei" panose="02010609060101010101" pitchFamily="49" charset="-122"/>
            </a:endParaRPr>
          </a:p>
        </p:txBody>
      </p:sp>
      <p:sp>
        <p:nvSpPr>
          <p:cNvPr id="119" name="圆角矩形 41">
            <a:extLst>
              <a:ext uri="{FF2B5EF4-FFF2-40B4-BE49-F238E27FC236}">
                <a16:creationId xmlns:a16="http://schemas.microsoft.com/office/drawing/2014/main" id="{10BDC545-4728-9449-A3A8-FDFC7A1FD68D}"/>
              </a:ext>
            </a:extLst>
          </p:cNvPr>
          <p:cNvSpPr/>
          <p:nvPr/>
        </p:nvSpPr>
        <p:spPr>
          <a:xfrm>
            <a:off x="7319331" y="3585364"/>
            <a:ext cx="655980" cy="436323"/>
          </a:xfrm>
          <a:prstGeom prst="roundRect">
            <a:avLst/>
          </a:prstGeom>
          <a:solidFill>
            <a:schemeClr val="bg1"/>
          </a:solidFill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kumimoji="1" lang="zh-CN" altLang="en-US" sz="1400" b="1" dirty="0">
                <a:solidFill>
                  <a:schemeClr val="tx1"/>
                </a:solidFill>
                <a:latin typeface="Times New Roman" panose="02020603050405020304" pitchFamily="18" charset="0"/>
                <a:ea typeface="SimHei" panose="02010609060101010101" pitchFamily="49" charset="-122"/>
                <a:cs typeface="Times New Roman" panose="02020603050405020304" pitchFamily="18" charset="0"/>
              </a:rPr>
              <a:t>分支预测</a:t>
            </a:r>
            <a:endParaRPr kumimoji="1" lang="zh-CN" altLang="en-US" sz="1400" b="1" dirty="0">
              <a:solidFill>
                <a:schemeClr val="tx1"/>
              </a:solidFill>
              <a:latin typeface="SimHei" panose="02010609060101010101" pitchFamily="49" charset="-122"/>
              <a:ea typeface="SimHei" panose="02010609060101010101" pitchFamily="49" charset="-122"/>
            </a:endParaRPr>
          </a:p>
        </p:txBody>
      </p:sp>
      <p:sp>
        <p:nvSpPr>
          <p:cNvPr id="120" name="圆角矩形 41">
            <a:extLst>
              <a:ext uri="{FF2B5EF4-FFF2-40B4-BE49-F238E27FC236}">
                <a16:creationId xmlns:a16="http://schemas.microsoft.com/office/drawing/2014/main" id="{48557F43-8588-31F5-2FEF-442E02745F9D}"/>
              </a:ext>
            </a:extLst>
          </p:cNvPr>
          <p:cNvSpPr/>
          <p:nvPr/>
        </p:nvSpPr>
        <p:spPr>
          <a:xfrm>
            <a:off x="1983541" y="5249329"/>
            <a:ext cx="1898417" cy="436323"/>
          </a:xfrm>
          <a:prstGeom prst="roundRect">
            <a:avLst/>
          </a:prstGeom>
          <a:solidFill>
            <a:schemeClr val="bg1"/>
          </a:solidFill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kumimoji="1" lang="zh-CN" altLang="en-US" sz="1400" b="1" dirty="0">
                <a:solidFill>
                  <a:schemeClr val="tx1"/>
                </a:solidFill>
                <a:latin typeface="Times New Roman" panose="02020603050405020304" pitchFamily="18" charset="0"/>
                <a:ea typeface="SimHei" panose="02010609060101010101" pitchFamily="49" charset="-122"/>
                <a:cs typeface="Times New Roman" panose="02020603050405020304" pitchFamily="18" charset="0"/>
              </a:rPr>
              <a:t>数据转发检测与控制</a:t>
            </a:r>
            <a:endParaRPr kumimoji="1" lang="zh-CN" altLang="en-US" sz="1400" b="1" dirty="0">
              <a:solidFill>
                <a:schemeClr val="tx1"/>
              </a:solidFill>
              <a:latin typeface="SimHei" panose="02010609060101010101" pitchFamily="49" charset="-122"/>
              <a:ea typeface="SimHei" panose="02010609060101010101" pitchFamily="49" charset="-122"/>
            </a:endParaRPr>
          </a:p>
        </p:txBody>
      </p:sp>
      <p:sp>
        <p:nvSpPr>
          <p:cNvPr id="121" name="圆角矩形 41">
            <a:extLst>
              <a:ext uri="{FF2B5EF4-FFF2-40B4-BE49-F238E27FC236}">
                <a16:creationId xmlns:a16="http://schemas.microsoft.com/office/drawing/2014/main" id="{D7450312-F8F7-5062-1039-FFE9791D2C80}"/>
              </a:ext>
            </a:extLst>
          </p:cNvPr>
          <p:cNvSpPr/>
          <p:nvPr/>
        </p:nvSpPr>
        <p:spPr>
          <a:xfrm>
            <a:off x="1973228" y="5789249"/>
            <a:ext cx="990374" cy="436323"/>
          </a:xfrm>
          <a:prstGeom prst="roundRect">
            <a:avLst/>
          </a:prstGeom>
          <a:solidFill>
            <a:schemeClr val="bg1"/>
          </a:solidFill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kumimoji="1" lang="zh-CN" altLang="en-US" sz="1400" b="1" dirty="0">
                <a:solidFill>
                  <a:schemeClr val="tx1"/>
                </a:solidFill>
                <a:latin typeface="Times New Roman" panose="02020603050405020304" pitchFamily="18" charset="0"/>
                <a:ea typeface="SimHei" panose="02010609060101010101" pitchFamily="49" charset="-122"/>
                <a:cs typeface="Times New Roman" panose="02020603050405020304" pitchFamily="18" charset="0"/>
              </a:rPr>
              <a:t>阻塞</a:t>
            </a:r>
            <a:endParaRPr kumimoji="1" lang="zh-CN" altLang="en-US" sz="1400" b="1" dirty="0">
              <a:solidFill>
                <a:schemeClr val="tx1"/>
              </a:solidFill>
              <a:latin typeface="SimHei" panose="02010609060101010101" pitchFamily="49" charset="-122"/>
              <a:ea typeface="SimHei" panose="02010609060101010101" pitchFamily="49" charset="-122"/>
            </a:endParaRPr>
          </a:p>
        </p:txBody>
      </p:sp>
      <p:sp>
        <p:nvSpPr>
          <p:cNvPr id="122" name="圆角矩形 41">
            <a:extLst>
              <a:ext uri="{FF2B5EF4-FFF2-40B4-BE49-F238E27FC236}">
                <a16:creationId xmlns:a16="http://schemas.microsoft.com/office/drawing/2014/main" id="{54158172-3726-A56A-214E-C0F9D202C2F4}"/>
              </a:ext>
            </a:extLst>
          </p:cNvPr>
          <p:cNvSpPr/>
          <p:nvPr/>
        </p:nvSpPr>
        <p:spPr>
          <a:xfrm>
            <a:off x="1973228" y="6323454"/>
            <a:ext cx="1493236" cy="436323"/>
          </a:xfrm>
          <a:prstGeom prst="roundRect">
            <a:avLst/>
          </a:prstGeom>
          <a:solidFill>
            <a:schemeClr val="bg1"/>
          </a:solidFill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kumimoji="1" lang="zh-CN" altLang="en-US" sz="1400" b="1" dirty="0">
                <a:solidFill>
                  <a:schemeClr val="tx1"/>
                </a:solidFill>
                <a:latin typeface="Times New Roman" panose="02020603050405020304" pitchFamily="18" charset="0"/>
                <a:ea typeface="SimHei" panose="02010609060101010101" pitchFamily="49" charset="-122"/>
                <a:cs typeface="Times New Roman" panose="02020603050405020304" pitchFamily="18" charset="0"/>
              </a:rPr>
              <a:t>提前分支决定</a:t>
            </a:r>
            <a:endParaRPr kumimoji="1" lang="zh-CN" altLang="en-US" sz="1400" b="1" dirty="0">
              <a:solidFill>
                <a:schemeClr val="tx1"/>
              </a:solidFill>
              <a:latin typeface="SimHei" panose="02010609060101010101" pitchFamily="49" charset="-122"/>
              <a:ea typeface="SimHei" panose="02010609060101010101" pitchFamily="49" charset="-122"/>
            </a:endParaRPr>
          </a:p>
        </p:txBody>
      </p:sp>
      <p:sp>
        <p:nvSpPr>
          <p:cNvPr id="123" name="圆角矩形 41">
            <a:extLst>
              <a:ext uri="{FF2B5EF4-FFF2-40B4-BE49-F238E27FC236}">
                <a16:creationId xmlns:a16="http://schemas.microsoft.com/office/drawing/2014/main" id="{9F625CF7-71F0-9D73-E2A2-1AFF677064FA}"/>
              </a:ext>
            </a:extLst>
          </p:cNvPr>
          <p:cNvSpPr/>
          <p:nvPr/>
        </p:nvSpPr>
        <p:spPr>
          <a:xfrm>
            <a:off x="3547927" y="4122452"/>
            <a:ext cx="1026237" cy="436323"/>
          </a:xfrm>
          <a:prstGeom prst="roundRect">
            <a:avLst/>
          </a:prstGeom>
          <a:solidFill>
            <a:schemeClr val="bg1"/>
          </a:solidFill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kumimoji="1" lang="zh-CN" altLang="en-US" sz="1400" b="1" dirty="0">
                <a:solidFill>
                  <a:schemeClr val="tx1"/>
                </a:solidFill>
                <a:latin typeface="Times New Roman" panose="02020603050405020304" pitchFamily="18" charset="0"/>
                <a:ea typeface="SimHei" panose="02010609060101010101" pitchFamily="49" charset="-122"/>
                <a:cs typeface="Times New Roman" panose="02020603050405020304" pitchFamily="18" charset="0"/>
              </a:rPr>
              <a:t>异常</a:t>
            </a:r>
            <a:endParaRPr kumimoji="1" lang="zh-CN" altLang="en-US" sz="1400" b="1" dirty="0">
              <a:solidFill>
                <a:schemeClr val="tx1"/>
              </a:solidFill>
              <a:latin typeface="SimHei" panose="02010609060101010101" pitchFamily="49" charset="-122"/>
              <a:ea typeface="SimHei" panose="02010609060101010101" pitchFamily="49" charset="-122"/>
            </a:endParaRPr>
          </a:p>
        </p:txBody>
      </p:sp>
      <p:sp>
        <p:nvSpPr>
          <p:cNvPr id="124" name="圆角矩形 41">
            <a:extLst>
              <a:ext uri="{FF2B5EF4-FFF2-40B4-BE49-F238E27FC236}">
                <a16:creationId xmlns:a16="http://schemas.microsoft.com/office/drawing/2014/main" id="{1DB91805-5E47-38BE-5D1B-657935EA0433}"/>
              </a:ext>
            </a:extLst>
          </p:cNvPr>
          <p:cNvSpPr/>
          <p:nvPr/>
        </p:nvSpPr>
        <p:spPr>
          <a:xfrm>
            <a:off x="4694838" y="4119877"/>
            <a:ext cx="1040642" cy="436323"/>
          </a:xfrm>
          <a:prstGeom prst="roundRect">
            <a:avLst/>
          </a:prstGeom>
          <a:solidFill>
            <a:schemeClr val="bg1"/>
          </a:solidFill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kumimoji="1" lang="zh-CN" altLang="en-US" sz="1400" b="1" dirty="0">
                <a:solidFill>
                  <a:schemeClr val="tx1"/>
                </a:solidFill>
                <a:latin typeface="Times New Roman" panose="02020603050405020304" pitchFamily="18" charset="0"/>
                <a:ea typeface="SimHei" panose="02010609060101010101" pitchFamily="49" charset="-122"/>
                <a:cs typeface="Times New Roman" panose="02020603050405020304" pitchFamily="18" charset="0"/>
              </a:rPr>
              <a:t>中断</a:t>
            </a:r>
            <a:endParaRPr kumimoji="1" lang="en-US" altLang="zh-CN" sz="1400" b="1" dirty="0">
              <a:solidFill>
                <a:schemeClr val="tx1"/>
              </a:solidFill>
              <a:latin typeface="Times New Roman" panose="02020603050405020304" pitchFamily="18" charset="0"/>
              <a:ea typeface="SimHei" panose="02010609060101010101" pitchFamily="49" charset="-122"/>
              <a:cs typeface="Times New Roman" panose="02020603050405020304" pitchFamily="18" charset="0"/>
            </a:endParaRPr>
          </a:p>
        </p:txBody>
      </p:sp>
      <p:cxnSp>
        <p:nvCxnSpPr>
          <p:cNvPr id="51" name="肘形连接符 71">
            <a:extLst>
              <a:ext uri="{FF2B5EF4-FFF2-40B4-BE49-F238E27FC236}">
                <a16:creationId xmlns:a16="http://schemas.microsoft.com/office/drawing/2014/main" id="{F0C10E8E-5A6A-5E02-303D-1794C6459540}"/>
              </a:ext>
            </a:extLst>
          </p:cNvPr>
          <p:cNvCxnSpPr>
            <a:cxnSpLocks/>
            <a:stCxn id="90" idx="3"/>
            <a:endCxn id="88" idx="1"/>
          </p:cNvCxnSpPr>
          <p:nvPr/>
        </p:nvCxnSpPr>
        <p:spPr>
          <a:xfrm>
            <a:off x="1398896" y="2076956"/>
            <a:ext cx="574332" cy="649613"/>
          </a:xfrm>
          <a:prstGeom prst="bentConnector3">
            <a:avLst>
              <a:gd name="adj1" fmla="val 50000"/>
            </a:avLst>
          </a:prstGeom>
          <a:ln w="508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5" name="直线箭头连接符 39">
            <a:extLst>
              <a:ext uri="{FF2B5EF4-FFF2-40B4-BE49-F238E27FC236}">
                <a16:creationId xmlns:a16="http://schemas.microsoft.com/office/drawing/2014/main" id="{FAF0FD3C-7156-9151-F275-4A21F39F00C4}"/>
              </a:ext>
            </a:extLst>
          </p:cNvPr>
          <p:cNvCxnSpPr>
            <a:cxnSpLocks/>
            <a:stCxn id="88" idx="3"/>
            <a:endCxn id="123" idx="1"/>
          </p:cNvCxnSpPr>
          <p:nvPr/>
        </p:nvCxnSpPr>
        <p:spPr>
          <a:xfrm>
            <a:off x="3053228" y="2726569"/>
            <a:ext cx="494699" cy="1614045"/>
          </a:xfrm>
          <a:prstGeom prst="bentConnector3">
            <a:avLst>
              <a:gd name="adj1" fmla="val 50000"/>
            </a:avLst>
          </a:prstGeom>
          <a:ln w="508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1" name="肘形连接符 85">
            <a:extLst>
              <a:ext uri="{FF2B5EF4-FFF2-40B4-BE49-F238E27FC236}">
                <a16:creationId xmlns:a16="http://schemas.microsoft.com/office/drawing/2014/main" id="{DDE6FD8F-C73D-9C86-AB5F-A9AD5E5BFC71}"/>
              </a:ext>
            </a:extLst>
          </p:cNvPr>
          <p:cNvCxnSpPr>
            <a:cxnSpLocks/>
            <a:stCxn id="57" idx="3"/>
            <a:endCxn id="121" idx="1"/>
          </p:cNvCxnSpPr>
          <p:nvPr/>
        </p:nvCxnSpPr>
        <p:spPr>
          <a:xfrm>
            <a:off x="1398896" y="5735295"/>
            <a:ext cx="574332" cy="272116"/>
          </a:xfrm>
          <a:prstGeom prst="bentConnector3">
            <a:avLst>
              <a:gd name="adj1" fmla="val 50000"/>
            </a:avLst>
          </a:prstGeom>
          <a:ln w="508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3" name="肘形连接符 85">
            <a:extLst>
              <a:ext uri="{FF2B5EF4-FFF2-40B4-BE49-F238E27FC236}">
                <a16:creationId xmlns:a16="http://schemas.microsoft.com/office/drawing/2014/main" id="{7981FBD2-BF9F-5CB5-7264-E77A61585E5D}"/>
              </a:ext>
            </a:extLst>
          </p:cNvPr>
          <p:cNvCxnSpPr>
            <a:cxnSpLocks/>
            <a:stCxn id="57" idx="3"/>
            <a:endCxn id="122" idx="1"/>
          </p:cNvCxnSpPr>
          <p:nvPr/>
        </p:nvCxnSpPr>
        <p:spPr>
          <a:xfrm>
            <a:off x="1398896" y="5735295"/>
            <a:ext cx="574332" cy="806321"/>
          </a:xfrm>
          <a:prstGeom prst="bentConnector3">
            <a:avLst>
              <a:gd name="adj1" fmla="val 50000"/>
            </a:avLst>
          </a:prstGeom>
          <a:ln w="508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4" name="矩形: 圆角 93">
            <a:extLst>
              <a:ext uri="{FF2B5EF4-FFF2-40B4-BE49-F238E27FC236}">
                <a16:creationId xmlns:a16="http://schemas.microsoft.com/office/drawing/2014/main" id="{0913FB02-7E71-4529-17BE-549D5B12BD13}"/>
              </a:ext>
            </a:extLst>
          </p:cNvPr>
          <p:cNvSpPr/>
          <p:nvPr/>
        </p:nvSpPr>
        <p:spPr>
          <a:xfrm>
            <a:off x="1753772" y="2989518"/>
            <a:ext cx="7148928" cy="1083288"/>
          </a:xfrm>
          <a:prstGeom prst="roundRect">
            <a:avLst>
              <a:gd name="adj" fmla="val 7907"/>
            </a:avLst>
          </a:prstGeom>
          <a:noFill/>
          <a:ln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" name="圆角矩形 56">
            <a:extLst>
              <a:ext uri="{FF2B5EF4-FFF2-40B4-BE49-F238E27FC236}">
                <a16:creationId xmlns:a16="http://schemas.microsoft.com/office/drawing/2014/main" id="{12EB39CA-5893-3B6B-42C0-DB1292ED93BB}"/>
              </a:ext>
            </a:extLst>
          </p:cNvPr>
          <p:cNvSpPr/>
          <p:nvPr/>
        </p:nvSpPr>
        <p:spPr>
          <a:xfrm>
            <a:off x="4088784" y="5250600"/>
            <a:ext cx="1344481" cy="889702"/>
          </a:xfrm>
          <a:prstGeom prst="roundRect">
            <a:avLst/>
          </a:prstGeom>
          <a:solidFill>
            <a:schemeClr val="bg1"/>
          </a:solidFill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kumimoji="1" lang="zh-CN" altLang="en-US" sz="1600" b="1" dirty="0">
                <a:solidFill>
                  <a:schemeClr val="tx1"/>
                </a:solidFill>
                <a:latin typeface="SimHei" panose="02010609060101010101" pitchFamily="49" charset="-122"/>
                <a:ea typeface="SimHei" panose="02010609060101010101" pitchFamily="49" charset="-122"/>
              </a:rPr>
              <a:t>拓展：进一步提升处理器性能</a:t>
            </a:r>
          </a:p>
        </p:txBody>
      </p:sp>
      <p:cxnSp>
        <p:nvCxnSpPr>
          <p:cNvPr id="4" name="肘形连接符 83">
            <a:extLst>
              <a:ext uri="{FF2B5EF4-FFF2-40B4-BE49-F238E27FC236}">
                <a16:creationId xmlns:a16="http://schemas.microsoft.com/office/drawing/2014/main" id="{B85CBC62-39B2-1FE0-AF15-94C9B50AB779}"/>
              </a:ext>
            </a:extLst>
          </p:cNvPr>
          <p:cNvCxnSpPr>
            <a:cxnSpLocks/>
            <a:stCxn id="3" idx="3"/>
            <a:endCxn id="6" idx="1"/>
          </p:cNvCxnSpPr>
          <p:nvPr/>
        </p:nvCxnSpPr>
        <p:spPr>
          <a:xfrm flipV="1">
            <a:off x="5433265" y="5163375"/>
            <a:ext cx="564250" cy="532076"/>
          </a:xfrm>
          <a:prstGeom prst="bentConnector3">
            <a:avLst>
              <a:gd name="adj1" fmla="val 50000"/>
            </a:avLst>
          </a:prstGeom>
          <a:ln w="508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" name="直线箭头连接符 86">
            <a:extLst>
              <a:ext uri="{FF2B5EF4-FFF2-40B4-BE49-F238E27FC236}">
                <a16:creationId xmlns:a16="http://schemas.microsoft.com/office/drawing/2014/main" id="{A1D1947A-7D4F-0DC7-BF27-7D44EB3479DC}"/>
              </a:ext>
            </a:extLst>
          </p:cNvPr>
          <p:cNvCxnSpPr>
            <a:cxnSpLocks/>
            <a:stCxn id="3" idx="3"/>
            <a:endCxn id="8" idx="1"/>
          </p:cNvCxnSpPr>
          <p:nvPr/>
        </p:nvCxnSpPr>
        <p:spPr>
          <a:xfrm>
            <a:off x="5433265" y="5695451"/>
            <a:ext cx="564249" cy="1"/>
          </a:xfrm>
          <a:prstGeom prst="bentConnector3">
            <a:avLst>
              <a:gd name="adj1" fmla="val 50000"/>
            </a:avLst>
          </a:prstGeom>
          <a:ln w="508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圆角矩形 40">
            <a:extLst>
              <a:ext uri="{FF2B5EF4-FFF2-40B4-BE49-F238E27FC236}">
                <a16:creationId xmlns:a16="http://schemas.microsoft.com/office/drawing/2014/main" id="{A9D98BD0-6F94-9474-6D47-904AA4FF133D}"/>
              </a:ext>
            </a:extLst>
          </p:cNvPr>
          <p:cNvSpPr/>
          <p:nvPr/>
        </p:nvSpPr>
        <p:spPr>
          <a:xfrm>
            <a:off x="5997515" y="4945213"/>
            <a:ext cx="824058" cy="436323"/>
          </a:xfrm>
          <a:prstGeom prst="roundRect">
            <a:avLst/>
          </a:prstGeom>
          <a:solidFill>
            <a:schemeClr val="bg1"/>
          </a:solidFill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kumimoji="1" lang="zh-CN" altLang="en-US" sz="1400" b="1" dirty="0">
                <a:solidFill>
                  <a:schemeClr val="tx1"/>
                </a:solidFill>
                <a:latin typeface="Times New Roman" panose="02020603050405020304" pitchFamily="18" charset="0"/>
                <a:ea typeface="SimHei" panose="02010609060101010101" pitchFamily="49" charset="-122"/>
                <a:cs typeface="Times New Roman" panose="02020603050405020304" pitchFamily="18" charset="0"/>
              </a:rPr>
              <a:t>指令级</a:t>
            </a:r>
            <a:endParaRPr kumimoji="1" lang="en-US" altLang="zh-CN" sz="1400" b="1" dirty="0">
              <a:solidFill>
                <a:schemeClr val="tx1"/>
              </a:solidFill>
              <a:latin typeface="Times New Roman" panose="02020603050405020304" pitchFamily="18" charset="0"/>
              <a:ea typeface="SimHei" panose="02010609060101010101" pitchFamily="49" charset="-122"/>
              <a:cs typeface="Times New Roman" panose="02020603050405020304" pitchFamily="18" charset="0"/>
            </a:endParaRPr>
          </a:p>
          <a:p>
            <a:pPr algn="ctr"/>
            <a:r>
              <a:rPr kumimoji="1" lang="zh-CN" altLang="en-US" sz="1400" b="1" dirty="0">
                <a:solidFill>
                  <a:schemeClr val="tx1"/>
                </a:solidFill>
                <a:latin typeface="Times New Roman" panose="02020603050405020304" pitchFamily="18" charset="0"/>
                <a:ea typeface="SimHei" panose="02010609060101010101" pitchFamily="49" charset="-122"/>
                <a:cs typeface="Times New Roman" panose="02020603050405020304" pitchFamily="18" charset="0"/>
              </a:rPr>
              <a:t>并行</a:t>
            </a:r>
            <a:endParaRPr kumimoji="1" lang="zh-CN" altLang="en-US" sz="1400" b="1" dirty="0">
              <a:solidFill>
                <a:schemeClr val="tx1"/>
              </a:solidFill>
              <a:latin typeface="SimHei" panose="02010609060101010101" pitchFamily="49" charset="-122"/>
              <a:ea typeface="SimHei" panose="02010609060101010101" pitchFamily="49" charset="-122"/>
            </a:endParaRPr>
          </a:p>
        </p:txBody>
      </p:sp>
      <p:sp>
        <p:nvSpPr>
          <p:cNvPr id="7" name="圆角矩形 41">
            <a:extLst>
              <a:ext uri="{FF2B5EF4-FFF2-40B4-BE49-F238E27FC236}">
                <a16:creationId xmlns:a16="http://schemas.microsoft.com/office/drawing/2014/main" id="{F079094F-D3A8-E0FE-428B-22BFDE037E93}"/>
              </a:ext>
            </a:extLst>
          </p:cNvPr>
          <p:cNvSpPr/>
          <p:nvPr/>
        </p:nvSpPr>
        <p:spPr>
          <a:xfrm>
            <a:off x="6962375" y="4945213"/>
            <a:ext cx="824057" cy="436323"/>
          </a:xfrm>
          <a:prstGeom prst="roundRect">
            <a:avLst/>
          </a:prstGeom>
          <a:solidFill>
            <a:schemeClr val="bg1"/>
          </a:solidFill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kumimoji="1" lang="zh-CN" altLang="en-US" sz="1400" b="1" dirty="0">
                <a:solidFill>
                  <a:schemeClr val="tx1"/>
                </a:solidFill>
                <a:latin typeface="Times New Roman" panose="02020603050405020304" pitchFamily="18" charset="0"/>
                <a:ea typeface="SimHei" panose="02010609060101010101" pitchFamily="49" charset="-122"/>
                <a:cs typeface="Times New Roman" panose="02020603050405020304" pitchFamily="18" charset="0"/>
              </a:rPr>
              <a:t>超标量</a:t>
            </a:r>
            <a:endParaRPr kumimoji="1" lang="zh-CN" altLang="en-US" sz="1400" b="1" dirty="0">
              <a:solidFill>
                <a:schemeClr val="tx1"/>
              </a:solidFill>
              <a:latin typeface="SimHei" panose="02010609060101010101" pitchFamily="49" charset="-122"/>
              <a:ea typeface="SimHei" panose="02010609060101010101" pitchFamily="49" charset="-122"/>
            </a:endParaRPr>
          </a:p>
        </p:txBody>
      </p:sp>
      <p:sp>
        <p:nvSpPr>
          <p:cNvPr id="8" name="圆角矩形 41">
            <a:extLst>
              <a:ext uri="{FF2B5EF4-FFF2-40B4-BE49-F238E27FC236}">
                <a16:creationId xmlns:a16="http://schemas.microsoft.com/office/drawing/2014/main" id="{9386B272-6CD0-EB69-59EB-FE89622077D3}"/>
              </a:ext>
            </a:extLst>
          </p:cNvPr>
          <p:cNvSpPr/>
          <p:nvPr/>
        </p:nvSpPr>
        <p:spPr>
          <a:xfrm>
            <a:off x="5997514" y="5477290"/>
            <a:ext cx="812512" cy="436323"/>
          </a:xfrm>
          <a:prstGeom prst="roundRect">
            <a:avLst/>
          </a:prstGeom>
          <a:solidFill>
            <a:schemeClr val="bg1"/>
          </a:solidFill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kumimoji="1" lang="zh-CN" altLang="en-US" sz="1400" b="1" dirty="0">
                <a:solidFill>
                  <a:schemeClr val="tx1"/>
                </a:solidFill>
                <a:latin typeface="Times New Roman" panose="02020603050405020304" pitchFamily="18" charset="0"/>
                <a:ea typeface="SimHei" panose="02010609060101010101" pitchFamily="49" charset="-122"/>
                <a:cs typeface="Times New Roman" panose="02020603050405020304" pitchFamily="18" charset="0"/>
              </a:rPr>
              <a:t>线程级</a:t>
            </a:r>
            <a:endParaRPr kumimoji="1" lang="en-US" altLang="zh-CN" sz="1400" b="1" dirty="0">
              <a:solidFill>
                <a:schemeClr val="tx1"/>
              </a:solidFill>
              <a:latin typeface="Times New Roman" panose="02020603050405020304" pitchFamily="18" charset="0"/>
              <a:ea typeface="SimHei" panose="02010609060101010101" pitchFamily="49" charset="-122"/>
              <a:cs typeface="Times New Roman" panose="02020603050405020304" pitchFamily="18" charset="0"/>
            </a:endParaRPr>
          </a:p>
          <a:p>
            <a:pPr algn="ctr"/>
            <a:r>
              <a:rPr kumimoji="1" lang="zh-CN" altLang="en-US" sz="1400" b="1" dirty="0">
                <a:solidFill>
                  <a:schemeClr val="tx1"/>
                </a:solidFill>
                <a:latin typeface="Times New Roman" panose="02020603050405020304" pitchFamily="18" charset="0"/>
                <a:ea typeface="SimHei" panose="02010609060101010101" pitchFamily="49" charset="-122"/>
                <a:cs typeface="Times New Roman" panose="02020603050405020304" pitchFamily="18" charset="0"/>
              </a:rPr>
              <a:t>并行</a:t>
            </a:r>
            <a:endParaRPr kumimoji="1" lang="zh-CN" altLang="en-US" sz="1400" b="1" dirty="0">
              <a:solidFill>
                <a:schemeClr val="tx1"/>
              </a:solidFill>
              <a:latin typeface="SimHei" panose="02010609060101010101" pitchFamily="49" charset="-122"/>
              <a:ea typeface="SimHei" panose="02010609060101010101" pitchFamily="49" charset="-122"/>
            </a:endParaRPr>
          </a:p>
        </p:txBody>
      </p:sp>
      <p:sp>
        <p:nvSpPr>
          <p:cNvPr id="9" name="圆角矩形 41">
            <a:extLst>
              <a:ext uri="{FF2B5EF4-FFF2-40B4-BE49-F238E27FC236}">
                <a16:creationId xmlns:a16="http://schemas.microsoft.com/office/drawing/2014/main" id="{2518875C-3D04-4E31-3702-16D7AB656D4F}"/>
              </a:ext>
            </a:extLst>
          </p:cNvPr>
          <p:cNvSpPr/>
          <p:nvPr/>
        </p:nvSpPr>
        <p:spPr>
          <a:xfrm>
            <a:off x="5987202" y="6009366"/>
            <a:ext cx="812512" cy="436323"/>
          </a:xfrm>
          <a:prstGeom prst="roundRect">
            <a:avLst/>
          </a:prstGeom>
          <a:solidFill>
            <a:schemeClr val="bg1"/>
          </a:solidFill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kumimoji="1" lang="zh-CN" altLang="en-US" sz="1400" b="1" dirty="0">
                <a:solidFill>
                  <a:schemeClr val="tx1"/>
                </a:solidFill>
                <a:latin typeface="Times New Roman" panose="02020603050405020304" pitchFamily="18" charset="0"/>
                <a:ea typeface="SimHei" panose="02010609060101010101" pitchFamily="49" charset="-122"/>
                <a:cs typeface="Times New Roman" panose="02020603050405020304" pitchFamily="18" charset="0"/>
              </a:rPr>
              <a:t>异构</a:t>
            </a:r>
            <a:endParaRPr kumimoji="1" lang="en-US" altLang="zh-CN" sz="1400" b="1" dirty="0">
              <a:solidFill>
                <a:schemeClr val="tx1"/>
              </a:solidFill>
              <a:latin typeface="Times New Roman" panose="02020603050405020304" pitchFamily="18" charset="0"/>
              <a:ea typeface="SimHei" panose="02010609060101010101" pitchFamily="49" charset="-122"/>
              <a:cs typeface="Times New Roman" panose="02020603050405020304" pitchFamily="18" charset="0"/>
            </a:endParaRPr>
          </a:p>
          <a:p>
            <a:pPr algn="ctr"/>
            <a:r>
              <a:rPr kumimoji="1" lang="zh-CN" altLang="en-US" sz="1400" b="1" dirty="0">
                <a:solidFill>
                  <a:schemeClr val="tx1"/>
                </a:solidFill>
                <a:latin typeface="Times New Roman" panose="02020603050405020304" pitchFamily="18" charset="0"/>
                <a:ea typeface="SimHei" panose="02010609060101010101" pitchFamily="49" charset="-122"/>
                <a:cs typeface="Times New Roman" panose="02020603050405020304" pitchFamily="18" charset="0"/>
              </a:rPr>
              <a:t>计算</a:t>
            </a:r>
            <a:endParaRPr kumimoji="1" lang="zh-CN" altLang="en-US" sz="1400" b="1" dirty="0">
              <a:solidFill>
                <a:schemeClr val="tx1"/>
              </a:solidFill>
              <a:latin typeface="SimHei" panose="02010609060101010101" pitchFamily="49" charset="-122"/>
              <a:ea typeface="SimHei" panose="02010609060101010101" pitchFamily="49" charset="-122"/>
            </a:endParaRPr>
          </a:p>
        </p:txBody>
      </p:sp>
      <p:cxnSp>
        <p:nvCxnSpPr>
          <p:cNvPr id="10" name="肘形连接符 85">
            <a:extLst>
              <a:ext uri="{FF2B5EF4-FFF2-40B4-BE49-F238E27FC236}">
                <a16:creationId xmlns:a16="http://schemas.microsoft.com/office/drawing/2014/main" id="{9E8F4E8E-01EC-4003-901A-0F3C5F0651DA}"/>
              </a:ext>
            </a:extLst>
          </p:cNvPr>
          <p:cNvCxnSpPr>
            <a:cxnSpLocks/>
            <a:stCxn id="3" idx="3"/>
            <a:endCxn id="9" idx="1"/>
          </p:cNvCxnSpPr>
          <p:nvPr/>
        </p:nvCxnSpPr>
        <p:spPr>
          <a:xfrm>
            <a:off x="5433265" y="5695451"/>
            <a:ext cx="553937" cy="532077"/>
          </a:xfrm>
          <a:prstGeom prst="bentConnector3">
            <a:avLst>
              <a:gd name="adj1" fmla="val 50000"/>
            </a:avLst>
          </a:prstGeom>
          <a:ln w="508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" name="圆角矩形 41">
            <a:extLst>
              <a:ext uri="{FF2B5EF4-FFF2-40B4-BE49-F238E27FC236}">
                <a16:creationId xmlns:a16="http://schemas.microsoft.com/office/drawing/2014/main" id="{F69F5F59-5D21-B61B-0C6D-5DDEC13184E1}"/>
              </a:ext>
            </a:extLst>
          </p:cNvPr>
          <p:cNvSpPr/>
          <p:nvPr/>
        </p:nvSpPr>
        <p:spPr>
          <a:xfrm>
            <a:off x="7926627" y="4945212"/>
            <a:ext cx="822650" cy="436323"/>
          </a:xfrm>
          <a:prstGeom prst="roundRect">
            <a:avLst/>
          </a:prstGeom>
          <a:solidFill>
            <a:schemeClr val="bg1"/>
          </a:solidFill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kumimoji="1" lang="zh-CN" altLang="en-US" sz="1400" b="1" dirty="0">
                <a:solidFill>
                  <a:schemeClr val="tx1"/>
                </a:solidFill>
                <a:latin typeface="Times New Roman" panose="02020603050405020304" pitchFamily="18" charset="0"/>
                <a:ea typeface="SimHei" panose="02010609060101010101" pitchFamily="49" charset="-122"/>
                <a:cs typeface="Times New Roman" panose="02020603050405020304" pitchFamily="18" charset="0"/>
              </a:rPr>
              <a:t>超长指令字</a:t>
            </a:r>
            <a:endParaRPr kumimoji="1" lang="zh-CN" altLang="en-US" sz="1400" b="1" dirty="0">
              <a:solidFill>
                <a:schemeClr val="tx1"/>
              </a:solidFill>
              <a:latin typeface="SimHei" panose="02010609060101010101" pitchFamily="49" charset="-122"/>
              <a:ea typeface="SimHei" panose="02010609060101010101" pitchFamily="49" charset="-122"/>
            </a:endParaRPr>
          </a:p>
        </p:txBody>
      </p:sp>
      <p:sp>
        <p:nvSpPr>
          <p:cNvPr id="12" name="圆角矩形 41">
            <a:extLst>
              <a:ext uri="{FF2B5EF4-FFF2-40B4-BE49-F238E27FC236}">
                <a16:creationId xmlns:a16="http://schemas.microsoft.com/office/drawing/2014/main" id="{6C0C8474-D83F-4469-88F8-89A14AD79A97}"/>
              </a:ext>
            </a:extLst>
          </p:cNvPr>
          <p:cNvSpPr/>
          <p:nvPr/>
        </p:nvSpPr>
        <p:spPr>
          <a:xfrm>
            <a:off x="6962374" y="5467490"/>
            <a:ext cx="824057" cy="436323"/>
          </a:xfrm>
          <a:prstGeom prst="roundRect">
            <a:avLst/>
          </a:prstGeom>
          <a:solidFill>
            <a:schemeClr val="bg1"/>
          </a:solidFill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kumimoji="1" lang="zh-CN" altLang="en-US" sz="1400" b="1" dirty="0">
                <a:solidFill>
                  <a:schemeClr val="tx1"/>
                </a:solidFill>
                <a:latin typeface="SimHei" panose="02010609060101010101" pitchFamily="49" charset="-122"/>
                <a:ea typeface="SimHei" panose="02010609060101010101" pitchFamily="49" charset="-122"/>
              </a:rPr>
              <a:t>超线程</a:t>
            </a:r>
          </a:p>
        </p:txBody>
      </p:sp>
      <p:sp>
        <p:nvSpPr>
          <p:cNvPr id="13" name="圆角矩形 41">
            <a:extLst>
              <a:ext uri="{FF2B5EF4-FFF2-40B4-BE49-F238E27FC236}">
                <a16:creationId xmlns:a16="http://schemas.microsoft.com/office/drawing/2014/main" id="{3C788B37-BB7A-388B-D236-88BD3E4EB4DE}"/>
              </a:ext>
            </a:extLst>
          </p:cNvPr>
          <p:cNvSpPr/>
          <p:nvPr/>
        </p:nvSpPr>
        <p:spPr>
          <a:xfrm>
            <a:off x="7926627" y="5467489"/>
            <a:ext cx="822650" cy="436323"/>
          </a:xfrm>
          <a:prstGeom prst="roundRect">
            <a:avLst/>
          </a:prstGeom>
          <a:solidFill>
            <a:schemeClr val="bg1"/>
          </a:solidFill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kumimoji="1" lang="zh-CN" altLang="en-US" sz="1400" b="1" dirty="0">
                <a:solidFill>
                  <a:schemeClr val="tx1"/>
                </a:solidFill>
                <a:latin typeface="Times New Roman" panose="02020603050405020304" pitchFamily="18" charset="0"/>
                <a:ea typeface="SimHei" panose="02010609060101010101" pitchFamily="49" charset="-122"/>
                <a:cs typeface="Times New Roman" panose="02020603050405020304" pitchFamily="18" charset="0"/>
              </a:rPr>
              <a:t>多核</a:t>
            </a:r>
            <a:endParaRPr kumimoji="1" lang="zh-CN" altLang="en-US" sz="1400" b="1" dirty="0">
              <a:solidFill>
                <a:schemeClr val="tx1"/>
              </a:solidFill>
              <a:latin typeface="SimHei" panose="02010609060101010101" pitchFamily="49" charset="-122"/>
              <a:ea typeface="SimHei" panose="02010609060101010101" pitchFamily="49" charset="-122"/>
            </a:endParaRPr>
          </a:p>
        </p:txBody>
      </p:sp>
      <p:sp>
        <p:nvSpPr>
          <p:cNvPr id="14" name="圆角矩形 41">
            <a:extLst>
              <a:ext uri="{FF2B5EF4-FFF2-40B4-BE49-F238E27FC236}">
                <a16:creationId xmlns:a16="http://schemas.microsoft.com/office/drawing/2014/main" id="{C1196AB4-99F8-D9B7-F1E3-5E2A3942BB7F}"/>
              </a:ext>
            </a:extLst>
          </p:cNvPr>
          <p:cNvSpPr/>
          <p:nvPr/>
        </p:nvSpPr>
        <p:spPr>
          <a:xfrm>
            <a:off x="6962374" y="6003268"/>
            <a:ext cx="822650" cy="436323"/>
          </a:xfrm>
          <a:prstGeom prst="roundRect">
            <a:avLst/>
          </a:prstGeom>
          <a:solidFill>
            <a:schemeClr val="bg1"/>
          </a:solidFill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kumimoji="1" lang="en-US" altLang="zh-CN" sz="1400" b="1" dirty="0">
                <a:solidFill>
                  <a:schemeClr val="tx1"/>
                </a:solidFill>
                <a:latin typeface="Times New Roman" panose="02020603050405020304" pitchFamily="18" charset="0"/>
                <a:ea typeface="SimHei" panose="02010609060101010101" pitchFamily="49" charset="-122"/>
                <a:cs typeface="Times New Roman" panose="02020603050405020304" pitchFamily="18" charset="0"/>
              </a:rPr>
              <a:t>GPU</a:t>
            </a:r>
            <a:endParaRPr kumimoji="1" lang="zh-CN" altLang="en-US" sz="1400" b="1" dirty="0">
              <a:solidFill>
                <a:schemeClr val="tx1"/>
              </a:solidFill>
              <a:latin typeface="SimHei" panose="02010609060101010101" pitchFamily="49" charset="-122"/>
              <a:ea typeface="SimHei" panose="02010609060101010101" pitchFamily="49" charset="-122"/>
            </a:endParaRPr>
          </a:p>
        </p:txBody>
      </p:sp>
      <p:sp>
        <p:nvSpPr>
          <p:cNvPr id="15" name="圆角矩形 41">
            <a:extLst>
              <a:ext uri="{FF2B5EF4-FFF2-40B4-BE49-F238E27FC236}">
                <a16:creationId xmlns:a16="http://schemas.microsoft.com/office/drawing/2014/main" id="{1A90129E-44E1-D1A8-E123-1B082BD9643F}"/>
              </a:ext>
            </a:extLst>
          </p:cNvPr>
          <p:cNvSpPr/>
          <p:nvPr/>
        </p:nvSpPr>
        <p:spPr>
          <a:xfrm>
            <a:off x="7926627" y="6011308"/>
            <a:ext cx="822650" cy="436323"/>
          </a:xfrm>
          <a:prstGeom prst="roundRect">
            <a:avLst/>
          </a:prstGeom>
          <a:solidFill>
            <a:schemeClr val="bg1"/>
          </a:solidFill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kumimoji="1" lang="en-US" altLang="zh-CN" sz="1400" b="1" dirty="0">
                <a:solidFill>
                  <a:schemeClr val="tx1"/>
                </a:solidFill>
                <a:latin typeface="Times New Roman" panose="02020603050405020304" pitchFamily="18" charset="0"/>
                <a:ea typeface="SimHei" panose="02010609060101010101" pitchFamily="49" charset="-122"/>
                <a:cs typeface="Times New Roman" panose="02020603050405020304" pitchFamily="18" charset="0"/>
              </a:rPr>
              <a:t>XPU</a:t>
            </a:r>
            <a:endParaRPr kumimoji="1" lang="zh-CN" altLang="en-US" sz="1400" b="1" dirty="0">
              <a:solidFill>
                <a:schemeClr val="tx1"/>
              </a:solidFill>
              <a:latin typeface="SimHei" panose="02010609060101010101" pitchFamily="49" charset="-122"/>
              <a:ea typeface="SimHei" panose="02010609060101010101" pitchFamily="49" charset="-122"/>
            </a:endParaRPr>
          </a:p>
        </p:txBody>
      </p:sp>
      <p:sp>
        <p:nvSpPr>
          <p:cNvPr id="16" name="矩形: 圆角 15">
            <a:extLst>
              <a:ext uri="{FF2B5EF4-FFF2-40B4-BE49-F238E27FC236}">
                <a16:creationId xmlns:a16="http://schemas.microsoft.com/office/drawing/2014/main" id="{ED699B7A-1CD8-A914-FA59-C449F6887029}"/>
              </a:ext>
            </a:extLst>
          </p:cNvPr>
          <p:cNvSpPr/>
          <p:nvPr/>
        </p:nvSpPr>
        <p:spPr>
          <a:xfrm>
            <a:off x="148856" y="4650948"/>
            <a:ext cx="3798326" cy="2160000"/>
          </a:xfrm>
          <a:prstGeom prst="roundRect">
            <a:avLst>
              <a:gd name="adj" fmla="val 11416"/>
            </a:avLst>
          </a:prstGeom>
          <a:noFill/>
          <a:ln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511427658"/>
      </p:ext>
    </p:extLst>
  </p:cSld>
  <p:clrMapOvr>
    <a:masterClrMapping/>
  </p:clrMapOvr>
</p:sld>
</file>

<file path=ppt/slides/slide10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>
            <a:extLst>
              <a:ext uri="{FF2B5EF4-FFF2-40B4-BE49-F238E27FC236}">
                <a16:creationId xmlns:a16="http://schemas.microsoft.com/office/drawing/2014/main" id="{ED88C592-1A9F-4A16-82DB-27F16CFC86B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dirty="0"/>
              <a:t>小结</a:t>
            </a:r>
          </a:p>
        </p:txBody>
      </p:sp>
      <p:sp>
        <p:nvSpPr>
          <p:cNvPr id="3" name="内容占位符 2">
            <a:extLst>
              <a:ext uri="{FF2B5EF4-FFF2-40B4-BE49-F238E27FC236}">
                <a16:creationId xmlns:a16="http://schemas.microsoft.com/office/drawing/2014/main" id="{92326F23-35C5-4C7E-AF39-904F2A82E953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r>
              <a:rPr lang="zh-CN" altLang="en-US" dirty="0"/>
              <a:t>流水线的</a:t>
            </a:r>
            <a:r>
              <a:rPr lang="en-US" altLang="zh-CN" dirty="0"/>
              <a:t>RTL</a:t>
            </a:r>
            <a:r>
              <a:rPr lang="zh-CN" altLang="en-US" dirty="0"/>
              <a:t>描述：</a:t>
            </a:r>
            <a:r>
              <a:rPr lang="zh-CN" altLang="en-US" dirty="0">
                <a:solidFill>
                  <a:srgbClr val="3333FF"/>
                </a:solidFill>
              </a:rPr>
              <a:t>尝试自行完成整个表格？</a:t>
            </a:r>
          </a:p>
        </p:txBody>
      </p:sp>
      <p:sp>
        <p:nvSpPr>
          <p:cNvPr id="4" name="灯片编号占位符 3">
            <a:extLst>
              <a:ext uri="{FF2B5EF4-FFF2-40B4-BE49-F238E27FC236}">
                <a16:creationId xmlns:a16="http://schemas.microsoft.com/office/drawing/2014/main" id="{23004992-5BB0-4EBC-B74E-319DC9C9FAA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1806CE5-282B-4233-8654-09F35EA875E2}" type="slidenum">
              <a:rPr lang="zh-CN" altLang="en-US" smtClean="0"/>
              <a:t>103</a:t>
            </a:fld>
            <a:endParaRPr lang="zh-CN" altLang="en-US"/>
          </a:p>
        </p:txBody>
      </p:sp>
      <p:graphicFrame>
        <p:nvGraphicFramePr>
          <p:cNvPr id="5" name="内容占位符 3">
            <a:extLst>
              <a:ext uri="{FF2B5EF4-FFF2-40B4-BE49-F238E27FC236}">
                <a16:creationId xmlns:a16="http://schemas.microsoft.com/office/drawing/2014/main" id="{243ED669-0BD2-4BFC-95CA-8F360692E0F4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1337266639"/>
              </p:ext>
            </p:extLst>
          </p:nvPr>
        </p:nvGraphicFramePr>
        <p:xfrm>
          <a:off x="650287" y="1708642"/>
          <a:ext cx="8335543" cy="4767723"/>
        </p:xfrm>
        <a:graphic>
          <a:graphicData uri="http://schemas.openxmlformats.org/drawingml/2006/table">
            <a:tbl>
              <a:tblPr firstRow="1" bandRow="1">
                <a:tableStyleId>{E8B1032C-EA38-4F05-BA0D-38AFFFC7BED3}</a:tableStyleId>
              </a:tblPr>
              <a:tblGrid>
                <a:gridCol w="1072894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18976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949322">
                  <a:extLst>
                    <a:ext uri="{9D8B030D-6E8A-4147-A177-3AD203B41FA5}">
                      <a16:colId xmlns:a16="http://schemas.microsoft.com/office/drawing/2014/main" val="3308124949"/>
                    </a:ext>
                  </a:extLst>
                </a:gridCol>
                <a:gridCol w="194932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174240">
                  <a:extLst>
                    <a:ext uri="{9D8B030D-6E8A-4147-A177-3AD203B41FA5}">
                      <a16:colId xmlns:a16="http://schemas.microsoft.com/office/drawing/2014/main" val="3941860773"/>
                    </a:ext>
                  </a:extLst>
                </a:gridCol>
              </a:tblGrid>
              <a:tr h="668583">
                <a:tc>
                  <a:txBody>
                    <a:bodyPr/>
                    <a:lstStyle/>
                    <a:p>
                      <a:pPr algn="ctr"/>
                      <a:r>
                        <a:rPr lang="zh-CN" altLang="en-US" sz="2000" dirty="0"/>
                        <a:t>流水线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4C6E7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2000" dirty="0"/>
                        <a:t>R</a:t>
                      </a:r>
                      <a:r>
                        <a:rPr lang="zh-CN" altLang="en-US" sz="2000" dirty="0"/>
                        <a:t>类型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4C6E7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CN" altLang="en-US" sz="2000" dirty="0"/>
                        <a:t>读存储器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4C6E7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CN" altLang="en-US" sz="2000" dirty="0"/>
                        <a:t>写存储器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4C6E7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CN" altLang="en-US" sz="2000" dirty="0"/>
                        <a:t>分支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4C6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80580"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600" dirty="0"/>
                        <a:t>IF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4">
                  <a:txBody>
                    <a:bodyPr/>
                    <a:lstStyle/>
                    <a:p>
                      <a:pPr algn="ctr"/>
                      <a:r>
                        <a:rPr lang="en-US" altLang="zh-CN" sz="1600" dirty="0"/>
                        <a:t>IR</a:t>
                      </a:r>
                      <a:r>
                        <a:rPr lang="en-US" altLang="zh-CN" sz="1600" dirty="0">
                          <a:sym typeface="Symbol"/>
                        </a:rPr>
                        <a:t>&lt;= </a:t>
                      </a:r>
                      <a:r>
                        <a:rPr lang="en-US" altLang="zh-CN" sz="1600" dirty="0" err="1"/>
                        <a:t>MemInst</a:t>
                      </a:r>
                      <a:r>
                        <a:rPr lang="en-US" altLang="zh-CN" sz="1600" dirty="0"/>
                        <a:t>[PC];  PC </a:t>
                      </a:r>
                      <a:r>
                        <a:rPr lang="en-US" altLang="zh-CN" sz="1600" dirty="0">
                          <a:sym typeface="Symbol"/>
                        </a:rPr>
                        <a:t>&lt;= PC + 4</a:t>
                      </a:r>
                      <a:endParaRPr lang="en-US" altLang="zh-CN" sz="1600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zh-CN" altLang="en-US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>
                  <a:txBody>
                    <a:bodyPr/>
                    <a:lstStyle/>
                    <a:p>
                      <a:endParaRPr lang="zh-CN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algn="ctr"/>
                      <a:endParaRPr lang="en-US" altLang="zh-CN" sz="1600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433512">
                <a:tc>
                  <a:txBody>
                    <a:bodyPr/>
                    <a:lstStyle/>
                    <a:p>
                      <a:pPr marL="0" marR="0" lvl="1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CN" sz="1600" dirty="0"/>
                        <a:t>ID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4">
                  <a:txBody>
                    <a:bodyPr/>
                    <a:lstStyle/>
                    <a:p>
                      <a:pPr marL="0" marR="0" lvl="1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CN" sz="1600" dirty="0"/>
                        <a:t>op </a:t>
                      </a:r>
                      <a:r>
                        <a:rPr lang="en-US" altLang="zh-CN" sz="1600" dirty="0">
                          <a:sym typeface="Symbol"/>
                        </a:rPr>
                        <a:t>&lt;= </a:t>
                      </a:r>
                      <a:r>
                        <a:rPr lang="en-US" altLang="zh-CN" sz="1600" dirty="0"/>
                        <a:t>IR[31:26]; A </a:t>
                      </a:r>
                      <a:r>
                        <a:rPr lang="en-US" altLang="zh-CN" sz="1600" dirty="0">
                          <a:sym typeface="Symbol"/>
                        </a:rPr>
                        <a:t>&lt;= </a:t>
                      </a:r>
                      <a:r>
                        <a:rPr lang="en-US" altLang="zh-CN" sz="1600" dirty="0"/>
                        <a:t>Reg[IR[25:21]];  B </a:t>
                      </a:r>
                      <a:r>
                        <a:rPr lang="en-US" altLang="zh-CN" sz="1600" dirty="0">
                          <a:sym typeface="Symbol"/>
                        </a:rPr>
                        <a:t>&lt;= </a:t>
                      </a:r>
                      <a:r>
                        <a:rPr lang="en-US" altLang="zh-CN" sz="1600" dirty="0"/>
                        <a:t>Reg[IR[20:16]]; </a:t>
                      </a:r>
                    </a:p>
                    <a:p>
                      <a:pPr marL="0" marR="0" lvl="1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CN" altLang="en-US" sz="1600" b="1" dirty="0">
                          <a:solidFill>
                            <a:srgbClr val="0070C0"/>
                          </a:solidFill>
                        </a:rPr>
                        <a:t>分支：</a:t>
                      </a:r>
                      <a:r>
                        <a:rPr lang="en-US" altLang="zh-CN" sz="1600" b="1" dirty="0">
                          <a:solidFill>
                            <a:srgbClr val="0070C0"/>
                          </a:solidFill>
                        </a:rPr>
                        <a:t>If(A == B) PC </a:t>
                      </a:r>
                      <a:r>
                        <a:rPr lang="en-US" altLang="zh-CN" sz="1600" b="1" dirty="0">
                          <a:solidFill>
                            <a:srgbClr val="0070C0"/>
                          </a:solidFill>
                          <a:sym typeface="Symbol"/>
                        </a:rPr>
                        <a:t>&lt;= </a:t>
                      </a:r>
                      <a:r>
                        <a:rPr lang="en-US" altLang="zh-CN" sz="1600" b="1" dirty="0">
                          <a:solidFill>
                            <a:srgbClr val="0070C0"/>
                          </a:solidFill>
                        </a:rPr>
                        <a:t>PC + </a:t>
                      </a:r>
                      <a:r>
                        <a:rPr lang="en-US" altLang="zh-CN" sz="1600" b="1" dirty="0" err="1">
                          <a:solidFill>
                            <a:srgbClr val="0070C0"/>
                          </a:solidFill>
                        </a:rPr>
                        <a:t>signext</a:t>
                      </a:r>
                      <a:r>
                        <a:rPr lang="en-US" altLang="zh-CN" sz="1600" b="1" dirty="0">
                          <a:solidFill>
                            <a:srgbClr val="0070C0"/>
                          </a:solidFill>
                        </a:rPr>
                        <a:t>(IR[15:0]) &lt;&lt; 2</a:t>
                      </a:r>
                    </a:p>
                    <a:p>
                      <a:pPr marL="0" marR="0" lvl="1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CN" sz="1600" b="1" dirty="0">
                          <a:solidFill>
                            <a:srgbClr val="7030A0"/>
                          </a:solidFill>
                        </a:rPr>
                        <a:t>Possible forwarding sources?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zh-CN" altLang="en-US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zh-CN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marL="0" marR="0" lvl="1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zh-CN" sz="1600" b="1" dirty="0">
                        <a:solidFill>
                          <a:srgbClr val="C00000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693620"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600" dirty="0"/>
                        <a:t>EX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600" dirty="0" err="1"/>
                        <a:t>ALUOut</a:t>
                      </a:r>
                      <a:r>
                        <a:rPr lang="en-US" altLang="zh-CN" sz="1600" dirty="0"/>
                        <a:t> </a:t>
                      </a:r>
                      <a:r>
                        <a:rPr lang="en-US" altLang="zh-CN" sz="1600" dirty="0">
                          <a:sym typeface="Symbol"/>
                        </a:rPr>
                        <a:t>&lt;= </a:t>
                      </a:r>
                      <a:r>
                        <a:rPr lang="en-US" altLang="zh-CN" sz="1600" dirty="0"/>
                        <a:t>A op B</a:t>
                      </a:r>
                    </a:p>
                    <a:p>
                      <a:pPr algn="ctr"/>
                      <a:r>
                        <a:rPr lang="en-US" altLang="zh-CN" sz="1600" b="1" dirty="0">
                          <a:solidFill>
                            <a:srgbClr val="0070C0"/>
                          </a:solidFill>
                        </a:rPr>
                        <a:t>EX/</a:t>
                      </a:r>
                      <a:r>
                        <a:rPr lang="en-US" altLang="zh-CN" sz="1600" b="1" dirty="0" err="1">
                          <a:solidFill>
                            <a:srgbClr val="0070C0"/>
                          </a:solidFill>
                        </a:rPr>
                        <a:t>MEM.ALUOut</a:t>
                      </a:r>
                      <a:endParaRPr lang="en-US" altLang="zh-CN" sz="1600" b="1" dirty="0">
                        <a:solidFill>
                          <a:srgbClr val="0070C0"/>
                        </a:solidFill>
                      </a:endParaRPr>
                    </a:p>
                    <a:p>
                      <a:pPr algn="ctr"/>
                      <a:r>
                        <a:rPr lang="en-US" altLang="zh-CN" sz="1600" b="1" dirty="0">
                          <a:solidFill>
                            <a:srgbClr val="0070C0"/>
                          </a:solidFill>
                        </a:rPr>
                        <a:t>MEM/</a:t>
                      </a:r>
                      <a:r>
                        <a:rPr lang="en-US" altLang="zh-CN" sz="1600" b="1" dirty="0" err="1">
                          <a:solidFill>
                            <a:srgbClr val="0070C0"/>
                          </a:solidFill>
                        </a:rPr>
                        <a:t>WB.ALUOut</a:t>
                      </a:r>
                      <a:endParaRPr lang="en-US" altLang="zh-CN" sz="1600" b="1" dirty="0">
                        <a:solidFill>
                          <a:srgbClr val="0070C0"/>
                        </a:solidFill>
                      </a:endParaRPr>
                    </a:p>
                    <a:p>
                      <a:pPr algn="ctr"/>
                      <a:r>
                        <a:rPr lang="en-US" altLang="zh-CN" sz="1600" b="1" dirty="0">
                          <a:solidFill>
                            <a:srgbClr val="0070C0"/>
                          </a:solidFill>
                        </a:rPr>
                        <a:t>MDR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2"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CN" sz="1600" dirty="0" err="1"/>
                        <a:t>ALUOut</a:t>
                      </a:r>
                      <a:r>
                        <a:rPr lang="en-US" altLang="zh-CN" sz="1600" dirty="0"/>
                        <a:t> </a:t>
                      </a:r>
                      <a:r>
                        <a:rPr lang="en-US" altLang="zh-CN" sz="1600" dirty="0">
                          <a:sym typeface="Symbol"/>
                        </a:rPr>
                        <a:t>&lt;= </a:t>
                      </a:r>
                      <a:r>
                        <a:rPr lang="en-US" altLang="zh-CN" sz="1600" dirty="0"/>
                        <a:t>A + </a:t>
                      </a:r>
                      <a:r>
                        <a:rPr lang="en-US" altLang="zh-CN" sz="1600" dirty="0" err="1"/>
                        <a:t>signext</a:t>
                      </a:r>
                      <a:r>
                        <a:rPr lang="en-US" altLang="zh-CN" sz="1600" dirty="0"/>
                        <a:t>(IR[15:0])</a:t>
                      </a: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CN" sz="1600" b="1" dirty="0">
                          <a:solidFill>
                            <a:srgbClr val="0070C0"/>
                          </a:solidFill>
                        </a:rPr>
                        <a:t>EX/</a:t>
                      </a:r>
                      <a:r>
                        <a:rPr lang="en-US" altLang="zh-CN" sz="1600" b="1" dirty="0" err="1">
                          <a:solidFill>
                            <a:srgbClr val="0070C0"/>
                          </a:solidFill>
                        </a:rPr>
                        <a:t>MEM.ALUOut</a:t>
                      </a:r>
                      <a:endParaRPr lang="en-US" altLang="zh-CN" sz="1600" b="1" dirty="0">
                        <a:solidFill>
                          <a:srgbClr val="0070C0"/>
                        </a:solidFill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CN" sz="1600" b="1" dirty="0">
                          <a:solidFill>
                            <a:srgbClr val="0070C0"/>
                          </a:solidFill>
                        </a:rPr>
                        <a:t>MEM/</a:t>
                      </a:r>
                      <a:r>
                        <a:rPr lang="en-US" altLang="zh-CN" sz="1600" b="1" dirty="0" err="1">
                          <a:solidFill>
                            <a:srgbClr val="0070C0"/>
                          </a:solidFill>
                        </a:rPr>
                        <a:t>WB.ALUOut</a:t>
                      </a:r>
                      <a:endParaRPr lang="en-US" altLang="zh-CN" sz="1600" b="1" dirty="0">
                        <a:solidFill>
                          <a:srgbClr val="0070C0"/>
                        </a:solidFill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CN" sz="1600" b="1" dirty="0">
                          <a:solidFill>
                            <a:srgbClr val="0070C0"/>
                          </a:solidFill>
                        </a:rPr>
                        <a:t>MDR</a:t>
                      </a:r>
                      <a:endParaRPr lang="zh-CN" altLang="en-US" dirty="0">
                        <a:solidFill>
                          <a:srgbClr val="0070C0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zh-CN" sz="1600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1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zh-CN" sz="1600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646873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CN" sz="1600" dirty="0"/>
                        <a:t>MEM</a:t>
                      </a:r>
                      <a:endParaRPr lang="zh-CN" altLang="en-US" sz="1600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zh-CN" altLang="en-US" sz="1600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600" dirty="0"/>
                        <a:t>MDR </a:t>
                      </a:r>
                      <a:r>
                        <a:rPr lang="en-US" altLang="zh-CN" sz="1600" dirty="0">
                          <a:sym typeface="Symbol"/>
                        </a:rPr>
                        <a:t>&lt;= </a:t>
                      </a:r>
                      <a:r>
                        <a:rPr lang="en-US" altLang="zh-CN" sz="1600" dirty="0" err="1">
                          <a:sym typeface="Symbol"/>
                        </a:rPr>
                        <a:t>MemData</a:t>
                      </a:r>
                      <a:r>
                        <a:rPr lang="en-US" altLang="zh-CN" sz="1600" dirty="0">
                          <a:sym typeface="Symbol"/>
                        </a:rPr>
                        <a:t>[</a:t>
                      </a:r>
                      <a:r>
                        <a:rPr lang="en-US" altLang="zh-CN" sz="1600" dirty="0" err="1">
                          <a:sym typeface="Symbol"/>
                        </a:rPr>
                        <a:t>ALUOut</a:t>
                      </a:r>
                      <a:r>
                        <a:rPr lang="en-US" altLang="zh-CN" sz="1600" dirty="0">
                          <a:sym typeface="Symbol"/>
                        </a:rPr>
                        <a:t>];</a:t>
                      </a:r>
                    </a:p>
                  </a:txBody>
                  <a:tcPr marL="36000" marR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600" dirty="0" err="1">
                          <a:sym typeface="Symbol"/>
                        </a:rPr>
                        <a:t>MemData</a:t>
                      </a:r>
                      <a:r>
                        <a:rPr lang="en-US" altLang="zh-CN" sz="1600" dirty="0">
                          <a:sym typeface="Symbol"/>
                        </a:rPr>
                        <a:t>[</a:t>
                      </a:r>
                      <a:r>
                        <a:rPr lang="en-US" altLang="zh-CN" sz="1600" dirty="0" err="1">
                          <a:sym typeface="Symbol"/>
                        </a:rPr>
                        <a:t>ALUout</a:t>
                      </a:r>
                      <a:r>
                        <a:rPr lang="en-US" altLang="zh-CN" sz="1600" dirty="0">
                          <a:sym typeface="Symbol"/>
                        </a:rPr>
                        <a:t>] &lt;= B</a:t>
                      </a: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CN" sz="1400" b="1" dirty="0">
                          <a:solidFill>
                            <a:srgbClr val="7030A0"/>
                          </a:solidFill>
                        </a:rPr>
                        <a:t>Possible forwarding sources?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zh-CN" altLang="en-US" sz="1800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418273"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600" dirty="0"/>
                        <a:t>WB</a:t>
                      </a:r>
                      <a:endParaRPr lang="zh-CN" altLang="en-US" sz="1600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CN" sz="1600" dirty="0"/>
                        <a:t>Reg[IR[15:11]]</a:t>
                      </a:r>
                      <a:r>
                        <a:rPr lang="en-US" altLang="zh-CN" sz="1600" dirty="0">
                          <a:sym typeface="Symbol"/>
                        </a:rPr>
                        <a:t> &lt;= </a:t>
                      </a:r>
                      <a:r>
                        <a:rPr lang="en-US" altLang="zh-CN" sz="1600" dirty="0" err="1"/>
                        <a:t>ALUOut</a:t>
                      </a:r>
                      <a:endParaRPr lang="zh-CN" altLang="en-US" sz="1600" dirty="0"/>
                    </a:p>
                    <a:p>
                      <a:pPr algn="ctr"/>
                      <a:endParaRPr lang="zh-CN" altLang="en-US" sz="1600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600" dirty="0"/>
                        <a:t>Reg[IR[20:16]]</a:t>
                      </a:r>
                      <a:r>
                        <a:rPr lang="en-US" altLang="zh-CN" sz="1600" dirty="0">
                          <a:sym typeface="Symbol"/>
                        </a:rPr>
                        <a:t> &lt;= MDR</a:t>
                      </a:r>
                      <a:endParaRPr lang="zh-CN" altLang="en-US" sz="1600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CN" altLang="en-US" sz="1600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CN" altLang="en-US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622139051"/>
      </p:ext>
    </p:extLst>
  </p:cSld>
  <p:clrMapOvr>
    <a:masterClrMapping/>
  </p:clrMapOvr>
</p:sld>
</file>

<file path=ppt/slides/slide10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>
            <a:extLst>
              <a:ext uri="{FF2B5EF4-FFF2-40B4-BE49-F238E27FC236}">
                <a16:creationId xmlns:a16="http://schemas.microsoft.com/office/drawing/2014/main" id="{EE0D783A-F73E-4EC8-9D21-6A94B487871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dirty="0"/>
              <a:t>流水线结构与冒险小结</a:t>
            </a:r>
          </a:p>
        </p:txBody>
      </p:sp>
      <p:sp>
        <p:nvSpPr>
          <p:cNvPr id="3" name="内容占位符 2">
            <a:extLst>
              <a:ext uri="{FF2B5EF4-FFF2-40B4-BE49-F238E27FC236}">
                <a16:creationId xmlns:a16="http://schemas.microsoft.com/office/drawing/2014/main" id="{113A1CB8-7F83-4444-9EFA-AF2B714BDEE9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457200" y="1166020"/>
            <a:ext cx="8229600" cy="5555455"/>
          </a:xfrm>
        </p:spPr>
        <p:txBody>
          <a:bodyPr/>
          <a:lstStyle/>
          <a:p>
            <a:r>
              <a:rPr lang="zh-CN" altLang="en-US" sz="2400" dirty="0"/>
              <a:t>流水线结构</a:t>
            </a:r>
          </a:p>
          <a:p>
            <a:pPr lvl="1"/>
            <a:r>
              <a:rPr lang="en-US" altLang="zh-CN" sz="2000" dirty="0"/>
              <a:t>5</a:t>
            </a:r>
            <a:r>
              <a:rPr lang="zh-CN" altLang="en-US" sz="2000" dirty="0"/>
              <a:t>级经典方式：</a:t>
            </a:r>
            <a:r>
              <a:rPr lang="en-US" altLang="zh-CN" sz="2000" dirty="0"/>
              <a:t>IF ID EXE MEM WB</a:t>
            </a:r>
          </a:p>
          <a:p>
            <a:pPr lvl="1"/>
            <a:r>
              <a:rPr lang="zh-CN" altLang="en-US" sz="2000" dirty="0"/>
              <a:t>流水线作用（理论与实际的吞吐率，提升潜力：级数）</a:t>
            </a:r>
          </a:p>
          <a:p>
            <a:pPr lvl="1"/>
            <a:r>
              <a:rPr lang="zh-CN" altLang="en-US" sz="2000" dirty="0"/>
              <a:t>代价（单条指令延迟）</a:t>
            </a:r>
          </a:p>
          <a:p>
            <a:pPr lvl="1"/>
            <a:r>
              <a:rPr lang="zh-CN" altLang="en-US" sz="2000" dirty="0"/>
              <a:t>时钟频率瓶颈（最慢的一级）</a:t>
            </a:r>
          </a:p>
          <a:p>
            <a:r>
              <a:rPr lang="zh-CN" altLang="en-US" sz="2400" dirty="0"/>
              <a:t>冒险及应对策略</a:t>
            </a:r>
          </a:p>
          <a:p>
            <a:pPr lvl="1"/>
            <a:r>
              <a:rPr lang="zh-CN" altLang="en-US" sz="2000" dirty="0"/>
              <a:t>结构冒险：寄存器读取</a:t>
            </a:r>
            <a:r>
              <a:rPr lang="en-US" altLang="zh-CN" sz="2000" dirty="0"/>
              <a:t>&amp;</a:t>
            </a:r>
            <a:r>
              <a:rPr lang="zh-CN" altLang="en-US" sz="2000" dirty="0"/>
              <a:t>写入、使用哈佛架构</a:t>
            </a:r>
            <a:r>
              <a:rPr lang="en-US" altLang="zh-CN" sz="2000" dirty="0"/>
              <a:t>MEM</a:t>
            </a:r>
            <a:r>
              <a:rPr lang="zh-CN" altLang="en-US" sz="2000" dirty="0"/>
              <a:t>、</a:t>
            </a:r>
            <a:r>
              <a:rPr lang="en-US" altLang="zh-CN" sz="2000" dirty="0"/>
              <a:t>ALU</a:t>
            </a:r>
            <a:r>
              <a:rPr lang="zh-CN" altLang="en-US" sz="2000" dirty="0"/>
              <a:t>分离</a:t>
            </a:r>
          </a:p>
          <a:p>
            <a:pPr lvl="1"/>
            <a:r>
              <a:rPr lang="zh-CN" altLang="en-US" sz="2000" dirty="0"/>
              <a:t>数据冒险：</a:t>
            </a:r>
            <a:r>
              <a:rPr lang="en-US" altLang="zh-CN" sz="2000" dirty="0"/>
              <a:t>Forwarding</a:t>
            </a:r>
            <a:r>
              <a:rPr lang="zh-CN" altLang="en-US" sz="2000" dirty="0"/>
              <a:t>、</a:t>
            </a:r>
            <a:r>
              <a:rPr lang="en-US" altLang="zh-CN" sz="2000" dirty="0"/>
              <a:t>Stall</a:t>
            </a:r>
            <a:r>
              <a:rPr lang="zh-CN" altLang="en-US" sz="2000" dirty="0"/>
              <a:t>、编译调度</a:t>
            </a:r>
          </a:p>
          <a:p>
            <a:pPr lvl="1"/>
            <a:r>
              <a:rPr lang="zh-CN" altLang="en-US" sz="2000" dirty="0"/>
              <a:t>控制冒险：</a:t>
            </a:r>
            <a:r>
              <a:rPr lang="en-US" altLang="zh-CN" sz="2000" dirty="0"/>
              <a:t>Stall</a:t>
            </a:r>
            <a:r>
              <a:rPr lang="zh-CN" altLang="en-US" sz="2000" dirty="0"/>
              <a:t>、</a:t>
            </a:r>
            <a:r>
              <a:rPr lang="en-US" altLang="zh-CN" sz="2000" dirty="0"/>
              <a:t>Forwarding</a:t>
            </a:r>
            <a:r>
              <a:rPr lang="zh-CN" altLang="en-US" sz="2000" dirty="0"/>
              <a:t>、延迟槽、分支预测</a:t>
            </a:r>
          </a:p>
          <a:p>
            <a:r>
              <a:rPr lang="zh-CN" altLang="en-US" sz="2400" dirty="0"/>
              <a:t>要求</a:t>
            </a:r>
          </a:p>
          <a:p>
            <a:pPr lvl="1"/>
            <a:r>
              <a:rPr lang="zh-CN" altLang="en-US" sz="2000" dirty="0"/>
              <a:t>冒险来源：检测与区分冒险</a:t>
            </a:r>
          </a:p>
          <a:p>
            <a:pPr lvl="1"/>
            <a:r>
              <a:rPr lang="zh-CN" altLang="en-US" sz="2000" dirty="0"/>
              <a:t>冒险的解决方法：数据与结构的关联性</a:t>
            </a:r>
          </a:p>
          <a:p>
            <a:pPr lvl="1"/>
            <a:r>
              <a:rPr lang="zh-CN" altLang="en-US" sz="2000" dirty="0"/>
              <a:t>数据通路设计：修改指令执行流</a:t>
            </a:r>
          </a:p>
        </p:txBody>
      </p:sp>
      <p:sp>
        <p:nvSpPr>
          <p:cNvPr id="4" name="灯片编号占位符 3">
            <a:extLst>
              <a:ext uri="{FF2B5EF4-FFF2-40B4-BE49-F238E27FC236}">
                <a16:creationId xmlns:a16="http://schemas.microsoft.com/office/drawing/2014/main" id="{F71AE928-7AE7-41C6-9535-7914BCA6BEC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1806CE5-282B-4233-8654-09F35EA875E2}" type="slidenum">
              <a:rPr lang="zh-CN" altLang="en-US" smtClean="0"/>
              <a:t>104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2221078174"/>
      </p:ext>
    </p:extLst>
  </p:cSld>
  <p:clrMapOvr>
    <a:masterClrMapping/>
  </p:clrMapOvr>
</p:sld>
</file>

<file path=ppt/slides/slide10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>
            <a:extLst>
              <a:ext uri="{FF2B5EF4-FFF2-40B4-BE49-F238E27FC236}">
                <a16:creationId xmlns:a16="http://schemas.microsoft.com/office/drawing/2014/main" id="{E78F0739-DD16-405F-8CC8-C602B9363EC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dirty="0">
                <a:latin typeface="SimHei" panose="02010609060101010101" pitchFamily="49" charset="-122"/>
                <a:ea typeface="SimHei" panose="02010609060101010101" pitchFamily="49" charset="-122"/>
              </a:rPr>
              <a:t>本节课学习目标</a:t>
            </a:r>
          </a:p>
        </p:txBody>
      </p:sp>
      <p:sp>
        <p:nvSpPr>
          <p:cNvPr id="3" name="内容占位符 2">
            <a:extLst>
              <a:ext uri="{FF2B5EF4-FFF2-40B4-BE49-F238E27FC236}">
                <a16:creationId xmlns:a16="http://schemas.microsoft.com/office/drawing/2014/main" id="{14D51659-AD29-4623-BF52-BCA9496DFB24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457200" y="1166018"/>
            <a:ext cx="8229600" cy="5555457"/>
          </a:xfrm>
        </p:spPr>
        <p:txBody>
          <a:bodyPr/>
          <a:lstStyle/>
          <a:p>
            <a:pPr marL="342900" indent="-342900"/>
            <a:r>
              <a:rPr lang="zh-CN" altLang="en-US" sz="3200" dirty="0">
                <a:latin typeface="SimHei" panose="02010609060101010101" pitchFamily="49" charset="-122"/>
                <a:ea typeface="SimHei" panose="02010609060101010101" pitchFamily="49" charset="-122"/>
                <a:cs typeface="Arial" panose="020B0604020202020204" pitchFamily="34" charset="0"/>
              </a:rPr>
              <a:t>知识点：概念、原理和指标</a:t>
            </a:r>
            <a:endParaRPr lang="en-US" altLang="zh-CN" sz="3200" dirty="0">
              <a:latin typeface="SimHei" panose="02010609060101010101" pitchFamily="49" charset="-122"/>
              <a:ea typeface="SimHei" panose="02010609060101010101" pitchFamily="49" charset="-122"/>
              <a:cs typeface="Arial" panose="020B0604020202020204" pitchFamily="34" charset="0"/>
            </a:endParaRPr>
          </a:p>
          <a:p>
            <a:pPr marL="742950" lvl="1" indent="-285750"/>
            <a:r>
              <a:rPr lang="zh-CN" altLang="en-US" sz="2800" b="0" dirty="0">
                <a:latin typeface="SimHei" panose="02010609060101010101" pitchFamily="49" charset="-122"/>
                <a:ea typeface="SimHei" panose="02010609060101010101" pitchFamily="49" charset="-122"/>
                <a:cs typeface="Arial" panose="020B0604020202020204" pitchFamily="34" charset="0"/>
              </a:rPr>
              <a:t>单周期、多周期、流水线处理器的区别</a:t>
            </a:r>
            <a:endParaRPr lang="en-US" altLang="zh-CN" sz="2800" b="0" dirty="0">
              <a:latin typeface="SimHei" panose="02010609060101010101" pitchFamily="49" charset="-122"/>
              <a:ea typeface="SimHei" panose="02010609060101010101" pitchFamily="49" charset="-122"/>
              <a:cs typeface="Arial" panose="020B0604020202020204" pitchFamily="34" charset="0"/>
            </a:endParaRPr>
          </a:p>
          <a:p>
            <a:pPr marL="742950" lvl="1" indent="-285750"/>
            <a:r>
              <a:rPr lang="zh-CN" altLang="en-US" sz="2800" b="0" dirty="0">
                <a:latin typeface="SimHei" panose="02010609060101010101" pitchFamily="49" charset="-122"/>
                <a:ea typeface="SimHei" panose="02010609060101010101" pitchFamily="49" charset="-122"/>
                <a:cs typeface="Arial" panose="020B0604020202020204" pitchFamily="34" charset="0"/>
              </a:rPr>
              <a:t>流水线的基本概念、数据通路（执行过程）</a:t>
            </a:r>
            <a:endParaRPr lang="en-US" altLang="zh-CN" sz="2800" b="0" dirty="0">
              <a:latin typeface="SimHei" panose="02010609060101010101" pitchFamily="49" charset="-122"/>
              <a:ea typeface="SimHei" panose="02010609060101010101" pitchFamily="49" charset="-122"/>
              <a:cs typeface="Arial" panose="020B0604020202020204" pitchFamily="34" charset="0"/>
            </a:endParaRPr>
          </a:p>
          <a:p>
            <a:pPr marL="742950" lvl="1" indent="-285750"/>
            <a:r>
              <a:rPr lang="zh-CN" altLang="en-US" sz="2800" b="0" dirty="0">
                <a:latin typeface="SimHei" panose="02010609060101010101" pitchFamily="49" charset="-122"/>
                <a:ea typeface="SimHei" panose="02010609060101010101" pitchFamily="49" charset="-122"/>
                <a:cs typeface="Arial" panose="020B0604020202020204" pitchFamily="34" charset="0"/>
              </a:rPr>
              <a:t>流水线中的冒险起因与分类</a:t>
            </a:r>
            <a:endParaRPr lang="en-US" altLang="zh-CN" sz="2800" b="0" dirty="0">
              <a:latin typeface="SimHei" panose="02010609060101010101" pitchFamily="49" charset="-122"/>
              <a:ea typeface="SimHei" panose="02010609060101010101" pitchFamily="49" charset="-122"/>
              <a:cs typeface="Arial" panose="020B0604020202020204" pitchFamily="34" charset="0"/>
            </a:endParaRPr>
          </a:p>
          <a:p>
            <a:pPr marL="342900" indent="-342900"/>
            <a:r>
              <a:rPr lang="zh-CN" altLang="en-US" sz="3200" dirty="0">
                <a:latin typeface="SimHei" panose="02010609060101010101" pitchFamily="49" charset="-122"/>
                <a:ea typeface="SimHei" panose="02010609060101010101" pitchFamily="49" charset="-122"/>
                <a:cs typeface="Arial" panose="020B0604020202020204" pitchFamily="34" charset="0"/>
              </a:rPr>
              <a:t>能力</a:t>
            </a:r>
            <a:endParaRPr lang="en-US" altLang="zh-CN" sz="3200" dirty="0">
              <a:latin typeface="SimHei" panose="02010609060101010101" pitchFamily="49" charset="-122"/>
              <a:ea typeface="SimHei" panose="02010609060101010101" pitchFamily="49" charset="-122"/>
              <a:cs typeface="Arial" panose="020B0604020202020204" pitchFamily="34" charset="0"/>
            </a:endParaRPr>
          </a:p>
          <a:p>
            <a:pPr marL="742950" lvl="1" indent="-285750"/>
            <a:r>
              <a:rPr lang="zh-CN" altLang="en-US" sz="2800" b="0" dirty="0">
                <a:latin typeface="SimHei" panose="02010609060101010101" pitchFamily="49" charset="-122"/>
                <a:ea typeface="SimHei" panose="02010609060101010101" pitchFamily="49" charset="-122"/>
                <a:cs typeface="Arial" panose="020B0604020202020204" pitchFamily="34" charset="0"/>
              </a:rPr>
              <a:t>掌握设计和分析流水线处理器的方法</a:t>
            </a:r>
            <a:endParaRPr lang="en-US" altLang="zh-CN" sz="2800" b="0" dirty="0">
              <a:latin typeface="SimHei" panose="02010609060101010101" pitchFamily="49" charset="-122"/>
              <a:ea typeface="SimHei" panose="02010609060101010101" pitchFamily="49" charset="-122"/>
              <a:cs typeface="Arial" panose="020B0604020202020204" pitchFamily="34" charset="0"/>
            </a:endParaRPr>
          </a:p>
          <a:p>
            <a:pPr marL="742950" lvl="1" indent="-285750"/>
            <a:r>
              <a:rPr lang="zh-CN" altLang="en-US" sz="2800" b="0" dirty="0">
                <a:latin typeface="SimHei" panose="02010609060101010101" pitchFamily="49" charset="-122"/>
                <a:ea typeface="SimHei" panose="02010609060101010101" pitchFamily="49" charset="-122"/>
                <a:cs typeface="Arial" panose="020B0604020202020204" pitchFamily="34" charset="0"/>
              </a:rPr>
              <a:t>掌握分析和解决流水线中冒险的方法</a:t>
            </a:r>
            <a:endParaRPr lang="en-US" altLang="zh-CN" sz="2800" b="0" dirty="0">
              <a:latin typeface="SimHei" panose="02010609060101010101" pitchFamily="49" charset="-122"/>
              <a:ea typeface="SimHei" panose="02010609060101010101" pitchFamily="49" charset="-122"/>
              <a:cs typeface="Arial" panose="020B0604020202020204" pitchFamily="34" charset="0"/>
            </a:endParaRPr>
          </a:p>
          <a:p>
            <a:pPr marL="342900" indent="-342900"/>
            <a:r>
              <a:rPr lang="zh-CN" altLang="en-US" sz="3200" dirty="0">
                <a:latin typeface="SimHei" panose="02010609060101010101" pitchFamily="49" charset="-122"/>
                <a:ea typeface="SimHei" panose="02010609060101010101" pitchFamily="49" charset="-122"/>
                <a:cs typeface="Arial" panose="020B0604020202020204" pitchFamily="34" charset="0"/>
              </a:rPr>
              <a:t>思想</a:t>
            </a:r>
            <a:endParaRPr lang="en-US" altLang="zh-CN" sz="3200" dirty="0">
              <a:latin typeface="SimHei" panose="02010609060101010101" pitchFamily="49" charset="-122"/>
              <a:ea typeface="SimHei" panose="02010609060101010101" pitchFamily="49" charset="-122"/>
              <a:cs typeface="Arial" panose="020B0604020202020204" pitchFamily="34" charset="0"/>
            </a:endParaRPr>
          </a:p>
          <a:p>
            <a:pPr marL="742950" lvl="1" indent="-285750"/>
            <a:r>
              <a:rPr lang="zh-CN" altLang="en-US" sz="2800" b="0" dirty="0">
                <a:latin typeface="SimHei" panose="02010609060101010101" pitchFamily="49" charset="-122"/>
                <a:ea typeface="SimHei" panose="02010609060101010101" pitchFamily="49" charset="-122"/>
                <a:cs typeface="Arial" panose="020B0604020202020204" pitchFamily="34" charset="0"/>
              </a:rPr>
              <a:t>时空复用</a:t>
            </a:r>
            <a:endParaRPr lang="en-US" altLang="zh-CN" sz="2800" b="0" dirty="0">
              <a:latin typeface="SimHei" panose="02010609060101010101" pitchFamily="49" charset="-122"/>
              <a:ea typeface="SimHei" panose="02010609060101010101" pitchFamily="49" charset="-122"/>
              <a:cs typeface="Arial" panose="020B0604020202020204" pitchFamily="34" charset="0"/>
            </a:endParaRPr>
          </a:p>
          <a:p>
            <a:pPr marL="742950" lvl="1" indent="-285750"/>
            <a:r>
              <a:rPr lang="zh-CN" altLang="en-US" sz="2800" b="0" dirty="0">
                <a:latin typeface="SimHei" panose="02010609060101010101" pitchFamily="49" charset="-122"/>
                <a:ea typeface="SimHei" panose="02010609060101010101" pitchFamily="49" charset="-122"/>
                <a:cs typeface="Arial" panose="020B0604020202020204" pitchFamily="34" charset="0"/>
              </a:rPr>
              <a:t>并行加速</a:t>
            </a:r>
          </a:p>
        </p:txBody>
      </p:sp>
      <p:sp>
        <p:nvSpPr>
          <p:cNvPr id="4" name="灯片编号占位符 3">
            <a:extLst>
              <a:ext uri="{FF2B5EF4-FFF2-40B4-BE49-F238E27FC236}">
                <a16:creationId xmlns:a16="http://schemas.microsoft.com/office/drawing/2014/main" id="{E8F296DE-3042-4695-942F-7606A7AD4C7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0626FCE3-5FF9-430D-BA0B-DE80AAE71673}" type="slidenum">
              <a:rPr lang="zh-CN" altLang="en-US" smtClean="0"/>
              <a:t>105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499596816"/>
      </p:ext>
    </p:extLst>
  </p:cSld>
  <p:clrMapOvr>
    <a:masterClrMapping/>
  </p:clrMapOvr>
</p:sld>
</file>

<file path=ppt/slides/slide10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>
            <a:extLst>
              <a:ext uri="{FF2B5EF4-FFF2-40B4-BE49-F238E27FC236}">
                <a16:creationId xmlns:a16="http://schemas.microsoft.com/office/drawing/2014/main" id="{3179BB4F-D3A4-744F-861D-695D3BE80A6D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dirty="0">
                <a:latin typeface="SimHei" panose="02010609060101010101" pitchFamily="49" charset="-122"/>
                <a:ea typeface="SimHei" panose="02010609060101010101" pitchFamily="49" charset="-122"/>
              </a:rPr>
              <a:t>作业</a:t>
            </a:r>
          </a:p>
        </p:txBody>
      </p:sp>
      <p:sp>
        <p:nvSpPr>
          <p:cNvPr id="3" name="内容占位符 2">
            <a:extLst>
              <a:ext uri="{FF2B5EF4-FFF2-40B4-BE49-F238E27FC236}">
                <a16:creationId xmlns:a16="http://schemas.microsoft.com/office/drawing/2014/main" id="{C12D8F2A-D286-4947-A1D3-A3E823699F53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457199" y="1378226"/>
            <a:ext cx="8342243" cy="5155096"/>
          </a:xfrm>
        </p:spPr>
        <p:txBody>
          <a:bodyPr/>
          <a:lstStyle/>
          <a:p>
            <a:pPr>
              <a:lnSpc>
                <a:spcPct val="150000"/>
              </a:lnSpc>
            </a:pPr>
            <a:r>
              <a:rPr lang="zh-CN" altLang="en-US" b="0" dirty="0">
                <a:ea typeface="SimHei" panose="02010609060101010101" pitchFamily="49" charset="-122"/>
              </a:rPr>
              <a:t>要求</a:t>
            </a:r>
            <a:endParaRPr lang="en-CN" altLang="zh-CN" b="0" dirty="0">
              <a:ea typeface="SimHei" panose="02010609060101010101" pitchFamily="49" charset="-122"/>
            </a:endParaRPr>
          </a:p>
          <a:p>
            <a:pPr lvl="1"/>
            <a:r>
              <a:rPr lang="zh-CN" altLang="en-US" b="0">
                <a:ea typeface="SimHei" panose="02010609060101010101" pitchFamily="49" charset="-122"/>
                <a:cs typeface="+mn-cs"/>
              </a:rPr>
              <a:t>标记</a:t>
            </a:r>
            <a:r>
              <a:rPr lang="zh-CN" altLang="en-US" b="0" dirty="0">
                <a:ea typeface="SimHei" panose="02010609060101010101" pitchFamily="49" charset="-122"/>
                <a:cs typeface="+mn-cs"/>
              </a:rPr>
              <a:t>学号，姓名和班级</a:t>
            </a:r>
            <a:endParaRPr lang="en-US" altLang="zh-CN" b="0" dirty="0">
              <a:ea typeface="SimHei" panose="02010609060101010101" pitchFamily="49" charset="-122"/>
              <a:cs typeface="+mn-cs"/>
            </a:endParaRPr>
          </a:p>
          <a:p>
            <a:pPr lvl="1"/>
            <a:r>
              <a:rPr lang="zh-CN" altLang="en-US" b="0" dirty="0">
                <a:ea typeface="SimHei" panose="02010609060101010101" pitchFamily="49" charset="-122"/>
                <a:cs typeface="+mn-cs"/>
              </a:rPr>
              <a:t>不要抄袭或迟交</a:t>
            </a:r>
            <a:endParaRPr lang="en-US" altLang="zh-CN" b="0" dirty="0">
              <a:ea typeface="SimHei" panose="02010609060101010101" pitchFamily="49" charset="-122"/>
              <a:cs typeface="+mn-cs"/>
            </a:endParaRPr>
          </a:p>
          <a:p>
            <a:pPr>
              <a:lnSpc>
                <a:spcPct val="150000"/>
              </a:lnSpc>
            </a:pPr>
            <a:r>
              <a:rPr lang="zh-CN" altLang="en-US" b="0" dirty="0">
                <a:ea typeface="SimHei" panose="02010609060101010101" pitchFamily="49" charset="-122"/>
              </a:rPr>
              <a:t>作业</a:t>
            </a:r>
          </a:p>
          <a:p>
            <a:pPr lvl="1"/>
            <a:r>
              <a:rPr lang="zh-CN" altLang="en-US" b="0" dirty="0">
                <a:ea typeface="SimHei" panose="02010609060101010101" pitchFamily="49" charset="-122"/>
                <a:cs typeface="+mn-cs"/>
              </a:rPr>
              <a:t>第</a:t>
            </a:r>
            <a:r>
              <a:rPr lang="en-US" altLang="zh-CN" b="0" dirty="0">
                <a:ea typeface="SimHei" panose="02010609060101010101" pitchFamily="49" charset="-122"/>
                <a:cs typeface="+mn-cs"/>
              </a:rPr>
              <a:t>VII</a:t>
            </a:r>
            <a:r>
              <a:rPr lang="zh-CN" altLang="en-US" b="0" dirty="0">
                <a:ea typeface="SimHei" panose="02010609060101010101" pitchFamily="49" charset="-122"/>
                <a:cs typeface="+mn-cs"/>
              </a:rPr>
              <a:t>章教材习题</a:t>
            </a:r>
            <a:r>
              <a:rPr lang="en-US" altLang="zh-CN" b="0" dirty="0">
                <a:ea typeface="SimHei" panose="02010609060101010101" pitchFamily="49" charset="-122"/>
                <a:cs typeface="+mn-cs"/>
              </a:rPr>
              <a:t>5</a:t>
            </a:r>
            <a:r>
              <a:rPr lang="zh-CN" altLang="en-US" b="0" dirty="0">
                <a:ea typeface="SimHei" panose="02010609060101010101" pitchFamily="49" charset="-122"/>
                <a:cs typeface="+mn-cs"/>
              </a:rPr>
              <a:t>，</a:t>
            </a:r>
            <a:r>
              <a:rPr lang="en-US" altLang="zh-CN" b="0" dirty="0">
                <a:ea typeface="SimHei" panose="02010609060101010101" pitchFamily="49" charset="-122"/>
                <a:cs typeface="+mn-cs"/>
              </a:rPr>
              <a:t>6</a:t>
            </a:r>
            <a:r>
              <a:rPr lang="zh-CN" altLang="en-US" b="0" dirty="0">
                <a:ea typeface="SimHei" panose="02010609060101010101" pitchFamily="49" charset="-122"/>
                <a:cs typeface="+mn-cs"/>
              </a:rPr>
              <a:t>，</a:t>
            </a:r>
            <a:r>
              <a:rPr lang="en-US" altLang="zh-CN" b="0" dirty="0">
                <a:ea typeface="SimHei" panose="02010609060101010101" pitchFamily="49" charset="-122"/>
                <a:cs typeface="+mn-cs"/>
              </a:rPr>
              <a:t>11</a:t>
            </a:r>
            <a:r>
              <a:rPr lang="zh-CN" altLang="en-US" b="0" dirty="0">
                <a:ea typeface="SimHei" panose="02010609060101010101" pitchFamily="49" charset="-122"/>
                <a:cs typeface="+mn-cs"/>
              </a:rPr>
              <a:t>，</a:t>
            </a:r>
            <a:r>
              <a:rPr lang="en-US" altLang="zh-CN" b="0" dirty="0">
                <a:ea typeface="SimHei" panose="02010609060101010101" pitchFamily="49" charset="-122"/>
                <a:cs typeface="+mn-cs"/>
              </a:rPr>
              <a:t>14(a)</a:t>
            </a:r>
            <a:r>
              <a:rPr lang="zh-CN" altLang="en-US" b="0" dirty="0">
                <a:ea typeface="SimHei" panose="02010609060101010101" pitchFamily="49" charset="-122"/>
                <a:cs typeface="+mn-cs"/>
              </a:rPr>
              <a:t>，</a:t>
            </a:r>
            <a:r>
              <a:rPr lang="en-US" altLang="zh-CN" b="0" dirty="0">
                <a:ea typeface="SimHei" panose="02010609060101010101" pitchFamily="49" charset="-122"/>
                <a:cs typeface="+mn-cs"/>
              </a:rPr>
              <a:t>15(b)</a:t>
            </a:r>
          </a:p>
          <a:p>
            <a:pPr lvl="2"/>
            <a:r>
              <a:rPr lang="zh-CN" altLang="en-US" b="0" dirty="0">
                <a:ea typeface="SimHei" panose="02010609060101010101" pitchFamily="49" charset="-122"/>
                <a:cs typeface="+mn-cs"/>
              </a:rPr>
              <a:t>题目可能与教材有微小差别，以网络学堂作业附件为准</a:t>
            </a:r>
          </a:p>
          <a:p>
            <a:pPr lvl="1"/>
            <a:endParaRPr lang="zh-CN" altLang="en-US" b="0" dirty="0">
              <a:ea typeface="SimHei" panose="02010609060101010101" pitchFamily="49" charset="-122"/>
              <a:cs typeface="+mn-cs"/>
            </a:endParaRPr>
          </a:p>
          <a:p>
            <a:pPr lvl="1"/>
            <a:endParaRPr lang="en-US" altLang="zh-CN" b="0" dirty="0">
              <a:ea typeface="SimHei" panose="02010609060101010101" pitchFamily="49" charset="-122"/>
              <a:cs typeface="+mn-cs"/>
            </a:endParaRPr>
          </a:p>
        </p:txBody>
      </p:sp>
      <p:sp>
        <p:nvSpPr>
          <p:cNvPr id="4" name="灯片编号占位符 3">
            <a:extLst>
              <a:ext uri="{FF2B5EF4-FFF2-40B4-BE49-F238E27FC236}">
                <a16:creationId xmlns:a16="http://schemas.microsoft.com/office/drawing/2014/main" id="{992AFAC5-5C4E-BE41-9D27-AD3AC3996A8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4659731-6BD7-46E7-8D3C-2F3AC07E20B1}" type="slidenum">
              <a:rPr lang="en-US" altLang="zh-CN" smtClean="0"/>
              <a:pPr/>
              <a:t>106</a:t>
            </a:fld>
            <a:endParaRPr lang="en-US" altLang="zh-CN"/>
          </a:p>
        </p:txBody>
      </p:sp>
    </p:spTree>
    <p:extLst>
      <p:ext uri="{BB962C8B-B14F-4D97-AF65-F5344CB8AC3E}">
        <p14:creationId xmlns:p14="http://schemas.microsoft.com/office/powerpoint/2010/main" val="3825702023"/>
      </p:ext>
    </p:extLst>
  </p:cSld>
  <p:clrMapOvr>
    <a:masterClrMapping/>
  </p:clrMapOvr>
</p:sld>
</file>

<file path=ppt/tags/tag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RAINPROBLEM" val="MultipleChoice"/>
  <p:tag name="PROBLEMSCORE" val="1.0"/>
</p:tagLst>
</file>

<file path=ppt/tags/tag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RAINPROBLEM" val="ProblemBody"/>
</p:tagLst>
</file>

<file path=ppt/tags/tag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RAINPROBLEM" val="ProblemItem"/>
</p:tagLst>
</file>

<file path=ppt/tags/tag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RAINPROBLEM" val="ProblemItem"/>
</p:tagLst>
</file>

<file path=ppt/tags/tag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RAINPROBLEM" val="ProblemItem"/>
</p:tagLst>
</file>

<file path=ppt/tags/tag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RAINPROBLEM" val="ProblemBullet"/>
  <p:tag name="RAINPROBLEMTYPE" val="MultipleChoice"/>
  <p:tag name="RAINBULLET" val="Wrong"/>
</p:tagLst>
</file>

<file path=ppt/tags/tag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RAINPROBLEM" val="ProblemBullet"/>
  <p:tag name="RAINPROBLEMTYPE" val="MultipleChoice"/>
  <p:tag name="RAINBULLET" val="Wrong"/>
</p:tagLst>
</file>

<file path=ppt/tags/tag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RAINPROBLEM" val="ProblemBullet"/>
  <p:tag name="RAINPROBLEMTYPE" val="MultipleChoice"/>
  <p:tag name="RAINBULLET" val="Correct"/>
</p:tagLst>
</file>

<file path=ppt/tags/tag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RAINPROBLEM" val="ProblemSubmit"/>
  <p:tag name="RAINPROBLEMTYPE" val="MultipleChoice"/>
</p:tagLst>
</file>

<file path=ppt/tags/tag1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RAINPROBLEMTYPE" val="ProblemTypeMarker"/>
</p:tagLst>
</file>

<file path=ppt/tags/tag1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RAINPROBLEM" val="ProblemSetting"/>
  <p:tag name="RAINPROBLEMTYPE" val="MultipleChoice"/>
</p:tagLst>
</file>

<file path=ppt/tags/tag1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RAINPROBLEMTYPE" val="ProblemTypeMarker"/>
</p:tagLst>
</file>

<file path=ppt/tags/tag1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RAINPROBLEMTYPE" val="ProblemTypeMarker"/>
</p:tagLst>
</file>

<file path=ppt/tags/tag1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RAINPROBLEMTYPE" val="ProblemTypeMarker"/>
</p:tagLst>
</file>

<file path=ppt/tags/tag1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RAINPROBLEMTYPE" val="ProblemTypeMarker"/>
</p:tagLst>
</file>

<file path=ppt/tags/tag1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RAINPROBLEM" val="MultipleChoice"/>
  <p:tag name="PROBLEMSCORE" val="10.0"/>
</p:tagLst>
</file>

<file path=ppt/tags/tag1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RAINPROBLEM" val="ProblemBody"/>
</p:tagLst>
</file>

<file path=ppt/tags/tag1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RAINPROBLEM" val="ProblemItem"/>
</p:tagLst>
</file>

<file path=ppt/tags/tag1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RAINPROBLEM" val="ProblemItem"/>
</p:tagLst>
</file>

<file path=ppt/tags/tag2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RAINPROBLEM" val="ProblemItem"/>
</p:tagLst>
</file>

<file path=ppt/tags/tag2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RAINPROBLEM" val="ProblemItem"/>
</p:tagLst>
</file>

<file path=ppt/tags/tag2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RAINPROBLEM" val="ProblemBullet"/>
  <p:tag name="RAINPROBLEMTYPE" val="MultipleChoice"/>
  <p:tag name="RAINBULLET" val="Wrong"/>
</p:tagLst>
</file>

<file path=ppt/tags/tag2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RAINPROBLEM" val="ProblemBullet"/>
  <p:tag name="RAINPROBLEMTYPE" val="MultipleChoice"/>
  <p:tag name="RAINBULLET" val="Wrong"/>
</p:tagLst>
</file>

<file path=ppt/tags/tag2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RAINPROBLEM" val="ProblemBullet"/>
  <p:tag name="RAINPROBLEMTYPE" val="MultipleChoice"/>
  <p:tag name="RAINBULLET" val="Correct"/>
</p:tagLst>
</file>

<file path=ppt/tags/tag2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RAINPROBLEM" val="ProblemBullet"/>
  <p:tag name="RAINPROBLEMTYPE" val="MultipleChoice"/>
  <p:tag name="RAINBULLET" val="Wrong"/>
</p:tagLst>
</file>

<file path=ppt/tags/tag2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RAINPROBLEM" val="ProblemSubmit"/>
  <p:tag name="RAINPROBLEMTYPE" val="MultipleChoice"/>
</p:tagLst>
</file>

<file path=ppt/tags/tag2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RAINPROBLEMTYPE" val="ProblemTypeMarker"/>
</p:tagLst>
</file>

<file path=ppt/tags/tag2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RAINPROBLEM" val="ProblemSetting"/>
  <p:tag name="RAINPROBLEMTYPE" val="MultipleChoice"/>
</p:tagLst>
</file>

<file path=ppt/tags/tag2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RAINPROBLEMTYPE" val="ProblemTypeMarker"/>
</p:tagLst>
</file>

<file path=ppt/tags/tag3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RAINPROBLEMTYPE" val="ProblemTypeMarker"/>
</p:tagLst>
</file>

<file path=ppt/tags/tag3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RAINPROBLEMTYPE" val="ProblemTypeMarker"/>
</p:tagLst>
</file>

<file path=ppt/tags/tag3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RAINPROBLEMTYPE" val="ProblemTypeMarker"/>
</p:tagLst>
</file>

<file path=ppt/theme/theme1.xml><?xml version="1.0" encoding="utf-8"?>
<a:theme xmlns:a="http://schemas.openxmlformats.org/drawingml/2006/main" name="主题1">
  <a:themeElements>
    <a:clrScheme name="默认设计模板 13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E70303"/>
      </a:accent1>
      <a:accent2>
        <a:srgbClr val="333399"/>
      </a:accent2>
      <a:accent3>
        <a:srgbClr val="FFFFFF"/>
      </a:accent3>
      <a:accent4>
        <a:srgbClr val="000000"/>
      </a:accent4>
      <a:accent5>
        <a:srgbClr val="F1AAAA"/>
      </a:accent5>
      <a:accent6>
        <a:srgbClr val="2D2D8A"/>
      </a:accent6>
      <a:hlink>
        <a:srgbClr val="009999"/>
      </a:hlink>
      <a:folHlink>
        <a:srgbClr val="99CC00"/>
      </a:folHlink>
    </a:clrScheme>
    <a:fontScheme name="Arial">
      <a:majorFont>
        <a:latin typeface="Arial" panose="020B0604020202020204"/>
        <a:ea typeface=""/>
        <a:cs typeface=""/>
        <a:font script="Jpan" typeface="ＭＳ Ｐゴシック"/>
        <a:font script="Hang" typeface="굴림"/>
        <a:font script="Hans" typeface="黑体"/>
        <a:font script="Hant" typeface="微軟正黑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ajorFont>
      <a:minorFont>
        <a:latin typeface="Arial" panose="020B0604020202020204"/>
        <a:ea typeface=""/>
        <a:cs typeface=""/>
        <a:font script="Jpan" typeface="ＭＳ Ｐゴシック"/>
        <a:font script="Hang" typeface="굴림"/>
        <a:font script="Hans" typeface="黑体"/>
        <a:font script="Hant" typeface="微軟正黑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默认设计模板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E7030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F1AAAA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name="主题1" id="{F855A03B-2F79-449A-B90F-94B44FA45948}" vid="{538C748A-327B-453F-972D-CABE279DD53F}"/>
    </a:ext>
  </a:extLst>
</a:theme>
</file>

<file path=ppt/theme/theme2.xml><?xml version="1.0" encoding="utf-8"?>
<a:theme xmlns:a="http://schemas.openxmlformats.org/drawingml/2006/main" name="1_默认设计模板">
  <a:themeElements>
    <a:clrScheme name="默认设计模板 13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E70303"/>
      </a:accent1>
      <a:accent2>
        <a:srgbClr val="333399"/>
      </a:accent2>
      <a:accent3>
        <a:srgbClr val="FFFFFF"/>
      </a:accent3>
      <a:accent4>
        <a:srgbClr val="000000"/>
      </a:accent4>
      <a:accent5>
        <a:srgbClr val="F1AAAA"/>
      </a:accent5>
      <a:accent6>
        <a:srgbClr val="2D2D8A"/>
      </a:accent6>
      <a:hlink>
        <a:srgbClr val="009999"/>
      </a:hlink>
      <a:folHlink>
        <a:srgbClr val="99CC00"/>
      </a:folHlink>
    </a:clrScheme>
    <a:fontScheme name="Arial">
      <a:majorFont>
        <a:latin typeface="Arial" panose="020B0604020202020204"/>
        <a:ea typeface=""/>
        <a:cs typeface=""/>
        <a:font script="Jpan" typeface="ＭＳ Ｐゴシック"/>
        <a:font script="Hang" typeface="굴림"/>
        <a:font script="Hans" typeface="黑体"/>
        <a:font script="Hant" typeface="微軟正黑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ajorFont>
      <a:minorFont>
        <a:latin typeface="Arial" panose="020B0604020202020204"/>
        <a:ea typeface=""/>
        <a:cs typeface=""/>
        <a:font script="Jpan" typeface="ＭＳ Ｐゴシック"/>
        <a:font script="Hang" typeface="굴림"/>
        <a:font script="Hans" typeface="黑体"/>
        <a:font script="Hant" typeface="微軟正黑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默认设计模板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E7030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F1AAAA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3.xml><?xml version="1.0" encoding="utf-8"?>
<a:theme xmlns:a="http://schemas.openxmlformats.org/drawingml/2006/main" name="Office 主题​​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等线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等线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emplate>主题1</Template>
  <TotalTime>12158</TotalTime>
  <Words>11052</Words>
  <Application>Microsoft Office PowerPoint</Application>
  <PresentationFormat>全屏显示(4:3)</PresentationFormat>
  <Paragraphs>3271</Paragraphs>
  <Slides>106</Slides>
  <Notes>52</Notes>
  <HiddenSlides>3</HiddenSlides>
  <MMClips>0</MMClips>
  <ScaleCrop>false</ScaleCrop>
  <HeadingPairs>
    <vt:vector size="6" baseType="variant">
      <vt:variant>
        <vt:lpstr>已用的字体</vt:lpstr>
      </vt:variant>
      <vt:variant>
        <vt:i4>12</vt:i4>
      </vt:variant>
      <vt:variant>
        <vt:lpstr>主题</vt:lpstr>
      </vt:variant>
      <vt:variant>
        <vt:i4>2</vt:i4>
      </vt:variant>
      <vt:variant>
        <vt:lpstr>幻灯片标题</vt:lpstr>
      </vt:variant>
      <vt:variant>
        <vt:i4>106</vt:i4>
      </vt:variant>
    </vt:vector>
  </HeadingPairs>
  <TitlesOfParts>
    <vt:vector size="120" baseType="lpstr">
      <vt:lpstr>Courier</vt:lpstr>
      <vt:lpstr>Microsoft Yahei</vt:lpstr>
      <vt:lpstr>等线</vt:lpstr>
      <vt:lpstr>黑体</vt:lpstr>
      <vt:lpstr>黑体</vt:lpstr>
      <vt:lpstr>宋体</vt:lpstr>
      <vt:lpstr>Arial</vt:lpstr>
      <vt:lpstr>Cambria Math</vt:lpstr>
      <vt:lpstr>Symbol</vt:lpstr>
      <vt:lpstr>Tahoma</vt:lpstr>
      <vt:lpstr>Times New Roman</vt:lpstr>
      <vt:lpstr>Wingdings</vt:lpstr>
      <vt:lpstr>主题1</vt:lpstr>
      <vt:lpstr>1_默认设计模板</vt:lpstr>
      <vt:lpstr>PowerPoint 演示文稿</vt:lpstr>
      <vt:lpstr>微体系结构</vt:lpstr>
      <vt:lpstr>本节课目录</vt:lpstr>
      <vt:lpstr>回顾：流水线的基本概念</vt:lpstr>
      <vt:lpstr>回顾：流水线的性能</vt:lpstr>
      <vt:lpstr>回顾：流水线的数据通路</vt:lpstr>
      <vt:lpstr>回顾：流水线的数据通路</vt:lpstr>
      <vt:lpstr>回顾：流水线的控制信号</vt:lpstr>
      <vt:lpstr>回顾：流水线的控制信号</vt:lpstr>
      <vt:lpstr>回顾：结构冒险</vt:lpstr>
      <vt:lpstr>回顾：结构冒险</vt:lpstr>
      <vt:lpstr>从结构冒险到数据冒险</vt:lpstr>
      <vt:lpstr>从结构冒险到数据冒险、控制冒险</vt:lpstr>
      <vt:lpstr>本节课目录</vt:lpstr>
      <vt:lpstr>寄存器堆的访问</vt:lpstr>
      <vt:lpstr>寄存器堆的访问</vt:lpstr>
      <vt:lpstr>寄存器使用引起的冒险</vt:lpstr>
      <vt:lpstr>寄存器使用引起的冒险</vt:lpstr>
      <vt:lpstr>寄存器使用引起的冒险</vt:lpstr>
      <vt:lpstr>寄存器使用引起的冒险</vt:lpstr>
      <vt:lpstr>寄存器数据冒险-解决方案-1</vt:lpstr>
      <vt:lpstr>寄存器数据冒险-解决方案-1</vt:lpstr>
      <vt:lpstr>寄存器数据冒险-解决方案-2</vt:lpstr>
      <vt:lpstr>寄存器使用引起的冒险</vt:lpstr>
      <vt:lpstr>寄存器数据冒险-解决方案-2</vt:lpstr>
      <vt:lpstr>解决数据冒险的方法-2</vt:lpstr>
      <vt:lpstr>Load指令引起的冒险</vt:lpstr>
      <vt:lpstr>解决Load-use冒险的方法</vt:lpstr>
      <vt:lpstr>解决Load-use冒险的方法</vt:lpstr>
      <vt:lpstr>解决Load-use冒险的方法</vt:lpstr>
      <vt:lpstr>流水线的RTL描述</vt:lpstr>
      <vt:lpstr>解决Load-use冒险的方法</vt:lpstr>
      <vt:lpstr>解决数据冒险的方法</vt:lpstr>
      <vt:lpstr>解决数据冒险的方法</vt:lpstr>
      <vt:lpstr>PowerPoint 演示文稿</vt:lpstr>
      <vt:lpstr>答案解析</vt:lpstr>
      <vt:lpstr>本节课目录</vt:lpstr>
      <vt:lpstr>流水线的冒险</vt:lpstr>
      <vt:lpstr>流水线：控制冒险</vt:lpstr>
      <vt:lpstr>流水线冒险：控制冒险</vt:lpstr>
      <vt:lpstr>控制冒险解决方法：Stall</vt:lpstr>
      <vt:lpstr>控制冒险解决方法：Forwarding</vt:lpstr>
      <vt:lpstr>控制冒险解决方法：Forwarding</vt:lpstr>
      <vt:lpstr>控制冒险解决方法：Forwarding</vt:lpstr>
      <vt:lpstr>控制冒险解决方法：延迟槽技术</vt:lpstr>
      <vt:lpstr>控制冒险解决方法：延迟槽技术</vt:lpstr>
      <vt:lpstr>控制冒险解决方法：延迟槽技术</vt:lpstr>
      <vt:lpstr>控制冒险解决方法：预测</vt:lpstr>
      <vt:lpstr>控制冒险解决方法：预测</vt:lpstr>
      <vt:lpstr>动态分支预测</vt:lpstr>
      <vt:lpstr>动态分支预测</vt:lpstr>
      <vt:lpstr>动态分支预测</vt:lpstr>
      <vt:lpstr>动态分支预测</vt:lpstr>
      <vt:lpstr>PowerPoint 演示文稿</vt:lpstr>
      <vt:lpstr>答案解析</vt:lpstr>
      <vt:lpstr>本节课目录</vt:lpstr>
      <vt:lpstr>流水线实现与优化</vt:lpstr>
      <vt:lpstr>流水线实现与优化</vt:lpstr>
      <vt:lpstr>一个例子</vt:lpstr>
      <vt:lpstr>回顾：数据冒险A</vt:lpstr>
      <vt:lpstr>回顾：数据冒险B</vt:lpstr>
      <vt:lpstr>回顾：控制冒险</vt:lpstr>
      <vt:lpstr>回顾：流水线RTL描述</vt:lpstr>
      <vt:lpstr>参照：多周期的控制信号</vt:lpstr>
      <vt:lpstr>简化的流水线数据通路</vt:lpstr>
      <vt:lpstr>流水线运行示例</vt:lpstr>
      <vt:lpstr>流水线运行示例</vt:lpstr>
      <vt:lpstr>流水线运行示例</vt:lpstr>
      <vt:lpstr>流水线运行示例</vt:lpstr>
      <vt:lpstr>流水线运行示例</vt:lpstr>
      <vt:lpstr>流水线运行示例</vt:lpstr>
      <vt:lpstr>流水线运行示例</vt:lpstr>
      <vt:lpstr>流水线运行示例</vt:lpstr>
      <vt:lpstr>流水线运行示例</vt:lpstr>
      <vt:lpstr>流水线的控制信号（不考虑冒险）</vt:lpstr>
      <vt:lpstr>流水线的控制信号</vt:lpstr>
      <vt:lpstr>流水线的控制信号：指令间对比</vt:lpstr>
      <vt:lpstr>流水线的控制信号</vt:lpstr>
      <vt:lpstr>流水线数据通路的实现（考虑冒险）</vt:lpstr>
      <vt:lpstr>流水线数据通路的实现（考虑冒险）</vt:lpstr>
      <vt:lpstr>寄存器堆的访问</vt:lpstr>
      <vt:lpstr>寄存器堆的访问</vt:lpstr>
      <vt:lpstr>数据转发检测和控制-0</vt:lpstr>
      <vt:lpstr>数据转发检测和控制-0</vt:lpstr>
      <vt:lpstr>本节课目录</vt:lpstr>
      <vt:lpstr>流水线数据通路的实现（考虑冒险）</vt:lpstr>
      <vt:lpstr>数据转发: Datapath</vt:lpstr>
      <vt:lpstr>数据转发: Datapath</vt:lpstr>
      <vt:lpstr>包含转发的流水线通路</vt:lpstr>
      <vt:lpstr>数据转发检测和控制-1</vt:lpstr>
      <vt:lpstr>数据转发检测和控制-2</vt:lpstr>
      <vt:lpstr>数据转发检测和控制-2</vt:lpstr>
      <vt:lpstr>数据转发检测和控制-3</vt:lpstr>
      <vt:lpstr>数据转发检测和控制-3</vt:lpstr>
      <vt:lpstr>数据转发检测和控制-3</vt:lpstr>
      <vt:lpstr>数据转发检测和控制-3</vt:lpstr>
      <vt:lpstr>包含转发的流水线通路</vt:lpstr>
      <vt:lpstr>包含转发的流水线通路：示例</vt:lpstr>
      <vt:lpstr>包含转发的流水线通路：示例</vt:lpstr>
      <vt:lpstr>数据转发: Load-use Hazards</vt:lpstr>
      <vt:lpstr>小结</vt:lpstr>
      <vt:lpstr>知识点框图</vt:lpstr>
      <vt:lpstr>小结</vt:lpstr>
      <vt:lpstr>流水线结构与冒险小结</vt:lpstr>
      <vt:lpstr>本节课学习目标</vt:lpstr>
      <vt:lpstr>作业</vt:lpstr>
    </vt:vector>
  </TitlesOfParts>
  <Manager/>
  <Company/>
  <LinksUpToDate>false</LinksUpToDate>
  <SharedDoc>false</SharedDoc>
  <HyperlinkBase/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PowerPoint 演示文稿</dc:title>
  <dc:subject/>
  <dc:creator>x oabt</dc:creator>
  <cp:keywords/>
  <dc:description/>
  <cp:lastModifiedBy>cpak00</cp:lastModifiedBy>
  <cp:revision>1086</cp:revision>
  <dcterms:created xsi:type="dcterms:W3CDTF">2020-05-01T02:22:54Z</dcterms:created>
  <dcterms:modified xsi:type="dcterms:W3CDTF">2024-06-14T02:35:48Z</dcterms:modified>
  <cp:category/>
</cp:coreProperties>
</file>